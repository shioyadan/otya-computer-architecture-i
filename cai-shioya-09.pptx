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4" r:id="rId1"/>
  </p:sldMasterIdLst>
  <p:notesMasterIdLst>
    <p:notesMasterId r:id="rId111"/>
  </p:notesMasterIdLst>
  <p:handoutMasterIdLst>
    <p:handoutMasterId r:id="rId112"/>
  </p:handoutMasterIdLst>
  <p:sldIdLst>
    <p:sldId id="455" r:id="rId2"/>
    <p:sldId id="805" r:id="rId3"/>
    <p:sldId id="949" r:id="rId4"/>
    <p:sldId id="946" r:id="rId5"/>
    <p:sldId id="950" r:id="rId6"/>
    <p:sldId id="952" r:id="rId7"/>
    <p:sldId id="964" r:id="rId8"/>
    <p:sldId id="973" r:id="rId9"/>
    <p:sldId id="1060" r:id="rId10"/>
    <p:sldId id="1061" r:id="rId11"/>
    <p:sldId id="1063" r:id="rId12"/>
    <p:sldId id="1062" r:id="rId13"/>
    <p:sldId id="1064" r:id="rId14"/>
    <p:sldId id="1019" r:id="rId15"/>
    <p:sldId id="1065" r:id="rId16"/>
    <p:sldId id="1059" r:id="rId17"/>
    <p:sldId id="1054" r:id="rId18"/>
    <p:sldId id="1023" r:id="rId19"/>
    <p:sldId id="1052" r:id="rId20"/>
    <p:sldId id="280" r:id="rId21"/>
    <p:sldId id="638" r:id="rId22"/>
    <p:sldId id="596" r:id="rId23"/>
    <p:sldId id="603" r:id="rId24"/>
    <p:sldId id="598" r:id="rId25"/>
    <p:sldId id="599" r:id="rId26"/>
    <p:sldId id="600" r:id="rId27"/>
    <p:sldId id="601" r:id="rId28"/>
    <p:sldId id="602" r:id="rId29"/>
    <p:sldId id="605" r:id="rId30"/>
    <p:sldId id="607" r:id="rId31"/>
    <p:sldId id="637" r:id="rId32"/>
    <p:sldId id="584" r:id="rId33"/>
    <p:sldId id="604" r:id="rId34"/>
    <p:sldId id="631" r:id="rId35"/>
    <p:sldId id="1027" r:id="rId36"/>
    <p:sldId id="1028" r:id="rId37"/>
    <p:sldId id="636" r:id="rId38"/>
    <p:sldId id="609" r:id="rId39"/>
    <p:sldId id="589" r:id="rId40"/>
    <p:sldId id="590" r:id="rId41"/>
    <p:sldId id="1057" r:id="rId42"/>
    <p:sldId id="613" r:id="rId43"/>
    <p:sldId id="591" r:id="rId44"/>
    <p:sldId id="1058" r:id="rId45"/>
    <p:sldId id="615" r:id="rId46"/>
    <p:sldId id="616" r:id="rId47"/>
    <p:sldId id="708" r:id="rId48"/>
    <p:sldId id="635" r:id="rId49"/>
    <p:sldId id="619" r:id="rId50"/>
    <p:sldId id="475" r:id="rId51"/>
    <p:sldId id="476" r:id="rId52"/>
    <p:sldId id="477" r:id="rId53"/>
    <p:sldId id="478" r:id="rId54"/>
    <p:sldId id="562" r:id="rId55"/>
    <p:sldId id="563" r:id="rId56"/>
    <p:sldId id="1053" r:id="rId57"/>
    <p:sldId id="1055" r:id="rId58"/>
    <p:sldId id="1024" r:id="rId59"/>
    <p:sldId id="579" r:id="rId60"/>
    <p:sldId id="580" r:id="rId61"/>
    <p:sldId id="581" r:id="rId62"/>
    <p:sldId id="656" r:id="rId63"/>
    <p:sldId id="625" r:id="rId64"/>
    <p:sldId id="1029" r:id="rId65"/>
    <p:sldId id="592" r:id="rId66"/>
    <p:sldId id="593" r:id="rId67"/>
    <p:sldId id="594" r:id="rId68"/>
    <p:sldId id="667" r:id="rId69"/>
    <p:sldId id="680" r:id="rId70"/>
    <p:sldId id="658" r:id="rId71"/>
    <p:sldId id="663" r:id="rId72"/>
    <p:sldId id="664" r:id="rId73"/>
    <p:sldId id="882" r:id="rId74"/>
    <p:sldId id="1021" r:id="rId75"/>
    <p:sldId id="1066" r:id="rId76"/>
    <p:sldId id="696" r:id="rId77"/>
    <p:sldId id="1067" r:id="rId78"/>
    <p:sldId id="1056" r:id="rId79"/>
    <p:sldId id="610" r:id="rId80"/>
    <p:sldId id="611" r:id="rId81"/>
    <p:sldId id="612" r:id="rId82"/>
    <p:sldId id="617" r:id="rId83"/>
    <p:sldId id="614" r:id="rId84"/>
    <p:sldId id="1020" r:id="rId85"/>
    <p:sldId id="1076" r:id="rId86"/>
    <p:sldId id="1077" r:id="rId87"/>
    <p:sldId id="1078" r:id="rId88"/>
    <p:sldId id="1079" r:id="rId89"/>
    <p:sldId id="1080" r:id="rId90"/>
    <p:sldId id="1081" r:id="rId91"/>
    <p:sldId id="1082" r:id="rId92"/>
    <p:sldId id="1083" r:id="rId93"/>
    <p:sldId id="1084" r:id="rId94"/>
    <p:sldId id="1085" r:id="rId95"/>
    <p:sldId id="1086" r:id="rId96"/>
    <p:sldId id="1087" r:id="rId97"/>
    <p:sldId id="1088" r:id="rId98"/>
    <p:sldId id="1091" r:id="rId99"/>
    <p:sldId id="1092" r:id="rId100"/>
    <p:sldId id="1093" r:id="rId101"/>
    <p:sldId id="1094" r:id="rId102"/>
    <p:sldId id="1095" r:id="rId103"/>
    <p:sldId id="1096" r:id="rId104"/>
    <p:sldId id="1097" r:id="rId105"/>
    <p:sldId id="1099" r:id="rId106"/>
    <p:sldId id="1100" r:id="rId107"/>
    <p:sldId id="1101" r:id="rId108"/>
    <p:sldId id="1102" r:id="rId109"/>
    <p:sldId id="1098" r:id="rId110"/>
  </p:sldIdLst>
  <p:sldSz cx="9144000" cy="6858000" type="screen4x3"/>
  <p:notesSz cx="6858000" cy="9144000"/>
  <p:custDataLst>
    <p:tags r:id="rId113"/>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75" autoAdjust="0"/>
    <p:restoredTop sz="97229" autoAdjust="0"/>
  </p:normalViewPr>
  <p:slideViewPr>
    <p:cSldViewPr>
      <p:cViewPr varScale="1">
        <p:scale>
          <a:sx n="149" d="100"/>
          <a:sy n="149" d="100"/>
        </p:scale>
        <p:origin x="2044" y="92"/>
      </p:cViewPr>
      <p:guideLst>
        <p:guide orient="horz" pos="2160"/>
        <p:guide pos="2880"/>
      </p:guideLst>
    </p:cSldViewPr>
  </p:slideViewPr>
  <p:notesTextViewPr>
    <p:cViewPr>
      <p:scale>
        <a:sx n="100" d="100"/>
        <a:sy n="100" d="100"/>
      </p:scale>
      <p:origin x="0" y="0"/>
    </p:cViewPr>
  </p:notesTextViewPr>
  <p:notesViewPr>
    <p:cSldViewPr>
      <p:cViewPr varScale="1">
        <p:scale>
          <a:sx n="121" d="100"/>
          <a:sy n="121" d="100"/>
        </p:scale>
        <p:origin x="5020" y="64"/>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ableStyles" Target="tableStyle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handoutMaster" Target="handoutMasters/handout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ags" Target="tags/tag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6771369207009"/>
          <c:y val="4.1972583283353591E-2"/>
          <c:w val="0.8852608070436645"/>
          <c:h val="0.75852409720700076"/>
        </c:manualLayout>
      </c:layout>
      <c:scatterChart>
        <c:scatterStyle val="lineMarker"/>
        <c:varyColors val="0"/>
        <c: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xVal>
            <c:numRef>
              <c:f>dat!$A$1:$BD$1</c:f>
              <c:numCache>
                <c:formatCode>General</c:formatCode>
                <c:ptCount val="56"/>
                <c:pt idx="0">
                  <c:v>4</c:v>
                </c:pt>
                <c:pt idx="1">
                  <c:v>5</c:v>
                </c:pt>
                <c:pt idx="2">
                  <c:v>6</c:v>
                </c:pt>
                <c:pt idx="3">
                  <c:v>7</c:v>
                </c:pt>
                <c:pt idx="4">
                  <c:v>9</c:v>
                </c:pt>
                <c:pt idx="5">
                  <c:v>12</c:v>
                </c:pt>
                <c:pt idx="6">
                  <c:v>15</c:v>
                </c:pt>
                <c:pt idx="7">
                  <c:v>19</c:v>
                </c:pt>
                <c:pt idx="8">
                  <c:v>23</c:v>
                </c:pt>
                <c:pt idx="9">
                  <c:v>29</c:v>
                </c:pt>
                <c:pt idx="10">
                  <c:v>37</c:v>
                </c:pt>
                <c:pt idx="11">
                  <c:v>46</c:v>
                </c:pt>
                <c:pt idx="12">
                  <c:v>58</c:v>
                </c:pt>
                <c:pt idx="13">
                  <c:v>72</c:v>
                </c:pt>
                <c:pt idx="14">
                  <c:v>90</c:v>
                </c:pt>
                <c:pt idx="15">
                  <c:v>113</c:v>
                </c:pt>
                <c:pt idx="16">
                  <c:v>142</c:v>
                </c:pt>
                <c:pt idx="17">
                  <c:v>177</c:v>
                </c:pt>
                <c:pt idx="18">
                  <c:v>221</c:v>
                </c:pt>
                <c:pt idx="19">
                  <c:v>277</c:v>
                </c:pt>
                <c:pt idx="20">
                  <c:v>346</c:v>
                </c:pt>
                <c:pt idx="21">
                  <c:v>433</c:v>
                </c:pt>
                <c:pt idx="22">
                  <c:v>541</c:v>
                </c:pt>
                <c:pt idx="23">
                  <c:v>677</c:v>
                </c:pt>
                <c:pt idx="24">
                  <c:v>846</c:v>
                </c:pt>
                <c:pt idx="25">
                  <c:v>1058</c:v>
                </c:pt>
                <c:pt idx="26">
                  <c:v>1322</c:v>
                </c:pt>
                <c:pt idx="27">
                  <c:v>1653</c:v>
                </c:pt>
                <c:pt idx="28">
                  <c:v>2066</c:v>
                </c:pt>
                <c:pt idx="29">
                  <c:v>2583</c:v>
                </c:pt>
                <c:pt idx="30">
                  <c:v>3229</c:v>
                </c:pt>
                <c:pt idx="31">
                  <c:v>4036</c:v>
                </c:pt>
                <c:pt idx="32">
                  <c:v>5046</c:v>
                </c:pt>
                <c:pt idx="33">
                  <c:v>6307</c:v>
                </c:pt>
                <c:pt idx="34">
                  <c:v>7884</c:v>
                </c:pt>
                <c:pt idx="35">
                  <c:v>9855</c:v>
                </c:pt>
                <c:pt idx="36">
                  <c:v>12319</c:v>
                </c:pt>
                <c:pt idx="37">
                  <c:v>15399</c:v>
                </c:pt>
                <c:pt idx="38">
                  <c:v>19249</c:v>
                </c:pt>
                <c:pt idx="39">
                  <c:v>24061</c:v>
                </c:pt>
                <c:pt idx="40">
                  <c:v>30076</c:v>
                </c:pt>
                <c:pt idx="41">
                  <c:v>37595</c:v>
                </c:pt>
                <c:pt idx="42">
                  <c:v>46994</c:v>
                </c:pt>
                <c:pt idx="43">
                  <c:v>58743</c:v>
                </c:pt>
                <c:pt idx="44">
                  <c:v>73429</c:v>
                </c:pt>
                <c:pt idx="45">
                  <c:v>91786</c:v>
                </c:pt>
                <c:pt idx="46">
                  <c:v>114733</c:v>
                </c:pt>
                <c:pt idx="47">
                  <c:v>143416</c:v>
                </c:pt>
                <c:pt idx="48">
                  <c:v>179271</c:v>
                </c:pt>
                <c:pt idx="49">
                  <c:v>224088</c:v>
                </c:pt>
                <c:pt idx="50">
                  <c:v>280110</c:v>
                </c:pt>
                <c:pt idx="51">
                  <c:v>350138</c:v>
                </c:pt>
                <c:pt idx="52">
                  <c:v>437673</c:v>
                </c:pt>
                <c:pt idx="53">
                  <c:v>547091</c:v>
                </c:pt>
                <c:pt idx="54">
                  <c:v>683864</c:v>
                </c:pt>
                <c:pt idx="55">
                  <c:v>854830</c:v>
                </c:pt>
              </c:numCache>
            </c:numRef>
          </c:xVal>
          <c:yVal>
            <c:numRef>
              <c:f>dat!$A$2:$BD$2</c:f>
              <c:numCache>
                <c:formatCode>General</c:formatCode>
                <c:ptCount val="56"/>
                <c:pt idx="0">
                  <c:v>1.3709070000000001</c:v>
                </c:pt>
                <c:pt idx="1">
                  <c:v>1.4007309999999999</c:v>
                </c:pt>
                <c:pt idx="2">
                  <c:v>1.400744</c:v>
                </c:pt>
                <c:pt idx="3">
                  <c:v>1.4007270000000001</c:v>
                </c:pt>
                <c:pt idx="4">
                  <c:v>1.40079</c:v>
                </c:pt>
                <c:pt idx="5">
                  <c:v>1.4007639999999999</c:v>
                </c:pt>
                <c:pt idx="6">
                  <c:v>1.4007879999999999</c:v>
                </c:pt>
                <c:pt idx="7">
                  <c:v>1.400728</c:v>
                </c:pt>
                <c:pt idx="8">
                  <c:v>1.3711370000000001</c:v>
                </c:pt>
                <c:pt idx="9">
                  <c:v>1.4008449999999999</c:v>
                </c:pt>
                <c:pt idx="10">
                  <c:v>1.877983</c:v>
                </c:pt>
                <c:pt idx="11">
                  <c:v>1.848344</c:v>
                </c:pt>
                <c:pt idx="12">
                  <c:v>2.3253360000000001</c:v>
                </c:pt>
                <c:pt idx="13">
                  <c:v>2.8018190000000001</c:v>
                </c:pt>
                <c:pt idx="14">
                  <c:v>2.8030460000000001</c:v>
                </c:pt>
                <c:pt idx="15">
                  <c:v>2.802559</c:v>
                </c:pt>
                <c:pt idx="16">
                  <c:v>2.7739859999999998</c:v>
                </c:pt>
                <c:pt idx="17">
                  <c:v>3.2793160000000001</c:v>
                </c:pt>
                <c:pt idx="18">
                  <c:v>2.8042250000000002</c:v>
                </c:pt>
                <c:pt idx="19">
                  <c:v>4.6538690000000003</c:v>
                </c:pt>
                <c:pt idx="20">
                  <c:v>6.5437510000000003</c:v>
                </c:pt>
                <c:pt idx="21">
                  <c:v>8.8328070000000007</c:v>
                </c:pt>
                <c:pt idx="22">
                  <c:v>10.290729000000001</c:v>
                </c:pt>
                <c:pt idx="23">
                  <c:v>12.611046999999999</c:v>
                </c:pt>
                <c:pt idx="24">
                  <c:v>13.123219000000001</c:v>
                </c:pt>
                <c:pt idx="25">
                  <c:v>13.594751</c:v>
                </c:pt>
                <c:pt idx="26">
                  <c:v>14.437044999999999</c:v>
                </c:pt>
                <c:pt idx="27">
                  <c:v>16.357583999999999</c:v>
                </c:pt>
                <c:pt idx="28">
                  <c:v>14.519575</c:v>
                </c:pt>
                <c:pt idx="29">
                  <c:v>15.119558</c:v>
                </c:pt>
                <c:pt idx="30">
                  <c:v>16.540811000000001</c:v>
                </c:pt>
                <c:pt idx="31">
                  <c:v>17.508476999999999</c:v>
                </c:pt>
                <c:pt idx="32">
                  <c:v>19.353065999999998</c:v>
                </c:pt>
                <c:pt idx="33">
                  <c:v>20.808419000000001</c:v>
                </c:pt>
                <c:pt idx="34">
                  <c:v>27.094306</c:v>
                </c:pt>
                <c:pt idx="35">
                  <c:v>34.299608999999997</c:v>
                </c:pt>
                <c:pt idx="36">
                  <c:v>42.615662999999998</c:v>
                </c:pt>
                <c:pt idx="37">
                  <c:v>52.032969999999999</c:v>
                </c:pt>
                <c:pt idx="38">
                  <c:v>58.647277000000003</c:v>
                </c:pt>
                <c:pt idx="39">
                  <c:v>63.412117000000002</c:v>
                </c:pt>
                <c:pt idx="40">
                  <c:v>70.003345999999993</c:v>
                </c:pt>
                <c:pt idx="41">
                  <c:v>71.968807999999996</c:v>
                </c:pt>
                <c:pt idx="42">
                  <c:v>78.590768999999995</c:v>
                </c:pt>
                <c:pt idx="43">
                  <c:v>78.466092000000003</c:v>
                </c:pt>
                <c:pt idx="44">
                  <c:v>79.796029000000004</c:v>
                </c:pt>
                <c:pt idx="45">
                  <c:v>82.434617000000003</c:v>
                </c:pt>
                <c:pt idx="46">
                  <c:v>87.226635999999999</c:v>
                </c:pt>
                <c:pt idx="47">
                  <c:v>87.676049000000006</c:v>
                </c:pt>
                <c:pt idx="48">
                  <c:v>88.858136999999999</c:v>
                </c:pt>
                <c:pt idx="49">
                  <c:v>93.695436999999998</c:v>
                </c:pt>
                <c:pt idx="50">
                  <c:v>91.732626999999994</c:v>
                </c:pt>
                <c:pt idx="51">
                  <c:v>93.088116999999997</c:v>
                </c:pt>
                <c:pt idx="52">
                  <c:v>93.712869999999995</c:v>
                </c:pt>
                <c:pt idx="53">
                  <c:v>96.054799000000003</c:v>
                </c:pt>
                <c:pt idx="54">
                  <c:v>97.281456000000006</c:v>
                </c:pt>
                <c:pt idx="55">
                  <c:v>103.319064</c:v>
                </c:pt>
              </c:numCache>
            </c:numRef>
          </c:yVal>
          <c:smooth val="0"/>
          <c:extLst>
            <c:ext xmlns:c16="http://schemas.microsoft.com/office/drawing/2014/chart" uri="{C3380CC4-5D6E-409C-BE32-E72D297353CC}">
              <c16:uniqueId val="{00000000-C4D8-4234-888E-219CA0370C94}"/>
            </c:ext>
          </c:extLst>
        </c:ser>
        <c:dLbls>
          <c:showLegendKey val="0"/>
          <c:showVal val="0"/>
          <c:showCatName val="0"/>
          <c:showSerName val="0"/>
          <c:showPercent val="0"/>
          <c:showBubbleSize val="0"/>
        </c:dLbls>
        <c:axId val="627551624"/>
        <c:axId val="627543392"/>
      </c:scatterChart>
      <c:valAx>
        <c:axId val="627551624"/>
        <c:scaling>
          <c:logBase val="2"/>
          <c:orientation val="minMax"/>
          <c:min val="4"/>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US" altLang="ja-JP" sz="1600" dirty="0"/>
                  <a:t>SIZE = </a:t>
                </a:r>
                <a:r>
                  <a:rPr lang="ja-JP" altLang="en-US" sz="1600" dirty="0"/>
                  <a:t>アクセス範囲（</a:t>
                </a:r>
                <a:r>
                  <a:rPr lang="en-US" altLang="ja-JP" sz="1600" dirty="0"/>
                  <a:t>KB</a:t>
                </a:r>
                <a:r>
                  <a:rPr lang="ja-JP" altLang="en-US" sz="1600" dirty="0"/>
                  <a:t>）</a:t>
                </a:r>
              </a:p>
            </c:rich>
          </c:tx>
          <c:layout>
            <c:manualLayout>
              <c:xMode val="edge"/>
              <c:yMode val="edge"/>
              <c:x val="0.35931869762850593"/>
              <c:y val="0.90968989233452957"/>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5400000" spcFirstLastPara="1" vertOverflow="ellipsis"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ja-JP"/>
          </a:p>
        </c:txPr>
        <c:crossAx val="627543392"/>
        <c:crosses val="autoZero"/>
        <c:crossBetween val="midCat"/>
        <c:majorUnit val="2"/>
      </c:valAx>
      <c:valAx>
        <c:axId val="627543392"/>
        <c:scaling>
          <c:logBase val="10"/>
          <c:orientation val="minMax"/>
          <c:max val="11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ja-JP" altLang="en-US" sz="1600" dirty="0"/>
                  <a:t>アクセス時間（</a:t>
                </a:r>
                <a:r>
                  <a:rPr lang="en-US" altLang="ja-JP" sz="1600"/>
                  <a:t>nano sec</a:t>
                </a:r>
                <a:r>
                  <a:rPr lang="ja-JP" altLang="en-US" sz="1600" dirty="0"/>
                  <a:t>）</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ja-JP"/>
          </a:p>
        </c:txPr>
        <c:crossAx val="627551624"/>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CE415D75-4CAE-15A9-D899-49A856941C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en-US"/>
          </a:p>
        </p:txBody>
      </p:sp>
      <p:sp>
        <p:nvSpPr>
          <p:cNvPr id="3" name="日付プレースホルダー 2">
            <a:extLst>
              <a:ext uri="{FF2B5EF4-FFF2-40B4-BE49-F238E27FC236}">
                <a16:creationId xmlns:a16="http://schemas.microsoft.com/office/drawing/2014/main" id="{96B6FC8F-672D-0C9B-883F-429FE5BFF44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0D877F-F984-4AF8-9DD3-1EDD0240AB14}" type="datetimeFigureOut">
              <a:rPr kumimoji="1" lang="en-US" smtClean="0"/>
              <a:t>7/8/2025</a:t>
            </a:fld>
            <a:endParaRPr kumimoji="1" lang="en-US"/>
          </a:p>
        </p:txBody>
      </p:sp>
      <p:sp>
        <p:nvSpPr>
          <p:cNvPr id="4" name="フッター プレースホルダー 3">
            <a:extLst>
              <a:ext uri="{FF2B5EF4-FFF2-40B4-BE49-F238E27FC236}">
                <a16:creationId xmlns:a16="http://schemas.microsoft.com/office/drawing/2014/main" id="{A49831F7-A7E2-B057-CA7D-BF4A5D256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en-US"/>
          </a:p>
        </p:txBody>
      </p:sp>
      <p:sp>
        <p:nvSpPr>
          <p:cNvPr id="5" name="スライド番号プレースホルダー 4">
            <a:extLst>
              <a:ext uri="{FF2B5EF4-FFF2-40B4-BE49-F238E27FC236}">
                <a16:creationId xmlns:a16="http://schemas.microsoft.com/office/drawing/2014/main" id="{C915A581-8333-6E1F-684C-607B3F07B9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0CF5AA5-7A9C-4B37-BC55-3EC5404452FB}" type="slidenum">
              <a:rPr kumimoji="1" lang="en-US" smtClean="0"/>
              <a:t>‹#›</a:t>
            </a:fld>
            <a:endParaRPr kumimoji="1" lang="en-US"/>
          </a:p>
        </p:txBody>
      </p:sp>
    </p:spTree>
    <p:extLst>
      <p:ext uri="{BB962C8B-B14F-4D97-AF65-F5344CB8AC3E}">
        <p14:creationId xmlns:p14="http://schemas.microsoft.com/office/powerpoint/2010/main" val="7991511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2025/7/8</a:t>
            </a:fld>
            <a:endParaRPr kumimoji="1" lang="ja-JP" altLang="en-US"/>
          </a:p>
        </p:txBody>
      </p:sp>
      <p:sp>
        <p:nvSpPr>
          <p:cNvPr id="4" name="スライド イメージ プレースホルダー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Pr>
        <a:solidFill>
          <a:schemeClr val="accent4"/>
        </a:solidFill>
        <a:effectLst/>
      </p:bgPr>
    </p:bg>
    <p:spTree>
      <p:nvGrpSpPr>
        <p:cNvPr id="1" name=""/>
        <p:cNvGrpSpPr/>
        <p:nvPr/>
      </p:nvGrpSpPr>
      <p:grpSpPr>
        <a:xfrm>
          <a:off x="0" y="0"/>
          <a:ext cx="0" cy="0"/>
          <a:chOff x="0" y="0"/>
          <a:chExt cx="0" cy="0"/>
        </a:xfrm>
      </p:grpSpPr>
      <p:sp>
        <p:nvSpPr>
          <p:cNvPr id="21" name="正方形/長方形 20"/>
          <p:cNvSpPr/>
          <p:nvPr/>
        </p:nvSpPr>
        <p:spPr bwMode="auto">
          <a:xfrm>
            <a:off x="0" y="0"/>
            <a:ext cx="9144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b="1">
              <a:solidFill>
                <a:schemeClr val="bg1"/>
              </a:solidFill>
            </a:endParaRPr>
          </a:p>
        </p:txBody>
      </p:sp>
      <p:sp>
        <p:nvSpPr>
          <p:cNvPr id="7170" name="Rectangle 2"/>
          <p:cNvSpPr>
            <a:spLocks noGrp="1" noChangeArrowheads="1"/>
          </p:cNvSpPr>
          <p:nvPr>
            <p:ph type="ctrTitle"/>
          </p:nvPr>
        </p:nvSpPr>
        <p:spPr>
          <a:xfrm>
            <a:off x="701958" y="278965"/>
            <a:ext cx="7920088" cy="2340026"/>
          </a:xfrm>
          <a:prstGeom prst="rect">
            <a:avLst/>
          </a:prstGeom>
        </p:spPr>
        <p:txBody>
          <a:bodyPr anchor="ctr"/>
          <a:lstStyle>
            <a:lvl1pPr algn="ctr">
              <a:defRPr sz="2400" b="1">
                <a:solidFill>
                  <a:schemeClr val="bg1"/>
                </a:solidFill>
              </a:defRPr>
            </a:lvl1pPr>
          </a:lstStyle>
          <a:p>
            <a:r>
              <a:rPr lang="ja-JP" altLang="en-US"/>
              <a:t>マスター タイトルの書式設定</a:t>
            </a:r>
          </a:p>
        </p:txBody>
      </p:sp>
      <p:sp>
        <p:nvSpPr>
          <p:cNvPr id="7171" name="Rectangle 3"/>
          <p:cNvSpPr>
            <a:spLocks noGrp="1" noChangeArrowheads="1"/>
          </p:cNvSpPr>
          <p:nvPr>
            <p:ph type="subTitle" idx="1"/>
          </p:nvPr>
        </p:nvSpPr>
        <p:spPr>
          <a:xfrm>
            <a:off x="1691968" y="4149009"/>
            <a:ext cx="7200080"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p>
        </p:txBody>
      </p:sp>
      <p:cxnSp>
        <p:nvCxnSpPr>
          <p:cNvPr id="6" name="直線コネクタ 5"/>
          <p:cNvCxnSpPr>
            <a:cxnSpLocks/>
          </p:cNvCxnSpPr>
          <p:nvPr/>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210289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611956" y="0"/>
            <a:ext cx="8532044"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8172040" y="6309032"/>
            <a:ext cx="720008"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611956" y="1088974"/>
            <a:ext cx="7920088"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7" name="Rectangle 20"/>
          <p:cNvSpPr>
            <a:spLocks noGrp="1" noChangeArrowheads="1"/>
          </p:cNvSpPr>
          <p:nvPr>
            <p:ph type="sldNum" sz="quarter" idx="4"/>
          </p:nvPr>
        </p:nvSpPr>
        <p:spPr bwMode="auto">
          <a:xfrm>
            <a:off x="8532044" y="6309032"/>
            <a:ext cx="611956"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24282763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611956" y="2078985"/>
            <a:ext cx="7920088" cy="990011"/>
          </a:xfrm>
        </p:spPr>
        <p:txBody>
          <a:bodyPr anchor="b"/>
          <a:lstStyle>
            <a:lvl1pPr algn="ctr">
              <a:defRPr sz="3200" b="1"/>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4BFA6771-4A43-A7D9-54D9-CCBD4E6DE8B7}"/>
              </a:ext>
            </a:extLst>
          </p:cNvPr>
          <p:cNvCxnSpPr>
            <a:cxnSpLocks/>
          </p:cNvCxnSpPr>
          <p:nvPr userDrawn="1"/>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409703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663301245"/>
      </p:ext>
    </p:extLst>
  </p:cSld>
  <p:clrMapOvr>
    <a:masterClrMapping/>
  </p:clrMapOvr>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611956" y="1088974"/>
            <a:ext cx="7920088" cy="522005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9144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22"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a:t>マスタ タイトルの書式設定</a:t>
            </a:r>
          </a:p>
        </p:txBody>
      </p:sp>
      <p:sp>
        <p:nvSpPr>
          <p:cNvPr id="6164" name="Rectangle 20"/>
          <p:cNvSpPr>
            <a:spLocks noGrp="1" noChangeArrowheads="1"/>
          </p:cNvSpPr>
          <p:nvPr>
            <p:ph type="sldNum" sz="quarter" idx="4"/>
          </p:nvPr>
        </p:nvSpPr>
        <p:spPr bwMode="auto">
          <a:xfrm>
            <a:off x="8172041" y="6309033"/>
            <a:ext cx="720008"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6" name="正方形/長方形 5"/>
          <p:cNvSpPr/>
          <p:nvPr/>
        </p:nvSpPr>
        <p:spPr bwMode="auto">
          <a:xfrm>
            <a:off x="0" y="0"/>
            <a:ext cx="9144000" cy="908972"/>
          </a:xfrm>
          <a:prstGeom prst="rect">
            <a:avLst/>
          </a:prstGeom>
          <a:solidFill>
            <a:srgbClr val="505B80"/>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3" name="正方形/長方形 2">
            <a:extLst>
              <a:ext uri="{FF2B5EF4-FFF2-40B4-BE49-F238E27FC236}">
                <a16:creationId xmlns:a16="http://schemas.microsoft.com/office/drawing/2014/main" id="{2AF63CA2-9471-8B7B-FC2C-3C5E975D06B8}"/>
              </a:ext>
            </a:extLst>
          </p:cNvPr>
          <p:cNvSpPr/>
          <p:nvPr userDrawn="1"/>
        </p:nvSpPr>
        <p:spPr bwMode="auto">
          <a:xfrm>
            <a:off x="0" y="0"/>
            <a:ext cx="9144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180630630"/>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71" r:id="rId5"/>
  </p:sldLayoutIdLst>
  <p:hf hdr="0" ftr="0" dt="0"/>
  <p:txStyles>
    <p:titleStyle>
      <a:lvl1pPr algn="l" rtl="0" eaLnBrk="1" fontAlgn="base" hangingPunct="1">
        <a:spcBef>
          <a:spcPct val="0"/>
        </a:spcBef>
        <a:spcAft>
          <a:spcPct val="0"/>
        </a:spcAft>
        <a:defRPr kumimoji="1" sz="21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hyperlink" Target="https://ja.wikipedia.org/wiki/%E7%A3%81%E6%B0%97%E3%82%B3%E3%82%A2%E3%83%A1%E3%83%A2%E3%83%AA"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11956" y="3969006"/>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kumimoji="1" lang="ja-JP" altLang="en-US" sz="3200" b="0" dirty="0"/>
          </a:p>
        </p:txBody>
      </p:sp>
      <p:sp>
        <p:nvSpPr>
          <p:cNvPr id="5" name="スライド番号プレースホルダー 4"/>
          <p:cNvSpPr>
            <a:spLocks noGrp="1"/>
          </p:cNvSpPr>
          <p:nvPr>
            <p:ph type="sldNum" sz="quarter" idx="4294967295"/>
          </p:nvPr>
        </p:nvSpPr>
        <p:spPr>
          <a:xfrm>
            <a:off x="8172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791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第９回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kumimoji="1" lang="ja-JP" altLang="en-US" dirty="0"/>
              <a:t>考え方の指針</a:t>
            </a:r>
            <a:endParaRPr kumimoji="1" lang="en-US" dirty="0"/>
          </a:p>
        </p:txBody>
      </p:sp>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611955" y="1088974"/>
            <a:ext cx="8190091" cy="5220058"/>
          </a:xfrm>
        </p:spPr>
        <p:txBody>
          <a:bodyPr/>
          <a:lstStyle/>
          <a:p>
            <a:pPr marL="457200" indent="-457200">
              <a:buFont typeface="+mj-lt"/>
              <a:buAutoNum type="arabicPeriod"/>
            </a:pPr>
            <a:r>
              <a:rPr kumimoji="1" lang="ja-JP" altLang="en-US" dirty="0"/>
              <a:t>まず理想的にプログラムが実行された場合のサイクル数を考える</a:t>
            </a:r>
            <a:endParaRPr kumimoji="1" lang="en-US" altLang="ja-JP" dirty="0"/>
          </a:p>
          <a:p>
            <a:pPr marL="457200" indent="-457200">
              <a:buFont typeface="+mj-lt"/>
              <a:buAutoNum type="arabicPeriod"/>
            </a:pPr>
            <a:r>
              <a:rPr kumimoji="1" lang="ja-JP" altLang="en-US" dirty="0"/>
              <a:t>何かイヤなイベント（ハザード）が起きる回数を計算する</a:t>
            </a:r>
            <a:endParaRPr kumimoji="1" lang="en-US" altLang="ja-JP" dirty="0"/>
          </a:p>
          <a:p>
            <a:pPr lvl="1"/>
            <a:r>
              <a:rPr kumimoji="1" lang="ja-JP" altLang="en-US" dirty="0"/>
              <a:t>全体の命令数，命令の種類毎の出現率，イベントの発生確率などをかけていけば良い</a:t>
            </a:r>
            <a:endParaRPr kumimoji="1" lang="en-US" altLang="ja-JP" dirty="0"/>
          </a:p>
          <a:p>
            <a:pPr marL="457200" indent="-457200">
              <a:buFont typeface="+mj-lt"/>
              <a:buAutoNum type="arabicPeriod"/>
            </a:pPr>
            <a:r>
              <a:rPr kumimoji="1" lang="ja-JP" altLang="en-US" dirty="0"/>
              <a:t>イベントによる総延長時間を求める</a:t>
            </a:r>
            <a:endParaRPr kumimoji="1" lang="en-US" altLang="ja-JP" dirty="0"/>
          </a:p>
          <a:p>
            <a:pPr lvl="1"/>
            <a:r>
              <a:rPr kumimoji="1" lang="ja-JP" altLang="en-US" dirty="0"/>
              <a:t>イベントの発生回数と，イベント１回あたり何サイクル実行時間が伸びるかをかけて求める</a:t>
            </a:r>
            <a:endParaRPr kumimoji="1" lang="en-US" altLang="ja-JP" dirty="0"/>
          </a:p>
          <a:p>
            <a:pPr marL="457200" indent="-457200">
              <a:buFont typeface="+mj-lt"/>
              <a:buAutoNum type="arabicPeriod"/>
            </a:pPr>
            <a:r>
              <a:rPr kumimoji="1" lang="en-US" altLang="ja-JP" dirty="0"/>
              <a:t>1. </a:t>
            </a:r>
            <a:r>
              <a:rPr kumimoji="1" lang="ja-JP" altLang="en-US" dirty="0"/>
              <a:t>の理想的な実行サイクル数に総延長時間を加えて実際の実行サイクル数を求める</a:t>
            </a:r>
            <a:endParaRPr kumimoji="1" lang="en-US" altLang="ja-JP" dirty="0"/>
          </a:p>
          <a:p>
            <a:pPr marL="457200" indent="-457200">
              <a:buFont typeface="+mj-lt"/>
              <a:buAutoNum type="arabicPeriod"/>
            </a:pPr>
            <a:r>
              <a:rPr lang="ja-JP" altLang="en-US" dirty="0"/>
              <a:t>実行命令数を </a:t>
            </a:r>
            <a:r>
              <a:rPr lang="en-US" dirty="0"/>
              <a:t>4. </a:t>
            </a:r>
            <a:r>
              <a:rPr lang="ja-JP" altLang="en-US" dirty="0"/>
              <a:t>で求めたサイクル数で割る</a:t>
            </a:r>
            <a:endParaRPr kumimoji="1" lang="en-US" dirty="0"/>
          </a:p>
        </p:txBody>
      </p:sp>
    </p:spTree>
    <p:extLst>
      <p:ext uri="{BB962C8B-B14F-4D97-AF65-F5344CB8AC3E}">
        <p14:creationId xmlns:p14="http://schemas.microsoft.com/office/powerpoint/2010/main" val="40040871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分岐予測ミスによる実行サイクルの増加のモデル</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611955" y="1088974"/>
                <a:ext cx="8190091" cy="5220058"/>
              </a:xfrm>
            </p:spPr>
            <p:txBody>
              <a:bodyPr/>
              <a:lstStyle/>
              <a:p>
                <a:r>
                  <a:rPr kumimoji="1" lang="ja-JP" altLang="en-US" dirty="0"/>
                  <a:t>以下のようにおいた場合，</a:t>
                </a:r>
                <a:endParaRPr kumimoji="1" lang="en-US" altLang="ja-JP" dirty="0"/>
              </a:p>
              <a:p>
                <a:pPr lvl="1"/>
                <a:r>
                  <a:rPr lang="ja-JP" altLang="en-US" dirty="0"/>
                  <a:t>ミスがない理想的な実行の際のサイクル数：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𝑪𝒕</m:t>
                    </m:r>
                  </m:oMath>
                </a14:m>
                <a:br>
                  <a:rPr lang="en-US" altLang="ja-JP" dirty="0"/>
                </a:br>
                <a:endParaRPr lang="en-US" altLang="ja-JP" dirty="0"/>
              </a:p>
              <a:p>
                <a:pPr lvl="1"/>
                <a:r>
                  <a:rPr lang="ja-JP" altLang="en-US" dirty="0"/>
                  <a:t>分岐予測ミスの発生回数：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𝑵𝒎</m:t>
                    </m:r>
                    <m:r>
                      <a:rPr lang="en-US" altLang="ja-JP" b="0" i="1" dirty="0" smtClean="0">
                        <a:latin typeface="Cambria Math" panose="02040503050406030204" pitchFamily="18" charset="0"/>
                      </a:rPr>
                      <m:t>=</m:t>
                    </m:r>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oMath>
                </a14:m>
                <a:endParaRPr lang="en-US" altLang="ja-JP" dirty="0"/>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oMath>
                </a14:m>
                <a:endParaRPr kumimoji="1" lang="en-US" altLang="ja-JP" dirty="0"/>
              </a:p>
              <a:p>
                <a:pPr lvl="2"/>
                <a:r>
                  <a:rPr lang="ja-JP" altLang="en-US" dirty="0"/>
                  <a:t>プログラム中の分岐命令の出現率：</a:t>
                </a:r>
                <a:r>
                  <a:rPr lang="en-US" altLang="ja-JP" dirty="0"/>
                  <a:t>	</a:t>
                </a:r>
                <a14:m>
                  <m:oMath xmlns:m="http://schemas.openxmlformats.org/officeDocument/2006/math">
                    <m:r>
                      <a:rPr lang="en-US" altLang="ja-JP" i="1" dirty="0">
                        <a:latin typeface="Cambria Math" panose="02040503050406030204" pitchFamily="18" charset="0"/>
                      </a:rPr>
                      <m:t>𝑃𝑏</m:t>
                    </m:r>
                  </m:oMath>
                </a14:m>
                <a:endParaRPr kumimoji="1" lang="en-US" altLang="ja-JP" dirty="0"/>
              </a:p>
              <a:p>
                <a:pPr lvl="2"/>
                <a:r>
                  <a:rPr kumimoji="1" lang="ja-JP" altLang="en-US" dirty="0"/>
                  <a:t>分岐命令毎の予測ミス発生率：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𝑃𝑚</m:t>
                    </m:r>
                  </m:oMath>
                </a14:m>
                <a:br>
                  <a:rPr kumimoji="1" lang="en-US" altLang="ja-JP" dirty="0"/>
                </a:br>
                <a:endParaRPr kumimoji="1" lang="en-US" altLang="ja-JP" dirty="0"/>
              </a:p>
              <a:p>
                <a:pPr lvl="1"/>
                <a:r>
                  <a:rPr kumimoji="1" lang="ja-JP" altLang="en-US" dirty="0"/>
                  <a:t>分岐予測ミス・ペナルティ：</a:t>
                </a:r>
                <a:r>
                  <a:rPr kumimoji="1" lang="en-US" altLang="ja-JP" dirty="0"/>
                  <a:t>	</a:t>
                </a:r>
                <a14:m>
                  <m:oMath xmlns:m="http://schemas.openxmlformats.org/officeDocument/2006/math">
                    <m:r>
                      <a:rPr kumimoji="1" lang="en-US" altLang="ja-JP" b="1" i="1" dirty="0" smtClean="0">
                        <a:solidFill>
                          <a:schemeClr val="accent5"/>
                        </a:solidFill>
                        <a:latin typeface="Cambria Math" panose="02040503050406030204" pitchFamily="18" charset="0"/>
                      </a:rPr>
                      <m:t>𝑪𝒑</m:t>
                    </m:r>
                  </m:oMath>
                </a14:m>
                <a:endParaRPr kumimoji="1" lang="en-US" altLang="ja-JP" b="1" dirty="0"/>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b="1" i="1" dirty="0" smtClean="0">
                        <a:solidFill>
                          <a:schemeClr val="accent5"/>
                        </a:solidFill>
                        <a:latin typeface="Cambria Math" panose="02040503050406030204" pitchFamily="18" charset="0"/>
                      </a:rPr>
                      <m:t>𝑪𝒓</m:t>
                    </m:r>
                    <m:r>
                      <a:rPr lang="en-US" b="1" i="1" dirty="0" smtClean="0">
                        <a:solidFill>
                          <a:schemeClr val="accent5"/>
                        </a:solidFill>
                        <a:latin typeface="Cambria Math" panose="02040503050406030204" pitchFamily="18" charset="0"/>
                      </a:rPr>
                      <m:t>=</m:t>
                    </m:r>
                    <m:r>
                      <a:rPr lang="en-US" b="1" i="1" dirty="0" smtClean="0">
                        <a:solidFill>
                          <a:schemeClr val="accent5"/>
                        </a:solidFill>
                        <a:latin typeface="Cambria Math" panose="02040503050406030204" pitchFamily="18" charset="0"/>
                      </a:rPr>
                      <m:t>𝑪𝒕</m:t>
                    </m:r>
                    <m:r>
                      <a:rPr lang="en-US" b="1" i="1" dirty="0" smtClean="0">
                        <a:solidFill>
                          <a:schemeClr val="accent5"/>
                        </a:solidFill>
                        <a:latin typeface="Cambria Math" panose="02040503050406030204" pitchFamily="18" charset="0"/>
                      </a:rPr>
                      <m:t> + </m:t>
                    </m:r>
                    <m:r>
                      <a:rPr lang="en-US" b="1" i="1" dirty="0" smtClean="0">
                        <a:solidFill>
                          <a:schemeClr val="accent5"/>
                        </a:solidFill>
                        <a:latin typeface="Cambria Math" panose="02040503050406030204" pitchFamily="18" charset="0"/>
                      </a:rPr>
                      <m:t>𝑵𝒎</m:t>
                    </m:r>
                    <m:r>
                      <a:rPr lang="en-US" altLang="ja-JP" b="1" i="1" dirty="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𝑪𝒑</m:t>
                    </m:r>
                  </m:oMath>
                </a14:m>
                <a:endParaRPr kumimoji="1" lang="en-US" b="1" dirty="0">
                  <a:solidFill>
                    <a:schemeClr val="accent5"/>
                  </a:solidFill>
                </a:endParaRPr>
              </a:p>
              <a:p>
                <a:pPr lvl="1"/>
                <a:r>
                  <a:rPr kumimoji="1" lang="ja-JP" altLang="en-US" dirty="0">
                    <a:solidFill>
                      <a:schemeClr val="tx1">
                        <a:lumMod val="75000"/>
                        <a:lumOff val="25000"/>
                      </a:schemeClr>
                    </a:solidFill>
                  </a:rPr>
                  <a:t>意味：予測ミスの発生回数</a:t>
                </a:r>
                <a14:m>
                  <m:oMath xmlns:m="http://schemas.openxmlformats.org/officeDocument/2006/math">
                    <m:r>
                      <a:rPr lang="en-US" altLang="ja-JP" i="1" dirty="0" smtClean="0">
                        <a:solidFill>
                          <a:schemeClr val="tx1">
                            <a:lumMod val="75000"/>
                            <a:lumOff val="25000"/>
                          </a:schemeClr>
                        </a:solidFill>
                        <a:latin typeface="Cambria Math" panose="02040503050406030204" pitchFamily="18" charset="0"/>
                      </a:rPr>
                      <m:t>×</m:t>
                    </m:r>
                  </m:oMath>
                </a14:m>
                <a:r>
                  <a:rPr kumimoji="1" lang="ja-JP" altLang="en-US" dirty="0">
                    <a:solidFill>
                      <a:schemeClr val="tx1">
                        <a:lumMod val="75000"/>
                        <a:lumOff val="25000"/>
                      </a:schemeClr>
                    </a:solidFill>
                  </a:rPr>
                  <a:t>ペナルティ だけ実行時間が伸びる</a:t>
                </a:r>
                <a:endParaRPr kumimoji="1" lang="en-US" dirty="0">
                  <a:solidFill>
                    <a:schemeClr val="tx1">
                      <a:lumMod val="75000"/>
                      <a:lumOff val="25000"/>
                    </a:schemeClr>
                  </a:solidFill>
                </a:endParaRPr>
              </a:p>
            </p:txBody>
          </p:sp>
        </mc:Choice>
        <mc:Fallback xmlns="">
          <p:sp>
            <p:nvSpPr>
              <p:cNvPr id="3" name="コンテンツ プレースホルダー 2">
                <a:extLst>
                  <a:ext uri="{FF2B5EF4-FFF2-40B4-BE49-F238E27FC236}">
                    <a16:creationId xmlns:a16="http://schemas.microsoft.com/office/drawing/2014/main" id="{7A388F3E-9D46-BE60-22D7-DE67BE9600EC}"/>
                  </a:ext>
                </a:extLst>
              </p:cNvPr>
              <p:cNvSpPr>
                <a:spLocks noGrp="1" noRot="1" noChangeAspect="1" noMove="1" noResize="1" noEditPoints="1" noAdjustHandles="1" noChangeArrowheads="1" noChangeShapeType="1" noTextEdit="1"/>
              </p:cNvSpPr>
              <p:nvPr>
                <p:ph sz="quarter" idx="10"/>
              </p:nvPr>
            </p:nvSpPr>
            <p:spPr>
              <a:xfrm>
                <a:off x="611955" y="1088974"/>
                <a:ext cx="8190091" cy="5220058"/>
              </a:xfrm>
              <a:blipFill>
                <a:blip r:embed="rId2"/>
                <a:stretch>
                  <a:fillRect l="-670" b="-1402"/>
                </a:stretch>
              </a:blipFill>
            </p:spPr>
            <p:txBody>
              <a:bodyPr/>
              <a:lstStyle/>
              <a:p>
                <a:r>
                  <a:rPr lang="en-US">
                    <a:noFill/>
                  </a:rPr>
                  <a:t> </a:t>
                </a:r>
              </a:p>
            </p:txBody>
          </p:sp>
        </mc:Fallback>
      </mc:AlternateContent>
    </p:spTree>
    <p:extLst>
      <p:ext uri="{BB962C8B-B14F-4D97-AF65-F5344CB8AC3E}">
        <p14:creationId xmlns:p14="http://schemas.microsoft.com/office/powerpoint/2010/main" val="16366451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具体的な値を入れてみる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431954" y="1088974"/>
                <a:ext cx="8550095" cy="5220058"/>
              </a:xfrm>
            </p:spPr>
            <p:txBody>
              <a:bodyPr/>
              <a:lstStyle/>
              <a:p>
                <a:r>
                  <a:rPr kumimoji="1" lang="ja-JP" altLang="en-US" dirty="0"/>
                  <a:t>以下のように置いた場合，</a:t>
                </a:r>
                <a:endParaRPr kumimoji="1" lang="en-US" altLang="ja-JP" dirty="0"/>
              </a:p>
              <a:p>
                <a:pPr lvl="1"/>
                <a:r>
                  <a:rPr lang="ja-JP" altLang="en-US" dirty="0"/>
                  <a:t>理想的な実行の際のサイクル数：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𝑪𝒕</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oMath>
                </a14:m>
                <a:r>
                  <a:rPr lang="ja-JP" altLang="en-US" dirty="0">
                    <a:solidFill>
                      <a:schemeClr val="accent5"/>
                    </a:solidFill>
                  </a:rPr>
                  <a:t>（メガ）</a:t>
                </a:r>
                <a:br>
                  <a:rPr lang="en-US" altLang="ja-JP" dirty="0"/>
                </a:br>
                <a:endParaRPr lang="en-US" altLang="ja-JP" dirty="0"/>
              </a:p>
              <a:p>
                <a:pPr lvl="1"/>
                <a:r>
                  <a:rPr lang="ja-JP" altLang="en-US" dirty="0"/>
                  <a:t>分岐予測ミスの発生回数：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𝑵𝒎</m:t>
                    </m:r>
                    <m:r>
                      <a:rPr lang="en-US" altLang="ja-JP" b="1" i="1" dirty="0" smtClean="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𝑵𝒊</m:t>
                    </m:r>
                    <m:r>
                      <a:rPr lang="en-US" altLang="ja-JP" b="1" i="1" dirty="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𝑷𝒃</m:t>
                    </m:r>
                    <m:r>
                      <a:rPr lang="en-US" altLang="ja-JP" b="1" i="1" dirty="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𝑷𝒎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𝟎𝟐𝟓</m:t>
                    </m:r>
                    <m:r>
                      <a:rPr lang="en-US" altLang="ja-JP" b="1" i="1" dirty="0" smtClean="0">
                        <a:solidFill>
                          <a:schemeClr val="accent5"/>
                        </a:solidFill>
                        <a:latin typeface="Cambria Math" panose="02040503050406030204" pitchFamily="18" charset="0"/>
                      </a:rPr>
                      <m:t>𝑴</m:t>
                    </m:r>
                  </m:oMath>
                </a14:m>
                <a:endParaRPr lang="en-US" altLang="ja-JP" b="1" dirty="0">
                  <a:solidFill>
                    <a:schemeClr val="accent5"/>
                  </a:solidFill>
                </a:endParaRPr>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r>
                      <a:rPr kumimoji="1" lang="en-US" altLang="ja-JP" b="0" i="1" dirty="0" smtClean="0">
                        <a:latin typeface="Cambria Math" panose="02040503050406030204" pitchFamily="18" charset="0"/>
                      </a:rPr>
                      <m:t>=1</m:t>
                    </m:r>
                    <m:r>
                      <a:rPr kumimoji="1" lang="en-US" altLang="ja-JP" b="0" i="1" dirty="0" smtClean="0">
                        <a:latin typeface="Cambria Math" panose="02040503050406030204" pitchFamily="18" charset="0"/>
                      </a:rPr>
                      <m:t>𝑀</m:t>
                    </m:r>
                  </m:oMath>
                </a14:m>
                <a:endParaRPr kumimoji="1" lang="en-US" altLang="ja-JP" dirty="0"/>
              </a:p>
              <a:p>
                <a:pPr lvl="2"/>
                <a:r>
                  <a:rPr lang="ja-JP" altLang="en-US" dirty="0"/>
                  <a:t>分岐命令の出現率：</a:t>
                </a:r>
                <a:r>
                  <a:rPr lang="en-US" altLang="ja-JP" dirty="0"/>
                  <a:t>			</a:t>
                </a:r>
                <a14:m>
                  <m:oMath xmlns:m="http://schemas.openxmlformats.org/officeDocument/2006/math">
                    <m:r>
                      <a:rPr lang="en-US" altLang="ja-JP" i="1" dirty="0">
                        <a:latin typeface="Cambria Math" panose="02040503050406030204" pitchFamily="18" charset="0"/>
                      </a:rPr>
                      <m:t>𝑃𝑏</m:t>
                    </m:r>
                    <m:r>
                      <a:rPr lang="en-US" altLang="ja-JP" b="0" i="1" dirty="0" smtClean="0">
                        <a:latin typeface="Cambria Math" panose="02040503050406030204" pitchFamily="18" charset="0"/>
                      </a:rPr>
                      <m:t>=0.25</m:t>
                    </m:r>
                  </m:oMath>
                </a14:m>
                <a:endParaRPr kumimoji="1" lang="en-US" altLang="ja-JP" dirty="0"/>
              </a:p>
              <a:p>
                <a:pPr marL="1080000" lvl="3" indent="0">
                  <a:buNone/>
                </a:pPr>
                <a:r>
                  <a:rPr kumimoji="1" lang="ja-JP" altLang="en-US" dirty="0"/>
                  <a:t>（プログラムは大体４命令に１つぐらい分岐が出てくる</a:t>
                </a:r>
                <a:endParaRPr kumimoji="1" lang="en-US" altLang="ja-JP" dirty="0"/>
              </a:p>
              <a:p>
                <a:pPr lvl="2"/>
                <a:r>
                  <a:rPr kumimoji="1" lang="ja-JP" altLang="en-US" dirty="0"/>
                  <a:t>分岐命令毎の予測ミス発生率：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𝑃𝑚</m:t>
                    </m:r>
                    <m:r>
                      <a:rPr kumimoji="1" lang="en-US" altLang="ja-JP" b="0" i="1" dirty="0" smtClean="0">
                        <a:latin typeface="Cambria Math" panose="02040503050406030204" pitchFamily="18" charset="0"/>
                      </a:rPr>
                      <m:t>=0.1</m:t>
                    </m:r>
                  </m:oMath>
                </a14:m>
                <a:br>
                  <a:rPr kumimoji="1" lang="en-US" altLang="ja-JP" dirty="0"/>
                </a:br>
                <a:endParaRPr kumimoji="1" lang="en-US" altLang="ja-JP" dirty="0"/>
              </a:p>
              <a:p>
                <a:pPr lvl="1"/>
                <a:r>
                  <a:rPr kumimoji="1" lang="ja-JP" altLang="en-US" dirty="0"/>
                  <a:t>分岐予測ミス・ペナルティ：</a:t>
                </a:r>
                <a:r>
                  <a:rPr kumimoji="1" lang="en-US" altLang="ja-JP" dirty="0"/>
                  <a:t>	</a:t>
                </a:r>
                <a14:m>
                  <m:oMath xmlns:m="http://schemas.openxmlformats.org/officeDocument/2006/math">
                    <m:r>
                      <a:rPr kumimoji="1" lang="en-US" altLang="ja-JP" b="1" i="1" dirty="0" smtClean="0">
                        <a:solidFill>
                          <a:schemeClr val="accent5"/>
                        </a:solidFill>
                        <a:latin typeface="Cambria Math" panose="02040503050406030204" pitchFamily="18" charset="0"/>
                      </a:rPr>
                      <m:t>𝑪𝒑</m:t>
                    </m:r>
                    <m:r>
                      <a:rPr kumimoji="1" lang="en-US" altLang="ja-JP" b="1" i="1" dirty="0" smtClean="0">
                        <a:solidFill>
                          <a:schemeClr val="accent5"/>
                        </a:solidFill>
                        <a:latin typeface="Cambria Math" panose="02040503050406030204" pitchFamily="18" charset="0"/>
                      </a:rPr>
                      <m:t>=</m:t>
                    </m:r>
                    <m:r>
                      <a:rPr kumimoji="1" lang="en-US" altLang="ja-JP" b="1" i="1" dirty="0" smtClean="0">
                        <a:solidFill>
                          <a:schemeClr val="accent5"/>
                        </a:solidFill>
                        <a:latin typeface="Cambria Math" panose="02040503050406030204" pitchFamily="18" charset="0"/>
                      </a:rPr>
                      <m:t>𝟒</m:t>
                    </m:r>
                  </m:oMath>
                </a14:m>
                <a:endParaRPr kumimoji="1" lang="en-US" altLang="ja-JP" b="1" dirty="0">
                  <a:solidFill>
                    <a:schemeClr val="accent5"/>
                  </a:solidFill>
                </a:endParaRPr>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a:t>
                </a:r>
                <a:endParaRPr kumimoji="1" lang="en-US" altLang="ja-JP" dirty="0"/>
              </a:p>
              <a:p>
                <a:pPr lvl="1"/>
                <a14:m>
                  <m:oMath xmlns:m="http://schemas.openxmlformats.org/officeDocument/2006/math">
                    <m:r>
                      <a:rPr lang="en-US" b="1" i="1" dirty="0" smtClean="0">
                        <a:solidFill>
                          <a:schemeClr val="accent5"/>
                        </a:solidFill>
                        <a:latin typeface="Cambria Math" panose="02040503050406030204" pitchFamily="18" charset="0"/>
                      </a:rPr>
                      <m:t>𝑪𝒓</m:t>
                    </m:r>
                    <m:r>
                      <a:rPr lang="en-US" b="1" i="1" dirty="0" smtClean="0">
                        <a:solidFill>
                          <a:schemeClr val="accent5"/>
                        </a:solidFill>
                        <a:latin typeface="Cambria Math" panose="02040503050406030204" pitchFamily="18" charset="0"/>
                      </a:rPr>
                      <m:t>=</m:t>
                    </m:r>
                    <m:r>
                      <a:rPr lang="en-US" b="1" i="1" dirty="0" smtClean="0">
                        <a:solidFill>
                          <a:schemeClr val="accent5"/>
                        </a:solidFill>
                        <a:latin typeface="Cambria Math" panose="02040503050406030204" pitchFamily="18" charset="0"/>
                      </a:rPr>
                      <m:t>𝑪𝒕</m:t>
                    </m:r>
                    <m:r>
                      <a:rPr lang="en-US" b="1" i="1" dirty="0" smtClean="0">
                        <a:solidFill>
                          <a:schemeClr val="accent5"/>
                        </a:solidFill>
                        <a:latin typeface="Cambria Math" panose="02040503050406030204" pitchFamily="18" charset="0"/>
                      </a:rPr>
                      <m:t> + </m:t>
                    </m:r>
                    <m:r>
                      <a:rPr lang="en-US" b="1" i="1" dirty="0" smtClean="0">
                        <a:solidFill>
                          <a:schemeClr val="accent5"/>
                        </a:solidFill>
                        <a:latin typeface="Cambria Math" panose="02040503050406030204" pitchFamily="18" charset="0"/>
                      </a:rPr>
                      <m:t>𝑵𝒎</m:t>
                    </m:r>
                    <m:r>
                      <a:rPr lang="en-US" altLang="ja-JP" b="1" i="1" dirty="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𝑪𝒑</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oMath>
                </a14:m>
                <a:endParaRPr kumimoji="1" lang="en-US" b="1" dirty="0">
                  <a:solidFill>
                    <a:schemeClr val="accent5"/>
                  </a:solidFill>
                </a:endParaRPr>
              </a:p>
              <a:p>
                <a:pPr lvl="1"/>
                <a:r>
                  <a:rPr kumimoji="1" lang="ja-JP" altLang="en-US" dirty="0"/>
                  <a:t>分岐予測ミスにより </a:t>
                </a:r>
                <a:r>
                  <a:rPr kumimoji="1" lang="en-US" altLang="ja-JP" dirty="0"/>
                  <a:t>10% </a:t>
                </a:r>
                <a:r>
                  <a:rPr kumimoji="1" lang="ja-JP" altLang="en-US" dirty="0"/>
                  <a:t>実行サイクル数が伸びている</a:t>
                </a:r>
                <a:endParaRPr kumimoji="1" lang="en-US" dirty="0"/>
              </a:p>
            </p:txBody>
          </p:sp>
        </mc:Choice>
        <mc:Fallback xmlns="">
          <p:sp>
            <p:nvSpPr>
              <p:cNvPr id="3" name="コンテンツ プレースホルダー 2">
                <a:extLst>
                  <a:ext uri="{FF2B5EF4-FFF2-40B4-BE49-F238E27FC236}">
                    <a16:creationId xmlns:a16="http://schemas.microsoft.com/office/drawing/2014/main" id="{7A388F3E-9D46-BE60-22D7-DE67BE9600EC}"/>
                  </a:ext>
                </a:extLst>
              </p:cNvPr>
              <p:cNvSpPr>
                <a:spLocks noGrp="1" noRot="1" noChangeAspect="1" noMove="1" noResize="1" noEditPoints="1" noAdjustHandles="1" noChangeArrowheads="1" noChangeShapeType="1" noTextEdit="1"/>
              </p:cNvSpPr>
              <p:nvPr>
                <p:ph sz="quarter" idx="10"/>
              </p:nvPr>
            </p:nvSpPr>
            <p:spPr>
              <a:xfrm>
                <a:off x="431954" y="1088974"/>
                <a:ext cx="8550095" cy="5220058"/>
              </a:xfrm>
              <a:blipFill>
                <a:blip r:embed="rId2"/>
                <a:stretch>
                  <a:fillRect l="-642" t="-3154" b="-5023"/>
                </a:stretch>
              </a:blipFill>
            </p:spPr>
            <p:txBody>
              <a:bodyPr/>
              <a:lstStyle/>
              <a:p>
                <a:r>
                  <a:rPr lang="en-US">
                    <a:noFill/>
                  </a:rPr>
                  <a:t> </a:t>
                </a:r>
              </a:p>
            </p:txBody>
          </p:sp>
        </mc:Fallback>
      </mc:AlternateContent>
    </p:spTree>
    <p:extLst>
      <p:ext uri="{BB962C8B-B14F-4D97-AF65-F5344CB8AC3E}">
        <p14:creationId xmlns:p14="http://schemas.microsoft.com/office/powerpoint/2010/main" val="26626678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C12892-35F5-E8A0-AFC3-832AE2AE9B06}"/>
              </a:ext>
            </a:extLst>
          </p:cNvPr>
          <p:cNvSpPr>
            <a:spLocks noGrp="1"/>
          </p:cNvSpPr>
          <p:nvPr>
            <p:ph type="title"/>
          </p:nvPr>
        </p:nvSpPr>
        <p:spPr/>
        <p:txBody>
          <a:bodyPr/>
          <a:lstStyle/>
          <a:p>
            <a:r>
              <a:rPr kumimoji="1" lang="en-US" dirty="0"/>
              <a:t>IPC </a:t>
            </a:r>
            <a:r>
              <a:rPr kumimoji="1" lang="ja-JP" altLang="en-US" dirty="0"/>
              <a:t>で考えると</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4C80AA3-F81D-AB4A-CDFC-745326F1053F}"/>
                  </a:ext>
                </a:extLst>
              </p:cNvPr>
              <p:cNvSpPr>
                <a:spLocks noGrp="1"/>
              </p:cNvSpPr>
              <p:nvPr>
                <p:ph sz="quarter" idx="10"/>
              </p:nvPr>
            </p:nvSpPr>
            <p:spPr/>
            <p:txBody>
              <a:bodyPr/>
              <a:lstStyle/>
              <a:p>
                <a:r>
                  <a:rPr lang="ja-JP" altLang="en-US" i="1" dirty="0">
                    <a:latin typeface="Cambria Math" panose="02040503050406030204" pitchFamily="18" charset="0"/>
                  </a:rPr>
                  <a:t>最終的な性能を考える上で </a:t>
                </a:r>
                <a:r>
                  <a:rPr lang="en-US" altLang="ja-JP" i="0" dirty="0">
                    <a:latin typeface="+mj-lt"/>
                  </a:rPr>
                  <a:t>IPC</a:t>
                </a:r>
                <a14:m>
                  <m:oMath xmlns:m="http://schemas.openxmlformats.org/officeDocument/2006/math">
                    <m:r>
                      <a:rPr lang="en-US" altLang="ja-JP" i="1" dirty="0" smtClean="0">
                        <a:latin typeface="Cambria Math" panose="02040503050406030204" pitchFamily="18" charset="0"/>
                      </a:rPr>
                      <m:t> </m:t>
                    </m:r>
                  </m:oMath>
                </a14:m>
                <a:r>
                  <a:rPr lang="en-US" altLang="ja-JP" i="1" dirty="0">
                    <a:latin typeface="Cambria Math" panose="02040503050406030204" pitchFamily="18" charset="0"/>
                  </a:rPr>
                  <a:t> </a:t>
                </a:r>
                <a:r>
                  <a:rPr lang="ja-JP" altLang="en-US" i="1" dirty="0">
                    <a:latin typeface="Cambria Math" panose="02040503050406030204" pitchFamily="18" charset="0"/>
                  </a:rPr>
                  <a:t>の方が都合がよい</a:t>
                </a:r>
                <a:endParaRPr lang="en-US" altLang="ja-JP" i="1" dirty="0">
                  <a:latin typeface="Cambria Math" panose="02040503050406030204" pitchFamily="18" charset="0"/>
                </a:endParaRPr>
              </a:p>
              <a:p>
                <a14:m>
                  <m:oMath xmlns:m="http://schemas.openxmlformats.org/officeDocument/2006/math">
                    <m:r>
                      <a:rPr lang="ja-JP" altLang="en-US" i="1" dirty="0" smtClean="0">
                        <a:latin typeface="Cambria Math" panose="02040503050406030204" pitchFamily="18" charset="0"/>
                      </a:rPr>
                      <m:t>実行サイクル数</m:t>
                    </m:r>
                    <m:r>
                      <a:rPr lang="en-US" altLang="ja-JP" b="0" i="1" dirty="0" smtClean="0">
                        <a:latin typeface="Cambria Math" panose="02040503050406030204" pitchFamily="18" charset="0"/>
                      </a:rPr>
                      <m:t> </m:t>
                    </m:r>
                    <m:r>
                      <a:rPr lang="en-US" altLang="ja-JP" i="1" dirty="0" smtClean="0">
                        <a:latin typeface="Cambria Math" panose="02040503050406030204" pitchFamily="18" charset="0"/>
                      </a:rPr>
                      <m:t>𝐶𝑟</m:t>
                    </m:r>
                  </m:oMath>
                </a14:m>
                <a:r>
                  <a:rPr kumimoji="1" lang="ja-JP" altLang="en-US" dirty="0"/>
                  <a:t> を命令数 </a:t>
                </a:r>
                <a14:m>
                  <m:oMath xmlns:m="http://schemas.openxmlformats.org/officeDocument/2006/math">
                    <m:r>
                      <a:rPr kumimoji="1" lang="en-US" altLang="ja-JP" i="1" dirty="0" smtClean="0">
                        <a:latin typeface="Cambria Math" panose="02040503050406030204" pitchFamily="18" charset="0"/>
                      </a:rPr>
                      <m:t>𝑁𝑖</m:t>
                    </m:r>
                  </m:oMath>
                </a14:m>
                <a:r>
                  <a:rPr kumimoji="1" lang="en-US" dirty="0"/>
                  <a:t> </a:t>
                </a:r>
                <a:r>
                  <a:rPr kumimoji="1" lang="ja-JP" altLang="en-US" dirty="0"/>
                  <a:t>で正規化すると，</a:t>
                </a:r>
                <a:endParaRPr kumimoji="1" lang="en-US" altLang="ja-JP" dirty="0"/>
              </a:p>
              <a:p>
                <a:pPr lvl="1"/>
                <a14:m>
                  <m:oMath xmlns:m="http://schemas.openxmlformats.org/officeDocument/2006/math">
                    <m:f>
                      <m:fPr>
                        <m:ctrlPr>
                          <a:rPr lang="en-US" altLang="ja-JP" b="0" i="1" dirty="0" smtClean="0">
                            <a:latin typeface="Cambria Math" panose="02040503050406030204" pitchFamily="18" charset="0"/>
                          </a:rPr>
                        </m:ctrlPr>
                      </m:fPr>
                      <m:num>
                        <m:r>
                          <a:rPr lang="en-US" altLang="ja-JP" i="1" dirty="0" smtClean="0">
                            <a:latin typeface="Cambria Math" panose="02040503050406030204" pitchFamily="18" charset="0"/>
                          </a:rPr>
                          <m:t>𝐶𝑟</m:t>
                        </m:r>
                      </m:num>
                      <m:den>
                        <m:r>
                          <a:rPr lang="en-US" altLang="ja-JP" b="0" i="1" dirty="0" smtClean="0">
                            <a:latin typeface="Cambria Math" panose="02040503050406030204" pitchFamily="18" charset="0"/>
                          </a:rPr>
                          <m:t>𝑁𝑖</m:t>
                        </m:r>
                      </m:den>
                    </m:f>
                    <m:r>
                      <a:rPr lang="en-US" altLang="ja-JP" i="1" dirty="0" smtClean="0">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𝐶𝑡</m:t>
                        </m:r>
                      </m:num>
                      <m:den>
                        <m:r>
                          <a:rPr lang="en-US" altLang="ja-JP" i="1" dirty="0">
                            <a:latin typeface="Cambria Math" panose="02040503050406030204" pitchFamily="18" charset="0"/>
                          </a:rPr>
                          <m:t>𝑁𝑖</m:t>
                        </m:r>
                      </m:den>
                    </m:f>
                    <m:r>
                      <a:rPr lang="en-US" altLang="ja-JP" i="1" dirty="0">
                        <a:latin typeface="Cambria Math" panose="02040503050406030204" pitchFamily="18" charset="0"/>
                      </a:rPr>
                      <m:t> +</m:t>
                    </m:r>
                    <m:f>
                      <m:fPr>
                        <m:ctrlPr>
                          <a:rPr lang="en-US" altLang="ja-JP" i="1" dirty="0">
                            <a:latin typeface="Cambria Math" panose="02040503050406030204" pitchFamily="18" charset="0"/>
                          </a:rPr>
                        </m:ctrlPr>
                      </m:fPr>
                      <m:num>
                        <m:d>
                          <m:dPr>
                            <m:ctrlPr>
                              <a:rPr lang="en-US" altLang="ja-JP" i="1" dirty="0">
                                <a:latin typeface="Cambria Math" panose="02040503050406030204" pitchFamily="18" charset="0"/>
                              </a:rPr>
                            </m:ctrlPr>
                          </m:dPr>
                          <m:e>
                            <m:r>
                              <a:rPr lang="en-US" altLang="ja-JP" i="1" dirty="0">
                                <a:latin typeface="Cambria Math" panose="02040503050406030204" pitchFamily="18" charset="0"/>
                              </a:rPr>
                              <m:t>𝑁𝑚</m:t>
                            </m:r>
                            <m:r>
                              <a:rPr lang="en-US" altLang="ja-JP" i="1" dirty="0">
                                <a:latin typeface="Cambria Math" panose="02040503050406030204" pitchFamily="18" charset="0"/>
                              </a:rPr>
                              <m:t>×</m:t>
                            </m:r>
                            <m:r>
                              <a:rPr lang="en-US" altLang="ja-JP" i="1" dirty="0">
                                <a:latin typeface="Cambria Math" panose="02040503050406030204" pitchFamily="18" charset="0"/>
                              </a:rPr>
                              <m:t>𝐶𝑝</m:t>
                            </m:r>
                          </m:e>
                        </m:d>
                      </m:num>
                      <m:den>
                        <m:r>
                          <a:rPr lang="en-US" altLang="ja-JP" i="1" dirty="0">
                            <a:latin typeface="Cambria Math" panose="02040503050406030204" pitchFamily="18" charset="0"/>
                          </a:rPr>
                          <m:t>𝑁𝑖</m:t>
                        </m:r>
                      </m:den>
                    </m:f>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𝐶𝑡</m:t>
                        </m:r>
                      </m:num>
                      <m:den>
                        <m:r>
                          <a:rPr lang="en-US" altLang="ja-JP" i="1" dirty="0">
                            <a:latin typeface="Cambria Math" panose="02040503050406030204" pitchFamily="18" charset="0"/>
                          </a:rPr>
                          <m:t>𝑁𝑖</m:t>
                        </m:r>
                      </m:den>
                    </m:f>
                    <m:r>
                      <a:rPr lang="en-US" altLang="ja-JP" i="1" dirty="0">
                        <a:latin typeface="Cambria Math" panose="02040503050406030204" pitchFamily="18" charset="0"/>
                      </a:rPr>
                      <m:t> +</m:t>
                    </m:r>
                    <m:f>
                      <m:fPr>
                        <m:ctrlPr>
                          <a:rPr lang="en-US" altLang="ja-JP" i="1" dirty="0">
                            <a:latin typeface="Cambria Math" panose="02040503050406030204" pitchFamily="18" charset="0"/>
                          </a:rPr>
                        </m:ctrlPr>
                      </m:fPr>
                      <m:num>
                        <m:d>
                          <m:dPr>
                            <m:ctrlPr>
                              <a:rPr lang="en-US" altLang="ja-JP" i="1" dirty="0">
                                <a:latin typeface="Cambria Math" panose="02040503050406030204" pitchFamily="18" charset="0"/>
                              </a:rPr>
                            </m:ctrlPr>
                          </m:dPr>
                          <m:e>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r>
                              <a:rPr lang="en-US" altLang="ja-JP" b="0" i="1" dirty="0" smtClean="0">
                                <a:latin typeface="Cambria Math" panose="02040503050406030204" pitchFamily="18" charset="0"/>
                              </a:rPr>
                              <m:t>×</m:t>
                            </m:r>
                            <m:r>
                              <a:rPr lang="en-US" altLang="ja-JP" i="1" dirty="0">
                                <a:latin typeface="Cambria Math" panose="02040503050406030204" pitchFamily="18" charset="0"/>
                              </a:rPr>
                              <m:t>𝐶𝑝</m:t>
                            </m:r>
                          </m:e>
                        </m:d>
                      </m:num>
                      <m:den>
                        <m:r>
                          <a:rPr lang="en-US" altLang="ja-JP" i="1" dirty="0">
                            <a:latin typeface="Cambria Math" panose="02040503050406030204" pitchFamily="18" charset="0"/>
                          </a:rPr>
                          <m:t>𝑁𝑖</m:t>
                        </m:r>
                      </m:den>
                    </m:f>
                    <m:r>
                      <a:rPr lang="en-US" altLang="ja-JP" b="0" i="1" dirty="0" smtClean="0">
                        <a:latin typeface="Cambria Math" panose="02040503050406030204" pitchFamily="18" charset="0"/>
                      </a:rPr>
                      <m:t>=</m:t>
                    </m:r>
                    <m:f>
                      <m:fPr>
                        <m:ctrlPr>
                          <a:rPr lang="en-US" altLang="ja-JP" i="1" dirty="0" smtClean="0">
                            <a:solidFill>
                              <a:schemeClr val="accent5"/>
                            </a:solidFill>
                            <a:latin typeface="Cambria Math" panose="02040503050406030204" pitchFamily="18" charset="0"/>
                          </a:rPr>
                        </m:ctrlPr>
                      </m:fPr>
                      <m:num>
                        <m:r>
                          <a:rPr lang="en-US" altLang="ja-JP" i="1" dirty="0">
                            <a:solidFill>
                              <a:schemeClr val="accent5"/>
                            </a:solidFill>
                            <a:latin typeface="Cambria Math" panose="02040503050406030204" pitchFamily="18" charset="0"/>
                          </a:rPr>
                          <m:t>𝐶𝑡</m:t>
                        </m:r>
                      </m:num>
                      <m:den>
                        <m:r>
                          <a:rPr lang="en-US" altLang="ja-JP" i="1" dirty="0">
                            <a:solidFill>
                              <a:schemeClr val="accent5"/>
                            </a:solidFill>
                            <a:latin typeface="Cambria Math" panose="02040503050406030204" pitchFamily="18" charset="0"/>
                          </a:rPr>
                          <m:t>𝑁𝑖</m:t>
                        </m:r>
                      </m:den>
                    </m:f>
                    <m:r>
                      <a:rPr lang="en-US" altLang="ja-JP" i="1" dirty="0">
                        <a:solidFill>
                          <a:schemeClr val="accent5"/>
                        </a:solidFill>
                        <a:latin typeface="Cambria Math" panose="02040503050406030204" pitchFamily="18" charset="0"/>
                      </a:rPr>
                      <m:t> </m:t>
                    </m:r>
                    <m:r>
                      <a:rPr lang="en-US" altLang="ja-JP" i="1" dirty="0" smtClean="0">
                        <a:solidFill>
                          <a:schemeClr val="accent5"/>
                        </a:solidFill>
                        <a:latin typeface="Cambria Math" panose="02040503050406030204" pitchFamily="18" charset="0"/>
                      </a:rPr>
                      <m:t>+</m:t>
                    </m:r>
                    <m:r>
                      <a:rPr kumimoji="1" lang="en-US" altLang="ja-JP" i="1" dirty="0" smtClean="0">
                        <a:solidFill>
                          <a:schemeClr val="accent5"/>
                        </a:solidFill>
                        <a:latin typeface="Cambria Math" panose="02040503050406030204" pitchFamily="18" charset="0"/>
                      </a:rPr>
                      <m:t>𝑃𝑏</m:t>
                    </m:r>
                    <m:r>
                      <a:rPr kumimoji="1" lang="en-US" altLang="ja-JP" b="0" i="1" dirty="0" smtClean="0">
                        <a:solidFill>
                          <a:schemeClr val="accent5"/>
                        </a:solidFill>
                        <a:latin typeface="Cambria Math" panose="02040503050406030204" pitchFamily="18" charset="0"/>
                      </a:rPr>
                      <m:t>×</m:t>
                    </m:r>
                    <m:r>
                      <a:rPr kumimoji="1" lang="en-US" altLang="ja-JP" i="1" dirty="0" smtClean="0">
                        <a:solidFill>
                          <a:schemeClr val="accent5"/>
                        </a:solidFill>
                        <a:latin typeface="Cambria Math" panose="02040503050406030204" pitchFamily="18" charset="0"/>
                      </a:rPr>
                      <m:t>𝑃𝑚</m:t>
                    </m:r>
                    <m:r>
                      <a:rPr lang="en-US" altLang="ja-JP" i="1" dirty="0">
                        <a:solidFill>
                          <a:schemeClr val="accent5"/>
                        </a:solidFill>
                        <a:latin typeface="Cambria Math" panose="02040503050406030204" pitchFamily="18" charset="0"/>
                      </a:rPr>
                      <m:t>×</m:t>
                    </m:r>
                    <m:r>
                      <a:rPr lang="en-US" altLang="ja-JP" i="1" dirty="0">
                        <a:solidFill>
                          <a:schemeClr val="accent5"/>
                        </a:solidFill>
                        <a:latin typeface="Cambria Math" panose="02040503050406030204" pitchFamily="18" charset="0"/>
                      </a:rPr>
                      <m:t>𝐶𝑝</m:t>
                    </m:r>
                  </m:oMath>
                </a14:m>
                <a:endParaRPr kumimoji="1" lang="en-US" altLang="ja-JP" dirty="0">
                  <a:solidFill>
                    <a:schemeClr val="accent5"/>
                  </a:solidFill>
                </a:endParaRPr>
              </a:p>
              <a:p>
                <a:pPr lvl="1"/>
                <a:endParaRPr kumimoji="1" lang="en-US" dirty="0">
                  <a:solidFill>
                    <a:schemeClr val="accent5"/>
                  </a:solidFill>
                </a:endParaRPr>
              </a:p>
              <a:p>
                <a:r>
                  <a:rPr lang="en-US" altLang="ja-JP" dirty="0"/>
                  <a:t>IPC </a:t>
                </a:r>
                <a:r>
                  <a:rPr lang="ja-JP" altLang="en-US" dirty="0"/>
                  <a:t>は命令数を実行サイクル数で割ったもの </a:t>
                </a:r>
                <a:r>
                  <a:rPr lang="en-US" altLang="ja-JP" dirty="0"/>
                  <a:t>= </a:t>
                </a:r>
                <a:r>
                  <a:rPr lang="ja-JP" altLang="en-US" dirty="0"/>
                  <a:t>つまり上記の逆数</a:t>
                </a:r>
                <a:r>
                  <a:rPr kumimoji="1" lang="ja-JP" altLang="en-US" dirty="0"/>
                  <a:t> </a:t>
                </a:r>
                <a:endParaRPr kumimoji="1" lang="en-US" altLang="ja-JP" dirty="0"/>
              </a:p>
              <a:p>
                <a:pPr lvl="1"/>
                <a14:m>
                  <m:oMath xmlns:m="http://schemas.openxmlformats.org/officeDocument/2006/math">
                    <m:r>
                      <a:rPr kumimoji="1" lang="en-US" altLang="ja-JP" i="1" dirty="0" smtClean="0">
                        <a:latin typeface="Cambria Math" panose="02040503050406030204" pitchFamily="18" charset="0"/>
                      </a:rPr>
                      <m:t>𝐼𝑃𝐶𝑟</m:t>
                    </m:r>
                  </m:oMath>
                </a14:m>
                <a:r>
                  <a:rPr kumimoji="1" lang="en-US" dirty="0"/>
                  <a:t>=</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smtClean="0">
                                <a:solidFill>
                                  <a:schemeClr val="accent5"/>
                                </a:solidFill>
                                <a:latin typeface="Cambria Math" panose="02040503050406030204" pitchFamily="18" charset="0"/>
                              </a:rPr>
                            </m:ctrlPr>
                          </m:fPr>
                          <m:num>
                            <m:r>
                              <a:rPr lang="en-US" altLang="ja-JP" i="1" dirty="0">
                                <a:solidFill>
                                  <a:schemeClr val="accent5"/>
                                </a:solidFill>
                                <a:latin typeface="Cambria Math" panose="02040503050406030204" pitchFamily="18" charset="0"/>
                              </a:rPr>
                              <m:t>𝐶𝑡</m:t>
                            </m:r>
                          </m:num>
                          <m:den>
                            <m:r>
                              <a:rPr lang="en-US" altLang="ja-JP" i="1" dirty="0">
                                <a:solidFill>
                                  <a:schemeClr val="accent5"/>
                                </a:solidFill>
                                <a:latin typeface="Cambria Math" panose="02040503050406030204" pitchFamily="18" charset="0"/>
                              </a:rPr>
                              <m:t>𝑁𝑖</m:t>
                            </m:r>
                          </m:den>
                        </m:f>
                        <m:r>
                          <a:rPr lang="en-US" altLang="ja-JP" i="1" dirty="0">
                            <a:solidFill>
                              <a:schemeClr val="accent5"/>
                            </a:solidFill>
                            <a:latin typeface="Cambria Math" panose="02040503050406030204" pitchFamily="18" charset="0"/>
                          </a:rPr>
                          <m:t> +</m:t>
                        </m:r>
                        <m:r>
                          <a:rPr lang="en-US" altLang="ja-JP" i="1" dirty="0">
                            <a:solidFill>
                              <a:schemeClr val="accent5"/>
                            </a:solidFill>
                            <a:latin typeface="Cambria Math" panose="02040503050406030204" pitchFamily="18" charset="0"/>
                          </a:rPr>
                          <m:t>𝑃𝑏</m:t>
                        </m:r>
                        <m:r>
                          <a:rPr lang="en-US" altLang="ja-JP" i="1" dirty="0">
                            <a:solidFill>
                              <a:schemeClr val="accent5"/>
                            </a:solidFill>
                            <a:latin typeface="Cambria Math" panose="02040503050406030204" pitchFamily="18" charset="0"/>
                          </a:rPr>
                          <m:t>×</m:t>
                        </m:r>
                        <m:r>
                          <a:rPr lang="en-US" altLang="ja-JP" i="1" dirty="0">
                            <a:solidFill>
                              <a:schemeClr val="accent5"/>
                            </a:solidFill>
                            <a:latin typeface="Cambria Math" panose="02040503050406030204" pitchFamily="18" charset="0"/>
                          </a:rPr>
                          <m:t>𝑃𝑚</m:t>
                        </m:r>
                        <m:r>
                          <a:rPr lang="en-US" altLang="ja-JP" i="1" dirty="0">
                            <a:solidFill>
                              <a:schemeClr val="accent5"/>
                            </a:solidFill>
                            <a:latin typeface="Cambria Math" panose="02040503050406030204" pitchFamily="18" charset="0"/>
                          </a:rPr>
                          <m:t>×</m:t>
                        </m:r>
                        <m:r>
                          <a:rPr lang="en-US" altLang="ja-JP" i="1" dirty="0">
                            <a:solidFill>
                              <a:schemeClr val="accent5"/>
                            </a:solidFill>
                            <a:latin typeface="Cambria Math" panose="02040503050406030204" pitchFamily="18" charset="0"/>
                          </a:rPr>
                          <m:t>𝐶𝑝</m:t>
                        </m:r>
                      </m:den>
                    </m:f>
                    <m:r>
                      <a:rPr lang="en-US" altLang="ja-JP" b="0" i="1" dirty="0" smtClean="0">
                        <a:latin typeface="Cambria Math" panose="02040503050406030204" pitchFamily="18" charset="0"/>
                      </a:rPr>
                      <m:t>=</m:t>
                    </m:r>
                    <m:f>
                      <m:fPr>
                        <m:ctrlPr>
                          <a:rPr lang="en-US" altLang="ja-JP" i="1" dirty="0" smtClean="0">
                            <a:solidFill>
                              <a:schemeClr val="accent6"/>
                            </a:solidFill>
                            <a:latin typeface="Cambria Math" panose="02040503050406030204" pitchFamily="18" charset="0"/>
                          </a:rPr>
                        </m:ctrlPr>
                      </m:fPr>
                      <m:num>
                        <m:r>
                          <a:rPr lang="en-US" altLang="ja-JP" i="1" dirty="0">
                            <a:solidFill>
                              <a:schemeClr val="accent6"/>
                            </a:solidFill>
                            <a:latin typeface="Cambria Math" panose="02040503050406030204" pitchFamily="18" charset="0"/>
                          </a:rPr>
                          <m:t>1</m:t>
                        </m:r>
                      </m:num>
                      <m:den>
                        <m:f>
                          <m:fPr>
                            <m:ctrlPr>
                              <a:rPr lang="en-US" altLang="ja-JP" i="1" dirty="0">
                                <a:solidFill>
                                  <a:schemeClr val="accent6"/>
                                </a:solidFill>
                                <a:latin typeface="Cambria Math" panose="02040503050406030204" pitchFamily="18" charset="0"/>
                              </a:rPr>
                            </m:ctrlPr>
                          </m:fPr>
                          <m:num>
                            <m:r>
                              <a:rPr lang="en-US" altLang="ja-JP" i="1" dirty="0">
                                <a:solidFill>
                                  <a:schemeClr val="accent6"/>
                                </a:solidFill>
                                <a:latin typeface="Cambria Math" panose="02040503050406030204" pitchFamily="18" charset="0"/>
                              </a:rPr>
                              <m:t>1</m:t>
                            </m:r>
                          </m:num>
                          <m:den>
                            <m:r>
                              <a:rPr lang="en-US" altLang="ja-JP" b="0" i="1" dirty="0" smtClean="0">
                                <a:solidFill>
                                  <a:schemeClr val="accent6"/>
                                </a:solidFill>
                                <a:latin typeface="Cambria Math" panose="02040503050406030204" pitchFamily="18" charset="0"/>
                              </a:rPr>
                              <m:t>𝐼𝑃𝐶𝑡</m:t>
                            </m:r>
                          </m:den>
                        </m:f>
                        <m:r>
                          <a:rPr lang="en-US" altLang="ja-JP" i="1" dirty="0">
                            <a:solidFill>
                              <a:schemeClr val="accent6"/>
                            </a:solidFill>
                            <a:latin typeface="Cambria Math" panose="02040503050406030204" pitchFamily="18" charset="0"/>
                          </a:rPr>
                          <m:t>+</m:t>
                        </m:r>
                        <m:r>
                          <a:rPr lang="en-US" altLang="ja-JP" i="1" dirty="0">
                            <a:solidFill>
                              <a:schemeClr val="accent6"/>
                            </a:solidFill>
                            <a:latin typeface="Cambria Math" panose="02040503050406030204" pitchFamily="18" charset="0"/>
                          </a:rPr>
                          <m:t>𝑃𝑏</m:t>
                        </m:r>
                        <m:r>
                          <a:rPr lang="en-US" altLang="ja-JP" i="1" dirty="0">
                            <a:solidFill>
                              <a:schemeClr val="accent6"/>
                            </a:solidFill>
                            <a:latin typeface="Cambria Math" panose="02040503050406030204" pitchFamily="18" charset="0"/>
                          </a:rPr>
                          <m:t>×</m:t>
                        </m:r>
                        <m:r>
                          <a:rPr lang="en-US" altLang="ja-JP" i="1" dirty="0">
                            <a:solidFill>
                              <a:schemeClr val="accent6"/>
                            </a:solidFill>
                            <a:latin typeface="Cambria Math" panose="02040503050406030204" pitchFamily="18" charset="0"/>
                          </a:rPr>
                          <m:t>𝑃𝑚</m:t>
                        </m:r>
                        <m:r>
                          <a:rPr lang="en-US" altLang="ja-JP" i="1" dirty="0">
                            <a:solidFill>
                              <a:schemeClr val="accent6"/>
                            </a:solidFill>
                            <a:latin typeface="Cambria Math" panose="02040503050406030204" pitchFamily="18" charset="0"/>
                          </a:rPr>
                          <m:t>×</m:t>
                        </m:r>
                        <m:r>
                          <a:rPr lang="en-US" altLang="ja-JP" i="1" dirty="0">
                            <a:solidFill>
                              <a:schemeClr val="accent6"/>
                            </a:solidFill>
                            <a:latin typeface="Cambria Math" panose="02040503050406030204" pitchFamily="18" charset="0"/>
                          </a:rPr>
                          <m:t>𝐶𝑝</m:t>
                        </m:r>
                      </m:den>
                    </m:f>
                  </m:oMath>
                </a14:m>
                <a:endParaRPr lang="en-US" altLang="ja-JP" dirty="0"/>
              </a:p>
              <a:p>
                <a:pPr lvl="1"/>
                <a14:m>
                  <m:oMath xmlns:m="http://schemas.openxmlformats.org/officeDocument/2006/math">
                    <m:r>
                      <a:rPr lang="ja-JP" altLang="en-US" i="1" dirty="0">
                        <a:latin typeface="Cambria Math" panose="02040503050406030204" pitchFamily="18" charset="0"/>
                      </a:rPr>
                      <m:t>ここで</m:t>
                    </m:r>
                    <m:r>
                      <a:rPr lang="en-US" altLang="ja-JP" b="0" i="1" dirty="0" smtClean="0">
                        <a:latin typeface="Cambria Math" panose="02040503050406030204" pitchFamily="18" charset="0"/>
                      </a:rPr>
                      <m:t> </m:t>
                    </m:r>
                    <m:r>
                      <a:rPr lang="en-US" altLang="ja-JP" i="1" dirty="0" smtClean="0">
                        <a:latin typeface="Cambria Math" panose="02040503050406030204" pitchFamily="18" charset="0"/>
                      </a:rPr>
                      <m:t>𝐼𝑃𝐶𝑟</m:t>
                    </m:r>
                  </m:oMath>
                </a14:m>
                <a:r>
                  <a:rPr lang="en-US" altLang="ja-JP" dirty="0"/>
                  <a:t> </a:t>
                </a:r>
                <a:r>
                  <a:rPr lang="ja-JP" altLang="en-US" dirty="0"/>
                  <a:t>は実際の </a:t>
                </a:r>
                <a:r>
                  <a:rPr lang="en-US" altLang="ja-JP" dirty="0"/>
                  <a:t>IPC</a:t>
                </a:r>
                <a:r>
                  <a:rPr lang="ja-JP" altLang="en-US" dirty="0"/>
                  <a:t>，</a:t>
                </a:r>
                <a14:m>
                  <m:oMath xmlns:m="http://schemas.openxmlformats.org/officeDocument/2006/math">
                    <m:r>
                      <a:rPr lang="en-US" altLang="ja-JP" i="1" dirty="0" smtClean="0">
                        <a:latin typeface="Cambria Math" panose="02040503050406030204" pitchFamily="18" charset="0"/>
                      </a:rPr>
                      <m:t>𝐼𝑃𝐶𝑡</m:t>
                    </m:r>
                  </m:oMath>
                </a14:m>
                <a:r>
                  <a:rPr lang="en-US" altLang="ja-JP" dirty="0"/>
                  <a:t> </a:t>
                </a:r>
                <a:r>
                  <a:rPr lang="ja-JP" altLang="en-US" dirty="0"/>
                  <a:t>は理想 </a:t>
                </a:r>
                <a:r>
                  <a:rPr lang="en-US" altLang="ja-JP" dirty="0"/>
                  <a:t>IPC</a:t>
                </a:r>
              </a:p>
            </p:txBody>
          </p:sp>
        </mc:Choice>
        <mc:Fallback xmlns="">
          <p:sp>
            <p:nvSpPr>
              <p:cNvPr id="3" name="コンテンツ プレースホルダー 2">
                <a:extLst>
                  <a:ext uri="{FF2B5EF4-FFF2-40B4-BE49-F238E27FC236}">
                    <a16:creationId xmlns:a16="http://schemas.microsoft.com/office/drawing/2014/main" id="{24C80AA3-F81D-AB4A-CDFC-745326F1053F}"/>
                  </a:ext>
                </a:extLst>
              </p:cNvPr>
              <p:cNvSpPr>
                <a:spLocks noGrp="1" noRot="1" noChangeAspect="1" noMove="1" noResize="1" noEditPoints="1" noAdjustHandles="1" noChangeArrowheads="1" noChangeShapeType="1" noTextEdit="1"/>
              </p:cNvSpPr>
              <p:nvPr>
                <p:ph sz="quarter" idx="10"/>
              </p:nvPr>
            </p:nvSpPr>
            <p:spPr>
              <a:blipFill>
                <a:blip r:embed="rId2"/>
                <a:stretch>
                  <a:fillRect l="-692" r="-692"/>
                </a:stretch>
              </a:blipFill>
            </p:spPr>
            <p:txBody>
              <a:bodyPr/>
              <a:lstStyle/>
              <a:p>
                <a:r>
                  <a:rPr lang="en-US">
                    <a:noFill/>
                  </a:rPr>
                  <a:t> </a:t>
                </a:r>
              </a:p>
            </p:txBody>
          </p:sp>
        </mc:Fallback>
      </mc:AlternateContent>
    </p:spTree>
    <p:extLst>
      <p:ext uri="{BB962C8B-B14F-4D97-AF65-F5344CB8AC3E}">
        <p14:creationId xmlns:p14="http://schemas.microsoft.com/office/powerpoint/2010/main" val="36055411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E99578-A595-50A4-CCA4-30AF7D776F7F}"/>
              </a:ext>
            </a:extLst>
          </p:cNvPr>
          <p:cNvSpPr>
            <a:spLocks noGrp="1"/>
          </p:cNvSpPr>
          <p:nvPr>
            <p:ph type="title"/>
          </p:nvPr>
        </p:nvSpPr>
        <p:spPr/>
        <p:txBody>
          <a:bodyPr/>
          <a:lstStyle/>
          <a:p>
            <a:r>
              <a:rPr kumimoji="1" lang="ja-JP" altLang="en-US" dirty="0"/>
              <a:t>一般化できる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536DDF2-031C-97E8-113C-48FFED98AC12}"/>
                  </a:ext>
                </a:extLst>
              </p:cNvPr>
              <p:cNvSpPr>
                <a:spLocks noGrp="1"/>
              </p:cNvSpPr>
              <p:nvPr>
                <p:ph sz="quarter" idx="10"/>
              </p:nvPr>
            </p:nvSpPr>
            <p:spPr/>
            <p:txBody>
              <a:bodyPr/>
              <a:lstStyle/>
              <a:p>
                <a:r>
                  <a:rPr kumimoji="1" lang="ja-JP" altLang="en-US" dirty="0"/>
                  <a:t>以下のようにおいた場合，</a:t>
                </a:r>
                <a:endParaRPr kumimoji="1" lang="en-US" altLang="ja-JP" dirty="0"/>
              </a:p>
              <a:p>
                <a:pPr lvl="1"/>
                <a:r>
                  <a:rPr lang="ja-JP" altLang="en-US" dirty="0"/>
                  <a:t>理想的な実行の際のサイクル数：</a:t>
                </a:r>
                <a:r>
                  <a:rPr lang="en-US" altLang="ja-JP" dirty="0"/>
                  <a:t>	</a:t>
                </a:r>
                <a14:m>
                  <m:oMath xmlns:m="http://schemas.openxmlformats.org/officeDocument/2006/math">
                    <m:r>
                      <a:rPr lang="en-US" altLang="ja-JP" i="1" dirty="0">
                        <a:latin typeface="Cambria Math" panose="02040503050406030204" pitchFamily="18" charset="0"/>
                      </a:rPr>
                      <m:t>𝐶𝑡</m:t>
                    </m:r>
                  </m:oMath>
                </a14:m>
                <a:br>
                  <a:rPr lang="en-US" altLang="ja-JP" dirty="0"/>
                </a:br>
                <a:endParaRPr lang="en-US" altLang="ja-JP" dirty="0"/>
              </a:p>
              <a:p>
                <a:pPr lvl="1"/>
                <a:r>
                  <a:rPr lang="ja-JP" altLang="en-US" dirty="0"/>
                  <a:t>何らかのハザードの発生回数：</a:t>
                </a:r>
                <a:r>
                  <a:rPr lang="en-US" altLang="ja-JP" dirty="0"/>
                  <a:t>	</a:t>
                </a:r>
                <a14:m>
                  <m:oMath xmlns:m="http://schemas.openxmlformats.org/officeDocument/2006/math">
                    <m:r>
                      <a:rPr lang="en-US" altLang="ja-JP" i="1" dirty="0" smtClean="0">
                        <a:latin typeface="Cambria Math" panose="02040503050406030204" pitchFamily="18" charset="0"/>
                      </a:rPr>
                      <m:t>𝑁</m:t>
                    </m:r>
                    <m:r>
                      <a:rPr lang="en-US" altLang="ja-JP" b="0" i="1" dirty="0" smtClean="0">
                        <a:latin typeface="Cambria Math" panose="02040503050406030204" pitchFamily="18" charset="0"/>
                      </a:rPr>
                      <m:t>h</m:t>
                    </m:r>
                    <m:r>
                      <a:rPr lang="en-US" altLang="ja-JP" b="0" i="1" dirty="0" smtClean="0">
                        <a:latin typeface="Cambria Math" panose="02040503050406030204" pitchFamily="18" charset="0"/>
                      </a:rPr>
                      <m:t>=</m:t>
                    </m:r>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𝑃𝑖</m:t>
                    </m:r>
                    <m:r>
                      <a:rPr lang="en-US" altLang="ja-JP" i="1" dirty="0">
                        <a:latin typeface="Cambria Math" panose="02040503050406030204" pitchFamily="18" charset="0"/>
                      </a:rPr>
                      <m:t>×</m:t>
                    </m:r>
                    <m:r>
                      <a:rPr lang="en-US" altLang="ja-JP" i="1" dirty="0">
                        <a:latin typeface="Cambria Math" panose="02040503050406030204" pitchFamily="18" charset="0"/>
                      </a:rPr>
                      <m:t>𝑃h</m:t>
                    </m:r>
                  </m:oMath>
                </a14:m>
                <a:endParaRPr lang="en-US" altLang="ja-JP" dirty="0"/>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oMath>
                </a14:m>
                <a:endParaRPr kumimoji="1" lang="en-US" altLang="ja-JP" dirty="0"/>
              </a:p>
              <a:p>
                <a:pPr lvl="2"/>
                <a:r>
                  <a:rPr lang="ja-JP" altLang="en-US" dirty="0"/>
                  <a:t>ハザードを起こす命令の出現率：</a:t>
                </a:r>
                <a:r>
                  <a:rPr lang="en-US" altLang="ja-JP" dirty="0"/>
                  <a:t>	</a:t>
                </a:r>
                <a14:m>
                  <m:oMath xmlns:m="http://schemas.openxmlformats.org/officeDocument/2006/math">
                    <m:r>
                      <a:rPr lang="en-US" altLang="ja-JP" i="1" dirty="0">
                        <a:latin typeface="Cambria Math" panose="02040503050406030204" pitchFamily="18" charset="0"/>
                      </a:rPr>
                      <m:t>𝑃</m:t>
                    </m:r>
                    <m:r>
                      <a:rPr lang="en-US" altLang="ja-JP" b="0" i="1" dirty="0" smtClean="0">
                        <a:latin typeface="Cambria Math" panose="02040503050406030204" pitchFamily="18" charset="0"/>
                      </a:rPr>
                      <m:t>𝑖</m:t>
                    </m:r>
                  </m:oMath>
                </a14:m>
                <a:endParaRPr kumimoji="1" lang="en-US" altLang="ja-JP" dirty="0"/>
              </a:p>
              <a:p>
                <a:pPr lvl="2"/>
                <a:r>
                  <a:rPr kumimoji="1" lang="ja-JP" altLang="en-US" dirty="0"/>
                  <a:t>その命令毎のハザード発生率：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m:t>
                    </m:r>
                    <m:r>
                      <a:rPr kumimoji="1" lang="en-US" altLang="ja-JP" b="0" i="1" dirty="0" smtClean="0">
                        <a:latin typeface="Cambria Math" panose="02040503050406030204" pitchFamily="18" charset="0"/>
                      </a:rPr>
                      <m:t>h</m:t>
                    </m:r>
                  </m:oMath>
                </a14:m>
                <a:br>
                  <a:rPr kumimoji="1" lang="en-US" altLang="ja-JP" dirty="0"/>
                </a:br>
                <a:endParaRPr kumimoji="1" lang="en-US" altLang="ja-JP" dirty="0"/>
              </a:p>
              <a:p>
                <a:pPr lvl="1"/>
                <a:r>
                  <a:rPr kumimoji="1" lang="ja-JP" altLang="en-US" dirty="0"/>
                  <a:t>ハザード時のサイクル数の増加：</a:t>
                </a:r>
                <a:r>
                  <a:rPr kumimoji="1" lang="en-US" altLang="ja-JP" dirty="0"/>
                  <a:t>	</a:t>
                </a:r>
                <a14:m>
                  <m:oMath xmlns:m="http://schemas.openxmlformats.org/officeDocument/2006/math">
                    <m:r>
                      <a:rPr kumimoji="1" lang="en-US" altLang="ja-JP" i="1" dirty="0" smtClean="0">
                        <a:latin typeface="Cambria Math" panose="02040503050406030204" pitchFamily="18" charset="0"/>
                      </a:rPr>
                      <m:t>𝐶𝑝</m:t>
                    </m:r>
                  </m:oMath>
                </a14:m>
                <a:endParaRPr kumimoji="1" lang="en-US" altLang="ja-JP" dirty="0"/>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altLang="ja-JP" i="1" dirty="0" smtClean="0">
                        <a:latin typeface="Cambria Math" panose="02040503050406030204" pitchFamily="18" charset="0"/>
                      </a:rPr>
                      <m:t>𝐶𝑟</m:t>
                    </m:r>
                    <m:r>
                      <a:rPr lang="en-US" altLang="ja-JP" i="1" dirty="0" smtClean="0">
                        <a:latin typeface="Cambria Math" panose="02040503050406030204" pitchFamily="18" charset="0"/>
                      </a:rPr>
                      <m:t>=</m:t>
                    </m:r>
                    <m:r>
                      <a:rPr lang="en-US" altLang="ja-JP" i="1" dirty="0" smtClean="0">
                        <a:latin typeface="Cambria Math" panose="02040503050406030204" pitchFamily="18" charset="0"/>
                      </a:rPr>
                      <m:t>𝐶𝑡</m:t>
                    </m:r>
                    <m:r>
                      <a:rPr lang="en-US" altLang="ja-JP" i="1" dirty="0" smtClean="0">
                        <a:latin typeface="Cambria Math" panose="02040503050406030204" pitchFamily="18" charset="0"/>
                      </a:rPr>
                      <m:t> + </m:t>
                    </m:r>
                    <m:r>
                      <a:rPr lang="en-US" altLang="ja-JP" i="1" dirty="0" smtClean="0">
                        <a:latin typeface="Cambria Math" panose="02040503050406030204" pitchFamily="18" charset="0"/>
                      </a:rPr>
                      <m:t>𝑁h</m:t>
                    </m:r>
                    <m:r>
                      <a:rPr lang="en-US" altLang="ja-JP" i="1" dirty="0">
                        <a:latin typeface="Cambria Math" panose="02040503050406030204" pitchFamily="18" charset="0"/>
                      </a:rPr>
                      <m:t>×</m:t>
                    </m:r>
                    <m:r>
                      <a:rPr lang="en-US" altLang="ja-JP" b="0" i="1" dirty="0" smtClean="0">
                        <a:latin typeface="Cambria Math" panose="02040503050406030204" pitchFamily="18" charset="0"/>
                      </a:rPr>
                      <m:t>𝐶𝑝</m:t>
                    </m:r>
                  </m:oMath>
                </a14:m>
                <a:endParaRPr kumimoji="1" lang="en-US" dirty="0"/>
              </a:p>
            </p:txBody>
          </p:sp>
        </mc:Choice>
        <mc:Fallback xmlns="">
          <p:sp>
            <p:nvSpPr>
              <p:cNvPr id="3" name="コンテンツ プレースホルダー 2">
                <a:extLst>
                  <a:ext uri="{FF2B5EF4-FFF2-40B4-BE49-F238E27FC236}">
                    <a16:creationId xmlns:a16="http://schemas.microsoft.com/office/drawing/2014/main" id="{F536DDF2-031C-97E8-113C-48FFED98AC12}"/>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25175251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6278D4-CEE1-7814-8C31-ED385C6B5221}"/>
              </a:ext>
            </a:extLst>
          </p:cNvPr>
          <p:cNvSpPr>
            <a:spLocks noGrp="1"/>
          </p:cNvSpPr>
          <p:nvPr>
            <p:ph type="title"/>
          </p:nvPr>
        </p:nvSpPr>
        <p:spPr/>
        <p:txBody>
          <a:bodyPr/>
          <a:lstStyle/>
          <a:p>
            <a:r>
              <a:rPr kumimoji="1" lang="ja-JP" altLang="en-US" dirty="0"/>
              <a:t>一般化できる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99C606-F320-4759-1DA1-881FE7545722}"/>
                  </a:ext>
                </a:extLst>
              </p:cNvPr>
              <p:cNvSpPr>
                <a:spLocks noGrp="1"/>
              </p:cNvSpPr>
              <p:nvPr>
                <p:ph sz="quarter" idx="10"/>
              </p:nvPr>
            </p:nvSpPr>
            <p:spPr/>
            <p:txBody>
              <a:bodyPr/>
              <a:lstStyle/>
              <a:p>
                <a:r>
                  <a:rPr kumimoji="1" lang="ja-JP" altLang="en-US" dirty="0"/>
                  <a:t>ハザード </a:t>
                </a:r>
                <a:r>
                  <a:rPr kumimoji="1" lang="en-US" altLang="ja-JP" dirty="0"/>
                  <a:t>a</a:t>
                </a:r>
                <a:r>
                  <a:rPr kumimoji="1" lang="ja-JP" altLang="en-US" dirty="0"/>
                  <a:t>，ハザード </a:t>
                </a:r>
                <a:r>
                  <a:rPr kumimoji="1" lang="en-US" altLang="ja-JP" dirty="0"/>
                  <a:t>b</a:t>
                </a:r>
                <a:r>
                  <a:rPr kumimoji="1" lang="ja-JP" altLang="en-US" dirty="0"/>
                  <a:t>，ハザード </a:t>
                </a:r>
                <a:r>
                  <a:rPr kumimoji="1" lang="en-US" altLang="ja-JP" dirty="0"/>
                  <a:t>c </a:t>
                </a:r>
                <a:r>
                  <a:rPr kumimoji="1" lang="ja-JP" altLang="en-US" dirty="0"/>
                  <a:t>･･･ とあった時</a:t>
                </a:r>
                <a:endParaRPr kumimoji="1" lang="en-US" altLang="ja-JP" dirty="0"/>
              </a:p>
              <a:p>
                <a:pPr lvl="1"/>
                <a:r>
                  <a:rPr kumimoji="1" lang="ja-JP" altLang="en-US" dirty="0"/>
                  <a:t>それぞれおきた回数が </a:t>
                </a:r>
                <a14:m>
                  <m:oMath xmlns:m="http://schemas.openxmlformats.org/officeDocument/2006/math">
                    <m:r>
                      <a:rPr kumimoji="1" lang="en-US" altLang="ja-JP" i="1" dirty="0" smtClean="0">
                        <a:latin typeface="Cambria Math" panose="02040503050406030204" pitchFamily="18" charset="0"/>
                      </a:rPr>
                      <m:t>𝑁</m:t>
                    </m:r>
                    <m:r>
                      <a:rPr kumimoji="1" lang="en-US" altLang="ja-JP" i="1" dirty="0" smtClean="0">
                        <a:latin typeface="Cambria Math" panose="02040503050406030204" pitchFamily="18" charset="0"/>
                      </a:rPr>
                      <m:t>h</m:t>
                    </m:r>
                    <m:r>
                      <a:rPr kumimoji="1" lang="en-US" altLang="ja-JP" b="0" i="1" dirty="0" smtClean="0">
                        <a:latin typeface="Cambria Math" panose="02040503050406030204" pitchFamily="18" charset="0"/>
                      </a:rPr>
                      <m:t>..</m:t>
                    </m:r>
                  </m:oMath>
                </a14:m>
                <a:r>
                  <a:rPr kumimoji="1" lang="ja-JP" altLang="en-US" dirty="0"/>
                  <a:t>，ペナルティが </a:t>
                </a:r>
                <a14:m>
                  <m:oMath xmlns:m="http://schemas.openxmlformats.org/officeDocument/2006/math">
                    <m:r>
                      <a:rPr kumimoji="1" lang="en-US" altLang="ja-JP" i="1" dirty="0" smtClean="0">
                        <a:latin typeface="Cambria Math" panose="02040503050406030204" pitchFamily="18" charset="0"/>
                      </a:rPr>
                      <m:t>𝐶𝑝</m:t>
                    </m:r>
                    <m:r>
                      <a:rPr kumimoji="1" lang="en-US" altLang="ja-JP" i="1" dirty="0" smtClean="0">
                        <a:latin typeface="Cambria Math" panose="02040503050406030204" pitchFamily="18" charset="0"/>
                      </a:rPr>
                      <m:t>…</m:t>
                    </m:r>
                  </m:oMath>
                </a14:m>
                <a:r>
                  <a:rPr kumimoji="1" lang="en-US" altLang="ja-JP" dirty="0"/>
                  <a:t> </a:t>
                </a:r>
                <a:r>
                  <a:rPr kumimoji="1" lang="ja-JP" altLang="en-US" dirty="0"/>
                  <a:t>とする</a:t>
                </a:r>
                <a:endParaRPr kumimoji="1" lang="en-US" altLang="ja-JP" dirty="0"/>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altLang="ja-JP" i="1" dirty="0" smtClean="0">
                        <a:latin typeface="Cambria Math" panose="02040503050406030204" pitchFamily="18" charset="0"/>
                      </a:rPr>
                      <m:t>𝐶𝑟</m:t>
                    </m:r>
                    <m:r>
                      <a:rPr lang="en-US" altLang="ja-JP" i="1" dirty="0" smtClean="0">
                        <a:latin typeface="Cambria Math" panose="02040503050406030204" pitchFamily="18" charset="0"/>
                      </a:rPr>
                      <m:t>=</m:t>
                    </m:r>
                    <m:r>
                      <a:rPr lang="en-US" altLang="ja-JP" i="1" dirty="0" smtClean="0">
                        <a:latin typeface="Cambria Math" panose="02040503050406030204" pitchFamily="18" charset="0"/>
                      </a:rPr>
                      <m:t>𝐶𝑡</m:t>
                    </m:r>
                    <m:r>
                      <a:rPr lang="en-US" altLang="ja-JP" i="1" dirty="0" smtClean="0">
                        <a:latin typeface="Cambria Math" panose="02040503050406030204" pitchFamily="18" charset="0"/>
                      </a:rPr>
                      <m:t> + </m:t>
                    </m:r>
                    <m:r>
                      <a:rPr lang="en-US" altLang="ja-JP" i="1" dirty="0" smtClean="0">
                        <a:solidFill>
                          <a:schemeClr val="accent5"/>
                        </a:solidFill>
                        <a:latin typeface="Cambria Math" panose="02040503050406030204" pitchFamily="18" charset="0"/>
                      </a:rPr>
                      <m:t>𝑁</m:t>
                    </m:r>
                    <m:r>
                      <a:rPr lang="en-US" altLang="ja-JP" b="0" i="1" dirty="0" smtClean="0">
                        <a:solidFill>
                          <a:schemeClr val="accent5"/>
                        </a:solidFill>
                        <a:latin typeface="Cambria Math" panose="02040503050406030204" pitchFamily="18" charset="0"/>
                      </a:rPr>
                      <m:t>h</m:t>
                    </m:r>
                    <m:r>
                      <a:rPr lang="en-US" altLang="ja-JP" i="1" dirty="0" smtClean="0">
                        <a:solidFill>
                          <a:schemeClr val="accent5"/>
                        </a:solidFill>
                        <a:latin typeface="Cambria Math" panose="02040503050406030204" pitchFamily="18" charset="0"/>
                      </a:rPr>
                      <m:t>𝑎</m:t>
                    </m:r>
                    <m:r>
                      <a:rPr lang="en-US" altLang="ja-JP" i="1" dirty="0">
                        <a:solidFill>
                          <a:schemeClr val="accent5"/>
                        </a:solidFill>
                        <a:latin typeface="Cambria Math" panose="02040503050406030204" pitchFamily="18" charset="0"/>
                      </a:rPr>
                      <m:t>×</m:t>
                    </m:r>
                    <m:r>
                      <a:rPr lang="en-US" altLang="ja-JP" b="0" i="1" dirty="0" smtClean="0">
                        <a:solidFill>
                          <a:schemeClr val="accent5"/>
                        </a:solidFill>
                        <a:latin typeface="Cambria Math" panose="02040503050406030204" pitchFamily="18" charset="0"/>
                      </a:rPr>
                      <m:t>𝐶𝑝𝑎</m:t>
                    </m:r>
                    <m:r>
                      <a:rPr lang="en-US" altLang="ja-JP" b="0" i="1" dirty="0" smtClean="0">
                        <a:latin typeface="Cambria Math" panose="02040503050406030204" pitchFamily="18" charset="0"/>
                      </a:rPr>
                      <m:t>+ </m:t>
                    </m:r>
                    <m:r>
                      <a:rPr lang="en-US" altLang="ja-JP" i="1" dirty="0" smtClean="0">
                        <a:solidFill>
                          <a:schemeClr val="accent6"/>
                        </a:solidFill>
                        <a:latin typeface="Cambria Math" panose="02040503050406030204" pitchFamily="18" charset="0"/>
                      </a:rPr>
                      <m:t>𝑁</m:t>
                    </m:r>
                    <m:r>
                      <a:rPr lang="en-US" altLang="ja-JP" b="0" i="1" dirty="0" smtClean="0">
                        <a:solidFill>
                          <a:schemeClr val="accent6"/>
                        </a:solidFill>
                        <a:latin typeface="Cambria Math" panose="02040503050406030204" pitchFamily="18" charset="0"/>
                      </a:rPr>
                      <m:t>h</m:t>
                    </m:r>
                    <m:r>
                      <a:rPr lang="en-US" altLang="ja-JP" i="1" dirty="0" smtClean="0">
                        <a:solidFill>
                          <a:schemeClr val="accent6"/>
                        </a:solidFill>
                        <a:latin typeface="Cambria Math" panose="02040503050406030204" pitchFamily="18" charset="0"/>
                      </a:rPr>
                      <m:t>𝑏</m:t>
                    </m:r>
                    <m:r>
                      <a:rPr lang="en-US" altLang="ja-JP" i="1" dirty="0" smtClean="0">
                        <a:solidFill>
                          <a:schemeClr val="accent6"/>
                        </a:solidFill>
                        <a:latin typeface="Cambria Math" panose="02040503050406030204" pitchFamily="18" charset="0"/>
                      </a:rPr>
                      <m:t>×</m:t>
                    </m:r>
                    <m:r>
                      <a:rPr lang="en-US" altLang="ja-JP" i="1" dirty="0" smtClean="0">
                        <a:solidFill>
                          <a:schemeClr val="accent6"/>
                        </a:solidFill>
                        <a:latin typeface="Cambria Math" panose="02040503050406030204" pitchFamily="18" charset="0"/>
                      </a:rPr>
                      <m:t>𝐶𝑝𝑏</m:t>
                    </m:r>
                    <m:r>
                      <a:rPr lang="en-US" altLang="ja-JP" i="1" dirty="0">
                        <a:latin typeface="Cambria Math" panose="02040503050406030204" pitchFamily="18" charset="0"/>
                      </a:rPr>
                      <m:t>+</m:t>
                    </m:r>
                    <m:r>
                      <a:rPr lang="en-US" altLang="ja-JP" i="1" dirty="0" smtClean="0">
                        <a:solidFill>
                          <a:schemeClr val="accent3">
                            <a:lumMod val="75000"/>
                          </a:schemeClr>
                        </a:solidFill>
                        <a:latin typeface="Cambria Math" panose="02040503050406030204" pitchFamily="18" charset="0"/>
                      </a:rPr>
                      <m:t>𝑁</m:t>
                    </m:r>
                    <m:r>
                      <a:rPr lang="en-US" altLang="ja-JP" b="0" i="1" dirty="0" smtClean="0">
                        <a:solidFill>
                          <a:schemeClr val="accent3">
                            <a:lumMod val="75000"/>
                          </a:schemeClr>
                        </a:solidFill>
                        <a:latin typeface="Cambria Math" panose="02040503050406030204" pitchFamily="18" charset="0"/>
                      </a:rPr>
                      <m:t>h</m:t>
                    </m:r>
                    <m:r>
                      <a:rPr lang="en-US" altLang="ja-JP" b="0" i="1" dirty="0" smtClean="0">
                        <a:solidFill>
                          <a:schemeClr val="accent3">
                            <a:lumMod val="75000"/>
                          </a:schemeClr>
                        </a:solidFill>
                        <a:latin typeface="Cambria Math" panose="02040503050406030204" pitchFamily="18" charset="0"/>
                      </a:rPr>
                      <m:t>𝑐</m:t>
                    </m:r>
                    <m:r>
                      <a:rPr lang="en-US" altLang="ja-JP" i="1" dirty="0">
                        <a:solidFill>
                          <a:schemeClr val="accent3">
                            <a:lumMod val="75000"/>
                          </a:schemeClr>
                        </a:solidFill>
                        <a:latin typeface="Cambria Math" panose="02040503050406030204" pitchFamily="18" charset="0"/>
                      </a:rPr>
                      <m:t>×</m:t>
                    </m:r>
                    <m:r>
                      <a:rPr lang="en-US" altLang="ja-JP" i="1" dirty="0">
                        <a:solidFill>
                          <a:schemeClr val="accent3">
                            <a:lumMod val="75000"/>
                          </a:schemeClr>
                        </a:solidFill>
                        <a:latin typeface="Cambria Math" panose="02040503050406030204" pitchFamily="18" charset="0"/>
                      </a:rPr>
                      <m:t>𝐶𝑝𝑐</m:t>
                    </m:r>
                    <m:r>
                      <a:rPr lang="en-US" altLang="ja-JP" b="0" i="1" dirty="0" smtClean="0">
                        <a:latin typeface="Cambria Math" panose="02040503050406030204" pitchFamily="18" charset="0"/>
                      </a:rPr>
                      <m:t>+…</m:t>
                    </m:r>
                  </m:oMath>
                </a14:m>
                <a:endParaRPr lang="en-US" altLang="ja-JP" b="0" dirty="0"/>
              </a:p>
              <a:p>
                <a:r>
                  <a:rPr lang="ja-JP" altLang="en-US" b="0" dirty="0"/>
                  <a:t>実行命令数を </a:t>
                </a:r>
                <a14:m>
                  <m:oMath xmlns:m="http://schemas.openxmlformats.org/officeDocument/2006/math">
                    <m:r>
                      <a:rPr lang="en-US" altLang="ja-JP" b="0" i="1" dirty="0" smtClean="0">
                        <a:latin typeface="Cambria Math" panose="02040503050406030204" pitchFamily="18" charset="0"/>
                      </a:rPr>
                      <m:t>𝑁𝑖</m:t>
                    </m:r>
                  </m:oMath>
                </a14:m>
                <a:r>
                  <a:rPr lang="ja-JP" altLang="en-US" dirty="0"/>
                  <a:t> とすると，</a:t>
                </a:r>
                <a14:m>
                  <m:oMath xmlns:m="http://schemas.openxmlformats.org/officeDocument/2006/math">
                    <m:r>
                      <a:rPr lang="en-US" altLang="ja-JP" i="1" dirty="0" smtClean="0">
                        <a:latin typeface="Cambria Math" panose="02040503050406030204" pitchFamily="18" charset="0"/>
                      </a:rPr>
                      <m:t>𝐼𝑃𝐶𝑟</m:t>
                    </m:r>
                    <m:r>
                      <a:rPr lang="en-US" altLang="ja-JP" i="1" dirty="0" smtClean="0">
                        <a:latin typeface="Cambria Math" panose="02040503050406030204" pitchFamily="18" charset="0"/>
                      </a:rPr>
                      <m:t> = </m:t>
                    </m:r>
                    <m:r>
                      <a:rPr lang="en-US" altLang="ja-JP" i="1" dirty="0" smtClean="0">
                        <a:latin typeface="Cambria Math" panose="02040503050406030204" pitchFamily="18" charset="0"/>
                      </a:rPr>
                      <m:t>𝑁𝑖</m:t>
                    </m:r>
                    <m:r>
                      <a:rPr lang="en-US" altLang="ja-JP" i="1" dirty="0" smtClean="0">
                        <a:latin typeface="Cambria Math" panose="02040503050406030204" pitchFamily="18" charset="0"/>
                      </a:rPr>
                      <m:t>/</m:t>
                    </m:r>
                    <m:r>
                      <a:rPr lang="en-US" altLang="ja-JP" i="1" dirty="0" smtClean="0">
                        <a:latin typeface="Cambria Math" panose="02040503050406030204" pitchFamily="18" charset="0"/>
                      </a:rPr>
                      <m:t>𝐶𝑟</m:t>
                    </m:r>
                  </m:oMath>
                </a14:m>
                <a:endParaRPr lang="en-US" altLang="ja-JP" b="0" dirty="0"/>
              </a:p>
            </p:txBody>
          </p:sp>
        </mc:Choice>
        <mc:Fallback xmlns="">
          <p:sp>
            <p:nvSpPr>
              <p:cNvPr id="3" name="コンテンツ プレースホルダー 2">
                <a:extLst>
                  <a:ext uri="{FF2B5EF4-FFF2-40B4-BE49-F238E27FC236}">
                    <a16:creationId xmlns:a16="http://schemas.microsoft.com/office/drawing/2014/main" id="{2F99C606-F320-4759-1DA1-881FE7545722}"/>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36326807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a:t>課題 ８</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ja-JP" altLang="en-US" sz="1600" dirty="0"/>
              <a:t>以下のような条件を考える</a:t>
            </a:r>
            <a:endParaRPr lang="en-US" altLang="ja-JP" sz="1600" dirty="0"/>
          </a:p>
          <a:p>
            <a:pPr lvl="1"/>
            <a:r>
              <a:rPr lang="en-US" altLang="ja-JP" sz="1600" dirty="0"/>
              <a:t>10</a:t>
            </a:r>
            <a:r>
              <a:rPr lang="ja-JP" altLang="en-US" sz="1600" dirty="0"/>
              <a:t>段のパイプラインを持つ </a:t>
            </a:r>
            <a:r>
              <a:rPr lang="en-US" altLang="ja-JP" sz="1600" dirty="0"/>
              <a:t>2-way </a:t>
            </a:r>
            <a:r>
              <a:rPr lang="ja-JP" altLang="en-US" sz="1600" dirty="0"/>
              <a:t>スーパスカラプロセッサであり，理想的には </a:t>
            </a:r>
            <a:r>
              <a:rPr lang="en-US" altLang="ja-JP" sz="1600" dirty="0"/>
              <a:t>IPC=2 </a:t>
            </a:r>
            <a:r>
              <a:rPr lang="ja-JP" altLang="en-US" sz="1600" dirty="0"/>
              <a:t>で実行できる</a:t>
            </a:r>
            <a:endParaRPr lang="en-US" altLang="ja-JP" sz="1600" dirty="0"/>
          </a:p>
          <a:p>
            <a:pPr lvl="1"/>
            <a:r>
              <a:rPr lang="ja-JP" altLang="en-US" sz="1600" dirty="0"/>
              <a:t>全実行命令におけるなんらかのデータハザードの発生率は </a:t>
            </a:r>
            <a:r>
              <a:rPr lang="en-US" altLang="ja-JP" sz="1600" dirty="0"/>
              <a:t>0.2 </a:t>
            </a:r>
          </a:p>
          <a:p>
            <a:pPr lvl="1"/>
            <a:r>
              <a:rPr lang="ja-JP" altLang="en-US" sz="1600" dirty="0"/>
              <a:t>このデータハザード発生時は </a:t>
            </a:r>
            <a:r>
              <a:rPr lang="en-US" altLang="ja-JP" sz="1600" dirty="0"/>
              <a:t>1 </a:t>
            </a:r>
            <a:r>
              <a:rPr lang="ja-JP" altLang="en-US" sz="1600" dirty="0"/>
              <a:t>サイクル実行時間が伸びるものとする</a:t>
            </a:r>
            <a:endParaRPr lang="en-US" altLang="ja-JP" sz="1600" dirty="0"/>
          </a:p>
          <a:p>
            <a:pPr lvl="1"/>
            <a:r>
              <a:rPr lang="ja-JP" altLang="en-US" sz="1600" dirty="0"/>
              <a:t>全実行命令における分岐命令の出現率は </a:t>
            </a:r>
            <a:r>
              <a:rPr lang="en-US" altLang="ja-JP" sz="1600" dirty="0"/>
              <a:t>0.2</a:t>
            </a:r>
          </a:p>
          <a:p>
            <a:pPr lvl="1"/>
            <a:r>
              <a:rPr lang="ja-JP" altLang="en-US" sz="1600" dirty="0"/>
              <a:t>分岐予測ミス率は </a:t>
            </a:r>
            <a:r>
              <a:rPr lang="en-US" altLang="ja-JP" sz="1600" dirty="0"/>
              <a:t>0.3</a:t>
            </a:r>
          </a:p>
          <a:p>
            <a:r>
              <a:rPr lang="en-US" altLang="ja-JP" sz="1600" dirty="0"/>
              <a:t>(1) </a:t>
            </a:r>
            <a:r>
              <a:rPr lang="ja-JP" altLang="en-US" sz="1600" dirty="0"/>
              <a:t>この </a:t>
            </a:r>
            <a:r>
              <a:rPr lang="en-US" altLang="ja-JP" sz="1600" dirty="0"/>
              <a:t>CPU </a:t>
            </a:r>
            <a:r>
              <a:rPr lang="ja-JP" altLang="en-US" sz="1600" dirty="0"/>
              <a:t>を改良する際，</a:t>
            </a:r>
            <a:br>
              <a:rPr lang="en-US" altLang="ja-JP" sz="1600" dirty="0"/>
            </a:br>
            <a:r>
              <a:rPr lang="ja-JP" altLang="en-US" sz="1600" dirty="0"/>
              <a:t>「</a:t>
            </a:r>
            <a:r>
              <a:rPr lang="en-US" altLang="ja-JP" sz="1600" dirty="0"/>
              <a:t>3-way </a:t>
            </a:r>
            <a:r>
              <a:rPr lang="ja-JP" altLang="en-US" sz="1600" dirty="0"/>
              <a:t>スーパスカラにする」</a:t>
            </a:r>
            <a:br>
              <a:rPr lang="en-US" altLang="ja-JP" sz="1600" dirty="0"/>
            </a:br>
            <a:r>
              <a:rPr lang="ja-JP" altLang="en-US" sz="1600" dirty="0"/>
              <a:t>「</a:t>
            </a:r>
            <a:r>
              <a:rPr lang="en-US" altLang="ja-JP" sz="1600" dirty="0"/>
              <a:t>2-way </a:t>
            </a:r>
            <a:r>
              <a:rPr lang="ja-JP" altLang="en-US" sz="1600" dirty="0"/>
              <a:t>のまま</a:t>
            </a:r>
            <a:r>
              <a:rPr lang="en-US" altLang="ja-JP" sz="1600" dirty="0"/>
              <a:t>15</a:t>
            </a:r>
            <a:r>
              <a:rPr lang="ja-JP" altLang="en-US" sz="1600" dirty="0"/>
              <a:t>段パイプラインにする」</a:t>
            </a:r>
            <a:br>
              <a:rPr lang="en-US" altLang="ja-JP" sz="1600" dirty="0"/>
            </a:br>
            <a:r>
              <a:rPr lang="ja-JP" altLang="en-US" sz="1600" dirty="0"/>
              <a:t>「</a:t>
            </a:r>
            <a:r>
              <a:rPr lang="en-US" altLang="ja-JP" sz="1600" dirty="0"/>
              <a:t>2-way </a:t>
            </a:r>
            <a:r>
              <a:rPr lang="ja-JP" altLang="en-US" sz="1600" dirty="0"/>
              <a:t>のまま分岐予測器を改良する」</a:t>
            </a:r>
            <a:br>
              <a:rPr lang="en-US" altLang="ja-JP" sz="1600" dirty="0"/>
            </a:br>
            <a:r>
              <a:rPr lang="ja-JP" altLang="en-US" sz="1600" dirty="0"/>
              <a:t>のどれが最も性能が上がるかを性能を計算して検討せよ</a:t>
            </a:r>
            <a:endParaRPr lang="en-US" altLang="ja-JP" sz="1600" dirty="0"/>
          </a:p>
          <a:p>
            <a:pPr lvl="1"/>
            <a:r>
              <a:rPr lang="ja-JP" altLang="en-US" sz="1600" dirty="0"/>
              <a:t>この </a:t>
            </a:r>
            <a:r>
              <a:rPr lang="en-US" altLang="ja-JP" sz="1600" dirty="0"/>
              <a:t>CPU </a:t>
            </a:r>
            <a:r>
              <a:rPr lang="ja-JP" altLang="en-US" sz="1600" dirty="0"/>
              <a:t>を </a:t>
            </a:r>
            <a:r>
              <a:rPr lang="en-US" altLang="ja-JP" sz="1600" dirty="0"/>
              <a:t>3-way </a:t>
            </a:r>
            <a:r>
              <a:rPr lang="ja-JP" altLang="en-US" sz="1600" dirty="0"/>
              <a:t>スーパスカラにすると理想的には </a:t>
            </a:r>
            <a:r>
              <a:rPr lang="en-US" altLang="ja-JP" sz="1600" dirty="0"/>
              <a:t>IPC=3 </a:t>
            </a:r>
            <a:r>
              <a:rPr lang="ja-JP" altLang="en-US" sz="1600" dirty="0"/>
              <a:t>で実行できるがデータハザードの発生率は </a:t>
            </a:r>
            <a:r>
              <a:rPr lang="en-US" altLang="ja-JP" sz="1600" dirty="0"/>
              <a:t>0.3 </a:t>
            </a:r>
            <a:r>
              <a:rPr lang="ja-JP" altLang="en-US" sz="1600" dirty="0"/>
              <a:t>に上昇するとする</a:t>
            </a:r>
            <a:endParaRPr lang="en-US" altLang="ja-JP" sz="1600" dirty="0"/>
          </a:p>
          <a:p>
            <a:pPr lvl="1"/>
            <a:r>
              <a:rPr lang="ja-JP" altLang="en-US" sz="1600" dirty="0"/>
              <a:t>また，分岐予測器を改良すると分岐予測ミス率が </a:t>
            </a:r>
            <a:r>
              <a:rPr lang="en-US" altLang="ja-JP" sz="1600" dirty="0"/>
              <a:t>0.2 </a:t>
            </a:r>
            <a:r>
              <a:rPr lang="ja-JP" altLang="en-US" sz="1600" dirty="0"/>
              <a:t>にまで削減されるとする</a:t>
            </a:r>
            <a:endParaRPr lang="en-US" altLang="ja-JP" sz="16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9</a:t>
            </a:fld>
            <a:endParaRPr kumimoji="1" lang="ja-JP" altLang="en-US" dirty="0"/>
          </a:p>
        </p:txBody>
      </p:sp>
    </p:spTree>
    <p:extLst>
      <p:ext uri="{BB962C8B-B14F-4D97-AF65-F5344CB8AC3E}">
        <p14:creationId xmlns:p14="http://schemas.microsoft.com/office/powerpoint/2010/main" val="15437760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ADF894-1ABC-DCEB-605B-347568341D78}"/>
              </a:ext>
            </a:extLst>
          </p:cNvPr>
          <p:cNvSpPr>
            <a:spLocks noGrp="1"/>
          </p:cNvSpPr>
          <p:nvPr>
            <p:ph type="title"/>
          </p:nvPr>
        </p:nvSpPr>
        <p:spPr/>
        <p:txBody>
          <a:bodyPr/>
          <a:lstStyle/>
          <a:p>
            <a:r>
              <a:rPr kumimoji="1" lang="ja-JP" altLang="en-US" dirty="0"/>
              <a:t>課題８（１）</a:t>
            </a:r>
            <a:br>
              <a:rPr kumimoji="1" lang="en-US" altLang="ja-JP" dirty="0"/>
            </a:br>
            <a:r>
              <a:rPr kumimoji="1" lang="ja-JP" altLang="en-US" dirty="0"/>
              <a:t>まず実行サイクル数を求めてから，正規化する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99FF6DC-7DB5-2610-B5A6-DCA71AC44616}"/>
                  </a:ext>
                </a:extLst>
              </p:cNvPr>
              <p:cNvSpPr>
                <a:spLocks noGrp="1"/>
              </p:cNvSpPr>
              <p:nvPr>
                <p:ph sz="quarter" idx="10"/>
              </p:nvPr>
            </p:nvSpPr>
            <p:spPr>
              <a:xfrm>
                <a:off x="611956" y="1088974"/>
                <a:ext cx="7740086" cy="5220058"/>
              </a:xfrm>
            </p:spPr>
            <p:txBody>
              <a:bodyPr/>
              <a:lstStyle/>
              <a:p>
                <a:r>
                  <a:rPr lang="ja-JP" altLang="en-US" sz="1200" dirty="0"/>
                  <a:t>以下のような条件を考える</a:t>
                </a:r>
                <a:endParaRPr lang="en-US" altLang="ja-JP" sz="1200" dirty="0"/>
              </a:p>
              <a:p>
                <a:pPr lvl="1"/>
                <a:r>
                  <a:rPr lang="en-US" altLang="ja-JP" sz="1200" dirty="0"/>
                  <a:t>10</a:t>
                </a:r>
                <a:r>
                  <a:rPr lang="ja-JP" altLang="en-US" sz="1200" dirty="0"/>
                  <a:t>段のパイプラインを持つ </a:t>
                </a:r>
                <a:r>
                  <a:rPr lang="en-US" altLang="ja-JP" sz="1200" dirty="0"/>
                  <a:t>2-way </a:t>
                </a:r>
                <a:r>
                  <a:rPr lang="ja-JP" altLang="en-US" sz="1200" dirty="0"/>
                  <a:t>スーパスカラプロセッサであり，理想的には </a:t>
                </a:r>
                <a:r>
                  <a:rPr lang="en-US" altLang="ja-JP" sz="1200" dirty="0"/>
                  <a:t>IPC=2 </a:t>
                </a:r>
                <a:r>
                  <a:rPr lang="ja-JP" altLang="en-US" sz="1200" dirty="0"/>
                  <a:t>で実行できる</a:t>
                </a:r>
                <a:endParaRPr lang="en-US" altLang="ja-JP" sz="1200" dirty="0"/>
              </a:p>
              <a:p>
                <a:pPr lvl="1"/>
                <a:r>
                  <a:rPr lang="ja-JP" altLang="en-US" sz="1200" dirty="0"/>
                  <a:t>全実行命令におけるなんらかのデータハザードの発生率は </a:t>
                </a:r>
                <a:r>
                  <a:rPr lang="en-US" altLang="ja-JP" sz="1200" dirty="0"/>
                  <a:t>0.2 </a:t>
                </a:r>
              </a:p>
              <a:p>
                <a:pPr lvl="1"/>
                <a:r>
                  <a:rPr lang="ja-JP" altLang="en-US" sz="1200" dirty="0"/>
                  <a:t>このデータハザード発生時は </a:t>
                </a:r>
                <a:r>
                  <a:rPr lang="en-US" altLang="ja-JP" sz="1200" dirty="0"/>
                  <a:t>1 </a:t>
                </a:r>
                <a:r>
                  <a:rPr lang="ja-JP" altLang="en-US" sz="1200" dirty="0"/>
                  <a:t>サイクル実行時間が伸びるものとする</a:t>
                </a:r>
                <a:endParaRPr lang="en-US" altLang="ja-JP" sz="1200" dirty="0"/>
              </a:p>
              <a:p>
                <a:pPr lvl="1"/>
                <a:r>
                  <a:rPr lang="ja-JP" altLang="en-US" sz="1200" dirty="0"/>
                  <a:t>全実行命令における分岐命令の出現率は </a:t>
                </a:r>
                <a:r>
                  <a:rPr lang="en-US" altLang="ja-JP" sz="1200" dirty="0"/>
                  <a:t>0.2</a:t>
                </a:r>
              </a:p>
              <a:p>
                <a:pPr lvl="1"/>
                <a:r>
                  <a:rPr lang="ja-JP" altLang="en-US" sz="1200" dirty="0"/>
                  <a:t>分岐予測ミス率は </a:t>
                </a:r>
                <a:r>
                  <a:rPr lang="en-US" altLang="ja-JP" sz="1200" dirty="0"/>
                  <a:t>0.3</a:t>
                </a:r>
              </a:p>
              <a:p>
                <a:r>
                  <a:rPr kumimoji="1" lang="ja-JP" altLang="en-US" dirty="0"/>
                  <a:t>上記のベースライン </a:t>
                </a:r>
                <a:r>
                  <a:rPr kumimoji="1" lang="en-US" altLang="ja-JP" dirty="0"/>
                  <a:t>CPU </a:t>
                </a:r>
                <a:r>
                  <a:rPr kumimoji="1" lang="ja-JP" altLang="en-US" dirty="0"/>
                  <a:t>の 実行サイクル数 </a:t>
                </a:r>
                <a14:m>
                  <m:oMath xmlns:m="http://schemas.openxmlformats.org/officeDocument/2006/math">
                    <m:r>
                      <a:rPr lang="en-US" altLang="ja-JP" i="1" dirty="0">
                        <a:latin typeface="Cambria Math" panose="02040503050406030204" pitchFamily="18" charset="0"/>
                      </a:rPr>
                      <m:t>𝐶𝑟</m:t>
                    </m:r>
                  </m:oMath>
                </a14:m>
                <a:r>
                  <a:rPr kumimoji="1" lang="ja-JP" altLang="en-US" dirty="0"/>
                  <a:t> は，実行命令数を </a:t>
                </a:r>
                <a14:m>
                  <m:oMath xmlns:m="http://schemas.openxmlformats.org/officeDocument/2006/math">
                    <m:r>
                      <a:rPr kumimoji="1" lang="en-US" altLang="ja-JP" i="1" dirty="0" smtClean="0">
                        <a:latin typeface="Cambria Math" panose="02040503050406030204" pitchFamily="18" charset="0"/>
                      </a:rPr>
                      <m:t>𝑁𝑖</m:t>
                    </m:r>
                  </m:oMath>
                </a14:m>
                <a:r>
                  <a:rPr kumimoji="1" lang="en-US" altLang="ja-JP" dirty="0"/>
                  <a:t> </a:t>
                </a:r>
                <a:r>
                  <a:rPr kumimoji="1" lang="ja-JP" altLang="en-US" dirty="0"/>
                  <a:t>とすると</a:t>
                </a:r>
                <a:endParaRPr kumimoji="1" lang="en-US" altLang="ja-JP" dirty="0"/>
              </a:p>
              <a:p>
                <a:pPr lvl="1"/>
                <a14:m>
                  <m:oMath xmlns:m="http://schemas.openxmlformats.org/officeDocument/2006/math">
                    <m:r>
                      <a:rPr lang="en-US" altLang="ja-JP" i="1" dirty="0" smtClean="0">
                        <a:latin typeface="Cambria Math" panose="02040503050406030204" pitchFamily="18" charset="0"/>
                      </a:rPr>
                      <m:t>𝐶𝑟</m:t>
                    </m:r>
                    <m:r>
                      <a:rPr lang="en-US" altLang="ja-JP" i="1" dirty="0" smtClean="0">
                        <a:latin typeface="Cambria Math" panose="02040503050406030204" pitchFamily="18" charset="0"/>
                      </a:rPr>
                      <m:t>=</m:t>
                    </m:r>
                    <m:r>
                      <a:rPr lang="en-US" altLang="ja-JP" i="1" dirty="0" smtClean="0">
                        <a:latin typeface="Cambria Math" panose="02040503050406030204" pitchFamily="18" charset="0"/>
                      </a:rPr>
                      <m:t>𝐶𝑡</m:t>
                    </m:r>
                    <m:r>
                      <a:rPr lang="en-US" altLang="ja-JP" i="1" dirty="0" smtClean="0">
                        <a:latin typeface="Cambria Math" panose="02040503050406030204" pitchFamily="18" charset="0"/>
                      </a:rPr>
                      <m:t> + </m:t>
                    </m:r>
                    <m:r>
                      <a:rPr lang="en-US" altLang="ja-JP" i="1" dirty="0" smtClean="0">
                        <a:solidFill>
                          <a:schemeClr val="accent5"/>
                        </a:solidFill>
                        <a:latin typeface="Cambria Math" panose="02040503050406030204" pitchFamily="18" charset="0"/>
                      </a:rPr>
                      <m:t>𝑁𝑚𝑎</m:t>
                    </m:r>
                    <m:r>
                      <a:rPr lang="en-US" altLang="ja-JP" i="1" dirty="0">
                        <a:solidFill>
                          <a:schemeClr val="accent5"/>
                        </a:solidFill>
                        <a:latin typeface="Cambria Math" panose="02040503050406030204" pitchFamily="18" charset="0"/>
                      </a:rPr>
                      <m:t>×</m:t>
                    </m:r>
                    <m:r>
                      <a:rPr lang="en-US" altLang="ja-JP" b="0" i="1" dirty="0" smtClean="0">
                        <a:solidFill>
                          <a:schemeClr val="accent5"/>
                        </a:solidFill>
                        <a:latin typeface="Cambria Math" panose="02040503050406030204" pitchFamily="18" charset="0"/>
                      </a:rPr>
                      <m:t>𝐶𝑝𝑎</m:t>
                    </m:r>
                    <m:r>
                      <a:rPr lang="en-US" altLang="ja-JP" b="0" i="1" dirty="0" smtClean="0">
                        <a:latin typeface="Cambria Math" panose="02040503050406030204" pitchFamily="18" charset="0"/>
                      </a:rPr>
                      <m:t>+ </m:t>
                    </m:r>
                    <m:r>
                      <a:rPr lang="en-US" altLang="ja-JP" i="1" dirty="0" smtClean="0">
                        <a:solidFill>
                          <a:schemeClr val="accent6"/>
                        </a:solidFill>
                        <a:latin typeface="Cambria Math" panose="02040503050406030204" pitchFamily="18" charset="0"/>
                      </a:rPr>
                      <m:t>𝑁𝑚𝑏</m:t>
                    </m:r>
                    <m:r>
                      <a:rPr lang="en-US" altLang="ja-JP" i="1" dirty="0" smtClean="0">
                        <a:solidFill>
                          <a:schemeClr val="accent6"/>
                        </a:solidFill>
                        <a:latin typeface="Cambria Math" panose="02040503050406030204" pitchFamily="18" charset="0"/>
                      </a:rPr>
                      <m:t>×</m:t>
                    </m:r>
                    <m:r>
                      <a:rPr lang="en-US" altLang="ja-JP" i="1" dirty="0" smtClean="0">
                        <a:solidFill>
                          <a:schemeClr val="accent6"/>
                        </a:solidFill>
                        <a:latin typeface="Cambria Math" panose="02040503050406030204" pitchFamily="18" charset="0"/>
                      </a:rPr>
                      <m:t>𝐶𝑝𝑏</m:t>
                    </m:r>
                  </m:oMath>
                </a14:m>
                <a:endParaRPr lang="en-US" altLang="ja-JP" i="1" dirty="0">
                  <a:solidFill>
                    <a:schemeClr val="accent6"/>
                  </a:solidFill>
                  <a:latin typeface="Cambria Math" panose="02040503050406030204" pitchFamily="18" charset="0"/>
                </a:endParaRPr>
              </a:p>
              <a:p>
                <a:pPr lvl="1"/>
                <a:r>
                  <a:rPr lang="en-US" altLang="ja-JP" b="0" dirty="0">
                    <a:solidFill>
                      <a:schemeClr val="tx1">
                        <a:lumMod val="75000"/>
                        <a:lumOff val="25000"/>
                      </a:schemeClr>
                    </a:solidFill>
                  </a:rPr>
                  <a:t>     </a:t>
                </a:r>
                <a14:m>
                  <m:oMath xmlns:m="http://schemas.openxmlformats.org/officeDocument/2006/math">
                    <m:r>
                      <a:rPr lang="en-US" altLang="ja-JP" b="0" i="1" dirty="0" smtClean="0">
                        <a:solidFill>
                          <a:schemeClr val="tx1">
                            <a:lumMod val="75000"/>
                            <a:lumOff val="25000"/>
                          </a:schemeClr>
                        </a:solidFill>
                        <a:latin typeface="Cambria Math" panose="02040503050406030204" pitchFamily="18" charset="0"/>
                      </a:rPr>
                      <m:t>=</m:t>
                    </m:r>
                    <m:f>
                      <m:fPr>
                        <m:ctrlPr>
                          <a:rPr lang="en-US" altLang="ja-JP" b="0" i="1" dirty="0" smtClean="0">
                            <a:solidFill>
                              <a:schemeClr val="tx1">
                                <a:lumMod val="75000"/>
                                <a:lumOff val="25000"/>
                              </a:schemeClr>
                            </a:solidFill>
                            <a:latin typeface="Cambria Math" panose="02040503050406030204" pitchFamily="18" charset="0"/>
                          </a:rPr>
                        </m:ctrlPr>
                      </m:fPr>
                      <m:num>
                        <m:r>
                          <a:rPr lang="en-US" altLang="ja-JP" b="0" i="1" dirty="0" smtClean="0">
                            <a:solidFill>
                              <a:schemeClr val="tx1">
                                <a:lumMod val="75000"/>
                                <a:lumOff val="25000"/>
                              </a:schemeClr>
                            </a:solidFill>
                            <a:latin typeface="Cambria Math" panose="02040503050406030204" pitchFamily="18" charset="0"/>
                          </a:rPr>
                          <m:t>𝑁𝑖</m:t>
                        </m:r>
                      </m:num>
                      <m:den>
                        <m:r>
                          <a:rPr lang="en-US" altLang="ja-JP" b="0" i="1" dirty="0" smtClean="0">
                            <a:solidFill>
                              <a:schemeClr val="tx1">
                                <a:lumMod val="75000"/>
                                <a:lumOff val="25000"/>
                              </a:schemeClr>
                            </a:solidFill>
                            <a:latin typeface="Cambria Math" panose="02040503050406030204" pitchFamily="18" charset="0"/>
                          </a:rPr>
                          <m:t>𝐼𝑃𝐶𝑡</m:t>
                        </m:r>
                      </m:den>
                    </m:f>
                    <m:r>
                      <a:rPr lang="en-US" altLang="ja-JP" i="1" dirty="0">
                        <a:latin typeface="Cambria Math" panose="02040503050406030204" pitchFamily="18" charset="0"/>
                      </a:rPr>
                      <m:t>+</m:t>
                    </m:r>
                    <m:d>
                      <m:dPr>
                        <m:ctrlPr>
                          <a:rPr lang="en-US" altLang="ja-JP" b="0" i="1" dirty="0" smtClean="0">
                            <a:latin typeface="Cambria Math" panose="02040503050406030204" pitchFamily="18" charset="0"/>
                          </a:rPr>
                        </m:ctrlPr>
                      </m:dPr>
                      <m:e>
                        <m:r>
                          <a:rPr lang="en-US" altLang="ja-JP" i="1" dirty="0">
                            <a:latin typeface="Cambria Math" panose="02040503050406030204" pitchFamily="18" charset="0"/>
                          </a:rPr>
                          <m:t>𝑁𝑖</m:t>
                        </m:r>
                        <m:r>
                          <a:rPr lang="en-US" altLang="ja-JP" i="1" dirty="0">
                            <a:latin typeface="Cambria Math" panose="02040503050406030204" pitchFamily="18" charset="0"/>
                          </a:rPr>
                          <m:t>×0.2</m:t>
                        </m:r>
                      </m:e>
                    </m:d>
                    <m:r>
                      <a:rPr lang="en-US" altLang="ja-JP" i="1" dirty="0">
                        <a:latin typeface="Cambria Math" panose="02040503050406030204" pitchFamily="18" charset="0"/>
                      </a:rPr>
                      <m:t>×1+</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𝑁𝑖</m:t>
                        </m:r>
                        <m:r>
                          <a:rPr lang="en-US" altLang="ja-JP" b="0" i="1" dirty="0" smtClean="0">
                            <a:latin typeface="Cambria Math" panose="02040503050406030204" pitchFamily="18" charset="0"/>
                          </a:rPr>
                          <m:t>×0.2×0.3</m:t>
                        </m:r>
                      </m:e>
                    </m:d>
                    <m:r>
                      <a:rPr lang="en-US" altLang="ja-JP" b="0" i="1" dirty="0" smtClean="0">
                        <a:latin typeface="Cambria Math" panose="02040503050406030204" pitchFamily="18" charset="0"/>
                      </a:rPr>
                      <m:t>×9</m:t>
                    </m:r>
                  </m:oMath>
                </a14:m>
                <a:endParaRPr lang="en-US" altLang="ja-JP" b="0" dirty="0"/>
              </a:p>
              <a:p>
                <a:pPr lvl="1"/>
                <a:r>
                  <a:rPr lang="en-US" altLang="ja-JP" i="1" dirty="0">
                    <a:latin typeface="Cambria Math" panose="02040503050406030204" pitchFamily="18" charset="0"/>
                  </a:rPr>
                  <a:t>      </a:t>
                </a:r>
                <a14:m>
                  <m:oMath xmlns:m="http://schemas.openxmlformats.org/officeDocument/2006/math">
                    <m:r>
                      <a:rPr lang="en-US" altLang="ja-JP" b="0" i="1" dirty="0" smtClean="0">
                        <a:solidFill>
                          <a:schemeClr val="tx1">
                            <a:lumMod val="75000"/>
                            <a:lumOff val="25000"/>
                          </a:schemeClr>
                        </a:solidFill>
                        <a:latin typeface="Cambria Math" panose="02040503050406030204" pitchFamily="18" charset="0"/>
                      </a:rPr>
                      <m:t>=</m:t>
                    </m:r>
                    <m:f>
                      <m:fPr>
                        <m:ctrlPr>
                          <a:rPr lang="en-US" altLang="ja-JP" b="0" i="1" dirty="0" smtClean="0">
                            <a:solidFill>
                              <a:schemeClr val="tx1">
                                <a:lumMod val="75000"/>
                                <a:lumOff val="25000"/>
                              </a:schemeClr>
                            </a:solidFill>
                            <a:latin typeface="Cambria Math" panose="02040503050406030204" pitchFamily="18" charset="0"/>
                          </a:rPr>
                        </m:ctrlPr>
                      </m:fPr>
                      <m:num>
                        <m:r>
                          <a:rPr lang="en-US" altLang="ja-JP" b="0" i="1" dirty="0" smtClean="0">
                            <a:solidFill>
                              <a:schemeClr val="tx1">
                                <a:lumMod val="75000"/>
                                <a:lumOff val="25000"/>
                              </a:schemeClr>
                            </a:solidFill>
                            <a:latin typeface="Cambria Math" panose="02040503050406030204" pitchFamily="18" charset="0"/>
                          </a:rPr>
                          <m:t>𝑁𝑖</m:t>
                        </m:r>
                      </m:num>
                      <m:den>
                        <m:r>
                          <a:rPr lang="en-US" altLang="ja-JP" b="0" i="1" dirty="0" smtClean="0">
                            <a:solidFill>
                              <a:schemeClr val="tx1">
                                <a:lumMod val="75000"/>
                                <a:lumOff val="25000"/>
                              </a:schemeClr>
                            </a:solidFill>
                            <a:latin typeface="Cambria Math" panose="02040503050406030204" pitchFamily="18" charset="0"/>
                          </a:rPr>
                          <m:t>2</m:t>
                        </m:r>
                      </m:den>
                    </m:f>
                    <m:r>
                      <a:rPr lang="en-US" altLang="ja-JP" i="1" dirty="0">
                        <a:latin typeface="Cambria Math" panose="02040503050406030204" pitchFamily="18" charset="0"/>
                      </a:rPr>
                      <m:t>+</m:t>
                    </m:r>
                    <m:r>
                      <a:rPr lang="en-US" altLang="ja-JP" i="1" dirty="0">
                        <a:latin typeface="Cambria Math" panose="02040503050406030204" pitchFamily="18" charset="0"/>
                      </a:rPr>
                      <m:t>𝑁𝑖</m:t>
                    </m:r>
                    <m:r>
                      <a:rPr lang="en-US" altLang="ja-JP" i="1" dirty="0">
                        <a:latin typeface="Cambria Math" panose="02040503050406030204" pitchFamily="18" charset="0"/>
                      </a:rPr>
                      <m:t>×0.2+</m:t>
                    </m:r>
                    <m:r>
                      <a:rPr lang="en-US" altLang="ja-JP" i="1" dirty="0">
                        <a:latin typeface="Cambria Math" panose="02040503050406030204" pitchFamily="18" charset="0"/>
                      </a:rPr>
                      <m:t>𝑁𝑖</m:t>
                    </m:r>
                    <m:r>
                      <a:rPr lang="en-US" altLang="ja-JP" i="1" dirty="0">
                        <a:latin typeface="Cambria Math" panose="02040503050406030204" pitchFamily="18" charset="0"/>
                      </a:rPr>
                      <m:t>×0.54=1.24×</m:t>
                    </m:r>
                    <m:r>
                      <a:rPr lang="en-US" altLang="ja-JP" b="0" i="1" dirty="0" smtClean="0">
                        <a:latin typeface="Cambria Math" panose="02040503050406030204" pitchFamily="18" charset="0"/>
                      </a:rPr>
                      <m:t>𝑁𝑖</m:t>
                    </m:r>
                  </m:oMath>
                </a14:m>
                <a:endParaRPr lang="en-US" altLang="ja-JP" i="1" dirty="0">
                  <a:latin typeface="Cambria Math" panose="02040503050406030204" pitchFamily="18" charset="0"/>
                </a:endParaRPr>
              </a:p>
              <a:p>
                <a14:m>
                  <m:oMath xmlns:m="http://schemas.openxmlformats.org/officeDocument/2006/math">
                    <m:r>
                      <a:rPr lang="en-US" altLang="ja-JP" i="1" dirty="0" smtClean="0">
                        <a:latin typeface="Cambria Math" panose="02040503050406030204" pitchFamily="18" charset="0"/>
                      </a:rPr>
                      <m:t>𝐼𝑃𝐶𝑟</m:t>
                    </m:r>
                  </m:oMath>
                </a14:m>
                <a:r>
                  <a:rPr lang="en-US" altLang="ja-JP" i="1" dirty="0">
                    <a:latin typeface="Cambria Math" panose="02040503050406030204" pitchFamily="18" charset="0"/>
                  </a:rPr>
                  <a:t> </a:t>
                </a:r>
                <a:r>
                  <a:rPr lang="ja-JP" altLang="en-US" i="1" dirty="0">
                    <a:latin typeface="Cambria Math" panose="02040503050406030204" pitchFamily="18" charset="0"/>
                  </a:rPr>
                  <a:t>は </a:t>
                </a:r>
                <a14:m>
                  <m:oMath xmlns:m="http://schemas.openxmlformats.org/officeDocument/2006/math">
                    <m:r>
                      <a:rPr lang="en-US" altLang="ja-JP" i="1" dirty="0">
                        <a:latin typeface="Cambria Math" panose="02040503050406030204" pitchFamily="18" charset="0"/>
                      </a:rPr>
                      <m:t>𝑁𝑖</m:t>
                    </m:r>
                  </m:oMath>
                </a14:m>
                <a:r>
                  <a:rPr lang="en-US" altLang="ja-JP" i="1" dirty="0">
                    <a:latin typeface="Cambria Math" panose="02040503050406030204" pitchFamily="18" charset="0"/>
                  </a:rPr>
                  <a:t> </a:t>
                </a:r>
                <a:r>
                  <a:rPr lang="ja-JP" altLang="en-US" i="1" dirty="0">
                    <a:latin typeface="Cambria Math" panose="02040503050406030204" pitchFamily="18" charset="0"/>
                  </a:rPr>
                  <a:t>を </a:t>
                </a:r>
                <a14:m>
                  <m:oMath xmlns:m="http://schemas.openxmlformats.org/officeDocument/2006/math">
                    <m:r>
                      <a:rPr lang="en-US" altLang="ja-JP" i="1" dirty="0">
                        <a:latin typeface="Cambria Math" panose="02040503050406030204" pitchFamily="18" charset="0"/>
                      </a:rPr>
                      <m:t>𝐶𝑟</m:t>
                    </m:r>
                  </m:oMath>
                </a14:m>
                <a:r>
                  <a:rPr lang="ja-JP" altLang="en-US" i="1" dirty="0">
                    <a:latin typeface="Cambria Math" panose="02040503050406030204" pitchFamily="18" charset="0"/>
                  </a:rPr>
                  <a:t> で正規化したものなので，</a:t>
                </a:r>
                <a:endParaRPr lang="en-US" altLang="ja-JP" i="1" dirty="0">
                  <a:latin typeface="Cambria Math" panose="02040503050406030204" pitchFamily="18" charset="0"/>
                </a:endParaRPr>
              </a:p>
              <a:p>
                <a:pPr lvl="1"/>
                <a14:m>
                  <m:oMath xmlns:m="http://schemas.openxmlformats.org/officeDocument/2006/math">
                    <m:r>
                      <a:rPr lang="en-US" altLang="ja-JP" i="1" dirty="0" smtClean="0">
                        <a:latin typeface="Cambria Math" panose="02040503050406030204" pitchFamily="18" charset="0"/>
                      </a:rPr>
                      <m:t>𝐼𝑃𝐶𝑟</m:t>
                    </m:r>
                    <m:r>
                      <m:rPr>
                        <m:nor/>
                      </m:rPr>
                      <a:rPr lang="en-US" altLang="ja-JP" dirty="0"/>
                      <m:t>=</m:t>
                    </m:r>
                    <m:f>
                      <m:fPr>
                        <m:ctrlPr>
                          <a:rPr lang="en-US" altLang="ja-JP" i="1" dirty="0">
                            <a:latin typeface="Cambria Math" panose="02040503050406030204" pitchFamily="18" charset="0"/>
                          </a:rPr>
                        </m:ctrlPr>
                      </m:fPr>
                      <m:num>
                        <m:r>
                          <a:rPr lang="en-US" altLang="ja-JP" b="0" i="1" dirty="0" smtClean="0">
                            <a:latin typeface="Cambria Math" panose="02040503050406030204" pitchFamily="18" charset="0"/>
                          </a:rPr>
                          <m:t>𝑁𝑖</m:t>
                        </m:r>
                      </m:num>
                      <m:den>
                        <m:r>
                          <a:rPr lang="en-US" altLang="ja-JP" b="0" i="1" dirty="0" smtClean="0">
                            <a:latin typeface="Cambria Math" panose="02040503050406030204" pitchFamily="18" charset="0"/>
                          </a:rPr>
                          <m:t>𝐶𝑟</m:t>
                        </m:r>
                      </m:den>
                    </m:f>
                    <m:r>
                      <a:rPr lang="en-US" altLang="ja-JP" b="0" i="1" dirty="0" smtClean="0">
                        <a:latin typeface="Cambria Math" panose="02040503050406030204" pitchFamily="18" charset="0"/>
                      </a:rPr>
                      <m:t>=</m:t>
                    </m:r>
                    <m:f>
                      <m:fPr>
                        <m:ctrlPr>
                          <a:rPr lang="en-US" altLang="ja-JP" b="0" i="1" dirty="0" smtClean="0">
                            <a:latin typeface="Cambria Math" panose="02040503050406030204" pitchFamily="18" charset="0"/>
                          </a:rPr>
                        </m:ctrlPr>
                      </m:fPr>
                      <m:num>
                        <m:r>
                          <a:rPr lang="en-US" altLang="ja-JP" b="0" i="1" dirty="0" smtClean="0">
                            <a:latin typeface="Cambria Math" panose="02040503050406030204" pitchFamily="18" charset="0"/>
                          </a:rPr>
                          <m:t>𝑁𝑖</m:t>
                        </m:r>
                      </m:num>
                      <m:den>
                        <m:r>
                          <a:rPr lang="en-US" altLang="ja-JP" b="0" i="1" dirty="0" smtClean="0">
                            <a:latin typeface="Cambria Math" panose="02040503050406030204" pitchFamily="18" charset="0"/>
                          </a:rPr>
                          <m:t>1.24×</m:t>
                        </m:r>
                        <m:r>
                          <a:rPr lang="en-US" altLang="ja-JP" b="0" i="1" dirty="0" smtClean="0">
                            <a:latin typeface="Cambria Math" panose="02040503050406030204" pitchFamily="18" charset="0"/>
                          </a:rPr>
                          <m:t>𝑁𝑖</m:t>
                        </m:r>
                      </m:den>
                    </m:f>
                    <m:r>
                      <a:rPr lang="en-US" altLang="ja-JP" b="0" i="1" dirty="0" smtClean="0">
                        <a:latin typeface="Cambria Math" panose="02040503050406030204" pitchFamily="18" charset="0"/>
                        <a:ea typeface="Cambria Math" panose="02040503050406030204" pitchFamily="18" charset="0"/>
                      </a:rPr>
                      <m:t>≈</m:t>
                    </m:r>
                    <m:r>
                      <a:rPr lang="en-US" altLang="ja-JP" b="0" i="1" dirty="0" smtClean="0">
                        <a:latin typeface="Cambria Math" panose="02040503050406030204" pitchFamily="18" charset="0"/>
                      </a:rPr>
                      <m:t>0.81</m:t>
                    </m:r>
                  </m:oMath>
                </a14:m>
                <a:endParaRPr lang="en-US" altLang="ja-JP" b="0" dirty="0"/>
              </a:p>
            </p:txBody>
          </p:sp>
        </mc:Choice>
        <mc:Fallback xmlns="">
          <p:sp>
            <p:nvSpPr>
              <p:cNvPr id="3" name="コンテンツ プレースホルダー 2">
                <a:extLst>
                  <a:ext uri="{FF2B5EF4-FFF2-40B4-BE49-F238E27FC236}">
                    <a16:creationId xmlns:a16="http://schemas.microsoft.com/office/drawing/2014/main" id="{C99FF6DC-7DB5-2610-B5A6-DCA71AC44616}"/>
                  </a:ext>
                </a:extLst>
              </p:cNvPr>
              <p:cNvSpPr>
                <a:spLocks noGrp="1" noRot="1" noChangeAspect="1" noMove="1" noResize="1" noEditPoints="1" noAdjustHandles="1" noChangeArrowheads="1" noChangeShapeType="1" noTextEdit="1"/>
              </p:cNvSpPr>
              <p:nvPr>
                <p:ph sz="quarter" idx="10"/>
              </p:nvPr>
            </p:nvSpPr>
            <p:spPr>
              <a:xfrm>
                <a:off x="611956" y="1088974"/>
                <a:ext cx="7740086" cy="5220058"/>
              </a:xfrm>
              <a:blipFill>
                <a:blip r:embed="rId2"/>
                <a:stretch>
                  <a:fillRect l="-709" t="-3271" b="-2687"/>
                </a:stretch>
              </a:blipFill>
            </p:spPr>
            <p:txBody>
              <a:bodyPr/>
              <a:lstStyle/>
              <a:p>
                <a:r>
                  <a:rPr lang="en-US">
                    <a:noFill/>
                  </a:rPr>
                  <a:t> </a:t>
                </a:r>
              </a:p>
            </p:txBody>
          </p:sp>
        </mc:Fallback>
      </mc:AlternateContent>
    </p:spTree>
    <p:extLst>
      <p:ext uri="{BB962C8B-B14F-4D97-AF65-F5344CB8AC3E}">
        <p14:creationId xmlns:p14="http://schemas.microsoft.com/office/powerpoint/2010/main" val="16134023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ADF894-1ABC-DCEB-605B-347568341D78}"/>
              </a:ext>
            </a:extLst>
          </p:cNvPr>
          <p:cNvSpPr>
            <a:spLocks noGrp="1"/>
          </p:cNvSpPr>
          <p:nvPr>
            <p:ph type="title"/>
          </p:nvPr>
        </p:nvSpPr>
        <p:spPr/>
        <p:txBody>
          <a:bodyPr/>
          <a:lstStyle/>
          <a:p>
            <a:r>
              <a:rPr kumimoji="1" lang="ja-JP" altLang="en-US" dirty="0"/>
              <a:t>課題８（１）</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99FF6DC-7DB5-2610-B5A6-DCA71AC44616}"/>
                  </a:ext>
                </a:extLst>
              </p:cNvPr>
              <p:cNvSpPr>
                <a:spLocks noGrp="1"/>
              </p:cNvSpPr>
              <p:nvPr>
                <p:ph sz="quarter" idx="10"/>
              </p:nvPr>
            </p:nvSpPr>
            <p:spPr/>
            <p:txBody>
              <a:bodyPr/>
              <a:lstStyle/>
              <a:p>
                <a:r>
                  <a:rPr kumimoji="1" lang="ja-JP" altLang="en-US" dirty="0"/>
                  <a:t>ベースライン </a:t>
                </a:r>
                <a:r>
                  <a:rPr kumimoji="1" lang="en-US" altLang="ja-JP" dirty="0"/>
                  <a:t>CPU </a:t>
                </a:r>
                <a:r>
                  <a:rPr kumimoji="1" lang="ja-JP" altLang="en-US" dirty="0"/>
                  <a:t>の動作周波数を </a:t>
                </a:r>
                <a:r>
                  <a:rPr kumimoji="1" lang="en-US" altLang="ja-JP" dirty="0"/>
                  <a:t>1 </a:t>
                </a:r>
                <a:r>
                  <a:rPr kumimoji="1" lang="ja-JP" altLang="en-US" dirty="0"/>
                  <a:t>とすると，その性能は</a:t>
                </a:r>
                <a:br>
                  <a:rPr kumimoji="1" lang="en-US" altLang="ja-JP" dirty="0"/>
                </a:br>
                <a:r>
                  <a:rPr kumimoji="1" lang="ja-JP" altLang="en-US" dirty="0"/>
                  <a:t>周波数 </a:t>
                </a:r>
                <a:r>
                  <a:rPr kumimoji="1" lang="en-US" altLang="ja-JP" dirty="0"/>
                  <a:t>1 </a:t>
                </a:r>
                <a14:m>
                  <m:oMath xmlns:m="http://schemas.openxmlformats.org/officeDocument/2006/math">
                    <m:r>
                      <a:rPr kumimoji="1" lang="en-US" altLang="ja-JP" i="1" dirty="0" smtClean="0">
                        <a:latin typeface="Cambria Math" panose="02040503050406030204" pitchFamily="18" charset="0"/>
                      </a:rPr>
                      <m:t>×</m:t>
                    </m:r>
                  </m:oMath>
                </a14:m>
                <a:r>
                  <a:rPr kumimoji="1" lang="en-US" altLang="ja-JP" dirty="0"/>
                  <a:t> IPC 0.81 = 0.81</a:t>
                </a:r>
              </a:p>
              <a:p>
                <a:r>
                  <a:rPr lang="ja-JP" altLang="en-US" sz="2000" dirty="0"/>
                  <a:t>「</a:t>
                </a:r>
                <a:r>
                  <a:rPr lang="en-US" altLang="ja-JP" sz="2000" dirty="0"/>
                  <a:t>3-way </a:t>
                </a:r>
                <a:r>
                  <a:rPr lang="ja-JP" altLang="en-US" sz="2000" dirty="0"/>
                  <a:t>スーパスカラにする」</a:t>
                </a:r>
                <a:endParaRPr lang="en-US" altLang="ja-JP" sz="2000" dirty="0"/>
              </a:p>
              <a:p>
                <a:pPr lvl="1"/>
                <a14:m>
                  <m:oMath xmlns:m="http://schemas.openxmlformats.org/officeDocument/2006/math">
                    <m:r>
                      <a:rPr kumimoji="1" lang="en-US" altLang="ja-JP" i="1" dirty="0" smtClean="0">
                        <a:solidFill>
                          <a:schemeClr val="tx1">
                            <a:lumMod val="75000"/>
                            <a:lumOff val="25000"/>
                          </a:schemeClr>
                        </a:solidFill>
                        <a:latin typeface="Cambria Math" panose="02040503050406030204" pitchFamily="18" charset="0"/>
                      </a:rPr>
                      <m:t>𝐼𝑃𝐶𝑟</m:t>
                    </m:r>
                  </m:oMath>
                </a14:m>
                <a:r>
                  <a:rPr kumimoji="1" lang="en-US" altLang="ja-JP" dirty="0">
                    <a:solidFill>
                      <a:schemeClr val="tx1">
                        <a:lumMod val="75000"/>
                        <a:lumOff val="25000"/>
                      </a:schemeClr>
                    </a:solidFill>
                  </a:rPr>
                  <a:t>=</a:t>
                </a:r>
                <a14:m>
                  <m:oMath xmlns:m="http://schemas.openxmlformats.org/officeDocument/2006/math">
                    <m:f>
                      <m:fPr>
                        <m:ctrlPr>
                          <a:rPr lang="en-US" altLang="ja-JP" i="1" dirty="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f>
                          <m:fPr>
                            <m:ctrlPr>
                              <a:rPr lang="en-US" altLang="ja-JP" b="1" i="1" dirty="0" smtClean="0">
                                <a:solidFill>
                                  <a:schemeClr val="accent5"/>
                                </a:solidFill>
                                <a:latin typeface="Cambria Math" panose="02040503050406030204" pitchFamily="18" charset="0"/>
                              </a:rPr>
                            </m:ctrlPr>
                          </m:fPr>
                          <m:num>
                            <m:r>
                              <a:rPr lang="en-US" altLang="ja-JP" b="1" i="1" dirty="0" smtClean="0">
                                <a:solidFill>
                                  <a:schemeClr val="accent5"/>
                                </a:solidFill>
                                <a:latin typeface="Cambria Math" panose="02040503050406030204" pitchFamily="18" charset="0"/>
                              </a:rPr>
                              <m:t>𝟏</m:t>
                            </m:r>
                          </m:num>
                          <m:den>
                            <m:r>
                              <a:rPr lang="en-US" altLang="ja-JP" b="1" i="1" dirty="0" smtClean="0">
                                <a:solidFill>
                                  <a:schemeClr val="accent5"/>
                                </a:solidFill>
                                <a:latin typeface="Cambria Math" panose="02040503050406030204" pitchFamily="18" charset="0"/>
                              </a:rPr>
                              <m:t>𝟑</m:t>
                            </m:r>
                          </m:den>
                        </m:f>
                        <m:r>
                          <a:rPr lang="en-US" altLang="ja-JP" b="1" i="1" dirty="0">
                            <a:solidFill>
                              <a:schemeClr val="accent5"/>
                            </a:solidFill>
                            <a:latin typeface="Cambria Math" panose="02040503050406030204" pitchFamily="18" charset="0"/>
                          </a:rPr>
                          <m:t> </m:t>
                        </m:r>
                        <m:r>
                          <a:rPr lang="en-US" altLang="ja-JP" i="1" dirty="0">
                            <a:solidFill>
                              <a:schemeClr val="tx1">
                                <a:lumMod val="75000"/>
                                <a:lumOff val="25000"/>
                              </a:schemeClr>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𝟑</m:t>
                        </m:r>
                        <m:r>
                          <a:rPr lang="en-US" altLang="ja-JP" i="1" dirty="0">
                            <a:solidFill>
                              <a:schemeClr val="tx1">
                                <a:lumMod val="75000"/>
                                <a:lumOff val="25000"/>
                              </a:schemeClr>
                            </a:solidFill>
                            <a:latin typeface="Cambria Math" panose="02040503050406030204" pitchFamily="18" charset="0"/>
                          </a:rPr>
                          <m:t>×</m:t>
                        </m:r>
                        <m:r>
                          <a:rPr lang="en-US" altLang="ja-JP" b="0" i="1" dirty="0" smtClean="0">
                            <a:solidFill>
                              <a:schemeClr val="tx1">
                                <a:lumMod val="75000"/>
                                <a:lumOff val="25000"/>
                              </a:schemeClr>
                            </a:solidFill>
                            <a:latin typeface="Cambria Math" panose="02040503050406030204" pitchFamily="18" charset="0"/>
                          </a:rPr>
                          <m:t>1+0.2</m:t>
                        </m:r>
                        <m:r>
                          <a:rPr lang="en-US" altLang="ja-JP" i="1" dirty="0">
                            <a:latin typeface="Cambria Math" panose="02040503050406030204" pitchFamily="18" charset="0"/>
                          </a:rPr>
                          <m:t>×</m:t>
                        </m:r>
                        <m:r>
                          <a:rPr lang="en-US" altLang="ja-JP" b="0" i="1" dirty="0" smtClean="0">
                            <a:latin typeface="Cambria Math" panose="02040503050406030204" pitchFamily="18" charset="0"/>
                          </a:rPr>
                          <m:t>0.3</m:t>
                        </m:r>
                        <m:r>
                          <a:rPr lang="en-US" altLang="ja-JP" i="1" dirty="0">
                            <a:latin typeface="Cambria Math" panose="02040503050406030204" pitchFamily="18" charset="0"/>
                          </a:rPr>
                          <m:t>×</m:t>
                        </m:r>
                        <m:r>
                          <a:rPr lang="en-US" altLang="ja-JP" i="1" dirty="0" smtClean="0">
                            <a:latin typeface="Cambria Math" panose="02040503050406030204" pitchFamily="18" charset="0"/>
                          </a:rPr>
                          <m:t>9</m:t>
                        </m:r>
                      </m:den>
                    </m:f>
                    <m: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t>≈</m:t>
                    </m:r>
                    <m:f>
                      <m:fPr>
                        <m:ctrlP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ctrlPr>
                      </m:fPr>
                      <m:num>
                        <m: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t>1.17</m:t>
                        </m:r>
                      </m:den>
                    </m:f>
                    <m:r>
                      <a:rPr lang="en-US" altLang="ja-JP" i="1" dirty="0">
                        <a:latin typeface="Cambria Math" panose="02040503050406030204" pitchFamily="18" charset="0"/>
                        <a:ea typeface="Cambria Math" panose="02040503050406030204" pitchFamily="18" charset="0"/>
                      </a:rPr>
                      <m:t>≈</m:t>
                    </m:r>
                    <m:r>
                      <a:rPr lang="en-US" altLang="ja-JP" b="0" i="1" dirty="0" smtClean="0">
                        <a:latin typeface="Cambria Math" panose="02040503050406030204" pitchFamily="18" charset="0"/>
                        <a:ea typeface="Cambria Math" panose="02040503050406030204" pitchFamily="18" charset="0"/>
                      </a:rPr>
                      <m:t>0.85</m:t>
                    </m:r>
                  </m:oMath>
                </a14:m>
                <a:endParaRPr lang="en-US" altLang="ja-JP" b="0" dirty="0">
                  <a:ea typeface="Cambria Math" panose="02040503050406030204" pitchFamily="18" charset="0"/>
                </a:endParaRPr>
              </a:p>
              <a:p>
                <a:pPr lvl="2"/>
                <a:r>
                  <a:rPr lang="ja-JP" altLang="en-US" dirty="0"/>
                  <a:t>先ほどは丁寧にサイクル数を１回計算したが，</a:t>
                </a:r>
                <a:br>
                  <a:rPr lang="en-US" altLang="ja-JP" dirty="0"/>
                </a:br>
                <a:r>
                  <a:rPr lang="ja-JP" altLang="en-US" dirty="0"/>
                  <a:t>ここでは最初から「１命令あたりのサイクル数」</a:t>
                </a:r>
                <a:br>
                  <a:rPr lang="en-US" altLang="ja-JP" dirty="0"/>
                </a:br>
                <a:r>
                  <a:rPr lang="ja-JP" altLang="en-US" dirty="0"/>
                  <a:t>として考えて </a:t>
                </a:r>
                <a:r>
                  <a:rPr lang="en-US" altLang="ja-JP" dirty="0"/>
                  <a:t>IPC </a:t>
                </a:r>
                <a:r>
                  <a:rPr lang="ja-JP" altLang="en-US" dirty="0"/>
                  <a:t>をいきなり求めている（結果は同じ）</a:t>
                </a:r>
                <a:endParaRPr lang="en-US" altLang="ja-JP" dirty="0"/>
              </a:p>
              <a:p>
                <a:pPr lvl="1"/>
                <a:r>
                  <a:rPr lang="ja-JP" altLang="en-US" dirty="0"/>
                  <a:t>周波数は変わらないなら性能も </a:t>
                </a:r>
                <a:r>
                  <a:rPr lang="en-US" altLang="ja-JP" dirty="0"/>
                  <a:t>0.85</a:t>
                </a:r>
                <a:endParaRPr kumimoji="1" lang="en-US" dirty="0"/>
              </a:p>
            </p:txBody>
          </p:sp>
        </mc:Choice>
        <mc:Fallback xmlns="">
          <p:sp>
            <p:nvSpPr>
              <p:cNvPr id="3" name="コンテンツ プレースホルダー 2">
                <a:extLst>
                  <a:ext uri="{FF2B5EF4-FFF2-40B4-BE49-F238E27FC236}">
                    <a16:creationId xmlns:a16="http://schemas.microsoft.com/office/drawing/2014/main" id="{C99FF6DC-7DB5-2610-B5A6-DCA71AC44616}"/>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38331968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554171-C8D6-1147-D6C3-5E7B67AFFBD4}"/>
              </a:ext>
            </a:extLst>
          </p:cNvPr>
          <p:cNvSpPr>
            <a:spLocks noGrp="1"/>
          </p:cNvSpPr>
          <p:nvPr>
            <p:ph type="title"/>
          </p:nvPr>
        </p:nvSpPr>
        <p:spPr/>
        <p:txBody>
          <a:bodyPr/>
          <a:lstStyle/>
          <a:p>
            <a:r>
              <a:rPr kumimoji="1" lang="ja-JP" altLang="en-US" dirty="0"/>
              <a:t>課題８（１）</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752EAB5-659C-EC6B-B959-E5D2B5B59298}"/>
                  </a:ext>
                </a:extLst>
              </p:cNvPr>
              <p:cNvSpPr>
                <a:spLocks noGrp="1"/>
              </p:cNvSpPr>
              <p:nvPr>
                <p:ph sz="quarter" idx="10"/>
              </p:nvPr>
            </p:nvSpPr>
            <p:spPr/>
            <p:txBody>
              <a:bodyPr/>
              <a:lstStyle/>
              <a:p>
                <a:r>
                  <a:rPr lang="ja-JP" altLang="en-US" dirty="0"/>
                  <a:t>「</a:t>
                </a:r>
                <a:r>
                  <a:rPr lang="en-US" altLang="ja-JP" dirty="0"/>
                  <a:t>2-way </a:t>
                </a:r>
                <a:r>
                  <a:rPr lang="ja-JP" altLang="en-US" dirty="0"/>
                  <a:t>のまま</a:t>
                </a:r>
                <a:r>
                  <a:rPr lang="en-US" altLang="ja-JP" dirty="0"/>
                  <a:t>15</a:t>
                </a:r>
                <a:r>
                  <a:rPr lang="ja-JP" altLang="en-US" dirty="0"/>
                  <a:t>段パイプラインにする」</a:t>
                </a:r>
                <a:endParaRPr lang="en-US" altLang="ja-JP" dirty="0"/>
              </a:p>
              <a:p>
                <a:pPr lvl="1"/>
                <a14:m>
                  <m:oMath xmlns:m="http://schemas.openxmlformats.org/officeDocument/2006/math">
                    <m:r>
                      <a:rPr kumimoji="1" lang="en-US" altLang="ja-JP" i="1" dirty="0" smtClean="0">
                        <a:solidFill>
                          <a:schemeClr val="tx1">
                            <a:lumMod val="75000"/>
                            <a:lumOff val="25000"/>
                          </a:schemeClr>
                        </a:solidFill>
                        <a:latin typeface="Cambria Math" panose="02040503050406030204" pitchFamily="18" charset="0"/>
                      </a:rPr>
                      <m:t>𝐼𝑃𝐶𝑟</m:t>
                    </m:r>
                  </m:oMath>
                </a14:m>
                <a:r>
                  <a:rPr kumimoji="1" lang="en-US" altLang="ja-JP" dirty="0">
                    <a:solidFill>
                      <a:schemeClr val="tx1">
                        <a:lumMod val="75000"/>
                        <a:lumOff val="25000"/>
                      </a:schemeClr>
                    </a:solidFill>
                  </a:rPr>
                  <a:t>=</a:t>
                </a:r>
                <a14:m>
                  <m:oMath xmlns:m="http://schemas.openxmlformats.org/officeDocument/2006/math">
                    <m:f>
                      <m:fPr>
                        <m:ctrlPr>
                          <a:rPr lang="en-US" altLang="ja-JP" i="1" dirty="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f>
                          <m:fPr>
                            <m:ctrlPr>
                              <a:rPr lang="en-US" altLang="ja-JP" b="0" i="1" dirty="0" smtClean="0">
                                <a:solidFill>
                                  <a:schemeClr val="tx1">
                                    <a:lumMod val="75000"/>
                                    <a:lumOff val="25000"/>
                                  </a:schemeClr>
                                </a:solidFill>
                                <a:latin typeface="Cambria Math" panose="02040503050406030204" pitchFamily="18" charset="0"/>
                              </a:rPr>
                            </m:ctrlPr>
                          </m:fPr>
                          <m:num>
                            <m:r>
                              <a:rPr lang="en-US" altLang="ja-JP" b="0" i="1" dirty="0" smtClean="0">
                                <a:solidFill>
                                  <a:schemeClr val="tx1">
                                    <a:lumMod val="75000"/>
                                    <a:lumOff val="25000"/>
                                  </a:schemeClr>
                                </a:solidFill>
                                <a:latin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rPr>
                              <m:t>2</m:t>
                            </m:r>
                          </m:den>
                        </m:f>
                        <m:r>
                          <a:rPr lang="en-US" altLang="ja-JP" i="1" dirty="0">
                            <a:solidFill>
                              <a:schemeClr val="tx1">
                                <a:lumMod val="75000"/>
                                <a:lumOff val="25000"/>
                              </a:schemeClr>
                            </a:solidFill>
                            <a:latin typeface="Cambria Math" panose="02040503050406030204" pitchFamily="18" charset="0"/>
                          </a:rPr>
                          <m:t> +</m:t>
                        </m:r>
                        <m:r>
                          <a:rPr lang="en-US" altLang="ja-JP" b="0" i="1" dirty="0" smtClean="0">
                            <a:solidFill>
                              <a:schemeClr val="tx1">
                                <a:lumMod val="75000"/>
                                <a:lumOff val="25000"/>
                              </a:schemeClr>
                            </a:solidFill>
                            <a:latin typeface="Cambria Math" panose="02040503050406030204" pitchFamily="18" charset="0"/>
                          </a:rPr>
                          <m:t>0.2</m:t>
                        </m:r>
                        <m:r>
                          <a:rPr lang="en-US" altLang="ja-JP" i="1" dirty="0">
                            <a:solidFill>
                              <a:schemeClr val="tx1">
                                <a:lumMod val="75000"/>
                                <a:lumOff val="25000"/>
                              </a:schemeClr>
                            </a:solidFill>
                            <a:latin typeface="Cambria Math" panose="02040503050406030204" pitchFamily="18" charset="0"/>
                          </a:rPr>
                          <m:t>×</m:t>
                        </m:r>
                        <m:r>
                          <a:rPr lang="en-US" altLang="ja-JP" b="0" i="1" dirty="0" smtClean="0">
                            <a:solidFill>
                              <a:schemeClr val="tx1">
                                <a:lumMod val="75000"/>
                                <a:lumOff val="25000"/>
                              </a:schemeClr>
                            </a:solidFill>
                            <a:latin typeface="Cambria Math" panose="02040503050406030204" pitchFamily="18" charset="0"/>
                          </a:rPr>
                          <m:t>1+0.2</m:t>
                        </m:r>
                        <m:r>
                          <a:rPr lang="en-US" altLang="ja-JP" i="1" dirty="0">
                            <a:latin typeface="Cambria Math" panose="02040503050406030204" pitchFamily="18" charset="0"/>
                          </a:rPr>
                          <m:t>×</m:t>
                        </m:r>
                        <m:r>
                          <a:rPr lang="en-US" altLang="ja-JP" b="0" i="1" dirty="0" smtClean="0">
                            <a:latin typeface="Cambria Math" panose="02040503050406030204" pitchFamily="18" charset="0"/>
                          </a:rPr>
                          <m:t>0.3</m:t>
                        </m:r>
                        <m:r>
                          <a:rPr lang="en-US" altLang="ja-JP" i="1" dirty="0">
                            <a:latin typeface="Cambria Math" panose="02040503050406030204" pitchFamily="18" charset="0"/>
                          </a:rPr>
                          <m:t>×</m:t>
                        </m:r>
                        <m:r>
                          <a:rPr lang="en-US" altLang="ja-JP" b="1" i="1" dirty="0" smtClean="0">
                            <a:solidFill>
                              <a:schemeClr val="accent5"/>
                            </a:solidFill>
                            <a:latin typeface="Cambria Math" panose="02040503050406030204" pitchFamily="18" charset="0"/>
                          </a:rPr>
                          <m:t>𝟏𝟒</m:t>
                        </m:r>
                      </m:den>
                    </m:f>
                    <m: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t>≈</m:t>
                    </m:r>
                    <m:f>
                      <m:fPr>
                        <m:ctrlP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ctrlPr>
                      </m:fPr>
                      <m:num>
                        <m: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t>1.54</m:t>
                        </m:r>
                      </m:den>
                    </m:f>
                    <m:r>
                      <a:rPr lang="en-US" altLang="ja-JP" i="1" dirty="0">
                        <a:latin typeface="Cambria Math" panose="02040503050406030204" pitchFamily="18" charset="0"/>
                        <a:ea typeface="Cambria Math" panose="02040503050406030204" pitchFamily="18" charset="0"/>
                      </a:rPr>
                      <m:t>≈</m:t>
                    </m:r>
                    <m:r>
                      <a:rPr lang="en-US" altLang="ja-JP" b="0" i="1" dirty="0" smtClean="0">
                        <a:latin typeface="Cambria Math" panose="02040503050406030204" pitchFamily="18" charset="0"/>
                        <a:ea typeface="Cambria Math" panose="02040503050406030204" pitchFamily="18" charset="0"/>
                      </a:rPr>
                      <m:t>0.65</m:t>
                    </m:r>
                  </m:oMath>
                </a14:m>
                <a:endParaRPr lang="en-US" altLang="ja-JP" b="0" dirty="0">
                  <a:ea typeface="Cambria Math" panose="02040503050406030204" pitchFamily="18" charset="0"/>
                </a:endParaRPr>
              </a:p>
              <a:p>
                <a:pPr lvl="2"/>
                <a:r>
                  <a:rPr lang="ja-JP" altLang="en-US" dirty="0"/>
                  <a:t>分岐予測ミスペナルティが </a:t>
                </a:r>
                <a:r>
                  <a:rPr lang="en-US" altLang="ja-JP" dirty="0"/>
                  <a:t>10 </a:t>
                </a:r>
                <a:r>
                  <a:rPr lang="ja-JP" altLang="en-US" dirty="0"/>
                  <a:t>から </a:t>
                </a:r>
                <a:r>
                  <a:rPr lang="en-US" altLang="ja-JP" dirty="0"/>
                  <a:t>15 </a:t>
                </a:r>
                <a:r>
                  <a:rPr lang="ja-JP" altLang="en-US" dirty="0"/>
                  <a:t>に</a:t>
                </a:r>
                <a:endParaRPr lang="en-US" altLang="ja-JP" dirty="0"/>
              </a:p>
              <a:p>
                <a:pPr lvl="1"/>
                <a:r>
                  <a:rPr lang="en-US" altLang="ja-JP" dirty="0"/>
                  <a:t>10 </a:t>
                </a:r>
                <a:r>
                  <a:rPr lang="ja-JP" altLang="en-US" dirty="0"/>
                  <a:t>→ </a:t>
                </a:r>
                <a:r>
                  <a:rPr lang="en-US" altLang="ja-JP" dirty="0"/>
                  <a:t>15 </a:t>
                </a:r>
                <a:r>
                  <a:rPr lang="ja-JP" altLang="en-US" dirty="0"/>
                  <a:t>段になったことにより周波数が </a:t>
                </a:r>
                <a:r>
                  <a:rPr lang="en-US" altLang="ja-JP" dirty="0"/>
                  <a:t>1.5 </a:t>
                </a:r>
                <a:r>
                  <a:rPr lang="ja-JP" altLang="en-US" dirty="0"/>
                  <a:t>倍に</a:t>
                </a:r>
                <a:endParaRPr lang="en-US" altLang="ja-JP" dirty="0"/>
              </a:p>
              <a:p>
                <a:pPr lvl="1"/>
                <a:r>
                  <a:rPr lang="ja-JP" altLang="en-US" dirty="0"/>
                  <a:t>性能は </a:t>
                </a:r>
                <a:r>
                  <a:rPr lang="en-US" altLang="ja-JP" dirty="0"/>
                  <a:t>1.5 </a:t>
                </a:r>
                <a14:m>
                  <m:oMath xmlns:m="http://schemas.openxmlformats.org/officeDocument/2006/math">
                    <m:r>
                      <a:rPr lang="en-US" altLang="ja-JP" i="1" dirty="0" smtClean="0">
                        <a:latin typeface="Cambria Math" panose="02040503050406030204" pitchFamily="18" charset="0"/>
                      </a:rPr>
                      <m:t>×</m:t>
                    </m:r>
                  </m:oMath>
                </a14:m>
                <a:r>
                  <a:rPr lang="en-US" altLang="ja-JP" dirty="0"/>
                  <a:t> 0.65=0.97</a:t>
                </a:r>
              </a:p>
              <a:p>
                <a:r>
                  <a:rPr lang="ja-JP" altLang="en-US" dirty="0"/>
                  <a:t>「</a:t>
                </a:r>
                <a:r>
                  <a:rPr lang="en-US" altLang="ja-JP" dirty="0"/>
                  <a:t>2-way </a:t>
                </a:r>
                <a:r>
                  <a:rPr lang="ja-JP" altLang="en-US" dirty="0"/>
                  <a:t>のまま分岐予測器を改良する」</a:t>
                </a:r>
                <a:endParaRPr lang="en-US" altLang="ja-JP" dirty="0"/>
              </a:p>
              <a:p>
                <a:pPr lvl="1"/>
                <a14:m>
                  <m:oMath xmlns:m="http://schemas.openxmlformats.org/officeDocument/2006/math">
                    <m:r>
                      <a:rPr kumimoji="1" lang="en-US" altLang="ja-JP" i="1" dirty="0" smtClean="0">
                        <a:solidFill>
                          <a:schemeClr val="tx1">
                            <a:lumMod val="75000"/>
                            <a:lumOff val="25000"/>
                          </a:schemeClr>
                        </a:solidFill>
                        <a:latin typeface="Cambria Math" panose="02040503050406030204" pitchFamily="18" charset="0"/>
                      </a:rPr>
                      <m:t>𝐼𝑃𝐶𝑟</m:t>
                    </m:r>
                  </m:oMath>
                </a14:m>
                <a:r>
                  <a:rPr kumimoji="1" lang="en-US" altLang="ja-JP" dirty="0">
                    <a:solidFill>
                      <a:schemeClr val="tx1">
                        <a:lumMod val="75000"/>
                        <a:lumOff val="25000"/>
                      </a:schemeClr>
                    </a:solidFill>
                  </a:rPr>
                  <a:t>=</a:t>
                </a:r>
                <a14:m>
                  <m:oMath xmlns:m="http://schemas.openxmlformats.org/officeDocument/2006/math">
                    <m:f>
                      <m:fPr>
                        <m:ctrlPr>
                          <a:rPr lang="en-US" altLang="ja-JP" i="1" dirty="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f>
                          <m:fPr>
                            <m:ctrlPr>
                              <a:rPr lang="en-US" altLang="ja-JP" b="0" i="1" dirty="0" smtClean="0">
                                <a:solidFill>
                                  <a:schemeClr val="tx1">
                                    <a:lumMod val="75000"/>
                                    <a:lumOff val="25000"/>
                                  </a:schemeClr>
                                </a:solidFill>
                                <a:latin typeface="Cambria Math" panose="02040503050406030204" pitchFamily="18" charset="0"/>
                              </a:rPr>
                            </m:ctrlPr>
                          </m:fPr>
                          <m:num>
                            <m:r>
                              <a:rPr lang="en-US" altLang="ja-JP" b="0" i="1" dirty="0" smtClean="0">
                                <a:solidFill>
                                  <a:schemeClr val="tx1">
                                    <a:lumMod val="75000"/>
                                    <a:lumOff val="25000"/>
                                  </a:schemeClr>
                                </a:solidFill>
                                <a:latin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rPr>
                              <m:t>2</m:t>
                            </m:r>
                          </m:den>
                        </m:f>
                        <m:r>
                          <a:rPr lang="en-US" altLang="ja-JP" i="1" dirty="0">
                            <a:solidFill>
                              <a:schemeClr val="tx1">
                                <a:lumMod val="75000"/>
                                <a:lumOff val="25000"/>
                              </a:schemeClr>
                            </a:solidFill>
                            <a:latin typeface="Cambria Math" panose="02040503050406030204" pitchFamily="18" charset="0"/>
                          </a:rPr>
                          <m:t> +</m:t>
                        </m:r>
                        <m:r>
                          <a:rPr lang="en-US" altLang="ja-JP" b="0" i="1" dirty="0" smtClean="0">
                            <a:solidFill>
                              <a:schemeClr val="tx1">
                                <a:lumMod val="75000"/>
                                <a:lumOff val="25000"/>
                              </a:schemeClr>
                            </a:solidFill>
                            <a:latin typeface="Cambria Math" panose="02040503050406030204" pitchFamily="18" charset="0"/>
                          </a:rPr>
                          <m:t>0.2</m:t>
                        </m:r>
                        <m:r>
                          <a:rPr lang="en-US" altLang="ja-JP" i="1" dirty="0">
                            <a:solidFill>
                              <a:schemeClr val="tx1">
                                <a:lumMod val="75000"/>
                                <a:lumOff val="25000"/>
                              </a:schemeClr>
                            </a:solidFill>
                            <a:latin typeface="Cambria Math" panose="02040503050406030204" pitchFamily="18" charset="0"/>
                          </a:rPr>
                          <m:t>×</m:t>
                        </m:r>
                        <m:r>
                          <a:rPr lang="en-US" altLang="ja-JP" b="0" i="1" dirty="0" smtClean="0">
                            <a:solidFill>
                              <a:schemeClr val="tx1">
                                <a:lumMod val="75000"/>
                                <a:lumOff val="25000"/>
                              </a:schemeClr>
                            </a:solidFill>
                            <a:latin typeface="Cambria Math" panose="02040503050406030204" pitchFamily="18" charset="0"/>
                          </a:rPr>
                          <m:t>1+0.2</m:t>
                        </m:r>
                        <m:r>
                          <a:rPr lang="en-US" altLang="ja-JP" i="1" dirty="0">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𝟐</m:t>
                        </m:r>
                        <m:r>
                          <a:rPr lang="en-US" altLang="ja-JP" b="0" i="1" dirty="0">
                            <a:solidFill>
                              <a:schemeClr val="tx1">
                                <a:lumMod val="75000"/>
                                <a:lumOff val="25000"/>
                              </a:schemeClr>
                            </a:solidFill>
                            <a:latin typeface="Cambria Math" panose="02040503050406030204" pitchFamily="18" charset="0"/>
                          </a:rPr>
                          <m:t>×</m:t>
                        </m:r>
                        <m:r>
                          <a:rPr lang="en-US" altLang="ja-JP" b="1" i="1" dirty="0" smtClean="0">
                            <a:solidFill>
                              <a:schemeClr val="tx1">
                                <a:lumMod val="75000"/>
                                <a:lumOff val="25000"/>
                              </a:schemeClr>
                            </a:solidFill>
                            <a:latin typeface="Cambria Math" panose="02040503050406030204" pitchFamily="18" charset="0"/>
                          </a:rPr>
                          <m:t>𝟗</m:t>
                        </m:r>
                      </m:den>
                    </m:f>
                    <m:r>
                      <a:rPr lang="en-US" altLang="ja-JP" b="1" i="1" dirty="0" smtClean="0">
                        <a:solidFill>
                          <a:schemeClr val="tx1">
                            <a:lumMod val="75000"/>
                            <a:lumOff val="25000"/>
                          </a:schemeClr>
                        </a:solidFill>
                        <a:latin typeface="Cambria Math" panose="02040503050406030204" pitchFamily="18" charset="0"/>
                      </a:rPr>
                      <m:t>=</m:t>
                    </m:r>
                    <m:f>
                      <m:fPr>
                        <m:ctrlP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ctrlPr>
                      </m:fPr>
                      <m:num>
                        <m: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ea typeface="Cambria Math" panose="02040503050406030204" pitchFamily="18" charset="0"/>
                          </a:rPr>
                          <m:t>1.1</m:t>
                        </m:r>
                      </m:den>
                    </m:f>
                    <m:r>
                      <a:rPr lang="en-US" altLang="ja-JP" i="1" dirty="0">
                        <a:latin typeface="Cambria Math" panose="02040503050406030204" pitchFamily="18" charset="0"/>
                        <a:ea typeface="Cambria Math" panose="02040503050406030204" pitchFamily="18" charset="0"/>
                      </a:rPr>
                      <m:t>≈</m:t>
                    </m:r>
                    <m:r>
                      <a:rPr lang="en-US" altLang="ja-JP" b="0" i="1" dirty="0" smtClean="0">
                        <a:latin typeface="Cambria Math" panose="02040503050406030204" pitchFamily="18" charset="0"/>
                        <a:ea typeface="Cambria Math" panose="02040503050406030204" pitchFamily="18" charset="0"/>
                      </a:rPr>
                      <m:t>0.94</m:t>
                    </m:r>
                  </m:oMath>
                </a14:m>
                <a:endParaRPr lang="en-US" altLang="ja-JP" b="0" dirty="0">
                  <a:ea typeface="Cambria Math" panose="02040503050406030204" pitchFamily="18" charset="0"/>
                </a:endParaRPr>
              </a:p>
              <a:p>
                <a:pPr marL="360000" lvl="1" indent="0">
                  <a:buNone/>
                </a:pPr>
                <a:endParaRPr lang="en-US" altLang="ja-JP" b="0" dirty="0">
                  <a:ea typeface="Cambria Math" panose="02040503050406030204" pitchFamily="18" charset="0"/>
                </a:endParaRPr>
              </a:p>
              <a:p>
                <a:pPr lvl="1"/>
                <a:r>
                  <a:rPr lang="ja-JP" altLang="en-US" dirty="0"/>
                  <a:t>周波数は変わらないので，性能も </a:t>
                </a:r>
                <a:r>
                  <a:rPr lang="en-US" altLang="ja-JP" dirty="0"/>
                  <a:t>0.94</a:t>
                </a:r>
                <a:endParaRPr kumimoji="1" lang="en-US" altLang="ja-JP" dirty="0"/>
              </a:p>
              <a:p>
                <a:endParaRPr kumimoji="1" lang="en-US" dirty="0"/>
              </a:p>
            </p:txBody>
          </p:sp>
        </mc:Choice>
        <mc:Fallback xmlns="">
          <p:sp>
            <p:nvSpPr>
              <p:cNvPr id="3" name="コンテンツ プレースホルダー 2">
                <a:extLst>
                  <a:ext uri="{FF2B5EF4-FFF2-40B4-BE49-F238E27FC236}">
                    <a16:creationId xmlns:a16="http://schemas.microsoft.com/office/drawing/2014/main" id="{F752EAB5-659C-EC6B-B959-E5D2B5B59298}"/>
                  </a:ext>
                </a:extLst>
              </p:cNvPr>
              <p:cNvSpPr>
                <a:spLocks noGrp="1" noRot="1" noChangeAspect="1" noMove="1" noResize="1" noEditPoints="1" noAdjustHandles="1" noChangeArrowheads="1" noChangeShapeType="1" noTextEdit="1"/>
              </p:cNvSpPr>
              <p:nvPr>
                <p:ph sz="quarter" idx="10"/>
              </p:nvPr>
            </p:nvSpPr>
            <p:spPr>
              <a:blipFill>
                <a:blip r:embed="rId2"/>
                <a:stretch>
                  <a:fillRect l="-692" t="-935"/>
                </a:stretch>
              </a:blipFill>
            </p:spPr>
            <p:txBody>
              <a:bodyPr/>
              <a:lstStyle/>
              <a:p>
                <a:r>
                  <a:rPr lang="en-US">
                    <a:noFill/>
                  </a:rPr>
                  <a:t> </a:t>
                </a:r>
              </a:p>
            </p:txBody>
          </p:sp>
        </mc:Fallback>
      </mc:AlternateContent>
    </p:spTree>
    <p:extLst>
      <p:ext uri="{BB962C8B-B14F-4D97-AF65-F5344CB8AC3E}">
        <p14:creationId xmlns:p14="http://schemas.microsoft.com/office/powerpoint/2010/main" val="36221932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CA6708-BF63-DF04-8D87-7C8157DEE63E}"/>
              </a:ext>
            </a:extLst>
          </p:cNvPr>
          <p:cNvSpPr>
            <a:spLocks noGrp="1"/>
          </p:cNvSpPr>
          <p:nvPr>
            <p:ph type="title"/>
          </p:nvPr>
        </p:nvSpPr>
        <p:spPr/>
        <p:txBody>
          <a:bodyPr/>
          <a:lstStyle/>
          <a:p>
            <a:r>
              <a:rPr kumimoji="1" lang="ja-JP" altLang="en-US" dirty="0"/>
              <a:t>課題８（１）</a:t>
            </a:r>
            <a:endParaRPr kumimoji="1" lang="en-US" dirty="0"/>
          </a:p>
        </p:txBody>
      </p:sp>
      <p:sp>
        <p:nvSpPr>
          <p:cNvPr id="3" name="コンテンツ プレースホルダー 2">
            <a:extLst>
              <a:ext uri="{FF2B5EF4-FFF2-40B4-BE49-F238E27FC236}">
                <a16:creationId xmlns:a16="http://schemas.microsoft.com/office/drawing/2014/main" id="{DDB65E16-B00E-164C-39CC-453627341CCA}"/>
              </a:ext>
            </a:extLst>
          </p:cNvPr>
          <p:cNvSpPr>
            <a:spLocks noGrp="1"/>
          </p:cNvSpPr>
          <p:nvPr>
            <p:ph sz="quarter" idx="10"/>
          </p:nvPr>
        </p:nvSpPr>
        <p:spPr/>
        <p:txBody>
          <a:bodyPr/>
          <a:lstStyle/>
          <a:p>
            <a:r>
              <a:rPr kumimoji="1" lang="ja-JP" altLang="en-US" dirty="0"/>
              <a:t>まとめると，</a:t>
            </a:r>
            <a:endParaRPr kumimoji="1" lang="en-US" altLang="ja-JP" dirty="0"/>
          </a:p>
          <a:p>
            <a:pPr lvl="1"/>
            <a:r>
              <a:rPr kumimoji="1" lang="ja-JP" altLang="en-US" dirty="0"/>
              <a:t>ベースライン：</a:t>
            </a:r>
            <a:r>
              <a:rPr kumimoji="1" lang="en-US" altLang="ja-JP" dirty="0"/>
              <a:t>0.81</a:t>
            </a:r>
          </a:p>
          <a:p>
            <a:pPr marL="817200" lvl="1" indent="-457200">
              <a:buFont typeface="+mj-lt"/>
              <a:buAutoNum type="arabicPeriod"/>
            </a:pPr>
            <a:r>
              <a:rPr lang="en-US" altLang="ja-JP" sz="2000" dirty="0"/>
              <a:t>3-way </a:t>
            </a:r>
            <a:r>
              <a:rPr lang="ja-JP" altLang="en-US" sz="2000" dirty="0"/>
              <a:t>スーパスカラにする：</a:t>
            </a:r>
            <a:r>
              <a:rPr lang="en-US" altLang="ja-JP" sz="2000" dirty="0"/>
              <a:t>0.85</a:t>
            </a:r>
          </a:p>
          <a:p>
            <a:pPr marL="817200" lvl="1" indent="-457200">
              <a:buFont typeface="+mj-lt"/>
              <a:buAutoNum type="arabicPeriod"/>
            </a:pPr>
            <a:r>
              <a:rPr lang="en-US" altLang="ja-JP" sz="2000" dirty="0"/>
              <a:t>2-way </a:t>
            </a:r>
            <a:r>
              <a:rPr lang="ja-JP" altLang="en-US" sz="2000" dirty="0"/>
              <a:t>のまま</a:t>
            </a:r>
            <a:r>
              <a:rPr lang="en-US" altLang="ja-JP" sz="2000" dirty="0"/>
              <a:t>15</a:t>
            </a:r>
            <a:r>
              <a:rPr lang="ja-JP" altLang="en-US" sz="2000" dirty="0"/>
              <a:t>段パイプラインにする：</a:t>
            </a:r>
            <a:r>
              <a:rPr lang="en-US" altLang="ja-JP" sz="2000" dirty="0"/>
              <a:t>0.97 </a:t>
            </a:r>
            <a:r>
              <a:rPr lang="ja-JP" altLang="en-US" sz="2000" dirty="0"/>
              <a:t>最も速い</a:t>
            </a:r>
            <a:endParaRPr lang="en-US" altLang="ja-JP" sz="2000" dirty="0"/>
          </a:p>
          <a:p>
            <a:pPr marL="817200" lvl="1" indent="-457200">
              <a:buFont typeface="+mj-lt"/>
              <a:buAutoNum type="arabicPeriod"/>
            </a:pPr>
            <a:r>
              <a:rPr lang="en-US" altLang="ja-JP" sz="2000" dirty="0"/>
              <a:t>2-way </a:t>
            </a:r>
            <a:r>
              <a:rPr lang="ja-JP" altLang="en-US" sz="2000" dirty="0"/>
              <a:t>のまま分岐予測器を改良する：</a:t>
            </a:r>
            <a:r>
              <a:rPr lang="en-US" altLang="ja-JP" sz="2000" dirty="0"/>
              <a:t>0.94</a:t>
            </a:r>
            <a:endParaRPr kumimoji="1" lang="en-US" dirty="0"/>
          </a:p>
        </p:txBody>
      </p:sp>
    </p:spTree>
    <p:extLst>
      <p:ext uri="{BB962C8B-B14F-4D97-AF65-F5344CB8AC3E}">
        <p14:creationId xmlns:p14="http://schemas.microsoft.com/office/powerpoint/2010/main" val="9872130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８（２）</a:t>
            </a:r>
            <a:endParaRPr lang="en-US" dirty="0"/>
          </a:p>
        </p:txBody>
      </p:sp>
      <mc:AlternateContent xmlns:mc="http://schemas.openxmlformats.org/markup-compatibility/2006" xmlns:a14="http://schemas.microsoft.com/office/drawing/2010/main">
        <mc:Choice Requires="a14">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en-US" altLang="ja-JP" sz="1600" dirty="0"/>
                  <a:t>(2) </a:t>
                </a:r>
                <a:r>
                  <a:rPr lang="ja-JP" altLang="en-US" sz="1600" dirty="0"/>
                  <a:t>ここで効率を表す「性能エネルギー比（性能 </a:t>
                </a:r>
                <a:r>
                  <a:rPr lang="en-US" altLang="ja-JP" sz="1600" dirty="0"/>
                  <a:t>/ </a:t>
                </a:r>
                <a:r>
                  <a:rPr lang="ja-JP" altLang="en-US" sz="1600" dirty="0"/>
                  <a:t>消費エネルギー）」という指標を導入する．この数字が大きいほど小さなエネルギーで速く動くことを意味する．前述の３つの改良方針のうち，以下の追加の条件のもとで，最も性能エネルギー比が良いものはどれかを計算して検討せよ．</a:t>
                </a:r>
                <a:endParaRPr lang="en-US" altLang="ja-JP" sz="1600" dirty="0"/>
              </a:p>
              <a:p>
                <a:pPr lvl="1"/>
                <a:r>
                  <a:rPr lang="ja-JP" altLang="en-US" sz="1600" dirty="0"/>
                  <a:t>クロック周波数を </a:t>
                </a:r>
                <a:r>
                  <a:rPr lang="en-US" altLang="ja-JP" sz="1600" dirty="0"/>
                  <a:t>N </a:t>
                </a:r>
                <a:r>
                  <a:rPr lang="ja-JP" altLang="en-US" sz="1600" dirty="0"/>
                  <a:t>倍にすると，消費エネルギーは </a:t>
                </a:r>
                <a14:m>
                  <m:oMath xmlns:m="http://schemas.openxmlformats.org/officeDocument/2006/math">
                    <m:sSup>
                      <m:sSupPr>
                        <m:ctrlPr>
                          <a:rPr lang="en-US" altLang="ja-JP" sz="1600" i="1" dirty="0" smtClean="0">
                            <a:latin typeface="Cambria Math" panose="02040503050406030204" pitchFamily="18" charset="0"/>
                          </a:rPr>
                        </m:ctrlPr>
                      </m:sSupPr>
                      <m:e>
                        <m:r>
                          <a:rPr lang="en-US" altLang="ja-JP" sz="1600" i="1" dirty="0" smtClean="0">
                            <a:latin typeface="Cambria Math" panose="02040503050406030204" pitchFamily="18" charset="0"/>
                          </a:rPr>
                          <m:t>𝑁</m:t>
                        </m:r>
                      </m:e>
                      <m:sup>
                        <m:r>
                          <a:rPr lang="en-US" altLang="ja-JP" sz="1600" i="1" dirty="0" smtClean="0">
                            <a:latin typeface="Cambria Math" panose="02040503050406030204" pitchFamily="18" charset="0"/>
                          </a:rPr>
                          <m:t>2</m:t>
                        </m:r>
                      </m:sup>
                    </m:sSup>
                  </m:oMath>
                </a14:m>
                <a:r>
                  <a:rPr lang="ja-JP" altLang="en-US" sz="1600" dirty="0"/>
                  <a:t> 倍増える</a:t>
                </a:r>
                <a:endParaRPr lang="en-US" altLang="ja-JP" sz="1600" dirty="0"/>
              </a:p>
              <a:p>
                <a:pPr lvl="1"/>
                <a:r>
                  <a:rPr lang="en-US" altLang="ja-JP" sz="1600" dirty="0"/>
                  <a:t>3-way </a:t>
                </a:r>
                <a:r>
                  <a:rPr lang="ja-JP" altLang="en-US" sz="1600" dirty="0"/>
                  <a:t>スーパースカラにすると消費エネルギーは </a:t>
                </a:r>
                <a:r>
                  <a:rPr lang="en-US" altLang="ja-JP" sz="1600" dirty="0"/>
                  <a:t>1.5 </a:t>
                </a:r>
                <a:r>
                  <a:rPr lang="ja-JP" altLang="en-US" sz="1600" dirty="0"/>
                  <a:t>倍になる</a:t>
                </a:r>
                <a:endParaRPr lang="en-US" altLang="ja-JP" sz="1600" dirty="0"/>
              </a:p>
              <a:p>
                <a:pPr lvl="1"/>
                <a:r>
                  <a:rPr lang="ja-JP" altLang="en-US" sz="1600" dirty="0"/>
                  <a:t>分岐予測器を改良すると消費エネルギーは </a:t>
                </a:r>
                <a:r>
                  <a:rPr lang="en-US" altLang="ja-JP" sz="1600" dirty="0"/>
                  <a:t>1.1 </a:t>
                </a:r>
                <a:r>
                  <a:rPr lang="ja-JP" altLang="en-US" sz="1600" dirty="0"/>
                  <a:t>倍になる</a:t>
                </a:r>
                <a:endParaRPr lang="en-US" altLang="ja-JP" sz="1600" dirty="0"/>
              </a:p>
            </p:txBody>
          </p:sp>
        </mc:Choice>
        <mc:Fallback xmlns="">
          <p:sp>
            <p:nvSpPr>
              <p:cNvPr id="7" name="コンテンツ プレースホルダー 2">
                <a:extLst>
                  <a:ext uri="{FF2B5EF4-FFF2-40B4-BE49-F238E27FC236}">
                    <a16:creationId xmlns:a16="http://schemas.microsoft.com/office/drawing/2014/main" id="{E21D1133-FC57-F955-23BE-11C267021F5C}"/>
                  </a:ext>
                </a:extLst>
              </p:cNvPr>
              <p:cNvSpPr>
                <a:spLocks noGrp="1" noRot="1" noChangeAspect="1" noMove="1" noResize="1" noEditPoints="1" noAdjustHandles="1" noChangeArrowheads="1" noChangeShapeType="1" noTextEdit="1"/>
              </p:cNvSpPr>
              <p:nvPr>
                <p:ph sz="quarter" idx="10"/>
              </p:nvPr>
            </p:nvSpPr>
            <p:spPr>
              <a:xfrm>
                <a:off x="611955" y="1088974"/>
                <a:ext cx="7830087" cy="5220057"/>
              </a:xfrm>
              <a:blipFill>
                <a:blip r:embed="rId2"/>
                <a:stretch>
                  <a:fillRect l="-311"/>
                </a:stretch>
              </a:blipFill>
            </p:spPr>
            <p:txBody>
              <a:bodyPr/>
              <a:lstStyle/>
              <a:p>
                <a:r>
                  <a:rPr lang="ja-JP" altLang="en-US">
                    <a:noFill/>
                  </a:rPr>
                  <a:t> </a:t>
                </a:r>
              </a:p>
            </p:txBody>
          </p:sp>
        </mc:Fallback>
      </mc:AlternateContent>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14</a:t>
            </a:fld>
            <a:endParaRPr kumimoji="1" lang="ja-JP" altLang="en-US" dirty="0"/>
          </a:p>
        </p:txBody>
      </p:sp>
    </p:spTree>
    <p:extLst>
      <p:ext uri="{BB962C8B-B14F-4D97-AF65-F5344CB8AC3E}">
        <p14:creationId xmlns:p14="http://schemas.microsoft.com/office/powerpoint/2010/main" val="35873086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８（２）</a:t>
            </a:r>
            <a:endParaRPr lang="en-US" dirty="0"/>
          </a:p>
        </p:txBody>
      </p:sp>
      <mc:AlternateContent xmlns:mc="http://schemas.openxmlformats.org/markup-compatibility/2006" xmlns:a14="http://schemas.microsoft.com/office/drawing/2010/main">
        <mc:Choice Requires="a14">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kumimoji="1" lang="ja-JP" altLang="en-US" dirty="0"/>
                  <a:t>ベースラインの消費エネルギーを１とすると：</a:t>
                </a:r>
                <a:r>
                  <a:rPr kumimoji="1" lang="en-US" altLang="ja-JP" dirty="0"/>
                  <a:t>0.81/1=0.81</a:t>
                </a:r>
              </a:p>
              <a:p>
                <a:pPr marL="457200" indent="-457200">
                  <a:buFont typeface="+mj-lt"/>
                  <a:buAutoNum type="arabicPeriod"/>
                </a:pPr>
                <a:r>
                  <a:rPr lang="en-US" altLang="ja-JP" dirty="0"/>
                  <a:t>3-way </a:t>
                </a:r>
                <a:r>
                  <a:rPr lang="ja-JP" altLang="en-US" dirty="0"/>
                  <a:t>スーパスカラにする：</a:t>
                </a:r>
                <a14:m>
                  <m:oMath xmlns:m="http://schemas.openxmlformats.org/officeDocument/2006/math">
                    <m:r>
                      <a:rPr lang="en-US" altLang="ja-JP" i="1" dirty="0" smtClean="0">
                        <a:latin typeface="Cambria Math" panose="02040503050406030204" pitchFamily="18" charset="0"/>
                      </a:rPr>
                      <m:t>0.8</m:t>
                    </m:r>
                    <m:r>
                      <a:rPr lang="en-US" altLang="ja-JP" b="0" i="1" dirty="0" smtClean="0">
                        <a:latin typeface="Cambria Math" panose="02040503050406030204" pitchFamily="18" charset="0"/>
                      </a:rPr>
                      <m:t>5</m:t>
                    </m:r>
                    <m:r>
                      <a:rPr lang="en-US" altLang="ja-JP" i="1" dirty="0" smtClean="0">
                        <a:latin typeface="Cambria Math" panose="02040503050406030204" pitchFamily="18" charset="0"/>
                      </a:rPr>
                      <m:t>/1.5</m:t>
                    </m:r>
                    <m:r>
                      <a:rPr lang="en-US" altLang="ja-JP" i="1" dirty="0" smtClean="0">
                        <a:latin typeface="Cambria Math" panose="02040503050406030204" pitchFamily="18" charset="0"/>
                        <a:ea typeface="Cambria Math" panose="02040503050406030204" pitchFamily="18" charset="0"/>
                      </a:rPr>
                      <m:t>≈</m:t>
                    </m:r>
                    <m:r>
                      <a:rPr lang="en-US" altLang="ja-JP" i="1" dirty="0" smtClean="0">
                        <a:latin typeface="Cambria Math" panose="02040503050406030204" pitchFamily="18" charset="0"/>
                      </a:rPr>
                      <m:t>0.57</m:t>
                    </m:r>
                  </m:oMath>
                </a14:m>
                <a:endParaRPr lang="en-US" altLang="ja-JP" dirty="0"/>
              </a:p>
              <a:p>
                <a:pPr marL="457200" indent="-457200">
                  <a:buFont typeface="+mj-lt"/>
                  <a:buAutoNum type="arabicPeriod"/>
                </a:pPr>
                <a:r>
                  <a:rPr lang="en-US" altLang="ja-JP" dirty="0"/>
                  <a:t>2-way </a:t>
                </a:r>
                <a:r>
                  <a:rPr lang="ja-JP" altLang="en-US" dirty="0"/>
                  <a:t>のまま</a:t>
                </a:r>
                <a:r>
                  <a:rPr lang="en-US" altLang="ja-JP" dirty="0"/>
                  <a:t>15</a:t>
                </a:r>
                <a:r>
                  <a:rPr lang="ja-JP" altLang="en-US" dirty="0"/>
                  <a:t>段パイプラインにする：</a:t>
                </a:r>
                <a14:m>
                  <m:oMath xmlns:m="http://schemas.openxmlformats.org/officeDocument/2006/math">
                    <m:f>
                      <m:fPr>
                        <m:ctrlPr>
                          <a:rPr lang="en-US" altLang="ja-JP" i="1" dirty="0" smtClean="0">
                            <a:latin typeface="Cambria Math" panose="02040503050406030204" pitchFamily="18" charset="0"/>
                          </a:rPr>
                        </m:ctrlPr>
                      </m:fPr>
                      <m:num>
                        <m:r>
                          <a:rPr lang="en-US" altLang="ja-JP" i="1" dirty="0" smtClean="0">
                            <a:latin typeface="Cambria Math" panose="02040503050406030204" pitchFamily="18" charset="0"/>
                          </a:rPr>
                          <m:t>0.9</m:t>
                        </m:r>
                        <m:r>
                          <a:rPr lang="en-US" altLang="ja-JP" b="0" i="1" dirty="0" smtClean="0">
                            <a:latin typeface="Cambria Math" panose="02040503050406030204" pitchFamily="18" charset="0"/>
                          </a:rPr>
                          <m:t>7</m:t>
                        </m:r>
                      </m:num>
                      <m:den>
                        <m:sSup>
                          <m:sSupPr>
                            <m:ctrlPr>
                              <a:rPr lang="en-US" altLang="ja-JP" i="1" dirty="0" smtClean="0">
                                <a:latin typeface="Cambria Math" panose="02040503050406030204" pitchFamily="18" charset="0"/>
                              </a:rPr>
                            </m:ctrlPr>
                          </m:sSupPr>
                          <m:e>
                            <m:r>
                              <a:rPr lang="en-US" altLang="ja-JP" i="1" dirty="0" smtClean="0">
                                <a:latin typeface="Cambria Math" panose="02040503050406030204" pitchFamily="18" charset="0"/>
                              </a:rPr>
                              <m:t>1.5</m:t>
                            </m:r>
                          </m:e>
                          <m:sup>
                            <m:r>
                              <a:rPr lang="en-US" altLang="ja-JP" i="1" dirty="0" smtClean="0">
                                <a:latin typeface="Cambria Math" panose="02040503050406030204" pitchFamily="18" charset="0"/>
                              </a:rPr>
                              <m:t>2</m:t>
                            </m:r>
                          </m:sup>
                        </m:sSup>
                      </m:den>
                    </m:f>
                    <m:r>
                      <a:rPr lang="en-US" altLang="ja-JP" b="0" i="1" dirty="0" smtClean="0">
                        <a:latin typeface="Cambria Math" panose="02040503050406030204" pitchFamily="18" charset="0"/>
                      </a:rPr>
                      <m:t>≈0.4</m:t>
                    </m:r>
                    <m:r>
                      <a:rPr lang="en-US" altLang="ja-JP" i="1" dirty="0" smtClean="0">
                        <a:latin typeface="Cambria Math" panose="02040503050406030204" pitchFamily="18" charset="0"/>
                      </a:rPr>
                      <m:t>3</m:t>
                    </m:r>
                  </m:oMath>
                </a14:m>
                <a:endParaRPr lang="en-US" altLang="ja-JP" dirty="0"/>
              </a:p>
              <a:p>
                <a:pPr lvl="1"/>
                <a:r>
                  <a:rPr lang="ja-JP" altLang="en-US" dirty="0"/>
                  <a:t>最も速いが，エネルギー効率がとても悪い</a:t>
                </a:r>
                <a:endParaRPr lang="en-US" altLang="ja-JP" dirty="0"/>
              </a:p>
              <a:p>
                <a:pPr marL="457200" indent="-457200">
                  <a:buFont typeface="+mj-lt"/>
                  <a:buAutoNum type="arabicPeriod"/>
                </a:pPr>
                <a:r>
                  <a:rPr lang="en-US" altLang="ja-JP" dirty="0"/>
                  <a:t>2-way </a:t>
                </a:r>
                <a:r>
                  <a:rPr lang="ja-JP" altLang="en-US" dirty="0"/>
                  <a:t>のまま分岐予測器を改良する：</a:t>
                </a:r>
                <a14:m>
                  <m:oMath xmlns:m="http://schemas.openxmlformats.org/officeDocument/2006/math">
                    <m:f>
                      <m:fPr>
                        <m:ctrlPr>
                          <a:rPr lang="en-US" altLang="ja-JP" i="1" dirty="0" smtClean="0">
                            <a:latin typeface="Cambria Math" panose="02040503050406030204" pitchFamily="18" charset="0"/>
                          </a:rPr>
                        </m:ctrlPr>
                      </m:fPr>
                      <m:num>
                        <m:r>
                          <a:rPr lang="en-US" altLang="ja-JP" i="1" dirty="0" smtClean="0">
                            <a:latin typeface="Cambria Math" panose="02040503050406030204" pitchFamily="18" charset="0"/>
                          </a:rPr>
                          <m:t>0.9</m:t>
                        </m:r>
                        <m:r>
                          <a:rPr lang="en-US" altLang="ja-JP" b="0" i="1" dirty="0" smtClean="0">
                            <a:latin typeface="Cambria Math" panose="02040503050406030204" pitchFamily="18" charset="0"/>
                          </a:rPr>
                          <m:t>4</m:t>
                        </m:r>
                      </m:num>
                      <m:den>
                        <m:r>
                          <a:rPr lang="en-US" altLang="ja-JP" i="1" dirty="0" smtClean="0">
                            <a:latin typeface="Cambria Math" panose="02040503050406030204" pitchFamily="18" charset="0"/>
                          </a:rPr>
                          <m:t>1.1</m:t>
                        </m:r>
                      </m:den>
                    </m:f>
                    <m:r>
                      <a:rPr lang="en-US" altLang="ja-JP" b="0" i="1" dirty="0" smtClean="0">
                        <a:latin typeface="Cambria Math" panose="02040503050406030204" pitchFamily="18" charset="0"/>
                      </a:rPr>
                      <m:t>≈0.85</m:t>
                    </m:r>
                  </m:oMath>
                </a14:m>
                <a:endParaRPr lang="en-US" altLang="ja-JP" b="0" dirty="0"/>
              </a:p>
              <a:p>
                <a:pPr lvl="1"/>
                <a:r>
                  <a:rPr kumimoji="1" lang="en-US" altLang="ja-JP" dirty="0"/>
                  <a:t>2 </a:t>
                </a:r>
                <a:r>
                  <a:rPr kumimoji="1" lang="ja-JP" altLang="en-US" dirty="0"/>
                  <a:t>より少し遅いがエネルギー効率はずっと良い</a:t>
                </a:r>
                <a:endParaRPr kumimoji="1" lang="en-US" altLang="ja-JP" dirty="0"/>
              </a:p>
            </p:txBody>
          </p:sp>
        </mc:Choice>
        <mc:Fallback xmlns="">
          <p:sp>
            <p:nvSpPr>
              <p:cNvPr id="7" name="コンテンツ プレースホルダー 2">
                <a:extLst>
                  <a:ext uri="{FF2B5EF4-FFF2-40B4-BE49-F238E27FC236}">
                    <a16:creationId xmlns:a16="http://schemas.microsoft.com/office/drawing/2014/main" id="{E21D1133-FC57-F955-23BE-11C267021F5C}"/>
                  </a:ext>
                </a:extLst>
              </p:cNvPr>
              <p:cNvSpPr>
                <a:spLocks noGrp="1" noRot="1" noChangeAspect="1" noMove="1" noResize="1" noEditPoints="1" noAdjustHandles="1" noChangeArrowheads="1" noChangeShapeType="1" noTextEdit="1"/>
              </p:cNvSpPr>
              <p:nvPr>
                <p:ph sz="quarter" idx="10"/>
              </p:nvPr>
            </p:nvSpPr>
            <p:spPr>
              <a:xfrm>
                <a:off x="611955" y="1088974"/>
                <a:ext cx="7830087" cy="5220057"/>
              </a:xfrm>
              <a:blipFill>
                <a:blip r:embed="rId2"/>
                <a:stretch>
                  <a:fillRect l="-1012"/>
                </a:stretch>
              </a:blipFill>
            </p:spPr>
            <p:txBody>
              <a:bodyPr/>
              <a:lstStyle/>
              <a:p>
                <a:r>
                  <a:rPr lang="en-US">
                    <a:noFill/>
                  </a:rPr>
                  <a:t> </a:t>
                </a:r>
              </a:p>
            </p:txBody>
          </p:sp>
        </mc:Fallback>
      </mc:AlternateContent>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15</a:t>
            </a:fld>
            <a:endParaRPr kumimoji="1" lang="ja-JP" altLang="en-US" dirty="0"/>
          </a:p>
        </p:txBody>
      </p:sp>
    </p:spTree>
    <p:extLst>
      <p:ext uri="{BB962C8B-B14F-4D97-AF65-F5344CB8AC3E}">
        <p14:creationId xmlns:p14="http://schemas.microsoft.com/office/powerpoint/2010/main" val="38930795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16</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メモリと，キャッシュの基本</a:t>
            </a:r>
            <a:endParaRPr kumimoji="1" lang="en-US" dirty="0"/>
          </a:p>
        </p:txBody>
      </p:sp>
    </p:spTree>
    <p:extLst>
      <p:ext uri="{BB962C8B-B14F-4D97-AF65-F5344CB8AC3E}">
        <p14:creationId xmlns:p14="http://schemas.microsoft.com/office/powerpoint/2010/main" val="28515206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AE0C569-28B0-BC2B-BFAA-8E0974E9742B}"/>
              </a:ext>
            </a:extLst>
          </p:cNvPr>
          <p:cNvSpPr>
            <a:spLocks noGrp="1"/>
          </p:cNvSpPr>
          <p:nvPr>
            <p:ph type="title"/>
          </p:nvPr>
        </p:nvSpPr>
        <p:spPr/>
        <p:txBody>
          <a:bodyPr/>
          <a:lstStyle/>
          <a:p>
            <a:r>
              <a:rPr lang="ja-JP" altLang="en-US" dirty="0"/>
              <a:t>今日の内容</a:t>
            </a:r>
            <a:endParaRPr lang="en-US" dirty="0"/>
          </a:p>
        </p:txBody>
      </p:sp>
      <p:sp>
        <p:nvSpPr>
          <p:cNvPr id="5" name="コンテンツ プレースホルダー 4">
            <a:extLst>
              <a:ext uri="{FF2B5EF4-FFF2-40B4-BE49-F238E27FC236}">
                <a16:creationId xmlns:a16="http://schemas.microsoft.com/office/drawing/2014/main" id="{2357C782-95FE-C89C-7A97-8FEF9676050A}"/>
              </a:ext>
            </a:extLst>
          </p:cNvPr>
          <p:cNvSpPr>
            <a:spLocks noGrp="1"/>
          </p:cNvSpPr>
          <p:nvPr>
            <p:ph sz="quarter" idx="10"/>
          </p:nvPr>
        </p:nvSpPr>
        <p:spPr/>
        <p:txBody>
          <a:bodyPr/>
          <a:lstStyle/>
          <a:p>
            <a:pPr marL="457200" indent="-457200">
              <a:buFont typeface="+mj-lt"/>
              <a:buAutoNum type="arabicPeriod"/>
            </a:pPr>
            <a:r>
              <a:rPr lang="ja-JP" altLang="en-US" dirty="0"/>
              <a:t>メモリ</a:t>
            </a:r>
            <a:endParaRPr lang="en-US" altLang="ja-JP" dirty="0"/>
          </a:p>
          <a:p>
            <a:pPr marL="457200" indent="-457200">
              <a:buFont typeface="+mj-lt"/>
              <a:buAutoNum type="arabicPeriod"/>
            </a:pPr>
            <a:r>
              <a:rPr lang="ja-JP" altLang="en-US" dirty="0"/>
              <a:t>キャッシュの基本</a:t>
            </a:r>
            <a:endParaRPr lang="en-US" altLang="ja-JP" dirty="0"/>
          </a:p>
        </p:txBody>
      </p:sp>
      <p:sp>
        <p:nvSpPr>
          <p:cNvPr id="2" name="スライド番号プレースホルダー 1">
            <a:extLst>
              <a:ext uri="{FF2B5EF4-FFF2-40B4-BE49-F238E27FC236}">
                <a16:creationId xmlns:a16="http://schemas.microsoft.com/office/drawing/2014/main" id="{A7460468-D73A-4F2A-CAEC-31FD11E7023E}"/>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17</a:t>
            </a:fld>
            <a:endParaRPr kumimoji="1" lang="ja-JP" altLang="en-US"/>
          </a:p>
        </p:txBody>
      </p:sp>
    </p:spTree>
    <p:extLst>
      <p:ext uri="{BB962C8B-B14F-4D97-AF65-F5344CB8AC3E}">
        <p14:creationId xmlns:p14="http://schemas.microsoft.com/office/powerpoint/2010/main" val="2959814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18</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メモリ</a:t>
            </a:r>
            <a:endParaRPr kumimoji="1" lang="en-US" dirty="0"/>
          </a:p>
        </p:txBody>
      </p:sp>
    </p:spTree>
    <p:extLst>
      <p:ext uri="{BB962C8B-B14F-4D97-AF65-F5344CB8AC3E}">
        <p14:creationId xmlns:p14="http://schemas.microsoft.com/office/powerpoint/2010/main" val="847671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75E16E-4E07-4DD3-B7AE-30384DEDA7DA}"/>
              </a:ext>
            </a:extLst>
          </p:cNvPr>
          <p:cNvSpPr>
            <a:spLocks noGrp="1"/>
          </p:cNvSpPr>
          <p:nvPr>
            <p:ph type="title"/>
          </p:nvPr>
        </p:nvSpPr>
        <p:spPr>
          <a:xfrm>
            <a:off x="611956" y="0"/>
            <a:ext cx="8532044" cy="908972"/>
          </a:xfrm>
        </p:spPr>
        <p:txBody>
          <a:bodyPr/>
          <a:lstStyle/>
          <a:p>
            <a:r>
              <a:rPr lang="ja-JP" altLang="en-US" dirty="0"/>
              <a:t>メモリ</a:t>
            </a:r>
          </a:p>
        </p:txBody>
      </p:sp>
      <p:sp>
        <p:nvSpPr>
          <p:cNvPr id="3" name="テキスト プレースホルダー 2">
            <a:extLst>
              <a:ext uri="{FF2B5EF4-FFF2-40B4-BE49-F238E27FC236}">
                <a16:creationId xmlns:a16="http://schemas.microsoft.com/office/drawing/2014/main" id="{85BC6282-73C9-4184-B25A-1BBCEB8615BE}"/>
              </a:ext>
            </a:extLst>
          </p:cNvPr>
          <p:cNvSpPr>
            <a:spLocks noGrp="1"/>
          </p:cNvSpPr>
          <p:nvPr>
            <p:ph sz="quarter" idx="10"/>
          </p:nvPr>
        </p:nvSpPr>
        <p:spPr>
          <a:xfrm>
            <a:off x="611956" y="1088974"/>
            <a:ext cx="7920088" cy="5220058"/>
          </a:xfrm>
        </p:spPr>
        <p:txBody>
          <a:bodyPr/>
          <a:lstStyle/>
          <a:p>
            <a:r>
              <a:rPr lang="ja-JP" altLang="en-US" dirty="0"/>
              <a:t>メモリ：</a:t>
            </a:r>
            <a:r>
              <a:rPr lang="en-US" altLang="ja-JP" dirty="0"/>
              <a:t>RAM</a:t>
            </a:r>
            <a:r>
              <a:rPr lang="ja-JP" altLang="en-US" dirty="0"/>
              <a:t>（</a:t>
            </a:r>
            <a:r>
              <a:rPr lang="en-US" altLang="ja-JP" dirty="0"/>
              <a:t>Random Access Memory</a:t>
            </a:r>
            <a:r>
              <a:rPr lang="ja-JP" altLang="en-US" dirty="0"/>
              <a:t>）</a:t>
            </a:r>
            <a:endParaRPr lang="en-US" altLang="ja-JP" dirty="0"/>
          </a:p>
          <a:p>
            <a:pPr lvl="1"/>
            <a:r>
              <a:rPr lang="ja-JP" altLang="en-US" dirty="0"/>
              <a:t>複数のデータを記憶する回路</a:t>
            </a:r>
            <a:endParaRPr lang="en-US" altLang="ja-JP" dirty="0"/>
          </a:p>
          <a:p>
            <a:pPr lvl="1"/>
            <a:r>
              <a:rPr lang="ja-JP" altLang="en-US" dirty="0"/>
              <a:t>配列のように，位置を指定して読み書きする</a:t>
            </a:r>
            <a:endParaRPr lang="en-US" altLang="ja-JP" dirty="0"/>
          </a:p>
        </p:txBody>
      </p:sp>
    </p:spTree>
    <p:extLst>
      <p:ext uri="{BB962C8B-B14F-4D97-AF65-F5344CB8AC3E}">
        <p14:creationId xmlns:p14="http://schemas.microsoft.com/office/powerpoint/2010/main" val="39581856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a:t>
            </a:r>
            <a:endParaRPr kumimoji="1" lang="ja-JP" altLang="en-US" dirty="0"/>
          </a:p>
        </p:txBody>
      </p:sp>
      <p:sp>
        <p:nvSpPr>
          <p:cNvPr id="3" name="コンテンツ プレースホルダー 2"/>
          <p:cNvSpPr>
            <a:spLocks noGrp="1"/>
          </p:cNvSpPr>
          <p:nvPr>
            <p:ph idx="4294967295"/>
          </p:nvPr>
        </p:nvSpPr>
        <p:spPr>
          <a:xfrm>
            <a:off x="611956" y="2528989"/>
            <a:ext cx="7848600" cy="3690041"/>
          </a:xfrm>
          <a:prstGeom prst="rect">
            <a:avLst/>
          </a:prstGeom>
        </p:spPr>
        <p:txBody>
          <a:bodyPr/>
          <a:lstStyle/>
          <a:p>
            <a:r>
              <a:rPr lang="ja-JP" altLang="en-US" dirty="0"/>
              <a:t>メモリは命令列と，計算するデータを保持する</a:t>
            </a:r>
            <a:endParaRPr lang="en-US" altLang="ja-JP" dirty="0"/>
          </a:p>
          <a:p>
            <a:pPr lvl="1"/>
            <a:r>
              <a:rPr lang="ja-JP" altLang="en-US" dirty="0"/>
              <a:t>単一の巨大な配列があると思えばよい</a:t>
            </a:r>
            <a:endParaRPr lang="en-US" altLang="ja-JP" dirty="0"/>
          </a:p>
          <a:p>
            <a:pPr lvl="1"/>
            <a:r>
              <a:rPr lang="en-US" altLang="ja-JP" dirty="0"/>
              <a:t>C </a:t>
            </a:r>
            <a:r>
              <a:rPr lang="ja-JP" altLang="en-US" dirty="0"/>
              <a:t>言語の配列は，これを切り出してユーザーに見せている</a:t>
            </a:r>
            <a:endParaRPr lang="en-US" altLang="ja-JP" dirty="0"/>
          </a:p>
          <a:p>
            <a:r>
              <a:rPr lang="ja-JP" altLang="en-US" dirty="0"/>
              <a:t>数字が入る箱がたくさん並んでいるイメージ</a:t>
            </a:r>
            <a:endParaRPr lang="en-US" altLang="ja-JP" dirty="0"/>
          </a:p>
          <a:p>
            <a:pPr lvl="1"/>
            <a:r>
              <a:rPr lang="ja-JP" altLang="en-US" dirty="0"/>
              <a:t>アドレス：箱の通し番号（住所）</a:t>
            </a:r>
            <a:endParaRPr lang="en-US" altLang="ja-JP" dirty="0"/>
          </a:p>
          <a:p>
            <a:pPr lvl="1"/>
            <a:r>
              <a:rPr lang="ja-JP" altLang="en-US" dirty="0"/>
              <a:t>データ　：箱の中身の数字</a:t>
            </a:r>
            <a:endParaRPr lang="en-US" altLang="ja-JP" dirty="0"/>
          </a:p>
        </p:txBody>
      </p:sp>
      <p:sp>
        <p:nvSpPr>
          <p:cNvPr id="4" name="Freeform 10"/>
          <p:cNvSpPr>
            <a:spLocks/>
          </p:cNvSpPr>
          <p:nvPr/>
        </p:nvSpPr>
        <p:spPr bwMode="auto">
          <a:xfrm rot="16200000">
            <a:off x="4706977" y="1494004"/>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7" name="正方形/長方形 6"/>
          <p:cNvSpPr/>
          <p:nvPr/>
        </p:nvSpPr>
        <p:spPr bwMode="auto">
          <a:xfrm>
            <a:off x="4572000"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3Eh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8" name="Freeform 10"/>
          <p:cNvSpPr>
            <a:spLocks/>
          </p:cNvSpPr>
          <p:nvPr/>
        </p:nvSpPr>
        <p:spPr bwMode="auto">
          <a:xfrm rot="16200000">
            <a:off x="5426986" y="1494004"/>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9" name="正方形/長方形 8"/>
          <p:cNvSpPr/>
          <p:nvPr/>
        </p:nvSpPr>
        <p:spPr bwMode="auto">
          <a:xfrm>
            <a:off x="5292009"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01h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0" name="Freeform 10"/>
          <p:cNvSpPr>
            <a:spLocks/>
          </p:cNvSpPr>
          <p:nvPr/>
        </p:nvSpPr>
        <p:spPr bwMode="auto">
          <a:xfrm rot="16200000">
            <a:off x="6146991"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1" name="正方形/長方形 10"/>
          <p:cNvSpPr/>
          <p:nvPr/>
        </p:nvSpPr>
        <p:spPr bwMode="auto">
          <a:xfrm>
            <a:off x="6012017"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32h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Freeform 10"/>
          <p:cNvSpPr>
            <a:spLocks/>
          </p:cNvSpPr>
          <p:nvPr/>
        </p:nvSpPr>
        <p:spPr bwMode="auto">
          <a:xfrm rot="16200000">
            <a:off x="6866999"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3" name="正方形/長方形 12"/>
          <p:cNvSpPr/>
          <p:nvPr/>
        </p:nvSpPr>
        <p:spPr bwMode="auto">
          <a:xfrm>
            <a:off x="6732025"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20h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Freeform 10"/>
          <p:cNvSpPr>
            <a:spLocks/>
          </p:cNvSpPr>
          <p:nvPr/>
        </p:nvSpPr>
        <p:spPr bwMode="auto">
          <a:xfrm rot="16200000">
            <a:off x="7587007"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5" name="正方形/長方形 14"/>
          <p:cNvSpPr/>
          <p:nvPr/>
        </p:nvSpPr>
        <p:spPr bwMode="auto">
          <a:xfrm>
            <a:off x="7452033"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80h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6" name="Freeform 10"/>
          <p:cNvSpPr>
            <a:spLocks/>
          </p:cNvSpPr>
          <p:nvPr/>
        </p:nvSpPr>
        <p:spPr bwMode="auto">
          <a:xfrm rot="16200000">
            <a:off x="1826945" y="1494006"/>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7" name="正方形/長方形 16"/>
          <p:cNvSpPr/>
          <p:nvPr/>
        </p:nvSpPr>
        <p:spPr bwMode="auto">
          <a:xfrm>
            <a:off x="1691968" y="1538980"/>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07h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8" name="Freeform 10"/>
          <p:cNvSpPr>
            <a:spLocks/>
          </p:cNvSpPr>
          <p:nvPr/>
        </p:nvSpPr>
        <p:spPr bwMode="auto">
          <a:xfrm rot="16200000">
            <a:off x="2546954" y="1494006"/>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9" name="正方形/長方形 18"/>
          <p:cNvSpPr/>
          <p:nvPr/>
        </p:nvSpPr>
        <p:spPr bwMode="auto">
          <a:xfrm>
            <a:off x="2411977" y="1538980"/>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10h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1691968" y="2078985"/>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0h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2411976"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2" name="Freeform 10"/>
          <p:cNvSpPr>
            <a:spLocks/>
          </p:cNvSpPr>
          <p:nvPr/>
        </p:nvSpPr>
        <p:spPr bwMode="auto">
          <a:xfrm rot="16200000">
            <a:off x="3266958"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23" name="正方形/長方形 22"/>
          <p:cNvSpPr/>
          <p:nvPr/>
        </p:nvSpPr>
        <p:spPr bwMode="auto">
          <a:xfrm>
            <a:off x="3131981" y="1538979"/>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30h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3131980" y="2078983"/>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2h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4572000"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8000h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5292008" y="2078983"/>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8001h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6012012" y="2078982"/>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8002h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6732024"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8003h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7452032"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8004h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3851992" y="1718980"/>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8172040" y="1718980"/>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8172040" y="2078984"/>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3851992" y="2078984"/>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701956"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アドレス：</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701956" y="1628979"/>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データ：</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28014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kumimoji="1" lang="ja-JP" altLang="en-US" b="1" dirty="0"/>
              <a:t>メモリの基本</a:t>
            </a:r>
            <a:endParaRPr kumimoji="1" lang="en-US" altLang="ja-JP" b="1" dirty="0"/>
          </a:p>
          <a:p>
            <a:pPr marL="817200" lvl="1" indent="-457200">
              <a:buFont typeface="+mj-lt"/>
              <a:buAutoNum type="arabicPeriod"/>
            </a:pPr>
            <a:r>
              <a:rPr kumimoji="1" lang="ja-JP" altLang="en-US" dirty="0"/>
              <a:t>構造</a:t>
            </a:r>
            <a:endParaRPr kumimoji="1" lang="en-US" altLang="ja-JP" dirty="0"/>
          </a:p>
          <a:p>
            <a:pPr marL="817200" lvl="1" indent="-457200">
              <a:buFont typeface="+mj-lt"/>
              <a:buAutoNum type="arabicPeriod"/>
            </a:pPr>
            <a:r>
              <a:rPr kumimoji="1" lang="ja-JP" altLang="en-US" dirty="0"/>
              <a:t>動作</a:t>
            </a:r>
            <a:endParaRPr kumimoji="1" lang="en-US" altLang="ja-JP" dirty="0"/>
          </a:p>
          <a:p>
            <a:pPr marL="817200" lvl="1" indent="-457200">
              <a:buFont typeface="+mj-lt"/>
              <a:buAutoNum type="arabicPeriod"/>
            </a:pPr>
            <a:r>
              <a:rPr lang="ja-JP" altLang="en-US" dirty="0"/>
              <a:t>容量と速度</a:t>
            </a:r>
            <a:endParaRPr lang="en-US" altLang="ja-JP" dirty="0"/>
          </a:p>
          <a:p>
            <a:pPr marL="457200" indent="-457200">
              <a:buFont typeface="+mj-lt"/>
              <a:buAutoNum type="arabicPeriod"/>
            </a:pPr>
            <a:r>
              <a:rPr kumimoji="1" lang="ja-JP" altLang="en-US" dirty="0"/>
              <a:t>メモリの詳細</a:t>
            </a:r>
            <a:endParaRPr kumimoji="1" lang="en-US" altLang="ja-JP" dirty="0"/>
          </a:p>
          <a:p>
            <a:pPr marL="817200" lvl="1" indent="-457200">
              <a:buFont typeface="+mj-lt"/>
              <a:buAutoNum type="arabicPeriod"/>
            </a:pPr>
            <a:r>
              <a:rPr lang="en-US" altLang="ja-JP" dirty="0"/>
              <a:t>SRAM </a:t>
            </a:r>
            <a:r>
              <a:rPr lang="ja-JP" altLang="en-US" dirty="0"/>
              <a:t>と </a:t>
            </a:r>
            <a:r>
              <a:rPr kumimoji="1" lang="en-US" altLang="ja-JP" dirty="0"/>
              <a:t>DRAM</a:t>
            </a:r>
          </a:p>
          <a:p>
            <a:pPr marL="817200" lvl="1" indent="-457200">
              <a:buFont typeface="+mj-lt"/>
              <a:buAutoNum type="arabicPeriod"/>
            </a:pPr>
            <a:r>
              <a:rPr lang="ja-JP" altLang="en-US" dirty="0"/>
              <a:t>なぜメモリが存在するのか？</a:t>
            </a:r>
            <a:endParaRPr lang="en-US" altLang="ja-JP" dirty="0"/>
          </a:p>
        </p:txBody>
      </p:sp>
    </p:spTree>
    <p:extLst>
      <p:ext uri="{BB962C8B-B14F-4D97-AF65-F5344CB8AC3E}">
        <p14:creationId xmlns:p14="http://schemas.microsoft.com/office/powerpoint/2010/main" val="22082351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メモリの基本構造：セルを行列状に配置</a:t>
            </a:r>
          </a:p>
        </p:txBody>
      </p:sp>
      <p:sp>
        <p:nvSpPr>
          <p:cNvPr id="3" name="テキスト プレースホルダー 2"/>
          <p:cNvSpPr>
            <a:spLocks noGrp="1"/>
          </p:cNvSpPr>
          <p:nvPr>
            <p:ph type="body" sz="quarter" idx="10"/>
          </p:nvPr>
        </p:nvSpPr>
        <p:spPr>
          <a:xfrm>
            <a:off x="4932004" y="1088974"/>
            <a:ext cx="3870042" cy="5309752"/>
          </a:xfrm>
        </p:spPr>
        <p:txBody>
          <a:bodyPr anchor="t"/>
          <a:lstStyle/>
          <a:p>
            <a:pPr lvl="1"/>
            <a:r>
              <a:rPr kumimoji="1" lang="ja-JP" altLang="en-US" dirty="0"/>
              <a:t>セル：</a:t>
            </a:r>
            <a:endParaRPr kumimoji="1" lang="en-US" altLang="ja-JP" dirty="0"/>
          </a:p>
          <a:p>
            <a:pPr lvl="2"/>
            <a:r>
              <a:rPr kumimoji="1" lang="en-US" altLang="ja-JP" dirty="0"/>
              <a:t>1</a:t>
            </a:r>
            <a:r>
              <a:rPr kumimoji="1" lang="ja-JP" altLang="en-US" dirty="0"/>
              <a:t>ビットの情報を記憶</a:t>
            </a:r>
            <a:endParaRPr kumimoji="1" lang="en-US" altLang="ja-JP" dirty="0"/>
          </a:p>
          <a:p>
            <a:pPr lvl="1"/>
            <a:r>
              <a:rPr kumimoji="1" lang="ja-JP" altLang="en-US" dirty="0"/>
              <a:t>ビットライン：</a:t>
            </a:r>
            <a:endParaRPr kumimoji="1" lang="en-US" altLang="ja-JP" dirty="0"/>
          </a:p>
          <a:p>
            <a:pPr lvl="2"/>
            <a:r>
              <a:rPr kumimoji="1" lang="ja-JP" altLang="en-US" dirty="0"/>
              <a:t>列方向の配線</a:t>
            </a:r>
            <a:endParaRPr kumimoji="1" lang="en-US" altLang="ja-JP" dirty="0"/>
          </a:p>
          <a:p>
            <a:pPr lvl="1"/>
            <a:r>
              <a:rPr kumimoji="1" lang="ja-JP" altLang="en-US" dirty="0"/>
              <a:t>ワードライン</a:t>
            </a:r>
            <a:r>
              <a:rPr lang="ja-JP" altLang="en-US" dirty="0"/>
              <a:t>：</a:t>
            </a:r>
            <a:endParaRPr kumimoji="1" lang="en-US" altLang="ja-JP" dirty="0"/>
          </a:p>
          <a:p>
            <a:pPr lvl="2"/>
            <a:r>
              <a:rPr kumimoji="1" lang="ja-JP" altLang="en-US" dirty="0"/>
              <a:t>行方向の配線</a:t>
            </a:r>
            <a:endParaRPr kumimoji="1" lang="en-US" altLang="ja-JP" dirty="0"/>
          </a:p>
          <a:p>
            <a:pPr lvl="1"/>
            <a:r>
              <a:rPr kumimoji="1" lang="ja-JP" altLang="en-US" dirty="0"/>
              <a:t>デコーダ</a:t>
            </a:r>
            <a:r>
              <a:rPr lang="ja-JP" altLang="en-US" dirty="0"/>
              <a:t>：</a:t>
            </a:r>
            <a:endParaRPr kumimoji="1" lang="en-US" altLang="ja-JP" dirty="0"/>
          </a:p>
          <a:p>
            <a:pPr lvl="2"/>
            <a:r>
              <a:rPr kumimoji="1" lang="ja-JP" altLang="en-US" dirty="0"/>
              <a:t>アドレスをデコードしてワードラインをアサート</a:t>
            </a:r>
            <a:endParaRPr kumimoji="1" lang="en-US" altLang="ja-JP" dirty="0"/>
          </a:p>
          <a:p>
            <a:pPr lvl="1"/>
            <a:r>
              <a:rPr kumimoji="1" lang="ja-JP" altLang="en-US" dirty="0"/>
              <a:t>カラム・セレクタ</a:t>
            </a:r>
            <a:r>
              <a:rPr lang="ja-JP" altLang="en-US" dirty="0"/>
              <a:t>：</a:t>
            </a:r>
            <a:endParaRPr kumimoji="1" lang="en-US" altLang="ja-JP" dirty="0"/>
          </a:p>
          <a:p>
            <a:pPr lvl="2"/>
            <a:r>
              <a:rPr kumimoji="1" lang="ja-JP" altLang="en-US" dirty="0"/>
              <a:t>ビットライン出力から１つを選んで出力</a:t>
            </a:r>
          </a:p>
        </p:txBody>
      </p:sp>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5" name="正方形/長方形 4"/>
          <p:cNvSpPr/>
          <p:nvPr/>
        </p:nvSpPr>
        <p:spPr>
          <a:xfrm>
            <a:off x="2411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6" name="正方形/長方形 5"/>
          <p:cNvSpPr/>
          <p:nvPr/>
        </p:nvSpPr>
        <p:spPr>
          <a:xfrm>
            <a:off x="322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7" name="正方形/長方形 6"/>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1601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10" name="正方形/長方形 9"/>
          <p:cNvSpPr/>
          <p:nvPr/>
        </p:nvSpPr>
        <p:spPr>
          <a:xfrm>
            <a:off x="2411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kumimoji="1" lang="ja-JP" altLang="en-US" sz="1600" dirty="0">
              <a:latin typeface="Arial Narrow" pitchFamily="34" charset="0"/>
            </a:endParaRPr>
          </a:p>
        </p:txBody>
      </p:sp>
      <p:sp>
        <p:nvSpPr>
          <p:cNvPr id="11" name="正方形/長方形 10"/>
          <p:cNvSpPr/>
          <p:nvPr/>
        </p:nvSpPr>
        <p:spPr>
          <a:xfrm>
            <a:off x="322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2" name="正方形/長方形 11"/>
          <p:cNvSpPr/>
          <p:nvPr/>
        </p:nvSpPr>
        <p:spPr>
          <a:xfrm>
            <a:off x="403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13" name="直線コネクタ 12"/>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1601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5" name="正方形/長方形 14"/>
          <p:cNvSpPr/>
          <p:nvPr/>
        </p:nvSpPr>
        <p:spPr>
          <a:xfrm>
            <a:off x="2411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6" name="正方形/長方形 15"/>
          <p:cNvSpPr/>
          <p:nvPr/>
        </p:nvSpPr>
        <p:spPr>
          <a:xfrm>
            <a:off x="322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7" name="正方形/長方形 16"/>
          <p:cNvSpPr/>
          <p:nvPr/>
        </p:nvSpPr>
        <p:spPr>
          <a:xfrm>
            <a:off x="403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1601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0" name="正方形/長方形 19"/>
          <p:cNvSpPr/>
          <p:nvPr/>
        </p:nvSpPr>
        <p:spPr>
          <a:xfrm>
            <a:off x="2411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1" name="正方形/長方形 20"/>
          <p:cNvSpPr/>
          <p:nvPr/>
        </p:nvSpPr>
        <p:spPr>
          <a:xfrm>
            <a:off x="322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2" name="正方形/長方形 21"/>
          <p:cNvSpPr/>
          <p:nvPr/>
        </p:nvSpPr>
        <p:spPr>
          <a:xfrm>
            <a:off x="403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cxnSp>
        <p:nvCxnSpPr>
          <p:cNvPr id="29" name="直線コネクタ 28"/>
          <p:cNvCxnSpPr/>
          <p:nvPr/>
        </p:nvCxnSpPr>
        <p:spPr>
          <a:xfrm flipV="1">
            <a:off x="3061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3942004" y="3248987"/>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lines</a:t>
            </a:r>
            <a:endParaRPr kumimoji="1" lang="ja-JP" altLang="en-US" sz="1600" dirty="0">
              <a:latin typeface="Arial Narrow" pitchFamily="34" charset="0"/>
            </a:endParaRPr>
          </a:p>
        </p:txBody>
      </p:sp>
      <p:sp>
        <p:nvSpPr>
          <p:cNvPr id="31" name="正方形/長方形 30"/>
          <p:cNvSpPr/>
          <p:nvPr/>
        </p:nvSpPr>
        <p:spPr>
          <a:xfrm>
            <a:off x="4211996" y="1358977"/>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cell</a:t>
            </a:r>
            <a:endParaRPr kumimoji="1" lang="ja-JP" altLang="en-US" sz="1600" dirty="0">
              <a:latin typeface="Arial Narrow" pitchFamily="34" charset="0"/>
            </a:endParaRPr>
          </a:p>
        </p:txBody>
      </p:sp>
      <p:sp>
        <p:nvSpPr>
          <p:cNvPr id="127" name="正方形/長方形 126"/>
          <p:cNvSpPr/>
          <p:nvPr/>
        </p:nvSpPr>
        <p:spPr>
          <a:xfrm>
            <a:off x="1871970" y="908972"/>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lines</a:t>
            </a:r>
            <a:endParaRPr kumimoji="1" lang="ja-JP" altLang="en-US" sz="1600" dirty="0">
              <a:latin typeface="Arial Narrow" pitchFamily="34" charset="0"/>
            </a:endParaRPr>
          </a:p>
        </p:txBody>
      </p:sp>
      <p:sp>
        <p:nvSpPr>
          <p:cNvPr id="129" name="台形 128"/>
          <p:cNvSpPr/>
          <p:nvPr/>
        </p:nvSpPr>
        <p:spPr>
          <a:xfrm rot="5400000" flipV="1">
            <a:off x="-468043" y="2978983"/>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sp>
        <p:nvSpPr>
          <p:cNvPr id="134" name="正方形/長方形 133"/>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kumimoji="1" lang="ja-JP" altLang="en-US" sz="1600" dirty="0">
              <a:latin typeface="Arial Narrow" pitchFamily="34" charset="0"/>
            </a:endParaRPr>
          </a:p>
        </p:txBody>
      </p:sp>
      <p:sp>
        <p:nvSpPr>
          <p:cNvPr id="135" name="正方形/長方形 134"/>
          <p:cNvSpPr/>
          <p:nvPr/>
        </p:nvSpPr>
        <p:spPr>
          <a:xfrm rot="16200000">
            <a:off x="-243043" y="2663980"/>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kumimoji="1" lang="ja-JP" altLang="en-US" sz="1600" dirty="0">
              <a:latin typeface="Arial Narrow" pitchFamily="34" charset="0"/>
            </a:endParaRPr>
          </a:p>
        </p:txBody>
      </p:sp>
      <p:cxnSp>
        <p:nvCxnSpPr>
          <p:cNvPr id="136" name="直線コネクタ 135"/>
          <p:cNvCxnSpPr/>
          <p:nvPr/>
        </p:nvCxnSpPr>
        <p:spPr>
          <a:xfrm flipV="1">
            <a:off x="71950"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08052" y="2618991"/>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address</a:t>
            </a:r>
            <a:endParaRPr kumimoji="1" lang="ja-JP" altLang="en-US" sz="1600" dirty="0">
              <a:latin typeface="Arial Narrow" pitchFamily="34" charset="0"/>
            </a:endParaRPr>
          </a:p>
        </p:txBody>
      </p:sp>
      <p:sp>
        <p:nvSpPr>
          <p:cNvPr id="139" name="正方形/長方形 138"/>
          <p:cNvSpPr/>
          <p:nvPr/>
        </p:nvSpPr>
        <p:spPr>
          <a:xfrm>
            <a:off x="1781969" y="5769026"/>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kumimoji="1" lang="ja-JP" altLang="en-US" sz="1600" dirty="0">
              <a:latin typeface="Arial Narrow" pitchFamily="34" charset="0"/>
            </a:endParaRPr>
          </a:p>
        </p:txBody>
      </p:sp>
    </p:spTree>
    <p:extLst>
      <p:ext uri="{BB962C8B-B14F-4D97-AF65-F5344CB8AC3E}">
        <p14:creationId xmlns:p14="http://schemas.microsoft.com/office/powerpoint/2010/main" val="40560205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メモリの読み出し操作</a:t>
            </a:r>
          </a:p>
        </p:txBody>
      </p:sp>
      <p:sp>
        <p:nvSpPr>
          <p:cNvPr id="3" name="テキスト プレースホルダー 2"/>
          <p:cNvSpPr>
            <a:spLocks noGrp="1"/>
          </p:cNvSpPr>
          <p:nvPr>
            <p:ph type="body" sz="quarter" idx="10"/>
          </p:nvPr>
        </p:nvSpPr>
        <p:spPr>
          <a:xfrm>
            <a:off x="4932004" y="1088974"/>
            <a:ext cx="3870042" cy="5309752"/>
          </a:xfrm>
        </p:spPr>
        <p:txBody>
          <a:bodyPr anchor="t"/>
          <a:lstStyle/>
          <a:p>
            <a:pPr marL="817200" lvl="1" indent="-457200">
              <a:buFont typeface="+mj-lt"/>
              <a:buAutoNum type="arabicPeriod"/>
            </a:pPr>
            <a:r>
              <a:rPr kumimoji="1" lang="ja-JP" altLang="en-US" dirty="0"/>
              <a:t>アドレスのデコード</a:t>
            </a:r>
            <a:endParaRPr kumimoji="1" lang="en-US" altLang="ja-JP" dirty="0"/>
          </a:p>
          <a:p>
            <a:pPr marL="817200" lvl="1" indent="-457200">
              <a:buFont typeface="+mj-lt"/>
              <a:buAutoNum type="arabicPeriod"/>
            </a:pPr>
            <a:r>
              <a:rPr kumimoji="1" lang="ja-JP" altLang="en-US" dirty="0"/>
              <a:t>ワードラインのアサート</a:t>
            </a:r>
            <a:br>
              <a:rPr kumimoji="1" lang="en-US" altLang="ja-JP" dirty="0"/>
            </a:br>
            <a:r>
              <a:rPr kumimoji="1" lang="ja-JP" altLang="en-US" dirty="0"/>
              <a:t>（行の指定）</a:t>
            </a:r>
            <a:endParaRPr kumimoji="1" lang="en-US" altLang="ja-JP" dirty="0"/>
          </a:p>
          <a:p>
            <a:pPr marL="817200" lvl="1" indent="-457200">
              <a:buFont typeface="+mj-lt"/>
              <a:buAutoNum type="arabicPeriod"/>
            </a:pPr>
            <a:r>
              <a:rPr kumimoji="1" lang="ja-JP" altLang="en-US" dirty="0"/>
              <a:t>ビットラインへの１行分のデータの読み出し</a:t>
            </a:r>
            <a:endParaRPr kumimoji="1" lang="en-US" altLang="ja-JP" dirty="0"/>
          </a:p>
          <a:p>
            <a:pPr marL="817200" lvl="1" indent="-457200">
              <a:buFont typeface="+mj-lt"/>
              <a:buAutoNum type="arabicPeriod"/>
            </a:pPr>
            <a:r>
              <a:rPr kumimoji="1" lang="ja-JP" altLang="en-US" dirty="0"/>
              <a:t>カラムセレクタによる</a:t>
            </a:r>
            <a:br>
              <a:rPr kumimoji="1" lang="en-US" altLang="ja-JP" dirty="0"/>
            </a:br>
            <a:r>
              <a:rPr kumimoji="1" lang="ja-JP" altLang="en-US" dirty="0"/>
              <a:t>目的のビットの選択</a:t>
            </a:r>
            <a:endParaRPr kumimoji="1" lang="en-US" altLang="ja-JP" dirty="0"/>
          </a:p>
          <a:p>
            <a:pPr marL="817200" lvl="1" indent="-457200">
              <a:buFont typeface="+mj-lt"/>
              <a:buAutoNum type="arabicPeriod"/>
            </a:pPr>
            <a:endParaRPr lang="en-US" altLang="ja-JP" dirty="0"/>
          </a:p>
          <a:p>
            <a:pPr lvl="1"/>
            <a:r>
              <a:rPr kumimoji="1" lang="ja-JP" altLang="en-US" dirty="0"/>
              <a:t>（書き込みはこれの逆を</a:t>
            </a:r>
            <a:br>
              <a:rPr kumimoji="1" lang="en-US" altLang="ja-JP" dirty="0"/>
            </a:br>
            <a:r>
              <a:rPr kumimoji="1" lang="ja-JP" altLang="en-US" dirty="0"/>
              <a:t>　行う</a:t>
            </a:r>
            <a:endParaRPr kumimoji="1" lang="en-US" altLang="ja-JP" dirty="0"/>
          </a:p>
          <a:p>
            <a:pPr lvl="1"/>
            <a:endParaRPr kumimoji="1" lang="ja-JP" altLang="en-US" dirty="0"/>
          </a:p>
        </p:txBody>
      </p:sp>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5" name="正方形/長方形 4"/>
          <p:cNvSpPr/>
          <p:nvPr/>
        </p:nvSpPr>
        <p:spPr>
          <a:xfrm>
            <a:off x="2411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6" name="正方形/長方形 5"/>
          <p:cNvSpPr/>
          <p:nvPr/>
        </p:nvSpPr>
        <p:spPr>
          <a:xfrm>
            <a:off x="322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7" name="正方形/長方形 6"/>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1601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10" name="正方形/長方形 9"/>
          <p:cNvSpPr/>
          <p:nvPr/>
        </p:nvSpPr>
        <p:spPr>
          <a:xfrm>
            <a:off x="2411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kumimoji="1" lang="ja-JP" altLang="en-US" sz="1600" dirty="0">
              <a:latin typeface="Arial Narrow" pitchFamily="34" charset="0"/>
            </a:endParaRPr>
          </a:p>
        </p:txBody>
      </p:sp>
      <p:sp>
        <p:nvSpPr>
          <p:cNvPr id="11" name="正方形/長方形 10"/>
          <p:cNvSpPr/>
          <p:nvPr/>
        </p:nvSpPr>
        <p:spPr>
          <a:xfrm>
            <a:off x="322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2" name="正方形/長方形 11"/>
          <p:cNvSpPr/>
          <p:nvPr/>
        </p:nvSpPr>
        <p:spPr>
          <a:xfrm>
            <a:off x="403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13" name="直線コネクタ 12"/>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1601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5" name="正方形/長方形 14"/>
          <p:cNvSpPr/>
          <p:nvPr/>
        </p:nvSpPr>
        <p:spPr>
          <a:xfrm>
            <a:off x="2411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6" name="正方形/長方形 15"/>
          <p:cNvSpPr/>
          <p:nvPr/>
        </p:nvSpPr>
        <p:spPr>
          <a:xfrm>
            <a:off x="322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7" name="正方形/長方形 16"/>
          <p:cNvSpPr/>
          <p:nvPr/>
        </p:nvSpPr>
        <p:spPr>
          <a:xfrm>
            <a:off x="403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1601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0" name="正方形/長方形 19"/>
          <p:cNvSpPr/>
          <p:nvPr/>
        </p:nvSpPr>
        <p:spPr>
          <a:xfrm>
            <a:off x="2411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1" name="正方形/長方形 20"/>
          <p:cNvSpPr/>
          <p:nvPr/>
        </p:nvSpPr>
        <p:spPr>
          <a:xfrm>
            <a:off x="322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2" name="正方形/長方形 21"/>
          <p:cNvSpPr/>
          <p:nvPr/>
        </p:nvSpPr>
        <p:spPr>
          <a:xfrm>
            <a:off x="403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cxnSp>
        <p:nvCxnSpPr>
          <p:cNvPr id="29" name="直線コネクタ 28"/>
          <p:cNvCxnSpPr/>
          <p:nvPr/>
        </p:nvCxnSpPr>
        <p:spPr>
          <a:xfrm flipV="1">
            <a:off x="3061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3942004" y="3248987"/>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lines</a:t>
            </a:r>
            <a:endParaRPr kumimoji="1" lang="ja-JP" altLang="en-US" sz="1600" dirty="0">
              <a:latin typeface="Arial Narrow" pitchFamily="34" charset="0"/>
            </a:endParaRPr>
          </a:p>
        </p:txBody>
      </p:sp>
      <p:sp>
        <p:nvSpPr>
          <p:cNvPr id="31" name="正方形/長方形 30"/>
          <p:cNvSpPr/>
          <p:nvPr/>
        </p:nvSpPr>
        <p:spPr>
          <a:xfrm>
            <a:off x="4211996" y="1358977"/>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cell</a:t>
            </a:r>
            <a:endParaRPr kumimoji="1" lang="ja-JP" altLang="en-US" sz="1600" dirty="0">
              <a:latin typeface="Arial Narrow" pitchFamily="34" charset="0"/>
            </a:endParaRPr>
          </a:p>
        </p:txBody>
      </p:sp>
      <p:sp>
        <p:nvSpPr>
          <p:cNvPr id="127" name="正方形/長方形 126"/>
          <p:cNvSpPr/>
          <p:nvPr/>
        </p:nvSpPr>
        <p:spPr>
          <a:xfrm>
            <a:off x="1871970" y="908972"/>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lines</a:t>
            </a:r>
            <a:endParaRPr kumimoji="1" lang="ja-JP" altLang="en-US" sz="1600" dirty="0">
              <a:latin typeface="Arial Narrow" pitchFamily="34" charset="0"/>
            </a:endParaRPr>
          </a:p>
        </p:txBody>
      </p:sp>
      <p:sp>
        <p:nvSpPr>
          <p:cNvPr id="129" name="台形 128"/>
          <p:cNvSpPr/>
          <p:nvPr/>
        </p:nvSpPr>
        <p:spPr>
          <a:xfrm rot="5400000" flipV="1">
            <a:off x="-468043" y="2978983"/>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sp>
        <p:nvSpPr>
          <p:cNvPr id="134" name="正方形/長方形 133"/>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kumimoji="1" lang="ja-JP" altLang="en-US" sz="1600" dirty="0">
              <a:latin typeface="Arial Narrow" pitchFamily="34" charset="0"/>
            </a:endParaRPr>
          </a:p>
        </p:txBody>
      </p:sp>
      <p:sp>
        <p:nvSpPr>
          <p:cNvPr id="135" name="正方形/長方形 134"/>
          <p:cNvSpPr/>
          <p:nvPr/>
        </p:nvSpPr>
        <p:spPr>
          <a:xfrm rot="16200000">
            <a:off x="-243043" y="2663980"/>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kumimoji="1" lang="ja-JP" altLang="en-US" sz="1600" dirty="0">
              <a:latin typeface="Arial Narrow" pitchFamily="34" charset="0"/>
            </a:endParaRPr>
          </a:p>
        </p:txBody>
      </p:sp>
      <p:cxnSp>
        <p:nvCxnSpPr>
          <p:cNvPr id="136" name="直線コネクタ 135"/>
          <p:cNvCxnSpPr/>
          <p:nvPr/>
        </p:nvCxnSpPr>
        <p:spPr>
          <a:xfrm flipV="1">
            <a:off x="71950"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08052" y="2618991"/>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address</a:t>
            </a:r>
            <a:endParaRPr kumimoji="1" lang="ja-JP" altLang="en-US" sz="1600" dirty="0">
              <a:latin typeface="Arial Narrow" pitchFamily="34" charset="0"/>
            </a:endParaRPr>
          </a:p>
        </p:txBody>
      </p:sp>
      <p:sp>
        <p:nvSpPr>
          <p:cNvPr id="139" name="正方形/長方形 138"/>
          <p:cNvSpPr/>
          <p:nvPr/>
        </p:nvSpPr>
        <p:spPr>
          <a:xfrm>
            <a:off x="1781969" y="5769026"/>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kumimoji="1" lang="ja-JP" altLang="en-US" sz="1600" dirty="0">
              <a:latin typeface="Arial Narrow" pitchFamily="34" charset="0"/>
            </a:endParaRPr>
          </a:p>
        </p:txBody>
      </p:sp>
    </p:spTree>
    <p:extLst>
      <p:ext uri="{BB962C8B-B14F-4D97-AF65-F5344CB8AC3E}">
        <p14:creationId xmlns:p14="http://schemas.microsoft.com/office/powerpoint/2010/main" val="40513129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メモリの読み出し動作の例</a:t>
            </a:r>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5022005" y="1088974"/>
                <a:ext cx="3870042" cy="5309752"/>
              </a:xfrm>
            </p:spPr>
            <p:txBody>
              <a:bodyPr anchor="t"/>
              <a:lstStyle/>
              <a:p>
                <a:r>
                  <a:rPr kumimoji="1" lang="ja-JP" altLang="en-US" dirty="0"/>
                  <a:t>要素数 </a:t>
                </a:r>
                <a14:m>
                  <m:oMath xmlns:m="http://schemas.openxmlformats.org/officeDocument/2006/math">
                    <m:sSup>
                      <m:sSupPr>
                        <m:ctrlPr>
                          <a:rPr kumimoji="1" lang="en-US" altLang="ja-JP" i="1" dirty="0" smtClean="0">
                            <a:latin typeface="Cambria Math" panose="02040503050406030204" pitchFamily="18" charset="0"/>
                          </a:rPr>
                        </m:ctrlPr>
                      </m:sSupPr>
                      <m:e>
                        <m:r>
                          <a:rPr kumimoji="1" lang="en-US" altLang="ja-JP" b="0" i="1" dirty="0" smtClean="0">
                            <a:latin typeface="Cambria Math" panose="02040503050406030204" pitchFamily="18" charset="0"/>
                          </a:rPr>
                          <m:t>16=</m:t>
                        </m:r>
                        <m:r>
                          <a:rPr kumimoji="1" lang="en-US" altLang="ja-JP" i="1" dirty="0" smtClean="0">
                            <a:latin typeface="Cambria Math" panose="02040503050406030204" pitchFamily="18" charset="0"/>
                          </a:rPr>
                          <m:t>2</m:t>
                        </m:r>
                      </m:e>
                      <m:sup>
                        <m:r>
                          <a:rPr kumimoji="1" lang="en-US" altLang="ja-JP" i="1" dirty="0" smtClean="0">
                            <a:latin typeface="Cambria Math" panose="02040503050406030204" pitchFamily="18" charset="0"/>
                          </a:rPr>
                          <m:t>4</m:t>
                        </m:r>
                      </m:sup>
                    </m:sSup>
                  </m:oMath>
                </a14:m>
                <a:endParaRPr kumimoji="1" lang="en-US" altLang="ja-JP" dirty="0"/>
              </a:p>
              <a:p>
                <a:pPr lvl="1"/>
                <a:r>
                  <a:rPr kumimoji="1" lang="ja-JP" altLang="en-US" dirty="0"/>
                  <a:t>アドレスは</a:t>
                </a:r>
                <a:r>
                  <a:rPr kumimoji="1" lang="en-US" altLang="ja-JP" dirty="0"/>
                  <a:t>4</a:t>
                </a:r>
                <a:r>
                  <a:rPr kumimoji="1" lang="ja-JP" altLang="en-US" dirty="0"/>
                  <a:t>ビット</a:t>
                </a:r>
                <a:endParaRPr kumimoji="1" lang="en-US" altLang="ja-JP" dirty="0"/>
              </a:p>
              <a:p>
                <a:pPr lvl="1"/>
                <a:r>
                  <a:rPr kumimoji="1" lang="ja-JP" altLang="en-US" dirty="0"/>
                  <a:t>各セルの右上の数字が</a:t>
                </a:r>
                <a:br>
                  <a:rPr kumimoji="1" lang="en-US" altLang="ja-JP" dirty="0"/>
                </a:br>
                <a:r>
                  <a:rPr kumimoji="1" lang="ja-JP" altLang="en-US" dirty="0"/>
                  <a:t>アドレス</a:t>
                </a:r>
                <a:endParaRPr kumimoji="1" lang="en-US" altLang="ja-JP" dirty="0"/>
              </a:p>
              <a:p>
                <a:r>
                  <a:rPr kumimoji="1" lang="ja-JP" altLang="en-US" dirty="0"/>
                  <a:t>このメモリの読み出し操作を例として説明</a:t>
                </a:r>
                <a:endParaRPr kumimoji="1" lang="en-US" altLang="ja-JP" dirty="0"/>
              </a:p>
              <a:p>
                <a:pPr lvl="1"/>
                <a:r>
                  <a:rPr kumimoji="1" lang="ja-JP" altLang="en-US" dirty="0"/>
                  <a:t>アドレス６のセルを</a:t>
                </a:r>
                <a:br>
                  <a:rPr kumimoji="1" lang="en-US" altLang="ja-JP" dirty="0"/>
                </a:br>
                <a:r>
                  <a:rPr kumimoji="1" lang="ja-JP" altLang="en-US" dirty="0"/>
                  <a:t>読み出す</a:t>
                </a:r>
                <a:endParaRPr kumimoji="1" lang="en-US" altLang="ja-JP" dirty="0"/>
              </a:p>
              <a:p>
                <a:endParaRPr kumimoji="1" lang="en-US" altLang="ja-JP" dirty="0"/>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5022005" y="1088974"/>
                <a:ext cx="3870042" cy="5309752"/>
              </a:xfrm>
              <a:blipFill rotWithShape="0">
                <a:blip r:embed="rId2"/>
                <a:stretch>
                  <a:fillRect l="-1417" t="-344" r="-1417"/>
                </a:stretch>
              </a:blipFill>
            </p:spPr>
            <p:txBody>
              <a:bodyPr/>
              <a:lstStyle/>
              <a:p>
                <a:r>
                  <a:rPr lang="ja-JP" altLang="en-US">
                    <a:noFill/>
                  </a:rPr>
                  <a:t> </a:t>
                </a:r>
              </a:p>
            </p:txBody>
          </p:sp>
        </mc:Fallback>
      </mc:AlternateContent>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5" name="正方形/長方形 4"/>
          <p:cNvSpPr/>
          <p:nvPr/>
        </p:nvSpPr>
        <p:spPr>
          <a:xfrm>
            <a:off x="2411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6" name="正方形/長方形 5"/>
          <p:cNvSpPr/>
          <p:nvPr/>
        </p:nvSpPr>
        <p:spPr>
          <a:xfrm>
            <a:off x="322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7" name="正方形/長方形 6"/>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1601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10" name="正方形/長方形 9"/>
          <p:cNvSpPr/>
          <p:nvPr/>
        </p:nvSpPr>
        <p:spPr>
          <a:xfrm>
            <a:off x="2411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kumimoji="1" lang="ja-JP" altLang="en-US" sz="1600" dirty="0">
              <a:latin typeface="Arial Narrow" pitchFamily="34" charset="0"/>
            </a:endParaRPr>
          </a:p>
        </p:txBody>
      </p:sp>
      <p:sp>
        <p:nvSpPr>
          <p:cNvPr id="11" name="正方形/長方形 10"/>
          <p:cNvSpPr/>
          <p:nvPr/>
        </p:nvSpPr>
        <p:spPr>
          <a:xfrm>
            <a:off x="3221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2" name="正方形/長方形 11"/>
          <p:cNvSpPr/>
          <p:nvPr/>
        </p:nvSpPr>
        <p:spPr>
          <a:xfrm>
            <a:off x="403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13" name="直線コネクタ 12"/>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1601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5" name="正方形/長方形 14"/>
          <p:cNvSpPr/>
          <p:nvPr/>
        </p:nvSpPr>
        <p:spPr>
          <a:xfrm>
            <a:off x="2411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6" name="正方形/長方形 15"/>
          <p:cNvSpPr/>
          <p:nvPr/>
        </p:nvSpPr>
        <p:spPr>
          <a:xfrm>
            <a:off x="322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7" name="正方形/長方形 16"/>
          <p:cNvSpPr/>
          <p:nvPr/>
        </p:nvSpPr>
        <p:spPr>
          <a:xfrm>
            <a:off x="403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1601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0" name="正方形/長方形 19"/>
          <p:cNvSpPr/>
          <p:nvPr/>
        </p:nvSpPr>
        <p:spPr>
          <a:xfrm>
            <a:off x="2411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1" name="正方形/長方形 20"/>
          <p:cNvSpPr/>
          <p:nvPr/>
        </p:nvSpPr>
        <p:spPr>
          <a:xfrm>
            <a:off x="322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2" name="正方形/長方形 21"/>
          <p:cNvSpPr/>
          <p:nvPr/>
        </p:nvSpPr>
        <p:spPr>
          <a:xfrm>
            <a:off x="403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cxnSp>
        <p:nvCxnSpPr>
          <p:cNvPr id="29" name="直線コネクタ 28"/>
          <p:cNvCxnSpPr/>
          <p:nvPr/>
        </p:nvCxnSpPr>
        <p:spPr>
          <a:xfrm flipV="1">
            <a:off x="3061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3942004" y="3248987"/>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lines</a:t>
            </a:r>
            <a:endParaRPr kumimoji="1" lang="ja-JP" altLang="en-US" sz="1600" dirty="0">
              <a:latin typeface="Arial Narrow" pitchFamily="34" charset="0"/>
            </a:endParaRPr>
          </a:p>
        </p:txBody>
      </p:sp>
      <p:sp>
        <p:nvSpPr>
          <p:cNvPr id="31" name="正方形/長方形 30"/>
          <p:cNvSpPr/>
          <p:nvPr/>
        </p:nvSpPr>
        <p:spPr>
          <a:xfrm>
            <a:off x="4211996" y="1358977"/>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cell</a:t>
            </a:r>
            <a:endParaRPr kumimoji="1" lang="ja-JP" altLang="en-US" sz="1600" dirty="0">
              <a:latin typeface="Arial Narrow" pitchFamily="34" charset="0"/>
            </a:endParaRPr>
          </a:p>
        </p:txBody>
      </p:sp>
      <p:sp>
        <p:nvSpPr>
          <p:cNvPr id="127" name="正方形/長方形 126"/>
          <p:cNvSpPr/>
          <p:nvPr/>
        </p:nvSpPr>
        <p:spPr>
          <a:xfrm>
            <a:off x="1871970" y="908972"/>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lines</a:t>
            </a:r>
            <a:endParaRPr kumimoji="1" lang="ja-JP" altLang="en-US" sz="1600" dirty="0">
              <a:latin typeface="Arial Narrow" pitchFamily="34" charset="0"/>
            </a:endParaRPr>
          </a:p>
        </p:txBody>
      </p:sp>
      <p:sp>
        <p:nvSpPr>
          <p:cNvPr id="129" name="台形 128"/>
          <p:cNvSpPr/>
          <p:nvPr/>
        </p:nvSpPr>
        <p:spPr>
          <a:xfrm rot="5400000" flipV="1">
            <a:off x="-468043" y="2978983"/>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sp>
        <p:nvSpPr>
          <p:cNvPr id="134" name="正方形/長方形 133"/>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kumimoji="1" lang="ja-JP" altLang="en-US" sz="1600" dirty="0">
              <a:latin typeface="Arial Narrow" pitchFamily="34" charset="0"/>
            </a:endParaRPr>
          </a:p>
        </p:txBody>
      </p:sp>
      <p:sp>
        <p:nvSpPr>
          <p:cNvPr id="135" name="正方形/長方形 134"/>
          <p:cNvSpPr/>
          <p:nvPr/>
        </p:nvSpPr>
        <p:spPr>
          <a:xfrm rot="16200000">
            <a:off x="-243043" y="2663980"/>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kumimoji="1" lang="ja-JP" altLang="en-US" sz="1600" dirty="0">
              <a:latin typeface="Arial Narrow" pitchFamily="34" charset="0"/>
            </a:endParaRPr>
          </a:p>
        </p:txBody>
      </p:sp>
      <p:cxnSp>
        <p:nvCxnSpPr>
          <p:cNvPr id="136" name="直線コネクタ 135"/>
          <p:cNvCxnSpPr/>
          <p:nvPr/>
        </p:nvCxnSpPr>
        <p:spPr>
          <a:xfrm flipV="1">
            <a:off x="71950"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08052" y="2618991"/>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address</a:t>
            </a:r>
            <a:endParaRPr kumimoji="1" lang="ja-JP" altLang="en-US" sz="1600" dirty="0">
              <a:latin typeface="Arial Narrow" pitchFamily="34" charset="0"/>
            </a:endParaRPr>
          </a:p>
        </p:txBody>
      </p:sp>
      <p:sp>
        <p:nvSpPr>
          <p:cNvPr id="139" name="正方形/長方形 138"/>
          <p:cNvSpPr/>
          <p:nvPr/>
        </p:nvSpPr>
        <p:spPr>
          <a:xfrm>
            <a:off x="1781969" y="5769026"/>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kumimoji="1" lang="ja-JP" altLang="en-US" sz="1600" dirty="0">
              <a:latin typeface="Arial Narrow" pitchFamily="34" charset="0"/>
            </a:endParaRPr>
          </a:p>
        </p:txBody>
      </p:sp>
      <p:sp>
        <p:nvSpPr>
          <p:cNvPr id="39" name="正方形/長方形 38"/>
          <p:cNvSpPr/>
          <p:nvPr/>
        </p:nvSpPr>
        <p:spPr>
          <a:xfrm>
            <a:off x="1871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０</a:t>
            </a:r>
            <a:endParaRPr kumimoji="1" lang="ja-JP" altLang="en-US" b="1" dirty="0">
              <a:solidFill>
                <a:schemeClr val="accent5"/>
              </a:solidFill>
              <a:latin typeface="Arial Narrow" pitchFamily="34" charset="0"/>
            </a:endParaRPr>
          </a:p>
        </p:txBody>
      </p:sp>
      <p:sp>
        <p:nvSpPr>
          <p:cNvPr id="40" name="正方形/長方形 39"/>
          <p:cNvSpPr/>
          <p:nvPr/>
        </p:nvSpPr>
        <p:spPr>
          <a:xfrm>
            <a:off x="2681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１</a:t>
            </a:r>
            <a:endParaRPr kumimoji="1" lang="ja-JP" altLang="en-US" b="1" dirty="0">
              <a:solidFill>
                <a:schemeClr val="accent5"/>
              </a:solidFill>
              <a:latin typeface="Arial Narrow" pitchFamily="34" charset="0"/>
            </a:endParaRPr>
          </a:p>
        </p:txBody>
      </p:sp>
      <p:sp>
        <p:nvSpPr>
          <p:cNvPr id="41" name="正方形/長方形 40"/>
          <p:cNvSpPr/>
          <p:nvPr/>
        </p:nvSpPr>
        <p:spPr>
          <a:xfrm>
            <a:off x="3491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２</a:t>
            </a:r>
            <a:endParaRPr kumimoji="1" lang="ja-JP" altLang="en-US" b="1" dirty="0">
              <a:solidFill>
                <a:schemeClr val="accent5"/>
              </a:solidFill>
              <a:latin typeface="Arial Narrow" pitchFamily="34" charset="0"/>
            </a:endParaRPr>
          </a:p>
        </p:txBody>
      </p:sp>
      <p:sp>
        <p:nvSpPr>
          <p:cNvPr id="42" name="正方形/長方形 41"/>
          <p:cNvSpPr/>
          <p:nvPr/>
        </p:nvSpPr>
        <p:spPr>
          <a:xfrm>
            <a:off x="4301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３</a:t>
            </a:r>
            <a:endParaRPr kumimoji="1" lang="ja-JP" altLang="en-US" b="1" dirty="0">
              <a:solidFill>
                <a:schemeClr val="accent5"/>
              </a:solidFill>
              <a:latin typeface="Arial Narrow" pitchFamily="34" charset="0"/>
            </a:endParaRPr>
          </a:p>
        </p:txBody>
      </p:sp>
      <p:sp>
        <p:nvSpPr>
          <p:cNvPr id="43" name="正方形/長方形 42"/>
          <p:cNvSpPr/>
          <p:nvPr/>
        </p:nvSpPr>
        <p:spPr>
          <a:xfrm>
            <a:off x="1871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４</a:t>
            </a:r>
            <a:endParaRPr kumimoji="1" lang="ja-JP" altLang="en-US" b="1" dirty="0">
              <a:solidFill>
                <a:schemeClr val="accent5"/>
              </a:solidFill>
              <a:latin typeface="Arial Narrow" pitchFamily="34" charset="0"/>
            </a:endParaRPr>
          </a:p>
        </p:txBody>
      </p:sp>
      <p:sp>
        <p:nvSpPr>
          <p:cNvPr id="44" name="正方形/長方形 43"/>
          <p:cNvSpPr/>
          <p:nvPr/>
        </p:nvSpPr>
        <p:spPr>
          <a:xfrm>
            <a:off x="2681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５</a:t>
            </a:r>
            <a:endParaRPr kumimoji="1" lang="ja-JP" altLang="en-US" b="1" dirty="0">
              <a:solidFill>
                <a:schemeClr val="accent5"/>
              </a:solidFill>
              <a:latin typeface="Arial Narrow" pitchFamily="34" charset="0"/>
            </a:endParaRPr>
          </a:p>
        </p:txBody>
      </p:sp>
      <p:sp>
        <p:nvSpPr>
          <p:cNvPr id="45" name="正方形/長方形 44"/>
          <p:cNvSpPr/>
          <p:nvPr/>
        </p:nvSpPr>
        <p:spPr>
          <a:xfrm>
            <a:off x="3491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６</a:t>
            </a:r>
            <a:endParaRPr kumimoji="1" lang="ja-JP" altLang="en-US" b="1" dirty="0">
              <a:solidFill>
                <a:schemeClr val="accent5"/>
              </a:solidFill>
              <a:latin typeface="Arial Narrow" pitchFamily="34" charset="0"/>
            </a:endParaRPr>
          </a:p>
        </p:txBody>
      </p:sp>
      <p:sp>
        <p:nvSpPr>
          <p:cNvPr id="46" name="正方形/長方形 45"/>
          <p:cNvSpPr/>
          <p:nvPr/>
        </p:nvSpPr>
        <p:spPr>
          <a:xfrm>
            <a:off x="4301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７</a:t>
            </a:r>
            <a:endParaRPr kumimoji="1" lang="ja-JP" altLang="en-US" b="1" dirty="0">
              <a:solidFill>
                <a:schemeClr val="accent5"/>
              </a:solidFill>
              <a:latin typeface="Arial Narrow" pitchFamily="34" charset="0"/>
            </a:endParaRPr>
          </a:p>
        </p:txBody>
      </p:sp>
      <p:sp>
        <p:nvSpPr>
          <p:cNvPr id="47" name="正方形/長方形 46"/>
          <p:cNvSpPr/>
          <p:nvPr/>
        </p:nvSpPr>
        <p:spPr>
          <a:xfrm>
            <a:off x="1871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８</a:t>
            </a:r>
            <a:endParaRPr kumimoji="1" lang="ja-JP" altLang="en-US" b="1" dirty="0">
              <a:solidFill>
                <a:schemeClr val="accent5"/>
              </a:solidFill>
              <a:latin typeface="Arial Narrow" pitchFamily="34" charset="0"/>
            </a:endParaRPr>
          </a:p>
        </p:txBody>
      </p:sp>
      <p:sp>
        <p:nvSpPr>
          <p:cNvPr id="48" name="正方形/長方形 47"/>
          <p:cNvSpPr/>
          <p:nvPr/>
        </p:nvSpPr>
        <p:spPr>
          <a:xfrm>
            <a:off x="2681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ja-JP" altLang="en-US" b="1" dirty="0">
                <a:solidFill>
                  <a:schemeClr val="accent5"/>
                </a:solidFill>
                <a:latin typeface="Arial Narrow" pitchFamily="34" charset="0"/>
              </a:rPr>
              <a:t>９</a:t>
            </a:r>
          </a:p>
        </p:txBody>
      </p:sp>
      <p:sp>
        <p:nvSpPr>
          <p:cNvPr id="49" name="正方形/長方形 48"/>
          <p:cNvSpPr/>
          <p:nvPr/>
        </p:nvSpPr>
        <p:spPr>
          <a:xfrm>
            <a:off x="3491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１０</a:t>
            </a:r>
            <a:endParaRPr kumimoji="1" lang="ja-JP" altLang="en-US" b="1" dirty="0">
              <a:solidFill>
                <a:schemeClr val="accent5"/>
              </a:solidFill>
              <a:latin typeface="Arial Narrow" pitchFamily="34" charset="0"/>
            </a:endParaRPr>
          </a:p>
        </p:txBody>
      </p:sp>
      <p:sp>
        <p:nvSpPr>
          <p:cNvPr id="50" name="正方形/長方形 49"/>
          <p:cNvSpPr/>
          <p:nvPr/>
        </p:nvSpPr>
        <p:spPr>
          <a:xfrm>
            <a:off x="4301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１１</a:t>
            </a:r>
            <a:endParaRPr kumimoji="1" lang="ja-JP" altLang="en-US" b="1" dirty="0">
              <a:solidFill>
                <a:schemeClr val="accent5"/>
              </a:solidFill>
              <a:latin typeface="Arial Narrow" pitchFamily="34" charset="0"/>
            </a:endParaRPr>
          </a:p>
        </p:txBody>
      </p:sp>
      <p:sp>
        <p:nvSpPr>
          <p:cNvPr id="51" name="正方形/長方形 50"/>
          <p:cNvSpPr/>
          <p:nvPr/>
        </p:nvSpPr>
        <p:spPr>
          <a:xfrm>
            <a:off x="1871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１２</a:t>
            </a:r>
            <a:endParaRPr kumimoji="1" lang="ja-JP" altLang="en-US" b="1" dirty="0">
              <a:solidFill>
                <a:schemeClr val="accent5"/>
              </a:solidFill>
              <a:latin typeface="Arial Narrow" pitchFamily="34" charset="0"/>
            </a:endParaRPr>
          </a:p>
        </p:txBody>
      </p:sp>
      <p:sp>
        <p:nvSpPr>
          <p:cNvPr id="52" name="正方形/長方形 51"/>
          <p:cNvSpPr/>
          <p:nvPr/>
        </p:nvSpPr>
        <p:spPr>
          <a:xfrm>
            <a:off x="2681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１３</a:t>
            </a:r>
            <a:endParaRPr kumimoji="1" lang="ja-JP" altLang="en-US" b="1" dirty="0">
              <a:solidFill>
                <a:schemeClr val="accent5"/>
              </a:solidFill>
              <a:latin typeface="Arial Narrow" pitchFamily="34" charset="0"/>
            </a:endParaRPr>
          </a:p>
        </p:txBody>
      </p:sp>
      <p:sp>
        <p:nvSpPr>
          <p:cNvPr id="53" name="正方形/長方形 52"/>
          <p:cNvSpPr/>
          <p:nvPr/>
        </p:nvSpPr>
        <p:spPr>
          <a:xfrm>
            <a:off x="3491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１４</a:t>
            </a:r>
            <a:endParaRPr kumimoji="1" lang="ja-JP" altLang="en-US" b="1" dirty="0">
              <a:solidFill>
                <a:schemeClr val="accent5"/>
              </a:solidFill>
              <a:latin typeface="Arial Narrow" pitchFamily="34" charset="0"/>
            </a:endParaRPr>
          </a:p>
        </p:txBody>
      </p:sp>
      <p:sp>
        <p:nvSpPr>
          <p:cNvPr id="54" name="正方形/長方形 53"/>
          <p:cNvSpPr/>
          <p:nvPr/>
        </p:nvSpPr>
        <p:spPr>
          <a:xfrm>
            <a:off x="4301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１５</a:t>
            </a:r>
            <a:endParaRPr kumimoji="1" lang="ja-JP" altLang="en-US" b="1" dirty="0">
              <a:solidFill>
                <a:schemeClr val="accent5"/>
              </a:solidFill>
              <a:latin typeface="Arial Narrow" pitchFamily="34" charset="0"/>
            </a:endParaRPr>
          </a:p>
        </p:txBody>
      </p:sp>
    </p:spTree>
    <p:extLst>
      <p:ext uri="{BB962C8B-B14F-4D97-AF65-F5344CB8AC3E}">
        <p14:creationId xmlns:p14="http://schemas.microsoft.com/office/powerpoint/2010/main" val="1059392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メモリの読み出し動作（１）</a:t>
            </a:r>
            <a:br>
              <a:rPr lang="en-US" altLang="ja-JP" dirty="0"/>
            </a:br>
            <a:r>
              <a:rPr lang="ja-JP" altLang="en-US" dirty="0"/>
              <a:t>アドレスのデコード</a:t>
            </a:r>
            <a:endParaRPr kumimoji="1" lang="ja-JP" altLang="en-US" dirty="0"/>
          </a:p>
        </p:txBody>
      </p:sp>
      <p:sp>
        <p:nvSpPr>
          <p:cNvPr id="3" name="テキスト プレースホルダー 2"/>
          <p:cNvSpPr>
            <a:spLocks noGrp="1"/>
          </p:cNvSpPr>
          <p:nvPr>
            <p:ph type="body" sz="quarter" idx="10"/>
          </p:nvPr>
        </p:nvSpPr>
        <p:spPr>
          <a:xfrm>
            <a:off x="5022004" y="1088974"/>
            <a:ext cx="4121995" cy="5309752"/>
          </a:xfrm>
        </p:spPr>
        <p:txBody>
          <a:bodyPr anchor="t"/>
          <a:lstStyle/>
          <a:p>
            <a:r>
              <a:rPr kumimoji="1" lang="ja-JP" altLang="en-US" dirty="0"/>
              <a:t>どの行を読むか決める</a:t>
            </a:r>
            <a:endParaRPr kumimoji="1" lang="en-US" altLang="ja-JP" dirty="0"/>
          </a:p>
          <a:p>
            <a:pPr lvl="1"/>
            <a:r>
              <a:rPr kumimoji="1" lang="ja-JP" altLang="en-US" dirty="0"/>
              <a:t>各行は４つセルがある</a:t>
            </a:r>
            <a:endParaRPr kumimoji="1" lang="en-US" altLang="ja-JP" dirty="0"/>
          </a:p>
          <a:p>
            <a:pPr lvl="1"/>
            <a:r>
              <a:rPr kumimoji="1" lang="ja-JP" altLang="en-US" dirty="0"/>
              <a:t>アドレスを４で割って</a:t>
            </a:r>
            <a:br>
              <a:rPr kumimoji="1" lang="en-US" altLang="ja-JP" dirty="0"/>
            </a:br>
            <a:r>
              <a:rPr kumimoji="1" lang="ja-JP" altLang="en-US" dirty="0"/>
              <a:t>切り捨てた行目が</a:t>
            </a:r>
            <a:br>
              <a:rPr kumimoji="1" lang="en-US" altLang="ja-JP" dirty="0"/>
            </a:br>
            <a:r>
              <a:rPr kumimoji="1" lang="ja-JP" altLang="en-US" dirty="0"/>
              <a:t>読むべき場所</a:t>
            </a:r>
            <a:endParaRPr kumimoji="1" lang="en-US" altLang="ja-JP" dirty="0"/>
          </a:p>
          <a:p>
            <a:pPr lvl="1"/>
            <a:r>
              <a:rPr kumimoji="1" lang="ja-JP" altLang="en-US" dirty="0"/>
              <a:t>６</a:t>
            </a:r>
            <a:r>
              <a:rPr kumimoji="1" lang="en-US" altLang="ja-JP" dirty="0"/>
              <a:t>=</a:t>
            </a:r>
            <a:r>
              <a:rPr kumimoji="1" lang="en-US" altLang="ja-JP" dirty="0">
                <a:solidFill>
                  <a:schemeClr val="accent5"/>
                </a:solidFill>
              </a:rPr>
              <a:t>01</a:t>
            </a:r>
            <a:r>
              <a:rPr kumimoji="1" lang="en-US" altLang="ja-JP" dirty="0"/>
              <a:t>10</a:t>
            </a:r>
            <a:r>
              <a:rPr kumimoji="1" lang="ja-JP" altLang="en-US" dirty="0"/>
              <a:t>（２進数）</a:t>
            </a:r>
            <a:endParaRPr kumimoji="1" lang="en-US" altLang="ja-JP" dirty="0"/>
          </a:p>
          <a:p>
            <a:r>
              <a:rPr kumimoji="1" lang="ja-JP" altLang="en-US" dirty="0"/>
              <a:t>デコーダ</a:t>
            </a:r>
            <a:endParaRPr kumimoji="1" lang="en-US" altLang="ja-JP" dirty="0"/>
          </a:p>
          <a:p>
            <a:pPr lvl="1"/>
            <a:r>
              <a:rPr kumimoji="1" lang="ja-JP" altLang="en-US" dirty="0"/>
              <a:t>数字を対応するワンホット信号に変換する回路</a:t>
            </a:r>
            <a:endParaRPr kumimoji="1" lang="en-US" altLang="ja-JP" dirty="0"/>
          </a:p>
          <a:p>
            <a:pPr lvl="1"/>
            <a:r>
              <a:rPr kumimoji="1" lang="ja-JP" altLang="en-US" dirty="0"/>
              <a:t>ワンホット信号：</a:t>
            </a:r>
            <a:endParaRPr lang="en-US" altLang="ja-JP" dirty="0"/>
          </a:p>
          <a:p>
            <a:pPr lvl="2"/>
            <a:r>
              <a:rPr kumimoji="1" lang="en-US" altLang="ja-JP" dirty="0"/>
              <a:t>n </a:t>
            </a:r>
            <a:r>
              <a:rPr kumimoji="1" lang="ja-JP" altLang="en-US" dirty="0"/>
              <a:t>本のうち，１つだけが１で他が０の信号</a:t>
            </a:r>
            <a:endParaRPr kumimoji="1" lang="en-US" altLang="ja-JP" dirty="0"/>
          </a:p>
          <a:p>
            <a:pPr lvl="1"/>
            <a:r>
              <a:rPr kumimoji="1" lang="ja-JP" altLang="en-US" dirty="0"/>
              <a:t>アドレス上位の２ビットを</a:t>
            </a:r>
            <a:br>
              <a:rPr kumimoji="1" lang="en-US" altLang="ja-JP" dirty="0"/>
            </a:br>
            <a:r>
              <a:rPr kumimoji="1" lang="ja-JP" altLang="en-US" dirty="0"/>
              <a:t>デコード</a:t>
            </a:r>
            <a:endParaRPr kumimoji="1" lang="en-US" altLang="ja-JP" dirty="0"/>
          </a:p>
        </p:txBody>
      </p:sp>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5" name="正方形/長方形 4"/>
          <p:cNvSpPr/>
          <p:nvPr/>
        </p:nvSpPr>
        <p:spPr>
          <a:xfrm>
            <a:off x="2411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6" name="正方形/長方形 5"/>
          <p:cNvSpPr/>
          <p:nvPr/>
        </p:nvSpPr>
        <p:spPr>
          <a:xfrm>
            <a:off x="322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7" name="正方形/長方形 6"/>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1601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10" name="正方形/長方形 9"/>
          <p:cNvSpPr/>
          <p:nvPr/>
        </p:nvSpPr>
        <p:spPr>
          <a:xfrm>
            <a:off x="2411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kumimoji="1" lang="ja-JP" altLang="en-US" sz="1600" dirty="0">
              <a:latin typeface="Arial Narrow" pitchFamily="34" charset="0"/>
            </a:endParaRPr>
          </a:p>
        </p:txBody>
      </p:sp>
      <p:sp>
        <p:nvSpPr>
          <p:cNvPr id="11" name="正方形/長方形 10"/>
          <p:cNvSpPr/>
          <p:nvPr/>
        </p:nvSpPr>
        <p:spPr>
          <a:xfrm>
            <a:off x="3221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2" name="正方形/長方形 11"/>
          <p:cNvSpPr/>
          <p:nvPr/>
        </p:nvSpPr>
        <p:spPr>
          <a:xfrm>
            <a:off x="403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13" name="直線コネクタ 12"/>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1601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5" name="正方形/長方形 14"/>
          <p:cNvSpPr/>
          <p:nvPr/>
        </p:nvSpPr>
        <p:spPr>
          <a:xfrm>
            <a:off x="2411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6" name="正方形/長方形 15"/>
          <p:cNvSpPr/>
          <p:nvPr/>
        </p:nvSpPr>
        <p:spPr>
          <a:xfrm>
            <a:off x="322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7" name="正方形/長方形 16"/>
          <p:cNvSpPr/>
          <p:nvPr/>
        </p:nvSpPr>
        <p:spPr>
          <a:xfrm>
            <a:off x="403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1601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0" name="正方形/長方形 19"/>
          <p:cNvSpPr/>
          <p:nvPr/>
        </p:nvSpPr>
        <p:spPr>
          <a:xfrm>
            <a:off x="2411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1" name="正方形/長方形 20"/>
          <p:cNvSpPr/>
          <p:nvPr/>
        </p:nvSpPr>
        <p:spPr>
          <a:xfrm>
            <a:off x="322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2" name="正方形/長方形 21"/>
          <p:cNvSpPr/>
          <p:nvPr/>
        </p:nvSpPr>
        <p:spPr>
          <a:xfrm>
            <a:off x="403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cxnSp>
        <p:nvCxnSpPr>
          <p:cNvPr id="29" name="直線コネクタ 28"/>
          <p:cNvCxnSpPr/>
          <p:nvPr/>
        </p:nvCxnSpPr>
        <p:spPr>
          <a:xfrm flipV="1">
            <a:off x="3061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3942004" y="3248987"/>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lines</a:t>
            </a:r>
            <a:endParaRPr kumimoji="1" lang="ja-JP" altLang="en-US" sz="1600" dirty="0">
              <a:latin typeface="Arial Narrow" pitchFamily="34" charset="0"/>
            </a:endParaRPr>
          </a:p>
        </p:txBody>
      </p:sp>
      <p:sp>
        <p:nvSpPr>
          <p:cNvPr id="31" name="正方形/長方形 30"/>
          <p:cNvSpPr/>
          <p:nvPr/>
        </p:nvSpPr>
        <p:spPr>
          <a:xfrm>
            <a:off x="4211996" y="1358977"/>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400" dirty="0">
                <a:latin typeface="Arial Narrow" pitchFamily="34" charset="0"/>
              </a:rPr>
              <a:t>cell</a:t>
            </a:r>
            <a:endParaRPr kumimoji="1" lang="ja-JP" altLang="en-US" sz="1400" dirty="0">
              <a:latin typeface="Arial Narrow" pitchFamily="34" charset="0"/>
            </a:endParaRPr>
          </a:p>
        </p:txBody>
      </p:sp>
      <p:sp>
        <p:nvSpPr>
          <p:cNvPr id="127" name="正方形/長方形 126"/>
          <p:cNvSpPr/>
          <p:nvPr/>
        </p:nvSpPr>
        <p:spPr>
          <a:xfrm>
            <a:off x="1871970" y="908972"/>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lines</a:t>
            </a:r>
            <a:endParaRPr kumimoji="1" lang="ja-JP" altLang="en-US" sz="1600" dirty="0">
              <a:latin typeface="Arial Narrow" pitchFamily="34" charset="0"/>
            </a:endParaRPr>
          </a:p>
        </p:txBody>
      </p:sp>
      <p:sp>
        <p:nvSpPr>
          <p:cNvPr id="129" name="台形 128"/>
          <p:cNvSpPr/>
          <p:nvPr/>
        </p:nvSpPr>
        <p:spPr>
          <a:xfrm rot="5400000" flipV="1">
            <a:off x="-468043" y="2978983"/>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sp>
        <p:nvSpPr>
          <p:cNvPr id="134" name="正方形/長方形 133"/>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kumimoji="1" lang="ja-JP" altLang="en-US" sz="1600" dirty="0">
              <a:latin typeface="Arial Narrow" pitchFamily="34" charset="0"/>
            </a:endParaRPr>
          </a:p>
        </p:txBody>
      </p:sp>
      <p:sp>
        <p:nvSpPr>
          <p:cNvPr id="135" name="正方形/長方形 134"/>
          <p:cNvSpPr/>
          <p:nvPr/>
        </p:nvSpPr>
        <p:spPr>
          <a:xfrm rot="16200000">
            <a:off x="-243043" y="2663980"/>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kumimoji="1" lang="ja-JP" altLang="en-US" sz="1600" dirty="0">
              <a:latin typeface="Arial Narrow" pitchFamily="34" charset="0"/>
            </a:endParaRPr>
          </a:p>
        </p:txBody>
      </p:sp>
      <p:cxnSp>
        <p:nvCxnSpPr>
          <p:cNvPr id="136" name="直線コネクタ 135"/>
          <p:cNvCxnSpPr/>
          <p:nvPr/>
        </p:nvCxnSpPr>
        <p:spPr>
          <a:xfrm flipV="1">
            <a:off x="71950"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08052" y="2618991"/>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latin typeface="Arial Narrow" pitchFamily="34" charset="0"/>
              </a:rPr>
              <a:t>６</a:t>
            </a:r>
            <a:endParaRPr kumimoji="1" lang="ja-JP" altLang="en-US" sz="1600" dirty="0">
              <a:latin typeface="Arial Narrow" pitchFamily="34" charset="0"/>
            </a:endParaRPr>
          </a:p>
        </p:txBody>
      </p:sp>
      <p:sp>
        <p:nvSpPr>
          <p:cNvPr id="139" name="正方形/長方形 138"/>
          <p:cNvSpPr/>
          <p:nvPr/>
        </p:nvSpPr>
        <p:spPr>
          <a:xfrm>
            <a:off x="1781969" y="5769026"/>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kumimoji="1" lang="ja-JP" altLang="en-US" sz="1600" dirty="0">
              <a:latin typeface="Arial Narrow" pitchFamily="34" charset="0"/>
            </a:endParaRPr>
          </a:p>
        </p:txBody>
      </p:sp>
      <p:sp>
        <p:nvSpPr>
          <p:cNvPr id="39" name="正方形/長方形 38"/>
          <p:cNvSpPr/>
          <p:nvPr/>
        </p:nvSpPr>
        <p:spPr>
          <a:xfrm>
            <a:off x="1871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０</a:t>
            </a:r>
            <a:endParaRPr kumimoji="1" lang="ja-JP" altLang="en-US" sz="1600" dirty="0">
              <a:solidFill>
                <a:schemeClr val="accent5"/>
              </a:solidFill>
              <a:latin typeface="Arial Narrow" pitchFamily="34" charset="0"/>
            </a:endParaRPr>
          </a:p>
        </p:txBody>
      </p:sp>
      <p:sp>
        <p:nvSpPr>
          <p:cNvPr id="40" name="正方形/長方形 39"/>
          <p:cNvSpPr/>
          <p:nvPr/>
        </p:nvSpPr>
        <p:spPr>
          <a:xfrm>
            <a:off x="2681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１</a:t>
            </a:r>
            <a:endParaRPr kumimoji="1" lang="ja-JP" altLang="en-US" sz="1600" dirty="0">
              <a:solidFill>
                <a:schemeClr val="accent5"/>
              </a:solidFill>
              <a:latin typeface="Arial Narrow" pitchFamily="34" charset="0"/>
            </a:endParaRPr>
          </a:p>
        </p:txBody>
      </p:sp>
      <p:sp>
        <p:nvSpPr>
          <p:cNvPr id="41" name="正方形/長方形 40"/>
          <p:cNvSpPr/>
          <p:nvPr/>
        </p:nvSpPr>
        <p:spPr>
          <a:xfrm>
            <a:off x="3491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２</a:t>
            </a:r>
            <a:endParaRPr kumimoji="1" lang="ja-JP" altLang="en-US" sz="1600" dirty="0">
              <a:solidFill>
                <a:schemeClr val="accent5"/>
              </a:solidFill>
              <a:latin typeface="Arial Narrow" pitchFamily="34" charset="0"/>
            </a:endParaRPr>
          </a:p>
        </p:txBody>
      </p:sp>
      <p:sp>
        <p:nvSpPr>
          <p:cNvPr id="42" name="正方形/長方形 41"/>
          <p:cNvSpPr/>
          <p:nvPr/>
        </p:nvSpPr>
        <p:spPr>
          <a:xfrm>
            <a:off x="4301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３</a:t>
            </a:r>
            <a:endParaRPr kumimoji="1" lang="ja-JP" altLang="en-US" sz="1600" dirty="0">
              <a:solidFill>
                <a:schemeClr val="accent5"/>
              </a:solidFill>
              <a:latin typeface="Arial Narrow" pitchFamily="34" charset="0"/>
            </a:endParaRPr>
          </a:p>
        </p:txBody>
      </p:sp>
      <p:sp>
        <p:nvSpPr>
          <p:cNvPr id="43" name="正方形/長方形 42"/>
          <p:cNvSpPr/>
          <p:nvPr/>
        </p:nvSpPr>
        <p:spPr>
          <a:xfrm>
            <a:off x="1871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４</a:t>
            </a:r>
            <a:endParaRPr kumimoji="1" lang="ja-JP" altLang="en-US" sz="1600" dirty="0">
              <a:solidFill>
                <a:schemeClr val="accent5"/>
              </a:solidFill>
              <a:latin typeface="Arial Narrow" pitchFamily="34" charset="0"/>
            </a:endParaRPr>
          </a:p>
        </p:txBody>
      </p:sp>
      <p:sp>
        <p:nvSpPr>
          <p:cNvPr id="44" name="正方形/長方形 43"/>
          <p:cNvSpPr/>
          <p:nvPr/>
        </p:nvSpPr>
        <p:spPr>
          <a:xfrm>
            <a:off x="2681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５</a:t>
            </a:r>
            <a:endParaRPr kumimoji="1" lang="ja-JP" altLang="en-US" sz="1600" dirty="0">
              <a:solidFill>
                <a:schemeClr val="accent5"/>
              </a:solidFill>
              <a:latin typeface="Arial Narrow" pitchFamily="34" charset="0"/>
            </a:endParaRPr>
          </a:p>
        </p:txBody>
      </p:sp>
      <p:sp>
        <p:nvSpPr>
          <p:cNvPr id="45" name="正方形/長方形 44"/>
          <p:cNvSpPr/>
          <p:nvPr/>
        </p:nvSpPr>
        <p:spPr>
          <a:xfrm>
            <a:off x="3491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６</a:t>
            </a:r>
            <a:endParaRPr kumimoji="1" lang="ja-JP" altLang="en-US" sz="1600" dirty="0">
              <a:solidFill>
                <a:schemeClr val="accent5"/>
              </a:solidFill>
              <a:latin typeface="Arial Narrow" pitchFamily="34" charset="0"/>
            </a:endParaRPr>
          </a:p>
        </p:txBody>
      </p:sp>
      <p:sp>
        <p:nvSpPr>
          <p:cNvPr id="46" name="正方形/長方形 45"/>
          <p:cNvSpPr/>
          <p:nvPr/>
        </p:nvSpPr>
        <p:spPr>
          <a:xfrm>
            <a:off x="4301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７</a:t>
            </a:r>
            <a:endParaRPr kumimoji="1" lang="ja-JP" altLang="en-US" sz="1600" dirty="0">
              <a:solidFill>
                <a:schemeClr val="accent5"/>
              </a:solidFill>
              <a:latin typeface="Arial Narrow" pitchFamily="34" charset="0"/>
            </a:endParaRPr>
          </a:p>
        </p:txBody>
      </p:sp>
      <p:sp>
        <p:nvSpPr>
          <p:cNvPr id="47" name="正方形/長方形 46"/>
          <p:cNvSpPr/>
          <p:nvPr/>
        </p:nvSpPr>
        <p:spPr>
          <a:xfrm>
            <a:off x="1871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８</a:t>
            </a:r>
            <a:endParaRPr kumimoji="1" lang="ja-JP" altLang="en-US" sz="1600" dirty="0">
              <a:solidFill>
                <a:schemeClr val="accent5"/>
              </a:solidFill>
              <a:latin typeface="Arial Narrow" pitchFamily="34" charset="0"/>
            </a:endParaRPr>
          </a:p>
        </p:txBody>
      </p:sp>
      <p:sp>
        <p:nvSpPr>
          <p:cNvPr id="48" name="正方形/長方形 47"/>
          <p:cNvSpPr/>
          <p:nvPr/>
        </p:nvSpPr>
        <p:spPr>
          <a:xfrm>
            <a:off x="2681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ja-JP" altLang="en-US" sz="1600" dirty="0">
                <a:solidFill>
                  <a:schemeClr val="accent5"/>
                </a:solidFill>
                <a:latin typeface="Arial Narrow" pitchFamily="34" charset="0"/>
              </a:rPr>
              <a:t>９</a:t>
            </a:r>
          </a:p>
        </p:txBody>
      </p:sp>
      <p:sp>
        <p:nvSpPr>
          <p:cNvPr id="49" name="正方形/長方形 48"/>
          <p:cNvSpPr/>
          <p:nvPr/>
        </p:nvSpPr>
        <p:spPr>
          <a:xfrm>
            <a:off x="3491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１０</a:t>
            </a:r>
            <a:endParaRPr kumimoji="1" lang="ja-JP" altLang="en-US" sz="1600" dirty="0">
              <a:solidFill>
                <a:schemeClr val="accent5"/>
              </a:solidFill>
              <a:latin typeface="Arial Narrow" pitchFamily="34" charset="0"/>
            </a:endParaRPr>
          </a:p>
        </p:txBody>
      </p:sp>
      <p:sp>
        <p:nvSpPr>
          <p:cNvPr id="50" name="正方形/長方形 49"/>
          <p:cNvSpPr/>
          <p:nvPr/>
        </p:nvSpPr>
        <p:spPr>
          <a:xfrm>
            <a:off x="4301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１１</a:t>
            </a:r>
            <a:endParaRPr kumimoji="1" lang="ja-JP" altLang="en-US" sz="1600" dirty="0">
              <a:solidFill>
                <a:schemeClr val="accent5"/>
              </a:solidFill>
              <a:latin typeface="Arial Narrow" pitchFamily="34" charset="0"/>
            </a:endParaRPr>
          </a:p>
        </p:txBody>
      </p:sp>
      <p:sp>
        <p:nvSpPr>
          <p:cNvPr id="51" name="正方形/長方形 50"/>
          <p:cNvSpPr/>
          <p:nvPr/>
        </p:nvSpPr>
        <p:spPr>
          <a:xfrm>
            <a:off x="1871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１２</a:t>
            </a:r>
            <a:endParaRPr kumimoji="1" lang="ja-JP" altLang="en-US" sz="1600" dirty="0">
              <a:solidFill>
                <a:schemeClr val="accent5"/>
              </a:solidFill>
              <a:latin typeface="Arial Narrow" pitchFamily="34" charset="0"/>
            </a:endParaRPr>
          </a:p>
        </p:txBody>
      </p:sp>
      <p:sp>
        <p:nvSpPr>
          <p:cNvPr id="52" name="正方形/長方形 51"/>
          <p:cNvSpPr/>
          <p:nvPr/>
        </p:nvSpPr>
        <p:spPr>
          <a:xfrm>
            <a:off x="2681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１３</a:t>
            </a:r>
            <a:endParaRPr kumimoji="1" lang="ja-JP" altLang="en-US" sz="1600" dirty="0">
              <a:solidFill>
                <a:schemeClr val="accent5"/>
              </a:solidFill>
              <a:latin typeface="Arial Narrow" pitchFamily="34" charset="0"/>
            </a:endParaRPr>
          </a:p>
        </p:txBody>
      </p:sp>
      <p:sp>
        <p:nvSpPr>
          <p:cNvPr id="53" name="正方形/長方形 52"/>
          <p:cNvSpPr/>
          <p:nvPr/>
        </p:nvSpPr>
        <p:spPr>
          <a:xfrm>
            <a:off x="3491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１４</a:t>
            </a:r>
            <a:endParaRPr kumimoji="1" lang="ja-JP" altLang="en-US" sz="1600" dirty="0">
              <a:solidFill>
                <a:schemeClr val="accent5"/>
              </a:solidFill>
              <a:latin typeface="Arial Narrow" pitchFamily="34" charset="0"/>
            </a:endParaRPr>
          </a:p>
        </p:txBody>
      </p:sp>
      <p:sp>
        <p:nvSpPr>
          <p:cNvPr id="54" name="正方形/長方形 53"/>
          <p:cNvSpPr/>
          <p:nvPr/>
        </p:nvSpPr>
        <p:spPr>
          <a:xfrm>
            <a:off x="4301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１５</a:t>
            </a:r>
            <a:endParaRPr kumimoji="1" lang="ja-JP" altLang="en-US" sz="1600" dirty="0">
              <a:solidFill>
                <a:schemeClr val="accent5"/>
              </a:solidFill>
              <a:latin typeface="Arial Narrow" pitchFamily="34" charset="0"/>
            </a:endParaRPr>
          </a:p>
        </p:txBody>
      </p:sp>
    </p:spTree>
    <p:extLst>
      <p:ext uri="{BB962C8B-B14F-4D97-AF65-F5344CB8AC3E}">
        <p14:creationId xmlns:p14="http://schemas.microsoft.com/office/powerpoint/2010/main" val="30923493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メモリの読み出し動作（２）</a:t>
            </a:r>
            <a:br>
              <a:rPr lang="en-US" altLang="ja-JP" dirty="0"/>
            </a:br>
            <a:r>
              <a:rPr lang="ja-JP" altLang="en-US" dirty="0"/>
              <a:t>ワードラインのアサート</a:t>
            </a:r>
            <a:endParaRPr kumimoji="1" lang="ja-JP" altLang="en-US" dirty="0"/>
          </a:p>
        </p:txBody>
      </p:sp>
      <p:sp>
        <p:nvSpPr>
          <p:cNvPr id="3" name="テキスト プレースホルダー 2"/>
          <p:cNvSpPr>
            <a:spLocks noGrp="1"/>
          </p:cNvSpPr>
          <p:nvPr>
            <p:ph type="body" sz="quarter" idx="10"/>
          </p:nvPr>
        </p:nvSpPr>
        <p:spPr>
          <a:xfrm>
            <a:off x="5022005" y="1088974"/>
            <a:ext cx="3870042" cy="5309752"/>
          </a:xfrm>
        </p:spPr>
        <p:txBody>
          <a:bodyPr anchor="t"/>
          <a:lstStyle/>
          <a:p>
            <a:r>
              <a:rPr kumimoji="1" lang="ja-JP" altLang="en-US" dirty="0"/>
              <a:t>読み出す行に対応した</a:t>
            </a:r>
            <a:br>
              <a:rPr kumimoji="1" lang="en-US" altLang="ja-JP" dirty="0"/>
            </a:br>
            <a:r>
              <a:rPr kumimoji="1" lang="ja-JP" altLang="en-US" dirty="0"/>
              <a:t>ワードラインをアサート</a:t>
            </a:r>
            <a:endParaRPr kumimoji="1" lang="en-US" altLang="ja-JP" dirty="0"/>
          </a:p>
          <a:p>
            <a:pPr lvl="1"/>
            <a:r>
              <a:rPr lang="ja-JP" altLang="en-US" dirty="0"/>
              <a:t>先ほどのデコード結果を使う</a:t>
            </a:r>
            <a:br>
              <a:rPr lang="en-US" altLang="ja-JP" dirty="0"/>
            </a:br>
            <a:endParaRPr kumimoji="1" lang="en-US" altLang="ja-JP" dirty="0"/>
          </a:p>
          <a:p>
            <a:endParaRPr kumimoji="1" lang="en-US" altLang="ja-JP" dirty="0"/>
          </a:p>
        </p:txBody>
      </p:sp>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5" name="正方形/長方形 4"/>
          <p:cNvSpPr/>
          <p:nvPr/>
        </p:nvSpPr>
        <p:spPr>
          <a:xfrm>
            <a:off x="2411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6" name="正方形/長方形 5"/>
          <p:cNvSpPr/>
          <p:nvPr/>
        </p:nvSpPr>
        <p:spPr>
          <a:xfrm>
            <a:off x="322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7" name="正方形/長方形 6"/>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1601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10" name="正方形/長方形 9"/>
          <p:cNvSpPr/>
          <p:nvPr/>
        </p:nvSpPr>
        <p:spPr>
          <a:xfrm>
            <a:off x="2411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kumimoji="1" lang="ja-JP" altLang="en-US" sz="1600" dirty="0">
              <a:latin typeface="Arial Narrow" pitchFamily="34" charset="0"/>
            </a:endParaRPr>
          </a:p>
        </p:txBody>
      </p:sp>
      <p:sp>
        <p:nvSpPr>
          <p:cNvPr id="11" name="正方形/長方形 10"/>
          <p:cNvSpPr/>
          <p:nvPr/>
        </p:nvSpPr>
        <p:spPr>
          <a:xfrm>
            <a:off x="3221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2" name="正方形/長方形 11"/>
          <p:cNvSpPr/>
          <p:nvPr/>
        </p:nvSpPr>
        <p:spPr>
          <a:xfrm>
            <a:off x="403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13" name="直線コネクタ 12"/>
          <p:cNvCxnSpPr/>
          <p:nvPr/>
        </p:nvCxnSpPr>
        <p:spPr>
          <a:xfrm flipV="1">
            <a:off x="1151962" y="2708977"/>
            <a:ext cx="3690029" cy="15"/>
          </a:xfrm>
          <a:prstGeom prst="line">
            <a:avLst/>
          </a:prstGeom>
          <a:ln>
            <a:tailEnd type="triangle"/>
          </a:ln>
        </p:spPr>
        <p:style>
          <a:lnRef idx="3">
            <a:schemeClr val="accent6"/>
          </a:lnRef>
          <a:fillRef idx="0">
            <a:schemeClr val="accent6"/>
          </a:fillRef>
          <a:effectRef idx="2">
            <a:schemeClr val="accent6"/>
          </a:effectRef>
          <a:fontRef idx="minor">
            <a:schemeClr val="tx1"/>
          </a:fontRef>
        </p:style>
      </p:cxnSp>
      <p:sp>
        <p:nvSpPr>
          <p:cNvPr id="14" name="正方形/長方形 13"/>
          <p:cNvSpPr/>
          <p:nvPr/>
        </p:nvSpPr>
        <p:spPr>
          <a:xfrm>
            <a:off x="1601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5" name="正方形/長方形 14"/>
          <p:cNvSpPr/>
          <p:nvPr/>
        </p:nvSpPr>
        <p:spPr>
          <a:xfrm>
            <a:off x="2411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6" name="正方形/長方形 15"/>
          <p:cNvSpPr/>
          <p:nvPr/>
        </p:nvSpPr>
        <p:spPr>
          <a:xfrm>
            <a:off x="322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7" name="正方形/長方形 16"/>
          <p:cNvSpPr/>
          <p:nvPr/>
        </p:nvSpPr>
        <p:spPr>
          <a:xfrm>
            <a:off x="403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1601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0" name="正方形/長方形 19"/>
          <p:cNvSpPr/>
          <p:nvPr/>
        </p:nvSpPr>
        <p:spPr>
          <a:xfrm>
            <a:off x="2411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1" name="正方形/長方形 20"/>
          <p:cNvSpPr/>
          <p:nvPr/>
        </p:nvSpPr>
        <p:spPr>
          <a:xfrm>
            <a:off x="322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2" name="正方形/長方形 21"/>
          <p:cNvSpPr/>
          <p:nvPr/>
        </p:nvSpPr>
        <p:spPr>
          <a:xfrm>
            <a:off x="403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cxnSp>
        <p:nvCxnSpPr>
          <p:cNvPr id="29" name="直線コネクタ 28"/>
          <p:cNvCxnSpPr/>
          <p:nvPr/>
        </p:nvCxnSpPr>
        <p:spPr>
          <a:xfrm flipV="1">
            <a:off x="3061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3942004" y="3248987"/>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lines</a:t>
            </a:r>
            <a:endParaRPr kumimoji="1" lang="ja-JP" altLang="en-US" sz="1600" dirty="0">
              <a:latin typeface="Arial Narrow" pitchFamily="34" charset="0"/>
            </a:endParaRPr>
          </a:p>
        </p:txBody>
      </p:sp>
      <p:sp>
        <p:nvSpPr>
          <p:cNvPr id="31" name="正方形/長方形 30"/>
          <p:cNvSpPr/>
          <p:nvPr/>
        </p:nvSpPr>
        <p:spPr>
          <a:xfrm>
            <a:off x="4211996" y="1358977"/>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400" dirty="0">
                <a:latin typeface="Arial Narrow" pitchFamily="34" charset="0"/>
              </a:rPr>
              <a:t>cell</a:t>
            </a:r>
            <a:endParaRPr kumimoji="1" lang="ja-JP" altLang="en-US" sz="1400" dirty="0">
              <a:latin typeface="Arial Narrow" pitchFamily="34" charset="0"/>
            </a:endParaRPr>
          </a:p>
        </p:txBody>
      </p:sp>
      <p:sp>
        <p:nvSpPr>
          <p:cNvPr id="127" name="正方形/長方形 126"/>
          <p:cNvSpPr/>
          <p:nvPr/>
        </p:nvSpPr>
        <p:spPr>
          <a:xfrm>
            <a:off x="1871970" y="908972"/>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lines</a:t>
            </a:r>
            <a:endParaRPr kumimoji="1" lang="ja-JP" altLang="en-US" sz="1600" dirty="0">
              <a:latin typeface="Arial Narrow" pitchFamily="34" charset="0"/>
            </a:endParaRPr>
          </a:p>
        </p:txBody>
      </p:sp>
      <p:sp>
        <p:nvSpPr>
          <p:cNvPr id="129" name="台形 128"/>
          <p:cNvSpPr/>
          <p:nvPr/>
        </p:nvSpPr>
        <p:spPr>
          <a:xfrm rot="5400000" flipV="1">
            <a:off x="-468043" y="2978983"/>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sp>
        <p:nvSpPr>
          <p:cNvPr id="134" name="正方形/長方形 133"/>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kumimoji="1" lang="ja-JP" altLang="en-US" sz="1600" dirty="0">
              <a:latin typeface="Arial Narrow" pitchFamily="34" charset="0"/>
            </a:endParaRPr>
          </a:p>
        </p:txBody>
      </p:sp>
      <p:sp>
        <p:nvSpPr>
          <p:cNvPr id="135" name="正方形/長方形 134"/>
          <p:cNvSpPr/>
          <p:nvPr/>
        </p:nvSpPr>
        <p:spPr>
          <a:xfrm rot="16200000">
            <a:off x="-243043" y="2663980"/>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kumimoji="1" lang="ja-JP" altLang="en-US" sz="1600" dirty="0">
              <a:latin typeface="Arial Narrow" pitchFamily="34" charset="0"/>
            </a:endParaRPr>
          </a:p>
        </p:txBody>
      </p:sp>
      <p:cxnSp>
        <p:nvCxnSpPr>
          <p:cNvPr id="136" name="直線コネクタ 135"/>
          <p:cNvCxnSpPr/>
          <p:nvPr/>
        </p:nvCxnSpPr>
        <p:spPr>
          <a:xfrm flipV="1">
            <a:off x="71950"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08052" y="2618991"/>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latin typeface="Arial Narrow" pitchFamily="34" charset="0"/>
              </a:rPr>
              <a:t>６</a:t>
            </a:r>
            <a:endParaRPr kumimoji="1" lang="ja-JP" altLang="en-US" sz="1600" dirty="0">
              <a:latin typeface="Arial Narrow" pitchFamily="34" charset="0"/>
            </a:endParaRPr>
          </a:p>
        </p:txBody>
      </p:sp>
      <p:sp>
        <p:nvSpPr>
          <p:cNvPr id="139" name="正方形/長方形 138"/>
          <p:cNvSpPr/>
          <p:nvPr/>
        </p:nvSpPr>
        <p:spPr>
          <a:xfrm>
            <a:off x="1781969" y="5769026"/>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kumimoji="1" lang="ja-JP" altLang="en-US" sz="1600" dirty="0">
              <a:latin typeface="Arial Narrow" pitchFamily="34" charset="0"/>
            </a:endParaRPr>
          </a:p>
        </p:txBody>
      </p:sp>
      <p:sp>
        <p:nvSpPr>
          <p:cNvPr id="39" name="正方形/長方形 38"/>
          <p:cNvSpPr/>
          <p:nvPr/>
        </p:nvSpPr>
        <p:spPr>
          <a:xfrm>
            <a:off x="1871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０</a:t>
            </a:r>
            <a:endParaRPr kumimoji="1" lang="ja-JP" altLang="en-US" sz="1600" dirty="0">
              <a:solidFill>
                <a:schemeClr val="accent5"/>
              </a:solidFill>
              <a:latin typeface="Arial Narrow" pitchFamily="34" charset="0"/>
            </a:endParaRPr>
          </a:p>
        </p:txBody>
      </p:sp>
      <p:sp>
        <p:nvSpPr>
          <p:cNvPr id="40" name="正方形/長方形 39"/>
          <p:cNvSpPr/>
          <p:nvPr/>
        </p:nvSpPr>
        <p:spPr>
          <a:xfrm>
            <a:off x="2681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１</a:t>
            </a:r>
            <a:endParaRPr kumimoji="1" lang="ja-JP" altLang="en-US" sz="1600" dirty="0">
              <a:solidFill>
                <a:schemeClr val="accent5"/>
              </a:solidFill>
              <a:latin typeface="Arial Narrow" pitchFamily="34" charset="0"/>
            </a:endParaRPr>
          </a:p>
        </p:txBody>
      </p:sp>
      <p:sp>
        <p:nvSpPr>
          <p:cNvPr id="41" name="正方形/長方形 40"/>
          <p:cNvSpPr/>
          <p:nvPr/>
        </p:nvSpPr>
        <p:spPr>
          <a:xfrm>
            <a:off x="3491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２</a:t>
            </a:r>
            <a:endParaRPr kumimoji="1" lang="ja-JP" altLang="en-US" sz="1600" dirty="0">
              <a:solidFill>
                <a:schemeClr val="accent5"/>
              </a:solidFill>
              <a:latin typeface="Arial Narrow" pitchFamily="34" charset="0"/>
            </a:endParaRPr>
          </a:p>
        </p:txBody>
      </p:sp>
      <p:sp>
        <p:nvSpPr>
          <p:cNvPr id="42" name="正方形/長方形 41"/>
          <p:cNvSpPr/>
          <p:nvPr/>
        </p:nvSpPr>
        <p:spPr>
          <a:xfrm>
            <a:off x="4301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３</a:t>
            </a:r>
            <a:endParaRPr kumimoji="1" lang="ja-JP" altLang="en-US" sz="1600" dirty="0">
              <a:solidFill>
                <a:schemeClr val="accent5"/>
              </a:solidFill>
              <a:latin typeface="Arial Narrow" pitchFamily="34" charset="0"/>
            </a:endParaRPr>
          </a:p>
        </p:txBody>
      </p:sp>
      <p:sp>
        <p:nvSpPr>
          <p:cNvPr id="43" name="正方形/長方形 42"/>
          <p:cNvSpPr/>
          <p:nvPr/>
        </p:nvSpPr>
        <p:spPr>
          <a:xfrm>
            <a:off x="1871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４</a:t>
            </a:r>
            <a:endParaRPr kumimoji="1" lang="ja-JP" altLang="en-US" sz="1600" dirty="0">
              <a:solidFill>
                <a:schemeClr val="accent5"/>
              </a:solidFill>
              <a:latin typeface="Arial Narrow" pitchFamily="34" charset="0"/>
            </a:endParaRPr>
          </a:p>
        </p:txBody>
      </p:sp>
      <p:sp>
        <p:nvSpPr>
          <p:cNvPr id="44" name="正方形/長方形 43"/>
          <p:cNvSpPr/>
          <p:nvPr/>
        </p:nvSpPr>
        <p:spPr>
          <a:xfrm>
            <a:off x="2681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５</a:t>
            </a:r>
            <a:endParaRPr kumimoji="1" lang="ja-JP" altLang="en-US" sz="1600" dirty="0">
              <a:solidFill>
                <a:schemeClr val="accent5"/>
              </a:solidFill>
              <a:latin typeface="Arial Narrow" pitchFamily="34" charset="0"/>
            </a:endParaRPr>
          </a:p>
        </p:txBody>
      </p:sp>
      <p:sp>
        <p:nvSpPr>
          <p:cNvPr id="45" name="正方形/長方形 44"/>
          <p:cNvSpPr/>
          <p:nvPr/>
        </p:nvSpPr>
        <p:spPr>
          <a:xfrm>
            <a:off x="3491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６</a:t>
            </a:r>
            <a:endParaRPr kumimoji="1" lang="ja-JP" altLang="en-US" sz="1600" dirty="0">
              <a:solidFill>
                <a:schemeClr val="accent5"/>
              </a:solidFill>
              <a:latin typeface="Arial Narrow" pitchFamily="34" charset="0"/>
            </a:endParaRPr>
          </a:p>
        </p:txBody>
      </p:sp>
      <p:sp>
        <p:nvSpPr>
          <p:cNvPr id="46" name="正方形/長方形 45"/>
          <p:cNvSpPr/>
          <p:nvPr/>
        </p:nvSpPr>
        <p:spPr>
          <a:xfrm>
            <a:off x="4301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７</a:t>
            </a:r>
            <a:endParaRPr kumimoji="1" lang="ja-JP" altLang="en-US" sz="1600" dirty="0">
              <a:solidFill>
                <a:schemeClr val="accent5"/>
              </a:solidFill>
              <a:latin typeface="Arial Narrow" pitchFamily="34" charset="0"/>
            </a:endParaRPr>
          </a:p>
        </p:txBody>
      </p:sp>
      <p:sp>
        <p:nvSpPr>
          <p:cNvPr id="47" name="正方形/長方形 46"/>
          <p:cNvSpPr/>
          <p:nvPr/>
        </p:nvSpPr>
        <p:spPr>
          <a:xfrm>
            <a:off x="1871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８</a:t>
            </a:r>
            <a:endParaRPr kumimoji="1" lang="ja-JP" altLang="en-US" sz="1600" dirty="0">
              <a:solidFill>
                <a:schemeClr val="accent5"/>
              </a:solidFill>
              <a:latin typeface="Arial Narrow" pitchFamily="34" charset="0"/>
            </a:endParaRPr>
          </a:p>
        </p:txBody>
      </p:sp>
      <p:sp>
        <p:nvSpPr>
          <p:cNvPr id="48" name="正方形/長方形 47"/>
          <p:cNvSpPr/>
          <p:nvPr/>
        </p:nvSpPr>
        <p:spPr>
          <a:xfrm>
            <a:off x="2681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ja-JP" altLang="en-US" sz="1600" dirty="0">
                <a:solidFill>
                  <a:schemeClr val="accent5"/>
                </a:solidFill>
                <a:latin typeface="Arial Narrow" pitchFamily="34" charset="0"/>
              </a:rPr>
              <a:t>９</a:t>
            </a:r>
          </a:p>
        </p:txBody>
      </p:sp>
      <p:sp>
        <p:nvSpPr>
          <p:cNvPr id="49" name="正方形/長方形 48"/>
          <p:cNvSpPr/>
          <p:nvPr/>
        </p:nvSpPr>
        <p:spPr>
          <a:xfrm>
            <a:off x="3491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１０</a:t>
            </a:r>
            <a:endParaRPr kumimoji="1" lang="ja-JP" altLang="en-US" sz="1600" dirty="0">
              <a:solidFill>
                <a:schemeClr val="accent5"/>
              </a:solidFill>
              <a:latin typeface="Arial Narrow" pitchFamily="34" charset="0"/>
            </a:endParaRPr>
          </a:p>
        </p:txBody>
      </p:sp>
      <p:sp>
        <p:nvSpPr>
          <p:cNvPr id="50" name="正方形/長方形 49"/>
          <p:cNvSpPr/>
          <p:nvPr/>
        </p:nvSpPr>
        <p:spPr>
          <a:xfrm>
            <a:off x="4301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１１</a:t>
            </a:r>
            <a:endParaRPr kumimoji="1" lang="ja-JP" altLang="en-US" sz="1600" dirty="0">
              <a:solidFill>
                <a:schemeClr val="accent5"/>
              </a:solidFill>
              <a:latin typeface="Arial Narrow" pitchFamily="34" charset="0"/>
            </a:endParaRPr>
          </a:p>
        </p:txBody>
      </p:sp>
      <p:sp>
        <p:nvSpPr>
          <p:cNvPr id="51" name="正方形/長方形 50"/>
          <p:cNvSpPr/>
          <p:nvPr/>
        </p:nvSpPr>
        <p:spPr>
          <a:xfrm>
            <a:off x="1871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１２</a:t>
            </a:r>
            <a:endParaRPr kumimoji="1" lang="ja-JP" altLang="en-US" sz="1600" dirty="0">
              <a:solidFill>
                <a:schemeClr val="accent5"/>
              </a:solidFill>
              <a:latin typeface="Arial Narrow" pitchFamily="34" charset="0"/>
            </a:endParaRPr>
          </a:p>
        </p:txBody>
      </p:sp>
      <p:sp>
        <p:nvSpPr>
          <p:cNvPr id="52" name="正方形/長方形 51"/>
          <p:cNvSpPr/>
          <p:nvPr/>
        </p:nvSpPr>
        <p:spPr>
          <a:xfrm>
            <a:off x="2681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１３</a:t>
            </a:r>
            <a:endParaRPr kumimoji="1" lang="ja-JP" altLang="en-US" sz="1600" dirty="0">
              <a:solidFill>
                <a:schemeClr val="accent5"/>
              </a:solidFill>
              <a:latin typeface="Arial Narrow" pitchFamily="34" charset="0"/>
            </a:endParaRPr>
          </a:p>
        </p:txBody>
      </p:sp>
      <p:sp>
        <p:nvSpPr>
          <p:cNvPr id="53" name="正方形/長方形 52"/>
          <p:cNvSpPr/>
          <p:nvPr/>
        </p:nvSpPr>
        <p:spPr>
          <a:xfrm>
            <a:off x="3491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１４</a:t>
            </a:r>
            <a:endParaRPr kumimoji="1" lang="ja-JP" altLang="en-US" sz="1600" dirty="0">
              <a:solidFill>
                <a:schemeClr val="accent5"/>
              </a:solidFill>
              <a:latin typeface="Arial Narrow" pitchFamily="34" charset="0"/>
            </a:endParaRPr>
          </a:p>
        </p:txBody>
      </p:sp>
      <p:sp>
        <p:nvSpPr>
          <p:cNvPr id="54" name="正方形/長方形 53"/>
          <p:cNvSpPr/>
          <p:nvPr/>
        </p:nvSpPr>
        <p:spPr>
          <a:xfrm>
            <a:off x="4301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１５</a:t>
            </a:r>
            <a:endParaRPr kumimoji="1" lang="ja-JP" altLang="en-US" sz="1600" dirty="0">
              <a:solidFill>
                <a:schemeClr val="accent5"/>
              </a:solidFill>
              <a:latin typeface="Arial Narrow" pitchFamily="34" charset="0"/>
            </a:endParaRPr>
          </a:p>
        </p:txBody>
      </p:sp>
      <p:sp>
        <p:nvSpPr>
          <p:cNvPr id="55" name="正方形/長方形 54"/>
          <p:cNvSpPr/>
          <p:nvPr/>
        </p:nvSpPr>
        <p:spPr>
          <a:xfrm>
            <a:off x="3761991" y="225898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solidFill>
                  <a:schemeClr val="accent6"/>
                </a:solidFill>
                <a:latin typeface="Arial Narrow" pitchFamily="34" charset="0"/>
              </a:rPr>
              <a:t>assert</a:t>
            </a:r>
            <a:endParaRPr kumimoji="1" lang="ja-JP" altLang="en-US" sz="1600" dirty="0">
              <a:solidFill>
                <a:schemeClr val="accent6"/>
              </a:solidFill>
              <a:latin typeface="Arial Narrow" pitchFamily="34" charset="0"/>
            </a:endParaRPr>
          </a:p>
        </p:txBody>
      </p:sp>
    </p:spTree>
    <p:extLst>
      <p:ext uri="{BB962C8B-B14F-4D97-AF65-F5344CB8AC3E}">
        <p14:creationId xmlns:p14="http://schemas.microsoft.com/office/powerpoint/2010/main" val="11628740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メモリの読み出し動作（３）</a:t>
            </a:r>
            <a:br>
              <a:rPr lang="en-US" altLang="ja-JP" dirty="0"/>
            </a:br>
            <a:r>
              <a:rPr lang="ja-JP" altLang="en-US" dirty="0"/>
              <a:t>ワード（１行分のデータ）の読み出し</a:t>
            </a:r>
            <a:endParaRPr kumimoji="1" lang="ja-JP" altLang="en-US" dirty="0"/>
          </a:p>
        </p:txBody>
      </p:sp>
      <p:sp>
        <p:nvSpPr>
          <p:cNvPr id="3" name="テキスト プレースホルダー 2"/>
          <p:cNvSpPr>
            <a:spLocks noGrp="1"/>
          </p:cNvSpPr>
          <p:nvPr>
            <p:ph type="body" sz="quarter" idx="10"/>
          </p:nvPr>
        </p:nvSpPr>
        <p:spPr>
          <a:xfrm>
            <a:off x="5022005" y="1088974"/>
            <a:ext cx="3870042" cy="5309752"/>
          </a:xfrm>
        </p:spPr>
        <p:txBody>
          <a:bodyPr anchor="t"/>
          <a:lstStyle/>
          <a:p>
            <a:r>
              <a:rPr kumimoji="1" lang="ja-JP" altLang="en-US" dirty="0"/>
              <a:t>ワードラインがアサートされると，</a:t>
            </a:r>
            <a:br>
              <a:rPr kumimoji="1" lang="en-US" altLang="ja-JP" dirty="0"/>
            </a:br>
            <a:r>
              <a:rPr kumimoji="1" lang="ja-JP" altLang="en-US" dirty="0"/>
              <a:t>そこに接続されたセルがビットラインに自身の中身を流す</a:t>
            </a:r>
            <a:endParaRPr kumimoji="1" lang="en-US" altLang="ja-JP" dirty="0"/>
          </a:p>
          <a:p>
            <a:r>
              <a:rPr lang="ja-JP" altLang="en-US" dirty="0"/>
              <a:t>これにより，１行分のデータが読み出される</a:t>
            </a:r>
            <a:endParaRPr kumimoji="1" lang="en-US" altLang="ja-JP" dirty="0"/>
          </a:p>
        </p:txBody>
      </p:sp>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5" name="正方形/長方形 4"/>
          <p:cNvSpPr/>
          <p:nvPr/>
        </p:nvSpPr>
        <p:spPr>
          <a:xfrm>
            <a:off x="2411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6" name="正方形/長方形 5"/>
          <p:cNvSpPr/>
          <p:nvPr/>
        </p:nvSpPr>
        <p:spPr>
          <a:xfrm>
            <a:off x="322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7" name="正方形/長方形 6"/>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1601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2400" b="1" dirty="0">
                <a:solidFill>
                  <a:schemeClr val="accent6"/>
                </a:solidFill>
                <a:latin typeface="Arial Narrow" pitchFamily="34" charset="0"/>
              </a:rPr>
              <a:t>1</a:t>
            </a:r>
            <a:endParaRPr kumimoji="1" lang="ja-JP" altLang="en-US" sz="2400" b="1" dirty="0">
              <a:solidFill>
                <a:schemeClr val="accent6"/>
              </a:solidFill>
              <a:latin typeface="Arial Narrow" pitchFamily="34" charset="0"/>
            </a:endParaRPr>
          </a:p>
        </p:txBody>
      </p:sp>
      <p:sp>
        <p:nvSpPr>
          <p:cNvPr id="10" name="正方形/長方形 9"/>
          <p:cNvSpPr/>
          <p:nvPr/>
        </p:nvSpPr>
        <p:spPr>
          <a:xfrm>
            <a:off x="2411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2400" b="1" dirty="0">
                <a:solidFill>
                  <a:schemeClr val="accent6"/>
                </a:solidFill>
                <a:latin typeface="Arial Narrow" pitchFamily="34" charset="0"/>
              </a:rPr>
              <a:t>0</a:t>
            </a:r>
            <a:endParaRPr kumimoji="1" lang="ja-JP" altLang="en-US" sz="2400" b="1" dirty="0">
              <a:solidFill>
                <a:schemeClr val="accent6"/>
              </a:solidFill>
              <a:latin typeface="Arial Narrow" pitchFamily="34" charset="0"/>
            </a:endParaRPr>
          </a:p>
        </p:txBody>
      </p:sp>
      <p:sp>
        <p:nvSpPr>
          <p:cNvPr id="11" name="正方形/長方形 10"/>
          <p:cNvSpPr/>
          <p:nvPr/>
        </p:nvSpPr>
        <p:spPr>
          <a:xfrm>
            <a:off x="3221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2400" b="1" dirty="0">
                <a:solidFill>
                  <a:schemeClr val="accent6"/>
                </a:solidFill>
                <a:latin typeface="Arial Narrow" pitchFamily="34" charset="0"/>
              </a:rPr>
              <a:t>0</a:t>
            </a:r>
            <a:endParaRPr kumimoji="1" lang="ja-JP" altLang="en-US" sz="2400" b="1" dirty="0">
              <a:solidFill>
                <a:schemeClr val="accent6"/>
              </a:solidFill>
              <a:latin typeface="Arial Narrow" pitchFamily="34" charset="0"/>
            </a:endParaRPr>
          </a:p>
        </p:txBody>
      </p:sp>
      <p:sp>
        <p:nvSpPr>
          <p:cNvPr id="12" name="正方形/長方形 11"/>
          <p:cNvSpPr/>
          <p:nvPr/>
        </p:nvSpPr>
        <p:spPr>
          <a:xfrm>
            <a:off x="403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2400" b="1" dirty="0">
                <a:solidFill>
                  <a:schemeClr val="accent6"/>
                </a:solidFill>
                <a:latin typeface="Arial Narrow" pitchFamily="34" charset="0"/>
              </a:rPr>
              <a:t>1</a:t>
            </a:r>
            <a:endParaRPr kumimoji="1" lang="ja-JP" altLang="en-US" sz="2400" b="1" dirty="0">
              <a:solidFill>
                <a:schemeClr val="accent6"/>
              </a:solidFill>
              <a:latin typeface="Arial Narrow" pitchFamily="34" charset="0"/>
            </a:endParaRPr>
          </a:p>
        </p:txBody>
      </p:sp>
      <p:sp>
        <p:nvSpPr>
          <p:cNvPr id="14" name="正方形/長方形 13"/>
          <p:cNvSpPr/>
          <p:nvPr/>
        </p:nvSpPr>
        <p:spPr>
          <a:xfrm>
            <a:off x="1601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5" name="正方形/長方形 14"/>
          <p:cNvSpPr/>
          <p:nvPr/>
        </p:nvSpPr>
        <p:spPr>
          <a:xfrm>
            <a:off x="2411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6" name="正方形/長方形 15"/>
          <p:cNvSpPr/>
          <p:nvPr/>
        </p:nvSpPr>
        <p:spPr>
          <a:xfrm>
            <a:off x="322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7" name="正方形/長方形 16"/>
          <p:cNvSpPr/>
          <p:nvPr/>
        </p:nvSpPr>
        <p:spPr>
          <a:xfrm>
            <a:off x="403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1601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0" name="正方形/長方形 19"/>
          <p:cNvSpPr/>
          <p:nvPr/>
        </p:nvSpPr>
        <p:spPr>
          <a:xfrm>
            <a:off x="2411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1" name="正方形/長方形 20"/>
          <p:cNvSpPr/>
          <p:nvPr/>
        </p:nvSpPr>
        <p:spPr>
          <a:xfrm>
            <a:off x="322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2" name="正方形/長方形 21"/>
          <p:cNvSpPr/>
          <p:nvPr/>
        </p:nvSpPr>
        <p:spPr>
          <a:xfrm>
            <a:off x="403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cxnSp>
        <p:nvCxnSpPr>
          <p:cNvPr id="29" name="直線コネクタ 28"/>
          <p:cNvCxnSpPr/>
          <p:nvPr/>
        </p:nvCxnSpPr>
        <p:spPr>
          <a:xfrm flipV="1">
            <a:off x="3061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3942004" y="3248987"/>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lines</a:t>
            </a:r>
            <a:endParaRPr kumimoji="1" lang="ja-JP" altLang="en-US" sz="1600" dirty="0">
              <a:latin typeface="Arial Narrow" pitchFamily="34" charset="0"/>
            </a:endParaRPr>
          </a:p>
        </p:txBody>
      </p:sp>
      <p:sp>
        <p:nvSpPr>
          <p:cNvPr id="31" name="正方形/長方形 30"/>
          <p:cNvSpPr/>
          <p:nvPr/>
        </p:nvSpPr>
        <p:spPr>
          <a:xfrm>
            <a:off x="4211996" y="1358977"/>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400" dirty="0">
                <a:latin typeface="Arial Narrow" pitchFamily="34" charset="0"/>
              </a:rPr>
              <a:t>cell</a:t>
            </a:r>
            <a:endParaRPr kumimoji="1" lang="ja-JP" altLang="en-US" sz="1400" dirty="0">
              <a:latin typeface="Arial Narrow" pitchFamily="34" charset="0"/>
            </a:endParaRPr>
          </a:p>
        </p:txBody>
      </p:sp>
      <p:sp>
        <p:nvSpPr>
          <p:cNvPr id="127" name="正方形/長方形 126"/>
          <p:cNvSpPr/>
          <p:nvPr/>
        </p:nvSpPr>
        <p:spPr>
          <a:xfrm>
            <a:off x="1871970" y="908972"/>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lines</a:t>
            </a:r>
            <a:endParaRPr kumimoji="1" lang="ja-JP" altLang="en-US" sz="1600" dirty="0">
              <a:latin typeface="Arial Narrow" pitchFamily="34" charset="0"/>
            </a:endParaRPr>
          </a:p>
        </p:txBody>
      </p:sp>
      <p:sp>
        <p:nvSpPr>
          <p:cNvPr id="129" name="台形 128"/>
          <p:cNvSpPr/>
          <p:nvPr/>
        </p:nvSpPr>
        <p:spPr>
          <a:xfrm rot="5400000" flipV="1">
            <a:off x="-468043" y="2978983"/>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sp>
        <p:nvSpPr>
          <p:cNvPr id="134" name="正方形/長方形 133"/>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kumimoji="1" lang="ja-JP" altLang="en-US" sz="1600" dirty="0">
              <a:latin typeface="Arial Narrow" pitchFamily="34" charset="0"/>
            </a:endParaRPr>
          </a:p>
        </p:txBody>
      </p:sp>
      <p:sp>
        <p:nvSpPr>
          <p:cNvPr id="135" name="正方形/長方形 134"/>
          <p:cNvSpPr/>
          <p:nvPr/>
        </p:nvSpPr>
        <p:spPr>
          <a:xfrm rot="16200000">
            <a:off x="-243043" y="2663980"/>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kumimoji="1" lang="ja-JP" altLang="en-US" sz="1600" dirty="0">
              <a:latin typeface="Arial Narrow" pitchFamily="34" charset="0"/>
            </a:endParaRPr>
          </a:p>
        </p:txBody>
      </p:sp>
      <p:cxnSp>
        <p:nvCxnSpPr>
          <p:cNvPr id="136" name="直線コネクタ 135"/>
          <p:cNvCxnSpPr/>
          <p:nvPr/>
        </p:nvCxnSpPr>
        <p:spPr>
          <a:xfrm flipV="1">
            <a:off x="71950"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08052" y="2618991"/>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latin typeface="Arial Narrow" pitchFamily="34" charset="0"/>
              </a:rPr>
              <a:t>６</a:t>
            </a:r>
            <a:endParaRPr kumimoji="1" lang="ja-JP" altLang="en-US" sz="1600" dirty="0">
              <a:latin typeface="Arial Narrow" pitchFamily="34" charset="0"/>
            </a:endParaRPr>
          </a:p>
        </p:txBody>
      </p:sp>
      <p:sp>
        <p:nvSpPr>
          <p:cNvPr id="139" name="正方形/長方形 138"/>
          <p:cNvSpPr/>
          <p:nvPr/>
        </p:nvSpPr>
        <p:spPr>
          <a:xfrm>
            <a:off x="1781969" y="5769026"/>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kumimoji="1" lang="ja-JP" altLang="en-US" sz="1600" dirty="0">
              <a:latin typeface="Arial Narrow" pitchFamily="34" charset="0"/>
            </a:endParaRPr>
          </a:p>
        </p:txBody>
      </p:sp>
      <p:sp>
        <p:nvSpPr>
          <p:cNvPr id="39" name="正方形/長方形 38"/>
          <p:cNvSpPr/>
          <p:nvPr/>
        </p:nvSpPr>
        <p:spPr>
          <a:xfrm>
            <a:off x="1871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０</a:t>
            </a:r>
            <a:endParaRPr kumimoji="1" lang="ja-JP" altLang="en-US" sz="1600" dirty="0">
              <a:solidFill>
                <a:schemeClr val="accent5"/>
              </a:solidFill>
              <a:latin typeface="Arial Narrow" pitchFamily="34" charset="0"/>
            </a:endParaRPr>
          </a:p>
        </p:txBody>
      </p:sp>
      <p:sp>
        <p:nvSpPr>
          <p:cNvPr id="40" name="正方形/長方形 39"/>
          <p:cNvSpPr/>
          <p:nvPr/>
        </p:nvSpPr>
        <p:spPr>
          <a:xfrm>
            <a:off x="2681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１</a:t>
            </a:r>
            <a:endParaRPr kumimoji="1" lang="ja-JP" altLang="en-US" sz="1600" dirty="0">
              <a:solidFill>
                <a:schemeClr val="accent5"/>
              </a:solidFill>
              <a:latin typeface="Arial Narrow" pitchFamily="34" charset="0"/>
            </a:endParaRPr>
          </a:p>
        </p:txBody>
      </p:sp>
      <p:sp>
        <p:nvSpPr>
          <p:cNvPr id="41" name="正方形/長方形 40"/>
          <p:cNvSpPr/>
          <p:nvPr/>
        </p:nvSpPr>
        <p:spPr>
          <a:xfrm>
            <a:off x="3491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２</a:t>
            </a:r>
            <a:endParaRPr kumimoji="1" lang="ja-JP" altLang="en-US" sz="1600" dirty="0">
              <a:solidFill>
                <a:schemeClr val="accent5"/>
              </a:solidFill>
              <a:latin typeface="Arial Narrow" pitchFamily="34" charset="0"/>
            </a:endParaRPr>
          </a:p>
        </p:txBody>
      </p:sp>
      <p:sp>
        <p:nvSpPr>
          <p:cNvPr id="42" name="正方形/長方形 41"/>
          <p:cNvSpPr/>
          <p:nvPr/>
        </p:nvSpPr>
        <p:spPr>
          <a:xfrm>
            <a:off x="4301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３</a:t>
            </a:r>
            <a:endParaRPr kumimoji="1" lang="ja-JP" altLang="en-US" sz="1600" dirty="0">
              <a:solidFill>
                <a:schemeClr val="accent5"/>
              </a:solidFill>
              <a:latin typeface="Arial Narrow" pitchFamily="34" charset="0"/>
            </a:endParaRPr>
          </a:p>
        </p:txBody>
      </p:sp>
      <p:sp>
        <p:nvSpPr>
          <p:cNvPr id="43" name="正方形/長方形 42"/>
          <p:cNvSpPr/>
          <p:nvPr/>
        </p:nvSpPr>
        <p:spPr>
          <a:xfrm>
            <a:off x="1871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４</a:t>
            </a:r>
            <a:endParaRPr kumimoji="1" lang="ja-JP" altLang="en-US" sz="1600" dirty="0">
              <a:solidFill>
                <a:schemeClr val="accent5"/>
              </a:solidFill>
              <a:latin typeface="Arial Narrow" pitchFamily="34" charset="0"/>
            </a:endParaRPr>
          </a:p>
        </p:txBody>
      </p:sp>
      <p:sp>
        <p:nvSpPr>
          <p:cNvPr id="44" name="正方形/長方形 43"/>
          <p:cNvSpPr/>
          <p:nvPr/>
        </p:nvSpPr>
        <p:spPr>
          <a:xfrm>
            <a:off x="2681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５</a:t>
            </a:r>
            <a:endParaRPr kumimoji="1" lang="ja-JP" altLang="en-US" sz="1600" dirty="0">
              <a:solidFill>
                <a:schemeClr val="accent5"/>
              </a:solidFill>
              <a:latin typeface="Arial Narrow" pitchFamily="34" charset="0"/>
            </a:endParaRPr>
          </a:p>
        </p:txBody>
      </p:sp>
      <p:sp>
        <p:nvSpPr>
          <p:cNvPr id="45" name="正方形/長方形 44"/>
          <p:cNvSpPr/>
          <p:nvPr/>
        </p:nvSpPr>
        <p:spPr>
          <a:xfrm>
            <a:off x="3491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６</a:t>
            </a:r>
            <a:endParaRPr kumimoji="1" lang="ja-JP" altLang="en-US" sz="1600" dirty="0">
              <a:solidFill>
                <a:schemeClr val="accent5"/>
              </a:solidFill>
              <a:latin typeface="Arial Narrow" pitchFamily="34" charset="0"/>
            </a:endParaRPr>
          </a:p>
        </p:txBody>
      </p:sp>
      <p:sp>
        <p:nvSpPr>
          <p:cNvPr id="46" name="正方形/長方形 45"/>
          <p:cNvSpPr/>
          <p:nvPr/>
        </p:nvSpPr>
        <p:spPr>
          <a:xfrm>
            <a:off x="4301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７</a:t>
            </a:r>
            <a:endParaRPr kumimoji="1" lang="ja-JP" altLang="en-US" sz="1600" dirty="0">
              <a:solidFill>
                <a:schemeClr val="accent5"/>
              </a:solidFill>
              <a:latin typeface="Arial Narrow" pitchFamily="34" charset="0"/>
            </a:endParaRPr>
          </a:p>
        </p:txBody>
      </p:sp>
      <p:sp>
        <p:nvSpPr>
          <p:cNvPr id="47" name="正方形/長方形 46"/>
          <p:cNvSpPr/>
          <p:nvPr/>
        </p:nvSpPr>
        <p:spPr>
          <a:xfrm>
            <a:off x="1871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８</a:t>
            </a:r>
            <a:endParaRPr kumimoji="1" lang="ja-JP" altLang="en-US" sz="1600" dirty="0">
              <a:solidFill>
                <a:schemeClr val="accent5"/>
              </a:solidFill>
              <a:latin typeface="Arial Narrow" pitchFamily="34" charset="0"/>
            </a:endParaRPr>
          </a:p>
        </p:txBody>
      </p:sp>
      <p:sp>
        <p:nvSpPr>
          <p:cNvPr id="48" name="正方形/長方形 47"/>
          <p:cNvSpPr/>
          <p:nvPr/>
        </p:nvSpPr>
        <p:spPr>
          <a:xfrm>
            <a:off x="2681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ja-JP" altLang="en-US" sz="1600" dirty="0">
                <a:solidFill>
                  <a:schemeClr val="accent5"/>
                </a:solidFill>
                <a:latin typeface="Arial Narrow" pitchFamily="34" charset="0"/>
              </a:rPr>
              <a:t>９</a:t>
            </a:r>
          </a:p>
        </p:txBody>
      </p:sp>
      <p:sp>
        <p:nvSpPr>
          <p:cNvPr id="49" name="正方形/長方形 48"/>
          <p:cNvSpPr/>
          <p:nvPr/>
        </p:nvSpPr>
        <p:spPr>
          <a:xfrm>
            <a:off x="3491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１０</a:t>
            </a:r>
            <a:endParaRPr kumimoji="1" lang="ja-JP" altLang="en-US" sz="1600" dirty="0">
              <a:solidFill>
                <a:schemeClr val="accent5"/>
              </a:solidFill>
              <a:latin typeface="Arial Narrow" pitchFamily="34" charset="0"/>
            </a:endParaRPr>
          </a:p>
        </p:txBody>
      </p:sp>
      <p:sp>
        <p:nvSpPr>
          <p:cNvPr id="50" name="正方形/長方形 49"/>
          <p:cNvSpPr/>
          <p:nvPr/>
        </p:nvSpPr>
        <p:spPr>
          <a:xfrm>
            <a:off x="4301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１１</a:t>
            </a:r>
            <a:endParaRPr kumimoji="1" lang="ja-JP" altLang="en-US" sz="1600" dirty="0">
              <a:solidFill>
                <a:schemeClr val="accent5"/>
              </a:solidFill>
              <a:latin typeface="Arial Narrow" pitchFamily="34" charset="0"/>
            </a:endParaRPr>
          </a:p>
        </p:txBody>
      </p:sp>
      <p:sp>
        <p:nvSpPr>
          <p:cNvPr id="51" name="正方形/長方形 50"/>
          <p:cNvSpPr/>
          <p:nvPr/>
        </p:nvSpPr>
        <p:spPr>
          <a:xfrm>
            <a:off x="1871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１２</a:t>
            </a:r>
            <a:endParaRPr kumimoji="1" lang="ja-JP" altLang="en-US" sz="1600" dirty="0">
              <a:solidFill>
                <a:schemeClr val="accent5"/>
              </a:solidFill>
              <a:latin typeface="Arial Narrow" pitchFamily="34" charset="0"/>
            </a:endParaRPr>
          </a:p>
        </p:txBody>
      </p:sp>
      <p:sp>
        <p:nvSpPr>
          <p:cNvPr id="52" name="正方形/長方形 51"/>
          <p:cNvSpPr/>
          <p:nvPr/>
        </p:nvSpPr>
        <p:spPr>
          <a:xfrm>
            <a:off x="2681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１３</a:t>
            </a:r>
            <a:endParaRPr kumimoji="1" lang="ja-JP" altLang="en-US" sz="1600" dirty="0">
              <a:solidFill>
                <a:schemeClr val="accent5"/>
              </a:solidFill>
              <a:latin typeface="Arial Narrow" pitchFamily="34" charset="0"/>
            </a:endParaRPr>
          </a:p>
        </p:txBody>
      </p:sp>
      <p:sp>
        <p:nvSpPr>
          <p:cNvPr id="53" name="正方形/長方形 52"/>
          <p:cNvSpPr/>
          <p:nvPr/>
        </p:nvSpPr>
        <p:spPr>
          <a:xfrm>
            <a:off x="3491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１４</a:t>
            </a:r>
            <a:endParaRPr kumimoji="1" lang="ja-JP" altLang="en-US" sz="1600" dirty="0">
              <a:solidFill>
                <a:schemeClr val="accent5"/>
              </a:solidFill>
              <a:latin typeface="Arial Narrow" pitchFamily="34" charset="0"/>
            </a:endParaRPr>
          </a:p>
        </p:txBody>
      </p:sp>
      <p:sp>
        <p:nvSpPr>
          <p:cNvPr id="54" name="正方形/長方形 53"/>
          <p:cNvSpPr/>
          <p:nvPr/>
        </p:nvSpPr>
        <p:spPr>
          <a:xfrm>
            <a:off x="4301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１５</a:t>
            </a:r>
            <a:endParaRPr kumimoji="1" lang="ja-JP" altLang="en-US" sz="1600" dirty="0">
              <a:solidFill>
                <a:schemeClr val="accent5"/>
              </a:solidFill>
              <a:latin typeface="Arial Narrow" pitchFamily="34" charset="0"/>
            </a:endParaRPr>
          </a:p>
        </p:txBody>
      </p:sp>
      <p:cxnSp>
        <p:nvCxnSpPr>
          <p:cNvPr id="56" name="直線コネクタ 55"/>
          <p:cNvCxnSpPr/>
          <p:nvPr/>
        </p:nvCxnSpPr>
        <p:spPr>
          <a:xfrm flipV="1">
            <a:off x="1151962" y="2708992"/>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57" name="正方形/長方形 56"/>
          <p:cNvSpPr/>
          <p:nvPr/>
        </p:nvSpPr>
        <p:spPr>
          <a:xfrm>
            <a:off x="1691997" y="4779018"/>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400" b="1" dirty="0">
                <a:solidFill>
                  <a:schemeClr val="accent6"/>
                </a:solidFill>
                <a:latin typeface="Arial Narrow" pitchFamily="34" charset="0"/>
              </a:rPr>
              <a:t>1</a:t>
            </a:r>
            <a:endParaRPr kumimoji="1" lang="ja-JP" altLang="en-US" sz="2400" b="1" dirty="0">
              <a:solidFill>
                <a:schemeClr val="accent6"/>
              </a:solidFill>
              <a:latin typeface="Arial Narrow" pitchFamily="34" charset="0"/>
            </a:endParaRPr>
          </a:p>
        </p:txBody>
      </p:sp>
      <p:sp>
        <p:nvSpPr>
          <p:cNvPr id="58" name="正方形/長方形 57"/>
          <p:cNvSpPr/>
          <p:nvPr/>
        </p:nvSpPr>
        <p:spPr>
          <a:xfrm>
            <a:off x="2501994"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accent6"/>
                </a:solidFill>
                <a:latin typeface="Arial Narrow" pitchFamily="34" charset="0"/>
              </a:rPr>
              <a:t>0</a:t>
            </a:r>
            <a:endParaRPr kumimoji="1" lang="ja-JP" altLang="en-US" sz="2400" b="1" dirty="0">
              <a:solidFill>
                <a:schemeClr val="accent6"/>
              </a:solidFill>
              <a:latin typeface="Arial Narrow" pitchFamily="34" charset="0"/>
            </a:endParaRPr>
          </a:p>
        </p:txBody>
      </p:sp>
      <p:sp>
        <p:nvSpPr>
          <p:cNvPr id="59" name="正方形/長方形 58"/>
          <p:cNvSpPr/>
          <p:nvPr/>
        </p:nvSpPr>
        <p:spPr>
          <a:xfrm>
            <a:off x="3311995"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400" b="1" dirty="0">
                <a:solidFill>
                  <a:schemeClr val="accent6"/>
                </a:solidFill>
                <a:latin typeface="Arial Narrow" pitchFamily="34" charset="0"/>
              </a:rPr>
              <a:t>0</a:t>
            </a:r>
            <a:endParaRPr kumimoji="1" lang="ja-JP" altLang="en-US" sz="2400" b="1" dirty="0">
              <a:solidFill>
                <a:schemeClr val="accent6"/>
              </a:solidFill>
              <a:latin typeface="Arial Narrow" pitchFamily="34" charset="0"/>
            </a:endParaRPr>
          </a:p>
        </p:txBody>
      </p:sp>
      <p:sp>
        <p:nvSpPr>
          <p:cNvPr id="60" name="正方形/長方形 59"/>
          <p:cNvSpPr/>
          <p:nvPr/>
        </p:nvSpPr>
        <p:spPr>
          <a:xfrm>
            <a:off x="4121995"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400" b="1" dirty="0">
                <a:solidFill>
                  <a:schemeClr val="accent6"/>
                </a:solidFill>
                <a:latin typeface="Arial Narrow" pitchFamily="34" charset="0"/>
              </a:rPr>
              <a:t>1</a:t>
            </a:r>
            <a:endParaRPr kumimoji="1" lang="ja-JP" altLang="en-US" sz="2400" b="1" dirty="0">
              <a:solidFill>
                <a:schemeClr val="accent6"/>
              </a:solidFill>
              <a:latin typeface="Arial Narrow" pitchFamily="34" charset="0"/>
            </a:endParaRPr>
          </a:p>
        </p:txBody>
      </p:sp>
      <p:cxnSp>
        <p:nvCxnSpPr>
          <p:cNvPr id="33" name="直線矢印コネクタ 32"/>
          <p:cNvCxnSpPr/>
          <p:nvPr/>
        </p:nvCxnSpPr>
        <p:spPr bwMode="auto">
          <a:xfrm flipH="1">
            <a:off x="1871970" y="2888994"/>
            <a:ext cx="23" cy="1980037"/>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cxnSp>
        <p:nvCxnSpPr>
          <p:cNvPr id="63" name="直線矢印コネクタ 62"/>
          <p:cNvCxnSpPr/>
          <p:nvPr/>
        </p:nvCxnSpPr>
        <p:spPr bwMode="auto">
          <a:xfrm flipH="1">
            <a:off x="2681979" y="2888994"/>
            <a:ext cx="23" cy="1980037"/>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cxnSp>
        <p:nvCxnSpPr>
          <p:cNvPr id="64" name="直線矢印コネクタ 63"/>
          <p:cNvCxnSpPr/>
          <p:nvPr/>
        </p:nvCxnSpPr>
        <p:spPr bwMode="auto">
          <a:xfrm flipH="1">
            <a:off x="3491988" y="2888994"/>
            <a:ext cx="23" cy="1980037"/>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cxnSp>
        <p:nvCxnSpPr>
          <p:cNvPr id="65" name="直線矢印コネクタ 64"/>
          <p:cNvCxnSpPr/>
          <p:nvPr/>
        </p:nvCxnSpPr>
        <p:spPr bwMode="auto">
          <a:xfrm flipH="1">
            <a:off x="4301997" y="2888994"/>
            <a:ext cx="23" cy="1980037"/>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5216579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メモリの読み出し動作（４）</a:t>
            </a:r>
            <a:br>
              <a:rPr lang="en-US" altLang="ja-JP" dirty="0"/>
            </a:br>
            <a:r>
              <a:rPr lang="ja-JP" altLang="en-US" dirty="0"/>
              <a:t>列の選択</a:t>
            </a:r>
            <a:endParaRPr kumimoji="1" lang="ja-JP" altLang="en-US" dirty="0"/>
          </a:p>
        </p:txBody>
      </p:sp>
      <p:sp>
        <p:nvSpPr>
          <p:cNvPr id="3" name="テキスト プレースホルダー 2"/>
          <p:cNvSpPr>
            <a:spLocks noGrp="1"/>
          </p:cNvSpPr>
          <p:nvPr>
            <p:ph type="body" sz="quarter" idx="10"/>
          </p:nvPr>
        </p:nvSpPr>
        <p:spPr>
          <a:xfrm>
            <a:off x="5022004" y="1088974"/>
            <a:ext cx="4050045" cy="5309752"/>
          </a:xfrm>
        </p:spPr>
        <p:txBody>
          <a:bodyPr anchor="t"/>
          <a:lstStyle/>
          <a:p>
            <a:r>
              <a:rPr kumimoji="1" lang="ja-JP" altLang="en-US" dirty="0"/>
              <a:t>読み出された１行分のデータから，最終的に必要な１ビットを選択</a:t>
            </a:r>
            <a:endParaRPr kumimoji="1" lang="en-US" altLang="ja-JP" dirty="0"/>
          </a:p>
          <a:p>
            <a:r>
              <a:rPr lang="ja-JP" altLang="en-US" dirty="0"/>
              <a:t>どの列を読むか決める</a:t>
            </a:r>
            <a:endParaRPr lang="en-US" altLang="ja-JP" dirty="0"/>
          </a:p>
          <a:p>
            <a:pPr lvl="1"/>
            <a:r>
              <a:rPr lang="ja-JP" altLang="en-US" dirty="0"/>
              <a:t>各列は４つセルがある</a:t>
            </a:r>
            <a:endParaRPr lang="en-US" altLang="ja-JP" dirty="0"/>
          </a:p>
          <a:p>
            <a:pPr lvl="1"/>
            <a:r>
              <a:rPr lang="ja-JP" altLang="en-US" dirty="0"/>
              <a:t>アドレスを４で割った余りの列が読むべき場所</a:t>
            </a:r>
            <a:endParaRPr lang="en-US" altLang="ja-JP" dirty="0"/>
          </a:p>
          <a:p>
            <a:pPr lvl="1"/>
            <a:r>
              <a:rPr lang="ja-JP" altLang="en-US" dirty="0"/>
              <a:t>６</a:t>
            </a:r>
            <a:r>
              <a:rPr lang="en-US" altLang="ja-JP" dirty="0"/>
              <a:t>=</a:t>
            </a:r>
            <a:r>
              <a:rPr lang="en-US" altLang="ja-JP" dirty="0">
                <a:solidFill>
                  <a:schemeClr val="tx1"/>
                </a:solidFill>
              </a:rPr>
              <a:t>01</a:t>
            </a:r>
            <a:r>
              <a:rPr lang="en-US" altLang="ja-JP" dirty="0">
                <a:solidFill>
                  <a:schemeClr val="accent5"/>
                </a:solidFill>
              </a:rPr>
              <a:t>10</a:t>
            </a:r>
            <a:r>
              <a:rPr lang="ja-JP" altLang="en-US" dirty="0"/>
              <a:t>（２進数）</a:t>
            </a:r>
            <a:endParaRPr lang="en-US" altLang="ja-JP" dirty="0"/>
          </a:p>
          <a:p>
            <a:r>
              <a:rPr lang="ja-JP" altLang="en-US" dirty="0"/>
              <a:t>カラム・セレクタにより</a:t>
            </a:r>
            <a:br>
              <a:rPr lang="en-US" altLang="ja-JP" dirty="0"/>
            </a:br>
            <a:r>
              <a:rPr lang="ja-JP" altLang="en-US" dirty="0"/>
              <a:t>ビットを選択する</a:t>
            </a:r>
            <a:endParaRPr lang="en-US" altLang="ja-JP" dirty="0"/>
          </a:p>
          <a:p>
            <a:pPr lvl="1"/>
            <a:r>
              <a:rPr lang="ja-JP" altLang="en-US" dirty="0"/>
              <a:t>読み出し幅によっては</a:t>
            </a:r>
            <a:br>
              <a:rPr lang="en-US" altLang="ja-JP" dirty="0"/>
            </a:br>
            <a:r>
              <a:rPr lang="ja-JP" altLang="en-US" dirty="0"/>
              <a:t>この部分がないこともある</a:t>
            </a:r>
            <a:endParaRPr lang="en-US" altLang="ja-JP" dirty="0"/>
          </a:p>
        </p:txBody>
      </p:sp>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5" name="正方形/長方形 4"/>
          <p:cNvSpPr/>
          <p:nvPr/>
        </p:nvSpPr>
        <p:spPr>
          <a:xfrm>
            <a:off x="2411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6" name="正方形/長方形 5"/>
          <p:cNvSpPr/>
          <p:nvPr/>
        </p:nvSpPr>
        <p:spPr>
          <a:xfrm>
            <a:off x="322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7" name="正方形/長方形 6"/>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1601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solidFill>
                  <a:schemeClr val="tx1"/>
                </a:solidFill>
                <a:latin typeface="Arial Narrow" pitchFamily="34" charset="0"/>
              </a:rPr>
              <a:t>1</a:t>
            </a:r>
            <a:endParaRPr kumimoji="1" lang="ja-JP" altLang="en-US" sz="1600" dirty="0">
              <a:solidFill>
                <a:schemeClr val="tx1"/>
              </a:solidFill>
              <a:latin typeface="Arial Narrow" pitchFamily="34" charset="0"/>
            </a:endParaRPr>
          </a:p>
        </p:txBody>
      </p:sp>
      <p:sp>
        <p:nvSpPr>
          <p:cNvPr id="10" name="正方形/長方形 9"/>
          <p:cNvSpPr/>
          <p:nvPr/>
        </p:nvSpPr>
        <p:spPr>
          <a:xfrm>
            <a:off x="2411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solidFill>
                  <a:schemeClr val="tx1"/>
                </a:solidFill>
                <a:latin typeface="Arial Narrow" pitchFamily="34" charset="0"/>
              </a:rPr>
              <a:t>0</a:t>
            </a:r>
            <a:endParaRPr kumimoji="1" lang="ja-JP" altLang="en-US" sz="1600" dirty="0">
              <a:solidFill>
                <a:schemeClr val="tx1"/>
              </a:solidFill>
              <a:latin typeface="Arial Narrow" pitchFamily="34" charset="0"/>
            </a:endParaRPr>
          </a:p>
        </p:txBody>
      </p:sp>
      <p:sp>
        <p:nvSpPr>
          <p:cNvPr id="11" name="正方形/長方形 10"/>
          <p:cNvSpPr/>
          <p:nvPr/>
        </p:nvSpPr>
        <p:spPr>
          <a:xfrm>
            <a:off x="3221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2400" b="1" dirty="0">
                <a:solidFill>
                  <a:schemeClr val="accent6"/>
                </a:solidFill>
                <a:latin typeface="Arial Narrow" pitchFamily="34" charset="0"/>
              </a:rPr>
              <a:t>0</a:t>
            </a:r>
            <a:endParaRPr kumimoji="1" lang="ja-JP" altLang="en-US" sz="2400" b="1" dirty="0">
              <a:solidFill>
                <a:schemeClr val="accent6"/>
              </a:solidFill>
              <a:latin typeface="Arial Narrow" pitchFamily="34" charset="0"/>
            </a:endParaRPr>
          </a:p>
        </p:txBody>
      </p:sp>
      <p:sp>
        <p:nvSpPr>
          <p:cNvPr id="12" name="正方形/長方形 11"/>
          <p:cNvSpPr/>
          <p:nvPr/>
        </p:nvSpPr>
        <p:spPr>
          <a:xfrm>
            <a:off x="403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solidFill>
                  <a:schemeClr val="tx1"/>
                </a:solidFill>
                <a:latin typeface="Arial Narrow" pitchFamily="34" charset="0"/>
              </a:rPr>
              <a:t>1</a:t>
            </a:r>
            <a:endParaRPr kumimoji="1" lang="ja-JP" altLang="en-US" sz="1600" dirty="0">
              <a:solidFill>
                <a:schemeClr val="tx1"/>
              </a:solidFill>
              <a:latin typeface="Arial Narrow" pitchFamily="34" charset="0"/>
            </a:endParaRPr>
          </a:p>
        </p:txBody>
      </p:sp>
      <p:sp>
        <p:nvSpPr>
          <p:cNvPr id="14" name="正方形/長方形 13"/>
          <p:cNvSpPr/>
          <p:nvPr/>
        </p:nvSpPr>
        <p:spPr>
          <a:xfrm>
            <a:off x="1601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5" name="正方形/長方形 14"/>
          <p:cNvSpPr/>
          <p:nvPr/>
        </p:nvSpPr>
        <p:spPr>
          <a:xfrm>
            <a:off x="2411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6" name="正方形/長方形 15"/>
          <p:cNvSpPr/>
          <p:nvPr/>
        </p:nvSpPr>
        <p:spPr>
          <a:xfrm>
            <a:off x="322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7" name="正方形/長方形 16"/>
          <p:cNvSpPr/>
          <p:nvPr/>
        </p:nvSpPr>
        <p:spPr>
          <a:xfrm>
            <a:off x="403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1601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0" name="正方形/長方形 19"/>
          <p:cNvSpPr/>
          <p:nvPr/>
        </p:nvSpPr>
        <p:spPr>
          <a:xfrm>
            <a:off x="2411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1" name="正方形/長方形 20"/>
          <p:cNvSpPr/>
          <p:nvPr/>
        </p:nvSpPr>
        <p:spPr>
          <a:xfrm>
            <a:off x="322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2" name="正方形/長方形 21"/>
          <p:cNvSpPr/>
          <p:nvPr/>
        </p:nvSpPr>
        <p:spPr>
          <a:xfrm>
            <a:off x="403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cxnSp>
        <p:nvCxnSpPr>
          <p:cNvPr id="29" name="直線コネクタ 28"/>
          <p:cNvCxnSpPr/>
          <p:nvPr/>
        </p:nvCxnSpPr>
        <p:spPr>
          <a:xfrm flipV="1">
            <a:off x="3061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3942004" y="3248987"/>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lines</a:t>
            </a:r>
            <a:endParaRPr kumimoji="1" lang="ja-JP" altLang="en-US" sz="1600" dirty="0">
              <a:latin typeface="Arial Narrow" pitchFamily="34" charset="0"/>
            </a:endParaRPr>
          </a:p>
        </p:txBody>
      </p:sp>
      <p:sp>
        <p:nvSpPr>
          <p:cNvPr id="31" name="正方形/長方形 30"/>
          <p:cNvSpPr/>
          <p:nvPr/>
        </p:nvSpPr>
        <p:spPr>
          <a:xfrm>
            <a:off x="4211996" y="1358977"/>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400" dirty="0">
                <a:latin typeface="Arial Narrow" pitchFamily="34" charset="0"/>
              </a:rPr>
              <a:t>cell</a:t>
            </a:r>
            <a:endParaRPr kumimoji="1" lang="ja-JP" altLang="en-US" sz="1400" dirty="0">
              <a:latin typeface="Arial Narrow" pitchFamily="34" charset="0"/>
            </a:endParaRPr>
          </a:p>
        </p:txBody>
      </p:sp>
      <p:sp>
        <p:nvSpPr>
          <p:cNvPr id="127" name="正方形/長方形 126"/>
          <p:cNvSpPr/>
          <p:nvPr/>
        </p:nvSpPr>
        <p:spPr>
          <a:xfrm>
            <a:off x="1871970" y="908972"/>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lines</a:t>
            </a:r>
            <a:endParaRPr kumimoji="1" lang="ja-JP" altLang="en-US" sz="1600" dirty="0">
              <a:latin typeface="Arial Narrow" pitchFamily="34" charset="0"/>
            </a:endParaRPr>
          </a:p>
        </p:txBody>
      </p:sp>
      <p:sp>
        <p:nvSpPr>
          <p:cNvPr id="129" name="台形 128"/>
          <p:cNvSpPr/>
          <p:nvPr/>
        </p:nvSpPr>
        <p:spPr>
          <a:xfrm rot="5400000" flipV="1">
            <a:off x="-468043" y="2978983"/>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sp>
        <p:nvSpPr>
          <p:cNvPr id="134" name="正方形/長方形 133"/>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kumimoji="1" lang="ja-JP" altLang="en-US" sz="1600" dirty="0">
              <a:latin typeface="Arial Narrow" pitchFamily="34" charset="0"/>
            </a:endParaRPr>
          </a:p>
        </p:txBody>
      </p:sp>
      <p:sp>
        <p:nvSpPr>
          <p:cNvPr id="135" name="正方形/長方形 134"/>
          <p:cNvSpPr/>
          <p:nvPr/>
        </p:nvSpPr>
        <p:spPr>
          <a:xfrm rot="16200000">
            <a:off x="-243043" y="2663980"/>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kumimoji="1" lang="ja-JP" altLang="en-US" sz="1600" dirty="0">
              <a:latin typeface="Arial Narrow" pitchFamily="34" charset="0"/>
            </a:endParaRPr>
          </a:p>
        </p:txBody>
      </p:sp>
      <p:cxnSp>
        <p:nvCxnSpPr>
          <p:cNvPr id="136" name="直線コネクタ 135"/>
          <p:cNvCxnSpPr/>
          <p:nvPr/>
        </p:nvCxnSpPr>
        <p:spPr>
          <a:xfrm flipV="1">
            <a:off x="71950"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08052" y="2618991"/>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latin typeface="Arial Narrow" pitchFamily="34" charset="0"/>
              </a:rPr>
              <a:t>６</a:t>
            </a:r>
            <a:endParaRPr kumimoji="1" lang="ja-JP" altLang="en-US" sz="1600" dirty="0">
              <a:latin typeface="Arial Narrow" pitchFamily="34" charset="0"/>
            </a:endParaRPr>
          </a:p>
        </p:txBody>
      </p:sp>
      <p:sp>
        <p:nvSpPr>
          <p:cNvPr id="139" name="正方形/長方形 138"/>
          <p:cNvSpPr/>
          <p:nvPr/>
        </p:nvSpPr>
        <p:spPr>
          <a:xfrm>
            <a:off x="1781969" y="5769026"/>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kumimoji="1" lang="ja-JP" altLang="en-US" sz="1600" dirty="0">
              <a:latin typeface="Arial Narrow" pitchFamily="34" charset="0"/>
            </a:endParaRPr>
          </a:p>
        </p:txBody>
      </p:sp>
      <p:sp>
        <p:nvSpPr>
          <p:cNvPr id="39" name="正方形/長方形 38"/>
          <p:cNvSpPr/>
          <p:nvPr/>
        </p:nvSpPr>
        <p:spPr>
          <a:xfrm>
            <a:off x="1871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０</a:t>
            </a:r>
            <a:endParaRPr kumimoji="1" lang="ja-JP" altLang="en-US" sz="1600" dirty="0">
              <a:solidFill>
                <a:schemeClr val="accent5"/>
              </a:solidFill>
              <a:latin typeface="Arial Narrow" pitchFamily="34" charset="0"/>
            </a:endParaRPr>
          </a:p>
        </p:txBody>
      </p:sp>
      <p:sp>
        <p:nvSpPr>
          <p:cNvPr id="40" name="正方形/長方形 39"/>
          <p:cNvSpPr/>
          <p:nvPr/>
        </p:nvSpPr>
        <p:spPr>
          <a:xfrm>
            <a:off x="2681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１</a:t>
            </a:r>
            <a:endParaRPr kumimoji="1" lang="ja-JP" altLang="en-US" sz="1600" dirty="0">
              <a:solidFill>
                <a:schemeClr val="accent5"/>
              </a:solidFill>
              <a:latin typeface="Arial Narrow" pitchFamily="34" charset="0"/>
            </a:endParaRPr>
          </a:p>
        </p:txBody>
      </p:sp>
      <p:sp>
        <p:nvSpPr>
          <p:cNvPr id="41" name="正方形/長方形 40"/>
          <p:cNvSpPr/>
          <p:nvPr/>
        </p:nvSpPr>
        <p:spPr>
          <a:xfrm>
            <a:off x="3491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２</a:t>
            </a:r>
            <a:endParaRPr kumimoji="1" lang="ja-JP" altLang="en-US" sz="1600" dirty="0">
              <a:solidFill>
                <a:schemeClr val="accent5"/>
              </a:solidFill>
              <a:latin typeface="Arial Narrow" pitchFamily="34" charset="0"/>
            </a:endParaRPr>
          </a:p>
        </p:txBody>
      </p:sp>
      <p:sp>
        <p:nvSpPr>
          <p:cNvPr id="42" name="正方形/長方形 41"/>
          <p:cNvSpPr/>
          <p:nvPr/>
        </p:nvSpPr>
        <p:spPr>
          <a:xfrm>
            <a:off x="4301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３</a:t>
            </a:r>
            <a:endParaRPr kumimoji="1" lang="ja-JP" altLang="en-US" sz="1600" dirty="0">
              <a:solidFill>
                <a:schemeClr val="accent5"/>
              </a:solidFill>
              <a:latin typeface="Arial Narrow" pitchFamily="34" charset="0"/>
            </a:endParaRPr>
          </a:p>
        </p:txBody>
      </p:sp>
      <p:sp>
        <p:nvSpPr>
          <p:cNvPr id="43" name="正方形/長方形 42"/>
          <p:cNvSpPr/>
          <p:nvPr/>
        </p:nvSpPr>
        <p:spPr>
          <a:xfrm>
            <a:off x="1871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４</a:t>
            </a:r>
            <a:endParaRPr kumimoji="1" lang="ja-JP" altLang="en-US" sz="1600" dirty="0">
              <a:solidFill>
                <a:schemeClr val="accent5"/>
              </a:solidFill>
              <a:latin typeface="Arial Narrow" pitchFamily="34" charset="0"/>
            </a:endParaRPr>
          </a:p>
        </p:txBody>
      </p:sp>
      <p:sp>
        <p:nvSpPr>
          <p:cNvPr id="44" name="正方形/長方形 43"/>
          <p:cNvSpPr/>
          <p:nvPr/>
        </p:nvSpPr>
        <p:spPr>
          <a:xfrm>
            <a:off x="2681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５</a:t>
            </a:r>
            <a:endParaRPr kumimoji="1" lang="ja-JP" altLang="en-US" sz="1600" dirty="0">
              <a:solidFill>
                <a:schemeClr val="accent5"/>
              </a:solidFill>
              <a:latin typeface="Arial Narrow" pitchFamily="34" charset="0"/>
            </a:endParaRPr>
          </a:p>
        </p:txBody>
      </p:sp>
      <p:sp>
        <p:nvSpPr>
          <p:cNvPr id="45" name="正方形/長方形 44"/>
          <p:cNvSpPr/>
          <p:nvPr/>
        </p:nvSpPr>
        <p:spPr>
          <a:xfrm>
            <a:off x="3491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６</a:t>
            </a:r>
            <a:endParaRPr kumimoji="1" lang="ja-JP" altLang="en-US" sz="1600" dirty="0">
              <a:solidFill>
                <a:schemeClr val="accent5"/>
              </a:solidFill>
              <a:latin typeface="Arial Narrow" pitchFamily="34" charset="0"/>
            </a:endParaRPr>
          </a:p>
        </p:txBody>
      </p:sp>
      <p:sp>
        <p:nvSpPr>
          <p:cNvPr id="46" name="正方形/長方形 45"/>
          <p:cNvSpPr/>
          <p:nvPr/>
        </p:nvSpPr>
        <p:spPr>
          <a:xfrm>
            <a:off x="4301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７</a:t>
            </a:r>
            <a:endParaRPr kumimoji="1" lang="ja-JP" altLang="en-US" sz="1600" dirty="0">
              <a:solidFill>
                <a:schemeClr val="accent5"/>
              </a:solidFill>
              <a:latin typeface="Arial Narrow" pitchFamily="34" charset="0"/>
            </a:endParaRPr>
          </a:p>
        </p:txBody>
      </p:sp>
      <p:sp>
        <p:nvSpPr>
          <p:cNvPr id="47" name="正方形/長方形 46"/>
          <p:cNvSpPr/>
          <p:nvPr/>
        </p:nvSpPr>
        <p:spPr>
          <a:xfrm>
            <a:off x="1871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８</a:t>
            </a:r>
            <a:endParaRPr kumimoji="1" lang="ja-JP" altLang="en-US" sz="1600" dirty="0">
              <a:solidFill>
                <a:schemeClr val="accent5"/>
              </a:solidFill>
              <a:latin typeface="Arial Narrow" pitchFamily="34" charset="0"/>
            </a:endParaRPr>
          </a:p>
        </p:txBody>
      </p:sp>
      <p:sp>
        <p:nvSpPr>
          <p:cNvPr id="48" name="正方形/長方形 47"/>
          <p:cNvSpPr/>
          <p:nvPr/>
        </p:nvSpPr>
        <p:spPr>
          <a:xfrm>
            <a:off x="2681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ja-JP" altLang="en-US" sz="1600" dirty="0">
                <a:solidFill>
                  <a:schemeClr val="accent5"/>
                </a:solidFill>
                <a:latin typeface="Arial Narrow" pitchFamily="34" charset="0"/>
              </a:rPr>
              <a:t>９</a:t>
            </a:r>
          </a:p>
        </p:txBody>
      </p:sp>
      <p:sp>
        <p:nvSpPr>
          <p:cNvPr id="49" name="正方形/長方形 48"/>
          <p:cNvSpPr/>
          <p:nvPr/>
        </p:nvSpPr>
        <p:spPr>
          <a:xfrm>
            <a:off x="3491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１０</a:t>
            </a:r>
            <a:endParaRPr kumimoji="1" lang="ja-JP" altLang="en-US" sz="1600" dirty="0">
              <a:solidFill>
                <a:schemeClr val="accent5"/>
              </a:solidFill>
              <a:latin typeface="Arial Narrow" pitchFamily="34" charset="0"/>
            </a:endParaRPr>
          </a:p>
        </p:txBody>
      </p:sp>
      <p:sp>
        <p:nvSpPr>
          <p:cNvPr id="50" name="正方形/長方形 49"/>
          <p:cNvSpPr/>
          <p:nvPr/>
        </p:nvSpPr>
        <p:spPr>
          <a:xfrm>
            <a:off x="4301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１１</a:t>
            </a:r>
            <a:endParaRPr kumimoji="1" lang="ja-JP" altLang="en-US" sz="1600" dirty="0">
              <a:solidFill>
                <a:schemeClr val="accent5"/>
              </a:solidFill>
              <a:latin typeface="Arial Narrow" pitchFamily="34" charset="0"/>
            </a:endParaRPr>
          </a:p>
        </p:txBody>
      </p:sp>
      <p:sp>
        <p:nvSpPr>
          <p:cNvPr id="51" name="正方形/長方形 50"/>
          <p:cNvSpPr/>
          <p:nvPr/>
        </p:nvSpPr>
        <p:spPr>
          <a:xfrm>
            <a:off x="1871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１２</a:t>
            </a:r>
            <a:endParaRPr kumimoji="1" lang="ja-JP" altLang="en-US" sz="1600" dirty="0">
              <a:solidFill>
                <a:schemeClr val="accent5"/>
              </a:solidFill>
              <a:latin typeface="Arial Narrow" pitchFamily="34" charset="0"/>
            </a:endParaRPr>
          </a:p>
        </p:txBody>
      </p:sp>
      <p:sp>
        <p:nvSpPr>
          <p:cNvPr id="52" name="正方形/長方形 51"/>
          <p:cNvSpPr/>
          <p:nvPr/>
        </p:nvSpPr>
        <p:spPr>
          <a:xfrm>
            <a:off x="2681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１３</a:t>
            </a:r>
            <a:endParaRPr kumimoji="1" lang="ja-JP" altLang="en-US" sz="1600" dirty="0">
              <a:solidFill>
                <a:schemeClr val="accent5"/>
              </a:solidFill>
              <a:latin typeface="Arial Narrow" pitchFamily="34" charset="0"/>
            </a:endParaRPr>
          </a:p>
        </p:txBody>
      </p:sp>
      <p:sp>
        <p:nvSpPr>
          <p:cNvPr id="53" name="正方形/長方形 52"/>
          <p:cNvSpPr/>
          <p:nvPr/>
        </p:nvSpPr>
        <p:spPr>
          <a:xfrm>
            <a:off x="3491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１４</a:t>
            </a:r>
            <a:endParaRPr kumimoji="1" lang="ja-JP" altLang="en-US" sz="1600" dirty="0">
              <a:solidFill>
                <a:schemeClr val="accent5"/>
              </a:solidFill>
              <a:latin typeface="Arial Narrow" pitchFamily="34" charset="0"/>
            </a:endParaRPr>
          </a:p>
        </p:txBody>
      </p:sp>
      <p:sp>
        <p:nvSpPr>
          <p:cNvPr id="54" name="正方形/長方形 53"/>
          <p:cNvSpPr/>
          <p:nvPr/>
        </p:nvSpPr>
        <p:spPr>
          <a:xfrm>
            <a:off x="4301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１５</a:t>
            </a:r>
            <a:endParaRPr kumimoji="1" lang="ja-JP" altLang="en-US" sz="1600" dirty="0">
              <a:solidFill>
                <a:schemeClr val="accent5"/>
              </a:solidFill>
              <a:latin typeface="Arial Narrow" pitchFamily="34" charset="0"/>
            </a:endParaRPr>
          </a:p>
        </p:txBody>
      </p:sp>
      <p:cxnSp>
        <p:nvCxnSpPr>
          <p:cNvPr id="56" name="直線コネクタ 55"/>
          <p:cNvCxnSpPr/>
          <p:nvPr/>
        </p:nvCxnSpPr>
        <p:spPr>
          <a:xfrm flipV="1">
            <a:off x="1151962" y="2708992"/>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57" name="正方形/長方形 56"/>
          <p:cNvSpPr/>
          <p:nvPr/>
        </p:nvSpPr>
        <p:spPr>
          <a:xfrm>
            <a:off x="1691997" y="4779018"/>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400" b="1" dirty="0">
                <a:solidFill>
                  <a:schemeClr val="tx1"/>
                </a:solidFill>
                <a:latin typeface="Arial Narrow" pitchFamily="34" charset="0"/>
              </a:rPr>
              <a:t>1</a:t>
            </a:r>
            <a:endParaRPr kumimoji="1" lang="ja-JP" altLang="en-US" sz="2400" b="1" dirty="0">
              <a:solidFill>
                <a:schemeClr val="tx1"/>
              </a:solidFill>
              <a:latin typeface="Arial Narrow" pitchFamily="34" charset="0"/>
            </a:endParaRPr>
          </a:p>
        </p:txBody>
      </p:sp>
      <p:sp>
        <p:nvSpPr>
          <p:cNvPr id="58" name="正方形/長方形 57"/>
          <p:cNvSpPr/>
          <p:nvPr/>
        </p:nvSpPr>
        <p:spPr>
          <a:xfrm>
            <a:off x="2501994"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tx1"/>
                </a:solidFill>
                <a:latin typeface="Arial Narrow" pitchFamily="34" charset="0"/>
              </a:rPr>
              <a:t>0</a:t>
            </a:r>
            <a:endParaRPr kumimoji="1" lang="ja-JP" altLang="en-US" sz="2400" b="1" dirty="0">
              <a:solidFill>
                <a:schemeClr val="tx1"/>
              </a:solidFill>
              <a:latin typeface="Arial Narrow" pitchFamily="34" charset="0"/>
            </a:endParaRPr>
          </a:p>
        </p:txBody>
      </p:sp>
      <p:sp>
        <p:nvSpPr>
          <p:cNvPr id="59" name="正方形/長方形 58"/>
          <p:cNvSpPr/>
          <p:nvPr/>
        </p:nvSpPr>
        <p:spPr>
          <a:xfrm>
            <a:off x="3311995"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400" b="1" dirty="0">
                <a:solidFill>
                  <a:schemeClr val="accent6"/>
                </a:solidFill>
                <a:latin typeface="Arial Narrow" pitchFamily="34" charset="0"/>
              </a:rPr>
              <a:t>0</a:t>
            </a:r>
            <a:endParaRPr kumimoji="1" lang="ja-JP" altLang="en-US" sz="2400" b="1" dirty="0">
              <a:solidFill>
                <a:schemeClr val="accent6"/>
              </a:solidFill>
              <a:latin typeface="Arial Narrow" pitchFamily="34" charset="0"/>
            </a:endParaRPr>
          </a:p>
        </p:txBody>
      </p:sp>
      <p:sp>
        <p:nvSpPr>
          <p:cNvPr id="60" name="正方形/長方形 59"/>
          <p:cNvSpPr/>
          <p:nvPr/>
        </p:nvSpPr>
        <p:spPr>
          <a:xfrm>
            <a:off x="4121995"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400" b="1" dirty="0">
                <a:solidFill>
                  <a:schemeClr val="tx1"/>
                </a:solidFill>
                <a:latin typeface="Arial Narrow" pitchFamily="34" charset="0"/>
              </a:rPr>
              <a:t>1</a:t>
            </a:r>
            <a:endParaRPr kumimoji="1" lang="ja-JP" altLang="en-US" sz="2400" b="1" dirty="0">
              <a:solidFill>
                <a:schemeClr val="tx1"/>
              </a:solidFill>
              <a:latin typeface="Arial Narrow" pitchFamily="34" charset="0"/>
            </a:endParaRPr>
          </a:p>
        </p:txBody>
      </p:sp>
      <p:sp>
        <p:nvSpPr>
          <p:cNvPr id="66" name="正方形/長方形 65"/>
          <p:cNvSpPr/>
          <p:nvPr/>
        </p:nvSpPr>
        <p:spPr>
          <a:xfrm>
            <a:off x="2951982" y="5499023"/>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400" b="1" dirty="0">
                <a:solidFill>
                  <a:schemeClr val="accent6"/>
                </a:solidFill>
                <a:latin typeface="Arial Narrow" pitchFamily="34" charset="0"/>
              </a:rPr>
              <a:t>0</a:t>
            </a:r>
            <a:endParaRPr kumimoji="1" lang="ja-JP" altLang="en-US" sz="2400" b="1" dirty="0">
              <a:solidFill>
                <a:schemeClr val="accent6"/>
              </a:solidFill>
              <a:latin typeface="Arial Narrow" pitchFamily="34" charset="0"/>
            </a:endParaRPr>
          </a:p>
        </p:txBody>
      </p:sp>
    </p:spTree>
    <p:extLst>
      <p:ext uri="{BB962C8B-B14F-4D97-AF65-F5344CB8AC3E}">
        <p14:creationId xmlns:p14="http://schemas.microsoft.com/office/powerpoint/2010/main" val="36736606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sz="2400" dirty="0"/>
              <a:t>AMD Zen </a:t>
            </a:r>
            <a:r>
              <a:rPr lang="ja-JP" altLang="en-US" sz="2400" dirty="0"/>
              <a:t>という </a:t>
            </a:r>
            <a:r>
              <a:rPr lang="en-US" altLang="ja-JP" sz="2400" dirty="0"/>
              <a:t>CPU </a:t>
            </a:r>
            <a:r>
              <a:rPr lang="ja-JP" altLang="en-US" sz="2400" dirty="0"/>
              <a:t>のチップ写真</a:t>
            </a:r>
            <a:br>
              <a:rPr lang="en-US" altLang="ja-JP" sz="2400" dirty="0"/>
            </a:br>
            <a:r>
              <a:rPr lang="en-US" altLang="ja-JP" sz="1600" dirty="0" err="1"/>
              <a:t>Teja</a:t>
            </a:r>
            <a:r>
              <a:rPr lang="en-US" altLang="ja-JP" sz="1600" dirty="0"/>
              <a:t> Singh et al., Zen: An Energy-Efficient High-Performance ×86 Core </a:t>
            </a:r>
            <a:r>
              <a:rPr lang="ja-JP" altLang="en-US" sz="1600" dirty="0"/>
              <a:t>より</a:t>
            </a:r>
            <a:endParaRPr kumimoji="1" lang="ja-JP" altLang="en-US" sz="1600" dirty="0"/>
          </a:p>
        </p:txBody>
      </p:sp>
      <p:sp>
        <p:nvSpPr>
          <p:cNvPr id="3" name="テキスト プレースホルダー 2"/>
          <p:cNvSpPr>
            <a:spLocks noGrp="1"/>
          </p:cNvSpPr>
          <p:nvPr>
            <p:ph type="body" sz="quarter" idx="10"/>
          </p:nvPr>
        </p:nvSpPr>
        <p:spPr>
          <a:xfrm>
            <a:off x="521955" y="6129030"/>
            <a:ext cx="8280092" cy="449698"/>
          </a:xfrm>
        </p:spPr>
        <p:txBody>
          <a:bodyPr/>
          <a:lstStyle/>
          <a:p>
            <a:pPr lvl="1"/>
            <a:r>
              <a:rPr kumimoji="1" lang="ja-JP" altLang="en-US" dirty="0"/>
              <a:t>赤や紫の「田」の字の構造の部分が全部メモリ（</a:t>
            </a:r>
            <a:r>
              <a:rPr kumimoji="1" lang="en-US" altLang="ja-JP" dirty="0"/>
              <a:t>SRAM</a:t>
            </a:r>
            <a:r>
              <a:rPr kumimoji="1" lang="ja-JP" altLang="en-US" dirty="0"/>
              <a:t>）</a:t>
            </a:r>
            <a:endParaRPr kumimoji="1" lang="en-US" altLang="ja-JP" dirty="0"/>
          </a:p>
          <a:p>
            <a:pPr lvl="2"/>
            <a:r>
              <a:rPr kumimoji="1" lang="ja-JP" altLang="en-US" dirty="0"/>
              <a:t>レジスタやキャッシュ，各種テーブルなど</a:t>
            </a:r>
          </a:p>
        </p:txBody>
      </p:sp>
      <p:pic>
        <p:nvPicPr>
          <p:cNvPr id="5" name="図 4"/>
          <p:cNvPicPr>
            <a:picLocks noChangeAspect="1"/>
          </p:cNvPicPr>
          <p:nvPr/>
        </p:nvPicPr>
        <p:blipFill>
          <a:blip r:embed="rId2"/>
          <a:stretch>
            <a:fillRect/>
          </a:stretch>
        </p:blipFill>
        <p:spPr>
          <a:xfrm>
            <a:off x="1601967" y="1088974"/>
            <a:ext cx="6034158" cy="4785028"/>
          </a:xfrm>
          <a:prstGeom prst="rect">
            <a:avLst/>
          </a:prstGeom>
        </p:spPr>
      </p:pic>
    </p:spTree>
    <p:extLst>
      <p:ext uri="{BB962C8B-B14F-4D97-AF65-F5344CB8AC3E}">
        <p14:creationId xmlns:p14="http://schemas.microsoft.com/office/powerpoint/2010/main" val="35350233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「田」の字の構造</a:t>
            </a:r>
          </a:p>
        </p:txBody>
      </p:sp>
      <p:sp>
        <p:nvSpPr>
          <p:cNvPr id="3" name="テキスト プレースホルダー 2"/>
          <p:cNvSpPr>
            <a:spLocks noGrp="1"/>
          </p:cNvSpPr>
          <p:nvPr>
            <p:ph type="body" sz="quarter" idx="10"/>
          </p:nvPr>
        </p:nvSpPr>
        <p:spPr>
          <a:xfrm>
            <a:off x="611956" y="5859027"/>
            <a:ext cx="8280092" cy="449698"/>
          </a:xfrm>
        </p:spPr>
        <p:txBody>
          <a:bodyPr/>
          <a:lstStyle/>
          <a:p>
            <a:r>
              <a:rPr lang="ja-JP" altLang="en-US" dirty="0"/>
              <a:t>「田」の字の構造になっているのは，</a:t>
            </a:r>
            <a:endParaRPr lang="en-US" altLang="ja-JP" dirty="0"/>
          </a:p>
          <a:p>
            <a:pPr lvl="1"/>
            <a:r>
              <a:rPr lang="ja-JP" altLang="en-US" dirty="0"/>
              <a:t>縦線がデコーダで左右に対してワードラインをアサート</a:t>
            </a:r>
            <a:endParaRPr lang="en-US" altLang="ja-JP" dirty="0"/>
          </a:p>
          <a:p>
            <a:pPr lvl="1"/>
            <a:r>
              <a:rPr lang="ja-JP" altLang="en-US" dirty="0"/>
              <a:t>横線でビットラインのデータを拾う</a:t>
            </a:r>
          </a:p>
        </p:txBody>
      </p:sp>
      <p:grpSp>
        <p:nvGrpSpPr>
          <p:cNvPr id="46" name="グループ化 45"/>
          <p:cNvGrpSpPr/>
          <p:nvPr/>
        </p:nvGrpSpPr>
        <p:grpSpPr>
          <a:xfrm>
            <a:off x="4572000" y="998973"/>
            <a:ext cx="1980000" cy="2070000"/>
            <a:chOff x="881959" y="1358983"/>
            <a:chExt cx="3960035" cy="4140037"/>
          </a:xfrm>
        </p:grpSpPr>
        <p:sp>
          <p:nvSpPr>
            <p:cNvPr id="34" name="正方形/長方形 33"/>
            <p:cNvSpPr/>
            <p:nvPr/>
          </p:nvSpPr>
          <p:spPr>
            <a:xfrm>
              <a:off x="4031965"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35" name="正方形/長方形 34"/>
            <p:cNvSpPr/>
            <p:nvPr/>
          </p:nvSpPr>
          <p:spPr>
            <a:xfrm>
              <a:off x="3221985"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36" name="正方形/長方形 35"/>
            <p:cNvSpPr/>
            <p:nvPr/>
          </p:nvSpPr>
          <p:spPr>
            <a:xfrm>
              <a:off x="2411947"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37" name="正方形/長方形 36"/>
            <p:cNvSpPr/>
            <p:nvPr/>
          </p:nvSpPr>
          <p:spPr>
            <a:xfrm>
              <a:off x="1601967"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38" name="正方形/長方形 37"/>
            <p:cNvSpPr/>
            <p:nvPr/>
          </p:nvSpPr>
          <p:spPr>
            <a:xfrm>
              <a:off x="4031994"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39" name="正方形/長方形 38"/>
            <p:cNvSpPr/>
            <p:nvPr/>
          </p:nvSpPr>
          <p:spPr>
            <a:xfrm>
              <a:off x="3222014"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40" name="正方形/長方形 39"/>
            <p:cNvSpPr/>
            <p:nvPr/>
          </p:nvSpPr>
          <p:spPr>
            <a:xfrm>
              <a:off x="2411976"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41" name="正方形/長方形 40"/>
            <p:cNvSpPr/>
            <p:nvPr/>
          </p:nvSpPr>
          <p:spPr>
            <a:xfrm>
              <a:off x="1601996"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42" name="正方形/長方形 41"/>
            <p:cNvSpPr/>
            <p:nvPr/>
          </p:nvSpPr>
          <p:spPr>
            <a:xfrm>
              <a:off x="4031965"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43" name="正方形/長方形 42"/>
            <p:cNvSpPr/>
            <p:nvPr/>
          </p:nvSpPr>
          <p:spPr>
            <a:xfrm>
              <a:off x="3221985"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44" name="正方形/長方形 43"/>
            <p:cNvSpPr/>
            <p:nvPr/>
          </p:nvSpPr>
          <p:spPr>
            <a:xfrm>
              <a:off x="2411947"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45" name="正方形/長方形 44"/>
            <p:cNvSpPr/>
            <p:nvPr/>
          </p:nvSpPr>
          <p:spPr>
            <a:xfrm>
              <a:off x="1601967"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32" name="正方形/長方形 31"/>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33" name="正方形/長方形 32"/>
            <p:cNvSpPr/>
            <p:nvPr/>
          </p:nvSpPr>
          <p:spPr>
            <a:xfrm>
              <a:off x="3222014"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31" name="正方形/長方形 30"/>
            <p:cNvSpPr/>
            <p:nvPr/>
          </p:nvSpPr>
          <p:spPr>
            <a:xfrm>
              <a:off x="2411976"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cxnSp>
          <p:nvCxnSpPr>
            <p:cNvPr id="13" name="直線コネクタ 12"/>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Arial Narrow" pitchFamily="34" charset="0"/>
              </a:endParaRPr>
            </a:p>
          </p:txBody>
        </p:sp>
        <p:sp>
          <p:nvSpPr>
            <p:cNvPr id="29" name="台形 28"/>
            <p:cNvSpPr/>
            <p:nvPr/>
          </p:nvSpPr>
          <p:spPr>
            <a:xfrm rot="5400000" flipV="1">
              <a:off x="-468043" y="2978983"/>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Arial Narrow" pitchFamily="34" charset="0"/>
              </a:endParaRPr>
            </a:p>
          </p:txBody>
        </p:sp>
        <p:sp>
          <p:nvSpPr>
            <p:cNvPr id="30" name="正方形/長方形 29"/>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endParaRPr kumimoji="1" lang="ja-JP" altLang="en-US" sz="1600" dirty="0">
                <a:latin typeface="Arial Narrow" pitchFamily="34" charset="0"/>
              </a:endParaRPr>
            </a:p>
          </p:txBody>
        </p:sp>
      </p:grpSp>
      <p:grpSp>
        <p:nvGrpSpPr>
          <p:cNvPr id="47" name="グループ化 46"/>
          <p:cNvGrpSpPr/>
          <p:nvPr/>
        </p:nvGrpSpPr>
        <p:grpSpPr>
          <a:xfrm flipV="1">
            <a:off x="4572000" y="3068996"/>
            <a:ext cx="1980000" cy="2070023"/>
            <a:chOff x="881959" y="1358983"/>
            <a:chExt cx="3960035" cy="4140037"/>
          </a:xfrm>
        </p:grpSpPr>
        <p:sp>
          <p:nvSpPr>
            <p:cNvPr id="48" name="正方形/長方形 47"/>
            <p:cNvSpPr/>
            <p:nvPr/>
          </p:nvSpPr>
          <p:spPr>
            <a:xfrm>
              <a:off x="4031965"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49" name="正方形/長方形 48"/>
            <p:cNvSpPr/>
            <p:nvPr/>
          </p:nvSpPr>
          <p:spPr>
            <a:xfrm>
              <a:off x="3221985"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0" name="正方形/長方形 49"/>
            <p:cNvSpPr/>
            <p:nvPr/>
          </p:nvSpPr>
          <p:spPr>
            <a:xfrm>
              <a:off x="2411947"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1" name="正方形/長方形 50"/>
            <p:cNvSpPr/>
            <p:nvPr/>
          </p:nvSpPr>
          <p:spPr>
            <a:xfrm>
              <a:off x="1601967"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2" name="正方形/長方形 51"/>
            <p:cNvSpPr/>
            <p:nvPr/>
          </p:nvSpPr>
          <p:spPr>
            <a:xfrm>
              <a:off x="4031994"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3" name="正方形/長方形 52"/>
            <p:cNvSpPr/>
            <p:nvPr/>
          </p:nvSpPr>
          <p:spPr>
            <a:xfrm>
              <a:off x="3222014"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4" name="正方形/長方形 53"/>
            <p:cNvSpPr/>
            <p:nvPr/>
          </p:nvSpPr>
          <p:spPr>
            <a:xfrm>
              <a:off x="2411976"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5" name="正方形/長方形 54"/>
            <p:cNvSpPr/>
            <p:nvPr/>
          </p:nvSpPr>
          <p:spPr>
            <a:xfrm>
              <a:off x="1601996"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6" name="正方形/長方形 55"/>
            <p:cNvSpPr/>
            <p:nvPr/>
          </p:nvSpPr>
          <p:spPr>
            <a:xfrm>
              <a:off x="4031965"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7" name="正方形/長方形 56"/>
            <p:cNvSpPr/>
            <p:nvPr/>
          </p:nvSpPr>
          <p:spPr>
            <a:xfrm>
              <a:off x="3221985"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8" name="正方形/長方形 57"/>
            <p:cNvSpPr/>
            <p:nvPr/>
          </p:nvSpPr>
          <p:spPr>
            <a:xfrm>
              <a:off x="2411947"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59" name="正方形/長方形 58"/>
            <p:cNvSpPr/>
            <p:nvPr/>
          </p:nvSpPr>
          <p:spPr>
            <a:xfrm>
              <a:off x="1601967"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60" name="正方形/長方形 59"/>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61" name="正方形/長方形 60"/>
            <p:cNvSpPr/>
            <p:nvPr/>
          </p:nvSpPr>
          <p:spPr>
            <a:xfrm>
              <a:off x="3222014"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62" name="正方形/長方形 61"/>
            <p:cNvSpPr/>
            <p:nvPr/>
          </p:nvSpPr>
          <p:spPr>
            <a:xfrm>
              <a:off x="2411976"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63" name="正方形/長方形 62"/>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cxnSp>
          <p:nvCxnSpPr>
            <p:cNvPr id="64" name="直線コネクタ 63"/>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cxnSp>
          <p:nvCxnSpPr>
            <p:cNvPr id="65" name="直線コネクタ 64"/>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cxnSp>
          <p:nvCxnSpPr>
            <p:cNvPr id="66" name="直線コネクタ 65"/>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cxnSp>
          <p:nvCxnSpPr>
            <p:cNvPr id="67" name="直線コネクタ 66"/>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68" name="直線コネクタ 67"/>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69" name="直線コネクタ 68"/>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70" name="直線コネクタ 69"/>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71" name="直線コネクタ 70"/>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72" name="台形 71"/>
            <p:cNvSpPr/>
            <p:nvPr/>
          </p:nvSpPr>
          <p:spPr>
            <a:xfrm flipV="1">
              <a:off x="1601993" y="5138977"/>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Arial Narrow" pitchFamily="34" charset="0"/>
              </a:endParaRPr>
            </a:p>
          </p:txBody>
        </p:sp>
        <p:sp>
          <p:nvSpPr>
            <p:cNvPr id="73" name="台形 72"/>
            <p:cNvSpPr/>
            <p:nvPr/>
          </p:nvSpPr>
          <p:spPr>
            <a:xfrm rot="5400000" flipV="1">
              <a:off x="-468043" y="2978983"/>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Arial Narrow" pitchFamily="34" charset="0"/>
              </a:endParaRPr>
            </a:p>
          </p:txBody>
        </p:sp>
        <p:sp>
          <p:nvSpPr>
            <p:cNvPr id="74" name="正方形/長方形 73"/>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endParaRPr kumimoji="1" lang="ja-JP" altLang="en-US" sz="1600" dirty="0">
                <a:latin typeface="Arial Narrow" pitchFamily="34" charset="0"/>
              </a:endParaRPr>
            </a:p>
          </p:txBody>
        </p:sp>
      </p:grpSp>
      <p:grpSp>
        <p:nvGrpSpPr>
          <p:cNvPr id="75" name="グループ化 74"/>
          <p:cNvGrpSpPr/>
          <p:nvPr/>
        </p:nvGrpSpPr>
        <p:grpSpPr>
          <a:xfrm flipH="1">
            <a:off x="2411976" y="998973"/>
            <a:ext cx="2070023" cy="2070000"/>
            <a:chOff x="881959" y="1358983"/>
            <a:chExt cx="3960035" cy="4140037"/>
          </a:xfrm>
        </p:grpSpPr>
        <p:sp>
          <p:nvSpPr>
            <p:cNvPr id="76" name="正方形/長方形 75"/>
            <p:cNvSpPr/>
            <p:nvPr/>
          </p:nvSpPr>
          <p:spPr>
            <a:xfrm>
              <a:off x="4031965"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77" name="正方形/長方形 76"/>
            <p:cNvSpPr/>
            <p:nvPr/>
          </p:nvSpPr>
          <p:spPr>
            <a:xfrm>
              <a:off x="3221985"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78" name="正方形/長方形 77"/>
            <p:cNvSpPr/>
            <p:nvPr/>
          </p:nvSpPr>
          <p:spPr>
            <a:xfrm>
              <a:off x="2411947"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79" name="正方形/長方形 78"/>
            <p:cNvSpPr/>
            <p:nvPr/>
          </p:nvSpPr>
          <p:spPr>
            <a:xfrm>
              <a:off x="1601967"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0" name="正方形/長方形 79"/>
            <p:cNvSpPr/>
            <p:nvPr/>
          </p:nvSpPr>
          <p:spPr>
            <a:xfrm>
              <a:off x="4031994"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1" name="正方形/長方形 80"/>
            <p:cNvSpPr/>
            <p:nvPr/>
          </p:nvSpPr>
          <p:spPr>
            <a:xfrm>
              <a:off x="3222014"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2" name="正方形/長方形 81"/>
            <p:cNvSpPr/>
            <p:nvPr/>
          </p:nvSpPr>
          <p:spPr>
            <a:xfrm>
              <a:off x="2411976"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3" name="正方形/長方形 82"/>
            <p:cNvSpPr/>
            <p:nvPr/>
          </p:nvSpPr>
          <p:spPr>
            <a:xfrm>
              <a:off x="1601996"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4" name="正方形/長方形 83"/>
            <p:cNvSpPr/>
            <p:nvPr/>
          </p:nvSpPr>
          <p:spPr>
            <a:xfrm>
              <a:off x="4031965"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5" name="正方形/長方形 84"/>
            <p:cNvSpPr/>
            <p:nvPr/>
          </p:nvSpPr>
          <p:spPr>
            <a:xfrm>
              <a:off x="3221985"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6" name="正方形/長方形 85"/>
            <p:cNvSpPr/>
            <p:nvPr/>
          </p:nvSpPr>
          <p:spPr>
            <a:xfrm>
              <a:off x="2411947"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7" name="正方形/長方形 86"/>
            <p:cNvSpPr/>
            <p:nvPr/>
          </p:nvSpPr>
          <p:spPr>
            <a:xfrm>
              <a:off x="1601967"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8" name="正方形/長方形 87"/>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89" name="正方形/長方形 88"/>
            <p:cNvSpPr/>
            <p:nvPr/>
          </p:nvSpPr>
          <p:spPr>
            <a:xfrm>
              <a:off x="3222014"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90" name="正方形/長方形 89"/>
            <p:cNvSpPr/>
            <p:nvPr/>
          </p:nvSpPr>
          <p:spPr>
            <a:xfrm>
              <a:off x="2411976"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91" name="正方形/長方形 90"/>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cxnSp>
          <p:nvCxnSpPr>
            <p:cNvPr id="92" name="直線コネクタ 91"/>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cxnSp>
          <p:nvCxnSpPr>
            <p:cNvPr id="93" name="直線コネクタ 92"/>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cxnSp>
          <p:nvCxnSpPr>
            <p:cNvPr id="94" name="直線コネクタ 93"/>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cxnSp>
          <p:nvCxnSpPr>
            <p:cNvPr id="95" name="直線コネクタ 94"/>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96" name="直線コネクタ 95"/>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97" name="直線コネクタ 96"/>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98" name="直線コネクタ 97"/>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99" name="直線コネクタ 98"/>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100" name="台形 99"/>
            <p:cNvSpPr/>
            <p:nvPr/>
          </p:nvSpPr>
          <p:spPr>
            <a:xfrm flipV="1">
              <a:off x="1601993" y="5138977"/>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Arial Narrow" pitchFamily="34" charset="0"/>
              </a:endParaRPr>
            </a:p>
          </p:txBody>
        </p:sp>
        <p:sp>
          <p:nvSpPr>
            <p:cNvPr id="101" name="台形 100"/>
            <p:cNvSpPr/>
            <p:nvPr/>
          </p:nvSpPr>
          <p:spPr>
            <a:xfrm rot="5400000" flipV="1">
              <a:off x="-468043" y="2978983"/>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Arial Narrow" pitchFamily="34" charset="0"/>
              </a:endParaRPr>
            </a:p>
          </p:txBody>
        </p:sp>
        <p:sp>
          <p:nvSpPr>
            <p:cNvPr id="102" name="正方形/長方形 101"/>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endParaRPr kumimoji="1" lang="ja-JP" altLang="en-US" sz="1600" dirty="0">
                <a:latin typeface="Arial Narrow" pitchFamily="34" charset="0"/>
              </a:endParaRPr>
            </a:p>
          </p:txBody>
        </p:sp>
      </p:grpSp>
      <p:grpSp>
        <p:nvGrpSpPr>
          <p:cNvPr id="103" name="グループ化 102"/>
          <p:cNvGrpSpPr/>
          <p:nvPr/>
        </p:nvGrpSpPr>
        <p:grpSpPr>
          <a:xfrm flipH="1" flipV="1">
            <a:off x="2411976" y="3068995"/>
            <a:ext cx="2070023" cy="2070023"/>
            <a:chOff x="881959" y="1358983"/>
            <a:chExt cx="3960035" cy="4140037"/>
          </a:xfrm>
        </p:grpSpPr>
        <p:sp>
          <p:nvSpPr>
            <p:cNvPr id="104" name="正方形/長方形 103"/>
            <p:cNvSpPr/>
            <p:nvPr/>
          </p:nvSpPr>
          <p:spPr>
            <a:xfrm>
              <a:off x="4031965"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05" name="正方形/長方形 104"/>
            <p:cNvSpPr/>
            <p:nvPr/>
          </p:nvSpPr>
          <p:spPr>
            <a:xfrm>
              <a:off x="3221985"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06" name="正方形/長方形 105"/>
            <p:cNvSpPr/>
            <p:nvPr/>
          </p:nvSpPr>
          <p:spPr>
            <a:xfrm>
              <a:off x="2411947"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07" name="正方形/長方形 106"/>
            <p:cNvSpPr/>
            <p:nvPr/>
          </p:nvSpPr>
          <p:spPr>
            <a:xfrm>
              <a:off x="1601967"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08" name="正方形/長方形 107"/>
            <p:cNvSpPr/>
            <p:nvPr/>
          </p:nvSpPr>
          <p:spPr>
            <a:xfrm>
              <a:off x="4031994"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09" name="正方形/長方形 108"/>
            <p:cNvSpPr/>
            <p:nvPr/>
          </p:nvSpPr>
          <p:spPr>
            <a:xfrm>
              <a:off x="3222014"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0" name="正方形/長方形 109"/>
            <p:cNvSpPr/>
            <p:nvPr/>
          </p:nvSpPr>
          <p:spPr>
            <a:xfrm>
              <a:off x="2411976"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1" name="正方形/長方形 110"/>
            <p:cNvSpPr/>
            <p:nvPr/>
          </p:nvSpPr>
          <p:spPr>
            <a:xfrm>
              <a:off x="1601996"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2" name="正方形/長方形 111"/>
            <p:cNvSpPr/>
            <p:nvPr/>
          </p:nvSpPr>
          <p:spPr>
            <a:xfrm>
              <a:off x="4031965"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3" name="正方形/長方形 112"/>
            <p:cNvSpPr/>
            <p:nvPr/>
          </p:nvSpPr>
          <p:spPr>
            <a:xfrm>
              <a:off x="3221985"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4" name="正方形/長方形 113"/>
            <p:cNvSpPr/>
            <p:nvPr/>
          </p:nvSpPr>
          <p:spPr>
            <a:xfrm>
              <a:off x="2411947"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5" name="正方形/長方形 114"/>
            <p:cNvSpPr/>
            <p:nvPr/>
          </p:nvSpPr>
          <p:spPr>
            <a:xfrm>
              <a:off x="1601967"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6" name="正方形/長方形 115"/>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7" name="正方形/長方形 116"/>
            <p:cNvSpPr/>
            <p:nvPr/>
          </p:nvSpPr>
          <p:spPr>
            <a:xfrm>
              <a:off x="3222014"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8" name="正方形/長方形 117"/>
            <p:cNvSpPr/>
            <p:nvPr/>
          </p:nvSpPr>
          <p:spPr>
            <a:xfrm>
              <a:off x="2411976"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sp>
          <p:nvSpPr>
            <p:cNvPr id="119" name="正方形/長方形 118"/>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sz="1600" dirty="0">
                <a:latin typeface="Arial Narrow" pitchFamily="34" charset="0"/>
              </a:endParaRPr>
            </a:p>
          </p:txBody>
        </p:sp>
        <p:cxnSp>
          <p:nvCxnSpPr>
            <p:cNvPr id="120" name="直線コネクタ 119"/>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cxnSp>
          <p:nvCxnSpPr>
            <p:cNvPr id="121" name="直線コネクタ 120"/>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cxnSp>
          <p:nvCxnSpPr>
            <p:cNvPr id="122" name="直線コネクタ 121"/>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cxnSp>
          <p:nvCxnSpPr>
            <p:cNvPr id="123" name="直線コネクタ 1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124" name="直線コネクタ 1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125" name="直線コネクタ 1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126" name="直線コネクタ 1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127" name="直線コネクタ 1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128" name="台形 127"/>
            <p:cNvSpPr/>
            <p:nvPr/>
          </p:nvSpPr>
          <p:spPr>
            <a:xfrm flipV="1">
              <a:off x="1601993" y="5138977"/>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Arial Narrow" pitchFamily="34" charset="0"/>
              </a:endParaRPr>
            </a:p>
          </p:txBody>
        </p:sp>
        <p:sp>
          <p:nvSpPr>
            <p:cNvPr id="129" name="台形 128"/>
            <p:cNvSpPr/>
            <p:nvPr/>
          </p:nvSpPr>
          <p:spPr>
            <a:xfrm rot="5400000" flipV="1">
              <a:off x="-468043" y="2978983"/>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Arial Narrow" pitchFamily="34" charset="0"/>
              </a:endParaRPr>
            </a:p>
          </p:txBody>
        </p:sp>
        <p:sp>
          <p:nvSpPr>
            <p:cNvPr id="130" name="正方形/長方形 129"/>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endParaRPr kumimoji="1" lang="ja-JP" altLang="en-US" sz="1600" dirty="0">
                <a:latin typeface="Arial Narrow" pitchFamily="34" charset="0"/>
              </a:endParaRPr>
            </a:p>
          </p:txBody>
        </p:sp>
      </p:grpSp>
    </p:spTree>
    <p:extLst>
      <p:ext uri="{BB962C8B-B14F-4D97-AF65-F5344CB8AC3E}">
        <p14:creationId xmlns:p14="http://schemas.microsoft.com/office/powerpoint/2010/main" val="35238089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lang="ja-JP" altLang="en-US" dirty="0"/>
              <a:t>メモリの基本</a:t>
            </a:r>
            <a:endParaRPr lang="en-US" altLang="ja-JP" dirty="0"/>
          </a:p>
          <a:p>
            <a:pPr marL="817200" lvl="1" indent="-457200">
              <a:buFont typeface="+mj-lt"/>
              <a:buAutoNum type="arabicPeriod"/>
            </a:pPr>
            <a:r>
              <a:rPr lang="ja-JP" altLang="en-US" dirty="0"/>
              <a:t>構造</a:t>
            </a:r>
            <a:endParaRPr lang="en-US" altLang="ja-JP" dirty="0"/>
          </a:p>
          <a:p>
            <a:pPr marL="817200" lvl="1" indent="-457200">
              <a:buFont typeface="+mj-lt"/>
              <a:buAutoNum type="arabicPeriod"/>
            </a:pPr>
            <a:r>
              <a:rPr lang="ja-JP" altLang="en-US" dirty="0"/>
              <a:t>動作</a:t>
            </a:r>
            <a:endParaRPr lang="en-US" altLang="ja-JP" dirty="0"/>
          </a:p>
          <a:p>
            <a:pPr marL="817200" lvl="1" indent="-457200">
              <a:buFont typeface="+mj-lt"/>
              <a:buAutoNum type="arabicPeriod"/>
            </a:pPr>
            <a:r>
              <a:rPr lang="ja-JP" altLang="en-US" b="1" dirty="0"/>
              <a:t>容量と速度</a:t>
            </a:r>
            <a:endParaRPr lang="en-US" altLang="ja-JP" b="1" dirty="0"/>
          </a:p>
          <a:p>
            <a:pPr marL="457200" indent="-457200">
              <a:buFont typeface="+mj-lt"/>
              <a:buAutoNum type="arabicPeriod"/>
            </a:pPr>
            <a:r>
              <a:rPr lang="ja-JP" altLang="en-US" dirty="0"/>
              <a:t>メモリの詳細</a:t>
            </a:r>
            <a:endParaRPr lang="en-US" altLang="ja-JP" dirty="0"/>
          </a:p>
          <a:p>
            <a:pPr marL="817200" lvl="1" indent="-457200">
              <a:buFont typeface="+mj-lt"/>
              <a:buAutoNum type="arabicPeriod"/>
            </a:pPr>
            <a:r>
              <a:rPr lang="en-US" altLang="ja-JP" dirty="0"/>
              <a:t>SRAM </a:t>
            </a:r>
            <a:r>
              <a:rPr lang="ja-JP" altLang="en-US" dirty="0"/>
              <a:t>と </a:t>
            </a:r>
            <a:r>
              <a:rPr lang="en-US" altLang="ja-JP" dirty="0"/>
              <a:t>DRAM</a:t>
            </a:r>
          </a:p>
          <a:p>
            <a:pPr marL="817200" lvl="1" indent="-457200">
              <a:buFont typeface="+mj-lt"/>
              <a:buAutoNum type="arabicPeriod"/>
            </a:pPr>
            <a:r>
              <a:rPr lang="ja-JP" altLang="en-US" dirty="0"/>
              <a:t>なぜメモリが存在するのか？</a:t>
            </a:r>
            <a:endParaRPr lang="en-US" altLang="ja-JP" dirty="0"/>
          </a:p>
          <a:p>
            <a:pPr marL="817200" lvl="1" indent="-457200">
              <a:buFont typeface="+mj-lt"/>
              <a:buAutoNum type="arabicPeriod"/>
            </a:pPr>
            <a:r>
              <a:rPr lang="ja-JP" altLang="en-US" dirty="0"/>
              <a:t>マルチポート・メモリ</a:t>
            </a:r>
            <a:endParaRPr lang="en-US" altLang="ja-JP" dirty="0"/>
          </a:p>
          <a:p>
            <a:pPr marL="817200" lvl="1" indent="-457200">
              <a:buFont typeface="+mj-lt"/>
              <a:buAutoNum type="arabicPeriod"/>
            </a:pPr>
            <a:r>
              <a:rPr lang="ja-JP" altLang="en-US" dirty="0"/>
              <a:t>メモリを対象にしたアタック</a:t>
            </a:r>
          </a:p>
        </p:txBody>
      </p:sp>
    </p:spTree>
    <p:extLst>
      <p:ext uri="{BB962C8B-B14F-4D97-AF65-F5344CB8AC3E}">
        <p14:creationId xmlns:p14="http://schemas.microsoft.com/office/powerpoint/2010/main" val="18413483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メモリの性質</a:t>
            </a:r>
          </a:p>
        </p:txBody>
      </p:sp>
      <p:sp>
        <p:nvSpPr>
          <p:cNvPr id="3" name="テキスト プレースホルダー 2"/>
          <p:cNvSpPr>
            <a:spLocks noGrp="1"/>
          </p:cNvSpPr>
          <p:nvPr>
            <p:ph type="body" sz="quarter" idx="10"/>
          </p:nvPr>
        </p:nvSpPr>
        <p:spPr/>
        <p:txBody>
          <a:bodyPr/>
          <a:lstStyle/>
          <a:p>
            <a:r>
              <a:rPr kumimoji="1" lang="ja-JP" altLang="en-US" dirty="0"/>
              <a:t>容量（大きい </a:t>
            </a:r>
            <a:r>
              <a:rPr kumimoji="1" lang="en-US" altLang="ja-JP" dirty="0"/>
              <a:t>or </a:t>
            </a:r>
            <a:r>
              <a:rPr kumimoji="1" lang="ja-JP" altLang="en-US" dirty="0"/>
              <a:t>小さい）</a:t>
            </a:r>
            <a:endParaRPr kumimoji="1" lang="en-US" altLang="ja-JP" dirty="0"/>
          </a:p>
          <a:p>
            <a:pPr lvl="1"/>
            <a:r>
              <a:rPr kumimoji="1" lang="ja-JP" altLang="en-US" dirty="0"/>
              <a:t>どのぐらい数のデータを覚えることができるか</a:t>
            </a:r>
            <a:endParaRPr kumimoji="1" lang="en-US" altLang="ja-JP" dirty="0"/>
          </a:p>
          <a:p>
            <a:r>
              <a:rPr kumimoji="1" lang="ja-JP" altLang="en-US" dirty="0"/>
              <a:t>速度（速い </a:t>
            </a:r>
            <a:r>
              <a:rPr kumimoji="1" lang="en-US" altLang="ja-JP" dirty="0"/>
              <a:t>or </a:t>
            </a:r>
            <a:r>
              <a:rPr kumimoji="1" lang="ja-JP" altLang="en-US" dirty="0"/>
              <a:t>遅い）</a:t>
            </a:r>
            <a:endParaRPr kumimoji="1" lang="en-US" altLang="ja-JP" dirty="0"/>
          </a:p>
          <a:p>
            <a:pPr lvl="1"/>
            <a:r>
              <a:rPr kumimoji="1" lang="ja-JP" altLang="en-US" dirty="0"/>
              <a:t>どのぐらいの速さで読み書きできるか</a:t>
            </a:r>
            <a:endParaRPr kumimoji="1" lang="en-US" altLang="ja-JP" dirty="0"/>
          </a:p>
          <a:p>
            <a:r>
              <a:rPr lang="ja-JP" altLang="en-US" dirty="0"/>
              <a:t>容量と速度にはトレードオフがある</a:t>
            </a:r>
            <a:endParaRPr lang="en-US" altLang="ja-JP" dirty="0"/>
          </a:p>
          <a:p>
            <a:pPr lvl="1"/>
            <a:r>
              <a:rPr lang="ja-JP" altLang="en-US" dirty="0">
                <a:solidFill>
                  <a:schemeClr val="accent5"/>
                </a:solidFill>
              </a:rPr>
              <a:t>「大きくて速くいメモリ」は作ることができない</a:t>
            </a:r>
            <a:endParaRPr kumimoji="1" lang="ja-JP" altLang="en-US" dirty="0">
              <a:solidFill>
                <a:schemeClr val="accent5"/>
              </a:solidFill>
            </a:endParaRPr>
          </a:p>
        </p:txBody>
      </p:sp>
    </p:spTree>
    <p:extLst>
      <p:ext uri="{BB962C8B-B14F-4D97-AF65-F5344CB8AC3E}">
        <p14:creationId xmlns:p14="http://schemas.microsoft.com/office/powerpoint/2010/main" val="23205119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アクセス時間は容量の平方根ぐらいに比例</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5292008" y="1088974"/>
                <a:ext cx="3600040" cy="5219751"/>
              </a:xfrm>
            </p:spPr>
            <p:txBody>
              <a:bodyPr anchor="t"/>
              <a:lstStyle/>
              <a:p>
                <a:r>
                  <a:rPr lang="ja-JP" altLang="en-US" dirty="0"/>
                  <a:t>格子状に並んだセルの</a:t>
                </a:r>
                <a:r>
                  <a:rPr lang="ja-JP" altLang="en-US" dirty="0">
                    <a:solidFill>
                      <a:schemeClr val="accent5"/>
                    </a:solidFill>
                  </a:rPr>
                  <a:t>外周部の信号線の長さ</a:t>
                </a:r>
                <a:r>
                  <a:rPr lang="ja-JP" altLang="en-US" dirty="0"/>
                  <a:t>がアクセス時間を決める</a:t>
                </a:r>
                <a:endParaRPr lang="en-US" altLang="ja-JP" dirty="0"/>
              </a:p>
              <a:p>
                <a:r>
                  <a:rPr kumimoji="1" lang="ja-JP" altLang="en-US" dirty="0"/>
                  <a:t>容量（セルの数）が一定の場合，正方形に近くするのが最も経路が短くなる</a:t>
                </a:r>
                <a:endParaRPr kumimoji="1" lang="en-US" altLang="ja-JP" dirty="0"/>
              </a:p>
              <a:p>
                <a:r>
                  <a:rPr lang="ja-JP" altLang="en-US" dirty="0">
                    <a:solidFill>
                      <a:schemeClr val="accent5"/>
                    </a:solidFill>
                  </a:rPr>
                  <a:t>メモリ容量 </a:t>
                </a:r>
                <a:r>
                  <a:rPr lang="en-US" altLang="ja-JP" dirty="0">
                    <a:solidFill>
                      <a:schemeClr val="accent5"/>
                    </a:solidFill>
                  </a:rPr>
                  <a:t>=</a:t>
                </a:r>
                <a14:m>
                  <m:oMath xmlns:m="http://schemas.openxmlformats.org/officeDocument/2006/math">
                    <m:sSup>
                      <m:sSupPr>
                        <m:ctrlPr>
                          <a:rPr lang="en-US" altLang="ja-JP" i="1" dirty="0">
                            <a:solidFill>
                              <a:schemeClr val="accent5"/>
                            </a:solidFill>
                            <a:latin typeface="Cambria Math" panose="02040503050406030204" pitchFamily="18" charset="0"/>
                          </a:rPr>
                        </m:ctrlPr>
                      </m:sSupPr>
                      <m:e>
                        <m:r>
                          <m:rPr>
                            <m:nor/>
                          </m:rPr>
                          <a:rPr lang="en-US" altLang="ja-JP" dirty="0">
                            <a:solidFill>
                              <a:schemeClr val="accent5"/>
                            </a:solidFill>
                          </a:rPr>
                          <m:t> (</m:t>
                        </m:r>
                        <m:r>
                          <m:rPr>
                            <m:nor/>
                          </m:rPr>
                          <a:rPr lang="ja-JP" altLang="en-US" dirty="0">
                            <a:solidFill>
                              <a:schemeClr val="accent5"/>
                            </a:solidFill>
                          </a:rPr>
                          <m:t>外周部の長さ</m:t>
                        </m:r>
                        <m:r>
                          <a:rPr lang="en-US" altLang="ja-JP" i="1" dirty="0">
                            <a:solidFill>
                              <a:schemeClr val="accent5"/>
                            </a:solidFill>
                            <a:latin typeface="Cambria Math" panose="02040503050406030204" pitchFamily="18" charset="0"/>
                          </a:rPr>
                          <m:t>)</m:t>
                        </m:r>
                      </m:e>
                      <m:sup>
                        <m:r>
                          <a:rPr lang="en-US" altLang="ja-JP" i="1" dirty="0">
                            <a:solidFill>
                              <a:schemeClr val="accent5"/>
                            </a:solidFill>
                            <a:latin typeface="Cambria Math" panose="02040503050406030204" pitchFamily="18" charset="0"/>
                          </a:rPr>
                          <m:t>2</m:t>
                        </m:r>
                      </m:sup>
                    </m:sSup>
                  </m:oMath>
                </a14:m>
                <a:endParaRPr kumimoji="1" lang="en-US" altLang="ja-JP" dirty="0"/>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5292008" y="1088974"/>
                <a:ext cx="3600040" cy="5219751"/>
              </a:xfrm>
              <a:blipFill>
                <a:blip r:embed="rId2"/>
                <a:stretch>
                  <a:fillRect l="-1523" t="-350" r="-1692"/>
                </a:stretch>
              </a:blipFill>
            </p:spPr>
            <p:txBody>
              <a:bodyPr/>
              <a:lstStyle/>
              <a:p>
                <a:r>
                  <a:rPr lang="en-US">
                    <a:noFill/>
                  </a:rPr>
                  <a:t> </a:t>
                </a:r>
              </a:p>
            </p:txBody>
          </p:sp>
        </mc:Fallback>
      </mc:AlternateContent>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5" name="正方形/長方形 4"/>
          <p:cNvSpPr/>
          <p:nvPr/>
        </p:nvSpPr>
        <p:spPr>
          <a:xfrm>
            <a:off x="2411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6" name="正方形/長方形 5"/>
          <p:cNvSpPr/>
          <p:nvPr/>
        </p:nvSpPr>
        <p:spPr>
          <a:xfrm>
            <a:off x="322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7" name="正方形/長方形 6"/>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1601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10" name="正方形/長方形 9"/>
          <p:cNvSpPr/>
          <p:nvPr/>
        </p:nvSpPr>
        <p:spPr>
          <a:xfrm>
            <a:off x="2411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kumimoji="1" lang="ja-JP" altLang="en-US" sz="1600" dirty="0">
              <a:latin typeface="Arial Narrow" pitchFamily="34" charset="0"/>
            </a:endParaRPr>
          </a:p>
        </p:txBody>
      </p:sp>
      <p:sp>
        <p:nvSpPr>
          <p:cNvPr id="11" name="正方形/長方形 10"/>
          <p:cNvSpPr/>
          <p:nvPr/>
        </p:nvSpPr>
        <p:spPr>
          <a:xfrm>
            <a:off x="322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2" name="正方形/長方形 11"/>
          <p:cNvSpPr/>
          <p:nvPr/>
        </p:nvSpPr>
        <p:spPr>
          <a:xfrm>
            <a:off x="4031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cxnSp>
        <p:nvCxnSpPr>
          <p:cNvPr id="13" name="直線コネクタ 12"/>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1601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5" name="正方形/長方形 14"/>
          <p:cNvSpPr/>
          <p:nvPr/>
        </p:nvSpPr>
        <p:spPr>
          <a:xfrm>
            <a:off x="2411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6" name="正方形/長方形 15"/>
          <p:cNvSpPr/>
          <p:nvPr/>
        </p:nvSpPr>
        <p:spPr>
          <a:xfrm>
            <a:off x="322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sp>
        <p:nvSpPr>
          <p:cNvPr id="17" name="正方形/長方形 16"/>
          <p:cNvSpPr/>
          <p:nvPr/>
        </p:nvSpPr>
        <p:spPr>
          <a:xfrm>
            <a:off x="4031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1601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0" name="正方形/長方形 19"/>
          <p:cNvSpPr/>
          <p:nvPr/>
        </p:nvSpPr>
        <p:spPr>
          <a:xfrm>
            <a:off x="2411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1" name="正方形/長方形 20"/>
          <p:cNvSpPr/>
          <p:nvPr/>
        </p:nvSpPr>
        <p:spPr>
          <a:xfrm>
            <a:off x="322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1</a:t>
            </a:r>
            <a:endParaRPr kumimoji="1" lang="ja-JP" altLang="en-US" sz="1600" dirty="0">
              <a:latin typeface="Arial Narrow" pitchFamily="34" charset="0"/>
            </a:endParaRPr>
          </a:p>
        </p:txBody>
      </p:sp>
      <p:sp>
        <p:nvSpPr>
          <p:cNvPr id="22" name="正方形/長方形 21"/>
          <p:cNvSpPr/>
          <p:nvPr/>
        </p:nvSpPr>
        <p:spPr>
          <a:xfrm>
            <a:off x="4031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Arial Narrow" pitchFamily="34" charset="0"/>
              </a:rPr>
              <a:t>0</a:t>
            </a:r>
            <a:endParaRPr kumimoji="1" lang="ja-JP" altLang="en-US" sz="1600" dirty="0">
              <a:latin typeface="Arial Narrow" pitchFamily="34" charset="0"/>
            </a:endParaRPr>
          </a:p>
        </p:txBody>
      </p: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cxnSp>
        <p:nvCxnSpPr>
          <p:cNvPr id="29" name="直線コネクタ 28"/>
          <p:cNvCxnSpPr/>
          <p:nvPr/>
        </p:nvCxnSpPr>
        <p:spPr>
          <a:xfrm flipV="1">
            <a:off x="3061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3942004" y="3248987"/>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lines</a:t>
            </a:r>
            <a:endParaRPr kumimoji="1" lang="ja-JP" altLang="en-US" sz="1600" dirty="0">
              <a:latin typeface="Arial Narrow" pitchFamily="34" charset="0"/>
            </a:endParaRPr>
          </a:p>
        </p:txBody>
      </p:sp>
      <p:sp>
        <p:nvSpPr>
          <p:cNvPr id="31" name="正方形/長方形 30"/>
          <p:cNvSpPr/>
          <p:nvPr/>
        </p:nvSpPr>
        <p:spPr>
          <a:xfrm>
            <a:off x="4211996" y="1358977"/>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cell</a:t>
            </a:r>
            <a:endParaRPr kumimoji="1" lang="ja-JP" altLang="en-US" sz="1600" dirty="0">
              <a:latin typeface="Arial Narrow" pitchFamily="34" charset="0"/>
            </a:endParaRPr>
          </a:p>
        </p:txBody>
      </p:sp>
      <p:sp>
        <p:nvSpPr>
          <p:cNvPr id="32" name="台形 31"/>
          <p:cNvSpPr/>
          <p:nvPr/>
        </p:nvSpPr>
        <p:spPr>
          <a:xfrm rot="5400000" flipV="1">
            <a:off x="-468043" y="2978983"/>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Arial Narrow" pitchFamily="34" charset="0"/>
            </a:endParaRPr>
          </a:p>
        </p:txBody>
      </p:sp>
      <p:sp>
        <p:nvSpPr>
          <p:cNvPr id="33" name="正方形/長方形 32"/>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kumimoji="1" lang="ja-JP" altLang="en-US" sz="1600" dirty="0">
              <a:latin typeface="Arial Narrow" pitchFamily="34" charset="0"/>
            </a:endParaRPr>
          </a:p>
        </p:txBody>
      </p:sp>
      <p:sp>
        <p:nvSpPr>
          <p:cNvPr id="34" name="正方形/長方形 33"/>
          <p:cNvSpPr/>
          <p:nvPr/>
        </p:nvSpPr>
        <p:spPr>
          <a:xfrm rot="16200000">
            <a:off x="-243043" y="2663980"/>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kumimoji="1" lang="ja-JP" altLang="en-US" sz="1600" dirty="0">
              <a:latin typeface="Arial Narrow" pitchFamily="34" charset="0"/>
            </a:endParaRPr>
          </a:p>
        </p:txBody>
      </p:sp>
      <p:cxnSp>
        <p:nvCxnSpPr>
          <p:cNvPr id="35" name="直線コネクタ 34"/>
          <p:cNvCxnSpPr/>
          <p:nvPr/>
        </p:nvCxnSpPr>
        <p:spPr>
          <a:xfrm flipV="1">
            <a:off x="71950"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36" name="正方形/長方形 35"/>
          <p:cNvSpPr/>
          <p:nvPr/>
        </p:nvSpPr>
        <p:spPr>
          <a:xfrm>
            <a:off x="1781969" y="5769026"/>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kumimoji="1" lang="ja-JP" altLang="en-US" sz="1600" dirty="0">
              <a:latin typeface="Arial Narrow" pitchFamily="34" charset="0"/>
            </a:endParaRPr>
          </a:p>
        </p:txBody>
      </p:sp>
      <p:cxnSp>
        <p:nvCxnSpPr>
          <p:cNvPr id="38" name="直線コネクタ 37"/>
          <p:cNvCxnSpPr/>
          <p:nvPr/>
        </p:nvCxnSpPr>
        <p:spPr bwMode="auto">
          <a:xfrm>
            <a:off x="71950" y="2978995"/>
            <a:ext cx="900010" cy="0"/>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cxnSp>
        <p:nvCxnSpPr>
          <p:cNvPr id="39" name="直線コネクタ 38"/>
          <p:cNvCxnSpPr/>
          <p:nvPr/>
        </p:nvCxnSpPr>
        <p:spPr bwMode="auto">
          <a:xfrm flipV="1">
            <a:off x="971960" y="1898983"/>
            <a:ext cx="0" cy="1080012"/>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cxnSp>
        <p:nvCxnSpPr>
          <p:cNvPr id="41" name="直線コネクタ 40"/>
          <p:cNvCxnSpPr/>
          <p:nvPr/>
        </p:nvCxnSpPr>
        <p:spPr bwMode="auto">
          <a:xfrm flipH="1">
            <a:off x="971960" y="1898983"/>
            <a:ext cx="3330037" cy="1"/>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cxnSp>
        <p:nvCxnSpPr>
          <p:cNvPr id="45" name="直線コネクタ 44"/>
          <p:cNvCxnSpPr/>
          <p:nvPr/>
        </p:nvCxnSpPr>
        <p:spPr bwMode="auto">
          <a:xfrm flipV="1">
            <a:off x="4301997" y="1898985"/>
            <a:ext cx="1" cy="3330035"/>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cxnSp>
        <p:nvCxnSpPr>
          <p:cNvPr id="47" name="直線コネクタ 46"/>
          <p:cNvCxnSpPr/>
          <p:nvPr/>
        </p:nvCxnSpPr>
        <p:spPr bwMode="auto">
          <a:xfrm>
            <a:off x="3041983" y="5229020"/>
            <a:ext cx="0" cy="720008"/>
          </a:xfrm>
          <a:prstGeom prst="line">
            <a:avLst/>
          </a:prstGeom>
          <a:ln>
            <a:headEnd type="none" w="med" len="med"/>
            <a:tailEnd type="triangle" w="med" len="med"/>
          </a:ln>
        </p:spPr>
        <p:style>
          <a:lnRef idx="3">
            <a:schemeClr val="accent6"/>
          </a:lnRef>
          <a:fillRef idx="0">
            <a:schemeClr val="accent6"/>
          </a:fillRef>
          <a:effectRef idx="2">
            <a:schemeClr val="accent6"/>
          </a:effectRef>
          <a:fontRef idx="minor">
            <a:schemeClr val="tx1"/>
          </a:fontRef>
        </p:style>
      </p:cxnSp>
      <p:cxnSp>
        <p:nvCxnSpPr>
          <p:cNvPr id="48" name="直線コネクタ 47"/>
          <p:cNvCxnSpPr/>
          <p:nvPr/>
        </p:nvCxnSpPr>
        <p:spPr bwMode="auto">
          <a:xfrm>
            <a:off x="3041983" y="5229020"/>
            <a:ext cx="1260014" cy="1"/>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8110749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アクセス時間は容量に直接は比例しない</a:t>
            </a:r>
            <a:br>
              <a:rPr kumimoji="1" lang="en-US" altLang="ja-JP" dirty="0"/>
            </a:br>
            <a:r>
              <a:rPr kumimoji="1" lang="ja-JP" altLang="en-US" sz="2000" dirty="0"/>
              <a:t>（容量の平方根ぐらいに比例</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611956" y="4959017"/>
                <a:ext cx="8280092" cy="1349708"/>
              </a:xfrm>
            </p:spPr>
            <p:txBody>
              <a:bodyPr/>
              <a:lstStyle/>
              <a:p>
                <a:r>
                  <a:rPr kumimoji="1" lang="ja-JP" altLang="en-US" dirty="0"/>
                  <a:t>格子状に並んだセルの外周部の長さがアクセス時間を決めるから</a:t>
                </a:r>
                <a:endParaRPr kumimoji="1" lang="en-US" altLang="ja-JP" dirty="0"/>
              </a:p>
              <a:p>
                <a:pPr lvl="1"/>
                <a:r>
                  <a:rPr kumimoji="1" lang="ja-JP" altLang="en-US" dirty="0"/>
                  <a:t>メモリ容量 </a:t>
                </a:r>
                <a:r>
                  <a:rPr kumimoji="1" lang="en-US" altLang="ja-JP" dirty="0"/>
                  <a:t>=</a:t>
                </a:r>
                <a14:m>
                  <m:oMath xmlns:m="http://schemas.openxmlformats.org/officeDocument/2006/math">
                    <m:sSup>
                      <m:sSupPr>
                        <m:ctrlPr>
                          <a:rPr kumimoji="1" lang="en-US" altLang="ja-JP" b="0" i="1" dirty="0" smtClean="0">
                            <a:latin typeface="Cambria Math" panose="02040503050406030204" pitchFamily="18" charset="0"/>
                          </a:rPr>
                        </m:ctrlPr>
                      </m:sSupPr>
                      <m:e>
                        <m:r>
                          <m:rPr>
                            <m:nor/>
                          </m:rPr>
                          <a:rPr lang="en-US" altLang="ja-JP" dirty="0"/>
                          <m:t> (</m:t>
                        </m:r>
                        <m:r>
                          <m:rPr>
                            <m:nor/>
                          </m:rPr>
                          <a:rPr lang="ja-JP" altLang="en-US" dirty="0"/>
                          <m:t>外周部</m:t>
                        </m:r>
                        <m:r>
                          <m:rPr>
                            <m:nor/>
                          </m:rPr>
                          <a:rPr lang="ja-JP" altLang="en-US" dirty="0"/>
                          <m:t>の</m:t>
                        </m:r>
                        <m:r>
                          <m:rPr>
                            <m:nor/>
                          </m:rPr>
                          <a:rPr lang="ja-JP" altLang="en-US" dirty="0"/>
                          <m:t>長</m:t>
                        </m:r>
                        <m:r>
                          <m:rPr>
                            <m:nor/>
                          </m:rPr>
                          <a:rPr lang="ja-JP" altLang="en-US" dirty="0"/>
                          <m:t>さ</m:t>
                        </m:r>
                        <m:r>
                          <a:rPr lang="en-US" altLang="ja-JP" i="1" dirty="0">
                            <a:latin typeface="Cambria Math" panose="02040503050406030204" pitchFamily="18" charset="0"/>
                          </a:rPr>
                          <m:t>)</m:t>
                        </m:r>
                      </m:e>
                      <m:sup>
                        <m:r>
                          <a:rPr kumimoji="1" lang="en-US" altLang="ja-JP" i="1" dirty="0" smtClean="0">
                            <a:latin typeface="Cambria Math" panose="02040503050406030204" pitchFamily="18" charset="0"/>
                          </a:rPr>
                          <m:t>2</m:t>
                        </m:r>
                      </m:sup>
                    </m:sSup>
                  </m:oMath>
                </a14:m>
                <a:endParaRPr kumimoji="1" lang="en-US" altLang="ja-JP" dirty="0"/>
              </a:p>
              <a:p>
                <a:pPr lvl="1"/>
                <a:r>
                  <a:rPr kumimoji="1" lang="ja-JP" altLang="en-US" dirty="0"/>
                  <a:t>アクセス時間は，容量に対して線形には伸びない</a:t>
                </a:r>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611956" y="4959017"/>
                <a:ext cx="8280092" cy="1349708"/>
              </a:xfrm>
              <a:blipFill>
                <a:blip r:embed="rId2"/>
                <a:stretch>
                  <a:fillRect l="-662" b="-5856"/>
                </a:stretch>
              </a:blipFill>
            </p:spPr>
            <p:txBody>
              <a:bodyPr/>
              <a:lstStyle/>
              <a:p>
                <a:r>
                  <a:rPr lang="en-US">
                    <a:noFill/>
                  </a:rPr>
                  <a:t> </a:t>
                </a:r>
              </a:p>
            </p:txBody>
          </p:sp>
        </mc:Fallback>
      </mc:AlternateContent>
      <p:sp>
        <p:nvSpPr>
          <p:cNvPr id="4" name="下矢印 3"/>
          <p:cNvSpPr/>
          <p:nvPr/>
        </p:nvSpPr>
        <p:spPr bwMode="auto">
          <a:xfrm>
            <a:off x="3761991" y="2348987"/>
            <a:ext cx="360004" cy="36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p:cNvSpPr/>
          <p:nvPr/>
        </p:nvSpPr>
        <p:spPr bwMode="auto">
          <a:xfrm>
            <a:off x="2861981" y="2798993"/>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b="1" dirty="0">
                <a:solidFill>
                  <a:schemeClr val="tx1">
                    <a:lumMod val="75000"/>
                    <a:lumOff val="25000"/>
                  </a:schemeClr>
                </a:solidFill>
                <a:latin typeface="+mn-ea"/>
              </a:rPr>
              <a:t>メインメモリ：</a:t>
            </a:r>
            <a:r>
              <a:rPr kumimoji="1" lang="en-US" altLang="ja-JP" sz="1600" b="1" dirty="0">
                <a:solidFill>
                  <a:schemeClr val="tx1">
                    <a:lumMod val="75000"/>
                    <a:lumOff val="25000"/>
                  </a:schemeClr>
                </a:solidFill>
                <a:latin typeface="+mn-ea"/>
              </a:rPr>
              <a:t>32GB</a:t>
            </a:r>
            <a:endParaRPr kumimoji="1" lang="ja-JP" altLang="en-US" sz="1600" b="1" dirty="0">
              <a:solidFill>
                <a:schemeClr val="tx1">
                  <a:lumMod val="75000"/>
                  <a:lumOff val="25000"/>
                </a:schemeClr>
              </a:solidFill>
              <a:latin typeface="+mn-ea"/>
            </a:endParaRPr>
          </a:p>
        </p:txBody>
      </p:sp>
      <p:sp>
        <p:nvSpPr>
          <p:cNvPr id="6" name="角丸四角形 5"/>
          <p:cNvSpPr/>
          <p:nvPr/>
        </p:nvSpPr>
        <p:spPr bwMode="auto">
          <a:xfrm>
            <a:off x="3221985" y="1718981"/>
            <a:ext cx="1440016"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b="1" dirty="0">
                <a:solidFill>
                  <a:schemeClr val="tx1">
                    <a:lumMod val="75000"/>
                    <a:lumOff val="25000"/>
                  </a:schemeClr>
                </a:solidFill>
                <a:latin typeface="+mn-ea"/>
              </a:rPr>
              <a:t>CPU</a:t>
            </a:r>
            <a:r>
              <a:rPr kumimoji="1" lang="ja-JP" altLang="en-US" sz="1600" b="1" dirty="0">
                <a:solidFill>
                  <a:schemeClr val="tx1">
                    <a:lumMod val="75000"/>
                    <a:lumOff val="25000"/>
                  </a:schemeClr>
                </a:solidFill>
                <a:latin typeface="+mn-ea"/>
              </a:rPr>
              <a:t>内：</a:t>
            </a:r>
            <a:r>
              <a:rPr kumimoji="1" lang="en-US" altLang="ja-JP" sz="1600" b="1" dirty="0">
                <a:solidFill>
                  <a:schemeClr val="tx1">
                    <a:lumMod val="75000"/>
                    <a:lumOff val="25000"/>
                  </a:schemeClr>
                </a:solidFill>
                <a:latin typeface="+mn-ea"/>
              </a:rPr>
              <a:t>32KB</a:t>
            </a:r>
            <a:endParaRPr kumimoji="1" lang="ja-JP" altLang="en-US" sz="1600" b="1" dirty="0">
              <a:solidFill>
                <a:schemeClr val="tx1">
                  <a:lumMod val="75000"/>
                  <a:lumOff val="25000"/>
                </a:schemeClr>
              </a:solidFill>
              <a:latin typeface="+mn-ea"/>
            </a:endParaRPr>
          </a:p>
        </p:txBody>
      </p:sp>
      <p:sp>
        <p:nvSpPr>
          <p:cNvPr id="7" name="正方形/長方形 6"/>
          <p:cNvSpPr/>
          <p:nvPr/>
        </p:nvSpPr>
        <p:spPr>
          <a:xfrm>
            <a:off x="5292008" y="1808982"/>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1ns</a:t>
            </a:r>
            <a:endParaRPr lang="ja-JP" altLang="en-US" sz="2000" dirty="0">
              <a:solidFill>
                <a:schemeClr val="tx1">
                  <a:lumMod val="75000"/>
                  <a:lumOff val="25000"/>
                </a:schemeClr>
              </a:solidFill>
            </a:endParaRPr>
          </a:p>
        </p:txBody>
      </p:sp>
      <p:sp>
        <p:nvSpPr>
          <p:cNvPr id="8" name="正方形/長方形 7"/>
          <p:cNvSpPr/>
          <p:nvPr/>
        </p:nvSpPr>
        <p:spPr>
          <a:xfrm>
            <a:off x="5292008" y="2978995"/>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数百</a:t>
            </a:r>
            <a:r>
              <a:rPr lang="en-US" altLang="ja-JP" sz="2000" dirty="0">
                <a:solidFill>
                  <a:schemeClr val="tx1">
                    <a:lumMod val="75000"/>
                    <a:lumOff val="25000"/>
                  </a:schemeClr>
                </a:solidFill>
              </a:rPr>
              <a:t>ns</a:t>
            </a:r>
            <a:endParaRPr lang="ja-JP" altLang="en-US" sz="2000" dirty="0">
              <a:solidFill>
                <a:schemeClr val="tx1">
                  <a:lumMod val="75000"/>
                  <a:lumOff val="25000"/>
                </a:schemeClr>
              </a:solidFill>
            </a:endParaRPr>
          </a:p>
        </p:txBody>
      </p:sp>
    </p:spTree>
    <p:extLst>
      <p:ext uri="{BB962C8B-B14F-4D97-AF65-F5344CB8AC3E}">
        <p14:creationId xmlns:p14="http://schemas.microsoft.com/office/powerpoint/2010/main" val="12672672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速度</a:t>
            </a:r>
          </a:p>
        </p:txBody>
      </p:sp>
      <p:sp>
        <p:nvSpPr>
          <p:cNvPr id="3" name="テキスト プレースホルダー 2"/>
          <p:cNvSpPr>
            <a:spLocks noGrp="1"/>
          </p:cNvSpPr>
          <p:nvPr>
            <p:ph type="body" sz="quarter" idx="10"/>
          </p:nvPr>
        </p:nvSpPr>
        <p:spPr>
          <a:xfrm>
            <a:off x="341953" y="1088974"/>
            <a:ext cx="8640096" cy="5219751"/>
          </a:xfrm>
        </p:spPr>
        <p:txBody>
          <a:bodyPr/>
          <a:lstStyle/>
          <a:p>
            <a:r>
              <a:rPr kumimoji="1" lang="ja-JP" altLang="en-US" dirty="0"/>
              <a:t>信号線の長さがなぜ問題に？</a:t>
            </a:r>
            <a:endParaRPr kumimoji="1" lang="en-US" altLang="ja-JP" dirty="0"/>
          </a:p>
          <a:p>
            <a:pPr lvl="1"/>
            <a:r>
              <a:rPr lang="ja-JP" altLang="en-US" dirty="0"/>
              <a:t>電気信号が伝わる速度はとても速いのでは？</a:t>
            </a:r>
            <a:r>
              <a:rPr lang="en-US" altLang="ja-JP" dirty="0"/>
              <a:t>	</a:t>
            </a:r>
          </a:p>
          <a:p>
            <a:r>
              <a:rPr kumimoji="1" lang="ja-JP" altLang="en-US" dirty="0"/>
              <a:t>計算してみる：</a:t>
            </a:r>
            <a:endParaRPr kumimoji="1" lang="en-US" altLang="ja-JP" dirty="0"/>
          </a:p>
          <a:p>
            <a:pPr lvl="1"/>
            <a:r>
              <a:rPr kumimoji="1" lang="ja-JP" altLang="en-US" dirty="0"/>
              <a:t>光の速度：</a:t>
            </a:r>
            <a:r>
              <a:rPr kumimoji="1" lang="en-US" altLang="ja-JP" dirty="0"/>
              <a:t>		</a:t>
            </a:r>
            <a:r>
              <a:rPr kumimoji="1" lang="ja-JP" altLang="en-US" dirty="0"/>
              <a:t> 秒速 </a:t>
            </a:r>
            <a:r>
              <a:rPr kumimoji="1" lang="en-US" altLang="ja-JP" dirty="0"/>
              <a:t>30</a:t>
            </a:r>
            <a:r>
              <a:rPr kumimoji="1" lang="ja-JP" altLang="en-US" dirty="0"/>
              <a:t>万</a:t>
            </a:r>
            <a:r>
              <a:rPr kumimoji="1" lang="en-US" altLang="ja-JP" dirty="0"/>
              <a:t>Km</a:t>
            </a:r>
            <a:r>
              <a:rPr kumimoji="1" lang="ja-JP" altLang="en-US" dirty="0"/>
              <a:t>  </a:t>
            </a:r>
            <a:r>
              <a:rPr kumimoji="1" lang="en-US" altLang="ja-JP" dirty="0"/>
              <a:t>=  </a:t>
            </a:r>
            <a:r>
              <a:rPr kumimoji="1" lang="en-US" altLang="ja-JP" dirty="0">
                <a:solidFill>
                  <a:schemeClr val="accent5"/>
                </a:solidFill>
              </a:rPr>
              <a:t>3×10^8</a:t>
            </a:r>
            <a:r>
              <a:rPr kumimoji="1" lang="en-US" altLang="ja-JP" dirty="0"/>
              <a:t> m</a:t>
            </a:r>
          </a:p>
          <a:p>
            <a:pPr lvl="1"/>
            <a:r>
              <a:rPr lang="en-US" altLang="ja-JP" dirty="0"/>
              <a:t>CPU </a:t>
            </a:r>
            <a:r>
              <a:rPr lang="ja-JP" altLang="en-US" dirty="0"/>
              <a:t>の動作周波数：　　  </a:t>
            </a:r>
            <a:r>
              <a:rPr lang="en-US" altLang="ja-JP" dirty="0"/>
              <a:t>3GHz      =  </a:t>
            </a:r>
            <a:r>
              <a:rPr lang="en-US" altLang="ja-JP" dirty="0">
                <a:solidFill>
                  <a:schemeClr val="accent3">
                    <a:lumMod val="75000"/>
                  </a:schemeClr>
                </a:solidFill>
              </a:rPr>
              <a:t>3×10^9</a:t>
            </a:r>
            <a:r>
              <a:rPr lang="en-US" altLang="ja-JP" dirty="0">
                <a:solidFill>
                  <a:schemeClr val="accent6"/>
                </a:solidFill>
              </a:rPr>
              <a:t> </a:t>
            </a:r>
            <a:r>
              <a:rPr lang="en-US" altLang="ja-JP" dirty="0"/>
              <a:t>Hz</a:t>
            </a:r>
          </a:p>
          <a:p>
            <a:pPr lvl="1"/>
            <a:r>
              <a:rPr kumimoji="1" lang="en-US" altLang="ja-JP" dirty="0"/>
              <a:t>1</a:t>
            </a:r>
            <a:r>
              <a:rPr kumimoji="1" lang="ja-JP" altLang="en-US" dirty="0"/>
              <a:t>回の処理で光が進める長さ </a:t>
            </a:r>
            <a:r>
              <a:rPr kumimoji="1" lang="en-US" altLang="ja-JP" dirty="0"/>
              <a:t>= (</a:t>
            </a:r>
            <a:r>
              <a:rPr lang="en-US" altLang="ja-JP" dirty="0">
                <a:solidFill>
                  <a:schemeClr val="accent5"/>
                </a:solidFill>
              </a:rPr>
              <a:t>3×10^8</a:t>
            </a:r>
            <a:r>
              <a:rPr lang="en-US" altLang="ja-JP" dirty="0"/>
              <a:t>) / (</a:t>
            </a:r>
            <a:r>
              <a:rPr lang="en-US" altLang="ja-JP" dirty="0">
                <a:solidFill>
                  <a:schemeClr val="accent3">
                    <a:lumMod val="75000"/>
                  </a:schemeClr>
                </a:solidFill>
              </a:rPr>
              <a:t>3×10^9</a:t>
            </a:r>
            <a:r>
              <a:rPr lang="en-US" altLang="ja-JP" dirty="0"/>
              <a:t>) = </a:t>
            </a:r>
            <a:r>
              <a:rPr lang="en-US" altLang="ja-JP" dirty="0">
                <a:solidFill>
                  <a:schemeClr val="accent6"/>
                </a:solidFill>
              </a:rPr>
              <a:t>0.1m</a:t>
            </a:r>
            <a:r>
              <a:rPr lang="en-US" altLang="ja-JP" dirty="0"/>
              <a:t> = </a:t>
            </a:r>
            <a:r>
              <a:rPr lang="en-US" altLang="ja-JP" dirty="0">
                <a:solidFill>
                  <a:schemeClr val="accent6"/>
                </a:solidFill>
              </a:rPr>
              <a:t>10cm</a:t>
            </a:r>
          </a:p>
          <a:p>
            <a:r>
              <a:rPr kumimoji="1" lang="ja-JP" altLang="en-US" dirty="0"/>
              <a:t>光の速度でも大して進めないぐらい，今のコンピュータは速い</a:t>
            </a:r>
            <a:endParaRPr kumimoji="1" lang="en-US" altLang="ja-JP" dirty="0"/>
          </a:p>
          <a:p>
            <a:pPr lvl="1"/>
            <a:r>
              <a:rPr kumimoji="1" lang="ja-JP" altLang="en-US" dirty="0"/>
              <a:t>回路中の電気信号の伝達は光よりもだいぶ遅い</a:t>
            </a:r>
          </a:p>
        </p:txBody>
      </p:sp>
    </p:spTree>
    <p:extLst>
      <p:ext uri="{BB962C8B-B14F-4D97-AF65-F5344CB8AC3E}">
        <p14:creationId xmlns:p14="http://schemas.microsoft.com/office/powerpoint/2010/main" val="27202013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メモリの速度と容量のまとめ</a:t>
            </a:r>
          </a:p>
        </p:txBody>
      </p:sp>
      <p:sp>
        <p:nvSpPr>
          <p:cNvPr id="3" name="テキスト プレースホルダー 2"/>
          <p:cNvSpPr>
            <a:spLocks noGrp="1"/>
          </p:cNvSpPr>
          <p:nvPr>
            <p:ph type="body" sz="quarter" idx="10"/>
          </p:nvPr>
        </p:nvSpPr>
        <p:spPr>
          <a:xfrm>
            <a:off x="431954" y="1088974"/>
            <a:ext cx="8460094" cy="5219751"/>
          </a:xfrm>
        </p:spPr>
        <p:txBody>
          <a:bodyPr/>
          <a:lstStyle/>
          <a:p>
            <a:r>
              <a:rPr kumimoji="1" lang="ja-JP" altLang="en-US" dirty="0">
                <a:solidFill>
                  <a:schemeClr val="accent5"/>
                </a:solidFill>
              </a:rPr>
              <a:t>速さと大きさにはトレードオフがある</a:t>
            </a:r>
            <a:endParaRPr kumimoji="1" lang="en-US" altLang="ja-JP" dirty="0">
              <a:solidFill>
                <a:schemeClr val="accent5"/>
              </a:solidFill>
            </a:endParaRPr>
          </a:p>
          <a:p>
            <a:pPr lvl="1"/>
            <a:r>
              <a:rPr kumimoji="1" lang="ja-JP" altLang="en-US" dirty="0"/>
              <a:t>「大きくて遅いメモリ」か「小さくて速いメモリ」しか作れない</a:t>
            </a:r>
            <a:endParaRPr kumimoji="1" lang="en-US" altLang="ja-JP" dirty="0"/>
          </a:p>
          <a:p>
            <a:pPr lvl="1"/>
            <a:r>
              <a:rPr kumimoji="1" lang="ja-JP" altLang="en-US" dirty="0"/>
              <a:t>容量を大きくすると，その分メモリ内の信号線が伸びる</a:t>
            </a:r>
            <a:endParaRPr kumimoji="1" lang="en-US" altLang="ja-JP" dirty="0"/>
          </a:p>
          <a:p>
            <a:r>
              <a:rPr kumimoji="1" lang="ja-JP" altLang="en-US" dirty="0"/>
              <a:t>実際には，セルをどのような方式で作るかでも大きく変わる</a:t>
            </a:r>
            <a:endParaRPr kumimoji="1" lang="en-US" altLang="ja-JP" dirty="0"/>
          </a:p>
          <a:p>
            <a:pPr lvl="1"/>
            <a:r>
              <a:rPr kumimoji="1" lang="ja-JP" altLang="en-US" dirty="0"/>
              <a:t>しかし，上記のトレードオフは常になりたつ</a:t>
            </a:r>
          </a:p>
        </p:txBody>
      </p:sp>
    </p:spTree>
    <p:extLst>
      <p:ext uri="{BB962C8B-B14F-4D97-AF65-F5344CB8AC3E}">
        <p14:creationId xmlns:p14="http://schemas.microsoft.com/office/powerpoint/2010/main" val="31974594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lang="ja-JP" altLang="en-US" dirty="0"/>
              <a:t>メモリの基本</a:t>
            </a:r>
            <a:endParaRPr lang="en-US" altLang="ja-JP" dirty="0"/>
          </a:p>
          <a:p>
            <a:pPr marL="817200" lvl="1" indent="-457200">
              <a:buFont typeface="+mj-lt"/>
              <a:buAutoNum type="arabicPeriod"/>
            </a:pPr>
            <a:r>
              <a:rPr lang="ja-JP" altLang="en-US" dirty="0"/>
              <a:t>構造</a:t>
            </a:r>
            <a:endParaRPr lang="en-US" altLang="ja-JP" dirty="0"/>
          </a:p>
          <a:p>
            <a:pPr marL="817200" lvl="1" indent="-457200">
              <a:buFont typeface="+mj-lt"/>
              <a:buAutoNum type="arabicPeriod"/>
            </a:pPr>
            <a:r>
              <a:rPr lang="ja-JP" altLang="en-US" dirty="0"/>
              <a:t>動作</a:t>
            </a:r>
            <a:endParaRPr lang="en-US" altLang="ja-JP" dirty="0"/>
          </a:p>
          <a:p>
            <a:pPr marL="817200" lvl="1" indent="-457200">
              <a:buFont typeface="+mj-lt"/>
              <a:buAutoNum type="arabicPeriod"/>
            </a:pPr>
            <a:r>
              <a:rPr lang="ja-JP" altLang="en-US" dirty="0"/>
              <a:t>アクセス時間</a:t>
            </a:r>
            <a:endParaRPr lang="en-US" altLang="ja-JP" dirty="0"/>
          </a:p>
          <a:p>
            <a:pPr marL="457200" indent="-457200">
              <a:buFont typeface="+mj-lt"/>
              <a:buAutoNum type="arabicPeriod"/>
            </a:pPr>
            <a:r>
              <a:rPr lang="ja-JP" altLang="en-US" b="1" dirty="0"/>
              <a:t>メモリの詳細</a:t>
            </a:r>
            <a:endParaRPr lang="en-US" altLang="ja-JP" b="1" dirty="0"/>
          </a:p>
          <a:p>
            <a:pPr marL="817200" lvl="1" indent="-457200">
              <a:buFont typeface="+mj-lt"/>
              <a:buAutoNum type="arabicPeriod"/>
            </a:pPr>
            <a:r>
              <a:rPr lang="en-US" altLang="ja-JP" dirty="0"/>
              <a:t>SRAM </a:t>
            </a:r>
            <a:r>
              <a:rPr lang="ja-JP" altLang="en-US" dirty="0"/>
              <a:t>と </a:t>
            </a:r>
            <a:r>
              <a:rPr lang="en-US" altLang="ja-JP" dirty="0"/>
              <a:t>DRAM</a:t>
            </a:r>
          </a:p>
          <a:p>
            <a:pPr marL="817200" lvl="1" indent="-457200">
              <a:buFont typeface="+mj-lt"/>
              <a:buAutoNum type="arabicPeriod"/>
            </a:pPr>
            <a:r>
              <a:rPr lang="ja-JP" altLang="en-US" dirty="0"/>
              <a:t>なぜメモリが存在するのか？</a:t>
            </a:r>
          </a:p>
        </p:txBody>
      </p:sp>
    </p:spTree>
    <p:extLst>
      <p:ext uri="{BB962C8B-B14F-4D97-AF65-F5344CB8AC3E}">
        <p14:creationId xmlns:p14="http://schemas.microsoft.com/office/powerpoint/2010/main" val="33286418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メモリのバリエーション</a:t>
            </a:r>
          </a:p>
        </p:txBody>
      </p:sp>
      <p:sp>
        <p:nvSpPr>
          <p:cNvPr id="3" name="テキスト プレースホルダー 2"/>
          <p:cNvSpPr>
            <a:spLocks noGrp="1"/>
          </p:cNvSpPr>
          <p:nvPr>
            <p:ph type="body" sz="quarter" idx="10"/>
          </p:nvPr>
        </p:nvSpPr>
        <p:spPr/>
        <p:txBody>
          <a:bodyPr/>
          <a:lstStyle/>
          <a:p>
            <a:r>
              <a:rPr kumimoji="1" lang="ja-JP" altLang="en-US" dirty="0"/>
              <a:t>メモリは基本的にはみな同じ構造を取る</a:t>
            </a:r>
            <a:endParaRPr kumimoji="1" lang="en-US" altLang="ja-JP" dirty="0"/>
          </a:p>
          <a:p>
            <a:pPr lvl="1"/>
            <a:r>
              <a:rPr kumimoji="1" lang="ja-JP" altLang="en-US" dirty="0"/>
              <a:t>情報を記憶するセルの中身が方式ごとに異なる</a:t>
            </a:r>
            <a:endParaRPr kumimoji="1" lang="en-US" altLang="ja-JP" dirty="0"/>
          </a:p>
          <a:p>
            <a:r>
              <a:rPr lang="en-US" altLang="ja-JP" dirty="0"/>
              <a:t>SRAM </a:t>
            </a:r>
            <a:r>
              <a:rPr lang="ja-JP" altLang="en-US" dirty="0"/>
              <a:t>と </a:t>
            </a:r>
            <a:r>
              <a:rPr lang="en-US" altLang="ja-JP" dirty="0"/>
              <a:t>DRAM </a:t>
            </a:r>
            <a:r>
              <a:rPr lang="ja-JP" altLang="en-US" dirty="0"/>
              <a:t>を簡単に紹介</a:t>
            </a:r>
            <a:endParaRPr lang="en-US" altLang="ja-JP" dirty="0"/>
          </a:p>
          <a:p>
            <a:pPr lvl="1"/>
            <a:r>
              <a:rPr kumimoji="1" lang="ja-JP" altLang="en-US" dirty="0"/>
              <a:t>現代のコンピュータはおおよそこの２種類で作られている</a:t>
            </a:r>
            <a:endParaRPr kumimoji="1" lang="en-US" altLang="ja-JP" dirty="0"/>
          </a:p>
          <a:p>
            <a:pPr lvl="1"/>
            <a:r>
              <a:rPr kumimoji="1" lang="ja-JP" altLang="en-US" dirty="0">
                <a:solidFill>
                  <a:schemeClr val="accent5"/>
                </a:solidFill>
              </a:rPr>
              <a:t>この講義的には性質の大ざっぱな違いがわかっていればよい</a:t>
            </a:r>
            <a:endParaRPr kumimoji="1" lang="en-US" altLang="ja-JP" dirty="0">
              <a:solidFill>
                <a:schemeClr val="accent5"/>
              </a:solidFill>
            </a:endParaRPr>
          </a:p>
          <a:p>
            <a:pPr lvl="1"/>
            <a:r>
              <a:rPr kumimoji="1" lang="ja-JP" altLang="en-US" dirty="0">
                <a:solidFill>
                  <a:schemeClr val="accent5"/>
                </a:solidFill>
              </a:rPr>
              <a:t>（細かい動作まではあまりわかってなくても良い</a:t>
            </a:r>
          </a:p>
        </p:txBody>
      </p:sp>
    </p:spTree>
    <p:extLst>
      <p:ext uri="{BB962C8B-B14F-4D97-AF65-F5344CB8AC3E}">
        <p14:creationId xmlns:p14="http://schemas.microsoft.com/office/powerpoint/2010/main" val="38805324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Static Random Access Memory (SRAM)</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セルにインバータ（</a:t>
            </a:r>
            <a:r>
              <a:rPr kumimoji="1" lang="en-US" altLang="ja-JP" dirty="0"/>
              <a:t>NOT </a:t>
            </a:r>
            <a:r>
              <a:rPr kumimoji="1" lang="ja-JP" altLang="en-US" dirty="0"/>
              <a:t>ゲート）のループを使った方式</a:t>
            </a:r>
            <a:endParaRPr kumimoji="1" lang="en-US" altLang="ja-JP" dirty="0"/>
          </a:p>
          <a:p>
            <a:r>
              <a:rPr kumimoji="1" lang="en-US" altLang="ja-JP" dirty="0"/>
              <a:t>Static</a:t>
            </a:r>
            <a:r>
              <a:rPr lang="ja-JP" altLang="en-US" dirty="0"/>
              <a:t> とはどう言う意味か？</a:t>
            </a:r>
            <a:endParaRPr kumimoji="1" lang="en-US" altLang="ja-JP" dirty="0"/>
          </a:p>
          <a:p>
            <a:pPr lvl="1"/>
            <a:r>
              <a:rPr lang="ja-JP" altLang="en-US" dirty="0"/>
              <a:t>動作が静的（何もしなければ電流をほとんど消費しない）</a:t>
            </a:r>
            <a:endParaRPr lang="en-US" altLang="ja-JP" dirty="0"/>
          </a:p>
          <a:p>
            <a:pPr lvl="1"/>
            <a:r>
              <a:rPr kumimoji="1" lang="ja-JP" altLang="en-US" dirty="0"/>
              <a:t>電源を入れている限りは内容が消えない</a:t>
            </a:r>
            <a:endParaRPr kumimoji="1" lang="en-US" altLang="ja-JP" dirty="0"/>
          </a:p>
          <a:p>
            <a:r>
              <a:rPr kumimoji="1" lang="ja-JP" altLang="en-US" dirty="0"/>
              <a:t>一般的にはメモリの中で最も高速</a:t>
            </a:r>
            <a:endParaRPr kumimoji="1" lang="en-US" altLang="ja-JP" dirty="0"/>
          </a:p>
          <a:p>
            <a:pPr lvl="1"/>
            <a:r>
              <a:rPr kumimoji="1" lang="en-US" altLang="ja-JP" dirty="0"/>
              <a:t>CPU </a:t>
            </a:r>
            <a:r>
              <a:rPr kumimoji="1" lang="ja-JP" altLang="en-US" dirty="0"/>
              <a:t>内の論理回路と同じトランジスタを使って作るから</a:t>
            </a:r>
            <a:endParaRPr kumimoji="1" lang="en-US" altLang="ja-JP" dirty="0"/>
          </a:p>
          <a:p>
            <a:pPr lvl="1"/>
            <a:r>
              <a:rPr kumimoji="1" lang="ja-JP" altLang="en-US" dirty="0"/>
              <a:t>レジスタなどは </a:t>
            </a:r>
            <a:r>
              <a:rPr kumimoji="1" lang="en-US" altLang="ja-JP" dirty="0"/>
              <a:t>SRAM </a:t>
            </a:r>
            <a:r>
              <a:rPr kumimoji="1" lang="ja-JP" altLang="en-US" dirty="0"/>
              <a:t>で作られている</a:t>
            </a:r>
          </a:p>
        </p:txBody>
      </p:sp>
    </p:spTree>
    <p:extLst>
      <p:ext uri="{BB962C8B-B14F-4D97-AF65-F5344CB8AC3E}">
        <p14:creationId xmlns:p14="http://schemas.microsoft.com/office/powerpoint/2010/main" val="20772364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3491988" y="2708992"/>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en-US" altLang="ja-JP" dirty="0"/>
              <a:t>SRAM </a:t>
            </a:r>
            <a:r>
              <a:rPr kumimoji="1" lang="ja-JP" altLang="en-US" dirty="0"/>
              <a:t>のセル（</a:t>
            </a:r>
            <a:r>
              <a:rPr kumimoji="1" lang="en-US" altLang="ja-JP" dirty="0"/>
              <a:t>1bit</a:t>
            </a:r>
            <a:r>
              <a:rPr kumimoji="1" lang="ja-JP" altLang="en-US" dirty="0"/>
              <a:t>）</a:t>
            </a:r>
          </a:p>
        </p:txBody>
      </p:sp>
      <p:sp>
        <p:nvSpPr>
          <p:cNvPr id="3" name="テキスト プレースホルダー 2">
            <a:extLst>
              <a:ext uri="{FF2B5EF4-FFF2-40B4-BE49-F238E27FC236}">
                <a16:creationId xmlns:a16="http://schemas.microsoft.com/office/drawing/2014/main" id="{E6AEB639-6947-4C06-A6E1-A480E0492DB5}"/>
              </a:ext>
            </a:extLst>
          </p:cNvPr>
          <p:cNvSpPr>
            <a:spLocks noGrp="1"/>
          </p:cNvSpPr>
          <p:nvPr>
            <p:ph type="body" sz="quarter" idx="10"/>
          </p:nvPr>
        </p:nvSpPr>
        <p:spPr>
          <a:xfrm>
            <a:off x="611956" y="4059007"/>
            <a:ext cx="8280092" cy="2249718"/>
          </a:xfrm>
        </p:spPr>
        <p:txBody>
          <a:bodyPr/>
          <a:lstStyle/>
          <a:p>
            <a:r>
              <a:rPr kumimoji="1" lang="ja-JP" altLang="en-US" dirty="0"/>
              <a:t>インバータのループに</a:t>
            </a:r>
            <a:r>
              <a:rPr lang="ja-JP" altLang="en-US" dirty="0"/>
              <a:t>より </a:t>
            </a:r>
            <a:r>
              <a:rPr lang="en-US" altLang="ja-JP" dirty="0"/>
              <a:t>1</a:t>
            </a:r>
            <a:r>
              <a:rPr lang="ja-JP" altLang="en-US" dirty="0"/>
              <a:t> </a:t>
            </a:r>
            <a:r>
              <a:rPr lang="en-US" altLang="ja-JP" dirty="0"/>
              <a:t>bit </a:t>
            </a:r>
            <a:r>
              <a:rPr lang="ja-JP" altLang="en-US" dirty="0"/>
              <a:t>を記録</a:t>
            </a:r>
            <a:endParaRPr lang="en-US" altLang="ja-JP" dirty="0"/>
          </a:p>
          <a:p>
            <a:pPr lvl="1"/>
            <a:r>
              <a:rPr kumimoji="1" lang="ja-JP" altLang="en-US" dirty="0"/>
              <a:t>ループの左右が </a:t>
            </a:r>
            <a:r>
              <a:rPr kumimoji="1" lang="en-US" altLang="ja-JP" dirty="0"/>
              <a:t>[1:0] </a:t>
            </a:r>
            <a:r>
              <a:rPr kumimoji="1" lang="ja-JP" altLang="en-US" dirty="0"/>
              <a:t>あるいは </a:t>
            </a:r>
            <a:r>
              <a:rPr kumimoji="1" lang="en-US" altLang="ja-JP" dirty="0"/>
              <a:t>[0:1] </a:t>
            </a:r>
            <a:r>
              <a:rPr kumimoji="1" lang="ja-JP" altLang="en-US" dirty="0"/>
              <a:t>の２つの定常状態を持つ</a:t>
            </a:r>
            <a:endParaRPr kumimoji="1" lang="en-US" altLang="ja-JP" dirty="0"/>
          </a:p>
          <a:p>
            <a:r>
              <a:rPr kumimoji="1" lang="en-US" altLang="ja-JP" dirty="0"/>
              <a:t>D-FF </a:t>
            </a:r>
            <a:r>
              <a:rPr kumimoji="1" lang="ja-JP" altLang="en-US" dirty="0"/>
              <a:t>とかと同じ原理</a:t>
            </a:r>
            <a:endParaRPr kumimoji="1" lang="en-US" altLang="ja-JP" dirty="0"/>
          </a:p>
          <a:p>
            <a:pPr lvl="1"/>
            <a:r>
              <a:rPr kumimoji="1" lang="ja-JP" altLang="en-US" dirty="0"/>
              <a:t>ただし，クロックに同期させるための仕組みがない分単純</a:t>
            </a:r>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3941993" y="2347554"/>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3941993" y="3068279"/>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5292008" y="2708992"/>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4932004"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2771980" y="2708992"/>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3131984"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5652012" y="3068996"/>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2411976"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2411976" y="1988984"/>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6012016" y="1988984"/>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5472010" y="2348988"/>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2951982" y="2348988"/>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2051972" y="2348988"/>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53" name="正方形/長方形 52"/>
          <p:cNvSpPr/>
          <p:nvPr/>
        </p:nvSpPr>
        <p:spPr>
          <a:xfrm>
            <a:off x="3221985" y="1898983"/>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54" name="正方形/長方形 53"/>
          <p:cNvSpPr/>
          <p:nvPr/>
        </p:nvSpPr>
        <p:spPr>
          <a:xfrm>
            <a:off x="2051972" y="1538979"/>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
        <p:nvSpPr>
          <p:cNvPr id="64" name="正方形/長方形 63"/>
          <p:cNvSpPr/>
          <p:nvPr/>
        </p:nvSpPr>
        <p:spPr>
          <a:xfrm>
            <a:off x="5742013" y="1538979"/>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Tree>
    <p:extLst>
      <p:ext uri="{BB962C8B-B14F-4D97-AF65-F5344CB8AC3E}">
        <p14:creationId xmlns:p14="http://schemas.microsoft.com/office/powerpoint/2010/main" val="20173784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3491988" y="2258987"/>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en-US" altLang="ja-JP" dirty="0"/>
              <a:t>SRAM </a:t>
            </a:r>
            <a:r>
              <a:rPr kumimoji="1" lang="ja-JP" altLang="en-US" dirty="0"/>
              <a:t>の読み出し</a:t>
            </a:r>
          </a:p>
        </p:txBody>
      </p:sp>
      <p:sp>
        <p:nvSpPr>
          <p:cNvPr id="3" name="テキスト プレースホルダー 2">
            <a:extLst>
              <a:ext uri="{FF2B5EF4-FFF2-40B4-BE49-F238E27FC236}">
                <a16:creationId xmlns:a16="http://schemas.microsoft.com/office/drawing/2014/main" id="{E6AEB639-6947-4C06-A6E1-A480E0492DB5}"/>
              </a:ext>
            </a:extLst>
          </p:cNvPr>
          <p:cNvSpPr>
            <a:spLocks noGrp="1"/>
          </p:cNvSpPr>
          <p:nvPr>
            <p:ph type="body" sz="quarter" idx="10"/>
          </p:nvPr>
        </p:nvSpPr>
        <p:spPr>
          <a:xfrm>
            <a:off x="431954" y="4059007"/>
            <a:ext cx="8460094" cy="2249718"/>
          </a:xfrm>
        </p:spPr>
        <p:txBody>
          <a:bodyPr/>
          <a:lstStyle/>
          <a:p>
            <a:pPr marL="817200" lvl="1" indent="-457200">
              <a:buFont typeface="+mj-lt"/>
              <a:buAutoNum type="arabicPeriod"/>
            </a:pPr>
            <a:r>
              <a:rPr lang="ja-JP" altLang="en-US" dirty="0"/>
              <a:t>読み出す行のワードラインが高電位（</a:t>
            </a:r>
            <a:r>
              <a:rPr lang="en-US" altLang="ja-JP" dirty="0"/>
              <a:t>1</a:t>
            </a:r>
            <a:r>
              <a:rPr lang="ja-JP" altLang="en-US" dirty="0"/>
              <a:t>）に</a:t>
            </a:r>
            <a:endParaRPr lang="en-US" altLang="ja-JP" dirty="0"/>
          </a:p>
          <a:p>
            <a:pPr marL="817200" lvl="1" indent="-457200">
              <a:buFont typeface="+mj-lt"/>
              <a:buAutoNum type="arabicPeriod"/>
            </a:pPr>
            <a:r>
              <a:rPr lang="ja-JP" altLang="en-US" dirty="0"/>
              <a:t>その行の </a:t>
            </a:r>
            <a:r>
              <a:rPr lang="en-US" altLang="ja-JP" dirty="0"/>
              <a:t>NMOS </a:t>
            </a:r>
            <a:r>
              <a:rPr lang="ja-JP" altLang="en-US" dirty="0"/>
              <a:t>が </a:t>
            </a:r>
            <a:r>
              <a:rPr lang="en-US" altLang="ja-JP" dirty="0"/>
              <a:t>ON </a:t>
            </a:r>
            <a:r>
              <a:rPr lang="ja-JP" altLang="en-US" dirty="0"/>
              <a:t>になりビットラインとインバータが接続</a:t>
            </a:r>
            <a:endParaRPr lang="en-US" altLang="ja-JP" dirty="0"/>
          </a:p>
          <a:p>
            <a:pPr marL="817200" lvl="1" indent="-457200">
              <a:buFont typeface="+mj-lt"/>
              <a:buAutoNum type="arabicPeriod"/>
            </a:pPr>
            <a:r>
              <a:rPr lang="ja-JP" altLang="en-US" dirty="0"/>
              <a:t>ビットラインを通じてセルの内容が伝えられる</a:t>
            </a:r>
            <a:endParaRPr lang="en-US" altLang="ja-JP" dirty="0"/>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3941993" y="1897549"/>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3941993" y="2618274"/>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5292008" y="2258987"/>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493200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2771980" y="2258987"/>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313198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5652012" y="2618991"/>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2411976"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2411976" y="1538979"/>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5472010"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2951982"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2051972" y="1898983"/>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53" name="正方形/長方形 52"/>
          <p:cNvSpPr/>
          <p:nvPr/>
        </p:nvSpPr>
        <p:spPr>
          <a:xfrm>
            <a:off x="3221985" y="144897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54" name="正方形/長方形 53"/>
          <p:cNvSpPr/>
          <p:nvPr/>
        </p:nvSpPr>
        <p:spPr>
          <a:xfrm>
            <a:off x="2051972" y="1088974"/>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
        <p:nvSpPr>
          <p:cNvPr id="64" name="正方形/長方形 63"/>
          <p:cNvSpPr/>
          <p:nvPr/>
        </p:nvSpPr>
        <p:spPr>
          <a:xfrm>
            <a:off x="5742013" y="1088974"/>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
        <p:nvSpPr>
          <p:cNvPr id="31" name="正方形/長方形 30"/>
          <p:cNvSpPr/>
          <p:nvPr/>
        </p:nvSpPr>
        <p:spPr>
          <a:xfrm>
            <a:off x="4391998" y="2168986"/>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2400" dirty="0">
                <a:solidFill>
                  <a:schemeClr val="accent6"/>
                </a:solidFill>
                <a:latin typeface="Arial Narrow" pitchFamily="34" charset="0"/>
              </a:rPr>
              <a:t>0</a:t>
            </a:r>
            <a:endParaRPr kumimoji="1" lang="ja-JP" altLang="en-US" sz="2400" dirty="0">
              <a:solidFill>
                <a:schemeClr val="accent6"/>
              </a:solidFill>
              <a:latin typeface="Arial Narrow" pitchFamily="34" charset="0"/>
            </a:endParaRPr>
          </a:p>
        </p:txBody>
      </p:sp>
      <p:sp>
        <p:nvSpPr>
          <p:cNvPr id="32" name="正方形/長方形 31"/>
          <p:cNvSpPr/>
          <p:nvPr/>
        </p:nvSpPr>
        <p:spPr>
          <a:xfrm>
            <a:off x="5112006" y="1808982"/>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solidFill>
                  <a:schemeClr val="accent6"/>
                </a:solidFill>
                <a:latin typeface="Arial Narrow" pitchFamily="34" charset="0"/>
              </a:rPr>
              <a:t>NMOS</a:t>
            </a:r>
            <a:endParaRPr kumimoji="1" lang="ja-JP" altLang="en-US" sz="1600" dirty="0">
              <a:solidFill>
                <a:schemeClr val="accent6"/>
              </a:solidFill>
              <a:latin typeface="Arial Narrow" pitchFamily="34" charset="0"/>
            </a:endParaRPr>
          </a:p>
        </p:txBody>
      </p:sp>
      <p:sp>
        <p:nvSpPr>
          <p:cNvPr id="35" name="正方形/長方形 34"/>
          <p:cNvSpPr/>
          <p:nvPr/>
        </p:nvSpPr>
        <p:spPr>
          <a:xfrm>
            <a:off x="3311986" y="2168986"/>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2400" dirty="0">
                <a:solidFill>
                  <a:schemeClr val="accent6"/>
                </a:solidFill>
                <a:latin typeface="Arial Narrow" pitchFamily="34" charset="0"/>
              </a:rPr>
              <a:t>1</a:t>
            </a:r>
            <a:endParaRPr kumimoji="1" lang="ja-JP" altLang="en-US" sz="2400" dirty="0">
              <a:solidFill>
                <a:schemeClr val="accent6"/>
              </a:solidFill>
              <a:latin typeface="Arial Narrow" pitchFamily="34" charset="0"/>
            </a:endParaRPr>
          </a:p>
        </p:txBody>
      </p:sp>
      <p:sp>
        <p:nvSpPr>
          <p:cNvPr id="4" name="正方形/長方形 3">
            <a:extLst>
              <a:ext uri="{FF2B5EF4-FFF2-40B4-BE49-F238E27FC236}">
                <a16:creationId xmlns:a16="http://schemas.microsoft.com/office/drawing/2014/main" id="{510D2009-9B1B-79E2-5B24-41BD8A13DB9F}"/>
              </a:ext>
            </a:extLst>
          </p:cNvPr>
          <p:cNvSpPr/>
          <p:nvPr/>
        </p:nvSpPr>
        <p:spPr>
          <a:xfrm>
            <a:off x="2591978" y="1808982"/>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solidFill>
                  <a:schemeClr val="accent6"/>
                </a:solidFill>
                <a:latin typeface="Arial Narrow" pitchFamily="34" charset="0"/>
              </a:rPr>
              <a:t>NMOS</a:t>
            </a:r>
            <a:endParaRPr kumimoji="1" lang="ja-JP" altLang="en-US" sz="1600" dirty="0">
              <a:solidFill>
                <a:schemeClr val="accent6"/>
              </a:solidFill>
              <a:latin typeface="Arial Narrow" pitchFamily="34" charset="0"/>
            </a:endParaRPr>
          </a:p>
        </p:txBody>
      </p:sp>
      <p:cxnSp>
        <p:nvCxnSpPr>
          <p:cNvPr id="7" name="直線コネクタ 6">
            <a:extLst>
              <a:ext uri="{FF2B5EF4-FFF2-40B4-BE49-F238E27FC236}">
                <a16:creationId xmlns:a16="http://schemas.microsoft.com/office/drawing/2014/main" id="{6C636806-429D-C3C0-18FC-8EBF4B4680C9}"/>
              </a:ext>
            </a:extLst>
          </p:cNvPr>
          <p:cNvCxnSpPr>
            <a:cxnSpLocks/>
          </p:cNvCxnSpPr>
          <p:nvPr/>
        </p:nvCxnSpPr>
        <p:spPr>
          <a:xfrm flipV="1">
            <a:off x="6012016" y="144897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01485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Dynamic Random Access Memory (DRAM)</a:t>
            </a:r>
            <a:endParaRPr kumimoji="1" lang="ja-JP" altLang="en-US" dirty="0"/>
          </a:p>
        </p:txBody>
      </p:sp>
      <p:sp>
        <p:nvSpPr>
          <p:cNvPr id="3" name="テキスト プレースホルダー 2"/>
          <p:cNvSpPr>
            <a:spLocks noGrp="1"/>
          </p:cNvSpPr>
          <p:nvPr>
            <p:ph type="body" sz="quarter" idx="10"/>
          </p:nvPr>
        </p:nvSpPr>
        <p:spPr>
          <a:xfrm>
            <a:off x="701956" y="1088974"/>
            <a:ext cx="8190091" cy="5219751"/>
          </a:xfrm>
        </p:spPr>
        <p:txBody>
          <a:bodyPr/>
          <a:lstStyle/>
          <a:p>
            <a:r>
              <a:rPr lang="ja-JP" altLang="en-US" dirty="0"/>
              <a:t>セルにコンデンサを使った方式</a:t>
            </a:r>
            <a:endParaRPr lang="en-US" altLang="ja-JP" dirty="0"/>
          </a:p>
          <a:p>
            <a:r>
              <a:rPr lang="en-US" altLang="ja-JP" dirty="0"/>
              <a:t>Dynamic</a:t>
            </a:r>
            <a:r>
              <a:rPr lang="ja-JP" altLang="en-US" dirty="0"/>
              <a:t> とはどう言う意味か？</a:t>
            </a:r>
            <a:endParaRPr kumimoji="1" lang="en-US" altLang="ja-JP" dirty="0"/>
          </a:p>
          <a:p>
            <a:pPr lvl="1"/>
            <a:r>
              <a:rPr lang="ja-JP" altLang="en-US" dirty="0"/>
              <a:t>動作が動的：電荷がもれて記憶が消えていく</a:t>
            </a:r>
            <a:endParaRPr kumimoji="1" lang="en-US" altLang="ja-JP" dirty="0"/>
          </a:p>
          <a:p>
            <a:r>
              <a:rPr kumimoji="1" lang="ja-JP" altLang="en-US" dirty="0"/>
              <a:t>速度は遅いが，セルを小さく作れるので容量が稼げる</a:t>
            </a:r>
            <a:endParaRPr kumimoji="1" lang="en-US" altLang="ja-JP" dirty="0"/>
          </a:p>
          <a:p>
            <a:pPr lvl="1"/>
            <a:r>
              <a:rPr kumimoji="1" lang="ja-JP" altLang="en-US" dirty="0"/>
              <a:t>メイン・メモリは </a:t>
            </a:r>
            <a:r>
              <a:rPr kumimoji="1" lang="en-US" altLang="ja-JP" dirty="0"/>
              <a:t>DRAM </a:t>
            </a:r>
            <a:r>
              <a:rPr kumimoji="1" lang="ja-JP" altLang="en-US" dirty="0" err="1"/>
              <a:t>で</a:t>
            </a:r>
            <a:r>
              <a:rPr kumimoji="1" lang="ja-JP" altLang="en-US" dirty="0"/>
              <a:t>出来ているのが普通</a:t>
            </a:r>
            <a:endParaRPr kumimoji="1" lang="en-US" altLang="ja-JP" dirty="0"/>
          </a:p>
        </p:txBody>
      </p:sp>
    </p:spTree>
    <p:extLst>
      <p:ext uri="{BB962C8B-B14F-4D97-AF65-F5344CB8AC3E}">
        <p14:creationId xmlns:p14="http://schemas.microsoft.com/office/powerpoint/2010/main" val="10541410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DRAM </a:t>
            </a:r>
            <a:r>
              <a:rPr kumimoji="1" lang="ja-JP" altLang="en-US" dirty="0"/>
              <a:t>のセル</a:t>
            </a:r>
          </a:p>
        </p:txBody>
      </p:sp>
      <p:sp>
        <p:nvSpPr>
          <p:cNvPr id="3" name="テキスト プレースホルダー 2"/>
          <p:cNvSpPr>
            <a:spLocks noGrp="1"/>
          </p:cNvSpPr>
          <p:nvPr>
            <p:ph type="body" sz="quarter" idx="10"/>
          </p:nvPr>
        </p:nvSpPr>
        <p:spPr>
          <a:xfrm>
            <a:off x="611956" y="4329010"/>
            <a:ext cx="8280092" cy="1979715"/>
          </a:xfrm>
        </p:spPr>
        <p:txBody>
          <a:bodyPr/>
          <a:lstStyle/>
          <a:p>
            <a:r>
              <a:rPr lang="ja-JP" altLang="en-US" dirty="0"/>
              <a:t>セルをコンデンサによって構成</a:t>
            </a:r>
            <a:endParaRPr lang="en-US" altLang="ja-JP" dirty="0"/>
          </a:p>
          <a:p>
            <a:pPr lvl="1"/>
            <a:r>
              <a:rPr lang="ja-JP" altLang="en-US" dirty="0"/>
              <a:t>電荷がたまっていれば１，そうでなければ０</a:t>
            </a:r>
            <a:endParaRPr lang="en-US" altLang="ja-JP" dirty="0"/>
          </a:p>
          <a:p>
            <a:pPr lvl="1"/>
            <a:r>
              <a:rPr lang="ja-JP" altLang="en-US" dirty="0"/>
              <a:t>時間が経つと自然に電荷が抜けてデータが消える</a:t>
            </a:r>
            <a:endParaRPr lang="en-US" altLang="ja-JP" dirty="0"/>
          </a:p>
          <a:p>
            <a:r>
              <a:rPr lang="ja-JP" altLang="en-US" dirty="0"/>
              <a:t>電荷を維持するため，定期的にリフレッシュと呼ばれる操作を行う</a:t>
            </a:r>
            <a:endParaRPr lang="en-US" altLang="ja-JP" dirty="0"/>
          </a:p>
          <a:p>
            <a:pPr lvl="1"/>
            <a:r>
              <a:rPr lang="ja-JP" altLang="en-US" dirty="0"/>
              <a:t>具体的には，一回読んで同じデータを書き戻す</a:t>
            </a:r>
            <a:endParaRPr lang="en-US" altLang="ja-JP" dirty="0"/>
          </a:p>
        </p:txBody>
      </p:sp>
      <p:grpSp>
        <p:nvGrpSpPr>
          <p:cNvPr id="4" name="グループ化 3">
            <a:extLst>
              <a:ext uri="{FF2B5EF4-FFF2-40B4-BE49-F238E27FC236}">
                <a16:creationId xmlns:a16="http://schemas.microsoft.com/office/drawing/2014/main" id="{B2772659-A00E-4413-9EB6-D696321711C2}"/>
              </a:ext>
            </a:extLst>
          </p:cNvPr>
          <p:cNvGrpSpPr/>
          <p:nvPr/>
        </p:nvGrpSpPr>
        <p:grpSpPr>
          <a:xfrm>
            <a:off x="4211996" y="2348988"/>
            <a:ext cx="360004" cy="360004"/>
            <a:chOff x="4932004" y="2708992"/>
            <a:chExt cx="360004" cy="360004"/>
          </a:xfrm>
        </p:grpSpPr>
        <p:cxnSp>
          <p:nvCxnSpPr>
            <p:cNvPr id="5" name="直線コネクタ 4">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 name="直線コネクタ 8">
            <a:extLst>
              <a:ext uri="{FF2B5EF4-FFF2-40B4-BE49-F238E27FC236}">
                <a16:creationId xmlns:a16="http://schemas.microsoft.com/office/drawing/2014/main" id="{04ACCC42-4E49-4867-BFDC-671C90B11355}"/>
              </a:ext>
            </a:extLst>
          </p:cNvPr>
          <p:cNvCxnSpPr>
            <a:cxnSpLocks/>
          </p:cNvCxnSpPr>
          <p:nvPr/>
        </p:nvCxnSpPr>
        <p:spPr>
          <a:xfrm>
            <a:off x="3851992" y="270899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FA852A0-5D43-4C5B-8D71-AF1C94363457}"/>
              </a:ext>
            </a:extLst>
          </p:cNvPr>
          <p:cNvCxnSpPr>
            <a:cxnSpLocks/>
          </p:cNvCxnSpPr>
          <p:nvPr/>
        </p:nvCxnSpPr>
        <p:spPr>
          <a:xfrm>
            <a:off x="4572000" y="270899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0DDEA31C-DEA3-4027-A96D-5EC4FD0DCD35}"/>
              </a:ext>
            </a:extLst>
          </p:cNvPr>
          <p:cNvCxnSpPr>
            <a:cxnSpLocks/>
          </p:cNvCxnSpPr>
          <p:nvPr/>
        </p:nvCxnSpPr>
        <p:spPr>
          <a:xfrm flipV="1">
            <a:off x="3851992" y="162898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a16:creationId xmlns:a16="http://schemas.microsoft.com/office/drawing/2014/main" id="{DE115225-CFB0-4004-A206-CB9F39CB2EA1}"/>
              </a:ext>
            </a:extLst>
          </p:cNvPr>
          <p:cNvGrpSpPr/>
          <p:nvPr/>
        </p:nvGrpSpPr>
        <p:grpSpPr>
          <a:xfrm>
            <a:off x="4752002" y="2888994"/>
            <a:ext cx="360004" cy="90003"/>
            <a:chOff x="7272030" y="3789004"/>
            <a:chExt cx="360004" cy="90003"/>
          </a:xfrm>
        </p:grpSpPr>
        <p:cxnSp>
          <p:nvCxnSpPr>
            <p:cNvPr id="13" name="直線コネクタ 12">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980D156E-BEF6-49E5-BEDB-E654CED1DF10}"/>
              </a:ext>
            </a:extLst>
          </p:cNvPr>
          <p:cNvCxnSpPr>
            <a:cxnSpLocks/>
          </p:cNvCxnSpPr>
          <p:nvPr/>
        </p:nvCxnSpPr>
        <p:spPr>
          <a:xfrm flipV="1">
            <a:off x="4932004" y="270899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DDF1097C-113D-483C-86EC-803338665142}"/>
              </a:ext>
            </a:extLst>
          </p:cNvPr>
          <p:cNvCxnSpPr>
            <a:cxnSpLocks/>
          </p:cNvCxnSpPr>
          <p:nvPr/>
        </p:nvCxnSpPr>
        <p:spPr>
          <a:xfrm flipV="1">
            <a:off x="4932004" y="297899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38D32D1F-3EE8-498D-B8DB-C60684B30C49}"/>
              </a:ext>
            </a:extLst>
          </p:cNvPr>
          <p:cNvGrpSpPr/>
          <p:nvPr/>
        </p:nvGrpSpPr>
        <p:grpSpPr>
          <a:xfrm>
            <a:off x="4752002" y="3248998"/>
            <a:ext cx="326325" cy="117556"/>
            <a:chOff x="2531592" y="5357236"/>
            <a:chExt cx="326325" cy="117556"/>
          </a:xfrm>
        </p:grpSpPr>
        <p:cxnSp>
          <p:nvCxnSpPr>
            <p:cNvPr id="18" name="直線コネクタ 17">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 name="直線コネクタ 20">
            <a:extLst>
              <a:ext uri="{FF2B5EF4-FFF2-40B4-BE49-F238E27FC236}">
                <a16:creationId xmlns:a16="http://schemas.microsoft.com/office/drawing/2014/main" id="{5C16D03F-62AA-402B-A9AC-ADCF020FC7D6}"/>
              </a:ext>
            </a:extLst>
          </p:cNvPr>
          <p:cNvCxnSpPr>
            <a:cxnSpLocks/>
          </p:cNvCxnSpPr>
          <p:nvPr/>
        </p:nvCxnSpPr>
        <p:spPr>
          <a:xfrm flipV="1">
            <a:off x="4391998" y="198898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87BB93E-CC11-4F3A-AF7A-8FAF390455E8}"/>
              </a:ext>
            </a:extLst>
          </p:cNvPr>
          <p:cNvCxnSpPr>
            <a:cxnSpLocks/>
          </p:cNvCxnSpPr>
          <p:nvPr/>
        </p:nvCxnSpPr>
        <p:spPr>
          <a:xfrm>
            <a:off x="3491988" y="198898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3" name="正方形/長方形 22"/>
          <p:cNvSpPr/>
          <p:nvPr/>
        </p:nvSpPr>
        <p:spPr>
          <a:xfrm>
            <a:off x="4662001" y="1718981"/>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24" name="正方形/長方形 23"/>
          <p:cNvSpPr/>
          <p:nvPr/>
        </p:nvSpPr>
        <p:spPr>
          <a:xfrm>
            <a:off x="3581989" y="1178975"/>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Tree>
    <p:extLst>
      <p:ext uri="{BB962C8B-B14F-4D97-AF65-F5344CB8AC3E}">
        <p14:creationId xmlns:p14="http://schemas.microsoft.com/office/powerpoint/2010/main" val="27994140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DRAM </a:t>
            </a:r>
            <a:r>
              <a:rPr kumimoji="1" lang="ja-JP" altLang="en-US" dirty="0"/>
              <a:t>の読み出し</a:t>
            </a:r>
          </a:p>
        </p:txBody>
      </p:sp>
      <p:sp>
        <p:nvSpPr>
          <p:cNvPr id="3" name="テキスト プレースホルダー 2"/>
          <p:cNvSpPr>
            <a:spLocks noGrp="1"/>
          </p:cNvSpPr>
          <p:nvPr>
            <p:ph type="body" sz="quarter" idx="10"/>
          </p:nvPr>
        </p:nvSpPr>
        <p:spPr>
          <a:xfrm>
            <a:off x="611956" y="4329010"/>
            <a:ext cx="8280092" cy="1439709"/>
          </a:xfrm>
        </p:spPr>
        <p:txBody>
          <a:bodyPr/>
          <a:lstStyle/>
          <a:p>
            <a:pPr marL="817200" lvl="1" indent="-457200">
              <a:buFont typeface="+mj-lt"/>
              <a:buAutoNum type="arabicPeriod"/>
            </a:pPr>
            <a:r>
              <a:rPr kumimoji="1" lang="ja-JP" altLang="en-US" dirty="0"/>
              <a:t>ビットラインに電荷をプリチャージ</a:t>
            </a:r>
            <a:endParaRPr kumimoji="1" lang="en-US" altLang="ja-JP" dirty="0"/>
          </a:p>
          <a:p>
            <a:pPr lvl="2"/>
            <a:r>
              <a:rPr kumimoji="1" lang="ja-JP" altLang="en-US" dirty="0"/>
              <a:t>ビットライン全体を一種のコンデンサだと思う</a:t>
            </a:r>
            <a:endParaRPr kumimoji="1" lang="en-US" altLang="ja-JP" dirty="0"/>
          </a:p>
          <a:p>
            <a:pPr lvl="2"/>
            <a:r>
              <a:rPr kumimoji="1" lang="ja-JP" altLang="en-US" dirty="0"/>
              <a:t>高電位にして電荷を信号線にためる</a:t>
            </a:r>
            <a:endParaRPr kumimoji="1" lang="en-US" altLang="ja-JP" dirty="0"/>
          </a:p>
          <a:p>
            <a:pPr marL="817200" lvl="1" indent="-457200">
              <a:buFont typeface="+mj-lt"/>
              <a:buAutoNum type="arabicPeriod"/>
            </a:pPr>
            <a:r>
              <a:rPr kumimoji="1" lang="ja-JP" altLang="en-US" dirty="0"/>
              <a:t>読み出す行のワードラインを高電位に</a:t>
            </a:r>
            <a:endParaRPr kumimoji="1" lang="en-US" altLang="ja-JP" dirty="0"/>
          </a:p>
          <a:p>
            <a:pPr lvl="2"/>
            <a:r>
              <a:rPr kumimoji="1" lang="en-US" altLang="ja-JP" dirty="0"/>
              <a:t>NMOS </a:t>
            </a:r>
            <a:r>
              <a:rPr kumimoji="1" lang="ja-JP" altLang="en-US" dirty="0"/>
              <a:t>が </a:t>
            </a:r>
            <a:r>
              <a:rPr kumimoji="1" lang="en-US" altLang="ja-JP" dirty="0"/>
              <a:t>ON </a:t>
            </a:r>
            <a:r>
              <a:rPr kumimoji="1" lang="ja-JP" altLang="en-US" dirty="0"/>
              <a:t>になりビットラインと接続</a:t>
            </a:r>
            <a:endParaRPr kumimoji="1" lang="en-US" altLang="ja-JP" dirty="0"/>
          </a:p>
          <a:p>
            <a:pPr marL="817200" lvl="1" indent="-457200">
              <a:buFont typeface="+mj-lt"/>
              <a:buAutoNum type="arabicPeriod"/>
            </a:pPr>
            <a:r>
              <a:rPr kumimoji="1" lang="ja-JP" altLang="en-US" dirty="0"/>
              <a:t>セルの状態に応じてディスチャージが起きる</a:t>
            </a:r>
            <a:endParaRPr kumimoji="1" lang="en-US" altLang="ja-JP" dirty="0"/>
          </a:p>
          <a:p>
            <a:pPr lvl="2"/>
            <a:r>
              <a:rPr kumimoji="1" lang="ja-JP" altLang="en-US" dirty="0"/>
              <a:t>セルに電荷がある（１）→ ビットラインの状態は変わらない</a:t>
            </a:r>
            <a:endParaRPr kumimoji="1" lang="en-US" altLang="ja-JP" dirty="0"/>
          </a:p>
          <a:p>
            <a:pPr lvl="2"/>
            <a:r>
              <a:rPr kumimoji="1" lang="ja-JP" altLang="en-US" dirty="0"/>
              <a:t>セルに電荷がない（０）→ ビットラインの電位が下がる</a:t>
            </a:r>
            <a:endParaRPr kumimoji="1" lang="en-US" altLang="ja-JP" dirty="0"/>
          </a:p>
        </p:txBody>
      </p:sp>
      <p:grpSp>
        <p:nvGrpSpPr>
          <p:cNvPr id="4" name="グループ化 3">
            <a:extLst>
              <a:ext uri="{FF2B5EF4-FFF2-40B4-BE49-F238E27FC236}">
                <a16:creationId xmlns:a16="http://schemas.microsoft.com/office/drawing/2014/main" id="{B2772659-A00E-4413-9EB6-D696321711C2}"/>
              </a:ext>
            </a:extLst>
          </p:cNvPr>
          <p:cNvGrpSpPr/>
          <p:nvPr/>
        </p:nvGrpSpPr>
        <p:grpSpPr>
          <a:xfrm>
            <a:off x="4211996" y="1988984"/>
            <a:ext cx="360004" cy="360004"/>
            <a:chOff x="4932004" y="2708992"/>
            <a:chExt cx="360004" cy="360004"/>
          </a:xfrm>
        </p:grpSpPr>
        <p:cxnSp>
          <p:nvCxnSpPr>
            <p:cNvPr id="5" name="直線コネクタ 4">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 name="直線コネクタ 8">
            <a:extLst>
              <a:ext uri="{FF2B5EF4-FFF2-40B4-BE49-F238E27FC236}">
                <a16:creationId xmlns:a16="http://schemas.microsoft.com/office/drawing/2014/main" id="{04ACCC42-4E49-4867-BFDC-671C90B11355}"/>
              </a:ext>
            </a:extLst>
          </p:cNvPr>
          <p:cNvCxnSpPr>
            <a:cxnSpLocks/>
          </p:cNvCxnSpPr>
          <p:nvPr/>
        </p:nvCxnSpPr>
        <p:spPr>
          <a:xfrm>
            <a:off x="3851992" y="2348988"/>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FA852A0-5D43-4C5B-8D71-AF1C94363457}"/>
              </a:ext>
            </a:extLst>
          </p:cNvPr>
          <p:cNvCxnSpPr>
            <a:cxnSpLocks/>
          </p:cNvCxnSpPr>
          <p:nvPr/>
        </p:nvCxnSpPr>
        <p:spPr>
          <a:xfrm>
            <a:off x="4572000" y="2348988"/>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0DDEA31C-DEA3-4027-A96D-5EC4FD0DCD35}"/>
              </a:ext>
            </a:extLst>
          </p:cNvPr>
          <p:cNvCxnSpPr>
            <a:cxnSpLocks/>
          </p:cNvCxnSpPr>
          <p:nvPr/>
        </p:nvCxnSpPr>
        <p:spPr>
          <a:xfrm flipV="1">
            <a:off x="3851992" y="1268976"/>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a16:creationId xmlns:a16="http://schemas.microsoft.com/office/drawing/2014/main" id="{DE115225-CFB0-4004-A206-CB9F39CB2EA1}"/>
              </a:ext>
            </a:extLst>
          </p:cNvPr>
          <p:cNvGrpSpPr/>
          <p:nvPr/>
        </p:nvGrpSpPr>
        <p:grpSpPr>
          <a:xfrm>
            <a:off x="4752002" y="2528990"/>
            <a:ext cx="360004" cy="90003"/>
            <a:chOff x="7272030" y="3789004"/>
            <a:chExt cx="360004" cy="90003"/>
          </a:xfrm>
        </p:grpSpPr>
        <p:cxnSp>
          <p:nvCxnSpPr>
            <p:cNvPr id="13" name="直線コネクタ 12">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980D156E-BEF6-49E5-BEDB-E654CED1DF10}"/>
              </a:ext>
            </a:extLst>
          </p:cNvPr>
          <p:cNvCxnSpPr>
            <a:cxnSpLocks/>
          </p:cNvCxnSpPr>
          <p:nvPr/>
        </p:nvCxnSpPr>
        <p:spPr>
          <a:xfrm flipV="1">
            <a:off x="4932004" y="2348988"/>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DDF1097C-113D-483C-86EC-803338665142}"/>
              </a:ext>
            </a:extLst>
          </p:cNvPr>
          <p:cNvCxnSpPr>
            <a:cxnSpLocks/>
          </p:cNvCxnSpPr>
          <p:nvPr/>
        </p:nvCxnSpPr>
        <p:spPr>
          <a:xfrm flipV="1">
            <a:off x="4932004" y="2618991"/>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38D32D1F-3EE8-498D-B8DB-C60684B30C49}"/>
              </a:ext>
            </a:extLst>
          </p:cNvPr>
          <p:cNvGrpSpPr/>
          <p:nvPr/>
        </p:nvGrpSpPr>
        <p:grpSpPr>
          <a:xfrm>
            <a:off x="4752002" y="2888994"/>
            <a:ext cx="326325" cy="117556"/>
            <a:chOff x="2531592" y="5357236"/>
            <a:chExt cx="326325" cy="117556"/>
          </a:xfrm>
        </p:grpSpPr>
        <p:cxnSp>
          <p:nvCxnSpPr>
            <p:cNvPr id="18" name="直線コネクタ 17">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 name="直線コネクタ 20">
            <a:extLst>
              <a:ext uri="{FF2B5EF4-FFF2-40B4-BE49-F238E27FC236}">
                <a16:creationId xmlns:a16="http://schemas.microsoft.com/office/drawing/2014/main" id="{5C16D03F-62AA-402B-A9AC-ADCF020FC7D6}"/>
              </a:ext>
            </a:extLst>
          </p:cNvPr>
          <p:cNvCxnSpPr>
            <a:cxnSpLocks/>
          </p:cNvCxnSpPr>
          <p:nvPr/>
        </p:nvCxnSpPr>
        <p:spPr>
          <a:xfrm flipV="1">
            <a:off x="4391998" y="1628980"/>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87BB93E-CC11-4F3A-AF7A-8FAF390455E8}"/>
              </a:ext>
            </a:extLst>
          </p:cNvPr>
          <p:cNvCxnSpPr>
            <a:cxnSpLocks/>
          </p:cNvCxnSpPr>
          <p:nvPr/>
        </p:nvCxnSpPr>
        <p:spPr>
          <a:xfrm>
            <a:off x="3491988" y="1628980"/>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3" name="正方形/長方形 22"/>
          <p:cNvSpPr/>
          <p:nvPr/>
        </p:nvSpPr>
        <p:spPr>
          <a:xfrm>
            <a:off x="4662001" y="1358977"/>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24" name="正方形/長方形 23"/>
          <p:cNvSpPr/>
          <p:nvPr/>
        </p:nvSpPr>
        <p:spPr>
          <a:xfrm>
            <a:off x="3581989" y="818971"/>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Tree>
    <p:extLst>
      <p:ext uri="{BB962C8B-B14F-4D97-AF65-F5344CB8AC3E}">
        <p14:creationId xmlns:p14="http://schemas.microsoft.com/office/powerpoint/2010/main" val="21355081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SRAM </a:t>
            </a:r>
            <a:r>
              <a:rPr kumimoji="1" lang="ja-JP" altLang="en-US" dirty="0"/>
              <a:t>の場合との違い</a:t>
            </a:r>
          </a:p>
        </p:txBody>
      </p:sp>
      <p:sp>
        <p:nvSpPr>
          <p:cNvPr id="3" name="テキスト プレースホルダー 2"/>
          <p:cNvSpPr>
            <a:spLocks noGrp="1"/>
          </p:cNvSpPr>
          <p:nvPr>
            <p:ph type="body" sz="quarter" idx="10"/>
          </p:nvPr>
        </p:nvSpPr>
        <p:spPr>
          <a:xfrm>
            <a:off x="341953" y="4599013"/>
            <a:ext cx="8280092" cy="1439709"/>
          </a:xfrm>
        </p:spPr>
        <p:txBody>
          <a:bodyPr/>
          <a:lstStyle/>
          <a:p>
            <a:r>
              <a:rPr lang="ja-JP" altLang="en-US" dirty="0"/>
              <a:t>読み出し時に内容が破壊される</a:t>
            </a:r>
            <a:endParaRPr lang="en-US" altLang="ja-JP" dirty="0"/>
          </a:p>
          <a:p>
            <a:pPr lvl="1"/>
            <a:r>
              <a:rPr lang="ja-JP" altLang="en-US" dirty="0"/>
              <a:t>ビットラインとコンデンサが接続されると，電荷が流れ出す</a:t>
            </a:r>
            <a:endParaRPr lang="en-US" altLang="ja-JP" dirty="0"/>
          </a:p>
          <a:p>
            <a:r>
              <a:rPr lang="ja-JP" altLang="en-US" dirty="0"/>
              <a:t>コンデンサがビットラインをディスチャージする速度は遅い</a:t>
            </a:r>
            <a:endParaRPr lang="en-US" altLang="ja-JP" dirty="0"/>
          </a:p>
          <a:p>
            <a:pPr lvl="1"/>
            <a:r>
              <a:rPr lang="ja-JP" altLang="en-US" dirty="0"/>
              <a:t>センスアンプと呼ばれる微小な電圧の変化を増幅する回路を使う</a:t>
            </a:r>
          </a:p>
        </p:txBody>
      </p:sp>
      <p:grpSp>
        <p:nvGrpSpPr>
          <p:cNvPr id="4" name="グループ化 3">
            <a:extLst>
              <a:ext uri="{FF2B5EF4-FFF2-40B4-BE49-F238E27FC236}">
                <a16:creationId xmlns:a16="http://schemas.microsoft.com/office/drawing/2014/main" id="{B2772659-A00E-4413-9EB6-D696321711C2}"/>
              </a:ext>
            </a:extLst>
          </p:cNvPr>
          <p:cNvGrpSpPr/>
          <p:nvPr/>
        </p:nvGrpSpPr>
        <p:grpSpPr>
          <a:xfrm>
            <a:off x="4211996" y="2348988"/>
            <a:ext cx="360004" cy="360004"/>
            <a:chOff x="4932004" y="2708992"/>
            <a:chExt cx="360004" cy="360004"/>
          </a:xfrm>
        </p:grpSpPr>
        <p:cxnSp>
          <p:nvCxnSpPr>
            <p:cNvPr id="5" name="直線コネクタ 4">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 name="直線コネクタ 8">
            <a:extLst>
              <a:ext uri="{FF2B5EF4-FFF2-40B4-BE49-F238E27FC236}">
                <a16:creationId xmlns:a16="http://schemas.microsoft.com/office/drawing/2014/main" id="{04ACCC42-4E49-4867-BFDC-671C90B11355}"/>
              </a:ext>
            </a:extLst>
          </p:cNvPr>
          <p:cNvCxnSpPr>
            <a:cxnSpLocks/>
          </p:cNvCxnSpPr>
          <p:nvPr/>
        </p:nvCxnSpPr>
        <p:spPr>
          <a:xfrm>
            <a:off x="3851992" y="270899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FA852A0-5D43-4C5B-8D71-AF1C94363457}"/>
              </a:ext>
            </a:extLst>
          </p:cNvPr>
          <p:cNvCxnSpPr>
            <a:cxnSpLocks/>
          </p:cNvCxnSpPr>
          <p:nvPr/>
        </p:nvCxnSpPr>
        <p:spPr>
          <a:xfrm>
            <a:off x="4572000" y="270899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0DDEA31C-DEA3-4027-A96D-5EC4FD0DCD35}"/>
              </a:ext>
            </a:extLst>
          </p:cNvPr>
          <p:cNvCxnSpPr>
            <a:cxnSpLocks/>
          </p:cNvCxnSpPr>
          <p:nvPr/>
        </p:nvCxnSpPr>
        <p:spPr>
          <a:xfrm flipV="1">
            <a:off x="3851992" y="162898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a16:creationId xmlns:a16="http://schemas.microsoft.com/office/drawing/2014/main" id="{DE115225-CFB0-4004-A206-CB9F39CB2EA1}"/>
              </a:ext>
            </a:extLst>
          </p:cNvPr>
          <p:cNvGrpSpPr/>
          <p:nvPr/>
        </p:nvGrpSpPr>
        <p:grpSpPr>
          <a:xfrm>
            <a:off x="4752002" y="2888994"/>
            <a:ext cx="360004" cy="90003"/>
            <a:chOff x="7272030" y="3789004"/>
            <a:chExt cx="360004" cy="90003"/>
          </a:xfrm>
        </p:grpSpPr>
        <p:cxnSp>
          <p:nvCxnSpPr>
            <p:cNvPr id="13" name="直線コネクタ 12">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980D156E-BEF6-49E5-BEDB-E654CED1DF10}"/>
              </a:ext>
            </a:extLst>
          </p:cNvPr>
          <p:cNvCxnSpPr>
            <a:cxnSpLocks/>
          </p:cNvCxnSpPr>
          <p:nvPr/>
        </p:nvCxnSpPr>
        <p:spPr>
          <a:xfrm flipV="1">
            <a:off x="4932004" y="270899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DDF1097C-113D-483C-86EC-803338665142}"/>
              </a:ext>
            </a:extLst>
          </p:cNvPr>
          <p:cNvCxnSpPr>
            <a:cxnSpLocks/>
          </p:cNvCxnSpPr>
          <p:nvPr/>
        </p:nvCxnSpPr>
        <p:spPr>
          <a:xfrm flipV="1">
            <a:off x="4932004" y="297899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38D32D1F-3EE8-498D-B8DB-C60684B30C49}"/>
              </a:ext>
            </a:extLst>
          </p:cNvPr>
          <p:cNvGrpSpPr/>
          <p:nvPr/>
        </p:nvGrpSpPr>
        <p:grpSpPr>
          <a:xfrm>
            <a:off x="4752002" y="3248998"/>
            <a:ext cx="326325" cy="117556"/>
            <a:chOff x="2531592" y="5357236"/>
            <a:chExt cx="326325" cy="117556"/>
          </a:xfrm>
        </p:grpSpPr>
        <p:cxnSp>
          <p:nvCxnSpPr>
            <p:cNvPr id="18" name="直線コネクタ 17">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 name="直線コネクタ 20">
            <a:extLst>
              <a:ext uri="{FF2B5EF4-FFF2-40B4-BE49-F238E27FC236}">
                <a16:creationId xmlns:a16="http://schemas.microsoft.com/office/drawing/2014/main" id="{5C16D03F-62AA-402B-A9AC-ADCF020FC7D6}"/>
              </a:ext>
            </a:extLst>
          </p:cNvPr>
          <p:cNvCxnSpPr>
            <a:cxnSpLocks/>
          </p:cNvCxnSpPr>
          <p:nvPr/>
        </p:nvCxnSpPr>
        <p:spPr>
          <a:xfrm flipV="1">
            <a:off x="4391998" y="198898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87BB93E-CC11-4F3A-AF7A-8FAF390455E8}"/>
              </a:ext>
            </a:extLst>
          </p:cNvPr>
          <p:cNvCxnSpPr>
            <a:cxnSpLocks/>
          </p:cNvCxnSpPr>
          <p:nvPr/>
        </p:nvCxnSpPr>
        <p:spPr>
          <a:xfrm>
            <a:off x="3491988" y="198898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3" name="正方形/長方形 22"/>
          <p:cNvSpPr/>
          <p:nvPr/>
        </p:nvSpPr>
        <p:spPr>
          <a:xfrm>
            <a:off x="4662001" y="1718981"/>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24" name="正方形/長方形 23"/>
          <p:cNvSpPr/>
          <p:nvPr/>
        </p:nvSpPr>
        <p:spPr>
          <a:xfrm>
            <a:off x="3581989" y="1178975"/>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
        <p:nvSpPr>
          <p:cNvPr id="25" name="二等辺三角形 24"/>
          <p:cNvSpPr/>
          <p:nvPr/>
        </p:nvSpPr>
        <p:spPr bwMode="auto">
          <a:xfrm rot="10800000">
            <a:off x="3581989" y="3429000"/>
            <a:ext cx="540006" cy="450005"/>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 name="正方形/長方形 25"/>
          <p:cNvSpPr/>
          <p:nvPr/>
        </p:nvSpPr>
        <p:spPr>
          <a:xfrm>
            <a:off x="3401987" y="3429000"/>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sense amp</a:t>
            </a:r>
            <a:endParaRPr kumimoji="1" lang="ja-JP" altLang="en-US" sz="1600" dirty="0">
              <a:latin typeface="Arial Narrow" pitchFamily="34" charset="0"/>
            </a:endParaRPr>
          </a:p>
        </p:txBody>
      </p:sp>
    </p:spTree>
    <p:extLst>
      <p:ext uri="{BB962C8B-B14F-4D97-AF65-F5344CB8AC3E}">
        <p14:creationId xmlns:p14="http://schemas.microsoft.com/office/powerpoint/2010/main" val="8433885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DRAM </a:t>
            </a:r>
            <a:r>
              <a:rPr lang="ja-JP" altLang="en-US" dirty="0"/>
              <a:t>セルのコンデンサの作り方</a:t>
            </a:r>
            <a:br>
              <a:rPr lang="en-US" altLang="ja-JP" dirty="0"/>
            </a:br>
            <a:r>
              <a:rPr lang="en-US" altLang="ja-JP" sz="1400" dirty="0"/>
              <a:t>H. </a:t>
            </a:r>
            <a:r>
              <a:rPr lang="en-US" altLang="ja-JP" sz="1400" dirty="0" err="1"/>
              <a:t>Seidl</a:t>
            </a:r>
            <a:r>
              <a:rPr lang="ja-JP" altLang="en-US" sz="1400" dirty="0"/>
              <a:t> </a:t>
            </a:r>
            <a:r>
              <a:rPr lang="en-US" altLang="ja-JP" sz="1400" dirty="0"/>
              <a:t>et al, A Fully Integrated Al2O3 Trench Capacitor DRAM for Sub-100nm Technology </a:t>
            </a:r>
            <a:r>
              <a:rPr lang="ja-JP" altLang="en-US" sz="1400" dirty="0"/>
              <a:t>より</a:t>
            </a:r>
            <a:endParaRPr kumimoji="1" lang="ja-JP" altLang="en-US" sz="1600" dirty="0"/>
          </a:p>
        </p:txBody>
      </p:sp>
      <p:sp>
        <p:nvSpPr>
          <p:cNvPr id="3" name="テキスト プレースホルダー 2"/>
          <p:cNvSpPr>
            <a:spLocks noGrp="1"/>
          </p:cNvSpPr>
          <p:nvPr>
            <p:ph type="body" sz="quarter" idx="10"/>
          </p:nvPr>
        </p:nvSpPr>
        <p:spPr>
          <a:xfrm>
            <a:off x="431954" y="5589024"/>
            <a:ext cx="8280092" cy="449698"/>
          </a:xfrm>
        </p:spPr>
        <p:txBody>
          <a:bodyPr/>
          <a:lstStyle/>
          <a:p>
            <a:r>
              <a:rPr kumimoji="1" lang="ja-JP" altLang="en-US" sz="1800" dirty="0"/>
              <a:t>チップの表から裏</a:t>
            </a:r>
            <a:r>
              <a:rPr lang="ja-JP" altLang="en-US" sz="1800" dirty="0"/>
              <a:t>に向けて深い穴を掘って表面積を稼ぐ</a:t>
            </a:r>
            <a:endParaRPr lang="en-US" altLang="ja-JP" sz="1800" dirty="0"/>
          </a:p>
          <a:p>
            <a:pPr lvl="1"/>
            <a:r>
              <a:rPr kumimoji="1" lang="ja-JP" altLang="en-US" sz="1800" dirty="0"/>
              <a:t>コンデンサの容量は表面積に比例</a:t>
            </a:r>
            <a:endParaRPr kumimoji="1" lang="en-US" altLang="ja-JP" sz="1800" dirty="0"/>
          </a:p>
          <a:p>
            <a:pPr lvl="1"/>
            <a:r>
              <a:rPr kumimoji="1" lang="ja-JP" altLang="en-US" sz="1800" dirty="0"/>
              <a:t>トレンチ（塹壕の意味）と呼ばれる</a:t>
            </a:r>
            <a:endParaRPr kumimoji="1" lang="en-US" altLang="ja-JP" sz="1800" dirty="0"/>
          </a:p>
          <a:p>
            <a:pPr lvl="1"/>
            <a:r>
              <a:rPr kumimoji="1" lang="ja-JP" altLang="en-US" sz="1800" dirty="0">
                <a:solidFill>
                  <a:schemeClr val="accent5"/>
                </a:solidFill>
              </a:rPr>
              <a:t>特殊な工程が必要なので通常のトランジスタと混ぜて作るのが難しい</a:t>
            </a:r>
            <a:endParaRPr kumimoji="1" lang="en-US" altLang="ja-JP" sz="1800" dirty="0">
              <a:solidFill>
                <a:schemeClr val="accent5"/>
              </a:solidFill>
            </a:endParaRPr>
          </a:p>
          <a:p>
            <a:pPr lvl="2"/>
            <a:r>
              <a:rPr lang="en-US" altLang="ja-JP" sz="1800" dirty="0"/>
              <a:t>DRAM </a:t>
            </a:r>
            <a:r>
              <a:rPr lang="ja-JP" altLang="en-US" sz="1800" dirty="0"/>
              <a:t>は </a:t>
            </a:r>
            <a:r>
              <a:rPr lang="en-US" altLang="ja-JP" sz="1800" dirty="0"/>
              <a:t>CPU </a:t>
            </a:r>
            <a:r>
              <a:rPr lang="ja-JP" altLang="en-US" sz="1800" dirty="0"/>
              <a:t>とは違う専用のチップで製造される</a:t>
            </a:r>
            <a:endParaRPr lang="en-US" altLang="ja-JP" sz="1800" dirty="0"/>
          </a:p>
        </p:txBody>
      </p:sp>
      <p:pic>
        <p:nvPicPr>
          <p:cNvPr id="4" name="図 3"/>
          <p:cNvPicPr>
            <a:picLocks noChangeAspect="1"/>
          </p:cNvPicPr>
          <p:nvPr/>
        </p:nvPicPr>
        <p:blipFill>
          <a:blip r:embed="rId2"/>
          <a:stretch>
            <a:fillRect/>
          </a:stretch>
        </p:blipFill>
        <p:spPr>
          <a:xfrm>
            <a:off x="341953" y="998973"/>
            <a:ext cx="8172040" cy="3547500"/>
          </a:xfrm>
          <a:prstGeom prst="rect">
            <a:avLst/>
          </a:prstGeom>
        </p:spPr>
      </p:pic>
    </p:spTree>
    <p:extLst>
      <p:ext uri="{BB962C8B-B14F-4D97-AF65-F5344CB8AC3E}">
        <p14:creationId xmlns:p14="http://schemas.microsoft.com/office/powerpoint/2010/main" val="17721865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B7178-1DEB-8CDB-5164-7C5CD13228C3}"/>
              </a:ext>
            </a:extLst>
          </p:cNvPr>
          <p:cNvSpPr>
            <a:spLocks noGrp="1"/>
          </p:cNvSpPr>
          <p:nvPr>
            <p:ph type="title"/>
          </p:nvPr>
        </p:nvSpPr>
        <p:spPr/>
        <p:txBody>
          <a:bodyPr/>
          <a:lstStyle/>
          <a:p>
            <a:r>
              <a:rPr kumimoji="1" lang="ja-JP" altLang="en-US"/>
              <a:t>過去に使われていたもの：磁気</a:t>
            </a:r>
            <a:r>
              <a:rPr kumimoji="1" lang="ja-JP" altLang="en-US" dirty="0"/>
              <a:t>コアメモリ</a:t>
            </a:r>
            <a:br>
              <a:rPr kumimoji="1" lang="en-US" altLang="ja-JP" dirty="0"/>
            </a:br>
            <a:r>
              <a:rPr kumimoji="1" lang="en-US" altLang="ja-JP" sz="1000" dirty="0">
                <a:hlinkClick r:id="rId2">
                  <a:extLst>
                    <a:ext uri="{A12FA001-AC4F-418D-AE19-62706E023703}">
                      <ahyp:hlinkClr xmlns:ahyp="http://schemas.microsoft.com/office/drawing/2018/hyperlinkcolor" val="tx"/>
                    </a:ext>
                  </a:extLst>
                </a:hlinkClick>
              </a:rPr>
              <a:t>https://ja.wikipedia.org/wiki/%E7%A3%81%E6%B0%97%E3%82%B3%E3%82%A2%E3%83%A1%E3%83%A2%E3%83%AA</a:t>
            </a:r>
            <a:r>
              <a:rPr kumimoji="1" lang="en-US" altLang="ja-JP" sz="1000" dirty="0"/>
              <a:t> </a:t>
            </a:r>
            <a:r>
              <a:rPr kumimoji="1" lang="ja-JP" altLang="en-US" sz="1000" dirty="0"/>
              <a:t>より</a:t>
            </a:r>
          </a:p>
        </p:txBody>
      </p:sp>
      <p:pic>
        <p:nvPicPr>
          <p:cNvPr id="1026" name="Picture 2" descr="undefined">
            <a:extLst>
              <a:ext uri="{FF2B5EF4-FFF2-40B4-BE49-F238E27FC236}">
                <a16:creationId xmlns:a16="http://schemas.microsoft.com/office/drawing/2014/main" id="{7B5892DC-A093-1B52-A878-ABCE98561F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1972" y="1268976"/>
            <a:ext cx="4507251" cy="4313158"/>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プレースホルダー 2">
            <a:extLst>
              <a:ext uri="{FF2B5EF4-FFF2-40B4-BE49-F238E27FC236}">
                <a16:creationId xmlns:a16="http://schemas.microsoft.com/office/drawing/2014/main" id="{8B06F170-596A-20A3-8E00-CE5DE09C12D7}"/>
              </a:ext>
            </a:extLst>
          </p:cNvPr>
          <p:cNvSpPr>
            <a:spLocks noGrp="1"/>
          </p:cNvSpPr>
          <p:nvPr>
            <p:ph type="body" sz="quarter" idx="10"/>
          </p:nvPr>
        </p:nvSpPr>
        <p:spPr>
          <a:xfrm>
            <a:off x="521955" y="5859027"/>
            <a:ext cx="8280092" cy="629700"/>
          </a:xfrm>
        </p:spPr>
        <p:txBody>
          <a:bodyPr/>
          <a:lstStyle/>
          <a:p>
            <a:pPr lvl="1"/>
            <a:r>
              <a:rPr kumimoji="1" lang="en-US" altLang="ja-JP" dirty="0"/>
              <a:t>1950</a:t>
            </a:r>
            <a:r>
              <a:rPr kumimoji="1" lang="ja-JP" altLang="en-US" dirty="0"/>
              <a:t>年代から使用されていた</a:t>
            </a:r>
            <a:endParaRPr kumimoji="1" lang="en-US" altLang="ja-JP" dirty="0"/>
          </a:p>
          <a:p>
            <a:pPr lvl="1"/>
            <a:r>
              <a:rPr kumimoji="1" lang="ja-JP" altLang="en-US" dirty="0"/>
              <a:t>いわゆる「コアダンプ」のコアとは元々この磁気コアのこと</a:t>
            </a:r>
            <a:endParaRPr kumimoji="1" lang="en-US" altLang="ja-JP" dirty="0"/>
          </a:p>
        </p:txBody>
      </p:sp>
    </p:spTree>
    <p:extLst>
      <p:ext uri="{BB962C8B-B14F-4D97-AF65-F5344CB8AC3E}">
        <p14:creationId xmlns:p14="http://schemas.microsoft.com/office/powerpoint/2010/main" val="989004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lang="ja-JP" altLang="en-US" dirty="0"/>
              <a:t>メモリの基本</a:t>
            </a:r>
            <a:endParaRPr lang="en-US" altLang="ja-JP" dirty="0"/>
          </a:p>
          <a:p>
            <a:pPr marL="817200" lvl="1" indent="-457200">
              <a:buFont typeface="+mj-lt"/>
              <a:buAutoNum type="arabicPeriod"/>
            </a:pPr>
            <a:r>
              <a:rPr lang="ja-JP" altLang="en-US" dirty="0"/>
              <a:t>構造</a:t>
            </a:r>
            <a:endParaRPr lang="en-US" altLang="ja-JP" dirty="0"/>
          </a:p>
          <a:p>
            <a:pPr marL="817200" lvl="1" indent="-457200">
              <a:buFont typeface="+mj-lt"/>
              <a:buAutoNum type="arabicPeriod"/>
            </a:pPr>
            <a:r>
              <a:rPr lang="ja-JP" altLang="en-US" dirty="0"/>
              <a:t>動作</a:t>
            </a:r>
            <a:endParaRPr lang="en-US" altLang="ja-JP" dirty="0"/>
          </a:p>
          <a:p>
            <a:pPr marL="817200" lvl="1" indent="-457200">
              <a:buFont typeface="+mj-lt"/>
              <a:buAutoNum type="arabicPeriod"/>
            </a:pPr>
            <a:r>
              <a:rPr lang="ja-JP" altLang="en-US" dirty="0"/>
              <a:t>アクセス時間</a:t>
            </a:r>
            <a:endParaRPr lang="en-US" altLang="ja-JP" dirty="0"/>
          </a:p>
          <a:p>
            <a:pPr marL="457200" indent="-457200">
              <a:buFont typeface="+mj-lt"/>
              <a:buAutoNum type="arabicPeriod"/>
            </a:pPr>
            <a:r>
              <a:rPr lang="ja-JP" altLang="en-US" dirty="0"/>
              <a:t>メモリの詳細</a:t>
            </a:r>
            <a:endParaRPr lang="en-US" altLang="ja-JP" dirty="0"/>
          </a:p>
          <a:p>
            <a:pPr marL="817200" lvl="1" indent="-457200">
              <a:buFont typeface="+mj-lt"/>
              <a:buAutoNum type="arabicPeriod"/>
            </a:pPr>
            <a:r>
              <a:rPr lang="en-US" altLang="ja-JP" dirty="0"/>
              <a:t>SRAM </a:t>
            </a:r>
            <a:r>
              <a:rPr lang="ja-JP" altLang="en-US" dirty="0"/>
              <a:t>と </a:t>
            </a:r>
            <a:r>
              <a:rPr lang="en-US" altLang="ja-JP" dirty="0"/>
              <a:t>DRAM</a:t>
            </a:r>
          </a:p>
          <a:p>
            <a:pPr marL="817200" lvl="1" indent="-457200">
              <a:buFont typeface="+mj-lt"/>
              <a:buAutoNum type="arabicPeriod"/>
            </a:pPr>
            <a:r>
              <a:rPr lang="ja-JP" altLang="en-US" b="1" dirty="0"/>
              <a:t>なぜメモリが存在するのか？</a:t>
            </a:r>
            <a:endParaRPr lang="en-US" altLang="ja-JP" dirty="0"/>
          </a:p>
        </p:txBody>
      </p:sp>
    </p:spTree>
    <p:extLst>
      <p:ext uri="{BB962C8B-B14F-4D97-AF65-F5344CB8AC3E}">
        <p14:creationId xmlns:p14="http://schemas.microsoft.com/office/powerpoint/2010/main" val="2231671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75E16E-4E07-4DD3-B7AE-30384DEDA7DA}"/>
              </a:ext>
            </a:extLst>
          </p:cNvPr>
          <p:cNvSpPr>
            <a:spLocks noGrp="1"/>
          </p:cNvSpPr>
          <p:nvPr>
            <p:ph type="title"/>
          </p:nvPr>
        </p:nvSpPr>
        <p:spPr/>
        <p:txBody>
          <a:bodyPr/>
          <a:lstStyle/>
          <a:p>
            <a:r>
              <a:rPr kumimoji="1" lang="ja-JP" altLang="en-US" dirty="0"/>
              <a:t>メモリの存在する理由</a:t>
            </a:r>
          </a:p>
        </p:txBody>
      </p:sp>
      <p:sp>
        <p:nvSpPr>
          <p:cNvPr id="3" name="テキスト プレースホルダー 2">
            <a:extLst>
              <a:ext uri="{FF2B5EF4-FFF2-40B4-BE49-F238E27FC236}">
                <a16:creationId xmlns:a16="http://schemas.microsoft.com/office/drawing/2014/main" id="{85BC6282-73C9-4184-B25A-1BBCEB8615BE}"/>
              </a:ext>
            </a:extLst>
          </p:cNvPr>
          <p:cNvSpPr>
            <a:spLocks noGrp="1"/>
          </p:cNvSpPr>
          <p:nvPr>
            <p:ph type="body" sz="quarter" idx="10"/>
          </p:nvPr>
        </p:nvSpPr>
        <p:spPr/>
        <p:txBody>
          <a:bodyPr/>
          <a:lstStyle/>
          <a:p>
            <a:r>
              <a:rPr lang="en-US" altLang="ja-JP" dirty="0"/>
              <a:t>D-FF </a:t>
            </a:r>
            <a:r>
              <a:rPr lang="ja-JP" altLang="en-US" dirty="0"/>
              <a:t>とマルチプレクサがあれば，等価な機能は実現できる</a:t>
            </a:r>
            <a:endParaRPr lang="en-US" altLang="ja-JP" dirty="0"/>
          </a:p>
          <a:p>
            <a:pPr lvl="1"/>
            <a:r>
              <a:rPr lang="ja-JP" altLang="en-US" dirty="0"/>
              <a:t>しかし実際には，メモリ専用の回路が用意される</a:t>
            </a:r>
            <a:endParaRPr lang="en-US" altLang="ja-JP" dirty="0"/>
          </a:p>
          <a:p>
            <a:r>
              <a:rPr lang="ja-JP" altLang="en-US" dirty="0"/>
              <a:t>メモリ専用の回路が用意される理由：</a:t>
            </a:r>
            <a:endParaRPr lang="en-US" altLang="ja-JP" dirty="0"/>
          </a:p>
          <a:p>
            <a:pPr lvl="1"/>
            <a:r>
              <a:rPr kumimoji="1" lang="en-US" altLang="ja-JP" dirty="0">
                <a:solidFill>
                  <a:schemeClr val="accent5"/>
                </a:solidFill>
              </a:rPr>
              <a:t>D-FF </a:t>
            </a:r>
            <a:r>
              <a:rPr kumimoji="1" lang="ja-JP" altLang="en-US" dirty="0">
                <a:solidFill>
                  <a:schemeClr val="accent5"/>
                </a:solidFill>
              </a:rPr>
              <a:t>とマルチプレクサよりも，高密度に実装したいから</a:t>
            </a:r>
            <a:endParaRPr kumimoji="1" lang="en-US" altLang="ja-JP" dirty="0">
              <a:solidFill>
                <a:schemeClr val="accent5"/>
              </a:solidFill>
            </a:endParaRPr>
          </a:p>
          <a:p>
            <a:pPr lvl="1"/>
            <a:r>
              <a:rPr lang="ja-JP" altLang="en-US" dirty="0"/>
              <a:t>同じチップ面積で，より多くの情報を記憶したい</a:t>
            </a:r>
            <a:endParaRPr lang="en-US" altLang="ja-JP" dirty="0"/>
          </a:p>
        </p:txBody>
      </p:sp>
    </p:spTree>
    <p:extLst>
      <p:ext uri="{BB962C8B-B14F-4D97-AF65-F5344CB8AC3E}">
        <p14:creationId xmlns:p14="http://schemas.microsoft.com/office/powerpoint/2010/main" val="7217086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D-FF </a:t>
            </a:r>
            <a:r>
              <a:rPr kumimoji="1" lang="ja-JP" altLang="en-US" dirty="0"/>
              <a:t>とマルチプレクサによる </a:t>
            </a:r>
            <a:r>
              <a:rPr kumimoji="1" lang="en-US" altLang="ja-JP" dirty="0"/>
              <a:t>4bit </a:t>
            </a:r>
            <a:r>
              <a:rPr kumimoji="1" lang="ja-JP" altLang="en-US" dirty="0"/>
              <a:t>の </a:t>
            </a:r>
            <a:r>
              <a:rPr kumimoji="1" lang="en-US" altLang="ja-JP" dirty="0"/>
              <a:t>RAM</a:t>
            </a:r>
            <a:endParaRPr kumimoji="1" lang="ja-JP" altLang="en-US" dirty="0"/>
          </a:p>
        </p:txBody>
      </p:sp>
      <p:sp>
        <p:nvSpPr>
          <p:cNvPr id="3" name="テキスト プレースホルダー 2"/>
          <p:cNvSpPr>
            <a:spLocks noGrp="1"/>
          </p:cNvSpPr>
          <p:nvPr>
            <p:ph type="body" sz="quarter" idx="10"/>
          </p:nvPr>
        </p:nvSpPr>
        <p:spPr>
          <a:xfrm>
            <a:off x="611956" y="5319021"/>
            <a:ext cx="8280092" cy="1169706"/>
          </a:xfrm>
        </p:spPr>
        <p:txBody>
          <a:bodyPr/>
          <a:lstStyle/>
          <a:p>
            <a:r>
              <a:rPr kumimoji="1" lang="ja-JP" altLang="en-US" dirty="0"/>
              <a:t>４エントリの </a:t>
            </a:r>
            <a:r>
              <a:rPr kumimoji="1" lang="en-US" altLang="ja-JP" dirty="0"/>
              <a:t>LUT </a:t>
            </a:r>
            <a:r>
              <a:rPr kumimoji="1" lang="ja-JP" altLang="en-US" dirty="0"/>
              <a:t>を </a:t>
            </a:r>
            <a:r>
              <a:rPr kumimoji="1" lang="en-US" altLang="ja-JP" dirty="0"/>
              <a:t>D-FF </a:t>
            </a:r>
            <a:r>
              <a:rPr kumimoji="1" lang="ja-JP" altLang="en-US" dirty="0"/>
              <a:t>で構成してみる</a:t>
            </a:r>
            <a:endParaRPr kumimoji="1" lang="en-US" altLang="ja-JP" dirty="0"/>
          </a:p>
          <a:p>
            <a:pPr lvl="1"/>
            <a:r>
              <a:rPr kumimoji="1" lang="ja-JP" altLang="en-US" dirty="0"/>
              <a:t>中身を憶える </a:t>
            </a:r>
            <a:r>
              <a:rPr kumimoji="1" lang="en-US" altLang="ja-JP" dirty="0"/>
              <a:t>4</a:t>
            </a:r>
            <a:r>
              <a:rPr kumimoji="1" lang="ja-JP" altLang="en-US" dirty="0"/>
              <a:t>つの </a:t>
            </a:r>
            <a:r>
              <a:rPr kumimoji="1" lang="en-US" altLang="ja-JP" dirty="0"/>
              <a:t>D-FF </a:t>
            </a:r>
          </a:p>
          <a:p>
            <a:pPr lvl="1"/>
            <a:r>
              <a:rPr kumimoji="1" lang="ja-JP" altLang="en-US" dirty="0"/>
              <a:t>場所を指定して選択する</a:t>
            </a:r>
            <a:r>
              <a:rPr kumimoji="1" lang="en-US" altLang="ja-JP" dirty="0"/>
              <a:t>2</a:t>
            </a:r>
            <a:r>
              <a:rPr kumimoji="1" lang="ja-JP" altLang="en-US" dirty="0"/>
              <a:t>段のマルチプレクサ</a:t>
            </a:r>
          </a:p>
        </p:txBody>
      </p:sp>
      <p:grpSp>
        <p:nvGrpSpPr>
          <p:cNvPr id="4" name="グループ化 3"/>
          <p:cNvGrpSpPr/>
          <p:nvPr/>
        </p:nvGrpSpPr>
        <p:grpSpPr>
          <a:xfrm>
            <a:off x="2861981" y="1448978"/>
            <a:ext cx="990011" cy="720008"/>
            <a:chOff x="6369707" y="1718772"/>
            <a:chExt cx="1441450" cy="1085855"/>
          </a:xfrm>
        </p:grpSpPr>
        <p:sp>
          <p:nvSpPr>
            <p:cNvPr id="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7" name="Rectangle 7"/>
            <p:cNvSpPr>
              <a:spLocks noChangeArrowheads="1"/>
            </p:cNvSpPr>
            <p:nvPr/>
          </p:nvSpPr>
          <p:spPr bwMode="auto">
            <a:xfrm>
              <a:off x="6893871" y="1990236"/>
              <a:ext cx="360361" cy="360363"/>
            </a:xfrm>
            <a:prstGeom prst="rect">
              <a:avLst/>
            </a:prstGeom>
            <a:noFill/>
            <a:ln w="12700" algn="ctr">
              <a:noFill/>
              <a:miter lim="800000"/>
              <a:headEnd/>
              <a:tailEnd/>
            </a:ln>
            <a:effectLst/>
          </p:spPr>
          <p:txBody>
            <a:bodyPr wrap="none" lIns="90000" tIns="46800" rIns="90000" bIns="46800" anchor="ctr"/>
            <a:lstStyle/>
            <a:p>
              <a:pPr algn="ctr"/>
              <a:r>
                <a:rPr lang="ja-JP" altLang="en-US" sz="2400" dirty="0">
                  <a:solidFill>
                    <a:schemeClr val="accent5"/>
                  </a:solidFill>
                </a:rPr>
                <a:t>０</a:t>
              </a:r>
              <a:endParaRPr lang="en-US" altLang="ja-JP" sz="2400" dirty="0">
                <a:solidFill>
                  <a:schemeClr val="accent5"/>
                </a:solidFill>
              </a:endParaRPr>
            </a:p>
          </p:txBody>
        </p:sp>
        <p:sp>
          <p:nvSpPr>
            <p:cNvPr id="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sp>
        <p:nvSpPr>
          <p:cNvPr id="38" name="Line 9"/>
          <p:cNvSpPr>
            <a:spLocks noChangeShapeType="1"/>
          </p:cNvSpPr>
          <p:nvPr/>
        </p:nvSpPr>
        <p:spPr bwMode="auto">
          <a:xfrm>
            <a:off x="4662001" y="2618991"/>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9" name="Line 9"/>
          <p:cNvSpPr>
            <a:spLocks noChangeShapeType="1"/>
          </p:cNvSpPr>
          <p:nvPr/>
        </p:nvSpPr>
        <p:spPr bwMode="auto">
          <a:xfrm>
            <a:off x="4662001" y="3519001"/>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0" name="フローチャート: 手作業 39"/>
          <p:cNvSpPr/>
          <p:nvPr/>
        </p:nvSpPr>
        <p:spPr bwMode="auto">
          <a:xfrm rot="16200000">
            <a:off x="4527000" y="2933994"/>
            <a:ext cx="1260014" cy="270003"/>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ea typeface="メイリオ" panose="020B0604030504040204" pitchFamily="50" charset="-128"/>
            </a:endParaRPr>
          </a:p>
        </p:txBody>
      </p:sp>
      <p:sp>
        <p:nvSpPr>
          <p:cNvPr id="41" name="Freeform 10"/>
          <p:cNvSpPr>
            <a:spLocks/>
          </p:cNvSpPr>
          <p:nvPr/>
        </p:nvSpPr>
        <p:spPr bwMode="auto">
          <a:xfrm flipH="1" flipV="1">
            <a:off x="4391996" y="2078984"/>
            <a:ext cx="270003" cy="54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cs typeface="Times New Roman" pitchFamily="18" charset="0"/>
            </a:endParaRPr>
          </a:p>
        </p:txBody>
      </p:sp>
      <p:sp>
        <p:nvSpPr>
          <p:cNvPr id="42" name="Freeform 10"/>
          <p:cNvSpPr>
            <a:spLocks/>
          </p:cNvSpPr>
          <p:nvPr/>
        </p:nvSpPr>
        <p:spPr bwMode="auto">
          <a:xfrm flipH="1">
            <a:off x="4391996" y="3519002"/>
            <a:ext cx="270003"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cs typeface="Times New Roman" pitchFamily="18" charset="0"/>
            </a:endParaRPr>
          </a:p>
        </p:txBody>
      </p:sp>
      <p:sp>
        <p:nvSpPr>
          <p:cNvPr id="43" name="Line 9"/>
          <p:cNvSpPr>
            <a:spLocks noChangeShapeType="1"/>
          </p:cNvSpPr>
          <p:nvPr/>
        </p:nvSpPr>
        <p:spPr bwMode="auto">
          <a:xfrm>
            <a:off x="5292008" y="3068996"/>
            <a:ext cx="450005" cy="0"/>
          </a:xfrm>
          <a:prstGeom prst="line">
            <a:avLst/>
          </a:prstGeom>
          <a:noFill/>
          <a:ln w="9525">
            <a:solidFill>
              <a:schemeClr val="tx1"/>
            </a:solidFill>
            <a:round/>
            <a:headEnd/>
            <a:tailEnd type="triangle" w="med" len="lg"/>
          </a:ln>
          <a:effectLst/>
        </p:spPr>
        <p:txBody>
          <a:bodyPr wrap="none" lIns="90000" tIns="46800" rIns="90000" bIns="46800" anchor="ctr"/>
          <a:lstStyle/>
          <a:p>
            <a:endParaRPr lang="ja-JP" altLang="en-US" sz="1200"/>
          </a:p>
        </p:txBody>
      </p:sp>
      <p:sp>
        <p:nvSpPr>
          <p:cNvPr id="44" name="Line 9"/>
          <p:cNvSpPr>
            <a:spLocks noChangeShapeType="1"/>
          </p:cNvSpPr>
          <p:nvPr/>
        </p:nvSpPr>
        <p:spPr bwMode="auto">
          <a:xfrm>
            <a:off x="3851992" y="1628980"/>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6" name="Line 9"/>
          <p:cNvSpPr>
            <a:spLocks noChangeShapeType="1"/>
          </p:cNvSpPr>
          <p:nvPr/>
        </p:nvSpPr>
        <p:spPr bwMode="auto">
          <a:xfrm>
            <a:off x="3851992" y="3429000"/>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7" name="Line 9"/>
          <p:cNvSpPr>
            <a:spLocks noChangeShapeType="1"/>
          </p:cNvSpPr>
          <p:nvPr/>
        </p:nvSpPr>
        <p:spPr bwMode="auto">
          <a:xfrm>
            <a:off x="3851992" y="4329010"/>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8" name="Line 9"/>
          <p:cNvSpPr>
            <a:spLocks noChangeShapeType="1"/>
          </p:cNvSpPr>
          <p:nvPr/>
        </p:nvSpPr>
        <p:spPr bwMode="auto">
          <a:xfrm>
            <a:off x="3851992" y="2528990"/>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cxnSp>
        <p:nvCxnSpPr>
          <p:cNvPr id="66" name="直線コネクタ 65"/>
          <p:cNvCxnSpPr/>
          <p:nvPr/>
        </p:nvCxnSpPr>
        <p:spPr bwMode="auto">
          <a:xfrm>
            <a:off x="4301997" y="1448978"/>
            <a:ext cx="0" cy="198002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flipH="1">
            <a:off x="5202007" y="1448978"/>
            <a:ext cx="1" cy="108001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8" name="Rectangle 18"/>
          <p:cNvSpPr>
            <a:spLocks noChangeArrowheads="1"/>
          </p:cNvSpPr>
          <p:nvPr/>
        </p:nvSpPr>
        <p:spPr bwMode="auto">
          <a:xfrm>
            <a:off x="5022006" y="998973"/>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a1</a:t>
            </a:r>
            <a:endParaRPr lang="en-US" altLang="ja-JP" sz="2000" i="1" baseline="0" dirty="0">
              <a:ea typeface="MeiryoKe_PGothic" pitchFamily="50" charset="-128"/>
            </a:endParaRPr>
          </a:p>
        </p:txBody>
      </p:sp>
      <p:sp>
        <p:nvSpPr>
          <p:cNvPr id="69" name="Rectangle 20"/>
          <p:cNvSpPr>
            <a:spLocks noChangeArrowheads="1"/>
          </p:cNvSpPr>
          <p:nvPr/>
        </p:nvSpPr>
        <p:spPr bwMode="auto">
          <a:xfrm>
            <a:off x="4121995" y="998973"/>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a0</a:t>
            </a:r>
            <a:endParaRPr lang="en-US" altLang="ja-JP" sz="2000" i="1" baseline="0" dirty="0">
              <a:ea typeface="MeiryoKe_PGothic" pitchFamily="50" charset="-128"/>
            </a:endParaRPr>
          </a:p>
        </p:txBody>
      </p:sp>
      <p:sp>
        <p:nvSpPr>
          <p:cNvPr id="37" name="フローチャート: 手作業 36"/>
          <p:cNvSpPr/>
          <p:nvPr/>
        </p:nvSpPr>
        <p:spPr bwMode="auto">
          <a:xfrm rot="16200000">
            <a:off x="3626990" y="3744003"/>
            <a:ext cx="1260014" cy="270003"/>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ea typeface="メイリオ" panose="020B0604030504040204" pitchFamily="50" charset="-128"/>
            </a:endParaRPr>
          </a:p>
        </p:txBody>
      </p:sp>
      <p:sp>
        <p:nvSpPr>
          <p:cNvPr id="36" name="フローチャート: 手作業 35"/>
          <p:cNvSpPr/>
          <p:nvPr/>
        </p:nvSpPr>
        <p:spPr bwMode="auto">
          <a:xfrm rot="16200000">
            <a:off x="3626990" y="1943983"/>
            <a:ext cx="1260014" cy="270003"/>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ea typeface="メイリオ" panose="020B0604030504040204" pitchFamily="50" charset="-128"/>
            </a:endParaRPr>
          </a:p>
        </p:txBody>
      </p:sp>
      <p:cxnSp>
        <p:nvCxnSpPr>
          <p:cNvPr id="73" name="直線コネクタ 72"/>
          <p:cNvCxnSpPr/>
          <p:nvPr/>
        </p:nvCxnSpPr>
        <p:spPr bwMode="auto">
          <a:xfrm>
            <a:off x="4301997" y="1358977"/>
            <a:ext cx="0" cy="270003"/>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76" name="Rectangle 20"/>
          <p:cNvSpPr>
            <a:spLocks noChangeArrowheads="1"/>
          </p:cNvSpPr>
          <p:nvPr/>
        </p:nvSpPr>
        <p:spPr bwMode="auto">
          <a:xfrm>
            <a:off x="5742014" y="2888994"/>
            <a:ext cx="360363" cy="360363"/>
          </a:xfrm>
          <a:prstGeom prst="rect">
            <a:avLst/>
          </a:prstGeom>
          <a:noFill/>
          <a:ln w="28575">
            <a:noFill/>
            <a:miter lim="800000"/>
            <a:headEnd/>
            <a:tailEnd/>
          </a:ln>
          <a:effectLst/>
        </p:spPr>
        <p:txBody>
          <a:bodyPr wrap="none" anchor="ctr"/>
          <a:lstStyle/>
          <a:p>
            <a:pPr algn="ctr"/>
            <a:r>
              <a:rPr lang="ja-JP" altLang="en-US" sz="2000" i="1" dirty="0">
                <a:ea typeface="MeiryoKe_PGothic" pitchFamily="50" charset="-128"/>
              </a:rPr>
              <a:t> </a:t>
            </a:r>
            <a:r>
              <a:rPr lang="en-US" altLang="ja-JP" sz="2000" i="1" baseline="0" dirty="0">
                <a:ea typeface="MeiryoKe_PGothic" pitchFamily="50" charset="-128"/>
              </a:rPr>
              <a:t>out</a:t>
            </a:r>
          </a:p>
        </p:txBody>
      </p:sp>
      <p:grpSp>
        <p:nvGrpSpPr>
          <p:cNvPr id="85" name="グループ化 84"/>
          <p:cNvGrpSpPr/>
          <p:nvPr/>
        </p:nvGrpSpPr>
        <p:grpSpPr>
          <a:xfrm>
            <a:off x="2861981" y="2348988"/>
            <a:ext cx="990011" cy="720008"/>
            <a:chOff x="6369707" y="1718772"/>
            <a:chExt cx="1441450" cy="1085855"/>
          </a:xfrm>
        </p:grpSpPr>
        <p:sp>
          <p:nvSpPr>
            <p:cNvPr id="86"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87"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88" name="Rectangle 7"/>
            <p:cNvSpPr>
              <a:spLocks noChangeArrowheads="1"/>
            </p:cNvSpPr>
            <p:nvPr/>
          </p:nvSpPr>
          <p:spPr bwMode="auto">
            <a:xfrm>
              <a:off x="6893871" y="1990236"/>
              <a:ext cx="360361" cy="360363"/>
            </a:xfrm>
            <a:prstGeom prst="rect">
              <a:avLst/>
            </a:prstGeom>
            <a:noFill/>
            <a:ln w="12700" algn="ctr">
              <a:noFill/>
              <a:miter lim="800000"/>
              <a:headEnd/>
              <a:tailEnd/>
            </a:ln>
            <a:effectLst/>
          </p:spPr>
          <p:txBody>
            <a:bodyPr wrap="none" lIns="90000" tIns="46800" rIns="90000" bIns="46800" anchor="ctr"/>
            <a:lstStyle/>
            <a:p>
              <a:pPr algn="ctr"/>
              <a:r>
                <a:rPr lang="en-US" altLang="ja-JP" sz="2400" dirty="0">
                  <a:solidFill>
                    <a:schemeClr val="accent5"/>
                  </a:solidFill>
                </a:rPr>
                <a:t>1</a:t>
              </a:r>
            </a:p>
          </p:txBody>
        </p:sp>
        <p:sp>
          <p:nvSpPr>
            <p:cNvPr id="8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9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grpSp>
        <p:nvGrpSpPr>
          <p:cNvPr id="91" name="グループ化 90"/>
          <p:cNvGrpSpPr/>
          <p:nvPr/>
        </p:nvGrpSpPr>
        <p:grpSpPr>
          <a:xfrm>
            <a:off x="2861981" y="3248998"/>
            <a:ext cx="990011" cy="720008"/>
            <a:chOff x="6369707" y="1718772"/>
            <a:chExt cx="1441450" cy="1085855"/>
          </a:xfrm>
        </p:grpSpPr>
        <p:sp>
          <p:nvSpPr>
            <p:cNvPr id="92"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93"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94" name="Rectangle 7"/>
            <p:cNvSpPr>
              <a:spLocks noChangeArrowheads="1"/>
            </p:cNvSpPr>
            <p:nvPr/>
          </p:nvSpPr>
          <p:spPr bwMode="auto">
            <a:xfrm>
              <a:off x="6893871" y="1990236"/>
              <a:ext cx="360361" cy="360363"/>
            </a:xfrm>
            <a:prstGeom prst="rect">
              <a:avLst/>
            </a:prstGeom>
            <a:noFill/>
            <a:ln w="12700" algn="ctr">
              <a:noFill/>
              <a:miter lim="800000"/>
              <a:headEnd/>
              <a:tailEnd/>
            </a:ln>
            <a:effectLst/>
          </p:spPr>
          <p:txBody>
            <a:bodyPr wrap="none" lIns="90000" tIns="46800" rIns="90000" bIns="46800" anchor="ctr"/>
            <a:lstStyle/>
            <a:p>
              <a:pPr algn="ctr"/>
              <a:r>
                <a:rPr lang="en-US" altLang="ja-JP" sz="2400" dirty="0">
                  <a:solidFill>
                    <a:schemeClr val="accent5"/>
                  </a:solidFill>
                </a:rPr>
                <a:t>2</a:t>
              </a:r>
            </a:p>
          </p:txBody>
        </p:sp>
        <p:sp>
          <p:nvSpPr>
            <p:cNvPr id="95"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96"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grpSp>
        <p:nvGrpSpPr>
          <p:cNvPr id="97" name="グループ化 96"/>
          <p:cNvGrpSpPr/>
          <p:nvPr/>
        </p:nvGrpSpPr>
        <p:grpSpPr>
          <a:xfrm>
            <a:off x="2861981" y="4149008"/>
            <a:ext cx="990011" cy="720008"/>
            <a:chOff x="6369707" y="1718772"/>
            <a:chExt cx="1441450" cy="1085855"/>
          </a:xfrm>
        </p:grpSpPr>
        <p:sp>
          <p:nvSpPr>
            <p:cNvPr id="98"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99"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100" name="Rectangle 7"/>
            <p:cNvSpPr>
              <a:spLocks noChangeArrowheads="1"/>
            </p:cNvSpPr>
            <p:nvPr/>
          </p:nvSpPr>
          <p:spPr bwMode="auto">
            <a:xfrm>
              <a:off x="6893871" y="1990236"/>
              <a:ext cx="360361" cy="360363"/>
            </a:xfrm>
            <a:prstGeom prst="rect">
              <a:avLst/>
            </a:prstGeom>
            <a:noFill/>
            <a:ln w="12700" algn="ctr">
              <a:noFill/>
              <a:miter lim="800000"/>
              <a:headEnd/>
              <a:tailEnd/>
            </a:ln>
            <a:effectLst/>
          </p:spPr>
          <p:txBody>
            <a:bodyPr wrap="none" lIns="90000" tIns="46800" rIns="90000" bIns="46800" anchor="ctr"/>
            <a:lstStyle/>
            <a:p>
              <a:pPr algn="ctr"/>
              <a:r>
                <a:rPr lang="en-US" altLang="ja-JP" sz="2400" dirty="0">
                  <a:solidFill>
                    <a:schemeClr val="accent5"/>
                  </a:solidFill>
                </a:rPr>
                <a:t>3</a:t>
              </a:r>
            </a:p>
          </p:txBody>
        </p:sp>
        <p:sp>
          <p:nvSpPr>
            <p:cNvPr id="101"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02"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spTree>
    <p:extLst>
      <p:ext uri="{BB962C8B-B14F-4D97-AF65-F5344CB8AC3E}">
        <p14:creationId xmlns:p14="http://schemas.microsoft.com/office/powerpoint/2010/main" val="968437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D-FF</a:t>
            </a:r>
            <a:r>
              <a:rPr kumimoji="1" lang="ja-JP" altLang="en-US" dirty="0"/>
              <a:t>：トランジスタ </a:t>
            </a:r>
            <a:r>
              <a:rPr kumimoji="1" lang="en-US" altLang="ja-JP" dirty="0"/>
              <a:t>16</a:t>
            </a:r>
            <a:r>
              <a:rPr kumimoji="1" lang="ja-JP" altLang="en-US" dirty="0"/>
              <a:t>個</a:t>
            </a:r>
          </a:p>
        </p:txBody>
      </p:sp>
      <p:sp>
        <p:nvSpPr>
          <p:cNvPr id="4" name="Freeform 44"/>
          <p:cNvSpPr>
            <a:spLocks/>
          </p:cNvSpPr>
          <p:nvPr/>
        </p:nvSpPr>
        <p:spPr bwMode="auto">
          <a:xfrm>
            <a:off x="2700897" y="2707916"/>
            <a:ext cx="1600588"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5" name="Freeform 43"/>
          <p:cNvSpPr>
            <a:spLocks/>
          </p:cNvSpPr>
          <p:nvPr/>
        </p:nvSpPr>
        <p:spPr bwMode="auto">
          <a:xfrm>
            <a:off x="4860920" y="2707916"/>
            <a:ext cx="1601153" cy="721442"/>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6" name="Picture 30" descr="NOT"/>
          <p:cNvPicPr>
            <a:picLocks noChangeAspect="1" noChangeArrowheads="1"/>
          </p:cNvPicPr>
          <p:nvPr/>
        </p:nvPicPr>
        <p:blipFill>
          <a:blip r:embed="rId2" cstate="print"/>
          <a:srcRect/>
          <a:stretch>
            <a:fillRect/>
          </a:stretch>
        </p:blipFill>
        <p:spPr bwMode="auto">
          <a:xfrm flipH="1">
            <a:off x="3221985" y="2347554"/>
            <a:ext cx="717550" cy="720725"/>
          </a:xfrm>
          <a:prstGeom prst="rect">
            <a:avLst/>
          </a:prstGeom>
          <a:noFill/>
        </p:spPr>
      </p:pic>
      <p:pic>
        <p:nvPicPr>
          <p:cNvPr id="7" name="Picture 31" descr="NOT"/>
          <p:cNvPicPr>
            <a:picLocks noChangeAspect="1" noChangeArrowheads="1"/>
          </p:cNvPicPr>
          <p:nvPr/>
        </p:nvPicPr>
        <p:blipFill>
          <a:blip r:embed="rId2" cstate="print"/>
          <a:srcRect/>
          <a:stretch>
            <a:fillRect/>
          </a:stretch>
        </p:blipFill>
        <p:spPr bwMode="auto">
          <a:xfrm>
            <a:off x="3221985" y="3068279"/>
            <a:ext cx="717550" cy="720725"/>
          </a:xfrm>
          <a:prstGeom prst="rect">
            <a:avLst/>
          </a:prstGeom>
          <a:noFill/>
        </p:spPr>
      </p:pic>
      <p:pic>
        <p:nvPicPr>
          <p:cNvPr id="8" name="Picture 32" descr="NOT"/>
          <p:cNvPicPr>
            <a:picLocks noChangeAspect="1" noChangeArrowheads="1"/>
          </p:cNvPicPr>
          <p:nvPr/>
        </p:nvPicPr>
        <p:blipFill>
          <a:blip r:embed="rId2" cstate="print"/>
          <a:srcRect/>
          <a:stretch>
            <a:fillRect/>
          </a:stretch>
        </p:blipFill>
        <p:spPr bwMode="auto">
          <a:xfrm flipH="1">
            <a:off x="5382573" y="2347554"/>
            <a:ext cx="717550" cy="720725"/>
          </a:xfrm>
          <a:prstGeom prst="rect">
            <a:avLst/>
          </a:prstGeom>
          <a:noFill/>
        </p:spPr>
      </p:pic>
      <p:pic>
        <p:nvPicPr>
          <p:cNvPr id="9" name="Picture 33" descr="NOT"/>
          <p:cNvPicPr>
            <a:picLocks noChangeAspect="1" noChangeArrowheads="1"/>
          </p:cNvPicPr>
          <p:nvPr/>
        </p:nvPicPr>
        <p:blipFill>
          <a:blip r:embed="rId2" cstate="print"/>
          <a:srcRect/>
          <a:stretch>
            <a:fillRect/>
          </a:stretch>
        </p:blipFill>
        <p:spPr bwMode="auto">
          <a:xfrm>
            <a:off x="5382573" y="3068279"/>
            <a:ext cx="717550" cy="720725"/>
          </a:xfrm>
          <a:prstGeom prst="rect">
            <a:avLst/>
          </a:prstGeom>
          <a:noFill/>
        </p:spPr>
      </p:pic>
      <p:sp>
        <p:nvSpPr>
          <p:cNvPr id="10" name="Line 45"/>
          <p:cNvSpPr>
            <a:spLocks noChangeShapeType="1"/>
          </p:cNvSpPr>
          <p:nvPr/>
        </p:nvSpPr>
        <p:spPr bwMode="auto">
          <a:xfrm>
            <a:off x="4301485" y="3428640"/>
            <a:ext cx="739437" cy="718"/>
          </a:xfrm>
          <a:prstGeom prst="line">
            <a:avLst/>
          </a:prstGeom>
          <a:noFill/>
          <a:ln w="9525">
            <a:solidFill>
              <a:schemeClr val="tx1"/>
            </a:solidFill>
            <a:round/>
            <a:headEnd type="oval" w="sm" len="sm"/>
            <a:tailEnd type="triangle" w="med" len="med"/>
          </a:ln>
          <a:effectLst/>
        </p:spPr>
        <p:txBody>
          <a:bodyPr wrap="none" lIns="90000" tIns="46800" rIns="90000" bIns="46800" anchor="ctr"/>
          <a:lstStyle/>
          <a:p>
            <a:endParaRPr lang="ja-JP" altLang="en-US"/>
          </a:p>
        </p:txBody>
      </p:sp>
      <p:sp>
        <p:nvSpPr>
          <p:cNvPr id="11" name="Line 46"/>
          <p:cNvSpPr>
            <a:spLocks noChangeShapeType="1"/>
          </p:cNvSpPr>
          <p:nvPr/>
        </p:nvSpPr>
        <p:spPr bwMode="auto">
          <a:xfrm>
            <a:off x="2142485" y="3428640"/>
            <a:ext cx="738413" cy="718"/>
          </a:xfrm>
          <a:prstGeom prst="line">
            <a:avLst/>
          </a:prstGeom>
          <a:noFill/>
          <a:ln w="9525">
            <a:solidFill>
              <a:schemeClr val="tx1"/>
            </a:solidFill>
            <a:round/>
            <a:headEnd type="none" w="sm" len="sm"/>
            <a:tailEnd type="triangle" w="med" len="med"/>
          </a:ln>
          <a:effectLst/>
        </p:spPr>
        <p:txBody>
          <a:bodyPr wrap="none" lIns="90000" tIns="46800" rIns="90000" bIns="46800" anchor="ctr"/>
          <a:lstStyle/>
          <a:p>
            <a:endParaRPr lang="ja-JP" altLang="en-US"/>
          </a:p>
        </p:txBody>
      </p:sp>
      <p:sp>
        <p:nvSpPr>
          <p:cNvPr id="12" name="Line 56"/>
          <p:cNvSpPr>
            <a:spLocks noChangeShapeType="1"/>
          </p:cNvSpPr>
          <p:nvPr/>
        </p:nvSpPr>
        <p:spPr bwMode="auto">
          <a:xfrm>
            <a:off x="6462073" y="3428641"/>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13" name="Rectangle 58"/>
          <p:cNvSpPr>
            <a:spLocks noChangeArrowheads="1"/>
          </p:cNvSpPr>
          <p:nvPr/>
        </p:nvSpPr>
        <p:spPr bwMode="auto">
          <a:xfrm>
            <a:off x="1782123" y="3249254"/>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14" name="Rectangle 59"/>
          <p:cNvSpPr>
            <a:spLocks noChangeArrowheads="1"/>
          </p:cNvSpPr>
          <p:nvPr/>
        </p:nvSpPr>
        <p:spPr bwMode="auto">
          <a:xfrm>
            <a:off x="6822435" y="3249254"/>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15" name="フローチャート: 手作業 14"/>
          <p:cNvSpPr/>
          <p:nvPr/>
        </p:nvSpPr>
        <p:spPr bwMode="auto">
          <a:xfrm rot="16200000">
            <a:off x="2745897" y="3294356"/>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16" name="Freeform 10"/>
          <p:cNvSpPr>
            <a:spLocks/>
          </p:cNvSpPr>
          <p:nvPr/>
        </p:nvSpPr>
        <p:spPr bwMode="auto">
          <a:xfrm>
            <a:off x="2700896" y="3069354"/>
            <a:ext cx="180002" cy="180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7" name="フローチャート: 手作業 16"/>
          <p:cNvSpPr/>
          <p:nvPr/>
        </p:nvSpPr>
        <p:spPr bwMode="auto">
          <a:xfrm rot="16200000">
            <a:off x="4905921" y="3294356"/>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18" name="Freeform 10"/>
          <p:cNvSpPr>
            <a:spLocks/>
          </p:cNvSpPr>
          <p:nvPr/>
        </p:nvSpPr>
        <p:spPr bwMode="auto">
          <a:xfrm>
            <a:off x="4860920" y="2979352"/>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grpSp>
        <p:nvGrpSpPr>
          <p:cNvPr id="48" name="グループ化 47"/>
          <p:cNvGrpSpPr/>
          <p:nvPr/>
        </p:nvGrpSpPr>
        <p:grpSpPr>
          <a:xfrm>
            <a:off x="3150902" y="5424878"/>
            <a:ext cx="1080010" cy="1170013"/>
            <a:chOff x="1871970" y="2562739"/>
            <a:chExt cx="1890019" cy="2559383"/>
          </a:xfrm>
        </p:grpSpPr>
        <p:grpSp>
          <p:nvGrpSpPr>
            <p:cNvPr id="21" name="グループ化 20"/>
            <p:cNvGrpSpPr/>
            <p:nvPr/>
          </p:nvGrpSpPr>
          <p:grpSpPr>
            <a:xfrm>
              <a:off x="2996967" y="4942097"/>
              <a:ext cx="360048" cy="180025"/>
              <a:chOff x="1736601" y="2511982"/>
              <a:chExt cx="360048" cy="180025"/>
            </a:xfrm>
          </p:grpSpPr>
          <p:cxnSp>
            <p:nvCxnSpPr>
              <p:cNvPr id="22" name="直線コネクタ 21"/>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3" name="直線コネクタ 22"/>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 name="直線コネクタ 23"/>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5" name="グループ化 24"/>
            <p:cNvGrpSpPr/>
            <p:nvPr/>
          </p:nvGrpSpPr>
          <p:grpSpPr>
            <a:xfrm>
              <a:off x="2861981" y="4059007"/>
              <a:ext cx="270036" cy="360048"/>
              <a:chOff x="6282228" y="1988808"/>
              <a:chExt cx="270036" cy="360048"/>
            </a:xfrm>
          </p:grpSpPr>
          <p:cxnSp>
            <p:nvCxnSpPr>
              <p:cNvPr id="26" name="直線コネクタ 25"/>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0" name="直線コネクタ 29"/>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2" name="直線コネクタ 31"/>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33"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4"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35" name="グループ化 34"/>
            <p:cNvGrpSpPr/>
            <p:nvPr/>
          </p:nvGrpSpPr>
          <p:grpSpPr>
            <a:xfrm>
              <a:off x="2771980" y="2978995"/>
              <a:ext cx="360048" cy="360048"/>
              <a:chOff x="3131808" y="1628760"/>
              <a:chExt cx="360048" cy="360048"/>
            </a:xfrm>
          </p:grpSpPr>
          <p:cxnSp>
            <p:nvCxnSpPr>
              <p:cNvPr id="36" name="直線コネクタ 3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7" name="直線コネクタ 3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8" name="直線コネクタ 3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9" name="直線コネクタ 3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0" name="円/楕円 3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42" name="直線コネクタ 41"/>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44" name="直線コネクタ 43"/>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76" name="グループ化 75"/>
          <p:cNvGrpSpPr/>
          <p:nvPr/>
        </p:nvGrpSpPr>
        <p:grpSpPr>
          <a:xfrm rot="10800000">
            <a:off x="3150902" y="4059365"/>
            <a:ext cx="1080010" cy="1170013"/>
            <a:chOff x="1871970" y="2562739"/>
            <a:chExt cx="1890019" cy="2559383"/>
          </a:xfrm>
        </p:grpSpPr>
        <p:grpSp>
          <p:nvGrpSpPr>
            <p:cNvPr id="77" name="グループ化 76"/>
            <p:cNvGrpSpPr/>
            <p:nvPr/>
          </p:nvGrpSpPr>
          <p:grpSpPr>
            <a:xfrm>
              <a:off x="2996967" y="4942097"/>
              <a:ext cx="360048" cy="180025"/>
              <a:chOff x="1736601" y="2511982"/>
              <a:chExt cx="360048" cy="180025"/>
            </a:xfrm>
          </p:grpSpPr>
          <p:cxnSp>
            <p:nvCxnSpPr>
              <p:cNvPr id="97" name="直線コネクタ 96"/>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8" name="直線コネクタ 97"/>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9" name="直線コネクタ 98"/>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78" name="グループ化 77"/>
            <p:cNvGrpSpPr/>
            <p:nvPr/>
          </p:nvGrpSpPr>
          <p:grpSpPr>
            <a:xfrm>
              <a:off x="2861981" y="4059007"/>
              <a:ext cx="270036" cy="360048"/>
              <a:chOff x="6282228" y="1988808"/>
              <a:chExt cx="270036" cy="360048"/>
            </a:xfrm>
          </p:grpSpPr>
          <p:cxnSp>
            <p:nvCxnSpPr>
              <p:cNvPr id="93" name="直線コネクタ 9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4" name="直線コネクタ 9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5" name="直線コネクタ 9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6" name="直線コネクタ 9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9" name="直線コネクタ 78"/>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80" name="直線コネクタ 79"/>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81" name="直線コネクタ 80"/>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82"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83"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84" name="グループ化 83"/>
            <p:cNvGrpSpPr/>
            <p:nvPr/>
          </p:nvGrpSpPr>
          <p:grpSpPr>
            <a:xfrm>
              <a:off x="2771980" y="2978995"/>
              <a:ext cx="360048" cy="360048"/>
              <a:chOff x="3131808" y="1628760"/>
              <a:chExt cx="360048" cy="360048"/>
            </a:xfrm>
          </p:grpSpPr>
          <p:cxnSp>
            <p:nvCxnSpPr>
              <p:cNvPr id="88" name="直線コネクタ 8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9" name="直線コネクタ 8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0" name="直線コネクタ 8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1" name="直線コネクタ 9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92" name="円/楕円 9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85" name="直線コネクタ 84"/>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00" name="Line 46"/>
          <p:cNvSpPr>
            <a:spLocks noChangeShapeType="1"/>
          </p:cNvSpPr>
          <p:nvPr/>
        </p:nvSpPr>
        <p:spPr bwMode="auto">
          <a:xfrm flipV="1">
            <a:off x="4230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13" name="グループ化 112"/>
          <p:cNvGrpSpPr/>
          <p:nvPr/>
        </p:nvGrpSpPr>
        <p:grpSpPr>
          <a:xfrm rot="5400000">
            <a:off x="2565879" y="5829899"/>
            <a:ext cx="270041" cy="180007"/>
            <a:chOff x="1601967" y="3609002"/>
            <a:chExt cx="540039" cy="360048"/>
          </a:xfrm>
        </p:grpSpPr>
        <p:grpSp>
          <p:nvGrpSpPr>
            <p:cNvPr id="114" name="グループ化 113"/>
            <p:cNvGrpSpPr/>
            <p:nvPr/>
          </p:nvGrpSpPr>
          <p:grpSpPr>
            <a:xfrm rot="10800000">
              <a:off x="1871970" y="3609002"/>
              <a:ext cx="270036" cy="360048"/>
              <a:chOff x="6282228" y="1988808"/>
              <a:chExt cx="270036" cy="360048"/>
            </a:xfrm>
          </p:grpSpPr>
          <p:cxnSp>
            <p:nvCxnSpPr>
              <p:cNvPr id="121" name="直線コネクタ 12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 name="直線コネクタ 12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 name="直線コネクタ 12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 name="直線コネクタ 12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15" name="グループ化 114"/>
            <p:cNvGrpSpPr/>
            <p:nvPr/>
          </p:nvGrpSpPr>
          <p:grpSpPr>
            <a:xfrm>
              <a:off x="1601967" y="3609002"/>
              <a:ext cx="360048" cy="360048"/>
              <a:chOff x="3131808" y="1628760"/>
              <a:chExt cx="360048" cy="360048"/>
            </a:xfrm>
          </p:grpSpPr>
          <p:cxnSp>
            <p:nvCxnSpPr>
              <p:cNvPr id="116" name="直線コネクタ 11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7" name="直線コネクタ 11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8" name="直線コネクタ 11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9" name="直線コネクタ 11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0" name="円/楕円 11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125" name="グループ化 124"/>
          <p:cNvGrpSpPr/>
          <p:nvPr/>
        </p:nvGrpSpPr>
        <p:grpSpPr>
          <a:xfrm>
            <a:off x="2880899" y="5229378"/>
            <a:ext cx="270041" cy="180007"/>
            <a:chOff x="1601967" y="3609002"/>
            <a:chExt cx="540039" cy="360048"/>
          </a:xfrm>
        </p:grpSpPr>
        <p:grpSp>
          <p:nvGrpSpPr>
            <p:cNvPr id="126" name="グループ化 125"/>
            <p:cNvGrpSpPr/>
            <p:nvPr/>
          </p:nvGrpSpPr>
          <p:grpSpPr>
            <a:xfrm rot="10800000">
              <a:off x="1871970" y="3609002"/>
              <a:ext cx="270036" cy="360048"/>
              <a:chOff x="6282228" y="1988808"/>
              <a:chExt cx="270036" cy="360048"/>
            </a:xfrm>
          </p:grpSpPr>
          <p:cxnSp>
            <p:nvCxnSpPr>
              <p:cNvPr id="133" name="直線コネクタ 13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 name="直線コネクタ 13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5" name="直線コネクタ 13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6" name="直線コネクタ 13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7" name="グループ化 126"/>
            <p:cNvGrpSpPr/>
            <p:nvPr/>
          </p:nvGrpSpPr>
          <p:grpSpPr>
            <a:xfrm>
              <a:off x="1601967" y="3609002"/>
              <a:ext cx="360048" cy="360048"/>
              <a:chOff x="3131808" y="1628760"/>
              <a:chExt cx="360048" cy="360048"/>
            </a:xfrm>
          </p:grpSpPr>
          <p:cxnSp>
            <p:nvCxnSpPr>
              <p:cNvPr id="128" name="直線コネクタ 12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 name="直線コネクタ 12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 name="直線コネクタ 12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1" name="直線コネクタ 13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2" name="円/楕円 13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137" name="Line 46"/>
          <p:cNvSpPr>
            <a:spLocks noChangeShapeType="1"/>
          </p:cNvSpPr>
          <p:nvPr/>
        </p:nvSpPr>
        <p:spPr bwMode="auto">
          <a:xfrm>
            <a:off x="2790898"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8" name="Line 46"/>
          <p:cNvSpPr>
            <a:spLocks noChangeShapeType="1"/>
          </p:cNvSpPr>
          <p:nvPr/>
        </p:nvSpPr>
        <p:spPr bwMode="auto">
          <a:xfrm flipH="1" flipV="1">
            <a:off x="3045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39" name="Line 46"/>
          <p:cNvSpPr>
            <a:spLocks noChangeShapeType="1"/>
          </p:cNvSpPr>
          <p:nvPr/>
        </p:nvSpPr>
        <p:spPr bwMode="auto">
          <a:xfrm flipH="1" flipV="1">
            <a:off x="3029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40" name="Line 46"/>
          <p:cNvSpPr>
            <a:spLocks noChangeShapeType="1"/>
          </p:cNvSpPr>
          <p:nvPr/>
        </p:nvSpPr>
        <p:spPr bwMode="auto">
          <a:xfrm flipV="1">
            <a:off x="3017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42" name="Line 46"/>
          <p:cNvSpPr>
            <a:spLocks noChangeShapeType="1"/>
          </p:cNvSpPr>
          <p:nvPr/>
        </p:nvSpPr>
        <p:spPr bwMode="auto">
          <a:xfrm>
            <a:off x="2250893"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44" name="Line 46"/>
          <p:cNvSpPr>
            <a:spLocks noChangeShapeType="1"/>
          </p:cNvSpPr>
          <p:nvPr/>
        </p:nvSpPr>
        <p:spPr bwMode="auto">
          <a:xfrm flipV="1">
            <a:off x="4230914"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145" name="グループ化 144"/>
          <p:cNvGrpSpPr/>
          <p:nvPr/>
        </p:nvGrpSpPr>
        <p:grpSpPr>
          <a:xfrm>
            <a:off x="5220924" y="5424878"/>
            <a:ext cx="1080010" cy="1170013"/>
            <a:chOff x="1871970" y="2562739"/>
            <a:chExt cx="1890019" cy="2559383"/>
          </a:xfrm>
        </p:grpSpPr>
        <p:grpSp>
          <p:nvGrpSpPr>
            <p:cNvPr id="146" name="グループ化 145"/>
            <p:cNvGrpSpPr/>
            <p:nvPr/>
          </p:nvGrpSpPr>
          <p:grpSpPr>
            <a:xfrm>
              <a:off x="2996967" y="4942097"/>
              <a:ext cx="360048" cy="180025"/>
              <a:chOff x="1736601" y="2511982"/>
              <a:chExt cx="360048" cy="180025"/>
            </a:xfrm>
          </p:grpSpPr>
          <p:cxnSp>
            <p:nvCxnSpPr>
              <p:cNvPr id="166" name="直線コネクタ 165"/>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7" name="直線コネクタ 166"/>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8" name="直線コネクタ 167"/>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7" name="グループ化 146"/>
            <p:cNvGrpSpPr/>
            <p:nvPr/>
          </p:nvGrpSpPr>
          <p:grpSpPr>
            <a:xfrm>
              <a:off x="2861981" y="4059007"/>
              <a:ext cx="270036" cy="360048"/>
              <a:chOff x="6282228" y="1988808"/>
              <a:chExt cx="270036" cy="360048"/>
            </a:xfrm>
          </p:grpSpPr>
          <p:cxnSp>
            <p:nvCxnSpPr>
              <p:cNvPr id="162" name="直線コネクタ 16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3" name="直線コネクタ 16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4" name="直線コネクタ 16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5" name="直線コネクタ 16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48" name="直線コネクタ 147"/>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51"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2"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53" name="グループ化 152"/>
            <p:cNvGrpSpPr/>
            <p:nvPr/>
          </p:nvGrpSpPr>
          <p:grpSpPr>
            <a:xfrm>
              <a:off x="2771980" y="2978995"/>
              <a:ext cx="360048" cy="360048"/>
              <a:chOff x="3131808" y="1628760"/>
              <a:chExt cx="360048" cy="360048"/>
            </a:xfrm>
          </p:grpSpPr>
          <p:cxnSp>
            <p:nvCxnSpPr>
              <p:cNvPr id="157" name="直線コネクタ 15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8" name="直線コネクタ 15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9" name="直線コネクタ 15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0" name="直線コネクタ 15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61" name="円/楕円 16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54" name="直線コネクタ 153"/>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55" name="直線コネクタ 154"/>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56" name="直線コネクタ 155"/>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69" name="グループ化 168"/>
          <p:cNvGrpSpPr/>
          <p:nvPr/>
        </p:nvGrpSpPr>
        <p:grpSpPr>
          <a:xfrm rot="10800000">
            <a:off x="5220924" y="4059365"/>
            <a:ext cx="1080010" cy="1170013"/>
            <a:chOff x="1871970" y="2562739"/>
            <a:chExt cx="1890019" cy="2559383"/>
          </a:xfrm>
        </p:grpSpPr>
        <p:grpSp>
          <p:nvGrpSpPr>
            <p:cNvPr id="170" name="グループ化 169"/>
            <p:cNvGrpSpPr/>
            <p:nvPr/>
          </p:nvGrpSpPr>
          <p:grpSpPr>
            <a:xfrm>
              <a:off x="2996967" y="4942097"/>
              <a:ext cx="360048" cy="180025"/>
              <a:chOff x="1736601" y="2511982"/>
              <a:chExt cx="360048" cy="180025"/>
            </a:xfrm>
          </p:grpSpPr>
          <p:cxnSp>
            <p:nvCxnSpPr>
              <p:cNvPr id="190" name="直線コネクタ 189"/>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1" name="直線コネクタ 190"/>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2" name="直線コネクタ 191"/>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71" name="グループ化 170"/>
            <p:cNvGrpSpPr/>
            <p:nvPr/>
          </p:nvGrpSpPr>
          <p:grpSpPr>
            <a:xfrm>
              <a:off x="2861981" y="4059007"/>
              <a:ext cx="270036" cy="360048"/>
              <a:chOff x="6282228" y="1988808"/>
              <a:chExt cx="270036" cy="360048"/>
            </a:xfrm>
          </p:grpSpPr>
          <p:cxnSp>
            <p:nvCxnSpPr>
              <p:cNvPr id="186" name="直線コネクタ 185"/>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7" name="直線コネクタ 186"/>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8" name="直線コネクタ 187"/>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9" name="直線コネクタ 188"/>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72" name="直線コネクタ 171"/>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73" name="直線コネクタ 172"/>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74" name="直線コネクタ 173"/>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75"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76"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77" name="グループ化 176"/>
            <p:cNvGrpSpPr/>
            <p:nvPr/>
          </p:nvGrpSpPr>
          <p:grpSpPr>
            <a:xfrm>
              <a:off x="2771980" y="2978995"/>
              <a:ext cx="360048" cy="360048"/>
              <a:chOff x="3131808" y="1628760"/>
              <a:chExt cx="360048" cy="360048"/>
            </a:xfrm>
          </p:grpSpPr>
          <p:cxnSp>
            <p:nvCxnSpPr>
              <p:cNvPr id="181" name="直線コネクタ 180"/>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2" name="直線コネクタ 181"/>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3" name="直線コネクタ 182"/>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4" name="直線コネクタ 183"/>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85" name="円/楕円 184"/>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78" name="直線コネクタ 177"/>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79" name="直線コネクタ 178"/>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80" name="直線コネクタ 179"/>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93" name="Line 46"/>
          <p:cNvSpPr>
            <a:spLocks noChangeShapeType="1"/>
          </p:cNvSpPr>
          <p:nvPr/>
        </p:nvSpPr>
        <p:spPr bwMode="auto">
          <a:xfrm flipV="1">
            <a:off x="6300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94" name="グループ化 193"/>
          <p:cNvGrpSpPr/>
          <p:nvPr/>
        </p:nvGrpSpPr>
        <p:grpSpPr>
          <a:xfrm rot="5400000">
            <a:off x="4635901" y="5829899"/>
            <a:ext cx="270041" cy="180007"/>
            <a:chOff x="1601967" y="3609002"/>
            <a:chExt cx="540039" cy="360048"/>
          </a:xfrm>
        </p:grpSpPr>
        <p:grpSp>
          <p:nvGrpSpPr>
            <p:cNvPr id="195" name="グループ化 194"/>
            <p:cNvGrpSpPr/>
            <p:nvPr/>
          </p:nvGrpSpPr>
          <p:grpSpPr>
            <a:xfrm rot="10800000">
              <a:off x="1871970" y="3609002"/>
              <a:ext cx="270036" cy="360048"/>
              <a:chOff x="6282228" y="1988808"/>
              <a:chExt cx="270036" cy="360048"/>
            </a:xfrm>
          </p:grpSpPr>
          <p:cxnSp>
            <p:nvCxnSpPr>
              <p:cNvPr id="202" name="直線コネクタ 20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3" name="直線コネクタ 20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4" name="直線コネクタ 20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5" name="直線コネクタ 20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96" name="グループ化 195"/>
            <p:cNvGrpSpPr/>
            <p:nvPr/>
          </p:nvGrpSpPr>
          <p:grpSpPr>
            <a:xfrm>
              <a:off x="1601967" y="3609002"/>
              <a:ext cx="360048" cy="360048"/>
              <a:chOff x="3131808" y="1628760"/>
              <a:chExt cx="360048" cy="360048"/>
            </a:xfrm>
          </p:grpSpPr>
          <p:cxnSp>
            <p:nvCxnSpPr>
              <p:cNvPr id="197" name="直線コネクタ 19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8" name="直線コネクタ 19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9" name="直線コネクタ 19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0" name="直線コネクタ 19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01" name="円/楕円 20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206" name="グループ化 205"/>
          <p:cNvGrpSpPr/>
          <p:nvPr/>
        </p:nvGrpSpPr>
        <p:grpSpPr>
          <a:xfrm>
            <a:off x="4950921" y="5229378"/>
            <a:ext cx="270041" cy="180007"/>
            <a:chOff x="1601967" y="3609002"/>
            <a:chExt cx="540039" cy="360048"/>
          </a:xfrm>
        </p:grpSpPr>
        <p:grpSp>
          <p:nvGrpSpPr>
            <p:cNvPr id="207" name="グループ化 206"/>
            <p:cNvGrpSpPr/>
            <p:nvPr/>
          </p:nvGrpSpPr>
          <p:grpSpPr>
            <a:xfrm rot="10800000">
              <a:off x="1871970" y="3609002"/>
              <a:ext cx="270036" cy="360048"/>
              <a:chOff x="6282228" y="1988808"/>
              <a:chExt cx="270036" cy="360048"/>
            </a:xfrm>
          </p:grpSpPr>
          <p:cxnSp>
            <p:nvCxnSpPr>
              <p:cNvPr id="214" name="直線コネクタ 21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5" name="直線コネクタ 21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6" name="直線コネクタ 21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7" name="直線コネクタ 21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08" name="グループ化 207"/>
            <p:cNvGrpSpPr/>
            <p:nvPr/>
          </p:nvGrpSpPr>
          <p:grpSpPr>
            <a:xfrm>
              <a:off x="1601967" y="3609002"/>
              <a:ext cx="360048" cy="360048"/>
              <a:chOff x="3131808" y="1628760"/>
              <a:chExt cx="360048" cy="360048"/>
            </a:xfrm>
          </p:grpSpPr>
          <p:cxnSp>
            <p:nvCxnSpPr>
              <p:cNvPr id="209" name="直線コネクタ 20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0" name="直線コネクタ 20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1" name="直線コネクタ 21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2" name="直線コネクタ 21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13" name="円/楕円 21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218" name="Line 46"/>
          <p:cNvSpPr>
            <a:spLocks noChangeShapeType="1"/>
          </p:cNvSpPr>
          <p:nvPr/>
        </p:nvSpPr>
        <p:spPr bwMode="auto">
          <a:xfrm>
            <a:off x="4860920"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219" name="Line 46"/>
          <p:cNvSpPr>
            <a:spLocks noChangeShapeType="1"/>
          </p:cNvSpPr>
          <p:nvPr/>
        </p:nvSpPr>
        <p:spPr bwMode="auto">
          <a:xfrm flipH="1" flipV="1">
            <a:off x="5115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220" name="Line 46"/>
          <p:cNvSpPr>
            <a:spLocks noChangeShapeType="1"/>
          </p:cNvSpPr>
          <p:nvPr/>
        </p:nvSpPr>
        <p:spPr bwMode="auto">
          <a:xfrm flipH="1" flipV="1">
            <a:off x="5099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221" name="Line 46"/>
          <p:cNvSpPr>
            <a:spLocks noChangeShapeType="1"/>
          </p:cNvSpPr>
          <p:nvPr/>
        </p:nvSpPr>
        <p:spPr bwMode="auto">
          <a:xfrm flipV="1">
            <a:off x="5087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223" name="Line 46"/>
          <p:cNvSpPr>
            <a:spLocks noChangeShapeType="1"/>
          </p:cNvSpPr>
          <p:nvPr/>
        </p:nvSpPr>
        <p:spPr bwMode="auto">
          <a:xfrm flipV="1">
            <a:off x="6300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224" name="グループ化 223"/>
          <p:cNvGrpSpPr/>
          <p:nvPr/>
        </p:nvGrpSpPr>
        <p:grpSpPr>
          <a:xfrm>
            <a:off x="4031994" y="998973"/>
            <a:ext cx="990011" cy="720008"/>
            <a:chOff x="6369707" y="1718772"/>
            <a:chExt cx="1441450" cy="1085855"/>
          </a:xfrm>
        </p:grpSpPr>
        <p:sp>
          <p:nvSpPr>
            <p:cNvPr id="22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22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227"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228"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22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23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231"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spTree>
    <p:extLst>
      <p:ext uri="{BB962C8B-B14F-4D97-AF65-F5344CB8AC3E}">
        <p14:creationId xmlns:p14="http://schemas.microsoft.com/office/powerpoint/2010/main" val="3759277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マルチプレクサ：トランジスタ </a:t>
            </a:r>
            <a:r>
              <a:rPr kumimoji="1" lang="en-US" altLang="ja-JP" dirty="0"/>
              <a:t>6</a:t>
            </a:r>
            <a:r>
              <a:rPr kumimoji="1" lang="ja-JP" altLang="en-US" dirty="0"/>
              <a:t>個</a:t>
            </a:r>
          </a:p>
        </p:txBody>
      </p:sp>
      <p:sp>
        <p:nvSpPr>
          <p:cNvPr id="232" name="Line 9"/>
          <p:cNvSpPr>
            <a:spLocks noChangeShapeType="1"/>
          </p:cNvSpPr>
          <p:nvPr/>
        </p:nvSpPr>
        <p:spPr bwMode="auto">
          <a:xfrm>
            <a:off x="3671990" y="198898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33" name="Line 9"/>
          <p:cNvSpPr>
            <a:spLocks noChangeShapeType="1"/>
          </p:cNvSpPr>
          <p:nvPr/>
        </p:nvSpPr>
        <p:spPr bwMode="auto">
          <a:xfrm>
            <a:off x="3671990" y="2708992"/>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34" name="Line 9"/>
          <p:cNvSpPr>
            <a:spLocks noChangeShapeType="1"/>
          </p:cNvSpPr>
          <p:nvPr/>
        </p:nvSpPr>
        <p:spPr bwMode="auto">
          <a:xfrm>
            <a:off x="4301997" y="2348988"/>
            <a:ext cx="450005" cy="0"/>
          </a:xfrm>
          <a:prstGeom prst="line">
            <a:avLst/>
          </a:prstGeom>
          <a:noFill/>
          <a:ln w="9525">
            <a:solidFill>
              <a:schemeClr val="tx1"/>
            </a:solidFill>
            <a:round/>
            <a:headEnd/>
            <a:tailEnd type="triangle" w="med" len="lg"/>
          </a:ln>
          <a:effectLst/>
        </p:spPr>
        <p:txBody>
          <a:bodyPr wrap="none" lIns="90000" tIns="46800" rIns="90000" bIns="46800" anchor="ctr"/>
          <a:lstStyle/>
          <a:p>
            <a:endParaRPr lang="ja-JP" altLang="en-US" sz="1200"/>
          </a:p>
        </p:txBody>
      </p:sp>
      <p:sp>
        <p:nvSpPr>
          <p:cNvPr id="222" name="フローチャート: 手作業 221"/>
          <p:cNvSpPr/>
          <p:nvPr/>
        </p:nvSpPr>
        <p:spPr bwMode="auto">
          <a:xfrm rot="16200000">
            <a:off x="3626990" y="2213986"/>
            <a:ext cx="1260014" cy="270003"/>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ea typeface="メイリオ" panose="020B0604030504040204" pitchFamily="50" charset="-128"/>
            </a:endParaRPr>
          </a:p>
        </p:txBody>
      </p:sp>
      <p:sp>
        <p:nvSpPr>
          <p:cNvPr id="310" name="Line 9"/>
          <p:cNvSpPr>
            <a:spLocks noChangeShapeType="1"/>
          </p:cNvSpPr>
          <p:nvPr/>
        </p:nvSpPr>
        <p:spPr bwMode="auto">
          <a:xfrm>
            <a:off x="4301998" y="1538979"/>
            <a:ext cx="0" cy="360004"/>
          </a:xfrm>
          <a:prstGeom prst="line">
            <a:avLst/>
          </a:prstGeom>
          <a:noFill/>
          <a:ln w="9525">
            <a:solidFill>
              <a:schemeClr val="tx1"/>
            </a:solidFill>
            <a:round/>
            <a:headEnd/>
            <a:tailEnd type="triangle" w="med" len="lg"/>
          </a:ln>
          <a:effectLst/>
        </p:spPr>
        <p:txBody>
          <a:bodyPr wrap="none" lIns="90000" tIns="46800" rIns="90000" bIns="46800" anchor="ctr"/>
          <a:lstStyle/>
          <a:p>
            <a:endParaRPr lang="ja-JP" altLang="en-US" sz="1200"/>
          </a:p>
        </p:txBody>
      </p:sp>
      <p:grpSp>
        <p:nvGrpSpPr>
          <p:cNvPr id="19" name="グループ化 18"/>
          <p:cNvGrpSpPr/>
          <p:nvPr/>
        </p:nvGrpSpPr>
        <p:grpSpPr>
          <a:xfrm>
            <a:off x="3221985" y="3789004"/>
            <a:ext cx="2521029" cy="1530055"/>
            <a:chOff x="2361128" y="5229020"/>
            <a:chExt cx="1489701" cy="810047"/>
          </a:xfrm>
        </p:grpSpPr>
        <p:grpSp>
          <p:nvGrpSpPr>
            <p:cNvPr id="286" name="グループ化 285"/>
            <p:cNvGrpSpPr/>
            <p:nvPr/>
          </p:nvGrpSpPr>
          <p:grpSpPr>
            <a:xfrm rot="16200000">
              <a:off x="2906965" y="5814043"/>
              <a:ext cx="270041" cy="180007"/>
              <a:chOff x="1601967" y="3609002"/>
              <a:chExt cx="540039" cy="360048"/>
            </a:xfrm>
          </p:grpSpPr>
          <p:grpSp>
            <p:nvGrpSpPr>
              <p:cNvPr id="287" name="グループ化 286"/>
              <p:cNvGrpSpPr/>
              <p:nvPr/>
            </p:nvGrpSpPr>
            <p:grpSpPr>
              <a:xfrm rot="10800000">
                <a:off x="1871970" y="3609002"/>
                <a:ext cx="270036" cy="360048"/>
                <a:chOff x="6282228" y="1988808"/>
                <a:chExt cx="270036" cy="360048"/>
              </a:xfrm>
            </p:grpSpPr>
            <p:cxnSp>
              <p:nvCxnSpPr>
                <p:cNvPr id="294" name="直線コネクタ 29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5" name="直線コネクタ 29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6" name="直線コネクタ 29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7" name="直線コネクタ 29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88" name="グループ化 287"/>
              <p:cNvGrpSpPr/>
              <p:nvPr/>
            </p:nvGrpSpPr>
            <p:grpSpPr>
              <a:xfrm>
                <a:off x="1601967" y="3609002"/>
                <a:ext cx="360048" cy="360048"/>
                <a:chOff x="3131808" y="1628760"/>
                <a:chExt cx="360048" cy="360048"/>
              </a:xfrm>
            </p:grpSpPr>
            <p:cxnSp>
              <p:nvCxnSpPr>
                <p:cNvPr id="289" name="直線コネクタ 28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0" name="直線コネクタ 28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1" name="直線コネクタ 29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2" name="直線コネクタ 29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93" name="円/楕円 29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298" name="グループ化 297"/>
            <p:cNvGrpSpPr/>
            <p:nvPr/>
          </p:nvGrpSpPr>
          <p:grpSpPr>
            <a:xfrm rot="5400000">
              <a:off x="2906965" y="5274037"/>
              <a:ext cx="270041" cy="180007"/>
              <a:chOff x="1601967" y="3609002"/>
              <a:chExt cx="540039" cy="360048"/>
            </a:xfrm>
          </p:grpSpPr>
          <p:grpSp>
            <p:nvGrpSpPr>
              <p:cNvPr id="299" name="グループ化 298"/>
              <p:cNvGrpSpPr/>
              <p:nvPr/>
            </p:nvGrpSpPr>
            <p:grpSpPr>
              <a:xfrm rot="10800000">
                <a:off x="1871970" y="3609002"/>
                <a:ext cx="270036" cy="360048"/>
                <a:chOff x="6282228" y="1988808"/>
                <a:chExt cx="270036" cy="360048"/>
              </a:xfrm>
            </p:grpSpPr>
            <p:cxnSp>
              <p:nvCxnSpPr>
                <p:cNvPr id="306" name="直線コネクタ 305"/>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7" name="直線コネクタ 306"/>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8" name="直線コネクタ 307"/>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9" name="直線コネクタ 308"/>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00" name="グループ化 299"/>
              <p:cNvGrpSpPr/>
              <p:nvPr/>
            </p:nvGrpSpPr>
            <p:grpSpPr>
              <a:xfrm>
                <a:off x="1601967" y="3609002"/>
                <a:ext cx="360048" cy="360048"/>
                <a:chOff x="3131808" y="1628760"/>
                <a:chExt cx="360048" cy="360048"/>
              </a:xfrm>
            </p:grpSpPr>
            <p:cxnSp>
              <p:nvCxnSpPr>
                <p:cNvPr id="301" name="直線コネクタ 300"/>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2" name="直線コネクタ 301"/>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3" name="直線コネクタ 302"/>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4" name="直線コネクタ 303"/>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305" name="円/楕円 304"/>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311" name="Line 46"/>
            <p:cNvSpPr>
              <a:spLocks noChangeShapeType="1"/>
            </p:cNvSpPr>
            <p:nvPr/>
          </p:nvSpPr>
          <p:spPr bwMode="auto">
            <a:xfrm flipH="1" flipV="1">
              <a:off x="3041983" y="5499022"/>
              <a:ext cx="0" cy="24777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312" name="Line 46"/>
            <p:cNvSpPr>
              <a:spLocks noChangeShapeType="1"/>
            </p:cNvSpPr>
            <p:nvPr/>
          </p:nvSpPr>
          <p:spPr bwMode="auto">
            <a:xfrm flipV="1">
              <a:off x="2681979" y="538577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313" name="Line 46"/>
            <p:cNvSpPr>
              <a:spLocks noChangeShapeType="1"/>
            </p:cNvSpPr>
            <p:nvPr/>
          </p:nvSpPr>
          <p:spPr bwMode="auto">
            <a:xfrm flipV="1">
              <a:off x="2681979"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314" name="Line 46"/>
            <p:cNvSpPr>
              <a:spLocks noChangeShapeType="1"/>
            </p:cNvSpPr>
            <p:nvPr/>
          </p:nvSpPr>
          <p:spPr bwMode="auto">
            <a:xfrm flipV="1">
              <a:off x="3131984"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315" name="Freeform 10"/>
            <p:cNvSpPr>
              <a:spLocks/>
            </p:cNvSpPr>
            <p:nvPr/>
          </p:nvSpPr>
          <p:spPr bwMode="auto">
            <a:xfrm rot="5400000" flipV="1">
              <a:off x="3019216" y="5498542"/>
              <a:ext cx="49554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17" name="Line 9"/>
            <p:cNvSpPr>
              <a:spLocks noChangeShapeType="1"/>
            </p:cNvSpPr>
            <p:nvPr/>
          </p:nvSpPr>
          <p:spPr bwMode="auto">
            <a:xfrm>
              <a:off x="3400824" y="5625038"/>
              <a:ext cx="450005" cy="0"/>
            </a:xfrm>
            <a:prstGeom prst="line">
              <a:avLst/>
            </a:prstGeom>
            <a:noFill/>
            <a:ln w="9525">
              <a:solidFill>
                <a:schemeClr val="tx1"/>
              </a:solidFill>
              <a:round/>
              <a:headEnd type="oval"/>
              <a:tailEnd type="triangle" w="med" len="lg"/>
            </a:ln>
            <a:effectLst/>
          </p:spPr>
          <p:txBody>
            <a:bodyPr wrap="none" lIns="90000" tIns="46800" rIns="90000" bIns="46800" anchor="ctr"/>
            <a:lstStyle/>
            <a:p>
              <a:endParaRPr lang="ja-JP" altLang="en-US" sz="1200"/>
            </a:p>
          </p:txBody>
        </p:sp>
        <p:sp>
          <p:nvSpPr>
            <p:cNvPr id="320" name="Line 46"/>
            <p:cNvSpPr>
              <a:spLocks noChangeShapeType="1"/>
            </p:cNvSpPr>
            <p:nvPr/>
          </p:nvSpPr>
          <p:spPr bwMode="auto">
            <a:xfrm flipV="1">
              <a:off x="2361128" y="5626621"/>
              <a:ext cx="680728" cy="0"/>
            </a:xfrm>
            <a:prstGeom prst="line">
              <a:avLst/>
            </a:prstGeom>
            <a:noFill/>
            <a:ln w="9525">
              <a:solidFill>
                <a:schemeClr val="tx1"/>
              </a:solidFill>
              <a:round/>
              <a:headEnd type="none" w="sm" len="sm"/>
              <a:tailEnd type="oval" w="med" len="med"/>
            </a:ln>
            <a:effectLst/>
          </p:spPr>
          <p:txBody>
            <a:bodyPr wrap="none" lIns="90000" tIns="46800" rIns="90000" bIns="46800" anchor="ctr"/>
            <a:lstStyle/>
            <a:p>
              <a:endParaRPr lang="ja-JP" altLang="en-US"/>
            </a:p>
          </p:txBody>
        </p:sp>
      </p:grpSp>
      <p:grpSp>
        <p:nvGrpSpPr>
          <p:cNvPr id="322" name="グループ化 321"/>
          <p:cNvGrpSpPr/>
          <p:nvPr/>
        </p:nvGrpSpPr>
        <p:grpSpPr>
          <a:xfrm>
            <a:off x="1511966" y="3803518"/>
            <a:ext cx="1712994" cy="1671274"/>
            <a:chOff x="1871970" y="2562739"/>
            <a:chExt cx="1890019" cy="2559383"/>
          </a:xfrm>
        </p:grpSpPr>
        <p:grpSp>
          <p:nvGrpSpPr>
            <p:cNvPr id="323" name="グループ化 322"/>
            <p:cNvGrpSpPr/>
            <p:nvPr/>
          </p:nvGrpSpPr>
          <p:grpSpPr>
            <a:xfrm>
              <a:off x="2996967" y="4942097"/>
              <a:ext cx="360048" cy="180025"/>
              <a:chOff x="1736601" y="2511982"/>
              <a:chExt cx="360048" cy="180025"/>
            </a:xfrm>
          </p:grpSpPr>
          <p:cxnSp>
            <p:nvCxnSpPr>
              <p:cNvPr id="343" name="直線コネクタ 342"/>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4" name="直線コネクタ 343"/>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5" name="直線コネクタ 344"/>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24" name="グループ化 323"/>
            <p:cNvGrpSpPr/>
            <p:nvPr/>
          </p:nvGrpSpPr>
          <p:grpSpPr>
            <a:xfrm>
              <a:off x="2861981" y="4059007"/>
              <a:ext cx="270036" cy="360048"/>
              <a:chOff x="6282228" y="1988808"/>
              <a:chExt cx="270036" cy="360048"/>
            </a:xfrm>
          </p:grpSpPr>
          <p:cxnSp>
            <p:nvCxnSpPr>
              <p:cNvPr id="339" name="直線コネクタ 33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0" name="直線コネクタ 33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1" name="直線コネクタ 34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2" name="直線コネクタ 34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25" name="直線コネクタ 324"/>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26" name="直線コネクタ 325"/>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27" name="直線コネクタ 326"/>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328"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29"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330" name="グループ化 329"/>
            <p:cNvGrpSpPr/>
            <p:nvPr/>
          </p:nvGrpSpPr>
          <p:grpSpPr>
            <a:xfrm>
              <a:off x="2771980" y="2978995"/>
              <a:ext cx="360048" cy="360048"/>
              <a:chOff x="3131808" y="1628760"/>
              <a:chExt cx="360048" cy="360048"/>
            </a:xfrm>
          </p:grpSpPr>
          <p:cxnSp>
            <p:nvCxnSpPr>
              <p:cNvPr id="334" name="直線コネクタ 33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35" name="直線コネクタ 33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36" name="直線コネクタ 33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37" name="直線コネクタ 33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338" name="円/楕円 33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331" name="直線コネクタ 330"/>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32" name="直線コネクタ 331"/>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33" name="直線コネクタ 332"/>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346" name="Rectangle 59"/>
          <p:cNvSpPr>
            <a:spLocks noChangeArrowheads="1"/>
          </p:cNvSpPr>
          <p:nvPr/>
        </p:nvSpPr>
        <p:spPr bwMode="auto">
          <a:xfrm>
            <a:off x="4752002" y="2168986"/>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o</a:t>
            </a:r>
          </a:p>
        </p:txBody>
      </p:sp>
      <p:sp>
        <p:nvSpPr>
          <p:cNvPr id="347" name="Rectangle 59"/>
          <p:cNvSpPr>
            <a:spLocks noChangeArrowheads="1"/>
          </p:cNvSpPr>
          <p:nvPr/>
        </p:nvSpPr>
        <p:spPr bwMode="auto">
          <a:xfrm>
            <a:off x="4211996" y="1178975"/>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s</a:t>
            </a:r>
          </a:p>
        </p:txBody>
      </p:sp>
      <p:sp>
        <p:nvSpPr>
          <p:cNvPr id="348" name="Rectangle 59"/>
          <p:cNvSpPr>
            <a:spLocks noChangeArrowheads="1"/>
          </p:cNvSpPr>
          <p:nvPr/>
        </p:nvSpPr>
        <p:spPr bwMode="auto">
          <a:xfrm>
            <a:off x="3401987" y="1718981"/>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i0</a:t>
            </a:r>
          </a:p>
        </p:txBody>
      </p:sp>
      <p:sp>
        <p:nvSpPr>
          <p:cNvPr id="349" name="Rectangle 59"/>
          <p:cNvSpPr>
            <a:spLocks noChangeArrowheads="1"/>
          </p:cNvSpPr>
          <p:nvPr/>
        </p:nvSpPr>
        <p:spPr bwMode="auto">
          <a:xfrm>
            <a:off x="3401987" y="2438989"/>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i1</a:t>
            </a:r>
          </a:p>
        </p:txBody>
      </p:sp>
      <p:sp>
        <p:nvSpPr>
          <p:cNvPr id="350" name="Rectangle 59"/>
          <p:cNvSpPr>
            <a:spLocks noChangeArrowheads="1"/>
          </p:cNvSpPr>
          <p:nvPr/>
        </p:nvSpPr>
        <p:spPr bwMode="auto">
          <a:xfrm>
            <a:off x="1241963" y="4329010"/>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s</a:t>
            </a:r>
          </a:p>
        </p:txBody>
      </p:sp>
      <p:sp>
        <p:nvSpPr>
          <p:cNvPr id="351" name="Rectangle 59"/>
          <p:cNvSpPr>
            <a:spLocks noChangeArrowheads="1"/>
          </p:cNvSpPr>
          <p:nvPr/>
        </p:nvSpPr>
        <p:spPr bwMode="auto">
          <a:xfrm>
            <a:off x="4214973" y="3429000"/>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s</a:t>
            </a:r>
          </a:p>
        </p:txBody>
      </p:sp>
      <p:sp>
        <p:nvSpPr>
          <p:cNvPr id="352" name="Rectangle 59"/>
          <p:cNvSpPr>
            <a:spLocks noChangeArrowheads="1"/>
          </p:cNvSpPr>
          <p:nvPr/>
        </p:nvSpPr>
        <p:spPr bwMode="auto">
          <a:xfrm>
            <a:off x="3404964" y="3879005"/>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i0</a:t>
            </a:r>
          </a:p>
        </p:txBody>
      </p:sp>
      <p:sp>
        <p:nvSpPr>
          <p:cNvPr id="353" name="Rectangle 59"/>
          <p:cNvSpPr>
            <a:spLocks noChangeArrowheads="1"/>
          </p:cNvSpPr>
          <p:nvPr/>
        </p:nvSpPr>
        <p:spPr bwMode="auto">
          <a:xfrm>
            <a:off x="3401987" y="4869016"/>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i1</a:t>
            </a:r>
          </a:p>
        </p:txBody>
      </p:sp>
      <p:sp>
        <p:nvSpPr>
          <p:cNvPr id="354" name="Rectangle 59"/>
          <p:cNvSpPr>
            <a:spLocks noChangeArrowheads="1"/>
          </p:cNvSpPr>
          <p:nvPr/>
        </p:nvSpPr>
        <p:spPr bwMode="auto">
          <a:xfrm>
            <a:off x="5834991" y="4329010"/>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o</a:t>
            </a:r>
          </a:p>
        </p:txBody>
      </p:sp>
      <p:sp>
        <p:nvSpPr>
          <p:cNvPr id="355" name="Rectangle 59"/>
          <p:cNvSpPr>
            <a:spLocks noChangeArrowheads="1"/>
          </p:cNvSpPr>
          <p:nvPr/>
        </p:nvSpPr>
        <p:spPr bwMode="auto">
          <a:xfrm>
            <a:off x="4214973" y="5229020"/>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s</a:t>
            </a:r>
          </a:p>
        </p:txBody>
      </p:sp>
    </p:spTree>
    <p:extLst>
      <p:ext uri="{BB962C8B-B14F-4D97-AF65-F5344CB8AC3E}">
        <p14:creationId xmlns:p14="http://schemas.microsoft.com/office/powerpoint/2010/main" val="20067703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4bit </a:t>
            </a:r>
            <a:r>
              <a:rPr kumimoji="1" lang="ja-JP" altLang="en-US" dirty="0"/>
              <a:t>メモリに必要なトランジスタ数：</a:t>
            </a:r>
            <a:r>
              <a:rPr kumimoji="1" lang="en-US" altLang="ja-JP" dirty="0"/>
              <a:t>82</a:t>
            </a:r>
            <a:endParaRPr kumimoji="1" lang="ja-JP" altLang="en-US" dirty="0"/>
          </a:p>
        </p:txBody>
      </p:sp>
      <p:grpSp>
        <p:nvGrpSpPr>
          <p:cNvPr id="1618" name="グループ化 1617"/>
          <p:cNvGrpSpPr/>
          <p:nvPr/>
        </p:nvGrpSpPr>
        <p:grpSpPr>
          <a:xfrm>
            <a:off x="2411976" y="1538979"/>
            <a:ext cx="4318072" cy="5040056"/>
            <a:chOff x="793934" y="998973"/>
            <a:chExt cx="4318072" cy="5040056"/>
          </a:xfrm>
        </p:grpSpPr>
        <p:grpSp>
          <p:nvGrpSpPr>
            <p:cNvPr id="161" name="グループ化 160"/>
            <p:cNvGrpSpPr/>
            <p:nvPr/>
          </p:nvGrpSpPr>
          <p:grpSpPr>
            <a:xfrm>
              <a:off x="793934" y="998973"/>
              <a:ext cx="2070023" cy="1080012"/>
              <a:chOff x="2250893" y="4059365"/>
              <a:chExt cx="4590049" cy="2535526"/>
            </a:xfrm>
          </p:grpSpPr>
          <p:grpSp>
            <p:nvGrpSpPr>
              <p:cNvPr id="4" name="グループ化 3"/>
              <p:cNvGrpSpPr/>
              <p:nvPr/>
            </p:nvGrpSpPr>
            <p:grpSpPr>
              <a:xfrm>
                <a:off x="3150902" y="5424878"/>
                <a:ext cx="1080010" cy="1170013"/>
                <a:chOff x="1871970" y="2562739"/>
                <a:chExt cx="1890019" cy="2559383"/>
              </a:xfrm>
            </p:grpSpPr>
            <p:grpSp>
              <p:nvGrpSpPr>
                <p:cNvPr id="5" name="グループ化 4"/>
                <p:cNvGrpSpPr/>
                <p:nvPr/>
              </p:nvGrpSpPr>
              <p:grpSpPr>
                <a:xfrm>
                  <a:off x="2996967" y="4942097"/>
                  <a:ext cx="360048" cy="180025"/>
                  <a:chOff x="1736601" y="2511982"/>
                  <a:chExt cx="360048" cy="180025"/>
                </a:xfrm>
              </p:grpSpPr>
              <p:cxnSp>
                <p:nvCxnSpPr>
                  <p:cNvPr id="25" name="直線コネクタ 24"/>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 name="グループ化 5"/>
                <p:cNvGrpSpPr/>
                <p:nvPr/>
              </p:nvGrpSpPr>
              <p:grpSpPr>
                <a:xfrm>
                  <a:off x="2861981" y="4059007"/>
                  <a:ext cx="270036" cy="360048"/>
                  <a:chOff x="6282228" y="1988808"/>
                  <a:chExt cx="270036" cy="360048"/>
                </a:xfrm>
              </p:grpSpPr>
              <p:cxnSp>
                <p:nvCxnSpPr>
                  <p:cNvPr id="21" name="直線コネクタ 2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3" name="直線コネクタ 2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 name="直線コネクタ 2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 name="直線コネクタ 6"/>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8" name="直線コネクタ 7"/>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9" name="直線コネクタ 8"/>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0"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2" name="グループ化 11"/>
                <p:cNvGrpSpPr/>
                <p:nvPr/>
              </p:nvGrpSpPr>
              <p:grpSpPr>
                <a:xfrm>
                  <a:off x="2771980" y="2978995"/>
                  <a:ext cx="360048" cy="360048"/>
                  <a:chOff x="3131808" y="1628760"/>
                  <a:chExt cx="360048" cy="360048"/>
                </a:xfrm>
              </p:grpSpPr>
              <p:cxnSp>
                <p:nvCxnSpPr>
                  <p:cNvPr id="16" name="直線コネクタ 1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 name="直線コネクタ 1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0" name="円/楕円 1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3" name="直線コネクタ 12"/>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 name="直線コネクタ 13"/>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8" name="グループ化 27"/>
              <p:cNvGrpSpPr/>
              <p:nvPr/>
            </p:nvGrpSpPr>
            <p:grpSpPr>
              <a:xfrm rot="10800000">
                <a:off x="3150902" y="4059365"/>
                <a:ext cx="1080010" cy="1170013"/>
                <a:chOff x="1871970" y="2562739"/>
                <a:chExt cx="1890019" cy="2559383"/>
              </a:xfrm>
            </p:grpSpPr>
            <p:grpSp>
              <p:nvGrpSpPr>
                <p:cNvPr id="29" name="グループ化 28"/>
                <p:cNvGrpSpPr/>
                <p:nvPr/>
              </p:nvGrpSpPr>
              <p:grpSpPr>
                <a:xfrm>
                  <a:off x="2996967" y="4942097"/>
                  <a:ext cx="360048" cy="180025"/>
                  <a:chOff x="1736601" y="2511982"/>
                  <a:chExt cx="360048" cy="180025"/>
                </a:xfrm>
              </p:grpSpPr>
              <p:cxnSp>
                <p:nvCxnSpPr>
                  <p:cNvPr id="49" name="直線コネクタ 48"/>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0" name="直線コネクタ 49"/>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1" name="直線コネクタ 50"/>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0" name="グループ化 29"/>
                <p:cNvGrpSpPr/>
                <p:nvPr/>
              </p:nvGrpSpPr>
              <p:grpSpPr>
                <a:xfrm>
                  <a:off x="2861981" y="4059007"/>
                  <a:ext cx="270036" cy="360048"/>
                  <a:chOff x="6282228" y="1988808"/>
                  <a:chExt cx="270036" cy="360048"/>
                </a:xfrm>
              </p:grpSpPr>
              <p:cxnSp>
                <p:nvCxnSpPr>
                  <p:cNvPr id="45" name="直線コネクタ 44"/>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6" name="直線コネクタ 45"/>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1" name="直線コネクタ 30"/>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2" name="直線コネクタ 31"/>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34"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5"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36" name="グループ化 35"/>
                <p:cNvGrpSpPr/>
                <p:nvPr/>
              </p:nvGrpSpPr>
              <p:grpSpPr>
                <a:xfrm>
                  <a:off x="2771980" y="2978995"/>
                  <a:ext cx="360048" cy="360048"/>
                  <a:chOff x="3131808" y="1628760"/>
                  <a:chExt cx="360048" cy="360048"/>
                </a:xfrm>
              </p:grpSpPr>
              <p:cxnSp>
                <p:nvCxnSpPr>
                  <p:cNvPr id="40" name="直線コネクタ 39"/>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1" name="直線コネクタ 40"/>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2" name="直線コネクタ 41"/>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3" name="直線コネクタ 42"/>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4" name="円/楕円 43"/>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37" name="直線コネクタ 36"/>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8" name="直線コネクタ 37"/>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9" name="直線コネクタ 38"/>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52" name="Line 46"/>
              <p:cNvSpPr>
                <a:spLocks noChangeShapeType="1"/>
              </p:cNvSpPr>
              <p:nvPr/>
            </p:nvSpPr>
            <p:spPr bwMode="auto">
              <a:xfrm flipV="1">
                <a:off x="4230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53" name="グループ化 52"/>
              <p:cNvGrpSpPr/>
              <p:nvPr/>
            </p:nvGrpSpPr>
            <p:grpSpPr>
              <a:xfrm rot="5400000">
                <a:off x="2565879" y="5829899"/>
                <a:ext cx="270041" cy="180007"/>
                <a:chOff x="1601967" y="3609002"/>
                <a:chExt cx="540039" cy="360048"/>
              </a:xfrm>
            </p:grpSpPr>
            <p:grpSp>
              <p:nvGrpSpPr>
                <p:cNvPr id="54" name="グループ化 53"/>
                <p:cNvGrpSpPr/>
                <p:nvPr/>
              </p:nvGrpSpPr>
              <p:grpSpPr>
                <a:xfrm rot="10800000">
                  <a:off x="1871970" y="3609002"/>
                  <a:ext cx="270036" cy="360048"/>
                  <a:chOff x="6282228" y="1988808"/>
                  <a:chExt cx="270036" cy="360048"/>
                </a:xfrm>
              </p:grpSpPr>
              <p:cxnSp>
                <p:nvCxnSpPr>
                  <p:cNvPr id="61" name="直線コネクタ 6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2" name="直線コネクタ 6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3" name="直線コネクタ 6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4" name="直線コネクタ 6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55" name="グループ化 54"/>
                <p:cNvGrpSpPr/>
                <p:nvPr/>
              </p:nvGrpSpPr>
              <p:grpSpPr>
                <a:xfrm>
                  <a:off x="1601967" y="3609002"/>
                  <a:ext cx="360048" cy="360048"/>
                  <a:chOff x="3131808" y="1628760"/>
                  <a:chExt cx="360048" cy="360048"/>
                </a:xfrm>
              </p:grpSpPr>
              <p:cxnSp>
                <p:nvCxnSpPr>
                  <p:cNvPr id="56" name="直線コネクタ 5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7" name="直線コネクタ 5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8" name="直線コネクタ 5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9" name="直線コネクタ 5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60" name="円/楕円 5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65" name="グループ化 64"/>
              <p:cNvGrpSpPr/>
              <p:nvPr/>
            </p:nvGrpSpPr>
            <p:grpSpPr>
              <a:xfrm>
                <a:off x="2880899" y="5229378"/>
                <a:ext cx="270041" cy="180007"/>
                <a:chOff x="1601967" y="3609002"/>
                <a:chExt cx="540039" cy="360048"/>
              </a:xfrm>
            </p:grpSpPr>
            <p:grpSp>
              <p:nvGrpSpPr>
                <p:cNvPr id="66" name="グループ化 65"/>
                <p:cNvGrpSpPr/>
                <p:nvPr/>
              </p:nvGrpSpPr>
              <p:grpSpPr>
                <a:xfrm rot="10800000">
                  <a:off x="1871970" y="3609002"/>
                  <a:ext cx="270036" cy="360048"/>
                  <a:chOff x="6282228" y="1988808"/>
                  <a:chExt cx="270036" cy="360048"/>
                </a:xfrm>
              </p:grpSpPr>
              <p:cxnSp>
                <p:nvCxnSpPr>
                  <p:cNvPr id="73" name="直線コネクタ 7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4" name="直線コネクタ 7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5" name="直線コネクタ 7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6" name="直線コネクタ 7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7" name="グループ化 66"/>
                <p:cNvGrpSpPr/>
                <p:nvPr/>
              </p:nvGrpSpPr>
              <p:grpSpPr>
                <a:xfrm>
                  <a:off x="1601967" y="3609002"/>
                  <a:ext cx="360048" cy="360048"/>
                  <a:chOff x="3131808" y="1628760"/>
                  <a:chExt cx="360048" cy="360048"/>
                </a:xfrm>
              </p:grpSpPr>
              <p:cxnSp>
                <p:nvCxnSpPr>
                  <p:cNvPr id="68" name="直線コネクタ 6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9" name="直線コネクタ 6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0" name="直線コネクタ 6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1" name="直線コネクタ 7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72" name="円/楕円 7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77" name="Line 46"/>
              <p:cNvSpPr>
                <a:spLocks noChangeShapeType="1"/>
              </p:cNvSpPr>
              <p:nvPr/>
            </p:nvSpPr>
            <p:spPr bwMode="auto">
              <a:xfrm>
                <a:off x="2790898"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 name="Line 46"/>
              <p:cNvSpPr>
                <a:spLocks noChangeShapeType="1"/>
              </p:cNvSpPr>
              <p:nvPr/>
            </p:nvSpPr>
            <p:spPr bwMode="auto">
              <a:xfrm flipH="1" flipV="1">
                <a:off x="3045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79" name="Line 46"/>
              <p:cNvSpPr>
                <a:spLocks noChangeShapeType="1"/>
              </p:cNvSpPr>
              <p:nvPr/>
            </p:nvSpPr>
            <p:spPr bwMode="auto">
              <a:xfrm flipH="1" flipV="1">
                <a:off x="3029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80" name="Line 46"/>
              <p:cNvSpPr>
                <a:spLocks noChangeShapeType="1"/>
              </p:cNvSpPr>
              <p:nvPr/>
            </p:nvSpPr>
            <p:spPr bwMode="auto">
              <a:xfrm flipV="1">
                <a:off x="3017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81" name="Line 46"/>
              <p:cNvSpPr>
                <a:spLocks noChangeShapeType="1"/>
              </p:cNvSpPr>
              <p:nvPr/>
            </p:nvSpPr>
            <p:spPr bwMode="auto">
              <a:xfrm>
                <a:off x="2250893"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82" name="Line 46"/>
              <p:cNvSpPr>
                <a:spLocks noChangeShapeType="1"/>
              </p:cNvSpPr>
              <p:nvPr/>
            </p:nvSpPr>
            <p:spPr bwMode="auto">
              <a:xfrm flipV="1">
                <a:off x="4230914"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83" name="グループ化 82"/>
              <p:cNvGrpSpPr/>
              <p:nvPr/>
            </p:nvGrpSpPr>
            <p:grpSpPr>
              <a:xfrm>
                <a:off x="5220924" y="5424878"/>
                <a:ext cx="1080010" cy="1170013"/>
                <a:chOff x="1871970" y="2562739"/>
                <a:chExt cx="1890019" cy="2559383"/>
              </a:xfrm>
            </p:grpSpPr>
            <p:grpSp>
              <p:nvGrpSpPr>
                <p:cNvPr id="84" name="グループ化 83"/>
                <p:cNvGrpSpPr/>
                <p:nvPr/>
              </p:nvGrpSpPr>
              <p:grpSpPr>
                <a:xfrm>
                  <a:off x="2996967" y="4942097"/>
                  <a:ext cx="360048" cy="180025"/>
                  <a:chOff x="1736601" y="2511982"/>
                  <a:chExt cx="360048" cy="180025"/>
                </a:xfrm>
              </p:grpSpPr>
              <p:cxnSp>
                <p:nvCxnSpPr>
                  <p:cNvPr id="104" name="直線コネクタ 103"/>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5" name="直線コネクタ 104"/>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85" name="グループ化 84"/>
                <p:cNvGrpSpPr/>
                <p:nvPr/>
              </p:nvGrpSpPr>
              <p:grpSpPr>
                <a:xfrm>
                  <a:off x="2861981" y="4059007"/>
                  <a:ext cx="270036" cy="360048"/>
                  <a:chOff x="6282228" y="1988808"/>
                  <a:chExt cx="270036" cy="360048"/>
                </a:xfrm>
              </p:grpSpPr>
              <p:cxnSp>
                <p:nvCxnSpPr>
                  <p:cNvPr id="100" name="直線コネクタ 9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1" name="直線コネクタ 10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86" name="直線コネクタ 85"/>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89"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90"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91" name="グループ化 90"/>
                <p:cNvGrpSpPr/>
                <p:nvPr/>
              </p:nvGrpSpPr>
              <p:grpSpPr>
                <a:xfrm>
                  <a:off x="2771980" y="2978995"/>
                  <a:ext cx="360048" cy="360048"/>
                  <a:chOff x="3131808" y="1628760"/>
                  <a:chExt cx="360048" cy="360048"/>
                </a:xfrm>
              </p:grpSpPr>
              <p:cxnSp>
                <p:nvCxnSpPr>
                  <p:cNvPr id="95" name="直線コネクタ 9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6" name="直線コネクタ 9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7" name="直線コネクタ 9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8" name="直線コネクタ 9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99" name="円/楕円 9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92" name="直線コネクタ 91"/>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93" name="直線コネクタ 92"/>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94" name="直線コネクタ 93"/>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07" name="グループ化 106"/>
              <p:cNvGrpSpPr/>
              <p:nvPr/>
            </p:nvGrpSpPr>
            <p:grpSpPr>
              <a:xfrm rot="10800000">
                <a:off x="5220924" y="4059365"/>
                <a:ext cx="1080010" cy="1170013"/>
                <a:chOff x="1871970" y="2562739"/>
                <a:chExt cx="1890019" cy="2559383"/>
              </a:xfrm>
            </p:grpSpPr>
            <p:grpSp>
              <p:nvGrpSpPr>
                <p:cNvPr id="108" name="グループ化 107"/>
                <p:cNvGrpSpPr/>
                <p:nvPr/>
              </p:nvGrpSpPr>
              <p:grpSpPr>
                <a:xfrm>
                  <a:off x="2996967" y="4942097"/>
                  <a:ext cx="360048" cy="180025"/>
                  <a:chOff x="1736601" y="2511982"/>
                  <a:chExt cx="360048" cy="180025"/>
                </a:xfrm>
              </p:grpSpPr>
              <p:cxnSp>
                <p:nvCxnSpPr>
                  <p:cNvPr id="128" name="直線コネクタ 127"/>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 name="直線コネクタ 128"/>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 name="直線コネクタ 129"/>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09" name="グループ化 108"/>
                <p:cNvGrpSpPr/>
                <p:nvPr/>
              </p:nvGrpSpPr>
              <p:grpSpPr>
                <a:xfrm>
                  <a:off x="2861981" y="4059007"/>
                  <a:ext cx="270036" cy="360048"/>
                  <a:chOff x="6282228" y="1988808"/>
                  <a:chExt cx="270036" cy="360048"/>
                </a:xfrm>
              </p:grpSpPr>
              <p:cxnSp>
                <p:nvCxnSpPr>
                  <p:cNvPr id="124" name="直線コネクタ 12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 name="直線コネクタ 12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6" name="直線コネクタ 12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 name="直線コネクタ 12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10" name="直線コネクタ 109"/>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11" name="直線コネクタ 110"/>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2" name="直線コネクタ 111"/>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13"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4"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15" name="グループ化 114"/>
                <p:cNvGrpSpPr/>
                <p:nvPr/>
              </p:nvGrpSpPr>
              <p:grpSpPr>
                <a:xfrm>
                  <a:off x="2771980" y="2978995"/>
                  <a:ext cx="360048" cy="360048"/>
                  <a:chOff x="3131808" y="1628760"/>
                  <a:chExt cx="360048" cy="360048"/>
                </a:xfrm>
              </p:grpSpPr>
              <p:cxnSp>
                <p:nvCxnSpPr>
                  <p:cNvPr id="119" name="直線コネクタ 11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0" name="直線コネクタ 11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1" name="直線コネクタ 12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 name="直線コネクタ 12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3" name="円/楕円 12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16" name="直線コネクタ 115"/>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17" name="直線コネクタ 116"/>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8" name="直線コネクタ 117"/>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31" name="Line 46"/>
              <p:cNvSpPr>
                <a:spLocks noChangeShapeType="1"/>
              </p:cNvSpPr>
              <p:nvPr/>
            </p:nvSpPr>
            <p:spPr bwMode="auto">
              <a:xfrm flipV="1">
                <a:off x="6300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32" name="グループ化 131"/>
              <p:cNvGrpSpPr/>
              <p:nvPr/>
            </p:nvGrpSpPr>
            <p:grpSpPr>
              <a:xfrm rot="5400000">
                <a:off x="4635901" y="5829899"/>
                <a:ext cx="270041" cy="180007"/>
                <a:chOff x="1601967" y="3609002"/>
                <a:chExt cx="540039" cy="360048"/>
              </a:xfrm>
            </p:grpSpPr>
            <p:grpSp>
              <p:nvGrpSpPr>
                <p:cNvPr id="133" name="グループ化 132"/>
                <p:cNvGrpSpPr/>
                <p:nvPr/>
              </p:nvGrpSpPr>
              <p:grpSpPr>
                <a:xfrm rot="10800000">
                  <a:off x="1871970" y="3609002"/>
                  <a:ext cx="270036" cy="360048"/>
                  <a:chOff x="6282228" y="1988808"/>
                  <a:chExt cx="270036" cy="360048"/>
                </a:xfrm>
              </p:grpSpPr>
              <p:cxnSp>
                <p:nvCxnSpPr>
                  <p:cNvPr id="140" name="直線コネクタ 13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 name="直線コネクタ 14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2" name="直線コネクタ 14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 name="直線コネクタ 14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4" name="グループ化 133"/>
                <p:cNvGrpSpPr/>
                <p:nvPr/>
              </p:nvGrpSpPr>
              <p:grpSpPr>
                <a:xfrm>
                  <a:off x="1601967" y="3609002"/>
                  <a:ext cx="360048" cy="360048"/>
                  <a:chOff x="3131808" y="1628760"/>
                  <a:chExt cx="360048" cy="360048"/>
                </a:xfrm>
              </p:grpSpPr>
              <p:cxnSp>
                <p:nvCxnSpPr>
                  <p:cNvPr id="135" name="直線コネクタ 13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6" name="直線コネクタ 13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 name="直線コネクタ 13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 name="直線コネクタ 13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9" name="円/楕円 13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144" name="グループ化 143"/>
              <p:cNvGrpSpPr/>
              <p:nvPr/>
            </p:nvGrpSpPr>
            <p:grpSpPr>
              <a:xfrm>
                <a:off x="4950921" y="5229378"/>
                <a:ext cx="270041" cy="180007"/>
                <a:chOff x="1601967" y="3609002"/>
                <a:chExt cx="540039" cy="360048"/>
              </a:xfrm>
            </p:grpSpPr>
            <p:grpSp>
              <p:nvGrpSpPr>
                <p:cNvPr id="145" name="グループ化 144"/>
                <p:cNvGrpSpPr/>
                <p:nvPr/>
              </p:nvGrpSpPr>
              <p:grpSpPr>
                <a:xfrm rot="10800000">
                  <a:off x="1871970" y="3609002"/>
                  <a:ext cx="270036" cy="360048"/>
                  <a:chOff x="6282228" y="1988808"/>
                  <a:chExt cx="270036" cy="360048"/>
                </a:xfrm>
              </p:grpSpPr>
              <p:cxnSp>
                <p:nvCxnSpPr>
                  <p:cNvPr id="152" name="直線コネクタ 15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3" name="直線コネクタ 15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4" name="直線コネクタ 15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 name="直線コネクタ 15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6" name="グループ化 145"/>
                <p:cNvGrpSpPr/>
                <p:nvPr/>
              </p:nvGrpSpPr>
              <p:grpSpPr>
                <a:xfrm>
                  <a:off x="1601967" y="3609002"/>
                  <a:ext cx="360048" cy="360048"/>
                  <a:chOff x="3131808" y="1628760"/>
                  <a:chExt cx="360048" cy="360048"/>
                </a:xfrm>
              </p:grpSpPr>
              <p:cxnSp>
                <p:nvCxnSpPr>
                  <p:cNvPr id="147" name="直線コネクタ 14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8" name="直線コネクタ 14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 name="直線コネクタ 14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51" name="円/楕円 15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156" name="Line 46"/>
              <p:cNvSpPr>
                <a:spLocks noChangeShapeType="1"/>
              </p:cNvSpPr>
              <p:nvPr/>
            </p:nvSpPr>
            <p:spPr bwMode="auto">
              <a:xfrm>
                <a:off x="4860920"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7" name="Line 46"/>
              <p:cNvSpPr>
                <a:spLocks noChangeShapeType="1"/>
              </p:cNvSpPr>
              <p:nvPr/>
            </p:nvSpPr>
            <p:spPr bwMode="auto">
              <a:xfrm flipH="1" flipV="1">
                <a:off x="5115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58" name="Line 46"/>
              <p:cNvSpPr>
                <a:spLocks noChangeShapeType="1"/>
              </p:cNvSpPr>
              <p:nvPr/>
            </p:nvSpPr>
            <p:spPr bwMode="auto">
              <a:xfrm flipH="1" flipV="1">
                <a:off x="5099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9" name="Line 46"/>
              <p:cNvSpPr>
                <a:spLocks noChangeShapeType="1"/>
              </p:cNvSpPr>
              <p:nvPr/>
            </p:nvSpPr>
            <p:spPr bwMode="auto">
              <a:xfrm flipV="1">
                <a:off x="5087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60" name="Line 46"/>
              <p:cNvSpPr>
                <a:spLocks noChangeShapeType="1"/>
              </p:cNvSpPr>
              <p:nvPr/>
            </p:nvSpPr>
            <p:spPr bwMode="auto">
              <a:xfrm flipV="1">
                <a:off x="6300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grpSp>
          <p:nvGrpSpPr>
            <p:cNvPr id="162" name="グループ化 161"/>
            <p:cNvGrpSpPr/>
            <p:nvPr/>
          </p:nvGrpSpPr>
          <p:grpSpPr>
            <a:xfrm>
              <a:off x="793934" y="2348988"/>
              <a:ext cx="2070023" cy="1080012"/>
              <a:chOff x="2250893" y="4059365"/>
              <a:chExt cx="4590049" cy="2535526"/>
            </a:xfrm>
          </p:grpSpPr>
          <p:grpSp>
            <p:nvGrpSpPr>
              <p:cNvPr id="163" name="グループ化 162"/>
              <p:cNvGrpSpPr/>
              <p:nvPr/>
            </p:nvGrpSpPr>
            <p:grpSpPr>
              <a:xfrm>
                <a:off x="3150902" y="5424878"/>
                <a:ext cx="1080010" cy="1170013"/>
                <a:chOff x="1871970" y="2562739"/>
                <a:chExt cx="1890019" cy="2559383"/>
              </a:xfrm>
            </p:grpSpPr>
            <p:grpSp>
              <p:nvGrpSpPr>
                <p:cNvPr id="297" name="グループ化 296"/>
                <p:cNvGrpSpPr/>
                <p:nvPr/>
              </p:nvGrpSpPr>
              <p:grpSpPr>
                <a:xfrm>
                  <a:off x="2996967" y="4942097"/>
                  <a:ext cx="360048" cy="180025"/>
                  <a:chOff x="1736601" y="2511982"/>
                  <a:chExt cx="360048" cy="180025"/>
                </a:xfrm>
              </p:grpSpPr>
              <p:cxnSp>
                <p:nvCxnSpPr>
                  <p:cNvPr id="317" name="直線コネクタ 316"/>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8" name="直線コネクタ 317"/>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9" name="直線コネクタ 318"/>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98" name="グループ化 297"/>
                <p:cNvGrpSpPr/>
                <p:nvPr/>
              </p:nvGrpSpPr>
              <p:grpSpPr>
                <a:xfrm>
                  <a:off x="2861981" y="4059007"/>
                  <a:ext cx="270036" cy="360048"/>
                  <a:chOff x="6282228" y="1988808"/>
                  <a:chExt cx="270036" cy="360048"/>
                </a:xfrm>
              </p:grpSpPr>
              <p:cxnSp>
                <p:nvCxnSpPr>
                  <p:cNvPr id="313" name="直線コネクタ 31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4" name="直線コネクタ 31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5" name="直線コネクタ 31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6" name="直線コネクタ 31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99" name="直線コネクタ 298"/>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00" name="直線コネクタ 299"/>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01" name="直線コネクタ 300"/>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302"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03"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304" name="グループ化 303"/>
                <p:cNvGrpSpPr/>
                <p:nvPr/>
              </p:nvGrpSpPr>
              <p:grpSpPr>
                <a:xfrm>
                  <a:off x="2771980" y="2978995"/>
                  <a:ext cx="360048" cy="360048"/>
                  <a:chOff x="3131808" y="1628760"/>
                  <a:chExt cx="360048" cy="360048"/>
                </a:xfrm>
              </p:grpSpPr>
              <p:cxnSp>
                <p:nvCxnSpPr>
                  <p:cNvPr id="308" name="直線コネクタ 30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9" name="直線コネクタ 30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0" name="直線コネクタ 30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1" name="直線コネクタ 31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312" name="円/楕円 31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305" name="直線コネクタ 304"/>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06" name="直線コネクタ 305"/>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07" name="直線コネクタ 306"/>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64" name="グループ化 163"/>
              <p:cNvGrpSpPr/>
              <p:nvPr/>
            </p:nvGrpSpPr>
            <p:grpSpPr>
              <a:xfrm rot="10800000">
                <a:off x="3150902" y="4059365"/>
                <a:ext cx="1080010" cy="1170013"/>
                <a:chOff x="1871970" y="2562739"/>
                <a:chExt cx="1890019" cy="2559383"/>
              </a:xfrm>
            </p:grpSpPr>
            <p:grpSp>
              <p:nvGrpSpPr>
                <p:cNvPr id="274" name="グループ化 273"/>
                <p:cNvGrpSpPr/>
                <p:nvPr/>
              </p:nvGrpSpPr>
              <p:grpSpPr>
                <a:xfrm>
                  <a:off x="2996967" y="4942097"/>
                  <a:ext cx="360048" cy="180025"/>
                  <a:chOff x="1736601" y="2511982"/>
                  <a:chExt cx="360048" cy="180025"/>
                </a:xfrm>
              </p:grpSpPr>
              <p:cxnSp>
                <p:nvCxnSpPr>
                  <p:cNvPr id="294" name="直線コネクタ 293"/>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5" name="直線コネクタ 294"/>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6" name="直線コネクタ 295"/>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75" name="グループ化 274"/>
                <p:cNvGrpSpPr/>
                <p:nvPr/>
              </p:nvGrpSpPr>
              <p:grpSpPr>
                <a:xfrm>
                  <a:off x="2861981" y="4059007"/>
                  <a:ext cx="270036" cy="360048"/>
                  <a:chOff x="6282228" y="1988808"/>
                  <a:chExt cx="270036" cy="360048"/>
                </a:xfrm>
              </p:grpSpPr>
              <p:cxnSp>
                <p:nvCxnSpPr>
                  <p:cNvPr id="290" name="直線コネクタ 28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1" name="直線コネクタ 29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2" name="直線コネクタ 29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3" name="直線コネクタ 29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76" name="直線コネクタ 275"/>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77" name="直線コネクタ 276"/>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78" name="直線コネクタ 277"/>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279"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80"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81" name="グループ化 280"/>
                <p:cNvGrpSpPr/>
                <p:nvPr/>
              </p:nvGrpSpPr>
              <p:grpSpPr>
                <a:xfrm>
                  <a:off x="2771980" y="2978995"/>
                  <a:ext cx="360048" cy="360048"/>
                  <a:chOff x="3131808" y="1628760"/>
                  <a:chExt cx="360048" cy="360048"/>
                </a:xfrm>
              </p:grpSpPr>
              <p:cxnSp>
                <p:nvCxnSpPr>
                  <p:cNvPr id="285" name="直線コネクタ 28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6" name="直線コネクタ 28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7" name="直線コネクタ 28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8" name="直線コネクタ 28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9" name="円/楕円 28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282" name="直線コネクタ 281"/>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83" name="直線コネクタ 282"/>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84" name="直線コネクタ 283"/>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65" name="Line 46"/>
              <p:cNvSpPr>
                <a:spLocks noChangeShapeType="1"/>
              </p:cNvSpPr>
              <p:nvPr/>
            </p:nvSpPr>
            <p:spPr bwMode="auto">
              <a:xfrm flipV="1">
                <a:off x="4230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66" name="グループ化 165"/>
              <p:cNvGrpSpPr/>
              <p:nvPr/>
            </p:nvGrpSpPr>
            <p:grpSpPr>
              <a:xfrm rot="5400000">
                <a:off x="2565879" y="5829899"/>
                <a:ext cx="270041" cy="180007"/>
                <a:chOff x="1601967" y="3609002"/>
                <a:chExt cx="540039" cy="360048"/>
              </a:xfrm>
            </p:grpSpPr>
            <p:grpSp>
              <p:nvGrpSpPr>
                <p:cNvPr id="263" name="グループ化 262"/>
                <p:cNvGrpSpPr/>
                <p:nvPr/>
              </p:nvGrpSpPr>
              <p:grpSpPr>
                <a:xfrm rot="10800000">
                  <a:off x="1871970" y="3609002"/>
                  <a:ext cx="270036" cy="360048"/>
                  <a:chOff x="6282228" y="1988808"/>
                  <a:chExt cx="270036" cy="360048"/>
                </a:xfrm>
              </p:grpSpPr>
              <p:cxnSp>
                <p:nvCxnSpPr>
                  <p:cNvPr id="270" name="直線コネクタ 26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1" name="直線コネクタ 27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2" name="直線コネクタ 27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3" name="直線コネクタ 27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64" name="グループ化 263"/>
                <p:cNvGrpSpPr/>
                <p:nvPr/>
              </p:nvGrpSpPr>
              <p:grpSpPr>
                <a:xfrm>
                  <a:off x="1601967" y="3609002"/>
                  <a:ext cx="360048" cy="360048"/>
                  <a:chOff x="3131808" y="1628760"/>
                  <a:chExt cx="360048" cy="360048"/>
                </a:xfrm>
              </p:grpSpPr>
              <p:cxnSp>
                <p:nvCxnSpPr>
                  <p:cNvPr id="265" name="直線コネクタ 26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6" name="直線コネクタ 26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7" name="直線コネクタ 26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8" name="直線コネクタ 26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69" name="円/楕円 26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167" name="グループ化 166"/>
              <p:cNvGrpSpPr/>
              <p:nvPr/>
            </p:nvGrpSpPr>
            <p:grpSpPr>
              <a:xfrm>
                <a:off x="2880899" y="5229378"/>
                <a:ext cx="270041" cy="180007"/>
                <a:chOff x="1601967" y="3609002"/>
                <a:chExt cx="540039" cy="360048"/>
              </a:xfrm>
            </p:grpSpPr>
            <p:grpSp>
              <p:nvGrpSpPr>
                <p:cNvPr id="252" name="グループ化 251"/>
                <p:cNvGrpSpPr/>
                <p:nvPr/>
              </p:nvGrpSpPr>
              <p:grpSpPr>
                <a:xfrm rot="10800000">
                  <a:off x="1871970" y="3609002"/>
                  <a:ext cx="270036" cy="360048"/>
                  <a:chOff x="6282228" y="1988808"/>
                  <a:chExt cx="270036" cy="360048"/>
                </a:xfrm>
              </p:grpSpPr>
              <p:cxnSp>
                <p:nvCxnSpPr>
                  <p:cNvPr id="259" name="直線コネクタ 25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0" name="直線コネクタ 25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1" name="直線コネクタ 26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2" name="直線コネクタ 26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53" name="グループ化 252"/>
                <p:cNvGrpSpPr/>
                <p:nvPr/>
              </p:nvGrpSpPr>
              <p:grpSpPr>
                <a:xfrm>
                  <a:off x="1601967" y="3609002"/>
                  <a:ext cx="360048" cy="360048"/>
                  <a:chOff x="3131808" y="1628760"/>
                  <a:chExt cx="360048" cy="360048"/>
                </a:xfrm>
              </p:grpSpPr>
              <p:cxnSp>
                <p:nvCxnSpPr>
                  <p:cNvPr id="254" name="直線コネクタ 25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5" name="直線コネクタ 25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6" name="直線コネクタ 25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7" name="直線コネクタ 25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58" name="円/楕円 25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168" name="Line 46"/>
              <p:cNvSpPr>
                <a:spLocks noChangeShapeType="1"/>
              </p:cNvSpPr>
              <p:nvPr/>
            </p:nvSpPr>
            <p:spPr bwMode="auto">
              <a:xfrm>
                <a:off x="2790898"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69" name="Line 46"/>
              <p:cNvSpPr>
                <a:spLocks noChangeShapeType="1"/>
              </p:cNvSpPr>
              <p:nvPr/>
            </p:nvSpPr>
            <p:spPr bwMode="auto">
              <a:xfrm flipH="1" flipV="1">
                <a:off x="3045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70" name="Line 46"/>
              <p:cNvSpPr>
                <a:spLocks noChangeShapeType="1"/>
              </p:cNvSpPr>
              <p:nvPr/>
            </p:nvSpPr>
            <p:spPr bwMode="auto">
              <a:xfrm flipH="1" flipV="1">
                <a:off x="3029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71" name="Line 46"/>
              <p:cNvSpPr>
                <a:spLocks noChangeShapeType="1"/>
              </p:cNvSpPr>
              <p:nvPr/>
            </p:nvSpPr>
            <p:spPr bwMode="auto">
              <a:xfrm flipV="1">
                <a:off x="3017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72" name="Line 46"/>
              <p:cNvSpPr>
                <a:spLocks noChangeShapeType="1"/>
              </p:cNvSpPr>
              <p:nvPr/>
            </p:nvSpPr>
            <p:spPr bwMode="auto">
              <a:xfrm>
                <a:off x="2250893"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73" name="Line 46"/>
              <p:cNvSpPr>
                <a:spLocks noChangeShapeType="1"/>
              </p:cNvSpPr>
              <p:nvPr/>
            </p:nvSpPr>
            <p:spPr bwMode="auto">
              <a:xfrm flipV="1">
                <a:off x="4230914"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174" name="グループ化 173"/>
              <p:cNvGrpSpPr/>
              <p:nvPr/>
            </p:nvGrpSpPr>
            <p:grpSpPr>
              <a:xfrm>
                <a:off x="5220924" y="5424878"/>
                <a:ext cx="1080010" cy="1170013"/>
                <a:chOff x="1871970" y="2562739"/>
                <a:chExt cx="1890019" cy="2559383"/>
              </a:xfrm>
            </p:grpSpPr>
            <p:grpSp>
              <p:nvGrpSpPr>
                <p:cNvPr id="229" name="グループ化 228"/>
                <p:cNvGrpSpPr/>
                <p:nvPr/>
              </p:nvGrpSpPr>
              <p:grpSpPr>
                <a:xfrm>
                  <a:off x="2996967" y="4942097"/>
                  <a:ext cx="360048" cy="180025"/>
                  <a:chOff x="1736601" y="2511982"/>
                  <a:chExt cx="360048" cy="180025"/>
                </a:xfrm>
              </p:grpSpPr>
              <p:cxnSp>
                <p:nvCxnSpPr>
                  <p:cNvPr id="249" name="直線コネクタ 248"/>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0" name="直線コネクタ 249"/>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1" name="直線コネクタ 250"/>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30" name="グループ化 229"/>
                <p:cNvGrpSpPr/>
                <p:nvPr/>
              </p:nvGrpSpPr>
              <p:grpSpPr>
                <a:xfrm>
                  <a:off x="2861981" y="4059007"/>
                  <a:ext cx="270036" cy="360048"/>
                  <a:chOff x="6282228" y="1988808"/>
                  <a:chExt cx="270036" cy="360048"/>
                </a:xfrm>
              </p:grpSpPr>
              <p:cxnSp>
                <p:nvCxnSpPr>
                  <p:cNvPr id="245" name="直線コネクタ 244"/>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6" name="直線コネクタ 245"/>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7" name="直線コネクタ 246"/>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8" name="直線コネクタ 247"/>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31" name="直線コネクタ 230"/>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32" name="直線コネクタ 231"/>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33" name="直線コネクタ 232"/>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234"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35"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6" name="グループ化 235"/>
                <p:cNvGrpSpPr/>
                <p:nvPr/>
              </p:nvGrpSpPr>
              <p:grpSpPr>
                <a:xfrm>
                  <a:off x="2771980" y="2978995"/>
                  <a:ext cx="360048" cy="360048"/>
                  <a:chOff x="3131808" y="1628760"/>
                  <a:chExt cx="360048" cy="360048"/>
                </a:xfrm>
              </p:grpSpPr>
              <p:cxnSp>
                <p:nvCxnSpPr>
                  <p:cNvPr id="240" name="直線コネクタ 239"/>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1" name="直線コネクタ 240"/>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2" name="直線コネクタ 241"/>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3" name="直線コネクタ 242"/>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44" name="円/楕円 243"/>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237" name="直線コネクタ 236"/>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38" name="直線コネクタ 237"/>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39" name="直線コネクタ 238"/>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75" name="グループ化 174"/>
              <p:cNvGrpSpPr/>
              <p:nvPr/>
            </p:nvGrpSpPr>
            <p:grpSpPr>
              <a:xfrm rot="10800000">
                <a:off x="5220924" y="4059365"/>
                <a:ext cx="1080010" cy="1170013"/>
                <a:chOff x="1871970" y="2562739"/>
                <a:chExt cx="1890019" cy="2559383"/>
              </a:xfrm>
            </p:grpSpPr>
            <p:grpSp>
              <p:nvGrpSpPr>
                <p:cNvPr id="206" name="グループ化 205"/>
                <p:cNvGrpSpPr/>
                <p:nvPr/>
              </p:nvGrpSpPr>
              <p:grpSpPr>
                <a:xfrm>
                  <a:off x="2996967" y="4942097"/>
                  <a:ext cx="360048" cy="180025"/>
                  <a:chOff x="1736601" y="2511982"/>
                  <a:chExt cx="360048" cy="180025"/>
                </a:xfrm>
              </p:grpSpPr>
              <p:cxnSp>
                <p:nvCxnSpPr>
                  <p:cNvPr id="226" name="直線コネクタ 225"/>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7" name="直線コネクタ 226"/>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8" name="直線コネクタ 227"/>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07" name="グループ化 206"/>
                <p:cNvGrpSpPr/>
                <p:nvPr/>
              </p:nvGrpSpPr>
              <p:grpSpPr>
                <a:xfrm>
                  <a:off x="2861981" y="4059007"/>
                  <a:ext cx="270036" cy="360048"/>
                  <a:chOff x="6282228" y="1988808"/>
                  <a:chExt cx="270036" cy="360048"/>
                </a:xfrm>
              </p:grpSpPr>
              <p:cxnSp>
                <p:nvCxnSpPr>
                  <p:cNvPr id="222" name="直線コネクタ 22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3" name="直線コネクタ 22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4" name="直線コネクタ 22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5" name="直線コネクタ 22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08" name="直線コネクタ 207"/>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09" name="直線コネクタ 208"/>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10" name="直線コネクタ 209"/>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211"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12"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13" name="グループ化 212"/>
                <p:cNvGrpSpPr/>
                <p:nvPr/>
              </p:nvGrpSpPr>
              <p:grpSpPr>
                <a:xfrm>
                  <a:off x="2771980" y="2978995"/>
                  <a:ext cx="360048" cy="360048"/>
                  <a:chOff x="3131808" y="1628760"/>
                  <a:chExt cx="360048" cy="360048"/>
                </a:xfrm>
              </p:grpSpPr>
              <p:cxnSp>
                <p:nvCxnSpPr>
                  <p:cNvPr id="217" name="直線コネクタ 21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8" name="直線コネクタ 21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9" name="直線コネクタ 21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0" name="直線コネクタ 21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1" name="円/楕円 22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214" name="直線コネクタ 213"/>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15" name="直線コネクタ 214"/>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16" name="直線コネクタ 215"/>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76" name="Line 46"/>
              <p:cNvSpPr>
                <a:spLocks noChangeShapeType="1"/>
              </p:cNvSpPr>
              <p:nvPr/>
            </p:nvSpPr>
            <p:spPr bwMode="auto">
              <a:xfrm flipV="1">
                <a:off x="6300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77" name="グループ化 176"/>
              <p:cNvGrpSpPr/>
              <p:nvPr/>
            </p:nvGrpSpPr>
            <p:grpSpPr>
              <a:xfrm rot="5400000">
                <a:off x="4635901" y="5829899"/>
                <a:ext cx="270041" cy="180007"/>
                <a:chOff x="1601967" y="3609002"/>
                <a:chExt cx="540039" cy="360048"/>
              </a:xfrm>
            </p:grpSpPr>
            <p:grpSp>
              <p:nvGrpSpPr>
                <p:cNvPr id="195" name="グループ化 194"/>
                <p:cNvGrpSpPr/>
                <p:nvPr/>
              </p:nvGrpSpPr>
              <p:grpSpPr>
                <a:xfrm rot="10800000">
                  <a:off x="1871970" y="3609002"/>
                  <a:ext cx="270036" cy="360048"/>
                  <a:chOff x="6282228" y="1988808"/>
                  <a:chExt cx="270036" cy="360048"/>
                </a:xfrm>
              </p:grpSpPr>
              <p:cxnSp>
                <p:nvCxnSpPr>
                  <p:cNvPr id="202" name="直線コネクタ 20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3" name="直線コネクタ 20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4" name="直線コネクタ 20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5" name="直線コネクタ 20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96" name="グループ化 195"/>
                <p:cNvGrpSpPr/>
                <p:nvPr/>
              </p:nvGrpSpPr>
              <p:grpSpPr>
                <a:xfrm>
                  <a:off x="1601967" y="3609002"/>
                  <a:ext cx="360048" cy="360048"/>
                  <a:chOff x="3131808" y="1628760"/>
                  <a:chExt cx="360048" cy="360048"/>
                </a:xfrm>
              </p:grpSpPr>
              <p:cxnSp>
                <p:nvCxnSpPr>
                  <p:cNvPr id="197" name="直線コネクタ 19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8" name="直線コネクタ 19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9" name="直線コネクタ 19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0" name="直線コネクタ 19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01" name="円/楕円 20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178" name="グループ化 177"/>
              <p:cNvGrpSpPr/>
              <p:nvPr/>
            </p:nvGrpSpPr>
            <p:grpSpPr>
              <a:xfrm>
                <a:off x="4950921" y="5229378"/>
                <a:ext cx="270041" cy="180007"/>
                <a:chOff x="1601967" y="3609002"/>
                <a:chExt cx="540039" cy="360048"/>
              </a:xfrm>
            </p:grpSpPr>
            <p:grpSp>
              <p:nvGrpSpPr>
                <p:cNvPr id="184" name="グループ化 183"/>
                <p:cNvGrpSpPr/>
                <p:nvPr/>
              </p:nvGrpSpPr>
              <p:grpSpPr>
                <a:xfrm rot="10800000">
                  <a:off x="1871970" y="3609002"/>
                  <a:ext cx="270036" cy="360048"/>
                  <a:chOff x="6282228" y="1988808"/>
                  <a:chExt cx="270036" cy="360048"/>
                </a:xfrm>
              </p:grpSpPr>
              <p:cxnSp>
                <p:nvCxnSpPr>
                  <p:cNvPr id="191" name="直線コネクタ 19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2" name="直線コネクタ 19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3" name="直線コネクタ 19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4" name="直線コネクタ 19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5" name="グループ化 184"/>
                <p:cNvGrpSpPr/>
                <p:nvPr/>
              </p:nvGrpSpPr>
              <p:grpSpPr>
                <a:xfrm>
                  <a:off x="1601967" y="3609002"/>
                  <a:ext cx="360048" cy="360048"/>
                  <a:chOff x="3131808" y="1628760"/>
                  <a:chExt cx="360048" cy="360048"/>
                </a:xfrm>
              </p:grpSpPr>
              <p:cxnSp>
                <p:nvCxnSpPr>
                  <p:cNvPr id="186" name="直線コネクタ 18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7" name="直線コネクタ 18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8" name="直線コネクタ 18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9" name="直線コネクタ 18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90" name="円/楕円 18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179" name="Line 46"/>
              <p:cNvSpPr>
                <a:spLocks noChangeShapeType="1"/>
              </p:cNvSpPr>
              <p:nvPr/>
            </p:nvSpPr>
            <p:spPr bwMode="auto">
              <a:xfrm>
                <a:off x="4860920"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80" name="Line 46"/>
              <p:cNvSpPr>
                <a:spLocks noChangeShapeType="1"/>
              </p:cNvSpPr>
              <p:nvPr/>
            </p:nvSpPr>
            <p:spPr bwMode="auto">
              <a:xfrm flipH="1" flipV="1">
                <a:off x="5115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81" name="Line 46"/>
              <p:cNvSpPr>
                <a:spLocks noChangeShapeType="1"/>
              </p:cNvSpPr>
              <p:nvPr/>
            </p:nvSpPr>
            <p:spPr bwMode="auto">
              <a:xfrm flipH="1" flipV="1">
                <a:off x="5099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82" name="Line 46"/>
              <p:cNvSpPr>
                <a:spLocks noChangeShapeType="1"/>
              </p:cNvSpPr>
              <p:nvPr/>
            </p:nvSpPr>
            <p:spPr bwMode="auto">
              <a:xfrm flipV="1">
                <a:off x="5087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83" name="Line 46"/>
              <p:cNvSpPr>
                <a:spLocks noChangeShapeType="1"/>
              </p:cNvSpPr>
              <p:nvPr/>
            </p:nvSpPr>
            <p:spPr bwMode="auto">
              <a:xfrm flipV="1">
                <a:off x="6300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grpSp>
          <p:nvGrpSpPr>
            <p:cNvPr id="698" name="グループ化 697"/>
            <p:cNvGrpSpPr/>
            <p:nvPr/>
          </p:nvGrpSpPr>
          <p:grpSpPr>
            <a:xfrm>
              <a:off x="2593954" y="2078985"/>
              <a:ext cx="1276461" cy="720046"/>
              <a:chOff x="4034971" y="2618991"/>
              <a:chExt cx="2838485" cy="1530055"/>
            </a:xfrm>
          </p:grpSpPr>
          <p:grpSp>
            <p:nvGrpSpPr>
              <p:cNvPr id="636" name="グループ化 635"/>
              <p:cNvGrpSpPr/>
              <p:nvPr/>
            </p:nvGrpSpPr>
            <p:grpSpPr>
              <a:xfrm>
                <a:off x="5112005" y="2618991"/>
                <a:ext cx="1761451" cy="1530055"/>
                <a:chOff x="2361128" y="5229020"/>
                <a:chExt cx="1040859" cy="810047"/>
              </a:xfrm>
            </p:grpSpPr>
            <p:grpSp>
              <p:nvGrpSpPr>
                <p:cNvPr id="637" name="グループ化 636"/>
                <p:cNvGrpSpPr/>
                <p:nvPr/>
              </p:nvGrpSpPr>
              <p:grpSpPr>
                <a:xfrm rot="16200000">
                  <a:off x="2906965" y="5814043"/>
                  <a:ext cx="270041" cy="180007"/>
                  <a:chOff x="1601967" y="3609002"/>
                  <a:chExt cx="540039" cy="360048"/>
                </a:xfrm>
              </p:grpSpPr>
              <p:grpSp>
                <p:nvGrpSpPr>
                  <p:cNvPr id="657" name="グループ化 656"/>
                  <p:cNvGrpSpPr/>
                  <p:nvPr/>
                </p:nvGrpSpPr>
                <p:grpSpPr>
                  <a:xfrm rot="10800000">
                    <a:off x="1871970" y="3609002"/>
                    <a:ext cx="270036" cy="360048"/>
                    <a:chOff x="6282228" y="1988808"/>
                    <a:chExt cx="270036" cy="360048"/>
                  </a:xfrm>
                </p:grpSpPr>
                <p:cxnSp>
                  <p:nvCxnSpPr>
                    <p:cNvPr id="664" name="直線コネクタ 66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5" name="直線コネクタ 66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6" name="直線コネクタ 66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7" name="直線コネクタ 66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58" name="グループ化 657"/>
                  <p:cNvGrpSpPr/>
                  <p:nvPr/>
                </p:nvGrpSpPr>
                <p:grpSpPr>
                  <a:xfrm>
                    <a:off x="1601967" y="3609002"/>
                    <a:ext cx="360048" cy="360048"/>
                    <a:chOff x="3131808" y="1628760"/>
                    <a:chExt cx="360048" cy="360048"/>
                  </a:xfrm>
                </p:grpSpPr>
                <p:cxnSp>
                  <p:nvCxnSpPr>
                    <p:cNvPr id="659" name="直線コネクタ 65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0" name="直線コネクタ 65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1" name="直線コネクタ 66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2" name="直線コネクタ 66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663" name="円/楕円 66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638" name="グループ化 637"/>
                <p:cNvGrpSpPr/>
                <p:nvPr/>
              </p:nvGrpSpPr>
              <p:grpSpPr>
                <a:xfrm rot="5400000">
                  <a:off x="2906965" y="5274037"/>
                  <a:ext cx="270041" cy="180007"/>
                  <a:chOff x="1601967" y="3609002"/>
                  <a:chExt cx="540039" cy="360048"/>
                </a:xfrm>
              </p:grpSpPr>
              <p:grpSp>
                <p:nvGrpSpPr>
                  <p:cNvPr id="646" name="グループ化 645"/>
                  <p:cNvGrpSpPr/>
                  <p:nvPr/>
                </p:nvGrpSpPr>
                <p:grpSpPr>
                  <a:xfrm rot="10800000">
                    <a:off x="1871970" y="3609002"/>
                    <a:ext cx="270036" cy="360048"/>
                    <a:chOff x="6282228" y="1988808"/>
                    <a:chExt cx="270036" cy="360048"/>
                  </a:xfrm>
                </p:grpSpPr>
                <p:cxnSp>
                  <p:nvCxnSpPr>
                    <p:cNvPr id="653" name="直線コネクタ 65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4" name="直線コネクタ 65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5" name="直線コネクタ 65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6" name="直線コネクタ 65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47" name="グループ化 646"/>
                  <p:cNvGrpSpPr/>
                  <p:nvPr/>
                </p:nvGrpSpPr>
                <p:grpSpPr>
                  <a:xfrm>
                    <a:off x="1601967" y="3609002"/>
                    <a:ext cx="360048" cy="360048"/>
                    <a:chOff x="3131808" y="1628760"/>
                    <a:chExt cx="360048" cy="360048"/>
                  </a:xfrm>
                </p:grpSpPr>
                <p:cxnSp>
                  <p:nvCxnSpPr>
                    <p:cNvPr id="648" name="直線コネクタ 64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49" name="直線コネクタ 64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0" name="直線コネクタ 64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1" name="直線コネクタ 65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652" name="円/楕円 65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639" name="Line 46"/>
                <p:cNvSpPr>
                  <a:spLocks noChangeShapeType="1"/>
                </p:cNvSpPr>
                <p:nvPr/>
              </p:nvSpPr>
              <p:spPr bwMode="auto">
                <a:xfrm flipH="1" flipV="1">
                  <a:off x="3041983" y="5499022"/>
                  <a:ext cx="0" cy="24777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640" name="Line 46"/>
                <p:cNvSpPr>
                  <a:spLocks noChangeShapeType="1"/>
                </p:cNvSpPr>
                <p:nvPr/>
              </p:nvSpPr>
              <p:spPr bwMode="auto">
                <a:xfrm flipV="1">
                  <a:off x="2681979" y="538577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641" name="Line 46"/>
                <p:cNvSpPr>
                  <a:spLocks noChangeShapeType="1"/>
                </p:cNvSpPr>
                <p:nvPr/>
              </p:nvSpPr>
              <p:spPr bwMode="auto">
                <a:xfrm flipV="1">
                  <a:off x="2681979"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642" name="Line 46"/>
                <p:cNvSpPr>
                  <a:spLocks noChangeShapeType="1"/>
                </p:cNvSpPr>
                <p:nvPr/>
              </p:nvSpPr>
              <p:spPr bwMode="auto">
                <a:xfrm flipV="1">
                  <a:off x="3131984"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643" name="Freeform 10"/>
                <p:cNvSpPr>
                  <a:spLocks/>
                </p:cNvSpPr>
                <p:nvPr/>
              </p:nvSpPr>
              <p:spPr bwMode="auto">
                <a:xfrm rot="5400000" flipV="1">
                  <a:off x="3019216" y="5498542"/>
                  <a:ext cx="49554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645" name="Line 46"/>
                <p:cNvSpPr>
                  <a:spLocks noChangeShapeType="1"/>
                </p:cNvSpPr>
                <p:nvPr/>
              </p:nvSpPr>
              <p:spPr bwMode="auto">
                <a:xfrm flipV="1">
                  <a:off x="2361128" y="5626621"/>
                  <a:ext cx="680728" cy="0"/>
                </a:xfrm>
                <a:prstGeom prst="line">
                  <a:avLst/>
                </a:prstGeom>
                <a:noFill/>
                <a:ln w="9525">
                  <a:solidFill>
                    <a:schemeClr val="tx1"/>
                  </a:solidFill>
                  <a:round/>
                  <a:headEnd type="none" w="sm" len="sm"/>
                  <a:tailEnd type="oval" w="sm" len="sm"/>
                </a:ln>
                <a:effectLst/>
              </p:spPr>
              <p:txBody>
                <a:bodyPr wrap="none" lIns="90000" tIns="46800" rIns="90000" bIns="46800" anchor="ctr"/>
                <a:lstStyle/>
                <a:p>
                  <a:endParaRPr lang="ja-JP" altLang="en-US"/>
                </a:p>
              </p:txBody>
            </p:sp>
          </p:grpSp>
          <p:grpSp>
            <p:nvGrpSpPr>
              <p:cNvPr id="668" name="グループ化 667"/>
              <p:cNvGrpSpPr/>
              <p:nvPr/>
            </p:nvGrpSpPr>
            <p:grpSpPr>
              <a:xfrm>
                <a:off x="4034971" y="2850249"/>
                <a:ext cx="1080010" cy="1170013"/>
                <a:chOff x="1871970" y="2562739"/>
                <a:chExt cx="1890019" cy="2559383"/>
              </a:xfrm>
            </p:grpSpPr>
            <p:grpSp>
              <p:nvGrpSpPr>
                <p:cNvPr id="669" name="グループ化 668"/>
                <p:cNvGrpSpPr/>
                <p:nvPr/>
              </p:nvGrpSpPr>
              <p:grpSpPr>
                <a:xfrm>
                  <a:off x="2996967" y="4942097"/>
                  <a:ext cx="360048" cy="180025"/>
                  <a:chOff x="1736601" y="2511982"/>
                  <a:chExt cx="360048" cy="180025"/>
                </a:xfrm>
              </p:grpSpPr>
              <p:cxnSp>
                <p:nvCxnSpPr>
                  <p:cNvPr id="689" name="直線コネクタ 688"/>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90" name="直線コネクタ 689"/>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91" name="直線コネクタ 690"/>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70" name="グループ化 669"/>
                <p:cNvGrpSpPr/>
                <p:nvPr/>
              </p:nvGrpSpPr>
              <p:grpSpPr>
                <a:xfrm>
                  <a:off x="2861981" y="4059007"/>
                  <a:ext cx="270036" cy="360048"/>
                  <a:chOff x="6282228" y="1988808"/>
                  <a:chExt cx="270036" cy="360048"/>
                </a:xfrm>
              </p:grpSpPr>
              <p:cxnSp>
                <p:nvCxnSpPr>
                  <p:cNvPr id="685" name="直線コネクタ 684"/>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6" name="直線コネクタ 685"/>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7" name="直線コネクタ 686"/>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8" name="直線コネクタ 687"/>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671" name="直線コネクタ 670"/>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72" name="直線コネクタ 671"/>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673" name="直線コネクタ 672"/>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674"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675"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676" name="グループ化 675"/>
                <p:cNvGrpSpPr/>
                <p:nvPr/>
              </p:nvGrpSpPr>
              <p:grpSpPr>
                <a:xfrm>
                  <a:off x="2771980" y="2978995"/>
                  <a:ext cx="360048" cy="360048"/>
                  <a:chOff x="3131808" y="1628760"/>
                  <a:chExt cx="360048" cy="360048"/>
                </a:xfrm>
              </p:grpSpPr>
              <p:cxnSp>
                <p:nvCxnSpPr>
                  <p:cNvPr id="680" name="直線コネクタ 679"/>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1" name="直線コネクタ 680"/>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2" name="直線コネクタ 681"/>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3" name="直線コネクタ 682"/>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684" name="円/楕円 683"/>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677" name="直線コネクタ 676"/>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78" name="直線コネクタ 677"/>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679" name="直線コネクタ 678"/>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grpSp>
          <p:nvGrpSpPr>
            <p:cNvPr id="756" name="グループ化 755"/>
            <p:cNvGrpSpPr/>
            <p:nvPr/>
          </p:nvGrpSpPr>
          <p:grpSpPr>
            <a:xfrm>
              <a:off x="3493964" y="3338999"/>
              <a:ext cx="1618042" cy="720046"/>
              <a:chOff x="4034971" y="2618991"/>
              <a:chExt cx="3598064" cy="1530055"/>
            </a:xfrm>
          </p:grpSpPr>
          <p:grpSp>
            <p:nvGrpSpPr>
              <p:cNvPr id="757" name="グループ化 756"/>
              <p:cNvGrpSpPr/>
              <p:nvPr/>
            </p:nvGrpSpPr>
            <p:grpSpPr>
              <a:xfrm>
                <a:off x="5112006" y="2618991"/>
                <a:ext cx="2521029" cy="1530055"/>
                <a:chOff x="2361128" y="5229020"/>
                <a:chExt cx="1489701" cy="810047"/>
              </a:xfrm>
            </p:grpSpPr>
            <p:grpSp>
              <p:nvGrpSpPr>
                <p:cNvPr id="782" name="グループ化 781"/>
                <p:cNvGrpSpPr/>
                <p:nvPr/>
              </p:nvGrpSpPr>
              <p:grpSpPr>
                <a:xfrm rot="16200000">
                  <a:off x="2906965" y="5814043"/>
                  <a:ext cx="270041" cy="180007"/>
                  <a:chOff x="1601967" y="3609002"/>
                  <a:chExt cx="540039" cy="360048"/>
                </a:xfrm>
              </p:grpSpPr>
              <p:grpSp>
                <p:nvGrpSpPr>
                  <p:cNvPr id="802" name="グループ化 801"/>
                  <p:cNvGrpSpPr/>
                  <p:nvPr/>
                </p:nvGrpSpPr>
                <p:grpSpPr>
                  <a:xfrm rot="10800000">
                    <a:off x="1871970" y="3609002"/>
                    <a:ext cx="270036" cy="360048"/>
                    <a:chOff x="6282228" y="1988808"/>
                    <a:chExt cx="270036" cy="360048"/>
                  </a:xfrm>
                </p:grpSpPr>
                <p:cxnSp>
                  <p:nvCxnSpPr>
                    <p:cNvPr id="809" name="直線コネクタ 80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10" name="直線コネクタ 80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11" name="直線コネクタ 81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12" name="直線コネクタ 81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803" name="グループ化 802"/>
                  <p:cNvGrpSpPr/>
                  <p:nvPr/>
                </p:nvGrpSpPr>
                <p:grpSpPr>
                  <a:xfrm>
                    <a:off x="1601967" y="3609002"/>
                    <a:ext cx="360048" cy="360048"/>
                    <a:chOff x="3131808" y="1628760"/>
                    <a:chExt cx="360048" cy="360048"/>
                  </a:xfrm>
                </p:grpSpPr>
                <p:cxnSp>
                  <p:nvCxnSpPr>
                    <p:cNvPr id="804" name="直線コネクタ 80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5" name="直線コネクタ 80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6" name="直線コネクタ 80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7" name="直線コネクタ 80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808" name="円/楕円 80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783" name="グループ化 782"/>
                <p:cNvGrpSpPr/>
                <p:nvPr/>
              </p:nvGrpSpPr>
              <p:grpSpPr>
                <a:xfrm rot="5400000">
                  <a:off x="2906965" y="5274037"/>
                  <a:ext cx="270041" cy="180007"/>
                  <a:chOff x="1601967" y="3609002"/>
                  <a:chExt cx="540039" cy="360048"/>
                </a:xfrm>
              </p:grpSpPr>
              <p:grpSp>
                <p:nvGrpSpPr>
                  <p:cNvPr id="791" name="グループ化 790"/>
                  <p:cNvGrpSpPr/>
                  <p:nvPr/>
                </p:nvGrpSpPr>
                <p:grpSpPr>
                  <a:xfrm rot="10800000">
                    <a:off x="1871970" y="3609002"/>
                    <a:ext cx="270036" cy="360048"/>
                    <a:chOff x="6282228" y="1988808"/>
                    <a:chExt cx="270036" cy="360048"/>
                  </a:xfrm>
                </p:grpSpPr>
                <p:cxnSp>
                  <p:nvCxnSpPr>
                    <p:cNvPr id="798" name="直線コネクタ 797"/>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9" name="直線コネクタ 798"/>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0" name="直線コネクタ 799"/>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1" name="直線コネクタ 800"/>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792" name="グループ化 791"/>
                  <p:cNvGrpSpPr/>
                  <p:nvPr/>
                </p:nvGrpSpPr>
                <p:grpSpPr>
                  <a:xfrm>
                    <a:off x="1601967" y="3609002"/>
                    <a:ext cx="360048" cy="360048"/>
                    <a:chOff x="3131808" y="1628760"/>
                    <a:chExt cx="360048" cy="360048"/>
                  </a:xfrm>
                </p:grpSpPr>
                <p:cxnSp>
                  <p:nvCxnSpPr>
                    <p:cNvPr id="793" name="直線コネクタ 792"/>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4" name="直線コネクタ 793"/>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5" name="直線コネクタ 794"/>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6" name="直線コネクタ 795"/>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797" name="円/楕円 796"/>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784" name="Line 46"/>
                <p:cNvSpPr>
                  <a:spLocks noChangeShapeType="1"/>
                </p:cNvSpPr>
                <p:nvPr/>
              </p:nvSpPr>
              <p:spPr bwMode="auto">
                <a:xfrm flipH="1" flipV="1">
                  <a:off x="3041983" y="5499022"/>
                  <a:ext cx="0" cy="24777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5" name="Line 46"/>
                <p:cNvSpPr>
                  <a:spLocks noChangeShapeType="1"/>
                </p:cNvSpPr>
                <p:nvPr/>
              </p:nvSpPr>
              <p:spPr bwMode="auto">
                <a:xfrm flipV="1">
                  <a:off x="2681979" y="538577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6" name="Line 46"/>
                <p:cNvSpPr>
                  <a:spLocks noChangeShapeType="1"/>
                </p:cNvSpPr>
                <p:nvPr/>
              </p:nvSpPr>
              <p:spPr bwMode="auto">
                <a:xfrm flipV="1">
                  <a:off x="2681979"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7" name="Line 46"/>
                <p:cNvSpPr>
                  <a:spLocks noChangeShapeType="1"/>
                </p:cNvSpPr>
                <p:nvPr/>
              </p:nvSpPr>
              <p:spPr bwMode="auto">
                <a:xfrm flipV="1">
                  <a:off x="3131984"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8" name="Freeform 10"/>
                <p:cNvSpPr>
                  <a:spLocks/>
                </p:cNvSpPr>
                <p:nvPr/>
              </p:nvSpPr>
              <p:spPr bwMode="auto">
                <a:xfrm rot="5400000" flipV="1">
                  <a:off x="3019216" y="5498542"/>
                  <a:ext cx="49554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89" name="Line 9"/>
                <p:cNvSpPr>
                  <a:spLocks noChangeShapeType="1"/>
                </p:cNvSpPr>
                <p:nvPr/>
              </p:nvSpPr>
              <p:spPr bwMode="auto">
                <a:xfrm>
                  <a:off x="3400824" y="5625038"/>
                  <a:ext cx="450005" cy="0"/>
                </a:xfrm>
                <a:prstGeom prst="line">
                  <a:avLst/>
                </a:prstGeom>
                <a:noFill/>
                <a:ln w="9525">
                  <a:solidFill>
                    <a:schemeClr val="tx1"/>
                  </a:solidFill>
                  <a:round/>
                  <a:headEnd type="oval"/>
                  <a:tailEnd type="triangle" w="med" len="lg"/>
                </a:ln>
                <a:effectLst/>
              </p:spPr>
              <p:txBody>
                <a:bodyPr wrap="none" lIns="90000" tIns="46800" rIns="90000" bIns="46800" anchor="ctr"/>
                <a:lstStyle/>
                <a:p>
                  <a:endParaRPr lang="ja-JP" altLang="en-US" sz="1200"/>
                </a:p>
              </p:txBody>
            </p:sp>
            <p:sp>
              <p:nvSpPr>
                <p:cNvPr id="790" name="Line 46"/>
                <p:cNvSpPr>
                  <a:spLocks noChangeShapeType="1"/>
                </p:cNvSpPr>
                <p:nvPr/>
              </p:nvSpPr>
              <p:spPr bwMode="auto">
                <a:xfrm flipV="1">
                  <a:off x="2361128" y="5626621"/>
                  <a:ext cx="680728" cy="0"/>
                </a:xfrm>
                <a:prstGeom prst="line">
                  <a:avLst/>
                </a:prstGeom>
                <a:noFill/>
                <a:ln w="9525">
                  <a:solidFill>
                    <a:schemeClr val="tx1"/>
                  </a:solidFill>
                  <a:round/>
                  <a:headEnd type="none" w="sm" len="sm"/>
                  <a:tailEnd type="oval" w="med" len="med"/>
                </a:ln>
                <a:effectLst/>
              </p:spPr>
              <p:txBody>
                <a:bodyPr wrap="none" lIns="90000" tIns="46800" rIns="90000" bIns="46800" anchor="ctr"/>
                <a:lstStyle/>
                <a:p>
                  <a:endParaRPr lang="ja-JP" altLang="en-US"/>
                </a:p>
              </p:txBody>
            </p:sp>
          </p:grpSp>
          <p:grpSp>
            <p:nvGrpSpPr>
              <p:cNvPr id="758" name="グループ化 757"/>
              <p:cNvGrpSpPr/>
              <p:nvPr/>
            </p:nvGrpSpPr>
            <p:grpSpPr>
              <a:xfrm>
                <a:off x="4034971" y="2850249"/>
                <a:ext cx="1080010" cy="1170013"/>
                <a:chOff x="1871970" y="2562739"/>
                <a:chExt cx="1890019" cy="2559383"/>
              </a:xfrm>
            </p:grpSpPr>
            <p:grpSp>
              <p:nvGrpSpPr>
                <p:cNvPr id="759" name="グループ化 758"/>
                <p:cNvGrpSpPr/>
                <p:nvPr/>
              </p:nvGrpSpPr>
              <p:grpSpPr>
                <a:xfrm>
                  <a:off x="2996967" y="4942097"/>
                  <a:ext cx="360048" cy="180025"/>
                  <a:chOff x="1736601" y="2511982"/>
                  <a:chExt cx="360048" cy="180025"/>
                </a:xfrm>
              </p:grpSpPr>
              <p:cxnSp>
                <p:nvCxnSpPr>
                  <p:cNvPr id="779" name="直線コネクタ 778"/>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80" name="直線コネクタ 779"/>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81" name="直線コネクタ 780"/>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760" name="グループ化 759"/>
                <p:cNvGrpSpPr/>
                <p:nvPr/>
              </p:nvGrpSpPr>
              <p:grpSpPr>
                <a:xfrm>
                  <a:off x="2861981" y="4059007"/>
                  <a:ext cx="270036" cy="360048"/>
                  <a:chOff x="6282228" y="1988808"/>
                  <a:chExt cx="270036" cy="360048"/>
                </a:xfrm>
              </p:grpSpPr>
              <p:cxnSp>
                <p:nvCxnSpPr>
                  <p:cNvPr id="775" name="直線コネクタ 774"/>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6" name="直線コネクタ 775"/>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7" name="直線コネクタ 776"/>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8" name="直線コネクタ 777"/>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61" name="直線コネクタ 760"/>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762" name="直線コネクタ 761"/>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763" name="直線コネクタ 762"/>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764"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65"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766" name="グループ化 765"/>
                <p:cNvGrpSpPr/>
                <p:nvPr/>
              </p:nvGrpSpPr>
              <p:grpSpPr>
                <a:xfrm>
                  <a:off x="2771980" y="2978995"/>
                  <a:ext cx="360048" cy="360048"/>
                  <a:chOff x="3131808" y="1628760"/>
                  <a:chExt cx="360048" cy="360048"/>
                </a:xfrm>
              </p:grpSpPr>
              <p:cxnSp>
                <p:nvCxnSpPr>
                  <p:cNvPr id="770" name="直線コネクタ 769"/>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1" name="直線コネクタ 770"/>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2" name="直線コネクタ 771"/>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3" name="直線コネクタ 772"/>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774" name="円/楕円 773"/>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767" name="直線コネクタ 766"/>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768" name="直線コネクタ 767"/>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769" name="直線コネクタ 768"/>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sp>
          <p:nvSpPr>
            <p:cNvPr id="814" name="Freeform 10"/>
            <p:cNvSpPr>
              <a:spLocks/>
            </p:cNvSpPr>
            <p:nvPr/>
          </p:nvSpPr>
          <p:spPr bwMode="auto">
            <a:xfrm rot="5400000" flipV="1">
              <a:off x="2872962" y="1799980"/>
              <a:ext cx="432000"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815" name="Freeform 10"/>
            <p:cNvSpPr>
              <a:spLocks/>
            </p:cNvSpPr>
            <p:nvPr/>
          </p:nvSpPr>
          <p:spPr bwMode="auto">
            <a:xfrm rot="5400000" flipH="1" flipV="1">
              <a:off x="2836962" y="2673996"/>
              <a:ext cx="504000" cy="45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grpSp>
          <p:nvGrpSpPr>
            <p:cNvPr id="1191" name="グループ化 1190"/>
            <p:cNvGrpSpPr/>
            <p:nvPr/>
          </p:nvGrpSpPr>
          <p:grpSpPr>
            <a:xfrm>
              <a:off x="793934" y="3609002"/>
              <a:ext cx="2070023" cy="1080012"/>
              <a:chOff x="2250893" y="4059365"/>
              <a:chExt cx="4590049" cy="2535526"/>
            </a:xfrm>
          </p:grpSpPr>
          <p:grpSp>
            <p:nvGrpSpPr>
              <p:cNvPr id="1192" name="グループ化 1191"/>
              <p:cNvGrpSpPr/>
              <p:nvPr/>
            </p:nvGrpSpPr>
            <p:grpSpPr>
              <a:xfrm>
                <a:off x="3150902" y="5424878"/>
                <a:ext cx="1080010" cy="1170013"/>
                <a:chOff x="1871970" y="2562739"/>
                <a:chExt cx="1890019" cy="2559383"/>
              </a:xfrm>
            </p:grpSpPr>
            <p:grpSp>
              <p:nvGrpSpPr>
                <p:cNvPr id="1326" name="グループ化 1325"/>
                <p:cNvGrpSpPr/>
                <p:nvPr/>
              </p:nvGrpSpPr>
              <p:grpSpPr>
                <a:xfrm>
                  <a:off x="2996967" y="4942097"/>
                  <a:ext cx="360048" cy="180025"/>
                  <a:chOff x="1736601" y="2511982"/>
                  <a:chExt cx="360048" cy="180025"/>
                </a:xfrm>
              </p:grpSpPr>
              <p:cxnSp>
                <p:nvCxnSpPr>
                  <p:cNvPr id="1346" name="直線コネクタ 1345"/>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7" name="直線コネクタ 1346"/>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8" name="直線コネクタ 1347"/>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27" name="グループ化 1326"/>
                <p:cNvGrpSpPr/>
                <p:nvPr/>
              </p:nvGrpSpPr>
              <p:grpSpPr>
                <a:xfrm>
                  <a:off x="2861981" y="4059007"/>
                  <a:ext cx="270036" cy="360048"/>
                  <a:chOff x="6282228" y="1988808"/>
                  <a:chExt cx="270036" cy="360048"/>
                </a:xfrm>
              </p:grpSpPr>
              <p:cxnSp>
                <p:nvCxnSpPr>
                  <p:cNvPr id="1342" name="直線コネクタ 134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3" name="直線コネクタ 134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4" name="直線コネクタ 134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5" name="直線コネクタ 134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28" name="直線コネクタ 1327"/>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29" name="直線コネクタ 1328"/>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30" name="直線コネクタ 1329"/>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331"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32"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333" name="グループ化 1332"/>
                <p:cNvGrpSpPr/>
                <p:nvPr/>
              </p:nvGrpSpPr>
              <p:grpSpPr>
                <a:xfrm>
                  <a:off x="2771980" y="2978995"/>
                  <a:ext cx="360048" cy="360048"/>
                  <a:chOff x="3131808" y="1628760"/>
                  <a:chExt cx="360048" cy="360048"/>
                </a:xfrm>
              </p:grpSpPr>
              <p:cxnSp>
                <p:nvCxnSpPr>
                  <p:cNvPr id="1337" name="直線コネクタ 133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38" name="直線コネクタ 133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39" name="直線コネクタ 133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0" name="直線コネクタ 133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41" name="円/楕円 134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334" name="直線コネクタ 1333"/>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35" name="直線コネクタ 1334"/>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36" name="直線コネクタ 1335"/>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193" name="グループ化 1192"/>
              <p:cNvGrpSpPr/>
              <p:nvPr/>
            </p:nvGrpSpPr>
            <p:grpSpPr>
              <a:xfrm rot="10800000">
                <a:off x="3150902" y="4059365"/>
                <a:ext cx="1080010" cy="1170013"/>
                <a:chOff x="1871970" y="2562739"/>
                <a:chExt cx="1890019" cy="2559383"/>
              </a:xfrm>
            </p:grpSpPr>
            <p:grpSp>
              <p:nvGrpSpPr>
                <p:cNvPr id="1303" name="グループ化 1302"/>
                <p:cNvGrpSpPr/>
                <p:nvPr/>
              </p:nvGrpSpPr>
              <p:grpSpPr>
                <a:xfrm>
                  <a:off x="2996967" y="4942097"/>
                  <a:ext cx="360048" cy="180025"/>
                  <a:chOff x="1736601" y="2511982"/>
                  <a:chExt cx="360048" cy="180025"/>
                </a:xfrm>
              </p:grpSpPr>
              <p:cxnSp>
                <p:nvCxnSpPr>
                  <p:cNvPr id="1323" name="直線コネクタ 1322"/>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4" name="直線コネクタ 1323"/>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5" name="直線コネクタ 1324"/>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04" name="グループ化 1303"/>
                <p:cNvGrpSpPr/>
                <p:nvPr/>
              </p:nvGrpSpPr>
              <p:grpSpPr>
                <a:xfrm>
                  <a:off x="2861981" y="4059007"/>
                  <a:ext cx="270036" cy="360048"/>
                  <a:chOff x="6282228" y="1988808"/>
                  <a:chExt cx="270036" cy="360048"/>
                </a:xfrm>
              </p:grpSpPr>
              <p:cxnSp>
                <p:nvCxnSpPr>
                  <p:cNvPr id="1319" name="直線コネクタ 13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0" name="直線コネクタ 13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1" name="直線コネクタ 13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2" name="直線コネクタ 13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05" name="直線コネクタ 1304"/>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06" name="直線コネクタ 1305"/>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07" name="直線コネクタ 1306"/>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308"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09"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310" name="グループ化 1309"/>
                <p:cNvGrpSpPr/>
                <p:nvPr/>
              </p:nvGrpSpPr>
              <p:grpSpPr>
                <a:xfrm>
                  <a:off x="2771980" y="2978995"/>
                  <a:ext cx="360048" cy="360048"/>
                  <a:chOff x="3131808" y="1628760"/>
                  <a:chExt cx="360048" cy="360048"/>
                </a:xfrm>
              </p:grpSpPr>
              <p:cxnSp>
                <p:nvCxnSpPr>
                  <p:cNvPr id="1314" name="直線コネクタ 131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15" name="直線コネクタ 131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16" name="直線コネクタ 131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17" name="直線コネクタ 131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18" name="円/楕円 131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311" name="直線コネクタ 1310"/>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12" name="直線コネクタ 1311"/>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13" name="直線コネクタ 1312"/>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194" name="Line 46"/>
              <p:cNvSpPr>
                <a:spLocks noChangeShapeType="1"/>
              </p:cNvSpPr>
              <p:nvPr/>
            </p:nvSpPr>
            <p:spPr bwMode="auto">
              <a:xfrm flipV="1">
                <a:off x="4230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195" name="グループ化 1194"/>
              <p:cNvGrpSpPr/>
              <p:nvPr/>
            </p:nvGrpSpPr>
            <p:grpSpPr>
              <a:xfrm rot="5400000">
                <a:off x="2565879" y="5829899"/>
                <a:ext cx="270041" cy="180007"/>
                <a:chOff x="1601967" y="3609002"/>
                <a:chExt cx="540039" cy="360048"/>
              </a:xfrm>
            </p:grpSpPr>
            <p:grpSp>
              <p:nvGrpSpPr>
                <p:cNvPr id="1292" name="グループ化 1291"/>
                <p:cNvGrpSpPr/>
                <p:nvPr/>
              </p:nvGrpSpPr>
              <p:grpSpPr>
                <a:xfrm rot="10800000">
                  <a:off x="1871970" y="3609002"/>
                  <a:ext cx="270036" cy="360048"/>
                  <a:chOff x="6282228" y="1988808"/>
                  <a:chExt cx="270036" cy="360048"/>
                </a:xfrm>
              </p:grpSpPr>
              <p:cxnSp>
                <p:nvCxnSpPr>
                  <p:cNvPr id="1299" name="直線コネクタ 129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0" name="直線コネクタ 129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1" name="直線コネクタ 130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2" name="直線コネクタ 130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93" name="グループ化 1292"/>
                <p:cNvGrpSpPr/>
                <p:nvPr/>
              </p:nvGrpSpPr>
              <p:grpSpPr>
                <a:xfrm>
                  <a:off x="1601967" y="3609002"/>
                  <a:ext cx="360048" cy="360048"/>
                  <a:chOff x="3131808" y="1628760"/>
                  <a:chExt cx="360048" cy="360048"/>
                </a:xfrm>
              </p:grpSpPr>
              <p:cxnSp>
                <p:nvCxnSpPr>
                  <p:cNvPr id="1294" name="直線コネクタ 129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5" name="直線コネクタ 129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6" name="直線コネクタ 129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7" name="直線コネクタ 129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98" name="円/楕円 129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1196" name="グループ化 1195"/>
              <p:cNvGrpSpPr/>
              <p:nvPr/>
            </p:nvGrpSpPr>
            <p:grpSpPr>
              <a:xfrm>
                <a:off x="2880899" y="5229378"/>
                <a:ext cx="270041" cy="180007"/>
                <a:chOff x="1601967" y="3609002"/>
                <a:chExt cx="540039" cy="360048"/>
              </a:xfrm>
            </p:grpSpPr>
            <p:grpSp>
              <p:nvGrpSpPr>
                <p:cNvPr id="1281" name="グループ化 1280"/>
                <p:cNvGrpSpPr/>
                <p:nvPr/>
              </p:nvGrpSpPr>
              <p:grpSpPr>
                <a:xfrm rot="10800000">
                  <a:off x="1871970" y="3609002"/>
                  <a:ext cx="270036" cy="360048"/>
                  <a:chOff x="6282228" y="1988808"/>
                  <a:chExt cx="270036" cy="360048"/>
                </a:xfrm>
              </p:grpSpPr>
              <p:cxnSp>
                <p:nvCxnSpPr>
                  <p:cNvPr id="1288" name="直線コネクタ 1287"/>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9" name="直線コネクタ 1288"/>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0" name="直線コネクタ 1289"/>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1" name="直線コネクタ 1290"/>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82" name="グループ化 1281"/>
                <p:cNvGrpSpPr/>
                <p:nvPr/>
              </p:nvGrpSpPr>
              <p:grpSpPr>
                <a:xfrm>
                  <a:off x="1601967" y="3609002"/>
                  <a:ext cx="360048" cy="360048"/>
                  <a:chOff x="3131808" y="1628760"/>
                  <a:chExt cx="360048" cy="360048"/>
                </a:xfrm>
              </p:grpSpPr>
              <p:cxnSp>
                <p:nvCxnSpPr>
                  <p:cNvPr id="1283" name="直線コネクタ 1282"/>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4" name="直線コネクタ 1283"/>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5" name="直線コネクタ 1284"/>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6" name="直線コネクタ 1285"/>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87" name="円/楕円 1286"/>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1197" name="Line 46"/>
              <p:cNvSpPr>
                <a:spLocks noChangeShapeType="1"/>
              </p:cNvSpPr>
              <p:nvPr/>
            </p:nvSpPr>
            <p:spPr bwMode="auto">
              <a:xfrm>
                <a:off x="2790898"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198" name="Line 46"/>
              <p:cNvSpPr>
                <a:spLocks noChangeShapeType="1"/>
              </p:cNvSpPr>
              <p:nvPr/>
            </p:nvSpPr>
            <p:spPr bwMode="auto">
              <a:xfrm flipH="1" flipV="1">
                <a:off x="3045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199" name="Line 46"/>
              <p:cNvSpPr>
                <a:spLocks noChangeShapeType="1"/>
              </p:cNvSpPr>
              <p:nvPr/>
            </p:nvSpPr>
            <p:spPr bwMode="auto">
              <a:xfrm flipH="1" flipV="1">
                <a:off x="3029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00" name="Line 46"/>
              <p:cNvSpPr>
                <a:spLocks noChangeShapeType="1"/>
              </p:cNvSpPr>
              <p:nvPr/>
            </p:nvSpPr>
            <p:spPr bwMode="auto">
              <a:xfrm flipV="1">
                <a:off x="3017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01" name="Line 46"/>
              <p:cNvSpPr>
                <a:spLocks noChangeShapeType="1"/>
              </p:cNvSpPr>
              <p:nvPr/>
            </p:nvSpPr>
            <p:spPr bwMode="auto">
              <a:xfrm>
                <a:off x="2250893"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02" name="Line 46"/>
              <p:cNvSpPr>
                <a:spLocks noChangeShapeType="1"/>
              </p:cNvSpPr>
              <p:nvPr/>
            </p:nvSpPr>
            <p:spPr bwMode="auto">
              <a:xfrm flipV="1">
                <a:off x="4230914"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1203" name="グループ化 1202"/>
              <p:cNvGrpSpPr/>
              <p:nvPr/>
            </p:nvGrpSpPr>
            <p:grpSpPr>
              <a:xfrm>
                <a:off x="5220924" y="5424878"/>
                <a:ext cx="1080010" cy="1170013"/>
                <a:chOff x="1871970" y="2562739"/>
                <a:chExt cx="1890019" cy="2559383"/>
              </a:xfrm>
            </p:grpSpPr>
            <p:grpSp>
              <p:nvGrpSpPr>
                <p:cNvPr id="1258" name="グループ化 1257"/>
                <p:cNvGrpSpPr/>
                <p:nvPr/>
              </p:nvGrpSpPr>
              <p:grpSpPr>
                <a:xfrm>
                  <a:off x="2996967" y="4942097"/>
                  <a:ext cx="360048" cy="180025"/>
                  <a:chOff x="1736601" y="2511982"/>
                  <a:chExt cx="360048" cy="180025"/>
                </a:xfrm>
              </p:grpSpPr>
              <p:cxnSp>
                <p:nvCxnSpPr>
                  <p:cNvPr id="1278" name="直線コネクタ 1277"/>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9" name="直線コネクタ 1278"/>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0" name="直線コネクタ 1279"/>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59" name="グループ化 1258"/>
                <p:cNvGrpSpPr/>
                <p:nvPr/>
              </p:nvGrpSpPr>
              <p:grpSpPr>
                <a:xfrm>
                  <a:off x="2861981" y="4059007"/>
                  <a:ext cx="270036" cy="360048"/>
                  <a:chOff x="6282228" y="1988808"/>
                  <a:chExt cx="270036" cy="360048"/>
                </a:xfrm>
              </p:grpSpPr>
              <p:cxnSp>
                <p:nvCxnSpPr>
                  <p:cNvPr id="1274" name="直線コネクタ 127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5" name="直線コネクタ 127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6" name="直線コネクタ 127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7" name="直線コネクタ 127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260" name="直線コネクタ 1259"/>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261" name="直線コネクタ 1260"/>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262" name="直線コネクタ 1261"/>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263"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264"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265" name="グループ化 1264"/>
                <p:cNvGrpSpPr/>
                <p:nvPr/>
              </p:nvGrpSpPr>
              <p:grpSpPr>
                <a:xfrm>
                  <a:off x="2771980" y="2978995"/>
                  <a:ext cx="360048" cy="360048"/>
                  <a:chOff x="3131808" y="1628760"/>
                  <a:chExt cx="360048" cy="360048"/>
                </a:xfrm>
              </p:grpSpPr>
              <p:cxnSp>
                <p:nvCxnSpPr>
                  <p:cNvPr id="1269" name="直線コネクタ 126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0" name="直線コネクタ 126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1" name="直線コネクタ 127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2" name="直線コネクタ 127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73" name="円/楕円 127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266" name="直線コネクタ 1265"/>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267" name="直線コネクタ 1266"/>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268" name="直線コネクタ 1267"/>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04" name="グループ化 1203"/>
              <p:cNvGrpSpPr/>
              <p:nvPr/>
            </p:nvGrpSpPr>
            <p:grpSpPr>
              <a:xfrm rot="10800000">
                <a:off x="5220924" y="4059365"/>
                <a:ext cx="1080010" cy="1170013"/>
                <a:chOff x="1871970" y="2562739"/>
                <a:chExt cx="1890019" cy="2559383"/>
              </a:xfrm>
            </p:grpSpPr>
            <p:grpSp>
              <p:nvGrpSpPr>
                <p:cNvPr id="1235" name="グループ化 1234"/>
                <p:cNvGrpSpPr/>
                <p:nvPr/>
              </p:nvGrpSpPr>
              <p:grpSpPr>
                <a:xfrm>
                  <a:off x="2996967" y="4942097"/>
                  <a:ext cx="360048" cy="180025"/>
                  <a:chOff x="1736601" y="2511982"/>
                  <a:chExt cx="360048" cy="180025"/>
                </a:xfrm>
              </p:grpSpPr>
              <p:cxnSp>
                <p:nvCxnSpPr>
                  <p:cNvPr id="1255" name="直線コネクタ 1254"/>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6" name="直線コネクタ 1255"/>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7" name="直線コネクタ 1256"/>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36" name="グループ化 1235"/>
                <p:cNvGrpSpPr/>
                <p:nvPr/>
              </p:nvGrpSpPr>
              <p:grpSpPr>
                <a:xfrm>
                  <a:off x="2861981" y="4059007"/>
                  <a:ext cx="270036" cy="360048"/>
                  <a:chOff x="6282228" y="1988808"/>
                  <a:chExt cx="270036" cy="360048"/>
                </a:xfrm>
              </p:grpSpPr>
              <p:cxnSp>
                <p:nvCxnSpPr>
                  <p:cNvPr id="1251" name="直線コネクタ 125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2" name="直線コネクタ 125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3" name="直線コネクタ 125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4" name="直線コネクタ 125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237" name="直線コネクタ 1236"/>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238" name="直線コネクタ 1237"/>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239" name="直線コネクタ 1238"/>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240"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241"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242" name="グループ化 1241"/>
                <p:cNvGrpSpPr/>
                <p:nvPr/>
              </p:nvGrpSpPr>
              <p:grpSpPr>
                <a:xfrm>
                  <a:off x="2771980" y="2978995"/>
                  <a:ext cx="360048" cy="360048"/>
                  <a:chOff x="3131808" y="1628760"/>
                  <a:chExt cx="360048" cy="360048"/>
                </a:xfrm>
              </p:grpSpPr>
              <p:cxnSp>
                <p:nvCxnSpPr>
                  <p:cNvPr id="1246" name="直線コネクタ 124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7" name="直線コネクタ 124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8" name="直線コネクタ 124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9" name="直線コネクタ 124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50" name="円/楕円 124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243" name="直線コネクタ 1242"/>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244" name="直線コネクタ 1243"/>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245" name="直線コネクタ 1244"/>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205" name="Line 46"/>
              <p:cNvSpPr>
                <a:spLocks noChangeShapeType="1"/>
              </p:cNvSpPr>
              <p:nvPr/>
            </p:nvSpPr>
            <p:spPr bwMode="auto">
              <a:xfrm flipV="1">
                <a:off x="6300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206" name="グループ化 1205"/>
              <p:cNvGrpSpPr/>
              <p:nvPr/>
            </p:nvGrpSpPr>
            <p:grpSpPr>
              <a:xfrm rot="5400000">
                <a:off x="4635901" y="5829899"/>
                <a:ext cx="270041" cy="180007"/>
                <a:chOff x="1601967" y="3609002"/>
                <a:chExt cx="540039" cy="360048"/>
              </a:xfrm>
            </p:grpSpPr>
            <p:grpSp>
              <p:nvGrpSpPr>
                <p:cNvPr id="1224" name="グループ化 1223"/>
                <p:cNvGrpSpPr/>
                <p:nvPr/>
              </p:nvGrpSpPr>
              <p:grpSpPr>
                <a:xfrm rot="10800000">
                  <a:off x="1871970" y="3609002"/>
                  <a:ext cx="270036" cy="360048"/>
                  <a:chOff x="6282228" y="1988808"/>
                  <a:chExt cx="270036" cy="360048"/>
                </a:xfrm>
              </p:grpSpPr>
              <p:cxnSp>
                <p:nvCxnSpPr>
                  <p:cNvPr id="1231" name="直線コネクタ 123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2" name="直線コネクタ 123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3" name="直線コネクタ 123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4" name="直線コネクタ 123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25" name="グループ化 1224"/>
                <p:cNvGrpSpPr/>
                <p:nvPr/>
              </p:nvGrpSpPr>
              <p:grpSpPr>
                <a:xfrm>
                  <a:off x="1601967" y="3609002"/>
                  <a:ext cx="360048" cy="360048"/>
                  <a:chOff x="3131808" y="1628760"/>
                  <a:chExt cx="360048" cy="360048"/>
                </a:xfrm>
              </p:grpSpPr>
              <p:cxnSp>
                <p:nvCxnSpPr>
                  <p:cNvPr id="1226" name="直線コネクタ 122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7" name="直線コネクタ 122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8" name="直線コネクタ 122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9" name="直線コネクタ 122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30" name="円/楕円 122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1207" name="グループ化 1206"/>
              <p:cNvGrpSpPr/>
              <p:nvPr/>
            </p:nvGrpSpPr>
            <p:grpSpPr>
              <a:xfrm>
                <a:off x="4950921" y="5229378"/>
                <a:ext cx="270041" cy="180007"/>
                <a:chOff x="1601967" y="3609002"/>
                <a:chExt cx="540039" cy="360048"/>
              </a:xfrm>
            </p:grpSpPr>
            <p:grpSp>
              <p:nvGrpSpPr>
                <p:cNvPr id="1213" name="グループ化 1212"/>
                <p:cNvGrpSpPr/>
                <p:nvPr/>
              </p:nvGrpSpPr>
              <p:grpSpPr>
                <a:xfrm rot="10800000">
                  <a:off x="1871970" y="3609002"/>
                  <a:ext cx="270036" cy="360048"/>
                  <a:chOff x="6282228" y="1988808"/>
                  <a:chExt cx="270036" cy="360048"/>
                </a:xfrm>
              </p:grpSpPr>
              <p:cxnSp>
                <p:nvCxnSpPr>
                  <p:cNvPr id="1220" name="直線コネクタ 121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1" name="直線コネクタ 122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2" name="直線コネクタ 122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3" name="直線コネクタ 122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14" name="グループ化 1213"/>
                <p:cNvGrpSpPr/>
                <p:nvPr/>
              </p:nvGrpSpPr>
              <p:grpSpPr>
                <a:xfrm>
                  <a:off x="1601967" y="3609002"/>
                  <a:ext cx="360048" cy="360048"/>
                  <a:chOff x="3131808" y="1628760"/>
                  <a:chExt cx="360048" cy="360048"/>
                </a:xfrm>
              </p:grpSpPr>
              <p:cxnSp>
                <p:nvCxnSpPr>
                  <p:cNvPr id="1215" name="直線コネクタ 121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16" name="直線コネクタ 121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17" name="直線コネクタ 121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18" name="直線コネクタ 121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19" name="円/楕円 121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1208" name="Line 46"/>
              <p:cNvSpPr>
                <a:spLocks noChangeShapeType="1"/>
              </p:cNvSpPr>
              <p:nvPr/>
            </p:nvSpPr>
            <p:spPr bwMode="auto">
              <a:xfrm>
                <a:off x="4860920"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09" name="Line 46"/>
              <p:cNvSpPr>
                <a:spLocks noChangeShapeType="1"/>
              </p:cNvSpPr>
              <p:nvPr/>
            </p:nvSpPr>
            <p:spPr bwMode="auto">
              <a:xfrm flipH="1" flipV="1">
                <a:off x="5115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210" name="Line 46"/>
              <p:cNvSpPr>
                <a:spLocks noChangeShapeType="1"/>
              </p:cNvSpPr>
              <p:nvPr/>
            </p:nvSpPr>
            <p:spPr bwMode="auto">
              <a:xfrm flipH="1" flipV="1">
                <a:off x="5099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11" name="Line 46"/>
              <p:cNvSpPr>
                <a:spLocks noChangeShapeType="1"/>
              </p:cNvSpPr>
              <p:nvPr/>
            </p:nvSpPr>
            <p:spPr bwMode="auto">
              <a:xfrm flipV="1">
                <a:off x="5087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12" name="Line 46"/>
              <p:cNvSpPr>
                <a:spLocks noChangeShapeType="1"/>
              </p:cNvSpPr>
              <p:nvPr/>
            </p:nvSpPr>
            <p:spPr bwMode="auto">
              <a:xfrm flipV="1">
                <a:off x="6300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grpSp>
          <p:nvGrpSpPr>
            <p:cNvPr id="1349" name="グループ化 1348"/>
            <p:cNvGrpSpPr/>
            <p:nvPr/>
          </p:nvGrpSpPr>
          <p:grpSpPr>
            <a:xfrm>
              <a:off x="793934" y="4959017"/>
              <a:ext cx="2070023" cy="1080012"/>
              <a:chOff x="2250893" y="4059365"/>
              <a:chExt cx="4590049" cy="2535526"/>
            </a:xfrm>
          </p:grpSpPr>
          <p:grpSp>
            <p:nvGrpSpPr>
              <p:cNvPr id="1350" name="グループ化 1349"/>
              <p:cNvGrpSpPr/>
              <p:nvPr/>
            </p:nvGrpSpPr>
            <p:grpSpPr>
              <a:xfrm>
                <a:off x="3150902" y="5424878"/>
                <a:ext cx="1080010" cy="1170013"/>
                <a:chOff x="1871970" y="2562739"/>
                <a:chExt cx="1890019" cy="2559383"/>
              </a:xfrm>
            </p:grpSpPr>
            <p:grpSp>
              <p:nvGrpSpPr>
                <p:cNvPr id="1484" name="グループ化 1483"/>
                <p:cNvGrpSpPr/>
                <p:nvPr/>
              </p:nvGrpSpPr>
              <p:grpSpPr>
                <a:xfrm>
                  <a:off x="2996967" y="4942097"/>
                  <a:ext cx="360048" cy="180025"/>
                  <a:chOff x="1736601" y="2511982"/>
                  <a:chExt cx="360048" cy="180025"/>
                </a:xfrm>
              </p:grpSpPr>
              <p:cxnSp>
                <p:nvCxnSpPr>
                  <p:cNvPr id="1504" name="直線コネクタ 1503"/>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5" name="直線コネクタ 1504"/>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6" name="直線コネクタ 1505"/>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85" name="グループ化 1484"/>
                <p:cNvGrpSpPr/>
                <p:nvPr/>
              </p:nvGrpSpPr>
              <p:grpSpPr>
                <a:xfrm>
                  <a:off x="2861981" y="4059007"/>
                  <a:ext cx="270036" cy="360048"/>
                  <a:chOff x="6282228" y="1988808"/>
                  <a:chExt cx="270036" cy="360048"/>
                </a:xfrm>
              </p:grpSpPr>
              <p:cxnSp>
                <p:nvCxnSpPr>
                  <p:cNvPr id="1500" name="直線コネクタ 149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1" name="直線コネクタ 150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2" name="直線コネクタ 150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3" name="直線コネクタ 150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486" name="直線コネクタ 1485"/>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87" name="直線コネクタ 1486"/>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88" name="直線コネクタ 1487"/>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489"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90"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91" name="グループ化 1490"/>
                <p:cNvGrpSpPr/>
                <p:nvPr/>
              </p:nvGrpSpPr>
              <p:grpSpPr>
                <a:xfrm>
                  <a:off x="2771980" y="2978995"/>
                  <a:ext cx="360048" cy="360048"/>
                  <a:chOff x="3131808" y="1628760"/>
                  <a:chExt cx="360048" cy="360048"/>
                </a:xfrm>
              </p:grpSpPr>
              <p:cxnSp>
                <p:nvCxnSpPr>
                  <p:cNvPr id="1495" name="直線コネクタ 149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96" name="直線コネクタ 149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97" name="直線コネクタ 149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98" name="直線コネクタ 149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99" name="円/楕円 149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492" name="直線コネクタ 1491"/>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93" name="直線コネクタ 1492"/>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94" name="直線コネクタ 1493"/>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51" name="グループ化 1350"/>
              <p:cNvGrpSpPr/>
              <p:nvPr/>
            </p:nvGrpSpPr>
            <p:grpSpPr>
              <a:xfrm rot="10800000">
                <a:off x="3150902" y="4059365"/>
                <a:ext cx="1080010" cy="1170013"/>
                <a:chOff x="1871970" y="2562739"/>
                <a:chExt cx="1890019" cy="2559383"/>
              </a:xfrm>
            </p:grpSpPr>
            <p:grpSp>
              <p:nvGrpSpPr>
                <p:cNvPr id="1461" name="グループ化 1460"/>
                <p:cNvGrpSpPr/>
                <p:nvPr/>
              </p:nvGrpSpPr>
              <p:grpSpPr>
                <a:xfrm>
                  <a:off x="2996967" y="4942097"/>
                  <a:ext cx="360048" cy="180025"/>
                  <a:chOff x="1736601" y="2511982"/>
                  <a:chExt cx="360048" cy="180025"/>
                </a:xfrm>
              </p:grpSpPr>
              <p:cxnSp>
                <p:nvCxnSpPr>
                  <p:cNvPr id="1481" name="直線コネクタ 1480"/>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82" name="直線コネクタ 1481"/>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83" name="直線コネクタ 1482"/>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62" name="グループ化 1461"/>
                <p:cNvGrpSpPr/>
                <p:nvPr/>
              </p:nvGrpSpPr>
              <p:grpSpPr>
                <a:xfrm>
                  <a:off x="2861981" y="4059007"/>
                  <a:ext cx="270036" cy="360048"/>
                  <a:chOff x="6282228" y="1988808"/>
                  <a:chExt cx="270036" cy="360048"/>
                </a:xfrm>
              </p:grpSpPr>
              <p:cxnSp>
                <p:nvCxnSpPr>
                  <p:cNvPr id="1477" name="直線コネクタ 1476"/>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8" name="直線コネクタ 1477"/>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9" name="直線コネクタ 1478"/>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80" name="直線コネクタ 1479"/>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463" name="直線コネクタ 1462"/>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64" name="直線コネクタ 1463"/>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65" name="直線コネクタ 1464"/>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466"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67"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68" name="グループ化 1467"/>
                <p:cNvGrpSpPr/>
                <p:nvPr/>
              </p:nvGrpSpPr>
              <p:grpSpPr>
                <a:xfrm>
                  <a:off x="2771980" y="2978995"/>
                  <a:ext cx="360048" cy="360048"/>
                  <a:chOff x="3131808" y="1628760"/>
                  <a:chExt cx="360048" cy="360048"/>
                </a:xfrm>
              </p:grpSpPr>
              <p:cxnSp>
                <p:nvCxnSpPr>
                  <p:cNvPr id="1472" name="直線コネクタ 1471"/>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3" name="直線コネクタ 1472"/>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4" name="直線コネクタ 1473"/>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5" name="直線コネクタ 1474"/>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76" name="円/楕円 1475"/>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469" name="直線コネクタ 1468"/>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70" name="直線コネクタ 1469"/>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71" name="直線コネクタ 1470"/>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352" name="Line 46"/>
              <p:cNvSpPr>
                <a:spLocks noChangeShapeType="1"/>
              </p:cNvSpPr>
              <p:nvPr/>
            </p:nvSpPr>
            <p:spPr bwMode="auto">
              <a:xfrm flipV="1">
                <a:off x="4230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353" name="グループ化 1352"/>
              <p:cNvGrpSpPr/>
              <p:nvPr/>
            </p:nvGrpSpPr>
            <p:grpSpPr>
              <a:xfrm rot="5400000">
                <a:off x="2565879" y="5829899"/>
                <a:ext cx="270041" cy="180007"/>
                <a:chOff x="1601967" y="3609002"/>
                <a:chExt cx="540039" cy="360048"/>
              </a:xfrm>
            </p:grpSpPr>
            <p:grpSp>
              <p:nvGrpSpPr>
                <p:cNvPr id="1450" name="グループ化 1449"/>
                <p:cNvGrpSpPr/>
                <p:nvPr/>
              </p:nvGrpSpPr>
              <p:grpSpPr>
                <a:xfrm rot="10800000">
                  <a:off x="1871970" y="3609002"/>
                  <a:ext cx="270036" cy="360048"/>
                  <a:chOff x="6282228" y="1988808"/>
                  <a:chExt cx="270036" cy="360048"/>
                </a:xfrm>
              </p:grpSpPr>
              <p:cxnSp>
                <p:nvCxnSpPr>
                  <p:cNvPr id="1457" name="直線コネクタ 1456"/>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8" name="直線コネクタ 1457"/>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9" name="直線コネクタ 1458"/>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60" name="直線コネクタ 1459"/>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51" name="グループ化 1450"/>
                <p:cNvGrpSpPr/>
                <p:nvPr/>
              </p:nvGrpSpPr>
              <p:grpSpPr>
                <a:xfrm>
                  <a:off x="1601967" y="3609002"/>
                  <a:ext cx="360048" cy="360048"/>
                  <a:chOff x="3131808" y="1628760"/>
                  <a:chExt cx="360048" cy="360048"/>
                </a:xfrm>
              </p:grpSpPr>
              <p:cxnSp>
                <p:nvCxnSpPr>
                  <p:cNvPr id="1452" name="直線コネクタ 1451"/>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3" name="直線コネクタ 1452"/>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4" name="直線コネクタ 1453"/>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5" name="直線コネクタ 1454"/>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56" name="円/楕円 1455"/>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1354" name="グループ化 1353"/>
              <p:cNvGrpSpPr/>
              <p:nvPr/>
            </p:nvGrpSpPr>
            <p:grpSpPr>
              <a:xfrm>
                <a:off x="2880899" y="5229378"/>
                <a:ext cx="270041" cy="180007"/>
                <a:chOff x="1601967" y="3609002"/>
                <a:chExt cx="540039" cy="360048"/>
              </a:xfrm>
            </p:grpSpPr>
            <p:grpSp>
              <p:nvGrpSpPr>
                <p:cNvPr id="1439" name="グループ化 1438"/>
                <p:cNvGrpSpPr/>
                <p:nvPr/>
              </p:nvGrpSpPr>
              <p:grpSpPr>
                <a:xfrm rot="10800000">
                  <a:off x="1871970" y="3609002"/>
                  <a:ext cx="270036" cy="360048"/>
                  <a:chOff x="6282228" y="1988808"/>
                  <a:chExt cx="270036" cy="360048"/>
                </a:xfrm>
              </p:grpSpPr>
              <p:cxnSp>
                <p:nvCxnSpPr>
                  <p:cNvPr id="1446" name="直線コネクタ 1445"/>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7" name="直線コネクタ 1446"/>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8" name="直線コネクタ 1447"/>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9" name="直線コネクタ 1448"/>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40" name="グループ化 1439"/>
                <p:cNvGrpSpPr/>
                <p:nvPr/>
              </p:nvGrpSpPr>
              <p:grpSpPr>
                <a:xfrm>
                  <a:off x="1601967" y="3609002"/>
                  <a:ext cx="360048" cy="360048"/>
                  <a:chOff x="3131808" y="1628760"/>
                  <a:chExt cx="360048" cy="360048"/>
                </a:xfrm>
              </p:grpSpPr>
              <p:cxnSp>
                <p:nvCxnSpPr>
                  <p:cNvPr id="1441" name="直線コネクタ 1440"/>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2" name="直線コネクタ 1441"/>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3" name="直線コネクタ 1442"/>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4" name="直線コネクタ 1443"/>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45" name="円/楕円 1444"/>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1355" name="Line 46"/>
              <p:cNvSpPr>
                <a:spLocks noChangeShapeType="1"/>
              </p:cNvSpPr>
              <p:nvPr/>
            </p:nvSpPr>
            <p:spPr bwMode="auto">
              <a:xfrm>
                <a:off x="2790898"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56" name="Line 46"/>
              <p:cNvSpPr>
                <a:spLocks noChangeShapeType="1"/>
              </p:cNvSpPr>
              <p:nvPr/>
            </p:nvSpPr>
            <p:spPr bwMode="auto">
              <a:xfrm flipH="1" flipV="1">
                <a:off x="3045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357" name="Line 46"/>
              <p:cNvSpPr>
                <a:spLocks noChangeShapeType="1"/>
              </p:cNvSpPr>
              <p:nvPr/>
            </p:nvSpPr>
            <p:spPr bwMode="auto">
              <a:xfrm flipH="1" flipV="1">
                <a:off x="3029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58" name="Line 46"/>
              <p:cNvSpPr>
                <a:spLocks noChangeShapeType="1"/>
              </p:cNvSpPr>
              <p:nvPr/>
            </p:nvSpPr>
            <p:spPr bwMode="auto">
              <a:xfrm flipV="1">
                <a:off x="3017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59" name="Line 46"/>
              <p:cNvSpPr>
                <a:spLocks noChangeShapeType="1"/>
              </p:cNvSpPr>
              <p:nvPr/>
            </p:nvSpPr>
            <p:spPr bwMode="auto">
              <a:xfrm>
                <a:off x="2250893"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60" name="Line 46"/>
              <p:cNvSpPr>
                <a:spLocks noChangeShapeType="1"/>
              </p:cNvSpPr>
              <p:nvPr/>
            </p:nvSpPr>
            <p:spPr bwMode="auto">
              <a:xfrm flipV="1">
                <a:off x="4230914"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1361" name="グループ化 1360"/>
              <p:cNvGrpSpPr/>
              <p:nvPr/>
            </p:nvGrpSpPr>
            <p:grpSpPr>
              <a:xfrm>
                <a:off x="5220924" y="5424878"/>
                <a:ext cx="1080010" cy="1170013"/>
                <a:chOff x="1871970" y="2562739"/>
                <a:chExt cx="1890019" cy="2559383"/>
              </a:xfrm>
            </p:grpSpPr>
            <p:grpSp>
              <p:nvGrpSpPr>
                <p:cNvPr id="1416" name="グループ化 1415"/>
                <p:cNvGrpSpPr/>
                <p:nvPr/>
              </p:nvGrpSpPr>
              <p:grpSpPr>
                <a:xfrm>
                  <a:off x="2996967" y="4942097"/>
                  <a:ext cx="360048" cy="180025"/>
                  <a:chOff x="1736601" y="2511982"/>
                  <a:chExt cx="360048" cy="180025"/>
                </a:xfrm>
              </p:grpSpPr>
              <p:cxnSp>
                <p:nvCxnSpPr>
                  <p:cNvPr id="1436" name="直線コネクタ 1435"/>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7" name="直線コネクタ 1436"/>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8" name="直線コネクタ 1437"/>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17" name="グループ化 1416"/>
                <p:cNvGrpSpPr/>
                <p:nvPr/>
              </p:nvGrpSpPr>
              <p:grpSpPr>
                <a:xfrm>
                  <a:off x="2861981" y="4059007"/>
                  <a:ext cx="270036" cy="360048"/>
                  <a:chOff x="6282228" y="1988808"/>
                  <a:chExt cx="270036" cy="360048"/>
                </a:xfrm>
              </p:grpSpPr>
              <p:cxnSp>
                <p:nvCxnSpPr>
                  <p:cNvPr id="1432" name="直線コネクタ 143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3" name="直線コネクタ 143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4" name="直線コネクタ 143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5" name="直線コネクタ 143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418" name="直線コネクタ 1417"/>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19" name="直線コネクタ 1418"/>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20" name="直線コネクタ 1419"/>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421"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22"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23" name="グループ化 1422"/>
                <p:cNvGrpSpPr/>
                <p:nvPr/>
              </p:nvGrpSpPr>
              <p:grpSpPr>
                <a:xfrm>
                  <a:off x="2771980" y="2978995"/>
                  <a:ext cx="360048" cy="360048"/>
                  <a:chOff x="3131808" y="1628760"/>
                  <a:chExt cx="360048" cy="360048"/>
                </a:xfrm>
              </p:grpSpPr>
              <p:cxnSp>
                <p:nvCxnSpPr>
                  <p:cNvPr id="1427" name="直線コネクタ 142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28" name="直線コネクタ 142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29" name="直線コネクタ 142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0" name="直線コネクタ 142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31" name="円/楕円 143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424" name="直線コネクタ 1423"/>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25" name="直線コネクタ 1424"/>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26" name="直線コネクタ 1425"/>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62" name="グループ化 1361"/>
              <p:cNvGrpSpPr/>
              <p:nvPr/>
            </p:nvGrpSpPr>
            <p:grpSpPr>
              <a:xfrm rot="10800000">
                <a:off x="5220924" y="4059365"/>
                <a:ext cx="1080010" cy="1170013"/>
                <a:chOff x="1871970" y="2562739"/>
                <a:chExt cx="1890019" cy="2559383"/>
              </a:xfrm>
            </p:grpSpPr>
            <p:grpSp>
              <p:nvGrpSpPr>
                <p:cNvPr id="1393" name="グループ化 1392"/>
                <p:cNvGrpSpPr/>
                <p:nvPr/>
              </p:nvGrpSpPr>
              <p:grpSpPr>
                <a:xfrm>
                  <a:off x="2996967" y="4942097"/>
                  <a:ext cx="360048" cy="180025"/>
                  <a:chOff x="1736601" y="2511982"/>
                  <a:chExt cx="360048" cy="180025"/>
                </a:xfrm>
              </p:grpSpPr>
              <p:cxnSp>
                <p:nvCxnSpPr>
                  <p:cNvPr id="1413" name="直線コネクタ 1412"/>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4" name="直線コネクタ 1413"/>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5" name="直線コネクタ 1414"/>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94" name="グループ化 1393"/>
                <p:cNvGrpSpPr/>
                <p:nvPr/>
              </p:nvGrpSpPr>
              <p:grpSpPr>
                <a:xfrm>
                  <a:off x="2861981" y="4059007"/>
                  <a:ext cx="270036" cy="360048"/>
                  <a:chOff x="6282228" y="1988808"/>
                  <a:chExt cx="270036" cy="360048"/>
                </a:xfrm>
              </p:grpSpPr>
              <p:cxnSp>
                <p:nvCxnSpPr>
                  <p:cNvPr id="1409" name="直線コネクタ 140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0" name="直線コネクタ 140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1" name="直線コネクタ 141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2" name="直線コネクタ 141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95" name="直線コネクタ 1394"/>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96" name="直線コネクタ 1395"/>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97" name="直線コネクタ 1396"/>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398"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99"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00" name="グループ化 1399"/>
                <p:cNvGrpSpPr/>
                <p:nvPr/>
              </p:nvGrpSpPr>
              <p:grpSpPr>
                <a:xfrm>
                  <a:off x="2771980" y="2978995"/>
                  <a:ext cx="360048" cy="360048"/>
                  <a:chOff x="3131808" y="1628760"/>
                  <a:chExt cx="360048" cy="360048"/>
                </a:xfrm>
              </p:grpSpPr>
              <p:cxnSp>
                <p:nvCxnSpPr>
                  <p:cNvPr id="1404" name="直線コネクタ 140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05" name="直線コネクタ 140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06" name="直線コネクタ 140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07" name="直線コネクタ 140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08" name="円/楕円 140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401" name="直線コネクタ 1400"/>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02" name="直線コネクタ 1401"/>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03" name="直線コネクタ 1402"/>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363" name="Line 46"/>
              <p:cNvSpPr>
                <a:spLocks noChangeShapeType="1"/>
              </p:cNvSpPr>
              <p:nvPr/>
            </p:nvSpPr>
            <p:spPr bwMode="auto">
              <a:xfrm flipV="1">
                <a:off x="6300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364" name="グループ化 1363"/>
              <p:cNvGrpSpPr/>
              <p:nvPr/>
            </p:nvGrpSpPr>
            <p:grpSpPr>
              <a:xfrm rot="5400000">
                <a:off x="4635901" y="5829899"/>
                <a:ext cx="270041" cy="180007"/>
                <a:chOff x="1601967" y="3609002"/>
                <a:chExt cx="540039" cy="360048"/>
              </a:xfrm>
            </p:grpSpPr>
            <p:grpSp>
              <p:nvGrpSpPr>
                <p:cNvPr id="1382" name="グループ化 1381"/>
                <p:cNvGrpSpPr/>
                <p:nvPr/>
              </p:nvGrpSpPr>
              <p:grpSpPr>
                <a:xfrm rot="10800000">
                  <a:off x="1871970" y="3609002"/>
                  <a:ext cx="270036" cy="360048"/>
                  <a:chOff x="6282228" y="1988808"/>
                  <a:chExt cx="270036" cy="360048"/>
                </a:xfrm>
              </p:grpSpPr>
              <p:cxnSp>
                <p:nvCxnSpPr>
                  <p:cNvPr id="1389" name="直線コネクタ 138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90" name="直線コネクタ 138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91" name="直線コネクタ 139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92" name="直線コネクタ 139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83" name="グループ化 1382"/>
                <p:cNvGrpSpPr/>
                <p:nvPr/>
              </p:nvGrpSpPr>
              <p:grpSpPr>
                <a:xfrm>
                  <a:off x="1601967" y="3609002"/>
                  <a:ext cx="360048" cy="360048"/>
                  <a:chOff x="3131808" y="1628760"/>
                  <a:chExt cx="360048" cy="360048"/>
                </a:xfrm>
              </p:grpSpPr>
              <p:cxnSp>
                <p:nvCxnSpPr>
                  <p:cNvPr id="1384" name="直線コネクタ 138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5" name="直線コネクタ 138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6" name="直線コネクタ 138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7" name="直線コネクタ 138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88" name="円/楕円 138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1365" name="グループ化 1364"/>
              <p:cNvGrpSpPr/>
              <p:nvPr/>
            </p:nvGrpSpPr>
            <p:grpSpPr>
              <a:xfrm>
                <a:off x="4950921" y="5229378"/>
                <a:ext cx="270041" cy="180007"/>
                <a:chOff x="1601967" y="3609002"/>
                <a:chExt cx="540039" cy="360048"/>
              </a:xfrm>
            </p:grpSpPr>
            <p:grpSp>
              <p:nvGrpSpPr>
                <p:cNvPr id="1371" name="グループ化 1370"/>
                <p:cNvGrpSpPr/>
                <p:nvPr/>
              </p:nvGrpSpPr>
              <p:grpSpPr>
                <a:xfrm rot="10800000">
                  <a:off x="1871970" y="3609002"/>
                  <a:ext cx="270036" cy="360048"/>
                  <a:chOff x="6282228" y="1988808"/>
                  <a:chExt cx="270036" cy="360048"/>
                </a:xfrm>
              </p:grpSpPr>
              <p:cxnSp>
                <p:nvCxnSpPr>
                  <p:cNvPr id="1378" name="直線コネクタ 1377"/>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9" name="直線コネクタ 1378"/>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0" name="直線コネクタ 1379"/>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1" name="直線コネクタ 1380"/>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72" name="グループ化 1371"/>
                <p:cNvGrpSpPr/>
                <p:nvPr/>
              </p:nvGrpSpPr>
              <p:grpSpPr>
                <a:xfrm>
                  <a:off x="1601967" y="3609002"/>
                  <a:ext cx="360048" cy="360048"/>
                  <a:chOff x="3131808" y="1628760"/>
                  <a:chExt cx="360048" cy="360048"/>
                </a:xfrm>
              </p:grpSpPr>
              <p:cxnSp>
                <p:nvCxnSpPr>
                  <p:cNvPr id="1373" name="直線コネクタ 1372"/>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4" name="直線コネクタ 1373"/>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5" name="直線コネクタ 1374"/>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6" name="直線コネクタ 1375"/>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77" name="円/楕円 1376"/>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1366" name="Line 46"/>
              <p:cNvSpPr>
                <a:spLocks noChangeShapeType="1"/>
              </p:cNvSpPr>
              <p:nvPr/>
            </p:nvSpPr>
            <p:spPr bwMode="auto">
              <a:xfrm>
                <a:off x="4860920"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67" name="Line 46"/>
              <p:cNvSpPr>
                <a:spLocks noChangeShapeType="1"/>
              </p:cNvSpPr>
              <p:nvPr/>
            </p:nvSpPr>
            <p:spPr bwMode="auto">
              <a:xfrm flipH="1" flipV="1">
                <a:off x="5115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368" name="Line 46"/>
              <p:cNvSpPr>
                <a:spLocks noChangeShapeType="1"/>
              </p:cNvSpPr>
              <p:nvPr/>
            </p:nvSpPr>
            <p:spPr bwMode="auto">
              <a:xfrm flipH="1" flipV="1">
                <a:off x="5099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69" name="Line 46"/>
              <p:cNvSpPr>
                <a:spLocks noChangeShapeType="1"/>
              </p:cNvSpPr>
              <p:nvPr/>
            </p:nvSpPr>
            <p:spPr bwMode="auto">
              <a:xfrm flipV="1">
                <a:off x="5087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70" name="Line 46"/>
              <p:cNvSpPr>
                <a:spLocks noChangeShapeType="1"/>
              </p:cNvSpPr>
              <p:nvPr/>
            </p:nvSpPr>
            <p:spPr bwMode="auto">
              <a:xfrm flipV="1">
                <a:off x="6300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grpSp>
          <p:nvGrpSpPr>
            <p:cNvPr id="1507" name="グループ化 1506"/>
            <p:cNvGrpSpPr/>
            <p:nvPr/>
          </p:nvGrpSpPr>
          <p:grpSpPr>
            <a:xfrm>
              <a:off x="2593954" y="4689014"/>
              <a:ext cx="1276461" cy="720046"/>
              <a:chOff x="4034971" y="2618991"/>
              <a:chExt cx="2838485" cy="1530055"/>
            </a:xfrm>
          </p:grpSpPr>
          <p:grpSp>
            <p:nvGrpSpPr>
              <p:cNvPr id="1508" name="グループ化 1507"/>
              <p:cNvGrpSpPr/>
              <p:nvPr/>
            </p:nvGrpSpPr>
            <p:grpSpPr>
              <a:xfrm>
                <a:off x="5112005" y="2618991"/>
                <a:ext cx="1761451" cy="1530055"/>
                <a:chOff x="2361128" y="5229020"/>
                <a:chExt cx="1040859" cy="810047"/>
              </a:xfrm>
            </p:grpSpPr>
            <p:grpSp>
              <p:nvGrpSpPr>
                <p:cNvPr id="1533" name="グループ化 1532"/>
                <p:cNvGrpSpPr/>
                <p:nvPr/>
              </p:nvGrpSpPr>
              <p:grpSpPr>
                <a:xfrm rot="16200000">
                  <a:off x="2906965" y="5814043"/>
                  <a:ext cx="270041" cy="180007"/>
                  <a:chOff x="1601967" y="3609002"/>
                  <a:chExt cx="540039" cy="360048"/>
                </a:xfrm>
              </p:grpSpPr>
              <p:grpSp>
                <p:nvGrpSpPr>
                  <p:cNvPr id="1553" name="グループ化 1552"/>
                  <p:cNvGrpSpPr/>
                  <p:nvPr/>
                </p:nvGrpSpPr>
                <p:grpSpPr>
                  <a:xfrm rot="10800000">
                    <a:off x="1871970" y="3609002"/>
                    <a:ext cx="270036" cy="360048"/>
                    <a:chOff x="6282228" y="1988808"/>
                    <a:chExt cx="270036" cy="360048"/>
                  </a:xfrm>
                </p:grpSpPr>
                <p:cxnSp>
                  <p:nvCxnSpPr>
                    <p:cNvPr id="1560" name="直線コネクタ 155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61" name="直線コネクタ 156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62" name="直線コネクタ 156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63" name="直線コネクタ 156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554" name="グループ化 1553"/>
                  <p:cNvGrpSpPr/>
                  <p:nvPr/>
                </p:nvGrpSpPr>
                <p:grpSpPr>
                  <a:xfrm>
                    <a:off x="1601967" y="3609002"/>
                    <a:ext cx="360048" cy="360048"/>
                    <a:chOff x="3131808" y="1628760"/>
                    <a:chExt cx="360048" cy="360048"/>
                  </a:xfrm>
                </p:grpSpPr>
                <p:cxnSp>
                  <p:nvCxnSpPr>
                    <p:cNvPr id="1555" name="直線コネクタ 155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6" name="直線コネクタ 155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7" name="直線コネクタ 155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8" name="直線コネクタ 155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559" name="円/楕円 155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grpSp>
              <p:nvGrpSpPr>
                <p:cNvPr id="1534" name="グループ化 1533"/>
                <p:cNvGrpSpPr/>
                <p:nvPr/>
              </p:nvGrpSpPr>
              <p:grpSpPr>
                <a:xfrm rot="5400000">
                  <a:off x="2906965" y="5274037"/>
                  <a:ext cx="270041" cy="180007"/>
                  <a:chOff x="1601967" y="3609002"/>
                  <a:chExt cx="540039" cy="360048"/>
                </a:xfrm>
              </p:grpSpPr>
              <p:grpSp>
                <p:nvGrpSpPr>
                  <p:cNvPr id="1542" name="グループ化 1541"/>
                  <p:cNvGrpSpPr/>
                  <p:nvPr/>
                </p:nvGrpSpPr>
                <p:grpSpPr>
                  <a:xfrm rot="10800000">
                    <a:off x="1871970" y="3609002"/>
                    <a:ext cx="270036" cy="360048"/>
                    <a:chOff x="6282228" y="1988808"/>
                    <a:chExt cx="270036" cy="360048"/>
                  </a:xfrm>
                </p:grpSpPr>
                <p:cxnSp>
                  <p:nvCxnSpPr>
                    <p:cNvPr id="1549" name="直線コネクタ 154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0" name="直線コネクタ 154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1" name="直線コネクタ 155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2" name="直線コネクタ 155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543" name="グループ化 1542"/>
                  <p:cNvGrpSpPr/>
                  <p:nvPr/>
                </p:nvGrpSpPr>
                <p:grpSpPr>
                  <a:xfrm>
                    <a:off x="1601967" y="3609002"/>
                    <a:ext cx="360048" cy="360048"/>
                    <a:chOff x="3131808" y="1628760"/>
                    <a:chExt cx="360048" cy="360048"/>
                  </a:xfrm>
                </p:grpSpPr>
                <p:cxnSp>
                  <p:nvCxnSpPr>
                    <p:cNvPr id="1544" name="直線コネクタ 154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45" name="直線コネクタ 154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46" name="直線コネクタ 154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47" name="直線コネクタ 154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548" name="円/楕円 154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sp>
              <p:nvSpPr>
                <p:cNvPr id="1535" name="Line 46"/>
                <p:cNvSpPr>
                  <a:spLocks noChangeShapeType="1"/>
                </p:cNvSpPr>
                <p:nvPr/>
              </p:nvSpPr>
              <p:spPr bwMode="auto">
                <a:xfrm flipH="1" flipV="1">
                  <a:off x="3041983" y="5499022"/>
                  <a:ext cx="0" cy="24777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36" name="Line 46"/>
                <p:cNvSpPr>
                  <a:spLocks noChangeShapeType="1"/>
                </p:cNvSpPr>
                <p:nvPr/>
              </p:nvSpPr>
              <p:spPr bwMode="auto">
                <a:xfrm flipV="1">
                  <a:off x="2681979" y="538577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37" name="Line 46"/>
                <p:cNvSpPr>
                  <a:spLocks noChangeShapeType="1"/>
                </p:cNvSpPr>
                <p:nvPr/>
              </p:nvSpPr>
              <p:spPr bwMode="auto">
                <a:xfrm flipV="1">
                  <a:off x="2681979"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38" name="Line 46"/>
                <p:cNvSpPr>
                  <a:spLocks noChangeShapeType="1"/>
                </p:cNvSpPr>
                <p:nvPr/>
              </p:nvSpPr>
              <p:spPr bwMode="auto">
                <a:xfrm flipV="1">
                  <a:off x="3131984"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39" name="Freeform 10"/>
                <p:cNvSpPr>
                  <a:spLocks/>
                </p:cNvSpPr>
                <p:nvPr/>
              </p:nvSpPr>
              <p:spPr bwMode="auto">
                <a:xfrm rot="5400000" flipV="1">
                  <a:off x="3019216" y="5498542"/>
                  <a:ext cx="49554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41" name="Line 46"/>
                <p:cNvSpPr>
                  <a:spLocks noChangeShapeType="1"/>
                </p:cNvSpPr>
                <p:nvPr/>
              </p:nvSpPr>
              <p:spPr bwMode="auto">
                <a:xfrm flipV="1">
                  <a:off x="2361128" y="5626621"/>
                  <a:ext cx="680728" cy="0"/>
                </a:xfrm>
                <a:prstGeom prst="line">
                  <a:avLst/>
                </a:prstGeom>
                <a:noFill/>
                <a:ln w="9525">
                  <a:solidFill>
                    <a:schemeClr val="tx1"/>
                  </a:solidFill>
                  <a:round/>
                  <a:headEnd type="none" w="sm" len="sm"/>
                  <a:tailEnd type="oval" w="sm" len="sm"/>
                </a:ln>
                <a:effectLst/>
              </p:spPr>
              <p:txBody>
                <a:bodyPr wrap="none" lIns="90000" tIns="46800" rIns="90000" bIns="46800" anchor="ctr"/>
                <a:lstStyle/>
                <a:p>
                  <a:endParaRPr lang="ja-JP" altLang="en-US"/>
                </a:p>
              </p:txBody>
            </p:sp>
          </p:grpSp>
          <p:grpSp>
            <p:nvGrpSpPr>
              <p:cNvPr id="1509" name="グループ化 1508"/>
              <p:cNvGrpSpPr/>
              <p:nvPr/>
            </p:nvGrpSpPr>
            <p:grpSpPr>
              <a:xfrm>
                <a:off x="4034971" y="2850249"/>
                <a:ext cx="1080010" cy="1170013"/>
                <a:chOff x="1871970" y="2562739"/>
                <a:chExt cx="1890019" cy="2559383"/>
              </a:xfrm>
            </p:grpSpPr>
            <p:grpSp>
              <p:nvGrpSpPr>
                <p:cNvPr id="1510" name="グループ化 1509"/>
                <p:cNvGrpSpPr/>
                <p:nvPr/>
              </p:nvGrpSpPr>
              <p:grpSpPr>
                <a:xfrm>
                  <a:off x="2996967" y="4942097"/>
                  <a:ext cx="360048" cy="180025"/>
                  <a:chOff x="1736601" y="2511982"/>
                  <a:chExt cx="360048" cy="180025"/>
                </a:xfrm>
              </p:grpSpPr>
              <p:cxnSp>
                <p:nvCxnSpPr>
                  <p:cNvPr id="1530" name="直線コネクタ 1529"/>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31" name="直線コネクタ 1530"/>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32" name="直線コネクタ 1531"/>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511" name="グループ化 1510"/>
                <p:cNvGrpSpPr/>
                <p:nvPr/>
              </p:nvGrpSpPr>
              <p:grpSpPr>
                <a:xfrm>
                  <a:off x="2861981" y="4059007"/>
                  <a:ext cx="270036" cy="360048"/>
                  <a:chOff x="6282228" y="1988808"/>
                  <a:chExt cx="270036" cy="360048"/>
                </a:xfrm>
              </p:grpSpPr>
              <p:cxnSp>
                <p:nvCxnSpPr>
                  <p:cNvPr id="1526" name="直線コネクタ 1525"/>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27" name="直線コネクタ 1526"/>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28" name="直線コネクタ 1527"/>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29" name="直線コネクタ 1528"/>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12" name="直線コネクタ 1511"/>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513" name="直線コネクタ 1512"/>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514" name="直線コネクタ 1513"/>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515"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16"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517" name="グループ化 1516"/>
                <p:cNvGrpSpPr/>
                <p:nvPr/>
              </p:nvGrpSpPr>
              <p:grpSpPr>
                <a:xfrm>
                  <a:off x="2771980" y="2978995"/>
                  <a:ext cx="360048" cy="360048"/>
                  <a:chOff x="3131808" y="1628760"/>
                  <a:chExt cx="360048" cy="360048"/>
                </a:xfrm>
              </p:grpSpPr>
              <p:cxnSp>
                <p:nvCxnSpPr>
                  <p:cNvPr id="1521" name="直線コネクタ 1520"/>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22" name="直線コネクタ 1521"/>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23" name="直線コネクタ 1522"/>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24" name="直線コネクタ 1523"/>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525" name="円/楕円 1524"/>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518" name="直線コネクタ 1517"/>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519" name="直線コネクタ 1518"/>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520" name="直線コネクタ 1519"/>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sp>
          <p:nvSpPr>
            <p:cNvPr id="1564" name="Freeform 10"/>
            <p:cNvSpPr>
              <a:spLocks/>
            </p:cNvSpPr>
            <p:nvPr/>
          </p:nvSpPr>
          <p:spPr bwMode="auto">
            <a:xfrm rot="5400000" flipV="1">
              <a:off x="2872962" y="4410009"/>
              <a:ext cx="432000"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65" name="Freeform 10"/>
            <p:cNvSpPr>
              <a:spLocks/>
            </p:cNvSpPr>
            <p:nvPr/>
          </p:nvSpPr>
          <p:spPr bwMode="auto">
            <a:xfrm rot="5400000" flipH="1" flipV="1">
              <a:off x="2836962" y="5284025"/>
              <a:ext cx="504000" cy="45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66" name="Freeform 10"/>
            <p:cNvSpPr>
              <a:spLocks/>
            </p:cNvSpPr>
            <p:nvPr/>
          </p:nvSpPr>
          <p:spPr bwMode="auto">
            <a:xfrm rot="5400000" flipV="1">
              <a:off x="3518734" y="2781975"/>
              <a:ext cx="1044000" cy="35803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67" name="Freeform 10"/>
            <p:cNvSpPr>
              <a:spLocks/>
            </p:cNvSpPr>
            <p:nvPr/>
          </p:nvSpPr>
          <p:spPr bwMode="auto">
            <a:xfrm rot="5400000" flipH="1" flipV="1">
              <a:off x="3460859" y="4303114"/>
              <a:ext cx="1152000" cy="36577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grpSp>
      <p:sp>
        <p:nvSpPr>
          <p:cNvPr id="1620" name="正方形/長方形 1619"/>
          <p:cNvSpPr/>
          <p:nvPr/>
        </p:nvSpPr>
        <p:spPr bwMode="auto">
          <a:xfrm>
            <a:off x="2411976" y="908972"/>
            <a:ext cx="2520028"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ea typeface="メイリオ" panose="020B0604030504040204" pitchFamily="50" charset="-128"/>
              </a:rPr>
              <a:t>16*4+6*3=82</a:t>
            </a:r>
            <a:endParaRPr kumimoji="1" lang="ja-JP" altLang="en-US" dirty="0">
              <a:ea typeface="メイリオ" panose="020B0604030504040204" pitchFamily="50" charset="-128"/>
            </a:endParaRPr>
          </a:p>
        </p:txBody>
      </p:sp>
    </p:spTree>
    <p:extLst>
      <p:ext uri="{BB962C8B-B14F-4D97-AF65-F5344CB8AC3E}">
        <p14:creationId xmlns:p14="http://schemas.microsoft.com/office/powerpoint/2010/main" val="16889333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2051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en-US" altLang="ja-JP" dirty="0"/>
              <a:t>SRAM </a:t>
            </a:r>
            <a:r>
              <a:rPr kumimoji="1" lang="ja-JP" altLang="en-US" dirty="0"/>
              <a:t>と </a:t>
            </a:r>
            <a:r>
              <a:rPr kumimoji="1" lang="en-US" altLang="ja-JP" dirty="0"/>
              <a:t>DRAM </a:t>
            </a:r>
            <a:r>
              <a:rPr kumimoji="1" lang="ja-JP" altLang="en-US" dirty="0"/>
              <a:t>のセル（</a:t>
            </a:r>
            <a:r>
              <a:rPr kumimoji="1" lang="en-US" altLang="ja-JP" dirty="0"/>
              <a:t>1bit</a:t>
            </a:r>
            <a:r>
              <a:rPr kumimoji="1" lang="ja-JP" altLang="en-US" dirty="0"/>
              <a:t>）</a:t>
            </a:r>
          </a:p>
        </p:txBody>
      </p:sp>
      <p:sp>
        <p:nvSpPr>
          <p:cNvPr id="3" name="テキスト プレースホルダー 2">
            <a:extLst>
              <a:ext uri="{FF2B5EF4-FFF2-40B4-BE49-F238E27FC236}">
                <a16:creationId xmlns:a16="http://schemas.microsoft.com/office/drawing/2014/main" id="{E6AEB639-6947-4C06-A6E1-A480E0492DB5}"/>
              </a:ext>
            </a:extLst>
          </p:cNvPr>
          <p:cNvSpPr>
            <a:spLocks noGrp="1"/>
          </p:cNvSpPr>
          <p:nvPr>
            <p:ph type="body" sz="quarter" idx="10"/>
          </p:nvPr>
        </p:nvSpPr>
        <p:spPr>
          <a:xfrm>
            <a:off x="611956" y="5679025"/>
            <a:ext cx="8280092" cy="629700"/>
          </a:xfrm>
        </p:spPr>
        <p:txBody>
          <a:bodyPr/>
          <a:lstStyle/>
          <a:p>
            <a:pPr lvl="1"/>
            <a:r>
              <a:rPr kumimoji="1" lang="en-US" altLang="ja-JP" dirty="0"/>
              <a:t>D-FF </a:t>
            </a:r>
            <a:r>
              <a:rPr kumimoji="1" lang="ja-JP" altLang="en-US" dirty="0"/>
              <a:t>よりも圧倒的に単純</a:t>
            </a:r>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2501977" y="2707558"/>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2501977" y="3428283"/>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3851992" y="3068996"/>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3491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1331964" y="3068996"/>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1691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4211996" y="3429000"/>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grpSp>
        <p:nvGrpSpPr>
          <p:cNvPr id="56" name="グループ化 55">
            <a:extLst>
              <a:ext uri="{FF2B5EF4-FFF2-40B4-BE49-F238E27FC236}">
                <a16:creationId xmlns:a16="http://schemas.microsoft.com/office/drawing/2014/main" id="{B2772659-A00E-4413-9EB6-D696321711C2}"/>
              </a:ext>
            </a:extLst>
          </p:cNvPr>
          <p:cNvGrpSpPr/>
          <p:nvPr/>
        </p:nvGrpSpPr>
        <p:grpSpPr>
          <a:xfrm>
            <a:off x="6732024" y="3068996"/>
            <a:ext cx="360004" cy="360004"/>
            <a:chOff x="4932004" y="2708992"/>
            <a:chExt cx="360004" cy="360004"/>
          </a:xfrm>
        </p:grpSpPr>
        <p:cxnSp>
          <p:nvCxnSpPr>
            <p:cNvPr id="57" name="直線コネクタ 56">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61" name="直線コネクタ 60">
            <a:extLst>
              <a:ext uri="{FF2B5EF4-FFF2-40B4-BE49-F238E27FC236}">
                <a16:creationId xmlns:a16="http://schemas.microsoft.com/office/drawing/2014/main" id="{04ACCC42-4E49-4867-BFDC-671C90B11355}"/>
              </a:ext>
            </a:extLst>
          </p:cNvPr>
          <p:cNvCxnSpPr>
            <a:cxnSpLocks/>
          </p:cNvCxnSpPr>
          <p:nvPr/>
        </p:nvCxnSpPr>
        <p:spPr>
          <a:xfrm>
            <a:off x="637202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9FA852A0-5D43-4C5B-8D71-AF1C94363457}"/>
              </a:ext>
            </a:extLst>
          </p:cNvPr>
          <p:cNvCxnSpPr>
            <a:cxnSpLocks/>
          </p:cNvCxnSpPr>
          <p:nvPr/>
        </p:nvCxnSpPr>
        <p:spPr>
          <a:xfrm>
            <a:off x="7092028" y="3429000"/>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971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97196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DDEA31C-DEA3-4027-A96D-5EC4FD0DCD35}"/>
              </a:ext>
            </a:extLst>
          </p:cNvPr>
          <p:cNvCxnSpPr>
            <a:cxnSpLocks/>
          </p:cNvCxnSpPr>
          <p:nvPr/>
        </p:nvCxnSpPr>
        <p:spPr>
          <a:xfrm flipV="1">
            <a:off x="637202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97" name="グループ化 96">
            <a:extLst>
              <a:ext uri="{FF2B5EF4-FFF2-40B4-BE49-F238E27FC236}">
                <a16:creationId xmlns:a16="http://schemas.microsoft.com/office/drawing/2014/main" id="{DE115225-CFB0-4004-A206-CB9F39CB2EA1}"/>
              </a:ext>
            </a:extLst>
          </p:cNvPr>
          <p:cNvGrpSpPr/>
          <p:nvPr/>
        </p:nvGrpSpPr>
        <p:grpSpPr>
          <a:xfrm>
            <a:off x="7272030" y="3609002"/>
            <a:ext cx="360004" cy="90003"/>
            <a:chOff x="7272030" y="3789004"/>
            <a:chExt cx="360004" cy="90003"/>
          </a:xfrm>
        </p:grpSpPr>
        <p:cxnSp>
          <p:nvCxnSpPr>
            <p:cNvPr id="70" name="直線コネクタ 69">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2" name="直線コネクタ 71">
            <a:extLst>
              <a:ext uri="{FF2B5EF4-FFF2-40B4-BE49-F238E27FC236}">
                <a16:creationId xmlns:a16="http://schemas.microsoft.com/office/drawing/2014/main" id="{980D156E-BEF6-49E5-BEDB-E654CED1DF10}"/>
              </a:ext>
            </a:extLst>
          </p:cNvPr>
          <p:cNvCxnSpPr>
            <a:cxnSpLocks/>
          </p:cNvCxnSpPr>
          <p:nvPr/>
        </p:nvCxnSpPr>
        <p:spPr>
          <a:xfrm flipV="1">
            <a:off x="7452032" y="3429000"/>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DDF1097C-113D-483C-86EC-803338665142}"/>
              </a:ext>
            </a:extLst>
          </p:cNvPr>
          <p:cNvCxnSpPr>
            <a:cxnSpLocks/>
          </p:cNvCxnSpPr>
          <p:nvPr/>
        </p:nvCxnSpPr>
        <p:spPr>
          <a:xfrm flipV="1">
            <a:off x="7452032" y="3699003"/>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4572000" y="2348988"/>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80" name="グループ化 79">
            <a:extLst>
              <a:ext uri="{FF2B5EF4-FFF2-40B4-BE49-F238E27FC236}">
                <a16:creationId xmlns:a16="http://schemas.microsoft.com/office/drawing/2014/main" id="{38D32D1F-3EE8-498D-B8DB-C60684B30C49}"/>
              </a:ext>
            </a:extLst>
          </p:cNvPr>
          <p:cNvGrpSpPr/>
          <p:nvPr/>
        </p:nvGrpSpPr>
        <p:grpSpPr>
          <a:xfrm>
            <a:off x="7272030" y="3969006"/>
            <a:ext cx="326325" cy="117556"/>
            <a:chOff x="2531592" y="5357236"/>
            <a:chExt cx="326325" cy="117556"/>
          </a:xfrm>
        </p:grpSpPr>
        <p:cxnSp>
          <p:nvCxnSpPr>
            <p:cNvPr id="77" name="直線コネクタ 76">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81" name="正方形/長方形 80">
            <a:extLst>
              <a:ext uri="{FF2B5EF4-FFF2-40B4-BE49-F238E27FC236}">
                <a16:creationId xmlns:a16="http://schemas.microsoft.com/office/drawing/2014/main" id="{2C6D6698-CD93-4E4F-B992-4C16E85E7ED2}"/>
              </a:ext>
            </a:extLst>
          </p:cNvPr>
          <p:cNvSpPr/>
          <p:nvPr/>
        </p:nvSpPr>
        <p:spPr bwMode="auto">
          <a:xfrm>
            <a:off x="1511966" y="1988984"/>
            <a:ext cx="2520028"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ea typeface="メイリオ" panose="020B0604030504040204" pitchFamily="50" charset="-128"/>
              </a:rPr>
              <a:t>SRAM</a:t>
            </a:r>
            <a:r>
              <a:rPr kumimoji="1" lang="ja-JP" altLang="en-US" dirty="0">
                <a:ea typeface="メイリオ" panose="020B0604030504040204" pitchFamily="50" charset="-128"/>
              </a:rPr>
              <a:t>：</a:t>
            </a:r>
            <a:r>
              <a:rPr lang="en-US" altLang="ja-JP" dirty="0">
                <a:ea typeface="メイリオ" panose="020B0604030504040204" pitchFamily="50" charset="-128"/>
              </a:rPr>
              <a:t>2 + 2*2 = 6</a:t>
            </a:r>
            <a:endParaRPr kumimoji="1" lang="ja-JP" altLang="en-US" dirty="0">
              <a:ea typeface="メイリオ" panose="020B0604030504040204" pitchFamily="50" charset="-128"/>
            </a:endParaRPr>
          </a:p>
        </p:txBody>
      </p:sp>
      <p:sp>
        <p:nvSpPr>
          <p:cNvPr id="82" name="正方形/長方形 81">
            <a:extLst>
              <a:ext uri="{FF2B5EF4-FFF2-40B4-BE49-F238E27FC236}">
                <a16:creationId xmlns:a16="http://schemas.microsoft.com/office/drawing/2014/main" id="{92DC1F23-AC38-454C-BC7F-E4136A1AC959}"/>
              </a:ext>
            </a:extLst>
          </p:cNvPr>
          <p:cNvSpPr/>
          <p:nvPr/>
        </p:nvSpPr>
        <p:spPr bwMode="auto">
          <a:xfrm>
            <a:off x="5832014" y="1988984"/>
            <a:ext cx="306003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ea typeface="メイリオ" panose="020B0604030504040204" pitchFamily="50" charset="-128"/>
              </a:rPr>
              <a:t>DRAM</a:t>
            </a:r>
            <a:r>
              <a:rPr kumimoji="1" lang="ja-JP" altLang="en-US" dirty="0">
                <a:ea typeface="メイリオ" panose="020B0604030504040204" pitchFamily="50" charset="-128"/>
              </a:rPr>
              <a:t>：</a:t>
            </a:r>
            <a:r>
              <a:rPr lang="en-US" altLang="ja-JP" dirty="0">
                <a:ea typeface="メイリオ" panose="020B0604030504040204" pitchFamily="50" charset="-128"/>
              </a:rPr>
              <a:t>1 +</a:t>
            </a:r>
            <a:r>
              <a:rPr lang="ja-JP" altLang="en-US" dirty="0">
                <a:ea typeface="メイリオ" panose="020B0604030504040204" pitchFamily="50" charset="-128"/>
              </a:rPr>
              <a:t>コンデンサ１</a:t>
            </a:r>
            <a:endParaRPr kumimoji="1" lang="ja-JP" altLang="en-US" dirty="0">
              <a:ea typeface="メイリオ" panose="020B0604030504040204" pitchFamily="50" charset="-128"/>
            </a:endParaRPr>
          </a:p>
        </p:txBody>
      </p: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4031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1511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611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a16:creationId xmlns:a16="http://schemas.microsoft.com/office/drawing/2014/main" id="{5C16D03F-62AA-402B-A9AC-ADCF020FC7D6}"/>
              </a:ext>
            </a:extLst>
          </p:cNvPr>
          <p:cNvCxnSpPr>
            <a:cxnSpLocks/>
          </p:cNvCxnSpPr>
          <p:nvPr/>
        </p:nvCxnSpPr>
        <p:spPr>
          <a:xfrm flipV="1">
            <a:off x="691202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287BB93E-CC11-4F3A-AF7A-8FAF390455E8}"/>
              </a:ext>
            </a:extLst>
          </p:cNvPr>
          <p:cNvCxnSpPr>
            <a:cxnSpLocks/>
          </p:cNvCxnSpPr>
          <p:nvPr/>
        </p:nvCxnSpPr>
        <p:spPr>
          <a:xfrm>
            <a:off x="6012016" y="2708992"/>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07422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en-US" altLang="ja-JP" dirty="0"/>
              <a:t>SRAM </a:t>
            </a:r>
            <a:r>
              <a:rPr kumimoji="1" lang="ja-JP" altLang="en-US" dirty="0"/>
              <a:t>と </a:t>
            </a:r>
            <a:r>
              <a:rPr kumimoji="1" lang="en-US" altLang="ja-JP" dirty="0"/>
              <a:t>DRAM</a:t>
            </a:r>
            <a:r>
              <a:rPr kumimoji="1" lang="ja-JP" altLang="en-US" dirty="0"/>
              <a:t>（</a:t>
            </a:r>
            <a:r>
              <a:rPr lang="en-US" altLang="ja-JP" dirty="0"/>
              <a:t>4</a:t>
            </a:r>
            <a:r>
              <a:rPr kumimoji="1" lang="en-US" altLang="ja-JP" dirty="0"/>
              <a:t>bit</a:t>
            </a:r>
            <a:r>
              <a:rPr kumimoji="1" lang="ja-JP" altLang="en-US" dirty="0"/>
              <a:t>）</a:t>
            </a:r>
          </a:p>
        </p:txBody>
      </p:sp>
      <p:sp>
        <p:nvSpPr>
          <p:cNvPr id="81" name="正方形/長方形 80">
            <a:extLst>
              <a:ext uri="{FF2B5EF4-FFF2-40B4-BE49-F238E27FC236}">
                <a16:creationId xmlns:a16="http://schemas.microsoft.com/office/drawing/2014/main" id="{2C6D6698-CD93-4E4F-B992-4C16E85E7ED2}"/>
              </a:ext>
            </a:extLst>
          </p:cNvPr>
          <p:cNvSpPr/>
          <p:nvPr/>
        </p:nvSpPr>
        <p:spPr bwMode="auto">
          <a:xfrm>
            <a:off x="1601967" y="1088974"/>
            <a:ext cx="2520028"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ea typeface="メイリオ" panose="020B0604030504040204" pitchFamily="50" charset="-128"/>
              </a:rPr>
              <a:t>SRAM</a:t>
            </a:r>
            <a:r>
              <a:rPr kumimoji="1" lang="ja-JP" altLang="en-US" dirty="0">
                <a:ea typeface="メイリオ" panose="020B0604030504040204" pitchFamily="50" charset="-128"/>
              </a:rPr>
              <a:t>：</a:t>
            </a:r>
            <a:r>
              <a:rPr lang="en-US" altLang="ja-JP" dirty="0">
                <a:ea typeface="メイリオ" panose="020B0604030504040204" pitchFamily="50" charset="-128"/>
              </a:rPr>
              <a:t>6*4 = 24</a:t>
            </a:r>
            <a:endParaRPr kumimoji="1" lang="ja-JP" altLang="en-US" dirty="0">
              <a:ea typeface="メイリオ" panose="020B0604030504040204" pitchFamily="50" charset="-128"/>
            </a:endParaRPr>
          </a:p>
        </p:txBody>
      </p:sp>
      <p:sp>
        <p:nvSpPr>
          <p:cNvPr id="82" name="正方形/長方形 81">
            <a:extLst>
              <a:ext uri="{FF2B5EF4-FFF2-40B4-BE49-F238E27FC236}">
                <a16:creationId xmlns:a16="http://schemas.microsoft.com/office/drawing/2014/main" id="{92DC1F23-AC38-454C-BC7F-E4136A1AC959}"/>
              </a:ext>
            </a:extLst>
          </p:cNvPr>
          <p:cNvSpPr/>
          <p:nvPr/>
        </p:nvSpPr>
        <p:spPr bwMode="auto">
          <a:xfrm>
            <a:off x="5022005" y="1088974"/>
            <a:ext cx="306003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ea typeface="メイリオ" panose="020B0604030504040204" pitchFamily="50" charset="-128"/>
              </a:rPr>
              <a:t>DRAM</a:t>
            </a:r>
            <a:r>
              <a:rPr kumimoji="1" lang="ja-JP" altLang="en-US" dirty="0">
                <a:ea typeface="メイリオ" panose="020B0604030504040204" pitchFamily="50" charset="-128"/>
              </a:rPr>
              <a:t>：</a:t>
            </a:r>
            <a:r>
              <a:rPr lang="en-US" altLang="ja-JP" dirty="0">
                <a:ea typeface="メイリオ" panose="020B0604030504040204" pitchFamily="50" charset="-128"/>
              </a:rPr>
              <a:t>4 +</a:t>
            </a:r>
            <a:r>
              <a:rPr lang="ja-JP" altLang="en-US">
                <a:ea typeface="メイリオ" panose="020B0604030504040204" pitchFamily="50" charset="-128"/>
              </a:rPr>
              <a:t>コンデンサ </a:t>
            </a:r>
            <a:r>
              <a:rPr lang="en-US" altLang="ja-JP">
                <a:ea typeface="メイリオ" panose="020B0604030504040204" pitchFamily="50" charset="-128"/>
              </a:rPr>
              <a:t>4</a:t>
            </a:r>
            <a:endParaRPr kumimoji="1" lang="ja-JP" altLang="en-US" dirty="0">
              <a:ea typeface="メイリオ" panose="020B0604030504040204" pitchFamily="50" charset="-128"/>
            </a:endParaRPr>
          </a:p>
        </p:txBody>
      </p:sp>
      <p:grpSp>
        <p:nvGrpSpPr>
          <p:cNvPr id="11" name="グループ化 10">
            <a:extLst>
              <a:ext uri="{FF2B5EF4-FFF2-40B4-BE49-F238E27FC236}">
                <a16:creationId xmlns:a16="http://schemas.microsoft.com/office/drawing/2014/main" id="{5F89F5AB-8AA3-41DC-AD48-EDB4634E09E9}"/>
              </a:ext>
            </a:extLst>
          </p:cNvPr>
          <p:cNvGrpSpPr/>
          <p:nvPr/>
        </p:nvGrpSpPr>
        <p:grpSpPr>
          <a:xfrm>
            <a:off x="1151962" y="1628980"/>
            <a:ext cx="3420038" cy="4770054"/>
            <a:chOff x="611956" y="908972"/>
            <a:chExt cx="4320048" cy="5940067"/>
          </a:xfrm>
        </p:grpSpPr>
        <p:grpSp>
          <p:nvGrpSpPr>
            <p:cNvPr id="4" name="グループ化 3">
              <a:extLst>
                <a:ext uri="{FF2B5EF4-FFF2-40B4-BE49-F238E27FC236}">
                  <a16:creationId xmlns:a16="http://schemas.microsoft.com/office/drawing/2014/main" id="{462E64C4-0EB7-4BAC-9C3E-6587AA35DC45}"/>
                </a:ext>
              </a:extLst>
            </p:cNvPr>
            <p:cNvGrpSpPr/>
            <p:nvPr/>
          </p:nvGrpSpPr>
          <p:grpSpPr>
            <a:xfrm>
              <a:off x="611956" y="908972"/>
              <a:ext cx="4320048" cy="1620020"/>
              <a:chOff x="611956" y="2528990"/>
              <a:chExt cx="4320048" cy="162002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2051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2501977" y="2707558"/>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2501977" y="3428283"/>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3851992" y="3068996"/>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3491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1331964" y="3068996"/>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1691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4211996" y="3429000"/>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971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971960" y="2528990"/>
                <a:ext cx="0" cy="1620018"/>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4572000" y="2528990"/>
                <a:ext cx="0" cy="162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4031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1511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611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102" name="グループ化 101">
              <a:extLst>
                <a:ext uri="{FF2B5EF4-FFF2-40B4-BE49-F238E27FC236}">
                  <a16:creationId xmlns:a16="http://schemas.microsoft.com/office/drawing/2014/main" id="{85DB32D7-9A51-4712-BEDD-39FF75E5D8AA}"/>
                </a:ext>
              </a:extLst>
            </p:cNvPr>
            <p:cNvGrpSpPr/>
            <p:nvPr/>
          </p:nvGrpSpPr>
          <p:grpSpPr>
            <a:xfrm>
              <a:off x="611956" y="2168986"/>
              <a:ext cx="4320048" cy="1800021"/>
              <a:chOff x="611956" y="2348988"/>
              <a:chExt cx="4320048" cy="1800021"/>
            </a:xfrm>
          </p:grpSpPr>
          <p:sp>
            <p:nvSpPr>
              <p:cNvPr id="103" name="正方形/長方形 102">
                <a:extLst>
                  <a:ext uri="{FF2B5EF4-FFF2-40B4-BE49-F238E27FC236}">
                    <a16:creationId xmlns:a16="http://schemas.microsoft.com/office/drawing/2014/main" id="{B1A33AB8-EBF1-4B6F-8A3D-D7C6E6897F4F}"/>
                  </a:ext>
                </a:extLst>
              </p:cNvPr>
              <p:cNvSpPr/>
              <p:nvPr/>
            </p:nvSpPr>
            <p:spPr bwMode="auto">
              <a:xfrm>
                <a:off x="2051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pic>
            <p:nvPicPr>
              <p:cNvPr id="104" name="Picture 30" descr="NOT">
                <a:extLst>
                  <a:ext uri="{FF2B5EF4-FFF2-40B4-BE49-F238E27FC236}">
                    <a16:creationId xmlns:a16="http://schemas.microsoft.com/office/drawing/2014/main" id="{53FF33BE-026C-41BC-B131-1FAEF6E7CBFA}"/>
                  </a:ext>
                </a:extLst>
              </p:cNvPr>
              <p:cNvPicPr>
                <a:picLocks noChangeAspect="1" noChangeArrowheads="1"/>
              </p:cNvPicPr>
              <p:nvPr/>
            </p:nvPicPr>
            <p:blipFill>
              <a:blip r:embed="rId2" cstate="print"/>
              <a:srcRect/>
              <a:stretch>
                <a:fillRect/>
              </a:stretch>
            </p:blipFill>
            <p:spPr bwMode="auto">
              <a:xfrm flipH="1">
                <a:off x="2501977" y="2707558"/>
                <a:ext cx="717550" cy="720725"/>
              </a:xfrm>
              <a:prstGeom prst="rect">
                <a:avLst/>
              </a:prstGeom>
              <a:noFill/>
            </p:spPr>
          </p:pic>
          <p:pic>
            <p:nvPicPr>
              <p:cNvPr id="105" name="Picture 31" descr="NOT">
                <a:extLst>
                  <a:ext uri="{FF2B5EF4-FFF2-40B4-BE49-F238E27FC236}">
                    <a16:creationId xmlns:a16="http://schemas.microsoft.com/office/drawing/2014/main" id="{AFA0FF98-F574-4130-89CD-6C9B21DF0F3C}"/>
                  </a:ext>
                </a:extLst>
              </p:cNvPr>
              <p:cNvPicPr>
                <a:picLocks noChangeAspect="1" noChangeArrowheads="1"/>
              </p:cNvPicPr>
              <p:nvPr/>
            </p:nvPicPr>
            <p:blipFill>
              <a:blip r:embed="rId2" cstate="print"/>
              <a:srcRect/>
              <a:stretch>
                <a:fillRect/>
              </a:stretch>
            </p:blipFill>
            <p:spPr bwMode="auto">
              <a:xfrm>
                <a:off x="2501977" y="3428283"/>
                <a:ext cx="717550" cy="720725"/>
              </a:xfrm>
              <a:prstGeom prst="rect">
                <a:avLst/>
              </a:prstGeom>
              <a:noFill/>
            </p:spPr>
          </p:pic>
          <p:grpSp>
            <p:nvGrpSpPr>
              <p:cNvPr id="106" name="グループ化 105">
                <a:extLst>
                  <a:ext uri="{FF2B5EF4-FFF2-40B4-BE49-F238E27FC236}">
                    <a16:creationId xmlns:a16="http://schemas.microsoft.com/office/drawing/2014/main" id="{E272CCFB-D57B-4548-A71D-F78375857029}"/>
                  </a:ext>
                </a:extLst>
              </p:cNvPr>
              <p:cNvGrpSpPr/>
              <p:nvPr/>
            </p:nvGrpSpPr>
            <p:grpSpPr>
              <a:xfrm>
                <a:off x="3851992" y="3068996"/>
                <a:ext cx="360004" cy="360004"/>
                <a:chOff x="4932004" y="2708992"/>
                <a:chExt cx="360004" cy="360004"/>
              </a:xfrm>
            </p:grpSpPr>
            <p:cxnSp>
              <p:nvCxnSpPr>
                <p:cNvPr id="121" name="直線コネクタ 120">
                  <a:extLst>
                    <a:ext uri="{FF2B5EF4-FFF2-40B4-BE49-F238E27FC236}">
                      <a16:creationId xmlns:a16="http://schemas.microsoft.com/office/drawing/2014/main" id="{1458DA48-91AC-47F0-9A8D-0E96D7756D58}"/>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a16:creationId xmlns:a16="http://schemas.microsoft.com/office/drawing/2014/main" id="{B9E79FF3-2BDE-4F86-9DE5-2E490BB85412}"/>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 name="直線コネクタ 122">
                  <a:extLst>
                    <a:ext uri="{FF2B5EF4-FFF2-40B4-BE49-F238E27FC236}">
                      <a16:creationId xmlns:a16="http://schemas.microsoft.com/office/drawing/2014/main" id="{EF63AA20-FE93-4B79-B295-3961B9CECC61}"/>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 name="直線コネクタ 123">
                  <a:extLst>
                    <a:ext uri="{FF2B5EF4-FFF2-40B4-BE49-F238E27FC236}">
                      <a16:creationId xmlns:a16="http://schemas.microsoft.com/office/drawing/2014/main" id="{D3BC43BD-1FA0-479D-82C3-DD6322BAE7B7}"/>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07" name="直線コネクタ 106">
                <a:extLst>
                  <a:ext uri="{FF2B5EF4-FFF2-40B4-BE49-F238E27FC236}">
                    <a16:creationId xmlns:a16="http://schemas.microsoft.com/office/drawing/2014/main" id="{410300EF-0FB7-4D75-A709-359E46F3CF51}"/>
                  </a:ext>
                </a:extLst>
              </p:cNvPr>
              <p:cNvCxnSpPr>
                <a:cxnSpLocks/>
              </p:cNvCxnSpPr>
              <p:nvPr/>
            </p:nvCxnSpPr>
            <p:spPr>
              <a:xfrm>
                <a:off x="3491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108" name="グループ化 107">
                <a:extLst>
                  <a:ext uri="{FF2B5EF4-FFF2-40B4-BE49-F238E27FC236}">
                    <a16:creationId xmlns:a16="http://schemas.microsoft.com/office/drawing/2014/main" id="{C4A227B8-2C8F-452D-A82A-20B77A6A76F0}"/>
                  </a:ext>
                </a:extLst>
              </p:cNvPr>
              <p:cNvGrpSpPr/>
              <p:nvPr/>
            </p:nvGrpSpPr>
            <p:grpSpPr>
              <a:xfrm>
                <a:off x="1331964" y="3068996"/>
                <a:ext cx="360004" cy="360004"/>
                <a:chOff x="4932004" y="2708992"/>
                <a:chExt cx="360004" cy="360004"/>
              </a:xfrm>
            </p:grpSpPr>
            <p:cxnSp>
              <p:nvCxnSpPr>
                <p:cNvPr id="117" name="直線コネクタ 116">
                  <a:extLst>
                    <a:ext uri="{FF2B5EF4-FFF2-40B4-BE49-F238E27FC236}">
                      <a16:creationId xmlns:a16="http://schemas.microsoft.com/office/drawing/2014/main" id="{AF3740A0-CFC3-4B4A-AAD5-BCC7577C033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a16:creationId xmlns:a16="http://schemas.microsoft.com/office/drawing/2014/main" id="{12AB5EE2-56B7-454F-9DED-643F605F2779}"/>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9" name="直線コネクタ 118">
                  <a:extLst>
                    <a:ext uri="{FF2B5EF4-FFF2-40B4-BE49-F238E27FC236}">
                      <a16:creationId xmlns:a16="http://schemas.microsoft.com/office/drawing/2014/main" id="{CCCFB4A9-9C71-42AD-8017-8DEED4C9F438}"/>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3EEF28B7-1167-44B7-9424-48AA22B58A5A}"/>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09" name="直線コネクタ 108">
                <a:extLst>
                  <a:ext uri="{FF2B5EF4-FFF2-40B4-BE49-F238E27FC236}">
                    <a16:creationId xmlns:a16="http://schemas.microsoft.com/office/drawing/2014/main" id="{0B1116F1-A7B7-4928-9337-291C1040FA68}"/>
                  </a:ext>
                </a:extLst>
              </p:cNvPr>
              <p:cNvCxnSpPr>
                <a:cxnSpLocks/>
                <a:stCxn id="103" idx="1"/>
              </p:cNvCxnSpPr>
              <p:nvPr/>
            </p:nvCxnSpPr>
            <p:spPr>
              <a:xfrm flipH="1">
                <a:off x="1691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a16:creationId xmlns:a16="http://schemas.microsoft.com/office/drawing/2014/main" id="{73F62BD6-2DB2-40CA-B67D-1ED966E0B32F}"/>
                  </a:ext>
                </a:extLst>
              </p:cNvPr>
              <p:cNvCxnSpPr>
                <a:cxnSpLocks/>
              </p:cNvCxnSpPr>
              <p:nvPr/>
            </p:nvCxnSpPr>
            <p:spPr>
              <a:xfrm>
                <a:off x="4211996" y="3429000"/>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a16:creationId xmlns:a16="http://schemas.microsoft.com/office/drawing/2014/main" id="{BD55A59C-5A22-4D24-A0CE-92954DC442D9}"/>
                  </a:ext>
                </a:extLst>
              </p:cNvPr>
              <p:cNvCxnSpPr>
                <a:cxnSpLocks/>
              </p:cNvCxnSpPr>
              <p:nvPr/>
            </p:nvCxnSpPr>
            <p:spPr>
              <a:xfrm>
                <a:off x="971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a16:creationId xmlns:a16="http://schemas.microsoft.com/office/drawing/2014/main" id="{43FB2787-D02F-427B-BD72-716B6905FC15}"/>
                  </a:ext>
                </a:extLst>
              </p:cNvPr>
              <p:cNvCxnSpPr>
                <a:cxnSpLocks/>
              </p:cNvCxnSpPr>
              <p:nvPr/>
            </p:nvCxnSpPr>
            <p:spPr>
              <a:xfrm flipV="1">
                <a:off x="97196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a16:creationId xmlns:a16="http://schemas.microsoft.com/office/drawing/2014/main" id="{6455E8E4-C24D-4ED8-A29C-54FE34637C3E}"/>
                  </a:ext>
                </a:extLst>
              </p:cNvPr>
              <p:cNvCxnSpPr>
                <a:cxnSpLocks/>
              </p:cNvCxnSpPr>
              <p:nvPr/>
            </p:nvCxnSpPr>
            <p:spPr>
              <a:xfrm flipV="1">
                <a:off x="4572000" y="2348988"/>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84730A6C-48D2-4274-88B1-1AC183F84E23}"/>
                  </a:ext>
                </a:extLst>
              </p:cNvPr>
              <p:cNvCxnSpPr>
                <a:cxnSpLocks/>
              </p:cNvCxnSpPr>
              <p:nvPr/>
            </p:nvCxnSpPr>
            <p:spPr>
              <a:xfrm flipV="1">
                <a:off x="4031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15" name="直線コネクタ 114">
                <a:extLst>
                  <a:ext uri="{FF2B5EF4-FFF2-40B4-BE49-F238E27FC236}">
                    <a16:creationId xmlns:a16="http://schemas.microsoft.com/office/drawing/2014/main" id="{8EA8E134-98DE-4392-8BDD-BA69CB315501}"/>
                  </a:ext>
                </a:extLst>
              </p:cNvPr>
              <p:cNvCxnSpPr>
                <a:cxnSpLocks/>
              </p:cNvCxnSpPr>
              <p:nvPr/>
            </p:nvCxnSpPr>
            <p:spPr>
              <a:xfrm flipV="1">
                <a:off x="1511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a16:creationId xmlns:a16="http://schemas.microsoft.com/office/drawing/2014/main" id="{2BF8C6B8-7937-4366-BC6C-BAD4FD0CC630}"/>
                  </a:ext>
                </a:extLst>
              </p:cNvPr>
              <p:cNvCxnSpPr>
                <a:cxnSpLocks/>
              </p:cNvCxnSpPr>
              <p:nvPr/>
            </p:nvCxnSpPr>
            <p:spPr>
              <a:xfrm>
                <a:off x="611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125" name="グループ化 124">
              <a:extLst>
                <a:ext uri="{FF2B5EF4-FFF2-40B4-BE49-F238E27FC236}">
                  <a16:creationId xmlns:a16="http://schemas.microsoft.com/office/drawing/2014/main" id="{441C153E-B9B6-4091-90B8-FA393E53C394}"/>
                </a:ext>
              </a:extLst>
            </p:cNvPr>
            <p:cNvGrpSpPr/>
            <p:nvPr/>
          </p:nvGrpSpPr>
          <p:grpSpPr>
            <a:xfrm>
              <a:off x="611956" y="3609002"/>
              <a:ext cx="4320048" cy="1800021"/>
              <a:chOff x="611956" y="2348988"/>
              <a:chExt cx="4320048" cy="1800021"/>
            </a:xfrm>
          </p:grpSpPr>
          <p:sp>
            <p:nvSpPr>
              <p:cNvPr id="126" name="正方形/長方形 125">
                <a:extLst>
                  <a:ext uri="{FF2B5EF4-FFF2-40B4-BE49-F238E27FC236}">
                    <a16:creationId xmlns:a16="http://schemas.microsoft.com/office/drawing/2014/main" id="{95AE8EF7-7BCB-464B-996F-606432A1D3C0}"/>
                  </a:ext>
                </a:extLst>
              </p:cNvPr>
              <p:cNvSpPr/>
              <p:nvPr/>
            </p:nvSpPr>
            <p:spPr bwMode="auto">
              <a:xfrm>
                <a:off x="2051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pic>
            <p:nvPicPr>
              <p:cNvPr id="127" name="Picture 30" descr="NOT">
                <a:extLst>
                  <a:ext uri="{FF2B5EF4-FFF2-40B4-BE49-F238E27FC236}">
                    <a16:creationId xmlns:a16="http://schemas.microsoft.com/office/drawing/2014/main" id="{8108A68D-2DA4-4E43-B1AE-054A9334CA56}"/>
                  </a:ext>
                </a:extLst>
              </p:cNvPr>
              <p:cNvPicPr>
                <a:picLocks noChangeAspect="1" noChangeArrowheads="1"/>
              </p:cNvPicPr>
              <p:nvPr/>
            </p:nvPicPr>
            <p:blipFill>
              <a:blip r:embed="rId2" cstate="print"/>
              <a:srcRect/>
              <a:stretch>
                <a:fillRect/>
              </a:stretch>
            </p:blipFill>
            <p:spPr bwMode="auto">
              <a:xfrm flipH="1">
                <a:off x="2501977" y="2707558"/>
                <a:ext cx="717550" cy="720725"/>
              </a:xfrm>
              <a:prstGeom prst="rect">
                <a:avLst/>
              </a:prstGeom>
              <a:noFill/>
            </p:spPr>
          </p:pic>
          <p:pic>
            <p:nvPicPr>
              <p:cNvPr id="128" name="Picture 31" descr="NOT">
                <a:extLst>
                  <a:ext uri="{FF2B5EF4-FFF2-40B4-BE49-F238E27FC236}">
                    <a16:creationId xmlns:a16="http://schemas.microsoft.com/office/drawing/2014/main" id="{52C01EEE-DA6E-48E0-A0E1-7DFD10C26521}"/>
                  </a:ext>
                </a:extLst>
              </p:cNvPr>
              <p:cNvPicPr>
                <a:picLocks noChangeAspect="1" noChangeArrowheads="1"/>
              </p:cNvPicPr>
              <p:nvPr/>
            </p:nvPicPr>
            <p:blipFill>
              <a:blip r:embed="rId2" cstate="print"/>
              <a:srcRect/>
              <a:stretch>
                <a:fillRect/>
              </a:stretch>
            </p:blipFill>
            <p:spPr bwMode="auto">
              <a:xfrm>
                <a:off x="2501977" y="3428283"/>
                <a:ext cx="717550" cy="720725"/>
              </a:xfrm>
              <a:prstGeom prst="rect">
                <a:avLst/>
              </a:prstGeom>
              <a:noFill/>
            </p:spPr>
          </p:pic>
          <p:grpSp>
            <p:nvGrpSpPr>
              <p:cNvPr id="129" name="グループ化 128">
                <a:extLst>
                  <a:ext uri="{FF2B5EF4-FFF2-40B4-BE49-F238E27FC236}">
                    <a16:creationId xmlns:a16="http://schemas.microsoft.com/office/drawing/2014/main" id="{4B8B47F4-CD3A-412E-9FA6-E27BE591B354}"/>
                  </a:ext>
                </a:extLst>
              </p:cNvPr>
              <p:cNvGrpSpPr/>
              <p:nvPr/>
            </p:nvGrpSpPr>
            <p:grpSpPr>
              <a:xfrm>
                <a:off x="3851992" y="3068996"/>
                <a:ext cx="360004" cy="360004"/>
                <a:chOff x="4932004" y="2708992"/>
                <a:chExt cx="360004" cy="360004"/>
              </a:xfrm>
            </p:grpSpPr>
            <p:cxnSp>
              <p:nvCxnSpPr>
                <p:cNvPr id="144" name="直線コネクタ 143">
                  <a:extLst>
                    <a:ext uri="{FF2B5EF4-FFF2-40B4-BE49-F238E27FC236}">
                      <a16:creationId xmlns:a16="http://schemas.microsoft.com/office/drawing/2014/main" id="{3BB341C3-D13C-413F-BF4C-C462C5B88525}"/>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 name="直線コネクタ 144">
                  <a:extLst>
                    <a:ext uri="{FF2B5EF4-FFF2-40B4-BE49-F238E27FC236}">
                      <a16:creationId xmlns:a16="http://schemas.microsoft.com/office/drawing/2014/main" id="{9F7596E2-E646-4464-A820-932FCB4E7E2A}"/>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6" name="直線コネクタ 145">
                  <a:extLst>
                    <a:ext uri="{FF2B5EF4-FFF2-40B4-BE49-F238E27FC236}">
                      <a16:creationId xmlns:a16="http://schemas.microsoft.com/office/drawing/2014/main" id="{B828DB55-9D58-4545-ABDA-6E3931EF57FC}"/>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 name="直線コネクタ 146">
                  <a:extLst>
                    <a:ext uri="{FF2B5EF4-FFF2-40B4-BE49-F238E27FC236}">
                      <a16:creationId xmlns:a16="http://schemas.microsoft.com/office/drawing/2014/main" id="{A9273E1B-FFD1-4FE8-B8E5-C9935468DCB0}"/>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0" name="直線コネクタ 129">
                <a:extLst>
                  <a:ext uri="{FF2B5EF4-FFF2-40B4-BE49-F238E27FC236}">
                    <a16:creationId xmlns:a16="http://schemas.microsoft.com/office/drawing/2014/main" id="{7BE8DD0E-F450-488C-B4F9-D203CC7BDA4E}"/>
                  </a:ext>
                </a:extLst>
              </p:cNvPr>
              <p:cNvCxnSpPr>
                <a:cxnSpLocks/>
              </p:cNvCxnSpPr>
              <p:nvPr/>
            </p:nvCxnSpPr>
            <p:spPr>
              <a:xfrm>
                <a:off x="3491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131" name="グループ化 130">
                <a:extLst>
                  <a:ext uri="{FF2B5EF4-FFF2-40B4-BE49-F238E27FC236}">
                    <a16:creationId xmlns:a16="http://schemas.microsoft.com/office/drawing/2014/main" id="{C4CB907F-76C1-464D-B341-96BC64E45C1E}"/>
                  </a:ext>
                </a:extLst>
              </p:cNvPr>
              <p:cNvGrpSpPr/>
              <p:nvPr/>
            </p:nvGrpSpPr>
            <p:grpSpPr>
              <a:xfrm>
                <a:off x="1331964" y="3068996"/>
                <a:ext cx="360004" cy="360004"/>
                <a:chOff x="4932004" y="2708992"/>
                <a:chExt cx="360004" cy="360004"/>
              </a:xfrm>
            </p:grpSpPr>
            <p:cxnSp>
              <p:nvCxnSpPr>
                <p:cNvPr id="140" name="直線コネクタ 139">
                  <a:extLst>
                    <a:ext uri="{FF2B5EF4-FFF2-40B4-BE49-F238E27FC236}">
                      <a16:creationId xmlns:a16="http://schemas.microsoft.com/office/drawing/2014/main" id="{8DD0A887-40E1-4FEB-A9F2-CADF53F0D40A}"/>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a16:creationId xmlns:a16="http://schemas.microsoft.com/office/drawing/2014/main" id="{E4B98EC3-185B-4A3E-B28B-081762738C65}"/>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2" name="直線コネクタ 141">
                  <a:extLst>
                    <a:ext uri="{FF2B5EF4-FFF2-40B4-BE49-F238E27FC236}">
                      <a16:creationId xmlns:a16="http://schemas.microsoft.com/office/drawing/2014/main" id="{F43FD0E4-83E5-4381-8F23-2DD5C225D411}"/>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 name="直線コネクタ 142">
                  <a:extLst>
                    <a:ext uri="{FF2B5EF4-FFF2-40B4-BE49-F238E27FC236}">
                      <a16:creationId xmlns:a16="http://schemas.microsoft.com/office/drawing/2014/main" id="{FF916E23-EAB0-47D1-9DA1-22B8CC557C81}"/>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2" name="直線コネクタ 131">
                <a:extLst>
                  <a:ext uri="{FF2B5EF4-FFF2-40B4-BE49-F238E27FC236}">
                    <a16:creationId xmlns:a16="http://schemas.microsoft.com/office/drawing/2014/main" id="{21AAFD98-4186-4FFB-9104-7440DAA623E9}"/>
                  </a:ext>
                </a:extLst>
              </p:cNvPr>
              <p:cNvCxnSpPr>
                <a:cxnSpLocks/>
                <a:stCxn id="126" idx="1"/>
              </p:cNvCxnSpPr>
              <p:nvPr/>
            </p:nvCxnSpPr>
            <p:spPr>
              <a:xfrm flipH="1">
                <a:off x="1691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a16:creationId xmlns:a16="http://schemas.microsoft.com/office/drawing/2014/main" id="{9D11CBCE-CB70-4C8E-9E66-6FE45BF7A436}"/>
                  </a:ext>
                </a:extLst>
              </p:cNvPr>
              <p:cNvCxnSpPr>
                <a:cxnSpLocks/>
              </p:cNvCxnSpPr>
              <p:nvPr/>
            </p:nvCxnSpPr>
            <p:spPr>
              <a:xfrm>
                <a:off x="4211996" y="3429000"/>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a16:creationId xmlns:a16="http://schemas.microsoft.com/office/drawing/2014/main" id="{3A0350E1-19B5-4A91-B384-2704F6F50B2F}"/>
                  </a:ext>
                </a:extLst>
              </p:cNvPr>
              <p:cNvCxnSpPr>
                <a:cxnSpLocks/>
              </p:cNvCxnSpPr>
              <p:nvPr/>
            </p:nvCxnSpPr>
            <p:spPr>
              <a:xfrm>
                <a:off x="971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a16:creationId xmlns:a16="http://schemas.microsoft.com/office/drawing/2014/main" id="{FC528E5F-861F-493F-8EDB-4FC5B56413F0}"/>
                  </a:ext>
                </a:extLst>
              </p:cNvPr>
              <p:cNvCxnSpPr>
                <a:cxnSpLocks/>
              </p:cNvCxnSpPr>
              <p:nvPr/>
            </p:nvCxnSpPr>
            <p:spPr>
              <a:xfrm flipV="1">
                <a:off x="97196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07EBE5A7-BE34-46C5-9121-AD42613281F8}"/>
                  </a:ext>
                </a:extLst>
              </p:cNvPr>
              <p:cNvCxnSpPr>
                <a:cxnSpLocks/>
              </p:cNvCxnSpPr>
              <p:nvPr/>
            </p:nvCxnSpPr>
            <p:spPr>
              <a:xfrm flipV="1">
                <a:off x="4572000" y="2348988"/>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37" name="直線コネクタ 136">
                <a:extLst>
                  <a:ext uri="{FF2B5EF4-FFF2-40B4-BE49-F238E27FC236}">
                    <a16:creationId xmlns:a16="http://schemas.microsoft.com/office/drawing/2014/main" id="{3C6F60E4-F99D-423C-9830-4C8C8B2C5E09}"/>
                  </a:ext>
                </a:extLst>
              </p:cNvPr>
              <p:cNvCxnSpPr>
                <a:cxnSpLocks/>
              </p:cNvCxnSpPr>
              <p:nvPr/>
            </p:nvCxnSpPr>
            <p:spPr>
              <a:xfrm flipV="1">
                <a:off x="4031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a16:creationId xmlns:a16="http://schemas.microsoft.com/office/drawing/2014/main" id="{FB45E1BB-A1BF-493A-80C6-417502D56A34}"/>
                  </a:ext>
                </a:extLst>
              </p:cNvPr>
              <p:cNvCxnSpPr>
                <a:cxnSpLocks/>
              </p:cNvCxnSpPr>
              <p:nvPr/>
            </p:nvCxnSpPr>
            <p:spPr>
              <a:xfrm flipV="1">
                <a:off x="1511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39" name="直線コネクタ 138">
                <a:extLst>
                  <a:ext uri="{FF2B5EF4-FFF2-40B4-BE49-F238E27FC236}">
                    <a16:creationId xmlns:a16="http://schemas.microsoft.com/office/drawing/2014/main" id="{1DD1E8D9-0FA7-4AF7-95AC-DD3FC9051928}"/>
                  </a:ext>
                </a:extLst>
              </p:cNvPr>
              <p:cNvCxnSpPr>
                <a:cxnSpLocks/>
              </p:cNvCxnSpPr>
              <p:nvPr/>
            </p:nvCxnSpPr>
            <p:spPr>
              <a:xfrm>
                <a:off x="611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148" name="グループ化 147">
              <a:extLst>
                <a:ext uri="{FF2B5EF4-FFF2-40B4-BE49-F238E27FC236}">
                  <a16:creationId xmlns:a16="http://schemas.microsoft.com/office/drawing/2014/main" id="{B1F5EC57-DDAC-4C58-A770-C068CE235CAD}"/>
                </a:ext>
              </a:extLst>
            </p:cNvPr>
            <p:cNvGrpSpPr/>
            <p:nvPr/>
          </p:nvGrpSpPr>
          <p:grpSpPr>
            <a:xfrm>
              <a:off x="611956" y="5049018"/>
              <a:ext cx="4320048" cy="1800021"/>
              <a:chOff x="611956" y="2348988"/>
              <a:chExt cx="4320048" cy="1800021"/>
            </a:xfrm>
          </p:grpSpPr>
          <p:sp>
            <p:nvSpPr>
              <p:cNvPr id="149" name="正方形/長方形 148">
                <a:extLst>
                  <a:ext uri="{FF2B5EF4-FFF2-40B4-BE49-F238E27FC236}">
                    <a16:creationId xmlns:a16="http://schemas.microsoft.com/office/drawing/2014/main" id="{EE1ADB96-9728-40E9-BFDF-AC45B8399E3E}"/>
                  </a:ext>
                </a:extLst>
              </p:cNvPr>
              <p:cNvSpPr/>
              <p:nvPr/>
            </p:nvSpPr>
            <p:spPr bwMode="auto">
              <a:xfrm>
                <a:off x="2051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pic>
            <p:nvPicPr>
              <p:cNvPr id="150" name="Picture 30" descr="NOT">
                <a:extLst>
                  <a:ext uri="{FF2B5EF4-FFF2-40B4-BE49-F238E27FC236}">
                    <a16:creationId xmlns:a16="http://schemas.microsoft.com/office/drawing/2014/main" id="{92356AF5-0B53-45A4-B736-E16AEBBB81E9}"/>
                  </a:ext>
                </a:extLst>
              </p:cNvPr>
              <p:cNvPicPr>
                <a:picLocks noChangeAspect="1" noChangeArrowheads="1"/>
              </p:cNvPicPr>
              <p:nvPr/>
            </p:nvPicPr>
            <p:blipFill>
              <a:blip r:embed="rId2" cstate="print"/>
              <a:srcRect/>
              <a:stretch>
                <a:fillRect/>
              </a:stretch>
            </p:blipFill>
            <p:spPr bwMode="auto">
              <a:xfrm flipH="1">
                <a:off x="2501977" y="2707558"/>
                <a:ext cx="717550" cy="720725"/>
              </a:xfrm>
              <a:prstGeom prst="rect">
                <a:avLst/>
              </a:prstGeom>
              <a:noFill/>
            </p:spPr>
          </p:pic>
          <p:pic>
            <p:nvPicPr>
              <p:cNvPr id="151" name="Picture 31" descr="NOT">
                <a:extLst>
                  <a:ext uri="{FF2B5EF4-FFF2-40B4-BE49-F238E27FC236}">
                    <a16:creationId xmlns:a16="http://schemas.microsoft.com/office/drawing/2014/main" id="{FF110F70-C0E9-4E97-A219-E7C115C42D06}"/>
                  </a:ext>
                </a:extLst>
              </p:cNvPr>
              <p:cNvPicPr>
                <a:picLocks noChangeAspect="1" noChangeArrowheads="1"/>
              </p:cNvPicPr>
              <p:nvPr/>
            </p:nvPicPr>
            <p:blipFill>
              <a:blip r:embed="rId2" cstate="print"/>
              <a:srcRect/>
              <a:stretch>
                <a:fillRect/>
              </a:stretch>
            </p:blipFill>
            <p:spPr bwMode="auto">
              <a:xfrm>
                <a:off x="2501977" y="3428283"/>
                <a:ext cx="717550" cy="720725"/>
              </a:xfrm>
              <a:prstGeom prst="rect">
                <a:avLst/>
              </a:prstGeom>
              <a:noFill/>
            </p:spPr>
          </p:pic>
          <p:grpSp>
            <p:nvGrpSpPr>
              <p:cNvPr id="152" name="グループ化 151">
                <a:extLst>
                  <a:ext uri="{FF2B5EF4-FFF2-40B4-BE49-F238E27FC236}">
                    <a16:creationId xmlns:a16="http://schemas.microsoft.com/office/drawing/2014/main" id="{383B3DC1-69FB-44A6-8DC3-D8D1AB130078}"/>
                  </a:ext>
                </a:extLst>
              </p:cNvPr>
              <p:cNvGrpSpPr/>
              <p:nvPr/>
            </p:nvGrpSpPr>
            <p:grpSpPr>
              <a:xfrm>
                <a:off x="3851992" y="3068996"/>
                <a:ext cx="360004" cy="360004"/>
                <a:chOff x="4932004" y="2708992"/>
                <a:chExt cx="360004" cy="360004"/>
              </a:xfrm>
            </p:grpSpPr>
            <p:cxnSp>
              <p:nvCxnSpPr>
                <p:cNvPr id="167" name="直線コネクタ 166">
                  <a:extLst>
                    <a:ext uri="{FF2B5EF4-FFF2-40B4-BE49-F238E27FC236}">
                      <a16:creationId xmlns:a16="http://schemas.microsoft.com/office/drawing/2014/main" id="{0194BD2F-D2EA-4994-9365-9C2B1D41A568}"/>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a16:creationId xmlns:a16="http://schemas.microsoft.com/office/drawing/2014/main" id="{9E06F0FE-2B70-48BA-9FB7-444E82F1E14E}"/>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a16:creationId xmlns:a16="http://schemas.microsoft.com/office/drawing/2014/main" id="{E2C9FB40-B3C8-4ADD-AB7D-B2B21113A91C}"/>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0" name="直線コネクタ 169">
                  <a:extLst>
                    <a:ext uri="{FF2B5EF4-FFF2-40B4-BE49-F238E27FC236}">
                      <a16:creationId xmlns:a16="http://schemas.microsoft.com/office/drawing/2014/main" id="{80E9B192-A27F-4167-AD2E-1E1D347F1CAF}"/>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3" name="直線コネクタ 152">
                <a:extLst>
                  <a:ext uri="{FF2B5EF4-FFF2-40B4-BE49-F238E27FC236}">
                    <a16:creationId xmlns:a16="http://schemas.microsoft.com/office/drawing/2014/main" id="{A7A61C6D-8D95-4A8E-8161-B0CEE58654D6}"/>
                  </a:ext>
                </a:extLst>
              </p:cNvPr>
              <p:cNvCxnSpPr>
                <a:cxnSpLocks/>
              </p:cNvCxnSpPr>
              <p:nvPr/>
            </p:nvCxnSpPr>
            <p:spPr>
              <a:xfrm>
                <a:off x="3491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154" name="グループ化 153">
                <a:extLst>
                  <a:ext uri="{FF2B5EF4-FFF2-40B4-BE49-F238E27FC236}">
                    <a16:creationId xmlns:a16="http://schemas.microsoft.com/office/drawing/2014/main" id="{15D4E600-080C-49BD-8976-D5E5EAEAB94B}"/>
                  </a:ext>
                </a:extLst>
              </p:cNvPr>
              <p:cNvGrpSpPr/>
              <p:nvPr/>
            </p:nvGrpSpPr>
            <p:grpSpPr>
              <a:xfrm>
                <a:off x="1331964" y="3068996"/>
                <a:ext cx="360004" cy="360004"/>
                <a:chOff x="4932004" y="2708992"/>
                <a:chExt cx="360004" cy="360004"/>
              </a:xfrm>
            </p:grpSpPr>
            <p:cxnSp>
              <p:nvCxnSpPr>
                <p:cNvPr id="163" name="直線コネクタ 162">
                  <a:extLst>
                    <a:ext uri="{FF2B5EF4-FFF2-40B4-BE49-F238E27FC236}">
                      <a16:creationId xmlns:a16="http://schemas.microsoft.com/office/drawing/2014/main" id="{57D357C5-E599-458B-BBA7-9F77BC46003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4" name="直線コネクタ 163">
                  <a:extLst>
                    <a:ext uri="{FF2B5EF4-FFF2-40B4-BE49-F238E27FC236}">
                      <a16:creationId xmlns:a16="http://schemas.microsoft.com/office/drawing/2014/main" id="{3AF82D25-2F4B-443D-9347-601CFF11A4E7}"/>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5" name="直線コネクタ 164">
                  <a:extLst>
                    <a:ext uri="{FF2B5EF4-FFF2-40B4-BE49-F238E27FC236}">
                      <a16:creationId xmlns:a16="http://schemas.microsoft.com/office/drawing/2014/main" id="{9875ED1D-9848-4A71-99CA-5F30FBC3D5BB}"/>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6" name="直線コネクタ 165">
                  <a:extLst>
                    <a:ext uri="{FF2B5EF4-FFF2-40B4-BE49-F238E27FC236}">
                      <a16:creationId xmlns:a16="http://schemas.microsoft.com/office/drawing/2014/main" id="{BDAE46EE-549A-48BF-83C1-9FF0832C948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5" name="直線コネクタ 154">
                <a:extLst>
                  <a:ext uri="{FF2B5EF4-FFF2-40B4-BE49-F238E27FC236}">
                    <a16:creationId xmlns:a16="http://schemas.microsoft.com/office/drawing/2014/main" id="{C320A8F6-2311-4C61-8571-23B8E82DC6B3}"/>
                  </a:ext>
                </a:extLst>
              </p:cNvPr>
              <p:cNvCxnSpPr>
                <a:cxnSpLocks/>
                <a:stCxn id="149" idx="1"/>
              </p:cNvCxnSpPr>
              <p:nvPr/>
            </p:nvCxnSpPr>
            <p:spPr>
              <a:xfrm flipH="1">
                <a:off x="1691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a16:creationId xmlns:a16="http://schemas.microsoft.com/office/drawing/2014/main" id="{49166FF5-AEAB-4F19-BE6A-B2605AE51A5D}"/>
                  </a:ext>
                </a:extLst>
              </p:cNvPr>
              <p:cNvCxnSpPr>
                <a:cxnSpLocks/>
              </p:cNvCxnSpPr>
              <p:nvPr/>
            </p:nvCxnSpPr>
            <p:spPr>
              <a:xfrm>
                <a:off x="4211996" y="3429000"/>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157" name="直線コネクタ 156">
                <a:extLst>
                  <a:ext uri="{FF2B5EF4-FFF2-40B4-BE49-F238E27FC236}">
                    <a16:creationId xmlns:a16="http://schemas.microsoft.com/office/drawing/2014/main" id="{B1D3BF3E-22F9-43B2-8835-FD447DD84EF1}"/>
                  </a:ext>
                </a:extLst>
              </p:cNvPr>
              <p:cNvCxnSpPr>
                <a:cxnSpLocks/>
              </p:cNvCxnSpPr>
              <p:nvPr/>
            </p:nvCxnSpPr>
            <p:spPr>
              <a:xfrm>
                <a:off x="971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a16:creationId xmlns:a16="http://schemas.microsoft.com/office/drawing/2014/main" id="{DC11228E-138A-4F60-80D3-1B66B021CC7E}"/>
                  </a:ext>
                </a:extLst>
              </p:cNvPr>
              <p:cNvCxnSpPr>
                <a:cxnSpLocks/>
              </p:cNvCxnSpPr>
              <p:nvPr/>
            </p:nvCxnSpPr>
            <p:spPr>
              <a:xfrm flipV="1">
                <a:off x="97196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59" name="直線コネクタ 158">
                <a:extLst>
                  <a:ext uri="{FF2B5EF4-FFF2-40B4-BE49-F238E27FC236}">
                    <a16:creationId xmlns:a16="http://schemas.microsoft.com/office/drawing/2014/main" id="{AF149FCB-B3FD-4076-8932-3BB910109AA4}"/>
                  </a:ext>
                </a:extLst>
              </p:cNvPr>
              <p:cNvCxnSpPr>
                <a:cxnSpLocks/>
              </p:cNvCxnSpPr>
              <p:nvPr/>
            </p:nvCxnSpPr>
            <p:spPr>
              <a:xfrm flipV="1">
                <a:off x="4572000" y="2348988"/>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0" name="直線コネクタ 159">
                <a:extLst>
                  <a:ext uri="{FF2B5EF4-FFF2-40B4-BE49-F238E27FC236}">
                    <a16:creationId xmlns:a16="http://schemas.microsoft.com/office/drawing/2014/main" id="{6406DCC9-680A-499A-B69C-E72A7F8D285A}"/>
                  </a:ext>
                </a:extLst>
              </p:cNvPr>
              <p:cNvCxnSpPr>
                <a:cxnSpLocks/>
              </p:cNvCxnSpPr>
              <p:nvPr/>
            </p:nvCxnSpPr>
            <p:spPr>
              <a:xfrm flipV="1">
                <a:off x="4031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a16:creationId xmlns:a16="http://schemas.microsoft.com/office/drawing/2014/main" id="{68CE5D36-3403-49E7-8F4E-E92C77737117}"/>
                  </a:ext>
                </a:extLst>
              </p:cNvPr>
              <p:cNvCxnSpPr>
                <a:cxnSpLocks/>
              </p:cNvCxnSpPr>
              <p:nvPr/>
            </p:nvCxnSpPr>
            <p:spPr>
              <a:xfrm flipV="1">
                <a:off x="1511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62" name="直線コネクタ 161">
                <a:extLst>
                  <a:ext uri="{FF2B5EF4-FFF2-40B4-BE49-F238E27FC236}">
                    <a16:creationId xmlns:a16="http://schemas.microsoft.com/office/drawing/2014/main" id="{42816C17-E33D-4F25-93F8-BC7F9F81CBFB}"/>
                  </a:ext>
                </a:extLst>
              </p:cNvPr>
              <p:cNvCxnSpPr>
                <a:cxnSpLocks/>
              </p:cNvCxnSpPr>
              <p:nvPr/>
            </p:nvCxnSpPr>
            <p:spPr>
              <a:xfrm>
                <a:off x="611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grpSp>
        <p:nvGrpSpPr>
          <p:cNvPr id="10" name="グループ化 9">
            <a:extLst>
              <a:ext uri="{FF2B5EF4-FFF2-40B4-BE49-F238E27FC236}">
                <a16:creationId xmlns:a16="http://schemas.microsoft.com/office/drawing/2014/main" id="{478A1ABE-C95B-44FD-9203-345ACFF02B53}"/>
              </a:ext>
            </a:extLst>
          </p:cNvPr>
          <p:cNvGrpSpPr/>
          <p:nvPr/>
        </p:nvGrpSpPr>
        <p:grpSpPr>
          <a:xfrm>
            <a:off x="5652012" y="1538979"/>
            <a:ext cx="1620018" cy="4860054"/>
            <a:chOff x="5652012" y="728970"/>
            <a:chExt cx="1800020" cy="6134164"/>
          </a:xfrm>
        </p:grpSpPr>
        <p:grpSp>
          <p:nvGrpSpPr>
            <p:cNvPr id="9" name="グループ化 8">
              <a:extLst>
                <a:ext uri="{FF2B5EF4-FFF2-40B4-BE49-F238E27FC236}">
                  <a16:creationId xmlns:a16="http://schemas.microsoft.com/office/drawing/2014/main" id="{C4F768A5-3CC9-43A1-BC86-8B4454B5A7E2}"/>
                </a:ext>
              </a:extLst>
            </p:cNvPr>
            <p:cNvGrpSpPr/>
            <p:nvPr/>
          </p:nvGrpSpPr>
          <p:grpSpPr>
            <a:xfrm>
              <a:off x="5652012" y="728970"/>
              <a:ext cx="1800020" cy="1800020"/>
              <a:chOff x="5652012" y="728970"/>
              <a:chExt cx="1800020" cy="1800020"/>
            </a:xfrm>
          </p:grpSpPr>
          <p:grpSp>
            <p:nvGrpSpPr>
              <p:cNvPr id="56" name="グループ化 55">
                <a:extLst>
                  <a:ext uri="{FF2B5EF4-FFF2-40B4-BE49-F238E27FC236}">
                    <a16:creationId xmlns:a16="http://schemas.microsoft.com/office/drawing/2014/main" id="{B2772659-A00E-4413-9EB6-D696321711C2}"/>
                  </a:ext>
                </a:extLst>
              </p:cNvPr>
              <p:cNvGrpSpPr/>
              <p:nvPr/>
            </p:nvGrpSpPr>
            <p:grpSpPr>
              <a:xfrm>
                <a:off x="6372020" y="1448978"/>
                <a:ext cx="360004" cy="360004"/>
                <a:chOff x="4932004" y="2708992"/>
                <a:chExt cx="360004" cy="360004"/>
              </a:xfrm>
            </p:grpSpPr>
            <p:cxnSp>
              <p:nvCxnSpPr>
                <p:cNvPr id="57" name="直線コネクタ 56">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61" name="直線コネクタ 60">
                <a:extLst>
                  <a:ext uri="{FF2B5EF4-FFF2-40B4-BE49-F238E27FC236}">
                    <a16:creationId xmlns:a16="http://schemas.microsoft.com/office/drawing/2014/main" id="{04ACCC42-4E49-4867-BFDC-671C90B11355}"/>
                  </a:ext>
                </a:extLst>
              </p:cNvPr>
              <p:cNvCxnSpPr>
                <a:cxnSpLocks/>
              </p:cNvCxnSpPr>
              <p:nvPr/>
            </p:nvCxnSpPr>
            <p:spPr>
              <a:xfrm>
                <a:off x="6012016" y="180898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9FA852A0-5D43-4C5B-8D71-AF1C94363457}"/>
                  </a:ext>
                </a:extLst>
              </p:cNvPr>
              <p:cNvCxnSpPr>
                <a:cxnSpLocks/>
              </p:cNvCxnSpPr>
              <p:nvPr/>
            </p:nvCxnSpPr>
            <p:spPr>
              <a:xfrm>
                <a:off x="6732024" y="180898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DDEA31C-DEA3-4027-A96D-5EC4FD0DCD35}"/>
                  </a:ext>
                </a:extLst>
              </p:cNvPr>
              <p:cNvCxnSpPr>
                <a:cxnSpLocks/>
              </p:cNvCxnSpPr>
              <p:nvPr/>
            </p:nvCxnSpPr>
            <p:spPr>
              <a:xfrm flipV="1">
                <a:off x="6012016" y="72897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97" name="グループ化 96">
                <a:extLst>
                  <a:ext uri="{FF2B5EF4-FFF2-40B4-BE49-F238E27FC236}">
                    <a16:creationId xmlns:a16="http://schemas.microsoft.com/office/drawing/2014/main" id="{DE115225-CFB0-4004-A206-CB9F39CB2EA1}"/>
                  </a:ext>
                </a:extLst>
              </p:cNvPr>
              <p:cNvGrpSpPr/>
              <p:nvPr/>
            </p:nvGrpSpPr>
            <p:grpSpPr>
              <a:xfrm>
                <a:off x="6912026" y="1988984"/>
                <a:ext cx="360004" cy="90003"/>
                <a:chOff x="7272030" y="3789004"/>
                <a:chExt cx="360004" cy="90003"/>
              </a:xfrm>
            </p:grpSpPr>
            <p:cxnSp>
              <p:nvCxnSpPr>
                <p:cNvPr id="70" name="直線コネクタ 69">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2" name="直線コネクタ 71">
                <a:extLst>
                  <a:ext uri="{FF2B5EF4-FFF2-40B4-BE49-F238E27FC236}">
                    <a16:creationId xmlns:a16="http://schemas.microsoft.com/office/drawing/2014/main" id="{980D156E-BEF6-49E5-BEDB-E654CED1DF10}"/>
                  </a:ext>
                </a:extLst>
              </p:cNvPr>
              <p:cNvCxnSpPr>
                <a:cxnSpLocks/>
              </p:cNvCxnSpPr>
              <p:nvPr/>
            </p:nvCxnSpPr>
            <p:spPr>
              <a:xfrm flipV="1">
                <a:off x="7092028" y="180898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DDF1097C-113D-483C-86EC-803338665142}"/>
                  </a:ext>
                </a:extLst>
              </p:cNvPr>
              <p:cNvCxnSpPr>
                <a:cxnSpLocks/>
              </p:cNvCxnSpPr>
              <p:nvPr/>
            </p:nvCxnSpPr>
            <p:spPr>
              <a:xfrm flipV="1">
                <a:off x="7092028" y="207898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80" name="グループ化 79">
                <a:extLst>
                  <a:ext uri="{FF2B5EF4-FFF2-40B4-BE49-F238E27FC236}">
                    <a16:creationId xmlns:a16="http://schemas.microsoft.com/office/drawing/2014/main" id="{38D32D1F-3EE8-498D-B8DB-C60684B30C49}"/>
                  </a:ext>
                </a:extLst>
              </p:cNvPr>
              <p:cNvGrpSpPr/>
              <p:nvPr/>
            </p:nvGrpSpPr>
            <p:grpSpPr>
              <a:xfrm>
                <a:off x="6912026" y="2348988"/>
                <a:ext cx="326325" cy="117556"/>
                <a:chOff x="2531592" y="5357236"/>
                <a:chExt cx="326325" cy="117556"/>
              </a:xfrm>
            </p:grpSpPr>
            <p:cxnSp>
              <p:nvCxnSpPr>
                <p:cNvPr id="77" name="直線コネクタ 76">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2" name="直線コネクタ 91">
                <a:extLst>
                  <a:ext uri="{FF2B5EF4-FFF2-40B4-BE49-F238E27FC236}">
                    <a16:creationId xmlns:a16="http://schemas.microsoft.com/office/drawing/2014/main" id="{5C16D03F-62AA-402B-A9AC-ADCF020FC7D6}"/>
                  </a:ext>
                </a:extLst>
              </p:cNvPr>
              <p:cNvCxnSpPr>
                <a:cxnSpLocks/>
              </p:cNvCxnSpPr>
              <p:nvPr/>
            </p:nvCxnSpPr>
            <p:spPr>
              <a:xfrm flipV="1">
                <a:off x="6552022" y="108897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287BB93E-CC11-4F3A-AF7A-8FAF390455E8}"/>
                  </a:ext>
                </a:extLst>
              </p:cNvPr>
              <p:cNvCxnSpPr>
                <a:cxnSpLocks/>
              </p:cNvCxnSpPr>
              <p:nvPr/>
            </p:nvCxnSpPr>
            <p:spPr>
              <a:xfrm>
                <a:off x="5652012" y="108897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190" name="グループ化 189">
              <a:extLst>
                <a:ext uri="{FF2B5EF4-FFF2-40B4-BE49-F238E27FC236}">
                  <a16:creationId xmlns:a16="http://schemas.microsoft.com/office/drawing/2014/main" id="{436C3C4F-A927-41C9-B20E-BF607C38BA5F}"/>
                </a:ext>
              </a:extLst>
            </p:cNvPr>
            <p:cNvGrpSpPr/>
            <p:nvPr/>
          </p:nvGrpSpPr>
          <p:grpSpPr>
            <a:xfrm>
              <a:off x="5652012" y="2168986"/>
              <a:ext cx="1800020" cy="1800020"/>
              <a:chOff x="5652012" y="728970"/>
              <a:chExt cx="1800020" cy="1800020"/>
            </a:xfrm>
          </p:grpSpPr>
          <p:grpSp>
            <p:nvGrpSpPr>
              <p:cNvPr id="191" name="グループ化 190">
                <a:extLst>
                  <a:ext uri="{FF2B5EF4-FFF2-40B4-BE49-F238E27FC236}">
                    <a16:creationId xmlns:a16="http://schemas.microsoft.com/office/drawing/2014/main" id="{D25485CF-CB34-4701-8105-D1057310D6D3}"/>
                  </a:ext>
                </a:extLst>
              </p:cNvPr>
              <p:cNvGrpSpPr/>
              <p:nvPr/>
            </p:nvGrpSpPr>
            <p:grpSpPr>
              <a:xfrm>
                <a:off x="6372020" y="1448978"/>
                <a:ext cx="360004" cy="360004"/>
                <a:chOff x="4932004" y="2708992"/>
                <a:chExt cx="360004" cy="360004"/>
              </a:xfrm>
            </p:grpSpPr>
            <p:cxnSp>
              <p:nvCxnSpPr>
                <p:cNvPr id="206" name="直線コネクタ 205">
                  <a:extLst>
                    <a:ext uri="{FF2B5EF4-FFF2-40B4-BE49-F238E27FC236}">
                      <a16:creationId xmlns:a16="http://schemas.microsoft.com/office/drawing/2014/main" id="{001A4D5E-413F-4CC3-B0B9-5F884BC53E19}"/>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a16:creationId xmlns:a16="http://schemas.microsoft.com/office/drawing/2014/main" id="{D1E0BF14-6979-4A8E-87BF-2B99A687986A}"/>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51B28292-9EC8-4EF4-BEA3-71BFA869ED99}"/>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9" name="直線コネクタ 208">
                  <a:extLst>
                    <a:ext uri="{FF2B5EF4-FFF2-40B4-BE49-F238E27FC236}">
                      <a16:creationId xmlns:a16="http://schemas.microsoft.com/office/drawing/2014/main" id="{D5FAC743-B4BC-4A52-9674-1EDFC79D2474}"/>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92" name="直線コネクタ 191">
                <a:extLst>
                  <a:ext uri="{FF2B5EF4-FFF2-40B4-BE49-F238E27FC236}">
                    <a16:creationId xmlns:a16="http://schemas.microsoft.com/office/drawing/2014/main" id="{03142A4B-87C9-4621-AFDF-B97D14E5CFF1}"/>
                  </a:ext>
                </a:extLst>
              </p:cNvPr>
              <p:cNvCxnSpPr>
                <a:cxnSpLocks/>
              </p:cNvCxnSpPr>
              <p:nvPr/>
            </p:nvCxnSpPr>
            <p:spPr>
              <a:xfrm>
                <a:off x="6012016" y="180898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87CE94F9-05DA-475B-B9D9-2DA57EDB6D10}"/>
                  </a:ext>
                </a:extLst>
              </p:cNvPr>
              <p:cNvCxnSpPr>
                <a:cxnSpLocks/>
              </p:cNvCxnSpPr>
              <p:nvPr/>
            </p:nvCxnSpPr>
            <p:spPr>
              <a:xfrm>
                <a:off x="6732024" y="180898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a16:creationId xmlns:a16="http://schemas.microsoft.com/office/drawing/2014/main" id="{B5F436DC-E768-4E92-A821-46A659C1E41F}"/>
                  </a:ext>
                </a:extLst>
              </p:cNvPr>
              <p:cNvCxnSpPr>
                <a:cxnSpLocks/>
              </p:cNvCxnSpPr>
              <p:nvPr/>
            </p:nvCxnSpPr>
            <p:spPr>
              <a:xfrm flipV="1">
                <a:off x="6012016" y="72897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95" name="グループ化 194">
                <a:extLst>
                  <a:ext uri="{FF2B5EF4-FFF2-40B4-BE49-F238E27FC236}">
                    <a16:creationId xmlns:a16="http://schemas.microsoft.com/office/drawing/2014/main" id="{412AED1C-0BE9-4319-B2FF-9A37349E8C31}"/>
                  </a:ext>
                </a:extLst>
              </p:cNvPr>
              <p:cNvGrpSpPr/>
              <p:nvPr/>
            </p:nvGrpSpPr>
            <p:grpSpPr>
              <a:xfrm>
                <a:off x="6912026" y="1988984"/>
                <a:ext cx="360004" cy="90003"/>
                <a:chOff x="7272030" y="3789004"/>
                <a:chExt cx="360004" cy="90003"/>
              </a:xfrm>
            </p:grpSpPr>
            <p:cxnSp>
              <p:nvCxnSpPr>
                <p:cNvPr id="204" name="直線コネクタ 203">
                  <a:extLst>
                    <a:ext uri="{FF2B5EF4-FFF2-40B4-BE49-F238E27FC236}">
                      <a16:creationId xmlns:a16="http://schemas.microsoft.com/office/drawing/2014/main" id="{F2B3FB15-504E-43D0-A168-3D71663E83A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0C602B01-1C1B-4C28-88F0-62E4262103F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96" name="直線コネクタ 195">
                <a:extLst>
                  <a:ext uri="{FF2B5EF4-FFF2-40B4-BE49-F238E27FC236}">
                    <a16:creationId xmlns:a16="http://schemas.microsoft.com/office/drawing/2014/main" id="{066DB9F5-9D05-46BC-8873-1403C710D254}"/>
                  </a:ext>
                </a:extLst>
              </p:cNvPr>
              <p:cNvCxnSpPr>
                <a:cxnSpLocks/>
              </p:cNvCxnSpPr>
              <p:nvPr/>
            </p:nvCxnSpPr>
            <p:spPr>
              <a:xfrm flipV="1">
                <a:off x="7092028" y="180898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a16:creationId xmlns:a16="http://schemas.microsoft.com/office/drawing/2014/main" id="{B873F066-44A7-4CD9-B861-128EB84E9DD4}"/>
                  </a:ext>
                </a:extLst>
              </p:cNvPr>
              <p:cNvCxnSpPr>
                <a:cxnSpLocks/>
              </p:cNvCxnSpPr>
              <p:nvPr/>
            </p:nvCxnSpPr>
            <p:spPr>
              <a:xfrm flipV="1">
                <a:off x="7092028" y="207898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98" name="グループ化 197">
                <a:extLst>
                  <a:ext uri="{FF2B5EF4-FFF2-40B4-BE49-F238E27FC236}">
                    <a16:creationId xmlns:a16="http://schemas.microsoft.com/office/drawing/2014/main" id="{0BACA2FA-51D1-4B45-8933-91D391EE63FA}"/>
                  </a:ext>
                </a:extLst>
              </p:cNvPr>
              <p:cNvGrpSpPr/>
              <p:nvPr/>
            </p:nvGrpSpPr>
            <p:grpSpPr>
              <a:xfrm>
                <a:off x="6912026" y="2348988"/>
                <a:ext cx="326325" cy="117556"/>
                <a:chOff x="2531592" y="5357236"/>
                <a:chExt cx="326325" cy="117556"/>
              </a:xfrm>
            </p:grpSpPr>
            <p:cxnSp>
              <p:nvCxnSpPr>
                <p:cNvPr id="201" name="直線コネクタ 200">
                  <a:extLst>
                    <a:ext uri="{FF2B5EF4-FFF2-40B4-BE49-F238E27FC236}">
                      <a16:creationId xmlns:a16="http://schemas.microsoft.com/office/drawing/2014/main" id="{8E1F3462-DA2D-4BD4-A3EB-E84168FA5FBF}"/>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2" name="直線コネクタ 201">
                  <a:extLst>
                    <a:ext uri="{FF2B5EF4-FFF2-40B4-BE49-F238E27FC236}">
                      <a16:creationId xmlns:a16="http://schemas.microsoft.com/office/drawing/2014/main" id="{7B70AF7B-6998-4E09-9862-A1AB217EBC85}"/>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B9BC80FE-C1EC-4F6D-90C7-9161D9E2B6CE}"/>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99" name="直線コネクタ 198">
                <a:extLst>
                  <a:ext uri="{FF2B5EF4-FFF2-40B4-BE49-F238E27FC236}">
                    <a16:creationId xmlns:a16="http://schemas.microsoft.com/office/drawing/2014/main" id="{DC80B686-1888-4B6A-AFEE-B4A7DC7AA8BA}"/>
                  </a:ext>
                </a:extLst>
              </p:cNvPr>
              <p:cNvCxnSpPr>
                <a:cxnSpLocks/>
              </p:cNvCxnSpPr>
              <p:nvPr/>
            </p:nvCxnSpPr>
            <p:spPr>
              <a:xfrm flipV="1">
                <a:off x="6552022" y="108897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00" name="直線コネクタ 199">
                <a:extLst>
                  <a:ext uri="{FF2B5EF4-FFF2-40B4-BE49-F238E27FC236}">
                    <a16:creationId xmlns:a16="http://schemas.microsoft.com/office/drawing/2014/main" id="{E400D98A-4885-422F-B970-AF06C3C469F8}"/>
                  </a:ext>
                </a:extLst>
              </p:cNvPr>
              <p:cNvCxnSpPr>
                <a:cxnSpLocks/>
              </p:cNvCxnSpPr>
              <p:nvPr/>
            </p:nvCxnSpPr>
            <p:spPr>
              <a:xfrm>
                <a:off x="5652012" y="108897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210" name="グループ化 209">
              <a:extLst>
                <a:ext uri="{FF2B5EF4-FFF2-40B4-BE49-F238E27FC236}">
                  <a16:creationId xmlns:a16="http://schemas.microsoft.com/office/drawing/2014/main" id="{1694CD2C-2BD3-469A-929A-ACAE9DEFF4F4}"/>
                </a:ext>
              </a:extLst>
            </p:cNvPr>
            <p:cNvGrpSpPr/>
            <p:nvPr/>
          </p:nvGrpSpPr>
          <p:grpSpPr>
            <a:xfrm>
              <a:off x="5652012" y="3609002"/>
              <a:ext cx="1800020" cy="1800020"/>
              <a:chOff x="5652012" y="728970"/>
              <a:chExt cx="1800020" cy="1800020"/>
            </a:xfrm>
          </p:grpSpPr>
          <p:grpSp>
            <p:nvGrpSpPr>
              <p:cNvPr id="211" name="グループ化 210">
                <a:extLst>
                  <a:ext uri="{FF2B5EF4-FFF2-40B4-BE49-F238E27FC236}">
                    <a16:creationId xmlns:a16="http://schemas.microsoft.com/office/drawing/2014/main" id="{EF063828-012A-445B-BF14-75950650B38C}"/>
                  </a:ext>
                </a:extLst>
              </p:cNvPr>
              <p:cNvGrpSpPr/>
              <p:nvPr/>
            </p:nvGrpSpPr>
            <p:grpSpPr>
              <a:xfrm>
                <a:off x="6372020" y="1448978"/>
                <a:ext cx="360004" cy="360004"/>
                <a:chOff x="4932004" y="2708992"/>
                <a:chExt cx="360004" cy="360004"/>
              </a:xfrm>
            </p:grpSpPr>
            <p:cxnSp>
              <p:nvCxnSpPr>
                <p:cNvPr id="226" name="直線コネクタ 225">
                  <a:extLst>
                    <a:ext uri="{FF2B5EF4-FFF2-40B4-BE49-F238E27FC236}">
                      <a16:creationId xmlns:a16="http://schemas.microsoft.com/office/drawing/2014/main" id="{B69B0D71-5C15-412D-8D52-23D443DB6D15}"/>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a16:creationId xmlns:a16="http://schemas.microsoft.com/office/drawing/2014/main" id="{DABADECF-A517-49C3-877F-7DE94755AB91}"/>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a16:creationId xmlns:a16="http://schemas.microsoft.com/office/drawing/2014/main" id="{0B114486-01B7-448B-8728-4434D4AB1501}"/>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a16:creationId xmlns:a16="http://schemas.microsoft.com/office/drawing/2014/main" id="{8C619C50-0201-43BF-87E1-D166C6EBB5E2}"/>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2" name="直線コネクタ 211">
                <a:extLst>
                  <a:ext uri="{FF2B5EF4-FFF2-40B4-BE49-F238E27FC236}">
                    <a16:creationId xmlns:a16="http://schemas.microsoft.com/office/drawing/2014/main" id="{15672763-42E0-4C2C-AEE8-58C12AB35972}"/>
                  </a:ext>
                </a:extLst>
              </p:cNvPr>
              <p:cNvCxnSpPr>
                <a:cxnSpLocks/>
              </p:cNvCxnSpPr>
              <p:nvPr/>
            </p:nvCxnSpPr>
            <p:spPr>
              <a:xfrm>
                <a:off x="6012016" y="180898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a16:creationId xmlns:a16="http://schemas.microsoft.com/office/drawing/2014/main" id="{CEA99A9B-21D9-41B5-86A2-9AC00313D276}"/>
                  </a:ext>
                </a:extLst>
              </p:cNvPr>
              <p:cNvCxnSpPr>
                <a:cxnSpLocks/>
              </p:cNvCxnSpPr>
              <p:nvPr/>
            </p:nvCxnSpPr>
            <p:spPr>
              <a:xfrm>
                <a:off x="6732024" y="180898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14" name="直線コネクタ 213">
                <a:extLst>
                  <a:ext uri="{FF2B5EF4-FFF2-40B4-BE49-F238E27FC236}">
                    <a16:creationId xmlns:a16="http://schemas.microsoft.com/office/drawing/2014/main" id="{C6157632-FE25-4D61-8791-406A7021A0ED}"/>
                  </a:ext>
                </a:extLst>
              </p:cNvPr>
              <p:cNvCxnSpPr>
                <a:cxnSpLocks/>
              </p:cNvCxnSpPr>
              <p:nvPr/>
            </p:nvCxnSpPr>
            <p:spPr>
              <a:xfrm flipV="1">
                <a:off x="6012016" y="72897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215" name="グループ化 214">
                <a:extLst>
                  <a:ext uri="{FF2B5EF4-FFF2-40B4-BE49-F238E27FC236}">
                    <a16:creationId xmlns:a16="http://schemas.microsoft.com/office/drawing/2014/main" id="{FDCCFBE8-3A14-4EE7-ABAD-7E4C96818E33}"/>
                  </a:ext>
                </a:extLst>
              </p:cNvPr>
              <p:cNvGrpSpPr/>
              <p:nvPr/>
            </p:nvGrpSpPr>
            <p:grpSpPr>
              <a:xfrm>
                <a:off x="6912026" y="1988984"/>
                <a:ext cx="360004" cy="90003"/>
                <a:chOff x="7272030" y="3789004"/>
                <a:chExt cx="360004" cy="90003"/>
              </a:xfrm>
            </p:grpSpPr>
            <p:cxnSp>
              <p:nvCxnSpPr>
                <p:cNvPr id="224" name="直線コネクタ 223">
                  <a:extLst>
                    <a:ext uri="{FF2B5EF4-FFF2-40B4-BE49-F238E27FC236}">
                      <a16:creationId xmlns:a16="http://schemas.microsoft.com/office/drawing/2014/main" id="{8A0433E9-F951-4DF7-BBCF-C0B447C75B17}"/>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a16:creationId xmlns:a16="http://schemas.microsoft.com/office/drawing/2014/main" id="{B2178B64-5225-4E4A-B6E2-5F6EA314C5F5}"/>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6" name="直線コネクタ 215">
                <a:extLst>
                  <a:ext uri="{FF2B5EF4-FFF2-40B4-BE49-F238E27FC236}">
                    <a16:creationId xmlns:a16="http://schemas.microsoft.com/office/drawing/2014/main" id="{CA7A7151-4714-40C7-B53E-FBA39A954B67}"/>
                  </a:ext>
                </a:extLst>
              </p:cNvPr>
              <p:cNvCxnSpPr>
                <a:cxnSpLocks/>
              </p:cNvCxnSpPr>
              <p:nvPr/>
            </p:nvCxnSpPr>
            <p:spPr>
              <a:xfrm flipV="1">
                <a:off x="7092028" y="180898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a16:creationId xmlns:a16="http://schemas.microsoft.com/office/drawing/2014/main" id="{22596E69-6625-473F-9E22-CA95A4194B2B}"/>
                  </a:ext>
                </a:extLst>
              </p:cNvPr>
              <p:cNvCxnSpPr>
                <a:cxnSpLocks/>
              </p:cNvCxnSpPr>
              <p:nvPr/>
            </p:nvCxnSpPr>
            <p:spPr>
              <a:xfrm flipV="1">
                <a:off x="7092028" y="207898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218" name="グループ化 217">
                <a:extLst>
                  <a:ext uri="{FF2B5EF4-FFF2-40B4-BE49-F238E27FC236}">
                    <a16:creationId xmlns:a16="http://schemas.microsoft.com/office/drawing/2014/main" id="{05272CA7-68AB-46C8-86D9-E7E3020F778C}"/>
                  </a:ext>
                </a:extLst>
              </p:cNvPr>
              <p:cNvGrpSpPr/>
              <p:nvPr/>
            </p:nvGrpSpPr>
            <p:grpSpPr>
              <a:xfrm>
                <a:off x="6912026" y="2348988"/>
                <a:ext cx="326325" cy="117556"/>
                <a:chOff x="2531592" y="5357236"/>
                <a:chExt cx="326325" cy="117556"/>
              </a:xfrm>
            </p:grpSpPr>
            <p:cxnSp>
              <p:nvCxnSpPr>
                <p:cNvPr id="221" name="直線コネクタ 220">
                  <a:extLst>
                    <a:ext uri="{FF2B5EF4-FFF2-40B4-BE49-F238E27FC236}">
                      <a16:creationId xmlns:a16="http://schemas.microsoft.com/office/drawing/2014/main" id="{3715A177-274F-495F-9658-FE2CBB4DCA47}"/>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2" name="直線コネクタ 221">
                  <a:extLst>
                    <a:ext uri="{FF2B5EF4-FFF2-40B4-BE49-F238E27FC236}">
                      <a16:creationId xmlns:a16="http://schemas.microsoft.com/office/drawing/2014/main" id="{260419D1-213F-4694-8E03-D58ECC23BA59}"/>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3" name="直線コネクタ 222">
                  <a:extLst>
                    <a:ext uri="{FF2B5EF4-FFF2-40B4-BE49-F238E27FC236}">
                      <a16:creationId xmlns:a16="http://schemas.microsoft.com/office/drawing/2014/main" id="{F085D748-4374-4922-8B7A-87A1C62753DF}"/>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9" name="直線コネクタ 218">
                <a:extLst>
                  <a:ext uri="{FF2B5EF4-FFF2-40B4-BE49-F238E27FC236}">
                    <a16:creationId xmlns:a16="http://schemas.microsoft.com/office/drawing/2014/main" id="{E70FA2B8-6D02-4CF9-95BE-6DDF394D3025}"/>
                  </a:ext>
                </a:extLst>
              </p:cNvPr>
              <p:cNvCxnSpPr>
                <a:cxnSpLocks/>
              </p:cNvCxnSpPr>
              <p:nvPr/>
            </p:nvCxnSpPr>
            <p:spPr>
              <a:xfrm flipV="1">
                <a:off x="6552022" y="108897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0" name="直線コネクタ 219">
                <a:extLst>
                  <a:ext uri="{FF2B5EF4-FFF2-40B4-BE49-F238E27FC236}">
                    <a16:creationId xmlns:a16="http://schemas.microsoft.com/office/drawing/2014/main" id="{3CB0462E-4E40-4B74-9A6F-240152D943CE}"/>
                  </a:ext>
                </a:extLst>
              </p:cNvPr>
              <p:cNvCxnSpPr>
                <a:cxnSpLocks/>
              </p:cNvCxnSpPr>
              <p:nvPr/>
            </p:nvCxnSpPr>
            <p:spPr>
              <a:xfrm>
                <a:off x="5652012" y="108897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230" name="グループ化 229">
              <a:extLst>
                <a:ext uri="{FF2B5EF4-FFF2-40B4-BE49-F238E27FC236}">
                  <a16:creationId xmlns:a16="http://schemas.microsoft.com/office/drawing/2014/main" id="{E76D82AF-3266-4D55-9E2E-34167A265854}"/>
                </a:ext>
              </a:extLst>
            </p:cNvPr>
            <p:cNvGrpSpPr/>
            <p:nvPr/>
          </p:nvGrpSpPr>
          <p:grpSpPr>
            <a:xfrm>
              <a:off x="5652012" y="5063114"/>
              <a:ext cx="1800020" cy="1800020"/>
              <a:chOff x="5652012" y="728970"/>
              <a:chExt cx="1800020" cy="1800020"/>
            </a:xfrm>
          </p:grpSpPr>
          <p:grpSp>
            <p:nvGrpSpPr>
              <p:cNvPr id="231" name="グループ化 230">
                <a:extLst>
                  <a:ext uri="{FF2B5EF4-FFF2-40B4-BE49-F238E27FC236}">
                    <a16:creationId xmlns:a16="http://schemas.microsoft.com/office/drawing/2014/main" id="{018AA9BC-21FF-4F0D-B379-C2CC38AA37E8}"/>
                  </a:ext>
                </a:extLst>
              </p:cNvPr>
              <p:cNvGrpSpPr/>
              <p:nvPr/>
            </p:nvGrpSpPr>
            <p:grpSpPr>
              <a:xfrm>
                <a:off x="6372020" y="1448978"/>
                <a:ext cx="360004" cy="360004"/>
                <a:chOff x="4932004" y="2708992"/>
                <a:chExt cx="360004" cy="360004"/>
              </a:xfrm>
            </p:grpSpPr>
            <p:cxnSp>
              <p:nvCxnSpPr>
                <p:cNvPr id="246" name="直線コネクタ 245">
                  <a:extLst>
                    <a:ext uri="{FF2B5EF4-FFF2-40B4-BE49-F238E27FC236}">
                      <a16:creationId xmlns:a16="http://schemas.microsoft.com/office/drawing/2014/main" id="{B46EB9B0-75B4-43E1-AF3E-E50DB8578EF8}"/>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7" name="直線コネクタ 246">
                  <a:extLst>
                    <a:ext uri="{FF2B5EF4-FFF2-40B4-BE49-F238E27FC236}">
                      <a16:creationId xmlns:a16="http://schemas.microsoft.com/office/drawing/2014/main" id="{FBAF95BC-58AC-4D57-918D-E069C1677220}"/>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8" name="直線コネクタ 247">
                  <a:extLst>
                    <a:ext uri="{FF2B5EF4-FFF2-40B4-BE49-F238E27FC236}">
                      <a16:creationId xmlns:a16="http://schemas.microsoft.com/office/drawing/2014/main" id="{3C98EAF3-7139-4D4F-98A4-8928F70D75A7}"/>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B067E30D-EF14-44DB-9B4D-BC16C9672192}"/>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32" name="直線コネクタ 231">
                <a:extLst>
                  <a:ext uri="{FF2B5EF4-FFF2-40B4-BE49-F238E27FC236}">
                    <a16:creationId xmlns:a16="http://schemas.microsoft.com/office/drawing/2014/main" id="{338C324E-4D45-43C6-A033-2AAE71708941}"/>
                  </a:ext>
                </a:extLst>
              </p:cNvPr>
              <p:cNvCxnSpPr>
                <a:cxnSpLocks/>
              </p:cNvCxnSpPr>
              <p:nvPr/>
            </p:nvCxnSpPr>
            <p:spPr>
              <a:xfrm>
                <a:off x="6012016" y="180898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a16:creationId xmlns:a16="http://schemas.microsoft.com/office/drawing/2014/main" id="{1D13A683-8044-4DE8-BD47-7AAE930DA8A1}"/>
                  </a:ext>
                </a:extLst>
              </p:cNvPr>
              <p:cNvCxnSpPr>
                <a:cxnSpLocks/>
              </p:cNvCxnSpPr>
              <p:nvPr/>
            </p:nvCxnSpPr>
            <p:spPr>
              <a:xfrm>
                <a:off x="6732024" y="180898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a16:creationId xmlns:a16="http://schemas.microsoft.com/office/drawing/2014/main" id="{9F7B2E69-7628-4264-96F1-1A9B39841339}"/>
                  </a:ext>
                </a:extLst>
              </p:cNvPr>
              <p:cNvCxnSpPr>
                <a:cxnSpLocks/>
              </p:cNvCxnSpPr>
              <p:nvPr/>
            </p:nvCxnSpPr>
            <p:spPr>
              <a:xfrm flipV="1">
                <a:off x="6012016" y="72897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235" name="グループ化 234">
                <a:extLst>
                  <a:ext uri="{FF2B5EF4-FFF2-40B4-BE49-F238E27FC236}">
                    <a16:creationId xmlns:a16="http://schemas.microsoft.com/office/drawing/2014/main" id="{AE41BA6F-0997-4464-B8C4-638F498543A1}"/>
                  </a:ext>
                </a:extLst>
              </p:cNvPr>
              <p:cNvGrpSpPr/>
              <p:nvPr/>
            </p:nvGrpSpPr>
            <p:grpSpPr>
              <a:xfrm>
                <a:off x="6912026" y="1988984"/>
                <a:ext cx="360004" cy="90003"/>
                <a:chOff x="7272030" y="3789004"/>
                <a:chExt cx="360004" cy="90003"/>
              </a:xfrm>
            </p:grpSpPr>
            <p:cxnSp>
              <p:nvCxnSpPr>
                <p:cNvPr id="244" name="直線コネクタ 243">
                  <a:extLst>
                    <a:ext uri="{FF2B5EF4-FFF2-40B4-BE49-F238E27FC236}">
                      <a16:creationId xmlns:a16="http://schemas.microsoft.com/office/drawing/2014/main" id="{38F09523-41D6-49E7-82EB-031AFCC68EF9}"/>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5" name="直線コネクタ 244">
                  <a:extLst>
                    <a:ext uri="{FF2B5EF4-FFF2-40B4-BE49-F238E27FC236}">
                      <a16:creationId xmlns:a16="http://schemas.microsoft.com/office/drawing/2014/main" id="{8841C5CD-982F-46D7-BA78-230879DBE950}"/>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36" name="直線コネクタ 235">
                <a:extLst>
                  <a:ext uri="{FF2B5EF4-FFF2-40B4-BE49-F238E27FC236}">
                    <a16:creationId xmlns:a16="http://schemas.microsoft.com/office/drawing/2014/main" id="{C1CBBE77-4F15-46EE-B9EE-ED0DEE982B9A}"/>
                  </a:ext>
                </a:extLst>
              </p:cNvPr>
              <p:cNvCxnSpPr>
                <a:cxnSpLocks/>
              </p:cNvCxnSpPr>
              <p:nvPr/>
            </p:nvCxnSpPr>
            <p:spPr>
              <a:xfrm flipV="1">
                <a:off x="7092028" y="180898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237" name="直線コネクタ 236">
                <a:extLst>
                  <a:ext uri="{FF2B5EF4-FFF2-40B4-BE49-F238E27FC236}">
                    <a16:creationId xmlns:a16="http://schemas.microsoft.com/office/drawing/2014/main" id="{9488BB4D-B7D9-4721-93A7-A119454944FA}"/>
                  </a:ext>
                </a:extLst>
              </p:cNvPr>
              <p:cNvCxnSpPr>
                <a:cxnSpLocks/>
              </p:cNvCxnSpPr>
              <p:nvPr/>
            </p:nvCxnSpPr>
            <p:spPr>
              <a:xfrm flipV="1">
                <a:off x="7092028" y="207898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238" name="グループ化 237">
                <a:extLst>
                  <a:ext uri="{FF2B5EF4-FFF2-40B4-BE49-F238E27FC236}">
                    <a16:creationId xmlns:a16="http://schemas.microsoft.com/office/drawing/2014/main" id="{4F2033AC-CF6E-4853-8F99-C123E929A718}"/>
                  </a:ext>
                </a:extLst>
              </p:cNvPr>
              <p:cNvGrpSpPr/>
              <p:nvPr/>
            </p:nvGrpSpPr>
            <p:grpSpPr>
              <a:xfrm>
                <a:off x="6912026" y="2348988"/>
                <a:ext cx="326325" cy="117556"/>
                <a:chOff x="2531592" y="5357236"/>
                <a:chExt cx="326325" cy="117556"/>
              </a:xfrm>
            </p:grpSpPr>
            <p:cxnSp>
              <p:nvCxnSpPr>
                <p:cNvPr id="241" name="直線コネクタ 240">
                  <a:extLst>
                    <a:ext uri="{FF2B5EF4-FFF2-40B4-BE49-F238E27FC236}">
                      <a16:creationId xmlns:a16="http://schemas.microsoft.com/office/drawing/2014/main" id="{106DAF75-B8E0-421A-A349-EE0F152DDEE2}"/>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a16:creationId xmlns:a16="http://schemas.microsoft.com/office/drawing/2014/main" id="{576950CF-1A76-4A8D-893D-116E73952588}"/>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3" name="直線コネクタ 242">
                  <a:extLst>
                    <a:ext uri="{FF2B5EF4-FFF2-40B4-BE49-F238E27FC236}">
                      <a16:creationId xmlns:a16="http://schemas.microsoft.com/office/drawing/2014/main" id="{C6497466-A738-4AEC-AF93-3A3CFB8717EA}"/>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39" name="直線コネクタ 238">
                <a:extLst>
                  <a:ext uri="{FF2B5EF4-FFF2-40B4-BE49-F238E27FC236}">
                    <a16:creationId xmlns:a16="http://schemas.microsoft.com/office/drawing/2014/main" id="{EF104839-E095-4B9F-9EA7-27A73046FE12}"/>
                  </a:ext>
                </a:extLst>
              </p:cNvPr>
              <p:cNvCxnSpPr>
                <a:cxnSpLocks/>
              </p:cNvCxnSpPr>
              <p:nvPr/>
            </p:nvCxnSpPr>
            <p:spPr>
              <a:xfrm flipV="1">
                <a:off x="6552022" y="108897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40" name="直線コネクタ 239">
                <a:extLst>
                  <a:ext uri="{FF2B5EF4-FFF2-40B4-BE49-F238E27FC236}">
                    <a16:creationId xmlns:a16="http://schemas.microsoft.com/office/drawing/2014/main" id="{066E6656-229E-4706-ADBB-77C7195B1F9F}"/>
                  </a:ext>
                </a:extLst>
              </p:cNvPr>
              <p:cNvCxnSpPr>
                <a:cxnSpLocks/>
              </p:cNvCxnSpPr>
              <p:nvPr/>
            </p:nvCxnSpPr>
            <p:spPr>
              <a:xfrm>
                <a:off x="5652012" y="108897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6944840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3C5CF5-7992-1953-E955-B0BB3F55DC71}"/>
              </a:ext>
            </a:extLst>
          </p:cNvPr>
          <p:cNvSpPr>
            <a:spLocks noGrp="1"/>
          </p:cNvSpPr>
          <p:nvPr>
            <p:ph type="title"/>
          </p:nvPr>
        </p:nvSpPr>
        <p:spPr/>
        <p:txBody>
          <a:bodyPr/>
          <a:lstStyle/>
          <a:p>
            <a:r>
              <a:rPr kumimoji="1" lang="ja-JP" altLang="en-US" dirty="0"/>
              <a:t>メモリのまとめ</a:t>
            </a:r>
            <a:br>
              <a:rPr kumimoji="1" lang="en-US" altLang="ja-JP" dirty="0"/>
            </a:br>
            <a:r>
              <a:rPr kumimoji="1" lang="ja-JP" altLang="en-US" sz="1800" dirty="0"/>
              <a:t>（おおよそこのぐらいの事がフワッと分かってれば良い</a:t>
            </a:r>
            <a:endParaRPr kumimoji="1" lang="en-US" dirty="0"/>
          </a:p>
        </p:txBody>
      </p:sp>
      <p:sp>
        <p:nvSpPr>
          <p:cNvPr id="3" name="コンテンツ プレースホルダー 2">
            <a:extLst>
              <a:ext uri="{FF2B5EF4-FFF2-40B4-BE49-F238E27FC236}">
                <a16:creationId xmlns:a16="http://schemas.microsoft.com/office/drawing/2014/main" id="{026F1C1F-E257-CF08-BE96-7AD280BF7F98}"/>
              </a:ext>
            </a:extLst>
          </p:cNvPr>
          <p:cNvSpPr>
            <a:spLocks noGrp="1"/>
          </p:cNvSpPr>
          <p:nvPr>
            <p:ph sz="quarter" idx="10"/>
          </p:nvPr>
        </p:nvSpPr>
        <p:spPr>
          <a:xfrm>
            <a:off x="611955" y="1088974"/>
            <a:ext cx="8190091" cy="5220058"/>
          </a:xfrm>
        </p:spPr>
        <p:txBody>
          <a:bodyPr/>
          <a:lstStyle/>
          <a:p>
            <a:r>
              <a:rPr kumimoji="1" lang="ja-JP" altLang="en-US" sz="1800" dirty="0"/>
              <a:t>メモリ（</a:t>
            </a:r>
            <a:r>
              <a:rPr kumimoji="1" lang="en-US" altLang="ja-JP" sz="1800" dirty="0"/>
              <a:t>RAM: Random Access Memory</a:t>
            </a:r>
            <a:r>
              <a:rPr kumimoji="1" lang="ja-JP" altLang="en-US" sz="1800" dirty="0"/>
              <a:t>）</a:t>
            </a:r>
            <a:endParaRPr kumimoji="1" lang="en-US" altLang="ja-JP" sz="1800" dirty="0"/>
          </a:p>
          <a:p>
            <a:pPr lvl="1"/>
            <a:r>
              <a:rPr kumimoji="1" lang="ja-JP" altLang="en-US" sz="1800" dirty="0"/>
              <a:t>複数のデータを記憶し，配列のように位置を指定して読み書きする</a:t>
            </a:r>
            <a:endParaRPr lang="en-US" altLang="ja-JP" sz="1800" dirty="0"/>
          </a:p>
          <a:p>
            <a:pPr lvl="1"/>
            <a:r>
              <a:rPr kumimoji="1" lang="ja-JP" altLang="en-US" sz="1800" dirty="0"/>
              <a:t>なるべく少ない回路で なるべく多くの記憶を行うために存在</a:t>
            </a:r>
            <a:endParaRPr kumimoji="1" lang="en-US" altLang="ja-JP" sz="1800" dirty="0"/>
          </a:p>
          <a:p>
            <a:r>
              <a:rPr kumimoji="1" lang="ja-JP" altLang="en-US" sz="1800" dirty="0"/>
              <a:t>構造とアクセス時間：</a:t>
            </a:r>
            <a:endParaRPr kumimoji="1" lang="en-US" altLang="ja-JP" sz="1800" dirty="0"/>
          </a:p>
          <a:p>
            <a:pPr lvl="1"/>
            <a:r>
              <a:rPr kumimoji="1" lang="en-US" altLang="ja-JP" sz="1800" dirty="0"/>
              <a:t>1bit </a:t>
            </a:r>
            <a:r>
              <a:rPr kumimoji="1" lang="ja-JP" altLang="en-US" sz="1800" dirty="0"/>
              <a:t>の記憶を行うセルを格子状にならべた構造を持つ</a:t>
            </a:r>
            <a:endParaRPr kumimoji="1" lang="en-US" altLang="ja-JP" sz="1800" dirty="0"/>
          </a:p>
          <a:p>
            <a:pPr lvl="1"/>
            <a:r>
              <a:rPr kumimoji="1" lang="ja-JP" altLang="en-US" sz="1800" dirty="0"/>
              <a:t>読み書きにかかる時間：</a:t>
            </a:r>
            <a:endParaRPr kumimoji="1" lang="en-US" altLang="ja-JP" sz="1800" dirty="0"/>
          </a:p>
          <a:p>
            <a:pPr lvl="2"/>
            <a:r>
              <a:rPr kumimoji="1" lang="ja-JP" altLang="en-US" sz="1800" dirty="0"/>
              <a:t>記憶容量の平方根程度に比例</a:t>
            </a:r>
            <a:endParaRPr kumimoji="1" lang="en-US" altLang="ja-JP" sz="1800" dirty="0"/>
          </a:p>
          <a:p>
            <a:pPr lvl="2"/>
            <a:r>
              <a:rPr kumimoji="1" lang="ja-JP" altLang="en-US" sz="1800" dirty="0"/>
              <a:t>信号線の長さに比例するため，速度と容量にはトレードオフがある</a:t>
            </a:r>
            <a:endParaRPr kumimoji="1" lang="en-US" sz="1800" dirty="0"/>
          </a:p>
        </p:txBody>
      </p:sp>
    </p:spTree>
    <p:extLst>
      <p:ext uri="{BB962C8B-B14F-4D97-AF65-F5344CB8AC3E}">
        <p14:creationId xmlns:p14="http://schemas.microsoft.com/office/powerpoint/2010/main" val="42679080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3C5CF5-7992-1953-E955-B0BB3F55DC71}"/>
              </a:ext>
            </a:extLst>
          </p:cNvPr>
          <p:cNvSpPr>
            <a:spLocks noGrp="1"/>
          </p:cNvSpPr>
          <p:nvPr>
            <p:ph type="title"/>
          </p:nvPr>
        </p:nvSpPr>
        <p:spPr/>
        <p:txBody>
          <a:bodyPr/>
          <a:lstStyle/>
          <a:p>
            <a:r>
              <a:rPr kumimoji="1" lang="ja-JP" altLang="en-US" dirty="0"/>
              <a:t>メモリのまとめ</a:t>
            </a:r>
            <a:br>
              <a:rPr kumimoji="1" lang="en-US" altLang="ja-JP" dirty="0"/>
            </a:br>
            <a:r>
              <a:rPr kumimoji="1" lang="ja-JP" altLang="en-US" sz="1800" dirty="0"/>
              <a:t>（おおよそこのぐらいの事がフワッと分かってれば良い</a:t>
            </a:r>
            <a:endParaRPr kumimoji="1" lang="en-US" dirty="0"/>
          </a:p>
        </p:txBody>
      </p:sp>
      <p:sp>
        <p:nvSpPr>
          <p:cNvPr id="3" name="コンテンツ プレースホルダー 2">
            <a:extLst>
              <a:ext uri="{FF2B5EF4-FFF2-40B4-BE49-F238E27FC236}">
                <a16:creationId xmlns:a16="http://schemas.microsoft.com/office/drawing/2014/main" id="{026F1C1F-E257-CF08-BE96-7AD280BF7F98}"/>
              </a:ext>
            </a:extLst>
          </p:cNvPr>
          <p:cNvSpPr>
            <a:spLocks noGrp="1"/>
          </p:cNvSpPr>
          <p:nvPr>
            <p:ph sz="quarter" idx="10"/>
          </p:nvPr>
        </p:nvSpPr>
        <p:spPr/>
        <p:txBody>
          <a:bodyPr/>
          <a:lstStyle/>
          <a:p>
            <a:r>
              <a:rPr kumimoji="1" lang="en-US" altLang="ja-JP" sz="1800" dirty="0"/>
              <a:t>SRAM</a:t>
            </a:r>
            <a:r>
              <a:rPr kumimoji="1" lang="ja-JP" altLang="en-US" sz="1800" dirty="0"/>
              <a:t>：</a:t>
            </a:r>
            <a:endParaRPr kumimoji="1" lang="en-US" altLang="ja-JP" sz="1800" dirty="0"/>
          </a:p>
          <a:p>
            <a:pPr lvl="1"/>
            <a:r>
              <a:rPr kumimoji="1" lang="ja-JP" altLang="en-US" sz="1800" dirty="0"/>
              <a:t>セルにインバータのループを使ったもの</a:t>
            </a:r>
            <a:endParaRPr kumimoji="1" lang="en-US" altLang="ja-JP" sz="1800" dirty="0"/>
          </a:p>
          <a:p>
            <a:pPr lvl="1"/>
            <a:r>
              <a:rPr kumimoji="1" lang="ja-JP" altLang="en-US" sz="1800" dirty="0"/>
              <a:t>高速だが低密度</a:t>
            </a:r>
            <a:endParaRPr kumimoji="1" lang="en-US" altLang="ja-JP" sz="1800" dirty="0"/>
          </a:p>
          <a:p>
            <a:pPr lvl="1"/>
            <a:r>
              <a:rPr kumimoji="1" lang="ja-JP" altLang="en-US" sz="1800" dirty="0"/>
              <a:t>電源を入れている限りは記憶が消えない</a:t>
            </a:r>
            <a:endParaRPr kumimoji="1" lang="en-US" altLang="ja-JP" sz="1800" dirty="0"/>
          </a:p>
          <a:p>
            <a:r>
              <a:rPr lang="en-US" sz="1800" dirty="0"/>
              <a:t>DRAM</a:t>
            </a:r>
          </a:p>
          <a:p>
            <a:pPr lvl="1"/>
            <a:r>
              <a:rPr lang="ja-JP" altLang="en-US" sz="1800" dirty="0"/>
              <a:t>セルにコンデンサを使ったもの</a:t>
            </a:r>
            <a:endParaRPr lang="en-US" altLang="ja-JP" sz="1800" dirty="0"/>
          </a:p>
          <a:p>
            <a:pPr lvl="1"/>
            <a:r>
              <a:rPr kumimoji="1" lang="ja-JP" altLang="en-US" sz="1800" dirty="0"/>
              <a:t>低速だが高密度</a:t>
            </a:r>
            <a:endParaRPr kumimoji="1" lang="en-US" altLang="ja-JP" sz="1800" dirty="0"/>
          </a:p>
          <a:p>
            <a:pPr lvl="1"/>
            <a:r>
              <a:rPr kumimoji="1" lang="ja-JP" altLang="en-US" sz="1800" dirty="0"/>
              <a:t>電源を入れていても記憶が消えていく</a:t>
            </a:r>
            <a:endParaRPr kumimoji="1" lang="en-US" altLang="ja-JP" sz="1800" dirty="0"/>
          </a:p>
          <a:p>
            <a:pPr lvl="2"/>
            <a:r>
              <a:rPr kumimoji="1" lang="ja-JP" altLang="en-US" sz="1800" dirty="0"/>
              <a:t>リフレッシュが必要</a:t>
            </a:r>
            <a:endParaRPr kumimoji="1" lang="en-US" sz="1800" dirty="0"/>
          </a:p>
        </p:txBody>
      </p:sp>
    </p:spTree>
    <p:extLst>
      <p:ext uri="{BB962C8B-B14F-4D97-AF65-F5344CB8AC3E}">
        <p14:creationId xmlns:p14="http://schemas.microsoft.com/office/powerpoint/2010/main" val="26499841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58</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キャッシュ</a:t>
            </a:r>
            <a:endParaRPr kumimoji="1" lang="en-US" dirty="0"/>
          </a:p>
        </p:txBody>
      </p:sp>
    </p:spTree>
    <p:extLst>
      <p:ext uri="{BB962C8B-B14F-4D97-AF65-F5344CB8AC3E}">
        <p14:creationId xmlns:p14="http://schemas.microsoft.com/office/powerpoint/2010/main" val="22311847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キャッシュとは？</a:t>
            </a:r>
          </a:p>
        </p:txBody>
      </p:sp>
      <p:sp>
        <p:nvSpPr>
          <p:cNvPr id="5" name="テキスト プレースホルダー 4"/>
          <p:cNvSpPr>
            <a:spLocks noGrp="1"/>
          </p:cNvSpPr>
          <p:nvPr>
            <p:ph type="body" sz="quarter" idx="10"/>
          </p:nvPr>
        </p:nvSpPr>
        <p:spPr/>
        <p:txBody>
          <a:bodyPr/>
          <a:lstStyle/>
          <a:p>
            <a:r>
              <a:rPr kumimoji="1" lang="ja-JP" altLang="en-US" dirty="0"/>
              <a:t>「キャッシュ」って，ブラウザのあれ？</a:t>
            </a:r>
            <a:endParaRPr kumimoji="1" lang="en-US" altLang="ja-JP" dirty="0"/>
          </a:p>
          <a:p>
            <a:r>
              <a:rPr kumimoji="1" lang="ja-JP" altLang="en-US" dirty="0"/>
              <a:t>ちょっと違うけど，原理は同じもの</a:t>
            </a:r>
          </a:p>
        </p:txBody>
      </p:sp>
      <p:sp>
        <p:nvSpPr>
          <p:cNvPr id="2" name="スライド番号プレースホルダー 1"/>
          <p:cNvSpPr>
            <a:spLocks noGrp="1"/>
          </p:cNvSpPr>
          <p:nvPr>
            <p:ph type="sldNum" sz="quarter" idx="4294967295"/>
          </p:nvPr>
        </p:nvSpPr>
        <p:spPr>
          <a:xfrm>
            <a:off x="8531225" y="6308725"/>
            <a:ext cx="612775" cy="549275"/>
          </a:xfrm>
        </p:spPr>
        <p:txBody>
          <a:bodyPr/>
          <a:lstStyle/>
          <a:p>
            <a:fld id="{D2D8002D-B5B0-4BAC-B1F6-782DDCCE6D9C}" type="slidenum">
              <a:rPr kumimoji="1" lang="ja-JP" altLang="en-US" smtClean="0"/>
              <a:pPr/>
              <a:t>59</a:t>
            </a:fld>
            <a:endParaRPr kumimoji="1" lang="ja-JP" altLang="en-US"/>
          </a:p>
        </p:txBody>
      </p:sp>
    </p:spTree>
    <p:extLst>
      <p:ext uri="{BB962C8B-B14F-4D97-AF65-F5344CB8AC3E}">
        <p14:creationId xmlns:p14="http://schemas.microsoft.com/office/powerpoint/2010/main" val="18224698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原理は同じ</a:t>
            </a:r>
          </a:p>
        </p:txBody>
      </p:sp>
      <p:sp>
        <p:nvSpPr>
          <p:cNvPr id="3" name="テキスト プレースホルダー 2"/>
          <p:cNvSpPr>
            <a:spLocks noGrp="1"/>
          </p:cNvSpPr>
          <p:nvPr>
            <p:ph type="body" sz="quarter" idx="10"/>
          </p:nvPr>
        </p:nvSpPr>
        <p:spPr/>
        <p:txBody>
          <a:bodyPr/>
          <a:lstStyle/>
          <a:p>
            <a:r>
              <a:rPr kumimoji="1" lang="ja-JP" altLang="en-US" dirty="0"/>
              <a:t>ブラウザのキャッシュ</a:t>
            </a:r>
            <a:endParaRPr kumimoji="1" lang="en-US" altLang="ja-JP" dirty="0"/>
          </a:p>
          <a:p>
            <a:pPr lvl="1"/>
            <a:r>
              <a:rPr kumimoji="1" lang="en-US" altLang="ja-JP" dirty="0"/>
              <a:t>WEB </a:t>
            </a:r>
            <a:r>
              <a:rPr kumimoji="1" lang="ja-JP" altLang="en-US" dirty="0"/>
              <a:t>サーバーからページを取ってくるのは遅い</a:t>
            </a:r>
            <a:endParaRPr kumimoji="1" lang="en-US" altLang="ja-JP" dirty="0"/>
          </a:p>
          <a:p>
            <a:pPr lvl="1"/>
            <a:r>
              <a:rPr kumimoji="1" lang="en-US" altLang="ja-JP" dirty="0"/>
              <a:t>1</a:t>
            </a:r>
            <a:r>
              <a:rPr kumimoji="1" lang="ja-JP" altLang="en-US" dirty="0"/>
              <a:t>回見たページを </a:t>
            </a:r>
            <a:r>
              <a:rPr kumimoji="1" lang="en-US" altLang="ja-JP" dirty="0"/>
              <a:t>PC </a:t>
            </a:r>
            <a:r>
              <a:rPr kumimoji="1" lang="ja-JP" altLang="en-US" dirty="0"/>
              <a:t>やスマホの「キャッシュ」に置いておく</a:t>
            </a:r>
            <a:endParaRPr kumimoji="1" lang="en-US" altLang="ja-JP" dirty="0"/>
          </a:p>
          <a:p>
            <a:pPr lvl="1"/>
            <a:r>
              <a:rPr kumimoji="1" lang="en-US" altLang="ja-JP" dirty="0"/>
              <a:t>2</a:t>
            </a:r>
            <a:r>
              <a:rPr kumimoji="1" lang="ja-JP" altLang="en-US" dirty="0"/>
              <a:t>回目からは表示が速い</a:t>
            </a:r>
            <a:endParaRPr kumimoji="1" lang="en-US" altLang="ja-JP" dirty="0"/>
          </a:p>
          <a:p>
            <a:r>
              <a:rPr kumimoji="1" lang="ja-JP" altLang="en-US" dirty="0"/>
              <a:t>メモリのキャッシュ</a:t>
            </a:r>
            <a:endParaRPr kumimoji="1" lang="en-US" altLang="ja-JP" dirty="0"/>
          </a:p>
          <a:p>
            <a:pPr lvl="1"/>
            <a:r>
              <a:rPr kumimoji="1" lang="ja-JP" altLang="en-US" dirty="0"/>
              <a:t>メイン・メモリからデータを取ってくるのは遅い</a:t>
            </a:r>
            <a:endParaRPr kumimoji="1" lang="en-US" altLang="ja-JP" dirty="0"/>
          </a:p>
          <a:p>
            <a:pPr lvl="1"/>
            <a:r>
              <a:rPr kumimoji="1" lang="en-US" altLang="ja-JP" dirty="0"/>
              <a:t>1</a:t>
            </a:r>
            <a:r>
              <a:rPr kumimoji="1" lang="ja-JP" altLang="en-US" dirty="0"/>
              <a:t>回読んだデータを </a:t>
            </a:r>
            <a:r>
              <a:rPr kumimoji="1" lang="en-US" altLang="ja-JP" dirty="0"/>
              <a:t>CPU </a:t>
            </a:r>
            <a:r>
              <a:rPr kumimoji="1" lang="ja-JP" altLang="en-US" dirty="0"/>
              <a:t>の「キャッシュ」に置いておく</a:t>
            </a:r>
            <a:endParaRPr kumimoji="1" lang="en-US" altLang="ja-JP" dirty="0"/>
          </a:p>
          <a:p>
            <a:pPr lvl="1"/>
            <a:r>
              <a:rPr kumimoji="1" lang="en-US" altLang="ja-JP" dirty="0"/>
              <a:t>2</a:t>
            </a:r>
            <a:r>
              <a:rPr kumimoji="1" lang="ja-JP" altLang="en-US" dirty="0"/>
              <a:t>回目からは読み込みが速い</a:t>
            </a:r>
          </a:p>
        </p:txBody>
      </p:sp>
    </p:spTree>
    <p:extLst>
      <p:ext uri="{BB962C8B-B14F-4D97-AF65-F5344CB8AC3E}">
        <p14:creationId xmlns:p14="http://schemas.microsoft.com/office/powerpoint/2010/main" val="6769342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性能へ大きく影響するし，影響範囲も広い</a:t>
            </a:r>
          </a:p>
        </p:txBody>
      </p:sp>
      <p:sp>
        <p:nvSpPr>
          <p:cNvPr id="3" name="テキスト プレースホルダー 2"/>
          <p:cNvSpPr>
            <a:spLocks noGrp="1"/>
          </p:cNvSpPr>
          <p:nvPr>
            <p:ph type="body" sz="quarter" idx="10"/>
          </p:nvPr>
        </p:nvSpPr>
        <p:spPr/>
        <p:txBody>
          <a:bodyPr/>
          <a:lstStyle/>
          <a:p>
            <a:r>
              <a:rPr kumimoji="1" lang="ja-JP" altLang="en-US" dirty="0"/>
              <a:t>キャッシュは現代のコンピュータにおいてとても重要</a:t>
            </a:r>
            <a:endParaRPr kumimoji="1" lang="en-US" altLang="ja-JP" dirty="0"/>
          </a:p>
          <a:p>
            <a:pPr lvl="1"/>
            <a:r>
              <a:rPr kumimoji="1" lang="ja-JP" altLang="en-US" dirty="0"/>
              <a:t>ほとんどのプログラムで性能に大きな影響を与えている</a:t>
            </a:r>
            <a:endParaRPr kumimoji="1" lang="en-US" altLang="ja-JP" dirty="0"/>
          </a:p>
        </p:txBody>
      </p:sp>
    </p:spTree>
    <p:extLst>
      <p:ext uri="{BB962C8B-B14F-4D97-AF65-F5344CB8AC3E}">
        <p14:creationId xmlns:p14="http://schemas.microsoft.com/office/powerpoint/2010/main" val="20244763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例：</a:t>
            </a:r>
            <a:r>
              <a:rPr kumimoji="1" lang="ja-JP" altLang="en-US" dirty="0"/>
              <a:t>行列積の実装と性能</a:t>
            </a:r>
          </a:p>
        </p:txBody>
      </p:sp>
      <p:sp>
        <p:nvSpPr>
          <p:cNvPr id="4" name="テキスト プレースホルダー 3"/>
          <p:cNvSpPr>
            <a:spLocks noGrp="1"/>
          </p:cNvSpPr>
          <p:nvPr>
            <p:ph type="body" sz="quarter" idx="10"/>
          </p:nvPr>
        </p:nvSpPr>
        <p:spPr>
          <a:xfrm>
            <a:off x="341953" y="998973"/>
            <a:ext cx="8100090" cy="4860054"/>
          </a:xfrm>
        </p:spPr>
        <p:txBody>
          <a:bodyPr anchor="t"/>
          <a:lstStyle/>
          <a:p>
            <a:r>
              <a:rPr kumimoji="1" lang="ja-JP" altLang="en-US" dirty="0"/>
              <a:t>三重ループとして</a:t>
            </a:r>
            <a:r>
              <a:rPr lang="ja-JP" altLang="en-US" dirty="0"/>
              <a:t>実装</a:t>
            </a:r>
            <a:r>
              <a:rPr kumimoji="1" lang="ja-JP" altLang="en-US" dirty="0"/>
              <a:t>できる</a:t>
            </a:r>
            <a:endParaRPr kumimoji="1" lang="en-US" altLang="ja-JP" dirty="0"/>
          </a:p>
          <a:p>
            <a:pPr lvl="1"/>
            <a:r>
              <a:rPr kumimoji="1" lang="ja-JP" altLang="en-US" dirty="0"/>
              <a:t>ループの順番は任意に入れ替え可能</a:t>
            </a:r>
            <a:br>
              <a:rPr kumimoji="1" lang="en-US" altLang="ja-JP" dirty="0"/>
            </a:br>
            <a:endParaRPr kumimoji="1" lang="en-US" altLang="ja-JP" dirty="0"/>
          </a:p>
          <a:p>
            <a:endParaRPr kumimoji="1" lang="en-US" altLang="ja-JP" dirty="0"/>
          </a:p>
          <a:p>
            <a:endParaRPr lang="en-US" altLang="ja-JP" dirty="0"/>
          </a:p>
          <a:p>
            <a:r>
              <a:rPr kumimoji="1" lang="ja-JP" altLang="en-US" dirty="0"/>
              <a:t>単にループの順番を入れ替えるだけで</a:t>
            </a:r>
            <a:r>
              <a:rPr lang="ja-JP" altLang="en-US" dirty="0"/>
              <a:t>処理時間</a:t>
            </a:r>
            <a:r>
              <a:rPr kumimoji="1" lang="ja-JP" altLang="en-US" dirty="0"/>
              <a:t>が大きく変化する</a:t>
            </a:r>
            <a:endParaRPr kumimoji="1" lang="en-US" altLang="ja-JP" dirty="0"/>
          </a:p>
          <a:p>
            <a:pPr lvl="1"/>
            <a:r>
              <a:rPr lang="ja-JP" altLang="en-US" dirty="0"/>
              <a:t>外側から </a:t>
            </a:r>
            <a:r>
              <a:rPr lang="en-US" altLang="ja-JP" dirty="0"/>
              <a:t>k j </a:t>
            </a:r>
            <a:r>
              <a:rPr lang="en-US" altLang="ja-JP" dirty="0" err="1"/>
              <a:t>i</a:t>
            </a:r>
            <a:r>
              <a:rPr lang="en-US" altLang="ja-JP" dirty="0"/>
              <a:t> </a:t>
            </a:r>
            <a:r>
              <a:rPr lang="ja-JP" altLang="en-US" dirty="0"/>
              <a:t>の順 → </a:t>
            </a:r>
            <a:r>
              <a:rPr lang="en-US" altLang="ja-JP" dirty="0"/>
              <a:t>178</a:t>
            </a:r>
            <a:r>
              <a:rPr lang="ja-JP" altLang="en-US" dirty="0"/>
              <a:t>秒</a:t>
            </a:r>
            <a:endParaRPr lang="en-US" altLang="ja-JP" dirty="0"/>
          </a:p>
          <a:p>
            <a:pPr lvl="1"/>
            <a:r>
              <a:rPr lang="ja-JP" altLang="en-US" dirty="0"/>
              <a:t>外側から </a:t>
            </a:r>
            <a:r>
              <a:rPr lang="en-US" altLang="ja-JP" dirty="0"/>
              <a:t>k </a:t>
            </a:r>
            <a:r>
              <a:rPr lang="en-US" altLang="ja-JP" dirty="0" err="1"/>
              <a:t>i</a:t>
            </a:r>
            <a:r>
              <a:rPr lang="en-US" altLang="ja-JP" dirty="0"/>
              <a:t> j </a:t>
            </a:r>
            <a:r>
              <a:rPr lang="ja-JP" altLang="en-US" dirty="0"/>
              <a:t>の順 → </a:t>
            </a:r>
            <a:r>
              <a:rPr lang="en-US" altLang="ja-JP" dirty="0"/>
              <a:t>20</a:t>
            </a:r>
            <a:r>
              <a:rPr lang="ja-JP" altLang="en-US" dirty="0"/>
              <a:t>秒</a:t>
            </a:r>
            <a:endParaRPr lang="en-US" altLang="ja-JP" dirty="0"/>
          </a:p>
          <a:p>
            <a:pPr lvl="1"/>
            <a:r>
              <a:rPr lang="ja-JP" altLang="en-US" dirty="0"/>
              <a:t>外側から </a:t>
            </a:r>
            <a:r>
              <a:rPr lang="en-US" altLang="ja-JP" dirty="0"/>
              <a:t>j </a:t>
            </a:r>
            <a:r>
              <a:rPr lang="en-US" altLang="ja-JP" dirty="0" err="1"/>
              <a:t>i</a:t>
            </a:r>
            <a:r>
              <a:rPr lang="en-US" altLang="ja-JP" dirty="0"/>
              <a:t> k </a:t>
            </a:r>
            <a:r>
              <a:rPr lang="ja-JP" altLang="en-US" dirty="0"/>
              <a:t>の順 → </a:t>
            </a:r>
            <a:r>
              <a:rPr lang="en-US" altLang="ja-JP" dirty="0"/>
              <a:t>1100</a:t>
            </a:r>
            <a:r>
              <a:rPr lang="ja-JP" altLang="en-US" dirty="0"/>
              <a:t>秒</a:t>
            </a:r>
            <a:endParaRPr lang="en-US" altLang="ja-JP" dirty="0">
              <a:solidFill>
                <a:schemeClr val="accent5"/>
              </a:solidFill>
            </a:endParaRPr>
          </a:p>
          <a:p>
            <a:r>
              <a:rPr kumimoji="1" lang="ja-JP" altLang="en-US" dirty="0">
                <a:solidFill>
                  <a:schemeClr val="accent5"/>
                </a:solidFill>
              </a:rPr>
              <a:t>この変化は，キャッシュを有効に働かせているかどうかに由来</a:t>
            </a:r>
            <a:endParaRPr kumimoji="1" lang="en-US" altLang="ja-JP" dirty="0">
              <a:solidFill>
                <a:schemeClr val="accent5"/>
              </a:solidFill>
            </a:endParaRPr>
          </a:p>
          <a:p>
            <a:pPr lvl="1"/>
            <a:r>
              <a:rPr lang="ja-JP" altLang="en-US" dirty="0"/>
              <a:t>計算量や全体としてのメモリ使用量は全く同じなのに</a:t>
            </a:r>
            <a:endParaRPr kumimoji="1" lang="ja-JP" altLang="en-US" dirty="0">
              <a:solidFill>
                <a:schemeClr val="accent5"/>
              </a:solidFill>
            </a:endParaRPr>
          </a:p>
        </p:txBody>
      </p:sp>
      <p:sp>
        <p:nvSpPr>
          <p:cNvPr id="5" name="テキスト プレースホルダー 2"/>
          <p:cNvSpPr txBox="1">
            <a:spLocks/>
          </p:cNvSpPr>
          <p:nvPr/>
        </p:nvSpPr>
        <p:spPr bwMode="auto">
          <a:xfrm>
            <a:off x="341953" y="1808982"/>
            <a:ext cx="8100090" cy="1890021"/>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360000" lvl="1" indent="0">
              <a:buFont typeface="メイリオ" panose="020B0604030504040204" pitchFamily="50" charset="-128"/>
              <a:buNone/>
            </a:pPr>
            <a:r>
              <a:rPr lang="en-US" altLang="ja-JP" kern="0" dirty="0">
                <a:solidFill>
                  <a:schemeClr val="accent5"/>
                </a:solidFill>
                <a:latin typeface="Consolas" panose="020B0609020204030204" pitchFamily="49" charset="0"/>
              </a:rPr>
              <a:t>for</a:t>
            </a:r>
            <a:r>
              <a:rPr lang="en-US" altLang="ja-JP" kern="0" dirty="0">
                <a:latin typeface="Consolas" panose="020B0609020204030204" pitchFamily="49" charset="0"/>
              </a:rPr>
              <a:t> (int k = 0; k &lt; SIZE; k++)</a:t>
            </a:r>
          </a:p>
          <a:p>
            <a:pPr marL="360000" lvl="1" indent="0">
              <a:buFont typeface="メイリオ" panose="020B0604030504040204" pitchFamily="50" charset="-128"/>
              <a:buNone/>
            </a:pPr>
            <a:r>
              <a:rPr lang="en-US" altLang="ja-JP" kern="0" dirty="0">
                <a:latin typeface="Consolas" panose="020B0609020204030204" pitchFamily="49" charset="0"/>
              </a:rPr>
              <a:t>    </a:t>
            </a:r>
            <a:r>
              <a:rPr lang="en-US" altLang="ja-JP" kern="0" dirty="0">
                <a:solidFill>
                  <a:schemeClr val="accent5"/>
                </a:solidFill>
                <a:latin typeface="Consolas" panose="020B0609020204030204" pitchFamily="49" charset="0"/>
              </a:rPr>
              <a:t>for</a:t>
            </a:r>
            <a:r>
              <a:rPr lang="en-US" altLang="ja-JP" kern="0" dirty="0">
                <a:latin typeface="Consolas" panose="020B0609020204030204" pitchFamily="49" charset="0"/>
              </a:rPr>
              <a:t> (int j = 0; j &lt; SIZE; </a:t>
            </a:r>
            <a:r>
              <a:rPr lang="en-US" altLang="ja-JP" kern="0" dirty="0" err="1">
                <a:latin typeface="Consolas" panose="020B0609020204030204" pitchFamily="49" charset="0"/>
              </a:rPr>
              <a:t>j++</a:t>
            </a:r>
            <a:r>
              <a:rPr lang="en-US" altLang="ja-JP" kern="0" dirty="0">
                <a:latin typeface="Consolas" panose="020B0609020204030204" pitchFamily="49" charset="0"/>
              </a:rPr>
              <a:t>)</a:t>
            </a:r>
          </a:p>
          <a:p>
            <a:pPr marL="360000" lvl="1" indent="0">
              <a:buFont typeface="メイリオ" panose="020B0604030504040204" pitchFamily="50" charset="-128"/>
              <a:buNone/>
            </a:pPr>
            <a:r>
              <a:rPr lang="en-US" altLang="ja-JP" kern="0" dirty="0">
                <a:latin typeface="Consolas" panose="020B0609020204030204" pitchFamily="49" charset="0"/>
              </a:rPr>
              <a:t>        </a:t>
            </a:r>
            <a:r>
              <a:rPr lang="en-US" altLang="ja-JP" kern="0" dirty="0">
                <a:solidFill>
                  <a:schemeClr val="accent5"/>
                </a:solidFill>
                <a:latin typeface="Consolas" panose="020B0609020204030204" pitchFamily="49" charset="0"/>
              </a:rPr>
              <a:t>for</a:t>
            </a:r>
            <a:r>
              <a:rPr lang="en-US" altLang="ja-JP" kern="0" dirty="0">
                <a:latin typeface="Consolas" panose="020B0609020204030204" pitchFamily="49" charset="0"/>
              </a:rPr>
              <a:t> (int </a:t>
            </a:r>
            <a:r>
              <a:rPr lang="en-US" altLang="ja-JP" kern="0" dirty="0" err="1">
                <a:latin typeface="Consolas" panose="020B0609020204030204" pitchFamily="49" charset="0"/>
              </a:rPr>
              <a:t>i</a:t>
            </a:r>
            <a:r>
              <a:rPr lang="en-US" altLang="ja-JP" kern="0" dirty="0">
                <a:latin typeface="Consolas" panose="020B0609020204030204" pitchFamily="49" charset="0"/>
              </a:rPr>
              <a:t> = 0; </a:t>
            </a:r>
            <a:r>
              <a:rPr lang="en-US" altLang="ja-JP" kern="0" dirty="0" err="1">
                <a:latin typeface="Consolas" panose="020B0609020204030204" pitchFamily="49" charset="0"/>
              </a:rPr>
              <a:t>i</a:t>
            </a:r>
            <a:r>
              <a:rPr lang="en-US" altLang="ja-JP" kern="0" dirty="0">
                <a:latin typeface="Consolas" panose="020B0609020204030204" pitchFamily="49" charset="0"/>
              </a:rPr>
              <a:t> &lt; SIZE; </a:t>
            </a:r>
            <a:r>
              <a:rPr lang="en-US" altLang="ja-JP" kern="0" dirty="0" err="1">
                <a:latin typeface="Consolas" panose="020B0609020204030204" pitchFamily="49" charset="0"/>
              </a:rPr>
              <a:t>i</a:t>
            </a:r>
            <a:r>
              <a:rPr lang="en-US" altLang="ja-JP" kern="0" dirty="0">
                <a:latin typeface="Consolas" panose="020B0609020204030204" pitchFamily="49" charset="0"/>
              </a:rPr>
              <a:t>++)</a:t>
            </a:r>
          </a:p>
          <a:p>
            <a:pPr marL="360000" lvl="1" indent="0">
              <a:buFont typeface="メイリオ" panose="020B0604030504040204" pitchFamily="50" charset="-128"/>
              <a:buNone/>
            </a:pPr>
            <a:r>
              <a:rPr lang="en-US" altLang="ja-JP" kern="0" dirty="0">
                <a:latin typeface="Consolas" panose="020B0609020204030204" pitchFamily="49" charset="0"/>
              </a:rPr>
              <a:t>            a[k][j] += b[k][</a:t>
            </a:r>
            <a:r>
              <a:rPr lang="en-US" altLang="ja-JP" kern="0" dirty="0" err="1">
                <a:latin typeface="Consolas" panose="020B0609020204030204" pitchFamily="49" charset="0"/>
              </a:rPr>
              <a:t>i</a:t>
            </a:r>
            <a:r>
              <a:rPr lang="en-US" altLang="ja-JP" kern="0" dirty="0">
                <a:latin typeface="Consolas" panose="020B0609020204030204" pitchFamily="49" charset="0"/>
              </a:rPr>
              <a:t>] * c[</a:t>
            </a:r>
            <a:r>
              <a:rPr lang="en-US" altLang="ja-JP" kern="0" dirty="0" err="1">
                <a:latin typeface="Consolas" panose="020B0609020204030204" pitchFamily="49" charset="0"/>
              </a:rPr>
              <a:t>i</a:t>
            </a:r>
            <a:r>
              <a:rPr lang="en-US" altLang="ja-JP" kern="0" dirty="0">
                <a:latin typeface="Consolas" panose="020B0609020204030204" pitchFamily="49" charset="0"/>
              </a:rPr>
              <a:t>][j];</a:t>
            </a:r>
          </a:p>
        </p:txBody>
      </p:sp>
    </p:spTree>
    <p:extLst>
      <p:ext uri="{BB962C8B-B14F-4D97-AF65-F5344CB8AC3E}">
        <p14:creationId xmlns:p14="http://schemas.microsoft.com/office/powerpoint/2010/main" val="21185705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b="1" dirty="0"/>
              <a:t>キャッシュの基本的な考え方</a:t>
            </a:r>
            <a:endParaRPr lang="en-US" altLang="ja-JP" b="1" dirty="0"/>
          </a:p>
          <a:p>
            <a:pPr marL="817200" lvl="1" indent="-457200">
              <a:buFont typeface="+mj-lt"/>
              <a:buAutoNum type="arabicPeriod"/>
            </a:pPr>
            <a:r>
              <a:rPr lang="ja-JP" altLang="en-US" dirty="0"/>
              <a:t>基本的な原理と構造</a:t>
            </a:r>
            <a:endParaRPr lang="en-US" altLang="ja-JP" dirty="0"/>
          </a:p>
          <a:p>
            <a:pPr marL="817200" lvl="1" indent="-457200">
              <a:buFont typeface="+mj-lt"/>
              <a:buAutoNum type="arabicPeriod"/>
            </a:pPr>
            <a:r>
              <a:rPr lang="ja-JP" altLang="en-US" dirty="0"/>
              <a:t>容量の性能への影響</a:t>
            </a:r>
            <a:endParaRPr lang="en-US" altLang="ja-JP" dirty="0"/>
          </a:p>
        </p:txBody>
      </p:sp>
    </p:spTree>
    <p:extLst>
      <p:ext uri="{BB962C8B-B14F-4D97-AF65-F5344CB8AC3E}">
        <p14:creationId xmlns:p14="http://schemas.microsoft.com/office/powerpoint/2010/main" val="250193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記憶階層</a:t>
            </a:r>
          </a:p>
        </p:txBody>
      </p:sp>
      <p:sp>
        <p:nvSpPr>
          <p:cNvPr id="3" name="テキスト プレースホルダー 2"/>
          <p:cNvSpPr>
            <a:spLocks noGrp="1"/>
          </p:cNvSpPr>
          <p:nvPr>
            <p:ph type="body" sz="quarter" idx="10"/>
          </p:nvPr>
        </p:nvSpPr>
        <p:spPr>
          <a:xfrm>
            <a:off x="431954" y="1088975"/>
            <a:ext cx="8100090" cy="1620018"/>
          </a:xfrm>
        </p:spPr>
        <p:txBody>
          <a:bodyPr/>
          <a:lstStyle/>
          <a:p>
            <a:r>
              <a:rPr kumimoji="1" lang="ja-JP" altLang="en-US" dirty="0"/>
              <a:t>以下を階層的に組み合わせる</a:t>
            </a:r>
            <a:endParaRPr kumimoji="1" lang="en-US" altLang="ja-JP" dirty="0"/>
          </a:p>
          <a:p>
            <a:pPr lvl="1"/>
            <a:r>
              <a:rPr lang="ja-JP" altLang="en-US" dirty="0"/>
              <a:t>小さいけど速いメモリ：</a:t>
            </a:r>
            <a:r>
              <a:rPr lang="ja-JP" altLang="en-US" dirty="0">
                <a:solidFill>
                  <a:schemeClr val="accent2"/>
                </a:solidFill>
              </a:rPr>
              <a:t>キャッシュ</a:t>
            </a:r>
            <a:endParaRPr lang="en-US" altLang="ja-JP" dirty="0">
              <a:solidFill>
                <a:schemeClr val="accent2"/>
              </a:solidFill>
            </a:endParaRPr>
          </a:p>
          <a:p>
            <a:pPr lvl="1"/>
            <a:r>
              <a:rPr kumimoji="1" lang="ja-JP" altLang="en-US" dirty="0"/>
              <a:t>大きいけど遅いメモリ：メイン・メモリ</a:t>
            </a:r>
            <a:endParaRPr kumimoji="1" lang="en-US" altLang="ja-JP" dirty="0"/>
          </a:p>
          <a:p>
            <a:r>
              <a:rPr kumimoji="1" lang="ja-JP" altLang="en-US" dirty="0"/>
              <a:t>背景：大きくて速いメモリは作れない</a:t>
            </a:r>
          </a:p>
        </p:txBody>
      </p:sp>
      <p:sp>
        <p:nvSpPr>
          <p:cNvPr id="4" name="下矢印 3"/>
          <p:cNvSpPr/>
          <p:nvPr/>
        </p:nvSpPr>
        <p:spPr bwMode="auto">
          <a:xfrm>
            <a:off x="2591978" y="3969006"/>
            <a:ext cx="360004" cy="1440016"/>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下矢印 4"/>
          <p:cNvSpPr/>
          <p:nvPr/>
        </p:nvSpPr>
        <p:spPr bwMode="auto">
          <a:xfrm>
            <a:off x="5832014" y="3969006"/>
            <a:ext cx="360004" cy="45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 name="下矢印 5"/>
          <p:cNvSpPr/>
          <p:nvPr/>
        </p:nvSpPr>
        <p:spPr bwMode="auto">
          <a:xfrm>
            <a:off x="5832014" y="4959017"/>
            <a:ext cx="360004" cy="450005"/>
          </a:xfrm>
          <a:prstGeom prst="downArrow">
            <a:avLst/>
          </a:prstGeom>
          <a:ln>
            <a:solidFill>
              <a:schemeClr val="tx1">
                <a:lumMod val="75000"/>
                <a:lumOff val="25000"/>
              </a:schemeClr>
            </a:solidFill>
            <a:prstDash val="sysDash"/>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 name="正方形/長方形 6"/>
          <p:cNvSpPr/>
          <p:nvPr/>
        </p:nvSpPr>
        <p:spPr bwMode="auto">
          <a:xfrm>
            <a:off x="1691968" y="5409022"/>
            <a:ext cx="2160024"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メイン・メモリ</a:t>
            </a:r>
          </a:p>
        </p:txBody>
      </p:sp>
      <p:sp>
        <p:nvSpPr>
          <p:cNvPr id="8" name="角丸四角形 7"/>
          <p:cNvSpPr/>
          <p:nvPr/>
        </p:nvSpPr>
        <p:spPr bwMode="auto">
          <a:xfrm>
            <a:off x="2231974"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CPU</a:t>
            </a:r>
            <a:endParaRPr kumimoji="1" lang="ja-JP" altLang="en-US" sz="1600" dirty="0">
              <a:solidFill>
                <a:schemeClr val="tx1">
                  <a:lumMod val="75000"/>
                  <a:lumOff val="25000"/>
                </a:schemeClr>
              </a:solidFill>
              <a:latin typeface="+mn-ea"/>
            </a:endParaRPr>
          </a:p>
        </p:txBody>
      </p:sp>
      <p:sp>
        <p:nvSpPr>
          <p:cNvPr id="9" name="正方形/長方形 8"/>
          <p:cNvSpPr/>
          <p:nvPr/>
        </p:nvSpPr>
        <p:spPr bwMode="auto">
          <a:xfrm>
            <a:off x="4932004" y="5409022"/>
            <a:ext cx="2160024" cy="925725"/>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メイン・メモリ</a:t>
            </a:r>
          </a:p>
        </p:txBody>
      </p:sp>
      <p:sp>
        <p:nvSpPr>
          <p:cNvPr id="10" name="角丸四角形 9"/>
          <p:cNvSpPr/>
          <p:nvPr/>
        </p:nvSpPr>
        <p:spPr bwMode="auto">
          <a:xfrm>
            <a:off x="5472010"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CPU</a:t>
            </a:r>
            <a:endParaRPr kumimoji="1" lang="ja-JP" altLang="en-US" sz="1600" dirty="0">
              <a:solidFill>
                <a:schemeClr val="tx1">
                  <a:lumMod val="75000"/>
                  <a:lumOff val="25000"/>
                </a:schemeClr>
              </a:solidFill>
              <a:latin typeface="+mn-ea"/>
            </a:endParaRPr>
          </a:p>
        </p:txBody>
      </p:sp>
      <p:sp>
        <p:nvSpPr>
          <p:cNvPr id="11" name="正方形/長方形 10"/>
          <p:cNvSpPr/>
          <p:nvPr/>
        </p:nvSpPr>
        <p:spPr bwMode="auto">
          <a:xfrm>
            <a:off x="5472010" y="4419010"/>
            <a:ext cx="1080012" cy="540007"/>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b="1" dirty="0">
                <a:solidFill>
                  <a:schemeClr val="accent6"/>
                </a:solidFill>
                <a:latin typeface="+mn-ea"/>
              </a:rPr>
              <a:t>キャッシュ</a:t>
            </a:r>
          </a:p>
        </p:txBody>
      </p:sp>
      <p:sp>
        <p:nvSpPr>
          <p:cNvPr id="12" name="正方形/長方形 11"/>
          <p:cNvSpPr/>
          <p:nvPr/>
        </p:nvSpPr>
        <p:spPr>
          <a:xfrm>
            <a:off x="2861981" y="4509012"/>
            <a:ext cx="424189" cy="400110"/>
          </a:xfrm>
          <a:prstGeom prst="rect">
            <a:avLst/>
          </a:prstGeom>
        </p:spPr>
        <p:txBody>
          <a:bodyPr wrap="none">
            <a:noAutofit/>
          </a:bodyPr>
          <a:lstStyle/>
          <a:p>
            <a:pPr marL="0" lvl="1"/>
            <a:r>
              <a:rPr lang="ja-JP" altLang="en-US" sz="2000" dirty="0">
                <a:solidFill>
                  <a:schemeClr val="accent5"/>
                </a:solidFill>
              </a:rPr>
              <a:t>長時間</a:t>
            </a:r>
          </a:p>
        </p:txBody>
      </p:sp>
      <p:sp>
        <p:nvSpPr>
          <p:cNvPr id="13" name="正方形/長方形 12"/>
          <p:cNvSpPr/>
          <p:nvPr/>
        </p:nvSpPr>
        <p:spPr>
          <a:xfrm>
            <a:off x="6282019" y="3969006"/>
            <a:ext cx="424189" cy="400110"/>
          </a:xfrm>
          <a:prstGeom prst="rect">
            <a:avLst/>
          </a:prstGeom>
        </p:spPr>
        <p:txBody>
          <a:bodyPr wrap="none">
            <a:noAutofit/>
          </a:bodyPr>
          <a:lstStyle/>
          <a:p>
            <a:pPr marL="0" lvl="1"/>
            <a:r>
              <a:rPr lang="ja-JP" altLang="en-US" sz="2000" dirty="0">
                <a:solidFill>
                  <a:schemeClr val="accent5"/>
                </a:solidFill>
              </a:rPr>
              <a:t>短時間（値があれば）</a:t>
            </a:r>
          </a:p>
        </p:txBody>
      </p:sp>
    </p:spTree>
    <p:extLst>
      <p:ext uri="{BB962C8B-B14F-4D97-AF65-F5344CB8AC3E}">
        <p14:creationId xmlns:p14="http://schemas.microsoft.com/office/powerpoint/2010/main" val="3288176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lang="ja-JP" altLang="en-US" dirty="0"/>
              <a:t>キャッシュの動作</a:t>
            </a:r>
            <a:endParaRPr kumimoji="1" lang="ja-JP" altLang="en-US" dirty="0"/>
          </a:p>
        </p:txBody>
      </p:sp>
      <p:sp>
        <p:nvSpPr>
          <p:cNvPr id="4" name="テキスト プレースホルダー 3"/>
          <p:cNvSpPr>
            <a:spLocks noGrp="1"/>
          </p:cNvSpPr>
          <p:nvPr>
            <p:ph type="body" sz="quarter" idx="10"/>
          </p:nvPr>
        </p:nvSpPr>
        <p:spPr>
          <a:xfrm>
            <a:off x="341953" y="908972"/>
            <a:ext cx="8280092" cy="2340026"/>
          </a:xfrm>
        </p:spPr>
        <p:txBody>
          <a:bodyPr/>
          <a:lstStyle/>
          <a:p>
            <a:r>
              <a:rPr kumimoji="1" lang="ja-JP" altLang="en-US" dirty="0"/>
              <a:t>ソフトの性質：</a:t>
            </a:r>
            <a:endParaRPr kumimoji="1" lang="en-US" altLang="ja-JP" dirty="0"/>
          </a:p>
          <a:p>
            <a:pPr lvl="1"/>
            <a:r>
              <a:rPr kumimoji="1" lang="ja-JP" altLang="en-US" dirty="0"/>
              <a:t>一度使用した値は，すぐにまた使う可能性が高い</a:t>
            </a:r>
            <a:endParaRPr kumimoji="1" lang="en-US" altLang="ja-JP" dirty="0"/>
          </a:p>
          <a:p>
            <a:pPr lvl="1"/>
            <a:r>
              <a:rPr kumimoji="1" lang="ja-JP" altLang="en-US" dirty="0"/>
              <a:t>ブラウザのキャッシュと同じ</a:t>
            </a:r>
            <a:endParaRPr kumimoji="1" lang="en-US" altLang="ja-JP" dirty="0"/>
          </a:p>
          <a:p>
            <a:r>
              <a:rPr lang="ja-JP" altLang="en-US" b="1" dirty="0">
                <a:solidFill>
                  <a:schemeClr val="accent5"/>
                </a:solidFill>
              </a:rPr>
              <a:t>一度利用した値を入れておくことで，</a:t>
            </a:r>
            <a:r>
              <a:rPr lang="en-US" altLang="ja-JP" b="1" dirty="0">
                <a:solidFill>
                  <a:schemeClr val="accent5"/>
                </a:solidFill>
              </a:rPr>
              <a:t>2</a:t>
            </a:r>
            <a:r>
              <a:rPr lang="ja-JP" altLang="en-US" b="1" dirty="0">
                <a:solidFill>
                  <a:schemeClr val="accent5"/>
                </a:solidFill>
              </a:rPr>
              <a:t>度目からは高速に</a:t>
            </a:r>
            <a:endParaRPr lang="en-US" altLang="ja-JP" b="1" dirty="0">
              <a:solidFill>
                <a:schemeClr val="accent5"/>
              </a:solidFill>
            </a:endParaRPr>
          </a:p>
        </p:txBody>
      </p:sp>
      <p:sp>
        <p:nvSpPr>
          <p:cNvPr id="23" name="下矢印 22"/>
          <p:cNvSpPr/>
          <p:nvPr/>
        </p:nvSpPr>
        <p:spPr bwMode="auto">
          <a:xfrm>
            <a:off x="2591978" y="3969006"/>
            <a:ext cx="360004" cy="1440016"/>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4" name="下矢印 23"/>
          <p:cNvSpPr/>
          <p:nvPr/>
        </p:nvSpPr>
        <p:spPr bwMode="auto">
          <a:xfrm>
            <a:off x="5832014" y="3969006"/>
            <a:ext cx="360004" cy="45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5" name="下矢印 24"/>
          <p:cNvSpPr/>
          <p:nvPr/>
        </p:nvSpPr>
        <p:spPr bwMode="auto">
          <a:xfrm>
            <a:off x="5832014" y="4959017"/>
            <a:ext cx="360004" cy="450005"/>
          </a:xfrm>
          <a:prstGeom prst="downArrow">
            <a:avLst/>
          </a:prstGeom>
          <a:ln>
            <a:solidFill>
              <a:schemeClr val="tx1">
                <a:lumMod val="75000"/>
                <a:lumOff val="25000"/>
              </a:schemeClr>
            </a:solidFill>
            <a:prstDash val="sysDash"/>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p:cNvSpPr/>
          <p:nvPr/>
        </p:nvSpPr>
        <p:spPr bwMode="auto">
          <a:xfrm>
            <a:off x="1691968" y="5409022"/>
            <a:ext cx="2160024"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メモリ</a:t>
            </a:r>
          </a:p>
        </p:txBody>
      </p:sp>
      <p:sp>
        <p:nvSpPr>
          <p:cNvPr id="6" name="角丸四角形 5"/>
          <p:cNvSpPr/>
          <p:nvPr/>
        </p:nvSpPr>
        <p:spPr bwMode="auto">
          <a:xfrm>
            <a:off x="2231974"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CPU</a:t>
            </a:r>
            <a:endParaRPr kumimoji="1" lang="ja-JP" altLang="en-US" sz="1600" dirty="0">
              <a:solidFill>
                <a:schemeClr val="tx1">
                  <a:lumMod val="75000"/>
                  <a:lumOff val="25000"/>
                </a:schemeClr>
              </a:solidFill>
              <a:latin typeface="+mn-ea"/>
            </a:endParaRPr>
          </a:p>
        </p:txBody>
      </p:sp>
      <p:sp>
        <p:nvSpPr>
          <p:cNvPr id="16" name="正方形/長方形 15"/>
          <p:cNvSpPr/>
          <p:nvPr/>
        </p:nvSpPr>
        <p:spPr bwMode="auto">
          <a:xfrm>
            <a:off x="4932004" y="5409022"/>
            <a:ext cx="2160024" cy="925725"/>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メモリ</a:t>
            </a:r>
          </a:p>
        </p:txBody>
      </p:sp>
      <p:sp>
        <p:nvSpPr>
          <p:cNvPr id="17" name="角丸四角形 16"/>
          <p:cNvSpPr/>
          <p:nvPr/>
        </p:nvSpPr>
        <p:spPr bwMode="auto">
          <a:xfrm>
            <a:off x="5472010"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CPU</a:t>
            </a:r>
            <a:endParaRPr kumimoji="1" lang="ja-JP" altLang="en-US" sz="1600" dirty="0">
              <a:solidFill>
                <a:schemeClr val="tx1">
                  <a:lumMod val="75000"/>
                  <a:lumOff val="25000"/>
                </a:schemeClr>
              </a:solidFill>
              <a:latin typeface="+mn-ea"/>
            </a:endParaRPr>
          </a:p>
        </p:txBody>
      </p:sp>
      <p:sp>
        <p:nvSpPr>
          <p:cNvPr id="20" name="正方形/長方形 19"/>
          <p:cNvSpPr/>
          <p:nvPr/>
        </p:nvSpPr>
        <p:spPr bwMode="auto">
          <a:xfrm>
            <a:off x="5472010" y="4419010"/>
            <a:ext cx="1080012" cy="540007"/>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b="1" dirty="0">
                <a:solidFill>
                  <a:schemeClr val="accent6"/>
                </a:solidFill>
                <a:latin typeface="+mn-ea"/>
              </a:rPr>
              <a:t>キャッシュ</a:t>
            </a:r>
          </a:p>
        </p:txBody>
      </p:sp>
      <p:sp>
        <p:nvSpPr>
          <p:cNvPr id="26" name="正方形/長方形 25"/>
          <p:cNvSpPr/>
          <p:nvPr/>
        </p:nvSpPr>
        <p:spPr>
          <a:xfrm>
            <a:off x="2861981" y="4509012"/>
            <a:ext cx="424189" cy="400110"/>
          </a:xfrm>
          <a:prstGeom prst="rect">
            <a:avLst/>
          </a:prstGeom>
        </p:spPr>
        <p:txBody>
          <a:bodyPr wrap="none">
            <a:noAutofit/>
          </a:bodyPr>
          <a:lstStyle/>
          <a:p>
            <a:pPr marL="0" lvl="1"/>
            <a:r>
              <a:rPr lang="ja-JP" altLang="en-US" sz="2000" dirty="0">
                <a:solidFill>
                  <a:schemeClr val="accent5"/>
                </a:solidFill>
              </a:rPr>
              <a:t>長時間</a:t>
            </a:r>
          </a:p>
        </p:txBody>
      </p:sp>
      <p:sp>
        <p:nvSpPr>
          <p:cNvPr id="27" name="正方形/長方形 26"/>
          <p:cNvSpPr/>
          <p:nvPr/>
        </p:nvSpPr>
        <p:spPr>
          <a:xfrm>
            <a:off x="6282019" y="3969006"/>
            <a:ext cx="424189" cy="400110"/>
          </a:xfrm>
          <a:prstGeom prst="rect">
            <a:avLst/>
          </a:prstGeom>
        </p:spPr>
        <p:txBody>
          <a:bodyPr wrap="none">
            <a:noAutofit/>
          </a:bodyPr>
          <a:lstStyle/>
          <a:p>
            <a:pPr marL="0" lvl="1"/>
            <a:r>
              <a:rPr lang="ja-JP" altLang="en-US" sz="2000" dirty="0">
                <a:solidFill>
                  <a:schemeClr val="accent5"/>
                </a:solidFill>
              </a:rPr>
              <a:t>短時間（値があれば）</a:t>
            </a:r>
          </a:p>
        </p:txBody>
      </p:sp>
    </p:spTree>
    <p:extLst>
      <p:ext uri="{BB962C8B-B14F-4D97-AF65-F5344CB8AC3E}">
        <p14:creationId xmlns:p14="http://schemas.microsoft.com/office/powerpoint/2010/main" val="21129885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時間的局所性</a:t>
            </a:r>
          </a:p>
        </p:txBody>
      </p:sp>
      <p:sp>
        <p:nvSpPr>
          <p:cNvPr id="3" name="テキスト プレースホルダー 2"/>
          <p:cNvSpPr>
            <a:spLocks noGrp="1"/>
          </p:cNvSpPr>
          <p:nvPr>
            <p:ph type="body" sz="quarter" idx="10"/>
          </p:nvPr>
        </p:nvSpPr>
        <p:spPr>
          <a:xfrm>
            <a:off x="341953" y="1088974"/>
            <a:ext cx="8550095" cy="5219751"/>
          </a:xfrm>
        </p:spPr>
        <p:txBody>
          <a:bodyPr/>
          <a:lstStyle/>
          <a:p>
            <a:r>
              <a:rPr lang="ja-JP" altLang="en-US" dirty="0"/>
              <a:t>「一度使用した値は，すぐにまた使う可能性が高い」という性質</a:t>
            </a:r>
            <a:endParaRPr lang="en-US" altLang="ja-JP" dirty="0"/>
          </a:p>
          <a:p>
            <a:r>
              <a:rPr lang="ja-JP" altLang="en-US" dirty="0"/>
              <a:t>なぜか？</a:t>
            </a:r>
            <a:endParaRPr lang="en-US" altLang="ja-JP" dirty="0"/>
          </a:p>
          <a:p>
            <a:pPr lvl="1"/>
            <a:r>
              <a:rPr lang="ja-JP" altLang="en-US" dirty="0"/>
              <a:t>人間は，「普通は」関連のある処理同士を近くに書く</a:t>
            </a:r>
            <a:endParaRPr lang="en-US" altLang="ja-JP" dirty="0"/>
          </a:p>
          <a:p>
            <a:pPr lvl="1"/>
            <a:r>
              <a:rPr lang="ja-JP" altLang="en-US" dirty="0"/>
              <a:t>プログラムの各行ごとに全く関係無い処理を混ぜたりは</a:t>
            </a:r>
            <a:br>
              <a:rPr lang="en-US" altLang="ja-JP" dirty="0"/>
            </a:br>
            <a:r>
              <a:rPr lang="ja-JP" altLang="en-US" dirty="0"/>
              <a:t>「普通は」しない</a:t>
            </a:r>
            <a:endParaRPr lang="en-US" altLang="ja-JP" dirty="0"/>
          </a:p>
          <a:p>
            <a:r>
              <a:rPr kumimoji="1" lang="ja-JP" altLang="en-US" dirty="0"/>
              <a:t>関連する処理は，当然同じデータを使う可能性が高い</a:t>
            </a:r>
            <a:endParaRPr kumimoji="1" lang="en-US" altLang="ja-JP" dirty="0"/>
          </a:p>
          <a:p>
            <a:pPr lvl="1"/>
            <a:r>
              <a:rPr kumimoji="1" lang="ja-JP" altLang="en-US" dirty="0"/>
              <a:t>同じ入力データの使いまわし</a:t>
            </a:r>
            <a:endParaRPr kumimoji="1" lang="en-US" altLang="ja-JP" dirty="0"/>
          </a:p>
          <a:p>
            <a:pPr lvl="1"/>
            <a:r>
              <a:rPr kumimoji="1" lang="ja-JP" altLang="en-US" dirty="0"/>
              <a:t>前の行の結果を次の行の入力で使う</a:t>
            </a:r>
            <a:endParaRPr kumimoji="1" lang="en-US" altLang="ja-JP" dirty="0"/>
          </a:p>
          <a:p>
            <a:pPr lvl="2"/>
            <a:r>
              <a:rPr lang="en-US" altLang="ja-JP" dirty="0"/>
              <a:t>for </a:t>
            </a:r>
            <a:r>
              <a:rPr lang="ja-JP" altLang="en-US" dirty="0"/>
              <a:t>ループなどはこれらの典型</a:t>
            </a:r>
            <a:endParaRPr lang="en-US" altLang="ja-JP" dirty="0"/>
          </a:p>
        </p:txBody>
      </p:sp>
    </p:spTree>
    <p:extLst>
      <p:ext uri="{BB962C8B-B14F-4D97-AF65-F5344CB8AC3E}">
        <p14:creationId xmlns:p14="http://schemas.microsoft.com/office/powerpoint/2010/main" val="4417430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実際には多層の構造になっている</a:t>
            </a:r>
            <a:endParaRPr lang="en-US" altLang="ja-JP" dirty="0"/>
          </a:p>
        </p:txBody>
      </p:sp>
      <p:sp>
        <p:nvSpPr>
          <p:cNvPr id="3" name="テキスト プレースホルダー 2"/>
          <p:cNvSpPr>
            <a:spLocks noGrp="1"/>
          </p:cNvSpPr>
          <p:nvPr>
            <p:ph type="body" sz="quarter" idx="10"/>
          </p:nvPr>
        </p:nvSpPr>
        <p:spPr>
          <a:xfrm>
            <a:off x="251952" y="998973"/>
            <a:ext cx="8370093" cy="3600040"/>
          </a:xfrm>
        </p:spPr>
        <p:txBody>
          <a:bodyPr/>
          <a:lstStyle/>
          <a:p>
            <a:r>
              <a:rPr lang="ja-JP" altLang="en-US" dirty="0"/>
              <a:t>中間の速さと大きさのキャッシュが</a:t>
            </a:r>
            <a:br>
              <a:rPr lang="en-US" altLang="ja-JP" dirty="0"/>
            </a:br>
            <a:r>
              <a:rPr lang="ja-JP" altLang="en-US" dirty="0"/>
              <a:t>複数組み合わされている</a:t>
            </a:r>
            <a:endParaRPr lang="en-US" altLang="ja-JP" dirty="0"/>
          </a:p>
          <a:p>
            <a:pPr lvl="1"/>
            <a:r>
              <a:rPr lang="en-US" altLang="ja-JP" dirty="0"/>
              <a:t>PC </a:t>
            </a:r>
            <a:r>
              <a:rPr lang="ja-JP" altLang="en-US" dirty="0"/>
              <a:t>に使われている </a:t>
            </a:r>
            <a:r>
              <a:rPr lang="en-US" altLang="ja-JP" dirty="0"/>
              <a:t>CPU </a:t>
            </a:r>
            <a:r>
              <a:rPr lang="ja-JP" altLang="en-US" dirty="0"/>
              <a:t>だと </a:t>
            </a:r>
            <a:r>
              <a:rPr lang="en-US" altLang="ja-JP" dirty="0"/>
              <a:t>L1 </a:t>
            </a:r>
            <a:r>
              <a:rPr lang="ja-JP" altLang="en-US" dirty="0"/>
              <a:t>～ </a:t>
            </a:r>
            <a:r>
              <a:rPr lang="en-US" altLang="ja-JP" dirty="0"/>
              <a:t>L3 </a:t>
            </a:r>
            <a:r>
              <a:rPr lang="ja-JP" altLang="en-US" dirty="0"/>
              <a:t>まで</a:t>
            </a:r>
            <a:br>
              <a:rPr lang="en-US" altLang="ja-JP" dirty="0"/>
            </a:br>
            <a:r>
              <a:rPr lang="ja-JP" altLang="en-US" dirty="0"/>
              <a:t>あるのが一般的</a:t>
            </a:r>
            <a:endParaRPr lang="en-US" altLang="ja-JP" dirty="0"/>
          </a:p>
          <a:p>
            <a:pPr lvl="1"/>
            <a:r>
              <a:rPr lang="en-US" altLang="ja-JP" dirty="0"/>
              <a:t>L </a:t>
            </a:r>
            <a:r>
              <a:rPr lang="ja-JP" altLang="en-US" dirty="0"/>
              <a:t>は</a:t>
            </a:r>
            <a:r>
              <a:rPr lang="en-US" altLang="ja-JP" dirty="0"/>
              <a:t> Level </a:t>
            </a:r>
            <a:r>
              <a:rPr lang="ja-JP" altLang="en-US" dirty="0"/>
              <a:t>の略で，</a:t>
            </a:r>
            <a:br>
              <a:rPr lang="en-US" altLang="ja-JP" dirty="0"/>
            </a:br>
            <a:r>
              <a:rPr lang="ja-JP" altLang="en-US" dirty="0"/>
              <a:t>大きいほど（高次）</a:t>
            </a:r>
            <a:r>
              <a:rPr lang="en-US" altLang="ja-JP" dirty="0"/>
              <a:t>CPU </a:t>
            </a:r>
            <a:r>
              <a:rPr lang="ja-JP" altLang="en-US" dirty="0"/>
              <a:t>から遠い</a:t>
            </a:r>
          </a:p>
        </p:txBody>
      </p:sp>
      <p:sp>
        <p:nvSpPr>
          <p:cNvPr id="4" name="下矢印 3">
            <a:extLst>
              <a:ext uri="{FF2B5EF4-FFF2-40B4-BE49-F238E27FC236}">
                <a16:creationId xmlns:a16="http://schemas.microsoft.com/office/drawing/2014/main" id="{54B20BE3-E069-442C-8EF8-84EF1D9063A8}"/>
              </a:ext>
            </a:extLst>
          </p:cNvPr>
          <p:cNvSpPr/>
          <p:nvPr/>
        </p:nvSpPr>
        <p:spPr bwMode="auto">
          <a:xfrm>
            <a:off x="6822025" y="3338999"/>
            <a:ext cx="360004" cy="36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E6809D6C-2FEB-4AFE-BA70-3FE2FD67C2DA}"/>
              </a:ext>
            </a:extLst>
          </p:cNvPr>
          <p:cNvSpPr/>
          <p:nvPr/>
        </p:nvSpPr>
        <p:spPr bwMode="auto">
          <a:xfrm>
            <a:off x="5922015" y="4869016"/>
            <a:ext cx="2160024" cy="135001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b="1" dirty="0">
                <a:solidFill>
                  <a:schemeClr val="tx1">
                    <a:lumMod val="75000"/>
                    <a:lumOff val="25000"/>
                  </a:schemeClr>
                </a:solidFill>
                <a:latin typeface="+mn-ea"/>
              </a:rPr>
              <a:t>メモリ</a:t>
            </a:r>
          </a:p>
        </p:txBody>
      </p:sp>
      <p:sp>
        <p:nvSpPr>
          <p:cNvPr id="6" name="角丸四角形 5">
            <a:extLst>
              <a:ext uri="{FF2B5EF4-FFF2-40B4-BE49-F238E27FC236}">
                <a16:creationId xmlns:a16="http://schemas.microsoft.com/office/drawing/2014/main" id="{35A5F36D-88A1-4D75-AC0B-A0C33203FD42}"/>
              </a:ext>
            </a:extLst>
          </p:cNvPr>
          <p:cNvSpPr/>
          <p:nvPr/>
        </p:nvSpPr>
        <p:spPr bwMode="auto">
          <a:xfrm>
            <a:off x="6552023" y="2798992"/>
            <a:ext cx="900010" cy="450005"/>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b="1" dirty="0">
                <a:solidFill>
                  <a:schemeClr val="tx1">
                    <a:lumMod val="75000"/>
                    <a:lumOff val="25000"/>
                  </a:schemeClr>
                </a:solidFill>
                <a:latin typeface="+mn-ea"/>
              </a:rPr>
              <a:t>L</a:t>
            </a:r>
            <a:r>
              <a:rPr lang="en-US" altLang="ja-JP" sz="1600" b="1" dirty="0">
                <a:solidFill>
                  <a:schemeClr val="tx1">
                    <a:lumMod val="75000"/>
                    <a:lumOff val="25000"/>
                  </a:schemeClr>
                </a:solidFill>
                <a:latin typeface="+mn-ea"/>
              </a:rPr>
              <a:t>2</a:t>
            </a:r>
            <a:endParaRPr kumimoji="1" lang="ja-JP" altLang="en-US" sz="1600" b="1" dirty="0">
              <a:solidFill>
                <a:schemeClr val="tx1">
                  <a:lumMod val="75000"/>
                  <a:lumOff val="25000"/>
                </a:schemeClr>
              </a:solidFill>
              <a:latin typeface="+mn-ea"/>
            </a:endParaRPr>
          </a:p>
        </p:txBody>
      </p:sp>
      <p:sp>
        <p:nvSpPr>
          <p:cNvPr id="9" name="下矢印 3">
            <a:extLst>
              <a:ext uri="{FF2B5EF4-FFF2-40B4-BE49-F238E27FC236}">
                <a16:creationId xmlns:a16="http://schemas.microsoft.com/office/drawing/2014/main" id="{98F5194A-F041-4316-B9FC-865A952DD9B6}"/>
              </a:ext>
            </a:extLst>
          </p:cNvPr>
          <p:cNvSpPr/>
          <p:nvPr/>
        </p:nvSpPr>
        <p:spPr bwMode="auto">
          <a:xfrm>
            <a:off x="6822025" y="2348988"/>
            <a:ext cx="360004" cy="36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 name="角丸四角形 5">
            <a:extLst>
              <a:ext uri="{FF2B5EF4-FFF2-40B4-BE49-F238E27FC236}">
                <a16:creationId xmlns:a16="http://schemas.microsoft.com/office/drawing/2014/main" id="{706988AB-04A9-440B-9135-56BD13B688F8}"/>
              </a:ext>
            </a:extLst>
          </p:cNvPr>
          <p:cNvSpPr/>
          <p:nvPr/>
        </p:nvSpPr>
        <p:spPr bwMode="auto">
          <a:xfrm>
            <a:off x="6732024" y="1718981"/>
            <a:ext cx="540006" cy="450005"/>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b="1" dirty="0">
                <a:solidFill>
                  <a:schemeClr val="tx1">
                    <a:lumMod val="75000"/>
                    <a:lumOff val="25000"/>
                  </a:schemeClr>
                </a:solidFill>
                <a:latin typeface="+mn-ea"/>
              </a:rPr>
              <a:t>L1</a:t>
            </a:r>
            <a:endParaRPr kumimoji="1" lang="ja-JP" altLang="en-US" sz="1600" b="1" dirty="0">
              <a:solidFill>
                <a:schemeClr val="tx1">
                  <a:lumMod val="75000"/>
                  <a:lumOff val="25000"/>
                </a:schemeClr>
              </a:solidFill>
              <a:latin typeface="+mn-ea"/>
            </a:endParaRPr>
          </a:p>
        </p:txBody>
      </p:sp>
      <p:sp>
        <p:nvSpPr>
          <p:cNvPr id="11" name="下矢印 3">
            <a:extLst>
              <a:ext uri="{FF2B5EF4-FFF2-40B4-BE49-F238E27FC236}">
                <a16:creationId xmlns:a16="http://schemas.microsoft.com/office/drawing/2014/main" id="{1B4C6990-7511-4577-BC59-89B051F8CF91}"/>
              </a:ext>
            </a:extLst>
          </p:cNvPr>
          <p:cNvSpPr/>
          <p:nvPr/>
        </p:nvSpPr>
        <p:spPr bwMode="auto">
          <a:xfrm>
            <a:off x="6822025" y="4419011"/>
            <a:ext cx="360004" cy="36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 name="角丸四角形 5">
            <a:extLst>
              <a:ext uri="{FF2B5EF4-FFF2-40B4-BE49-F238E27FC236}">
                <a16:creationId xmlns:a16="http://schemas.microsoft.com/office/drawing/2014/main" id="{E7AC82BD-F4B3-41F2-AF19-5F46460893BC}"/>
              </a:ext>
            </a:extLst>
          </p:cNvPr>
          <p:cNvSpPr/>
          <p:nvPr/>
        </p:nvSpPr>
        <p:spPr bwMode="auto">
          <a:xfrm>
            <a:off x="6282019" y="3789004"/>
            <a:ext cx="1440015"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b="1" dirty="0">
                <a:solidFill>
                  <a:schemeClr val="tx1">
                    <a:lumMod val="75000"/>
                    <a:lumOff val="25000"/>
                  </a:schemeClr>
                </a:solidFill>
                <a:latin typeface="+mn-ea"/>
              </a:rPr>
              <a:t>L3 </a:t>
            </a:r>
            <a:r>
              <a:rPr kumimoji="1" lang="ja-JP" altLang="en-US" sz="1600" b="1" dirty="0">
                <a:solidFill>
                  <a:schemeClr val="tx1">
                    <a:lumMod val="75000"/>
                    <a:lumOff val="25000"/>
                  </a:schemeClr>
                </a:solidFill>
                <a:latin typeface="+mn-ea"/>
              </a:rPr>
              <a:t>キャッシュ</a:t>
            </a:r>
          </a:p>
        </p:txBody>
      </p:sp>
    </p:spTree>
    <p:extLst>
      <p:ext uri="{BB962C8B-B14F-4D97-AF65-F5344CB8AC3E}">
        <p14:creationId xmlns:p14="http://schemas.microsoft.com/office/powerpoint/2010/main" val="13501087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611956" y="0"/>
            <a:ext cx="8532044" cy="908972"/>
          </a:xfrm>
        </p:spPr>
        <p:txBody>
          <a:bodyPr/>
          <a:lstStyle/>
          <a:p>
            <a:r>
              <a:rPr lang="ja-JP" altLang="en-US" dirty="0"/>
              <a:t>キャッシュの基本的な考え方のまとめ</a:t>
            </a:r>
          </a:p>
        </p:txBody>
      </p:sp>
      <p:sp>
        <p:nvSpPr>
          <p:cNvPr id="3" name="テキスト プレースホルダー 2"/>
          <p:cNvSpPr>
            <a:spLocks noGrp="1"/>
          </p:cNvSpPr>
          <p:nvPr>
            <p:ph sz="quarter" idx="10"/>
          </p:nvPr>
        </p:nvSpPr>
        <p:spPr>
          <a:xfrm>
            <a:off x="611956" y="1088974"/>
            <a:ext cx="7920088" cy="5220058"/>
          </a:xfrm>
        </p:spPr>
        <p:txBody>
          <a:bodyPr/>
          <a:lstStyle/>
          <a:p>
            <a:r>
              <a:rPr lang="ja-JP" altLang="en-US" dirty="0"/>
              <a:t>記憶階層</a:t>
            </a:r>
            <a:endParaRPr lang="en-US" altLang="ja-JP" dirty="0"/>
          </a:p>
          <a:p>
            <a:pPr lvl="1"/>
            <a:r>
              <a:rPr lang="ja-JP" altLang="en-US" dirty="0"/>
              <a:t>小さいけど速いメモリ：キャッシュ</a:t>
            </a:r>
            <a:endParaRPr lang="en-US" altLang="ja-JP" dirty="0"/>
          </a:p>
          <a:p>
            <a:pPr lvl="1"/>
            <a:r>
              <a:rPr lang="ja-JP" altLang="en-US" dirty="0"/>
              <a:t>大きいけど遅いメモリ：メイン・メモリ</a:t>
            </a:r>
            <a:endParaRPr lang="en-US" altLang="ja-JP" dirty="0"/>
          </a:p>
          <a:p>
            <a:r>
              <a:rPr lang="ja-JP" altLang="en-US" dirty="0"/>
              <a:t>時間的局所性</a:t>
            </a:r>
            <a:endParaRPr lang="en-US" altLang="ja-JP" dirty="0"/>
          </a:p>
          <a:p>
            <a:pPr lvl="1"/>
            <a:r>
              <a:rPr lang="ja-JP" altLang="en-US" dirty="0"/>
              <a:t>一度使用した値は，すぐにまた使う可能性が高い性質のこと</a:t>
            </a:r>
          </a:p>
          <a:p>
            <a:r>
              <a:rPr lang="ja-JP" altLang="en-US" dirty="0"/>
              <a:t>実際には多層の構造になっている</a:t>
            </a:r>
            <a:endParaRPr lang="en-US" altLang="ja-JP" dirty="0"/>
          </a:p>
          <a:p>
            <a:pPr lvl="1"/>
            <a:r>
              <a:rPr lang="ja-JP" altLang="en-US" dirty="0"/>
              <a:t>中間の速さと大きさのキャッシュが複数組み合わされている</a:t>
            </a:r>
            <a:endParaRPr lang="en-US" altLang="ja-JP" dirty="0"/>
          </a:p>
        </p:txBody>
      </p:sp>
    </p:spTree>
    <p:extLst>
      <p:ext uri="{BB962C8B-B14F-4D97-AF65-F5344CB8AC3E}">
        <p14:creationId xmlns:p14="http://schemas.microsoft.com/office/powerpoint/2010/main" val="15755424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キャッシュの基本的な考え方</a:t>
            </a:r>
            <a:endParaRPr lang="en-US" altLang="ja-JP" dirty="0"/>
          </a:p>
          <a:p>
            <a:pPr marL="817200" lvl="1" indent="-457200">
              <a:buFont typeface="+mj-lt"/>
              <a:buAutoNum type="arabicPeriod"/>
            </a:pPr>
            <a:r>
              <a:rPr lang="ja-JP" altLang="en-US" dirty="0"/>
              <a:t>基本的な原理と構造</a:t>
            </a:r>
            <a:endParaRPr lang="en-US" altLang="ja-JP" dirty="0"/>
          </a:p>
          <a:p>
            <a:pPr marL="817200" lvl="1" indent="-457200">
              <a:buFont typeface="+mj-lt"/>
              <a:buAutoNum type="arabicPeriod"/>
            </a:pPr>
            <a:r>
              <a:rPr lang="ja-JP" altLang="en-US" b="1" dirty="0"/>
              <a:t>容量の性能への影響</a:t>
            </a:r>
            <a:endParaRPr lang="en-US" altLang="ja-JP" b="1" dirty="0"/>
          </a:p>
        </p:txBody>
      </p:sp>
    </p:spTree>
    <p:extLst>
      <p:ext uri="{BB962C8B-B14F-4D97-AF65-F5344CB8AC3E}">
        <p14:creationId xmlns:p14="http://schemas.microsoft.com/office/powerpoint/2010/main" val="33569828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キャッシュへの性能への影響</a:t>
            </a:r>
          </a:p>
        </p:txBody>
      </p:sp>
      <p:sp>
        <p:nvSpPr>
          <p:cNvPr id="3" name="テキスト プレースホルダー 2"/>
          <p:cNvSpPr>
            <a:spLocks noGrp="1"/>
          </p:cNvSpPr>
          <p:nvPr>
            <p:ph type="body" sz="quarter" idx="10"/>
          </p:nvPr>
        </p:nvSpPr>
        <p:spPr>
          <a:xfrm>
            <a:off x="161951" y="1088974"/>
            <a:ext cx="8712046" cy="5490061"/>
          </a:xfrm>
        </p:spPr>
        <p:txBody>
          <a:bodyPr/>
          <a:lstStyle/>
          <a:p>
            <a:r>
              <a:rPr lang="ja-JP" altLang="en-US" dirty="0"/>
              <a:t>下記のような二重ループを考える</a:t>
            </a:r>
            <a:endParaRPr lang="en-US" altLang="ja-JP" dirty="0"/>
          </a:p>
          <a:p>
            <a:pPr lvl="1"/>
            <a:r>
              <a:rPr lang="en-US" altLang="ja-JP" dirty="0">
                <a:latin typeface="Consolas" panose="020B0609020204030204" pitchFamily="49" charset="0"/>
              </a:rPr>
              <a:t>SIZE </a:t>
            </a:r>
            <a:r>
              <a:rPr lang="ja-JP" altLang="en-US" dirty="0">
                <a:latin typeface="Consolas" panose="020B0609020204030204" pitchFamily="49" charset="0"/>
              </a:rPr>
              <a:t>がキャッシュの容量に収まっていれば，</a:t>
            </a:r>
            <a:br>
              <a:rPr lang="en-US" altLang="ja-JP" dirty="0">
                <a:latin typeface="Consolas" panose="020B0609020204030204" pitchFamily="49" charset="0"/>
              </a:rPr>
            </a:br>
            <a:r>
              <a:rPr lang="ja-JP" altLang="en-US" dirty="0">
                <a:latin typeface="Consolas" panose="020B0609020204030204" pitchFamily="49" charset="0"/>
              </a:rPr>
              <a:t>内側ループ終了後に </a:t>
            </a:r>
            <a:r>
              <a:rPr lang="en-US" altLang="ja-JP" dirty="0">
                <a:latin typeface="Consolas" panose="020B0609020204030204" pitchFamily="49" charset="0"/>
              </a:rPr>
              <a:t>table </a:t>
            </a:r>
            <a:r>
              <a:rPr lang="ja-JP" altLang="en-US" dirty="0">
                <a:latin typeface="Consolas" panose="020B0609020204030204" pitchFamily="49" charset="0"/>
              </a:rPr>
              <a:t>の全データがキャッシュに乗る</a:t>
            </a:r>
            <a:endParaRPr lang="en-US" altLang="ja-JP" dirty="0">
              <a:latin typeface="Consolas" panose="020B0609020204030204" pitchFamily="49" charset="0"/>
            </a:endParaRPr>
          </a:p>
          <a:p>
            <a:pPr lvl="1"/>
            <a:r>
              <a:rPr lang="ja-JP" altLang="en-US" dirty="0">
                <a:latin typeface="Consolas" panose="020B0609020204030204" pitchFamily="49" charset="0"/>
              </a:rPr>
              <a:t>次の内側の周回では全データがキャッシュに乗っているので速い！</a:t>
            </a:r>
            <a:endParaRPr lang="en-US" altLang="ja-JP" dirty="0">
              <a:latin typeface="Consolas" panose="020B0609020204030204" pitchFamily="49" charset="0"/>
            </a:endParaRPr>
          </a:p>
          <a:p>
            <a:pPr lvl="2"/>
            <a:endParaRPr kumimoji="1" lang="en-US" altLang="ja-JP" dirty="0"/>
          </a:p>
          <a:p>
            <a:pPr marL="360000" lvl="1" indent="0">
              <a:buNone/>
            </a:pPr>
            <a:r>
              <a:rPr lang="en-US" altLang="ja-JP" dirty="0">
                <a:solidFill>
                  <a:schemeClr val="accent4"/>
                </a:solidFill>
                <a:latin typeface="Consolas" panose="020B0609020204030204" pitchFamily="49" charset="0"/>
              </a:rPr>
              <a:t>for</a:t>
            </a:r>
            <a:r>
              <a:rPr lang="en-US" altLang="ja-JP" dirty="0">
                <a:solidFill>
                  <a:schemeClr val="accent1"/>
                </a:solidFill>
                <a:latin typeface="Consolas" panose="020B0609020204030204" pitchFamily="49" charset="0"/>
              </a:rPr>
              <a:t> </a:t>
            </a:r>
            <a:r>
              <a:rPr lang="en-US" altLang="ja-JP" dirty="0">
                <a:latin typeface="Consolas" panose="020B0609020204030204" pitchFamily="49" charset="0"/>
              </a:rPr>
              <a:t>(</a:t>
            </a:r>
            <a:r>
              <a:rPr lang="en-US" altLang="ja-JP" dirty="0">
                <a:solidFill>
                  <a:schemeClr val="accent1"/>
                </a:solidFill>
                <a:latin typeface="Consolas" panose="020B0609020204030204" pitchFamily="49" charset="0"/>
              </a:rPr>
              <a:t>int </a:t>
            </a:r>
            <a:r>
              <a:rPr lang="en-US" altLang="ja-JP" dirty="0" err="1">
                <a:latin typeface="Consolas" panose="020B0609020204030204" pitchFamily="49" charset="0"/>
              </a:rPr>
              <a:t>i</a:t>
            </a:r>
            <a:r>
              <a:rPr lang="en-US" altLang="ja-JP" dirty="0">
                <a:latin typeface="Consolas" panose="020B0609020204030204" pitchFamily="49" charset="0"/>
              </a:rPr>
              <a:t> = 0; </a:t>
            </a:r>
            <a:r>
              <a:rPr lang="en-US" altLang="ja-JP" dirty="0" err="1">
                <a:latin typeface="Consolas" panose="020B0609020204030204" pitchFamily="49" charset="0"/>
              </a:rPr>
              <a:t>i</a:t>
            </a:r>
            <a:r>
              <a:rPr lang="en-US" altLang="ja-JP" dirty="0">
                <a:latin typeface="Consolas" panose="020B0609020204030204" pitchFamily="49" charset="0"/>
              </a:rPr>
              <a:t> &lt; NUM_TEST; </a:t>
            </a:r>
            <a:r>
              <a:rPr lang="en-US" altLang="ja-JP" dirty="0" err="1">
                <a:latin typeface="Consolas" panose="020B0609020204030204" pitchFamily="49" charset="0"/>
              </a:rPr>
              <a:t>i</a:t>
            </a:r>
            <a:r>
              <a:rPr lang="en-US" altLang="ja-JP" dirty="0">
                <a:latin typeface="Consolas" panose="020B0609020204030204" pitchFamily="49" charset="0"/>
              </a:rPr>
              <a:t>++) {</a:t>
            </a:r>
          </a:p>
          <a:p>
            <a:pPr marL="720000" lvl="2" indent="0">
              <a:buNone/>
            </a:pPr>
            <a:r>
              <a:rPr lang="en-US" altLang="ja-JP" dirty="0">
                <a:solidFill>
                  <a:schemeClr val="accent1"/>
                </a:solidFill>
                <a:latin typeface="Consolas" panose="020B0609020204030204" pitchFamily="49" charset="0"/>
              </a:rPr>
              <a:t>uint32_t</a:t>
            </a:r>
            <a:r>
              <a:rPr lang="en-US" altLang="ja-JP" dirty="0">
                <a:latin typeface="Consolas" panose="020B0609020204030204" pitchFamily="49" charset="0"/>
              </a:rPr>
              <a:t> p = 0;</a:t>
            </a:r>
          </a:p>
          <a:p>
            <a:pPr marL="720000" lvl="2" indent="0">
              <a:buNone/>
            </a:pPr>
            <a:r>
              <a:rPr lang="en-US" altLang="ja-JP" dirty="0">
                <a:solidFill>
                  <a:schemeClr val="accent4"/>
                </a:solidFill>
                <a:latin typeface="Consolas" panose="020B0609020204030204" pitchFamily="49" charset="0"/>
              </a:rPr>
              <a:t>for</a:t>
            </a:r>
            <a:r>
              <a:rPr lang="en-US" altLang="ja-JP" dirty="0">
                <a:latin typeface="Consolas" panose="020B0609020204030204" pitchFamily="49" charset="0"/>
              </a:rPr>
              <a:t> (</a:t>
            </a:r>
            <a:r>
              <a:rPr lang="en-US" altLang="ja-JP" dirty="0" err="1">
                <a:solidFill>
                  <a:schemeClr val="accent1"/>
                </a:solidFill>
                <a:latin typeface="Consolas" panose="020B0609020204030204" pitchFamily="49" charset="0"/>
              </a:rPr>
              <a:t>int</a:t>
            </a:r>
            <a:r>
              <a:rPr lang="en-US" altLang="ja-JP" dirty="0">
                <a:latin typeface="Consolas" panose="020B0609020204030204" pitchFamily="49" charset="0"/>
              </a:rPr>
              <a:t> j = 0; j &lt; SIZE; </a:t>
            </a:r>
            <a:r>
              <a:rPr lang="en-US" altLang="ja-JP" dirty="0" err="1">
                <a:latin typeface="Consolas" panose="020B0609020204030204" pitchFamily="49" charset="0"/>
              </a:rPr>
              <a:t>j++</a:t>
            </a:r>
            <a:r>
              <a:rPr lang="en-US" altLang="ja-JP" dirty="0">
                <a:latin typeface="Consolas" panose="020B0609020204030204" pitchFamily="49" charset="0"/>
              </a:rPr>
              <a:t>) {</a:t>
            </a:r>
          </a:p>
          <a:p>
            <a:pPr marL="1080000" lvl="3" indent="0">
              <a:buNone/>
            </a:pPr>
            <a:r>
              <a:rPr lang="en-US" altLang="ja-JP" dirty="0">
                <a:latin typeface="Consolas" panose="020B0609020204030204" pitchFamily="49" charset="0"/>
              </a:rPr>
              <a:t>p += table[j];</a:t>
            </a:r>
          </a:p>
          <a:p>
            <a:pPr marL="720000" lvl="2" indent="0">
              <a:buNone/>
            </a:pPr>
            <a:r>
              <a:rPr lang="en-US" altLang="ja-JP" dirty="0">
                <a:latin typeface="Consolas" panose="020B0609020204030204" pitchFamily="49" charset="0"/>
              </a:rPr>
              <a:t>}</a:t>
            </a:r>
          </a:p>
          <a:p>
            <a:pPr marL="360000" lvl="1" indent="0">
              <a:buNone/>
            </a:pPr>
            <a:r>
              <a:rPr lang="en-US" altLang="ja-JP" dirty="0">
                <a:latin typeface="Consolas" panose="020B0609020204030204" pitchFamily="49" charset="0"/>
              </a:rPr>
              <a:t>}</a:t>
            </a:r>
            <a:endParaRPr kumimoji="1" lang="ja-JP" altLang="en-US" dirty="0"/>
          </a:p>
        </p:txBody>
      </p:sp>
      <p:sp>
        <p:nvSpPr>
          <p:cNvPr id="4" name="下矢印 3">
            <a:extLst>
              <a:ext uri="{FF2B5EF4-FFF2-40B4-BE49-F238E27FC236}">
                <a16:creationId xmlns:a16="http://schemas.microsoft.com/office/drawing/2014/main" id="{C3885A34-BEFA-43AE-93BB-37B0C4120835}"/>
              </a:ext>
            </a:extLst>
          </p:cNvPr>
          <p:cNvSpPr/>
          <p:nvPr/>
        </p:nvSpPr>
        <p:spPr bwMode="auto">
          <a:xfrm>
            <a:off x="7092028" y="4419010"/>
            <a:ext cx="360004" cy="36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D5540B4C-77B4-475C-9BF9-7631FF87849D}"/>
              </a:ext>
            </a:extLst>
          </p:cNvPr>
          <p:cNvSpPr/>
          <p:nvPr/>
        </p:nvSpPr>
        <p:spPr bwMode="auto">
          <a:xfrm>
            <a:off x="6192018" y="4869016"/>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b="1" dirty="0">
                <a:solidFill>
                  <a:schemeClr val="tx1">
                    <a:lumMod val="75000"/>
                    <a:lumOff val="25000"/>
                  </a:schemeClr>
                </a:solidFill>
                <a:latin typeface="+mn-ea"/>
              </a:rPr>
              <a:t>メモリ</a:t>
            </a:r>
          </a:p>
        </p:txBody>
      </p:sp>
      <p:sp>
        <p:nvSpPr>
          <p:cNvPr id="6" name="角丸四角形 5">
            <a:extLst>
              <a:ext uri="{FF2B5EF4-FFF2-40B4-BE49-F238E27FC236}">
                <a16:creationId xmlns:a16="http://schemas.microsoft.com/office/drawing/2014/main" id="{502C3F67-A5C6-48B4-AE1F-60AC55C07355}"/>
              </a:ext>
            </a:extLst>
          </p:cNvPr>
          <p:cNvSpPr/>
          <p:nvPr/>
        </p:nvSpPr>
        <p:spPr bwMode="auto">
          <a:xfrm>
            <a:off x="6552022" y="3789004"/>
            <a:ext cx="1440016"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b="1" dirty="0">
                <a:solidFill>
                  <a:schemeClr val="tx1">
                    <a:lumMod val="75000"/>
                    <a:lumOff val="25000"/>
                  </a:schemeClr>
                </a:solidFill>
                <a:latin typeface="+mn-ea"/>
              </a:rPr>
              <a:t>キャッシュ</a:t>
            </a:r>
            <a:br>
              <a:rPr kumimoji="1" lang="en-US" altLang="ja-JP" sz="1600" b="1" dirty="0">
                <a:solidFill>
                  <a:schemeClr val="tx1">
                    <a:lumMod val="75000"/>
                    <a:lumOff val="25000"/>
                  </a:schemeClr>
                </a:solidFill>
                <a:latin typeface="+mn-ea"/>
              </a:rPr>
            </a:br>
            <a:r>
              <a:rPr kumimoji="1" lang="en-US" altLang="ja-JP" sz="1600" b="1" dirty="0">
                <a:solidFill>
                  <a:schemeClr val="tx1">
                    <a:lumMod val="75000"/>
                    <a:lumOff val="25000"/>
                  </a:schemeClr>
                </a:solidFill>
                <a:latin typeface="+mn-ea"/>
              </a:rPr>
              <a:t>32KB</a:t>
            </a:r>
            <a:endParaRPr kumimoji="1" lang="ja-JP" altLang="en-US" sz="1600" b="1"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70351F72-173A-4B5B-8225-A6520577FE01}"/>
              </a:ext>
            </a:extLst>
          </p:cNvPr>
          <p:cNvSpPr/>
          <p:nvPr/>
        </p:nvSpPr>
        <p:spPr>
          <a:xfrm>
            <a:off x="8352042" y="3879005"/>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1ns</a:t>
            </a:r>
            <a:endParaRPr lang="ja-JP" altLang="en-US" sz="2000" dirty="0">
              <a:solidFill>
                <a:schemeClr val="tx1">
                  <a:lumMod val="75000"/>
                  <a:lumOff val="25000"/>
                </a:schemeClr>
              </a:solidFill>
            </a:endParaRPr>
          </a:p>
        </p:txBody>
      </p:sp>
      <p:sp>
        <p:nvSpPr>
          <p:cNvPr id="8" name="正方形/長方形 7">
            <a:extLst>
              <a:ext uri="{FF2B5EF4-FFF2-40B4-BE49-F238E27FC236}">
                <a16:creationId xmlns:a16="http://schemas.microsoft.com/office/drawing/2014/main" id="{6AEB1D72-15C8-465B-94E3-3209D91429BE}"/>
              </a:ext>
            </a:extLst>
          </p:cNvPr>
          <p:cNvSpPr/>
          <p:nvPr/>
        </p:nvSpPr>
        <p:spPr>
          <a:xfrm>
            <a:off x="8352042" y="5049018"/>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100ns</a:t>
            </a:r>
            <a:endParaRPr lang="ja-JP" altLang="en-US" sz="2000" dirty="0">
              <a:solidFill>
                <a:schemeClr val="tx1">
                  <a:lumMod val="75000"/>
                  <a:lumOff val="25000"/>
                </a:schemeClr>
              </a:solidFill>
            </a:endParaRPr>
          </a:p>
        </p:txBody>
      </p:sp>
    </p:spTree>
    <p:extLst>
      <p:ext uri="{BB962C8B-B14F-4D97-AF65-F5344CB8AC3E}">
        <p14:creationId xmlns:p14="http://schemas.microsoft.com/office/powerpoint/2010/main" val="28253722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実際の測定データ</a:t>
            </a:r>
            <a:endParaRPr kumimoji="1" lang="ja-JP" altLang="en-US" sz="2000" dirty="0"/>
          </a:p>
        </p:txBody>
      </p:sp>
      <p:sp>
        <p:nvSpPr>
          <p:cNvPr id="3" name="テキスト プレースホルダー 2"/>
          <p:cNvSpPr>
            <a:spLocks noGrp="1"/>
          </p:cNvSpPr>
          <p:nvPr>
            <p:ph type="body" sz="quarter" idx="10"/>
          </p:nvPr>
        </p:nvSpPr>
        <p:spPr>
          <a:xfrm>
            <a:off x="71950" y="5859027"/>
            <a:ext cx="8730097" cy="539699"/>
          </a:xfrm>
        </p:spPr>
        <p:txBody>
          <a:bodyPr/>
          <a:lstStyle/>
          <a:p>
            <a:pPr lvl="1"/>
            <a:r>
              <a:rPr kumimoji="1" lang="ja-JP" altLang="en-US" sz="1600" dirty="0"/>
              <a:t>縦軸を基数</a:t>
            </a:r>
            <a:r>
              <a:rPr kumimoji="1" lang="en-US" altLang="ja-JP" sz="1600" dirty="0"/>
              <a:t>10</a:t>
            </a:r>
            <a:r>
              <a:rPr kumimoji="1" lang="ja-JP" altLang="en-US" sz="1600" dirty="0"/>
              <a:t>の対数軸，横軸を基数２の対数軸に</a:t>
            </a:r>
            <a:endParaRPr kumimoji="1" lang="en-US" altLang="ja-JP" sz="1600" dirty="0"/>
          </a:p>
          <a:p>
            <a:pPr lvl="1"/>
            <a:r>
              <a:rPr kumimoji="1" lang="ja-JP" altLang="en-US" sz="1600" dirty="0"/>
              <a:t>低次キャッシュの内容は必ず高次に含まれる仕様</a:t>
            </a:r>
            <a:endParaRPr kumimoji="1" lang="en-US" altLang="ja-JP" sz="1600" dirty="0"/>
          </a:p>
          <a:p>
            <a:pPr lvl="2"/>
            <a:r>
              <a:rPr kumimoji="1" lang="ja-JP" altLang="en-US" sz="1600" dirty="0"/>
              <a:t>（そうなるかはメーカーや世代に依存．含まれないこともある</a:t>
            </a:r>
            <a:endParaRPr kumimoji="1" lang="en-US" altLang="ja-JP" sz="1600" dirty="0"/>
          </a:p>
          <a:p>
            <a:pPr lvl="2"/>
            <a:r>
              <a:rPr kumimoji="1" lang="en-US" altLang="ja-JP" sz="1600" dirty="0"/>
              <a:t>256KB+32KB </a:t>
            </a:r>
            <a:r>
              <a:rPr kumimoji="1" lang="ja-JP" altLang="en-US" sz="1600" dirty="0"/>
              <a:t>ではなく </a:t>
            </a:r>
            <a:r>
              <a:rPr kumimoji="1" lang="en-US" altLang="ja-JP" sz="1600" dirty="0"/>
              <a:t>256KB </a:t>
            </a:r>
            <a:r>
              <a:rPr kumimoji="1" lang="ja-JP" altLang="en-US" sz="1600" dirty="0"/>
              <a:t>で変化しはじめる</a:t>
            </a:r>
            <a:endParaRPr kumimoji="1" lang="en-US" altLang="ja-JP" sz="1600" dirty="0"/>
          </a:p>
        </p:txBody>
      </p:sp>
      <p:graphicFrame>
        <p:nvGraphicFramePr>
          <p:cNvPr id="5" name="グラフ 4"/>
          <p:cNvGraphicFramePr>
            <a:graphicFrameLocks/>
          </p:cNvGraphicFramePr>
          <p:nvPr>
            <p:extLst>
              <p:ext uri="{D42A27DB-BD31-4B8C-83A1-F6EECF244321}">
                <p14:modId xmlns:p14="http://schemas.microsoft.com/office/powerpoint/2010/main" val="3205013753"/>
              </p:ext>
            </p:extLst>
          </p:nvPr>
        </p:nvGraphicFramePr>
        <p:xfrm>
          <a:off x="341953" y="818972"/>
          <a:ext cx="8550095" cy="4680052"/>
        </p:xfrm>
        <a:graphic>
          <a:graphicData uri="http://schemas.openxmlformats.org/drawingml/2006/chart">
            <c:chart xmlns:c="http://schemas.openxmlformats.org/drawingml/2006/chart" xmlns:r="http://schemas.openxmlformats.org/officeDocument/2006/relationships" r:id="rId2"/>
          </a:graphicData>
        </a:graphic>
      </p:graphicFrame>
      <p:cxnSp>
        <p:nvCxnSpPr>
          <p:cNvPr id="6" name="直線矢印コネクタ 5"/>
          <p:cNvCxnSpPr/>
          <p:nvPr/>
        </p:nvCxnSpPr>
        <p:spPr bwMode="auto">
          <a:xfrm>
            <a:off x="1241963" y="4149008"/>
            <a:ext cx="1260014" cy="0"/>
          </a:xfrm>
          <a:prstGeom prst="straightConnector1">
            <a:avLst/>
          </a:prstGeom>
          <a:ln>
            <a:headEnd type="triangle"/>
            <a:tailEnd type="triangle"/>
          </a:ln>
        </p:spPr>
        <p:style>
          <a:lnRef idx="1">
            <a:schemeClr val="accent6"/>
          </a:lnRef>
          <a:fillRef idx="0">
            <a:schemeClr val="accent6"/>
          </a:fillRef>
          <a:effectRef idx="0">
            <a:schemeClr val="accent6"/>
          </a:effectRef>
          <a:fontRef idx="minor">
            <a:schemeClr val="tx1"/>
          </a:fontRef>
        </p:style>
      </p:cxnSp>
      <p:sp>
        <p:nvSpPr>
          <p:cNvPr id="7" name="正方形/長方形 6"/>
          <p:cNvSpPr/>
          <p:nvPr/>
        </p:nvSpPr>
        <p:spPr bwMode="auto">
          <a:xfrm>
            <a:off x="1511966" y="3789004"/>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accent6"/>
                </a:solidFill>
                <a:latin typeface="+mn-ea"/>
              </a:rPr>
              <a:t>L1(32KB)</a:t>
            </a:r>
            <a:endParaRPr kumimoji="1" lang="ja-JP" altLang="en-US" sz="1600" dirty="0">
              <a:solidFill>
                <a:schemeClr val="accent6"/>
              </a:solidFill>
              <a:latin typeface="+mn-ea"/>
            </a:endParaRPr>
          </a:p>
        </p:txBody>
      </p:sp>
      <p:cxnSp>
        <p:nvCxnSpPr>
          <p:cNvPr id="8" name="直線矢印コネクタ 7"/>
          <p:cNvCxnSpPr/>
          <p:nvPr/>
        </p:nvCxnSpPr>
        <p:spPr bwMode="auto">
          <a:xfrm>
            <a:off x="2501977" y="3699003"/>
            <a:ext cx="450005" cy="0"/>
          </a:xfrm>
          <a:prstGeom prst="straightConnector1">
            <a:avLst/>
          </a:prstGeom>
          <a:ln>
            <a:headEnd type="triangle"/>
            <a:tailEnd type="triangle"/>
          </a:ln>
        </p:spPr>
        <p:style>
          <a:lnRef idx="1">
            <a:schemeClr val="accent6"/>
          </a:lnRef>
          <a:fillRef idx="0">
            <a:schemeClr val="accent6"/>
          </a:fillRef>
          <a:effectRef idx="0">
            <a:schemeClr val="accent6"/>
          </a:effectRef>
          <a:fontRef idx="minor">
            <a:schemeClr val="tx1"/>
          </a:fontRef>
        </p:style>
      </p:cxnSp>
      <p:sp>
        <p:nvSpPr>
          <p:cNvPr id="10" name="正方形/長方形 9"/>
          <p:cNvSpPr/>
          <p:nvPr/>
        </p:nvSpPr>
        <p:spPr bwMode="auto">
          <a:xfrm>
            <a:off x="2321975" y="3338999"/>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accent6"/>
                </a:solidFill>
                <a:latin typeface="+mn-ea"/>
              </a:rPr>
              <a:t>&lt; 32KB×2</a:t>
            </a:r>
            <a:endParaRPr kumimoji="1" lang="ja-JP" altLang="en-US" sz="1600" dirty="0">
              <a:solidFill>
                <a:schemeClr val="accent6"/>
              </a:solidFill>
              <a:latin typeface="+mn-ea"/>
            </a:endParaRPr>
          </a:p>
        </p:txBody>
      </p:sp>
      <p:cxnSp>
        <p:nvCxnSpPr>
          <p:cNvPr id="11" name="直線矢印コネクタ 10"/>
          <p:cNvCxnSpPr/>
          <p:nvPr/>
        </p:nvCxnSpPr>
        <p:spPr bwMode="auto">
          <a:xfrm>
            <a:off x="2951982" y="4149008"/>
            <a:ext cx="810009" cy="0"/>
          </a:xfrm>
          <a:prstGeom prst="straightConnector1">
            <a:avLst/>
          </a:prstGeom>
          <a:ln>
            <a:headEnd type="triangle"/>
            <a:tailEnd type="triangle"/>
          </a:ln>
        </p:spPr>
        <p:style>
          <a:lnRef idx="1">
            <a:schemeClr val="accent6"/>
          </a:lnRef>
          <a:fillRef idx="0">
            <a:schemeClr val="accent6"/>
          </a:fillRef>
          <a:effectRef idx="0">
            <a:schemeClr val="accent6"/>
          </a:effectRef>
          <a:fontRef idx="minor">
            <a:schemeClr val="tx1"/>
          </a:fontRef>
        </p:style>
      </p:cxnSp>
      <p:sp>
        <p:nvSpPr>
          <p:cNvPr id="13" name="正方形/長方形 12"/>
          <p:cNvSpPr/>
          <p:nvPr/>
        </p:nvSpPr>
        <p:spPr bwMode="auto">
          <a:xfrm>
            <a:off x="3041983" y="4239009"/>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accent6"/>
                </a:solidFill>
                <a:latin typeface="+mn-ea"/>
              </a:rPr>
              <a:t>L</a:t>
            </a:r>
            <a:r>
              <a:rPr kumimoji="1" lang="ja-JP" altLang="en-US" sz="1600" dirty="0">
                <a:solidFill>
                  <a:schemeClr val="accent6"/>
                </a:solidFill>
                <a:latin typeface="+mn-ea"/>
              </a:rPr>
              <a:t>２</a:t>
            </a:r>
            <a:r>
              <a:rPr kumimoji="1" lang="en-US" altLang="ja-JP" sz="1600" dirty="0">
                <a:solidFill>
                  <a:schemeClr val="accent6"/>
                </a:solidFill>
                <a:latin typeface="+mn-ea"/>
              </a:rPr>
              <a:t>(256KB)</a:t>
            </a:r>
            <a:endParaRPr kumimoji="1" lang="ja-JP" altLang="en-US" sz="1600" dirty="0">
              <a:solidFill>
                <a:schemeClr val="accent6"/>
              </a:solidFill>
              <a:latin typeface="+mn-ea"/>
            </a:endParaRPr>
          </a:p>
        </p:txBody>
      </p:sp>
      <p:cxnSp>
        <p:nvCxnSpPr>
          <p:cNvPr id="14" name="直線矢印コネクタ 13"/>
          <p:cNvCxnSpPr/>
          <p:nvPr/>
        </p:nvCxnSpPr>
        <p:spPr bwMode="auto">
          <a:xfrm>
            <a:off x="3761991" y="2528990"/>
            <a:ext cx="450005" cy="0"/>
          </a:xfrm>
          <a:prstGeom prst="straightConnector1">
            <a:avLst/>
          </a:prstGeom>
          <a:ln>
            <a:headEnd type="triangle"/>
            <a:tailEnd type="triangle"/>
          </a:ln>
        </p:spPr>
        <p:style>
          <a:lnRef idx="1">
            <a:schemeClr val="accent6"/>
          </a:lnRef>
          <a:fillRef idx="0">
            <a:schemeClr val="accent6"/>
          </a:fillRef>
          <a:effectRef idx="0">
            <a:schemeClr val="accent6"/>
          </a:effectRef>
          <a:fontRef idx="minor">
            <a:schemeClr val="tx1"/>
          </a:fontRef>
        </p:style>
      </p:cxnSp>
      <p:sp>
        <p:nvSpPr>
          <p:cNvPr id="15" name="正方形/長方形 14"/>
          <p:cNvSpPr/>
          <p:nvPr/>
        </p:nvSpPr>
        <p:spPr bwMode="auto">
          <a:xfrm>
            <a:off x="3581989" y="2168986"/>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accent6"/>
                </a:solidFill>
                <a:latin typeface="+mn-ea"/>
              </a:rPr>
              <a:t> &lt; 256KB×2</a:t>
            </a:r>
            <a:endParaRPr kumimoji="1" lang="ja-JP" altLang="en-US" sz="1600" dirty="0">
              <a:solidFill>
                <a:schemeClr val="accent6"/>
              </a:solidFill>
              <a:latin typeface="+mn-ea"/>
            </a:endParaRPr>
          </a:p>
        </p:txBody>
      </p:sp>
      <p:cxnSp>
        <p:nvCxnSpPr>
          <p:cNvPr id="16" name="直線矢印コネクタ 15"/>
          <p:cNvCxnSpPr/>
          <p:nvPr/>
        </p:nvCxnSpPr>
        <p:spPr bwMode="auto">
          <a:xfrm>
            <a:off x="4211996" y="3068996"/>
            <a:ext cx="1620018" cy="0"/>
          </a:xfrm>
          <a:prstGeom prst="straightConnector1">
            <a:avLst/>
          </a:prstGeom>
          <a:ln>
            <a:headEnd type="triangle"/>
            <a:tailEnd type="triangle"/>
          </a:ln>
        </p:spPr>
        <p:style>
          <a:lnRef idx="1">
            <a:schemeClr val="accent6"/>
          </a:lnRef>
          <a:fillRef idx="0">
            <a:schemeClr val="accent6"/>
          </a:fillRef>
          <a:effectRef idx="0">
            <a:schemeClr val="accent6"/>
          </a:effectRef>
          <a:fontRef idx="minor">
            <a:schemeClr val="tx1"/>
          </a:fontRef>
        </p:style>
      </p:cxnSp>
      <p:sp>
        <p:nvSpPr>
          <p:cNvPr id="18" name="正方形/長方形 17"/>
          <p:cNvSpPr/>
          <p:nvPr/>
        </p:nvSpPr>
        <p:spPr bwMode="auto">
          <a:xfrm>
            <a:off x="4662001" y="3068996"/>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accent6"/>
                </a:solidFill>
                <a:latin typeface="+mn-ea"/>
              </a:rPr>
              <a:t>L3 (8MB?)</a:t>
            </a:r>
            <a:endParaRPr kumimoji="1" lang="ja-JP" altLang="en-US" sz="1600" dirty="0">
              <a:solidFill>
                <a:schemeClr val="accent6"/>
              </a:solidFill>
              <a:latin typeface="+mn-ea"/>
            </a:endParaRPr>
          </a:p>
        </p:txBody>
      </p:sp>
    </p:spTree>
    <p:extLst>
      <p:ext uri="{BB962C8B-B14F-4D97-AF65-F5344CB8AC3E}">
        <p14:creationId xmlns:p14="http://schemas.microsoft.com/office/powerpoint/2010/main" val="5588723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プログラム</a:t>
            </a:r>
            <a:r>
              <a:rPr kumimoji="1" lang="ja-JP" altLang="en-US" dirty="0"/>
              <a:t>最適化の上で，重要なポイント</a:t>
            </a:r>
          </a:p>
        </p:txBody>
      </p:sp>
      <p:sp>
        <p:nvSpPr>
          <p:cNvPr id="3" name="テキスト プレースホルダー 2"/>
          <p:cNvSpPr>
            <a:spLocks noGrp="1"/>
          </p:cNvSpPr>
          <p:nvPr>
            <p:ph type="body" sz="quarter" idx="10"/>
          </p:nvPr>
        </p:nvSpPr>
        <p:spPr>
          <a:xfrm>
            <a:off x="251952" y="5229020"/>
            <a:ext cx="8550095" cy="989704"/>
          </a:xfrm>
        </p:spPr>
        <p:txBody>
          <a:bodyPr/>
          <a:lstStyle/>
          <a:p>
            <a:r>
              <a:rPr kumimoji="1" lang="ja-JP" altLang="en-US" dirty="0">
                <a:solidFill>
                  <a:schemeClr val="accent5"/>
                </a:solidFill>
              </a:rPr>
              <a:t>上記の状態を保つこと</a:t>
            </a:r>
            <a:endParaRPr kumimoji="1" lang="en-US" altLang="ja-JP" dirty="0">
              <a:solidFill>
                <a:schemeClr val="accent5"/>
              </a:solidFill>
            </a:endParaRPr>
          </a:p>
          <a:p>
            <a:pPr lvl="1"/>
            <a:r>
              <a:rPr lang="ja-JP" altLang="en-US" dirty="0"/>
              <a:t>ワーキング・セット：</a:t>
            </a:r>
            <a:endParaRPr lang="en-US" altLang="ja-JP" dirty="0"/>
          </a:p>
          <a:p>
            <a:pPr lvl="2"/>
            <a:r>
              <a:rPr kumimoji="1" lang="en-US" altLang="ja-JP" dirty="0"/>
              <a:t> </a:t>
            </a:r>
            <a:r>
              <a:rPr kumimoji="1" lang="ja-JP" altLang="en-US" dirty="0"/>
              <a:t>処理のまとまりごとに，アクセスするデータの範囲（使用量）</a:t>
            </a:r>
            <a:endParaRPr kumimoji="1" lang="en-US" altLang="ja-JP" dirty="0"/>
          </a:p>
          <a:p>
            <a:pPr lvl="1"/>
            <a:r>
              <a:rPr lang="ja-JP" altLang="en-US" dirty="0"/>
              <a:t>ワーキング・セットがキャッシュ容量に収まることが重要</a:t>
            </a:r>
            <a:endParaRPr kumimoji="1" lang="en-US" altLang="ja-JP" dirty="0"/>
          </a:p>
        </p:txBody>
      </p:sp>
      <p:sp>
        <p:nvSpPr>
          <p:cNvPr id="4" name="正方形/長方形 3"/>
          <p:cNvSpPr/>
          <p:nvPr/>
        </p:nvSpPr>
        <p:spPr bwMode="auto">
          <a:xfrm>
            <a:off x="1691968" y="1448978"/>
            <a:ext cx="2880032" cy="360004"/>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5" name="直線矢印コネクタ 4"/>
          <p:cNvCxnSpPr/>
          <p:nvPr/>
        </p:nvCxnSpPr>
        <p:spPr bwMode="auto">
          <a:xfrm>
            <a:off x="1691968" y="1268976"/>
            <a:ext cx="5040056" cy="0"/>
          </a:xfrm>
          <a:prstGeom prst="straightConnector1">
            <a:avLst/>
          </a:prstGeom>
          <a:noFill/>
          <a:ln w="9525" cap="flat" cmpd="sng" algn="ctr">
            <a:solidFill>
              <a:schemeClr val="tx1"/>
            </a:solidFill>
            <a:prstDash val="solid"/>
            <a:round/>
            <a:headEnd type="none" w="med" len="med"/>
            <a:tailEnd type="triangle"/>
          </a:ln>
          <a:effectLst/>
        </p:spPr>
      </p:cxnSp>
      <p:sp>
        <p:nvSpPr>
          <p:cNvPr id="6" name="正方形/長方形 5"/>
          <p:cNvSpPr/>
          <p:nvPr/>
        </p:nvSpPr>
        <p:spPr bwMode="auto">
          <a:xfrm>
            <a:off x="5922015" y="908972"/>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データ量</a:t>
            </a:r>
          </a:p>
        </p:txBody>
      </p:sp>
      <p:cxnSp>
        <p:nvCxnSpPr>
          <p:cNvPr id="7" name="直線矢印コネクタ 6"/>
          <p:cNvCxnSpPr/>
          <p:nvPr/>
        </p:nvCxnSpPr>
        <p:spPr bwMode="auto">
          <a:xfrm>
            <a:off x="1691968" y="1988984"/>
            <a:ext cx="2880032" cy="0"/>
          </a:xfrm>
          <a:prstGeom prst="straightConnector1">
            <a:avLst/>
          </a:prstGeom>
          <a:noFill/>
          <a:ln w="9525" cap="flat" cmpd="sng" algn="ctr">
            <a:solidFill>
              <a:schemeClr val="tx1"/>
            </a:solidFill>
            <a:prstDash val="solid"/>
            <a:round/>
            <a:headEnd type="triangle" w="med" len="med"/>
            <a:tailEnd type="triangle"/>
          </a:ln>
          <a:effectLst/>
        </p:spPr>
      </p:cxnSp>
      <p:sp>
        <p:nvSpPr>
          <p:cNvPr id="8" name="正方形/長方形 7"/>
          <p:cNvSpPr/>
          <p:nvPr/>
        </p:nvSpPr>
        <p:spPr bwMode="auto">
          <a:xfrm>
            <a:off x="2771980" y="2078985"/>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CAP</a:t>
            </a:r>
            <a:r>
              <a:rPr kumimoji="1" lang="ja-JP" altLang="en-US" sz="1600" dirty="0">
                <a:solidFill>
                  <a:schemeClr val="tx1">
                    <a:lumMod val="75000"/>
                    <a:lumOff val="25000"/>
                  </a:schemeClr>
                </a:solidFill>
                <a:latin typeface="+mn-ea"/>
              </a:rPr>
              <a:t>（キャッシュ容量）</a:t>
            </a:r>
          </a:p>
        </p:txBody>
      </p:sp>
      <p:sp>
        <p:nvSpPr>
          <p:cNvPr id="9" name="正方形/長方形 8"/>
          <p:cNvSpPr/>
          <p:nvPr/>
        </p:nvSpPr>
        <p:spPr bwMode="auto">
          <a:xfrm>
            <a:off x="1691968" y="2618991"/>
            <a:ext cx="2250025"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10" name="直線矢印コネクタ 9"/>
          <p:cNvCxnSpPr/>
          <p:nvPr/>
        </p:nvCxnSpPr>
        <p:spPr bwMode="auto">
          <a:xfrm>
            <a:off x="1691968" y="3158997"/>
            <a:ext cx="2250025" cy="0"/>
          </a:xfrm>
          <a:prstGeom prst="straightConnector1">
            <a:avLst/>
          </a:prstGeom>
          <a:noFill/>
          <a:ln w="9525" cap="flat" cmpd="sng" algn="ctr">
            <a:solidFill>
              <a:schemeClr val="tx1"/>
            </a:solidFill>
            <a:prstDash val="solid"/>
            <a:round/>
            <a:headEnd type="triangle" w="med" len="med"/>
            <a:tailEnd type="triangle"/>
          </a:ln>
          <a:effectLst/>
        </p:spPr>
      </p:cxnSp>
      <p:sp>
        <p:nvSpPr>
          <p:cNvPr id="11" name="正方形/長方形 10"/>
          <p:cNvSpPr/>
          <p:nvPr/>
        </p:nvSpPr>
        <p:spPr bwMode="auto">
          <a:xfrm>
            <a:off x="2591978" y="3248998"/>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SIZE</a:t>
            </a:r>
            <a:r>
              <a:rPr kumimoji="1" lang="ja-JP" altLang="en-US" sz="1600" dirty="0">
                <a:solidFill>
                  <a:schemeClr val="tx1">
                    <a:lumMod val="75000"/>
                    <a:lumOff val="25000"/>
                  </a:schemeClr>
                </a:solidFill>
                <a:latin typeface="+mn-ea"/>
              </a:rPr>
              <a:t>（アクセス範囲）</a:t>
            </a:r>
          </a:p>
        </p:txBody>
      </p:sp>
      <p:sp>
        <p:nvSpPr>
          <p:cNvPr id="12" name="正方形/長方形 11"/>
          <p:cNvSpPr/>
          <p:nvPr/>
        </p:nvSpPr>
        <p:spPr bwMode="auto">
          <a:xfrm>
            <a:off x="1691968" y="3879005"/>
            <a:ext cx="2880032" cy="360004"/>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 name="正方形/長方形 12"/>
          <p:cNvSpPr/>
          <p:nvPr/>
        </p:nvSpPr>
        <p:spPr bwMode="auto">
          <a:xfrm>
            <a:off x="1691968" y="3879005"/>
            <a:ext cx="2250025"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 name="正方形/長方形 13"/>
          <p:cNvSpPr/>
          <p:nvPr/>
        </p:nvSpPr>
        <p:spPr bwMode="auto">
          <a:xfrm>
            <a:off x="2771980" y="4329010"/>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ループ後のキャッシュ上のデータ</a:t>
            </a:r>
          </a:p>
        </p:txBody>
      </p:sp>
    </p:spTree>
    <p:extLst>
      <p:ext uri="{BB962C8B-B14F-4D97-AF65-F5344CB8AC3E}">
        <p14:creationId xmlns:p14="http://schemas.microsoft.com/office/powerpoint/2010/main" val="11698259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r>
              <a:rPr lang="ja-JP" altLang="en-US" dirty="0"/>
              <a:t>メモリ</a:t>
            </a:r>
            <a:endParaRPr lang="en-US" altLang="ja-JP" dirty="0"/>
          </a:p>
          <a:p>
            <a:pPr lvl="1"/>
            <a:r>
              <a:rPr lang="ja-JP" altLang="en-US" dirty="0"/>
              <a:t>構造，動作，容量と速度</a:t>
            </a:r>
            <a:endParaRPr lang="en-US" altLang="ja-JP" dirty="0"/>
          </a:p>
          <a:p>
            <a:pPr lvl="1"/>
            <a:r>
              <a:rPr lang="en-US" altLang="ja-JP" dirty="0"/>
              <a:t>SRAM </a:t>
            </a:r>
            <a:r>
              <a:rPr lang="ja-JP" altLang="en-US" dirty="0"/>
              <a:t>と </a:t>
            </a:r>
            <a:r>
              <a:rPr lang="en-US" altLang="ja-JP" dirty="0"/>
              <a:t>DRAM</a:t>
            </a:r>
          </a:p>
          <a:p>
            <a:pPr lvl="1"/>
            <a:r>
              <a:rPr lang="ja-JP" altLang="en-US" dirty="0"/>
              <a:t>メモリの存在理由</a:t>
            </a:r>
            <a:endParaRPr lang="en-US" altLang="ja-JP" dirty="0"/>
          </a:p>
          <a:p>
            <a:r>
              <a:rPr lang="ja-JP" altLang="en-US" dirty="0"/>
              <a:t>キャッシュ</a:t>
            </a:r>
            <a:endParaRPr lang="en-US" altLang="ja-JP" dirty="0"/>
          </a:p>
          <a:p>
            <a:pPr lvl="1"/>
            <a:r>
              <a:rPr lang="ja-JP" altLang="en-US" dirty="0"/>
              <a:t>基本的な原理と構造</a:t>
            </a:r>
            <a:endParaRPr lang="en-US" altLang="ja-JP" dirty="0"/>
          </a:p>
          <a:p>
            <a:pPr lvl="1"/>
            <a:r>
              <a:rPr lang="ja-JP" altLang="en-US" dirty="0"/>
              <a:t>容量の性能への影響</a:t>
            </a:r>
            <a:endParaRPr kumimoji="1" lang="en-US" altLang="ja-JP" dirty="0">
              <a:solidFill>
                <a:schemeClr val="accent5"/>
              </a:solidFill>
            </a:endParaRPr>
          </a:p>
        </p:txBody>
      </p:sp>
    </p:spTree>
    <p:extLst>
      <p:ext uri="{BB962C8B-B14F-4D97-AF65-F5344CB8AC3E}">
        <p14:creationId xmlns:p14="http://schemas.microsoft.com/office/powerpoint/2010/main" val="4664882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９</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ja-JP" altLang="en-US" sz="1600" dirty="0"/>
              <a:t>以下のような条件を考える</a:t>
            </a:r>
            <a:endParaRPr lang="en-US" altLang="ja-JP" sz="1600" dirty="0"/>
          </a:p>
          <a:p>
            <a:pPr lvl="1"/>
            <a:r>
              <a:rPr lang="en-US" altLang="ja-JP" sz="1600" dirty="0"/>
              <a:t>10</a:t>
            </a:r>
            <a:r>
              <a:rPr lang="ja-JP" altLang="en-US" sz="1600" dirty="0"/>
              <a:t>段のパイプラインを持つ </a:t>
            </a:r>
            <a:r>
              <a:rPr lang="en-US" altLang="ja-JP" sz="1600" dirty="0"/>
              <a:t>2-way </a:t>
            </a:r>
            <a:r>
              <a:rPr lang="ja-JP" altLang="en-US" sz="1600" dirty="0"/>
              <a:t>スーパスカラプロセッサであり，理想的には </a:t>
            </a:r>
            <a:r>
              <a:rPr lang="en-US" altLang="ja-JP" sz="1600" dirty="0"/>
              <a:t>IPC=2 </a:t>
            </a:r>
            <a:r>
              <a:rPr lang="ja-JP" altLang="en-US" sz="1600" dirty="0"/>
              <a:t>で実行できる</a:t>
            </a:r>
            <a:endParaRPr lang="en-US" altLang="ja-JP" sz="1600" dirty="0"/>
          </a:p>
          <a:p>
            <a:pPr lvl="1"/>
            <a:r>
              <a:rPr lang="ja-JP" altLang="en-US" sz="1600" dirty="0"/>
              <a:t>ロード命令の出現率は </a:t>
            </a:r>
            <a:r>
              <a:rPr lang="en-US" altLang="ja-JP" sz="1600" dirty="0"/>
              <a:t>0.15</a:t>
            </a:r>
          </a:p>
          <a:p>
            <a:pPr lvl="1"/>
            <a:r>
              <a:rPr lang="en-US" altLang="ja-JP" sz="1600" dirty="0"/>
              <a:t>CPU </a:t>
            </a:r>
            <a:r>
              <a:rPr lang="ja-JP" altLang="en-US" sz="1600" dirty="0"/>
              <a:t>は </a:t>
            </a:r>
            <a:r>
              <a:rPr lang="en-US" altLang="ja-JP" sz="1600" dirty="0"/>
              <a:t>L1 </a:t>
            </a:r>
            <a:r>
              <a:rPr lang="ja-JP" altLang="en-US" sz="1600" dirty="0"/>
              <a:t>キャッシュをもつ</a:t>
            </a:r>
            <a:endParaRPr lang="en-US" altLang="ja-JP" sz="1600" dirty="0"/>
          </a:p>
          <a:p>
            <a:pPr lvl="1"/>
            <a:r>
              <a:rPr lang="ja-JP" altLang="en-US" sz="1600" dirty="0"/>
              <a:t>ロード命令のみが </a:t>
            </a:r>
            <a:r>
              <a:rPr lang="en-US" altLang="ja-JP" sz="1600" dirty="0"/>
              <a:t>L1 </a:t>
            </a:r>
            <a:r>
              <a:rPr lang="ja-JP" altLang="en-US" sz="1600" dirty="0"/>
              <a:t>キャッシュやメモリにアクセスするものとする</a:t>
            </a:r>
            <a:endParaRPr lang="en-US" altLang="ja-JP" sz="1600" dirty="0"/>
          </a:p>
          <a:p>
            <a:pPr lvl="1"/>
            <a:r>
              <a:rPr lang="en-US" altLang="ja-JP" sz="1600" dirty="0"/>
              <a:t>L1 </a:t>
            </a:r>
            <a:r>
              <a:rPr lang="ja-JP" altLang="en-US" sz="1600" dirty="0"/>
              <a:t>キャッシュのヒット時には一切のペナルティなしで実行できる</a:t>
            </a:r>
            <a:endParaRPr lang="en-US" altLang="ja-JP" sz="1600" dirty="0"/>
          </a:p>
          <a:p>
            <a:r>
              <a:rPr lang="en-US" altLang="ja-JP" sz="1600" dirty="0"/>
              <a:t>(1) </a:t>
            </a:r>
            <a:r>
              <a:rPr lang="ja-JP" altLang="en-US" sz="1600" dirty="0"/>
              <a:t>以下の場合の </a:t>
            </a:r>
            <a:r>
              <a:rPr lang="en-US" altLang="ja-JP" sz="1600" dirty="0"/>
              <a:t>IPC </a:t>
            </a:r>
            <a:r>
              <a:rPr lang="ja-JP" altLang="en-US" sz="1600" dirty="0"/>
              <a:t>を求めよ</a:t>
            </a:r>
            <a:endParaRPr lang="en-US" altLang="ja-JP" sz="1600" dirty="0"/>
          </a:p>
          <a:p>
            <a:pPr lvl="1"/>
            <a:r>
              <a:rPr lang="ja-JP" altLang="en-US" sz="1600" dirty="0"/>
              <a:t>ロード命令による </a:t>
            </a:r>
            <a:r>
              <a:rPr lang="en-US" altLang="ja-JP" sz="1600" dirty="0"/>
              <a:t>L1 </a:t>
            </a:r>
            <a:r>
              <a:rPr lang="ja-JP" altLang="en-US" sz="1600" dirty="0"/>
              <a:t>キャッシュのアクセス１回あたりのミス率が </a:t>
            </a:r>
            <a:r>
              <a:rPr lang="en-US" altLang="ja-JP" sz="1600" dirty="0"/>
              <a:t>0.02 </a:t>
            </a:r>
          </a:p>
          <a:p>
            <a:pPr lvl="1"/>
            <a:r>
              <a:rPr lang="ja-JP" altLang="en-US" sz="1600" dirty="0"/>
              <a:t>ミスの発生時は </a:t>
            </a:r>
            <a:r>
              <a:rPr lang="en-US" altLang="ja-JP" sz="1600" dirty="0"/>
              <a:t>100 </a:t>
            </a:r>
            <a:r>
              <a:rPr lang="ja-JP" altLang="en-US" sz="1600" dirty="0"/>
              <a:t>サイクル追加で時間がかかる</a:t>
            </a:r>
            <a:endParaRPr lang="en-US" altLang="ja-JP" sz="16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74</a:t>
            </a:fld>
            <a:endParaRPr kumimoji="1" lang="ja-JP" altLang="en-US" dirty="0"/>
          </a:p>
        </p:txBody>
      </p:sp>
    </p:spTree>
    <p:extLst>
      <p:ext uri="{BB962C8B-B14F-4D97-AF65-F5344CB8AC3E}">
        <p14:creationId xmlns:p14="http://schemas.microsoft.com/office/powerpoint/2010/main" val="244451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９</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en-US" altLang="ja-JP" sz="1600" dirty="0"/>
              <a:t>(2) </a:t>
            </a:r>
            <a:r>
              <a:rPr lang="ja-JP" altLang="en-US" sz="1600" dirty="0"/>
              <a:t>以下の場合の </a:t>
            </a:r>
            <a:r>
              <a:rPr lang="en-US" altLang="ja-JP" sz="1600" dirty="0"/>
              <a:t>IPC </a:t>
            </a:r>
            <a:r>
              <a:rPr lang="ja-JP" altLang="en-US" sz="1600" dirty="0"/>
              <a:t>を求めよ</a:t>
            </a:r>
            <a:endParaRPr lang="en-US" altLang="ja-JP" sz="1600" dirty="0"/>
          </a:p>
          <a:p>
            <a:pPr lvl="1">
              <a:buFont typeface="+mj-lt"/>
              <a:buAutoNum type="arabicPeriod"/>
            </a:pPr>
            <a:r>
              <a:rPr lang="en-US" altLang="ja-JP" sz="1600" dirty="0"/>
              <a:t>L1 </a:t>
            </a:r>
            <a:r>
              <a:rPr lang="ja-JP" altLang="en-US" sz="1600" dirty="0"/>
              <a:t>キャッシュの容量を倍にしたもの</a:t>
            </a:r>
            <a:endParaRPr lang="en-US" altLang="ja-JP" sz="1600" dirty="0"/>
          </a:p>
          <a:p>
            <a:pPr lvl="2"/>
            <a:r>
              <a:rPr lang="en-US" altLang="ja-JP" sz="1600" dirty="0"/>
              <a:t>L1 </a:t>
            </a:r>
            <a:r>
              <a:rPr lang="ja-JP" altLang="en-US" sz="1600" dirty="0"/>
              <a:t>キャッシュに良く当たるようになったため，ミス率が </a:t>
            </a:r>
            <a:r>
              <a:rPr lang="en-US" altLang="ja-JP" sz="1600" dirty="0"/>
              <a:t>0.01 </a:t>
            </a:r>
            <a:r>
              <a:rPr lang="ja-JP" altLang="en-US" sz="1600" dirty="0"/>
              <a:t>に</a:t>
            </a:r>
            <a:endParaRPr lang="en-US" altLang="ja-JP" sz="1600" dirty="0"/>
          </a:p>
          <a:p>
            <a:pPr lvl="1">
              <a:buFont typeface="+mj-lt"/>
              <a:buAutoNum type="arabicPeriod"/>
            </a:pPr>
            <a:r>
              <a:rPr lang="en-US" altLang="ja-JP" sz="1600" dirty="0"/>
              <a:t>L2 </a:t>
            </a:r>
            <a:r>
              <a:rPr lang="ja-JP" altLang="en-US" sz="1600" dirty="0"/>
              <a:t>キャッシュを追加したもの</a:t>
            </a:r>
            <a:endParaRPr lang="en-US" altLang="ja-JP" sz="1600" dirty="0"/>
          </a:p>
          <a:p>
            <a:pPr lvl="2"/>
            <a:r>
              <a:rPr lang="en-US" altLang="ja-JP" sz="1600" dirty="0"/>
              <a:t>L2 </a:t>
            </a:r>
            <a:r>
              <a:rPr lang="ja-JP" altLang="en-US" sz="1600" dirty="0"/>
              <a:t>へのアクセス１回あたりのミス率は </a:t>
            </a:r>
            <a:r>
              <a:rPr lang="en-US" altLang="ja-JP" sz="1600" dirty="0"/>
              <a:t>0.1</a:t>
            </a:r>
          </a:p>
          <a:p>
            <a:pPr lvl="3"/>
            <a:r>
              <a:rPr lang="en-US" altLang="ja-JP" sz="1600" dirty="0"/>
              <a:t>L2 </a:t>
            </a:r>
            <a:r>
              <a:rPr lang="ja-JP" altLang="en-US" sz="1600" dirty="0"/>
              <a:t>は </a:t>
            </a:r>
            <a:r>
              <a:rPr lang="en-US" altLang="ja-JP" sz="1600" dirty="0"/>
              <a:t>L1 </a:t>
            </a:r>
            <a:r>
              <a:rPr lang="ja-JP" altLang="en-US" sz="1600" dirty="0"/>
              <a:t>にミスしたときのみアクセスするものとする</a:t>
            </a:r>
            <a:endParaRPr lang="en-US" altLang="ja-JP" sz="1600" dirty="0"/>
          </a:p>
          <a:p>
            <a:pPr lvl="2"/>
            <a:r>
              <a:rPr lang="en-US" altLang="ja-JP" sz="1600" dirty="0"/>
              <a:t>L2 </a:t>
            </a:r>
            <a:r>
              <a:rPr lang="ja-JP" altLang="en-US" sz="1600" dirty="0"/>
              <a:t>ヒット時は </a:t>
            </a:r>
            <a:r>
              <a:rPr lang="en-US" altLang="ja-JP" sz="1600" dirty="0"/>
              <a:t>L1 </a:t>
            </a:r>
            <a:r>
              <a:rPr lang="ja-JP" altLang="en-US" sz="1600" dirty="0"/>
              <a:t>ヒット時からの実行時間の追加が </a:t>
            </a:r>
            <a:r>
              <a:rPr lang="en-US" altLang="ja-JP" sz="1600" dirty="0"/>
              <a:t>15 </a:t>
            </a:r>
            <a:r>
              <a:rPr lang="ja-JP" altLang="en-US" sz="1600" dirty="0"/>
              <a:t>サイクル</a:t>
            </a:r>
            <a:endParaRPr lang="en-US" altLang="ja-JP" sz="1600" dirty="0"/>
          </a:p>
          <a:p>
            <a:pPr lvl="2"/>
            <a:r>
              <a:rPr lang="en-US" altLang="ja-JP" sz="1600" dirty="0"/>
              <a:t>L2 </a:t>
            </a:r>
            <a:r>
              <a:rPr lang="ja-JP" altLang="en-US" sz="1600" dirty="0"/>
              <a:t>ミス時は </a:t>
            </a:r>
            <a:r>
              <a:rPr lang="en-US" altLang="ja-JP" sz="1600" dirty="0"/>
              <a:t>L1 </a:t>
            </a:r>
            <a:r>
              <a:rPr lang="ja-JP" altLang="en-US" sz="1600" dirty="0"/>
              <a:t>ヒット時からの実行時間の追加が </a:t>
            </a:r>
            <a:r>
              <a:rPr lang="en-US" altLang="ja-JP" sz="1600" dirty="0"/>
              <a:t>150 </a:t>
            </a:r>
            <a:r>
              <a:rPr lang="ja-JP" altLang="en-US" sz="1600" dirty="0"/>
              <a:t>サイクル</a:t>
            </a:r>
            <a:endParaRPr lang="en-US" altLang="ja-JP" sz="1600" dirty="0"/>
          </a:p>
          <a:p>
            <a:r>
              <a:rPr lang="en-US" altLang="ja-JP" sz="1600" dirty="0"/>
              <a:t> (3) </a:t>
            </a:r>
            <a:r>
              <a:rPr lang="ja-JP" altLang="en-US" sz="1600" dirty="0"/>
              <a:t>これまでに出てきた３つのモデルの性能を求め比較せよ</a:t>
            </a:r>
            <a:endParaRPr lang="en-US" altLang="ja-JP" sz="1600" dirty="0"/>
          </a:p>
          <a:p>
            <a:pPr lvl="1"/>
            <a:r>
              <a:rPr lang="ja-JP" altLang="en-US" sz="1600" dirty="0"/>
              <a:t>ただし </a:t>
            </a:r>
            <a:r>
              <a:rPr lang="en-US" altLang="ja-JP" sz="1600" dirty="0"/>
              <a:t>L1 </a:t>
            </a:r>
            <a:r>
              <a:rPr lang="ja-JP" altLang="en-US" sz="1600" dirty="0"/>
              <a:t>キャッシュ容量を倍にした場合，</a:t>
            </a:r>
            <a:br>
              <a:rPr lang="en-US" altLang="ja-JP" sz="1600" dirty="0"/>
            </a:br>
            <a:r>
              <a:rPr lang="ja-JP" altLang="en-US" sz="1600" dirty="0"/>
              <a:t>キャッシュのアクセス時間が伸びてしまうため，</a:t>
            </a:r>
            <a:br>
              <a:rPr lang="en-US" altLang="ja-JP" sz="1600" dirty="0"/>
            </a:br>
            <a:r>
              <a:rPr lang="ja-JP" altLang="en-US" sz="1600" dirty="0"/>
              <a:t>周波数が </a:t>
            </a:r>
            <a:r>
              <a:rPr lang="en-US" altLang="ja-JP" sz="1600" dirty="0"/>
              <a:t>0.8 </a:t>
            </a:r>
            <a:r>
              <a:rPr lang="ja-JP" altLang="en-US" sz="1600" dirty="0"/>
              <a:t>倍になるものとする</a:t>
            </a:r>
            <a:endParaRPr lang="en-US" altLang="ja-JP" sz="16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75</a:t>
            </a:fld>
            <a:endParaRPr kumimoji="1" lang="ja-JP" altLang="en-US" dirty="0"/>
          </a:p>
        </p:txBody>
      </p:sp>
    </p:spTree>
    <p:extLst>
      <p:ext uri="{BB962C8B-B14F-4D97-AF65-F5344CB8AC3E}">
        <p14:creationId xmlns:p14="http://schemas.microsoft.com/office/powerpoint/2010/main" val="19190536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a:xfrm>
            <a:off x="611956" y="1268976"/>
            <a:ext cx="7920088" cy="5220058"/>
          </a:xfrm>
        </p:spPr>
        <p:txBody>
          <a:bodyPr/>
          <a:lstStyle/>
          <a:p>
            <a:r>
              <a:rPr kumimoji="1" lang="ja-JP" altLang="en-US" sz="1600" dirty="0"/>
              <a:t>以下を提出：</a:t>
            </a:r>
            <a:endParaRPr kumimoji="1" lang="en-US" altLang="ja-JP" sz="1600" dirty="0"/>
          </a:p>
          <a:p>
            <a:pPr lvl="1">
              <a:buFont typeface="+mj-lt"/>
              <a:buAutoNum type="arabicPeriod"/>
            </a:pPr>
            <a:r>
              <a:rPr kumimoji="1" lang="ja-JP" altLang="en-US" sz="1600" dirty="0"/>
              <a:t>課題９：　</a:t>
            </a:r>
            <a:endParaRPr kumimoji="1" lang="en-US" altLang="ja-JP" sz="1600" dirty="0"/>
          </a:p>
          <a:p>
            <a:pPr lvl="2"/>
            <a:r>
              <a:rPr kumimoji="1" lang="ja-JP" altLang="en-US" sz="1600" dirty="0"/>
              <a:t>提出は </a:t>
            </a:r>
            <a:r>
              <a:rPr kumimoji="1" lang="en-US" altLang="ja-JP" sz="1600" dirty="0"/>
              <a:t>Moodle </a:t>
            </a:r>
            <a:r>
              <a:rPr kumimoji="1" lang="ja-JP" altLang="en-US" sz="1600" dirty="0"/>
              <a:t>の「課題９」のところからお願いします</a:t>
            </a:r>
            <a:endParaRPr kumimoji="1" lang="en-US" altLang="ja-JP" sz="1600" dirty="0"/>
          </a:p>
          <a:p>
            <a:pPr lvl="2"/>
            <a:r>
              <a:rPr kumimoji="1" lang="ja-JP" altLang="en-US" sz="1600" dirty="0"/>
              <a:t>紙に書いた場合は写真を撮ってアップロードしてください</a:t>
            </a:r>
            <a:endParaRPr kumimoji="1" lang="en-US" altLang="ja-JP" sz="1600" dirty="0"/>
          </a:p>
          <a:p>
            <a:pPr lvl="1">
              <a:buFont typeface="+mj-lt"/>
              <a:buAutoNum type="arabicPeriod"/>
            </a:pPr>
            <a:r>
              <a:rPr kumimoji="1" lang="ja-JP" altLang="en-US" sz="1600" dirty="0"/>
              <a:t>感想や質問：　</a:t>
            </a:r>
            <a:endParaRPr kumimoji="1" lang="en-US" altLang="ja-JP" sz="1600" dirty="0"/>
          </a:p>
          <a:p>
            <a:pPr lvl="2"/>
            <a:r>
              <a:rPr kumimoji="1" lang="ja-JP" altLang="en-US" sz="1600" dirty="0"/>
              <a:t>「感想や質問」のところに投稿してください</a:t>
            </a:r>
            <a:endParaRPr kumimoji="1" lang="en-US" altLang="ja-JP" sz="1600" dirty="0"/>
          </a:p>
          <a:p>
            <a:pPr lvl="2"/>
            <a:r>
              <a:rPr kumimoji="1" lang="ja-JP" altLang="en-US" sz="1600" dirty="0"/>
              <a:t>わからない場所がある場合，具体的に書いてもらえると良いです</a:t>
            </a:r>
            <a:endParaRPr kumimoji="1" lang="en-US" altLang="ja-JP" sz="1600" dirty="0"/>
          </a:p>
          <a:p>
            <a:r>
              <a:rPr kumimoji="1" lang="ja-JP" altLang="en-US" sz="1600" dirty="0"/>
              <a:t>提出締め切り</a:t>
            </a:r>
            <a:endParaRPr kumimoji="1" lang="en-US" altLang="ja-JP" sz="1600" dirty="0"/>
          </a:p>
          <a:p>
            <a:pPr lvl="1"/>
            <a:r>
              <a:rPr lang="ja-JP" altLang="en-US" sz="1600" dirty="0"/>
              <a:t>次の講義の開始まで</a:t>
            </a:r>
            <a:endParaRPr kumimoji="1" lang="en-US" altLang="ja-JP" sz="1600" dirty="0"/>
          </a:p>
          <a:p>
            <a:r>
              <a:rPr kumimoji="1" lang="ja-JP" altLang="en-US" sz="1600" dirty="0"/>
              <a:t>注意：</a:t>
            </a:r>
            <a:endParaRPr kumimoji="1" lang="en-US" altLang="ja-JP" sz="1600" dirty="0"/>
          </a:p>
          <a:p>
            <a:pPr lvl="1"/>
            <a:r>
              <a:rPr kumimoji="1" lang="ja-JP" altLang="en-US" sz="1600" dirty="0"/>
              <a:t>課題の出来は，ある程度努力したあとがあれば良しです</a:t>
            </a:r>
            <a:endParaRPr kumimoji="1" lang="en-US" altLang="ja-JP" sz="1600" dirty="0"/>
          </a:p>
          <a:p>
            <a:pPr lvl="1"/>
            <a:r>
              <a:rPr kumimoji="1" lang="ja-JP" altLang="en-US" sz="1600" dirty="0"/>
              <a:t>必ずしも正解していなくても良いです</a:t>
            </a:r>
            <a:endParaRPr kumimoji="1" lang="en-US" altLang="ja-JP" sz="16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F5D9BB-F552-E6CC-3F80-89ACDD28A5F9}"/>
              </a:ext>
            </a:extLst>
          </p:cNvPr>
          <p:cNvSpPr>
            <a:spLocks noGrp="1"/>
          </p:cNvSpPr>
          <p:nvPr>
            <p:ph type="title"/>
          </p:nvPr>
        </p:nvSpPr>
        <p:spPr/>
        <p:txBody>
          <a:bodyPr/>
          <a:lstStyle/>
          <a:p>
            <a:r>
              <a:rPr kumimoji="1" lang="ja-JP" altLang="en-US" dirty="0"/>
              <a:t>期末試験について</a:t>
            </a:r>
            <a:endParaRPr kumimoji="1" lang="en-US" dirty="0"/>
          </a:p>
        </p:txBody>
      </p:sp>
      <p:sp>
        <p:nvSpPr>
          <p:cNvPr id="3" name="コンテンツ プレースホルダー 2">
            <a:extLst>
              <a:ext uri="{FF2B5EF4-FFF2-40B4-BE49-F238E27FC236}">
                <a16:creationId xmlns:a16="http://schemas.microsoft.com/office/drawing/2014/main" id="{706D32AD-9B0A-0A63-C827-702CA262A2BA}"/>
              </a:ext>
            </a:extLst>
          </p:cNvPr>
          <p:cNvSpPr>
            <a:spLocks noGrp="1"/>
          </p:cNvSpPr>
          <p:nvPr>
            <p:ph sz="quarter" idx="10"/>
          </p:nvPr>
        </p:nvSpPr>
        <p:spPr/>
        <p:txBody>
          <a:bodyPr/>
          <a:lstStyle/>
          <a:p>
            <a:r>
              <a:rPr kumimoji="1" lang="en-US" altLang="ja-JP" dirty="0"/>
              <a:t>8/5</a:t>
            </a:r>
            <a:r>
              <a:rPr kumimoji="1" lang="en-US" dirty="0"/>
              <a:t> </a:t>
            </a:r>
            <a:r>
              <a:rPr kumimoji="1" lang="ja-JP" altLang="en-US" dirty="0"/>
              <a:t>の予定</a:t>
            </a:r>
            <a:endParaRPr lang="en-US" altLang="ja-JP" dirty="0"/>
          </a:p>
          <a:p>
            <a:r>
              <a:rPr kumimoji="1" lang="en-US" altLang="ja-JP" dirty="0"/>
              <a:t>A4 </a:t>
            </a:r>
            <a:r>
              <a:rPr kumimoji="1" lang="ja-JP" altLang="en-US" dirty="0"/>
              <a:t>裏表１枚 手書きのみの持ち込み可の予定</a:t>
            </a:r>
            <a:endParaRPr kumimoji="1" lang="en-US" altLang="ja-JP" dirty="0"/>
          </a:p>
          <a:p>
            <a:pPr lvl="1"/>
            <a:r>
              <a:rPr kumimoji="1" lang="ja-JP" altLang="en-US" dirty="0"/>
              <a:t>一部でも印刷したものを貼り付ける等も禁止（即失格です）</a:t>
            </a:r>
            <a:endParaRPr kumimoji="1" lang="en-US" dirty="0"/>
          </a:p>
        </p:txBody>
      </p:sp>
    </p:spTree>
    <p:extLst>
      <p:ext uri="{BB962C8B-B14F-4D97-AF65-F5344CB8AC3E}">
        <p14:creationId xmlns:p14="http://schemas.microsoft.com/office/powerpoint/2010/main" val="2367223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F954A2-E86F-EB6E-605A-765244A29FFE}"/>
              </a:ext>
            </a:extLst>
          </p:cNvPr>
          <p:cNvSpPr>
            <a:spLocks noGrp="1"/>
          </p:cNvSpPr>
          <p:nvPr>
            <p:ph type="title"/>
          </p:nvPr>
        </p:nvSpPr>
        <p:spPr/>
        <p:txBody>
          <a:bodyPr/>
          <a:lstStyle/>
          <a:p>
            <a:r>
              <a:rPr kumimoji="1" lang="ja-JP" altLang="en-US" dirty="0"/>
              <a:t>付録</a:t>
            </a:r>
            <a:endParaRPr kumimoji="1" lang="en-US" dirty="0"/>
          </a:p>
        </p:txBody>
      </p:sp>
    </p:spTree>
    <p:extLst>
      <p:ext uri="{BB962C8B-B14F-4D97-AF65-F5344CB8AC3E}">
        <p14:creationId xmlns:p14="http://schemas.microsoft.com/office/powerpoint/2010/main" val="143385165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3491988" y="2258987"/>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en-US" altLang="ja-JP" dirty="0"/>
              <a:t>SRAM </a:t>
            </a:r>
            <a:r>
              <a:rPr kumimoji="1" lang="ja-JP" altLang="en-US" dirty="0"/>
              <a:t>の読み出し</a:t>
            </a:r>
          </a:p>
        </p:txBody>
      </p:sp>
      <p:sp>
        <p:nvSpPr>
          <p:cNvPr id="3" name="テキスト プレースホルダー 2">
            <a:extLst>
              <a:ext uri="{FF2B5EF4-FFF2-40B4-BE49-F238E27FC236}">
                <a16:creationId xmlns:a16="http://schemas.microsoft.com/office/drawing/2014/main" id="{E6AEB639-6947-4C06-A6E1-A480E0492DB5}"/>
              </a:ext>
            </a:extLst>
          </p:cNvPr>
          <p:cNvSpPr>
            <a:spLocks noGrp="1"/>
          </p:cNvSpPr>
          <p:nvPr>
            <p:ph type="body" sz="quarter" idx="10"/>
          </p:nvPr>
        </p:nvSpPr>
        <p:spPr>
          <a:xfrm>
            <a:off x="611956" y="4059007"/>
            <a:ext cx="8280092" cy="2249718"/>
          </a:xfrm>
        </p:spPr>
        <p:txBody>
          <a:bodyPr/>
          <a:lstStyle/>
          <a:p>
            <a:pPr marL="817200" lvl="1" indent="-457200">
              <a:buFont typeface="+mj-lt"/>
              <a:buAutoNum type="arabicPeriod"/>
            </a:pPr>
            <a:r>
              <a:rPr kumimoji="1" lang="ja-JP" altLang="en-US" dirty="0"/>
              <a:t>ビットラインのプリチャージ</a:t>
            </a:r>
            <a:endParaRPr kumimoji="1" lang="en-US" altLang="ja-JP" dirty="0"/>
          </a:p>
          <a:p>
            <a:pPr lvl="2"/>
            <a:r>
              <a:rPr kumimoji="1" lang="ja-JP" altLang="en-US" dirty="0"/>
              <a:t>ビットラインをあらかじめ高電位（１）にチャージする</a:t>
            </a:r>
            <a:endParaRPr kumimoji="1" lang="en-US" altLang="ja-JP" dirty="0"/>
          </a:p>
          <a:p>
            <a:pPr marL="817200" lvl="1" indent="-457200">
              <a:buFont typeface="+mj-lt"/>
              <a:buAutoNum type="arabicPeriod"/>
            </a:pPr>
            <a:r>
              <a:rPr kumimoji="1" lang="ja-JP" altLang="en-US" dirty="0"/>
              <a:t>ワードラインをアサート</a:t>
            </a:r>
            <a:endParaRPr kumimoji="1" lang="en-US" altLang="ja-JP" dirty="0"/>
          </a:p>
          <a:p>
            <a:pPr lvl="2"/>
            <a:r>
              <a:rPr lang="ja-JP" altLang="en-US" dirty="0"/>
              <a:t>ループの右にある </a:t>
            </a:r>
            <a:r>
              <a:rPr lang="en-US" altLang="ja-JP" dirty="0"/>
              <a:t>NMOS </a:t>
            </a:r>
            <a:r>
              <a:rPr lang="ja-JP" altLang="en-US" dirty="0"/>
              <a:t>が </a:t>
            </a:r>
            <a:r>
              <a:rPr lang="en-US" altLang="ja-JP" dirty="0"/>
              <a:t>ON </a:t>
            </a:r>
            <a:r>
              <a:rPr lang="ja-JP" altLang="en-US" dirty="0"/>
              <a:t>に</a:t>
            </a:r>
            <a:endParaRPr lang="en-US" altLang="ja-JP" dirty="0"/>
          </a:p>
          <a:p>
            <a:pPr lvl="2"/>
            <a:r>
              <a:rPr kumimoji="1" lang="ja-JP" altLang="en-US" dirty="0"/>
              <a:t>ループとビットラインが接続される</a:t>
            </a:r>
            <a:endParaRPr kumimoji="1" lang="en-US" altLang="ja-JP" dirty="0"/>
          </a:p>
          <a:p>
            <a:pPr marL="817200" lvl="1" indent="-457200">
              <a:buFont typeface="+mj-lt"/>
              <a:buAutoNum type="arabicPeriod"/>
            </a:pPr>
            <a:r>
              <a:rPr kumimoji="1" lang="ja-JP" altLang="en-US" dirty="0"/>
              <a:t>ビットラインのディスチャージ</a:t>
            </a:r>
            <a:endParaRPr kumimoji="1" lang="en-US" altLang="ja-JP" dirty="0"/>
          </a:p>
          <a:p>
            <a:pPr lvl="2"/>
            <a:r>
              <a:rPr kumimoji="1" lang="ja-JP" altLang="en-US" dirty="0"/>
              <a:t>ループの右が </a:t>
            </a:r>
            <a:r>
              <a:rPr lang="en-US" altLang="ja-JP" dirty="0"/>
              <a:t>0 </a:t>
            </a:r>
            <a:r>
              <a:rPr lang="ja-JP" altLang="en-US" dirty="0"/>
              <a:t>なら，ビットラインが０に</a:t>
            </a:r>
            <a:endParaRPr lang="en-US" altLang="ja-JP" dirty="0"/>
          </a:p>
          <a:p>
            <a:pPr lvl="2"/>
            <a:r>
              <a:rPr lang="ja-JP" altLang="en-US" dirty="0"/>
              <a:t>ループの右が１ならそのまま</a:t>
            </a:r>
            <a:endParaRPr lang="en-US" altLang="ja-JP" dirty="0"/>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3941993" y="1897549"/>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3941993" y="2618274"/>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5292008" y="2258987"/>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493200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2771980" y="2258987"/>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313198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5652012" y="2618991"/>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2411976"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2411976" y="1538979"/>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6012016" y="1538979"/>
            <a:ext cx="0" cy="1800021"/>
          </a:xfrm>
          <a:prstGeom prst="line">
            <a:avLst/>
          </a:prstGeom>
          <a:ln>
            <a:headEnd type="none" w="sm" len="sm"/>
          </a:ln>
        </p:spPr>
        <p:style>
          <a:lnRef idx="3">
            <a:schemeClr val="accent6"/>
          </a:lnRef>
          <a:fillRef idx="0">
            <a:schemeClr val="accent6"/>
          </a:fillRef>
          <a:effectRef idx="2">
            <a:schemeClr val="accent6"/>
          </a:effectRef>
          <a:fontRef idx="minor">
            <a:schemeClr val="tx1"/>
          </a:fontRef>
        </p:style>
      </p:cxn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5472010"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2951982"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2051972" y="1898983"/>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53" name="正方形/長方形 52"/>
          <p:cNvSpPr/>
          <p:nvPr/>
        </p:nvSpPr>
        <p:spPr>
          <a:xfrm>
            <a:off x="3221985" y="144897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54" name="正方形/長方形 53"/>
          <p:cNvSpPr/>
          <p:nvPr/>
        </p:nvSpPr>
        <p:spPr>
          <a:xfrm>
            <a:off x="2051972" y="1088974"/>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
        <p:nvSpPr>
          <p:cNvPr id="64" name="正方形/長方形 63"/>
          <p:cNvSpPr/>
          <p:nvPr/>
        </p:nvSpPr>
        <p:spPr>
          <a:xfrm>
            <a:off x="5742013" y="1088974"/>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
        <p:nvSpPr>
          <p:cNvPr id="31" name="正方形/長方形 30"/>
          <p:cNvSpPr/>
          <p:nvPr/>
        </p:nvSpPr>
        <p:spPr>
          <a:xfrm>
            <a:off x="4391998" y="2168986"/>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2400" dirty="0">
                <a:solidFill>
                  <a:schemeClr val="accent6"/>
                </a:solidFill>
                <a:latin typeface="Arial Narrow" pitchFamily="34" charset="0"/>
              </a:rPr>
              <a:t>0</a:t>
            </a:r>
            <a:endParaRPr kumimoji="1" lang="ja-JP" altLang="en-US" sz="2400" dirty="0">
              <a:solidFill>
                <a:schemeClr val="accent6"/>
              </a:solidFill>
              <a:latin typeface="Arial Narrow" pitchFamily="34" charset="0"/>
            </a:endParaRPr>
          </a:p>
        </p:txBody>
      </p:sp>
      <p:sp>
        <p:nvSpPr>
          <p:cNvPr id="32" name="正方形/長方形 31"/>
          <p:cNvSpPr/>
          <p:nvPr/>
        </p:nvSpPr>
        <p:spPr>
          <a:xfrm>
            <a:off x="5112006" y="1808982"/>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solidFill>
                  <a:schemeClr val="accent6"/>
                </a:solidFill>
                <a:latin typeface="Arial Narrow" pitchFamily="34" charset="0"/>
              </a:rPr>
              <a:t>2. NMOS</a:t>
            </a:r>
            <a:endParaRPr kumimoji="1" lang="ja-JP" altLang="en-US" sz="1600" dirty="0">
              <a:solidFill>
                <a:schemeClr val="accent6"/>
              </a:solidFill>
              <a:latin typeface="Arial Narrow" pitchFamily="34" charset="0"/>
            </a:endParaRPr>
          </a:p>
        </p:txBody>
      </p:sp>
      <p:sp>
        <p:nvSpPr>
          <p:cNvPr id="33" name="正方形/長方形 32"/>
          <p:cNvSpPr/>
          <p:nvPr/>
        </p:nvSpPr>
        <p:spPr>
          <a:xfrm>
            <a:off x="6102017" y="1358977"/>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kumimoji="1" lang="en-US" altLang="ja-JP" dirty="0">
                <a:solidFill>
                  <a:schemeClr val="accent6"/>
                </a:solidFill>
                <a:latin typeface="Arial Narrow" pitchFamily="34" charset="0"/>
              </a:rPr>
              <a:t>1. pre charge</a:t>
            </a:r>
            <a:endParaRPr kumimoji="1" lang="ja-JP" altLang="en-US" dirty="0">
              <a:solidFill>
                <a:schemeClr val="accent6"/>
              </a:solidFill>
              <a:latin typeface="Arial Narrow" pitchFamily="34" charset="0"/>
            </a:endParaRPr>
          </a:p>
        </p:txBody>
      </p:sp>
      <p:sp>
        <p:nvSpPr>
          <p:cNvPr id="34" name="Freeform 10">
            <a:extLst>
              <a:ext uri="{FF2B5EF4-FFF2-40B4-BE49-F238E27FC236}">
                <a16:creationId xmlns:a16="http://schemas.microsoft.com/office/drawing/2014/main" id="{594994CD-2E8A-4F58-A850-5DAC43A07B36}"/>
              </a:ext>
            </a:extLst>
          </p:cNvPr>
          <p:cNvSpPr>
            <a:spLocks/>
          </p:cNvSpPr>
          <p:nvPr/>
        </p:nvSpPr>
        <p:spPr bwMode="auto">
          <a:xfrm flipV="1">
            <a:off x="5022005" y="2708992"/>
            <a:ext cx="99001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3">
            <a:schemeClr val="accent6"/>
          </a:lnRef>
          <a:fillRef idx="0">
            <a:schemeClr val="accent6"/>
          </a:fillRef>
          <a:effectRef idx="2">
            <a:schemeClr val="accent6"/>
          </a:effectRef>
          <a:fontRef idx="minor">
            <a:schemeClr val="tx1"/>
          </a:fontRef>
        </p:style>
        <p:txBody>
          <a:bodyPr/>
          <a:lstStyle/>
          <a:p>
            <a:endParaRPr lang="ja-JP" altLang="en-US">
              <a:latin typeface="+mn-ea"/>
              <a:cs typeface="Times New Roman" pitchFamily="18" charset="0"/>
            </a:endParaRPr>
          </a:p>
        </p:txBody>
      </p:sp>
      <p:sp>
        <p:nvSpPr>
          <p:cNvPr id="35" name="正方形/長方形 34"/>
          <p:cNvSpPr/>
          <p:nvPr/>
        </p:nvSpPr>
        <p:spPr>
          <a:xfrm>
            <a:off x="3311986" y="2168986"/>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2400" dirty="0">
                <a:solidFill>
                  <a:schemeClr val="accent6"/>
                </a:solidFill>
                <a:latin typeface="Arial Narrow" pitchFamily="34" charset="0"/>
              </a:rPr>
              <a:t>1</a:t>
            </a:r>
            <a:endParaRPr kumimoji="1" lang="ja-JP" altLang="en-US" sz="2400" dirty="0">
              <a:solidFill>
                <a:schemeClr val="accent6"/>
              </a:solidFill>
              <a:latin typeface="Arial Narrow" pitchFamily="34" charset="0"/>
            </a:endParaRPr>
          </a:p>
        </p:txBody>
      </p:sp>
    </p:spTree>
    <p:extLst>
      <p:ext uri="{BB962C8B-B14F-4D97-AF65-F5344CB8AC3E}">
        <p14:creationId xmlns:p14="http://schemas.microsoft.com/office/powerpoint/2010/main" val="32785575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3491988" y="2258987"/>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ja-JP" altLang="en-US" dirty="0"/>
              <a:t>なぜプリチャージが必要なのか？</a:t>
            </a:r>
          </a:p>
        </p:txBody>
      </p:sp>
      <p:sp>
        <p:nvSpPr>
          <p:cNvPr id="3" name="テキスト プレースホルダー 2">
            <a:extLst>
              <a:ext uri="{FF2B5EF4-FFF2-40B4-BE49-F238E27FC236}">
                <a16:creationId xmlns:a16="http://schemas.microsoft.com/office/drawing/2014/main" id="{E6AEB639-6947-4C06-A6E1-A480E0492DB5}"/>
              </a:ext>
            </a:extLst>
          </p:cNvPr>
          <p:cNvSpPr>
            <a:spLocks noGrp="1"/>
          </p:cNvSpPr>
          <p:nvPr>
            <p:ph type="body" sz="quarter" idx="10"/>
          </p:nvPr>
        </p:nvSpPr>
        <p:spPr>
          <a:xfrm>
            <a:off x="341953" y="4059007"/>
            <a:ext cx="8280092" cy="2249718"/>
          </a:xfrm>
        </p:spPr>
        <p:txBody>
          <a:bodyPr/>
          <a:lstStyle/>
          <a:p>
            <a:r>
              <a:rPr lang="ja-JP" altLang="en-US" dirty="0"/>
              <a:t>単にループとビットラインが接続されるだけではダメ</a:t>
            </a:r>
            <a:endParaRPr lang="en-US" altLang="ja-JP" dirty="0"/>
          </a:p>
          <a:p>
            <a:pPr lvl="1"/>
            <a:r>
              <a:rPr lang="en-US" altLang="ja-JP" dirty="0"/>
              <a:t>NMOS </a:t>
            </a:r>
            <a:r>
              <a:rPr lang="ja-JP" altLang="en-US" dirty="0"/>
              <a:t>が高電位をうまく伝えられないから</a:t>
            </a:r>
            <a:endParaRPr lang="en-US" altLang="ja-JP" dirty="0"/>
          </a:p>
          <a:p>
            <a:pPr lvl="2"/>
            <a:r>
              <a:rPr lang="ja-JP" altLang="en-US" dirty="0"/>
              <a:t>もしループの右側が１で </a:t>
            </a:r>
            <a:r>
              <a:rPr lang="en-US" altLang="ja-JP" dirty="0"/>
              <a:t>NMOS </a:t>
            </a:r>
            <a:r>
              <a:rPr lang="ja-JP" altLang="en-US" dirty="0"/>
              <a:t>が </a:t>
            </a:r>
            <a:r>
              <a:rPr lang="en-US" altLang="ja-JP" dirty="0"/>
              <a:t>ON </a:t>
            </a:r>
            <a:r>
              <a:rPr lang="ja-JP" altLang="en-US" dirty="0"/>
              <a:t>になっても，</a:t>
            </a:r>
            <a:br>
              <a:rPr lang="en-US" altLang="ja-JP" dirty="0"/>
            </a:br>
            <a:r>
              <a:rPr lang="ja-JP" altLang="en-US" dirty="0"/>
              <a:t>ビットラインを１に引き上げることはできない</a:t>
            </a:r>
            <a:endParaRPr lang="en-US" altLang="ja-JP" dirty="0"/>
          </a:p>
          <a:p>
            <a:pPr lvl="1"/>
            <a:r>
              <a:rPr lang="en-US" altLang="ja-JP" dirty="0"/>
              <a:t>PMOS </a:t>
            </a:r>
            <a:r>
              <a:rPr lang="ja-JP" altLang="en-US" dirty="0"/>
              <a:t>を追加すればできるが，なるべく小さく作りたいから嫌だ</a:t>
            </a:r>
            <a:endParaRPr lang="en-US" altLang="ja-JP" dirty="0"/>
          </a:p>
          <a:p>
            <a:r>
              <a:rPr lang="en-US" altLang="ja-JP" dirty="0"/>
              <a:t>NMOS </a:t>
            </a:r>
            <a:r>
              <a:rPr lang="ja-JP" altLang="en-US" dirty="0"/>
              <a:t>を介してビットラインの電位を下げることだけができる</a:t>
            </a:r>
            <a:endParaRPr lang="en-US" altLang="ja-JP" dirty="0"/>
          </a:p>
          <a:p>
            <a:pPr lvl="1"/>
            <a:r>
              <a:rPr lang="en-US" altLang="ja-JP" dirty="0"/>
              <a:t>= </a:t>
            </a:r>
            <a:r>
              <a:rPr lang="ja-JP" altLang="en-US" dirty="0"/>
              <a:t>あらかじめ電位を上げておいて，下がったかどうかで判定</a:t>
            </a:r>
            <a:endParaRPr lang="en-US" altLang="ja-JP" dirty="0"/>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3941993" y="1897549"/>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3941993" y="2618274"/>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5292008" y="2258987"/>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493200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2771980" y="2258987"/>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313198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5652012" y="2618991"/>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2411976"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2411976" y="1538979"/>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6012016" y="1538979"/>
            <a:ext cx="0" cy="1800021"/>
          </a:xfrm>
          <a:prstGeom prst="line">
            <a:avLst/>
          </a:prstGeom>
          <a:ln>
            <a:headEnd type="none" w="sm" len="sm"/>
          </a:ln>
        </p:spPr>
        <p:style>
          <a:lnRef idx="3">
            <a:schemeClr val="accent6"/>
          </a:lnRef>
          <a:fillRef idx="0">
            <a:schemeClr val="accent6"/>
          </a:fillRef>
          <a:effectRef idx="2">
            <a:schemeClr val="accent6"/>
          </a:effectRef>
          <a:fontRef idx="minor">
            <a:schemeClr val="tx1"/>
          </a:fontRef>
        </p:style>
      </p:cxn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5472010"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2951982"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2051972" y="1898983"/>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53" name="正方形/長方形 52"/>
          <p:cNvSpPr/>
          <p:nvPr/>
        </p:nvSpPr>
        <p:spPr>
          <a:xfrm>
            <a:off x="3221985" y="144897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54" name="正方形/長方形 53"/>
          <p:cNvSpPr/>
          <p:nvPr/>
        </p:nvSpPr>
        <p:spPr>
          <a:xfrm>
            <a:off x="2051972" y="1088974"/>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
        <p:nvSpPr>
          <p:cNvPr id="64" name="正方形/長方形 63"/>
          <p:cNvSpPr/>
          <p:nvPr/>
        </p:nvSpPr>
        <p:spPr>
          <a:xfrm>
            <a:off x="5742013" y="1088974"/>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
        <p:nvSpPr>
          <p:cNvPr id="31" name="正方形/長方形 30"/>
          <p:cNvSpPr/>
          <p:nvPr/>
        </p:nvSpPr>
        <p:spPr>
          <a:xfrm>
            <a:off x="4391998" y="2168986"/>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2400" dirty="0">
                <a:solidFill>
                  <a:schemeClr val="accent6"/>
                </a:solidFill>
                <a:latin typeface="Arial Narrow" pitchFamily="34" charset="0"/>
              </a:rPr>
              <a:t>0</a:t>
            </a:r>
            <a:endParaRPr kumimoji="1" lang="ja-JP" altLang="en-US" sz="2400" dirty="0">
              <a:solidFill>
                <a:schemeClr val="accent6"/>
              </a:solidFill>
              <a:latin typeface="Arial Narrow" pitchFamily="34" charset="0"/>
            </a:endParaRPr>
          </a:p>
        </p:txBody>
      </p:sp>
      <p:sp>
        <p:nvSpPr>
          <p:cNvPr id="32" name="正方形/長方形 31"/>
          <p:cNvSpPr/>
          <p:nvPr/>
        </p:nvSpPr>
        <p:spPr>
          <a:xfrm>
            <a:off x="5112006" y="1808982"/>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solidFill>
                  <a:schemeClr val="accent6"/>
                </a:solidFill>
                <a:latin typeface="Arial Narrow" pitchFamily="34" charset="0"/>
              </a:rPr>
              <a:t>2. NMOS</a:t>
            </a:r>
            <a:endParaRPr kumimoji="1" lang="ja-JP" altLang="en-US" sz="1600" dirty="0">
              <a:solidFill>
                <a:schemeClr val="accent6"/>
              </a:solidFill>
              <a:latin typeface="Arial Narrow" pitchFamily="34" charset="0"/>
            </a:endParaRPr>
          </a:p>
        </p:txBody>
      </p:sp>
      <p:sp>
        <p:nvSpPr>
          <p:cNvPr id="33" name="正方形/長方形 32"/>
          <p:cNvSpPr/>
          <p:nvPr/>
        </p:nvSpPr>
        <p:spPr>
          <a:xfrm>
            <a:off x="6102017" y="1358977"/>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kumimoji="1" lang="en-US" altLang="ja-JP" dirty="0">
                <a:solidFill>
                  <a:schemeClr val="accent6"/>
                </a:solidFill>
                <a:latin typeface="Arial Narrow" pitchFamily="34" charset="0"/>
              </a:rPr>
              <a:t>1. pre charge</a:t>
            </a:r>
            <a:endParaRPr kumimoji="1" lang="ja-JP" altLang="en-US" dirty="0">
              <a:solidFill>
                <a:schemeClr val="accent6"/>
              </a:solidFill>
              <a:latin typeface="Arial Narrow" pitchFamily="34" charset="0"/>
            </a:endParaRPr>
          </a:p>
        </p:txBody>
      </p:sp>
      <p:sp>
        <p:nvSpPr>
          <p:cNvPr id="34" name="Freeform 10">
            <a:extLst>
              <a:ext uri="{FF2B5EF4-FFF2-40B4-BE49-F238E27FC236}">
                <a16:creationId xmlns:a16="http://schemas.microsoft.com/office/drawing/2014/main" id="{594994CD-2E8A-4F58-A850-5DAC43A07B36}"/>
              </a:ext>
            </a:extLst>
          </p:cNvPr>
          <p:cNvSpPr>
            <a:spLocks/>
          </p:cNvSpPr>
          <p:nvPr/>
        </p:nvSpPr>
        <p:spPr bwMode="auto">
          <a:xfrm flipV="1">
            <a:off x="5022005" y="2708992"/>
            <a:ext cx="99001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3">
            <a:schemeClr val="accent6"/>
          </a:lnRef>
          <a:fillRef idx="0">
            <a:schemeClr val="accent6"/>
          </a:fillRef>
          <a:effectRef idx="2">
            <a:schemeClr val="accent6"/>
          </a:effectRef>
          <a:fontRef idx="minor">
            <a:schemeClr val="tx1"/>
          </a:fontRef>
        </p:style>
        <p:txBody>
          <a:bodyPr/>
          <a:lstStyle/>
          <a:p>
            <a:endParaRPr lang="ja-JP" altLang="en-US">
              <a:latin typeface="+mn-ea"/>
              <a:cs typeface="Times New Roman" pitchFamily="18" charset="0"/>
            </a:endParaRPr>
          </a:p>
        </p:txBody>
      </p:sp>
      <p:sp>
        <p:nvSpPr>
          <p:cNvPr id="35" name="正方形/長方形 34"/>
          <p:cNvSpPr/>
          <p:nvPr/>
        </p:nvSpPr>
        <p:spPr>
          <a:xfrm>
            <a:off x="3311986" y="2168986"/>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2400" dirty="0">
                <a:solidFill>
                  <a:schemeClr val="accent6"/>
                </a:solidFill>
                <a:latin typeface="Arial Narrow" pitchFamily="34" charset="0"/>
              </a:rPr>
              <a:t>1</a:t>
            </a:r>
            <a:endParaRPr kumimoji="1" lang="ja-JP" altLang="en-US" sz="2400" dirty="0">
              <a:solidFill>
                <a:schemeClr val="accent6"/>
              </a:solidFill>
              <a:latin typeface="Arial Narrow" pitchFamily="34" charset="0"/>
            </a:endParaRPr>
          </a:p>
        </p:txBody>
      </p:sp>
    </p:spTree>
    <p:extLst>
      <p:ext uri="{BB962C8B-B14F-4D97-AF65-F5344CB8AC3E}">
        <p14:creationId xmlns:p14="http://schemas.microsoft.com/office/powerpoint/2010/main" val="34949612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SRAM </a:t>
            </a:r>
            <a:r>
              <a:rPr kumimoji="1" lang="ja-JP" altLang="en-US" dirty="0"/>
              <a:t>の書き込み</a:t>
            </a:r>
          </a:p>
        </p:txBody>
      </p:sp>
      <p:sp>
        <p:nvSpPr>
          <p:cNvPr id="3" name="テキスト プレースホルダー 2"/>
          <p:cNvSpPr>
            <a:spLocks noGrp="1"/>
          </p:cNvSpPr>
          <p:nvPr>
            <p:ph type="body" sz="quarter" idx="10"/>
          </p:nvPr>
        </p:nvSpPr>
        <p:spPr>
          <a:xfrm>
            <a:off x="251952" y="4419011"/>
            <a:ext cx="8640096" cy="1529710"/>
          </a:xfrm>
        </p:spPr>
        <p:txBody>
          <a:bodyPr/>
          <a:lstStyle/>
          <a:p>
            <a:r>
              <a:rPr kumimoji="1" lang="ja-JP" altLang="en-US" dirty="0"/>
              <a:t>書き込み手順</a:t>
            </a:r>
            <a:endParaRPr kumimoji="1" lang="en-US" altLang="ja-JP" dirty="0"/>
          </a:p>
          <a:p>
            <a:pPr marL="817200" lvl="1" indent="-457200">
              <a:buFont typeface="+mj-lt"/>
              <a:buAutoNum type="arabicPeriod"/>
            </a:pPr>
            <a:r>
              <a:rPr kumimoji="1" lang="ja-JP" altLang="en-US" dirty="0"/>
              <a:t>ループ左右のどちらか０にしたい方のビットラインの電位を下げる</a:t>
            </a:r>
            <a:endParaRPr kumimoji="1" lang="en-US" altLang="ja-JP" dirty="0"/>
          </a:p>
          <a:p>
            <a:pPr marL="817200" lvl="1" indent="-457200">
              <a:buFont typeface="+mj-lt"/>
              <a:buAutoNum type="arabicPeriod"/>
            </a:pPr>
            <a:r>
              <a:rPr kumimoji="1" lang="ja-JP" altLang="en-US" dirty="0"/>
              <a:t>ワードラインをアサートして </a:t>
            </a:r>
            <a:r>
              <a:rPr kumimoji="1" lang="en-US" altLang="ja-JP" dirty="0"/>
              <a:t>NMOS </a:t>
            </a:r>
            <a:r>
              <a:rPr kumimoji="1" lang="ja-JP" altLang="en-US" dirty="0"/>
              <a:t>を </a:t>
            </a:r>
            <a:r>
              <a:rPr kumimoji="1" lang="en-US" altLang="ja-JP" dirty="0"/>
              <a:t>ON </a:t>
            </a:r>
            <a:r>
              <a:rPr kumimoji="1" lang="ja-JP" altLang="en-US" dirty="0"/>
              <a:t>に</a:t>
            </a:r>
            <a:endParaRPr kumimoji="1" lang="en-US" altLang="ja-JP" dirty="0"/>
          </a:p>
          <a:p>
            <a:pPr marL="817200" lvl="1" indent="-457200">
              <a:buFont typeface="+mj-lt"/>
              <a:buAutoNum type="arabicPeriod"/>
            </a:pPr>
            <a:r>
              <a:rPr kumimoji="1" lang="ja-JP" altLang="en-US" dirty="0"/>
              <a:t>インバータの状態を強制的にビットライン側から低電位にする</a:t>
            </a:r>
            <a:endParaRPr kumimoji="1" lang="en-US" altLang="ja-JP" dirty="0"/>
          </a:p>
          <a:p>
            <a:r>
              <a:rPr kumimoji="1" lang="en-US" altLang="ja-JP" dirty="0"/>
              <a:t>NMOS </a:t>
            </a:r>
            <a:r>
              <a:rPr kumimoji="1" lang="ja-JP" altLang="en-US" dirty="0"/>
              <a:t>が低電位しか通せないので，書き込みには２本いる</a:t>
            </a:r>
          </a:p>
        </p:txBody>
      </p:sp>
      <p:sp>
        <p:nvSpPr>
          <p:cNvPr id="4" name="正方形/長方形 3">
            <a:extLst>
              <a:ext uri="{FF2B5EF4-FFF2-40B4-BE49-F238E27FC236}">
                <a16:creationId xmlns:a16="http://schemas.microsoft.com/office/drawing/2014/main" id="{3DD7262D-3274-473E-B2E1-F40123548E2F}"/>
              </a:ext>
            </a:extLst>
          </p:cNvPr>
          <p:cNvSpPr/>
          <p:nvPr/>
        </p:nvSpPr>
        <p:spPr bwMode="auto">
          <a:xfrm>
            <a:off x="3491988" y="2708992"/>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3941993" y="2347554"/>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3941993" y="3068279"/>
            <a:ext cx="717550" cy="720725"/>
          </a:xfrm>
          <a:prstGeom prst="rect">
            <a:avLst/>
          </a:prstGeom>
          <a:noFill/>
        </p:spPr>
      </p:pic>
      <p:grpSp>
        <p:nvGrpSpPr>
          <p:cNvPr id="7" name="グループ化 6">
            <a:extLst>
              <a:ext uri="{FF2B5EF4-FFF2-40B4-BE49-F238E27FC236}">
                <a16:creationId xmlns:a16="http://schemas.microsoft.com/office/drawing/2014/main" id="{2E2C44F0-1023-431F-9CAE-76D98F4DEBBA}"/>
              </a:ext>
            </a:extLst>
          </p:cNvPr>
          <p:cNvGrpSpPr/>
          <p:nvPr/>
        </p:nvGrpSpPr>
        <p:grpSpPr>
          <a:xfrm>
            <a:off x="5292008" y="2708992"/>
            <a:ext cx="360004" cy="360004"/>
            <a:chOff x="4932004" y="2708992"/>
            <a:chExt cx="360004" cy="360004"/>
          </a:xfrm>
        </p:grpSpPr>
        <p:cxnSp>
          <p:nvCxnSpPr>
            <p:cNvPr id="8" name="直線コネクタ 7">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2" name="直線コネクタ 11">
            <a:extLst>
              <a:ext uri="{FF2B5EF4-FFF2-40B4-BE49-F238E27FC236}">
                <a16:creationId xmlns:a16="http://schemas.microsoft.com/office/drawing/2014/main" id="{DE0A7002-3073-49D6-8ABC-00E0FF26DECF}"/>
              </a:ext>
            </a:extLst>
          </p:cNvPr>
          <p:cNvCxnSpPr>
            <a:cxnSpLocks/>
          </p:cNvCxnSpPr>
          <p:nvPr/>
        </p:nvCxnSpPr>
        <p:spPr>
          <a:xfrm>
            <a:off x="4932004"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13" name="グループ化 12">
            <a:extLst>
              <a:ext uri="{FF2B5EF4-FFF2-40B4-BE49-F238E27FC236}">
                <a16:creationId xmlns:a16="http://schemas.microsoft.com/office/drawing/2014/main" id="{D778BFE3-A03E-473D-B803-AF62F6EBF32C}"/>
              </a:ext>
            </a:extLst>
          </p:cNvPr>
          <p:cNvGrpSpPr/>
          <p:nvPr/>
        </p:nvGrpSpPr>
        <p:grpSpPr>
          <a:xfrm>
            <a:off x="2771980" y="2708992"/>
            <a:ext cx="360004" cy="360004"/>
            <a:chOff x="4932004" y="2708992"/>
            <a:chExt cx="360004" cy="360004"/>
          </a:xfrm>
        </p:grpSpPr>
        <p:cxnSp>
          <p:nvCxnSpPr>
            <p:cNvPr id="14" name="直線コネクタ 13">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6DA9E334-E262-4D78-AE9F-D066AE5E5934}"/>
              </a:ext>
            </a:extLst>
          </p:cNvPr>
          <p:cNvCxnSpPr>
            <a:cxnSpLocks/>
            <a:stCxn id="4" idx="1"/>
          </p:cNvCxnSpPr>
          <p:nvPr/>
        </p:nvCxnSpPr>
        <p:spPr>
          <a:xfrm flipH="1">
            <a:off x="3131984"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F6001733-09AD-4DAC-8BA5-9A735951D417}"/>
              </a:ext>
            </a:extLst>
          </p:cNvPr>
          <p:cNvCxnSpPr>
            <a:cxnSpLocks/>
          </p:cNvCxnSpPr>
          <p:nvPr/>
        </p:nvCxnSpPr>
        <p:spPr>
          <a:xfrm>
            <a:off x="5652012" y="3068996"/>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5135806F-DC95-4CE1-B9BE-E5FB3FE0437F}"/>
              </a:ext>
            </a:extLst>
          </p:cNvPr>
          <p:cNvCxnSpPr>
            <a:cxnSpLocks/>
          </p:cNvCxnSpPr>
          <p:nvPr/>
        </p:nvCxnSpPr>
        <p:spPr>
          <a:xfrm>
            <a:off x="2411976"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A1E25F94-64AD-4B0B-BA8A-8E0E99ACC480}"/>
              </a:ext>
            </a:extLst>
          </p:cNvPr>
          <p:cNvCxnSpPr>
            <a:cxnSpLocks/>
          </p:cNvCxnSpPr>
          <p:nvPr/>
        </p:nvCxnSpPr>
        <p:spPr>
          <a:xfrm flipV="1">
            <a:off x="2411976" y="1988984"/>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428BCDB-12D7-414C-92E6-903ABDFB1719}"/>
              </a:ext>
            </a:extLst>
          </p:cNvPr>
          <p:cNvCxnSpPr>
            <a:cxnSpLocks/>
          </p:cNvCxnSpPr>
          <p:nvPr/>
        </p:nvCxnSpPr>
        <p:spPr>
          <a:xfrm flipV="1">
            <a:off x="6012016" y="1988984"/>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36809C4F-E919-4760-95DB-403B2392206B}"/>
              </a:ext>
            </a:extLst>
          </p:cNvPr>
          <p:cNvCxnSpPr>
            <a:cxnSpLocks/>
          </p:cNvCxnSpPr>
          <p:nvPr/>
        </p:nvCxnSpPr>
        <p:spPr>
          <a:xfrm flipV="1">
            <a:off x="5472010" y="2348988"/>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991E2654-AFE3-433F-9E80-1A3D175E7AF8}"/>
              </a:ext>
            </a:extLst>
          </p:cNvPr>
          <p:cNvCxnSpPr>
            <a:cxnSpLocks/>
          </p:cNvCxnSpPr>
          <p:nvPr/>
        </p:nvCxnSpPr>
        <p:spPr>
          <a:xfrm flipV="1">
            <a:off x="2951982" y="2348988"/>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5DF913E5-9D7D-4CB2-BF16-5C60949ABA57}"/>
              </a:ext>
            </a:extLst>
          </p:cNvPr>
          <p:cNvCxnSpPr>
            <a:cxnSpLocks/>
          </p:cNvCxnSpPr>
          <p:nvPr/>
        </p:nvCxnSpPr>
        <p:spPr>
          <a:xfrm>
            <a:off x="2051972" y="2348988"/>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6" name="正方形/長方形 25"/>
          <p:cNvSpPr/>
          <p:nvPr/>
        </p:nvSpPr>
        <p:spPr>
          <a:xfrm>
            <a:off x="3221985" y="1898983"/>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27" name="正方形/長方形 26"/>
          <p:cNvSpPr/>
          <p:nvPr/>
        </p:nvSpPr>
        <p:spPr>
          <a:xfrm>
            <a:off x="2051972" y="1538979"/>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
        <p:nvSpPr>
          <p:cNvPr id="28" name="正方形/長方形 27"/>
          <p:cNvSpPr/>
          <p:nvPr/>
        </p:nvSpPr>
        <p:spPr>
          <a:xfrm>
            <a:off x="5742013" y="1538979"/>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Tree>
    <p:extLst>
      <p:ext uri="{BB962C8B-B14F-4D97-AF65-F5344CB8AC3E}">
        <p14:creationId xmlns:p14="http://schemas.microsoft.com/office/powerpoint/2010/main" val="19601172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DRAM </a:t>
            </a:r>
            <a:r>
              <a:rPr kumimoji="1" lang="ja-JP" altLang="en-US" dirty="0"/>
              <a:t>の読み出し</a:t>
            </a:r>
          </a:p>
        </p:txBody>
      </p:sp>
      <p:sp>
        <p:nvSpPr>
          <p:cNvPr id="3" name="テキスト プレースホルダー 2"/>
          <p:cNvSpPr>
            <a:spLocks noGrp="1"/>
          </p:cNvSpPr>
          <p:nvPr>
            <p:ph type="body" sz="quarter" idx="10"/>
          </p:nvPr>
        </p:nvSpPr>
        <p:spPr>
          <a:xfrm>
            <a:off x="611956" y="4329010"/>
            <a:ext cx="8280092" cy="1439709"/>
          </a:xfrm>
        </p:spPr>
        <p:txBody>
          <a:bodyPr/>
          <a:lstStyle/>
          <a:p>
            <a:r>
              <a:rPr kumimoji="1" lang="ja-JP" altLang="en-US" dirty="0"/>
              <a:t>読み出しは，基本的には </a:t>
            </a:r>
            <a:r>
              <a:rPr kumimoji="1" lang="en-US" altLang="ja-JP" dirty="0"/>
              <a:t>SRAM </a:t>
            </a:r>
            <a:r>
              <a:rPr kumimoji="1" lang="ja-JP" altLang="en-US" dirty="0"/>
              <a:t>と同じ</a:t>
            </a:r>
            <a:endParaRPr kumimoji="1" lang="en-US" altLang="ja-JP" dirty="0"/>
          </a:p>
          <a:p>
            <a:pPr lvl="1"/>
            <a:r>
              <a:rPr kumimoji="1" lang="ja-JP" altLang="en-US" dirty="0"/>
              <a:t>ビットラインをプリチャージ</a:t>
            </a:r>
            <a:endParaRPr kumimoji="1" lang="en-US" altLang="ja-JP" dirty="0"/>
          </a:p>
          <a:p>
            <a:pPr lvl="1"/>
            <a:r>
              <a:rPr kumimoji="1" lang="ja-JP" altLang="en-US" dirty="0"/>
              <a:t>ワードラインをアサート</a:t>
            </a:r>
            <a:endParaRPr kumimoji="1" lang="en-US" altLang="ja-JP" dirty="0"/>
          </a:p>
          <a:p>
            <a:pPr lvl="1"/>
            <a:r>
              <a:rPr kumimoji="1" lang="ja-JP" altLang="en-US" dirty="0"/>
              <a:t>セルの状態に応じてディスチャージが起きる</a:t>
            </a:r>
            <a:endParaRPr kumimoji="1" lang="en-US" altLang="ja-JP" dirty="0"/>
          </a:p>
        </p:txBody>
      </p:sp>
      <p:grpSp>
        <p:nvGrpSpPr>
          <p:cNvPr id="4" name="グループ化 3">
            <a:extLst>
              <a:ext uri="{FF2B5EF4-FFF2-40B4-BE49-F238E27FC236}">
                <a16:creationId xmlns:a16="http://schemas.microsoft.com/office/drawing/2014/main" id="{B2772659-A00E-4413-9EB6-D696321711C2}"/>
              </a:ext>
            </a:extLst>
          </p:cNvPr>
          <p:cNvGrpSpPr/>
          <p:nvPr/>
        </p:nvGrpSpPr>
        <p:grpSpPr>
          <a:xfrm>
            <a:off x="4121995" y="2348988"/>
            <a:ext cx="360004" cy="360004"/>
            <a:chOff x="4932004" y="2708992"/>
            <a:chExt cx="360004" cy="360004"/>
          </a:xfrm>
        </p:grpSpPr>
        <p:cxnSp>
          <p:nvCxnSpPr>
            <p:cNvPr id="5" name="直線コネクタ 4">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 name="直線コネクタ 8">
            <a:extLst>
              <a:ext uri="{FF2B5EF4-FFF2-40B4-BE49-F238E27FC236}">
                <a16:creationId xmlns:a16="http://schemas.microsoft.com/office/drawing/2014/main" id="{04ACCC42-4E49-4867-BFDC-671C90B11355}"/>
              </a:ext>
            </a:extLst>
          </p:cNvPr>
          <p:cNvCxnSpPr>
            <a:cxnSpLocks/>
          </p:cNvCxnSpPr>
          <p:nvPr/>
        </p:nvCxnSpPr>
        <p:spPr>
          <a:xfrm>
            <a:off x="3761991" y="270899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FA852A0-5D43-4C5B-8D71-AF1C94363457}"/>
              </a:ext>
            </a:extLst>
          </p:cNvPr>
          <p:cNvCxnSpPr>
            <a:cxnSpLocks/>
          </p:cNvCxnSpPr>
          <p:nvPr/>
        </p:nvCxnSpPr>
        <p:spPr>
          <a:xfrm>
            <a:off x="4481999" y="270899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0DDEA31C-DEA3-4027-A96D-5EC4FD0DCD35}"/>
              </a:ext>
            </a:extLst>
          </p:cNvPr>
          <p:cNvCxnSpPr>
            <a:cxnSpLocks/>
          </p:cNvCxnSpPr>
          <p:nvPr/>
        </p:nvCxnSpPr>
        <p:spPr>
          <a:xfrm flipV="1">
            <a:off x="3761991" y="162898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a16:creationId xmlns:a16="http://schemas.microsoft.com/office/drawing/2014/main" id="{DE115225-CFB0-4004-A206-CB9F39CB2EA1}"/>
              </a:ext>
            </a:extLst>
          </p:cNvPr>
          <p:cNvGrpSpPr/>
          <p:nvPr/>
        </p:nvGrpSpPr>
        <p:grpSpPr>
          <a:xfrm>
            <a:off x="4662001" y="2888994"/>
            <a:ext cx="360004" cy="90003"/>
            <a:chOff x="7272030" y="3789004"/>
            <a:chExt cx="360004" cy="90003"/>
          </a:xfrm>
        </p:grpSpPr>
        <p:cxnSp>
          <p:nvCxnSpPr>
            <p:cNvPr id="13" name="直線コネクタ 12">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980D156E-BEF6-49E5-BEDB-E654CED1DF10}"/>
              </a:ext>
            </a:extLst>
          </p:cNvPr>
          <p:cNvCxnSpPr>
            <a:cxnSpLocks/>
          </p:cNvCxnSpPr>
          <p:nvPr/>
        </p:nvCxnSpPr>
        <p:spPr>
          <a:xfrm flipV="1">
            <a:off x="4842003" y="270899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DDF1097C-113D-483C-86EC-803338665142}"/>
              </a:ext>
            </a:extLst>
          </p:cNvPr>
          <p:cNvCxnSpPr>
            <a:cxnSpLocks/>
          </p:cNvCxnSpPr>
          <p:nvPr/>
        </p:nvCxnSpPr>
        <p:spPr>
          <a:xfrm flipV="1">
            <a:off x="4842003" y="297899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38D32D1F-3EE8-498D-B8DB-C60684B30C49}"/>
              </a:ext>
            </a:extLst>
          </p:cNvPr>
          <p:cNvGrpSpPr/>
          <p:nvPr/>
        </p:nvGrpSpPr>
        <p:grpSpPr>
          <a:xfrm>
            <a:off x="4662001" y="3248998"/>
            <a:ext cx="326325" cy="117556"/>
            <a:chOff x="2531592" y="5357236"/>
            <a:chExt cx="326325" cy="117556"/>
          </a:xfrm>
        </p:grpSpPr>
        <p:cxnSp>
          <p:nvCxnSpPr>
            <p:cNvPr id="18" name="直線コネクタ 17">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 name="直線コネクタ 20">
            <a:extLst>
              <a:ext uri="{FF2B5EF4-FFF2-40B4-BE49-F238E27FC236}">
                <a16:creationId xmlns:a16="http://schemas.microsoft.com/office/drawing/2014/main" id="{5C16D03F-62AA-402B-A9AC-ADCF020FC7D6}"/>
              </a:ext>
            </a:extLst>
          </p:cNvPr>
          <p:cNvCxnSpPr>
            <a:cxnSpLocks/>
          </p:cNvCxnSpPr>
          <p:nvPr/>
        </p:nvCxnSpPr>
        <p:spPr>
          <a:xfrm flipV="1">
            <a:off x="4301997" y="198898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87BB93E-CC11-4F3A-AF7A-8FAF390455E8}"/>
              </a:ext>
            </a:extLst>
          </p:cNvPr>
          <p:cNvCxnSpPr>
            <a:cxnSpLocks/>
          </p:cNvCxnSpPr>
          <p:nvPr/>
        </p:nvCxnSpPr>
        <p:spPr>
          <a:xfrm>
            <a:off x="3401987" y="198898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3" name="正方形/長方形 22"/>
          <p:cNvSpPr/>
          <p:nvPr/>
        </p:nvSpPr>
        <p:spPr>
          <a:xfrm>
            <a:off x="4572000" y="1718981"/>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24" name="正方形/長方形 23"/>
          <p:cNvSpPr/>
          <p:nvPr/>
        </p:nvSpPr>
        <p:spPr>
          <a:xfrm>
            <a:off x="3491988" y="1178975"/>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Tree>
    <p:extLst>
      <p:ext uri="{BB962C8B-B14F-4D97-AF65-F5344CB8AC3E}">
        <p14:creationId xmlns:p14="http://schemas.microsoft.com/office/powerpoint/2010/main" val="31877206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DRAM </a:t>
            </a:r>
            <a:r>
              <a:rPr kumimoji="1" lang="ja-JP" altLang="en-US" dirty="0"/>
              <a:t>の書き込み</a:t>
            </a:r>
          </a:p>
        </p:txBody>
      </p:sp>
      <p:sp>
        <p:nvSpPr>
          <p:cNvPr id="3" name="テキスト プレースホルダー 2"/>
          <p:cNvSpPr>
            <a:spLocks noGrp="1"/>
          </p:cNvSpPr>
          <p:nvPr>
            <p:ph type="body" sz="quarter" idx="10"/>
          </p:nvPr>
        </p:nvSpPr>
        <p:spPr>
          <a:xfrm>
            <a:off x="161951" y="4329010"/>
            <a:ext cx="8730097" cy="1439709"/>
          </a:xfrm>
        </p:spPr>
        <p:txBody>
          <a:bodyPr/>
          <a:lstStyle/>
          <a:p>
            <a:r>
              <a:rPr kumimoji="1" lang="ja-JP" altLang="en-US" dirty="0"/>
              <a:t>書き込みは，</a:t>
            </a:r>
            <a:r>
              <a:rPr kumimoji="1" lang="en-US" altLang="ja-JP" dirty="0"/>
              <a:t>NMOS </a:t>
            </a:r>
            <a:r>
              <a:rPr kumimoji="1" lang="ja-JP" altLang="en-US" dirty="0"/>
              <a:t>でも </a:t>
            </a:r>
            <a:r>
              <a:rPr kumimoji="1" lang="en-US" altLang="ja-JP" dirty="0"/>
              <a:t>0.5 </a:t>
            </a:r>
            <a:r>
              <a:rPr kumimoji="1" lang="ja-JP" altLang="en-US" dirty="0"/>
              <a:t>までは上げられるのでそれで行う（多分）</a:t>
            </a:r>
            <a:endParaRPr kumimoji="1" lang="en-US" altLang="ja-JP" dirty="0"/>
          </a:p>
          <a:p>
            <a:pPr lvl="1"/>
            <a:r>
              <a:rPr kumimoji="1" lang="en-US" altLang="ja-JP" dirty="0"/>
              <a:t>SRAM </a:t>
            </a:r>
            <a:r>
              <a:rPr kumimoji="1" lang="ja-JP" altLang="en-US" dirty="0"/>
              <a:t>ではインバータをひっくり返す必要があるので，</a:t>
            </a:r>
            <a:br>
              <a:rPr kumimoji="1" lang="en-US" altLang="ja-JP" dirty="0"/>
            </a:br>
            <a:r>
              <a:rPr kumimoji="1" lang="en-US" altLang="ja-JP" dirty="0"/>
              <a:t>0.5 </a:t>
            </a:r>
            <a:r>
              <a:rPr kumimoji="1" lang="ja-JP" altLang="en-US" dirty="0"/>
              <a:t>ではダメだった</a:t>
            </a:r>
            <a:endParaRPr kumimoji="1" lang="en-US" altLang="ja-JP" dirty="0"/>
          </a:p>
          <a:p>
            <a:r>
              <a:rPr kumimoji="1" lang="en-US" altLang="ja-JP" dirty="0"/>
              <a:t>DRAM </a:t>
            </a:r>
            <a:r>
              <a:rPr kumimoji="1" lang="ja-JP" altLang="en-US" dirty="0"/>
              <a:t>では 低電位（</a:t>
            </a:r>
            <a:r>
              <a:rPr kumimoji="1" lang="en-US" altLang="ja-JP" dirty="0"/>
              <a:t>0</a:t>
            </a:r>
            <a:r>
              <a:rPr kumimoji="1" lang="ja-JP" altLang="en-US" dirty="0"/>
              <a:t>）</a:t>
            </a:r>
            <a:r>
              <a:rPr kumimoji="1" lang="en-US" altLang="ja-JP" dirty="0"/>
              <a:t>or </a:t>
            </a:r>
            <a:r>
              <a:rPr kumimoji="1" lang="ja-JP" altLang="en-US" dirty="0"/>
              <a:t>中間電位（</a:t>
            </a:r>
            <a:r>
              <a:rPr kumimoji="1" lang="en-US" altLang="ja-JP" dirty="0"/>
              <a:t>0.5</a:t>
            </a:r>
            <a:r>
              <a:rPr kumimoji="1" lang="ja-JP" altLang="en-US" dirty="0"/>
              <a:t>）を記録する</a:t>
            </a:r>
            <a:endParaRPr kumimoji="1" lang="en-US" altLang="ja-JP" dirty="0"/>
          </a:p>
          <a:p>
            <a:pPr lvl="1"/>
            <a:r>
              <a:rPr kumimoji="1" lang="ja-JP" altLang="en-US" dirty="0"/>
              <a:t>読み出し時のプリチャージの電圧を </a:t>
            </a:r>
            <a:r>
              <a:rPr kumimoji="1" lang="en-US" altLang="ja-JP" dirty="0"/>
              <a:t>0.5 </a:t>
            </a:r>
            <a:r>
              <a:rPr kumimoji="1" lang="ja-JP" altLang="en-US" dirty="0"/>
              <a:t>にして，下がったか</a:t>
            </a:r>
            <a:br>
              <a:rPr kumimoji="1" lang="en-US" altLang="ja-JP" dirty="0"/>
            </a:br>
            <a:r>
              <a:rPr kumimoji="1" lang="ja-JP" altLang="en-US" dirty="0"/>
              <a:t>どうかで判定</a:t>
            </a:r>
            <a:endParaRPr kumimoji="1" lang="en-US" altLang="ja-JP" dirty="0"/>
          </a:p>
        </p:txBody>
      </p:sp>
      <p:grpSp>
        <p:nvGrpSpPr>
          <p:cNvPr id="4" name="グループ化 3">
            <a:extLst>
              <a:ext uri="{FF2B5EF4-FFF2-40B4-BE49-F238E27FC236}">
                <a16:creationId xmlns:a16="http://schemas.microsoft.com/office/drawing/2014/main" id="{B2772659-A00E-4413-9EB6-D696321711C2}"/>
              </a:ext>
            </a:extLst>
          </p:cNvPr>
          <p:cNvGrpSpPr/>
          <p:nvPr/>
        </p:nvGrpSpPr>
        <p:grpSpPr>
          <a:xfrm>
            <a:off x="4121995" y="2078985"/>
            <a:ext cx="360004" cy="360004"/>
            <a:chOff x="4932004" y="2708992"/>
            <a:chExt cx="360004" cy="360004"/>
          </a:xfrm>
        </p:grpSpPr>
        <p:cxnSp>
          <p:nvCxnSpPr>
            <p:cNvPr id="5" name="直線コネクタ 4">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 name="直線コネクタ 8">
            <a:extLst>
              <a:ext uri="{FF2B5EF4-FFF2-40B4-BE49-F238E27FC236}">
                <a16:creationId xmlns:a16="http://schemas.microsoft.com/office/drawing/2014/main" id="{04ACCC42-4E49-4867-BFDC-671C90B11355}"/>
              </a:ext>
            </a:extLst>
          </p:cNvPr>
          <p:cNvCxnSpPr>
            <a:cxnSpLocks/>
          </p:cNvCxnSpPr>
          <p:nvPr/>
        </p:nvCxnSpPr>
        <p:spPr>
          <a:xfrm>
            <a:off x="3761991" y="2438989"/>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FA852A0-5D43-4C5B-8D71-AF1C94363457}"/>
              </a:ext>
            </a:extLst>
          </p:cNvPr>
          <p:cNvCxnSpPr>
            <a:cxnSpLocks/>
          </p:cNvCxnSpPr>
          <p:nvPr/>
        </p:nvCxnSpPr>
        <p:spPr>
          <a:xfrm>
            <a:off x="4481999" y="2438989"/>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0DDEA31C-DEA3-4027-A96D-5EC4FD0DCD35}"/>
              </a:ext>
            </a:extLst>
          </p:cNvPr>
          <p:cNvCxnSpPr>
            <a:cxnSpLocks/>
          </p:cNvCxnSpPr>
          <p:nvPr/>
        </p:nvCxnSpPr>
        <p:spPr>
          <a:xfrm flipV="1">
            <a:off x="3761991" y="1358977"/>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a16:creationId xmlns:a16="http://schemas.microsoft.com/office/drawing/2014/main" id="{DE115225-CFB0-4004-A206-CB9F39CB2EA1}"/>
              </a:ext>
            </a:extLst>
          </p:cNvPr>
          <p:cNvGrpSpPr/>
          <p:nvPr/>
        </p:nvGrpSpPr>
        <p:grpSpPr>
          <a:xfrm>
            <a:off x="4662001" y="2618991"/>
            <a:ext cx="360004" cy="90003"/>
            <a:chOff x="7272030" y="3789004"/>
            <a:chExt cx="360004" cy="90003"/>
          </a:xfrm>
        </p:grpSpPr>
        <p:cxnSp>
          <p:nvCxnSpPr>
            <p:cNvPr id="13" name="直線コネクタ 12">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980D156E-BEF6-49E5-BEDB-E654CED1DF10}"/>
              </a:ext>
            </a:extLst>
          </p:cNvPr>
          <p:cNvCxnSpPr>
            <a:cxnSpLocks/>
          </p:cNvCxnSpPr>
          <p:nvPr/>
        </p:nvCxnSpPr>
        <p:spPr>
          <a:xfrm flipV="1">
            <a:off x="4842003" y="2438989"/>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DDF1097C-113D-483C-86EC-803338665142}"/>
              </a:ext>
            </a:extLst>
          </p:cNvPr>
          <p:cNvCxnSpPr>
            <a:cxnSpLocks/>
          </p:cNvCxnSpPr>
          <p:nvPr/>
        </p:nvCxnSpPr>
        <p:spPr>
          <a:xfrm flipV="1">
            <a:off x="4842003" y="2708992"/>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38D32D1F-3EE8-498D-B8DB-C60684B30C49}"/>
              </a:ext>
            </a:extLst>
          </p:cNvPr>
          <p:cNvGrpSpPr/>
          <p:nvPr/>
        </p:nvGrpSpPr>
        <p:grpSpPr>
          <a:xfrm>
            <a:off x="4662001" y="2978995"/>
            <a:ext cx="326325" cy="117556"/>
            <a:chOff x="2531592" y="5357236"/>
            <a:chExt cx="326325" cy="117556"/>
          </a:xfrm>
        </p:grpSpPr>
        <p:cxnSp>
          <p:nvCxnSpPr>
            <p:cNvPr id="18" name="直線コネクタ 17">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 name="直線コネクタ 20">
            <a:extLst>
              <a:ext uri="{FF2B5EF4-FFF2-40B4-BE49-F238E27FC236}">
                <a16:creationId xmlns:a16="http://schemas.microsoft.com/office/drawing/2014/main" id="{5C16D03F-62AA-402B-A9AC-ADCF020FC7D6}"/>
              </a:ext>
            </a:extLst>
          </p:cNvPr>
          <p:cNvCxnSpPr>
            <a:cxnSpLocks/>
          </p:cNvCxnSpPr>
          <p:nvPr/>
        </p:nvCxnSpPr>
        <p:spPr>
          <a:xfrm flipV="1">
            <a:off x="4301997" y="1718981"/>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87BB93E-CC11-4F3A-AF7A-8FAF390455E8}"/>
              </a:ext>
            </a:extLst>
          </p:cNvPr>
          <p:cNvCxnSpPr>
            <a:cxnSpLocks/>
          </p:cNvCxnSpPr>
          <p:nvPr/>
        </p:nvCxnSpPr>
        <p:spPr>
          <a:xfrm>
            <a:off x="3401987" y="1718981"/>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3" name="正方形/長方形 22"/>
          <p:cNvSpPr/>
          <p:nvPr/>
        </p:nvSpPr>
        <p:spPr>
          <a:xfrm>
            <a:off x="4572000" y="144897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word line</a:t>
            </a:r>
            <a:endParaRPr kumimoji="1" lang="ja-JP" altLang="en-US" sz="1600" dirty="0">
              <a:latin typeface="Arial Narrow" pitchFamily="34" charset="0"/>
            </a:endParaRPr>
          </a:p>
        </p:txBody>
      </p:sp>
      <p:sp>
        <p:nvSpPr>
          <p:cNvPr id="24" name="正方形/長方形 23"/>
          <p:cNvSpPr/>
          <p:nvPr/>
        </p:nvSpPr>
        <p:spPr>
          <a:xfrm>
            <a:off x="3491988" y="908972"/>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kumimoji="1" lang="en-US" altLang="ja-JP" sz="1600" dirty="0">
                <a:latin typeface="Arial Narrow" pitchFamily="34" charset="0"/>
              </a:rPr>
              <a:t>bit line</a:t>
            </a:r>
            <a:endParaRPr kumimoji="1" lang="ja-JP" altLang="en-US" sz="1600" dirty="0">
              <a:latin typeface="Arial Narrow" pitchFamily="34" charset="0"/>
            </a:endParaRPr>
          </a:p>
        </p:txBody>
      </p:sp>
    </p:spTree>
    <p:extLst>
      <p:ext uri="{BB962C8B-B14F-4D97-AF65-F5344CB8AC3E}">
        <p14:creationId xmlns:p14="http://schemas.microsoft.com/office/powerpoint/2010/main" val="13286410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09E12B7-1370-3346-B4E8-7093BA1662C1}"/>
              </a:ext>
            </a:extLst>
          </p:cNvPr>
          <p:cNvSpPr>
            <a:spLocks noGrp="1"/>
          </p:cNvSpPr>
          <p:nvPr>
            <p:ph type="title"/>
          </p:nvPr>
        </p:nvSpPr>
        <p:spPr/>
        <p:txBody>
          <a:bodyPr/>
          <a:lstStyle/>
          <a:p>
            <a:r>
              <a:rPr kumimoji="1" lang="ja-JP" altLang="en-US" dirty="0"/>
              <a:t>質問とか感想</a:t>
            </a:r>
            <a:endParaRPr lang="en-US" dirty="0"/>
          </a:p>
        </p:txBody>
      </p:sp>
    </p:spTree>
    <p:extLst>
      <p:ext uri="{BB962C8B-B14F-4D97-AF65-F5344CB8AC3E}">
        <p14:creationId xmlns:p14="http://schemas.microsoft.com/office/powerpoint/2010/main" val="115434529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sz="quarter" idx="10"/>
          </p:nvPr>
        </p:nvSpPr>
        <p:spPr>
          <a:xfrm>
            <a:off x="611956" y="1088974"/>
            <a:ext cx="7920088" cy="5220058"/>
          </a:xfrm>
        </p:spPr>
        <p:txBody>
          <a:bodyPr/>
          <a:lstStyle/>
          <a:p>
            <a:r>
              <a:rPr lang="ja-JP" altLang="en-US" dirty="0"/>
              <a:t>ハザードの発生回数を求めるときの、</a:t>
            </a:r>
            <a:r>
              <a:rPr lang="en-US" altLang="ja-JP" dirty="0" err="1"/>
              <a:t>Ni,Pi</a:t>
            </a:r>
            <a:r>
              <a:rPr lang="ja-JP" altLang="en-US" dirty="0"/>
              <a:t>の求め方がよくわかりませんでした。</a:t>
            </a:r>
            <a:endParaRPr lang="en-US" dirty="0"/>
          </a:p>
        </p:txBody>
      </p:sp>
    </p:spTree>
    <p:extLst>
      <p:ext uri="{BB962C8B-B14F-4D97-AF65-F5344CB8AC3E}">
        <p14:creationId xmlns:p14="http://schemas.microsoft.com/office/powerpoint/2010/main" val="8474074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45DCD-1616-E2C7-AA3E-00E38FB150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CFA9CC8-A6A4-1192-4150-A55C9E90F812}"/>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0531E17A-DD39-87CB-97E3-BD856304A153}"/>
              </a:ext>
            </a:extLst>
          </p:cNvPr>
          <p:cNvSpPr>
            <a:spLocks noGrp="1"/>
          </p:cNvSpPr>
          <p:nvPr>
            <p:ph sz="quarter" idx="10"/>
          </p:nvPr>
        </p:nvSpPr>
        <p:spPr>
          <a:xfrm>
            <a:off x="611956" y="1088974"/>
            <a:ext cx="7920088" cy="5220058"/>
          </a:xfrm>
        </p:spPr>
        <p:txBody>
          <a:bodyPr/>
          <a:lstStyle/>
          <a:p>
            <a:r>
              <a:rPr lang="ja-JP" altLang="en-US" dirty="0"/>
              <a:t>課題の</a:t>
            </a:r>
            <a:r>
              <a:rPr lang="en-US" altLang="ja-JP" dirty="0"/>
              <a:t>(2)</a:t>
            </a:r>
            <a:r>
              <a:rPr lang="ja-JP" altLang="en-US" dirty="0"/>
              <a:t>の結果は興味深いと思いました。性能が良いだけで最良のものとはいえないこともあるということを、実際に確かめることができて面白かったです。</a:t>
            </a:r>
            <a:endParaRPr lang="en-US" dirty="0"/>
          </a:p>
        </p:txBody>
      </p:sp>
    </p:spTree>
    <p:extLst>
      <p:ext uri="{BB962C8B-B14F-4D97-AF65-F5344CB8AC3E}">
        <p14:creationId xmlns:p14="http://schemas.microsoft.com/office/powerpoint/2010/main" val="1589865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7A735-A2FE-B368-7297-104FAEEB5FD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240E50-0211-F9EC-303F-CC17D5E33A36}"/>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A18206DF-8121-E5EA-CE93-0DDF4391DC8B}"/>
              </a:ext>
            </a:extLst>
          </p:cNvPr>
          <p:cNvSpPr>
            <a:spLocks noGrp="1"/>
          </p:cNvSpPr>
          <p:nvPr>
            <p:ph sz="quarter" idx="10"/>
          </p:nvPr>
        </p:nvSpPr>
        <p:spPr>
          <a:xfrm>
            <a:off x="611956" y="1088974"/>
            <a:ext cx="7920088" cy="5220058"/>
          </a:xfrm>
        </p:spPr>
        <p:txBody>
          <a:bodyPr/>
          <a:lstStyle/>
          <a:p>
            <a:r>
              <a:rPr lang="ja-JP" altLang="en-US" dirty="0"/>
              <a:t>食欲がなく、アイスばかり食べてしまいます・・・。</a:t>
            </a:r>
          </a:p>
          <a:p>
            <a:r>
              <a:rPr lang="ja-JP" altLang="en-US" dirty="0"/>
              <a:t>かき氷を食べに行きたいけれど、調べたお店は一つ</a:t>
            </a:r>
            <a:r>
              <a:rPr lang="en-US" altLang="ja-JP" dirty="0"/>
              <a:t>3000</a:t>
            </a:r>
            <a:r>
              <a:rPr lang="ja-JP" altLang="en-US" dirty="0"/>
              <a:t>円しました・・・。</a:t>
            </a:r>
          </a:p>
          <a:p>
            <a:endParaRPr lang="en-US" dirty="0"/>
          </a:p>
        </p:txBody>
      </p:sp>
    </p:spTree>
    <p:extLst>
      <p:ext uri="{BB962C8B-B14F-4D97-AF65-F5344CB8AC3E}">
        <p14:creationId xmlns:p14="http://schemas.microsoft.com/office/powerpoint/2010/main" val="20632677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02CBA-15E1-D0BF-4F79-4749399105D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50A396F-AEF9-05C5-5CF5-7D3DDB4F3BFF}"/>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661FC38E-D41D-2F19-C0D2-8F4283B33A43}"/>
              </a:ext>
            </a:extLst>
          </p:cNvPr>
          <p:cNvSpPr>
            <a:spLocks noGrp="1"/>
          </p:cNvSpPr>
          <p:nvPr>
            <p:ph sz="quarter" idx="10"/>
          </p:nvPr>
        </p:nvSpPr>
        <p:spPr>
          <a:xfrm>
            <a:off x="611956" y="1088974"/>
            <a:ext cx="7920088" cy="5220058"/>
          </a:xfrm>
        </p:spPr>
        <p:txBody>
          <a:bodyPr/>
          <a:lstStyle/>
          <a:p>
            <a:r>
              <a:rPr lang="ja-JP" altLang="en-US" dirty="0"/>
              <a:t>分子に理想</a:t>
            </a:r>
            <a:r>
              <a:rPr lang="en-US" altLang="ja-JP" dirty="0"/>
              <a:t>IPC</a:t>
            </a:r>
            <a:r>
              <a:rPr lang="ja-JP" altLang="en-US" dirty="0"/>
              <a:t>があって、分母のデータハザードの遅延と分岐ミスの遅延が邪魔しているように感じた。</a:t>
            </a:r>
            <a:endParaRPr lang="en-US" dirty="0"/>
          </a:p>
        </p:txBody>
      </p:sp>
    </p:spTree>
    <p:extLst>
      <p:ext uri="{BB962C8B-B14F-4D97-AF65-F5344CB8AC3E}">
        <p14:creationId xmlns:p14="http://schemas.microsoft.com/office/powerpoint/2010/main" val="31645999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6C1B4-8BC5-A8AC-D03E-1FF1C0CF472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1B36A5E-F1C7-4332-A26F-012EB003F488}"/>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BFF9A11A-B7A2-06B0-9B5C-B84467B3D722}"/>
              </a:ext>
            </a:extLst>
          </p:cNvPr>
          <p:cNvSpPr>
            <a:spLocks noGrp="1"/>
          </p:cNvSpPr>
          <p:nvPr>
            <p:ph sz="quarter" idx="10"/>
          </p:nvPr>
        </p:nvSpPr>
        <p:spPr>
          <a:xfrm>
            <a:off x="611956" y="1088974"/>
            <a:ext cx="7920088" cy="5220058"/>
          </a:xfrm>
        </p:spPr>
        <p:txBody>
          <a:bodyPr/>
          <a:lstStyle/>
          <a:p>
            <a:r>
              <a:rPr lang="ja-JP" altLang="en-US" dirty="0"/>
              <a:t>性能の進化の歴史が気になったので調べてみたところ、ベンチマークソフト</a:t>
            </a:r>
            <a:r>
              <a:rPr lang="en-US" altLang="ja-JP" dirty="0"/>
              <a:t>Cinebench</a:t>
            </a:r>
            <a:r>
              <a:rPr lang="ja-JP" altLang="en-US" dirty="0"/>
              <a:t>を使って</a:t>
            </a:r>
            <a:r>
              <a:rPr lang="en-US" altLang="ja-JP" dirty="0"/>
              <a:t>Intel</a:t>
            </a:r>
            <a:r>
              <a:rPr lang="ja-JP" altLang="en-US" dirty="0"/>
              <a:t>の</a:t>
            </a:r>
            <a:r>
              <a:rPr lang="en-US" altLang="ja-JP" dirty="0"/>
              <a:t>CPU</a:t>
            </a:r>
            <a:r>
              <a:rPr lang="ja-JP" altLang="en-US" dirty="0"/>
              <a:t>性能を比較した場合、</a:t>
            </a:r>
            <a:r>
              <a:rPr lang="en-US" altLang="ja-JP" dirty="0"/>
              <a:t>2006</a:t>
            </a:r>
            <a:r>
              <a:rPr lang="ja-JP" altLang="en-US" dirty="0"/>
              <a:t>年から</a:t>
            </a:r>
            <a:r>
              <a:rPr lang="en-US" altLang="ja-JP" dirty="0"/>
              <a:t>2013</a:t>
            </a:r>
            <a:r>
              <a:rPr lang="ja-JP" altLang="en-US" dirty="0"/>
              <a:t>年の間でシングルスレッドでは</a:t>
            </a:r>
            <a:r>
              <a:rPr lang="en-US" altLang="ja-JP" dirty="0"/>
              <a:t>2</a:t>
            </a:r>
            <a:r>
              <a:rPr lang="ja-JP" altLang="en-US" dirty="0"/>
              <a:t>倍、マルチスレッドでは</a:t>
            </a:r>
            <a:r>
              <a:rPr lang="en-US" altLang="ja-JP" dirty="0"/>
              <a:t>3</a:t>
            </a:r>
            <a:r>
              <a:rPr lang="ja-JP" altLang="en-US" dirty="0"/>
              <a:t>倍、性能が高速化しているらしく、</a:t>
            </a:r>
            <a:r>
              <a:rPr lang="en-US" altLang="ja-JP" dirty="0"/>
              <a:t>CPU</a:t>
            </a:r>
            <a:r>
              <a:rPr lang="ja-JP" altLang="en-US" dirty="0"/>
              <a:t>がそれだけ早くなると（動作の</a:t>
            </a:r>
            <a:r>
              <a:rPr lang="en-US" altLang="ja-JP" dirty="0"/>
              <a:t>CPU</a:t>
            </a:r>
            <a:r>
              <a:rPr lang="ja-JP" altLang="en-US" dirty="0"/>
              <a:t>依存率によっても変わるが）上の層での動きもかなり速くなったのかな思うとすごいなと思いました。</a:t>
            </a:r>
            <a:endParaRPr lang="en-US" dirty="0"/>
          </a:p>
        </p:txBody>
      </p:sp>
    </p:spTree>
    <p:extLst>
      <p:ext uri="{BB962C8B-B14F-4D97-AF65-F5344CB8AC3E}">
        <p14:creationId xmlns:p14="http://schemas.microsoft.com/office/powerpoint/2010/main" val="31569273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7067A-B660-9D7F-7D36-927C033D4AE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61FAE64-6909-9E5E-E1DB-C1108FD87B3E}"/>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3A14AC9A-7F76-5A9F-57E4-DDEF039BCFDE}"/>
              </a:ext>
            </a:extLst>
          </p:cNvPr>
          <p:cNvSpPr>
            <a:spLocks noGrp="1"/>
          </p:cNvSpPr>
          <p:nvPr>
            <p:ph sz="quarter" idx="10"/>
          </p:nvPr>
        </p:nvSpPr>
        <p:spPr>
          <a:xfrm>
            <a:off x="611956" y="1088974"/>
            <a:ext cx="7920088" cy="5220058"/>
          </a:xfrm>
        </p:spPr>
        <p:txBody>
          <a:bodyPr/>
          <a:lstStyle/>
          <a:p>
            <a:pPr lvl="1"/>
            <a:r>
              <a:rPr lang="ja-JP" altLang="en-US" dirty="0"/>
              <a:t>実行サイクル数の計算の式にはデータハザードと分岐命令の両方の情報を用いると思いますが、</a:t>
            </a:r>
          </a:p>
          <a:p>
            <a:pPr lvl="1"/>
            <a:r>
              <a:rPr lang="ja-JP" altLang="en-US" dirty="0"/>
              <a:t>実際の</a:t>
            </a:r>
            <a:r>
              <a:rPr lang="en-US" altLang="ja-JP" dirty="0"/>
              <a:t>IPC</a:t>
            </a:r>
            <a:r>
              <a:rPr lang="ja-JP" altLang="en-US" dirty="0"/>
              <a:t>を求める計算の式には分岐命令の情報のみを用いるのでしょうか。</a:t>
            </a:r>
          </a:p>
          <a:p>
            <a:pPr lvl="1"/>
            <a:r>
              <a:rPr lang="ja-JP" altLang="en-US" dirty="0"/>
              <a:t>第</a:t>
            </a:r>
            <a:r>
              <a:rPr lang="en-US" altLang="ja-JP" dirty="0"/>
              <a:t>8</a:t>
            </a:r>
            <a:r>
              <a:rPr lang="ja-JP" altLang="en-US" dirty="0"/>
              <a:t>回講義資料</a:t>
            </a:r>
            <a:r>
              <a:rPr lang="en-US" altLang="ja-JP" dirty="0"/>
              <a:t>p.47</a:t>
            </a:r>
            <a:r>
              <a:rPr lang="ja-JP" altLang="en-US" dirty="0"/>
              <a:t>の、データハザードの実行サイクルの増加のモデルの式に従って計算した結果と、</a:t>
            </a:r>
            <a:r>
              <a:rPr lang="en-US" altLang="ja-JP" dirty="0"/>
              <a:t>p.31</a:t>
            </a:r>
            <a:r>
              <a:rPr lang="ja-JP" altLang="en-US" dirty="0"/>
              <a:t>の、分岐予測ミスによる実行サイクルの増加のモデルの式に従って計算した結果を、</a:t>
            </a:r>
            <a:r>
              <a:rPr lang="en-US" altLang="ja-JP" dirty="0"/>
              <a:t>p.50</a:t>
            </a:r>
            <a:r>
              <a:rPr lang="ja-JP" altLang="en-US" dirty="0"/>
              <a:t>の式のように、理想的なサイクル数に足すことで、実行サイクル数は求めると思います。</a:t>
            </a:r>
          </a:p>
          <a:p>
            <a:pPr lvl="1"/>
            <a:r>
              <a:rPr lang="ja-JP" altLang="en-US" dirty="0"/>
              <a:t>一方で、実際の</a:t>
            </a:r>
            <a:r>
              <a:rPr lang="en-US" altLang="ja-JP" dirty="0"/>
              <a:t>IPC</a:t>
            </a:r>
            <a:r>
              <a:rPr lang="ja-JP" altLang="en-US" dirty="0"/>
              <a:t>を求める計算では、</a:t>
            </a:r>
            <a:r>
              <a:rPr lang="en-US" altLang="ja-JP" dirty="0"/>
              <a:t>p.34</a:t>
            </a:r>
            <a:r>
              <a:rPr lang="ja-JP" altLang="en-US" dirty="0"/>
              <a:t>の式のように、分岐命令の情報のみを用いており、データハザードの情報は用いていないように見えます。</a:t>
            </a:r>
          </a:p>
          <a:p>
            <a:pPr lvl="1"/>
            <a:r>
              <a:rPr lang="ja-JP" altLang="en-US" dirty="0"/>
              <a:t>実際の</a:t>
            </a:r>
            <a:r>
              <a:rPr lang="en-US" altLang="ja-JP" dirty="0"/>
              <a:t>IPC</a:t>
            </a:r>
            <a:r>
              <a:rPr lang="ja-JP" altLang="en-US" dirty="0"/>
              <a:t>を求める計算は、分岐命令の情報のみを用いる、という理解で合っているのでしょうか。</a:t>
            </a:r>
            <a:endParaRPr lang="en-US" dirty="0"/>
          </a:p>
        </p:txBody>
      </p:sp>
    </p:spTree>
    <p:extLst>
      <p:ext uri="{BB962C8B-B14F-4D97-AF65-F5344CB8AC3E}">
        <p14:creationId xmlns:p14="http://schemas.microsoft.com/office/powerpoint/2010/main" val="5420493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2DD21-5E7C-E9C7-597C-14ABE5B47FA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CC1F510-F59E-0F96-4A68-BCF8952789DC}"/>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D15E29A6-B776-A2E1-0266-9D4EAB7AAFD1}"/>
              </a:ext>
            </a:extLst>
          </p:cNvPr>
          <p:cNvSpPr>
            <a:spLocks noGrp="1"/>
          </p:cNvSpPr>
          <p:nvPr>
            <p:ph sz="quarter" idx="10"/>
          </p:nvPr>
        </p:nvSpPr>
        <p:spPr>
          <a:xfrm>
            <a:off x="611956" y="1088974"/>
            <a:ext cx="7920088" cy="5220058"/>
          </a:xfrm>
        </p:spPr>
        <p:txBody>
          <a:bodyPr/>
          <a:lstStyle/>
          <a:p>
            <a:r>
              <a:rPr lang="ja-JP" altLang="en-US" dirty="0"/>
              <a:t>課題</a:t>
            </a:r>
            <a:r>
              <a:rPr lang="en-US" altLang="ja-JP" dirty="0"/>
              <a:t>8</a:t>
            </a:r>
            <a:r>
              <a:rPr lang="ja-JP" altLang="en-US" dirty="0"/>
              <a:t>ですが、計算の結果、</a:t>
            </a:r>
            <a:r>
              <a:rPr lang="en-US" altLang="ja-JP" dirty="0"/>
              <a:t>3</a:t>
            </a:r>
            <a:r>
              <a:rPr lang="ja-JP" altLang="en-US" dirty="0"/>
              <a:t>つのうち</a:t>
            </a:r>
            <a:r>
              <a:rPr lang="en-US" altLang="ja-JP" dirty="0"/>
              <a:t>2</a:t>
            </a:r>
            <a:r>
              <a:rPr lang="ja-JP" altLang="en-US" dirty="0"/>
              <a:t>つの改良方針で、もとの</a:t>
            </a:r>
            <a:r>
              <a:rPr lang="en-US" altLang="ja-JP" dirty="0"/>
              <a:t>CPU</a:t>
            </a:r>
            <a:r>
              <a:rPr lang="ja-JP" altLang="en-US" dirty="0"/>
              <a:t>よりも、実行命令数が多く</a:t>
            </a:r>
            <a:r>
              <a:rPr lang="en-US" altLang="ja-JP" dirty="0"/>
              <a:t>(=</a:t>
            </a:r>
            <a:r>
              <a:rPr lang="ja-JP" altLang="en-US" dirty="0"/>
              <a:t>性能が高く</a:t>
            </a:r>
            <a:r>
              <a:rPr lang="en-US" altLang="ja-JP" dirty="0"/>
              <a:t>)</a:t>
            </a:r>
            <a:r>
              <a:rPr lang="ja-JP" altLang="en-US" dirty="0"/>
              <a:t>なりました。一方で、性能エネルギー比は、</a:t>
            </a:r>
            <a:r>
              <a:rPr lang="en-US" altLang="ja-JP" dirty="0"/>
              <a:t>3</a:t>
            </a:r>
            <a:r>
              <a:rPr lang="ja-JP" altLang="en-US" dirty="0"/>
              <a:t>つのどの改良方針よりも、もとの</a:t>
            </a:r>
            <a:r>
              <a:rPr lang="en-US" altLang="ja-JP" dirty="0"/>
              <a:t>CPU</a:t>
            </a:r>
            <a:r>
              <a:rPr lang="ja-JP" altLang="en-US" dirty="0"/>
              <a:t>の条件で、一番良くなりました。これは、理論上あり得る計算結果なのでしょうか。</a:t>
            </a:r>
          </a:p>
          <a:p>
            <a:r>
              <a:rPr lang="ja-JP" altLang="en-US" dirty="0"/>
              <a:t>一般的に</a:t>
            </a:r>
            <a:r>
              <a:rPr lang="en-US" altLang="ja-JP" dirty="0"/>
              <a:t>CPU</a:t>
            </a:r>
            <a:r>
              <a:rPr lang="ja-JP" altLang="en-US" dirty="0"/>
              <a:t>の”改良”は、性能エネルギー比を上げることではなく、実行命令数を増やす</a:t>
            </a:r>
            <a:r>
              <a:rPr lang="en-US" altLang="ja-JP" dirty="0"/>
              <a:t>(</a:t>
            </a:r>
            <a:r>
              <a:rPr lang="ja-JP" altLang="en-US" dirty="0"/>
              <a:t>性能を上げる</a:t>
            </a:r>
            <a:r>
              <a:rPr lang="en-US" altLang="ja-JP" dirty="0"/>
              <a:t>)</a:t>
            </a:r>
            <a:r>
              <a:rPr lang="ja-JP" altLang="en-US" dirty="0"/>
              <a:t>ことだけを指す、ということでしょうか。</a:t>
            </a:r>
          </a:p>
          <a:p>
            <a:r>
              <a:rPr lang="ja-JP" altLang="en-US" dirty="0"/>
              <a:t>感覚的には、実行命令数そのものだけでなく、性能エネルギー比も、”性能”や”改良”には重要な要素だと思うのですが、この文脈</a:t>
            </a:r>
            <a:r>
              <a:rPr lang="en-US" altLang="ja-JP" dirty="0"/>
              <a:t>•</a:t>
            </a:r>
            <a:r>
              <a:rPr lang="ja-JP" altLang="en-US" dirty="0"/>
              <a:t>分野において、どういう定義になっているのか、お聞きしたく思います。</a:t>
            </a:r>
            <a:endParaRPr lang="en-US" dirty="0"/>
          </a:p>
        </p:txBody>
      </p:sp>
    </p:spTree>
    <p:extLst>
      <p:ext uri="{BB962C8B-B14F-4D97-AF65-F5344CB8AC3E}">
        <p14:creationId xmlns:p14="http://schemas.microsoft.com/office/powerpoint/2010/main" val="23446416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E8058-CCEE-36F5-EABC-CD50F038100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6AAD98-AA60-F475-FA90-2BBC35B28090}"/>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C9492DD8-C7E7-4719-3C9C-B56F80CB1732}"/>
              </a:ext>
            </a:extLst>
          </p:cNvPr>
          <p:cNvSpPr>
            <a:spLocks noGrp="1"/>
          </p:cNvSpPr>
          <p:nvPr>
            <p:ph sz="quarter" idx="10"/>
          </p:nvPr>
        </p:nvSpPr>
        <p:spPr>
          <a:xfrm>
            <a:off x="611956" y="1088974"/>
            <a:ext cx="7920088" cy="5220058"/>
          </a:xfrm>
        </p:spPr>
        <p:txBody>
          <a:bodyPr/>
          <a:lstStyle/>
          <a:p>
            <a:r>
              <a:rPr lang="ja-JP" altLang="en-US" dirty="0"/>
              <a:t>理想的なモデルに対して、ハザードを考慮して計算していく流れは、熱力学で徐々に条件を変化させていく考え方に似ているところがあると感じました。</a:t>
            </a:r>
            <a:endParaRPr lang="en-US" dirty="0"/>
          </a:p>
        </p:txBody>
      </p:sp>
    </p:spTree>
    <p:extLst>
      <p:ext uri="{BB962C8B-B14F-4D97-AF65-F5344CB8AC3E}">
        <p14:creationId xmlns:p14="http://schemas.microsoft.com/office/powerpoint/2010/main" val="28456642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EB604-8D57-1E9E-0497-698C350DBDE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00F4239-A840-83E4-7D45-295ED41A4E8D}"/>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E4B6DECD-1366-C259-718B-7AB2C8363A03}"/>
              </a:ext>
            </a:extLst>
          </p:cNvPr>
          <p:cNvSpPr>
            <a:spLocks noGrp="1"/>
          </p:cNvSpPr>
          <p:nvPr>
            <p:ph sz="quarter" idx="10"/>
          </p:nvPr>
        </p:nvSpPr>
        <p:spPr>
          <a:xfrm>
            <a:off x="611956" y="1088974"/>
            <a:ext cx="7920088" cy="5220058"/>
          </a:xfrm>
        </p:spPr>
        <p:txBody>
          <a:bodyPr/>
          <a:lstStyle/>
          <a:p>
            <a:r>
              <a:rPr lang="ja-JP" altLang="en-US" dirty="0"/>
              <a:t>パイプラインが深い時ほど予測器の性能が</a:t>
            </a:r>
            <a:r>
              <a:rPr lang="en-US" altLang="ja-JP" dirty="0"/>
              <a:t>CPU</a:t>
            </a:r>
            <a:r>
              <a:rPr lang="ja-JP" altLang="en-US" dirty="0"/>
              <a:t>の性能を向上させる</a:t>
            </a:r>
            <a:r>
              <a:rPr lang="en-US" altLang="ja-JP" dirty="0"/>
              <a:t>1</a:t>
            </a:r>
            <a:r>
              <a:rPr lang="ja-JP" altLang="en-US" dirty="0"/>
              <a:t>つのカギになると思うが、パイプラインが深い＝それだけプログラムが複雑ということだと思うので、どのようにして予測器の的中率を上げるのかが気になった。</a:t>
            </a:r>
            <a:endParaRPr lang="en-US" dirty="0"/>
          </a:p>
        </p:txBody>
      </p:sp>
    </p:spTree>
    <p:extLst>
      <p:ext uri="{BB962C8B-B14F-4D97-AF65-F5344CB8AC3E}">
        <p14:creationId xmlns:p14="http://schemas.microsoft.com/office/powerpoint/2010/main" val="7516176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2E895-93DE-BA19-5259-E5E238F3A16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5338B87-8928-735E-3BB7-34B15A2E483C}"/>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B7BAAA4D-1357-9F09-EB9D-3247724857E9}"/>
              </a:ext>
            </a:extLst>
          </p:cNvPr>
          <p:cNvSpPr>
            <a:spLocks noGrp="1"/>
          </p:cNvSpPr>
          <p:nvPr>
            <p:ph sz="quarter" idx="10"/>
          </p:nvPr>
        </p:nvSpPr>
        <p:spPr>
          <a:xfrm>
            <a:off x="611956" y="1088974"/>
            <a:ext cx="7920088" cy="5220058"/>
          </a:xfrm>
        </p:spPr>
        <p:txBody>
          <a:bodyPr/>
          <a:lstStyle/>
          <a:p>
            <a:r>
              <a:rPr lang="ja-JP" altLang="ja-JP" dirty="0"/>
              <a:t>講義の最後の方で、Cでプログラムを書く際にエラーが出まくってもクラッシュしないのはO</a:t>
            </a:r>
            <a:r>
              <a:rPr lang="en-US" altLang="ja-JP" dirty="0"/>
              <a:t>S</a:t>
            </a:r>
            <a:r>
              <a:rPr lang="ja-JP" altLang="ja-JP" dirty="0"/>
              <a:t>機能が保護してくれているからという話が興味深かったです。私は当然、しょっちゅうエラープログラムを実行してしまい、処理が止まらなくなり、Ctr＋cを押してプログラムを終わらせるということをよくしているため、なるほどなと思いました。逆に他の言語で、こういったエラープログラムを書いても保護されない言語はあるのでしょうか？あったら、かなり危険だと思いますが</a:t>
            </a:r>
            <a:r>
              <a:rPr lang="en-US" altLang="ja-JP" dirty="0"/>
              <a:t>…</a:t>
            </a:r>
            <a:endParaRPr lang="en-US" dirty="0"/>
          </a:p>
        </p:txBody>
      </p:sp>
    </p:spTree>
    <p:extLst>
      <p:ext uri="{BB962C8B-B14F-4D97-AF65-F5344CB8AC3E}">
        <p14:creationId xmlns:p14="http://schemas.microsoft.com/office/powerpoint/2010/main" val="21285219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A3DA0-4050-8E9F-10FC-8266A1F61A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25C6C71-A09C-A111-944C-8E4102940820}"/>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9BEAAC23-F7FB-34DA-D58C-D1D1C02E9132}"/>
              </a:ext>
            </a:extLst>
          </p:cNvPr>
          <p:cNvSpPr>
            <a:spLocks noGrp="1"/>
          </p:cNvSpPr>
          <p:nvPr>
            <p:ph sz="quarter" idx="10"/>
          </p:nvPr>
        </p:nvSpPr>
        <p:spPr>
          <a:xfrm>
            <a:off x="611956" y="1088974"/>
            <a:ext cx="7920088" cy="5220058"/>
          </a:xfrm>
        </p:spPr>
        <p:txBody>
          <a:bodyPr/>
          <a:lstStyle/>
          <a:p>
            <a:r>
              <a:rPr lang="ja-JP" altLang="en-US" dirty="0"/>
              <a:t>「性能がいい」というと処理速度が速いものというイメージがありました。何を基準として性能の良さを定義しているのかなと思ったのですが、クロック周波数と</a:t>
            </a:r>
            <a:r>
              <a:rPr lang="en-US" altLang="ja-JP" dirty="0"/>
              <a:t>IPC</a:t>
            </a:r>
            <a:r>
              <a:rPr lang="ja-JP" altLang="en-US" dirty="0"/>
              <a:t>の掛け算で決まるということはわかりました。一般的に家庭用のコンピュータの性能もこれらの要素の掛け算で決まっているのでしょうか？</a:t>
            </a:r>
            <a:endParaRPr lang="en-US" dirty="0"/>
          </a:p>
        </p:txBody>
      </p:sp>
    </p:spTree>
    <p:extLst>
      <p:ext uri="{BB962C8B-B14F-4D97-AF65-F5344CB8AC3E}">
        <p14:creationId xmlns:p14="http://schemas.microsoft.com/office/powerpoint/2010/main" val="32087815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F64A5-EFA0-B165-725A-094B99DBDC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1E9B81-87A6-11AD-B5F7-C15F77D474A5}"/>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9B3D3D93-F4DA-33F5-0906-267BDAD2D510}"/>
              </a:ext>
            </a:extLst>
          </p:cNvPr>
          <p:cNvSpPr>
            <a:spLocks noGrp="1"/>
          </p:cNvSpPr>
          <p:nvPr>
            <p:ph sz="quarter" idx="10"/>
          </p:nvPr>
        </p:nvSpPr>
        <p:spPr>
          <a:xfrm>
            <a:off x="611956" y="1088974"/>
            <a:ext cx="7920088" cy="5220058"/>
          </a:xfrm>
        </p:spPr>
        <p:txBody>
          <a:bodyPr/>
          <a:lstStyle/>
          <a:p>
            <a:r>
              <a:rPr lang="ja-JP" altLang="en-US" dirty="0"/>
              <a:t>論理回路は練習問題作ってくれますか？出来れば</a:t>
            </a:r>
            <a:r>
              <a:rPr lang="en-US" altLang="ja-JP" dirty="0"/>
              <a:t>2.3</a:t>
            </a:r>
            <a:r>
              <a:rPr lang="ja-JP" altLang="en-US" dirty="0"/>
              <a:t>問あると嬉しいです。</a:t>
            </a:r>
            <a:endParaRPr lang="en-US" dirty="0"/>
          </a:p>
        </p:txBody>
      </p:sp>
    </p:spTree>
    <p:extLst>
      <p:ext uri="{BB962C8B-B14F-4D97-AF65-F5344CB8AC3E}">
        <p14:creationId xmlns:p14="http://schemas.microsoft.com/office/powerpoint/2010/main" val="1177311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EBAFF-9840-5F3E-F5D8-A719009811A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E8447F-4D1C-97BD-0050-4147A3B22911}"/>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0FBD9E0E-3847-375E-1EBA-0155490ABD71}"/>
              </a:ext>
            </a:extLst>
          </p:cNvPr>
          <p:cNvSpPr>
            <a:spLocks noGrp="1"/>
          </p:cNvSpPr>
          <p:nvPr>
            <p:ph sz="quarter" idx="10"/>
          </p:nvPr>
        </p:nvSpPr>
        <p:spPr>
          <a:xfrm>
            <a:off x="611956" y="1088974"/>
            <a:ext cx="7920088" cy="5220058"/>
          </a:xfrm>
        </p:spPr>
        <p:txBody>
          <a:bodyPr/>
          <a:lstStyle/>
          <a:p>
            <a:r>
              <a:rPr lang="ja-JP" altLang="en-US" dirty="0"/>
              <a:t>前回の内容について、フォワーディングがある場合、</a:t>
            </a:r>
            <a:r>
              <a:rPr lang="en-US" altLang="ja-JP" dirty="0" err="1"/>
              <a:t>add,sub</a:t>
            </a:r>
            <a:r>
              <a:rPr lang="ja-JP" altLang="en-US" dirty="0"/>
              <a:t>などの演算のときは</a:t>
            </a:r>
            <a:r>
              <a:rPr lang="en-US" altLang="ja-JP" dirty="0"/>
              <a:t>X</a:t>
            </a:r>
            <a:r>
              <a:rPr lang="ja-JP" altLang="en-US" dirty="0"/>
              <a:t>が空いたらすぐに</a:t>
            </a:r>
            <a:r>
              <a:rPr lang="en-US" altLang="ja-JP" dirty="0"/>
              <a:t>X</a:t>
            </a:r>
            <a:r>
              <a:rPr lang="ja-JP" altLang="en-US" dirty="0"/>
              <a:t>を行い、</a:t>
            </a:r>
            <a:r>
              <a:rPr lang="en-US" altLang="ja-JP" dirty="0"/>
              <a:t>ld</a:t>
            </a:r>
            <a:r>
              <a:rPr lang="ja-JP" altLang="en-US" dirty="0"/>
              <a:t>のときは</a:t>
            </a:r>
            <a:r>
              <a:rPr lang="en-US" altLang="ja-JP" dirty="0"/>
              <a:t>M</a:t>
            </a:r>
            <a:r>
              <a:rPr lang="ja-JP" altLang="en-US" dirty="0"/>
              <a:t>の後に</a:t>
            </a:r>
            <a:r>
              <a:rPr lang="en-US" altLang="ja-JP" dirty="0"/>
              <a:t>X</a:t>
            </a:r>
            <a:r>
              <a:rPr lang="ja-JP" altLang="en-US" dirty="0"/>
              <a:t>を行う。フォワーディングがない場合、</a:t>
            </a:r>
            <a:r>
              <a:rPr lang="en-US" altLang="ja-JP" dirty="0" err="1"/>
              <a:t>add,sub,ld</a:t>
            </a:r>
            <a:r>
              <a:rPr lang="ja-JP" altLang="en-US" dirty="0"/>
              <a:t>全て</a:t>
            </a:r>
            <a:r>
              <a:rPr lang="en-US" altLang="ja-JP" dirty="0"/>
              <a:t>W</a:t>
            </a:r>
            <a:r>
              <a:rPr lang="ja-JP" altLang="en-US" dirty="0"/>
              <a:t>の後に</a:t>
            </a:r>
            <a:r>
              <a:rPr lang="en-US" altLang="ja-JP" dirty="0"/>
              <a:t>X</a:t>
            </a:r>
            <a:r>
              <a:rPr lang="ja-JP" altLang="en-US" dirty="0"/>
              <a:t>を行うという認識で合っていますか？</a:t>
            </a:r>
            <a:endParaRPr lang="en-US" dirty="0"/>
          </a:p>
        </p:txBody>
      </p:sp>
    </p:spTree>
    <p:extLst>
      <p:ext uri="{BB962C8B-B14F-4D97-AF65-F5344CB8AC3E}">
        <p14:creationId xmlns:p14="http://schemas.microsoft.com/office/powerpoint/2010/main" val="2985563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B7166-1FEB-C20F-A390-C43DD17A6C8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F19616-EFF3-2789-9EAC-B6D30D92035A}"/>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6138BFAF-51D4-76DD-29A7-5F01CA4D48DA}"/>
              </a:ext>
            </a:extLst>
          </p:cNvPr>
          <p:cNvSpPr>
            <a:spLocks noGrp="1"/>
          </p:cNvSpPr>
          <p:nvPr>
            <p:ph sz="quarter" idx="10"/>
          </p:nvPr>
        </p:nvSpPr>
        <p:spPr>
          <a:xfrm>
            <a:off x="611956" y="1088974"/>
            <a:ext cx="7920088" cy="5220058"/>
          </a:xfrm>
        </p:spPr>
        <p:txBody>
          <a:bodyPr/>
          <a:lstStyle/>
          <a:p>
            <a:r>
              <a:rPr lang="ja-JP" altLang="en-US" dirty="0"/>
              <a:t>性能を数値化することで比較しやすくしていて感心しました。今までのパイプライン処理や分岐予測の話が回収されており、知識がつながって腑に落ちました。パイプライン、スーパースカラ、分岐予測器の改良の比較を実際に問題で解くことで多方面からのアプローチを検討することが大切なのを改めて実感しました。また設計する人によってどの方法を使い組み合わせるかで個性が出るなと思いました。</a:t>
            </a:r>
            <a:endParaRPr lang="en-US" dirty="0"/>
          </a:p>
        </p:txBody>
      </p:sp>
    </p:spTree>
    <p:extLst>
      <p:ext uri="{BB962C8B-B14F-4D97-AF65-F5344CB8AC3E}">
        <p14:creationId xmlns:p14="http://schemas.microsoft.com/office/powerpoint/2010/main" val="29118287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ADF35-8C72-6F8C-CCBE-8CECD9A112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1C0C68E-66C1-E95D-1FBE-A9CC3CFB831E}"/>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F9A46B98-5F4B-D9E8-6A8D-20E57176223A}"/>
              </a:ext>
            </a:extLst>
          </p:cNvPr>
          <p:cNvSpPr>
            <a:spLocks noGrp="1"/>
          </p:cNvSpPr>
          <p:nvPr>
            <p:ph sz="quarter" idx="10"/>
          </p:nvPr>
        </p:nvSpPr>
        <p:spPr>
          <a:xfrm>
            <a:off x="611956" y="1088974"/>
            <a:ext cx="7920088" cy="5220058"/>
          </a:xfrm>
        </p:spPr>
        <p:txBody>
          <a:bodyPr/>
          <a:lstStyle/>
          <a:p>
            <a:r>
              <a:rPr lang="ja-JP" altLang="en-US" dirty="0"/>
              <a:t>・</a:t>
            </a:r>
            <a:r>
              <a:rPr lang="en-US" altLang="ja-JP" dirty="0"/>
              <a:t>p51 </a:t>
            </a:r>
            <a:r>
              <a:rPr lang="en-US" altLang="ja-JP" dirty="0" err="1"/>
              <a:t>C_t</a:t>
            </a:r>
            <a:r>
              <a:rPr lang="en-US" altLang="ja-JP" dirty="0"/>
              <a:t>=0.25</a:t>
            </a:r>
            <a:r>
              <a:rPr lang="ja-JP" altLang="en-US" dirty="0"/>
              <a:t>はどこから出てきた値ですか？</a:t>
            </a:r>
            <a:r>
              <a:rPr lang="en-US" altLang="ja-JP" dirty="0"/>
              <a:t>base</a:t>
            </a:r>
            <a:r>
              <a:rPr lang="ja-JP" altLang="en-US" dirty="0"/>
              <a:t>の値を読んでいるなら、</a:t>
            </a:r>
            <a:r>
              <a:rPr lang="en-US" altLang="ja-JP" dirty="0" err="1"/>
              <a:t>C_t</a:t>
            </a:r>
            <a:r>
              <a:rPr lang="en-US" altLang="ja-JP" dirty="0"/>
              <a:t>=0.3</a:t>
            </a:r>
            <a:r>
              <a:rPr lang="ja-JP" altLang="en-US" dirty="0"/>
              <a:t>かなと思いました。</a:t>
            </a:r>
          </a:p>
          <a:p>
            <a:r>
              <a:rPr lang="ja-JP" altLang="en-US" dirty="0"/>
              <a:t>・ハザードを起こす命令の出現率やハザードの発生率はどうやって調べるのですか。</a:t>
            </a:r>
          </a:p>
          <a:p>
            <a:endParaRPr lang="en-US" dirty="0"/>
          </a:p>
        </p:txBody>
      </p:sp>
    </p:spTree>
    <p:extLst>
      <p:ext uri="{BB962C8B-B14F-4D97-AF65-F5344CB8AC3E}">
        <p14:creationId xmlns:p14="http://schemas.microsoft.com/office/powerpoint/2010/main" val="1132476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A241F-75C0-7058-EDAA-6F5636F3525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23216BB-A8AC-3BC8-F1FA-BDF0D7335203}"/>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D36A47F0-2F71-0223-99D8-7C1220480A3B}"/>
              </a:ext>
            </a:extLst>
          </p:cNvPr>
          <p:cNvSpPr>
            <a:spLocks noGrp="1"/>
          </p:cNvSpPr>
          <p:nvPr>
            <p:ph sz="quarter" idx="10"/>
          </p:nvPr>
        </p:nvSpPr>
        <p:spPr>
          <a:xfrm>
            <a:off x="611956" y="1088974"/>
            <a:ext cx="7920088" cy="5220058"/>
          </a:xfrm>
        </p:spPr>
        <p:txBody>
          <a:bodyPr/>
          <a:lstStyle/>
          <a:p>
            <a:r>
              <a:rPr lang="ja-JP" altLang="en-US" dirty="0"/>
              <a:t>・</a:t>
            </a:r>
            <a:r>
              <a:rPr lang="en-US" altLang="ja-JP" dirty="0"/>
              <a:t>zoom</a:t>
            </a:r>
            <a:r>
              <a:rPr lang="ja-JP" altLang="en-US" dirty="0"/>
              <a:t>に関する雑談ですが、中学生のとき、朝の</a:t>
            </a:r>
            <a:r>
              <a:rPr lang="en-US" altLang="ja-JP" dirty="0"/>
              <a:t>HR</a:t>
            </a:r>
            <a:r>
              <a:rPr lang="ja-JP" altLang="en-US" dirty="0"/>
              <a:t>を海から受けた子がいました。</a:t>
            </a:r>
          </a:p>
          <a:p>
            <a:endParaRPr lang="en-US" dirty="0"/>
          </a:p>
        </p:txBody>
      </p:sp>
    </p:spTree>
    <p:extLst>
      <p:ext uri="{BB962C8B-B14F-4D97-AF65-F5344CB8AC3E}">
        <p14:creationId xmlns:p14="http://schemas.microsoft.com/office/powerpoint/2010/main" val="8482040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039D5-61F1-ADC9-5704-80738F9ABB4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43D1B4E-6D63-B330-300E-5F02A5662C42}"/>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D71FEABB-3237-96C5-DD56-BFBE41C41ACB}"/>
              </a:ext>
            </a:extLst>
          </p:cNvPr>
          <p:cNvSpPr>
            <a:spLocks noGrp="1"/>
          </p:cNvSpPr>
          <p:nvPr>
            <p:ph sz="quarter" idx="10"/>
          </p:nvPr>
        </p:nvSpPr>
        <p:spPr>
          <a:xfrm>
            <a:off x="611956" y="1088974"/>
            <a:ext cx="7920088" cy="5220058"/>
          </a:xfrm>
        </p:spPr>
        <p:txBody>
          <a:bodyPr/>
          <a:lstStyle/>
          <a:p>
            <a:r>
              <a:rPr lang="ja-JP" altLang="en-US" dirty="0"/>
              <a:t>ハザードの辺りがよく分からなかったのですが、演習問題の例だと</a:t>
            </a:r>
            <a:r>
              <a:rPr lang="en-US" altLang="ja-JP" dirty="0"/>
              <a:t>0.3</a:t>
            </a:r>
            <a:r>
              <a:rPr lang="ja-JP" altLang="en-US" dirty="0"/>
              <a:t>の確率で</a:t>
            </a:r>
            <a:r>
              <a:rPr lang="en-US" altLang="ja-JP" dirty="0"/>
              <a:t>1</a:t>
            </a:r>
            <a:r>
              <a:rPr lang="ja-JP" altLang="en-US" dirty="0"/>
              <a:t>サイクル増えてしまうということであっていますか？</a:t>
            </a:r>
            <a:endParaRPr lang="en-US" dirty="0"/>
          </a:p>
        </p:txBody>
      </p:sp>
    </p:spTree>
    <p:extLst>
      <p:ext uri="{BB962C8B-B14F-4D97-AF65-F5344CB8AC3E}">
        <p14:creationId xmlns:p14="http://schemas.microsoft.com/office/powerpoint/2010/main" val="2860377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1866C-C0A9-2EF7-A770-A8D8D4575BC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7C7446-94B3-EEAF-D160-E389E343394B}"/>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D2505468-D24C-863E-ADE3-28E2C4B7CBA8}"/>
              </a:ext>
            </a:extLst>
          </p:cNvPr>
          <p:cNvSpPr>
            <a:spLocks noGrp="1"/>
          </p:cNvSpPr>
          <p:nvPr>
            <p:ph sz="quarter" idx="10"/>
          </p:nvPr>
        </p:nvSpPr>
        <p:spPr>
          <a:xfrm>
            <a:off x="611956" y="1088974"/>
            <a:ext cx="7920088" cy="5220058"/>
          </a:xfrm>
        </p:spPr>
        <p:txBody>
          <a:bodyPr/>
          <a:lstStyle/>
          <a:p>
            <a:r>
              <a:rPr lang="ja-JP" altLang="en-US" dirty="0"/>
              <a:t>授業スライドをタブレットで閲覧しているのですが、第</a:t>
            </a:r>
            <a:r>
              <a:rPr lang="en-US" altLang="ja-JP" dirty="0"/>
              <a:t>8</a:t>
            </a:r>
            <a:r>
              <a:rPr lang="ja-JP" altLang="en-US" dirty="0"/>
              <a:t>回のスライドは近年稀に見るほどの大バグを起こしてました</a:t>
            </a:r>
            <a:r>
              <a:rPr lang="en-US" altLang="ja-JP" dirty="0"/>
              <a:t>……</a:t>
            </a:r>
          </a:p>
          <a:p>
            <a:r>
              <a:rPr lang="ja-JP" altLang="en-US" dirty="0"/>
              <a:t>重要なとこに限ってなんも見えないという状況で、いい加減タブレットで見るのを諦めるべきかと思い知らされました</a:t>
            </a:r>
            <a:r>
              <a:rPr lang="en-US" altLang="ja-JP" dirty="0"/>
              <a:t>……</a:t>
            </a:r>
          </a:p>
          <a:p>
            <a:r>
              <a:rPr lang="ja-JP" altLang="en-US" dirty="0"/>
              <a:t>ただ私はノートパソコン持ってなくて</a:t>
            </a:r>
            <a:r>
              <a:rPr lang="en-US" altLang="ja-JP" dirty="0"/>
              <a:t>………</a:t>
            </a:r>
            <a:r>
              <a:rPr lang="ja-JP" altLang="en-US" dirty="0"/>
              <a:t>どう対処しようか検討中です</a:t>
            </a:r>
            <a:r>
              <a:rPr lang="en-US" altLang="ja-JP" dirty="0"/>
              <a:t>……</a:t>
            </a:r>
          </a:p>
          <a:p>
            <a:endParaRPr lang="en-US" dirty="0"/>
          </a:p>
        </p:txBody>
      </p:sp>
    </p:spTree>
    <p:extLst>
      <p:ext uri="{BB962C8B-B14F-4D97-AF65-F5344CB8AC3E}">
        <p14:creationId xmlns:p14="http://schemas.microsoft.com/office/powerpoint/2010/main" val="16307914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98CBC-DCE9-F644-6CDF-F008E89D2AF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6171F24-95E5-0FD3-6196-24244E678BE8}"/>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A7C71AA1-52AC-B81F-DEA3-E6AEBCABD3D0}"/>
              </a:ext>
            </a:extLst>
          </p:cNvPr>
          <p:cNvSpPr>
            <a:spLocks noGrp="1"/>
          </p:cNvSpPr>
          <p:nvPr>
            <p:ph sz="quarter" idx="10"/>
          </p:nvPr>
        </p:nvSpPr>
        <p:spPr>
          <a:xfrm>
            <a:off x="611956" y="1088974"/>
            <a:ext cx="7920088" cy="5220058"/>
          </a:xfrm>
        </p:spPr>
        <p:txBody>
          <a:bodyPr/>
          <a:lstStyle/>
          <a:p>
            <a:r>
              <a:rPr lang="ja-JP" altLang="en-US" dirty="0"/>
              <a:t>スライド</a:t>
            </a:r>
            <a:r>
              <a:rPr lang="en-US" altLang="ja-JP" dirty="0"/>
              <a:t>43</a:t>
            </a:r>
            <a:r>
              <a:rPr lang="ja-JP" altLang="en-US" dirty="0"/>
              <a:t>ページの、「パイプライン段数は、理想的なパイプラインではほとんど性能に影響しない」の意味がよくわからなかったので、もう一度教えていただきたいです。パイプライン段数が増えれば、クロック周波数が大きくなるので性能は上がるのではないのでしょうか。</a:t>
            </a:r>
            <a:endParaRPr lang="en-US" dirty="0"/>
          </a:p>
        </p:txBody>
      </p:sp>
    </p:spTree>
    <p:extLst>
      <p:ext uri="{BB962C8B-B14F-4D97-AF65-F5344CB8AC3E}">
        <p14:creationId xmlns:p14="http://schemas.microsoft.com/office/powerpoint/2010/main" val="41142615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775B0-A2E9-DF10-2A10-87FB58150BD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10DC27-4223-A3E4-1817-2932EC91462E}"/>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A21988F6-7F88-D367-8F31-834D4712DF41}"/>
              </a:ext>
            </a:extLst>
          </p:cNvPr>
          <p:cNvSpPr>
            <a:spLocks noGrp="1"/>
          </p:cNvSpPr>
          <p:nvPr>
            <p:ph sz="quarter" idx="10"/>
          </p:nvPr>
        </p:nvSpPr>
        <p:spPr>
          <a:xfrm>
            <a:off x="611956" y="1088974"/>
            <a:ext cx="7920088" cy="5220058"/>
          </a:xfrm>
        </p:spPr>
        <p:txBody>
          <a:bodyPr/>
          <a:lstStyle/>
          <a:p>
            <a:r>
              <a:rPr lang="ja-JP" altLang="en-US" dirty="0"/>
              <a:t>今回の授業の中では、予測ミスによって生まれる無駄な時間はかなり多いということが印象的だった。予測ミス率</a:t>
            </a:r>
            <a:r>
              <a:rPr lang="en-US" altLang="ja-JP" dirty="0"/>
              <a:t>0.2</a:t>
            </a:r>
            <a:r>
              <a:rPr lang="ja-JP" altLang="en-US" dirty="0"/>
              <a:t>で</a:t>
            </a:r>
            <a:r>
              <a:rPr lang="en-US" altLang="ja-JP" dirty="0"/>
              <a:t>10</a:t>
            </a:r>
            <a:r>
              <a:rPr lang="ja-JP" altLang="en-US" dirty="0"/>
              <a:t>段パイプだと全体の約</a:t>
            </a:r>
            <a:r>
              <a:rPr lang="en-US" altLang="ja-JP" dirty="0"/>
              <a:t>3</a:t>
            </a:r>
            <a:r>
              <a:rPr lang="ja-JP" altLang="en-US" dirty="0"/>
              <a:t>割の時間が無駄な実行の時間だということを知った時はとても驚き、予測器の強化の重要性を実感した。一方で、正規化の意味を知らなかったため、</a:t>
            </a:r>
            <a:r>
              <a:rPr lang="en-US" altLang="ja-JP" dirty="0"/>
              <a:t>IPC</a:t>
            </a:r>
            <a:r>
              <a:rPr lang="ja-JP" altLang="en-US" dirty="0"/>
              <a:t>の式があまりよくわからなかった。</a:t>
            </a:r>
            <a:endParaRPr lang="en-US" dirty="0"/>
          </a:p>
        </p:txBody>
      </p:sp>
    </p:spTree>
    <p:extLst>
      <p:ext uri="{BB962C8B-B14F-4D97-AF65-F5344CB8AC3E}">
        <p14:creationId xmlns:p14="http://schemas.microsoft.com/office/powerpoint/2010/main" val="31217073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5F1F0-F534-46A1-A7D3-7CD230F26BE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6A7E12-B0D7-75B0-C64E-A34F5C7E69B9}"/>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69995577-F0B3-C35D-5167-58619B6F223B}"/>
              </a:ext>
            </a:extLst>
          </p:cNvPr>
          <p:cNvSpPr>
            <a:spLocks noGrp="1"/>
          </p:cNvSpPr>
          <p:nvPr>
            <p:ph sz="quarter" idx="10"/>
          </p:nvPr>
        </p:nvSpPr>
        <p:spPr>
          <a:xfrm>
            <a:off x="611956" y="1088974"/>
            <a:ext cx="7920088" cy="5220058"/>
          </a:xfrm>
        </p:spPr>
        <p:txBody>
          <a:bodyPr/>
          <a:lstStyle/>
          <a:p>
            <a:r>
              <a:rPr lang="ja-JP" altLang="en-US" dirty="0"/>
              <a:t>課題</a:t>
            </a:r>
            <a:r>
              <a:rPr lang="en-US" altLang="ja-JP" dirty="0"/>
              <a:t>7</a:t>
            </a:r>
            <a:r>
              <a:rPr lang="ja-JP" altLang="en-US" dirty="0"/>
              <a:t>の</a:t>
            </a:r>
            <a:r>
              <a:rPr lang="en-US" altLang="ja-JP" dirty="0"/>
              <a:t>(1)</a:t>
            </a:r>
            <a:r>
              <a:rPr lang="ja-JP" altLang="en-US" dirty="0"/>
              <a:t>と</a:t>
            </a:r>
            <a:r>
              <a:rPr lang="en-US" altLang="ja-JP" dirty="0"/>
              <a:t>(3)</a:t>
            </a:r>
            <a:r>
              <a:rPr lang="ja-JP" altLang="en-US" dirty="0"/>
              <a:t>について、</a:t>
            </a:r>
            <a:r>
              <a:rPr lang="en-US" altLang="ja-JP" dirty="0"/>
              <a:t>(1)</a:t>
            </a:r>
            <a:r>
              <a:rPr lang="ja-JP" altLang="en-US" dirty="0"/>
              <a:t>では単位時間を</a:t>
            </a:r>
            <a:r>
              <a:rPr lang="en-US" altLang="ja-JP" dirty="0"/>
              <a:t>1</a:t>
            </a:r>
            <a:r>
              <a:rPr lang="ja-JP" altLang="en-US" dirty="0"/>
              <a:t>サイクルの実行時間で割り、</a:t>
            </a:r>
            <a:r>
              <a:rPr lang="en-US" altLang="ja-JP" dirty="0"/>
              <a:t>(3)</a:t>
            </a:r>
            <a:r>
              <a:rPr lang="ja-JP" altLang="en-US" dirty="0"/>
              <a:t>では</a:t>
            </a:r>
            <a:r>
              <a:rPr lang="en-US" altLang="ja-JP" dirty="0"/>
              <a:t>1</a:t>
            </a:r>
            <a:r>
              <a:rPr lang="ja-JP" altLang="en-US" dirty="0"/>
              <a:t>ステージの実行時間で割るところが理解できていませんでした。今回</a:t>
            </a:r>
            <a:r>
              <a:rPr lang="en-US" altLang="ja-JP" dirty="0"/>
              <a:t>IPC</a:t>
            </a:r>
            <a:r>
              <a:rPr lang="ja-JP" altLang="en-US" dirty="0"/>
              <a:t>は同様に</a:t>
            </a:r>
            <a:r>
              <a:rPr lang="en-US" altLang="ja-JP" dirty="0"/>
              <a:t>1</a:t>
            </a:r>
            <a:r>
              <a:rPr lang="ja-JP" altLang="en-US" dirty="0"/>
              <a:t>命令 </a:t>
            </a:r>
            <a:r>
              <a:rPr lang="en-US" altLang="ja-JP" dirty="0"/>
              <a:t>/ 1</a:t>
            </a:r>
            <a:r>
              <a:rPr lang="ja-JP" altLang="en-US" dirty="0"/>
              <a:t>サイクル、周波数は計算式が異なるということが分かりましたが、シングル・サイクル・プロセッサのみ周波数を</a:t>
            </a:r>
            <a:r>
              <a:rPr lang="en-US" altLang="ja-JP" dirty="0"/>
              <a:t>1</a:t>
            </a:r>
            <a:r>
              <a:rPr lang="ja-JP" altLang="en-US" dirty="0"/>
              <a:t>サイクルの実行時間を基に考えるというのがなぜなのか疑問に感じました。</a:t>
            </a:r>
            <a:endParaRPr lang="en-US" dirty="0"/>
          </a:p>
        </p:txBody>
      </p:sp>
    </p:spTree>
    <p:extLst>
      <p:ext uri="{BB962C8B-B14F-4D97-AF65-F5344CB8AC3E}">
        <p14:creationId xmlns:p14="http://schemas.microsoft.com/office/powerpoint/2010/main" val="4037685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2F27F-67EA-F689-C6DF-B10ABEEFF5C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D59CED1-DA14-4673-F18A-ECB5305B28AC}"/>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F0AC0187-6D73-0DE8-7315-4DDC060F2631}"/>
              </a:ext>
            </a:extLst>
          </p:cNvPr>
          <p:cNvSpPr>
            <a:spLocks noGrp="1"/>
          </p:cNvSpPr>
          <p:nvPr>
            <p:ph sz="quarter" idx="10"/>
          </p:nvPr>
        </p:nvSpPr>
        <p:spPr>
          <a:xfrm>
            <a:off x="611956" y="1088974"/>
            <a:ext cx="7920088" cy="5220058"/>
          </a:xfrm>
        </p:spPr>
        <p:txBody>
          <a:bodyPr/>
          <a:lstStyle/>
          <a:p>
            <a:r>
              <a:rPr lang="ja-JP" altLang="en-US" dirty="0"/>
              <a:t>シングルサイクルプロセッサにおいては</a:t>
            </a:r>
            <a:r>
              <a:rPr lang="en-US" altLang="ja-JP" dirty="0"/>
              <a:t>FDXMW</a:t>
            </a:r>
            <a:r>
              <a:rPr lang="ja-JP" altLang="en-US" dirty="0"/>
              <a:t>の１連で</a:t>
            </a:r>
            <a:r>
              <a:rPr lang="en-US" altLang="ja-JP" dirty="0"/>
              <a:t>1cycle</a:t>
            </a:r>
            <a:r>
              <a:rPr lang="ja-JP" altLang="en-US" dirty="0"/>
              <a:t>であるのに、パイプラインでは</a:t>
            </a:r>
            <a:r>
              <a:rPr lang="en-US" altLang="ja-JP" dirty="0"/>
              <a:t>F,D,X,M,W</a:t>
            </a:r>
            <a:r>
              <a:rPr lang="ja-JP" altLang="en-US" dirty="0"/>
              <a:t>それぞれで</a:t>
            </a:r>
            <a:r>
              <a:rPr lang="en-US" altLang="ja-JP" dirty="0"/>
              <a:t>1cycle</a:t>
            </a:r>
            <a:r>
              <a:rPr lang="ja-JP" altLang="en-US" dirty="0"/>
              <a:t>と捉えるのはなぜでしょうか。どうしてサイクルの長さが変わるのかがわかりません。</a:t>
            </a:r>
            <a:endParaRPr lang="en-US" dirty="0"/>
          </a:p>
        </p:txBody>
      </p:sp>
    </p:spTree>
    <p:extLst>
      <p:ext uri="{BB962C8B-B14F-4D97-AF65-F5344CB8AC3E}">
        <p14:creationId xmlns:p14="http://schemas.microsoft.com/office/powerpoint/2010/main" val="4282396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14609-E116-1C92-DFDF-CBAE9C2F17C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96D4D95-ABC9-EDE1-E40D-C4A07AAA09B6}"/>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655C76B9-16C3-65F5-80EB-B346C5DF936E}"/>
              </a:ext>
            </a:extLst>
          </p:cNvPr>
          <p:cNvSpPr>
            <a:spLocks noGrp="1"/>
          </p:cNvSpPr>
          <p:nvPr>
            <p:ph sz="quarter" idx="10"/>
          </p:nvPr>
        </p:nvSpPr>
        <p:spPr>
          <a:xfrm>
            <a:off x="611956" y="1088974"/>
            <a:ext cx="7920088" cy="5220058"/>
          </a:xfrm>
        </p:spPr>
        <p:txBody>
          <a:bodyPr/>
          <a:lstStyle/>
          <a:p>
            <a:r>
              <a:rPr lang="ja-JP" altLang="en-US" dirty="0"/>
              <a:t>第</a:t>
            </a:r>
            <a:r>
              <a:rPr lang="en-US" altLang="ja-JP" dirty="0"/>
              <a:t>7</a:t>
            </a:r>
            <a:r>
              <a:rPr lang="ja-JP" altLang="en-US" dirty="0"/>
              <a:t>回の課題について質問です。第</a:t>
            </a:r>
            <a:r>
              <a:rPr lang="en-US" altLang="ja-JP" dirty="0"/>
              <a:t>8</a:t>
            </a:r>
            <a:r>
              <a:rPr lang="ja-JP" altLang="en-US" dirty="0"/>
              <a:t>回講義資料の</a:t>
            </a:r>
            <a:r>
              <a:rPr lang="en-US" altLang="ja-JP" dirty="0"/>
              <a:t>27</a:t>
            </a:r>
            <a:r>
              <a:rPr lang="ja-JP" altLang="en-US" dirty="0"/>
              <a:t>ページの図では</a:t>
            </a:r>
            <a:r>
              <a:rPr lang="en-US" altLang="ja-JP" dirty="0"/>
              <a:t>4</a:t>
            </a:r>
            <a:r>
              <a:rPr lang="ja-JP" altLang="en-US" dirty="0"/>
              <a:t>命令分が取り消してやり直されているため</a:t>
            </a:r>
            <a:r>
              <a:rPr lang="en-US" altLang="ja-JP" dirty="0"/>
              <a:t>4</a:t>
            </a:r>
            <a:r>
              <a:rPr lang="ja-JP" altLang="en-US" dirty="0"/>
              <a:t>サイクル分遅れていると書いてありますが、第</a:t>
            </a:r>
            <a:r>
              <a:rPr lang="en-US" altLang="ja-JP" dirty="0"/>
              <a:t>7</a:t>
            </a:r>
            <a:r>
              <a:rPr lang="ja-JP" altLang="en-US" dirty="0"/>
              <a:t>回の課題の</a:t>
            </a:r>
            <a:r>
              <a:rPr lang="en-US" altLang="ja-JP" dirty="0"/>
              <a:t>(7)(</a:t>
            </a:r>
            <a:r>
              <a:rPr lang="ja-JP" altLang="en-US" dirty="0"/>
              <a:t>第</a:t>
            </a:r>
            <a:r>
              <a:rPr lang="en-US" altLang="ja-JP" dirty="0"/>
              <a:t>8</a:t>
            </a:r>
            <a:r>
              <a:rPr lang="ja-JP" altLang="en-US" dirty="0"/>
              <a:t>回の資料の</a:t>
            </a:r>
            <a:r>
              <a:rPr lang="en-US" altLang="ja-JP" dirty="0"/>
              <a:t>8</a:t>
            </a:r>
            <a:r>
              <a:rPr lang="ja-JP" altLang="en-US" dirty="0"/>
              <a:t>ページで解説されている</a:t>
            </a:r>
            <a:r>
              <a:rPr lang="en-US" altLang="ja-JP" dirty="0"/>
              <a:t>)</a:t>
            </a:r>
            <a:r>
              <a:rPr lang="ja-JP" altLang="en-US" dirty="0"/>
              <a:t>では、</a:t>
            </a:r>
            <a:r>
              <a:rPr lang="en-US" altLang="ja-JP" dirty="0"/>
              <a:t>LABEL</a:t>
            </a:r>
            <a:r>
              <a:rPr lang="ja-JP" altLang="en-US" dirty="0"/>
              <a:t>に飛んだ後に再度やり直したとしても、</a:t>
            </a:r>
            <a:r>
              <a:rPr lang="en-US" altLang="ja-JP" dirty="0"/>
              <a:t>LABEL</a:t>
            </a:r>
            <a:r>
              <a:rPr lang="ja-JP" altLang="en-US" dirty="0"/>
              <a:t>以降の命令の数が</a:t>
            </a:r>
            <a:r>
              <a:rPr lang="en-US" altLang="ja-JP" dirty="0"/>
              <a:t>4</a:t>
            </a:r>
            <a:r>
              <a:rPr lang="ja-JP" altLang="en-US" dirty="0"/>
              <a:t>より少ないので遅れは</a:t>
            </a:r>
            <a:r>
              <a:rPr lang="en-US" altLang="ja-JP" dirty="0"/>
              <a:t>4</a:t>
            </a:r>
            <a:r>
              <a:rPr lang="ja-JP" altLang="en-US" dirty="0"/>
              <a:t>サイクル以下になると思ったのですが、そうではないのでしょうか。</a:t>
            </a:r>
            <a:endParaRPr lang="en-US" dirty="0"/>
          </a:p>
        </p:txBody>
      </p:sp>
    </p:spTree>
    <p:extLst>
      <p:ext uri="{BB962C8B-B14F-4D97-AF65-F5344CB8AC3E}">
        <p14:creationId xmlns:p14="http://schemas.microsoft.com/office/powerpoint/2010/main" val="34040331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A5A6D-8245-8ABE-4B10-F69AD9CD70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AD40B5-D49C-C9AD-9908-6055C99C3E44}"/>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118757F7-1E00-E146-D898-992DD42811F2}"/>
              </a:ext>
            </a:extLst>
          </p:cNvPr>
          <p:cNvSpPr>
            <a:spLocks noGrp="1"/>
          </p:cNvSpPr>
          <p:nvPr>
            <p:ph sz="quarter" idx="10"/>
          </p:nvPr>
        </p:nvSpPr>
        <p:spPr>
          <a:xfrm>
            <a:off x="611956" y="1088974"/>
            <a:ext cx="7920088" cy="5220058"/>
          </a:xfrm>
        </p:spPr>
        <p:txBody>
          <a:bodyPr/>
          <a:lstStyle/>
          <a:p>
            <a:r>
              <a:rPr lang="ja-JP" altLang="en-US" dirty="0"/>
              <a:t>課題について、パイプライン段数を増やしたら、その分クロック周波数も同じ倍率だけ上げていいのでしょうか</a:t>
            </a:r>
            <a:endParaRPr lang="en-US" dirty="0"/>
          </a:p>
        </p:txBody>
      </p:sp>
    </p:spTree>
    <p:extLst>
      <p:ext uri="{BB962C8B-B14F-4D97-AF65-F5344CB8AC3E}">
        <p14:creationId xmlns:p14="http://schemas.microsoft.com/office/powerpoint/2010/main" val="32549931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BFB1F-9210-A442-896E-96993ABAAC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DDC8574-FD96-5A84-EB80-159B59518BE6}"/>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DA9ADBC-2817-1435-9B41-C9CAE113D13F}"/>
              </a:ext>
            </a:extLst>
          </p:cNvPr>
          <p:cNvSpPr>
            <a:spLocks noGrp="1"/>
          </p:cNvSpPr>
          <p:nvPr>
            <p:ph sz="quarter" idx="10"/>
          </p:nvPr>
        </p:nvSpPr>
        <p:spPr>
          <a:xfrm>
            <a:off x="611956" y="1088974"/>
            <a:ext cx="7920088" cy="5220058"/>
          </a:xfrm>
        </p:spPr>
        <p:txBody>
          <a:bodyPr/>
          <a:lstStyle/>
          <a:p>
            <a:r>
              <a:rPr lang="ja-JP" altLang="en-US" dirty="0"/>
              <a:t>分岐予測器のコンテスト？優勝おめでとうございます！</a:t>
            </a:r>
            <a:endParaRPr lang="en-US" altLang="ja-JP" dirty="0"/>
          </a:p>
          <a:p>
            <a:r>
              <a:rPr lang="ja-JP" altLang="en-US" dirty="0"/>
              <a:t>分岐予測のコンテストで優勝できるなんて本当に凄いです</a:t>
            </a:r>
            <a:r>
              <a:rPr lang="en-US" altLang="ja-JP" dirty="0"/>
              <a:t>!!</a:t>
            </a:r>
            <a:r>
              <a:rPr lang="ja-JP" altLang="en-US" dirty="0"/>
              <a:t>おめでとうございます</a:t>
            </a:r>
            <a:r>
              <a:rPr lang="en-US" altLang="ja-JP" dirty="0"/>
              <a:t>!!!</a:t>
            </a:r>
            <a:endParaRPr lang="en-US" dirty="0"/>
          </a:p>
        </p:txBody>
      </p:sp>
    </p:spTree>
    <p:extLst>
      <p:ext uri="{BB962C8B-B14F-4D97-AF65-F5344CB8AC3E}">
        <p14:creationId xmlns:p14="http://schemas.microsoft.com/office/powerpoint/2010/main" val="7166447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コーパス爆発の対策</Template>
  <TotalTime>0</TotalTime>
  <Words>6926</Words>
  <Application>Microsoft Office PowerPoint</Application>
  <PresentationFormat>画面に合わせる (4:3)</PresentationFormat>
  <Paragraphs>984</Paragraphs>
  <Slides>109</Slides>
  <Notes>0</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109</vt:i4>
      </vt:variant>
    </vt:vector>
  </HeadingPairs>
  <TitlesOfParts>
    <vt:vector size="121" baseType="lpstr">
      <vt:lpstr>HG丸ｺﾞｼｯｸM-PRO</vt:lpstr>
      <vt:lpstr>MeiryoKe_PGothic</vt:lpstr>
      <vt:lpstr>メイリオ</vt:lpstr>
      <vt:lpstr>游ゴシック</vt:lpstr>
      <vt:lpstr>Arial Narrow</vt:lpstr>
      <vt:lpstr>Calibri</vt:lpstr>
      <vt:lpstr>Cambria Math</vt:lpstr>
      <vt:lpstr>Consolas</vt:lpstr>
      <vt:lpstr>Segoe UI</vt:lpstr>
      <vt:lpstr>Times New Roman</vt:lpstr>
      <vt:lpstr>Wingdings</vt:lpstr>
      <vt:lpstr>cerulean</vt:lpstr>
      <vt:lpstr>塩谷 亮太 (shioya@ci.i.u-tokyo.ac.jp) 東京大学大学院情報理工学系研究科 創造情報学専攻</vt:lpstr>
      <vt:lpstr>課題の解説</vt:lpstr>
      <vt:lpstr>考え方の指針</vt:lpstr>
      <vt:lpstr>分岐予測ミスによる実行サイクルの増加のモデル</vt:lpstr>
      <vt:lpstr>具体的な値を入れてみる</vt:lpstr>
      <vt:lpstr>IPC で考えると</vt:lpstr>
      <vt:lpstr>一般化できる</vt:lpstr>
      <vt:lpstr>一般化できる</vt:lpstr>
      <vt:lpstr>課題 ８</vt:lpstr>
      <vt:lpstr>課題８（１） まず実行サイクル数を求めてから，正規化する</vt:lpstr>
      <vt:lpstr>課題８（１）</vt:lpstr>
      <vt:lpstr>課題８（１）</vt:lpstr>
      <vt:lpstr>課題８（１）</vt:lpstr>
      <vt:lpstr>課題 ８（２）</vt:lpstr>
      <vt:lpstr>課題 ８（２）</vt:lpstr>
      <vt:lpstr>メモリと，キャッシュの基本</vt:lpstr>
      <vt:lpstr>今日の内容</vt:lpstr>
      <vt:lpstr>メモリ</vt:lpstr>
      <vt:lpstr>メモリ</vt:lpstr>
      <vt:lpstr>メモリ</vt:lpstr>
      <vt:lpstr>メモリ</vt:lpstr>
      <vt:lpstr>メモリの基本構造：セルを行列状に配置</vt:lpstr>
      <vt:lpstr>メモリの読み出し操作</vt:lpstr>
      <vt:lpstr>メモリの読み出し動作の例</vt:lpstr>
      <vt:lpstr>メモリの読み出し動作（１） アドレスのデコード</vt:lpstr>
      <vt:lpstr>メモリの読み出し動作（２） ワードラインのアサート</vt:lpstr>
      <vt:lpstr>メモリの読み出し動作（３） ワード（１行分のデータ）の読み出し</vt:lpstr>
      <vt:lpstr>メモリの読み出し動作（４） 列の選択</vt:lpstr>
      <vt:lpstr>AMD Zen という CPU のチップ写真 Teja Singh et al., Zen: An Energy-Efficient High-Performance ×86 Core より</vt:lpstr>
      <vt:lpstr>「田」の字の構造</vt:lpstr>
      <vt:lpstr>メモリ</vt:lpstr>
      <vt:lpstr>メモリの性質</vt:lpstr>
      <vt:lpstr>アクセス時間は容量の平方根ぐらいに比例</vt:lpstr>
      <vt:lpstr>アクセス時間は容量に直接は比例しない （容量の平方根ぐらいに比例</vt:lpstr>
      <vt:lpstr>速度</vt:lpstr>
      <vt:lpstr>メモリの速度と容量のまとめ</vt:lpstr>
      <vt:lpstr>メモリ</vt:lpstr>
      <vt:lpstr>メモリのバリエーション</vt:lpstr>
      <vt:lpstr>Static Random Access Memory (SRAM)</vt:lpstr>
      <vt:lpstr>SRAM のセル（1bit）</vt:lpstr>
      <vt:lpstr>SRAM の読み出し</vt:lpstr>
      <vt:lpstr>Dynamic Random Access Memory (DRAM)</vt:lpstr>
      <vt:lpstr>DRAM のセル</vt:lpstr>
      <vt:lpstr>DRAM の読み出し</vt:lpstr>
      <vt:lpstr>SRAM の場合との違い</vt:lpstr>
      <vt:lpstr>DRAM セルのコンデンサの作り方 H. Seidl et al, A Fully Integrated Al2O3 Trench Capacitor DRAM for Sub-100nm Technology より</vt:lpstr>
      <vt:lpstr>過去に使われていたもの：磁気コアメモリ https://ja.wikipedia.org/wiki/%E7%A3%81%E6%B0%97%E3%82%B3%E3%82%A2%E3%83%A1%E3%83%A2%E3%83%AA より</vt:lpstr>
      <vt:lpstr>メモリ</vt:lpstr>
      <vt:lpstr>メモリの存在する理由</vt:lpstr>
      <vt:lpstr>D-FF とマルチプレクサによる 4bit の RAM</vt:lpstr>
      <vt:lpstr>D-FF：トランジスタ 16個</vt:lpstr>
      <vt:lpstr>マルチプレクサ：トランジスタ 6個</vt:lpstr>
      <vt:lpstr>4bit メモリに必要なトランジスタ数：82</vt:lpstr>
      <vt:lpstr>SRAM と DRAM のセル（1bit）</vt:lpstr>
      <vt:lpstr>SRAM と DRAM（4bit）</vt:lpstr>
      <vt:lpstr>メモリのまとめ （おおよそこのぐらいの事がフワッと分かってれば良い</vt:lpstr>
      <vt:lpstr>メモリのまとめ （おおよそこのぐらいの事がフワッと分かってれば良い</vt:lpstr>
      <vt:lpstr>キャッシュ</vt:lpstr>
      <vt:lpstr>キャッシュとは？</vt:lpstr>
      <vt:lpstr>原理は同じ</vt:lpstr>
      <vt:lpstr>性能へ大きく影響するし，影響範囲も広い</vt:lpstr>
      <vt:lpstr>例：行列積の実装と性能</vt:lpstr>
      <vt:lpstr>内容</vt:lpstr>
      <vt:lpstr>記憶階層</vt:lpstr>
      <vt:lpstr>キャッシュの動作</vt:lpstr>
      <vt:lpstr>時間的局所性</vt:lpstr>
      <vt:lpstr>実際には多層の構造になっている</vt:lpstr>
      <vt:lpstr>キャッシュの基本的な考え方のまとめ</vt:lpstr>
      <vt:lpstr>内容</vt:lpstr>
      <vt:lpstr>キャッシュへの性能への影響</vt:lpstr>
      <vt:lpstr>実際の測定データ</vt:lpstr>
      <vt:lpstr>プログラム最適化の上で，重要なポイント</vt:lpstr>
      <vt:lpstr>まとめ</vt:lpstr>
      <vt:lpstr>課題 ９</vt:lpstr>
      <vt:lpstr>課題 ９</vt:lpstr>
      <vt:lpstr>提出方法</vt:lpstr>
      <vt:lpstr>期末試験について</vt:lpstr>
      <vt:lpstr>付録</vt:lpstr>
      <vt:lpstr>SRAM の読み出し</vt:lpstr>
      <vt:lpstr>なぜプリチャージが必要なのか？</vt:lpstr>
      <vt:lpstr>SRAM の書き込み</vt:lpstr>
      <vt:lpstr>DRAM の読み出し</vt:lpstr>
      <vt:lpstr>DRAM の書き込み</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2025-07-08T05:17:30Z</dcterms:modified>
</cp:coreProperties>
</file>