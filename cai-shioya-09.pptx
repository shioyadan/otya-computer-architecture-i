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Lst>
  <p:notesMasterIdLst>
    <p:notesMasterId r:id="rId114"/>
  </p:notesMasterIdLst>
  <p:handoutMasterIdLst>
    <p:handoutMasterId r:id="rId115"/>
  </p:handoutMasterIdLst>
  <p:sldIdLst>
    <p:sldId id="455" r:id="rId2"/>
    <p:sldId id="805" r:id="rId3"/>
    <p:sldId id="949" r:id="rId4"/>
    <p:sldId id="946" r:id="rId5"/>
    <p:sldId id="950" r:id="rId6"/>
    <p:sldId id="952" r:id="rId7"/>
    <p:sldId id="964" r:id="rId8"/>
    <p:sldId id="973" r:id="rId9"/>
    <p:sldId id="1060" r:id="rId10"/>
    <p:sldId id="1061" r:id="rId11"/>
    <p:sldId id="1063" r:id="rId12"/>
    <p:sldId id="1062" r:id="rId13"/>
    <p:sldId id="1064" r:id="rId14"/>
    <p:sldId id="1019" r:id="rId15"/>
    <p:sldId id="1065" r:id="rId16"/>
    <p:sldId id="1059" r:id="rId17"/>
    <p:sldId id="1054" r:id="rId18"/>
    <p:sldId id="1023" r:id="rId19"/>
    <p:sldId id="1052" r:id="rId20"/>
    <p:sldId id="280" r:id="rId21"/>
    <p:sldId id="638" r:id="rId22"/>
    <p:sldId id="596" r:id="rId23"/>
    <p:sldId id="603" r:id="rId24"/>
    <p:sldId id="598" r:id="rId25"/>
    <p:sldId id="599" r:id="rId26"/>
    <p:sldId id="600" r:id="rId27"/>
    <p:sldId id="601" r:id="rId28"/>
    <p:sldId id="602" r:id="rId29"/>
    <p:sldId id="605" r:id="rId30"/>
    <p:sldId id="607" r:id="rId31"/>
    <p:sldId id="637" r:id="rId32"/>
    <p:sldId id="584" r:id="rId33"/>
    <p:sldId id="604" r:id="rId34"/>
    <p:sldId id="631" r:id="rId35"/>
    <p:sldId id="1027" r:id="rId36"/>
    <p:sldId id="1028" r:id="rId37"/>
    <p:sldId id="636" r:id="rId38"/>
    <p:sldId id="609" r:id="rId39"/>
    <p:sldId id="589" r:id="rId40"/>
    <p:sldId id="590" r:id="rId41"/>
    <p:sldId id="1057" r:id="rId42"/>
    <p:sldId id="613" r:id="rId43"/>
    <p:sldId id="591" r:id="rId44"/>
    <p:sldId id="1058" r:id="rId45"/>
    <p:sldId id="615" r:id="rId46"/>
    <p:sldId id="616" r:id="rId47"/>
    <p:sldId id="708" r:id="rId48"/>
    <p:sldId id="635" r:id="rId49"/>
    <p:sldId id="619" r:id="rId50"/>
    <p:sldId id="475" r:id="rId51"/>
    <p:sldId id="476" r:id="rId52"/>
    <p:sldId id="477" r:id="rId53"/>
    <p:sldId id="478" r:id="rId54"/>
    <p:sldId id="562" r:id="rId55"/>
    <p:sldId id="563" r:id="rId56"/>
    <p:sldId id="1053" r:id="rId57"/>
    <p:sldId id="1055" r:id="rId58"/>
    <p:sldId id="1024" r:id="rId59"/>
    <p:sldId id="579" r:id="rId60"/>
    <p:sldId id="580" r:id="rId61"/>
    <p:sldId id="581" r:id="rId62"/>
    <p:sldId id="656" r:id="rId63"/>
    <p:sldId id="625" r:id="rId64"/>
    <p:sldId id="1029" r:id="rId65"/>
    <p:sldId id="592" r:id="rId66"/>
    <p:sldId id="593" r:id="rId67"/>
    <p:sldId id="594" r:id="rId68"/>
    <p:sldId id="667" r:id="rId69"/>
    <p:sldId id="680" r:id="rId70"/>
    <p:sldId id="658" r:id="rId71"/>
    <p:sldId id="663" r:id="rId72"/>
    <p:sldId id="664" r:id="rId73"/>
    <p:sldId id="882" r:id="rId74"/>
    <p:sldId id="1021" r:id="rId75"/>
    <p:sldId id="1066" r:id="rId76"/>
    <p:sldId id="696" r:id="rId77"/>
    <p:sldId id="1056" r:id="rId78"/>
    <p:sldId id="610" r:id="rId79"/>
    <p:sldId id="611" r:id="rId80"/>
    <p:sldId id="612" r:id="rId81"/>
    <p:sldId id="617" r:id="rId82"/>
    <p:sldId id="614" r:id="rId83"/>
    <p:sldId id="1098" r:id="rId84"/>
    <p:sldId id="1099" r:id="rId85"/>
    <p:sldId id="1101" r:id="rId86"/>
    <p:sldId id="1102" r:id="rId87"/>
    <p:sldId id="1105" r:id="rId88"/>
    <p:sldId id="1106" r:id="rId89"/>
    <p:sldId id="1104" r:id="rId90"/>
    <p:sldId id="1103" r:id="rId91"/>
    <p:sldId id="1020" r:id="rId92"/>
    <p:sldId id="1076" r:id="rId93"/>
    <p:sldId id="1077" r:id="rId94"/>
    <p:sldId id="1083" r:id="rId95"/>
    <p:sldId id="1078" r:id="rId96"/>
    <p:sldId id="1079" r:id="rId97"/>
    <p:sldId id="1080" r:id="rId98"/>
    <p:sldId id="1081" r:id="rId99"/>
    <p:sldId id="1082" r:id="rId100"/>
    <p:sldId id="1084" r:id="rId101"/>
    <p:sldId id="1085" r:id="rId102"/>
    <p:sldId id="1086" r:id="rId103"/>
    <p:sldId id="1087" r:id="rId104"/>
    <p:sldId id="1088" r:id="rId105"/>
    <p:sldId id="1089" r:id="rId106"/>
    <p:sldId id="1090" r:id="rId107"/>
    <p:sldId id="1091" r:id="rId108"/>
    <p:sldId id="1092" r:id="rId109"/>
    <p:sldId id="1093" r:id="rId110"/>
    <p:sldId id="1094" r:id="rId111"/>
    <p:sldId id="1095" r:id="rId112"/>
    <p:sldId id="1097" r:id="rId113"/>
  </p:sldIdLst>
  <p:sldSz cx="12192000" cy="6858000"/>
  <p:notesSz cx="6858000" cy="9144000"/>
  <p:custDataLst>
    <p:tags r:id="rId116"/>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5" autoAdjust="0"/>
    <p:restoredTop sz="97229" autoAdjust="0"/>
  </p:normalViewPr>
  <p:slideViewPr>
    <p:cSldViewPr>
      <p:cViewPr varScale="1">
        <p:scale>
          <a:sx n="156" d="100"/>
          <a:sy n="156" d="100"/>
        </p:scale>
        <p:origin x="348" y="108"/>
      </p:cViewPr>
      <p:guideLst>
        <p:guide orient="horz" pos="2160"/>
        <p:guide pos="3840"/>
      </p:guideLst>
    </p:cSldViewPr>
  </p:slideViewPr>
  <p:notesTextViewPr>
    <p:cViewPr>
      <p:scale>
        <a:sx n="100" d="100"/>
        <a:sy n="100" d="100"/>
      </p:scale>
      <p:origin x="0" y="0"/>
    </p:cViewPr>
  </p:notesTextViewPr>
  <p:notesViewPr>
    <p:cSldViewPr>
      <p:cViewPr varScale="1">
        <p:scale>
          <a:sx n="121" d="100"/>
          <a:sy n="121" d="100"/>
        </p:scale>
        <p:origin x="5020" y="64"/>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notesMaster" Target="notesMasters/notesMaster1.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576771369207009"/>
          <c:y val="4.1972583283353591E-2"/>
          <c:w val="0.8852608070436645"/>
          <c:h val="0.75852409720700076"/>
        </c:manualLayout>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dat!$A$1:$BD$1</c:f>
              <c:numCache>
                <c:formatCode>General</c:formatCode>
                <c:ptCount val="56"/>
                <c:pt idx="0">
                  <c:v>4</c:v>
                </c:pt>
                <c:pt idx="1">
                  <c:v>5</c:v>
                </c:pt>
                <c:pt idx="2">
                  <c:v>6</c:v>
                </c:pt>
                <c:pt idx="3">
                  <c:v>7</c:v>
                </c:pt>
                <c:pt idx="4">
                  <c:v>9</c:v>
                </c:pt>
                <c:pt idx="5">
                  <c:v>12</c:v>
                </c:pt>
                <c:pt idx="6">
                  <c:v>15</c:v>
                </c:pt>
                <c:pt idx="7">
                  <c:v>19</c:v>
                </c:pt>
                <c:pt idx="8">
                  <c:v>23</c:v>
                </c:pt>
                <c:pt idx="9">
                  <c:v>29</c:v>
                </c:pt>
                <c:pt idx="10">
                  <c:v>37</c:v>
                </c:pt>
                <c:pt idx="11">
                  <c:v>46</c:v>
                </c:pt>
                <c:pt idx="12">
                  <c:v>58</c:v>
                </c:pt>
                <c:pt idx="13">
                  <c:v>72</c:v>
                </c:pt>
                <c:pt idx="14">
                  <c:v>90</c:v>
                </c:pt>
                <c:pt idx="15">
                  <c:v>113</c:v>
                </c:pt>
                <c:pt idx="16">
                  <c:v>142</c:v>
                </c:pt>
                <c:pt idx="17">
                  <c:v>177</c:v>
                </c:pt>
                <c:pt idx="18">
                  <c:v>221</c:v>
                </c:pt>
                <c:pt idx="19">
                  <c:v>277</c:v>
                </c:pt>
                <c:pt idx="20">
                  <c:v>346</c:v>
                </c:pt>
                <c:pt idx="21">
                  <c:v>433</c:v>
                </c:pt>
                <c:pt idx="22">
                  <c:v>541</c:v>
                </c:pt>
                <c:pt idx="23">
                  <c:v>677</c:v>
                </c:pt>
                <c:pt idx="24">
                  <c:v>846</c:v>
                </c:pt>
                <c:pt idx="25">
                  <c:v>1058</c:v>
                </c:pt>
                <c:pt idx="26">
                  <c:v>1322</c:v>
                </c:pt>
                <c:pt idx="27">
                  <c:v>1653</c:v>
                </c:pt>
                <c:pt idx="28">
                  <c:v>2066</c:v>
                </c:pt>
                <c:pt idx="29">
                  <c:v>2583</c:v>
                </c:pt>
                <c:pt idx="30">
                  <c:v>3229</c:v>
                </c:pt>
                <c:pt idx="31">
                  <c:v>4036</c:v>
                </c:pt>
                <c:pt idx="32">
                  <c:v>5046</c:v>
                </c:pt>
                <c:pt idx="33">
                  <c:v>6307</c:v>
                </c:pt>
                <c:pt idx="34">
                  <c:v>7884</c:v>
                </c:pt>
                <c:pt idx="35">
                  <c:v>9855</c:v>
                </c:pt>
                <c:pt idx="36">
                  <c:v>12319</c:v>
                </c:pt>
                <c:pt idx="37">
                  <c:v>15399</c:v>
                </c:pt>
                <c:pt idx="38">
                  <c:v>19249</c:v>
                </c:pt>
                <c:pt idx="39">
                  <c:v>24061</c:v>
                </c:pt>
                <c:pt idx="40">
                  <c:v>30076</c:v>
                </c:pt>
                <c:pt idx="41">
                  <c:v>37595</c:v>
                </c:pt>
                <c:pt idx="42">
                  <c:v>46994</c:v>
                </c:pt>
                <c:pt idx="43">
                  <c:v>58743</c:v>
                </c:pt>
                <c:pt idx="44">
                  <c:v>73429</c:v>
                </c:pt>
                <c:pt idx="45">
                  <c:v>91786</c:v>
                </c:pt>
                <c:pt idx="46">
                  <c:v>114733</c:v>
                </c:pt>
                <c:pt idx="47">
                  <c:v>143416</c:v>
                </c:pt>
                <c:pt idx="48">
                  <c:v>179271</c:v>
                </c:pt>
                <c:pt idx="49">
                  <c:v>224088</c:v>
                </c:pt>
                <c:pt idx="50">
                  <c:v>280110</c:v>
                </c:pt>
                <c:pt idx="51">
                  <c:v>350138</c:v>
                </c:pt>
                <c:pt idx="52">
                  <c:v>437673</c:v>
                </c:pt>
                <c:pt idx="53">
                  <c:v>547091</c:v>
                </c:pt>
                <c:pt idx="54">
                  <c:v>683864</c:v>
                </c:pt>
                <c:pt idx="55">
                  <c:v>854830</c:v>
                </c:pt>
              </c:numCache>
            </c:numRef>
          </c:xVal>
          <c:yVal>
            <c:numRef>
              <c:f>dat!$A$2:$BD$2</c:f>
              <c:numCache>
                <c:formatCode>General</c:formatCode>
                <c:ptCount val="56"/>
                <c:pt idx="0">
                  <c:v>1.3709070000000001</c:v>
                </c:pt>
                <c:pt idx="1">
                  <c:v>1.4007309999999999</c:v>
                </c:pt>
                <c:pt idx="2">
                  <c:v>1.400744</c:v>
                </c:pt>
                <c:pt idx="3">
                  <c:v>1.4007270000000001</c:v>
                </c:pt>
                <c:pt idx="4">
                  <c:v>1.40079</c:v>
                </c:pt>
                <c:pt idx="5">
                  <c:v>1.4007639999999999</c:v>
                </c:pt>
                <c:pt idx="6">
                  <c:v>1.4007879999999999</c:v>
                </c:pt>
                <c:pt idx="7">
                  <c:v>1.400728</c:v>
                </c:pt>
                <c:pt idx="8">
                  <c:v>1.3711370000000001</c:v>
                </c:pt>
                <c:pt idx="9">
                  <c:v>1.4008449999999999</c:v>
                </c:pt>
                <c:pt idx="10">
                  <c:v>1.877983</c:v>
                </c:pt>
                <c:pt idx="11">
                  <c:v>1.848344</c:v>
                </c:pt>
                <c:pt idx="12">
                  <c:v>2.3253360000000001</c:v>
                </c:pt>
                <c:pt idx="13">
                  <c:v>2.8018190000000001</c:v>
                </c:pt>
                <c:pt idx="14">
                  <c:v>2.8030460000000001</c:v>
                </c:pt>
                <c:pt idx="15">
                  <c:v>2.802559</c:v>
                </c:pt>
                <c:pt idx="16">
                  <c:v>2.7739859999999998</c:v>
                </c:pt>
                <c:pt idx="17">
                  <c:v>3.2793160000000001</c:v>
                </c:pt>
                <c:pt idx="18">
                  <c:v>2.8042250000000002</c:v>
                </c:pt>
                <c:pt idx="19">
                  <c:v>4.6538690000000003</c:v>
                </c:pt>
                <c:pt idx="20">
                  <c:v>6.5437510000000003</c:v>
                </c:pt>
                <c:pt idx="21">
                  <c:v>8.8328070000000007</c:v>
                </c:pt>
                <c:pt idx="22">
                  <c:v>10.290729000000001</c:v>
                </c:pt>
                <c:pt idx="23">
                  <c:v>12.611046999999999</c:v>
                </c:pt>
                <c:pt idx="24">
                  <c:v>13.123219000000001</c:v>
                </c:pt>
                <c:pt idx="25">
                  <c:v>13.594751</c:v>
                </c:pt>
                <c:pt idx="26">
                  <c:v>14.437044999999999</c:v>
                </c:pt>
                <c:pt idx="27">
                  <c:v>16.357583999999999</c:v>
                </c:pt>
                <c:pt idx="28">
                  <c:v>14.519575</c:v>
                </c:pt>
                <c:pt idx="29">
                  <c:v>15.119558</c:v>
                </c:pt>
                <c:pt idx="30">
                  <c:v>16.540811000000001</c:v>
                </c:pt>
                <c:pt idx="31">
                  <c:v>17.508476999999999</c:v>
                </c:pt>
                <c:pt idx="32">
                  <c:v>19.353065999999998</c:v>
                </c:pt>
                <c:pt idx="33">
                  <c:v>20.808419000000001</c:v>
                </c:pt>
                <c:pt idx="34">
                  <c:v>27.094306</c:v>
                </c:pt>
                <c:pt idx="35">
                  <c:v>34.299608999999997</c:v>
                </c:pt>
                <c:pt idx="36">
                  <c:v>42.615662999999998</c:v>
                </c:pt>
                <c:pt idx="37">
                  <c:v>52.032969999999999</c:v>
                </c:pt>
                <c:pt idx="38">
                  <c:v>58.647277000000003</c:v>
                </c:pt>
                <c:pt idx="39">
                  <c:v>63.412117000000002</c:v>
                </c:pt>
                <c:pt idx="40">
                  <c:v>70.003345999999993</c:v>
                </c:pt>
                <c:pt idx="41">
                  <c:v>71.968807999999996</c:v>
                </c:pt>
                <c:pt idx="42">
                  <c:v>78.590768999999995</c:v>
                </c:pt>
                <c:pt idx="43">
                  <c:v>78.466092000000003</c:v>
                </c:pt>
                <c:pt idx="44">
                  <c:v>79.796029000000004</c:v>
                </c:pt>
                <c:pt idx="45">
                  <c:v>82.434617000000003</c:v>
                </c:pt>
                <c:pt idx="46">
                  <c:v>87.226635999999999</c:v>
                </c:pt>
                <c:pt idx="47">
                  <c:v>87.676049000000006</c:v>
                </c:pt>
                <c:pt idx="48">
                  <c:v>88.858136999999999</c:v>
                </c:pt>
                <c:pt idx="49">
                  <c:v>93.695436999999998</c:v>
                </c:pt>
                <c:pt idx="50">
                  <c:v>91.732626999999994</c:v>
                </c:pt>
                <c:pt idx="51">
                  <c:v>93.088116999999997</c:v>
                </c:pt>
                <c:pt idx="52">
                  <c:v>93.712869999999995</c:v>
                </c:pt>
                <c:pt idx="53">
                  <c:v>96.054799000000003</c:v>
                </c:pt>
                <c:pt idx="54">
                  <c:v>97.281456000000006</c:v>
                </c:pt>
                <c:pt idx="55">
                  <c:v>103.319064</c:v>
                </c:pt>
              </c:numCache>
            </c:numRef>
          </c:yVal>
          <c:smooth val="0"/>
          <c:extLst>
            <c:ext xmlns:c16="http://schemas.microsoft.com/office/drawing/2014/chart" uri="{C3380CC4-5D6E-409C-BE32-E72D297353CC}">
              <c16:uniqueId val="{00000000-C4D8-4234-888E-219CA0370C94}"/>
            </c:ext>
          </c:extLst>
        </c:ser>
        <c:dLbls>
          <c:showLegendKey val="0"/>
          <c:showVal val="0"/>
          <c:showCatName val="0"/>
          <c:showSerName val="0"/>
          <c:showPercent val="0"/>
          <c:showBubbleSize val="0"/>
        </c:dLbls>
        <c:axId val="627551624"/>
        <c:axId val="627543392"/>
      </c:scatterChart>
      <c:valAx>
        <c:axId val="627551624"/>
        <c:scaling>
          <c:logBase val="2"/>
          <c:orientation val="minMax"/>
          <c:min val="4"/>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ltLang="ja-JP" sz="1600" dirty="0"/>
                  <a:t>SIZE = </a:t>
                </a:r>
                <a:r>
                  <a:rPr lang="ja-JP" altLang="en-US" sz="1600" dirty="0"/>
                  <a:t>アクセス範囲（</a:t>
                </a:r>
                <a:r>
                  <a:rPr lang="en-US" altLang="ja-JP" sz="1600" dirty="0"/>
                  <a:t>KB</a:t>
                </a:r>
                <a:r>
                  <a:rPr lang="ja-JP" altLang="en-US" sz="1600" dirty="0"/>
                  <a:t>）</a:t>
                </a:r>
              </a:p>
            </c:rich>
          </c:tx>
          <c:layout>
            <c:manualLayout>
              <c:xMode val="edge"/>
              <c:yMode val="edge"/>
              <c:x val="0.35931869762850593"/>
              <c:y val="0.90968989233452957"/>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5400000" spcFirstLastPara="1" vertOverflow="ellipsis"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crossAx val="627543392"/>
        <c:crosses val="autoZero"/>
        <c:crossBetween val="midCat"/>
        <c:majorUnit val="2"/>
      </c:valAx>
      <c:valAx>
        <c:axId val="627543392"/>
        <c:scaling>
          <c:logBase val="10"/>
          <c:orientation val="minMax"/>
          <c:max val="11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ja-JP" altLang="en-US" sz="1600" dirty="0"/>
                  <a:t>アクセス時間（</a:t>
                </a:r>
                <a:r>
                  <a:rPr lang="en-US" altLang="ja-JP" sz="1600"/>
                  <a:t>nano sec</a:t>
                </a:r>
                <a:r>
                  <a:rPr lang="ja-JP" altLang="en-US" sz="1600" dirty="0"/>
                  <a:t>）</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ja-JP"/>
          </a:p>
        </c:txPr>
        <c:crossAx val="627551624"/>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E415D75-4CAE-15A9-D899-49A856941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日付プレースホルダー 2">
            <a:extLst>
              <a:ext uri="{FF2B5EF4-FFF2-40B4-BE49-F238E27FC236}">
                <a16:creationId xmlns:a16="http://schemas.microsoft.com/office/drawing/2014/main" id="{96B6FC8F-672D-0C9B-883F-429FE5BFF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0D877F-F984-4AF8-9DD3-1EDD0240AB14}" type="datetimeFigureOut">
              <a:rPr kumimoji="1" lang="en-US" smtClean="0"/>
              <a:t>7/7/2026</a:t>
            </a:fld>
            <a:endParaRPr kumimoji="1" lang="en-US"/>
          </a:p>
        </p:txBody>
      </p:sp>
      <p:sp>
        <p:nvSpPr>
          <p:cNvPr id="4" name="フッター プレースホルダー 3">
            <a:extLst>
              <a:ext uri="{FF2B5EF4-FFF2-40B4-BE49-F238E27FC236}">
                <a16:creationId xmlns:a16="http://schemas.microsoft.com/office/drawing/2014/main" id="{A49831F7-A7E2-B057-CA7D-BF4A5D256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5" name="スライド番号プレースホルダー 4">
            <a:extLst>
              <a:ext uri="{FF2B5EF4-FFF2-40B4-BE49-F238E27FC236}">
                <a16:creationId xmlns:a16="http://schemas.microsoft.com/office/drawing/2014/main" id="{C915A581-8333-6E1F-684C-607B3F07B9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CF5AA5-7A9C-4B37-BC55-3EC5404452FB}" type="slidenum">
              <a:rPr kumimoji="1" lang="en-US" smtClean="0"/>
              <a:t>‹#›</a:t>
            </a:fld>
            <a:endParaRPr kumimoji="1" lang="en-US"/>
          </a:p>
        </p:txBody>
      </p:sp>
    </p:spTree>
    <p:extLst>
      <p:ext uri="{BB962C8B-B14F-4D97-AF65-F5344CB8AC3E}">
        <p14:creationId xmlns:p14="http://schemas.microsoft.com/office/powerpoint/2010/main" val="799151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2026/7/7</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2114589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cxnSp>
        <p:nvCxnSpPr>
          <p:cNvPr id="5" name="直線コネクタ 4">
            <a:extLst>
              <a:ext uri="{FF2B5EF4-FFF2-40B4-BE49-F238E27FC236}">
                <a16:creationId xmlns:a16="http://schemas.microsoft.com/office/drawing/2014/main" id="{28994BA3-EE89-8729-F511-359CF93D1F0C}"/>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A5DAF3A5-B8E8-9871-850E-D296C48A2927}"/>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F75186D6-6D4B-D3EA-0ABB-0772F25DCA23}"/>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8" name="直線コネクタ 7">
            <a:extLst>
              <a:ext uri="{FF2B5EF4-FFF2-40B4-BE49-F238E27FC236}">
                <a16:creationId xmlns:a16="http://schemas.microsoft.com/office/drawing/2014/main" id="{12521282-00C0-4FAB-852E-82AD5D1BCEF9}"/>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9" name="直線コネクタ 8">
            <a:extLst>
              <a:ext uri="{FF2B5EF4-FFF2-40B4-BE49-F238E27FC236}">
                <a16:creationId xmlns:a16="http://schemas.microsoft.com/office/drawing/2014/main" id="{CB833E3B-EFBD-C3E4-B1B3-DF3D73FA5B1A}"/>
              </a:ext>
            </a:extLst>
          </p:cNvPr>
          <p:cNvCxnSpPr>
            <a:cxnSpLocks/>
          </p:cNvCxnSpPr>
          <p:nvPr userDrawn="1"/>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665510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22242548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815941" y="0"/>
            <a:ext cx="11376059"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10896053" y="6309033"/>
            <a:ext cx="960011"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815942" y="1088974"/>
            <a:ext cx="10560117"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6846851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815941" y="0"/>
            <a:ext cx="11376059"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10896053" y="6309033"/>
            <a:ext cx="960011"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815942" y="1088974"/>
            <a:ext cx="10560117"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02D76658-EC28-6DC7-5037-6521DFF08331}"/>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52FBF5EA-16EF-C5E9-5A0C-DF30C24F685B}"/>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6" name="正方形/長方形 5">
            <a:extLst>
              <a:ext uri="{FF2B5EF4-FFF2-40B4-BE49-F238E27FC236}">
                <a16:creationId xmlns:a16="http://schemas.microsoft.com/office/drawing/2014/main" id="{8FEFD81E-6104-E145-9799-FB67CE42C793}"/>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6EF03849-6793-6BF8-FD77-8F28E1172229}"/>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183CAA7C-19D4-AD11-6114-3F216AAEFDB6}"/>
              </a:ext>
            </a:extLst>
          </p:cNvPr>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30858110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66" r:id="rId5"/>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ja.wikipedia.org/wiki/%E7%A3%81%E6%B0%97%E3%82%B3%E3%82%A2%E3%83%A1%E3%83%A2%E3%83%AA" TargetMode="Externa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07"/>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第９回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kumimoji="1" lang="ja-JP" altLang="en-US"/>
              <a:t>考え方の指針</a:t>
            </a:r>
            <a:endParaRPr kumimoji="1" lang="en-US" dirty="0"/>
          </a:p>
        </p:txBody>
      </p:sp>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type="body" sz="quarter" idx="10"/>
          </p:nvPr>
        </p:nvSpPr>
        <p:spPr>
          <a:xfrm>
            <a:off x="2135956" y="1088974"/>
            <a:ext cx="8190091" cy="5220058"/>
          </a:xfrm>
        </p:spPr>
        <p:txBody>
          <a:bodyPr/>
          <a:lstStyle/>
          <a:p>
            <a:pPr marL="457200" indent="-457200">
              <a:buFont typeface="+mj-lt"/>
              <a:buAutoNum type="arabicPeriod"/>
            </a:pPr>
            <a:r>
              <a:rPr kumimoji="1" lang="ja-JP" altLang="en-US"/>
              <a:t>まず理想的にプログラムが実行された場合のサイクル数を考える</a:t>
            </a:r>
            <a:endParaRPr kumimoji="1" lang="en-US" altLang="ja-JP"/>
          </a:p>
          <a:p>
            <a:pPr marL="457200" indent="-457200">
              <a:buFont typeface="+mj-lt"/>
              <a:buAutoNum type="arabicPeriod"/>
            </a:pPr>
            <a:r>
              <a:rPr kumimoji="1" lang="ja-JP" altLang="en-US"/>
              <a:t>何かイヤなイベント（ハザード）が起きる回数を計算する</a:t>
            </a:r>
            <a:endParaRPr kumimoji="1" lang="en-US" altLang="ja-JP"/>
          </a:p>
          <a:p>
            <a:pPr lvl="1"/>
            <a:r>
              <a:rPr kumimoji="1" lang="ja-JP" altLang="en-US"/>
              <a:t>全体の命令数，命令の種類毎の出現率，イベントの発生確率などをかけていけば良い</a:t>
            </a:r>
            <a:endParaRPr kumimoji="1" lang="en-US" altLang="ja-JP"/>
          </a:p>
          <a:p>
            <a:pPr marL="457200" indent="-457200">
              <a:buFont typeface="+mj-lt"/>
              <a:buAutoNum type="arabicPeriod"/>
            </a:pPr>
            <a:r>
              <a:rPr kumimoji="1" lang="ja-JP" altLang="en-US"/>
              <a:t>イベントによる総延長時間を求める</a:t>
            </a:r>
            <a:endParaRPr kumimoji="1" lang="en-US" altLang="ja-JP"/>
          </a:p>
          <a:p>
            <a:pPr lvl="1"/>
            <a:r>
              <a:rPr kumimoji="1" lang="ja-JP" altLang="en-US"/>
              <a:t>イベントの発生回数と，イベント１回あたり何サイクル実行時間が伸びるかをかけて求める</a:t>
            </a:r>
            <a:endParaRPr kumimoji="1" lang="en-US" altLang="ja-JP"/>
          </a:p>
          <a:p>
            <a:pPr marL="457200" indent="-457200">
              <a:buFont typeface="+mj-lt"/>
              <a:buAutoNum type="arabicPeriod"/>
            </a:pPr>
            <a:r>
              <a:rPr kumimoji="1" lang="en-US" altLang="ja-JP"/>
              <a:t>1. </a:t>
            </a:r>
            <a:r>
              <a:rPr kumimoji="1" lang="ja-JP" altLang="en-US"/>
              <a:t>の理想的な実行サイクル数に総延長時間を加えて実際の実行サイクル数を求める</a:t>
            </a:r>
            <a:endParaRPr kumimoji="1" lang="en-US" altLang="ja-JP"/>
          </a:p>
          <a:p>
            <a:pPr marL="457200" indent="-457200">
              <a:buFont typeface="+mj-lt"/>
              <a:buAutoNum type="arabicPeriod"/>
            </a:pPr>
            <a:r>
              <a:rPr lang="ja-JP" altLang="en-US"/>
              <a:t>実行命令数を </a:t>
            </a:r>
            <a:r>
              <a:rPr lang="en-US"/>
              <a:t>4. </a:t>
            </a:r>
            <a:r>
              <a:rPr lang="ja-JP" altLang="en-US"/>
              <a:t>で求めたサイクル数で割る</a:t>
            </a:r>
            <a:endParaRPr kumimoji="1" lang="en-US" dirty="0"/>
          </a:p>
        </p:txBody>
      </p:sp>
    </p:spTree>
    <p:extLst>
      <p:ext uri="{BB962C8B-B14F-4D97-AF65-F5344CB8AC3E}">
        <p14:creationId xmlns:p14="http://schemas.microsoft.com/office/powerpoint/2010/main" val="4004087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dirty="0"/>
              <a:t>分岐予測ミスによる実行サイクルの増加のモデル</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type="body" sz="quarter" idx="10"/>
              </p:nvPr>
            </p:nvSpPr>
            <p:spPr>
              <a:xfrm>
                <a:off x="2135956" y="1088974"/>
                <a:ext cx="8190091" cy="5220058"/>
              </a:xfrm>
            </p:spPr>
            <p:txBody>
              <a:bodyPr/>
              <a:lstStyle/>
              <a:p>
                <a:r>
                  <a:rPr kumimoji="1" lang="ja-JP" altLang="en-US" dirty="0"/>
                  <a:t>以下のようにおいた場合，</a:t>
                </a:r>
                <a:endParaRPr kumimoji="1" lang="en-US" altLang="ja-JP" dirty="0"/>
              </a:p>
              <a:p>
                <a:pPr lvl="1"/>
                <a:r>
                  <a:rPr lang="ja-JP" altLang="en-US" dirty="0"/>
                  <a:t>ミスがない理想的な実行の際のサイクル数：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𝑪𝒕</m:t>
                    </m:r>
                  </m:oMath>
                </a14:m>
                <a:br>
                  <a:rPr lang="en-US" altLang="ja-JP" dirty="0"/>
                </a:br>
                <a:endParaRPr lang="en-US" altLang="ja-JP" dirty="0"/>
              </a:p>
              <a:p>
                <a:pPr lvl="1"/>
                <a:r>
                  <a:rPr lang="ja-JP" altLang="en-US" dirty="0"/>
                  <a:t>分岐予測ミスの発生回数：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𝑵𝒎</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プログラム中の分岐命令の出現率：</a:t>
                </a:r>
                <a:r>
                  <a:rPr lang="en-US" altLang="ja-JP" dirty="0"/>
                  <a:t>	</a:t>
                </a:r>
                <a14:m>
                  <m:oMath xmlns:m="http://schemas.openxmlformats.org/officeDocument/2006/math">
                    <m:r>
                      <a:rPr lang="en-US" altLang="ja-JP" i="1" dirty="0">
                        <a:latin typeface="Cambria Math" panose="02040503050406030204" pitchFamily="18" charset="0"/>
                      </a:rPr>
                      <m:t>𝑃𝑏</m:t>
                    </m:r>
                  </m:oMath>
                </a14:m>
                <a:endParaRPr kumimoji="1" lang="en-US" altLang="ja-JP" dirty="0"/>
              </a:p>
              <a:p>
                <a:pPr lvl="2"/>
                <a:r>
                  <a:rPr kumimoji="1" lang="ja-JP" altLang="en-US" dirty="0"/>
                  <a:t>分岐命令毎の予測ミス発生率：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𝑃𝑚</m:t>
                    </m:r>
                  </m:oMath>
                </a14:m>
                <a:br>
                  <a:rPr kumimoji="1" lang="en-US" altLang="ja-JP" dirty="0"/>
                </a:br>
                <a:endParaRPr kumimoji="1" lang="en-US" altLang="ja-JP" dirty="0"/>
              </a:p>
              <a:p>
                <a:pPr lvl="1"/>
                <a:r>
                  <a:rPr kumimoji="1" lang="ja-JP" altLang="en-US" dirty="0"/>
                  <a:t>分岐予測ミス・ペナルティ：</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𝑪𝒑</m:t>
                    </m:r>
                  </m:oMath>
                </a14:m>
                <a:endParaRPr kumimoji="1" lang="en-US" altLang="ja-JP" b="1"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b="1" i="1" dirty="0" smtClean="0">
                        <a:solidFill>
                          <a:schemeClr val="accent5"/>
                        </a:solidFill>
                        <a:latin typeface="Cambria Math" panose="02040503050406030204" pitchFamily="18" charset="0"/>
                      </a:rPr>
                      <m:t>𝑪𝒓</m:t>
                    </m:r>
                    <m:r>
                      <a:rPr lang="en-US" b="1" i="1" dirty="0" smtClean="0">
                        <a:solidFill>
                          <a:schemeClr val="accent5"/>
                        </a:solidFill>
                        <a:latin typeface="Cambria Math" panose="02040503050406030204" pitchFamily="18" charset="0"/>
                      </a:rPr>
                      <m:t>=</m:t>
                    </m:r>
                    <m:r>
                      <a:rPr lang="en-US" b="1" i="1" dirty="0" smtClean="0">
                        <a:solidFill>
                          <a:schemeClr val="accent5"/>
                        </a:solidFill>
                        <a:latin typeface="Cambria Math" panose="02040503050406030204" pitchFamily="18" charset="0"/>
                      </a:rPr>
                      <m:t>𝑪𝒕</m:t>
                    </m:r>
                    <m:r>
                      <a:rPr lang="en-US" b="1" i="1" dirty="0" smtClean="0">
                        <a:solidFill>
                          <a:schemeClr val="accent5"/>
                        </a:solidFill>
                        <a:latin typeface="Cambria Math" panose="02040503050406030204" pitchFamily="18" charset="0"/>
                      </a:rPr>
                      <m:t> + </m:t>
                    </m:r>
                    <m:r>
                      <a:rPr lang="en-US" b="1" i="1" dirty="0" smtClean="0">
                        <a:solidFill>
                          <a:schemeClr val="accent5"/>
                        </a:solidFill>
                        <a:latin typeface="Cambria Math" panose="02040503050406030204" pitchFamily="18" charset="0"/>
                      </a:rPr>
                      <m:t>𝑵𝒎</m:t>
                    </m:r>
                    <m:r>
                      <a:rPr lang="en-US" altLang="ja-JP" b="1" i="1" dirty="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𝑪𝒑</m:t>
                    </m:r>
                  </m:oMath>
                </a14:m>
                <a:endParaRPr kumimoji="1" lang="en-US" b="1" dirty="0">
                  <a:solidFill>
                    <a:schemeClr val="accent5"/>
                  </a:solidFill>
                </a:endParaRPr>
              </a:p>
              <a:p>
                <a:pPr lvl="1"/>
                <a:r>
                  <a:rPr kumimoji="1" lang="ja-JP" altLang="en-US" dirty="0">
                    <a:solidFill>
                      <a:schemeClr val="tx1">
                        <a:lumMod val="75000"/>
                        <a:lumOff val="25000"/>
                      </a:schemeClr>
                    </a:solidFill>
                  </a:rPr>
                  <a:t>意味：予測ミスの発生回数</a:t>
                </a:r>
                <a14:m>
                  <m:oMath xmlns:m="http://schemas.openxmlformats.org/officeDocument/2006/math">
                    <m:r>
                      <a:rPr lang="en-US" altLang="ja-JP" i="1" dirty="0" smtClean="0">
                        <a:solidFill>
                          <a:schemeClr val="tx1">
                            <a:lumMod val="75000"/>
                            <a:lumOff val="25000"/>
                          </a:schemeClr>
                        </a:solidFill>
                        <a:latin typeface="Cambria Math" panose="02040503050406030204" pitchFamily="18" charset="0"/>
                      </a:rPr>
                      <m:t>×</m:t>
                    </m:r>
                  </m:oMath>
                </a14:m>
                <a:r>
                  <a:rPr kumimoji="1" lang="ja-JP" altLang="en-US" dirty="0">
                    <a:solidFill>
                      <a:schemeClr val="tx1">
                        <a:lumMod val="75000"/>
                        <a:lumOff val="25000"/>
                      </a:schemeClr>
                    </a:solidFill>
                  </a:rPr>
                  <a:t>ペナルティ だけ実行時間が伸びる</a:t>
                </a:r>
                <a:endParaRPr kumimoji="1" lang="en-US" dirty="0">
                  <a:solidFill>
                    <a:schemeClr val="tx1">
                      <a:lumMod val="75000"/>
                      <a:lumOff val="25000"/>
                    </a:schemeClr>
                  </a:solidFill>
                </a:endParaRPr>
              </a:p>
            </p:txBody>
          </p:sp>
        </mc:Choice>
        <mc:Fallback>
          <p:sp>
            <p:nvSpPr>
              <p:cNvPr id="3" name="コンテンツ プレースホルダー 2">
                <a:extLst>
                  <a:ext uri="{FF2B5EF4-FFF2-40B4-BE49-F238E27FC236}">
                    <a16:creationId xmlns:a16="http://schemas.microsoft.com/office/drawing/2014/main" id="{7A388F3E-9D46-BE60-22D7-DE67BE9600EC}"/>
                  </a:ext>
                </a:extLst>
              </p:cNvPr>
              <p:cNvSpPr>
                <a:spLocks noGrp="1" noRot="1" noChangeAspect="1" noMove="1" noResize="1" noEditPoints="1" noAdjustHandles="1" noChangeArrowheads="1" noChangeShapeType="1" noTextEdit="1"/>
              </p:cNvSpPr>
              <p:nvPr>
                <p:ph type="body" sz="quarter" idx="10"/>
              </p:nvPr>
            </p:nvSpPr>
            <p:spPr>
              <a:xfrm>
                <a:off x="2135956" y="1088974"/>
                <a:ext cx="8190091" cy="5220058"/>
              </a:xfrm>
              <a:blipFill>
                <a:blip r:embed="rId2"/>
                <a:stretch>
                  <a:fillRect l="-670" b="-7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36645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dirty="0"/>
              <a:t>具体的な値を入れてみる</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type="body" sz="quarter" idx="10"/>
              </p:nvPr>
            </p:nvSpPr>
            <p:spPr>
              <a:xfrm>
                <a:off x="1955955" y="1088974"/>
                <a:ext cx="8550095" cy="5220058"/>
              </a:xfrm>
            </p:spPr>
            <p:txBody>
              <a:bodyPr/>
              <a:lstStyle/>
              <a:p>
                <a:r>
                  <a:rPr kumimoji="1" lang="ja-JP" altLang="en-US" dirty="0"/>
                  <a:t>以下のように置いた場合，</a:t>
                </a:r>
                <a:endParaRPr kumimoji="1" lang="en-US" altLang="ja-JP" dirty="0"/>
              </a:p>
              <a:p>
                <a:pPr lvl="1"/>
                <a:r>
                  <a:rPr lang="ja-JP" altLang="en-US" dirty="0"/>
                  <a:t>理想的な実行の際のサイクル数：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𝑪𝒕</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oMath>
                </a14:m>
                <a:r>
                  <a:rPr lang="ja-JP" altLang="en-US" dirty="0">
                    <a:solidFill>
                      <a:schemeClr val="accent5"/>
                    </a:solidFill>
                  </a:rPr>
                  <a:t>（メガ）</a:t>
                </a:r>
                <a:br>
                  <a:rPr lang="en-US" altLang="ja-JP" dirty="0"/>
                </a:br>
                <a:endParaRPr lang="en-US" altLang="ja-JP" dirty="0"/>
              </a:p>
              <a:p>
                <a:pPr lvl="1"/>
                <a:r>
                  <a:rPr lang="ja-JP" altLang="en-US" dirty="0"/>
                  <a:t>分岐予測ミスの発生回数：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𝑵𝒎</m:t>
                    </m:r>
                    <m:r>
                      <a:rPr lang="en-US" altLang="ja-JP" b="1" i="1" dirty="0" smtClean="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𝑵𝒊</m:t>
                    </m:r>
                    <m:r>
                      <a:rPr lang="en-US" altLang="ja-JP" b="1" i="1" dirty="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𝑷𝒃</m:t>
                    </m:r>
                    <m:r>
                      <a:rPr lang="en-US" altLang="ja-JP" b="1" i="1" dirty="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𝑷𝒎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𝟎𝟐𝟓</m:t>
                    </m:r>
                    <m:r>
                      <a:rPr lang="en-US" altLang="ja-JP" b="1" i="1" dirty="0" smtClean="0">
                        <a:solidFill>
                          <a:schemeClr val="accent5"/>
                        </a:solidFill>
                        <a:latin typeface="Cambria Math" panose="02040503050406030204" pitchFamily="18" charset="0"/>
                      </a:rPr>
                      <m:t>𝑴</m:t>
                    </m:r>
                  </m:oMath>
                </a14:m>
                <a:endParaRPr lang="en-US" altLang="ja-JP" b="1" dirty="0">
                  <a:solidFill>
                    <a:schemeClr val="accent5"/>
                  </a:solidFill>
                </a:endParaRPr>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r>
                      <a:rPr kumimoji="1" lang="en-US" altLang="ja-JP" b="0" i="1" dirty="0" smtClean="0">
                        <a:latin typeface="Cambria Math" panose="02040503050406030204" pitchFamily="18" charset="0"/>
                      </a:rPr>
                      <m:t>=1</m:t>
                    </m:r>
                    <m:r>
                      <a:rPr kumimoji="1" lang="en-US" altLang="ja-JP" b="0" i="1" dirty="0" smtClean="0">
                        <a:latin typeface="Cambria Math" panose="02040503050406030204" pitchFamily="18" charset="0"/>
                      </a:rPr>
                      <m:t>𝑀</m:t>
                    </m:r>
                  </m:oMath>
                </a14:m>
                <a:endParaRPr kumimoji="1" lang="en-US" altLang="ja-JP" dirty="0"/>
              </a:p>
              <a:p>
                <a:pPr lvl="2"/>
                <a:r>
                  <a:rPr lang="ja-JP" altLang="en-US" dirty="0"/>
                  <a:t>分岐命令の出現率：</a:t>
                </a:r>
                <a:r>
                  <a:rPr lang="en-US" altLang="ja-JP" dirty="0"/>
                  <a:t>			</a:t>
                </a:r>
                <a14:m>
                  <m:oMath xmlns:m="http://schemas.openxmlformats.org/officeDocument/2006/math">
                    <m:r>
                      <a:rPr lang="en-US" altLang="ja-JP" i="1" dirty="0">
                        <a:latin typeface="Cambria Math" panose="02040503050406030204" pitchFamily="18" charset="0"/>
                      </a:rPr>
                      <m:t>𝑃𝑏</m:t>
                    </m:r>
                    <m:r>
                      <a:rPr lang="en-US" altLang="ja-JP" b="0" i="1" dirty="0" smtClean="0">
                        <a:latin typeface="Cambria Math" panose="02040503050406030204" pitchFamily="18" charset="0"/>
                      </a:rPr>
                      <m:t>=0.25</m:t>
                    </m:r>
                  </m:oMath>
                </a14:m>
                <a:endParaRPr kumimoji="1" lang="en-US" altLang="ja-JP" dirty="0"/>
              </a:p>
              <a:p>
                <a:pPr marL="1080000" lvl="3" indent="0">
                  <a:buNone/>
                </a:pPr>
                <a:r>
                  <a:rPr kumimoji="1" lang="ja-JP" altLang="en-US" dirty="0"/>
                  <a:t>（プログラムは大体４命令に１つぐらい分岐が出てくる</a:t>
                </a:r>
                <a:endParaRPr kumimoji="1" lang="en-US" altLang="ja-JP" dirty="0"/>
              </a:p>
              <a:p>
                <a:pPr lvl="2"/>
                <a:r>
                  <a:rPr kumimoji="1" lang="ja-JP" altLang="en-US" dirty="0"/>
                  <a:t>分岐命令毎の予測ミス発生率：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𝑃𝑚</m:t>
                    </m:r>
                    <m:r>
                      <a:rPr kumimoji="1" lang="en-US" altLang="ja-JP" b="0" i="1" dirty="0" smtClean="0">
                        <a:latin typeface="Cambria Math" panose="02040503050406030204" pitchFamily="18" charset="0"/>
                      </a:rPr>
                      <m:t>=0.1</m:t>
                    </m:r>
                  </m:oMath>
                </a14:m>
                <a:br>
                  <a:rPr kumimoji="1" lang="en-US" altLang="ja-JP" dirty="0"/>
                </a:br>
                <a:endParaRPr kumimoji="1" lang="en-US" altLang="ja-JP" dirty="0"/>
              </a:p>
              <a:p>
                <a:pPr lvl="1"/>
                <a:r>
                  <a:rPr kumimoji="1" lang="ja-JP" altLang="en-US" dirty="0"/>
                  <a:t>分岐予測ミス・ペナルティ：</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𝑪𝒑</m:t>
                    </m:r>
                    <m:r>
                      <a:rPr kumimoji="1" lang="en-US" altLang="ja-JP" b="1" i="1" dirty="0" smtClean="0">
                        <a:solidFill>
                          <a:schemeClr val="accent5"/>
                        </a:solidFill>
                        <a:latin typeface="Cambria Math" panose="02040503050406030204" pitchFamily="18" charset="0"/>
                      </a:rPr>
                      <m:t>=</m:t>
                    </m:r>
                    <m:r>
                      <a:rPr kumimoji="1" lang="en-US" altLang="ja-JP" b="1" i="1" dirty="0" smtClean="0">
                        <a:solidFill>
                          <a:schemeClr val="accent5"/>
                        </a:solidFill>
                        <a:latin typeface="Cambria Math" panose="02040503050406030204" pitchFamily="18" charset="0"/>
                      </a:rPr>
                      <m:t>𝟒</m:t>
                    </m:r>
                  </m:oMath>
                </a14:m>
                <a:endParaRPr kumimoji="1" lang="en-US" altLang="ja-JP" b="1" dirty="0">
                  <a:solidFill>
                    <a:schemeClr val="accent5"/>
                  </a:solidFill>
                </a:endParaRPr>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a:t>
                </a:r>
                <a:endParaRPr kumimoji="1" lang="en-US" altLang="ja-JP" dirty="0"/>
              </a:p>
              <a:p>
                <a:pPr lvl="1"/>
                <a14:m>
                  <m:oMath xmlns:m="http://schemas.openxmlformats.org/officeDocument/2006/math">
                    <m:r>
                      <a:rPr lang="en-US" b="1" i="1" dirty="0" smtClean="0">
                        <a:solidFill>
                          <a:schemeClr val="accent5"/>
                        </a:solidFill>
                        <a:latin typeface="Cambria Math" panose="02040503050406030204" pitchFamily="18" charset="0"/>
                      </a:rPr>
                      <m:t>𝑪𝒓</m:t>
                    </m:r>
                    <m:r>
                      <a:rPr lang="en-US" b="1" i="1" dirty="0" smtClean="0">
                        <a:solidFill>
                          <a:schemeClr val="accent5"/>
                        </a:solidFill>
                        <a:latin typeface="Cambria Math" panose="02040503050406030204" pitchFamily="18" charset="0"/>
                      </a:rPr>
                      <m:t>=</m:t>
                    </m:r>
                    <m:r>
                      <a:rPr lang="en-US" b="1" i="1" dirty="0" smtClean="0">
                        <a:solidFill>
                          <a:schemeClr val="accent5"/>
                        </a:solidFill>
                        <a:latin typeface="Cambria Math" panose="02040503050406030204" pitchFamily="18" charset="0"/>
                      </a:rPr>
                      <m:t>𝑪𝒕</m:t>
                    </m:r>
                    <m:r>
                      <a:rPr lang="en-US" b="1" i="1" dirty="0" smtClean="0">
                        <a:solidFill>
                          <a:schemeClr val="accent5"/>
                        </a:solidFill>
                        <a:latin typeface="Cambria Math" panose="02040503050406030204" pitchFamily="18" charset="0"/>
                      </a:rPr>
                      <m:t> + </m:t>
                    </m:r>
                    <m:r>
                      <a:rPr lang="en-US" b="1" i="1" dirty="0" smtClean="0">
                        <a:solidFill>
                          <a:schemeClr val="accent5"/>
                        </a:solidFill>
                        <a:latin typeface="Cambria Math" panose="02040503050406030204" pitchFamily="18" charset="0"/>
                      </a:rPr>
                      <m:t>𝑵𝒎</m:t>
                    </m:r>
                    <m:r>
                      <a:rPr lang="en-US" altLang="ja-JP" b="1" i="1" dirty="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𝑪𝒑</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oMath>
                </a14:m>
                <a:endParaRPr kumimoji="1" lang="en-US" b="1" dirty="0">
                  <a:solidFill>
                    <a:schemeClr val="accent5"/>
                  </a:solidFill>
                </a:endParaRPr>
              </a:p>
              <a:p>
                <a:pPr lvl="1"/>
                <a:r>
                  <a:rPr kumimoji="1" lang="ja-JP" altLang="en-US" dirty="0"/>
                  <a:t>分岐予測ミスにより </a:t>
                </a:r>
                <a:r>
                  <a:rPr kumimoji="1" lang="en-US" altLang="ja-JP" dirty="0"/>
                  <a:t>10% </a:t>
                </a:r>
                <a:r>
                  <a:rPr kumimoji="1" lang="ja-JP" altLang="en-US" dirty="0"/>
                  <a:t>実行サイクル数が伸びている</a:t>
                </a:r>
                <a:endParaRPr kumimoji="1" lang="en-US" dirty="0"/>
              </a:p>
            </p:txBody>
          </p:sp>
        </mc:Choice>
        <mc:Fallback>
          <p:sp>
            <p:nvSpPr>
              <p:cNvPr id="3" name="コンテンツ プレースホルダー 2">
                <a:extLst>
                  <a:ext uri="{FF2B5EF4-FFF2-40B4-BE49-F238E27FC236}">
                    <a16:creationId xmlns:a16="http://schemas.microsoft.com/office/drawing/2014/main" id="{7A388F3E-9D46-BE60-22D7-DE67BE9600EC}"/>
                  </a:ext>
                </a:extLst>
              </p:cNvPr>
              <p:cNvSpPr>
                <a:spLocks noGrp="1" noRot="1" noChangeAspect="1" noMove="1" noResize="1" noEditPoints="1" noAdjustHandles="1" noChangeArrowheads="1" noChangeShapeType="1" noTextEdit="1"/>
              </p:cNvSpPr>
              <p:nvPr>
                <p:ph type="body" sz="quarter" idx="10"/>
              </p:nvPr>
            </p:nvSpPr>
            <p:spPr>
              <a:xfrm>
                <a:off x="1955955" y="1088974"/>
                <a:ext cx="8550095" cy="5220058"/>
              </a:xfrm>
              <a:blipFill>
                <a:blip r:embed="rId2"/>
                <a:stretch>
                  <a:fillRect l="-642" t="-2570" b="-432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62667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en-US" dirty="0"/>
              <a:t>IPC </a:t>
            </a:r>
            <a:r>
              <a:rPr kumimoji="1" lang="ja-JP" altLang="en-US" dirty="0"/>
              <a:t>で考えると</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p:txBody>
              <a:bodyPr/>
              <a:lstStyle/>
              <a:p>
                <a:r>
                  <a:rPr lang="ja-JP" altLang="en-US" i="1" dirty="0">
                    <a:latin typeface="Cambria Math" panose="02040503050406030204" pitchFamily="18" charset="0"/>
                  </a:rPr>
                  <a:t>最終的な性能を考える上で </a:t>
                </a:r>
                <a:r>
                  <a:rPr lang="en-US" altLang="ja-JP" i="0" dirty="0">
                    <a:latin typeface="+mj-lt"/>
                  </a:rPr>
                  <a:t>IPC</a:t>
                </a:r>
                <a14:m>
                  <m:oMath xmlns:m="http://schemas.openxmlformats.org/officeDocument/2006/math">
                    <m:r>
                      <a:rPr lang="en-US" altLang="ja-JP" i="1" dirty="0" smtClean="0">
                        <a:latin typeface="Cambria Math" panose="02040503050406030204" pitchFamily="18" charset="0"/>
                      </a:rPr>
                      <m:t> </m:t>
                    </m:r>
                  </m:oMath>
                </a14:m>
                <a:r>
                  <a:rPr lang="en-US" altLang="ja-JP" i="1" dirty="0">
                    <a:latin typeface="Cambria Math" panose="02040503050406030204" pitchFamily="18" charset="0"/>
                  </a:rPr>
                  <a:t> </a:t>
                </a:r>
                <a:r>
                  <a:rPr lang="ja-JP" altLang="en-US" i="1" dirty="0">
                    <a:latin typeface="Cambria Math" panose="02040503050406030204" pitchFamily="18" charset="0"/>
                  </a:rPr>
                  <a:t>の方が都合がよい</a:t>
                </a:r>
                <a:endParaRPr lang="en-US" altLang="ja-JP" i="1" dirty="0">
                  <a:latin typeface="Cambria Math" panose="02040503050406030204" pitchFamily="18" charset="0"/>
                </a:endParaRPr>
              </a:p>
              <a:p>
                <a14:m>
                  <m:oMath xmlns:m="http://schemas.openxmlformats.org/officeDocument/2006/math">
                    <m:r>
                      <a:rPr lang="ja-JP" altLang="en-US" i="1" dirty="0" smtClean="0">
                        <a:latin typeface="Cambria Math" panose="02040503050406030204" pitchFamily="18" charset="0"/>
                      </a:rPr>
                      <m:t>実行サイクル数</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𝐶𝑟</m:t>
                    </m:r>
                  </m:oMath>
                </a14:m>
                <a:r>
                  <a:rPr kumimoji="1" lang="ja-JP" altLang="en-US" dirty="0"/>
                  <a:t> を命令数 </a:t>
                </a:r>
                <a14:m>
                  <m:oMath xmlns:m="http://schemas.openxmlformats.org/officeDocument/2006/math">
                    <m:r>
                      <a:rPr kumimoji="1" lang="en-US" altLang="ja-JP" i="1" dirty="0" smtClean="0">
                        <a:latin typeface="Cambria Math" panose="02040503050406030204" pitchFamily="18" charset="0"/>
                      </a:rPr>
                      <m:t>𝑁𝑖</m:t>
                    </m:r>
                  </m:oMath>
                </a14:m>
                <a:r>
                  <a:rPr kumimoji="1" lang="en-US" dirty="0"/>
                  <a:t> </a:t>
                </a:r>
                <a:r>
                  <a:rPr kumimoji="1" lang="ja-JP" altLang="en-US" dirty="0"/>
                  <a:t>で正規化すると，</a:t>
                </a:r>
                <a:endParaRPr kumimoji="1" lang="en-US" altLang="ja-JP" dirty="0"/>
              </a:p>
              <a:p>
                <a:pPr lvl="1"/>
                <a14:m>
                  <m:oMath xmlns:m="http://schemas.openxmlformats.org/officeDocument/2006/math">
                    <m:f>
                      <m:fPr>
                        <m:ctrlPr>
                          <a:rPr lang="en-US" altLang="ja-JP" b="0" i="1" dirty="0" smtClean="0">
                            <a:latin typeface="Cambria Math" panose="02040503050406030204" pitchFamily="18" charset="0"/>
                          </a:rPr>
                        </m:ctrlPr>
                      </m:fPr>
                      <m:num>
                        <m:r>
                          <a:rPr lang="en-US" altLang="ja-JP" i="1" dirty="0" smtClean="0">
                            <a:latin typeface="Cambria Math" panose="02040503050406030204" pitchFamily="18" charset="0"/>
                          </a:rPr>
                          <m:t>𝐶𝑟</m:t>
                        </m:r>
                      </m:num>
                      <m:den>
                        <m:r>
                          <a:rPr lang="en-US" altLang="ja-JP" b="0" i="1" dirty="0" smtClean="0">
                            <a:latin typeface="Cambria Math" panose="02040503050406030204" pitchFamily="18" charset="0"/>
                          </a:rPr>
                          <m:t>𝑁𝑖</m:t>
                        </m:r>
                      </m:den>
                    </m:f>
                    <m:r>
                      <a:rPr lang="en-US" altLang="ja-JP" i="1" dirty="0"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𝑁𝑚</m:t>
                            </m:r>
                            <m:r>
                              <a:rPr lang="en-US" altLang="ja-JP" i="1" dirty="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r>
                              <a:rPr lang="en-US" altLang="ja-JP" b="0" i="1" dirty="0" smtClean="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b="0" i="1" dirty="0" smtClean="0">
                        <a:latin typeface="Cambria Math" panose="02040503050406030204" pitchFamily="18" charset="0"/>
                      </a:rPr>
                      <m:t>=</m:t>
                    </m:r>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𝑃𝑏</m:t>
                    </m:r>
                    <m:r>
                      <a:rPr kumimoji="1" lang="en-US" altLang="ja-JP" b="0"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𝑃𝑚</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oMath>
                </a14:m>
                <a:endParaRPr kumimoji="1" lang="en-US" altLang="ja-JP" dirty="0">
                  <a:solidFill>
                    <a:schemeClr val="accent5"/>
                  </a:solidFill>
                </a:endParaRPr>
              </a:p>
              <a:p>
                <a:pPr lvl="1"/>
                <a:endParaRPr kumimoji="1" lang="en-US" dirty="0">
                  <a:solidFill>
                    <a:schemeClr val="accent5"/>
                  </a:solidFill>
                </a:endParaRPr>
              </a:p>
              <a:p>
                <a:r>
                  <a:rPr lang="en-US" altLang="ja-JP" dirty="0"/>
                  <a:t>IPC </a:t>
                </a:r>
                <a:r>
                  <a:rPr lang="ja-JP" altLang="en-US" dirty="0"/>
                  <a:t>は命令数を実行サイクル数で割ったもの </a:t>
                </a:r>
                <a:r>
                  <a:rPr lang="en-US" altLang="ja-JP" dirty="0"/>
                  <a:t>= </a:t>
                </a:r>
                <a:r>
                  <a:rPr lang="ja-JP" altLang="en-US" dirty="0"/>
                  <a:t>つまり上記の逆数</a:t>
                </a:r>
                <a:r>
                  <a:rPr kumimoji="1" lang="ja-JP" altLang="en-US" dirty="0"/>
                  <a:t> </a:t>
                </a:r>
                <a:endParaRPr kumimoji="1" lang="en-US" altLang="ja-JP" dirty="0"/>
              </a:p>
              <a:p>
                <a:pPr lvl="1"/>
                <a14:m>
                  <m:oMath xmlns:m="http://schemas.openxmlformats.org/officeDocument/2006/math">
                    <m:r>
                      <a:rPr kumimoji="1" lang="en-US" altLang="ja-JP" i="1" dirty="0" smtClean="0">
                        <a:latin typeface="Cambria Math" panose="02040503050406030204" pitchFamily="18" charset="0"/>
                      </a:rPr>
                      <m:t>𝐼𝑃𝐶𝑟</m:t>
                    </m:r>
                  </m:oMath>
                </a14:m>
                <a:r>
                  <a:rPr kumimoji="1" lang="en-US" dirty="0"/>
                  <a:t>=</a:t>
                </a:r>
                <a14:m>
                  <m:oMath xmlns:m="http://schemas.openxmlformats.org/officeDocument/2006/math">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a:solidFill>
                              <a:schemeClr val="accent5"/>
                            </a:solidFill>
                            <a:latin typeface="Cambria Math" panose="02040503050406030204" pitchFamily="18" charset="0"/>
                          </a:rPr>
                          <m:t>𝑃𝑏</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𝑃𝑚</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den>
                    </m:f>
                    <m:r>
                      <a:rPr lang="en-US" altLang="ja-JP" b="0" i="1" dirty="0" smtClean="0">
                        <a:latin typeface="Cambria Math" panose="02040503050406030204" pitchFamily="18" charset="0"/>
                      </a:rPr>
                      <m:t>=</m:t>
                    </m:r>
                    <m:f>
                      <m:fPr>
                        <m:ctrlPr>
                          <a:rPr lang="en-US" altLang="ja-JP" i="1" dirty="0" smtClean="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f>
                          <m:fPr>
                            <m:ctrlPr>
                              <a:rPr lang="en-US" altLang="ja-JP" i="1" dirty="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r>
                              <a:rPr lang="en-US" altLang="ja-JP" b="0" i="1" dirty="0" smtClean="0">
                                <a:solidFill>
                                  <a:schemeClr val="accent6"/>
                                </a:solidFill>
                                <a:latin typeface="Cambria Math" panose="02040503050406030204" pitchFamily="18" charset="0"/>
                              </a:rPr>
                              <m:t>𝐼𝑃𝐶𝑡</m:t>
                            </m:r>
                          </m:den>
                        </m:f>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𝑃𝑏</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𝑃𝑚</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𝐶𝑝</m:t>
                        </m:r>
                      </m:den>
                    </m:f>
                  </m:oMath>
                </a14:m>
                <a:endParaRPr lang="en-US" altLang="ja-JP" dirty="0"/>
              </a:p>
              <a:p>
                <a:pPr lvl="1"/>
                <a14:m>
                  <m:oMath xmlns:m="http://schemas.openxmlformats.org/officeDocument/2006/math">
                    <m:r>
                      <a:rPr lang="ja-JP" altLang="en-US" i="1" dirty="0">
                        <a:latin typeface="Cambria Math" panose="02040503050406030204" pitchFamily="18" charset="0"/>
                      </a:rPr>
                      <m:t>ここで</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𝐼𝑃𝐶𝑟</m:t>
                    </m:r>
                  </m:oMath>
                </a14:m>
                <a:r>
                  <a:rPr lang="en-US" altLang="ja-JP" dirty="0"/>
                  <a:t> </a:t>
                </a:r>
                <a:r>
                  <a:rPr lang="ja-JP" altLang="en-US" dirty="0"/>
                  <a:t>は実際の </a:t>
                </a:r>
                <a:r>
                  <a:rPr lang="en-US" altLang="ja-JP" dirty="0"/>
                  <a:t>IPC</a:t>
                </a:r>
                <a:r>
                  <a:rPr lang="ja-JP" altLang="en-US" dirty="0"/>
                  <a:t>，</a:t>
                </a:r>
                <a14:m>
                  <m:oMath xmlns:m="http://schemas.openxmlformats.org/officeDocument/2006/math">
                    <m:r>
                      <a:rPr lang="en-US" altLang="ja-JP" i="1" dirty="0" smtClean="0">
                        <a:latin typeface="Cambria Math" panose="02040503050406030204" pitchFamily="18" charset="0"/>
                      </a:rPr>
                      <m:t>𝐼𝑃𝐶𝑡</m:t>
                    </m:r>
                  </m:oMath>
                </a14:m>
                <a:r>
                  <a:rPr lang="en-US" altLang="ja-JP" dirty="0"/>
                  <a:t> </a:t>
                </a:r>
                <a:r>
                  <a:rPr lang="ja-JP" altLang="en-US" dirty="0"/>
                  <a:t>は理想 </a:t>
                </a:r>
                <a:r>
                  <a:rPr lang="en-US" altLang="ja-JP" dirty="0"/>
                  <a:t>IPC</a:t>
                </a:r>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r="-692"/>
                </a:stretch>
              </a:blipFill>
            </p:spPr>
            <p:txBody>
              <a:bodyPr/>
              <a:lstStyle/>
              <a:p>
                <a:r>
                  <a:rPr lang="en-US">
                    <a:noFill/>
                  </a:rPr>
                  <a:t> </a:t>
                </a:r>
              </a:p>
            </p:txBody>
          </p:sp>
        </mc:Fallback>
      </mc:AlternateContent>
    </p:spTree>
    <p:extLst>
      <p:ext uri="{BB962C8B-B14F-4D97-AF65-F5344CB8AC3E}">
        <p14:creationId xmlns:p14="http://schemas.microsoft.com/office/powerpoint/2010/main" val="3605541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E99578-A595-50A4-CCA4-30AF7D776F7F}"/>
              </a:ext>
            </a:extLst>
          </p:cNvPr>
          <p:cNvSpPr>
            <a:spLocks noGrp="1"/>
          </p:cNvSpPr>
          <p:nvPr>
            <p:ph type="title"/>
          </p:nvPr>
        </p:nvSpPr>
        <p:spPr/>
        <p:txBody>
          <a:bodyPr/>
          <a:lstStyle/>
          <a:p>
            <a:r>
              <a:rPr kumimoji="1" lang="ja-JP" altLang="en-US" dirty="0"/>
              <a:t>一般化できる</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536DDF2-031C-97E8-113C-48FFED98AC12}"/>
                  </a:ext>
                </a:extLst>
              </p:cNvPr>
              <p:cNvSpPr>
                <a:spLocks noGrp="1"/>
              </p:cNvSpPr>
              <p:nvPr>
                <p:ph type="body" sz="quarter" idx="10"/>
              </p:nvPr>
            </p:nvSpPr>
            <p:spPr/>
            <p:txBody>
              <a:bodyPr/>
              <a:lstStyle/>
              <a:p>
                <a:r>
                  <a:rPr kumimoji="1" lang="ja-JP" altLang="en-US" dirty="0"/>
                  <a:t>以下のようにおいた場合，</a:t>
                </a:r>
                <a:endParaRPr kumimoji="1" lang="en-US" altLang="ja-JP" dirty="0"/>
              </a:p>
              <a:p>
                <a:pPr lvl="1"/>
                <a:r>
                  <a:rPr lang="ja-JP" altLang="en-US" dirty="0"/>
                  <a:t>理想的な実行の際のサイクル数：</a:t>
                </a:r>
                <a:r>
                  <a:rPr lang="en-US" altLang="ja-JP" dirty="0"/>
                  <a:t>	</a:t>
                </a:r>
                <a14:m>
                  <m:oMath xmlns:m="http://schemas.openxmlformats.org/officeDocument/2006/math">
                    <m:r>
                      <a:rPr lang="en-US" altLang="ja-JP" i="1" dirty="0">
                        <a:latin typeface="Cambria Math" panose="02040503050406030204" pitchFamily="18" charset="0"/>
                      </a:rPr>
                      <m:t>𝐶𝑡</m:t>
                    </m:r>
                  </m:oMath>
                </a14:m>
                <a:br>
                  <a:rPr lang="en-US" altLang="ja-JP" dirty="0"/>
                </a:br>
                <a:endParaRPr lang="en-US" altLang="ja-JP" dirty="0"/>
              </a:p>
              <a:p>
                <a:pPr lvl="1"/>
                <a:r>
                  <a:rPr lang="ja-JP" altLang="en-US" dirty="0"/>
                  <a:t>何らかのハザードの発生回数：</a:t>
                </a:r>
                <a:r>
                  <a:rPr lang="en-US" altLang="ja-JP" dirty="0"/>
                  <a:t>	</a:t>
                </a:r>
                <a14:m>
                  <m:oMath xmlns:m="http://schemas.openxmlformats.org/officeDocument/2006/math">
                    <m:r>
                      <a:rPr lang="en-US" altLang="ja-JP" i="1" dirty="0" smtClean="0">
                        <a:latin typeface="Cambria Math" panose="02040503050406030204" pitchFamily="18" charset="0"/>
                      </a:rPr>
                      <m:t>𝑁</m:t>
                    </m:r>
                    <m:r>
                      <a:rPr lang="en-US" altLang="ja-JP" b="0" i="1" dirty="0" smtClean="0">
                        <a:latin typeface="Cambria Math" panose="02040503050406030204" pitchFamily="18" charset="0"/>
                      </a:rPr>
                      <m:t>h</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𝑃𝑖</m:t>
                    </m:r>
                    <m:r>
                      <a:rPr lang="en-US" altLang="ja-JP" i="1" dirty="0">
                        <a:latin typeface="Cambria Math" panose="02040503050406030204" pitchFamily="18" charset="0"/>
                      </a:rPr>
                      <m:t>×</m:t>
                    </m:r>
                    <m:r>
                      <a:rPr lang="en-US" altLang="ja-JP" i="1" dirty="0">
                        <a:latin typeface="Cambria Math" panose="02040503050406030204" pitchFamily="18" charset="0"/>
                      </a:rPr>
                      <m:t>𝑃h</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ハザードを起こす命令の出現率：</a:t>
                </a:r>
                <a:r>
                  <a:rPr lang="en-US" altLang="ja-JP" dirty="0"/>
                  <a:t>	</a:t>
                </a:r>
                <a14:m>
                  <m:oMath xmlns:m="http://schemas.openxmlformats.org/officeDocument/2006/math">
                    <m:r>
                      <a:rPr lang="en-US" altLang="ja-JP" i="1" dirty="0">
                        <a:latin typeface="Cambria Math" panose="02040503050406030204" pitchFamily="18" charset="0"/>
                      </a:rPr>
                      <m:t>𝑃</m:t>
                    </m:r>
                    <m:r>
                      <a:rPr lang="en-US" altLang="ja-JP" b="0" i="1" dirty="0" smtClean="0">
                        <a:latin typeface="Cambria Math" panose="02040503050406030204" pitchFamily="18" charset="0"/>
                      </a:rPr>
                      <m:t>𝑖</m:t>
                    </m:r>
                  </m:oMath>
                </a14:m>
                <a:endParaRPr kumimoji="1" lang="en-US" altLang="ja-JP" dirty="0"/>
              </a:p>
              <a:p>
                <a:pPr lvl="2"/>
                <a:r>
                  <a:rPr kumimoji="1" lang="ja-JP" altLang="en-US" dirty="0"/>
                  <a:t>その命令毎のハザード発生率：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m:t>
                    </m:r>
                    <m:r>
                      <a:rPr kumimoji="1" lang="en-US" altLang="ja-JP" b="0" i="1" dirty="0" smtClean="0">
                        <a:latin typeface="Cambria Math" panose="02040503050406030204" pitchFamily="18" charset="0"/>
                      </a:rPr>
                      <m:t>h</m:t>
                    </m:r>
                  </m:oMath>
                </a14:m>
                <a:br>
                  <a:rPr kumimoji="1" lang="en-US" altLang="ja-JP" dirty="0"/>
                </a:br>
                <a:endParaRPr kumimoji="1" lang="en-US" altLang="ja-JP" dirty="0"/>
              </a:p>
              <a:p>
                <a:pPr lvl="1"/>
                <a:r>
                  <a:rPr kumimoji="1" lang="ja-JP" altLang="en-US" dirty="0"/>
                  <a:t>ハザード時のサイクル数の増加：</a:t>
                </a:r>
                <a:r>
                  <a:rPr kumimoji="1" lang="en-US" altLang="ja-JP" dirty="0"/>
                  <a:t>	</a:t>
                </a:r>
                <a14:m>
                  <m:oMath xmlns:m="http://schemas.openxmlformats.org/officeDocument/2006/math">
                    <m:r>
                      <a:rPr kumimoji="1" lang="en-US" altLang="ja-JP" i="1" dirty="0" smtClean="0">
                        <a:latin typeface="Cambria Math" panose="02040503050406030204" pitchFamily="18" charset="0"/>
                      </a:rPr>
                      <m:t>𝐶𝑝</m:t>
                    </m:r>
                  </m:oMath>
                </a14:m>
                <a:endParaRPr kumimoji="1" lang="en-US" altLang="ja-JP"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latin typeface="Cambria Math" panose="02040503050406030204" pitchFamily="18" charset="0"/>
                      </a:rPr>
                      <m:t>𝑁h</m:t>
                    </m:r>
                    <m:r>
                      <a:rPr lang="en-US" altLang="ja-JP" i="1" dirty="0">
                        <a:latin typeface="Cambria Math" panose="02040503050406030204" pitchFamily="18" charset="0"/>
                      </a:rPr>
                      <m:t>×</m:t>
                    </m:r>
                    <m:r>
                      <a:rPr lang="en-US" altLang="ja-JP" b="0" i="1" dirty="0" smtClean="0">
                        <a:latin typeface="Cambria Math" panose="02040503050406030204" pitchFamily="18" charset="0"/>
                      </a:rPr>
                      <m:t>𝐶𝑝</m:t>
                    </m:r>
                  </m:oMath>
                </a14:m>
                <a:endParaRPr kumimoji="1" lang="en-US" dirty="0"/>
              </a:p>
            </p:txBody>
          </p:sp>
        </mc:Choice>
        <mc:Fallback xmlns="">
          <p:sp>
            <p:nvSpPr>
              <p:cNvPr id="3" name="コンテンツ プレースホルダー 2">
                <a:extLst>
                  <a:ext uri="{FF2B5EF4-FFF2-40B4-BE49-F238E27FC236}">
                    <a16:creationId xmlns:a16="http://schemas.microsoft.com/office/drawing/2014/main" id="{F536DDF2-031C-97E8-113C-48FFED98AC12}"/>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2517525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78D4-CEE1-7814-8C31-ED385C6B5221}"/>
              </a:ext>
            </a:extLst>
          </p:cNvPr>
          <p:cNvSpPr>
            <a:spLocks noGrp="1"/>
          </p:cNvSpPr>
          <p:nvPr>
            <p:ph type="title"/>
          </p:nvPr>
        </p:nvSpPr>
        <p:spPr/>
        <p:txBody>
          <a:bodyPr/>
          <a:lstStyle/>
          <a:p>
            <a:r>
              <a:rPr kumimoji="1" lang="ja-JP" altLang="en-US" dirty="0"/>
              <a:t>一般化できる</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F99C606-F320-4759-1DA1-881FE7545722}"/>
                  </a:ext>
                </a:extLst>
              </p:cNvPr>
              <p:cNvSpPr>
                <a:spLocks noGrp="1"/>
              </p:cNvSpPr>
              <p:nvPr>
                <p:ph type="body" sz="quarter" idx="10"/>
              </p:nvPr>
            </p:nvSpPr>
            <p:spPr/>
            <p:txBody>
              <a:bodyPr/>
              <a:lstStyle/>
              <a:p>
                <a:r>
                  <a:rPr kumimoji="1" lang="ja-JP" altLang="en-US" dirty="0"/>
                  <a:t>ハザード </a:t>
                </a:r>
                <a:r>
                  <a:rPr kumimoji="1" lang="en-US" altLang="ja-JP" dirty="0"/>
                  <a:t>a</a:t>
                </a:r>
                <a:r>
                  <a:rPr kumimoji="1" lang="ja-JP" altLang="en-US" dirty="0"/>
                  <a:t>，ハザード </a:t>
                </a:r>
                <a:r>
                  <a:rPr kumimoji="1" lang="en-US" altLang="ja-JP" dirty="0"/>
                  <a:t>b</a:t>
                </a:r>
                <a:r>
                  <a:rPr kumimoji="1" lang="ja-JP" altLang="en-US" dirty="0"/>
                  <a:t>，ハザード </a:t>
                </a:r>
                <a:r>
                  <a:rPr kumimoji="1" lang="en-US" altLang="ja-JP" dirty="0"/>
                  <a:t>c </a:t>
                </a:r>
                <a:r>
                  <a:rPr kumimoji="1" lang="ja-JP" altLang="en-US" dirty="0"/>
                  <a:t>･･･ とあった時</a:t>
                </a:r>
                <a:endParaRPr kumimoji="1" lang="en-US" altLang="ja-JP" dirty="0"/>
              </a:p>
              <a:p>
                <a:pPr lvl="1"/>
                <a:r>
                  <a:rPr kumimoji="1" lang="ja-JP" altLang="en-US" dirty="0"/>
                  <a:t>それぞれおきた回数が </a:t>
                </a:r>
                <a14:m>
                  <m:oMath xmlns:m="http://schemas.openxmlformats.org/officeDocument/2006/math">
                    <m:r>
                      <a:rPr kumimoji="1" lang="en-US" altLang="ja-JP" i="1" dirty="0" smtClean="0">
                        <a:latin typeface="Cambria Math" panose="02040503050406030204" pitchFamily="18" charset="0"/>
                      </a:rPr>
                      <m:t>𝑁h</m:t>
                    </m:r>
                    <m:r>
                      <a:rPr kumimoji="1" lang="en-US" altLang="ja-JP" b="0" i="1" dirty="0" smtClean="0">
                        <a:latin typeface="Cambria Math" panose="02040503050406030204" pitchFamily="18" charset="0"/>
                      </a:rPr>
                      <m:t>..</m:t>
                    </m:r>
                  </m:oMath>
                </a14:m>
                <a:r>
                  <a:rPr kumimoji="1" lang="ja-JP" altLang="en-US" dirty="0"/>
                  <a:t>，ペナルティが </a:t>
                </a:r>
                <a14:m>
                  <m:oMath xmlns:m="http://schemas.openxmlformats.org/officeDocument/2006/math">
                    <m:r>
                      <a:rPr kumimoji="1" lang="en-US" altLang="ja-JP" i="1" dirty="0" smtClean="0">
                        <a:latin typeface="Cambria Math" panose="02040503050406030204" pitchFamily="18" charset="0"/>
                      </a:rPr>
                      <m:t>𝐶𝑝</m:t>
                    </m:r>
                    <m:r>
                      <a:rPr kumimoji="1" lang="en-US" altLang="ja-JP" i="1" dirty="0" smtClean="0">
                        <a:latin typeface="Cambria Math" panose="02040503050406030204" pitchFamily="18" charset="0"/>
                      </a:rPr>
                      <m:t>…</m:t>
                    </m:r>
                  </m:oMath>
                </a14:m>
                <a:r>
                  <a:rPr kumimoji="1" lang="en-US" altLang="ja-JP" dirty="0"/>
                  <a:t> </a:t>
                </a:r>
                <a:r>
                  <a:rPr kumimoji="1" lang="ja-JP" altLang="en-US" dirty="0"/>
                  <a:t>とする</a:t>
                </a:r>
                <a:endParaRPr kumimoji="1" lang="en-US" altLang="ja-JP"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solidFill>
                          <a:schemeClr val="accent5"/>
                        </a:solidFill>
                        <a:latin typeface="Cambria Math" panose="02040503050406030204" pitchFamily="18" charset="0"/>
                      </a:rPr>
                      <m:t>𝑁</m:t>
                    </m:r>
                    <m:r>
                      <a:rPr lang="en-US" altLang="ja-JP" b="0" i="1" dirty="0" smtClean="0">
                        <a:solidFill>
                          <a:schemeClr val="accent5"/>
                        </a:solidFill>
                        <a:latin typeface="Cambria Math" panose="02040503050406030204" pitchFamily="18" charset="0"/>
                      </a:rPr>
                      <m:t>h</m:t>
                    </m:r>
                    <m:r>
                      <a:rPr lang="en-US" altLang="ja-JP" i="1" dirty="0" smtClean="0">
                        <a:solidFill>
                          <a:schemeClr val="accent5"/>
                        </a:solidFill>
                        <a:latin typeface="Cambria Math" panose="02040503050406030204" pitchFamily="18" charset="0"/>
                      </a:rPr>
                      <m:t>𝑎</m:t>
                    </m:r>
                    <m:r>
                      <a:rPr lang="en-US" altLang="ja-JP" i="1" dirty="0">
                        <a:solidFill>
                          <a:schemeClr val="accent5"/>
                        </a:solidFill>
                        <a:latin typeface="Cambria Math" panose="02040503050406030204" pitchFamily="18" charset="0"/>
                      </a:rPr>
                      <m:t>×</m:t>
                    </m:r>
                    <m:r>
                      <a:rPr lang="en-US" altLang="ja-JP" b="0" i="1" dirty="0" smtClean="0">
                        <a:solidFill>
                          <a:schemeClr val="accent5"/>
                        </a:solidFill>
                        <a:latin typeface="Cambria Math" panose="02040503050406030204" pitchFamily="18" charset="0"/>
                      </a:rPr>
                      <m:t>𝐶𝑝𝑎</m:t>
                    </m:r>
                    <m:r>
                      <a:rPr lang="en-US" altLang="ja-JP" b="0" i="1" dirty="0" smtClean="0">
                        <a:latin typeface="Cambria Math" panose="02040503050406030204" pitchFamily="18" charset="0"/>
                      </a:rPr>
                      <m:t>+ </m:t>
                    </m:r>
                    <m:r>
                      <a:rPr lang="en-US" altLang="ja-JP" i="1" dirty="0" smtClean="0">
                        <a:solidFill>
                          <a:schemeClr val="accent6"/>
                        </a:solidFill>
                        <a:latin typeface="Cambria Math" panose="02040503050406030204" pitchFamily="18" charset="0"/>
                      </a:rPr>
                      <m:t>𝑁</m:t>
                    </m:r>
                    <m:r>
                      <a:rPr lang="en-US" altLang="ja-JP" b="0" i="1" dirty="0" smtClean="0">
                        <a:solidFill>
                          <a:schemeClr val="accent6"/>
                        </a:solidFill>
                        <a:latin typeface="Cambria Math" panose="02040503050406030204" pitchFamily="18" charset="0"/>
                      </a:rPr>
                      <m:t>h</m:t>
                    </m:r>
                    <m:r>
                      <a:rPr lang="en-US" altLang="ja-JP" i="1" dirty="0" smtClean="0">
                        <a:solidFill>
                          <a:schemeClr val="accent6"/>
                        </a:solidFill>
                        <a:latin typeface="Cambria Math" panose="02040503050406030204" pitchFamily="18" charset="0"/>
                      </a:rPr>
                      <m:t>𝑏</m:t>
                    </m:r>
                    <m:r>
                      <a:rPr lang="en-US" altLang="ja-JP" i="1" dirty="0" smtClean="0">
                        <a:solidFill>
                          <a:schemeClr val="accent6"/>
                        </a:solidFill>
                        <a:latin typeface="Cambria Math" panose="02040503050406030204" pitchFamily="18" charset="0"/>
                      </a:rPr>
                      <m:t>×</m:t>
                    </m:r>
                    <m:r>
                      <a:rPr lang="en-US" altLang="ja-JP" i="1" dirty="0" smtClean="0">
                        <a:solidFill>
                          <a:schemeClr val="accent6"/>
                        </a:solidFill>
                        <a:latin typeface="Cambria Math" panose="02040503050406030204" pitchFamily="18" charset="0"/>
                      </a:rPr>
                      <m:t>𝐶𝑝𝑏</m:t>
                    </m:r>
                    <m:r>
                      <a:rPr lang="en-US" altLang="ja-JP" i="1" dirty="0">
                        <a:latin typeface="Cambria Math" panose="02040503050406030204" pitchFamily="18" charset="0"/>
                      </a:rPr>
                      <m:t>+</m:t>
                    </m:r>
                    <m:r>
                      <a:rPr lang="en-US" altLang="ja-JP" i="1" dirty="0" smtClean="0">
                        <a:solidFill>
                          <a:schemeClr val="accent3">
                            <a:lumMod val="75000"/>
                          </a:schemeClr>
                        </a:solidFill>
                        <a:latin typeface="Cambria Math" panose="02040503050406030204" pitchFamily="18" charset="0"/>
                      </a:rPr>
                      <m:t>𝑁</m:t>
                    </m:r>
                    <m:r>
                      <a:rPr lang="en-US" altLang="ja-JP" b="0" i="1" dirty="0" smtClean="0">
                        <a:solidFill>
                          <a:schemeClr val="accent3">
                            <a:lumMod val="75000"/>
                          </a:schemeClr>
                        </a:solidFill>
                        <a:latin typeface="Cambria Math" panose="02040503050406030204" pitchFamily="18" charset="0"/>
                      </a:rPr>
                      <m:t>h𝑐</m:t>
                    </m:r>
                    <m:r>
                      <a:rPr lang="en-US" altLang="ja-JP" i="1" dirty="0">
                        <a:solidFill>
                          <a:schemeClr val="accent3">
                            <a:lumMod val="75000"/>
                          </a:schemeClr>
                        </a:solidFill>
                        <a:latin typeface="Cambria Math" panose="02040503050406030204" pitchFamily="18" charset="0"/>
                      </a:rPr>
                      <m:t>×</m:t>
                    </m:r>
                    <m:r>
                      <a:rPr lang="en-US" altLang="ja-JP" i="1" dirty="0">
                        <a:solidFill>
                          <a:schemeClr val="accent3">
                            <a:lumMod val="75000"/>
                          </a:schemeClr>
                        </a:solidFill>
                        <a:latin typeface="Cambria Math" panose="02040503050406030204" pitchFamily="18" charset="0"/>
                      </a:rPr>
                      <m:t>𝐶𝑝𝑐</m:t>
                    </m:r>
                    <m:r>
                      <a:rPr lang="en-US" altLang="ja-JP" b="0" i="1" dirty="0" smtClean="0">
                        <a:latin typeface="Cambria Math" panose="02040503050406030204" pitchFamily="18" charset="0"/>
                      </a:rPr>
                      <m:t>+…</m:t>
                    </m:r>
                  </m:oMath>
                </a14:m>
                <a:endParaRPr lang="en-US" altLang="ja-JP" b="0" dirty="0"/>
              </a:p>
              <a:p>
                <a:r>
                  <a:rPr lang="ja-JP" altLang="en-US" b="0" dirty="0"/>
                  <a:t>実行命令数を </a:t>
                </a:r>
                <a14:m>
                  <m:oMath xmlns:m="http://schemas.openxmlformats.org/officeDocument/2006/math">
                    <m:r>
                      <a:rPr lang="en-US" altLang="ja-JP" b="0" i="1" dirty="0" smtClean="0">
                        <a:latin typeface="Cambria Math" panose="02040503050406030204" pitchFamily="18" charset="0"/>
                      </a:rPr>
                      <m:t>𝑁𝑖</m:t>
                    </m:r>
                  </m:oMath>
                </a14:m>
                <a:r>
                  <a:rPr lang="ja-JP" altLang="en-US" dirty="0"/>
                  <a:t> とすると，</a:t>
                </a:r>
                <a14:m>
                  <m:oMath xmlns:m="http://schemas.openxmlformats.org/officeDocument/2006/math">
                    <m:r>
                      <a:rPr lang="en-US" altLang="ja-JP" i="1" dirty="0" smtClean="0">
                        <a:latin typeface="Cambria Math" panose="02040503050406030204" pitchFamily="18" charset="0"/>
                      </a:rPr>
                      <m:t>𝐼𝑃𝐶𝑟</m:t>
                    </m:r>
                    <m:r>
                      <a:rPr lang="en-US" altLang="ja-JP" i="1" dirty="0" smtClean="0">
                        <a:latin typeface="Cambria Math" panose="02040503050406030204" pitchFamily="18" charset="0"/>
                      </a:rPr>
                      <m:t> = </m:t>
                    </m:r>
                    <m:r>
                      <a:rPr lang="en-US" altLang="ja-JP" i="1" dirty="0" smtClean="0">
                        <a:latin typeface="Cambria Math" panose="02040503050406030204" pitchFamily="18" charset="0"/>
                      </a:rPr>
                      <m:t>𝑁𝑖</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𝐶𝑟</m:t>
                    </m:r>
                  </m:oMath>
                </a14:m>
                <a:endParaRPr lang="en-US" altLang="ja-JP" b="0" dirty="0"/>
              </a:p>
            </p:txBody>
          </p:sp>
        </mc:Choice>
        <mc:Fallback xmlns="">
          <p:sp>
            <p:nvSpPr>
              <p:cNvPr id="3" name="コンテンツ プレースホルダー 2">
                <a:extLst>
                  <a:ext uri="{FF2B5EF4-FFF2-40B4-BE49-F238E27FC236}">
                    <a16:creationId xmlns:a16="http://schemas.microsoft.com/office/drawing/2014/main" id="{2F99C606-F320-4759-1DA1-881FE7545722}"/>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632680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a:t>課題 ８</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5"/>
            <a:ext cx="7830087" cy="5220057"/>
          </a:xfrm>
        </p:spPr>
        <p:txBody>
          <a:bodyPr/>
          <a:lstStyle/>
          <a:p>
            <a:r>
              <a:rPr lang="ja-JP" altLang="en-US" sz="1600" dirty="0"/>
              <a:t>以下のような条件を考える</a:t>
            </a:r>
            <a:endParaRPr lang="en-US" altLang="ja-JP" sz="1600" dirty="0"/>
          </a:p>
          <a:p>
            <a:pPr lvl="1"/>
            <a:r>
              <a:rPr lang="en-US" altLang="ja-JP" sz="1600" dirty="0"/>
              <a:t>10</a:t>
            </a:r>
            <a:r>
              <a:rPr lang="ja-JP" altLang="en-US" sz="1600" dirty="0"/>
              <a:t>段のパイプラインを持つ </a:t>
            </a:r>
            <a:r>
              <a:rPr lang="en-US" altLang="ja-JP" sz="1600" dirty="0"/>
              <a:t>2-way </a:t>
            </a:r>
            <a:r>
              <a:rPr lang="ja-JP" altLang="en-US" sz="1600" dirty="0"/>
              <a:t>スーパスカラプロセッサであり，理想的には </a:t>
            </a:r>
            <a:r>
              <a:rPr lang="en-US" altLang="ja-JP" sz="1600" dirty="0"/>
              <a:t>IPC=2 </a:t>
            </a:r>
            <a:r>
              <a:rPr lang="ja-JP" altLang="en-US" sz="1600" dirty="0"/>
              <a:t>で実行できる</a:t>
            </a:r>
            <a:endParaRPr lang="en-US" altLang="ja-JP" sz="1600" dirty="0"/>
          </a:p>
          <a:p>
            <a:pPr lvl="1"/>
            <a:r>
              <a:rPr lang="ja-JP" altLang="en-US" sz="1600" dirty="0"/>
              <a:t>全実行命令におけるなんらかのデータハザードの発生率は </a:t>
            </a:r>
            <a:r>
              <a:rPr lang="en-US" altLang="ja-JP" sz="1600" dirty="0"/>
              <a:t>0.2 </a:t>
            </a:r>
          </a:p>
          <a:p>
            <a:pPr lvl="1"/>
            <a:r>
              <a:rPr lang="ja-JP" altLang="en-US" sz="1600" dirty="0"/>
              <a:t>このデータハザード発生時は </a:t>
            </a:r>
            <a:r>
              <a:rPr lang="en-US" altLang="ja-JP" sz="1600" dirty="0"/>
              <a:t>1 </a:t>
            </a:r>
            <a:r>
              <a:rPr lang="ja-JP" altLang="en-US" sz="1600" dirty="0"/>
              <a:t>サイクル実行時間が伸びるものとする</a:t>
            </a:r>
            <a:endParaRPr lang="en-US" altLang="ja-JP" sz="1600" dirty="0"/>
          </a:p>
          <a:p>
            <a:pPr lvl="1"/>
            <a:r>
              <a:rPr lang="ja-JP" altLang="en-US" sz="1600" dirty="0"/>
              <a:t>全実行命令における分岐命令の出現率は </a:t>
            </a:r>
            <a:r>
              <a:rPr lang="en-US" altLang="ja-JP" sz="1600" dirty="0"/>
              <a:t>0.2</a:t>
            </a:r>
          </a:p>
          <a:p>
            <a:pPr lvl="1"/>
            <a:r>
              <a:rPr lang="ja-JP" altLang="en-US" sz="1600" dirty="0"/>
              <a:t>分岐予測ミス率は </a:t>
            </a:r>
            <a:r>
              <a:rPr lang="en-US" altLang="ja-JP" sz="1600" dirty="0"/>
              <a:t>0.3</a:t>
            </a:r>
          </a:p>
          <a:p>
            <a:r>
              <a:rPr lang="en-US" altLang="ja-JP" sz="1600" dirty="0"/>
              <a:t>(1) </a:t>
            </a:r>
            <a:r>
              <a:rPr lang="ja-JP" altLang="en-US" sz="1600" dirty="0"/>
              <a:t>この </a:t>
            </a:r>
            <a:r>
              <a:rPr lang="en-US" altLang="ja-JP" sz="1600" dirty="0"/>
              <a:t>CPU </a:t>
            </a:r>
            <a:r>
              <a:rPr lang="ja-JP" altLang="en-US" sz="1600" dirty="0"/>
              <a:t>を改良する際，</a:t>
            </a:r>
            <a:br>
              <a:rPr lang="en-US" altLang="ja-JP" sz="1600" dirty="0"/>
            </a:br>
            <a:r>
              <a:rPr lang="ja-JP" altLang="en-US" sz="1600" dirty="0"/>
              <a:t>「</a:t>
            </a:r>
            <a:r>
              <a:rPr lang="en-US" altLang="ja-JP" sz="1600" dirty="0"/>
              <a:t>3-way </a:t>
            </a:r>
            <a:r>
              <a:rPr lang="ja-JP" altLang="en-US" sz="1600" dirty="0"/>
              <a:t>スーパスカラにする」</a:t>
            </a:r>
            <a:br>
              <a:rPr lang="en-US" altLang="ja-JP" sz="1600" dirty="0"/>
            </a:br>
            <a:r>
              <a:rPr lang="ja-JP" altLang="en-US" sz="1600" dirty="0"/>
              <a:t>「</a:t>
            </a:r>
            <a:r>
              <a:rPr lang="en-US" altLang="ja-JP" sz="1600" dirty="0"/>
              <a:t>2-way </a:t>
            </a:r>
            <a:r>
              <a:rPr lang="ja-JP" altLang="en-US" sz="1600" dirty="0"/>
              <a:t>のまま</a:t>
            </a:r>
            <a:r>
              <a:rPr lang="en-US" altLang="ja-JP" sz="1600" dirty="0"/>
              <a:t>15</a:t>
            </a:r>
            <a:r>
              <a:rPr lang="ja-JP" altLang="en-US" sz="1600" dirty="0"/>
              <a:t>段パイプラインにする」</a:t>
            </a:r>
            <a:br>
              <a:rPr lang="en-US" altLang="ja-JP" sz="1600" dirty="0"/>
            </a:br>
            <a:r>
              <a:rPr lang="ja-JP" altLang="en-US" sz="1600" dirty="0"/>
              <a:t>「</a:t>
            </a:r>
            <a:r>
              <a:rPr lang="en-US" altLang="ja-JP" sz="1600" dirty="0"/>
              <a:t>2-way </a:t>
            </a:r>
            <a:r>
              <a:rPr lang="ja-JP" altLang="en-US" sz="1600" dirty="0"/>
              <a:t>のまま分岐予測器を改良する」</a:t>
            </a:r>
            <a:br>
              <a:rPr lang="en-US" altLang="ja-JP" sz="1600" dirty="0"/>
            </a:br>
            <a:r>
              <a:rPr lang="ja-JP" altLang="en-US" sz="1600" dirty="0"/>
              <a:t>のどれが最も性能が上がるかを性能を計算して検討せよ</a:t>
            </a:r>
            <a:endParaRPr lang="en-US" altLang="ja-JP" sz="1600" dirty="0"/>
          </a:p>
          <a:p>
            <a:pPr lvl="1"/>
            <a:r>
              <a:rPr lang="ja-JP" altLang="en-US" sz="1600" dirty="0"/>
              <a:t>この </a:t>
            </a:r>
            <a:r>
              <a:rPr lang="en-US" altLang="ja-JP" sz="1600" dirty="0"/>
              <a:t>CPU </a:t>
            </a:r>
            <a:r>
              <a:rPr lang="ja-JP" altLang="en-US" sz="1600" dirty="0"/>
              <a:t>を </a:t>
            </a:r>
            <a:r>
              <a:rPr lang="en-US" altLang="ja-JP" sz="1600" dirty="0"/>
              <a:t>3-way </a:t>
            </a:r>
            <a:r>
              <a:rPr lang="ja-JP" altLang="en-US" sz="1600" dirty="0"/>
              <a:t>スーパスカラにすると理想的には </a:t>
            </a:r>
            <a:r>
              <a:rPr lang="en-US" altLang="ja-JP" sz="1600" dirty="0"/>
              <a:t>IPC=3 </a:t>
            </a:r>
            <a:r>
              <a:rPr lang="ja-JP" altLang="en-US" sz="1600" dirty="0"/>
              <a:t>で実行できるがデータハザードの発生率は </a:t>
            </a:r>
            <a:r>
              <a:rPr lang="en-US" altLang="ja-JP" sz="1600" dirty="0"/>
              <a:t>0.3 </a:t>
            </a:r>
            <a:r>
              <a:rPr lang="ja-JP" altLang="en-US" sz="1600" dirty="0"/>
              <a:t>に上昇するとする</a:t>
            </a:r>
            <a:endParaRPr lang="en-US" altLang="ja-JP" sz="1600" dirty="0"/>
          </a:p>
          <a:p>
            <a:pPr lvl="1"/>
            <a:r>
              <a:rPr lang="ja-JP" altLang="en-US" sz="1600" dirty="0"/>
              <a:t>また，分岐予測器を改良すると分岐予測ミス率が </a:t>
            </a:r>
            <a:r>
              <a:rPr lang="en-US" altLang="ja-JP" sz="1600" dirty="0"/>
              <a:t>0.2 </a:t>
            </a:r>
            <a:r>
              <a:rPr lang="ja-JP" altLang="en-US" sz="1600" dirty="0"/>
              <a:t>にまで削減されるとする</a:t>
            </a: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9</a:t>
            </a:fld>
            <a:endParaRPr kumimoji="1" lang="ja-JP" altLang="en-US" dirty="0"/>
          </a:p>
        </p:txBody>
      </p:sp>
    </p:spTree>
    <p:extLst>
      <p:ext uri="{BB962C8B-B14F-4D97-AF65-F5344CB8AC3E}">
        <p14:creationId xmlns:p14="http://schemas.microsoft.com/office/powerpoint/2010/main" val="15437760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ADF894-1ABC-DCEB-605B-347568341D78}"/>
              </a:ext>
            </a:extLst>
          </p:cNvPr>
          <p:cNvSpPr>
            <a:spLocks noGrp="1"/>
          </p:cNvSpPr>
          <p:nvPr>
            <p:ph type="title"/>
          </p:nvPr>
        </p:nvSpPr>
        <p:spPr/>
        <p:txBody>
          <a:bodyPr/>
          <a:lstStyle/>
          <a:p>
            <a:r>
              <a:rPr kumimoji="1" lang="ja-JP" altLang="en-US" sz="2800" dirty="0"/>
              <a:t>課題８（１）まず実行サイクル数を求めてから，正規化する</a:t>
            </a:r>
            <a:endParaRPr kumimoji="1" 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C99FF6DC-7DB5-2610-B5A6-DCA71AC44616}"/>
                  </a:ext>
                </a:extLst>
              </p:cNvPr>
              <p:cNvSpPr>
                <a:spLocks noGrp="1"/>
              </p:cNvSpPr>
              <p:nvPr>
                <p:ph type="body" sz="quarter" idx="10"/>
              </p:nvPr>
            </p:nvSpPr>
            <p:spPr>
              <a:xfrm>
                <a:off x="2135956" y="1088974"/>
                <a:ext cx="7740086" cy="5220058"/>
              </a:xfrm>
            </p:spPr>
            <p:txBody>
              <a:bodyPr/>
              <a:lstStyle/>
              <a:p>
                <a:r>
                  <a:rPr lang="ja-JP" altLang="en-US" sz="1200" dirty="0"/>
                  <a:t>以下のような条件を考える</a:t>
                </a:r>
                <a:endParaRPr lang="en-US" altLang="ja-JP" sz="1200" dirty="0"/>
              </a:p>
              <a:p>
                <a:pPr lvl="1"/>
                <a:r>
                  <a:rPr lang="en-US" altLang="ja-JP" sz="1200" dirty="0"/>
                  <a:t>10</a:t>
                </a:r>
                <a:r>
                  <a:rPr lang="ja-JP" altLang="en-US" sz="1200" dirty="0"/>
                  <a:t>段のパイプラインを持つ </a:t>
                </a:r>
                <a:r>
                  <a:rPr lang="en-US" altLang="ja-JP" sz="1200" dirty="0"/>
                  <a:t>2-way </a:t>
                </a:r>
                <a:r>
                  <a:rPr lang="ja-JP" altLang="en-US" sz="1200" dirty="0"/>
                  <a:t>スーパスカラプロセッサであり，理想的には </a:t>
                </a:r>
                <a:r>
                  <a:rPr lang="en-US" altLang="ja-JP" sz="1200" dirty="0"/>
                  <a:t>IPC=2 </a:t>
                </a:r>
                <a:r>
                  <a:rPr lang="ja-JP" altLang="en-US" sz="1200" dirty="0"/>
                  <a:t>で実行できる</a:t>
                </a:r>
                <a:endParaRPr lang="en-US" altLang="ja-JP" sz="1200" dirty="0"/>
              </a:p>
              <a:p>
                <a:pPr lvl="1"/>
                <a:r>
                  <a:rPr lang="ja-JP" altLang="en-US" sz="1200" dirty="0"/>
                  <a:t>全実行命令におけるなんらかのデータハザードの発生率は </a:t>
                </a:r>
                <a:r>
                  <a:rPr lang="en-US" altLang="ja-JP" sz="1200" dirty="0"/>
                  <a:t>0.2 </a:t>
                </a:r>
              </a:p>
              <a:p>
                <a:pPr lvl="1"/>
                <a:r>
                  <a:rPr lang="ja-JP" altLang="en-US" sz="1200" dirty="0"/>
                  <a:t>このデータハザード発生時は </a:t>
                </a:r>
                <a:r>
                  <a:rPr lang="en-US" altLang="ja-JP" sz="1200" dirty="0"/>
                  <a:t>1 </a:t>
                </a:r>
                <a:r>
                  <a:rPr lang="ja-JP" altLang="en-US" sz="1200" dirty="0"/>
                  <a:t>サイクル実行時間が伸びるものとする</a:t>
                </a:r>
                <a:endParaRPr lang="en-US" altLang="ja-JP" sz="1200" dirty="0"/>
              </a:p>
              <a:p>
                <a:pPr lvl="1"/>
                <a:r>
                  <a:rPr lang="ja-JP" altLang="en-US" sz="1200" dirty="0"/>
                  <a:t>全実行命令における分岐命令の出現率は </a:t>
                </a:r>
                <a:r>
                  <a:rPr lang="en-US" altLang="ja-JP" sz="1200" dirty="0"/>
                  <a:t>0.2</a:t>
                </a:r>
              </a:p>
              <a:p>
                <a:pPr lvl="1"/>
                <a:r>
                  <a:rPr lang="ja-JP" altLang="en-US" sz="1200" dirty="0"/>
                  <a:t>分岐予測ミス率は </a:t>
                </a:r>
                <a:r>
                  <a:rPr lang="en-US" altLang="ja-JP" sz="1200" dirty="0"/>
                  <a:t>0.3</a:t>
                </a:r>
              </a:p>
              <a:p>
                <a:r>
                  <a:rPr kumimoji="1" lang="ja-JP" altLang="en-US" dirty="0"/>
                  <a:t>上記のベースライン </a:t>
                </a:r>
                <a:r>
                  <a:rPr kumimoji="1" lang="en-US" altLang="ja-JP" dirty="0"/>
                  <a:t>CPU </a:t>
                </a:r>
                <a:r>
                  <a:rPr kumimoji="1" lang="ja-JP" altLang="en-US" dirty="0"/>
                  <a:t>の 実行サイクル数 </a:t>
                </a:r>
                <a14:m>
                  <m:oMath xmlns:m="http://schemas.openxmlformats.org/officeDocument/2006/math">
                    <m:r>
                      <a:rPr lang="en-US" altLang="ja-JP" i="1" dirty="0">
                        <a:latin typeface="Cambria Math" panose="02040503050406030204" pitchFamily="18" charset="0"/>
                      </a:rPr>
                      <m:t>𝐶𝑟</m:t>
                    </m:r>
                  </m:oMath>
                </a14:m>
                <a:r>
                  <a:rPr kumimoji="1" lang="ja-JP" altLang="en-US" dirty="0"/>
                  <a:t> は，実行命令数を </a:t>
                </a:r>
                <a14:m>
                  <m:oMath xmlns:m="http://schemas.openxmlformats.org/officeDocument/2006/math">
                    <m:r>
                      <a:rPr kumimoji="1" lang="en-US" altLang="ja-JP" i="1" dirty="0" smtClean="0">
                        <a:latin typeface="Cambria Math" panose="02040503050406030204" pitchFamily="18" charset="0"/>
                      </a:rPr>
                      <m:t>𝑁𝑖</m:t>
                    </m:r>
                  </m:oMath>
                </a14:m>
                <a:r>
                  <a:rPr kumimoji="1" lang="en-US" altLang="ja-JP" dirty="0"/>
                  <a:t> </a:t>
                </a:r>
                <a:r>
                  <a:rPr kumimoji="1" lang="ja-JP" altLang="en-US" dirty="0"/>
                  <a:t>とすると</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solidFill>
                          <a:schemeClr val="accent5"/>
                        </a:solidFill>
                        <a:latin typeface="Cambria Math" panose="02040503050406030204" pitchFamily="18" charset="0"/>
                      </a:rPr>
                      <m:t>𝑁𝑚𝑎</m:t>
                    </m:r>
                    <m:r>
                      <a:rPr lang="en-US" altLang="ja-JP" i="1" dirty="0">
                        <a:solidFill>
                          <a:schemeClr val="accent5"/>
                        </a:solidFill>
                        <a:latin typeface="Cambria Math" panose="02040503050406030204" pitchFamily="18" charset="0"/>
                      </a:rPr>
                      <m:t>×</m:t>
                    </m:r>
                    <m:r>
                      <a:rPr lang="en-US" altLang="ja-JP" b="0" i="1" dirty="0" smtClean="0">
                        <a:solidFill>
                          <a:schemeClr val="accent5"/>
                        </a:solidFill>
                        <a:latin typeface="Cambria Math" panose="02040503050406030204" pitchFamily="18" charset="0"/>
                      </a:rPr>
                      <m:t>𝐶𝑝𝑎</m:t>
                    </m:r>
                    <m:r>
                      <a:rPr lang="en-US" altLang="ja-JP" b="0" i="1" dirty="0" smtClean="0">
                        <a:latin typeface="Cambria Math" panose="02040503050406030204" pitchFamily="18" charset="0"/>
                      </a:rPr>
                      <m:t>+ </m:t>
                    </m:r>
                    <m:r>
                      <a:rPr lang="en-US" altLang="ja-JP" i="1" dirty="0" smtClean="0">
                        <a:solidFill>
                          <a:schemeClr val="accent6"/>
                        </a:solidFill>
                        <a:latin typeface="Cambria Math" panose="02040503050406030204" pitchFamily="18" charset="0"/>
                      </a:rPr>
                      <m:t>𝑁𝑚𝑏</m:t>
                    </m:r>
                    <m:r>
                      <a:rPr lang="en-US" altLang="ja-JP" i="1" dirty="0" smtClean="0">
                        <a:solidFill>
                          <a:schemeClr val="accent6"/>
                        </a:solidFill>
                        <a:latin typeface="Cambria Math" panose="02040503050406030204" pitchFamily="18" charset="0"/>
                      </a:rPr>
                      <m:t>×</m:t>
                    </m:r>
                    <m:r>
                      <a:rPr lang="en-US" altLang="ja-JP" i="1" dirty="0" smtClean="0">
                        <a:solidFill>
                          <a:schemeClr val="accent6"/>
                        </a:solidFill>
                        <a:latin typeface="Cambria Math" panose="02040503050406030204" pitchFamily="18" charset="0"/>
                      </a:rPr>
                      <m:t>𝐶𝑝𝑏</m:t>
                    </m:r>
                  </m:oMath>
                </a14:m>
                <a:endParaRPr lang="en-US" altLang="ja-JP" i="1" dirty="0">
                  <a:solidFill>
                    <a:schemeClr val="accent6"/>
                  </a:solidFill>
                  <a:latin typeface="Cambria Math" panose="02040503050406030204" pitchFamily="18" charset="0"/>
                </a:endParaRPr>
              </a:p>
              <a:p>
                <a:pPr lvl="1"/>
                <a:r>
                  <a:rPr lang="en-US" altLang="ja-JP" b="0" dirty="0">
                    <a:solidFill>
                      <a:schemeClr val="tx1">
                        <a:lumMod val="75000"/>
                        <a:lumOff val="25000"/>
                      </a:schemeClr>
                    </a:solidFill>
                  </a:rPr>
                  <a:t>     </a:t>
                </a:r>
                <a14:m>
                  <m:oMath xmlns:m="http://schemas.openxmlformats.org/officeDocument/2006/math">
                    <m:r>
                      <a:rPr lang="en-US" altLang="ja-JP" b="0" i="1" dirty="0" smtClean="0">
                        <a:solidFill>
                          <a:schemeClr val="tx1">
                            <a:lumMod val="75000"/>
                            <a:lumOff val="25000"/>
                          </a:schemeClr>
                        </a:solidFill>
                        <a:latin typeface="Cambria Math" panose="02040503050406030204" pitchFamily="18" charset="0"/>
                      </a:rPr>
                      <m:t>=</m:t>
                    </m:r>
                    <m:f>
                      <m:fPr>
                        <m:ctrlPr>
                          <a:rPr lang="en-US" altLang="ja-JP" b="0" i="1" dirty="0" smtClean="0">
                            <a:solidFill>
                              <a:schemeClr val="tx1">
                                <a:lumMod val="75000"/>
                                <a:lumOff val="25000"/>
                              </a:schemeClr>
                            </a:solidFill>
                            <a:latin typeface="Cambria Math" panose="02040503050406030204" pitchFamily="18" charset="0"/>
                          </a:rPr>
                        </m:ctrlPr>
                      </m:fPr>
                      <m:num>
                        <m:r>
                          <a:rPr lang="en-US" altLang="ja-JP" b="0" i="1" dirty="0" smtClean="0">
                            <a:solidFill>
                              <a:schemeClr val="tx1">
                                <a:lumMod val="75000"/>
                                <a:lumOff val="25000"/>
                              </a:schemeClr>
                            </a:solidFill>
                            <a:latin typeface="Cambria Math" panose="02040503050406030204" pitchFamily="18" charset="0"/>
                          </a:rPr>
                          <m:t>𝑁𝑖</m:t>
                        </m:r>
                      </m:num>
                      <m:den>
                        <m:r>
                          <a:rPr lang="en-US" altLang="ja-JP" b="0" i="1" dirty="0" smtClean="0">
                            <a:solidFill>
                              <a:schemeClr val="tx1">
                                <a:lumMod val="75000"/>
                                <a:lumOff val="25000"/>
                              </a:schemeClr>
                            </a:solidFill>
                            <a:latin typeface="Cambria Math" panose="02040503050406030204" pitchFamily="18" charset="0"/>
                          </a:rPr>
                          <m:t>𝐼𝑃𝐶𝑡</m:t>
                        </m:r>
                      </m:den>
                    </m:f>
                    <m:r>
                      <a:rPr lang="en-US" altLang="ja-JP" i="1" dirty="0">
                        <a:latin typeface="Cambria Math" panose="02040503050406030204" pitchFamily="18" charset="0"/>
                      </a:rPr>
                      <m:t>+</m:t>
                    </m:r>
                    <m:d>
                      <m:dPr>
                        <m:ctrlPr>
                          <a:rPr lang="en-US" altLang="ja-JP" b="0" i="1" dirty="0" smtClean="0">
                            <a:latin typeface="Cambria Math" panose="02040503050406030204" pitchFamily="18" charset="0"/>
                          </a:rPr>
                        </m:ctrlPr>
                      </m:dPr>
                      <m:e>
                        <m:r>
                          <a:rPr lang="en-US" altLang="ja-JP" i="1" dirty="0">
                            <a:latin typeface="Cambria Math" panose="02040503050406030204" pitchFamily="18" charset="0"/>
                          </a:rPr>
                          <m:t>𝑁𝑖</m:t>
                        </m:r>
                        <m:r>
                          <a:rPr lang="en-US" altLang="ja-JP" i="1" dirty="0">
                            <a:latin typeface="Cambria Math" panose="02040503050406030204" pitchFamily="18" charset="0"/>
                          </a:rPr>
                          <m:t>×0.2</m:t>
                        </m:r>
                      </m:e>
                    </m:d>
                    <m:r>
                      <a:rPr lang="en-US" altLang="ja-JP" i="1" dirty="0">
                        <a:latin typeface="Cambria Math" panose="02040503050406030204" pitchFamily="18" charset="0"/>
                      </a:rPr>
                      <m:t>×1+</m:t>
                    </m:r>
                    <m:d>
                      <m:dPr>
                        <m:ctrlPr>
                          <a:rPr lang="en-US" altLang="ja-JP" b="0" i="1" dirty="0" smtClean="0">
                            <a:latin typeface="Cambria Math" panose="02040503050406030204" pitchFamily="18" charset="0"/>
                          </a:rPr>
                        </m:ctrlPr>
                      </m:dPr>
                      <m:e>
                        <m:r>
                          <a:rPr lang="en-US" altLang="ja-JP" b="0" i="1" dirty="0" smtClean="0">
                            <a:latin typeface="Cambria Math" panose="02040503050406030204" pitchFamily="18" charset="0"/>
                          </a:rPr>
                          <m:t>𝑁𝑖</m:t>
                        </m:r>
                        <m:r>
                          <a:rPr lang="en-US" altLang="ja-JP" b="0" i="1" dirty="0" smtClean="0">
                            <a:latin typeface="Cambria Math" panose="02040503050406030204" pitchFamily="18" charset="0"/>
                          </a:rPr>
                          <m:t>×0.2×0.3</m:t>
                        </m:r>
                      </m:e>
                    </m:d>
                    <m:r>
                      <a:rPr lang="en-US" altLang="ja-JP" b="0" i="1" dirty="0" smtClean="0">
                        <a:latin typeface="Cambria Math" panose="02040503050406030204" pitchFamily="18" charset="0"/>
                      </a:rPr>
                      <m:t>×9</m:t>
                    </m:r>
                  </m:oMath>
                </a14:m>
                <a:endParaRPr lang="en-US" altLang="ja-JP" b="0" dirty="0"/>
              </a:p>
              <a:p>
                <a:pPr lvl="1"/>
                <a:r>
                  <a:rPr lang="en-US" altLang="ja-JP" i="1" dirty="0">
                    <a:latin typeface="Cambria Math" panose="02040503050406030204" pitchFamily="18" charset="0"/>
                  </a:rPr>
                  <a:t>      </a:t>
                </a:r>
                <a14:m>
                  <m:oMath xmlns:m="http://schemas.openxmlformats.org/officeDocument/2006/math">
                    <m:r>
                      <a:rPr lang="en-US" altLang="ja-JP" b="0" i="1" dirty="0" smtClean="0">
                        <a:solidFill>
                          <a:schemeClr val="tx1">
                            <a:lumMod val="75000"/>
                            <a:lumOff val="25000"/>
                          </a:schemeClr>
                        </a:solidFill>
                        <a:latin typeface="Cambria Math" panose="02040503050406030204" pitchFamily="18" charset="0"/>
                      </a:rPr>
                      <m:t>=</m:t>
                    </m:r>
                    <m:f>
                      <m:fPr>
                        <m:ctrlPr>
                          <a:rPr lang="en-US" altLang="ja-JP" b="0" i="1" dirty="0" smtClean="0">
                            <a:solidFill>
                              <a:schemeClr val="tx1">
                                <a:lumMod val="75000"/>
                                <a:lumOff val="25000"/>
                              </a:schemeClr>
                            </a:solidFill>
                            <a:latin typeface="Cambria Math" panose="02040503050406030204" pitchFamily="18" charset="0"/>
                          </a:rPr>
                        </m:ctrlPr>
                      </m:fPr>
                      <m:num>
                        <m:r>
                          <a:rPr lang="en-US" altLang="ja-JP" b="0" i="1" dirty="0" smtClean="0">
                            <a:solidFill>
                              <a:schemeClr val="tx1">
                                <a:lumMod val="75000"/>
                                <a:lumOff val="25000"/>
                              </a:schemeClr>
                            </a:solidFill>
                            <a:latin typeface="Cambria Math" panose="02040503050406030204" pitchFamily="18" charset="0"/>
                          </a:rPr>
                          <m:t>𝑁𝑖</m:t>
                        </m:r>
                      </m:num>
                      <m:den>
                        <m:r>
                          <a:rPr lang="en-US" altLang="ja-JP" b="0" i="1" dirty="0" smtClean="0">
                            <a:solidFill>
                              <a:schemeClr val="tx1">
                                <a:lumMod val="75000"/>
                                <a:lumOff val="25000"/>
                              </a:schemeClr>
                            </a:solidFill>
                            <a:latin typeface="Cambria Math" panose="02040503050406030204" pitchFamily="18" charset="0"/>
                          </a:rPr>
                          <m:t>2</m:t>
                        </m:r>
                      </m:den>
                    </m:f>
                    <m:r>
                      <a:rPr lang="en-US" altLang="ja-JP" i="1" dirty="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×0.2+</m:t>
                    </m:r>
                    <m:r>
                      <a:rPr lang="en-US" altLang="ja-JP" i="1" dirty="0">
                        <a:latin typeface="Cambria Math" panose="02040503050406030204" pitchFamily="18" charset="0"/>
                      </a:rPr>
                      <m:t>𝑁𝑖</m:t>
                    </m:r>
                    <m:r>
                      <a:rPr lang="en-US" altLang="ja-JP" i="1" dirty="0">
                        <a:latin typeface="Cambria Math" panose="02040503050406030204" pitchFamily="18" charset="0"/>
                      </a:rPr>
                      <m:t>×0.54=1.24×</m:t>
                    </m:r>
                    <m:r>
                      <a:rPr lang="en-US" altLang="ja-JP" b="0" i="1" dirty="0" smtClean="0">
                        <a:latin typeface="Cambria Math" panose="02040503050406030204" pitchFamily="18" charset="0"/>
                      </a:rPr>
                      <m:t>𝑁𝑖</m:t>
                    </m:r>
                  </m:oMath>
                </a14:m>
                <a:endParaRPr lang="en-US" altLang="ja-JP" i="1" dirty="0">
                  <a:latin typeface="Cambria Math" panose="02040503050406030204" pitchFamily="18" charset="0"/>
                </a:endParaRPr>
              </a:p>
              <a:p>
                <a14:m>
                  <m:oMath xmlns:m="http://schemas.openxmlformats.org/officeDocument/2006/math">
                    <m:r>
                      <a:rPr lang="en-US" altLang="ja-JP" i="1" dirty="0" smtClean="0">
                        <a:latin typeface="Cambria Math" panose="02040503050406030204" pitchFamily="18" charset="0"/>
                      </a:rPr>
                      <m:t>𝐼𝑃𝐶𝑟</m:t>
                    </m:r>
                  </m:oMath>
                </a14:m>
                <a:r>
                  <a:rPr lang="en-US" altLang="ja-JP" i="1" dirty="0">
                    <a:latin typeface="Cambria Math" panose="02040503050406030204" pitchFamily="18" charset="0"/>
                  </a:rPr>
                  <a:t> </a:t>
                </a:r>
                <a:r>
                  <a:rPr lang="ja-JP" altLang="en-US" i="1" dirty="0">
                    <a:latin typeface="Cambria Math" panose="02040503050406030204" pitchFamily="18" charset="0"/>
                  </a:rPr>
                  <a:t>は </a:t>
                </a:r>
                <a14:m>
                  <m:oMath xmlns:m="http://schemas.openxmlformats.org/officeDocument/2006/math">
                    <m:r>
                      <a:rPr lang="en-US" altLang="ja-JP" i="1" dirty="0">
                        <a:latin typeface="Cambria Math" panose="02040503050406030204" pitchFamily="18" charset="0"/>
                      </a:rPr>
                      <m:t>𝑁𝑖</m:t>
                    </m:r>
                  </m:oMath>
                </a14:m>
                <a:r>
                  <a:rPr lang="en-US" altLang="ja-JP" i="1" dirty="0">
                    <a:latin typeface="Cambria Math" panose="02040503050406030204" pitchFamily="18" charset="0"/>
                  </a:rPr>
                  <a:t> </a:t>
                </a:r>
                <a:r>
                  <a:rPr lang="ja-JP" altLang="en-US" i="1" dirty="0">
                    <a:latin typeface="Cambria Math" panose="02040503050406030204" pitchFamily="18" charset="0"/>
                  </a:rPr>
                  <a:t>を </a:t>
                </a:r>
                <a14:m>
                  <m:oMath xmlns:m="http://schemas.openxmlformats.org/officeDocument/2006/math">
                    <m:r>
                      <a:rPr lang="en-US" altLang="ja-JP" i="1" dirty="0">
                        <a:latin typeface="Cambria Math" panose="02040503050406030204" pitchFamily="18" charset="0"/>
                      </a:rPr>
                      <m:t>𝐶𝑟</m:t>
                    </m:r>
                  </m:oMath>
                </a14:m>
                <a:r>
                  <a:rPr lang="ja-JP" altLang="en-US" i="1" dirty="0">
                    <a:latin typeface="Cambria Math" panose="02040503050406030204" pitchFamily="18" charset="0"/>
                  </a:rPr>
                  <a:t> で正規化したものなので，</a:t>
                </a:r>
                <a:endParaRPr lang="en-US" altLang="ja-JP" i="1" dirty="0">
                  <a:latin typeface="Cambria Math" panose="02040503050406030204" pitchFamily="18" charset="0"/>
                </a:endParaRPr>
              </a:p>
              <a:p>
                <a:pPr lvl="1"/>
                <a14:m>
                  <m:oMath xmlns:m="http://schemas.openxmlformats.org/officeDocument/2006/math">
                    <m:r>
                      <a:rPr lang="en-US" altLang="ja-JP" i="1" dirty="0" smtClean="0">
                        <a:latin typeface="Cambria Math" panose="02040503050406030204" pitchFamily="18" charset="0"/>
                      </a:rPr>
                      <m:t>𝐼𝑃𝐶𝑟</m:t>
                    </m:r>
                    <m:r>
                      <m:rPr>
                        <m:nor/>
                      </m:rPr>
                      <a:rPr lang="en-US" altLang="ja-JP" dirty="0"/>
                      <m:t>=</m:t>
                    </m:r>
                    <m:f>
                      <m:fPr>
                        <m:ctrlPr>
                          <a:rPr lang="en-US" altLang="ja-JP" i="1" dirty="0">
                            <a:latin typeface="Cambria Math" panose="02040503050406030204" pitchFamily="18" charset="0"/>
                          </a:rPr>
                        </m:ctrlPr>
                      </m:fPr>
                      <m:num>
                        <m:r>
                          <a:rPr lang="en-US" altLang="ja-JP" b="0" i="1" dirty="0" smtClean="0">
                            <a:latin typeface="Cambria Math" panose="02040503050406030204" pitchFamily="18" charset="0"/>
                          </a:rPr>
                          <m:t>𝑁𝑖</m:t>
                        </m:r>
                      </m:num>
                      <m:den>
                        <m:r>
                          <a:rPr lang="en-US" altLang="ja-JP" b="0" i="1" dirty="0" smtClean="0">
                            <a:latin typeface="Cambria Math" panose="02040503050406030204" pitchFamily="18" charset="0"/>
                          </a:rPr>
                          <m:t>𝐶𝑟</m:t>
                        </m:r>
                      </m:den>
                    </m:f>
                    <m:r>
                      <a:rPr lang="en-US" altLang="ja-JP" b="0" i="1" dirty="0" smtClean="0">
                        <a:latin typeface="Cambria Math" panose="02040503050406030204" pitchFamily="18" charset="0"/>
                      </a:rPr>
                      <m:t>=</m:t>
                    </m:r>
                    <m:f>
                      <m:fPr>
                        <m:ctrlPr>
                          <a:rPr lang="en-US" altLang="ja-JP" b="0" i="1" dirty="0" smtClean="0">
                            <a:latin typeface="Cambria Math" panose="02040503050406030204" pitchFamily="18" charset="0"/>
                          </a:rPr>
                        </m:ctrlPr>
                      </m:fPr>
                      <m:num>
                        <m:r>
                          <a:rPr lang="en-US" altLang="ja-JP" b="0" i="1" dirty="0" smtClean="0">
                            <a:latin typeface="Cambria Math" panose="02040503050406030204" pitchFamily="18" charset="0"/>
                          </a:rPr>
                          <m:t>𝑁𝑖</m:t>
                        </m:r>
                      </m:num>
                      <m:den>
                        <m:r>
                          <a:rPr lang="en-US" altLang="ja-JP" b="0" i="1" dirty="0" smtClean="0">
                            <a:latin typeface="Cambria Math" panose="02040503050406030204" pitchFamily="18" charset="0"/>
                          </a:rPr>
                          <m:t>1.24×</m:t>
                        </m:r>
                        <m:r>
                          <a:rPr lang="en-US" altLang="ja-JP" b="0" i="1" dirty="0" smtClean="0">
                            <a:latin typeface="Cambria Math" panose="02040503050406030204" pitchFamily="18" charset="0"/>
                          </a:rPr>
                          <m:t>𝑁𝑖</m:t>
                        </m:r>
                      </m:den>
                    </m:f>
                    <m:r>
                      <a:rPr lang="en-US" altLang="ja-JP" b="0" i="1" dirty="0" smtClean="0">
                        <a:latin typeface="Cambria Math" panose="02040503050406030204" pitchFamily="18" charset="0"/>
                        <a:ea typeface="Cambria Math" panose="02040503050406030204" pitchFamily="18" charset="0"/>
                      </a:rPr>
                      <m:t>≈</m:t>
                    </m:r>
                    <m:r>
                      <a:rPr lang="en-US" altLang="ja-JP" b="0" i="1" dirty="0" smtClean="0">
                        <a:latin typeface="Cambria Math" panose="02040503050406030204" pitchFamily="18" charset="0"/>
                      </a:rPr>
                      <m:t>0.81</m:t>
                    </m:r>
                  </m:oMath>
                </a14:m>
                <a:endParaRPr lang="en-US" altLang="ja-JP" b="0" dirty="0"/>
              </a:p>
            </p:txBody>
          </p:sp>
        </mc:Choice>
        <mc:Fallback>
          <p:sp>
            <p:nvSpPr>
              <p:cNvPr id="3" name="コンテンツ プレースホルダー 2">
                <a:extLst>
                  <a:ext uri="{FF2B5EF4-FFF2-40B4-BE49-F238E27FC236}">
                    <a16:creationId xmlns:a16="http://schemas.microsoft.com/office/drawing/2014/main" id="{C99FF6DC-7DB5-2610-B5A6-DCA71AC44616}"/>
                  </a:ext>
                </a:extLst>
              </p:cNvPr>
              <p:cNvSpPr>
                <a:spLocks noGrp="1" noRot="1" noChangeAspect="1" noMove="1" noResize="1" noEditPoints="1" noAdjustHandles="1" noChangeArrowheads="1" noChangeShapeType="1" noTextEdit="1"/>
              </p:cNvSpPr>
              <p:nvPr>
                <p:ph type="body" sz="quarter" idx="10"/>
              </p:nvPr>
            </p:nvSpPr>
            <p:spPr>
              <a:xfrm>
                <a:off x="2135956" y="1088974"/>
                <a:ext cx="7740086" cy="5220058"/>
              </a:xfrm>
              <a:blipFill>
                <a:blip r:embed="rId2"/>
                <a:stretch>
                  <a:fillRect l="-709" t="-3271" b="-268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13402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ADF894-1ABC-DCEB-605B-347568341D78}"/>
              </a:ext>
            </a:extLst>
          </p:cNvPr>
          <p:cNvSpPr>
            <a:spLocks noGrp="1"/>
          </p:cNvSpPr>
          <p:nvPr>
            <p:ph type="title"/>
          </p:nvPr>
        </p:nvSpPr>
        <p:spPr/>
        <p:txBody>
          <a:bodyPr/>
          <a:lstStyle/>
          <a:p>
            <a:r>
              <a:rPr kumimoji="1" lang="ja-JP" altLang="en-US" dirty="0"/>
              <a:t>課題８（１）</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C99FF6DC-7DB5-2610-B5A6-DCA71AC44616}"/>
                  </a:ext>
                </a:extLst>
              </p:cNvPr>
              <p:cNvSpPr>
                <a:spLocks noGrp="1"/>
              </p:cNvSpPr>
              <p:nvPr>
                <p:ph type="body" sz="quarter" idx="10"/>
              </p:nvPr>
            </p:nvSpPr>
            <p:spPr/>
            <p:txBody>
              <a:bodyPr/>
              <a:lstStyle/>
              <a:p>
                <a:r>
                  <a:rPr kumimoji="1" lang="ja-JP" altLang="en-US" dirty="0"/>
                  <a:t>ベースライン </a:t>
                </a:r>
                <a:r>
                  <a:rPr kumimoji="1" lang="en-US" altLang="ja-JP" dirty="0"/>
                  <a:t>CPU </a:t>
                </a:r>
                <a:r>
                  <a:rPr kumimoji="1" lang="ja-JP" altLang="en-US" dirty="0"/>
                  <a:t>の動作周波数を </a:t>
                </a:r>
                <a:r>
                  <a:rPr kumimoji="1" lang="en-US" altLang="ja-JP" dirty="0"/>
                  <a:t>1 </a:t>
                </a:r>
                <a:r>
                  <a:rPr kumimoji="1" lang="ja-JP" altLang="en-US" dirty="0"/>
                  <a:t>とすると，その性能は</a:t>
                </a:r>
                <a:br>
                  <a:rPr kumimoji="1" lang="en-US" altLang="ja-JP" dirty="0"/>
                </a:br>
                <a:r>
                  <a:rPr kumimoji="1" lang="ja-JP" altLang="en-US" dirty="0"/>
                  <a:t>周波数 </a:t>
                </a:r>
                <a:r>
                  <a:rPr kumimoji="1" lang="en-US" altLang="ja-JP" dirty="0"/>
                  <a:t>1 </a:t>
                </a:r>
                <a14:m>
                  <m:oMath xmlns:m="http://schemas.openxmlformats.org/officeDocument/2006/math">
                    <m:r>
                      <a:rPr kumimoji="1" lang="en-US" altLang="ja-JP" i="1" dirty="0" smtClean="0">
                        <a:latin typeface="Cambria Math" panose="02040503050406030204" pitchFamily="18" charset="0"/>
                      </a:rPr>
                      <m:t>×</m:t>
                    </m:r>
                  </m:oMath>
                </a14:m>
                <a:r>
                  <a:rPr kumimoji="1" lang="en-US" altLang="ja-JP" dirty="0"/>
                  <a:t> IPC 0.81 = 0.81</a:t>
                </a:r>
              </a:p>
              <a:p>
                <a:r>
                  <a:rPr lang="ja-JP" altLang="en-US" dirty="0"/>
                  <a:t>「</a:t>
                </a:r>
                <a:r>
                  <a:rPr lang="en-US" altLang="ja-JP" dirty="0"/>
                  <a:t>3-way </a:t>
                </a:r>
                <a:r>
                  <a:rPr lang="ja-JP" altLang="en-US" dirty="0"/>
                  <a:t>スーパスカラにする」</a:t>
                </a:r>
                <a:endParaRPr lang="en-US" altLang="ja-JP" dirty="0"/>
              </a:p>
              <a:p>
                <a:pPr lvl="1"/>
                <a14:m>
                  <m:oMath xmlns:m="http://schemas.openxmlformats.org/officeDocument/2006/math">
                    <m:r>
                      <a:rPr kumimoji="1" lang="en-US" altLang="ja-JP" i="1" dirty="0" smtClean="0">
                        <a:solidFill>
                          <a:schemeClr val="tx1">
                            <a:lumMod val="75000"/>
                            <a:lumOff val="25000"/>
                          </a:schemeClr>
                        </a:solidFill>
                        <a:latin typeface="Cambria Math" panose="02040503050406030204" pitchFamily="18" charset="0"/>
                      </a:rPr>
                      <m:t>𝐼𝑃𝐶𝑟</m:t>
                    </m:r>
                  </m:oMath>
                </a14:m>
                <a:r>
                  <a:rPr kumimoji="1" lang="en-US" altLang="ja-JP" dirty="0">
                    <a:solidFill>
                      <a:schemeClr val="tx1">
                        <a:lumMod val="75000"/>
                        <a:lumOff val="25000"/>
                      </a:schemeClr>
                    </a:solidFill>
                  </a:rPr>
                  <a:t>=</a:t>
                </a:r>
                <a14:m>
                  <m:oMath xmlns:m="http://schemas.openxmlformats.org/officeDocument/2006/math">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b="1" i="1" dirty="0" smtClean="0">
                                <a:solidFill>
                                  <a:schemeClr val="accent5"/>
                                </a:solidFill>
                                <a:latin typeface="Cambria Math" panose="02040503050406030204" pitchFamily="18" charset="0"/>
                              </a:rPr>
                            </m:ctrlPr>
                          </m:fPr>
                          <m:num>
                            <m:r>
                              <a:rPr lang="en-US" altLang="ja-JP" b="1" i="1" dirty="0" smtClean="0">
                                <a:solidFill>
                                  <a:schemeClr val="accent5"/>
                                </a:solidFill>
                                <a:latin typeface="Cambria Math" panose="02040503050406030204" pitchFamily="18" charset="0"/>
                              </a:rPr>
                              <m:t>𝟏</m:t>
                            </m:r>
                          </m:num>
                          <m:den>
                            <m:r>
                              <a:rPr lang="en-US" altLang="ja-JP" b="1" i="1" dirty="0" smtClean="0">
                                <a:solidFill>
                                  <a:schemeClr val="accent5"/>
                                </a:solidFill>
                                <a:latin typeface="Cambria Math" panose="02040503050406030204" pitchFamily="18" charset="0"/>
                              </a:rPr>
                              <m:t>𝟑</m:t>
                            </m:r>
                          </m:den>
                        </m:f>
                        <m:r>
                          <a:rPr lang="en-US" altLang="ja-JP" b="1" i="1" dirty="0">
                            <a:solidFill>
                              <a:schemeClr val="accent5"/>
                            </a:solidFill>
                            <a:latin typeface="Cambria Math" panose="02040503050406030204" pitchFamily="18" charset="0"/>
                          </a:rPr>
                          <m:t> </m:t>
                        </m:r>
                        <m:r>
                          <a:rPr lang="en-US" altLang="ja-JP" i="1" dirty="0">
                            <a:solidFill>
                              <a:schemeClr val="tx1">
                                <a:lumMod val="75000"/>
                                <a:lumOff val="25000"/>
                              </a:schemeClr>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𝟑</m:t>
                        </m:r>
                        <m:r>
                          <a:rPr lang="en-US" altLang="ja-JP" i="1" dirty="0">
                            <a:solidFill>
                              <a:schemeClr val="tx1">
                                <a:lumMod val="75000"/>
                                <a:lumOff val="25000"/>
                              </a:schemeClr>
                            </a:solidFill>
                            <a:latin typeface="Cambria Math" panose="02040503050406030204" pitchFamily="18" charset="0"/>
                          </a:rPr>
                          <m:t>×</m:t>
                        </m:r>
                        <m:r>
                          <a:rPr lang="en-US" altLang="ja-JP" b="0" i="1" dirty="0" smtClean="0">
                            <a:solidFill>
                              <a:schemeClr val="tx1">
                                <a:lumMod val="75000"/>
                                <a:lumOff val="25000"/>
                              </a:schemeClr>
                            </a:solidFill>
                            <a:latin typeface="Cambria Math" panose="02040503050406030204" pitchFamily="18" charset="0"/>
                          </a:rPr>
                          <m:t>1+0.2</m:t>
                        </m:r>
                        <m:r>
                          <a:rPr lang="en-US" altLang="ja-JP" i="1" dirty="0">
                            <a:latin typeface="Cambria Math" panose="02040503050406030204" pitchFamily="18" charset="0"/>
                          </a:rPr>
                          <m:t>×</m:t>
                        </m:r>
                        <m:r>
                          <a:rPr lang="en-US" altLang="ja-JP" b="0" i="1" dirty="0" smtClean="0">
                            <a:latin typeface="Cambria Math" panose="02040503050406030204" pitchFamily="18" charset="0"/>
                          </a:rPr>
                          <m:t>0.3</m:t>
                        </m:r>
                        <m:r>
                          <a:rPr lang="en-US" altLang="ja-JP" i="1" dirty="0">
                            <a:latin typeface="Cambria Math" panose="02040503050406030204" pitchFamily="18" charset="0"/>
                          </a:rPr>
                          <m:t>×</m:t>
                        </m:r>
                        <m:r>
                          <a:rPr lang="en-US" altLang="ja-JP" i="1" dirty="0" smtClean="0">
                            <a:latin typeface="Cambria Math" panose="02040503050406030204" pitchFamily="18" charset="0"/>
                          </a:rPr>
                          <m:t>9</m:t>
                        </m:r>
                      </m:den>
                    </m:f>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m:t>
                    </m:r>
                    <m:f>
                      <m:fPr>
                        <m:ctrlP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ctrlPr>
                      </m:fPr>
                      <m:num>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1.17</m:t>
                        </m:r>
                      </m:den>
                    </m:f>
                    <m:r>
                      <a:rPr lang="en-US" altLang="ja-JP" i="1" dirty="0">
                        <a:latin typeface="Cambria Math" panose="02040503050406030204" pitchFamily="18" charset="0"/>
                        <a:ea typeface="Cambria Math" panose="02040503050406030204" pitchFamily="18" charset="0"/>
                      </a:rPr>
                      <m:t>≈</m:t>
                    </m:r>
                    <m:r>
                      <a:rPr lang="en-US" altLang="ja-JP" b="0" i="1" dirty="0" smtClean="0">
                        <a:latin typeface="Cambria Math" panose="02040503050406030204" pitchFamily="18" charset="0"/>
                        <a:ea typeface="Cambria Math" panose="02040503050406030204" pitchFamily="18" charset="0"/>
                      </a:rPr>
                      <m:t>0.85</m:t>
                    </m:r>
                  </m:oMath>
                </a14:m>
                <a:endParaRPr lang="en-US" altLang="ja-JP" b="0" dirty="0">
                  <a:ea typeface="Cambria Math" panose="02040503050406030204" pitchFamily="18" charset="0"/>
                </a:endParaRPr>
              </a:p>
              <a:p>
                <a:pPr lvl="2"/>
                <a:r>
                  <a:rPr lang="ja-JP" altLang="en-US" dirty="0"/>
                  <a:t>先ほどは丁寧にサイクル数を１回計算したが，</a:t>
                </a:r>
                <a:br>
                  <a:rPr lang="en-US" altLang="ja-JP" dirty="0"/>
                </a:br>
                <a:r>
                  <a:rPr lang="ja-JP" altLang="en-US" dirty="0"/>
                  <a:t>ここでは最初から「１命令あたりのサイクル数」</a:t>
                </a:r>
                <a:br>
                  <a:rPr lang="en-US" altLang="ja-JP" dirty="0"/>
                </a:br>
                <a:r>
                  <a:rPr lang="ja-JP" altLang="en-US" dirty="0"/>
                  <a:t>として考えて </a:t>
                </a:r>
                <a:r>
                  <a:rPr lang="en-US" altLang="ja-JP" dirty="0"/>
                  <a:t>IPC </a:t>
                </a:r>
                <a:r>
                  <a:rPr lang="ja-JP" altLang="en-US" dirty="0"/>
                  <a:t>をいきなり求めている（結果は同じ）</a:t>
                </a:r>
                <a:endParaRPr lang="en-US" altLang="ja-JP" dirty="0"/>
              </a:p>
              <a:p>
                <a:pPr lvl="1"/>
                <a:r>
                  <a:rPr lang="ja-JP" altLang="en-US" dirty="0"/>
                  <a:t>周波数は変わらないなら性能も </a:t>
                </a:r>
                <a:r>
                  <a:rPr lang="en-US" altLang="ja-JP" dirty="0"/>
                  <a:t>0.85</a:t>
                </a:r>
                <a:endParaRPr kumimoji="1" lang="en-US" dirty="0"/>
              </a:p>
            </p:txBody>
          </p:sp>
        </mc:Choice>
        <mc:Fallback xmlns="">
          <p:sp>
            <p:nvSpPr>
              <p:cNvPr id="3" name="コンテンツ プレースホルダー 2">
                <a:extLst>
                  <a:ext uri="{FF2B5EF4-FFF2-40B4-BE49-F238E27FC236}">
                    <a16:creationId xmlns:a16="http://schemas.microsoft.com/office/drawing/2014/main" id="{C99FF6DC-7DB5-2610-B5A6-DCA71AC44616}"/>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833196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554171-C8D6-1147-D6C3-5E7B67AFFBD4}"/>
              </a:ext>
            </a:extLst>
          </p:cNvPr>
          <p:cNvSpPr>
            <a:spLocks noGrp="1"/>
          </p:cNvSpPr>
          <p:nvPr>
            <p:ph type="title"/>
          </p:nvPr>
        </p:nvSpPr>
        <p:spPr/>
        <p:txBody>
          <a:bodyPr/>
          <a:lstStyle/>
          <a:p>
            <a:r>
              <a:rPr kumimoji="1" lang="ja-JP" altLang="en-US" dirty="0"/>
              <a:t>課題８（１）</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752EAB5-659C-EC6B-B959-E5D2B5B59298}"/>
                  </a:ext>
                </a:extLst>
              </p:cNvPr>
              <p:cNvSpPr>
                <a:spLocks noGrp="1"/>
              </p:cNvSpPr>
              <p:nvPr>
                <p:ph type="body" sz="quarter" idx="10"/>
              </p:nvPr>
            </p:nvSpPr>
            <p:spPr/>
            <p:txBody>
              <a:bodyPr/>
              <a:lstStyle/>
              <a:p>
                <a:r>
                  <a:rPr lang="ja-JP" altLang="en-US" dirty="0"/>
                  <a:t>「</a:t>
                </a:r>
                <a:r>
                  <a:rPr lang="en-US" altLang="ja-JP" dirty="0"/>
                  <a:t>2-way </a:t>
                </a:r>
                <a:r>
                  <a:rPr lang="ja-JP" altLang="en-US" dirty="0"/>
                  <a:t>のまま</a:t>
                </a:r>
                <a:r>
                  <a:rPr lang="en-US" altLang="ja-JP" dirty="0"/>
                  <a:t>15</a:t>
                </a:r>
                <a:r>
                  <a:rPr lang="ja-JP" altLang="en-US" dirty="0"/>
                  <a:t>段パイプラインにする」</a:t>
                </a:r>
                <a:endParaRPr lang="en-US" altLang="ja-JP" dirty="0"/>
              </a:p>
              <a:p>
                <a:pPr lvl="1"/>
                <a14:m>
                  <m:oMath xmlns:m="http://schemas.openxmlformats.org/officeDocument/2006/math">
                    <m:r>
                      <a:rPr kumimoji="1" lang="en-US" altLang="ja-JP" i="1" dirty="0" smtClean="0">
                        <a:solidFill>
                          <a:schemeClr val="tx1">
                            <a:lumMod val="75000"/>
                            <a:lumOff val="25000"/>
                          </a:schemeClr>
                        </a:solidFill>
                        <a:latin typeface="Cambria Math" panose="02040503050406030204" pitchFamily="18" charset="0"/>
                      </a:rPr>
                      <m:t>𝐼𝑃𝐶𝑟</m:t>
                    </m:r>
                  </m:oMath>
                </a14:m>
                <a:r>
                  <a:rPr kumimoji="1" lang="en-US" altLang="ja-JP" dirty="0">
                    <a:solidFill>
                      <a:schemeClr val="tx1">
                        <a:lumMod val="75000"/>
                        <a:lumOff val="25000"/>
                      </a:schemeClr>
                    </a:solidFill>
                  </a:rPr>
                  <a:t>=</a:t>
                </a:r>
                <a14:m>
                  <m:oMath xmlns:m="http://schemas.openxmlformats.org/officeDocument/2006/math">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b="0" i="1" dirty="0" smtClean="0">
                                <a:solidFill>
                                  <a:schemeClr val="tx1">
                                    <a:lumMod val="75000"/>
                                    <a:lumOff val="25000"/>
                                  </a:schemeClr>
                                </a:solidFill>
                                <a:latin typeface="Cambria Math" panose="02040503050406030204" pitchFamily="18" charset="0"/>
                              </a:rPr>
                            </m:ctrlPr>
                          </m:fPr>
                          <m:num>
                            <m:r>
                              <a:rPr lang="en-US" altLang="ja-JP" b="0" i="1" dirty="0" smtClean="0">
                                <a:solidFill>
                                  <a:schemeClr val="tx1">
                                    <a:lumMod val="75000"/>
                                    <a:lumOff val="25000"/>
                                  </a:schemeClr>
                                </a:solidFill>
                                <a:latin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rPr>
                              <m:t>2</m:t>
                            </m:r>
                          </m:den>
                        </m:f>
                        <m:r>
                          <a:rPr lang="en-US" altLang="ja-JP" i="1" dirty="0">
                            <a:solidFill>
                              <a:schemeClr val="tx1">
                                <a:lumMod val="75000"/>
                                <a:lumOff val="25000"/>
                              </a:schemeClr>
                            </a:solidFill>
                            <a:latin typeface="Cambria Math" panose="02040503050406030204" pitchFamily="18" charset="0"/>
                          </a:rPr>
                          <m:t> +</m:t>
                        </m:r>
                        <m:r>
                          <a:rPr lang="en-US" altLang="ja-JP" b="0" i="1" dirty="0" smtClean="0">
                            <a:solidFill>
                              <a:schemeClr val="tx1">
                                <a:lumMod val="75000"/>
                                <a:lumOff val="25000"/>
                              </a:schemeClr>
                            </a:solidFill>
                            <a:latin typeface="Cambria Math" panose="02040503050406030204" pitchFamily="18" charset="0"/>
                          </a:rPr>
                          <m:t>0.2</m:t>
                        </m:r>
                        <m:r>
                          <a:rPr lang="en-US" altLang="ja-JP" i="1" dirty="0">
                            <a:solidFill>
                              <a:schemeClr val="tx1">
                                <a:lumMod val="75000"/>
                                <a:lumOff val="25000"/>
                              </a:schemeClr>
                            </a:solidFill>
                            <a:latin typeface="Cambria Math" panose="02040503050406030204" pitchFamily="18" charset="0"/>
                          </a:rPr>
                          <m:t>×</m:t>
                        </m:r>
                        <m:r>
                          <a:rPr lang="en-US" altLang="ja-JP" b="0" i="1" dirty="0" smtClean="0">
                            <a:solidFill>
                              <a:schemeClr val="tx1">
                                <a:lumMod val="75000"/>
                                <a:lumOff val="25000"/>
                              </a:schemeClr>
                            </a:solidFill>
                            <a:latin typeface="Cambria Math" panose="02040503050406030204" pitchFamily="18" charset="0"/>
                          </a:rPr>
                          <m:t>1+0.2</m:t>
                        </m:r>
                        <m:r>
                          <a:rPr lang="en-US" altLang="ja-JP" i="1" dirty="0">
                            <a:latin typeface="Cambria Math" panose="02040503050406030204" pitchFamily="18" charset="0"/>
                          </a:rPr>
                          <m:t>×</m:t>
                        </m:r>
                        <m:r>
                          <a:rPr lang="en-US" altLang="ja-JP" b="0" i="1" dirty="0" smtClean="0">
                            <a:latin typeface="Cambria Math" panose="02040503050406030204" pitchFamily="18" charset="0"/>
                          </a:rPr>
                          <m:t>0.3</m:t>
                        </m:r>
                        <m:r>
                          <a:rPr lang="en-US" altLang="ja-JP" i="1" dirty="0">
                            <a:latin typeface="Cambria Math" panose="02040503050406030204" pitchFamily="18" charset="0"/>
                          </a:rPr>
                          <m:t>×</m:t>
                        </m:r>
                        <m:r>
                          <a:rPr lang="en-US" altLang="ja-JP" b="1" i="1" dirty="0" smtClean="0">
                            <a:solidFill>
                              <a:schemeClr val="accent5"/>
                            </a:solidFill>
                            <a:latin typeface="Cambria Math" panose="02040503050406030204" pitchFamily="18" charset="0"/>
                          </a:rPr>
                          <m:t>𝟏𝟒</m:t>
                        </m:r>
                      </m:den>
                    </m:f>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m:t>
                    </m:r>
                    <m:f>
                      <m:fPr>
                        <m:ctrlP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ctrlPr>
                      </m:fPr>
                      <m:num>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1.54</m:t>
                        </m:r>
                      </m:den>
                    </m:f>
                    <m:r>
                      <a:rPr lang="en-US" altLang="ja-JP" i="1" dirty="0">
                        <a:latin typeface="Cambria Math" panose="02040503050406030204" pitchFamily="18" charset="0"/>
                        <a:ea typeface="Cambria Math" panose="02040503050406030204" pitchFamily="18" charset="0"/>
                      </a:rPr>
                      <m:t>≈</m:t>
                    </m:r>
                    <m:r>
                      <a:rPr lang="en-US" altLang="ja-JP" b="0" i="1" dirty="0" smtClean="0">
                        <a:latin typeface="Cambria Math" panose="02040503050406030204" pitchFamily="18" charset="0"/>
                        <a:ea typeface="Cambria Math" panose="02040503050406030204" pitchFamily="18" charset="0"/>
                      </a:rPr>
                      <m:t>0.65</m:t>
                    </m:r>
                  </m:oMath>
                </a14:m>
                <a:endParaRPr lang="en-US" altLang="ja-JP" b="0" dirty="0">
                  <a:ea typeface="Cambria Math" panose="02040503050406030204" pitchFamily="18" charset="0"/>
                </a:endParaRPr>
              </a:p>
              <a:p>
                <a:pPr lvl="2"/>
                <a:r>
                  <a:rPr lang="ja-JP" altLang="en-US" dirty="0"/>
                  <a:t>分岐予測ミスペナルティが </a:t>
                </a:r>
                <a:r>
                  <a:rPr lang="en-US" altLang="ja-JP" dirty="0"/>
                  <a:t>10 </a:t>
                </a:r>
                <a:r>
                  <a:rPr lang="ja-JP" altLang="en-US" dirty="0"/>
                  <a:t>から </a:t>
                </a:r>
                <a:r>
                  <a:rPr lang="en-US" altLang="ja-JP" dirty="0"/>
                  <a:t>15 </a:t>
                </a:r>
                <a:r>
                  <a:rPr lang="ja-JP" altLang="en-US" dirty="0"/>
                  <a:t>に</a:t>
                </a:r>
                <a:endParaRPr lang="en-US" altLang="ja-JP" dirty="0"/>
              </a:p>
              <a:p>
                <a:pPr lvl="1"/>
                <a:r>
                  <a:rPr lang="en-US" altLang="ja-JP" dirty="0"/>
                  <a:t>10 </a:t>
                </a:r>
                <a:r>
                  <a:rPr lang="ja-JP" altLang="en-US" dirty="0"/>
                  <a:t>→ </a:t>
                </a:r>
                <a:r>
                  <a:rPr lang="en-US" altLang="ja-JP" dirty="0"/>
                  <a:t>15 </a:t>
                </a:r>
                <a:r>
                  <a:rPr lang="ja-JP" altLang="en-US" dirty="0"/>
                  <a:t>段になったことにより周波数が </a:t>
                </a:r>
                <a:r>
                  <a:rPr lang="en-US" altLang="ja-JP" dirty="0"/>
                  <a:t>1.5 </a:t>
                </a:r>
                <a:r>
                  <a:rPr lang="ja-JP" altLang="en-US" dirty="0"/>
                  <a:t>倍に</a:t>
                </a:r>
                <a:endParaRPr lang="en-US" altLang="ja-JP" dirty="0"/>
              </a:p>
              <a:p>
                <a:pPr lvl="1"/>
                <a:r>
                  <a:rPr lang="ja-JP" altLang="en-US" dirty="0"/>
                  <a:t>性能は </a:t>
                </a:r>
                <a:r>
                  <a:rPr lang="en-US" altLang="ja-JP" dirty="0"/>
                  <a:t>1.5 </a:t>
                </a:r>
                <a14:m>
                  <m:oMath xmlns:m="http://schemas.openxmlformats.org/officeDocument/2006/math">
                    <m:r>
                      <a:rPr lang="en-US" altLang="ja-JP" i="1" dirty="0" smtClean="0">
                        <a:latin typeface="Cambria Math" panose="02040503050406030204" pitchFamily="18" charset="0"/>
                      </a:rPr>
                      <m:t>×</m:t>
                    </m:r>
                  </m:oMath>
                </a14:m>
                <a:r>
                  <a:rPr lang="en-US" altLang="ja-JP" dirty="0"/>
                  <a:t> 0.65=0.97</a:t>
                </a:r>
              </a:p>
              <a:p>
                <a:r>
                  <a:rPr lang="ja-JP" altLang="en-US" dirty="0"/>
                  <a:t>「</a:t>
                </a:r>
                <a:r>
                  <a:rPr lang="en-US" altLang="ja-JP" dirty="0"/>
                  <a:t>2-way </a:t>
                </a:r>
                <a:r>
                  <a:rPr lang="ja-JP" altLang="en-US" dirty="0"/>
                  <a:t>のまま分岐予測器を改良する」</a:t>
                </a:r>
                <a:endParaRPr lang="en-US" altLang="ja-JP" dirty="0"/>
              </a:p>
              <a:p>
                <a:pPr lvl="1"/>
                <a14:m>
                  <m:oMath xmlns:m="http://schemas.openxmlformats.org/officeDocument/2006/math">
                    <m:r>
                      <a:rPr kumimoji="1" lang="en-US" altLang="ja-JP" i="1" dirty="0" smtClean="0">
                        <a:solidFill>
                          <a:schemeClr val="tx1">
                            <a:lumMod val="75000"/>
                            <a:lumOff val="25000"/>
                          </a:schemeClr>
                        </a:solidFill>
                        <a:latin typeface="Cambria Math" panose="02040503050406030204" pitchFamily="18" charset="0"/>
                      </a:rPr>
                      <m:t>𝐼𝑃𝐶𝑟</m:t>
                    </m:r>
                  </m:oMath>
                </a14:m>
                <a:r>
                  <a:rPr kumimoji="1" lang="en-US" altLang="ja-JP" dirty="0">
                    <a:solidFill>
                      <a:schemeClr val="tx1">
                        <a:lumMod val="75000"/>
                        <a:lumOff val="25000"/>
                      </a:schemeClr>
                    </a:solidFill>
                  </a:rPr>
                  <a:t>=</a:t>
                </a:r>
                <a14:m>
                  <m:oMath xmlns:m="http://schemas.openxmlformats.org/officeDocument/2006/math">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b="0" i="1" dirty="0" smtClean="0">
                                <a:solidFill>
                                  <a:schemeClr val="tx1">
                                    <a:lumMod val="75000"/>
                                    <a:lumOff val="25000"/>
                                  </a:schemeClr>
                                </a:solidFill>
                                <a:latin typeface="Cambria Math" panose="02040503050406030204" pitchFamily="18" charset="0"/>
                              </a:rPr>
                            </m:ctrlPr>
                          </m:fPr>
                          <m:num>
                            <m:r>
                              <a:rPr lang="en-US" altLang="ja-JP" b="0" i="1" dirty="0" smtClean="0">
                                <a:solidFill>
                                  <a:schemeClr val="tx1">
                                    <a:lumMod val="75000"/>
                                    <a:lumOff val="25000"/>
                                  </a:schemeClr>
                                </a:solidFill>
                                <a:latin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rPr>
                              <m:t>2</m:t>
                            </m:r>
                          </m:den>
                        </m:f>
                        <m:r>
                          <a:rPr lang="en-US" altLang="ja-JP" i="1" dirty="0">
                            <a:solidFill>
                              <a:schemeClr val="tx1">
                                <a:lumMod val="75000"/>
                                <a:lumOff val="25000"/>
                              </a:schemeClr>
                            </a:solidFill>
                            <a:latin typeface="Cambria Math" panose="02040503050406030204" pitchFamily="18" charset="0"/>
                          </a:rPr>
                          <m:t> +</m:t>
                        </m:r>
                        <m:r>
                          <a:rPr lang="en-US" altLang="ja-JP" b="0" i="1" dirty="0" smtClean="0">
                            <a:solidFill>
                              <a:schemeClr val="tx1">
                                <a:lumMod val="75000"/>
                                <a:lumOff val="25000"/>
                              </a:schemeClr>
                            </a:solidFill>
                            <a:latin typeface="Cambria Math" panose="02040503050406030204" pitchFamily="18" charset="0"/>
                          </a:rPr>
                          <m:t>0.2</m:t>
                        </m:r>
                        <m:r>
                          <a:rPr lang="en-US" altLang="ja-JP" i="1" dirty="0">
                            <a:solidFill>
                              <a:schemeClr val="tx1">
                                <a:lumMod val="75000"/>
                                <a:lumOff val="25000"/>
                              </a:schemeClr>
                            </a:solidFill>
                            <a:latin typeface="Cambria Math" panose="02040503050406030204" pitchFamily="18" charset="0"/>
                          </a:rPr>
                          <m:t>×</m:t>
                        </m:r>
                        <m:r>
                          <a:rPr lang="en-US" altLang="ja-JP" b="0" i="1" dirty="0" smtClean="0">
                            <a:solidFill>
                              <a:schemeClr val="tx1">
                                <a:lumMod val="75000"/>
                                <a:lumOff val="25000"/>
                              </a:schemeClr>
                            </a:solidFill>
                            <a:latin typeface="Cambria Math" panose="02040503050406030204" pitchFamily="18" charset="0"/>
                          </a:rPr>
                          <m:t>1+0.2</m:t>
                        </m:r>
                        <m:r>
                          <a:rPr lang="en-US" altLang="ja-JP" i="1" dirty="0">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𝟐</m:t>
                        </m:r>
                        <m:r>
                          <a:rPr lang="en-US" altLang="ja-JP" b="0" i="1" dirty="0">
                            <a:solidFill>
                              <a:schemeClr val="tx1">
                                <a:lumMod val="75000"/>
                                <a:lumOff val="25000"/>
                              </a:schemeClr>
                            </a:solidFill>
                            <a:latin typeface="Cambria Math" panose="02040503050406030204" pitchFamily="18" charset="0"/>
                          </a:rPr>
                          <m:t>×</m:t>
                        </m:r>
                        <m:r>
                          <a:rPr lang="en-US" altLang="ja-JP" b="1" i="1" dirty="0" smtClean="0">
                            <a:solidFill>
                              <a:schemeClr val="tx1">
                                <a:lumMod val="75000"/>
                                <a:lumOff val="25000"/>
                              </a:schemeClr>
                            </a:solidFill>
                            <a:latin typeface="Cambria Math" panose="02040503050406030204" pitchFamily="18" charset="0"/>
                          </a:rPr>
                          <m:t>𝟗</m:t>
                        </m:r>
                      </m:den>
                    </m:f>
                    <m:r>
                      <a:rPr lang="en-US" altLang="ja-JP" b="1" i="1" dirty="0" smtClean="0">
                        <a:solidFill>
                          <a:schemeClr val="tx1">
                            <a:lumMod val="75000"/>
                            <a:lumOff val="25000"/>
                          </a:schemeClr>
                        </a:solidFill>
                        <a:latin typeface="Cambria Math" panose="02040503050406030204" pitchFamily="18" charset="0"/>
                      </a:rPr>
                      <m:t>=</m:t>
                    </m:r>
                    <m:f>
                      <m:fPr>
                        <m:ctrlP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ctrlPr>
                      </m:fPr>
                      <m:num>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ea typeface="Cambria Math" panose="02040503050406030204" pitchFamily="18" charset="0"/>
                          </a:rPr>
                          <m:t>1.1</m:t>
                        </m:r>
                      </m:den>
                    </m:f>
                    <m:r>
                      <a:rPr lang="en-US" altLang="ja-JP" i="1" dirty="0">
                        <a:latin typeface="Cambria Math" panose="02040503050406030204" pitchFamily="18" charset="0"/>
                        <a:ea typeface="Cambria Math" panose="02040503050406030204" pitchFamily="18" charset="0"/>
                      </a:rPr>
                      <m:t>≈</m:t>
                    </m:r>
                    <m:r>
                      <a:rPr lang="en-US" altLang="ja-JP" b="0" i="1" dirty="0" smtClean="0">
                        <a:latin typeface="Cambria Math" panose="02040503050406030204" pitchFamily="18" charset="0"/>
                        <a:ea typeface="Cambria Math" panose="02040503050406030204" pitchFamily="18" charset="0"/>
                      </a:rPr>
                      <m:t>0.94</m:t>
                    </m:r>
                  </m:oMath>
                </a14:m>
                <a:endParaRPr lang="en-US" altLang="ja-JP" b="0" dirty="0">
                  <a:ea typeface="Cambria Math" panose="02040503050406030204" pitchFamily="18" charset="0"/>
                </a:endParaRPr>
              </a:p>
              <a:p>
                <a:pPr marL="360000" lvl="1" indent="0">
                  <a:buNone/>
                </a:pPr>
                <a:endParaRPr lang="en-US" altLang="ja-JP" b="0" dirty="0">
                  <a:ea typeface="Cambria Math" panose="02040503050406030204" pitchFamily="18" charset="0"/>
                </a:endParaRPr>
              </a:p>
              <a:p>
                <a:pPr lvl="1"/>
                <a:r>
                  <a:rPr lang="ja-JP" altLang="en-US" dirty="0"/>
                  <a:t>周波数は変わらないので，性能も </a:t>
                </a:r>
                <a:r>
                  <a:rPr lang="en-US" altLang="ja-JP" dirty="0"/>
                  <a:t>0.94</a:t>
                </a:r>
                <a:endParaRPr kumimoji="1" lang="en-US" altLang="ja-JP" dirty="0"/>
              </a:p>
              <a:p>
                <a:endParaRPr kumimoji="1" lang="en-US" dirty="0"/>
              </a:p>
            </p:txBody>
          </p:sp>
        </mc:Choice>
        <mc:Fallback xmlns="">
          <p:sp>
            <p:nvSpPr>
              <p:cNvPr id="3" name="コンテンツ プレースホルダー 2">
                <a:extLst>
                  <a:ext uri="{FF2B5EF4-FFF2-40B4-BE49-F238E27FC236}">
                    <a16:creationId xmlns:a16="http://schemas.microsoft.com/office/drawing/2014/main" id="{F752EAB5-659C-EC6B-B959-E5D2B5B59298}"/>
                  </a:ext>
                </a:extLst>
              </p:cNvPr>
              <p:cNvSpPr>
                <a:spLocks noGrp="1" noRot="1" noChangeAspect="1" noMove="1" noResize="1" noEditPoints="1" noAdjustHandles="1" noChangeArrowheads="1" noChangeShapeType="1" noTextEdit="1"/>
              </p:cNvSpPr>
              <p:nvPr>
                <p:ph sz="quarter" idx="10"/>
              </p:nvPr>
            </p:nvSpPr>
            <p:spPr>
              <a:blipFill>
                <a:blip r:embed="rId2"/>
                <a:stretch>
                  <a:fillRect l="-692" t="-935"/>
                </a:stretch>
              </a:blipFill>
            </p:spPr>
            <p:txBody>
              <a:bodyPr/>
              <a:lstStyle/>
              <a:p>
                <a:r>
                  <a:rPr lang="en-US">
                    <a:noFill/>
                  </a:rPr>
                  <a:t> </a:t>
                </a:r>
              </a:p>
            </p:txBody>
          </p:sp>
        </mc:Fallback>
      </mc:AlternateContent>
    </p:spTree>
    <p:extLst>
      <p:ext uri="{BB962C8B-B14F-4D97-AF65-F5344CB8AC3E}">
        <p14:creationId xmlns:p14="http://schemas.microsoft.com/office/powerpoint/2010/main" val="3622193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CA6708-BF63-DF04-8D87-7C8157DEE63E}"/>
              </a:ext>
            </a:extLst>
          </p:cNvPr>
          <p:cNvSpPr>
            <a:spLocks noGrp="1"/>
          </p:cNvSpPr>
          <p:nvPr>
            <p:ph type="title"/>
          </p:nvPr>
        </p:nvSpPr>
        <p:spPr/>
        <p:txBody>
          <a:bodyPr/>
          <a:lstStyle/>
          <a:p>
            <a:r>
              <a:rPr kumimoji="1" lang="ja-JP" altLang="en-US" dirty="0"/>
              <a:t>課題８（１）</a:t>
            </a:r>
            <a:endParaRPr kumimoji="1" lang="en-US" dirty="0"/>
          </a:p>
        </p:txBody>
      </p:sp>
      <p:sp>
        <p:nvSpPr>
          <p:cNvPr id="3" name="コンテンツ プレースホルダー 2">
            <a:extLst>
              <a:ext uri="{FF2B5EF4-FFF2-40B4-BE49-F238E27FC236}">
                <a16:creationId xmlns:a16="http://schemas.microsoft.com/office/drawing/2014/main" id="{DDB65E16-B00E-164C-39CC-453627341CCA}"/>
              </a:ext>
            </a:extLst>
          </p:cNvPr>
          <p:cNvSpPr>
            <a:spLocks noGrp="1"/>
          </p:cNvSpPr>
          <p:nvPr>
            <p:ph type="body" sz="quarter" idx="10"/>
          </p:nvPr>
        </p:nvSpPr>
        <p:spPr/>
        <p:txBody>
          <a:bodyPr/>
          <a:lstStyle/>
          <a:p>
            <a:r>
              <a:rPr kumimoji="1" lang="ja-JP" altLang="en-US" dirty="0"/>
              <a:t>まとめると，</a:t>
            </a:r>
            <a:endParaRPr kumimoji="1" lang="en-US" altLang="ja-JP" dirty="0"/>
          </a:p>
          <a:p>
            <a:pPr lvl="1"/>
            <a:r>
              <a:rPr kumimoji="1" lang="ja-JP" altLang="en-US" dirty="0"/>
              <a:t>ベースライン：</a:t>
            </a:r>
            <a:r>
              <a:rPr kumimoji="1" lang="en-US" altLang="ja-JP" dirty="0"/>
              <a:t>0.81</a:t>
            </a:r>
          </a:p>
          <a:p>
            <a:pPr marL="817200" lvl="1" indent="-457200">
              <a:buFont typeface="+mj-lt"/>
              <a:buAutoNum type="arabicPeriod"/>
            </a:pPr>
            <a:r>
              <a:rPr lang="en-US" altLang="ja-JP" dirty="0"/>
              <a:t>3-way </a:t>
            </a:r>
            <a:r>
              <a:rPr lang="ja-JP" altLang="en-US" dirty="0"/>
              <a:t>スーパスカラにする：</a:t>
            </a:r>
            <a:r>
              <a:rPr lang="en-US" altLang="ja-JP" dirty="0"/>
              <a:t>0.85</a:t>
            </a:r>
          </a:p>
          <a:p>
            <a:pPr marL="817200" lvl="1" indent="-457200">
              <a:buFont typeface="+mj-lt"/>
              <a:buAutoNum type="arabicPeriod"/>
            </a:pPr>
            <a:r>
              <a:rPr lang="en-US" altLang="ja-JP" dirty="0"/>
              <a:t>2-way </a:t>
            </a:r>
            <a:r>
              <a:rPr lang="ja-JP" altLang="en-US" dirty="0"/>
              <a:t>のまま</a:t>
            </a:r>
            <a:r>
              <a:rPr lang="en-US" altLang="ja-JP" dirty="0"/>
              <a:t>15</a:t>
            </a:r>
            <a:r>
              <a:rPr lang="ja-JP" altLang="en-US" dirty="0"/>
              <a:t>段パイプラインにする：</a:t>
            </a:r>
            <a:r>
              <a:rPr lang="en-US" altLang="ja-JP" dirty="0"/>
              <a:t>0.97 </a:t>
            </a:r>
            <a:r>
              <a:rPr lang="ja-JP" altLang="en-US" dirty="0"/>
              <a:t>最も速い</a:t>
            </a:r>
            <a:endParaRPr lang="en-US" altLang="ja-JP" dirty="0"/>
          </a:p>
          <a:p>
            <a:pPr marL="817200" lvl="1" indent="-457200">
              <a:buFont typeface="+mj-lt"/>
              <a:buAutoNum type="arabicPeriod"/>
            </a:pPr>
            <a:r>
              <a:rPr lang="en-US" altLang="ja-JP" dirty="0"/>
              <a:t>2-way </a:t>
            </a:r>
            <a:r>
              <a:rPr lang="ja-JP" altLang="en-US" dirty="0"/>
              <a:t>のまま分岐予測器を改良する：</a:t>
            </a:r>
            <a:r>
              <a:rPr lang="en-US" altLang="ja-JP" dirty="0"/>
              <a:t>0.94</a:t>
            </a:r>
            <a:endParaRPr kumimoji="1" lang="en-US" dirty="0"/>
          </a:p>
        </p:txBody>
      </p:sp>
    </p:spTree>
    <p:extLst>
      <p:ext uri="{BB962C8B-B14F-4D97-AF65-F5344CB8AC3E}">
        <p14:creationId xmlns:p14="http://schemas.microsoft.com/office/powerpoint/2010/main" val="9872130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８（２）</a:t>
            </a:r>
            <a:endParaRPr lang="en-US" dirty="0"/>
          </a:p>
        </p:txBody>
      </p:sp>
      <mc:AlternateContent xmlns:mc="http://schemas.openxmlformats.org/markup-compatibility/2006">
        <mc:Choice xmlns:a14="http://schemas.microsoft.com/office/drawing/2010/main" Requires="a14">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5"/>
                <a:ext cx="7830087" cy="5220057"/>
              </a:xfrm>
            </p:spPr>
            <p:txBody>
              <a:bodyPr/>
              <a:lstStyle/>
              <a:p>
                <a:r>
                  <a:rPr lang="en-US" altLang="ja-JP" sz="1600" dirty="0"/>
                  <a:t>(2) </a:t>
                </a:r>
                <a:r>
                  <a:rPr lang="ja-JP" altLang="en-US" sz="1600" dirty="0"/>
                  <a:t>ここで効率を表す「性能エネルギー比（性能 </a:t>
                </a:r>
                <a:r>
                  <a:rPr lang="en-US" altLang="ja-JP" sz="1600" dirty="0"/>
                  <a:t>/ </a:t>
                </a:r>
                <a:r>
                  <a:rPr lang="ja-JP" altLang="en-US" sz="1600" dirty="0"/>
                  <a:t>消費エネルギー）」という指標を導入する．この数字が大きいほど小さなエネルギーで速く動くことを意味する．前述の３つの改良方針のうち，以下の追加の条件のもとで，最も性能エネルギー比が良いものはどれかを計算して検討せよ．</a:t>
                </a:r>
                <a:endParaRPr lang="en-US" altLang="ja-JP" sz="1600" dirty="0"/>
              </a:p>
              <a:p>
                <a:pPr lvl="1"/>
                <a:r>
                  <a:rPr lang="ja-JP" altLang="en-US" sz="1600" dirty="0"/>
                  <a:t>クロック周波数を </a:t>
                </a:r>
                <a:r>
                  <a:rPr lang="en-US" altLang="ja-JP" sz="1600" dirty="0"/>
                  <a:t>N </a:t>
                </a:r>
                <a:r>
                  <a:rPr lang="ja-JP" altLang="en-US" sz="1600" dirty="0"/>
                  <a:t>倍にすると，消費エネルギーは </a:t>
                </a:r>
                <a14:m>
                  <m:oMath xmlns:m="http://schemas.openxmlformats.org/officeDocument/2006/math">
                    <m:sSup>
                      <m:sSupPr>
                        <m:ctrlPr>
                          <a:rPr lang="en-US" altLang="ja-JP" sz="1600" i="1" dirty="0">
                            <a:latin typeface="Cambria Math" panose="02040503050406030204" pitchFamily="18" charset="0"/>
                          </a:rPr>
                        </m:ctrlPr>
                      </m:sSupPr>
                      <m:e>
                        <m:r>
                          <a:rPr lang="en-US" altLang="ja-JP" sz="1600" i="1" dirty="0">
                            <a:latin typeface="Cambria Math" panose="02040503050406030204" pitchFamily="18" charset="0"/>
                          </a:rPr>
                          <m:t>𝑁</m:t>
                        </m:r>
                      </m:e>
                      <m:sup>
                        <m:r>
                          <a:rPr lang="en-US" altLang="ja-JP" sz="1600" i="1" dirty="0">
                            <a:latin typeface="Cambria Math" panose="02040503050406030204" pitchFamily="18" charset="0"/>
                          </a:rPr>
                          <m:t>2</m:t>
                        </m:r>
                      </m:sup>
                    </m:sSup>
                  </m:oMath>
                </a14:m>
                <a:r>
                  <a:rPr lang="ja-JP" altLang="en-US" sz="1600" dirty="0"/>
                  <a:t> 倍増える</a:t>
                </a:r>
                <a:endParaRPr lang="en-US" altLang="ja-JP" sz="1600" dirty="0"/>
              </a:p>
              <a:p>
                <a:pPr lvl="1"/>
                <a:r>
                  <a:rPr lang="en-US" altLang="ja-JP" sz="1600" dirty="0"/>
                  <a:t>3-way </a:t>
                </a:r>
                <a:r>
                  <a:rPr lang="ja-JP" altLang="en-US" sz="1600" dirty="0"/>
                  <a:t>スーパースカラにすると消費エネルギーは </a:t>
                </a:r>
                <a:r>
                  <a:rPr lang="en-US" altLang="ja-JP" sz="1600" dirty="0"/>
                  <a:t>1.5 </a:t>
                </a:r>
                <a:r>
                  <a:rPr lang="ja-JP" altLang="en-US" sz="1600" dirty="0"/>
                  <a:t>倍になる</a:t>
                </a:r>
                <a:endParaRPr lang="en-US" altLang="ja-JP" sz="1600" dirty="0"/>
              </a:p>
              <a:p>
                <a:pPr lvl="1"/>
                <a:r>
                  <a:rPr lang="ja-JP" altLang="en-US" sz="1600" dirty="0"/>
                  <a:t>分岐予測器を改良すると消費エネルギーは </a:t>
                </a:r>
                <a:r>
                  <a:rPr lang="en-US" altLang="ja-JP" sz="1600" dirty="0"/>
                  <a:t>1.1 </a:t>
                </a:r>
                <a:r>
                  <a:rPr lang="ja-JP" altLang="en-US" sz="1600" dirty="0"/>
                  <a:t>倍になる</a:t>
                </a:r>
                <a:endParaRPr lang="en-US" altLang="ja-JP" sz="1600" dirty="0"/>
              </a:p>
            </p:txBody>
          </p:sp>
        </mc:Choice>
        <mc:Fallback>
          <p:sp>
            <p:nvSpPr>
              <p:cNvPr id="7" name="コンテンツ プレースホルダー 2">
                <a:extLst>
                  <a:ext uri="{FF2B5EF4-FFF2-40B4-BE49-F238E27FC236}">
                    <a16:creationId xmlns:a16="http://schemas.microsoft.com/office/drawing/2014/main" id="{E21D1133-FC57-F955-23BE-11C267021F5C}"/>
                  </a:ext>
                </a:extLst>
              </p:cNvPr>
              <p:cNvSpPr>
                <a:spLocks noGrp="1" noRot="1" noChangeAspect="1" noMove="1" noResize="1" noEditPoints="1" noAdjustHandles="1" noChangeArrowheads="1" noChangeShapeType="1" noTextEdit="1"/>
              </p:cNvSpPr>
              <p:nvPr>
                <p:ph type="body" sz="quarter" idx="10"/>
              </p:nvPr>
            </p:nvSpPr>
            <p:spPr>
              <a:xfrm>
                <a:off x="2135956" y="1088975"/>
                <a:ext cx="7830087" cy="5220057"/>
              </a:xfrm>
              <a:blipFill>
                <a:blip r:embed="rId2"/>
                <a:stretch>
                  <a:fillRect l="-311"/>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14</a:t>
            </a:fld>
            <a:endParaRPr kumimoji="1" lang="ja-JP" altLang="en-US" dirty="0"/>
          </a:p>
        </p:txBody>
      </p:sp>
    </p:spTree>
    <p:extLst>
      <p:ext uri="{BB962C8B-B14F-4D97-AF65-F5344CB8AC3E}">
        <p14:creationId xmlns:p14="http://schemas.microsoft.com/office/powerpoint/2010/main" val="3587308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８（２）</a:t>
            </a:r>
            <a:endParaRPr lang="en-US" dirty="0"/>
          </a:p>
        </p:txBody>
      </p:sp>
      <mc:AlternateContent xmlns:mc="http://schemas.openxmlformats.org/markup-compatibility/2006">
        <mc:Choice xmlns:a14="http://schemas.microsoft.com/office/drawing/2010/main" Requires="a14">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5"/>
                <a:ext cx="7830087" cy="5220057"/>
              </a:xfrm>
            </p:spPr>
            <p:txBody>
              <a:bodyPr/>
              <a:lstStyle/>
              <a:p>
                <a:r>
                  <a:rPr kumimoji="1" lang="ja-JP" altLang="en-US" dirty="0"/>
                  <a:t>ベースラインの消費エネルギーを１とすると：</a:t>
                </a:r>
                <a:r>
                  <a:rPr kumimoji="1" lang="en-US" altLang="ja-JP" dirty="0"/>
                  <a:t>0.81/1=0.81</a:t>
                </a:r>
              </a:p>
              <a:p>
                <a:pPr marL="457200" indent="-457200">
                  <a:buFont typeface="+mj-lt"/>
                  <a:buAutoNum type="arabicPeriod"/>
                </a:pPr>
                <a:r>
                  <a:rPr lang="en-US" altLang="ja-JP" dirty="0"/>
                  <a:t>3-way </a:t>
                </a:r>
                <a:r>
                  <a:rPr lang="ja-JP" altLang="en-US" dirty="0"/>
                  <a:t>スーパスカラにする：</a:t>
                </a:r>
                <a14:m>
                  <m:oMath xmlns:m="http://schemas.openxmlformats.org/officeDocument/2006/math">
                    <m:r>
                      <a:rPr lang="en-US" altLang="ja-JP" i="1" dirty="0" smtClean="0">
                        <a:latin typeface="Cambria Math" panose="02040503050406030204" pitchFamily="18" charset="0"/>
                      </a:rPr>
                      <m:t>0.8</m:t>
                    </m:r>
                    <m:r>
                      <a:rPr lang="en-US" altLang="ja-JP" b="0" i="1" dirty="0" smtClean="0">
                        <a:latin typeface="Cambria Math" panose="02040503050406030204" pitchFamily="18" charset="0"/>
                      </a:rPr>
                      <m:t>5</m:t>
                    </m:r>
                    <m:r>
                      <a:rPr lang="en-US" altLang="ja-JP" i="1" dirty="0" smtClean="0">
                        <a:latin typeface="Cambria Math" panose="02040503050406030204" pitchFamily="18" charset="0"/>
                      </a:rPr>
                      <m:t>/1.5</m:t>
                    </m:r>
                    <m:r>
                      <a:rPr lang="en-US" altLang="ja-JP" i="1" dirty="0" smtClean="0">
                        <a:latin typeface="Cambria Math" panose="02040503050406030204" pitchFamily="18" charset="0"/>
                        <a:ea typeface="Cambria Math" panose="02040503050406030204" pitchFamily="18" charset="0"/>
                      </a:rPr>
                      <m:t>≈</m:t>
                    </m:r>
                    <m:r>
                      <a:rPr lang="en-US" altLang="ja-JP" i="1" dirty="0" smtClean="0">
                        <a:latin typeface="Cambria Math" panose="02040503050406030204" pitchFamily="18" charset="0"/>
                      </a:rPr>
                      <m:t>0.57</m:t>
                    </m:r>
                  </m:oMath>
                </a14:m>
                <a:endParaRPr lang="en-US" altLang="ja-JP" dirty="0"/>
              </a:p>
              <a:p>
                <a:pPr marL="457200" indent="-457200">
                  <a:buFont typeface="+mj-lt"/>
                  <a:buAutoNum type="arabicPeriod"/>
                </a:pPr>
                <a:r>
                  <a:rPr lang="en-US" altLang="ja-JP" dirty="0"/>
                  <a:t>2-way </a:t>
                </a:r>
                <a:r>
                  <a:rPr lang="ja-JP" altLang="en-US" dirty="0"/>
                  <a:t>のまま</a:t>
                </a:r>
                <a:r>
                  <a:rPr lang="en-US" altLang="ja-JP" dirty="0"/>
                  <a:t>15</a:t>
                </a:r>
                <a:r>
                  <a:rPr lang="ja-JP" altLang="en-US" dirty="0"/>
                  <a:t>段パイプラインにする：</a:t>
                </a:r>
                <a14:m>
                  <m:oMath xmlns:m="http://schemas.openxmlformats.org/officeDocument/2006/math">
                    <m:f>
                      <m:fPr>
                        <m:ctrlPr>
                          <a:rPr lang="en-US" altLang="ja-JP" i="1" dirty="0" smtClean="0">
                            <a:latin typeface="Cambria Math" panose="02040503050406030204" pitchFamily="18" charset="0"/>
                          </a:rPr>
                        </m:ctrlPr>
                      </m:fPr>
                      <m:num>
                        <m:r>
                          <a:rPr lang="en-US" altLang="ja-JP" i="1" dirty="0" smtClean="0">
                            <a:latin typeface="Cambria Math" panose="02040503050406030204" pitchFamily="18" charset="0"/>
                          </a:rPr>
                          <m:t>0.9</m:t>
                        </m:r>
                        <m:r>
                          <a:rPr lang="en-US" altLang="ja-JP" b="0" i="1" dirty="0" smtClean="0">
                            <a:latin typeface="Cambria Math" panose="02040503050406030204" pitchFamily="18" charset="0"/>
                          </a:rPr>
                          <m:t>7</m:t>
                        </m:r>
                      </m:num>
                      <m:den>
                        <m:sSup>
                          <m:sSupPr>
                            <m:ctrlPr>
                              <a:rPr lang="en-US" altLang="ja-JP" i="1" dirty="0" smtClean="0">
                                <a:latin typeface="Cambria Math" panose="02040503050406030204" pitchFamily="18" charset="0"/>
                              </a:rPr>
                            </m:ctrlPr>
                          </m:sSupPr>
                          <m:e>
                            <m:r>
                              <a:rPr lang="en-US" altLang="ja-JP" i="1" dirty="0" smtClean="0">
                                <a:latin typeface="Cambria Math" panose="02040503050406030204" pitchFamily="18" charset="0"/>
                              </a:rPr>
                              <m:t>1.5</m:t>
                            </m:r>
                          </m:e>
                          <m:sup>
                            <m:r>
                              <a:rPr lang="en-US" altLang="ja-JP" i="1" dirty="0" smtClean="0">
                                <a:latin typeface="Cambria Math" panose="02040503050406030204" pitchFamily="18" charset="0"/>
                              </a:rPr>
                              <m:t>2</m:t>
                            </m:r>
                          </m:sup>
                        </m:sSup>
                      </m:den>
                    </m:f>
                    <m:r>
                      <a:rPr lang="en-US" altLang="ja-JP" b="0" i="1" dirty="0" smtClean="0">
                        <a:latin typeface="Cambria Math" panose="02040503050406030204" pitchFamily="18" charset="0"/>
                      </a:rPr>
                      <m:t>≈0.4</m:t>
                    </m:r>
                    <m:r>
                      <a:rPr lang="en-US" altLang="ja-JP" i="1" dirty="0" smtClean="0">
                        <a:latin typeface="Cambria Math" panose="02040503050406030204" pitchFamily="18" charset="0"/>
                      </a:rPr>
                      <m:t>3</m:t>
                    </m:r>
                  </m:oMath>
                </a14:m>
                <a:endParaRPr lang="en-US" altLang="ja-JP" dirty="0"/>
              </a:p>
              <a:p>
                <a:pPr lvl="1"/>
                <a:r>
                  <a:rPr lang="ja-JP" altLang="en-US" dirty="0"/>
                  <a:t>最も速いが，エネルギー効率がとても悪い</a:t>
                </a:r>
                <a:endParaRPr lang="en-US" altLang="ja-JP" dirty="0"/>
              </a:p>
              <a:p>
                <a:pPr marL="457200" indent="-457200">
                  <a:buFont typeface="+mj-lt"/>
                  <a:buAutoNum type="arabicPeriod"/>
                </a:pPr>
                <a:r>
                  <a:rPr lang="en-US" altLang="ja-JP" dirty="0"/>
                  <a:t>2-way </a:t>
                </a:r>
                <a:r>
                  <a:rPr lang="ja-JP" altLang="en-US" dirty="0"/>
                  <a:t>のまま分岐予測器を改良する：</a:t>
                </a:r>
                <a14:m>
                  <m:oMath xmlns:m="http://schemas.openxmlformats.org/officeDocument/2006/math">
                    <m:f>
                      <m:fPr>
                        <m:ctrlPr>
                          <a:rPr lang="en-US" altLang="ja-JP" i="1" dirty="0" smtClean="0">
                            <a:latin typeface="Cambria Math" panose="02040503050406030204" pitchFamily="18" charset="0"/>
                          </a:rPr>
                        </m:ctrlPr>
                      </m:fPr>
                      <m:num>
                        <m:r>
                          <a:rPr lang="en-US" altLang="ja-JP" i="1" dirty="0" smtClean="0">
                            <a:latin typeface="Cambria Math" panose="02040503050406030204" pitchFamily="18" charset="0"/>
                          </a:rPr>
                          <m:t>0.9</m:t>
                        </m:r>
                        <m:r>
                          <a:rPr lang="en-US" altLang="ja-JP" b="0" i="1" dirty="0" smtClean="0">
                            <a:latin typeface="Cambria Math" panose="02040503050406030204" pitchFamily="18" charset="0"/>
                          </a:rPr>
                          <m:t>4</m:t>
                        </m:r>
                      </m:num>
                      <m:den>
                        <m:r>
                          <a:rPr lang="en-US" altLang="ja-JP" i="1" dirty="0" smtClean="0">
                            <a:latin typeface="Cambria Math" panose="02040503050406030204" pitchFamily="18" charset="0"/>
                          </a:rPr>
                          <m:t>1.1</m:t>
                        </m:r>
                      </m:den>
                    </m:f>
                    <m:r>
                      <a:rPr lang="en-US" altLang="ja-JP" b="0" i="1" dirty="0" smtClean="0">
                        <a:latin typeface="Cambria Math" panose="02040503050406030204" pitchFamily="18" charset="0"/>
                      </a:rPr>
                      <m:t>≈0.85</m:t>
                    </m:r>
                  </m:oMath>
                </a14:m>
                <a:endParaRPr lang="en-US" altLang="ja-JP" b="0" dirty="0"/>
              </a:p>
              <a:p>
                <a:pPr lvl="1"/>
                <a:r>
                  <a:rPr kumimoji="1" lang="en-US" altLang="ja-JP" dirty="0"/>
                  <a:t>2 </a:t>
                </a:r>
                <a:r>
                  <a:rPr kumimoji="1" lang="ja-JP" altLang="en-US" dirty="0"/>
                  <a:t>より少し遅いがエネルギー効率はずっと良い</a:t>
                </a:r>
                <a:endParaRPr kumimoji="1" lang="en-US" altLang="ja-JP" dirty="0"/>
              </a:p>
            </p:txBody>
          </p:sp>
        </mc:Choice>
        <mc:Fallback>
          <p:sp>
            <p:nvSpPr>
              <p:cNvPr id="7" name="コンテンツ プレースホルダー 2">
                <a:extLst>
                  <a:ext uri="{FF2B5EF4-FFF2-40B4-BE49-F238E27FC236}">
                    <a16:creationId xmlns:a16="http://schemas.microsoft.com/office/drawing/2014/main" id="{E21D1133-FC57-F955-23BE-11C267021F5C}"/>
                  </a:ext>
                </a:extLst>
              </p:cNvPr>
              <p:cNvSpPr>
                <a:spLocks noGrp="1" noRot="1" noChangeAspect="1" noMove="1" noResize="1" noEditPoints="1" noAdjustHandles="1" noChangeArrowheads="1" noChangeShapeType="1" noTextEdit="1"/>
              </p:cNvSpPr>
              <p:nvPr>
                <p:ph type="body" sz="quarter" idx="10"/>
              </p:nvPr>
            </p:nvSpPr>
            <p:spPr>
              <a:xfrm>
                <a:off x="2135956" y="1088975"/>
                <a:ext cx="7830087" cy="5220057"/>
              </a:xfrm>
              <a:blipFill>
                <a:blip r:embed="rId2"/>
                <a:stretch>
                  <a:fillRect l="-1012"/>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15</a:t>
            </a:fld>
            <a:endParaRPr kumimoji="1" lang="ja-JP" altLang="en-US" dirty="0"/>
          </a:p>
        </p:txBody>
      </p:sp>
    </p:spTree>
    <p:extLst>
      <p:ext uri="{BB962C8B-B14F-4D97-AF65-F5344CB8AC3E}">
        <p14:creationId xmlns:p14="http://schemas.microsoft.com/office/powerpoint/2010/main" val="38930795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16</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メモリと，キャッシュの基本</a:t>
            </a:r>
            <a:endParaRPr kumimoji="1" lang="en-US" dirty="0"/>
          </a:p>
        </p:txBody>
      </p:sp>
    </p:spTree>
    <p:extLst>
      <p:ext uri="{BB962C8B-B14F-4D97-AF65-F5344CB8AC3E}">
        <p14:creationId xmlns:p14="http://schemas.microsoft.com/office/powerpoint/2010/main" val="2851520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AE0C569-28B0-BC2B-BFAA-8E0974E9742B}"/>
              </a:ext>
            </a:extLst>
          </p:cNvPr>
          <p:cNvSpPr>
            <a:spLocks noGrp="1"/>
          </p:cNvSpPr>
          <p:nvPr>
            <p:ph type="title"/>
          </p:nvPr>
        </p:nvSpPr>
        <p:spPr/>
        <p:txBody>
          <a:bodyPr/>
          <a:lstStyle/>
          <a:p>
            <a:r>
              <a:rPr lang="ja-JP" altLang="en-US" dirty="0"/>
              <a:t>今日の内容</a:t>
            </a:r>
            <a:endParaRPr lang="en-US" dirty="0"/>
          </a:p>
        </p:txBody>
      </p:sp>
      <p:sp>
        <p:nvSpPr>
          <p:cNvPr id="5" name="コンテンツ プレースホルダー 4">
            <a:extLst>
              <a:ext uri="{FF2B5EF4-FFF2-40B4-BE49-F238E27FC236}">
                <a16:creationId xmlns:a16="http://schemas.microsoft.com/office/drawing/2014/main" id="{2357C782-95FE-C89C-7A97-8FEF9676050A}"/>
              </a:ext>
            </a:extLst>
          </p:cNvPr>
          <p:cNvSpPr>
            <a:spLocks noGrp="1"/>
          </p:cNvSpPr>
          <p:nvPr>
            <p:ph type="body" sz="quarter" idx="10"/>
          </p:nvPr>
        </p:nvSpPr>
        <p:spPr/>
        <p:txBody>
          <a:bodyPr/>
          <a:lstStyle/>
          <a:p>
            <a:pPr marL="457200" indent="-457200">
              <a:buFont typeface="+mj-lt"/>
              <a:buAutoNum type="arabicPeriod"/>
            </a:pPr>
            <a:r>
              <a:rPr lang="ja-JP" altLang="en-US" dirty="0"/>
              <a:t>メモリ</a:t>
            </a:r>
            <a:endParaRPr lang="en-US" altLang="ja-JP" dirty="0"/>
          </a:p>
          <a:p>
            <a:pPr marL="457200" indent="-457200">
              <a:buFont typeface="+mj-lt"/>
              <a:buAutoNum type="arabicPeriod"/>
            </a:pPr>
            <a:r>
              <a:rPr lang="ja-JP" altLang="en-US" dirty="0"/>
              <a:t>キャッシュの基本</a:t>
            </a:r>
            <a:endParaRPr lang="en-US" altLang="ja-JP" dirty="0"/>
          </a:p>
        </p:txBody>
      </p:sp>
      <p:sp>
        <p:nvSpPr>
          <p:cNvPr id="2" name="スライド番号プレースホルダー 1">
            <a:extLst>
              <a:ext uri="{FF2B5EF4-FFF2-40B4-BE49-F238E27FC236}">
                <a16:creationId xmlns:a16="http://schemas.microsoft.com/office/drawing/2014/main" id="{A7460468-D73A-4F2A-CAEC-31FD11E7023E}"/>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17</a:t>
            </a:fld>
            <a:endParaRPr kumimoji="1" lang="ja-JP" altLang="en-US"/>
          </a:p>
        </p:txBody>
      </p:sp>
    </p:spTree>
    <p:extLst>
      <p:ext uri="{BB962C8B-B14F-4D97-AF65-F5344CB8AC3E}">
        <p14:creationId xmlns:p14="http://schemas.microsoft.com/office/powerpoint/2010/main" val="2959814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18</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メモリ</a:t>
            </a:r>
            <a:endParaRPr kumimoji="1" lang="en-US" dirty="0"/>
          </a:p>
        </p:txBody>
      </p:sp>
    </p:spTree>
    <p:extLst>
      <p:ext uri="{BB962C8B-B14F-4D97-AF65-F5344CB8AC3E}">
        <p14:creationId xmlns:p14="http://schemas.microsoft.com/office/powerpoint/2010/main" val="84767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75E16E-4E07-4DD3-B7AE-30384DEDA7DA}"/>
              </a:ext>
            </a:extLst>
          </p:cNvPr>
          <p:cNvSpPr>
            <a:spLocks noGrp="1"/>
          </p:cNvSpPr>
          <p:nvPr>
            <p:ph type="title"/>
          </p:nvPr>
        </p:nvSpPr>
        <p:spPr>
          <a:xfrm>
            <a:off x="2135956" y="0"/>
            <a:ext cx="8532044" cy="908972"/>
          </a:xfrm>
        </p:spPr>
        <p:txBody>
          <a:bodyPr/>
          <a:lstStyle/>
          <a:p>
            <a:r>
              <a:rPr lang="ja-JP" altLang="en-US" dirty="0"/>
              <a:t>メモリ</a:t>
            </a:r>
          </a:p>
        </p:txBody>
      </p:sp>
      <p:sp>
        <p:nvSpPr>
          <p:cNvPr id="3" name="テキスト プレースホルダー 2">
            <a:extLst>
              <a:ext uri="{FF2B5EF4-FFF2-40B4-BE49-F238E27FC236}">
                <a16:creationId xmlns:a16="http://schemas.microsoft.com/office/drawing/2014/main" id="{85BC6282-73C9-4184-B25A-1BBCEB8615BE}"/>
              </a:ext>
            </a:extLst>
          </p:cNvPr>
          <p:cNvSpPr>
            <a:spLocks noGrp="1"/>
          </p:cNvSpPr>
          <p:nvPr>
            <p:ph type="body" sz="quarter" idx="10"/>
          </p:nvPr>
        </p:nvSpPr>
        <p:spPr>
          <a:xfrm>
            <a:off x="2135956" y="1088974"/>
            <a:ext cx="7920088" cy="5220058"/>
          </a:xfrm>
        </p:spPr>
        <p:txBody>
          <a:bodyPr/>
          <a:lstStyle/>
          <a:p>
            <a:r>
              <a:rPr lang="ja-JP" altLang="en-US" dirty="0"/>
              <a:t>メモリ：</a:t>
            </a:r>
            <a:r>
              <a:rPr lang="en-US" altLang="ja-JP" dirty="0"/>
              <a:t>RAM</a:t>
            </a:r>
            <a:r>
              <a:rPr lang="ja-JP" altLang="en-US" dirty="0"/>
              <a:t>（</a:t>
            </a:r>
            <a:r>
              <a:rPr lang="en-US" altLang="ja-JP" dirty="0"/>
              <a:t>Random Access Memory</a:t>
            </a:r>
            <a:r>
              <a:rPr lang="ja-JP" altLang="en-US" dirty="0"/>
              <a:t>）</a:t>
            </a:r>
            <a:endParaRPr lang="en-US" altLang="ja-JP" dirty="0"/>
          </a:p>
          <a:p>
            <a:pPr lvl="1"/>
            <a:r>
              <a:rPr lang="ja-JP" altLang="en-US" dirty="0"/>
              <a:t>複数のデータを記憶する回路</a:t>
            </a:r>
            <a:endParaRPr lang="en-US" altLang="ja-JP" dirty="0"/>
          </a:p>
          <a:p>
            <a:pPr lvl="1"/>
            <a:r>
              <a:rPr lang="ja-JP" altLang="en-US" dirty="0"/>
              <a:t>配列のように，位置を指定して読み書きする</a:t>
            </a:r>
            <a:endParaRPr lang="en-US" altLang="ja-JP" dirty="0"/>
          </a:p>
        </p:txBody>
      </p:sp>
    </p:spTree>
    <p:extLst>
      <p:ext uri="{BB962C8B-B14F-4D97-AF65-F5344CB8AC3E}">
        <p14:creationId xmlns:p14="http://schemas.microsoft.com/office/powerpoint/2010/main" val="3958185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a:t>
            </a:r>
            <a:endParaRPr kumimoji="1" lang="ja-JP" altLang="en-US" dirty="0"/>
          </a:p>
        </p:txBody>
      </p:sp>
      <p:sp>
        <p:nvSpPr>
          <p:cNvPr id="3" name="コンテンツ プレースホルダー 2"/>
          <p:cNvSpPr>
            <a:spLocks noGrp="1"/>
          </p:cNvSpPr>
          <p:nvPr>
            <p:ph type="body" sz="quarter" idx="10"/>
          </p:nvPr>
        </p:nvSpPr>
        <p:spPr>
          <a:xfrm>
            <a:off x="2135956" y="2528990"/>
            <a:ext cx="7848600" cy="3690041"/>
          </a:xfrm>
          <a:prstGeom prst="rect">
            <a:avLst/>
          </a:prstGeom>
        </p:spPr>
        <p:txBody>
          <a:bodyPr/>
          <a:lstStyle/>
          <a:p>
            <a:r>
              <a:rPr lang="ja-JP" altLang="en-US" dirty="0"/>
              <a:t>メモリは命令列と，計算するデータを保持する</a:t>
            </a:r>
            <a:endParaRPr lang="en-US" altLang="ja-JP" dirty="0"/>
          </a:p>
          <a:p>
            <a:pPr lvl="1"/>
            <a:r>
              <a:rPr lang="ja-JP" altLang="en-US" dirty="0"/>
              <a:t>単一の巨大な配列があると思えばよい</a:t>
            </a:r>
            <a:endParaRPr lang="en-US" altLang="ja-JP" dirty="0"/>
          </a:p>
          <a:p>
            <a:pPr lvl="1"/>
            <a:r>
              <a:rPr lang="en-US" altLang="ja-JP" dirty="0"/>
              <a:t>C </a:t>
            </a:r>
            <a:r>
              <a:rPr lang="ja-JP" altLang="en-US" dirty="0"/>
              <a:t>言語の配列は，これを切り出してユーザーに見せている</a:t>
            </a:r>
            <a:endParaRPr lang="en-US" altLang="ja-JP" dirty="0"/>
          </a:p>
          <a:p>
            <a:r>
              <a:rPr lang="ja-JP" altLang="en-US" dirty="0"/>
              <a:t>数字が入る箱がたくさん並んでいるイメージ</a:t>
            </a:r>
            <a:endParaRPr lang="en-US" altLang="ja-JP" dirty="0"/>
          </a:p>
          <a:p>
            <a:pPr lvl="1"/>
            <a:r>
              <a:rPr lang="ja-JP" altLang="en-US" dirty="0"/>
              <a:t>アドレス：箱の通し番号（住所）</a:t>
            </a:r>
            <a:endParaRPr lang="en-US" altLang="ja-JP" dirty="0"/>
          </a:p>
          <a:p>
            <a:pPr lvl="1"/>
            <a:r>
              <a:rPr lang="ja-JP" altLang="en-US" dirty="0"/>
              <a:t>データ　：箱の中身の数字</a:t>
            </a:r>
            <a:endParaRPr lang="en-US" altLang="ja-JP" dirty="0"/>
          </a:p>
        </p:txBody>
      </p:sp>
      <p:sp>
        <p:nvSpPr>
          <p:cNvPr id="4" name="Freeform 10"/>
          <p:cNvSpPr>
            <a:spLocks/>
          </p:cNvSpPr>
          <p:nvPr/>
        </p:nvSpPr>
        <p:spPr bwMode="auto">
          <a:xfrm rot="16200000">
            <a:off x="6230978" y="1494004"/>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7" name="正方形/長方形 6"/>
          <p:cNvSpPr/>
          <p:nvPr/>
        </p:nvSpPr>
        <p:spPr bwMode="auto">
          <a:xfrm>
            <a:off x="6096001"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3Eh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8" name="Freeform 10"/>
          <p:cNvSpPr>
            <a:spLocks/>
          </p:cNvSpPr>
          <p:nvPr/>
        </p:nvSpPr>
        <p:spPr bwMode="auto">
          <a:xfrm rot="16200000">
            <a:off x="6950987" y="1494004"/>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9" name="正方形/長方形 8"/>
          <p:cNvSpPr/>
          <p:nvPr/>
        </p:nvSpPr>
        <p:spPr bwMode="auto">
          <a:xfrm>
            <a:off x="6816010"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01h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0" name="Freeform 10"/>
          <p:cNvSpPr>
            <a:spLocks/>
          </p:cNvSpPr>
          <p:nvPr/>
        </p:nvSpPr>
        <p:spPr bwMode="auto">
          <a:xfrm rot="16200000">
            <a:off x="7670992"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1" name="正方形/長方形 10"/>
          <p:cNvSpPr/>
          <p:nvPr/>
        </p:nvSpPr>
        <p:spPr bwMode="auto">
          <a:xfrm>
            <a:off x="7536018"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32h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Freeform 10"/>
          <p:cNvSpPr>
            <a:spLocks/>
          </p:cNvSpPr>
          <p:nvPr/>
        </p:nvSpPr>
        <p:spPr bwMode="auto">
          <a:xfrm rot="16200000">
            <a:off x="8391000"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3" name="正方形/長方形 12"/>
          <p:cNvSpPr/>
          <p:nvPr/>
        </p:nvSpPr>
        <p:spPr bwMode="auto">
          <a:xfrm>
            <a:off x="8256026"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20h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Freeform 10"/>
          <p:cNvSpPr>
            <a:spLocks/>
          </p:cNvSpPr>
          <p:nvPr/>
        </p:nvSpPr>
        <p:spPr bwMode="auto">
          <a:xfrm rot="16200000">
            <a:off x="9111008"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5" name="正方形/長方形 14"/>
          <p:cNvSpPr/>
          <p:nvPr/>
        </p:nvSpPr>
        <p:spPr bwMode="auto">
          <a:xfrm>
            <a:off x="8976034" y="1538979"/>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80h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6" name="Freeform 10"/>
          <p:cNvSpPr>
            <a:spLocks/>
          </p:cNvSpPr>
          <p:nvPr/>
        </p:nvSpPr>
        <p:spPr bwMode="auto">
          <a:xfrm rot="16200000">
            <a:off x="3350946" y="1494006"/>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7" name="正方形/長方形 16"/>
          <p:cNvSpPr/>
          <p:nvPr/>
        </p:nvSpPr>
        <p:spPr bwMode="auto">
          <a:xfrm>
            <a:off x="3215969" y="1538981"/>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07h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8" name="Freeform 10"/>
          <p:cNvSpPr>
            <a:spLocks/>
          </p:cNvSpPr>
          <p:nvPr/>
        </p:nvSpPr>
        <p:spPr bwMode="auto">
          <a:xfrm rot="16200000">
            <a:off x="4070955" y="1494006"/>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19" name="正方形/長方形 18"/>
          <p:cNvSpPr/>
          <p:nvPr/>
        </p:nvSpPr>
        <p:spPr bwMode="auto">
          <a:xfrm>
            <a:off x="3935978" y="1538981"/>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10h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3215969" y="2078985"/>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0h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3935977"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1h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2" name="Freeform 10"/>
          <p:cNvSpPr>
            <a:spLocks/>
          </p:cNvSpPr>
          <p:nvPr/>
        </p:nvSpPr>
        <p:spPr bwMode="auto">
          <a:xfrm rot="16200000">
            <a:off x="4790959" y="1494005"/>
            <a:ext cx="450059" cy="54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 name="connsiteX0" fmla="*/ 0 w 10000"/>
              <a:gd name="connsiteY0" fmla="*/ 0 h 10000"/>
              <a:gd name="connsiteX1" fmla="*/ 19 w 10000"/>
              <a:gd name="connsiteY1" fmla="*/ 12 h 10000"/>
              <a:gd name="connsiteX2" fmla="*/ 0 w 10000"/>
              <a:gd name="connsiteY2" fmla="*/ 10000 h 10000"/>
              <a:gd name="connsiteX3" fmla="*/ 10000 w 10000"/>
              <a:gd name="connsiteY3" fmla="*/ 10000 h 10000"/>
              <a:gd name="connsiteX0" fmla="*/ 0 w 10000"/>
              <a:gd name="connsiteY0" fmla="*/ 54 h 10054"/>
              <a:gd name="connsiteX1" fmla="*/ 3828 w 10000"/>
              <a:gd name="connsiteY1" fmla="*/ 0 h 10054"/>
              <a:gd name="connsiteX2" fmla="*/ 0 w 10000"/>
              <a:gd name="connsiteY2" fmla="*/ 10054 h 10054"/>
              <a:gd name="connsiteX3" fmla="*/ 10000 w 10000"/>
              <a:gd name="connsiteY3" fmla="*/ 10054 h 10054"/>
              <a:gd name="connsiteX0" fmla="*/ 9471 w 10000"/>
              <a:gd name="connsiteY0" fmla="*/ 87 h 10054"/>
              <a:gd name="connsiteX1" fmla="*/ 3828 w 10000"/>
              <a:gd name="connsiteY1" fmla="*/ 0 h 10054"/>
              <a:gd name="connsiteX2" fmla="*/ 0 w 10000"/>
              <a:gd name="connsiteY2" fmla="*/ 10054 h 10054"/>
              <a:gd name="connsiteX3" fmla="*/ 10000 w 10000"/>
              <a:gd name="connsiteY3" fmla="*/ 10054 h 10054"/>
              <a:gd name="connsiteX0" fmla="*/ 10053 w 10053"/>
              <a:gd name="connsiteY0" fmla="*/ 21 h 10054"/>
              <a:gd name="connsiteX1" fmla="*/ 3828 w 10053"/>
              <a:gd name="connsiteY1" fmla="*/ 0 h 10054"/>
              <a:gd name="connsiteX2" fmla="*/ 0 w 10053"/>
              <a:gd name="connsiteY2" fmla="*/ 10054 h 10054"/>
              <a:gd name="connsiteX3" fmla="*/ 10000 w 10053"/>
              <a:gd name="connsiteY3" fmla="*/ 10054 h 10054"/>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053 w 10053"/>
              <a:gd name="connsiteY0" fmla="*/ 0 h 10033"/>
              <a:gd name="connsiteX1" fmla="*/ 71 w 10053"/>
              <a:gd name="connsiteY1" fmla="*/ 12 h 10033"/>
              <a:gd name="connsiteX2" fmla="*/ 0 w 10053"/>
              <a:gd name="connsiteY2" fmla="*/ 10033 h 10033"/>
              <a:gd name="connsiteX3" fmla="*/ 10000 w 10053"/>
              <a:gd name="connsiteY3" fmla="*/ 10033 h 10033"/>
              <a:gd name="connsiteX0" fmla="*/ 10106 w 10106"/>
              <a:gd name="connsiteY0" fmla="*/ 55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88 h 10022"/>
              <a:gd name="connsiteX1" fmla="*/ 71 w 10106"/>
              <a:gd name="connsiteY1" fmla="*/ 1 h 10022"/>
              <a:gd name="connsiteX2" fmla="*/ 0 w 10106"/>
              <a:gd name="connsiteY2" fmla="*/ 10022 h 10022"/>
              <a:gd name="connsiteX3" fmla="*/ 10000 w 10106"/>
              <a:gd name="connsiteY3" fmla="*/ 10022 h 10022"/>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0 h 10033"/>
              <a:gd name="connsiteX1" fmla="*/ 71 w 10106"/>
              <a:gd name="connsiteY1" fmla="*/ 12 h 10033"/>
              <a:gd name="connsiteX2" fmla="*/ 0 w 10106"/>
              <a:gd name="connsiteY2" fmla="*/ 10033 h 10033"/>
              <a:gd name="connsiteX3" fmla="*/ 10000 w 10106"/>
              <a:gd name="connsiteY3" fmla="*/ 10033 h 10033"/>
              <a:gd name="connsiteX0" fmla="*/ 10106 w 10106"/>
              <a:gd name="connsiteY0" fmla="*/ 0 h 10066"/>
              <a:gd name="connsiteX1" fmla="*/ 71 w 10106"/>
              <a:gd name="connsiteY1" fmla="*/ 45 h 10066"/>
              <a:gd name="connsiteX2" fmla="*/ 0 w 10106"/>
              <a:gd name="connsiteY2" fmla="*/ 10066 h 10066"/>
              <a:gd name="connsiteX3" fmla="*/ 10000 w 10106"/>
              <a:gd name="connsiteY3" fmla="*/ 10066 h 10066"/>
              <a:gd name="connsiteX0" fmla="*/ 10106 w 10106"/>
              <a:gd name="connsiteY0" fmla="*/ 22 h 10022"/>
              <a:gd name="connsiteX1" fmla="*/ 71 w 10106"/>
              <a:gd name="connsiteY1" fmla="*/ 1 h 10022"/>
              <a:gd name="connsiteX2" fmla="*/ 0 w 10106"/>
              <a:gd name="connsiteY2" fmla="*/ 10022 h 10022"/>
              <a:gd name="connsiteX3" fmla="*/ 10000 w 10106"/>
              <a:gd name="connsiteY3" fmla="*/ 10022 h 10022"/>
              <a:gd name="connsiteX0" fmla="*/ 9894 w 10000"/>
              <a:gd name="connsiteY0" fmla="*/ 22 h 10022"/>
              <a:gd name="connsiteX1" fmla="*/ 71 w 10000"/>
              <a:gd name="connsiteY1" fmla="*/ 1 h 10022"/>
              <a:gd name="connsiteX2" fmla="*/ 0 w 10000"/>
              <a:gd name="connsiteY2" fmla="*/ 10022 h 10022"/>
              <a:gd name="connsiteX3" fmla="*/ 10000 w 10000"/>
              <a:gd name="connsiteY3" fmla="*/ 10022 h 10022"/>
            </a:gdLst>
            <a:ahLst/>
            <a:cxnLst>
              <a:cxn ang="0">
                <a:pos x="connsiteX0" y="connsiteY0"/>
              </a:cxn>
              <a:cxn ang="0">
                <a:pos x="connsiteX1" y="connsiteY1"/>
              </a:cxn>
              <a:cxn ang="0">
                <a:pos x="connsiteX2" y="connsiteY2"/>
              </a:cxn>
              <a:cxn ang="0">
                <a:pos x="connsiteX3" y="connsiteY3"/>
              </a:cxn>
            </a:cxnLst>
            <a:rect l="l" t="t" r="r" b="b"/>
            <a:pathLst>
              <a:path w="10000" h="10022">
                <a:moveTo>
                  <a:pt x="9894" y="22"/>
                </a:moveTo>
                <a:cubicBezTo>
                  <a:pt x="9900" y="26"/>
                  <a:pt x="65" y="-3"/>
                  <a:pt x="71" y="1"/>
                </a:cubicBezTo>
                <a:cubicBezTo>
                  <a:pt x="65" y="3330"/>
                  <a:pt x="6" y="6693"/>
                  <a:pt x="0" y="10022"/>
                </a:cubicBezTo>
                <a:lnTo>
                  <a:pt x="10000" y="10022"/>
                </a:lnTo>
              </a:path>
            </a:pathLst>
          </a:custGeom>
          <a:ln>
            <a:headEnd/>
            <a:tailEnd type="none" w="med" len="med"/>
          </a:ln>
        </p:spPr>
        <p:style>
          <a:lnRef idx="2">
            <a:schemeClr val="accent5"/>
          </a:lnRef>
          <a:fillRef idx="0">
            <a:schemeClr val="accent5"/>
          </a:fillRef>
          <a:effectRef idx="1">
            <a:schemeClr val="accent5"/>
          </a:effectRef>
          <a:fontRef idx="minor">
            <a:schemeClr val="tx1"/>
          </a:fontRef>
        </p:style>
        <p:txBody>
          <a:bodyPr/>
          <a:lstStyle/>
          <a:p>
            <a:endParaRPr lang="ja-JP" altLang="en-US" dirty="0">
              <a:solidFill>
                <a:schemeClr val="tx1">
                  <a:lumMod val="75000"/>
                  <a:lumOff val="25000"/>
                </a:schemeClr>
              </a:solidFill>
              <a:latin typeface="Arial Narrow" pitchFamily="34" charset="0"/>
              <a:cs typeface="Times New Roman" pitchFamily="18" charset="0"/>
            </a:endParaRPr>
          </a:p>
        </p:txBody>
      </p:sp>
      <p:sp>
        <p:nvSpPr>
          <p:cNvPr id="23" name="正方形/長方形 22"/>
          <p:cNvSpPr/>
          <p:nvPr/>
        </p:nvSpPr>
        <p:spPr bwMode="auto">
          <a:xfrm>
            <a:off x="4655982" y="1538980"/>
            <a:ext cx="720009" cy="450005"/>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ja-JP" sz="2000" dirty="0">
                <a:solidFill>
                  <a:schemeClr val="tx1">
                    <a:lumMod val="75000"/>
                    <a:lumOff val="25000"/>
                  </a:schemeClr>
                </a:solidFill>
                <a:latin typeface="メイリオ" panose="020B0604030504040204" pitchFamily="50" charset="-128"/>
                <a:ea typeface="メイリオ" panose="020B0604030504040204" pitchFamily="50" charset="-128"/>
              </a:rPr>
              <a:t>30h</a:t>
            </a:r>
            <a:endParaRPr lang="ja-JP" altLang="en-US" sz="2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4655981" y="2078983"/>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2h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6096001"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8000h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6816009" y="2078983"/>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8001h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7536013" y="2078982"/>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8002h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8256025"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8003h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8976033"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tx1">
                    <a:lumMod val="75000"/>
                    <a:lumOff val="25000"/>
                  </a:schemeClr>
                </a:solidFill>
                <a:latin typeface="メイリオ" panose="020B0604030504040204" pitchFamily="50" charset="-128"/>
                <a:ea typeface="メイリオ" panose="020B0604030504040204" pitchFamily="50" charset="-128"/>
              </a:rPr>
              <a:t>8004h</a:t>
            </a:r>
            <a:endPar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5375993" y="1718980"/>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2" name="正方形/長方形 31"/>
          <p:cNvSpPr/>
          <p:nvPr/>
        </p:nvSpPr>
        <p:spPr bwMode="auto">
          <a:xfrm>
            <a:off x="9696041" y="1718980"/>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3" name="正方形/長方形 32"/>
          <p:cNvSpPr/>
          <p:nvPr/>
        </p:nvSpPr>
        <p:spPr bwMode="auto">
          <a:xfrm>
            <a:off x="9696041" y="2078984"/>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4" name="正方形/長方形 33"/>
          <p:cNvSpPr/>
          <p:nvPr/>
        </p:nvSpPr>
        <p:spPr bwMode="auto">
          <a:xfrm>
            <a:off x="5375993" y="2078984"/>
            <a:ext cx="720007"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5" name="正方形/長方形 34"/>
          <p:cNvSpPr/>
          <p:nvPr/>
        </p:nvSpPr>
        <p:spPr bwMode="auto">
          <a:xfrm>
            <a:off x="2225957" y="2078984"/>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アドレス：</a:t>
            </a:r>
          </a:p>
        </p:txBody>
      </p:sp>
      <p:sp>
        <p:nvSpPr>
          <p:cNvPr id="36" name="正方形/長方形 35"/>
          <p:cNvSpPr/>
          <p:nvPr/>
        </p:nvSpPr>
        <p:spPr bwMode="auto">
          <a:xfrm>
            <a:off x="2225957" y="1628979"/>
            <a:ext cx="720009"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r"/>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データ：</a:t>
            </a:r>
          </a:p>
        </p:txBody>
      </p:sp>
    </p:spTree>
    <p:extLst>
      <p:ext uri="{BB962C8B-B14F-4D97-AF65-F5344CB8AC3E}">
        <p14:creationId xmlns:p14="http://schemas.microsoft.com/office/powerpoint/2010/main" val="2228014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kumimoji="1" lang="ja-JP" altLang="en-US" b="1" dirty="0"/>
              <a:t>メモリの基本</a:t>
            </a:r>
            <a:endParaRPr kumimoji="1" lang="en-US" altLang="ja-JP" b="1" dirty="0"/>
          </a:p>
          <a:p>
            <a:pPr marL="817200" lvl="1" indent="-457200">
              <a:buFont typeface="+mj-lt"/>
              <a:buAutoNum type="arabicPeriod"/>
            </a:pPr>
            <a:r>
              <a:rPr kumimoji="1" lang="ja-JP" altLang="en-US" dirty="0"/>
              <a:t>構造</a:t>
            </a:r>
            <a:endParaRPr kumimoji="1" lang="en-US" altLang="ja-JP" dirty="0"/>
          </a:p>
          <a:p>
            <a:pPr marL="817200" lvl="1" indent="-457200">
              <a:buFont typeface="+mj-lt"/>
              <a:buAutoNum type="arabicPeriod"/>
            </a:pPr>
            <a:r>
              <a:rPr kumimoji="1" lang="ja-JP" altLang="en-US" dirty="0"/>
              <a:t>動作</a:t>
            </a:r>
            <a:endParaRPr kumimoji="1" lang="en-US" altLang="ja-JP" dirty="0"/>
          </a:p>
          <a:p>
            <a:pPr marL="817200" lvl="1" indent="-457200">
              <a:buFont typeface="+mj-lt"/>
              <a:buAutoNum type="arabicPeriod"/>
            </a:pPr>
            <a:r>
              <a:rPr lang="ja-JP" altLang="en-US" dirty="0"/>
              <a:t>容量と速度</a:t>
            </a:r>
            <a:endParaRPr lang="en-US" altLang="ja-JP" dirty="0"/>
          </a:p>
          <a:p>
            <a:pPr marL="457200" indent="-457200">
              <a:buFont typeface="+mj-lt"/>
              <a:buAutoNum type="arabicPeriod"/>
            </a:pPr>
            <a:r>
              <a:rPr kumimoji="1" lang="ja-JP" altLang="en-US" dirty="0"/>
              <a:t>メモリの詳細</a:t>
            </a:r>
            <a:endParaRPr kumimoji="1" lang="en-US" altLang="ja-JP" dirty="0"/>
          </a:p>
          <a:p>
            <a:pPr marL="817200" lvl="1" indent="-457200">
              <a:buFont typeface="+mj-lt"/>
              <a:buAutoNum type="arabicPeriod"/>
            </a:pPr>
            <a:r>
              <a:rPr lang="en-US" altLang="ja-JP" dirty="0"/>
              <a:t>SRAM </a:t>
            </a:r>
            <a:r>
              <a:rPr lang="ja-JP" altLang="en-US" dirty="0"/>
              <a:t>と </a:t>
            </a:r>
            <a:r>
              <a:rPr kumimoji="1" lang="en-US" altLang="ja-JP" dirty="0"/>
              <a:t>DRAM</a:t>
            </a:r>
          </a:p>
          <a:p>
            <a:pPr marL="817200" lvl="1" indent="-457200">
              <a:buFont typeface="+mj-lt"/>
              <a:buAutoNum type="arabicPeriod"/>
            </a:pPr>
            <a:r>
              <a:rPr lang="ja-JP" altLang="en-US" dirty="0"/>
              <a:t>なぜメモリが存在するのか？</a:t>
            </a:r>
            <a:endParaRPr lang="en-US" altLang="ja-JP" dirty="0"/>
          </a:p>
        </p:txBody>
      </p:sp>
    </p:spTree>
    <p:extLst>
      <p:ext uri="{BB962C8B-B14F-4D97-AF65-F5344CB8AC3E}">
        <p14:creationId xmlns:p14="http://schemas.microsoft.com/office/powerpoint/2010/main" val="2208235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メモリの基本構造：セルを行列状に配置</a:t>
            </a:r>
          </a:p>
        </p:txBody>
      </p:sp>
      <p:sp>
        <p:nvSpPr>
          <p:cNvPr id="3" name="テキスト プレースホルダー 2"/>
          <p:cNvSpPr>
            <a:spLocks noGrp="1"/>
          </p:cNvSpPr>
          <p:nvPr>
            <p:ph type="body" sz="quarter" idx="10"/>
          </p:nvPr>
        </p:nvSpPr>
        <p:spPr>
          <a:xfrm>
            <a:off x="6456004" y="1088974"/>
            <a:ext cx="3870042" cy="5309752"/>
          </a:xfrm>
        </p:spPr>
        <p:txBody>
          <a:bodyPr anchor="t"/>
          <a:lstStyle/>
          <a:p>
            <a:pPr lvl="1"/>
            <a:r>
              <a:rPr kumimoji="1" lang="ja-JP" altLang="en-US" dirty="0"/>
              <a:t>セル：</a:t>
            </a:r>
            <a:endParaRPr kumimoji="1" lang="en-US" altLang="ja-JP" dirty="0"/>
          </a:p>
          <a:p>
            <a:pPr lvl="2"/>
            <a:r>
              <a:rPr kumimoji="1" lang="en-US" altLang="ja-JP" dirty="0"/>
              <a:t>1</a:t>
            </a:r>
            <a:r>
              <a:rPr kumimoji="1" lang="ja-JP" altLang="en-US" dirty="0"/>
              <a:t>ビットの情報を記憶</a:t>
            </a:r>
            <a:endParaRPr kumimoji="1" lang="en-US" altLang="ja-JP" dirty="0"/>
          </a:p>
          <a:p>
            <a:pPr lvl="1"/>
            <a:r>
              <a:rPr kumimoji="1" lang="ja-JP" altLang="en-US" dirty="0"/>
              <a:t>ビットライン：</a:t>
            </a:r>
            <a:endParaRPr kumimoji="1" lang="en-US" altLang="ja-JP" dirty="0"/>
          </a:p>
          <a:p>
            <a:pPr lvl="2"/>
            <a:r>
              <a:rPr kumimoji="1" lang="ja-JP" altLang="en-US" dirty="0"/>
              <a:t>列方向の配線</a:t>
            </a:r>
            <a:endParaRPr kumimoji="1" lang="en-US" altLang="ja-JP" dirty="0"/>
          </a:p>
          <a:p>
            <a:pPr lvl="1"/>
            <a:r>
              <a:rPr kumimoji="1" lang="ja-JP" altLang="en-US" dirty="0"/>
              <a:t>ワードライン</a:t>
            </a:r>
            <a:r>
              <a:rPr lang="ja-JP" altLang="en-US" dirty="0"/>
              <a:t>：</a:t>
            </a:r>
            <a:endParaRPr kumimoji="1" lang="en-US" altLang="ja-JP" dirty="0"/>
          </a:p>
          <a:p>
            <a:pPr lvl="2"/>
            <a:r>
              <a:rPr kumimoji="1" lang="ja-JP" altLang="en-US" dirty="0"/>
              <a:t>行方向の配線</a:t>
            </a:r>
            <a:endParaRPr kumimoji="1" lang="en-US" altLang="ja-JP" dirty="0"/>
          </a:p>
          <a:p>
            <a:pPr lvl="1"/>
            <a:r>
              <a:rPr kumimoji="1" lang="ja-JP" altLang="en-US" dirty="0"/>
              <a:t>デコーダ</a:t>
            </a:r>
            <a:r>
              <a:rPr lang="ja-JP" altLang="en-US" dirty="0"/>
              <a:t>：</a:t>
            </a:r>
            <a:endParaRPr kumimoji="1" lang="en-US" altLang="ja-JP" dirty="0"/>
          </a:p>
          <a:p>
            <a:pPr lvl="2"/>
            <a:r>
              <a:rPr kumimoji="1" lang="ja-JP" altLang="en-US" dirty="0"/>
              <a:t>アドレスをデコードしてワードラインをアサート</a:t>
            </a:r>
            <a:endParaRPr kumimoji="1" lang="en-US" altLang="ja-JP" dirty="0"/>
          </a:p>
          <a:p>
            <a:pPr lvl="1"/>
            <a:r>
              <a:rPr kumimoji="1" lang="ja-JP" altLang="en-US" dirty="0"/>
              <a:t>カラム・セレクタ</a:t>
            </a:r>
            <a:r>
              <a:rPr lang="ja-JP" altLang="en-US" dirty="0"/>
              <a:t>：</a:t>
            </a:r>
            <a:endParaRPr kumimoji="1" lang="en-US" altLang="ja-JP" dirty="0"/>
          </a:p>
          <a:p>
            <a:pPr lvl="2"/>
            <a:r>
              <a:rPr kumimoji="1" lang="ja-JP" altLang="en-US" dirty="0"/>
              <a:t>ビットライン出力から１つを選んで出力</a:t>
            </a:r>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Tree>
    <p:extLst>
      <p:ext uri="{BB962C8B-B14F-4D97-AF65-F5344CB8AC3E}">
        <p14:creationId xmlns:p14="http://schemas.microsoft.com/office/powerpoint/2010/main" val="4056020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メモリの読み出し操作</a:t>
            </a:r>
          </a:p>
        </p:txBody>
      </p:sp>
      <p:sp>
        <p:nvSpPr>
          <p:cNvPr id="3" name="テキスト プレースホルダー 2"/>
          <p:cNvSpPr>
            <a:spLocks noGrp="1"/>
          </p:cNvSpPr>
          <p:nvPr>
            <p:ph type="body" sz="quarter" idx="10"/>
          </p:nvPr>
        </p:nvSpPr>
        <p:spPr>
          <a:xfrm>
            <a:off x="6456004" y="1088974"/>
            <a:ext cx="3870042" cy="5309752"/>
          </a:xfrm>
        </p:spPr>
        <p:txBody>
          <a:bodyPr anchor="t"/>
          <a:lstStyle/>
          <a:p>
            <a:pPr marL="817200" lvl="1" indent="-457200">
              <a:buFont typeface="+mj-lt"/>
              <a:buAutoNum type="arabicPeriod"/>
            </a:pPr>
            <a:r>
              <a:rPr kumimoji="1" lang="ja-JP" altLang="en-US" dirty="0"/>
              <a:t>アドレスのデコード</a:t>
            </a:r>
            <a:endParaRPr kumimoji="1" lang="en-US" altLang="ja-JP" dirty="0"/>
          </a:p>
          <a:p>
            <a:pPr marL="817200" lvl="1" indent="-457200">
              <a:buFont typeface="+mj-lt"/>
              <a:buAutoNum type="arabicPeriod"/>
            </a:pPr>
            <a:r>
              <a:rPr kumimoji="1" lang="ja-JP" altLang="en-US" dirty="0"/>
              <a:t>ワードラインのアサート</a:t>
            </a:r>
            <a:br>
              <a:rPr kumimoji="1" lang="en-US" altLang="ja-JP" dirty="0"/>
            </a:br>
            <a:r>
              <a:rPr kumimoji="1" lang="ja-JP" altLang="en-US" dirty="0"/>
              <a:t>（行の指定）</a:t>
            </a:r>
            <a:endParaRPr kumimoji="1" lang="en-US" altLang="ja-JP" dirty="0"/>
          </a:p>
          <a:p>
            <a:pPr marL="817200" lvl="1" indent="-457200">
              <a:buFont typeface="+mj-lt"/>
              <a:buAutoNum type="arabicPeriod"/>
            </a:pPr>
            <a:r>
              <a:rPr kumimoji="1" lang="ja-JP" altLang="en-US" dirty="0"/>
              <a:t>ビットラインへの１行分のデータの読み出し</a:t>
            </a:r>
            <a:endParaRPr kumimoji="1" lang="en-US" altLang="ja-JP" dirty="0"/>
          </a:p>
          <a:p>
            <a:pPr marL="817200" lvl="1" indent="-457200">
              <a:buFont typeface="+mj-lt"/>
              <a:buAutoNum type="arabicPeriod"/>
            </a:pPr>
            <a:r>
              <a:rPr kumimoji="1" lang="ja-JP" altLang="en-US" dirty="0"/>
              <a:t>カラムセレクタによる</a:t>
            </a:r>
            <a:br>
              <a:rPr kumimoji="1" lang="en-US" altLang="ja-JP" dirty="0"/>
            </a:br>
            <a:r>
              <a:rPr kumimoji="1" lang="ja-JP" altLang="en-US" dirty="0"/>
              <a:t>目的のビットの選択</a:t>
            </a:r>
            <a:endParaRPr kumimoji="1" lang="en-US" altLang="ja-JP" dirty="0"/>
          </a:p>
          <a:p>
            <a:pPr marL="817200" lvl="1" indent="-457200">
              <a:buFont typeface="+mj-lt"/>
              <a:buAutoNum type="arabicPeriod"/>
            </a:pPr>
            <a:endParaRPr lang="en-US" altLang="ja-JP" dirty="0"/>
          </a:p>
          <a:p>
            <a:pPr lvl="1"/>
            <a:r>
              <a:rPr kumimoji="1" lang="ja-JP" altLang="en-US" dirty="0"/>
              <a:t>（書き込みはこれの逆を</a:t>
            </a:r>
            <a:br>
              <a:rPr kumimoji="1" lang="en-US" altLang="ja-JP" dirty="0"/>
            </a:br>
            <a:r>
              <a:rPr kumimoji="1" lang="ja-JP" altLang="en-US" dirty="0"/>
              <a:t>　行う</a:t>
            </a:r>
            <a:endParaRPr kumimoji="1" lang="en-US" altLang="ja-JP" dirty="0"/>
          </a:p>
          <a:p>
            <a:pPr lvl="1"/>
            <a:endParaRPr kumimoji="1" lang="ja-JP" altLang="en-US"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Tree>
    <p:extLst>
      <p:ext uri="{BB962C8B-B14F-4D97-AF65-F5344CB8AC3E}">
        <p14:creationId xmlns:p14="http://schemas.microsoft.com/office/powerpoint/2010/main" val="4051312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メモリの読み出し動作の例</a:t>
            </a:r>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6546005" y="1088974"/>
                <a:ext cx="3870042" cy="5309752"/>
              </a:xfrm>
            </p:spPr>
            <p:txBody>
              <a:bodyPr anchor="t"/>
              <a:lstStyle/>
              <a:p>
                <a:r>
                  <a:rPr kumimoji="1" lang="ja-JP" altLang="en-US" dirty="0"/>
                  <a:t>要素数 </a:t>
                </a:r>
                <a14:m>
                  <m:oMath xmlns:m="http://schemas.openxmlformats.org/officeDocument/2006/math">
                    <m:sSup>
                      <m:sSupPr>
                        <m:ctrlPr>
                          <a:rPr kumimoji="1" lang="en-US" altLang="ja-JP" i="1" dirty="0" smtClean="0">
                            <a:latin typeface="Cambria Math" panose="02040503050406030204" pitchFamily="18" charset="0"/>
                          </a:rPr>
                        </m:ctrlPr>
                      </m:sSupPr>
                      <m:e>
                        <m:r>
                          <a:rPr kumimoji="1" lang="en-US" altLang="ja-JP" b="0" i="1" dirty="0" smtClean="0">
                            <a:latin typeface="Cambria Math" panose="02040503050406030204" pitchFamily="18" charset="0"/>
                          </a:rPr>
                          <m:t>16=</m:t>
                        </m:r>
                        <m:r>
                          <a:rPr kumimoji="1" lang="en-US" altLang="ja-JP" i="1" dirty="0" smtClean="0">
                            <a:latin typeface="Cambria Math" panose="02040503050406030204" pitchFamily="18" charset="0"/>
                          </a:rPr>
                          <m:t>2</m:t>
                        </m:r>
                      </m:e>
                      <m:sup>
                        <m:r>
                          <a:rPr kumimoji="1" lang="en-US" altLang="ja-JP" i="1" dirty="0" smtClean="0">
                            <a:latin typeface="Cambria Math" panose="02040503050406030204" pitchFamily="18" charset="0"/>
                          </a:rPr>
                          <m:t>4</m:t>
                        </m:r>
                      </m:sup>
                    </m:sSup>
                  </m:oMath>
                </a14:m>
                <a:endParaRPr kumimoji="1" lang="en-US" altLang="ja-JP" dirty="0"/>
              </a:p>
              <a:p>
                <a:pPr lvl="1"/>
                <a:r>
                  <a:rPr kumimoji="1" lang="ja-JP" altLang="en-US" dirty="0"/>
                  <a:t>アドレスは</a:t>
                </a:r>
                <a:r>
                  <a:rPr kumimoji="1" lang="en-US" altLang="ja-JP" dirty="0"/>
                  <a:t>4</a:t>
                </a:r>
                <a:r>
                  <a:rPr kumimoji="1" lang="ja-JP" altLang="en-US" dirty="0"/>
                  <a:t>ビット</a:t>
                </a:r>
                <a:endParaRPr kumimoji="1" lang="en-US" altLang="ja-JP" dirty="0"/>
              </a:p>
              <a:p>
                <a:pPr lvl="1"/>
                <a:r>
                  <a:rPr kumimoji="1" lang="ja-JP" altLang="en-US" dirty="0"/>
                  <a:t>各セルの右上の数字が</a:t>
                </a:r>
                <a:br>
                  <a:rPr kumimoji="1" lang="en-US" altLang="ja-JP" dirty="0"/>
                </a:br>
                <a:r>
                  <a:rPr kumimoji="1" lang="ja-JP" altLang="en-US" dirty="0"/>
                  <a:t>アドレス</a:t>
                </a:r>
                <a:endParaRPr kumimoji="1" lang="en-US" altLang="ja-JP" dirty="0"/>
              </a:p>
              <a:p>
                <a:r>
                  <a:rPr kumimoji="1" lang="ja-JP" altLang="en-US" dirty="0"/>
                  <a:t>このメモリの読み出し操作を例として説明</a:t>
                </a:r>
                <a:endParaRPr kumimoji="1" lang="en-US" altLang="ja-JP" dirty="0"/>
              </a:p>
              <a:p>
                <a:pPr lvl="1"/>
                <a:r>
                  <a:rPr kumimoji="1" lang="ja-JP" altLang="en-US" dirty="0"/>
                  <a:t>アドレス６のセルを</a:t>
                </a:r>
                <a:br>
                  <a:rPr kumimoji="1" lang="en-US" altLang="ja-JP" dirty="0"/>
                </a:br>
                <a:r>
                  <a:rPr kumimoji="1" lang="ja-JP" altLang="en-US" dirty="0"/>
                  <a:t>読み出す</a:t>
                </a:r>
                <a:endParaRPr kumimoji="1" lang="en-US" altLang="ja-JP" dirty="0"/>
              </a:p>
              <a:p>
                <a:endParaRPr kumimoji="1" lang="en-US" altLang="ja-JP" dirty="0"/>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6546005" y="1088974"/>
                <a:ext cx="3870042" cy="5309752"/>
              </a:xfrm>
              <a:blipFill>
                <a:blip r:embed="rId2"/>
                <a:stretch>
                  <a:fillRect l="-1417" t="-344" r="-1417"/>
                </a:stretch>
              </a:blipFill>
            </p:spPr>
            <p:txBody>
              <a:bodyPr/>
              <a:lstStyle/>
              <a:p>
                <a:r>
                  <a:rPr lang="ja-JP" altLang="en-US">
                    <a:noFill/>
                  </a:rPr>
                  <a:t> </a:t>
                </a:r>
              </a:p>
            </p:txBody>
          </p:sp>
        </mc:Fallback>
      </mc:AlternateContent>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address</a:t>
            </a:r>
            <a:endParaRPr lang="ja-JP" altLang="en-US" sz="1600" dirty="0">
              <a:latin typeface="Arial Narrow" pitchFamily="34" charset="0"/>
            </a:endParaRP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１</a:t>
            </a:r>
            <a:endParaRPr lang="ja-JP" altLang="en-US" b="1"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２</a:t>
            </a:r>
            <a:endParaRPr lang="ja-JP" altLang="en-US" b="1"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３</a:t>
            </a:r>
            <a:endParaRPr lang="ja-JP" altLang="en-US" b="1" dirty="0">
              <a:solidFill>
                <a:schemeClr val="accent5"/>
              </a:solidFill>
              <a:latin typeface="Arial Narrow" pitchFamily="34" charset="0"/>
            </a:endParaRP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４</a:t>
            </a:r>
            <a:endParaRPr lang="ja-JP" altLang="en-US" b="1"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a:solidFill>
                  <a:schemeClr val="accent5"/>
                </a:solidFill>
                <a:latin typeface="Arial Narrow" pitchFamily="34" charset="0"/>
              </a:rPr>
              <a:t>６</a:t>
            </a:r>
            <a:endParaRPr lang="ja-JP" altLang="en-US" b="1"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b="1" dirty="0">
                <a:solidFill>
                  <a:schemeClr val="accent5"/>
                </a:solidFill>
                <a:latin typeface="Arial Narrow" pitchFamily="34" charset="0"/>
              </a:rPr>
              <a:t>１５</a:t>
            </a:r>
          </a:p>
        </p:txBody>
      </p:sp>
    </p:spTree>
    <p:extLst>
      <p:ext uri="{BB962C8B-B14F-4D97-AF65-F5344CB8AC3E}">
        <p14:creationId xmlns:p14="http://schemas.microsoft.com/office/powerpoint/2010/main" val="1059392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メモリの読み出し動作（１）</a:t>
            </a:r>
            <a:br>
              <a:rPr lang="en-US" altLang="ja-JP" dirty="0"/>
            </a:br>
            <a:r>
              <a:rPr lang="ja-JP" altLang="en-US" dirty="0"/>
              <a:t>アドレスのデコード</a:t>
            </a:r>
            <a:endParaRPr kumimoji="1" lang="ja-JP" altLang="en-US" dirty="0"/>
          </a:p>
        </p:txBody>
      </p:sp>
      <p:sp>
        <p:nvSpPr>
          <p:cNvPr id="3" name="テキスト プレースホルダー 2"/>
          <p:cNvSpPr>
            <a:spLocks noGrp="1"/>
          </p:cNvSpPr>
          <p:nvPr>
            <p:ph type="body" sz="quarter" idx="10"/>
          </p:nvPr>
        </p:nvSpPr>
        <p:spPr>
          <a:xfrm>
            <a:off x="6546005" y="1088974"/>
            <a:ext cx="4121995" cy="5309752"/>
          </a:xfrm>
        </p:spPr>
        <p:txBody>
          <a:bodyPr anchor="t"/>
          <a:lstStyle/>
          <a:p>
            <a:r>
              <a:rPr kumimoji="1" lang="ja-JP" altLang="en-US" dirty="0"/>
              <a:t>どの行を読むか決める</a:t>
            </a:r>
            <a:endParaRPr kumimoji="1" lang="en-US" altLang="ja-JP" dirty="0"/>
          </a:p>
          <a:p>
            <a:pPr lvl="1"/>
            <a:r>
              <a:rPr kumimoji="1" lang="ja-JP" altLang="en-US" dirty="0"/>
              <a:t>各行は４つセルがある</a:t>
            </a:r>
            <a:endParaRPr kumimoji="1" lang="en-US" altLang="ja-JP" dirty="0"/>
          </a:p>
          <a:p>
            <a:pPr lvl="1"/>
            <a:r>
              <a:rPr kumimoji="1" lang="ja-JP" altLang="en-US" dirty="0"/>
              <a:t>アドレスを４で割って</a:t>
            </a:r>
            <a:br>
              <a:rPr kumimoji="1" lang="en-US" altLang="ja-JP" dirty="0"/>
            </a:br>
            <a:r>
              <a:rPr kumimoji="1" lang="ja-JP" altLang="en-US" dirty="0"/>
              <a:t>切り捨てた行目が</a:t>
            </a:r>
            <a:br>
              <a:rPr kumimoji="1" lang="en-US" altLang="ja-JP" dirty="0"/>
            </a:br>
            <a:r>
              <a:rPr kumimoji="1" lang="ja-JP" altLang="en-US" dirty="0"/>
              <a:t>読むべき場所</a:t>
            </a:r>
            <a:endParaRPr kumimoji="1" lang="en-US" altLang="ja-JP" dirty="0"/>
          </a:p>
          <a:p>
            <a:pPr lvl="1"/>
            <a:r>
              <a:rPr kumimoji="1" lang="ja-JP" altLang="en-US" dirty="0"/>
              <a:t>６</a:t>
            </a:r>
            <a:r>
              <a:rPr kumimoji="1" lang="en-US" altLang="ja-JP" dirty="0"/>
              <a:t>=</a:t>
            </a:r>
            <a:r>
              <a:rPr kumimoji="1" lang="en-US" altLang="ja-JP" dirty="0">
                <a:solidFill>
                  <a:schemeClr val="accent5"/>
                </a:solidFill>
              </a:rPr>
              <a:t>01</a:t>
            </a:r>
            <a:r>
              <a:rPr kumimoji="1" lang="en-US" altLang="ja-JP" dirty="0"/>
              <a:t>10</a:t>
            </a:r>
            <a:r>
              <a:rPr kumimoji="1" lang="ja-JP" altLang="en-US" dirty="0"/>
              <a:t>（２進数）</a:t>
            </a:r>
            <a:endParaRPr kumimoji="1" lang="en-US" altLang="ja-JP" dirty="0"/>
          </a:p>
          <a:p>
            <a:r>
              <a:rPr kumimoji="1" lang="ja-JP" altLang="en-US" dirty="0"/>
              <a:t>デコーダ</a:t>
            </a:r>
            <a:endParaRPr kumimoji="1" lang="en-US" altLang="ja-JP" dirty="0"/>
          </a:p>
          <a:p>
            <a:pPr lvl="1"/>
            <a:r>
              <a:rPr kumimoji="1" lang="ja-JP" altLang="en-US" dirty="0"/>
              <a:t>数字を対応するワンホット信号に変換する回路</a:t>
            </a:r>
            <a:endParaRPr kumimoji="1" lang="en-US" altLang="ja-JP" dirty="0"/>
          </a:p>
          <a:p>
            <a:pPr lvl="1"/>
            <a:r>
              <a:rPr kumimoji="1" lang="ja-JP" altLang="en-US" dirty="0"/>
              <a:t>ワンホット信号：</a:t>
            </a:r>
            <a:endParaRPr lang="en-US" altLang="ja-JP" dirty="0"/>
          </a:p>
          <a:p>
            <a:pPr lvl="2"/>
            <a:r>
              <a:rPr kumimoji="1" lang="en-US" altLang="ja-JP" dirty="0"/>
              <a:t>n </a:t>
            </a:r>
            <a:r>
              <a:rPr kumimoji="1" lang="ja-JP" altLang="en-US" dirty="0"/>
              <a:t>本のうち，１つだけが１で他が０の信号</a:t>
            </a:r>
            <a:endParaRPr kumimoji="1" lang="en-US" altLang="ja-JP" dirty="0"/>
          </a:p>
          <a:p>
            <a:pPr lvl="1"/>
            <a:r>
              <a:rPr kumimoji="1" lang="ja-JP" altLang="en-US" dirty="0"/>
              <a:t>アドレス上位の２ビットを</a:t>
            </a:r>
            <a:br>
              <a:rPr kumimoji="1" lang="en-US" altLang="ja-JP" dirty="0"/>
            </a:br>
            <a:r>
              <a:rPr kumimoji="1" lang="ja-JP" altLang="en-US" dirty="0"/>
              <a:t>デコード</a:t>
            </a:r>
            <a:endParaRPr kumimoji="1"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spTree>
    <p:extLst>
      <p:ext uri="{BB962C8B-B14F-4D97-AF65-F5344CB8AC3E}">
        <p14:creationId xmlns:p14="http://schemas.microsoft.com/office/powerpoint/2010/main" val="309234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メモリの読み出し動作（２）</a:t>
            </a:r>
            <a:br>
              <a:rPr lang="en-US" altLang="ja-JP" dirty="0"/>
            </a:br>
            <a:r>
              <a:rPr lang="ja-JP" altLang="en-US" dirty="0"/>
              <a:t>ワードラインのアサート</a:t>
            </a:r>
            <a:endParaRPr kumimoji="1" lang="ja-JP" altLang="en-US" dirty="0"/>
          </a:p>
        </p:txBody>
      </p:sp>
      <p:sp>
        <p:nvSpPr>
          <p:cNvPr id="3" name="テキスト プレースホルダー 2"/>
          <p:cNvSpPr>
            <a:spLocks noGrp="1"/>
          </p:cNvSpPr>
          <p:nvPr>
            <p:ph type="body" sz="quarter" idx="10"/>
          </p:nvPr>
        </p:nvSpPr>
        <p:spPr>
          <a:xfrm>
            <a:off x="6546005" y="1088974"/>
            <a:ext cx="3870042" cy="5309752"/>
          </a:xfrm>
        </p:spPr>
        <p:txBody>
          <a:bodyPr anchor="t"/>
          <a:lstStyle/>
          <a:p>
            <a:r>
              <a:rPr kumimoji="1" lang="ja-JP" altLang="en-US" dirty="0"/>
              <a:t>読み出す行に対応した</a:t>
            </a:r>
            <a:br>
              <a:rPr kumimoji="1" lang="en-US" altLang="ja-JP" dirty="0"/>
            </a:br>
            <a:r>
              <a:rPr kumimoji="1" lang="ja-JP" altLang="en-US" dirty="0"/>
              <a:t>ワードラインをアサート</a:t>
            </a:r>
            <a:endParaRPr kumimoji="1" lang="en-US" altLang="ja-JP" dirty="0"/>
          </a:p>
          <a:p>
            <a:pPr lvl="1"/>
            <a:r>
              <a:rPr lang="ja-JP" altLang="en-US" dirty="0"/>
              <a:t>先ほどのデコード結果を使う</a:t>
            </a:r>
            <a:br>
              <a:rPr lang="en-US" altLang="ja-JP" dirty="0"/>
            </a:br>
            <a:endParaRPr kumimoji="1" lang="en-US" altLang="ja-JP" dirty="0"/>
          </a:p>
          <a:p>
            <a:endParaRPr kumimoji="1"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sp>
        <p:nvSpPr>
          <p:cNvPr id="55" name="正方形/長方形 54"/>
          <p:cNvSpPr/>
          <p:nvPr/>
        </p:nvSpPr>
        <p:spPr>
          <a:xfrm>
            <a:off x="5285991" y="225898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assert</a:t>
            </a:r>
            <a:endParaRPr lang="ja-JP" altLang="en-US" sz="1600" dirty="0">
              <a:solidFill>
                <a:schemeClr val="accent6"/>
              </a:solidFill>
              <a:latin typeface="Arial Narrow" pitchFamily="34" charset="0"/>
            </a:endParaRPr>
          </a:p>
        </p:txBody>
      </p:sp>
    </p:spTree>
    <p:extLst>
      <p:ext uri="{BB962C8B-B14F-4D97-AF65-F5344CB8AC3E}">
        <p14:creationId xmlns:p14="http://schemas.microsoft.com/office/powerpoint/2010/main" val="1162874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メモリの読み出し動作（３）</a:t>
            </a:r>
            <a:br>
              <a:rPr lang="en-US" altLang="ja-JP" dirty="0"/>
            </a:br>
            <a:r>
              <a:rPr lang="ja-JP" altLang="en-US" dirty="0"/>
              <a:t>ワード（１行分のデータ）の読み出し</a:t>
            </a:r>
            <a:endParaRPr kumimoji="1" lang="ja-JP" altLang="en-US" dirty="0"/>
          </a:p>
        </p:txBody>
      </p:sp>
      <p:sp>
        <p:nvSpPr>
          <p:cNvPr id="3" name="テキスト プレースホルダー 2"/>
          <p:cNvSpPr>
            <a:spLocks noGrp="1"/>
          </p:cNvSpPr>
          <p:nvPr>
            <p:ph type="body" sz="quarter" idx="10"/>
          </p:nvPr>
        </p:nvSpPr>
        <p:spPr>
          <a:xfrm>
            <a:off x="6546005" y="1088974"/>
            <a:ext cx="3870042" cy="5309752"/>
          </a:xfrm>
        </p:spPr>
        <p:txBody>
          <a:bodyPr anchor="t"/>
          <a:lstStyle/>
          <a:p>
            <a:r>
              <a:rPr kumimoji="1" lang="ja-JP" altLang="en-US" dirty="0"/>
              <a:t>ワードラインがアサートされると，</a:t>
            </a:r>
            <a:br>
              <a:rPr kumimoji="1" lang="en-US" altLang="ja-JP" dirty="0"/>
            </a:br>
            <a:r>
              <a:rPr kumimoji="1" lang="ja-JP" altLang="en-US" dirty="0"/>
              <a:t>そこに接続されたセルがビットラインに自身の中身を流す</a:t>
            </a:r>
            <a:endParaRPr kumimoji="1" lang="en-US" altLang="ja-JP" dirty="0"/>
          </a:p>
          <a:p>
            <a:r>
              <a:rPr lang="ja-JP" altLang="en-US" dirty="0"/>
              <a:t>これにより，１行分のデータが読み出される</a:t>
            </a:r>
            <a:endParaRPr kumimoji="1"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cxnSp>
        <p:nvCxnSpPr>
          <p:cNvPr id="56" name="直線コネクタ 55"/>
          <p:cNvCxnSpPr/>
          <p:nvPr/>
        </p:nvCxnSpPr>
        <p:spPr>
          <a:xfrm flipV="1">
            <a:off x="2675962" y="2708993"/>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57" name="正方形/長方形 56"/>
          <p:cNvSpPr/>
          <p:nvPr/>
        </p:nvSpPr>
        <p:spPr>
          <a:xfrm>
            <a:off x="3215997" y="4779018"/>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sp>
        <p:nvSpPr>
          <p:cNvPr id="58" name="正方形/長方形 57"/>
          <p:cNvSpPr/>
          <p:nvPr/>
        </p:nvSpPr>
        <p:spPr>
          <a:xfrm>
            <a:off x="4025994"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59" name="正方形/長方形 58"/>
          <p:cNvSpPr/>
          <p:nvPr/>
        </p:nvSpPr>
        <p:spPr>
          <a:xfrm>
            <a:off x="483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60" name="正方形/長方形 59"/>
          <p:cNvSpPr/>
          <p:nvPr/>
        </p:nvSpPr>
        <p:spPr>
          <a:xfrm>
            <a:off x="564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1</a:t>
            </a:r>
            <a:endParaRPr lang="ja-JP" altLang="en-US" sz="2400" b="1" dirty="0">
              <a:solidFill>
                <a:schemeClr val="accent6"/>
              </a:solidFill>
              <a:latin typeface="Arial Narrow" pitchFamily="34" charset="0"/>
            </a:endParaRPr>
          </a:p>
        </p:txBody>
      </p:sp>
      <p:cxnSp>
        <p:nvCxnSpPr>
          <p:cNvPr id="33" name="直線矢印コネクタ 32"/>
          <p:cNvCxnSpPr/>
          <p:nvPr/>
        </p:nvCxnSpPr>
        <p:spPr bwMode="auto">
          <a:xfrm flipH="1">
            <a:off x="3395971"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63" name="直線矢印コネクタ 62"/>
          <p:cNvCxnSpPr/>
          <p:nvPr/>
        </p:nvCxnSpPr>
        <p:spPr bwMode="auto">
          <a:xfrm flipH="1">
            <a:off x="4205980"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64" name="直線矢印コネクタ 63"/>
          <p:cNvCxnSpPr/>
          <p:nvPr/>
        </p:nvCxnSpPr>
        <p:spPr bwMode="auto">
          <a:xfrm flipH="1">
            <a:off x="5015989"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cxnSp>
        <p:nvCxnSpPr>
          <p:cNvPr id="65" name="直線矢印コネクタ 64"/>
          <p:cNvCxnSpPr/>
          <p:nvPr/>
        </p:nvCxnSpPr>
        <p:spPr bwMode="auto">
          <a:xfrm flipH="1">
            <a:off x="5825998" y="2888995"/>
            <a:ext cx="23" cy="1980037"/>
          </a:xfrm>
          <a:prstGeom prst="straightConnector1">
            <a:avLst/>
          </a:prstGeom>
          <a:ln>
            <a:headEnd type="none" w="med" len="med"/>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5216579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メモリの読み出し動作（４）</a:t>
            </a:r>
            <a:br>
              <a:rPr lang="en-US" altLang="ja-JP" dirty="0"/>
            </a:br>
            <a:r>
              <a:rPr lang="ja-JP" altLang="en-US" dirty="0"/>
              <a:t>列の選択</a:t>
            </a:r>
            <a:endParaRPr kumimoji="1" lang="ja-JP" altLang="en-US" dirty="0"/>
          </a:p>
        </p:txBody>
      </p:sp>
      <p:sp>
        <p:nvSpPr>
          <p:cNvPr id="3" name="テキスト プレースホルダー 2"/>
          <p:cNvSpPr>
            <a:spLocks noGrp="1"/>
          </p:cNvSpPr>
          <p:nvPr>
            <p:ph type="body" sz="quarter" idx="10"/>
          </p:nvPr>
        </p:nvSpPr>
        <p:spPr>
          <a:xfrm>
            <a:off x="6546005" y="1088974"/>
            <a:ext cx="4050045" cy="5309752"/>
          </a:xfrm>
        </p:spPr>
        <p:txBody>
          <a:bodyPr anchor="t"/>
          <a:lstStyle/>
          <a:p>
            <a:r>
              <a:rPr kumimoji="1" lang="ja-JP" altLang="en-US" dirty="0"/>
              <a:t>読み出された１行分のデータから，最終的に必要な１ビットを選択</a:t>
            </a:r>
            <a:endParaRPr kumimoji="1" lang="en-US" altLang="ja-JP" dirty="0"/>
          </a:p>
          <a:p>
            <a:r>
              <a:rPr lang="ja-JP" altLang="en-US" dirty="0"/>
              <a:t>どの列を読むか決める</a:t>
            </a:r>
            <a:endParaRPr lang="en-US" altLang="ja-JP" dirty="0"/>
          </a:p>
          <a:p>
            <a:pPr lvl="1"/>
            <a:r>
              <a:rPr lang="ja-JP" altLang="en-US" dirty="0"/>
              <a:t>各列は４つセルがある</a:t>
            </a:r>
            <a:endParaRPr lang="en-US" altLang="ja-JP" dirty="0"/>
          </a:p>
          <a:p>
            <a:pPr lvl="1"/>
            <a:r>
              <a:rPr lang="ja-JP" altLang="en-US" dirty="0"/>
              <a:t>アドレスを４で割った余りの列が読むべき場所</a:t>
            </a:r>
            <a:endParaRPr lang="en-US" altLang="ja-JP" dirty="0"/>
          </a:p>
          <a:p>
            <a:pPr lvl="1"/>
            <a:r>
              <a:rPr lang="ja-JP" altLang="en-US" dirty="0"/>
              <a:t>６</a:t>
            </a:r>
            <a:r>
              <a:rPr lang="en-US" altLang="ja-JP" dirty="0"/>
              <a:t>=</a:t>
            </a:r>
            <a:r>
              <a:rPr lang="en-US" altLang="ja-JP" dirty="0">
                <a:solidFill>
                  <a:schemeClr val="tx1"/>
                </a:solidFill>
              </a:rPr>
              <a:t>01</a:t>
            </a:r>
            <a:r>
              <a:rPr lang="en-US" altLang="ja-JP" dirty="0">
                <a:solidFill>
                  <a:schemeClr val="accent5"/>
                </a:solidFill>
              </a:rPr>
              <a:t>10</a:t>
            </a:r>
            <a:r>
              <a:rPr lang="ja-JP" altLang="en-US" dirty="0"/>
              <a:t>（２進数）</a:t>
            </a:r>
            <a:endParaRPr lang="en-US" altLang="ja-JP" dirty="0"/>
          </a:p>
          <a:p>
            <a:r>
              <a:rPr lang="ja-JP" altLang="en-US" dirty="0"/>
              <a:t>カラム・セレクタにより</a:t>
            </a:r>
            <a:br>
              <a:rPr lang="en-US" altLang="ja-JP" dirty="0"/>
            </a:br>
            <a:r>
              <a:rPr lang="ja-JP" altLang="en-US" dirty="0"/>
              <a:t>ビットを選択する</a:t>
            </a:r>
            <a:endParaRPr lang="en-US" altLang="ja-JP" dirty="0"/>
          </a:p>
          <a:p>
            <a:pPr lvl="1"/>
            <a:r>
              <a:rPr lang="ja-JP" altLang="en-US" dirty="0"/>
              <a:t>読み出し幅によっては</a:t>
            </a:r>
            <a:br>
              <a:rPr lang="en-US" altLang="ja-JP" dirty="0"/>
            </a:br>
            <a:r>
              <a:rPr lang="ja-JP" altLang="en-US" dirty="0"/>
              <a:t>この部分がないこともある</a:t>
            </a:r>
            <a:endParaRPr lang="en-US" altLang="ja-JP" dirty="0"/>
          </a:p>
        </p:txBody>
      </p:sp>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solidFill>
                  <a:schemeClr val="tx1"/>
                </a:solidFill>
                <a:latin typeface="Arial Narrow" pitchFamily="34" charset="0"/>
              </a:rPr>
              <a:t>1</a:t>
            </a:r>
            <a:endParaRPr lang="ja-JP" altLang="en-US" sz="1600" dirty="0">
              <a:solidFill>
                <a:schemeClr val="tx1"/>
              </a:solidFill>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solidFill>
                  <a:schemeClr val="tx1"/>
                </a:solidFill>
                <a:latin typeface="Arial Narrow" pitchFamily="34" charset="0"/>
              </a:rPr>
              <a:t>0</a:t>
            </a:r>
            <a:endParaRPr lang="ja-JP" altLang="en-US" sz="1600" dirty="0">
              <a:solidFill>
                <a:schemeClr val="tx1"/>
              </a:solidFill>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solidFill>
                  <a:schemeClr val="tx1"/>
                </a:solidFill>
                <a:latin typeface="Arial Narrow" pitchFamily="34" charset="0"/>
              </a:rPr>
              <a:t>1</a:t>
            </a:r>
            <a:endParaRPr lang="ja-JP" altLang="en-US" sz="1600" dirty="0">
              <a:solidFill>
                <a:schemeClr val="tx1"/>
              </a:solidFill>
              <a:latin typeface="Arial Narrow" pitchFamily="34" charset="0"/>
            </a:endParaRPr>
          </a:p>
        </p:txBody>
      </p: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400" dirty="0">
                <a:latin typeface="Arial Narrow" pitchFamily="34" charset="0"/>
              </a:rPr>
              <a:t>cell</a:t>
            </a:r>
            <a:endParaRPr lang="ja-JP" altLang="en-US" sz="1400" dirty="0">
              <a:latin typeface="Arial Narrow" pitchFamily="34" charset="0"/>
            </a:endParaRPr>
          </a:p>
        </p:txBody>
      </p:sp>
      <p:sp>
        <p:nvSpPr>
          <p:cNvPr id="127" name="正方形/長方形 126"/>
          <p:cNvSpPr/>
          <p:nvPr/>
        </p:nvSpPr>
        <p:spPr>
          <a:xfrm>
            <a:off x="3395970" y="908973"/>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lines</a:t>
            </a:r>
            <a:endParaRPr lang="ja-JP" altLang="en-US" sz="1600" dirty="0">
              <a:latin typeface="Arial Narrow" pitchFamily="34" charset="0"/>
            </a:endParaRPr>
          </a:p>
        </p:txBody>
      </p:sp>
      <p:sp>
        <p:nvSpPr>
          <p:cNvPr id="129" name="台形 128"/>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134" name="正方形/長方形 133"/>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135" name="正方形/長方形 134"/>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136" name="直線コネクタ 135"/>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138" name="正方形/長方形 137"/>
          <p:cNvSpPr/>
          <p:nvPr/>
        </p:nvSpPr>
        <p:spPr>
          <a:xfrm>
            <a:off x="1415948" y="2618992"/>
            <a:ext cx="114010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latin typeface="Arial Narrow" pitchFamily="34" charset="0"/>
              </a:rPr>
              <a:t>６</a:t>
            </a:r>
          </a:p>
        </p:txBody>
      </p:sp>
      <p:sp>
        <p:nvSpPr>
          <p:cNvPr id="139" name="正方形/長方形 138"/>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sp>
        <p:nvSpPr>
          <p:cNvPr id="39" name="正方形/長方形 38"/>
          <p:cNvSpPr/>
          <p:nvPr/>
        </p:nvSpPr>
        <p:spPr>
          <a:xfrm>
            <a:off x="3395970"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０</a:t>
            </a:r>
          </a:p>
        </p:txBody>
      </p:sp>
      <p:sp>
        <p:nvSpPr>
          <p:cNvPr id="40" name="正方形/長方形 39"/>
          <p:cNvSpPr/>
          <p:nvPr/>
        </p:nvSpPr>
        <p:spPr>
          <a:xfrm>
            <a:off x="4205979"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１</a:t>
            </a:r>
            <a:endParaRPr lang="ja-JP" altLang="en-US" sz="1600" dirty="0">
              <a:solidFill>
                <a:schemeClr val="accent5"/>
              </a:solidFill>
              <a:latin typeface="Arial Narrow" pitchFamily="34" charset="0"/>
            </a:endParaRPr>
          </a:p>
        </p:txBody>
      </p:sp>
      <p:sp>
        <p:nvSpPr>
          <p:cNvPr id="41" name="正方形/長方形 40"/>
          <p:cNvSpPr/>
          <p:nvPr/>
        </p:nvSpPr>
        <p:spPr>
          <a:xfrm>
            <a:off x="5015988"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２</a:t>
            </a:r>
            <a:endParaRPr lang="ja-JP" altLang="en-US" sz="1600" dirty="0">
              <a:solidFill>
                <a:schemeClr val="accent5"/>
              </a:solidFill>
              <a:latin typeface="Arial Narrow" pitchFamily="34" charset="0"/>
            </a:endParaRPr>
          </a:p>
        </p:txBody>
      </p:sp>
      <p:sp>
        <p:nvSpPr>
          <p:cNvPr id="42" name="正方形/長方形 41"/>
          <p:cNvSpPr/>
          <p:nvPr/>
        </p:nvSpPr>
        <p:spPr>
          <a:xfrm>
            <a:off x="5825997" y="1448978"/>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３</a:t>
            </a:r>
          </a:p>
        </p:txBody>
      </p:sp>
      <p:sp>
        <p:nvSpPr>
          <p:cNvPr id="43" name="正方形/長方形 42"/>
          <p:cNvSpPr/>
          <p:nvPr/>
        </p:nvSpPr>
        <p:spPr>
          <a:xfrm>
            <a:off x="3395970"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４</a:t>
            </a:r>
            <a:endParaRPr lang="ja-JP" altLang="en-US" sz="1600" dirty="0">
              <a:solidFill>
                <a:schemeClr val="accent5"/>
              </a:solidFill>
              <a:latin typeface="Arial Narrow" pitchFamily="34" charset="0"/>
            </a:endParaRPr>
          </a:p>
        </p:txBody>
      </p:sp>
      <p:sp>
        <p:nvSpPr>
          <p:cNvPr id="44" name="正方形/長方形 43"/>
          <p:cNvSpPr/>
          <p:nvPr/>
        </p:nvSpPr>
        <p:spPr>
          <a:xfrm>
            <a:off x="4205979"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５</a:t>
            </a:r>
          </a:p>
        </p:txBody>
      </p:sp>
      <p:sp>
        <p:nvSpPr>
          <p:cNvPr id="45" name="正方形/長方形 44"/>
          <p:cNvSpPr/>
          <p:nvPr/>
        </p:nvSpPr>
        <p:spPr>
          <a:xfrm>
            <a:off x="5015988"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a:solidFill>
                  <a:schemeClr val="accent5"/>
                </a:solidFill>
                <a:latin typeface="Arial Narrow" pitchFamily="34" charset="0"/>
              </a:rPr>
              <a:t>６</a:t>
            </a:r>
            <a:endParaRPr lang="ja-JP" altLang="en-US" sz="1600" dirty="0">
              <a:solidFill>
                <a:schemeClr val="accent5"/>
              </a:solidFill>
              <a:latin typeface="Arial Narrow" pitchFamily="34" charset="0"/>
            </a:endParaRPr>
          </a:p>
        </p:txBody>
      </p:sp>
      <p:sp>
        <p:nvSpPr>
          <p:cNvPr id="46" name="正方形/長方形 45"/>
          <p:cNvSpPr/>
          <p:nvPr/>
        </p:nvSpPr>
        <p:spPr>
          <a:xfrm>
            <a:off x="5825997" y="2258987"/>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７</a:t>
            </a:r>
          </a:p>
        </p:txBody>
      </p:sp>
      <p:sp>
        <p:nvSpPr>
          <p:cNvPr id="47" name="正方形/長方形 46"/>
          <p:cNvSpPr/>
          <p:nvPr/>
        </p:nvSpPr>
        <p:spPr>
          <a:xfrm>
            <a:off x="3395970"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８</a:t>
            </a:r>
          </a:p>
        </p:txBody>
      </p:sp>
      <p:sp>
        <p:nvSpPr>
          <p:cNvPr id="48" name="正方形/長方形 47"/>
          <p:cNvSpPr/>
          <p:nvPr/>
        </p:nvSpPr>
        <p:spPr>
          <a:xfrm>
            <a:off x="4205979"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９</a:t>
            </a:r>
          </a:p>
        </p:txBody>
      </p:sp>
      <p:sp>
        <p:nvSpPr>
          <p:cNvPr id="49" name="正方形/長方形 48"/>
          <p:cNvSpPr/>
          <p:nvPr/>
        </p:nvSpPr>
        <p:spPr>
          <a:xfrm>
            <a:off x="5015988"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１０</a:t>
            </a:r>
          </a:p>
        </p:txBody>
      </p:sp>
      <p:sp>
        <p:nvSpPr>
          <p:cNvPr id="50" name="正方形/長方形 49"/>
          <p:cNvSpPr/>
          <p:nvPr/>
        </p:nvSpPr>
        <p:spPr>
          <a:xfrm>
            <a:off x="5825997" y="3068996"/>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１１</a:t>
            </a:r>
          </a:p>
        </p:txBody>
      </p:sp>
      <p:sp>
        <p:nvSpPr>
          <p:cNvPr id="51" name="正方形/長方形 50"/>
          <p:cNvSpPr/>
          <p:nvPr/>
        </p:nvSpPr>
        <p:spPr>
          <a:xfrm>
            <a:off x="3395970"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１２</a:t>
            </a:r>
          </a:p>
        </p:txBody>
      </p:sp>
      <p:sp>
        <p:nvSpPr>
          <p:cNvPr id="52" name="正方形/長方形 51"/>
          <p:cNvSpPr/>
          <p:nvPr/>
        </p:nvSpPr>
        <p:spPr>
          <a:xfrm>
            <a:off x="4205979"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１３</a:t>
            </a:r>
          </a:p>
        </p:txBody>
      </p:sp>
      <p:sp>
        <p:nvSpPr>
          <p:cNvPr id="53" name="正方形/長方形 52"/>
          <p:cNvSpPr/>
          <p:nvPr/>
        </p:nvSpPr>
        <p:spPr>
          <a:xfrm>
            <a:off x="5015988"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１４</a:t>
            </a:r>
          </a:p>
        </p:txBody>
      </p:sp>
      <p:sp>
        <p:nvSpPr>
          <p:cNvPr id="54" name="正方形/長方形 53"/>
          <p:cNvSpPr/>
          <p:nvPr/>
        </p:nvSpPr>
        <p:spPr>
          <a:xfrm>
            <a:off x="5825997" y="3879005"/>
            <a:ext cx="449980" cy="450002"/>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ja-JP" altLang="en-US" sz="1600" dirty="0">
                <a:solidFill>
                  <a:schemeClr val="accent5"/>
                </a:solidFill>
                <a:latin typeface="Arial Narrow" pitchFamily="34" charset="0"/>
              </a:rPr>
              <a:t>１５</a:t>
            </a:r>
          </a:p>
        </p:txBody>
      </p:sp>
      <p:cxnSp>
        <p:nvCxnSpPr>
          <p:cNvPr id="56" name="直線コネクタ 55"/>
          <p:cNvCxnSpPr/>
          <p:nvPr/>
        </p:nvCxnSpPr>
        <p:spPr>
          <a:xfrm flipV="1">
            <a:off x="2675962" y="2708993"/>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57" name="正方形/長方形 56"/>
          <p:cNvSpPr/>
          <p:nvPr/>
        </p:nvSpPr>
        <p:spPr>
          <a:xfrm>
            <a:off x="3215997" y="4779018"/>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tx1"/>
                </a:solidFill>
                <a:latin typeface="Arial Narrow" pitchFamily="34" charset="0"/>
              </a:rPr>
              <a:t>1</a:t>
            </a:r>
            <a:endParaRPr lang="ja-JP" altLang="en-US" sz="2400" b="1" dirty="0">
              <a:solidFill>
                <a:schemeClr val="tx1"/>
              </a:solidFill>
              <a:latin typeface="Arial Narrow" pitchFamily="34" charset="0"/>
            </a:endParaRPr>
          </a:p>
        </p:txBody>
      </p:sp>
      <p:sp>
        <p:nvSpPr>
          <p:cNvPr id="58" name="正方形/長方形 57"/>
          <p:cNvSpPr/>
          <p:nvPr/>
        </p:nvSpPr>
        <p:spPr>
          <a:xfrm>
            <a:off x="4025994"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tx1"/>
                </a:solidFill>
                <a:latin typeface="Arial Narrow" pitchFamily="34" charset="0"/>
              </a:rPr>
              <a:t>0</a:t>
            </a:r>
            <a:endParaRPr lang="ja-JP" altLang="en-US" sz="2400" b="1" dirty="0">
              <a:solidFill>
                <a:schemeClr val="tx1"/>
              </a:solidFill>
              <a:latin typeface="Arial Narrow" pitchFamily="34" charset="0"/>
            </a:endParaRPr>
          </a:p>
        </p:txBody>
      </p:sp>
      <p:sp>
        <p:nvSpPr>
          <p:cNvPr id="59" name="正方形/長方形 58"/>
          <p:cNvSpPr/>
          <p:nvPr/>
        </p:nvSpPr>
        <p:spPr>
          <a:xfrm>
            <a:off x="483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
        <p:nvSpPr>
          <p:cNvPr id="60" name="正方形/長方形 59"/>
          <p:cNvSpPr/>
          <p:nvPr/>
        </p:nvSpPr>
        <p:spPr>
          <a:xfrm>
            <a:off x="5645995" y="4779015"/>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tx1"/>
                </a:solidFill>
                <a:latin typeface="Arial Narrow" pitchFamily="34" charset="0"/>
              </a:rPr>
              <a:t>1</a:t>
            </a:r>
            <a:endParaRPr lang="ja-JP" altLang="en-US" sz="2400" b="1" dirty="0">
              <a:solidFill>
                <a:schemeClr val="tx1"/>
              </a:solidFill>
              <a:latin typeface="Arial Narrow" pitchFamily="34" charset="0"/>
            </a:endParaRPr>
          </a:p>
        </p:txBody>
      </p:sp>
      <p:sp>
        <p:nvSpPr>
          <p:cNvPr id="66" name="正方形/長方形 65"/>
          <p:cNvSpPr/>
          <p:nvPr/>
        </p:nvSpPr>
        <p:spPr>
          <a:xfrm>
            <a:off x="4475982" y="5499023"/>
            <a:ext cx="540000" cy="540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2400" b="1" dirty="0">
                <a:solidFill>
                  <a:schemeClr val="accent6"/>
                </a:solidFill>
                <a:latin typeface="Arial Narrow" pitchFamily="34" charset="0"/>
              </a:rPr>
              <a:t>0</a:t>
            </a:r>
            <a:endParaRPr lang="ja-JP" altLang="en-US" sz="2400" b="1" dirty="0">
              <a:solidFill>
                <a:schemeClr val="accent6"/>
              </a:solidFill>
              <a:latin typeface="Arial Narrow" pitchFamily="34" charset="0"/>
            </a:endParaRPr>
          </a:p>
        </p:txBody>
      </p:sp>
    </p:spTree>
    <p:extLst>
      <p:ext uri="{BB962C8B-B14F-4D97-AF65-F5344CB8AC3E}">
        <p14:creationId xmlns:p14="http://schemas.microsoft.com/office/powerpoint/2010/main" val="3673660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sz="2400" dirty="0"/>
              <a:t>AMD Zen </a:t>
            </a:r>
            <a:r>
              <a:rPr lang="ja-JP" altLang="en-US" sz="2400" dirty="0"/>
              <a:t>という </a:t>
            </a:r>
            <a:r>
              <a:rPr lang="en-US" altLang="ja-JP" sz="2400" dirty="0"/>
              <a:t>CPU </a:t>
            </a:r>
            <a:r>
              <a:rPr lang="ja-JP" altLang="en-US" sz="2400" dirty="0"/>
              <a:t>のチップ写真</a:t>
            </a:r>
            <a:br>
              <a:rPr lang="en-US" altLang="ja-JP" sz="2400" dirty="0"/>
            </a:br>
            <a:r>
              <a:rPr lang="en-US" altLang="ja-JP" sz="1600" dirty="0" err="1"/>
              <a:t>Teja</a:t>
            </a:r>
            <a:r>
              <a:rPr lang="en-US" altLang="ja-JP" sz="1600" dirty="0"/>
              <a:t> Singh et al., Zen: An Energy-Efficient High-Performance ×86 Core </a:t>
            </a:r>
            <a:r>
              <a:rPr lang="ja-JP" altLang="en-US" sz="1600" dirty="0"/>
              <a:t>より</a:t>
            </a:r>
          </a:p>
        </p:txBody>
      </p:sp>
      <p:sp>
        <p:nvSpPr>
          <p:cNvPr id="3" name="テキスト プレースホルダー 2"/>
          <p:cNvSpPr>
            <a:spLocks noGrp="1"/>
          </p:cNvSpPr>
          <p:nvPr>
            <p:ph type="body" sz="quarter" idx="10"/>
          </p:nvPr>
        </p:nvSpPr>
        <p:spPr>
          <a:xfrm>
            <a:off x="2045955" y="6129030"/>
            <a:ext cx="8280092" cy="449698"/>
          </a:xfrm>
        </p:spPr>
        <p:txBody>
          <a:bodyPr/>
          <a:lstStyle/>
          <a:p>
            <a:pPr lvl="1"/>
            <a:r>
              <a:rPr kumimoji="1" lang="ja-JP" altLang="en-US" dirty="0"/>
              <a:t>赤や紫の「田」の字の構造の部分が全部メモリ（</a:t>
            </a:r>
            <a:r>
              <a:rPr kumimoji="1" lang="en-US" altLang="ja-JP" dirty="0"/>
              <a:t>SRAM</a:t>
            </a:r>
            <a:r>
              <a:rPr kumimoji="1" lang="ja-JP" altLang="en-US" dirty="0"/>
              <a:t>）</a:t>
            </a:r>
            <a:endParaRPr kumimoji="1" lang="en-US" altLang="ja-JP" dirty="0"/>
          </a:p>
          <a:p>
            <a:pPr lvl="2"/>
            <a:r>
              <a:rPr kumimoji="1" lang="ja-JP" altLang="en-US" dirty="0"/>
              <a:t>レジスタやキャッシュ，各種テーブルなど</a:t>
            </a:r>
          </a:p>
        </p:txBody>
      </p:sp>
      <p:pic>
        <p:nvPicPr>
          <p:cNvPr id="5" name="図 4"/>
          <p:cNvPicPr>
            <a:picLocks noChangeAspect="1"/>
          </p:cNvPicPr>
          <p:nvPr/>
        </p:nvPicPr>
        <p:blipFill>
          <a:blip r:embed="rId2"/>
          <a:stretch>
            <a:fillRect/>
          </a:stretch>
        </p:blipFill>
        <p:spPr>
          <a:xfrm>
            <a:off x="3125967" y="1088974"/>
            <a:ext cx="6034158" cy="4785028"/>
          </a:xfrm>
          <a:prstGeom prst="rect">
            <a:avLst/>
          </a:prstGeom>
        </p:spPr>
      </p:pic>
    </p:spTree>
    <p:extLst>
      <p:ext uri="{BB962C8B-B14F-4D97-AF65-F5344CB8AC3E}">
        <p14:creationId xmlns:p14="http://schemas.microsoft.com/office/powerpoint/2010/main" val="3535023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「田」の字の構造</a:t>
            </a:r>
          </a:p>
        </p:txBody>
      </p:sp>
      <p:sp>
        <p:nvSpPr>
          <p:cNvPr id="3" name="テキスト プレースホルダー 2"/>
          <p:cNvSpPr>
            <a:spLocks noGrp="1"/>
          </p:cNvSpPr>
          <p:nvPr>
            <p:ph type="body" sz="quarter" idx="10"/>
          </p:nvPr>
        </p:nvSpPr>
        <p:spPr>
          <a:xfrm>
            <a:off x="2135956" y="5859027"/>
            <a:ext cx="8280092" cy="449698"/>
          </a:xfrm>
        </p:spPr>
        <p:txBody>
          <a:bodyPr/>
          <a:lstStyle/>
          <a:p>
            <a:r>
              <a:rPr lang="ja-JP" altLang="en-US" dirty="0"/>
              <a:t>「田」の字の構造になっているのは，</a:t>
            </a:r>
            <a:endParaRPr lang="en-US" altLang="ja-JP" dirty="0"/>
          </a:p>
          <a:p>
            <a:pPr lvl="1"/>
            <a:r>
              <a:rPr lang="ja-JP" altLang="en-US" dirty="0"/>
              <a:t>縦線がデコーダで左右に対してワードラインをアサート</a:t>
            </a:r>
            <a:endParaRPr lang="en-US" altLang="ja-JP" dirty="0"/>
          </a:p>
          <a:p>
            <a:pPr lvl="1"/>
            <a:r>
              <a:rPr lang="ja-JP" altLang="en-US" dirty="0"/>
              <a:t>横線でビットラインのデータを拾う</a:t>
            </a:r>
          </a:p>
        </p:txBody>
      </p:sp>
      <p:grpSp>
        <p:nvGrpSpPr>
          <p:cNvPr id="46" name="グループ化 45"/>
          <p:cNvGrpSpPr/>
          <p:nvPr/>
        </p:nvGrpSpPr>
        <p:grpSpPr>
          <a:xfrm>
            <a:off x="6096000" y="998973"/>
            <a:ext cx="1980000" cy="2070000"/>
            <a:chOff x="881959" y="1358983"/>
            <a:chExt cx="3960035" cy="4140037"/>
          </a:xfrm>
        </p:grpSpPr>
        <p:sp>
          <p:nvSpPr>
            <p:cNvPr id="34" name="正方形/長方形 33"/>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5" name="正方形/長方形 34"/>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6" name="正方形/長方形 35"/>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7" name="正方形/長方形 36"/>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8" name="正方形/長方形 37"/>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9" name="正方形/長方形 38"/>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0" name="正方形/長方形 39"/>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1" name="正方形/長方形 40"/>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2" name="正方形/長方形 41"/>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3" name="正方形/長方形 42"/>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4" name="正方形/長方形 43"/>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5" name="正方形/長方形 44"/>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2" name="正方形/長方形 31"/>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3" name="正方形/長方形 32"/>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31" name="正方形/長方形 30"/>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 name="正方形/長方形 3"/>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8" name="直線コネクタ 7"/>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13" name="直線コネクタ 12"/>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18" name="直線コネクタ 17"/>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23" name="直線コネクタ 22"/>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29" name="台形 28"/>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30" name="正方形/長方形 29"/>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grpSp>
        <p:nvGrpSpPr>
          <p:cNvPr id="47" name="グループ化 46"/>
          <p:cNvGrpSpPr/>
          <p:nvPr/>
        </p:nvGrpSpPr>
        <p:grpSpPr>
          <a:xfrm flipV="1">
            <a:off x="6096000" y="3068997"/>
            <a:ext cx="1980000" cy="2070023"/>
            <a:chOff x="881959" y="1358983"/>
            <a:chExt cx="3960035" cy="4140037"/>
          </a:xfrm>
        </p:grpSpPr>
        <p:sp>
          <p:nvSpPr>
            <p:cNvPr id="48" name="正方形/長方形 47"/>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49" name="正方形/長方形 48"/>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0" name="正方形/長方形 49"/>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1" name="正方形/長方形 50"/>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2" name="正方形/長方形 51"/>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3" name="正方形/長方形 52"/>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4" name="正方形/長方形 53"/>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5" name="正方形/長方形 54"/>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6" name="正方形/長方形 55"/>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7" name="正方形/長方形 56"/>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8" name="正方形/長方形 57"/>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59" name="正方形/長方形 58"/>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0" name="正方形/長方形 59"/>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1" name="正方形/長方形 60"/>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2" name="正方形/長方形 61"/>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63" name="正方形/長方形 62"/>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64" name="直線コネクタ 63"/>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65" name="直線コネクタ 64"/>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66" name="直線コネクタ 65"/>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67" name="直線コネクタ 66"/>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68" name="直線コネクタ 67"/>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69" name="直線コネクタ 68"/>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70" name="直線コネクタ 69"/>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71" name="直線コネクタ 70"/>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72" name="台形 71"/>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73" name="台形 72"/>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74" name="正方形/長方形 73"/>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grpSp>
        <p:nvGrpSpPr>
          <p:cNvPr id="75" name="グループ化 74"/>
          <p:cNvGrpSpPr/>
          <p:nvPr/>
        </p:nvGrpSpPr>
        <p:grpSpPr>
          <a:xfrm flipH="1">
            <a:off x="3935977" y="998973"/>
            <a:ext cx="2070023" cy="2070000"/>
            <a:chOff x="881959" y="1358983"/>
            <a:chExt cx="3960035" cy="4140037"/>
          </a:xfrm>
        </p:grpSpPr>
        <p:sp>
          <p:nvSpPr>
            <p:cNvPr id="76" name="正方形/長方形 75"/>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77" name="正方形/長方形 76"/>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78" name="正方形/長方形 77"/>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79" name="正方形/長方形 78"/>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0" name="正方形/長方形 79"/>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1" name="正方形/長方形 80"/>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2" name="正方形/長方形 81"/>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3" name="正方形/長方形 82"/>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4" name="正方形/長方形 83"/>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5" name="正方形/長方形 84"/>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6" name="正方形/長方形 85"/>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7" name="正方形/長方形 86"/>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8" name="正方形/長方形 87"/>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89" name="正方形/長方形 88"/>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90" name="正方形/長方形 89"/>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91" name="正方形/長方形 90"/>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92" name="直線コネクタ 91"/>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93" name="直線コネクタ 92"/>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94" name="直線コネクタ 93"/>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95" name="直線コネクタ 94"/>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96" name="直線コネクタ 95"/>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97" name="直線コネクタ 96"/>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98" name="直線コネクタ 97"/>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99" name="直線コネクタ 98"/>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100" name="台形 99"/>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01" name="台形 100"/>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02" name="正方形/長方形 101"/>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grpSp>
        <p:nvGrpSpPr>
          <p:cNvPr id="103" name="グループ化 102"/>
          <p:cNvGrpSpPr/>
          <p:nvPr/>
        </p:nvGrpSpPr>
        <p:grpSpPr>
          <a:xfrm flipH="1" flipV="1">
            <a:off x="3935977" y="3068996"/>
            <a:ext cx="2070023" cy="2070023"/>
            <a:chOff x="881959" y="1358983"/>
            <a:chExt cx="3960035" cy="4140037"/>
          </a:xfrm>
        </p:grpSpPr>
        <p:sp>
          <p:nvSpPr>
            <p:cNvPr id="104" name="正方形/長方形 103"/>
            <p:cNvSpPr/>
            <p:nvPr/>
          </p:nvSpPr>
          <p:spPr>
            <a:xfrm>
              <a:off x="4031965"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5" name="正方形/長方形 104"/>
            <p:cNvSpPr/>
            <p:nvPr/>
          </p:nvSpPr>
          <p:spPr>
            <a:xfrm>
              <a:off x="3221985"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6" name="正方形/長方形 105"/>
            <p:cNvSpPr/>
            <p:nvPr/>
          </p:nvSpPr>
          <p:spPr>
            <a:xfrm>
              <a:off x="2411947" y="2438986"/>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7" name="正方形/長方形 106"/>
            <p:cNvSpPr/>
            <p:nvPr/>
          </p:nvSpPr>
          <p:spPr>
            <a:xfrm>
              <a:off x="1601967" y="2438989"/>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8" name="正方形/長方形 107"/>
            <p:cNvSpPr/>
            <p:nvPr/>
          </p:nvSpPr>
          <p:spPr>
            <a:xfrm>
              <a:off x="4031994"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09" name="正方形/長方形 108"/>
            <p:cNvSpPr/>
            <p:nvPr/>
          </p:nvSpPr>
          <p:spPr>
            <a:xfrm>
              <a:off x="3222014"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0" name="正方形/長方形 109"/>
            <p:cNvSpPr/>
            <p:nvPr/>
          </p:nvSpPr>
          <p:spPr>
            <a:xfrm>
              <a:off x="2411976" y="3248998"/>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1" name="正方形/長方形 110"/>
            <p:cNvSpPr/>
            <p:nvPr/>
          </p:nvSpPr>
          <p:spPr>
            <a:xfrm>
              <a:off x="1601996" y="3249001"/>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2" name="正方形/長方形 111"/>
            <p:cNvSpPr/>
            <p:nvPr/>
          </p:nvSpPr>
          <p:spPr>
            <a:xfrm>
              <a:off x="4031965"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3" name="正方形/長方形 112"/>
            <p:cNvSpPr/>
            <p:nvPr/>
          </p:nvSpPr>
          <p:spPr>
            <a:xfrm>
              <a:off x="3221985"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4" name="正方形/長方形 113"/>
            <p:cNvSpPr/>
            <p:nvPr/>
          </p:nvSpPr>
          <p:spPr>
            <a:xfrm>
              <a:off x="2411947" y="4059004"/>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5" name="正方形/長方形 114"/>
            <p:cNvSpPr/>
            <p:nvPr/>
          </p:nvSpPr>
          <p:spPr>
            <a:xfrm>
              <a:off x="1601967" y="405900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6" name="正方形/長方形 115"/>
            <p:cNvSpPr/>
            <p:nvPr/>
          </p:nvSpPr>
          <p:spPr>
            <a:xfrm>
              <a:off x="4031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7" name="正方形/長方形 116"/>
            <p:cNvSpPr/>
            <p:nvPr/>
          </p:nvSpPr>
          <p:spPr>
            <a:xfrm>
              <a:off x="3222014"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8" name="正方形/長方形 117"/>
            <p:cNvSpPr/>
            <p:nvPr/>
          </p:nvSpPr>
          <p:spPr>
            <a:xfrm>
              <a:off x="2411976"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sp>
          <p:nvSpPr>
            <p:cNvPr id="119" name="正方形/長方形 118"/>
            <p:cNvSpPr/>
            <p:nvPr/>
          </p:nvSpPr>
          <p:spPr>
            <a:xfrm>
              <a:off x="1601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sz="1600" dirty="0">
                <a:latin typeface="Arial Narrow" pitchFamily="34" charset="0"/>
              </a:endParaRPr>
            </a:p>
          </p:txBody>
        </p:sp>
        <p:cxnSp>
          <p:nvCxnSpPr>
            <p:cNvPr id="120" name="直線コネクタ 119"/>
            <p:cNvCxnSpPr/>
            <p:nvPr/>
          </p:nvCxnSpPr>
          <p:spPr>
            <a:xfrm flipV="1">
              <a:off x="1151962" y="1898980"/>
              <a:ext cx="3690032" cy="3"/>
            </a:xfrm>
            <a:prstGeom prst="line">
              <a:avLst/>
            </a:prstGeom>
            <a:ln w="3175"/>
          </p:spPr>
          <p:style>
            <a:lnRef idx="1">
              <a:schemeClr val="dk1"/>
            </a:lnRef>
            <a:fillRef idx="0">
              <a:schemeClr val="dk1"/>
            </a:fillRef>
            <a:effectRef idx="0">
              <a:schemeClr val="dk1"/>
            </a:effectRef>
            <a:fontRef idx="minor">
              <a:schemeClr val="tx1"/>
            </a:fontRef>
          </p:style>
        </p:cxnSp>
        <p:cxnSp>
          <p:nvCxnSpPr>
            <p:cNvPr id="121" name="直線コネクタ 120"/>
            <p:cNvCxnSpPr/>
            <p:nvPr/>
          </p:nvCxnSpPr>
          <p:spPr>
            <a:xfrm flipV="1">
              <a:off x="1151962" y="2708977"/>
              <a:ext cx="3690029" cy="15"/>
            </a:xfrm>
            <a:prstGeom prst="line">
              <a:avLst/>
            </a:prstGeom>
            <a:ln w="3175"/>
          </p:spPr>
          <p:style>
            <a:lnRef idx="1">
              <a:schemeClr val="dk1"/>
            </a:lnRef>
            <a:fillRef idx="0">
              <a:schemeClr val="dk1"/>
            </a:fillRef>
            <a:effectRef idx="0">
              <a:schemeClr val="dk1"/>
            </a:effectRef>
            <a:fontRef idx="minor">
              <a:schemeClr val="tx1"/>
            </a:fontRef>
          </p:style>
        </p:cxnSp>
        <p:cxnSp>
          <p:nvCxnSpPr>
            <p:cNvPr id="122" name="直線コネクタ 121"/>
            <p:cNvCxnSpPr/>
            <p:nvPr/>
          </p:nvCxnSpPr>
          <p:spPr>
            <a:xfrm flipV="1">
              <a:off x="1151962" y="3518977"/>
              <a:ext cx="3690029" cy="24"/>
            </a:xfrm>
            <a:prstGeom prst="line">
              <a:avLst/>
            </a:prstGeom>
            <a:ln w="3175"/>
          </p:spPr>
          <p:style>
            <a:lnRef idx="1">
              <a:schemeClr val="dk1"/>
            </a:lnRef>
            <a:fillRef idx="0">
              <a:schemeClr val="dk1"/>
            </a:fillRef>
            <a:effectRef idx="0">
              <a:schemeClr val="dk1"/>
            </a:effectRef>
            <a:fontRef idx="minor">
              <a:schemeClr val="tx1"/>
            </a:fontRef>
          </p:style>
        </p:cxnSp>
        <p:cxnSp>
          <p:nvCxnSpPr>
            <p:cNvPr id="123" name="直線コネクタ 122"/>
            <p:cNvCxnSpPr/>
            <p:nvPr/>
          </p:nvCxnSpPr>
          <p:spPr>
            <a:xfrm flipV="1">
              <a:off x="1151962" y="4328977"/>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124" name="直線コネクタ 123"/>
            <p:cNvCxnSpPr/>
            <p:nvPr/>
          </p:nvCxnSpPr>
          <p:spPr>
            <a:xfrm flipV="1">
              <a:off x="187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25" name="直線コネクタ 124"/>
            <p:cNvCxnSpPr/>
            <p:nvPr/>
          </p:nvCxnSpPr>
          <p:spPr>
            <a:xfrm flipV="1">
              <a:off x="2681993"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26" name="直線コネクタ 125"/>
            <p:cNvCxnSpPr/>
            <p:nvPr/>
          </p:nvCxnSpPr>
          <p:spPr>
            <a:xfrm flipV="1">
              <a:off x="349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127" name="直線コネクタ 126"/>
            <p:cNvCxnSpPr/>
            <p:nvPr/>
          </p:nvCxnSpPr>
          <p:spPr>
            <a:xfrm flipV="1">
              <a:off x="4301994" y="1358983"/>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128" name="台形 127"/>
            <p:cNvSpPr/>
            <p:nvPr/>
          </p:nvSpPr>
          <p:spPr>
            <a:xfrm flipV="1">
              <a:off x="1601993" y="5138977"/>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29" name="台形 128"/>
            <p:cNvSpPr/>
            <p:nvPr/>
          </p:nvSpPr>
          <p:spPr>
            <a:xfrm rot="5400000" flipV="1">
              <a:off x="-468043" y="2978983"/>
              <a:ext cx="2970002" cy="269997"/>
            </a:xfrm>
            <a:prstGeom prst="trapezoid">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Arial Narrow" pitchFamily="34" charset="0"/>
              </a:endParaRPr>
            </a:p>
          </p:txBody>
        </p:sp>
        <p:sp>
          <p:nvSpPr>
            <p:cNvPr id="130" name="正方形/長方形 129"/>
            <p:cNvSpPr/>
            <p:nvPr/>
          </p:nvSpPr>
          <p:spPr>
            <a:xfrm>
              <a:off x="1871970" y="495901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endParaRPr lang="ja-JP" altLang="en-US" sz="1600" dirty="0">
                <a:latin typeface="Arial Narrow" pitchFamily="34" charset="0"/>
              </a:endParaRPr>
            </a:p>
          </p:txBody>
        </p:sp>
      </p:grpSp>
    </p:spTree>
    <p:extLst>
      <p:ext uri="{BB962C8B-B14F-4D97-AF65-F5344CB8AC3E}">
        <p14:creationId xmlns:p14="http://schemas.microsoft.com/office/powerpoint/2010/main" val="3523808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b="1" dirty="0"/>
              <a:t>容量と速度</a:t>
            </a:r>
            <a:endParaRPr lang="en-US" altLang="ja-JP" b="1" dirty="0"/>
          </a:p>
          <a:p>
            <a:pPr marL="457200" indent="-457200">
              <a:buFont typeface="+mj-lt"/>
              <a:buAutoNum type="arabicPeriod"/>
            </a:pPr>
            <a:r>
              <a:rPr lang="ja-JP" altLang="en-US" dirty="0"/>
              <a:t>メモリの詳細</a:t>
            </a:r>
            <a:endParaRPr lang="en-US" altLang="ja-JP"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dirty="0"/>
              <a:t>なぜメモリが存在するのか？</a:t>
            </a:r>
            <a:endParaRPr lang="en-US" altLang="ja-JP" dirty="0"/>
          </a:p>
          <a:p>
            <a:pPr marL="817200" lvl="1" indent="-457200">
              <a:buFont typeface="+mj-lt"/>
              <a:buAutoNum type="arabicPeriod"/>
            </a:pPr>
            <a:r>
              <a:rPr lang="ja-JP" altLang="en-US" dirty="0"/>
              <a:t>マルチポート・メモリ</a:t>
            </a:r>
            <a:endParaRPr lang="en-US" altLang="ja-JP" dirty="0"/>
          </a:p>
          <a:p>
            <a:pPr marL="817200" lvl="1" indent="-457200">
              <a:buFont typeface="+mj-lt"/>
              <a:buAutoNum type="arabicPeriod"/>
            </a:pPr>
            <a:r>
              <a:rPr lang="ja-JP" altLang="en-US" dirty="0"/>
              <a:t>メモリを対象にしたアタック</a:t>
            </a:r>
          </a:p>
        </p:txBody>
      </p:sp>
    </p:spTree>
    <p:extLst>
      <p:ext uri="{BB962C8B-B14F-4D97-AF65-F5344CB8AC3E}">
        <p14:creationId xmlns:p14="http://schemas.microsoft.com/office/powerpoint/2010/main" val="1841348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メモリの性質</a:t>
            </a:r>
          </a:p>
        </p:txBody>
      </p:sp>
      <p:sp>
        <p:nvSpPr>
          <p:cNvPr id="3" name="テキスト プレースホルダー 2"/>
          <p:cNvSpPr>
            <a:spLocks noGrp="1"/>
          </p:cNvSpPr>
          <p:nvPr>
            <p:ph type="body" sz="quarter" idx="10"/>
          </p:nvPr>
        </p:nvSpPr>
        <p:spPr/>
        <p:txBody>
          <a:bodyPr/>
          <a:lstStyle/>
          <a:p>
            <a:r>
              <a:rPr kumimoji="1" lang="ja-JP" altLang="en-US" dirty="0"/>
              <a:t>容量（大きい </a:t>
            </a:r>
            <a:r>
              <a:rPr kumimoji="1" lang="en-US" altLang="ja-JP" dirty="0"/>
              <a:t>or </a:t>
            </a:r>
            <a:r>
              <a:rPr kumimoji="1" lang="ja-JP" altLang="en-US" dirty="0"/>
              <a:t>小さい）</a:t>
            </a:r>
            <a:endParaRPr kumimoji="1" lang="en-US" altLang="ja-JP" dirty="0"/>
          </a:p>
          <a:p>
            <a:pPr lvl="1"/>
            <a:r>
              <a:rPr kumimoji="1" lang="ja-JP" altLang="en-US" dirty="0"/>
              <a:t>どのぐらい数のデータを覚えることができるか</a:t>
            </a:r>
            <a:endParaRPr kumimoji="1" lang="en-US" altLang="ja-JP" dirty="0"/>
          </a:p>
          <a:p>
            <a:r>
              <a:rPr kumimoji="1" lang="ja-JP" altLang="en-US" dirty="0"/>
              <a:t>速度（速い </a:t>
            </a:r>
            <a:r>
              <a:rPr kumimoji="1" lang="en-US" altLang="ja-JP" dirty="0"/>
              <a:t>or </a:t>
            </a:r>
            <a:r>
              <a:rPr kumimoji="1" lang="ja-JP" altLang="en-US" dirty="0"/>
              <a:t>遅い）</a:t>
            </a:r>
            <a:endParaRPr kumimoji="1" lang="en-US" altLang="ja-JP" dirty="0"/>
          </a:p>
          <a:p>
            <a:pPr lvl="1"/>
            <a:r>
              <a:rPr kumimoji="1" lang="ja-JP" altLang="en-US" dirty="0"/>
              <a:t>どのぐらいの速さで読み書きできるか</a:t>
            </a:r>
            <a:endParaRPr kumimoji="1" lang="en-US" altLang="ja-JP" dirty="0"/>
          </a:p>
          <a:p>
            <a:r>
              <a:rPr lang="ja-JP" altLang="en-US" dirty="0"/>
              <a:t>容量と速度にはトレードオフがある</a:t>
            </a:r>
            <a:endParaRPr lang="en-US" altLang="ja-JP" dirty="0"/>
          </a:p>
          <a:p>
            <a:pPr lvl="1"/>
            <a:r>
              <a:rPr lang="ja-JP" altLang="en-US" dirty="0">
                <a:solidFill>
                  <a:schemeClr val="accent5"/>
                </a:solidFill>
              </a:rPr>
              <a:t>「大きくて速くいメモリ」は作ることができない</a:t>
            </a:r>
            <a:endParaRPr kumimoji="1" lang="ja-JP" altLang="en-US" dirty="0">
              <a:solidFill>
                <a:schemeClr val="accent5"/>
              </a:solidFill>
            </a:endParaRPr>
          </a:p>
        </p:txBody>
      </p:sp>
    </p:spTree>
    <p:extLst>
      <p:ext uri="{BB962C8B-B14F-4D97-AF65-F5344CB8AC3E}">
        <p14:creationId xmlns:p14="http://schemas.microsoft.com/office/powerpoint/2010/main" val="23205119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アクセス時間は容量の平方根ぐらいに比例</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6816008" y="1088975"/>
                <a:ext cx="3600040" cy="5219751"/>
              </a:xfrm>
            </p:spPr>
            <p:txBody>
              <a:bodyPr anchor="t"/>
              <a:lstStyle/>
              <a:p>
                <a:r>
                  <a:rPr lang="ja-JP" altLang="en-US" dirty="0"/>
                  <a:t>格子状に並んだセルの</a:t>
                </a:r>
                <a:r>
                  <a:rPr lang="ja-JP" altLang="en-US" dirty="0">
                    <a:solidFill>
                      <a:schemeClr val="accent5"/>
                    </a:solidFill>
                  </a:rPr>
                  <a:t>外周部の信号線の長さ</a:t>
                </a:r>
                <a:r>
                  <a:rPr lang="ja-JP" altLang="en-US" dirty="0"/>
                  <a:t>がアクセス時間を決める</a:t>
                </a:r>
                <a:endParaRPr lang="en-US" altLang="ja-JP" dirty="0"/>
              </a:p>
              <a:p>
                <a:r>
                  <a:rPr kumimoji="1" lang="ja-JP" altLang="en-US" dirty="0"/>
                  <a:t>容量（セルの数）が一定の場合，正方形に近くするのが最も経路が短くなる</a:t>
                </a:r>
                <a:endParaRPr kumimoji="1" lang="en-US" altLang="ja-JP" dirty="0"/>
              </a:p>
              <a:p>
                <a:r>
                  <a:rPr lang="ja-JP" altLang="en-US" dirty="0">
                    <a:solidFill>
                      <a:schemeClr val="accent5"/>
                    </a:solidFill>
                  </a:rPr>
                  <a:t>メモリ容量 </a:t>
                </a:r>
                <a:r>
                  <a:rPr lang="en-US" altLang="ja-JP" dirty="0">
                    <a:solidFill>
                      <a:schemeClr val="accent5"/>
                    </a:solidFill>
                  </a:rPr>
                  <a:t>=</a:t>
                </a:r>
                <a14:m>
                  <m:oMath xmlns:m="http://schemas.openxmlformats.org/officeDocument/2006/math">
                    <m:sSup>
                      <m:sSupPr>
                        <m:ctrlPr>
                          <a:rPr lang="en-US" altLang="ja-JP" i="1" dirty="0">
                            <a:solidFill>
                              <a:schemeClr val="accent5"/>
                            </a:solidFill>
                            <a:latin typeface="Cambria Math" panose="02040503050406030204" pitchFamily="18" charset="0"/>
                          </a:rPr>
                        </m:ctrlPr>
                      </m:sSupPr>
                      <m:e>
                        <m:r>
                          <m:rPr>
                            <m:nor/>
                          </m:rPr>
                          <a:rPr lang="en-US" altLang="ja-JP" dirty="0">
                            <a:solidFill>
                              <a:schemeClr val="accent5"/>
                            </a:solidFill>
                          </a:rPr>
                          <m:t> (</m:t>
                        </m:r>
                        <m:r>
                          <m:rPr>
                            <m:nor/>
                          </m:rPr>
                          <a:rPr lang="ja-JP" altLang="en-US" dirty="0">
                            <a:solidFill>
                              <a:schemeClr val="accent5"/>
                            </a:solidFill>
                          </a:rPr>
                          <m:t>外周部の長さ</m:t>
                        </m:r>
                        <m:r>
                          <a:rPr lang="en-US" altLang="ja-JP" i="1" dirty="0">
                            <a:solidFill>
                              <a:schemeClr val="accent5"/>
                            </a:solidFill>
                            <a:latin typeface="Cambria Math" panose="02040503050406030204" pitchFamily="18" charset="0"/>
                          </a:rPr>
                          <m:t>)</m:t>
                        </m:r>
                      </m:e>
                      <m:sup>
                        <m:r>
                          <a:rPr lang="en-US" altLang="ja-JP" i="1" dirty="0">
                            <a:solidFill>
                              <a:schemeClr val="accent5"/>
                            </a:solidFill>
                            <a:latin typeface="Cambria Math" panose="02040503050406030204" pitchFamily="18" charset="0"/>
                          </a:rPr>
                          <m:t>2</m:t>
                        </m:r>
                      </m:sup>
                    </m:sSup>
                  </m:oMath>
                </a14:m>
                <a:endParaRPr kumimoji="1" lang="en-US" altLang="ja-JP" dirty="0"/>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6816008" y="1088975"/>
                <a:ext cx="3600040" cy="5219751"/>
              </a:xfrm>
              <a:blipFill>
                <a:blip r:embed="rId2"/>
                <a:stretch>
                  <a:fillRect l="-1523" t="-350" r="-1692"/>
                </a:stretch>
              </a:blipFill>
            </p:spPr>
            <p:txBody>
              <a:bodyPr/>
              <a:lstStyle/>
              <a:p>
                <a:r>
                  <a:rPr lang="ja-JP" altLang="en-US">
                    <a:noFill/>
                  </a:rPr>
                  <a:t> </a:t>
                </a:r>
              </a:p>
            </p:txBody>
          </p:sp>
        </mc:Fallback>
      </mc:AlternateContent>
      <p:sp>
        <p:nvSpPr>
          <p:cNvPr id="4" name="正方形/長方形 3"/>
          <p:cNvSpPr/>
          <p:nvPr/>
        </p:nvSpPr>
        <p:spPr>
          <a:xfrm>
            <a:off x="3125996" y="1628983"/>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5" name="正方形/長方形 4"/>
          <p:cNvSpPr/>
          <p:nvPr/>
        </p:nvSpPr>
        <p:spPr>
          <a:xfrm>
            <a:off x="3935993"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6" name="正方形/長方形 5"/>
          <p:cNvSpPr/>
          <p:nvPr/>
        </p:nvSpPr>
        <p:spPr>
          <a:xfrm>
            <a:off x="474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7" name="正方形/長方形 6"/>
          <p:cNvSpPr/>
          <p:nvPr/>
        </p:nvSpPr>
        <p:spPr>
          <a:xfrm>
            <a:off x="5555994" y="162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8" name="直線コネクタ 7"/>
          <p:cNvCxnSpPr/>
          <p:nvPr/>
        </p:nvCxnSpPr>
        <p:spPr>
          <a:xfrm flipV="1">
            <a:off x="2675962" y="1898981"/>
            <a:ext cx="3690032" cy="3"/>
          </a:xfrm>
          <a:prstGeom prst="line">
            <a:avLst/>
          </a:prstGeom>
          <a:ln w="3175"/>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3125993" y="243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10" name="正方形/長方形 9"/>
          <p:cNvSpPr/>
          <p:nvPr/>
        </p:nvSpPr>
        <p:spPr>
          <a:xfrm>
            <a:off x="3935990"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1" name="正方形/長方形 10"/>
          <p:cNvSpPr/>
          <p:nvPr/>
        </p:nvSpPr>
        <p:spPr>
          <a:xfrm>
            <a:off x="474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2" name="正方形/長方形 11"/>
          <p:cNvSpPr/>
          <p:nvPr/>
        </p:nvSpPr>
        <p:spPr>
          <a:xfrm>
            <a:off x="5555991" y="243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cxnSp>
        <p:nvCxnSpPr>
          <p:cNvPr id="13" name="直線コネクタ 12"/>
          <p:cNvCxnSpPr/>
          <p:nvPr/>
        </p:nvCxnSpPr>
        <p:spPr>
          <a:xfrm flipV="1">
            <a:off x="2675963" y="2708978"/>
            <a:ext cx="3690029" cy="15"/>
          </a:xfrm>
          <a:prstGeom prst="line">
            <a:avLst/>
          </a:prstGeom>
          <a:ln w="3175"/>
        </p:spPr>
        <p:style>
          <a:lnRef idx="1">
            <a:schemeClr val="dk1"/>
          </a:lnRef>
          <a:fillRef idx="0">
            <a:schemeClr val="dk1"/>
          </a:fillRef>
          <a:effectRef idx="0">
            <a:schemeClr val="dk1"/>
          </a:effectRef>
          <a:fontRef idx="minor">
            <a:schemeClr val="tx1"/>
          </a:fontRef>
        </p:style>
      </p:cxnSp>
      <p:sp>
        <p:nvSpPr>
          <p:cNvPr id="14" name="正方形/長方形 13"/>
          <p:cNvSpPr/>
          <p:nvPr/>
        </p:nvSpPr>
        <p:spPr>
          <a:xfrm>
            <a:off x="3125993" y="324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5" name="正方形/長方形 14"/>
          <p:cNvSpPr/>
          <p:nvPr/>
        </p:nvSpPr>
        <p:spPr>
          <a:xfrm>
            <a:off x="3935990"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6" name="正方形/長方形 15"/>
          <p:cNvSpPr/>
          <p:nvPr/>
        </p:nvSpPr>
        <p:spPr>
          <a:xfrm>
            <a:off x="474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sp>
        <p:nvSpPr>
          <p:cNvPr id="17" name="正方形/長方形 16"/>
          <p:cNvSpPr/>
          <p:nvPr/>
        </p:nvSpPr>
        <p:spPr>
          <a:xfrm>
            <a:off x="5555991" y="324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18" name="直線コネクタ 17"/>
          <p:cNvCxnSpPr/>
          <p:nvPr/>
        </p:nvCxnSpPr>
        <p:spPr>
          <a:xfrm flipV="1">
            <a:off x="2675963" y="3518977"/>
            <a:ext cx="3690029" cy="24"/>
          </a:xfrm>
          <a:prstGeom prst="line">
            <a:avLst/>
          </a:prstGeom>
          <a:ln w="3175"/>
        </p:spPr>
        <p:style>
          <a:lnRef idx="1">
            <a:schemeClr val="dk1"/>
          </a:lnRef>
          <a:fillRef idx="0">
            <a:schemeClr val="dk1"/>
          </a:fillRef>
          <a:effectRef idx="0">
            <a:schemeClr val="dk1"/>
          </a:effectRef>
          <a:fontRef idx="minor">
            <a:schemeClr val="tx1"/>
          </a:fontRef>
        </p:style>
      </p:cxnSp>
      <p:sp>
        <p:nvSpPr>
          <p:cNvPr id="19" name="正方形/長方形 18"/>
          <p:cNvSpPr/>
          <p:nvPr/>
        </p:nvSpPr>
        <p:spPr>
          <a:xfrm>
            <a:off x="3125993" y="4058980"/>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0" name="正方形/長方形 19"/>
          <p:cNvSpPr/>
          <p:nvPr/>
        </p:nvSpPr>
        <p:spPr>
          <a:xfrm>
            <a:off x="3935990"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1" name="正方形/長方形 20"/>
          <p:cNvSpPr/>
          <p:nvPr/>
        </p:nvSpPr>
        <p:spPr>
          <a:xfrm>
            <a:off x="474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1</a:t>
            </a:r>
            <a:endParaRPr lang="ja-JP" altLang="en-US" sz="1600" dirty="0">
              <a:latin typeface="Arial Narrow" pitchFamily="34" charset="0"/>
            </a:endParaRPr>
          </a:p>
        </p:txBody>
      </p:sp>
      <p:sp>
        <p:nvSpPr>
          <p:cNvPr id="22" name="正方形/長方形 21"/>
          <p:cNvSpPr/>
          <p:nvPr/>
        </p:nvSpPr>
        <p:spPr>
          <a:xfrm>
            <a:off x="5555991" y="4058977"/>
            <a:ext cx="540000" cy="5400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sz="1600" dirty="0">
                <a:latin typeface="Arial Narrow" pitchFamily="34" charset="0"/>
              </a:rPr>
              <a:t>0</a:t>
            </a:r>
            <a:endParaRPr lang="ja-JP" altLang="en-US" sz="1600" dirty="0">
              <a:latin typeface="Arial Narrow" pitchFamily="34" charset="0"/>
            </a:endParaRPr>
          </a:p>
        </p:txBody>
      </p:sp>
      <p:cxnSp>
        <p:nvCxnSpPr>
          <p:cNvPr id="23" name="直線コネクタ 22"/>
          <p:cNvCxnSpPr/>
          <p:nvPr/>
        </p:nvCxnSpPr>
        <p:spPr>
          <a:xfrm flipV="1">
            <a:off x="2675963" y="4328978"/>
            <a:ext cx="3690029" cy="33"/>
          </a:xfrm>
          <a:prstGeom prst="line">
            <a:avLst/>
          </a:prstGeom>
          <a:ln w="3175"/>
        </p:spPr>
        <p:style>
          <a:lnRef idx="1">
            <a:schemeClr val="dk1"/>
          </a:lnRef>
          <a:fillRef idx="0">
            <a:schemeClr val="dk1"/>
          </a:fillRef>
          <a:effectRef idx="0">
            <a:schemeClr val="dk1"/>
          </a:effectRef>
          <a:fontRef idx="minor">
            <a:schemeClr val="tx1"/>
          </a:fontRef>
        </p:style>
      </p:cxnSp>
      <p:cxnSp>
        <p:nvCxnSpPr>
          <p:cNvPr id="24" name="直線コネクタ 23"/>
          <p:cNvCxnSpPr/>
          <p:nvPr/>
        </p:nvCxnSpPr>
        <p:spPr>
          <a:xfrm flipV="1">
            <a:off x="339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4205994"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直線コネクタ 25"/>
          <p:cNvCxnSpPr/>
          <p:nvPr/>
        </p:nvCxnSpPr>
        <p:spPr>
          <a:xfrm flipV="1">
            <a:off x="501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cxnSp>
        <p:nvCxnSpPr>
          <p:cNvPr id="27" name="直線コネクタ 26"/>
          <p:cNvCxnSpPr/>
          <p:nvPr/>
        </p:nvCxnSpPr>
        <p:spPr>
          <a:xfrm flipV="1">
            <a:off x="5825995" y="1358984"/>
            <a:ext cx="3" cy="3779997"/>
          </a:xfrm>
          <a:prstGeom prst="line">
            <a:avLst/>
          </a:prstGeom>
          <a:ln w="3175"/>
        </p:spPr>
        <p:style>
          <a:lnRef idx="1">
            <a:schemeClr val="dk1"/>
          </a:lnRef>
          <a:fillRef idx="0">
            <a:schemeClr val="dk1"/>
          </a:fillRef>
          <a:effectRef idx="0">
            <a:schemeClr val="dk1"/>
          </a:effectRef>
          <a:fontRef idx="minor">
            <a:schemeClr val="tx1"/>
          </a:fontRef>
        </p:style>
      </p:cxnSp>
      <p:sp>
        <p:nvSpPr>
          <p:cNvPr id="28" name="台形 27"/>
          <p:cNvSpPr/>
          <p:nvPr/>
        </p:nvSpPr>
        <p:spPr>
          <a:xfrm flipV="1">
            <a:off x="3125993" y="5138978"/>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cxnSp>
        <p:nvCxnSpPr>
          <p:cNvPr id="29" name="直線コネクタ 28"/>
          <p:cNvCxnSpPr/>
          <p:nvPr/>
        </p:nvCxnSpPr>
        <p:spPr>
          <a:xfrm flipV="1">
            <a:off x="4585975" y="5408980"/>
            <a:ext cx="0" cy="540000"/>
          </a:xfrm>
          <a:prstGeom prst="line">
            <a:avLst/>
          </a:prstGeom>
          <a:ln w="3175">
            <a:headEnd type="triangle"/>
          </a:ln>
        </p:spPr>
        <p:style>
          <a:lnRef idx="1">
            <a:schemeClr val="dk1"/>
          </a:lnRef>
          <a:fillRef idx="0">
            <a:schemeClr val="dk1"/>
          </a:fillRef>
          <a:effectRef idx="0">
            <a:schemeClr val="dk1"/>
          </a:effectRef>
          <a:fontRef idx="minor">
            <a:schemeClr val="tx1"/>
          </a:fontRef>
        </p:style>
      </p:cxnSp>
      <p:sp>
        <p:nvSpPr>
          <p:cNvPr id="30" name="正方形/長方形 29"/>
          <p:cNvSpPr/>
          <p:nvPr/>
        </p:nvSpPr>
        <p:spPr>
          <a:xfrm rot="16200000">
            <a:off x="5466004" y="324898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lines</a:t>
            </a:r>
            <a:endParaRPr lang="ja-JP" altLang="en-US" sz="1600" dirty="0">
              <a:latin typeface="Arial Narrow" pitchFamily="34" charset="0"/>
            </a:endParaRPr>
          </a:p>
        </p:txBody>
      </p:sp>
      <p:sp>
        <p:nvSpPr>
          <p:cNvPr id="31" name="正方形/長方形 30"/>
          <p:cNvSpPr/>
          <p:nvPr/>
        </p:nvSpPr>
        <p:spPr>
          <a:xfrm>
            <a:off x="5735997" y="1358978"/>
            <a:ext cx="1080001"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cell</a:t>
            </a:r>
            <a:endParaRPr lang="ja-JP" altLang="en-US" sz="1600" dirty="0">
              <a:latin typeface="Arial Narrow" pitchFamily="34" charset="0"/>
            </a:endParaRPr>
          </a:p>
        </p:txBody>
      </p:sp>
      <p:sp>
        <p:nvSpPr>
          <p:cNvPr id="32" name="台形 31"/>
          <p:cNvSpPr/>
          <p:nvPr/>
        </p:nvSpPr>
        <p:spPr>
          <a:xfrm rot="5400000" flipV="1">
            <a:off x="1055957" y="2978984"/>
            <a:ext cx="2970002" cy="269997"/>
          </a:xfrm>
          <a:prstGeom prst="trapezoid">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Arial Narrow" pitchFamily="34" charset="0"/>
            </a:endParaRPr>
          </a:p>
        </p:txBody>
      </p:sp>
      <p:sp>
        <p:nvSpPr>
          <p:cNvPr id="33" name="正方形/長方形 32"/>
          <p:cNvSpPr/>
          <p:nvPr/>
        </p:nvSpPr>
        <p:spPr>
          <a:xfrm>
            <a:off x="3395970" y="4959018"/>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column selector</a:t>
            </a:r>
            <a:endParaRPr lang="ja-JP" altLang="en-US" sz="1600" dirty="0">
              <a:latin typeface="Arial Narrow" pitchFamily="34" charset="0"/>
            </a:endParaRPr>
          </a:p>
        </p:txBody>
      </p:sp>
      <p:sp>
        <p:nvSpPr>
          <p:cNvPr id="34" name="正方形/長方形 33"/>
          <p:cNvSpPr/>
          <p:nvPr/>
        </p:nvSpPr>
        <p:spPr>
          <a:xfrm rot="16200000">
            <a:off x="1280957" y="2663981"/>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decoder</a:t>
            </a:r>
            <a:endParaRPr lang="ja-JP" altLang="en-US" sz="1600" dirty="0">
              <a:latin typeface="Arial Narrow" pitchFamily="34" charset="0"/>
            </a:endParaRPr>
          </a:p>
        </p:txBody>
      </p:sp>
      <p:cxnSp>
        <p:nvCxnSpPr>
          <p:cNvPr id="35" name="直線コネクタ 34"/>
          <p:cNvCxnSpPr/>
          <p:nvPr/>
        </p:nvCxnSpPr>
        <p:spPr>
          <a:xfrm flipV="1">
            <a:off x="1595951" y="3068996"/>
            <a:ext cx="810009" cy="34"/>
          </a:xfrm>
          <a:prstGeom prst="line">
            <a:avLst/>
          </a:prstGeom>
          <a:ln w="3175">
            <a:tailEnd type="triangle"/>
          </a:ln>
        </p:spPr>
        <p:style>
          <a:lnRef idx="1">
            <a:schemeClr val="dk1"/>
          </a:lnRef>
          <a:fillRef idx="0">
            <a:schemeClr val="dk1"/>
          </a:fillRef>
          <a:effectRef idx="0">
            <a:schemeClr val="dk1"/>
          </a:effectRef>
          <a:fontRef idx="minor">
            <a:schemeClr val="tx1"/>
          </a:fontRef>
        </p:style>
      </p:cxnSp>
      <p:sp>
        <p:nvSpPr>
          <p:cNvPr id="36" name="正方形/長方形 35"/>
          <p:cNvSpPr/>
          <p:nvPr/>
        </p:nvSpPr>
        <p:spPr>
          <a:xfrm>
            <a:off x="3305969" y="5769027"/>
            <a:ext cx="2430002"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data</a:t>
            </a:r>
            <a:endParaRPr lang="ja-JP" altLang="en-US" sz="1600" dirty="0">
              <a:latin typeface="Arial Narrow" pitchFamily="34" charset="0"/>
            </a:endParaRPr>
          </a:p>
        </p:txBody>
      </p:sp>
      <p:cxnSp>
        <p:nvCxnSpPr>
          <p:cNvPr id="38" name="直線コネクタ 37"/>
          <p:cNvCxnSpPr/>
          <p:nvPr/>
        </p:nvCxnSpPr>
        <p:spPr bwMode="auto">
          <a:xfrm>
            <a:off x="1595950" y="2978995"/>
            <a:ext cx="900010" cy="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39" name="直線コネクタ 38"/>
          <p:cNvCxnSpPr/>
          <p:nvPr/>
        </p:nvCxnSpPr>
        <p:spPr bwMode="auto">
          <a:xfrm flipV="1">
            <a:off x="2495960" y="1898983"/>
            <a:ext cx="0" cy="1080012"/>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41" name="直線コネクタ 40"/>
          <p:cNvCxnSpPr/>
          <p:nvPr/>
        </p:nvCxnSpPr>
        <p:spPr bwMode="auto">
          <a:xfrm flipH="1">
            <a:off x="2495961" y="1898984"/>
            <a:ext cx="3330037" cy="1"/>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45" name="直線コネクタ 44"/>
          <p:cNvCxnSpPr/>
          <p:nvPr/>
        </p:nvCxnSpPr>
        <p:spPr bwMode="auto">
          <a:xfrm flipV="1">
            <a:off x="5825998" y="1898986"/>
            <a:ext cx="1" cy="3330035"/>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47" name="直線コネクタ 46"/>
          <p:cNvCxnSpPr/>
          <p:nvPr/>
        </p:nvCxnSpPr>
        <p:spPr bwMode="auto">
          <a:xfrm>
            <a:off x="4565983" y="5229020"/>
            <a:ext cx="0" cy="720008"/>
          </a:xfrm>
          <a:prstGeom prst="line">
            <a:avLst/>
          </a:prstGeom>
          <a:ln>
            <a:headEnd type="none" w="med" len="med"/>
            <a:tailEnd type="triangle" w="med" len="med"/>
          </a:ln>
        </p:spPr>
        <p:style>
          <a:lnRef idx="3">
            <a:schemeClr val="accent6"/>
          </a:lnRef>
          <a:fillRef idx="0">
            <a:schemeClr val="accent6"/>
          </a:fillRef>
          <a:effectRef idx="2">
            <a:schemeClr val="accent6"/>
          </a:effectRef>
          <a:fontRef idx="minor">
            <a:schemeClr val="tx1"/>
          </a:fontRef>
        </p:style>
      </p:cxnSp>
      <p:cxnSp>
        <p:nvCxnSpPr>
          <p:cNvPr id="48" name="直線コネクタ 47"/>
          <p:cNvCxnSpPr/>
          <p:nvPr/>
        </p:nvCxnSpPr>
        <p:spPr bwMode="auto">
          <a:xfrm>
            <a:off x="4565983" y="5229021"/>
            <a:ext cx="1260014" cy="1"/>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811074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アクセス時間は容量に直接は比例しない</a:t>
            </a:r>
            <a:br>
              <a:rPr kumimoji="1" lang="en-US" altLang="ja-JP" dirty="0"/>
            </a:br>
            <a:r>
              <a:rPr lang="ja-JP" altLang="en-US" sz="2000" dirty="0"/>
              <a:t>（容量の平方根ぐらいに比例</a:t>
            </a:r>
            <a:endParaRPr kumimoji="1" lang="ja-JP" altLang="en-US" dirty="0"/>
          </a:p>
        </p:txBody>
      </p:sp>
      <mc:AlternateContent xmlns:mc="http://schemas.openxmlformats.org/markup-compatibility/2006">
        <mc:Choice xmlns:a14="http://schemas.microsoft.com/office/drawing/2010/main" Requires="a14">
          <p:sp>
            <p:nvSpPr>
              <p:cNvPr id="3" name="テキスト プレースホルダー 2"/>
              <p:cNvSpPr>
                <a:spLocks noGrp="1"/>
              </p:cNvSpPr>
              <p:nvPr>
                <p:ph type="body" sz="quarter" idx="10"/>
              </p:nvPr>
            </p:nvSpPr>
            <p:spPr>
              <a:xfrm>
                <a:off x="2135956" y="4959017"/>
                <a:ext cx="8280092" cy="1349708"/>
              </a:xfrm>
            </p:spPr>
            <p:txBody>
              <a:bodyPr/>
              <a:lstStyle/>
              <a:p>
                <a:r>
                  <a:rPr kumimoji="1" lang="ja-JP" altLang="en-US" dirty="0"/>
                  <a:t>格子状に並んだセルの外周部の長さがアクセス時間を決めるから</a:t>
                </a:r>
                <a:endParaRPr kumimoji="1" lang="en-US" altLang="ja-JP" dirty="0"/>
              </a:p>
              <a:p>
                <a:pPr lvl="1"/>
                <a:r>
                  <a:rPr kumimoji="1" lang="ja-JP" altLang="en-US" dirty="0"/>
                  <a:t>メモリ容量 </a:t>
                </a:r>
                <a:r>
                  <a:rPr kumimoji="1" lang="en-US" altLang="ja-JP" dirty="0"/>
                  <a:t>=</a:t>
                </a:r>
                <a14:m>
                  <m:oMath xmlns:m="http://schemas.openxmlformats.org/officeDocument/2006/math">
                    <m:sSup>
                      <m:sSupPr>
                        <m:ctrlPr>
                          <a:rPr kumimoji="1" lang="en-US" altLang="ja-JP" b="0" i="1" dirty="0" smtClean="0">
                            <a:latin typeface="Cambria Math" panose="02040503050406030204" pitchFamily="18" charset="0"/>
                          </a:rPr>
                        </m:ctrlPr>
                      </m:sSupPr>
                      <m:e>
                        <m:r>
                          <m:rPr>
                            <m:nor/>
                          </m:rPr>
                          <a:rPr lang="en-US" altLang="ja-JP" dirty="0"/>
                          <m:t> (</m:t>
                        </m:r>
                        <m:r>
                          <m:rPr>
                            <m:nor/>
                          </m:rPr>
                          <a:rPr lang="ja-JP" altLang="en-US" dirty="0"/>
                          <m:t>外周部の長さ</m:t>
                        </m:r>
                        <m:r>
                          <a:rPr lang="en-US" altLang="ja-JP" i="1" dirty="0">
                            <a:latin typeface="Cambria Math" panose="02040503050406030204" pitchFamily="18" charset="0"/>
                          </a:rPr>
                          <m:t>)</m:t>
                        </m:r>
                      </m:e>
                      <m:sup>
                        <m:r>
                          <a:rPr kumimoji="1" lang="en-US" altLang="ja-JP" i="1" dirty="0" smtClean="0">
                            <a:latin typeface="Cambria Math" panose="02040503050406030204" pitchFamily="18" charset="0"/>
                          </a:rPr>
                          <m:t>2</m:t>
                        </m:r>
                      </m:sup>
                    </m:sSup>
                  </m:oMath>
                </a14:m>
                <a:endParaRPr kumimoji="1" lang="en-US" altLang="ja-JP" dirty="0"/>
              </a:p>
              <a:p>
                <a:pPr lvl="1"/>
                <a:r>
                  <a:rPr kumimoji="1" lang="ja-JP" altLang="en-US" dirty="0"/>
                  <a:t>アクセス時間は，容量に対して線形には伸びない</a:t>
                </a:r>
              </a:p>
            </p:txBody>
          </p:sp>
        </mc:Choice>
        <mc:Fallback>
          <p:sp>
            <p:nvSpPr>
              <p:cNvPr id="3" name="テキスト プレースホルダー 2"/>
              <p:cNvSpPr>
                <a:spLocks noGrp="1" noRot="1" noChangeAspect="1" noMove="1" noResize="1" noEditPoints="1" noAdjustHandles="1" noChangeArrowheads="1" noChangeShapeType="1" noTextEdit="1"/>
              </p:cNvSpPr>
              <p:nvPr>
                <p:ph type="body" sz="quarter" idx="10"/>
              </p:nvPr>
            </p:nvSpPr>
            <p:spPr>
              <a:xfrm>
                <a:off x="2135956" y="4959017"/>
                <a:ext cx="8280092" cy="1349708"/>
              </a:xfrm>
              <a:blipFill>
                <a:blip r:embed="rId2"/>
                <a:stretch>
                  <a:fillRect l="-662" b="-5856"/>
                </a:stretch>
              </a:blipFill>
            </p:spPr>
            <p:txBody>
              <a:bodyPr/>
              <a:lstStyle/>
              <a:p>
                <a:r>
                  <a:rPr lang="ja-JP" altLang="en-US">
                    <a:noFill/>
                  </a:rPr>
                  <a:t> </a:t>
                </a:r>
              </a:p>
            </p:txBody>
          </p:sp>
        </mc:Fallback>
      </mc:AlternateContent>
      <p:sp>
        <p:nvSpPr>
          <p:cNvPr id="4" name="下矢印 3"/>
          <p:cNvSpPr/>
          <p:nvPr/>
        </p:nvSpPr>
        <p:spPr bwMode="auto">
          <a:xfrm>
            <a:off x="5285991" y="2348988"/>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4385981" y="2798994"/>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tx1">
                    <a:lumMod val="75000"/>
                    <a:lumOff val="25000"/>
                  </a:schemeClr>
                </a:solidFill>
                <a:latin typeface="+mn-ea"/>
              </a:rPr>
              <a:t>メインメモリ：</a:t>
            </a:r>
            <a:r>
              <a:rPr lang="en-US" altLang="ja-JP" sz="1600" b="1" dirty="0">
                <a:solidFill>
                  <a:schemeClr val="tx1">
                    <a:lumMod val="75000"/>
                    <a:lumOff val="25000"/>
                  </a:schemeClr>
                </a:solidFill>
                <a:latin typeface="+mn-ea"/>
              </a:rPr>
              <a:t>32GB</a:t>
            </a:r>
            <a:endParaRPr lang="ja-JP" altLang="en-US" sz="1600" b="1" dirty="0">
              <a:solidFill>
                <a:schemeClr val="tx1">
                  <a:lumMod val="75000"/>
                  <a:lumOff val="25000"/>
                </a:schemeClr>
              </a:solidFill>
              <a:latin typeface="+mn-ea"/>
            </a:endParaRPr>
          </a:p>
        </p:txBody>
      </p:sp>
      <p:sp>
        <p:nvSpPr>
          <p:cNvPr id="6" name="角丸四角形 5"/>
          <p:cNvSpPr/>
          <p:nvPr/>
        </p:nvSpPr>
        <p:spPr bwMode="auto">
          <a:xfrm>
            <a:off x="4745985" y="1718981"/>
            <a:ext cx="1440016"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b="1" dirty="0">
                <a:solidFill>
                  <a:schemeClr val="tx1">
                    <a:lumMod val="75000"/>
                    <a:lumOff val="25000"/>
                  </a:schemeClr>
                </a:solidFill>
                <a:latin typeface="+mn-ea"/>
              </a:rPr>
              <a:t>CPU</a:t>
            </a:r>
            <a:r>
              <a:rPr lang="ja-JP" altLang="en-US" sz="1600" b="1" dirty="0">
                <a:solidFill>
                  <a:schemeClr val="tx1">
                    <a:lumMod val="75000"/>
                    <a:lumOff val="25000"/>
                  </a:schemeClr>
                </a:solidFill>
                <a:latin typeface="+mn-ea"/>
              </a:rPr>
              <a:t>内：</a:t>
            </a:r>
            <a:r>
              <a:rPr lang="en-US" altLang="ja-JP" sz="1600" b="1" dirty="0">
                <a:solidFill>
                  <a:schemeClr val="tx1">
                    <a:lumMod val="75000"/>
                    <a:lumOff val="25000"/>
                  </a:schemeClr>
                </a:solidFill>
                <a:latin typeface="+mn-ea"/>
              </a:rPr>
              <a:t>32KB</a:t>
            </a:r>
            <a:endParaRPr lang="ja-JP" altLang="en-US" sz="1600" b="1" dirty="0">
              <a:solidFill>
                <a:schemeClr val="tx1">
                  <a:lumMod val="75000"/>
                  <a:lumOff val="25000"/>
                </a:schemeClr>
              </a:solidFill>
              <a:latin typeface="+mn-ea"/>
            </a:endParaRPr>
          </a:p>
        </p:txBody>
      </p:sp>
      <p:sp>
        <p:nvSpPr>
          <p:cNvPr id="7" name="正方形/長方形 6"/>
          <p:cNvSpPr/>
          <p:nvPr/>
        </p:nvSpPr>
        <p:spPr>
          <a:xfrm>
            <a:off x="6816009" y="1808982"/>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1ns</a:t>
            </a:r>
            <a:endParaRPr lang="ja-JP" altLang="en-US" sz="2000" dirty="0">
              <a:solidFill>
                <a:schemeClr val="tx1">
                  <a:lumMod val="75000"/>
                  <a:lumOff val="25000"/>
                </a:schemeClr>
              </a:solidFill>
            </a:endParaRPr>
          </a:p>
        </p:txBody>
      </p:sp>
      <p:sp>
        <p:nvSpPr>
          <p:cNvPr id="8" name="正方形/長方形 7"/>
          <p:cNvSpPr/>
          <p:nvPr/>
        </p:nvSpPr>
        <p:spPr>
          <a:xfrm>
            <a:off x="6816009" y="2978995"/>
            <a:ext cx="424189" cy="400110"/>
          </a:xfrm>
          <a:prstGeom prst="rect">
            <a:avLst/>
          </a:prstGeom>
        </p:spPr>
        <p:txBody>
          <a:bodyPr wrap="none">
            <a:noAutofit/>
          </a:bodyPr>
          <a:lstStyle/>
          <a:p>
            <a:pPr marL="0" lvl="1"/>
            <a:r>
              <a:rPr lang="ja-JP" altLang="en-US" sz="2000" dirty="0">
                <a:solidFill>
                  <a:schemeClr val="tx1">
                    <a:lumMod val="75000"/>
                    <a:lumOff val="25000"/>
                  </a:schemeClr>
                </a:solidFill>
              </a:rPr>
              <a:t>数百</a:t>
            </a:r>
            <a:r>
              <a:rPr lang="en-US" altLang="ja-JP" sz="2000" dirty="0">
                <a:solidFill>
                  <a:schemeClr val="tx1">
                    <a:lumMod val="75000"/>
                    <a:lumOff val="25000"/>
                  </a:schemeClr>
                </a:solidFill>
              </a:rPr>
              <a:t>ns</a:t>
            </a:r>
            <a:endParaRPr lang="ja-JP" altLang="en-US" sz="2000" dirty="0">
              <a:solidFill>
                <a:schemeClr val="tx1">
                  <a:lumMod val="75000"/>
                  <a:lumOff val="25000"/>
                </a:schemeClr>
              </a:solidFill>
            </a:endParaRPr>
          </a:p>
        </p:txBody>
      </p:sp>
    </p:spTree>
    <p:extLst>
      <p:ext uri="{BB962C8B-B14F-4D97-AF65-F5344CB8AC3E}">
        <p14:creationId xmlns:p14="http://schemas.microsoft.com/office/powerpoint/2010/main" val="1267267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速度</a:t>
            </a:r>
          </a:p>
        </p:txBody>
      </p:sp>
      <p:sp>
        <p:nvSpPr>
          <p:cNvPr id="3" name="テキスト プレースホルダー 2"/>
          <p:cNvSpPr>
            <a:spLocks noGrp="1"/>
          </p:cNvSpPr>
          <p:nvPr>
            <p:ph type="body" sz="quarter" idx="10"/>
          </p:nvPr>
        </p:nvSpPr>
        <p:spPr>
          <a:xfrm>
            <a:off x="1865953" y="1088975"/>
            <a:ext cx="8640096" cy="5219751"/>
          </a:xfrm>
        </p:spPr>
        <p:txBody>
          <a:bodyPr/>
          <a:lstStyle/>
          <a:p>
            <a:r>
              <a:rPr kumimoji="1" lang="ja-JP" altLang="en-US" dirty="0"/>
              <a:t>信号線の長さがなぜ問題に？</a:t>
            </a:r>
            <a:endParaRPr kumimoji="1" lang="en-US" altLang="ja-JP" dirty="0"/>
          </a:p>
          <a:p>
            <a:pPr lvl="1"/>
            <a:r>
              <a:rPr lang="ja-JP" altLang="en-US" dirty="0"/>
              <a:t>電気信号が伝わる速度はとても速いのでは？</a:t>
            </a:r>
            <a:r>
              <a:rPr lang="en-US" altLang="ja-JP" dirty="0"/>
              <a:t>	</a:t>
            </a:r>
          </a:p>
          <a:p>
            <a:r>
              <a:rPr kumimoji="1" lang="ja-JP" altLang="en-US" dirty="0"/>
              <a:t>計算してみる：</a:t>
            </a:r>
            <a:endParaRPr kumimoji="1" lang="en-US" altLang="ja-JP" dirty="0"/>
          </a:p>
          <a:p>
            <a:pPr lvl="1"/>
            <a:r>
              <a:rPr kumimoji="1" lang="ja-JP" altLang="en-US" dirty="0"/>
              <a:t>光の速度：</a:t>
            </a:r>
            <a:r>
              <a:rPr kumimoji="1" lang="en-US" altLang="ja-JP" dirty="0"/>
              <a:t>		</a:t>
            </a:r>
            <a:r>
              <a:rPr kumimoji="1" lang="ja-JP" altLang="en-US" dirty="0"/>
              <a:t> 秒速 </a:t>
            </a:r>
            <a:r>
              <a:rPr kumimoji="1" lang="en-US" altLang="ja-JP" dirty="0"/>
              <a:t>30</a:t>
            </a:r>
            <a:r>
              <a:rPr kumimoji="1" lang="ja-JP" altLang="en-US" dirty="0"/>
              <a:t>万</a:t>
            </a:r>
            <a:r>
              <a:rPr kumimoji="1" lang="en-US" altLang="ja-JP" dirty="0"/>
              <a:t>Km</a:t>
            </a:r>
            <a:r>
              <a:rPr kumimoji="1" lang="ja-JP" altLang="en-US" dirty="0"/>
              <a:t>  </a:t>
            </a:r>
            <a:r>
              <a:rPr kumimoji="1" lang="en-US" altLang="ja-JP" dirty="0"/>
              <a:t>=  </a:t>
            </a:r>
            <a:r>
              <a:rPr kumimoji="1" lang="en-US" altLang="ja-JP" dirty="0">
                <a:solidFill>
                  <a:schemeClr val="accent5"/>
                </a:solidFill>
              </a:rPr>
              <a:t>3×10^8</a:t>
            </a:r>
            <a:r>
              <a:rPr kumimoji="1" lang="en-US" altLang="ja-JP" dirty="0"/>
              <a:t> m</a:t>
            </a:r>
          </a:p>
          <a:p>
            <a:pPr lvl="1"/>
            <a:r>
              <a:rPr lang="en-US" altLang="ja-JP" dirty="0"/>
              <a:t>CPU </a:t>
            </a:r>
            <a:r>
              <a:rPr lang="ja-JP" altLang="en-US" dirty="0"/>
              <a:t>の動作周波数：　　  </a:t>
            </a:r>
            <a:r>
              <a:rPr lang="en-US" altLang="ja-JP" dirty="0"/>
              <a:t>3GHz      =  </a:t>
            </a:r>
            <a:r>
              <a:rPr lang="en-US" altLang="ja-JP" dirty="0">
                <a:solidFill>
                  <a:schemeClr val="accent3">
                    <a:lumMod val="75000"/>
                  </a:schemeClr>
                </a:solidFill>
              </a:rPr>
              <a:t>3×10^9</a:t>
            </a:r>
            <a:r>
              <a:rPr lang="en-US" altLang="ja-JP" dirty="0">
                <a:solidFill>
                  <a:schemeClr val="accent6"/>
                </a:solidFill>
              </a:rPr>
              <a:t> </a:t>
            </a:r>
            <a:r>
              <a:rPr lang="en-US" altLang="ja-JP" dirty="0"/>
              <a:t>Hz</a:t>
            </a:r>
          </a:p>
          <a:p>
            <a:pPr lvl="1"/>
            <a:r>
              <a:rPr kumimoji="1" lang="en-US" altLang="ja-JP" dirty="0"/>
              <a:t>1</a:t>
            </a:r>
            <a:r>
              <a:rPr kumimoji="1" lang="ja-JP" altLang="en-US" dirty="0"/>
              <a:t>回の処理で光が進める長さ </a:t>
            </a:r>
            <a:r>
              <a:rPr kumimoji="1" lang="en-US" altLang="ja-JP" dirty="0"/>
              <a:t>= (</a:t>
            </a:r>
            <a:r>
              <a:rPr lang="en-US" altLang="ja-JP" dirty="0">
                <a:solidFill>
                  <a:schemeClr val="accent5"/>
                </a:solidFill>
              </a:rPr>
              <a:t>3×10^8</a:t>
            </a:r>
            <a:r>
              <a:rPr lang="en-US" altLang="ja-JP" dirty="0"/>
              <a:t>) / (</a:t>
            </a:r>
            <a:r>
              <a:rPr lang="en-US" altLang="ja-JP" dirty="0">
                <a:solidFill>
                  <a:schemeClr val="accent3">
                    <a:lumMod val="75000"/>
                  </a:schemeClr>
                </a:solidFill>
              </a:rPr>
              <a:t>3×10^9</a:t>
            </a:r>
            <a:r>
              <a:rPr lang="en-US" altLang="ja-JP" dirty="0"/>
              <a:t>) = </a:t>
            </a:r>
            <a:r>
              <a:rPr lang="en-US" altLang="ja-JP" dirty="0">
                <a:solidFill>
                  <a:schemeClr val="accent6"/>
                </a:solidFill>
              </a:rPr>
              <a:t>0.1m</a:t>
            </a:r>
            <a:r>
              <a:rPr lang="en-US" altLang="ja-JP" dirty="0"/>
              <a:t> = </a:t>
            </a:r>
            <a:r>
              <a:rPr lang="en-US" altLang="ja-JP" dirty="0">
                <a:solidFill>
                  <a:schemeClr val="accent6"/>
                </a:solidFill>
              </a:rPr>
              <a:t>10cm</a:t>
            </a:r>
          </a:p>
          <a:p>
            <a:r>
              <a:rPr kumimoji="1" lang="ja-JP" altLang="en-US" dirty="0"/>
              <a:t>光の速度でも大して進めないぐらい，今のコンピュータは速い</a:t>
            </a:r>
            <a:endParaRPr kumimoji="1" lang="en-US" altLang="ja-JP" dirty="0"/>
          </a:p>
          <a:p>
            <a:pPr lvl="1"/>
            <a:r>
              <a:rPr kumimoji="1" lang="ja-JP" altLang="en-US" dirty="0"/>
              <a:t>回路中の電気信号の伝達は光よりもだいぶ遅い</a:t>
            </a:r>
          </a:p>
        </p:txBody>
      </p:sp>
    </p:spTree>
    <p:extLst>
      <p:ext uri="{BB962C8B-B14F-4D97-AF65-F5344CB8AC3E}">
        <p14:creationId xmlns:p14="http://schemas.microsoft.com/office/powerpoint/2010/main" val="27202013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メモリの速度と容量のまとめ</a:t>
            </a:r>
          </a:p>
        </p:txBody>
      </p:sp>
      <p:sp>
        <p:nvSpPr>
          <p:cNvPr id="3" name="テキスト プレースホルダー 2"/>
          <p:cNvSpPr>
            <a:spLocks noGrp="1"/>
          </p:cNvSpPr>
          <p:nvPr>
            <p:ph type="body" sz="quarter" idx="10"/>
          </p:nvPr>
        </p:nvSpPr>
        <p:spPr>
          <a:xfrm>
            <a:off x="1955954" y="1088975"/>
            <a:ext cx="8460094" cy="5219751"/>
          </a:xfrm>
        </p:spPr>
        <p:txBody>
          <a:bodyPr/>
          <a:lstStyle/>
          <a:p>
            <a:r>
              <a:rPr kumimoji="1" lang="ja-JP" altLang="en-US" dirty="0">
                <a:solidFill>
                  <a:schemeClr val="accent5"/>
                </a:solidFill>
              </a:rPr>
              <a:t>速さと大きさにはトレードオフがある</a:t>
            </a:r>
            <a:endParaRPr kumimoji="1" lang="en-US" altLang="ja-JP" dirty="0">
              <a:solidFill>
                <a:schemeClr val="accent5"/>
              </a:solidFill>
            </a:endParaRPr>
          </a:p>
          <a:p>
            <a:pPr lvl="1"/>
            <a:r>
              <a:rPr kumimoji="1" lang="ja-JP" altLang="en-US" dirty="0"/>
              <a:t>「大きくて遅いメモリ」か「小さくて速いメモリ」しか作れない</a:t>
            </a:r>
            <a:endParaRPr kumimoji="1" lang="en-US" altLang="ja-JP" dirty="0"/>
          </a:p>
          <a:p>
            <a:pPr lvl="1"/>
            <a:r>
              <a:rPr kumimoji="1" lang="ja-JP" altLang="en-US" dirty="0"/>
              <a:t>容量を大きくすると，その分メモリ内の信号線が伸びる</a:t>
            </a:r>
            <a:endParaRPr kumimoji="1" lang="en-US" altLang="ja-JP" dirty="0"/>
          </a:p>
          <a:p>
            <a:r>
              <a:rPr kumimoji="1" lang="ja-JP" altLang="en-US" dirty="0"/>
              <a:t>実際には，セルをどのような方式で作るかでも大きく変わる</a:t>
            </a:r>
            <a:endParaRPr kumimoji="1" lang="en-US" altLang="ja-JP" dirty="0"/>
          </a:p>
          <a:p>
            <a:pPr lvl="1"/>
            <a:r>
              <a:rPr kumimoji="1" lang="ja-JP" altLang="en-US" dirty="0"/>
              <a:t>しかし，上記のトレードオフは常になりたつ</a:t>
            </a:r>
          </a:p>
        </p:txBody>
      </p:sp>
    </p:spTree>
    <p:extLst>
      <p:ext uri="{BB962C8B-B14F-4D97-AF65-F5344CB8AC3E}">
        <p14:creationId xmlns:p14="http://schemas.microsoft.com/office/powerpoint/2010/main" val="31974594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dirty="0"/>
              <a:t>アクセス時間</a:t>
            </a:r>
            <a:endParaRPr lang="en-US" altLang="ja-JP" dirty="0"/>
          </a:p>
          <a:p>
            <a:pPr marL="457200" indent="-457200">
              <a:buFont typeface="+mj-lt"/>
              <a:buAutoNum type="arabicPeriod"/>
            </a:pPr>
            <a:r>
              <a:rPr lang="ja-JP" altLang="en-US" b="1" dirty="0"/>
              <a:t>メモリの詳細</a:t>
            </a:r>
            <a:endParaRPr lang="en-US" altLang="ja-JP" b="1"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dirty="0"/>
              <a:t>なぜメモリが存在するのか？</a:t>
            </a:r>
          </a:p>
        </p:txBody>
      </p:sp>
    </p:spTree>
    <p:extLst>
      <p:ext uri="{BB962C8B-B14F-4D97-AF65-F5344CB8AC3E}">
        <p14:creationId xmlns:p14="http://schemas.microsoft.com/office/powerpoint/2010/main" val="3328641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メモリのバリエーション</a:t>
            </a:r>
          </a:p>
        </p:txBody>
      </p:sp>
      <p:sp>
        <p:nvSpPr>
          <p:cNvPr id="3" name="テキスト プレースホルダー 2"/>
          <p:cNvSpPr>
            <a:spLocks noGrp="1"/>
          </p:cNvSpPr>
          <p:nvPr>
            <p:ph type="body" sz="quarter" idx="10"/>
          </p:nvPr>
        </p:nvSpPr>
        <p:spPr/>
        <p:txBody>
          <a:bodyPr/>
          <a:lstStyle/>
          <a:p>
            <a:r>
              <a:rPr kumimoji="1" lang="ja-JP" altLang="en-US" dirty="0"/>
              <a:t>メモリは基本的にはみな同じ構造を取る</a:t>
            </a:r>
            <a:endParaRPr kumimoji="1" lang="en-US" altLang="ja-JP" dirty="0"/>
          </a:p>
          <a:p>
            <a:pPr lvl="1"/>
            <a:r>
              <a:rPr kumimoji="1" lang="ja-JP" altLang="en-US" dirty="0"/>
              <a:t>情報を記憶するセルの中身が方式ごとに異なる</a:t>
            </a:r>
            <a:endParaRPr kumimoji="1" lang="en-US" altLang="ja-JP" dirty="0"/>
          </a:p>
          <a:p>
            <a:r>
              <a:rPr lang="en-US" altLang="ja-JP" dirty="0"/>
              <a:t>SRAM </a:t>
            </a:r>
            <a:r>
              <a:rPr lang="ja-JP" altLang="en-US" dirty="0"/>
              <a:t>と </a:t>
            </a:r>
            <a:r>
              <a:rPr lang="en-US" altLang="ja-JP" dirty="0"/>
              <a:t>DRAM </a:t>
            </a:r>
            <a:r>
              <a:rPr lang="ja-JP" altLang="en-US" dirty="0"/>
              <a:t>を簡単に紹介</a:t>
            </a:r>
            <a:endParaRPr lang="en-US" altLang="ja-JP" dirty="0"/>
          </a:p>
          <a:p>
            <a:pPr lvl="1"/>
            <a:r>
              <a:rPr kumimoji="1" lang="ja-JP" altLang="en-US" dirty="0"/>
              <a:t>現代のコンピュータはおおよそこの２種類で作られている</a:t>
            </a:r>
            <a:endParaRPr kumimoji="1" lang="en-US" altLang="ja-JP" dirty="0"/>
          </a:p>
          <a:p>
            <a:pPr lvl="1"/>
            <a:r>
              <a:rPr kumimoji="1" lang="ja-JP" altLang="en-US" dirty="0">
                <a:solidFill>
                  <a:schemeClr val="accent5"/>
                </a:solidFill>
              </a:rPr>
              <a:t>この講義的には性質の大ざっぱな違いがわかっていればよい</a:t>
            </a:r>
            <a:endParaRPr kumimoji="1" lang="en-US" altLang="ja-JP" dirty="0">
              <a:solidFill>
                <a:schemeClr val="accent5"/>
              </a:solidFill>
            </a:endParaRPr>
          </a:p>
          <a:p>
            <a:pPr lvl="2"/>
            <a:r>
              <a:rPr kumimoji="1" lang="ja-JP" altLang="en-US" dirty="0">
                <a:solidFill>
                  <a:schemeClr val="accent5"/>
                </a:solidFill>
              </a:rPr>
              <a:t>（細かい動作まではあまりわかってなくても良い</a:t>
            </a:r>
          </a:p>
        </p:txBody>
      </p:sp>
    </p:spTree>
    <p:extLst>
      <p:ext uri="{BB962C8B-B14F-4D97-AF65-F5344CB8AC3E}">
        <p14:creationId xmlns:p14="http://schemas.microsoft.com/office/powerpoint/2010/main" val="3880532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Static Random Access Memory (SRAM)</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セルにインバータ（</a:t>
            </a:r>
            <a:r>
              <a:rPr kumimoji="1" lang="en-US" altLang="ja-JP" dirty="0"/>
              <a:t>NOT </a:t>
            </a:r>
            <a:r>
              <a:rPr kumimoji="1" lang="ja-JP" altLang="en-US" dirty="0"/>
              <a:t>ゲート）のループを使った方式</a:t>
            </a:r>
            <a:endParaRPr kumimoji="1" lang="en-US" altLang="ja-JP" dirty="0"/>
          </a:p>
          <a:p>
            <a:r>
              <a:rPr kumimoji="1" lang="en-US" altLang="ja-JP" dirty="0"/>
              <a:t>Static</a:t>
            </a:r>
            <a:r>
              <a:rPr lang="ja-JP" altLang="en-US" dirty="0"/>
              <a:t> とはどう言う意味か？</a:t>
            </a:r>
            <a:endParaRPr kumimoji="1" lang="en-US" altLang="ja-JP" dirty="0"/>
          </a:p>
          <a:p>
            <a:pPr lvl="1"/>
            <a:r>
              <a:rPr lang="ja-JP" altLang="en-US" dirty="0"/>
              <a:t>動作が静的（何もしなければ電流をほとんど消費しない）</a:t>
            </a:r>
            <a:endParaRPr lang="en-US" altLang="ja-JP" dirty="0"/>
          </a:p>
          <a:p>
            <a:pPr lvl="1"/>
            <a:r>
              <a:rPr kumimoji="1" lang="ja-JP" altLang="en-US" dirty="0"/>
              <a:t>電源を入れている限りは内容が消えない</a:t>
            </a:r>
            <a:endParaRPr kumimoji="1" lang="en-US" altLang="ja-JP" dirty="0"/>
          </a:p>
          <a:p>
            <a:r>
              <a:rPr kumimoji="1" lang="ja-JP" altLang="en-US" dirty="0"/>
              <a:t>一般的にはメモリの中で最も高速</a:t>
            </a:r>
            <a:endParaRPr kumimoji="1" lang="en-US" altLang="ja-JP" dirty="0"/>
          </a:p>
          <a:p>
            <a:pPr lvl="1"/>
            <a:r>
              <a:rPr kumimoji="1" lang="en-US" altLang="ja-JP" dirty="0"/>
              <a:t>CPU </a:t>
            </a:r>
            <a:r>
              <a:rPr kumimoji="1" lang="ja-JP" altLang="en-US" dirty="0"/>
              <a:t>内の論理回路と同じトランジスタを使って作るから</a:t>
            </a:r>
            <a:endParaRPr kumimoji="1" lang="en-US" altLang="ja-JP" dirty="0"/>
          </a:p>
          <a:p>
            <a:pPr lvl="1"/>
            <a:r>
              <a:rPr kumimoji="1" lang="ja-JP" altLang="en-US" dirty="0"/>
              <a:t>レジスタなどは </a:t>
            </a:r>
            <a:r>
              <a:rPr kumimoji="1" lang="en-US" altLang="ja-JP" dirty="0"/>
              <a:t>SRAM </a:t>
            </a:r>
            <a:r>
              <a:rPr kumimoji="1" lang="ja-JP" altLang="en-US" dirty="0"/>
              <a:t>で作られている</a:t>
            </a:r>
          </a:p>
        </p:txBody>
      </p:sp>
    </p:spTree>
    <p:extLst>
      <p:ext uri="{BB962C8B-B14F-4D97-AF65-F5344CB8AC3E}">
        <p14:creationId xmlns:p14="http://schemas.microsoft.com/office/powerpoint/2010/main" val="2077236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5015988" y="2708992"/>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のセル（</a:t>
            </a:r>
            <a:r>
              <a:rPr kumimoji="1" lang="en-US" altLang="ja-JP" dirty="0"/>
              <a:t>1bit</a:t>
            </a:r>
            <a:r>
              <a:rPr kumimoji="1" lang="ja-JP" altLang="en-US" dirty="0"/>
              <a:t>）</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2135956" y="4059007"/>
            <a:ext cx="8280092" cy="2249718"/>
          </a:xfrm>
        </p:spPr>
        <p:txBody>
          <a:bodyPr/>
          <a:lstStyle/>
          <a:p>
            <a:r>
              <a:rPr kumimoji="1" lang="ja-JP" altLang="en-US" dirty="0"/>
              <a:t>インバータのループに</a:t>
            </a:r>
            <a:r>
              <a:rPr lang="ja-JP" altLang="en-US" dirty="0"/>
              <a:t>より </a:t>
            </a:r>
            <a:r>
              <a:rPr lang="en-US" altLang="ja-JP" dirty="0"/>
              <a:t>1</a:t>
            </a:r>
            <a:r>
              <a:rPr lang="ja-JP" altLang="en-US" dirty="0"/>
              <a:t> </a:t>
            </a:r>
            <a:r>
              <a:rPr lang="en-US" altLang="ja-JP" dirty="0"/>
              <a:t>bit </a:t>
            </a:r>
            <a:r>
              <a:rPr lang="ja-JP" altLang="en-US" dirty="0"/>
              <a:t>を記録</a:t>
            </a:r>
            <a:endParaRPr lang="en-US" altLang="ja-JP" dirty="0"/>
          </a:p>
          <a:p>
            <a:pPr lvl="1"/>
            <a:r>
              <a:rPr kumimoji="1" lang="ja-JP" altLang="en-US" dirty="0"/>
              <a:t>ループの左右が </a:t>
            </a:r>
            <a:r>
              <a:rPr kumimoji="1" lang="en-US" altLang="ja-JP" dirty="0"/>
              <a:t>[1:0] </a:t>
            </a:r>
            <a:r>
              <a:rPr kumimoji="1" lang="ja-JP" altLang="en-US" dirty="0"/>
              <a:t>あるいは </a:t>
            </a:r>
            <a:r>
              <a:rPr kumimoji="1" lang="en-US" altLang="ja-JP" dirty="0"/>
              <a:t>[0:1] </a:t>
            </a:r>
            <a:r>
              <a:rPr kumimoji="1" lang="ja-JP" altLang="en-US" dirty="0"/>
              <a:t>の２つの定常状態を持つ</a:t>
            </a:r>
            <a:endParaRPr kumimoji="1" lang="en-US" altLang="ja-JP" dirty="0"/>
          </a:p>
          <a:p>
            <a:r>
              <a:rPr kumimoji="1" lang="en-US" altLang="ja-JP" dirty="0"/>
              <a:t>D-FF </a:t>
            </a:r>
            <a:r>
              <a:rPr kumimoji="1" lang="ja-JP" altLang="en-US" dirty="0"/>
              <a:t>とかと同じ原理</a:t>
            </a:r>
            <a:endParaRPr kumimoji="1" lang="en-US" altLang="ja-JP" dirty="0"/>
          </a:p>
          <a:p>
            <a:pPr lvl="1"/>
            <a:r>
              <a:rPr kumimoji="1" lang="ja-JP" altLang="en-US" dirty="0"/>
              <a:t>ただし，クロックに同期させるための仕組みがない分単純</a:t>
            </a:r>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2347555"/>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3068280"/>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6816008" y="2708992"/>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645600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4295980" y="2708992"/>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465598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7176012" y="3068997"/>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3935976"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3935976" y="1988984"/>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7536016" y="1988985"/>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6996010"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4475982"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3575972" y="2348988"/>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4745985" y="1898984"/>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54" name="正方形/長方形 53"/>
          <p:cNvSpPr/>
          <p:nvPr/>
        </p:nvSpPr>
        <p:spPr>
          <a:xfrm>
            <a:off x="3575973"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64" name="正方形/長方形 63"/>
          <p:cNvSpPr/>
          <p:nvPr/>
        </p:nvSpPr>
        <p:spPr>
          <a:xfrm>
            <a:off x="7266014"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2017378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5015988" y="2258987"/>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の読み出し</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1955954" y="4059007"/>
            <a:ext cx="8460094" cy="2249718"/>
          </a:xfrm>
        </p:spPr>
        <p:txBody>
          <a:bodyPr/>
          <a:lstStyle/>
          <a:p>
            <a:pPr marL="817200" lvl="1" indent="-457200">
              <a:buFont typeface="+mj-lt"/>
              <a:buAutoNum type="arabicPeriod"/>
            </a:pPr>
            <a:r>
              <a:rPr lang="ja-JP" altLang="en-US" dirty="0"/>
              <a:t>読み出す行のワードラインが高電位（</a:t>
            </a:r>
            <a:r>
              <a:rPr lang="en-US" altLang="ja-JP" dirty="0"/>
              <a:t>1</a:t>
            </a:r>
            <a:r>
              <a:rPr lang="ja-JP" altLang="en-US" dirty="0"/>
              <a:t>）に</a:t>
            </a:r>
            <a:endParaRPr lang="en-US" altLang="ja-JP" dirty="0"/>
          </a:p>
          <a:p>
            <a:pPr marL="817200" lvl="1" indent="-457200">
              <a:buFont typeface="+mj-lt"/>
              <a:buAutoNum type="arabicPeriod"/>
            </a:pPr>
            <a:r>
              <a:rPr lang="ja-JP" altLang="en-US" dirty="0"/>
              <a:t>その行の </a:t>
            </a:r>
            <a:r>
              <a:rPr lang="en-US" altLang="ja-JP" dirty="0"/>
              <a:t>NMOS </a:t>
            </a:r>
            <a:r>
              <a:rPr lang="ja-JP" altLang="en-US" dirty="0"/>
              <a:t>が </a:t>
            </a:r>
            <a:r>
              <a:rPr lang="en-US" altLang="ja-JP" dirty="0"/>
              <a:t>ON </a:t>
            </a:r>
            <a:r>
              <a:rPr lang="ja-JP" altLang="en-US" dirty="0"/>
              <a:t>になりビットラインとインバータが接続</a:t>
            </a:r>
            <a:endParaRPr lang="en-US" altLang="ja-JP" dirty="0"/>
          </a:p>
          <a:p>
            <a:pPr marL="817200" lvl="1" indent="-457200">
              <a:buFont typeface="+mj-lt"/>
              <a:buAutoNum type="arabicPeriod"/>
            </a:pPr>
            <a:r>
              <a:rPr lang="ja-JP" altLang="en-US" dirty="0"/>
              <a:t>ビットラインを通じてセルの内容が伝えられる</a:t>
            </a:r>
            <a:endParaRPr lang="en-US" altLang="ja-JP" dirty="0"/>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1897550"/>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2618275"/>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6816008" y="2258987"/>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645600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4295980" y="2258987"/>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465598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7176012" y="2618992"/>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3935976"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3935976" y="1538979"/>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6996010"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4475982"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3575972" y="1898983"/>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4745985" y="1448979"/>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54" name="正方形/長方形 53"/>
          <p:cNvSpPr/>
          <p:nvPr/>
        </p:nvSpPr>
        <p:spPr>
          <a:xfrm>
            <a:off x="3575973"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64" name="正方形/長方形 63"/>
          <p:cNvSpPr/>
          <p:nvPr/>
        </p:nvSpPr>
        <p:spPr>
          <a:xfrm>
            <a:off x="7266014"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31" name="正方形/長方形 30"/>
          <p:cNvSpPr/>
          <p:nvPr/>
        </p:nvSpPr>
        <p:spPr>
          <a:xfrm>
            <a:off x="5915998"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0</a:t>
            </a:r>
            <a:endParaRPr lang="ja-JP" altLang="en-US" sz="2400" dirty="0">
              <a:solidFill>
                <a:schemeClr val="accent6"/>
              </a:solidFill>
              <a:latin typeface="Arial Narrow" pitchFamily="34" charset="0"/>
            </a:endParaRPr>
          </a:p>
        </p:txBody>
      </p:sp>
      <p:sp>
        <p:nvSpPr>
          <p:cNvPr id="32" name="正方形/長方形 31"/>
          <p:cNvSpPr/>
          <p:nvPr/>
        </p:nvSpPr>
        <p:spPr>
          <a:xfrm>
            <a:off x="6636006" y="1808983"/>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NMOS</a:t>
            </a:r>
            <a:endParaRPr lang="ja-JP" altLang="en-US" sz="1600" dirty="0">
              <a:solidFill>
                <a:schemeClr val="accent6"/>
              </a:solidFill>
              <a:latin typeface="Arial Narrow" pitchFamily="34" charset="0"/>
            </a:endParaRPr>
          </a:p>
        </p:txBody>
      </p:sp>
      <p:sp>
        <p:nvSpPr>
          <p:cNvPr id="35" name="正方形/長方形 34"/>
          <p:cNvSpPr/>
          <p:nvPr/>
        </p:nvSpPr>
        <p:spPr>
          <a:xfrm>
            <a:off x="4835986"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1</a:t>
            </a:r>
            <a:endParaRPr lang="ja-JP" altLang="en-US" sz="2400" dirty="0">
              <a:solidFill>
                <a:schemeClr val="accent6"/>
              </a:solidFill>
              <a:latin typeface="Arial Narrow" pitchFamily="34" charset="0"/>
            </a:endParaRPr>
          </a:p>
        </p:txBody>
      </p:sp>
      <p:sp>
        <p:nvSpPr>
          <p:cNvPr id="4" name="正方形/長方形 3">
            <a:extLst>
              <a:ext uri="{FF2B5EF4-FFF2-40B4-BE49-F238E27FC236}">
                <a16:creationId xmlns:a16="http://schemas.microsoft.com/office/drawing/2014/main" id="{510D2009-9B1B-79E2-5B24-41BD8A13DB9F}"/>
              </a:ext>
            </a:extLst>
          </p:cNvPr>
          <p:cNvSpPr/>
          <p:nvPr/>
        </p:nvSpPr>
        <p:spPr>
          <a:xfrm>
            <a:off x="4115978" y="1808983"/>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NMOS</a:t>
            </a:r>
            <a:endParaRPr lang="ja-JP" altLang="en-US" sz="1600" dirty="0">
              <a:solidFill>
                <a:schemeClr val="accent6"/>
              </a:solidFill>
              <a:latin typeface="Arial Narrow" pitchFamily="34" charset="0"/>
            </a:endParaRPr>
          </a:p>
        </p:txBody>
      </p:sp>
      <p:cxnSp>
        <p:nvCxnSpPr>
          <p:cNvPr id="7" name="直線コネクタ 6">
            <a:extLst>
              <a:ext uri="{FF2B5EF4-FFF2-40B4-BE49-F238E27FC236}">
                <a16:creationId xmlns:a16="http://schemas.microsoft.com/office/drawing/2014/main" id="{6C636806-429D-C3C0-18FC-8EBF4B4680C9}"/>
              </a:ext>
            </a:extLst>
          </p:cNvPr>
          <p:cNvCxnSpPr>
            <a:cxnSpLocks/>
          </p:cNvCxnSpPr>
          <p:nvPr/>
        </p:nvCxnSpPr>
        <p:spPr>
          <a:xfrm flipV="1">
            <a:off x="7536016" y="144897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14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Dynamic Random Access Memory (DRAM)</a:t>
            </a:r>
            <a:endParaRPr kumimoji="1" lang="ja-JP" altLang="en-US" dirty="0"/>
          </a:p>
        </p:txBody>
      </p:sp>
      <p:sp>
        <p:nvSpPr>
          <p:cNvPr id="3" name="テキスト プレースホルダー 2"/>
          <p:cNvSpPr>
            <a:spLocks noGrp="1"/>
          </p:cNvSpPr>
          <p:nvPr>
            <p:ph type="body" sz="quarter" idx="10"/>
          </p:nvPr>
        </p:nvSpPr>
        <p:spPr>
          <a:xfrm>
            <a:off x="2225957" y="1088975"/>
            <a:ext cx="8190091" cy="5219751"/>
          </a:xfrm>
        </p:spPr>
        <p:txBody>
          <a:bodyPr/>
          <a:lstStyle/>
          <a:p>
            <a:r>
              <a:rPr lang="ja-JP" altLang="en-US" dirty="0"/>
              <a:t>セルにコンデンサを使った方式</a:t>
            </a:r>
            <a:endParaRPr lang="en-US" altLang="ja-JP" dirty="0"/>
          </a:p>
          <a:p>
            <a:r>
              <a:rPr lang="en-US" altLang="ja-JP" dirty="0"/>
              <a:t>Dynamic</a:t>
            </a:r>
            <a:r>
              <a:rPr lang="ja-JP" altLang="en-US" dirty="0"/>
              <a:t> とはどう言う意味か？</a:t>
            </a:r>
            <a:endParaRPr kumimoji="1" lang="en-US" altLang="ja-JP" dirty="0"/>
          </a:p>
          <a:p>
            <a:pPr lvl="1"/>
            <a:r>
              <a:rPr lang="ja-JP" altLang="en-US" dirty="0"/>
              <a:t>動作が動的：電荷がもれて記憶が消えていく</a:t>
            </a:r>
            <a:endParaRPr kumimoji="1" lang="en-US" altLang="ja-JP" dirty="0"/>
          </a:p>
          <a:p>
            <a:r>
              <a:rPr kumimoji="1" lang="ja-JP" altLang="en-US" dirty="0"/>
              <a:t>速度は遅いが，セルを小さく作れるので容量が稼げる</a:t>
            </a:r>
            <a:endParaRPr kumimoji="1" lang="en-US" altLang="ja-JP" dirty="0"/>
          </a:p>
          <a:p>
            <a:pPr lvl="1"/>
            <a:r>
              <a:rPr kumimoji="1" lang="ja-JP" altLang="en-US" dirty="0"/>
              <a:t>メイン・メモリは </a:t>
            </a:r>
            <a:r>
              <a:rPr kumimoji="1" lang="en-US" altLang="ja-JP" dirty="0"/>
              <a:t>DRAM </a:t>
            </a:r>
            <a:r>
              <a:rPr kumimoji="1" lang="ja-JP" altLang="en-US" dirty="0" err="1"/>
              <a:t>で</a:t>
            </a:r>
            <a:r>
              <a:rPr kumimoji="1" lang="ja-JP" altLang="en-US" dirty="0"/>
              <a:t>出来ているのが普通</a:t>
            </a:r>
            <a:endParaRPr kumimoji="1" lang="en-US" altLang="ja-JP" dirty="0"/>
          </a:p>
        </p:txBody>
      </p:sp>
    </p:spTree>
    <p:extLst>
      <p:ext uri="{BB962C8B-B14F-4D97-AF65-F5344CB8AC3E}">
        <p14:creationId xmlns:p14="http://schemas.microsoft.com/office/powerpoint/2010/main" val="1054141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DRAM </a:t>
            </a:r>
            <a:r>
              <a:rPr kumimoji="1" lang="ja-JP" altLang="en-US" dirty="0"/>
              <a:t>のセル</a:t>
            </a:r>
          </a:p>
        </p:txBody>
      </p:sp>
      <p:sp>
        <p:nvSpPr>
          <p:cNvPr id="3" name="テキスト プレースホルダー 2"/>
          <p:cNvSpPr>
            <a:spLocks noGrp="1"/>
          </p:cNvSpPr>
          <p:nvPr>
            <p:ph type="body" sz="quarter" idx="10"/>
          </p:nvPr>
        </p:nvSpPr>
        <p:spPr>
          <a:xfrm>
            <a:off x="2135956" y="4329011"/>
            <a:ext cx="8280092" cy="1979715"/>
          </a:xfrm>
        </p:spPr>
        <p:txBody>
          <a:bodyPr/>
          <a:lstStyle/>
          <a:p>
            <a:r>
              <a:rPr lang="ja-JP" altLang="en-US" dirty="0"/>
              <a:t>セルをコンデンサによって構成</a:t>
            </a:r>
            <a:endParaRPr lang="en-US" altLang="ja-JP" dirty="0"/>
          </a:p>
          <a:p>
            <a:pPr lvl="1"/>
            <a:r>
              <a:rPr lang="ja-JP" altLang="en-US" dirty="0"/>
              <a:t>電荷がたまっていれば１，そうでなければ０</a:t>
            </a:r>
            <a:endParaRPr lang="en-US" altLang="ja-JP" dirty="0"/>
          </a:p>
          <a:p>
            <a:pPr lvl="1"/>
            <a:r>
              <a:rPr lang="ja-JP" altLang="en-US" dirty="0"/>
              <a:t>時間が経つと自然に電荷が抜けてデータが消える</a:t>
            </a:r>
            <a:endParaRPr lang="en-US" altLang="ja-JP" dirty="0"/>
          </a:p>
          <a:p>
            <a:r>
              <a:rPr lang="ja-JP" altLang="en-US" dirty="0"/>
              <a:t>電荷を維持するため，定期的にリフレッシュと呼ばれる操作を行う</a:t>
            </a:r>
            <a:endParaRPr lang="en-US" altLang="ja-JP" dirty="0"/>
          </a:p>
          <a:p>
            <a:pPr lvl="1"/>
            <a:r>
              <a:rPr lang="ja-JP" altLang="en-US" dirty="0"/>
              <a:t>具体的には，一回読んで同じデータを書き戻す</a:t>
            </a:r>
            <a:endParaRPr lang="en-US" altLang="ja-JP" dirty="0"/>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735996" y="2348988"/>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375992" y="270899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96000" y="2708993"/>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375992" y="162898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276002" y="2888995"/>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456004" y="270899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456004" y="2978996"/>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276003" y="3248998"/>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915998" y="198898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5015988" y="198898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186001" y="1718982"/>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105990" y="1178976"/>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2799414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DRAM </a:t>
            </a:r>
            <a:r>
              <a:rPr kumimoji="1" lang="ja-JP" altLang="en-US" dirty="0"/>
              <a:t>の読み出し</a:t>
            </a:r>
          </a:p>
        </p:txBody>
      </p:sp>
      <p:sp>
        <p:nvSpPr>
          <p:cNvPr id="3" name="テキスト プレースホルダー 2"/>
          <p:cNvSpPr>
            <a:spLocks noGrp="1"/>
          </p:cNvSpPr>
          <p:nvPr>
            <p:ph type="body" sz="quarter" idx="10"/>
          </p:nvPr>
        </p:nvSpPr>
        <p:spPr>
          <a:xfrm>
            <a:off x="2135956" y="4329011"/>
            <a:ext cx="8280092" cy="1439709"/>
          </a:xfrm>
        </p:spPr>
        <p:txBody>
          <a:bodyPr/>
          <a:lstStyle/>
          <a:p>
            <a:pPr marL="817200" lvl="1" indent="-457200">
              <a:buFont typeface="+mj-lt"/>
              <a:buAutoNum type="arabicPeriod"/>
            </a:pPr>
            <a:r>
              <a:rPr kumimoji="1" lang="ja-JP" altLang="en-US" dirty="0"/>
              <a:t>ビットラインに電荷をプリチャージ</a:t>
            </a:r>
            <a:endParaRPr kumimoji="1" lang="en-US" altLang="ja-JP" dirty="0"/>
          </a:p>
          <a:p>
            <a:pPr lvl="2"/>
            <a:r>
              <a:rPr kumimoji="1" lang="ja-JP" altLang="en-US" dirty="0"/>
              <a:t>ビットライン全体を一種のコンデンサだと思う</a:t>
            </a:r>
            <a:endParaRPr kumimoji="1" lang="en-US" altLang="ja-JP" dirty="0"/>
          </a:p>
          <a:p>
            <a:pPr lvl="2"/>
            <a:r>
              <a:rPr kumimoji="1" lang="ja-JP" altLang="en-US" dirty="0"/>
              <a:t>高電位にして電荷を信号線にためる</a:t>
            </a:r>
            <a:endParaRPr kumimoji="1" lang="en-US" altLang="ja-JP" dirty="0"/>
          </a:p>
          <a:p>
            <a:pPr marL="817200" lvl="1" indent="-457200">
              <a:buFont typeface="+mj-lt"/>
              <a:buAutoNum type="arabicPeriod"/>
            </a:pPr>
            <a:r>
              <a:rPr kumimoji="1" lang="ja-JP" altLang="en-US" dirty="0"/>
              <a:t>読み出す行のワードラインを高電位に</a:t>
            </a:r>
            <a:endParaRPr kumimoji="1" lang="en-US" altLang="ja-JP" dirty="0"/>
          </a:p>
          <a:p>
            <a:pPr lvl="2"/>
            <a:r>
              <a:rPr kumimoji="1" lang="en-US" altLang="ja-JP" dirty="0"/>
              <a:t>NMOS </a:t>
            </a:r>
            <a:r>
              <a:rPr kumimoji="1" lang="ja-JP" altLang="en-US" dirty="0"/>
              <a:t>が </a:t>
            </a:r>
            <a:r>
              <a:rPr kumimoji="1" lang="en-US" altLang="ja-JP" dirty="0"/>
              <a:t>ON </a:t>
            </a:r>
            <a:r>
              <a:rPr kumimoji="1" lang="ja-JP" altLang="en-US" dirty="0"/>
              <a:t>になりビットラインと接続</a:t>
            </a:r>
            <a:endParaRPr kumimoji="1" lang="en-US" altLang="ja-JP" dirty="0"/>
          </a:p>
          <a:p>
            <a:pPr marL="817200" lvl="1" indent="-457200">
              <a:buFont typeface="+mj-lt"/>
              <a:buAutoNum type="arabicPeriod"/>
            </a:pPr>
            <a:r>
              <a:rPr kumimoji="1" lang="ja-JP" altLang="en-US" dirty="0"/>
              <a:t>セルの状態に応じてディスチャージが起きる</a:t>
            </a:r>
            <a:endParaRPr kumimoji="1" lang="en-US" altLang="ja-JP" dirty="0"/>
          </a:p>
          <a:p>
            <a:pPr lvl="2"/>
            <a:r>
              <a:rPr kumimoji="1" lang="ja-JP" altLang="en-US" dirty="0"/>
              <a:t>セルに電荷がある（１）→ ビットラインの状態は変わらない</a:t>
            </a:r>
            <a:endParaRPr kumimoji="1" lang="en-US" altLang="ja-JP" dirty="0"/>
          </a:p>
          <a:p>
            <a:pPr lvl="2"/>
            <a:r>
              <a:rPr kumimoji="1" lang="ja-JP" altLang="en-US" dirty="0"/>
              <a:t>セルに電荷がない（０）→ ビットラインの電位が下がる</a:t>
            </a:r>
            <a:endParaRPr kumimoji="1" lang="en-US" altLang="ja-JP" dirty="0"/>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735996" y="1988984"/>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375992" y="2348988"/>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96000" y="2348989"/>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375992" y="1268976"/>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276002" y="2528991"/>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456004" y="2348988"/>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456004" y="2618992"/>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276003" y="2888994"/>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915998" y="1628980"/>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5015988" y="1628980"/>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186001" y="1358978"/>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105990" y="818972"/>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2135508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SRAM </a:t>
            </a:r>
            <a:r>
              <a:rPr kumimoji="1" lang="ja-JP" altLang="en-US" dirty="0"/>
              <a:t>の場合との違い</a:t>
            </a:r>
          </a:p>
        </p:txBody>
      </p:sp>
      <p:sp>
        <p:nvSpPr>
          <p:cNvPr id="3" name="テキスト プレースホルダー 2"/>
          <p:cNvSpPr>
            <a:spLocks noGrp="1"/>
          </p:cNvSpPr>
          <p:nvPr>
            <p:ph type="body" sz="quarter" idx="10"/>
          </p:nvPr>
        </p:nvSpPr>
        <p:spPr>
          <a:xfrm>
            <a:off x="1865953" y="4599014"/>
            <a:ext cx="8280092" cy="1439709"/>
          </a:xfrm>
        </p:spPr>
        <p:txBody>
          <a:bodyPr/>
          <a:lstStyle/>
          <a:p>
            <a:r>
              <a:rPr lang="ja-JP" altLang="en-US" dirty="0"/>
              <a:t>読み出し時に内容が破壊される</a:t>
            </a:r>
            <a:endParaRPr lang="en-US" altLang="ja-JP" dirty="0"/>
          </a:p>
          <a:p>
            <a:pPr lvl="1"/>
            <a:r>
              <a:rPr lang="ja-JP" altLang="en-US" dirty="0"/>
              <a:t>ビットラインとコンデンサが接続されると，電荷が流れ出す</a:t>
            </a:r>
            <a:endParaRPr lang="en-US" altLang="ja-JP" dirty="0"/>
          </a:p>
          <a:p>
            <a:r>
              <a:rPr lang="ja-JP" altLang="en-US" dirty="0"/>
              <a:t>コンデンサがビットラインをディスチャージする速度は遅い</a:t>
            </a:r>
            <a:endParaRPr lang="en-US" altLang="ja-JP" dirty="0"/>
          </a:p>
          <a:p>
            <a:pPr lvl="1"/>
            <a:r>
              <a:rPr lang="ja-JP" altLang="en-US" dirty="0"/>
              <a:t>センスアンプと呼ばれる微小な電圧の変化を増幅する回路を使う</a:t>
            </a:r>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735996" y="2348988"/>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375992" y="270899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96000" y="2708993"/>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375992" y="162898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276002" y="2888995"/>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456004" y="270899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456004" y="2978996"/>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276003" y="3248998"/>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915998" y="198898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5015988" y="198898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186001" y="1718982"/>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105990" y="1178976"/>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25" name="二等辺三角形 24"/>
          <p:cNvSpPr/>
          <p:nvPr/>
        </p:nvSpPr>
        <p:spPr bwMode="auto">
          <a:xfrm rot="10800000">
            <a:off x="5105989" y="3429001"/>
            <a:ext cx="540006" cy="450005"/>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正方形/長方形 25"/>
          <p:cNvSpPr/>
          <p:nvPr/>
        </p:nvSpPr>
        <p:spPr>
          <a:xfrm>
            <a:off x="4925987" y="3429001"/>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sense amp</a:t>
            </a:r>
            <a:endParaRPr lang="ja-JP" altLang="en-US" sz="1600" dirty="0">
              <a:latin typeface="Arial Narrow" pitchFamily="34" charset="0"/>
            </a:endParaRPr>
          </a:p>
        </p:txBody>
      </p:sp>
    </p:spTree>
    <p:extLst>
      <p:ext uri="{BB962C8B-B14F-4D97-AF65-F5344CB8AC3E}">
        <p14:creationId xmlns:p14="http://schemas.microsoft.com/office/powerpoint/2010/main" val="8433885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DRAM </a:t>
            </a:r>
            <a:r>
              <a:rPr lang="ja-JP" altLang="en-US" dirty="0"/>
              <a:t>セルのコンデンサの作り方</a:t>
            </a:r>
            <a:br>
              <a:rPr lang="en-US" altLang="ja-JP" dirty="0"/>
            </a:br>
            <a:r>
              <a:rPr lang="en-US" altLang="ja-JP" sz="1400" dirty="0"/>
              <a:t>H. </a:t>
            </a:r>
            <a:r>
              <a:rPr lang="en-US" altLang="ja-JP" sz="1400" dirty="0" err="1"/>
              <a:t>Seidl</a:t>
            </a:r>
            <a:r>
              <a:rPr lang="ja-JP" altLang="en-US" sz="1400" dirty="0"/>
              <a:t> </a:t>
            </a:r>
            <a:r>
              <a:rPr lang="en-US" altLang="ja-JP" sz="1400" dirty="0"/>
              <a:t>et al, A Fully Integrated Al2O3 Trench Capacitor DRAM for Sub-100nm Technology </a:t>
            </a:r>
            <a:r>
              <a:rPr lang="ja-JP" altLang="en-US" sz="1400" dirty="0"/>
              <a:t>より</a:t>
            </a:r>
            <a:endParaRPr lang="ja-JP" altLang="en-US" sz="1600" dirty="0"/>
          </a:p>
        </p:txBody>
      </p:sp>
      <p:sp>
        <p:nvSpPr>
          <p:cNvPr id="3" name="テキスト プレースホルダー 2"/>
          <p:cNvSpPr>
            <a:spLocks noGrp="1"/>
          </p:cNvSpPr>
          <p:nvPr>
            <p:ph type="body" sz="quarter" idx="10"/>
          </p:nvPr>
        </p:nvSpPr>
        <p:spPr>
          <a:xfrm>
            <a:off x="1955954" y="5589024"/>
            <a:ext cx="8280092" cy="449698"/>
          </a:xfrm>
        </p:spPr>
        <p:txBody>
          <a:bodyPr/>
          <a:lstStyle/>
          <a:p>
            <a:r>
              <a:rPr lang="ja-JP" altLang="en-US" sz="1800" dirty="0"/>
              <a:t>チップの表から裏に向けて深い穴を掘って表面積を稼ぐ</a:t>
            </a:r>
            <a:endParaRPr lang="en-US" altLang="ja-JP" sz="1800" dirty="0"/>
          </a:p>
          <a:p>
            <a:pPr lvl="1"/>
            <a:r>
              <a:rPr lang="ja-JP" altLang="en-US" sz="1800" dirty="0"/>
              <a:t>コンデンサの容量は表面積に比例</a:t>
            </a:r>
            <a:endParaRPr lang="en-US" altLang="ja-JP" sz="1800" dirty="0"/>
          </a:p>
          <a:p>
            <a:pPr lvl="1"/>
            <a:r>
              <a:rPr lang="ja-JP" altLang="en-US" sz="1800" dirty="0"/>
              <a:t>トレンチ（塹壕の意味）と呼ばれる</a:t>
            </a:r>
            <a:endParaRPr lang="en-US" altLang="ja-JP" sz="1800" dirty="0"/>
          </a:p>
          <a:p>
            <a:pPr lvl="1"/>
            <a:r>
              <a:rPr lang="ja-JP" altLang="en-US" sz="1800" dirty="0">
                <a:solidFill>
                  <a:schemeClr val="accent5"/>
                </a:solidFill>
              </a:rPr>
              <a:t>特殊な工程が必要なので通常のトランジスタと混ぜて作るのが難しい</a:t>
            </a:r>
            <a:endParaRPr lang="en-US" altLang="ja-JP" sz="1800" dirty="0">
              <a:solidFill>
                <a:schemeClr val="accent5"/>
              </a:solidFill>
            </a:endParaRPr>
          </a:p>
          <a:p>
            <a:pPr lvl="2"/>
            <a:r>
              <a:rPr lang="en-US" altLang="ja-JP" sz="1800" dirty="0"/>
              <a:t>DRAM </a:t>
            </a:r>
            <a:r>
              <a:rPr lang="ja-JP" altLang="en-US" sz="1800" dirty="0"/>
              <a:t>は </a:t>
            </a:r>
            <a:r>
              <a:rPr lang="en-US" altLang="ja-JP" sz="1800" dirty="0"/>
              <a:t>CPU </a:t>
            </a:r>
            <a:r>
              <a:rPr lang="ja-JP" altLang="en-US" sz="1800" dirty="0"/>
              <a:t>とは違う専用のチップで製造される</a:t>
            </a:r>
            <a:endParaRPr lang="en-US" altLang="ja-JP" sz="1800" dirty="0"/>
          </a:p>
        </p:txBody>
      </p:sp>
      <p:pic>
        <p:nvPicPr>
          <p:cNvPr id="4" name="図 3"/>
          <p:cNvPicPr>
            <a:picLocks noChangeAspect="1"/>
          </p:cNvPicPr>
          <p:nvPr/>
        </p:nvPicPr>
        <p:blipFill>
          <a:blip r:embed="rId2"/>
          <a:stretch>
            <a:fillRect/>
          </a:stretch>
        </p:blipFill>
        <p:spPr>
          <a:xfrm>
            <a:off x="1865953" y="998973"/>
            <a:ext cx="8172040" cy="3547500"/>
          </a:xfrm>
          <a:prstGeom prst="rect">
            <a:avLst/>
          </a:prstGeom>
        </p:spPr>
      </p:pic>
    </p:spTree>
    <p:extLst>
      <p:ext uri="{BB962C8B-B14F-4D97-AF65-F5344CB8AC3E}">
        <p14:creationId xmlns:p14="http://schemas.microsoft.com/office/powerpoint/2010/main" val="1772186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CB7178-1DEB-8CDB-5164-7C5CD13228C3}"/>
              </a:ext>
            </a:extLst>
          </p:cNvPr>
          <p:cNvSpPr>
            <a:spLocks noGrp="1"/>
          </p:cNvSpPr>
          <p:nvPr>
            <p:ph type="title"/>
          </p:nvPr>
        </p:nvSpPr>
        <p:spPr/>
        <p:txBody>
          <a:bodyPr/>
          <a:lstStyle/>
          <a:p>
            <a:r>
              <a:rPr kumimoji="1" lang="ja-JP" altLang="en-US"/>
              <a:t>過去に使われていたもの：磁気</a:t>
            </a:r>
            <a:r>
              <a:rPr kumimoji="1" lang="ja-JP" altLang="en-US" dirty="0"/>
              <a:t>コアメモリ</a:t>
            </a:r>
            <a:br>
              <a:rPr kumimoji="1" lang="en-US" altLang="ja-JP" dirty="0"/>
            </a:br>
            <a:r>
              <a:rPr lang="en-US" altLang="ja-JP" sz="1000" dirty="0">
                <a:hlinkClick r:id="rId2">
                  <a:extLst>
                    <a:ext uri="{A12FA001-AC4F-418D-AE19-62706E023703}">
                      <ahyp:hlinkClr xmlns:ahyp="http://schemas.microsoft.com/office/drawing/2018/hyperlinkcolor" val="tx"/>
                    </a:ext>
                  </a:extLst>
                </a:hlinkClick>
              </a:rPr>
              <a:t>https://ja.wikipedia.org/wiki/%E7%A3%81%E6%B0%97%E3%82%B3%E3%82%A2%E3%83%A1%E3%83%A2%E3%83%AA</a:t>
            </a:r>
            <a:r>
              <a:rPr lang="en-US" altLang="ja-JP" sz="1000" dirty="0"/>
              <a:t> </a:t>
            </a:r>
            <a:r>
              <a:rPr lang="ja-JP" altLang="en-US" sz="1000" dirty="0"/>
              <a:t>より</a:t>
            </a:r>
          </a:p>
        </p:txBody>
      </p:sp>
      <p:sp>
        <p:nvSpPr>
          <p:cNvPr id="6" name="テキスト プレースホルダー 2">
            <a:extLst>
              <a:ext uri="{FF2B5EF4-FFF2-40B4-BE49-F238E27FC236}">
                <a16:creationId xmlns:a16="http://schemas.microsoft.com/office/drawing/2014/main" id="{8B06F170-596A-20A3-8E00-CE5DE09C12D7}"/>
              </a:ext>
            </a:extLst>
          </p:cNvPr>
          <p:cNvSpPr>
            <a:spLocks noGrp="1"/>
          </p:cNvSpPr>
          <p:nvPr>
            <p:ph type="body" sz="quarter" idx="10"/>
          </p:nvPr>
        </p:nvSpPr>
        <p:spPr>
          <a:xfrm>
            <a:off x="2045955" y="5859027"/>
            <a:ext cx="8280092" cy="629700"/>
          </a:xfrm>
        </p:spPr>
        <p:txBody>
          <a:bodyPr/>
          <a:lstStyle/>
          <a:p>
            <a:pPr lvl="1"/>
            <a:r>
              <a:rPr kumimoji="1" lang="en-US" altLang="ja-JP" dirty="0"/>
              <a:t>1950</a:t>
            </a:r>
            <a:r>
              <a:rPr kumimoji="1" lang="ja-JP" altLang="en-US" dirty="0"/>
              <a:t>年代から使用されていた</a:t>
            </a:r>
            <a:endParaRPr kumimoji="1" lang="en-US" altLang="ja-JP" dirty="0"/>
          </a:p>
          <a:p>
            <a:pPr lvl="1"/>
            <a:r>
              <a:rPr kumimoji="1" lang="ja-JP" altLang="en-US" dirty="0"/>
              <a:t>いわゆる「コアダンプ」のコアとは元々この磁気コアのこと</a:t>
            </a:r>
            <a:endParaRPr kumimoji="1" lang="en-US" altLang="ja-JP" dirty="0"/>
          </a:p>
        </p:txBody>
      </p:sp>
      <p:pic>
        <p:nvPicPr>
          <p:cNvPr id="1026" name="Picture 2" descr="undefined">
            <a:extLst>
              <a:ext uri="{FF2B5EF4-FFF2-40B4-BE49-F238E27FC236}">
                <a16:creationId xmlns:a16="http://schemas.microsoft.com/office/drawing/2014/main" id="{7B5892DC-A093-1B52-A878-ABCE98561F6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575973" y="1268976"/>
            <a:ext cx="4507251" cy="4313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004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A7C45-7EB0-4F27-BADC-7782B7AF473B}"/>
              </a:ext>
            </a:extLst>
          </p:cNvPr>
          <p:cNvSpPr>
            <a:spLocks noGrp="1"/>
          </p:cNvSpPr>
          <p:nvPr>
            <p:ph type="title"/>
          </p:nvPr>
        </p:nvSpPr>
        <p:spPr/>
        <p:txBody>
          <a:bodyPr/>
          <a:lstStyle/>
          <a:p>
            <a:r>
              <a:rPr kumimoji="1" lang="ja-JP" altLang="en-US" dirty="0"/>
              <a:t>メモリ</a:t>
            </a:r>
          </a:p>
        </p:txBody>
      </p:sp>
      <p:sp>
        <p:nvSpPr>
          <p:cNvPr id="3" name="テキスト プレースホルダー 2">
            <a:extLst>
              <a:ext uri="{FF2B5EF4-FFF2-40B4-BE49-F238E27FC236}">
                <a16:creationId xmlns:a16="http://schemas.microsoft.com/office/drawing/2014/main" id="{9A9554BA-573E-4373-B0CB-9B8794EA0391}"/>
              </a:ext>
            </a:extLst>
          </p:cNvPr>
          <p:cNvSpPr>
            <a:spLocks noGrp="1"/>
          </p:cNvSpPr>
          <p:nvPr>
            <p:ph type="body" sz="quarter" idx="10"/>
          </p:nvPr>
        </p:nvSpPr>
        <p:spPr/>
        <p:txBody>
          <a:bodyPr/>
          <a:lstStyle/>
          <a:p>
            <a:pPr marL="457200" indent="-457200">
              <a:buFont typeface="+mj-lt"/>
              <a:buAutoNum type="arabicPeriod"/>
            </a:pPr>
            <a:r>
              <a:rPr lang="ja-JP" altLang="en-US" dirty="0"/>
              <a:t>メモリの基本</a:t>
            </a:r>
            <a:endParaRPr lang="en-US" altLang="ja-JP" dirty="0"/>
          </a:p>
          <a:p>
            <a:pPr marL="817200" lvl="1" indent="-457200">
              <a:buFont typeface="+mj-lt"/>
              <a:buAutoNum type="arabicPeriod"/>
            </a:pPr>
            <a:r>
              <a:rPr lang="ja-JP" altLang="en-US" dirty="0"/>
              <a:t>構造</a:t>
            </a:r>
            <a:endParaRPr lang="en-US" altLang="ja-JP" dirty="0"/>
          </a:p>
          <a:p>
            <a:pPr marL="817200" lvl="1" indent="-457200">
              <a:buFont typeface="+mj-lt"/>
              <a:buAutoNum type="arabicPeriod"/>
            </a:pPr>
            <a:r>
              <a:rPr lang="ja-JP" altLang="en-US" dirty="0"/>
              <a:t>動作</a:t>
            </a:r>
            <a:endParaRPr lang="en-US" altLang="ja-JP" dirty="0"/>
          </a:p>
          <a:p>
            <a:pPr marL="817200" lvl="1" indent="-457200">
              <a:buFont typeface="+mj-lt"/>
              <a:buAutoNum type="arabicPeriod"/>
            </a:pPr>
            <a:r>
              <a:rPr lang="ja-JP" altLang="en-US" dirty="0"/>
              <a:t>アクセス時間</a:t>
            </a:r>
            <a:endParaRPr lang="en-US" altLang="ja-JP" dirty="0"/>
          </a:p>
          <a:p>
            <a:pPr marL="457200" indent="-457200">
              <a:buFont typeface="+mj-lt"/>
              <a:buAutoNum type="arabicPeriod"/>
            </a:pPr>
            <a:r>
              <a:rPr lang="ja-JP" altLang="en-US" dirty="0"/>
              <a:t>メモリの詳細</a:t>
            </a:r>
            <a:endParaRPr lang="en-US" altLang="ja-JP" dirty="0"/>
          </a:p>
          <a:p>
            <a:pPr marL="817200" lvl="1" indent="-457200">
              <a:buFont typeface="+mj-lt"/>
              <a:buAutoNum type="arabicPeriod"/>
            </a:pPr>
            <a:r>
              <a:rPr lang="en-US" altLang="ja-JP" dirty="0"/>
              <a:t>SRAM </a:t>
            </a:r>
            <a:r>
              <a:rPr lang="ja-JP" altLang="en-US" dirty="0"/>
              <a:t>と </a:t>
            </a:r>
            <a:r>
              <a:rPr lang="en-US" altLang="ja-JP" dirty="0"/>
              <a:t>DRAM</a:t>
            </a:r>
          </a:p>
          <a:p>
            <a:pPr marL="817200" lvl="1" indent="-457200">
              <a:buFont typeface="+mj-lt"/>
              <a:buAutoNum type="arabicPeriod"/>
            </a:pPr>
            <a:r>
              <a:rPr lang="ja-JP" altLang="en-US" b="1" dirty="0"/>
              <a:t>なぜメモリが存在するのか？</a:t>
            </a:r>
            <a:endParaRPr lang="en-US" altLang="ja-JP" dirty="0"/>
          </a:p>
        </p:txBody>
      </p:sp>
    </p:spTree>
    <p:extLst>
      <p:ext uri="{BB962C8B-B14F-4D97-AF65-F5344CB8AC3E}">
        <p14:creationId xmlns:p14="http://schemas.microsoft.com/office/powerpoint/2010/main" val="223167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75E16E-4E07-4DD3-B7AE-30384DEDA7DA}"/>
              </a:ext>
            </a:extLst>
          </p:cNvPr>
          <p:cNvSpPr>
            <a:spLocks noGrp="1"/>
          </p:cNvSpPr>
          <p:nvPr>
            <p:ph type="title"/>
          </p:nvPr>
        </p:nvSpPr>
        <p:spPr/>
        <p:txBody>
          <a:bodyPr/>
          <a:lstStyle/>
          <a:p>
            <a:r>
              <a:rPr kumimoji="1" lang="ja-JP" altLang="en-US" dirty="0"/>
              <a:t>メモリの存在する理由</a:t>
            </a:r>
          </a:p>
        </p:txBody>
      </p:sp>
      <p:sp>
        <p:nvSpPr>
          <p:cNvPr id="3" name="テキスト プレースホルダー 2">
            <a:extLst>
              <a:ext uri="{FF2B5EF4-FFF2-40B4-BE49-F238E27FC236}">
                <a16:creationId xmlns:a16="http://schemas.microsoft.com/office/drawing/2014/main" id="{85BC6282-73C9-4184-B25A-1BBCEB8615BE}"/>
              </a:ext>
            </a:extLst>
          </p:cNvPr>
          <p:cNvSpPr>
            <a:spLocks noGrp="1"/>
          </p:cNvSpPr>
          <p:nvPr>
            <p:ph type="body" sz="quarter" idx="10"/>
          </p:nvPr>
        </p:nvSpPr>
        <p:spPr/>
        <p:txBody>
          <a:bodyPr/>
          <a:lstStyle/>
          <a:p>
            <a:r>
              <a:rPr lang="en-US" altLang="ja-JP" dirty="0"/>
              <a:t>D-FF </a:t>
            </a:r>
            <a:r>
              <a:rPr lang="ja-JP" altLang="en-US" dirty="0"/>
              <a:t>とマルチプレクサがあれば，等価な機能は実現できる</a:t>
            </a:r>
            <a:endParaRPr lang="en-US" altLang="ja-JP" dirty="0"/>
          </a:p>
          <a:p>
            <a:pPr lvl="1"/>
            <a:r>
              <a:rPr lang="ja-JP" altLang="en-US" dirty="0"/>
              <a:t>しかし実際には，メモリ専用の回路が用意される</a:t>
            </a:r>
            <a:endParaRPr lang="en-US" altLang="ja-JP" dirty="0"/>
          </a:p>
          <a:p>
            <a:r>
              <a:rPr lang="ja-JP" altLang="en-US" dirty="0"/>
              <a:t>メモリ専用の回路が用意される理由：</a:t>
            </a:r>
            <a:endParaRPr lang="en-US" altLang="ja-JP" dirty="0"/>
          </a:p>
          <a:p>
            <a:pPr lvl="1"/>
            <a:r>
              <a:rPr kumimoji="1" lang="en-US" altLang="ja-JP" dirty="0">
                <a:solidFill>
                  <a:schemeClr val="accent5"/>
                </a:solidFill>
              </a:rPr>
              <a:t>D-FF </a:t>
            </a:r>
            <a:r>
              <a:rPr kumimoji="1" lang="ja-JP" altLang="en-US" dirty="0">
                <a:solidFill>
                  <a:schemeClr val="accent5"/>
                </a:solidFill>
              </a:rPr>
              <a:t>とマルチプレクサよりも，高密度に実装したいから</a:t>
            </a:r>
            <a:endParaRPr kumimoji="1" lang="en-US" altLang="ja-JP" dirty="0">
              <a:solidFill>
                <a:schemeClr val="accent5"/>
              </a:solidFill>
            </a:endParaRPr>
          </a:p>
          <a:p>
            <a:pPr lvl="1"/>
            <a:r>
              <a:rPr lang="ja-JP" altLang="en-US" dirty="0"/>
              <a:t>同じチップ面積で，より多くの情報を記憶したい</a:t>
            </a:r>
            <a:endParaRPr lang="en-US" altLang="ja-JP" dirty="0"/>
          </a:p>
        </p:txBody>
      </p:sp>
    </p:spTree>
    <p:extLst>
      <p:ext uri="{BB962C8B-B14F-4D97-AF65-F5344CB8AC3E}">
        <p14:creationId xmlns:p14="http://schemas.microsoft.com/office/powerpoint/2010/main" val="7217086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D-FF </a:t>
            </a:r>
            <a:r>
              <a:rPr kumimoji="1" lang="ja-JP" altLang="en-US" dirty="0"/>
              <a:t>とマルチプレクサによる </a:t>
            </a:r>
            <a:r>
              <a:rPr kumimoji="1" lang="en-US" altLang="ja-JP" dirty="0"/>
              <a:t>4bit </a:t>
            </a:r>
            <a:r>
              <a:rPr kumimoji="1" lang="ja-JP" altLang="en-US" dirty="0"/>
              <a:t>の </a:t>
            </a:r>
            <a:r>
              <a:rPr kumimoji="1" lang="en-US" altLang="ja-JP" dirty="0"/>
              <a:t>RAM</a:t>
            </a:r>
            <a:endParaRPr kumimoji="1" lang="ja-JP" altLang="en-US" dirty="0"/>
          </a:p>
        </p:txBody>
      </p:sp>
      <p:sp>
        <p:nvSpPr>
          <p:cNvPr id="3" name="テキスト プレースホルダー 2"/>
          <p:cNvSpPr>
            <a:spLocks noGrp="1"/>
          </p:cNvSpPr>
          <p:nvPr>
            <p:ph type="body" sz="quarter" idx="10"/>
          </p:nvPr>
        </p:nvSpPr>
        <p:spPr>
          <a:xfrm>
            <a:off x="2135956" y="5319021"/>
            <a:ext cx="8280092" cy="1169706"/>
          </a:xfrm>
        </p:spPr>
        <p:txBody>
          <a:bodyPr/>
          <a:lstStyle/>
          <a:p>
            <a:r>
              <a:rPr kumimoji="1" lang="ja-JP" altLang="en-US" dirty="0"/>
              <a:t>４エントリの </a:t>
            </a:r>
            <a:r>
              <a:rPr kumimoji="1" lang="en-US" altLang="ja-JP" dirty="0"/>
              <a:t>LUT </a:t>
            </a:r>
            <a:r>
              <a:rPr kumimoji="1" lang="ja-JP" altLang="en-US" dirty="0"/>
              <a:t>を </a:t>
            </a:r>
            <a:r>
              <a:rPr kumimoji="1" lang="en-US" altLang="ja-JP" dirty="0"/>
              <a:t>D-FF </a:t>
            </a:r>
            <a:r>
              <a:rPr kumimoji="1" lang="ja-JP" altLang="en-US" dirty="0"/>
              <a:t>で構成してみる</a:t>
            </a:r>
            <a:endParaRPr kumimoji="1" lang="en-US" altLang="ja-JP" dirty="0"/>
          </a:p>
          <a:p>
            <a:pPr lvl="1"/>
            <a:r>
              <a:rPr kumimoji="1" lang="ja-JP" altLang="en-US" dirty="0"/>
              <a:t>中身を憶える </a:t>
            </a:r>
            <a:r>
              <a:rPr kumimoji="1" lang="en-US" altLang="ja-JP" dirty="0"/>
              <a:t>4</a:t>
            </a:r>
            <a:r>
              <a:rPr kumimoji="1" lang="ja-JP" altLang="en-US" dirty="0"/>
              <a:t>つの </a:t>
            </a:r>
            <a:r>
              <a:rPr kumimoji="1" lang="en-US" altLang="ja-JP" dirty="0"/>
              <a:t>D-FF </a:t>
            </a:r>
          </a:p>
          <a:p>
            <a:pPr lvl="1"/>
            <a:r>
              <a:rPr kumimoji="1" lang="ja-JP" altLang="en-US" dirty="0"/>
              <a:t>場所を指定して選択する</a:t>
            </a:r>
            <a:r>
              <a:rPr kumimoji="1" lang="en-US" altLang="ja-JP" dirty="0"/>
              <a:t>2</a:t>
            </a:r>
            <a:r>
              <a:rPr kumimoji="1" lang="ja-JP" altLang="en-US" dirty="0"/>
              <a:t>段のマルチプレクサ</a:t>
            </a:r>
          </a:p>
        </p:txBody>
      </p:sp>
      <p:grpSp>
        <p:nvGrpSpPr>
          <p:cNvPr id="4" name="グループ化 3"/>
          <p:cNvGrpSpPr/>
          <p:nvPr/>
        </p:nvGrpSpPr>
        <p:grpSpPr>
          <a:xfrm>
            <a:off x="4385982" y="1448978"/>
            <a:ext cx="990011" cy="720008"/>
            <a:chOff x="6369707" y="1718772"/>
            <a:chExt cx="1441450" cy="1085855"/>
          </a:xfrm>
        </p:grpSpPr>
        <p:sp>
          <p:nvSpPr>
            <p:cNvPr id="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7"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ja-JP" altLang="en-US" sz="2400" dirty="0">
                  <a:solidFill>
                    <a:schemeClr val="accent5"/>
                  </a:solidFill>
                </a:rPr>
                <a:t>０</a:t>
              </a:r>
              <a:endParaRPr lang="en-US" altLang="ja-JP" sz="2400" dirty="0">
                <a:solidFill>
                  <a:schemeClr val="accent5"/>
                </a:solidFill>
              </a:endParaRPr>
            </a:p>
          </p:txBody>
        </p:sp>
        <p:sp>
          <p:nvSpPr>
            <p:cNvPr id="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sp>
        <p:nvSpPr>
          <p:cNvPr id="38" name="Line 9"/>
          <p:cNvSpPr>
            <a:spLocks noChangeShapeType="1"/>
          </p:cNvSpPr>
          <p:nvPr/>
        </p:nvSpPr>
        <p:spPr bwMode="auto">
          <a:xfrm>
            <a:off x="6186002" y="2618991"/>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39" name="Line 9"/>
          <p:cNvSpPr>
            <a:spLocks noChangeShapeType="1"/>
          </p:cNvSpPr>
          <p:nvPr/>
        </p:nvSpPr>
        <p:spPr bwMode="auto">
          <a:xfrm>
            <a:off x="6186002" y="3519001"/>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0" name="フローチャート: 手作業 39"/>
          <p:cNvSpPr/>
          <p:nvPr/>
        </p:nvSpPr>
        <p:spPr bwMode="auto">
          <a:xfrm rot="16200000">
            <a:off x="6051000" y="2933995"/>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41" name="Freeform 10"/>
          <p:cNvSpPr>
            <a:spLocks/>
          </p:cNvSpPr>
          <p:nvPr/>
        </p:nvSpPr>
        <p:spPr bwMode="auto">
          <a:xfrm flipH="1" flipV="1">
            <a:off x="5915997" y="2078985"/>
            <a:ext cx="270003" cy="54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42" name="Freeform 10"/>
          <p:cNvSpPr>
            <a:spLocks/>
          </p:cNvSpPr>
          <p:nvPr/>
        </p:nvSpPr>
        <p:spPr bwMode="auto">
          <a:xfrm flipH="1">
            <a:off x="5915997" y="3519002"/>
            <a:ext cx="270003"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cs typeface="Times New Roman" pitchFamily="18" charset="0"/>
            </a:endParaRPr>
          </a:p>
        </p:txBody>
      </p:sp>
      <p:sp>
        <p:nvSpPr>
          <p:cNvPr id="43" name="Line 9"/>
          <p:cNvSpPr>
            <a:spLocks noChangeShapeType="1"/>
          </p:cNvSpPr>
          <p:nvPr/>
        </p:nvSpPr>
        <p:spPr bwMode="auto">
          <a:xfrm>
            <a:off x="6816009" y="3068996"/>
            <a:ext cx="450005" cy="0"/>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sp>
        <p:nvSpPr>
          <p:cNvPr id="44" name="Line 9"/>
          <p:cNvSpPr>
            <a:spLocks noChangeShapeType="1"/>
          </p:cNvSpPr>
          <p:nvPr/>
        </p:nvSpPr>
        <p:spPr bwMode="auto">
          <a:xfrm>
            <a:off x="5375992" y="162898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6" name="Line 9"/>
          <p:cNvSpPr>
            <a:spLocks noChangeShapeType="1"/>
          </p:cNvSpPr>
          <p:nvPr/>
        </p:nvSpPr>
        <p:spPr bwMode="auto">
          <a:xfrm>
            <a:off x="5375992" y="342900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7" name="Line 9"/>
          <p:cNvSpPr>
            <a:spLocks noChangeShapeType="1"/>
          </p:cNvSpPr>
          <p:nvPr/>
        </p:nvSpPr>
        <p:spPr bwMode="auto">
          <a:xfrm>
            <a:off x="5375992" y="432901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48" name="Line 9"/>
          <p:cNvSpPr>
            <a:spLocks noChangeShapeType="1"/>
          </p:cNvSpPr>
          <p:nvPr/>
        </p:nvSpPr>
        <p:spPr bwMode="auto">
          <a:xfrm>
            <a:off x="5375992" y="2528990"/>
            <a:ext cx="360004"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cxnSp>
        <p:nvCxnSpPr>
          <p:cNvPr id="66" name="直線コネクタ 65"/>
          <p:cNvCxnSpPr/>
          <p:nvPr/>
        </p:nvCxnSpPr>
        <p:spPr bwMode="auto">
          <a:xfrm>
            <a:off x="5825997" y="1448978"/>
            <a:ext cx="0" cy="198002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flipH="1">
            <a:off x="6726008" y="1448978"/>
            <a:ext cx="1" cy="108001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8" name="Rectangle 18"/>
          <p:cNvSpPr>
            <a:spLocks noChangeArrowheads="1"/>
          </p:cNvSpPr>
          <p:nvPr/>
        </p:nvSpPr>
        <p:spPr bwMode="auto">
          <a:xfrm>
            <a:off x="6546007" y="998974"/>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a1</a:t>
            </a:r>
          </a:p>
        </p:txBody>
      </p:sp>
      <p:sp>
        <p:nvSpPr>
          <p:cNvPr id="69" name="Rectangle 20"/>
          <p:cNvSpPr>
            <a:spLocks noChangeArrowheads="1"/>
          </p:cNvSpPr>
          <p:nvPr/>
        </p:nvSpPr>
        <p:spPr bwMode="auto">
          <a:xfrm>
            <a:off x="5645996" y="998974"/>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a0</a:t>
            </a:r>
          </a:p>
        </p:txBody>
      </p:sp>
      <p:sp>
        <p:nvSpPr>
          <p:cNvPr id="37" name="フローチャート: 手作業 36"/>
          <p:cNvSpPr/>
          <p:nvPr/>
        </p:nvSpPr>
        <p:spPr bwMode="auto">
          <a:xfrm rot="16200000">
            <a:off x="5150990" y="3744004"/>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36" name="フローチャート: 手作業 35"/>
          <p:cNvSpPr/>
          <p:nvPr/>
        </p:nvSpPr>
        <p:spPr bwMode="auto">
          <a:xfrm rot="16200000">
            <a:off x="5150990" y="1943984"/>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cxnSp>
        <p:nvCxnSpPr>
          <p:cNvPr id="73" name="直線コネクタ 72"/>
          <p:cNvCxnSpPr/>
          <p:nvPr/>
        </p:nvCxnSpPr>
        <p:spPr bwMode="auto">
          <a:xfrm>
            <a:off x="5825997" y="1358978"/>
            <a:ext cx="0" cy="270003"/>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76" name="Rectangle 20"/>
          <p:cNvSpPr>
            <a:spLocks noChangeArrowheads="1"/>
          </p:cNvSpPr>
          <p:nvPr/>
        </p:nvSpPr>
        <p:spPr bwMode="auto">
          <a:xfrm>
            <a:off x="7266015" y="2888995"/>
            <a:ext cx="360363" cy="360363"/>
          </a:xfrm>
          <a:prstGeom prst="rect">
            <a:avLst/>
          </a:prstGeom>
          <a:noFill/>
          <a:ln w="28575">
            <a:noFill/>
            <a:miter lim="800000"/>
            <a:headEnd/>
            <a:tailEnd/>
          </a:ln>
          <a:effectLst/>
        </p:spPr>
        <p:txBody>
          <a:bodyPr wrap="none" anchor="ctr"/>
          <a:lstStyle/>
          <a:p>
            <a:pPr algn="ctr"/>
            <a:r>
              <a:rPr lang="ja-JP" altLang="en-US" sz="2000" i="1" dirty="0">
                <a:ea typeface="MeiryoKe_PGothic" pitchFamily="50" charset="-128"/>
              </a:rPr>
              <a:t> </a:t>
            </a:r>
            <a:r>
              <a:rPr lang="en-US" altLang="ja-JP" sz="2000" i="1" dirty="0">
                <a:ea typeface="MeiryoKe_PGothic" pitchFamily="50" charset="-128"/>
              </a:rPr>
              <a:t>out</a:t>
            </a:r>
          </a:p>
        </p:txBody>
      </p:sp>
      <p:grpSp>
        <p:nvGrpSpPr>
          <p:cNvPr id="85" name="グループ化 84"/>
          <p:cNvGrpSpPr/>
          <p:nvPr/>
        </p:nvGrpSpPr>
        <p:grpSpPr>
          <a:xfrm>
            <a:off x="4385982" y="2348988"/>
            <a:ext cx="990011" cy="720008"/>
            <a:chOff x="6369707" y="1718772"/>
            <a:chExt cx="1441450" cy="1085855"/>
          </a:xfrm>
        </p:grpSpPr>
        <p:sp>
          <p:nvSpPr>
            <p:cNvPr id="86"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87"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88"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1</a:t>
              </a:r>
            </a:p>
          </p:txBody>
        </p:sp>
        <p:sp>
          <p:nvSpPr>
            <p:cNvPr id="8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9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grpSp>
        <p:nvGrpSpPr>
          <p:cNvPr id="91" name="グループ化 90"/>
          <p:cNvGrpSpPr/>
          <p:nvPr/>
        </p:nvGrpSpPr>
        <p:grpSpPr>
          <a:xfrm>
            <a:off x="4385982" y="3248998"/>
            <a:ext cx="990011" cy="720008"/>
            <a:chOff x="6369707" y="1718772"/>
            <a:chExt cx="1441450" cy="1085855"/>
          </a:xfrm>
        </p:grpSpPr>
        <p:sp>
          <p:nvSpPr>
            <p:cNvPr id="92"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93"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94"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2</a:t>
              </a:r>
            </a:p>
          </p:txBody>
        </p:sp>
        <p:sp>
          <p:nvSpPr>
            <p:cNvPr id="95"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96"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grpSp>
        <p:nvGrpSpPr>
          <p:cNvPr id="97" name="グループ化 96"/>
          <p:cNvGrpSpPr/>
          <p:nvPr/>
        </p:nvGrpSpPr>
        <p:grpSpPr>
          <a:xfrm>
            <a:off x="4385982" y="4149008"/>
            <a:ext cx="990011" cy="720008"/>
            <a:chOff x="6369707" y="1718772"/>
            <a:chExt cx="1441450" cy="1085855"/>
          </a:xfrm>
        </p:grpSpPr>
        <p:sp>
          <p:nvSpPr>
            <p:cNvPr id="98"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99"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200"/>
            </a:p>
          </p:txBody>
        </p:sp>
        <p:sp>
          <p:nvSpPr>
            <p:cNvPr id="100" name="Rectangle 7"/>
            <p:cNvSpPr>
              <a:spLocks noChangeArrowheads="1"/>
            </p:cNvSpPr>
            <p:nvPr/>
          </p:nvSpPr>
          <p:spPr bwMode="auto">
            <a:xfrm>
              <a:off x="6893871" y="1990236"/>
              <a:ext cx="360361" cy="360363"/>
            </a:xfrm>
            <a:prstGeom prst="rect">
              <a:avLst/>
            </a:prstGeom>
            <a:noFill/>
            <a:ln w="12700" algn="ctr">
              <a:noFill/>
              <a:miter lim="800000"/>
              <a:headEnd/>
              <a:tailEnd/>
            </a:ln>
            <a:effectLst/>
          </p:spPr>
          <p:txBody>
            <a:bodyPr wrap="none" lIns="90000" tIns="46800" rIns="90000" bIns="46800" anchor="ctr"/>
            <a:lstStyle/>
            <a:p>
              <a:pPr algn="ctr"/>
              <a:r>
                <a:rPr lang="en-US" altLang="ja-JP" sz="2400" dirty="0">
                  <a:solidFill>
                    <a:schemeClr val="accent5"/>
                  </a:solidFill>
                </a:rPr>
                <a:t>3</a:t>
              </a:r>
            </a:p>
          </p:txBody>
        </p:sp>
        <p:sp>
          <p:nvSpPr>
            <p:cNvPr id="101"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200"/>
            </a:p>
          </p:txBody>
        </p:sp>
        <p:sp>
          <p:nvSpPr>
            <p:cNvPr id="102"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spTree>
    <p:extLst>
      <p:ext uri="{BB962C8B-B14F-4D97-AF65-F5344CB8AC3E}">
        <p14:creationId xmlns:p14="http://schemas.microsoft.com/office/powerpoint/2010/main" val="96843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D-FF</a:t>
            </a:r>
            <a:r>
              <a:rPr kumimoji="1" lang="ja-JP" altLang="en-US" dirty="0"/>
              <a:t>：トランジスタ </a:t>
            </a:r>
            <a:r>
              <a:rPr kumimoji="1" lang="en-US" altLang="ja-JP" dirty="0"/>
              <a:t>16</a:t>
            </a:r>
            <a:r>
              <a:rPr kumimoji="1" lang="ja-JP" altLang="en-US" dirty="0"/>
              <a:t>個</a:t>
            </a:r>
          </a:p>
        </p:txBody>
      </p:sp>
      <p:sp>
        <p:nvSpPr>
          <p:cNvPr id="4" name="Freeform 44"/>
          <p:cNvSpPr>
            <a:spLocks/>
          </p:cNvSpPr>
          <p:nvPr/>
        </p:nvSpPr>
        <p:spPr bwMode="auto">
          <a:xfrm>
            <a:off x="4224897" y="2707917"/>
            <a:ext cx="1600588"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5" name="Freeform 43"/>
          <p:cNvSpPr>
            <a:spLocks/>
          </p:cNvSpPr>
          <p:nvPr/>
        </p:nvSpPr>
        <p:spPr bwMode="auto">
          <a:xfrm>
            <a:off x="6384921" y="2707916"/>
            <a:ext cx="1601153" cy="721442"/>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6" name="Picture 30" descr="NOT"/>
          <p:cNvPicPr>
            <a:picLocks noChangeAspect="1" noChangeArrowheads="1"/>
          </p:cNvPicPr>
          <p:nvPr/>
        </p:nvPicPr>
        <p:blipFill>
          <a:blip r:embed="rId2" cstate="print"/>
          <a:srcRect/>
          <a:stretch>
            <a:fillRect/>
          </a:stretch>
        </p:blipFill>
        <p:spPr bwMode="auto">
          <a:xfrm flipH="1">
            <a:off x="4745985" y="2347555"/>
            <a:ext cx="717550" cy="720725"/>
          </a:xfrm>
          <a:prstGeom prst="rect">
            <a:avLst/>
          </a:prstGeom>
          <a:noFill/>
        </p:spPr>
      </p:pic>
      <p:pic>
        <p:nvPicPr>
          <p:cNvPr id="7" name="Picture 31" descr="NOT"/>
          <p:cNvPicPr>
            <a:picLocks noChangeAspect="1" noChangeArrowheads="1"/>
          </p:cNvPicPr>
          <p:nvPr/>
        </p:nvPicPr>
        <p:blipFill>
          <a:blip r:embed="rId2" cstate="print"/>
          <a:srcRect/>
          <a:stretch>
            <a:fillRect/>
          </a:stretch>
        </p:blipFill>
        <p:spPr bwMode="auto">
          <a:xfrm>
            <a:off x="4745985" y="3068280"/>
            <a:ext cx="717550" cy="720725"/>
          </a:xfrm>
          <a:prstGeom prst="rect">
            <a:avLst/>
          </a:prstGeom>
          <a:noFill/>
        </p:spPr>
      </p:pic>
      <p:pic>
        <p:nvPicPr>
          <p:cNvPr id="8" name="Picture 32" descr="NOT"/>
          <p:cNvPicPr>
            <a:picLocks noChangeAspect="1" noChangeArrowheads="1"/>
          </p:cNvPicPr>
          <p:nvPr/>
        </p:nvPicPr>
        <p:blipFill>
          <a:blip r:embed="rId2" cstate="print"/>
          <a:srcRect/>
          <a:stretch>
            <a:fillRect/>
          </a:stretch>
        </p:blipFill>
        <p:spPr bwMode="auto">
          <a:xfrm flipH="1">
            <a:off x="6906573" y="2347555"/>
            <a:ext cx="717550" cy="720725"/>
          </a:xfrm>
          <a:prstGeom prst="rect">
            <a:avLst/>
          </a:prstGeom>
          <a:noFill/>
        </p:spPr>
      </p:pic>
      <p:pic>
        <p:nvPicPr>
          <p:cNvPr id="9" name="Picture 33" descr="NOT"/>
          <p:cNvPicPr>
            <a:picLocks noChangeAspect="1" noChangeArrowheads="1"/>
          </p:cNvPicPr>
          <p:nvPr/>
        </p:nvPicPr>
        <p:blipFill>
          <a:blip r:embed="rId2" cstate="print"/>
          <a:srcRect/>
          <a:stretch>
            <a:fillRect/>
          </a:stretch>
        </p:blipFill>
        <p:spPr bwMode="auto">
          <a:xfrm>
            <a:off x="6906573" y="3068280"/>
            <a:ext cx="717550" cy="720725"/>
          </a:xfrm>
          <a:prstGeom prst="rect">
            <a:avLst/>
          </a:prstGeom>
          <a:noFill/>
        </p:spPr>
      </p:pic>
      <p:sp>
        <p:nvSpPr>
          <p:cNvPr id="10" name="Line 45"/>
          <p:cNvSpPr>
            <a:spLocks noChangeShapeType="1"/>
          </p:cNvSpPr>
          <p:nvPr/>
        </p:nvSpPr>
        <p:spPr bwMode="auto">
          <a:xfrm>
            <a:off x="5825486" y="3428640"/>
            <a:ext cx="739437" cy="718"/>
          </a:xfrm>
          <a:prstGeom prst="line">
            <a:avLst/>
          </a:prstGeom>
          <a:noFill/>
          <a:ln w="9525">
            <a:solidFill>
              <a:schemeClr val="tx1"/>
            </a:solidFill>
            <a:round/>
            <a:headEnd type="oval" w="sm" len="sm"/>
            <a:tailEnd type="triangle" w="med" len="med"/>
          </a:ln>
          <a:effectLst/>
        </p:spPr>
        <p:txBody>
          <a:bodyPr wrap="none" lIns="90000" tIns="46800" rIns="90000" bIns="46800" anchor="ctr"/>
          <a:lstStyle/>
          <a:p>
            <a:endParaRPr lang="ja-JP" altLang="en-US"/>
          </a:p>
        </p:txBody>
      </p:sp>
      <p:sp>
        <p:nvSpPr>
          <p:cNvPr id="11" name="Line 46"/>
          <p:cNvSpPr>
            <a:spLocks noChangeShapeType="1"/>
          </p:cNvSpPr>
          <p:nvPr/>
        </p:nvSpPr>
        <p:spPr bwMode="auto">
          <a:xfrm>
            <a:off x="3666486" y="3428640"/>
            <a:ext cx="738413" cy="718"/>
          </a:xfrm>
          <a:prstGeom prst="line">
            <a:avLst/>
          </a:prstGeom>
          <a:noFill/>
          <a:ln w="9525">
            <a:solidFill>
              <a:schemeClr val="tx1"/>
            </a:solidFill>
            <a:round/>
            <a:headEnd type="none" w="sm" len="sm"/>
            <a:tailEnd type="triangle" w="med" len="med"/>
          </a:ln>
          <a:effectLst/>
        </p:spPr>
        <p:txBody>
          <a:bodyPr wrap="none" lIns="90000" tIns="46800" rIns="90000" bIns="46800" anchor="ctr"/>
          <a:lstStyle/>
          <a:p>
            <a:endParaRPr lang="ja-JP" altLang="en-US"/>
          </a:p>
        </p:txBody>
      </p:sp>
      <p:sp>
        <p:nvSpPr>
          <p:cNvPr id="12" name="Line 56"/>
          <p:cNvSpPr>
            <a:spLocks noChangeShapeType="1"/>
          </p:cNvSpPr>
          <p:nvPr/>
        </p:nvSpPr>
        <p:spPr bwMode="auto">
          <a:xfrm>
            <a:off x="7986073" y="3428641"/>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13" name="Rectangle 58"/>
          <p:cNvSpPr>
            <a:spLocks noChangeArrowheads="1"/>
          </p:cNvSpPr>
          <p:nvPr/>
        </p:nvSpPr>
        <p:spPr bwMode="auto">
          <a:xfrm>
            <a:off x="3306123" y="3249254"/>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14" name="Rectangle 59"/>
          <p:cNvSpPr>
            <a:spLocks noChangeArrowheads="1"/>
          </p:cNvSpPr>
          <p:nvPr/>
        </p:nvSpPr>
        <p:spPr bwMode="auto">
          <a:xfrm>
            <a:off x="8346436" y="3249254"/>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15" name="フローチャート: 手作業 14"/>
          <p:cNvSpPr/>
          <p:nvPr/>
        </p:nvSpPr>
        <p:spPr bwMode="auto">
          <a:xfrm rot="16200000">
            <a:off x="4269898" y="3294356"/>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16" name="Freeform 10"/>
          <p:cNvSpPr>
            <a:spLocks/>
          </p:cNvSpPr>
          <p:nvPr/>
        </p:nvSpPr>
        <p:spPr bwMode="auto">
          <a:xfrm>
            <a:off x="4224896" y="3069354"/>
            <a:ext cx="180002" cy="180002"/>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7" name="フローチャート: 手作業 16"/>
          <p:cNvSpPr/>
          <p:nvPr/>
        </p:nvSpPr>
        <p:spPr bwMode="auto">
          <a:xfrm rot="16200000">
            <a:off x="6429922" y="3294356"/>
            <a:ext cx="450005" cy="180002"/>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latin typeface="メイリオ" panose="020B0604030504040204" pitchFamily="50" charset="-128"/>
              <a:ea typeface="メイリオ" panose="020B0604030504040204" pitchFamily="50" charset="-128"/>
            </a:endParaRPr>
          </a:p>
        </p:txBody>
      </p:sp>
      <p:sp>
        <p:nvSpPr>
          <p:cNvPr id="18" name="Freeform 10"/>
          <p:cNvSpPr>
            <a:spLocks/>
          </p:cNvSpPr>
          <p:nvPr/>
        </p:nvSpPr>
        <p:spPr bwMode="auto">
          <a:xfrm>
            <a:off x="6384920" y="2979353"/>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nvGrpSpPr>
          <p:cNvPr id="48" name="グループ化 47"/>
          <p:cNvGrpSpPr/>
          <p:nvPr/>
        </p:nvGrpSpPr>
        <p:grpSpPr>
          <a:xfrm>
            <a:off x="4674902" y="5424879"/>
            <a:ext cx="1080010" cy="1170013"/>
            <a:chOff x="1871970" y="2562739"/>
            <a:chExt cx="1890019" cy="2559383"/>
          </a:xfrm>
        </p:grpSpPr>
        <p:grpSp>
          <p:nvGrpSpPr>
            <p:cNvPr id="21" name="グループ化 20"/>
            <p:cNvGrpSpPr/>
            <p:nvPr/>
          </p:nvGrpSpPr>
          <p:grpSpPr>
            <a:xfrm>
              <a:off x="2996967" y="4942097"/>
              <a:ext cx="360048" cy="180025"/>
              <a:chOff x="1736601" y="2511982"/>
              <a:chExt cx="360048" cy="180025"/>
            </a:xfrm>
          </p:grpSpPr>
          <p:cxnSp>
            <p:nvCxnSpPr>
              <p:cNvPr id="22" name="直線コネクタ 21"/>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5" name="グループ化 24"/>
            <p:cNvGrpSpPr/>
            <p:nvPr/>
          </p:nvGrpSpPr>
          <p:grpSpPr>
            <a:xfrm>
              <a:off x="2861981" y="4059007"/>
              <a:ext cx="270036" cy="360048"/>
              <a:chOff x="6282228" y="1988808"/>
              <a:chExt cx="270036" cy="360048"/>
            </a:xfrm>
          </p:grpSpPr>
          <p:cxnSp>
            <p:nvCxnSpPr>
              <p:cNvPr id="26" name="直線コネクタ 2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0" name="直線コネクタ 2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5" name="グループ化 34"/>
            <p:cNvGrpSpPr/>
            <p:nvPr/>
          </p:nvGrpSpPr>
          <p:grpSpPr>
            <a:xfrm>
              <a:off x="2771980" y="2978995"/>
              <a:ext cx="360048" cy="360048"/>
              <a:chOff x="3131808" y="1628760"/>
              <a:chExt cx="360048" cy="360048"/>
            </a:xfrm>
          </p:grpSpPr>
          <p:cxnSp>
            <p:nvCxnSpPr>
              <p:cNvPr id="36" name="直線コネクタ 3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0" name="円/楕円 3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42" name="直線コネクタ 4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6" name="グループ化 75"/>
          <p:cNvGrpSpPr/>
          <p:nvPr/>
        </p:nvGrpSpPr>
        <p:grpSpPr>
          <a:xfrm rot="10800000">
            <a:off x="4674902" y="4059366"/>
            <a:ext cx="1080010" cy="1170013"/>
            <a:chOff x="1871970" y="2562739"/>
            <a:chExt cx="1890019" cy="2559383"/>
          </a:xfrm>
        </p:grpSpPr>
        <p:grpSp>
          <p:nvGrpSpPr>
            <p:cNvPr id="77" name="グループ化 76"/>
            <p:cNvGrpSpPr/>
            <p:nvPr/>
          </p:nvGrpSpPr>
          <p:grpSpPr>
            <a:xfrm>
              <a:off x="2996967" y="4942097"/>
              <a:ext cx="360048" cy="180025"/>
              <a:chOff x="1736601" y="2511982"/>
              <a:chExt cx="360048" cy="180025"/>
            </a:xfrm>
          </p:grpSpPr>
          <p:cxnSp>
            <p:nvCxnSpPr>
              <p:cNvPr id="97" name="直線コネクタ 96"/>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8" name="グループ化 77"/>
            <p:cNvGrpSpPr/>
            <p:nvPr/>
          </p:nvGrpSpPr>
          <p:grpSpPr>
            <a:xfrm>
              <a:off x="2861981" y="4059007"/>
              <a:ext cx="270036" cy="360048"/>
              <a:chOff x="6282228" y="1988808"/>
              <a:chExt cx="270036" cy="360048"/>
            </a:xfrm>
          </p:grpSpPr>
          <p:cxnSp>
            <p:nvCxnSpPr>
              <p:cNvPr id="93" name="直線コネクタ 9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9" name="直線コネクタ 78"/>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0" name="直線コネクタ 79"/>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1" name="直線コネクタ 80"/>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82"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3"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84" name="グループ化 83"/>
            <p:cNvGrpSpPr/>
            <p:nvPr/>
          </p:nvGrpSpPr>
          <p:grpSpPr>
            <a:xfrm>
              <a:off x="2771980" y="2978995"/>
              <a:ext cx="360048" cy="360048"/>
              <a:chOff x="3131808" y="1628760"/>
              <a:chExt cx="360048" cy="360048"/>
            </a:xfrm>
          </p:grpSpPr>
          <p:cxnSp>
            <p:nvCxnSpPr>
              <p:cNvPr id="88" name="直線コネクタ 8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9" name="直線コネクタ 8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92" name="円/楕円 9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85" name="直線コネクタ 84"/>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00" name="Line 46"/>
          <p:cNvSpPr>
            <a:spLocks noChangeShapeType="1"/>
          </p:cNvSpPr>
          <p:nvPr/>
        </p:nvSpPr>
        <p:spPr bwMode="auto">
          <a:xfrm flipV="1">
            <a:off x="5754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13" name="グループ化 112"/>
          <p:cNvGrpSpPr/>
          <p:nvPr/>
        </p:nvGrpSpPr>
        <p:grpSpPr>
          <a:xfrm rot="5400000">
            <a:off x="4089880" y="5829900"/>
            <a:ext cx="270041" cy="180007"/>
            <a:chOff x="1601967" y="3609002"/>
            <a:chExt cx="540039" cy="360048"/>
          </a:xfrm>
        </p:grpSpPr>
        <p:grpSp>
          <p:nvGrpSpPr>
            <p:cNvPr id="114" name="グループ化 113"/>
            <p:cNvGrpSpPr/>
            <p:nvPr/>
          </p:nvGrpSpPr>
          <p:grpSpPr>
            <a:xfrm rot="10800000">
              <a:off x="1871970" y="3609002"/>
              <a:ext cx="270036" cy="360048"/>
              <a:chOff x="6282228" y="1988808"/>
              <a:chExt cx="270036" cy="360048"/>
            </a:xfrm>
          </p:grpSpPr>
          <p:cxnSp>
            <p:nvCxnSpPr>
              <p:cNvPr id="121" name="直線コネクタ 12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 name="直線コネクタ 12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15" name="グループ化 114"/>
            <p:cNvGrpSpPr/>
            <p:nvPr/>
          </p:nvGrpSpPr>
          <p:grpSpPr>
            <a:xfrm>
              <a:off x="1601967" y="3609002"/>
              <a:ext cx="360048" cy="360048"/>
              <a:chOff x="3131808" y="1628760"/>
              <a:chExt cx="360048" cy="360048"/>
            </a:xfrm>
          </p:grpSpPr>
          <p:cxnSp>
            <p:nvCxnSpPr>
              <p:cNvPr id="116" name="直線コネクタ 11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0" name="円/楕円 11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25" name="グループ化 124"/>
          <p:cNvGrpSpPr/>
          <p:nvPr/>
        </p:nvGrpSpPr>
        <p:grpSpPr>
          <a:xfrm>
            <a:off x="4404900" y="5229379"/>
            <a:ext cx="270041" cy="180007"/>
            <a:chOff x="1601967" y="3609002"/>
            <a:chExt cx="540039" cy="360048"/>
          </a:xfrm>
        </p:grpSpPr>
        <p:grpSp>
          <p:nvGrpSpPr>
            <p:cNvPr id="126" name="グループ化 125"/>
            <p:cNvGrpSpPr/>
            <p:nvPr/>
          </p:nvGrpSpPr>
          <p:grpSpPr>
            <a:xfrm rot="10800000">
              <a:off x="1871970" y="3609002"/>
              <a:ext cx="270036" cy="360048"/>
              <a:chOff x="6282228" y="1988808"/>
              <a:chExt cx="270036" cy="360048"/>
            </a:xfrm>
          </p:grpSpPr>
          <p:cxnSp>
            <p:nvCxnSpPr>
              <p:cNvPr id="133" name="直線コネクタ 13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 name="直線コネクタ 13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7" name="グループ化 126"/>
            <p:cNvGrpSpPr/>
            <p:nvPr/>
          </p:nvGrpSpPr>
          <p:grpSpPr>
            <a:xfrm>
              <a:off x="1601967" y="3609002"/>
              <a:ext cx="360048" cy="360048"/>
              <a:chOff x="3131808" y="1628760"/>
              <a:chExt cx="360048" cy="360048"/>
            </a:xfrm>
          </p:grpSpPr>
          <p:cxnSp>
            <p:nvCxnSpPr>
              <p:cNvPr id="128" name="直線コネクタ 12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 name="直線コネクタ 13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2" name="円/楕円 13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7" name="Line 46"/>
          <p:cNvSpPr>
            <a:spLocks noChangeShapeType="1"/>
          </p:cNvSpPr>
          <p:nvPr/>
        </p:nvSpPr>
        <p:spPr bwMode="auto">
          <a:xfrm>
            <a:off x="4314899"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8" name="Line 46"/>
          <p:cNvSpPr>
            <a:spLocks noChangeShapeType="1"/>
          </p:cNvSpPr>
          <p:nvPr/>
        </p:nvSpPr>
        <p:spPr bwMode="auto">
          <a:xfrm flipH="1" flipV="1">
            <a:off x="4569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9" name="Line 46"/>
          <p:cNvSpPr>
            <a:spLocks noChangeShapeType="1"/>
          </p:cNvSpPr>
          <p:nvPr/>
        </p:nvSpPr>
        <p:spPr bwMode="auto">
          <a:xfrm flipH="1" flipV="1">
            <a:off x="4553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0" name="Line 46"/>
          <p:cNvSpPr>
            <a:spLocks noChangeShapeType="1"/>
          </p:cNvSpPr>
          <p:nvPr/>
        </p:nvSpPr>
        <p:spPr bwMode="auto">
          <a:xfrm flipV="1">
            <a:off x="4541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2" name="Line 46"/>
          <p:cNvSpPr>
            <a:spLocks noChangeShapeType="1"/>
          </p:cNvSpPr>
          <p:nvPr/>
        </p:nvSpPr>
        <p:spPr bwMode="auto">
          <a:xfrm>
            <a:off x="3774894"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44" name="Line 46"/>
          <p:cNvSpPr>
            <a:spLocks noChangeShapeType="1"/>
          </p:cNvSpPr>
          <p:nvPr/>
        </p:nvSpPr>
        <p:spPr bwMode="auto">
          <a:xfrm flipV="1">
            <a:off x="5754915"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45" name="グループ化 144"/>
          <p:cNvGrpSpPr/>
          <p:nvPr/>
        </p:nvGrpSpPr>
        <p:grpSpPr>
          <a:xfrm>
            <a:off x="6744924" y="5424879"/>
            <a:ext cx="1080010" cy="1170013"/>
            <a:chOff x="1871970" y="2562739"/>
            <a:chExt cx="1890019" cy="2559383"/>
          </a:xfrm>
        </p:grpSpPr>
        <p:grpSp>
          <p:nvGrpSpPr>
            <p:cNvPr id="146" name="グループ化 145"/>
            <p:cNvGrpSpPr/>
            <p:nvPr/>
          </p:nvGrpSpPr>
          <p:grpSpPr>
            <a:xfrm>
              <a:off x="2996967" y="4942097"/>
              <a:ext cx="360048" cy="180025"/>
              <a:chOff x="1736601" y="2511982"/>
              <a:chExt cx="360048" cy="180025"/>
            </a:xfrm>
          </p:grpSpPr>
          <p:cxnSp>
            <p:nvCxnSpPr>
              <p:cNvPr id="166" name="直線コネクタ 16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7" name="直線コネクタ 16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8" name="直線コネクタ 16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7" name="グループ化 146"/>
            <p:cNvGrpSpPr/>
            <p:nvPr/>
          </p:nvGrpSpPr>
          <p:grpSpPr>
            <a:xfrm>
              <a:off x="2861981" y="4059007"/>
              <a:ext cx="270036" cy="360048"/>
              <a:chOff x="6282228" y="1988808"/>
              <a:chExt cx="270036" cy="360048"/>
            </a:xfrm>
          </p:grpSpPr>
          <p:cxnSp>
            <p:nvCxnSpPr>
              <p:cNvPr id="162" name="直線コネクタ 16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3" name="直線コネクタ 16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4" name="直線コネクタ 16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5" name="直線コネクタ 16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8" name="直線コネクタ 14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5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53" name="グループ化 152"/>
            <p:cNvGrpSpPr/>
            <p:nvPr/>
          </p:nvGrpSpPr>
          <p:grpSpPr>
            <a:xfrm>
              <a:off x="2771980" y="2978995"/>
              <a:ext cx="360048" cy="360048"/>
              <a:chOff x="3131808" y="1628760"/>
              <a:chExt cx="360048" cy="360048"/>
            </a:xfrm>
          </p:grpSpPr>
          <p:cxnSp>
            <p:nvCxnSpPr>
              <p:cNvPr id="157" name="直線コネクタ 15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8" name="直線コネクタ 15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9" name="直線コネクタ 15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0" name="直線コネクタ 15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61" name="円/楕円 16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54" name="直線コネクタ 15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6" name="直線コネクタ 15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69" name="グループ化 168"/>
          <p:cNvGrpSpPr/>
          <p:nvPr/>
        </p:nvGrpSpPr>
        <p:grpSpPr>
          <a:xfrm rot="10800000">
            <a:off x="6744924" y="4059366"/>
            <a:ext cx="1080010" cy="1170013"/>
            <a:chOff x="1871970" y="2562739"/>
            <a:chExt cx="1890019" cy="2559383"/>
          </a:xfrm>
        </p:grpSpPr>
        <p:grpSp>
          <p:nvGrpSpPr>
            <p:cNvPr id="170" name="グループ化 169"/>
            <p:cNvGrpSpPr/>
            <p:nvPr/>
          </p:nvGrpSpPr>
          <p:grpSpPr>
            <a:xfrm>
              <a:off x="2996967" y="4942097"/>
              <a:ext cx="360048" cy="180025"/>
              <a:chOff x="1736601" y="2511982"/>
              <a:chExt cx="360048" cy="180025"/>
            </a:xfrm>
          </p:grpSpPr>
          <p:cxnSp>
            <p:nvCxnSpPr>
              <p:cNvPr id="190" name="直線コネクタ 189"/>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1" name="直線コネクタ 190"/>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71" name="グループ化 170"/>
            <p:cNvGrpSpPr/>
            <p:nvPr/>
          </p:nvGrpSpPr>
          <p:grpSpPr>
            <a:xfrm>
              <a:off x="2861981" y="4059007"/>
              <a:ext cx="270036" cy="360048"/>
              <a:chOff x="6282228" y="1988808"/>
              <a:chExt cx="270036" cy="360048"/>
            </a:xfrm>
          </p:grpSpPr>
          <p:cxnSp>
            <p:nvCxnSpPr>
              <p:cNvPr id="186" name="直線コネクタ 18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9" name="直線コネクタ 18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72" name="直線コネクタ 171"/>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73" name="直線コネクタ 172"/>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74" name="直線コネクタ 173"/>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75"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76"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77" name="グループ化 176"/>
            <p:cNvGrpSpPr/>
            <p:nvPr/>
          </p:nvGrpSpPr>
          <p:grpSpPr>
            <a:xfrm>
              <a:off x="2771980" y="2978995"/>
              <a:ext cx="360048" cy="360048"/>
              <a:chOff x="3131808" y="1628760"/>
              <a:chExt cx="360048" cy="360048"/>
            </a:xfrm>
          </p:grpSpPr>
          <p:cxnSp>
            <p:nvCxnSpPr>
              <p:cNvPr id="181" name="直線コネクタ 18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2" name="直線コネクタ 18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3" name="直線コネクタ 18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4" name="直線コネクタ 18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85" name="円/楕円 18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78" name="直線コネクタ 177"/>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79" name="直線コネクタ 178"/>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80" name="直線コネクタ 179"/>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93" name="Line 46"/>
          <p:cNvSpPr>
            <a:spLocks noChangeShapeType="1"/>
          </p:cNvSpPr>
          <p:nvPr/>
        </p:nvSpPr>
        <p:spPr bwMode="auto">
          <a:xfrm flipV="1">
            <a:off x="7824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94" name="グループ化 193"/>
          <p:cNvGrpSpPr/>
          <p:nvPr/>
        </p:nvGrpSpPr>
        <p:grpSpPr>
          <a:xfrm rot="5400000">
            <a:off x="6159902" y="5829900"/>
            <a:ext cx="270041" cy="180007"/>
            <a:chOff x="1601967" y="3609002"/>
            <a:chExt cx="540039" cy="360048"/>
          </a:xfrm>
        </p:grpSpPr>
        <p:grpSp>
          <p:nvGrpSpPr>
            <p:cNvPr id="195" name="グループ化 194"/>
            <p:cNvGrpSpPr/>
            <p:nvPr/>
          </p:nvGrpSpPr>
          <p:grpSpPr>
            <a:xfrm rot="10800000">
              <a:off x="1871970" y="3609002"/>
              <a:ext cx="270036" cy="360048"/>
              <a:chOff x="6282228" y="1988808"/>
              <a:chExt cx="270036" cy="360048"/>
            </a:xfrm>
          </p:grpSpPr>
          <p:cxnSp>
            <p:nvCxnSpPr>
              <p:cNvPr id="202" name="直線コネクタ 20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96" name="グループ化 195"/>
            <p:cNvGrpSpPr/>
            <p:nvPr/>
          </p:nvGrpSpPr>
          <p:grpSpPr>
            <a:xfrm>
              <a:off x="1601967" y="3609002"/>
              <a:ext cx="360048" cy="360048"/>
              <a:chOff x="3131808" y="1628760"/>
              <a:chExt cx="360048" cy="360048"/>
            </a:xfrm>
          </p:grpSpPr>
          <p:cxnSp>
            <p:nvCxnSpPr>
              <p:cNvPr id="197" name="直線コネクタ 19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8" name="直線コネクタ 19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1" name="円/楕円 20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206" name="グループ化 205"/>
          <p:cNvGrpSpPr/>
          <p:nvPr/>
        </p:nvGrpSpPr>
        <p:grpSpPr>
          <a:xfrm>
            <a:off x="6474922" y="5229379"/>
            <a:ext cx="270041" cy="180007"/>
            <a:chOff x="1601967" y="3609002"/>
            <a:chExt cx="540039" cy="360048"/>
          </a:xfrm>
        </p:grpSpPr>
        <p:grpSp>
          <p:nvGrpSpPr>
            <p:cNvPr id="207" name="グループ化 206"/>
            <p:cNvGrpSpPr/>
            <p:nvPr/>
          </p:nvGrpSpPr>
          <p:grpSpPr>
            <a:xfrm rot="10800000">
              <a:off x="1871970" y="3609002"/>
              <a:ext cx="270036" cy="360048"/>
              <a:chOff x="6282228" y="1988808"/>
              <a:chExt cx="270036" cy="360048"/>
            </a:xfrm>
          </p:grpSpPr>
          <p:cxnSp>
            <p:nvCxnSpPr>
              <p:cNvPr id="214" name="直線コネクタ 21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5" name="直線コネクタ 21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6" name="直線コネクタ 21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7" name="直線コネクタ 21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08" name="グループ化 207"/>
            <p:cNvGrpSpPr/>
            <p:nvPr/>
          </p:nvGrpSpPr>
          <p:grpSpPr>
            <a:xfrm>
              <a:off x="1601967" y="3609002"/>
              <a:ext cx="360048" cy="360048"/>
              <a:chOff x="3131808" y="1628760"/>
              <a:chExt cx="360048" cy="360048"/>
            </a:xfrm>
          </p:grpSpPr>
          <p:cxnSp>
            <p:nvCxnSpPr>
              <p:cNvPr id="209" name="直線コネクタ 20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0" name="直線コネクタ 20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1" name="直線コネクタ 21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2" name="直線コネクタ 21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13" name="円/楕円 21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218" name="Line 46"/>
          <p:cNvSpPr>
            <a:spLocks noChangeShapeType="1"/>
          </p:cNvSpPr>
          <p:nvPr/>
        </p:nvSpPr>
        <p:spPr bwMode="auto">
          <a:xfrm>
            <a:off x="6384921"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19" name="Line 46"/>
          <p:cNvSpPr>
            <a:spLocks noChangeShapeType="1"/>
          </p:cNvSpPr>
          <p:nvPr/>
        </p:nvSpPr>
        <p:spPr bwMode="auto">
          <a:xfrm flipH="1" flipV="1">
            <a:off x="6639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220" name="Line 46"/>
          <p:cNvSpPr>
            <a:spLocks noChangeShapeType="1"/>
          </p:cNvSpPr>
          <p:nvPr/>
        </p:nvSpPr>
        <p:spPr bwMode="auto">
          <a:xfrm flipH="1" flipV="1">
            <a:off x="6623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21" name="Line 46"/>
          <p:cNvSpPr>
            <a:spLocks noChangeShapeType="1"/>
          </p:cNvSpPr>
          <p:nvPr/>
        </p:nvSpPr>
        <p:spPr bwMode="auto">
          <a:xfrm flipV="1">
            <a:off x="6611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223" name="Line 46"/>
          <p:cNvSpPr>
            <a:spLocks noChangeShapeType="1"/>
          </p:cNvSpPr>
          <p:nvPr/>
        </p:nvSpPr>
        <p:spPr bwMode="auto">
          <a:xfrm flipV="1">
            <a:off x="7824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224" name="グループ化 223"/>
          <p:cNvGrpSpPr/>
          <p:nvPr/>
        </p:nvGrpSpPr>
        <p:grpSpPr>
          <a:xfrm>
            <a:off x="5555995" y="998973"/>
            <a:ext cx="990011" cy="720008"/>
            <a:chOff x="6369707" y="1718772"/>
            <a:chExt cx="1441450" cy="1085855"/>
          </a:xfrm>
        </p:grpSpPr>
        <p:sp>
          <p:nvSpPr>
            <p:cNvPr id="225" name="Line 9"/>
            <p:cNvSpPr>
              <a:spLocks noChangeShapeType="1"/>
            </p:cNvSpPr>
            <p:nvPr/>
          </p:nvSpPr>
          <p:spPr bwMode="auto">
            <a:xfrm>
              <a:off x="6369707" y="1996594"/>
              <a:ext cx="1441450"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226" name="Rectangle 6"/>
            <p:cNvSpPr>
              <a:spLocks noChangeArrowheads="1"/>
            </p:cNvSpPr>
            <p:nvPr/>
          </p:nvSpPr>
          <p:spPr bwMode="auto">
            <a:xfrm>
              <a:off x="6732288" y="1718772"/>
              <a:ext cx="716919" cy="1085855"/>
            </a:xfrm>
            <a:prstGeom prst="rect">
              <a:avLst/>
            </a:prstGeom>
            <a:solidFill>
              <a:srgbClr val="FFFFFF"/>
            </a:solidFill>
            <a:ln w="25400" algn="ctr">
              <a:solidFill>
                <a:schemeClr val="tx1"/>
              </a:solidFill>
              <a:miter lim="800000"/>
              <a:headEnd/>
              <a:tailEnd type="none" w="med" len="lg"/>
            </a:ln>
            <a:effectLst/>
          </p:spPr>
          <p:txBody>
            <a:bodyPr wrap="none" lIns="90000" tIns="46800" rIns="90000" bIns="46800" anchor="ctr"/>
            <a:lstStyle/>
            <a:p>
              <a:endParaRPr lang="ja-JP" altLang="en-US" sz="1400"/>
            </a:p>
          </p:txBody>
        </p:sp>
        <p:sp>
          <p:nvSpPr>
            <p:cNvPr id="227" name="Rectangle 7"/>
            <p:cNvSpPr>
              <a:spLocks noChangeArrowheads="1"/>
            </p:cNvSpPr>
            <p:nvPr/>
          </p:nvSpPr>
          <p:spPr bwMode="auto">
            <a:xfrm>
              <a:off x="7088845" y="181720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q</a:t>
              </a:r>
              <a:endParaRPr lang="en-US" altLang="ja-JP" sz="1400" dirty="0"/>
            </a:p>
          </p:txBody>
        </p:sp>
        <p:sp>
          <p:nvSpPr>
            <p:cNvPr id="228" name="Rectangle 8"/>
            <p:cNvSpPr>
              <a:spLocks noChangeArrowheads="1"/>
            </p:cNvSpPr>
            <p:nvPr/>
          </p:nvSpPr>
          <p:spPr bwMode="auto">
            <a:xfrm>
              <a:off x="6730070" y="1817206"/>
              <a:ext cx="360362" cy="360363"/>
            </a:xfrm>
            <a:prstGeom prst="rect">
              <a:avLst/>
            </a:prstGeom>
            <a:noFill/>
            <a:ln w="12700" algn="ctr">
              <a:noFill/>
              <a:miter lim="800000"/>
              <a:headEnd/>
              <a:tailEnd/>
            </a:ln>
            <a:effectLst/>
          </p:spPr>
          <p:txBody>
            <a:bodyPr wrap="none" lIns="90000" tIns="46800" rIns="90000" bIns="46800" anchor="ctr"/>
            <a:lstStyle/>
            <a:p>
              <a:pPr algn="l"/>
              <a:r>
                <a:rPr lang="en-US" altLang="ja-JP" sz="1400" i="1" dirty="0"/>
                <a:t>d</a:t>
              </a:r>
              <a:endParaRPr lang="en-US" altLang="ja-JP" sz="1400" dirty="0"/>
            </a:p>
          </p:txBody>
        </p:sp>
        <p:sp>
          <p:nvSpPr>
            <p:cNvPr id="229" name="Freeform 10"/>
            <p:cNvSpPr>
              <a:spLocks/>
            </p:cNvSpPr>
            <p:nvPr/>
          </p:nvSpPr>
          <p:spPr bwMode="auto">
            <a:xfrm rot="5400000">
              <a:off x="6732287" y="2438870"/>
              <a:ext cx="180024" cy="180024"/>
            </a:xfrm>
            <a:custGeom>
              <a:avLst/>
              <a:gdLst/>
              <a:ahLst/>
              <a:cxnLst>
                <a:cxn ang="0">
                  <a:pos x="0" y="114"/>
                </a:cxn>
                <a:cxn ang="0">
                  <a:pos x="56" y="0"/>
                </a:cxn>
                <a:cxn ang="0">
                  <a:pos x="113" y="114"/>
                </a:cxn>
              </a:cxnLst>
              <a:rect l="0" t="0" r="r" b="b"/>
              <a:pathLst>
                <a:path w="113" h="114">
                  <a:moveTo>
                    <a:pt x="0" y="114"/>
                  </a:moveTo>
                  <a:lnTo>
                    <a:pt x="56" y="0"/>
                  </a:lnTo>
                  <a:lnTo>
                    <a:pt x="113" y="114"/>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sz="1400"/>
            </a:p>
          </p:txBody>
        </p:sp>
        <p:sp>
          <p:nvSpPr>
            <p:cNvPr id="230" name="Line 12"/>
            <p:cNvSpPr>
              <a:spLocks noChangeShapeType="1"/>
            </p:cNvSpPr>
            <p:nvPr/>
          </p:nvSpPr>
          <p:spPr bwMode="auto">
            <a:xfrm flipV="1">
              <a:off x="6369707" y="2536344"/>
              <a:ext cx="360363" cy="1587"/>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400"/>
            </a:p>
          </p:txBody>
        </p:sp>
        <p:sp>
          <p:nvSpPr>
            <p:cNvPr id="231" name="Rectangle 11"/>
            <p:cNvSpPr>
              <a:spLocks noChangeArrowheads="1"/>
            </p:cNvSpPr>
            <p:nvPr/>
          </p:nvSpPr>
          <p:spPr bwMode="auto">
            <a:xfrm>
              <a:off x="6642023" y="2348988"/>
              <a:ext cx="720097" cy="360049"/>
            </a:xfrm>
            <a:prstGeom prst="rect">
              <a:avLst/>
            </a:prstGeom>
            <a:noFill/>
            <a:ln w="12700" algn="ctr">
              <a:noFill/>
              <a:miter lim="800000"/>
              <a:headEnd/>
              <a:tailEnd/>
            </a:ln>
            <a:effectLst/>
          </p:spPr>
          <p:txBody>
            <a:bodyPr wrap="none" lIns="90000" tIns="46800" rIns="90000" bIns="46800" anchor="ctr"/>
            <a:lstStyle/>
            <a:p>
              <a:pPr algn="r"/>
              <a:r>
                <a:rPr lang="en-US" altLang="ja-JP" sz="1400" i="1" dirty="0"/>
                <a:t>clk</a:t>
              </a:r>
              <a:endParaRPr lang="en-US" altLang="ja-JP" sz="1400" dirty="0"/>
            </a:p>
          </p:txBody>
        </p:sp>
      </p:grpSp>
    </p:spTree>
    <p:extLst>
      <p:ext uri="{BB962C8B-B14F-4D97-AF65-F5344CB8AC3E}">
        <p14:creationId xmlns:p14="http://schemas.microsoft.com/office/powerpoint/2010/main" val="375927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マルチプレクサ：トランジスタ </a:t>
            </a:r>
            <a:r>
              <a:rPr kumimoji="1" lang="en-US" altLang="ja-JP" dirty="0"/>
              <a:t>6</a:t>
            </a:r>
            <a:r>
              <a:rPr kumimoji="1" lang="ja-JP" altLang="en-US" dirty="0"/>
              <a:t>個</a:t>
            </a:r>
          </a:p>
        </p:txBody>
      </p:sp>
      <p:sp>
        <p:nvSpPr>
          <p:cNvPr id="232" name="Line 9"/>
          <p:cNvSpPr>
            <a:spLocks noChangeShapeType="1"/>
          </p:cNvSpPr>
          <p:nvPr/>
        </p:nvSpPr>
        <p:spPr bwMode="auto">
          <a:xfrm>
            <a:off x="5195991" y="1988984"/>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33" name="Line 9"/>
          <p:cNvSpPr>
            <a:spLocks noChangeShapeType="1"/>
          </p:cNvSpPr>
          <p:nvPr/>
        </p:nvSpPr>
        <p:spPr bwMode="auto">
          <a:xfrm>
            <a:off x="5195991" y="2708992"/>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sp>
        <p:nvSpPr>
          <p:cNvPr id="234" name="Line 9"/>
          <p:cNvSpPr>
            <a:spLocks noChangeShapeType="1"/>
          </p:cNvSpPr>
          <p:nvPr/>
        </p:nvSpPr>
        <p:spPr bwMode="auto">
          <a:xfrm>
            <a:off x="5825998" y="2348988"/>
            <a:ext cx="450005" cy="0"/>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sp>
        <p:nvSpPr>
          <p:cNvPr id="222" name="フローチャート: 手作業 221"/>
          <p:cNvSpPr/>
          <p:nvPr/>
        </p:nvSpPr>
        <p:spPr bwMode="auto">
          <a:xfrm rot="16200000">
            <a:off x="5150990" y="2213987"/>
            <a:ext cx="1260014" cy="270003"/>
          </a:xfrm>
          <a:prstGeom prst="flowChartManualOperation">
            <a:avLst/>
          </a:prstGeom>
          <a:ln>
            <a:headEnd/>
            <a:tailEnd type="triangle" w="sm" len="med"/>
          </a:ln>
        </p:spPr>
        <p:style>
          <a:lnRef idx="2">
            <a:schemeClr val="dk1"/>
          </a:lnRef>
          <a:fillRef idx="1">
            <a:schemeClr val="lt1"/>
          </a:fillRef>
          <a:effectRef idx="0">
            <a:schemeClr val="dk1"/>
          </a:effectRef>
          <a:fontRef idx="minor">
            <a:schemeClr val="dk1"/>
          </a:fontRef>
        </p:style>
        <p:txBody>
          <a:bodyPr vert="vert" rtlCol="0" anchor="ctr"/>
          <a:lstStyle/>
          <a:p>
            <a:pPr algn="ctr"/>
            <a:endParaRPr lang="en-US" altLang="ja-JP" sz="1400" dirty="0">
              <a:ea typeface="メイリオ" panose="020B0604030504040204" pitchFamily="50" charset="-128"/>
            </a:endParaRPr>
          </a:p>
        </p:txBody>
      </p:sp>
      <p:sp>
        <p:nvSpPr>
          <p:cNvPr id="310" name="Line 9"/>
          <p:cNvSpPr>
            <a:spLocks noChangeShapeType="1"/>
          </p:cNvSpPr>
          <p:nvPr/>
        </p:nvSpPr>
        <p:spPr bwMode="auto">
          <a:xfrm>
            <a:off x="5825998" y="1538979"/>
            <a:ext cx="0" cy="360004"/>
          </a:xfrm>
          <a:prstGeom prst="line">
            <a:avLst/>
          </a:prstGeom>
          <a:noFill/>
          <a:ln w="9525">
            <a:solidFill>
              <a:schemeClr val="tx1"/>
            </a:solidFill>
            <a:round/>
            <a:headEnd/>
            <a:tailEnd type="triangle" w="med" len="lg"/>
          </a:ln>
          <a:effectLst/>
        </p:spPr>
        <p:txBody>
          <a:bodyPr wrap="none" lIns="90000" tIns="46800" rIns="90000" bIns="46800" anchor="ctr"/>
          <a:lstStyle/>
          <a:p>
            <a:endParaRPr lang="ja-JP" altLang="en-US" sz="1200"/>
          </a:p>
        </p:txBody>
      </p:sp>
      <p:grpSp>
        <p:nvGrpSpPr>
          <p:cNvPr id="19" name="グループ化 18"/>
          <p:cNvGrpSpPr/>
          <p:nvPr/>
        </p:nvGrpSpPr>
        <p:grpSpPr>
          <a:xfrm>
            <a:off x="4745986" y="3789005"/>
            <a:ext cx="2521029" cy="1530055"/>
            <a:chOff x="2361128" y="5229020"/>
            <a:chExt cx="1489701" cy="810047"/>
          </a:xfrm>
        </p:grpSpPr>
        <p:grpSp>
          <p:nvGrpSpPr>
            <p:cNvPr id="286" name="グループ化 285"/>
            <p:cNvGrpSpPr/>
            <p:nvPr/>
          </p:nvGrpSpPr>
          <p:grpSpPr>
            <a:xfrm rot="16200000">
              <a:off x="2906965" y="5814043"/>
              <a:ext cx="270041" cy="180007"/>
              <a:chOff x="1601967" y="3609002"/>
              <a:chExt cx="540039" cy="360048"/>
            </a:xfrm>
          </p:grpSpPr>
          <p:grpSp>
            <p:nvGrpSpPr>
              <p:cNvPr id="287" name="グループ化 286"/>
              <p:cNvGrpSpPr/>
              <p:nvPr/>
            </p:nvGrpSpPr>
            <p:grpSpPr>
              <a:xfrm rot="10800000">
                <a:off x="1871970" y="3609002"/>
                <a:ext cx="270036" cy="360048"/>
                <a:chOff x="6282228" y="1988808"/>
                <a:chExt cx="270036" cy="360048"/>
              </a:xfrm>
            </p:grpSpPr>
            <p:cxnSp>
              <p:nvCxnSpPr>
                <p:cNvPr id="294" name="直線コネクタ 29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5" name="直線コネクタ 29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6" name="直線コネクタ 29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7" name="直線コネクタ 29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88" name="グループ化 287"/>
              <p:cNvGrpSpPr/>
              <p:nvPr/>
            </p:nvGrpSpPr>
            <p:grpSpPr>
              <a:xfrm>
                <a:off x="1601967" y="3609002"/>
                <a:ext cx="360048" cy="360048"/>
                <a:chOff x="3131808" y="1628760"/>
                <a:chExt cx="360048" cy="360048"/>
              </a:xfrm>
            </p:grpSpPr>
            <p:cxnSp>
              <p:nvCxnSpPr>
                <p:cNvPr id="289" name="直線コネクタ 28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0" name="直線コネクタ 28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1" name="直線コネクタ 29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2" name="直線コネクタ 29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93" name="円/楕円 29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298" name="グループ化 297"/>
            <p:cNvGrpSpPr/>
            <p:nvPr/>
          </p:nvGrpSpPr>
          <p:grpSpPr>
            <a:xfrm rot="5400000">
              <a:off x="2906965" y="5274037"/>
              <a:ext cx="270041" cy="180007"/>
              <a:chOff x="1601967" y="3609002"/>
              <a:chExt cx="540039" cy="360048"/>
            </a:xfrm>
          </p:grpSpPr>
          <p:grpSp>
            <p:nvGrpSpPr>
              <p:cNvPr id="299" name="グループ化 298"/>
              <p:cNvGrpSpPr/>
              <p:nvPr/>
            </p:nvGrpSpPr>
            <p:grpSpPr>
              <a:xfrm rot="10800000">
                <a:off x="1871970" y="3609002"/>
                <a:ext cx="270036" cy="360048"/>
                <a:chOff x="6282228" y="1988808"/>
                <a:chExt cx="270036" cy="360048"/>
              </a:xfrm>
            </p:grpSpPr>
            <p:cxnSp>
              <p:nvCxnSpPr>
                <p:cNvPr id="306" name="直線コネクタ 30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7" name="直線コネクタ 30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8" name="直線コネクタ 30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9" name="直線コネクタ 30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00" name="グループ化 299"/>
              <p:cNvGrpSpPr/>
              <p:nvPr/>
            </p:nvGrpSpPr>
            <p:grpSpPr>
              <a:xfrm>
                <a:off x="1601967" y="3609002"/>
                <a:ext cx="360048" cy="360048"/>
                <a:chOff x="3131808" y="1628760"/>
                <a:chExt cx="360048" cy="360048"/>
              </a:xfrm>
            </p:grpSpPr>
            <p:cxnSp>
              <p:nvCxnSpPr>
                <p:cNvPr id="301" name="直線コネクタ 30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2" name="直線コネクタ 30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3" name="直線コネクタ 30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4" name="直線コネクタ 30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05" name="円/楕円 30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311"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2"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3"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4"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315"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17" name="Line 9"/>
            <p:cNvSpPr>
              <a:spLocks noChangeShapeType="1"/>
            </p:cNvSpPr>
            <p:nvPr/>
          </p:nvSpPr>
          <p:spPr bwMode="auto">
            <a:xfrm>
              <a:off x="3400824" y="5625038"/>
              <a:ext cx="450005" cy="0"/>
            </a:xfrm>
            <a:prstGeom prst="line">
              <a:avLst/>
            </a:prstGeom>
            <a:noFill/>
            <a:ln w="9525">
              <a:solidFill>
                <a:schemeClr val="tx1"/>
              </a:solidFill>
              <a:round/>
              <a:headEnd type="oval"/>
              <a:tailEnd type="triangle" w="med" len="lg"/>
            </a:ln>
            <a:effectLst/>
          </p:spPr>
          <p:txBody>
            <a:bodyPr wrap="none" lIns="90000" tIns="46800" rIns="90000" bIns="46800" anchor="ctr"/>
            <a:lstStyle/>
            <a:p>
              <a:endParaRPr lang="ja-JP" altLang="en-US" sz="1200"/>
            </a:p>
          </p:txBody>
        </p:sp>
        <p:sp>
          <p:nvSpPr>
            <p:cNvPr id="320"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med" len="med"/>
            </a:ln>
            <a:effectLst/>
          </p:spPr>
          <p:txBody>
            <a:bodyPr wrap="none" lIns="90000" tIns="46800" rIns="90000" bIns="46800" anchor="ctr"/>
            <a:lstStyle/>
            <a:p>
              <a:endParaRPr lang="ja-JP" altLang="en-US"/>
            </a:p>
          </p:txBody>
        </p:sp>
      </p:grpSp>
      <p:grpSp>
        <p:nvGrpSpPr>
          <p:cNvPr id="322" name="グループ化 321"/>
          <p:cNvGrpSpPr/>
          <p:nvPr/>
        </p:nvGrpSpPr>
        <p:grpSpPr>
          <a:xfrm>
            <a:off x="3035966" y="3803518"/>
            <a:ext cx="1712994" cy="1671274"/>
            <a:chOff x="1871970" y="2562739"/>
            <a:chExt cx="1890019" cy="2559383"/>
          </a:xfrm>
        </p:grpSpPr>
        <p:grpSp>
          <p:nvGrpSpPr>
            <p:cNvPr id="323" name="グループ化 322"/>
            <p:cNvGrpSpPr/>
            <p:nvPr/>
          </p:nvGrpSpPr>
          <p:grpSpPr>
            <a:xfrm>
              <a:off x="2996967" y="4942097"/>
              <a:ext cx="360048" cy="180025"/>
              <a:chOff x="1736601" y="2511982"/>
              <a:chExt cx="360048" cy="180025"/>
            </a:xfrm>
          </p:grpSpPr>
          <p:cxnSp>
            <p:nvCxnSpPr>
              <p:cNvPr id="343" name="直線コネクタ 34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4" name="直線コネクタ 34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5" name="直線コネクタ 34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24" name="グループ化 323"/>
            <p:cNvGrpSpPr/>
            <p:nvPr/>
          </p:nvGrpSpPr>
          <p:grpSpPr>
            <a:xfrm>
              <a:off x="2861981" y="4059007"/>
              <a:ext cx="270036" cy="360048"/>
              <a:chOff x="6282228" y="1988808"/>
              <a:chExt cx="270036" cy="360048"/>
            </a:xfrm>
          </p:grpSpPr>
          <p:cxnSp>
            <p:nvCxnSpPr>
              <p:cNvPr id="339" name="直線コネクタ 33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0" name="直線コネクタ 33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1" name="直線コネクタ 34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42" name="直線コネクタ 34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25" name="直線コネクタ 32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6" name="直線コネクタ 32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27" name="直線コネクタ 32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2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2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30" name="グループ化 329"/>
            <p:cNvGrpSpPr/>
            <p:nvPr/>
          </p:nvGrpSpPr>
          <p:grpSpPr>
            <a:xfrm>
              <a:off x="2771980" y="2978995"/>
              <a:ext cx="360048" cy="360048"/>
              <a:chOff x="3131808" y="1628760"/>
              <a:chExt cx="360048" cy="360048"/>
            </a:xfrm>
          </p:grpSpPr>
          <p:cxnSp>
            <p:nvCxnSpPr>
              <p:cNvPr id="334" name="直線コネクタ 33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5" name="直線コネクタ 33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6" name="直線コネクタ 33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37" name="直線コネクタ 33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38" name="円/楕円 33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31" name="直線コネクタ 33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32" name="直線コネクタ 33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33" name="直線コネクタ 33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346" name="Rectangle 59"/>
          <p:cNvSpPr>
            <a:spLocks noChangeArrowheads="1"/>
          </p:cNvSpPr>
          <p:nvPr/>
        </p:nvSpPr>
        <p:spPr bwMode="auto">
          <a:xfrm>
            <a:off x="6276003" y="2168986"/>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o</a:t>
            </a:r>
          </a:p>
        </p:txBody>
      </p:sp>
      <p:sp>
        <p:nvSpPr>
          <p:cNvPr id="347" name="Rectangle 59"/>
          <p:cNvSpPr>
            <a:spLocks noChangeArrowheads="1"/>
          </p:cNvSpPr>
          <p:nvPr/>
        </p:nvSpPr>
        <p:spPr bwMode="auto">
          <a:xfrm>
            <a:off x="5735997" y="1178975"/>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48" name="Rectangle 59"/>
          <p:cNvSpPr>
            <a:spLocks noChangeArrowheads="1"/>
          </p:cNvSpPr>
          <p:nvPr/>
        </p:nvSpPr>
        <p:spPr bwMode="auto">
          <a:xfrm>
            <a:off x="4925988" y="1718981"/>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i0</a:t>
            </a:r>
          </a:p>
        </p:txBody>
      </p:sp>
      <p:sp>
        <p:nvSpPr>
          <p:cNvPr id="349" name="Rectangle 59"/>
          <p:cNvSpPr>
            <a:spLocks noChangeArrowheads="1"/>
          </p:cNvSpPr>
          <p:nvPr/>
        </p:nvSpPr>
        <p:spPr bwMode="auto">
          <a:xfrm>
            <a:off x="4925988" y="2438989"/>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i1</a:t>
            </a:r>
          </a:p>
        </p:txBody>
      </p:sp>
      <p:sp>
        <p:nvSpPr>
          <p:cNvPr id="350" name="Rectangle 59"/>
          <p:cNvSpPr>
            <a:spLocks noChangeArrowheads="1"/>
          </p:cNvSpPr>
          <p:nvPr/>
        </p:nvSpPr>
        <p:spPr bwMode="auto">
          <a:xfrm>
            <a:off x="2765964" y="432901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51" name="Rectangle 59"/>
          <p:cNvSpPr>
            <a:spLocks noChangeArrowheads="1"/>
          </p:cNvSpPr>
          <p:nvPr/>
        </p:nvSpPr>
        <p:spPr bwMode="auto">
          <a:xfrm>
            <a:off x="5738974" y="342900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
        <p:nvSpPr>
          <p:cNvPr id="352" name="Rectangle 59"/>
          <p:cNvSpPr>
            <a:spLocks noChangeArrowheads="1"/>
          </p:cNvSpPr>
          <p:nvPr/>
        </p:nvSpPr>
        <p:spPr bwMode="auto">
          <a:xfrm>
            <a:off x="4928965" y="3879005"/>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i0</a:t>
            </a:r>
          </a:p>
        </p:txBody>
      </p:sp>
      <p:sp>
        <p:nvSpPr>
          <p:cNvPr id="353" name="Rectangle 59"/>
          <p:cNvSpPr>
            <a:spLocks noChangeArrowheads="1"/>
          </p:cNvSpPr>
          <p:nvPr/>
        </p:nvSpPr>
        <p:spPr bwMode="auto">
          <a:xfrm>
            <a:off x="4925988" y="4869016"/>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i1</a:t>
            </a:r>
          </a:p>
        </p:txBody>
      </p:sp>
      <p:sp>
        <p:nvSpPr>
          <p:cNvPr id="354" name="Rectangle 59"/>
          <p:cNvSpPr>
            <a:spLocks noChangeArrowheads="1"/>
          </p:cNvSpPr>
          <p:nvPr/>
        </p:nvSpPr>
        <p:spPr bwMode="auto">
          <a:xfrm>
            <a:off x="7358992" y="432901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o</a:t>
            </a:r>
          </a:p>
        </p:txBody>
      </p:sp>
      <p:sp>
        <p:nvSpPr>
          <p:cNvPr id="355" name="Rectangle 59"/>
          <p:cNvSpPr>
            <a:spLocks noChangeArrowheads="1"/>
          </p:cNvSpPr>
          <p:nvPr/>
        </p:nvSpPr>
        <p:spPr bwMode="auto">
          <a:xfrm>
            <a:off x="5738974" y="5229020"/>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s</a:t>
            </a:r>
          </a:p>
        </p:txBody>
      </p:sp>
    </p:spTree>
    <p:extLst>
      <p:ext uri="{BB962C8B-B14F-4D97-AF65-F5344CB8AC3E}">
        <p14:creationId xmlns:p14="http://schemas.microsoft.com/office/powerpoint/2010/main" val="2006770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4bit </a:t>
            </a:r>
            <a:r>
              <a:rPr kumimoji="1" lang="ja-JP" altLang="en-US" dirty="0"/>
              <a:t>メモリに必要なトランジスタ数：</a:t>
            </a:r>
            <a:r>
              <a:rPr kumimoji="1" lang="en-US" altLang="ja-JP" dirty="0"/>
              <a:t>82</a:t>
            </a:r>
            <a:endParaRPr kumimoji="1" lang="ja-JP" altLang="en-US" dirty="0"/>
          </a:p>
        </p:txBody>
      </p:sp>
      <p:grpSp>
        <p:nvGrpSpPr>
          <p:cNvPr id="1618" name="グループ化 1617"/>
          <p:cNvGrpSpPr/>
          <p:nvPr/>
        </p:nvGrpSpPr>
        <p:grpSpPr>
          <a:xfrm>
            <a:off x="3935976" y="1538979"/>
            <a:ext cx="4318072" cy="5040056"/>
            <a:chOff x="793934" y="998973"/>
            <a:chExt cx="4318072" cy="5040056"/>
          </a:xfrm>
        </p:grpSpPr>
        <p:grpSp>
          <p:nvGrpSpPr>
            <p:cNvPr id="161" name="グループ化 160"/>
            <p:cNvGrpSpPr/>
            <p:nvPr/>
          </p:nvGrpSpPr>
          <p:grpSpPr>
            <a:xfrm>
              <a:off x="793934" y="998973"/>
              <a:ext cx="2070023" cy="1080012"/>
              <a:chOff x="2250893" y="4059365"/>
              <a:chExt cx="4590049" cy="2535526"/>
            </a:xfrm>
          </p:grpSpPr>
          <p:grpSp>
            <p:nvGrpSpPr>
              <p:cNvPr id="4" name="グループ化 3"/>
              <p:cNvGrpSpPr/>
              <p:nvPr/>
            </p:nvGrpSpPr>
            <p:grpSpPr>
              <a:xfrm>
                <a:off x="3150902" y="5424878"/>
                <a:ext cx="1080010" cy="1170013"/>
                <a:chOff x="1871970" y="2562739"/>
                <a:chExt cx="1890019" cy="2559383"/>
              </a:xfrm>
            </p:grpSpPr>
            <p:grpSp>
              <p:nvGrpSpPr>
                <p:cNvPr id="5" name="グループ化 4"/>
                <p:cNvGrpSpPr/>
                <p:nvPr/>
              </p:nvGrpSpPr>
              <p:grpSpPr>
                <a:xfrm>
                  <a:off x="2996967" y="4942097"/>
                  <a:ext cx="360048" cy="180025"/>
                  <a:chOff x="1736601" y="2511982"/>
                  <a:chExt cx="360048" cy="180025"/>
                </a:xfrm>
              </p:grpSpPr>
              <p:cxnSp>
                <p:nvCxnSpPr>
                  <p:cNvPr id="25" name="直線コネクタ 24"/>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 name="グループ化 5"/>
                <p:cNvGrpSpPr/>
                <p:nvPr/>
              </p:nvGrpSpPr>
              <p:grpSpPr>
                <a:xfrm>
                  <a:off x="2861981" y="4059007"/>
                  <a:ext cx="270036" cy="360048"/>
                  <a:chOff x="6282228" y="1988808"/>
                  <a:chExt cx="270036" cy="360048"/>
                </a:xfrm>
              </p:grpSpPr>
              <p:cxnSp>
                <p:nvCxnSpPr>
                  <p:cNvPr id="21" name="直線コネクタ 2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 name="直線コネクタ 6"/>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0"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 name="グループ化 11"/>
                <p:cNvGrpSpPr/>
                <p:nvPr/>
              </p:nvGrpSpPr>
              <p:grpSpPr>
                <a:xfrm>
                  <a:off x="2771980" y="2978995"/>
                  <a:ext cx="360048" cy="360048"/>
                  <a:chOff x="3131808" y="1628760"/>
                  <a:chExt cx="360048" cy="360048"/>
                </a:xfrm>
              </p:grpSpPr>
              <p:cxnSp>
                <p:nvCxnSpPr>
                  <p:cNvPr id="16" name="直線コネクタ 1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 name="円/楕円 1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 name="直線コネクタ 12"/>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8" name="グループ化 27"/>
              <p:cNvGrpSpPr/>
              <p:nvPr/>
            </p:nvGrpSpPr>
            <p:grpSpPr>
              <a:xfrm rot="10800000">
                <a:off x="3150902" y="4059365"/>
                <a:ext cx="1080010" cy="1170013"/>
                <a:chOff x="1871970" y="2562739"/>
                <a:chExt cx="1890019" cy="2559383"/>
              </a:xfrm>
            </p:grpSpPr>
            <p:grpSp>
              <p:nvGrpSpPr>
                <p:cNvPr id="29" name="グループ化 28"/>
                <p:cNvGrpSpPr/>
                <p:nvPr/>
              </p:nvGrpSpPr>
              <p:grpSpPr>
                <a:xfrm>
                  <a:off x="2996967" y="4942097"/>
                  <a:ext cx="360048" cy="180025"/>
                  <a:chOff x="1736601" y="2511982"/>
                  <a:chExt cx="360048" cy="180025"/>
                </a:xfrm>
              </p:grpSpPr>
              <p:cxnSp>
                <p:nvCxnSpPr>
                  <p:cNvPr id="49" name="直線コネクタ 4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9"/>
                <p:cNvGrpSpPr/>
                <p:nvPr/>
              </p:nvGrpSpPr>
              <p:grpSpPr>
                <a:xfrm>
                  <a:off x="2861981" y="4059007"/>
                  <a:ext cx="270036" cy="360048"/>
                  <a:chOff x="6282228" y="1988808"/>
                  <a:chExt cx="270036" cy="360048"/>
                </a:xfrm>
              </p:grpSpPr>
              <p:cxnSp>
                <p:nvCxnSpPr>
                  <p:cNvPr id="45" name="直線コネクタ 4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31" name="直線コネクタ 3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6" name="グループ化 35"/>
                <p:cNvGrpSpPr/>
                <p:nvPr/>
              </p:nvGrpSpPr>
              <p:grpSpPr>
                <a:xfrm>
                  <a:off x="2771980" y="2978995"/>
                  <a:ext cx="360048" cy="360048"/>
                  <a:chOff x="3131808" y="1628760"/>
                  <a:chExt cx="360048" cy="360048"/>
                </a:xfrm>
              </p:grpSpPr>
              <p:cxnSp>
                <p:nvCxnSpPr>
                  <p:cNvPr id="40" name="直線コネクタ 3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44" name="円/楕円 4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7" name="直線コネクタ 3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52"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53" name="グループ化 52"/>
              <p:cNvGrpSpPr/>
              <p:nvPr/>
            </p:nvGrpSpPr>
            <p:grpSpPr>
              <a:xfrm rot="5400000">
                <a:off x="2565879" y="5829899"/>
                <a:ext cx="270041" cy="180007"/>
                <a:chOff x="1601967" y="3609002"/>
                <a:chExt cx="540039" cy="360048"/>
              </a:xfrm>
            </p:grpSpPr>
            <p:grpSp>
              <p:nvGrpSpPr>
                <p:cNvPr id="54" name="グループ化 53"/>
                <p:cNvGrpSpPr/>
                <p:nvPr/>
              </p:nvGrpSpPr>
              <p:grpSpPr>
                <a:xfrm rot="10800000">
                  <a:off x="1871970" y="3609002"/>
                  <a:ext cx="270036" cy="360048"/>
                  <a:chOff x="6282228" y="1988808"/>
                  <a:chExt cx="270036" cy="360048"/>
                </a:xfrm>
              </p:grpSpPr>
              <p:cxnSp>
                <p:nvCxnSpPr>
                  <p:cNvPr id="61" name="直線コネクタ 6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3" name="直線コネクタ 6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55" name="グループ化 54"/>
                <p:cNvGrpSpPr/>
                <p:nvPr/>
              </p:nvGrpSpPr>
              <p:grpSpPr>
                <a:xfrm>
                  <a:off x="1601967" y="3609002"/>
                  <a:ext cx="360048" cy="360048"/>
                  <a:chOff x="3131808" y="1628760"/>
                  <a:chExt cx="360048" cy="360048"/>
                </a:xfrm>
              </p:grpSpPr>
              <p:cxnSp>
                <p:nvCxnSpPr>
                  <p:cNvPr id="56" name="直線コネクタ 5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0" name="円/楕円 5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65" name="グループ化 64"/>
              <p:cNvGrpSpPr/>
              <p:nvPr/>
            </p:nvGrpSpPr>
            <p:grpSpPr>
              <a:xfrm>
                <a:off x="2880899" y="5229378"/>
                <a:ext cx="270041" cy="180007"/>
                <a:chOff x="1601967" y="3609002"/>
                <a:chExt cx="540039" cy="360048"/>
              </a:xfrm>
            </p:grpSpPr>
            <p:grpSp>
              <p:nvGrpSpPr>
                <p:cNvPr id="66" name="グループ化 65"/>
                <p:cNvGrpSpPr/>
                <p:nvPr/>
              </p:nvGrpSpPr>
              <p:grpSpPr>
                <a:xfrm rot="10800000">
                  <a:off x="1871970" y="3609002"/>
                  <a:ext cx="270036" cy="360048"/>
                  <a:chOff x="6282228" y="1988808"/>
                  <a:chExt cx="270036" cy="360048"/>
                </a:xfrm>
              </p:grpSpPr>
              <p:cxnSp>
                <p:nvCxnSpPr>
                  <p:cNvPr id="73" name="直線コネクタ 7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6" name="直線コネクタ 7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7" name="グループ化 66"/>
                <p:cNvGrpSpPr/>
                <p:nvPr/>
              </p:nvGrpSpPr>
              <p:grpSpPr>
                <a:xfrm>
                  <a:off x="1601967" y="3609002"/>
                  <a:ext cx="360048" cy="360048"/>
                  <a:chOff x="3131808" y="1628760"/>
                  <a:chExt cx="360048" cy="360048"/>
                </a:xfrm>
              </p:grpSpPr>
              <p:cxnSp>
                <p:nvCxnSpPr>
                  <p:cNvPr id="68" name="直線コネクタ 6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2" name="円/楕円 7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77"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79"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0"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1"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82"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83" name="グループ化 82"/>
              <p:cNvGrpSpPr/>
              <p:nvPr/>
            </p:nvGrpSpPr>
            <p:grpSpPr>
              <a:xfrm>
                <a:off x="5220924" y="5424878"/>
                <a:ext cx="1080010" cy="1170013"/>
                <a:chOff x="1871970" y="2562739"/>
                <a:chExt cx="1890019" cy="2559383"/>
              </a:xfrm>
            </p:grpSpPr>
            <p:grpSp>
              <p:nvGrpSpPr>
                <p:cNvPr id="84" name="グループ化 83"/>
                <p:cNvGrpSpPr/>
                <p:nvPr/>
              </p:nvGrpSpPr>
              <p:grpSpPr>
                <a:xfrm>
                  <a:off x="2996967" y="4942097"/>
                  <a:ext cx="360048" cy="180025"/>
                  <a:chOff x="1736601" y="2511982"/>
                  <a:chExt cx="360048" cy="180025"/>
                </a:xfrm>
              </p:grpSpPr>
              <p:cxnSp>
                <p:nvCxnSpPr>
                  <p:cNvPr id="104" name="直線コネクタ 10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85" name="グループ化 84"/>
                <p:cNvGrpSpPr/>
                <p:nvPr/>
              </p:nvGrpSpPr>
              <p:grpSpPr>
                <a:xfrm>
                  <a:off x="2861981" y="4059007"/>
                  <a:ext cx="270036" cy="360048"/>
                  <a:chOff x="6282228" y="1988808"/>
                  <a:chExt cx="270036" cy="360048"/>
                </a:xfrm>
              </p:grpSpPr>
              <p:cxnSp>
                <p:nvCxnSpPr>
                  <p:cNvPr id="100" name="直線コネクタ 9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86" name="直線コネクタ 8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8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9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91" name="グループ化 90"/>
                <p:cNvGrpSpPr/>
                <p:nvPr/>
              </p:nvGrpSpPr>
              <p:grpSpPr>
                <a:xfrm>
                  <a:off x="2771980" y="2978995"/>
                  <a:ext cx="360048" cy="360048"/>
                  <a:chOff x="3131808" y="1628760"/>
                  <a:chExt cx="360048" cy="360048"/>
                </a:xfrm>
              </p:grpSpPr>
              <p:cxnSp>
                <p:nvCxnSpPr>
                  <p:cNvPr id="95" name="直線コネクタ 9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6" name="直線コネクタ 9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99" name="円/楕円 9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92" name="直線コネクタ 9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93" name="直線コネクタ 9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07" name="グループ化 106"/>
              <p:cNvGrpSpPr/>
              <p:nvPr/>
            </p:nvGrpSpPr>
            <p:grpSpPr>
              <a:xfrm rot="10800000">
                <a:off x="5220924" y="4059365"/>
                <a:ext cx="1080010" cy="1170013"/>
                <a:chOff x="1871970" y="2562739"/>
                <a:chExt cx="1890019" cy="2559383"/>
              </a:xfrm>
            </p:grpSpPr>
            <p:grpSp>
              <p:nvGrpSpPr>
                <p:cNvPr id="108" name="グループ化 107"/>
                <p:cNvGrpSpPr/>
                <p:nvPr/>
              </p:nvGrpSpPr>
              <p:grpSpPr>
                <a:xfrm>
                  <a:off x="2996967" y="4942097"/>
                  <a:ext cx="360048" cy="180025"/>
                  <a:chOff x="1736601" y="2511982"/>
                  <a:chExt cx="360048" cy="180025"/>
                </a:xfrm>
              </p:grpSpPr>
              <p:cxnSp>
                <p:nvCxnSpPr>
                  <p:cNvPr id="128" name="直線コネクタ 127"/>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 name="直線コネクタ 128"/>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 name="直線コネクタ 129"/>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09" name="グループ化 108"/>
                <p:cNvGrpSpPr/>
                <p:nvPr/>
              </p:nvGrpSpPr>
              <p:grpSpPr>
                <a:xfrm>
                  <a:off x="2861981" y="4059007"/>
                  <a:ext cx="270036" cy="360048"/>
                  <a:chOff x="6282228" y="1988808"/>
                  <a:chExt cx="270036" cy="360048"/>
                </a:xfrm>
              </p:grpSpPr>
              <p:cxnSp>
                <p:nvCxnSpPr>
                  <p:cNvPr id="124" name="直線コネクタ 12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 name="直線コネクタ 12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6" name="直線コネクタ 12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 name="直線コネクタ 12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10" name="直線コネクタ 10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1" name="直線コネクタ 11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2" name="直線コネクタ 11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1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15" name="グループ化 114"/>
                <p:cNvGrpSpPr/>
                <p:nvPr/>
              </p:nvGrpSpPr>
              <p:grpSpPr>
                <a:xfrm>
                  <a:off x="2771980" y="2978995"/>
                  <a:ext cx="360048" cy="360048"/>
                  <a:chOff x="3131808" y="1628760"/>
                  <a:chExt cx="360048" cy="360048"/>
                </a:xfrm>
              </p:grpSpPr>
              <p:cxnSp>
                <p:nvCxnSpPr>
                  <p:cNvPr id="119" name="直線コネクタ 11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0" name="直線コネクタ 11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 name="直線コネクタ 12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3" name="円/楕円 12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16" name="直線コネクタ 115"/>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7" name="直線コネクタ 116"/>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8" name="直線コネクタ 117"/>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1"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2" name="グループ化 131"/>
              <p:cNvGrpSpPr/>
              <p:nvPr/>
            </p:nvGrpSpPr>
            <p:grpSpPr>
              <a:xfrm rot="5400000">
                <a:off x="4635901" y="5829899"/>
                <a:ext cx="270041" cy="180007"/>
                <a:chOff x="1601967" y="3609002"/>
                <a:chExt cx="540039" cy="360048"/>
              </a:xfrm>
            </p:grpSpPr>
            <p:grpSp>
              <p:nvGrpSpPr>
                <p:cNvPr id="133" name="グループ化 132"/>
                <p:cNvGrpSpPr/>
                <p:nvPr/>
              </p:nvGrpSpPr>
              <p:grpSpPr>
                <a:xfrm rot="10800000">
                  <a:off x="1871970" y="3609002"/>
                  <a:ext cx="270036" cy="360048"/>
                  <a:chOff x="6282228" y="1988808"/>
                  <a:chExt cx="270036" cy="360048"/>
                </a:xfrm>
              </p:grpSpPr>
              <p:cxnSp>
                <p:nvCxnSpPr>
                  <p:cNvPr id="140" name="直線コネクタ 13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 name="直線コネクタ 14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4" name="グループ化 133"/>
                <p:cNvGrpSpPr/>
                <p:nvPr/>
              </p:nvGrpSpPr>
              <p:grpSpPr>
                <a:xfrm>
                  <a:off x="1601967" y="3609002"/>
                  <a:ext cx="360048" cy="360048"/>
                  <a:chOff x="3131808" y="1628760"/>
                  <a:chExt cx="360048" cy="360048"/>
                </a:xfrm>
              </p:grpSpPr>
              <p:cxnSp>
                <p:nvCxnSpPr>
                  <p:cNvPr id="135" name="直線コネクタ 13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 name="直線コネクタ 13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 name="直線コネクタ 13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9" name="円/楕円 13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44" name="グループ化 143"/>
              <p:cNvGrpSpPr/>
              <p:nvPr/>
            </p:nvGrpSpPr>
            <p:grpSpPr>
              <a:xfrm>
                <a:off x="4950921" y="5229378"/>
                <a:ext cx="270041" cy="180007"/>
                <a:chOff x="1601967" y="3609002"/>
                <a:chExt cx="540039" cy="360048"/>
              </a:xfrm>
            </p:grpSpPr>
            <p:grpSp>
              <p:nvGrpSpPr>
                <p:cNvPr id="145" name="グループ化 144"/>
                <p:cNvGrpSpPr/>
                <p:nvPr/>
              </p:nvGrpSpPr>
              <p:grpSpPr>
                <a:xfrm rot="10800000">
                  <a:off x="1871970" y="3609002"/>
                  <a:ext cx="270036" cy="360048"/>
                  <a:chOff x="6282228" y="1988808"/>
                  <a:chExt cx="270036" cy="360048"/>
                </a:xfrm>
              </p:grpSpPr>
              <p:cxnSp>
                <p:nvCxnSpPr>
                  <p:cNvPr id="152" name="直線コネクタ 15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3" name="直線コネクタ 15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 name="直線コネクタ 15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 name="直線コネクタ 15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6" name="グループ化 145"/>
                <p:cNvGrpSpPr/>
                <p:nvPr/>
              </p:nvGrpSpPr>
              <p:grpSpPr>
                <a:xfrm>
                  <a:off x="1601967" y="3609002"/>
                  <a:ext cx="360048" cy="360048"/>
                  <a:chOff x="3131808" y="1628760"/>
                  <a:chExt cx="360048" cy="360048"/>
                </a:xfrm>
              </p:grpSpPr>
              <p:cxnSp>
                <p:nvCxnSpPr>
                  <p:cNvPr id="147" name="直線コネクタ 14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 name="直線コネクタ 14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 name="直線コネクタ 14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 name="直線コネクタ 14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1" name="円/楕円 15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56"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7"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58"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9"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60"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62" name="グループ化 161"/>
            <p:cNvGrpSpPr/>
            <p:nvPr/>
          </p:nvGrpSpPr>
          <p:grpSpPr>
            <a:xfrm>
              <a:off x="793934" y="2348988"/>
              <a:ext cx="2070023" cy="1080012"/>
              <a:chOff x="2250893" y="4059365"/>
              <a:chExt cx="4590049" cy="2535526"/>
            </a:xfrm>
          </p:grpSpPr>
          <p:grpSp>
            <p:nvGrpSpPr>
              <p:cNvPr id="163" name="グループ化 162"/>
              <p:cNvGrpSpPr/>
              <p:nvPr/>
            </p:nvGrpSpPr>
            <p:grpSpPr>
              <a:xfrm>
                <a:off x="3150902" y="5424878"/>
                <a:ext cx="1080010" cy="1170013"/>
                <a:chOff x="1871970" y="2562739"/>
                <a:chExt cx="1890019" cy="2559383"/>
              </a:xfrm>
            </p:grpSpPr>
            <p:grpSp>
              <p:nvGrpSpPr>
                <p:cNvPr id="297" name="グループ化 296"/>
                <p:cNvGrpSpPr/>
                <p:nvPr/>
              </p:nvGrpSpPr>
              <p:grpSpPr>
                <a:xfrm>
                  <a:off x="2996967" y="4942097"/>
                  <a:ext cx="360048" cy="180025"/>
                  <a:chOff x="1736601" y="2511982"/>
                  <a:chExt cx="360048" cy="180025"/>
                </a:xfrm>
              </p:grpSpPr>
              <p:cxnSp>
                <p:nvCxnSpPr>
                  <p:cNvPr id="317" name="直線コネクタ 316"/>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8" name="直線コネクタ 317"/>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9" name="直線コネクタ 318"/>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98" name="グループ化 297"/>
                <p:cNvGrpSpPr/>
                <p:nvPr/>
              </p:nvGrpSpPr>
              <p:grpSpPr>
                <a:xfrm>
                  <a:off x="2861981" y="4059007"/>
                  <a:ext cx="270036" cy="360048"/>
                  <a:chOff x="6282228" y="1988808"/>
                  <a:chExt cx="270036" cy="360048"/>
                </a:xfrm>
              </p:grpSpPr>
              <p:cxnSp>
                <p:nvCxnSpPr>
                  <p:cNvPr id="313" name="直線コネクタ 31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4" name="直線コネクタ 31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5" name="直線コネクタ 31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6" name="直線コネクタ 31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99" name="直線コネクタ 298"/>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00" name="直線コネクタ 299"/>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01" name="直線コネクタ 300"/>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302"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03"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304" name="グループ化 303"/>
                <p:cNvGrpSpPr/>
                <p:nvPr/>
              </p:nvGrpSpPr>
              <p:grpSpPr>
                <a:xfrm>
                  <a:off x="2771980" y="2978995"/>
                  <a:ext cx="360048" cy="360048"/>
                  <a:chOff x="3131808" y="1628760"/>
                  <a:chExt cx="360048" cy="360048"/>
                </a:xfrm>
              </p:grpSpPr>
              <p:cxnSp>
                <p:nvCxnSpPr>
                  <p:cNvPr id="308" name="直線コネクタ 30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09" name="直線コネクタ 30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0" name="直線コネクタ 30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311" name="直線コネクタ 31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312" name="円/楕円 31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305" name="直線コネクタ 304"/>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306" name="直線コネクタ 305"/>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307" name="直線コネクタ 306"/>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64" name="グループ化 163"/>
              <p:cNvGrpSpPr/>
              <p:nvPr/>
            </p:nvGrpSpPr>
            <p:grpSpPr>
              <a:xfrm rot="10800000">
                <a:off x="3150902" y="4059365"/>
                <a:ext cx="1080010" cy="1170013"/>
                <a:chOff x="1871970" y="2562739"/>
                <a:chExt cx="1890019" cy="2559383"/>
              </a:xfrm>
            </p:grpSpPr>
            <p:grpSp>
              <p:nvGrpSpPr>
                <p:cNvPr id="274" name="グループ化 273"/>
                <p:cNvGrpSpPr/>
                <p:nvPr/>
              </p:nvGrpSpPr>
              <p:grpSpPr>
                <a:xfrm>
                  <a:off x="2996967" y="4942097"/>
                  <a:ext cx="360048" cy="180025"/>
                  <a:chOff x="1736601" y="2511982"/>
                  <a:chExt cx="360048" cy="180025"/>
                </a:xfrm>
              </p:grpSpPr>
              <p:cxnSp>
                <p:nvCxnSpPr>
                  <p:cNvPr id="294" name="直線コネクタ 29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5" name="直線コネクタ 29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6" name="直線コネクタ 29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75" name="グループ化 274"/>
                <p:cNvGrpSpPr/>
                <p:nvPr/>
              </p:nvGrpSpPr>
              <p:grpSpPr>
                <a:xfrm>
                  <a:off x="2861981" y="4059007"/>
                  <a:ext cx="270036" cy="360048"/>
                  <a:chOff x="6282228" y="1988808"/>
                  <a:chExt cx="270036" cy="360048"/>
                </a:xfrm>
              </p:grpSpPr>
              <p:cxnSp>
                <p:nvCxnSpPr>
                  <p:cNvPr id="290" name="直線コネクタ 28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1" name="直線コネクタ 29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2" name="直線コネクタ 29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3" name="直線コネクタ 29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76" name="直線コネクタ 27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77" name="直線コネクタ 27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78" name="直線コネクタ 27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7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8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81" name="グループ化 280"/>
                <p:cNvGrpSpPr/>
                <p:nvPr/>
              </p:nvGrpSpPr>
              <p:grpSpPr>
                <a:xfrm>
                  <a:off x="2771980" y="2978995"/>
                  <a:ext cx="360048" cy="360048"/>
                  <a:chOff x="3131808" y="1628760"/>
                  <a:chExt cx="360048" cy="360048"/>
                </a:xfrm>
              </p:grpSpPr>
              <p:cxnSp>
                <p:nvCxnSpPr>
                  <p:cNvPr id="285" name="直線コネクタ 28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6" name="直線コネクタ 28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7" name="直線コネクタ 28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8" name="直線コネクタ 28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89" name="円/楕円 28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82" name="直線コネクタ 28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83" name="直線コネクタ 28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84" name="直線コネクタ 28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65"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66" name="グループ化 165"/>
              <p:cNvGrpSpPr/>
              <p:nvPr/>
            </p:nvGrpSpPr>
            <p:grpSpPr>
              <a:xfrm rot="5400000">
                <a:off x="2565879" y="5829899"/>
                <a:ext cx="270041" cy="180007"/>
                <a:chOff x="1601967" y="3609002"/>
                <a:chExt cx="540039" cy="360048"/>
              </a:xfrm>
            </p:grpSpPr>
            <p:grpSp>
              <p:nvGrpSpPr>
                <p:cNvPr id="263" name="グループ化 262"/>
                <p:cNvGrpSpPr/>
                <p:nvPr/>
              </p:nvGrpSpPr>
              <p:grpSpPr>
                <a:xfrm rot="10800000">
                  <a:off x="1871970" y="3609002"/>
                  <a:ext cx="270036" cy="360048"/>
                  <a:chOff x="6282228" y="1988808"/>
                  <a:chExt cx="270036" cy="360048"/>
                </a:xfrm>
              </p:grpSpPr>
              <p:cxnSp>
                <p:nvCxnSpPr>
                  <p:cNvPr id="270" name="直線コネクタ 26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1" name="直線コネクタ 27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2" name="直線コネクタ 27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3" name="直線コネクタ 27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64" name="グループ化 263"/>
                <p:cNvGrpSpPr/>
                <p:nvPr/>
              </p:nvGrpSpPr>
              <p:grpSpPr>
                <a:xfrm>
                  <a:off x="1601967" y="3609002"/>
                  <a:ext cx="360048" cy="360048"/>
                  <a:chOff x="3131808" y="1628760"/>
                  <a:chExt cx="360048" cy="360048"/>
                </a:xfrm>
              </p:grpSpPr>
              <p:cxnSp>
                <p:nvCxnSpPr>
                  <p:cNvPr id="265" name="直線コネクタ 26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6" name="直線コネクタ 26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7" name="直線コネクタ 26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8" name="直線コネクタ 26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69" name="円/楕円 26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67" name="グループ化 166"/>
              <p:cNvGrpSpPr/>
              <p:nvPr/>
            </p:nvGrpSpPr>
            <p:grpSpPr>
              <a:xfrm>
                <a:off x="2880899" y="5229378"/>
                <a:ext cx="270041" cy="180007"/>
                <a:chOff x="1601967" y="3609002"/>
                <a:chExt cx="540039" cy="360048"/>
              </a:xfrm>
            </p:grpSpPr>
            <p:grpSp>
              <p:nvGrpSpPr>
                <p:cNvPr id="252" name="グループ化 251"/>
                <p:cNvGrpSpPr/>
                <p:nvPr/>
              </p:nvGrpSpPr>
              <p:grpSpPr>
                <a:xfrm rot="10800000">
                  <a:off x="1871970" y="3609002"/>
                  <a:ext cx="270036" cy="360048"/>
                  <a:chOff x="6282228" y="1988808"/>
                  <a:chExt cx="270036" cy="360048"/>
                </a:xfrm>
              </p:grpSpPr>
              <p:cxnSp>
                <p:nvCxnSpPr>
                  <p:cNvPr id="259" name="直線コネクタ 25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0" name="直線コネクタ 25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1" name="直線コネクタ 26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62" name="直線コネクタ 26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53" name="グループ化 252"/>
                <p:cNvGrpSpPr/>
                <p:nvPr/>
              </p:nvGrpSpPr>
              <p:grpSpPr>
                <a:xfrm>
                  <a:off x="1601967" y="3609002"/>
                  <a:ext cx="360048" cy="360048"/>
                  <a:chOff x="3131808" y="1628760"/>
                  <a:chExt cx="360048" cy="360048"/>
                </a:xfrm>
              </p:grpSpPr>
              <p:cxnSp>
                <p:nvCxnSpPr>
                  <p:cNvPr id="254" name="直線コネクタ 25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5" name="直線コネクタ 25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6" name="直線コネクタ 25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7" name="直線コネクタ 25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58" name="円/楕円 25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68"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69"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70"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1"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2"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73"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74" name="グループ化 173"/>
              <p:cNvGrpSpPr/>
              <p:nvPr/>
            </p:nvGrpSpPr>
            <p:grpSpPr>
              <a:xfrm>
                <a:off x="5220924" y="5424878"/>
                <a:ext cx="1080010" cy="1170013"/>
                <a:chOff x="1871970" y="2562739"/>
                <a:chExt cx="1890019" cy="2559383"/>
              </a:xfrm>
            </p:grpSpPr>
            <p:grpSp>
              <p:nvGrpSpPr>
                <p:cNvPr id="229" name="グループ化 228"/>
                <p:cNvGrpSpPr/>
                <p:nvPr/>
              </p:nvGrpSpPr>
              <p:grpSpPr>
                <a:xfrm>
                  <a:off x="2996967" y="4942097"/>
                  <a:ext cx="360048" cy="180025"/>
                  <a:chOff x="1736601" y="2511982"/>
                  <a:chExt cx="360048" cy="180025"/>
                </a:xfrm>
              </p:grpSpPr>
              <p:cxnSp>
                <p:nvCxnSpPr>
                  <p:cNvPr id="249" name="直線コネクタ 24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0" name="直線コネクタ 24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51" name="直線コネクタ 25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30" name="グループ化 229"/>
                <p:cNvGrpSpPr/>
                <p:nvPr/>
              </p:nvGrpSpPr>
              <p:grpSpPr>
                <a:xfrm>
                  <a:off x="2861981" y="4059007"/>
                  <a:ext cx="270036" cy="360048"/>
                  <a:chOff x="6282228" y="1988808"/>
                  <a:chExt cx="270036" cy="360048"/>
                </a:xfrm>
              </p:grpSpPr>
              <p:cxnSp>
                <p:nvCxnSpPr>
                  <p:cNvPr id="245" name="直線コネクタ 24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6" name="直線コネクタ 24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7" name="直線コネクタ 24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8" name="直線コネクタ 24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1" name="直線コネクタ 23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2" name="直線コネクタ 23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3" name="直線コネクタ 23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3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3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36" name="グループ化 235"/>
                <p:cNvGrpSpPr/>
                <p:nvPr/>
              </p:nvGrpSpPr>
              <p:grpSpPr>
                <a:xfrm>
                  <a:off x="2771980" y="2978995"/>
                  <a:ext cx="360048" cy="360048"/>
                  <a:chOff x="3131808" y="1628760"/>
                  <a:chExt cx="360048" cy="360048"/>
                </a:xfrm>
              </p:grpSpPr>
              <p:cxnSp>
                <p:nvCxnSpPr>
                  <p:cNvPr id="240" name="直線コネクタ 23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1" name="直線コネクタ 24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2" name="直線コネクタ 24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3" name="直線コネクタ 24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44" name="円/楕円 24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37" name="直線コネクタ 23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8" name="直線コネクタ 23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9" name="直線コネクタ 23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75" name="グループ化 174"/>
              <p:cNvGrpSpPr/>
              <p:nvPr/>
            </p:nvGrpSpPr>
            <p:grpSpPr>
              <a:xfrm rot="10800000">
                <a:off x="5220924" y="4059365"/>
                <a:ext cx="1080010" cy="1170013"/>
                <a:chOff x="1871970" y="2562739"/>
                <a:chExt cx="1890019" cy="2559383"/>
              </a:xfrm>
            </p:grpSpPr>
            <p:grpSp>
              <p:nvGrpSpPr>
                <p:cNvPr id="206" name="グループ化 205"/>
                <p:cNvGrpSpPr/>
                <p:nvPr/>
              </p:nvGrpSpPr>
              <p:grpSpPr>
                <a:xfrm>
                  <a:off x="2996967" y="4942097"/>
                  <a:ext cx="360048" cy="180025"/>
                  <a:chOff x="1736601" y="2511982"/>
                  <a:chExt cx="360048" cy="180025"/>
                </a:xfrm>
              </p:grpSpPr>
              <p:cxnSp>
                <p:nvCxnSpPr>
                  <p:cNvPr id="226" name="直線コネクタ 22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7" name="直線コネクタ 22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8" name="直線コネクタ 22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207" name="グループ化 206"/>
                <p:cNvGrpSpPr/>
                <p:nvPr/>
              </p:nvGrpSpPr>
              <p:grpSpPr>
                <a:xfrm>
                  <a:off x="2861981" y="4059007"/>
                  <a:ext cx="270036" cy="360048"/>
                  <a:chOff x="6282228" y="1988808"/>
                  <a:chExt cx="270036" cy="360048"/>
                </a:xfrm>
              </p:grpSpPr>
              <p:cxnSp>
                <p:nvCxnSpPr>
                  <p:cNvPr id="222" name="直線コネクタ 22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3" name="直線コネクタ 22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4" name="直線コネクタ 22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08" name="直線コネクタ 20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09" name="直線コネクタ 20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0" name="直線コネクタ 20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21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1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213" name="グループ化 212"/>
                <p:cNvGrpSpPr/>
                <p:nvPr/>
              </p:nvGrpSpPr>
              <p:grpSpPr>
                <a:xfrm>
                  <a:off x="2771980" y="2978995"/>
                  <a:ext cx="360048" cy="360048"/>
                  <a:chOff x="3131808" y="1628760"/>
                  <a:chExt cx="360048" cy="360048"/>
                </a:xfrm>
              </p:grpSpPr>
              <p:cxnSp>
                <p:nvCxnSpPr>
                  <p:cNvPr id="217" name="直線コネクタ 21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8" name="直線コネクタ 21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19" name="直線コネクタ 21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0" name="直線コネクタ 21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1" name="円/楕円 22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214" name="直線コネクタ 21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5" name="直線コネクタ 21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6" name="直線コネクタ 21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76"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77" name="グループ化 176"/>
              <p:cNvGrpSpPr/>
              <p:nvPr/>
            </p:nvGrpSpPr>
            <p:grpSpPr>
              <a:xfrm rot="5400000">
                <a:off x="4635901" y="5829899"/>
                <a:ext cx="270041" cy="180007"/>
                <a:chOff x="1601967" y="3609002"/>
                <a:chExt cx="540039" cy="360048"/>
              </a:xfrm>
            </p:grpSpPr>
            <p:grpSp>
              <p:nvGrpSpPr>
                <p:cNvPr id="195" name="グループ化 194"/>
                <p:cNvGrpSpPr/>
                <p:nvPr/>
              </p:nvGrpSpPr>
              <p:grpSpPr>
                <a:xfrm rot="10800000">
                  <a:off x="1871970" y="3609002"/>
                  <a:ext cx="270036" cy="360048"/>
                  <a:chOff x="6282228" y="1988808"/>
                  <a:chExt cx="270036" cy="360048"/>
                </a:xfrm>
              </p:grpSpPr>
              <p:cxnSp>
                <p:nvCxnSpPr>
                  <p:cNvPr id="202" name="直線コネクタ 20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4" name="直線コネクタ 20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96" name="グループ化 195"/>
                <p:cNvGrpSpPr/>
                <p:nvPr/>
              </p:nvGrpSpPr>
              <p:grpSpPr>
                <a:xfrm>
                  <a:off x="1601967" y="3609002"/>
                  <a:ext cx="360048" cy="360048"/>
                  <a:chOff x="3131808" y="1628760"/>
                  <a:chExt cx="360048" cy="360048"/>
                </a:xfrm>
              </p:grpSpPr>
              <p:cxnSp>
                <p:nvCxnSpPr>
                  <p:cNvPr id="197" name="直線コネクタ 19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8" name="直線コネクタ 19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9" name="直線コネクタ 19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0" name="直線コネクタ 19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01" name="円/楕円 20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78" name="グループ化 177"/>
              <p:cNvGrpSpPr/>
              <p:nvPr/>
            </p:nvGrpSpPr>
            <p:grpSpPr>
              <a:xfrm>
                <a:off x="4950921" y="5229378"/>
                <a:ext cx="270041" cy="180007"/>
                <a:chOff x="1601967" y="3609002"/>
                <a:chExt cx="540039" cy="360048"/>
              </a:xfrm>
            </p:grpSpPr>
            <p:grpSp>
              <p:nvGrpSpPr>
                <p:cNvPr id="184" name="グループ化 183"/>
                <p:cNvGrpSpPr/>
                <p:nvPr/>
              </p:nvGrpSpPr>
              <p:grpSpPr>
                <a:xfrm rot="10800000">
                  <a:off x="1871970" y="3609002"/>
                  <a:ext cx="270036" cy="360048"/>
                  <a:chOff x="6282228" y="1988808"/>
                  <a:chExt cx="270036" cy="360048"/>
                </a:xfrm>
              </p:grpSpPr>
              <p:cxnSp>
                <p:nvCxnSpPr>
                  <p:cNvPr id="191" name="直線コネクタ 19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2" name="直線コネクタ 19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3" name="直線コネクタ 19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4" name="直線コネクタ 19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85" name="グループ化 184"/>
                <p:cNvGrpSpPr/>
                <p:nvPr/>
              </p:nvGrpSpPr>
              <p:grpSpPr>
                <a:xfrm>
                  <a:off x="1601967" y="3609002"/>
                  <a:ext cx="360048" cy="360048"/>
                  <a:chOff x="3131808" y="1628760"/>
                  <a:chExt cx="360048" cy="360048"/>
                </a:xfrm>
              </p:grpSpPr>
              <p:cxnSp>
                <p:nvCxnSpPr>
                  <p:cNvPr id="186" name="直線コネクタ 18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7" name="直線コネクタ 18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8" name="直線コネクタ 18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89" name="直線コネクタ 18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90" name="円/楕円 18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79"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0"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81"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2"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83"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698" name="グループ化 697"/>
            <p:cNvGrpSpPr/>
            <p:nvPr/>
          </p:nvGrpSpPr>
          <p:grpSpPr>
            <a:xfrm>
              <a:off x="2593954" y="2078985"/>
              <a:ext cx="1276461" cy="720046"/>
              <a:chOff x="4034971" y="2618991"/>
              <a:chExt cx="2838485" cy="1530055"/>
            </a:xfrm>
          </p:grpSpPr>
          <p:grpSp>
            <p:nvGrpSpPr>
              <p:cNvPr id="636" name="グループ化 635"/>
              <p:cNvGrpSpPr/>
              <p:nvPr/>
            </p:nvGrpSpPr>
            <p:grpSpPr>
              <a:xfrm>
                <a:off x="5112005" y="2618991"/>
                <a:ext cx="1761451" cy="1530055"/>
                <a:chOff x="2361128" y="5229020"/>
                <a:chExt cx="1040859" cy="810047"/>
              </a:xfrm>
            </p:grpSpPr>
            <p:grpSp>
              <p:nvGrpSpPr>
                <p:cNvPr id="637" name="グループ化 636"/>
                <p:cNvGrpSpPr/>
                <p:nvPr/>
              </p:nvGrpSpPr>
              <p:grpSpPr>
                <a:xfrm rot="16200000">
                  <a:off x="2906965" y="5814043"/>
                  <a:ext cx="270041" cy="180007"/>
                  <a:chOff x="1601967" y="3609002"/>
                  <a:chExt cx="540039" cy="360048"/>
                </a:xfrm>
              </p:grpSpPr>
              <p:grpSp>
                <p:nvGrpSpPr>
                  <p:cNvPr id="657" name="グループ化 656"/>
                  <p:cNvGrpSpPr/>
                  <p:nvPr/>
                </p:nvGrpSpPr>
                <p:grpSpPr>
                  <a:xfrm rot="10800000">
                    <a:off x="1871970" y="3609002"/>
                    <a:ext cx="270036" cy="360048"/>
                    <a:chOff x="6282228" y="1988808"/>
                    <a:chExt cx="270036" cy="360048"/>
                  </a:xfrm>
                </p:grpSpPr>
                <p:cxnSp>
                  <p:nvCxnSpPr>
                    <p:cNvPr id="664" name="直線コネクタ 66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5" name="直線コネクタ 66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6" name="直線コネクタ 66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7" name="直線コネクタ 66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58" name="グループ化 657"/>
                  <p:cNvGrpSpPr/>
                  <p:nvPr/>
                </p:nvGrpSpPr>
                <p:grpSpPr>
                  <a:xfrm>
                    <a:off x="1601967" y="3609002"/>
                    <a:ext cx="360048" cy="360048"/>
                    <a:chOff x="3131808" y="1628760"/>
                    <a:chExt cx="360048" cy="360048"/>
                  </a:xfrm>
                </p:grpSpPr>
                <p:cxnSp>
                  <p:nvCxnSpPr>
                    <p:cNvPr id="659" name="直線コネクタ 65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0" name="直線コネクタ 65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1" name="直線コネクタ 66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62" name="直線コネクタ 66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63" name="円/楕円 66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638" name="グループ化 637"/>
                <p:cNvGrpSpPr/>
                <p:nvPr/>
              </p:nvGrpSpPr>
              <p:grpSpPr>
                <a:xfrm rot="5400000">
                  <a:off x="2906965" y="5274037"/>
                  <a:ext cx="270041" cy="180007"/>
                  <a:chOff x="1601967" y="3609002"/>
                  <a:chExt cx="540039" cy="360048"/>
                </a:xfrm>
              </p:grpSpPr>
              <p:grpSp>
                <p:nvGrpSpPr>
                  <p:cNvPr id="646" name="グループ化 645"/>
                  <p:cNvGrpSpPr/>
                  <p:nvPr/>
                </p:nvGrpSpPr>
                <p:grpSpPr>
                  <a:xfrm rot="10800000">
                    <a:off x="1871970" y="3609002"/>
                    <a:ext cx="270036" cy="360048"/>
                    <a:chOff x="6282228" y="1988808"/>
                    <a:chExt cx="270036" cy="360048"/>
                  </a:xfrm>
                </p:grpSpPr>
                <p:cxnSp>
                  <p:nvCxnSpPr>
                    <p:cNvPr id="653" name="直線コネクタ 652"/>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4" name="直線コネクタ 653"/>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5" name="直線コネクタ 654"/>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6" name="直線コネクタ 655"/>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47" name="グループ化 646"/>
                  <p:cNvGrpSpPr/>
                  <p:nvPr/>
                </p:nvGrpSpPr>
                <p:grpSpPr>
                  <a:xfrm>
                    <a:off x="1601967" y="3609002"/>
                    <a:ext cx="360048" cy="360048"/>
                    <a:chOff x="3131808" y="1628760"/>
                    <a:chExt cx="360048" cy="360048"/>
                  </a:xfrm>
                </p:grpSpPr>
                <p:cxnSp>
                  <p:nvCxnSpPr>
                    <p:cNvPr id="648" name="直線コネクタ 647"/>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49" name="直線コネクタ 648"/>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0" name="直線コネクタ 649"/>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51" name="直線コネクタ 650"/>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52" name="円/楕円 651"/>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639"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0"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1"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2"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643"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45"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sm" len="sm"/>
                </a:ln>
                <a:effectLst/>
              </p:spPr>
              <p:txBody>
                <a:bodyPr wrap="none" lIns="90000" tIns="46800" rIns="90000" bIns="46800" anchor="ctr"/>
                <a:lstStyle/>
                <a:p>
                  <a:endParaRPr lang="ja-JP" altLang="en-US"/>
                </a:p>
              </p:txBody>
            </p:sp>
          </p:grpSp>
          <p:grpSp>
            <p:nvGrpSpPr>
              <p:cNvPr id="668" name="グループ化 667"/>
              <p:cNvGrpSpPr/>
              <p:nvPr/>
            </p:nvGrpSpPr>
            <p:grpSpPr>
              <a:xfrm>
                <a:off x="4034971" y="2850249"/>
                <a:ext cx="1080010" cy="1170013"/>
                <a:chOff x="1871970" y="2562739"/>
                <a:chExt cx="1890019" cy="2559383"/>
              </a:xfrm>
            </p:grpSpPr>
            <p:grpSp>
              <p:nvGrpSpPr>
                <p:cNvPr id="669" name="グループ化 668"/>
                <p:cNvGrpSpPr/>
                <p:nvPr/>
              </p:nvGrpSpPr>
              <p:grpSpPr>
                <a:xfrm>
                  <a:off x="2996967" y="4942097"/>
                  <a:ext cx="360048" cy="180025"/>
                  <a:chOff x="1736601" y="2511982"/>
                  <a:chExt cx="360048" cy="180025"/>
                </a:xfrm>
              </p:grpSpPr>
              <p:cxnSp>
                <p:nvCxnSpPr>
                  <p:cNvPr id="689" name="直線コネクタ 68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0" name="直線コネクタ 68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91" name="直線コネクタ 69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670" name="グループ化 669"/>
                <p:cNvGrpSpPr/>
                <p:nvPr/>
              </p:nvGrpSpPr>
              <p:grpSpPr>
                <a:xfrm>
                  <a:off x="2861981" y="4059007"/>
                  <a:ext cx="270036" cy="360048"/>
                  <a:chOff x="6282228" y="1988808"/>
                  <a:chExt cx="270036" cy="360048"/>
                </a:xfrm>
              </p:grpSpPr>
              <p:cxnSp>
                <p:nvCxnSpPr>
                  <p:cNvPr id="685" name="直線コネクタ 68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6" name="直線コネクタ 68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7" name="直線コネクタ 68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8" name="直線コネクタ 68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671" name="直線コネクタ 67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72" name="直線コネクタ 67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73" name="直線コネクタ 67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67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7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676" name="グループ化 675"/>
                <p:cNvGrpSpPr/>
                <p:nvPr/>
              </p:nvGrpSpPr>
              <p:grpSpPr>
                <a:xfrm>
                  <a:off x="2771980" y="2978995"/>
                  <a:ext cx="360048" cy="360048"/>
                  <a:chOff x="3131808" y="1628760"/>
                  <a:chExt cx="360048" cy="360048"/>
                </a:xfrm>
              </p:grpSpPr>
              <p:cxnSp>
                <p:nvCxnSpPr>
                  <p:cNvPr id="680" name="直線コネクタ 67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1" name="直線コネクタ 68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2" name="直線コネクタ 68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83" name="直線コネクタ 68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684" name="円/楕円 68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677" name="直線コネクタ 67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78" name="直線コネクタ 67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79" name="直線コネクタ 67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grpSp>
          <p:nvGrpSpPr>
            <p:cNvPr id="756" name="グループ化 755"/>
            <p:cNvGrpSpPr/>
            <p:nvPr/>
          </p:nvGrpSpPr>
          <p:grpSpPr>
            <a:xfrm>
              <a:off x="3493964" y="3338999"/>
              <a:ext cx="1618042" cy="720046"/>
              <a:chOff x="4034971" y="2618991"/>
              <a:chExt cx="3598064" cy="1530055"/>
            </a:xfrm>
          </p:grpSpPr>
          <p:grpSp>
            <p:nvGrpSpPr>
              <p:cNvPr id="757" name="グループ化 756"/>
              <p:cNvGrpSpPr/>
              <p:nvPr/>
            </p:nvGrpSpPr>
            <p:grpSpPr>
              <a:xfrm>
                <a:off x="5112006" y="2618991"/>
                <a:ext cx="2521029" cy="1530055"/>
                <a:chOff x="2361128" y="5229020"/>
                <a:chExt cx="1489701" cy="810047"/>
              </a:xfrm>
            </p:grpSpPr>
            <p:grpSp>
              <p:nvGrpSpPr>
                <p:cNvPr id="782" name="グループ化 781"/>
                <p:cNvGrpSpPr/>
                <p:nvPr/>
              </p:nvGrpSpPr>
              <p:grpSpPr>
                <a:xfrm rot="16200000">
                  <a:off x="2906965" y="5814043"/>
                  <a:ext cx="270041" cy="180007"/>
                  <a:chOff x="1601967" y="3609002"/>
                  <a:chExt cx="540039" cy="360048"/>
                </a:xfrm>
              </p:grpSpPr>
              <p:grpSp>
                <p:nvGrpSpPr>
                  <p:cNvPr id="802" name="グループ化 801"/>
                  <p:cNvGrpSpPr/>
                  <p:nvPr/>
                </p:nvGrpSpPr>
                <p:grpSpPr>
                  <a:xfrm rot="10800000">
                    <a:off x="1871970" y="3609002"/>
                    <a:ext cx="270036" cy="360048"/>
                    <a:chOff x="6282228" y="1988808"/>
                    <a:chExt cx="270036" cy="360048"/>
                  </a:xfrm>
                </p:grpSpPr>
                <p:cxnSp>
                  <p:nvCxnSpPr>
                    <p:cNvPr id="809" name="直線コネクタ 80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0" name="直線コネクタ 80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1" name="直線コネクタ 81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12" name="直線コネクタ 81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803" name="グループ化 802"/>
                  <p:cNvGrpSpPr/>
                  <p:nvPr/>
                </p:nvGrpSpPr>
                <p:grpSpPr>
                  <a:xfrm>
                    <a:off x="1601967" y="3609002"/>
                    <a:ext cx="360048" cy="360048"/>
                    <a:chOff x="3131808" y="1628760"/>
                    <a:chExt cx="360048" cy="360048"/>
                  </a:xfrm>
                </p:grpSpPr>
                <p:cxnSp>
                  <p:nvCxnSpPr>
                    <p:cNvPr id="804" name="直線コネクタ 80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5" name="直線コネクタ 80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6" name="直線コネクタ 80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7" name="直線コネクタ 80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808" name="円/楕円 80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783" name="グループ化 782"/>
                <p:cNvGrpSpPr/>
                <p:nvPr/>
              </p:nvGrpSpPr>
              <p:grpSpPr>
                <a:xfrm rot="5400000">
                  <a:off x="2906965" y="5274037"/>
                  <a:ext cx="270041" cy="180007"/>
                  <a:chOff x="1601967" y="3609002"/>
                  <a:chExt cx="540039" cy="360048"/>
                </a:xfrm>
              </p:grpSpPr>
              <p:grpSp>
                <p:nvGrpSpPr>
                  <p:cNvPr id="791" name="グループ化 790"/>
                  <p:cNvGrpSpPr/>
                  <p:nvPr/>
                </p:nvGrpSpPr>
                <p:grpSpPr>
                  <a:xfrm rot="10800000">
                    <a:off x="1871970" y="3609002"/>
                    <a:ext cx="270036" cy="360048"/>
                    <a:chOff x="6282228" y="1988808"/>
                    <a:chExt cx="270036" cy="360048"/>
                  </a:xfrm>
                </p:grpSpPr>
                <p:cxnSp>
                  <p:nvCxnSpPr>
                    <p:cNvPr id="798" name="直線コネクタ 79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9" name="直線コネクタ 79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0" name="直線コネクタ 79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01" name="直線コネクタ 80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92" name="グループ化 791"/>
                  <p:cNvGrpSpPr/>
                  <p:nvPr/>
                </p:nvGrpSpPr>
                <p:grpSpPr>
                  <a:xfrm>
                    <a:off x="1601967" y="3609002"/>
                    <a:ext cx="360048" cy="360048"/>
                    <a:chOff x="3131808" y="1628760"/>
                    <a:chExt cx="360048" cy="360048"/>
                  </a:xfrm>
                </p:grpSpPr>
                <p:cxnSp>
                  <p:nvCxnSpPr>
                    <p:cNvPr id="793" name="直線コネクタ 79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4" name="直線コネクタ 79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5" name="直線コネクタ 79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6" name="直線コネクタ 79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97" name="円/楕円 79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784"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5"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6"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7"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788"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9" name="Line 9"/>
                <p:cNvSpPr>
                  <a:spLocks noChangeShapeType="1"/>
                </p:cNvSpPr>
                <p:nvPr/>
              </p:nvSpPr>
              <p:spPr bwMode="auto">
                <a:xfrm>
                  <a:off x="3400824" y="5625038"/>
                  <a:ext cx="450005" cy="0"/>
                </a:xfrm>
                <a:prstGeom prst="line">
                  <a:avLst/>
                </a:prstGeom>
                <a:noFill/>
                <a:ln w="9525">
                  <a:solidFill>
                    <a:schemeClr val="tx1"/>
                  </a:solidFill>
                  <a:round/>
                  <a:headEnd type="oval"/>
                  <a:tailEnd type="triangle" w="med" len="lg"/>
                </a:ln>
                <a:effectLst/>
              </p:spPr>
              <p:txBody>
                <a:bodyPr wrap="none" lIns="90000" tIns="46800" rIns="90000" bIns="46800" anchor="ctr"/>
                <a:lstStyle/>
                <a:p>
                  <a:endParaRPr lang="ja-JP" altLang="en-US" sz="1200"/>
                </a:p>
              </p:txBody>
            </p:sp>
            <p:sp>
              <p:nvSpPr>
                <p:cNvPr id="790"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med" len="med"/>
                </a:ln>
                <a:effectLst/>
              </p:spPr>
              <p:txBody>
                <a:bodyPr wrap="none" lIns="90000" tIns="46800" rIns="90000" bIns="46800" anchor="ctr"/>
                <a:lstStyle/>
                <a:p>
                  <a:endParaRPr lang="ja-JP" altLang="en-US"/>
                </a:p>
              </p:txBody>
            </p:sp>
          </p:grpSp>
          <p:grpSp>
            <p:nvGrpSpPr>
              <p:cNvPr id="758" name="グループ化 757"/>
              <p:cNvGrpSpPr/>
              <p:nvPr/>
            </p:nvGrpSpPr>
            <p:grpSpPr>
              <a:xfrm>
                <a:off x="4034971" y="2850249"/>
                <a:ext cx="1080010" cy="1170013"/>
                <a:chOff x="1871970" y="2562739"/>
                <a:chExt cx="1890019" cy="2559383"/>
              </a:xfrm>
            </p:grpSpPr>
            <p:grpSp>
              <p:nvGrpSpPr>
                <p:cNvPr id="759" name="グループ化 758"/>
                <p:cNvGrpSpPr/>
                <p:nvPr/>
              </p:nvGrpSpPr>
              <p:grpSpPr>
                <a:xfrm>
                  <a:off x="2996967" y="4942097"/>
                  <a:ext cx="360048" cy="180025"/>
                  <a:chOff x="1736601" y="2511982"/>
                  <a:chExt cx="360048" cy="180025"/>
                </a:xfrm>
              </p:grpSpPr>
              <p:cxnSp>
                <p:nvCxnSpPr>
                  <p:cNvPr id="779" name="直線コネクタ 778"/>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0" name="直線コネクタ 779"/>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1" name="直線コネクタ 780"/>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760" name="グループ化 759"/>
                <p:cNvGrpSpPr/>
                <p:nvPr/>
              </p:nvGrpSpPr>
              <p:grpSpPr>
                <a:xfrm>
                  <a:off x="2861981" y="4059007"/>
                  <a:ext cx="270036" cy="360048"/>
                  <a:chOff x="6282228" y="1988808"/>
                  <a:chExt cx="270036" cy="360048"/>
                </a:xfrm>
              </p:grpSpPr>
              <p:cxnSp>
                <p:nvCxnSpPr>
                  <p:cNvPr id="775" name="直線コネクタ 774"/>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6" name="直線コネクタ 775"/>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7" name="直線コネクタ 776"/>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8" name="直線コネクタ 777"/>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61" name="直線コネクタ 760"/>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762" name="直線コネクタ 761"/>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763" name="直線コネクタ 762"/>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764"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65"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766" name="グループ化 765"/>
                <p:cNvGrpSpPr/>
                <p:nvPr/>
              </p:nvGrpSpPr>
              <p:grpSpPr>
                <a:xfrm>
                  <a:off x="2771980" y="2978995"/>
                  <a:ext cx="360048" cy="360048"/>
                  <a:chOff x="3131808" y="1628760"/>
                  <a:chExt cx="360048" cy="360048"/>
                </a:xfrm>
              </p:grpSpPr>
              <p:cxnSp>
                <p:nvCxnSpPr>
                  <p:cNvPr id="770" name="直線コネクタ 769"/>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1" name="直線コネクタ 770"/>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2" name="直線コネクタ 771"/>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73" name="直線コネクタ 772"/>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774" name="円/楕円 773"/>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767" name="直線コネクタ 766"/>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768" name="直線コネクタ 767"/>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769" name="直線コネクタ 768"/>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sp>
          <p:nvSpPr>
            <p:cNvPr id="814" name="Freeform 10"/>
            <p:cNvSpPr>
              <a:spLocks/>
            </p:cNvSpPr>
            <p:nvPr/>
          </p:nvSpPr>
          <p:spPr bwMode="auto">
            <a:xfrm rot="5400000" flipV="1">
              <a:off x="2872962" y="1799980"/>
              <a:ext cx="432000"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815" name="Freeform 10"/>
            <p:cNvSpPr>
              <a:spLocks/>
            </p:cNvSpPr>
            <p:nvPr/>
          </p:nvSpPr>
          <p:spPr bwMode="auto">
            <a:xfrm rot="5400000" flipH="1" flipV="1">
              <a:off x="2836962" y="2673996"/>
              <a:ext cx="504000" cy="45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nvGrpSpPr>
            <p:cNvPr id="1191" name="グループ化 1190"/>
            <p:cNvGrpSpPr/>
            <p:nvPr/>
          </p:nvGrpSpPr>
          <p:grpSpPr>
            <a:xfrm>
              <a:off x="793934" y="3609002"/>
              <a:ext cx="2070023" cy="1080012"/>
              <a:chOff x="2250893" y="4059365"/>
              <a:chExt cx="4590049" cy="2535526"/>
            </a:xfrm>
          </p:grpSpPr>
          <p:grpSp>
            <p:nvGrpSpPr>
              <p:cNvPr id="1192" name="グループ化 1191"/>
              <p:cNvGrpSpPr/>
              <p:nvPr/>
            </p:nvGrpSpPr>
            <p:grpSpPr>
              <a:xfrm>
                <a:off x="3150902" y="5424878"/>
                <a:ext cx="1080010" cy="1170013"/>
                <a:chOff x="1871970" y="2562739"/>
                <a:chExt cx="1890019" cy="2559383"/>
              </a:xfrm>
            </p:grpSpPr>
            <p:grpSp>
              <p:nvGrpSpPr>
                <p:cNvPr id="1326" name="グループ化 1325"/>
                <p:cNvGrpSpPr/>
                <p:nvPr/>
              </p:nvGrpSpPr>
              <p:grpSpPr>
                <a:xfrm>
                  <a:off x="2996967" y="4942097"/>
                  <a:ext cx="360048" cy="180025"/>
                  <a:chOff x="1736601" y="2511982"/>
                  <a:chExt cx="360048" cy="180025"/>
                </a:xfrm>
              </p:grpSpPr>
              <p:cxnSp>
                <p:nvCxnSpPr>
                  <p:cNvPr id="1346" name="直線コネクタ 134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7" name="直線コネクタ 134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8" name="直線コネクタ 134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27" name="グループ化 1326"/>
                <p:cNvGrpSpPr/>
                <p:nvPr/>
              </p:nvGrpSpPr>
              <p:grpSpPr>
                <a:xfrm>
                  <a:off x="2861981" y="4059007"/>
                  <a:ext cx="270036" cy="360048"/>
                  <a:chOff x="6282228" y="1988808"/>
                  <a:chExt cx="270036" cy="360048"/>
                </a:xfrm>
              </p:grpSpPr>
              <p:cxnSp>
                <p:nvCxnSpPr>
                  <p:cNvPr id="1342" name="直線コネクタ 134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3" name="直線コネクタ 134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4" name="直線コネクタ 134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5" name="直線コネクタ 134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28" name="直線コネクタ 132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29" name="直線コネクタ 132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30" name="直線コネクタ 132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3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3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333" name="グループ化 1332"/>
                <p:cNvGrpSpPr/>
                <p:nvPr/>
              </p:nvGrpSpPr>
              <p:grpSpPr>
                <a:xfrm>
                  <a:off x="2771980" y="2978995"/>
                  <a:ext cx="360048" cy="360048"/>
                  <a:chOff x="3131808" y="1628760"/>
                  <a:chExt cx="360048" cy="360048"/>
                </a:xfrm>
              </p:grpSpPr>
              <p:cxnSp>
                <p:nvCxnSpPr>
                  <p:cNvPr id="1337" name="直線コネクタ 133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38" name="直線コネクタ 133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39" name="直線コネクタ 133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40" name="直線コネクタ 133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41" name="円/楕円 134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34" name="直線コネクタ 133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35" name="直線コネクタ 133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36" name="直線コネクタ 133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193" name="グループ化 1192"/>
              <p:cNvGrpSpPr/>
              <p:nvPr/>
            </p:nvGrpSpPr>
            <p:grpSpPr>
              <a:xfrm rot="10800000">
                <a:off x="3150902" y="4059365"/>
                <a:ext cx="1080010" cy="1170013"/>
                <a:chOff x="1871970" y="2562739"/>
                <a:chExt cx="1890019" cy="2559383"/>
              </a:xfrm>
            </p:grpSpPr>
            <p:grpSp>
              <p:nvGrpSpPr>
                <p:cNvPr id="1303" name="グループ化 1302"/>
                <p:cNvGrpSpPr/>
                <p:nvPr/>
              </p:nvGrpSpPr>
              <p:grpSpPr>
                <a:xfrm>
                  <a:off x="2996967" y="4942097"/>
                  <a:ext cx="360048" cy="180025"/>
                  <a:chOff x="1736601" y="2511982"/>
                  <a:chExt cx="360048" cy="180025"/>
                </a:xfrm>
              </p:grpSpPr>
              <p:cxnSp>
                <p:nvCxnSpPr>
                  <p:cNvPr id="1323" name="直線コネクタ 132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4" name="直線コネクタ 132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5" name="直線コネクタ 132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04" name="グループ化 1303"/>
                <p:cNvGrpSpPr/>
                <p:nvPr/>
              </p:nvGrpSpPr>
              <p:grpSpPr>
                <a:xfrm>
                  <a:off x="2861981" y="4059007"/>
                  <a:ext cx="270036" cy="360048"/>
                  <a:chOff x="6282228" y="1988808"/>
                  <a:chExt cx="270036" cy="360048"/>
                </a:xfrm>
              </p:grpSpPr>
              <p:cxnSp>
                <p:nvCxnSpPr>
                  <p:cNvPr id="1319" name="直線コネクタ 131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0" name="直線コネクタ 131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1" name="直線コネクタ 132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22" name="直線コネクタ 132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05" name="直線コネクタ 130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06" name="直線コネクタ 130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07" name="直線コネクタ 130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0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0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310" name="グループ化 1309"/>
                <p:cNvGrpSpPr/>
                <p:nvPr/>
              </p:nvGrpSpPr>
              <p:grpSpPr>
                <a:xfrm>
                  <a:off x="2771980" y="2978995"/>
                  <a:ext cx="360048" cy="360048"/>
                  <a:chOff x="3131808" y="1628760"/>
                  <a:chExt cx="360048" cy="360048"/>
                </a:xfrm>
              </p:grpSpPr>
              <p:cxnSp>
                <p:nvCxnSpPr>
                  <p:cNvPr id="1314" name="直線コネクタ 131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5" name="直線コネクタ 131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6" name="直線コネクタ 131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17" name="直線コネクタ 131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18" name="円/楕円 131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311" name="直線コネクタ 131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12" name="直線コネクタ 131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13" name="直線コネクタ 131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194"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195" name="グループ化 1194"/>
              <p:cNvGrpSpPr/>
              <p:nvPr/>
            </p:nvGrpSpPr>
            <p:grpSpPr>
              <a:xfrm rot="5400000">
                <a:off x="2565879" y="5829899"/>
                <a:ext cx="270041" cy="180007"/>
                <a:chOff x="1601967" y="3609002"/>
                <a:chExt cx="540039" cy="360048"/>
              </a:xfrm>
            </p:grpSpPr>
            <p:grpSp>
              <p:nvGrpSpPr>
                <p:cNvPr id="1292" name="グループ化 1291"/>
                <p:cNvGrpSpPr/>
                <p:nvPr/>
              </p:nvGrpSpPr>
              <p:grpSpPr>
                <a:xfrm rot="10800000">
                  <a:off x="1871970" y="3609002"/>
                  <a:ext cx="270036" cy="360048"/>
                  <a:chOff x="6282228" y="1988808"/>
                  <a:chExt cx="270036" cy="360048"/>
                </a:xfrm>
              </p:grpSpPr>
              <p:cxnSp>
                <p:nvCxnSpPr>
                  <p:cNvPr id="1299" name="直線コネクタ 129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0" name="直線コネクタ 129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1" name="直線コネクタ 130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02" name="直線コネクタ 130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93" name="グループ化 1292"/>
                <p:cNvGrpSpPr/>
                <p:nvPr/>
              </p:nvGrpSpPr>
              <p:grpSpPr>
                <a:xfrm>
                  <a:off x="1601967" y="3609002"/>
                  <a:ext cx="360048" cy="360048"/>
                  <a:chOff x="3131808" y="1628760"/>
                  <a:chExt cx="360048" cy="360048"/>
                </a:xfrm>
              </p:grpSpPr>
              <p:cxnSp>
                <p:nvCxnSpPr>
                  <p:cNvPr id="1294" name="直線コネクタ 129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5" name="直線コネクタ 129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6" name="直線コネクタ 129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7" name="直線コネクタ 129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98" name="円/楕円 129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196" name="グループ化 1195"/>
              <p:cNvGrpSpPr/>
              <p:nvPr/>
            </p:nvGrpSpPr>
            <p:grpSpPr>
              <a:xfrm>
                <a:off x="2880899" y="5229378"/>
                <a:ext cx="270041" cy="180007"/>
                <a:chOff x="1601967" y="3609002"/>
                <a:chExt cx="540039" cy="360048"/>
              </a:xfrm>
            </p:grpSpPr>
            <p:grpSp>
              <p:nvGrpSpPr>
                <p:cNvPr id="1281" name="グループ化 1280"/>
                <p:cNvGrpSpPr/>
                <p:nvPr/>
              </p:nvGrpSpPr>
              <p:grpSpPr>
                <a:xfrm rot="10800000">
                  <a:off x="1871970" y="3609002"/>
                  <a:ext cx="270036" cy="360048"/>
                  <a:chOff x="6282228" y="1988808"/>
                  <a:chExt cx="270036" cy="360048"/>
                </a:xfrm>
              </p:grpSpPr>
              <p:cxnSp>
                <p:nvCxnSpPr>
                  <p:cNvPr id="1288" name="直線コネクタ 128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9" name="直線コネクタ 128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0" name="直線コネクタ 128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91" name="直線コネクタ 129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82" name="グループ化 1281"/>
                <p:cNvGrpSpPr/>
                <p:nvPr/>
              </p:nvGrpSpPr>
              <p:grpSpPr>
                <a:xfrm>
                  <a:off x="1601967" y="3609002"/>
                  <a:ext cx="360048" cy="360048"/>
                  <a:chOff x="3131808" y="1628760"/>
                  <a:chExt cx="360048" cy="360048"/>
                </a:xfrm>
              </p:grpSpPr>
              <p:cxnSp>
                <p:nvCxnSpPr>
                  <p:cNvPr id="1283" name="直線コネクタ 128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4" name="直線コネクタ 128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5" name="直線コネクタ 128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6" name="直線コネクタ 128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87" name="円/楕円 128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197"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198"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199"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0"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1"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2"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203" name="グループ化 1202"/>
              <p:cNvGrpSpPr/>
              <p:nvPr/>
            </p:nvGrpSpPr>
            <p:grpSpPr>
              <a:xfrm>
                <a:off x="5220924" y="5424878"/>
                <a:ext cx="1080010" cy="1170013"/>
                <a:chOff x="1871970" y="2562739"/>
                <a:chExt cx="1890019" cy="2559383"/>
              </a:xfrm>
            </p:grpSpPr>
            <p:grpSp>
              <p:nvGrpSpPr>
                <p:cNvPr id="1258" name="グループ化 1257"/>
                <p:cNvGrpSpPr/>
                <p:nvPr/>
              </p:nvGrpSpPr>
              <p:grpSpPr>
                <a:xfrm>
                  <a:off x="2996967" y="4942097"/>
                  <a:ext cx="360048" cy="180025"/>
                  <a:chOff x="1736601" y="2511982"/>
                  <a:chExt cx="360048" cy="180025"/>
                </a:xfrm>
              </p:grpSpPr>
              <p:cxnSp>
                <p:nvCxnSpPr>
                  <p:cNvPr id="1278" name="直線コネクタ 1277"/>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9" name="直線コネクタ 1278"/>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80" name="直線コネクタ 1279"/>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59" name="グループ化 1258"/>
                <p:cNvGrpSpPr/>
                <p:nvPr/>
              </p:nvGrpSpPr>
              <p:grpSpPr>
                <a:xfrm>
                  <a:off x="2861981" y="4059007"/>
                  <a:ext cx="270036" cy="360048"/>
                  <a:chOff x="6282228" y="1988808"/>
                  <a:chExt cx="270036" cy="360048"/>
                </a:xfrm>
              </p:grpSpPr>
              <p:cxnSp>
                <p:nvCxnSpPr>
                  <p:cNvPr id="1274" name="直線コネクタ 1273"/>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5" name="直線コネクタ 1274"/>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6" name="直線コネクタ 1275"/>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7" name="直線コネクタ 1276"/>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60" name="直線コネクタ 1259"/>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61" name="直線コネクタ 1260"/>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62" name="直線コネクタ 1261"/>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263"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264"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65" name="グループ化 1264"/>
                <p:cNvGrpSpPr/>
                <p:nvPr/>
              </p:nvGrpSpPr>
              <p:grpSpPr>
                <a:xfrm>
                  <a:off x="2771980" y="2978995"/>
                  <a:ext cx="360048" cy="360048"/>
                  <a:chOff x="3131808" y="1628760"/>
                  <a:chExt cx="360048" cy="360048"/>
                </a:xfrm>
              </p:grpSpPr>
              <p:cxnSp>
                <p:nvCxnSpPr>
                  <p:cNvPr id="1269" name="直線コネクタ 1268"/>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0" name="直線コネクタ 1269"/>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1" name="直線コネクタ 1270"/>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2" name="直線コネクタ 1271"/>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73" name="円/楕円 1272"/>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266" name="直線コネクタ 1265"/>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67" name="直線コネクタ 1266"/>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68" name="直線コネクタ 1267"/>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04" name="グループ化 1203"/>
              <p:cNvGrpSpPr/>
              <p:nvPr/>
            </p:nvGrpSpPr>
            <p:grpSpPr>
              <a:xfrm rot="10800000">
                <a:off x="5220924" y="4059365"/>
                <a:ext cx="1080010" cy="1170013"/>
                <a:chOff x="1871970" y="2562739"/>
                <a:chExt cx="1890019" cy="2559383"/>
              </a:xfrm>
            </p:grpSpPr>
            <p:grpSp>
              <p:nvGrpSpPr>
                <p:cNvPr id="1235" name="グループ化 1234"/>
                <p:cNvGrpSpPr/>
                <p:nvPr/>
              </p:nvGrpSpPr>
              <p:grpSpPr>
                <a:xfrm>
                  <a:off x="2996967" y="4942097"/>
                  <a:ext cx="360048" cy="180025"/>
                  <a:chOff x="1736601" y="2511982"/>
                  <a:chExt cx="360048" cy="180025"/>
                </a:xfrm>
              </p:grpSpPr>
              <p:cxnSp>
                <p:nvCxnSpPr>
                  <p:cNvPr id="1255" name="直線コネクタ 1254"/>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6" name="直線コネクタ 1255"/>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7" name="直線コネクタ 1256"/>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36" name="グループ化 1235"/>
                <p:cNvGrpSpPr/>
                <p:nvPr/>
              </p:nvGrpSpPr>
              <p:grpSpPr>
                <a:xfrm>
                  <a:off x="2861981" y="4059007"/>
                  <a:ext cx="270036" cy="360048"/>
                  <a:chOff x="6282228" y="1988808"/>
                  <a:chExt cx="270036" cy="360048"/>
                </a:xfrm>
              </p:grpSpPr>
              <p:cxnSp>
                <p:nvCxnSpPr>
                  <p:cNvPr id="1251" name="直線コネクタ 125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2" name="直線コネクタ 125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3" name="直線コネクタ 125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4" name="直線コネクタ 125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37" name="直線コネクタ 1236"/>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38" name="直線コネクタ 1237"/>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39" name="直線コネクタ 1238"/>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240"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241"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242" name="グループ化 1241"/>
                <p:cNvGrpSpPr/>
                <p:nvPr/>
              </p:nvGrpSpPr>
              <p:grpSpPr>
                <a:xfrm>
                  <a:off x="2771980" y="2978995"/>
                  <a:ext cx="360048" cy="360048"/>
                  <a:chOff x="3131808" y="1628760"/>
                  <a:chExt cx="360048" cy="360048"/>
                </a:xfrm>
              </p:grpSpPr>
              <p:cxnSp>
                <p:nvCxnSpPr>
                  <p:cNvPr id="1246" name="直線コネクタ 124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7" name="直線コネクタ 124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8" name="直線コネクタ 124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9" name="直線コネクタ 124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50" name="円/楕円 124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243" name="直線コネクタ 1242"/>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44" name="直線コネクタ 1243"/>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245" name="直線コネクタ 1244"/>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205"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206" name="グループ化 1205"/>
              <p:cNvGrpSpPr/>
              <p:nvPr/>
            </p:nvGrpSpPr>
            <p:grpSpPr>
              <a:xfrm rot="5400000">
                <a:off x="4635901" y="5829899"/>
                <a:ext cx="270041" cy="180007"/>
                <a:chOff x="1601967" y="3609002"/>
                <a:chExt cx="540039" cy="360048"/>
              </a:xfrm>
            </p:grpSpPr>
            <p:grpSp>
              <p:nvGrpSpPr>
                <p:cNvPr id="1224" name="グループ化 1223"/>
                <p:cNvGrpSpPr/>
                <p:nvPr/>
              </p:nvGrpSpPr>
              <p:grpSpPr>
                <a:xfrm rot="10800000">
                  <a:off x="1871970" y="3609002"/>
                  <a:ext cx="270036" cy="360048"/>
                  <a:chOff x="6282228" y="1988808"/>
                  <a:chExt cx="270036" cy="360048"/>
                </a:xfrm>
              </p:grpSpPr>
              <p:cxnSp>
                <p:nvCxnSpPr>
                  <p:cNvPr id="1231" name="直線コネクタ 1230"/>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2" name="直線コネクタ 1231"/>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3" name="直線コネクタ 1232"/>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4" name="直線コネクタ 1233"/>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25" name="グループ化 1224"/>
                <p:cNvGrpSpPr/>
                <p:nvPr/>
              </p:nvGrpSpPr>
              <p:grpSpPr>
                <a:xfrm>
                  <a:off x="1601967" y="3609002"/>
                  <a:ext cx="360048" cy="360048"/>
                  <a:chOff x="3131808" y="1628760"/>
                  <a:chExt cx="360048" cy="360048"/>
                </a:xfrm>
              </p:grpSpPr>
              <p:cxnSp>
                <p:nvCxnSpPr>
                  <p:cNvPr id="1226" name="直線コネクタ 1225"/>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7" name="直線コネクタ 1226"/>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8" name="直線コネクタ 1227"/>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9" name="直線コネクタ 1228"/>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30" name="円/楕円 1229"/>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207" name="グループ化 1206"/>
              <p:cNvGrpSpPr/>
              <p:nvPr/>
            </p:nvGrpSpPr>
            <p:grpSpPr>
              <a:xfrm>
                <a:off x="4950921" y="5229378"/>
                <a:ext cx="270041" cy="180007"/>
                <a:chOff x="1601967" y="3609002"/>
                <a:chExt cx="540039" cy="360048"/>
              </a:xfrm>
            </p:grpSpPr>
            <p:grpSp>
              <p:nvGrpSpPr>
                <p:cNvPr id="1213" name="グループ化 1212"/>
                <p:cNvGrpSpPr/>
                <p:nvPr/>
              </p:nvGrpSpPr>
              <p:grpSpPr>
                <a:xfrm rot="10800000">
                  <a:off x="1871970" y="3609002"/>
                  <a:ext cx="270036" cy="360048"/>
                  <a:chOff x="6282228" y="1988808"/>
                  <a:chExt cx="270036" cy="360048"/>
                </a:xfrm>
              </p:grpSpPr>
              <p:cxnSp>
                <p:nvCxnSpPr>
                  <p:cNvPr id="1220" name="直線コネクタ 121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1" name="直線コネクタ 122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2" name="直線コネクタ 122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3" name="直線コネクタ 122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214" name="グループ化 1213"/>
                <p:cNvGrpSpPr/>
                <p:nvPr/>
              </p:nvGrpSpPr>
              <p:grpSpPr>
                <a:xfrm>
                  <a:off x="1601967" y="3609002"/>
                  <a:ext cx="360048" cy="360048"/>
                  <a:chOff x="3131808" y="1628760"/>
                  <a:chExt cx="360048" cy="360048"/>
                </a:xfrm>
              </p:grpSpPr>
              <p:cxnSp>
                <p:nvCxnSpPr>
                  <p:cNvPr id="1215" name="直線コネクタ 121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6" name="直線コネクタ 121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7" name="直線コネクタ 121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18" name="直線コネクタ 121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219" name="円/楕円 121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208"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09"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210"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11"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212"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349" name="グループ化 1348"/>
            <p:cNvGrpSpPr/>
            <p:nvPr/>
          </p:nvGrpSpPr>
          <p:grpSpPr>
            <a:xfrm>
              <a:off x="793934" y="4959017"/>
              <a:ext cx="2070023" cy="1080012"/>
              <a:chOff x="2250893" y="4059365"/>
              <a:chExt cx="4590049" cy="2535526"/>
            </a:xfrm>
          </p:grpSpPr>
          <p:grpSp>
            <p:nvGrpSpPr>
              <p:cNvPr id="1350" name="グループ化 1349"/>
              <p:cNvGrpSpPr/>
              <p:nvPr/>
            </p:nvGrpSpPr>
            <p:grpSpPr>
              <a:xfrm>
                <a:off x="3150902" y="5424878"/>
                <a:ext cx="1080010" cy="1170013"/>
                <a:chOff x="1871970" y="2562739"/>
                <a:chExt cx="1890019" cy="2559383"/>
              </a:xfrm>
            </p:grpSpPr>
            <p:grpSp>
              <p:nvGrpSpPr>
                <p:cNvPr id="1484" name="グループ化 1483"/>
                <p:cNvGrpSpPr/>
                <p:nvPr/>
              </p:nvGrpSpPr>
              <p:grpSpPr>
                <a:xfrm>
                  <a:off x="2996967" y="4942097"/>
                  <a:ext cx="360048" cy="180025"/>
                  <a:chOff x="1736601" y="2511982"/>
                  <a:chExt cx="360048" cy="180025"/>
                </a:xfrm>
              </p:grpSpPr>
              <p:cxnSp>
                <p:nvCxnSpPr>
                  <p:cNvPr id="1504" name="直線コネクタ 1503"/>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5" name="直線コネクタ 1504"/>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6" name="直線コネクタ 1505"/>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85" name="グループ化 1484"/>
                <p:cNvGrpSpPr/>
                <p:nvPr/>
              </p:nvGrpSpPr>
              <p:grpSpPr>
                <a:xfrm>
                  <a:off x="2861981" y="4059007"/>
                  <a:ext cx="270036" cy="360048"/>
                  <a:chOff x="6282228" y="1988808"/>
                  <a:chExt cx="270036" cy="360048"/>
                </a:xfrm>
              </p:grpSpPr>
              <p:cxnSp>
                <p:nvCxnSpPr>
                  <p:cNvPr id="1500" name="直線コネクタ 149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1" name="直線コネクタ 150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2" name="直線コネクタ 150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03" name="直線コネクタ 150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86" name="直線コネクタ 1485"/>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87" name="直線コネクタ 1486"/>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88" name="直線コネクタ 1487"/>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89"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90"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91" name="グループ化 1490"/>
                <p:cNvGrpSpPr/>
                <p:nvPr/>
              </p:nvGrpSpPr>
              <p:grpSpPr>
                <a:xfrm>
                  <a:off x="2771980" y="2978995"/>
                  <a:ext cx="360048" cy="360048"/>
                  <a:chOff x="3131808" y="1628760"/>
                  <a:chExt cx="360048" cy="360048"/>
                </a:xfrm>
              </p:grpSpPr>
              <p:cxnSp>
                <p:nvCxnSpPr>
                  <p:cNvPr id="1495" name="直線コネクタ 149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6" name="直線コネクタ 149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7" name="直線コネクタ 149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98" name="直線コネクタ 149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99" name="円/楕円 149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92" name="直線コネクタ 1491"/>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93" name="直線コネクタ 1492"/>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94" name="直線コネクタ 1493"/>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51" name="グループ化 1350"/>
              <p:cNvGrpSpPr/>
              <p:nvPr/>
            </p:nvGrpSpPr>
            <p:grpSpPr>
              <a:xfrm rot="10800000">
                <a:off x="3150902" y="4059365"/>
                <a:ext cx="1080010" cy="1170013"/>
                <a:chOff x="1871970" y="2562739"/>
                <a:chExt cx="1890019" cy="2559383"/>
              </a:xfrm>
            </p:grpSpPr>
            <p:grpSp>
              <p:nvGrpSpPr>
                <p:cNvPr id="1461" name="グループ化 1460"/>
                <p:cNvGrpSpPr/>
                <p:nvPr/>
              </p:nvGrpSpPr>
              <p:grpSpPr>
                <a:xfrm>
                  <a:off x="2996967" y="4942097"/>
                  <a:ext cx="360048" cy="180025"/>
                  <a:chOff x="1736601" y="2511982"/>
                  <a:chExt cx="360048" cy="180025"/>
                </a:xfrm>
              </p:grpSpPr>
              <p:cxnSp>
                <p:nvCxnSpPr>
                  <p:cNvPr id="1481" name="直線コネクタ 1480"/>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2" name="直線コネクタ 1481"/>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3" name="直線コネクタ 1482"/>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62" name="グループ化 1461"/>
                <p:cNvGrpSpPr/>
                <p:nvPr/>
              </p:nvGrpSpPr>
              <p:grpSpPr>
                <a:xfrm>
                  <a:off x="2861981" y="4059007"/>
                  <a:ext cx="270036" cy="360048"/>
                  <a:chOff x="6282228" y="1988808"/>
                  <a:chExt cx="270036" cy="360048"/>
                </a:xfrm>
              </p:grpSpPr>
              <p:cxnSp>
                <p:nvCxnSpPr>
                  <p:cNvPr id="1477" name="直線コネクタ 1476"/>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8" name="直線コネクタ 1477"/>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9" name="直線コネクタ 1478"/>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80" name="直線コネクタ 1479"/>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63" name="直線コネクタ 1462"/>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64" name="直線コネクタ 1463"/>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65" name="直線コネクタ 1464"/>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66"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67"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68" name="グループ化 1467"/>
                <p:cNvGrpSpPr/>
                <p:nvPr/>
              </p:nvGrpSpPr>
              <p:grpSpPr>
                <a:xfrm>
                  <a:off x="2771980" y="2978995"/>
                  <a:ext cx="360048" cy="360048"/>
                  <a:chOff x="3131808" y="1628760"/>
                  <a:chExt cx="360048" cy="360048"/>
                </a:xfrm>
              </p:grpSpPr>
              <p:cxnSp>
                <p:nvCxnSpPr>
                  <p:cNvPr id="1472" name="直線コネクタ 1471"/>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3" name="直線コネクタ 1472"/>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4" name="直線コネクタ 1473"/>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5" name="直線コネクタ 1474"/>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76" name="円/楕円 1475"/>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69" name="直線コネクタ 1468"/>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70" name="直線コネクタ 1469"/>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71" name="直線コネクタ 1470"/>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52" name="Line 46"/>
              <p:cNvSpPr>
                <a:spLocks noChangeShapeType="1"/>
              </p:cNvSpPr>
              <p:nvPr/>
            </p:nvSpPr>
            <p:spPr bwMode="auto">
              <a:xfrm flipV="1">
                <a:off x="4230914"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53" name="グループ化 1352"/>
              <p:cNvGrpSpPr/>
              <p:nvPr/>
            </p:nvGrpSpPr>
            <p:grpSpPr>
              <a:xfrm rot="5400000">
                <a:off x="2565879" y="5829899"/>
                <a:ext cx="270041" cy="180007"/>
                <a:chOff x="1601967" y="3609002"/>
                <a:chExt cx="540039" cy="360048"/>
              </a:xfrm>
            </p:grpSpPr>
            <p:grpSp>
              <p:nvGrpSpPr>
                <p:cNvPr id="1450" name="グループ化 1449"/>
                <p:cNvGrpSpPr/>
                <p:nvPr/>
              </p:nvGrpSpPr>
              <p:grpSpPr>
                <a:xfrm rot="10800000">
                  <a:off x="1871970" y="3609002"/>
                  <a:ext cx="270036" cy="360048"/>
                  <a:chOff x="6282228" y="1988808"/>
                  <a:chExt cx="270036" cy="360048"/>
                </a:xfrm>
              </p:grpSpPr>
              <p:cxnSp>
                <p:nvCxnSpPr>
                  <p:cNvPr id="1457" name="直線コネクタ 1456"/>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8" name="直線コネクタ 1457"/>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9" name="直線コネクタ 1458"/>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60" name="直線コネクタ 1459"/>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51" name="グループ化 1450"/>
                <p:cNvGrpSpPr/>
                <p:nvPr/>
              </p:nvGrpSpPr>
              <p:grpSpPr>
                <a:xfrm>
                  <a:off x="1601967" y="3609002"/>
                  <a:ext cx="360048" cy="360048"/>
                  <a:chOff x="3131808" y="1628760"/>
                  <a:chExt cx="360048" cy="360048"/>
                </a:xfrm>
              </p:grpSpPr>
              <p:cxnSp>
                <p:nvCxnSpPr>
                  <p:cNvPr id="1452" name="直線コネクタ 1451"/>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3" name="直線コネクタ 1452"/>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4" name="直線コネクタ 1453"/>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5" name="直線コネクタ 1454"/>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56" name="円/楕円 1455"/>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354" name="グループ化 1353"/>
              <p:cNvGrpSpPr/>
              <p:nvPr/>
            </p:nvGrpSpPr>
            <p:grpSpPr>
              <a:xfrm>
                <a:off x="2880899" y="5229378"/>
                <a:ext cx="270041" cy="180007"/>
                <a:chOff x="1601967" y="3609002"/>
                <a:chExt cx="540039" cy="360048"/>
              </a:xfrm>
            </p:grpSpPr>
            <p:grpSp>
              <p:nvGrpSpPr>
                <p:cNvPr id="1439" name="グループ化 1438"/>
                <p:cNvGrpSpPr/>
                <p:nvPr/>
              </p:nvGrpSpPr>
              <p:grpSpPr>
                <a:xfrm rot="10800000">
                  <a:off x="1871970" y="3609002"/>
                  <a:ext cx="270036" cy="360048"/>
                  <a:chOff x="6282228" y="1988808"/>
                  <a:chExt cx="270036" cy="360048"/>
                </a:xfrm>
              </p:grpSpPr>
              <p:cxnSp>
                <p:nvCxnSpPr>
                  <p:cNvPr id="1446" name="直線コネクタ 144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7" name="直線コネクタ 144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8" name="直線コネクタ 144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9" name="直線コネクタ 144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40" name="グループ化 1439"/>
                <p:cNvGrpSpPr/>
                <p:nvPr/>
              </p:nvGrpSpPr>
              <p:grpSpPr>
                <a:xfrm>
                  <a:off x="1601967" y="3609002"/>
                  <a:ext cx="360048" cy="360048"/>
                  <a:chOff x="3131808" y="1628760"/>
                  <a:chExt cx="360048" cy="360048"/>
                </a:xfrm>
              </p:grpSpPr>
              <p:cxnSp>
                <p:nvCxnSpPr>
                  <p:cNvPr id="1441" name="直線コネクタ 144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2" name="直線コネクタ 144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3" name="直線コネクタ 144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44" name="直線コネクタ 144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45" name="円/楕円 144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55" name="Line 46"/>
              <p:cNvSpPr>
                <a:spLocks noChangeShapeType="1"/>
              </p:cNvSpPr>
              <p:nvPr/>
            </p:nvSpPr>
            <p:spPr bwMode="auto">
              <a:xfrm>
                <a:off x="2790898"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6" name="Line 46"/>
              <p:cNvSpPr>
                <a:spLocks noChangeShapeType="1"/>
              </p:cNvSpPr>
              <p:nvPr/>
            </p:nvSpPr>
            <p:spPr bwMode="auto">
              <a:xfrm flipH="1" flipV="1">
                <a:off x="3045403"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57" name="Line 46"/>
              <p:cNvSpPr>
                <a:spLocks noChangeShapeType="1"/>
              </p:cNvSpPr>
              <p:nvPr/>
            </p:nvSpPr>
            <p:spPr bwMode="auto">
              <a:xfrm flipH="1" flipV="1">
                <a:off x="3029905"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8" name="Line 46"/>
              <p:cNvSpPr>
                <a:spLocks noChangeShapeType="1"/>
              </p:cNvSpPr>
              <p:nvPr/>
            </p:nvSpPr>
            <p:spPr bwMode="auto">
              <a:xfrm flipV="1">
                <a:off x="3017394"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59" name="Line 46"/>
              <p:cNvSpPr>
                <a:spLocks noChangeShapeType="1"/>
              </p:cNvSpPr>
              <p:nvPr/>
            </p:nvSpPr>
            <p:spPr bwMode="auto">
              <a:xfrm>
                <a:off x="2250893"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0" name="Line 46"/>
              <p:cNvSpPr>
                <a:spLocks noChangeShapeType="1"/>
              </p:cNvSpPr>
              <p:nvPr/>
            </p:nvSpPr>
            <p:spPr bwMode="auto">
              <a:xfrm flipV="1">
                <a:off x="4230914" y="5949386"/>
                <a:ext cx="450005"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nvGrpSpPr>
              <p:cNvPr id="1361" name="グループ化 1360"/>
              <p:cNvGrpSpPr/>
              <p:nvPr/>
            </p:nvGrpSpPr>
            <p:grpSpPr>
              <a:xfrm>
                <a:off x="5220924" y="5424878"/>
                <a:ext cx="1080010" cy="1170013"/>
                <a:chOff x="1871970" y="2562739"/>
                <a:chExt cx="1890019" cy="2559383"/>
              </a:xfrm>
            </p:grpSpPr>
            <p:grpSp>
              <p:nvGrpSpPr>
                <p:cNvPr id="1416" name="グループ化 1415"/>
                <p:cNvGrpSpPr/>
                <p:nvPr/>
              </p:nvGrpSpPr>
              <p:grpSpPr>
                <a:xfrm>
                  <a:off x="2996967" y="4942097"/>
                  <a:ext cx="360048" cy="180025"/>
                  <a:chOff x="1736601" y="2511982"/>
                  <a:chExt cx="360048" cy="180025"/>
                </a:xfrm>
              </p:grpSpPr>
              <p:cxnSp>
                <p:nvCxnSpPr>
                  <p:cNvPr id="1436" name="直線コネクタ 1435"/>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7" name="直線コネクタ 1436"/>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8" name="直線コネクタ 1437"/>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417" name="グループ化 1416"/>
                <p:cNvGrpSpPr/>
                <p:nvPr/>
              </p:nvGrpSpPr>
              <p:grpSpPr>
                <a:xfrm>
                  <a:off x="2861981" y="4059007"/>
                  <a:ext cx="270036" cy="360048"/>
                  <a:chOff x="6282228" y="1988808"/>
                  <a:chExt cx="270036" cy="360048"/>
                </a:xfrm>
              </p:grpSpPr>
              <p:cxnSp>
                <p:nvCxnSpPr>
                  <p:cNvPr id="1432" name="直線コネクタ 1431"/>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3" name="直線コネクタ 1432"/>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4" name="直線コネクタ 1433"/>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5" name="直線コネクタ 1434"/>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418" name="直線コネクタ 1417"/>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19" name="直線コネクタ 1418"/>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20" name="直線コネクタ 1419"/>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421"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22"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23" name="グループ化 1422"/>
                <p:cNvGrpSpPr/>
                <p:nvPr/>
              </p:nvGrpSpPr>
              <p:grpSpPr>
                <a:xfrm>
                  <a:off x="2771980" y="2978995"/>
                  <a:ext cx="360048" cy="360048"/>
                  <a:chOff x="3131808" y="1628760"/>
                  <a:chExt cx="360048" cy="360048"/>
                </a:xfrm>
              </p:grpSpPr>
              <p:cxnSp>
                <p:nvCxnSpPr>
                  <p:cNvPr id="1427" name="直線コネクタ 1426"/>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8" name="直線コネクタ 1427"/>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9" name="直線コネクタ 1428"/>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0" name="直線コネクタ 1429"/>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31" name="円/楕円 1430"/>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24" name="直線コネクタ 1423"/>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25" name="直線コネクタ 1424"/>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26" name="直線コネクタ 1425"/>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62" name="グループ化 1361"/>
              <p:cNvGrpSpPr/>
              <p:nvPr/>
            </p:nvGrpSpPr>
            <p:grpSpPr>
              <a:xfrm rot="10800000">
                <a:off x="5220924" y="4059365"/>
                <a:ext cx="1080010" cy="1170013"/>
                <a:chOff x="1871970" y="2562739"/>
                <a:chExt cx="1890019" cy="2559383"/>
              </a:xfrm>
            </p:grpSpPr>
            <p:grpSp>
              <p:nvGrpSpPr>
                <p:cNvPr id="1393" name="グループ化 1392"/>
                <p:cNvGrpSpPr/>
                <p:nvPr/>
              </p:nvGrpSpPr>
              <p:grpSpPr>
                <a:xfrm>
                  <a:off x="2996967" y="4942097"/>
                  <a:ext cx="360048" cy="180025"/>
                  <a:chOff x="1736601" y="2511982"/>
                  <a:chExt cx="360048" cy="180025"/>
                </a:xfrm>
              </p:grpSpPr>
              <p:cxnSp>
                <p:nvCxnSpPr>
                  <p:cNvPr id="1413" name="直線コネクタ 1412"/>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4" name="直線コネクタ 1413"/>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5" name="直線コネクタ 1414"/>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94" name="グループ化 1393"/>
                <p:cNvGrpSpPr/>
                <p:nvPr/>
              </p:nvGrpSpPr>
              <p:grpSpPr>
                <a:xfrm>
                  <a:off x="2861981" y="4059007"/>
                  <a:ext cx="270036" cy="360048"/>
                  <a:chOff x="6282228" y="1988808"/>
                  <a:chExt cx="270036" cy="360048"/>
                </a:xfrm>
              </p:grpSpPr>
              <p:cxnSp>
                <p:nvCxnSpPr>
                  <p:cNvPr id="1409" name="直線コネクタ 140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0" name="直線コネクタ 140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1" name="直線コネクタ 141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2" name="直線コネクタ 141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95" name="直線コネクタ 1394"/>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96" name="直線コネクタ 1395"/>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397" name="直線コネクタ 1396"/>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398"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399"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400" name="グループ化 1399"/>
                <p:cNvGrpSpPr/>
                <p:nvPr/>
              </p:nvGrpSpPr>
              <p:grpSpPr>
                <a:xfrm>
                  <a:off x="2771980" y="2978995"/>
                  <a:ext cx="360048" cy="360048"/>
                  <a:chOff x="3131808" y="1628760"/>
                  <a:chExt cx="360048" cy="360048"/>
                </a:xfrm>
              </p:grpSpPr>
              <p:cxnSp>
                <p:nvCxnSpPr>
                  <p:cNvPr id="1404" name="直線コネクタ 140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5" name="直線コネクタ 140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6" name="直線コネクタ 140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07" name="直線コネクタ 140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408" name="円/楕円 140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401" name="直線コネクタ 1400"/>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02" name="直線コネクタ 1401"/>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403" name="直線コネクタ 1402"/>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1363" name="Line 46"/>
              <p:cNvSpPr>
                <a:spLocks noChangeShapeType="1"/>
              </p:cNvSpPr>
              <p:nvPr/>
            </p:nvSpPr>
            <p:spPr bwMode="auto">
              <a:xfrm flipV="1">
                <a:off x="6300936" y="4689371"/>
                <a:ext cx="0" cy="1260014"/>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grpSp>
            <p:nvGrpSpPr>
              <p:cNvPr id="1364" name="グループ化 1363"/>
              <p:cNvGrpSpPr/>
              <p:nvPr/>
            </p:nvGrpSpPr>
            <p:grpSpPr>
              <a:xfrm rot="5400000">
                <a:off x="4635901" y="5829899"/>
                <a:ext cx="270041" cy="180007"/>
                <a:chOff x="1601967" y="3609002"/>
                <a:chExt cx="540039" cy="360048"/>
              </a:xfrm>
            </p:grpSpPr>
            <p:grpSp>
              <p:nvGrpSpPr>
                <p:cNvPr id="1382" name="グループ化 1381"/>
                <p:cNvGrpSpPr/>
                <p:nvPr/>
              </p:nvGrpSpPr>
              <p:grpSpPr>
                <a:xfrm rot="10800000">
                  <a:off x="1871970" y="3609002"/>
                  <a:ext cx="270036" cy="360048"/>
                  <a:chOff x="6282228" y="1988808"/>
                  <a:chExt cx="270036" cy="360048"/>
                </a:xfrm>
              </p:grpSpPr>
              <p:cxnSp>
                <p:nvCxnSpPr>
                  <p:cNvPr id="1389" name="直線コネクタ 138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0" name="直線コネクタ 138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1" name="直線コネクタ 139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92" name="直線コネクタ 139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83" name="グループ化 1382"/>
                <p:cNvGrpSpPr/>
                <p:nvPr/>
              </p:nvGrpSpPr>
              <p:grpSpPr>
                <a:xfrm>
                  <a:off x="1601967" y="3609002"/>
                  <a:ext cx="360048" cy="360048"/>
                  <a:chOff x="3131808" y="1628760"/>
                  <a:chExt cx="360048" cy="360048"/>
                </a:xfrm>
              </p:grpSpPr>
              <p:cxnSp>
                <p:nvCxnSpPr>
                  <p:cNvPr id="1384" name="直線コネクタ 138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5" name="直線コネクタ 138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6" name="直線コネクタ 138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7" name="直線コネクタ 138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88" name="円/楕円 138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365" name="グループ化 1364"/>
              <p:cNvGrpSpPr/>
              <p:nvPr/>
            </p:nvGrpSpPr>
            <p:grpSpPr>
              <a:xfrm>
                <a:off x="4950921" y="5229378"/>
                <a:ext cx="270041" cy="180007"/>
                <a:chOff x="1601967" y="3609002"/>
                <a:chExt cx="540039" cy="360048"/>
              </a:xfrm>
            </p:grpSpPr>
            <p:grpSp>
              <p:nvGrpSpPr>
                <p:cNvPr id="1371" name="グループ化 1370"/>
                <p:cNvGrpSpPr/>
                <p:nvPr/>
              </p:nvGrpSpPr>
              <p:grpSpPr>
                <a:xfrm rot="10800000">
                  <a:off x="1871970" y="3609002"/>
                  <a:ext cx="270036" cy="360048"/>
                  <a:chOff x="6282228" y="1988808"/>
                  <a:chExt cx="270036" cy="360048"/>
                </a:xfrm>
              </p:grpSpPr>
              <p:cxnSp>
                <p:nvCxnSpPr>
                  <p:cNvPr id="1378" name="直線コネクタ 1377"/>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9" name="直線コネクタ 1378"/>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0" name="直線コネクタ 1379"/>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81" name="直線コネクタ 1380"/>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372" name="グループ化 1371"/>
                <p:cNvGrpSpPr/>
                <p:nvPr/>
              </p:nvGrpSpPr>
              <p:grpSpPr>
                <a:xfrm>
                  <a:off x="1601967" y="3609002"/>
                  <a:ext cx="360048" cy="360048"/>
                  <a:chOff x="3131808" y="1628760"/>
                  <a:chExt cx="360048" cy="360048"/>
                </a:xfrm>
              </p:grpSpPr>
              <p:cxnSp>
                <p:nvCxnSpPr>
                  <p:cNvPr id="1373" name="直線コネクタ 1372"/>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4" name="直線コネクタ 1373"/>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5" name="直線コネクタ 1374"/>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376" name="直線コネクタ 1375"/>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377" name="円/楕円 1376"/>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366" name="Line 46"/>
              <p:cNvSpPr>
                <a:spLocks noChangeShapeType="1"/>
              </p:cNvSpPr>
              <p:nvPr/>
            </p:nvSpPr>
            <p:spPr bwMode="auto">
              <a:xfrm>
                <a:off x="4860920" y="5949386"/>
                <a:ext cx="360003"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7" name="Line 46"/>
              <p:cNvSpPr>
                <a:spLocks noChangeShapeType="1"/>
              </p:cNvSpPr>
              <p:nvPr/>
            </p:nvSpPr>
            <p:spPr bwMode="auto">
              <a:xfrm flipH="1" flipV="1">
                <a:off x="5115425" y="5409380"/>
                <a:ext cx="0" cy="540006"/>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sp>
            <p:nvSpPr>
              <p:cNvPr id="1368" name="Line 46"/>
              <p:cNvSpPr>
                <a:spLocks noChangeShapeType="1"/>
              </p:cNvSpPr>
              <p:nvPr/>
            </p:nvSpPr>
            <p:spPr bwMode="auto">
              <a:xfrm flipH="1" flipV="1">
                <a:off x="5099927" y="4697121"/>
                <a:ext cx="0" cy="50400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69" name="Line 46"/>
              <p:cNvSpPr>
                <a:spLocks noChangeShapeType="1"/>
              </p:cNvSpPr>
              <p:nvPr/>
            </p:nvSpPr>
            <p:spPr bwMode="auto">
              <a:xfrm flipV="1">
                <a:off x="5087416" y="4712619"/>
                <a:ext cx="180002" cy="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370" name="Line 46"/>
              <p:cNvSpPr>
                <a:spLocks noChangeShapeType="1"/>
              </p:cNvSpPr>
              <p:nvPr/>
            </p:nvSpPr>
            <p:spPr bwMode="auto">
              <a:xfrm flipV="1">
                <a:off x="6300936" y="5949386"/>
                <a:ext cx="540006" cy="0"/>
              </a:xfrm>
              <a:prstGeom prst="line">
                <a:avLst/>
              </a:prstGeom>
              <a:noFill/>
              <a:ln w="9525">
                <a:solidFill>
                  <a:schemeClr val="tx1"/>
                </a:solidFill>
                <a:round/>
                <a:headEnd type="oval" w="sm" len="sm"/>
                <a:tailEnd type="none" w="med" len="med"/>
              </a:ln>
              <a:effectLst/>
            </p:spPr>
            <p:txBody>
              <a:bodyPr wrap="none" lIns="90000" tIns="46800" rIns="90000" bIns="46800" anchor="ctr"/>
              <a:lstStyle/>
              <a:p>
                <a:endParaRPr lang="ja-JP" altLang="en-US"/>
              </a:p>
            </p:txBody>
          </p:sp>
        </p:grpSp>
        <p:grpSp>
          <p:nvGrpSpPr>
            <p:cNvPr id="1507" name="グループ化 1506"/>
            <p:cNvGrpSpPr/>
            <p:nvPr/>
          </p:nvGrpSpPr>
          <p:grpSpPr>
            <a:xfrm>
              <a:off x="2593954" y="4689014"/>
              <a:ext cx="1276461" cy="720046"/>
              <a:chOff x="4034971" y="2618991"/>
              <a:chExt cx="2838485" cy="1530055"/>
            </a:xfrm>
          </p:grpSpPr>
          <p:grpSp>
            <p:nvGrpSpPr>
              <p:cNvPr id="1508" name="グループ化 1507"/>
              <p:cNvGrpSpPr/>
              <p:nvPr/>
            </p:nvGrpSpPr>
            <p:grpSpPr>
              <a:xfrm>
                <a:off x="5112005" y="2618991"/>
                <a:ext cx="1761451" cy="1530055"/>
                <a:chOff x="2361128" y="5229020"/>
                <a:chExt cx="1040859" cy="810047"/>
              </a:xfrm>
            </p:grpSpPr>
            <p:grpSp>
              <p:nvGrpSpPr>
                <p:cNvPr id="1533" name="グループ化 1532"/>
                <p:cNvGrpSpPr/>
                <p:nvPr/>
              </p:nvGrpSpPr>
              <p:grpSpPr>
                <a:xfrm rot="16200000">
                  <a:off x="2906965" y="5814043"/>
                  <a:ext cx="270041" cy="180007"/>
                  <a:chOff x="1601967" y="3609002"/>
                  <a:chExt cx="540039" cy="360048"/>
                </a:xfrm>
              </p:grpSpPr>
              <p:grpSp>
                <p:nvGrpSpPr>
                  <p:cNvPr id="1553" name="グループ化 1552"/>
                  <p:cNvGrpSpPr/>
                  <p:nvPr/>
                </p:nvGrpSpPr>
                <p:grpSpPr>
                  <a:xfrm rot="10800000">
                    <a:off x="1871970" y="3609002"/>
                    <a:ext cx="270036" cy="360048"/>
                    <a:chOff x="6282228" y="1988808"/>
                    <a:chExt cx="270036" cy="360048"/>
                  </a:xfrm>
                </p:grpSpPr>
                <p:cxnSp>
                  <p:nvCxnSpPr>
                    <p:cNvPr id="1560" name="直線コネクタ 1559"/>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1" name="直線コネクタ 1560"/>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2" name="直線コネクタ 1561"/>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63" name="直線コネクタ 1562"/>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54" name="グループ化 1553"/>
                  <p:cNvGrpSpPr/>
                  <p:nvPr/>
                </p:nvGrpSpPr>
                <p:grpSpPr>
                  <a:xfrm>
                    <a:off x="1601967" y="3609002"/>
                    <a:ext cx="360048" cy="360048"/>
                    <a:chOff x="3131808" y="1628760"/>
                    <a:chExt cx="360048" cy="360048"/>
                  </a:xfrm>
                </p:grpSpPr>
                <p:cxnSp>
                  <p:nvCxnSpPr>
                    <p:cNvPr id="1555" name="直線コネクタ 1554"/>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6" name="直線コネクタ 1555"/>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7" name="直線コネクタ 1556"/>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8" name="直線コネクタ 1557"/>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59" name="円/楕円 1558"/>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grpSp>
              <p:nvGrpSpPr>
                <p:cNvPr id="1534" name="グループ化 1533"/>
                <p:cNvGrpSpPr/>
                <p:nvPr/>
              </p:nvGrpSpPr>
              <p:grpSpPr>
                <a:xfrm rot="5400000">
                  <a:off x="2906965" y="5274037"/>
                  <a:ext cx="270041" cy="180007"/>
                  <a:chOff x="1601967" y="3609002"/>
                  <a:chExt cx="540039" cy="360048"/>
                </a:xfrm>
              </p:grpSpPr>
              <p:grpSp>
                <p:nvGrpSpPr>
                  <p:cNvPr id="1542" name="グループ化 1541"/>
                  <p:cNvGrpSpPr/>
                  <p:nvPr/>
                </p:nvGrpSpPr>
                <p:grpSpPr>
                  <a:xfrm rot="10800000">
                    <a:off x="1871970" y="3609002"/>
                    <a:ext cx="270036" cy="360048"/>
                    <a:chOff x="6282228" y="1988808"/>
                    <a:chExt cx="270036" cy="360048"/>
                  </a:xfrm>
                </p:grpSpPr>
                <p:cxnSp>
                  <p:nvCxnSpPr>
                    <p:cNvPr id="1549" name="直線コネクタ 1548"/>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0" name="直線コネクタ 1549"/>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1" name="直線コネクタ 1550"/>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52" name="直線コネクタ 1551"/>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43" name="グループ化 1542"/>
                  <p:cNvGrpSpPr/>
                  <p:nvPr/>
                </p:nvGrpSpPr>
                <p:grpSpPr>
                  <a:xfrm>
                    <a:off x="1601967" y="3609002"/>
                    <a:ext cx="360048" cy="360048"/>
                    <a:chOff x="3131808" y="1628760"/>
                    <a:chExt cx="360048" cy="360048"/>
                  </a:xfrm>
                </p:grpSpPr>
                <p:cxnSp>
                  <p:nvCxnSpPr>
                    <p:cNvPr id="1544" name="直線コネクタ 1543"/>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5" name="直線コネクタ 1544"/>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6" name="直線コネクタ 1545"/>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47" name="直線コネクタ 1546"/>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48" name="円/楕円 1547"/>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sp>
              <p:nvSpPr>
                <p:cNvPr id="1535" name="Line 46"/>
                <p:cNvSpPr>
                  <a:spLocks noChangeShapeType="1"/>
                </p:cNvSpPr>
                <p:nvPr/>
              </p:nvSpPr>
              <p:spPr bwMode="auto">
                <a:xfrm flipH="1" flipV="1">
                  <a:off x="3041983" y="5499022"/>
                  <a:ext cx="0" cy="247770"/>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6" name="Line 46"/>
                <p:cNvSpPr>
                  <a:spLocks noChangeShapeType="1"/>
                </p:cNvSpPr>
                <p:nvPr/>
              </p:nvSpPr>
              <p:spPr bwMode="auto">
                <a:xfrm flipV="1">
                  <a:off x="2681979" y="538577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7" name="Line 46"/>
                <p:cNvSpPr>
                  <a:spLocks noChangeShapeType="1"/>
                </p:cNvSpPr>
                <p:nvPr/>
              </p:nvSpPr>
              <p:spPr bwMode="auto">
                <a:xfrm flipV="1">
                  <a:off x="2681979"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8" name="Line 46"/>
                <p:cNvSpPr>
                  <a:spLocks noChangeShapeType="1"/>
                </p:cNvSpPr>
                <p:nvPr/>
              </p:nvSpPr>
              <p:spPr bwMode="auto">
                <a:xfrm flipV="1">
                  <a:off x="3131984" y="5874525"/>
                  <a:ext cx="270002" cy="1"/>
                </a:xfrm>
                <a:prstGeom prst="line">
                  <a:avLst/>
                </a:prstGeom>
                <a:noFill/>
                <a:ln w="9525">
                  <a:solidFill>
                    <a:schemeClr val="tx1"/>
                  </a:solidFill>
                  <a:round/>
                  <a:headEnd type="none" w="sm" len="sm"/>
                  <a:tailEnd type="none" w="med" len="med"/>
                </a:ln>
                <a:effectLst/>
              </p:spPr>
              <p:txBody>
                <a:bodyPr wrap="none" lIns="90000" tIns="46800" rIns="90000" bIns="46800" anchor="ctr"/>
                <a:lstStyle/>
                <a:p>
                  <a:endParaRPr lang="ja-JP" altLang="en-US"/>
                </a:p>
              </p:txBody>
            </p:sp>
            <p:sp>
              <p:nvSpPr>
                <p:cNvPr id="1539" name="Freeform 10"/>
                <p:cNvSpPr>
                  <a:spLocks/>
                </p:cNvSpPr>
                <p:nvPr/>
              </p:nvSpPr>
              <p:spPr bwMode="auto">
                <a:xfrm rot="5400000" flipV="1">
                  <a:off x="3019216" y="5498542"/>
                  <a:ext cx="495540"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41" name="Line 46"/>
                <p:cNvSpPr>
                  <a:spLocks noChangeShapeType="1"/>
                </p:cNvSpPr>
                <p:nvPr/>
              </p:nvSpPr>
              <p:spPr bwMode="auto">
                <a:xfrm flipV="1">
                  <a:off x="2361128" y="5626621"/>
                  <a:ext cx="680728" cy="0"/>
                </a:xfrm>
                <a:prstGeom prst="line">
                  <a:avLst/>
                </a:prstGeom>
                <a:noFill/>
                <a:ln w="9525">
                  <a:solidFill>
                    <a:schemeClr val="tx1"/>
                  </a:solidFill>
                  <a:round/>
                  <a:headEnd type="none" w="sm" len="sm"/>
                  <a:tailEnd type="oval" w="sm" len="sm"/>
                </a:ln>
                <a:effectLst/>
              </p:spPr>
              <p:txBody>
                <a:bodyPr wrap="none" lIns="90000" tIns="46800" rIns="90000" bIns="46800" anchor="ctr"/>
                <a:lstStyle/>
                <a:p>
                  <a:endParaRPr lang="ja-JP" altLang="en-US"/>
                </a:p>
              </p:txBody>
            </p:sp>
          </p:grpSp>
          <p:grpSp>
            <p:nvGrpSpPr>
              <p:cNvPr id="1509" name="グループ化 1508"/>
              <p:cNvGrpSpPr/>
              <p:nvPr/>
            </p:nvGrpSpPr>
            <p:grpSpPr>
              <a:xfrm>
                <a:off x="4034971" y="2850249"/>
                <a:ext cx="1080010" cy="1170013"/>
                <a:chOff x="1871970" y="2562739"/>
                <a:chExt cx="1890019" cy="2559383"/>
              </a:xfrm>
            </p:grpSpPr>
            <p:grpSp>
              <p:nvGrpSpPr>
                <p:cNvPr id="1510" name="グループ化 1509"/>
                <p:cNvGrpSpPr/>
                <p:nvPr/>
              </p:nvGrpSpPr>
              <p:grpSpPr>
                <a:xfrm>
                  <a:off x="2996967" y="4942097"/>
                  <a:ext cx="360048" cy="180025"/>
                  <a:chOff x="1736601" y="2511982"/>
                  <a:chExt cx="360048" cy="180025"/>
                </a:xfrm>
              </p:grpSpPr>
              <p:cxnSp>
                <p:nvCxnSpPr>
                  <p:cNvPr id="1530" name="直線コネクタ 1529"/>
                  <p:cNvCxnSpPr/>
                  <p:nvPr/>
                </p:nvCxnSpPr>
                <p:spPr>
                  <a:xfrm flipV="1">
                    <a:off x="1736601" y="2511982"/>
                    <a:ext cx="360048"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31" name="直線コネクタ 1530"/>
                  <p:cNvCxnSpPr/>
                  <p:nvPr/>
                </p:nvCxnSpPr>
                <p:spPr>
                  <a:xfrm flipV="1">
                    <a:off x="1804111" y="2601994"/>
                    <a:ext cx="225030"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32" name="直線コネクタ 1531"/>
                  <p:cNvCxnSpPr/>
                  <p:nvPr/>
                </p:nvCxnSpPr>
                <p:spPr>
                  <a:xfrm flipV="1">
                    <a:off x="1871620" y="2692007"/>
                    <a:ext cx="90013"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nvGrpSpPr>
                <p:cNvPr id="1511" name="グループ化 1510"/>
                <p:cNvGrpSpPr/>
                <p:nvPr/>
              </p:nvGrpSpPr>
              <p:grpSpPr>
                <a:xfrm>
                  <a:off x="2861981" y="4059007"/>
                  <a:ext cx="270036" cy="360048"/>
                  <a:chOff x="6282228" y="1988808"/>
                  <a:chExt cx="270036" cy="360048"/>
                </a:xfrm>
              </p:grpSpPr>
              <p:cxnSp>
                <p:nvCxnSpPr>
                  <p:cNvPr id="1526" name="直線コネクタ 1525"/>
                  <p:cNvCxnSpPr/>
                  <p:nvPr/>
                </p:nvCxnSpPr>
                <p:spPr>
                  <a:xfrm flipH="1">
                    <a:off x="6372240"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7" name="直線コネクタ 1526"/>
                  <p:cNvCxnSpPr/>
                  <p:nvPr/>
                </p:nvCxnSpPr>
                <p:spPr>
                  <a:xfrm>
                    <a:off x="6372240"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8" name="直線コネクタ 1527"/>
                  <p:cNvCxnSpPr/>
                  <p:nvPr/>
                </p:nvCxnSpPr>
                <p:spPr>
                  <a:xfrm flipH="1">
                    <a:off x="6372240" y="2348856"/>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9" name="直線コネクタ 1528"/>
                  <p:cNvCxnSpPr/>
                  <p:nvPr/>
                </p:nvCxnSpPr>
                <p:spPr>
                  <a:xfrm>
                    <a:off x="6282228" y="1988808"/>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12" name="直線コネクタ 1511"/>
                <p:cNvCxnSpPr/>
                <p:nvPr/>
              </p:nvCxnSpPr>
              <p:spPr>
                <a:xfrm flipH="1">
                  <a:off x="1871970" y="3699003"/>
                  <a:ext cx="540007"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13" name="直線コネクタ 1512"/>
                <p:cNvCxnSpPr/>
                <p:nvPr/>
              </p:nvCxnSpPr>
              <p:spPr>
                <a:xfrm flipV="1">
                  <a:off x="3131984" y="3338999"/>
                  <a:ext cx="0" cy="720008"/>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14" name="直線コネクタ 1513"/>
                <p:cNvCxnSpPr/>
                <p:nvPr/>
              </p:nvCxnSpPr>
              <p:spPr>
                <a:xfrm flipH="1" flipV="1">
                  <a:off x="3131983" y="4419014"/>
                  <a:ext cx="2" cy="50623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sp>
              <p:nvSpPr>
                <p:cNvPr id="1515" name="Freeform 10"/>
                <p:cNvSpPr>
                  <a:spLocks/>
                </p:cNvSpPr>
                <p:nvPr/>
              </p:nvSpPr>
              <p:spPr bwMode="auto">
                <a:xfrm flipV="1">
                  <a:off x="2411822" y="3158995"/>
                  <a:ext cx="360004" cy="108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16" name="Line 9"/>
                <p:cNvSpPr>
                  <a:spLocks noChangeShapeType="1"/>
                </p:cNvSpPr>
                <p:nvPr/>
              </p:nvSpPr>
              <p:spPr bwMode="auto">
                <a:xfrm>
                  <a:off x="2411976" y="4239009"/>
                  <a:ext cx="450005"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sz="1200"/>
                </a:p>
              </p:txBody>
            </p:sp>
            <p:grpSp>
              <p:nvGrpSpPr>
                <p:cNvPr id="1517" name="グループ化 1516"/>
                <p:cNvGrpSpPr/>
                <p:nvPr/>
              </p:nvGrpSpPr>
              <p:grpSpPr>
                <a:xfrm>
                  <a:off x="2771980" y="2978995"/>
                  <a:ext cx="360048" cy="360048"/>
                  <a:chOff x="3131808" y="1628760"/>
                  <a:chExt cx="360048" cy="360048"/>
                </a:xfrm>
              </p:grpSpPr>
              <p:cxnSp>
                <p:nvCxnSpPr>
                  <p:cNvPr id="1521" name="直線コネクタ 1520"/>
                  <p:cNvCxnSpPr/>
                  <p:nvPr/>
                </p:nvCxnSpPr>
                <p:spPr>
                  <a:xfrm flipH="1">
                    <a:off x="3311832" y="1628760"/>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2" name="直線コネクタ 1521"/>
                  <p:cNvCxnSpPr/>
                  <p:nvPr/>
                </p:nvCxnSpPr>
                <p:spPr>
                  <a:xfrm>
                    <a:off x="3311832"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3" name="直線コネクタ 1522"/>
                  <p:cNvCxnSpPr/>
                  <p:nvPr/>
                </p:nvCxnSpPr>
                <p:spPr>
                  <a:xfrm flipH="1">
                    <a:off x="3311832" y="1988808"/>
                    <a:ext cx="180024"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24" name="直線コネクタ 1523"/>
                  <p:cNvCxnSpPr/>
                  <p:nvPr/>
                </p:nvCxnSpPr>
                <p:spPr>
                  <a:xfrm>
                    <a:off x="3221820" y="1628760"/>
                    <a:ext cx="0" cy="360048"/>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1525" name="円/楕円 1524"/>
                  <p:cNvSpPr/>
                  <p:nvPr/>
                </p:nvSpPr>
                <p:spPr>
                  <a:xfrm>
                    <a:off x="3131808" y="1763778"/>
                    <a:ext cx="90012" cy="90012"/>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cxnSp>
              <p:nvCxnSpPr>
                <p:cNvPr id="1518" name="直線コネクタ 1517"/>
                <p:cNvCxnSpPr/>
                <p:nvPr/>
              </p:nvCxnSpPr>
              <p:spPr>
                <a:xfrm>
                  <a:off x="3131984" y="3699003"/>
                  <a:ext cx="630005" cy="0"/>
                </a:xfrm>
                <a:prstGeom prst="line">
                  <a:avLst/>
                </a:prstGeom>
                <a:ln w="317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19" name="直線コネクタ 1518"/>
                <p:cNvCxnSpPr/>
                <p:nvPr/>
              </p:nvCxnSpPr>
              <p:spPr>
                <a:xfrm flipV="1">
                  <a:off x="3131983" y="2562739"/>
                  <a:ext cx="2" cy="416324"/>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520" name="直線コネクタ 1519"/>
                <p:cNvCxnSpPr/>
                <p:nvPr/>
              </p:nvCxnSpPr>
              <p:spPr>
                <a:xfrm>
                  <a:off x="2974483" y="2562739"/>
                  <a:ext cx="360049"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grpSp>
        <p:sp>
          <p:nvSpPr>
            <p:cNvPr id="1564" name="Freeform 10"/>
            <p:cNvSpPr>
              <a:spLocks/>
            </p:cNvSpPr>
            <p:nvPr/>
          </p:nvSpPr>
          <p:spPr bwMode="auto">
            <a:xfrm rot="5400000" flipV="1">
              <a:off x="2872962" y="4410009"/>
              <a:ext cx="432000"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5" name="Freeform 10"/>
            <p:cNvSpPr>
              <a:spLocks/>
            </p:cNvSpPr>
            <p:nvPr/>
          </p:nvSpPr>
          <p:spPr bwMode="auto">
            <a:xfrm rot="5400000" flipH="1" flipV="1">
              <a:off x="2836962" y="5284025"/>
              <a:ext cx="504000" cy="45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6" name="Freeform 10"/>
            <p:cNvSpPr>
              <a:spLocks/>
            </p:cNvSpPr>
            <p:nvPr/>
          </p:nvSpPr>
          <p:spPr bwMode="auto">
            <a:xfrm rot="5400000" flipV="1">
              <a:off x="3518734" y="2781975"/>
              <a:ext cx="1044000" cy="35803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67" name="Freeform 10"/>
            <p:cNvSpPr>
              <a:spLocks/>
            </p:cNvSpPr>
            <p:nvPr/>
          </p:nvSpPr>
          <p:spPr bwMode="auto">
            <a:xfrm rot="5400000" flipH="1" flipV="1">
              <a:off x="3460859" y="4303114"/>
              <a:ext cx="1152000" cy="36577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grpSp>
      <p:sp>
        <p:nvSpPr>
          <p:cNvPr id="1620" name="正方形/長方形 1619"/>
          <p:cNvSpPr/>
          <p:nvPr/>
        </p:nvSpPr>
        <p:spPr bwMode="auto">
          <a:xfrm>
            <a:off x="3935976" y="908972"/>
            <a:ext cx="2520028"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16*4+6*3=82</a:t>
            </a:r>
            <a:endParaRPr lang="ja-JP" altLang="en-US" dirty="0">
              <a:ea typeface="メイリオ" panose="020B0604030504040204" pitchFamily="50" charset="-128"/>
            </a:endParaRPr>
          </a:p>
        </p:txBody>
      </p:sp>
    </p:spTree>
    <p:extLst>
      <p:ext uri="{BB962C8B-B14F-4D97-AF65-F5344CB8AC3E}">
        <p14:creationId xmlns:p14="http://schemas.microsoft.com/office/powerpoint/2010/main" val="1688933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3575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と </a:t>
            </a:r>
            <a:r>
              <a:rPr kumimoji="1" lang="en-US" altLang="ja-JP" dirty="0"/>
              <a:t>DRAM </a:t>
            </a:r>
            <a:r>
              <a:rPr kumimoji="1" lang="ja-JP" altLang="en-US" dirty="0"/>
              <a:t>のセル（</a:t>
            </a:r>
            <a:r>
              <a:rPr kumimoji="1" lang="en-US" altLang="ja-JP" dirty="0"/>
              <a:t>1bit</a:t>
            </a:r>
            <a:r>
              <a:rPr kumimoji="1" lang="ja-JP" altLang="en-US" dirty="0"/>
              <a:t>）</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2135956" y="5679025"/>
            <a:ext cx="8280092" cy="629700"/>
          </a:xfrm>
        </p:spPr>
        <p:txBody>
          <a:bodyPr/>
          <a:lstStyle/>
          <a:p>
            <a:pPr lvl="1"/>
            <a:r>
              <a:rPr kumimoji="1" lang="en-US" altLang="ja-JP" dirty="0"/>
              <a:t>D-FF </a:t>
            </a:r>
            <a:r>
              <a:rPr kumimoji="1" lang="ja-JP" altLang="en-US" dirty="0"/>
              <a:t>よりも圧倒的に単純</a:t>
            </a:r>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4025977" y="2707559"/>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4025977" y="3428284"/>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5375992" y="3068996"/>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5015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2855964" y="3068996"/>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3215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5735996" y="3429001"/>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B2772659-A00E-4413-9EB6-D696321711C2}"/>
              </a:ext>
            </a:extLst>
          </p:cNvPr>
          <p:cNvGrpSpPr/>
          <p:nvPr/>
        </p:nvGrpSpPr>
        <p:grpSpPr>
          <a:xfrm>
            <a:off x="8256024" y="3068996"/>
            <a:ext cx="360004" cy="360004"/>
            <a:chOff x="4932004" y="2708992"/>
            <a:chExt cx="360004" cy="360004"/>
          </a:xfrm>
        </p:grpSpPr>
        <p:cxnSp>
          <p:nvCxnSpPr>
            <p:cNvPr id="57" name="直線コネクタ 56">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61" name="直線コネクタ 60">
            <a:extLst>
              <a:ext uri="{FF2B5EF4-FFF2-40B4-BE49-F238E27FC236}">
                <a16:creationId xmlns:a16="http://schemas.microsoft.com/office/drawing/2014/main" id="{04ACCC42-4E49-4867-BFDC-671C90B11355}"/>
              </a:ext>
            </a:extLst>
          </p:cNvPr>
          <p:cNvCxnSpPr>
            <a:cxnSpLocks/>
          </p:cNvCxnSpPr>
          <p:nvPr/>
        </p:nvCxnSpPr>
        <p:spPr>
          <a:xfrm>
            <a:off x="789602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9FA852A0-5D43-4C5B-8D71-AF1C94363457}"/>
              </a:ext>
            </a:extLst>
          </p:cNvPr>
          <p:cNvCxnSpPr>
            <a:cxnSpLocks/>
          </p:cNvCxnSpPr>
          <p:nvPr/>
        </p:nvCxnSpPr>
        <p:spPr>
          <a:xfrm>
            <a:off x="8616028" y="3429001"/>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2495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2495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DDEA31C-DEA3-4027-A96D-5EC4FD0DCD35}"/>
              </a:ext>
            </a:extLst>
          </p:cNvPr>
          <p:cNvCxnSpPr>
            <a:cxnSpLocks/>
          </p:cNvCxnSpPr>
          <p:nvPr/>
        </p:nvCxnSpPr>
        <p:spPr>
          <a:xfrm flipV="1">
            <a:off x="789602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97" name="グループ化 96">
            <a:extLst>
              <a:ext uri="{FF2B5EF4-FFF2-40B4-BE49-F238E27FC236}">
                <a16:creationId xmlns:a16="http://schemas.microsoft.com/office/drawing/2014/main" id="{DE115225-CFB0-4004-A206-CB9F39CB2EA1}"/>
              </a:ext>
            </a:extLst>
          </p:cNvPr>
          <p:cNvGrpSpPr/>
          <p:nvPr/>
        </p:nvGrpSpPr>
        <p:grpSpPr>
          <a:xfrm>
            <a:off x="8796030" y="3609003"/>
            <a:ext cx="360004" cy="90003"/>
            <a:chOff x="7272030" y="3789004"/>
            <a:chExt cx="360004" cy="90003"/>
          </a:xfrm>
        </p:grpSpPr>
        <p:cxnSp>
          <p:nvCxnSpPr>
            <p:cNvPr id="70" name="直線コネクタ 69">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2" name="直線コネクタ 71">
            <a:extLst>
              <a:ext uri="{FF2B5EF4-FFF2-40B4-BE49-F238E27FC236}">
                <a16:creationId xmlns:a16="http://schemas.microsoft.com/office/drawing/2014/main" id="{980D156E-BEF6-49E5-BEDB-E654CED1DF10}"/>
              </a:ext>
            </a:extLst>
          </p:cNvPr>
          <p:cNvCxnSpPr>
            <a:cxnSpLocks/>
          </p:cNvCxnSpPr>
          <p:nvPr/>
        </p:nvCxnSpPr>
        <p:spPr>
          <a:xfrm flipV="1">
            <a:off x="8976032" y="3429000"/>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DDF1097C-113D-483C-86EC-803338665142}"/>
              </a:ext>
            </a:extLst>
          </p:cNvPr>
          <p:cNvCxnSpPr>
            <a:cxnSpLocks/>
          </p:cNvCxnSpPr>
          <p:nvPr/>
        </p:nvCxnSpPr>
        <p:spPr>
          <a:xfrm flipV="1">
            <a:off x="8976032" y="3699004"/>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6096000" y="2348989"/>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80" name="グループ化 79">
            <a:extLst>
              <a:ext uri="{FF2B5EF4-FFF2-40B4-BE49-F238E27FC236}">
                <a16:creationId xmlns:a16="http://schemas.microsoft.com/office/drawing/2014/main" id="{38D32D1F-3EE8-498D-B8DB-C60684B30C49}"/>
              </a:ext>
            </a:extLst>
          </p:cNvPr>
          <p:cNvGrpSpPr/>
          <p:nvPr/>
        </p:nvGrpSpPr>
        <p:grpSpPr>
          <a:xfrm>
            <a:off x="8796031" y="3969006"/>
            <a:ext cx="326325" cy="117556"/>
            <a:chOff x="2531592" y="5357236"/>
            <a:chExt cx="326325" cy="117556"/>
          </a:xfrm>
        </p:grpSpPr>
        <p:cxnSp>
          <p:nvCxnSpPr>
            <p:cNvPr id="77" name="直線コネクタ 76">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sp>
        <p:nvSpPr>
          <p:cNvPr id="81" name="正方形/長方形 80">
            <a:extLst>
              <a:ext uri="{FF2B5EF4-FFF2-40B4-BE49-F238E27FC236}">
                <a16:creationId xmlns:a16="http://schemas.microsoft.com/office/drawing/2014/main" id="{2C6D6698-CD93-4E4F-B992-4C16E85E7ED2}"/>
              </a:ext>
            </a:extLst>
          </p:cNvPr>
          <p:cNvSpPr/>
          <p:nvPr/>
        </p:nvSpPr>
        <p:spPr bwMode="auto">
          <a:xfrm>
            <a:off x="3035966" y="1988984"/>
            <a:ext cx="2520028"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SRAM</a:t>
            </a:r>
            <a:r>
              <a:rPr lang="ja-JP" altLang="en-US" dirty="0">
                <a:ea typeface="メイリオ" panose="020B0604030504040204" pitchFamily="50" charset="-128"/>
              </a:rPr>
              <a:t>：</a:t>
            </a:r>
            <a:r>
              <a:rPr lang="en-US" altLang="ja-JP" dirty="0">
                <a:ea typeface="メイリオ" panose="020B0604030504040204" pitchFamily="50" charset="-128"/>
              </a:rPr>
              <a:t>2 + 2*2 = 6</a:t>
            </a:r>
            <a:endParaRPr lang="ja-JP" altLang="en-US" dirty="0">
              <a:ea typeface="メイリオ" panose="020B0604030504040204" pitchFamily="50" charset="-128"/>
            </a:endParaRPr>
          </a:p>
        </p:txBody>
      </p:sp>
      <p:sp>
        <p:nvSpPr>
          <p:cNvPr id="82" name="正方形/長方形 81">
            <a:extLst>
              <a:ext uri="{FF2B5EF4-FFF2-40B4-BE49-F238E27FC236}">
                <a16:creationId xmlns:a16="http://schemas.microsoft.com/office/drawing/2014/main" id="{92DC1F23-AC38-454C-BC7F-E4136A1AC959}"/>
              </a:ext>
            </a:extLst>
          </p:cNvPr>
          <p:cNvSpPr/>
          <p:nvPr/>
        </p:nvSpPr>
        <p:spPr bwMode="auto">
          <a:xfrm>
            <a:off x="7356014" y="1988984"/>
            <a:ext cx="306003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DRAM</a:t>
            </a:r>
            <a:r>
              <a:rPr lang="ja-JP" altLang="en-US" dirty="0">
                <a:ea typeface="メイリオ" panose="020B0604030504040204" pitchFamily="50" charset="-128"/>
              </a:rPr>
              <a:t>：</a:t>
            </a:r>
            <a:r>
              <a:rPr lang="en-US" altLang="ja-JP" dirty="0">
                <a:ea typeface="メイリオ" panose="020B0604030504040204" pitchFamily="50" charset="-128"/>
              </a:rPr>
              <a:t>1 +</a:t>
            </a:r>
            <a:r>
              <a:rPr lang="ja-JP" altLang="en-US" dirty="0">
                <a:ea typeface="メイリオ" panose="020B0604030504040204" pitchFamily="50" charset="-128"/>
              </a:rPr>
              <a:t>コンデンサ１</a:t>
            </a:r>
          </a:p>
        </p:txBody>
      </p: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5555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3035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2135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92" name="直線コネクタ 91">
            <a:extLst>
              <a:ext uri="{FF2B5EF4-FFF2-40B4-BE49-F238E27FC236}">
                <a16:creationId xmlns:a16="http://schemas.microsoft.com/office/drawing/2014/main" id="{5C16D03F-62AA-402B-A9AC-ADCF020FC7D6}"/>
              </a:ext>
            </a:extLst>
          </p:cNvPr>
          <p:cNvCxnSpPr>
            <a:cxnSpLocks/>
          </p:cNvCxnSpPr>
          <p:nvPr/>
        </p:nvCxnSpPr>
        <p:spPr>
          <a:xfrm flipV="1">
            <a:off x="843602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287BB93E-CC11-4F3A-AF7A-8FAF390455E8}"/>
              </a:ext>
            </a:extLst>
          </p:cNvPr>
          <p:cNvCxnSpPr>
            <a:cxnSpLocks/>
          </p:cNvCxnSpPr>
          <p:nvPr/>
        </p:nvCxnSpPr>
        <p:spPr>
          <a:xfrm>
            <a:off x="7536016" y="2708992"/>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7422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と </a:t>
            </a:r>
            <a:r>
              <a:rPr kumimoji="1" lang="en-US" altLang="ja-JP" dirty="0"/>
              <a:t>DRAM</a:t>
            </a:r>
            <a:r>
              <a:rPr kumimoji="1" lang="ja-JP" altLang="en-US" dirty="0"/>
              <a:t>（</a:t>
            </a:r>
            <a:r>
              <a:rPr lang="en-US" altLang="ja-JP" dirty="0"/>
              <a:t>4</a:t>
            </a:r>
            <a:r>
              <a:rPr kumimoji="1" lang="en-US" altLang="ja-JP" dirty="0"/>
              <a:t>bit</a:t>
            </a:r>
            <a:r>
              <a:rPr kumimoji="1" lang="ja-JP" altLang="en-US" dirty="0"/>
              <a:t>）</a:t>
            </a:r>
          </a:p>
        </p:txBody>
      </p:sp>
      <p:sp>
        <p:nvSpPr>
          <p:cNvPr id="81" name="正方形/長方形 80">
            <a:extLst>
              <a:ext uri="{FF2B5EF4-FFF2-40B4-BE49-F238E27FC236}">
                <a16:creationId xmlns:a16="http://schemas.microsoft.com/office/drawing/2014/main" id="{2C6D6698-CD93-4E4F-B992-4C16E85E7ED2}"/>
              </a:ext>
            </a:extLst>
          </p:cNvPr>
          <p:cNvSpPr/>
          <p:nvPr/>
        </p:nvSpPr>
        <p:spPr bwMode="auto">
          <a:xfrm>
            <a:off x="3125967" y="1088974"/>
            <a:ext cx="2520028"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SRAM</a:t>
            </a:r>
            <a:r>
              <a:rPr lang="ja-JP" altLang="en-US" dirty="0">
                <a:ea typeface="メイリオ" panose="020B0604030504040204" pitchFamily="50" charset="-128"/>
              </a:rPr>
              <a:t>：</a:t>
            </a:r>
            <a:r>
              <a:rPr lang="en-US" altLang="ja-JP" dirty="0">
                <a:ea typeface="メイリオ" panose="020B0604030504040204" pitchFamily="50" charset="-128"/>
              </a:rPr>
              <a:t>6*4 = 24</a:t>
            </a:r>
            <a:endParaRPr lang="ja-JP" altLang="en-US" dirty="0">
              <a:ea typeface="メイリオ" panose="020B0604030504040204" pitchFamily="50" charset="-128"/>
            </a:endParaRPr>
          </a:p>
        </p:txBody>
      </p:sp>
      <p:sp>
        <p:nvSpPr>
          <p:cNvPr id="82" name="正方形/長方形 81">
            <a:extLst>
              <a:ext uri="{FF2B5EF4-FFF2-40B4-BE49-F238E27FC236}">
                <a16:creationId xmlns:a16="http://schemas.microsoft.com/office/drawing/2014/main" id="{92DC1F23-AC38-454C-BC7F-E4136A1AC959}"/>
              </a:ext>
            </a:extLst>
          </p:cNvPr>
          <p:cNvSpPr/>
          <p:nvPr/>
        </p:nvSpPr>
        <p:spPr bwMode="auto">
          <a:xfrm>
            <a:off x="6546005" y="1088974"/>
            <a:ext cx="306003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ea typeface="メイリオ" panose="020B0604030504040204" pitchFamily="50" charset="-128"/>
              </a:rPr>
              <a:t>DRAM</a:t>
            </a:r>
            <a:r>
              <a:rPr lang="ja-JP" altLang="en-US" dirty="0">
                <a:ea typeface="メイリオ" panose="020B0604030504040204" pitchFamily="50" charset="-128"/>
              </a:rPr>
              <a:t>：</a:t>
            </a:r>
            <a:r>
              <a:rPr lang="en-US" altLang="ja-JP" dirty="0">
                <a:ea typeface="メイリオ" panose="020B0604030504040204" pitchFamily="50" charset="-128"/>
              </a:rPr>
              <a:t>4 +</a:t>
            </a:r>
            <a:r>
              <a:rPr lang="ja-JP" altLang="en-US">
                <a:ea typeface="メイリオ" panose="020B0604030504040204" pitchFamily="50" charset="-128"/>
              </a:rPr>
              <a:t>コンデンサ </a:t>
            </a:r>
            <a:r>
              <a:rPr lang="en-US" altLang="ja-JP">
                <a:ea typeface="メイリオ" panose="020B0604030504040204" pitchFamily="50" charset="-128"/>
              </a:rPr>
              <a:t>4</a:t>
            </a:r>
            <a:endParaRPr lang="ja-JP" altLang="en-US" dirty="0">
              <a:ea typeface="メイリオ" panose="020B0604030504040204" pitchFamily="50" charset="-128"/>
            </a:endParaRPr>
          </a:p>
        </p:txBody>
      </p:sp>
      <p:grpSp>
        <p:nvGrpSpPr>
          <p:cNvPr id="11" name="グループ化 10">
            <a:extLst>
              <a:ext uri="{FF2B5EF4-FFF2-40B4-BE49-F238E27FC236}">
                <a16:creationId xmlns:a16="http://schemas.microsoft.com/office/drawing/2014/main" id="{5F89F5AB-8AA3-41DC-AD48-EDB4634E09E9}"/>
              </a:ext>
            </a:extLst>
          </p:cNvPr>
          <p:cNvGrpSpPr/>
          <p:nvPr/>
        </p:nvGrpSpPr>
        <p:grpSpPr>
          <a:xfrm>
            <a:off x="2675962" y="1628980"/>
            <a:ext cx="3420038" cy="4770054"/>
            <a:chOff x="611956" y="908972"/>
            <a:chExt cx="4320048" cy="5940067"/>
          </a:xfrm>
        </p:grpSpPr>
        <p:grpSp>
          <p:nvGrpSpPr>
            <p:cNvPr id="4" name="グループ化 3">
              <a:extLst>
                <a:ext uri="{FF2B5EF4-FFF2-40B4-BE49-F238E27FC236}">
                  <a16:creationId xmlns:a16="http://schemas.microsoft.com/office/drawing/2014/main" id="{462E64C4-0EB7-4BAC-9C3E-6587AA35DC45}"/>
                </a:ext>
              </a:extLst>
            </p:cNvPr>
            <p:cNvGrpSpPr/>
            <p:nvPr/>
          </p:nvGrpSpPr>
          <p:grpSpPr>
            <a:xfrm>
              <a:off x="611956" y="908972"/>
              <a:ext cx="4320048" cy="1620020"/>
              <a:chOff x="611956" y="2528990"/>
              <a:chExt cx="4320048" cy="162002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3851992" y="3068996"/>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1331964" y="3068996"/>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971960" y="2528990"/>
                <a:ext cx="0" cy="1620018"/>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4572000" y="2528990"/>
                <a:ext cx="0" cy="162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02" name="グループ化 101">
              <a:extLst>
                <a:ext uri="{FF2B5EF4-FFF2-40B4-BE49-F238E27FC236}">
                  <a16:creationId xmlns:a16="http://schemas.microsoft.com/office/drawing/2014/main" id="{85DB32D7-9A51-4712-BEDD-39FF75E5D8AA}"/>
                </a:ext>
              </a:extLst>
            </p:cNvPr>
            <p:cNvGrpSpPr/>
            <p:nvPr/>
          </p:nvGrpSpPr>
          <p:grpSpPr>
            <a:xfrm>
              <a:off x="611956" y="2168986"/>
              <a:ext cx="4320048" cy="1800021"/>
              <a:chOff x="611956" y="2348988"/>
              <a:chExt cx="4320048" cy="1800021"/>
            </a:xfrm>
          </p:grpSpPr>
          <p:sp>
            <p:nvSpPr>
              <p:cNvPr id="103" name="正方形/長方形 102">
                <a:extLst>
                  <a:ext uri="{FF2B5EF4-FFF2-40B4-BE49-F238E27FC236}">
                    <a16:creationId xmlns:a16="http://schemas.microsoft.com/office/drawing/2014/main" id="{B1A33AB8-EBF1-4B6F-8A3D-D7C6E6897F4F}"/>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04" name="Picture 30" descr="NOT">
                <a:extLst>
                  <a:ext uri="{FF2B5EF4-FFF2-40B4-BE49-F238E27FC236}">
                    <a16:creationId xmlns:a16="http://schemas.microsoft.com/office/drawing/2014/main" id="{53FF33BE-026C-41BC-B131-1FAEF6E7CBFA}"/>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105" name="Picture 31" descr="NOT">
                <a:extLst>
                  <a:ext uri="{FF2B5EF4-FFF2-40B4-BE49-F238E27FC236}">
                    <a16:creationId xmlns:a16="http://schemas.microsoft.com/office/drawing/2014/main" id="{AFA0FF98-F574-4130-89CD-6C9B21DF0F3C}"/>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106" name="グループ化 105">
                <a:extLst>
                  <a:ext uri="{FF2B5EF4-FFF2-40B4-BE49-F238E27FC236}">
                    <a16:creationId xmlns:a16="http://schemas.microsoft.com/office/drawing/2014/main" id="{E272CCFB-D57B-4548-A71D-F78375857029}"/>
                  </a:ext>
                </a:extLst>
              </p:cNvPr>
              <p:cNvGrpSpPr/>
              <p:nvPr/>
            </p:nvGrpSpPr>
            <p:grpSpPr>
              <a:xfrm>
                <a:off x="3851992" y="3068996"/>
                <a:ext cx="360004" cy="360004"/>
                <a:chOff x="4932004" y="2708992"/>
                <a:chExt cx="360004" cy="360004"/>
              </a:xfrm>
            </p:grpSpPr>
            <p:cxnSp>
              <p:nvCxnSpPr>
                <p:cNvPr id="121" name="直線コネクタ 120">
                  <a:extLst>
                    <a:ext uri="{FF2B5EF4-FFF2-40B4-BE49-F238E27FC236}">
                      <a16:creationId xmlns:a16="http://schemas.microsoft.com/office/drawing/2014/main" id="{1458DA48-91AC-47F0-9A8D-0E96D7756D58}"/>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B9E79FF3-2BDE-4F86-9DE5-2E490BB85412}"/>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EF63AA20-FE93-4B79-B295-3961B9CECC61}"/>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4" name="直線コネクタ 123">
                  <a:extLst>
                    <a:ext uri="{FF2B5EF4-FFF2-40B4-BE49-F238E27FC236}">
                      <a16:creationId xmlns:a16="http://schemas.microsoft.com/office/drawing/2014/main" id="{D3BC43BD-1FA0-479D-82C3-DD6322BAE7B7}"/>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07" name="直線コネクタ 106">
                <a:extLst>
                  <a:ext uri="{FF2B5EF4-FFF2-40B4-BE49-F238E27FC236}">
                    <a16:creationId xmlns:a16="http://schemas.microsoft.com/office/drawing/2014/main" id="{410300EF-0FB7-4D75-A709-359E46F3CF51}"/>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08" name="グループ化 107">
                <a:extLst>
                  <a:ext uri="{FF2B5EF4-FFF2-40B4-BE49-F238E27FC236}">
                    <a16:creationId xmlns:a16="http://schemas.microsoft.com/office/drawing/2014/main" id="{C4A227B8-2C8F-452D-A82A-20B77A6A76F0}"/>
                  </a:ext>
                </a:extLst>
              </p:cNvPr>
              <p:cNvGrpSpPr/>
              <p:nvPr/>
            </p:nvGrpSpPr>
            <p:grpSpPr>
              <a:xfrm>
                <a:off x="1331964" y="3068996"/>
                <a:ext cx="360004" cy="360004"/>
                <a:chOff x="4932004" y="2708992"/>
                <a:chExt cx="360004" cy="360004"/>
              </a:xfrm>
            </p:grpSpPr>
            <p:cxnSp>
              <p:nvCxnSpPr>
                <p:cNvPr id="117" name="直線コネクタ 116">
                  <a:extLst>
                    <a:ext uri="{FF2B5EF4-FFF2-40B4-BE49-F238E27FC236}">
                      <a16:creationId xmlns:a16="http://schemas.microsoft.com/office/drawing/2014/main" id="{AF3740A0-CFC3-4B4A-AAD5-BCC7577C033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12AB5EE2-56B7-454F-9DED-643F605F2779}"/>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CCCFB4A9-9C71-42AD-8017-8DEED4C9F438}"/>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3EEF28B7-1167-44B7-9424-48AA22B58A5A}"/>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09" name="直線コネクタ 108">
                <a:extLst>
                  <a:ext uri="{FF2B5EF4-FFF2-40B4-BE49-F238E27FC236}">
                    <a16:creationId xmlns:a16="http://schemas.microsoft.com/office/drawing/2014/main" id="{0B1116F1-A7B7-4928-9337-291C1040FA68}"/>
                  </a:ext>
                </a:extLst>
              </p:cNvPr>
              <p:cNvCxnSpPr>
                <a:cxnSpLocks/>
                <a:stCxn id="103"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73F62BD6-2DB2-40CA-B67D-1ED966E0B32F}"/>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BD55A59C-5A22-4D24-A0CE-92954DC442D9}"/>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43FB2787-D02F-427B-BD72-716B6905FC15}"/>
                  </a:ext>
                </a:extLst>
              </p:cNvPr>
              <p:cNvCxnSpPr>
                <a:cxnSpLocks/>
              </p:cNvCxnSpPr>
              <p:nvPr/>
            </p:nvCxnSpPr>
            <p:spPr>
              <a:xfrm flipV="1">
                <a:off x="971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6455E8E4-C24D-4ED8-A29C-54FE34637C3E}"/>
                  </a:ext>
                </a:extLst>
              </p:cNvPr>
              <p:cNvCxnSpPr>
                <a:cxnSpLocks/>
              </p:cNvCxnSpPr>
              <p:nvPr/>
            </p:nvCxnSpPr>
            <p:spPr>
              <a:xfrm flipV="1">
                <a:off x="4572000" y="2348988"/>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84730A6C-48D2-4274-88B1-1AC183F84E23}"/>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15" name="直線コネクタ 114">
                <a:extLst>
                  <a:ext uri="{FF2B5EF4-FFF2-40B4-BE49-F238E27FC236}">
                    <a16:creationId xmlns:a16="http://schemas.microsoft.com/office/drawing/2014/main" id="{8EA8E134-98DE-4392-8BDD-BA69CB315501}"/>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16" name="直線コネクタ 115">
                <a:extLst>
                  <a:ext uri="{FF2B5EF4-FFF2-40B4-BE49-F238E27FC236}">
                    <a16:creationId xmlns:a16="http://schemas.microsoft.com/office/drawing/2014/main" id="{2BF8C6B8-7937-4366-BC6C-BAD4FD0CC630}"/>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25" name="グループ化 124">
              <a:extLst>
                <a:ext uri="{FF2B5EF4-FFF2-40B4-BE49-F238E27FC236}">
                  <a16:creationId xmlns:a16="http://schemas.microsoft.com/office/drawing/2014/main" id="{441C153E-B9B6-4091-90B8-FA393E53C394}"/>
                </a:ext>
              </a:extLst>
            </p:cNvPr>
            <p:cNvGrpSpPr/>
            <p:nvPr/>
          </p:nvGrpSpPr>
          <p:grpSpPr>
            <a:xfrm>
              <a:off x="611956" y="3609002"/>
              <a:ext cx="4320048" cy="1800021"/>
              <a:chOff x="611956" y="2348988"/>
              <a:chExt cx="4320048" cy="1800021"/>
            </a:xfrm>
          </p:grpSpPr>
          <p:sp>
            <p:nvSpPr>
              <p:cNvPr id="126" name="正方形/長方形 125">
                <a:extLst>
                  <a:ext uri="{FF2B5EF4-FFF2-40B4-BE49-F238E27FC236}">
                    <a16:creationId xmlns:a16="http://schemas.microsoft.com/office/drawing/2014/main" id="{95AE8EF7-7BCB-464B-996F-606432A1D3C0}"/>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27" name="Picture 30" descr="NOT">
                <a:extLst>
                  <a:ext uri="{FF2B5EF4-FFF2-40B4-BE49-F238E27FC236}">
                    <a16:creationId xmlns:a16="http://schemas.microsoft.com/office/drawing/2014/main" id="{8108A68D-2DA4-4E43-B1AE-054A9334CA56}"/>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128" name="Picture 31" descr="NOT">
                <a:extLst>
                  <a:ext uri="{FF2B5EF4-FFF2-40B4-BE49-F238E27FC236}">
                    <a16:creationId xmlns:a16="http://schemas.microsoft.com/office/drawing/2014/main" id="{52C01EEE-DA6E-48E0-A0E1-7DFD10C26521}"/>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129" name="グループ化 128">
                <a:extLst>
                  <a:ext uri="{FF2B5EF4-FFF2-40B4-BE49-F238E27FC236}">
                    <a16:creationId xmlns:a16="http://schemas.microsoft.com/office/drawing/2014/main" id="{4B8B47F4-CD3A-412E-9FA6-E27BE591B354}"/>
                  </a:ext>
                </a:extLst>
              </p:cNvPr>
              <p:cNvGrpSpPr/>
              <p:nvPr/>
            </p:nvGrpSpPr>
            <p:grpSpPr>
              <a:xfrm>
                <a:off x="3851992" y="3068996"/>
                <a:ext cx="360004" cy="360004"/>
                <a:chOff x="4932004" y="2708992"/>
                <a:chExt cx="360004" cy="360004"/>
              </a:xfrm>
            </p:grpSpPr>
            <p:cxnSp>
              <p:nvCxnSpPr>
                <p:cNvPr id="144" name="直線コネクタ 143">
                  <a:extLst>
                    <a:ext uri="{FF2B5EF4-FFF2-40B4-BE49-F238E27FC236}">
                      <a16:creationId xmlns:a16="http://schemas.microsoft.com/office/drawing/2014/main" id="{3BB341C3-D13C-413F-BF4C-C462C5B88525}"/>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5" name="直線コネクタ 144">
                  <a:extLst>
                    <a:ext uri="{FF2B5EF4-FFF2-40B4-BE49-F238E27FC236}">
                      <a16:creationId xmlns:a16="http://schemas.microsoft.com/office/drawing/2014/main" id="{9F7596E2-E646-4464-A820-932FCB4E7E2A}"/>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B828DB55-9D58-4545-ABDA-6E3931EF57FC}"/>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7" name="直線コネクタ 146">
                  <a:extLst>
                    <a:ext uri="{FF2B5EF4-FFF2-40B4-BE49-F238E27FC236}">
                      <a16:creationId xmlns:a16="http://schemas.microsoft.com/office/drawing/2014/main" id="{A9273E1B-FFD1-4FE8-B8E5-C9935468DCB0}"/>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0" name="直線コネクタ 129">
                <a:extLst>
                  <a:ext uri="{FF2B5EF4-FFF2-40B4-BE49-F238E27FC236}">
                    <a16:creationId xmlns:a16="http://schemas.microsoft.com/office/drawing/2014/main" id="{7BE8DD0E-F450-488C-B4F9-D203CC7BDA4E}"/>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31" name="グループ化 130">
                <a:extLst>
                  <a:ext uri="{FF2B5EF4-FFF2-40B4-BE49-F238E27FC236}">
                    <a16:creationId xmlns:a16="http://schemas.microsoft.com/office/drawing/2014/main" id="{C4CB907F-76C1-464D-B341-96BC64E45C1E}"/>
                  </a:ext>
                </a:extLst>
              </p:cNvPr>
              <p:cNvGrpSpPr/>
              <p:nvPr/>
            </p:nvGrpSpPr>
            <p:grpSpPr>
              <a:xfrm>
                <a:off x="1331964" y="3068996"/>
                <a:ext cx="360004" cy="360004"/>
                <a:chOff x="4932004" y="2708992"/>
                <a:chExt cx="360004" cy="360004"/>
              </a:xfrm>
            </p:grpSpPr>
            <p:cxnSp>
              <p:nvCxnSpPr>
                <p:cNvPr id="140" name="直線コネクタ 139">
                  <a:extLst>
                    <a:ext uri="{FF2B5EF4-FFF2-40B4-BE49-F238E27FC236}">
                      <a16:creationId xmlns:a16="http://schemas.microsoft.com/office/drawing/2014/main" id="{8DD0A887-40E1-4FEB-A9F2-CADF53F0D40A}"/>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1" name="直線コネクタ 140">
                  <a:extLst>
                    <a:ext uri="{FF2B5EF4-FFF2-40B4-BE49-F238E27FC236}">
                      <a16:creationId xmlns:a16="http://schemas.microsoft.com/office/drawing/2014/main" id="{E4B98EC3-185B-4A3E-B28B-081762738C65}"/>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2" name="直線コネクタ 141">
                  <a:extLst>
                    <a:ext uri="{FF2B5EF4-FFF2-40B4-BE49-F238E27FC236}">
                      <a16:creationId xmlns:a16="http://schemas.microsoft.com/office/drawing/2014/main" id="{F43FD0E4-83E5-4381-8F23-2DD5C225D411}"/>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3" name="直線コネクタ 142">
                  <a:extLst>
                    <a:ext uri="{FF2B5EF4-FFF2-40B4-BE49-F238E27FC236}">
                      <a16:creationId xmlns:a16="http://schemas.microsoft.com/office/drawing/2014/main" id="{FF916E23-EAB0-47D1-9DA1-22B8CC557C81}"/>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32" name="直線コネクタ 131">
                <a:extLst>
                  <a:ext uri="{FF2B5EF4-FFF2-40B4-BE49-F238E27FC236}">
                    <a16:creationId xmlns:a16="http://schemas.microsoft.com/office/drawing/2014/main" id="{21AAFD98-4186-4FFB-9104-7440DAA623E9}"/>
                  </a:ext>
                </a:extLst>
              </p:cNvPr>
              <p:cNvCxnSpPr>
                <a:cxnSpLocks/>
                <a:stCxn id="126"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3" name="直線コネクタ 132">
                <a:extLst>
                  <a:ext uri="{FF2B5EF4-FFF2-40B4-BE49-F238E27FC236}">
                    <a16:creationId xmlns:a16="http://schemas.microsoft.com/office/drawing/2014/main" id="{9D11CBCE-CB70-4C8E-9E66-6FE45BF7A436}"/>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134" name="直線コネクタ 133">
                <a:extLst>
                  <a:ext uri="{FF2B5EF4-FFF2-40B4-BE49-F238E27FC236}">
                    <a16:creationId xmlns:a16="http://schemas.microsoft.com/office/drawing/2014/main" id="{3A0350E1-19B5-4A91-B384-2704F6F50B2F}"/>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5" name="直線コネクタ 134">
                <a:extLst>
                  <a:ext uri="{FF2B5EF4-FFF2-40B4-BE49-F238E27FC236}">
                    <a16:creationId xmlns:a16="http://schemas.microsoft.com/office/drawing/2014/main" id="{FC528E5F-861F-493F-8EDB-4FC5B56413F0}"/>
                  </a:ext>
                </a:extLst>
              </p:cNvPr>
              <p:cNvCxnSpPr>
                <a:cxnSpLocks/>
              </p:cNvCxnSpPr>
              <p:nvPr/>
            </p:nvCxnSpPr>
            <p:spPr>
              <a:xfrm flipV="1">
                <a:off x="971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07EBE5A7-BE34-46C5-9121-AD42613281F8}"/>
                  </a:ext>
                </a:extLst>
              </p:cNvPr>
              <p:cNvCxnSpPr>
                <a:cxnSpLocks/>
              </p:cNvCxnSpPr>
              <p:nvPr/>
            </p:nvCxnSpPr>
            <p:spPr>
              <a:xfrm flipV="1">
                <a:off x="4572000" y="2348988"/>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37" name="直線コネクタ 136">
                <a:extLst>
                  <a:ext uri="{FF2B5EF4-FFF2-40B4-BE49-F238E27FC236}">
                    <a16:creationId xmlns:a16="http://schemas.microsoft.com/office/drawing/2014/main" id="{3C6F60E4-F99D-423C-9830-4C8C8B2C5E09}"/>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38" name="直線コネクタ 137">
                <a:extLst>
                  <a:ext uri="{FF2B5EF4-FFF2-40B4-BE49-F238E27FC236}">
                    <a16:creationId xmlns:a16="http://schemas.microsoft.com/office/drawing/2014/main" id="{FB45E1BB-A1BF-493A-80C6-417502D56A34}"/>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39" name="直線コネクタ 138">
                <a:extLst>
                  <a:ext uri="{FF2B5EF4-FFF2-40B4-BE49-F238E27FC236}">
                    <a16:creationId xmlns:a16="http://schemas.microsoft.com/office/drawing/2014/main" id="{1DD1E8D9-0FA7-4AF7-95AC-DD3FC9051928}"/>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48" name="グループ化 147">
              <a:extLst>
                <a:ext uri="{FF2B5EF4-FFF2-40B4-BE49-F238E27FC236}">
                  <a16:creationId xmlns:a16="http://schemas.microsoft.com/office/drawing/2014/main" id="{B1F5EC57-DDAC-4C58-A770-C068CE235CAD}"/>
                </a:ext>
              </a:extLst>
            </p:cNvPr>
            <p:cNvGrpSpPr/>
            <p:nvPr/>
          </p:nvGrpSpPr>
          <p:grpSpPr>
            <a:xfrm>
              <a:off x="611956" y="5049018"/>
              <a:ext cx="4320048" cy="1800021"/>
              <a:chOff x="611956" y="2348988"/>
              <a:chExt cx="4320048" cy="1800021"/>
            </a:xfrm>
          </p:grpSpPr>
          <p:sp>
            <p:nvSpPr>
              <p:cNvPr id="149" name="正方形/長方形 148">
                <a:extLst>
                  <a:ext uri="{FF2B5EF4-FFF2-40B4-BE49-F238E27FC236}">
                    <a16:creationId xmlns:a16="http://schemas.microsoft.com/office/drawing/2014/main" id="{EE1ADB96-9728-40E9-BFDF-AC45B8399E3E}"/>
                  </a:ext>
                </a:extLst>
              </p:cNvPr>
              <p:cNvSpPr/>
              <p:nvPr/>
            </p:nvSpPr>
            <p:spPr bwMode="auto">
              <a:xfrm>
                <a:off x="2051972" y="3068996"/>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150" name="Picture 30" descr="NOT">
                <a:extLst>
                  <a:ext uri="{FF2B5EF4-FFF2-40B4-BE49-F238E27FC236}">
                    <a16:creationId xmlns:a16="http://schemas.microsoft.com/office/drawing/2014/main" id="{92356AF5-0B53-45A4-B736-E16AEBBB81E9}"/>
                  </a:ext>
                </a:extLst>
              </p:cNvPr>
              <p:cNvPicPr>
                <a:picLocks noChangeAspect="1" noChangeArrowheads="1"/>
              </p:cNvPicPr>
              <p:nvPr/>
            </p:nvPicPr>
            <p:blipFill>
              <a:blip r:embed="rId2" cstate="print"/>
              <a:srcRect/>
              <a:stretch>
                <a:fillRect/>
              </a:stretch>
            </p:blipFill>
            <p:spPr bwMode="auto">
              <a:xfrm flipH="1">
                <a:off x="2501977" y="2707558"/>
                <a:ext cx="717550" cy="720725"/>
              </a:xfrm>
              <a:prstGeom prst="rect">
                <a:avLst/>
              </a:prstGeom>
              <a:noFill/>
            </p:spPr>
          </p:pic>
          <p:pic>
            <p:nvPicPr>
              <p:cNvPr id="151" name="Picture 31" descr="NOT">
                <a:extLst>
                  <a:ext uri="{FF2B5EF4-FFF2-40B4-BE49-F238E27FC236}">
                    <a16:creationId xmlns:a16="http://schemas.microsoft.com/office/drawing/2014/main" id="{FF110F70-C0E9-4E97-A219-E7C115C42D06}"/>
                  </a:ext>
                </a:extLst>
              </p:cNvPr>
              <p:cNvPicPr>
                <a:picLocks noChangeAspect="1" noChangeArrowheads="1"/>
              </p:cNvPicPr>
              <p:nvPr/>
            </p:nvPicPr>
            <p:blipFill>
              <a:blip r:embed="rId2" cstate="print"/>
              <a:srcRect/>
              <a:stretch>
                <a:fillRect/>
              </a:stretch>
            </p:blipFill>
            <p:spPr bwMode="auto">
              <a:xfrm>
                <a:off x="2501977" y="3428283"/>
                <a:ext cx="717550" cy="720725"/>
              </a:xfrm>
              <a:prstGeom prst="rect">
                <a:avLst/>
              </a:prstGeom>
              <a:noFill/>
            </p:spPr>
          </p:pic>
          <p:grpSp>
            <p:nvGrpSpPr>
              <p:cNvPr id="152" name="グループ化 151">
                <a:extLst>
                  <a:ext uri="{FF2B5EF4-FFF2-40B4-BE49-F238E27FC236}">
                    <a16:creationId xmlns:a16="http://schemas.microsoft.com/office/drawing/2014/main" id="{383B3DC1-69FB-44A6-8DC3-D8D1AB130078}"/>
                  </a:ext>
                </a:extLst>
              </p:cNvPr>
              <p:cNvGrpSpPr/>
              <p:nvPr/>
            </p:nvGrpSpPr>
            <p:grpSpPr>
              <a:xfrm>
                <a:off x="3851992" y="3068996"/>
                <a:ext cx="360004" cy="360004"/>
                <a:chOff x="4932004" y="2708992"/>
                <a:chExt cx="360004" cy="360004"/>
              </a:xfrm>
            </p:grpSpPr>
            <p:cxnSp>
              <p:nvCxnSpPr>
                <p:cNvPr id="167" name="直線コネクタ 166">
                  <a:extLst>
                    <a:ext uri="{FF2B5EF4-FFF2-40B4-BE49-F238E27FC236}">
                      <a16:creationId xmlns:a16="http://schemas.microsoft.com/office/drawing/2014/main" id="{0194BD2F-D2EA-4994-9365-9C2B1D41A568}"/>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8" name="直線コネクタ 167">
                  <a:extLst>
                    <a:ext uri="{FF2B5EF4-FFF2-40B4-BE49-F238E27FC236}">
                      <a16:creationId xmlns:a16="http://schemas.microsoft.com/office/drawing/2014/main" id="{9E06F0FE-2B70-48BA-9FB7-444E82F1E14E}"/>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9" name="直線コネクタ 168">
                  <a:extLst>
                    <a:ext uri="{FF2B5EF4-FFF2-40B4-BE49-F238E27FC236}">
                      <a16:creationId xmlns:a16="http://schemas.microsoft.com/office/drawing/2014/main" id="{E2C9FB40-B3C8-4ADD-AB7D-B2B21113A91C}"/>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0" name="直線コネクタ 169">
                  <a:extLst>
                    <a:ext uri="{FF2B5EF4-FFF2-40B4-BE49-F238E27FC236}">
                      <a16:creationId xmlns:a16="http://schemas.microsoft.com/office/drawing/2014/main" id="{80E9B192-A27F-4167-AD2E-1E1D347F1CAF}"/>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3" name="直線コネクタ 152">
                <a:extLst>
                  <a:ext uri="{FF2B5EF4-FFF2-40B4-BE49-F238E27FC236}">
                    <a16:creationId xmlns:a16="http://schemas.microsoft.com/office/drawing/2014/main" id="{A7A61C6D-8D95-4A8E-8161-B0CEE58654D6}"/>
                  </a:ext>
                </a:extLst>
              </p:cNvPr>
              <p:cNvCxnSpPr>
                <a:cxnSpLocks/>
              </p:cNvCxnSpPr>
              <p:nvPr/>
            </p:nvCxnSpPr>
            <p:spPr>
              <a:xfrm>
                <a:off x="349198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54" name="グループ化 153">
                <a:extLst>
                  <a:ext uri="{FF2B5EF4-FFF2-40B4-BE49-F238E27FC236}">
                    <a16:creationId xmlns:a16="http://schemas.microsoft.com/office/drawing/2014/main" id="{15D4E600-080C-49BD-8976-D5E5EAEAB94B}"/>
                  </a:ext>
                </a:extLst>
              </p:cNvPr>
              <p:cNvGrpSpPr/>
              <p:nvPr/>
            </p:nvGrpSpPr>
            <p:grpSpPr>
              <a:xfrm>
                <a:off x="1331964" y="3068996"/>
                <a:ext cx="360004" cy="360004"/>
                <a:chOff x="4932004" y="2708992"/>
                <a:chExt cx="360004" cy="360004"/>
              </a:xfrm>
            </p:grpSpPr>
            <p:cxnSp>
              <p:nvCxnSpPr>
                <p:cNvPr id="163" name="直線コネクタ 162">
                  <a:extLst>
                    <a:ext uri="{FF2B5EF4-FFF2-40B4-BE49-F238E27FC236}">
                      <a16:creationId xmlns:a16="http://schemas.microsoft.com/office/drawing/2014/main" id="{57D357C5-E599-458B-BBA7-9F77BC46003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4" name="直線コネクタ 163">
                  <a:extLst>
                    <a:ext uri="{FF2B5EF4-FFF2-40B4-BE49-F238E27FC236}">
                      <a16:creationId xmlns:a16="http://schemas.microsoft.com/office/drawing/2014/main" id="{3AF82D25-2F4B-443D-9347-601CFF11A4E7}"/>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5" name="直線コネクタ 164">
                  <a:extLst>
                    <a:ext uri="{FF2B5EF4-FFF2-40B4-BE49-F238E27FC236}">
                      <a16:creationId xmlns:a16="http://schemas.microsoft.com/office/drawing/2014/main" id="{9875ED1D-9848-4A71-99CA-5F30FBC3D5BB}"/>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6" name="直線コネクタ 165">
                  <a:extLst>
                    <a:ext uri="{FF2B5EF4-FFF2-40B4-BE49-F238E27FC236}">
                      <a16:creationId xmlns:a16="http://schemas.microsoft.com/office/drawing/2014/main" id="{BDAE46EE-549A-48BF-83C1-9FF0832C948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5" name="直線コネクタ 154">
                <a:extLst>
                  <a:ext uri="{FF2B5EF4-FFF2-40B4-BE49-F238E27FC236}">
                    <a16:creationId xmlns:a16="http://schemas.microsoft.com/office/drawing/2014/main" id="{C320A8F6-2311-4C61-8571-23B8E82DC6B3}"/>
                  </a:ext>
                </a:extLst>
              </p:cNvPr>
              <p:cNvCxnSpPr>
                <a:cxnSpLocks/>
                <a:stCxn id="149" idx="1"/>
              </p:cNvCxnSpPr>
              <p:nvPr/>
            </p:nvCxnSpPr>
            <p:spPr>
              <a:xfrm flipH="1">
                <a:off x="1691968"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6" name="直線コネクタ 155">
                <a:extLst>
                  <a:ext uri="{FF2B5EF4-FFF2-40B4-BE49-F238E27FC236}">
                    <a16:creationId xmlns:a16="http://schemas.microsoft.com/office/drawing/2014/main" id="{49166FF5-AEAB-4F19-BE6A-B2605AE51A5D}"/>
                  </a:ext>
                </a:extLst>
              </p:cNvPr>
              <p:cNvCxnSpPr>
                <a:cxnSpLocks/>
              </p:cNvCxnSpPr>
              <p:nvPr/>
            </p:nvCxnSpPr>
            <p:spPr>
              <a:xfrm>
                <a:off x="4211996" y="3429000"/>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157" name="直線コネクタ 156">
                <a:extLst>
                  <a:ext uri="{FF2B5EF4-FFF2-40B4-BE49-F238E27FC236}">
                    <a16:creationId xmlns:a16="http://schemas.microsoft.com/office/drawing/2014/main" id="{B1D3BF3E-22F9-43B2-8835-FD447DD84EF1}"/>
                  </a:ext>
                </a:extLst>
              </p:cNvPr>
              <p:cNvCxnSpPr>
                <a:cxnSpLocks/>
              </p:cNvCxnSpPr>
              <p:nvPr/>
            </p:nvCxnSpPr>
            <p:spPr>
              <a:xfrm>
                <a:off x="971960" y="3429000"/>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58" name="直線コネクタ 157">
                <a:extLst>
                  <a:ext uri="{FF2B5EF4-FFF2-40B4-BE49-F238E27FC236}">
                    <a16:creationId xmlns:a16="http://schemas.microsoft.com/office/drawing/2014/main" id="{DC11228E-138A-4F60-80D3-1B66B021CC7E}"/>
                  </a:ext>
                </a:extLst>
              </p:cNvPr>
              <p:cNvCxnSpPr>
                <a:cxnSpLocks/>
              </p:cNvCxnSpPr>
              <p:nvPr/>
            </p:nvCxnSpPr>
            <p:spPr>
              <a:xfrm flipV="1">
                <a:off x="971960" y="2348988"/>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59" name="直線コネクタ 158">
                <a:extLst>
                  <a:ext uri="{FF2B5EF4-FFF2-40B4-BE49-F238E27FC236}">
                    <a16:creationId xmlns:a16="http://schemas.microsoft.com/office/drawing/2014/main" id="{AF149FCB-B3FD-4076-8932-3BB910109AA4}"/>
                  </a:ext>
                </a:extLst>
              </p:cNvPr>
              <p:cNvCxnSpPr>
                <a:cxnSpLocks/>
              </p:cNvCxnSpPr>
              <p:nvPr/>
            </p:nvCxnSpPr>
            <p:spPr>
              <a:xfrm flipV="1">
                <a:off x="4572000" y="2348988"/>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0" name="直線コネクタ 159">
                <a:extLst>
                  <a:ext uri="{FF2B5EF4-FFF2-40B4-BE49-F238E27FC236}">
                    <a16:creationId xmlns:a16="http://schemas.microsoft.com/office/drawing/2014/main" id="{6406DCC9-680A-499A-B69C-E72A7F8D285A}"/>
                  </a:ext>
                </a:extLst>
              </p:cNvPr>
              <p:cNvCxnSpPr>
                <a:cxnSpLocks/>
              </p:cNvCxnSpPr>
              <p:nvPr/>
            </p:nvCxnSpPr>
            <p:spPr>
              <a:xfrm flipV="1">
                <a:off x="4031994"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61" name="直線コネクタ 160">
                <a:extLst>
                  <a:ext uri="{FF2B5EF4-FFF2-40B4-BE49-F238E27FC236}">
                    <a16:creationId xmlns:a16="http://schemas.microsoft.com/office/drawing/2014/main" id="{68CE5D36-3403-49E7-8F4E-E92C77737117}"/>
                  </a:ext>
                </a:extLst>
              </p:cNvPr>
              <p:cNvCxnSpPr>
                <a:cxnSpLocks/>
              </p:cNvCxnSpPr>
              <p:nvPr/>
            </p:nvCxnSpPr>
            <p:spPr>
              <a:xfrm flipV="1">
                <a:off x="1511966" y="2708992"/>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162" name="直線コネクタ 161">
                <a:extLst>
                  <a:ext uri="{FF2B5EF4-FFF2-40B4-BE49-F238E27FC236}">
                    <a16:creationId xmlns:a16="http://schemas.microsoft.com/office/drawing/2014/main" id="{42816C17-E33D-4F25-93F8-BC7F9F81CBFB}"/>
                  </a:ext>
                </a:extLst>
              </p:cNvPr>
              <p:cNvCxnSpPr>
                <a:cxnSpLocks/>
              </p:cNvCxnSpPr>
              <p:nvPr/>
            </p:nvCxnSpPr>
            <p:spPr>
              <a:xfrm>
                <a:off x="611956" y="2708992"/>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grpSp>
        <p:nvGrpSpPr>
          <p:cNvPr id="10" name="グループ化 9">
            <a:extLst>
              <a:ext uri="{FF2B5EF4-FFF2-40B4-BE49-F238E27FC236}">
                <a16:creationId xmlns:a16="http://schemas.microsoft.com/office/drawing/2014/main" id="{478A1ABE-C95B-44FD-9203-345ACFF02B53}"/>
              </a:ext>
            </a:extLst>
          </p:cNvPr>
          <p:cNvGrpSpPr/>
          <p:nvPr/>
        </p:nvGrpSpPr>
        <p:grpSpPr>
          <a:xfrm>
            <a:off x="7176012" y="1538979"/>
            <a:ext cx="1620018" cy="4860054"/>
            <a:chOff x="5652012" y="728970"/>
            <a:chExt cx="1800020" cy="6134164"/>
          </a:xfrm>
        </p:grpSpPr>
        <p:grpSp>
          <p:nvGrpSpPr>
            <p:cNvPr id="9" name="グループ化 8">
              <a:extLst>
                <a:ext uri="{FF2B5EF4-FFF2-40B4-BE49-F238E27FC236}">
                  <a16:creationId xmlns:a16="http://schemas.microsoft.com/office/drawing/2014/main" id="{C4F768A5-3CC9-43A1-BC86-8B4454B5A7E2}"/>
                </a:ext>
              </a:extLst>
            </p:cNvPr>
            <p:cNvGrpSpPr/>
            <p:nvPr/>
          </p:nvGrpSpPr>
          <p:grpSpPr>
            <a:xfrm>
              <a:off x="5652012" y="728970"/>
              <a:ext cx="1800020" cy="1800020"/>
              <a:chOff x="5652012" y="728970"/>
              <a:chExt cx="1800020" cy="1800020"/>
            </a:xfrm>
          </p:grpSpPr>
          <p:grpSp>
            <p:nvGrpSpPr>
              <p:cNvPr id="56" name="グループ化 55">
                <a:extLst>
                  <a:ext uri="{FF2B5EF4-FFF2-40B4-BE49-F238E27FC236}">
                    <a16:creationId xmlns:a16="http://schemas.microsoft.com/office/drawing/2014/main" id="{B2772659-A00E-4413-9EB6-D696321711C2}"/>
                  </a:ext>
                </a:extLst>
              </p:cNvPr>
              <p:cNvGrpSpPr/>
              <p:nvPr/>
            </p:nvGrpSpPr>
            <p:grpSpPr>
              <a:xfrm>
                <a:off x="6372020" y="1448978"/>
                <a:ext cx="360004" cy="360004"/>
                <a:chOff x="4932004" y="2708992"/>
                <a:chExt cx="360004" cy="360004"/>
              </a:xfrm>
            </p:grpSpPr>
            <p:cxnSp>
              <p:nvCxnSpPr>
                <p:cNvPr id="57" name="直線コネクタ 56">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61" name="直線コネクタ 60">
                <a:extLst>
                  <a:ext uri="{FF2B5EF4-FFF2-40B4-BE49-F238E27FC236}">
                    <a16:creationId xmlns:a16="http://schemas.microsoft.com/office/drawing/2014/main" id="{04ACCC42-4E49-4867-BFDC-671C90B11355}"/>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9FA852A0-5D43-4C5B-8D71-AF1C94363457}"/>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DDEA31C-DEA3-4027-A96D-5EC4FD0DCD35}"/>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97" name="グループ化 96">
                <a:extLst>
                  <a:ext uri="{FF2B5EF4-FFF2-40B4-BE49-F238E27FC236}">
                    <a16:creationId xmlns:a16="http://schemas.microsoft.com/office/drawing/2014/main" id="{DE115225-CFB0-4004-A206-CB9F39CB2EA1}"/>
                  </a:ext>
                </a:extLst>
              </p:cNvPr>
              <p:cNvGrpSpPr/>
              <p:nvPr/>
            </p:nvGrpSpPr>
            <p:grpSpPr>
              <a:xfrm>
                <a:off x="6912026" y="1988984"/>
                <a:ext cx="360004" cy="90003"/>
                <a:chOff x="7272030" y="3789004"/>
                <a:chExt cx="360004" cy="90003"/>
              </a:xfrm>
            </p:grpSpPr>
            <p:cxnSp>
              <p:nvCxnSpPr>
                <p:cNvPr id="70" name="直線コネクタ 69">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72" name="直線コネクタ 71">
                <a:extLst>
                  <a:ext uri="{FF2B5EF4-FFF2-40B4-BE49-F238E27FC236}">
                    <a16:creationId xmlns:a16="http://schemas.microsoft.com/office/drawing/2014/main" id="{980D156E-BEF6-49E5-BEDB-E654CED1DF10}"/>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DDF1097C-113D-483C-86EC-803338665142}"/>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80" name="グループ化 79">
                <a:extLst>
                  <a:ext uri="{FF2B5EF4-FFF2-40B4-BE49-F238E27FC236}">
                    <a16:creationId xmlns:a16="http://schemas.microsoft.com/office/drawing/2014/main" id="{38D32D1F-3EE8-498D-B8DB-C60684B30C49}"/>
                  </a:ext>
                </a:extLst>
              </p:cNvPr>
              <p:cNvGrpSpPr/>
              <p:nvPr/>
            </p:nvGrpSpPr>
            <p:grpSpPr>
              <a:xfrm>
                <a:off x="6912026" y="2348988"/>
                <a:ext cx="326325" cy="117556"/>
                <a:chOff x="2531592" y="5357236"/>
                <a:chExt cx="326325" cy="117556"/>
              </a:xfrm>
            </p:grpSpPr>
            <p:cxnSp>
              <p:nvCxnSpPr>
                <p:cNvPr id="77" name="直線コネクタ 76">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2" name="直線コネクタ 91">
                <a:extLst>
                  <a:ext uri="{FF2B5EF4-FFF2-40B4-BE49-F238E27FC236}">
                    <a16:creationId xmlns:a16="http://schemas.microsoft.com/office/drawing/2014/main" id="{5C16D03F-62AA-402B-A9AC-ADCF020FC7D6}"/>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287BB93E-CC11-4F3A-AF7A-8FAF390455E8}"/>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190" name="グループ化 189">
              <a:extLst>
                <a:ext uri="{FF2B5EF4-FFF2-40B4-BE49-F238E27FC236}">
                  <a16:creationId xmlns:a16="http://schemas.microsoft.com/office/drawing/2014/main" id="{436C3C4F-A927-41C9-B20E-BF607C38BA5F}"/>
                </a:ext>
              </a:extLst>
            </p:cNvPr>
            <p:cNvGrpSpPr/>
            <p:nvPr/>
          </p:nvGrpSpPr>
          <p:grpSpPr>
            <a:xfrm>
              <a:off x="5652012" y="2168986"/>
              <a:ext cx="1800020" cy="1800020"/>
              <a:chOff x="5652012" y="728970"/>
              <a:chExt cx="1800020" cy="1800020"/>
            </a:xfrm>
          </p:grpSpPr>
          <p:grpSp>
            <p:nvGrpSpPr>
              <p:cNvPr id="191" name="グループ化 190">
                <a:extLst>
                  <a:ext uri="{FF2B5EF4-FFF2-40B4-BE49-F238E27FC236}">
                    <a16:creationId xmlns:a16="http://schemas.microsoft.com/office/drawing/2014/main" id="{D25485CF-CB34-4701-8105-D1057310D6D3}"/>
                  </a:ext>
                </a:extLst>
              </p:cNvPr>
              <p:cNvGrpSpPr/>
              <p:nvPr/>
            </p:nvGrpSpPr>
            <p:grpSpPr>
              <a:xfrm>
                <a:off x="6372020" y="1448978"/>
                <a:ext cx="360004" cy="360004"/>
                <a:chOff x="4932004" y="2708992"/>
                <a:chExt cx="360004" cy="360004"/>
              </a:xfrm>
            </p:grpSpPr>
            <p:cxnSp>
              <p:nvCxnSpPr>
                <p:cNvPr id="206" name="直線コネクタ 205">
                  <a:extLst>
                    <a:ext uri="{FF2B5EF4-FFF2-40B4-BE49-F238E27FC236}">
                      <a16:creationId xmlns:a16="http://schemas.microsoft.com/office/drawing/2014/main" id="{001A4D5E-413F-4CC3-B0B9-5F884BC53E19}"/>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7" name="直線コネクタ 206">
                  <a:extLst>
                    <a:ext uri="{FF2B5EF4-FFF2-40B4-BE49-F238E27FC236}">
                      <a16:creationId xmlns:a16="http://schemas.microsoft.com/office/drawing/2014/main" id="{D1E0BF14-6979-4A8E-87BF-2B99A687986A}"/>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51B28292-9EC8-4EF4-BEA3-71BFA869ED99}"/>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9" name="直線コネクタ 208">
                  <a:extLst>
                    <a:ext uri="{FF2B5EF4-FFF2-40B4-BE49-F238E27FC236}">
                      <a16:creationId xmlns:a16="http://schemas.microsoft.com/office/drawing/2014/main" id="{D5FAC743-B4BC-4A52-9674-1EDFC79D2474}"/>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92" name="直線コネクタ 191">
                <a:extLst>
                  <a:ext uri="{FF2B5EF4-FFF2-40B4-BE49-F238E27FC236}">
                    <a16:creationId xmlns:a16="http://schemas.microsoft.com/office/drawing/2014/main" id="{03142A4B-87C9-4621-AFDF-B97D14E5CFF1}"/>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87CE94F9-05DA-475B-B9D9-2DA57EDB6D10}"/>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94" name="直線コネクタ 193">
                <a:extLst>
                  <a:ext uri="{FF2B5EF4-FFF2-40B4-BE49-F238E27FC236}">
                    <a16:creationId xmlns:a16="http://schemas.microsoft.com/office/drawing/2014/main" id="{B5F436DC-E768-4E92-A821-46A659C1E41F}"/>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95" name="グループ化 194">
                <a:extLst>
                  <a:ext uri="{FF2B5EF4-FFF2-40B4-BE49-F238E27FC236}">
                    <a16:creationId xmlns:a16="http://schemas.microsoft.com/office/drawing/2014/main" id="{412AED1C-0BE9-4319-B2FF-9A37349E8C31}"/>
                  </a:ext>
                </a:extLst>
              </p:cNvPr>
              <p:cNvGrpSpPr/>
              <p:nvPr/>
            </p:nvGrpSpPr>
            <p:grpSpPr>
              <a:xfrm>
                <a:off x="6912026" y="1988984"/>
                <a:ext cx="360004" cy="90003"/>
                <a:chOff x="7272030" y="3789004"/>
                <a:chExt cx="360004" cy="90003"/>
              </a:xfrm>
            </p:grpSpPr>
            <p:cxnSp>
              <p:nvCxnSpPr>
                <p:cNvPr id="204" name="直線コネクタ 203">
                  <a:extLst>
                    <a:ext uri="{FF2B5EF4-FFF2-40B4-BE49-F238E27FC236}">
                      <a16:creationId xmlns:a16="http://schemas.microsoft.com/office/drawing/2014/main" id="{F2B3FB15-504E-43D0-A168-3D71663E83A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0C602B01-1C1B-4C28-88F0-62E4262103F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96" name="直線コネクタ 195">
                <a:extLst>
                  <a:ext uri="{FF2B5EF4-FFF2-40B4-BE49-F238E27FC236}">
                    <a16:creationId xmlns:a16="http://schemas.microsoft.com/office/drawing/2014/main" id="{066DB9F5-9D05-46BC-8873-1403C710D254}"/>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97" name="直線コネクタ 196">
                <a:extLst>
                  <a:ext uri="{FF2B5EF4-FFF2-40B4-BE49-F238E27FC236}">
                    <a16:creationId xmlns:a16="http://schemas.microsoft.com/office/drawing/2014/main" id="{B873F066-44A7-4CD9-B861-128EB84E9DD4}"/>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98" name="グループ化 197">
                <a:extLst>
                  <a:ext uri="{FF2B5EF4-FFF2-40B4-BE49-F238E27FC236}">
                    <a16:creationId xmlns:a16="http://schemas.microsoft.com/office/drawing/2014/main" id="{0BACA2FA-51D1-4B45-8933-91D391EE63FA}"/>
                  </a:ext>
                </a:extLst>
              </p:cNvPr>
              <p:cNvGrpSpPr/>
              <p:nvPr/>
            </p:nvGrpSpPr>
            <p:grpSpPr>
              <a:xfrm>
                <a:off x="6912026" y="2348988"/>
                <a:ext cx="326325" cy="117556"/>
                <a:chOff x="2531592" y="5357236"/>
                <a:chExt cx="326325" cy="117556"/>
              </a:xfrm>
            </p:grpSpPr>
            <p:cxnSp>
              <p:nvCxnSpPr>
                <p:cNvPr id="201" name="直線コネクタ 200">
                  <a:extLst>
                    <a:ext uri="{FF2B5EF4-FFF2-40B4-BE49-F238E27FC236}">
                      <a16:creationId xmlns:a16="http://schemas.microsoft.com/office/drawing/2014/main" id="{8E1F3462-DA2D-4BD4-A3EB-E84168FA5FBF}"/>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2" name="直線コネクタ 201">
                  <a:extLst>
                    <a:ext uri="{FF2B5EF4-FFF2-40B4-BE49-F238E27FC236}">
                      <a16:creationId xmlns:a16="http://schemas.microsoft.com/office/drawing/2014/main" id="{7B70AF7B-6998-4E09-9862-A1AB217EBC85}"/>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B9BC80FE-C1EC-4F6D-90C7-9161D9E2B6CE}"/>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99" name="直線コネクタ 198">
                <a:extLst>
                  <a:ext uri="{FF2B5EF4-FFF2-40B4-BE49-F238E27FC236}">
                    <a16:creationId xmlns:a16="http://schemas.microsoft.com/office/drawing/2014/main" id="{DC80B686-1888-4B6A-AFEE-B4A7DC7AA8BA}"/>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00" name="直線コネクタ 199">
                <a:extLst>
                  <a:ext uri="{FF2B5EF4-FFF2-40B4-BE49-F238E27FC236}">
                    <a16:creationId xmlns:a16="http://schemas.microsoft.com/office/drawing/2014/main" id="{E400D98A-4885-422F-B970-AF06C3C469F8}"/>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210" name="グループ化 209">
              <a:extLst>
                <a:ext uri="{FF2B5EF4-FFF2-40B4-BE49-F238E27FC236}">
                  <a16:creationId xmlns:a16="http://schemas.microsoft.com/office/drawing/2014/main" id="{1694CD2C-2BD3-469A-929A-ACAE9DEFF4F4}"/>
                </a:ext>
              </a:extLst>
            </p:cNvPr>
            <p:cNvGrpSpPr/>
            <p:nvPr/>
          </p:nvGrpSpPr>
          <p:grpSpPr>
            <a:xfrm>
              <a:off x="5652012" y="3609002"/>
              <a:ext cx="1800020" cy="1800020"/>
              <a:chOff x="5652012" y="728970"/>
              <a:chExt cx="1800020" cy="1800020"/>
            </a:xfrm>
          </p:grpSpPr>
          <p:grpSp>
            <p:nvGrpSpPr>
              <p:cNvPr id="211" name="グループ化 210">
                <a:extLst>
                  <a:ext uri="{FF2B5EF4-FFF2-40B4-BE49-F238E27FC236}">
                    <a16:creationId xmlns:a16="http://schemas.microsoft.com/office/drawing/2014/main" id="{EF063828-012A-445B-BF14-75950650B38C}"/>
                  </a:ext>
                </a:extLst>
              </p:cNvPr>
              <p:cNvGrpSpPr/>
              <p:nvPr/>
            </p:nvGrpSpPr>
            <p:grpSpPr>
              <a:xfrm>
                <a:off x="6372020" y="1448978"/>
                <a:ext cx="360004" cy="360004"/>
                <a:chOff x="4932004" y="2708992"/>
                <a:chExt cx="360004" cy="360004"/>
              </a:xfrm>
            </p:grpSpPr>
            <p:cxnSp>
              <p:nvCxnSpPr>
                <p:cNvPr id="226" name="直線コネクタ 225">
                  <a:extLst>
                    <a:ext uri="{FF2B5EF4-FFF2-40B4-BE49-F238E27FC236}">
                      <a16:creationId xmlns:a16="http://schemas.microsoft.com/office/drawing/2014/main" id="{B69B0D71-5C15-412D-8D52-23D443DB6D15}"/>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7" name="直線コネクタ 226">
                  <a:extLst>
                    <a:ext uri="{FF2B5EF4-FFF2-40B4-BE49-F238E27FC236}">
                      <a16:creationId xmlns:a16="http://schemas.microsoft.com/office/drawing/2014/main" id="{DABADECF-A517-49C3-877F-7DE94755AB91}"/>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8" name="直線コネクタ 227">
                  <a:extLst>
                    <a:ext uri="{FF2B5EF4-FFF2-40B4-BE49-F238E27FC236}">
                      <a16:creationId xmlns:a16="http://schemas.microsoft.com/office/drawing/2014/main" id="{0B114486-01B7-448B-8728-4434D4AB1501}"/>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9" name="直線コネクタ 228">
                  <a:extLst>
                    <a:ext uri="{FF2B5EF4-FFF2-40B4-BE49-F238E27FC236}">
                      <a16:creationId xmlns:a16="http://schemas.microsoft.com/office/drawing/2014/main" id="{8C619C50-0201-43BF-87E1-D166C6EBB5E2}"/>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2" name="直線コネクタ 211">
                <a:extLst>
                  <a:ext uri="{FF2B5EF4-FFF2-40B4-BE49-F238E27FC236}">
                    <a16:creationId xmlns:a16="http://schemas.microsoft.com/office/drawing/2014/main" id="{15672763-42E0-4C2C-AEE8-58C12AB35972}"/>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3" name="直線コネクタ 212">
                <a:extLst>
                  <a:ext uri="{FF2B5EF4-FFF2-40B4-BE49-F238E27FC236}">
                    <a16:creationId xmlns:a16="http://schemas.microsoft.com/office/drawing/2014/main" id="{CEA99A9B-21D9-41B5-86A2-9AC00313D276}"/>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14" name="直線コネクタ 213">
                <a:extLst>
                  <a:ext uri="{FF2B5EF4-FFF2-40B4-BE49-F238E27FC236}">
                    <a16:creationId xmlns:a16="http://schemas.microsoft.com/office/drawing/2014/main" id="{C6157632-FE25-4D61-8791-406A7021A0ED}"/>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15" name="グループ化 214">
                <a:extLst>
                  <a:ext uri="{FF2B5EF4-FFF2-40B4-BE49-F238E27FC236}">
                    <a16:creationId xmlns:a16="http://schemas.microsoft.com/office/drawing/2014/main" id="{FDCCFBE8-3A14-4EE7-ABAD-7E4C96818E33}"/>
                  </a:ext>
                </a:extLst>
              </p:cNvPr>
              <p:cNvGrpSpPr/>
              <p:nvPr/>
            </p:nvGrpSpPr>
            <p:grpSpPr>
              <a:xfrm>
                <a:off x="6912026" y="1988984"/>
                <a:ext cx="360004" cy="90003"/>
                <a:chOff x="7272030" y="3789004"/>
                <a:chExt cx="360004" cy="90003"/>
              </a:xfrm>
            </p:grpSpPr>
            <p:cxnSp>
              <p:nvCxnSpPr>
                <p:cNvPr id="224" name="直線コネクタ 223">
                  <a:extLst>
                    <a:ext uri="{FF2B5EF4-FFF2-40B4-BE49-F238E27FC236}">
                      <a16:creationId xmlns:a16="http://schemas.microsoft.com/office/drawing/2014/main" id="{8A0433E9-F951-4DF7-BBCF-C0B447C75B17}"/>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5" name="直線コネクタ 224">
                  <a:extLst>
                    <a:ext uri="{FF2B5EF4-FFF2-40B4-BE49-F238E27FC236}">
                      <a16:creationId xmlns:a16="http://schemas.microsoft.com/office/drawing/2014/main" id="{B2178B64-5225-4E4A-B6E2-5F6EA314C5F5}"/>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6" name="直線コネクタ 215">
                <a:extLst>
                  <a:ext uri="{FF2B5EF4-FFF2-40B4-BE49-F238E27FC236}">
                    <a16:creationId xmlns:a16="http://schemas.microsoft.com/office/drawing/2014/main" id="{CA7A7151-4714-40C7-B53E-FBA39A954B67}"/>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17" name="直線コネクタ 216">
                <a:extLst>
                  <a:ext uri="{FF2B5EF4-FFF2-40B4-BE49-F238E27FC236}">
                    <a16:creationId xmlns:a16="http://schemas.microsoft.com/office/drawing/2014/main" id="{22596E69-6625-473F-9E22-CA95A4194B2B}"/>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18" name="グループ化 217">
                <a:extLst>
                  <a:ext uri="{FF2B5EF4-FFF2-40B4-BE49-F238E27FC236}">
                    <a16:creationId xmlns:a16="http://schemas.microsoft.com/office/drawing/2014/main" id="{05272CA7-68AB-46C8-86D9-E7E3020F778C}"/>
                  </a:ext>
                </a:extLst>
              </p:cNvPr>
              <p:cNvGrpSpPr/>
              <p:nvPr/>
            </p:nvGrpSpPr>
            <p:grpSpPr>
              <a:xfrm>
                <a:off x="6912026" y="2348988"/>
                <a:ext cx="326325" cy="117556"/>
                <a:chOff x="2531592" y="5357236"/>
                <a:chExt cx="326325" cy="117556"/>
              </a:xfrm>
            </p:grpSpPr>
            <p:cxnSp>
              <p:nvCxnSpPr>
                <p:cNvPr id="221" name="直線コネクタ 220">
                  <a:extLst>
                    <a:ext uri="{FF2B5EF4-FFF2-40B4-BE49-F238E27FC236}">
                      <a16:creationId xmlns:a16="http://schemas.microsoft.com/office/drawing/2014/main" id="{3715A177-274F-495F-9658-FE2CBB4DCA47}"/>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2" name="直線コネクタ 221">
                  <a:extLst>
                    <a:ext uri="{FF2B5EF4-FFF2-40B4-BE49-F238E27FC236}">
                      <a16:creationId xmlns:a16="http://schemas.microsoft.com/office/drawing/2014/main" id="{260419D1-213F-4694-8E03-D58ECC23BA59}"/>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23" name="直線コネクタ 222">
                  <a:extLst>
                    <a:ext uri="{FF2B5EF4-FFF2-40B4-BE49-F238E27FC236}">
                      <a16:creationId xmlns:a16="http://schemas.microsoft.com/office/drawing/2014/main" id="{F085D748-4374-4922-8B7A-87A1C62753DF}"/>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9" name="直線コネクタ 218">
                <a:extLst>
                  <a:ext uri="{FF2B5EF4-FFF2-40B4-BE49-F238E27FC236}">
                    <a16:creationId xmlns:a16="http://schemas.microsoft.com/office/drawing/2014/main" id="{E70FA2B8-6D02-4CF9-95BE-6DDF394D3025}"/>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0" name="直線コネクタ 219">
                <a:extLst>
                  <a:ext uri="{FF2B5EF4-FFF2-40B4-BE49-F238E27FC236}">
                    <a16:creationId xmlns:a16="http://schemas.microsoft.com/office/drawing/2014/main" id="{3CB0462E-4E40-4B74-9A6F-240152D943CE}"/>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nvGrpSpPr>
            <p:cNvPr id="230" name="グループ化 229">
              <a:extLst>
                <a:ext uri="{FF2B5EF4-FFF2-40B4-BE49-F238E27FC236}">
                  <a16:creationId xmlns:a16="http://schemas.microsoft.com/office/drawing/2014/main" id="{E76D82AF-3266-4D55-9E2E-34167A265854}"/>
                </a:ext>
              </a:extLst>
            </p:cNvPr>
            <p:cNvGrpSpPr/>
            <p:nvPr/>
          </p:nvGrpSpPr>
          <p:grpSpPr>
            <a:xfrm>
              <a:off x="5652012" y="5063114"/>
              <a:ext cx="1800020" cy="1800020"/>
              <a:chOff x="5652012" y="728970"/>
              <a:chExt cx="1800020" cy="1800020"/>
            </a:xfrm>
          </p:grpSpPr>
          <p:grpSp>
            <p:nvGrpSpPr>
              <p:cNvPr id="231" name="グループ化 230">
                <a:extLst>
                  <a:ext uri="{FF2B5EF4-FFF2-40B4-BE49-F238E27FC236}">
                    <a16:creationId xmlns:a16="http://schemas.microsoft.com/office/drawing/2014/main" id="{018AA9BC-21FF-4F0D-B379-C2CC38AA37E8}"/>
                  </a:ext>
                </a:extLst>
              </p:cNvPr>
              <p:cNvGrpSpPr/>
              <p:nvPr/>
            </p:nvGrpSpPr>
            <p:grpSpPr>
              <a:xfrm>
                <a:off x="6372020" y="1448978"/>
                <a:ext cx="360004" cy="360004"/>
                <a:chOff x="4932004" y="2708992"/>
                <a:chExt cx="360004" cy="360004"/>
              </a:xfrm>
            </p:grpSpPr>
            <p:cxnSp>
              <p:nvCxnSpPr>
                <p:cNvPr id="246" name="直線コネクタ 245">
                  <a:extLst>
                    <a:ext uri="{FF2B5EF4-FFF2-40B4-BE49-F238E27FC236}">
                      <a16:creationId xmlns:a16="http://schemas.microsoft.com/office/drawing/2014/main" id="{B46EB9B0-75B4-43E1-AF3E-E50DB8578EF8}"/>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7" name="直線コネクタ 246">
                  <a:extLst>
                    <a:ext uri="{FF2B5EF4-FFF2-40B4-BE49-F238E27FC236}">
                      <a16:creationId xmlns:a16="http://schemas.microsoft.com/office/drawing/2014/main" id="{FBAF95BC-58AC-4D57-918D-E069C1677220}"/>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8" name="直線コネクタ 247">
                  <a:extLst>
                    <a:ext uri="{FF2B5EF4-FFF2-40B4-BE49-F238E27FC236}">
                      <a16:creationId xmlns:a16="http://schemas.microsoft.com/office/drawing/2014/main" id="{3C98EAF3-7139-4D4F-98A4-8928F70D75A7}"/>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B067E30D-EF14-44DB-9B4D-BC16C9672192}"/>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2" name="直線コネクタ 231">
                <a:extLst>
                  <a:ext uri="{FF2B5EF4-FFF2-40B4-BE49-F238E27FC236}">
                    <a16:creationId xmlns:a16="http://schemas.microsoft.com/office/drawing/2014/main" id="{338C324E-4D45-43C6-A033-2AAE71708941}"/>
                  </a:ext>
                </a:extLst>
              </p:cNvPr>
              <p:cNvCxnSpPr>
                <a:cxnSpLocks/>
              </p:cNvCxnSpPr>
              <p:nvPr/>
            </p:nvCxnSpPr>
            <p:spPr>
              <a:xfrm>
                <a:off x="6012016" y="180898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33" name="直線コネクタ 232">
                <a:extLst>
                  <a:ext uri="{FF2B5EF4-FFF2-40B4-BE49-F238E27FC236}">
                    <a16:creationId xmlns:a16="http://schemas.microsoft.com/office/drawing/2014/main" id="{1D13A683-8044-4DE8-BD47-7AAE930DA8A1}"/>
                  </a:ext>
                </a:extLst>
              </p:cNvPr>
              <p:cNvCxnSpPr>
                <a:cxnSpLocks/>
              </p:cNvCxnSpPr>
              <p:nvPr/>
            </p:nvCxnSpPr>
            <p:spPr>
              <a:xfrm>
                <a:off x="6732024" y="1808982"/>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234" name="直線コネクタ 233">
                <a:extLst>
                  <a:ext uri="{FF2B5EF4-FFF2-40B4-BE49-F238E27FC236}">
                    <a16:creationId xmlns:a16="http://schemas.microsoft.com/office/drawing/2014/main" id="{9F7B2E69-7628-4264-96F1-1A9B39841339}"/>
                  </a:ext>
                </a:extLst>
              </p:cNvPr>
              <p:cNvCxnSpPr>
                <a:cxnSpLocks/>
              </p:cNvCxnSpPr>
              <p:nvPr/>
            </p:nvCxnSpPr>
            <p:spPr>
              <a:xfrm flipV="1">
                <a:off x="6012016" y="72897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35" name="グループ化 234">
                <a:extLst>
                  <a:ext uri="{FF2B5EF4-FFF2-40B4-BE49-F238E27FC236}">
                    <a16:creationId xmlns:a16="http://schemas.microsoft.com/office/drawing/2014/main" id="{AE41BA6F-0997-4464-B8C4-638F498543A1}"/>
                  </a:ext>
                </a:extLst>
              </p:cNvPr>
              <p:cNvGrpSpPr/>
              <p:nvPr/>
            </p:nvGrpSpPr>
            <p:grpSpPr>
              <a:xfrm>
                <a:off x="6912026" y="1988984"/>
                <a:ext cx="360004" cy="90003"/>
                <a:chOff x="7272030" y="3789004"/>
                <a:chExt cx="360004" cy="90003"/>
              </a:xfrm>
            </p:grpSpPr>
            <p:cxnSp>
              <p:nvCxnSpPr>
                <p:cNvPr id="244" name="直線コネクタ 243">
                  <a:extLst>
                    <a:ext uri="{FF2B5EF4-FFF2-40B4-BE49-F238E27FC236}">
                      <a16:creationId xmlns:a16="http://schemas.microsoft.com/office/drawing/2014/main" id="{38F09523-41D6-49E7-82EB-031AFCC68EF9}"/>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5" name="直線コネクタ 244">
                  <a:extLst>
                    <a:ext uri="{FF2B5EF4-FFF2-40B4-BE49-F238E27FC236}">
                      <a16:creationId xmlns:a16="http://schemas.microsoft.com/office/drawing/2014/main" id="{8841C5CD-982F-46D7-BA78-230879DBE950}"/>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6" name="直線コネクタ 235">
                <a:extLst>
                  <a:ext uri="{FF2B5EF4-FFF2-40B4-BE49-F238E27FC236}">
                    <a16:creationId xmlns:a16="http://schemas.microsoft.com/office/drawing/2014/main" id="{C1CBBE77-4F15-46EE-B9EE-ED0DEE982B9A}"/>
                  </a:ext>
                </a:extLst>
              </p:cNvPr>
              <p:cNvCxnSpPr>
                <a:cxnSpLocks/>
              </p:cNvCxnSpPr>
              <p:nvPr/>
            </p:nvCxnSpPr>
            <p:spPr>
              <a:xfrm flipV="1">
                <a:off x="7092028" y="180898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37" name="直線コネクタ 236">
                <a:extLst>
                  <a:ext uri="{FF2B5EF4-FFF2-40B4-BE49-F238E27FC236}">
                    <a16:creationId xmlns:a16="http://schemas.microsoft.com/office/drawing/2014/main" id="{9488BB4D-B7D9-4721-93A7-A119454944FA}"/>
                  </a:ext>
                </a:extLst>
              </p:cNvPr>
              <p:cNvCxnSpPr>
                <a:cxnSpLocks/>
              </p:cNvCxnSpPr>
              <p:nvPr/>
            </p:nvCxnSpPr>
            <p:spPr>
              <a:xfrm flipV="1">
                <a:off x="7092028" y="2078985"/>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238" name="グループ化 237">
                <a:extLst>
                  <a:ext uri="{FF2B5EF4-FFF2-40B4-BE49-F238E27FC236}">
                    <a16:creationId xmlns:a16="http://schemas.microsoft.com/office/drawing/2014/main" id="{4F2033AC-CF6E-4853-8F99-C123E929A718}"/>
                  </a:ext>
                </a:extLst>
              </p:cNvPr>
              <p:cNvGrpSpPr/>
              <p:nvPr/>
            </p:nvGrpSpPr>
            <p:grpSpPr>
              <a:xfrm>
                <a:off x="6912026" y="2348988"/>
                <a:ext cx="326325" cy="117556"/>
                <a:chOff x="2531592" y="5357236"/>
                <a:chExt cx="326325" cy="117556"/>
              </a:xfrm>
            </p:grpSpPr>
            <p:cxnSp>
              <p:nvCxnSpPr>
                <p:cNvPr id="241" name="直線コネクタ 240">
                  <a:extLst>
                    <a:ext uri="{FF2B5EF4-FFF2-40B4-BE49-F238E27FC236}">
                      <a16:creationId xmlns:a16="http://schemas.microsoft.com/office/drawing/2014/main" id="{106DAF75-B8E0-421A-A349-EE0F152DDEE2}"/>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2" name="直線コネクタ 241">
                  <a:extLst>
                    <a:ext uri="{FF2B5EF4-FFF2-40B4-BE49-F238E27FC236}">
                      <a16:creationId xmlns:a16="http://schemas.microsoft.com/office/drawing/2014/main" id="{576950CF-1A76-4A8D-893D-116E73952588}"/>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43" name="直線コネクタ 242">
                  <a:extLst>
                    <a:ext uri="{FF2B5EF4-FFF2-40B4-BE49-F238E27FC236}">
                      <a16:creationId xmlns:a16="http://schemas.microsoft.com/office/drawing/2014/main" id="{C6497466-A738-4AEC-AF93-3A3CFB8717EA}"/>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39" name="直線コネクタ 238">
                <a:extLst>
                  <a:ext uri="{FF2B5EF4-FFF2-40B4-BE49-F238E27FC236}">
                    <a16:creationId xmlns:a16="http://schemas.microsoft.com/office/drawing/2014/main" id="{EF104839-E095-4B9F-9EA7-27A73046FE12}"/>
                  </a:ext>
                </a:extLst>
              </p:cNvPr>
              <p:cNvCxnSpPr>
                <a:cxnSpLocks/>
              </p:cNvCxnSpPr>
              <p:nvPr/>
            </p:nvCxnSpPr>
            <p:spPr>
              <a:xfrm flipV="1">
                <a:off x="6552022" y="108897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40" name="直線コネクタ 239">
                <a:extLst>
                  <a:ext uri="{FF2B5EF4-FFF2-40B4-BE49-F238E27FC236}">
                    <a16:creationId xmlns:a16="http://schemas.microsoft.com/office/drawing/2014/main" id="{066E6656-229E-4706-ADBB-77C7195B1F9F}"/>
                  </a:ext>
                </a:extLst>
              </p:cNvPr>
              <p:cNvCxnSpPr>
                <a:cxnSpLocks/>
              </p:cNvCxnSpPr>
              <p:nvPr/>
            </p:nvCxnSpPr>
            <p:spPr>
              <a:xfrm>
                <a:off x="5652012" y="108897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694484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3C5CF5-7992-1953-E955-B0BB3F55DC71}"/>
              </a:ext>
            </a:extLst>
          </p:cNvPr>
          <p:cNvSpPr>
            <a:spLocks noGrp="1"/>
          </p:cNvSpPr>
          <p:nvPr>
            <p:ph type="title"/>
          </p:nvPr>
        </p:nvSpPr>
        <p:spPr/>
        <p:txBody>
          <a:bodyPr/>
          <a:lstStyle/>
          <a:p>
            <a:r>
              <a:rPr kumimoji="1" lang="ja-JP" altLang="en-US" dirty="0"/>
              <a:t>メモリのまとめ</a:t>
            </a:r>
            <a:br>
              <a:rPr kumimoji="1" lang="en-US" altLang="ja-JP" dirty="0"/>
            </a:br>
            <a:r>
              <a:rPr lang="ja-JP" altLang="en-US" sz="1800" dirty="0"/>
              <a:t>（おおよそこのぐらいの事がフワッと分かってれば良い</a:t>
            </a:r>
            <a:endParaRPr kumimoji="1" lang="en-US" dirty="0"/>
          </a:p>
        </p:txBody>
      </p:sp>
      <p:sp>
        <p:nvSpPr>
          <p:cNvPr id="3" name="コンテンツ プレースホルダー 2">
            <a:extLst>
              <a:ext uri="{FF2B5EF4-FFF2-40B4-BE49-F238E27FC236}">
                <a16:creationId xmlns:a16="http://schemas.microsoft.com/office/drawing/2014/main" id="{026F1C1F-E257-CF08-BE96-7AD280BF7F98}"/>
              </a:ext>
            </a:extLst>
          </p:cNvPr>
          <p:cNvSpPr>
            <a:spLocks noGrp="1"/>
          </p:cNvSpPr>
          <p:nvPr>
            <p:ph type="body" sz="quarter" idx="10"/>
          </p:nvPr>
        </p:nvSpPr>
        <p:spPr>
          <a:xfrm>
            <a:off x="2135956" y="1088974"/>
            <a:ext cx="8190091" cy="5220058"/>
          </a:xfrm>
        </p:spPr>
        <p:txBody>
          <a:bodyPr/>
          <a:lstStyle/>
          <a:p>
            <a:r>
              <a:rPr lang="ja-JP" altLang="en-US" sz="1800" dirty="0"/>
              <a:t>メモリ（</a:t>
            </a:r>
            <a:r>
              <a:rPr lang="en-US" altLang="ja-JP" sz="1800" dirty="0"/>
              <a:t>RAM: Random Access Memory</a:t>
            </a:r>
            <a:r>
              <a:rPr lang="ja-JP" altLang="en-US" sz="1800" dirty="0"/>
              <a:t>）</a:t>
            </a:r>
            <a:endParaRPr lang="en-US" altLang="ja-JP" sz="1800" dirty="0"/>
          </a:p>
          <a:p>
            <a:pPr lvl="1"/>
            <a:r>
              <a:rPr lang="ja-JP" altLang="en-US" sz="1800" dirty="0"/>
              <a:t>複数のデータを記憶し，配列のように位置を指定して読み書きする</a:t>
            </a:r>
            <a:endParaRPr lang="en-US" altLang="ja-JP" sz="1800" dirty="0"/>
          </a:p>
          <a:p>
            <a:pPr lvl="1"/>
            <a:r>
              <a:rPr lang="ja-JP" altLang="en-US" sz="1800" dirty="0"/>
              <a:t>なるべく少ない回路で なるべく多くの記憶を行うために存在</a:t>
            </a:r>
            <a:endParaRPr lang="en-US" altLang="ja-JP" sz="1800" dirty="0"/>
          </a:p>
          <a:p>
            <a:r>
              <a:rPr lang="ja-JP" altLang="en-US" sz="1800" dirty="0"/>
              <a:t>構造とアクセス時間：</a:t>
            </a:r>
            <a:endParaRPr lang="en-US" altLang="ja-JP" sz="1800" dirty="0"/>
          </a:p>
          <a:p>
            <a:pPr lvl="1"/>
            <a:r>
              <a:rPr lang="en-US" altLang="ja-JP" sz="1800" dirty="0"/>
              <a:t>1bit </a:t>
            </a:r>
            <a:r>
              <a:rPr lang="ja-JP" altLang="en-US" sz="1800" dirty="0"/>
              <a:t>の記憶を行うセルを格子状にならべた構造を持つ</a:t>
            </a:r>
            <a:endParaRPr lang="en-US" altLang="ja-JP" sz="1800" dirty="0"/>
          </a:p>
          <a:p>
            <a:pPr lvl="1"/>
            <a:r>
              <a:rPr lang="ja-JP" altLang="en-US" sz="1800" dirty="0"/>
              <a:t>読み書きにかかる時間：</a:t>
            </a:r>
            <a:endParaRPr lang="en-US" altLang="ja-JP" sz="1800" dirty="0"/>
          </a:p>
          <a:p>
            <a:pPr lvl="2"/>
            <a:r>
              <a:rPr lang="ja-JP" altLang="en-US" sz="1800" dirty="0"/>
              <a:t>記憶容量の平方根程度に比例</a:t>
            </a:r>
            <a:endParaRPr lang="en-US" altLang="ja-JP" sz="1800" dirty="0"/>
          </a:p>
          <a:p>
            <a:pPr lvl="2"/>
            <a:r>
              <a:rPr lang="ja-JP" altLang="en-US" sz="1800" dirty="0"/>
              <a:t>信号線の長さに比例するため，速度と容量にはトレードオフがある</a:t>
            </a:r>
            <a:endParaRPr lang="en-US" sz="1800" dirty="0"/>
          </a:p>
        </p:txBody>
      </p:sp>
    </p:spTree>
    <p:extLst>
      <p:ext uri="{BB962C8B-B14F-4D97-AF65-F5344CB8AC3E}">
        <p14:creationId xmlns:p14="http://schemas.microsoft.com/office/powerpoint/2010/main" val="42679080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3C5CF5-7992-1953-E955-B0BB3F55DC71}"/>
              </a:ext>
            </a:extLst>
          </p:cNvPr>
          <p:cNvSpPr>
            <a:spLocks noGrp="1"/>
          </p:cNvSpPr>
          <p:nvPr>
            <p:ph type="title"/>
          </p:nvPr>
        </p:nvSpPr>
        <p:spPr/>
        <p:txBody>
          <a:bodyPr/>
          <a:lstStyle/>
          <a:p>
            <a:r>
              <a:rPr kumimoji="1" lang="ja-JP" altLang="en-US" dirty="0"/>
              <a:t>メモリのまとめ</a:t>
            </a:r>
            <a:br>
              <a:rPr kumimoji="1" lang="en-US" altLang="ja-JP" dirty="0"/>
            </a:br>
            <a:r>
              <a:rPr lang="ja-JP" altLang="en-US" sz="1800" dirty="0"/>
              <a:t>（おおよそこのぐらいの事がフワッと分かってれば良い</a:t>
            </a:r>
            <a:endParaRPr kumimoji="1" lang="en-US" dirty="0"/>
          </a:p>
        </p:txBody>
      </p:sp>
      <p:sp>
        <p:nvSpPr>
          <p:cNvPr id="3" name="コンテンツ プレースホルダー 2">
            <a:extLst>
              <a:ext uri="{FF2B5EF4-FFF2-40B4-BE49-F238E27FC236}">
                <a16:creationId xmlns:a16="http://schemas.microsoft.com/office/drawing/2014/main" id="{026F1C1F-E257-CF08-BE96-7AD280BF7F98}"/>
              </a:ext>
            </a:extLst>
          </p:cNvPr>
          <p:cNvSpPr>
            <a:spLocks noGrp="1"/>
          </p:cNvSpPr>
          <p:nvPr>
            <p:ph type="body" sz="quarter" idx="10"/>
          </p:nvPr>
        </p:nvSpPr>
        <p:spPr/>
        <p:txBody>
          <a:bodyPr/>
          <a:lstStyle/>
          <a:p>
            <a:r>
              <a:rPr lang="en-US" altLang="ja-JP" sz="1800" dirty="0"/>
              <a:t>SRAM</a:t>
            </a:r>
            <a:r>
              <a:rPr lang="ja-JP" altLang="en-US" sz="1800" dirty="0"/>
              <a:t>：</a:t>
            </a:r>
            <a:endParaRPr lang="en-US" altLang="ja-JP" sz="1800" dirty="0"/>
          </a:p>
          <a:p>
            <a:pPr lvl="1"/>
            <a:r>
              <a:rPr lang="ja-JP" altLang="en-US" sz="1800" dirty="0"/>
              <a:t>セルにインバータのループを使ったもの</a:t>
            </a:r>
            <a:endParaRPr lang="en-US" altLang="ja-JP" sz="1800" dirty="0"/>
          </a:p>
          <a:p>
            <a:pPr lvl="1"/>
            <a:r>
              <a:rPr lang="ja-JP" altLang="en-US" sz="1800" dirty="0"/>
              <a:t>高速だが低密度</a:t>
            </a:r>
            <a:endParaRPr lang="en-US" altLang="ja-JP" sz="1800" dirty="0"/>
          </a:p>
          <a:p>
            <a:pPr lvl="1"/>
            <a:r>
              <a:rPr lang="ja-JP" altLang="en-US" sz="1800" dirty="0"/>
              <a:t>電源を入れている限りは記憶が消えない</a:t>
            </a:r>
            <a:endParaRPr lang="en-US" altLang="ja-JP" sz="1800" dirty="0"/>
          </a:p>
          <a:p>
            <a:r>
              <a:rPr lang="en-US" sz="1800" dirty="0"/>
              <a:t>DRAM</a:t>
            </a:r>
          </a:p>
          <a:p>
            <a:pPr lvl="1"/>
            <a:r>
              <a:rPr lang="ja-JP" altLang="en-US" sz="1800" dirty="0"/>
              <a:t>セルにコンデンサを使ったもの</a:t>
            </a:r>
            <a:endParaRPr lang="en-US" altLang="ja-JP" sz="1800" dirty="0"/>
          </a:p>
          <a:p>
            <a:pPr lvl="1"/>
            <a:r>
              <a:rPr lang="ja-JP" altLang="en-US" sz="1800" dirty="0"/>
              <a:t>低速だが高密度</a:t>
            </a:r>
            <a:endParaRPr lang="en-US" altLang="ja-JP" sz="1800" dirty="0"/>
          </a:p>
          <a:p>
            <a:pPr lvl="1"/>
            <a:r>
              <a:rPr lang="ja-JP" altLang="en-US" sz="1800" dirty="0"/>
              <a:t>電源を入れていても記憶が消えていく</a:t>
            </a:r>
            <a:endParaRPr lang="en-US" altLang="ja-JP" sz="1800" dirty="0"/>
          </a:p>
          <a:p>
            <a:pPr lvl="2"/>
            <a:r>
              <a:rPr lang="ja-JP" altLang="en-US" sz="1800" dirty="0"/>
              <a:t>リフレッシュが必要</a:t>
            </a:r>
            <a:endParaRPr lang="en-US" sz="1800" dirty="0"/>
          </a:p>
        </p:txBody>
      </p:sp>
    </p:spTree>
    <p:extLst>
      <p:ext uri="{BB962C8B-B14F-4D97-AF65-F5344CB8AC3E}">
        <p14:creationId xmlns:p14="http://schemas.microsoft.com/office/powerpoint/2010/main" val="2649984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58</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キャッシュ</a:t>
            </a:r>
            <a:endParaRPr kumimoji="1" lang="en-US" dirty="0"/>
          </a:p>
        </p:txBody>
      </p:sp>
    </p:spTree>
    <p:extLst>
      <p:ext uri="{BB962C8B-B14F-4D97-AF65-F5344CB8AC3E}">
        <p14:creationId xmlns:p14="http://schemas.microsoft.com/office/powerpoint/2010/main" val="22311847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キャッシュとは？</a:t>
            </a:r>
          </a:p>
        </p:txBody>
      </p:sp>
      <p:sp>
        <p:nvSpPr>
          <p:cNvPr id="5" name="テキスト プレースホルダー 4"/>
          <p:cNvSpPr>
            <a:spLocks noGrp="1"/>
          </p:cNvSpPr>
          <p:nvPr>
            <p:ph type="body" sz="quarter" idx="10"/>
          </p:nvPr>
        </p:nvSpPr>
        <p:spPr/>
        <p:txBody>
          <a:bodyPr/>
          <a:lstStyle/>
          <a:p>
            <a:r>
              <a:rPr kumimoji="1" lang="ja-JP" altLang="en-US" dirty="0"/>
              <a:t>「キャッシュ」って，ブラウザのあれ？</a:t>
            </a:r>
            <a:endParaRPr kumimoji="1" lang="en-US" altLang="ja-JP" dirty="0"/>
          </a:p>
          <a:p>
            <a:r>
              <a:rPr kumimoji="1" lang="ja-JP" altLang="en-US" dirty="0"/>
              <a:t>ちょっと違うけど，原理は同じもの</a:t>
            </a: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59</a:t>
            </a:fld>
            <a:endParaRPr kumimoji="1" lang="ja-JP" altLang="en-US"/>
          </a:p>
        </p:txBody>
      </p:sp>
    </p:spTree>
    <p:extLst>
      <p:ext uri="{BB962C8B-B14F-4D97-AF65-F5344CB8AC3E}">
        <p14:creationId xmlns:p14="http://schemas.microsoft.com/office/powerpoint/2010/main" val="18224698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原理は同じ</a:t>
            </a:r>
          </a:p>
        </p:txBody>
      </p:sp>
      <p:sp>
        <p:nvSpPr>
          <p:cNvPr id="3" name="テキスト プレースホルダー 2"/>
          <p:cNvSpPr>
            <a:spLocks noGrp="1"/>
          </p:cNvSpPr>
          <p:nvPr>
            <p:ph type="body" sz="quarter" idx="10"/>
          </p:nvPr>
        </p:nvSpPr>
        <p:spPr/>
        <p:txBody>
          <a:bodyPr/>
          <a:lstStyle/>
          <a:p>
            <a:r>
              <a:rPr kumimoji="1" lang="ja-JP" altLang="en-US" dirty="0"/>
              <a:t>ブラウザのキャッシュ</a:t>
            </a:r>
            <a:endParaRPr kumimoji="1" lang="en-US" altLang="ja-JP" dirty="0"/>
          </a:p>
          <a:p>
            <a:pPr lvl="1"/>
            <a:r>
              <a:rPr kumimoji="1" lang="en-US" altLang="ja-JP" dirty="0"/>
              <a:t>WEB </a:t>
            </a:r>
            <a:r>
              <a:rPr kumimoji="1" lang="ja-JP" altLang="en-US" dirty="0"/>
              <a:t>サーバーからページを取ってくるのは遅い</a:t>
            </a:r>
            <a:endParaRPr kumimoji="1" lang="en-US" altLang="ja-JP" dirty="0"/>
          </a:p>
          <a:p>
            <a:pPr lvl="1"/>
            <a:r>
              <a:rPr kumimoji="1" lang="en-US" altLang="ja-JP" dirty="0"/>
              <a:t>1</a:t>
            </a:r>
            <a:r>
              <a:rPr kumimoji="1" lang="ja-JP" altLang="en-US" dirty="0"/>
              <a:t>回見たページを </a:t>
            </a:r>
            <a:r>
              <a:rPr kumimoji="1" lang="en-US" altLang="ja-JP" dirty="0"/>
              <a:t>PC </a:t>
            </a:r>
            <a:r>
              <a:rPr kumimoji="1" lang="ja-JP" altLang="en-US" dirty="0"/>
              <a:t>やスマホの「キャッシュ」に置いておく</a:t>
            </a:r>
            <a:endParaRPr kumimoji="1" lang="en-US" altLang="ja-JP" dirty="0"/>
          </a:p>
          <a:p>
            <a:pPr lvl="1"/>
            <a:r>
              <a:rPr kumimoji="1" lang="en-US" altLang="ja-JP" dirty="0"/>
              <a:t>2</a:t>
            </a:r>
            <a:r>
              <a:rPr kumimoji="1" lang="ja-JP" altLang="en-US" dirty="0"/>
              <a:t>回目からは表示が速い</a:t>
            </a:r>
            <a:endParaRPr kumimoji="1" lang="en-US" altLang="ja-JP" dirty="0"/>
          </a:p>
          <a:p>
            <a:r>
              <a:rPr kumimoji="1" lang="ja-JP" altLang="en-US" dirty="0"/>
              <a:t>メモリのキャッシュ</a:t>
            </a:r>
            <a:endParaRPr kumimoji="1" lang="en-US" altLang="ja-JP" dirty="0"/>
          </a:p>
          <a:p>
            <a:pPr lvl="1"/>
            <a:r>
              <a:rPr kumimoji="1" lang="ja-JP" altLang="en-US" dirty="0"/>
              <a:t>メイン・メモリからデータを取ってくるのは遅い</a:t>
            </a:r>
            <a:endParaRPr kumimoji="1" lang="en-US" altLang="ja-JP" dirty="0"/>
          </a:p>
          <a:p>
            <a:pPr lvl="1"/>
            <a:r>
              <a:rPr kumimoji="1" lang="en-US" altLang="ja-JP" dirty="0"/>
              <a:t>1</a:t>
            </a:r>
            <a:r>
              <a:rPr kumimoji="1" lang="ja-JP" altLang="en-US" dirty="0"/>
              <a:t>回読んだデータを </a:t>
            </a:r>
            <a:r>
              <a:rPr kumimoji="1" lang="en-US" altLang="ja-JP" dirty="0"/>
              <a:t>CPU </a:t>
            </a:r>
            <a:r>
              <a:rPr kumimoji="1" lang="ja-JP" altLang="en-US" dirty="0"/>
              <a:t>の「キャッシュ」に置いておく</a:t>
            </a:r>
            <a:endParaRPr kumimoji="1" lang="en-US" altLang="ja-JP" dirty="0"/>
          </a:p>
          <a:p>
            <a:pPr lvl="1"/>
            <a:r>
              <a:rPr kumimoji="1" lang="en-US" altLang="ja-JP" dirty="0"/>
              <a:t>2</a:t>
            </a:r>
            <a:r>
              <a:rPr kumimoji="1" lang="ja-JP" altLang="en-US" dirty="0"/>
              <a:t>回目からは読み込みが速い</a:t>
            </a:r>
          </a:p>
        </p:txBody>
      </p:sp>
    </p:spTree>
    <p:extLst>
      <p:ext uri="{BB962C8B-B14F-4D97-AF65-F5344CB8AC3E}">
        <p14:creationId xmlns:p14="http://schemas.microsoft.com/office/powerpoint/2010/main" val="6769342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性能へ大きく影響するし，影響範囲も広い</a:t>
            </a:r>
          </a:p>
        </p:txBody>
      </p:sp>
      <p:sp>
        <p:nvSpPr>
          <p:cNvPr id="3" name="テキスト プレースホルダー 2"/>
          <p:cNvSpPr>
            <a:spLocks noGrp="1"/>
          </p:cNvSpPr>
          <p:nvPr>
            <p:ph type="body" sz="quarter" idx="10"/>
          </p:nvPr>
        </p:nvSpPr>
        <p:spPr/>
        <p:txBody>
          <a:bodyPr/>
          <a:lstStyle/>
          <a:p>
            <a:r>
              <a:rPr kumimoji="1" lang="ja-JP" altLang="en-US" dirty="0"/>
              <a:t>キャッシュは現代のコンピュータにおいてとても重要</a:t>
            </a:r>
            <a:endParaRPr kumimoji="1" lang="en-US" altLang="ja-JP" dirty="0"/>
          </a:p>
          <a:p>
            <a:pPr lvl="1"/>
            <a:r>
              <a:rPr kumimoji="1" lang="ja-JP" altLang="en-US" dirty="0"/>
              <a:t>ほとんどのプログラムで性能に大きな影響を与えている</a:t>
            </a:r>
            <a:endParaRPr kumimoji="1" lang="en-US" altLang="ja-JP" dirty="0"/>
          </a:p>
        </p:txBody>
      </p:sp>
    </p:spTree>
    <p:extLst>
      <p:ext uri="{BB962C8B-B14F-4D97-AF65-F5344CB8AC3E}">
        <p14:creationId xmlns:p14="http://schemas.microsoft.com/office/powerpoint/2010/main" val="2024476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例：</a:t>
            </a:r>
            <a:r>
              <a:rPr kumimoji="1" lang="ja-JP" altLang="en-US" dirty="0"/>
              <a:t>行列積の実装と性能</a:t>
            </a:r>
          </a:p>
        </p:txBody>
      </p:sp>
      <p:sp>
        <p:nvSpPr>
          <p:cNvPr id="4" name="テキスト プレースホルダー 3"/>
          <p:cNvSpPr>
            <a:spLocks noGrp="1"/>
          </p:cNvSpPr>
          <p:nvPr>
            <p:ph type="body" sz="quarter" idx="10"/>
          </p:nvPr>
        </p:nvSpPr>
        <p:spPr>
          <a:xfrm>
            <a:off x="1865953" y="998973"/>
            <a:ext cx="8100090" cy="4860054"/>
          </a:xfrm>
        </p:spPr>
        <p:txBody>
          <a:bodyPr anchor="t"/>
          <a:lstStyle/>
          <a:p>
            <a:r>
              <a:rPr kumimoji="1" lang="ja-JP" altLang="en-US" dirty="0"/>
              <a:t>三重ループとして</a:t>
            </a:r>
            <a:r>
              <a:rPr lang="ja-JP" altLang="en-US" dirty="0"/>
              <a:t>実装</a:t>
            </a:r>
            <a:r>
              <a:rPr kumimoji="1" lang="ja-JP" altLang="en-US" dirty="0"/>
              <a:t>できる</a:t>
            </a:r>
            <a:endParaRPr kumimoji="1" lang="en-US" altLang="ja-JP" dirty="0"/>
          </a:p>
          <a:p>
            <a:pPr lvl="1"/>
            <a:r>
              <a:rPr kumimoji="1" lang="ja-JP" altLang="en-US" dirty="0"/>
              <a:t>ループの順番は任意に入れ替え可能</a:t>
            </a:r>
            <a:br>
              <a:rPr kumimoji="1" lang="en-US" altLang="ja-JP" dirty="0"/>
            </a:br>
            <a:endParaRPr kumimoji="1" lang="en-US" altLang="ja-JP" dirty="0"/>
          </a:p>
          <a:p>
            <a:endParaRPr kumimoji="1" lang="en-US" altLang="ja-JP" dirty="0"/>
          </a:p>
          <a:p>
            <a:endParaRPr lang="en-US" altLang="ja-JP" dirty="0"/>
          </a:p>
          <a:p>
            <a:r>
              <a:rPr kumimoji="1" lang="ja-JP" altLang="en-US" dirty="0"/>
              <a:t>単にループの順番を入れ替えるだけで</a:t>
            </a:r>
            <a:r>
              <a:rPr lang="ja-JP" altLang="en-US" dirty="0"/>
              <a:t>処理時間</a:t>
            </a:r>
            <a:r>
              <a:rPr kumimoji="1" lang="ja-JP" altLang="en-US" dirty="0"/>
              <a:t>が大きく変化する</a:t>
            </a:r>
            <a:endParaRPr kumimoji="1" lang="en-US" altLang="ja-JP" dirty="0"/>
          </a:p>
          <a:p>
            <a:pPr lvl="1"/>
            <a:r>
              <a:rPr lang="ja-JP" altLang="en-US" dirty="0"/>
              <a:t>外側から </a:t>
            </a:r>
            <a:r>
              <a:rPr lang="en-US" altLang="ja-JP" dirty="0"/>
              <a:t>k j </a:t>
            </a:r>
            <a:r>
              <a:rPr lang="en-US" altLang="ja-JP" dirty="0" err="1"/>
              <a:t>i</a:t>
            </a:r>
            <a:r>
              <a:rPr lang="en-US" altLang="ja-JP" dirty="0"/>
              <a:t> </a:t>
            </a:r>
            <a:r>
              <a:rPr lang="ja-JP" altLang="en-US" dirty="0"/>
              <a:t>の順 → </a:t>
            </a:r>
            <a:r>
              <a:rPr lang="en-US" altLang="ja-JP" dirty="0"/>
              <a:t>178</a:t>
            </a:r>
            <a:r>
              <a:rPr lang="ja-JP" altLang="en-US" dirty="0"/>
              <a:t>秒</a:t>
            </a:r>
            <a:endParaRPr lang="en-US" altLang="ja-JP" dirty="0"/>
          </a:p>
          <a:p>
            <a:pPr lvl="1"/>
            <a:r>
              <a:rPr lang="ja-JP" altLang="en-US" dirty="0"/>
              <a:t>外側から </a:t>
            </a:r>
            <a:r>
              <a:rPr lang="en-US" altLang="ja-JP" dirty="0"/>
              <a:t>k </a:t>
            </a:r>
            <a:r>
              <a:rPr lang="en-US" altLang="ja-JP" dirty="0" err="1"/>
              <a:t>i</a:t>
            </a:r>
            <a:r>
              <a:rPr lang="en-US" altLang="ja-JP" dirty="0"/>
              <a:t> j </a:t>
            </a:r>
            <a:r>
              <a:rPr lang="ja-JP" altLang="en-US" dirty="0"/>
              <a:t>の順 → </a:t>
            </a:r>
            <a:r>
              <a:rPr lang="en-US" altLang="ja-JP" dirty="0"/>
              <a:t>20</a:t>
            </a:r>
            <a:r>
              <a:rPr lang="ja-JP" altLang="en-US" dirty="0"/>
              <a:t>秒</a:t>
            </a:r>
            <a:endParaRPr lang="en-US" altLang="ja-JP" dirty="0"/>
          </a:p>
          <a:p>
            <a:pPr lvl="1"/>
            <a:r>
              <a:rPr lang="ja-JP" altLang="en-US" dirty="0"/>
              <a:t>外側から </a:t>
            </a:r>
            <a:r>
              <a:rPr lang="en-US" altLang="ja-JP" dirty="0"/>
              <a:t>j </a:t>
            </a:r>
            <a:r>
              <a:rPr lang="en-US" altLang="ja-JP" dirty="0" err="1"/>
              <a:t>i</a:t>
            </a:r>
            <a:r>
              <a:rPr lang="en-US" altLang="ja-JP" dirty="0"/>
              <a:t> k </a:t>
            </a:r>
            <a:r>
              <a:rPr lang="ja-JP" altLang="en-US" dirty="0"/>
              <a:t>の順 → </a:t>
            </a:r>
            <a:r>
              <a:rPr lang="en-US" altLang="ja-JP" dirty="0"/>
              <a:t>1100</a:t>
            </a:r>
            <a:r>
              <a:rPr lang="ja-JP" altLang="en-US" dirty="0"/>
              <a:t>秒</a:t>
            </a:r>
            <a:endParaRPr lang="en-US" altLang="ja-JP" dirty="0">
              <a:solidFill>
                <a:schemeClr val="accent5"/>
              </a:solidFill>
            </a:endParaRPr>
          </a:p>
          <a:p>
            <a:r>
              <a:rPr kumimoji="1" lang="ja-JP" altLang="en-US" dirty="0">
                <a:solidFill>
                  <a:schemeClr val="accent5"/>
                </a:solidFill>
              </a:rPr>
              <a:t>この変化は，キャッシュを有効に働かせているかどうかに由来</a:t>
            </a:r>
            <a:endParaRPr kumimoji="1" lang="en-US" altLang="ja-JP" dirty="0">
              <a:solidFill>
                <a:schemeClr val="accent5"/>
              </a:solidFill>
            </a:endParaRPr>
          </a:p>
          <a:p>
            <a:pPr lvl="1"/>
            <a:r>
              <a:rPr lang="ja-JP" altLang="en-US" dirty="0"/>
              <a:t>計算量や全体としてのメモリ使用量は全く同じなのに</a:t>
            </a:r>
            <a:endParaRPr kumimoji="1" lang="ja-JP" altLang="en-US" dirty="0">
              <a:solidFill>
                <a:schemeClr val="accent5"/>
              </a:solidFill>
            </a:endParaRPr>
          </a:p>
        </p:txBody>
      </p:sp>
      <p:sp>
        <p:nvSpPr>
          <p:cNvPr id="5" name="テキスト プレースホルダー 2"/>
          <p:cNvSpPr txBox="1">
            <a:spLocks/>
          </p:cNvSpPr>
          <p:nvPr/>
        </p:nvSpPr>
        <p:spPr bwMode="auto">
          <a:xfrm>
            <a:off x="1865953" y="1808983"/>
            <a:ext cx="8100090" cy="18900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None/>
            </a:pPr>
            <a:r>
              <a:rPr lang="en-US" altLang="ja-JP" kern="0" dirty="0">
                <a:solidFill>
                  <a:schemeClr val="accent5"/>
                </a:solidFill>
                <a:latin typeface="Consolas" panose="020B0609020204030204" pitchFamily="49" charset="0"/>
              </a:rPr>
              <a:t>for</a:t>
            </a:r>
            <a:r>
              <a:rPr lang="en-US" altLang="ja-JP" kern="0" dirty="0">
                <a:latin typeface="Consolas" panose="020B0609020204030204" pitchFamily="49" charset="0"/>
              </a:rPr>
              <a:t> (int k = 0; k &lt; SIZE; k++)</a:t>
            </a:r>
          </a:p>
          <a:p>
            <a:pPr marL="360000" lvl="1" indent="0">
              <a:buNone/>
            </a:pPr>
            <a:r>
              <a:rPr lang="en-US" altLang="ja-JP" kern="0" dirty="0">
                <a:latin typeface="Consolas" panose="020B0609020204030204" pitchFamily="49" charset="0"/>
              </a:rPr>
              <a:t>    </a:t>
            </a:r>
            <a:r>
              <a:rPr lang="en-US" altLang="ja-JP" kern="0" dirty="0">
                <a:solidFill>
                  <a:schemeClr val="accent5"/>
                </a:solidFill>
                <a:latin typeface="Consolas" panose="020B0609020204030204" pitchFamily="49" charset="0"/>
              </a:rPr>
              <a:t>for</a:t>
            </a:r>
            <a:r>
              <a:rPr lang="en-US" altLang="ja-JP" kern="0" dirty="0">
                <a:latin typeface="Consolas" panose="020B0609020204030204" pitchFamily="49" charset="0"/>
              </a:rPr>
              <a:t> (int j = 0; j &lt; SIZE; </a:t>
            </a:r>
            <a:r>
              <a:rPr lang="en-US" altLang="ja-JP" kern="0" dirty="0" err="1">
                <a:latin typeface="Consolas" panose="020B0609020204030204" pitchFamily="49" charset="0"/>
              </a:rPr>
              <a:t>j++</a:t>
            </a:r>
            <a:r>
              <a:rPr lang="en-US" altLang="ja-JP" kern="0" dirty="0">
                <a:latin typeface="Consolas" panose="020B0609020204030204" pitchFamily="49" charset="0"/>
              </a:rPr>
              <a:t>)</a:t>
            </a:r>
          </a:p>
          <a:p>
            <a:pPr marL="360000" lvl="1" indent="0">
              <a:buNone/>
            </a:pPr>
            <a:r>
              <a:rPr lang="en-US" altLang="ja-JP" kern="0" dirty="0">
                <a:latin typeface="Consolas" panose="020B0609020204030204" pitchFamily="49" charset="0"/>
              </a:rPr>
              <a:t>        </a:t>
            </a:r>
            <a:r>
              <a:rPr lang="en-US" altLang="ja-JP" kern="0" dirty="0">
                <a:solidFill>
                  <a:schemeClr val="accent5"/>
                </a:solidFill>
                <a:latin typeface="Consolas" panose="020B0609020204030204" pitchFamily="49" charset="0"/>
              </a:rPr>
              <a:t>for</a:t>
            </a:r>
            <a:r>
              <a:rPr lang="en-US" altLang="ja-JP" kern="0" dirty="0">
                <a:latin typeface="Consolas" panose="020B0609020204030204" pitchFamily="49" charset="0"/>
              </a:rPr>
              <a:t> (int </a:t>
            </a:r>
            <a:r>
              <a:rPr lang="en-US" altLang="ja-JP" kern="0" dirty="0" err="1">
                <a:latin typeface="Consolas" panose="020B0609020204030204" pitchFamily="49" charset="0"/>
              </a:rPr>
              <a:t>i</a:t>
            </a:r>
            <a:r>
              <a:rPr lang="en-US" altLang="ja-JP" kern="0" dirty="0">
                <a:latin typeface="Consolas" panose="020B0609020204030204" pitchFamily="49" charset="0"/>
              </a:rPr>
              <a:t> = 0; </a:t>
            </a:r>
            <a:r>
              <a:rPr lang="en-US" altLang="ja-JP" kern="0" dirty="0" err="1">
                <a:latin typeface="Consolas" panose="020B0609020204030204" pitchFamily="49" charset="0"/>
              </a:rPr>
              <a:t>i</a:t>
            </a:r>
            <a:r>
              <a:rPr lang="en-US" altLang="ja-JP" kern="0" dirty="0">
                <a:latin typeface="Consolas" panose="020B0609020204030204" pitchFamily="49" charset="0"/>
              </a:rPr>
              <a:t> &lt; SIZE; </a:t>
            </a:r>
            <a:r>
              <a:rPr lang="en-US" altLang="ja-JP" kern="0" dirty="0" err="1">
                <a:latin typeface="Consolas" panose="020B0609020204030204" pitchFamily="49" charset="0"/>
              </a:rPr>
              <a:t>i</a:t>
            </a:r>
            <a:r>
              <a:rPr lang="en-US" altLang="ja-JP" kern="0" dirty="0">
                <a:latin typeface="Consolas" panose="020B0609020204030204" pitchFamily="49" charset="0"/>
              </a:rPr>
              <a:t>++)</a:t>
            </a:r>
          </a:p>
          <a:p>
            <a:pPr marL="360000" lvl="1" indent="0">
              <a:buNone/>
            </a:pPr>
            <a:r>
              <a:rPr lang="en-US" altLang="ja-JP" kern="0" dirty="0">
                <a:latin typeface="Consolas" panose="020B0609020204030204" pitchFamily="49" charset="0"/>
              </a:rPr>
              <a:t>            a[k][j] += b[k][</a:t>
            </a:r>
            <a:r>
              <a:rPr lang="en-US" altLang="ja-JP" kern="0" dirty="0" err="1">
                <a:latin typeface="Consolas" panose="020B0609020204030204" pitchFamily="49" charset="0"/>
              </a:rPr>
              <a:t>i</a:t>
            </a:r>
            <a:r>
              <a:rPr lang="en-US" altLang="ja-JP" kern="0" dirty="0">
                <a:latin typeface="Consolas" panose="020B0609020204030204" pitchFamily="49" charset="0"/>
              </a:rPr>
              <a:t>] * c[</a:t>
            </a:r>
            <a:r>
              <a:rPr lang="en-US" altLang="ja-JP" kern="0" dirty="0" err="1">
                <a:latin typeface="Consolas" panose="020B0609020204030204" pitchFamily="49" charset="0"/>
              </a:rPr>
              <a:t>i</a:t>
            </a:r>
            <a:r>
              <a:rPr lang="en-US" altLang="ja-JP" kern="0" dirty="0">
                <a:latin typeface="Consolas" panose="020B0609020204030204" pitchFamily="49" charset="0"/>
              </a:rPr>
              <a:t>][j];</a:t>
            </a:r>
          </a:p>
        </p:txBody>
      </p:sp>
    </p:spTree>
    <p:extLst>
      <p:ext uri="{BB962C8B-B14F-4D97-AF65-F5344CB8AC3E}">
        <p14:creationId xmlns:p14="http://schemas.microsoft.com/office/powerpoint/2010/main" val="2118570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b="1" dirty="0"/>
              <a:t>キャッシュの基本的な考え方</a:t>
            </a:r>
            <a:endParaRPr lang="en-US" altLang="ja-JP" b="1" dirty="0"/>
          </a:p>
          <a:p>
            <a:pPr marL="817200" lvl="1" indent="-457200">
              <a:buFont typeface="+mj-lt"/>
              <a:buAutoNum type="arabicPeriod"/>
            </a:pPr>
            <a:r>
              <a:rPr lang="ja-JP" altLang="en-US" dirty="0"/>
              <a:t>基本的な原理と構造</a:t>
            </a:r>
            <a:endParaRPr lang="en-US" altLang="ja-JP" dirty="0"/>
          </a:p>
          <a:p>
            <a:pPr marL="817200" lvl="1" indent="-457200">
              <a:buFont typeface="+mj-lt"/>
              <a:buAutoNum type="arabicPeriod"/>
            </a:pPr>
            <a:r>
              <a:rPr lang="ja-JP" altLang="en-US" dirty="0"/>
              <a:t>容量の性能への影響</a:t>
            </a:r>
            <a:endParaRPr lang="en-US" altLang="ja-JP" dirty="0"/>
          </a:p>
        </p:txBody>
      </p:sp>
    </p:spTree>
    <p:extLst>
      <p:ext uri="{BB962C8B-B14F-4D97-AF65-F5344CB8AC3E}">
        <p14:creationId xmlns:p14="http://schemas.microsoft.com/office/powerpoint/2010/main" val="250193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記憶階層</a:t>
            </a:r>
          </a:p>
        </p:txBody>
      </p:sp>
      <p:sp>
        <p:nvSpPr>
          <p:cNvPr id="3" name="テキスト プレースホルダー 2"/>
          <p:cNvSpPr>
            <a:spLocks noGrp="1"/>
          </p:cNvSpPr>
          <p:nvPr>
            <p:ph type="body" sz="quarter" idx="10"/>
          </p:nvPr>
        </p:nvSpPr>
        <p:spPr>
          <a:xfrm>
            <a:off x="1955954" y="1088975"/>
            <a:ext cx="8100090" cy="1620018"/>
          </a:xfrm>
        </p:spPr>
        <p:txBody>
          <a:bodyPr/>
          <a:lstStyle/>
          <a:p>
            <a:r>
              <a:rPr kumimoji="1" lang="ja-JP" altLang="en-US" dirty="0"/>
              <a:t>以下を階層的に組み合わせる</a:t>
            </a:r>
            <a:endParaRPr kumimoji="1" lang="en-US" altLang="ja-JP" dirty="0"/>
          </a:p>
          <a:p>
            <a:pPr lvl="1"/>
            <a:r>
              <a:rPr lang="ja-JP" altLang="en-US" dirty="0"/>
              <a:t>小さいけど速いメモリ：</a:t>
            </a:r>
            <a:r>
              <a:rPr lang="ja-JP" altLang="en-US" dirty="0">
                <a:solidFill>
                  <a:schemeClr val="accent2"/>
                </a:solidFill>
              </a:rPr>
              <a:t>キャッシュ</a:t>
            </a:r>
            <a:endParaRPr lang="en-US" altLang="ja-JP" dirty="0">
              <a:solidFill>
                <a:schemeClr val="accent2"/>
              </a:solidFill>
            </a:endParaRPr>
          </a:p>
          <a:p>
            <a:pPr lvl="1"/>
            <a:r>
              <a:rPr kumimoji="1" lang="ja-JP" altLang="en-US" dirty="0"/>
              <a:t>大きいけど遅いメモリ：メイン・メモリ</a:t>
            </a:r>
            <a:endParaRPr kumimoji="1" lang="en-US" altLang="ja-JP" dirty="0"/>
          </a:p>
          <a:p>
            <a:r>
              <a:rPr kumimoji="1" lang="ja-JP" altLang="en-US" dirty="0"/>
              <a:t>背景：大きくて速いメモリは作れない</a:t>
            </a:r>
          </a:p>
        </p:txBody>
      </p:sp>
      <p:sp>
        <p:nvSpPr>
          <p:cNvPr id="4" name="下矢印 3"/>
          <p:cNvSpPr/>
          <p:nvPr/>
        </p:nvSpPr>
        <p:spPr bwMode="auto">
          <a:xfrm>
            <a:off x="4115978" y="3969006"/>
            <a:ext cx="360004" cy="1440016"/>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下矢印 4"/>
          <p:cNvSpPr/>
          <p:nvPr/>
        </p:nvSpPr>
        <p:spPr bwMode="auto">
          <a:xfrm>
            <a:off x="7356014" y="3969007"/>
            <a:ext cx="360004" cy="45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下矢印 5"/>
          <p:cNvSpPr/>
          <p:nvPr/>
        </p:nvSpPr>
        <p:spPr bwMode="auto">
          <a:xfrm>
            <a:off x="7356014" y="4959018"/>
            <a:ext cx="360004" cy="450005"/>
          </a:xfrm>
          <a:prstGeom prst="downArrow">
            <a:avLst/>
          </a:prstGeom>
          <a:ln>
            <a:solidFill>
              <a:schemeClr val="tx1">
                <a:lumMod val="75000"/>
                <a:lumOff val="25000"/>
              </a:schemeClr>
            </a:solidFill>
            <a:prstDash val="sysDash"/>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p:cNvSpPr/>
          <p:nvPr/>
        </p:nvSpPr>
        <p:spPr bwMode="auto">
          <a:xfrm>
            <a:off x="3215968" y="5409023"/>
            <a:ext cx="2160024"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メイン・メモリ</a:t>
            </a:r>
          </a:p>
        </p:txBody>
      </p:sp>
      <p:sp>
        <p:nvSpPr>
          <p:cNvPr id="8" name="角丸四角形 7"/>
          <p:cNvSpPr/>
          <p:nvPr/>
        </p:nvSpPr>
        <p:spPr bwMode="auto">
          <a:xfrm>
            <a:off x="3755974"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CPU</a:t>
            </a:r>
            <a:endParaRPr lang="ja-JP" altLang="en-US" sz="1600" dirty="0">
              <a:solidFill>
                <a:schemeClr val="tx1">
                  <a:lumMod val="75000"/>
                  <a:lumOff val="25000"/>
                </a:schemeClr>
              </a:solidFill>
              <a:latin typeface="+mn-ea"/>
            </a:endParaRPr>
          </a:p>
        </p:txBody>
      </p:sp>
      <p:sp>
        <p:nvSpPr>
          <p:cNvPr id="9" name="正方形/長方形 8"/>
          <p:cNvSpPr/>
          <p:nvPr/>
        </p:nvSpPr>
        <p:spPr bwMode="auto">
          <a:xfrm>
            <a:off x="6456004" y="5409023"/>
            <a:ext cx="2160024" cy="925725"/>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メイン・メモリ</a:t>
            </a:r>
          </a:p>
        </p:txBody>
      </p:sp>
      <p:sp>
        <p:nvSpPr>
          <p:cNvPr id="10" name="角丸四角形 9"/>
          <p:cNvSpPr/>
          <p:nvPr/>
        </p:nvSpPr>
        <p:spPr bwMode="auto">
          <a:xfrm>
            <a:off x="6996010"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CPU</a:t>
            </a:r>
            <a:endParaRPr lang="ja-JP" altLang="en-US" sz="1600" dirty="0">
              <a:solidFill>
                <a:schemeClr val="tx1">
                  <a:lumMod val="75000"/>
                  <a:lumOff val="25000"/>
                </a:schemeClr>
              </a:solidFill>
              <a:latin typeface="+mn-ea"/>
            </a:endParaRPr>
          </a:p>
        </p:txBody>
      </p:sp>
      <p:sp>
        <p:nvSpPr>
          <p:cNvPr id="11" name="正方形/長方形 10"/>
          <p:cNvSpPr/>
          <p:nvPr/>
        </p:nvSpPr>
        <p:spPr bwMode="auto">
          <a:xfrm>
            <a:off x="6996010" y="4419011"/>
            <a:ext cx="1080012" cy="540007"/>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accent6"/>
                </a:solidFill>
                <a:latin typeface="+mn-ea"/>
              </a:rPr>
              <a:t>キャッシュ</a:t>
            </a:r>
          </a:p>
        </p:txBody>
      </p:sp>
      <p:sp>
        <p:nvSpPr>
          <p:cNvPr id="12" name="正方形/長方形 11"/>
          <p:cNvSpPr/>
          <p:nvPr/>
        </p:nvSpPr>
        <p:spPr>
          <a:xfrm>
            <a:off x="4385982" y="4509012"/>
            <a:ext cx="424189" cy="400110"/>
          </a:xfrm>
          <a:prstGeom prst="rect">
            <a:avLst/>
          </a:prstGeom>
        </p:spPr>
        <p:txBody>
          <a:bodyPr wrap="none">
            <a:noAutofit/>
          </a:bodyPr>
          <a:lstStyle/>
          <a:p>
            <a:pPr marL="0" lvl="1"/>
            <a:r>
              <a:rPr lang="ja-JP" altLang="en-US" sz="2000" dirty="0">
                <a:solidFill>
                  <a:schemeClr val="accent5"/>
                </a:solidFill>
              </a:rPr>
              <a:t>長時間</a:t>
            </a:r>
          </a:p>
        </p:txBody>
      </p:sp>
      <p:sp>
        <p:nvSpPr>
          <p:cNvPr id="13" name="正方形/長方形 12"/>
          <p:cNvSpPr/>
          <p:nvPr/>
        </p:nvSpPr>
        <p:spPr>
          <a:xfrm>
            <a:off x="7806020" y="3969006"/>
            <a:ext cx="424189" cy="400110"/>
          </a:xfrm>
          <a:prstGeom prst="rect">
            <a:avLst/>
          </a:prstGeom>
        </p:spPr>
        <p:txBody>
          <a:bodyPr wrap="none">
            <a:noAutofit/>
          </a:bodyPr>
          <a:lstStyle/>
          <a:p>
            <a:pPr marL="0" lvl="1"/>
            <a:r>
              <a:rPr lang="ja-JP" altLang="en-US" sz="2000" dirty="0">
                <a:solidFill>
                  <a:schemeClr val="accent5"/>
                </a:solidFill>
              </a:rPr>
              <a:t>短時間（値があれば）</a:t>
            </a:r>
          </a:p>
        </p:txBody>
      </p:sp>
    </p:spTree>
    <p:extLst>
      <p:ext uri="{BB962C8B-B14F-4D97-AF65-F5344CB8AC3E}">
        <p14:creationId xmlns:p14="http://schemas.microsoft.com/office/powerpoint/2010/main" val="3288176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キャッシュの動作</a:t>
            </a:r>
            <a:endParaRPr kumimoji="1" lang="ja-JP" altLang="en-US" dirty="0"/>
          </a:p>
        </p:txBody>
      </p:sp>
      <p:sp>
        <p:nvSpPr>
          <p:cNvPr id="4" name="テキスト プレースホルダー 3"/>
          <p:cNvSpPr>
            <a:spLocks noGrp="1"/>
          </p:cNvSpPr>
          <p:nvPr>
            <p:ph type="body" sz="quarter" idx="10"/>
          </p:nvPr>
        </p:nvSpPr>
        <p:spPr>
          <a:xfrm>
            <a:off x="1865953" y="908972"/>
            <a:ext cx="8280092" cy="2340026"/>
          </a:xfrm>
        </p:spPr>
        <p:txBody>
          <a:bodyPr/>
          <a:lstStyle/>
          <a:p>
            <a:r>
              <a:rPr kumimoji="1" lang="ja-JP" altLang="en-US" dirty="0"/>
              <a:t>ソフトの性質：</a:t>
            </a:r>
            <a:endParaRPr kumimoji="1" lang="en-US" altLang="ja-JP" dirty="0"/>
          </a:p>
          <a:p>
            <a:pPr lvl="1"/>
            <a:r>
              <a:rPr kumimoji="1" lang="ja-JP" altLang="en-US" dirty="0"/>
              <a:t>一度使用した値は，すぐにまた使う可能性が高い</a:t>
            </a:r>
            <a:endParaRPr kumimoji="1" lang="en-US" altLang="ja-JP" dirty="0"/>
          </a:p>
          <a:p>
            <a:pPr lvl="1"/>
            <a:r>
              <a:rPr kumimoji="1" lang="ja-JP" altLang="en-US" dirty="0"/>
              <a:t>ブラウザのキャッシュと同じ</a:t>
            </a:r>
            <a:endParaRPr kumimoji="1" lang="en-US" altLang="ja-JP" dirty="0"/>
          </a:p>
          <a:p>
            <a:r>
              <a:rPr lang="ja-JP" altLang="en-US" b="1" dirty="0">
                <a:solidFill>
                  <a:schemeClr val="accent5"/>
                </a:solidFill>
              </a:rPr>
              <a:t>一度利用した値を入れておくことで，</a:t>
            </a:r>
            <a:r>
              <a:rPr lang="en-US" altLang="ja-JP" b="1" dirty="0">
                <a:solidFill>
                  <a:schemeClr val="accent5"/>
                </a:solidFill>
              </a:rPr>
              <a:t>2</a:t>
            </a:r>
            <a:r>
              <a:rPr lang="ja-JP" altLang="en-US" b="1" dirty="0">
                <a:solidFill>
                  <a:schemeClr val="accent5"/>
                </a:solidFill>
              </a:rPr>
              <a:t>度目からは高速に</a:t>
            </a:r>
            <a:endParaRPr lang="en-US" altLang="ja-JP" b="1" dirty="0">
              <a:solidFill>
                <a:schemeClr val="accent5"/>
              </a:solidFill>
            </a:endParaRPr>
          </a:p>
        </p:txBody>
      </p:sp>
      <p:sp>
        <p:nvSpPr>
          <p:cNvPr id="23" name="下矢印 22"/>
          <p:cNvSpPr/>
          <p:nvPr/>
        </p:nvSpPr>
        <p:spPr bwMode="auto">
          <a:xfrm>
            <a:off x="4115978" y="3969006"/>
            <a:ext cx="360004" cy="1440016"/>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下矢印 23"/>
          <p:cNvSpPr/>
          <p:nvPr/>
        </p:nvSpPr>
        <p:spPr bwMode="auto">
          <a:xfrm>
            <a:off x="7356014" y="3969007"/>
            <a:ext cx="360004" cy="45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下矢印 24"/>
          <p:cNvSpPr/>
          <p:nvPr/>
        </p:nvSpPr>
        <p:spPr bwMode="auto">
          <a:xfrm>
            <a:off x="7356014" y="4959018"/>
            <a:ext cx="360004" cy="450005"/>
          </a:xfrm>
          <a:prstGeom prst="downArrow">
            <a:avLst/>
          </a:prstGeom>
          <a:ln>
            <a:solidFill>
              <a:schemeClr val="tx1">
                <a:lumMod val="75000"/>
                <a:lumOff val="25000"/>
              </a:schemeClr>
            </a:solidFill>
            <a:prstDash val="sysDash"/>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3215968" y="5409023"/>
            <a:ext cx="2160024"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6" name="角丸四角形 5"/>
          <p:cNvSpPr/>
          <p:nvPr/>
        </p:nvSpPr>
        <p:spPr bwMode="auto">
          <a:xfrm>
            <a:off x="3755974"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CPU</a:t>
            </a:r>
            <a:endParaRPr lang="ja-JP" altLang="en-US" sz="1600" dirty="0">
              <a:solidFill>
                <a:schemeClr val="tx1">
                  <a:lumMod val="75000"/>
                  <a:lumOff val="25000"/>
                </a:schemeClr>
              </a:solidFill>
              <a:latin typeface="+mn-ea"/>
            </a:endParaRPr>
          </a:p>
        </p:txBody>
      </p:sp>
      <p:sp>
        <p:nvSpPr>
          <p:cNvPr id="16" name="正方形/長方形 15"/>
          <p:cNvSpPr/>
          <p:nvPr/>
        </p:nvSpPr>
        <p:spPr bwMode="auto">
          <a:xfrm>
            <a:off x="6456004" y="5409023"/>
            <a:ext cx="2160024" cy="925725"/>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メモリ</a:t>
            </a:r>
          </a:p>
        </p:txBody>
      </p:sp>
      <p:sp>
        <p:nvSpPr>
          <p:cNvPr id="17" name="角丸四角形 16"/>
          <p:cNvSpPr/>
          <p:nvPr/>
        </p:nvSpPr>
        <p:spPr bwMode="auto">
          <a:xfrm>
            <a:off x="6996010"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CPU</a:t>
            </a:r>
            <a:endParaRPr lang="ja-JP" altLang="en-US" sz="1600" dirty="0">
              <a:solidFill>
                <a:schemeClr val="tx1">
                  <a:lumMod val="75000"/>
                  <a:lumOff val="25000"/>
                </a:schemeClr>
              </a:solidFill>
              <a:latin typeface="+mn-ea"/>
            </a:endParaRPr>
          </a:p>
        </p:txBody>
      </p:sp>
      <p:sp>
        <p:nvSpPr>
          <p:cNvPr id="20" name="正方形/長方形 19"/>
          <p:cNvSpPr/>
          <p:nvPr/>
        </p:nvSpPr>
        <p:spPr bwMode="auto">
          <a:xfrm>
            <a:off x="6996010" y="4419011"/>
            <a:ext cx="1080012" cy="540007"/>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accent6"/>
                </a:solidFill>
                <a:latin typeface="+mn-ea"/>
              </a:rPr>
              <a:t>キャッシュ</a:t>
            </a:r>
          </a:p>
        </p:txBody>
      </p:sp>
      <p:sp>
        <p:nvSpPr>
          <p:cNvPr id="26" name="正方形/長方形 25"/>
          <p:cNvSpPr/>
          <p:nvPr/>
        </p:nvSpPr>
        <p:spPr>
          <a:xfrm>
            <a:off x="4385982" y="4509012"/>
            <a:ext cx="424189" cy="400110"/>
          </a:xfrm>
          <a:prstGeom prst="rect">
            <a:avLst/>
          </a:prstGeom>
        </p:spPr>
        <p:txBody>
          <a:bodyPr wrap="none">
            <a:noAutofit/>
          </a:bodyPr>
          <a:lstStyle/>
          <a:p>
            <a:pPr marL="0" lvl="1"/>
            <a:r>
              <a:rPr lang="ja-JP" altLang="en-US" sz="2000" dirty="0">
                <a:solidFill>
                  <a:schemeClr val="accent5"/>
                </a:solidFill>
              </a:rPr>
              <a:t>長時間</a:t>
            </a:r>
          </a:p>
        </p:txBody>
      </p:sp>
      <p:sp>
        <p:nvSpPr>
          <p:cNvPr id="27" name="正方形/長方形 26"/>
          <p:cNvSpPr/>
          <p:nvPr/>
        </p:nvSpPr>
        <p:spPr>
          <a:xfrm>
            <a:off x="7806020" y="3969006"/>
            <a:ext cx="424189" cy="400110"/>
          </a:xfrm>
          <a:prstGeom prst="rect">
            <a:avLst/>
          </a:prstGeom>
        </p:spPr>
        <p:txBody>
          <a:bodyPr wrap="none">
            <a:noAutofit/>
          </a:bodyPr>
          <a:lstStyle/>
          <a:p>
            <a:pPr marL="0" lvl="1"/>
            <a:r>
              <a:rPr lang="ja-JP" altLang="en-US" sz="2000" dirty="0">
                <a:solidFill>
                  <a:schemeClr val="accent5"/>
                </a:solidFill>
              </a:rPr>
              <a:t>短時間（値があれば）</a:t>
            </a:r>
          </a:p>
        </p:txBody>
      </p:sp>
    </p:spTree>
    <p:extLst>
      <p:ext uri="{BB962C8B-B14F-4D97-AF65-F5344CB8AC3E}">
        <p14:creationId xmlns:p14="http://schemas.microsoft.com/office/powerpoint/2010/main" val="2112988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時間的局所性</a:t>
            </a:r>
          </a:p>
        </p:txBody>
      </p:sp>
      <p:sp>
        <p:nvSpPr>
          <p:cNvPr id="3" name="テキスト プレースホルダー 2"/>
          <p:cNvSpPr>
            <a:spLocks noGrp="1"/>
          </p:cNvSpPr>
          <p:nvPr>
            <p:ph type="body" sz="quarter" idx="10"/>
          </p:nvPr>
        </p:nvSpPr>
        <p:spPr>
          <a:xfrm>
            <a:off x="1865954" y="1088975"/>
            <a:ext cx="8550095" cy="5219751"/>
          </a:xfrm>
        </p:spPr>
        <p:txBody>
          <a:bodyPr/>
          <a:lstStyle/>
          <a:p>
            <a:r>
              <a:rPr lang="ja-JP" altLang="en-US" dirty="0"/>
              <a:t>「一度使用した値は，すぐにまた使う可能性が高い」という性質</a:t>
            </a:r>
            <a:endParaRPr lang="en-US" altLang="ja-JP" dirty="0"/>
          </a:p>
          <a:p>
            <a:r>
              <a:rPr lang="ja-JP" altLang="en-US" dirty="0"/>
              <a:t>なぜか？</a:t>
            </a:r>
            <a:endParaRPr lang="en-US" altLang="ja-JP" dirty="0"/>
          </a:p>
          <a:p>
            <a:pPr lvl="1"/>
            <a:r>
              <a:rPr lang="ja-JP" altLang="en-US" dirty="0"/>
              <a:t>人間は，「普通は」関連のある処理同士を近くに書く</a:t>
            </a:r>
            <a:endParaRPr lang="en-US" altLang="ja-JP" dirty="0"/>
          </a:p>
          <a:p>
            <a:pPr lvl="1"/>
            <a:r>
              <a:rPr lang="ja-JP" altLang="en-US" dirty="0"/>
              <a:t>プログラムの各行ごとに全く関係無い処理を混ぜたりは</a:t>
            </a:r>
            <a:br>
              <a:rPr lang="en-US" altLang="ja-JP" dirty="0"/>
            </a:br>
            <a:r>
              <a:rPr lang="ja-JP" altLang="en-US" dirty="0"/>
              <a:t>「普通は」しない</a:t>
            </a:r>
            <a:endParaRPr lang="en-US" altLang="ja-JP" dirty="0"/>
          </a:p>
          <a:p>
            <a:r>
              <a:rPr kumimoji="1" lang="ja-JP" altLang="en-US" dirty="0"/>
              <a:t>関連する処理は，当然同じデータを使う可能性が高い</a:t>
            </a:r>
            <a:endParaRPr kumimoji="1" lang="en-US" altLang="ja-JP" dirty="0"/>
          </a:p>
          <a:p>
            <a:pPr lvl="1"/>
            <a:r>
              <a:rPr kumimoji="1" lang="ja-JP" altLang="en-US" dirty="0"/>
              <a:t>同じ入力データの使いまわし</a:t>
            </a:r>
            <a:endParaRPr kumimoji="1" lang="en-US" altLang="ja-JP" dirty="0"/>
          </a:p>
          <a:p>
            <a:pPr lvl="1"/>
            <a:r>
              <a:rPr kumimoji="1" lang="ja-JP" altLang="en-US" dirty="0"/>
              <a:t>前の行の結果を次の行の入力で使う</a:t>
            </a:r>
            <a:endParaRPr kumimoji="1" lang="en-US" altLang="ja-JP" dirty="0"/>
          </a:p>
          <a:p>
            <a:pPr lvl="2"/>
            <a:r>
              <a:rPr lang="en-US" altLang="ja-JP" dirty="0"/>
              <a:t>for </a:t>
            </a:r>
            <a:r>
              <a:rPr lang="ja-JP" altLang="en-US" dirty="0"/>
              <a:t>ループなどはこれらの典型</a:t>
            </a:r>
            <a:endParaRPr lang="en-US" altLang="ja-JP" dirty="0"/>
          </a:p>
        </p:txBody>
      </p:sp>
    </p:spTree>
    <p:extLst>
      <p:ext uri="{BB962C8B-B14F-4D97-AF65-F5344CB8AC3E}">
        <p14:creationId xmlns:p14="http://schemas.microsoft.com/office/powerpoint/2010/main" val="4417430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実際には多層の構造になっている</a:t>
            </a:r>
            <a:endParaRPr lang="en-US" altLang="ja-JP" dirty="0"/>
          </a:p>
        </p:txBody>
      </p:sp>
      <p:sp>
        <p:nvSpPr>
          <p:cNvPr id="3" name="テキスト プレースホルダー 2"/>
          <p:cNvSpPr>
            <a:spLocks noGrp="1"/>
          </p:cNvSpPr>
          <p:nvPr>
            <p:ph type="body" sz="quarter" idx="10"/>
          </p:nvPr>
        </p:nvSpPr>
        <p:spPr>
          <a:xfrm>
            <a:off x="1775953" y="998973"/>
            <a:ext cx="8370093" cy="3600040"/>
          </a:xfrm>
        </p:spPr>
        <p:txBody>
          <a:bodyPr/>
          <a:lstStyle/>
          <a:p>
            <a:r>
              <a:rPr lang="ja-JP" altLang="en-US" dirty="0"/>
              <a:t>中間の速さと大きさのキャッシュが</a:t>
            </a:r>
            <a:br>
              <a:rPr lang="en-US" altLang="ja-JP" dirty="0"/>
            </a:br>
            <a:r>
              <a:rPr lang="ja-JP" altLang="en-US" dirty="0"/>
              <a:t>複数組み合わされている</a:t>
            </a:r>
            <a:endParaRPr lang="en-US" altLang="ja-JP" dirty="0"/>
          </a:p>
          <a:p>
            <a:pPr lvl="1"/>
            <a:r>
              <a:rPr lang="en-US" altLang="ja-JP" dirty="0"/>
              <a:t>PC </a:t>
            </a:r>
            <a:r>
              <a:rPr lang="ja-JP" altLang="en-US" dirty="0"/>
              <a:t>に使われている </a:t>
            </a:r>
            <a:r>
              <a:rPr lang="en-US" altLang="ja-JP" dirty="0"/>
              <a:t>CPU </a:t>
            </a:r>
            <a:r>
              <a:rPr lang="ja-JP" altLang="en-US" dirty="0"/>
              <a:t>だと </a:t>
            </a:r>
            <a:r>
              <a:rPr lang="en-US" altLang="ja-JP" dirty="0"/>
              <a:t>L1 </a:t>
            </a:r>
            <a:r>
              <a:rPr lang="ja-JP" altLang="en-US" dirty="0"/>
              <a:t>～ </a:t>
            </a:r>
            <a:r>
              <a:rPr lang="en-US" altLang="ja-JP" dirty="0"/>
              <a:t>L3 </a:t>
            </a:r>
            <a:r>
              <a:rPr lang="ja-JP" altLang="en-US" dirty="0"/>
              <a:t>まで</a:t>
            </a:r>
            <a:br>
              <a:rPr lang="en-US" altLang="ja-JP" dirty="0"/>
            </a:br>
            <a:r>
              <a:rPr lang="ja-JP" altLang="en-US" dirty="0"/>
              <a:t>あるのが一般的</a:t>
            </a:r>
            <a:endParaRPr lang="en-US" altLang="ja-JP" dirty="0"/>
          </a:p>
          <a:p>
            <a:pPr lvl="1"/>
            <a:r>
              <a:rPr lang="en-US" altLang="ja-JP" dirty="0"/>
              <a:t>L </a:t>
            </a:r>
            <a:r>
              <a:rPr lang="ja-JP" altLang="en-US" dirty="0"/>
              <a:t>は</a:t>
            </a:r>
            <a:r>
              <a:rPr lang="en-US" altLang="ja-JP" dirty="0"/>
              <a:t> Level </a:t>
            </a:r>
            <a:r>
              <a:rPr lang="ja-JP" altLang="en-US" dirty="0"/>
              <a:t>の略で，</a:t>
            </a:r>
            <a:br>
              <a:rPr lang="en-US" altLang="ja-JP" dirty="0"/>
            </a:br>
            <a:r>
              <a:rPr lang="ja-JP" altLang="en-US" dirty="0"/>
              <a:t>大きいほど（高次）</a:t>
            </a:r>
            <a:r>
              <a:rPr lang="en-US" altLang="ja-JP" dirty="0"/>
              <a:t>CPU </a:t>
            </a:r>
            <a:r>
              <a:rPr lang="ja-JP" altLang="en-US" dirty="0"/>
              <a:t>から遠い</a:t>
            </a:r>
          </a:p>
        </p:txBody>
      </p:sp>
      <p:sp>
        <p:nvSpPr>
          <p:cNvPr id="4" name="下矢印 3">
            <a:extLst>
              <a:ext uri="{FF2B5EF4-FFF2-40B4-BE49-F238E27FC236}">
                <a16:creationId xmlns:a16="http://schemas.microsoft.com/office/drawing/2014/main" id="{54B20BE3-E069-442C-8EF8-84EF1D9063A8}"/>
              </a:ext>
            </a:extLst>
          </p:cNvPr>
          <p:cNvSpPr/>
          <p:nvPr/>
        </p:nvSpPr>
        <p:spPr bwMode="auto">
          <a:xfrm>
            <a:off x="8346025" y="3339000"/>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E6809D6C-2FEB-4AFE-BA70-3FE2FD67C2DA}"/>
              </a:ext>
            </a:extLst>
          </p:cNvPr>
          <p:cNvSpPr/>
          <p:nvPr/>
        </p:nvSpPr>
        <p:spPr bwMode="auto">
          <a:xfrm>
            <a:off x="7446015" y="4869017"/>
            <a:ext cx="2160024"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tx1">
                    <a:lumMod val="75000"/>
                    <a:lumOff val="25000"/>
                  </a:schemeClr>
                </a:solidFill>
                <a:latin typeface="+mn-ea"/>
              </a:rPr>
              <a:t>メモリ</a:t>
            </a:r>
          </a:p>
        </p:txBody>
      </p:sp>
      <p:sp>
        <p:nvSpPr>
          <p:cNvPr id="6" name="角丸四角形 5">
            <a:extLst>
              <a:ext uri="{FF2B5EF4-FFF2-40B4-BE49-F238E27FC236}">
                <a16:creationId xmlns:a16="http://schemas.microsoft.com/office/drawing/2014/main" id="{35A5F36D-88A1-4D75-AC0B-A0C33203FD42}"/>
              </a:ext>
            </a:extLst>
          </p:cNvPr>
          <p:cNvSpPr/>
          <p:nvPr/>
        </p:nvSpPr>
        <p:spPr bwMode="auto">
          <a:xfrm>
            <a:off x="8076023" y="2798993"/>
            <a:ext cx="900010" cy="450005"/>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b="1" dirty="0">
                <a:solidFill>
                  <a:schemeClr val="tx1">
                    <a:lumMod val="75000"/>
                    <a:lumOff val="25000"/>
                  </a:schemeClr>
                </a:solidFill>
                <a:latin typeface="+mn-ea"/>
              </a:rPr>
              <a:t>L2</a:t>
            </a:r>
            <a:endParaRPr lang="ja-JP" altLang="en-US" sz="1600" b="1" dirty="0">
              <a:solidFill>
                <a:schemeClr val="tx1">
                  <a:lumMod val="75000"/>
                  <a:lumOff val="25000"/>
                </a:schemeClr>
              </a:solidFill>
              <a:latin typeface="+mn-ea"/>
            </a:endParaRPr>
          </a:p>
        </p:txBody>
      </p:sp>
      <p:sp>
        <p:nvSpPr>
          <p:cNvPr id="9" name="下矢印 3">
            <a:extLst>
              <a:ext uri="{FF2B5EF4-FFF2-40B4-BE49-F238E27FC236}">
                <a16:creationId xmlns:a16="http://schemas.microsoft.com/office/drawing/2014/main" id="{98F5194A-F041-4316-B9FC-865A952DD9B6}"/>
              </a:ext>
            </a:extLst>
          </p:cNvPr>
          <p:cNvSpPr/>
          <p:nvPr/>
        </p:nvSpPr>
        <p:spPr bwMode="auto">
          <a:xfrm>
            <a:off x="8346025" y="2348989"/>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 name="角丸四角形 5">
            <a:extLst>
              <a:ext uri="{FF2B5EF4-FFF2-40B4-BE49-F238E27FC236}">
                <a16:creationId xmlns:a16="http://schemas.microsoft.com/office/drawing/2014/main" id="{706988AB-04A9-440B-9135-56BD13B688F8}"/>
              </a:ext>
            </a:extLst>
          </p:cNvPr>
          <p:cNvSpPr/>
          <p:nvPr/>
        </p:nvSpPr>
        <p:spPr bwMode="auto">
          <a:xfrm>
            <a:off x="8256024" y="1718982"/>
            <a:ext cx="540006" cy="450005"/>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b="1" dirty="0">
                <a:solidFill>
                  <a:schemeClr val="tx1">
                    <a:lumMod val="75000"/>
                    <a:lumOff val="25000"/>
                  </a:schemeClr>
                </a:solidFill>
                <a:latin typeface="+mn-ea"/>
              </a:rPr>
              <a:t>L1</a:t>
            </a:r>
            <a:endParaRPr lang="ja-JP" altLang="en-US" sz="1600" b="1" dirty="0">
              <a:solidFill>
                <a:schemeClr val="tx1">
                  <a:lumMod val="75000"/>
                  <a:lumOff val="25000"/>
                </a:schemeClr>
              </a:solidFill>
              <a:latin typeface="+mn-ea"/>
            </a:endParaRPr>
          </a:p>
        </p:txBody>
      </p:sp>
      <p:sp>
        <p:nvSpPr>
          <p:cNvPr id="11" name="下矢印 3">
            <a:extLst>
              <a:ext uri="{FF2B5EF4-FFF2-40B4-BE49-F238E27FC236}">
                <a16:creationId xmlns:a16="http://schemas.microsoft.com/office/drawing/2014/main" id="{1B4C6990-7511-4577-BC59-89B051F8CF91}"/>
              </a:ext>
            </a:extLst>
          </p:cNvPr>
          <p:cNvSpPr/>
          <p:nvPr/>
        </p:nvSpPr>
        <p:spPr bwMode="auto">
          <a:xfrm>
            <a:off x="8346025" y="4419012"/>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 name="角丸四角形 5">
            <a:extLst>
              <a:ext uri="{FF2B5EF4-FFF2-40B4-BE49-F238E27FC236}">
                <a16:creationId xmlns:a16="http://schemas.microsoft.com/office/drawing/2014/main" id="{E7AC82BD-F4B3-41F2-AF19-5F46460893BC}"/>
              </a:ext>
            </a:extLst>
          </p:cNvPr>
          <p:cNvSpPr/>
          <p:nvPr/>
        </p:nvSpPr>
        <p:spPr bwMode="auto">
          <a:xfrm>
            <a:off x="7806020" y="3789004"/>
            <a:ext cx="1440015"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b="1" dirty="0">
                <a:solidFill>
                  <a:schemeClr val="tx1">
                    <a:lumMod val="75000"/>
                    <a:lumOff val="25000"/>
                  </a:schemeClr>
                </a:solidFill>
                <a:latin typeface="+mn-ea"/>
              </a:rPr>
              <a:t>L3 </a:t>
            </a:r>
            <a:r>
              <a:rPr lang="ja-JP" altLang="en-US" sz="1600" b="1" dirty="0">
                <a:solidFill>
                  <a:schemeClr val="tx1">
                    <a:lumMod val="75000"/>
                    <a:lumOff val="25000"/>
                  </a:schemeClr>
                </a:solidFill>
                <a:latin typeface="+mn-ea"/>
              </a:rPr>
              <a:t>キャッシュ</a:t>
            </a:r>
          </a:p>
        </p:txBody>
      </p:sp>
    </p:spTree>
    <p:extLst>
      <p:ext uri="{BB962C8B-B14F-4D97-AF65-F5344CB8AC3E}">
        <p14:creationId xmlns:p14="http://schemas.microsoft.com/office/powerpoint/2010/main" val="1350108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35956" y="0"/>
            <a:ext cx="8532044" cy="908972"/>
          </a:xfrm>
        </p:spPr>
        <p:txBody>
          <a:bodyPr/>
          <a:lstStyle/>
          <a:p>
            <a:r>
              <a:rPr lang="ja-JP" altLang="en-US" dirty="0"/>
              <a:t>キャッシュの基本的な考え方のまとめ</a:t>
            </a:r>
          </a:p>
        </p:txBody>
      </p:sp>
      <p:sp>
        <p:nvSpPr>
          <p:cNvPr id="3" name="テキスト プレースホルダー 2"/>
          <p:cNvSpPr>
            <a:spLocks noGrp="1"/>
          </p:cNvSpPr>
          <p:nvPr>
            <p:ph type="body" sz="quarter" idx="10"/>
          </p:nvPr>
        </p:nvSpPr>
        <p:spPr>
          <a:xfrm>
            <a:off x="2135956" y="1088974"/>
            <a:ext cx="7920088" cy="5220058"/>
          </a:xfrm>
        </p:spPr>
        <p:txBody>
          <a:bodyPr/>
          <a:lstStyle/>
          <a:p>
            <a:r>
              <a:rPr lang="ja-JP" altLang="en-US" dirty="0"/>
              <a:t>記憶階層</a:t>
            </a:r>
            <a:endParaRPr lang="en-US" altLang="ja-JP" dirty="0"/>
          </a:p>
          <a:p>
            <a:pPr lvl="1"/>
            <a:r>
              <a:rPr lang="ja-JP" altLang="en-US" dirty="0"/>
              <a:t>小さいけど速いメモリ：キャッシュ</a:t>
            </a:r>
            <a:endParaRPr lang="en-US" altLang="ja-JP" dirty="0"/>
          </a:p>
          <a:p>
            <a:pPr lvl="1"/>
            <a:r>
              <a:rPr lang="ja-JP" altLang="en-US" dirty="0"/>
              <a:t>大きいけど遅いメモリ：メイン・メモリ</a:t>
            </a:r>
            <a:endParaRPr lang="en-US" altLang="ja-JP" dirty="0"/>
          </a:p>
          <a:p>
            <a:r>
              <a:rPr lang="ja-JP" altLang="en-US" dirty="0"/>
              <a:t>時間的局所性</a:t>
            </a:r>
            <a:endParaRPr lang="en-US" altLang="ja-JP" dirty="0"/>
          </a:p>
          <a:p>
            <a:pPr lvl="1"/>
            <a:r>
              <a:rPr lang="ja-JP" altLang="en-US" dirty="0"/>
              <a:t>一度使用した値は，すぐにまた使う可能性が高い性質のこと</a:t>
            </a:r>
          </a:p>
          <a:p>
            <a:r>
              <a:rPr lang="ja-JP" altLang="en-US" dirty="0"/>
              <a:t>実際には多層の構造になっている</a:t>
            </a:r>
            <a:endParaRPr lang="en-US" altLang="ja-JP" dirty="0"/>
          </a:p>
          <a:p>
            <a:pPr lvl="1"/>
            <a:r>
              <a:rPr lang="ja-JP" altLang="en-US" dirty="0"/>
              <a:t>中間の速さと大きさのキャッシュが複数組み合わされている</a:t>
            </a:r>
            <a:endParaRPr lang="en-US" altLang="ja-JP" dirty="0"/>
          </a:p>
        </p:txBody>
      </p:sp>
    </p:spTree>
    <p:extLst>
      <p:ext uri="{BB962C8B-B14F-4D97-AF65-F5344CB8AC3E}">
        <p14:creationId xmlns:p14="http://schemas.microsoft.com/office/powerpoint/2010/main" val="15755424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キャッシュの基本的な考え方</a:t>
            </a:r>
            <a:endParaRPr lang="en-US" altLang="ja-JP" dirty="0"/>
          </a:p>
          <a:p>
            <a:pPr marL="817200" lvl="1" indent="-457200">
              <a:buFont typeface="+mj-lt"/>
              <a:buAutoNum type="arabicPeriod"/>
            </a:pPr>
            <a:r>
              <a:rPr lang="ja-JP" altLang="en-US" dirty="0"/>
              <a:t>基本的な原理と構造</a:t>
            </a:r>
            <a:endParaRPr lang="en-US" altLang="ja-JP" dirty="0"/>
          </a:p>
          <a:p>
            <a:pPr marL="817200" lvl="1" indent="-457200">
              <a:buFont typeface="+mj-lt"/>
              <a:buAutoNum type="arabicPeriod"/>
            </a:pPr>
            <a:r>
              <a:rPr lang="ja-JP" altLang="en-US" b="1" dirty="0"/>
              <a:t>容量の性能への影響</a:t>
            </a:r>
            <a:endParaRPr lang="en-US" altLang="ja-JP" b="1" dirty="0"/>
          </a:p>
        </p:txBody>
      </p:sp>
    </p:spTree>
    <p:extLst>
      <p:ext uri="{BB962C8B-B14F-4D97-AF65-F5344CB8AC3E}">
        <p14:creationId xmlns:p14="http://schemas.microsoft.com/office/powerpoint/2010/main" val="3356982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キャッシュへの性能への影響</a:t>
            </a:r>
          </a:p>
        </p:txBody>
      </p:sp>
      <p:sp>
        <p:nvSpPr>
          <p:cNvPr id="3" name="テキスト プレースホルダー 2"/>
          <p:cNvSpPr>
            <a:spLocks noGrp="1"/>
          </p:cNvSpPr>
          <p:nvPr>
            <p:ph type="body" sz="quarter" idx="10"/>
          </p:nvPr>
        </p:nvSpPr>
        <p:spPr>
          <a:xfrm>
            <a:off x="1685951" y="1088975"/>
            <a:ext cx="8712046" cy="5490061"/>
          </a:xfrm>
        </p:spPr>
        <p:txBody>
          <a:bodyPr/>
          <a:lstStyle/>
          <a:p>
            <a:r>
              <a:rPr lang="ja-JP" altLang="en-US" dirty="0"/>
              <a:t>下記のような二重ループを考える</a:t>
            </a:r>
            <a:endParaRPr lang="en-US" altLang="ja-JP" dirty="0"/>
          </a:p>
          <a:p>
            <a:pPr lvl="1"/>
            <a:r>
              <a:rPr lang="en-US" altLang="ja-JP" dirty="0">
                <a:latin typeface="Consolas" panose="020B0609020204030204" pitchFamily="49" charset="0"/>
              </a:rPr>
              <a:t>SIZE </a:t>
            </a:r>
            <a:r>
              <a:rPr lang="ja-JP" altLang="en-US" dirty="0">
                <a:latin typeface="Consolas" panose="020B0609020204030204" pitchFamily="49" charset="0"/>
              </a:rPr>
              <a:t>がキャッシュの容量に収まっていれば，</a:t>
            </a:r>
            <a:br>
              <a:rPr lang="en-US" altLang="ja-JP" dirty="0">
                <a:latin typeface="Consolas" panose="020B0609020204030204" pitchFamily="49" charset="0"/>
              </a:rPr>
            </a:br>
            <a:r>
              <a:rPr lang="ja-JP" altLang="en-US" dirty="0">
                <a:latin typeface="Consolas" panose="020B0609020204030204" pitchFamily="49" charset="0"/>
              </a:rPr>
              <a:t>内側ループ終了後に </a:t>
            </a:r>
            <a:r>
              <a:rPr lang="en-US" altLang="ja-JP" dirty="0">
                <a:latin typeface="Consolas" panose="020B0609020204030204" pitchFamily="49" charset="0"/>
              </a:rPr>
              <a:t>table </a:t>
            </a:r>
            <a:r>
              <a:rPr lang="ja-JP" altLang="en-US" dirty="0">
                <a:latin typeface="Consolas" panose="020B0609020204030204" pitchFamily="49" charset="0"/>
              </a:rPr>
              <a:t>の全データがキャッシュに乗る</a:t>
            </a:r>
            <a:endParaRPr lang="en-US" altLang="ja-JP" dirty="0">
              <a:latin typeface="Consolas" panose="020B0609020204030204" pitchFamily="49" charset="0"/>
            </a:endParaRPr>
          </a:p>
          <a:p>
            <a:pPr lvl="1"/>
            <a:r>
              <a:rPr lang="ja-JP" altLang="en-US" dirty="0">
                <a:latin typeface="Consolas" panose="020B0609020204030204" pitchFamily="49" charset="0"/>
              </a:rPr>
              <a:t>次の内側の周回では全データがキャッシュに乗っているので速い！</a:t>
            </a:r>
            <a:endParaRPr lang="en-US" altLang="ja-JP" dirty="0">
              <a:latin typeface="Consolas" panose="020B0609020204030204" pitchFamily="49" charset="0"/>
            </a:endParaRPr>
          </a:p>
          <a:p>
            <a:pPr lvl="2"/>
            <a:endParaRPr kumimoji="1" lang="en-US" altLang="ja-JP" dirty="0"/>
          </a:p>
          <a:p>
            <a:pPr marL="360000" lvl="1" indent="0">
              <a:buNone/>
            </a:pPr>
            <a:r>
              <a:rPr lang="en-US" altLang="ja-JP" dirty="0">
                <a:solidFill>
                  <a:schemeClr val="accent4"/>
                </a:solidFill>
                <a:latin typeface="Consolas" panose="020B0609020204030204" pitchFamily="49" charset="0"/>
              </a:rPr>
              <a:t>for</a:t>
            </a:r>
            <a:r>
              <a:rPr lang="en-US" altLang="ja-JP" dirty="0">
                <a:solidFill>
                  <a:schemeClr val="accent1"/>
                </a:solidFill>
                <a:latin typeface="Consolas" panose="020B0609020204030204" pitchFamily="49" charset="0"/>
              </a:rPr>
              <a:t> </a:t>
            </a:r>
            <a:r>
              <a:rPr lang="en-US" altLang="ja-JP" dirty="0">
                <a:latin typeface="Consolas" panose="020B0609020204030204" pitchFamily="49" charset="0"/>
              </a:rPr>
              <a:t>(</a:t>
            </a:r>
            <a:r>
              <a:rPr lang="en-US" altLang="ja-JP" dirty="0">
                <a:solidFill>
                  <a:schemeClr val="accent1"/>
                </a:solidFill>
                <a:latin typeface="Consolas" panose="020B0609020204030204" pitchFamily="49" charset="0"/>
              </a:rPr>
              <a:t>int </a:t>
            </a:r>
            <a:r>
              <a:rPr lang="en-US" altLang="ja-JP" dirty="0" err="1">
                <a:latin typeface="Consolas" panose="020B0609020204030204" pitchFamily="49" charset="0"/>
              </a:rPr>
              <a:t>i</a:t>
            </a:r>
            <a:r>
              <a:rPr lang="en-US" altLang="ja-JP" dirty="0">
                <a:latin typeface="Consolas" panose="020B0609020204030204" pitchFamily="49" charset="0"/>
              </a:rPr>
              <a:t> = 0; </a:t>
            </a:r>
            <a:r>
              <a:rPr lang="en-US" altLang="ja-JP" dirty="0" err="1">
                <a:latin typeface="Consolas" panose="020B0609020204030204" pitchFamily="49" charset="0"/>
              </a:rPr>
              <a:t>i</a:t>
            </a:r>
            <a:r>
              <a:rPr lang="en-US" altLang="ja-JP" dirty="0">
                <a:latin typeface="Consolas" panose="020B0609020204030204" pitchFamily="49" charset="0"/>
              </a:rPr>
              <a:t> &lt; NUM_TEST; </a:t>
            </a:r>
            <a:r>
              <a:rPr lang="en-US" altLang="ja-JP" dirty="0" err="1">
                <a:latin typeface="Consolas" panose="020B0609020204030204" pitchFamily="49" charset="0"/>
              </a:rPr>
              <a:t>i</a:t>
            </a:r>
            <a:r>
              <a:rPr lang="en-US" altLang="ja-JP" dirty="0">
                <a:latin typeface="Consolas" panose="020B0609020204030204" pitchFamily="49" charset="0"/>
              </a:rPr>
              <a:t>++) {</a:t>
            </a:r>
          </a:p>
          <a:p>
            <a:pPr marL="720000" lvl="2" indent="0">
              <a:buNone/>
            </a:pPr>
            <a:r>
              <a:rPr lang="en-US" altLang="ja-JP" dirty="0">
                <a:solidFill>
                  <a:schemeClr val="accent1"/>
                </a:solidFill>
                <a:latin typeface="Consolas" panose="020B0609020204030204" pitchFamily="49" charset="0"/>
              </a:rPr>
              <a:t>uint32_t</a:t>
            </a:r>
            <a:r>
              <a:rPr lang="en-US" altLang="ja-JP" dirty="0">
                <a:latin typeface="Consolas" panose="020B0609020204030204" pitchFamily="49" charset="0"/>
              </a:rPr>
              <a:t> p = 0;</a:t>
            </a:r>
          </a:p>
          <a:p>
            <a:pPr marL="720000" lvl="2" indent="0">
              <a:buNone/>
            </a:pPr>
            <a:r>
              <a:rPr lang="en-US" altLang="ja-JP" dirty="0">
                <a:solidFill>
                  <a:schemeClr val="accent4"/>
                </a:solidFill>
                <a:latin typeface="Consolas" panose="020B0609020204030204" pitchFamily="49" charset="0"/>
              </a:rPr>
              <a:t>for</a:t>
            </a:r>
            <a:r>
              <a:rPr lang="en-US" altLang="ja-JP" dirty="0">
                <a:latin typeface="Consolas" panose="020B0609020204030204" pitchFamily="49" charset="0"/>
              </a:rPr>
              <a:t> (</a:t>
            </a:r>
            <a:r>
              <a:rPr lang="en-US" altLang="ja-JP" dirty="0" err="1">
                <a:solidFill>
                  <a:schemeClr val="accent1"/>
                </a:solidFill>
                <a:latin typeface="Consolas" panose="020B0609020204030204" pitchFamily="49" charset="0"/>
              </a:rPr>
              <a:t>int</a:t>
            </a:r>
            <a:r>
              <a:rPr lang="en-US" altLang="ja-JP" dirty="0">
                <a:latin typeface="Consolas" panose="020B0609020204030204" pitchFamily="49" charset="0"/>
              </a:rPr>
              <a:t> j = 0; j &lt; SIZE; </a:t>
            </a:r>
            <a:r>
              <a:rPr lang="en-US" altLang="ja-JP" dirty="0" err="1">
                <a:latin typeface="Consolas" panose="020B0609020204030204" pitchFamily="49" charset="0"/>
              </a:rPr>
              <a:t>j++</a:t>
            </a:r>
            <a:r>
              <a:rPr lang="en-US" altLang="ja-JP" dirty="0">
                <a:latin typeface="Consolas" panose="020B0609020204030204" pitchFamily="49" charset="0"/>
              </a:rPr>
              <a:t>) {</a:t>
            </a:r>
          </a:p>
          <a:p>
            <a:pPr marL="1080000" lvl="3" indent="0">
              <a:buNone/>
            </a:pPr>
            <a:r>
              <a:rPr lang="en-US" altLang="ja-JP" dirty="0">
                <a:latin typeface="Consolas" panose="020B0609020204030204" pitchFamily="49" charset="0"/>
              </a:rPr>
              <a:t>p += table[j];</a:t>
            </a:r>
          </a:p>
          <a:p>
            <a:pPr marL="720000" lvl="2" indent="0">
              <a:buNone/>
            </a:pPr>
            <a:r>
              <a:rPr lang="en-US" altLang="ja-JP" dirty="0">
                <a:latin typeface="Consolas" panose="020B0609020204030204" pitchFamily="49" charset="0"/>
              </a:rPr>
              <a:t>}</a:t>
            </a:r>
          </a:p>
          <a:p>
            <a:pPr marL="360000" lvl="1" indent="0">
              <a:buNone/>
            </a:pPr>
            <a:r>
              <a:rPr lang="en-US" altLang="ja-JP" dirty="0">
                <a:latin typeface="Consolas" panose="020B0609020204030204" pitchFamily="49" charset="0"/>
              </a:rPr>
              <a:t>}</a:t>
            </a:r>
            <a:endParaRPr kumimoji="1" lang="ja-JP" altLang="en-US" dirty="0"/>
          </a:p>
        </p:txBody>
      </p:sp>
      <p:sp>
        <p:nvSpPr>
          <p:cNvPr id="4" name="下矢印 3">
            <a:extLst>
              <a:ext uri="{FF2B5EF4-FFF2-40B4-BE49-F238E27FC236}">
                <a16:creationId xmlns:a16="http://schemas.microsoft.com/office/drawing/2014/main" id="{C3885A34-BEFA-43AE-93BB-37B0C4120835}"/>
              </a:ext>
            </a:extLst>
          </p:cNvPr>
          <p:cNvSpPr/>
          <p:nvPr/>
        </p:nvSpPr>
        <p:spPr bwMode="auto">
          <a:xfrm>
            <a:off x="8616028" y="4419011"/>
            <a:ext cx="360004" cy="36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D5540B4C-77B4-475C-9BF9-7631FF87849D}"/>
              </a:ext>
            </a:extLst>
          </p:cNvPr>
          <p:cNvSpPr/>
          <p:nvPr/>
        </p:nvSpPr>
        <p:spPr bwMode="auto">
          <a:xfrm>
            <a:off x="7716018" y="4869017"/>
            <a:ext cx="2160024" cy="810009"/>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tx1">
                    <a:lumMod val="75000"/>
                    <a:lumOff val="25000"/>
                  </a:schemeClr>
                </a:solidFill>
                <a:latin typeface="+mn-ea"/>
              </a:rPr>
              <a:t>メモリ</a:t>
            </a:r>
          </a:p>
        </p:txBody>
      </p:sp>
      <p:sp>
        <p:nvSpPr>
          <p:cNvPr id="6" name="角丸四角形 5">
            <a:extLst>
              <a:ext uri="{FF2B5EF4-FFF2-40B4-BE49-F238E27FC236}">
                <a16:creationId xmlns:a16="http://schemas.microsoft.com/office/drawing/2014/main" id="{502C3F67-A5C6-48B4-AE1F-60AC55C07355}"/>
              </a:ext>
            </a:extLst>
          </p:cNvPr>
          <p:cNvSpPr/>
          <p:nvPr/>
        </p:nvSpPr>
        <p:spPr bwMode="auto">
          <a:xfrm>
            <a:off x="8076022" y="3789004"/>
            <a:ext cx="1440016"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b="1" dirty="0">
                <a:solidFill>
                  <a:schemeClr val="tx1">
                    <a:lumMod val="75000"/>
                    <a:lumOff val="25000"/>
                  </a:schemeClr>
                </a:solidFill>
                <a:latin typeface="+mn-ea"/>
              </a:rPr>
              <a:t>キャッシュ</a:t>
            </a:r>
            <a:br>
              <a:rPr lang="en-US" altLang="ja-JP" sz="1600" b="1" dirty="0">
                <a:solidFill>
                  <a:schemeClr val="tx1">
                    <a:lumMod val="75000"/>
                    <a:lumOff val="25000"/>
                  </a:schemeClr>
                </a:solidFill>
                <a:latin typeface="+mn-ea"/>
              </a:rPr>
            </a:br>
            <a:r>
              <a:rPr lang="en-US" altLang="ja-JP" sz="1600" b="1" dirty="0">
                <a:solidFill>
                  <a:schemeClr val="tx1">
                    <a:lumMod val="75000"/>
                    <a:lumOff val="25000"/>
                  </a:schemeClr>
                </a:solidFill>
                <a:latin typeface="+mn-ea"/>
              </a:rPr>
              <a:t>32KB</a:t>
            </a:r>
            <a:endParaRPr lang="ja-JP" altLang="en-US" sz="1600" b="1"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70351F72-173A-4B5B-8225-A6520577FE01}"/>
              </a:ext>
            </a:extLst>
          </p:cNvPr>
          <p:cNvSpPr/>
          <p:nvPr/>
        </p:nvSpPr>
        <p:spPr>
          <a:xfrm>
            <a:off x="9876043" y="3879005"/>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1ns</a:t>
            </a:r>
            <a:endParaRPr lang="ja-JP" altLang="en-US" sz="2000" dirty="0">
              <a:solidFill>
                <a:schemeClr val="tx1">
                  <a:lumMod val="75000"/>
                  <a:lumOff val="25000"/>
                </a:schemeClr>
              </a:solidFill>
            </a:endParaRPr>
          </a:p>
        </p:txBody>
      </p:sp>
      <p:sp>
        <p:nvSpPr>
          <p:cNvPr id="8" name="正方形/長方形 7">
            <a:extLst>
              <a:ext uri="{FF2B5EF4-FFF2-40B4-BE49-F238E27FC236}">
                <a16:creationId xmlns:a16="http://schemas.microsoft.com/office/drawing/2014/main" id="{6AEB1D72-15C8-465B-94E3-3209D91429BE}"/>
              </a:ext>
            </a:extLst>
          </p:cNvPr>
          <p:cNvSpPr/>
          <p:nvPr/>
        </p:nvSpPr>
        <p:spPr>
          <a:xfrm>
            <a:off x="9876043" y="5049018"/>
            <a:ext cx="424189" cy="400110"/>
          </a:xfrm>
          <a:prstGeom prst="rect">
            <a:avLst/>
          </a:prstGeom>
        </p:spPr>
        <p:txBody>
          <a:bodyPr wrap="none">
            <a:noAutofit/>
          </a:bodyPr>
          <a:lstStyle/>
          <a:p>
            <a:pPr marL="0" lvl="1"/>
            <a:r>
              <a:rPr lang="en-US" altLang="ja-JP" sz="2000" dirty="0">
                <a:solidFill>
                  <a:schemeClr val="tx1">
                    <a:lumMod val="75000"/>
                    <a:lumOff val="25000"/>
                  </a:schemeClr>
                </a:solidFill>
              </a:rPr>
              <a:t>100ns</a:t>
            </a:r>
            <a:endParaRPr lang="ja-JP" altLang="en-US" sz="2000" dirty="0">
              <a:solidFill>
                <a:schemeClr val="tx1">
                  <a:lumMod val="75000"/>
                  <a:lumOff val="25000"/>
                </a:schemeClr>
              </a:solidFill>
            </a:endParaRPr>
          </a:p>
        </p:txBody>
      </p:sp>
    </p:spTree>
    <p:extLst>
      <p:ext uri="{BB962C8B-B14F-4D97-AF65-F5344CB8AC3E}">
        <p14:creationId xmlns:p14="http://schemas.microsoft.com/office/powerpoint/2010/main" val="2825372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実際の測定データ</a:t>
            </a:r>
            <a:endParaRPr lang="ja-JP" altLang="en-US" sz="2000" dirty="0"/>
          </a:p>
        </p:txBody>
      </p:sp>
      <p:sp>
        <p:nvSpPr>
          <p:cNvPr id="3" name="テキスト プレースホルダー 2"/>
          <p:cNvSpPr>
            <a:spLocks noGrp="1"/>
          </p:cNvSpPr>
          <p:nvPr>
            <p:ph type="body" sz="quarter" idx="10"/>
          </p:nvPr>
        </p:nvSpPr>
        <p:spPr>
          <a:xfrm>
            <a:off x="1595951" y="5859028"/>
            <a:ext cx="8730097" cy="539699"/>
          </a:xfrm>
        </p:spPr>
        <p:txBody>
          <a:bodyPr/>
          <a:lstStyle/>
          <a:p>
            <a:pPr lvl="1"/>
            <a:r>
              <a:rPr lang="ja-JP" altLang="en-US" sz="1600" dirty="0"/>
              <a:t>縦軸を基数</a:t>
            </a:r>
            <a:r>
              <a:rPr lang="en-US" altLang="ja-JP" sz="1600" dirty="0"/>
              <a:t>10</a:t>
            </a:r>
            <a:r>
              <a:rPr lang="ja-JP" altLang="en-US" sz="1600" dirty="0"/>
              <a:t>の対数軸，横軸を基数２の対数軸に</a:t>
            </a:r>
            <a:endParaRPr lang="en-US" altLang="ja-JP" sz="1600" dirty="0"/>
          </a:p>
          <a:p>
            <a:pPr lvl="1"/>
            <a:r>
              <a:rPr lang="ja-JP" altLang="en-US" sz="1600" dirty="0"/>
              <a:t>低次キャッシュの内容は必ず高次に含まれる仕様</a:t>
            </a:r>
            <a:endParaRPr lang="en-US" altLang="ja-JP" sz="1600" dirty="0"/>
          </a:p>
          <a:p>
            <a:pPr lvl="2"/>
            <a:r>
              <a:rPr lang="ja-JP" altLang="en-US" sz="1600" dirty="0"/>
              <a:t>（そうなるかはメーカーや世代に依存．含まれないこともある</a:t>
            </a:r>
            <a:endParaRPr lang="en-US" altLang="ja-JP" sz="1600" dirty="0"/>
          </a:p>
          <a:p>
            <a:pPr lvl="2"/>
            <a:r>
              <a:rPr lang="en-US" altLang="ja-JP" sz="1600" dirty="0"/>
              <a:t>256KB+32KB </a:t>
            </a:r>
            <a:r>
              <a:rPr lang="ja-JP" altLang="en-US" sz="1600" dirty="0"/>
              <a:t>ではなく </a:t>
            </a:r>
            <a:r>
              <a:rPr lang="en-US" altLang="ja-JP" sz="1600" dirty="0"/>
              <a:t>256KB </a:t>
            </a:r>
            <a:r>
              <a:rPr lang="ja-JP" altLang="en-US" sz="1600" dirty="0"/>
              <a:t>で変化しはじめる</a:t>
            </a:r>
            <a:endParaRPr lang="en-US" altLang="ja-JP" sz="1600" dirty="0"/>
          </a:p>
        </p:txBody>
      </p:sp>
      <p:graphicFrame>
        <p:nvGraphicFramePr>
          <p:cNvPr id="5" name="グラフ 4"/>
          <p:cNvGraphicFramePr>
            <a:graphicFrameLocks/>
          </p:cNvGraphicFramePr>
          <p:nvPr>
            <p:extLst>
              <p:ext uri="{D42A27DB-BD31-4B8C-83A1-F6EECF244321}">
                <p14:modId xmlns:p14="http://schemas.microsoft.com/office/powerpoint/2010/main" val="3205013753"/>
              </p:ext>
            </p:extLst>
          </p:nvPr>
        </p:nvGraphicFramePr>
        <p:xfrm>
          <a:off x="1865954" y="818972"/>
          <a:ext cx="8550095" cy="4680052"/>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直線矢印コネクタ 5"/>
          <p:cNvCxnSpPr/>
          <p:nvPr/>
        </p:nvCxnSpPr>
        <p:spPr bwMode="auto">
          <a:xfrm>
            <a:off x="2765963" y="4149008"/>
            <a:ext cx="1260014"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7" name="正方形/長方形 6"/>
          <p:cNvSpPr/>
          <p:nvPr/>
        </p:nvSpPr>
        <p:spPr bwMode="auto">
          <a:xfrm>
            <a:off x="3035966" y="3789004"/>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accent6"/>
                </a:solidFill>
                <a:latin typeface="+mn-ea"/>
              </a:rPr>
              <a:t>L1(32KB)</a:t>
            </a:r>
            <a:endParaRPr lang="ja-JP" altLang="en-US" sz="1600" dirty="0">
              <a:solidFill>
                <a:schemeClr val="accent6"/>
              </a:solidFill>
              <a:latin typeface="+mn-ea"/>
            </a:endParaRPr>
          </a:p>
        </p:txBody>
      </p:sp>
      <p:cxnSp>
        <p:nvCxnSpPr>
          <p:cNvPr id="8" name="直線矢印コネクタ 7"/>
          <p:cNvCxnSpPr/>
          <p:nvPr/>
        </p:nvCxnSpPr>
        <p:spPr bwMode="auto">
          <a:xfrm>
            <a:off x="4025978" y="3699003"/>
            <a:ext cx="450005"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0" name="正方形/長方形 9"/>
          <p:cNvSpPr/>
          <p:nvPr/>
        </p:nvSpPr>
        <p:spPr bwMode="auto">
          <a:xfrm>
            <a:off x="3845975" y="3338999"/>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accent6"/>
                </a:solidFill>
                <a:latin typeface="+mn-ea"/>
              </a:rPr>
              <a:t>&lt; 32KB×2</a:t>
            </a:r>
            <a:endParaRPr lang="ja-JP" altLang="en-US" sz="1600" dirty="0">
              <a:solidFill>
                <a:schemeClr val="accent6"/>
              </a:solidFill>
              <a:latin typeface="+mn-ea"/>
            </a:endParaRPr>
          </a:p>
        </p:txBody>
      </p:sp>
      <p:cxnSp>
        <p:nvCxnSpPr>
          <p:cNvPr id="11" name="直線矢印コネクタ 10"/>
          <p:cNvCxnSpPr/>
          <p:nvPr/>
        </p:nvCxnSpPr>
        <p:spPr bwMode="auto">
          <a:xfrm>
            <a:off x="4475983" y="4149008"/>
            <a:ext cx="810009"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3" name="正方形/長方形 12"/>
          <p:cNvSpPr/>
          <p:nvPr/>
        </p:nvSpPr>
        <p:spPr bwMode="auto">
          <a:xfrm>
            <a:off x="4565983" y="4239009"/>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accent6"/>
                </a:solidFill>
                <a:latin typeface="+mn-ea"/>
              </a:rPr>
              <a:t>L</a:t>
            </a:r>
            <a:r>
              <a:rPr lang="ja-JP" altLang="en-US" sz="1600" dirty="0">
                <a:solidFill>
                  <a:schemeClr val="accent6"/>
                </a:solidFill>
                <a:latin typeface="+mn-ea"/>
              </a:rPr>
              <a:t>２</a:t>
            </a:r>
            <a:r>
              <a:rPr lang="en-US" altLang="ja-JP" sz="1600" dirty="0">
                <a:solidFill>
                  <a:schemeClr val="accent6"/>
                </a:solidFill>
                <a:latin typeface="+mn-ea"/>
              </a:rPr>
              <a:t>(256KB)</a:t>
            </a:r>
            <a:endParaRPr lang="ja-JP" altLang="en-US" sz="1600" dirty="0">
              <a:solidFill>
                <a:schemeClr val="accent6"/>
              </a:solidFill>
              <a:latin typeface="+mn-ea"/>
            </a:endParaRPr>
          </a:p>
        </p:txBody>
      </p:sp>
      <p:cxnSp>
        <p:nvCxnSpPr>
          <p:cNvPr id="14" name="直線矢印コネクタ 13"/>
          <p:cNvCxnSpPr/>
          <p:nvPr/>
        </p:nvCxnSpPr>
        <p:spPr bwMode="auto">
          <a:xfrm>
            <a:off x="5285992" y="2528990"/>
            <a:ext cx="450005"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5" name="正方形/長方形 14"/>
          <p:cNvSpPr/>
          <p:nvPr/>
        </p:nvSpPr>
        <p:spPr bwMode="auto">
          <a:xfrm>
            <a:off x="5105989" y="2168986"/>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accent6"/>
                </a:solidFill>
                <a:latin typeface="+mn-ea"/>
              </a:rPr>
              <a:t> &lt; 256KB×2</a:t>
            </a:r>
            <a:endParaRPr lang="ja-JP" altLang="en-US" sz="1600" dirty="0">
              <a:solidFill>
                <a:schemeClr val="accent6"/>
              </a:solidFill>
              <a:latin typeface="+mn-ea"/>
            </a:endParaRPr>
          </a:p>
        </p:txBody>
      </p:sp>
      <p:cxnSp>
        <p:nvCxnSpPr>
          <p:cNvPr id="16" name="直線矢印コネクタ 15"/>
          <p:cNvCxnSpPr/>
          <p:nvPr/>
        </p:nvCxnSpPr>
        <p:spPr bwMode="auto">
          <a:xfrm>
            <a:off x="5735996" y="3068996"/>
            <a:ext cx="1620018" cy="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8" name="正方形/長方形 17"/>
          <p:cNvSpPr/>
          <p:nvPr/>
        </p:nvSpPr>
        <p:spPr bwMode="auto">
          <a:xfrm>
            <a:off x="6186001" y="3068996"/>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accent6"/>
                </a:solidFill>
                <a:latin typeface="+mn-ea"/>
              </a:rPr>
              <a:t>L3 (8MB?)</a:t>
            </a:r>
            <a:endParaRPr lang="ja-JP" altLang="en-US" sz="1600" dirty="0">
              <a:solidFill>
                <a:schemeClr val="accent6"/>
              </a:solidFill>
              <a:latin typeface="+mn-ea"/>
            </a:endParaRPr>
          </a:p>
        </p:txBody>
      </p:sp>
    </p:spTree>
    <p:extLst>
      <p:ext uri="{BB962C8B-B14F-4D97-AF65-F5344CB8AC3E}">
        <p14:creationId xmlns:p14="http://schemas.microsoft.com/office/powerpoint/2010/main" val="5588723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プログラム</a:t>
            </a:r>
            <a:r>
              <a:rPr kumimoji="1" lang="ja-JP" altLang="en-US" dirty="0"/>
              <a:t>最適化の上で，重要なポイント</a:t>
            </a:r>
          </a:p>
        </p:txBody>
      </p:sp>
      <p:sp>
        <p:nvSpPr>
          <p:cNvPr id="3" name="テキスト プレースホルダー 2"/>
          <p:cNvSpPr>
            <a:spLocks noGrp="1"/>
          </p:cNvSpPr>
          <p:nvPr>
            <p:ph type="body" sz="quarter" idx="10"/>
          </p:nvPr>
        </p:nvSpPr>
        <p:spPr>
          <a:xfrm>
            <a:off x="1775953" y="5229020"/>
            <a:ext cx="8550095" cy="989704"/>
          </a:xfrm>
        </p:spPr>
        <p:txBody>
          <a:bodyPr/>
          <a:lstStyle/>
          <a:p>
            <a:r>
              <a:rPr kumimoji="1" lang="ja-JP" altLang="en-US" dirty="0">
                <a:solidFill>
                  <a:schemeClr val="accent5"/>
                </a:solidFill>
              </a:rPr>
              <a:t>上記の状態を保つこと</a:t>
            </a:r>
            <a:endParaRPr kumimoji="1" lang="en-US" altLang="ja-JP" dirty="0">
              <a:solidFill>
                <a:schemeClr val="accent5"/>
              </a:solidFill>
            </a:endParaRPr>
          </a:p>
          <a:p>
            <a:pPr lvl="1"/>
            <a:r>
              <a:rPr lang="ja-JP" altLang="en-US" dirty="0"/>
              <a:t>ワーキング・セット：</a:t>
            </a:r>
            <a:endParaRPr lang="en-US" altLang="ja-JP" dirty="0"/>
          </a:p>
          <a:p>
            <a:pPr lvl="2"/>
            <a:r>
              <a:rPr kumimoji="1" lang="en-US" altLang="ja-JP" dirty="0"/>
              <a:t> </a:t>
            </a:r>
            <a:r>
              <a:rPr kumimoji="1" lang="ja-JP" altLang="en-US" dirty="0"/>
              <a:t>処理のまとまりごとに，アクセスするデータの範囲（使用量）</a:t>
            </a:r>
            <a:endParaRPr kumimoji="1" lang="en-US" altLang="ja-JP" dirty="0"/>
          </a:p>
          <a:p>
            <a:pPr lvl="1"/>
            <a:r>
              <a:rPr lang="ja-JP" altLang="en-US" dirty="0"/>
              <a:t>ワーキング・セットがキャッシュ容量に収まることが重要</a:t>
            </a:r>
            <a:endParaRPr kumimoji="1" lang="en-US" altLang="ja-JP" dirty="0"/>
          </a:p>
        </p:txBody>
      </p:sp>
      <p:sp>
        <p:nvSpPr>
          <p:cNvPr id="4" name="正方形/長方形 3"/>
          <p:cNvSpPr/>
          <p:nvPr/>
        </p:nvSpPr>
        <p:spPr bwMode="auto">
          <a:xfrm>
            <a:off x="3215968" y="1448978"/>
            <a:ext cx="2880032" cy="360004"/>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5" name="直線矢印コネクタ 4"/>
          <p:cNvCxnSpPr/>
          <p:nvPr/>
        </p:nvCxnSpPr>
        <p:spPr bwMode="auto">
          <a:xfrm>
            <a:off x="3215968" y="1268976"/>
            <a:ext cx="5040056" cy="0"/>
          </a:xfrm>
          <a:prstGeom prst="straightConnector1">
            <a:avLst/>
          </a:prstGeom>
          <a:noFill/>
          <a:ln w="9525" cap="flat" cmpd="sng" algn="ctr">
            <a:solidFill>
              <a:schemeClr val="tx1"/>
            </a:solidFill>
            <a:prstDash val="solid"/>
            <a:round/>
            <a:headEnd type="none" w="med" len="med"/>
            <a:tailEnd type="triangle"/>
          </a:ln>
          <a:effectLst/>
        </p:spPr>
      </p:cxnSp>
      <p:sp>
        <p:nvSpPr>
          <p:cNvPr id="6" name="正方形/長方形 5"/>
          <p:cNvSpPr/>
          <p:nvPr/>
        </p:nvSpPr>
        <p:spPr bwMode="auto">
          <a:xfrm>
            <a:off x="7446015" y="908972"/>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データ量</a:t>
            </a:r>
          </a:p>
        </p:txBody>
      </p:sp>
      <p:cxnSp>
        <p:nvCxnSpPr>
          <p:cNvPr id="7" name="直線矢印コネクタ 6"/>
          <p:cNvCxnSpPr/>
          <p:nvPr/>
        </p:nvCxnSpPr>
        <p:spPr bwMode="auto">
          <a:xfrm>
            <a:off x="3215968" y="1988984"/>
            <a:ext cx="2880032" cy="0"/>
          </a:xfrm>
          <a:prstGeom prst="straightConnector1">
            <a:avLst/>
          </a:prstGeom>
          <a:noFill/>
          <a:ln w="9525" cap="flat" cmpd="sng" algn="ctr">
            <a:solidFill>
              <a:schemeClr val="tx1"/>
            </a:solidFill>
            <a:prstDash val="solid"/>
            <a:round/>
            <a:headEnd type="triangle" w="med" len="med"/>
            <a:tailEnd type="triangle"/>
          </a:ln>
          <a:effectLst/>
        </p:spPr>
      </p:cxnSp>
      <p:sp>
        <p:nvSpPr>
          <p:cNvPr id="8" name="正方形/長方形 7"/>
          <p:cNvSpPr/>
          <p:nvPr/>
        </p:nvSpPr>
        <p:spPr bwMode="auto">
          <a:xfrm>
            <a:off x="4295980" y="2078985"/>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CAP</a:t>
            </a:r>
            <a:r>
              <a:rPr lang="ja-JP" altLang="en-US" sz="1600" dirty="0">
                <a:solidFill>
                  <a:schemeClr val="tx1">
                    <a:lumMod val="75000"/>
                    <a:lumOff val="25000"/>
                  </a:schemeClr>
                </a:solidFill>
                <a:latin typeface="+mn-ea"/>
              </a:rPr>
              <a:t>（キャッシュ容量）</a:t>
            </a:r>
          </a:p>
        </p:txBody>
      </p:sp>
      <p:sp>
        <p:nvSpPr>
          <p:cNvPr id="9" name="正方形/長方形 8"/>
          <p:cNvSpPr/>
          <p:nvPr/>
        </p:nvSpPr>
        <p:spPr bwMode="auto">
          <a:xfrm>
            <a:off x="3215969" y="2618991"/>
            <a:ext cx="2250025"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3215969" y="3158997"/>
            <a:ext cx="2250025" cy="0"/>
          </a:xfrm>
          <a:prstGeom prst="straightConnector1">
            <a:avLst/>
          </a:prstGeom>
          <a:noFill/>
          <a:ln w="9525" cap="flat" cmpd="sng" algn="ctr">
            <a:solidFill>
              <a:schemeClr val="tx1"/>
            </a:solidFill>
            <a:prstDash val="solid"/>
            <a:round/>
            <a:headEnd type="triangle" w="med" len="med"/>
            <a:tailEnd type="triangle"/>
          </a:ln>
          <a:effectLst/>
        </p:spPr>
      </p:cxnSp>
      <p:sp>
        <p:nvSpPr>
          <p:cNvPr id="11" name="正方形/長方形 10"/>
          <p:cNvSpPr/>
          <p:nvPr/>
        </p:nvSpPr>
        <p:spPr bwMode="auto">
          <a:xfrm>
            <a:off x="4115978" y="3248998"/>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SIZE</a:t>
            </a:r>
            <a:r>
              <a:rPr lang="ja-JP" altLang="en-US" sz="1600" dirty="0">
                <a:solidFill>
                  <a:schemeClr val="tx1">
                    <a:lumMod val="75000"/>
                    <a:lumOff val="25000"/>
                  </a:schemeClr>
                </a:solidFill>
                <a:latin typeface="+mn-ea"/>
              </a:rPr>
              <a:t>（アクセス範囲）</a:t>
            </a:r>
          </a:p>
        </p:txBody>
      </p:sp>
      <p:sp>
        <p:nvSpPr>
          <p:cNvPr id="12" name="正方形/長方形 11"/>
          <p:cNvSpPr/>
          <p:nvPr/>
        </p:nvSpPr>
        <p:spPr bwMode="auto">
          <a:xfrm>
            <a:off x="3215968" y="3879005"/>
            <a:ext cx="2880032" cy="360004"/>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正方形/長方形 12"/>
          <p:cNvSpPr/>
          <p:nvPr/>
        </p:nvSpPr>
        <p:spPr bwMode="auto">
          <a:xfrm>
            <a:off x="3215969" y="3879005"/>
            <a:ext cx="2250025" cy="360004"/>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正方形/長方形 13"/>
          <p:cNvSpPr/>
          <p:nvPr/>
        </p:nvSpPr>
        <p:spPr bwMode="auto">
          <a:xfrm>
            <a:off x="4295980" y="4329010"/>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ループ後のキャッシュ上のデータ</a:t>
            </a:r>
          </a:p>
        </p:txBody>
      </p:sp>
    </p:spTree>
    <p:extLst>
      <p:ext uri="{BB962C8B-B14F-4D97-AF65-F5344CB8AC3E}">
        <p14:creationId xmlns:p14="http://schemas.microsoft.com/office/powerpoint/2010/main" val="1169825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r>
              <a:rPr lang="ja-JP" altLang="en-US" dirty="0"/>
              <a:t>メモリ</a:t>
            </a:r>
            <a:endParaRPr lang="en-US" altLang="ja-JP" dirty="0"/>
          </a:p>
          <a:p>
            <a:pPr lvl="1"/>
            <a:r>
              <a:rPr lang="ja-JP" altLang="en-US" dirty="0"/>
              <a:t>構造，動作，容量と速度</a:t>
            </a:r>
            <a:endParaRPr lang="en-US" altLang="ja-JP" dirty="0"/>
          </a:p>
          <a:p>
            <a:pPr lvl="1"/>
            <a:r>
              <a:rPr lang="en-US" altLang="ja-JP" dirty="0"/>
              <a:t>SRAM </a:t>
            </a:r>
            <a:r>
              <a:rPr lang="ja-JP" altLang="en-US" dirty="0"/>
              <a:t>と </a:t>
            </a:r>
            <a:r>
              <a:rPr lang="en-US" altLang="ja-JP" dirty="0"/>
              <a:t>DRAM</a:t>
            </a:r>
          </a:p>
          <a:p>
            <a:pPr lvl="1"/>
            <a:r>
              <a:rPr lang="ja-JP" altLang="en-US" dirty="0"/>
              <a:t>メモリの存在理由</a:t>
            </a:r>
            <a:endParaRPr lang="en-US" altLang="ja-JP" dirty="0"/>
          </a:p>
          <a:p>
            <a:r>
              <a:rPr lang="ja-JP" altLang="en-US" dirty="0"/>
              <a:t>キャッシュ</a:t>
            </a:r>
            <a:endParaRPr lang="en-US" altLang="ja-JP" dirty="0"/>
          </a:p>
          <a:p>
            <a:pPr lvl="1"/>
            <a:r>
              <a:rPr lang="ja-JP" altLang="en-US" dirty="0"/>
              <a:t>基本的な原理と構造</a:t>
            </a:r>
            <a:endParaRPr lang="en-US" altLang="ja-JP" dirty="0"/>
          </a:p>
          <a:p>
            <a:pPr lvl="1"/>
            <a:r>
              <a:rPr lang="ja-JP" altLang="en-US" dirty="0"/>
              <a:t>容量の性能への影響</a:t>
            </a:r>
            <a:endParaRPr kumimoji="1" lang="en-US" altLang="ja-JP" dirty="0">
              <a:solidFill>
                <a:schemeClr val="accent5"/>
              </a:solidFill>
            </a:endParaRPr>
          </a:p>
        </p:txBody>
      </p:sp>
    </p:spTree>
    <p:extLst>
      <p:ext uri="{BB962C8B-B14F-4D97-AF65-F5344CB8AC3E}">
        <p14:creationId xmlns:p14="http://schemas.microsoft.com/office/powerpoint/2010/main" val="466488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９</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5"/>
            <a:ext cx="7830087" cy="5220057"/>
          </a:xfrm>
        </p:spPr>
        <p:txBody>
          <a:bodyPr/>
          <a:lstStyle/>
          <a:p>
            <a:r>
              <a:rPr lang="ja-JP" altLang="en-US" sz="1600" dirty="0"/>
              <a:t>以下のような条件を考える</a:t>
            </a:r>
            <a:endParaRPr lang="en-US" altLang="ja-JP" sz="1600" dirty="0"/>
          </a:p>
          <a:p>
            <a:pPr lvl="1"/>
            <a:r>
              <a:rPr lang="en-US" altLang="ja-JP" sz="1600" dirty="0"/>
              <a:t>10</a:t>
            </a:r>
            <a:r>
              <a:rPr lang="ja-JP" altLang="en-US" sz="1600" dirty="0"/>
              <a:t>段のパイプラインを持つ </a:t>
            </a:r>
            <a:r>
              <a:rPr lang="en-US" altLang="ja-JP" sz="1600" dirty="0"/>
              <a:t>2-way </a:t>
            </a:r>
            <a:r>
              <a:rPr lang="ja-JP" altLang="en-US" sz="1600" dirty="0"/>
              <a:t>スーパスカラプロセッサであり，理想的には </a:t>
            </a:r>
            <a:r>
              <a:rPr lang="en-US" altLang="ja-JP" sz="1600" dirty="0"/>
              <a:t>IPC=2 </a:t>
            </a:r>
            <a:r>
              <a:rPr lang="ja-JP" altLang="en-US" sz="1600" dirty="0"/>
              <a:t>で実行できる</a:t>
            </a:r>
            <a:endParaRPr lang="en-US" altLang="ja-JP" sz="1600" dirty="0"/>
          </a:p>
          <a:p>
            <a:pPr lvl="1"/>
            <a:r>
              <a:rPr lang="ja-JP" altLang="en-US" sz="1600" dirty="0"/>
              <a:t>ロード命令の出現率は </a:t>
            </a:r>
            <a:r>
              <a:rPr lang="en-US" altLang="ja-JP" sz="1600" dirty="0"/>
              <a:t>0.15</a:t>
            </a:r>
          </a:p>
          <a:p>
            <a:pPr lvl="1"/>
            <a:r>
              <a:rPr lang="en-US" altLang="ja-JP" sz="1600" dirty="0"/>
              <a:t>CPU </a:t>
            </a:r>
            <a:r>
              <a:rPr lang="ja-JP" altLang="en-US" sz="1600" dirty="0"/>
              <a:t>は </a:t>
            </a:r>
            <a:r>
              <a:rPr lang="en-US" altLang="ja-JP" sz="1600" dirty="0"/>
              <a:t>L1 </a:t>
            </a:r>
            <a:r>
              <a:rPr lang="ja-JP" altLang="en-US" sz="1600" dirty="0"/>
              <a:t>キャッシュをもつ</a:t>
            </a:r>
            <a:endParaRPr lang="en-US" altLang="ja-JP" sz="1600" dirty="0"/>
          </a:p>
          <a:p>
            <a:pPr lvl="1"/>
            <a:r>
              <a:rPr lang="ja-JP" altLang="en-US" sz="1600" dirty="0"/>
              <a:t>ロード命令のみが </a:t>
            </a:r>
            <a:r>
              <a:rPr lang="en-US" altLang="ja-JP" sz="1600" dirty="0"/>
              <a:t>L1 </a:t>
            </a:r>
            <a:r>
              <a:rPr lang="ja-JP" altLang="en-US" sz="1600" dirty="0"/>
              <a:t>キャッシュやメモリにアクセスするものとする</a:t>
            </a:r>
            <a:endParaRPr lang="en-US" altLang="ja-JP" sz="1600" dirty="0"/>
          </a:p>
          <a:p>
            <a:pPr lvl="1"/>
            <a:r>
              <a:rPr lang="en-US" altLang="ja-JP" sz="1600" dirty="0"/>
              <a:t>L1 </a:t>
            </a:r>
            <a:r>
              <a:rPr lang="ja-JP" altLang="en-US" sz="1600" dirty="0"/>
              <a:t>キャッシュのヒット時には一切のペナルティなしで実行できる</a:t>
            </a:r>
            <a:endParaRPr lang="en-US" altLang="ja-JP" sz="1600" dirty="0"/>
          </a:p>
          <a:p>
            <a:r>
              <a:rPr lang="en-US" altLang="ja-JP" sz="1600" dirty="0"/>
              <a:t>(1) </a:t>
            </a:r>
            <a:r>
              <a:rPr lang="ja-JP" altLang="en-US" sz="1600" dirty="0"/>
              <a:t>以下の場合の </a:t>
            </a:r>
            <a:r>
              <a:rPr lang="en-US" altLang="ja-JP" sz="1600" dirty="0"/>
              <a:t>IPC </a:t>
            </a:r>
            <a:r>
              <a:rPr lang="ja-JP" altLang="en-US" sz="1600" dirty="0"/>
              <a:t>を求めよ</a:t>
            </a:r>
            <a:endParaRPr lang="en-US" altLang="ja-JP" sz="1600" dirty="0"/>
          </a:p>
          <a:p>
            <a:pPr lvl="1"/>
            <a:r>
              <a:rPr lang="ja-JP" altLang="en-US" sz="1600" dirty="0"/>
              <a:t>ロード命令による </a:t>
            </a:r>
            <a:r>
              <a:rPr lang="en-US" altLang="ja-JP" sz="1600" dirty="0"/>
              <a:t>L1 </a:t>
            </a:r>
            <a:r>
              <a:rPr lang="ja-JP" altLang="en-US" sz="1600" dirty="0"/>
              <a:t>キャッシュのアクセス１回あたりのミス率が </a:t>
            </a:r>
            <a:r>
              <a:rPr lang="en-US" altLang="ja-JP" sz="1600" dirty="0"/>
              <a:t>0.02 </a:t>
            </a:r>
          </a:p>
          <a:p>
            <a:pPr lvl="1"/>
            <a:r>
              <a:rPr lang="ja-JP" altLang="en-US" sz="1600" dirty="0"/>
              <a:t>ミスの発生時は </a:t>
            </a:r>
            <a:r>
              <a:rPr lang="en-US" altLang="ja-JP" sz="1600" dirty="0"/>
              <a:t>100 </a:t>
            </a:r>
            <a:r>
              <a:rPr lang="ja-JP" altLang="en-US" sz="1600" dirty="0"/>
              <a:t>サイクル追加で時間がかかる</a:t>
            </a: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74</a:t>
            </a:fld>
            <a:endParaRPr kumimoji="1" lang="ja-JP" altLang="en-US" dirty="0"/>
          </a:p>
        </p:txBody>
      </p:sp>
    </p:spTree>
    <p:extLst>
      <p:ext uri="{BB962C8B-B14F-4D97-AF65-F5344CB8AC3E}">
        <p14:creationId xmlns:p14="http://schemas.microsoft.com/office/powerpoint/2010/main" val="244451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９</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5"/>
            <a:ext cx="7830087" cy="5220057"/>
          </a:xfrm>
        </p:spPr>
        <p:txBody>
          <a:bodyPr/>
          <a:lstStyle/>
          <a:p>
            <a:r>
              <a:rPr lang="en-US" altLang="ja-JP" sz="1600" dirty="0"/>
              <a:t>(2) </a:t>
            </a:r>
            <a:r>
              <a:rPr lang="ja-JP" altLang="en-US" sz="1600" dirty="0"/>
              <a:t>以下の場合の </a:t>
            </a:r>
            <a:r>
              <a:rPr lang="en-US" altLang="ja-JP" sz="1600" dirty="0"/>
              <a:t>IPC </a:t>
            </a:r>
            <a:r>
              <a:rPr lang="ja-JP" altLang="en-US" sz="1600" dirty="0"/>
              <a:t>を求めよ</a:t>
            </a:r>
            <a:endParaRPr lang="en-US" altLang="ja-JP" sz="1600" dirty="0"/>
          </a:p>
          <a:p>
            <a:pPr lvl="1">
              <a:buFont typeface="+mj-lt"/>
              <a:buAutoNum type="arabicPeriod"/>
            </a:pPr>
            <a:r>
              <a:rPr lang="en-US" altLang="ja-JP" sz="1600" dirty="0"/>
              <a:t>L1 </a:t>
            </a:r>
            <a:r>
              <a:rPr lang="ja-JP" altLang="en-US" sz="1600" dirty="0"/>
              <a:t>キャッシュの容量を倍にしたもの</a:t>
            </a:r>
            <a:endParaRPr lang="en-US" altLang="ja-JP" sz="1600" dirty="0"/>
          </a:p>
          <a:p>
            <a:pPr lvl="2"/>
            <a:r>
              <a:rPr lang="en-US" altLang="ja-JP" sz="1600" dirty="0"/>
              <a:t>L1 </a:t>
            </a:r>
            <a:r>
              <a:rPr lang="ja-JP" altLang="en-US" sz="1600" dirty="0"/>
              <a:t>キャッシュに良く当たるようになったため，ミス率が </a:t>
            </a:r>
            <a:r>
              <a:rPr lang="en-US" altLang="ja-JP" sz="1600" dirty="0"/>
              <a:t>0.01 </a:t>
            </a:r>
            <a:r>
              <a:rPr lang="ja-JP" altLang="en-US" sz="1600" dirty="0"/>
              <a:t>に</a:t>
            </a:r>
            <a:endParaRPr lang="en-US" altLang="ja-JP" sz="1600" dirty="0"/>
          </a:p>
          <a:p>
            <a:pPr lvl="1">
              <a:buFont typeface="+mj-lt"/>
              <a:buAutoNum type="arabicPeriod"/>
            </a:pPr>
            <a:r>
              <a:rPr lang="en-US" altLang="ja-JP" sz="1600" dirty="0"/>
              <a:t>L2 </a:t>
            </a:r>
            <a:r>
              <a:rPr lang="ja-JP" altLang="en-US" sz="1600" dirty="0"/>
              <a:t>キャッシュを追加したもの</a:t>
            </a:r>
            <a:endParaRPr lang="en-US" altLang="ja-JP" sz="1600" dirty="0"/>
          </a:p>
          <a:p>
            <a:pPr lvl="2"/>
            <a:r>
              <a:rPr lang="en-US" altLang="ja-JP" sz="1600" dirty="0"/>
              <a:t>L2 </a:t>
            </a:r>
            <a:r>
              <a:rPr lang="ja-JP" altLang="en-US" sz="1600" dirty="0"/>
              <a:t>へのアクセス１回あたりのミス率は </a:t>
            </a:r>
            <a:r>
              <a:rPr lang="en-US" altLang="ja-JP" sz="1600" dirty="0"/>
              <a:t>0.1</a:t>
            </a:r>
          </a:p>
          <a:p>
            <a:pPr lvl="3"/>
            <a:r>
              <a:rPr lang="en-US" altLang="ja-JP" sz="1600" dirty="0"/>
              <a:t>L2 </a:t>
            </a:r>
            <a:r>
              <a:rPr lang="ja-JP" altLang="en-US" sz="1600" dirty="0"/>
              <a:t>は </a:t>
            </a:r>
            <a:r>
              <a:rPr lang="en-US" altLang="ja-JP" sz="1600" dirty="0"/>
              <a:t>L1 </a:t>
            </a:r>
            <a:r>
              <a:rPr lang="ja-JP" altLang="en-US" sz="1600" dirty="0"/>
              <a:t>にミスしたときのみアクセスするものとする</a:t>
            </a:r>
            <a:endParaRPr lang="en-US" altLang="ja-JP" sz="1600" dirty="0"/>
          </a:p>
          <a:p>
            <a:pPr lvl="2"/>
            <a:r>
              <a:rPr lang="en-US" altLang="ja-JP" sz="1600" dirty="0"/>
              <a:t>L2 </a:t>
            </a:r>
            <a:r>
              <a:rPr lang="ja-JP" altLang="en-US" sz="1600" dirty="0"/>
              <a:t>ヒット時は </a:t>
            </a:r>
            <a:r>
              <a:rPr lang="en-US" altLang="ja-JP" sz="1600" dirty="0"/>
              <a:t>L1 </a:t>
            </a:r>
            <a:r>
              <a:rPr lang="ja-JP" altLang="en-US" sz="1600" dirty="0"/>
              <a:t>ヒット時からの実行時間の追加が </a:t>
            </a:r>
            <a:r>
              <a:rPr lang="en-US" altLang="ja-JP" sz="1600" dirty="0"/>
              <a:t>15 </a:t>
            </a:r>
            <a:r>
              <a:rPr lang="ja-JP" altLang="en-US" sz="1600" dirty="0"/>
              <a:t>サイクル</a:t>
            </a:r>
            <a:endParaRPr lang="en-US" altLang="ja-JP" sz="1600" dirty="0"/>
          </a:p>
          <a:p>
            <a:pPr lvl="2"/>
            <a:r>
              <a:rPr lang="en-US" altLang="ja-JP" sz="1600" dirty="0"/>
              <a:t>L2 </a:t>
            </a:r>
            <a:r>
              <a:rPr lang="ja-JP" altLang="en-US" sz="1600" dirty="0"/>
              <a:t>ミス時は </a:t>
            </a:r>
            <a:r>
              <a:rPr lang="en-US" altLang="ja-JP" sz="1600" dirty="0"/>
              <a:t>L1 </a:t>
            </a:r>
            <a:r>
              <a:rPr lang="ja-JP" altLang="en-US" sz="1600" dirty="0"/>
              <a:t>ヒット時からの実行時間の追加が </a:t>
            </a:r>
            <a:r>
              <a:rPr lang="en-US" altLang="ja-JP" sz="1600" dirty="0"/>
              <a:t>150 </a:t>
            </a:r>
            <a:r>
              <a:rPr lang="ja-JP" altLang="en-US" sz="1600" dirty="0"/>
              <a:t>サイクル</a:t>
            </a:r>
            <a:endParaRPr lang="en-US" altLang="ja-JP" sz="1600" dirty="0"/>
          </a:p>
          <a:p>
            <a:r>
              <a:rPr lang="en-US" altLang="ja-JP" sz="1600" dirty="0"/>
              <a:t> (3) </a:t>
            </a:r>
            <a:r>
              <a:rPr lang="ja-JP" altLang="en-US" sz="1600" dirty="0"/>
              <a:t>これまでに出てきた３つのモデルの性能を求め比較せよ</a:t>
            </a:r>
            <a:endParaRPr lang="en-US" altLang="ja-JP" sz="1600" dirty="0"/>
          </a:p>
          <a:p>
            <a:pPr lvl="1"/>
            <a:r>
              <a:rPr lang="ja-JP" altLang="en-US" sz="1600" dirty="0"/>
              <a:t>ただし </a:t>
            </a:r>
            <a:r>
              <a:rPr lang="en-US" altLang="ja-JP" sz="1600" dirty="0"/>
              <a:t>L1 </a:t>
            </a:r>
            <a:r>
              <a:rPr lang="ja-JP" altLang="en-US" sz="1600" dirty="0"/>
              <a:t>キャッシュ容量を倍にした場合，</a:t>
            </a:r>
            <a:br>
              <a:rPr lang="en-US" altLang="ja-JP" sz="1600" dirty="0"/>
            </a:br>
            <a:r>
              <a:rPr lang="ja-JP" altLang="en-US" sz="1600" dirty="0"/>
              <a:t>キャッシュのアクセス時間が伸びてしまうため，</a:t>
            </a:r>
            <a:br>
              <a:rPr lang="en-US" altLang="ja-JP" sz="1600" dirty="0"/>
            </a:br>
            <a:r>
              <a:rPr lang="ja-JP" altLang="en-US" sz="1600" dirty="0"/>
              <a:t>周波数が </a:t>
            </a:r>
            <a:r>
              <a:rPr lang="en-US" altLang="ja-JP" sz="1600" dirty="0"/>
              <a:t>0.8 </a:t>
            </a:r>
            <a:r>
              <a:rPr lang="ja-JP" altLang="en-US" sz="1600" dirty="0"/>
              <a:t>倍になるものとする</a:t>
            </a: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75</a:t>
            </a:fld>
            <a:endParaRPr kumimoji="1" lang="ja-JP" altLang="en-US" dirty="0"/>
          </a:p>
        </p:txBody>
      </p:sp>
    </p:spTree>
    <p:extLst>
      <p:ext uri="{BB962C8B-B14F-4D97-AF65-F5344CB8AC3E}">
        <p14:creationId xmlns:p14="http://schemas.microsoft.com/office/powerpoint/2010/main" val="1919053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268976"/>
            <a:ext cx="7920088" cy="5220058"/>
          </a:xfrm>
        </p:spPr>
        <p:txBody>
          <a:bodyPr/>
          <a:lstStyle/>
          <a:p>
            <a:r>
              <a:rPr lang="ja-JP" altLang="en-US" sz="1600" dirty="0"/>
              <a:t>以下を提出：</a:t>
            </a:r>
            <a:endParaRPr lang="en-US" altLang="ja-JP" sz="1600" dirty="0"/>
          </a:p>
          <a:p>
            <a:pPr lvl="1">
              <a:buFont typeface="+mj-lt"/>
              <a:buAutoNum type="arabicPeriod"/>
            </a:pPr>
            <a:r>
              <a:rPr lang="ja-JP" altLang="en-US" sz="1600" dirty="0"/>
              <a:t>課題９：　</a:t>
            </a:r>
            <a:endParaRPr lang="en-US" altLang="ja-JP" sz="1600" dirty="0"/>
          </a:p>
          <a:p>
            <a:pPr lvl="2"/>
            <a:r>
              <a:rPr lang="ja-JP" altLang="en-US" sz="1600" dirty="0"/>
              <a:t>提出は </a:t>
            </a:r>
            <a:r>
              <a:rPr lang="en-US" altLang="ja-JP" sz="1600" dirty="0"/>
              <a:t>Moodle </a:t>
            </a:r>
            <a:r>
              <a:rPr lang="ja-JP" altLang="en-US" sz="1600" dirty="0"/>
              <a:t>の「課題９」のところからお願いします</a:t>
            </a:r>
            <a:endParaRPr lang="en-US" altLang="ja-JP" sz="1600" dirty="0"/>
          </a:p>
          <a:p>
            <a:pPr lvl="2"/>
            <a:r>
              <a:rPr lang="ja-JP" altLang="en-US" sz="1600" dirty="0"/>
              <a:t>紙に書いた場合は写真を撮ってアップロードしてください</a:t>
            </a:r>
            <a:endParaRPr lang="en-US" altLang="ja-JP" sz="1600" dirty="0"/>
          </a:p>
          <a:p>
            <a:pPr lvl="1">
              <a:buFont typeface="+mj-lt"/>
              <a:buAutoNum type="arabicPeriod"/>
            </a:pPr>
            <a:r>
              <a:rPr lang="ja-JP" altLang="en-US" sz="1600" dirty="0"/>
              <a:t>感想や質問：　</a:t>
            </a:r>
            <a:endParaRPr lang="en-US" altLang="ja-JP" sz="1600" dirty="0"/>
          </a:p>
          <a:p>
            <a:pPr lvl="2"/>
            <a:r>
              <a:rPr lang="ja-JP" altLang="en-US" sz="1600" dirty="0"/>
              <a:t>「感想や質問」のところに投稿してください</a:t>
            </a:r>
            <a:endParaRPr lang="en-US" altLang="ja-JP" sz="1600" dirty="0"/>
          </a:p>
          <a:p>
            <a:pPr lvl="2"/>
            <a:r>
              <a:rPr lang="ja-JP" altLang="en-US" sz="1600" dirty="0"/>
              <a:t>わからない場所がある場合，具体的に書いてもらえると良いです</a:t>
            </a:r>
            <a:endParaRPr lang="en-US" altLang="ja-JP" sz="1600" dirty="0"/>
          </a:p>
          <a:p>
            <a:r>
              <a:rPr lang="ja-JP" altLang="en-US" sz="1600" dirty="0"/>
              <a:t>提出締め切り</a:t>
            </a:r>
            <a:endParaRPr lang="en-US" altLang="ja-JP" sz="1600" dirty="0"/>
          </a:p>
          <a:p>
            <a:pPr lvl="1"/>
            <a:r>
              <a:rPr lang="ja-JP" altLang="en-US" sz="1600" dirty="0"/>
              <a:t>次の講義の開始まで</a:t>
            </a:r>
            <a:endParaRPr lang="en-US" altLang="ja-JP" sz="1600" dirty="0"/>
          </a:p>
          <a:p>
            <a:r>
              <a:rPr lang="ja-JP" altLang="en-US" sz="1600" dirty="0"/>
              <a:t>注意：</a:t>
            </a:r>
            <a:endParaRPr lang="en-US" altLang="ja-JP" sz="1600" dirty="0"/>
          </a:p>
          <a:p>
            <a:pPr lvl="1"/>
            <a:r>
              <a:rPr lang="ja-JP" altLang="en-US" sz="1600" dirty="0"/>
              <a:t>課題の出来は，ある程度努力したあとがあれば良しです</a:t>
            </a:r>
            <a:endParaRPr lang="en-US" altLang="ja-JP" sz="1600" dirty="0"/>
          </a:p>
          <a:p>
            <a:pPr lvl="1"/>
            <a:r>
              <a:rPr lang="ja-JP" altLang="en-US" sz="1600" dirty="0"/>
              <a:t>必ずしも正解していなくても良いです</a:t>
            </a:r>
            <a:endParaRPr lang="en-US" altLang="ja-JP" sz="16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F954A2-E86F-EB6E-605A-765244A29FFE}"/>
              </a:ext>
            </a:extLst>
          </p:cNvPr>
          <p:cNvSpPr>
            <a:spLocks noGrp="1"/>
          </p:cNvSpPr>
          <p:nvPr>
            <p:ph type="title"/>
          </p:nvPr>
        </p:nvSpPr>
        <p:spPr/>
        <p:txBody>
          <a:bodyPr/>
          <a:lstStyle/>
          <a:p>
            <a:r>
              <a:rPr kumimoji="1" lang="ja-JP" altLang="en-US" dirty="0"/>
              <a:t>付録</a:t>
            </a:r>
            <a:endParaRPr kumimoji="1" lang="en-US" dirty="0"/>
          </a:p>
        </p:txBody>
      </p:sp>
    </p:spTree>
    <p:extLst>
      <p:ext uri="{BB962C8B-B14F-4D97-AF65-F5344CB8AC3E}">
        <p14:creationId xmlns:p14="http://schemas.microsoft.com/office/powerpoint/2010/main" val="14338516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5015988" y="2258987"/>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en-US" altLang="ja-JP" dirty="0"/>
              <a:t>SRAM </a:t>
            </a:r>
            <a:r>
              <a:rPr kumimoji="1" lang="ja-JP" altLang="en-US" dirty="0"/>
              <a:t>の読み出し</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2135956" y="4059007"/>
            <a:ext cx="8280092" cy="2249718"/>
          </a:xfrm>
        </p:spPr>
        <p:txBody>
          <a:bodyPr/>
          <a:lstStyle/>
          <a:p>
            <a:pPr marL="817200" lvl="1" indent="-457200">
              <a:buFont typeface="+mj-lt"/>
              <a:buAutoNum type="arabicPeriod"/>
            </a:pPr>
            <a:r>
              <a:rPr kumimoji="1" lang="ja-JP" altLang="en-US" dirty="0"/>
              <a:t>ビットラインのプリチャージ</a:t>
            </a:r>
            <a:endParaRPr kumimoji="1" lang="en-US" altLang="ja-JP" dirty="0"/>
          </a:p>
          <a:p>
            <a:pPr lvl="2"/>
            <a:r>
              <a:rPr kumimoji="1" lang="ja-JP" altLang="en-US" dirty="0"/>
              <a:t>ビットラインをあらかじめ高電位（１）にチャージする</a:t>
            </a:r>
            <a:endParaRPr kumimoji="1" lang="en-US" altLang="ja-JP" dirty="0"/>
          </a:p>
          <a:p>
            <a:pPr marL="817200" lvl="1" indent="-457200">
              <a:buFont typeface="+mj-lt"/>
              <a:buAutoNum type="arabicPeriod"/>
            </a:pPr>
            <a:r>
              <a:rPr kumimoji="1" lang="ja-JP" altLang="en-US" dirty="0"/>
              <a:t>ワードラインをアサート</a:t>
            </a:r>
            <a:endParaRPr kumimoji="1" lang="en-US" altLang="ja-JP" dirty="0"/>
          </a:p>
          <a:p>
            <a:pPr lvl="2"/>
            <a:r>
              <a:rPr lang="ja-JP" altLang="en-US" dirty="0"/>
              <a:t>ループの右にある </a:t>
            </a:r>
            <a:r>
              <a:rPr lang="en-US" altLang="ja-JP" dirty="0"/>
              <a:t>NMOS </a:t>
            </a:r>
            <a:r>
              <a:rPr lang="ja-JP" altLang="en-US" dirty="0"/>
              <a:t>が </a:t>
            </a:r>
            <a:r>
              <a:rPr lang="en-US" altLang="ja-JP" dirty="0"/>
              <a:t>ON </a:t>
            </a:r>
            <a:r>
              <a:rPr lang="ja-JP" altLang="en-US" dirty="0"/>
              <a:t>に</a:t>
            </a:r>
            <a:endParaRPr lang="en-US" altLang="ja-JP" dirty="0"/>
          </a:p>
          <a:p>
            <a:pPr lvl="2"/>
            <a:r>
              <a:rPr kumimoji="1" lang="ja-JP" altLang="en-US" dirty="0"/>
              <a:t>ループとビットラインが接続される</a:t>
            </a:r>
            <a:endParaRPr kumimoji="1" lang="en-US" altLang="ja-JP" dirty="0"/>
          </a:p>
          <a:p>
            <a:pPr marL="817200" lvl="1" indent="-457200">
              <a:buFont typeface="+mj-lt"/>
              <a:buAutoNum type="arabicPeriod"/>
            </a:pPr>
            <a:r>
              <a:rPr kumimoji="1" lang="ja-JP" altLang="en-US" dirty="0"/>
              <a:t>ビットラインのディスチャージ</a:t>
            </a:r>
            <a:endParaRPr kumimoji="1" lang="en-US" altLang="ja-JP" dirty="0"/>
          </a:p>
          <a:p>
            <a:pPr lvl="2"/>
            <a:r>
              <a:rPr kumimoji="1" lang="ja-JP" altLang="en-US" dirty="0"/>
              <a:t>ループの右が </a:t>
            </a:r>
            <a:r>
              <a:rPr lang="en-US" altLang="ja-JP" dirty="0"/>
              <a:t>0 </a:t>
            </a:r>
            <a:r>
              <a:rPr lang="ja-JP" altLang="en-US" dirty="0"/>
              <a:t>なら，ビットラインが０に</a:t>
            </a:r>
            <a:endParaRPr lang="en-US" altLang="ja-JP" dirty="0"/>
          </a:p>
          <a:p>
            <a:pPr lvl="2"/>
            <a:r>
              <a:rPr lang="ja-JP" altLang="en-US" dirty="0"/>
              <a:t>ループの右が１ならそのまま</a:t>
            </a:r>
            <a:endParaRPr lang="en-US" altLang="ja-JP" dirty="0"/>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1897550"/>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2618275"/>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6816008" y="2258987"/>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645600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4295980" y="2258987"/>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465598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7176012" y="2618992"/>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3935976"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3935976" y="1538979"/>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7536016" y="1538980"/>
            <a:ext cx="0" cy="1800021"/>
          </a:xfrm>
          <a:prstGeom prst="line">
            <a:avLst/>
          </a:prstGeom>
          <a:ln>
            <a:headEnd type="none" w="sm" len="sm"/>
          </a:ln>
        </p:spPr>
        <p:style>
          <a:lnRef idx="3">
            <a:schemeClr val="accent6"/>
          </a:lnRef>
          <a:fillRef idx="0">
            <a:schemeClr val="accent6"/>
          </a:fillRef>
          <a:effectRef idx="2">
            <a:schemeClr val="accent6"/>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6996010"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4475982"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3575972" y="1898983"/>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4745985" y="1448979"/>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54" name="正方形/長方形 53"/>
          <p:cNvSpPr/>
          <p:nvPr/>
        </p:nvSpPr>
        <p:spPr>
          <a:xfrm>
            <a:off x="3575973"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64" name="正方形/長方形 63"/>
          <p:cNvSpPr/>
          <p:nvPr/>
        </p:nvSpPr>
        <p:spPr>
          <a:xfrm>
            <a:off x="7266014"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31" name="正方形/長方形 30"/>
          <p:cNvSpPr/>
          <p:nvPr/>
        </p:nvSpPr>
        <p:spPr>
          <a:xfrm>
            <a:off x="5915998"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0</a:t>
            </a:r>
            <a:endParaRPr lang="ja-JP" altLang="en-US" sz="2400" dirty="0">
              <a:solidFill>
                <a:schemeClr val="accent6"/>
              </a:solidFill>
              <a:latin typeface="Arial Narrow" pitchFamily="34" charset="0"/>
            </a:endParaRPr>
          </a:p>
        </p:txBody>
      </p:sp>
      <p:sp>
        <p:nvSpPr>
          <p:cNvPr id="32" name="正方形/長方形 31"/>
          <p:cNvSpPr/>
          <p:nvPr/>
        </p:nvSpPr>
        <p:spPr>
          <a:xfrm>
            <a:off x="6636006" y="1808983"/>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2. NMOS</a:t>
            </a:r>
            <a:endParaRPr lang="ja-JP" altLang="en-US" sz="1600" dirty="0">
              <a:solidFill>
                <a:schemeClr val="accent6"/>
              </a:solidFill>
              <a:latin typeface="Arial Narrow" pitchFamily="34" charset="0"/>
            </a:endParaRPr>
          </a:p>
        </p:txBody>
      </p:sp>
      <p:sp>
        <p:nvSpPr>
          <p:cNvPr id="33" name="正方形/長方形 32"/>
          <p:cNvSpPr/>
          <p:nvPr/>
        </p:nvSpPr>
        <p:spPr>
          <a:xfrm>
            <a:off x="7626017" y="1358978"/>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dirty="0">
                <a:solidFill>
                  <a:schemeClr val="accent6"/>
                </a:solidFill>
                <a:latin typeface="Arial Narrow" pitchFamily="34" charset="0"/>
              </a:rPr>
              <a:t>1. pre charge</a:t>
            </a:r>
            <a:endParaRPr lang="ja-JP" altLang="en-US" dirty="0">
              <a:solidFill>
                <a:schemeClr val="accent6"/>
              </a:solidFill>
              <a:latin typeface="Arial Narrow" pitchFamily="34" charset="0"/>
            </a:endParaRPr>
          </a:p>
        </p:txBody>
      </p:sp>
      <p:sp>
        <p:nvSpPr>
          <p:cNvPr id="34" name="Freeform 10">
            <a:extLst>
              <a:ext uri="{FF2B5EF4-FFF2-40B4-BE49-F238E27FC236}">
                <a16:creationId xmlns:a16="http://schemas.microsoft.com/office/drawing/2014/main" id="{594994CD-2E8A-4F58-A850-5DAC43A07B36}"/>
              </a:ext>
            </a:extLst>
          </p:cNvPr>
          <p:cNvSpPr>
            <a:spLocks/>
          </p:cNvSpPr>
          <p:nvPr/>
        </p:nvSpPr>
        <p:spPr bwMode="auto">
          <a:xfrm flipV="1">
            <a:off x="6546006" y="2708992"/>
            <a:ext cx="99001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3">
            <a:schemeClr val="accent6"/>
          </a:lnRef>
          <a:fillRef idx="0">
            <a:schemeClr val="accent6"/>
          </a:fillRef>
          <a:effectRef idx="2">
            <a:schemeClr val="accent6"/>
          </a:effectRef>
          <a:fontRef idx="minor">
            <a:schemeClr val="tx1"/>
          </a:fontRef>
        </p:style>
        <p:txBody>
          <a:bodyPr/>
          <a:lstStyle/>
          <a:p>
            <a:endParaRPr lang="ja-JP" altLang="en-US">
              <a:latin typeface="+mn-ea"/>
              <a:cs typeface="Times New Roman" pitchFamily="18" charset="0"/>
            </a:endParaRPr>
          </a:p>
        </p:txBody>
      </p:sp>
      <p:sp>
        <p:nvSpPr>
          <p:cNvPr id="35" name="正方形/長方形 34"/>
          <p:cNvSpPr/>
          <p:nvPr/>
        </p:nvSpPr>
        <p:spPr>
          <a:xfrm>
            <a:off x="4835986"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1</a:t>
            </a:r>
            <a:endParaRPr lang="ja-JP" altLang="en-US" sz="2400" dirty="0">
              <a:solidFill>
                <a:schemeClr val="accent6"/>
              </a:solidFill>
              <a:latin typeface="Arial Narrow" pitchFamily="34" charset="0"/>
            </a:endParaRPr>
          </a:p>
        </p:txBody>
      </p:sp>
    </p:spTree>
    <p:extLst>
      <p:ext uri="{BB962C8B-B14F-4D97-AF65-F5344CB8AC3E}">
        <p14:creationId xmlns:p14="http://schemas.microsoft.com/office/powerpoint/2010/main" val="32785575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3DD7262D-3274-473E-B2E1-F40123548E2F}"/>
              </a:ext>
            </a:extLst>
          </p:cNvPr>
          <p:cNvSpPr/>
          <p:nvPr/>
        </p:nvSpPr>
        <p:spPr bwMode="auto">
          <a:xfrm>
            <a:off x="5015988" y="2258987"/>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D920B7C0-D0C9-41DE-A307-859A7517D5C9}"/>
              </a:ext>
            </a:extLst>
          </p:cNvPr>
          <p:cNvSpPr>
            <a:spLocks noGrp="1"/>
          </p:cNvSpPr>
          <p:nvPr>
            <p:ph type="title"/>
          </p:nvPr>
        </p:nvSpPr>
        <p:spPr/>
        <p:txBody>
          <a:bodyPr/>
          <a:lstStyle/>
          <a:p>
            <a:r>
              <a:rPr kumimoji="1" lang="ja-JP" altLang="en-US" dirty="0"/>
              <a:t>なぜプリチャージが必要なのか？</a:t>
            </a:r>
          </a:p>
        </p:txBody>
      </p:sp>
      <p:sp>
        <p:nvSpPr>
          <p:cNvPr id="3" name="テキスト プレースホルダー 2">
            <a:extLst>
              <a:ext uri="{FF2B5EF4-FFF2-40B4-BE49-F238E27FC236}">
                <a16:creationId xmlns:a16="http://schemas.microsoft.com/office/drawing/2014/main" id="{E6AEB639-6947-4C06-A6E1-A480E0492DB5}"/>
              </a:ext>
            </a:extLst>
          </p:cNvPr>
          <p:cNvSpPr>
            <a:spLocks noGrp="1"/>
          </p:cNvSpPr>
          <p:nvPr>
            <p:ph type="body" sz="quarter" idx="10"/>
          </p:nvPr>
        </p:nvSpPr>
        <p:spPr>
          <a:xfrm>
            <a:off x="1865953" y="4059007"/>
            <a:ext cx="8280092" cy="2249718"/>
          </a:xfrm>
        </p:spPr>
        <p:txBody>
          <a:bodyPr/>
          <a:lstStyle/>
          <a:p>
            <a:r>
              <a:rPr lang="ja-JP" altLang="en-US" dirty="0"/>
              <a:t>単にループとビットラインが接続されるだけではダメ</a:t>
            </a:r>
            <a:endParaRPr lang="en-US" altLang="ja-JP" dirty="0"/>
          </a:p>
          <a:p>
            <a:pPr lvl="1"/>
            <a:r>
              <a:rPr lang="en-US" altLang="ja-JP" dirty="0"/>
              <a:t>NMOS </a:t>
            </a:r>
            <a:r>
              <a:rPr lang="ja-JP" altLang="en-US" dirty="0"/>
              <a:t>が高電位をうまく伝えられないから</a:t>
            </a:r>
            <a:endParaRPr lang="en-US" altLang="ja-JP" dirty="0"/>
          </a:p>
          <a:p>
            <a:pPr lvl="2"/>
            <a:r>
              <a:rPr lang="ja-JP" altLang="en-US" dirty="0"/>
              <a:t>もしループの右側が１で </a:t>
            </a:r>
            <a:r>
              <a:rPr lang="en-US" altLang="ja-JP" dirty="0"/>
              <a:t>NMOS </a:t>
            </a:r>
            <a:r>
              <a:rPr lang="ja-JP" altLang="en-US" dirty="0"/>
              <a:t>が </a:t>
            </a:r>
            <a:r>
              <a:rPr lang="en-US" altLang="ja-JP" dirty="0"/>
              <a:t>ON </a:t>
            </a:r>
            <a:r>
              <a:rPr lang="ja-JP" altLang="en-US" dirty="0"/>
              <a:t>になっても，</a:t>
            </a:r>
            <a:br>
              <a:rPr lang="en-US" altLang="ja-JP" dirty="0"/>
            </a:br>
            <a:r>
              <a:rPr lang="ja-JP" altLang="en-US" dirty="0"/>
              <a:t>ビットラインを１に引き上げることはできない</a:t>
            </a:r>
            <a:endParaRPr lang="en-US" altLang="ja-JP" dirty="0"/>
          </a:p>
          <a:p>
            <a:pPr lvl="1"/>
            <a:r>
              <a:rPr lang="en-US" altLang="ja-JP" dirty="0"/>
              <a:t>PMOS </a:t>
            </a:r>
            <a:r>
              <a:rPr lang="ja-JP" altLang="en-US" dirty="0"/>
              <a:t>を追加すればできるが，なるべく小さく作りたいから嫌だ</a:t>
            </a:r>
            <a:endParaRPr lang="en-US" altLang="ja-JP" dirty="0"/>
          </a:p>
          <a:p>
            <a:r>
              <a:rPr lang="en-US" altLang="ja-JP" dirty="0"/>
              <a:t>NMOS </a:t>
            </a:r>
            <a:r>
              <a:rPr lang="ja-JP" altLang="en-US" dirty="0"/>
              <a:t>を介してビットラインの電位を下げることだけができる</a:t>
            </a:r>
            <a:endParaRPr lang="en-US" altLang="ja-JP" dirty="0"/>
          </a:p>
          <a:p>
            <a:pPr lvl="1"/>
            <a:r>
              <a:rPr lang="en-US" altLang="ja-JP" dirty="0"/>
              <a:t>= </a:t>
            </a:r>
            <a:r>
              <a:rPr lang="ja-JP" altLang="en-US" dirty="0"/>
              <a:t>あらかじめ電位を上げておいて，下がったかどうかで判定</a:t>
            </a:r>
            <a:endParaRPr lang="en-US" altLang="ja-JP" dirty="0"/>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1897550"/>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2618275"/>
            <a:ext cx="717550" cy="720725"/>
          </a:xfrm>
          <a:prstGeom prst="rect">
            <a:avLst/>
          </a:prstGeom>
          <a:noFill/>
        </p:spPr>
      </p:pic>
      <p:grpSp>
        <p:nvGrpSpPr>
          <p:cNvPr id="43" name="グループ化 42">
            <a:extLst>
              <a:ext uri="{FF2B5EF4-FFF2-40B4-BE49-F238E27FC236}">
                <a16:creationId xmlns:a16="http://schemas.microsoft.com/office/drawing/2014/main" id="{2E2C44F0-1023-431F-9CAE-76D98F4DEBBA}"/>
              </a:ext>
            </a:extLst>
          </p:cNvPr>
          <p:cNvGrpSpPr/>
          <p:nvPr/>
        </p:nvGrpSpPr>
        <p:grpSpPr>
          <a:xfrm>
            <a:off x="6816008" y="2258987"/>
            <a:ext cx="360004" cy="360004"/>
            <a:chOff x="4932004" y="2708992"/>
            <a:chExt cx="360004" cy="360004"/>
          </a:xfrm>
        </p:grpSpPr>
        <p:cxnSp>
          <p:nvCxnSpPr>
            <p:cNvPr id="26" name="直線コネクタ 25">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DE0A7002-3073-49D6-8ABC-00E0FF26DECF}"/>
              </a:ext>
            </a:extLst>
          </p:cNvPr>
          <p:cNvCxnSpPr>
            <a:cxnSpLocks/>
          </p:cNvCxnSpPr>
          <p:nvPr/>
        </p:nvCxnSpPr>
        <p:spPr>
          <a:xfrm>
            <a:off x="645600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D778BFE3-A03E-473D-B803-AF62F6EBF32C}"/>
              </a:ext>
            </a:extLst>
          </p:cNvPr>
          <p:cNvGrpSpPr/>
          <p:nvPr/>
        </p:nvGrpSpPr>
        <p:grpSpPr>
          <a:xfrm>
            <a:off x="4295980" y="2258987"/>
            <a:ext cx="360004" cy="360004"/>
            <a:chOff x="4932004" y="2708992"/>
            <a:chExt cx="360004" cy="360004"/>
          </a:xfrm>
        </p:grpSpPr>
        <p:cxnSp>
          <p:nvCxnSpPr>
            <p:cNvPr id="46" name="直線コネクタ 45">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50" name="直線コネクタ 49">
            <a:extLst>
              <a:ext uri="{FF2B5EF4-FFF2-40B4-BE49-F238E27FC236}">
                <a16:creationId xmlns:a16="http://schemas.microsoft.com/office/drawing/2014/main" id="{6DA9E334-E262-4D78-AE9F-D066AE5E5934}"/>
              </a:ext>
            </a:extLst>
          </p:cNvPr>
          <p:cNvCxnSpPr>
            <a:cxnSpLocks/>
            <a:stCxn id="51" idx="1"/>
          </p:cNvCxnSpPr>
          <p:nvPr/>
        </p:nvCxnSpPr>
        <p:spPr>
          <a:xfrm flipH="1">
            <a:off x="4655984"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6001733-09AD-4DAC-8BA5-9A735951D417}"/>
              </a:ext>
            </a:extLst>
          </p:cNvPr>
          <p:cNvCxnSpPr>
            <a:cxnSpLocks/>
          </p:cNvCxnSpPr>
          <p:nvPr/>
        </p:nvCxnSpPr>
        <p:spPr>
          <a:xfrm>
            <a:off x="7176012" y="2618992"/>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5135806F-DC95-4CE1-B9BE-E5FB3FE0437F}"/>
              </a:ext>
            </a:extLst>
          </p:cNvPr>
          <p:cNvCxnSpPr>
            <a:cxnSpLocks/>
          </p:cNvCxnSpPr>
          <p:nvPr/>
        </p:nvCxnSpPr>
        <p:spPr>
          <a:xfrm>
            <a:off x="3935976" y="2618991"/>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A1E25F94-64AD-4B0B-BA8A-8E0E99ACC480}"/>
              </a:ext>
            </a:extLst>
          </p:cNvPr>
          <p:cNvCxnSpPr>
            <a:cxnSpLocks/>
          </p:cNvCxnSpPr>
          <p:nvPr/>
        </p:nvCxnSpPr>
        <p:spPr>
          <a:xfrm flipV="1">
            <a:off x="3935976" y="1538979"/>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428BCDB-12D7-414C-92E6-903ABDFB1719}"/>
              </a:ext>
            </a:extLst>
          </p:cNvPr>
          <p:cNvCxnSpPr>
            <a:cxnSpLocks/>
          </p:cNvCxnSpPr>
          <p:nvPr/>
        </p:nvCxnSpPr>
        <p:spPr>
          <a:xfrm flipV="1">
            <a:off x="7536016" y="1538980"/>
            <a:ext cx="0" cy="1800021"/>
          </a:xfrm>
          <a:prstGeom prst="line">
            <a:avLst/>
          </a:prstGeom>
          <a:ln>
            <a:headEnd type="none" w="sm" len="sm"/>
          </a:ln>
        </p:spPr>
        <p:style>
          <a:lnRef idx="3">
            <a:schemeClr val="accent6"/>
          </a:lnRef>
          <a:fillRef idx="0">
            <a:schemeClr val="accent6"/>
          </a:fillRef>
          <a:effectRef idx="2">
            <a:schemeClr val="accent6"/>
          </a:effectRef>
          <a:fontRef idx="minor">
            <a:schemeClr val="tx1"/>
          </a:fontRef>
        </p:style>
      </p:cxnSp>
      <p:cxnSp>
        <p:nvCxnSpPr>
          <p:cNvPr id="83" name="直線コネクタ 82">
            <a:extLst>
              <a:ext uri="{FF2B5EF4-FFF2-40B4-BE49-F238E27FC236}">
                <a16:creationId xmlns:a16="http://schemas.microsoft.com/office/drawing/2014/main" id="{36809C4F-E919-4760-95DB-403B2392206B}"/>
              </a:ext>
            </a:extLst>
          </p:cNvPr>
          <p:cNvCxnSpPr>
            <a:cxnSpLocks/>
          </p:cNvCxnSpPr>
          <p:nvPr/>
        </p:nvCxnSpPr>
        <p:spPr>
          <a:xfrm flipV="1">
            <a:off x="6996010"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991E2654-AFE3-433F-9E80-1A3D175E7AF8}"/>
              </a:ext>
            </a:extLst>
          </p:cNvPr>
          <p:cNvCxnSpPr>
            <a:cxnSpLocks/>
          </p:cNvCxnSpPr>
          <p:nvPr/>
        </p:nvCxnSpPr>
        <p:spPr>
          <a:xfrm flipV="1">
            <a:off x="4475982" y="1898983"/>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5DF913E5-9D7D-4CB2-BF16-5C60949ABA57}"/>
              </a:ext>
            </a:extLst>
          </p:cNvPr>
          <p:cNvCxnSpPr>
            <a:cxnSpLocks/>
          </p:cNvCxnSpPr>
          <p:nvPr/>
        </p:nvCxnSpPr>
        <p:spPr>
          <a:xfrm>
            <a:off x="3575972" y="1898983"/>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4745985" y="1448979"/>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54" name="正方形/長方形 53"/>
          <p:cNvSpPr/>
          <p:nvPr/>
        </p:nvSpPr>
        <p:spPr>
          <a:xfrm>
            <a:off x="3575973"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64" name="正方形/長方形 63"/>
          <p:cNvSpPr/>
          <p:nvPr/>
        </p:nvSpPr>
        <p:spPr>
          <a:xfrm>
            <a:off x="7266014" y="1088975"/>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31" name="正方形/長方形 30"/>
          <p:cNvSpPr/>
          <p:nvPr/>
        </p:nvSpPr>
        <p:spPr>
          <a:xfrm>
            <a:off x="5915998"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0</a:t>
            </a:r>
            <a:endParaRPr lang="ja-JP" altLang="en-US" sz="2400" dirty="0">
              <a:solidFill>
                <a:schemeClr val="accent6"/>
              </a:solidFill>
              <a:latin typeface="Arial Narrow" pitchFamily="34" charset="0"/>
            </a:endParaRPr>
          </a:p>
        </p:txBody>
      </p:sp>
      <p:sp>
        <p:nvSpPr>
          <p:cNvPr id="32" name="正方形/長方形 31"/>
          <p:cNvSpPr/>
          <p:nvPr/>
        </p:nvSpPr>
        <p:spPr>
          <a:xfrm>
            <a:off x="6636006" y="1808983"/>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solidFill>
                  <a:schemeClr val="accent6"/>
                </a:solidFill>
                <a:latin typeface="Arial Narrow" pitchFamily="34" charset="0"/>
              </a:rPr>
              <a:t>2. NMOS</a:t>
            </a:r>
            <a:endParaRPr lang="ja-JP" altLang="en-US" sz="1600" dirty="0">
              <a:solidFill>
                <a:schemeClr val="accent6"/>
              </a:solidFill>
              <a:latin typeface="Arial Narrow" pitchFamily="34" charset="0"/>
            </a:endParaRPr>
          </a:p>
        </p:txBody>
      </p:sp>
      <p:sp>
        <p:nvSpPr>
          <p:cNvPr id="33" name="正方形/長方形 32"/>
          <p:cNvSpPr/>
          <p:nvPr/>
        </p:nvSpPr>
        <p:spPr>
          <a:xfrm>
            <a:off x="7626017" y="1358978"/>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dirty="0">
                <a:solidFill>
                  <a:schemeClr val="accent6"/>
                </a:solidFill>
                <a:latin typeface="Arial Narrow" pitchFamily="34" charset="0"/>
              </a:rPr>
              <a:t>1. pre charge</a:t>
            </a:r>
            <a:endParaRPr lang="ja-JP" altLang="en-US" dirty="0">
              <a:solidFill>
                <a:schemeClr val="accent6"/>
              </a:solidFill>
              <a:latin typeface="Arial Narrow" pitchFamily="34" charset="0"/>
            </a:endParaRPr>
          </a:p>
        </p:txBody>
      </p:sp>
      <p:sp>
        <p:nvSpPr>
          <p:cNvPr id="34" name="Freeform 10">
            <a:extLst>
              <a:ext uri="{FF2B5EF4-FFF2-40B4-BE49-F238E27FC236}">
                <a16:creationId xmlns:a16="http://schemas.microsoft.com/office/drawing/2014/main" id="{594994CD-2E8A-4F58-A850-5DAC43A07B36}"/>
              </a:ext>
            </a:extLst>
          </p:cNvPr>
          <p:cNvSpPr>
            <a:spLocks/>
          </p:cNvSpPr>
          <p:nvPr/>
        </p:nvSpPr>
        <p:spPr bwMode="auto">
          <a:xfrm flipV="1">
            <a:off x="6546006" y="2708992"/>
            <a:ext cx="99001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3">
            <a:schemeClr val="accent6"/>
          </a:lnRef>
          <a:fillRef idx="0">
            <a:schemeClr val="accent6"/>
          </a:fillRef>
          <a:effectRef idx="2">
            <a:schemeClr val="accent6"/>
          </a:effectRef>
          <a:fontRef idx="minor">
            <a:schemeClr val="tx1"/>
          </a:fontRef>
        </p:style>
        <p:txBody>
          <a:bodyPr/>
          <a:lstStyle/>
          <a:p>
            <a:endParaRPr lang="ja-JP" altLang="en-US">
              <a:latin typeface="+mn-ea"/>
              <a:cs typeface="Times New Roman" pitchFamily="18" charset="0"/>
            </a:endParaRPr>
          </a:p>
        </p:txBody>
      </p:sp>
      <p:sp>
        <p:nvSpPr>
          <p:cNvPr id="35" name="正方形/長方形 34"/>
          <p:cNvSpPr/>
          <p:nvPr/>
        </p:nvSpPr>
        <p:spPr>
          <a:xfrm>
            <a:off x="4835986" y="2168987"/>
            <a:ext cx="719984"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400" dirty="0">
                <a:solidFill>
                  <a:schemeClr val="accent6"/>
                </a:solidFill>
                <a:latin typeface="Arial Narrow" pitchFamily="34" charset="0"/>
              </a:rPr>
              <a:t>1</a:t>
            </a:r>
            <a:endParaRPr lang="ja-JP" altLang="en-US" sz="2400" dirty="0">
              <a:solidFill>
                <a:schemeClr val="accent6"/>
              </a:solidFill>
              <a:latin typeface="Arial Narrow" pitchFamily="34" charset="0"/>
            </a:endParaRPr>
          </a:p>
        </p:txBody>
      </p:sp>
    </p:spTree>
    <p:extLst>
      <p:ext uri="{BB962C8B-B14F-4D97-AF65-F5344CB8AC3E}">
        <p14:creationId xmlns:p14="http://schemas.microsoft.com/office/powerpoint/2010/main" val="34949612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SRAM </a:t>
            </a:r>
            <a:r>
              <a:rPr kumimoji="1" lang="ja-JP" altLang="en-US" dirty="0"/>
              <a:t>の書き込み</a:t>
            </a:r>
          </a:p>
        </p:txBody>
      </p:sp>
      <p:sp>
        <p:nvSpPr>
          <p:cNvPr id="3" name="テキスト プレースホルダー 2"/>
          <p:cNvSpPr>
            <a:spLocks noGrp="1"/>
          </p:cNvSpPr>
          <p:nvPr>
            <p:ph type="body" sz="quarter" idx="10"/>
          </p:nvPr>
        </p:nvSpPr>
        <p:spPr>
          <a:xfrm>
            <a:off x="1775952" y="4419011"/>
            <a:ext cx="8640096" cy="1529710"/>
          </a:xfrm>
        </p:spPr>
        <p:txBody>
          <a:bodyPr/>
          <a:lstStyle/>
          <a:p>
            <a:r>
              <a:rPr kumimoji="1" lang="ja-JP" altLang="en-US" dirty="0"/>
              <a:t>書き込み手順</a:t>
            </a:r>
            <a:endParaRPr kumimoji="1" lang="en-US" altLang="ja-JP" dirty="0"/>
          </a:p>
          <a:p>
            <a:pPr marL="817200" lvl="1" indent="-457200">
              <a:buFont typeface="+mj-lt"/>
              <a:buAutoNum type="arabicPeriod"/>
            </a:pPr>
            <a:r>
              <a:rPr kumimoji="1" lang="ja-JP" altLang="en-US" dirty="0"/>
              <a:t>ループ左右のどちらか０にしたい方のビットラインの電位を下げる</a:t>
            </a:r>
            <a:endParaRPr kumimoji="1" lang="en-US" altLang="ja-JP" dirty="0"/>
          </a:p>
          <a:p>
            <a:pPr marL="817200" lvl="1" indent="-457200">
              <a:buFont typeface="+mj-lt"/>
              <a:buAutoNum type="arabicPeriod"/>
            </a:pPr>
            <a:r>
              <a:rPr kumimoji="1" lang="ja-JP" altLang="en-US" dirty="0"/>
              <a:t>ワードラインをアサートして </a:t>
            </a:r>
            <a:r>
              <a:rPr kumimoji="1" lang="en-US" altLang="ja-JP" dirty="0"/>
              <a:t>NMOS </a:t>
            </a:r>
            <a:r>
              <a:rPr kumimoji="1" lang="ja-JP" altLang="en-US" dirty="0"/>
              <a:t>を </a:t>
            </a:r>
            <a:r>
              <a:rPr kumimoji="1" lang="en-US" altLang="ja-JP" dirty="0"/>
              <a:t>ON </a:t>
            </a:r>
            <a:r>
              <a:rPr kumimoji="1" lang="ja-JP" altLang="en-US" dirty="0"/>
              <a:t>に</a:t>
            </a:r>
            <a:endParaRPr kumimoji="1" lang="en-US" altLang="ja-JP" dirty="0"/>
          </a:p>
          <a:p>
            <a:pPr marL="817200" lvl="1" indent="-457200">
              <a:buFont typeface="+mj-lt"/>
              <a:buAutoNum type="arabicPeriod"/>
            </a:pPr>
            <a:r>
              <a:rPr kumimoji="1" lang="ja-JP" altLang="en-US" dirty="0"/>
              <a:t>インバータの状態を強制的にビットライン側から低電位にする</a:t>
            </a:r>
            <a:endParaRPr kumimoji="1" lang="en-US" altLang="ja-JP" dirty="0"/>
          </a:p>
          <a:p>
            <a:r>
              <a:rPr kumimoji="1" lang="en-US" altLang="ja-JP" dirty="0"/>
              <a:t>NMOS </a:t>
            </a:r>
            <a:r>
              <a:rPr kumimoji="1" lang="ja-JP" altLang="en-US" dirty="0"/>
              <a:t>が低電位しか通せないので，書き込みには２本いる</a:t>
            </a:r>
          </a:p>
        </p:txBody>
      </p:sp>
      <p:sp>
        <p:nvSpPr>
          <p:cNvPr id="4" name="正方形/長方形 3">
            <a:extLst>
              <a:ext uri="{FF2B5EF4-FFF2-40B4-BE49-F238E27FC236}">
                <a16:creationId xmlns:a16="http://schemas.microsoft.com/office/drawing/2014/main" id="{3DD7262D-3274-473E-B2E1-F40123548E2F}"/>
              </a:ext>
            </a:extLst>
          </p:cNvPr>
          <p:cNvSpPr/>
          <p:nvPr/>
        </p:nvSpPr>
        <p:spPr bwMode="auto">
          <a:xfrm>
            <a:off x="5015988" y="2708992"/>
            <a:ext cx="1440016" cy="720008"/>
          </a:xfrm>
          <a:prstGeom prst="rect">
            <a:avLst/>
          </a:prstGeom>
          <a:noFill/>
          <a:ln w="9525">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pic>
        <p:nvPicPr>
          <p:cNvPr id="5" name="Picture 30" descr="NOT">
            <a:extLst>
              <a:ext uri="{FF2B5EF4-FFF2-40B4-BE49-F238E27FC236}">
                <a16:creationId xmlns:a16="http://schemas.microsoft.com/office/drawing/2014/main" id="{0794AC19-A550-4240-83B1-11644B63A990}"/>
              </a:ext>
            </a:extLst>
          </p:cNvPr>
          <p:cNvPicPr>
            <a:picLocks noChangeAspect="1" noChangeArrowheads="1"/>
          </p:cNvPicPr>
          <p:nvPr/>
        </p:nvPicPr>
        <p:blipFill>
          <a:blip r:embed="rId2" cstate="print"/>
          <a:srcRect/>
          <a:stretch>
            <a:fillRect/>
          </a:stretch>
        </p:blipFill>
        <p:spPr bwMode="auto">
          <a:xfrm flipH="1">
            <a:off x="5465993" y="2347555"/>
            <a:ext cx="717550" cy="720725"/>
          </a:xfrm>
          <a:prstGeom prst="rect">
            <a:avLst/>
          </a:prstGeom>
          <a:noFill/>
        </p:spPr>
      </p:pic>
      <p:pic>
        <p:nvPicPr>
          <p:cNvPr id="6" name="Picture 31" descr="NOT">
            <a:extLst>
              <a:ext uri="{FF2B5EF4-FFF2-40B4-BE49-F238E27FC236}">
                <a16:creationId xmlns:a16="http://schemas.microsoft.com/office/drawing/2014/main" id="{0CB53EC0-4D6B-4A82-AA1A-BDBC8EBBB1B0}"/>
              </a:ext>
            </a:extLst>
          </p:cNvPr>
          <p:cNvPicPr>
            <a:picLocks noChangeAspect="1" noChangeArrowheads="1"/>
          </p:cNvPicPr>
          <p:nvPr/>
        </p:nvPicPr>
        <p:blipFill>
          <a:blip r:embed="rId2" cstate="print"/>
          <a:srcRect/>
          <a:stretch>
            <a:fillRect/>
          </a:stretch>
        </p:blipFill>
        <p:spPr bwMode="auto">
          <a:xfrm>
            <a:off x="5465993" y="3068280"/>
            <a:ext cx="717550" cy="720725"/>
          </a:xfrm>
          <a:prstGeom prst="rect">
            <a:avLst/>
          </a:prstGeom>
          <a:noFill/>
        </p:spPr>
      </p:pic>
      <p:grpSp>
        <p:nvGrpSpPr>
          <p:cNvPr id="7" name="グループ化 6">
            <a:extLst>
              <a:ext uri="{FF2B5EF4-FFF2-40B4-BE49-F238E27FC236}">
                <a16:creationId xmlns:a16="http://schemas.microsoft.com/office/drawing/2014/main" id="{2E2C44F0-1023-431F-9CAE-76D98F4DEBBA}"/>
              </a:ext>
            </a:extLst>
          </p:cNvPr>
          <p:cNvGrpSpPr/>
          <p:nvPr/>
        </p:nvGrpSpPr>
        <p:grpSpPr>
          <a:xfrm>
            <a:off x="6816008" y="2708992"/>
            <a:ext cx="360004" cy="360004"/>
            <a:chOff x="4932004" y="2708992"/>
            <a:chExt cx="360004" cy="360004"/>
          </a:xfrm>
        </p:grpSpPr>
        <p:cxnSp>
          <p:nvCxnSpPr>
            <p:cNvPr id="8" name="直線コネクタ 7">
              <a:extLst>
                <a:ext uri="{FF2B5EF4-FFF2-40B4-BE49-F238E27FC236}">
                  <a16:creationId xmlns:a16="http://schemas.microsoft.com/office/drawing/2014/main" id="{C6C212B0-E8E2-4305-B0F4-EC4C04DC91AC}"/>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DADA5CC7-BFCA-4009-B807-BDA44F510924}"/>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6CE11CEA-71E0-4C39-9D33-FDB216731682}"/>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763186B6-1209-4A10-8E6C-4E78E05E46D5}"/>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2" name="直線コネクタ 11">
            <a:extLst>
              <a:ext uri="{FF2B5EF4-FFF2-40B4-BE49-F238E27FC236}">
                <a16:creationId xmlns:a16="http://schemas.microsoft.com/office/drawing/2014/main" id="{DE0A7002-3073-49D6-8ABC-00E0FF26DECF}"/>
              </a:ext>
            </a:extLst>
          </p:cNvPr>
          <p:cNvCxnSpPr>
            <a:cxnSpLocks/>
          </p:cNvCxnSpPr>
          <p:nvPr/>
        </p:nvCxnSpPr>
        <p:spPr>
          <a:xfrm>
            <a:off x="645600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grpSp>
        <p:nvGrpSpPr>
          <p:cNvPr id="13" name="グループ化 12">
            <a:extLst>
              <a:ext uri="{FF2B5EF4-FFF2-40B4-BE49-F238E27FC236}">
                <a16:creationId xmlns:a16="http://schemas.microsoft.com/office/drawing/2014/main" id="{D778BFE3-A03E-473D-B803-AF62F6EBF32C}"/>
              </a:ext>
            </a:extLst>
          </p:cNvPr>
          <p:cNvGrpSpPr/>
          <p:nvPr/>
        </p:nvGrpSpPr>
        <p:grpSpPr>
          <a:xfrm>
            <a:off x="4295980" y="2708992"/>
            <a:ext cx="360004" cy="360004"/>
            <a:chOff x="4932004" y="2708992"/>
            <a:chExt cx="360004" cy="360004"/>
          </a:xfrm>
        </p:grpSpPr>
        <p:cxnSp>
          <p:nvCxnSpPr>
            <p:cNvPr id="14" name="直線コネクタ 13">
              <a:extLst>
                <a:ext uri="{FF2B5EF4-FFF2-40B4-BE49-F238E27FC236}">
                  <a16:creationId xmlns:a16="http://schemas.microsoft.com/office/drawing/2014/main" id="{2E28824E-1E7E-4E4D-9CBA-A7B6CD2A6BBD}"/>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5CC2CA34-64C3-4BE7-98C2-FCE52CD4767F}"/>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3D8A6EFF-4579-4DC4-B286-B180B064FD90}"/>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629DA5D9-3BEF-4286-838C-85F006AE79DE}"/>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8" name="直線コネクタ 17">
            <a:extLst>
              <a:ext uri="{FF2B5EF4-FFF2-40B4-BE49-F238E27FC236}">
                <a16:creationId xmlns:a16="http://schemas.microsoft.com/office/drawing/2014/main" id="{6DA9E334-E262-4D78-AE9F-D066AE5E5934}"/>
              </a:ext>
            </a:extLst>
          </p:cNvPr>
          <p:cNvCxnSpPr>
            <a:cxnSpLocks/>
            <a:stCxn id="4" idx="1"/>
          </p:cNvCxnSpPr>
          <p:nvPr/>
        </p:nvCxnSpPr>
        <p:spPr>
          <a:xfrm flipH="1">
            <a:off x="4655984"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F6001733-09AD-4DAC-8BA5-9A735951D417}"/>
              </a:ext>
            </a:extLst>
          </p:cNvPr>
          <p:cNvCxnSpPr>
            <a:cxnSpLocks/>
          </p:cNvCxnSpPr>
          <p:nvPr/>
        </p:nvCxnSpPr>
        <p:spPr>
          <a:xfrm>
            <a:off x="7176012" y="3068997"/>
            <a:ext cx="360006" cy="1"/>
          </a:xfrm>
          <a:prstGeom prst="line">
            <a:avLst/>
          </a:prstGeom>
          <a:ln w="9525" cap="rnd">
            <a:solidFill>
              <a:srgbClr val="000000"/>
            </a:solidFill>
            <a:headEnd type="none"/>
            <a:tailEnd type="oval" w="sm" len="sm"/>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5135806F-DC95-4CE1-B9BE-E5FB3FE0437F}"/>
              </a:ext>
            </a:extLst>
          </p:cNvPr>
          <p:cNvCxnSpPr>
            <a:cxnSpLocks/>
          </p:cNvCxnSpPr>
          <p:nvPr/>
        </p:nvCxnSpPr>
        <p:spPr>
          <a:xfrm>
            <a:off x="3935976" y="3068996"/>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A1E25F94-64AD-4B0B-BA8A-8E0E99ACC480}"/>
              </a:ext>
            </a:extLst>
          </p:cNvPr>
          <p:cNvCxnSpPr>
            <a:cxnSpLocks/>
          </p:cNvCxnSpPr>
          <p:nvPr/>
        </p:nvCxnSpPr>
        <p:spPr>
          <a:xfrm flipV="1">
            <a:off x="3935976" y="1988984"/>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4428BCDB-12D7-414C-92E6-903ABDFB1719}"/>
              </a:ext>
            </a:extLst>
          </p:cNvPr>
          <p:cNvCxnSpPr>
            <a:cxnSpLocks/>
          </p:cNvCxnSpPr>
          <p:nvPr/>
        </p:nvCxnSpPr>
        <p:spPr>
          <a:xfrm flipV="1">
            <a:off x="7536016" y="1988985"/>
            <a:ext cx="0" cy="1800021"/>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36809C4F-E919-4760-95DB-403B2392206B}"/>
              </a:ext>
            </a:extLst>
          </p:cNvPr>
          <p:cNvCxnSpPr>
            <a:cxnSpLocks/>
          </p:cNvCxnSpPr>
          <p:nvPr/>
        </p:nvCxnSpPr>
        <p:spPr>
          <a:xfrm flipV="1">
            <a:off x="6996010"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991E2654-AFE3-433F-9E80-1A3D175E7AF8}"/>
              </a:ext>
            </a:extLst>
          </p:cNvPr>
          <p:cNvCxnSpPr>
            <a:cxnSpLocks/>
          </p:cNvCxnSpPr>
          <p:nvPr/>
        </p:nvCxnSpPr>
        <p:spPr>
          <a:xfrm flipV="1">
            <a:off x="4475982" y="2348988"/>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5DF913E5-9D7D-4CB2-BF16-5C60949ABA57}"/>
              </a:ext>
            </a:extLst>
          </p:cNvPr>
          <p:cNvCxnSpPr>
            <a:cxnSpLocks/>
          </p:cNvCxnSpPr>
          <p:nvPr/>
        </p:nvCxnSpPr>
        <p:spPr>
          <a:xfrm>
            <a:off x="3575972" y="2348988"/>
            <a:ext cx="4320048"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4745985" y="1898984"/>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7" name="正方形/長方形 26"/>
          <p:cNvSpPr/>
          <p:nvPr/>
        </p:nvSpPr>
        <p:spPr>
          <a:xfrm>
            <a:off x="3575973"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
        <p:nvSpPr>
          <p:cNvPr id="28" name="正方形/長方形 27"/>
          <p:cNvSpPr/>
          <p:nvPr/>
        </p:nvSpPr>
        <p:spPr>
          <a:xfrm>
            <a:off x="7266014" y="1538980"/>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1960117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DRAM </a:t>
            </a:r>
            <a:r>
              <a:rPr kumimoji="1" lang="ja-JP" altLang="en-US" dirty="0"/>
              <a:t>の読み出し</a:t>
            </a:r>
          </a:p>
        </p:txBody>
      </p:sp>
      <p:sp>
        <p:nvSpPr>
          <p:cNvPr id="3" name="テキスト プレースホルダー 2"/>
          <p:cNvSpPr>
            <a:spLocks noGrp="1"/>
          </p:cNvSpPr>
          <p:nvPr>
            <p:ph type="body" sz="quarter" idx="10"/>
          </p:nvPr>
        </p:nvSpPr>
        <p:spPr>
          <a:xfrm>
            <a:off x="2135956" y="4329011"/>
            <a:ext cx="8280092" cy="1439709"/>
          </a:xfrm>
        </p:spPr>
        <p:txBody>
          <a:bodyPr/>
          <a:lstStyle/>
          <a:p>
            <a:r>
              <a:rPr kumimoji="1" lang="ja-JP" altLang="en-US" dirty="0"/>
              <a:t>読み出しは，基本的には </a:t>
            </a:r>
            <a:r>
              <a:rPr kumimoji="1" lang="en-US" altLang="ja-JP" dirty="0"/>
              <a:t>SRAM </a:t>
            </a:r>
            <a:r>
              <a:rPr kumimoji="1" lang="ja-JP" altLang="en-US" dirty="0"/>
              <a:t>と同じ</a:t>
            </a:r>
            <a:endParaRPr kumimoji="1" lang="en-US" altLang="ja-JP" dirty="0"/>
          </a:p>
          <a:p>
            <a:pPr lvl="1"/>
            <a:r>
              <a:rPr kumimoji="1" lang="ja-JP" altLang="en-US" dirty="0"/>
              <a:t>ビットラインをプリチャージ</a:t>
            </a:r>
            <a:endParaRPr kumimoji="1" lang="en-US" altLang="ja-JP" dirty="0"/>
          </a:p>
          <a:p>
            <a:pPr lvl="1"/>
            <a:r>
              <a:rPr kumimoji="1" lang="ja-JP" altLang="en-US" dirty="0"/>
              <a:t>ワードラインをアサート</a:t>
            </a:r>
            <a:endParaRPr kumimoji="1" lang="en-US" altLang="ja-JP" dirty="0"/>
          </a:p>
          <a:p>
            <a:pPr lvl="1"/>
            <a:r>
              <a:rPr kumimoji="1" lang="ja-JP" altLang="en-US" dirty="0"/>
              <a:t>セルの状態に応じてディスチャージが起きる</a:t>
            </a:r>
            <a:endParaRPr kumimoji="1" lang="en-US" altLang="ja-JP" dirty="0"/>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645995" y="2348988"/>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285991" y="2708992"/>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05999" y="2708993"/>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285991" y="1628980"/>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186001" y="2888995"/>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366003" y="2708992"/>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366003" y="2978996"/>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186002" y="3248998"/>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825997" y="1988984"/>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4925987" y="1988984"/>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096000" y="1718982"/>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015989" y="1178976"/>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3187720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DRAM </a:t>
            </a:r>
            <a:r>
              <a:rPr kumimoji="1" lang="ja-JP" altLang="en-US" dirty="0"/>
              <a:t>の書き込み</a:t>
            </a:r>
          </a:p>
        </p:txBody>
      </p:sp>
      <p:sp>
        <p:nvSpPr>
          <p:cNvPr id="3" name="テキスト プレースホルダー 2"/>
          <p:cNvSpPr>
            <a:spLocks noGrp="1"/>
          </p:cNvSpPr>
          <p:nvPr>
            <p:ph type="body" sz="quarter" idx="10"/>
          </p:nvPr>
        </p:nvSpPr>
        <p:spPr>
          <a:xfrm>
            <a:off x="1685952" y="4329011"/>
            <a:ext cx="8730097" cy="1439709"/>
          </a:xfrm>
        </p:spPr>
        <p:txBody>
          <a:bodyPr/>
          <a:lstStyle/>
          <a:p>
            <a:r>
              <a:rPr kumimoji="1" lang="ja-JP" altLang="en-US" dirty="0"/>
              <a:t>書き込みは，</a:t>
            </a:r>
            <a:r>
              <a:rPr kumimoji="1" lang="en-US" altLang="ja-JP" dirty="0"/>
              <a:t>NMOS </a:t>
            </a:r>
            <a:r>
              <a:rPr kumimoji="1" lang="ja-JP" altLang="en-US" dirty="0"/>
              <a:t>でも </a:t>
            </a:r>
            <a:r>
              <a:rPr kumimoji="1" lang="en-US" altLang="ja-JP" dirty="0"/>
              <a:t>0.5 </a:t>
            </a:r>
            <a:r>
              <a:rPr kumimoji="1" lang="ja-JP" altLang="en-US" dirty="0"/>
              <a:t>までは上げられるのでそれで行う（多分）</a:t>
            </a:r>
            <a:endParaRPr kumimoji="1" lang="en-US" altLang="ja-JP" dirty="0"/>
          </a:p>
          <a:p>
            <a:pPr lvl="1"/>
            <a:r>
              <a:rPr kumimoji="1" lang="en-US" altLang="ja-JP" dirty="0"/>
              <a:t>SRAM </a:t>
            </a:r>
            <a:r>
              <a:rPr kumimoji="1" lang="ja-JP" altLang="en-US" dirty="0"/>
              <a:t>ではインバータをひっくり返す必要があるので，</a:t>
            </a:r>
            <a:br>
              <a:rPr kumimoji="1" lang="en-US" altLang="ja-JP" dirty="0"/>
            </a:br>
            <a:r>
              <a:rPr kumimoji="1" lang="en-US" altLang="ja-JP" dirty="0"/>
              <a:t>0.5 </a:t>
            </a:r>
            <a:r>
              <a:rPr kumimoji="1" lang="ja-JP" altLang="en-US" dirty="0"/>
              <a:t>ではダメだった</a:t>
            </a:r>
            <a:endParaRPr kumimoji="1" lang="en-US" altLang="ja-JP" dirty="0"/>
          </a:p>
          <a:p>
            <a:r>
              <a:rPr kumimoji="1" lang="en-US" altLang="ja-JP" dirty="0"/>
              <a:t>DRAM </a:t>
            </a:r>
            <a:r>
              <a:rPr kumimoji="1" lang="ja-JP" altLang="en-US" dirty="0"/>
              <a:t>では 低電位（</a:t>
            </a:r>
            <a:r>
              <a:rPr kumimoji="1" lang="en-US" altLang="ja-JP" dirty="0"/>
              <a:t>0</a:t>
            </a:r>
            <a:r>
              <a:rPr kumimoji="1" lang="ja-JP" altLang="en-US" dirty="0"/>
              <a:t>）</a:t>
            </a:r>
            <a:r>
              <a:rPr kumimoji="1" lang="en-US" altLang="ja-JP" dirty="0"/>
              <a:t>or </a:t>
            </a:r>
            <a:r>
              <a:rPr kumimoji="1" lang="ja-JP" altLang="en-US" dirty="0"/>
              <a:t>中間電位（</a:t>
            </a:r>
            <a:r>
              <a:rPr kumimoji="1" lang="en-US" altLang="ja-JP" dirty="0"/>
              <a:t>0.5</a:t>
            </a:r>
            <a:r>
              <a:rPr kumimoji="1" lang="ja-JP" altLang="en-US" dirty="0"/>
              <a:t>）を記録する</a:t>
            </a:r>
            <a:endParaRPr kumimoji="1" lang="en-US" altLang="ja-JP" dirty="0"/>
          </a:p>
          <a:p>
            <a:pPr lvl="1"/>
            <a:r>
              <a:rPr kumimoji="1" lang="ja-JP" altLang="en-US" dirty="0"/>
              <a:t>読み出し時のプリチャージの電圧を </a:t>
            </a:r>
            <a:r>
              <a:rPr kumimoji="1" lang="en-US" altLang="ja-JP" dirty="0"/>
              <a:t>0.5 </a:t>
            </a:r>
            <a:r>
              <a:rPr kumimoji="1" lang="ja-JP" altLang="en-US" dirty="0"/>
              <a:t>にして，下がったか</a:t>
            </a:r>
            <a:br>
              <a:rPr kumimoji="1" lang="en-US" altLang="ja-JP" dirty="0"/>
            </a:br>
            <a:r>
              <a:rPr kumimoji="1" lang="ja-JP" altLang="en-US" dirty="0"/>
              <a:t>どうかで判定</a:t>
            </a:r>
            <a:endParaRPr kumimoji="1" lang="en-US" altLang="ja-JP" dirty="0"/>
          </a:p>
        </p:txBody>
      </p:sp>
      <p:grpSp>
        <p:nvGrpSpPr>
          <p:cNvPr id="4" name="グループ化 3">
            <a:extLst>
              <a:ext uri="{FF2B5EF4-FFF2-40B4-BE49-F238E27FC236}">
                <a16:creationId xmlns:a16="http://schemas.microsoft.com/office/drawing/2014/main" id="{B2772659-A00E-4413-9EB6-D696321711C2}"/>
              </a:ext>
            </a:extLst>
          </p:cNvPr>
          <p:cNvGrpSpPr/>
          <p:nvPr/>
        </p:nvGrpSpPr>
        <p:grpSpPr>
          <a:xfrm>
            <a:off x="5645995" y="2078985"/>
            <a:ext cx="360004" cy="360004"/>
            <a:chOff x="4932004" y="2708992"/>
            <a:chExt cx="360004" cy="360004"/>
          </a:xfrm>
        </p:grpSpPr>
        <p:cxnSp>
          <p:nvCxnSpPr>
            <p:cNvPr id="5" name="直線コネクタ 4">
              <a:extLst>
                <a:ext uri="{FF2B5EF4-FFF2-40B4-BE49-F238E27FC236}">
                  <a16:creationId xmlns:a16="http://schemas.microsoft.com/office/drawing/2014/main" id="{CE9B70D6-1D90-4E04-BD88-F8DF94F7C494}"/>
                </a:ext>
              </a:extLst>
            </p:cNvPr>
            <p:cNvCxnSpPr>
              <a:cxnSpLocks/>
            </p:cNvCxnSpPr>
            <p:nvPr/>
          </p:nvCxnSpPr>
          <p:spPr>
            <a:xfrm flipV="1">
              <a:off x="4932004"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E431212-3CD4-45B0-9ECD-BB573F590178}"/>
                </a:ext>
              </a:extLst>
            </p:cNvPr>
            <p:cNvCxnSpPr>
              <a:cxnSpLocks/>
            </p:cNvCxnSpPr>
            <p:nvPr/>
          </p:nvCxnSpPr>
          <p:spPr>
            <a:xfrm flipH="1" flipV="1">
              <a:off x="4932004" y="270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4CA5229-7377-4A1B-A728-E763A120F77E}"/>
                </a:ext>
              </a:extLst>
            </p:cNvPr>
            <p:cNvCxnSpPr>
              <a:cxnSpLocks/>
            </p:cNvCxnSpPr>
            <p:nvPr/>
          </p:nvCxnSpPr>
          <p:spPr>
            <a:xfrm flipV="1">
              <a:off x="5292008" y="2798993"/>
              <a:ext cx="0" cy="270003"/>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D57B5B47-028B-4E3D-8FB3-5490133D576B}"/>
                </a:ext>
              </a:extLst>
            </p:cNvPr>
            <p:cNvCxnSpPr>
              <a:cxnSpLocks/>
            </p:cNvCxnSpPr>
            <p:nvPr/>
          </p:nvCxnSpPr>
          <p:spPr>
            <a:xfrm flipH="1" flipV="1">
              <a:off x="4932004" y="2798992"/>
              <a:ext cx="360004" cy="2"/>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9" name="直線コネクタ 8">
            <a:extLst>
              <a:ext uri="{FF2B5EF4-FFF2-40B4-BE49-F238E27FC236}">
                <a16:creationId xmlns:a16="http://schemas.microsoft.com/office/drawing/2014/main" id="{04ACCC42-4E49-4867-BFDC-671C90B11355}"/>
              </a:ext>
            </a:extLst>
          </p:cNvPr>
          <p:cNvCxnSpPr>
            <a:cxnSpLocks/>
          </p:cNvCxnSpPr>
          <p:nvPr/>
        </p:nvCxnSpPr>
        <p:spPr>
          <a:xfrm>
            <a:off x="5285991" y="2438989"/>
            <a:ext cx="360004" cy="0"/>
          </a:xfrm>
          <a:prstGeom prst="line">
            <a:avLst/>
          </a:prstGeom>
          <a:ln w="9525" cap="rnd">
            <a:solidFill>
              <a:srgbClr val="000000"/>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FA852A0-5D43-4C5B-8D71-AF1C94363457}"/>
              </a:ext>
            </a:extLst>
          </p:cNvPr>
          <p:cNvCxnSpPr>
            <a:cxnSpLocks/>
          </p:cNvCxnSpPr>
          <p:nvPr/>
        </p:nvCxnSpPr>
        <p:spPr>
          <a:xfrm>
            <a:off x="6005999" y="2438990"/>
            <a:ext cx="360006" cy="1"/>
          </a:xfrm>
          <a:prstGeom prst="line">
            <a:avLst/>
          </a:prstGeom>
          <a:ln w="3175" cap="rnd">
            <a:solidFill>
              <a:srgbClr val="000000"/>
            </a:solidFill>
            <a:head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DDEA31C-DEA3-4027-A96D-5EC4FD0DCD35}"/>
              </a:ext>
            </a:extLst>
          </p:cNvPr>
          <p:cNvCxnSpPr>
            <a:cxnSpLocks/>
          </p:cNvCxnSpPr>
          <p:nvPr/>
        </p:nvCxnSpPr>
        <p:spPr>
          <a:xfrm flipV="1">
            <a:off x="5285991" y="1358977"/>
            <a:ext cx="0" cy="180002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DE115225-CFB0-4004-A206-CB9F39CB2EA1}"/>
              </a:ext>
            </a:extLst>
          </p:cNvPr>
          <p:cNvGrpSpPr/>
          <p:nvPr/>
        </p:nvGrpSpPr>
        <p:grpSpPr>
          <a:xfrm>
            <a:off x="6186001" y="2618992"/>
            <a:ext cx="360004" cy="90003"/>
            <a:chOff x="7272030" y="3789004"/>
            <a:chExt cx="360004" cy="90003"/>
          </a:xfrm>
        </p:grpSpPr>
        <p:cxnSp>
          <p:nvCxnSpPr>
            <p:cNvPr id="13" name="直線コネクタ 12">
              <a:extLst>
                <a:ext uri="{FF2B5EF4-FFF2-40B4-BE49-F238E27FC236}">
                  <a16:creationId xmlns:a16="http://schemas.microsoft.com/office/drawing/2014/main" id="{2BAEB49E-1596-4709-9456-587CECEF00D8}"/>
                </a:ext>
              </a:extLst>
            </p:cNvPr>
            <p:cNvCxnSpPr>
              <a:cxnSpLocks/>
            </p:cNvCxnSpPr>
            <p:nvPr/>
          </p:nvCxnSpPr>
          <p:spPr>
            <a:xfrm flipH="1" flipV="1">
              <a:off x="7272030" y="3789004"/>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D2BEEE-C054-4362-879D-B947D019F20F}"/>
                </a:ext>
              </a:extLst>
            </p:cNvPr>
            <p:cNvCxnSpPr>
              <a:cxnSpLocks/>
            </p:cNvCxnSpPr>
            <p:nvPr/>
          </p:nvCxnSpPr>
          <p:spPr>
            <a:xfrm flipH="1" flipV="1">
              <a:off x="7272030" y="3879005"/>
              <a:ext cx="360004" cy="2"/>
            </a:xfrm>
            <a:prstGeom prst="line">
              <a:avLst/>
            </a:prstGeom>
            <a:ln w="2540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15" name="直線コネクタ 14">
            <a:extLst>
              <a:ext uri="{FF2B5EF4-FFF2-40B4-BE49-F238E27FC236}">
                <a16:creationId xmlns:a16="http://schemas.microsoft.com/office/drawing/2014/main" id="{980D156E-BEF6-49E5-BEDB-E654CED1DF10}"/>
              </a:ext>
            </a:extLst>
          </p:cNvPr>
          <p:cNvCxnSpPr>
            <a:cxnSpLocks/>
          </p:cNvCxnSpPr>
          <p:nvPr/>
        </p:nvCxnSpPr>
        <p:spPr>
          <a:xfrm flipV="1">
            <a:off x="6366003" y="2438989"/>
            <a:ext cx="0" cy="180002"/>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DDF1097C-113D-483C-86EC-803338665142}"/>
              </a:ext>
            </a:extLst>
          </p:cNvPr>
          <p:cNvCxnSpPr>
            <a:cxnSpLocks/>
          </p:cNvCxnSpPr>
          <p:nvPr/>
        </p:nvCxnSpPr>
        <p:spPr>
          <a:xfrm flipV="1">
            <a:off x="6366003" y="2708993"/>
            <a:ext cx="0" cy="270003"/>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grpSp>
        <p:nvGrpSpPr>
          <p:cNvPr id="17" name="グループ化 16">
            <a:extLst>
              <a:ext uri="{FF2B5EF4-FFF2-40B4-BE49-F238E27FC236}">
                <a16:creationId xmlns:a16="http://schemas.microsoft.com/office/drawing/2014/main" id="{38D32D1F-3EE8-498D-B8DB-C60684B30C49}"/>
              </a:ext>
            </a:extLst>
          </p:cNvPr>
          <p:cNvGrpSpPr/>
          <p:nvPr/>
        </p:nvGrpSpPr>
        <p:grpSpPr>
          <a:xfrm>
            <a:off x="6186002" y="2978995"/>
            <a:ext cx="326325" cy="117556"/>
            <a:chOff x="2531592" y="5357236"/>
            <a:chExt cx="326325" cy="117556"/>
          </a:xfrm>
        </p:grpSpPr>
        <p:cxnSp>
          <p:nvCxnSpPr>
            <p:cNvPr id="18" name="直線コネクタ 17">
              <a:extLst>
                <a:ext uri="{FF2B5EF4-FFF2-40B4-BE49-F238E27FC236}">
                  <a16:creationId xmlns:a16="http://schemas.microsoft.com/office/drawing/2014/main" id="{1F5D5F47-3829-4D33-B94F-0FE22B8C22B5}"/>
                </a:ext>
              </a:extLst>
            </p:cNvPr>
            <p:cNvCxnSpPr/>
            <p:nvPr/>
          </p:nvCxnSpPr>
          <p:spPr>
            <a:xfrm flipV="1">
              <a:off x="2531592" y="5357236"/>
              <a:ext cx="326325"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1117BCE-AACC-4BD5-8C7D-FBCAFDFD8FAD}"/>
                </a:ext>
              </a:extLst>
            </p:cNvPr>
            <p:cNvCxnSpPr/>
            <p:nvPr/>
          </p:nvCxnSpPr>
          <p:spPr>
            <a:xfrm flipV="1">
              <a:off x="2592779" y="5416014"/>
              <a:ext cx="203953" cy="0"/>
            </a:xfrm>
            <a:prstGeom prst="line">
              <a:avLst/>
            </a:prstGeom>
            <a:ln w="12700" cap="rnd">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360640C4-3A38-49F5-ACDD-637737FC5B10}"/>
                </a:ext>
              </a:extLst>
            </p:cNvPr>
            <p:cNvCxnSpPr/>
            <p:nvPr/>
          </p:nvCxnSpPr>
          <p:spPr>
            <a:xfrm flipV="1">
              <a:off x="2653965" y="5474792"/>
              <a:ext cx="81582"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grpSp>
      <p:cxnSp>
        <p:nvCxnSpPr>
          <p:cNvPr id="21" name="直線コネクタ 20">
            <a:extLst>
              <a:ext uri="{FF2B5EF4-FFF2-40B4-BE49-F238E27FC236}">
                <a16:creationId xmlns:a16="http://schemas.microsoft.com/office/drawing/2014/main" id="{5C16D03F-62AA-402B-A9AC-ADCF020FC7D6}"/>
              </a:ext>
            </a:extLst>
          </p:cNvPr>
          <p:cNvCxnSpPr>
            <a:cxnSpLocks/>
          </p:cNvCxnSpPr>
          <p:nvPr/>
        </p:nvCxnSpPr>
        <p:spPr>
          <a:xfrm flipV="1">
            <a:off x="5825997" y="1718981"/>
            <a:ext cx="0" cy="360004"/>
          </a:xfrm>
          <a:prstGeom prst="line">
            <a:avLst/>
          </a:prstGeom>
          <a:ln w="9525" cap="rnd">
            <a:solidFill>
              <a:srgbClr val="000000"/>
            </a:solidFill>
            <a:headEnd type="none" w="sm" len="sm"/>
            <a:tailEnd type="oval"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7BB93E-CC11-4F3A-AF7A-8FAF390455E8}"/>
              </a:ext>
            </a:extLst>
          </p:cNvPr>
          <p:cNvCxnSpPr>
            <a:cxnSpLocks/>
          </p:cNvCxnSpPr>
          <p:nvPr/>
        </p:nvCxnSpPr>
        <p:spPr>
          <a:xfrm>
            <a:off x="4925987" y="1718981"/>
            <a:ext cx="1800020" cy="0"/>
          </a:xfrm>
          <a:prstGeom prst="line">
            <a:avLst/>
          </a:prstGeom>
          <a:ln w="9525" cap="rnd">
            <a:solidFill>
              <a:srgbClr val="000000"/>
            </a:solidFill>
            <a:headEnd type="none" w="sm" len="sm"/>
          </a:ln>
        </p:spPr>
        <p:style>
          <a:lnRef idx="1">
            <a:schemeClr val="accent1"/>
          </a:lnRef>
          <a:fillRef idx="0">
            <a:schemeClr val="accent1"/>
          </a:fillRef>
          <a:effectRef idx="0">
            <a:schemeClr val="accent1"/>
          </a:effectRef>
          <a:fontRef idx="minor">
            <a:schemeClr val="tx1"/>
          </a:fontRef>
        </p:style>
      </p:cxnSp>
      <p:sp>
        <p:nvSpPr>
          <p:cNvPr id="23" name="正方形/長方形 22"/>
          <p:cNvSpPr/>
          <p:nvPr/>
        </p:nvSpPr>
        <p:spPr>
          <a:xfrm>
            <a:off x="6096000" y="1448979"/>
            <a:ext cx="2160000"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word line</a:t>
            </a:r>
            <a:endParaRPr lang="ja-JP" altLang="en-US" sz="1600" dirty="0">
              <a:latin typeface="Arial Narrow" pitchFamily="34" charset="0"/>
            </a:endParaRPr>
          </a:p>
        </p:txBody>
      </p:sp>
      <p:sp>
        <p:nvSpPr>
          <p:cNvPr id="24" name="正方形/長方形 23"/>
          <p:cNvSpPr/>
          <p:nvPr/>
        </p:nvSpPr>
        <p:spPr>
          <a:xfrm>
            <a:off x="5015989" y="908973"/>
            <a:ext cx="630007" cy="540003"/>
          </a:xfrm>
          <a:prstGeom prst="rect">
            <a:avLst/>
          </a:prstGeom>
          <a:noFill/>
          <a:ln w="12700">
            <a:noFill/>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1600" dirty="0">
                <a:latin typeface="Arial Narrow" pitchFamily="34" charset="0"/>
              </a:rPr>
              <a:t>bit line</a:t>
            </a:r>
            <a:endParaRPr lang="ja-JP" altLang="en-US" sz="1600" dirty="0">
              <a:latin typeface="Arial Narrow" pitchFamily="34" charset="0"/>
            </a:endParaRPr>
          </a:p>
        </p:txBody>
      </p:sp>
    </p:spTree>
    <p:extLst>
      <p:ext uri="{BB962C8B-B14F-4D97-AF65-F5344CB8AC3E}">
        <p14:creationId xmlns:p14="http://schemas.microsoft.com/office/powerpoint/2010/main" val="1328641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C6E9F17B-C182-2053-DC07-508720C82F0B}"/>
              </a:ext>
            </a:extLst>
          </p:cNvPr>
          <p:cNvSpPr>
            <a:spLocks noGrp="1"/>
          </p:cNvSpPr>
          <p:nvPr>
            <p:ph type="title"/>
          </p:nvPr>
        </p:nvSpPr>
        <p:spPr/>
        <p:txBody>
          <a:bodyPr/>
          <a:lstStyle/>
          <a:p>
            <a:r>
              <a:rPr lang="ja-JP" altLang="en-US" dirty="0"/>
              <a:t>余談：</a:t>
            </a:r>
            <a:r>
              <a:rPr lang="en-US" altLang="ja-JP" dirty="0"/>
              <a:t>Branch Prediction Championship</a:t>
            </a:r>
            <a:endParaRPr lang="ja-JP" altLang="en-US" dirty="0"/>
          </a:p>
        </p:txBody>
      </p:sp>
    </p:spTree>
    <p:extLst>
      <p:ext uri="{BB962C8B-B14F-4D97-AF65-F5344CB8AC3E}">
        <p14:creationId xmlns:p14="http://schemas.microsoft.com/office/powerpoint/2010/main" val="9129170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FD757739-8258-B0E6-9FEC-71F0C71AEB18}"/>
              </a:ext>
            </a:extLst>
          </p:cNvPr>
          <p:cNvSpPr>
            <a:spLocks noGrp="1"/>
          </p:cNvSpPr>
          <p:nvPr>
            <p:ph type="title"/>
          </p:nvPr>
        </p:nvSpPr>
        <p:spPr/>
        <p:txBody>
          <a:bodyPr/>
          <a:lstStyle/>
          <a:p>
            <a:endParaRPr lang="ja-JP" altLang="en-US"/>
          </a:p>
        </p:txBody>
      </p:sp>
      <p:sp>
        <p:nvSpPr>
          <p:cNvPr id="5" name="テキスト プレースホルダー 4">
            <a:extLst>
              <a:ext uri="{FF2B5EF4-FFF2-40B4-BE49-F238E27FC236}">
                <a16:creationId xmlns:a16="http://schemas.microsoft.com/office/drawing/2014/main" id="{D223FB3A-899D-F262-DB6C-738D0847A221}"/>
              </a:ext>
            </a:extLst>
          </p:cNvPr>
          <p:cNvSpPr>
            <a:spLocks noGrp="1"/>
          </p:cNvSpPr>
          <p:nvPr>
            <p:ph type="body" sz="quarter" idx="10"/>
          </p:nvPr>
        </p:nvSpPr>
        <p:spPr/>
        <p:txBody>
          <a:bodyPr/>
          <a:lstStyle/>
          <a:p>
            <a:endParaRPr lang="ja-JP" altLang="en-US"/>
          </a:p>
        </p:txBody>
      </p:sp>
      <p:pic>
        <p:nvPicPr>
          <p:cNvPr id="7" name="図 6">
            <a:extLst>
              <a:ext uri="{FF2B5EF4-FFF2-40B4-BE49-F238E27FC236}">
                <a16:creationId xmlns:a16="http://schemas.microsoft.com/office/drawing/2014/main" id="{048E4CA3-17DF-A23A-1A0C-C8CE9E84876E}"/>
              </a:ext>
            </a:extLst>
          </p:cNvPr>
          <p:cNvPicPr>
            <a:picLocks noChangeAspect="1"/>
          </p:cNvPicPr>
          <p:nvPr/>
        </p:nvPicPr>
        <p:blipFill>
          <a:blip r:embed="rId2"/>
          <a:stretch>
            <a:fillRect/>
          </a:stretch>
        </p:blipFill>
        <p:spPr>
          <a:xfrm>
            <a:off x="0" y="8962"/>
            <a:ext cx="12536063" cy="6849038"/>
          </a:xfrm>
          <a:prstGeom prst="rect">
            <a:avLst/>
          </a:prstGeom>
        </p:spPr>
      </p:pic>
    </p:spTree>
    <p:extLst>
      <p:ext uri="{BB962C8B-B14F-4D97-AF65-F5344CB8AC3E}">
        <p14:creationId xmlns:p14="http://schemas.microsoft.com/office/powerpoint/2010/main" val="1750249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7C480A-DA06-26B7-5EED-B7B85D2F7164}"/>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8C0C073E-9427-3D35-0977-5A56D69F171D}"/>
              </a:ext>
            </a:extLst>
          </p:cNvPr>
          <p:cNvSpPr>
            <a:spLocks noGrp="1"/>
          </p:cNvSpPr>
          <p:nvPr>
            <p:ph type="body" sz="quarter" idx="10"/>
          </p:nvPr>
        </p:nvSpPr>
        <p:spPr/>
        <p:txBody>
          <a:bodyPr/>
          <a:lstStyle/>
          <a:p>
            <a:endParaRPr kumimoji="1" lang="ja-JP" altLang="en-US"/>
          </a:p>
        </p:txBody>
      </p:sp>
      <p:pic>
        <p:nvPicPr>
          <p:cNvPr id="5" name="図 4">
            <a:extLst>
              <a:ext uri="{FF2B5EF4-FFF2-40B4-BE49-F238E27FC236}">
                <a16:creationId xmlns:a16="http://schemas.microsoft.com/office/drawing/2014/main" id="{6E7D5E2A-72D2-B33B-C6D3-48662B9803AD}"/>
              </a:ext>
            </a:extLst>
          </p:cNvPr>
          <p:cNvPicPr>
            <a:picLocks noChangeAspect="1"/>
          </p:cNvPicPr>
          <p:nvPr/>
        </p:nvPicPr>
        <p:blipFill>
          <a:blip r:embed="rId2"/>
          <a:stretch>
            <a:fillRect/>
          </a:stretch>
        </p:blipFill>
        <p:spPr>
          <a:xfrm>
            <a:off x="0" y="-21061"/>
            <a:ext cx="12036066" cy="6788368"/>
          </a:xfrm>
          <a:prstGeom prst="rect">
            <a:avLst/>
          </a:prstGeom>
        </p:spPr>
      </p:pic>
    </p:spTree>
    <p:extLst>
      <p:ext uri="{BB962C8B-B14F-4D97-AF65-F5344CB8AC3E}">
        <p14:creationId xmlns:p14="http://schemas.microsoft.com/office/powerpoint/2010/main" val="1952945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1CFE36-E42D-9A13-AC9C-605780D6FADC}"/>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08EAD04C-FB26-B153-FD9C-0D2B58303195}"/>
              </a:ext>
            </a:extLst>
          </p:cNvPr>
          <p:cNvSpPr>
            <a:spLocks noGrp="1"/>
          </p:cNvSpPr>
          <p:nvPr>
            <p:ph type="body" sz="quarter" idx="10"/>
          </p:nvPr>
        </p:nvSpPr>
        <p:spPr/>
        <p:txBody>
          <a:bodyPr/>
          <a:lstStyle/>
          <a:p>
            <a:endParaRPr kumimoji="1" lang="ja-JP" altLang="en-US"/>
          </a:p>
        </p:txBody>
      </p:sp>
      <p:pic>
        <p:nvPicPr>
          <p:cNvPr id="5" name="図 4">
            <a:extLst>
              <a:ext uri="{FF2B5EF4-FFF2-40B4-BE49-F238E27FC236}">
                <a16:creationId xmlns:a16="http://schemas.microsoft.com/office/drawing/2014/main" id="{5A6796E7-A0B0-CC02-F4DD-370BBA69B708}"/>
              </a:ext>
            </a:extLst>
          </p:cNvPr>
          <p:cNvPicPr>
            <a:picLocks noChangeAspect="1"/>
          </p:cNvPicPr>
          <p:nvPr/>
        </p:nvPicPr>
        <p:blipFill>
          <a:blip r:embed="rId2"/>
          <a:stretch>
            <a:fillRect/>
          </a:stretch>
        </p:blipFill>
        <p:spPr>
          <a:xfrm>
            <a:off x="-24068" y="0"/>
            <a:ext cx="12193510" cy="6858000"/>
          </a:xfrm>
          <a:prstGeom prst="rect">
            <a:avLst/>
          </a:prstGeom>
        </p:spPr>
      </p:pic>
    </p:spTree>
    <p:extLst>
      <p:ext uri="{BB962C8B-B14F-4D97-AF65-F5344CB8AC3E}">
        <p14:creationId xmlns:p14="http://schemas.microsoft.com/office/powerpoint/2010/main" val="25787868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FC5CD6-3D1B-2135-2135-E2A506DC98B8}"/>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1804D946-2CA7-CDB0-0C5D-FAF2128BCC8B}"/>
              </a:ext>
            </a:extLst>
          </p:cNvPr>
          <p:cNvSpPr>
            <a:spLocks noGrp="1"/>
          </p:cNvSpPr>
          <p:nvPr>
            <p:ph type="body" sz="quarter" idx="10"/>
          </p:nvPr>
        </p:nvSpPr>
        <p:spPr/>
        <p:txBody>
          <a:bodyPr/>
          <a:lstStyle/>
          <a:p>
            <a:endParaRPr kumimoji="1" lang="ja-JP" altLang="en-US"/>
          </a:p>
        </p:txBody>
      </p:sp>
      <p:pic>
        <p:nvPicPr>
          <p:cNvPr id="5" name="図 4">
            <a:extLst>
              <a:ext uri="{FF2B5EF4-FFF2-40B4-BE49-F238E27FC236}">
                <a16:creationId xmlns:a16="http://schemas.microsoft.com/office/drawing/2014/main" id="{8B4393BE-9AE0-203A-16E5-6BD1D53DBC1A}"/>
              </a:ext>
            </a:extLst>
          </p:cNvPr>
          <p:cNvPicPr>
            <a:picLocks noChangeAspect="1"/>
          </p:cNvPicPr>
          <p:nvPr/>
        </p:nvPicPr>
        <p:blipFill>
          <a:blip r:embed="rId2"/>
          <a:stretch>
            <a:fillRect/>
          </a:stretch>
        </p:blipFill>
        <p:spPr>
          <a:xfrm>
            <a:off x="-16713" y="7422"/>
            <a:ext cx="12225107" cy="6840076"/>
          </a:xfrm>
          <a:prstGeom prst="rect">
            <a:avLst/>
          </a:prstGeom>
        </p:spPr>
      </p:pic>
    </p:spTree>
    <p:extLst>
      <p:ext uri="{BB962C8B-B14F-4D97-AF65-F5344CB8AC3E}">
        <p14:creationId xmlns:p14="http://schemas.microsoft.com/office/powerpoint/2010/main" val="2360507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148FDC-FFB4-512C-5C2C-A72BEDB19E51}"/>
              </a:ext>
            </a:extLst>
          </p:cNvPr>
          <p:cNvSpPr>
            <a:spLocks noGrp="1"/>
          </p:cNvSpPr>
          <p:nvPr>
            <p:ph type="title"/>
          </p:nvPr>
        </p:nvSpPr>
        <p:spPr/>
        <p:txBody>
          <a:bodyPr/>
          <a:lstStyle/>
          <a:p>
            <a:r>
              <a:rPr kumimoji="1" lang="ja-JP" altLang="en-US" dirty="0"/>
              <a:t>トロフィー</a:t>
            </a:r>
          </a:p>
        </p:txBody>
      </p:sp>
      <p:sp>
        <p:nvSpPr>
          <p:cNvPr id="3" name="テキスト プレースホルダー 2">
            <a:extLst>
              <a:ext uri="{FF2B5EF4-FFF2-40B4-BE49-F238E27FC236}">
                <a16:creationId xmlns:a16="http://schemas.microsoft.com/office/drawing/2014/main" id="{37AFAD5E-C228-EE3C-BC27-CC04EF078AD1}"/>
              </a:ext>
            </a:extLst>
          </p:cNvPr>
          <p:cNvSpPr>
            <a:spLocks noGrp="1"/>
          </p:cNvSpPr>
          <p:nvPr>
            <p:ph type="body" sz="quarter" idx="10"/>
          </p:nvPr>
        </p:nvSpPr>
        <p:spPr/>
        <p:txBody>
          <a:bodyPr/>
          <a:lstStyle/>
          <a:p>
            <a:endParaRPr kumimoji="1" lang="ja-JP" altLang="en-US"/>
          </a:p>
        </p:txBody>
      </p:sp>
      <p:pic>
        <p:nvPicPr>
          <p:cNvPr id="7" name="図 6">
            <a:extLst>
              <a:ext uri="{FF2B5EF4-FFF2-40B4-BE49-F238E27FC236}">
                <a16:creationId xmlns:a16="http://schemas.microsoft.com/office/drawing/2014/main" id="{DBBD711E-DB2C-D83A-D72F-E0FBA9D9D28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755974" y="1088974"/>
            <a:ext cx="4224089" cy="5610118"/>
          </a:xfrm>
          <a:prstGeom prst="rect">
            <a:avLst/>
          </a:prstGeom>
        </p:spPr>
      </p:pic>
    </p:spTree>
    <p:extLst>
      <p:ext uri="{BB962C8B-B14F-4D97-AF65-F5344CB8AC3E}">
        <p14:creationId xmlns:p14="http://schemas.microsoft.com/office/powerpoint/2010/main" val="7855030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D6A546-FDDE-1020-8B72-661C5FCF7AAF}"/>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618C16BA-2313-43DE-EB6B-39DBA92131F9}"/>
              </a:ext>
            </a:extLst>
          </p:cNvPr>
          <p:cNvSpPr>
            <a:spLocks noGrp="1"/>
          </p:cNvSpPr>
          <p:nvPr>
            <p:ph type="body" sz="quarter" idx="10"/>
          </p:nvPr>
        </p:nvSpPr>
        <p:spPr/>
        <p:txBody>
          <a:bodyPr/>
          <a:lstStyle/>
          <a:p>
            <a:endParaRPr kumimoji="1" lang="ja-JP" altLang="en-US"/>
          </a:p>
        </p:txBody>
      </p:sp>
      <p:pic>
        <p:nvPicPr>
          <p:cNvPr id="5" name="図 4">
            <a:extLst>
              <a:ext uri="{FF2B5EF4-FFF2-40B4-BE49-F238E27FC236}">
                <a16:creationId xmlns:a16="http://schemas.microsoft.com/office/drawing/2014/main" id="{6556EF93-CFAD-DAA0-E53B-E56A536FB9F1}"/>
              </a:ext>
            </a:extLst>
          </p:cNvPr>
          <p:cNvPicPr>
            <a:picLocks noChangeAspect="1"/>
          </p:cNvPicPr>
          <p:nvPr/>
        </p:nvPicPr>
        <p:blipFill>
          <a:blip r:embed="rId2"/>
          <a:stretch>
            <a:fillRect/>
          </a:stretch>
        </p:blipFill>
        <p:spPr>
          <a:xfrm>
            <a:off x="0" y="8962"/>
            <a:ext cx="12148084" cy="6840076"/>
          </a:xfrm>
          <a:prstGeom prst="rect">
            <a:avLst/>
          </a:prstGeom>
        </p:spPr>
      </p:pic>
    </p:spTree>
    <p:extLst>
      <p:ext uri="{BB962C8B-B14F-4D97-AF65-F5344CB8AC3E}">
        <p14:creationId xmlns:p14="http://schemas.microsoft.com/office/powerpoint/2010/main" val="2387620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09F064-C3F2-0D7F-E124-89458A78B2F6}"/>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7C8C2D4A-2F12-78AD-FCD0-141FF35FFCAA}"/>
              </a:ext>
            </a:extLst>
          </p:cNvPr>
          <p:cNvSpPr>
            <a:spLocks noGrp="1"/>
          </p:cNvSpPr>
          <p:nvPr>
            <p:ph type="body" sz="quarter" idx="10"/>
          </p:nvPr>
        </p:nvSpPr>
        <p:spPr/>
        <p:txBody>
          <a:bodyPr/>
          <a:lstStyle/>
          <a:p>
            <a:endParaRPr kumimoji="1" lang="ja-JP" altLang="en-US"/>
          </a:p>
        </p:txBody>
      </p:sp>
      <p:pic>
        <p:nvPicPr>
          <p:cNvPr id="5" name="図 4">
            <a:extLst>
              <a:ext uri="{FF2B5EF4-FFF2-40B4-BE49-F238E27FC236}">
                <a16:creationId xmlns:a16="http://schemas.microsoft.com/office/drawing/2014/main" id="{3ADA2CE5-F8F4-DD98-50A6-6C0FD57ED341}"/>
              </a:ext>
            </a:extLst>
          </p:cNvPr>
          <p:cNvPicPr>
            <a:picLocks noChangeAspect="1"/>
          </p:cNvPicPr>
          <p:nvPr/>
        </p:nvPicPr>
        <p:blipFill>
          <a:blip r:embed="rId2"/>
          <a:stretch>
            <a:fillRect/>
          </a:stretch>
        </p:blipFill>
        <p:spPr>
          <a:xfrm>
            <a:off x="-24068" y="0"/>
            <a:ext cx="12216068" cy="6871538"/>
          </a:xfrm>
          <a:prstGeom prst="rect">
            <a:avLst/>
          </a:prstGeom>
        </p:spPr>
      </p:pic>
    </p:spTree>
    <p:extLst>
      <p:ext uri="{BB962C8B-B14F-4D97-AF65-F5344CB8AC3E}">
        <p14:creationId xmlns:p14="http://schemas.microsoft.com/office/powerpoint/2010/main" val="1346921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09E12B7-1370-3346-B4E8-7093BA1662C1}"/>
              </a:ext>
            </a:extLst>
          </p:cNvPr>
          <p:cNvSpPr>
            <a:spLocks noGrp="1"/>
          </p:cNvSpPr>
          <p:nvPr>
            <p:ph type="title"/>
          </p:nvPr>
        </p:nvSpPr>
        <p:spPr/>
        <p:txBody>
          <a:bodyPr/>
          <a:lstStyle/>
          <a:p>
            <a:r>
              <a:rPr kumimoji="1" lang="ja-JP" altLang="en-US" dirty="0"/>
              <a:t>質問とか感想</a:t>
            </a:r>
            <a:endParaRPr lang="en-US" dirty="0"/>
          </a:p>
        </p:txBody>
      </p:sp>
    </p:spTree>
    <p:extLst>
      <p:ext uri="{BB962C8B-B14F-4D97-AF65-F5344CB8AC3E}">
        <p14:creationId xmlns:p14="http://schemas.microsoft.com/office/powerpoint/2010/main" val="11543452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8EBBD-6456-B940-EE50-E6057DAEC093}"/>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6C96F0D-39A0-7B53-A71E-67DF1A3CBE56}"/>
              </a:ext>
            </a:extLst>
          </p:cNvPr>
          <p:cNvSpPr>
            <a:spLocks noGrp="1"/>
          </p:cNvSpPr>
          <p:nvPr>
            <p:ph type="body" sz="quarter" idx="10"/>
          </p:nvPr>
        </p:nvSpPr>
        <p:spPr>
          <a:xfrm>
            <a:off x="2135956" y="1088974"/>
            <a:ext cx="7920088" cy="5220058"/>
          </a:xfrm>
        </p:spPr>
        <p:txBody>
          <a:bodyPr/>
          <a:lstStyle/>
          <a:p>
            <a:r>
              <a:rPr lang="ja-JP" altLang="en-US" dirty="0"/>
              <a:t>前回、前々回もその前もずっと出席していた（証明のしようがないのですが）のですが、本日どうしても体調が優れず休んでしまいました。資料を見て勉強していたところ、出席調査が突然出てきて驚いたのですが、成績に反映されますか？</a:t>
            </a:r>
            <a:endParaRPr lang="en-US" altLang="ja-JP" dirty="0"/>
          </a:p>
          <a:p>
            <a:r>
              <a:rPr lang="ja-JP" altLang="en-US" dirty="0"/>
              <a:t>体調を崩して前回欠席してしまったのですが、出席が取られていたと聞いて少し不安です🥺</a:t>
            </a:r>
            <a:br>
              <a:rPr lang="ja-JP" altLang="en-US" dirty="0"/>
            </a:br>
            <a:r>
              <a:rPr lang="en-US" altLang="ja-JP" dirty="0"/>
              <a:t>1</a:t>
            </a:r>
            <a:r>
              <a:rPr lang="ja-JP" altLang="en-US" dirty="0"/>
              <a:t>回の欠席で落単になる可能性はありますか。</a:t>
            </a:r>
            <a:endParaRPr lang="en-US" dirty="0"/>
          </a:p>
        </p:txBody>
      </p:sp>
    </p:spTree>
    <p:extLst>
      <p:ext uri="{BB962C8B-B14F-4D97-AF65-F5344CB8AC3E}">
        <p14:creationId xmlns:p14="http://schemas.microsoft.com/office/powerpoint/2010/main" val="847407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D6EEF-6357-F7F6-A77E-1D5191D73F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1E3483-15FE-4198-FD00-72DCBE7070C3}"/>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FACDDF11-B00C-5169-1BD8-A526F51B64CD}"/>
              </a:ext>
            </a:extLst>
          </p:cNvPr>
          <p:cNvSpPr>
            <a:spLocks noGrp="1"/>
          </p:cNvSpPr>
          <p:nvPr>
            <p:ph type="body" sz="quarter" idx="10"/>
          </p:nvPr>
        </p:nvSpPr>
        <p:spPr>
          <a:xfrm>
            <a:off x="2135956" y="1088974"/>
            <a:ext cx="7920088" cy="5220058"/>
          </a:xfrm>
        </p:spPr>
        <p:txBody>
          <a:bodyPr/>
          <a:lstStyle/>
          <a:p>
            <a:r>
              <a:rPr lang="ja-JP" altLang="en-US" dirty="0"/>
              <a:t>最近は工場のベルトコンベアに例えられた言葉での説明が多かったけれども、今日の授業はモデル式などがたくさん出てきて難しかった。</a:t>
            </a:r>
            <a:endParaRPr lang="en-US" dirty="0"/>
          </a:p>
        </p:txBody>
      </p:sp>
    </p:spTree>
    <p:extLst>
      <p:ext uri="{BB962C8B-B14F-4D97-AF65-F5344CB8AC3E}">
        <p14:creationId xmlns:p14="http://schemas.microsoft.com/office/powerpoint/2010/main" val="3020463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94BCA-A9CD-CFFA-CE74-32D279FAC7A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B58A31-4066-0095-7FC6-BECF8DE20A3F}"/>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DA8B1AE-7D42-7AE8-EDD9-C63DAAD230EB}"/>
              </a:ext>
            </a:extLst>
          </p:cNvPr>
          <p:cNvSpPr>
            <a:spLocks noGrp="1"/>
          </p:cNvSpPr>
          <p:nvPr>
            <p:ph type="body" sz="quarter" idx="10"/>
          </p:nvPr>
        </p:nvSpPr>
        <p:spPr>
          <a:xfrm>
            <a:off x="2135956" y="1088974"/>
            <a:ext cx="7920088" cy="5220058"/>
          </a:xfrm>
        </p:spPr>
        <p:txBody>
          <a:bodyPr/>
          <a:lstStyle/>
          <a:p>
            <a:r>
              <a:rPr lang="ja-JP" altLang="en-US" dirty="0"/>
              <a:t>今までパイプラインについてなんとなく理解しているがしっくりはきていないという感じだった。今回の授業で式を用いてその効率が実際にどう変わるのか明確になったので一気に理解できた。言葉での理論の説明より、実際に値を仮定したモデルで計算して、「ほら値増えてるでしょ」の方が、自分にはあっているのだと思った。</a:t>
            </a:r>
            <a:endParaRPr lang="en-US" dirty="0"/>
          </a:p>
        </p:txBody>
      </p:sp>
    </p:spTree>
    <p:extLst>
      <p:ext uri="{BB962C8B-B14F-4D97-AF65-F5344CB8AC3E}">
        <p14:creationId xmlns:p14="http://schemas.microsoft.com/office/powerpoint/2010/main" val="2075257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13E02-5209-6FD1-F3A6-3E120B3537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4D2B9D-9D34-0611-EBC1-309783685697}"/>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3F5E0AA-41F5-B7D8-84B1-D08124EEED67}"/>
              </a:ext>
            </a:extLst>
          </p:cNvPr>
          <p:cNvSpPr>
            <a:spLocks noGrp="1"/>
          </p:cNvSpPr>
          <p:nvPr>
            <p:ph type="body" sz="quarter" idx="10"/>
          </p:nvPr>
        </p:nvSpPr>
        <p:spPr>
          <a:xfrm>
            <a:off x="2135956" y="1088974"/>
            <a:ext cx="7920088" cy="5220058"/>
          </a:xfrm>
        </p:spPr>
        <p:txBody>
          <a:bodyPr/>
          <a:lstStyle/>
          <a:p>
            <a:r>
              <a:rPr lang="ja-JP" altLang="en-US" dirty="0"/>
              <a:t>パイプライン段数を</a:t>
            </a:r>
            <a:r>
              <a:rPr lang="en-US" altLang="ja-JP" dirty="0"/>
              <a:t>2</a:t>
            </a:r>
            <a:r>
              <a:rPr lang="ja-JP" altLang="en-US" dirty="0"/>
              <a:t>倍にするとどうなるか、といった内容が資料に書かれていたが、パイプライン段数は命令を実行する上での処理の数と同じで決められた処理段階を経るため、自由に段数を変えられるのかがよく分からなかった。</a:t>
            </a:r>
            <a:endParaRPr lang="en-US" dirty="0"/>
          </a:p>
        </p:txBody>
      </p:sp>
    </p:spTree>
    <p:extLst>
      <p:ext uri="{BB962C8B-B14F-4D97-AF65-F5344CB8AC3E}">
        <p14:creationId xmlns:p14="http://schemas.microsoft.com/office/powerpoint/2010/main" val="2562861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7722A-F9B6-25EC-B5DE-58DC901CAD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6D7C5E-39DE-FC5F-C123-2A632FC5CF47}"/>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6F21A117-857E-6198-5874-524D58FC69E8}"/>
              </a:ext>
            </a:extLst>
          </p:cNvPr>
          <p:cNvSpPr>
            <a:spLocks noGrp="1"/>
          </p:cNvSpPr>
          <p:nvPr>
            <p:ph type="body" sz="quarter" idx="10"/>
          </p:nvPr>
        </p:nvSpPr>
        <p:spPr>
          <a:xfrm>
            <a:off x="2135956" y="1088974"/>
            <a:ext cx="7920088" cy="5220058"/>
          </a:xfrm>
        </p:spPr>
        <p:txBody>
          <a:bodyPr/>
          <a:lstStyle/>
          <a:p>
            <a:r>
              <a:rPr lang="ja-JP" altLang="en-US" dirty="0"/>
              <a:t>公式がいっぱい出てきましたが、テストでは実行サイクル数</a:t>
            </a:r>
            <a:r>
              <a:rPr lang="en-US" altLang="ja-JP" dirty="0"/>
              <a:t>Cr</a:t>
            </a:r>
            <a:r>
              <a:rPr lang="ja-JP" altLang="en-US" dirty="0"/>
              <a:t>を命令数</a:t>
            </a:r>
            <a:r>
              <a:rPr lang="en-US" altLang="ja-JP" dirty="0"/>
              <a:t>Ni</a:t>
            </a:r>
            <a:r>
              <a:rPr lang="ja-JP" altLang="en-US" dirty="0"/>
              <a:t>で正規化し、その逆数をとった公式を覚えていればなんとかなりますか？そこまでの導出も覚えておかないと厳しいでしょうか。</a:t>
            </a:r>
            <a:endParaRPr lang="en-US" dirty="0"/>
          </a:p>
        </p:txBody>
      </p:sp>
    </p:spTree>
    <p:extLst>
      <p:ext uri="{BB962C8B-B14F-4D97-AF65-F5344CB8AC3E}">
        <p14:creationId xmlns:p14="http://schemas.microsoft.com/office/powerpoint/2010/main" val="5671859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45428-09B3-C2FD-8E29-5A2A01BCFD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59F4C4-4022-8D93-0DB3-4BEC6942FF40}"/>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3FDFE24D-7AC9-9F8C-9C7E-8B5E3F0F7995}"/>
              </a:ext>
            </a:extLst>
          </p:cNvPr>
          <p:cNvSpPr>
            <a:spLocks noGrp="1"/>
          </p:cNvSpPr>
          <p:nvPr>
            <p:ph type="body" sz="quarter" idx="10"/>
          </p:nvPr>
        </p:nvSpPr>
        <p:spPr>
          <a:xfrm>
            <a:off x="2135956" y="1088974"/>
            <a:ext cx="7920088" cy="5220058"/>
          </a:xfrm>
        </p:spPr>
        <p:txBody>
          <a:bodyPr/>
          <a:lstStyle/>
          <a:p>
            <a:r>
              <a:rPr lang="en-US" altLang="ja-JP" dirty="0"/>
              <a:t>in-order</a:t>
            </a:r>
            <a:r>
              <a:rPr lang="ja-JP" altLang="en-US" dirty="0"/>
              <a:t>実行では前の命令がストールすると後続命令も待たされることは理解できましたが、後続命令が「</a:t>
            </a:r>
            <a:r>
              <a:rPr lang="en-US" altLang="ja-JP" dirty="0"/>
              <a:t>F D</a:t>
            </a:r>
            <a:r>
              <a:rPr lang="ja-JP" altLang="en-US" dirty="0"/>
              <a:t>」まで進んでからストールするのか、「</a:t>
            </a:r>
            <a:r>
              <a:rPr lang="en-US" altLang="ja-JP" dirty="0"/>
              <a:t>F</a:t>
            </a:r>
            <a:r>
              <a:rPr lang="ja-JP" altLang="en-US" dirty="0"/>
              <a:t>」の直後でストールするのかの判断基準がまだ分かりません。</a:t>
            </a:r>
            <a:endParaRPr lang="en-US" dirty="0"/>
          </a:p>
        </p:txBody>
      </p:sp>
    </p:spTree>
    <p:extLst>
      <p:ext uri="{BB962C8B-B14F-4D97-AF65-F5344CB8AC3E}">
        <p14:creationId xmlns:p14="http://schemas.microsoft.com/office/powerpoint/2010/main" val="24272161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4F7B2-0EEC-9CB8-80DC-23DEC17326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2E183C-5AB0-BE71-5385-9163AB314543}"/>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7D3F8AE2-D94A-4CD1-DCBA-B9CA816B6063}"/>
              </a:ext>
            </a:extLst>
          </p:cNvPr>
          <p:cNvSpPr>
            <a:spLocks noGrp="1"/>
          </p:cNvSpPr>
          <p:nvPr>
            <p:ph type="body" sz="quarter" idx="10"/>
          </p:nvPr>
        </p:nvSpPr>
        <p:spPr>
          <a:xfrm>
            <a:off x="2135956" y="1088974"/>
            <a:ext cx="7920088" cy="5220058"/>
          </a:xfrm>
        </p:spPr>
        <p:txBody>
          <a:bodyPr/>
          <a:lstStyle/>
          <a:p>
            <a:r>
              <a:rPr lang="ja-JP" altLang="en-US" dirty="0"/>
              <a:t>パイプライン段数を増やすとクロック周波数は上がりますが、ハザードや分岐予測ミスによって</a:t>
            </a:r>
            <a:r>
              <a:rPr lang="en-US" altLang="ja-JP" dirty="0"/>
              <a:t>IPC</a:t>
            </a:r>
            <a:r>
              <a:rPr lang="ja-JP" altLang="en-US" dirty="0"/>
              <a:t>が下がるため、必ずしも性能が向上するわけではないという理解で合っていますか？</a:t>
            </a:r>
            <a:endParaRPr lang="en-US" dirty="0"/>
          </a:p>
        </p:txBody>
      </p:sp>
    </p:spTree>
    <p:extLst>
      <p:ext uri="{BB962C8B-B14F-4D97-AF65-F5344CB8AC3E}">
        <p14:creationId xmlns:p14="http://schemas.microsoft.com/office/powerpoint/2010/main" val="1410865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7729C-891D-1781-78F8-EAC1C538459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21572B-F3D2-A886-C73D-B94F19259BEF}"/>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CD057F5-D4FB-CDDF-F3A7-CC3F83230402}"/>
              </a:ext>
            </a:extLst>
          </p:cNvPr>
          <p:cNvSpPr>
            <a:spLocks noGrp="1"/>
          </p:cNvSpPr>
          <p:nvPr>
            <p:ph type="body" sz="quarter" idx="10"/>
          </p:nvPr>
        </p:nvSpPr>
        <p:spPr>
          <a:xfrm>
            <a:off x="2135956" y="1088974"/>
            <a:ext cx="7920088" cy="5220058"/>
          </a:xfrm>
        </p:spPr>
        <p:txBody>
          <a:bodyPr/>
          <a:lstStyle/>
          <a:p>
            <a:r>
              <a:rPr lang="ja-JP" altLang="en-US" dirty="0"/>
              <a:t>実際の</a:t>
            </a:r>
            <a:r>
              <a:rPr lang="en-US" altLang="ja-JP" dirty="0"/>
              <a:t>CPU</a:t>
            </a:r>
            <a:r>
              <a:rPr lang="ja-JP" altLang="en-US" dirty="0"/>
              <a:t>の改良</a:t>
            </a:r>
            <a:r>
              <a:rPr lang="en-US" altLang="ja-JP" dirty="0"/>
              <a:t>(</a:t>
            </a:r>
            <a:r>
              <a:rPr lang="ja-JP" altLang="en-US" dirty="0"/>
              <a:t>そんなに簡単なことではないと思いますが、、、</a:t>
            </a:r>
            <a:r>
              <a:rPr lang="en-US" altLang="ja-JP" dirty="0"/>
              <a:t>)</a:t>
            </a:r>
            <a:r>
              <a:rPr lang="ja-JP" altLang="en-US" dirty="0"/>
              <a:t>では、性能そのものと性能エネルギーのどちらをより重視するのでしょうか。</a:t>
            </a:r>
            <a:endParaRPr lang="en-US" dirty="0"/>
          </a:p>
        </p:txBody>
      </p:sp>
    </p:spTree>
    <p:extLst>
      <p:ext uri="{BB962C8B-B14F-4D97-AF65-F5344CB8AC3E}">
        <p14:creationId xmlns:p14="http://schemas.microsoft.com/office/powerpoint/2010/main" val="1796522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A7703-C013-E363-E088-A7BCD926D3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000111-964C-385B-8BAD-27D205E45457}"/>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98D77A2C-FF81-87CB-7347-C14F0BA6E116}"/>
              </a:ext>
            </a:extLst>
          </p:cNvPr>
          <p:cNvSpPr>
            <a:spLocks noGrp="1"/>
          </p:cNvSpPr>
          <p:nvPr>
            <p:ph type="body" sz="quarter" idx="10"/>
          </p:nvPr>
        </p:nvSpPr>
        <p:spPr>
          <a:xfrm>
            <a:off x="2135956" y="1088974"/>
            <a:ext cx="7920088" cy="5220058"/>
          </a:xfrm>
        </p:spPr>
        <p:txBody>
          <a:bodyPr/>
          <a:lstStyle/>
          <a:p>
            <a:r>
              <a:rPr lang="ja-JP" altLang="en-US" dirty="0"/>
              <a:t>あと、段っていうと縦にみてしまう</a:t>
            </a:r>
            <a:r>
              <a:rPr lang="en-US" altLang="ja-JP" dirty="0"/>
              <a:t>....</a:t>
            </a:r>
            <a:r>
              <a:rPr lang="ja-JP" altLang="en-US" dirty="0"/>
              <a:t>横が段なの難しいですね</a:t>
            </a:r>
            <a:endParaRPr lang="en-US" dirty="0"/>
          </a:p>
        </p:txBody>
      </p:sp>
    </p:spTree>
    <p:extLst>
      <p:ext uri="{BB962C8B-B14F-4D97-AF65-F5344CB8AC3E}">
        <p14:creationId xmlns:p14="http://schemas.microsoft.com/office/powerpoint/2010/main" val="1198007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D5F6E-AB96-31CD-2D07-CF165ED42C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363F00-E603-92D4-8157-9C9FD2C6F029}"/>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C5206D53-7EF0-9551-5ADE-D221B0D173AC}"/>
              </a:ext>
            </a:extLst>
          </p:cNvPr>
          <p:cNvSpPr>
            <a:spLocks noGrp="1"/>
          </p:cNvSpPr>
          <p:nvPr>
            <p:ph type="body" sz="quarter" idx="10"/>
          </p:nvPr>
        </p:nvSpPr>
        <p:spPr>
          <a:xfrm>
            <a:off x="2135956" y="1088974"/>
            <a:ext cx="7920088" cy="5220058"/>
          </a:xfrm>
        </p:spPr>
        <p:txBody>
          <a:bodyPr/>
          <a:lstStyle/>
          <a:p>
            <a:r>
              <a:rPr lang="ja-JP" altLang="en-US" dirty="0"/>
              <a:t>命令とサイクル数のグラフが右下がりのグラフであることに何か意味はあるのでしょうか？</a:t>
            </a:r>
            <a:endParaRPr lang="en-US" dirty="0"/>
          </a:p>
        </p:txBody>
      </p:sp>
    </p:spTree>
    <p:extLst>
      <p:ext uri="{BB962C8B-B14F-4D97-AF65-F5344CB8AC3E}">
        <p14:creationId xmlns:p14="http://schemas.microsoft.com/office/powerpoint/2010/main" val="3005837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CF912-732B-B14A-192B-E52414EBD88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4951CE-9D0D-645B-A893-15F59934FD1F}"/>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536BC37F-F1A5-803C-5665-7ED4CDDAC2AA}"/>
              </a:ext>
            </a:extLst>
          </p:cNvPr>
          <p:cNvSpPr>
            <a:spLocks noGrp="1"/>
          </p:cNvSpPr>
          <p:nvPr>
            <p:ph type="body" sz="quarter" idx="10"/>
          </p:nvPr>
        </p:nvSpPr>
        <p:spPr>
          <a:xfrm>
            <a:off x="2135956" y="1088974"/>
            <a:ext cx="7920088" cy="5220058"/>
          </a:xfrm>
        </p:spPr>
        <p:txBody>
          <a:bodyPr/>
          <a:lstStyle/>
          <a:p>
            <a:r>
              <a:rPr lang="ja-JP" altLang="en-US" dirty="0"/>
              <a:t>◯</a:t>
            </a:r>
            <a:r>
              <a:rPr lang="en-US" altLang="ja-JP" dirty="0"/>
              <a:t>way</a:t>
            </a:r>
            <a:r>
              <a:rPr lang="ja-JP" altLang="en-US" dirty="0"/>
              <a:t>スーパスカラと◯段の違いは何ですか。</a:t>
            </a:r>
            <a:endParaRPr lang="en-US" dirty="0"/>
          </a:p>
        </p:txBody>
      </p:sp>
    </p:spTree>
    <p:extLst>
      <p:ext uri="{BB962C8B-B14F-4D97-AF65-F5344CB8AC3E}">
        <p14:creationId xmlns:p14="http://schemas.microsoft.com/office/powerpoint/2010/main" val="4989498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40175-C9DB-2509-33A7-32770549FD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0EF459-904C-1DA5-B7C8-673C479FB411}"/>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A4870F8E-5783-6401-0DE8-8934A08E694E}"/>
              </a:ext>
            </a:extLst>
          </p:cNvPr>
          <p:cNvSpPr>
            <a:spLocks noGrp="1"/>
          </p:cNvSpPr>
          <p:nvPr>
            <p:ph type="body" sz="quarter" idx="10"/>
          </p:nvPr>
        </p:nvSpPr>
        <p:spPr>
          <a:xfrm>
            <a:off x="2135956" y="1088974"/>
            <a:ext cx="7920088" cy="5220058"/>
          </a:xfrm>
        </p:spPr>
        <p:txBody>
          <a:bodyPr/>
          <a:lstStyle/>
          <a:p>
            <a:r>
              <a:rPr lang="ja-JP" altLang="en-US" dirty="0"/>
              <a:t>テストは持ち込み有りですか。有りですよね。ありがとうございます。</a:t>
            </a:r>
            <a:endParaRPr lang="en-US" dirty="0"/>
          </a:p>
        </p:txBody>
      </p:sp>
    </p:spTree>
    <p:extLst>
      <p:ext uri="{BB962C8B-B14F-4D97-AF65-F5344CB8AC3E}">
        <p14:creationId xmlns:p14="http://schemas.microsoft.com/office/powerpoint/2010/main" val="169058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B19-5660-3F7B-7226-FCAF3454F9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BB028D-D913-AA4E-8521-66AE2B540A14}"/>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54A5950E-E673-332F-90FB-A98F111227DC}"/>
              </a:ext>
            </a:extLst>
          </p:cNvPr>
          <p:cNvSpPr>
            <a:spLocks noGrp="1"/>
          </p:cNvSpPr>
          <p:nvPr>
            <p:ph type="body" sz="quarter" idx="10"/>
          </p:nvPr>
        </p:nvSpPr>
        <p:spPr>
          <a:xfrm>
            <a:off x="2135956" y="1088974"/>
            <a:ext cx="7920088" cy="5220058"/>
          </a:xfrm>
        </p:spPr>
        <p:txBody>
          <a:bodyPr/>
          <a:lstStyle/>
          <a:p>
            <a:r>
              <a:rPr lang="ja-JP" altLang="en-US" dirty="0"/>
              <a:t>数学が好きでハードウェアにも興味があるのですが、ハードウェアの研究をするうえで数学はどのくらい必要なものですか。</a:t>
            </a:r>
            <a:endParaRPr lang="en-US" altLang="ja-JP" dirty="0"/>
          </a:p>
        </p:txBody>
      </p:sp>
    </p:spTree>
    <p:extLst>
      <p:ext uri="{BB962C8B-B14F-4D97-AF65-F5344CB8AC3E}">
        <p14:creationId xmlns:p14="http://schemas.microsoft.com/office/powerpoint/2010/main" val="910925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A521F-9264-4C55-5D06-DB904C6DD50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E10B3E7-9CA6-B37B-2419-B4C9C7222BD8}"/>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52CD7F00-26F8-C380-D9FB-9F20D4562AB2}"/>
              </a:ext>
            </a:extLst>
          </p:cNvPr>
          <p:cNvSpPr>
            <a:spLocks noGrp="1"/>
          </p:cNvSpPr>
          <p:nvPr>
            <p:ph type="body" sz="quarter" idx="10"/>
          </p:nvPr>
        </p:nvSpPr>
        <p:spPr>
          <a:xfrm>
            <a:off x="2135956" y="1088974"/>
            <a:ext cx="7920088" cy="5220058"/>
          </a:xfrm>
        </p:spPr>
        <p:txBody>
          <a:bodyPr/>
          <a:lstStyle/>
          <a:p>
            <a:r>
              <a:rPr lang="ja-JP" altLang="en-US" dirty="0"/>
              <a:t>スライドを読んだだけでは計算があまり理解できなかったが、課題に取り組んで試行錯誤していくうちに少し理解を深めることができた。実践大事！</a:t>
            </a:r>
            <a:endParaRPr lang="en-US" dirty="0"/>
          </a:p>
        </p:txBody>
      </p:sp>
    </p:spTree>
    <p:extLst>
      <p:ext uri="{BB962C8B-B14F-4D97-AF65-F5344CB8AC3E}">
        <p14:creationId xmlns:p14="http://schemas.microsoft.com/office/powerpoint/2010/main" val="1497755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63B26-B2BA-2143-90BE-72F784DAB1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7C73F0-7909-0108-186D-AB31D7F50104}"/>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87F8DD4-4895-5E28-6B5F-9742AF8C63EC}"/>
              </a:ext>
            </a:extLst>
          </p:cNvPr>
          <p:cNvSpPr>
            <a:spLocks noGrp="1"/>
          </p:cNvSpPr>
          <p:nvPr>
            <p:ph type="body" sz="quarter" idx="10"/>
          </p:nvPr>
        </p:nvSpPr>
        <p:spPr>
          <a:xfrm>
            <a:off x="2135956" y="1088974"/>
            <a:ext cx="7920088" cy="5220058"/>
          </a:xfrm>
        </p:spPr>
        <p:txBody>
          <a:bodyPr/>
          <a:lstStyle/>
          <a:p>
            <a:r>
              <a:rPr lang="ja-JP" altLang="en-US" dirty="0"/>
              <a:t>実行サイクル数の式が、物理基礎で習った</a:t>
            </a:r>
            <a:r>
              <a:rPr lang="en-US" altLang="ja-JP" dirty="0"/>
              <a:t>x=x₀+</a:t>
            </a:r>
            <a:r>
              <a:rPr lang="en-US" altLang="ja-JP" dirty="0" err="1"/>
              <a:t>vt</a:t>
            </a:r>
            <a:r>
              <a:rPr lang="ja-JP" altLang="en-US" dirty="0"/>
              <a:t>に似ているなと思いました。またパイプラインプロセッサでどうしても縦の列のみに着目してしまうので、横にも着目して、どれが今どの動きをしているのかをしっかり確認しながら考えたいと思いました。</a:t>
            </a:r>
            <a:endParaRPr lang="en-US" dirty="0"/>
          </a:p>
        </p:txBody>
      </p:sp>
    </p:spTree>
    <p:extLst>
      <p:ext uri="{BB962C8B-B14F-4D97-AF65-F5344CB8AC3E}">
        <p14:creationId xmlns:p14="http://schemas.microsoft.com/office/powerpoint/2010/main" val="3101697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02163-2C58-B757-7486-3B72BB0DCC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77C3E42-140D-100A-30E4-7D253A675C68}"/>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68509FA3-E168-13F1-8F3A-13554E6579B8}"/>
              </a:ext>
            </a:extLst>
          </p:cNvPr>
          <p:cNvSpPr>
            <a:spLocks noGrp="1"/>
          </p:cNvSpPr>
          <p:nvPr>
            <p:ph type="body" sz="quarter" idx="10"/>
          </p:nvPr>
        </p:nvSpPr>
        <p:spPr>
          <a:xfrm>
            <a:off x="2135956" y="1088974"/>
            <a:ext cx="7920088" cy="5220058"/>
          </a:xfrm>
        </p:spPr>
        <p:txBody>
          <a:bodyPr/>
          <a:lstStyle/>
          <a:p>
            <a:r>
              <a:rPr lang="ja-JP" altLang="en-US" dirty="0"/>
              <a:t>課題</a:t>
            </a:r>
            <a:r>
              <a:rPr lang="en-US" altLang="ja-JP" dirty="0"/>
              <a:t>7(7)</a:t>
            </a:r>
            <a:r>
              <a:rPr lang="ja-JP" altLang="en-US" dirty="0"/>
              <a:t>をもう一度解説してほしい</a:t>
            </a:r>
            <a:endParaRPr lang="en-US" dirty="0"/>
          </a:p>
        </p:txBody>
      </p:sp>
    </p:spTree>
    <p:extLst>
      <p:ext uri="{BB962C8B-B14F-4D97-AF65-F5344CB8AC3E}">
        <p14:creationId xmlns:p14="http://schemas.microsoft.com/office/powerpoint/2010/main" val="13453993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9D8A8-D2E1-2FEC-9627-FFDE99968B0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547FB0-CED5-D2AD-E20A-C1D8BE750844}"/>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7F5755DA-6F63-BAC2-0826-034F0D817E60}"/>
              </a:ext>
            </a:extLst>
          </p:cNvPr>
          <p:cNvSpPr>
            <a:spLocks noGrp="1"/>
          </p:cNvSpPr>
          <p:nvPr>
            <p:ph type="body" sz="quarter" idx="10"/>
          </p:nvPr>
        </p:nvSpPr>
        <p:spPr>
          <a:xfrm>
            <a:off x="2135956" y="1088974"/>
            <a:ext cx="7920088" cy="5220058"/>
          </a:xfrm>
        </p:spPr>
        <p:txBody>
          <a:bodyPr/>
          <a:lstStyle/>
          <a:p>
            <a:r>
              <a:rPr lang="ja-JP" altLang="en-US" dirty="0"/>
              <a:t>講義中に休憩の時間がある回とない回の違いは、講義内容のボリュームによるものですか。</a:t>
            </a:r>
            <a:endParaRPr lang="en-US" dirty="0"/>
          </a:p>
        </p:txBody>
      </p:sp>
    </p:spTree>
    <p:extLst>
      <p:ext uri="{BB962C8B-B14F-4D97-AF65-F5344CB8AC3E}">
        <p14:creationId xmlns:p14="http://schemas.microsoft.com/office/powerpoint/2010/main" val="2414848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9B9DD-99F9-FAD4-1B67-14425A3FB3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1FE31F-5EA2-0FD2-67FE-A07716657442}"/>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7EC1373B-B6A1-C439-2C0B-BC9447A347C1}"/>
              </a:ext>
            </a:extLst>
          </p:cNvPr>
          <p:cNvSpPr>
            <a:spLocks noGrp="1"/>
          </p:cNvSpPr>
          <p:nvPr>
            <p:ph type="body" sz="quarter" idx="10"/>
          </p:nvPr>
        </p:nvSpPr>
        <p:spPr>
          <a:xfrm>
            <a:off x="2135956" y="1088974"/>
            <a:ext cx="7920088" cy="5220058"/>
          </a:xfrm>
        </p:spPr>
        <p:txBody>
          <a:bodyPr/>
          <a:lstStyle/>
          <a:p>
            <a:r>
              <a:rPr lang="ja-JP" altLang="en-US" dirty="0"/>
              <a:t>練習問題を用意していただいていることに今日気づきました。これらの問題の類題の他に単語の説明問題のようなものも期末試験では出題されますか。</a:t>
            </a:r>
            <a:endParaRPr lang="en-US" dirty="0"/>
          </a:p>
        </p:txBody>
      </p:sp>
    </p:spTree>
    <p:extLst>
      <p:ext uri="{BB962C8B-B14F-4D97-AF65-F5344CB8AC3E}">
        <p14:creationId xmlns:p14="http://schemas.microsoft.com/office/powerpoint/2010/main" val="4826898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E82CB-FB84-3EE0-4152-91019745FB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F769937-3E6D-553A-905D-0FE6BA5A94C5}"/>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3C2130D7-4647-23BF-565B-074F2496F7AA}"/>
              </a:ext>
            </a:extLst>
          </p:cNvPr>
          <p:cNvSpPr>
            <a:spLocks noGrp="1"/>
          </p:cNvSpPr>
          <p:nvPr>
            <p:ph type="body" sz="quarter" idx="10"/>
          </p:nvPr>
        </p:nvSpPr>
        <p:spPr>
          <a:xfrm>
            <a:off x="2135956" y="1088974"/>
            <a:ext cx="7920088" cy="5220058"/>
          </a:xfrm>
        </p:spPr>
        <p:txBody>
          <a:bodyPr/>
          <a:lstStyle/>
          <a:p>
            <a:r>
              <a:rPr lang="ja-JP" altLang="en-US" dirty="0"/>
              <a:t>体感</a:t>
            </a:r>
            <a:r>
              <a:rPr lang="en-US" altLang="ja-JP" dirty="0"/>
              <a:t>3</a:t>
            </a:r>
            <a:r>
              <a:rPr lang="ja-JP" altLang="en-US" dirty="0"/>
              <a:t>割くらいしか理解していないような気がして、期末が不安でなりません</a:t>
            </a:r>
            <a:r>
              <a:rPr lang="en-US" altLang="ja-JP" dirty="0"/>
              <a:t>…</a:t>
            </a:r>
            <a:r>
              <a:rPr lang="ja-JP" altLang="en-US" dirty="0"/>
              <a:t>。重点的に勉強すべき点などなにかありますか？</a:t>
            </a:r>
            <a:endParaRPr lang="en-US" dirty="0"/>
          </a:p>
        </p:txBody>
      </p:sp>
    </p:spTree>
    <p:extLst>
      <p:ext uri="{BB962C8B-B14F-4D97-AF65-F5344CB8AC3E}">
        <p14:creationId xmlns:p14="http://schemas.microsoft.com/office/powerpoint/2010/main" val="14824315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4BD86-1AE3-24BE-4FBC-AAD80B5E08A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D70C45-94FA-2AA4-BE93-B50D8C96B18C}"/>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F8D2979D-6E56-39B6-872F-17183EE2477C}"/>
              </a:ext>
            </a:extLst>
          </p:cNvPr>
          <p:cNvSpPr>
            <a:spLocks noGrp="1"/>
          </p:cNvSpPr>
          <p:nvPr>
            <p:ph type="body" sz="quarter" idx="10"/>
          </p:nvPr>
        </p:nvSpPr>
        <p:spPr>
          <a:xfrm>
            <a:off x="2135956" y="1088974"/>
            <a:ext cx="7920088" cy="5220058"/>
          </a:xfrm>
        </p:spPr>
        <p:txBody>
          <a:bodyPr/>
          <a:lstStyle/>
          <a:p>
            <a:r>
              <a:rPr lang="ja-JP" altLang="en-US" dirty="0"/>
              <a:t>第八回の課題についてなのですが、性能を測るためには</a:t>
            </a:r>
            <a:r>
              <a:rPr lang="en-US" altLang="ja-JP" dirty="0"/>
              <a:t>IPC</a:t>
            </a:r>
            <a:r>
              <a:rPr lang="ja-JP" altLang="en-US" dirty="0"/>
              <a:t>を出した方がいいとスライドには書いてあったのですが、</a:t>
            </a:r>
            <a:r>
              <a:rPr lang="en-US" altLang="ja-JP" dirty="0"/>
              <a:t>IPC</a:t>
            </a:r>
            <a:r>
              <a:rPr lang="ja-JP" altLang="en-US" dirty="0"/>
              <a:t>を出す式には「全実行命令における何らかのハザードの出現率」を入れることができず、分岐予測ミスの出現率しか入れることができなかったので頭がこんがらがりました。</a:t>
            </a:r>
            <a:endParaRPr lang="en-US" dirty="0"/>
          </a:p>
        </p:txBody>
      </p:sp>
    </p:spTree>
    <p:extLst>
      <p:ext uri="{BB962C8B-B14F-4D97-AF65-F5344CB8AC3E}">
        <p14:creationId xmlns:p14="http://schemas.microsoft.com/office/powerpoint/2010/main" val="27825326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0E5E-6791-DF74-AA83-1FB8505CA0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47805F-A0AB-8682-819A-F7CDB4D1F0D8}"/>
              </a:ext>
            </a:extLst>
          </p:cNvPr>
          <p:cNvSpPr>
            <a:spLocks noGrp="1"/>
          </p:cNvSpPr>
          <p:nvPr>
            <p:ph type="title"/>
          </p:nvPr>
        </p:nvSpPr>
        <p:spPr>
          <a:xfrm>
            <a:off x="2135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5EEE9DE1-DE66-956F-FC66-5212C7763222}"/>
              </a:ext>
            </a:extLst>
          </p:cNvPr>
          <p:cNvSpPr>
            <a:spLocks noGrp="1"/>
          </p:cNvSpPr>
          <p:nvPr>
            <p:ph type="body" sz="quarter" idx="10"/>
          </p:nvPr>
        </p:nvSpPr>
        <p:spPr>
          <a:xfrm>
            <a:off x="2135956" y="1088974"/>
            <a:ext cx="7920088" cy="5220058"/>
          </a:xfrm>
        </p:spPr>
        <p:txBody>
          <a:bodyPr/>
          <a:lstStyle/>
          <a:p>
            <a:r>
              <a:rPr lang="ja-JP" altLang="en-US" dirty="0"/>
              <a:t>今回の講義では、「性能」について主に学習したが、普段日常で「この冷蔵庫の性能良いね」などと使う「性能」という単語とは意味が多少変わってくるような感じがし、困惑した。</a:t>
            </a:r>
            <a:endParaRPr lang="en-US" altLang="ja-JP" dirty="0"/>
          </a:p>
          <a:p>
            <a:r>
              <a:rPr lang="ja-JP" altLang="en-US" dirty="0"/>
              <a:t>（日常における「性能」は、総合的な機能の良さを表し、コンピュータアーキテクチャの世界における「性能」は数学的に計算できる指標（実行時間の逆数）ということであっているでしょうか？）</a:t>
            </a:r>
            <a:endParaRPr lang="en-US" dirty="0"/>
          </a:p>
        </p:txBody>
      </p:sp>
    </p:spTree>
    <p:extLst>
      <p:ext uri="{BB962C8B-B14F-4D97-AF65-F5344CB8AC3E}">
        <p14:creationId xmlns:p14="http://schemas.microsoft.com/office/powerpoint/2010/main" val="9781764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cai-shioya-08</Template>
  <TotalTime>0</TotalTime>
  <Words>6184</Words>
  <Application>Microsoft Office PowerPoint</Application>
  <PresentationFormat>ワイド画面</PresentationFormat>
  <Paragraphs>965</Paragraphs>
  <Slides>112</Slides>
  <Notes>0</Notes>
  <HiddenSlides>0</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112</vt:i4>
      </vt:variant>
    </vt:vector>
  </HeadingPairs>
  <TitlesOfParts>
    <vt:vector size="124" baseType="lpstr">
      <vt:lpstr>HG丸ｺﾞｼｯｸM-PRO</vt:lpstr>
      <vt:lpstr>MeiryoKe_PGothic</vt:lpstr>
      <vt:lpstr>メイリオ</vt:lpstr>
      <vt:lpstr>游ゴシック</vt:lpstr>
      <vt:lpstr>Arial Narrow</vt:lpstr>
      <vt:lpstr>Calibri</vt:lpstr>
      <vt:lpstr>Cambria Math</vt:lpstr>
      <vt:lpstr>Consolas</vt:lpstr>
      <vt:lpstr>Segoe UI</vt:lpstr>
      <vt:lpstr>Times New Roman</vt:lpstr>
      <vt:lpstr>Wingdings</vt:lpstr>
      <vt:lpstr>cerulean</vt:lpstr>
      <vt:lpstr>塩谷 亮太 (shioya@ci.i.u-tokyo.ac.jp) 東京大学大学院情報理工学系研究科 創造情報学専攻</vt:lpstr>
      <vt:lpstr>課題の解説</vt:lpstr>
      <vt:lpstr>考え方の指針</vt:lpstr>
      <vt:lpstr>分岐予測ミスによる実行サイクルの増加のモデル</vt:lpstr>
      <vt:lpstr>具体的な値を入れてみる</vt:lpstr>
      <vt:lpstr>IPC で考えると</vt:lpstr>
      <vt:lpstr>一般化できる</vt:lpstr>
      <vt:lpstr>一般化できる</vt:lpstr>
      <vt:lpstr>課題 ８</vt:lpstr>
      <vt:lpstr>課題８（１）まず実行サイクル数を求めてから，正規化する</vt:lpstr>
      <vt:lpstr>課題８（１）</vt:lpstr>
      <vt:lpstr>課題８（１）</vt:lpstr>
      <vt:lpstr>課題８（１）</vt:lpstr>
      <vt:lpstr>課題 ８（２）</vt:lpstr>
      <vt:lpstr>課題 ８（２）</vt:lpstr>
      <vt:lpstr>メモリと，キャッシュの基本</vt:lpstr>
      <vt:lpstr>今日の内容</vt:lpstr>
      <vt:lpstr>メモリ</vt:lpstr>
      <vt:lpstr>メモリ</vt:lpstr>
      <vt:lpstr>メモリ</vt:lpstr>
      <vt:lpstr>メモリ</vt:lpstr>
      <vt:lpstr>メモリの基本構造：セルを行列状に配置</vt:lpstr>
      <vt:lpstr>メモリの読み出し操作</vt:lpstr>
      <vt:lpstr>メモリの読み出し動作の例</vt:lpstr>
      <vt:lpstr>メモリの読み出し動作（１） アドレスのデコード</vt:lpstr>
      <vt:lpstr>メモリの読み出し動作（２） ワードラインのアサート</vt:lpstr>
      <vt:lpstr>メモリの読み出し動作（３） ワード（１行分のデータ）の読み出し</vt:lpstr>
      <vt:lpstr>メモリの読み出し動作（４） 列の選択</vt:lpstr>
      <vt:lpstr>AMD Zen という CPU のチップ写真 Teja Singh et al., Zen: An Energy-Efficient High-Performance ×86 Core より</vt:lpstr>
      <vt:lpstr>「田」の字の構造</vt:lpstr>
      <vt:lpstr>メモリ</vt:lpstr>
      <vt:lpstr>メモリの性質</vt:lpstr>
      <vt:lpstr>アクセス時間は容量の平方根ぐらいに比例</vt:lpstr>
      <vt:lpstr>アクセス時間は容量に直接は比例しない （容量の平方根ぐらいに比例</vt:lpstr>
      <vt:lpstr>速度</vt:lpstr>
      <vt:lpstr>メモリの速度と容量のまとめ</vt:lpstr>
      <vt:lpstr>メモリ</vt:lpstr>
      <vt:lpstr>メモリのバリエーション</vt:lpstr>
      <vt:lpstr>Static Random Access Memory (SRAM)</vt:lpstr>
      <vt:lpstr>SRAM のセル（1bit）</vt:lpstr>
      <vt:lpstr>SRAM の読み出し</vt:lpstr>
      <vt:lpstr>Dynamic Random Access Memory (DRAM)</vt:lpstr>
      <vt:lpstr>DRAM のセル</vt:lpstr>
      <vt:lpstr>DRAM の読み出し</vt:lpstr>
      <vt:lpstr>SRAM の場合との違い</vt:lpstr>
      <vt:lpstr>DRAM セルのコンデンサの作り方 H. Seidl et al, A Fully Integrated Al2O3 Trench Capacitor DRAM for Sub-100nm Technology より</vt:lpstr>
      <vt:lpstr>過去に使われていたもの：磁気コアメモリ https://ja.wikipedia.org/wiki/%E7%A3%81%E6%B0%97%E3%82%B3%E3%82%A2%E3%83%A1%E3%83%A2%E3%83%AA より</vt:lpstr>
      <vt:lpstr>メモリ</vt:lpstr>
      <vt:lpstr>メモリの存在する理由</vt:lpstr>
      <vt:lpstr>D-FF とマルチプレクサによる 4bit の RAM</vt:lpstr>
      <vt:lpstr>D-FF：トランジスタ 16個</vt:lpstr>
      <vt:lpstr>マルチプレクサ：トランジスタ 6個</vt:lpstr>
      <vt:lpstr>4bit メモリに必要なトランジスタ数：82</vt:lpstr>
      <vt:lpstr>SRAM と DRAM のセル（1bit）</vt:lpstr>
      <vt:lpstr>SRAM と DRAM（4bit）</vt:lpstr>
      <vt:lpstr>メモリのまとめ （おおよそこのぐらいの事がフワッと分かってれば良い</vt:lpstr>
      <vt:lpstr>メモリのまとめ （おおよそこのぐらいの事がフワッと分かってれば良い</vt:lpstr>
      <vt:lpstr>キャッシュ</vt:lpstr>
      <vt:lpstr>キャッシュとは？</vt:lpstr>
      <vt:lpstr>原理は同じ</vt:lpstr>
      <vt:lpstr>性能へ大きく影響するし，影響範囲も広い</vt:lpstr>
      <vt:lpstr>例：行列積の実装と性能</vt:lpstr>
      <vt:lpstr>内容</vt:lpstr>
      <vt:lpstr>記憶階層</vt:lpstr>
      <vt:lpstr>キャッシュの動作</vt:lpstr>
      <vt:lpstr>時間的局所性</vt:lpstr>
      <vt:lpstr>実際には多層の構造になっている</vt:lpstr>
      <vt:lpstr>キャッシュの基本的な考え方のまとめ</vt:lpstr>
      <vt:lpstr>内容</vt:lpstr>
      <vt:lpstr>キャッシュへの性能への影響</vt:lpstr>
      <vt:lpstr>実際の測定データ</vt:lpstr>
      <vt:lpstr>プログラム最適化の上で，重要なポイント</vt:lpstr>
      <vt:lpstr>まとめ</vt:lpstr>
      <vt:lpstr>課題 ９</vt:lpstr>
      <vt:lpstr>課題 ９</vt:lpstr>
      <vt:lpstr>提出方法</vt:lpstr>
      <vt:lpstr>付録</vt:lpstr>
      <vt:lpstr>SRAM の読み出し</vt:lpstr>
      <vt:lpstr>なぜプリチャージが必要なのか？</vt:lpstr>
      <vt:lpstr>SRAM の書き込み</vt:lpstr>
      <vt:lpstr>DRAM の読み出し</vt:lpstr>
      <vt:lpstr>DRAM の書き込み</vt:lpstr>
      <vt:lpstr>余談：Branch Prediction Championship</vt:lpstr>
      <vt:lpstr>PowerPoint プレゼンテーション</vt:lpstr>
      <vt:lpstr>PowerPoint プレゼンテーション</vt:lpstr>
      <vt:lpstr>PowerPoint プレゼンテーション</vt:lpstr>
      <vt:lpstr>PowerPoint プレゼンテーション</vt:lpstr>
      <vt:lpstr>トロフィー</vt:lpstr>
      <vt:lpstr>PowerPoint プレゼンテーション</vt:lpstr>
      <vt:lpstr>PowerPoint プレゼンテーション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2026-07-07T05:27:01Z</dcterms:modified>
</cp:coreProperties>
</file>