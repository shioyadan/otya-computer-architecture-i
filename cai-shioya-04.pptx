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72" r:id="rId1"/>
  </p:sldMasterIdLst>
  <p:notesMasterIdLst>
    <p:notesMasterId r:id="rId124"/>
  </p:notesMasterIdLst>
  <p:sldIdLst>
    <p:sldId id="455" r:id="rId2"/>
    <p:sldId id="1168" r:id="rId3"/>
    <p:sldId id="1167" r:id="rId4"/>
    <p:sldId id="1169" r:id="rId5"/>
    <p:sldId id="266" r:id="rId6"/>
    <p:sldId id="749" r:id="rId7"/>
    <p:sldId id="748" r:id="rId8"/>
    <p:sldId id="750" r:id="rId9"/>
    <p:sldId id="747" r:id="rId10"/>
    <p:sldId id="458" r:id="rId11"/>
    <p:sldId id="1184" r:id="rId12"/>
    <p:sldId id="753" r:id="rId13"/>
    <p:sldId id="754" r:id="rId14"/>
    <p:sldId id="755" r:id="rId15"/>
    <p:sldId id="756" r:id="rId16"/>
    <p:sldId id="762" r:id="rId17"/>
    <p:sldId id="763" r:id="rId18"/>
    <p:sldId id="764" r:id="rId19"/>
    <p:sldId id="760" r:id="rId20"/>
    <p:sldId id="771" r:id="rId21"/>
    <p:sldId id="772" r:id="rId22"/>
    <p:sldId id="773" r:id="rId23"/>
    <p:sldId id="761" r:id="rId24"/>
    <p:sldId id="775" r:id="rId25"/>
    <p:sldId id="776" r:id="rId26"/>
    <p:sldId id="777" r:id="rId27"/>
    <p:sldId id="778" r:id="rId28"/>
    <p:sldId id="779" r:id="rId29"/>
    <p:sldId id="781" r:id="rId30"/>
    <p:sldId id="783" r:id="rId31"/>
    <p:sldId id="780" r:id="rId32"/>
    <p:sldId id="784" r:id="rId33"/>
    <p:sldId id="785" r:id="rId34"/>
    <p:sldId id="797" r:id="rId35"/>
    <p:sldId id="786" r:id="rId36"/>
    <p:sldId id="787" r:id="rId37"/>
    <p:sldId id="788" r:id="rId38"/>
    <p:sldId id="789" r:id="rId39"/>
    <p:sldId id="791" r:id="rId40"/>
    <p:sldId id="800" r:id="rId41"/>
    <p:sldId id="792" r:id="rId42"/>
    <p:sldId id="793" r:id="rId43"/>
    <p:sldId id="794" r:id="rId44"/>
    <p:sldId id="795" r:id="rId45"/>
    <p:sldId id="790" r:id="rId46"/>
    <p:sldId id="796" r:id="rId47"/>
    <p:sldId id="798" r:id="rId48"/>
    <p:sldId id="799" r:id="rId49"/>
    <p:sldId id="721" r:id="rId50"/>
    <p:sldId id="462" r:id="rId51"/>
    <p:sldId id="467" r:id="rId52"/>
    <p:sldId id="460" r:id="rId53"/>
    <p:sldId id="468" r:id="rId54"/>
    <p:sldId id="470" r:id="rId55"/>
    <p:sldId id="469" r:id="rId56"/>
    <p:sldId id="471" r:id="rId57"/>
    <p:sldId id="480" r:id="rId58"/>
    <p:sldId id="844" r:id="rId59"/>
    <p:sldId id="365" r:id="rId60"/>
    <p:sldId id="1185" r:id="rId61"/>
    <p:sldId id="472" r:id="rId62"/>
    <p:sldId id="366" r:id="rId63"/>
    <p:sldId id="474" r:id="rId64"/>
    <p:sldId id="478" r:id="rId65"/>
    <p:sldId id="477" r:id="rId66"/>
    <p:sldId id="475" r:id="rId67"/>
    <p:sldId id="476" r:id="rId68"/>
    <p:sldId id="1241" r:id="rId69"/>
    <p:sldId id="746" r:id="rId70"/>
    <p:sldId id="745" r:id="rId71"/>
    <p:sldId id="1243" r:id="rId72"/>
    <p:sldId id="1244" r:id="rId73"/>
    <p:sldId id="1245" r:id="rId74"/>
    <p:sldId id="274" r:id="rId75"/>
    <p:sldId id="804" r:id="rId76"/>
    <p:sldId id="1246" r:id="rId77"/>
    <p:sldId id="1247" r:id="rId78"/>
    <p:sldId id="803" r:id="rId79"/>
    <p:sldId id="454" r:id="rId80"/>
    <p:sldId id="805" r:id="rId81"/>
    <p:sldId id="841" r:id="rId82"/>
    <p:sldId id="845" r:id="rId83"/>
    <p:sldId id="801" r:id="rId84"/>
    <p:sldId id="386" r:id="rId85"/>
    <p:sldId id="802" r:id="rId86"/>
    <p:sldId id="696" r:id="rId87"/>
    <p:sldId id="722" r:id="rId88"/>
    <p:sldId id="363" r:id="rId89"/>
    <p:sldId id="382" r:id="rId90"/>
    <p:sldId id="364" r:id="rId91"/>
    <p:sldId id="383" r:id="rId92"/>
    <p:sldId id="720" r:id="rId93"/>
    <p:sldId id="451" r:id="rId94"/>
    <p:sldId id="384" r:id="rId95"/>
    <p:sldId id="782" r:id="rId96"/>
    <p:sldId id="752" r:id="rId97"/>
    <p:sldId id="1186" r:id="rId98"/>
    <p:sldId id="1187" r:id="rId99"/>
    <p:sldId id="1188" r:id="rId100"/>
    <p:sldId id="1189" r:id="rId101"/>
    <p:sldId id="1190" r:id="rId102"/>
    <p:sldId id="1191" r:id="rId103"/>
    <p:sldId id="1192" r:id="rId104"/>
    <p:sldId id="1193" r:id="rId105"/>
    <p:sldId id="1194" r:id="rId106"/>
    <p:sldId id="1195" r:id="rId107"/>
    <p:sldId id="1196" r:id="rId108"/>
    <p:sldId id="1197" r:id="rId109"/>
    <p:sldId id="1198" r:id="rId110"/>
    <p:sldId id="1199" r:id="rId111"/>
    <p:sldId id="1200" r:id="rId112"/>
    <p:sldId id="1201" r:id="rId113"/>
    <p:sldId id="1202" r:id="rId114"/>
    <p:sldId id="1236" r:id="rId115"/>
    <p:sldId id="1203" r:id="rId116"/>
    <p:sldId id="1204" r:id="rId117"/>
    <p:sldId id="1205" r:id="rId118"/>
    <p:sldId id="1206" r:id="rId119"/>
    <p:sldId id="1237" r:id="rId120"/>
    <p:sldId id="1238" r:id="rId121"/>
    <p:sldId id="1240" r:id="rId122"/>
    <p:sldId id="1239" r:id="rId123"/>
  </p:sldIdLst>
  <p:sldSz cx="12192000" cy="6858000"/>
  <p:notesSz cx="6858000" cy="9144000"/>
  <p:custDataLst>
    <p:tags r:id="rId12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49" autoAdjust="0"/>
    <p:restoredTop sz="96889" autoAdjust="0"/>
  </p:normalViewPr>
  <p:slideViewPr>
    <p:cSldViewPr>
      <p:cViewPr varScale="1">
        <p:scale>
          <a:sx n="101" d="100"/>
          <a:sy n="101" d="100"/>
        </p:scale>
        <p:origin x="291" y="65"/>
      </p:cViewPr>
      <p:guideLst>
        <p:guide orient="horz" pos="2160"/>
        <p:guide pos="3840"/>
      </p:guideLst>
    </p:cSldViewPr>
  </p:slideViewPr>
  <p:notesTextViewPr>
    <p:cViewPr>
      <p:scale>
        <a:sx n="100" d="100"/>
        <a:sy n="100" d="100"/>
      </p:scale>
      <p:origin x="0" y="0"/>
    </p:cViewPr>
  </p:notesTextViewPr>
  <p:gridSpacing cx="90001" cy="90001"/>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notesMaster" Target="notesMasters/notesMaster1.xml"/><Relationship Id="rId129"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gs" Target="tags/tag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2026/5/19</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en-US" dirty="0"/>
          </a:p>
        </p:txBody>
      </p:sp>
      <p:sp>
        <p:nvSpPr>
          <p:cNvPr id="4" name="スライド番号プレースホルダー 3"/>
          <p:cNvSpPr>
            <a:spLocks noGrp="1"/>
          </p:cNvSpPr>
          <p:nvPr>
            <p:ph type="sldNum" sz="quarter" idx="5"/>
          </p:nvPr>
        </p:nvSpPr>
        <p:spPr/>
        <p:txBody>
          <a:bodyPr/>
          <a:lstStyle/>
          <a:p>
            <a:fld id="{02E5C193-8E84-44DA-A08F-24EBD3FDF7D3}" type="slidenum">
              <a:rPr kumimoji="1" lang="ja-JP" altLang="en-US" smtClean="0"/>
              <a:t>8</a:t>
            </a:fld>
            <a:endParaRPr kumimoji="1" lang="ja-JP" altLang="en-US"/>
          </a:p>
        </p:txBody>
      </p:sp>
    </p:spTree>
    <p:extLst>
      <p:ext uri="{BB962C8B-B14F-4D97-AF65-F5344CB8AC3E}">
        <p14:creationId xmlns:p14="http://schemas.microsoft.com/office/powerpoint/2010/main" val="6518241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49</a:t>
            </a:fld>
            <a:endParaRPr lang="en-US" altLang="ja-JP"/>
          </a:p>
        </p:txBody>
      </p:sp>
    </p:spTree>
    <p:extLst>
      <p:ext uri="{BB962C8B-B14F-4D97-AF65-F5344CB8AC3E}">
        <p14:creationId xmlns:p14="http://schemas.microsoft.com/office/powerpoint/2010/main" val="47067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50</a:t>
            </a:fld>
            <a:endParaRPr lang="en-US" altLang="ja-JP"/>
          </a:p>
        </p:txBody>
      </p:sp>
    </p:spTree>
    <p:extLst>
      <p:ext uri="{BB962C8B-B14F-4D97-AF65-F5344CB8AC3E}">
        <p14:creationId xmlns:p14="http://schemas.microsoft.com/office/powerpoint/2010/main" val="3418180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51</a:t>
            </a:fld>
            <a:endParaRPr lang="en-US" altLang="ja-JP"/>
          </a:p>
        </p:txBody>
      </p:sp>
    </p:spTree>
    <p:extLst>
      <p:ext uri="{BB962C8B-B14F-4D97-AF65-F5344CB8AC3E}">
        <p14:creationId xmlns:p14="http://schemas.microsoft.com/office/powerpoint/2010/main" val="513406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53</a:t>
            </a:fld>
            <a:endParaRPr lang="en-US" altLang="ja-JP"/>
          </a:p>
        </p:txBody>
      </p:sp>
    </p:spTree>
    <p:extLst>
      <p:ext uri="{BB962C8B-B14F-4D97-AF65-F5344CB8AC3E}">
        <p14:creationId xmlns:p14="http://schemas.microsoft.com/office/powerpoint/2010/main" val="643281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54</a:t>
            </a:fld>
            <a:endParaRPr lang="en-US" altLang="ja-JP"/>
          </a:p>
        </p:txBody>
      </p:sp>
    </p:spTree>
    <p:extLst>
      <p:ext uri="{BB962C8B-B14F-4D97-AF65-F5344CB8AC3E}">
        <p14:creationId xmlns:p14="http://schemas.microsoft.com/office/powerpoint/2010/main" val="15476945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55</a:t>
            </a:fld>
            <a:endParaRPr lang="en-US" altLang="ja-JP"/>
          </a:p>
        </p:txBody>
      </p:sp>
    </p:spTree>
    <p:extLst>
      <p:ext uri="{BB962C8B-B14F-4D97-AF65-F5344CB8AC3E}">
        <p14:creationId xmlns:p14="http://schemas.microsoft.com/office/powerpoint/2010/main" val="5653384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56</a:t>
            </a:fld>
            <a:endParaRPr lang="en-US" altLang="ja-JP"/>
          </a:p>
        </p:txBody>
      </p:sp>
    </p:spTree>
    <p:extLst>
      <p:ext uri="{BB962C8B-B14F-4D97-AF65-F5344CB8AC3E}">
        <p14:creationId xmlns:p14="http://schemas.microsoft.com/office/powerpoint/2010/main" val="2319748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58</a:t>
            </a:fld>
            <a:endParaRPr kumimoji="1" lang="ja-JP" altLang="en-US"/>
          </a:p>
        </p:txBody>
      </p:sp>
    </p:spTree>
    <p:extLst>
      <p:ext uri="{BB962C8B-B14F-4D97-AF65-F5344CB8AC3E}">
        <p14:creationId xmlns:p14="http://schemas.microsoft.com/office/powerpoint/2010/main" val="2489970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59</a:t>
            </a:fld>
            <a:endParaRPr kumimoji="1" lang="ja-JP" altLang="en-US"/>
          </a:p>
        </p:txBody>
      </p:sp>
    </p:spTree>
    <p:extLst>
      <p:ext uri="{BB962C8B-B14F-4D97-AF65-F5344CB8AC3E}">
        <p14:creationId xmlns:p14="http://schemas.microsoft.com/office/powerpoint/2010/main" val="1875916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61</a:t>
            </a:fld>
            <a:endParaRPr kumimoji="1" lang="ja-JP" altLang="en-US"/>
          </a:p>
        </p:txBody>
      </p:sp>
    </p:spTree>
    <p:extLst>
      <p:ext uri="{BB962C8B-B14F-4D97-AF65-F5344CB8AC3E}">
        <p14:creationId xmlns:p14="http://schemas.microsoft.com/office/powerpoint/2010/main" val="18923581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74</a:t>
            </a:fld>
            <a:endParaRPr kumimoji="1" lang="ja-JP" altLang="en-US"/>
          </a:p>
        </p:txBody>
      </p:sp>
    </p:spTree>
    <p:extLst>
      <p:ext uri="{BB962C8B-B14F-4D97-AF65-F5344CB8AC3E}">
        <p14:creationId xmlns:p14="http://schemas.microsoft.com/office/powerpoint/2010/main" val="4993144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55F7E7B6-97A1-4C8F-A8C0-76121E6C1AAA}" type="slidenum">
              <a:rPr kumimoji="1" lang="ja-JP" altLang="en-US" smtClean="0"/>
              <a:t>92</a:t>
            </a:fld>
            <a:endParaRPr kumimoji="1" lang="ja-JP" altLang="en-US"/>
          </a:p>
        </p:txBody>
      </p:sp>
    </p:spTree>
    <p:extLst>
      <p:ext uri="{BB962C8B-B14F-4D97-AF65-F5344CB8AC3E}">
        <p14:creationId xmlns:p14="http://schemas.microsoft.com/office/powerpoint/2010/main" val="3611531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1491791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28994BA3-EE89-8729-F511-359CF93D1F0C}"/>
              </a:ext>
            </a:extLst>
          </p:cNvPr>
          <p:cNvCxnSpPr>
            <a:cxnSpLocks/>
          </p:cNvCxnSpPr>
          <p:nvPr userDrawn="1"/>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2599651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34192863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5" name="スライド番号プレースホルダー 4"/>
          <p:cNvSpPr>
            <a:spLocks noGrp="1"/>
          </p:cNvSpPr>
          <p:nvPr>
            <p:ph type="sldNum" sz="quarter" idx="12"/>
          </p:nvPr>
        </p:nvSpPr>
        <p:spPr>
          <a:xfrm>
            <a:off x="11711936" y="6482651"/>
            <a:ext cx="480064"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335232" y="1268712"/>
            <a:ext cx="11521536"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3061735273"/>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accent4"/>
                </a:solidFill>
              </a:defRPr>
            </a:lvl1pPr>
          </a:lstStyle>
          <a:p>
            <a:r>
              <a:rPr kumimoji="1" lang="ja-JP" altLang="en-US"/>
              <a:t>マスター タイトルの書式設定</a:t>
            </a:r>
            <a:endParaRPr kumimoji="1" lang="ja-JP" altLang="en-US" dirty="0"/>
          </a:p>
        </p:txBody>
      </p:sp>
      <p:sp>
        <p:nvSpPr>
          <p:cNvPr id="4" name="コンテンツ プレースホルダー 3">
            <a:extLst>
              <a:ext uri="{FF2B5EF4-FFF2-40B4-BE49-F238E27FC236}">
                <a16:creationId xmlns:a16="http://schemas.microsoft.com/office/drawing/2014/main" id="{3B411819-7407-177D-333B-1437DD14AF43}"/>
              </a:ext>
            </a:extLst>
          </p:cNvPr>
          <p:cNvSpPr>
            <a:spLocks noGrp="1"/>
          </p:cNvSpPr>
          <p:nvPr>
            <p:ph sz="quarter" idx="11"/>
          </p:nvPr>
        </p:nvSpPr>
        <p:spPr>
          <a:xfrm>
            <a:off x="815941" y="1088974"/>
            <a:ext cx="11040123"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2057829826"/>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02D76658-EC28-6DC7-5037-6521DFF08331}"/>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405607843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8" r:id="rId4"/>
    <p:sldLayoutId id="2147483679" r:id="rId5"/>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en.wikipedia.org/wiki/Relay" TargetMode="External"/><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4.wmf"/><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wmf"/><Relationship Id="rId1" Type="http://schemas.openxmlformats.org/officeDocument/2006/relationships/slideLayout" Target="../slideLayouts/slideLayout3.xml"/><Relationship Id="rId5" Type="http://schemas.openxmlformats.org/officeDocument/2006/relationships/image" Target="../media/image6.wmf"/><Relationship Id="rId4" Type="http://schemas.openxmlformats.org/officeDocument/2006/relationships/image" Target="../media/image5.wmf"/></Relationships>
</file>

<file path=ppt/slides/_rels/slide34.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wmf"/><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hyperlink" Target="https://pr.fujitsu.com/jp/news/2018/08/21.html" TargetMode="External"/><Relationship Id="rId2" Type="http://schemas.openxmlformats.org/officeDocument/2006/relationships/image" Target="../media/image7.jpe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hyperlink" Target="https://en.wikipedia.org/wiki/Triode" TargetMode="External"/><Relationship Id="rId2" Type="http://schemas.openxmlformats.org/officeDocument/2006/relationships/image" Target="../media/image8.jpeg"/><Relationship Id="rId1" Type="http://schemas.openxmlformats.org/officeDocument/2006/relationships/slideLayout" Target="../slideLayouts/slideLayout3.xml"/><Relationship Id="rId4" Type="http://schemas.openxmlformats.org/officeDocument/2006/relationships/image" Target="../media/image9.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minecraft.net/ja-jp" TargetMode="Externa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3.xml"/><Relationship Id="rId4" Type="http://schemas.openxmlformats.org/officeDocument/2006/relationships/hyperlink" Target="https://minecraft.fandom.com/wiki/Redstone_circuits/Logic"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mcpedl.com/raffis-calculator-2-map/" TargetMode="External"/><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3.wmf"/><Relationship Id="rId7"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4.xml.rels><?xml version="1.0" encoding="UTF-8" standalone="yes"?>
<Relationships xmlns="http://schemas.openxmlformats.org/package/2006/relationships"><Relationship Id="rId8" Type="http://schemas.openxmlformats.org/officeDocument/2006/relationships/image" Target="../media/image3.wmf"/><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5.xml.rels><?xml version="1.0" encoding="UTF-8" standalone="yes"?>
<Relationships xmlns="http://schemas.openxmlformats.org/package/2006/relationships"><Relationship Id="rId8" Type="http://schemas.openxmlformats.org/officeDocument/2006/relationships/image" Target="../media/image3.wmf"/><Relationship Id="rId3" Type="http://schemas.openxmlformats.org/officeDocument/2006/relationships/image" Target="../media/image25.png"/><Relationship Id="rId7"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56.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5.png"/><Relationship Id="rId3" Type="http://schemas.openxmlformats.org/officeDocument/2006/relationships/image" Target="../media/image26.png"/><Relationship Id="rId7" Type="http://schemas.openxmlformats.org/officeDocument/2006/relationships/image" Target="../media/image4.wmf"/><Relationship Id="rId12"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9.png"/><Relationship Id="rId11" Type="http://schemas.openxmlformats.org/officeDocument/2006/relationships/image" Target="../media/image33.png"/><Relationship Id="rId5" Type="http://schemas.openxmlformats.org/officeDocument/2006/relationships/image" Target="../media/image28.png"/><Relationship Id="rId10" Type="http://schemas.openxmlformats.org/officeDocument/2006/relationships/image" Target="../media/image32.png"/><Relationship Id="rId4" Type="http://schemas.openxmlformats.org/officeDocument/2006/relationships/image" Target="../media/image27.png"/><Relationship Id="rId9" Type="http://schemas.openxmlformats.org/officeDocument/2006/relationships/image" Target="../media/image3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3.wmf"/><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5.wmf"/><Relationship Id="rId5" Type="http://schemas.openxmlformats.org/officeDocument/2006/relationships/image" Target="../media/image6.wmf"/><Relationship Id="rId4" Type="http://schemas.openxmlformats.org/officeDocument/2006/relationships/image" Target="../media/image4.wmf"/></Relationships>
</file>

<file path=ppt/slides/_rels/slide6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wmf"/><Relationship Id="rId1" Type="http://schemas.openxmlformats.org/officeDocument/2006/relationships/slideLayout" Target="../slideLayouts/slideLayout3.xml"/><Relationship Id="rId4" Type="http://schemas.openxmlformats.org/officeDocument/2006/relationships/image" Target="../media/image45.wmf"/></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7"/>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315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第４回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E3FB7BF-E660-03B2-C35D-8B370DB5427C}"/>
              </a:ext>
            </a:extLst>
          </p:cNvPr>
          <p:cNvSpPr>
            <a:spLocks noGrp="1"/>
          </p:cNvSpPr>
          <p:nvPr>
            <p:ph type="title"/>
          </p:nvPr>
        </p:nvSpPr>
        <p:spPr/>
        <p:txBody>
          <a:bodyPr/>
          <a:lstStyle/>
          <a:p>
            <a:r>
              <a:rPr lang="ja-JP" altLang="en-US" b="1" dirty="0"/>
              <a:t>課題３の解説</a:t>
            </a:r>
            <a:endParaRPr lang="en-US" b="1" dirty="0"/>
          </a:p>
        </p:txBody>
      </p:sp>
    </p:spTree>
    <p:extLst>
      <p:ext uri="{BB962C8B-B14F-4D97-AF65-F5344CB8AC3E}">
        <p14:creationId xmlns:p14="http://schemas.microsoft.com/office/powerpoint/2010/main" val="30540481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p:txBody>
          <a:bodyPr/>
          <a:lstStyle/>
          <a:p>
            <a:r>
              <a:rPr lang="ja-JP" altLang="en-US" dirty="0"/>
              <a:t>以下では </a:t>
            </a:r>
            <a:r>
              <a:rPr lang="en-US" altLang="ja-JP" dirty="0"/>
              <a:t>2</a:t>
            </a:r>
            <a:r>
              <a:rPr lang="ja-JP" altLang="en-US" dirty="0"/>
              <a:t>進数は </a:t>
            </a:r>
            <a:r>
              <a:rPr lang="en-US" altLang="ja-JP" dirty="0"/>
              <a:t>0b... 16</a:t>
            </a:r>
            <a:r>
              <a:rPr lang="ja-JP" altLang="en-US" dirty="0"/>
              <a:t>進数は </a:t>
            </a:r>
            <a:r>
              <a:rPr lang="en-US" altLang="ja-JP" dirty="0"/>
              <a:t>0x... </a:t>
            </a:r>
            <a:r>
              <a:rPr lang="ja-JP" altLang="en-US" dirty="0"/>
              <a:t>と表記するものとする</a:t>
            </a:r>
            <a:endParaRPr lang="en-US" altLang="ja-JP" dirty="0"/>
          </a:p>
          <a:p>
            <a:r>
              <a:rPr lang="ja-JP" altLang="en-US" dirty="0"/>
              <a:t>以下の１６進数を２進数で表記せよ</a:t>
            </a:r>
            <a:endParaRPr lang="en-US" altLang="ja-JP" dirty="0"/>
          </a:p>
          <a:p>
            <a:pPr lvl="1"/>
            <a:r>
              <a:rPr lang="en-US" altLang="ja-JP" dirty="0"/>
              <a:t>(1) 0x1011 </a:t>
            </a:r>
          </a:p>
          <a:p>
            <a:pPr lvl="2"/>
            <a:r>
              <a:rPr lang="en-US" altLang="ja-JP" dirty="0"/>
              <a:t>0b0001 0000 0001 0001</a:t>
            </a:r>
          </a:p>
          <a:p>
            <a:pPr lvl="1"/>
            <a:r>
              <a:rPr lang="en-US" altLang="ja-JP" dirty="0"/>
              <a:t>(2) 0x1234abcd </a:t>
            </a:r>
          </a:p>
          <a:p>
            <a:pPr lvl="2"/>
            <a:r>
              <a:rPr lang="en-US" altLang="ja-JP" dirty="0"/>
              <a:t>0b 0001 0010 0011 0100  1010 1011 1100 1101</a:t>
            </a:r>
          </a:p>
          <a:p>
            <a:pPr lvl="1"/>
            <a:endParaRPr lang="en-US" altLang="ja-JP" dirty="0"/>
          </a:p>
          <a:p>
            <a:pPr lvl="1"/>
            <a:r>
              <a:rPr lang="ja-JP" altLang="en-US" dirty="0"/>
              <a:t>２進数を４桁に区切って変換していくと良い</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a:t>
            </a:fld>
            <a:endParaRPr kumimoji="1" lang="ja-JP" altLang="en-US" dirty="0"/>
          </a:p>
        </p:txBody>
      </p:sp>
    </p:spTree>
    <p:extLst>
      <p:ext uri="{BB962C8B-B14F-4D97-AF65-F5344CB8AC3E}">
        <p14:creationId xmlns:p14="http://schemas.microsoft.com/office/powerpoint/2010/main" val="76036829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課題３</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p:txBody>
          <a:bodyPr/>
          <a:lstStyle/>
          <a:p>
            <a:r>
              <a:rPr lang="ja-JP" altLang="en-US" dirty="0"/>
              <a:t>以下の２進数を１６進数で表記せよ</a:t>
            </a:r>
            <a:endParaRPr lang="en-US" altLang="ja-JP" dirty="0"/>
          </a:p>
          <a:p>
            <a:pPr lvl="1"/>
            <a:r>
              <a:rPr lang="en-US" altLang="ja-JP" dirty="0"/>
              <a:t>(3) 0b10 1011</a:t>
            </a:r>
          </a:p>
          <a:p>
            <a:pPr lvl="2"/>
            <a:r>
              <a:rPr lang="en-US" altLang="ja-JP" dirty="0"/>
              <a:t>0x2b</a:t>
            </a:r>
          </a:p>
          <a:p>
            <a:pPr lvl="1"/>
            <a:r>
              <a:rPr lang="en-US" altLang="ja-JP" dirty="0"/>
              <a:t>(4) 0b1111 0000 1111 </a:t>
            </a:r>
          </a:p>
          <a:p>
            <a:pPr lvl="2"/>
            <a:r>
              <a:rPr lang="en-US" altLang="ja-JP" dirty="0"/>
              <a:t>0xf0f</a:t>
            </a:r>
          </a:p>
          <a:p>
            <a:r>
              <a:rPr lang="ja-JP" altLang="en-US" dirty="0"/>
              <a:t>以下の演算を行え</a:t>
            </a:r>
            <a:endParaRPr lang="en-US" altLang="ja-JP" dirty="0"/>
          </a:p>
          <a:p>
            <a:pPr lvl="1"/>
            <a:r>
              <a:rPr lang="en-US" altLang="ja-JP" dirty="0"/>
              <a:t>(5) 0b11011010 / 0b10 (</a:t>
            </a:r>
            <a:r>
              <a:rPr lang="ja-JP" altLang="en-US" dirty="0"/>
              <a:t>「</a:t>
            </a:r>
            <a:r>
              <a:rPr lang="en-US" altLang="ja-JP" dirty="0"/>
              <a:t>/</a:t>
            </a:r>
            <a:r>
              <a:rPr lang="ja-JP" altLang="en-US" dirty="0"/>
              <a:t>」</a:t>
            </a:r>
            <a:r>
              <a:rPr lang="en-US" altLang="ja-JP" dirty="0"/>
              <a:t> </a:t>
            </a:r>
            <a:r>
              <a:rPr lang="ja-JP" altLang="en-US" dirty="0"/>
              <a:t>は割り算</a:t>
            </a:r>
            <a:r>
              <a:rPr lang="en-US" altLang="ja-JP" dirty="0"/>
              <a:t>)</a:t>
            </a:r>
          </a:p>
          <a:p>
            <a:pPr lvl="2"/>
            <a:r>
              <a:rPr lang="en-US" altLang="ja-JP" dirty="0"/>
              <a:t>0b110 1101</a:t>
            </a:r>
          </a:p>
          <a:p>
            <a:pPr lvl="2"/>
            <a:r>
              <a:rPr lang="en-US" altLang="ja-JP" dirty="0"/>
              <a:t>10</a:t>
            </a:r>
            <a:r>
              <a:rPr lang="ja-JP" altLang="en-US" dirty="0"/>
              <a:t>進に変換して普通に割り算して戻す等してもよいが，</a:t>
            </a:r>
            <a:br>
              <a:rPr lang="en-US" altLang="ja-JP" dirty="0"/>
            </a:br>
            <a:r>
              <a:rPr lang="en-US" altLang="ja-JP" dirty="0"/>
              <a:t>0b10 </a:t>
            </a:r>
            <a:r>
              <a:rPr lang="ja-JP" altLang="en-US" dirty="0"/>
              <a:t>は </a:t>
            </a:r>
            <a:r>
              <a:rPr lang="en-US" altLang="ja-JP" dirty="0"/>
              <a:t>2 </a:t>
            </a:r>
            <a:r>
              <a:rPr lang="ja-JP" altLang="en-US" dirty="0"/>
              <a:t>なので，</a:t>
            </a:r>
            <a:r>
              <a:rPr lang="en-US" altLang="ja-JP" dirty="0"/>
              <a:t>/ 2 </a:t>
            </a:r>
            <a:r>
              <a:rPr lang="ja-JP" altLang="en-US" dirty="0"/>
              <a:t>は２進数だと右に一桁ずらす事に相当</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4</a:t>
            </a:fld>
            <a:endParaRPr kumimoji="1" lang="ja-JP" altLang="en-US" dirty="0"/>
          </a:p>
        </p:txBody>
      </p:sp>
    </p:spTree>
    <p:extLst>
      <p:ext uri="{BB962C8B-B14F-4D97-AF65-F5344CB8AC3E}">
        <p14:creationId xmlns:p14="http://schemas.microsoft.com/office/powerpoint/2010/main" val="320810664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p>
        </p:txBody>
      </p:sp>
    </p:spTree>
    <p:extLst>
      <p:ext uri="{BB962C8B-B14F-4D97-AF65-F5344CB8AC3E}">
        <p14:creationId xmlns:p14="http://schemas.microsoft.com/office/powerpoint/2010/main" val="23179339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051252AD-97FF-3A87-D267-75A261019A98}"/>
              </a:ext>
            </a:extLst>
          </p:cNvPr>
          <p:cNvSpPr>
            <a:spLocks noGrp="1"/>
          </p:cNvSpPr>
          <p:nvPr>
            <p:ph type="title"/>
          </p:nvPr>
        </p:nvSpPr>
        <p:spPr/>
        <p:txBody>
          <a:bodyPr/>
          <a:lstStyle/>
          <a:p>
            <a:r>
              <a:rPr lang="ja-JP" altLang="en-US" dirty="0"/>
              <a:t>２進数や１６進数による数値表現</a:t>
            </a:r>
            <a:endParaRPr lang="en-US" dirty="0"/>
          </a:p>
        </p:txBody>
      </p:sp>
      <p:sp>
        <p:nvSpPr>
          <p:cNvPr id="5" name="コンテンツ プレースホルダー 4">
            <a:extLst>
              <a:ext uri="{FF2B5EF4-FFF2-40B4-BE49-F238E27FC236}">
                <a16:creationId xmlns:a16="http://schemas.microsoft.com/office/drawing/2014/main" id="{FE3FC9F6-6123-3A84-AAC5-87399D386C97}"/>
              </a:ext>
            </a:extLst>
          </p:cNvPr>
          <p:cNvSpPr>
            <a:spLocks noGrp="1"/>
          </p:cNvSpPr>
          <p:nvPr>
            <p:ph type="body" sz="quarter" idx="10"/>
          </p:nvPr>
        </p:nvSpPr>
        <p:spPr/>
        <p:txBody>
          <a:bodyPr/>
          <a:lstStyle/>
          <a:p>
            <a:r>
              <a:rPr lang="ja-JP" altLang="en-US" dirty="0"/>
              <a:t>現代のコンピュータは基本的に２進数ベースで出来ている</a:t>
            </a:r>
            <a:endParaRPr lang="en-US" altLang="ja-JP" dirty="0"/>
          </a:p>
          <a:p>
            <a:pPr lvl="1"/>
            <a:r>
              <a:rPr lang="ja-JP" altLang="en-US" dirty="0"/>
              <a:t>電圧が「高い</a:t>
            </a:r>
            <a:r>
              <a:rPr lang="en-US" altLang="ja-JP" dirty="0"/>
              <a:t>=1</a:t>
            </a:r>
            <a:r>
              <a:rPr lang="ja-JP" altLang="en-US" dirty="0"/>
              <a:t>」</a:t>
            </a:r>
            <a:r>
              <a:rPr lang="en-US" altLang="ja-JP" dirty="0"/>
              <a:t>or</a:t>
            </a:r>
            <a:r>
              <a:rPr lang="ja-JP" altLang="en-US" dirty="0"/>
              <a:t>「低い</a:t>
            </a:r>
            <a:r>
              <a:rPr lang="en-US" altLang="ja-JP" dirty="0"/>
              <a:t>=0</a:t>
            </a:r>
            <a:r>
              <a:rPr lang="ja-JP" altLang="en-US" dirty="0"/>
              <a:t>」のような形で表現</a:t>
            </a:r>
            <a:endParaRPr lang="en-US" altLang="ja-JP" dirty="0"/>
          </a:p>
          <a:p>
            <a:pPr lvl="1"/>
            <a:r>
              <a:rPr lang="ja-JP" altLang="en-US" dirty="0"/>
              <a:t>２進数だと回路を作るのが簡単</a:t>
            </a:r>
            <a:endParaRPr lang="en-US" altLang="ja-JP" dirty="0"/>
          </a:p>
          <a:p>
            <a:pPr lvl="2"/>
            <a:r>
              <a:rPr lang="ja-JP" altLang="en-US" dirty="0"/>
              <a:t>中間の電圧とかを扱うのは大変</a:t>
            </a:r>
            <a:endParaRPr lang="en-US" altLang="ja-JP" dirty="0"/>
          </a:p>
          <a:p>
            <a:r>
              <a:rPr lang="ja-JP" altLang="en-US" dirty="0"/>
              <a:t>２進の利点と欠点</a:t>
            </a:r>
            <a:endParaRPr lang="en-US" altLang="ja-JP" dirty="0"/>
          </a:p>
          <a:p>
            <a:pPr lvl="1"/>
            <a:r>
              <a:rPr lang="ja-JP" altLang="en-US" dirty="0"/>
              <a:t>利点：各桁に意味を持たす事が多いので色々と考えやすい</a:t>
            </a:r>
            <a:endParaRPr lang="en-US" altLang="ja-JP" dirty="0"/>
          </a:p>
          <a:p>
            <a:pPr lvl="1"/>
            <a:r>
              <a:rPr lang="ja-JP" altLang="en-US" dirty="0"/>
              <a:t>欠点：桁数が大きく人間に把握が難しい</a:t>
            </a:r>
            <a:endParaRPr lang="en-US" altLang="ja-JP" dirty="0"/>
          </a:p>
          <a:p>
            <a:r>
              <a:rPr lang="ja-JP" altLang="en-US" dirty="0"/>
              <a:t>１６進の利点</a:t>
            </a:r>
            <a:endParaRPr lang="en-US" altLang="ja-JP" dirty="0"/>
          </a:p>
          <a:p>
            <a:pPr lvl="1"/>
            <a:r>
              <a:rPr lang="ja-JP" altLang="en-US" dirty="0"/>
              <a:t>利点：２進数とは相互変換が容易</a:t>
            </a:r>
            <a:endParaRPr lang="en-US" altLang="ja-JP" dirty="0"/>
          </a:p>
          <a:p>
            <a:pPr lvl="1"/>
            <a:r>
              <a:rPr lang="ja-JP" altLang="en-US" dirty="0"/>
              <a:t>欠点：慣れていないとやや把握が難しい</a:t>
            </a:r>
            <a:endParaRPr lang="en-US" dirty="0"/>
          </a:p>
        </p:txBody>
      </p:sp>
      <p:sp>
        <p:nvSpPr>
          <p:cNvPr id="2" name="スライド番号プレースホルダー 1">
            <a:extLst>
              <a:ext uri="{FF2B5EF4-FFF2-40B4-BE49-F238E27FC236}">
                <a16:creationId xmlns:a16="http://schemas.microsoft.com/office/drawing/2014/main" id="{CD342348-FBC7-AD6E-9963-D79BBA6CD8EB}"/>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a:t>
            </a:fld>
            <a:endParaRPr kumimoji="1" lang="ja-JP" altLang="en-US"/>
          </a:p>
        </p:txBody>
      </p:sp>
    </p:spTree>
    <p:extLst>
      <p:ext uri="{BB962C8B-B14F-4D97-AF65-F5344CB8AC3E}">
        <p14:creationId xmlns:p14="http://schemas.microsoft.com/office/powerpoint/2010/main" val="27600433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実際の命令セットの例</a:t>
            </a:r>
            <a:endParaRPr kumimoji="1" lang="ja-JP" altLang="en-US" dirty="0"/>
          </a:p>
        </p:txBody>
      </p:sp>
      <p:sp>
        <p:nvSpPr>
          <p:cNvPr id="3" name="テキスト プレースホルダー 2"/>
          <p:cNvSpPr>
            <a:spLocks noGrp="1"/>
          </p:cNvSpPr>
          <p:nvPr>
            <p:ph type="body" sz="quarter" idx="10"/>
          </p:nvPr>
        </p:nvSpPr>
        <p:spPr>
          <a:xfrm>
            <a:off x="2135956" y="1088975"/>
            <a:ext cx="8280092" cy="3150035"/>
          </a:xfrm>
        </p:spPr>
        <p:txBody>
          <a:bodyPr/>
          <a:lstStyle/>
          <a:p>
            <a:r>
              <a:rPr lang="en-US" altLang="ja-JP" dirty="0"/>
              <a:t>RISC-V </a:t>
            </a:r>
            <a:r>
              <a:rPr lang="ja-JP" altLang="en-US" dirty="0"/>
              <a:t>を例として説明</a:t>
            </a:r>
            <a:endParaRPr lang="en-US" altLang="ja-JP" dirty="0"/>
          </a:p>
          <a:p>
            <a:pPr lvl="1"/>
            <a:r>
              <a:rPr kumimoji="1" lang="ja-JP" altLang="en-US" dirty="0"/>
              <a:t>加減算，論理演算，ロード・ストア，即値，分岐とジャンプなど</a:t>
            </a:r>
            <a:endParaRPr kumimoji="1" lang="en-US" altLang="ja-JP" dirty="0"/>
          </a:p>
          <a:p>
            <a:pPr lvl="1"/>
            <a:r>
              <a:rPr kumimoji="1" lang="ja-JP" altLang="en-US" dirty="0"/>
              <a:t>各命令は基本的に </a:t>
            </a:r>
            <a:r>
              <a:rPr kumimoji="1" lang="en-US" altLang="ja-JP" dirty="0"/>
              <a:t>32bit </a:t>
            </a:r>
            <a:r>
              <a:rPr kumimoji="1" lang="ja-JP" altLang="en-US" dirty="0"/>
              <a:t>幅</a:t>
            </a:r>
            <a:endParaRPr kumimoji="1" lang="en-US" altLang="ja-JP" dirty="0"/>
          </a:p>
          <a:p>
            <a:r>
              <a:rPr lang="ja-JP" altLang="en-US" dirty="0"/>
              <a:t>１回目の講義で４桁の数字で表していたことと同じことを</a:t>
            </a:r>
            <a:br>
              <a:rPr lang="en-US" altLang="ja-JP" dirty="0"/>
            </a:br>
            <a:r>
              <a:rPr lang="en-US" altLang="ja-JP" dirty="0"/>
              <a:t>32bit </a:t>
            </a:r>
            <a:r>
              <a:rPr lang="ja-JP" altLang="en-US" dirty="0"/>
              <a:t>の中を細かく区切ってやっている</a:t>
            </a:r>
            <a:endParaRPr lang="en-US" altLang="ja-JP" dirty="0"/>
          </a:p>
          <a:p>
            <a:endParaRPr lang="en-US" altLang="ja-JP" dirty="0"/>
          </a:p>
        </p:txBody>
      </p:sp>
      <p:pic>
        <p:nvPicPr>
          <p:cNvPr id="4" name="図 3">
            <a:extLst>
              <a:ext uri="{FF2B5EF4-FFF2-40B4-BE49-F238E27FC236}">
                <a16:creationId xmlns:a16="http://schemas.microsoft.com/office/drawing/2014/main" id="{4990E592-58D4-E7F9-A4CB-52787B83DE14}"/>
              </a:ext>
            </a:extLst>
          </p:cNvPr>
          <p:cNvPicPr>
            <a:picLocks noChangeAspect="1"/>
          </p:cNvPicPr>
          <p:nvPr/>
        </p:nvPicPr>
        <p:blipFill>
          <a:blip r:embed="rId2"/>
          <a:stretch>
            <a:fillRect/>
          </a:stretch>
        </p:blipFill>
        <p:spPr>
          <a:xfrm>
            <a:off x="2225958" y="3969006"/>
            <a:ext cx="7722035" cy="2020980"/>
          </a:xfrm>
          <a:prstGeom prst="rect">
            <a:avLst/>
          </a:prstGeom>
        </p:spPr>
      </p:pic>
      <p:sp>
        <p:nvSpPr>
          <p:cNvPr id="5" name="テキスト プレースホルダー 2">
            <a:extLst>
              <a:ext uri="{FF2B5EF4-FFF2-40B4-BE49-F238E27FC236}">
                <a16:creationId xmlns:a16="http://schemas.microsoft.com/office/drawing/2014/main" id="{88C95690-FB53-B2CE-A1AD-4EC6D0506118}"/>
              </a:ext>
            </a:extLst>
          </p:cNvPr>
          <p:cNvSpPr txBox="1">
            <a:spLocks/>
          </p:cNvSpPr>
          <p:nvPr/>
        </p:nvSpPr>
        <p:spPr bwMode="auto">
          <a:xfrm>
            <a:off x="1775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spTree>
    <p:extLst>
      <p:ext uri="{BB962C8B-B14F-4D97-AF65-F5344CB8AC3E}">
        <p14:creationId xmlns:p14="http://schemas.microsoft.com/office/powerpoint/2010/main" val="2566399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(32bit) </a:t>
            </a:r>
            <a:r>
              <a:rPr kumimoji="1" lang="ja-JP" altLang="en-US" dirty="0"/>
              <a:t>のイメージ</a:t>
            </a:r>
          </a:p>
        </p:txBody>
      </p:sp>
      <p:sp>
        <p:nvSpPr>
          <p:cNvPr id="13" name="正方形/長方形 12">
            <a:extLst>
              <a:ext uri="{FF2B5EF4-FFF2-40B4-BE49-F238E27FC236}">
                <a16:creationId xmlns:a16="http://schemas.microsoft.com/office/drawing/2014/main" id="{A6C096BD-7EC1-7FDF-11CE-19F99B89F44B}"/>
              </a:ext>
            </a:extLst>
          </p:cNvPr>
          <p:cNvSpPr/>
          <p:nvPr/>
        </p:nvSpPr>
        <p:spPr bwMode="auto">
          <a:xfrm>
            <a:off x="2135956" y="1268976"/>
            <a:ext cx="5040056" cy="5400060"/>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77BEF000-D73B-DAC5-5309-0151A8AE215C}"/>
              </a:ext>
            </a:extLst>
          </p:cNvPr>
          <p:cNvSpPr/>
          <p:nvPr/>
        </p:nvSpPr>
        <p:spPr bwMode="auto">
          <a:xfrm>
            <a:off x="8616028" y="1268977"/>
            <a:ext cx="1440016" cy="3690041"/>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C7EEC86E-7E6B-4504-F546-02992B99264D}"/>
              </a:ext>
            </a:extLst>
          </p:cNvPr>
          <p:cNvSpPr/>
          <p:nvPr/>
        </p:nvSpPr>
        <p:spPr bwMode="auto">
          <a:xfrm>
            <a:off x="8616028" y="908972"/>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メモリ</a:t>
            </a:r>
          </a:p>
        </p:txBody>
      </p:sp>
      <p:sp>
        <p:nvSpPr>
          <p:cNvPr id="19" name="正方形/長方形 18">
            <a:extLst>
              <a:ext uri="{FF2B5EF4-FFF2-40B4-BE49-F238E27FC236}">
                <a16:creationId xmlns:a16="http://schemas.microsoft.com/office/drawing/2014/main" id="{6B8DA7C6-AEB1-6F72-9B90-4ADCEAAEAB36}"/>
              </a:ext>
            </a:extLst>
          </p:cNvPr>
          <p:cNvSpPr/>
          <p:nvPr/>
        </p:nvSpPr>
        <p:spPr bwMode="auto">
          <a:xfrm>
            <a:off x="8616028" y="1628981"/>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0x00000517</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20" name="正方形/長方形 19">
            <a:extLst>
              <a:ext uri="{FF2B5EF4-FFF2-40B4-BE49-F238E27FC236}">
                <a16:creationId xmlns:a16="http://schemas.microsoft.com/office/drawing/2014/main" id="{EB552A23-5E9F-FB5B-7FB2-6808239A04DF}"/>
              </a:ext>
            </a:extLst>
          </p:cNvPr>
          <p:cNvSpPr/>
          <p:nvPr/>
        </p:nvSpPr>
        <p:spPr bwMode="auto">
          <a:xfrm>
            <a:off x="8616028" y="1988985"/>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0x09850513</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21" name="正方形/長方形 20">
            <a:extLst>
              <a:ext uri="{FF2B5EF4-FFF2-40B4-BE49-F238E27FC236}">
                <a16:creationId xmlns:a16="http://schemas.microsoft.com/office/drawing/2014/main" id="{23ED9458-99D9-BD4C-DE7B-29A4F18EAA2B}"/>
              </a:ext>
            </a:extLst>
          </p:cNvPr>
          <p:cNvSpPr/>
          <p:nvPr/>
        </p:nvSpPr>
        <p:spPr bwMode="auto">
          <a:xfrm>
            <a:off x="8616028" y="2348989"/>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BB3954DB-EEF4-8036-1A0D-DE8B9E41C743}"/>
              </a:ext>
            </a:extLst>
          </p:cNvPr>
          <p:cNvSpPr/>
          <p:nvPr/>
        </p:nvSpPr>
        <p:spPr bwMode="auto">
          <a:xfrm>
            <a:off x="8616028" y="2708993"/>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5" name="正方形/長方形 34">
            <a:extLst>
              <a:ext uri="{FF2B5EF4-FFF2-40B4-BE49-F238E27FC236}">
                <a16:creationId xmlns:a16="http://schemas.microsoft.com/office/drawing/2014/main" id="{537C8C46-BD30-F0DE-07EB-3A0B593CBFE2}"/>
              </a:ext>
            </a:extLst>
          </p:cNvPr>
          <p:cNvSpPr/>
          <p:nvPr/>
        </p:nvSpPr>
        <p:spPr bwMode="auto">
          <a:xfrm>
            <a:off x="4205979" y="908972"/>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RISC-V CPU</a:t>
            </a:r>
          </a:p>
          <a:p>
            <a:pPr algn="ct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2AA9A53E-04E8-0E95-5254-A23E44B0D132}"/>
              </a:ext>
            </a:extLst>
          </p:cNvPr>
          <p:cNvSpPr/>
          <p:nvPr/>
        </p:nvSpPr>
        <p:spPr bwMode="auto">
          <a:xfrm>
            <a:off x="8256024" y="1628981"/>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0x1010:</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7" name="正方形/長方形 36">
            <a:extLst>
              <a:ext uri="{FF2B5EF4-FFF2-40B4-BE49-F238E27FC236}">
                <a16:creationId xmlns:a16="http://schemas.microsoft.com/office/drawing/2014/main" id="{97C757AC-FCC2-6945-3020-D7DFCF9A715E}"/>
              </a:ext>
            </a:extLst>
          </p:cNvPr>
          <p:cNvSpPr/>
          <p:nvPr/>
        </p:nvSpPr>
        <p:spPr bwMode="auto">
          <a:xfrm>
            <a:off x="8256024" y="1988985"/>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0x1014:</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8" name="正方形/長方形 37">
            <a:extLst>
              <a:ext uri="{FF2B5EF4-FFF2-40B4-BE49-F238E27FC236}">
                <a16:creationId xmlns:a16="http://schemas.microsoft.com/office/drawing/2014/main" id="{D34CEC2A-3629-1010-D41D-1739D54AA3B4}"/>
              </a:ext>
            </a:extLst>
          </p:cNvPr>
          <p:cNvSpPr/>
          <p:nvPr/>
        </p:nvSpPr>
        <p:spPr bwMode="auto">
          <a:xfrm>
            <a:off x="8256024" y="2348989"/>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0x1018:</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9" name="正方形/長方形 38">
            <a:extLst>
              <a:ext uri="{FF2B5EF4-FFF2-40B4-BE49-F238E27FC236}">
                <a16:creationId xmlns:a16="http://schemas.microsoft.com/office/drawing/2014/main" id="{6B74E5D7-4351-E626-C151-113E409CC142}"/>
              </a:ext>
            </a:extLst>
          </p:cNvPr>
          <p:cNvSpPr/>
          <p:nvPr/>
        </p:nvSpPr>
        <p:spPr bwMode="auto">
          <a:xfrm>
            <a:off x="8256024" y="2708993"/>
            <a:ext cx="36000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pPr algn="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0x101c:</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cxnSp>
        <p:nvCxnSpPr>
          <p:cNvPr id="40" name="曲線コネクタ 16">
            <a:extLst>
              <a:ext uri="{FF2B5EF4-FFF2-40B4-BE49-F238E27FC236}">
                <a16:creationId xmlns:a16="http://schemas.microsoft.com/office/drawing/2014/main" id="{623A8ADB-828C-5B21-852C-994515E97DF4}"/>
              </a:ext>
            </a:extLst>
          </p:cNvPr>
          <p:cNvCxnSpPr>
            <a:cxnSpLocks/>
          </p:cNvCxnSpPr>
          <p:nvPr/>
        </p:nvCxnSpPr>
        <p:spPr bwMode="auto">
          <a:xfrm flipV="1">
            <a:off x="6816009" y="1808982"/>
            <a:ext cx="810009" cy="360004"/>
          </a:xfrm>
          <a:prstGeom prst="curvedConnector3">
            <a:avLst/>
          </a:prstGeom>
          <a:ln>
            <a:headEnd type="none" w="med" len="med"/>
            <a:tailEnd type="triangle"/>
          </a:ln>
          <a:effectLst/>
        </p:spPr>
        <p:style>
          <a:lnRef idx="3">
            <a:schemeClr val="accent1"/>
          </a:lnRef>
          <a:fillRef idx="0">
            <a:schemeClr val="accent1"/>
          </a:fillRef>
          <a:effectRef idx="2">
            <a:schemeClr val="accent1"/>
          </a:effectRef>
          <a:fontRef idx="minor">
            <a:schemeClr val="tx1"/>
          </a:fontRef>
        </p:style>
      </p:cxnSp>
      <p:cxnSp>
        <p:nvCxnSpPr>
          <p:cNvPr id="41" name="直線コネクタ 40">
            <a:extLst>
              <a:ext uri="{FF2B5EF4-FFF2-40B4-BE49-F238E27FC236}">
                <a16:creationId xmlns:a16="http://schemas.microsoft.com/office/drawing/2014/main" id="{E749170D-3888-EDC5-D052-339C42C98DC7}"/>
              </a:ext>
            </a:extLst>
          </p:cNvPr>
          <p:cNvCxnSpPr>
            <a:cxnSpLocks/>
          </p:cNvCxnSpPr>
          <p:nvPr/>
        </p:nvCxnSpPr>
        <p:spPr bwMode="auto">
          <a:xfrm flipV="1">
            <a:off x="6456004" y="3068996"/>
            <a:ext cx="0" cy="2160024"/>
          </a:xfrm>
          <a:prstGeom prst="line">
            <a:avLst/>
          </a:prstGeom>
          <a:ln w="15875">
            <a:solidFill>
              <a:schemeClr val="tx1"/>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CE888A76-7277-C92F-ED4E-43F9AEAF85BD}"/>
              </a:ext>
            </a:extLst>
          </p:cNvPr>
          <p:cNvCxnSpPr>
            <a:cxnSpLocks/>
          </p:cNvCxnSpPr>
          <p:nvPr/>
        </p:nvCxnSpPr>
        <p:spPr bwMode="auto">
          <a:xfrm flipH="1">
            <a:off x="6456004" y="5229020"/>
            <a:ext cx="2880032" cy="0"/>
          </a:xfrm>
          <a:prstGeom prst="line">
            <a:avLst/>
          </a:prstGeom>
          <a:ln w="15875">
            <a:solidFill>
              <a:schemeClr val="tx1"/>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2E3B5132-C541-DAAE-4E6B-F9C3C4ED6A0A}"/>
              </a:ext>
            </a:extLst>
          </p:cNvPr>
          <p:cNvCxnSpPr/>
          <p:nvPr/>
        </p:nvCxnSpPr>
        <p:spPr bwMode="auto">
          <a:xfrm flipV="1">
            <a:off x="9336037" y="1898983"/>
            <a:ext cx="1" cy="3330036"/>
          </a:xfrm>
          <a:prstGeom prst="line">
            <a:avLst/>
          </a:prstGeom>
          <a:ln w="15875">
            <a:solidFill>
              <a:schemeClr val="tx1"/>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9" name="フローチャート: 手作業 48">
            <a:extLst>
              <a:ext uri="{FF2B5EF4-FFF2-40B4-BE49-F238E27FC236}">
                <a16:creationId xmlns:a16="http://schemas.microsoft.com/office/drawing/2014/main" id="{F3CCEF8A-A7BA-606B-BA7A-650E33F38BF8}"/>
              </a:ext>
            </a:extLst>
          </p:cNvPr>
          <p:cNvSpPr/>
          <p:nvPr/>
        </p:nvSpPr>
        <p:spPr bwMode="auto">
          <a:xfrm rot="16200000">
            <a:off x="5098794" y="3886200"/>
            <a:ext cx="914400" cy="360004"/>
          </a:xfrm>
          <a:prstGeom prst="flowChartManualOperation">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lang="en-US" altLang="ja-JP" dirty="0">
                <a:solidFill>
                  <a:schemeClr val="bg1"/>
                </a:solidFill>
                <a:latin typeface="メイリオ" panose="020B0604030504040204" pitchFamily="50" charset="-128"/>
                <a:ea typeface="メイリオ" panose="020B0604030504040204" pitchFamily="50" charset="-128"/>
              </a:rPr>
              <a:t>FU</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58" name="正方形/長方形 57">
            <a:extLst>
              <a:ext uri="{FF2B5EF4-FFF2-40B4-BE49-F238E27FC236}">
                <a16:creationId xmlns:a16="http://schemas.microsoft.com/office/drawing/2014/main" id="{FFAC33A1-1043-C50F-1512-6E8D561642A6}"/>
              </a:ext>
            </a:extLst>
          </p:cNvPr>
          <p:cNvSpPr/>
          <p:nvPr/>
        </p:nvSpPr>
        <p:spPr bwMode="auto">
          <a:xfrm>
            <a:off x="5375993" y="1988984"/>
            <a:ext cx="1440017"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Consolas" panose="020B0609020204030204" pitchFamily="49" charset="0"/>
                <a:ea typeface="メイリオ" panose="020B0604030504040204" pitchFamily="50" charset="-128"/>
              </a:rPr>
              <a:t>0x00001010</a:t>
            </a:r>
            <a:endParaRPr lang="ja-JP" altLang="en-US" dirty="0">
              <a:solidFill>
                <a:schemeClr val="bg1"/>
              </a:solidFill>
              <a:latin typeface="Consolas" panose="020B0609020204030204" pitchFamily="49" charset="0"/>
              <a:ea typeface="メイリオ" panose="020B0604030504040204" pitchFamily="50" charset="-128"/>
            </a:endParaRPr>
          </a:p>
        </p:txBody>
      </p:sp>
      <p:cxnSp>
        <p:nvCxnSpPr>
          <p:cNvPr id="59" name="直線コネクタ 58">
            <a:extLst>
              <a:ext uri="{FF2B5EF4-FFF2-40B4-BE49-F238E27FC236}">
                <a16:creationId xmlns:a16="http://schemas.microsoft.com/office/drawing/2014/main" id="{12532D97-2D58-A883-74E9-5923237BB622}"/>
              </a:ext>
            </a:extLst>
          </p:cNvPr>
          <p:cNvCxnSpPr>
            <a:cxnSpLocks/>
          </p:cNvCxnSpPr>
          <p:nvPr/>
        </p:nvCxnSpPr>
        <p:spPr bwMode="auto">
          <a:xfrm>
            <a:off x="4745985" y="1988984"/>
            <a:ext cx="0" cy="4320048"/>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0" name="直線コネクタ 59">
            <a:extLst>
              <a:ext uri="{FF2B5EF4-FFF2-40B4-BE49-F238E27FC236}">
                <a16:creationId xmlns:a16="http://schemas.microsoft.com/office/drawing/2014/main" id="{EF745325-B540-7687-FC02-43F3A691B616}"/>
              </a:ext>
            </a:extLst>
          </p:cNvPr>
          <p:cNvCxnSpPr>
            <a:cxnSpLocks/>
          </p:cNvCxnSpPr>
          <p:nvPr/>
        </p:nvCxnSpPr>
        <p:spPr bwMode="auto">
          <a:xfrm>
            <a:off x="4835986" y="1988984"/>
            <a:ext cx="0" cy="4320048"/>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58DFC9-3DF1-A485-089E-A080473F9D4E}"/>
              </a:ext>
            </a:extLst>
          </p:cNvPr>
          <p:cNvCxnSpPr>
            <a:cxnSpLocks/>
          </p:cNvCxnSpPr>
          <p:nvPr/>
        </p:nvCxnSpPr>
        <p:spPr bwMode="auto">
          <a:xfrm>
            <a:off x="4745986" y="3789004"/>
            <a:ext cx="630007"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2" name="直線コネクタ 61">
            <a:extLst>
              <a:ext uri="{FF2B5EF4-FFF2-40B4-BE49-F238E27FC236}">
                <a16:creationId xmlns:a16="http://schemas.microsoft.com/office/drawing/2014/main" id="{8ECCBB80-9A14-C7AE-4125-3073764D4504}"/>
              </a:ext>
            </a:extLst>
          </p:cNvPr>
          <p:cNvCxnSpPr>
            <a:cxnSpLocks/>
          </p:cNvCxnSpPr>
          <p:nvPr/>
        </p:nvCxnSpPr>
        <p:spPr bwMode="auto">
          <a:xfrm>
            <a:off x="4835986" y="4329010"/>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3" name="直線コネクタ 62">
            <a:extLst>
              <a:ext uri="{FF2B5EF4-FFF2-40B4-BE49-F238E27FC236}">
                <a16:creationId xmlns:a16="http://schemas.microsoft.com/office/drawing/2014/main" id="{E2769735-553F-72DA-D762-E19CBA31BA70}"/>
              </a:ext>
            </a:extLst>
          </p:cNvPr>
          <p:cNvCxnSpPr/>
          <p:nvPr/>
        </p:nvCxnSpPr>
        <p:spPr bwMode="auto">
          <a:xfrm flipV="1">
            <a:off x="3935976" y="6399033"/>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4" name="直線コネクタ 63">
            <a:extLst>
              <a:ext uri="{FF2B5EF4-FFF2-40B4-BE49-F238E27FC236}">
                <a16:creationId xmlns:a16="http://schemas.microsoft.com/office/drawing/2014/main" id="{749BBC53-790A-312A-DC06-8EFC2B36DBF6}"/>
              </a:ext>
            </a:extLst>
          </p:cNvPr>
          <p:cNvCxnSpPr>
            <a:cxnSpLocks/>
          </p:cNvCxnSpPr>
          <p:nvPr/>
        </p:nvCxnSpPr>
        <p:spPr bwMode="auto">
          <a:xfrm flipH="1">
            <a:off x="3935976" y="6579035"/>
            <a:ext cx="2160024"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5" name="直線コネクタ 64">
            <a:extLst>
              <a:ext uri="{FF2B5EF4-FFF2-40B4-BE49-F238E27FC236}">
                <a16:creationId xmlns:a16="http://schemas.microsoft.com/office/drawing/2014/main" id="{50E1541C-5C63-0F4B-A363-B7F70E412298}"/>
              </a:ext>
            </a:extLst>
          </p:cNvPr>
          <p:cNvCxnSpPr>
            <a:cxnSpLocks/>
          </p:cNvCxnSpPr>
          <p:nvPr/>
        </p:nvCxnSpPr>
        <p:spPr bwMode="auto">
          <a:xfrm flipH="1">
            <a:off x="5735996" y="4059007"/>
            <a:ext cx="360004"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DFBC6527-41F2-2B2D-48AC-B8E7204012E7}"/>
              </a:ext>
            </a:extLst>
          </p:cNvPr>
          <p:cNvCxnSpPr>
            <a:cxnSpLocks/>
          </p:cNvCxnSpPr>
          <p:nvPr/>
        </p:nvCxnSpPr>
        <p:spPr bwMode="auto">
          <a:xfrm flipV="1">
            <a:off x="6096000" y="4059007"/>
            <a:ext cx="0" cy="2520028"/>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67" name="正方形/長方形 66">
            <a:extLst>
              <a:ext uri="{FF2B5EF4-FFF2-40B4-BE49-F238E27FC236}">
                <a16:creationId xmlns:a16="http://schemas.microsoft.com/office/drawing/2014/main" id="{A9293F1F-E1E4-3FCA-20DF-16643A33FE4E}"/>
              </a:ext>
            </a:extLst>
          </p:cNvPr>
          <p:cNvSpPr/>
          <p:nvPr/>
        </p:nvSpPr>
        <p:spPr bwMode="auto">
          <a:xfrm>
            <a:off x="5375992" y="2708992"/>
            <a:ext cx="1440016" cy="360004"/>
          </a:xfrm>
          <a:prstGeom prst="rect">
            <a:avLst/>
          </a:prstGeom>
          <a:noFill/>
          <a:ln>
            <a:solidFill>
              <a:schemeClr val="tx1">
                <a:lumMod val="75000"/>
                <a:lumOff val="25000"/>
              </a:schemeClr>
            </a:solid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Consolas" panose="020B0609020204030204" pitchFamily="49" charset="0"/>
                <a:ea typeface="メイリオ" panose="020B0604030504040204" pitchFamily="50" charset="-128"/>
              </a:rPr>
              <a:t>0x00000517</a:t>
            </a:r>
            <a:endParaRPr lang="ja-JP" altLang="en-US"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8" name="正方形/長方形 67">
            <a:extLst>
              <a:ext uri="{FF2B5EF4-FFF2-40B4-BE49-F238E27FC236}">
                <a16:creationId xmlns:a16="http://schemas.microsoft.com/office/drawing/2014/main" id="{84996FB8-EC5B-74EF-F822-4E387CB01EDA}"/>
              </a:ext>
            </a:extLst>
          </p:cNvPr>
          <p:cNvSpPr/>
          <p:nvPr/>
        </p:nvSpPr>
        <p:spPr bwMode="auto">
          <a:xfrm>
            <a:off x="3215968" y="1988985"/>
            <a:ext cx="1440016" cy="4320049"/>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4A1C0476-C5F5-8D66-1ACA-432103DEA133}"/>
              </a:ext>
            </a:extLst>
          </p:cNvPr>
          <p:cNvSpPr/>
          <p:nvPr/>
        </p:nvSpPr>
        <p:spPr bwMode="auto">
          <a:xfrm>
            <a:off x="3215968" y="2708993"/>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b="1"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70" name="正方形/長方形 69">
            <a:extLst>
              <a:ext uri="{FF2B5EF4-FFF2-40B4-BE49-F238E27FC236}">
                <a16:creationId xmlns:a16="http://schemas.microsoft.com/office/drawing/2014/main" id="{F9C68A59-814E-6BE1-9152-4014B000B803}"/>
              </a:ext>
            </a:extLst>
          </p:cNvPr>
          <p:cNvSpPr/>
          <p:nvPr/>
        </p:nvSpPr>
        <p:spPr bwMode="auto">
          <a:xfrm>
            <a:off x="3215968" y="3068997"/>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1" name="正方形/長方形 70">
            <a:extLst>
              <a:ext uri="{FF2B5EF4-FFF2-40B4-BE49-F238E27FC236}">
                <a16:creationId xmlns:a16="http://schemas.microsoft.com/office/drawing/2014/main" id="{CFA55730-FCBA-69F5-9E0F-98897DD46226}"/>
              </a:ext>
            </a:extLst>
          </p:cNvPr>
          <p:cNvSpPr/>
          <p:nvPr/>
        </p:nvSpPr>
        <p:spPr bwMode="auto">
          <a:xfrm>
            <a:off x="3215968" y="1988985"/>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0</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2" name="正方形/長方形 71">
            <a:extLst>
              <a:ext uri="{FF2B5EF4-FFF2-40B4-BE49-F238E27FC236}">
                <a16:creationId xmlns:a16="http://schemas.microsoft.com/office/drawing/2014/main" id="{D6CF3743-8785-5404-F861-6BEA0543C3B2}"/>
              </a:ext>
            </a:extLst>
          </p:cNvPr>
          <p:cNvSpPr/>
          <p:nvPr/>
        </p:nvSpPr>
        <p:spPr bwMode="auto">
          <a:xfrm>
            <a:off x="3215968" y="2348989"/>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3" name="正方形/長方形 72">
            <a:extLst>
              <a:ext uri="{FF2B5EF4-FFF2-40B4-BE49-F238E27FC236}">
                <a16:creationId xmlns:a16="http://schemas.microsoft.com/office/drawing/2014/main" id="{DAB06E3A-C68C-7A45-2427-C9D6AFA7C35B}"/>
              </a:ext>
            </a:extLst>
          </p:cNvPr>
          <p:cNvSpPr/>
          <p:nvPr/>
        </p:nvSpPr>
        <p:spPr bwMode="auto">
          <a:xfrm>
            <a:off x="3215968" y="3429001"/>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74" name="正方形/長方形 73">
            <a:extLst>
              <a:ext uri="{FF2B5EF4-FFF2-40B4-BE49-F238E27FC236}">
                <a16:creationId xmlns:a16="http://schemas.microsoft.com/office/drawing/2014/main" id="{D844D9D9-4637-C1AB-F53C-37D5404F2C1D}"/>
              </a:ext>
            </a:extLst>
          </p:cNvPr>
          <p:cNvSpPr/>
          <p:nvPr/>
        </p:nvSpPr>
        <p:spPr bwMode="auto">
          <a:xfrm>
            <a:off x="3215968" y="4869017"/>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A6E24843-65D6-4A76-1242-8ECAB5D02461}"/>
              </a:ext>
            </a:extLst>
          </p:cNvPr>
          <p:cNvSpPr/>
          <p:nvPr/>
        </p:nvSpPr>
        <p:spPr bwMode="auto">
          <a:xfrm>
            <a:off x="3215968" y="5229021"/>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97FAAF56-7B2B-0C1E-EF1B-496B42EEB051}"/>
              </a:ext>
            </a:extLst>
          </p:cNvPr>
          <p:cNvSpPr/>
          <p:nvPr/>
        </p:nvSpPr>
        <p:spPr bwMode="auto">
          <a:xfrm>
            <a:off x="3215968" y="5589025"/>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77" name="正方形/長方形 76">
            <a:extLst>
              <a:ext uri="{FF2B5EF4-FFF2-40B4-BE49-F238E27FC236}">
                <a16:creationId xmlns:a16="http://schemas.microsoft.com/office/drawing/2014/main" id="{BE0BC464-4E52-2838-683E-D683F1DCBDF8}"/>
              </a:ext>
            </a:extLst>
          </p:cNvPr>
          <p:cNvSpPr/>
          <p:nvPr/>
        </p:nvSpPr>
        <p:spPr bwMode="auto">
          <a:xfrm>
            <a:off x="3215968" y="5949029"/>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79" name="正方形/長方形 78">
            <a:extLst>
              <a:ext uri="{FF2B5EF4-FFF2-40B4-BE49-F238E27FC236}">
                <a16:creationId xmlns:a16="http://schemas.microsoft.com/office/drawing/2014/main" id="{734A28FF-F4D8-434B-8C91-1263136C92FD}"/>
              </a:ext>
            </a:extLst>
          </p:cNvPr>
          <p:cNvSpPr/>
          <p:nvPr/>
        </p:nvSpPr>
        <p:spPr bwMode="auto">
          <a:xfrm>
            <a:off x="3215968"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ja-JP" altLang="en-US" dirty="0">
                <a:solidFill>
                  <a:schemeClr val="tx1">
                    <a:lumMod val="75000"/>
                    <a:lumOff val="25000"/>
                  </a:schemeClr>
                </a:solidFill>
                <a:latin typeface="メイリオ" panose="020B0604030504040204" pitchFamily="50" charset="-128"/>
                <a:ea typeface="メイリオ" panose="020B0604030504040204" pitchFamily="50" charset="-128"/>
              </a:rPr>
              <a:t>レジスタ</a:t>
            </a:r>
            <a:b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b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(32bit)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80" name="直線矢印コネクタ 79">
            <a:extLst>
              <a:ext uri="{FF2B5EF4-FFF2-40B4-BE49-F238E27FC236}">
                <a16:creationId xmlns:a16="http://schemas.microsoft.com/office/drawing/2014/main" id="{4A368243-B3F9-3AB5-4583-C8109ACFCC7B}"/>
              </a:ext>
            </a:extLst>
          </p:cNvPr>
          <p:cNvCxnSpPr/>
          <p:nvPr/>
        </p:nvCxnSpPr>
        <p:spPr bwMode="auto">
          <a:xfrm>
            <a:off x="3215968" y="1898983"/>
            <a:ext cx="1440016" cy="0"/>
          </a:xfrm>
          <a:prstGeom prst="straightConnector1">
            <a:avLst/>
          </a:prstGeom>
          <a:noFill/>
          <a:ln w="9525" cap="flat" cmpd="sng" algn="ctr">
            <a:solidFill>
              <a:schemeClr val="tx1"/>
            </a:solidFill>
            <a:prstDash val="solid"/>
            <a:round/>
            <a:headEnd type="triangle" w="med" len="med"/>
            <a:tailEnd type="triangle"/>
          </a:ln>
          <a:effectLst/>
        </p:spPr>
      </p:cxnSp>
      <p:sp>
        <p:nvSpPr>
          <p:cNvPr id="81" name="Rectangle 17">
            <a:extLst>
              <a:ext uri="{FF2B5EF4-FFF2-40B4-BE49-F238E27FC236}">
                <a16:creationId xmlns:a16="http://schemas.microsoft.com/office/drawing/2014/main" id="{5F204072-BA6D-BD87-553E-FF942598C56D}"/>
              </a:ext>
            </a:extLst>
          </p:cNvPr>
          <p:cNvSpPr>
            <a:spLocks noChangeArrowheads="1"/>
          </p:cNvSpPr>
          <p:nvPr/>
        </p:nvSpPr>
        <p:spPr bwMode="auto">
          <a:xfrm>
            <a:off x="2675962" y="198898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x0</a:t>
            </a:r>
            <a:endParaRPr lang="ja-JP" altLang="en-US" sz="1600" dirty="0">
              <a:solidFill>
                <a:schemeClr val="tx1">
                  <a:lumMod val="75000"/>
                  <a:lumOff val="25000"/>
                </a:schemeClr>
              </a:solidFill>
              <a:latin typeface="Consolas" panose="020B0609020204030204" pitchFamily="49" charset="0"/>
            </a:endParaRPr>
          </a:p>
        </p:txBody>
      </p:sp>
      <p:sp>
        <p:nvSpPr>
          <p:cNvPr id="82" name="Rectangle 17">
            <a:extLst>
              <a:ext uri="{FF2B5EF4-FFF2-40B4-BE49-F238E27FC236}">
                <a16:creationId xmlns:a16="http://schemas.microsoft.com/office/drawing/2014/main" id="{0A990045-2D3B-52E5-2D5C-89639DB526E2}"/>
              </a:ext>
            </a:extLst>
          </p:cNvPr>
          <p:cNvSpPr>
            <a:spLocks noChangeArrowheads="1"/>
          </p:cNvSpPr>
          <p:nvPr/>
        </p:nvSpPr>
        <p:spPr bwMode="auto">
          <a:xfrm>
            <a:off x="2675962" y="234898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x1</a:t>
            </a:r>
            <a:endParaRPr lang="ja-JP" altLang="en-US" sz="1600" dirty="0">
              <a:solidFill>
                <a:schemeClr val="tx1">
                  <a:lumMod val="75000"/>
                  <a:lumOff val="25000"/>
                </a:schemeClr>
              </a:solidFill>
              <a:latin typeface="Consolas" panose="020B0609020204030204" pitchFamily="49" charset="0"/>
            </a:endParaRPr>
          </a:p>
        </p:txBody>
      </p:sp>
      <p:sp>
        <p:nvSpPr>
          <p:cNvPr id="83" name="Rectangle 17">
            <a:extLst>
              <a:ext uri="{FF2B5EF4-FFF2-40B4-BE49-F238E27FC236}">
                <a16:creationId xmlns:a16="http://schemas.microsoft.com/office/drawing/2014/main" id="{0941EECC-E517-7AC3-FD22-E427B0663EDF}"/>
              </a:ext>
            </a:extLst>
          </p:cNvPr>
          <p:cNvSpPr>
            <a:spLocks noChangeArrowheads="1"/>
          </p:cNvSpPr>
          <p:nvPr/>
        </p:nvSpPr>
        <p:spPr bwMode="auto">
          <a:xfrm>
            <a:off x="2675962" y="270899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a:t>
            </a:r>
            <a:endParaRPr lang="ja-JP" altLang="en-US" sz="1600" dirty="0">
              <a:solidFill>
                <a:schemeClr val="tx1">
                  <a:lumMod val="75000"/>
                  <a:lumOff val="25000"/>
                </a:schemeClr>
              </a:solidFill>
              <a:latin typeface="Consolas" panose="020B0609020204030204" pitchFamily="49" charset="0"/>
            </a:endParaRPr>
          </a:p>
        </p:txBody>
      </p:sp>
      <p:sp>
        <p:nvSpPr>
          <p:cNvPr id="84" name="Rectangle 17">
            <a:extLst>
              <a:ext uri="{FF2B5EF4-FFF2-40B4-BE49-F238E27FC236}">
                <a16:creationId xmlns:a16="http://schemas.microsoft.com/office/drawing/2014/main" id="{29BC797E-F3B2-6106-171F-4D1013B4C8EA}"/>
              </a:ext>
            </a:extLst>
          </p:cNvPr>
          <p:cNvSpPr>
            <a:spLocks noChangeArrowheads="1"/>
          </p:cNvSpPr>
          <p:nvPr/>
        </p:nvSpPr>
        <p:spPr bwMode="auto">
          <a:xfrm>
            <a:off x="2675962" y="306899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a:t>
            </a:r>
            <a:endParaRPr lang="ja-JP" altLang="en-US" sz="1600" dirty="0">
              <a:solidFill>
                <a:schemeClr val="tx1">
                  <a:lumMod val="75000"/>
                  <a:lumOff val="25000"/>
                </a:schemeClr>
              </a:solidFill>
              <a:latin typeface="Consolas" panose="020B0609020204030204" pitchFamily="49" charset="0"/>
            </a:endParaRPr>
          </a:p>
        </p:txBody>
      </p:sp>
      <p:sp>
        <p:nvSpPr>
          <p:cNvPr id="85" name="Rectangle 17">
            <a:extLst>
              <a:ext uri="{FF2B5EF4-FFF2-40B4-BE49-F238E27FC236}">
                <a16:creationId xmlns:a16="http://schemas.microsoft.com/office/drawing/2014/main" id="{57F33552-FBE1-5AA2-8438-65FDE97DB3C0}"/>
              </a:ext>
            </a:extLst>
          </p:cNvPr>
          <p:cNvSpPr>
            <a:spLocks noChangeArrowheads="1"/>
          </p:cNvSpPr>
          <p:nvPr/>
        </p:nvSpPr>
        <p:spPr bwMode="auto">
          <a:xfrm>
            <a:off x="2675962" y="3429001"/>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86" name="Rectangle 17">
            <a:extLst>
              <a:ext uri="{FF2B5EF4-FFF2-40B4-BE49-F238E27FC236}">
                <a16:creationId xmlns:a16="http://schemas.microsoft.com/office/drawing/2014/main" id="{B8A0EFD0-A7BE-1C52-9223-9EB1D141A327}"/>
              </a:ext>
            </a:extLst>
          </p:cNvPr>
          <p:cNvSpPr>
            <a:spLocks noChangeArrowheads="1"/>
          </p:cNvSpPr>
          <p:nvPr/>
        </p:nvSpPr>
        <p:spPr bwMode="auto">
          <a:xfrm>
            <a:off x="2675962" y="5949029"/>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x31</a:t>
            </a:r>
            <a:endParaRPr lang="ja-JP" altLang="en-US" sz="1600" dirty="0">
              <a:solidFill>
                <a:schemeClr val="tx1">
                  <a:lumMod val="75000"/>
                  <a:lumOff val="25000"/>
                </a:schemeClr>
              </a:solidFill>
              <a:latin typeface="Consolas" panose="020B0609020204030204" pitchFamily="49" charset="0"/>
            </a:endParaRPr>
          </a:p>
        </p:txBody>
      </p:sp>
      <p:sp>
        <p:nvSpPr>
          <p:cNvPr id="87" name="Rectangle 17">
            <a:extLst>
              <a:ext uri="{FF2B5EF4-FFF2-40B4-BE49-F238E27FC236}">
                <a16:creationId xmlns:a16="http://schemas.microsoft.com/office/drawing/2014/main" id="{57F070CC-0E2C-9DEC-5E24-B6F7ECBC7C0D}"/>
              </a:ext>
            </a:extLst>
          </p:cNvPr>
          <p:cNvSpPr>
            <a:spLocks noChangeArrowheads="1"/>
          </p:cNvSpPr>
          <p:nvPr/>
        </p:nvSpPr>
        <p:spPr bwMode="auto">
          <a:xfrm>
            <a:off x="2675962" y="5589025"/>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x30</a:t>
            </a:r>
            <a:endParaRPr lang="ja-JP" altLang="en-US" sz="1600" dirty="0">
              <a:solidFill>
                <a:schemeClr val="tx1">
                  <a:lumMod val="75000"/>
                  <a:lumOff val="25000"/>
                </a:schemeClr>
              </a:solidFill>
              <a:latin typeface="Consolas" panose="020B0609020204030204" pitchFamily="49" charset="0"/>
            </a:endParaRPr>
          </a:p>
        </p:txBody>
      </p:sp>
      <p:sp>
        <p:nvSpPr>
          <p:cNvPr id="88" name="Rectangle 17">
            <a:extLst>
              <a:ext uri="{FF2B5EF4-FFF2-40B4-BE49-F238E27FC236}">
                <a16:creationId xmlns:a16="http://schemas.microsoft.com/office/drawing/2014/main" id="{8DB9A174-686B-A900-5557-73E71351C427}"/>
              </a:ext>
            </a:extLst>
          </p:cNvPr>
          <p:cNvSpPr>
            <a:spLocks noChangeArrowheads="1"/>
          </p:cNvSpPr>
          <p:nvPr/>
        </p:nvSpPr>
        <p:spPr bwMode="auto">
          <a:xfrm>
            <a:off x="2675962" y="5229021"/>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x29</a:t>
            </a:r>
            <a:endParaRPr lang="ja-JP" altLang="en-US" sz="1600" dirty="0">
              <a:solidFill>
                <a:schemeClr val="tx1">
                  <a:lumMod val="75000"/>
                  <a:lumOff val="25000"/>
                </a:schemeClr>
              </a:solidFill>
              <a:latin typeface="Consolas" panose="020B0609020204030204" pitchFamily="49" charset="0"/>
            </a:endParaRPr>
          </a:p>
        </p:txBody>
      </p:sp>
      <p:sp>
        <p:nvSpPr>
          <p:cNvPr id="89" name="Rectangle 17">
            <a:extLst>
              <a:ext uri="{FF2B5EF4-FFF2-40B4-BE49-F238E27FC236}">
                <a16:creationId xmlns:a16="http://schemas.microsoft.com/office/drawing/2014/main" id="{4A3A6CC2-6903-376C-1DF0-EDBDAA77EEFC}"/>
              </a:ext>
            </a:extLst>
          </p:cNvPr>
          <p:cNvSpPr>
            <a:spLocks noChangeArrowheads="1"/>
          </p:cNvSpPr>
          <p:nvPr/>
        </p:nvSpPr>
        <p:spPr bwMode="auto">
          <a:xfrm>
            <a:off x="2675962" y="4869017"/>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x28</a:t>
            </a:r>
            <a:endParaRPr lang="ja-JP" altLang="en-US" sz="1600" dirty="0">
              <a:solidFill>
                <a:schemeClr val="tx1">
                  <a:lumMod val="75000"/>
                  <a:lumOff val="25000"/>
                </a:schemeClr>
              </a:solidFill>
              <a:latin typeface="Consolas" panose="020B0609020204030204" pitchFamily="49" charset="0"/>
            </a:endParaRPr>
          </a:p>
        </p:txBody>
      </p:sp>
      <p:sp>
        <p:nvSpPr>
          <p:cNvPr id="90" name="Rectangle 17">
            <a:extLst>
              <a:ext uri="{FF2B5EF4-FFF2-40B4-BE49-F238E27FC236}">
                <a16:creationId xmlns:a16="http://schemas.microsoft.com/office/drawing/2014/main" id="{BA929625-38A3-43DC-7476-737D4DFF8023}"/>
              </a:ext>
            </a:extLst>
          </p:cNvPr>
          <p:cNvSpPr>
            <a:spLocks noChangeArrowheads="1"/>
          </p:cNvSpPr>
          <p:nvPr/>
        </p:nvSpPr>
        <p:spPr bwMode="auto">
          <a:xfrm>
            <a:off x="2675962" y="4509013"/>
            <a:ext cx="720096" cy="360047"/>
          </a:xfrm>
          <a:prstGeom prst="rect">
            <a:avLst/>
          </a:prstGeom>
          <a:noFill/>
          <a:ln>
            <a:noFill/>
            <a:headEnd/>
            <a:tailEnd type="none" w="med" len="lg"/>
          </a:ln>
          <a:effectLst/>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r>
              <a:rPr lang="en-US" altLang="ja-JP" sz="1600" dirty="0">
                <a:solidFill>
                  <a:schemeClr val="tx1">
                    <a:lumMod val="75000"/>
                    <a:lumOff val="25000"/>
                  </a:schemeClr>
                </a:solidFill>
                <a:latin typeface="Consolas" panose="020B0609020204030204" pitchFamily="49" charset="0"/>
              </a:rPr>
              <a:t>...</a:t>
            </a:r>
            <a:endParaRPr lang="ja-JP" altLang="en-US" sz="1600" dirty="0">
              <a:solidFill>
                <a:schemeClr val="tx1">
                  <a:lumMod val="75000"/>
                  <a:lumOff val="25000"/>
                </a:schemeClr>
              </a:solidFill>
              <a:latin typeface="Consolas" panose="020B0609020204030204" pitchFamily="49" charset="0"/>
            </a:endParaRPr>
          </a:p>
        </p:txBody>
      </p:sp>
      <p:sp>
        <p:nvSpPr>
          <p:cNvPr id="106" name="正方形/長方形 105">
            <a:extLst>
              <a:ext uri="{FF2B5EF4-FFF2-40B4-BE49-F238E27FC236}">
                <a16:creationId xmlns:a16="http://schemas.microsoft.com/office/drawing/2014/main" id="{2FA82773-4D9F-46A1-17DB-DB2AFA432A90}"/>
              </a:ext>
            </a:extLst>
          </p:cNvPr>
          <p:cNvSpPr/>
          <p:nvPr/>
        </p:nvSpPr>
        <p:spPr bwMode="auto">
          <a:xfrm>
            <a:off x="5375992" y="126897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PC</a:t>
            </a:r>
          </a:p>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(32bit)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cxnSp>
        <p:nvCxnSpPr>
          <p:cNvPr id="107" name="直線矢印コネクタ 106">
            <a:extLst>
              <a:ext uri="{FF2B5EF4-FFF2-40B4-BE49-F238E27FC236}">
                <a16:creationId xmlns:a16="http://schemas.microsoft.com/office/drawing/2014/main" id="{A24AFEB2-8485-F50A-7CC1-FF201A4EAF8C}"/>
              </a:ext>
            </a:extLst>
          </p:cNvPr>
          <p:cNvCxnSpPr/>
          <p:nvPr/>
        </p:nvCxnSpPr>
        <p:spPr bwMode="auto">
          <a:xfrm>
            <a:off x="5375992" y="1898983"/>
            <a:ext cx="1440016" cy="0"/>
          </a:xfrm>
          <a:prstGeom prst="straightConnector1">
            <a:avLst/>
          </a:prstGeom>
          <a:noFill/>
          <a:ln w="9525" cap="flat" cmpd="sng" algn="ctr">
            <a:solidFill>
              <a:schemeClr val="tx1"/>
            </a:solidFill>
            <a:prstDash val="solid"/>
            <a:round/>
            <a:headEnd type="triangle" w="med" len="med"/>
            <a:tailEnd type="triangle"/>
          </a:ln>
          <a:effectLst/>
        </p:spPr>
      </p:cxnSp>
      <p:cxnSp>
        <p:nvCxnSpPr>
          <p:cNvPr id="109" name="直線矢印コネクタ 108">
            <a:extLst>
              <a:ext uri="{FF2B5EF4-FFF2-40B4-BE49-F238E27FC236}">
                <a16:creationId xmlns:a16="http://schemas.microsoft.com/office/drawing/2014/main" id="{9DC185C8-0178-CBD2-1064-60A814481464}"/>
              </a:ext>
            </a:extLst>
          </p:cNvPr>
          <p:cNvCxnSpPr>
            <a:cxnSpLocks/>
          </p:cNvCxnSpPr>
          <p:nvPr/>
        </p:nvCxnSpPr>
        <p:spPr bwMode="auto">
          <a:xfrm>
            <a:off x="2585961" y="2078986"/>
            <a:ext cx="0" cy="4230047"/>
          </a:xfrm>
          <a:prstGeom prst="straightConnector1">
            <a:avLst/>
          </a:prstGeom>
          <a:noFill/>
          <a:ln w="9525" cap="flat" cmpd="sng" algn="ctr">
            <a:solidFill>
              <a:schemeClr val="tx1"/>
            </a:solidFill>
            <a:prstDash val="solid"/>
            <a:round/>
            <a:headEnd type="triangle" w="med" len="med"/>
            <a:tailEnd type="triangle"/>
          </a:ln>
          <a:effectLst/>
        </p:spPr>
      </p:cxnSp>
      <p:sp>
        <p:nvSpPr>
          <p:cNvPr id="112" name="正方形/長方形 111">
            <a:extLst>
              <a:ext uri="{FF2B5EF4-FFF2-40B4-BE49-F238E27FC236}">
                <a16:creationId xmlns:a16="http://schemas.microsoft.com/office/drawing/2014/main" id="{9597F034-DBD1-0906-8C3A-CE189F5EAD77}"/>
              </a:ext>
            </a:extLst>
          </p:cNvPr>
          <p:cNvSpPr/>
          <p:nvPr/>
        </p:nvSpPr>
        <p:spPr bwMode="auto">
          <a:xfrm rot="16200000">
            <a:off x="1685951" y="3969006"/>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32</a:t>
            </a:r>
            <a:r>
              <a:rPr lang="ja-JP" altLang="en-US" dirty="0">
                <a:solidFill>
                  <a:schemeClr val="tx1">
                    <a:lumMod val="75000"/>
                    <a:lumOff val="25000"/>
                  </a:schemeClr>
                </a:solidFill>
                <a:latin typeface="メイリオ" panose="020B0604030504040204" pitchFamily="50" charset="-128"/>
                <a:ea typeface="メイリオ" panose="020B0604030504040204" pitchFamily="50" charset="-128"/>
              </a:rPr>
              <a:t>個ある</a:t>
            </a:r>
          </a:p>
        </p:txBody>
      </p:sp>
      <p:sp>
        <p:nvSpPr>
          <p:cNvPr id="122" name="正方形/長方形 121">
            <a:extLst>
              <a:ext uri="{FF2B5EF4-FFF2-40B4-BE49-F238E27FC236}">
                <a16:creationId xmlns:a16="http://schemas.microsoft.com/office/drawing/2014/main" id="{B59D6278-BAAC-33E9-E6CA-717A954CFB15}"/>
              </a:ext>
            </a:extLst>
          </p:cNvPr>
          <p:cNvSpPr/>
          <p:nvPr/>
        </p:nvSpPr>
        <p:spPr bwMode="auto">
          <a:xfrm>
            <a:off x="8616028" y="1268976"/>
            <a:ext cx="1440016" cy="360004"/>
          </a:xfrm>
          <a:prstGeom prst="rect">
            <a:avLst/>
          </a:prstGeom>
          <a:noFill/>
          <a:ln>
            <a:solidFill>
              <a:schemeClr val="accent1">
                <a:shade val="95000"/>
                <a:satMod val="105000"/>
              </a:schemeClr>
            </a:solid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solidFill>
                  <a:schemeClr val="tx1">
                    <a:lumMod val="75000"/>
                    <a:lumOff val="25000"/>
                  </a:schemeClr>
                </a:solidFill>
                <a:latin typeface="メイリオ" panose="020B0604030504040204" pitchFamily="50" charset="-128"/>
                <a:ea typeface="メイリオ" panose="020B0604030504040204" pitchFamily="50" charset="-128"/>
              </a:rPr>
              <a:t>…</a:t>
            </a:r>
            <a:endParaRPr lang="ja-JP" altLang="en-US"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D470EF33-CF03-5F08-AE5B-679C047DCA66}"/>
              </a:ext>
            </a:extLst>
          </p:cNvPr>
          <p:cNvSpPr/>
          <p:nvPr/>
        </p:nvSpPr>
        <p:spPr bwMode="auto">
          <a:xfrm>
            <a:off x="3215968" y="2708992"/>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b="1" dirty="0">
              <a:solidFill>
                <a:schemeClr val="bg1"/>
              </a:solidFill>
              <a:latin typeface="Consolas" panose="020B0609020204030204" pitchFamily="49" charset="0"/>
              <a:ea typeface="メイリオ" panose="020B0604030504040204" pitchFamily="50" charset="-128"/>
            </a:endParaRPr>
          </a:p>
        </p:txBody>
      </p:sp>
      <p:sp>
        <p:nvSpPr>
          <p:cNvPr id="126" name="正方形/長方形 125">
            <a:extLst>
              <a:ext uri="{FF2B5EF4-FFF2-40B4-BE49-F238E27FC236}">
                <a16:creationId xmlns:a16="http://schemas.microsoft.com/office/drawing/2014/main" id="{5C18D111-47A0-B5B6-2F49-E6AE0D26EE42}"/>
              </a:ext>
            </a:extLst>
          </p:cNvPr>
          <p:cNvSpPr/>
          <p:nvPr/>
        </p:nvSpPr>
        <p:spPr bwMode="auto">
          <a:xfrm>
            <a:off x="3215968" y="3068996"/>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127" name="正方形/長方形 126">
            <a:extLst>
              <a:ext uri="{FF2B5EF4-FFF2-40B4-BE49-F238E27FC236}">
                <a16:creationId xmlns:a16="http://schemas.microsoft.com/office/drawing/2014/main" id="{8F75B599-D31F-B9A5-DAEE-CB6BAD0AD60C}"/>
              </a:ext>
            </a:extLst>
          </p:cNvPr>
          <p:cNvSpPr/>
          <p:nvPr/>
        </p:nvSpPr>
        <p:spPr bwMode="auto">
          <a:xfrm>
            <a:off x="3215968" y="1988984"/>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Consolas" panose="020B0609020204030204" pitchFamily="49" charset="0"/>
                <a:ea typeface="メイリオ" panose="020B0604030504040204" pitchFamily="50" charset="-128"/>
              </a:rPr>
              <a:t>0x00000000</a:t>
            </a:r>
            <a:endParaRPr lang="ja-JP" altLang="en-US" dirty="0">
              <a:solidFill>
                <a:schemeClr val="bg1"/>
              </a:solidFill>
              <a:latin typeface="Consolas" panose="020B0609020204030204" pitchFamily="49" charset="0"/>
              <a:ea typeface="メイリオ" panose="020B0604030504040204" pitchFamily="50" charset="-128"/>
            </a:endParaRPr>
          </a:p>
        </p:txBody>
      </p:sp>
      <p:sp>
        <p:nvSpPr>
          <p:cNvPr id="128" name="正方形/長方形 127">
            <a:extLst>
              <a:ext uri="{FF2B5EF4-FFF2-40B4-BE49-F238E27FC236}">
                <a16:creationId xmlns:a16="http://schemas.microsoft.com/office/drawing/2014/main" id="{573807B5-F8EF-4542-5BD4-9782E87167BD}"/>
              </a:ext>
            </a:extLst>
          </p:cNvPr>
          <p:cNvSpPr/>
          <p:nvPr/>
        </p:nvSpPr>
        <p:spPr bwMode="auto">
          <a:xfrm>
            <a:off x="3215968" y="2348988"/>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129" name="正方形/長方形 128">
            <a:extLst>
              <a:ext uri="{FF2B5EF4-FFF2-40B4-BE49-F238E27FC236}">
                <a16:creationId xmlns:a16="http://schemas.microsoft.com/office/drawing/2014/main" id="{88E51031-10EB-82E9-5A36-16899ADD4755}"/>
              </a:ext>
            </a:extLst>
          </p:cNvPr>
          <p:cNvSpPr/>
          <p:nvPr/>
        </p:nvSpPr>
        <p:spPr bwMode="auto">
          <a:xfrm>
            <a:off x="3215968" y="3429000"/>
            <a:ext cx="1440016"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dirty="0">
                <a:solidFill>
                  <a:schemeClr val="bg1"/>
                </a:solidFill>
                <a:latin typeface="メイリオ" panose="020B0604030504040204" pitchFamily="50" charset="-128"/>
                <a:ea typeface="メイリオ" panose="020B0604030504040204" pitchFamily="50" charset="-128"/>
              </a:rPr>
              <a:t>…</a:t>
            </a:r>
            <a:endParaRPr lang="ja-JP" altLang="en-US"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0567034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a:t>
            </a:r>
            <a:r>
              <a:rPr lang="en-US" altLang="ja-JP" dirty="0"/>
              <a:t>/</a:t>
            </a:r>
            <a:r>
              <a:rPr kumimoji="1" lang="ja-JP" altLang="en-US" dirty="0"/>
              <a:t>順序回路</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t>順序回路</a:t>
            </a:r>
            <a:endParaRPr kumimoji="1" lang="en-US" altLang="ja-JP" dirty="0"/>
          </a:p>
          <a:p>
            <a:pPr lvl="1"/>
            <a:r>
              <a:rPr kumimoji="1" lang="ja-JP" altLang="en-US" dirty="0"/>
              <a:t>出力が，過去の入力（の履歴）にも依存する</a:t>
            </a:r>
            <a:r>
              <a:rPr lang="ja-JP" altLang="en-US" dirty="0"/>
              <a:t>論理回路</a:t>
            </a:r>
            <a:endParaRPr kumimoji="1" lang="ja-JP" altLang="en-US" dirty="0"/>
          </a:p>
          <a:p>
            <a:r>
              <a:rPr kumimoji="1" lang="ja-JP" altLang="en-US" dirty="0"/>
              <a:t>任意の組み合わせ回路</a:t>
            </a:r>
            <a:r>
              <a:rPr kumimoji="1" lang="en-US" altLang="ja-JP" dirty="0"/>
              <a:t>/</a:t>
            </a:r>
            <a:r>
              <a:rPr kumimoji="1" lang="ja-JP" altLang="en-US" dirty="0"/>
              <a:t>順序回路は，</a:t>
            </a:r>
            <a:endParaRPr kumimoji="1" lang="en-US" altLang="ja-JP" dirty="0"/>
          </a:p>
          <a:p>
            <a:pPr lvl="1"/>
            <a:r>
              <a:rPr lang="ja-JP" altLang="en-US" dirty="0"/>
              <a:t>原理的には，完全集合の要素の組み合わせに落とし込める</a:t>
            </a:r>
            <a:endParaRPr lang="en-US" altLang="ja-JP" dirty="0"/>
          </a:p>
          <a:p>
            <a:pPr lvl="1"/>
            <a:r>
              <a:rPr kumimoji="1" lang="ja-JP" altLang="en-US" dirty="0"/>
              <a:t>たとえば </a:t>
            </a:r>
            <a:r>
              <a:rPr kumimoji="1" lang="en-US" altLang="ja-JP" dirty="0"/>
              <a:t>{AND, OR, NOT} </a:t>
            </a:r>
            <a:r>
              <a:rPr kumimoji="1" lang="ja-JP" altLang="en-US" dirty="0"/>
              <a:t>を組み合わせれば，全部つくれる</a:t>
            </a:r>
            <a:endParaRPr kumimoji="1" lang="en-US" altLang="ja-JP" dirty="0"/>
          </a:p>
        </p:txBody>
      </p:sp>
    </p:spTree>
    <p:extLst>
      <p:ext uri="{BB962C8B-B14F-4D97-AF65-F5344CB8AC3E}">
        <p14:creationId xmlns:p14="http://schemas.microsoft.com/office/powerpoint/2010/main" val="13382653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b="1" dirty="0"/>
              <a:t>論理回路の実現方法</a:t>
            </a:r>
          </a:p>
        </p:txBody>
      </p:sp>
    </p:spTree>
    <p:extLst>
      <p:ext uri="{BB962C8B-B14F-4D97-AF65-F5344CB8AC3E}">
        <p14:creationId xmlns:p14="http://schemas.microsoft.com/office/powerpoint/2010/main" val="2602657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1361CE4-9EAB-F0C5-DD8A-6252E76AEA52}"/>
              </a:ext>
            </a:extLst>
          </p:cNvPr>
          <p:cNvSpPr>
            <a:spLocks noGrp="1"/>
          </p:cNvSpPr>
          <p:nvPr>
            <p:ph type="title"/>
          </p:nvPr>
        </p:nvSpPr>
        <p:spPr/>
        <p:txBody>
          <a:bodyPr/>
          <a:lstStyle/>
          <a:p>
            <a:r>
              <a:rPr lang="ja-JP" altLang="en-US" dirty="0"/>
              <a:t>論理回路の作り方</a:t>
            </a:r>
            <a:endParaRPr lang="en-US" dirty="0"/>
          </a:p>
        </p:txBody>
      </p:sp>
      <p:sp>
        <p:nvSpPr>
          <p:cNvPr id="5" name="コンテンツ プレースホルダー 4">
            <a:extLst>
              <a:ext uri="{FF2B5EF4-FFF2-40B4-BE49-F238E27FC236}">
                <a16:creationId xmlns:a16="http://schemas.microsoft.com/office/drawing/2014/main" id="{15A3C09D-6661-C4DB-AFC5-2E4B40A8A822}"/>
              </a:ext>
            </a:extLst>
          </p:cNvPr>
          <p:cNvSpPr>
            <a:spLocks noGrp="1"/>
          </p:cNvSpPr>
          <p:nvPr>
            <p:ph type="body" sz="quarter" idx="10"/>
          </p:nvPr>
        </p:nvSpPr>
        <p:spPr/>
        <p:txBody>
          <a:bodyPr/>
          <a:lstStyle/>
          <a:p>
            <a:r>
              <a:rPr lang="ja-JP" altLang="en-US" dirty="0"/>
              <a:t>前回の内容：</a:t>
            </a:r>
            <a:endParaRPr lang="en-US" altLang="ja-JP" dirty="0"/>
          </a:p>
          <a:p>
            <a:pPr lvl="1"/>
            <a:r>
              <a:rPr lang="en-US" altLang="ja-JP" dirty="0"/>
              <a:t>AND</a:t>
            </a:r>
            <a:r>
              <a:rPr lang="ja-JP" altLang="en-US" dirty="0"/>
              <a:t>，</a:t>
            </a:r>
            <a:r>
              <a:rPr lang="en-US" altLang="ja-JP" dirty="0"/>
              <a:t>OR</a:t>
            </a:r>
            <a:r>
              <a:rPr lang="ja-JP" altLang="en-US" dirty="0"/>
              <a:t>，</a:t>
            </a:r>
            <a:r>
              <a:rPr lang="en-US" altLang="ja-JP" dirty="0"/>
              <a:t>NOT </a:t>
            </a:r>
            <a:r>
              <a:rPr lang="ja-JP" altLang="en-US" dirty="0"/>
              <a:t>があれば，どんな論理回路も作れる</a:t>
            </a:r>
            <a:endParaRPr lang="en-US" altLang="ja-JP" dirty="0"/>
          </a:p>
          <a:p>
            <a:pPr lvl="2"/>
            <a:r>
              <a:rPr lang="ja-JP" altLang="en-US" dirty="0"/>
              <a:t>組み合わせ回路も順序回路も</a:t>
            </a:r>
            <a:endParaRPr lang="en-US" altLang="ja-JP" dirty="0"/>
          </a:p>
          <a:p>
            <a:pPr lvl="1"/>
            <a:r>
              <a:rPr lang="en-US" altLang="ja-JP" dirty="0"/>
              <a:t>CPU </a:t>
            </a:r>
            <a:r>
              <a:rPr lang="ja-JP" altLang="en-US" dirty="0"/>
              <a:t>を構成する演算器や </a:t>
            </a:r>
            <a:r>
              <a:rPr lang="en-US" altLang="ja-JP" dirty="0"/>
              <a:t>PC</a:t>
            </a:r>
            <a:r>
              <a:rPr lang="ja-JP" altLang="en-US" dirty="0"/>
              <a:t>，レジスタ，メモリも作れる</a:t>
            </a:r>
            <a:endParaRPr lang="en-US" altLang="ja-JP" dirty="0"/>
          </a:p>
          <a:p>
            <a:pPr lvl="2"/>
            <a:r>
              <a:rPr lang="ja-JP" altLang="en-US" dirty="0"/>
              <a:t>具体的な作り方の例をそれぞれ説明</a:t>
            </a:r>
            <a:endParaRPr lang="en-US" altLang="ja-JP" dirty="0"/>
          </a:p>
        </p:txBody>
      </p:sp>
      <p:sp>
        <p:nvSpPr>
          <p:cNvPr id="2" name="スライド番号プレースホルダー 1">
            <a:extLst>
              <a:ext uri="{FF2B5EF4-FFF2-40B4-BE49-F238E27FC236}">
                <a16:creationId xmlns:a16="http://schemas.microsoft.com/office/drawing/2014/main" id="{86E75ED9-9714-8D0C-7D92-88EC46D2B5F0}"/>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11</a:t>
            </a:fld>
            <a:endParaRPr kumimoji="1" lang="ja-JP" altLang="en-US"/>
          </a:p>
        </p:txBody>
      </p:sp>
    </p:spTree>
    <p:extLst>
      <p:ext uri="{BB962C8B-B14F-4D97-AF65-F5344CB8AC3E}">
        <p14:creationId xmlns:p14="http://schemas.microsoft.com/office/powerpoint/2010/main" val="35974522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1361CE4-9EAB-F0C5-DD8A-6252E76AEA52}"/>
              </a:ext>
            </a:extLst>
          </p:cNvPr>
          <p:cNvSpPr>
            <a:spLocks noGrp="1"/>
          </p:cNvSpPr>
          <p:nvPr>
            <p:ph type="title"/>
          </p:nvPr>
        </p:nvSpPr>
        <p:spPr/>
        <p:txBody>
          <a:bodyPr/>
          <a:lstStyle/>
          <a:p>
            <a:r>
              <a:rPr lang="ja-JP" altLang="en-US" dirty="0"/>
              <a:t>論理回路の作り方</a:t>
            </a:r>
            <a:endParaRPr lang="en-US" dirty="0"/>
          </a:p>
        </p:txBody>
      </p:sp>
      <p:sp>
        <p:nvSpPr>
          <p:cNvPr id="5" name="コンテンツ プレースホルダー 4">
            <a:extLst>
              <a:ext uri="{FF2B5EF4-FFF2-40B4-BE49-F238E27FC236}">
                <a16:creationId xmlns:a16="http://schemas.microsoft.com/office/drawing/2014/main" id="{15A3C09D-6661-C4DB-AFC5-2E4B40A8A822}"/>
              </a:ext>
            </a:extLst>
          </p:cNvPr>
          <p:cNvSpPr>
            <a:spLocks noGrp="1"/>
          </p:cNvSpPr>
          <p:nvPr>
            <p:ph type="body" sz="quarter" idx="10"/>
          </p:nvPr>
        </p:nvSpPr>
        <p:spPr/>
        <p:txBody>
          <a:bodyPr/>
          <a:lstStyle/>
          <a:p>
            <a:r>
              <a:rPr lang="ja-JP" altLang="en-US" dirty="0"/>
              <a:t>今回の内容：</a:t>
            </a:r>
            <a:endParaRPr lang="en-US" altLang="ja-JP" dirty="0"/>
          </a:p>
          <a:p>
            <a:pPr lvl="1"/>
            <a:r>
              <a:rPr lang="ja-JP" altLang="en-US" dirty="0">
                <a:solidFill>
                  <a:schemeClr val="accent6"/>
                </a:solidFill>
              </a:rPr>
              <a:t>ゲート回路：</a:t>
            </a:r>
            <a:r>
              <a:rPr lang="en-US" altLang="ja-JP" dirty="0">
                <a:solidFill>
                  <a:schemeClr val="accent6"/>
                </a:solidFill>
              </a:rPr>
              <a:t>AND </a:t>
            </a:r>
            <a:r>
              <a:rPr lang="ja-JP" altLang="en-US" dirty="0">
                <a:solidFill>
                  <a:schemeClr val="accent6"/>
                </a:solidFill>
              </a:rPr>
              <a:t>や </a:t>
            </a:r>
            <a:r>
              <a:rPr lang="en-US" altLang="ja-JP" dirty="0">
                <a:solidFill>
                  <a:schemeClr val="accent6"/>
                </a:solidFill>
              </a:rPr>
              <a:t>OR </a:t>
            </a:r>
            <a:r>
              <a:rPr lang="ja-JP" altLang="en-US" dirty="0">
                <a:solidFill>
                  <a:schemeClr val="accent6"/>
                </a:solidFill>
              </a:rPr>
              <a:t>のような論理関数を実現した回路</a:t>
            </a:r>
            <a:endParaRPr lang="en-US" altLang="ja-JP" dirty="0">
              <a:solidFill>
                <a:schemeClr val="accent6"/>
              </a:solidFill>
            </a:endParaRPr>
          </a:p>
          <a:p>
            <a:pPr lvl="2"/>
            <a:r>
              <a:rPr lang="ja-JP" altLang="en-US" dirty="0"/>
              <a:t>この名前は門を開けたり閉めたりすることから来ているはず</a:t>
            </a:r>
            <a:endParaRPr lang="en-US" altLang="ja-JP" dirty="0"/>
          </a:p>
          <a:p>
            <a:pPr lvl="2"/>
            <a:r>
              <a:rPr lang="ja-JP" altLang="en-US" dirty="0"/>
              <a:t>略してゲートとも言う</a:t>
            </a:r>
            <a:endParaRPr lang="en-US" altLang="ja-JP" dirty="0"/>
          </a:p>
          <a:p>
            <a:pPr lvl="1"/>
            <a:r>
              <a:rPr lang="ja-JP" altLang="en-US" dirty="0"/>
              <a:t>ゲート回路はどのように作るのか？</a:t>
            </a:r>
            <a:endParaRPr lang="en-US" altLang="ja-JP" dirty="0"/>
          </a:p>
          <a:p>
            <a:pPr lvl="1"/>
            <a:r>
              <a:rPr lang="ja-JP" altLang="en-US" dirty="0"/>
              <a:t>それらのゲート回路の「遅延」や「消費電力」とは何なのか？</a:t>
            </a:r>
            <a:endParaRPr lang="en-US" altLang="ja-JP" dirty="0"/>
          </a:p>
          <a:p>
            <a:pPr lvl="2"/>
            <a:r>
              <a:rPr lang="ja-JP" altLang="en-US" dirty="0"/>
              <a:t>（なぜ物理的実体のない情報を扱っているのに時間や電力がかかるのか？</a:t>
            </a:r>
            <a:endParaRPr lang="en-US" altLang="ja-JP" dirty="0"/>
          </a:p>
        </p:txBody>
      </p:sp>
      <p:sp>
        <p:nvSpPr>
          <p:cNvPr id="2" name="スライド番号プレースホルダー 1">
            <a:extLst>
              <a:ext uri="{FF2B5EF4-FFF2-40B4-BE49-F238E27FC236}">
                <a16:creationId xmlns:a16="http://schemas.microsoft.com/office/drawing/2014/main" id="{86E75ED9-9714-8D0C-7D92-88EC46D2B5F0}"/>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12</a:t>
            </a:fld>
            <a:endParaRPr kumimoji="1" lang="ja-JP" altLang="en-US"/>
          </a:p>
        </p:txBody>
      </p:sp>
    </p:spTree>
    <p:extLst>
      <p:ext uri="{BB962C8B-B14F-4D97-AF65-F5344CB8AC3E}">
        <p14:creationId xmlns:p14="http://schemas.microsoft.com/office/powerpoint/2010/main" val="11607265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4331-3D9C-C512-2846-D6A40BDAB0DC}"/>
              </a:ext>
            </a:extLst>
          </p:cNvPr>
          <p:cNvSpPr>
            <a:spLocks noGrp="1"/>
          </p:cNvSpPr>
          <p:nvPr>
            <p:ph type="title"/>
          </p:nvPr>
        </p:nvSpPr>
        <p:spPr>
          <a:xfrm>
            <a:off x="1415948" y="0"/>
            <a:ext cx="10776052" cy="908972"/>
          </a:xfrm>
        </p:spPr>
        <p:txBody>
          <a:bodyPr/>
          <a:lstStyle/>
          <a:p>
            <a:r>
              <a:rPr lang="ja-JP" altLang="en-US" dirty="0"/>
              <a:t>論理回路の作り方</a:t>
            </a:r>
            <a:endParaRPr lang="en-US" dirty="0"/>
          </a:p>
        </p:txBody>
      </p:sp>
      <p:sp>
        <p:nvSpPr>
          <p:cNvPr id="3" name="コンテンツ プレースホルダー 2">
            <a:extLst>
              <a:ext uri="{FF2B5EF4-FFF2-40B4-BE49-F238E27FC236}">
                <a16:creationId xmlns:a16="http://schemas.microsoft.com/office/drawing/2014/main" id="{4CDF5B3C-F5EC-178A-5EAE-1A3A46827528}"/>
              </a:ext>
            </a:extLst>
          </p:cNvPr>
          <p:cNvSpPr>
            <a:spLocks noGrp="1"/>
          </p:cNvSpPr>
          <p:nvPr>
            <p:ph type="body" sz="quarter" idx="10"/>
          </p:nvPr>
        </p:nvSpPr>
        <p:spPr>
          <a:xfrm>
            <a:off x="1775952" y="1088974"/>
            <a:ext cx="8640096" cy="5490061"/>
          </a:xfrm>
        </p:spPr>
        <p:txBody>
          <a:bodyPr/>
          <a:lstStyle/>
          <a:p>
            <a:r>
              <a:rPr lang="ja-JP" altLang="en-US" dirty="0"/>
              <a:t>以下のそれぞれの仕組みを使った回路を説明</a:t>
            </a:r>
            <a:endParaRPr lang="en-US" altLang="ja-JP" dirty="0"/>
          </a:p>
          <a:p>
            <a:pPr lvl="1"/>
            <a:r>
              <a:rPr lang="ja-JP" altLang="en-US" dirty="0"/>
              <a:t>リレー</a:t>
            </a:r>
            <a:endParaRPr lang="en-US" altLang="ja-JP" dirty="0"/>
          </a:p>
          <a:p>
            <a:pPr lvl="1"/>
            <a:r>
              <a:rPr lang="en-US" altLang="ja-JP" dirty="0"/>
              <a:t>CMOS</a:t>
            </a:r>
          </a:p>
          <a:p>
            <a:r>
              <a:rPr lang="ja-JP" altLang="en-US" dirty="0"/>
              <a:t>これらの論理的な動作は実はほぼ同じに作れる</a:t>
            </a:r>
            <a:endParaRPr lang="en-US" altLang="ja-JP" dirty="0"/>
          </a:p>
          <a:p>
            <a:pPr lvl="1"/>
            <a:r>
              <a:rPr lang="ja-JP" altLang="en-US" dirty="0"/>
              <a:t>リレーの方が直感的にわかりやすいのでこちらから説明</a:t>
            </a:r>
            <a:endParaRPr lang="en-US" altLang="ja-JP" dirty="0"/>
          </a:p>
          <a:p>
            <a:pPr lvl="1"/>
            <a:endParaRPr lang="en-US" altLang="ja-JP" dirty="0"/>
          </a:p>
          <a:p>
            <a:r>
              <a:rPr lang="ja-JP" altLang="en-US" dirty="0"/>
              <a:t>注意：</a:t>
            </a:r>
            <a:endParaRPr lang="en-US" altLang="ja-JP" dirty="0"/>
          </a:p>
          <a:p>
            <a:pPr lvl="1"/>
            <a:r>
              <a:rPr lang="ja-JP" altLang="en-US" dirty="0"/>
              <a:t>この資料で説明する，</a:t>
            </a:r>
            <a:r>
              <a:rPr lang="en-US" altLang="ja-JP" dirty="0"/>
              <a:t>N</a:t>
            </a:r>
            <a:r>
              <a:rPr lang="ja-JP" altLang="en-US" dirty="0"/>
              <a:t>型</a:t>
            </a:r>
            <a:r>
              <a:rPr lang="en-US" altLang="ja-JP" dirty="0"/>
              <a:t>/P</a:t>
            </a:r>
            <a:r>
              <a:rPr lang="ja-JP" altLang="en-US" dirty="0"/>
              <a:t>型 を使ったやり方は後の </a:t>
            </a:r>
            <a:r>
              <a:rPr lang="en-US" altLang="ja-JP" dirty="0"/>
              <a:t>CMOS</a:t>
            </a:r>
            <a:r>
              <a:rPr lang="ja-JP" altLang="en-US" dirty="0"/>
              <a:t> の説明をわかりすくするためのものです</a:t>
            </a:r>
            <a:endParaRPr lang="en-US" altLang="ja-JP" dirty="0"/>
          </a:p>
          <a:p>
            <a:pPr lvl="1"/>
            <a:r>
              <a:rPr lang="ja-JP" altLang="en-US" dirty="0"/>
              <a:t>実際に用いられていたリレー計算機ではもう少し効率の良い違う方法が使われていたと思う</a:t>
            </a:r>
            <a:endParaRPr lang="en-US" dirty="0"/>
          </a:p>
        </p:txBody>
      </p:sp>
    </p:spTree>
    <p:extLst>
      <p:ext uri="{BB962C8B-B14F-4D97-AF65-F5344CB8AC3E}">
        <p14:creationId xmlns:p14="http://schemas.microsoft.com/office/powerpoint/2010/main" val="35764159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矢印: 下 1062">
            <a:extLst>
              <a:ext uri="{FF2B5EF4-FFF2-40B4-BE49-F238E27FC236}">
                <a16:creationId xmlns:a16="http://schemas.microsoft.com/office/drawing/2014/main" id="{727B1A7E-A10C-40C9-2883-05D9818995C7}"/>
              </a:ext>
            </a:extLst>
          </p:cNvPr>
          <p:cNvSpPr/>
          <p:nvPr/>
        </p:nvSpPr>
        <p:spPr bwMode="auto">
          <a:xfrm>
            <a:off x="5465993" y="4689014"/>
            <a:ext cx="180002" cy="540006"/>
          </a:xfrm>
          <a:prstGeom prst="downArrow">
            <a:avLst/>
          </a:prstGeom>
          <a:solidFill>
            <a:schemeClr val="accent6">
              <a:lumMod val="20000"/>
              <a:lumOff val="80000"/>
            </a:schemeClr>
          </a:solidFill>
          <a:ln w="0">
            <a:solidFill>
              <a:schemeClr val="accent6"/>
            </a:solidFill>
            <a:headEnd/>
            <a:tailEnd type="triangle" w="sm" len="med"/>
          </a:ln>
        </p:spPr>
        <p:style>
          <a:lnRef idx="2">
            <a:schemeClr val="accent4">
              <a:shade val="50000"/>
            </a:schemeClr>
          </a:lnRef>
          <a:fillRef idx="1">
            <a:schemeClr val="accent4"/>
          </a:fillRef>
          <a:effectRef idx="0">
            <a:schemeClr val="accent4"/>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B260DA71-5786-74D4-1322-4A3B7426526B}"/>
              </a:ext>
            </a:extLst>
          </p:cNvPr>
          <p:cNvSpPr>
            <a:spLocks noGrp="1"/>
          </p:cNvSpPr>
          <p:nvPr>
            <p:ph type="title"/>
          </p:nvPr>
        </p:nvSpPr>
        <p:spPr/>
        <p:txBody>
          <a:bodyPr/>
          <a:lstStyle/>
          <a:p>
            <a:r>
              <a:rPr kumimoji="1" lang="ja-JP" altLang="en-US" dirty="0"/>
              <a:t>リレー（</a:t>
            </a:r>
            <a:r>
              <a:rPr kumimoji="1" lang="en-US" altLang="ja-JP" dirty="0"/>
              <a:t>Relay</a:t>
            </a:r>
            <a:r>
              <a:rPr kumimoji="1" lang="ja-JP" altLang="en-US" dirty="0"/>
              <a:t>）</a:t>
            </a:r>
            <a:endParaRPr kumimoji="1" lang="en-US" dirty="0"/>
          </a:p>
        </p:txBody>
      </p:sp>
      <p:sp>
        <p:nvSpPr>
          <p:cNvPr id="3" name="コンテンツ プレースホルダー 2">
            <a:extLst>
              <a:ext uri="{FF2B5EF4-FFF2-40B4-BE49-F238E27FC236}">
                <a16:creationId xmlns:a16="http://schemas.microsoft.com/office/drawing/2014/main" id="{789EAB7B-7810-7D56-9BAA-A40504D782AF}"/>
              </a:ext>
            </a:extLst>
          </p:cNvPr>
          <p:cNvSpPr>
            <a:spLocks noGrp="1"/>
          </p:cNvSpPr>
          <p:nvPr>
            <p:ph type="body" sz="quarter" idx="10"/>
          </p:nvPr>
        </p:nvSpPr>
        <p:spPr>
          <a:xfrm>
            <a:off x="2135956" y="998973"/>
            <a:ext cx="8280092" cy="3420038"/>
          </a:xfrm>
        </p:spPr>
        <p:txBody>
          <a:bodyPr/>
          <a:lstStyle/>
          <a:p>
            <a:r>
              <a:rPr kumimoji="1" lang="ja-JP" altLang="en-US" dirty="0"/>
              <a:t>電気的に動作するスイッチ</a:t>
            </a:r>
            <a:endParaRPr kumimoji="1" lang="en-US" altLang="ja-JP" dirty="0"/>
          </a:p>
          <a:p>
            <a:pPr lvl="1"/>
            <a:r>
              <a:rPr kumimoji="1" lang="ja-JP" altLang="en-US" dirty="0"/>
              <a:t>もともとは長距離の電信の中継のために作られた･･･ らしい</a:t>
            </a:r>
            <a:endParaRPr kumimoji="1" lang="en-US" altLang="ja-JP" dirty="0"/>
          </a:p>
          <a:p>
            <a:r>
              <a:rPr kumimoji="1" lang="ja-JP" altLang="en-US" dirty="0"/>
              <a:t>以下の図のものの場合，</a:t>
            </a:r>
            <a:endParaRPr kumimoji="1" lang="en-US" altLang="ja-JP" dirty="0"/>
          </a:p>
          <a:p>
            <a:pPr marL="817200" lvl="1" indent="-457200">
              <a:buFont typeface="+mj-lt"/>
              <a:buAutoNum type="arabicPeriod"/>
            </a:pPr>
            <a:r>
              <a:rPr kumimoji="1" lang="ja-JP" altLang="en-US" dirty="0"/>
              <a:t>普段は電極部分がバネになっていて </a:t>
            </a:r>
            <a:r>
              <a:rPr kumimoji="1" lang="en-US" altLang="ja-JP" dirty="0"/>
              <a:t>OFF </a:t>
            </a:r>
            <a:r>
              <a:rPr kumimoji="1" lang="ja-JP" altLang="en-US" dirty="0"/>
              <a:t>になっている</a:t>
            </a:r>
            <a:endParaRPr kumimoji="1" lang="en-US" altLang="ja-JP" dirty="0"/>
          </a:p>
          <a:p>
            <a:pPr marL="817200" lvl="1" indent="-457200">
              <a:buFont typeface="+mj-lt"/>
              <a:buAutoNum type="arabicPeriod"/>
            </a:pPr>
            <a:r>
              <a:rPr kumimoji="1" lang="en-US" altLang="ja-JP" dirty="0"/>
              <a:t>G</a:t>
            </a:r>
            <a:r>
              <a:rPr kumimoji="1" lang="ja-JP" altLang="en-US" dirty="0"/>
              <a:t>～</a:t>
            </a:r>
            <a:r>
              <a:rPr kumimoji="1" lang="en-US" altLang="ja-JP" dirty="0"/>
              <a:t>B </a:t>
            </a:r>
            <a:r>
              <a:rPr kumimoji="1" lang="ja-JP" altLang="en-US" dirty="0"/>
              <a:t>間に電圧をかけると，</a:t>
            </a:r>
            <a:endParaRPr kumimoji="1" lang="en-US" altLang="ja-JP" dirty="0"/>
          </a:p>
          <a:p>
            <a:pPr marL="817200" lvl="1" indent="-457200">
              <a:buFont typeface="+mj-lt"/>
              <a:buAutoNum type="arabicPeriod"/>
            </a:pPr>
            <a:r>
              <a:rPr kumimoji="1" lang="ja-JP" altLang="en-US" dirty="0"/>
              <a:t>コイルが磁石となって，上の金属を引き寄せ，</a:t>
            </a:r>
            <a:endParaRPr kumimoji="1" lang="en-US" altLang="ja-JP" dirty="0"/>
          </a:p>
          <a:p>
            <a:pPr marL="817200" lvl="1" indent="-457200">
              <a:buFont typeface="+mj-lt"/>
              <a:buAutoNum type="arabicPeriod"/>
            </a:pPr>
            <a:r>
              <a:rPr kumimoji="1" lang="en-US" altLang="ja-JP" dirty="0"/>
              <a:t>S </a:t>
            </a:r>
            <a:r>
              <a:rPr kumimoji="1" lang="ja-JP" altLang="en-US" dirty="0"/>
              <a:t>に繋がっている端子が右に押し出されて，</a:t>
            </a:r>
            <a:endParaRPr kumimoji="1" lang="en-US" altLang="ja-JP" dirty="0"/>
          </a:p>
          <a:p>
            <a:pPr marL="817200" lvl="1" indent="-457200">
              <a:buFont typeface="+mj-lt"/>
              <a:buAutoNum type="arabicPeriod"/>
            </a:pPr>
            <a:r>
              <a:rPr lang="en-US" altLang="ja-JP" dirty="0"/>
              <a:t>S </a:t>
            </a:r>
            <a:r>
              <a:rPr lang="ja-JP" altLang="en-US" dirty="0"/>
              <a:t>と </a:t>
            </a:r>
            <a:r>
              <a:rPr lang="en-US" altLang="ja-JP" dirty="0"/>
              <a:t>D </a:t>
            </a:r>
            <a:r>
              <a:rPr lang="ja-JP" altLang="en-US" dirty="0"/>
              <a:t>が接続され</a:t>
            </a:r>
            <a:r>
              <a:rPr kumimoji="1" lang="ja-JP" altLang="en-US" dirty="0"/>
              <a:t>て </a:t>
            </a:r>
            <a:r>
              <a:rPr kumimoji="1" lang="en-US" altLang="ja-JP" dirty="0"/>
              <a:t>ON </a:t>
            </a:r>
            <a:r>
              <a:rPr kumimoji="1" lang="ja-JP" altLang="en-US" dirty="0"/>
              <a:t>に</a:t>
            </a:r>
            <a:endParaRPr kumimoji="1" lang="en-US" dirty="0"/>
          </a:p>
        </p:txBody>
      </p:sp>
      <p:pic>
        <p:nvPicPr>
          <p:cNvPr id="1028" name="Picture 4" descr="undefined">
            <a:extLst>
              <a:ext uri="{FF2B5EF4-FFF2-40B4-BE49-F238E27FC236}">
                <a16:creationId xmlns:a16="http://schemas.microsoft.com/office/drawing/2014/main" id="{91B4DE2B-E24C-96C4-3629-45E25A0312FD}"/>
              </a:ext>
            </a:extLst>
          </p:cNvPr>
          <p:cNvPicPr>
            <a:picLocks noChangeAspect="1" noChangeArrowheads="1"/>
          </p:cNvPicPr>
          <p:nvPr/>
        </p:nvPicPr>
        <p:blipFill>
          <a:blip r:embed="rId2" cstate="hqprint">
            <a:extLst>
              <a:ext uri="{28A0092B-C50C-407E-A947-70E740481C1C}">
                <a14:useLocalDpi xmlns:a14="http://schemas.microsoft.com/office/drawing/2010/main"/>
              </a:ext>
            </a:extLst>
          </a:blip>
          <a:srcRect/>
          <a:stretch>
            <a:fillRect/>
          </a:stretch>
        </p:blipFill>
        <p:spPr bwMode="auto">
          <a:xfrm>
            <a:off x="7536017" y="4239010"/>
            <a:ext cx="2078985" cy="2078985"/>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コネクタ 5">
            <a:extLst>
              <a:ext uri="{FF2B5EF4-FFF2-40B4-BE49-F238E27FC236}">
                <a16:creationId xmlns:a16="http://schemas.microsoft.com/office/drawing/2014/main" id="{EA295CA7-7BED-C865-1727-98523128D7C0}"/>
              </a:ext>
            </a:extLst>
          </p:cNvPr>
          <p:cNvCxnSpPr>
            <a:cxnSpLocks/>
          </p:cNvCxnSpPr>
          <p:nvPr/>
        </p:nvCxnSpPr>
        <p:spPr>
          <a:xfrm>
            <a:off x="3575972" y="5049019"/>
            <a:ext cx="0" cy="53999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7" name="円/楕円 68">
            <a:extLst>
              <a:ext uri="{FF2B5EF4-FFF2-40B4-BE49-F238E27FC236}">
                <a16:creationId xmlns:a16="http://schemas.microsoft.com/office/drawing/2014/main" id="{2E679BA4-890D-C9CF-C18C-8867DCBB61E2}"/>
              </a:ext>
            </a:extLst>
          </p:cNvPr>
          <p:cNvSpPr/>
          <p:nvPr/>
        </p:nvSpPr>
        <p:spPr>
          <a:xfrm rot="5400000">
            <a:off x="3532228" y="5589031"/>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8" name="円/楕円 69">
            <a:extLst>
              <a:ext uri="{FF2B5EF4-FFF2-40B4-BE49-F238E27FC236}">
                <a16:creationId xmlns:a16="http://schemas.microsoft.com/office/drawing/2014/main" id="{A6FEB00E-B96E-6804-3820-E1A9A437770F}"/>
              </a:ext>
            </a:extLst>
          </p:cNvPr>
          <p:cNvSpPr/>
          <p:nvPr/>
        </p:nvSpPr>
        <p:spPr>
          <a:xfrm rot="5400000">
            <a:off x="3712232"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2" name="直線コネクタ 21">
            <a:extLst>
              <a:ext uri="{FF2B5EF4-FFF2-40B4-BE49-F238E27FC236}">
                <a16:creationId xmlns:a16="http://schemas.microsoft.com/office/drawing/2014/main" id="{74193254-5681-8C0B-B59E-23B07BDA861D}"/>
              </a:ext>
            </a:extLst>
          </p:cNvPr>
          <p:cNvCxnSpPr>
            <a:cxnSpLocks/>
          </p:cNvCxnSpPr>
          <p:nvPr/>
        </p:nvCxnSpPr>
        <p:spPr>
          <a:xfrm flipH="1">
            <a:off x="2495960" y="4959017"/>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7" name="グループ化 36">
            <a:extLst>
              <a:ext uri="{FF2B5EF4-FFF2-40B4-BE49-F238E27FC236}">
                <a16:creationId xmlns:a16="http://schemas.microsoft.com/office/drawing/2014/main" id="{9926668D-E313-966C-0F08-24DE302CC109}"/>
              </a:ext>
            </a:extLst>
          </p:cNvPr>
          <p:cNvGrpSpPr/>
          <p:nvPr/>
        </p:nvGrpSpPr>
        <p:grpSpPr>
          <a:xfrm>
            <a:off x="2855964" y="4959018"/>
            <a:ext cx="360004" cy="720007"/>
            <a:chOff x="3131985" y="5049018"/>
            <a:chExt cx="180002" cy="437056"/>
          </a:xfrm>
        </p:grpSpPr>
        <p:grpSp>
          <p:nvGrpSpPr>
            <p:cNvPr id="31" name="グループ化 30">
              <a:extLst>
                <a:ext uri="{FF2B5EF4-FFF2-40B4-BE49-F238E27FC236}">
                  <a16:creationId xmlns:a16="http://schemas.microsoft.com/office/drawing/2014/main" id="{52ADB8C6-DAE3-0243-D689-236DBDABDA5C}"/>
                </a:ext>
              </a:extLst>
            </p:cNvPr>
            <p:cNvGrpSpPr/>
            <p:nvPr/>
          </p:nvGrpSpPr>
          <p:grpSpPr>
            <a:xfrm>
              <a:off x="3131985" y="5139021"/>
              <a:ext cx="180002" cy="254126"/>
              <a:chOff x="3131984" y="5191944"/>
              <a:chExt cx="270003" cy="201854"/>
            </a:xfrm>
          </p:grpSpPr>
          <p:sp>
            <p:nvSpPr>
              <p:cNvPr id="26" name="Freeform 42">
                <a:extLst>
                  <a:ext uri="{FF2B5EF4-FFF2-40B4-BE49-F238E27FC236}">
                    <a16:creationId xmlns:a16="http://schemas.microsoft.com/office/drawing/2014/main" id="{3C8FE4CB-237E-4BF7-A0F0-6EEC3432DAC2}"/>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7" name="Freeform 42">
                <a:extLst>
                  <a:ext uri="{FF2B5EF4-FFF2-40B4-BE49-F238E27FC236}">
                    <a16:creationId xmlns:a16="http://schemas.microsoft.com/office/drawing/2014/main" id="{E1BDAF63-BCED-166A-8421-93DC6E076FB8}"/>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8" name="Freeform 42">
                <a:extLst>
                  <a:ext uri="{FF2B5EF4-FFF2-40B4-BE49-F238E27FC236}">
                    <a16:creationId xmlns:a16="http://schemas.microsoft.com/office/drawing/2014/main" id="{C4FDDEF3-B4BC-0DEC-E90B-A4F4FCC22495}"/>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0" name="Freeform 42">
                <a:extLst>
                  <a:ext uri="{FF2B5EF4-FFF2-40B4-BE49-F238E27FC236}">
                    <a16:creationId xmlns:a16="http://schemas.microsoft.com/office/drawing/2014/main" id="{3E48BDF3-2041-BA0B-5B4A-0D2B710B7C83}"/>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32" name="直線コネクタ 31">
              <a:extLst>
                <a:ext uri="{FF2B5EF4-FFF2-40B4-BE49-F238E27FC236}">
                  <a16:creationId xmlns:a16="http://schemas.microsoft.com/office/drawing/2014/main" id="{AFF08301-579C-7603-8718-0E83326403D7}"/>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E208FAC0-679C-6E64-680A-337CB16A2D7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40" name="直線コネクタ 39">
            <a:extLst>
              <a:ext uri="{FF2B5EF4-FFF2-40B4-BE49-F238E27FC236}">
                <a16:creationId xmlns:a16="http://schemas.microsoft.com/office/drawing/2014/main" id="{54F2018B-C0BE-F682-0A36-44DA92CB12B1}"/>
              </a:ext>
            </a:extLst>
          </p:cNvPr>
          <p:cNvCxnSpPr>
            <a:cxnSpLocks/>
          </p:cNvCxnSpPr>
          <p:nvPr/>
        </p:nvCxnSpPr>
        <p:spPr>
          <a:xfrm flipH="1">
            <a:off x="2495960" y="5679025"/>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B8DF09C7-9F58-E635-AA12-325D065DA9CA}"/>
              </a:ext>
            </a:extLst>
          </p:cNvPr>
          <p:cNvCxnSpPr>
            <a:cxnSpLocks/>
          </p:cNvCxnSpPr>
          <p:nvPr/>
        </p:nvCxnSpPr>
        <p:spPr>
          <a:xfrm flipH="1">
            <a:off x="2855965" y="4779015"/>
            <a:ext cx="450005"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a16:creationId xmlns:a16="http://schemas.microsoft.com/office/drawing/2014/main" id="{3F7E1B12-9ABE-96EF-D4D1-BB602EF2EEEB}"/>
              </a:ext>
            </a:extLst>
          </p:cNvPr>
          <p:cNvCxnSpPr>
            <a:cxnSpLocks/>
          </p:cNvCxnSpPr>
          <p:nvPr/>
        </p:nvCxnSpPr>
        <p:spPr>
          <a:xfrm flipV="1">
            <a:off x="3305969" y="4779015"/>
            <a:ext cx="0" cy="36000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07AD33AC-DB5E-0236-7E07-D87585EA4382}"/>
              </a:ext>
            </a:extLst>
          </p:cNvPr>
          <p:cNvCxnSpPr>
            <a:cxnSpLocks/>
          </p:cNvCxnSpPr>
          <p:nvPr/>
        </p:nvCxnSpPr>
        <p:spPr>
          <a:xfrm flipH="1">
            <a:off x="3305970" y="5139019"/>
            <a:ext cx="270003"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7EAA77DA-D45A-6048-A20C-358A4CA3CE95}"/>
              </a:ext>
            </a:extLst>
          </p:cNvPr>
          <p:cNvCxnSpPr>
            <a:cxnSpLocks/>
          </p:cNvCxnSpPr>
          <p:nvPr/>
        </p:nvCxnSpPr>
        <p:spPr>
          <a:xfrm>
            <a:off x="3755974" y="5139019"/>
            <a:ext cx="0" cy="449998"/>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5" name="円/楕円 68">
            <a:extLst>
              <a:ext uri="{FF2B5EF4-FFF2-40B4-BE49-F238E27FC236}">
                <a16:creationId xmlns:a16="http://schemas.microsoft.com/office/drawing/2014/main" id="{BC922C26-5E3D-1653-8304-8A16BBC44F03}"/>
              </a:ext>
            </a:extLst>
          </p:cNvPr>
          <p:cNvSpPr/>
          <p:nvPr/>
        </p:nvSpPr>
        <p:spPr>
          <a:xfrm rot="5400000">
            <a:off x="3713671" y="558903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7" name="直線コネクタ 56">
            <a:extLst>
              <a:ext uri="{FF2B5EF4-FFF2-40B4-BE49-F238E27FC236}">
                <a16:creationId xmlns:a16="http://schemas.microsoft.com/office/drawing/2014/main" id="{684CF53B-6803-99C4-B8A5-0A34E7163247}"/>
              </a:ext>
            </a:extLst>
          </p:cNvPr>
          <p:cNvCxnSpPr>
            <a:cxnSpLocks/>
          </p:cNvCxnSpPr>
          <p:nvPr/>
        </p:nvCxnSpPr>
        <p:spPr>
          <a:xfrm>
            <a:off x="3575972" y="5679026"/>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C5CB3E2E-B14E-814D-9344-8409F6B78A70}"/>
              </a:ext>
            </a:extLst>
          </p:cNvPr>
          <p:cNvCxnSpPr>
            <a:cxnSpLocks/>
          </p:cNvCxnSpPr>
          <p:nvPr/>
        </p:nvCxnSpPr>
        <p:spPr>
          <a:xfrm>
            <a:off x="3755974" y="5679026"/>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24" name="Rectangle 93">
            <a:extLst>
              <a:ext uri="{FF2B5EF4-FFF2-40B4-BE49-F238E27FC236}">
                <a16:creationId xmlns:a16="http://schemas.microsoft.com/office/drawing/2014/main" id="{16A12955-EC0F-8CDC-5DB3-803393AC815B}"/>
              </a:ext>
            </a:extLst>
          </p:cNvPr>
          <p:cNvSpPr>
            <a:spLocks noChangeArrowheads="1"/>
          </p:cNvSpPr>
          <p:nvPr/>
        </p:nvSpPr>
        <p:spPr bwMode="auto">
          <a:xfrm>
            <a:off x="2135957"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25" name="Rectangle 93">
            <a:extLst>
              <a:ext uri="{FF2B5EF4-FFF2-40B4-BE49-F238E27FC236}">
                <a16:creationId xmlns:a16="http://schemas.microsoft.com/office/drawing/2014/main" id="{FD118552-02F2-FD4B-5E0A-1599CBDED6AF}"/>
              </a:ext>
            </a:extLst>
          </p:cNvPr>
          <p:cNvSpPr>
            <a:spLocks noChangeArrowheads="1"/>
          </p:cNvSpPr>
          <p:nvPr/>
        </p:nvSpPr>
        <p:spPr bwMode="auto">
          <a:xfrm>
            <a:off x="2135957" y="549902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27" name="Rectangle 93">
            <a:extLst>
              <a:ext uri="{FF2B5EF4-FFF2-40B4-BE49-F238E27FC236}">
                <a16:creationId xmlns:a16="http://schemas.microsoft.com/office/drawing/2014/main" id="{D2BE4C87-5F89-4960-D089-C11FC16CBD6C}"/>
              </a:ext>
            </a:extLst>
          </p:cNvPr>
          <p:cNvSpPr>
            <a:spLocks noChangeArrowheads="1"/>
          </p:cNvSpPr>
          <p:nvPr/>
        </p:nvSpPr>
        <p:spPr bwMode="auto">
          <a:xfrm>
            <a:off x="3215969"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29" name="Rectangle 93">
            <a:extLst>
              <a:ext uri="{FF2B5EF4-FFF2-40B4-BE49-F238E27FC236}">
                <a16:creationId xmlns:a16="http://schemas.microsoft.com/office/drawing/2014/main" id="{F05994E3-20BF-DE00-56C6-3D390D91E694}"/>
              </a:ext>
            </a:extLst>
          </p:cNvPr>
          <p:cNvSpPr>
            <a:spLocks noChangeArrowheads="1"/>
          </p:cNvSpPr>
          <p:nvPr/>
        </p:nvSpPr>
        <p:spPr bwMode="auto">
          <a:xfrm>
            <a:off x="3755975"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031" name="円/楕円 68">
            <a:extLst>
              <a:ext uri="{FF2B5EF4-FFF2-40B4-BE49-F238E27FC236}">
                <a16:creationId xmlns:a16="http://schemas.microsoft.com/office/drawing/2014/main" id="{7D4DC939-E1F2-DB79-C34A-70C3F5231B13}"/>
              </a:ext>
            </a:extLst>
          </p:cNvPr>
          <p:cNvSpPr/>
          <p:nvPr/>
        </p:nvSpPr>
        <p:spPr>
          <a:xfrm rot="5400000">
            <a:off x="6052256" y="5589031"/>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032" name="円/楕円 69">
            <a:extLst>
              <a:ext uri="{FF2B5EF4-FFF2-40B4-BE49-F238E27FC236}">
                <a16:creationId xmlns:a16="http://schemas.microsoft.com/office/drawing/2014/main" id="{987366B2-CBF3-0B17-7DE3-277D0822147E}"/>
              </a:ext>
            </a:extLst>
          </p:cNvPr>
          <p:cNvSpPr/>
          <p:nvPr/>
        </p:nvSpPr>
        <p:spPr>
          <a:xfrm rot="5400000">
            <a:off x="6231185"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033" name="直線コネクタ 1032">
            <a:extLst>
              <a:ext uri="{FF2B5EF4-FFF2-40B4-BE49-F238E27FC236}">
                <a16:creationId xmlns:a16="http://schemas.microsoft.com/office/drawing/2014/main" id="{0CB991D9-BF2B-EC1C-9353-942F20D64F8B}"/>
              </a:ext>
            </a:extLst>
          </p:cNvPr>
          <p:cNvCxnSpPr>
            <a:cxnSpLocks/>
          </p:cNvCxnSpPr>
          <p:nvPr/>
        </p:nvCxnSpPr>
        <p:spPr>
          <a:xfrm flipH="1">
            <a:off x="5015988" y="4959017"/>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34" name="グループ化 1033">
            <a:extLst>
              <a:ext uri="{FF2B5EF4-FFF2-40B4-BE49-F238E27FC236}">
                <a16:creationId xmlns:a16="http://schemas.microsoft.com/office/drawing/2014/main" id="{B4724512-C223-208A-50CB-62D0611F2D0D}"/>
              </a:ext>
            </a:extLst>
          </p:cNvPr>
          <p:cNvGrpSpPr/>
          <p:nvPr/>
        </p:nvGrpSpPr>
        <p:grpSpPr>
          <a:xfrm>
            <a:off x="5375992" y="4959018"/>
            <a:ext cx="360004" cy="720007"/>
            <a:chOff x="3131985" y="5049018"/>
            <a:chExt cx="180002" cy="437056"/>
          </a:xfrm>
        </p:grpSpPr>
        <p:grpSp>
          <p:nvGrpSpPr>
            <p:cNvPr id="1035" name="グループ化 1034">
              <a:extLst>
                <a:ext uri="{FF2B5EF4-FFF2-40B4-BE49-F238E27FC236}">
                  <a16:creationId xmlns:a16="http://schemas.microsoft.com/office/drawing/2014/main" id="{B5F299D7-7AAC-9D28-68A4-FC9BF1E040A1}"/>
                </a:ext>
              </a:extLst>
            </p:cNvPr>
            <p:cNvGrpSpPr/>
            <p:nvPr/>
          </p:nvGrpSpPr>
          <p:grpSpPr>
            <a:xfrm>
              <a:off x="3131985" y="5139021"/>
              <a:ext cx="180002" cy="254126"/>
              <a:chOff x="3131984" y="5191944"/>
              <a:chExt cx="270003" cy="201854"/>
            </a:xfrm>
          </p:grpSpPr>
          <p:sp>
            <p:nvSpPr>
              <p:cNvPr id="1038" name="Freeform 42">
                <a:extLst>
                  <a:ext uri="{FF2B5EF4-FFF2-40B4-BE49-F238E27FC236}">
                    <a16:creationId xmlns:a16="http://schemas.microsoft.com/office/drawing/2014/main" id="{A2E66C52-732E-F34A-F4C5-65621600A92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039" name="Freeform 42">
                <a:extLst>
                  <a:ext uri="{FF2B5EF4-FFF2-40B4-BE49-F238E27FC236}">
                    <a16:creationId xmlns:a16="http://schemas.microsoft.com/office/drawing/2014/main" id="{39AE87DD-78CC-5FC3-3C89-ABADC97AFC4A}"/>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040" name="Freeform 42">
                <a:extLst>
                  <a:ext uri="{FF2B5EF4-FFF2-40B4-BE49-F238E27FC236}">
                    <a16:creationId xmlns:a16="http://schemas.microsoft.com/office/drawing/2014/main" id="{6412D91C-C93B-30DD-9D21-D53020ACA68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041" name="Freeform 42">
                <a:extLst>
                  <a:ext uri="{FF2B5EF4-FFF2-40B4-BE49-F238E27FC236}">
                    <a16:creationId xmlns:a16="http://schemas.microsoft.com/office/drawing/2014/main" id="{876938C0-42D9-4575-F9AD-13243BBFD257}"/>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036" name="直線コネクタ 1035">
              <a:extLst>
                <a:ext uri="{FF2B5EF4-FFF2-40B4-BE49-F238E27FC236}">
                  <a16:creationId xmlns:a16="http://schemas.microsoft.com/office/drawing/2014/main" id="{F05E8978-7D1E-43BC-4F34-F6359059326C}"/>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7" name="直線コネクタ 1036">
              <a:extLst>
                <a:ext uri="{FF2B5EF4-FFF2-40B4-BE49-F238E27FC236}">
                  <a16:creationId xmlns:a16="http://schemas.microsoft.com/office/drawing/2014/main" id="{4482E944-FE67-4D70-8BC1-8C20B3057FB8}"/>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042" name="直線コネクタ 1041">
            <a:extLst>
              <a:ext uri="{FF2B5EF4-FFF2-40B4-BE49-F238E27FC236}">
                <a16:creationId xmlns:a16="http://schemas.microsoft.com/office/drawing/2014/main" id="{FD6DF502-41E4-12AC-B72B-4108CCF66C8D}"/>
              </a:ext>
            </a:extLst>
          </p:cNvPr>
          <p:cNvCxnSpPr>
            <a:cxnSpLocks/>
          </p:cNvCxnSpPr>
          <p:nvPr/>
        </p:nvCxnSpPr>
        <p:spPr>
          <a:xfrm flipH="1">
            <a:off x="5015988" y="5679025"/>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0" name="直線コネクタ 1029">
            <a:extLst>
              <a:ext uri="{FF2B5EF4-FFF2-40B4-BE49-F238E27FC236}">
                <a16:creationId xmlns:a16="http://schemas.microsoft.com/office/drawing/2014/main" id="{738851A0-3283-6B1F-200E-1C451B88792D}"/>
              </a:ext>
            </a:extLst>
          </p:cNvPr>
          <p:cNvCxnSpPr>
            <a:cxnSpLocks/>
            <a:endCxn id="1031" idx="2"/>
          </p:cNvCxnSpPr>
          <p:nvPr/>
        </p:nvCxnSpPr>
        <p:spPr>
          <a:xfrm flipH="1">
            <a:off x="6097262" y="5062200"/>
            <a:ext cx="127234" cy="52682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61" name="グループ化 1060">
            <a:extLst>
              <a:ext uri="{FF2B5EF4-FFF2-40B4-BE49-F238E27FC236}">
                <a16:creationId xmlns:a16="http://schemas.microsoft.com/office/drawing/2014/main" id="{A61127FA-785C-D037-7805-F95AE1EEC7A0}"/>
              </a:ext>
            </a:extLst>
          </p:cNvPr>
          <p:cNvGrpSpPr/>
          <p:nvPr/>
        </p:nvGrpSpPr>
        <p:grpSpPr>
          <a:xfrm rot="21245668">
            <a:off x="5392455" y="4860256"/>
            <a:ext cx="775659" cy="360004"/>
            <a:chOff x="3848756" y="3292030"/>
            <a:chExt cx="775659" cy="360004"/>
          </a:xfrm>
        </p:grpSpPr>
        <p:cxnSp>
          <p:nvCxnSpPr>
            <p:cNvPr id="1043" name="直線コネクタ 1042">
              <a:extLst>
                <a:ext uri="{FF2B5EF4-FFF2-40B4-BE49-F238E27FC236}">
                  <a16:creationId xmlns:a16="http://schemas.microsoft.com/office/drawing/2014/main" id="{7B46DFC9-2BDC-DCAC-7CC3-DA6E343FCDE6}"/>
                </a:ext>
              </a:extLst>
            </p:cNvPr>
            <p:cNvCxnSpPr>
              <a:cxnSpLocks/>
            </p:cNvCxnSpPr>
            <p:nvPr/>
          </p:nvCxnSpPr>
          <p:spPr>
            <a:xfrm rot="21016354" flipH="1">
              <a:off x="3848756" y="3332635"/>
              <a:ext cx="450005"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4" name="直線コネクタ 1043">
              <a:extLst>
                <a:ext uri="{FF2B5EF4-FFF2-40B4-BE49-F238E27FC236}">
                  <a16:creationId xmlns:a16="http://schemas.microsoft.com/office/drawing/2014/main" id="{43216A00-2145-F3B9-8ED8-6E27C51A4C31}"/>
                </a:ext>
              </a:extLst>
            </p:cNvPr>
            <p:cNvCxnSpPr>
              <a:cxnSpLocks/>
            </p:cNvCxnSpPr>
            <p:nvPr/>
          </p:nvCxnSpPr>
          <p:spPr>
            <a:xfrm rot="21016354" flipV="1">
              <a:off x="4325940" y="3292030"/>
              <a:ext cx="0" cy="36000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5" name="直線コネクタ 1044">
              <a:extLst>
                <a:ext uri="{FF2B5EF4-FFF2-40B4-BE49-F238E27FC236}">
                  <a16:creationId xmlns:a16="http://schemas.microsoft.com/office/drawing/2014/main" id="{EE1144CB-FB2E-5783-7E5C-187448BC519D}"/>
                </a:ext>
              </a:extLst>
            </p:cNvPr>
            <p:cNvCxnSpPr>
              <a:cxnSpLocks/>
            </p:cNvCxnSpPr>
            <p:nvPr/>
          </p:nvCxnSpPr>
          <p:spPr>
            <a:xfrm rot="21016354" flipH="1">
              <a:off x="4354412" y="3626636"/>
              <a:ext cx="270003"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046" name="直線コネクタ 1045">
            <a:extLst>
              <a:ext uri="{FF2B5EF4-FFF2-40B4-BE49-F238E27FC236}">
                <a16:creationId xmlns:a16="http://schemas.microsoft.com/office/drawing/2014/main" id="{A9E9FCC0-061E-5EF3-3058-98AF1796613E}"/>
              </a:ext>
            </a:extLst>
          </p:cNvPr>
          <p:cNvCxnSpPr>
            <a:cxnSpLocks/>
          </p:cNvCxnSpPr>
          <p:nvPr/>
        </p:nvCxnSpPr>
        <p:spPr>
          <a:xfrm>
            <a:off x="6274927" y="5139019"/>
            <a:ext cx="0" cy="449998"/>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47" name="円/楕円 68">
            <a:extLst>
              <a:ext uri="{FF2B5EF4-FFF2-40B4-BE49-F238E27FC236}">
                <a16:creationId xmlns:a16="http://schemas.microsoft.com/office/drawing/2014/main" id="{3CEDFFC8-4576-3E82-F5CB-088E57C86A53}"/>
              </a:ext>
            </a:extLst>
          </p:cNvPr>
          <p:cNvSpPr/>
          <p:nvPr/>
        </p:nvSpPr>
        <p:spPr>
          <a:xfrm rot="5400000">
            <a:off x="6232624" y="558903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048" name="直線コネクタ 1047">
            <a:extLst>
              <a:ext uri="{FF2B5EF4-FFF2-40B4-BE49-F238E27FC236}">
                <a16:creationId xmlns:a16="http://schemas.microsoft.com/office/drawing/2014/main" id="{C762F6A9-3E8A-BC4F-6A36-CEF70C9C5C7D}"/>
              </a:ext>
            </a:extLst>
          </p:cNvPr>
          <p:cNvCxnSpPr>
            <a:cxnSpLocks/>
          </p:cNvCxnSpPr>
          <p:nvPr/>
        </p:nvCxnSpPr>
        <p:spPr>
          <a:xfrm>
            <a:off x="6096000" y="5679026"/>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9" name="直線コネクタ 1048">
            <a:extLst>
              <a:ext uri="{FF2B5EF4-FFF2-40B4-BE49-F238E27FC236}">
                <a16:creationId xmlns:a16="http://schemas.microsoft.com/office/drawing/2014/main" id="{BC0DDFAC-1743-4D8E-97E7-36548D0055B9}"/>
              </a:ext>
            </a:extLst>
          </p:cNvPr>
          <p:cNvCxnSpPr>
            <a:cxnSpLocks/>
          </p:cNvCxnSpPr>
          <p:nvPr/>
        </p:nvCxnSpPr>
        <p:spPr>
          <a:xfrm>
            <a:off x="6274927" y="5679026"/>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50" name="Rectangle 93">
            <a:extLst>
              <a:ext uri="{FF2B5EF4-FFF2-40B4-BE49-F238E27FC236}">
                <a16:creationId xmlns:a16="http://schemas.microsoft.com/office/drawing/2014/main" id="{43770D76-5BA9-7446-4CBB-10A86CA34924}"/>
              </a:ext>
            </a:extLst>
          </p:cNvPr>
          <p:cNvSpPr>
            <a:spLocks noChangeArrowheads="1"/>
          </p:cNvSpPr>
          <p:nvPr/>
        </p:nvSpPr>
        <p:spPr bwMode="auto">
          <a:xfrm>
            <a:off x="4655985"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51" name="Rectangle 93">
            <a:extLst>
              <a:ext uri="{FF2B5EF4-FFF2-40B4-BE49-F238E27FC236}">
                <a16:creationId xmlns:a16="http://schemas.microsoft.com/office/drawing/2014/main" id="{2C0E8360-07C3-5F96-2250-A2184ECB80B6}"/>
              </a:ext>
            </a:extLst>
          </p:cNvPr>
          <p:cNvSpPr>
            <a:spLocks noChangeArrowheads="1"/>
          </p:cNvSpPr>
          <p:nvPr/>
        </p:nvSpPr>
        <p:spPr bwMode="auto">
          <a:xfrm>
            <a:off x="4655985" y="549902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52" name="Rectangle 93">
            <a:extLst>
              <a:ext uri="{FF2B5EF4-FFF2-40B4-BE49-F238E27FC236}">
                <a16:creationId xmlns:a16="http://schemas.microsoft.com/office/drawing/2014/main" id="{185D8541-A2C9-4692-EB76-7DD729874B0A}"/>
              </a:ext>
            </a:extLst>
          </p:cNvPr>
          <p:cNvSpPr>
            <a:spLocks noChangeArrowheads="1"/>
          </p:cNvSpPr>
          <p:nvPr/>
        </p:nvSpPr>
        <p:spPr bwMode="auto">
          <a:xfrm>
            <a:off x="5735997"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53" name="Rectangle 93">
            <a:extLst>
              <a:ext uri="{FF2B5EF4-FFF2-40B4-BE49-F238E27FC236}">
                <a16:creationId xmlns:a16="http://schemas.microsoft.com/office/drawing/2014/main" id="{D8BCF934-7B10-95E0-E00E-609CDA4666F5}"/>
              </a:ext>
            </a:extLst>
          </p:cNvPr>
          <p:cNvSpPr>
            <a:spLocks noChangeArrowheads="1"/>
          </p:cNvSpPr>
          <p:nvPr/>
        </p:nvSpPr>
        <p:spPr bwMode="auto">
          <a:xfrm>
            <a:off x="6274928" y="594902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062" name="Rectangle 93">
            <a:extLst>
              <a:ext uri="{FF2B5EF4-FFF2-40B4-BE49-F238E27FC236}">
                <a16:creationId xmlns:a16="http://schemas.microsoft.com/office/drawing/2014/main" id="{61904DBC-3C06-D86B-7DC6-57B9AEE91FB3}"/>
              </a:ext>
            </a:extLst>
          </p:cNvPr>
          <p:cNvSpPr>
            <a:spLocks noChangeArrowheads="1"/>
          </p:cNvSpPr>
          <p:nvPr/>
        </p:nvSpPr>
        <p:spPr bwMode="auto">
          <a:xfrm>
            <a:off x="2135957" y="6463724"/>
            <a:ext cx="361079" cy="360362"/>
          </a:xfrm>
          <a:prstGeom prst="rect">
            <a:avLst/>
          </a:prstGeom>
          <a:noFill/>
          <a:ln w="12700" algn="ctr">
            <a:noFill/>
            <a:miter lim="800000"/>
            <a:headEnd/>
            <a:tailEnd/>
          </a:ln>
          <a:effectLst/>
        </p:spPr>
        <p:txBody>
          <a:bodyPr wrap="none" lIns="90000" tIns="46800" rIns="90000" bIns="46800" anchor="ctr"/>
          <a:lstStyle/>
          <a:p>
            <a:r>
              <a:rPr lang="ja-JP" altLang="en-US" sz="1400"/>
              <a:t>画像は </a:t>
            </a:r>
            <a:r>
              <a:rPr lang="en-US" altLang="ja-JP" sz="1400" dirty="0">
                <a:hlinkClick r:id="rId3"/>
              </a:rPr>
              <a:t>https://en.wikipedia.org/wiki/Relay</a:t>
            </a:r>
            <a:r>
              <a:rPr lang="en-US" altLang="ja-JP" sz="1400" dirty="0"/>
              <a:t> </a:t>
            </a:r>
            <a:r>
              <a:rPr lang="ja-JP" altLang="en-US" sz="1400" dirty="0"/>
              <a:t>より</a:t>
            </a:r>
            <a:endParaRPr lang="en-US" altLang="ja-JP" sz="1400" dirty="0"/>
          </a:p>
        </p:txBody>
      </p:sp>
      <p:sp>
        <p:nvSpPr>
          <p:cNvPr id="1065" name="円/楕円 68">
            <a:extLst>
              <a:ext uri="{FF2B5EF4-FFF2-40B4-BE49-F238E27FC236}">
                <a16:creationId xmlns:a16="http://schemas.microsoft.com/office/drawing/2014/main" id="{D526FF31-2195-EB08-4518-80A0648DAD5C}"/>
              </a:ext>
            </a:extLst>
          </p:cNvPr>
          <p:cNvSpPr/>
          <p:nvPr/>
        </p:nvSpPr>
        <p:spPr>
          <a:xfrm rot="5400000">
            <a:off x="3215968" y="477902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066" name="円/楕円 68">
            <a:extLst>
              <a:ext uri="{FF2B5EF4-FFF2-40B4-BE49-F238E27FC236}">
                <a16:creationId xmlns:a16="http://schemas.microsoft.com/office/drawing/2014/main" id="{92B12BC1-2797-49CE-FAC7-305222075A98}"/>
              </a:ext>
            </a:extLst>
          </p:cNvPr>
          <p:cNvSpPr/>
          <p:nvPr/>
        </p:nvSpPr>
        <p:spPr>
          <a:xfrm rot="5400000">
            <a:off x="5735996" y="4869027"/>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067" name="円弧 1066">
            <a:extLst>
              <a:ext uri="{FF2B5EF4-FFF2-40B4-BE49-F238E27FC236}">
                <a16:creationId xmlns:a16="http://schemas.microsoft.com/office/drawing/2014/main" id="{45ECB532-1E4E-6D44-5EAB-2AF37488E17F}"/>
              </a:ext>
            </a:extLst>
          </p:cNvPr>
          <p:cNvSpPr/>
          <p:nvPr/>
        </p:nvSpPr>
        <p:spPr bwMode="auto">
          <a:xfrm rot="9273794">
            <a:off x="5673134" y="4608506"/>
            <a:ext cx="617862" cy="684905"/>
          </a:xfrm>
          <a:prstGeom prst="arc">
            <a:avLst/>
          </a:prstGeom>
          <a:noFill/>
          <a:ln w="9525" cap="flat" cmpd="sng" algn="ctr">
            <a:solidFill>
              <a:schemeClr val="accent6"/>
            </a:solidFill>
            <a:prstDash val="solid"/>
            <a:round/>
            <a:headEnd type="arrow" w="med" len="med"/>
            <a:tailEnd type="none" w="med" len="med"/>
          </a:ln>
          <a:effectLst/>
        </p:spPr>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en-US">
              <a:latin typeface="Verdana" pitchFamily="34" charset="0"/>
              <a:ea typeface="HG丸ｺﾞｼｯｸM-PRO" pitchFamily="50" charset="-128"/>
            </a:endParaRPr>
          </a:p>
        </p:txBody>
      </p:sp>
    </p:spTree>
    <p:extLst>
      <p:ext uri="{BB962C8B-B14F-4D97-AF65-F5344CB8AC3E}">
        <p14:creationId xmlns:p14="http://schemas.microsoft.com/office/powerpoint/2010/main" val="13711387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D534D0-C8E4-856A-5C74-CCF9A9046573}"/>
              </a:ext>
            </a:extLst>
          </p:cNvPr>
          <p:cNvSpPr>
            <a:spLocks noGrp="1"/>
          </p:cNvSpPr>
          <p:nvPr>
            <p:ph type="title"/>
          </p:nvPr>
        </p:nvSpPr>
        <p:spPr/>
        <p:txBody>
          <a:bodyPr/>
          <a:lstStyle/>
          <a:p>
            <a:r>
              <a:rPr kumimoji="1" lang="ja-JP" altLang="en-US" dirty="0"/>
              <a:t>リレーの絵を回路記号に単純化</a:t>
            </a:r>
            <a:endParaRPr kumimoji="1" lang="en-US" dirty="0"/>
          </a:p>
        </p:txBody>
      </p:sp>
      <p:sp>
        <p:nvSpPr>
          <p:cNvPr id="3" name="コンテンツ プレースホルダー 2">
            <a:extLst>
              <a:ext uri="{FF2B5EF4-FFF2-40B4-BE49-F238E27FC236}">
                <a16:creationId xmlns:a16="http://schemas.microsoft.com/office/drawing/2014/main" id="{6908E1C2-F9FD-3F8A-C9C8-FF2A293C6198}"/>
              </a:ext>
            </a:extLst>
          </p:cNvPr>
          <p:cNvSpPr>
            <a:spLocks noGrp="1"/>
          </p:cNvSpPr>
          <p:nvPr>
            <p:ph type="body" sz="quarter" idx="10"/>
          </p:nvPr>
        </p:nvSpPr>
        <p:spPr>
          <a:xfrm>
            <a:off x="2135956" y="1088974"/>
            <a:ext cx="8280092" cy="1800020"/>
          </a:xfrm>
        </p:spPr>
        <p:txBody>
          <a:bodyPr/>
          <a:lstStyle/>
          <a:p>
            <a:r>
              <a:rPr kumimoji="1" lang="ja-JP" altLang="en-US" dirty="0"/>
              <a:t>わかりにくいので，以降では右のように単純化して表記</a:t>
            </a:r>
            <a:endParaRPr kumimoji="1" lang="en-US" altLang="ja-JP" dirty="0"/>
          </a:p>
          <a:p>
            <a:pPr lvl="1"/>
            <a:r>
              <a:rPr kumimoji="1" lang="en-US" altLang="ja-JP" dirty="0"/>
              <a:t>G</a:t>
            </a:r>
            <a:r>
              <a:rPr kumimoji="1" lang="ja-JP" altLang="en-US" dirty="0"/>
              <a:t>～</a:t>
            </a:r>
            <a:r>
              <a:rPr kumimoji="1" lang="en-US" altLang="ja-JP" dirty="0"/>
              <a:t>B </a:t>
            </a:r>
            <a:r>
              <a:rPr kumimoji="1" lang="ja-JP" altLang="en-US" dirty="0"/>
              <a:t>間に電圧をかけると，</a:t>
            </a:r>
            <a:r>
              <a:rPr kumimoji="1" lang="en-US" altLang="ja-JP" dirty="0"/>
              <a:t>S</a:t>
            </a:r>
            <a:r>
              <a:rPr kumimoji="1" lang="ja-JP" altLang="en-US" dirty="0"/>
              <a:t>～</a:t>
            </a:r>
            <a:r>
              <a:rPr kumimoji="1" lang="en-US" altLang="ja-JP" dirty="0"/>
              <a:t>D </a:t>
            </a:r>
            <a:r>
              <a:rPr kumimoji="1" lang="ja-JP" altLang="en-US" dirty="0"/>
              <a:t>が </a:t>
            </a:r>
            <a:r>
              <a:rPr kumimoji="1" lang="en-US" altLang="ja-JP" dirty="0"/>
              <a:t>ON </a:t>
            </a:r>
            <a:r>
              <a:rPr kumimoji="1" lang="ja-JP" altLang="en-US" dirty="0"/>
              <a:t>に</a:t>
            </a:r>
            <a:endParaRPr kumimoji="1" lang="en-US" altLang="ja-JP" dirty="0"/>
          </a:p>
        </p:txBody>
      </p:sp>
      <p:grpSp>
        <p:nvGrpSpPr>
          <p:cNvPr id="83" name="グループ化 82">
            <a:extLst>
              <a:ext uri="{FF2B5EF4-FFF2-40B4-BE49-F238E27FC236}">
                <a16:creationId xmlns:a16="http://schemas.microsoft.com/office/drawing/2014/main" id="{0C5C9B37-FA3A-4C54-9320-E5B12DE918F6}"/>
              </a:ext>
            </a:extLst>
          </p:cNvPr>
          <p:cNvGrpSpPr/>
          <p:nvPr/>
        </p:nvGrpSpPr>
        <p:grpSpPr>
          <a:xfrm>
            <a:off x="3485972" y="3429001"/>
            <a:ext cx="1981097" cy="1530375"/>
            <a:chOff x="1961971" y="3429000"/>
            <a:chExt cx="1981097" cy="1530375"/>
          </a:xfrm>
        </p:grpSpPr>
        <p:cxnSp>
          <p:nvCxnSpPr>
            <p:cNvPr id="25" name="直線コネクタ 24">
              <a:extLst>
                <a:ext uri="{FF2B5EF4-FFF2-40B4-BE49-F238E27FC236}">
                  <a16:creationId xmlns:a16="http://schemas.microsoft.com/office/drawing/2014/main" id="{DE980B1B-647B-56A7-B906-824C3F936311}"/>
                </a:ext>
              </a:extLst>
            </p:cNvPr>
            <p:cNvCxnSpPr>
              <a:cxnSpLocks/>
            </p:cNvCxnSpPr>
            <p:nvPr/>
          </p:nvCxnSpPr>
          <p:spPr>
            <a:xfrm>
              <a:off x="3401987" y="3699003"/>
              <a:ext cx="0" cy="53999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 name="円/楕円 68">
              <a:extLst>
                <a:ext uri="{FF2B5EF4-FFF2-40B4-BE49-F238E27FC236}">
                  <a16:creationId xmlns:a16="http://schemas.microsoft.com/office/drawing/2014/main" id="{C3BE8183-D41C-2F67-A128-D0D48FCF2033}"/>
                </a:ext>
              </a:extLst>
            </p:cNvPr>
            <p:cNvSpPr/>
            <p:nvPr/>
          </p:nvSpPr>
          <p:spPr>
            <a:xfrm rot="5400000">
              <a:off x="3358243" y="423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27" name="円/楕円 69">
              <a:extLst>
                <a:ext uri="{FF2B5EF4-FFF2-40B4-BE49-F238E27FC236}">
                  <a16:creationId xmlns:a16="http://schemas.microsoft.com/office/drawing/2014/main" id="{E94FC8CD-3226-A65D-94B4-CB54A82ECBBC}"/>
                </a:ext>
              </a:extLst>
            </p:cNvPr>
            <p:cNvSpPr/>
            <p:nvPr/>
          </p:nvSpPr>
          <p:spPr>
            <a:xfrm rot="5400000">
              <a:off x="3538247" y="3699014"/>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8" name="直線コネクタ 27">
              <a:extLst>
                <a:ext uri="{FF2B5EF4-FFF2-40B4-BE49-F238E27FC236}">
                  <a16:creationId xmlns:a16="http://schemas.microsoft.com/office/drawing/2014/main" id="{31AB2BBE-9928-150A-5F1F-AC69190380BC}"/>
                </a:ext>
              </a:extLst>
            </p:cNvPr>
            <p:cNvCxnSpPr>
              <a:cxnSpLocks/>
            </p:cNvCxnSpPr>
            <p:nvPr/>
          </p:nvCxnSpPr>
          <p:spPr>
            <a:xfrm flipH="1">
              <a:off x="2321975" y="3609002"/>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9" name="グループ化 28">
              <a:extLst>
                <a:ext uri="{FF2B5EF4-FFF2-40B4-BE49-F238E27FC236}">
                  <a16:creationId xmlns:a16="http://schemas.microsoft.com/office/drawing/2014/main" id="{685C5FAB-88B2-109E-ABDA-1A82A2E865B5}"/>
                </a:ext>
              </a:extLst>
            </p:cNvPr>
            <p:cNvGrpSpPr/>
            <p:nvPr/>
          </p:nvGrpSpPr>
          <p:grpSpPr>
            <a:xfrm>
              <a:off x="2681979" y="3609002"/>
              <a:ext cx="360004" cy="720007"/>
              <a:chOff x="3131985" y="5049018"/>
              <a:chExt cx="180002" cy="437056"/>
            </a:xfrm>
          </p:grpSpPr>
          <p:grpSp>
            <p:nvGrpSpPr>
              <p:cNvPr id="30" name="グループ化 29">
                <a:extLst>
                  <a:ext uri="{FF2B5EF4-FFF2-40B4-BE49-F238E27FC236}">
                    <a16:creationId xmlns:a16="http://schemas.microsoft.com/office/drawing/2014/main" id="{E44AD47E-CD68-DE9E-908D-20F9A2950D2B}"/>
                  </a:ext>
                </a:extLst>
              </p:cNvPr>
              <p:cNvGrpSpPr/>
              <p:nvPr/>
            </p:nvGrpSpPr>
            <p:grpSpPr>
              <a:xfrm>
                <a:off x="3131985" y="5139021"/>
                <a:ext cx="180002" cy="254126"/>
                <a:chOff x="3131984" y="5191944"/>
                <a:chExt cx="270003" cy="201854"/>
              </a:xfrm>
            </p:grpSpPr>
            <p:sp>
              <p:nvSpPr>
                <p:cNvPr id="33" name="Freeform 42">
                  <a:extLst>
                    <a:ext uri="{FF2B5EF4-FFF2-40B4-BE49-F238E27FC236}">
                      <a16:creationId xmlns:a16="http://schemas.microsoft.com/office/drawing/2014/main" id="{74BB9242-7EFC-B8A0-3C82-16408D00AC15}"/>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4" name="Freeform 42">
                  <a:extLst>
                    <a:ext uri="{FF2B5EF4-FFF2-40B4-BE49-F238E27FC236}">
                      <a16:creationId xmlns:a16="http://schemas.microsoft.com/office/drawing/2014/main" id="{F363B754-EA95-700C-EAE4-4BDD1287BDC2}"/>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5" name="Freeform 42">
                  <a:extLst>
                    <a:ext uri="{FF2B5EF4-FFF2-40B4-BE49-F238E27FC236}">
                      <a16:creationId xmlns:a16="http://schemas.microsoft.com/office/drawing/2014/main" id="{A353A633-4BD8-40C7-5B8D-FC2B6A5071F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6" name="Freeform 42">
                  <a:extLst>
                    <a:ext uri="{FF2B5EF4-FFF2-40B4-BE49-F238E27FC236}">
                      <a16:creationId xmlns:a16="http://schemas.microsoft.com/office/drawing/2014/main" id="{6C708FAA-766F-1BBE-9EB7-5BBBE1F673C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31" name="直線コネクタ 30">
                <a:extLst>
                  <a:ext uri="{FF2B5EF4-FFF2-40B4-BE49-F238E27FC236}">
                    <a16:creationId xmlns:a16="http://schemas.microsoft.com/office/drawing/2014/main" id="{F71C7498-DF9B-4570-E2DD-62FDCD9CBF6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41CE4290-98FD-C84A-B629-0375F5AEDB0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37" name="直線コネクタ 36">
              <a:extLst>
                <a:ext uri="{FF2B5EF4-FFF2-40B4-BE49-F238E27FC236}">
                  <a16:creationId xmlns:a16="http://schemas.microsoft.com/office/drawing/2014/main" id="{55C6680C-0C23-6954-A7EC-13681A3F4F09}"/>
                </a:ext>
              </a:extLst>
            </p:cNvPr>
            <p:cNvCxnSpPr>
              <a:cxnSpLocks/>
            </p:cNvCxnSpPr>
            <p:nvPr/>
          </p:nvCxnSpPr>
          <p:spPr>
            <a:xfrm flipH="1">
              <a:off x="2321975" y="4329010"/>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903F0A35-49E1-EB71-8EFA-FA48DF997733}"/>
                </a:ext>
              </a:extLst>
            </p:cNvPr>
            <p:cNvCxnSpPr>
              <a:cxnSpLocks/>
            </p:cNvCxnSpPr>
            <p:nvPr/>
          </p:nvCxnSpPr>
          <p:spPr>
            <a:xfrm flipH="1">
              <a:off x="2681979" y="3429000"/>
              <a:ext cx="450005"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DEADD354-BF35-410B-8197-BA04403ABF1D}"/>
                </a:ext>
              </a:extLst>
            </p:cNvPr>
            <p:cNvCxnSpPr>
              <a:cxnSpLocks/>
            </p:cNvCxnSpPr>
            <p:nvPr/>
          </p:nvCxnSpPr>
          <p:spPr>
            <a:xfrm flipV="1">
              <a:off x="3131984" y="3429000"/>
              <a:ext cx="0" cy="36000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26E3A455-922F-158D-E7A8-E272ACD37628}"/>
                </a:ext>
              </a:extLst>
            </p:cNvPr>
            <p:cNvCxnSpPr>
              <a:cxnSpLocks/>
            </p:cNvCxnSpPr>
            <p:nvPr/>
          </p:nvCxnSpPr>
          <p:spPr>
            <a:xfrm flipH="1">
              <a:off x="3131984" y="3789004"/>
              <a:ext cx="270003" cy="0"/>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4B7961D-C6DC-11BC-6C9C-05D1587FD54E}"/>
                </a:ext>
              </a:extLst>
            </p:cNvPr>
            <p:cNvCxnSpPr>
              <a:cxnSpLocks/>
            </p:cNvCxnSpPr>
            <p:nvPr/>
          </p:nvCxnSpPr>
          <p:spPr>
            <a:xfrm>
              <a:off x="3581989" y="3789004"/>
              <a:ext cx="0" cy="449998"/>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2" name="円/楕円 68">
              <a:extLst>
                <a:ext uri="{FF2B5EF4-FFF2-40B4-BE49-F238E27FC236}">
                  <a16:creationId xmlns:a16="http://schemas.microsoft.com/office/drawing/2014/main" id="{192A22DE-0631-55A3-821A-53D8A18E12E4}"/>
                </a:ext>
              </a:extLst>
            </p:cNvPr>
            <p:cNvSpPr/>
            <p:nvPr/>
          </p:nvSpPr>
          <p:spPr>
            <a:xfrm rot="5400000">
              <a:off x="3539686" y="423902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3" name="直線コネクタ 42">
              <a:extLst>
                <a:ext uri="{FF2B5EF4-FFF2-40B4-BE49-F238E27FC236}">
                  <a16:creationId xmlns:a16="http://schemas.microsoft.com/office/drawing/2014/main" id="{B21B2AA4-A17E-646B-93D2-EB1B8F2CFEBC}"/>
                </a:ext>
              </a:extLst>
            </p:cNvPr>
            <p:cNvCxnSpPr>
              <a:cxnSpLocks/>
            </p:cNvCxnSpPr>
            <p:nvPr/>
          </p:nvCxnSpPr>
          <p:spPr>
            <a:xfrm>
              <a:off x="3401987" y="4329010"/>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60145D03-9A09-0592-7F9F-57E8A4AB77E3}"/>
                </a:ext>
              </a:extLst>
            </p:cNvPr>
            <p:cNvCxnSpPr>
              <a:cxnSpLocks/>
            </p:cNvCxnSpPr>
            <p:nvPr/>
          </p:nvCxnSpPr>
          <p:spPr>
            <a:xfrm>
              <a:off x="3581989" y="4329010"/>
              <a:ext cx="0" cy="35999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5" name="Rectangle 93">
              <a:extLst>
                <a:ext uri="{FF2B5EF4-FFF2-40B4-BE49-F238E27FC236}">
                  <a16:creationId xmlns:a16="http://schemas.microsoft.com/office/drawing/2014/main" id="{64ED6BAA-B2DC-B006-2CF5-F427AE68C791}"/>
                </a:ext>
              </a:extLst>
            </p:cNvPr>
            <p:cNvSpPr>
              <a:spLocks noChangeArrowheads="1"/>
            </p:cNvSpPr>
            <p:nvPr/>
          </p:nvSpPr>
          <p:spPr bwMode="auto">
            <a:xfrm>
              <a:off x="1961971" y="342900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46" name="Rectangle 93">
              <a:extLst>
                <a:ext uri="{FF2B5EF4-FFF2-40B4-BE49-F238E27FC236}">
                  <a16:creationId xmlns:a16="http://schemas.microsoft.com/office/drawing/2014/main" id="{2B091AC3-C58E-5F0B-6678-80E2A90C579C}"/>
                </a:ext>
              </a:extLst>
            </p:cNvPr>
            <p:cNvSpPr>
              <a:spLocks noChangeArrowheads="1"/>
            </p:cNvSpPr>
            <p:nvPr/>
          </p:nvSpPr>
          <p:spPr bwMode="auto">
            <a:xfrm>
              <a:off x="1961971"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47" name="Rectangle 93">
              <a:extLst>
                <a:ext uri="{FF2B5EF4-FFF2-40B4-BE49-F238E27FC236}">
                  <a16:creationId xmlns:a16="http://schemas.microsoft.com/office/drawing/2014/main" id="{112CC91A-34F9-7E48-AF8E-0D2172BE5F64}"/>
                </a:ext>
              </a:extLst>
            </p:cNvPr>
            <p:cNvSpPr>
              <a:spLocks noChangeArrowheads="1"/>
            </p:cNvSpPr>
            <p:nvPr/>
          </p:nvSpPr>
          <p:spPr bwMode="auto">
            <a:xfrm>
              <a:off x="3041983" y="459901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48" name="Rectangle 93">
              <a:extLst>
                <a:ext uri="{FF2B5EF4-FFF2-40B4-BE49-F238E27FC236}">
                  <a16:creationId xmlns:a16="http://schemas.microsoft.com/office/drawing/2014/main" id="{26845C06-8A17-FA3F-D9B9-DAE63D32D0B7}"/>
                </a:ext>
              </a:extLst>
            </p:cNvPr>
            <p:cNvSpPr>
              <a:spLocks noChangeArrowheads="1"/>
            </p:cNvSpPr>
            <p:nvPr/>
          </p:nvSpPr>
          <p:spPr bwMode="auto">
            <a:xfrm>
              <a:off x="3581989" y="4599013"/>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sp>
        <p:nvSpPr>
          <p:cNvPr id="51" name="円/楕円 69">
            <a:extLst>
              <a:ext uri="{FF2B5EF4-FFF2-40B4-BE49-F238E27FC236}">
                <a16:creationId xmlns:a16="http://schemas.microsoft.com/office/drawing/2014/main" id="{44A03D6B-529C-3026-F1CF-E464D6429147}"/>
              </a:ext>
            </a:extLst>
          </p:cNvPr>
          <p:cNvSpPr/>
          <p:nvPr/>
        </p:nvSpPr>
        <p:spPr>
          <a:xfrm rot="5400000">
            <a:off x="7762274" y="3789004"/>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2" name="直線コネクタ 51">
            <a:extLst>
              <a:ext uri="{FF2B5EF4-FFF2-40B4-BE49-F238E27FC236}">
                <a16:creationId xmlns:a16="http://schemas.microsoft.com/office/drawing/2014/main" id="{078BDBDD-B924-9083-A0E3-5D9F2B776B98}"/>
              </a:ext>
            </a:extLst>
          </p:cNvPr>
          <p:cNvCxnSpPr>
            <a:cxnSpLocks/>
          </p:cNvCxnSpPr>
          <p:nvPr/>
        </p:nvCxnSpPr>
        <p:spPr>
          <a:xfrm flipH="1">
            <a:off x="6726007" y="3609002"/>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3" name="グループ化 52">
            <a:extLst>
              <a:ext uri="{FF2B5EF4-FFF2-40B4-BE49-F238E27FC236}">
                <a16:creationId xmlns:a16="http://schemas.microsoft.com/office/drawing/2014/main" id="{FCCF0A3B-D29A-F06A-435B-661BE79E9F72}"/>
              </a:ext>
            </a:extLst>
          </p:cNvPr>
          <p:cNvGrpSpPr/>
          <p:nvPr/>
        </p:nvGrpSpPr>
        <p:grpSpPr>
          <a:xfrm>
            <a:off x="7086011" y="3609003"/>
            <a:ext cx="360004" cy="720007"/>
            <a:chOff x="3131985" y="5049018"/>
            <a:chExt cx="180002" cy="437056"/>
          </a:xfrm>
        </p:grpSpPr>
        <p:grpSp>
          <p:nvGrpSpPr>
            <p:cNvPr id="54" name="グループ化 53">
              <a:extLst>
                <a:ext uri="{FF2B5EF4-FFF2-40B4-BE49-F238E27FC236}">
                  <a16:creationId xmlns:a16="http://schemas.microsoft.com/office/drawing/2014/main" id="{3ADC44E4-B060-787F-27E2-24655E531BAA}"/>
                </a:ext>
              </a:extLst>
            </p:cNvPr>
            <p:cNvGrpSpPr/>
            <p:nvPr/>
          </p:nvGrpSpPr>
          <p:grpSpPr>
            <a:xfrm>
              <a:off x="3131985" y="5139021"/>
              <a:ext cx="180002" cy="254126"/>
              <a:chOff x="3131984" y="5191944"/>
              <a:chExt cx="270003" cy="201854"/>
            </a:xfrm>
          </p:grpSpPr>
          <p:sp>
            <p:nvSpPr>
              <p:cNvPr id="57" name="Freeform 42">
                <a:extLst>
                  <a:ext uri="{FF2B5EF4-FFF2-40B4-BE49-F238E27FC236}">
                    <a16:creationId xmlns:a16="http://schemas.microsoft.com/office/drawing/2014/main" id="{993EAB2D-3991-E251-FD0D-CC3AA35BB386}"/>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8" name="Freeform 42">
                <a:extLst>
                  <a:ext uri="{FF2B5EF4-FFF2-40B4-BE49-F238E27FC236}">
                    <a16:creationId xmlns:a16="http://schemas.microsoft.com/office/drawing/2014/main" id="{178E3D8F-57D5-F50E-8A21-73E2A9F45C0B}"/>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9" name="Freeform 42">
                <a:extLst>
                  <a:ext uri="{FF2B5EF4-FFF2-40B4-BE49-F238E27FC236}">
                    <a16:creationId xmlns:a16="http://schemas.microsoft.com/office/drawing/2014/main" id="{995B01CC-AAD1-B5CE-128D-1304A5A295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0" name="Freeform 42">
                <a:extLst>
                  <a:ext uri="{FF2B5EF4-FFF2-40B4-BE49-F238E27FC236}">
                    <a16:creationId xmlns:a16="http://schemas.microsoft.com/office/drawing/2014/main" id="{8E7128AD-760E-58EA-50BE-DD46F42C3EB2}"/>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5" name="直線コネクタ 54">
              <a:extLst>
                <a:ext uri="{FF2B5EF4-FFF2-40B4-BE49-F238E27FC236}">
                  <a16:creationId xmlns:a16="http://schemas.microsoft.com/office/drawing/2014/main" id="{FCD0EDDE-E51A-BA2D-7DA3-08A031FEF7A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7143977E-BE7A-5F45-7AAB-8BFF032289F4}"/>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61" name="直線コネクタ 60">
            <a:extLst>
              <a:ext uri="{FF2B5EF4-FFF2-40B4-BE49-F238E27FC236}">
                <a16:creationId xmlns:a16="http://schemas.microsoft.com/office/drawing/2014/main" id="{FC364584-97D0-00E1-33D6-4565068B5A81}"/>
              </a:ext>
            </a:extLst>
          </p:cNvPr>
          <p:cNvCxnSpPr>
            <a:cxnSpLocks/>
          </p:cNvCxnSpPr>
          <p:nvPr/>
        </p:nvCxnSpPr>
        <p:spPr>
          <a:xfrm flipH="1">
            <a:off x="6726007" y="4329010"/>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5" name="直線コネクタ 64">
            <a:extLst>
              <a:ext uri="{FF2B5EF4-FFF2-40B4-BE49-F238E27FC236}">
                <a16:creationId xmlns:a16="http://schemas.microsoft.com/office/drawing/2014/main" id="{DF989311-FADC-CC89-161C-557AD46F5706}"/>
              </a:ext>
            </a:extLst>
          </p:cNvPr>
          <p:cNvCxnSpPr>
            <a:cxnSpLocks/>
            <a:endCxn id="66" idx="4"/>
          </p:cNvCxnSpPr>
          <p:nvPr/>
        </p:nvCxnSpPr>
        <p:spPr>
          <a:xfrm>
            <a:off x="7626017" y="3789005"/>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6" name="円/楕円 68">
            <a:extLst>
              <a:ext uri="{FF2B5EF4-FFF2-40B4-BE49-F238E27FC236}">
                <a16:creationId xmlns:a16="http://schemas.microsoft.com/office/drawing/2014/main" id="{C59871AD-7D1C-E1A9-8357-CCC6F06C31E0}"/>
              </a:ext>
            </a:extLst>
          </p:cNvPr>
          <p:cNvSpPr/>
          <p:nvPr/>
        </p:nvSpPr>
        <p:spPr>
          <a:xfrm rot="5400000">
            <a:off x="7759740" y="4059018"/>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67" name="直線コネクタ 66">
            <a:extLst>
              <a:ext uri="{FF2B5EF4-FFF2-40B4-BE49-F238E27FC236}">
                <a16:creationId xmlns:a16="http://schemas.microsoft.com/office/drawing/2014/main" id="{D0F924DA-5AB2-4B05-BE08-83CAAD6562EC}"/>
              </a:ext>
            </a:extLst>
          </p:cNvPr>
          <p:cNvCxnSpPr>
            <a:cxnSpLocks/>
            <a:endCxn id="51" idx="2"/>
          </p:cNvCxnSpPr>
          <p:nvPr/>
        </p:nvCxnSpPr>
        <p:spPr>
          <a:xfrm>
            <a:off x="7806020" y="360900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6EF6593-E6E9-479B-0791-62DDF648A986}"/>
              </a:ext>
            </a:extLst>
          </p:cNvPr>
          <p:cNvCxnSpPr>
            <a:cxnSpLocks/>
          </p:cNvCxnSpPr>
          <p:nvPr/>
        </p:nvCxnSpPr>
        <p:spPr>
          <a:xfrm>
            <a:off x="7806019" y="4149008"/>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Rectangle 93">
            <a:extLst>
              <a:ext uri="{FF2B5EF4-FFF2-40B4-BE49-F238E27FC236}">
                <a16:creationId xmlns:a16="http://schemas.microsoft.com/office/drawing/2014/main" id="{2BD80BB5-2AED-8002-6E47-9CD0C473F7A0}"/>
              </a:ext>
            </a:extLst>
          </p:cNvPr>
          <p:cNvSpPr>
            <a:spLocks noChangeArrowheads="1"/>
          </p:cNvSpPr>
          <p:nvPr/>
        </p:nvSpPr>
        <p:spPr bwMode="auto">
          <a:xfrm>
            <a:off x="6366004" y="342900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70" name="Rectangle 93">
            <a:extLst>
              <a:ext uri="{FF2B5EF4-FFF2-40B4-BE49-F238E27FC236}">
                <a16:creationId xmlns:a16="http://schemas.microsoft.com/office/drawing/2014/main" id="{8B2B2287-A896-D27C-35C9-EF97A6EEC2E7}"/>
              </a:ext>
            </a:extLst>
          </p:cNvPr>
          <p:cNvSpPr>
            <a:spLocks noChangeArrowheads="1"/>
          </p:cNvSpPr>
          <p:nvPr/>
        </p:nvSpPr>
        <p:spPr bwMode="auto">
          <a:xfrm>
            <a:off x="6366004"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71" name="Rectangle 93">
            <a:extLst>
              <a:ext uri="{FF2B5EF4-FFF2-40B4-BE49-F238E27FC236}">
                <a16:creationId xmlns:a16="http://schemas.microsoft.com/office/drawing/2014/main" id="{4C234E91-6B09-FFF3-C071-5B65DD98D8CB}"/>
              </a:ext>
            </a:extLst>
          </p:cNvPr>
          <p:cNvSpPr>
            <a:spLocks noChangeArrowheads="1"/>
          </p:cNvSpPr>
          <p:nvPr/>
        </p:nvSpPr>
        <p:spPr bwMode="auto">
          <a:xfrm>
            <a:off x="8346026" y="342900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72" name="Rectangle 93">
            <a:extLst>
              <a:ext uri="{FF2B5EF4-FFF2-40B4-BE49-F238E27FC236}">
                <a16:creationId xmlns:a16="http://schemas.microsoft.com/office/drawing/2014/main" id="{CCFA00C2-F81D-B699-BFD6-CB8205A6DDBE}"/>
              </a:ext>
            </a:extLst>
          </p:cNvPr>
          <p:cNvSpPr>
            <a:spLocks noChangeArrowheads="1"/>
          </p:cNvSpPr>
          <p:nvPr/>
        </p:nvSpPr>
        <p:spPr bwMode="auto">
          <a:xfrm>
            <a:off x="8346026"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76" name="直線コネクタ 75">
            <a:extLst>
              <a:ext uri="{FF2B5EF4-FFF2-40B4-BE49-F238E27FC236}">
                <a16:creationId xmlns:a16="http://schemas.microsoft.com/office/drawing/2014/main" id="{E46E2DDF-B62E-9EF6-C8DD-21879CD730F1}"/>
              </a:ext>
            </a:extLst>
          </p:cNvPr>
          <p:cNvCxnSpPr>
            <a:cxnSpLocks/>
          </p:cNvCxnSpPr>
          <p:nvPr/>
        </p:nvCxnSpPr>
        <p:spPr>
          <a:xfrm flipH="1">
            <a:off x="7806019" y="4329010"/>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E384694F-A7AA-ACDD-6F8E-6053C5543852}"/>
              </a:ext>
            </a:extLst>
          </p:cNvPr>
          <p:cNvCxnSpPr>
            <a:cxnSpLocks/>
          </p:cNvCxnSpPr>
          <p:nvPr/>
        </p:nvCxnSpPr>
        <p:spPr>
          <a:xfrm flipH="1">
            <a:off x="7806019" y="3609002"/>
            <a:ext cx="54000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58408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DA865E-CDA2-7D5F-6EAD-24FA2846D94C}"/>
              </a:ext>
            </a:extLst>
          </p:cNvPr>
          <p:cNvSpPr>
            <a:spLocks noGrp="1"/>
          </p:cNvSpPr>
          <p:nvPr>
            <p:ph type="title"/>
          </p:nvPr>
        </p:nvSpPr>
        <p:spPr/>
        <p:txBody>
          <a:bodyPr/>
          <a:lstStyle/>
          <a:p>
            <a:r>
              <a:rPr kumimoji="1" lang="en-US" altLang="ja-JP" dirty="0"/>
              <a:t>VDD </a:t>
            </a:r>
            <a:r>
              <a:rPr kumimoji="1" lang="ja-JP" altLang="en-US" dirty="0"/>
              <a:t>と </a:t>
            </a:r>
            <a:r>
              <a:rPr kumimoji="1" lang="en-US" altLang="ja-JP" dirty="0"/>
              <a:t>GND</a:t>
            </a:r>
            <a:endParaRPr kumimoji="1" lang="en-US" dirty="0"/>
          </a:p>
        </p:txBody>
      </p:sp>
      <p:sp>
        <p:nvSpPr>
          <p:cNvPr id="3" name="コンテンツ プレースホルダー 2">
            <a:extLst>
              <a:ext uri="{FF2B5EF4-FFF2-40B4-BE49-F238E27FC236}">
                <a16:creationId xmlns:a16="http://schemas.microsoft.com/office/drawing/2014/main" id="{18FFA833-26C6-12D0-2AEF-E0870502C9B0}"/>
              </a:ext>
            </a:extLst>
          </p:cNvPr>
          <p:cNvSpPr>
            <a:spLocks noGrp="1"/>
          </p:cNvSpPr>
          <p:nvPr>
            <p:ph type="body" sz="quarter" idx="10"/>
          </p:nvPr>
        </p:nvSpPr>
        <p:spPr>
          <a:xfrm>
            <a:off x="2135956" y="1088974"/>
            <a:ext cx="8280092" cy="2700030"/>
          </a:xfrm>
        </p:spPr>
        <p:txBody>
          <a:bodyPr anchor="t"/>
          <a:lstStyle/>
          <a:p>
            <a:r>
              <a:rPr kumimoji="1" lang="ja-JP" altLang="en-US" dirty="0"/>
              <a:t>以下の２端子を定義</a:t>
            </a:r>
            <a:endParaRPr kumimoji="1" lang="en-US" altLang="ja-JP" dirty="0"/>
          </a:p>
          <a:p>
            <a:pPr lvl="1"/>
            <a:r>
              <a:rPr kumimoji="1" lang="en-US" altLang="ja-JP" dirty="0"/>
              <a:t>VDD</a:t>
            </a:r>
            <a:r>
              <a:rPr kumimoji="1" lang="ja-JP" altLang="en-US" dirty="0"/>
              <a:t>：高電位</a:t>
            </a:r>
            <a:endParaRPr kumimoji="1" lang="en-US" altLang="ja-JP" dirty="0"/>
          </a:p>
          <a:p>
            <a:pPr lvl="1"/>
            <a:r>
              <a:rPr kumimoji="1" lang="en-US" altLang="ja-JP" dirty="0"/>
              <a:t>GND</a:t>
            </a:r>
            <a:r>
              <a:rPr kumimoji="1" lang="ja-JP" altLang="en-US" dirty="0"/>
              <a:t>（</a:t>
            </a:r>
            <a:r>
              <a:rPr kumimoji="1" lang="en-US" altLang="ja-JP" dirty="0"/>
              <a:t>Ground=</a:t>
            </a:r>
            <a:r>
              <a:rPr kumimoji="1" lang="ja-JP" altLang="en-US" dirty="0"/>
              <a:t>地面）：低電位</a:t>
            </a:r>
            <a:endParaRPr kumimoji="1" lang="en-US" altLang="ja-JP" dirty="0"/>
          </a:p>
          <a:p>
            <a:r>
              <a:rPr lang="ja-JP" altLang="en-US" dirty="0"/>
              <a:t>記号の描き方</a:t>
            </a:r>
            <a:endParaRPr lang="en-US" altLang="ja-JP" dirty="0"/>
          </a:p>
          <a:p>
            <a:pPr lvl="1"/>
            <a:r>
              <a:rPr lang="ja-JP" altLang="en-US" dirty="0"/>
              <a:t>基本的に絵の上側に </a:t>
            </a:r>
            <a:r>
              <a:rPr lang="en-US" altLang="ja-JP" dirty="0"/>
              <a:t>VDD</a:t>
            </a:r>
            <a:r>
              <a:rPr lang="ja-JP" altLang="en-US" dirty="0"/>
              <a:t>，下側に </a:t>
            </a:r>
            <a:r>
              <a:rPr lang="en-US" altLang="ja-JP" dirty="0"/>
              <a:t>GND </a:t>
            </a:r>
            <a:r>
              <a:rPr lang="ja-JP" altLang="en-US" dirty="0"/>
              <a:t>を描く</a:t>
            </a:r>
            <a:endParaRPr lang="en-US" altLang="ja-JP" dirty="0"/>
          </a:p>
          <a:p>
            <a:pPr lvl="1"/>
            <a:r>
              <a:rPr lang="en-US" altLang="ja-JP" dirty="0"/>
              <a:t>VDD </a:t>
            </a:r>
            <a:r>
              <a:rPr lang="ja-JP" altLang="en-US" dirty="0"/>
              <a:t>と </a:t>
            </a:r>
            <a:r>
              <a:rPr lang="en-US" altLang="ja-JP" dirty="0"/>
              <a:t>GND </a:t>
            </a:r>
            <a:r>
              <a:rPr lang="ja-JP" altLang="en-US" dirty="0"/>
              <a:t>があったら，図内に描かれていない世界のどこかで以下のように電源に繋がっていると考える</a:t>
            </a:r>
            <a:endParaRPr lang="en-US" altLang="ja-JP" dirty="0"/>
          </a:p>
        </p:txBody>
      </p:sp>
      <p:grpSp>
        <p:nvGrpSpPr>
          <p:cNvPr id="4" name="グループ化 152">
            <a:extLst>
              <a:ext uri="{FF2B5EF4-FFF2-40B4-BE49-F238E27FC236}">
                <a16:creationId xmlns:a16="http://schemas.microsoft.com/office/drawing/2014/main" id="{5EF0520D-8706-0182-A9B0-2F104A598766}"/>
              </a:ext>
            </a:extLst>
          </p:cNvPr>
          <p:cNvGrpSpPr/>
          <p:nvPr/>
        </p:nvGrpSpPr>
        <p:grpSpPr>
          <a:xfrm>
            <a:off x="6005999" y="6309033"/>
            <a:ext cx="180002" cy="90001"/>
            <a:chOff x="3643306" y="4500570"/>
            <a:chExt cx="428628" cy="144464"/>
          </a:xfrm>
        </p:grpSpPr>
        <p:cxnSp>
          <p:nvCxnSpPr>
            <p:cNvPr id="5" name="直線コネクタ 4">
              <a:extLst>
                <a:ext uri="{FF2B5EF4-FFF2-40B4-BE49-F238E27FC236}">
                  <a16:creationId xmlns:a16="http://schemas.microsoft.com/office/drawing/2014/main" id="{469D18ED-BC0F-480E-8690-0852A0C97486}"/>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 name="直線コネクタ 5">
              <a:extLst>
                <a:ext uri="{FF2B5EF4-FFF2-40B4-BE49-F238E27FC236}">
                  <a16:creationId xmlns:a16="http://schemas.microsoft.com/office/drawing/2014/main" id="{531EEC64-CF30-4AF8-3BBC-850A2D6683CB}"/>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 name="直線コネクタ 6">
              <a:extLst>
                <a:ext uri="{FF2B5EF4-FFF2-40B4-BE49-F238E27FC236}">
                  <a16:creationId xmlns:a16="http://schemas.microsoft.com/office/drawing/2014/main" id="{7F3FA5A7-36AA-4066-6641-35694E3A496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8" name="Rectangle 93">
            <a:extLst>
              <a:ext uri="{FF2B5EF4-FFF2-40B4-BE49-F238E27FC236}">
                <a16:creationId xmlns:a16="http://schemas.microsoft.com/office/drawing/2014/main" id="{039936F9-E3A9-24AB-64F6-5C7C20BC84FB}"/>
              </a:ext>
            </a:extLst>
          </p:cNvPr>
          <p:cNvSpPr>
            <a:spLocks noChangeArrowheads="1"/>
          </p:cNvSpPr>
          <p:nvPr/>
        </p:nvSpPr>
        <p:spPr bwMode="auto">
          <a:xfrm>
            <a:off x="5825998" y="6399033"/>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9" name="Rectangle 93">
            <a:extLst>
              <a:ext uri="{FF2B5EF4-FFF2-40B4-BE49-F238E27FC236}">
                <a16:creationId xmlns:a16="http://schemas.microsoft.com/office/drawing/2014/main" id="{E00D0A4B-D5D2-5EFF-DB6B-47B6E176415F}"/>
              </a:ext>
            </a:extLst>
          </p:cNvPr>
          <p:cNvSpPr>
            <a:spLocks noChangeArrowheads="1"/>
          </p:cNvSpPr>
          <p:nvPr/>
        </p:nvSpPr>
        <p:spPr bwMode="auto">
          <a:xfrm>
            <a:off x="5825998" y="450865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cxnSp>
        <p:nvCxnSpPr>
          <p:cNvPr id="10" name="直線コネクタ 9">
            <a:extLst>
              <a:ext uri="{FF2B5EF4-FFF2-40B4-BE49-F238E27FC236}">
                <a16:creationId xmlns:a16="http://schemas.microsoft.com/office/drawing/2014/main" id="{F68ED680-6001-8DAB-FA70-BFC691A74E3D}"/>
              </a:ext>
            </a:extLst>
          </p:cNvPr>
          <p:cNvCxnSpPr/>
          <p:nvPr/>
        </p:nvCxnSpPr>
        <p:spPr>
          <a:xfrm>
            <a:off x="5915998" y="486865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F1162058-13D7-D683-5B79-914CF4918812}"/>
              </a:ext>
            </a:extLst>
          </p:cNvPr>
          <p:cNvCxnSpPr>
            <a:cxnSpLocks/>
          </p:cNvCxnSpPr>
          <p:nvPr/>
        </p:nvCxnSpPr>
        <p:spPr>
          <a:xfrm flipV="1">
            <a:off x="6096000" y="4869016"/>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7D5E9C4F-8D4E-8619-2CD1-A2C6BDE425E8}"/>
              </a:ext>
            </a:extLst>
          </p:cNvPr>
          <p:cNvCxnSpPr>
            <a:cxnSpLocks/>
          </p:cNvCxnSpPr>
          <p:nvPr/>
        </p:nvCxnSpPr>
        <p:spPr>
          <a:xfrm>
            <a:off x="5915998" y="5589024"/>
            <a:ext cx="360004" cy="0"/>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7A2254C8-EADF-B805-2032-A126A18745D5}"/>
              </a:ext>
            </a:extLst>
          </p:cNvPr>
          <p:cNvCxnSpPr>
            <a:cxnSpLocks/>
          </p:cNvCxnSpPr>
          <p:nvPr/>
        </p:nvCxnSpPr>
        <p:spPr>
          <a:xfrm>
            <a:off x="6005999" y="5679025"/>
            <a:ext cx="180002" cy="0"/>
          </a:xfrm>
          <a:prstGeom prst="line">
            <a:avLst/>
          </a:prstGeom>
          <a:ln w="254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01FEA311-632F-59DC-BFA3-B2C0138588FC}"/>
              </a:ext>
            </a:extLst>
          </p:cNvPr>
          <p:cNvCxnSpPr>
            <a:cxnSpLocks/>
          </p:cNvCxnSpPr>
          <p:nvPr/>
        </p:nvCxnSpPr>
        <p:spPr>
          <a:xfrm flipV="1">
            <a:off x="6096000" y="5679026"/>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1" name="Rectangle 93">
            <a:extLst>
              <a:ext uri="{FF2B5EF4-FFF2-40B4-BE49-F238E27FC236}">
                <a16:creationId xmlns:a16="http://schemas.microsoft.com/office/drawing/2014/main" id="{61465843-61BD-B32C-8CAC-E6B43C5D56F4}"/>
              </a:ext>
            </a:extLst>
          </p:cNvPr>
          <p:cNvSpPr>
            <a:spLocks noChangeArrowheads="1"/>
          </p:cNvSpPr>
          <p:nvPr/>
        </p:nvSpPr>
        <p:spPr bwMode="auto">
          <a:xfrm>
            <a:off x="6276003" y="5409022"/>
            <a:ext cx="270003"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mj-lt"/>
              </a:rPr>
              <a:t>電源</a:t>
            </a:r>
            <a:endParaRPr lang="en-US" altLang="ja-JP" dirty="0"/>
          </a:p>
        </p:txBody>
      </p:sp>
    </p:spTree>
    <p:extLst>
      <p:ext uri="{BB962C8B-B14F-4D97-AF65-F5344CB8AC3E}">
        <p14:creationId xmlns:p14="http://schemas.microsoft.com/office/powerpoint/2010/main" val="20041010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4F360-D537-1CFF-3E7B-6355572A4AFB}"/>
              </a:ext>
            </a:extLst>
          </p:cNvPr>
          <p:cNvSpPr>
            <a:spLocks noGrp="1"/>
          </p:cNvSpPr>
          <p:nvPr>
            <p:ph type="title"/>
          </p:nvPr>
        </p:nvSpPr>
        <p:spPr/>
        <p:txBody>
          <a:bodyPr/>
          <a:lstStyle/>
          <a:p>
            <a:r>
              <a:rPr kumimoji="1" lang="ja-JP" altLang="en-US" dirty="0"/>
              <a:t>電位と数値表現</a:t>
            </a:r>
            <a:endParaRPr kumimoji="1" lang="en-US" dirty="0"/>
          </a:p>
        </p:txBody>
      </p:sp>
      <p:sp>
        <p:nvSpPr>
          <p:cNvPr id="3" name="コンテンツ プレースホルダー 2">
            <a:extLst>
              <a:ext uri="{FF2B5EF4-FFF2-40B4-BE49-F238E27FC236}">
                <a16:creationId xmlns:a16="http://schemas.microsoft.com/office/drawing/2014/main" id="{064E000C-B747-BD03-CD8E-D9719072C836}"/>
              </a:ext>
            </a:extLst>
          </p:cNvPr>
          <p:cNvSpPr>
            <a:spLocks noGrp="1"/>
          </p:cNvSpPr>
          <p:nvPr>
            <p:ph type="body" sz="quarter" idx="10"/>
          </p:nvPr>
        </p:nvSpPr>
        <p:spPr>
          <a:xfrm>
            <a:off x="2135956" y="1088975"/>
            <a:ext cx="8280092" cy="2610029"/>
          </a:xfrm>
        </p:spPr>
        <p:txBody>
          <a:bodyPr/>
          <a:lstStyle/>
          <a:p>
            <a:r>
              <a:rPr kumimoji="1" lang="ja-JP" altLang="en-US" dirty="0">
                <a:solidFill>
                  <a:schemeClr val="accent5"/>
                </a:solidFill>
              </a:rPr>
              <a:t>高電位を１，低電位を０，解放を </a:t>
            </a:r>
            <a:r>
              <a:rPr kumimoji="1" lang="en-US" altLang="ja-JP" dirty="0">
                <a:solidFill>
                  <a:schemeClr val="accent5"/>
                </a:solidFill>
              </a:rPr>
              <a:t>Z </a:t>
            </a:r>
            <a:r>
              <a:rPr kumimoji="1" lang="ja-JP" altLang="en-US" dirty="0">
                <a:solidFill>
                  <a:schemeClr val="accent5"/>
                </a:solidFill>
              </a:rPr>
              <a:t>と定義する</a:t>
            </a:r>
            <a:endParaRPr kumimoji="1" lang="en-US" altLang="ja-JP" dirty="0">
              <a:solidFill>
                <a:schemeClr val="accent5"/>
              </a:solidFill>
            </a:endParaRPr>
          </a:p>
          <a:p>
            <a:r>
              <a:rPr kumimoji="1" lang="ja-JP" altLang="en-US" dirty="0"/>
              <a:t>以下のように読み替えてもよい</a:t>
            </a:r>
            <a:endParaRPr kumimoji="1" lang="en-US" altLang="ja-JP" dirty="0"/>
          </a:p>
          <a:p>
            <a:pPr lvl="1"/>
            <a:r>
              <a:rPr kumimoji="1" lang="en-US" altLang="ja-JP" dirty="0"/>
              <a:t>VDD </a:t>
            </a:r>
            <a:r>
              <a:rPr kumimoji="1" lang="ja-JP" altLang="en-US" dirty="0"/>
              <a:t>に直結している信号線の電位（</a:t>
            </a:r>
            <a:r>
              <a:rPr kumimoji="1" lang="en-US" altLang="ja-JP" dirty="0"/>
              <a:t>=</a:t>
            </a:r>
            <a:r>
              <a:rPr kumimoji="1" lang="ja-JP" altLang="en-US" dirty="0"/>
              <a:t>状態）は１</a:t>
            </a:r>
            <a:endParaRPr kumimoji="1" lang="en-US" altLang="ja-JP" dirty="0"/>
          </a:p>
          <a:p>
            <a:pPr lvl="1"/>
            <a:r>
              <a:rPr kumimoji="1" lang="en-US" altLang="ja-JP" dirty="0"/>
              <a:t>GND </a:t>
            </a:r>
            <a:r>
              <a:rPr kumimoji="1" lang="ja-JP" altLang="en-US" dirty="0"/>
              <a:t>に直結している信号線の電位（</a:t>
            </a:r>
            <a:r>
              <a:rPr kumimoji="1" lang="en-US" altLang="ja-JP" dirty="0"/>
              <a:t>=</a:t>
            </a:r>
            <a:r>
              <a:rPr kumimoji="1" lang="ja-JP" altLang="en-US" dirty="0"/>
              <a:t>状態）は０</a:t>
            </a:r>
            <a:endParaRPr kumimoji="1" lang="en-US" altLang="ja-JP" dirty="0"/>
          </a:p>
          <a:p>
            <a:pPr lvl="1"/>
            <a:r>
              <a:rPr kumimoji="1" lang="ja-JP" altLang="en-US" dirty="0"/>
              <a:t>どこにも繋がっていない信号線の電位（</a:t>
            </a:r>
            <a:r>
              <a:rPr kumimoji="1" lang="en-US" altLang="ja-JP" dirty="0"/>
              <a:t>=</a:t>
            </a:r>
            <a:r>
              <a:rPr kumimoji="1" lang="ja-JP" altLang="en-US" dirty="0"/>
              <a:t>状態）は </a:t>
            </a:r>
            <a:r>
              <a:rPr kumimoji="1" lang="en-US" altLang="ja-JP" dirty="0"/>
              <a:t>Z</a:t>
            </a:r>
            <a:endParaRPr kumimoji="1" lang="en-US" dirty="0"/>
          </a:p>
        </p:txBody>
      </p:sp>
      <p:grpSp>
        <p:nvGrpSpPr>
          <p:cNvPr id="24" name="グループ化 23">
            <a:extLst>
              <a:ext uri="{FF2B5EF4-FFF2-40B4-BE49-F238E27FC236}">
                <a16:creationId xmlns:a16="http://schemas.microsoft.com/office/drawing/2014/main" id="{54D13DA5-13BC-F58C-7FD6-000CDEB1C3FF}"/>
              </a:ext>
            </a:extLst>
          </p:cNvPr>
          <p:cNvGrpSpPr/>
          <p:nvPr/>
        </p:nvGrpSpPr>
        <p:grpSpPr>
          <a:xfrm rot="5400000">
            <a:off x="3169695" y="4687736"/>
            <a:ext cx="92524" cy="360026"/>
            <a:chOff x="5245740" y="2168975"/>
            <a:chExt cx="92524" cy="360026"/>
          </a:xfrm>
        </p:grpSpPr>
        <p:sp>
          <p:nvSpPr>
            <p:cNvPr id="17" name="円/楕円 69">
              <a:extLst>
                <a:ext uri="{FF2B5EF4-FFF2-40B4-BE49-F238E27FC236}">
                  <a16:creationId xmlns:a16="http://schemas.microsoft.com/office/drawing/2014/main" id="{6B755A0C-16EE-4040-9A06-7C4E3200A2BE}"/>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 name="直線コネクタ 17">
              <a:extLst>
                <a:ext uri="{FF2B5EF4-FFF2-40B4-BE49-F238E27FC236}">
                  <a16:creationId xmlns:a16="http://schemas.microsoft.com/office/drawing/2014/main" id="{7CD9212D-A84A-6DFC-B54B-DF5A6DD9AC60}"/>
                </a:ext>
              </a:extLst>
            </p:cNvPr>
            <p:cNvCxnSpPr>
              <a:cxnSpLocks/>
              <a:endCxn id="19"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円/楕円 68">
              <a:extLst>
                <a:ext uri="{FF2B5EF4-FFF2-40B4-BE49-F238E27FC236}">
                  <a16:creationId xmlns:a16="http://schemas.microsoft.com/office/drawing/2014/main" id="{EF68B45E-E172-EFDD-9ECA-24826DD1936E}"/>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0" name="直線コネクタ 19">
            <a:extLst>
              <a:ext uri="{FF2B5EF4-FFF2-40B4-BE49-F238E27FC236}">
                <a16:creationId xmlns:a16="http://schemas.microsoft.com/office/drawing/2014/main" id="{EE877B36-4E88-18F8-3107-B2AA41220F1A}"/>
              </a:ext>
            </a:extLst>
          </p:cNvPr>
          <p:cNvCxnSpPr>
            <a:cxnSpLocks/>
            <a:endCxn id="17" idx="2"/>
          </p:cNvCxnSpPr>
          <p:nvPr/>
        </p:nvCxnSpPr>
        <p:spPr>
          <a:xfrm flipH="1">
            <a:off x="3395970" y="4869016"/>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0FB45F43-CEC4-8E1A-2867-3AB150DB17F1}"/>
              </a:ext>
            </a:extLst>
          </p:cNvPr>
          <p:cNvCxnSpPr>
            <a:cxnSpLocks/>
          </p:cNvCxnSpPr>
          <p:nvPr/>
        </p:nvCxnSpPr>
        <p:spPr>
          <a:xfrm flipH="1">
            <a:off x="2315936" y="4867755"/>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C1D85C55-DAB3-9065-8260-80E2EB569AF6}"/>
              </a:ext>
            </a:extLst>
          </p:cNvPr>
          <p:cNvCxnSpPr>
            <a:cxnSpLocks/>
          </p:cNvCxnSpPr>
          <p:nvPr/>
        </p:nvCxnSpPr>
        <p:spPr>
          <a:xfrm flipV="1">
            <a:off x="2315936" y="4148105"/>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1" name="グループ化 30">
            <a:extLst>
              <a:ext uri="{FF2B5EF4-FFF2-40B4-BE49-F238E27FC236}">
                <a16:creationId xmlns:a16="http://schemas.microsoft.com/office/drawing/2014/main" id="{ADBD852F-82F4-9498-787E-50EA5EAF4374}"/>
              </a:ext>
            </a:extLst>
          </p:cNvPr>
          <p:cNvGrpSpPr/>
          <p:nvPr/>
        </p:nvGrpSpPr>
        <p:grpSpPr>
          <a:xfrm>
            <a:off x="2045934" y="3787743"/>
            <a:ext cx="450049" cy="360362"/>
            <a:chOff x="1061961" y="2348988"/>
            <a:chExt cx="450049" cy="360362"/>
          </a:xfrm>
        </p:grpSpPr>
        <p:sp>
          <p:nvSpPr>
            <p:cNvPr id="28" name="Rectangle 93">
              <a:extLst>
                <a:ext uri="{FF2B5EF4-FFF2-40B4-BE49-F238E27FC236}">
                  <a16:creationId xmlns:a16="http://schemas.microsoft.com/office/drawing/2014/main" id="{FA683A53-187D-92BD-6A48-0ADE48BD9F90}"/>
                </a:ext>
              </a:extLst>
            </p:cNvPr>
            <p:cNvSpPr>
              <a:spLocks noChangeArrowheads="1"/>
            </p:cNvSpPr>
            <p:nvPr/>
          </p:nvSpPr>
          <p:spPr bwMode="auto">
            <a:xfrm>
              <a:off x="1061961" y="2348988"/>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cxnSp>
          <p:nvCxnSpPr>
            <p:cNvPr id="30" name="直線コネクタ 29">
              <a:extLst>
                <a:ext uri="{FF2B5EF4-FFF2-40B4-BE49-F238E27FC236}">
                  <a16:creationId xmlns:a16="http://schemas.microsoft.com/office/drawing/2014/main" id="{0AD42A1B-12B0-6C1D-86EC-9B404DC55880}"/>
                </a:ext>
              </a:extLst>
            </p:cNvPr>
            <p:cNvCxnSpPr/>
            <p:nvPr/>
          </p:nvCxnSpPr>
          <p:spPr>
            <a:xfrm>
              <a:off x="1151962" y="2708992"/>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7" name="Rectangle 93">
            <a:extLst>
              <a:ext uri="{FF2B5EF4-FFF2-40B4-BE49-F238E27FC236}">
                <a16:creationId xmlns:a16="http://schemas.microsoft.com/office/drawing/2014/main" id="{17E25869-6DA8-A1AB-FD41-869277D61E35}"/>
              </a:ext>
            </a:extLst>
          </p:cNvPr>
          <p:cNvSpPr>
            <a:spLocks noChangeArrowheads="1"/>
          </p:cNvSpPr>
          <p:nvPr/>
        </p:nvSpPr>
        <p:spPr bwMode="auto">
          <a:xfrm>
            <a:off x="3935955" y="4507751"/>
            <a:ext cx="270003" cy="360362"/>
          </a:xfrm>
          <a:prstGeom prst="rect">
            <a:avLst/>
          </a:prstGeom>
          <a:noFill/>
          <a:ln w="12700" algn="ctr">
            <a:noFill/>
            <a:miter lim="800000"/>
            <a:headEnd/>
            <a:tailEnd/>
          </a:ln>
          <a:effectLst/>
        </p:spPr>
        <p:txBody>
          <a:bodyPr wrap="none" lIns="90000" tIns="46800" rIns="90000" bIns="46800" anchor="ctr"/>
          <a:lstStyle/>
          <a:p>
            <a:r>
              <a:rPr lang="en-US" altLang="ja-JP" b="1" dirty="0">
                <a:solidFill>
                  <a:schemeClr val="accent5"/>
                </a:solidFill>
              </a:rPr>
              <a:t>1</a:t>
            </a:r>
          </a:p>
        </p:txBody>
      </p:sp>
      <p:grpSp>
        <p:nvGrpSpPr>
          <p:cNvPr id="38" name="グループ化 37">
            <a:extLst>
              <a:ext uri="{FF2B5EF4-FFF2-40B4-BE49-F238E27FC236}">
                <a16:creationId xmlns:a16="http://schemas.microsoft.com/office/drawing/2014/main" id="{415CD540-D10A-629E-4FCE-68AA1CB55DA7}"/>
              </a:ext>
            </a:extLst>
          </p:cNvPr>
          <p:cNvGrpSpPr/>
          <p:nvPr/>
        </p:nvGrpSpPr>
        <p:grpSpPr>
          <a:xfrm rot="5400000">
            <a:off x="6049727" y="4687736"/>
            <a:ext cx="92524" cy="360026"/>
            <a:chOff x="5245740" y="2168975"/>
            <a:chExt cx="92524" cy="360026"/>
          </a:xfrm>
        </p:grpSpPr>
        <p:sp>
          <p:nvSpPr>
            <p:cNvPr id="39" name="円/楕円 69">
              <a:extLst>
                <a:ext uri="{FF2B5EF4-FFF2-40B4-BE49-F238E27FC236}">
                  <a16:creationId xmlns:a16="http://schemas.microsoft.com/office/drawing/2014/main" id="{0308F3CF-3CA6-08E1-0F62-C81BB28A7754}"/>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0" name="直線コネクタ 39">
              <a:extLst>
                <a:ext uri="{FF2B5EF4-FFF2-40B4-BE49-F238E27FC236}">
                  <a16:creationId xmlns:a16="http://schemas.microsoft.com/office/drawing/2014/main" id="{7BE3CD74-0936-89BA-9D2F-D05F30DCDEF0}"/>
                </a:ext>
              </a:extLst>
            </p:cNvPr>
            <p:cNvCxnSpPr>
              <a:cxnSpLocks/>
              <a:endCxn id="41"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1" name="円/楕円 68">
              <a:extLst>
                <a:ext uri="{FF2B5EF4-FFF2-40B4-BE49-F238E27FC236}">
                  <a16:creationId xmlns:a16="http://schemas.microsoft.com/office/drawing/2014/main" id="{1AA4E43D-1F34-736F-4749-7DE747C10451}"/>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42" name="直線コネクタ 41">
            <a:extLst>
              <a:ext uri="{FF2B5EF4-FFF2-40B4-BE49-F238E27FC236}">
                <a16:creationId xmlns:a16="http://schemas.microsoft.com/office/drawing/2014/main" id="{8F965F50-3EE7-4019-5D9D-664F1AB83DD1}"/>
              </a:ext>
            </a:extLst>
          </p:cNvPr>
          <p:cNvCxnSpPr>
            <a:cxnSpLocks/>
            <a:endCxn id="39" idx="2"/>
          </p:cNvCxnSpPr>
          <p:nvPr/>
        </p:nvCxnSpPr>
        <p:spPr>
          <a:xfrm flipH="1">
            <a:off x="6276002" y="4869016"/>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67DB26CF-2095-1F70-5A7C-579A3A108BFD}"/>
              </a:ext>
            </a:extLst>
          </p:cNvPr>
          <p:cNvCxnSpPr>
            <a:cxnSpLocks/>
          </p:cNvCxnSpPr>
          <p:nvPr/>
        </p:nvCxnSpPr>
        <p:spPr>
          <a:xfrm flipH="1">
            <a:off x="5195968" y="4867755"/>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8" name="Rectangle 93">
            <a:extLst>
              <a:ext uri="{FF2B5EF4-FFF2-40B4-BE49-F238E27FC236}">
                <a16:creationId xmlns:a16="http://schemas.microsoft.com/office/drawing/2014/main" id="{D3E48553-90AC-2FD9-FE70-66C243721F41}"/>
              </a:ext>
            </a:extLst>
          </p:cNvPr>
          <p:cNvSpPr>
            <a:spLocks noChangeArrowheads="1"/>
          </p:cNvSpPr>
          <p:nvPr/>
        </p:nvSpPr>
        <p:spPr bwMode="auto">
          <a:xfrm>
            <a:off x="6815987" y="4507751"/>
            <a:ext cx="270003" cy="360362"/>
          </a:xfrm>
          <a:prstGeom prst="rect">
            <a:avLst/>
          </a:prstGeom>
          <a:noFill/>
          <a:ln w="12700" algn="ctr">
            <a:noFill/>
            <a:miter lim="800000"/>
            <a:headEnd/>
            <a:tailEnd/>
          </a:ln>
          <a:effectLst/>
        </p:spPr>
        <p:txBody>
          <a:bodyPr wrap="none" lIns="90000" tIns="46800" rIns="90000" bIns="46800" anchor="ctr"/>
          <a:lstStyle/>
          <a:p>
            <a:r>
              <a:rPr lang="ja-JP" altLang="en-US" b="1" dirty="0">
                <a:solidFill>
                  <a:schemeClr val="accent5"/>
                </a:solidFill>
              </a:rPr>
              <a:t>０</a:t>
            </a:r>
            <a:endParaRPr lang="en-US" altLang="ja-JP" b="1" dirty="0">
              <a:solidFill>
                <a:schemeClr val="accent5"/>
              </a:solidFill>
            </a:endParaRPr>
          </a:p>
        </p:txBody>
      </p:sp>
      <p:grpSp>
        <p:nvGrpSpPr>
          <p:cNvPr id="49" name="グループ化 152">
            <a:extLst>
              <a:ext uri="{FF2B5EF4-FFF2-40B4-BE49-F238E27FC236}">
                <a16:creationId xmlns:a16="http://schemas.microsoft.com/office/drawing/2014/main" id="{1F84F2CF-CCCD-744E-3783-9F57D50498C3}"/>
              </a:ext>
            </a:extLst>
          </p:cNvPr>
          <p:cNvGrpSpPr/>
          <p:nvPr/>
        </p:nvGrpSpPr>
        <p:grpSpPr>
          <a:xfrm>
            <a:off x="5105967" y="5498121"/>
            <a:ext cx="180002" cy="90001"/>
            <a:chOff x="3643306" y="4500570"/>
            <a:chExt cx="428628" cy="144464"/>
          </a:xfrm>
        </p:grpSpPr>
        <p:cxnSp>
          <p:nvCxnSpPr>
            <p:cNvPr id="50" name="直線コネクタ 49">
              <a:extLst>
                <a:ext uri="{FF2B5EF4-FFF2-40B4-BE49-F238E27FC236}">
                  <a16:creationId xmlns:a16="http://schemas.microsoft.com/office/drawing/2014/main" id="{74334AF2-9536-35AE-052A-2AAFDC44E483}"/>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1" name="直線コネクタ 50">
              <a:extLst>
                <a:ext uri="{FF2B5EF4-FFF2-40B4-BE49-F238E27FC236}">
                  <a16:creationId xmlns:a16="http://schemas.microsoft.com/office/drawing/2014/main" id="{E604746D-0BF9-B15D-A0D7-11D0B40B235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2" name="直線コネクタ 51">
              <a:extLst>
                <a:ext uri="{FF2B5EF4-FFF2-40B4-BE49-F238E27FC236}">
                  <a16:creationId xmlns:a16="http://schemas.microsoft.com/office/drawing/2014/main" id="{A2463343-EC42-FAE0-BA6E-9B00E9D13EC3}"/>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53" name="Rectangle 93">
            <a:extLst>
              <a:ext uri="{FF2B5EF4-FFF2-40B4-BE49-F238E27FC236}">
                <a16:creationId xmlns:a16="http://schemas.microsoft.com/office/drawing/2014/main" id="{1EC44E92-5AAA-3BB7-FDB9-BADB8303E38F}"/>
              </a:ext>
            </a:extLst>
          </p:cNvPr>
          <p:cNvSpPr>
            <a:spLocks noChangeArrowheads="1"/>
          </p:cNvSpPr>
          <p:nvPr/>
        </p:nvSpPr>
        <p:spPr bwMode="auto">
          <a:xfrm>
            <a:off x="4925966" y="5588121"/>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cxnSp>
        <p:nvCxnSpPr>
          <p:cNvPr id="54" name="直線コネクタ 53">
            <a:extLst>
              <a:ext uri="{FF2B5EF4-FFF2-40B4-BE49-F238E27FC236}">
                <a16:creationId xmlns:a16="http://schemas.microsoft.com/office/drawing/2014/main" id="{BD72FF36-0A07-862B-2065-3FB96943B2FC}"/>
              </a:ext>
            </a:extLst>
          </p:cNvPr>
          <p:cNvCxnSpPr>
            <a:cxnSpLocks/>
          </p:cNvCxnSpPr>
          <p:nvPr/>
        </p:nvCxnSpPr>
        <p:spPr>
          <a:xfrm flipV="1">
            <a:off x="5195968" y="4868114"/>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5" name="グループ化 54">
            <a:extLst>
              <a:ext uri="{FF2B5EF4-FFF2-40B4-BE49-F238E27FC236}">
                <a16:creationId xmlns:a16="http://schemas.microsoft.com/office/drawing/2014/main" id="{FEC8DBF9-7B27-E8E0-A45A-CD5219246C09}"/>
              </a:ext>
            </a:extLst>
          </p:cNvPr>
          <p:cNvGrpSpPr/>
          <p:nvPr/>
        </p:nvGrpSpPr>
        <p:grpSpPr>
          <a:xfrm rot="5400000">
            <a:off x="8862914" y="4622130"/>
            <a:ext cx="226258" cy="360026"/>
            <a:chOff x="5112006" y="2168975"/>
            <a:chExt cx="226258" cy="360026"/>
          </a:xfrm>
        </p:grpSpPr>
        <p:sp>
          <p:nvSpPr>
            <p:cNvPr id="56" name="円/楕円 69">
              <a:extLst>
                <a:ext uri="{FF2B5EF4-FFF2-40B4-BE49-F238E27FC236}">
                  <a16:creationId xmlns:a16="http://schemas.microsoft.com/office/drawing/2014/main" id="{AFDCF7BA-1F22-A540-00D5-B21D9A509451}"/>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7" name="直線コネクタ 56">
              <a:extLst>
                <a:ext uri="{FF2B5EF4-FFF2-40B4-BE49-F238E27FC236}">
                  <a16:creationId xmlns:a16="http://schemas.microsoft.com/office/drawing/2014/main" id="{E21D5152-4F00-83A9-EBD6-D59F137DB93D}"/>
                </a:ext>
              </a:extLst>
            </p:cNvPr>
            <p:cNvCxnSpPr>
              <a:cxnSpLocks/>
              <a:endCxn id="58" idx="4"/>
            </p:cNvCxnSpPr>
            <p:nvPr/>
          </p:nvCxnSpPr>
          <p:spPr>
            <a:xfrm rot="16200000" flipH="1">
              <a:off x="5021374" y="2259629"/>
              <a:ext cx="314998" cy="133734"/>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8" name="円/楕円 68">
              <a:extLst>
                <a:ext uri="{FF2B5EF4-FFF2-40B4-BE49-F238E27FC236}">
                  <a16:creationId xmlns:a16="http://schemas.microsoft.com/office/drawing/2014/main" id="{5B07D454-862E-D9BB-5A9C-D7EAF734B7E1}"/>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59" name="直線コネクタ 58">
            <a:extLst>
              <a:ext uri="{FF2B5EF4-FFF2-40B4-BE49-F238E27FC236}">
                <a16:creationId xmlns:a16="http://schemas.microsoft.com/office/drawing/2014/main" id="{F3D13530-28A6-B2BE-C306-844E577487FC}"/>
              </a:ext>
            </a:extLst>
          </p:cNvPr>
          <p:cNvCxnSpPr>
            <a:cxnSpLocks/>
            <a:endCxn id="56" idx="2"/>
          </p:cNvCxnSpPr>
          <p:nvPr/>
        </p:nvCxnSpPr>
        <p:spPr>
          <a:xfrm flipH="1">
            <a:off x="9156056" y="4870277"/>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6C3FC9AA-86C3-E2C3-846A-FC3580D12792}"/>
              </a:ext>
            </a:extLst>
          </p:cNvPr>
          <p:cNvCxnSpPr>
            <a:cxnSpLocks/>
          </p:cNvCxnSpPr>
          <p:nvPr/>
        </p:nvCxnSpPr>
        <p:spPr>
          <a:xfrm flipH="1">
            <a:off x="8076022" y="4869016"/>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1" name="Rectangle 93">
            <a:extLst>
              <a:ext uri="{FF2B5EF4-FFF2-40B4-BE49-F238E27FC236}">
                <a16:creationId xmlns:a16="http://schemas.microsoft.com/office/drawing/2014/main" id="{F72FBCCE-9257-310C-A0D6-11D3B9A2849D}"/>
              </a:ext>
            </a:extLst>
          </p:cNvPr>
          <p:cNvSpPr>
            <a:spLocks noChangeArrowheads="1"/>
          </p:cNvSpPr>
          <p:nvPr/>
        </p:nvSpPr>
        <p:spPr bwMode="auto">
          <a:xfrm>
            <a:off x="9696041" y="4509012"/>
            <a:ext cx="270003" cy="360362"/>
          </a:xfrm>
          <a:prstGeom prst="rect">
            <a:avLst/>
          </a:prstGeom>
          <a:noFill/>
          <a:ln w="12700" algn="ctr">
            <a:noFill/>
            <a:miter lim="800000"/>
            <a:headEnd/>
            <a:tailEnd/>
          </a:ln>
          <a:effectLst/>
        </p:spPr>
        <p:txBody>
          <a:bodyPr wrap="none" lIns="90000" tIns="46800" rIns="90000" bIns="46800" anchor="ctr"/>
          <a:lstStyle/>
          <a:p>
            <a:r>
              <a:rPr lang="en-US" altLang="ja-JP" b="1" dirty="0">
                <a:solidFill>
                  <a:schemeClr val="accent5"/>
                </a:solidFill>
              </a:rPr>
              <a:t>Z</a:t>
            </a:r>
          </a:p>
        </p:txBody>
      </p:sp>
      <p:grpSp>
        <p:nvGrpSpPr>
          <p:cNvPr id="62" name="グループ化 152">
            <a:extLst>
              <a:ext uri="{FF2B5EF4-FFF2-40B4-BE49-F238E27FC236}">
                <a16:creationId xmlns:a16="http://schemas.microsoft.com/office/drawing/2014/main" id="{25DE817B-9342-4716-9D09-1C57A41BF02A}"/>
              </a:ext>
            </a:extLst>
          </p:cNvPr>
          <p:cNvGrpSpPr/>
          <p:nvPr/>
        </p:nvGrpSpPr>
        <p:grpSpPr>
          <a:xfrm>
            <a:off x="7986021" y="5499382"/>
            <a:ext cx="180002" cy="90001"/>
            <a:chOff x="3643306" y="4500570"/>
            <a:chExt cx="428628" cy="144464"/>
          </a:xfrm>
        </p:grpSpPr>
        <p:cxnSp>
          <p:nvCxnSpPr>
            <p:cNvPr id="63" name="直線コネクタ 62">
              <a:extLst>
                <a:ext uri="{FF2B5EF4-FFF2-40B4-BE49-F238E27FC236}">
                  <a16:creationId xmlns:a16="http://schemas.microsoft.com/office/drawing/2014/main" id="{C45CF441-F800-8D29-94E8-07E98813E94B}"/>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4" name="直線コネクタ 63">
              <a:extLst>
                <a:ext uri="{FF2B5EF4-FFF2-40B4-BE49-F238E27FC236}">
                  <a16:creationId xmlns:a16="http://schemas.microsoft.com/office/drawing/2014/main" id="{B8E89225-8ECC-184D-E4F1-210BEFC7824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65" name="直線コネクタ 64">
              <a:extLst>
                <a:ext uri="{FF2B5EF4-FFF2-40B4-BE49-F238E27FC236}">
                  <a16:creationId xmlns:a16="http://schemas.microsoft.com/office/drawing/2014/main" id="{2EFABFA0-B02C-105E-DE52-E390CF9D6F26}"/>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66" name="Rectangle 93">
            <a:extLst>
              <a:ext uri="{FF2B5EF4-FFF2-40B4-BE49-F238E27FC236}">
                <a16:creationId xmlns:a16="http://schemas.microsoft.com/office/drawing/2014/main" id="{65660B96-E240-4E65-D0D5-1D66953B40AF}"/>
              </a:ext>
            </a:extLst>
          </p:cNvPr>
          <p:cNvSpPr>
            <a:spLocks noChangeArrowheads="1"/>
          </p:cNvSpPr>
          <p:nvPr/>
        </p:nvSpPr>
        <p:spPr bwMode="auto">
          <a:xfrm>
            <a:off x="7806020" y="558938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cxnSp>
        <p:nvCxnSpPr>
          <p:cNvPr id="67" name="直線コネクタ 66">
            <a:extLst>
              <a:ext uri="{FF2B5EF4-FFF2-40B4-BE49-F238E27FC236}">
                <a16:creationId xmlns:a16="http://schemas.microsoft.com/office/drawing/2014/main" id="{7FC0812A-E398-48E7-7F3F-A8F62418D2BB}"/>
              </a:ext>
            </a:extLst>
          </p:cNvPr>
          <p:cNvCxnSpPr>
            <a:cxnSpLocks/>
          </p:cNvCxnSpPr>
          <p:nvPr/>
        </p:nvCxnSpPr>
        <p:spPr>
          <a:xfrm flipV="1">
            <a:off x="8076022" y="4869375"/>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9750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62E46D-25B5-B5B1-57DD-0C3036910A02}"/>
              </a:ext>
            </a:extLst>
          </p:cNvPr>
          <p:cNvSpPr>
            <a:spLocks noGrp="1"/>
          </p:cNvSpPr>
          <p:nvPr>
            <p:ph type="title"/>
          </p:nvPr>
        </p:nvSpPr>
        <p:spPr/>
        <p:txBody>
          <a:bodyPr/>
          <a:lstStyle/>
          <a:p>
            <a:r>
              <a:rPr kumimoji="1" lang="ja-JP" altLang="en-US" dirty="0"/>
              <a:t>短絡（ショート）は起きない想定</a:t>
            </a:r>
            <a:endParaRPr kumimoji="1" lang="en-US" dirty="0"/>
          </a:p>
        </p:txBody>
      </p:sp>
      <p:sp>
        <p:nvSpPr>
          <p:cNvPr id="3" name="コンテンツ プレースホルダー 2">
            <a:extLst>
              <a:ext uri="{FF2B5EF4-FFF2-40B4-BE49-F238E27FC236}">
                <a16:creationId xmlns:a16="http://schemas.microsoft.com/office/drawing/2014/main" id="{FEA56ADF-1D75-D077-AA37-F5BC762A7232}"/>
              </a:ext>
            </a:extLst>
          </p:cNvPr>
          <p:cNvSpPr>
            <a:spLocks noGrp="1"/>
          </p:cNvSpPr>
          <p:nvPr>
            <p:ph type="body" sz="quarter" idx="10"/>
          </p:nvPr>
        </p:nvSpPr>
        <p:spPr>
          <a:xfrm>
            <a:off x="2135956" y="1088975"/>
            <a:ext cx="8280092" cy="2250025"/>
          </a:xfrm>
        </p:spPr>
        <p:txBody>
          <a:bodyPr/>
          <a:lstStyle/>
          <a:p>
            <a:r>
              <a:rPr kumimoji="1" lang="ja-JP" altLang="en-US" dirty="0"/>
              <a:t>下記図のように</a:t>
            </a:r>
            <a:r>
              <a:rPr kumimoji="1" lang="en-US" altLang="ja-JP" dirty="0"/>
              <a:t>VDD </a:t>
            </a:r>
            <a:r>
              <a:rPr kumimoji="1" lang="ja-JP" altLang="en-US" dirty="0"/>
              <a:t>と </a:t>
            </a:r>
            <a:r>
              <a:rPr kumimoji="1" lang="en-US" altLang="ja-JP" dirty="0"/>
              <a:t>GND </a:t>
            </a:r>
            <a:r>
              <a:rPr kumimoji="1" lang="ja-JP" altLang="en-US" dirty="0"/>
              <a:t>の双方に同時に直結することはない</a:t>
            </a:r>
            <a:endParaRPr kumimoji="1" lang="en-US" altLang="ja-JP" dirty="0"/>
          </a:p>
          <a:p>
            <a:pPr lvl="1"/>
            <a:r>
              <a:rPr kumimoji="1" lang="ja-JP" altLang="en-US" dirty="0"/>
              <a:t>実際にやると </a:t>
            </a:r>
            <a:r>
              <a:rPr kumimoji="1" lang="en-US" altLang="ja-JP" dirty="0"/>
              <a:t>VDD</a:t>
            </a:r>
            <a:r>
              <a:rPr lang="ja-JP" altLang="en-US" dirty="0"/>
              <a:t> から </a:t>
            </a:r>
            <a:r>
              <a:rPr lang="en-US" altLang="ja-JP" dirty="0"/>
              <a:t>GND</a:t>
            </a:r>
            <a:r>
              <a:rPr lang="ja-JP" altLang="en-US" dirty="0"/>
              <a:t> に大電流が流れて回路が壊れる</a:t>
            </a:r>
            <a:endParaRPr lang="en-US" altLang="ja-JP" dirty="0"/>
          </a:p>
          <a:p>
            <a:pPr lvl="1"/>
            <a:r>
              <a:rPr lang="ja-JP" altLang="en-US" dirty="0"/>
              <a:t>なので，そう言う状態を絶対作らないように回路を組む</a:t>
            </a:r>
            <a:endParaRPr lang="en-US" altLang="ja-JP" dirty="0"/>
          </a:p>
          <a:p>
            <a:r>
              <a:rPr kumimoji="1" lang="ja-JP" altLang="en-US" dirty="0"/>
              <a:t>もしやってしまった場合，以下の黒点は </a:t>
            </a:r>
            <a:r>
              <a:rPr kumimoji="1" lang="en-US" altLang="ja-JP" dirty="0"/>
              <a:t>VDD </a:t>
            </a:r>
            <a:r>
              <a:rPr kumimoji="1" lang="ja-JP" altLang="en-US" dirty="0"/>
              <a:t>と </a:t>
            </a:r>
            <a:r>
              <a:rPr kumimoji="1" lang="en-US" altLang="ja-JP" dirty="0"/>
              <a:t>GND </a:t>
            </a:r>
            <a:r>
              <a:rPr kumimoji="1" lang="ja-JP" altLang="en-US" dirty="0"/>
              <a:t>の中間ぐらいの電位になっていると思う</a:t>
            </a:r>
            <a:endParaRPr kumimoji="1" lang="en-US" dirty="0"/>
          </a:p>
        </p:txBody>
      </p:sp>
      <p:grpSp>
        <p:nvGrpSpPr>
          <p:cNvPr id="4" name="グループ化 3">
            <a:extLst>
              <a:ext uri="{FF2B5EF4-FFF2-40B4-BE49-F238E27FC236}">
                <a16:creationId xmlns:a16="http://schemas.microsoft.com/office/drawing/2014/main" id="{01C7CFA9-EB16-F4A6-DCC7-5F329197DC5C}"/>
              </a:ext>
            </a:extLst>
          </p:cNvPr>
          <p:cNvGrpSpPr/>
          <p:nvPr/>
        </p:nvGrpSpPr>
        <p:grpSpPr>
          <a:xfrm rot="5400000">
            <a:off x="6589755" y="4328993"/>
            <a:ext cx="92524" cy="360026"/>
            <a:chOff x="5245740" y="2168975"/>
            <a:chExt cx="92524" cy="360026"/>
          </a:xfrm>
        </p:grpSpPr>
        <p:sp>
          <p:nvSpPr>
            <p:cNvPr id="5" name="円/楕円 69">
              <a:extLst>
                <a:ext uri="{FF2B5EF4-FFF2-40B4-BE49-F238E27FC236}">
                  <a16:creationId xmlns:a16="http://schemas.microsoft.com/office/drawing/2014/main" id="{9A96F576-0C76-1B56-9583-10B028255F61}"/>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6" name="直線コネクタ 5">
              <a:extLst>
                <a:ext uri="{FF2B5EF4-FFF2-40B4-BE49-F238E27FC236}">
                  <a16:creationId xmlns:a16="http://schemas.microsoft.com/office/drawing/2014/main" id="{726BC8F3-5261-F196-414E-3140C1B02A57}"/>
                </a:ext>
              </a:extLst>
            </p:cNvPr>
            <p:cNvCxnSpPr>
              <a:cxnSpLocks/>
              <a:endCxn id="7"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7" name="円/楕円 68">
              <a:extLst>
                <a:ext uri="{FF2B5EF4-FFF2-40B4-BE49-F238E27FC236}">
                  <a16:creationId xmlns:a16="http://schemas.microsoft.com/office/drawing/2014/main" id="{41EB90F3-9F2F-19DE-F45F-5AEF76752131}"/>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8" name="直線コネクタ 7">
            <a:extLst>
              <a:ext uri="{FF2B5EF4-FFF2-40B4-BE49-F238E27FC236}">
                <a16:creationId xmlns:a16="http://schemas.microsoft.com/office/drawing/2014/main" id="{F0049EA1-A36E-EE95-8042-9DDCB1B0A42F}"/>
              </a:ext>
            </a:extLst>
          </p:cNvPr>
          <p:cNvCxnSpPr>
            <a:cxnSpLocks/>
            <a:endCxn id="5" idx="2"/>
          </p:cNvCxnSpPr>
          <p:nvPr/>
        </p:nvCxnSpPr>
        <p:spPr>
          <a:xfrm flipH="1">
            <a:off x="6816030" y="4510273"/>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8BAA9657-9004-FD4F-972F-E13F2509D72F}"/>
              </a:ext>
            </a:extLst>
          </p:cNvPr>
          <p:cNvCxnSpPr>
            <a:cxnSpLocks/>
          </p:cNvCxnSpPr>
          <p:nvPr/>
        </p:nvCxnSpPr>
        <p:spPr>
          <a:xfrm flipH="1">
            <a:off x="5735996" y="450901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B8C40C1F-593E-CD56-3C85-326420A35ED1}"/>
              </a:ext>
            </a:extLst>
          </p:cNvPr>
          <p:cNvCxnSpPr>
            <a:cxnSpLocks/>
          </p:cNvCxnSpPr>
          <p:nvPr/>
        </p:nvCxnSpPr>
        <p:spPr>
          <a:xfrm flipV="1">
            <a:off x="5735996" y="3789362"/>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1" name="グループ化 10">
            <a:extLst>
              <a:ext uri="{FF2B5EF4-FFF2-40B4-BE49-F238E27FC236}">
                <a16:creationId xmlns:a16="http://schemas.microsoft.com/office/drawing/2014/main" id="{AD51CC2B-2863-0979-AEBB-8A4F5325FB95}"/>
              </a:ext>
            </a:extLst>
          </p:cNvPr>
          <p:cNvGrpSpPr/>
          <p:nvPr/>
        </p:nvGrpSpPr>
        <p:grpSpPr>
          <a:xfrm>
            <a:off x="5465994" y="3429000"/>
            <a:ext cx="450049" cy="360362"/>
            <a:chOff x="1061961" y="2348988"/>
            <a:chExt cx="450049" cy="360362"/>
          </a:xfrm>
        </p:grpSpPr>
        <p:sp>
          <p:nvSpPr>
            <p:cNvPr id="12" name="Rectangle 93">
              <a:extLst>
                <a:ext uri="{FF2B5EF4-FFF2-40B4-BE49-F238E27FC236}">
                  <a16:creationId xmlns:a16="http://schemas.microsoft.com/office/drawing/2014/main" id="{1D0FBB87-7E18-37AB-91CE-E318CE2C804F}"/>
                </a:ext>
              </a:extLst>
            </p:cNvPr>
            <p:cNvSpPr>
              <a:spLocks noChangeArrowheads="1"/>
            </p:cNvSpPr>
            <p:nvPr/>
          </p:nvSpPr>
          <p:spPr bwMode="auto">
            <a:xfrm>
              <a:off x="1061961" y="2348988"/>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cxnSp>
          <p:nvCxnSpPr>
            <p:cNvPr id="13" name="直線コネクタ 12">
              <a:extLst>
                <a:ext uri="{FF2B5EF4-FFF2-40B4-BE49-F238E27FC236}">
                  <a16:creationId xmlns:a16="http://schemas.microsoft.com/office/drawing/2014/main" id="{ABD43576-22DF-997F-6724-3C3D4F137185}"/>
                </a:ext>
              </a:extLst>
            </p:cNvPr>
            <p:cNvCxnSpPr/>
            <p:nvPr/>
          </p:nvCxnSpPr>
          <p:spPr>
            <a:xfrm>
              <a:off x="1151962" y="2708992"/>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5" name="グループ化 14">
            <a:extLst>
              <a:ext uri="{FF2B5EF4-FFF2-40B4-BE49-F238E27FC236}">
                <a16:creationId xmlns:a16="http://schemas.microsoft.com/office/drawing/2014/main" id="{E1BA7979-2332-80E9-7213-BC1691ADE1AA}"/>
              </a:ext>
            </a:extLst>
          </p:cNvPr>
          <p:cNvGrpSpPr/>
          <p:nvPr/>
        </p:nvGrpSpPr>
        <p:grpSpPr>
          <a:xfrm rot="5400000">
            <a:off x="6589755" y="5049359"/>
            <a:ext cx="92524" cy="360026"/>
            <a:chOff x="5245740" y="2168975"/>
            <a:chExt cx="92524" cy="360026"/>
          </a:xfrm>
        </p:grpSpPr>
        <p:sp>
          <p:nvSpPr>
            <p:cNvPr id="16" name="円/楕円 69">
              <a:extLst>
                <a:ext uri="{FF2B5EF4-FFF2-40B4-BE49-F238E27FC236}">
                  <a16:creationId xmlns:a16="http://schemas.microsoft.com/office/drawing/2014/main" id="{5C68D179-59A4-F498-C5E1-9E67802CC9C0}"/>
                </a:ext>
              </a:extLst>
            </p:cNvPr>
            <p:cNvSpPr/>
            <p:nvPr/>
          </p:nvSpPr>
          <p:spPr>
            <a:xfrm rot="5400000">
              <a:off x="5248263" y="216898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7" name="直線コネクタ 16">
              <a:extLst>
                <a:ext uri="{FF2B5EF4-FFF2-40B4-BE49-F238E27FC236}">
                  <a16:creationId xmlns:a16="http://schemas.microsoft.com/office/drawing/2014/main" id="{FDD9ED32-FED9-60F9-CD85-F3BECFAEDAB0}"/>
                </a:ext>
              </a:extLst>
            </p:cNvPr>
            <p:cNvCxnSpPr>
              <a:cxnSpLocks/>
              <a:endCxn id="18" idx="4"/>
            </p:cNvCxnSpPr>
            <p:nvPr/>
          </p:nvCxnSpPr>
          <p:spPr>
            <a:xfrm rot="16200000" flipH="1" flipV="1">
              <a:off x="5088243" y="2326495"/>
              <a:ext cx="314998" cy="3"/>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 name="円/楕円 68">
              <a:extLst>
                <a:ext uri="{FF2B5EF4-FFF2-40B4-BE49-F238E27FC236}">
                  <a16:creationId xmlns:a16="http://schemas.microsoft.com/office/drawing/2014/main" id="{1023C633-871D-3CC9-F07B-66F1EDC4900F}"/>
                </a:ext>
              </a:extLst>
            </p:cNvPr>
            <p:cNvSpPr/>
            <p:nvPr/>
          </p:nvSpPr>
          <p:spPr>
            <a:xfrm rot="5400000">
              <a:off x="5245729" y="243900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19" name="直線コネクタ 18">
            <a:extLst>
              <a:ext uri="{FF2B5EF4-FFF2-40B4-BE49-F238E27FC236}">
                <a16:creationId xmlns:a16="http://schemas.microsoft.com/office/drawing/2014/main" id="{1775F7DE-F4F6-5C98-1B24-4E166535E760}"/>
              </a:ext>
            </a:extLst>
          </p:cNvPr>
          <p:cNvCxnSpPr>
            <a:cxnSpLocks/>
            <a:endCxn id="16" idx="2"/>
          </p:cNvCxnSpPr>
          <p:nvPr/>
        </p:nvCxnSpPr>
        <p:spPr>
          <a:xfrm flipH="1">
            <a:off x="6816030" y="5230639"/>
            <a:ext cx="719986"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499AA11-D27C-5543-EF86-994159A82A3F}"/>
              </a:ext>
            </a:extLst>
          </p:cNvPr>
          <p:cNvCxnSpPr>
            <a:cxnSpLocks/>
          </p:cNvCxnSpPr>
          <p:nvPr/>
        </p:nvCxnSpPr>
        <p:spPr>
          <a:xfrm flipH="1">
            <a:off x="5735996" y="522937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2" name="グループ化 152">
            <a:extLst>
              <a:ext uri="{FF2B5EF4-FFF2-40B4-BE49-F238E27FC236}">
                <a16:creationId xmlns:a16="http://schemas.microsoft.com/office/drawing/2014/main" id="{CE9A3B5B-FDEA-3607-3F47-4B5B6468E023}"/>
              </a:ext>
            </a:extLst>
          </p:cNvPr>
          <p:cNvGrpSpPr/>
          <p:nvPr/>
        </p:nvGrpSpPr>
        <p:grpSpPr>
          <a:xfrm>
            <a:off x="5645995" y="5859744"/>
            <a:ext cx="180002" cy="90001"/>
            <a:chOff x="3643306" y="4500570"/>
            <a:chExt cx="428628" cy="144464"/>
          </a:xfrm>
        </p:grpSpPr>
        <p:cxnSp>
          <p:nvCxnSpPr>
            <p:cNvPr id="23" name="直線コネクタ 22">
              <a:extLst>
                <a:ext uri="{FF2B5EF4-FFF2-40B4-BE49-F238E27FC236}">
                  <a16:creationId xmlns:a16="http://schemas.microsoft.com/office/drawing/2014/main" id="{31F19CE0-843D-2E87-254F-C509CCB13968}"/>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 name="直線コネクタ 23">
              <a:extLst>
                <a:ext uri="{FF2B5EF4-FFF2-40B4-BE49-F238E27FC236}">
                  <a16:creationId xmlns:a16="http://schemas.microsoft.com/office/drawing/2014/main" id="{D9C9269C-707C-34FF-1503-D27BD7282180}"/>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3C313578-E89E-80A0-F264-D69A3DCC9119}"/>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6" name="Rectangle 93">
            <a:extLst>
              <a:ext uri="{FF2B5EF4-FFF2-40B4-BE49-F238E27FC236}">
                <a16:creationId xmlns:a16="http://schemas.microsoft.com/office/drawing/2014/main" id="{0318B0F7-8491-A5E1-1912-5564E098541D}"/>
              </a:ext>
            </a:extLst>
          </p:cNvPr>
          <p:cNvSpPr>
            <a:spLocks noChangeArrowheads="1"/>
          </p:cNvSpPr>
          <p:nvPr/>
        </p:nvSpPr>
        <p:spPr bwMode="auto">
          <a:xfrm>
            <a:off x="5465994" y="594974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cxnSp>
        <p:nvCxnSpPr>
          <p:cNvPr id="27" name="直線コネクタ 26">
            <a:extLst>
              <a:ext uri="{FF2B5EF4-FFF2-40B4-BE49-F238E27FC236}">
                <a16:creationId xmlns:a16="http://schemas.microsoft.com/office/drawing/2014/main" id="{5BF2787C-1EAD-1810-0BFD-D93A072FD087}"/>
              </a:ext>
            </a:extLst>
          </p:cNvPr>
          <p:cNvCxnSpPr>
            <a:cxnSpLocks/>
          </p:cNvCxnSpPr>
          <p:nvPr/>
        </p:nvCxnSpPr>
        <p:spPr>
          <a:xfrm flipV="1">
            <a:off x="5735996" y="5229737"/>
            <a:ext cx="0" cy="630007"/>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D9675F12-E878-0995-83F0-626313EDFFBC}"/>
              </a:ext>
            </a:extLst>
          </p:cNvPr>
          <p:cNvCxnSpPr>
            <a:cxnSpLocks/>
          </p:cNvCxnSpPr>
          <p:nvPr/>
        </p:nvCxnSpPr>
        <p:spPr>
          <a:xfrm>
            <a:off x="7536016" y="4869016"/>
            <a:ext cx="0" cy="360362"/>
          </a:xfrm>
          <a:prstGeom prst="line">
            <a:avLst/>
          </a:prstGeom>
          <a:ln w="6350" cap="rnd">
            <a:solidFill>
              <a:srgbClr val="000000"/>
            </a:solidFill>
            <a:headEnd type="oval" w="lg" len="lg"/>
            <a:tail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F2892425-1E64-E125-A29B-283DE4A6A19F}"/>
              </a:ext>
            </a:extLst>
          </p:cNvPr>
          <p:cNvCxnSpPr>
            <a:cxnSpLocks/>
          </p:cNvCxnSpPr>
          <p:nvPr/>
        </p:nvCxnSpPr>
        <p:spPr>
          <a:xfrm flipV="1">
            <a:off x="7536016" y="4509012"/>
            <a:ext cx="0" cy="360004"/>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2099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30B1E6A-CE38-93D9-7AA7-B0F072FA9AC7}"/>
              </a:ext>
            </a:extLst>
          </p:cNvPr>
          <p:cNvSpPr>
            <a:spLocks noGrp="1"/>
          </p:cNvSpPr>
          <p:nvPr>
            <p:ph type="title"/>
          </p:nvPr>
        </p:nvSpPr>
        <p:spPr/>
        <p:txBody>
          <a:bodyPr/>
          <a:lstStyle/>
          <a:p>
            <a:r>
              <a:rPr kumimoji="1" lang="ja-JP" altLang="en-US" dirty="0"/>
              <a:t>リレーを使って論理回路を作る</a:t>
            </a:r>
            <a:endParaRPr kumimoji="1" lang="en-US" dirty="0"/>
          </a:p>
        </p:txBody>
      </p:sp>
      <p:sp>
        <p:nvSpPr>
          <p:cNvPr id="3" name="コンテンツ プレースホルダー 2">
            <a:extLst>
              <a:ext uri="{FF2B5EF4-FFF2-40B4-BE49-F238E27FC236}">
                <a16:creationId xmlns:a16="http://schemas.microsoft.com/office/drawing/2014/main" id="{F1C4B40A-C246-4EBB-49DC-F6288B58FE9D}"/>
              </a:ext>
            </a:extLst>
          </p:cNvPr>
          <p:cNvSpPr>
            <a:spLocks noGrp="1"/>
          </p:cNvSpPr>
          <p:nvPr>
            <p:ph type="body" sz="quarter" idx="10"/>
          </p:nvPr>
        </p:nvSpPr>
        <p:spPr/>
        <p:txBody>
          <a:bodyPr/>
          <a:lstStyle/>
          <a:p>
            <a:r>
              <a:rPr kumimoji="1" lang="ja-JP" altLang="en-US" dirty="0"/>
              <a:t>以下の２つの繋ぎ方をしたリレーを使って論理ゲートを作る</a:t>
            </a:r>
            <a:endParaRPr kumimoji="1" lang="en-US" altLang="ja-JP" dirty="0"/>
          </a:p>
          <a:p>
            <a:pPr lvl="1"/>
            <a:r>
              <a:rPr kumimoji="1" lang="en-US" altLang="ja-JP" dirty="0"/>
              <a:t>N </a:t>
            </a:r>
            <a:r>
              <a:rPr kumimoji="1" lang="ja-JP" altLang="en-US" dirty="0"/>
              <a:t>型</a:t>
            </a:r>
            <a:endParaRPr kumimoji="1" lang="en-US" altLang="ja-JP" dirty="0"/>
          </a:p>
          <a:p>
            <a:pPr lvl="1"/>
            <a:r>
              <a:rPr kumimoji="1" lang="en-US" altLang="ja-JP" dirty="0"/>
              <a:t>P </a:t>
            </a:r>
            <a:r>
              <a:rPr kumimoji="1" lang="ja-JP" altLang="en-US" dirty="0"/>
              <a:t>型</a:t>
            </a:r>
            <a:endParaRPr lang="en-US" altLang="ja-JP" sz="1600" dirty="0"/>
          </a:p>
        </p:txBody>
      </p:sp>
    </p:spTree>
    <p:extLst>
      <p:ext uri="{BB962C8B-B14F-4D97-AF65-F5344CB8AC3E}">
        <p14:creationId xmlns:p14="http://schemas.microsoft.com/office/powerpoint/2010/main" val="22228785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正方形/長方形 72">
            <a:extLst>
              <a:ext uri="{FF2B5EF4-FFF2-40B4-BE49-F238E27FC236}">
                <a16:creationId xmlns:a16="http://schemas.microsoft.com/office/drawing/2014/main" id="{0052F1F3-C64C-DF83-F9C4-85DB4B3DB6E0}"/>
              </a:ext>
            </a:extLst>
          </p:cNvPr>
          <p:cNvSpPr/>
          <p:nvPr/>
        </p:nvSpPr>
        <p:spPr bwMode="auto">
          <a:xfrm>
            <a:off x="5375992" y="3338999"/>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N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type="body" sz="quarter" idx="10"/>
          </p:nvPr>
        </p:nvSpPr>
        <p:spPr>
          <a:xfrm>
            <a:off x="2135956" y="1988984"/>
            <a:ext cx="8280092" cy="900010"/>
          </a:xfrm>
        </p:spPr>
        <p:txBody>
          <a:bodyPr/>
          <a:lstStyle/>
          <a:p>
            <a:r>
              <a:rPr kumimoji="1" lang="ja-JP" altLang="en-US" dirty="0"/>
              <a:t>左図のように </a:t>
            </a:r>
            <a:r>
              <a:rPr kumimoji="1" lang="en-US" altLang="ja-JP" dirty="0"/>
              <a:t>B </a:t>
            </a:r>
            <a:r>
              <a:rPr kumimoji="1" lang="ja-JP" altLang="en-US" dirty="0"/>
              <a:t>を </a:t>
            </a:r>
            <a:r>
              <a:rPr kumimoji="1" lang="en-US" altLang="ja-JP" dirty="0"/>
              <a:t>GND</a:t>
            </a:r>
            <a:r>
              <a:rPr kumimoji="1" lang="ja-JP" altLang="en-US" dirty="0"/>
              <a:t>（低電位）に接続する</a:t>
            </a:r>
            <a:endParaRPr kumimoji="1" lang="en-US" altLang="ja-JP" dirty="0"/>
          </a:p>
          <a:p>
            <a:pPr lvl="1"/>
            <a:r>
              <a:rPr lang="en-US" dirty="0"/>
              <a:t>N </a:t>
            </a:r>
            <a:r>
              <a:rPr lang="ja-JP" altLang="en-US" dirty="0"/>
              <a:t>は </a:t>
            </a:r>
            <a:r>
              <a:rPr lang="en-US" altLang="ja-JP" dirty="0"/>
              <a:t>Negative </a:t>
            </a:r>
            <a:r>
              <a:rPr lang="ja-JP" altLang="en-US" dirty="0"/>
              <a:t>の略</a:t>
            </a:r>
            <a:endParaRPr kumimoji="1" lang="en-US" dirty="0"/>
          </a:p>
        </p:txBody>
      </p:sp>
      <p:sp>
        <p:nvSpPr>
          <p:cNvPr id="4" name="円/楕円 69">
            <a:extLst>
              <a:ext uri="{FF2B5EF4-FFF2-40B4-BE49-F238E27FC236}">
                <a16:creationId xmlns:a16="http://schemas.microsoft.com/office/drawing/2014/main" id="{27ED7D89-5BDE-D968-7FA4-FDD87CFA58A5}"/>
              </a:ext>
            </a:extLst>
          </p:cNvPr>
          <p:cNvSpPr/>
          <p:nvPr/>
        </p:nvSpPr>
        <p:spPr>
          <a:xfrm rot="5400000">
            <a:off x="6412259"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 name="直線コネクタ 4">
            <a:extLst>
              <a:ext uri="{FF2B5EF4-FFF2-40B4-BE49-F238E27FC236}">
                <a16:creationId xmlns:a16="http://schemas.microsoft.com/office/drawing/2014/main" id="{239207F0-970F-3F00-74FE-3176AB63465C}"/>
              </a:ext>
            </a:extLst>
          </p:cNvPr>
          <p:cNvCxnSpPr>
            <a:cxnSpLocks/>
          </p:cNvCxnSpPr>
          <p:nvPr/>
        </p:nvCxnSpPr>
        <p:spPr>
          <a:xfrm flipH="1">
            <a:off x="5015988"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a16:creationId xmlns:a16="http://schemas.microsoft.com/office/drawing/2014/main" id="{8B8E9ADE-52D1-BAAF-234E-B47812CBC69C}"/>
              </a:ext>
            </a:extLst>
          </p:cNvPr>
          <p:cNvGrpSpPr/>
          <p:nvPr/>
        </p:nvGrpSpPr>
        <p:grpSpPr>
          <a:xfrm>
            <a:off x="5555994" y="3429001"/>
            <a:ext cx="360004" cy="720007"/>
            <a:chOff x="3131985" y="5049018"/>
            <a:chExt cx="180002" cy="437056"/>
          </a:xfrm>
        </p:grpSpPr>
        <p:grpSp>
          <p:nvGrpSpPr>
            <p:cNvPr id="7" name="グループ化 6">
              <a:extLst>
                <a:ext uri="{FF2B5EF4-FFF2-40B4-BE49-F238E27FC236}">
                  <a16:creationId xmlns:a16="http://schemas.microsoft.com/office/drawing/2014/main" id="{97A3B75D-6A12-AF4E-66C5-E3FB2CF63434}"/>
                </a:ext>
              </a:extLst>
            </p:cNvPr>
            <p:cNvGrpSpPr/>
            <p:nvPr/>
          </p:nvGrpSpPr>
          <p:grpSpPr>
            <a:xfrm>
              <a:off x="3131985" y="5139021"/>
              <a:ext cx="180002" cy="254126"/>
              <a:chOff x="3131984" y="5191944"/>
              <a:chExt cx="270003" cy="201854"/>
            </a:xfrm>
          </p:grpSpPr>
          <p:sp>
            <p:nvSpPr>
              <p:cNvPr id="10" name="Freeform 42">
                <a:extLst>
                  <a:ext uri="{FF2B5EF4-FFF2-40B4-BE49-F238E27FC236}">
                    <a16:creationId xmlns:a16="http://schemas.microsoft.com/office/drawing/2014/main" id="{FD031464-50A4-A26E-2623-1BD5C7C2CB9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 name="Freeform 42">
                <a:extLst>
                  <a:ext uri="{FF2B5EF4-FFF2-40B4-BE49-F238E27FC236}">
                    <a16:creationId xmlns:a16="http://schemas.microsoft.com/office/drawing/2014/main" id="{FD8EFDC2-C3E9-85A4-C820-A2C9469D774F}"/>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 name="Freeform 42">
                <a:extLst>
                  <a:ext uri="{FF2B5EF4-FFF2-40B4-BE49-F238E27FC236}">
                    <a16:creationId xmlns:a16="http://schemas.microsoft.com/office/drawing/2014/main" id="{5A1ACE3A-2114-235C-D8C9-8F0786F62683}"/>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 name="Freeform 42">
                <a:extLst>
                  <a:ext uri="{FF2B5EF4-FFF2-40B4-BE49-F238E27FC236}">
                    <a16:creationId xmlns:a16="http://schemas.microsoft.com/office/drawing/2014/main" id="{6DBA4758-7B7C-544F-3DAC-48D46DD96E2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8" name="直線コネクタ 7">
              <a:extLst>
                <a:ext uri="{FF2B5EF4-FFF2-40B4-BE49-F238E27FC236}">
                  <a16:creationId xmlns:a16="http://schemas.microsoft.com/office/drawing/2014/main" id="{08CE8CE0-F976-0C0B-89CC-9095FEE54BB1}"/>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969C34F4-FE79-AEC2-822A-50450B32E06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4" name="直線コネクタ 13">
            <a:extLst>
              <a:ext uri="{FF2B5EF4-FFF2-40B4-BE49-F238E27FC236}">
                <a16:creationId xmlns:a16="http://schemas.microsoft.com/office/drawing/2014/main" id="{7CBC57C7-FDCA-93BA-3AAF-638DD6DC24FC}"/>
              </a:ext>
            </a:extLst>
          </p:cNvPr>
          <p:cNvCxnSpPr>
            <a:cxnSpLocks/>
          </p:cNvCxnSpPr>
          <p:nvPr/>
        </p:nvCxnSpPr>
        <p:spPr>
          <a:xfrm flipH="1">
            <a:off x="5375992" y="4149008"/>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F5C428A5-03EC-6383-A759-ABD1BA3A43CA}"/>
              </a:ext>
            </a:extLst>
          </p:cNvPr>
          <p:cNvCxnSpPr>
            <a:cxnSpLocks/>
            <a:endCxn id="16" idx="4"/>
          </p:cNvCxnSpPr>
          <p:nvPr/>
        </p:nvCxnSpPr>
        <p:spPr>
          <a:xfrm>
            <a:off x="6276002" y="3609003"/>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6" name="円/楕円 68">
            <a:extLst>
              <a:ext uri="{FF2B5EF4-FFF2-40B4-BE49-F238E27FC236}">
                <a16:creationId xmlns:a16="http://schemas.microsoft.com/office/drawing/2014/main" id="{913C430F-8842-70D8-5968-714B4F9D7B5F}"/>
              </a:ext>
            </a:extLst>
          </p:cNvPr>
          <p:cNvSpPr/>
          <p:nvPr/>
        </p:nvSpPr>
        <p:spPr>
          <a:xfrm rot="5400000">
            <a:off x="6409725"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7" name="直線コネクタ 16">
            <a:extLst>
              <a:ext uri="{FF2B5EF4-FFF2-40B4-BE49-F238E27FC236}">
                <a16:creationId xmlns:a16="http://schemas.microsoft.com/office/drawing/2014/main" id="{C0EED765-5E00-1D04-380A-CB2BD87154A4}"/>
              </a:ext>
            </a:extLst>
          </p:cNvPr>
          <p:cNvCxnSpPr>
            <a:cxnSpLocks/>
            <a:endCxn id="4" idx="2"/>
          </p:cNvCxnSpPr>
          <p:nvPr/>
        </p:nvCxnSpPr>
        <p:spPr>
          <a:xfrm>
            <a:off x="6456005" y="3429001"/>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D079E177-EBE2-7C6E-5E53-61D3B5BC8EA5}"/>
              </a:ext>
            </a:extLst>
          </p:cNvPr>
          <p:cNvCxnSpPr>
            <a:cxnSpLocks/>
          </p:cNvCxnSpPr>
          <p:nvPr/>
        </p:nvCxnSpPr>
        <p:spPr>
          <a:xfrm>
            <a:off x="6456004"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Rectangle 93">
            <a:extLst>
              <a:ext uri="{FF2B5EF4-FFF2-40B4-BE49-F238E27FC236}">
                <a16:creationId xmlns:a16="http://schemas.microsoft.com/office/drawing/2014/main" id="{6CF79804-210A-6488-F259-E672F4320942}"/>
              </a:ext>
            </a:extLst>
          </p:cNvPr>
          <p:cNvSpPr>
            <a:spLocks noChangeArrowheads="1"/>
          </p:cNvSpPr>
          <p:nvPr/>
        </p:nvSpPr>
        <p:spPr bwMode="auto">
          <a:xfrm>
            <a:off x="5015989" y="306899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 name="Rectangle 93">
            <a:extLst>
              <a:ext uri="{FF2B5EF4-FFF2-40B4-BE49-F238E27FC236}">
                <a16:creationId xmlns:a16="http://schemas.microsoft.com/office/drawing/2014/main" id="{8C6B7694-0CC7-5775-B2BC-CDB28A10938F}"/>
              </a:ext>
            </a:extLst>
          </p:cNvPr>
          <p:cNvSpPr>
            <a:spLocks noChangeArrowheads="1"/>
          </p:cNvSpPr>
          <p:nvPr/>
        </p:nvSpPr>
        <p:spPr bwMode="auto">
          <a:xfrm>
            <a:off x="5015989"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1" name="Rectangle 93">
            <a:extLst>
              <a:ext uri="{FF2B5EF4-FFF2-40B4-BE49-F238E27FC236}">
                <a16:creationId xmlns:a16="http://schemas.microsoft.com/office/drawing/2014/main" id="{92C66BC4-909C-9DBF-61BB-E90F6404DF3C}"/>
              </a:ext>
            </a:extLst>
          </p:cNvPr>
          <p:cNvSpPr>
            <a:spLocks noChangeArrowheads="1"/>
          </p:cNvSpPr>
          <p:nvPr/>
        </p:nvSpPr>
        <p:spPr bwMode="auto">
          <a:xfrm>
            <a:off x="6814934"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2" name="Rectangle 93">
            <a:extLst>
              <a:ext uri="{FF2B5EF4-FFF2-40B4-BE49-F238E27FC236}">
                <a16:creationId xmlns:a16="http://schemas.microsoft.com/office/drawing/2014/main" id="{82CDDB03-ED29-70A9-08E2-A507D0DC266C}"/>
              </a:ext>
            </a:extLst>
          </p:cNvPr>
          <p:cNvSpPr>
            <a:spLocks noChangeArrowheads="1"/>
          </p:cNvSpPr>
          <p:nvPr/>
        </p:nvSpPr>
        <p:spPr bwMode="auto">
          <a:xfrm>
            <a:off x="6814934"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3" name="直線コネクタ 22">
            <a:extLst>
              <a:ext uri="{FF2B5EF4-FFF2-40B4-BE49-F238E27FC236}">
                <a16:creationId xmlns:a16="http://schemas.microsoft.com/office/drawing/2014/main" id="{41AF3067-0216-B287-2202-FF86BEB590D9}"/>
              </a:ext>
            </a:extLst>
          </p:cNvPr>
          <p:cNvCxnSpPr>
            <a:cxnSpLocks/>
          </p:cNvCxnSpPr>
          <p:nvPr/>
        </p:nvCxnSpPr>
        <p:spPr>
          <a:xfrm flipH="1">
            <a:off x="6456004"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 name="グループ化 152">
            <a:extLst>
              <a:ext uri="{FF2B5EF4-FFF2-40B4-BE49-F238E27FC236}">
                <a16:creationId xmlns:a16="http://schemas.microsoft.com/office/drawing/2014/main" id="{C3ECDE06-9D85-CCD3-6818-BE0583AAB859}"/>
              </a:ext>
            </a:extLst>
          </p:cNvPr>
          <p:cNvGrpSpPr/>
          <p:nvPr/>
        </p:nvGrpSpPr>
        <p:grpSpPr>
          <a:xfrm>
            <a:off x="4925987" y="4599014"/>
            <a:ext cx="180002" cy="90001"/>
            <a:chOff x="3643306" y="4500570"/>
            <a:chExt cx="428628" cy="144464"/>
          </a:xfrm>
        </p:grpSpPr>
        <p:cxnSp>
          <p:nvCxnSpPr>
            <p:cNvPr id="26" name="直線コネクタ 25">
              <a:extLst>
                <a:ext uri="{FF2B5EF4-FFF2-40B4-BE49-F238E27FC236}">
                  <a16:creationId xmlns:a16="http://schemas.microsoft.com/office/drawing/2014/main" id="{3B718EFD-0C23-5CE6-0732-E8A0A7DB773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 name="直線コネクタ 26">
              <a:extLst>
                <a:ext uri="{FF2B5EF4-FFF2-40B4-BE49-F238E27FC236}">
                  <a16:creationId xmlns:a16="http://schemas.microsoft.com/office/drawing/2014/main" id="{40D8F8ED-350F-0BB8-2A41-8E8325E5850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863558CE-8857-2A3E-2509-6967075EBA8A}"/>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1955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cxnSp>
        <p:nvCxnSpPr>
          <p:cNvPr id="39" name="直線コネクタ 38">
            <a:extLst>
              <a:ext uri="{FF2B5EF4-FFF2-40B4-BE49-F238E27FC236}">
                <a16:creationId xmlns:a16="http://schemas.microsoft.com/office/drawing/2014/main" id="{98B2AB87-367F-832B-E786-71A205A9019B}"/>
              </a:ext>
            </a:extLst>
          </p:cNvPr>
          <p:cNvCxnSpPr>
            <a:cxnSpLocks/>
          </p:cNvCxnSpPr>
          <p:nvPr/>
        </p:nvCxnSpPr>
        <p:spPr>
          <a:xfrm flipH="1">
            <a:off x="5015989" y="4149008"/>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6C560B9A-64F3-D4F5-9714-63FAC12D5E44}"/>
              </a:ext>
            </a:extLst>
          </p:cNvPr>
          <p:cNvCxnSpPr>
            <a:cxnSpLocks/>
          </p:cNvCxnSpPr>
          <p:nvPr/>
        </p:nvCxnSpPr>
        <p:spPr>
          <a:xfrm flipV="1">
            <a:off x="5015988" y="4149009"/>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0E87782C-5AB5-CD82-F4B5-74C1DD84700A}"/>
              </a:ext>
            </a:extLst>
          </p:cNvPr>
          <p:cNvCxnSpPr>
            <a:cxnSpLocks/>
          </p:cNvCxnSpPr>
          <p:nvPr/>
        </p:nvCxnSpPr>
        <p:spPr>
          <a:xfrm flipH="1">
            <a:off x="6456004"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233FEF5A-3A77-D112-A9BA-70D053884F74}"/>
              </a:ext>
            </a:extLst>
          </p:cNvPr>
          <p:cNvSpPr>
            <a:spLocks noChangeArrowheads="1"/>
          </p:cNvSpPr>
          <p:nvPr/>
        </p:nvSpPr>
        <p:spPr bwMode="auto">
          <a:xfrm>
            <a:off x="4745986" y="468901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Tree>
    <p:extLst>
      <p:ext uri="{BB962C8B-B14F-4D97-AF65-F5344CB8AC3E}">
        <p14:creationId xmlns:p14="http://schemas.microsoft.com/office/powerpoint/2010/main" val="361453409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lang="en-US" altLang="ja-JP" dirty="0"/>
              <a:t>N </a:t>
            </a:r>
            <a:r>
              <a:rPr lang="ja-JP" altLang="en-US" dirty="0"/>
              <a:t>型の動作</a:t>
            </a:r>
            <a:endParaRPr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type="body" sz="quarter" idx="10"/>
          </p:nvPr>
        </p:nvSpPr>
        <p:spPr>
          <a:xfrm>
            <a:off x="2135956" y="998974"/>
            <a:ext cx="8280092" cy="810009"/>
          </a:xfrm>
        </p:spPr>
        <p:txBody>
          <a:bodyPr/>
          <a:lstStyle/>
          <a:p>
            <a:r>
              <a:rPr lang="en-US" altLang="ja-JP" dirty="0"/>
              <a:t>G </a:t>
            </a:r>
            <a:r>
              <a:rPr lang="ja-JP" altLang="en-US" dirty="0"/>
              <a:t>が低電位（</a:t>
            </a:r>
            <a:r>
              <a:rPr lang="en-US" altLang="ja-JP" dirty="0"/>
              <a:t>= 0</a:t>
            </a:r>
            <a:r>
              <a:rPr lang="ja-JP" altLang="en-US" dirty="0"/>
              <a:t>）</a:t>
            </a:r>
            <a:r>
              <a:rPr lang="en-US" altLang="ja-JP" dirty="0"/>
              <a:t> </a:t>
            </a:r>
            <a:r>
              <a:rPr lang="ja-JP" altLang="en-US" dirty="0"/>
              <a:t>→ スイッチ </a:t>
            </a:r>
            <a:r>
              <a:rPr lang="en-US" altLang="ja-JP" dirty="0"/>
              <a:t>OFF</a:t>
            </a:r>
          </a:p>
          <a:p>
            <a:pPr lvl="1"/>
            <a:r>
              <a:rPr lang="en-US" altLang="ja-JP" dirty="0"/>
              <a:t>G~B </a:t>
            </a:r>
            <a:r>
              <a:rPr lang="ja-JP" altLang="en-US" dirty="0"/>
              <a:t>間は電位差がないのでコイルが働かない</a:t>
            </a:r>
            <a:endParaRPr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1955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pSp>
        <p:nvGrpSpPr>
          <p:cNvPr id="146" name="グループ化 145">
            <a:extLst>
              <a:ext uri="{FF2B5EF4-FFF2-40B4-BE49-F238E27FC236}">
                <a16:creationId xmlns:a16="http://schemas.microsoft.com/office/drawing/2014/main" id="{EB9FFEA8-D060-C601-0E7B-8184D32DB940}"/>
              </a:ext>
            </a:extLst>
          </p:cNvPr>
          <p:cNvGrpSpPr/>
          <p:nvPr/>
        </p:nvGrpSpPr>
        <p:grpSpPr>
          <a:xfrm>
            <a:off x="4655984" y="1718981"/>
            <a:ext cx="2520028" cy="1980380"/>
            <a:chOff x="3851992" y="1628980"/>
            <a:chExt cx="2520028" cy="1980380"/>
          </a:xfrm>
        </p:grpSpPr>
        <p:sp>
          <p:nvSpPr>
            <p:cNvPr id="76" name="正方形/長方形 75">
              <a:extLst>
                <a:ext uri="{FF2B5EF4-FFF2-40B4-BE49-F238E27FC236}">
                  <a16:creationId xmlns:a16="http://schemas.microsoft.com/office/drawing/2014/main" id="{CF97B58D-5764-9616-FC2F-06083481BF93}"/>
                </a:ext>
              </a:extLst>
            </p:cNvPr>
            <p:cNvSpPr/>
            <p:nvPr/>
          </p:nvSpPr>
          <p:spPr bwMode="auto">
            <a:xfrm>
              <a:off x="4572000" y="1898983"/>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82" name="円/楕円 69">
              <a:extLst>
                <a:ext uri="{FF2B5EF4-FFF2-40B4-BE49-F238E27FC236}">
                  <a16:creationId xmlns:a16="http://schemas.microsoft.com/office/drawing/2014/main" id="{F5442903-5A72-63A1-5154-C015965EB5DC}"/>
                </a:ext>
              </a:extLst>
            </p:cNvPr>
            <p:cNvSpPr/>
            <p:nvPr/>
          </p:nvSpPr>
          <p:spPr>
            <a:xfrm rot="5400000">
              <a:off x="5608267" y="216898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86" name="直線コネクタ 85">
              <a:extLst>
                <a:ext uri="{FF2B5EF4-FFF2-40B4-BE49-F238E27FC236}">
                  <a16:creationId xmlns:a16="http://schemas.microsoft.com/office/drawing/2014/main" id="{04BB337F-5751-B3CA-5110-C0B098B80455}"/>
                </a:ext>
              </a:extLst>
            </p:cNvPr>
            <p:cNvCxnSpPr>
              <a:cxnSpLocks/>
            </p:cNvCxnSpPr>
            <p:nvPr/>
          </p:nvCxnSpPr>
          <p:spPr>
            <a:xfrm flipH="1">
              <a:off x="4211996" y="1988984"/>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87" name="グループ化 86">
              <a:extLst>
                <a:ext uri="{FF2B5EF4-FFF2-40B4-BE49-F238E27FC236}">
                  <a16:creationId xmlns:a16="http://schemas.microsoft.com/office/drawing/2014/main" id="{2DDFECEE-3EB3-9A5F-093C-C25D3D5A3450}"/>
                </a:ext>
              </a:extLst>
            </p:cNvPr>
            <p:cNvGrpSpPr/>
            <p:nvPr/>
          </p:nvGrpSpPr>
          <p:grpSpPr>
            <a:xfrm>
              <a:off x="4752002" y="1988984"/>
              <a:ext cx="360004" cy="720007"/>
              <a:chOff x="3131985" y="5049018"/>
              <a:chExt cx="180002" cy="437056"/>
            </a:xfrm>
          </p:grpSpPr>
          <p:grpSp>
            <p:nvGrpSpPr>
              <p:cNvPr id="88" name="グループ化 87">
                <a:extLst>
                  <a:ext uri="{FF2B5EF4-FFF2-40B4-BE49-F238E27FC236}">
                    <a16:creationId xmlns:a16="http://schemas.microsoft.com/office/drawing/2014/main" id="{F79D74DF-22D7-2873-DC2D-9A5C8A1A7FC7}"/>
                  </a:ext>
                </a:extLst>
              </p:cNvPr>
              <p:cNvGrpSpPr/>
              <p:nvPr/>
            </p:nvGrpSpPr>
            <p:grpSpPr>
              <a:xfrm>
                <a:off x="3131985" y="5139021"/>
                <a:ext cx="180002" cy="254126"/>
                <a:chOff x="3131984" y="5191944"/>
                <a:chExt cx="270003" cy="201854"/>
              </a:xfrm>
            </p:grpSpPr>
            <p:sp>
              <p:nvSpPr>
                <p:cNvPr id="91" name="Freeform 42">
                  <a:extLst>
                    <a:ext uri="{FF2B5EF4-FFF2-40B4-BE49-F238E27FC236}">
                      <a16:creationId xmlns:a16="http://schemas.microsoft.com/office/drawing/2014/main" id="{E33DBDDC-3064-5A0A-5D9D-E6736800BFD4}"/>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92" name="Freeform 42">
                  <a:extLst>
                    <a:ext uri="{FF2B5EF4-FFF2-40B4-BE49-F238E27FC236}">
                      <a16:creationId xmlns:a16="http://schemas.microsoft.com/office/drawing/2014/main" id="{E5D9B290-FE85-9B13-E740-CB1954BAFAE8}"/>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93" name="Freeform 42">
                  <a:extLst>
                    <a:ext uri="{FF2B5EF4-FFF2-40B4-BE49-F238E27FC236}">
                      <a16:creationId xmlns:a16="http://schemas.microsoft.com/office/drawing/2014/main" id="{D7548E9E-9CE9-DF35-37F0-C41513BA773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94" name="Freeform 42">
                  <a:extLst>
                    <a:ext uri="{FF2B5EF4-FFF2-40B4-BE49-F238E27FC236}">
                      <a16:creationId xmlns:a16="http://schemas.microsoft.com/office/drawing/2014/main" id="{215B73FE-EB08-6237-DB99-A2302633970B}"/>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89" name="直線コネクタ 88">
                <a:extLst>
                  <a:ext uri="{FF2B5EF4-FFF2-40B4-BE49-F238E27FC236}">
                    <a16:creationId xmlns:a16="http://schemas.microsoft.com/office/drawing/2014/main" id="{5940F94F-3377-CF2E-DBDF-58A2D39A570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AD478DBA-B45B-7E0D-7CD9-546994027E76}"/>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95" name="直線コネクタ 94">
              <a:extLst>
                <a:ext uri="{FF2B5EF4-FFF2-40B4-BE49-F238E27FC236}">
                  <a16:creationId xmlns:a16="http://schemas.microsoft.com/office/drawing/2014/main" id="{A92A2CF3-7AC8-4BD7-D0ED-59E294B60266}"/>
                </a:ext>
              </a:extLst>
            </p:cNvPr>
            <p:cNvCxnSpPr>
              <a:cxnSpLocks/>
            </p:cNvCxnSpPr>
            <p:nvPr/>
          </p:nvCxnSpPr>
          <p:spPr>
            <a:xfrm flipH="1">
              <a:off x="4572000" y="2708992"/>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6" name="直線コネクタ 95">
              <a:extLst>
                <a:ext uri="{FF2B5EF4-FFF2-40B4-BE49-F238E27FC236}">
                  <a16:creationId xmlns:a16="http://schemas.microsoft.com/office/drawing/2014/main" id="{EBEC8281-8A9C-DBA0-CC27-C5915BF846B8}"/>
                </a:ext>
              </a:extLst>
            </p:cNvPr>
            <p:cNvCxnSpPr>
              <a:cxnSpLocks/>
              <a:endCxn id="97" idx="4"/>
            </p:cNvCxnSpPr>
            <p:nvPr/>
          </p:nvCxnSpPr>
          <p:spPr>
            <a:xfrm>
              <a:off x="5472010" y="2168986"/>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7" name="円/楕円 68">
              <a:extLst>
                <a:ext uri="{FF2B5EF4-FFF2-40B4-BE49-F238E27FC236}">
                  <a16:creationId xmlns:a16="http://schemas.microsoft.com/office/drawing/2014/main" id="{99C2D4C4-65DE-09DD-2414-EFC009371505}"/>
                </a:ext>
              </a:extLst>
            </p:cNvPr>
            <p:cNvSpPr/>
            <p:nvPr/>
          </p:nvSpPr>
          <p:spPr>
            <a:xfrm rot="5400000">
              <a:off x="5605733" y="2439000"/>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98" name="直線コネクタ 97">
              <a:extLst>
                <a:ext uri="{FF2B5EF4-FFF2-40B4-BE49-F238E27FC236}">
                  <a16:creationId xmlns:a16="http://schemas.microsoft.com/office/drawing/2014/main" id="{5918AA9D-A3CB-DD7B-17C3-9AE60D441644}"/>
                </a:ext>
              </a:extLst>
            </p:cNvPr>
            <p:cNvCxnSpPr>
              <a:cxnSpLocks/>
              <a:endCxn id="82" idx="2"/>
            </p:cNvCxnSpPr>
            <p:nvPr/>
          </p:nvCxnSpPr>
          <p:spPr>
            <a:xfrm>
              <a:off x="5652012" y="1988984"/>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a16:creationId xmlns:a16="http://schemas.microsoft.com/office/drawing/2014/main" id="{6AC066D6-6BE4-B682-0EE6-D186155BE8B2}"/>
                </a:ext>
              </a:extLst>
            </p:cNvPr>
            <p:cNvCxnSpPr>
              <a:cxnSpLocks/>
            </p:cNvCxnSpPr>
            <p:nvPr/>
          </p:nvCxnSpPr>
          <p:spPr>
            <a:xfrm>
              <a:off x="5652012" y="2528990"/>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0" name="Rectangle 93">
              <a:extLst>
                <a:ext uri="{FF2B5EF4-FFF2-40B4-BE49-F238E27FC236}">
                  <a16:creationId xmlns:a16="http://schemas.microsoft.com/office/drawing/2014/main" id="{2119DC8F-22F0-C2B6-E9D7-FCBB4A2801F2}"/>
                </a:ext>
              </a:extLst>
            </p:cNvPr>
            <p:cNvSpPr>
              <a:spLocks noChangeArrowheads="1"/>
            </p:cNvSpPr>
            <p:nvPr/>
          </p:nvSpPr>
          <p:spPr bwMode="auto">
            <a:xfrm>
              <a:off x="4211996" y="162898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1" name="Rectangle 93">
              <a:extLst>
                <a:ext uri="{FF2B5EF4-FFF2-40B4-BE49-F238E27FC236}">
                  <a16:creationId xmlns:a16="http://schemas.microsoft.com/office/drawing/2014/main" id="{E1E043CA-0E9C-36CC-C55B-8284E80CA3A5}"/>
                </a:ext>
              </a:extLst>
            </p:cNvPr>
            <p:cNvSpPr>
              <a:spLocks noChangeArrowheads="1"/>
            </p:cNvSpPr>
            <p:nvPr/>
          </p:nvSpPr>
          <p:spPr bwMode="auto">
            <a:xfrm>
              <a:off x="4211996" y="270899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2" name="Rectangle 93">
              <a:extLst>
                <a:ext uri="{FF2B5EF4-FFF2-40B4-BE49-F238E27FC236}">
                  <a16:creationId xmlns:a16="http://schemas.microsoft.com/office/drawing/2014/main" id="{B3652693-69A7-94BB-AC7D-07947A06CD3F}"/>
                </a:ext>
              </a:extLst>
            </p:cNvPr>
            <p:cNvSpPr>
              <a:spLocks noChangeArrowheads="1"/>
            </p:cNvSpPr>
            <p:nvPr/>
          </p:nvSpPr>
          <p:spPr bwMode="auto">
            <a:xfrm>
              <a:off x="6010941" y="270899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3" name="Rectangle 93">
              <a:extLst>
                <a:ext uri="{FF2B5EF4-FFF2-40B4-BE49-F238E27FC236}">
                  <a16:creationId xmlns:a16="http://schemas.microsoft.com/office/drawing/2014/main" id="{F87DCDFB-6654-F748-5921-4850CE9459F4}"/>
                </a:ext>
              </a:extLst>
            </p:cNvPr>
            <p:cNvSpPr>
              <a:spLocks noChangeArrowheads="1"/>
            </p:cNvSpPr>
            <p:nvPr/>
          </p:nvSpPr>
          <p:spPr bwMode="auto">
            <a:xfrm>
              <a:off x="6010941" y="162898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04" name="直線コネクタ 103">
              <a:extLst>
                <a:ext uri="{FF2B5EF4-FFF2-40B4-BE49-F238E27FC236}">
                  <a16:creationId xmlns:a16="http://schemas.microsoft.com/office/drawing/2014/main" id="{ED9CBADE-DFCE-6370-D57C-E85A92569EC2}"/>
                </a:ext>
              </a:extLst>
            </p:cNvPr>
            <p:cNvCxnSpPr>
              <a:cxnSpLocks/>
            </p:cNvCxnSpPr>
            <p:nvPr/>
          </p:nvCxnSpPr>
          <p:spPr>
            <a:xfrm flipH="1">
              <a:off x="5652012" y="270899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5" name="グループ化 152">
              <a:extLst>
                <a:ext uri="{FF2B5EF4-FFF2-40B4-BE49-F238E27FC236}">
                  <a16:creationId xmlns:a16="http://schemas.microsoft.com/office/drawing/2014/main" id="{B2CE947B-D029-AA8B-D793-8DDC243CF948}"/>
                </a:ext>
              </a:extLst>
            </p:cNvPr>
            <p:cNvGrpSpPr/>
            <p:nvPr/>
          </p:nvGrpSpPr>
          <p:grpSpPr>
            <a:xfrm>
              <a:off x="4121995" y="3158997"/>
              <a:ext cx="180002" cy="90001"/>
              <a:chOff x="3643306" y="4500570"/>
              <a:chExt cx="428628" cy="144464"/>
            </a:xfrm>
          </p:grpSpPr>
          <p:cxnSp>
            <p:nvCxnSpPr>
              <p:cNvPr id="106" name="直線コネクタ 105">
                <a:extLst>
                  <a:ext uri="{FF2B5EF4-FFF2-40B4-BE49-F238E27FC236}">
                    <a16:creationId xmlns:a16="http://schemas.microsoft.com/office/drawing/2014/main" id="{98247DC5-5890-AF63-E603-06AE16CD821A}"/>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7" name="直線コネクタ 106">
                <a:extLst>
                  <a:ext uri="{FF2B5EF4-FFF2-40B4-BE49-F238E27FC236}">
                    <a16:creationId xmlns:a16="http://schemas.microsoft.com/office/drawing/2014/main" id="{4FD3B5E9-2547-F4C9-1D44-60C98825FDB7}"/>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8" name="直線コネクタ 107">
                <a:extLst>
                  <a:ext uri="{FF2B5EF4-FFF2-40B4-BE49-F238E27FC236}">
                    <a16:creationId xmlns:a16="http://schemas.microsoft.com/office/drawing/2014/main" id="{9B4003D0-2A38-9898-C566-B4FEBD81F93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09" name="直線コネクタ 108">
              <a:extLst>
                <a:ext uri="{FF2B5EF4-FFF2-40B4-BE49-F238E27FC236}">
                  <a16:creationId xmlns:a16="http://schemas.microsoft.com/office/drawing/2014/main" id="{7A90873C-C0D1-F367-F724-6B21EED70ADD}"/>
                </a:ext>
              </a:extLst>
            </p:cNvPr>
            <p:cNvCxnSpPr>
              <a:cxnSpLocks/>
            </p:cNvCxnSpPr>
            <p:nvPr/>
          </p:nvCxnSpPr>
          <p:spPr>
            <a:xfrm flipH="1">
              <a:off x="4211996" y="2708992"/>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0" name="直線コネクタ 109">
              <a:extLst>
                <a:ext uri="{FF2B5EF4-FFF2-40B4-BE49-F238E27FC236}">
                  <a16:creationId xmlns:a16="http://schemas.microsoft.com/office/drawing/2014/main" id="{523446BB-7F8C-BC74-B8DB-6F50B550651A}"/>
                </a:ext>
              </a:extLst>
            </p:cNvPr>
            <p:cNvCxnSpPr>
              <a:cxnSpLocks/>
            </p:cNvCxnSpPr>
            <p:nvPr/>
          </p:nvCxnSpPr>
          <p:spPr>
            <a:xfrm flipV="1">
              <a:off x="4211996" y="2708992"/>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07E3F49D-C466-0136-2F91-E6C6D3A07552}"/>
                </a:ext>
              </a:extLst>
            </p:cNvPr>
            <p:cNvCxnSpPr>
              <a:cxnSpLocks/>
            </p:cNvCxnSpPr>
            <p:nvPr/>
          </p:nvCxnSpPr>
          <p:spPr>
            <a:xfrm flipH="1">
              <a:off x="5652012" y="1988984"/>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2" name="Rectangle 93">
              <a:extLst>
                <a:ext uri="{FF2B5EF4-FFF2-40B4-BE49-F238E27FC236}">
                  <a16:creationId xmlns:a16="http://schemas.microsoft.com/office/drawing/2014/main" id="{828682E3-AFA4-2D84-FFFB-C27DDF08A940}"/>
                </a:ext>
              </a:extLst>
            </p:cNvPr>
            <p:cNvSpPr>
              <a:spLocks noChangeArrowheads="1"/>
            </p:cNvSpPr>
            <p:nvPr/>
          </p:nvSpPr>
          <p:spPr bwMode="auto">
            <a:xfrm>
              <a:off x="3941993" y="3248998"/>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113" name="Rectangle 93">
              <a:extLst>
                <a:ext uri="{FF2B5EF4-FFF2-40B4-BE49-F238E27FC236}">
                  <a16:creationId xmlns:a16="http://schemas.microsoft.com/office/drawing/2014/main" id="{00944D24-E889-C775-D967-0D0DFD48CFB3}"/>
                </a:ext>
              </a:extLst>
            </p:cNvPr>
            <p:cNvSpPr>
              <a:spLocks noChangeArrowheads="1"/>
            </p:cNvSpPr>
            <p:nvPr/>
          </p:nvSpPr>
          <p:spPr bwMode="auto">
            <a:xfrm>
              <a:off x="3851992" y="180898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grpSp>
      <p:grpSp>
        <p:nvGrpSpPr>
          <p:cNvPr id="147" name="グループ化 146">
            <a:extLst>
              <a:ext uri="{FF2B5EF4-FFF2-40B4-BE49-F238E27FC236}">
                <a16:creationId xmlns:a16="http://schemas.microsoft.com/office/drawing/2014/main" id="{1EB14A43-76D4-263C-51C2-B162C74E49FA}"/>
              </a:ext>
            </a:extLst>
          </p:cNvPr>
          <p:cNvGrpSpPr/>
          <p:nvPr/>
        </p:nvGrpSpPr>
        <p:grpSpPr>
          <a:xfrm>
            <a:off x="4655984" y="4779015"/>
            <a:ext cx="2520028" cy="1980380"/>
            <a:chOff x="3851992" y="4149008"/>
            <a:chExt cx="2520028" cy="1980380"/>
          </a:xfrm>
        </p:grpSpPr>
        <p:sp>
          <p:nvSpPr>
            <p:cNvPr id="114" name="正方形/長方形 113">
              <a:extLst>
                <a:ext uri="{FF2B5EF4-FFF2-40B4-BE49-F238E27FC236}">
                  <a16:creationId xmlns:a16="http://schemas.microsoft.com/office/drawing/2014/main" id="{784BA43E-3A35-57AB-0970-CA6899FD5258}"/>
                </a:ext>
              </a:extLst>
            </p:cNvPr>
            <p:cNvSpPr/>
            <p:nvPr/>
          </p:nvSpPr>
          <p:spPr bwMode="auto">
            <a:xfrm>
              <a:off x="4572000" y="4419011"/>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15" name="円/楕円 69">
              <a:extLst>
                <a:ext uri="{FF2B5EF4-FFF2-40B4-BE49-F238E27FC236}">
                  <a16:creationId xmlns:a16="http://schemas.microsoft.com/office/drawing/2014/main" id="{F28F4AB7-E9AF-A6DA-FD25-CB777A301AC3}"/>
                </a:ext>
              </a:extLst>
            </p:cNvPr>
            <p:cNvSpPr/>
            <p:nvPr/>
          </p:nvSpPr>
          <p:spPr>
            <a:xfrm rot="5400000">
              <a:off x="5608267" y="4689014"/>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16" name="直線コネクタ 115">
              <a:extLst>
                <a:ext uri="{FF2B5EF4-FFF2-40B4-BE49-F238E27FC236}">
                  <a16:creationId xmlns:a16="http://schemas.microsoft.com/office/drawing/2014/main" id="{19F75B5F-E81B-D7B3-2124-BABA3BA43EEA}"/>
                </a:ext>
              </a:extLst>
            </p:cNvPr>
            <p:cNvCxnSpPr>
              <a:cxnSpLocks/>
            </p:cNvCxnSpPr>
            <p:nvPr/>
          </p:nvCxnSpPr>
          <p:spPr>
            <a:xfrm flipH="1">
              <a:off x="4211996" y="450901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17" name="グループ化 116">
              <a:extLst>
                <a:ext uri="{FF2B5EF4-FFF2-40B4-BE49-F238E27FC236}">
                  <a16:creationId xmlns:a16="http://schemas.microsoft.com/office/drawing/2014/main" id="{65E50686-660D-DEDC-3C04-433DFC76812D}"/>
                </a:ext>
              </a:extLst>
            </p:cNvPr>
            <p:cNvGrpSpPr/>
            <p:nvPr/>
          </p:nvGrpSpPr>
          <p:grpSpPr>
            <a:xfrm>
              <a:off x="4752002" y="4509012"/>
              <a:ext cx="360004" cy="720007"/>
              <a:chOff x="3131985" y="5049018"/>
              <a:chExt cx="180002" cy="437056"/>
            </a:xfrm>
          </p:grpSpPr>
          <p:grpSp>
            <p:nvGrpSpPr>
              <p:cNvPr id="118" name="グループ化 117">
                <a:extLst>
                  <a:ext uri="{FF2B5EF4-FFF2-40B4-BE49-F238E27FC236}">
                    <a16:creationId xmlns:a16="http://schemas.microsoft.com/office/drawing/2014/main" id="{36F1AEC4-DEE9-D8A9-20F7-EC223E271536}"/>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56BB3C6E-0D7D-84D7-A1E0-8A23FD82BD0E}"/>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6BF4E43D-2E16-FB9E-ACCB-A02BD34E6DC6}"/>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7D80D21B-A1B5-6D8B-A69B-94D088D94A32}"/>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E6040A0B-BD3F-02D0-2B37-975A9D2BA2F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8B7B79E5-1832-561A-2BC9-FE91780122E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5EA161F9-1D24-483C-6C5A-3FC73FCB3A5F}"/>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25" name="直線コネクタ 124">
              <a:extLst>
                <a:ext uri="{FF2B5EF4-FFF2-40B4-BE49-F238E27FC236}">
                  <a16:creationId xmlns:a16="http://schemas.microsoft.com/office/drawing/2014/main" id="{5A3F2E20-AEB3-6D3E-D48C-A16BF6CFD370}"/>
                </a:ext>
              </a:extLst>
            </p:cNvPr>
            <p:cNvCxnSpPr>
              <a:cxnSpLocks/>
            </p:cNvCxnSpPr>
            <p:nvPr/>
          </p:nvCxnSpPr>
          <p:spPr>
            <a:xfrm flipH="1">
              <a:off x="4572000" y="5229020"/>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6" name="直線コネクタ 125">
              <a:extLst>
                <a:ext uri="{FF2B5EF4-FFF2-40B4-BE49-F238E27FC236}">
                  <a16:creationId xmlns:a16="http://schemas.microsoft.com/office/drawing/2014/main" id="{0DC7F943-0222-9B96-0B14-5ADC7DFACE14}"/>
                </a:ext>
              </a:extLst>
            </p:cNvPr>
            <p:cNvCxnSpPr>
              <a:cxnSpLocks/>
              <a:endCxn id="127" idx="4"/>
            </p:cNvCxnSpPr>
            <p:nvPr/>
          </p:nvCxnSpPr>
          <p:spPr>
            <a:xfrm>
              <a:off x="5605744" y="4689014"/>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7" name="円/楕円 68">
              <a:extLst>
                <a:ext uri="{FF2B5EF4-FFF2-40B4-BE49-F238E27FC236}">
                  <a16:creationId xmlns:a16="http://schemas.microsoft.com/office/drawing/2014/main" id="{25715270-6906-969C-E707-6FC0FDBF32CC}"/>
                </a:ext>
              </a:extLst>
            </p:cNvPr>
            <p:cNvSpPr/>
            <p:nvPr/>
          </p:nvSpPr>
          <p:spPr>
            <a:xfrm rot="5400000">
              <a:off x="5605733" y="4959028"/>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28" name="直線コネクタ 127">
              <a:extLst>
                <a:ext uri="{FF2B5EF4-FFF2-40B4-BE49-F238E27FC236}">
                  <a16:creationId xmlns:a16="http://schemas.microsoft.com/office/drawing/2014/main" id="{15E625B6-ADF9-9B30-8AC7-8882E2EC2ED1}"/>
                </a:ext>
              </a:extLst>
            </p:cNvPr>
            <p:cNvCxnSpPr>
              <a:cxnSpLocks/>
              <a:endCxn id="115" idx="2"/>
            </p:cNvCxnSpPr>
            <p:nvPr/>
          </p:nvCxnSpPr>
          <p:spPr>
            <a:xfrm>
              <a:off x="5652012" y="4509012"/>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9" name="直線コネクタ 128">
              <a:extLst>
                <a:ext uri="{FF2B5EF4-FFF2-40B4-BE49-F238E27FC236}">
                  <a16:creationId xmlns:a16="http://schemas.microsoft.com/office/drawing/2014/main" id="{1AE9A113-236C-C545-0AD8-7B9BC5A53C37}"/>
                </a:ext>
              </a:extLst>
            </p:cNvPr>
            <p:cNvCxnSpPr>
              <a:cxnSpLocks/>
            </p:cNvCxnSpPr>
            <p:nvPr/>
          </p:nvCxnSpPr>
          <p:spPr>
            <a:xfrm>
              <a:off x="5652012" y="5049018"/>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30" name="Rectangle 93">
              <a:extLst>
                <a:ext uri="{FF2B5EF4-FFF2-40B4-BE49-F238E27FC236}">
                  <a16:creationId xmlns:a16="http://schemas.microsoft.com/office/drawing/2014/main" id="{697ADA0B-E163-FB1D-BE50-F6310915D944}"/>
                </a:ext>
              </a:extLst>
            </p:cNvPr>
            <p:cNvSpPr>
              <a:spLocks noChangeArrowheads="1"/>
            </p:cNvSpPr>
            <p:nvPr/>
          </p:nvSpPr>
          <p:spPr bwMode="auto">
            <a:xfrm>
              <a:off x="4211996" y="414900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31" name="Rectangle 93">
              <a:extLst>
                <a:ext uri="{FF2B5EF4-FFF2-40B4-BE49-F238E27FC236}">
                  <a16:creationId xmlns:a16="http://schemas.microsoft.com/office/drawing/2014/main" id="{C1A7140B-ECE2-BCA5-04CF-4CD0BE55E6EA}"/>
                </a:ext>
              </a:extLst>
            </p:cNvPr>
            <p:cNvSpPr>
              <a:spLocks noChangeArrowheads="1"/>
            </p:cNvSpPr>
            <p:nvPr/>
          </p:nvSpPr>
          <p:spPr bwMode="auto">
            <a:xfrm>
              <a:off x="4211996" y="522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32" name="Rectangle 93">
              <a:extLst>
                <a:ext uri="{FF2B5EF4-FFF2-40B4-BE49-F238E27FC236}">
                  <a16:creationId xmlns:a16="http://schemas.microsoft.com/office/drawing/2014/main" id="{71A34840-66E4-813A-5782-027B0268BB48}"/>
                </a:ext>
              </a:extLst>
            </p:cNvPr>
            <p:cNvSpPr>
              <a:spLocks noChangeArrowheads="1"/>
            </p:cNvSpPr>
            <p:nvPr/>
          </p:nvSpPr>
          <p:spPr bwMode="auto">
            <a:xfrm>
              <a:off x="6010941" y="522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3" name="Rectangle 93">
              <a:extLst>
                <a:ext uri="{FF2B5EF4-FFF2-40B4-BE49-F238E27FC236}">
                  <a16:creationId xmlns:a16="http://schemas.microsoft.com/office/drawing/2014/main" id="{A3A551B5-84D2-88C5-679A-603E85F1ECDF}"/>
                </a:ext>
              </a:extLst>
            </p:cNvPr>
            <p:cNvSpPr>
              <a:spLocks noChangeArrowheads="1"/>
            </p:cNvSpPr>
            <p:nvPr/>
          </p:nvSpPr>
          <p:spPr bwMode="auto">
            <a:xfrm>
              <a:off x="6010941"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34" name="直線コネクタ 133">
              <a:extLst>
                <a:ext uri="{FF2B5EF4-FFF2-40B4-BE49-F238E27FC236}">
                  <a16:creationId xmlns:a16="http://schemas.microsoft.com/office/drawing/2014/main" id="{60EF2CFC-3108-5B4D-011A-11E6E84D992A}"/>
                </a:ext>
              </a:extLst>
            </p:cNvPr>
            <p:cNvCxnSpPr>
              <a:cxnSpLocks/>
            </p:cNvCxnSpPr>
            <p:nvPr/>
          </p:nvCxnSpPr>
          <p:spPr>
            <a:xfrm flipH="1">
              <a:off x="5652012" y="522902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35" name="グループ化 152">
              <a:extLst>
                <a:ext uri="{FF2B5EF4-FFF2-40B4-BE49-F238E27FC236}">
                  <a16:creationId xmlns:a16="http://schemas.microsoft.com/office/drawing/2014/main" id="{AAD6D005-43BB-3669-BECE-4C5ACABED7F9}"/>
                </a:ext>
              </a:extLst>
            </p:cNvPr>
            <p:cNvGrpSpPr/>
            <p:nvPr/>
          </p:nvGrpSpPr>
          <p:grpSpPr>
            <a:xfrm>
              <a:off x="4121995" y="5679025"/>
              <a:ext cx="180002" cy="90001"/>
              <a:chOff x="3643306" y="4500570"/>
              <a:chExt cx="428628" cy="144464"/>
            </a:xfrm>
          </p:grpSpPr>
          <p:cxnSp>
            <p:nvCxnSpPr>
              <p:cNvPr id="136" name="直線コネクタ 135">
                <a:extLst>
                  <a:ext uri="{FF2B5EF4-FFF2-40B4-BE49-F238E27FC236}">
                    <a16:creationId xmlns:a16="http://schemas.microsoft.com/office/drawing/2014/main" id="{2A73AB4A-FC00-87C5-CA81-389993E29BD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7" name="直線コネクタ 136">
                <a:extLst>
                  <a:ext uri="{FF2B5EF4-FFF2-40B4-BE49-F238E27FC236}">
                    <a16:creationId xmlns:a16="http://schemas.microsoft.com/office/drawing/2014/main" id="{AB364201-7060-E5F5-DCE4-3E2A8DD726C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8" name="直線コネクタ 137">
                <a:extLst>
                  <a:ext uri="{FF2B5EF4-FFF2-40B4-BE49-F238E27FC236}">
                    <a16:creationId xmlns:a16="http://schemas.microsoft.com/office/drawing/2014/main" id="{CAAD3391-2FCD-A93B-45D2-593A4072EE5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39" name="直線コネクタ 138">
              <a:extLst>
                <a:ext uri="{FF2B5EF4-FFF2-40B4-BE49-F238E27FC236}">
                  <a16:creationId xmlns:a16="http://schemas.microsoft.com/office/drawing/2014/main" id="{9050540D-4AC8-6618-773E-B9ACB8B8B364}"/>
                </a:ext>
              </a:extLst>
            </p:cNvPr>
            <p:cNvCxnSpPr>
              <a:cxnSpLocks/>
            </p:cNvCxnSpPr>
            <p:nvPr/>
          </p:nvCxnSpPr>
          <p:spPr>
            <a:xfrm flipH="1">
              <a:off x="4211996" y="5229020"/>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0" name="直線コネクタ 139">
              <a:extLst>
                <a:ext uri="{FF2B5EF4-FFF2-40B4-BE49-F238E27FC236}">
                  <a16:creationId xmlns:a16="http://schemas.microsoft.com/office/drawing/2014/main" id="{17B3B339-00D3-E24F-264F-769E786E2A21}"/>
                </a:ext>
              </a:extLst>
            </p:cNvPr>
            <p:cNvCxnSpPr>
              <a:cxnSpLocks/>
            </p:cNvCxnSpPr>
            <p:nvPr/>
          </p:nvCxnSpPr>
          <p:spPr>
            <a:xfrm flipV="1">
              <a:off x="4211996" y="5229020"/>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30F76D13-D0EB-E93F-17CB-8E357560E6B6}"/>
                </a:ext>
              </a:extLst>
            </p:cNvPr>
            <p:cNvCxnSpPr>
              <a:cxnSpLocks/>
            </p:cNvCxnSpPr>
            <p:nvPr/>
          </p:nvCxnSpPr>
          <p:spPr>
            <a:xfrm flipH="1">
              <a:off x="5652012" y="4509012"/>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A714EE66-0CEE-E95B-326E-3D792A34E500}"/>
                </a:ext>
              </a:extLst>
            </p:cNvPr>
            <p:cNvSpPr>
              <a:spLocks noChangeArrowheads="1"/>
            </p:cNvSpPr>
            <p:nvPr/>
          </p:nvSpPr>
          <p:spPr bwMode="auto">
            <a:xfrm>
              <a:off x="3941993" y="576902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143" name="Rectangle 93">
              <a:extLst>
                <a:ext uri="{FF2B5EF4-FFF2-40B4-BE49-F238E27FC236}">
                  <a16:creationId xmlns:a16="http://schemas.microsoft.com/office/drawing/2014/main" id="{3C19CA13-E153-48F8-2BC7-6C54F5EF14BD}"/>
                </a:ext>
              </a:extLst>
            </p:cNvPr>
            <p:cNvSpPr>
              <a:spLocks noChangeArrowheads="1"/>
            </p:cNvSpPr>
            <p:nvPr/>
          </p:nvSpPr>
          <p:spPr bwMode="auto">
            <a:xfrm>
              <a:off x="3851992"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1</a:t>
              </a:r>
            </a:p>
          </p:txBody>
        </p:sp>
      </p:grpSp>
      <p:graphicFrame>
        <p:nvGraphicFramePr>
          <p:cNvPr id="145" name="Group 383">
            <a:extLst>
              <a:ext uri="{FF2B5EF4-FFF2-40B4-BE49-F238E27FC236}">
                <a16:creationId xmlns:a16="http://schemas.microsoft.com/office/drawing/2014/main" id="{E78F6A71-B874-CC7A-096B-89598706780F}"/>
              </a:ext>
            </a:extLst>
          </p:cNvPr>
          <p:cNvGraphicFramePr>
            <a:graphicFrameLocks/>
          </p:cNvGraphicFramePr>
          <p:nvPr>
            <p:extLst>
              <p:ext uri="{D42A27DB-BD31-4B8C-83A1-F6EECF244321}">
                <p14:modId xmlns:p14="http://schemas.microsoft.com/office/powerpoint/2010/main" val="872214658"/>
              </p:ext>
            </p:extLst>
          </p:nvPr>
        </p:nvGraphicFramePr>
        <p:xfrm>
          <a:off x="8616028" y="306899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50" name="コンテンツ プレースホルダー 2">
            <a:extLst>
              <a:ext uri="{FF2B5EF4-FFF2-40B4-BE49-F238E27FC236}">
                <a16:creationId xmlns:a16="http://schemas.microsoft.com/office/drawing/2014/main" id="{1310ECCF-0FFF-09E3-24C1-EDB1B1FBA9DE}"/>
              </a:ext>
            </a:extLst>
          </p:cNvPr>
          <p:cNvSpPr txBox="1">
            <a:spLocks/>
          </p:cNvSpPr>
          <p:nvPr/>
        </p:nvSpPr>
        <p:spPr bwMode="auto">
          <a:xfrm>
            <a:off x="2135956" y="4059007"/>
            <a:ext cx="8280092" cy="72000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G </a:t>
            </a:r>
            <a:r>
              <a:rPr lang="ja-JP" altLang="en-US" kern="0" dirty="0"/>
              <a:t>が高電位（</a:t>
            </a:r>
            <a:r>
              <a:rPr lang="en-US" altLang="ja-JP" kern="0" dirty="0"/>
              <a:t>= 1</a:t>
            </a:r>
            <a:r>
              <a:rPr lang="ja-JP" altLang="en-US" kern="0" dirty="0"/>
              <a:t>）</a:t>
            </a:r>
            <a:r>
              <a:rPr lang="en-US" altLang="ja-JP" kern="0" dirty="0"/>
              <a:t> </a:t>
            </a:r>
            <a:r>
              <a:rPr lang="ja-JP" altLang="en-US" kern="0" dirty="0"/>
              <a:t>→ スイッチ </a:t>
            </a:r>
            <a:r>
              <a:rPr lang="en-US" altLang="ja-JP" kern="0" dirty="0"/>
              <a:t>ON</a:t>
            </a:r>
          </a:p>
          <a:p>
            <a:pPr lvl="1"/>
            <a:r>
              <a:rPr lang="en-US" altLang="ja-JP" dirty="0"/>
              <a:t>G~B </a:t>
            </a:r>
            <a:r>
              <a:rPr lang="ja-JP" altLang="en-US" dirty="0"/>
              <a:t>間は電位差がありコイルが動作</a:t>
            </a:r>
            <a:endParaRPr lang="en-US" kern="0" dirty="0"/>
          </a:p>
        </p:txBody>
      </p:sp>
    </p:spTree>
    <p:extLst>
      <p:ext uri="{BB962C8B-B14F-4D97-AF65-F5344CB8AC3E}">
        <p14:creationId xmlns:p14="http://schemas.microsoft.com/office/powerpoint/2010/main" val="29485084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N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type="body" sz="quarter" idx="10"/>
          </p:nvPr>
        </p:nvSpPr>
        <p:spPr>
          <a:xfrm>
            <a:off x="2135956" y="1268976"/>
            <a:ext cx="8280092" cy="900010"/>
          </a:xfrm>
        </p:spPr>
        <p:txBody>
          <a:bodyPr/>
          <a:lstStyle/>
          <a:p>
            <a:r>
              <a:rPr kumimoji="1" lang="ja-JP" altLang="en-US" dirty="0"/>
              <a:t>左の省略系として右のように描く</a:t>
            </a:r>
            <a:endParaRPr kumimoji="1" lang="en-US" altLang="ja-JP" dirty="0"/>
          </a:p>
          <a:p>
            <a:pPr lvl="1"/>
            <a:r>
              <a:rPr kumimoji="1" lang="ja-JP" altLang="en-US" dirty="0"/>
              <a:t>毎回ぜんぶの場所にコイルや </a:t>
            </a:r>
            <a:r>
              <a:rPr kumimoji="1" lang="en-US" altLang="ja-JP" dirty="0"/>
              <a:t>GND </a:t>
            </a:r>
            <a:r>
              <a:rPr kumimoji="1" lang="ja-JP" altLang="en-US" dirty="0"/>
              <a:t>を描くとややこしい</a:t>
            </a:r>
            <a:endParaRPr kumimoji="1"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1955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pSp>
        <p:nvGrpSpPr>
          <p:cNvPr id="30" name="グループ化 29">
            <a:extLst>
              <a:ext uri="{FF2B5EF4-FFF2-40B4-BE49-F238E27FC236}">
                <a16:creationId xmlns:a16="http://schemas.microsoft.com/office/drawing/2014/main" id="{1D26F62B-4ADD-2335-B3A5-F003CE18DB1B}"/>
              </a:ext>
            </a:extLst>
          </p:cNvPr>
          <p:cNvGrpSpPr/>
          <p:nvPr/>
        </p:nvGrpSpPr>
        <p:grpSpPr>
          <a:xfrm>
            <a:off x="3665974" y="2708992"/>
            <a:ext cx="2430027" cy="1980380"/>
            <a:chOff x="1781969" y="3068996"/>
            <a:chExt cx="2430027" cy="1980380"/>
          </a:xfrm>
        </p:grpSpPr>
        <p:sp>
          <p:nvSpPr>
            <p:cNvPr id="73" name="正方形/長方形 72">
              <a:extLst>
                <a:ext uri="{FF2B5EF4-FFF2-40B4-BE49-F238E27FC236}">
                  <a16:creationId xmlns:a16="http://schemas.microsoft.com/office/drawing/2014/main" id="{0052F1F3-C64C-DF83-F9C4-85DB4B3DB6E0}"/>
                </a:ext>
              </a:extLst>
            </p:cNvPr>
            <p:cNvSpPr/>
            <p:nvPr/>
          </p:nvSpPr>
          <p:spPr bwMode="auto">
            <a:xfrm>
              <a:off x="2411976" y="3338999"/>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 name="円/楕円 69">
              <a:extLst>
                <a:ext uri="{FF2B5EF4-FFF2-40B4-BE49-F238E27FC236}">
                  <a16:creationId xmlns:a16="http://schemas.microsoft.com/office/drawing/2014/main" id="{27ED7D89-5BDE-D968-7FA4-FDD87CFA58A5}"/>
                </a:ext>
              </a:extLst>
            </p:cNvPr>
            <p:cNvSpPr/>
            <p:nvPr/>
          </p:nvSpPr>
          <p:spPr>
            <a:xfrm rot="5400000">
              <a:off x="3448243"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 name="直線コネクタ 4">
              <a:extLst>
                <a:ext uri="{FF2B5EF4-FFF2-40B4-BE49-F238E27FC236}">
                  <a16:creationId xmlns:a16="http://schemas.microsoft.com/office/drawing/2014/main" id="{239207F0-970F-3F00-74FE-3176AB63465C}"/>
                </a:ext>
              </a:extLst>
            </p:cNvPr>
            <p:cNvCxnSpPr>
              <a:cxnSpLocks/>
            </p:cNvCxnSpPr>
            <p:nvPr/>
          </p:nvCxnSpPr>
          <p:spPr>
            <a:xfrm flipH="1">
              <a:off x="2051972"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6" name="グループ化 5">
              <a:extLst>
                <a:ext uri="{FF2B5EF4-FFF2-40B4-BE49-F238E27FC236}">
                  <a16:creationId xmlns:a16="http://schemas.microsoft.com/office/drawing/2014/main" id="{8B8E9ADE-52D1-BAAF-234E-B47812CBC69C}"/>
                </a:ext>
              </a:extLst>
            </p:cNvPr>
            <p:cNvGrpSpPr/>
            <p:nvPr/>
          </p:nvGrpSpPr>
          <p:grpSpPr>
            <a:xfrm>
              <a:off x="2591978" y="3429000"/>
              <a:ext cx="360004" cy="720007"/>
              <a:chOff x="3131985" y="5049018"/>
              <a:chExt cx="180002" cy="437056"/>
            </a:xfrm>
          </p:grpSpPr>
          <p:grpSp>
            <p:nvGrpSpPr>
              <p:cNvPr id="7" name="グループ化 6">
                <a:extLst>
                  <a:ext uri="{FF2B5EF4-FFF2-40B4-BE49-F238E27FC236}">
                    <a16:creationId xmlns:a16="http://schemas.microsoft.com/office/drawing/2014/main" id="{97A3B75D-6A12-AF4E-66C5-E3FB2CF63434}"/>
                  </a:ext>
                </a:extLst>
              </p:cNvPr>
              <p:cNvGrpSpPr/>
              <p:nvPr/>
            </p:nvGrpSpPr>
            <p:grpSpPr>
              <a:xfrm>
                <a:off x="3131985" y="5139021"/>
                <a:ext cx="180002" cy="254126"/>
                <a:chOff x="3131984" y="5191944"/>
                <a:chExt cx="270003" cy="201854"/>
              </a:xfrm>
            </p:grpSpPr>
            <p:sp>
              <p:nvSpPr>
                <p:cNvPr id="10" name="Freeform 42">
                  <a:extLst>
                    <a:ext uri="{FF2B5EF4-FFF2-40B4-BE49-F238E27FC236}">
                      <a16:creationId xmlns:a16="http://schemas.microsoft.com/office/drawing/2014/main" id="{FD031464-50A4-A26E-2623-1BD5C7C2CB9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 name="Freeform 42">
                  <a:extLst>
                    <a:ext uri="{FF2B5EF4-FFF2-40B4-BE49-F238E27FC236}">
                      <a16:creationId xmlns:a16="http://schemas.microsoft.com/office/drawing/2014/main" id="{FD8EFDC2-C3E9-85A4-C820-A2C9469D774F}"/>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 name="Freeform 42">
                  <a:extLst>
                    <a:ext uri="{FF2B5EF4-FFF2-40B4-BE49-F238E27FC236}">
                      <a16:creationId xmlns:a16="http://schemas.microsoft.com/office/drawing/2014/main" id="{5A1ACE3A-2114-235C-D8C9-8F0786F62683}"/>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 name="Freeform 42">
                  <a:extLst>
                    <a:ext uri="{FF2B5EF4-FFF2-40B4-BE49-F238E27FC236}">
                      <a16:creationId xmlns:a16="http://schemas.microsoft.com/office/drawing/2014/main" id="{6DBA4758-7B7C-544F-3DAC-48D46DD96E2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8" name="直線コネクタ 7">
                <a:extLst>
                  <a:ext uri="{FF2B5EF4-FFF2-40B4-BE49-F238E27FC236}">
                    <a16:creationId xmlns:a16="http://schemas.microsoft.com/office/drawing/2014/main" id="{08CE8CE0-F976-0C0B-89CC-9095FEE54BB1}"/>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969C34F4-FE79-AEC2-822A-50450B32E06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4" name="直線コネクタ 13">
              <a:extLst>
                <a:ext uri="{FF2B5EF4-FFF2-40B4-BE49-F238E27FC236}">
                  <a16:creationId xmlns:a16="http://schemas.microsoft.com/office/drawing/2014/main" id="{7CBC57C7-FDCA-93BA-3AAF-638DD6DC24FC}"/>
                </a:ext>
              </a:extLst>
            </p:cNvPr>
            <p:cNvCxnSpPr>
              <a:cxnSpLocks/>
            </p:cNvCxnSpPr>
            <p:nvPr/>
          </p:nvCxnSpPr>
          <p:spPr>
            <a:xfrm flipH="1">
              <a:off x="2411976" y="4149008"/>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F5C428A5-03EC-6383-A759-ABD1BA3A43CA}"/>
                </a:ext>
              </a:extLst>
            </p:cNvPr>
            <p:cNvCxnSpPr>
              <a:cxnSpLocks/>
              <a:endCxn id="16" idx="4"/>
            </p:cNvCxnSpPr>
            <p:nvPr/>
          </p:nvCxnSpPr>
          <p:spPr>
            <a:xfrm>
              <a:off x="3311986"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6" name="円/楕円 68">
              <a:extLst>
                <a:ext uri="{FF2B5EF4-FFF2-40B4-BE49-F238E27FC236}">
                  <a16:creationId xmlns:a16="http://schemas.microsoft.com/office/drawing/2014/main" id="{913C430F-8842-70D8-5968-714B4F9D7B5F}"/>
                </a:ext>
              </a:extLst>
            </p:cNvPr>
            <p:cNvSpPr/>
            <p:nvPr/>
          </p:nvSpPr>
          <p:spPr>
            <a:xfrm rot="5400000">
              <a:off x="3445709"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7" name="直線コネクタ 16">
              <a:extLst>
                <a:ext uri="{FF2B5EF4-FFF2-40B4-BE49-F238E27FC236}">
                  <a16:creationId xmlns:a16="http://schemas.microsoft.com/office/drawing/2014/main" id="{C0EED765-5E00-1D04-380A-CB2BD87154A4}"/>
                </a:ext>
              </a:extLst>
            </p:cNvPr>
            <p:cNvCxnSpPr>
              <a:cxnSpLocks/>
              <a:endCxn id="4" idx="2"/>
            </p:cNvCxnSpPr>
            <p:nvPr/>
          </p:nvCxnSpPr>
          <p:spPr>
            <a:xfrm>
              <a:off x="3491988"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D079E177-EBE2-7C6E-5E53-61D3B5BC8EA5}"/>
                </a:ext>
              </a:extLst>
            </p:cNvPr>
            <p:cNvCxnSpPr>
              <a:cxnSpLocks/>
            </p:cNvCxnSpPr>
            <p:nvPr/>
          </p:nvCxnSpPr>
          <p:spPr>
            <a:xfrm>
              <a:off x="3491988"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Rectangle 93">
              <a:extLst>
                <a:ext uri="{FF2B5EF4-FFF2-40B4-BE49-F238E27FC236}">
                  <a16:creationId xmlns:a16="http://schemas.microsoft.com/office/drawing/2014/main" id="{6CF79804-210A-6488-F259-E672F4320942}"/>
                </a:ext>
              </a:extLst>
            </p:cNvPr>
            <p:cNvSpPr>
              <a:spLocks noChangeArrowheads="1"/>
            </p:cNvSpPr>
            <p:nvPr/>
          </p:nvSpPr>
          <p:spPr bwMode="auto">
            <a:xfrm>
              <a:off x="2051972" y="306899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 name="Rectangle 93">
              <a:extLst>
                <a:ext uri="{FF2B5EF4-FFF2-40B4-BE49-F238E27FC236}">
                  <a16:creationId xmlns:a16="http://schemas.microsoft.com/office/drawing/2014/main" id="{8C6B7694-0CC7-5775-B2BC-CDB28A10938F}"/>
                </a:ext>
              </a:extLst>
            </p:cNvPr>
            <p:cNvSpPr>
              <a:spLocks noChangeArrowheads="1"/>
            </p:cNvSpPr>
            <p:nvPr/>
          </p:nvSpPr>
          <p:spPr bwMode="auto">
            <a:xfrm>
              <a:off x="2051972"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1" name="Rectangle 93">
              <a:extLst>
                <a:ext uri="{FF2B5EF4-FFF2-40B4-BE49-F238E27FC236}">
                  <a16:creationId xmlns:a16="http://schemas.microsoft.com/office/drawing/2014/main" id="{92C66BC4-909C-9DBF-61BB-E90F6404DF3C}"/>
                </a:ext>
              </a:extLst>
            </p:cNvPr>
            <p:cNvSpPr>
              <a:spLocks noChangeArrowheads="1"/>
            </p:cNvSpPr>
            <p:nvPr/>
          </p:nvSpPr>
          <p:spPr bwMode="auto">
            <a:xfrm>
              <a:off x="3850917"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2" name="Rectangle 93">
              <a:extLst>
                <a:ext uri="{FF2B5EF4-FFF2-40B4-BE49-F238E27FC236}">
                  <a16:creationId xmlns:a16="http://schemas.microsoft.com/office/drawing/2014/main" id="{82CDDB03-ED29-70A9-08E2-A507D0DC266C}"/>
                </a:ext>
              </a:extLst>
            </p:cNvPr>
            <p:cNvSpPr>
              <a:spLocks noChangeArrowheads="1"/>
            </p:cNvSpPr>
            <p:nvPr/>
          </p:nvSpPr>
          <p:spPr bwMode="auto">
            <a:xfrm>
              <a:off x="3850917"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3" name="直線コネクタ 22">
              <a:extLst>
                <a:ext uri="{FF2B5EF4-FFF2-40B4-BE49-F238E27FC236}">
                  <a16:creationId xmlns:a16="http://schemas.microsoft.com/office/drawing/2014/main" id="{41AF3067-0216-B287-2202-FF86BEB590D9}"/>
                </a:ext>
              </a:extLst>
            </p:cNvPr>
            <p:cNvCxnSpPr>
              <a:cxnSpLocks/>
            </p:cNvCxnSpPr>
            <p:nvPr/>
          </p:nvCxnSpPr>
          <p:spPr>
            <a:xfrm flipH="1">
              <a:off x="3491988"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 name="グループ化 152">
              <a:extLst>
                <a:ext uri="{FF2B5EF4-FFF2-40B4-BE49-F238E27FC236}">
                  <a16:creationId xmlns:a16="http://schemas.microsoft.com/office/drawing/2014/main" id="{C3ECDE06-9D85-CCD3-6818-BE0583AAB859}"/>
                </a:ext>
              </a:extLst>
            </p:cNvPr>
            <p:cNvGrpSpPr/>
            <p:nvPr/>
          </p:nvGrpSpPr>
          <p:grpSpPr>
            <a:xfrm>
              <a:off x="1961971" y="4599013"/>
              <a:ext cx="180002" cy="90001"/>
              <a:chOff x="3643306" y="4500570"/>
              <a:chExt cx="428628" cy="144464"/>
            </a:xfrm>
          </p:grpSpPr>
          <p:cxnSp>
            <p:nvCxnSpPr>
              <p:cNvPr id="26" name="直線コネクタ 25">
                <a:extLst>
                  <a:ext uri="{FF2B5EF4-FFF2-40B4-BE49-F238E27FC236}">
                    <a16:creationId xmlns:a16="http://schemas.microsoft.com/office/drawing/2014/main" id="{3B718EFD-0C23-5CE6-0732-E8A0A7DB773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 name="直線コネクタ 26">
                <a:extLst>
                  <a:ext uri="{FF2B5EF4-FFF2-40B4-BE49-F238E27FC236}">
                    <a16:creationId xmlns:a16="http://schemas.microsoft.com/office/drawing/2014/main" id="{40D8F8ED-350F-0BB8-2A41-8E8325E5850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863558CE-8857-2A3E-2509-6967075EBA8A}"/>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39" name="直線コネクタ 38">
              <a:extLst>
                <a:ext uri="{FF2B5EF4-FFF2-40B4-BE49-F238E27FC236}">
                  <a16:creationId xmlns:a16="http://schemas.microsoft.com/office/drawing/2014/main" id="{98B2AB87-367F-832B-E786-71A205A9019B}"/>
                </a:ext>
              </a:extLst>
            </p:cNvPr>
            <p:cNvCxnSpPr>
              <a:cxnSpLocks/>
            </p:cNvCxnSpPr>
            <p:nvPr/>
          </p:nvCxnSpPr>
          <p:spPr>
            <a:xfrm flipH="1">
              <a:off x="2051972" y="4149008"/>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6C560B9A-64F3-D4F5-9714-63FAC12D5E44}"/>
                </a:ext>
              </a:extLst>
            </p:cNvPr>
            <p:cNvCxnSpPr>
              <a:cxnSpLocks/>
            </p:cNvCxnSpPr>
            <p:nvPr/>
          </p:nvCxnSpPr>
          <p:spPr>
            <a:xfrm flipV="1">
              <a:off x="2051972"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0E87782C-5AB5-CD82-F4B5-74C1DD84700A}"/>
                </a:ext>
              </a:extLst>
            </p:cNvPr>
            <p:cNvCxnSpPr>
              <a:cxnSpLocks/>
            </p:cNvCxnSpPr>
            <p:nvPr/>
          </p:nvCxnSpPr>
          <p:spPr>
            <a:xfrm flipH="1">
              <a:off x="3491988"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233FEF5A-3A77-D112-A9BA-70D053884F74}"/>
                </a:ext>
              </a:extLst>
            </p:cNvPr>
            <p:cNvSpPr>
              <a:spLocks noChangeArrowheads="1"/>
            </p:cNvSpPr>
            <p:nvPr/>
          </p:nvSpPr>
          <p:spPr bwMode="auto">
            <a:xfrm>
              <a:off x="1781969" y="468901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31" name="グループ化 30">
            <a:extLst>
              <a:ext uri="{FF2B5EF4-FFF2-40B4-BE49-F238E27FC236}">
                <a16:creationId xmlns:a16="http://schemas.microsoft.com/office/drawing/2014/main" id="{979102F4-D96C-21AE-DDA5-D303E779121F}"/>
              </a:ext>
            </a:extLst>
          </p:cNvPr>
          <p:cNvGrpSpPr/>
          <p:nvPr/>
        </p:nvGrpSpPr>
        <p:grpSpPr>
          <a:xfrm>
            <a:off x="6726007" y="2708992"/>
            <a:ext cx="1531092" cy="1440374"/>
            <a:chOff x="5202007" y="3068996"/>
            <a:chExt cx="1531092" cy="1440374"/>
          </a:xfrm>
        </p:grpSpPr>
        <p:sp>
          <p:nvSpPr>
            <p:cNvPr id="77" name="正方形/長方形 76">
              <a:extLst>
                <a:ext uri="{FF2B5EF4-FFF2-40B4-BE49-F238E27FC236}">
                  <a16:creationId xmlns:a16="http://schemas.microsoft.com/office/drawing/2014/main" id="{8191A662-0875-0B7E-ECDB-6E4CB416E6D7}"/>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5" name="円/楕円 69">
              <a:extLst>
                <a:ext uri="{FF2B5EF4-FFF2-40B4-BE49-F238E27FC236}">
                  <a16:creationId xmlns:a16="http://schemas.microsoft.com/office/drawing/2014/main" id="{595B7D01-DF2E-05E6-DB06-28CEB3E075A0}"/>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6" name="直線コネクタ 35">
              <a:extLst>
                <a:ext uri="{FF2B5EF4-FFF2-40B4-BE49-F238E27FC236}">
                  <a16:creationId xmlns:a16="http://schemas.microsoft.com/office/drawing/2014/main" id="{4C42C92D-8645-9A14-FAC8-B8C6CE029CDA}"/>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9B60195C-6A3D-E7C1-3585-CF25B1CE2179}"/>
                </a:ext>
              </a:extLst>
            </p:cNvPr>
            <p:cNvCxnSpPr>
              <a:cxnSpLocks/>
              <a:endCxn id="57"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円/楕円 68">
              <a:extLst>
                <a:ext uri="{FF2B5EF4-FFF2-40B4-BE49-F238E27FC236}">
                  <a16:creationId xmlns:a16="http://schemas.microsoft.com/office/drawing/2014/main" id="{8232BB8B-03D3-D17E-B034-9F5C6D43FFFA}"/>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8" name="直線コネクタ 57">
              <a:extLst>
                <a:ext uri="{FF2B5EF4-FFF2-40B4-BE49-F238E27FC236}">
                  <a16:creationId xmlns:a16="http://schemas.microsoft.com/office/drawing/2014/main" id="{D8880597-9986-0289-FF1C-41D727394666}"/>
                </a:ext>
              </a:extLst>
            </p:cNvPr>
            <p:cNvCxnSpPr>
              <a:cxnSpLocks/>
              <a:endCxn id="3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3B14EFEF-E622-8979-F1EE-B6ED2BE813F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Rectangle 93">
              <a:extLst>
                <a:ext uri="{FF2B5EF4-FFF2-40B4-BE49-F238E27FC236}">
                  <a16:creationId xmlns:a16="http://schemas.microsoft.com/office/drawing/2014/main" id="{045EDB31-5420-83EB-4F47-DF580918B61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2" name="Rectangle 93">
              <a:extLst>
                <a:ext uri="{FF2B5EF4-FFF2-40B4-BE49-F238E27FC236}">
                  <a16:creationId xmlns:a16="http://schemas.microsoft.com/office/drawing/2014/main" id="{EF1A29CA-5692-DFDB-47D9-EC74234E9D4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3" name="Rectangle 93">
              <a:extLst>
                <a:ext uri="{FF2B5EF4-FFF2-40B4-BE49-F238E27FC236}">
                  <a16:creationId xmlns:a16="http://schemas.microsoft.com/office/drawing/2014/main" id="{357C4F85-DFA8-A9B7-0A77-DD6FE0D3C9DB}"/>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4" name="直線コネクタ 63">
              <a:extLst>
                <a:ext uri="{FF2B5EF4-FFF2-40B4-BE49-F238E27FC236}">
                  <a16:creationId xmlns:a16="http://schemas.microsoft.com/office/drawing/2014/main" id="{99F7A64B-2A0F-1A54-14CC-850E653D613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F91D7330-5CBA-DC70-78E4-4CF6B6A5A63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aphicFrame>
        <p:nvGraphicFramePr>
          <p:cNvPr id="29" name="Group 383">
            <a:extLst>
              <a:ext uri="{FF2B5EF4-FFF2-40B4-BE49-F238E27FC236}">
                <a16:creationId xmlns:a16="http://schemas.microsoft.com/office/drawing/2014/main" id="{28A148CA-9AAE-EEAE-B253-D118670C70A2}"/>
              </a:ext>
            </a:extLst>
          </p:cNvPr>
          <p:cNvGraphicFramePr>
            <a:graphicFrameLocks/>
          </p:cNvGraphicFramePr>
          <p:nvPr>
            <p:extLst>
              <p:ext uri="{D42A27DB-BD31-4B8C-83A1-F6EECF244321}">
                <p14:modId xmlns:p14="http://schemas.microsoft.com/office/powerpoint/2010/main" val="1998707689"/>
              </p:ext>
            </p:extLst>
          </p:nvPr>
        </p:nvGraphicFramePr>
        <p:xfrm>
          <a:off x="5735996" y="486901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15063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lang="en-US" altLang="ja-JP" dirty="0"/>
              <a:t>P</a:t>
            </a:r>
            <a:r>
              <a:rPr kumimoji="1" lang="en-US" altLang="ja-JP" dirty="0"/>
              <a:t>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type="body" sz="quarter" idx="10"/>
          </p:nvPr>
        </p:nvSpPr>
        <p:spPr>
          <a:xfrm>
            <a:off x="2135956" y="2258987"/>
            <a:ext cx="8280092" cy="900010"/>
          </a:xfrm>
        </p:spPr>
        <p:txBody>
          <a:bodyPr/>
          <a:lstStyle/>
          <a:p>
            <a:r>
              <a:rPr kumimoji="1" lang="ja-JP" altLang="en-US" dirty="0"/>
              <a:t>以下のように </a:t>
            </a:r>
            <a:r>
              <a:rPr kumimoji="1" lang="en-US" altLang="ja-JP" dirty="0"/>
              <a:t>B </a:t>
            </a:r>
            <a:r>
              <a:rPr kumimoji="1" lang="ja-JP" altLang="en-US" dirty="0"/>
              <a:t>を </a:t>
            </a:r>
            <a:r>
              <a:rPr kumimoji="1" lang="en-US" altLang="ja-JP" dirty="0">
                <a:solidFill>
                  <a:schemeClr val="accent6"/>
                </a:solidFill>
              </a:rPr>
              <a:t>VDD</a:t>
            </a:r>
            <a:r>
              <a:rPr kumimoji="1" lang="ja-JP" altLang="en-US" dirty="0">
                <a:solidFill>
                  <a:schemeClr val="accent6"/>
                </a:solidFill>
              </a:rPr>
              <a:t>（高電位）</a:t>
            </a:r>
            <a:r>
              <a:rPr kumimoji="1" lang="ja-JP" altLang="en-US" dirty="0"/>
              <a:t>に接続する</a:t>
            </a:r>
            <a:endParaRPr kumimoji="1" lang="en-US" altLang="ja-JP" dirty="0"/>
          </a:p>
          <a:p>
            <a:pPr lvl="1"/>
            <a:r>
              <a:rPr kumimoji="1" lang="en-US" altLang="ja-JP" dirty="0"/>
              <a:t>G </a:t>
            </a:r>
            <a:r>
              <a:rPr kumimoji="1" lang="ja-JP" altLang="en-US" dirty="0"/>
              <a:t>が入力，</a:t>
            </a:r>
            <a:r>
              <a:rPr kumimoji="1" lang="en-US" altLang="ja-JP" dirty="0"/>
              <a:t>D </a:t>
            </a:r>
            <a:r>
              <a:rPr kumimoji="1" lang="ja-JP" altLang="en-US" dirty="0"/>
              <a:t>が出力</a:t>
            </a:r>
            <a:endParaRPr kumimoji="1" lang="en-US" altLang="ja-JP" dirty="0"/>
          </a:p>
          <a:p>
            <a:pPr lvl="1"/>
            <a:r>
              <a:rPr lang="en-US" altLang="ja-JP" dirty="0"/>
              <a:t>P </a:t>
            </a:r>
            <a:r>
              <a:rPr lang="ja-JP" altLang="en-US" dirty="0"/>
              <a:t>は </a:t>
            </a:r>
            <a:r>
              <a:rPr lang="en-US" altLang="ja-JP" dirty="0"/>
              <a:t>Positive </a:t>
            </a:r>
            <a:r>
              <a:rPr lang="ja-JP" altLang="en-US" dirty="0"/>
              <a:t>の略</a:t>
            </a:r>
            <a:endParaRPr kumimoji="1" lang="en-US" altLang="ja-JP" dirty="0"/>
          </a:p>
          <a:p>
            <a:r>
              <a:rPr kumimoji="1" lang="ja-JP" altLang="en-US" dirty="0"/>
              <a:t>注意</a:t>
            </a:r>
            <a:r>
              <a:rPr kumimoji="1" lang="en-US" altLang="ja-JP" dirty="0"/>
              <a:t>	</a:t>
            </a:r>
          </a:p>
          <a:p>
            <a:pPr lvl="1"/>
            <a:r>
              <a:rPr kumimoji="1" lang="en-US" altLang="ja-JP" dirty="0"/>
              <a:t>N</a:t>
            </a:r>
            <a:r>
              <a:rPr lang="en-US" altLang="ja-JP" dirty="0"/>
              <a:t> </a:t>
            </a:r>
            <a:r>
              <a:rPr lang="ja-JP" altLang="en-US" dirty="0"/>
              <a:t>型の時とは </a:t>
            </a:r>
            <a:r>
              <a:rPr lang="en-US" altLang="ja-JP" dirty="0"/>
              <a:t>B </a:t>
            </a:r>
            <a:r>
              <a:rPr lang="ja-JP" altLang="en-US" dirty="0"/>
              <a:t>と </a:t>
            </a:r>
            <a:r>
              <a:rPr lang="en-US" altLang="ja-JP" dirty="0"/>
              <a:t>G</a:t>
            </a:r>
            <a:r>
              <a:rPr lang="ja-JP" altLang="en-US" dirty="0"/>
              <a:t>，</a:t>
            </a:r>
            <a:r>
              <a:rPr lang="en-US" altLang="ja-JP" dirty="0"/>
              <a:t>S </a:t>
            </a:r>
            <a:r>
              <a:rPr lang="ja-JP" altLang="en-US" dirty="0"/>
              <a:t>と </a:t>
            </a:r>
            <a:r>
              <a:rPr lang="en-US" altLang="ja-JP" dirty="0"/>
              <a:t>D </a:t>
            </a:r>
            <a:r>
              <a:rPr lang="ja-JP" altLang="en-US" dirty="0"/>
              <a:t>が上下逆になっているのに注意</a:t>
            </a:r>
            <a:endParaRPr lang="en-US" altLang="ja-JP" dirty="0"/>
          </a:p>
          <a:p>
            <a:pPr lvl="1"/>
            <a:r>
              <a:rPr kumimoji="1" lang="en-US" altLang="ja-JP" dirty="0"/>
              <a:t>N </a:t>
            </a:r>
            <a:r>
              <a:rPr kumimoji="1" lang="ja-JP" altLang="en-US" dirty="0"/>
              <a:t>型の時は </a:t>
            </a:r>
            <a:r>
              <a:rPr kumimoji="1" lang="en-US" altLang="ja-JP" dirty="0"/>
              <a:t>B </a:t>
            </a:r>
            <a:r>
              <a:rPr kumimoji="1" lang="ja-JP" altLang="en-US" dirty="0"/>
              <a:t>が </a:t>
            </a:r>
            <a:r>
              <a:rPr kumimoji="1" lang="en-US" altLang="ja-JP" dirty="0"/>
              <a:t>GND</a:t>
            </a:r>
            <a:r>
              <a:rPr kumimoji="1" lang="ja-JP" altLang="en-US" dirty="0"/>
              <a:t>（低電位）に繋がっていた</a:t>
            </a:r>
            <a:endParaRPr kumimoji="1" lang="en-US" altLang="ja-JP" dirty="0"/>
          </a:p>
          <a:p>
            <a:pPr lvl="1"/>
            <a:endParaRPr kumimoji="1"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1955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pSp>
        <p:nvGrpSpPr>
          <p:cNvPr id="76" name="グループ化 75">
            <a:extLst>
              <a:ext uri="{FF2B5EF4-FFF2-40B4-BE49-F238E27FC236}">
                <a16:creationId xmlns:a16="http://schemas.microsoft.com/office/drawing/2014/main" id="{AD942294-E353-E192-D082-C666A2EB4469}"/>
              </a:ext>
            </a:extLst>
          </p:cNvPr>
          <p:cNvGrpSpPr/>
          <p:nvPr/>
        </p:nvGrpSpPr>
        <p:grpSpPr>
          <a:xfrm>
            <a:off x="4475982" y="4329011"/>
            <a:ext cx="2431102" cy="1890379"/>
            <a:chOff x="3041983" y="3789004"/>
            <a:chExt cx="2431102" cy="1890379"/>
          </a:xfrm>
        </p:grpSpPr>
        <p:cxnSp>
          <p:nvCxnSpPr>
            <p:cNvPr id="29" name="直線コネクタ 28">
              <a:extLst>
                <a:ext uri="{FF2B5EF4-FFF2-40B4-BE49-F238E27FC236}">
                  <a16:creationId xmlns:a16="http://schemas.microsoft.com/office/drawing/2014/main" id="{1C597F54-F894-B3AB-2890-DC6ACAD21B34}"/>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57367B76-259D-6A21-F06E-7E83A5BC8114}"/>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35" name="Rectangle 93">
              <a:extLst>
                <a:ext uri="{FF2B5EF4-FFF2-40B4-BE49-F238E27FC236}">
                  <a16:creationId xmlns:a16="http://schemas.microsoft.com/office/drawing/2014/main" id="{ABABAF80-11EF-261B-18ED-70FFAD9D4D59}"/>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37" name="正方形/長方形 36">
              <a:extLst>
                <a:ext uri="{FF2B5EF4-FFF2-40B4-BE49-F238E27FC236}">
                  <a16:creationId xmlns:a16="http://schemas.microsoft.com/office/drawing/2014/main" id="{456A3143-7769-2D7C-0A2B-C93D2499581F}"/>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8" name="円/楕円 69">
              <a:extLst>
                <a:ext uri="{FF2B5EF4-FFF2-40B4-BE49-F238E27FC236}">
                  <a16:creationId xmlns:a16="http://schemas.microsoft.com/office/drawing/2014/main" id="{482774F4-FFCF-F490-892B-FA7ED20A07F3}"/>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1" name="直線コネクタ 40">
              <a:extLst>
                <a:ext uri="{FF2B5EF4-FFF2-40B4-BE49-F238E27FC236}">
                  <a16:creationId xmlns:a16="http://schemas.microsoft.com/office/drawing/2014/main" id="{0F6E0D59-0CD3-61C8-0621-8BF9282C86C9}"/>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2" name="グループ化 41">
              <a:extLst>
                <a:ext uri="{FF2B5EF4-FFF2-40B4-BE49-F238E27FC236}">
                  <a16:creationId xmlns:a16="http://schemas.microsoft.com/office/drawing/2014/main" id="{4644C465-1E3E-CEC5-05AE-EB9585BC4BBD}"/>
                </a:ext>
              </a:extLst>
            </p:cNvPr>
            <p:cNvGrpSpPr/>
            <p:nvPr/>
          </p:nvGrpSpPr>
          <p:grpSpPr>
            <a:xfrm>
              <a:off x="3851992" y="4599013"/>
              <a:ext cx="360004" cy="720007"/>
              <a:chOff x="3131985" y="5049018"/>
              <a:chExt cx="180002" cy="437056"/>
            </a:xfrm>
          </p:grpSpPr>
          <p:grpSp>
            <p:nvGrpSpPr>
              <p:cNvPr id="43" name="グループ化 42">
                <a:extLst>
                  <a:ext uri="{FF2B5EF4-FFF2-40B4-BE49-F238E27FC236}">
                    <a16:creationId xmlns:a16="http://schemas.microsoft.com/office/drawing/2014/main" id="{46F9E684-F084-7521-3E75-070A08DFA7E5}"/>
                  </a:ext>
                </a:extLst>
              </p:cNvPr>
              <p:cNvGrpSpPr/>
              <p:nvPr/>
            </p:nvGrpSpPr>
            <p:grpSpPr>
              <a:xfrm>
                <a:off x="3131985" y="5139021"/>
                <a:ext cx="180002" cy="254126"/>
                <a:chOff x="3131984" y="5191944"/>
                <a:chExt cx="270003" cy="201854"/>
              </a:xfrm>
            </p:grpSpPr>
            <p:sp>
              <p:nvSpPr>
                <p:cNvPr id="54" name="Freeform 42">
                  <a:extLst>
                    <a:ext uri="{FF2B5EF4-FFF2-40B4-BE49-F238E27FC236}">
                      <a16:creationId xmlns:a16="http://schemas.microsoft.com/office/drawing/2014/main" id="{01BC656E-CDDE-A2B3-D8C5-AA491316ED2D}"/>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5" name="Freeform 42">
                  <a:extLst>
                    <a:ext uri="{FF2B5EF4-FFF2-40B4-BE49-F238E27FC236}">
                      <a16:creationId xmlns:a16="http://schemas.microsoft.com/office/drawing/2014/main" id="{34DF60CE-204C-B112-CADF-46A48C16BCC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6" name="Freeform 42">
                  <a:extLst>
                    <a:ext uri="{FF2B5EF4-FFF2-40B4-BE49-F238E27FC236}">
                      <a16:creationId xmlns:a16="http://schemas.microsoft.com/office/drawing/2014/main" id="{B407BF6D-E395-1F21-87BE-7385531B0BB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57" name="Freeform 42">
                  <a:extLst>
                    <a:ext uri="{FF2B5EF4-FFF2-40B4-BE49-F238E27FC236}">
                      <a16:creationId xmlns:a16="http://schemas.microsoft.com/office/drawing/2014/main" id="{38FBA2D0-9010-D233-87BA-BEBF1A4ECC22}"/>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0" name="直線コネクタ 49">
                <a:extLst>
                  <a:ext uri="{FF2B5EF4-FFF2-40B4-BE49-F238E27FC236}">
                    <a16:creationId xmlns:a16="http://schemas.microsoft.com/office/drawing/2014/main" id="{79458C86-924E-1240-642A-D891BB03660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12731B76-80FB-0308-EEDC-1D5E97757ED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58" name="直線コネクタ 57">
              <a:extLst>
                <a:ext uri="{FF2B5EF4-FFF2-40B4-BE49-F238E27FC236}">
                  <a16:creationId xmlns:a16="http://schemas.microsoft.com/office/drawing/2014/main" id="{FC53EF7F-2020-97A3-D978-828D4D504571}"/>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DE698B50-21A7-4325-FCC9-1E88671DD2BD}"/>
                </a:ext>
              </a:extLst>
            </p:cNvPr>
            <p:cNvCxnSpPr>
              <a:cxnSpLocks/>
              <a:endCxn id="60" idx="4"/>
            </p:cNvCxnSpPr>
            <p:nvPr/>
          </p:nvCxnSpPr>
          <p:spPr>
            <a:xfrm>
              <a:off x="4572000" y="4779015"/>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68">
              <a:extLst>
                <a:ext uri="{FF2B5EF4-FFF2-40B4-BE49-F238E27FC236}">
                  <a16:creationId xmlns:a16="http://schemas.microsoft.com/office/drawing/2014/main" id="{C93BF703-0B61-4A89-0DD9-731FEB13DCDD}"/>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61" name="直線コネクタ 60">
              <a:extLst>
                <a:ext uri="{FF2B5EF4-FFF2-40B4-BE49-F238E27FC236}">
                  <a16:creationId xmlns:a16="http://schemas.microsoft.com/office/drawing/2014/main" id="{4CD423E1-F94E-F62D-818C-25DB54E5F04A}"/>
                </a:ext>
              </a:extLst>
            </p:cNvPr>
            <p:cNvCxnSpPr>
              <a:cxnSpLocks/>
              <a:endCxn id="38"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B6BCE346-E68F-E29C-3D8C-591277D81C86}"/>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3" name="Rectangle 93">
              <a:extLst>
                <a:ext uri="{FF2B5EF4-FFF2-40B4-BE49-F238E27FC236}">
                  <a16:creationId xmlns:a16="http://schemas.microsoft.com/office/drawing/2014/main" id="{955FBFAD-0B4C-971F-8C46-215F9F5E3F85}"/>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4" name="Rectangle 93">
              <a:extLst>
                <a:ext uri="{FF2B5EF4-FFF2-40B4-BE49-F238E27FC236}">
                  <a16:creationId xmlns:a16="http://schemas.microsoft.com/office/drawing/2014/main" id="{0FB4D775-CCED-3A71-4D82-DED09F9F3303}"/>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65" name="Rectangle 93">
              <a:extLst>
                <a:ext uri="{FF2B5EF4-FFF2-40B4-BE49-F238E27FC236}">
                  <a16:creationId xmlns:a16="http://schemas.microsoft.com/office/drawing/2014/main" id="{A9EA2CD0-C66B-73E5-6A34-B8875E31C60A}"/>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6" name="Rectangle 93">
              <a:extLst>
                <a:ext uri="{FF2B5EF4-FFF2-40B4-BE49-F238E27FC236}">
                  <a16:creationId xmlns:a16="http://schemas.microsoft.com/office/drawing/2014/main" id="{882B446E-23C9-B1DA-B21C-14AE3D2DC135}"/>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7" name="直線コネクタ 66">
              <a:extLst>
                <a:ext uri="{FF2B5EF4-FFF2-40B4-BE49-F238E27FC236}">
                  <a16:creationId xmlns:a16="http://schemas.microsoft.com/office/drawing/2014/main" id="{A300246B-8E94-93A8-B009-CBB1C0E1F67C}"/>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6A2664EE-47B0-86F9-1769-A9CC174233DB}"/>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0C0DBFD5-3618-0F7A-4992-FDB917A7B79C}"/>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950509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P </a:t>
            </a:r>
            <a:r>
              <a:rPr kumimoji="1" lang="ja-JP" altLang="en-US" dirty="0"/>
              <a:t>型の動作</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type="body" sz="quarter" idx="10"/>
          </p:nvPr>
        </p:nvSpPr>
        <p:spPr>
          <a:xfrm>
            <a:off x="2225957" y="998974"/>
            <a:ext cx="8370092" cy="630007"/>
          </a:xfrm>
        </p:spPr>
        <p:txBody>
          <a:bodyPr anchor="t"/>
          <a:lstStyle/>
          <a:p>
            <a:r>
              <a:rPr kumimoji="1" lang="en-US" altLang="ja-JP" dirty="0"/>
              <a:t>G </a:t>
            </a:r>
            <a:r>
              <a:rPr kumimoji="1" lang="ja-JP" altLang="en-US" dirty="0"/>
              <a:t>が低電位（</a:t>
            </a:r>
            <a:r>
              <a:rPr kumimoji="1" lang="en-US" altLang="ja-JP" dirty="0"/>
              <a:t>= 0</a:t>
            </a:r>
            <a:r>
              <a:rPr kumimoji="1" lang="ja-JP" altLang="en-US" dirty="0"/>
              <a:t>）→ スイッチ </a:t>
            </a:r>
            <a:r>
              <a:rPr kumimoji="1" lang="en-US" altLang="ja-JP" dirty="0"/>
              <a:t>ON</a:t>
            </a:r>
          </a:p>
          <a:p>
            <a:pPr lvl="1"/>
            <a:r>
              <a:rPr kumimoji="1" lang="en-US" altLang="ja-JP" dirty="0"/>
              <a:t>B</a:t>
            </a:r>
            <a:r>
              <a:rPr lang="en-US" altLang="ja-JP" dirty="0"/>
              <a:t>~G</a:t>
            </a:r>
            <a:r>
              <a:rPr lang="ja-JP" altLang="en-US" dirty="0"/>
              <a:t> 間に電位差があるのでコイルが動作</a:t>
            </a:r>
            <a:endParaRPr kumimoji="1" lang="en-US"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1955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sp>
        <p:nvSpPr>
          <p:cNvPr id="113" name="Rectangle 93">
            <a:extLst>
              <a:ext uri="{FF2B5EF4-FFF2-40B4-BE49-F238E27FC236}">
                <a16:creationId xmlns:a16="http://schemas.microsoft.com/office/drawing/2014/main" id="{00944D24-E889-C775-D967-0D0DFD48CFB3}"/>
              </a:ext>
            </a:extLst>
          </p:cNvPr>
          <p:cNvSpPr>
            <a:spLocks noChangeArrowheads="1"/>
          </p:cNvSpPr>
          <p:nvPr/>
        </p:nvSpPr>
        <p:spPr bwMode="auto">
          <a:xfrm>
            <a:off x="4745986" y="324899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6"/>
                </a:solidFill>
              </a:rPr>
              <a:t>0</a:t>
            </a:r>
          </a:p>
        </p:txBody>
      </p:sp>
      <p:graphicFrame>
        <p:nvGraphicFramePr>
          <p:cNvPr id="145" name="Group 383">
            <a:extLst>
              <a:ext uri="{FF2B5EF4-FFF2-40B4-BE49-F238E27FC236}">
                <a16:creationId xmlns:a16="http://schemas.microsoft.com/office/drawing/2014/main" id="{E78F6A71-B874-CC7A-096B-89598706780F}"/>
              </a:ext>
            </a:extLst>
          </p:cNvPr>
          <p:cNvGraphicFramePr>
            <a:graphicFrameLocks/>
          </p:cNvGraphicFramePr>
          <p:nvPr>
            <p:extLst>
              <p:ext uri="{D42A27DB-BD31-4B8C-83A1-F6EECF244321}">
                <p14:modId xmlns:p14="http://schemas.microsoft.com/office/powerpoint/2010/main" val="446489637"/>
              </p:ext>
            </p:extLst>
          </p:nvPr>
        </p:nvGraphicFramePr>
        <p:xfrm>
          <a:off x="8976032" y="2708992"/>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6" name="グループ化 5">
            <a:extLst>
              <a:ext uri="{FF2B5EF4-FFF2-40B4-BE49-F238E27FC236}">
                <a16:creationId xmlns:a16="http://schemas.microsoft.com/office/drawing/2014/main" id="{7C21AC07-6129-DA7A-BF64-C6E70DA16E69}"/>
              </a:ext>
            </a:extLst>
          </p:cNvPr>
          <p:cNvGrpSpPr/>
          <p:nvPr/>
        </p:nvGrpSpPr>
        <p:grpSpPr>
          <a:xfrm>
            <a:off x="4745985" y="1899342"/>
            <a:ext cx="2431102" cy="1890379"/>
            <a:chOff x="3041983" y="3789004"/>
            <a:chExt cx="2431102" cy="1890379"/>
          </a:xfrm>
        </p:grpSpPr>
        <p:cxnSp>
          <p:nvCxnSpPr>
            <p:cNvPr id="7" name="直線コネクタ 6">
              <a:extLst>
                <a:ext uri="{FF2B5EF4-FFF2-40B4-BE49-F238E27FC236}">
                  <a16:creationId xmlns:a16="http://schemas.microsoft.com/office/drawing/2014/main" id="{53374D22-326B-20AC-DB9C-E12038964563}"/>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996FEEDF-498B-D3AA-DF04-685D92FF8340}"/>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12" name="Rectangle 93">
              <a:extLst>
                <a:ext uri="{FF2B5EF4-FFF2-40B4-BE49-F238E27FC236}">
                  <a16:creationId xmlns:a16="http://schemas.microsoft.com/office/drawing/2014/main" id="{E5A3BF52-3DFF-994D-F5FE-A50BA451E6FA}"/>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13" name="正方形/長方形 12">
              <a:extLst>
                <a:ext uri="{FF2B5EF4-FFF2-40B4-BE49-F238E27FC236}">
                  <a16:creationId xmlns:a16="http://schemas.microsoft.com/office/drawing/2014/main" id="{C1820955-4715-6DCE-99C3-5947EE5CA6E4}"/>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4" name="円/楕円 69">
              <a:extLst>
                <a:ext uri="{FF2B5EF4-FFF2-40B4-BE49-F238E27FC236}">
                  <a16:creationId xmlns:a16="http://schemas.microsoft.com/office/drawing/2014/main" id="{FFF1A822-4534-9ED6-CA25-DF81AA59E757}"/>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5" name="直線コネクタ 14">
              <a:extLst>
                <a:ext uri="{FF2B5EF4-FFF2-40B4-BE49-F238E27FC236}">
                  <a16:creationId xmlns:a16="http://schemas.microsoft.com/office/drawing/2014/main" id="{EE31CF50-CED7-EAFE-75D6-23BD404DE6B4}"/>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6" name="グループ化 15">
              <a:extLst>
                <a:ext uri="{FF2B5EF4-FFF2-40B4-BE49-F238E27FC236}">
                  <a16:creationId xmlns:a16="http://schemas.microsoft.com/office/drawing/2014/main" id="{69C5739F-5E56-EF2F-EDF8-AFAD769AA78C}"/>
                </a:ext>
              </a:extLst>
            </p:cNvPr>
            <p:cNvGrpSpPr/>
            <p:nvPr/>
          </p:nvGrpSpPr>
          <p:grpSpPr>
            <a:xfrm>
              <a:off x="3851992" y="4599013"/>
              <a:ext cx="360004" cy="720007"/>
              <a:chOff x="3131985" y="5049018"/>
              <a:chExt cx="180002" cy="437056"/>
            </a:xfrm>
          </p:grpSpPr>
          <p:grpSp>
            <p:nvGrpSpPr>
              <p:cNvPr id="29" name="グループ化 28">
                <a:extLst>
                  <a:ext uri="{FF2B5EF4-FFF2-40B4-BE49-F238E27FC236}">
                    <a16:creationId xmlns:a16="http://schemas.microsoft.com/office/drawing/2014/main" id="{9BBCD18A-019F-C179-5AA3-7392EDF2B2C9}"/>
                  </a:ext>
                </a:extLst>
              </p:cNvPr>
              <p:cNvGrpSpPr/>
              <p:nvPr/>
            </p:nvGrpSpPr>
            <p:grpSpPr>
              <a:xfrm>
                <a:off x="3131985" y="5139021"/>
                <a:ext cx="180002" cy="254126"/>
                <a:chOff x="3131984" y="5191944"/>
                <a:chExt cx="270003" cy="201854"/>
              </a:xfrm>
            </p:grpSpPr>
            <p:sp>
              <p:nvSpPr>
                <p:cNvPr id="32" name="Freeform 42">
                  <a:extLst>
                    <a:ext uri="{FF2B5EF4-FFF2-40B4-BE49-F238E27FC236}">
                      <a16:creationId xmlns:a16="http://schemas.microsoft.com/office/drawing/2014/main" id="{8C100C7A-ED1A-6D47-B08F-4F6C57800A7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4" name="Freeform 42">
                  <a:extLst>
                    <a:ext uri="{FF2B5EF4-FFF2-40B4-BE49-F238E27FC236}">
                      <a16:creationId xmlns:a16="http://schemas.microsoft.com/office/drawing/2014/main" id="{D17AFE4F-56F0-855F-6907-37DD5E2CC626}"/>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5" name="Freeform 42">
                  <a:extLst>
                    <a:ext uri="{FF2B5EF4-FFF2-40B4-BE49-F238E27FC236}">
                      <a16:creationId xmlns:a16="http://schemas.microsoft.com/office/drawing/2014/main" id="{49CBC031-BF2A-6204-4464-6928949A876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36" name="Freeform 42">
                  <a:extLst>
                    <a:ext uri="{FF2B5EF4-FFF2-40B4-BE49-F238E27FC236}">
                      <a16:creationId xmlns:a16="http://schemas.microsoft.com/office/drawing/2014/main" id="{435256E3-8912-EB7E-3EDE-EF42F94FA0AA}"/>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30" name="直線コネクタ 29">
                <a:extLst>
                  <a:ext uri="{FF2B5EF4-FFF2-40B4-BE49-F238E27FC236}">
                    <a16:creationId xmlns:a16="http://schemas.microsoft.com/office/drawing/2014/main" id="{3C25DD91-CCB2-3E7F-B2E1-5392042DC9C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4CFD5AD6-5F86-26D6-C9A7-D492A2DF6B3F}"/>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7" name="直線コネクタ 16">
              <a:extLst>
                <a:ext uri="{FF2B5EF4-FFF2-40B4-BE49-F238E27FC236}">
                  <a16:creationId xmlns:a16="http://schemas.microsoft.com/office/drawing/2014/main" id="{3D472605-E80E-D3FD-79B0-7E5F3D6FDA12}"/>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2A7388B4-BD67-68A5-D8E0-7A830C7418C0}"/>
                </a:ext>
              </a:extLst>
            </p:cNvPr>
            <p:cNvCxnSpPr>
              <a:cxnSpLocks/>
              <a:endCxn id="19" idx="4"/>
            </p:cNvCxnSpPr>
            <p:nvPr/>
          </p:nvCxnSpPr>
          <p:spPr>
            <a:xfrm>
              <a:off x="4705734" y="4778657"/>
              <a:ext cx="0" cy="31536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9" name="円/楕円 68">
              <a:extLst>
                <a:ext uri="{FF2B5EF4-FFF2-40B4-BE49-F238E27FC236}">
                  <a16:creationId xmlns:a16="http://schemas.microsoft.com/office/drawing/2014/main" id="{20F8C8AB-9AC4-83EC-FD2A-FED1846AFA96}"/>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0" name="直線コネクタ 19">
              <a:extLst>
                <a:ext uri="{FF2B5EF4-FFF2-40B4-BE49-F238E27FC236}">
                  <a16:creationId xmlns:a16="http://schemas.microsoft.com/office/drawing/2014/main" id="{ECEBDD57-C44B-3A0C-FF10-6A17AA36E289}"/>
                </a:ext>
              </a:extLst>
            </p:cNvPr>
            <p:cNvCxnSpPr>
              <a:cxnSpLocks/>
              <a:endCxn id="14"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385DF96E-BDCA-98EE-FBAE-3B37E433C653}"/>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 name="Rectangle 93">
              <a:extLst>
                <a:ext uri="{FF2B5EF4-FFF2-40B4-BE49-F238E27FC236}">
                  <a16:creationId xmlns:a16="http://schemas.microsoft.com/office/drawing/2014/main" id="{76950704-2D95-D27A-A99B-0008D18C4F8F}"/>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3" name="Rectangle 93">
              <a:extLst>
                <a:ext uri="{FF2B5EF4-FFF2-40B4-BE49-F238E27FC236}">
                  <a16:creationId xmlns:a16="http://schemas.microsoft.com/office/drawing/2014/main" id="{31BBD1CE-9DE2-0146-90A2-343582EA2986}"/>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24" name="Rectangle 93">
              <a:extLst>
                <a:ext uri="{FF2B5EF4-FFF2-40B4-BE49-F238E27FC236}">
                  <a16:creationId xmlns:a16="http://schemas.microsoft.com/office/drawing/2014/main" id="{9EAA3F96-B8A1-5F34-31FE-300CBDDE0454}"/>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5" name="Rectangle 93">
              <a:extLst>
                <a:ext uri="{FF2B5EF4-FFF2-40B4-BE49-F238E27FC236}">
                  <a16:creationId xmlns:a16="http://schemas.microsoft.com/office/drawing/2014/main" id="{AEC3AE1B-C3EB-75C2-ADA4-A75713387CDF}"/>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6" name="直線コネクタ 25">
              <a:extLst>
                <a:ext uri="{FF2B5EF4-FFF2-40B4-BE49-F238E27FC236}">
                  <a16:creationId xmlns:a16="http://schemas.microsoft.com/office/drawing/2014/main" id="{B53F7639-AEF9-295C-4577-198EE2CD2ACA}"/>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E1F44D4E-ADEB-62DA-8527-4EE416EF6B02}"/>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B3455A11-01BB-0FB0-7239-94E564CC541B}"/>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37" name="Rectangle 93">
            <a:extLst>
              <a:ext uri="{FF2B5EF4-FFF2-40B4-BE49-F238E27FC236}">
                <a16:creationId xmlns:a16="http://schemas.microsoft.com/office/drawing/2014/main" id="{DB7BDC6F-54C0-FBB0-AA8F-BF28F308DF34}"/>
              </a:ext>
            </a:extLst>
          </p:cNvPr>
          <p:cNvSpPr>
            <a:spLocks noChangeArrowheads="1"/>
          </p:cNvSpPr>
          <p:nvPr/>
        </p:nvSpPr>
        <p:spPr bwMode="auto">
          <a:xfrm>
            <a:off x="4745986" y="621903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6"/>
                </a:solidFill>
              </a:rPr>
              <a:t>1</a:t>
            </a:r>
          </a:p>
        </p:txBody>
      </p:sp>
      <p:grpSp>
        <p:nvGrpSpPr>
          <p:cNvPr id="38" name="グループ化 37">
            <a:extLst>
              <a:ext uri="{FF2B5EF4-FFF2-40B4-BE49-F238E27FC236}">
                <a16:creationId xmlns:a16="http://schemas.microsoft.com/office/drawing/2014/main" id="{A81674E2-91D4-1C1F-17CB-6655CAAE892C}"/>
              </a:ext>
            </a:extLst>
          </p:cNvPr>
          <p:cNvGrpSpPr/>
          <p:nvPr/>
        </p:nvGrpSpPr>
        <p:grpSpPr>
          <a:xfrm>
            <a:off x="4745985" y="4869375"/>
            <a:ext cx="2431102" cy="1890379"/>
            <a:chOff x="3041983" y="3789004"/>
            <a:chExt cx="2431102" cy="1890379"/>
          </a:xfrm>
        </p:grpSpPr>
        <p:cxnSp>
          <p:nvCxnSpPr>
            <p:cNvPr id="39" name="直線コネクタ 38">
              <a:extLst>
                <a:ext uri="{FF2B5EF4-FFF2-40B4-BE49-F238E27FC236}">
                  <a16:creationId xmlns:a16="http://schemas.microsoft.com/office/drawing/2014/main" id="{53549BB3-687C-918C-1B98-6615BC3F7A4F}"/>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5A3793B8-C9F6-5199-66EE-2EBECB2FAD07}"/>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4" name="Rectangle 93">
              <a:extLst>
                <a:ext uri="{FF2B5EF4-FFF2-40B4-BE49-F238E27FC236}">
                  <a16:creationId xmlns:a16="http://schemas.microsoft.com/office/drawing/2014/main" id="{C68537BD-2DA8-0CBF-904F-E01B4B20600B}"/>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45" name="正方形/長方形 44">
              <a:extLst>
                <a:ext uri="{FF2B5EF4-FFF2-40B4-BE49-F238E27FC236}">
                  <a16:creationId xmlns:a16="http://schemas.microsoft.com/office/drawing/2014/main" id="{308AC55B-2A90-37EF-B6DC-8E3B9FA27813}"/>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6" name="円/楕円 69">
              <a:extLst>
                <a:ext uri="{FF2B5EF4-FFF2-40B4-BE49-F238E27FC236}">
                  <a16:creationId xmlns:a16="http://schemas.microsoft.com/office/drawing/2014/main" id="{04C88224-2FA0-0CDE-9CE2-4AECC0D7BE73}"/>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7" name="直線コネクタ 46">
              <a:extLst>
                <a:ext uri="{FF2B5EF4-FFF2-40B4-BE49-F238E27FC236}">
                  <a16:creationId xmlns:a16="http://schemas.microsoft.com/office/drawing/2014/main" id="{7C8C726E-FCFB-3B90-17E6-8309452ED6AA}"/>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827048A3-3D8F-0611-59A2-B47E9FC7F292}"/>
                </a:ext>
              </a:extLst>
            </p:cNvPr>
            <p:cNvGrpSpPr/>
            <p:nvPr/>
          </p:nvGrpSpPr>
          <p:grpSpPr>
            <a:xfrm>
              <a:off x="3851992" y="4599013"/>
              <a:ext cx="360004" cy="720007"/>
              <a:chOff x="3131985" y="5049018"/>
              <a:chExt cx="180002" cy="437056"/>
            </a:xfrm>
          </p:grpSpPr>
          <p:grpSp>
            <p:nvGrpSpPr>
              <p:cNvPr id="61" name="グループ化 60">
                <a:extLst>
                  <a:ext uri="{FF2B5EF4-FFF2-40B4-BE49-F238E27FC236}">
                    <a16:creationId xmlns:a16="http://schemas.microsoft.com/office/drawing/2014/main" id="{AA5D82C3-B3EE-53A2-1574-CB3E6A262029}"/>
                  </a:ext>
                </a:extLst>
              </p:cNvPr>
              <p:cNvGrpSpPr/>
              <p:nvPr/>
            </p:nvGrpSpPr>
            <p:grpSpPr>
              <a:xfrm>
                <a:off x="3131985" y="5139021"/>
                <a:ext cx="180002" cy="254126"/>
                <a:chOff x="3131984" y="5191944"/>
                <a:chExt cx="270003" cy="201854"/>
              </a:xfrm>
            </p:grpSpPr>
            <p:sp>
              <p:nvSpPr>
                <p:cNvPr id="64" name="Freeform 42">
                  <a:extLst>
                    <a:ext uri="{FF2B5EF4-FFF2-40B4-BE49-F238E27FC236}">
                      <a16:creationId xmlns:a16="http://schemas.microsoft.com/office/drawing/2014/main" id="{381EB1E9-3A90-22BB-5977-AAA74B87BBD0}"/>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5" name="Freeform 42">
                  <a:extLst>
                    <a:ext uri="{FF2B5EF4-FFF2-40B4-BE49-F238E27FC236}">
                      <a16:creationId xmlns:a16="http://schemas.microsoft.com/office/drawing/2014/main" id="{87552BB2-2661-A2CB-4189-586DC7FE9FA9}"/>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6" name="Freeform 42">
                  <a:extLst>
                    <a:ext uri="{FF2B5EF4-FFF2-40B4-BE49-F238E27FC236}">
                      <a16:creationId xmlns:a16="http://schemas.microsoft.com/office/drawing/2014/main" id="{9E83E2E6-2B59-7673-2499-FEEC1B23E1F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7" name="Freeform 42">
                  <a:extLst>
                    <a:ext uri="{FF2B5EF4-FFF2-40B4-BE49-F238E27FC236}">
                      <a16:creationId xmlns:a16="http://schemas.microsoft.com/office/drawing/2014/main" id="{370FF0D3-1378-31BD-4A67-304C9C5F0615}"/>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62" name="直線コネクタ 61">
                <a:extLst>
                  <a:ext uri="{FF2B5EF4-FFF2-40B4-BE49-F238E27FC236}">
                    <a16:creationId xmlns:a16="http://schemas.microsoft.com/office/drawing/2014/main" id="{E32FB739-CE2A-8EA8-37F2-9BFEFBF74D15}"/>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3" name="直線コネクタ 62">
                <a:extLst>
                  <a:ext uri="{FF2B5EF4-FFF2-40B4-BE49-F238E27FC236}">
                    <a16:creationId xmlns:a16="http://schemas.microsoft.com/office/drawing/2014/main" id="{FAF101A8-C57E-C498-1AAC-72EF427D7BE8}"/>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49" name="直線コネクタ 48">
              <a:extLst>
                <a:ext uri="{FF2B5EF4-FFF2-40B4-BE49-F238E27FC236}">
                  <a16:creationId xmlns:a16="http://schemas.microsoft.com/office/drawing/2014/main" id="{713CBEF6-8D78-D3F7-ACE4-81AAFE3A07B0}"/>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B01B814-86E8-9BCE-7B20-4814638CFD8A}"/>
                </a:ext>
              </a:extLst>
            </p:cNvPr>
            <p:cNvCxnSpPr>
              <a:cxnSpLocks/>
              <a:endCxn id="51" idx="4"/>
            </p:cNvCxnSpPr>
            <p:nvPr/>
          </p:nvCxnSpPr>
          <p:spPr>
            <a:xfrm>
              <a:off x="4572000" y="4779015"/>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1" name="円/楕円 68">
              <a:extLst>
                <a:ext uri="{FF2B5EF4-FFF2-40B4-BE49-F238E27FC236}">
                  <a16:creationId xmlns:a16="http://schemas.microsoft.com/office/drawing/2014/main" id="{EF16EBE7-65C9-2933-6CF4-C16B3045DEB2}"/>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2" name="直線コネクタ 51">
              <a:extLst>
                <a:ext uri="{FF2B5EF4-FFF2-40B4-BE49-F238E27FC236}">
                  <a16:creationId xmlns:a16="http://schemas.microsoft.com/office/drawing/2014/main" id="{BF41A05C-AA5D-D4A8-933A-46A0DB139671}"/>
                </a:ext>
              </a:extLst>
            </p:cNvPr>
            <p:cNvCxnSpPr>
              <a:cxnSpLocks/>
              <a:endCxn id="46"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02584A07-AF5F-BC89-D6B9-03A4E1EB4BF5}"/>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4" name="Rectangle 93">
              <a:extLst>
                <a:ext uri="{FF2B5EF4-FFF2-40B4-BE49-F238E27FC236}">
                  <a16:creationId xmlns:a16="http://schemas.microsoft.com/office/drawing/2014/main" id="{A7DAC1D6-FF4B-E1A8-FA0E-7FFC878EA3EB}"/>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5" name="Rectangle 93">
              <a:extLst>
                <a:ext uri="{FF2B5EF4-FFF2-40B4-BE49-F238E27FC236}">
                  <a16:creationId xmlns:a16="http://schemas.microsoft.com/office/drawing/2014/main" id="{B14686D2-15B8-0407-D3AD-47368EAC8028}"/>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56" name="Rectangle 93">
              <a:extLst>
                <a:ext uri="{FF2B5EF4-FFF2-40B4-BE49-F238E27FC236}">
                  <a16:creationId xmlns:a16="http://schemas.microsoft.com/office/drawing/2014/main" id="{F0DEDFDB-55ED-2E20-74B4-B480393566F9}"/>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7" name="Rectangle 93">
              <a:extLst>
                <a:ext uri="{FF2B5EF4-FFF2-40B4-BE49-F238E27FC236}">
                  <a16:creationId xmlns:a16="http://schemas.microsoft.com/office/drawing/2014/main" id="{A5C056B7-AEEE-35A4-CC66-0728436D3464}"/>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8" name="直線コネクタ 57">
              <a:extLst>
                <a:ext uri="{FF2B5EF4-FFF2-40B4-BE49-F238E27FC236}">
                  <a16:creationId xmlns:a16="http://schemas.microsoft.com/office/drawing/2014/main" id="{8CFE5C2C-B439-A144-083E-EAFCDA995D78}"/>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769EF1AD-60CF-7519-DC48-74512FC2E8E3}"/>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17715BAE-588C-77BD-2A34-6A3B40BB7317}"/>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70" name="コンテンツ プレースホルダー 2">
            <a:extLst>
              <a:ext uri="{FF2B5EF4-FFF2-40B4-BE49-F238E27FC236}">
                <a16:creationId xmlns:a16="http://schemas.microsoft.com/office/drawing/2014/main" id="{AC95C320-FE38-7E57-BD68-449D317F22C6}"/>
              </a:ext>
            </a:extLst>
          </p:cNvPr>
          <p:cNvSpPr txBox="1">
            <a:spLocks/>
          </p:cNvSpPr>
          <p:nvPr/>
        </p:nvSpPr>
        <p:spPr bwMode="auto">
          <a:xfrm>
            <a:off x="2225958" y="4059008"/>
            <a:ext cx="9180101" cy="36000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G </a:t>
            </a:r>
            <a:r>
              <a:rPr lang="ja-JP" altLang="en-US" kern="0" dirty="0"/>
              <a:t>が高電位（</a:t>
            </a:r>
            <a:r>
              <a:rPr lang="en-US" altLang="ja-JP" kern="0" dirty="0"/>
              <a:t>= 1</a:t>
            </a:r>
            <a:r>
              <a:rPr lang="ja-JP" altLang="en-US" kern="0" dirty="0"/>
              <a:t>）→ スイッチ </a:t>
            </a:r>
            <a:r>
              <a:rPr lang="en-US" altLang="ja-JP" kern="0" dirty="0"/>
              <a:t>OFF </a:t>
            </a:r>
          </a:p>
          <a:p>
            <a:pPr lvl="1"/>
            <a:r>
              <a:rPr lang="en-US" altLang="ja-JP" kern="0" dirty="0"/>
              <a:t>B~G </a:t>
            </a:r>
            <a:r>
              <a:rPr lang="ja-JP" altLang="en-US" kern="0" dirty="0"/>
              <a:t>間に電位差がないのでコイルが動作せず</a:t>
            </a:r>
            <a:endParaRPr lang="en-US" kern="0" dirty="0"/>
          </a:p>
        </p:txBody>
      </p:sp>
    </p:spTree>
    <p:extLst>
      <p:ext uri="{BB962C8B-B14F-4D97-AF65-F5344CB8AC3E}">
        <p14:creationId xmlns:p14="http://schemas.microsoft.com/office/powerpoint/2010/main" val="24539652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B73C90-A857-8A64-2EFD-05040F02B6A1}"/>
              </a:ext>
            </a:extLst>
          </p:cNvPr>
          <p:cNvSpPr>
            <a:spLocks noGrp="1"/>
          </p:cNvSpPr>
          <p:nvPr>
            <p:ph type="title"/>
          </p:nvPr>
        </p:nvSpPr>
        <p:spPr/>
        <p:txBody>
          <a:bodyPr/>
          <a:lstStyle/>
          <a:p>
            <a:r>
              <a:rPr kumimoji="1" lang="en-US" altLang="ja-JP" dirty="0"/>
              <a:t>P </a:t>
            </a:r>
            <a:r>
              <a:rPr kumimoji="1" lang="ja-JP" altLang="en-US" dirty="0"/>
              <a:t>型リレー</a:t>
            </a:r>
            <a:endParaRPr kumimoji="1" lang="en-US" dirty="0"/>
          </a:p>
        </p:txBody>
      </p:sp>
      <p:sp>
        <p:nvSpPr>
          <p:cNvPr id="3" name="コンテンツ プレースホルダー 2">
            <a:extLst>
              <a:ext uri="{FF2B5EF4-FFF2-40B4-BE49-F238E27FC236}">
                <a16:creationId xmlns:a16="http://schemas.microsoft.com/office/drawing/2014/main" id="{269ADB42-F714-F608-E050-CD791A2A80CE}"/>
              </a:ext>
            </a:extLst>
          </p:cNvPr>
          <p:cNvSpPr>
            <a:spLocks noGrp="1"/>
          </p:cNvSpPr>
          <p:nvPr>
            <p:ph type="body" sz="quarter" idx="10"/>
          </p:nvPr>
        </p:nvSpPr>
        <p:spPr>
          <a:xfrm>
            <a:off x="2135956" y="1268976"/>
            <a:ext cx="8280092" cy="900010"/>
          </a:xfrm>
        </p:spPr>
        <p:txBody>
          <a:bodyPr/>
          <a:lstStyle/>
          <a:p>
            <a:r>
              <a:rPr kumimoji="1" lang="ja-JP" altLang="en-US" dirty="0"/>
              <a:t>左の省略系として右のように描く</a:t>
            </a:r>
            <a:endParaRPr kumimoji="1" lang="en-US" altLang="ja-JP" dirty="0"/>
          </a:p>
          <a:p>
            <a:pPr lvl="1"/>
            <a:r>
              <a:rPr kumimoji="1" lang="en-US" altLang="ja-JP" dirty="0"/>
              <a:t>G</a:t>
            </a:r>
            <a:r>
              <a:rPr lang="en-US" altLang="ja-JP" dirty="0"/>
              <a:t> </a:t>
            </a:r>
            <a:r>
              <a:rPr lang="ja-JP" altLang="en-US" dirty="0"/>
              <a:t>のところに白丸があるのが </a:t>
            </a:r>
            <a:r>
              <a:rPr lang="en-US" altLang="ja-JP" dirty="0"/>
              <a:t>N </a:t>
            </a:r>
            <a:r>
              <a:rPr lang="ja-JP" altLang="en-US" dirty="0"/>
              <a:t>型との描き方の違い</a:t>
            </a:r>
            <a:endParaRPr kumimoji="1" lang="en-US" altLang="ja-JP" dirty="0"/>
          </a:p>
        </p:txBody>
      </p:sp>
      <p:sp>
        <p:nvSpPr>
          <p:cNvPr id="33" name="Rectangle 93">
            <a:extLst>
              <a:ext uri="{FF2B5EF4-FFF2-40B4-BE49-F238E27FC236}">
                <a16:creationId xmlns:a16="http://schemas.microsoft.com/office/drawing/2014/main" id="{F98CD4B9-12DD-D57A-43E6-742C7617EB64}"/>
              </a:ext>
            </a:extLst>
          </p:cNvPr>
          <p:cNvSpPr>
            <a:spLocks noChangeArrowheads="1"/>
          </p:cNvSpPr>
          <p:nvPr/>
        </p:nvSpPr>
        <p:spPr bwMode="auto">
          <a:xfrm>
            <a:off x="1955954" y="6129030"/>
            <a:ext cx="360004" cy="360362"/>
          </a:xfrm>
          <a:prstGeom prst="rect">
            <a:avLst/>
          </a:prstGeom>
          <a:noFill/>
          <a:ln w="12700" algn="ctr">
            <a:noFill/>
            <a:miter lim="800000"/>
            <a:headEnd/>
            <a:tailEnd/>
          </a:ln>
          <a:effectLst/>
        </p:spPr>
        <p:txBody>
          <a:bodyPr wrap="none" lIns="90000" tIns="46800" rIns="90000" bIns="46800" anchor="ctr"/>
          <a:lstStyle/>
          <a:p>
            <a:endParaRPr lang="en-US" altLang="ja-JP" dirty="0"/>
          </a:p>
        </p:txBody>
      </p:sp>
      <p:graphicFrame>
        <p:nvGraphicFramePr>
          <p:cNvPr id="29" name="Group 383">
            <a:extLst>
              <a:ext uri="{FF2B5EF4-FFF2-40B4-BE49-F238E27FC236}">
                <a16:creationId xmlns:a16="http://schemas.microsoft.com/office/drawing/2014/main" id="{28A148CA-9AAE-EEAE-B253-D118670C70A2}"/>
              </a:ext>
            </a:extLst>
          </p:cNvPr>
          <p:cNvGraphicFramePr>
            <a:graphicFrameLocks/>
          </p:cNvGraphicFramePr>
          <p:nvPr>
            <p:extLst>
              <p:ext uri="{D42A27DB-BD31-4B8C-83A1-F6EECF244321}">
                <p14:modId xmlns:p14="http://schemas.microsoft.com/office/powerpoint/2010/main" val="2604721729"/>
              </p:ext>
            </p:extLst>
          </p:nvPr>
        </p:nvGraphicFramePr>
        <p:xfrm>
          <a:off x="5735996" y="486901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4" name="グループ化 23">
            <a:extLst>
              <a:ext uri="{FF2B5EF4-FFF2-40B4-BE49-F238E27FC236}">
                <a16:creationId xmlns:a16="http://schemas.microsoft.com/office/drawing/2014/main" id="{9DE2D13F-7626-D2AE-211C-8755CCB2C87A}"/>
              </a:ext>
            </a:extLst>
          </p:cNvPr>
          <p:cNvGrpSpPr/>
          <p:nvPr/>
        </p:nvGrpSpPr>
        <p:grpSpPr>
          <a:xfrm>
            <a:off x="3305969" y="2619350"/>
            <a:ext cx="2431102" cy="1890379"/>
            <a:chOff x="3041983" y="3789004"/>
            <a:chExt cx="2431102" cy="1890379"/>
          </a:xfrm>
        </p:grpSpPr>
        <p:cxnSp>
          <p:nvCxnSpPr>
            <p:cNvPr id="32" name="直線コネクタ 31">
              <a:extLst>
                <a:ext uri="{FF2B5EF4-FFF2-40B4-BE49-F238E27FC236}">
                  <a16:creationId xmlns:a16="http://schemas.microsoft.com/office/drawing/2014/main" id="{F02C3CA8-B00B-0250-FD9A-715909383907}"/>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204FFD18-DD55-C032-2ADF-9A4ED0B49E8B}"/>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2" name="Rectangle 93">
              <a:extLst>
                <a:ext uri="{FF2B5EF4-FFF2-40B4-BE49-F238E27FC236}">
                  <a16:creationId xmlns:a16="http://schemas.microsoft.com/office/drawing/2014/main" id="{AC7EEC5B-4441-CFD2-CC55-3A8515C98DB3}"/>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43" name="正方形/長方形 42">
              <a:extLst>
                <a:ext uri="{FF2B5EF4-FFF2-40B4-BE49-F238E27FC236}">
                  <a16:creationId xmlns:a16="http://schemas.microsoft.com/office/drawing/2014/main" id="{FFB80C57-B1EF-7FF9-54F1-683B80FE05C2}"/>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4" name="円/楕円 69">
              <a:extLst>
                <a:ext uri="{FF2B5EF4-FFF2-40B4-BE49-F238E27FC236}">
                  <a16:creationId xmlns:a16="http://schemas.microsoft.com/office/drawing/2014/main" id="{FFDB2FBE-8F5E-3CB7-9F19-B8900D52BD87}"/>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5" name="直線コネクタ 44">
              <a:extLst>
                <a:ext uri="{FF2B5EF4-FFF2-40B4-BE49-F238E27FC236}">
                  <a16:creationId xmlns:a16="http://schemas.microsoft.com/office/drawing/2014/main" id="{C779E84C-8E35-D15F-0BEC-4E3220D2135C}"/>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6" name="グループ化 45">
              <a:extLst>
                <a:ext uri="{FF2B5EF4-FFF2-40B4-BE49-F238E27FC236}">
                  <a16:creationId xmlns:a16="http://schemas.microsoft.com/office/drawing/2014/main" id="{97BBC831-E6EF-4912-27FE-CEAD42454F33}"/>
                </a:ext>
              </a:extLst>
            </p:cNvPr>
            <p:cNvGrpSpPr/>
            <p:nvPr/>
          </p:nvGrpSpPr>
          <p:grpSpPr>
            <a:xfrm>
              <a:off x="3851992" y="4599013"/>
              <a:ext cx="360004" cy="720007"/>
              <a:chOff x="3131985" y="5049018"/>
              <a:chExt cx="180002" cy="437056"/>
            </a:xfrm>
          </p:grpSpPr>
          <p:grpSp>
            <p:nvGrpSpPr>
              <p:cNvPr id="69" name="グループ化 68">
                <a:extLst>
                  <a:ext uri="{FF2B5EF4-FFF2-40B4-BE49-F238E27FC236}">
                    <a16:creationId xmlns:a16="http://schemas.microsoft.com/office/drawing/2014/main" id="{443A3CB1-AF90-8DC5-DC34-995F0EBF956C}"/>
                  </a:ext>
                </a:extLst>
              </p:cNvPr>
              <p:cNvGrpSpPr/>
              <p:nvPr/>
            </p:nvGrpSpPr>
            <p:grpSpPr>
              <a:xfrm>
                <a:off x="3131985" y="5139021"/>
                <a:ext cx="180002" cy="254126"/>
                <a:chOff x="3131984" y="5191944"/>
                <a:chExt cx="270003" cy="201854"/>
              </a:xfrm>
            </p:grpSpPr>
            <p:sp>
              <p:nvSpPr>
                <p:cNvPr id="74" name="Freeform 42">
                  <a:extLst>
                    <a:ext uri="{FF2B5EF4-FFF2-40B4-BE49-F238E27FC236}">
                      <a16:creationId xmlns:a16="http://schemas.microsoft.com/office/drawing/2014/main" id="{5947B35B-6096-FFDA-6EE7-8E9D75FAA967}"/>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75" name="Freeform 42">
                  <a:extLst>
                    <a:ext uri="{FF2B5EF4-FFF2-40B4-BE49-F238E27FC236}">
                      <a16:creationId xmlns:a16="http://schemas.microsoft.com/office/drawing/2014/main" id="{9D411C44-92A5-6C6C-458B-3AE9CAB7F174}"/>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76" name="Freeform 42">
                  <a:extLst>
                    <a:ext uri="{FF2B5EF4-FFF2-40B4-BE49-F238E27FC236}">
                      <a16:creationId xmlns:a16="http://schemas.microsoft.com/office/drawing/2014/main" id="{3C371CDD-34EC-3454-0EEB-765539ED1838}"/>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78" name="Freeform 42">
                  <a:extLst>
                    <a:ext uri="{FF2B5EF4-FFF2-40B4-BE49-F238E27FC236}">
                      <a16:creationId xmlns:a16="http://schemas.microsoft.com/office/drawing/2014/main" id="{D66CD7DC-4A6B-BEC0-ED0A-D448ECC9FCE4}"/>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70" name="直線コネクタ 69">
                <a:extLst>
                  <a:ext uri="{FF2B5EF4-FFF2-40B4-BE49-F238E27FC236}">
                    <a16:creationId xmlns:a16="http://schemas.microsoft.com/office/drawing/2014/main" id="{93C0B0F2-86AC-DECE-3765-D38115CF0F85}"/>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A5914E39-C0A7-229C-5AF4-620FA09B35F6}"/>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47" name="直線コネクタ 46">
              <a:extLst>
                <a:ext uri="{FF2B5EF4-FFF2-40B4-BE49-F238E27FC236}">
                  <a16:creationId xmlns:a16="http://schemas.microsoft.com/office/drawing/2014/main" id="{97EF21A9-BC7B-A772-572A-7C6A30EB68E4}"/>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EEFF6283-3F18-3BCC-2735-6C630F8E69FF}"/>
                </a:ext>
              </a:extLst>
            </p:cNvPr>
            <p:cNvCxnSpPr>
              <a:cxnSpLocks/>
              <a:endCxn id="50" idx="4"/>
            </p:cNvCxnSpPr>
            <p:nvPr/>
          </p:nvCxnSpPr>
          <p:spPr>
            <a:xfrm>
              <a:off x="4705734" y="4778657"/>
              <a:ext cx="0" cy="31536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0" name="円/楕円 68">
              <a:extLst>
                <a:ext uri="{FF2B5EF4-FFF2-40B4-BE49-F238E27FC236}">
                  <a16:creationId xmlns:a16="http://schemas.microsoft.com/office/drawing/2014/main" id="{22D40220-F0F1-B5AA-4406-F0B9208E6AE1}"/>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1" name="直線コネクタ 50">
              <a:extLst>
                <a:ext uri="{FF2B5EF4-FFF2-40B4-BE49-F238E27FC236}">
                  <a16:creationId xmlns:a16="http://schemas.microsoft.com/office/drawing/2014/main" id="{89C35317-7D49-4072-8FD0-AB22F7450DD9}"/>
                </a:ext>
              </a:extLst>
            </p:cNvPr>
            <p:cNvCxnSpPr>
              <a:cxnSpLocks/>
              <a:endCxn id="44"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16AAD31B-3589-5476-F326-4E7ED0D06C05}"/>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4" name="Rectangle 93">
              <a:extLst>
                <a:ext uri="{FF2B5EF4-FFF2-40B4-BE49-F238E27FC236}">
                  <a16:creationId xmlns:a16="http://schemas.microsoft.com/office/drawing/2014/main" id="{336AC6D2-F6A3-FDF0-845F-50DEBCBC7FBE}"/>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5" name="Rectangle 93">
              <a:extLst>
                <a:ext uri="{FF2B5EF4-FFF2-40B4-BE49-F238E27FC236}">
                  <a16:creationId xmlns:a16="http://schemas.microsoft.com/office/drawing/2014/main" id="{D8CCB555-BB58-C415-3BBC-5245582DBA65}"/>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61" name="Rectangle 93">
              <a:extLst>
                <a:ext uri="{FF2B5EF4-FFF2-40B4-BE49-F238E27FC236}">
                  <a16:creationId xmlns:a16="http://schemas.microsoft.com/office/drawing/2014/main" id="{3C4F5428-10F1-4053-80DE-587ABF571A80}"/>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65" name="Rectangle 93">
              <a:extLst>
                <a:ext uri="{FF2B5EF4-FFF2-40B4-BE49-F238E27FC236}">
                  <a16:creationId xmlns:a16="http://schemas.microsoft.com/office/drawing/2014/main" id="{592F5C67-C681-95DA-3C06-EE3700A9C120}"/>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66" name="直線コネクタ 65">
              <a:extLst>
                <a:ext uri="{FF2B5EF4-FFF2-40B4-BE49-F238E27FC236}">
                  <a16:creationId xmlns:a16="http://schemas.microsoft.com/office/drawing/2014/main" id="{6C036EFE-9887-1620-9D5C-3A8AA3F23F25}"/>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D2277C0C-C01C-D82E-0A99-5EB5569E9FD9}"/>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4C3163DF-45EE-1A75-E467-B6C0B89C5CE8}"/>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80" name="グループ化 79">
            <a:extLst>
              <a:ext uri="{FF2B5EF4-FFF2-40B4-BE49-F238E27FC236}">
                <a16:creationId xmlns:a16="http://schemas.microsoft.com/office/drawing/2014/main" id="{82699522-877F-7354-EFED-D8DD0AC6835D}"/>
              </a:ext>
            </a:extLst>
          </p:cNvPr>
          <p:cNvGrpSpPr/>
          <p:nvPr/>
        </p:nvGrpSpPr>
        <p:grpSpPr>
          <a:xfrm>
            <a:off x="6726007" y="2708992"/>
            <a:ext cx="1531092" cy="1440374"/>
            <a:chOff x="5202007" y="2708992"/>
            <a:chExt cx="1531092" cy="1440374"/>
          </a:xfrm>
        </p:grpSpPr>
        <p:grpSp>
          <p:nvGrpSpPr>
            <p:cNvPr id="31" name="グループ化 30">
              <a:extLst>
                <a:ext uri="{FF2B5EF4-FFF2-40B4-BE49-F238E27FC236}">
                  <a16:creationId xmlns:a16="http://schemas.microsoft.com/office/drawing/2014/main" id="{979102F4-D96C-21AE-DDA5-D303E779121F}"/>
                </a:ext>
              </a:extLst>
            </p:cNvPr>
            <p:cNvGrpSpPr/>
            <p:nvPr/>
          </p:nvGrpSpPr>
          <p:grpSpPr>
            <a:xfrm>
              <a:off x="5202007" y="2708992"/>
              <a:ext cx="1531092" cy="1440374"/>
              <a:chOff x="5202007" y="3068996"/>
              <a:chExt cx="1531092" cy="1440374"/>
            </a:xfrm>
          </p:grpSpPr>
          <p:sp>
            <p:nvSpPr>
              <p:cNvPr id="77" name="正方形/長方形 76">
                <a:extLst>
                  <a:ext uri="{FF2B5EF4-FFF2-40B4-BE49-F238E27FC236}">
                    <a16:creationId xmlns:a16="http://schemas.microsoft.com/office/drawing/2014/main" id="{8191A662-0875-0B7E-ECDB-6E4CB416E6D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5" name="円/楕円 69">
                <a:extLst>
                  <a:ext uri="{FF2B5EF4-FFF2-40B4-BE49-F238E27FC236}">
                    <a16:creationId xmlns:a16="http://schemas.microsoft.com/office/drawing/2014/main" id="{595B7D01-DF2E-05E6-DB06-28CEB3E075A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6" name="直線コネクタ 35">
                <a:extLst>
                  <a:ext uri="{FF2B5EF4-FFF2-40B4-BE49-F238E27FC236}">
                    <a16:creationId xmlns:a16="http://schemas.microsoft.com/office/drawing/2014/main" id="{4C42C92D-8645-9A14-FAC8-B8C6CE029CDA}"/>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9B60195C-6A3D-E7C1-3585-CF25B1CE2179}"/>
                  </a:ext>
                </a:extLst>
              </p:cNvPr>
              <p:cNvCxnSpPr>
                <a:cxnSpLocks/>
                <a:endCxn id="57"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円/楕円 68">
                <a:extLst>
                  <a:ext uri="{FF2B5EF4-FFF2-40B4-BE49-F238E27FC236}">
                    <a16:creationId xmlns:a16="http://schemas.microsoft.com/office/drawing/2014/main" id="{8232BB8B-03D3-D17E-B034-9F5C6D43FFFA}"/>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8" name="直線コネクタ 57">
                <a:extLst>
                  <a:ext uri="{FF2B5EF4-FFF2-40B4-BE49-F238E27FC236}">
                    <a16:creationId xmlns:a16="http://schemas.microsoft.com/office/drawing/2014/main" id="{D8880597-9986-0289-FF1C-41D727394666}"/>
                  </a:ext>
                </a:extLst>
              </p:cNvPr>
              <p:cNvCxnSpPr>
                <a:cxnSpLocks/>
                <a:endCxn id="3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3B14EFEF-E622-8979-F1EE-B6ED2BE813F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Rectangle 93">
                <a:extLst>
                  <a:ext uri="{FF2B5EF4-FFF2-40B4-BE49-F238E27FC236}">
                    <a16:creationId xmlns:a16="http://schemas.microsoft.com/office/drawing/2014/main" id="{045EDB31-5420-83EB-4F47-DF580918B61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2" name="Rectangle 93">
                <a:extLst>
                  <a:ext uri="{FF2B5EF4-FFF2-40B4-BE49-F238E27FC236}">
                    <a16:creationId xmlns:a16="http://schemas.microsoft.com/office/drawing/2014/main" id="{EF1A29CA-5692-DFDB-47D9-EC74234E9D4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63" name="Rectangle 93">
                <a:extLst>
                  <a:ext uri="{FF2B5EF4-FFF2-40B4-BE49-F238E27FC236}">
                    <a16:creationId xmlns:a16="http://schemas.microsoft.com/office/drawing/2014/main" id="{357C4F85-DFA8-A9B7-0A77-DD6FE0D3C9DB}"/>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64" name="直線コネクタ 63">
                <a:extLst>
                  <a:ext uri="{FF2B5EF4-FFF2-40B4-BE49-F238E27FC236}">
                    <a16:creationId xmlns:a16="http://schemas.microsoft.com/office/drawing/2014/main" id="{99F7A64B-2A0F-1A54-14CC-850E653D613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F91D7330-5CBA-DC70-78E4-4CF6B6A5A63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79" name="円/楕円 69">
              <a:extLst>
                <a:ext uri="{FF2B5EF4-FFF2-40B4-BE49-F238E27FC236}">
                  <a16:creationId xmlns:a16="http://schemas.microsoft.com/office/drawing/2014/main" id="{938BBB58-5AEC-A513-1242-9CFC3987A788}"/>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82" name="コネクタ: 曲線 81">
            <a:extLst>
              <a:ext uri="{FF2B5EF4-FFF2-40B4-BE49-F238E27FC236}">
                <a16:creationId xmlns:a16="http://schemas.microsoft.com/office/drawing/2014/main" id="{30E9498C-19E9-B229-8D48-F834A9D9E16E}"/>
              </a:ext>
            </a:extLst>
          </p:cNvPr>
          <p:cNvCxnSpPr>
            <a:cxnSpLocks/>
          </p:cNvCxnSpPr>
          <p:nvPr/>
        </p:nvCxnSpPr>
        <p:spPr bwMode="auto">
          <a:xfrm rot="16200000" flipH="1">
            <a:off x="5304010" y="1538998"/>
            <a:ext cx="1260000" cy="2340000"/>
          </a:xfrm>
          <a:prstGeom prst="curvedConnector3">
            <a:avLst/>
          </a:prstGeom>
          <a:noFill/>
          <a:ln w="9525" cap="flat" cmpd="sng" algn="ctr">
            <a:solidFill>
              <a:schemeClr val="accent6"/>
            </a:solidFill>
            <a:prstDash val="solid"/>
            <a:round/>
            <a:headEnd type="none" w="med" len="med"/>
            <a:tailEnd type="triangle"/>
          </a:ln>
          <a:effectLst/>
        </p:spPr>
      </p:cxnSp>
    </p:spTree>
    <p:extLst>
      <p:ext uri="{BB962C8B-B14F-4D97-AF65-F5344CB8AC3E}">
        <p14:creationId xmlns:p14="http://schemas.microsoft.com/office/powerpoint/2010/main" val="26945115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812E4A-FE2E-5220-C4AC-78FF3A4EB4A3}"/>
              </a:ext>
            </a:extLst>
          </p:cNvPr>
          <p:cNvSpPr>
            <a:spLocks noGrp="1"/>
          </p:cNvSpPr>
          <p:nvPr>
            <p:ph type="title"/>
          </p:nvPr>
        </p:nvSpPr>
        <p:spPr/>
        <p:txBody>
          <a:bodyPr/>
          <a:lstStyle/>
          <a:p>
            <a:r>
              <a:rPr kumimoji="1" lang="en-US" altLang="ja-JP" dirty="0"/>
              <a:t>P</a:t>
            </a:r>
            <a:r>
              <a:rPr kumimoji="1" lang="en-US" dirty="0"/>
              <a:t> </a:t>
            </a:r>
            <a:r>
              <a:rPr kumimoji="1" lang="ja-JP" altLang="en-US" dirty="0"/>
              <a:t>型と </a:t>
            </a:r>
            <a:r>
              <a:rPr kumimoji="1" lang="en-US" altLang="ja-JP" dirty="0"/>
              <a:t>N </a:t>
            </a:r>
            <a:r>
              <a:rPr kumimoji="1" lang="ja-JP" altLang="en-US" dirty="0"/>
              <a:t>型のまとめ</a:t>
            </a:r>
            <a:endParaRPr kumimoji="1" lang="en-US" dirty="0"/>
          </a:p>
        </p:txBody>
      </p:sp>
      <p:sp>
        <p:nvSpPr>
          <p:cNvPr id="74" name="コンテンツ プレースホルダー 73">
            <a:extLst>
              <a:ext uri="{FF2B5EF4-FFF2-40B4-BE49-F238E27FC236}">
                <a16:creationId xmlns:a16="http://schemas.microsoft.com/office/drawing/2014/main" id="{13AE580E-0DE3-8C22-2E92-7F7074A83ACE}"/>
              </a:ext>
            </a:extLst>
          </p:cNvPr>
          <p:cNvSpPr>
            <a:spLocks noGrp="1"/>
          </p:cNvSpPr>
          <p:nvPr>
            <p:ph type="body" sz="quarter" idx="10"/>
          </p:nvPr>
        </p:nvSpPr>
        <p:spPr>
          <a:xfrm>
            <a:off x="2135956" y="1088974"/>
            <a:ext cx="8280092" cy="990011"/>
          </a:xfrm>
        </p:spPr>
        <p:txBody>
          <a:bodyPr/>
          <a:lstStyle/>
          <a:p>
            <a:r>
              <a:rPr lang="en-US" altLang="ja-JP" dirty="0"/>
              <a:t>P </a:t>
            </a:r>
            <a:r>
              <a:rPr lang="ja-JP" altLang="en-US" dirty="0"/>
              <a:t>型と </a:t>
            </a:r>
            <a:r>
              <a:rPr lang="en-US" altLang="ja-JP" dirty="0"/>
              <a:t>N </a:t>
            </a:r>
            <a:r>
              <a:rPr lang="ja-JP" altLang="en-US" dirty="0"/>
              <a:t>型の違い：</a:t>
            </a:r>
            <a:endParaRPr lang="en-US" altLang="ja-JP" dirty="0"/>
          </a:p>
          <a:p>
            <a:pPr lvl="1"/>
            <a:r>
              <a:rPr lang="en-US" altLang="ja-JP" dirty="0"/>
              <a:t>P </a:t>
            </a:r>
            <a:r>
              <a:rPr lang="ja-JP" altLang="en-US" dirty="0"/>
              <a:t>型では </a:t>
            </a:r>
            <a:r>
              <a:rPr lang="en-US" altLang="ja-JP" dirty="0"/>
              <a:t>G </a:t>
            </a:r>
            <a:r>
              <a:rPr lang="ja-JP" altLang="en-US" dirty="0"/>
              <a:t>が </a:t>
            </a:r>
            <a:r>
              <a:rPr lang="en-US" altLang="ja-JP" dirty="0"/>
              <a:t>0 </a:t>
            </a:r>
            <a:r>
              <a:rPr lang="ja-JP" altLang="en-US" dirty="0"/>
              <a:t>の時 </a:t>
            </a:r>
            <a:r>
              <a:rPr lang="en-US" altLang="ja-JP" dirty="0"/>
              <a:t>ON</a:t>
            </a:r>
            <a:r>
              <a:rPr lang="ja-JP" altLang="en-US" dirty="0"/>
              <a:t>，</a:t>
            </a:r>
            <a:r>
              <a:rPr lang="en-US" altLang="ja-JP" dirty="0"/>
              <a:t>N </a:t>
            </a:r>
            <a:r>
              <a:rPr lang="ja-JP" altLang="en-US" dirty="0"/>
              <a:t>型は </a:t>
            </a:r>
            <a:r>
              <a:rPr lang="en-US" altLang="ja-JP" dirty="0"/>
              <a:t>G </a:t>
            </a:r>
            <a:r>
              <a:rPr lang="ja-JP" altLang="en-US" dirty="0"/>
              <a:t>が </a:t>
            </a:r>
            <a:r>
              <a:rPr lang="en-US" altLang="ja-JP" dirty="0"/>
              <a:t>1 </a:t>
            </a:r>
            <a:r>
              <a:rPr lang="ja-JP" altLang="en-US" dirty="0"/>
              <a:t>のとき </a:t>
            </a:r>
            <a:r>
              <a:rPr lang="en-US" altLang="ja-JP" dirty="0"/>
              <a:t>ON </a:t>
            </a:r>
            <a:r>
              <a:rPr lang="ja-JP" altLang="en-US" dirty="0"/>
              <a:t>で逆</a:t>
            </a:r>
            <a:endParaRPr lang="en-US" altLang="ja-JP" dirty="0"/>
          </a:p>
          <a:p>
            <a:pPr lvl="1"/>
            <a:r>
              <a:rPr lang="en-US" altLang="ja-JP" dirty="0"/>
              <a:t>G </a:t>
            </a:r>
            <a:r>
              <a:rPr lang="ja-JP" altLang="en-US" dirty="0"/>
              <a:t>に白丸があるのが </a:t>
            </a:r>
            <a:r>
              <a:rPr lang="en-US" altLang="ja-JP" dirty="0"/>
              <a:t>P </a:t>
            </a:r>
            <a:r>
              <a:rPr lang="ja-JP" altLang="en-US" dirty="0"/>
              <a:t>型，ないのが </a:t>
            </a:r>
            <a:r>
              <a:rPr lang="en-US" altLang="ja-JP" dirty="0"/>
              <a:t>N </a:t>
            </a:r>
            <a:r>
              <a:rPr lang="ja-JP" altLang="en-US" dirty="0"/>
              <a:t>型</a:t>
            </a:r>
            <a:endParaRPr lang="en-US" dirty="0"/>
          </a:p>
        </p:txBody>
      </p:sp>
      <p:graphicFrame>
        <p:nvGraphicFramePr>
          <p:cNvPr id="88" name="Group 383">
            <a:extLst>
              <a:ext uri="{FF2B5EF4-FFF2-40B4-BE49-F238E27FC236}">
                <a16:creationId xmlns:a16="http://schemas.microsoft.com/office/drawing/2014/main" id="{98F62C4B-867C-9B2A-4C5B-F68DF987ED12}"/>
              </a:ext>
            </a:extLst>
          </p:cNvPr>
          <p:cNvGraphicFramePr>
            <a:graphicFrameLocks/>
          </p:cNvGraphicFramePr>
          <p:nvPr>
            <p:extLst>
              <p:ext uri="{D42A27DB-BD31-4B8C-83A1-F6EECF244321}">
                <p14:modId xmlns:p14="http://schemas.microsoft.com/office/powerpoint/2010/main" val="4137035976"/>
              </p:ext>
            </p:extLst>
          </p:nvPr>
        </p:nvGraphicFramePr>
        <p:xfrm>
          <a:off x="8256024" y="2798635"/>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89" name="グループ化 88">
            <a:extLst>
              <a:ext uri="{FF2B5EF4-FFF2-40B4-BE49-F238E27FC236}">
                <a16:creationId xmlns:a16="http://schemas.microsoft.com/office/drawing/2014/main" id="{3ACC75CE-193E-A25E-536B-79A1CC54C60E}"/>
              </a:ext>
            </a:extLst>
          </p:cNvPr>
          <p:cNvGrpSpPr/>
          <p:nvPr/>
        </p:nvGrpSpPr>
        <p:grpSpPr>
          <a:xfrm>
            <a:off x="2585961" y="2258630"/>
            <a:ext cx="2431102" cy="1890379"/>
            <a:chOff x="3041983" y="3789004"/>
            <a:chExt cx="2431102" cy="1890379"/>
          </a:xfrm>
        </p:grpSpPr>
        <p:cxnSp>
          <p:nvCxnSpPr>
            <p:cNvPr id="90" name="直線コネクタ 89">
              <a:extLst>
                <a:ext uri="{FF2B5EF4-FFF2-40B4-BE49-F238E27FC236}">
                  <a16:creationId xmlns:a16="http://schemas.microsoft.com/office/drawing/2014/main" id="{CAD72414-06D4-17A2-9963-0F187E9AD303}"/>
                </a:ext>
              </a:extLst>
            </p:cNvPr>
            <p:cNvCxnSpPr>
              <a:cxnSpLocks/>
            </p:cNvCxnSpPr>
            <p:nvPr/>
          </p:nvCxnSpPr>
          <p:spPr>
            <a:xfrm flipV="1">
              <a:off x="3311986"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1" name="直線コネクタ 90">
              <a:extLst>
                <a:ext uri="{FF2B5EF4-FFF2-40B4-BE49-F238E27FC236}">
                  <a16:creationId xmlns:a16="http://schemas.microsoft.com/office/drawing/2014/main" id="{68540C88-AFC9-6BCC-1527-9A58CFA0AEE7}"/>
                </a:ext>
              </a:extLst>
            </p:cNvPr>
            <p:cNvCxnSpPr/>
            <p:nvPr/>
          </p:nvCxnSpPr>
          <p:spPr>
            <a:xfrm>
              <a:off x="3131984" y="4149008"/>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92" name="Rectangle 93">
              <a:extLst>
                <a:ext uri="{FF2B5EF4-FFF2-40B4-BE49-F238E27FC236}">
                  <a16:creationId xmlns:a16="http://schemas.microsoft.com/office/drawing/2014/main" id="{9DB52627-9B15-D7B3-3630-64C4C1983478}"/>
                </a:ext>
              </a:extLst>
            </p:cNvPr>
            <p:cNvSpPr>
              <a:spLocks noChangeArrowheads="1"/>
            </p:cNvSpPr>
            <p:nvPr/>
          </p:nvSpPr>
          <p:spPr bwMode="auto">
            <a:xfrm>
              <a:off x="3041983"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93" name="正方形/長方形 92">
              <a:extLst>
                <a:ext uri="{FF2B5EF4-FFF2-40B4-BE49-F238E27FC236}">
                  <a16:creationId xmlns:a16="http://schemas.microsoft.com/office/drawing/2014/main" id="{1353F563-3094-F3D5-7D93-2291758CA8F2}"/>
                </a:ext>
              </a:extLst>
            </p:cNvPr>
            <p:cNvSpPr/>
            <p:nvPr/>
          </p:nvSpPr>
          <p:spPr bwMode="auto">
            <a:xfrm>
              <a:off x="3671990" y="4509012"/>
              <a:ext cx="1440016"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94" name="円/楕円 69">
              <a:extLst>
                <a:ext uri="{FF2B5EF4-FFF2-40B4-BE49-F238E27FC236}">
                  <a16:creationId xmlns:a16="http://schemas.microsoft.com/office/drawing/2014/main" id="{A3357176-2B59-AE9F-B26F-895ABE9E09BA}"/>
                </a:ext>
              </a:extLst>
            </p:cNvPr>
            <p:cNvSpPr/>
            <p:nvPr/>
          </p:nvSpPr>
          <p:spPr>
            <a:xfrm rot="5400000">
              <a:off x="4708257" y="4779015"/>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95" name="直線コネクタ 94">
              <a:extLst>
                <a:ext uri="{FF2B5EF4-FFF2-40B4-BE49-F238E27FC236}">
                  <a16:creationId xmlns:a16="http://schemas.microsoft.com/office/drawing/2014/main" id="{59905182-C6CC-A795-69F6-A9819F36EC31}"/>
                </a:ext>
              </a:extLst>
            </p:cNvPr>
            <p:cNvCxnSpPr>
              <a:cxnSpLocks/>
            </p:cNvCxnSpPr>
            <p:nvPr/>
          </p:nvCxnSpPr>
          <p:spPr>
            <a:xfrm flipH="1">
              <a:off x="3311986"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96" name="グループ化 95">
              <a:extLst>
                <a:ext uri="{FF2B5EF4-FFF2-40B4-BE49-F238E27FC236}">
                  <a16:creationId xmlns:a16="http://schemas.microsoft.com/office/drawing/2014/main" id="{F37C8728-36F6-CCE8-8588-1D0BF4781234}"/>
                </a:ext>
              </a:extLst>
            </p:cNvPr>
            <p:cNvGrpSpPr/>
            <p:nvPr/>
          </p:nvGrpSpPr>
          <p:grpSpPr>
            <a:xfrm>
              <a:off x="3851992" y="4599013"/>
              <a:ext cx="360004" cy="720007"/>
              <a:chOff x="3131985" y="5049018"/>
              <a:chExt cx="180002" cy="437056"/>
            </a:xfrm>
          </p:grpSpPr>
          <p:grpSp>
            <p:nvGrpSpPr>
              <p:cNvPr id="109" name="グループ化 108">
                <a:extLst>
                  <a:ext uri="{FF2B5EF4-FFF2-40B4-BE49-F238E27FC236}">
                    <a16:creationId xmlns:a16="http://schemas.microsoft.com/office/drawing/2014/main" id="{BB947E73-E210-5436-F9DD-6BC6E1CAE424}"/>
                  </a:ext>
                </a:extLst>
              </p:cNvPr>
              <p:cNvGrpSpPr/>
              <p:nvPr/>
            </p:nvGrpSpPr>
            <p:grpSpPr>
              <a:xfrm>
                <a:off x="3131985" y="5139021"/>
                <a:ext cx="180002" cy="254126"/>
                <a:chOff x="3131984" y="5191944"/>
                <a:chExt cx="270003" cy="201854"/>
              </a:xfrm>
            </p:grpSpPr>
            <p:sp>
              <p:nvSpPr>
                <p:cNvPr id="112" name="Freeform 42">
                  <a:extLst>
                    <a:ext uri="{FF2B5EF4-FFF2-40B4-BE49-F238E27FC236}">
                      <a16:creationId xmlns:a16="http://schemas.microsoft.com/office/drawing/2014/main" id="{8FFE53D7-42A2-1ABD-F94C-087A1831895F}"/>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3" name="Freeform 42">
                  <a:extLst>
                    <a:ext uri="{FF2B5EF4-FFF2-40B4-BE49-F238E27FC236}">
                      <a16:creationId xmlns:a16="http://schemas.microsoft.com/office/drawing/2014/main" id="{8390D6FF-E3C7-4145-75DD-ABC77AA1FC70}"/>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4" name="Freeform 42">
                  <a:extLst>
                    <a:ext uri="{FF2B5EF4-FFF2-40B4-BE49-F238E27FC236}">
                      <a16:creationId xmlns:a16="http://schemas.microsoft.com/office/drawing/2014/main" id="{7E9CFDDD-2E7B-5C97-B4A3-57C9DD40AAA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15" name="Freeform 42">
                  <a:extLst>
                    <a:ext uri="{FF2B5EF4-FFF2-40B4-BE49-F238E27FC236}">
                      <a16:creationId xmlns:a16="http://schemas.microsoft.com/office/drawing/2014/main" id="{DB95F5B2-A82B-B956-4F5B-34ECC52DD9C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0" name="直線コネクタ 109">
                <a:extLst>
                  <a:ext uri="{FF2B5EF4-FFF2-40B4-BE49-F238E27FC236}">
                    <a16:creationId xmlns:a16="http://schemas.microsoft.com/office/drawing/2014/main" id="{756EF7CF-D211-A2D0-F2E4-2884A0735366}"/>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4BD790B3-1C77-7785-28D2-433B5845F518}"/>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97" name="直線コネクタ 96">
              <a:extLst>
                <a:ext uri="{FF2B5EF4-FFF2-40B4-BE49-F238E27FC236}">
                  <a16:creationId xmlns:a16="http://schemas.microsoft.com/office/drawing/2014/main" id="{F133AEED-F3C3-117D-41E5-A94972AC6EB6}"/>
                </a:ext>
              </a:extLst>
            </p:cNvPr>
            <p:cNvCxnSpPr>
              <a:cxnSpLocks/>
            </p:cNvCxnSpPr>
            <p:nvPr/>
          </p:nvCxnSpPr>
          <p:spPr>
            <a:xfrm flipH="1">
              <a:off x="3671990" y="5319021"/>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41BC9FA3-5F6C-6A88-7B5D-C984ED233BF0}"/>
                </a:ext>
              </a:extLst>
            </p:cNvPr>
            <p:cNvCxnSpPr>
              <a:cxnSpLocks/>
              <a:endCxn id="99" idx="4"/>
            </p:cNvCxnSpPr>
            <p:nvPr/>
          </p:nvCxnSpPr>
          <p:spPr>
            <a:xfrm>
              <a:off x="4705734" y="4778657"/>
              <a:ext cx="0" cy="31536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9" name="円/楕円 68">
              <a:extLst>
                <a:ext uri="{FF2B5EF4-FFF2-40B4-BE49-F238E27FC236}">
                  <a16:creationId xmlns:a16="http://schemas.microsoft.com/office/drawing/2014/main" id="{592BB001-24B2-E404-35A3-8B1473A14B35}"/>
                </a:ext>
              </a:extLst>
            </p:cNvPr>
            <p:cNvSpPr/>
            <p:nvPr/>
          </p:nvSpPr>
          <p:spPr>
            <a:xfrm rot="5400000">
              <a:off x="4705723" y="5049029"/>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00" name="直線コネクタ 99">
              <a:extLst>
                <a:ext uri="{FF2B5EF4-FFF2-40B4-BE49-F238E27FC236}">
                  <a16:creationId xmlns:a16="http://schemas.microsoft.com/office/drawing/2014/main" id="{0FE28C34-E4B6-8FB9-2CC5-7CDBC4D09B51}"/>
                </a:ext>
              </a:extLst>
            </p:cNvPr>
            <p:cNvCxnSpPr>
              <a:cxnSpLocks/>
              <a:endCxn id="94" idx="2"/>
            </p:cNvCxnSpPr>
            <p:nvPr/>
          </p:nvCxnSpPr>
          <p:spPr>
            <a:xfrm>
              <a:off x="4752002" y="4599013"/>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1" name="直線コネクタ 100">
              <a:extLst>
                <a:ext uri="{FF2B5EF4-FFF2-40B4-BE49-F238E27FC236}">
                  <a16:creationId xmlns:a16="http://schemas.microsoft.com/office/drawing/2014/main" id="{FA4436B5-503C-FD30-EDD6-E2C9A351AB98}"/>
                </a:ext>
              </a:extLst>
            </p:cNvPr>
            <p:cNvCxnSpPr>
              <a:cxnSpLocks/>
            </p:cNvCxnSpPr>
            <p:nvPr/>
          </p:nvCxnSpPr>
          <p:spPr>
            <a:xfrm>
              <a:off x="4752002" y="5139019"/>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02" name="Rectangle 93">
              <a:extLst>
                <a:ext uri="{FF2B5EF4-FFF2-40B4-BE49-F238E27FC236}">
                  <a16:creationId xmlns:a16="http://schemas.microsoft.com/office/drawing/2014/main" id="{10399B61-0A43-3AFF-7F67-2375FE60752D}"/>
                </a:ext>
              </a:extLst>
            </p:cNvPr>
            <p:cNvSpPr>
              <a:spLocks noChangeArrowheads="1"/>
            </p:cNvSpPr>
            <p:nvPr/>
          </p:nvSpPr>
          <p:spPr bwMode="auto">
            <a:xfrm>
              <a:off x="3311986" y="531902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3" name="Rectangle 93">
              <a:extLst>
                <a:ext uri="{FF2B5EF4-FFF2-40B4-BE49-F238E27FC236}">
                  <a16:creationId xmlns:a16="http://schemas.microsoft.com/office/drawing/2014/main" id="{B944501E-31DF-0E6D-0887-C1387D477087}"/>
                </a:ext>
              </a:extLst>
            </p:cNvPr>
            <p:cNvSpPr>
              <a:spLocks noChangeArrowheads="1"/>
            </p:cNvSpPr>
            <p:nvPr/>
          </p:nvSpPr>
          <p:spPr bwMode="auto">
            <a:xfrm>
              <a:off x="331198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04" name="Rectangle 93">
              <a:extLst>
                <a:ext uri="{FF2B5EF4-FFF2-40B4-BE49-F238E27FC236}">
                  <a16:creationId xmlns:a16="http://schemas.microsoft.com/office/drawing/2014/main" id="{AF9FF4B8-69D4-2193-D56A-FE9FC6D55BF4}"/>
                </a:ext>
              </a:extLst>
            </p:cNvPr>
            <p:cNvSpPr>
              <a:spLocks noChangeArrowheads="1"/>
            </p:cNvSpPr>
            <p:nvPr/>
          </p:nvSpPr>
          <p:spPr bwMode="auto">
            <a:xfrm>
              <a:off x="5112006" y="423900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05" name="Rectangle 93">
              <a:extLst>
                <a:ext uri="{FF2B5EF4-FFF2-40B4-BE49-F238E27FC236}">
                  <a16:creationId xmlns:a16="http://schemas.microsoft.com/office/drawing/2014/main" id="{BE46A745-2FA9-7BC2-8055-C8E29D65FC96}"/>
                </a:ext>
              </a:extLst>
            </p:cNvPr>
            <p:cNvSpPr>
              <a:spLocks noChangeArrowheads="1"/>
            </p:cNvSpPr>
            <p:nvPr/>
          </p:nvSpPr>
          <p:spPr bwMode="auto">
            <a:xfrm>
              <a:off x="5112006" y="531902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06" name="直線コネクタ 105">
              <a:extLst>
                <a:ext uri="{FF2B5EF4-FFF2-40B4-BE49-F238E27FC236}">
                  <a16:creationId xmlns:a16="http://schemas.microsoft.com/office/drawing/2014/main" id="{71BD6919-6BE5-9D8D-44AF-523C444FAEEB}"/>
                </a:ext>
              </a:extLst>
            </p:cNvPr>
            <p:cNvCxnSpPr>
              <a:cxnSpLocks/>
            </p:cNvCxnSpPr>
            <p:nvPr/>
          </p:nvCxnSpPr>
          <p:spPr>
            <a:xfrm flipH="1">
              <a:off x="4752002" y="5319021"/>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a16:creationId xmlns:a16="http://schemas.microsoft.com/office/drawing/2014/main" id="{150A5E59-73AB-4A06-6679-99A8FF2383E0}"/>
                </a:ext>
              </a:extLst>
            </p:cNvPr>
            <p:cNvCxnSpPr>
              <a:cxnSpLocks/>
            </p:cNvCxnSpPr>
            <p:nvPr/>
          </p:nvCxnSpPr>
          <p:spPr>
            <a:xfrm flipH="1">
              <a:off x="3311986" y="5319021"/>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a16:creationId xmlns:a16="http://schemas.microsoft.com/office/drawing/2014/main" id="{9FF8FA1D-F7B6-4246-9621-2DD733B407A9}"/>
                </a:ext>
              </a:extLst>
            </p:cNvPr>
            <p:cNvCxnSpPr>
              <a:cxnSpLocks/>
            </p:cNvCxnSpPr>
            <p:nvPr/>
          </p:nvCxnSpPr>
          <p:spPr>
            <a:xfrm flipH="1">
              <a:off x="4752002" y="4599013"/>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16" name="グループ化 115">
            <a:extLst>
              <a:ext uri="{FF2B5EF4-FFF2-40B4-BE49-F238E27FC236}">
                <a16:creationId xmlns:a16="http://schemas.microsoft.com/office/drawing/2014/main" id="{95D14CC8-0B90-EBD3-10FC-77B44F348069}"/>
              </a:ext>
            </a:extLst>
          </p:cNvPr>
          <p:cNvGrpSpPr/>
          <p:nvPr/>
        </p:nvGrpSpPr>
        <p:grpSpPr>
          <a:xfrm>
            <a:off x="2585962" y="4778657"/>
            <a:ext cx="2430027" cy="1980380"/>
            <a:chOff x="1781969" y="3068996"/>
            <a:chExt cx="2430027" cy="1980380"/>
          </a:xfrm>
        </p:grpSpPr>
        <p:sp>
          <p:nvSpPr>
            <p:cNvPr id="117" name="正方形/長方形 116">
              <a:extLst>
                <a:ext uri="{FF2B5EF4-FFF2-40B4-BE49-F238E27FC236}">
                  <a16:creationId xmlns:a16="http://schemas.microsoft.com/office/drawing/2014/main" id="{BD678E7C-4EAD-CE6C-23A8-9074CAA83C9E}"/>
                </a:ext>
              </a:extLst>
            </p:cNvPr>
            <p:cNvSpPr/>
            <p:nvPr/>
          </p:nvSpPr>
          <p:spPr bwMode="auto">
            <a:xfrm>
              <a:off x="2411976" y="3338999"/>
              <a:ext cx="1440016"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18" name="円/楕円 69">
              <a:extLst>
                <a:ext uri="{FF2B5EF4-FFF2-40B4-BE49-F238E27FC236}">
                  <a16:creationId xmlns:a16="http://schemas.microsoft.com/office/drawing/2014/main" id="{ED4BA50F-F4DD-10DA-3407-0287CF3E1545}"/>
                </a:ext>
              </a:extLst>
            </p:cNvPr>
            <p:cNvSpPr/>
            <p:nvPr/>
          </p:nvSpPr>
          <p:spPr>
            <a:xfrm rot="5400000">
              <a:off x="3448243"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19" name="直線コネクタ 118">
              <a:extLst>
                <a:ext uri="{FF2B5EF4-FFF2-40B4-BE49-F238E27FC236}">
                  <a16:creationId xmlns:a16="http://schemas.microsoft.com/office/drawing/2014/main" id="{BFD30F71-C15A-DE8E-AB5B-BC010ABDC17B}"/>
                </a:ext>
              </a:extLst>
            </p:cNvPr>
            <p:cNvCxnSpPr>
              <a:cxnSpLocks/>
            </p:cNvCxnSpPr>
            <p:nvPr/>
          </p:nvCxnSpPr>
          <p:spPr>
            <a:xfrm flipH="1">
              <a:off x="2051972"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20" name="グループ化 119">
              <a:extLst>
                <a:ext uri="{FF2B5EF4-FFF2-40B4-BE49-F238E27FC236}">
                  <a16:creationId xmlns:a16="http://schemas.microsoft.com/office/drawing/2014/main" id="{4E5C5CAB-6161-7F97-C7B8-0E4DE4B06E8B}"/>
                </a:ext>
              </a:extLst>
            </p:cNvPr>
            <p:cNvGrpSpPr/>
            <p:nvPr/>
          </p:nvGrpSpPr>
          <p:grpSpPr>
            <a:xfrm>
              <a:off x="2591978" y="3429000"/>
              <a:ext cx="360004" cy="720007"/>
              <a:chOff x="3131985" y="5049018"/>
              <a:chExt cx="180002" cy="437056"/>
            </a:xfrm>
          </p:grpSpPr>
          <p:grpSp>
            <p:nvGrpSpPr>
              <p:cNvPr id="139" name="グループ化 138">
                <a:extLst>
                  <a:ext uri="{FF2B5EF4-FFF2-40B4-BE49-F238E27FC236}">
                    <a16:creationId xmlns:a16="http://schemas.microsoft.com/office/drawing/2014/main" id="{47ADFD09-1A85-C441-E712-DF5F68E6D71A}"/>
                  </a:ext>
                </a:extLst>
              </p:cNvPr>
              <p:cNvGrpSpPr/>
              <p:nvPr/>
            </p:nvGrpSpPr>
            <p:grpSpPr>
              <a:xfrm>
                <a:off x="3131985" y="5139021"/>
                <a:ext cx="180002" cy="254126"/>
                <a:chOff x="3131984" y="5191944"/>
                <a:chExt cx="270003" cy="201854"/>
              </a:xfrm>
            </p:grpSpPr>
            <p:sp>
              <p:nvSpPr>
                <p:cNvPr id="142" name="Freeform 42">
                  <a:extLst>
                    <a:ext uri="{FF2B5EF4-FFF2-40B4-BE49-F238E27FC236}">
                      <a16:creationId xmlns:a16="http://schemas.microsoft.com/office/drawing/2014/main" id="{29F3CC17-6D56-2E90-380D-5DE0BDC30B0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3" name="Freeform 42">
                  <a:extLst>
                    <a:ext uri="{FF2B5EF4-FFF2-40B4-BE49-F238E27FC236}">
                      <a16:creationId xmlns:a16="http://schemas.microsoft.com/office/drawing/2014/main" id="{1EB97324-4485-5D3D-FA42-CAD4961F09EB}"/>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4" name="Freeform 42">
                  <a:extLst>
                    <a:ext uri="{FF2B5EF4-FFF2-40B4-BE49-F238E27FC236}">
                      <a16:creationId xmlns:a16="http://schemas.microsoft.com/office/drawing/2014/main" id="{7EFF58AC-C0EA-6E2E-20AB-E246FD819A2A}"/>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45" name="Freeform 42">
                  <a:extLst>
                    <a:ext uri="{FF2B5EF4-FFF2-40B4-BE49-F238E27FC236}">
                      <a16:creationId xmlns:a16="http://schemas.microsoft.com/office/drawing/2014/main" id="{7DE4A70E-AD92-B2F0-B2F3-A008F1BB9CAE}"/>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0" name="直線コネクタ 139">
                <a:extLst>
                  <a:ext uri="{FF2B5EF4-FFF2-40B4-BE49-F238E27FC236}">
                    <a16:creationId xmlns:a16="http://schemas.microsoft.com/office/drawing/2014/main" id="{B990B850-91F8-00A7-1E1B-2F1D5D396529}"/>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a:extLst>
                  <a:ext uri="{FF2B5EF4-FFF2-40B4-BE49-F238E27FC236}">
                    <a16:creationId xmlns:a16="http://schemas.microsoft.com/office/drawing/2014/main" id="{BC91E689-C8E1-F377-1D4C-518531BB7BB1}"/>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21" name="直線コネクタ 120">
              <a:extLst>
                <a:ext uri="{FF2B5EF4-FFF2-40B4-BE49-F238E27FC236}">
                  <a16:creationId xmlns:a16="http://schemas.microsoft.com/office/drawing/2014/main" id="{E6A7C64A-A368-1CAA-9C38-5C69AB65DEDB}"/>
                </a:ext>
              </a:extLst>
            </p:cNvPr>
            <p:cNvCxnSpPr>
              <a:cxnSpLocks/>
            </p:cNvCxnSpPr>
            <p:nvPr/>
          </p:nvCxnSpPr>
          <p:spPr>
            <a:xfrm flipH="1">
              <a:off x="2411976" y="4149008"/>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2" name="直線コネクタ 121">
              <a:extLst>
                <a:ext uri="{FF2B5EF4-FFF2-40B4-BE49-F238E27FC236}">
                  <a16:creationId xmlns:a16="http://schemas.microsoft.com/office/drawing/2014/main" id="{7F0A5510-BD08-9DD2-213E-072A8DA884DE}"/>
                </a:ext>
              </a:extLst>
            </p:cNvPr>
            <p:cNvCxnSpPr>
              <a:cxnSpLocks/>
              <a:endCxn id="123" idx="4"/>
            </p:cNvCxnSpPr>
            <p:nvPr/>
          </p:nvCxnSpPr>
          <p:spPr>
            <a:xfrm>
              <a:off x="3311986"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3" name="円/楕円 68">
              <a:extLst>
                <a:ext uri="{FF2B5EF4-FFF2-40B4-BE49-F238E27FC236}">
                  <a16:creationId xmlns:a16="http://schemas.microsoft.com/office/drawing/2014/main" id="{929A66B2-4D7A-2E43-B375-6831EE9A5994}"/>
                </a:ext>
              </a:extLst>
            </p:cNvPr>
            <p:cNvSpPr/>
            <p:nvPr/>
          </p:nvSpPr>
          <p:spPr>
            <a:xfrm rot="5400000">
              <a:off x="3445709"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24" name="直線コネクタ 123">
              <a:extLst>
                <a:ext uri="{FF2B5EF4-FFF2-40B4-BE49-F238E27FC236}">
                  <a16:creationId xmlns:a16="http://schemas.microsoft.com/office/drawing/2014/main" id="{589610C9-808A-BD2C-0D09-4F075CD483B1}"/>
                </a:ext>
              </a:extLst>
            </p:cNvPr>
            <p:cNvCxnSpPr>
              <a:cxnSpLocks/>
              <a:endCxn id="118" idx="2"/>
            </p:cNvCxnSpPr>
            <p:nvPr/>
          </p:nvCxnSpPr>
          <p:spPr>
            <a:xfrm>
              <a:off x="3491988"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a:extLst>
                <a:ext uri="{FF2B5EF4-FFF2-40B4-BE49-F238E27FC236}">
                  <a16:creationId xmlns:a16="http://schemas.microsoft.com/office/drawing/2014/main" id="{5A978208-8A4B-35FA-FEC3-A23647411FA5}"/>
                </a:ext>
              </a:extLst>
            </p:cNvPr>
            <p:cNvCxnSpPr>
              <a:cxnSpLocks/>
            </p:cNvCxnSpPr>
            <p:nvPr/>
          </p:nvCxnSpPr>
          <p:spPr>
            <a:xfrm>
              <a:off x="3491988"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6" name="Rectangle 93">
              <a:extLst>
                <a:ext uri="{FF2B5EF4-FFF2-40B4-BE49-F238E27FC236}">
                  <a16:creationId xmlns:a16="http://schemas.microsoft.com/office/drawing/2014/main" id="{A51776E7-696D-8A3E-254A-A00D782ED992}"/>
                </a:ext>
              </a:extLst>
            </p:cNvPr>
            <p:cNvSpPr>
              <a:spLocks noChangeArrowheads="1"/>
            </p:cNvSpPr>
            <p:nvPr/>
          </p:nvSpPr>
          <p:spPr bwMode="auto">
            <a:xfrm>
              <a:off x="2051972" y="306899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27" name="Rectangle 93">
              <a:extLst>
                <a:ext uri="{FF2B5EF4-FFF2-40B4-BE49-F238E27FC236}">
                  <a16:creationId xmlns:a16="http://schemas.microsoft.com/office/drawing/2014/main" id="{7ED1C07E-D9EC-72CF-CC41-104FC6887984}"/>
                </a:ext>
              </a:extLst>
            </p:cNvPr>
            <p:cNvSpPr>
              <a:spLocks noChangeArrowheads="1"/>
            </p:cNvSpPr>
            <p:nvPr/>
          </p:nvSpPr>
          <p:spPr bwMode="auto">
            <a:xfrm>
              <a:off x="2051972"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B</a:t>
              </a:r>
            </a:p>
          </p:txBody>
        </p:sp>
        <p:sp>
          <p:nvSpPr>
            <p:cNvPr id="128" name="Rectangle 93">
              <a:extLst>
                <a:ext uri="{FF2B5EF4-FFF2-40B4-BE49-F238E27FC236}">
                  <a16:creationId xmlns:a16="http://schemas.microsoft.com/office/drawing/2014/main" id="{D60566E5-A930-D618-3D31-5E19BEB84F7D}"/>
                </a:ext>
              </a:extLst>
            </p:cNvPr>
            <p:cNvSpPr>
              <a:spLocks noChangeArrowheads="1"/>
            </p:cNvSpPr>
            <p:nvPr/>
          </p:nvSpPr>
          <p:spPr bwMode="auto">
            <a:xfrm>
              <a:off x="3850917"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29" name="Rectangle 93">
              <a:extLst>
                <a:ext uri="{FF2B5EF4-FFF2-40B4-BE49-F238E27FC236}">
                  <a16:creationId xmlns:a16="http://schemas.microsoft.com/office/drawing/2014/main" id="{1FAB49B4-09A4-C89D-136C-1D1DC9C89FB4}"/>
                </a:ext>
              </a:extLst>
            </p:cNvPr>
            <p:cNvSpPr>
              <a:spLocks noChangeArrowheads="1"/>
            </p:cNvSpPr>
            <p:nvPr/>
          </p:nvSpPr>
          <p:spPr bwMode="auto">
            <a:xfrm>
              <a:off x="3850917"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30" name="直線コネクタ 129">
              <a:extLst>
                <a:ext uri="{FF2B5EF4-FFF2-40B4-BE49-F238E27FC236}">
                  <a16:creationId xmlns:a16="http://schemas.microsoft.com/office/drawing/2014/main" id="{673B1C82-7542-15F1-0733-33BEFC132DF1}"/>
                </a:ext>
              </a:extLst>
            </p:cNvPr>
            <p:cNvCxnSpPr>
              <a:cxnSpLocks/>
            </p:cNvCxnSpPr>
            <p:nvPr/>
          </p:nvCxnSpPr>
          <p:spPr>
            <a:xfrm flipH="1">
              <a:off x="3491988"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31" name="グループ化 152">
              <a:extLst>
                <a:ext uri="{FF2B5EF4-FFF2-40B4-BE49-F238E27FC236}">
                  <a16:creationId xmlns:a16="http://schemas.microsoft.com/office/drawing/2014/main" id="{CAFF5ED6-EF28-24DA-CAAC-6952564262B0}"/>
                </a:ext>
              </a:extLst>
            </p:cNvPr>
            <p:cNvGrpSpPr/>
            <p:nvPr/>
          </p:nvGrpSpPr>
          <p:grpSpPr>
            <a:xfrm>
              <a:off x="1961971" y="4599013"/>
              <a:ext cx="180002" cy="90001"/>
              <a:chOff x="3643306" y="4500570"/>
              <a:chExt cx="428628" cy="144464"/>
            </a:xfrm>
          </p:grpSpPr>
          <p:cxnSp>
            <p:nvCxnSpPr>
              <p:cNvPr id="136" name="直線コネクタ 135">
                <a:extLst>
                  <a:ext uri="{FF2B5EF4-FFF2-40B4-BE49-F238E27FC236}">
                    <a16:creationId xmlns:a16="http://schemas.microsoft.com/office/drawing/2014/main" id="{CB8C67DE-0CA3-D6C2-7C26-58C915E952F1}"/>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7" name="直線コネクタ 136">
                <a:extLst>
                  <a:ext uri="{FF2B5EF4-FFF2-40B4-BE49-F238E27FC236}">
                    <a16:creationId xmlns:a16="http://schemas.microsoft.com/office/drawing/2014/main" id="{9E118613-628E-0FB8-C2F6-8BBA1AEAEDFB}"/>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8" name="直線コネクタ 137">
                <a:extLst>
                  <a:ext uri="{FF2B5EF4-FFF2-40B4-BE49-F238E27FC236}">
                    <a16:creationId xmlns:a16="http://schemas.microsoft.com/office/drawing/2014/main" id="{04B7B6FD-F31A-E2DB-7F6F-1848FA0969D4}"/>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32" name="直線コネクタ 131">
              <a:extLst>
                <a:ext uri="{FF2B5EF4-FFF2-40B4-BE49-F238E27FC236}">
                  <a16:creationId xmlns:a16="http://schemas.microsoft.com/office/drawing/2014/main" id="{E26F5A49-BC52-20B9-A390-D7738576DE90}"/>
                </a:ext>
              </a:extLst>
            </p:cNvPr>
            <p:cNvCxnSpPr>
              <a:cxnSpLocks/>
            </p:cNvCxnSpPr>
            <p:nvPr/>
          </p:nvCxnSpPr>
          <p:spPr>
            <a:xfrm flipH="1">
              <a:off x="2051972" y="4149008"/>
              <a:ext cx="450543"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3" name="直線コネクタ 132">
              <a:extLst>
                <a:ext uri="{FF2B5EF4-FFF2-40B4-BE49-F238E27FC236}">
                  <a16:creationId xmlns:a16="http://schemas.microsoft.com/office/drawing/2014/main" id="{E5EB6F29-C42A-9D3F-1CD2-F0B5CCA420EC}"/>
                </a:ext>
              </a:extLst>
            </p:cNvPr>
            <p:cNvCxnSpPr>
              <a:cxnSpLocks/>
            </p:cNvCxnSpPr>
            <p:nvPr/>
          </p:nvCxnSpPr>
          <p:spPr>
            <a:xfrm flipV="1">
              <a:off x="2051972" y="414900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4" name="直線コネクタ 133">
              <a:extLst>
                <a:ext uri="{FF2B5EF4-FFF2-40B4-BE49-F238E27FC236}">
                  <a16:creationId xmlns:a16="http://schemas.microsoft.com/office/drawing/2014/main" id="{DCC2A513-F729-CB68-E078-F3332360153D}"/>
                </a:ext>
              </a:extLst>
            </p:cNvPr>
            <p:cNvCxnSpPr>
              <a:cxnSpLocks/>
            </p:cNvCxnSpPr>
            <p:nvPr/>
          </p:nvCxnSpPr>
          <p:spPr>
            <a:xfrm flipH="1">
              <a:off x="3491988"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35" name="Rectangle 93">
              <a:extLst>
                <a:ext uri="{FF2B5EF4-FFF2-40B4-BE49-F238E27FC236}">
                  <a16:creationId xmlns:a16="http://schemas.microsoft.com/office/drawing/2014/main" id="{C30564BC-6651-2ABF-9988-E2887F2DD06E}"/>
                </a:ext>
              </a:extLst>
            </p:cNvPr>
            <p:cNvSpPr>
              <a:spLocks noChangeArrowheads="1"/>
            </p:cNvSpPr>
            <p:nvPr/>
          </p:nvSpPr>
          <p:spPr bwMode="auto">
            <a:xfrm>
              <a:off x="1781969" y="468901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146" name="グループ化 145">
            <a:extLst>
              <a:ext uri="{FF2B5EF4-FFF2-40B4-BE49-F238E27FC236}">
                <a16:creationId xmlns:a16="http://schemas.microsoft.com/office/drawing/2014/main" id="{CC7E6CA6-8853-4314-3378-98E0F01BE79C}"/>
              </a:ext>
            </a:extLst>
          </p:cNvPr>
          <p:cNvGrpSpPr/>
          <p:nvPr/>
        </p:nvGrpSpPr>
        <p:grpSpPr>
          <a:xfrm>
            <a:off x="5645995" y="4778657"/>
            <a:ext cx="1531092" cy="1440374"/>
            <a:chOff x="5202007" y="3068996"/>
            <a:chExt cx="1531092" cy="1440374"/>
          </a:xfrm>
        </p:grpSpPr>
        <p:sp>
          <p:nvSpPr>
            <p:cNvPr id="147" name="正方形/長方形 146">
              <a:extLst>
                <a:ext uri="{FF2B5EF4-FFF2-40B4-BE49-F238E27FC236}">
                  <a16:creationId xmlns:a16="http://schemas.microsoft.com/office/drawing/2014/main" id="{4E141899-E225-2F4B-BB52-1360445FC64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48" name="円/楕円 69">
              <a:extLst>
                <a:ext uri="{FF2B5EF4-FFF2-40B4-BE49-F238E27FC236}">
                  <a16:creationId xmlns:a16="http://schemas.microsoft.com/office/drawing/2014/main" id="{600D3A32-988A-0F3E-B57E-7F14969C8DA6}"/>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49" name="直線コネクタ 148">
              <a:extLst>
                <a:ext uri="{FF2B5EF4-FFF2-40B4-BE49-F238E27FC236}">
                  <a16:creationId xmlns:a16="http://schemas.microsoft.com/office/drawing/2014/main" id="{CE2635B5-3C68-61FC-1474-92F269FC302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461B59BC-5267-04AE-65DD-D54C828225E7}"/>
                </a:ext>
              </a:extLst>
            </p:cNvPr>
            <p:cNvCxnSpPr>
              <a:cxnSpLocks/>
              <a:endCxn id="151"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1" name="円/楕円 68">
              <a:extLst>
                <a:ext uri="{FF2B5EF4-FFF2-40B4-BE49-F238E27FC236}">
                  <a16:creationId xmlns:a16="http://schemas.microsoft.com/office/drawing/2014/main" id="{892EA8D7-F12B-814F-C2D8-F9ECECA97AE3}"/>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52" name="直線コネクタ 151">
              <a:extLst>
                <a:ext uri="{FF2B5EF4-FFF2-40B4-BE49-F238E27FC236}">
                  <a16:creationId xmlns:a16="http://schemas.microsoft.com/office/drawing/2014/main" id="{EE864F98-A751-C916-E4FA-1B6797C1CBCE}"/>
                </a:ext>
              </a:extLst>
            </p:cNvPr>
            <p:cNvCxnSpPr>
              <a:cxnSpLocks/>
              <a:endCxn id="14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a16:creationId xmlns:a16="http://schemas.microsoft.com/office/drawing/2014/main" id="{B51911EE-FA5E-A938-56AF-98831150360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4" name="Rectangle 93">
              <a:extLst>
                <a:ext uri="{FF2B5EF4-FFF2-40B4-BE49-F238E27FC236}">
                  <a16:creationId xmlns:a16="http://schemas.microsoft.com/office/drawing/2014/main" id="{968C3A1F-78A6-B791-C230-0A8C635D9363}"/>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5" name="Rectangle 93">
              <a:extLst>
                <a:ext uri="{FF2B5EF4-FFF2-40B4-BE49-F238E27FC236}">
                  <a16:creationId xmlns:a16="http://schemas.microsoft.com/office/drawing/2014/main" id="{403DC8B5-C085-9A7C-0330-5339B267438E}"/>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6" name="Rectangle 93">
              <a:extLst>
                <a:ext uri="{FF2B5EF4-FFF2-40B4-BE49-F238E27FC236}">
                  <a16:creationId xmlns:a16="http://schemas.microsoft.com/office/drawing/2014/main" id="{5360BB60-B906-FA1B-183B-2A4B54C0AD9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57" name="直線コネクタ 156">
              <a:extLst>
                <a:ext uri="{FF2B5EF4-FFF2-40B4-BE49-F238E27FC236}">
                  <a16:creationId xmlns:a16="http://schemas.microsoft.com/office/drawing/2014/main" id="{695B64A2-A5CE-BCC1-CAAB-72B4CC6F06C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43CB5E89-514F-B514-F32A-47303D78FE38}"/>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aphicFrame>
        <p:nvGraphicFramePr>
          <p:cNvPr id="159" name="Group 383">
            <a:extLst>
              <a:ext uri="{FF2B5EF4-FFF2-40B4-BE49-F238E27FC236}">
                <a16:creationId xmlns:a16="http://schemas.microsoft.com/office/drawing/2014/main" id="{3BD41258-3AD6-AE2B-A55C-196DF3A20A86}"/>
              </a:ext>
            </a:extLst>
          </p:cNvPr>
          <p:cNvGraphicFramePr>
            <a:graphicFrameLocks/>
          </p:cNvGraphicFramePr>
          <p:nvPr>
            <p:extLst>
              <p:ext uri="{D42A27DB-BD31-4B8C-83A1-F6EECF244321}">
                <p14:modId xmlns:p14="http://schemas.microsoft.com/office/powerpoint/2010/main" val="3926343264"/>
              </p:ext>
            </p:extLst>
          </p:nvPr>
        </p:nvGraphicFramePr>
        <p:xfrm>
          <a:off x="8256024" y="4868658"/>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175" name="グループ化 174">
            <a:extLst>
              <a:ext uri="{FF2B5EF4-FFF2-40B4-BE49-F238E27FC236}">
                <a16:creationId xmlns:a16="http://schemas.microsoft.com/office/drawing/2014/main" id="{70E40F74-A137-0E69-570D-7FB66CC234E0}"/>
              </a:ext>
            </a:extLst>
          </p:cNvPr>
          <p:cNvGrpSpPr/>
          <p:nvPr/>
        </p:nvGrpSpPr>
        <p:grpSpPr>
          <a:xfrm>
            <a:off x="5645995" y="2708992"/>
            <a:ext cx="1531092" cy="1440374"/>
            <a:chOff x="5202007" y="2708992"/>
            <a:chExt cx="1531092" cy="1440374"/>
          </a:xfrm>
        </p:grpSpPr>
        <p:grpSp>
          <p:nvGrpSpPr>
            <p:cNvPr id="176" name="グループ化 175">
              <a:extLst>
                <a:ext uri="{FF2B5EF4-FFF2-40B4-BE49-F238E27FC236}">
                  <a16:creationId xmlns:a16="http://schemas.microsoft.com/office/drawing/2014/main" id="{25127F68-3A4B-1C6C-EA2A-A159460C85B4}"/>
                </a:ext>
              </a:extLst>
            </p:cNvPr>
            <p:cNvGrpSpPr/>
            <p:nvPr/>
          </p:nvGrpSpPr>
          <p:grpSpPr>
            <a:xfrm>
              <a:off x="5202007" y="2708992"/>
              <a:ext cx="1531092" cy="1440374"/>
              <a:chOff x="5202007" y="3068996"/>
              <a:chExt cx="1531092" cy="1440374"/>
            </a:xfrm>
          </p:grpSpPr>
          <p:sp>
            <p:nvSpPr>
              <p:cNvPr id="178" name="正方形/長方形 177">
                <a:extLst>
                  <a:ext uri="{FF2B5EF4-FFF2-40B4-BE49-F238E27FC236}">
                    <a16:creationId xmlns:a16="http://schemas.microsoft.com/office/drawing/2014/main" id="{EA594EAD-5526-6353-16E7-05B5B15EE2F4}"/>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79" name="円/楕円 69">
                <a:extLst>
                  <a:ext uri="{FF2B5EF4-FFF2-40B4-BE49-F238E27FC236}">
                    <a16:creationId xmlns:a16="http://schemas.microsoft.com/office/drawing/2014/main" id="{6632A975-1F0D-3173-E21D-F16656F0ABE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0" name="直線コネクタ 179">
                <a:extLst>
                  <a:ext uri="{FF2B5EF4-FFF2-40B4-BE49-F238E27FC236}">
                    <a16:creationId xmlns:a16="http://schemas.microsoft.com/office/drawing/2014/main" id="{FD66C0F4-C538-3A88-7989-57162868230D}"/>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1" name="直線コネクタ 180">
                <a:extLst>
                  <a:ext uri="{FF2B5EF4-FFF2-40B4-BE49-F238E27FC236}">
                    <a16:creationId xmlns:a16="http://schemas.microsoft.com/office/drawing/2014/main" id="{BF816A18-3A3C-2030-6775-B5AA2219837C}"/>
                  </a:ext>
                </a:extLst>
              </p:cNvPr>
              <p:cNvCxnSpPr>
                <a:cxnSpLocks/>
                <a:endCxn id="18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2" name="円/楕円 68">
                <a:extLst>
                  <a:ext uri="{FF2B5EF4-FFF2-40B4-BE49-F238E27FC236}">
                    <a16:creationId xmlns:a16="http://schemas.microsoft.com/office/drawing/2014/main" id="{615B6818-7118-EDBC-4337-C67527E8B7D5}"/>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3" name="直線コネクタ 182">
                <a:extLst>
                  <a:ext uri="{FF2B5EF4-FFF2-40B4-BE49-F238E27FC236}">
                    <a16:creationId xmlns:a16="http://schemas.microsoft.com/office/drawing/2014/main" id="{F1945EFE-97E5-14E9-2D0F-0D13BED3808B}"/>
                  </a:ext>
                </a:extLst>
              </p:cNvPr>
              <p:cNvCxnSpPr>
                <a:cxnSpLocks/>
                <a:endCxn id="17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4" name="直線コネクタ 183">
                <a:extLst>
                  <a:ext uri="{FF2B5EF4-FFF2-40B4-BE49-F238E27FC236}">
                    <a16:creationId xmlns:a16="http://schemas.microsoft.com/office/drawing/2014/main" id="{CEFFAFF0-1C6A-28BE-B3DE-2F37A31A7CB2}"/>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5" name="Rectangle 93">
                <a:extLst>
                  <a:ext uri="{FF2B5EF4-FFF2-40B4-BE49-F238E27FC236}">
                    <a16:creationId xmlns:a16="http://schemas.microsoft.com/office/drawing/2014/main" id="{060D4439-6FE8-B7F7-9DF7-4E07F2B863E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86" name="Rectangle 93">
                <a:extLst>
                  <a:ext uri="{FF2B5EF4-FFF2-40B4-BE49-F238E27FC236}">
                    <a16:creationId xmlns:a16="http://schemas.microsoft.com/office/drawing/2014/main" id="{C8515DAB-204D-4E18-CF55-7FF64866A0D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87" name="Rectangle 93">
                <a:extLst>
                  <a:ext uri="{FF2B5EF4-FFF2-40B4-BE49-F238E27FC236}">
                    <a16:creationId xmlns:a16="http://schemas.microsoft.com/office/drawing/2014/main" id="{6CB5095F-9128-D168-D265-4303A0A655B1}"/>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88" name="直線コネクタ 187">
                <a:extLst>
                  <a:ext uri="{FF2B5EF4-FFF2-40B4-BE49-F238E27FC236}">
                    <a16:creationId xmlns:a16="http://schemas.microsoft.com/office/drawing/2014/main" id="{C3B4EDD0-4053-094E-B220-08E20325C3FC}"/>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9" name="直線コネクタ 188">
                <a:extLst>
                  <a:ext uri="{FF2B5EF4-FFF2-40B4-BE49-F238E27FC236}">
                    <a16:creationId xmlns:a16="http://schemas.microsoft.com/office/drawing/2014/main" id="{FED498CA-3F54-E241-EFB7-C94611F43662}"/>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77" name="円/楕円 69">
              <a:extLst>
                <a:ext uri="{FF2B5EF4-FFF2-40B4-BE49-F238E27FC236}">
                  <a16:creationId xmlns:a16="http://schemas.microsoft.com/office/drawing/2014/main" id="{2F9912FF-6F8E-5ADF-1E3F-A62C806B051F}"/>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5791419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812E4A-FE2E-5220-C4AC-78FF3A4EB4A3}"/>
              </a:ext>
            </a:extLst>
          </p:cNvPr>
          <p:cNvSpPr>
            <a:spLocks noGrp="1"/>
          </p:cNvSpPr>
          <p:nvPr>
            <p:ph type="title"/>
          </p:nvPr>
        </p:nvSpPr>
        <p:spPr/>
        <p:txBody>
          <a:bodyPr/>
          <a:lstStyle/>
          <a:p>
            <a:r>
              <a:rPr lang="en-US" altLang="ja-JP" dirty="0"/>
              <a:t>P </a:t>
            </a:r>
            <a:r>
              <a:rPr lang="ja-JP" altLang="en-US" dirty="0"/>
              <a:t>と </a:t>
            </a:r>
            <a:r>
              <a:rPr lang="en-US" altLang="ja-JP" dirty="0"/>
              <a:t>N </a:t>
            </a:r>
            <a:r>
              <a:rPr lang="ja-JP" altLang="en-US" dirty="0"/>
              <a:t>が，どっちかどっちだかわからない？</a:t>
            </a:r>
            <a:endParaRPr lang="en-US" altLang="ja-JP" dirty="0"/>
          </a:p>
        </p:txBody>
      </p:sp>
      <p:sp>
        <p:nvSpPr>
          <p:cNvPr id="74" name="コンテンツ プレースホルダー 73">
            <a:extLst>
              <a:ext uri="{FF2B5EF4-FFF2-40B4-BE49-F238E27FC236}">
                <a16:creationId xmlns:a16="http://schemas.microsoft.com/office/drawing/2014/main" id="{13AE580E-0DE3-8C22-2E92-7F7074A83ACE}"/>
              </a:ext>
            </a:extLst>
          </p:cNvPr>
          <p:cNvSpPr>
            <a:spLocks noGrp="1"/>
          </p:cNvSpPr>
          <p:nvPr>
            <p:ph type="body" sz="quarter" idx="10"/>
          </p:nvPr>
        </p:nvSpPr>
        <p:spPr>
          <a:xfrm>
            <a:off x="2135956" y="1088974"/>
            <a:ext cx="8280092" cy="990011"/>
          </a:xfrm>
        </p:spPr>
        <p:txBody>
          <a:bodyPr anchor="t"/>
          <a:lstStyle/>
          <a:p>
            <a:r>
              <a:rPr lang="ja-JP" altLang="en-US" dirty="0"/>
              <a:t>論理回路では白丸は反転を表す</a:t>
            </a:r>
            <a:endParaRPr lang="en-US" altLang="ja-JP" dirty="0"/>
          </a:p>
          <a:p>
            <a:pPr lvl="1"/>
            <a:r>
              <a:rPr lang="ja-JP" altLang="en-US" dirty="0"/>
              <a:t>白丸なしの </a:t>
            </a:r>
            <a:r>
              <a:rPr lang="en-US" altLang="ja-JP" dirty="0"/>
              <a:t>N</a:t>
            </a:r>
            <a:r>
              <a:rPr lang="ja-JP" altLang="en-US" dirty="0"/>
              <a:t>型は１で </a:t>
            </a:r>
            <a:r>
              <a:rPr lang="en-US" altLang="ja-JP" dirty="0"/>
              <a:t>ON </a:t>
            </a:r>
            <a:r>
              <a:rPr lang="ja-JP" altLang="en-US" dirty="0"/>
              <a:t>，０で </a:t>
            </a:r>
            <a:r>
              <a:rPr lang="en-US" altLang="ja-JP" dirty="0"/>
              <a:t>OFF</a:t>
            </a:r>
          </a:p>
          <a:p>
            <a:pPr lvl="1"/>
            <a:r>
              <a:rPr lang="ja-JP" altLang="en-US" dirty="0"/>
              <a:t>白丸があったらそこで反転するので </a:t>
            </a:r>
            <a:r>
              <a:rPr lang="en-US" altLang="ja-JP" dirty="0"/>
              <a:t>0 </a:t>
            </a:r>
            <a:r>
              <a:rPr lang="ja-JP" altLang="en-US" dirty="0"/>
              <a:t>で </a:t>
            </a:r>
            <a:r>
              <a:rPr lang="en-US" altLang="ja-JP" dirty="0"/>
              <a:t>ON </a:t>
            </a:r>
            <a:br>
              <a:rPr lang="en-US" altLang="ja-JP" dirty="0"/>
            </a:br>
            <a:r>
              <a:rPr lang="ja-JP" altLang="en-US" dirty="0"/>
              <a:t>･･･と憶えると良いかもしれない</a:t>
            </a:r>
            <a:endParaRPr lang="en-US" dirty="0"/>
          </a:p>
        </p:txBody>
      </p:sp>
      <p:graphicFrame>
        <p:nvGraphicFramePr>
          <p:cNvPr id="88" name="Group 383">
            <a:extLst>
              <a:ext uri="{FF2B5EF4-FFF2-40B4-BE49-F238E27FC236}">
                <a16:creationId xmlns:a16="http://schemas.microsoft.com/office/drawing/2014/main" id="{98F62C4B-867C-9B2A-4C5B-F68DF987ED12}"/>
              </a:ext>
            </a:extLst>
          </p:cNvPr>
          <p:cNvGraphicFramePr>
            <a:graphicFrameLocks/>
          </p:cNvGraphicFramePr>
          <p:nvPr>
            <p:extLst>
              <p:ext uri="{D42A27DB-BD31-4B8C-83A1-F6EECF244321}">
                <p14:modId xmlns:p14="http://schemas.microsoft.com/office/powerpoint/2010/main" val="3557692018"/>
              </p:ext>
            </p:extLst>
          </p:nvPr>
        </p:nvGraphicFramePr>
        <p:xfrm>
          <a:off x="6636006" y="3068996"/>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146" name="グループ化 145">
            <a:extLst>
              <a:ext uri="{FF2B5EF4-FFF2-40B4-BE49-F238E27FC236}">
                <a16:creationId xmlns:a16="http://schemas.microsoft.com/office/drawing/2014/main" id="{CC7E6CA6-8853-4314-3378-98E0F01BE79C}"/>
              </a:ext>
            </a:extLst>
          </p:cNvPr>
          <p:cNvGrpSpPr/>
          <p:nvPr/>
        </p:nvGrpSpPr>
        <p:grpSpPr>
          <a:xfrm>
            <a:off x="4025977" y="5049018"/>
            <a:ext cx="1531092" cy="1440374"/>
            <a:chOff x="5202007" y="3068996"/>
            <a:chExt cx="1531092" cy="1440374"/>
          </a:xfrm>
        </p:grpSpPr>
        <p:sp>
          <p:nvSpPr>
            <p:cNvPr id="147" name="正方形/長方形 146">
              <a:extLst>
                <a:ext uri="{FF2B5EF4-FFF2-40B4-BE49-F238E27FC236}">
                  <a16:creationId xmlns:a16="http://schemas.microsoft.com/office/drawing/2014/main" id="{4E141899-E225-2F4B-BB52-1360445FC64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48" name="円/楕円 69">
              <a:extLst>
                <a:ext uri="{FF2B5EF4-FFF2-40B4-BE49-F238E27FC236}">
                  <a16:creationId xmlns:a16="http://schemas.microsoft.com/office/drawing/2014/main" id="{600D3A32-988A-0F3E-B57E-7F14969C8DA6}"/>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49" name="直線コネクタ 148">
              <a:extLst>
                <a:ext uri="{FF2B5EF4-FFF2-40B4-BE49-F238E27FC236}">
                  <a16:creationId xmlns:a16="http://schemas.microsoft.com/office/drawing/2014/main" id="{CE2635B5-3C68-61FC-1474-92F269FC302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461B59BC-5267-04AE-65DD-D54C828225E7}"/>
                </a:ext>
              </a:extLst>
            </p:cNvPr>
            <p:cNvCxnSpPr>
              <a:cxnSpLocks/>
              <a:endCxn id="151"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1" name="円/楕円 68">
              <a:extLst>
                <a:ext uri="{FF2B5EF4-FFF2-40B4-BE49-F238E27FC236}">
                  <a16:creationId xmlns:a16="http://schemas.microsoft.com/office/drawing/2014/main" id="{892EA8D7-F12B-814F-C2D8-F9ECECA97AE3}"/>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52" name="直線コネクタ 151">
              <a:extLst>
                <a:ext uri="{FF2B5EF4-FFF2-40B4-BE49-F238E27FC236}">
                  <a16:creationId xmlns:a16="http://schemas.microsoft.com/office/drawing/2014/main" id="{EE864F98-A751-C916-E4FA-1B6797C1CBCE}"/>
                </a:ext>
              </a:extLst>
            </p:cNvPr>
            <p:cNvCxnSpPr>
              <a:cxnSpLocks/>
              <a:endCxn id="14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3" name="直線コネクタ 152">
              <a:extLst>
                <a:ext uri="{FF2B5EF4-FFF2-40B4-BE49-F238E27FC236}">
                  <a16:creationId xmlns:a16="http://schemas.microsoft.com/office/drawing/2014/main" id="{B51911EE-FA5E-A938-56AF-98831150360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4" name="Rectangle 93">
              <a:extLst>
                <a:ext uri="{FF2B5EF4-FFF2-40B4-BE49-F238E27FC236}">
                  <a16:creationId xmlns:a16="http://schemas.microsoft.com/office/drawing/2014/main" id="{968C3A1F-78A6-B791-C230-0A8C635D9363}"/>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5" name="Rectangle 93">
              <a:extLst>
                <a:ext uri="{FF2B5EF4-FFF2-40B4-BE49-F238E27FC236}">
                  <a16:creationId xmlns:a16="http://schemas.microsoft.com/office/drawing/2014/main" id="{403DC8B5-C085-9A7C-0330-5339B267438E}"/>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6" name="Rectangle 93">
              <a:extLst>
                <a:ext uri="{FF2B5EF4-FFF2-40B4-BE49-F238E27FC236}">
                  <a16:creationId xmlns:a16="http://schemas.microsoft.com/office/drawing/2014/main" id="{5360BB60-B906-FA1B-183B-2A4B54C0AD9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57" name="直線コネクタ 156">
              <a:extLst>
                <a:ext uri="{FF2B5EF4-FFF2-40B4-BE49-F238E27FC236}">
                  <a16:creationId xmlns:a16="http://schemas.microsoft.com/office/drawing/2014/main" id="{695B64A2-A5CE-BCC1-CAAB-72B4CC6F06C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a:extLst>
                <a:ext uri="{FF2B5EF4-FFF2-40B4-BE49-F238E27FC236}">
                  <a16:creationId xmlns:a16="http://schemas.microsoft.com/office/drawing/2014/main" id="{43CB5E89-514F-B514-F32A-47303D78FE38}"/>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aphicFrame>
        <p:nvGraphicFramePr>
          <p:cNvPr id="159" name="Group 383">
            <a:extLst>
              <a:ext uri="{FF2B5EF4-FFF2-40B4-BE49-F238E27FC236}">
                <a16:creationId xmlns:a16="http://schemas.microsoft.com/office/drawing/2014/main" id="{3BD41258-3AD6-AE2B-A55C-196DF3A20A86}"/>
              </a:ext>
            </a:extLst>
          </p:cNvPr>
          <p:cNvGraphicFramePr>
            <a:graphicFrameLocks/>
          </p:cNvGraphicFramePr>
          <p:nvPr>
            <p:extLst>
              <p:ext uri="{D42A27DB-BD31-4B8C-83A1-F6EECF244321}">
                <p14:modId xmlns:p14="http://schemas.microsoft.com/office/powerpoint/2010/main" val="273878604"/>
              </p:ext>
            </p:extLst>
          </p:nvPr>
        </p:nvGraphicFramePr>
        <p:xfrm>
          <a:off x="6636006" y="5139019"/>
          <a:ext cx="1080012" cy="1243014"/>
        </p:xfrm>
        <a:graphic>
          <a:graphicData uri="http://schemas.openxmlformats.org/drawingml/2006/table">
            <a:tbl>
              <a:tblPr/>
              <a:tblGrid>
                <a:gridCol w="360004">
                  <a:extLst>
                    <a:ext uri="{9D8B030D-6E8A-4147-A177-3AD203B41FA5}">
                      <a16:colId xmlns:a16="http://schemas.microsoft.com/office/drawing/2014/main" val="20000"/>
                    </a:ext>
                  </a:extLst>
                </a:gridCol>
                <a:gridCol w="720008">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G</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D~S</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OFF</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ON</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 name="Rectangle 93">
            <a:extLst>
              <a:ext uri="{FF2B5EF4-FFF2-40B4-BE49-F238E27FC236}">
                <a16:creationId xmlns:a16="http://schemas.microsoft.com/office/drawing/2014/main" id="{C012B7A3-4143-89D2-A014-1C5C0DD2793A}"/>
              </a:ext>
            </a:extLst>
          </p:cNvPr>
          <p:cNvSpPr>
            <a:spLocks noChangeArrowheads="1"/>
          </p:cNvSpPr>
          <p:nvPr/>
        </p:nvSpPr>
        <p:spPr bwMode="auto">
          <a:xfrm>
            <a:off x="3125968" y="3519001"/>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P </a:t>
            </a:r>
            <a:r>
              <a:rPr lang="ja-JP" altLang="en-US" dirty="0">
                <a:latin typeface="+mj-lt"/>
              </a:rPr>
              <a:t>型</a:t>
            </a:r>
            <a:endParaRPr lang="en-US" altLang="ja-JP" dirty="0"/>
          </a:p>
        </p:txBody>
      </p:sp>
      <p:sp>
        <p:nvSpPr>
          <p:cNvPr id="4" name="Rectangle 93">
            <a:extLst>
              <a:ext uri="{FF2B5EF4-FFF2-40B4-BE49-F238E27FC236}">
                <a16:creationId xmlns:a16="http://schemas.microsoft.com/office/drawing/2014/main" id="{F4BFB046-7FCD-865D-761B-A18E37E560DF}"/>
              </a:ext>
            </a:extLst>
          </p:cNvPr>
          <p:cNvSpPr>
            <a:spLocks noChangeArrowheads="1"/>
          </p:cNvSpPr>
          <p:nvPr/>
        </p:nvSpPr>
        <p:spPr bwMode="auto">
          <a:xfrm>
            <a:off x="3125968" y="5679025"/>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N </a:t>
            </a:r>
            <a:r>
              <a:rPr lang="ja-JP" altLang="en-US" dirty="0">
                <a:latin typeface="+mj-lt"/>
              </a:rPr>
              <a:t>型</a:t>
            </a:r>
            <a:endParaRPr lang="en-US" altLang="ja-JP" dirty="0"/>
          </a:p>
        </p:txBody>
      </p:sp>
      <p:grpSp>
        <p:nvGrpSpPr>
          <p:cNvPr id="5" name="グループ化 4">
            <a:extLst>
              <a:ext uri="{FF2B5EF4-FFF2-40B4-BE49-F238E27FC236}">
                <a16:creationId xmlns:a16="http://schemas.microsoft.com/office/drawing/2014/main" id="{C7872D9C-0F93-A6B1-1398-616EEFD2856A}"/>
              </a:ext>
            </a:extLst>
          </p:cNvPr>
          <p:cNvGrpSpPr/>
          <p:nvPr/>
        </p:nvGrpSpPr>
        <p:grpSpPr>
          <a:xfrm>
            <a:off x="4025977" y="3068996"/>
            <a:ext cx="1531092" cy="1440374"/>
            <a:chOff x="5202007" y="2708992"/>
            <a:chExt cx="1531092" cy="1440374"/>
          </a:xfrm>
        </p:grpSpPr>
        <p:grpSp>
          <p:nvGrpSpPr>
            <p:cNvPr id="6" name="グループ化 5">
              <a:extLst>
                <a:ext uri="{FF2B5EF4-FFF2-40B4-BE49-F238E27FC236}">
                  <a16:creationId xmlns:a16="http://schemas.microsoft.com/office/drawing/2014/main" id="{90EB1ACE-EA0D-31A7-8E8A-71CD04B5FA9D}"/>
                </a:ext>
              </a:extLst>
            </p:cNvPr>
            <p:cNvGrpSpPr/>
            <p:nvPr/>
          </p:nvGrpSpPr>
          <p:grpSpPr>
            <a:xfrm>
              <a:off x="5202007" y="2708992"/>
              <a:ext cx="1531092" cy="1440374"/>
              <a:chOff x="5202007" y="3068996"/>
              <a:chExt cx="1531092" cy="1440374"/>
            </a:xfrm>
          </p:grpSpPr>
          <p:sp>
            <p:nvSpPr>
              <p:cNvPr id="8" name="正方形/長方形 7">
                <a:extLst>
                  <a:ext uri="{FF2B5EF4-FFF2-40B4-BE49-F238E27FC236}">
                    <a16:creationId xmlns:a16="http://schemas.microsoft.com/office/drawing/2014/main" id="{C36F5242-5F1D-C983-A2A8-939C17ED9B3F}"/>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9" name="円/楕円 69">
                <a:extLst>
                  <a:ext uri="{FF2B5EF4-FFF2-40B4-BE49-F238E27FC236}">
                    <a16:creationId xmlns:a16="http://schemas.microsoft.com/office/drawing/2014/main" id="{8344B2EE-2AAE-B9AC-BADC-7D9C851630DA}"/>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0" name="直線コネクタ 9">
                <a:extLst>
                  <a:ext uri="{FF2B5EF4-FFF2-40B4-BE49-F238E27FC236}">
                    <a16:creationId xmlns:a16="http://schemas.microsoft.com/office/drawing/2014/main" id="{92B6BB9F-E5C1-6506-6797-180D4A44B059}"/>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6808941D-DB09-DF9D-B496-05A373DC0A90}"/>
                  </a:ext>
                </a:extLst>
              </p:cNvPr>
              <p:cNvCxnSpPr>
                <a:cxnSpLocks/>
                <a:endCxn id="1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2" name="円/楕円 68">
                <a:extLst>
                  <a:ext uri="{FF2B5EF4-FFF2-40B4-BE49-F238E27FC236}">
                    <a16:creationId xmlns:a16="http://schemas.microsoft.com/office/drawing/2014/main" id="{FFEB6709-5234-C6AF-7E29-117F869C1BC5}"/>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3" name="直線コネクタ 12">
                <a:extLst>
                  <a:ext uri="{FF2B5EF4-FFF2-40B4-BE49-F238E27FC236}">
                    <a16:creationId xmlns:a16="http://schemas.microsoft.com/office/drawing/2014/main" id="{FC4B33E7-93F7-1F86-C52B-C520EC0F6AE9}"/>
                  </a:ext>
                </a:extLst>
              </p:cNvPr>
              <p:cNvCxnSpPr>
                <a:cxnSpLocks/>
                <a:endCxn id="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BB63FF0A-D2A0-0F0A-DB21-C79F3412E0E1}"/>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 name="Rectangle 93">
                <a:extLst>
                  <a:ext uri="{FF2B5EF4-FFF2-40B4-BE49-F238E27FC236}">
                    <a16:creationId xmlns:a16="http://schemas.microsoft.com/office/drawing/2014/main" id="{0E548F21-DA52-ABF6-94AB-AD6FAE878E9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6" name="Rectangle 93">
                <a:extLst>
                  <a:ext uri="{FF2B5EF4-FFF2-40B4-BE49-F238E27FC236}">
                    <a16:creationId xmlns:a16="http://schemas.microsoft.com/office/drawing/2014/main" id="{EA2B7287-707E-A2EA-777F-8EB64CEA0D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7" name="Rectangle 93">
                <a:extLst>
                  <a:ext uri="{FF2B5EF4-FFF2-40B4-BE49-F238E27FC236}">
                    <a16:creationId xmlns:a16="http://schemas.microsoft.com/office/drawing/2014/main" id="{F7F9E823-95DA-25D5-6F81-8E2CBB44DF8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8" name="直線コネクタ 17">
                <a:extLst>
                  <a:ext uri="{FF2B5EF4-FFF2-40B4-BE49-F238E27FC236}">
                    <a16:creationId xmlns:a16="http://schemas.microsoft.com/office/drawing/2014/main" id="{71EB4DEE-C08C-F869-F1CD-4D22CB25D81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 name="直線コネクタ 18">
                <a:extLst>
                  <a:ext uri="{FF2B5EF4-FFF2-40B4-BE49-F238E27FC236}">
                    <a16:creationId xmlns:a16="http://schemas.microsoft.com/office/drawing/2014/main" id="{AC5CD8AB-8468-FF95-5DA1-5214A8CE8901}"/>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7" name="円/楕円 69">
              <a:extLst>
                <a:ext uri="{FF2B5EF4-FFF2-40B4-BE49-F238E27FC236}">
                  <a16:creationId xmlns:a16="http://schemas.microsoft.com/office/drawing/2014/main" id="{CA4A715B-A176-4511-73C9-00A50FDD7E98}"/>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813588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5A63B8-65B7-A399-D319-FBFDEFB131C2}"/>
              </a:ext>
            </a:extLst>
          </p:cNvPr>
          <p:cNvSpPr>
            <a:spLocks noGrp="1"/>
          </p:cNvSpPr>
          <p:nvPr>
            <p:ph type="title"/>
          </p:nvPr>
        </p:nvSpPr>
        <p:spPr/>
        <p:txBody>
          <a:bodyPr/>
          <a:lstStyle/>
          <a:p>
            <a:r>
              <a:rPr kumimoji="1" lang="en-US" altLang="ja-JP" dirty="0"/>
              <a:t>NOT </a:t>
            </a:r>
            <a:r>
              <a:rPr kumimoji="1" lang="ja-JP" altLang="en-US" dirty="0"/>
              <a:t>ゲート</a:t>
            </a:r>
            <a:endParaRPr kumimoji="1" lang="en-US" dirty="0"/>
          </a:p>
        </p:txBody>
      </p:sp>
      <p:sp>
        <p:nvSpPr>
          <p:cNvPr id="3" name="コンテンツ プレースホルダー 2">
            <a:extLst>
              <a:ext uri="{FF2B5EF4-FFF2-40B4-BE49-F238E27FC236}">
                <a16:creationId xmlns:a16="http://schemas.microsoft.com/office/drawing/2014/main" id="{896B1366-8D7A-2F6B-E38A-902BB7AA69A2}"/>
              </a:ext>
            </a:extLst>
          </p:cNvPr>
          <p:cNvSpPr>
            <a:spLocks noGrp="1"/>
          </p:cNvSpPr>
          <p:nvPr>
            <p:ph type="body" sz="quarter" idx="10"/>
          </p:nvPr>
        </p:nvSpPr>
        <p:spPr>
          <a:xfrm>
            <a:off x="2135956" y="1358977"/>
            <a:ext cx="8280092" cy="540006"/>
          </a:xfrm>
        </p:spPr>
        <p:txBody>
          <a:bodyPr/>
          <a:lstStyle/>
          <a:p>
            <a:r>
              <a:rPr kumimoji="1" lang="en-US" altLang="ja-JP" dirty="0"/>
              <a:t>P </a:t>
            </a:r>
            <a:r>
              <a:rPr kumimoji="1" lang="ja-JP" altLang="en-US" dirty="0"/>
              <a:t>型と </a:t>
            </a:r>
            <a:r>
              <a:rPr kumimoji="1" lang="en-US" altLang="ja-JP" dirty="0"/>
              <a:t>N </a:t>
            </a:r>
            <a:r>
              <a:rPr kumimoji="1" lang="ja-JP" altLang="en-US" dirty="0"/>
              <a:t>型を並べて右のように繋ぐと </a:t>
            </a:r>
            <a:r>
              <a:rPr kumimoji="1" lang="en-US" altLang="ja-JP" dirty="0"/>
              <a:t>NOT </a:t>
            </a:r>
            <a:r>
              <a:rPr kumimoji="1" lang="ja-JP" altLang="en-US" dirty="0"/>
              <a:t>ゲートができる</a:t>
            </a:r>
            <a:endParaRPr lang="en-US" dirty="0"/>
          </a:p>
        </p:txBody>
      </p:sp>
      <p:grpSp>
        <p:nvGrpSpPr>
          <p:cNvPr id="71" name="グループ化 70">
            <a:extLst>
              <a:ext uri="{FF2B5EF4-FFF2-40B4-BE49-F238E27FC236}">
                <a16:creationId xmlns:a16="http://schemas.microsoft.com/office/drawing/2014/main" id="{13D01704-AAE9-CD16-4719-7051308AB196}"/>
              </a:ext>
            </a:extLst>
          </p:cNvPr>
          <p:cNvGrpSpPr/>
          <p:nvPr/>
        </p:nvGrpSpPr>
        <p:grpSpPr>
          <a:xfrm>
            <a:off x="6726007" y="4329010"/>
            <a:ext cx="1531092" cy="1440374"/>
            <a:chOff x="5202007" y="3068996"/>
            <a:chExt cx="1531092" cy="1440374"/>
          </a:xfrm>
        </p:grpSpPr>
        <p:sp>
          <p:nvSpPr>
            <p:cNvPr id="73" name="正方形/長方形 72">
              <a:extLst>
                <a:ext uri="{FF2B5EF4-FFF2-40B4-BE49-F238E27FC236}">
                  <a16:creationId xmlns:a16="http://schemas.microsoft.com/office/drawing/2014/main" id="{EA18C221-C4DE-C0C4-7C81-9D2CB4F72F8A}"/>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74" name="円/楕円 69">
              <a:extLst>
                <a:ext uri="{FF2B5EF4-FFF2-40B4-BE49-F238E27FC236}">
                  <a16:creationId xmlns:a16="http://schemas.microsoft.com/office/drawing/2014/main" id="{4E686B30-962A-880E-A98F-02AB8EF5BD2A}"/>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75" name="直線コネクタ 74">
              <a:extLst>
                <a:ext uri="{FF2B5EF4-FFF2-40B4-BE49-F238E27FC236}">
                  <a16:creationId xmlns:a16="http://schemas.microsoft.com/office/drawing/2014/main" id="{47A9F7C8-9004-A920-1FBC-F17608599FE5}"/>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7E298F31-C91B-81F1-F941-73A4983BBA75}"/>
                </a:ext>
              </a:extLst>
            </p:cNvPr>
            <p:cNvCxnSpPr>
              <a:cxnSpLocks/>
              <a:endCxn id="149"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9" name="円/楕円 68">
              <a:extLst>
                <a:ext uri="{FF2B5EF4-FFF2-40B4-BE49-F238E27FC236}">
                  <a16:creationId xmlns:a16="http://schemas.microsoft.com/office/drawing/2014/main" id="{558CF1AE-6202-2001-2213-5F3CDC77FDA1}"/>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50" name="直線コネクタ 149">
              <a:extLst>
                <a:ext uri="{FF2B5EF4-FFF2-40B4-BE49-F238E27FC236}">
                  <a16:creationId xmlns:a16="http://schemas.microsoft.com/office/drawing/2014/main" id="{E36FF8AF-258B-8E49-267D-BFE100BB30B6}"/>
                </a:ext>
              </a:extLst>
            </p:cNvPr>
            <p:cNvCxnSpPr>
              <a:cxnSpLocks/>
              <a:endCxn id="7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C7BF13BD-6123-9E3F-65C7-C5E96DCA7B0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7" name="Rectangle 93">
              <a:extLst>
                <a:ext uri="{FF2B5EF4-FFF2-40B4-BE49-F238E27FC236}">
                  <a16:creationId xmlns:a16="http://schemas.microsoft.com/office/drawing/2014/main" id="{B9DF31B6-787C-3AEC-662B-586C189B377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8" name="Rectangle 93">
              <a:extLst>
                <a:ext uri="{FF2B5EF4-FFF2-40B4-BE49-F238E27FC236}">
                  <a16:creationId xmlns:a16="http://schemas.microsoft.com/office/drawing/2014/main" id="{D84A6B59-F541-53D8-B49E-49CD449E406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9" name="Rectangle 93">
              <a:extLst>
                <a:ext uri="{FF2B5EF4-FFF2-40B4-BE49-F238E27FC236}">
                  <a16:creationId xmlns:a16="http://schemas.microsoft.com/office/drawing/2014/main" id="{C2ADC63A-6DEA-935C-3BFD-89651BFABD73}"/>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60" name="直線コネクタ 159">
              <a:extLst>
                <a:ext uri="{FF2B5EF4-FFF2-40B4-BE49-F238E27FC236}">
                  <a16:creationId xmlns:a16="http://schemas.microsoft.com/office/drawing/2014/main" id="{BA056C96-A326-6ABA-5796-6AFC78D804F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a16:creationId xmlns:a16="http://schemas.microsoft.com/office/drawing/2014/main" id="{1504E12C-6059-0586-3126-E6961816D97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77" name="直線コネクタ 176">
            <a:extLst>
              <a:ext uri="{FF2B5EF4-FFF2-40B4-BE49-F238E27FC236}">
                <a16:creationId xmlns:a16="http://schemas.microsoft.com/office/drawing/2014/main" id="{928B3203-E5C2-CF46-61F6-BABC7477CB35}"/>
              </a:ext>
            </a:extLst>
          </p:cNvPr>
          <p:cNvCxnSpPr>
            <a:cxnSpLocks/>
          </p:cNvCxnSpPr>
          <p:nvPr/>
        </p:nvCxnSpPr>
        <p:spPr>
          <a:xfrm flipV="1">
            <a:off x="6816008" y="3248998"/>
            <a:ext cx="0" cy="180002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a16:creationId xmlns:a16="http://schemas.microsoft.com/office/drawing/2014/main" id="{A3311C02-85F8-68F1-5F65-AC10266FCF12}"/>
              </a:ext>
            </a:extLst>
          </p:cNvPr>
          <p:cNvCxnSpPr>
            <a:cxnSpLocks/>
          </p:cNvCxnSpPr>
          <p:nvPr/>
        </p:nvCxnSpPr>
        <p:spPr>
          <a:xfrm flipH="1">
            <a:off x="6096000" y="4149008"/>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a16:creationId xmlns:a16="http://schemas.microsoft.com/office/drawing/2014/main" id="{139FE574-285A-9442-5B07-7EC80DAAFB34}"/>
              </a:ext>
            </a:extLst>
          </p:cNvPr>
          <p:cNvCxnSpPr>
            <a:cxnSpLocks/>
          </p:cNvCxnSpPr>
          <p:nvPr/>
        </p:nvCxnSpPr>
        <p:spPr>
          <a:xfrm>
            <a:off x="8256024" y="4149008"/>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a16:creationId xmlns:a16="http://schemas.microsoft.com/office/drawing/2014/main" id="{943135B1-A379-BCE0-5461-407CCC647509}"/>
              </a:ext>
            </a:extLst>
          </p:cNvPr>
          <p:cNvCxnSpPr>
            <a:cxnSpLocks/>
          </p:cNvCxnSpPr>
          <p:nvPr/>
        </p:nvCxnSpPr>
        <p:spPr>
          <a:xfrm flipV="1">
            <a:off x="8256024" y="3609002"/>
            <a:ext cx="0" cy="108001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1" name="Rectangle 93">
            <a:extLst>
              <a:ext uri="{FF2B5EF4-FFF2-40B4-BE49-F238E27FC236}">
                <a16:creationId xmlns:a16="http://schemas.microsoft.com/office/drawing/2014/main" id="{B3B61D5E-B8AE-E693-7105-3497841309B4}"/>
              </a:ext>
            </a:extLst>
          </p:cNvPr>
          <p:cNvSpPr>
            <a:spLocks noChangeArrowheads="1"/>
          </p:cNvSpPr>
          <p:nvPr/>
        </p:nvSpPr>
        <p:spPr bwMode="auto">
          <a:xfrm>
            <a:off x="6096001" y="378900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a</a:t>
            </a:r>
          </a:p>
        </p:txBody>
      </p:sp>
      <p:sp>
        <p:nvSpPr>
          <p:cNvPr id="182" name="Rectangle 93">
            <a:extLst>
              <a:ext uri="{FF2B5EF4-FFF2-40B4-BE49-F238E27FC236}">
                <a16:creationId xmlns:a16="http://schemas.microsoft.com/office/drawing/2014/main" id="{2CDD9B44-8741-C041-53F4-C2F41A386FE9}"/>
              </a:ext>
            </a:extLst>
          </p:cNvPr>
          <p:cNvSpPr>
            <a:spLocks noChangeArrowheads="1"/>
          </p:cNvSpPr>
          <p:nvPr/>
        </p:nvSpPr>
        <p:spPr bwMode="auto">
          <a:xfrm>
            <a:off x="8616029" y="378900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b</a:t>
            </a:r>
          </a:p>
        </p:txBody>
      </p:sp>
      <p:grpSp>
        <p:nvGrpSpPr>
          <p:cNvPr id="201" name="グループ化 200">
            <a:extLst>
              <a:ext uri="{FF2B5EF4-FFF2-40B4-BE49-F238E27FC236}">
                <a16:creationId xmlns:a16="http://schemas.microsoft.com/office/drawing/2014/main" id="{E9F3AD11-1B8C-4F4D-2159-6B668DC90479}"/>
              </a:ext>
            </a:extLst>
          </p:cNvPr>
          <p:cNvGrpSpPr/>
          <p:nvPr/>
        </p:nvGrpSpPr>
        <p:grpSpPr>
          <a:xfrm>
            <a:off x="7896021" y="5409022"/>
            <a:ext cx="450005" cy="900368"/>
            <a:chOff x="7272030" y="5768668"/>
            <a:chExt cx="450005" cy="900368"/>
          </a:xfrm>
        </p:grpSpPr>
        <p:grpSp>
          <p:nvGrpSpPr>
            <p:cNvPr id="202" name="グループ化 152">
              <a:extLst>
                <a:ext uri="{FF2B5EF4-FFF2-40B4-BE49-F238E27FC236}">
                  <a16:creationId xmlns:a16="http://schemas.microsoft.com/office/drawing/2014/main" id="{5122EF21-CBC1-F0DB-5471-4728735CF77E}"/>
                </a:ext>
              </a:extLst>
            </p:cNvPr>
            <p:cNvGrpSpPr/>
            <p:nvPr/>
          </p:nvGrpSpPr>
          <p:grpSpPr>
            <a:xfrm>
              <a:off x="7542033" y="6218673"/>
              <a:ext cx="180002" cy="90001"/>
              <a:chOff x="3643306" y="4500570"/>
              <a:chExt cx="428628" cy="144464"/>
            </a:xfrm>
          </p:grpSpPr>
          <p:cxnSp>
            <p:nvCxnSpPr>
              <p:cNvPr id="205" name="直線コネクタ 204">
                <a:extLst>
                  <a:ext uri="{FF2B5EF4-FFF2-40B4-BE49-F238E27FC236}">
                    <a16:creationId xmlns:a16="http://schemas.microsoft.com/office/drawing/2014/main" id="{B75BCA22-861F-81DF-639D-AFF814CA1311}"/>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6" name="直線コネクタ 205">
                <a:extLst>
                  <a:ext uri="{FF2B5EF4-FFF2-40B4-BE49-F238E27FC236}">
                    <a16:creationId xmlns:a16="http://schemas.microsoft.com/office/drawing/2014/main" id="{452FF76C-BDE3-A109-910E-720655A941E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444297C8-2435-6ADF-A6A9-6A6DB7D0EEA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03" name="直線コネクタ 202">
              <a:extLst>
                <a:ext uri="{FF2B5EF4-FFF2-40B4-BE49-F238E27FC236}">
                  <a16:creationId xmlns:a16="http://schemas.microsoft.com/office/drawing/2014/main" id="{C41B1FB4-4C07-338B-3A33-31725CC79702}"/>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04" name="Rectangle 93">
              <a:extLst>
                <a:ext uri="{FF2B5EF4-FFF2-40B4-BE49-F238E27FC236}">
                  <a16:creationId xmlns:a16="http://schemas.microsoft.com/office/drawing/2014/main" id="{BBB74C7C-D3C2-109D-C3E4-6BA96F67869B}"/>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09" name="グループ化 208">
            <a:extLst>
              <a:ext uri="{FF2B5EF4-FFF2-40B4-BE49-F238E27FC236}">
                <a16:creationId xmlns:a16="http://schemas.microsoft.com/office/drawing/2014/main" id="{4CD9389D-D546-904E-66A7-411876C945B2}"/>
              </a:ext>
            </a:extLst>
          </p:cNvPr>
          <p:cNvGrpSpPr/>
          <p:nvPr/>
        </p:nvGrpSpPr>
        <p:grpSpPr>
          <a:xfrm>
            <a:off x="7986022" y="2078986"/>
            <a:ext cx="450049" cy="810009"/>
            <a:chOff x="7362031" y="2528632"/>
            <a:chExt cx="450049" cy="810009"/>
          </a:xfrm>
        </p:grpSpPr>
        <p:cxnSp>
          <p:nvCxnSpPr>
            <p:cNvPr id="210" name="直線コネクタ 209">
              <a:extLst>
                <a:ext uri="{FF2B5EF4-FFF2-40B4-BE49-F238E27FC236}">
                  <a16:creationId xmlns:a16="http://schemas.microsoft.com/office/drawing/2014/main" id="{B1E0F621-8199-B58E-19B1-E80C8E425D42}"/>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a16:creationId xmlns:a16="http://schemas.microsoft.com/office/drawing/2014/main" id="{FA184D6D-25C4-5EB7-05E1-B075BEB8A08F}"/>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12" name="Rectangle 93">
              <a:extLst>
                <a:ext uri="{FF2B5EF4-FFF2-40B4-BE49-F238E27FC236}">
                  <a16:creationId xmlns:a16="http://schemas.microsoft.com/office/drawing/2014/main" id="{10B6A348-D917-0950-4BA6-B9AB5A81B721}"/>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sp>
        <p:nvSpPr>
          <p:cNvPr id="269" name="Line 17">
            <a:extLst>
              <a:ext uri="{FF2B5EF4-FFF2-40B4-BE49-F238E27FC236}">
                <a16:creationId xmlns:a16="http://schemas.microsoft.com/office/drawing/2014/main" id="{9B850B57-38F6-77D8-648B-FD79D1C31546}"/>
              </a:ext>
            </a:extLst>
          </p:cNvPr>
          <p:cNvSpPr>
            <a:spLocks noChangeShapeType="1"/>
          </p:cNvSpPr>
          <p:nvPr/>
        </p:nvSpPr>
        <p:spPr bwMode="auto">
          <a:xfrm>
            <a:off x="3217198" y="3429358"/>
            <a:ext cx="143986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70" name="Rectangle 25">
            <a:extLst>
              <a:ext uri="{FF2B5EF4-FFF2-40B4-BE49-F238E27FC236}">
                <a16:creationId xmlns:a16="http://schemas.microsoft.com/office/drawing/2014/main" id="{3F01350B-3906-F8ED-EB89-C5C379F6EE7C}"/>
              </a:ext>
            </a:extLst>
          </p:cNvPr>
          <p:cNvSpPr>
            <a:spLocks noChangeArrowheads="1"/>
          </p:cNvSpPr>
          <p:nvPr/>
        </p:nvSpPr>
        <p:spPr bwMode="auto">
          <a:xfrm>
            <a:off x="2855248" y="3249971"/>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a:t>
            </a:r>
          </a:p>
        </p:txBody>
      </p:sp>
      <p:sp>
        <p:nvSpPr>
          <p:cNvPr id="271" name="Rectangle 27">
            <a:extLst>
              <a:ext uri="{FF2B5EF4-FFF2-40B4-BE49-F238E27FC236}">
                <a16:creationId xmlns:a16="http://schemas.microsoft.com/office/drawing/2014/main" id="{B549399D-82A1-38E4-4EE9-A98BD194BBDE}"/>
              </a:ext>
            </a:extLst>
          </p:cNvPr>
          <p:cNvSpPr>
            <a:spLocks noChangeArrowheads="1"/>
          </p:cNvSpPr>
          <p:nvPr/>
        </p:nvSpPr>
        <p:spPr bwMode="auto">
          <a:xfrm>
            <a:off x="4655984" y="3248998"/>
            <a:ext cx="360362"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b</a:t>
            </a:r>
          </a:p>
        </p:txBody>
      </p:sp>
      <p:pic>
        <p:nvPicPr>
          <p:cNvPr id="272" name="Picture 28" descr="NOT">
            <a:extLst>
              <a:ext uri="{FF2B5EF4-FFF2-40B4-BE49-F238E27FC236}">
                <a16:creationId xmlns:a16="http://schemas.microsoft.com/office/drawing/2014/main" id="{6028E41C-089C-A866-CE81-21B27B7932CA}"/>
              </a:ext>
            </a:extLst>
          </p:cNvPr>
          <p:cNvPicPr>
            <a:picLocks noChangeAspect="1" noChangeArrowheads="1"/>
          </p:cNvPicPr>
          <p:nvPr/>
        </p:nvPicPr>
        <p:blipFill>
          <a:blip r:embed="rId2" cstate="print"/>
          <a:srcRect/>
          <a:stretch>
            <a:fillRect/>
          </a:stretch>
        </p:blipFill>
        <p:spPr bwMode="auto">
          <a:xfrm>
            <a:off x="3575972" y="3068997"/>
            <a:ext cx="717550" cy="720725"/>
          </a:xfrm>
          <a:prstGeom prst="rect">
            <a:avLst/>
          </a:prstGeom>
          <a:noFill/>
        </p:spPr>
      </p:pic>
      <p:grpSp>
        <p:nvGrpSpPr>
          <p:cNvPr id="273" name="グループ化 272">
            <a:extLst>
              <a:ext uri="{FF2B5EF4-FFF2-40B4-BE49-F238E27FC236}">
                <a16:creationId xmlns:a16="http://schemas.microsoft.com/office/drawing/2014/main" id="{E61A1C39-0DFE-CC48-0E51-2CDD4BC68362}"/>
              </a:ext>
            </a:extLst>
          </p:cNvPr>
          <p:cNvGrpSpPr/>
          <p:nvPr/>
        </p:nvGrpSpPr>
        <p:grpSpPr>
          <a:xfrm>
            <a:off x="6726007" y="2528990"/>
            <a:ext cx="1531092" cy="1440374"/>
            <a:chOff x="5202007" y="2708992"/>
            <a:chExt cx="1531092" cy="1440374"/>
          </a:xfrm>
        </p:grpSpPr>
        <p:grpSp>
          <p:nvGrpSpPr>
            <p:cNvPr id="274" name="グループ化 273">
              <a:extLst>
                <a:ext uri="{FF2B5EF4-FFF2-40B4-BE49-F238E27FC236}">
                  <a16:creationId xmlns:a16="http://schemas.microsoft.com/office/drawing/2014/main" id="{32FA991B-1677-ACEC-6B6D-593A4974EF50}"/>
                </a:ext>
              </a:extLst>
            </p:cNvPr>
            <p:cNvGrpSpPr/>
            <p:nvPr/>
          </p:nvGrpSpPr>
          <p:grpSpPr>
            <a:xfrm>
              <a:off x="5202007" y="2708992"/>
              <a:ext cx="1531092" cy="1440374"/>
              <a:chOff x="5202007" y="3068996"/>
              <a:chExt cx="1531092" cy="1440374"/>
            </a:xfrm>
          </p:grpSpPr>
          <p:sp>
            <p:nvSpPr>
              <p:cNvPr id="276" name="正方形/長方形 275">
                <a:extLst>
                  <a:ext uri="{FF2B5EF4-FFF2-40B4-BE49-F238E27FC236}">
                    <a16:creationId xmlns:a16="http://schemas.microsoft.com/office/drawing/2014/main" id="{F607EA36-699E-DC1C-19C3-D7DE5314434B}"/>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77" name="円/楕円 69">
                <a:extLst>
                  <a:ext uri="{FF2B5EF4-FFF2-40B4-BE49-F238E27FC236}">
                    <a16:creationId xmlns:a16="http://schemas.microsoft.com/office/drawing/2014/main" id="{2D4B9136-1E58-4A2E-D96A-4486C23F021C}"/>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78" name="直線コネクタ 277">
                <a:extLst>
                  <a:ext uri="{FF2B5EF4-FFF2-40B4-BE49-F238E27FC236}">
                    <a16:creationId xmlns:a16="http://schemas.microsoft.com/office/drawing/2014/main" id="{A18D89AD-117E-03DF-8E66-19E664B35071}"/>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9" name="直線コネクタ 278">
                <a:extLst>
                  <a:ext uri="{FF2B5EF4-FFF2-40B4-BE49-F238E27FC236}">
                    <a16:creationId xmlns:a16="http://schemas.microsoft.com/office/drawing/2014/main" id="{60BAA4C0-EE19-F19A-1686-B8B4D84C27D6}"/>
                  </a:ext>
                </a:extLst>
              </p:cNvPr>
              <p:cNvCxnSpPr>
                <a:cxnSpLocks/>
                <a:endCxn id="280"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0" name="円/楕円 68">
                <a:extLst>
                  <a:ext uri="{FF2B5EF4-FFF2-40B4-BE49-F238E27FC236}">
                    <a16:creationId xmlns:a16="http://schemas.microsoft.com/office/drawing/2014/main" id="{D1119976-D859-2C1C-A28C-87FF7631D3F1}"/>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81" name="直線コネクタ 280">
                <a:extLst>
                  <a:ext uri="{FF2B5EF4-FFF2-40B4-BE49-F238E27FC236}">
                    <a16:creationId xmlns:a16="http://schemas.microsoft.com/office/drawing/2014/main" id="{23465C44-B50A-33F9-3CBE-11B0166A1819}"/>
                  </a:ext>
                </a:extLst>
              </p:cNvPr>
              <p:cNvCxnSpPr>
                <a:cxnSpLocks/>
                <a:endCxn id="277"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a16:creationId xmlns:a16="http://schemas.microsoft.com/office/drawing/2014/main" id="{96D407D5-5307-7A0C-066D-16F25ED7585E}"/>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3" name="Rectangle 93">
                <a:extLst>
                  <a:ext uri="{FF2B5EF4-FFF2-40B4-BE49-F238E27FC236}">
                    <a16:creationId xmlns:a16="http://schemas.microsoft.com/office/drawing/2014/main" id="{33BE9391-5F9F-53FB-2276-B52E35CA3FD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84" name="Rectangle 93">
                <a:extLst>
                  <a:ext uri="{FF2B5EF4-FFF2-40B4-BE49-F238E27FC236}">
                    <a16:creationId xmlns:a16="http://schemas.microsoft.com/office/drawing/2014/main" id="{33A23124-D35A-AE04-4E8D-C7AE14698FEB}"/>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85" name="Rectangle 93">
                <a:extLst>
                  <a:ext uri="{FF2B5EF4-FFF2-40B4-BE49-F238E27FC236}">
                    <a16:creationId xmlns:a16="http://schemas.microsoft.com/office/drawing/2014/main" id="{2B5D77D3-1F1B-4D87-CD34-A4CE36C90012}"/>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86" name="直線コネクタ 285">
                <a:extLst>
                  <a:ext uri="{FF2B5EF4-FFF2-40B4-BE49-F238E27FC236}">
                    <a16:creationId xmlns:a16="http://schemas.microsoft.com/office/drawing/2014/main" id="{B0AFC59C-2739-D77F-F2BB-BB559CDA2F06}"/>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a16:creationId xmlns:a16="http://schemas.microsoft.com/office/drawing/2014/main" id="{DB74A23C-4949-E6FB-1226-CFE28F2AE39F}"/>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75" name="円/楕円 69">
              <a:extLst>
                <a:ext uri="{FF2B5EF4-FFF2-40B4-BE49-F238E27FC236}">
                  <a16:creationId xmlns:a16="http://schemas.microsoft.com/office/drawing/2014/main" id="{123417DA-780F-709E-739F-F5CB697AC585}"/>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aphicFrame>
        <p:nvGraphicFramePr>
          <p:cNvPr id="288" name="Group 383">
            <a:extLst>
              <a:ext uri="{FF2B5EF4-FFF2-40B4-BE49-F238E27FC236}">
                <a16:creationId xmlns:a16="http://schemas.microsoft.com/office/drawing/2014/main" id="{CF0BA26F-CC49-A691-C930-0EC9A7C904F1}"/>
              </a:ext>
            </a:extLst>
          </p:cNvPr>
          <p:cNvGraphicFramePr>
            <a:graphicFrameLocks/>
          </p:cNvGraphicFramePr>
          <p:nvPr>
            <p:extLst>
              <p:ext uri="{D42A27DB-BD31-4B8C-83A1-F6EECF244321}">
                <p14:modId xmlns:p14="http://schemas.microsoft.com/office/powerpoint/2010/main" val="4274740441"/>
              </p:ext>
            </p:extLst>
          </p:nvPr>
        </p:nvGraphicFramePr>
        <p:xfrm>
          <a:off x="3485971" y="4149008"/>
          <a:ext cx="958850" cy="1243014"/>
        </p:xfrm>
        <a:graphic>
          <a:graphicData uri="http://schemas.openxmlformats.org/drawingml/2006/table">
            <a:tbl>
              <a:tblPr/>
              <a:tblGrid>
                <a:gridCol w="479425">
                  <a:extLst>
                    <a:ext uri="{9D8B030D-6E8A-4147-A177-3AD203B41FA5}">
                      <a16:colId xmlns:a16="http://schemas.microsoft.com/office/drawing/2014/main" val="20000"/>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ja-JP" altLang="en-US" sz="1600" b="0" i="0" u="none" strike="noStrike" cap="none" normalizeH="0" baseline="0" dirty="0">
                          <a:ln>
                            <a:noFill/>
                          </a:ln>
                          <a:solidFill>
                            <a:schemeClr val="tx1">
                              <a:lumMod val="75000"/>
                              <a:lumOff val="25000"/>
                            </a:schemeClr>
                          </a:solidFill>
                          <a:effectLst/>
                          <a:latin typeface="+mn-ea"/>
                          <a:ea typeface="+mn-ea"/>
                        </a:rPr>
                        <a:t>０</a:t>
                      </a:r>
                      <a:endParaRPr kumimoji="0" lang="en-US" altLang="ja-JP" sz="1600" b="0" i="0" u="none" strike="noStrike" cap="none" normalizeH="0" baseline="0" dirty="0">
                        <a:ln>
                          <a:noFill/>
                        </a:ln>
                        <a:solidFill>
                          <a:schemeClr val="tx1">
                            <a:lumMod val="75000"/>
                            <a:lumOff val="25000"/>
                          </a:schemeClr>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4464165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5A63B8-65B7-A399-D319-FBFDEFB131C2}"/>
              </a:ext>
            </a:extLst>
          </p:cNvPr>
          <p:cNvSpPr>
            <a:spLocks noGrp="1"/>
          </p:cNvSpPr>
          <p:nvPr>
            <p:ph type="title"/>
          </p:nvPr>
        </p:nvSpPr>
        <p:spPr/>
        <p:txBody>
          <a:bodyPr/>
          <a:lstStyle/>
          <a:p>
            <a:r>
              <a:rPr kumimoji="1" lang="en-US" altLang="ja-JP" dirty="0"/>
              <a:t>NOT </a:t>
            </a:r>
            <a:r>
              <a:rPr kumimoji="1" lang="ja-JP" altLang="en-US" dirty="0"/>
              <a:t>ゲートの動作</a:t>
            </a:r>
            <a:endParaRPr kumimoji="1" lang="en-US" dirty="0"/>
          </a:p>
        </p:txBody>
      </p:sp>
      <p:sp>
        <p:nvSpPr>
          <p:cNvPr id="3" name="コンテンツ プレースホルダー 2">
            <a:extLst>
              <a:ext uri="{FF2B5EF4-FFF2-40B4-BE49-F238E27FC236}">
                <a16:creationId xmlns:a16="http://schemas.microsoft.com/office/drawing/2014/main" id="{896B1366-8D7A-2F6B-E38A-902BB7AA69A2}"/>
              </a:ext>
            </a:extLst>
          </p:cNvPr>
          <p:cNvSpPr>
            <a:spLocks noGrp="1"/>
          </p:cNvSpPr>
          <p:nvPr>
            <p:ph type="body" sz="quarter" idx="10"/>
          </p:nvPr>
        </p:nvSpPr>
        <p:spPr>
          <a:xfrm>
            <a:off x="2135956" y="1358977"/>
            <a:ext cx="8280092" cy="540006"/>
          </a:xfrm>
        </p:spPr>
        <p:txBody>
          <a:bodyPr/>
          <a:lstStyle/>
          <a:p>
            <a:r>
              <a:rPr lang="ja-JP" altLang="en-US" dirty="0"/>
              <a:t>双方のスイッチが必ず反対の動作になる</a:t>
            </a:r>
            <a:endParaRPr lang="en-US" dirty="0"/>
          </a:p>
          <a:p>
            <a:pPr lvl="1"/>
            <a:r>
              <a:rPr lang="en-US" dirty="0"/>
              <a:t>P </a:t>
            </a:r>
            <a:r>
              <a:rPr lang="ja-JP" altLang="en-US" dirty="0"/>
              <a:t>型は入力が０だと </a:t>
            </a:r>
            <a:r>
              <a:rPr lang="en-US" altLang="ja-JP" dirty="0"/>
              <a:t>ON</a:t>
            </a:r>
          </a:p>
          <a:p>
            <a:pPr lvl="1"/>
            <a:r>
              <a:rPr lang="en-US" dirty="0"/>
              <a:t>N </a:t>
            </a:r>
            <a:r>
              <a:rPr lang="ja-JP" altLang="en-US" dirty="0"/>
              <a:t>型は入力が１だと </a:t>
            </a:r>
            <a:r>
              <a:rPr lang="en-US" altLang="ja-JP" dirty="0"/>
              <a:t>ON</a:t>
            </a:r>
            <a:endParaRPr lang="en-US" dirty="0"/>
          </a:p>
        </p:txBody>
      </p:sp>
      <p:graphicFrame>
        <p:nvGraphicFramePr>
          <p:cNvPr id="151" name="Group 383">
            <a:extLst>
              <a:ext uri="{FF2B5EF4-FFF2-40B4-BE49-F238E27FC236}">
                <a16:creationId xmlns:a16="http://schemas.microsoft.com/office/drawing/2014/main" id="{0FFF554D-5E1A-9E61-177E-DA32E60148C5}"/>
              </a:ext>
            </a:extLst>
          </p:cNvPr>
          <p:cNvGraphicFramePr>
            <a:graphicFrameLocks/>
          </p:cNvGraphicFramePr>
          <p:nvPr>
            <p:extLst>
              <p:ext uri="{D42A27DB-BD31-4B8C-83A1-F6EECF244321}">
                <p14:modId xmlns:p14="http://schemas.microsoft.com/office/powerpoint/2010/main" val="1406077981"/>
              </p:ext>
            </p:extLst>
          </p:nvPr>
        </p:nvGraphicFramePr>
        <p:xfrm>
          <a:off x="9426037" y="1268976"/>
          <a:ext cx="958850" cy="1243014"/>
        </p:xfrm>
        <a:graphic>
          <a:graphicData uri="http://schemas.openxmlformats.org/drawingml/2006/table">
            <a:tbl>
              <a:tblPr/>
              <a:tblGrid>
                <a:gridCol w="479425">
                  <a:extLst>
                    <a:ext uri="{9D8B030D-6E8A-4147-A177-3AD203B41FA5}">
                      <a16:colId xmlns:a16="http://schemas.microsoft.com/office/drawing/2014/main" val="20000"/>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ja-JP" altLang="en-US" sz="1600" b="0" i="0" u="none" strike="noStrike" cap="none" normalizeH="0" baseline="0" dirty="0">
                          <a:ln>
                            <a:noFill/>
                          </a:ln>
                          <a:solidFill>
                            <a:schemeClr val="tx1">
                              <a:lumMod val="75000"/>
                              <a:lumOff val="25000"/>
                            </a:schemeClr>
                          </a:solidFill>
                          <a:effectLst/>
                          <a:latin typeface="+mn-ea"/>
                          <a:ea typeface="+mn-ea"/>
                        </a:rPr>
                        <a:t>０</a:t>
                      </a:r>
                      <a:endParaRPr kumimoji="0" lang="en-US" altLang="ja-JP" sz="1600" b="0" i="0" u="none" strike="noStrike" cap="none" normalizeH="0" baseline="0" dirty="0">
                        <a:ln>
                          <a:noFill/>
                        </a:ln>
                        <a:solidFill>
                          <a:schemeClr val="tx1">
                            <a:lumMod val="75000"/>
                            <a:lumOff val="25000"/>
                          </a:schemeClr>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71" name="グループ化 70">
            <a:extLst>
              <a:ext uri="{FF2B5EF4-FFF2-40B4-BE49-F238E27FC236}">
                <a16:creationId xmlns:a16="http://schemas.microsoft.com/office/drawing/2014/main" id="{13D01704-AAE9-CD16-4719-7051308AB196}"/>
              </a:ext>
            </a:extLst>
          </p:cNvPr>
          <p:cNvGrpSpPr/>
          <p:nvPr/>
        </p:nvGrpSpPr>
        <p:grpSpPr>
          <a:xfrm>
            <a:off x="2765963" y="4689014"/>
            <a:ext cx="1531092" cy="1440374"/>
            <a:chOff x="5202007" y="3068996"/>
            <a:chExt cx="1531092" cy="1440374"/>
          </a:xfrm>
        </p:grpSpPr>
        <p:sp>
          <p:nvSpPr>
            <p:cNvPr id="73" name="正方形/長方形 72">
              <a:extLst>
                <a:ext uri="{FF2B5EF4-FFF2-40B4-BE49-F238E27FC236}">
                  <a16:creationId xmlns:a16="http://schemas.microsoft.com/office/drawing/2014/main" id="{EA18C221-C4DE-C0C4-7C81-9D2CB4F72F8A}"/>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74" name="円/楕円 69">
              <a:extLst>
                <a:ext uri="{FF2B5EF4-FFF2-40B4-BE49-F238E27FC236}">
                  <a16:creationId xmlns:a16="http://schemas.microsoft.com/office/drawing/2014/main" id="{4E686B30-962A-880E-A98F-02AB8EF5BD2A}"/>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75" name="直線コネクタ 74">
              <a:extLst>
                <a:ext uri="{FF2B5EF4-FFF2-40B4-BE49-F238E27FC236}">
                  <a16:creationId xmlns:a16="http://schemas.microsoft.com/office/drawing/2014/main" id="{47A9F7C8-9004-A920-1FBC-F17608599FE5}"/>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7E298F31-C91B-81F1-F941-73A4983BBA75}"/>
                </a:ext>
              </a:extLst>
            </p:cNvPr>
            <p:cNvCxnSpPr>
              <a:cxnSpLocks/>
              <a:endCxn id="149"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9" name="円/楕円 68">
              <a:extLst>
                <a:ext uri="{FF2B5EF4-FFF2-40B4-BE49-F238E27FC236}">
                  <a16:creationId xmlns:a16="http://schemas.microsoft.com/office/drawing/2014/main" id="{558CF1AE-6202-2001-2213-5F3CDC77FDA1}"/>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50" name="直線コネクタ 149">
              <a:extLst>
                <a:ext uri="{FF2B5EF4-FFF2-40B4-BE49-F238E27FC236}">
                  <a16:creationId xmlns:a16="http://schemas.microsoft.com/office/drawing/2014/main" id="{E36FF8AF-258B-8E49-267D-BFE100BB30B6}"/>
                </a:ext>
              </a:extLst>
            </p:cNvPr>
            <p:cNvCxnSpPr>
              <a:cxnSpLocks/>
              <a:endCxn id="7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6" name="直線コネクタ 155">
              <a:extLst>
                <a:ext uri="{FF2B5EF4-FFF2-40B4-BE49-F238E27FC236}">
                  <a16:creationId xmlns:a16="http://schemas.microsoft.com/office/drawing/2014/main" id="{C7BF13BD-6123-9E3F-65C7-C5E96DCA7B0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57" name="Rectangle 93">
              <a:extLst>
                <a:ext uri="{FF2B5EF4-FFF2-40B4-BE49-F238E27FC236}">
                  <a16:creationId xmlns:a16="http://schemas.microsoft.com/office/drawing/2014/main" id="{B9DF31B6-787C-3AEC-662B-586C189B377D}"/>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8" name="Rectangle 93">
              <a:extLst>
                <a:ext uri="{FF2B5EF4-FFF2-40B4-BE49-F238E27FC236}">
                  <a16:creationId xmlns:a16="http://schemas.microsoft.com/office/drawing/2014/main" id="{D84A6B59-F541-53D8-B49E-49CD449E406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59" name="Rectangle 93">
              <a:extLst>
                <a:ext uri="{FF2B5EF4-FFF2-40B4-BE49-F238E27FC236}">
                  <a16:creationId xmlns:a16="http://schemas.microsoft.com/office/drawing/2014/main" id="{C2ADC63A-6DEA-935C-3BFD-89651BFABD73}"/>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60" name="直線コネクタ 159">
              <a:extLst>
                <a:ext uri="{FF2B5EF4-FFF2-40B4-BE49-F238E27FC236}">
                  <a16:creationId xmlns:a16="http://schemas.microsoft.com/office/drawing/2014/main" id="{BA056C96-A326-6ABA-5796-6AFC78D804F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a:extLst>
                <a:ext uri="{FF2B5EF4-FFF2-40B4-BE49-F238E27FC236}">
                  <a16:creationId xmlns:a16="http://schemas.microsoft.com/office/drawing/2014/main" id="{1504E12C-6059-0586-3126-E6961816D97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77" name="直線コネクタ 176">
            <a:extLst>
              <a:ext uri="{FF2B5EF4-FFF2-40B4-BE49-F238E27FC236}">
                <a16:creationId xmlns:a16="http://schemas.microsoft.com/office/drawing/2014/main" id="{928B3203-E5C2-CF46-61F6-BABC7477CB35}"/>
              </a:ext>
            </a:extLst>
          </p:cNvPr>
          <p:cNvCxnSpPr>
            <a:cxnSpLocks/>
          </p:cNvCxnSpPr>
          <p:nvPr/>
        </p:nvCxnSpPr>
        <p:spPr>
          <a:xfrm flipV="1">
            <a:off x="2855964" y="3609002"/>
            <a:ext cx="0" cy="180002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8" name="直線コネクタ 177">
            <a:extLst>
              <a:ext uri="{FF2B5EF4-FFF2-40B4-BE49-F238E27FC236}">
                <a16:creationId xmlns:a16="http://schemas.microsoft.com/office/drawing/2014/main" id="{A3311C02-85F8-68F1-5F65-AC10266FCF12}"/>
              </a:ext>
            </a:extLst>
          </p:cNvPr>
          <p:cNvCxnSpPr>
            <a:cxnSpLocks/>
          </p:cNvCxnSpPr>
          <p:nvPr/>
        </p:nvCxnSpPr>
        <p:spPr>
          <a:xfrm flipH="1">
            <a:off x="2135956"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a:extLst>
              <a:ext uri="{FF2B5EF4-FFF2-40B4-BE49-F238E27FC236}">
                <a16:creationId xmlns:a16="http://schemas.microsoft.com/office/drawing/2014/main" id="{139FE574-285A-9442-5B07-7EC80DAAFB34}"/>
              </a:ext>
            </a:extLst>
          </p:cNvPr>
          <p:cNvCxnSpPr>
            <a:cxnSpLocks/>
          </p:cNvCxnSpPr>
          <p:nvPr/>
        </p:nvCxnSpPr>
        <p:spPr>
          <a:xfrm>
            <a:off x="4295980"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a:extLst>
              <a:ext uri="{FF2B5EF4-FFF2-40B4-BE49-F238E27FC236}">
                <a16:creationId xmlns:a16="http://schemas.microsoft.com/office/drawing/2014/main" id="{943135B1-A379-BCE0-5461-407CCC647509}"/>
              </a:ext>
            </a:extLst>
          </p:cNvPr>
          <p:cNvCxnSpPr>
            <a:cxnSpLocks/>
          </p:cNvCxnSpPr>
          <p:nvPr/>
        </p:nvCxnSpPr>
        <p:spPr>
          <a:xfrm flipV="1">
            <a:off x="4295980" y="3969006"/>
            <a:ext cx="0" cy="108001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1" name="Rectangle 93">
            <a:extLst>
              <a:ext uri="{FF2B5EF4-FFF2-40B4-BE49-F238E27FC236}">
                <a16:creationId xmlns:a16="http://schemas.microsoft.com/office/drawing/2014/main" id="{B3B61D5E-B8AE-E693-7105-3497841309B4}"/>
              </a:ext>
            </a:extLst>
          </p:cNvPr>
          <p:cNvSpPr>
            <a:spLocks noChangeArrowheads="1"/>
          </p:cNvSpPr>
          <p:nvPr/>
        </p:nvSpPr>
        <p:spPr bwMode="auto">
          <a:xfrm>
            <a:off x="2135957"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a</a:t>
            </a:r>
          </a:p>
        </p:txBody>
      </p:sp>
      <p:sp>
        <p:nvSpPr>
          <p:cNvPr id="182" name="Rectangle 93">
            <a:extLst>
              <a:ext uri="{FF2B5EF4-FFF2-40B4-BE49-F238E27FC236}">
                <a16:creationId xmlns:a16="http://schemas.microsoft.com/office/drawing/2014/main" id="{2CDD9B44-8741-C041-53F4-C2F41A386FE9}"/>
              </a:ext>
            </a:extLst>
          </p:cNvPr>
          <p:cNvSpPr>
            <a:spLocks noChangeArrowheads="1"/>
          </p:cNvSpPr>
          <p:nvPr/>
        </p:nvSpPr>
        <p:spPr bwMode="auto">
          <a:xfrm>
            <a:off x="4655985"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b</a:t>
            </a:r>
          </a:p>
        </p:txBody>
      </p:sp>
      <p:grpSp>
        <p:nvGrpSpPr>
          <p:cNvPr id="201" name="グループ化 200">
            <a:extLst>
              <a:ext uri="{FF2B5EF4-FFF2-40B4-BE49-F238E27FC236}">
                <a16:creationId xmlns:a16="http://schemas.microsoft.com/office/drawing/2014/main" id="{E9F3AD11-1B8C-4F4D-2159-6B668DC90479}"/>
              </a:ext>
            </a:extLst>
          </p:cNvPr>
          <p:cNvGrpSpPr/>
          <p:nvPr/>
        </p:nvGrpSpPr>
        <p:grpSpPr>
          <a:xfrm>
            <a:off x="3935977" y="5769026"/>
            <a:ext cx="450005" cy="900368"/>
            <a:chOff x="7272030" y="5768668"/>
            <a:chExt cx="450005" cy="900368"/>
          </a:xfrm>
        </p:grpSpPr>
        <p:grpSp>
          <p:nvGrpSpPr>
            <p:cNvPr id="202" name="グループ化 152">
              <a:extLst>
                <a:ext uri="{FF2B5EF4-FFF2-40B4-BE49-F238E27FC236}">
                  <a16:creationId xmlns:a16="http://schemas.microsoft.com/office/drawing/2014/main" id="{5122EF21-CBC1-F0DB-5471-4728735CF77E}"/>
                </a:ext>
              </a:extLst>
            </p:cNvPr>
            <p:cNvGrpSpPr/>
            <p:nvPr/>
          </p:nvGrpSpPr>
          <p:grpSpPr>
            <a:xfrm>
              <a:off x="7542033" y="6218673"/>
              <a:ext cx="180002" cy="90001"/>
              <a:chOff x="3643306" y="4500570"/>
              <a:chExt cx="428628" cy="144464"/>
            </a:xfrm>
          </p:grpSpPr>
          <p:cxnSp>
            <p:nvCxnSpPr>
              <p:cNvPr id="205" name="直線コネクタ 204">
                <a:extLst>
                  <a:ext uri="{FF2B5EF4-FFF2-40B4-BE49-F238E27FC236}">
                    <a16:creationId xmlns:a16="http://schemas.microsoft.com/office/drawing/2014/main" id="{B75BCA22-861F-81DF-639D-AFF814CA1311}"/>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6" name="直線コネクタ 205">
                <a:extLst>
                  <a:ext uri="{FF2B5EF4-FFF2-40B4-BE49-F238E27FC236}">
                    <a16:creationId xmlns:a16="http://schemas.microsoft.com/office/drawing/2014/main" id="{452FF76C-BDE3-A109-910E-720655A941E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444297C8-2435-6ADF-A6A9-6A6DB7D0EEA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03" name="直線コネクタ 202">
              <a:extLst>
                <a:ext uri="{FF2B5EF4-FFF2-40B4-BE49-F238E27FC236}">
                  <a16:creationId xmlns:a16="http://schemas.microsoft.com/office/drawing/2014/main" id="{C41B1FB4-4C07-338B-3A33-31725CC79702}"/>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04" name="Rectangle 93">
              <a:extLst>
                <a:ext uri="{FF2B5EF4-FFF2-40B4-BE49-F238E27FC236}">
                  <a16:creationId xmlns:a16="http://schemas.microsoft.com/office/drawing/2014/main" id="{BBB74C7C-D3C2-109D-C3E4-6BA96F67869B}"/>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09" name="グループ化 208">
            <a:extLst>
              <a:ext uri="{FF2B5EF4-FFF2-40B4-BE49-F238E27FC236}">
                <a16:creationId xmlns:a16="http://schemas.microsoft.com/office/drawing/2014/main" id="{4CD9389D-D546-904E-66A7-411876C945B2}"/>
              </a:ext>
            </a:extLst>
          </p:cNvPr>
          <p:cNvGrpSpPr/>
          <p:nvPr/>
        </p:nvGrpSpPr>
        <p:grpSpPr>
          <a:xfrm>
            <a:off x="4025978" y="2438990"/>
            <a:ext cx="450049" cy="810009"/>
            <a:chOff x="7362031" y="2528632"/>
            <a:chExt cx="450049" cy="810009"/>
          </a:xfrm>
        </p:grpSpPr>
        <p:cxnSp>
          <p:nvCxnSpPr>
            <p:cNvPr id="210" name="直線コネクタ 209">
              <a:extLst>
                <a:ext uri="{FF2B5EF4-FFF2-40B4-BE49-F238E27FC236}">
                  <a16:creationId xmlns:a16="http://schemas.microsoft.com/office/drawing/2014/main" id="{B1E0F621-8199-B58E-19B1-E80C8E425D42}"/>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1" name="直線コネクタ 210">
              <a:extLst>
                <a:ext uri="{FF2B5EF4-FFF2-40B4-BE49-F238E27FC236}">
                  <a16:creationId xmlns:a16="http://schemas.microsoft.com/office/drawing/2014/main" id="{FA184D6D-25C4-5EB7-05E1-B075BEB8A08F}"/>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12" name="Rectangle 93">
              <a:extLst>
                <a:ext uri="{FF2B5EF4-FFF2-40B4-BE49-F238E27FC236}">
                  <a16:creationId xmlns:a16="http://schemas.microsoft.com/office/drawing/2014/main" id="{10B6A348-D917-0950-4BA6-B9AB5A81B721}"/>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pSp>
        <p:nvGrpSpPr>
          <p:cNvPr id="213" name="グループ化 212">
            <a:extLst>
              <a:ext uri="{FF2B5EF4-FFF2-40B4-BE49-F238E27FC236}">
                <a16:creationId xmlns:a16="http://schemas.microsoft.com/office/drawing/2014/main" id="{09D2FD2B-BC13-E562-21E6-D1D41708E37A}"/>
              </a:ext>
            </a:extLst>
          </p:cNvPr>
          <p:cNvGrpSpPr/>
          <p:nvPr/>
        </p:nvGrpSpPr>
        <p:grpSpPr>
          <a:xfrm>
            <a:off x="6726007" y="4689014"/>
            <a:ext cx="1531092" cy="1440374"/>
            <a:chOff x="5202007" y="3068996"/>
            <a:chExt cx="1531092" cy="1440374"/>
          </a:xfrm>
        </p:grpSpPr>
        <p:sp>
          <p:nvSpPr>
            <p:cNvPr id="214" name="正方形/長方形 213">
              <a:extLst>
                <a:ext uri="{FF2B5EF4-FFF2-40B4-BE49-F238E27FC236}">
                  <a16:creationId xmlns:a16="http://schemas.microsoft.com/office/drawing/2014/main" id="{6757C420-CC60-25D6-9A6D-3A630A885C30}"/>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15" name="円/楕円 69">
              <a:extLst>
                <a:ext uri="{FF2B5EF4-FFF2-40B4-BE49-F238E27FC236}">
                  <a16:creationId xmlns:a16="http://schemas.microsoft.com/office/drawing/2014/main" id="{33529E84-B0CA-C7E8-9B19-A3ECB8BC757A}"/>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16" name="直線コネクタ 215">
              <a:extLst>
                <a:ext uri="{FF2B5EF4-FFF2-40B4-BE49-F238E27FC236}">
                  <a16:creationId xmlns:a16="http://schemas.microsoft.com/office/drawing/2014/main" id="{CA7B9213-010B-9752-313C-6E229F3CFD4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5F4A510C-C8E8-C9BD-6017-EBBB22F516BA}"/>
                </a:ext>
              </a:extLst>
            </p:cNvPr>
            <p:cNvCxnSpPr>
              <a:cxnSpLocks/>
              <a:endCxn id="218"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18" name="円/楕円 68">
              <a:extLst>
                <a:ext uri="{FF2B5EF4-FFF2-40B4-BE49-F238E27FC236}">
                  <a16:creationId xmlns:a16="http://schemas.microsoft.com/office/drawing/2014/main" id="{CA457C54-4381-6979-1980-73A5F193BA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19" name="直線コネクタ 218">
              <a:extLst>
                <a:ext uri="{FF2B5EF4-FFF2-40B4-BE49-F238E27FC236}">
                  <a16:creationId xmlns:a16="http://schemas.microsoft.com/office/drawing/2014/main" id="{2B79A774-5E9D-2063-EE49-CEF5BCAD7AC5}"/>
                </a:ext>
              </a:extLst>
            </p:cNvPr>
            <p:cNvCxnSpPr>
              <a:cxnSpLocks/>
              <a:endCxn id="21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0" name="直線コネクタ 219">
              <a:extLst>
                <a:ext uri="{FF2B5EF4-FFF2-40B4-BE49-F238E27FC236}">
                  <a16:creationId xmlns:a16="http://schemas.microsoft.com/office/drawing/2014/main" id="{1A665C09-0AC5-0C76-3B57-CC676CB0463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1" name="Rectangle 93">
              <a:extLst>
                <a:ext uri="{FF2B5EF4-FFF2-40B4-BE49-F238E27FC236}">
                  <a16:creationId xmlns:a16="http://schemas.microsoft.com/office/drawing/2014/main" id="{B9CE869A-1C74-DBEC-4D9A-A2F51E5B34A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22" name="Rectangle 93">
              <a:extLst>
                <a:ext uri="{FF2B5EF4-FFF2-40B4-BE49-F238E27FC236}">
                  <a16:creationId xmlns:a16="http://schemas.microsoft.com/office/drawing/2014/main" id="{09ACFBFF-AFB6-5A74-21AF-94314F227432}"/>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23" name="Rectangle 93">
              <a:extLst>
                <a:ext uri="{FF2B5EF4-FFF2-40B4-BE49-F238E27FC236}">
                  <a16:creationId xmlns:a16="http://schemas.microsoft.com/office/drawing/2014/main" id="{60D7CBAA-A512-99C8-E0EE-E321CF5BA91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224" name="直線コネクタ 223">
              <a:extLst>
                <a:ext uri="{FF2B5EF4-FFF2-40B4-BE49-F238E27FC236}">
                  <a16:creationId xmlns:a16="http://schemas.microsoft.com/office/drawing/2014/main" id="{07460463-69A8-2613-DC65-FA451B7350DD}"/>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5" name="直線コネクタ 224">
              <a:extLst>
                <a:ext uri="{FF2B5EF4-FFF2-40B4-BE49-F238E27FC236}">
                  <a16:creationId xmlns:a16="http://schemas.microsoft.com/office/drawing/2014/main" id="{360C38AF-BEC8-86BC-AE59-9C3459E0559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241" name="直線コネクタ 240">
            <a:extLst>
              <a:ext uri="{FF2B5EF4-FFF2-40B4-BE49-F238E27FC236}">
                <a16:creationId xmlns:a16="http://schemas.microsoft.com/office/drawing/2014/main" id="{B5605DEF-F702-B256-B768-4CE10AECE16F}"/>
              </a:ext>
            </a:extLst>
          </p:cNvPr>
          <p:cNvCxnSpPr>
            <a:cxnSpLocks/>
          </p:cNvCxnSpPr>
          <p:nvPr/>
        </p:nvCxnSpPr>
        <p:spPr>
          <a:xfrm flipV="1">
            <a:off x="6816008" y="3609002"/>
            <a:ext cx="0" cy="180002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2" name="直線コネクタ 241">
            <a:extLst>
              <a:ext uri="{FF2B5EF4-FFF2-40B4-BE49-F238E27FC236}">
                <a16:creationId xmlns:a16="http://schemas.microsoft.com/office/drawing/2014/main" id="{E325F25E-3AA9-2669-EA8F-8AC80EACA77A}"/>
              </a:ext>
            </a:extLst>
          </p:cNvPr>
          <p:cNvCxnSpPr>
            <a:cxnSpLocks/>
          </p:cNvCxnSpPr>
          <p:nvPr/>
        </p:nvCxnSpPr>
        <p:spPr>
          <a:xfrm flipH="1">
            <a:off x="6096000"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243" name="直線コネクタ 242">
            <a:extLst>
              <a:ext uri="{FF2B5EF4-FFF2-40B4-BE49-F238E27FC236}">
                <a16:creationId xmlns:a16="http://schemas.microsoft.com/office/drawing/2014/main" id="{D0F22FD0-AD30-ABAE-980D-492C439CF21D}"/>
              </a:ext>
            </a:extLst>
          </p:cNvPr>
          <p:cNvCxnSpPr>
            <a:cxnSpLocks/>
          </p:cNvCxnSpPr>
          <p:nvPr/>
        </p:nvCxnSpPr>
        <p:spPr>
          <a:xfrm>
            <a:off x="8256024" y="4509012"/>
            <a:ext cx="720008" cy="0"/>
          </a:xfrm>
          <a:prstGeom prst="line">
            <a:avLst/>
          </a:prstGeom>
          <a:ln w="6350" cap="rnd">
            <a:solidFill>
              <a:srgbClr val="000000"/>
            </a:solidFill>
            <a:headEnd type="oval" w="med" len="med"/>
            <a:tailEnd type="none"/>
          </a:ln>
        </p:spPr>
        <p:style>
          <a:lnRef idx="1">
            <a:schemeClr val="accent1"/>
          </a:lnRef>
          <a:fillRef idx="0">
            <a:schemeClr val="accent1"/>
          </a:fillRef>
          <a:effectRef idx="0">
            <a:schemeClr val="accent1"/>
          </a:effectRef>
          <a:fontRef idx="minor">
            <a:schemeClr val="tx1"/>
          </a:fontRef>
        </p:style>
      </p:cxnSp>
      <p:cxnSp>
        <p:nvCxnSpPr>
          <p:cNvPr id="244" name="直線コネクタ 243">
            <a:extLst>
              <a:ext uri="{FF2B5EF4-FFF2-40B4-BE49-F238E27FC236}">
                <a16:creationId xmlns:a16="http://schemas.microsoft.com/office/drawing/2014/main" id="{224D4022-A50D-5B51-B840-AA3F8829B7DD}"/>
              </a:ext>
            </a:extLst>
          </p:cNvPr>
          <p:cNvCxnSpPr>
            <a:cxnSpLocks/>
          </p:cNvCxnSpPr>
          <p:nvPr/>
        </p:nvCxnSpPr>
        <p:spPr>
          <a:xfrm flipV="1">
            <a:off x="8256024" y="3969006"/>
            <a:ext cx="0" cy="108001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5" name="Rectangle 93">
            <a:extLst>
              <a:ext uri="{FF2B5EF4-FFF2-40B4-BE49-F238E27FC236}">
                <a16:creationId xmlns:a16="http://schemas.microsoft.com/office/drawing/2014/main" id="{23F7DEAA-E52D-E17C-1F0C-60C90883E794}"/>
              </a:ext>
            </a:extLst>
          </p:cNvPr>
          <p:cNvSpPr>
            <a:spLocks noChangeArrowheads="1"/>
          </p:cNvSpPr>
          <p:nvPr/>
        </p:nvSpPr>
        <p:spPr bwMode="auto">
          <a:xfrm>
            <a:off x="6096001"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a</a:t>
            </a:r>
          </a:p>
        </p:txBody>
      </p:sp>
      <p:sp>
        <p:nvSpPr>
          <p:cNvPr id="246" name="Rectangle 93">
            <a:extLst>
              <a:ext uri="{FF2B5EF4-FFF2-40B4-BE49-F238E27FC236}">
                <a16:creationId xmlns:a16="http://schemas.microsoft.com/office/drawing/2014/main" id="{8B813A1D-A329-1518-5C96-CD4E7F2CA797}"/>
              </a:ext>
            </a:extLst>
          </p:cNvPr>
          <p:cNvSpPr>
            <a:spLocks noChangeArrowheads="1"/>
          </p:cNvSpPr>
          <p:nvPr/>
        </p:nvSpPr>
        <p:spPr bwMode="auto">
          <a:xfrm>
            <a:off x="8616029"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n-ea"/>
              </a:rPr>
              <a:t>b</a:t>
            </a:r>
          </a:p>
        </p:txBody>
      </p:sp>
      <p:grpSp>
        <p:nvGrpSpPr>
          <p:cNvPr id="247" name="グループ化 246">
            <a:extLst>
              <a:ext uri="{FF2B5EF4-FFF2-40B4-BE49-F238E27FC236}">
                <a16:creationId xmlns:a16="http://schemas.microsoft.com/office/drawing/2014/main" id="{9359519E-9A68-A55A-E41A-DA40622E6171}"/>
              </a:ext>
            </a:extLst>
          </p:cNvPr>
          <p:cNvGrpSpPr/>
          <p:nvPr/>
        </p:nvGrpSpPr>
        <p:grpSpPr>
          <a:xfrm>
            <a:off x="7896021" y="5769026"/>
            <a:ext cx="450005" cy="900368"/>
            <a:chOff x="7272030" y="5768668"/>
            <a:chExt cx="450005" cy="900368"/>
          </a:xfrm>
        </p:grpSpPr>
        <p:grpSp>
          <p:nvGrpSpPr>
            <p:cNvPr id="248" name="グループ化 152">
              <a:extLst>
                <a:ext uri="{FF2B5EF4-FFF2-40B4-BE49-F238E27FC236}">
                  <a16:creationId xmlns:a16="http://schemas.microsoft.com/office/drawing/2014/main" id="{2F843937-0A7F-9C8B-D5C2-CBB2D143A921}"/>
                </a:ext>
              </a:extLst>
            </p:cNvPr>
            <p:cNvGrpSpPr/>
            <p:nvPr/>
          </p:nvGrpSpPr>
          <p:grpSpPr>
            <a:xfrm>
              <a:off x="7542033" y="6218673"/>
              <a:ext cx="180002" cy="90001"/>
              <a:chOff x="3643306" y="4500570"/>
              <a:chExt cx="428628" cy="144464"/>
            </a:xfrm>
          </p:grpSpPr>
          <p:cxnSp>
            <p:nvCxnSpPr>
              <p:cNvPr id="251" name="直線コネクタ 250">
                <a:extLst>
                  <a:ext uri="{FF2B5EF4-FFF2-40B4-BE49-F238E27FC236}">
                    <a16:creationId xmlns:a16="http://schemas.microsoft.com/office/drawing/2014/main" id="{C29C0043-F061-476D-1860-E6AA7A463CBA}"/>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52" name="直線コネクタ 251">
                <a:extLst>
                  <a:ext uri="{FF2B5EF4-FFF2-40B4-BE49-F238E27FC236}">
                    <a16:creationId xmlns:a16="http://schemas.microsoft.com/office/drawing/2014/main" id="{1B21F8BE-903E-1AA4-9341-ADB5F8C94F8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53" name="直線コネクタ 252">
                <a:extLst>
                  <a:ext uri="{FF2B5EF4-FFF2-40B4-BE49-F238E27FC236}">
                    <a16:creationId xmlns:a16="http://schemas.microsoft.com/office/drawing/2014/main" id="{05959C87-47B1-E546-6899-0BD1E9B649E5}"/>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49" name="直線コネクタ 248">
              <a:extLst>
                <a:ext uri="{FF2B5EF4-FFF2-40B4-BE49-F238E27FC236}">
                  <a16:creationId xmlns:a16="http://schemas.microsoft.com/office/drawing/2014/main" id="{D8F1CCA8-4964-C462-5EBB-81D57772C576}"/>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F537674D-7854-C277-2BB9-04332A9DCF73}"/>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54" name="グループ化 253">
            <a:extLst>
              <a:ext uri="{FF2B5EF4-FFF2-40B4-BE49-F238E27FC236}">
                <a16:creationId xmlns:a16="http://schemas.microsoft.com/office/drawing/2014/main" id="{463F0C2E-68EF-9203-6440-53A4FC134B49}"/>
              </a:ext>
            </a:extLst>
          </p:cNvPr>
          <p:cNvGrpSpPr/>
          <p:nvPr/>
        </p:nvGrpSpPr>
        <p:grpSpPr>
          <a:xfrm>
            <a:off x="7986022" y="2438990"/>
            <a:ext cx="450049" cy="810009"/>
            <a:chOff x="7362031" y="2528632"/>
            <a:chExt cx="450049" cy="810009"/>
          </a:xfrm>
        </p:grpSpPr>
        <p:cxnSp>
          <p:nvCxnSpPr>
            <p:cNvPr id="255" name="直線コネクタ 254">
              <a:extLst>
                <a:ext uri="{FF2B5EF4-FFF2-40B4-BE49-F238E27FC236}">
                  <a16:creationId xmlns:a16="http://schemas.microsoft.com/office/drawing/2014/main" id="{5767B4D0-FA96-44C0-85DB-E5A905127F9B}"/>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6" name="直線コネクタ 255">
              <a:extLst>
                <a:ext uri="{FF2B5EF4-FFF2-40B4-BE49-F238E27FC236}">
                  <a16:creationId xmlns:a16="http://schemas.microsoft.com/office/drawing/2014/main" id="{10A2DAC7-0C81-E91D-5F58-DDAF2E01788E}"/>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7" name="Rectangle 93">
              <a:extLst>
                <a:ext uri="{FF2B5EF4-FFF2-40B4-BE49-F238E27FC236}">
                  <a16:creationId xmlns:a16="http://schemas.microsoft.com/office/drawing/2014/main" id="{78FDD82C-B903-E733-1208-3DDA4D7D4CCA}"/>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sp>
        <p:nvSpPr>
          <p:cNvPr id="258" name="Rectangle 93">
            <a:extLst>
              <a:ext uri="{FF2B5EF4-FFF2-40B4-BE49-F238E27FC236}">
                <a16:creationId xmlns:a16="http://schemas.microsoft.com/office/drawing/2014/main" id="{BFB63D3F-AF71-542E-0C39-90F2213D36D0}"/>
              </a:ext>
            </a:extLst>
          </p:cNvPr>
          <p:cNvSpPr>
            <a:spLocks noChangeArrowheads="1"/>
          </p:cNvSpPr>
          <p:nvPr/>
        </p:nvSpPr>
        <p:spPr bwMode="auto">
          <a:xfrm>
            <a:off x="1865954"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sp>
        <p:nvSpPr>
          <p:cNvPr id="259" name="Rectangle 93">
            <a:extLst>
              <a:ext uri="{FF2B5EF4-FFF2-40B4-BE49-F238E27FC236}">
                <a16:creationId xmlns:a16="http://schemas.microsoft.com/office/drawing/2014/main" id="{0FBB2383-958D-2B78-E519-D84594D14929}"/>
              </a:ext>
            </a:extLst>
          </p:cNvPr>
          <p:cNvSpPr>
            <a:spLocks noChangeArrowheads="1"/>
          </p:cNvSpPr>
          <p:nvPr/>
        </p:nvSpPr>
        <p:spPr bwMode="auto">
          <a:xfrm>
            <a:off x="5015989"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1</a:t>
            </a:r>
          </a:p>
        </p:txBody>
      </p:sp>
      <p:sp>
        <p:nvSpPr>
          <p:cNvPr id="261" name="Rectangle 93">
            <a:extLst>
              <a:ext uri="{FF2B5EF4-FFF2-40B4-BE49-F238E27FC236}">
                <a16:creationId xmlns:a16="http://schemas.microsoft.com/office/drawing/2014/main" id="{D406EC6A-D193-D572-10B8-DC40E38C8B39}"/>
              </a:ext>
            </a:extLst>
          </p:cNvPr>
          <p:cNvSpPr>
            <a:spLocks noChangeArrowheads="1"/>
          </p:cNvSpPr>
          <p:nvPr/>
        </p:nvSpPr>
        <p:spPr bwMode="auto">
          <a:xfrm>
            <a:off x="5825998"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1</a:t>
            </a:r>
          </a:p>
        </p:txBody>
      </p:sp>
      <p:sp>
        <p:nvSpPr>
          <p:cNvPr id="262" name="Rectangle 93">
            <a:extLst>
              <a:ext uri="{FF2B5EF4-FFF2-40B4-BE49-F238E27FC236}">
                <a16:creationId xmlns:a16="http://schemas.microsoft.com/office/drawing/2014/main" id="{BD8A4CF3-9B11-E43C-DB2A-F57C05B79ED7}"/>
              </a:ext>
            </a:extLst>
          </p:cNvPr>
          <p:cNvSpPr>
            <a:spLocks noChangeArrowheads="1"/>
          </p:cNvSpPr>
          <p:nvPr/>
        </p:nvSpPr>
        <p:spPr bwMode="auto">
          <a:xfrm>
            <a:off x="8976033" y="432901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grpSp>
        <p:nvGrpSpPr>
          <p:cNvPr id="4" name="グループ化 3">
            <a:extLst>
              <a:ext uri="{FF2B5EF4-FFF2-40B4-BE49-F238E27FC236}">
                <a16:creationId xmlns:a16="http://schemas.microsoft.com/office/drawing/2014/main" id="{9D5C6644-17F7-DF87-B4BB-14D7DEA483B9}"/>
              </a:ext>
            </a:extLst>
          </p:cNvPr>
          <p:cNvGrpSpPr/>
          <p:nvPr/>
        </p:nvGrpSpPr>
        <p:grpSpPr>
          <a:xfrm>
            <a:off x="2765963" y="2888994"/>
            <a:ext cx="1531092" cy="1440374"/>
            <a:chOff x="5202007" y="2708992"/>
            <a:chExt cx="1531092" cy="1440374"/>
          </a:xfrm>
        </p:grpSpPr>
        <p:grpSp>
          <p:nvGrpSpPr>
            <p:cNvPr id="5" name="グループ化 4">
              <a:extLst>
                <a:ext uri="{FF2B5EF4-FFF2-40B4-BE49-F238E27FC236}">
                  <a16:creationId xmlns:a16="http://schemas.microsoft.com/office/drawing/2014/main" id="{0DF5CD34-FE86-8A7F-DB1C-32226169C2A0}"/>
                </a:ext>
              </a:extLst>
            </p:cNvPr>
            <p:cNvGrpSpPr/>
            <p:nvPr/>
          </p:nvGrpSpPr>
          <p:grpSpPr>
            <a:xfrm>
              <a:off x="5202007" y="2708992"/>
              <a:ext cx="1531092" cy="1440374"/>
              <a:chOff x="5202007" y="3068996"/>
              <a:chExt cx="1531092" cy="1440374"/>
            </a:xfrm>
          </p:grpSpPr>
          <p:sp>
            <p:nvSpPr>
              <p:cNvPr id="7" name="正方形/長方形 6">
                <a:extLst>
                  <a:ext uri="{FF2B5EF4-FFF2-40B4-BE49-F238E27FC236}">
                    <a16:creationId xmlns:a16="http://schemas.microsoft.com/office/drawing/2014/main" id="{88AD6DA1-1953-853D-C54C-05F384620795}"/>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8" name="円/楕円 69">
                <a:extLst>
                  <a:ext uri="{FF2B5EF4-FFF2-40B4-BE49-F238E27FC236}">
                    <a16:creationId xmlns:a16="http://schemas.microsoft.com/office/drawing/2014/main" id="{94B33332-1EEB-59C0-993C-9BA78B69F063}"/>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9" name="直線コネクタ 8">
                <a:extLst>
                  <a:ext uri="{FF2B5EF4-FFF2-40B4-BE49-F238E27FC236}">
                    <a16:creationId xmlns:a16="http://schemas.microsoft.com/office/drawing/2014/main" id="{D4DA51BE-3239-81E3-5BEE-622419DE28E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095467A8-B891-DD3C-1E68-D419F005983B}"/>
                  </a:ext>
                </a:extLst>
              </p:cNvPr>
              <p:cNvCxnSpPr>
                <a:cxnSpLocks/>
                <a:endCxn id="11"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 name="円/楕円 68">
                <a:extLst>
                  <a:ext uri="{FF2B5EF4-FFF2-40B4-BE49-F238E27FC236}">
                    <a16:creationId xmlns:a16="http://schemas.microsoft.com/office/drawing/2014/main" id="{EF147CE7-2645-04D4-94DB-F2DA588A0FF1}"/>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2" name="直線コネクタ 11">
                <a:extLst>
                  <a:ext uri="{FF2B5EF4-FFF2-40B4-BE49-F238E27FC236}">
                    <a16:creationId xmlns:a16="http://schemas.microsoft.com/office/drawing/2014/main" id="{F91270B5-DC2A-699D-2404-B3DF96C71827}"/>
                  </a:ext>
                </a:extLst>
              </p:cNvPr>
              <p:cNvCxnSpPr>
                <a:cxnSpLocks/>
                <a:endCxn id="8"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6D9029EA-E148-4262-A462-F8459BF08AF9}"/>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 name="Rectangle 93">
                <a:extLst>
                  <a:ext uri="{FF2B5EF4-FFF2-40B4-BE49-F238E27FC236}">
                    <a16:creationId xmlns:a16="http://schemas.microsoft.com/office/drawing/2014/main" id="{89BFD26E-1012-E7D4-A523-56E1E1922865}"/>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5" name="Rectangle 93">
                <a:extLst>
                  <a:ext uri="{FF2B5EF4-FFF2-40B4-BE49-F238E27FC236}">
                    <a16:creationId xmlns:a16="http://schemas.microsoft.com/office/drawing/2014/main" id="{DEF67275-5DDA-22E8-08DE-FDC82F49823C}"/>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16" name="Rectangle 93">
                <a:extLst>
                  <a:ext uri="{FF2B5EF4-FFF2-40B4-BE49-F238E27FC236}">
                    <a16:creationId xmlns:a16="http://schemas.microsoft.com/office/drawing/2014/main" id="{4122AD23-BD8D-05BC-1EAB-C4A35C872AD2}"/>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7" name="直線コネクタ 16">
                <a:extLst>
                  <a:ext uri="{FF2B5EF4-FFF2-40B4-BE49-F238E27FC236}">
                    <a16:creationId xmlns:a16="http://schemas.microsoft.com/office/drawing/2014/main" id="{D765D1BA-4A66-C95C-A42B-372211CE23F9}"/>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 name="直線コネクタ 17">
                <a:extLst>
                  <a:ext uri="{FF2B5EF4-FFF2-40B4-BE49-F238E27FC236}">
                    <a16:creationId xmlns:a16="http://schemas.microsoft.com/office/drawing/2014/main" id="{10FAD92C-2756-D832-D999-5971288DE06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 name="円/楕円 69">
              <a:extLst>
                <a:ext uri="{FF2B5EF4-FFF2-40B4-BE49-F238E27FC236}">
                  <a16:creationId xmlns:a16="http://schemas.microsoft.com/office/drawing/2014/main" id="{277D1E25-CDD3-5C43-379E-4F8ACBB558CC}"/>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19" name="グループ化 18">
            <a:extLst>
              <a:ext uri="{FF2B5EF4-FFF2-40B4-BE49-F238E27FC236}">
                <a16:creationId xmlns:a16="http://schemas.microsoft.com/office/drawing/2014/main" id="{DDA7DA1A-A7CB-40B5-08B8-CE47972F26F2}"/>
              </a:ext>
            </a:extLst>
          </p:cNvPr>
          <p:cNvGrpSpPr/>
          <p:nvPr/>
        </p:nvGrpSpPr>
        <p:grpSpPr>
          <a:xfrm>
            <a:off x="6726007" y="2888994"/>
            <a:ext cx="1531092" cy="1440374"/>
            <a:chOff x="5202007" y="2708992"/>
            <a:chExt cx="1531092" cy="1440374"/>
          </a:xfrm>
        </p:grpSpPr>
        <p:grpSp>
          <p:nvGrpSpPr>
            <p:cNvPr id="20" name="グループ化 19">
              <a:extLst>
                <a:ext uri="{FF2B5EF4-FFF2-40B4-BE49-F238E27FC236}">
                  <a16:creationId xmlns:a16="http://schemas.microsoft.com/office/drawing/2014/main" id="{6E93DA43-D468-3460-1773-9FEDA6C00097}"/>
                </a:ext>
              </a:extLst>
            </p:cNvPr>
            <p:cNvGrpSpPr/>
            <p:nvPr/>
          </p:nvGrpSpPr>
          <p:grpSpPr>
            <a:xfrm>
              <a:off x="5202007" y="2708992"/>
              <a:ext cx="1531092" cy="1440374"/>
              <a:chOff x="5202007" y="3068996"/>
              <a:chExt cx="1531092" cy="1440374"/>
            </a:xfrm>
          </p:grpSpPr>
          <p:sp>
            <p:nvSpPr>
              <p:cNvPr id="22" name="正方形/長方形 21">
                <a:extLst>
                  <a:ext uri="{FF2B5EF4-FFF2-40B4-BE49-F238E27FC236}">
                    <a16:creationId xmlns:a16="http://schemas.microsoft.com/office/drawing/2014/main" id="{0F61585C-0E2B-4566-7C7C-52C6798353C1}"/>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3" name="円/楕円 69">
                <a:extLst>
                  <a:ext uri="{FF2B5EF4-FFF2-40B4-BE49-F238E27FC236}">
                    <a16:creationId xmlns:a16="http://schemas.microsoft.com/office/drawing/2014/main" id="{04E46F4D-7D24-83BC-B369-AA5DB8A83C53}"/>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 name="直線コネクタ 23">
                <a:extLst>
                  <a:ext uri="{FF2B5EF4-FFF2-40B4-BE49-F238E27FC236}">
                    <a16:creationId xmlns:a16="http://schemas.microsoft.com/office/drawing/2014/main" id="{C43D20CE-65E9-12EA-7175-DDDCE5DE30CF}"/>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62CC533A-65FF-F253-56D6-57FA3C3DA974}"/>
                  </a:ext>
                </a:extLst>
              </p:cNvPr>
              <p:cNvCxnSpPr>
                <a:cxnSpLocks/>
                <a:endCxn id="26"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 name="円/楕円 68">
                <a:extLst>
                  <a:ext uri="{FF2B5EF4-FFF2-40B4-BE49-F238E27FC236}">
                    <a16:creationId xmlns:a16="http://schemas.microsoft.com/office/drawing/2014/main" id="{A26AC90B-3976-30F4-6B32-8814E2FF79B6}"/>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7" name="直線コネクタ 26">
                <a:extLst>
                  <a:ext uri="{FF2B5EF4-FFF2-40B4-BE49-F238E27FC236}">
                    <a16:creationId xmlns:a16="http://schemas.microsoft.com/office/drawing/2014/main" id="{18FC9601-D083-0C48-85AB-B6AED0793A02}"/>
                  </a:ext>
                </a:extLst>
              </p:cNvPr>
              <p:cNvCxnSpPr>
                <a:cxnSpLocks/>
                <a:endCxn id="2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1275D1F4-791C-9327-8D7A-6C190242B6FD}"/>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 name="Rectangle 93">
                <a:extLst>
                  <a:ext uri="{FF2B5EF4-FFF2-40B4-BE49-F238E27FC236}">
                    <a16:creationId xmlns:a16="http://schemas.microsoft.com/office/drawing/2014/main" id="{049FB911-97B0-C7B2-F0A3-17E8DB0EC211}"/>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0" name="Rectangle 93">
                <a:extLst>
                  <a:ext uri="{FF2B5EF4-FFF2-40B4-BE49-F238E27FC236}">
                    <a16:creationId xmlns:a16="http://schemas.microsoft.com/office/drawing/2014/main" id="{E7AF9F66-308D-B218-3883-8195BEADAFA6}"/>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1" name="Rectangle 93">
                <a:extLst>
                  <a:ext uri="{FF2B5EF4-FFF2-40B4-BE49-F238E27FC236}">
                    <a16:creationId xmlns:a16="http://schemas.microsoft.com/office/drawing/2014/main" id="{6062679B-F9BB-D479-0D8E-DE5C7683ACA5}"/>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32" name="直線コネクタ 31">
                <a:extLst>
                  <a:ext uri="{FF2B5EF4-FFF2-40B4-BE49-F238E27FC236}">
                    <a16:creationId xmlns:a16="http://schemas.microsoft.com/office/drawing/2014/main" id="{9FD4AA1C-3AE5-5813-114E-8C477169F53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BB4C4CB3-C758-DDCC-7EB9-86631B50AB03}"/>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1" name="円/楕円 69">
              <a:extLst>
                <a:ext uri="{FF2B5EF4-FFF2-40B4-BE49-F238E27FC236}">
                  <a16:creationId xmlns:a16="http://schemas.microsoft.com/office/drawing/2014/main" id="{3812F685-3992-346F-EC81-6D4B27567970}"/>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17954248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760A71-B915-4093-646D-0853CE010C39}"/>
              </a:ext>
            </a:extLst>
          </p:cNvPr>
          <p:cNvSpPr>
            <a:spLocks noGrp="1"/>
          </p:cNvSpPr>
          <p:nvPr>
            <p:ph type="title"/>
          </p:nvPr>
        </p:nvSpPr>
        <p:spPr/>
        <p:txBody>
          <a:bodyPr/>
          <a:lstStyle/>
          <a:p>
            <a:r>
              <a:rPr lang="en-US" altLang="ja-JP" dirty="0"/>
              <a:t>NAND </a:t>
            </a:r>
            <a:r>
              <a:rPr lang="ja-JP" altLang="en-US" dirty="0"/>
              <a:t>ゲート</a:t>
            </a:r>
            <a:endParaRPr lang="en-US" dirty="0"/>
          </a:p>
        </p:txBody>
      </p:sp>
      <p:sp>
        <p:nvSpPr>
          <p:cNvPr id="3" name="コンテンツ プレースホルダー 2">
            <a:extLst>
              <a:ext uri="{FF2B5EF4-FFF2-40B4-BE49-F238E27FC236}">
                <a16:creationId xmlns:a16="http://schemas.microsoft.com/office/drawing/2014/main" id="{6500B301-4C05-2F54-477C-AF3B848D014B}"/>
              </a:ext>
            </a:extLst>
          </p:cNvPr>
          <p:cNvSpPr>
            <a:spLocks noGrp="1"/>
          </p:cNvSpPr>
          <p:nvPr>
            <p:ph type="body" sz="quarter" idx="10"/>
          </p:nvPr>
        </p:nvSpPr>
        <p:spPr>
          <a:xfrm>
            <a:off x="2135956" y="1088975"/>
            <a:ext cx="8280092" cy="1620018"/>
          </a:xfrm>
        </p:spPr>
        <p:txBody>
          <a:bodyPr/>
          <a:lstStyle/>
          <a:p>
            <a:r>
              <a:rPr lang="en-US" altLang="ja-JP" dirty="0"/>
              <a:t>NAND </a:t>
            </a:r>
            <a:r>
              <a:rPr lang="ja-JP" altLang="en-US" dirty="0"/>
              <a:t>は </a:t>
            </a:r>
            <a:r>
              <a:rPr lang="en-US" altLang="ja-JP" dirty="0"/>
              <a:t>AND </a:t>
            </a:r>
            <a:r>
              <a:rPr lang="ja-JP" altLang="en-US" dirty="0"/>
              <a:t>の結果の </a:t>
            </a:r>
            <a:r>
              <a:rPr lang="en-US" altLang="ja-JP" dirty="0"/>
              <a:t>NOT </a:t>
            </a:r>
            <a:r>
              <a:rPr lang="ja-JP" altLang="en-US" dirty="0"/>
              <a:t>をとったもの</a:t>
            </a:r>
            <a:endParaRPr lang="en-US" altLang="ja-JP" dirty="0"/>
          </a:p>
          <a:p>
            <a:pPr lvl="1"/>
            <a:r>
              <a:rPr lang="ja-JP" altLang="en-US" dirty="0"/>
              <a:t>左側が </a:t>
            </a:r>
            <a:r>
              <a:rPr lang="en-US" altLang="ja-JP" dirty="0"/>
              <a:t>AND </a:t>
            </a:r>
            <a:r>
              <a:rPr lang="ja-JP" altLang="en-US" dirty="0"/>
              <a:t>右側が </a:t>
            </a:r>
            <a:r>
              <a:rPr lang="en-US" altLang="ja-JP" dirty="0"/>
              <a:t>NAND</a:t>
            </a:r>
          </a:p>
          <a:p>
            <a:pPr lvl="1"/>
            <a:r>
              <a:rPr lang="en-US" altLang="ja-JP" dirty="0"/>
              <a:t>NAND </a:t>
            </a:r>
            <a:r>
              <a:rPr lang="ja-JP" altLang="en-US" dirty="0"/>
              <a:t>は </a:t>
            </a:r>
            <a:r>
              <a:rPr lang="en-US" altLang="ja-JP" dirty="0"/>
              <a:t>AND </a:t>
            </a:r>
            <a:r>
              <a:rPr lang="ja-JP" altLang="en-US" dirty="0"/>
              <a:t>の後ろに白丸（反転）がある形で描く</a:t>
            </a:r>
            <a:endParaRPr lang="en-US" dirty="0"/>
          </a:p>
        </p:txBody>
      </p:sp>
      <p:graphicFrame>
        <p:nvGraphicFramePr>
          <p:cNvPr id="5" name="Group 383">
            <a:extLst>
              <a:ext uri="{FF2B5EF4-FFF2-40B4-BE49-F238E27FC236}">
                <a16:creationId xmlns:a16="http://schemas.microsoft.com/office/drawing/2014/main" id="{44CF10AD-7774-CD1D-534A-0BE39A491A0E}"/>
              </a:ext>
            </a:extLst>
          </p:cNvPr>
          <p:cNvGraphicFramePr>
            <a:graphicFrameLocks/>
          </p:cNvGraphicFramePr>
          <p:nvPr>
            <p:extLst>
              <p:ext uri="{D42A27DB-BD31-4B8C-83A1-F6EECF244321}">
                <p14:modId xmlns:p14="http://schemas.microsoft.com/office/powerpoint/2010/main" val="3943185823"/>
              </p:ext>
            </p:extLst>
          </p:nvPr>
        </p:nvGraphicFramePr>
        <p:xfrm>
          <a:off x="6726007" y="414900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6" name="Line 9">
            <a:extLst>
              <a:ext uri="{FF2B5EF4-FFF2-40B4-BE49-F238E27FC236}">
                <a16:creationId xmlns:a16="http://schemas.microsoft.com/office/drawing/2014/main" id="{A6267ECB-1E91-FADD-09AD-698517BB0FD1}"/>
              </a:ext>
            </a:extLst>
          </p:cNvPr>
          <p:cNvSpPr>
            <a:spLocks noChangeShapeType="1"/>
          </p:cNvSpPr>
          <p:nvPr/>
        </p:nvSpPr>
        <p:spPr bwMode="auto">
          <a:xfrm>
            <a:off x="6815709" y="325018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7" name="Line 10">
            <a:extLst>
              <a:ext uri="{FF2B5EF4-FFF2-40B4-BE49-F238E27FC236}">
                <a16:creationId xmlns:a16="http://schemas.microsoft.com/office/drawing/2014/main" id="{B996065F-5CA5-428C-672A-7637E8AA7282}"/>
              </a:ext>
            </a:extLst>
          </p:cNvPr>
          <p:cNvSpPr>
            <a:spLocks noChangeShapeType="1"/>
          </p:cNvSpPr>
          <p:nvPr/>
        </p:nvSpPr>
        <p:spPr bwMode="auto">
          <a:xfrm>
            <a:off x="6815709" y="361055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1">
            <a:extLst>
              <a:ext uri="{FF2B5EF4-FFF2-40B4-BE49-F238E27FC236}">
                <a16:creationId xmlns:a16="http://schemas.microsoft.com/office/drawing/2014/main" id="{10FB03F6-469A-BABA-08D1-7648F9846B2E}"/>
              </a:ext>
            </a:extLst>
          </p:cNvPr>
          <p:cNvSpPr>
            <a:spLocks noChangeShapeType="1"/>
          </p:cNvSpPr>
          <p:nvPr/>
        </p:nvSpPr>
        <p:spPr bwMode="auto">
          <a:xfrm>
            <a:off x="7896020" y="342900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Rectangle 18">
            <a:extLst>
              <a:ext uri="{FF2B5EF4-FFF2-40B4-BE49-F238E27FC236}">
                <a16:creationId xmlns:a16="http://schemas.microsoft.com/office/drawing/2014/main" id="{978EF72D-C281-DB3E-72A1-88AC45F75039}"/>
              </a:ext>
            </a:extLst>
          </p:cNvPr>
          <p:cNvSpPr>
            <a:spLocks noChangeArrowheads="1"/>
          </p:cNvSpPr>
          <p:nvPr/>
        </p:nvSpPr>
        <p:spPr bwMode="auto">
          <a:xfrm>
            <a:off x="6455347" y="3070802"/>
            <a:ext cx="360363" cy="360363"/>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a:t>
            </a:r>
          </a:p>
        </p:txBody>
      </p:sp>
      <p:sp>
        <p:nvSpPr>
          <p:cNvPr id="10" name="Rectangle 20">
            <a:extLst>
              <a:ext uri="{FF2B5EF4-FFF2-40B4-BE49-F238E27FC236}">
                <a16:creationId xmlns:a16="http://schemas.microsoft.com/office/drawing/2014/main" id="{EAA69D3A-3146-D574-DB62-D8DCF8FDFABE}"/>
              </a:ext>
            </a:extLst>
          </p:cNvPr>
          <p:cNvSpPr>
            <a:spLocks noChangeArrowheads="1"/>
          </p:cNvSpPr>
          <p:nvPr/>
        </p:nvSpPr>
        <p:spPr bwMode="auto">
          <a:xfrm>
            <a:off x="6455347" y="3429577"/>
            <a:ext cx="360363" cy="360363"/>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b</a:t>
            </a:r>
          </a:p>
        </p:txBody>
      </p:sp>
      <p:sp>
        <p:nvSpPr>
          <p:cNvPr id="11" name="Rectangle 21">
            <a:extLst>
              <a:ext uri="{FF2B5EF4-FFF2-40B4-BE49-F238E27FC236}">
                <a16:creationId xmlns:a16="http://schemas.microsoft.com/office/drawing/2014/main" id="{9AEA9881-CFB7-983D-4B3D-571EE255FDD2}"/>
              </a:ext>
            </a:extLst>
          </p:cNvPr>
          <p:cNvSpPr>
            <a:spLocks noChangeArrowheads="1"/>
          </p:cNvSpPr>
          <p:nvPr/>
        </p:nvSpPr>
        <p:spPr bwMode="auto">
          <a:xfrm>
            <a:off x="8346026" y="3248998"/>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c</a:t>
            </a:r>
          </a:p>
        </p:txBody>
      </p:sp>
      <p:pic>
        <p:nvPicPr>
          <p:cNvPr id="12" name="Picture 83" descr="NAND">
            <a:extLst>
              <a:ext uri="{FF2B5EF4-FFF2-40B4-BE49-F238E27FC236}">
                <a16:creationId xmlns:a16="http://schemas.microsoft.com/office/drawing/2014/main" id="{684E7946-4FBA-AE72-2460-37948A882C2F}"/>
              </a:ext>
            </a:extLst>
          </p:cNvPr>
          <p:cNvPicPr>
            <a:picLocks noChangeAspect="1" noChangeArrowheads="1"/>
          </p:cNvPicPr>
          <p:nvPr/>
        </p:nvPicPr>
        <p:blipFill>
          <a:blip r:embed="rId2" cstate="print"/>
          <a:srcRect/>
          <a:stretch>
            <a:fillRect/>
          </a:stretch>
        </p:blipFill>
        <p:spPr bwMode="auto">
          <a:xfrm>
            <a:off x="7086011" y="3068997"/>
            <a:ext cx="1079500" cy="720725"/>
          </a:xfrm>
          <a:prstGeom prst="rect">
            <a:avLst/>
          </a:prstGeom>
          <a:noFill/>
        </p:spPr>
      </p:pic>
      <p:sp>
        <p:nvSpPr>
          <p:cNvPr id="16" name="Line 9">
            <a:extLst>
              <a:ext uri="{FF2B5EF4-FFF2-40B4-BE49-F238E27FC236}">
                <a16:creationId xmlns:a16="http://schemas.microsoft.com/office/drawing/2014/main" id="{1C589DBC-DE83-6803-22F9-4B665111054B}"/>
              </a:ext>
            </a:extLst>
          </p:cNvPr>
          <p:cNvSpPr>
            <a:spLocks noChangeShapeType="1"/>
          </p:cNvSpPr>
          <p:nvPr/>
        </p:nvSpPr>
        <p:spPr bwMode="auto">
          <a:xfrm>
            <a:off x="3575673" y="325018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7" name="Line 10">
            <a:extLst>
              <a:ext uri="{FF2B5EF4-FFF2-40B4-BE49-F238E27FC236}">
                <a16:creationId xmlns:a16="http://schemas.microsoft.com/office/drawing/2014/main" id="{AEDE91A7-9943-AED4-EC04-98D7783F485E}"/>
              </a:ext>
            </a:extLst>
          </p:cNvPr>
          <p:cNvSpPr>
            <a:spLocks noChangeShapeType="1"/>
          </p:cNvSpPr>
          <p:nvPr/>
        </p:nvSpPr>
        <p:spPr bwMode="auto">
          <a:xfrm>
            <a:off x="3575673" y="361055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55B5F2AB-E6BA-1605-5D89-57FC9C5E9107}"/>
              </a:ext>
            </a:extLst>
          </p:cNvPr>
          <p:cNvSpPr>
            <a:spLocks noChangeShapeType="1"/>
          </p:cNvSpPr>
          <p:nvPr/>
        </p:nvSpPr>
        <p:spPr bwMode="auto">
          <a:xfrm>
            <a:off x="4655984" y="342900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9" name="Rectangle 18">
            <a:extLst>
              <a:ext uri="{FF2B5EF4-FFF2-40B4-BE49-F238E27FC236}">
                <a16:creationId xmlns:a16="http://schemas.microsoft.com/office/drawing/2014/main" id="{F7A038E9-22BD-6904-54BD-5CC3E6F64FF4}"/>
              </a:ext>
            </a:extLst>
          </p:cNvPr>
          <p:cNvSpPr>
            <a:spLocks noChangeArrowheads="1"/>
          </p:cNvSpPr>
          <p:nvPr/>
        </p:nvSpPr>
        <p:spPr bwMode="auto">
          <a:xfrm>
            <a:off x="3215311" y="3070802"/>
            <a:ext cx="360363" cy="360363"/>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a:t>
            </a:r>
          </a:p>
        </p:txBody>
      </p:sp>
      <p:sp>
        <p:nvSpPr>
          <p:cNvPr id="20" name="Rectangle 20">
            <a:extLst>
              <a:ext uri="{FF2B5EF4-FFF2-40B4-BE49-F238E27FC236}">
                <a16:creationId xmlns:a16="http://schemas.microsoft.com/office/drawing/2014/main" id="{31A8AACC-768E-627D-55CB-5A62AD4F95E8}"/>
              </a:ext>
            </a:extLst>
          </p:cNvPr>
          <p:cNvSpPr>
            <a:spLocks noChangeArrowheads="1"/>
          </p:cNvSpPr>
          <p:nvPr/>
        </p:nvSpPr>
        <p:spPr bwMode="auto">
          <a:xfrm>
            <a:off x="3215311" y="3429577"/>
            <a:ext cx="360363" cy="360363"/>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b</a:t>
            </a:r>
          </a:p>
        </p:txBody>
      </p:sp>
      <p:sp>
        <p:nvSpPr>
          <p:cNvPr id="21" name="Rectangle 21">
            <a:extLst>
              <a:ext uri="{FF2B5EF4-FFF2-40B4-BE49-F238E27FC236}">
                <a16:creationId xmlns:a16="http://schemas.microsoft.com/office/drawing/2014/main" id="{C320437A-2130-B0D4-8EA2-AEF8FD5DAA76}"/>
              </a:ext>
            </a:extLst>
          </p:cNvPr>
          <p:cNvSpPr>
            <a:spLocks noChangeArrowheads="1"/>
          </p:cNvSpPr>
          <p:nvPr/>
        </p:nvSpPr>
        <p:spPr bwMode="auto">
          <a:xfrm>
            <a:off x="5105990" y="3248998"/>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c</a:t>
            </a:r>
          </a:p>
        </p:txBody>
      </p:sp>
      <p:pic>
        <p:nvPicPr>
          <p:cNvPr id="15" name="Picture 6" descr="AND">
            <a:extLst>
              <a:ext uri="{FF2B5EF4-FFF2-40B4-BE49-F238E27FC236}">
                <a16:creationId xmlns:a16="http://schemas.microsoft.com/office/drawing/2014/main" id="{C4785CDC-BCF4-7A34-A683-C4B224C5FA0A}"/>
              </a:ext>
            </a:extLst>
          </p:cNvPr>
          <p:cNvPicPr>
            <a:picLocks noChangeAspect="1" noChangeArrowheads="1"/>
          </p:cNvPicPr>
          <p:nvPr/>
        </p:nvPicPr>
        <p:blipFill>
          <a:blip r:embed="rId3" cstate="print"/>
          <a:srcRect/>
          <a:stretch>
            <a:fillRect/>
          </a:stretch>
        </p:blipFill>
        <p:spPr bwMode="auto">
          <a:xfrm>
            <a:off x="3845975" y="3068997"/>
            <a:ext cx="1079500" cy="720725"/>
          </a:xfrm>
          <a:prstGeom prst="rect">
            <a:avLst/>
          </a:prstGeom>
          <a:noFill/>
        </p:spPr>
      </p:pic>
      <p:graphicFrame>
        <p:nvGraphicFramePr>
          <p:cNvPr id="23" name="Group 383">
            <a:extLst>
              <a:ext uri="{FF2B5EF4-FFF2-40B4-BE49-F238E27FC236}">
                <a16:creationId xmlns:a16="http://schemas.microsoft.com/office/drawing/2014/main" id="{5C9AE3F8-8A00-CB57-32D8-5F137F45DA83}"/>
              </a:ext>
            </a:extLst>
          </p:cNvPr>
          <p:cNvGraphicFramePr>
            <a:graphicFrameLocks/>
          </p:cNvGraphicFramePr>
          <p:nvPr>
            <p:extLst>
              <p:ext uri="{D42A27DB-BD31-4B8C-83A1-F6EECF244321}">
                <p14:modId xmlns:p14="http://schemas.microsoft.com/office/powerpoint/2010/main" val="2410636230"/>
              </p:ext>
            </p:extLst>
          </p:nvPr>
        </p:nvGraphicFramePr>
        <p:xfrm>
          <a:off x="3485971" y="414900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4" name="Rectangle 21">
            <a:extLst>
              <a:ext uri="{FF2B5EF4-FFF2-40B4-BE49-F238E27FC236}">
                <a16:creationId xmlns:a16="http://schemas.microsoft.com/office/drawing/2014/main" id="{E243797F-A5ED-FB45-D3D8-81750EBAB538}"/>
              </a:ext>
            </a:extLst>
          </p:cNvPr>
          <p:cNvSpPr>
            <a:spLocks noChangeArrowheads="1"/>
          </p:cNvSpPr>
          <p:nvPr/>
        </p:nvSpPr>
        <p:spPr bwMode="auto">
          <a:xfrm>
            <a:off x="4115979" y="2708992"/>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AND</a:t>
            </a:r>
          </a:p>
        </p:txBody>
      </p:sp>
      <p:sp>
        <p:nvSpPr>
          <p:cNvPr id="25" name="Rectangle 21">
            <a:extLst>
              <a:ext uri="{FF2B5EF4-FFF2-40B4-BE49-F238E27FC236}">
                <a16:creationId xmlns:a16="http://schemas.microsoft.com/office/drawing/2014/main" id="{226A9DDC-F076-8A5F-4B6E-2230245770FC}"/>
              </a:ext>
            </a:extLst>
          </p:cNvPr>
          <p:cNvSpPr>
            <a:spLocks noChangeArrowheads="1"/>
          </p:cNvSpPr>
          <p:nvPr/>
        </p:nvSpPr>
        <p:spPr bwMode="auto">
          <a:xfrm>
            <a:off x="7356015" y="2708992"/>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NAND</a:t>
            </a:r>
          </a:p>
        </p:txBody>
      </p:sp>
    </p:spTree>
    <p:extLst>
      <p:ext uri="{BB962C8B-B14F-4D97-AF65-F5344CB8AC3E}">
        <p14:creationId xmlns:p14="http://schemas.microsoft.com/office/powerpoint/2010/main" val="20949898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sz="2800" dirty="0"/>
              <a:t>NAND </a:t>
            </a:r>
            <a:r>
              <a:rPr lang="ja-JP" altLang="en-US" sz="2800" dirty="0"/>
              <a:t>ゲート</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775952" y="908973"/>
            <a:ext cx="8280092" cy="630007"/>
          </a:xfrm>
        </p:spPr>
        <p:txBody>
          <a:bodyPr/>
          <a:lstStyle/>
          <a:p>
            <a:r>
              <a:rPr kumimoji="1" lang="ja-JP" altLang="en-US" dirty="0"/>
              <a:t>右のように接続すると</a:t>
            </a:r>
            <a:br>
              <a:rPr kumimoji="1" lang="en-US" altLang="ja-JP" dirty="0"/>
            </a:br>
            <a:r>
              <a:rPr kumimoji="1" lang="en-US" altLang="ja-JP" dirty="0"/>
              <a:t>NAND </a:t>
            </a:r>
            <a:r>
              <a:rPr kumimoji="1" lang="ja-JP" altLang="en-US" dirty="0"/>
              <a:t>ゲートが作れる</a:t>
            </a:r>
            <a:endParaRPr kumimoji="1" lang="en-US"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6633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6633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6723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8163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6723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8163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8163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9603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4833326"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780335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6363343"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6363343"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10323387"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7803359"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6453344" y="458968"/>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9333376" y="458968"/>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extLst>
              <p:ext uri="{D42A27DB-BD31-4B8C-83A1-F6EECF244321}">
                <p14:modId xmlns:p14="http://schemas.microsoft.com/office/powerpoint/2010/main" val="101556008"/>
              </p:ext>
            </p:extLst>
          </p:nvPr>
        </p:nvGraphicFramePr>
        <p:xfrm>
          <a:off x="2765963" y="3429000"/>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33" name="Line 9">
            <a:extLst>
              <a:ext uri="{FF2B5EF4-FFF2-40B4-BE49-F238E27FC236}">
                <a16:creationId xmlns:a16="http://schemas.microsoft.com/office/drawing/2014/main" id="{7C290A15-73EA-1938-FE29-B1E6F989A659}"/>
              </a:ext>
            </a:extLst>
          </p:cNvPr>
          <p:cNvSpPr>
            <a:spLocks noChangeShapeType="1"/>
          </p:cNvSpPr>
          <p:nvPr/>
        </p:nvSpPr>
        <p:spPr bwMode="auto">
          <a:xfrm>
            <a:off x="2855665"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4" name="Line 10">
            <a:extLst>
              <a:ext uri="{FF2B5EF4-FFF2-40B4-BE49-F238E27FC236}">
                <a16:creationId xmlns:a16="http://schemas.microsoft.com/office/drawing/2014/main" id="{D30C1346-AA15-54DF-870F-EEF6D6EA322C}"/>
              </a:ext>
            </a:extLst>
          </p:cNvPr>
          <p:cNvSpPr>
            <a:spLocks noChangeShapeType="1"/>
          </p:cNvSpPr>
          <p:nvPr/>
        </p:nvSpPr>
        <p:spPr bwMode="auto">
          <a:xfrm>
            <a:off x="2855665"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5" name="Line 11">
            <a:extLst>
              <a:ext uri="{FF2B5EF4-FFF2-40B4-BE49-F238E27FC236}">
                <a16:creationId xmlns:a16="http://schemas.microsoft.com/office/drawing/2014/main" id="{C5E86058-9021-644D-EBD2-53F1B678DBC6}"/>
              </a:ext>
            </a:extLst>
          </p:cNvPr>
          <p:cNvSpPr>
            <a:spLocks noChangeShapeType="1"/>
          </p:cNvSpPr>
          <p:nvPr/>
        </p:nvSpPr>
        <p:spPr bwMode="auto">
          <a:xfrm>
            <a:off x="3935976"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6" name="Rectangle 18">
            <a:extLst>
              <a:ext uri="{FF2B5EF4-FFF2-40B4-BE49-F238E27FC236}">
                <a16:creationId xmlns:a16="http://schemas.microsoft.com/office/drawing/2014/main" id="{1A9E5224-72AD-D756-3924-C535C63E6842}"/>
              </a:ext>
            </a:extLst>
          </p:cNvPr>
          <p:cNvSpPr>
            <a:spLocks noChangeArrowheads="1"/>
          </p:cNvSpPr>
          <p:nvPr/>
        </p:nvSpPr>
        <p:spPr bwMode="auto">
          <a:xfrm>
            <a:off x="2495303" y="2350794"/>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237" name="Rectangle 20">
            <a:extLst>
              <a:ext uri="{FF2B5EF4-FFF2-40B4-BE49-F238E27FC236}">
                <a16:creationId xmlns:a16="http://schemas.microsoft.com/office/drawing/2014/main" id="{EFCD0B20-8ED0-0F37-F223-0B41A75A6923}"/>
              </a:ext>
            </a:extLst>
          </p:cNvPr>
          <p:cNvSpPr>
            <a:spLocks noChangeArrowheads="1"/>
          </p:cNvSpPr>
          <p:nvPr/>
        </p:nvSpPr>
        <p:spPr bwMode="auto">
          <a:xfrm>
            <a:off x="2495303" y="2709569"/>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238" name="Rectangle 21">
            <a:extLst>
              <a:ext uri="{FF2B5EF4-FFF2-40B4-BE49-F238E27FC236}">
                <a16:creationId xmlns:a16="http://schemas.microsoft.com/office/drawing/2014/main" id="{D809770E-4485-1EEA-3D22-37AF747BC4B5}"/>
              </a:ext>
            </a:extLst>
          </p:cNvPr>
          <p:cNvSpPr>
            <a:spLocks noChangeArrowheads="1"/>
          </p:cNvSpPr>
          <p:nvPr/>
        </p:nvSpPr>
        <p:spPr bwMode="auto">
          <a:xfrm>
            <a:off x="4562870" y="2440180"/>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c</a:t>
            </a:r>
          </a:p>
        </p:txBody>
      </p:sp>
      <p:grpSp>
        <p:nvGrpSpPr>
          <p:cNvPr id="240" name="グループ化 239">
            <a:extLst>
              <a:ext uri="{FF2B5EF4-FFF2-40B4-BE49-F238E27FC236}">
                <a16:creationId xmlns:a16="http://schemas.microsoft.com/office/drawing/2014/main" id="{64DC05BE-F391-47A1-1C07-B7685C59B819}"/>
              </a:ext>
            </a:extLst>
          </p:cNvPr>
          <p:cNvGrpSpPr/>
          <p:nvPr/>
        </p:nvGrpSpPr>
        <p:grpSpPr>
          <a:xfrm>
            <a:off x="5193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8073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pic>
        <p:nvPicPr>
          <p:cNvPr id="271" name="Picture 83" descr="NAND">
            <a:extLst>
              <a:ext uri="{FF2B5EF4-FFF2-40B4-BE49-F238E27FC236}">
                <a16:creationId xmlns:a16="http://schemas.microsoft.com/office/drawing/2014/main" id="{74CA9A92-CCBF-2F74-4E80-87FB436A6EEB}"/>
              </a:ext>
            </a:extLst>
          </p:cNvPr>
          <p:cNvPicPr>
            <a:picLocks noChangeAspect="1" noChangeArrowheads="1"/>
          </p:cNvPicPr>
          <p:nvPr/>
        </p:nvPicPr>
        <p:blipFill>
          <a:blip r:embed="rId2" cstate="print"/>
          <a:srcRect/>
          <a:stretch>
            <a:fillRect/>
          </a:stretch>
        </p:blipFill>
        <p:spPr bwMode="auto">
          <a:xfrm>
            <a:off x="3125967" y="2348989"/>
            <a:ext cx="1079500" cy="720725"/>
          </a:xfrm>
          <a:prstGeom prst="rect">
            <a:avLst/>
          </a:prstGeom>
          <a:noFill/>
        </p:spPr>
      </p:pic>
    </p:spTree>
    <p:extLst>
      <p:ext uri="{BB962C8B-B14F-4D97-AF65-F5344CB8AC3E}">
        <p14:creationId xmlns:p14="http://schemas.microsoft.com/office/powerpoint/2010/main" val="2639299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p:txBody>
          <a:bodyPr/>
          <a:lstStyle/>
          <a:p>
            <a:r>
              <a:rPr lang="en-US" sz="2800" dirty="0"/>
              <a:t>NAND </a:t>
            </a:r>
            <a:r>
              <a:rPr lang="ja-JP" altLang="en-US" sz="2800" dirty="0"/>
              <a:t>ゲートの動作</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685951" y="3969007"/>
            <a:ext cx="8280092" cy="630007"/>
          </a:xfrm>
        </p:spPr>
        <p:txBody>
          <a:bodyPr anchor="t"/>
          <a:lstStyle/>
          <a:p>
            <a:r>
              <a:rPr kumimoji="1" lang="ja-JP" altLang="en-US" dirty="0"/>
              <a:t>上側の </a:t>
            </a:r>
            <a:r>
              <a:rPr kumimoji="1" lang="en-US" altLang="ja-JP" dirty="0"/>
              <a:t>P</a:t>
            </a:r>
            <a:r>
              <a:rPr lang="en-US" altLang="ja-JP" dirty="0"/>
              <a:t> </a:t>
            </a:r>
            <a:r>
              <a:rPr lang="ja-JP" altLang="en-US" dirty="0"/>
              <a:t>型２つは並列接続</a:t>
            </a:r>
            <a:endParaRPr lang="en-US" altLang="ja-JP" dirty="0"/>
          </a:p>
          <a:p>
            <a:pPr lvl="1"/>
            <a:r>
              <a:rPr lang="en-US" altLang="ja-JP" dirty="0"/>
              <a:t>a </a:t>
            </a:r>
            <a:r>
              <a:rPr lang="ja-JP" altLang="en-US" dirty="0"/>
              <a:t>と </a:t>
            </a:r>
            <a:r>
              <a:rPr lang="en-US" altLang="ja-JP" dirty="0"/>
              <a:t>b</a:t>
            </a:r>
            <a:r>
              <a:rPr lang="ja-JP" altLang="en-US" dirty="0"/>
              <a:t>どちらか片方の入力に</a:t>
            </a:r>
            <a:br>
              <a:rPr lang="en-US" altLang="ja-JP" dirty="0"/>
            </a:br>
            <a:r>
              <a:rPr lang="en-US" altLang="ja-JP" dirty="0"/>
              <a:t>0 </a:t>
            </a:r>
            <a:r>
              <a:rPr lang="ja-JP" altLang="en-US" dirty="0"/>
              <a:t>が入ると </a:t>
            </a:r>
            <a:r>
              <a:rPr lang="en-US" altLang="ja-JP" dirty="0"/>
              <a:t>VDD </a:t>
            </a:r>
            <a:r>
              <a:rPr lang="ja-JP" altLang="en-US" dirty="0"/>
              <a:t>を </a:t>
            </a:r>
            <a:r>
              <a:rPr lang="en-US" altLang="ja-JP" dirty="0"/>
              <a:t>c </a:t>
            </a:r>
            <a:r>
              <a:rPr lang="ja-JP" altLang="en-US" dirty="0"/>
              <a:t>に接続</a:t>
            </a:r>
            <a:endParaRPr lang="en-US" altLang="ja-JP" dirty="0"/>
          </a:p>
          <a:p>
            <a:r>
              <a:rPr kumimoji="1" lang="ja-JP" altLang="en-US" dirty="0"/>
              <a:t>下側の </a:t>
            </a:r>
            <a:r>
              <a:rPr kumimoji="1" lang="en-US" altLang="ja-JP" dirty="0"/>
              <a:t>N </a:t>
            </a:r>
            <a:r>
              <a:rPr kumimoji="1" lang="ja-JP" altLang="en-US" dirty="0"/>
              <a:t>型２つは直列接続</a:t>
            </a:r>
            <a:endParaRPr kumimoji="1" lang="en-US" altLang="ja-JP" dirty="0"/>
          </a:p>
          <a:p>
            <a:pPr lvl="1"/>
            <a:r>
              <a:rPr kumimoji="1" lang="en-US" altLang="ja-JP" dirty="0"/>
              <a:t>a </a:t>
            </a:r>
            <a:r>
              <a:rPr kumimoji="1" lang="ja-JP" altLang="en-US" dirty="0"/>
              <a:t>と </a:t>
            </a:r>
            <a:r>
              <a:rPr kumimoji="1" lang="en-US" altLang="ja-JP" dirty="0"/>
              <a:t>b </a:t>
            </a:r>
            <a:r>
              <a:rPr kumimoji="1" lang="ja-JP" altLang="en-US" dirty="0"/>
              <a:t>双方の入力に１が入ると</a:t>
            </a:r>
            <a:br>
              <a:rPr kumimoji="1" lang="en-US" altLang="ja-JP" dirty="0"/>
            </a:br>
            <a:r>
              <a:rPr kumimoji="1" lang="en-US" altLang="ja-JP" dirty="0"/>
              <a:t>2</a:t>
            </a:r>
            <a:r>
              <a:rPr kumimoji="1" lang="ja-JP" altLang="en-US" dirty="0"/>
              <a:t>つとも </a:t>
            </a:r>
            <a:r>
              <a:rPr kumimoji="1" lang="en-US" altLang="ja-JP" dirty="0"/>
              <a:t>ON </a:t>
            </a:r>
            <a:r>
              <a:rPr kumimoji="1" lang="ja-JP" altLang="en-US" dirty="0"/>
              <a:t>になって </a:t>
            </a:r>
            <a:r>
              <a:rPr kumimoji="1" lang="en-US" altLang="ja-JP" dirty="0"/>
              <a:t>GND </a:t>
            </a:r>
            <a:r>
              <a:rPr kumimoji="1" lang="ja-JP" altLang="en-US" dirty="0"/>
              <a:t>を </a:t>
            </a:r>
            <a:r>
              <a:rPr kumimoji="1" lang="en-US" altLang="ja-JP" dirty="0"/>
              <a:t>c </a:t>
            </a:r>
            <a:r>
              <a:rPr kumimoji="1" lang="ja-JP" altLang="en-US" dirty="0"/>
              <a:t>に接続</a:t>
            </a:r>
            <a:endParaRPr kumimoji="1" lang="en-US" altLang="ja-JP"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6633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6633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6723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8163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6723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8163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8163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9603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4833326"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780335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6363343"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6363343"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10323387"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7803359"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6453344" y="458968"/>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9333376" y="458968"/>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extLst>
              <p:ext uri="{D42A27DB-BD31-4B8C-83A1-F6EECF244321}">
                <p14:modId xmlns:p14="http://schemas.microsoft.com/office/powerpoint/2010/main" val="1433710083"/>
              </p:ext>
            </p:extLst>
          </p:nvPr>
        </p:nvGraphicFramePr>
        <p:xfrm>
          <a:off x="2495960" y="1268976"/>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pSp>
        <p:nvGrpSpPr>
          <p:cNvPr id="240" name="グループ化 239">
            <a:extLst>
              <a:ext uri="{FF2B5EF4-FFF2-40B4-BE49-F238E27FC236}">
                <a16:creationId xmlns:a16="http://schemas.microsoft.com/office/drawing/2014/main" id="{64DC05BE-F391-47A1-1C07-B7685C59B819}"/>
              </a:ext>
            </a:extLst>
          </p:cNvPr>
          <p:cNvGrpSpPr/>
          <p:nvPr/>
        </p:nvGrpSpPr>
        <p:grpSpPr>
          <a:xfrm>
            <a:off x="5193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8073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4809071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en-US" altLang="ja-JP" dirty="0"/>
              <a:t>NOT </a:t>
            </a:r>
            <a:r>
              <a:rPr lang="ja-JP" altLang="en-US" dirty="0"/>
              <a:t>と </a:t>
            </a:r>
            <a:r>
              <a:rPr lang="en-US" altLang="ja-JP" dirty="0"/>
              <a:t>NAND </a:t>
            </a:r>
            <a:r>
              <a:rPr lang="ja-JP" altLang="en-US" dirty="0"/>
              <a:t>から </a:t>
            </a:r>
            <a:r>
              <a:rPr lang="en-US" altLang="ja-JP" dirty="0"/>
              <a:t>AND </a:t>
            </a:r>
            <a:r>
              <a:rPr lang="ja-JP" altLang="en-US" dirty="0"/>
              <a:t>と </a:t>
            </a:r>
            <a:r>
              <a:rPr lang="en-US" altLang="ja-JP" dirty="0"/>
              <a:t>OR </a:t>
            </a:r>
            <a:r>
              <a:rPr lang="ja-JP" altLang="en-US" dirty="0"/>
              <a:t>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type="body" sz="quarter" idx="10"/>
          </p:nvPr>
        </p:nvSpPr>
        <p:spPr>
          <a:xfrm>
            <a:off x="2135956" y="1088974"/>
            <a:ext cx="8280092" cy="720008"/>
          </a:xfrm>
        </p:spPr>
        <p:txBody>
          <a:bodyPr/>
          <a:lstStyle/>
          <a:p>
            <a:r>
              <a:rPr lang="en-US" dirty="0"/>
              <a:t>NAND </a:t>
            </a:r>
            <a:r>
              <a:rPr lang="ja-JP" altLang="en-US" dirty="0"/>
              <a:t>の出力に </a:t>
            </a:r>
            <a:r>
              <a:rPr lang="en-US" altLang="ja-JP" dirty="0"/>
              <a:t>NOT </a:t>
            </a:r>
            <a:r>
              <a:rPr lang="ja-JP" altLang="en-US" dirty="0"/>
              <a:t>をつけると </a:t>
            </a:r>
            <a:r>
              <a:rPr lang="en-US" altLang="ja-JP" dirty="0"/>
              <a:t>AND </a:t>
            </a:r>
            <a:r>
              <a:rPr lang="ja-JP" altLang="en-US" dirty="0"/>
              <a:t>が作れる</a:t>
            </a:r>
            <a:endParaRPr lang="en-US"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33</a:t>
            </a:fld>
            <a:endParaRPr kumimoji="1" lang="ja-JP" altLang="en-US" dirty="0"/>
          </a:p>
        </p:txBody>
      </p:sp>
      <p:sp>
        <p:nvSpPr>
          <p:cNvPr id="7" name="Line 9">
            <a:extLst>
              <a:ext uri="{FF2B5EF4-FFF2-40B4-BE49-F238E27FC236}">
                <a16:creationId xmlns:a16="http://schemas.microsoft.com/office/drawing/2014/main" id="{C2642822-A79B-70BD-E955-CB71CB4273E8}"/>
              </a:ext>
            </a:extLst>
          </p:cNvPr>
          <p:cNvSpPr>
            <a:spLocks noChangeShapeType="1"/>
          </p:cNvSpPr>
          <p:nvPr/>
        </p:nvSpPr>
        <p:spPr bwMode="auto">
          <a:xfrm>
            <a:off x="3125668"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a:extLst>
              <a:ext uri="{FF2B5EF4-FFF2-40B4-BE49-F238E27FC236}">
                <a16:creationId xmlns:a16="http://schemas.microsoft.com/office/drawing/2014/main" id="{CD32B842-1826-B619-84D2-AC0C58A04866}"/>
              </a:ext>
            </a:extLst>
          </p:cNvPr>
          <p:cNvSpPr>
            <a:spLocks noChangeShapeType="1"/>
          </p:cNvSpPr>
          <p:nvPr/>
        </p:nvSpPr>
        <p:spPr bwMode="auto">
          <a:xfrm>
            <a:off x="3125668"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a:extLst>
              <a:ext uri="{FF2B5EF4-FFF2-40B4-BE49-F238E27FC236}">
                <a16:creationId xmlns:a16="http://schemas.microsoft.com/office/drawing/2014/main" id="{001DB7CF-87F0-51D0-7807-0C0F5F683030}"/>
              </a:ext>
            </a:extLst>
          </p:cNvPr>
          <p:cNvSpPr>
            <a:spLocks noChangeShapeType="1"/>
          </p:cNvSpPr>
          <p:nvPr/>
        </p:nvSpPr>
        <p:spPr bwMode="auto">
          <a:xfrm>
            <a:off x="4205979"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3" name="Picture 83" descr="NAND">
            <a:extLst>
              <a:ext uri="{FF2B5EF4-FFF2-40B4-BE49-F238E27FC236}">
                <a16:creationId xmlns:a16="http://schemas.microsoft.com/office/drawing/2014/main" id="{E79F2BF4-D406-657A-51C7-B97D95ECD106}"/>
              </a:ext>
            </a:extLst>
          </p:cNvPr>
          <p:cNvPicPr>
            <a:picLocks noChangeAspect="1" noChangeArrowheads="1"/>
          </p:cNvPicPr>
          <p:nvPr/>
        </p:nvPicPr>
        <p:blipFill>
          <a:blip r:embed="rId2" cstate="print"/>
          <a:srcRect/>
          <a:stretch>
            <a:fillRect/>
          </a:stretch>
        </p:blipFill>
        <p:spPr bwMode="auto">
          <a:xfrm>
            <a:off x="3395970" y="2348989"/>
            <a:ext cx="1079500" cy="720725"/>
          </a:xfrm>
          <a:prstGeom prst="rect">
            <a:avLst/>
          </a:prstGeom>
          <a:noFill/>
        </p:spPr>
      </p:pic>
      <p:pic>
        <p:nvPicPr>
          <p:cNvPr id="14" name="Picture 28" descr="NOT">
            <a:extLst>
              <a:ext uri="{FF2B5EF4-FFF2-40B4-BE49-F238E27FC236}">
                <a16:creationId xmlns:a16="http://schemas.microsoft.com/office/drawing/2014/main" id="{0CE3F9C9-DBBA-5AA2-30E4-E09334271194}"/>
              </a:ext>
            </a:extLst>
          </p:cNvPr>
          <p:cNvPicPr>
            <a:picLocks noChangeAspect="1" noChangeArrowheads="1"/>
          </p:cNvPicPr>
          <p:nvPr/>
        </p:nvPicPr>
        <p:blipFill>
          <a:blip r:embed="rId3" cstate="print"/>
          <a:srcRect/>
          <a:stretch>
            <a:fillRect/>
          </a:stretch>
        </p:blipFill>
        <p:spPr bwMode="auto">
          <a:xfrm>
            <a:off x="4565983" y="2348989"/>
            <a:ext cx="717550" cy="720725"/>
          </a:xfrm>
          <a:prstGeom prst="rect">
            <a:avLst/>
          </a:prstGeom>
          <a:noFill/>
        </p:spPr>
      </p:pic>
      <p:sp>
        <p:nvSpPr>
          <p:cNvPr id="15" name="Line 10">
            <a:extLst>
              <a:ext uri="{FF2B5EF4-FFF2-40B4-BE49-F238E27FC236}">
                <a16:creationId xmlns:a16="http://schemas.microsoft.com/office/drawing/2014/main" id="{812ADCC5-0901-AA5D-ACCA-4C87D2638C79}"/>
              </a:ext>
            </a:extLst>
          </p:cNvPr>
          <p:cNvSpPr>
            <a:spLocks noChangeShapeType="1"/>
          </p:cNvSpPr>
          <p:nvPr/>
        </p:nvSpPr>
        <p:spPr bwMode="auto">
          <a:xfrm>
            <a:off x="5195990"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6" name="Line 9">
            <a:extLst>
              <a:ext uri="{FF2B5EF4-FFF2-40B4-BE49-F238E27FC236}">
                <a16:creationId xmlns:a16="http://schemas.microsoft.com/office/drawing/2014/main" id="{063E625C-6D59-67C6-A221-55F27DC82DBF}"/>
              </a:ext>
            </a:extLst>
          </p:cNvPr>
          <p:cNvSpPr>
            <a:spLocks noChangeShapeType="1"/>
          </p:cNvSpPr>
          <p:nvPr/>
        </p:nvSpPr>
        <p:spPr bwMode="auto">
          <a:xfrm>
            <a:off x="7175713"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7" name="Line 10">
            <a:extLst>
              <a:ext uri="{FF2B5EF4-FFF2-40B4-BE49-F238E27FC236}">
                <a16:creationId xmlns:a16="http://schemas.microsoft.com/office/drawing/2014/main" id="{1131ABAB-4A1B-3A63-002D-0DCEB272AAA0}"/>
              </a:ext>
            </a:extLst>
          </p:cNvPr>
          <p:cNvSpPr>
            <a:spLocks noChangeShapeType="1"/>
          </p:cNvSpPr>
          <p:nvPr/>
        </p:nvSpPr>
        <p:spPr bwMode="auto">
          <a:xfrm>
            <a:off x="7175713"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6BEFE770-1359-D8AE-E6F9-49F4A46B0634}"/>
              </a:ext>
            </a:extLst>
          </p:cNvPr>
          <p:cNvSpPr>
            <a:spLocks noChangeShapeType="1"/>
          </p:cNvSpPr>
          <p:nvPr/>
        </p:nvSpPr>
        <p:spPr bwMode="auto">
          <a:xfrm>
            <a:off x="8256024"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9" name="Picture 6" descr="AND">
            <a:extLst>
              <a:ext uri="{FF2B5EF4-FFF2-40B4-BE49-F238E27FC236}">
                <a16:creationId xmlns:a16="http://schemas.microsoft.com/office/drawing/2014/main" id="{64A34DDF-F918-A675-8F79-E725D887D9D0}"/>
              </a:ext>
            </a:extLst>
          </p:cNvPr>
          <p:cNvPicPr>
            <a:picLocks noChangeAspect="1" noChangeArrowheads="1"/>
          </p:cNvPicPr>
          <p:nvPr/>
        </p:nvPicPr>
        <p:blipFill>
          <a:blip r:embed="rId4" cstate="print"/>
          <a:srcRect/>
          <a:stretch>
            <a:fillRect/>
          </a:stretch>
        </p:blipFill>
        <p:spPr bwMode="auto">
          <a:xfrm>
            <a:off x="7446015" y="2348989"/>
            <a:ext cx="1079500" cy="720725"/>
          </a:xfrm>
          <a:prstGeom prst="rect">
            <a:avLst/>
          </a:prstGeom>
          <a:noFill/>
        </p:spPr>
      </p:pic>
      <p:sp>
        <p:nvSpPr>
          <p:cNvPr id="24" name="コンテンツ プレースホルダー 5">
            <a:extLst>
              <a:ext uri="{FF2B5EF4-FFF2-40B4-BE49-F238E27FC236}">
                <a16:creationId xmlns:a16="http://schemas.microsoft.com/office/drawing/2014/main" id="{A85D13F4-CAAA-2DF7-81A2-9D77E9850BF7}"/>
              </a:ext>
            </a:extLst>
          </p:cNvPr>
          <p:cNvSpPr txBox="1">
            <a:spLocks/>
          </p:cNvSpPr>
          <p:nvPr/>
        </p:nvSpPr>
        <p:spPr bwMode="auto">
          <a:xfrm>
            <a:off x="2135956" y="3879005"/>
            <a:ext cx="8280092" cy="72000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AND </a:t>
            </a:r>
            <a:r>
              <a:rPr lang="ja-JP" altLang="en-US" kern="0" dirty="0"/>
              <a:t>の入力と出力に </a:t>
            </a:r>
            <a:r>
              <a:rPr lang="en-US" altLang="ja-JP" kern="0" dirty="0"/>
              <a:t>NOT </a:t>
            </a:r>
            <a:r>
              <a:rPr lang="ja-JP" altLang="en-US" kern="0" dirty="0"/>
              <a:t>をつけると </a:t>
            </a:r>
            <a:r>
              <a:rPr lang="en-US" altLang="ja-JP" kern="0" dirty="0"/>
              <a:t>OR </a:t>
            </a:r>
            <a:r>
              <a:rPr lang="ja-JP" altLang="en-US" kern="0" dirty="0"/>
              <a:t>が作れる</a:t>
            </a:r>
            <a:endParaRPr lang="en-US" altLang="ja-JP" kern="0" dirty="0"/>
          </a:p>
          <a:p>
            <a:pPr lvl="1"/>
            <a:r>
              <a:rPr lang="ja-JP" altLang="en-US" kern="0" dirty="0"/>
              <a:t>ド・モルガンの定理：  </a:t>
            </a:r>
            <a:r>
              <a:rPr lang="en-US" altLang="ja-JP" kern="0" dirty="0"/>
              <a:t>	NOT(</a:t>
            </a:r>
            <a:r>
              <a:rPr lang="en-US" altLang="ja-JP" i="1" kern="0" dirty="0"/>
              <a:t>a</a:t>
            </a:r>
            <a:r>
              <a:rPr lang="en-US" altLang="ja-JP" kern="0" dirty="0"/>
              <a:t> OR </a:t>
            </a:r>
            <a:r>
              <a:rPr lang="en-US" altLang="ja-JP" i="1" kern="0" dirty="0"/>
              <a:t>b</a:t>
            </a:r>
            <a:r>
              <a:rPr lang="en-US" altLang="ja-JP" kern="0" dirty="0"/>
              <a:t>) = NOT(</a:t>
            </a:r>
            <a:r>
              <a:rPr lang="en-US" altLang="ja-JP" i="1" kern="0" dirty="0"/>
              <a:t>a</a:t>
            </a:r>
            <a:r>
              <a:rPr lang="en-US" altLang="ja-JP" kern="0" dirty="0"/>
              <a:t>) AND NOT(</a:t>
            </a:r>
            <a:r>
              <a:rPr lang="en-US" altLang="ja-JP" i="1" kern="0" dirty="0"/>
              <a:t>b</a:t>
            </a:r>
            <a:r>
              <a:rPr lang="en-US" altLang="ja-JP" kern="0" dirty="0"/>
              <a:t>)</a:t>
            </a:r>
          </a:p>
          <a:p>
            <a:pPr lvl="1"/>
            <a:r>
              <a:rPr lang="ja-JP" altLang="en-US" kern="0" dirty="0"/>
              <a:t>両辺に </a:t>
            </a:r>
            <a:r>
              <a:rPr lang="en-US" altLang="ja-JP" kern="0" dirty="0"/>
              <a:t>NOT </a:t>
            </a:r>
            <a:r>
              <a:rPr lang="ja-JP" altLang="en-US" kern="0" dirty="0"/>
              <a:t>を適用：</a:t>
            </a:r>
            <a:r>
              <a:rPr lang="en-US" altLang="ja-JP" kern="0" dirty="0"/>
              <a:t>	</a:t>
            </a:r>
            <a:r>
              <a:rPr lang="en-US" altLang="ja-JP" i="1" kern="0" dirty="0"/>
              <a:t>a</a:t>
            </a:r>
            <a:r>
              <a:rPr lang="en-US" altLang="ja-JP" kern="0" dirty="0"/>
              <a:t> OR </a:t>
            </a:r>
            <a:r>
              <a:rPr lang="en-US" altLang="ja-JP" i="1" kern="0" dirty="0"/>
              <a:t>b</a:t>
            </a:r>
            <a:r>
              <a:rPr lang="en-US" altLang="ja-JP" kern="0" dirty="0"/>
              <a:t> = NOT(NOT(</a:t>
            </a:r>
            <a:r>
              <a:rPr lang="en-US" altLang="ja-JP" i="1" kern="0" dirty="0"/>
              <a:t>a</a:t>
            </a:r>
            <a:r>
              <a:rPr lang="en-US" altLang="ja-JP" kern="0" dirty="0"/>
              <a:t>) AND NOT (</a:t>
            </a:r>
            <a:r>
              <a:rPr lang="en-US" altLang="ja-JP" i="1" kern="0" dirty="0"/>
              <a:t>b</a:t>
            </a:r>
            <a:r>
              <a:rPr lang="en-US" altLang="ja-JP" kern="0" dirty="0"/>
              <a:t>))</a:t>
            </a:r>
            <a:endParaRPr lang="en-US" kern="0" dirty="0"/>
          </a:p>
        </p:txBody>
      </p:sp>
      <p:sp>
        <p:nvSpPr>
          <p:cNvPr id="25" name="Rectangle 21">
            <a:extLst>
              <a:ext uri="{FF2B5EF4-FFF2-40B4-BE49-F238E27FC236}">
                <a16:creationId xmlns:a16="http://schemas.microsoft.com/office/drawing/2014/main" id="{008B46BD-E52C-F6B7-319C-D2568B00863E}"/>
              </a:ext>
            </a:extLst>
          </p:cNvPr>
          <p:cNvSpPr>
            <a:spLocks noChangeArrowheads="1"/>
          </p:cNvSpPr>
          <p:nvPr/>
        </p:nvSpPr>
        <p:spPr bwMode="auto">
          <a:xfrm>
            <a:off x="7716019" y="1988984"/>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AND</a:t>
            </a:r>
          </a:p>
        </p:txBody>
      </p:sp>
      <p:sp>
        <p:nvSpPr>
          <p:cNvPr id="26" name="Rectangle 21">
            <a:extLst>
              <a:ext uri="{FF2B5EF4-FFF2-40B4-BE49-F238E27FC236}">
                <a16:creationId xmlns:a16="http://schemas.microsoft.com/office/drawing/2014/main" id="{2D7F462D-626B-01D4-4530-9D016B0D27C2}"/>
              </a:ext>
            </a:extLst>
          </p:cNvPr>
          <p:cNvSpPr>
            <a:spLocks noChangeArrowheads="1"/>
          </p:cNvSpPr>
          <p:nvPr/>
        </p:nvSpPr>
        <p:spPr bwMode="auto">
          <a:xfrm>
            <a:off x="3575973" y="1988984"/>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NAND</a:t>
            </a:r>
          </a:p>
        </p:txBody>
      </p:sp>
      <p:sp>
        <p:nvSpPr>
          <p:cNvPr id="28" name="Line 9">
            <a:extLst>
              <a:ext uri="{FF2B5EF4-FFF2-40B4-BE49-F238E27FC236}">
                <a16:creationId xmlns:a16="http://schemas.microsoft.com/office/drawing/2014/main" id="{927B3E68-C394-8821-3AAC-D0DBC63BCB30}"/>
              </a:ext>
            </a:extLst>
          </p:cNvPr>
          <p:cNvSpPr>
            <a:spLocks noChangeShapeType="1"/>
          </p:cNvSpPr>
          <p:nvPr/>
        </p:nvSpPr>
        <p:spPr bwMode="auto">
          <a:xfrm>
            <a:off x="7175713" y="595021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9" name="Line 10">
            <a:extLst>
              <a:ext uri="{FF2B5EF4-FFF2-40B4-BE49-F238E27FC236}">
                <a16:creationId xmlns:a16="http://schemas.microsoft.com/office/drawing/2014/main" id="{AA3F1D11-2616-449F-CED7-ABA7507A01ED}"/>
              </a:ext>
            </a:extLst>
          </p:cNvPr>
          <p:cNvSpPr>
            <a:spLocks noChangeShapeType="1"/>
          </p:cNvSpPr>
          <p:nvPr/>
        </p:nvSpPr>
        <p:spPr bwMode="auto">
          <a:xfrm>
            <a:off x="7175713" y="63105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0" name="Line 11">
            <a:extLst>
              <a:ext uri="{FF2B5EF4-FFF2-40B4-BE49-F238E27FC236}">
                <a16:creationId xmlns:a16="http://schemas.microsoft.com/office/drawing/2014/main" id="{DC3E9F66-2556-59E7-608D-E2762CDA0F33}"/>
              </a:ext>
            </a:extLst>
          </p:cNvPr>
          <p:cNvSpPr>
            <a:spLocks noChangeShapeType="1"/>
          </p:cNvSpPr>
          <p:nvPr/>
        </p:nvSpPr>
        <p:spPr bwMode="auto">
          <a:xfrm>
            <a:off x="8256024"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27" name="Picture 7" descr="OR">
            <a:extLst>
              <a:ext uri="{FF2B5EF4-FFF2-40B4-BE49-F238E27FC236}">
                <a16:creationId xmlns:a16="http://schemas.microsoft.com/office/drawing/2014/main" id="{1376DB9E-C5D3-455B-B0E4-8C7C5B4D25F9}"/>
              </a:ext>
            </a:extLst>
          </p:cNvPr>
          <p:cNvPicPr>
            <a:picLocks noChangeAspect="1" noChangeArrowheads="1"/>
          </p:cNvPicPr>
          <p:nvPr/>
        </p:nvPicPr>
        <p:blipFill>
          <a:blip r:embed="rId5" cstate="print"/>
          <a:srcRect/>
          <a:stretch>
            <a:fillRect/>
          </a:stretch>
        </p:blipFill>
        <p:spPr bwMode="auto">
          <a:xfrm>
            <a:off x="7446015" y="5769026"/>
            <a:ext cx="1079500" cy="717550"/>
          </a:xfrm>
          <a:prstGeom prst="rect">
            <a:avLst/>
          </a:prstGeom>
          <a:noFill/>
        </p:spPr>
      </p:pic>
      <p:sp>
        <p:nvSpPr>
          <p:cNvPr id="31" name="矢印: 右 30">
            <a:extLst>
              <a:ext uri="{FF2B5EF4-FFF2-40B4-BE49-F238E27FC236}">
                <a16:creationId xmlns:a16="http://schemas.microsoft.com/office/drawing/2014/main" id="{35434760-6840-F734-86F1-AA5456EBFB2A}"/>
              </a:ext>
            </a:extLst>
          </p:cNvPr>
          <p:cNvSpPr/>
          <p:nvPr/>
        </p:nvSpPr>
        <p:spPr bwMode="auto">
          <a:xfrm>
            <a:off x="5825998" y="2438989"/>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2" name="Line 9">
            <a:extLst>
              <a:ext uri="{FF2B5EF4-FFF2-40B4-BE49-F238E27FC236}">
                <a16:creationId xmlns:a16="http://schemas.microsoft.com/office/drawing/2014/main" id="{5853BA54-7470-CB27-C4D8-876D6301BC8F}"/>
              </a:ext>
            </a:extLst>
          </p:cNvPr>
          <p:cNvSpPr>
            <a:spLocks noChangeShapeType="1"/>
          </p:cNvSpPr>
          <p:nvPr/>
        </p:nvSpPr>
        <p:spPr bwMode="auto">
          <a:xfrm>
            <a:off x="3215669" y="5950219"/>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3" name="Line 10">
            <a:extLst>
              <a:ext uri="{FF2B5EF4-FFF2-40B4-BE49-F238E27FC236}">
                <a16:creationId xmlns:a16="http://schemas.microsoft.com/office/drawing/2014/main" id="{5E37BAC8-4F26-6247-8BF0-D45C856B17FC}"/>
              </a:ext>
            </a:extLst>
          </p:cNvPr>
          <p:cNvSpPr>
            <a:spLocks noChangeShapeType="1"/>
          </p:cNvSpPr>
          <p:nvPr/>
        </p:nvSpPr>
        <p:spPr bwMode="auto">
          <a:xfrm>
            <a:off x="3215669" y="63105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34" name="Line 11">
            <a:extLst>
              <a:ext uri="{FF2B5EF4-FFF2-40B4-BE49-F238E27FC236}">
                <a16:creationId xmlns:a16="http://schemas.microsoft.com/office/drawing/2014/main" id="{952B6B82-0BF9-9924-891B-F2D4F0E81E1D}"/>
              </a:ext>
            </a:extLst>
          </p:cNvPr>
          <p:cNvSpPr>
            <a:spLocks noChangeShapeType="1"/>
          </p:cNvSpPr>
          <p:nvPr/>
        </p:nvSpPr>
        <p:spPr bwMode="auto">
          <a:xfrm>
            <a:off x="4295980"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35" name="Picture 6" descr="AND">
            <a:extLst>
              <a:ext uri="{FF2B5EF4-FFF2-40B4-BE49-F238E27FC236}">
                <a16:creationId xmlns:a16="http://schemas.microsoft.com/office/drawing/2014/main" id="{91477925-80DB-FD21-B42A-4EA506B7234A}"/>
              </a:ext>
            </a:extLst>
          </p:cNvPr>
          <p:cNvPicPr>
            <a:picLocks noChangeAspect="1" noChangeArrowheads="1"/>
          </p:cNvPicPr>
          <p:nvPr/>
        </p:nvPicPr>
        <p:blipFill>
          <a:blip r:embed="rId4" cstate="print"/>
          <a:srcRect/>
          <a:stretch>
            <a:fillRect/>
          </a:stretch>
        </p:blipFill>
        <p:spPr bwMode="auto">
          <a:xfrm>
            <a:off x="3485971" y="5769027"/>
            <a:ext cx="1079500" cy="720725"/>
          </a:xfrm>
          <a:prstGeom prst="rect">
            <a:avLst/>
          </a:prstGeom>
          <a:noFill/>
        </p:spPr>
      </p:pic>
      <p:sp>
        <p:nvSpPr>
          <p:cNvPr id="36" name="Rectangle 21">
            <a:extLst>
              <a:ext uri="{FF2B5EF4-FFF2-40B4-BE49-F238E27FC236}">
                <a16:creationId xmlns:a16="http://schemas.microsoft.com/office/drawing/2014/main" id="{20CC6A68-C2C3-AEC7-C3D6-324EB4DD8A02}"/>
              </a:ext>
            </a:extLst>
          </p:cNvPr>
          <p:cNvSpPr>
            <a:spLocks noChangeArrowheads="1"/>
          </p:cNvSpPr>
          <p:nvPr/>
        </p:nvSpPr>
        <p:spPr bwMode="auto">
          <a:xfrm>
            <a:off x="3755975" y="5409022"/>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AND</a:t>
            </a:r>
          </a:p>
        </p:txBody>
      </p:sp>
      <p:pic>
        <p:nvPicPr>
          <p:cNvPr id="37" name="Picture 28" descr="NOT">
            <a:extLst>
              <a:ext uri="{FF2B5EF4-FFF2-40B4-BE49-F238E27FC236}">
                <a16:creationId xmlns:a16="http://schemas.microsoft.com/office/drawing/2014/main" id="{EC30B989-BC3C-F3C0-CD54-A8B587DB9F38}"/>
              </a:ext>
            </a:extLst>
          </p:cNvPr>
          <p:cNvPicPr>
            <a:picLocks noChangeAspect="1" noChangeArrowheads="1"/>
          </p:cNvPicPr>
          <p:nvPr/>
        </p:nvPicPr>
        <p:blipFill>
          <a:blip r:embed="rId3" cstate="print"/>
          <a:srcRect/>
          <a:stretch>
            <a:fillRect/>
          </a:stretch>
        </p:blipFill>
        <p:spPr bwMode="auto">
          <a:xfrm>
            <a:off x="2585961" y="5589025"/>
            <a:ext cx="717550" cy="720725"/>
          </a:xfrm>
          <a:prstGeom prst="rect">
            <a:avLst/>
          </a:prstGeom>
          <a:noFill/>
        </p:spPr>
      </p:pic>
      <p:pic>
        <p:nvPicPr>
          <p:cNvPr id="38" name="Picture 28" descr="NOT">
            <a:extLst>
              <a:ext uri="{FF2B5EF4-FFF2-40B4-BE49-F238E27FC236}">
                <a16:creationId xmlns:a16="http://schemas.microsoft.com/office/drawing/2014/main" id="{1D66F7DA-9D68-E9BE-8823-B631431865C5}"/>
              </a:ext>
            </a:extLst>
          </p:cNvPr>
          <p:cNvPicPr>
            <a:picLocks noChangeAspect="1" noChangeArrowheads="1"/>
          </p:cNvPicPr>
          <p:nvPr/>
        </p:nvPicPr>
        <p:blipFill>
          <a:blip r:embed="rId3" cstate="print"/>
          <a:srcRect/>
          <a:stretch>
            <a:fillRect/>
          </a:stretch>
        </p:blipFill>
        <p:spPr bwMode="auto">
          <a:xfrm>
            <a:off x="2585961" y="5949029"/>
            <a:ext cx="717550" cy="720725"/>
          </a:xfrm>
          <a:prstGeom prst="rect">
            <a:avLst/>
          </a:prstGeom>
          <a:noFill/>
        </p:spPr>
      </p:pic>
      <p:sp>
        <p:nvSpPr>
          <p:cNvPr id="39" name="Line 9">
            <a:extLst>
              <a:ext uri="{FF2B5EF4-FFF2-40B4-BE49-F238E27FC236}">
                <a16:creationId xmlns:a16="http://schemas.microsoft.com/office/drawing/2014/main" id="{B5C4F43A-D337-2AE8-CF5B-F2BFDB298BC2}"/>
              </a:ext>
            </a:extLst>
          </p:cNvPr>
          <p:cNvSpPr>
            <a:spLocks noChangeShapeType="1"/>
          </p:cNvSpPr>
          <p:nvPr/>
        </p:nvSpPr>
        <p:spPr bwMode="auto">
          <a:xfrm>
            <a:off x="2225957" y="594867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0" name="Line 10">
            <a:extLst>
              <a:ext uri="{FF2B5EF4-FFF2-40B4-BE49-F238E27FC236}">
                <a16:creationId xmlns:a16="http://schemas.microsoft.com/office/drawing/2014/main" id="{11DA8EC7-FED1-B1A0-2DAA-5F4D6CD4BC9B}"/>
              </a:ext>
            </a:extLst>
          </p:cNvPr>
          <p:cNvSpPr>
            <a:spLocks noChangeShapeType="1"/>
          </p:cNvSpPr>
          <p:nvPr/>
        </p:nvSpPr>
        <p:spPr bwMode="auto">
          <a:xfrm>
            <a:off x="2225957" y="630903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1" name="矢印: 右 40">
            <a:extLst>
              <a:ext uri="{FF2B5EF4-FFF2-40B4-BE49-F238E27FC236}">
                <a16:creationId xmlns:a16="http://schemas.microsoft.com/office/drawing/2014/main" id="{BDC70C8C-EFE6-7F70-D97C-0629341813B4}"/>
              </a:ext>
            </a:extLst>
          </p:cNvPr>
          <p:cNvSpPr/>
          <p:nvPr/>
        </p:nvSpPr>
        <p:spPr bwMode="auto">
          <a:xfrm>
            <a:off x="5825998" y="5769026"/>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42" name="Picture 28" descr="NOT">
            <a:extLst>
              <a:ext uri="{FF2B5EF4-FFF2-40B4-BE49-F238E27FC236}">
                <a16:creationId xmlns:a16="http://schemas.microsoft.com/office/drawing/2014/main" id="{78183F1D-550D-BC37-D07A-360184B7CA4A}"/>
              </a:ext>
            </a:extLst>
          </p:cNvPr>
          <p:cNvPicPr>
            <a:picLocks noChangeAspect="1" noChangeArrowheads="1"/>
          </p:cNvPicPr>
          <p:nvPr/>
        </p:nvPicPr>
        <p:blipFill>
          <a:blip r:embed="rId3" cstate="print"/>
          <a:srcRect/>
          <a:stretch>
            <a:fillRect/>
          </a:stretch>
        </p:blipFill>
        <p:spPr bwMode="auto">
          <a:xfrm>
            <a:off x="4565983" y="5769027"/>
            <a:ext cx="717550" cy="720725"/>
          </a:xfrm>
          <a:prstGeom prst="rect">
            <a:avLst/>
          </a:prstGeom>
          <a:noFill/>
        </p:spPr>
      </p:pic>
      <p:sp>
        <p:nvSpPr>
          <p:cNvPr id="43" name="Line 10">
            <a:extLst>
              <a:ext uri="{FF2B5EF4-FFF2-40B4-BE49-F238E27FC236}">
                <a16:creationId xmlns:a16="http://schemas.microsoft.com/office/drawing/2014/main" id="{6EFD36D8-2532-22A4-F5ED-378A42F045C4}"/>
              </a:ext>
            </a:extLst>
          </p:cNvPr>
          <p:cNvSpPr>
            <a:spLocks noChangeShapeType="1"/>
          </p:cNvSpPr>
          <p:nvPr/>
        </p:nvSpPr>
        <p:spPr bwMode="auto">
          <a:xfrm>
            <a:off x="5195990" y="612903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45" name="Rectangle 21">
            <a:extLst>
              <a:ext uri="{FF2B5EF4-FFF2-40B4-BE49-F238E27FC236}">
                <a16:creationId xmlns:a16="http://schemas.microsoft.com/office/drawing/2014/main" id="{DAA50845-CD4A-806D-12CB-77E4043FFB7D}"/>
              </a:ext>
            </a:extLst>
          </p:cNvPr>
          <p:cNvSpPr>
            <a:spLocks noChangeArrowheads="1"/>
          </p:cNvSpPr>
          <p:nvPr/>
        </p:nvSpPr>
        <p:spPr bwMode="auto">
          <a:xfrm>
            <a:off x="7626018" y="5409022"/>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OR</a:t>
            </a:r>
          </a:p>
        </p:txBody>
      </p:sp>
    </p:spTree>
    <p:extLst>
      <p:ext uri="{BB962C8B-B14F-4D97-AF65-F5344CB8AC3E}">
        <p14:creationId xmlns:p14="http://schemas.microsoft.com/office/powerpoint/2010/main" val="13455596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en-US" altLang="ja-JP" dirty="0"/>
              <a:t>NAND </a:t>
            </a:r>
            <a:r>
              <a:rPr lang="ja-JP" altLang="en-US" dirty="0"/>
              <a:t>が作れればそれだけでも良い</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type="body" sz="quarter" idx="10"/>
          </p:nvPr>
        </p:nvSpPr>
        <p:spPr>
          <a:xfrm>
            <a:off x="2135956" y="2168986"/>
            <a:ext cx="8280092" cy="720008"/>
          </a:xfrm>
        </p:spPr>
        <p:txBody>
          <a:bodyPr/>
          <a:lstStyle/>
          <a:p>
            <a:r>
              <a:rPr lang="en-US" dirty="0"/>
              <a:t>NAND </a:t>
            </a:r>
            <a:r>
              <a:rPr lang="ja-JP" altLang="en-US" dirty="0"/>
              <a:t>の２つの入力に同じものを入れれば </a:t>
            </a:r>
            <a:r>
              <a:rPr lang="en-US" altLang="ja-JP" dirty="0"/>
              <a:t>NOT </a:t>
            </a:r>
            <a:r>
              <a:rPr lang="ja-JP" altLang="en-US" dirty="0"/>
              <a:t>になる</a:t>
            </a:r>
            <a:endParaRPr lang="en-US" altLang="ja-JP"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34</a:t>
            </a:fld>
            <a:endParaRPr kumimoji="1" lang="ja-JP" altLang="en-US" dirty="0"/>
          </a:p>
        </p:txBody>
      </p:sp>
      <p:sp>
        <p:nvSpPr>
          <p:cNvPr id="7" name="Line 9">
            <a:extLst>
              <a:ext uri="{FF2B5EF4-FFF2-40B4-BE49-F238E27FC236}">
                <a16:creationId xmlns:a16="http://schemas.microsoft.com/office/drawing/2014/main" id="{C2642822-A79B-70BD-E955-CB71CB4273E8}"/>
              </a:ext>
            </a:extLst>
          </p:cNvPr>
          <p:cNvSpPr>
            <a:spLocks noChangeShapeType="1"/>
          </p:cNvSpPr>
          <p:nvPr/>
        </p:nvSpPr>
        <p:spPr bwMode="auto">
          <a:xfrm>
            <a:off x="3125668" y="361019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a:extLst>
              <a:ext uri="{FF2B5EF4-FFF2-40B4-BE49-F238E27FC236}">
                <a16:creationId xmlns:a16="http://schemas.microsoft.com/office/drawing/2014/main" id="{CD32B842-1826-B619-84D2-AC0C58A04866}"/>
              </a:ext>
            </a:extLst>
          </p:cNvPr>
          <p:cNvSpPr>
            <a:spLocks noChangeShapeType="1"/>
          </p:cNvSpPr>
          <p:nvPr/>
        </p:nvSpPr>
        <p:spPr bwMode="auto">
          <a:xfrm>
            <a:off x="3125668" y="3970555"/>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a:extLst>
              <a:ext uri="{FF2B5EF4-FFF2-40B4-BE49-F238E27FC236}">
                <a16:creationId xmlns:a16="http://schemas.microsoft.com/office/drawing/2014/main" id="{001DB7CF-87F0-51D0-7807-0C0F5F683030}"/>
              </a:ext>
            </a:extLst>
          </p:cNvPr>
          <p:cNvSpPr>
            <a:spLocks noChangeShapeType="1"/>
          </p:cNvSpPr>
          <p:nvPr/>
        </p:nvSpPr>
        <p:spPr bwMode="auto">
          <a:xfrm>
            <a:off x="4205979"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pic>
        <p:nvPicPr>
          <p:cNvPr id="13" name="Picture 83" descr="NAND">
            <a:extLst>
              <a:ext uri="{FF2B5EF4-FFF2-40B4-BE49-F238E27FC236}">
                <a16:creationId xmlns:a16="http://schemas.microsoft.com/office/drawing/2014/main" id="{E79F2BF4-D406-657A-51C7-B97D95ECD106}"/>
              </a:ext>
            </a:extLst>
          </p:cNvPr>
          <p:cNvPicPr>
            <a:picLocks noChangeAspect="1" noChangeArrowheads="1"/>
          </p:cNvPicPr>
          <p:nvPr/>
        </p:nvPicPr>
        <p:blipFill>
          <a:blip r:embed="rId2" cstate="print"/>
          <a:srcRect/>
          <a:stretch>
            <a:fillRect/>
          </a:stretch>
        </p:blipFill>
        <p:spPr bwMode="auto">
          <a:xfrm>
            <a:off x="3395970" y="3429001"/>
            <a:ext cx="1079500" cy="720725"/>
          </a:xfrm>
          <a:prstGeom prst="rect">
            <a:avLst/>
          </a:prstGeom>
          <a:noFill/>
        </p:spPr>
      </p:pic>
      <p:sp>
        <p:nvSpPr>
          <p:cNvPr id="16" name="Line 9">
            <a:extLst>
              <a:ext uri="{FF2B5EF4-FFF2-40B4-BE49-F238E27FC236}">
                <a16:creationId xmlns:a16="http://schemas.microsoft.com/office/drawing/2014/main" id="{063E625C-6D59-67C6-A221-55F27DC82DBF}"/>
              </a:ext>
            </a:extLst>
          </p:cNvPr>
          <p:cNvSpPr>
            <a:spLocks noChangeShapeType="1"/>
          </p:cNvSpPr>
          <p:nvPr/>
        </p:nvSpPr>
        <p:spPr bwMode="auto">
          <a:xfrm>
            <a:off x="7356014"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8" name="Line 11">
            <a:extLst>
              <a:ext uri="{FF2B5EF4-FFF2-40B4-BE49-F238E27FC236}">
                <a16:creationId xmlns:a16="http://schemas.microsoft.com/office/drawing/2014/main" id="{6BEFE770-1359-D8AE-E6F9-49F4A46B0634}"/>
              </a:ext>
            </a:extLst>
          </p:cNvPr>
          <p:cNvSpPr>
            <a:spLocks noChangeShapeType="1"/>
          </p:cNvSpPr>
          <p:nvPr/>
        </p:nvSpPr>
        <p:spPr bwMode="auto">
          <a:xfrm>
            <a:off x="8256024" y="3789004"/>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6" name="Rectangle 21">
            <a:extLst>
              <a:ext uri="{FF2B5EF4-FFF2-40B4-BE49-F238E27FC236}">
                <a16:creationId xmlns:a16="http://schemas.microsoft.com/office/drawing/2014/main" id="{2D7F462D-626B-01D4-4530-9D016B0D27C2}"/>
              </a:ext>
            </a:extLst>
          </p:cNvPr>
          <p:cNvSpPr>
            <a:spLocks noChangeArrowheads="1"/>
          </p:cNvSpPr>
          <p:nvPr/>
        </p:nvSpPr>
        <p:spPr bwMode="auto">
          <a:xfrm>
            <a:off x="3575973" y="3068996"/>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NAND</a:t>
            </a:r>
          </a:p>
        </p:txBody>
      </p:sp>
      <p:sp>
        <p:nvSpPr>
          <p:cNvPr id="31" name="矢印: 右 30">
            <a:extLst>
              <a:ext uri="{FF2B5EF4-FFF2-40B4-BE49-F238E27FC236}">
                <a16:creationId xmlns:a16="http://schemas.microsoft.com/office/drawing/2014/main" id="{35434760-6840-F734-86F1-AA5456EBFB2A}"/>
              </a:ext>
            </a:extLst>
          </p:cNvPr>
          <p:cNvSpPr/>
          <p:nvPr/>
        </p:nvSpPr>
        <p:spPr bwMode="auto">
          <a:xfrm>
            <a:off x="5825998" y="3519001"/>
            <a:ext cx="630007" cy="540006"/>
          </a:xfrm>
          <a:prstGeom prst="rightArrow">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14" name="Picture 28" descr="NOT">
            <a:extLst>
              <a:ext uri="{FF2B5EF4-FFF2-40B4-BE49-F238E27FC236}">
                <a16:creationId xmlns:a16="http://schemas.microsoft.com/office/drawing/2014/main" id="{0CE3F9C9-DBBA-5AA2-30E4-E09334271194}"/>
              </a:ext>
            </a:extLst>
          </p:cNvPr>
          <p:cNvPicPr>
            <a:picLocks noChangeAspect="1" noChangeArrowheads="1"/>
          </p:cNvPicPr>
          <p:nvPr/>
        </p:nvPicPr>
        <p:blipFill>
          <a:blip r:embed="rId3" cstate="print"/>
          <a:srcRect/>
          <a:stretch>
            <a:fillRect/>
          </a:stretch>
        </p:blipFill>
        <p:spPr bwMode="auto">
          <a:xfrm>
            <a:off x="7716018" y="3429001"/>
            <a:ext cx="717550" cy="720725"/>
          </a:xfrm>
          <a:prstGeom prst="rect">
            <a:avLst/>
          </a:prstGeom>
          <a:noFill/>
        </p:spPr>
      </p:pic>
      <p:sp>
        <p:nvSpPr>
          <p:cNvPr id="4" name="Rectangle 21">
            <a:extLst>
              <a:ext uri="{FF2B5EF4-FFF2-40B4-BE49-F238E27FC236}">
                <a16:creationId xmlns:a16="http://schemas.microsoft.com/office/drawing/2014/main" id="{E389EE5C-651C-4EFA-CDAB-551CA0680EE2}"/>
              </a:ext>
            </a:extLst>
          </p:cNvPr>
          <p:cNvSpPr>
            <a:spLocks noChangeArrowheads="1"/>
          </p:cNvSpPr>
          <p:nvPr/>
        </p:nvSpPr>
        <p:spPr bwMode="auto">
          <a:xfrm>
            <a:off x="7806020" y="3158997"/>
            <a:ext cx="360363" cy="360362"/>
          </a:xfrm>
          <a:prstGeom prst="rect">
            <a:avLst/>
          </a:prstGeom>
          <a:noFill/>
          <a:ln w="28575">
            <a:noFill/>
            <a:miter lim="800000"/>
            <a:headEnd/>
            <a:tailEnd/>
          </a:ln>
          <a:effectLst/>
        </p:spPr>
        <p:txBody>
          <a:bodyPr wrap="none" anchor="ctr"/>
          <a:lstStyle/>
          <a:p>
            <a:pPr algn="ctr"/>
            <a:r>
              <a:rPr lang="en-US" altLang="ja-JP" sz="2000" dirty="0">
                <a:ea typeface="MeiryoKe_PGothic" pitchFamily="50" charset="-128"/>
              </a:rPr>
              <a:t>NOT</a:t>
            </a:r>
          </a:p>
        </p:txBody>
      </p:sp>
    </p:spTree>
    <p:extLst>
      <p:ext uri="{BB962C8B-B14F-4D97-AF65-F5344CB8AC3E}">
        <p14:creationId xmlns:p14="http://schemas.microsoft.com/office/powerpoint/2010/main" val="19782884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ja-JP" altLang="en-US" dirty="0"/>
              <a:t>リレーからコンピュータを作る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type="body" sz="quarter" idx="10"/>
          </p:nvPr>
        </p:nvSpPr>
        <p:spPr/>
        <p:txBody>
          <a:bodyPr anchor="t"/>
          <a:lstStyle/>
          <a:p>
            <a:r>
              <a:rPr lang="ja-JP" altLang="en-US" dirty="0"/>
              <a:t>リレーを使って </a:t>
            </a:r>
            <a:r>
              <a:rPr lang="en-US" altLang="ja-JP" dirty="0"/>
              <a:t>NOT</a:t>
            </a:r>
            <a:r>
              <a:rPr lang="ja-JP" altLang="en-US" dirty="0"/>
              <a:t>，</a:t>
            </a:r>
            <a:r>
              <a:rPr lang="en-US" altLang="ja-JP" dirty="0"/>
              <a:t>AND</a:t>
            </a:r>
            <a:r>
              <a:rPr lang="ja-JP" altLang="en-US" dirty="0"/>
              <a:t>，</a:t>
            </a:r>
            <a:r>
              <a:rPr lang="en-US" altLang="ja-JP" dirty="0"/>
              <a:t>OR </a:t>
            </a:r>
            <a:r>
              <a:rPr lang="ja-JP" altLang="en-US" dirty="0"/>
              <a:t>を作る</a:t>
            </a:r>
            <a:endParaRPr lang="en-US" altLang="ja-JP" dirty="0"/>
          </a:p>
          <a:p>
            <a:pPr marL="817200" lvl="1" indent="-457200">
              <a:buFont typeface="+mj-lt"/>
              <a:buAutoNum type="arabicPeriod"/>
            </a:pPr>
            <a:r>
              <a:rPr lang="ja-JP" altLang="en-US" dirty="0"/>
              <a:t>リレーを使って </a:t>
            </a:r>
            <a:r>
              <a:rPr lang="en-US" altLang="ja-JP" dirty="0"/>
              <a:t>P </a:t>
            </a:r>
            <a:r>
              <a:rPr lang="ja-JP" altLang="en-US" dirty="0"/>
              <a:t>型と </a:t>
            </a:r>
            <a:r>
              <a:rPr lang="en-US" altLang="ja-JP" dirty="0"/>
              <a:t>N </a:t>
            </a:r>
            <a:r>
              <a:rPr lang="ja-JP" altLang="en-US" dirty="0"/>
              <a:t>型 のリレーを作る</a:t>
            </a:r>
            <a:endParaRPr lang="en-US" altLang="ja-JP" dirty="0"/>
          </a:p>
          <a:p>
            <a:pPr marL="817200" lvl="1" indent="-457200">
              <a:buFont typeface="+mj-lt"/>
              <a:buAutoNum type="arabicPeriod"/>
            </a:pPr>
            <a:r>
              <a:rPr lang="en-US" altLang="ja-JP" dirty="0"/>
              <a:t>P </a:t>
            </a:r>
            <a:r>
              <a:rPr lang="ja-JP" altLang="en-US" dirty="0"/>
              <a:t>型と </a:t>
            </a:r>
            <a:r>
              <a:rPr lang="en-US" altLang="ja-JP" dirty="0"/>
              <a:t>N </a:t>
            </a:r>
            <a:r>
              <a:rPr lang="ja-JP" altLang="en-US" dirty="0"/>
              <a:t>型を組み合わせて </a:t>
            </a:r>
            <a:r>
              <a:rPr lang="en-US" altLang="ja-JP" dirty="0"/>
              <a:t>NOT </a:t>
            </a:r>
            <a:r>
              <a:rPr lang="ja-JP" altLang="en-US" dirty="0"/>
              <a:t>と </a:t>
            </a:r>
            <a:r>
              <a:rPr lang="en-US" altLang="ja-JP" dirty="0"/>
              <a:t>NAND </a:t>
            </a:r>
            <a:r>
              <a:rPr lang="ja-JP" altLang="en-US" dirty="0"/>
              <a:t>を作る</a:t>
            </a:r>
            <a:endParaRPr lang="en-US" altLang="ja-JP" dirty="0"/>
          </a:p>
          <a:p>
            <a:pPr marL="817200" lvl="1" indent="-457200">
              <a:buFont typeface="+mj-lt"/>
              <a:buAutoNum type="arabicPeriod"/>
            </a:pPr>
            <a:r>
              <a:rPr lang="en-US" dirty="0"/>
              <a:t>NOT </a:t>
            </a:r>
            <a:r>
              <a:rPr lang="ja-JP" altLang="en-US" dirty="0"/>
              <a:t>と </a:t>
            </a:r>
            <a:r>
              <a:rPr lang="en-US" altLang="ja-JP" dirty="0"/>
              <a:t>NAND </a:t>
            </a:r>
            <a:r>
              <a:rPr lang="ja-JP" altLang="en-US" dirty="0"/>
              <a:t>を組み合わせて </a:t>
            </a:r>
            <a:r>
              <a:rPr lang="en-US" altLang="ja-JP" dirty="0"/>
              <a:t>AND </a:t>
            </a:r>
            <a:r>
              <a:rPr lang="ja-JP" altLang="en-US" dirty="0"/>
              <a:t>と </a:t>
            </a:r>
            <a:r>
              <a:rPr lang="en-US" altLang="ja-JP" dirty="0"/>
              <a:t>OR </a:t>
            </a:r>
            <a:r>
              <a:rPr lang="ja-JP" altLang="en-US" dirty="0"/>
              <a:t>を作る</a:t>
            </a:r>
            <a:endParaRPr lang="en-US"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35</a:t>
            </a:fld>
            <a:endParaRPr kumimoji="1" lang="ja-JP" altLang="en-US" dirty="0"/>
          </a:p>
        </p:txBody>
      </p:sp>
    </p:spTree>
    <p:extLst>
      <p:ext uri="{BB962C8B-B14F-4D97-AF65-F5344CB8AC3E}">
        <p14:creationId xmlns:p14="http://schemas.microsoft.com/office/powerpoint/2010/main" val="26573376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ja-JP" altLang="en-US" dirty="0"/>
              <a:t>リレーからコンピュータを作る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type="body" sz="quarter" idx="10"/>
          </p:nvPr>
        </p:nvSpPr>
        <p:spPr/>
        <p:txBody>
          <a:bodyPr anchor="t"/>
          <a:lstStyle/>
          <a:p>
            <a:r>
              <a:rPr lang="ja-JP" altLang="en-US" dirty="0"/>
              <a:t>リレーを使って </a:t>
            </a:r>
            <a:r>
              <a:rPr lang="en-US" altLang="ja-JP" dirty="0"/>
              <a:t>NOT</a:t>
            </a:r>
            <a:r>
              <a:rPr lang="ja-JP" altLang="en-US" dirty="0"/>
              <a:t>，</a:t>
            </a:r>
            <a:r>
              <a:rPr lang="en-US" altLang="ja-JP" dirty="0"/>
              <a:t>AND</a:t>
            </a:r>
            <a:r>
              <a:rPr lang="ja-JP" altLang="en-US" dirty="0"/>
              <a:t>，</a:t>
            </a:r>
            <a:r>
              <a:rPr lang="en-US" altLang="ja-JP" dirty="0"/>
              <a:t>OR </a:t>
            </a:r>
            <a:r>
              <a:rPr lang="ja-JP" altLang="en-US" dirty="0"/>
              <a:t>を作る手順</a:t>
            </a:r>
            <a:endParaRPr lang="en-US" altLang="ja-JP" dirty="0"/>
          </a:p>
          <a:p>
            <a:pPr marL="817200" lvl="1" indent="-457200">
              <a:buFont typeface="+mj-lt"/>
              <a:buAutoNum type="arabicPeriod"/>
            </a:pPr>
            <a:r>
              <a:rPr lang="ja-JP" altLang="en-US" dirty="0"/>
              <a:t>リレーを使って </a:t>
            </a:r>
            <a:r>
              <a:rPr lang="en-US" altLang="ja-JP" dirty="0"/>
              <a:t>P </a:t>
            </a:r>
            <a:r>
              <a:rPr lang="ja-JP" altLang="en-US" dirty="0"/>
              <a:t>型と </a:t>
            </a:r>
            <a:r>
              <a:rPr lang="en-US" altLang="ja-JP" dirty="0"/>
              <a:t>N </a:t>
            </a:r>
            <a:r>
              <a:rPr lang="ja-JP" altLang="en-US" dirty="0"/>
              <a:t>型 のリレーを作る</a:t>
            </a:r>
            <a:endParaRPr lang="en-US" altLang="ja-JP" dirty="0"/>
          </a:p>
          <a:p>
            <a:pPr marL="817200" lvl="1" indent="-457200">
              <a:buFont typeface="+mj-lt"/>
              <a:buAutoNum type="arabicPeriod"/>
            </a:pPr>
            <a:r>
              <a:rPr lang="en-US" altLang="ja-JP" dirty="0"/>
              <a:t>P </a:t>
            </a:r>
            <a:r>
              <a:rPr lang="ja-JP" altLang="en-US" dirty="0"/>
              <a:t>型と </a:t>
            </a:r>
            <a:r>
              <a:rPr lang="en-US" altLang="ja-JP" dirty="0"/>
              <a:t>N </a:t>
            </a:r>
            <a:r>
              <a:rPr lang="ja-JP" altLang="en-US" dirty="0"/>
              <a:t>型を組み合わせて </a:t>
            </a:r>
            <a:r>
              <a:rPr lang="en-US" altLang="ja-JP" dirty="0"/>
              <a:t>NOT </a:t>
            </a:r>
            <a:r>
              <a:rPr lang="ja-JP" altLang="en-US" dirty="0"/>
              <a:t>と </a:t>
            </a:r>
            <a:r>
              <a:rPr lang="en-US" altLang="ja-JP" dirty="0"/>
              <a:t>NAND </a:t>
            </a:r>
            <a:r>
              <a:rPr lang="ja-JP" altLang="en-US" dirty="0"/>
              <a:t>を作る</a:t>
            </a:r>
            <a:endParaRPr lang="en-US" altLang="ja-JP" dirty="0"/>
          </a:p>
          <a:p>
            <a:pPr marL="817200" lvl="1" indent="-457200">
              <a:buFont typeface="+mj-lt"/>
              <a:buAutoNum type="arabicPeriod"/>
            </a:pPr>
            <a:r>
              <a:rPr lang="en-US" dirty="0"/>
              <a:t>NOT </a:t>
            </a:r>
            <a:r>
              <a:rPr lang="ja-JP" altLang="en-US" dirty="0"/>
              <a:t>と </a:t>
            </a:r>
            <a:r>
              <a:rPr lang="en-US" altLang="ja-JP" dirty="0"/>
              <a:t>NAND </a:t>
            </a:r>
            <a:r>
              <a:rPr lang="ja-JP" altLang="en-US" dirty="0"/>
              <a:t>を組み合わせて </a:t>
            </a:r>
            <a:r>
              <a:rPr lang="en-US" altLang="ja-JP" dirty="0"/>
              <a:t>AND </a:t>
            </a:r>
            <a:r>
              <a:rPr lang="ja-JP" altLang="en-US" dirty="0"/>
              <a:t>と </a:t>
            </a:r>
            <a:r>
              <a:rPr lang="en-US" altLang="ja-JP" dirty="0"/>
              <a:t>OR </a:t>
            </a:r>
            <a:r>
              <a:rPr lang="ja-JP" altLang="en-US" dirty="0"/>
              <a:t>を作る</a:t>
            </a:r>
            <a:endParaRPr lang="en-US" altLang="ja-JP" dirty="0"/>
          </a:p>
          <a:p>
            <a:r>
              <a:rPr lang="ja-JP" altLang="en-US" dirty="0"/>
              <a:t>コンピュータを作る手順（前回の講義）</a:t>
            </a:r>
            <a:endParaRPr lang="en-US" altLang="ja-JP" dirty="0"/>
          </a:p>
          <a:p>
            <a:pPr marL="817200" lvl="1" indent="-457200">
              <a:buFont typeface="+mj-lt"/>
              <a:buAutoNum type="arabicPeriod"/>
            </a:pPr>
            <a:r>
              <a:rPr lang="en-US" altLang="ja-JP" dirty="0"/>
              <a:t>NOT</a:t>
            </a:r>
            <a:r>
              <a:rPr lang="ja-JP" altLang="en-US" dirty="0"/>
              <a:t>，</a:t>
            </a:r>
            <a:r>
              <a:rPr lang="en-US" altLang="ja-JP" dirty="0"/>
              <a:t>AND</a:t>
            </a:r>
            <a:r>
              <a:rPr lang="ja-JP" altLang="en-US" dirty="0"/>
              <a:t>，</a:t>
            </a:r>
            <a:r>
              <a:rPr lang="en-US" altLang="ja-JP" dirty="0"/>
              <a:t>OR </a:t>
            </a:r>
            <a:r>
              <a:rPr lang="ja-JP" altLang="en-US" dirty="0"/>
              <a:t>を使うと任意の論理関数と記憶回路が作れる</a:t>
            </a:r>
            <a:endParaRPr lang="en-US" altLang="ja-JP" dirty="0"/>
          </a:p>
          <a:p>
            <a:pPr lvl="2"/>
            <a:r>
              <a:rPr lang="en-US" altLang="ja-JP" dirty="0"/>
              <a:t>=</a:t>
            </a:r>
            <a:r>
              <a:rPr lang="ja-JP" altLang="en-US" dirty="0"/>
              <a:t>任意の組み合わせ回路と順序回路が作れる</a:t>
            </a:r>
            <a:endParaRPr lang="en-US" altLang="ja-JP" dirty="0"/>
          </a:p>
          <a:p>
            <a:pPr marL="817200" lvl="1" indent="-457200">
              <a:buFont typeface="+mj-lt"/>
              <a:buAutoNum type="arabicPeriod"/>
            </a:pPr>
            <a:r>
              <a:rPr lang="ja-JP" altLang="en-US" dirty="0"/>
              <a:t>任意の組み合わせ回路と順序回路を使うと </a:t>
            </a:r>
            <a:r>
              <a:rPr lang="en-US" altLang="ja-JP" dirty="0"/>
              <a:t>CPU </a:t>
            </a:r>
            <a:r>
              <a:rPr lang="ja-JP" altLang="en-US" dirty="0"/>
              <a:t>の部品が作れる</a:t>
            </a:r>
            <a:endParaRPr lang="en-US" altLang="ja-JP" dirty="0"/>
          </a:p>
          <a:p>
            <a:pPr lvl="2"/>
            <a:r>
              <a:rPr lang="en-US" altLang="ja-JP" dirty="0"/>
              <a:t>PC</a:t>
            </a:r>
            <a:r>
              <a:rPr lang="ja-JP" altLang="en-US" dirty="0"/>
              <a:t>，レジスタ，演算器，メモリ･･･</a:t>
            </a:r>
            <a:endParaRPr lang="en-US" altLang="ja-JP" dirty="0"/>
          </a:p>
          <a:p>
            <a:pPr marL="817200" lvl="1" indent="-457200">
              <a:buFont typeface="+mj-lt"/>
              <a:buAutoNum type="arabicPeriod"/>
            </a:pPr>
            <a:r>
              <a:rPr lang="ja-JP" altLang="en-US" dirty="0"/>
              <a:t>それらを組み合わせるとコンピュータができる</a:t>
            </a:r>
            <a:endParaRPr lang="en-US" dirty="0"/>
          </a:p>
        </p:txBody>
      </p:sp>
      <p:sp>
        <p:nvSpPr>
          <p:cNvPr id="2" name="スライド番号プレースホルダー 1">
            <a:extLst>
              <a:ext uri="{FF2B5EF4-FFF2-40B4-BE49-F238E27FC236}">
                <a16:creationId xmlns:a16="http://schemas.microsoft.com/office/drawing/2014/main" id="{D7D9DC5D-B5F2-DA9F-AD9A-37D0BA086279}"/>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36</a:t>
            </a:fld>
            <a:endParaRPr kumimoji="1" lang="ja-JP" altLang="en-US" dirty="0"/>
          </a:p>
        </p:txBody>
      </p:sp>
    </p:spTree>
    <p:extLst>
      <p:ext uri="{BB962C8B-B14F-4D97-AF65-F5344CB8AC3E}">
        <p14:creationId xmlns:p14="http://schemas.microsoft.com/office/powerpoint/2010/main" val="2631460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DF6353-9A4B-4E88-1051-729E69A18D53}"/>
              </a:ext>
            </a:extLst>
          </p:cNvPr>
          <p:cNvSpPr>
            <a:spLocks noGrp="1"/>
          </p:cNvSpPr>
          <p:nvPr>
            <p:ph type="title"/>
          </p:nvPr>
        </p:nvSpPr>
        <p:spPr/>
        <p:txBody>
          <a:bodyPr/>
          <a:lstStyle/>
          <a:p>
            <a:r>
              <a:rPr kumimoji="1" lang="ja-JP" altLang="en-US" dirty="0"/>
              <a:t>リレーがあればプログラムが実行できる</a:t>
            </a:r>
            <a:endParaRPr kumimoji="1" lang="en-US" dirty="0"/>
          </a:p>
        </p:txBody>
      </p:sp>
      <p:sp>
        <p:nvSpPr>
          <p:cNvPr id="3" name="コンテンツ プレースホルダー 2">
            <a:extLst>
              <a:ext uri="{FF2B5EF4-FFF2-40B4-BE49-F238E27FC236}">
                <a16:creationId xmlns:a16="http://schemas.microsoft.com/office/drawing/2014/main" id="{8CE30B8E-8142-3DC6-72B2-E2E71310CA22}"/>
              </a:ext>
            </a:extLst>
          </p:cNvPr>
          <p:cNvSpPr>
            <a:spLocks noGrp="1"/>
          </p:cNvSpPr>
          <p:nvPr>
            <p:ph type="body" sz="quarter" idx="10"/>
          </p:nvPr>
        </p:nvSpPr>
        <p:spPr/>
        <p:txBody>
          <a:bodyPr/>
          <a:lstStyle/>
          <a:p>
            <a:r>
              <a:rPr kumimoji="1" lang="ja-JP" altLang="en-US" dirty="0"/>
              <a:t>コンピュータがあれば，プログラムが実行できる</a:t>
            </a:r>
            <a:endParaRPr kumimoji="1" lang="en-US" altLang="ja-JP" dirty="0"/>
          </a:p>
          <a:p>
            <a:pPr marL="817200" lvl="1" indent="-457200">
              <a:buFont typeface="+mj-lt"/>
              <a:buAutoNum type="arabicPeriod"/>
            </a:pPr>
            <a:r>
              <a:rPr kumimoji="1" lang="ja-JP" altLang="en-US" dirty="0"/>
              <a:t>コンピュータは機械語を解釈して実行できる</a:t>
            </a:r>
            <a:endParaRPr kumimoji="1" lang="en-US" altLang="ja-JP" dirty="0"/>
          </a:p>
          <a:p>
            <a:pPr marL="817200" lvl="1" indent="-457200">
              <a:buFont typeface="+mj-lt"/>
              <a:buAutoNum type="arabicPeriod"/>
            </a:pPr>
            <a:r>
              <a:rPr kumimoji="1" lang="ja-JP" altLang="en-US" dirty="0"/>
              <a:t>機械語はアセンブリ言語から変換できる</a:t>
            </a:r>
            <a:endParaRPr kumimoji="1" lang="en-US" altLang="ja-JP" dirty="0"/>
          </a:p>
          <a:p>
            <a:pPr marL="817200" lvl="1" indent="-457200">
              <a:buFont typeface="+mj-lt"/>
              <a:buAutoNum type="arabicPeriod"/>
            </a:pPr>
            <a:r>
              <a:rPr kumimoji="1" lang="ja-JP" altLang="en-US" dirty="0"/>
              <a:t>アセンブリ言語は </a:t>
            </a:r>
            <a:r>
              <a:rPr kumimoji="1" lang="en-US" altLang="ja-JP" dirty="0"/>
              <a:t>C </a:t>
            </a:r>
            <a:r>
              <a:rPr kumimoji="1" lang="ja-JP" altLang="en-US" dirty="0"/>
              <a:t>言語からコンパイルできる</a:t>
            </a:r>
            <a:endParaRPr kumimoji="1" lang="en-US" altLang="ja-JP" dirty="0"/>
          </a:p>
          <a:p>
            <a:r>
              <a:rPr kumimoji="1" lang="ja-JP" altLang="en-US" dirty="0"/>
              <a:t>途中に多数のステップがあるが，まとめると，</a:t>
            </a:r>
            <a:endParaRPr kumimoji="1" lang="en-US" altLang="ja-JP" dirty="0"/>
          </a:p>
          <a:p>
            <a:pPr lvl="1"/>
            <a:r>
              <a:rPr kumimoji="1" lang="ja-JP" altLang="en-US" dirty="0">
                <a:solidFill>
                  <a:schemeClr val="accent5"/>
                </a:solidFill>
              </a:rPr>
              <a:t>リレーがあれば，</a:t>
            </a:r>
            <a:r>
              <a:rPr kumimoji="1" lang="en-US" altLang="ja-JP" dirty="0">
                <a:solidFill>
                  <a:schemeClr val="accent5"/>
                </a:solidFill>
              </a:rPr>
              <a:t>C </a:t>
            </a:r>
            <a:r>
              <a:rPr kumimoji="1" lang="ja-JP" altLang="en-US" dirty="0">
                <a:solidFill>
                  <a:schemeClr val="accent5"/>
                </a:solidFill>
              </a:rPr>
              <a:t>言語のプログラムを実行できる</a:t>
            </a:r>
            <a:endParaRPr kumimoji="1" lang="en-US" dirty="0">
              <a:solidFill>
                <a:schemeClr val="accent5"/>
              </a:solidFill>
            </a:endParaRPr>
          </a:p>
        </p:txBody>
      </p:sp>
    </p:spTree>
    <p:extLst>
      <p:ext uri="{BB962C8B-B14F-4D97-AF65-F5344CB8AC3E}">
        <p14:creationId xmlns:p14="http://schemas.microsoft.com/office/powerpoint/2010/main" val="24384234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48D921-750E-E86A-3624-6989799238AC}"/>
              </a:ext>
            </a:extLst>
          </p:cNvPr>
          <p:cNvSpPr>
            <a:spLocks noGrp="1"/>
          </p:cNvSpPr>
          <p:nvPr>
            <p:ph type="title"/>
          </p:nvPr>
        </p:nvSpPr>
        <p:spPr/>
        <p:txBody>
          <a:bodyPr/>
          <a:lstStyle/>
          <a:p>
            <a:r>
              <a:rPr kumimoji="1" lang="ja-JP" altLang="en-US" dirty="0"/>
              <a:t>つまり，</a:t>
            </a:r>
            <a:endParaRPr kumimoji="1" lang="en-US" dirty="0"/>
          </a:p>
        </p:txBody>
      </p:sp>
      <p:sp>
        <p:nvSpPr>
          <p:cNvPr id="3" name="コンテンツ プレースホルダー 2">
            <a:extLst>
              <a:ext uri="{FF2B5EF4-FFF2-40B4-BE49-F238E27FC236}">
                <a16:creationId xmlns:a16="http://schemas.microsoft.com/office/drawing/2014/main" id="{0C9930CE-86B6-FE67-225C-3AFDA19E5E74}"/>
              </a:ext>
            </a:extLst>
          </p:cNvPr>
          <p:cNvSpPr>
            <a:spLocks noGrp="1"/>
          </p:cNvSpPr>
          <p:nvPr>
            <p:ph type="body" sz="quarter" idx="10"/>
          </p:nvPr>
        </p:nvSpPr>
        <p:spPr/>
        <p:txBody>
          <a:bodyPr/>
          <a:lstStyle/>
          <a:p>
            <a:r>
              <a:rPr kumimoji="1" lang="ja-JP" altLang="en-US" b="1" dirty="0">
                <a:solidFill>
                  <a:schemeClr val="accent5"/>
                </a:solidFill>
              </a:rPr>
              <a:t>なんらかの入力に従って </a:t>
            </a:r>
            <a:r>
              <a:rPr kumimoji="1" lang="en-US" altLang="ja-JP" b="1" dirty="0">
                <a:solidFill>
                  <a:schemeClr val="accent5"/>
                </a:solidFill>
              </a:rPr>
              <a:t>ON/OFF </a:t>
            </a:r>
            <a:r>
              <a:rPr kumimoji="1" lang="ja-JP" altLang="en-US" b="1" dirty="0">
                <a:solidFill>
                  <a:schemeClr val="accent5"/>
                </a:solidFill>
              </a:rPr>
              <a:t>できるスイッチがあれば，</a:t>
            </a:r>
            <a:br>
              <a:rPr kumimoji="1" lang="en-US" altLang="ja-JP" b="1" dirty="0">
                <a:solidFill>
                  <a:schemeClr val="accent5"/>
                </a:solidFill>
              </a:rPr>
            </a:br>
            <a:r>
              <a:rPr kumimoji="1" lang="ja-JP" altLang="en-US" b="1" dirty="0">
                <a:solidFill>
                  <a:schemeClr val="accent5"/>
                </a:solidFill>
              </a:rPr>
              <a:t>それでプログラムが実行できるコンピュータが作れる</a:t>
            </a:r>
            <a:endParaRPr kumimoji="1" lang="en-US" altLang="ja-JP" b="1" dirty="0">
              <a:solidFill>
                <a:schemeClr val="accent5"/>
              </a:solidFill>
            </a:endParaRPr>
          </a:p>
          <a:p>
            <a:pPr lvl="1"/>
            <a:endParaRPr lang="en-US" b="1" dirty="0">
              <a:solidFill>
                <a:schemeClr val="accent5"/>
              </a:solidFill>
            </a:endParaRPr>
          </a:p>
          <a:p>
            <a:pPr lvl="1"/>
            <a:r>
              <a:rPr kumimoji="1" lang="ja-JP" altLang="en-US" dirty="0"/>
              <a:t>具体的な回路の組み方は，回路の種別ごとに違う事もある</a:t>
            </a:r>
            <a:endParaRPr kumimoji="1" lang="en-US" altLang="ja-JP" dirty="0"/>
          </a:p>
          <a:p>
            <a:pPr lvl="1"/>
            <a:r>
              <a:rPr kumimoji="1" lang="en-US" altLang="ja-JP" dirty="0"/>
              <a:t>NAND </a:t>
            </a:r>
            <a:r>
              <a:rPr kumimoji="1" lang="ja-JP" altLang="en-US" dirty="0"/>
              <a:t>さえ出来ればこっちのもの</a:t>
            </a:r>
            <a:endParaRPr kumimoji="1" lang="en-US" dirty="0"/>
          </a:p>
        </p:txBody>
      </p:sp>
    </p:spTree>
    <p:extLst>
      <p:ext uri="{BB962C8B-B14F-4D97-AF65-F5344CB8AC3E}">
        <p14:creationId xmlns:p14="http://schemas.microsoft.com/office/powerpoint/2010/main" val="3243719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7D6408-E8C8-F5A9-E727-6DD10B645E9D}"/>
              </a:ext>
            </a:extLst>
          </p:cNvPr>
          <p:cNvSpPr>
            <a:spLocks noGrp="1"/>
          </p:cNvSpPr>
          <p:nvPr>
            <p:ph type="title"/>
          </p:nvPr>
        </p:nvSpPr>
        <p:spPr/>
        <p:txBody>
          <a:bodyPr/>
          <a:lstStyle/>
          <a:p>
            <a:r>
              <a:rPr kumimoji="1" lang="ja-JP" altLang="en-US" dirty="0"/>
              <a:t>余談：いろいろなコンピュータ</a:t>
            </a:r>
            <a:endParaRPr kumimoji="1" lang="en-US" dirty="0"/>
          </a:p>
        </p:txBody>
      </p:sp>
      <p:sp>
        <p:nvSpPr>
          <p:cNvPr id="3" name="コンテンツ プレースホルダー 2">
            <a:extLst>
              <a:ext uri="{FF2B5EF4-FFF2-40B4-BE49-F238E27FC236}">
                <a16:creationId xmlns:a16="http://schemas.microsoft.com/office/drawing/2014/main" id="{12927C11-0443-434C-BB63-79968A1BFAF6}"/>
              </a:ext>
            </a:extLst>
          </p:cNvPr>
          <p:cNvSpPr>
            <a:spLocks noGrp="1"/>
          </p:cNvSpPr>
          <p:nvPr>
            <p:ph type="body" sz="quarter" idx="10"/>
          </p:nvPr>
        </p:nvSpPr>
        <p:spPr/>
        <p:txBody>
          <a:bodyPr/>
          <a:lstStyle/>
          <a:p>
            <a:r>
              <a:rPr kumimoji="1" lang="ja-JP" altLang="en-US" dirty="0"/>
              <a:t>なんらかの入力に従って </a:t>
            </a:r>
            <a:r>
              <a:rPr kumimoji="1" lang="en-US" altLang="ja-JP" dirty="0"/>
              <a:t>ON/OFF </a:t>
            </a:r>
            <a:r>
              <a:rPr kumimoji="1" lang="ja-JP" altLang="en-US" dirty="0"/>
              <a:t>できるスイッチさえあれば，</a:t>
            </a:r>
            <a:br>
              <a:rPr kumimoji="1" lang="en-US" altLang="ja-JP" dirty="0"/>
            </a:br>
            <a:r>
              <a:rPr kumimoji="1" lang="ja-JP" altLang="en-US" dirty="0"/>
              <a:t>プログラムが実行できるコンピュータが作れる</a:t>
            </a:r>
            <a:endParaRPr kumimoji="1" lang="en-US" altLang="ja-JP" dirty="0"/>
          </a:p>
          <a:p>
            <a:r>
              <a:rPr kumimoji="1" lang="ja-JP" altLang="en-US" dirty="0"/>
              <a:t>（余談）いろいろなコンピュータ</a:t>
            </a:r>
            <a:endParaRPr kumimoji="1" lang="en-US" altLang="ja-JP" dirty="0"/>
          </a:p>
          <a:p>
            <a:pPr lvl="1"/>
            <a:r>
              <a:rPr kumimoji="1" lang="ja-JP" altLang="en-US" dirty="0"/>
              <a:t>リレー式</a:t>
            </a:r>
            <a:endParaRPr kumimoji="1" lang="en-US" altLang="ja-JP" dirty="0"/>
          </a:p>
          <a:p>
            <a:pPr lvl="1"/>
            <a:r>
              <a:rPr kumimoji="1" lang="ja-JP" altLang="en-US" dirty="0"/>
              <a:t>真空管</a:t>
            </a:r>
            <a:endParaRPr kumimoji="1" lang="en-US" altLang="ja-JP" dirty="0"/>
          </a:p>
          <a:p>
            <a:pPr lvl="1"/>
            <a:r>
              <a:rPr kumimoji="1" lang="ja-JP" altLang="en-US" dirty="0"/>
              <a:t>レッドストーン回路</a:t>
            </a:r>
            <a:endParaRPr kumimoji="1" lang="en-US" dirty="0"/>
          </a:p>
        </p:txBody>
      </p:sp>
    </p:spTree>
    <p:extLst>
      <p:ext uri="{BB962C8B-B14F-4D97-AF65-F5344CB8AC3E}">
        <p14:creationId xmlns:p14="http://schemas.microsoft.com/office/powerpoint/2010/main" val="30439564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BBD364-94F9-86B8-ADBD-D4DF1105544B}"/>
              </a:ext>
            </a:extLst>
          </p:cNvPr>
          <p:cNvSpPr>
            <a:spLocks noGrp="1"/>
          </p:cNvSpPr>
          <p:nvPr>
            <p:ph type="title"/>
          </p:nvPr>
        </p:nvSpPr>
        <p:spPr>
          <a:xfrm>
            <a:off x="2135956" y="-5087"/>
            <a:ext cx="8532044" cy="908972"/>
          </a:xfrm>
        </p:spPr>
        <p:txBody>
          <a:bodyPr/>
          <a:lstStyle/>
          <a:p>
            <a:r>
              <a:rPr kumimoji="1" lang="ja-JP" altLang="en-US" dirty="0"/>
              <a:t>リレー式計算機 富士通 </a:t>
            </a:r>
            <a:r>
              <a:rPr kumimoji="1" lang="en-US" altLang="ja-JP" dirty="0"/>
              <a:t>FACOM128B (1956)</a:t>
            </a:r>
            <a:endParaRPr kumimoji="1" lang="en-US" dirty="0"/>
          </a:p>
        </p:txBody>
      </p:sp>
      <p:pic>
        <p:nvPicPr>
          <p:cNvPr id="28674" name="Picture 2" descr="現在でも稼働する「FACOM128B」（池田記念室）">
            <a:extLst>
              <a:ext uri="{FF2B5EF4-FFF2-40B4-BE49-F238E27FC236}">
                <a16:creationId xmlns:a16="http://schemas.microsoft.com/office/drawing/2014/main" id="{815DF229-3220-E3BC-061B-C06CAE48FD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5971" y="1628980"/>
            <a:ext cx="5580062" cy="3846776"/>
          </a:xfrm>
          <a:prstGeom prst="rect">
            <a:avLst/>
          </a:prstGeom>
          <a:noFill/>
          <a:extLst>
            <a:ext uri="{909E8E84-426E-40DD-AFC4-6F175D3DCCD1}">
              <a14:hiddenFill xmlns:a14="http://schemas.microsoft.com/office/drawing/2010/main">
                <a:solidFill>
                  <a:srgbClr val="FFFFFF"/>
                </a:solidFill>
              </a14:hiddenFill>
            </a:ext>
          </a:extLst>
        </p:spPr>
      </p:pic>
      <p:sp>
        <p:nvSpPr>
          <p:cNvPr id="7" name="テキスト ボックス 6">
            <a:extLst>
              <a:ext uri="{FF2B5EF4-FFF2-40B4-BE49-F238E27FC236}">
                <a16:creationId xmlns:a16="http://schemas.microsoft.com/office/drawing/2014/main" id="{61D630CD-08B8-3C68-8772-34A159DFB1DD}"/>
              </a:ext>
            </a:extLst>
          </p:cNvPr>
          <p:cNvSpPr txBox="1"/>
          <p:nvPr/>
        </p:nvSpPr>
        <p:spPr>
          <a:xfrm>
            <a:off x="3125968" y="5949029"/>
            <a:ext cx="7650085" cy="646331"/>
          </a:xfrm>
          <a:prstGeom prst="rect">
            <a:avLst/>
          </a:prstGeom>
          <a:noFill/>
        </p:spPr>
        <p:txBody>
          <a:bodyPr wrap="square">
            <a:spAutoFit/>
          </a:bodyPr>
          <a:lstStyle/>
          <a:p>
            <a:r>
              <a:rPr lang="ja-JP" altLang="en-US" dirty="0"/>
              <a:t>画像は </a:t>
            </a:r>
            <a:r>
              <a:rPr lang="en-US" altLang="ja-JP" dirty="0">
                <a:hlinkClick r:id="rId3"/>
              </a:rPr>
              <a:t>https://pr.fujitsu.com/jp/news/2018/08/21.html</a:t>
            </a:r>
            <a:r>
              <a:rPr lang="en-US" altLang="ja-JP" dirty="0"/>
              <a:t> </a:t>
            </a:r>
            <a:r>
              <a:rPr lang="ja-JP" altLang="en-US" dirty="0"/>
              <a:t>より</a:t>
            </a:r>
            <a:endParaRPr lang="en-US" altLang="ja-JP" dirty="0"/>
          </a:p>
          <a:p>
            <a:endParaRPr lang="en-US" dirty="0"/>
          </a:p>
        </p:txBody>
      </p:sp>
    </p:spTree>
    <p:extLst>
      <p:ext uri="{BB962C8B-B14F-4D97-AF65-F5344CB8AC3E}">
        <p14:creationId xmlns:p14="http://schemas.microsoft.com/office/powerpoint/2010/main" val="761087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724B-30AA-344A-14D3-CE865807F5A4}"/>
              </a:ext>
            </a:extLst>
          </p:cNvPr>
          <p:cNvSpPr>
            <a:spLocks noGrp="1"/>
          </p:cNvSpPr>
          <p:nvPr>
            <p:ph type="title"/>
          </p:nvPr>
        </p:nvSpPr>
        <p:spPr/>
        <p:txBody>
          <a:bodyPr/>
          <a:lstStyle/>
          <a:p>
            <a:r>
              <a:rPr kumimoji="1" lang="ja-JP" altLang="en-US" dirty="0"/>
              <a:t>真空管（三極管）</a:t>
            </a:r>
            <a:endParaRPr kumimoji="1" lang="en-US" dirty="0"/>
          </a:p>
        </p:txBody>
      </p:sp>
      <p:sp>
        <p:nvSpPr>
          <p:cNvPr id="3" name="コンテンツ プレースホルダー 2">
            <a:extLst>
              <a:ext uri="{FF2B5EF4-FFF2-40B4-BE49-F238E27FC236}">
                <a16:creationId xmlns:a16="http://schemas.microsoft.com/office/drawing/2014/main" id="{28FDF9AE-FE2C-50D4-5264-356FC112DD77}"/>
              </a:ext>
            </a:extLst>
          </p:cNvPr>
          <p:cNvSpPr>
            <a:spLocks noGrp="1"/>
          </p:cNvSpPr>
          <p:nvPr>
            <p:ph type="body" sz="quarter" idx="10"/>
          </p:nvPr>
        </p:nvSpPr>
        <p:spPr>
          <a:xfrm>
            <a:off x="2135956" y="1088974"/>
            <a:ext cx="8280092" cy="900010"/>
          </a:xfrm>
        </p:spPr>
        <p:txBody>
          <a:bodyPr/>
          <a:lstStyle/>
          <a:p>
            <a:r>
              <a:rPr kumimoji="1" lang="ja-JP" altLang="en-US" dirty="0"/>
              <a:t>電球にカソードとグリッド，プレートなどの電極を追加したもの</a:t>
            </a:r>
            <a:endParaRPr kumimoji="1" lang="en-US" dirty="0"/>
          </a:p>
        </p:txBody>
      </p:sp>
      <p:sp>
        <p:nvSpPr>
          <p:cNvPr id="4" name="楕円 3">
            <a:extLst>
              <a:ext uri="{FF2B5EF4-FFF2-40B4-BE49-F238E27FC236}">
                <a16:creationId xmlns:a16="http://schemas.microsoft.com/office/drawing/2014/main" id="{39394E1B-9C93-F0C9-6FF8-BF0858031730}"/>
              </a:ext>
            </a:extLst>
          </p:cNvPr>
          <p:cNvSpPr/>
          <p:nvPr/>
        </p:nvSpPr>
        <p:spPr bwMode="auto">
          <a:xfrm>
            <a:off x="7716019" y="324899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2050" name="Picture 2" descr="undefined">
            <a:extLst>
              <a:ext uri="{FF2B5EF4-FFF2-40B4-BE49-F238E27FC236}">
                <a16:creationId xmlns:a16="http://schemas.microsoft.com/office/drawing/2014/main" id="{A04C1AAC-4A16-6AAE-A64B-46B562D0686A}"/>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5195991" y="1898984"/>
            <a:ext cx="1142861" cy="351900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01C2E457-8E8A-88C5-CDFD-C4F42641BAB8}"/>
              </a:ext>
            </a:extLst>
          </p:cNvPr>
          <p:cNvSpPr txBox="1"/>
          <p:nvPr/>
        </p:nvSpPr>
        <p:spPr>
          <a:xfrm>
            <a:off x="2135957" y="5769026"/>
            <a:ext cx="5310059" cy="738664"/>
          </a:xfrm>
          <a:prstGeom prst="rect">
            <a:avLst/>
          </a:prstGeom>
          <a:noFill/>
        </p:spPr>
        <p:txBody>
          <a:bodyPr wrap="square">
            <a:spAutoFit/>
          </a:bodyPr>
          <a:lstStyle/>
          <a:p>
            <a:r>
              <a:rPr lang="ja-JP" altLang="en-US" sz="1400" dirty="0">
                <a:solidFill>
                  <a:schemeClr val="tx1">
                    <a:lumMod val="75000"/>
                    <a:lumOff val="25000"/>
                  </a:schemeClr>
                </a:solidFill>
              </a:rPr>
              <a:t>画像は </a:t>
            </a:r>
            <a:r>
              <a:rPr lang="en-US" altLang="ja-JP" sz="1400" dirty="0">
                <a:solidFill>
                  <a:schemeClr val="tx1">
                    <a:lumMod val="75000"/>
                    <a:lumOff val="25000"/>
                  </a:schemeClr>
                </a:solidFill>
                <a:hlinkClick r:id="rId3">
                  <a:extLst>
                    <a:ext uri="{A12FA001-AC4F-418D-AE19-62706E023703}">
                      <ahyp:hlinkClr xmlns:ahyp="http://schemas.microsoft.com/office/drawing/2018/hyperlinkcolor" val="tx"/>
                    </a:ext>
                  </a:extLst>
                </a:hlinkClick>
              </a:rPr>
              <a:t>https://en.wikipedia.org/wiki/Triode</a:t>
            </a:r>
            <a:r>
              <a:rPr lang="en-US" altLang="ja-JP" sz="1400" dirty="0">
                <a:solidFill>
                  <a:schemeClr val="tx1">
                    <a:lumMod val="75000"/>
                    <a:lumOff val="25000"/>
                  </a:schemeClr>
                </a:solidFill>
              </a:rPr>
              <a:t> </a:t>
            </a:r>
            <a:r>
              <a:rPr lang="ja-JP" altLang="en-US" sz="1400" dirty="0">
                <a:solidFill>
                  <a:schemeClr val="tx1">
                    <a:lumMod val="75000"/>
                    <a:lumOff val="25000"/>
                  </a:schemeClr>
                </a:solidFill>
              </a:rPr>
              <a:t>より</a:t>
            </a:r>
            <a:endParaRPr lang="en-US" altLang="ja-JP" sz="1400" dirty="0">
              <a:solidFill>
                <a:schemeClr val="tx1">
                  <a:lumMod val="75000"/>
                  <a:lumOff val="25000"/>
                </a:schemeClr>
              </a:solidFill>
            </a:endParaRPr>
          </a:p>
          <a:p>
            <a:r>
              <a:rPr lang="en-US" altLang="ja-JP" sz="1400" dirty="0">
                <a:solidFill>
                  <a:schemeClr val="tx1">
                    <a:lumMod val="75000"/>
                    <a:lumOff val="25000"/>
                  </a:schemeClr>
                </a:solidFill>
                <a:latin typeface="Arial" panose="020B0604020202020204" pitchFamily="34" charset="0"/>
              </a:rPr>
              <a:t>De Forest </a:t>
            </a:r>
            <a:r>
              <a:rPr lang="en-US" altLang="ja-JP" sz="1400" dirty="0" err="1">
                <a:solidFill>
                  <a:schemeClr val="tx1">
                    <a:lumMod val="75000"/>
                    <a:lumOff val="25000"/>
                  </a:schemeClr>
                </a:solidFill>
                <a:latin typeface="Arial" panose="020B0604020202020204" pitchFamily="34" charset="0"/>
              </a:rPr>
              <a:t>Audion</a:t>
            </a:r>
            <a:r>
              <a:rPr lang="en-US" altLang="ja-JP" sz="1400" dirty="0">
                <a:solidFill>
                  <a:schemeClr val="tx1">
                    <a:lumMod val="75000"/>
                    <a:lumOff val="25000"/>
                  </a:schemeClr>
                </a:solidFill>
                <a:latin typeface="Arial" panose="020B0604020202020204" pitchFamily="34" charset="0"/>
              </a:rPr>
              <a:t> tube </a:t>
            </a:r>
            <a:r>
              <a:rPr lang="ja-JP" altLang="en-US" sz="1400" dirty="0">
                <a:solidFill>
                  <a:schemeClr val="tx1">
                    <a:lumMod val="75000"/>
                    <a:lumOff val="25000"/>
                  </a:schemeClr>
                </a:solidFill>
                <a:latin typeface="Arial" panose="020B0604020202020204" pitchFamily="34" charset="0"/>
              </a:rPr>
              <a:t>と </a:t>
            </a:r>
            <a:r>
              <a:rPr lang="en-US" altLang="ja-JP" sz="1400" dirty="0" err="1">
                <a:solidFill>
                  <a:schemeClr val="tx1">
                    <a:lumMod val="75000"/>
                    <a:lumOff val="25000"/>
                  </a:schemeClr>
                </a:solidFill>
                <a:latin typeface="Arial" panose="020B0604020202020204" pitchFamily="34" charset="0"/>
              </a:rPr>
              <a:t>Lieben</a:t>
            </a:r>
            <a:r>
              <a:rPr lang="en-US" altLang="ja-JP" sz="1400" dirty="0">
                <a:solidFill>
                  <a:schemeClr val="tx1">
                    <a:lumMod val="75000"/>
                    <a:lumOff val="25000"/>
                  </a:schemeClr>
                </a:solidFill>
                <a:latin typeface="Arial" panose="020B0604020202020204" pitchFamily="34" charset="0"/>
              </a:rPr>
              <a:t>-Reisz tube </a:t>
            </a:r>
            <a:br>
              <a:rPr lang="en-US" altLang="ja-JP" sz="1400" dirty="0">
                <a:solidFill>
                  <a:schemeClr val="tx1">
                    <a:lumMod val="75000"/>
                    <a:lumOff val="25000"/>
                  </a:schemeClr>
                </a:solidFill>
                <a:latin typeface="Arial" panose="020B0604020202020204" pitchFamily="34" charset="0"/>
              </a:rPr>
            </a:br>
            <a:r>
              <a:rPr lang="en-US" altLang="ja-JP" sz="1400" dirty="0">
                <a:solidFill>
                  <a:schemeClr val="tx1">
                    <a:lumMod val="75000"/>
                    <a:lumOff val="25000"/>
                  </a:schemeClr>
                </a:solidFill>
                <a:latin typeface="Arial" panose="020B0604020202020204" pitchFamily="34" charset="0"/>
              </a:rPr>
              <a:t>1900 </a:t>
            </a:r>
            <a:r>
              <a:rPr lang="ja-JP" altLang="en-US" sz="1400" dirty="0">
                <a:solidFill>
                  <a:schemeClr val="tx1">
                    <a:lumMod val="75000"/>
                    <a:lumOff val="25000"/>
                  </a:schemeClr>
                </a:solidFill>
                <a:latin typeface="Arial" panose="020B0604020202020204" pitchFamily="34" charset="0"/>
              </a:rPr>
              <a:t>年過ぎの発明</a:t>
            </a:r>
            <a:endParaRPr lang="en-US" altLang="ja-JP" sz="1400" dirty="0">
              <a:solidFill>
                <a:schemeClr val="tx1">
                  <a:lumMod val="75000"/>
                  <a:lumOff val="25000"/>
                </a:schemeClr>
              </a:solidFill>
            </a:endParaRPr>
          </a:p>
        </p:txBody>
      </p:sp>
      <p:cxnSp>
        <p:nvCxnSpPr>
          <p:cNvPr id="8" name="直線コネクタ 7">
            <a:extLst>
              <a:ext uri="{FF2B5EF4-FFF2-40B4-BE49-F238E27FC236}">
                <a16:creationId xmlns:a16="http://schemas.microsoft.com/office/drawing/2014/main" id="{39160491-C71D-5E59-EA26-91D9B52C3CA8}"/>
              </a:ext>
            </a:extLst>
          </p:cNvPr>
          <p:cNvCxnSpPr>
            <a:cxnSpLocks/>
          </p:cNvCxnSpPr>
          <p:nvPr/>
        </p:nvCxnSpPr>
        <p:spPr bwMode="auto">
          <a:xfrm>
            <a:off x="7986021"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50D41FF3-3967-5CE6-B0FA-9A0E277DE8BF}"/>
              </a:ext>
            </a:extLst>
          </p:cNvPr>
          <p:cNvCxnSpPr>
            <a:cxnSpLocks/>
          </p:cNvCxnSpPr>
          <p:nvPr/>
        </p:nvCxnSpPr>
        <p:spPr bwMode="auto">
          <a:xfrm flipV="1">
            <a:off x="7986021" y="396900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695BE07C-BB2E-B8EA-2E3A-6D5CD30970E1}"/>
              </a:ext>
            </a:extLst>
          </p:cNvPr>
          <p:cNvCxnSpPr>
            <a:cxnSpLocks/>
          </p:cNvCxnSpPr>
          <p:nvPr/>
        </p:nvCxnSpPr>
        <p:spPr bwMode="auto">
          <a:xfrm flipV="1">
            <a:off x="8706029" y="396900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D3BA62D9-6870-E648-798F-F2314D2DD5C4}"/>
              </a:ext>
            </a:extLst>
          </p:cNvPr>
          <p:cNvCxnSpPr>
            <a:cxnSpLocks/>
          </p:cNvCxnSpPr>
          <p:nvPr/>
        </p:nvCxnSpPr>
        <p:spPr bwMode="auto">
          <a:xfrm>
            <a:off x="8616029"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1ED418AF-AD75-ED9D-FFAC-773FB4731659}"/>
              </a:ext>
            </a:extLst>
          </p:cNvPr>
          <p:cNvCxnSpPr>
            <a:cxnSpLocks/>
          </p:cNvCxnSpPr>
          <p:nvPr/>
        </p:nvCxnSpPr>
        <p:spPr bwMode="auto">
          <a:xfrm>
            <a:off x="8436027"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91DFD4F-2A13-12B1-B05D-C79D225A4E31}"/>
              </a:ext>
            </a:extLst>
          </p:cNvPr>
          <p:cNvCxnSpPr>
            <a:cxnSpLocks/>
          </p:cNvCxnSpPr>
          <p:nvPr/>
        </p:nvCxnSpPr>
        <p:spPr bwMode="auto">
          <a:xfrm>
            <a:off x="8256025"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A3EA0A3D-7ACD-D5CF-0571-57FEE70C643E}"/>
              </a:ext>
            </a:extLst>
          </p:cNvPr>
          <p:cNvCxnSpPr>
            <a:cxnSpLocks/>
          </p:cNvCxnSpPr>
          <p:nvPr/>
        </p:nvCxnSpPr>
        <p:spPr bwMode="auto">
          <a:xfrm>
            <a:off x="8076023"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2" name="直線コネクタ 21">
            <a:extLst>
              <a:ext uri="{FF2B5EF4-FFF2-40B4-BE49-F238E27FC236}">
                <a16:creationId xmlns:a16="http://schemas.microsoft.com/office/drawing/2014/main" id="{CDC78133-ED19-9CA4-6BFA-D43BEB7D7DD7}"/>
              </a:ext>
            </a:extLst>
          </p:cNvPr>
          <p:cNvCxnSpPr>
            <a:cxnSpLocks/>
          </p:cNvCxnSpPr>
          <p:nvPr/>
        </p:nvCxnSpPr>
        <p:spPr bwMode="auto">
          <a:xfrm flipV="1">
            <a:off x="8166023"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5" name="直線コネクタ 24">
            <a:extLst>
              <a:ext uri="{FF2B5EF4-FFF2-40B4-BE49-F238E27FC236}">
                <a16:creationId xmlns:a16="http://schemas.microsoft.com/office/drawing/2014/main" id="{5A7AE018-AA41-D25F-56CB-D1BCD4AEFDD1}"/>
              </a:ext>
            </a:extLst>
          </p:cNvPr>
          <p:cNvCxnSpPr>
            <a:cxnSpLocks/>
          </p:cNvCxnSpPr>
          <p:nvPr/>
        </p:nvCxnSpPr>
        <p:spPr bwMode="auto">
          <a:xfrm>
            <a:off x="8346025"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8" name="直線コネクタ 27">
            <a:extLst>
              <a:ext uri="{FF2B5EF4-FFF2-40B4-BE49-F238E27FC236}">
                <a16:creationId xmlns:a16="http://schemas.microsoft.com/office/drawing/2014/main" id="{0DEF974A-A3DE-F912-EDB3-B3407C3EB68B}"/>
              </a:ext>
            </a:extLst>
          </p:cNvPr>
          <p:cNvCxnSpPr>
            <a:cxnSpLocks/>
          </p:cNvCxnSpPr>
          <p:nvPr/>
        </p:nvCxnSpPr>
        <p:spPr bwMode="auto">
          <a:xfrm>
            <a:off x="7986021" y="360900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9" name="直線コネクタ 28">
            <a:extLst>
              <a:ext uri="{FF2B5EF4-FFF2-40B4-BE49-F238E27FC236}">
                <a16:creationId xmlns:a16="http://schemas.microsoft.com/office/drawing/2014/main" id="{E03B0ED5-6CDB-CCEB-D4EC-7B7AC418A7BC}"/>
              </a:ext>
            </a:extLst>
          </p:cNvPr>
          <p:cNvCxnSpPr>
            <a:cxnSpLocks/>
          </p:cNvCxnSpPr>
          <p:nvPr/>
        </p:nvCxnSpPr>
        <p:spPr bwMode="auto">
          <a:xfrm>
            <a:off x="7356014" y="378900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0" name="直線コネクタ 29">
            <a:extLst>
              <a:ext uri="{FF2B5EF4-FFF2-40B4-BE49-F238E27FC236}">
                <a16:creationId xmlns:a16="http://schemas.microsoft.com/office/drawing/2014/main" id="{2441B73F-667A-C20D-7689-61FC07EA47F8}"/>
              </a:ext>
            </a:extLst>
          </p:cNvPr>
          <p:cNvCxnSpPr>
            <a:cxnSpLocks/>
          </p:cNvCxnSpPr>
          <p:nvPr/>
        </p:nvCxnSpPr>
        <p:spPr bwMode="auto">
          <a:xfrm flipV="1">
            <a:off x="8346025" y="306899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2" name="直線コネクタ 31">
            <a:extLst>
              <a:ext uri="{FF2B5EF4-FFF2-40B4-BE49-F238E27FC236}">
                <a16:creationId xmlns:a16="http://schemas.microsoft.com/office/drawing/2014/main" id="{D9C688C6-B45D-782B-69F8-70700C4A7D23}"/>
              </a:ext>
            </a:extLst>
          </p:cNvPr>
          <p:cNvCxnSpPr>
            <a:cxnSpLocks/>
          </p:cNvCxnSpPr>
          <p:nvPr/>
        </p:nvCxnSpPr>
        <p:spPr bwMode="auto">
          <a:xfrm flipV="1">
            <a:off x="8166023"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3" name="直線コネクタ 32">
            <a:extLst>
              <a:ext uri="{FF2B5EF4-FFF2-40B4-BE49-F238E27FC236}">
                <a16:creationId xmlns:a16="http://schemas.microsoft.com/office/drawing/2014/main" id="{F2D20371-79DC-3D61-26E0-131EE3E83AA6}"/>
              </a:ext>
            </a:extLst>
          </p:cNvPr>
          <p:cNvCxnSpPr>
            <a:cxnSpLocks/>
          </p:cNvCxnSpPr>
          <p:nvPr/>
        </p:nvCxnSpPr>
        <p:spPr bwMode="auto">
          <a:xfrm flipV="1">
            <a:off x="8526027"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5" name="直線コネクタ 34">
            <a:extLst>
              <a:ext uri="{FF2B5EF4-FFF2-40B4-BE49-F238E27FC236}">
                <a16:creationId xmlns:a16="http://schemas.microsoft.com/office/drawing/2014/main" id="{3F722863-93FD-AA45-E9B0-57A3C2B65BD4}"/>
              </a:ext>
            </a:extLst>
          </p:cNvPr>
          <p:cNvCxnSpPr>
            <a:cxnSpLocks/>
          </p:cNvCxnSpPr>
          <p:nvPr/>
        </p:nvCxnSpPr>
        <p:spPr bwMode="auto">
          <a:xfrm flipV="1">
            <a:off x="7986021" y="405900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37" name="Rectangle 93">
            <a:extLst>
              <a:ext uri="{FF2B5EF4-FFF2-40B4-BE49-F238E27FC236}">
                <a16:creationId xmlns:a16="http://schemas.microsoft.com/office/drawing/2014/main" id="{2F5DC869-19F2-8204-79D7-637DAC24868F}"/>
              </a:ext>
            </a:extLst>
          </p:cNvPr>
          <p:cNvSpPr>
            <a:spLocks noChangeArrowheads="1"/>
          </p:cNvSpPr>
          <p:nvPr/>
        </p:nvSpPr>
        <p:spPr bwMode="auto">
          <a:xfrm>
            <a:off x="8346026" y="279899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38" name="Rectangle 93">
            <a:extLst>
              <a:ext uri="{FF2B5EF4-FFF2-40B4-BE49-F238E27FC236}">
                <a16:creationId xmlns:a16="http://schemas.microsoft.com/office/drawing/2014/main" id="{95155F01-F072-5F10-5E8E-4D8A5BAFCCFD}"/>
              </a:ext>
            </a:extLst>
          </p:cNvPr>
          <p:cNvSpPr>
            <a:spLocks noChangeArrowheads="1"/>
          </p:cNvSpPr>
          <p:nvPr/>
        </p:nvSpPr>
        <p:spPr bwMode="auto">
          <a:xfrm>
            <a:off x="6816009"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39" name="Rectangle 93">
            <a:extLst>
              <a:ext uri="{FF2B5EF4-FFF2-40B4-BE49-F238E27FC236}">
                <a16:creationId xmlns:a16="http://schemas.microsoft.com/office/drawing/2014/main" id="{7EA9552E-EF68-CFCF-D91C-44B02B9B18CE}"/>
              </a:ext>
            </a:extLst>
          </p:cNvPr>
          <p:cNvSpPr>
            <a:spLocks noChangeArrowheads="1"/>
          </p:cNvSpPr>
          <p:nvPr/>
        </p:nvSpPr>
        <p:spPr bwMode="auto">
          <a:xfrm>
            <a:off x="8526028"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40" name="Rectangle 93">
            <a:extLst>
              <a:ext uri="{FF2B5EF4-FFF2-40B4-BE49-F238E27FC236}">
                <a16:creationId xmlns:a16="http://schemas.microsoft.com/office/drawing/2014/main" id="{21257B0F-A9E1-FB2D-02FA-465265D69E06}"/>
              </a:ext>
            </a:extLst>
          </p:cNvPr>
          <p:cNvSpPr>
            <a:spLocks noChangeArrowheads="1"/>
          </p:cNvSpPr>
          <p:nvPr/>
        </p:nvSpPr>
        <p:spPr bwMode="auto">
          <a:xfrm>
            <a:off x="6996011"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052" name="Picture 4" descr="undefined">
            <a:extLst>
              <a:ext uri="{FF2B5EF4-FFF2-40B4-BE49-F238E27FC236}">
                <a16:creationId xmlns:a16="http://schemas.microsoft.com/office/drawing/2014/main" id="{D1F6FCD5-ED27-EF77-37C0-7D5AA6793D94}"/>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2765964" y="3158998"/>
            <a:ext cx="1710019" cy="11723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63395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真空管の動作</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type="body" sz="quarter" idx="10"/>
          </p:nvPr>
        </p:nvSpPr>
        <p:spPr>
          <a:xfrm>
            <a:off x="1775952" y="1178976"/>
            <a:ext cx="8280092" cy="5220059"/>
          </a:xfrm>
        </p:spPr>
        <p:txBody>
          <a:bodyPr anchor="t"/>
          <a:lstStyle/>
          <a:p>
            <a:r>
              <a:rPr kumimoji="1" lang="ja-JP" altLang="en-US" dirty="0"/>
              <a:t>動作：</a:t>
            </a:r>
            <a:endParaRPr kumimoji="1" lang="en-US" altLang="ja-JP" dirty="0"/>
          </a:p>
          <a:p>
            <a:pPr marL="817200" lvl="1" indent="-457200">
              <a:buFont typeface="+mj-lt"/>
              <a:buAutoNum type="arabicPeriod"/>
            </a:pPr>
            <a:r>
              <a:rPr lang="en-US" altLang="ja-JP" dirty="0"/>
              <a:t>Plate </a:t>
            </a:r>
            <a:r>
              <a:rPr lang="ja-JP" altLang="en-US" dirty="0"/>
              <a:t>に正の電圧を，</a:t>
            </a:r>
            <a:r>
              <a:rPr lang="en-US" altLang="ja-JP" dirty="0"/>
              <a:t>Cathode </a:t>
            </a:r>
            <a:r>
              <a:rPr lang="ja-JP" altLang="en-US" dirty="0"/>
              <a:t>に負の電圧をかける</a:t>
            </a:r>
            <a:endParaRPr lang="en-US" altLang="ja-JP" dirty="0"/>
          </a:p>
          <a:p>
            <a:pPr marL="817200" lvl="1" indent="-457200">
              <a:buFont typeface="+mj-lt"/>
              <a:buAutoNum type="arabicPeriod"/>
            </a:pPr>
            <a:r>
              <a:rPr kumimoji="1" lang="en-US" altLang="ja-JP" dirty="0"/>
              <a:t>Heater</a:t>
            </a:r>
            <a:r>
              <a:rPr kumimoji="1" lang="ja-JP" altLang="en-US" dirty="0"/>
              <a:t>（電球のフィラメント）に電源を接続</a:t>
            </a:r>
            <a:endParaRPr kumimoji="1" lang="en-US" altLang="ja-JP" dirty="0"/>
          </a:p>
          <a:p>
            <a:pPr marL="817200" lvl="1" indent="-457200">
              <a:buFont typeface="+mj-lt"/>
              <a:buAutoNum type="arabicPeriod"/>
            </a:pPr>
            <a:r>
              <a:rPr kumimoji="1" lang="ja-JP" altLang="en-US" dirty="0"/>
              <a:t>暖められた </a:t>
            </a:r>
            <a:r>
              <a:rPr kumimoji="1" lang="en-US" altLang="ja-JP" dirty="0"/>
              <a:t>Cathode </a:t>
            </a:r>
            <a:r>
              <a:rPr kumimoji="1" lang="ja-JP" altLang="en-US" dirty="0"/>
              <a:t>が電子を放出</a:t>
            </a:r>
            <a:endParaRPr kumimoji="1" lang="en-US" altLang="ja-JP" dirty="0"/>
          </a:p>
          <a:p>
            <a:pPr marL="817200" lvl="1" indent="-457200">
              <a:buFont typeface="+mj-lt"/>
              <a:buAutoNum type="arabicPeriod"/>
            </a:pPr>
            <a:r>
              <a:rPr lang="en-US" altLang="ja-JP" dirty="0"/>
              <a:t>Plate </a:t>
            </a:r>
            <a:r>
              <a:rPr lang="ja-JP" altLang="en-US" dirty="0"/>
              <a:t>に電子が吸い寄せられる</a:t>
            </a:r>
            <a:endParaRPr lang="en-US" altLang="ja-JP" dirty="0"/>
          </a:p>
          <a:p>
            <a:pPr lvl="2"/>
            <a:r>
              <a:rPr kumimoji="1" lang="ja-JP" altLang="en-US" dirty="0"/>
              <a:t>電子が移動する </a:t>
            </a:r>
            <a:r>
              <a:rPr kumimoji="1" lang="en-US" altLang="ja-JP" dirty="0"/>
              <a:t>= </a:t>
            </a:r>
            <a:r>
              <a:rPr kumimoji="1" lang="ja-JP" altLang="en-US" dirty="0"/>
              <a:t>それらの間に電流が流れる</a:t>
            </a:r>
            <a:endParaRPr kumimoji="1" lang="en-US" altLang="ja-JP" dirty="0"/>
          </a:p>
          <a:p>
            <a:r>
              <a:rPr kumimoji="1" lang="ja-JP" altLang="en-US" dirty="0"/>
              <a:t>スイッチング</a:t>
            </a:r>
            <a:endParaRPr kumimoji="1" lang="en-US" altLang="ja-JP" dirty="0"/>
          </a:p>
          <a:p>
            <a:pPr lvl="1"/>
            <a:r>
              <a:rPr kumimoji="1" lang="ja-JP" altLang="en-US" dirty="0"/>
              <a:t>なにもしなければ </a:t>
            </a:r>
            <a:r>
              <a:rPr kumimoji="1" lang="en-US" altLang="ja-JP" dirty="0"/>
              <a:t>Grid </a:t>
            </a:r>
            <a:r>
              <a:rPr kumimoji="1" lang="ja-JP" altLang="en-US" dirty="0"/>
              <a:t>は網なので電子は</a:t>
            </a:r>
            <a:br>
              <a:rPr kumimoji="1" lang="en-US" altLang="ja-JP" dirty="0"/>
            </a:br>
            <a:r>
              <a:rPr kumimoji="1" lang="ja-JP" altLang="en-US" dirty="0"/>
              <a:t>すき間を通過</a:t>
            </a:r>
            <a:endParaRPr kumimoji="1" lang="en-US" altLang="ja-JP" dirty="0"/>
          </a:p>
          <a:p>
            <a:pPr lvl="1"/>
            <a:r>
              <a:rPr kumimoji="1" lang="en-US" altLang="ja-JP" dirty="0"/>
              <a:t>Grid </a:t>
            </a:r>
            <a:r>
              <a:rPr kumimoji="1" lang="ja-JP" altLang="en-US" dirty="0"/>
              <a:t>に負の電圧をかける</a:t>
            </a:r>
            <a:endParaRPr kumimoji="1" lang="en-US" altLang="ja-JP" dirty="0"/>
          </a:p>
          <a:p>
            <a:pPr lvl="1"/>
            <a:r>
              <a:rPr kumimoji="1" lang="ja-JP" altLang="en-US" dirty="0"/>
              <a:t>負同士ではじきあうので，電子が上にいけなくなり電流が </a:t>
            </a:r>
            <a:r>
              <a:rPr kumimoji="1" lang="en-US" altLang="ja-JP" dirty="0"/>
              <a:t>OFF</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8616028" y="3609002"/>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8886030" y="4329010"/>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8886030" y="4329011"/>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9606038" y="4329011"/>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9516038"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9336036"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9156034"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8976032"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9066032"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9246034"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8886030"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8256023" y="4149008"/>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9246034" y="3429000"/>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9066032"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9426036"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8886030" y="4419011"/>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9246035" y="315899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7716018" y="3789004"/>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9426037"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7896020"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spTree>
    <p:extLst>
      <p:ext uri="{BB962C8B-B14F-4D97-AF65-F5344CB8AC3E}">
        <p14:creationId xmlns:p14="http://schemas.microsoft.com/office/powerpoint/2010/main" val="29746702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type="body" sz="quarter" idx="10"/>
          </p:nvPr>
        </p:nvSpPr>
        <p:spPr>
          <a:xfrm>
            <a:off x="1775952" y="908973"/>
            <a:ext cx="8280092" cy="1170013"/>
          </a:xfrm>
        </p:spPr>
        <p:txBody>
          <a:bodyPr anchor="ctr"/>
          <a:lstStyle/>
          <a:p>
            <a:r>
              <a:rPr kumimoji="1" lang="en-US" altLang="ja-JP" dirty="0"/>
              <a:t>Grid </a:t>
            </a:r>
            <a:r>
              <a:rPr kumimoji="1" lang="ja-JP" altLang="en-US" dirty="0"/>
              <a:t>にかける電圧で，</a:t>
            </a:r>
            <a:r>
              <a:rPr kumimoji="1" lang="en-US" altLang="ja-JP" dirty="0"/>
              <a:t>Cathode </a:t>
            </a:r>
            <a:r>
              <a:rPr kumimoji="1" lang="ja-JP" altLang="en-US" dirty="0"/>
              <a:t>と </a:t>
            </a:r>
            <a:r>
              <a:rPr kumimoji="1" lang="en-US" altLang="ja-JP" dirty="0"/>
              <a:t>Plate </a:t>
            </a:r>
            <a:r>
              <a:rPr kumimoji="1" lang="ja-JP" altLang="en-US" dirty="0"/>
              <a:t>を </a:t>
            </a:r>
            <a:r>
              <a:rPr kumimoji="1" lang="en-US" altLang="ja-JP" dirty="0"/>
              <a:t>ON/OFF </a:t>
            </a:r>
            <a:r>
              <a:rPr kumimoji="1" lang="ja-JP" altLang="en-US" dirty="0"/>
              <a:t>できる</a:t>
            </a:r>
            <a:endParaRPr kumimoji="1" lang="en-US" altLang="ja-JP" dirty="0"/>
          </a:p>
          <a:p>
            <a:pPr lvl="1"/>
            <a:r>
              <a:rPr kumimoji="1" lang="ja-JP" altLang="en-US" dirty="0">
                <a:solidFill>
                  <a:schemeClr val="accent5"/>
                </a:solidFill>
              </a:rPr>
              <a:t>つまり，これでもコンピュータが作れる</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5105989" y="234898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5375991" y="306899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5375991" y="306899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6095999" y="306899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6005999"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5825997"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5645995"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5465993"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5555993"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5735995"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5375991" y="270899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4745984" y="288899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5735995" y="216898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5555993"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5915997"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5375991" y="315899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5735996" y="189898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4205979" y="252899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5915998"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4385981"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3554" name="Picture 2" descr="undefined">
            <a:extLst>
              <a:ext uri="{FF2B5EF4-FFF2-40B4-BE49-F238E27FC236}">
                <a16:creationId xmlns:a16="http://schemas.microsoft.com/office/drawing/2014/main" id="{D628AE51-4AA4-93B1-4F4A-F4BEEC42BA19}"/>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657225" y="4995444"/>
            <a:ext cx="2557293" cy="1846934"/>
          </a:xfrm>
          <a:prstGeom prst="rect">
            <a:avLst/>
          </a:prstGeom>
          <a:noFill/>
          <a:extLst>
            <a:ext uri="{909E8E84-426E-40DD-AFC4-6F175D3DCCD1}">
              <a14:hiddenFill xmlns:a14="http://schemas.microsoft.com/office/drawing/2010/main">
                <a:solidFill>
                  <a:srgbClr val="FFFFFF"/>
                </a:solidFill>
              </a14:hiddenFill>
            </a:ext>
          </a:extLst>
        </p:spPr>
      </p:pic>
      <p:pic>
        <p:nvPicPr>
          <p:cNvPr id="23556" name="Picture 4" descr="undefined">
            <a:extLst>
              <a:ext uri="{FF2B5EF4-FFF2-40B4-BE49-F238E27FC236}">
                <a16:creationId xmlns:a16="http://schemas.microsoft.com/office/drawing/2014/main" id="{1B329A1B-2FFB-DCEA-68ED-78AF9E5A230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26008" y="4995444"/>
            <a:ext cx="1881271" cy="1714576"/>
          </a:xfrm>
          <a:prstGeom prst="rect">
            <a:avLst/>
          </a:prstGeom>
          <a:noFill/>
          <a:extLst>
            <a:ext uri="{909E8E84-426E-40DD-AFC4-6F175D3DCCD1}">
              <a14:hiddenFill xmlns:a14="http://schemas.microsoft.com/office/drawing/2010/main">
                <a:solidFill>
                  <a:srgbClr val="FFFFFF"/>
                </a:solidFill>
              </a14:hiddenFill>
            </a:ext>
          </a:extLst>
        </p:spPr>
      </p:pic>
      <p:sp>
        <p:nvSpPr>
          <p:cNvPr id="26" name="コンテンツ プレースホルダー 2">
            <a:extLst>
              <a:ext uri="{FF2B5EF4-FFF2-40B4-BE49-F238E27FC236}">
                <a16:creationId xmlns:a16="http://schemas.microsoft.com/office/drawing/2014/main" id="{140A2EBF-6519-8661-B9B7-32675DB4CB65}"/>
              </a:ext>
            </a:extLst>
          </p:cNvPr>
          <p:cNvSpPr txBox="1">
            <a:spLocks/>
          </p:cNvSpPr>
          <p:nvPr/>
        </p:nvSpPr>
        <p:spPr bwMode="auto">
          <a:xfrm>
            <a:off x="1775952" y="3789005"/>
            <a:ext cx="8280092" cy="117001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ENIAC (1945)</a:t>
            </a:r>
          </a:p>
          <a:p>
            <a:pPr lvl="1"/>
            <a:r>
              <a:rPr lang="ja-JP" altLang="en-US" kern="0" dirty="0"/>
              <a:t>世界最初のプログラムが実行できるコンピュータ</a:t>
            </a:r>
            <a:endParaRPr lang="en-US" altLang="ja-JP" kern="0" dirty="0"/>
          </a:p>
          <a:p>
            <a:pPr lvl="1"/>
            <a:r>
              <a:rPr lang="en-US" kern="0" dirty="0"/>
              <a:t>18,000 </a:t>
            </a:r>
            <a:r>
              <a:rPr lang="ja-JP" altLang="en-US" kern="0" dirty="0"/>
              <a:t>個の真空管で出来ている</a:t>
            </a:r>
            <a:endParaRPr lang="en-US" kern="0" dirty="0"/>
          </a:p>
        </p:txBody>
      </p:sp>
    </p:spTree>
    <p:extLst>
      <p:ext uri="{BB962C8B-B14F-4D97-AF65-F5344CB8AC3E}">
        <p14:creationId xmlns:p14="http://schemas.microsoft.com/office/powerpoint/2010/main" val="19524479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type="body" sz="quarter" idx="10"/>
          </p:nvPr>
        </p:nvSpPr>
        <p:spPr>
          <a:xfrm>
            <a:off x="2135956" y="1358977"/>
            <a:ext cx="8280092" cy="815924"/>
          </a:xfrm>
        </p:spPr>
        <p:txBody>
          <a:bodyPr/>
          <a:lstStyle/>
          <a:p>
            <a:r>
              <a:rPr kumimoji="1" lang="en-US" altLang="ja-JP" dirty="0"/>
              <a:t>Minecraft </a:t>
            </a:r>
            <a:r>
              <a:rPr kumimoji="1" lang="ja-JP" altLang="en-US" dirty="0"/>
              <a:t>というゲームの中で作られている回路</a:t>
            </a:r>
            <a:endParaRPr kumimoji="1" lang="en-US" altLang="ja-JP" dirty="0"/>
          </a:p>
          <a:p>
            <a:pPr lvl="1"/>
            <a:r>
              <a:rPr kumimoji="1" lang="en-US" dirty="0">
                <a:hlinkClick r:id="rId2"/>
              </a:rPr>
              <a:t>https://www.minecraft.net/ja-jp</a:t>
            </a:r>
            <a:r>
              <a:rPr lang="en-US" dirty="0"/>
              <a:t> </a:t>
            </a:r>
          </a:p>
          <a:p>
            <a:pPr lvl="1"/>
            <a:r>
              <a:rPr kumimoji="1" lang="ja-JP" altLang="en-US" dirty="0"/>
              <a:t>もともとは箱庭でブロックをおいて色々つくって遊ぶゲーム</a:t>
            </a:r>
            <a:endParaRPr kumimoji="1" lang="en-US" dirty="0"/>
          </a:p>
        </p:txBody>
      </p:sp>
      <p:pic>
        <p:nvPicPr>
          <p:cNvPr id="6" name="図 5">
            <a:extLst>
              <a:ext uri="{FF2B5EF4-FFF2-40B4-BE49-F238E27FC236}">
                <a16:creationId xmlns:a16="http://schemas.microsoft.com/office/drawing/2014/main" id="{0DA1304B-F56A-088F-D9E3-36337E7278ED}"/>
              </a:ext>
            </a:extLst>
          </p:cNvPr>
          <p:cNvPicPr>
            <a:picLocks noChangeAspect="1"/>
          </p:cNvPicPr>
          <p:nvPr/>
        </p:nvPicPr>
        <p:blipFill>
          <a:blip r:embed="rId3"/>
          <a:stretch>
            <a:fillRect/>
          </a:stretch>
        </p:blipFill>
        <p:spPr>
          <a:xfrm>
            <a:off x="2495960" y="2618992"/>
            <a:ext cx="7265902" cy="4050045"/>
          </a:xfrm>
          <a:prstGeom prst="rect">
            <a:avLst/>
          </a:prstGeom>
        </p:spPr>
      </p:pic>
    </p:spTree>
    <p:extLst>
      <p:ext uri="{BB962C8B-B14F-4D97-AF65-F5344CB8AC3E}">
        <p14:creationId xmlns:p14="http://schemas.microsoft.com/office/powerpoint/2010/main" val="4206772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type="body" sz="quarter" idx="10"/>
          </p:nvPr>
        </p:nvSpPr>
        <p:spPr>
          <a:xfrm>
            <a:off x="2135956" y="1268977"/>
            <a:ext cx="8280092" cy="1445931"/>
          </a:xfrm>
        </p:spPr>
        <p:txBody>
          <a:bodyPr/>
          <a:lstStyle/>
          <a:p>
            <a:r>
              <a:rPr kumimoji="1" lang="ja-JP" altLang="en-US" dirty="0"/>
              <a:t>「レッドストーン」と言うゲーム内の要素を利用</a:t>
            </a:r>
            <a:endParaRPr kumimoji="1" lang="en-US" altLang="ja-JP" dirty="0"/>
          </a:p>
          <a:p>
            <a:pPr lvl="1"/>
            <a:r>
              <a:rPr kumimoji="1" lang="ja-JP" altLang="en-US" dirty="0"/>
              <a:t>有効と無効の状態を持つ</a:t>
            </a:r>
            <a:endParaRPr kumimoji="1" lang="en-US" altLang="ja-JP" dirty="0"/>
          </a:p>
          <a:p>
            <a:pPr lvl="1"/>
            <a:r>
              <a:rPr kumimoji="1" lang="ja-JP" altLang="en-US" dirty="0"/>
              <a:t>スイッチと扉を繋げて，遠くから開けたり閉じたりとかする</a:t>
            </a:r>
            <a:endParaRPr kumimoji="1" lang="en-US" altLang="ja-JP" dirty="0"/>
          </a:p>
          <a:p>
            <a:r>
              <a:rPr kumimoji="1" lang="ja-JP" altLang="en-US" dirty="0">
                <a:solidFill>
                  <a:schemeClr val="accent5"/>
                </a:solidFill>
              </a:rPr>
              <a:t>これも入力で出力を制御出来ていることに誰かが気づいた</a:t>
            </a:r>
            <a:endParaRPr kumimoji="1" lang="en-US" dirty="0">
              <a:solidFill>
                <a:schemeClr val="accent5"/>
              </a:solidFill>
            </a:endParaRPr>
          </a:p>
        </p:txBody>
      </p:sp>
      <p:pic>
        <p:nvPicPr>
          <p:cNvPr id="25602" name="Picture 2">
            <a:extLst>
              <a:ext uri="{FF2B5EF4-FFF2-40B4-BE49-F238E27FC236}">
                <a16:creationId xmlns:a16="http://schemas.microsoft.com/office/drawing/2014/main" id="{B845DFDA-B3A7-755F-8DDB-CF88F6DDCB3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5961" y="4239010"/>
            <a:ext cx="3401987" cy="1803171"/>
          </a:xfrm>
          <a:prstGeom prst="rect">
            <a:avLst/>
          </a:prstGeom>
          <a:noFill/>
          <a:extLst>
            <a:ext uri="{909E8E84-426E-40DD-AFC4-6F175D3DCCD1}">
              <a14:hiddenFill xmlns:a14="http://schemas.microsoft.com/office/drawing/2010/main">
                <a:solidFill>
                  <a:srgbClr val="FFFFFF"/>
                </a:solidFill>
              </a14:hiddenFill>
            </a:ext>
          </a:extLst>
        </p:spPr>
      </p:pic>
      <p:pic>
        <p:nvPicPr>
          <p:cNvPr id="25604" name="Picture 4">
            <a:extLst>
              <a:ext uri="{FF2B5EF4-FFF2-40B4-BE49-F238E27FC236}">
                <a16:creationId xmlns:a16="http://schemas.microsoft.com/office/drawing/2014/main" id="{2EAFD79E-6BEF-192B-F0C6-B7A33BC090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6006" y="3248998"/>
            <a:ext cx="3202705" cy="279904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7F39E439-730E-CADD-4D05-817C28753F45}"/>
              </a:ext>
            </a:extLst>
          </p:cNvPr>
          <p:cNvSpPr txBox="1"/>
          <p:nvPr/>
        </p:nvSpPr>
        <p:spPr>
          <a:xfrm>
            <a:off x="2135957" y="6399033"/>
            <a:ext cx="8010089" cy="369332"/>
          </a:xfrm>
          <a:prstGeom prst="rect">
            <a:avLst/>
          </a:prstGeom>
          <a:noFill/>
        </p:spPr>
        <p:txBody>
          <a:bodyPr wrap="square">
            <a:spAutoFit/>
          </a:bodyPr>
          <a:lstStyle/>
          <a:p>
            <a:r>
              <a:rPr lang="ja-JP" altLang="en-US" dirty="0"/>
              <a:t>画像は </a:t>
            </a:r>
            <a:r>
              <a:rPr lang="en-US" altLang="ja-JP" dirty="0">
                <a:hlinkClick r:id="rId4"/>
              </a:rPr>
              <a:t>https://minecraft.fandom.com/wiki/Redstone_circuits/Logic</a:t>
            </a:r>
            <a:r>
              <a:rPr lang="en-US" altLang="ja-JP" dirty="0"/>
              <a:t> </a:t>
            </a:r>
            <a:r>
              <a:rPr lang="ja-JP" altLang="en-US" dirty="0"/>
              <a:t>より</a:t>
            </a:r>
            <a:endParaRPr lang="en-US" dirty="0"/>
          </a:p>
        </p:txBody>
      </p:sp>
      <p:sp>
        <p:nvSpPr>
          <p:cNvPr id="6" name="Rectangle 93">
            <a:extLst>
              <a:ext uri="{FF2B5EF4-FFF2-40B4-BE49-F238E27FC236}">
                <a16:creationId xmlns:a16="http://schemas.microsoft.com/office/drawing/2014/main" id="{AE324D97-E62A-26EE-CAD0-E6883AEF6EE2}"/>
              </a:ext>
            </a:extLst>
          </p:cNvPr>
          <p:cNvSpPr>
            <a:spLocks noChangeArrowheads="1"/>
          </p:cNvSpPr>
          <p:nvPr/>
        </p:nvSpPr>
        <p:spPr bwMode="auto">
          <a:xfrm>
            <a:off x="2405960"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AND </a:t>
            </a:r>
            <a:r>
              <a:rPr lang="ja-JP" altLang="en-US" dirty="0"/>
              <a:t>ゲート</a:t>
            </a:r>
            <a:endParaRPr lang="en-US" altLang="ja-JP" dirty="0"/>
          </a:p>
          <a:p>
            <a:r>
              <a:rPr lang="ja-JP" altLang="en-US" dirty="0"/>
              <a:t>右のスイッチを２つとも入れると</a:t>
            </a:r>
            <a:endParaRPr lang="en-US" altLang="ja-JP" dirty="0"/>
          </a:p>
          <a:p>
            <a:r>
              <a:rPr lang="ja-JP" altLang="en-US" dirty="0"/>
              <a:t>左側が赤くなる</a:t>
            </a:r>
            <a:endParaRPr lang="en-US" altLang="ja-JP" dirty="0"/>
          </a:p>
        </p:txBody>
      </p:sp>
    </p:spTree>
    <p:extLst>
      <p:ext uri="{BB962C8B-B14F-4D97-AF65-F5344CB8AC3E}">
        <p14:creationId xmlns:p14="http://schemas.microsoft.com/office/powerpoint/2010/main" val="2207305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8AD7D5-B625-30A8-A6FF-8D986E8ABB6F}"/>
              </a:ext>
            </a:extLst>
          </p:cNvPr>
          <p:cNvSpPr>
            <a:spLocks noGrp="1"/>
          </p:cNvSpPr>
          <p:nvPr>
            <p:ph type="title"/>
          </p:nvPr>
        </p:nvSpPr>
        <p:spPr/>
        <p:txBody>
          <a:bodyPr/>
          <a:lstStyle/>
          <a:p>
            <a:r>
              <a:rPr kumimoji="1" lang="ja-JP" altLang="en-US" dirty="0"/>
              <a:t>入力で出力を制御出来ればコンピュータが作れる</a:t>
            </a:r>
            <a:endParaRPr kumimoji="1" lang="en-US" dirty="0"/>
          </a:p>
        </p:txBody>
      </p:sp>
      <p:pic>
        <p:nvPicPr>
          <p:cNvPr id="26626" name="Picture 2">
            <a:extLst>
              <a:ext uri="{FF2B5EF4-FFF2-40B4-BE49-F238E27FC236}">
                <a16:creationId xmlns:a16="http://schemas.microsoft.com/office/drawing/2014/main" id="{0AC7C0F8-03F3-DC95-824D-7E10C68157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5958" y="1448979"/>
            <a:ext cx="6667500" cy="3152775"/>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AB1528C8-0902-0A6A-DD73-52AE1B730BAD}"/>
              </a:ext>
            </a:extLst>
          </p:cNvPr>
          <p:cNvSpPr txBox="1"/>
          <p:nvPr/>
        </p:nvSpPr>
        <p:spPr>
          <a:xfrm>
            <a:off x="2585961" y="5319022"/>
            <a:ext cx="5940066" cy="646331"/>
          </a:xfrm>
          <a:prstGeom prst="rect">
            <a:avLst/>
          </a:prstGeom>
          <a:noFill/>
        </p:spPr>
        <p:txBody>
          <a:bodyPr wrap="square">
            <a:spAutoFit/>
          </a:bodyPr>
          <a:lstStyle/>
          <a:p>
            <a:r>
              <a:rPr lang="ja-JP" altLang="en-US" dirty="0"/>
              <a:t>画像は </a:t>
            </a:r>
            <a:r>
              <a:rPr lang="en-US" altLang="ja-JP" dirty="0">
                <a:hlinkClick r:id="rId3"/>
              </a:rPr>
              <a:t>https://mcpedl.com/raffis-calculator-2-map/</a:t>
            </a:r>
            <a:r>
              <a:rPr lang="en-US" altLang="ja-JP" dirty="0"/>
              <a:t> </a:t>
            </a:r>
            <a:r>
              <a:rPr lang="ja-JP" altLang="en-US" dirty="0"/>
              <a:t>より</a:t>
            </a:r>
            <a:endParaRPr lang="en-US" altLang="ja-JP" dirty="0"/>
          </a:p>
          <a:p>
            <a:r>
              <a:rPr lang="ja-JP" altLang="en-US" dirty="0"/>
              <a:t>四則演算ができる計算機･･･らしい</a:t>
            </a:r>
            <a:endParaRPr lang="en-US" dirty="0"/>
          </a:p>
        </p:txBody>
      </p:sp>
    </p:spTree>
    <p:extLst>
      <p:ext uri="{BB962C8B-B14F-4D97-AF65-F5344CB8AC3E}">
        <p14:creationId xmlns:p14="http://schemas.microsoft.com/office/powerpoint/2010/main" val="19792673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97F02C61-CA60-E242-14BB-3B549F4A00F7}"/>
              </a:ext>
            </a:extLst>
          </p:cNvPr>
          <p:cNvSpPr>
            <a:spLocks noGrp="1"/>
          </p:cNvSpPr>
          <p:nvPr>
            <p:ph type="title"/>
          </p:nvPr>
        </p:nvSpPr>
        <p:spPr/>
        <p:txBody>
          <a:bodyPr/>
          <a:lstStyle/>
          <a:p>
            <a:r>
              <a:rPr lang="en-US" altLang="ja-JP" b="1" dirty="0"/>
              <a:t>CMOS</a:t>
            </a:r>
            <a:endParaRPr lang="en-US" b="1" dirty="0"/>
          </a:p>
        </p:txBody>
      </p:sp>
    </p:spTree>
    <p:extLst>
      <p:ext uri="{BB962C8B-B14F-4D97-AF65-F5344CB8AC3E}">
        <p14:creationId xmlns:p14="http://schemas.microsoft.com/office/powerpoint/2010/main" val="13428844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4331-3D9C-C512-2846-D6A40BDAB0DC}"/>
              </a:ext>
            </a:extLst>
          </p:cNvPr>
          <p:cNvSpPr>
            <a:spLocks noGrp="1"/>
          </p:cNvSpPr>
          <p:nvPr>
            <p:ph type="title"/>
          </p:nvPr>
        </p:nvSpPr>
        <p:spPr/>
        <p:txBody>
          <a:bodyPr/>
          <a:lstStyle/>
          <a:p>
            <a:r>
              <a:rPr kumimoji="1" lang="ja-JP" altLang="en-US" dirty="0"/>
              <a:t>論理回路の作り方</a:t>
            </a:r>
            <a:endParaRPr kumimoji="1" lang="en-US" dirty="0"/>
          </a:p>
        </p:txBody>
      </p:sp>
      <p:sp>
        <p:nvSpPr>
          <p:cNvPr id="3" name="コンテンツ プレースホルダー 2">
            <a:extLst>
              <a:ext uri="{FF2B5EF4-FFF2-40B4-BE49-F238E27FC236}">
                <a16:creationId xmlns:a16="http://schemas.microsoft.com/office/drawing/2014/main" id="{4CDF5B3C-F5EC-178A-5EAE-1A3A46827528}"/>
              </a:ext>
            </a:extLst>
          </p:cNvPr>
          <p:cNvSpPr>
            <a:spLocks noGrp="1"/>
          </p:cNvSpPr>
          <p:nvPr>
            <p:ph type="body" sz="quarter" idx="10"/>
          </p:nvPr>
        </p:nvSpPr>
        <p:spPr/>
        <p:txBody>
          <a:bodyPr/>
          <a:lstStyle/>
          <a:p>
            <a:r>
              <a:rPr kumimoji="1" lang="ja-JP" altLang="en-US" dirty="0"/>
              <a:t>以下のそれぞれの仕組みを使った回路を説明</a:t>
            </a:r>
            <a:endParaRPr kumimoji="1" lang="en-US" altLang="ja-JP" dirty="0"/>
          </a:p>
          <a:p>
            <a:pPr marL="817200" lvl="1" indent="-457200">
              <a:buFont typeface="+mj-lt"/>
              <a:buAutoNum type="arabicPeriod"/>
            </a:pPr>
            <a:r>
              <a:rPr kumimoji="1" lang="ja-JP" altLang="en-US" dirty="0"/>
              <a:t>リレー</a:t>
            </a:r>
            <a:endParaRPr kumimoji="1" lang="en-US" altLang="ja-JP" dirty="0"/>
          </a:p>
          <a:p>
            <a:pPr marL="817200" lvl="1" indent="-457200">
              <a:buFont typeface="+mj-lt"/>
              <a:buAutoNum type="arabicPeriod"/>
            </a:pPr>
            <a:r>
              <a:rPr kumimoji="1" lang="en-US" altLang="ja-JP" dirty="0">
                <a:solidFill>
                  <a:schemeClr val="accent5"/>
                </a:solidFill>
              </a:rPr>
              <a:t>CMOS</a:t>
            </a:r>
          </a:p>
        </p:txBody>
      </p:sp>
    </p:spTree>
    <p:extLst>
      <p:ext uri="{BB962C8B-B14F-4D97-AF65-F5344CB8AC3E}">
        <p14:creationId xmlns:p14="http://schemas.microsoft.com/office/powerpoint/2010/main" val="113451524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41" name="Freeform 9"/>
          <p:cNvSpPr>
            <a:spLocks/>
          </p:cNvSpPr>
          <p:nvPr/>
        </p:nvSpPr>
        <p:spPr bwMode="auto">
          <a:xfrm>
            <a:off x="3575972" y="4239010"/>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3" name="正方形/長方形 2"/>
          <p:cNvSpPr/>
          <p:nvPr/>
        </p:nvSpPr>
        <p:spPr bwMode="auto">
          <a:xfrm>
            <a:off x="2495772"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ctr" anchorCtr="0" compatLnSpc="1">
            <a:prstTxWarp prst="textNoShape">
              <a:avLst/>
            </a:prstTxWarp>
          </a:bodyPr>
          <a:lstStyle/>
          <a:p>
            <a:pPr algn="ctr" fontAlgn="base">
              <a:spcBef>
                <a:spcPct val="0"/>
              </a:spcBef>
              <a:spcAft>
                <a:spcPct val="0"/>
              </a:spcAft>
            </a:pPr>
            <a:r>
              <a:rPr lang="ja-JP" altLang="en-US" sz="1200" dirty="0">
                <a:solidFill>
                  <a:schemeClr val="tx1"/>
                </a:solidFill>
              </a:rPr>
              <a:t>酸化膜（絶縁体）</a:t>
            </a:r>
          </a:p>
        </p:txBody>
      </p:sp>
      <p:sp>
        <p:nvSpPr>
          <p:cNvPr id="556040" name="Rectangle 8"/>
          <p:cNvSpPr>
            <a:spLocks noChangeArrowheads="1"/>
          </p:cNvSpPr>
          <p:nvPr/>
        </p:nvSpPr>
        <p:spPr bwMode="auto">
          <a:xfrm>
            <a:off x="2495803"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34" name="Rectangle 2"/>
          <p:cNvSpPr>
            <a:spLocks noGrp="1" noChangeArrowheads="1"/>
          </p:cNvSpPr>
          <p:nvPr>
            <p:ph type="title"/>
          </p:nvPr>
        </p:nvSpPr>
        <p:spPr/>
        <p:txBody>
          <a:bodyPr/>
          <a:lstStyle/>
          <a:p>
            <a:r>
              <a:rPr lang="en-US" altLang="ja-JP" sz="2400" dirty="0">
                <a:latin typeface="+mn-ea"/>
                <a:ea typeface="+mn-ea"/>
              </a:rPr>
              <a:t>MOS FET</a:t>
            </a:r>
          </a:p>
        </p:txBody>
      </p:sp>
      <p:sp>
        <p:nvSpPr>
          <p:cNvPr id="4" name="スライド番号プレースホルダー 3"/>
          <p:cNvSpPr>
            <a:spLocks noGrp="1"/>
          </p:cNvSpPr>
          <p:nvPr>
            <p:ph type="sldNum" sz="quarter" idx="12"/>
          </p:nvPr>
        </p:nvSpPr>
        <p:spPr>
          <a:xfrm>
            <a:off x="10307638" y="6483351"/>
            <a:ext cx="360362" cy="358775"/>
          </a:xfrm>
        </p:spPr>
        <p:txBody>
          <a:bodyPr/>
          <a:lstStyle/>
          <a:p>
            <a:fld id="{57822056-E1F9-464F-82C8-6C2C7E347532}" type="slidenum">
              <a:rPr lang="ja-JP" altLang="en-US" smtClean="0"/>
              <a:pPr/>
              <a:t>49</a:t>
            </a:fld>
            <a:endParaRPr lang="ja-JP" altLang="en-US"/>
          </a:p>
        </p:txBody>
      </p:sp>
      <p:sp>
        <p:nvSpPr>
          <p:cNvPr id="556036" name="Rectangle 4"/>
          <p:cNvSpPr>
            <a:spLocks noGrp="1" noChangeArrowheads="1"/>
          </p:cNvSpPr>
          <p:nvPr>
            <p:ph sz="quarter" idx="13"/>
          </p:nvPr>
        </p:nvSpPr>
        <p:spPr>
          <a:xfrm>
            <a:off x="1775952" y="998973"/>
            <a:ext cx="8892049" cy="3150036"/>
          </a:xfrm>
        </p:spPr>
        <p:txBody>
          <a:bodyPr/>
          <a:lstStyle/>
          <a:p>
            <a:r>
              <a:rPr lang="en-US" altLang="ja-JP" dirty="0">
                <a:solidFill>
                  <a:schemeClr val="accent5"/>
                </a:solidFill>
              </a:rPr>
              <a:t>MOS</a:t>
            </a:r>
            <a:r>
              <a:rPr lang="en-US" altLang="ja-JP" dirty="0"/>
              <a:t>: metal-oxide-semiconductor</a:t>
            </a:r>
          </a:p>
          <a:p>
            <a:pPr lvl="1"/>
            <a:r>
              <a:rPr lang="ja-JP" altLang="en-US" dirty="0"/>
              <a:t>上から，金属，酸化膜，半導体のサンドイッチ構造</a:t>
            </a:r>
            <a:endParaRPr lang="en-US" altLang="ja-JP" dirty="0"/>
          </a:p>
          <a:p>
            <a:pPr lvl="1"/>
            <a:r>
              <a:rPr lang="ja-JP" altLang="en-US" dirty="0"/>
              <a:t>酸化膜を挟んで平行板コンデンサが構成されている</a:t>
            </a:r>
            <a:endParaRPr lang="en-US" altLang="ja-JP" dirty="0"/>
          </a:p>
          <a:p>
            <a:r>
              <a:rPr lang="ja-JP" altLang="en-US" dirty="0"/>
              <a:t>電界効果トランジスタ</a:t>
            </a:r>
            <a:r>
              <a:rPr lang="en-US" altLang="ja-JP" dirty="0"/>
              <a:t> (</a:t>
            </a:r>
            <a:r>
              <a:rPr lang="en-US" altLang="ja-JP" dirty="0">
                <a:solidFill>
                  <a:schemeClr val="accent5"/>
                </a:solidFill>
              </a:rPr>
              <a:t>FET</a:t>
            </a:r>
            <a:r>
              <a:rPr lang="en-US" altLang="ja-JP" dirty="0"/>
              <a:t>: Field-Effect Transistor)</a:t>
            </a:r>
          </a:p>
          <a:p>
            <a:pPr lvl="1"/>
            <a:r>
              <a:rPr lang="ja-JP" altLang="en-US" dirty="0">
                <a:solidFill>
                  <a:schemeClr val="accent5"/>
                </a:solidFill>
              </a:rPr>
              <a:t>電界で電子を動かしてスイッチングする</a:t>
            </a:r>
            <a:endParaRPr lang="en-US" altLang="ja-JP" dirty="0">
              <a:solidFill>
                <a:schemeClr val="accent5"/>
              </a:solidFill>
            </a:endParaRPr>
          </a:p>
          <a:p>
            <a:pPr marL="1177200" lvl="2" indent="-457200">
              <a:buFont typeface="+mj-lt"/>
              <a:buAutoNum type="arabicPeriod"/>
            </a:pPr>
            <a:r>
              <a:rPr lang="en-US" altLang="ja-JP" dirty="0"/>
              <a:t>G </a:t>
            </a:r>
            <a:r>
              <a:rPr lang="ja-JP" altLang="en-US" dirty="0"/>
              <a:t>に電圧をかけてコンデンサに充電</a:t>
            </a:r>
            <a:endParaRPr lang="en-US" altLang="ja-JP" dirty="0"/>
          </a:p>
          <a:p>
            <a:pPr marL="1177200" lvl="2" indent="-457200">
              <a:buFont typeface="+mj-lt"/>
              <a:buAutoNum type="arabicPeriod"/>
            </a:pPr>
            <a:r>
              <a:rPr lang="ja-JP" altLang="en-US" dirty="0"/>
              <a:t>電子の層（チャネル）酸化膜下にできて，</a:t>
            </a:r>
            <a:r>
              <a:rPr lang="en-US" altLang="ja-JP" dirty="0"/>
              <a:t>S </a:t>
            </a:r>
            <a:r>
              <a:rPr lang="ja-JP" altLang="en-US" dirty="0"/>
              <a:t>と </a:t>
            </a:r>
            <a:r>
              <a:rPr lang="en-US" altLang="ja-JP" dirty="0"/>
              <a:t>D </a:t>
            </a:r>
            <a:r>
              <a:rPr lang="ja-JP" altLang="en-US" dirty="0"/>
              <a:t>が繋がり </a:t>
            </a:r>
            <a:r>
              <a:rPr lang="en-US" altLang="ja-JP" dirty="0"/>
              <a:t>ON </a:t>
            </a:r>
            <a:r>
              <a:rPr lang="ja-JP" altLang="en-US" dirty="0"/>
              <a:t>に</a:t>
            </a:r>
            <a:endParaRPr lang="en-US" altLang="ja-JP" dirty="0"/>
          </a:p>
        </p:txBody>
      </p:sp>
      <p:sp>
        <p:nvSpPr>
          <p:cNvPr id="556038" name="Freeform 6"/>
          <p:cNvSpPr>
            <a:spLocks/>
          </p:cNvSpPr>
          <p:nvPr/>
        </p:nvSpPr>
        <p:spPr bwMode="auto">
          <a:xfrm>
            <a:off x="2495803"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56039" name="Freeform 7"/>
          <p:cNvSpPr>
            <a:spLocks/>
          </p:cNvSpPr>
          <p:nvPr/>
        </p:nvSpPr>
        <p:spPr bwMode="auto">
          <a:xfrm flipH="1">
            <a:off x="4656391"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56042" name="Line 10"/>
          <p:cNvSpPr>
            <a:spLocks noChangeShapeType="1"/>
          </p:cNvSpPr>
          <p:nvPr/>
        </p:nvSpPr>
        <p:spPr bwMode="auto">
          <a:xfrm>
            <a:off x="2495773" y="4959119"/>
            <a:ext cx="2879725" cy="0"/>
          </a:xfrm>
          <a:prstGeom prst="line">
            <a:avLst/>
          </a:prstGeom>
          <a:noFill/>
          <a:ln w="19050">
            <a:solidFill>
              <a:schemeClr val="tx1"/>
            </a:solidFill>
            <a:round/>
            <a:headEnd/>
            <a:tailEnd/>
          </a:ln>
          <a:effectLst/>
        </p:spPr>
        <p:txBody>
          <a:bodyPr/>
          <a:lstStyle/>
          <a:p>
            <a:endParaRPr lang="ja-JP" altLang="en-US"/>
          </a:p>
        </p:txBody>
      </p:sp>
      <p:sp>
        <p:nvSpPr>
          <p:cNvPr id="556043" name="Line 11"/>
          <p:cNvSpPr>
            <a:spLocks noChangeShapeType="1"/>
          </p:cNvSpPr>
          <p:nvPr/>
        </p:nvSpPr>
        <p:spPr bwMode="auto">
          <a:xfrm>
            <a:off x="2495803" y="6668688"/>
            <a:ext cx="2879725" cy="0"/>
          </a:xfrm>
          <a:prstGeom prst="line">
            <a:avLst/>
          </a:prstGeom>
          <a:noFill/>
          <a:ln w="19050">
            <a:solidFill>
              <a:schemeClr val="tx1"/>
            </a:solidFill>
            <a:round/>
            <a:headEnd/>
            <a:tailEnd/>
          </a:ln>
          <a:effectLst/>
        </p:spPr>
        <p:txBody>
          <a:bodyPr/>
          <a:lstStyle/>
          <a:p>
            <a:endParaRPr lang="ja-JP" altLang="en-US"/>
          </a:p>
        </p:txBody>
      </p:sp>
      <p:sp>
        <p:nvSpPr>
          <p:cNvPr id="556044" name="Rectangle 12"/>
          <p:cNvSpPr>
            <a:spLocks noChangeArrowheads="1"/>
          </p:cNvSpPr>
          <p:nvPr/>
        </p:nvSpPr>
        <p:spPr bwMode="auto">
          <a:xfrm>
            <a:off x="2495803" y="5409802"/>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556047" name="Rectangle 15"/>
          <p:cNvSpPr>
            <a:spLocks noChangeArrowheads="1"/>
          </p:cNvSpPr>
          <p:nvPr/>
        </p:nvSpPr>
        <p:spPr bwMode="auto">
          <a:xfrm>
            <a:off x="5016753" y="5409802"/>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556048" name="Rectangle 16"/>
          <p:cNvSpPr>
            <a:spLocks noChangeArrowheads="1"/>
          </p:cNvSpPr>
          <p:nvPr/>
        </p:nvSpPr>
        <p:spPr bwMode="auto">
          <a:xfrm>
            <a:off x="3756947" y="4418397"/>
            <a:ext cx="360363" cy="358775"/>
          </a:xfrm>
          <a:prstGeom prst="rect">
            <a:avLst/>
          </a:prstGeom>
          <a:noFill/>
          <a:ln w="9525">
            <a:noFill/>
            <a:miter lim="800000"/>
            <a:headEnd/>
            <a:tailEnd/>
          </a:ln>
          <a:effectLst/>
        </p:spPr>
        <p:txBody>
          <a:bodyPr wrap="none" anchor="ctr"/>
          <a:lstStyle/>
          <a:p>
            <a:pPr algn="ctr"/>
            <a:r>
              <a:rPr lang="en-US" altLang="ja-JP"/>
              <a:t>G</a:t>
            </a:r>
          </a:p>
        </p:txBody>
      </p:sp>
      <p:cxnSp>
        <p:nvCxnSpPr>
          <p:cNvPr id="6" name="直線矢印コネクタ 5"/>
          <p:cNvCxnSpPr/>
          <p:nvPr/>
        </p:nvCxnSpPr>
        <p:spPr bwMode="auto">
          <a:xfrm>
            <a:off x="3575916"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6" name="直線矢印コネクタ 45"/>
          <p:cNvCxnSpPr/>
          <p:nvPr/>
        </p:nvCxnSpPr>
        <p:spPr bwMode="auto">
          <a:xfrm>
            <a:off x="3935964"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7" name="直線矢印コネクタ 46"/>
          <p:cNvCxnSpPr/>
          <p:nvPr/>
        </p:nvCxnSpPr>
        <p:spPr bwMode="auto">
          <a:xfrm>
            <a:off x="4296012"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7" name="グループ化 6"/>
          <p:cNvGrpSpPr/>
          <p:nvPr/>
        </p:nvGrpSpPr>
        <p:grpSpPr>
          <a:xfrm>
            <a:off x="3486403" y="5859064"/>
            <a:ext cx="900113" cy="180975"/>
            <a:chOff x="1962150" y="5499100"/>
            <a:chExt cx="900113" cy="180975"/>
          </a:xfrm>
        </p:grpSpPr>
        <p:grpSp>
          <p:nvGrpSpPr>
            <p:cNvPr id="556051" name="Group 19"/>
            <p:cNvGrpSpPr>
              <a:grpSpLocks/>
            </p:cNvGrpSpPr>
            <p:nvPr/>
          </p:nvGrpSpPr>
          <p:grpSpPr bwMode="auto">
            <a:xfrm>
              <a:off x="1962150" y="5499100"/>
              <a:ext cx="180975" cy="180975"/>
              <a:chOff x="2823" y="3464"/>
              <a:chExt cx="114" cy="114"/>
            </a:xfrm>
          </p:grpSpPr>
          <p:sp>
            <p:nvSpPr>
              <p:cNvPr id="556049"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0"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556052" name="Group 20"/>
            <p:cNvGrpSpPr>
              <a:grpSpLocks/>
            </p:cNvGrpSpPr>
            <p:nvPr/>
          </p:nvGrpSpPr>
          <p:grpSpPr bwMode="auto">
            <a:xfrm>
              <a:off x="2322513" y="5499100"/>
              <a:ext cx="180975" cy="180975"/>
              <a:chOff x="2823" y="3464"/>
              <a:chExt cx="114" cy="114"/>
            </a:xfrm>
          </p:grpSpPr>
          <p:sp>
            <p:nvSpPr>
              <p:cNvPr id="55605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556055" name="Group 23"/>
            <p:cNvGrpSpPr>
              <a:grpSpLocks/>
            </p:cNvGrpSpPr>
            <p:nvPr/>
          </p:nvGrpSpPr>
          <p:grpSpPr bwMode="auto">
            <a:xfrm>
              <a:off x="2681288" y="5499100"/>
              <a:ext cx="180975" cy="180975"/>
              <a:chOff x="2823" y="3464"/>
              <a:chExt cx="114" cy="114"/>
            </a:xfrm>
          </p:grpSpPr>
          <p:sp>
            <p:nvSpPr>
              <p:cNvPr id="556056"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7"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sp>
        <p:nvSpPr>
          <p:cNvPr id="2" name="Freeform 9">
            <a:extLst>
              <a:ext uri="{FF2B5EF4-FFF2-40B4-BE49-F238E27FC236}">
                <a16:creationId xmlns:a16="http://schemas.microsoft.com/office/drawing/2014/main" id="{B012697E-90BD-1C97-2AB1-DC86FC7DAE70}"/>
              </a:ext>
            </a:extLst>
          </p:cNvPr>
          <p:cNvSpPr>
            <a:spLocks/>
          </p:cNvSpPr>
          <p:nvPr/>
        </p:nvSpPr>
        <p:spPr bwMode="auto">
          <a:xfrm>
            <a:off x="7536016" y="4239010"/>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 name="正方形/長方形 4">
            <a:extLst>
              <a:ext uri="{FF2B5EF4-FFF2-40B4-BE49-F238E27FC236}">
                <a16:creationId xmlns:a16="http://schemas.microsoft.com/office/drawing/2014/main" id="{1541AAB3-0B99-A322-5E59-A5417E122F45}"/>
              </a:ext>
            </a:extLst>
          </p:cNvPr>
          <p:cNvSpPr/>
          <p:nvPr/>
        </p:nvSpPr>
        <p:spPr bwMode="auto">
          <a:xfrm>
            <a:off x="6455816"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algn="ctr" fontAlgn="base">
              <a:spcBef>
                <a:spcPct val="0"/>
              </a:spcBef>
              <a:spcAft>
                <a:spcPct val="0"/>
              </a:spcAft>
            </a:pPr>
            <a:endParaRPr lang="ja-JP" altLang="en-US" dirty="0">
              <a:solidFill>
                <a:schemeClr val="tx1"/>
              </a:solidFill>
            </a:endParaRPr>
          </a:p>
        </p:txBody>
      </p:sp>
      <p:sp>
        <p:nvSpPr>
          <p:cNvPr id="8" name="Rectangle 8">
            <a:extLst>
              <a:ext uri="{FF2B5EF4-FFF2-40B4-BE49-F238E27FC236}">
                <a16:creationId xmlns:a16="http://schemas.microsoft.com/office/drawing/2014/main" id="{6966788D-91F7-32C1-A417-DE33945F037F}"/>
              </a:ext>
            </a:extLst>
          </p:cNvPr>
          <p:cNvSpPr>
            <a:spLocks noChangeArrowheads="1"/>
          </p:cNvSpPr>
          <p:nvPr/>
        </p:nvSpPr>
        <p:spPr bwMode="auto">
          <a:xfrm>
            <a:off x="6455847"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9" name="Freeform 6">
            <a:extLst>
              <a:ext uri="{FF2B5EF4-FFF2-40B4-BE49-F238E27FC236}">
                <a16:creationId xmlns:a16="http://schemas.microsoft.com/office/drawing/2014/main" id="{D7E5104E-C24B-2439-B6CA-7D3FEB2569DD}"/>
              </a:ext>
            </a:extLst>
          </p:cNvPr>
          <p:cNvSpPr>
            <a:spLocks/>
          </p:cNvSpPr>
          <p:nvPr/>
        </p:nvSpPr>
        <p:spPr bwMode="auto">
          <a:xfrm>
            <a:off x="6455847"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10" name="Freeform 7">
            <a:extLst>
              <a:ext uri="{FF2B5EF4-FFF2-40B4-BE49-F238E27FC236}">
                <a16:creationId xmlns:a16="http://schemas.microsoft.com/office/drawing/2014/main" id="{FC1A5FA5-C1B7-5EE2-6671-1CE915E88AEA}"/>
              </a:ext>
            </a:extLst>
          </p:cNvPr>
          <p:cNvSpPr>
            <a:spLocks/>
          </p:cNvSpPr>
          <p:nvPr/>
        </p:nvSpPr>
        <p:spPr bwMode="auto">
          <a:xfrm flipH="1">
            <a:off x="8616435"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11" name="Line 10">
            <a:extLst>
              <a:ext uri="{FF2B5EF4-FFF2-40B4-BE49-F238E27FC236}">
                <a16:creationId xmlns:a16="http://schemas.microsoft.com/office/drawing/2014/main" id="{41EE8F78-6B9D-87FB-5C9E-EA124ECE1DF5}"/>
              </a:ext>
            </a:extLst>
          </p:cNvPr>
          <p:cNvSpPr>
            <a:spLocks noChangeShapeType="1"/>
          </p:cNvSpPr>
          <p:nvPr/>
        </p:nvSpPr>
        <p:spPr bwMode="auto">
          <a:xfrm>
            <a:off x="6455817" y="4959119"/>
            <a:ext cx="2879725" cy="0"/>
          </a:xfrm>
          <a:prstGeom prst="line">
            <a:avLst/>
          </a:prstGeom>
          <a:noFill/>
          <a:ln w="19050">
            <a:solidFill>
              <a:schemeClr val="tx1"/>
            </a:solidFill>
            <a:round/>
            <a:headEnd/>
            <a:tailEnd/>
          </a:ln>
          <a:effectLst/>
        </p:spPr>
        <p:txBody>
          <a:bodyPr/>
          <a:lstStyle/>
          <a:p>
            <a:endParaRPr lang="ja-JP" altLang="en-US"/>
          </a:p>
        </p:txBody>
      </p:sp>
      <p:sp>
        <p:nvSpPr>
          <p:cNvPr id="12" name="Line 11">
            <a:extLst>
              <a:ext uri="{FF2B5EF4-FFF2-40B4-BE49-F238E27FC236}">
                <a16:creationId xmlns:a16="http://schemas.microsoft.com/office/drawing/2014/main" id="{3E5B1AE8-146D-632F-B084-6E8E07394F08}"/>
              </a:ext>
            </a:extLst>
          </p:cNvPr>
          <p:cNvSpPr>
            <a:spLocks noChangeShapeType="1"/>
          </p:cNvSpPr>
          <p:nvPr/>
        </p:nvSpPr>
        <p:spPr bwMode="auto">
          <a:xfrm>
            <a:off x="6455847" y="6668688"/>
            <a:ext cx="2879725" cy="0"/>
          </a:xfrm>
          <a:prstGeom prst="line">
            <a:avLst/>
          </a:prstGeom>
          <a:noFill/>
          <a:ln w="19050">
            <a:solidFill>
              <a:schemeClr val="tx1"/>
            </a:solidFill>
            <a:round/>
            <a:headEnd/>
            <a:tailEnd/>
          </a:ln>
          <a:effectLst/>
        </p:spPr>
        <p:txBody>
          <a:bodyPr/>
          <a:lstStyle/>
          <a:p>
            <a:endParaRPr lang="ja-JP" altLang="en-US"/>
          </a:p>
        </p:txBody>
      </p:sp>
      <p:sp>
        <p:nvSpPr>
          <p:cNvPr id="13" name="Rectangle 12">
            <a:extLst>
              <a:ext uri="{FF2B5EF4-FFF2-40B4-BE49-F238E27FC236}">
                <a16:creationId xmlns:a16="http://schemas.microsoft.com/office/drawing/2014/main" id="{B78E739C-A35D-E813-A09F-BDDE4446ACC7}"/>
              </a:ext>
            </a:extLst>
          </p:cNvPr>
          <p:cNvSpPr>
            <a:spLocks noChangeArrowheads="1"/>
          </p:cNvSpPr>
          <p:nvPr/>
        </p:nvSpPr>
        <p:spPr bwMode="auto">
          <a:xfrm>
            <a:off x="6455847" y="5409802"/>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14" name="Rectangle 15">
            <a:extLst>
              <a:ext uri="{FF2B5EF4-FFF2-40B4-BE49-F238E27FC236}">
                <a16:creationId xmlns:a16="http://schemas.microsoft.com/office/drawing/2014/main" id="{7C36156A-44D4-D73B-C427-F28FC938BD51}"/>
              </a:ext>
            </a:extLst>
          </p:cNvPr>
          <p:cNvSpPr>
            <a:spLocks noChangeArrowheads="1"/>
          </p:cNvSpPr>
          <p:nvPr/>
        </p:nvSpPr>
        <p:spPr bwMode="auto">
          <a:xfrm>
            <a:off x="8976797" y="5409802"/>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15" name="Rectangle 16">
            <a:extLst>
              <a:ext uri="{FF2B5EF4-FFF2-40B4-BE49-F238E27FC236}">
                <a16:creationId xmlns:a16="http://schemas.microsoft.com/office/drawing/2014/main" id="{ABE9B84A-7551-C927-B0D3-AC1CA3F22F18}"/>
              </a:ext>
            </a:extLst>
          </p:cNvPr>
          <p:cNvSpPr>
            <a:spLocks noChangeArrowheads="1"/>
          </p:cNvSpPr>
          <p:nvPr/>
        </p:nvSpPr>
        <p:spPr bwMode="auto">
          <a:xfrm>
            <a:off x="7716991" y="4418397"/>
            <a:ext cx="360363" cy="358775"/>
          </a:xfrm>
          <a:prstGeom prst="rect">
            <a:avLst/>
          </a:prstGeom>
          <a:noFill/>
          <a:ln w="9525">
            <a:noFill/>
            <a:miter lim="800000"/>
            <a:headEnd/>
            <a:tailEnd/>
          </a:ln>
          <a:effectLst/>
        </p:spPr>
        <p:txBody>
          <a:bodyPr wrap="none" anchor="ctr"/>
          <a:lstStyle/>
          <a:p>
            <a:pPr algn="ctr"/>
            <a:r>
              <a:rPr lang="en-US" altLang="ja-JP"/>
              <a:t>G</a:t>
            </a:r>
          </a:p>
        </p:txBody>
      </p:sp>
      <p:grpSp>
        <p:nvGrpSpPr>
          <p:cNvPr id="19" name="グループ化 18">
            <a:extLst>
              <a:ext uri="{FF2B5EF4-FFF2-40B4-BE49-F238E27FC236}">
                <a16:creationId xmlns:a16="http://schemas.microsoft.com/office/drawing/2014/main" id="{EFF559BE-F1D7-8ADD-E44C-23F236B57921}"/>
              </a:ext>
            </a:extLst>
          </p:cNvPr>
          <p:cNvGrpSpPr/>
          <p:nvPr/>
        </p:nvGrpSpPr>
        <p:grpSpPr>
          <a:xfrm>
            <a:off x="7446016" y="5319022"/>
            <a:ext cx="900113" cy="180975"/>
            <a:chOff x="1962150" y="5499100"/>
            <a:chExt cx="900113" cy="180975"/>
          </a:xfrm>
        </p:grpSpPr>
        <p:grpSp>
          <p:nvGrpSpPr>
            <p:cNvPr id="20" name="Group 19">
              <a:extLst>
                <a:ext uri="{FF2B5EF4-FFF2-40B4-BE49-F238E27FC236}">
                  <a16:creationId xmlns:a16="http://schemas.microsoft.com/office/drawing/2014/main" id="{8366906E-799E-5CEF-9E73-7D0C37CC9673}"/>
                </a:ext>
              </a:extLst>
            </p:cNvPr>
            <p:cNvGrpSpPr>
              <a:grpSpLocks/>
            </p:cNvGrpSpPr>
            <p:nvPr/>
          </p:nvGrpSpPr>
          <p:grpSpPr bwMode="auto">
            <a:xfrm>
              <a:off x="1962150" y="5499100"/>
              <a:ext cx="180975" cy="180975"/>
              <a:chOff x="2823" y="3464"/>
              <a:chExt cx="114" cy="114"/>
            </a:xfrm>
          </p:grpSpPr>
          <p:sp>
            <p:nvSpPr>
              <p:cNvPr id="27" name="Oval 17">
                <a:extLst>
                  <a:ext uri="{FF2B5EF4-FFF2-40B4-BE49-F238E27FC236}">
                    <a16:creationId xmlns:a16="http://schemas.microsoft.com/office/drawing/2014/main" id="{8CC16491-E66F-3BDC-C8FA-5AD5DA0D2660}"/>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8" name="Line 18">
                <a:extLst>
                  <a:ext uri="{FF2B5EF4-FFF2-40B4-BE49-F238E27FC236}">
                    <a16:creationId xmlns:a16="http://schemas.microsoft.com/office/drawing/2014/main" id="{E4B388A9-E03F-0314-C692-0AF1FEE523B2}"/>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1" name="Group 20">
              <a:extLst>
                <a:ext uri="{FF2B5EF4-FFF2-40B4-BE49-F238E27FC236}">
                  <a16:creationId xmlns:a16="http://schemas.microsoft.com/office/drawing/2014/main" id="{D29F5FD8-8030-4AA8-46ED-50E865E8C4AB}"/>
                </a:ext>
              </a:extLst>
            </p:cNvPr>
            <p:cNvGrpSpPr>
              <a:grpSpLocks/>
            </p:cNvGrpSpPr>
            <p:nvPr/>
          </p:nvGrpSpPr>
          <p:grpSpPr bwMode="auto">
            <a:xfrm>
              <a:off x="2322513" y="5499100"/>
              <a:ext cx="180975" cy="180975"/>
              <a:chOff x="2823" y="3464"/>
              <a:chExt cx="114" cy="114"/>
            </a:xfrm>
          </p:grpSpPr>
          <p:sp>
            <p:nvSpPr>
              <p:cNvPr id="25" name="Oval 21">
                <a:extLst>
                  <a:ext uri="{FF2B5EF4-FFF2-40B4-BE49-F238E27FC236}">
                    <a16:creationId xmlns:a16="http://schemas.microsoft.com/office/drawing/2014/main" id="{E263F852-92FD-ED3E-12E9-CE2B8F024205}"/>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6" name="Line 22">
                <a:extLst>
                  <a:ext uri="{FF2B5EF4-FFF2-40B4-BE49-F238E27FC236}">
                    <a16:creationId xmlns:a16="http://schemas.microsoft.com/office/drawing/2014/main" id="{878A30F6-9405-EEDF-0C79-797D412FCA86}"/>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2" name="Group 23">
              <a:extLst>
                <a:ext uri="{FF2B5EF4-FFF2-40B4-BE49-F238E27FC236}">
                  <a16:creationId xmlns:a16="http://schemas.microsoft.com/office/drawing/2014/main" id="{1B637B3A-E433-8320-EC77-4C1FE525D962}"/>
                </a:ext>
              </a:extLst>
            </p:cNvPr>
            <p:cNvGrpSpPr>
              <a:grpSpLocks/>
            </p:cNvGrpSpPr>
            <p:nvPr/>
          </p:nvGrpSpPr>
          <p:grpSpPr bwMode="auto">
            <a:xfrm>
              <a:off x="2681288" y="5499100"/>
              <a:ext cx="180975" cy="180975"/>
              <a:chOff x="2823" y="3464"/>
              <a:chExt cx="114" cy="114"/>
            </a:xfrm>
          </p:grpSpPr>
          <p:sp>
            <p:nvSpPr>
              <p:cNvPr id="23" name="Oval 24">
                <a:extLst>
                  <a:ext uri="{FF2B5EF4-FFF2-40B4-BE49-F238E27FC236}">
                    <a16:creationId xmlns:a16="http://schemas.microsoft.com/office/drawing/2014/main" id="{19DCBB86-BFF2-9606-6793-252FF5475106}"/>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4" name="Line 25">
                <a:extLst>
                  <a:ext uri="{FF2B5EF4-FFF2-40B4-BE49-F238E27FC236}">
                    <a16:creationId xmlns:a16="http://schemas.microsoft.com/office/drawing/2014/main" id="{54E16104-C51D-A5B5-3F3E-CF8F267763D7}"/>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cxnSp>
        <p:nvCxnSpPr>
          <p:cNvPr id="30" name="直線矢印コネクタ 29">
            <a:extLst>
              <a:ext uri="{FF2B5EF4-FFF2-40B4-BE49-F238E27FC236}">
                <a16:creationId xmlns:a16="http://schemas.microsoft.com/office/drawing/2014/main" id="{8280BC87-7615-05B2-F4D5-26B9B6616364}"/>
              </a:ext>
            </a:extLst>
          </p:cNvPr>
          <p:cNvCxnSpPr/>
          <p:nvPr/>
        </p:nvCxnSpPr>
        <p:spPr bwMode="auto">
          <a:xfrm>
            <a:off x="6726007" y="5319021"/>
            <a:ext cx="2340026" cy="0"/>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5333412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MOS </a:t>
            </a:r>
            <a:r>
              <a:rPr lang="ja-JP" altLang="en-US" dirty="0"/>
              <a:t>には </a:t>
            </a:r>
            <a:r>
              <a:rPr lang="en-US" altLang="ja-JP" dirty="0"/>
              <a:t>NMOS </a:t>
            </a:r>
            <a:r>
              <a:rPr lang="ja-JP" altLang="en-US" dirty="0"/>
              <a:t>と </a:t>
            </a:r>
            <a:r>
              <a:rPr lang="en-US" altLang="ja-JP" dirty="0"/>
              <a:t>PMOS </a:t>
            </a:r>
            <a:r>
              <a:rPr lang="ja-JP" altLang="en-US" dirty="0"/>
              <a:t>の２つがある</a:t>
            </a:r>
          </a:p>
        </p:txBody>
      </p:sp>
      <p:sp>
        <p:nvSpPr>
          <p:cNvPr id="3" name="コンテンツ プレースホルダ 2"/>
          <p:cNvSpPr>
            <a:spLocks noGrp="1"/>
          </p:cNvSpPr>
          <p:nvPr>
            <p:ph type="body" sz="quarter" idx="10"/>
          </p:nvPr>
        </p:nvSpPr>
        <p:spPr>
          <a:xfrm>
            <a:off x="2135188" y="1089025"/>
            <a:ext cx="8280400" cy="5219700"/>
          </a:xfrm>
        </p:spPr>
        <p:txBody>
          <a:bodyPr/>
          <a:lstStyle/>
          <a:p>
            <a:r>
              <a:rPr lang="en-US" altLang="ja-JP" dirty="0"/>
              <a:t>Negative (N)</a:t>
            </a:r>
          </a:p>
          <a:p>
            <a:pPr lvl="1"/>
            <a:r>
              <a:rPr lang="ja-JP" altLang="en-US" dirty="0"/>
              <a:t>電子がキャリア</a:t>
            </a:r>
            <a:endParaRPr lang="en-US" altLang="ja-JP" dirty="0"/>
          </a:p>
          <a:p>
            <a:pPr lvl="1"/>
            <a:r>
              <a:rPr lang="ja-JP" altLang="en-US" dirty="0"/>
              <a:t>低電位しか通せない</a:t>
            </a:r>
            <a:endParaRPr lang="en-US" altLang="ja-JP" dirty="0"/>
          </a:p>
          <a:p>
            <a:pPr lvl="1"/>
            <a:r>
              <a:rPr lang="ja-JP" altLang="en-US" dirty="0"/>
              <a:t>接地側に配置</a:t>
            </a:r>
            <a:endParaRPr lang="en-US" altLang="ja-JP" dirty="0"/>
          </a:p>
          <a:p>
            <a:pPr lvl="1"/>
            <a:endParaRPr lang="en-US" altLang="ja-JP" dirty="0"/>
          </a:p>
          <a:p>
            <a:r>
              <a:rPr lang="en-US" altLang="ja-JP" dirty="0"/>
              <a:t>Positive (P)</a:t>
            </a:r>
          </a:p>
          <a:p>
            <a:pPr lvl="1"/>
            <a:r>
              <a:rPr lang="ja-JP" altLang="en-US" dirty="0"/>
              <a:t>正孔 </a:t>
            </a:r>
            <a:r>
              <a:rPr lang="en-US" altLang="ja-JP" dirty="0"/>
              <a:t>(hole)</a:t>
            </a:r>
            <a:r>
              <a:rPr lang="ja-JP" altLang="en-US" dirty="0"/>
              <a:t> がキャリア</a:t>
            </a:r>
            <a:endParaRPr lang="en-US" altLang="ja-JP" dirty="0"/>
          </a:p>
          <a:p>
            <a:pPr lvl="1"/>
            <a:r>
              <a:rPr lang="ja-JP" altLang="en-US" dirty="0"/>
              <a:t>高電位しか通せない</a:t>
            </a:r>
            <a:endParaRPr lang="en-US" altLang="ja-JP" dirty="0"/>
          </a:p>
          <a:p>
            <a:pPr lvl="1"/>
            <a:r>
              <a:rPr lang="ja-JP" altLang="en-US" dirty="0"/>
              <a:t>電源側に配置</a:t>
            </a:r>
            <a:endParaRPr lang="en-US" altLang="ja-JP" dirty="0"/>
          </a:p>
          <a:p>
            <a:pPr lvl="1"/>
            <a:r>
              <a:rPr lang="en-US" altLang="ja-JP" dirty="0"/>
              <a:t>Gate </a:t>
            </a:r>
            <a:r>
              <a:rPr lang="ja-JP" altLang="en-US" dirty="0"/>
              <a:t>に○がついている</a:t>
            </a:r>
            <a:endParaRPr lang="en-US" altLang="ja-JP" dirty="0"/>
          </a:p>
        </p:txBody>
      </p:sp>
      <p:grpSp>
        <p:nvGrpSpPr>
          <p:cNvPr id="6" name="グループ化 5"/>
          <p:cNvGrpSpPr/>
          <p:nvPr/>
        </p:nvGrpSpPr>
        <p:grpSpPr>
          <a:xfrm>
            <a:off x="6096000" y="4599014"/>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grpSp>
        <p:nvGrpSpPr>
          <p:cNvPr id="16" name="グループ化 15"/>
          <p:cNvGrpSpPr/>
          <p:nvPr/>
        </p:nvGrpSpPr>
        <p:grpSpPr>
          <a:xfrm>
            <a:off x="6096000" y="2168987"/>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6816009" y="180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5735997" y="270899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7716019" y="270899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6816009" y="4239009"/>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5735997" y="5139019"/>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7716019" y="5139019"/>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Tree>
    <p:extLst>
      <p:ext uri="{BB962C8B-B14F-4D97-AF65-F5344CB8AC3E}">
        <p14:creationId xmlns:p14="http://schemas.microsoft.com/office/powerpoint/2010/main" val="34096402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N </a:t>
            </a:r>
            <a:r>
              <a:rPr lang="ja-JP" altLang="en-US" dirty="0"/>
              <a:t>型</a:t>
            </a:r>
            <a:r>
              <a:rPr lang="en-US" altLang="ja-JP" dirty="0"/>
              <a:t>/P </a:t>
            </a:r>
            <a:r>
              <a:rPr lang="ja-JP" altLang="en-US" dirty="0"/>
              <a:t>型リレーとほぼ同じ動作</a:t>
            </a:r>
          </a:p>
        </p:txBody>
      </p:sp>
      <p:sp>
        <p:nvSpPr>
          <p:cNvPr id="3" name="コンテンツ プレースホルダ 2"/>
          <p:cNvSpPr>
            <a:spLocks noGrp="1"/>
          </p:cNvSpPr>
          <p:nvPr>
            <p:ph type="body" sz="quarter" idx="10"/>
          </p:nvPr>
        </p:nvSpPr>
        <p:spPr>
          <a:xfrm>
            <a:off x="2135188" y="1089025"/>
            <a:ext cx="8280400" cy="5219700"/>
          </a:xfrm>
        </p:spPr>
        <p:txBody>
          <a:bodyPr/>
          <a:lstStyle/>
          <a:p>
            <a:r>
              <a:rPr lang="en-US" altLang="ja-JP" dirty="0"/>
              <a:t>Negative</a:t>
            </a:r>
          </a:p>
          <a:p>
            <a:pPr lvl="1"/>
            <a:r>
              <a:rPr lang="en-US" altLang="ja-JP" dirty="0"/>
              <a:t>Gate </a:t>
            </a:r>
            <a:r>
              <a:rPr lang="ja-JP" altLang="en-US" dirty="0"/>
              <a:t>を </a:t>
            </a:r>
            <a:r>
              <a:rPr lang="en-US" altLang="ja-JP" dirty="0"/>
              <a:t>1 </a:t>
            </a:r>
            <a:r>
              <a:rPr lang="ja-JP" altLang="en-US" dirty="0"/>
              <a:t>にすると</a:t>
            </a:r>
            <a:br>
              <a:rPr lang="en-US" altLang="ja-JP" dirty="0"/>
            </a:br>
            <a:r>
              <a:rPr lang="en-US" altLang="ja-JP" dirty="0"/>
              <a:t>ON </a:t>
            </a:r>
            <a:r>
              <a:rPr lang="ja-JP" altLang="en-US" dirty="0"/>
              <a:t>になる</a:t>
            </a:r>
            <a:endParaRPr lang="en-US" altLang="ja-JP" dirty="0"/>
          </a:p>
          <a:p>
            <a:pPr lvl="1"/>
            <a:endParaRPr lang="en-US" altLang="ja-JP" dirty="0"/>
          </a:p>
          <a:p>
            <a:pPr lvl="1"/>
            <a:endParaRPr lang="en-US" altLang="ja-JP" dirty="0"/>
          </a:p>
          <a:p>
            <a:r>
              <a:rPr lang="en-US" altLang="ja-JP" dirty="0"/>
              <a:t>Positive</a:t>
            </a:r>
          </a:p>
          <a:p>
            <a:pPr lvl="1"/>
            <a:r>
              <a:rPr lang="en-US" altLang="ja-JP" dirty="0"/>
              <a:t>Gate </a:t>
            </a:r>
            <a:r>
              <a:rPr lang="ja-JP" altLang="en-US" dirty="0"/>
              <a:t>を ０</a:t>
            </a:r>
            <a:r>
              <a:rPr lang="en-US" altLang="ja-JP" dirty="0"/>
              <a:t> </a:t>
            </a:r>
            <a:r>
              <a:rPr lang="ja-JP" altLang="en-US" dirty="0"/>
              <a:t>にすると</a:t>
            </a:r>
            <a:br>
              <a:rPr lang="en-US" altLang="ja-JP" dirty="0"/>
            </a:br>
            <a:r>
              <a:rPr lang="en-US" altLang="ja-JP" dirty="0"/>
              <a:t>ON </a:t>
            </a:r>
            <a:r>
              <a:rPr lang="ja-JP" altLang="en-US" dirty="0"/>
              <a:t>になる</a:t>
            </a:r>
            <a:endParaRPr lang="en-US" altLang="ja-JP" dirty="0"/>
          </a:p>
        </p:txBody>
      </p:sp>
      <p:grpSp>
        <p:nvGrpSpPr>
          <p:cNvPr id="6" name="グループ化 5"/>
          <p:cNvGrpSpPr/>
          <p:nvPr/>
        </p:nvGrpSpPr>
        <p:grpSpPr>
          <a:xfrm>
            <a:off x="5915998" y="4419012"/>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grpSp>
        <p:nvGrpSpPr>
          <p:cNvPr id="16" name="グループ化 15"/>
          <p:cNvGrpSpPr/>
          <p:nvPr/>
        </p:nvGrpSpPr>
        <p:grpSpPr>
          <a:xfrm>
            <a:off x="5915998" y="1988985"/>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6636007" y="162898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5555995"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7536017"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6636007" y="405900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5555995"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7536017"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4D20A9FF-C273-68EE-AAE2-2B4C85DB41B1}"/>
              </a:ext>
            </a:extLst>
          </p:cNvPr>
          <p:cNvGrpSpPr/>
          <p:nvPr/>
        </p:nvGrpSpPr>
        <p:grpSpPr>
          <a:xfrm>
            <a:off x="8526027" y="1988984"/>
            <a:ext cx="1531092" cy="1440374"/>
            <a:chOff x="5202007" y="3068996"/>
            <a:chExt cx="1531092" cy="1440374"/>
          </a:xfrm>
        </p:grpSpPr>
        <p:sp>
          <p:nvSpPr>
            <p:cNvPr id="5" name="正方形/長方形 4">
              <a:extLst>
                <a:ext uri="{FF2B5EF4-FFF2-40B4-BE49-F238E27FC236}">
                  <a16:creationId xmlns:a16="http://schemas.microsoft.com/office/drawing/2014/main" id="{AE9BBB44-7DA6-F8D8-A556-7E2D0EED10FF}"/>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1" name="円/楕円 69">
              <a:extLst>
                <a:ext uri="{FF2B5EF4-FFF2-40B4-BE49-F238E27FC236}">
                  <a16:creationId xmlns:a16="http://schemas.microsoft.com/office/drawing/2014/main" id="{EC5410DB-3924-6636-3A98-1D6EB6539C55}"/>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2" name="直線コネクタ 31">
              <a:extLst>
                <a:ext uri="{FF2B5EF4-FFF2-40B4-BE49-F238E27FC236}">
                  <a16:creationId xmlns:a16="http://schemas.microsoft.com/office/drawing/2014/main" id="{7592A6B3-7EA6-9E62-03DB-DA9A1FAE83F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4249CCA0-38C8-EBD7-336F-8F819F32A5FE}"/>
                </a:ext>
              </a:extLst>
            </p:cNvPr>
            <p:cNvCxnSpPr>
              <a:cxnSpLocks/>
              <a:endCxn id="34"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4" name="円/楕円 68">
              <a:extLst>
                <a:ext uri="{FF2B5EF4-FFF2-40B4-BE49-F238E27FC236}">
                  <a16:creationId xmlns:a16="http://schemas.microsoft.com/office/drawing/2014/main" id="{FB5FF257-823C-17F1-D152-A7CBA118DD6A}"/>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5" name="直線コネクタ 34">
              <a:extLst>
                <a:ext uri="{FF2B5EF4-FFF2-40B4-BE49-F238E27FC236}">
                  <a16:creationId xmlns:a16="http://schemas.microsoft.com/office/drawing/2014/main" id="{EE5941DD-A771-5A4B-C27F-081E04532EA7}"/>
                </a:ext>
              </a:extLst>
            </p:cNvPr>
            <p:cNvCxnSpPr>
              <a:cxnSpLocks/>
              <a:endCxn id="31"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7B77D66B-CB44-DCF4-3F98-5C736F258D6A}"/>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7" name="Rectangle 93">
              <a:extLst>
                <a:ext uri="{FF2B5EF4-FFF2-40B4-BE49-F238E27FC236}">
                  <a16:creationId xmlns:a16="http://schemas.microsoft.com/office/drawing/2014/main" id="{F51FEFD8-9C75-EB34-4E28-7AFC4F3427B5}"/>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8" name="Rectangle 93">
              <a:extLst>
                <a:ext uri="{FF2B5EF4-FFF2-40B4-BE49-F238E27FC236}">
                  <a16:creationId xmlns:a16="http://schemas.microsoft.com/office/drawing/2014/main" id="{972DE9FD-CF0A-A8A2-4258-80F65EE0E4CB}"/>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39" name="Rectangle 93">
              <a:extLst>
                <a:ext uri="{FF2B5EF4-FFF2-40B4-BE49-F238E27FC236}">
                  <a16:creationId xmlns:a16="http://schemas.microsoft.com/office/drawing/2014/main" id="{22674F4A-A4D4-419D-7995-64F739CEEDDD}"/>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40" name="直線コネクタ 39">
              <a:extLst>
                <a:ext uri="{FF2B5EF4-FFF2-40B4-BE49-F238E27FC236}">
                  <a16:creationId xmlns:a16="http://schemas.microsoft.com/office/drawing/2014/main" id="{65F37BEC-6C6B-9A8F-9427-D4CEA6FD52F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48C6C3AF-B87E-AE92-61E4-40F1D8E98EF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42" name="グループ化 41">
            <a:extLst>
              <a:ext uri="{FF2B5EF4-FFF2-40B4-BE49-F238E27FC236}">
                <a16:creationId xmlns:a16="http://schemas.microsoft.com/office/drawing/2014/main" id="{1CAB5E11-FB11-73F8-1975-8233A1F05954}"/>
              </a:ext>
            </a:extLst>
          </p:cNvPr>
          <p:cNvGrpSpPr/>
          <p:nvPr/>
        </p:nvGrpSpPr>
        <p:grpSpPr>
          <a:xfrm>
            <a:off x="8526027" y="4509012"/>
            <a:ext cx="1531092" cy="1440374"/>
            <a:chOff x="5202007" y="2708992"/>
            <a:chExt cx="1531092" cy="1440374"/>
          </a:xfrm>
        </p:grpSpPr>
        <p:grpSp>
          <p:nvGrpSpPr>
            <p:cNvPr id="43" name="グループ化 42">
              <a:extLst>
                <a:ext uri="{FF2B5EF4-FFF2-40B4-BE49-F238E27FC236}">
                  <a16:creationId xmlns:a16="http://schemas.microsoft.com/office/drawing/2014/main" id="{A042DA85-F4FC-3014-7360-4E12AFDA9657}"/>
                </a:ext>
              </a:extLst>
            </p:cNvPr>
            <p:cNvGrpSpPr/>
            <p:nvPr/>
          </p:nvGrpSpPr>
          <p:grpSpPr>
            <a:xfrm>
              <a:off x="5202007" y="2708992"/>
              <a:ext cx="1531092" cy="1440374"/>
              <a:chOff x="5202007" y="3068996"/>
              <a:chExt cx="1531092" cy="1440374"/>
            </a:xfrm>
          </p:grpSpPr>
          <p:sp>
            <p:nvSpPr>
              <p:cNvPr id="45" name="正方形/長方形 44">
                <a:extLst>
                  <a:ext uri="{FF2B5EF4-FFF2-40B4-BE49-F238E27FC236}">
                    <a16:creationId xmlns:a16="http://schemas.microsoft.com/office/drawing/2014/main" id="{C47CB782-1FD7-AA68-4291-A60A9F4712F9}"/>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6" name="円/楕円 69">
                <a:extLst>
                  <a:ext uri="{FF2B5EF4-FFF2-40B4-BE49-F238E27FC236}">
                    <a16:creationId xmlns:a16="http://schemas.microsoft.com/office/drawing/2014/main" id="{8A7C1364-F621-F3F1-F9F8-C556888428EF}"/>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7" name="直線コネクタ 46">
                <a:extLst>
                  <a:ext uri="{FF2B5EF4-FFF2-40B4-BE49-F238E27FC236}">
                    <a16:creationId xmlns:a16="http://schemas.microsoft.com/office/drawing/2014/main" id="{2CB88CDD-FAF5-A353-D7E1-CB59ABF52E3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01AB4057-928F-3ED5-7334-CEDAD8129450}"/>
                  </a:ext>
                </a:extLst>
              </p:cNvPr>
              <p:cNvCxnSpPr>
                <a:cxnSpLocks/>
                <a:endCxn id="49"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9" name="円/楕円 68">
                <a:extLst>
                  <a:ext uri="{FF2B5EF4-FFF2-40B4-BE49-F238E27FC236}">
                    <a16:creationId xmlns:a16="http://schemas.microsoft.com/office/drawing/2014/main" id="{210B036E-6956-443C-39F6-447118F9E1ED}"/>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0" name="直線コネクタ 49">
                <a:extLst>
                  <a:ext uri="{FF2B5EF4-FFF2-40B4-BE49-F238E27FC236}">
                    <a16:creationId xmlns:a16="http://schemas.microsoft.com/office/drawing/2014/main" id="{AFC405F1-A1A9-8E8E-2E95-B3AD1E3C7F4D}"/>
                  </a:ext>
                </a:extLst>
              </p:cNvPr>
              <p:cNvCxnSpPr>
                <a:cxnSpLocks/>
                <a:endCxn id="46"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BB484EB-B9AD-A7D3-ED7C-3167ABDCD0E1}"/>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8EB3165D-6DEB-6E31-472A-0AC8123BF5E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3" name="Rectangle 93">
                <a:extLst>
                  <a:ext uri="{FF2B5EF4-FFF2-40B4-BE49-F238E27FC236}">
                    <a16:creationId xmlns:a16="http://schemas.microsoft.com/office/drawing/2014/main" id="{35DAE38D-AFE0-8F42-CDB7-443EEBD2A42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54" name="Rectangle 93">
                <a:extLst>
                  <a:ext uri="{FF2B5EF4-FFF2-40B4-BE49-F238E27FC236}">
                    <a16:creationId xmlns:a16="http://schemas.microsoft.com/office/drawing/2014/main" id="{E08D5D87-3BF5-F011-A1D2-5A7143F12B56}"/>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55" name="直線コネクタ 54">
                <a:extLst>
                  <a:ext uri="{FF2B5EF4-FFF2-40B4-BE49-F238E27FC236}">
                    <a16:creationId xmlns:a16="http://schemas.microsoft.com/office/drawing/2014/main" id="{24612928-DF70-61AF-FEDC-1CB3D070E630}"/>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2D71FEA6-831D-09D4-8CE5-553F6336A58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4" name="円/楕円 69">
              <a:extLst>
                <a:ext uri="{FF2B5EF4-FFF2-40B4-BE49-F238E27FC236}">
                  <a16:creationId xmlns:a16="http://schemas.microsoft.com/office/drawing/2014/main" id="{A1898B93-7A45-E9F4-19F4-52FD98B933DE}"/>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33772672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en-US" altLang="ja-JP" sz="2400" dirty="0">
                <a:latin typeface="Arial" panose="020B0604020202020204" pitchFamily="34" charset="0"/>
              </a:rPr>
              <a:t>CMOS: Complementary Metal–Oxide–Semiconductor</a:t>
            </a:r>
          </a:p>
        </p:txBody>
      </p:sp>
      <p:sp>
        <p:nvSpPr>
          <p:cNvPr id="5" name="テキスト プレースホルダー 4"/>
          <p:cNvSpPr>
            <a:spLocks noGrp="1"/>
          </p:cNvSpPr>
          <p:nvPr>
            <p:ph type="body" sz="quarter" idx="10"/>
          </p:nvPr>
        </p:nvSpPr>
        <p:spPr/>
        <p:txBody>
          <a:bodyPr/>
          <a:lstStyle/>
          <a:p>
            <a:r>
              <a:rPr kumimoji="1" lang="en-US" altLang="ja-JP" dirty="0"/>
              <a:t>CMOS </a:t>
            </a:r>
            <a:r>
              <a:rPr kumimoji="1" lang="ja-JP" altLang="en-US" dirty="0"/>
              <a:t>は </a:t>
            </a:r>
            <a:r>
              <a:rPr kumimoji="1" lang="en-US" altLang="ja-JP" dirty="0"/>
              <a:t>NMOS </a:t>
            </a:r>
            <a:r>
              <a:rPr kumimoji="1" lang="ja-JP" altLang="en-US" dirty="0"/>
              <a:t>と </a:t>
            </a:r>
            <a:r>
              <a:rPr kumimoji="1" lang="en-US" altLang="ja-JP" dirty="0"/>
              <a:t>PMOS </a:t>
            </a:r>
            <a:r>
              <a:rPr kumimoji="1" lang="ja-JP" altLang="en-US" dirty="0"/>
              <a:t>の２種類のトランジスタから成る</a:t>
            </a:r>
            <a:endParaRPr kumimoji="1" lang="en-US" altLang="ja-JP" dirty="0"/>
          </a:p>
          <a:p>
            <a:pPr lvl="1"/>
            <a:r>
              <a:rPr lang="ja-JP" altLang="en-US" dirty="0"/>
              <a:t>電界で電荷（電子</a:t>
            </a:r>
            <a:r>
              <a:rPr lang="en-US" altLang="ja-JP" dirty="0"/>
              <a:t>/</a:t>
            </a:r>
            <a:r>
              <a:rPr lang="ja-JP" altLang="en-US" dirty="0"/>
              <a:t>正孔）を動かして </a:t>
            </a:r>
            <a:r>
              <a:rPr lang="en-US" altLang="ja-JP" dirty="0"/>
              <a:t>ON/OFF </a:t>
            </a:r>
            <a:r>
              <a:rPr lang="ja-JP" altLang="en-US" dirty="0"/>
              <a:t>する</a:t>
            </a:r>
            <a:endParaRPr lang="en-US" altLang="ja-JP" dirty="0"/>
          </a:p>
          <a:p>
            <a:r>
              <a:rPr lang="ja-JP" altLang="en-US" dirty="0"/>
              <a:t>基本的に </a:t>
            </a:r>
            <a:r>
              <a:rPr lang="en-US" altLang="ja-JP" dirty="0"/>
              <a:t>N </a:t>
            </a:r>
            <a:r>
              <a:rPr lang="ja-JP" altLang="en-US" dirty="0"/>
              <a:t>型</a:t>
            </a:r>
            <a:r>
              <a:rPr lang="en-US" altLang="ja-JP" dirty="0"/>
              <a:t>/P </a:t>
            </a:r>
            <a:r>
              <a:rPr lang="ja-JP" altLang="en-US" dirty="0"/>
              <a:t>型リレーとほぼ同じ動作</a:t>
            </a:r>
            <a:endParaRPr lang="en-US" altLang="ja-JP" dirty="0"/>
          </a:p>
          <a:p>
            <a:pPr lvl="1"/>
            <a:r>
              <a:rPr lang="ja-JP" altLang="en-US" dirty="0">
                <a:solidFill>
                  <a:schemeClr val="accent5"/>
                </a:solidFill>
              </a:rPr>
              <a:t>つまり全く同じように論理回路が組める</a:t>
            </a:r>
            <a:endParaRPr lang="en-US" altLang="ja-JP" dirty="0">
              <a:solidFill>
                <a:schemeClr val="accent5"/>
              </a:solidFill>
            </a:endParaRPr>
          </a:p>
          <a:p>
            <a:r>
              <a:rPr lang="ja-JP" altLang="en-US" dirty="0"/>
              <a:t>現代のコンピュータはこの </a:t>
            </a:r>
            <a:r>
              <a:rPr lang="en-US" altLang="ja-JP" dirty="0"/>
              <a:t>CMOS </a:t>
            </a:r>
            <a:r>
              <a:rPr lang="ja-JP" altLang="en-US" dirty="0"/>
              <a:t>を使って作られている</a:t>
            </a:r>
            <a:endParaRPr lang="en-US" altLang="ja-JP" dirty="0">
              <a:solidFill>
                <a:schemeClr val="accent5"/>
              </a:solidFill>
            </a:endParaRPr>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52</a:t>
            </a:fld>
            <a:endParaRPr kumimoji="1" lang="ja-JP" altLang="en-US"/>
          </a:p>
        </p:txBody>
      </p:sp>
    </p:spTree>
    <p:extLst>
      <p:ext uri="{BB962C8B-B14F-4D97-AF65-F5344CB8AC3E}">
        <p14:creationId xmlns:p14="http://schemas.microsoft.com/office/powerpoint/2010/main" val="1331896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NOT </a:t>
            </a:r>
            <a:r>
              <a:rPr kumimoji="1" lang="ja-JP" altLang="en-US" dirty="0"/>
              <a:t>ゲート の例</a:t>
            </a:r>
          </a:p>
        </p:txBody>
      </p:sp>
      <p:sp>
        <p:nvSpPr>
          <p:cNvPr id="8" name="スライド番号プレースホルダー 7"/>
          <p:cNvSpPr>
            <a:spLocks noGrp="1"/>
          </p:cNvSpPr>
          <p:nvPr>
            <p:ph type="sldNum" sz="quarter" idx="4294967295"/>
          </p:nvPr>
        </p:nvSpPr>
        <p:spPr>
          <a:xfrm>
            <a:off x="11831638" y="6399213"/>
            <a:ext cx="360362" cy="360362"/>
          </a:xfrm>
          <a:prstGeom prst="rect">
            <a:avLst/>
          </a:prstGeom>
        </p:spPr>
        <p:txBody>
          <a:bodyPr/>
          <a:lstStyle/>
          <a:p>
            <a:fld id="{57822056-E1F9-464F-82C8-6C2C7E347532}" type="slidenum">
              <a:rPr lang="ja-JP" altLang="en-US" smtClean="0"/>
              <a:pPr/>
              <a:t>53</a:t>
            </a:fld>
            <a:endParaRPr lang="ja-JP" altLang="en-US"/>
          </a:p>
        </p:txBody>
      </p:sp>
      <p:pic>
        <p:nvPicPr>
          <p:cNvPr id="11" name="Picture 30" descr="NOT"/>
          <p:cNvPicPr>
            <a:picLocks noChangeAspect="1" noChangeArrowheads="1"/>
          </p:cNvPicPr>
          <p:nvPr/>
        </p:nvPicPr>
        <p:blipFill>
          <a:blip r:embed="rId3" cstate="print"/>
          <a:srcRect/>
          <a:stretch>
            <a:fillRect/>
          </a:stretch>
        </p:blipFill>
        <p:spPr bwMode="auto">
          <a:xfrm rot="10800000" flipH="1">
            <a:off x="3035966" y="3068997"/>
            <a:ext cx="717550" cy="720725"/>
          </a:xfrm>
          <a:prstGeom prst="rect">
            <a:avLst/>
          </a:prstGeom>
          <a:noFill/>
        </p:spPr>
      </p:pic>
      <p:sp>
        <p:nvSpPr>
          <p:cNvPr id="12" name="Line 9"/>
          <p:cNvSpPr>
            <a:spLocks noChangeShapeType="1"/>
          </p:cNvSpPr>
          <p:nvPr/>
        </p:nvSpPr>
        <p:spPr bwMode="auto">
          <a:xfrm>
            <a:off x="2675963"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3665974"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6096000" y="4869016"/>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6005999" y="3789004"/>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 name="直線コネクタ 28"/>
          <p:cNvCxnSpPr/>
          <p:nvPr/>
        </p:nvCxnSpPr>
        <p:spPr>
          <a:xfrm flipH="1">
            <a:off x="5015989" y="3429000"/>
            <a:ext cx="540007"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cxnSp>
        <p:nvCxnSpPr>
          <p:cNvPr id="30" name="直線コネクタ 29"/>
          <p:cNvCxnSpPr/>
          <p:nvPr/>
        </p:nvCxnSpPr>
        <p:spPr>
          <a:xfrm flipV="1">
            <a:off x="6276002" y="3068996"/>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6276002" y="4149010"/>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2405960"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𝑖</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2405960" y="3158997"/>
                <a:ext cx="270003" cy="360362"/>
              </a:xfrm>
              <a:prstGeom prst="rect">
                <a:avLst/>
              </a:prstGeom>
              <a:blipFill>
                <a:blip r:embed="rId4"/>
                <a:stretch>
                  <a:fillRect/>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4115979"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4115979" y="3158997"/>
                <a:ext cx="270003" cy="360362"/>
              </a:xfrm>
              <a:prstGeom prst="rect">
                <a:avLst/>
              </a:prstGeom>
              <a:blipFill>
                <a:blip r:embed="rId5"/>
                <a:stretch>
                  <a:fillRect r="-2273"/>
                </a:stretch>
              </a:blipFill>
              <a:ln w="12700" algn="ctr">
                <a:noFill/>
                <a:miter lim="800000"/>
                <a:headEnd/>
                <a:tailEnd/>
              </a:ln>
              <a:effectLst/>
            </p:spPr>
            <p:txBody>
              <a:bodyPr/>
              <a:lstStyle/>
              <a:p>
                <a:r>
                  <a:rPr lang="ja-JP" altLang="en-US">
                    <a:noFill/>
                  </a:rPr>
                  <a:t> </a:t>
                </a:r>
              </a:p>
            </p:txBody>
          </p:sp>
        </mc:Fallback>
      </mc:AlternateContent>
      <p:sp>
        <p:nvSpPr>
          <p:cNvPr id="35" name="Freeform 10"/>
          <p:cNvSpPr>
            <a:spLocks/>
          </p:cNvSpPr>
          <p:nvPr/>
        </p:nvSpPr>
        <p:spPr bwMode="auto">
          <a:xfrm flipV="1">
            <a:off x="5555840" y="2888993"/>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Line 9"/>
          <p:cNvSpPr>
            <a:spLocks noChangeShapeType="1"/>
          </p:cNvSpPr>
          <p:nvPr/>
        </p:nvSpPr>
        <p:spPr bwMode="auto">
          <a:xfrm>
            <a:off x="5555995" y="396900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5915998" y="2708992"/>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mc:AlternateContent xmlns:mc="http://schemas.openxmlformats.org/markup-compatibility/2006" xmlns:a14="http://schemas.microsoft.com/office/drawing/2010/main">
        <mc:Choice Requires="a14">
          <p:sp>
            <p:nvSpPr>
              <p:cNvPr id="39" name="Rectangle 93"/>
              <p:cNvSpPr>
                <a:spLocks noChangeArrowheads="1"/>
              </p:cNvSpPr>
              <p:nvPr/>
            </p:nvSpPr>
            <p:spPr bwMode="auto">
              <a:xfrm>
                <a:off x="4745986"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𝑖</m:t>
                      </m:r>
                    </m:oMath>
                  </m:oMathPara>
                </a14:m>
                <a:endParaRPr lang="en-US" altLang="ja-JP" dirty="0"/>
              </a:p>
            </p:txBody>
          </p:sp>
        </mc:Choice>
        <mc:Fallback xmlns="">
          <p:sp>
            <p:nvSpPr>
              <p:cNvPr id="39" name="Rectangle 93"/>
              <p:cNvSpPr>
                <a:spLocks noRot="1" noChangeAspect="1" noMove="1" noResize="1" noEditPoints="1" noAdjustHandles="1" noChangeArrowheads="1" noChangeShapeType="1" noTextEdit="1"/>
              </p:cNvSpPr>
              <p:nvPr/>
            </p:nvSpPr>
            <p:spPr bwMode="auto">
              <a:xfrm>
                <a:off x="4745986" y="3158997"/>
                <a:ext cx="270003" cy="360362"/>
              </a:xfrm>
              <a:prstGeom prst="rect">
                <a:avLst/>
              </a:prstGeom>
              <a:blipFill>
                <a:blip r:embed="rId6"/>
                <a:stretch>
                  <a:fillRect/>
                </a:stretch>
              </a:blipFill>
              <a:ln w="12700" algn="ctr">
                <a:noFill/>
                <a:miter lim="800000"/>
                <a:headEnd/>
                <a:tailEnd/>
              </a:ln>
              <a:effectLst/>
            </p:spPr>
            <p:txBody>
              <a:bodyPr/>
              <a:lstStyle/>
              <a:p>
                <a:r>
                  <a:rPr lang="ja-JP" altLang="en-US">
                    <a:noFill/>
                  </a:rPr>
                  <a:t> </a:t>
                </a:r>
              </a:p>
            </p:txBody>
          </p:sp>
        </mc:Fallback>
      </mc:AlternateContent>
      <p:cxnSp>
        <p:nvCxnSpPr>
          <p:cNvPr id="40" name="直線コネクタ 39"/>
          <p:cNvCxnSpPr/>
          <p:nvPr/>
        </p:nvCxnSpPr>
        <p:spPr>
          <a:xfrm>
            <a:off x="6276003" y="3429000"/>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93"/>
              <p:cNvSpPr>
                <a:spLocks noChangeArrowheads="1"/>
              </p:cNvSpPr>
              <p:nvPr/>
            </p:nvSpPr>
            <p:spPr bwMode="auto">
              <a:xfrm>
                <a:off x="6906010"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42" name="Rectangle 93"/>
              <p:cNvSpPr>
                <a:spLocks noRot="1" noChangeAspect="1" noMove="1" noResize="1" noEditPoints="1" noAdjustHandles="1" noChangeArrowheads="1" noChangeShapeType="1" noTextEdit="1"/>
              </p:cNvSpPr>
              <p:nvPr/>
            </p:nvSpPr>
            <p:spPr bwMode="auto">
              <a:xfrm>
                <a:off x="6906010" y="3158997"/>
                <a:ext cx="270003" cy="360362"/>
              </a:xfrm>
              <a:prstGeom prst="rect">
                <a:avLst/>
              </a:prstGeom>
              <a:blipFill>
                <a:blip r:embed="rId7"/>
                <a:stretch>
                  <a:fillRect r="-2273"/>
                </a:stretch>
              </a:blipFill>
              <a:ln w="12700" algn="ctr">
                <a:noFill/>
                <a:miter lim="800000"/>
                <a:headEnd/>
                <a:tailEnd/>
              </a:ln>
              <a:effectLst/>
            </p:spPr>
            <p:txBody>
              <a:bodyPr/>
              <a:lstStyle/>
              <a:p>
                <a:r>
                  <a:rPr lang="ja-JP" altLang="en-US">
                    <a:noFill/>
                  </a:rPr>
                  <a:t> </a:t>
                </a:r>
              </a:p>
            </p:txBody>
          </p:sp>
        </mc:Fallback>
      </mc:AlternateContent>
      <p:cxnSp>
        <p:nvCxnSpPr>
          <p:cNvPr id="43" name="直線コネクタ 42"/>
          <p:cNvCxnSpPr/>
          <p:nvPr/>
        </p:nvCxnSpPr>
        <p:spPr>
          <a:xfrm flipV="1">
            <a:off x="6276002" y="1988984"/>
            <a:ext cx="0" cy="72007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6096000" y="1988984"/>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6456005" y="1718981"/>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47" name="Rectangle 93"/>
          <p:cNvSpPr>
            <a:spLocks noChangeArrowheads="1"/>
          </p:cNvSpPr>
          <p:nvPr/>
        </p:nvSpPr>
        <p:spPr bwMode="auto">
          <a:xfrm>
            <a:off x="6366004" y="486901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nvGrpSpPr>
          <p:cNvPr id="3" name="グループ化 2">
            <a:extLst>
              <a:ext uri="{FF2B5EF4-FFF2-40B4-BE49-F238E27FC236}">
                <a16:creationId xmlns:a16="http://schemas.microsoft.com/office/drawing/2014/main" id="{507CEB94-AC03-229D-DFF4-853B11A3CABF}"/>
              </a:ext>
            </a:extLst>
          </p:cNvPr>
          <p:cNvGrpSpPr/>
          <p:nvPr/>
        </p:nvGrpSpPr>
        <p:grpSpPr>
          <a:xfrm>
            <a:off x="8166023" y="3429000"/>
            <a:ext cx="1531092" cy="1440374"/>
            <a:chOff x="5202007" y="3068996"/>
            <a:chExt cx="1531092" cy="1440374"/>
          </a:xfrm>
        </p:grpSpPr>
        <p:sp>
          <p:nvSpPr>
            <p:cNvPr id="4" name="正方形/長方形 3">
              <a:extLst>
                <a:ext uri="{FF2B5EF4-FFF2-40B4-BE49-F238E27FC236}">
                  <a16:creationId xmlns:a16="http://schemas.microsoft.com/office/drawing/2014/main" id="{65B330FD-037F-2E45-3859-FD1DAA322EFA}"/>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5" name="円/楕円 69">
              <a:extLst>
                <a:ext uri="{FF2B5EF4-FFF2-40B4-BE49-F238E27FC236}">
                  <a16:creationId xmlns:a16="http://schemas.microsoft.com/office/drawing/2014/main" id="{CDCB0F10-8B32-94F8-5F02-28259C870A66}"/>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6" name="直線コネクタ 5">
              <a:extLst>
                <a:ext uri="{FF2B5EF4-FFF2-40B4-BE49-F238E27FC236}">
                  <a16:creationId xmlns:a16="http://schemas.microsoft.com/office/drawing/2014/main" id="{E335ADAA-6CF8-D564-0897-28908AC49F93}"/>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EFE753E4-A952-15A1-1C6E-889500ACB47A}"/>
                </a:ext>
              </a:extLst>
            </p:cNvPr>
            <p:cNvCxnSpPr>
              <a:cxnSpLocks/>
              <a:endCxn id="9"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 name="円/楕円 68">
              <a:extLst>
                <a:ext uri="{FF2B5EF4-FFF2-40B4-BE49-F238E27FC236}">
                  <a16:creationId xmlns:a16="http://schemas.microsoft.com/office/drawing/2014/main" id="{2F48EB0F-1E29-9126-A349-DFF23DA8495F}"/>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0" name="直線コネクタ 9">
              <a:extLst>
                <a:ext uri="{FF2B5EF4-FFF2-40B4-BE49-F238E27FC236}">
                  <a16:creationId xmlns:a16="http://schemas.microsoft.com/office/drawing/2014/main" id="{FE67FFEA-536D-6DDC-B032-711814516580}"/>
                </a:ext>
              </a:extLst>
            </p:cNvPr>
            <p:cNvCxnSpPr>
              <a:cxnSpLocks/>
              <a:endCxn id="5"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CF8BFA7-AF93-3F46-C913-0032E902226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7" name="Rectangle 93">
              <a:extLst>
                <a:ext uri="{FF2B5EF4-FFF2-40B4-BE49-F238E27FC236}">
                  <a16:creationId xmlns:a16="http://schemas.microsoft.com/office/drawing/2014/main" id="{84ACD4A8-F131-1BFF-D9AA-323DFFCF8353}"/>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8" name="Rectangle 93">
              <a:extLst>
                <a:ext uri="{FF2B5EF4-FFF2-40B4-BE49-F238E27FC236}">
                  <a16:creationId xmlns:a16="http://schemas.microsoft.com/office/drawing/2014/main" id="{295A7538-4476-0722-8A32-03DF50B66DA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41" name="Rectangle 93">
              <a:extLst>
                <a:ext uri="{FF2B5EF4-FFF2-40B4-BE49-F238E27FC236}">
                  <a16:creationId xmlns:a16="http://schemas.microsoft.com/office/drawing/2014/main" id="{6F1695A8-2C50-3699-99DB-7A4149E22FCF}"/>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44" name="直線コネクタ 43">
              <a:extLst>
                <a:ext uri="{FF2B5EF4-FFF2-40B4-BE49-F238E27FC236}">
                  <a16:creationId xmlns:a16="http://schemas.microsoft.com/office/drawing/2014/main" id="{369CDF76-8E56-3421-0F99-5F727264383F}"/>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AB988A40-224F-B900-313E-CA76BFFE47B3}"/>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49" name="グループ化 48">
            <a:extLst>
              <a:ext uri="{FF2B5EF4-FFF2-40B4-BE49-F238E27FC236}">
                <a16:creationId xmlns:a16="http://schemas.microsoft.com/office/drawing/2014/main" id="{617D0B20-0C59-24D7-D8CD-501F2C7303DC}"/>
              </a:ext>
            </a:extLst>
          </p:cNvPr>
          <p:cNvGrpSpPr/>
          <p:nvPr/>
        </p:nvGrpSpPr>
        <p:grpSpPr>
          <a:xfrm>
            <a:off x="8166023" y="1988984"/>
            <a:ext cx="1531092" cy="1440374"/>
            <a:chOff x="5202007" y="2708992"/>
            <a:chExt cx="1531092" cy="1440374"/>
          </a:xfrm>
        </p:grpSpPr>
        <p:grpSp>
          <p:nvGrpSpPr>
            <p:cNvPr id="50" name="グループ化 49">
              <a:extLst>
                <a:ext uri="{FF2B5EF4-FFF2-40B4-BE49-F238E27FC236}">
                  <a16:creationId xmlns:a16="http://schemas.microsoft.com/office/drawing/2014/main" id="{D6E0C303-C19D-B398-F5D8-5E3BC2B335AF}"/>
                </a:ext>
              </a:extLst>
            </p:cNvPr>
            <p:cNvGrpSpPr/>
            <p:nvPr/>
          </p:nvGrpSpPr>
          <p:grpSpPr>
            <a:xfrm>
              <a:off x="5202007" y="2708992"/>
              <a:ext cx="1531092" cy="1440374"/>
              <a:chOff x="5202007" y="3068996"/>
              <a:chExt cx="1531092" cy="1440374"/>
            </a:xfrm>
          </p:grpSpPr>
          <p:sp>
            <p:nvSpPr>
              <p:cNvPr id="52" name="正方形/長方形 51">
                <a:extLst>
                  <a:ext uri="{FF2B5EF4-FFF2-40B4-BE49-F238E27FC236}">
                    <a16:creationId xmlns:a16="http://schemas.microsoft.com/office/drawing/2014/main" id="{C6B50A3C-AFC5-4A64-9EFF-E40D284F592F}"/>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53" name="円/楕円 69">
                <a:extLst>
                  <a:ext uri="{FF2B5EF4-FFF2-40B4-BE49-F238E27FC236}">
                    <a16:creationId xmlns:a16="http://schemas.microsoft.com/office/drawing/2014/main" id="{52AE18C5-2D9A-38B3-1013-FEE476DE9411}"/>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4" name="直線コネクタ 53">
                <a:extLst>
                  <a:ext uri="{FF2B5EF4-FFF2-40B4-BE49-F238E27FC236}">
                    <a16:creationId xmlns:a16="http://schemas.microsoft.com/office/drawing/2014/main" id="{F89EC409-F8A4-BD91-E0C0-0F4407CAD1BF}"/>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C74C7830-E5CF-E9C6-7759-54B948AD25B7}"/>
                  </a:ext>
                </a:extLst>
              </p:cNvPr>
              <p:cNvCxnSpPr>
                <a:cxnSpLocks/>
                <a:endCxn id="57"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7" name="円/楕円 68">
                <a:extLst>
                  <a:ext uri="{FF2B5EF4-FFF2-40B4-BE49-F238E27FC236}">
                    <a16:creationId xmlns:a16="http://schemas.microsoft.com/office/drawing/2014/main" id="{DF87BC9F-85D8-40B1-15F5-68B8707AEB1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8" name="直線コネクタ 57">
                <a:extLst>
                  <a:ext uri="{FF2B5EF4-FFF2-40B4-BE49-F238E27FC236}">
                    <a16:creationId xmlns:a16="http://schemas.microsoft.com/office/drawing/2014/main" id="{5679007F-FC67-F96D-6371-66811BBD896F}"/>
                  </a:ext>
                </a:extLst>
              </p:cNvPr>
              <p:cNvCxnSpPr>
                <a:cxnSpLocks/>
                <a:endCxn id="5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633979E0-771F-86FA-6384-6617C419F89E}"/>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Rectangle 93">
                <a:extLst>
                  <a:ext uri="{FF2B5EF4-FFF2-40B4-BE49-F238E27FC236}">
                    <a16:creationId xmlns:a16="http://schemas.microsoft.com/office/drawing/2014/main" id="{9F99C878-3311-2323-7A46-FCD4141494C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61" name="Rectangle 93">
                <a:extLst>
                  <a:ext uri="{FF2B5EF4-FFF2-40B4-BE49-F238E27FC236}">
                    <a16:creationId xmlns:a16="http://schemas.microsoft.com/office/drawing/2014/main" id="{20EC0C23-B859-838C-1A85-3E8C774B134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62" name="Rectangle 93">
                <a:extLst>
                  <a:ext uri="{FF2B5EF4-FFF2-40B4-BE49-F238E27FC236}">
                    <a16:creationId xmlns:a16="http://schemas.microsoft.com/office/drawing/2014/main" id="{DFF4A78D-0315-F775-675B-51F8DFCA8D6B}"/>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63" name="直線コネクタ 62">
                <a:extLst>
                  <a:ext uri="{FF2B5EF4-FFF2-40B4-BE49-F238E27FC236}">
                    <a16:creationId xmlns:a16="http://schemas.microsoft.com/office/drawing/2014/main" id="{859C15B6-216A-A4BD-7CFA-D4E67A96C159}"/>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70CA8D23-EB4D-E0B1-4460-3A33AC72013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51" name="円/楕円 69">
              <a:extLst>
                <a:ext uri="{FF2B5EF4-FFF2-40B4-BE49-F238E27FC236}">
                  <a16:creationId xmlns:a16="http://schemas.microsoft.com/office/drawing/2014/main" id="{67CBFCC2-7C48-1258-4D5B-8E059A5DC000}"/>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20132140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NOT </a:t>
            </a:r>
            <a:r>
              <a:rPr lang="ja-JP" altLang="en-US" dirty="0"/>
              <a:t>ゲート の例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2225957" y="4509013"/>
                <a:ext cx="8280092" cy="1979715"/>
              </a:xfrm>
            </p:spPr>
            <p:txBody>
              <a:bodyPr/>
              <a:lstStyle/>
              <a:p>
                <a14:m>
                  <m:oMath xmlns:m="http://schemas.openxmlformats.org/officeDocument/2006/math">
                    <m:r>
                      <a:rPr lang="en-US" altLang="ja-JP" i="1" dirty="0" smtClean="0">
                        <a:latin typeface="Cambria Math" panose="02040503050406030204" pitchFamily="18" charset="0"/>
                      </a:rPr>
                      <m:t>𝑖</m:t>
                    </m:r>
                    <m:r>
                      <a:rPr lang="en-US" altLang="ja-JP" i="1" dirty="0" smtClean="0">
                        <a:latin typeface="Cambria Math" panose="02040503050406030204" pitchFamily="18" charset="0"/>
                      </a:rPr>
                      <m:t> </m:t>
                    </m:r>
                  </m:oMath>
                </a14:m>
                <a:r>
                  <a:rPr kumimoji="1" lang="ja-JP" altLang="en-US" dirty="0"/>
                  <a:t>が </a:t>
                </a:r>
                <a:r>
                  <a:rPr kumimoji="1" lang="en-US" altLang="ja-JP" dirty="0"/>
                  <a:t>0 </a:t>
                </a:r>
                <a:r>
                  <a:rPr kumimoji="1" lang="ja-JP" altLang="en-US" dirty="0"/>
                  <a:t>（低電位）の場合</a:t>
                </a:r>
                <a:endParaRPr kumimoji="1" lang="en-US" altLang="ja-JP" dirty="0"/>
              </a:p>
              <a:p>
                <a:pPr lvl="1"/>
                <a:r>
                  <a:rPr lang="en-US" altLang="ja-JP" dirty="0"/>
                  <a:t>PMOS</a:t>
                </a:r>
                <a:r>
                  <a:rPr lang="ja-JP" altLang="en-US" dirty="0"/>
                  <a:t>（上側）は  </a:t>
                </a:r>
                <a:r>
                  <a:rPr lang="en-US" altLang="ja-JP" dirty="0"/>
                  <a:t>on  = VDD </a:t>
                </a:r>
                <a:r>
                  <a:rPr lang="ja-JP" altLang="en-US" dirty="0"/>
                  <a:t>と繋がる</a:t>
                </a:r>
                <a:endParaRPr lang="en-US" altLang="ja-JP" dirty="0"/>
              </a:p>
              <a:p>
                <a:pPr lvl="1"/>
                <a:r>
                  <a:rPr kumimoji="1" lang="en-US" altLang="ja-JP" dirty="0"/>
                  <a:t>NMOS</a:t>
                </a:r>
                <a:r>
                  <a:rPr kumimoji="1" lang="ja-JP" altLang="en-US" dirty="0"/>
                  <a:t>（下側）は </a:t>
                </a:r>
                <a:r>
                  <a:rPr kumimoji="1" lang="en-US" altLang="ja-JP" dirty="0"/>
                  <a:t>off</a:t>
                </a:r>
              </a:p>
              <a:p>
                <a:r>
                  <a:rPr kumimoji="1" lang="ja-JP" altLang="en-US" dirty="0"/>
                  <a:t>出力が </a:t>
                </a:r>
                <a:r>
                  <a:rPr kumimoji="1" lang="en-US" altLang="ja-JP" dirty="0"/>
                  <a:t>1</a:t>
                </a:r>
                <a:r>
                  <a:rPr lang="ja-JP" altLang="en-US" dirty="0"/>
                  <a:t>（高電位に）</a:t>
                </a:r>
                <a:endParaRPr kumimoji="1" lang="ja-JP" altLang="en-US"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225957" y="4509013"/>
                <a:ext cx="8280092" cy="1979715"/>
              </a:xfrm>
              <a:blipFill>
                <a:blip r:embed="rId3"/>
                <a:stretch>
                  <a:fillRect l="-663" t="-1235" b="-5247"/>
                </a:stretch>
              </a:blipFill>
            </p:spPr>
            <p:txBody>
              <a:bodyPr/>
              <a:lstStyle/>
              <a:p>
                <a:r>
                  <a:rPr lang="ja-JP" altLang="en-US">
                    <a:noFill/>
                  </a:rPr>
                  <a:t> </a:t>
                </a:r>
              </a:p>
            </p:txBody>
          </p:sp>
        </mc:Fallback>
      </mc:AlternateContent>
      <p:sp>
        <p:nvSpPr>
          <p:cNvPr id="8" name="スライド番号プレースホルダー 7"/>
          <p:cNvSpPr>
            <a:spLocks noGrp="1"/>
          </p:cNvSpPr>
          <p:nvPr>
            <p:ph type="sldNum" sz="quarter" idx="4294967295"/>
          </p:nvPr>
        </p:nvSpPr>
        <p:spPr>
          <a:xfrm>
            <a:off x="11831638" y="6399213"/>
            <a:ext cx="360362" cy="360362"/>
          </a:xfrm>
          <a:prstGeom prst="rect">
            <a:avLst/>
          </a:prstGeom>
        </p:spPr>
        <p:txBody>
          <a:bodyPr/>
          <a:lstStyle/>
          <a:p>
            <a:fld id="{57822056-E1F9-464F-82C8-6C2C7E347532}" type="slidenum">
              <a:rPr lang="ja-JP" altLang="en-US" smtClean="0"/>
              <a:pPr/>
              <a:t>54</a:t>
            </a:fld>
            <a:endParaRPr lang="ja-JP" altLang="en-US"/>
          </a:p>
        </p:txBody>
      </p:sp>
      <p:sp>
        <p:nvSpPr>
          <p:cNvPr id="10" name="正方形/長方形 9"/>
          <p:cNvSpPr/>
          <p:nvPr/>
        </p:nvSpPr>
        <p:spPr bwMode="auto">
          <a:xfrm>
            <a:off x="8976320" y="630932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NOT</a:t>
            </a:r>
            <a:endParaRPr lang="ja-JP" altLang="en-US" dirty="0">
              <a:solidFill>
                <a:schemeClr val="tx1"/>
              </a:solidFill>
              <a:latin typeface="Times New Roman" pitchFamily="18" charset="0"/>
              <a:ea typeface="HG丸ｺﾞｼｯｸM-PRO" pitchFamily="50" charset="-128"/>
            </a:endParaRPr>
          </a:p>
        </p:txBody>
      </p:sp>
      <p:sp>
        <p:nvSpPr>
          <p:cNvPr id="12" name="Line 9"/>
          <p:cNvSpPr>
            <a:spLocks noChangeShapeType="1"/>
          </p:cNvSpPr>
          <p:nvPr/>
        </p:nvSpPr>
        <p:spPr bwMode="auto">
          <a:xfrm>
            <a:off x="3215969"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4205980"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7356014" y="4869016"/>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7266013" y="3789004"/>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 name="直線コネクタ 28"/>
          <p:cNvCxnSpPr/>
          <p:nvPr/>
        </p:nvCxnSpPr>
        <p:spPr>
          <a:xfrm flipH="1">
            <a:off x="6276003" y="3429000"/>
            <a:ext cx="540007"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cxnSp>
        <p:nvCxnSpPr>
          <p:cNvPr id="30" name="直線コネクタ 29"/>
          <p:cNvCxnSpPr/>
          <p:nvPr/>
        </p:nvCxnSpPr>
        <p:spPr>
          <a:xfrm flipV="1">
            <a:off x="7536016" y="3068996"/>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7536016" y="4149010"/>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2945966"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𝑖</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2945966" y="3158997"/>
                <a:ext cx="270003" cy="360362"/>
              </a:xfrm>
              <a:prstGeom prst="rect">
                <a:avLst/>
              </a:prstGeom>
              <a:blipFill>
                <a:blip r:embed="rId4"/>
                <a:stretch>
                  <a:fillRect/>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4655985"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4655985" y="3158997"/>
                <a:ext cx="270003" cy="360362"/>
              </a:xfrm>
              <a:prstGeom prst="rect">
                <a:avLst/>
              </a:prstGeom>
              <a:blipFill>
                <a:blip r:embed="rId5"/>
                <a:stretch>
                  <a:fillRect r="-2273"/>
                </a:stretch>
              </a:blipFill>
              <a:ln w="12700" algn="ctr">
                <a:noFill/>
                <a:miter lim="800000"/>
                <a:headEnd/>
                <a:tailEnd/>
              </a:ln>
              <a:effectLst/>
            </p:spPr>
            <p:txBody>
              <a:bodyPr/>
              <a:lstStyle/>
              <a:p>
                <a:r>
                  <a:rPr lang="ja-JP" altLang="en-US">
                    <a:noFill/>
                  </a:rPr>
                  <a:t> </a:t>
                </a:r>
              </a:p>
            </p:txBody>
          </p:sp>
        </mc:Fallback>
      </mc:AlternateContent>
      <p:sp>
        <p:nvSpPr>
          <p:cNvPr id="35" name="Freeform 10"/>
          <p:cNvSpPr>
            <a:spLocks/>
          </p:cNvSpPr>
          <p:nvPr/>
        </p:nvSpPr>
        <p:spPr bwMode="auto">
          <a:xfrm flipV="1">
            <a:off x="6815854" y="2888993"/>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Line 9"/>
          <p:cNvSpPr>
            <a:spLocks noChangeShapeType="1"/>
          </p:cNvSpPr>
          <p:nvPr/>
        </p:nvSpPr>
        <p:spPr bwMode="auto">
          <a:xfrm>
            <a:off x="6816009" y="396900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7176012" y="2708992"/>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mc:AlternateContent xmlns:mc="http://schemas.openxmlformats.org/markup-compatibility/2006" xmlns:a14="http://schemas.microsoft.com/office/drawing/2010/main">
        <mc:Choice Requires="a14">
          <p:sp>
            <p:nvSpPr>
              <p:cNvPr id="39" name="Rectangle 93"/>
              <p:cNvSpPr>
                <a:spLocks noChangeArrowheads="1"/>
              </p:cNvSpPr>
              <p:nvPr/>
            </p:nvSpPr>
            <p:spPr bwMode="auto">
              <a:xfrm>
                <a:off x="6006000"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𝑖</m:t>
                      </m:r>
                    </m:oMath>
                  </m:oMathPara>
                </a14:m>
                <a:endParaRPr lang="en-US" altLang="ja-JP" dirty="0"/>
              </a:p>
            </p:txBody>
          </p:sp>
        </mc:Choice>
        <mc:Fallback xmlns="">
          <p:sp>
            <p:nvSpPr>
              <p:cNvPr id="39" name="Rectangle 93"/>
              <p:cNvSpPr>
                <a:spLocks noRot="1" noChangeAspect="1" noMove="1" noResize="1" noEditPoints="1" noAdjustHandles="1" noChangeArrowheads="1" noChangeShapeType="1" noTextEdit="1"/>
              </p:cNvSpPr>
              <p:nvPr/>
            </p:nvSpPr>
            <p:spPr bwMode="auto">
              <a:xfrm>
                <a:off x="6006000" y="3158997"/>
                <a:ext cx="270003" cy="360362"/>
              </a:xfrm>
              <a:prstGeom prst="rect">
                <a:avLst/>
              </a:prstGeom>
              <a:blipFill>
                <a:blip r:embed="rId6"/>
                <a:stretch>
                  <a:fillRect/>
                </a:stretch>
              </a:blipFill>
              <a:ln w="12700" algn="ctr">
                <a:noFill/>
                <a:miter lim="800000"/>
                <a:headEnd/>
                <a:tailEnd/>
              </a:ln>
              <a:effectLst/>
            </p:spPr>
            <p:txBody>
              <a:bodyPr/>
              <a:lstStyle/>
              <a:p>
                <a:r>
                  <a:rPr lang="ja-JP" altLang="en-US">
                    <a:noFill/>
                  </a:rPr>
                  <a:t> </a:t>
                </a:r>
              </a:p>
            </p:txBody>
          </p:sp>
        </mc:Fallback>
      </mc:AlternateContent>
      <p:cxnSp>
        <p:nvCxnSpPr>
          <p:cNvPr id="40" name="直線コネクタ 39"/>
          <p:cNvCxnSpPr/>
          <p:nvPr/>
        </p:nvCxnSpPr>
        <p:spPr>
          <a:xfrm>
            <a:off x="7536017" y="3429000"/>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93"/>
              <p:cNvSpPr>
                <a:spLocks noChangeArrowheads="1"/>
              </p:cNvSpPr>
              <p:nvPr/>
            </p:nvSpPr>
            <p:spPr bwMode="auto">
              <a:xfrm>
                <a:off x="8166024"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42" name="Rectangle 93"/>
              <p:cNvSpPr>
                <a:spLocks noRot="1" noChangeAspect="1" noMove="1" noResize="1" noEditPoints="1" noAdjustHandles="1" noChangeArrowheads="1" noChangeShapeType="1" noTextEdit="1"/>
              </p:cNvSpPr>
              <p:nvPr/>
            </p:nvSpPr>
            <p:spPr bwMode="auto">
              <a:xfrm>
                <a:off x="8166024" y="3158997"/>
                <a:ext cx="270003" cy="360362"/>
              </a:xfrm>
              <a:prstGeom prst="rect">
                <a:avLst/>
              </a:prstGeom>
              <a:blipFill>
                <a:blip r:embed="rId7"/>
                <a:stretch>
                  <a:fillRect/>
                </a:stretch>
              </a:blipFill>
              <a:ln w="12700" algn="ctr">
                <a:noFill/>
                <a:miter lim="800000"/>
                <a:headEnd/>
                <a:tailEnd/>
              </a:ln>
              <a:effectLst/>
            </p:spPr>
            <p:txBody>
              <a:bodyPr/>
              <a:lstStyle/>
              <a:p>
                <a:r>
                  <a:rPr lang="ja-JP" altLang="en-US">
                    <a:noFill/>
                  </a:rPr>
                  <a:t> </a:t>
                </a:r>
              </a:p>
            </p:txBody>
          </p:sp>
        </mc:Fallback>
      </mc:AlternateContent>
      <p:cxnSp>
        <p:nvCxnSpPr>
          <p:cNvPr id="43" name="直線コネクタ 42"/>
          <p:cNvCxnSpPr/>
          <p:nvPr/>
        </p:nvCxnSpPr>
        <p:spPr>
          <a:xfrm flipV="1">
            <a:off x="7536016" y="1988984"/>
            <a:ext cx="0" cy="72007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7356014" y="1988984"/>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7716019" y="1718981"/>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47" name="Rectangle 93"/>
          <p:cNvSpPr>
            <a:spLocks noChangeArrowheads="1"/>
          </p:cNvSpPr>
          <p:nvPr/>
        </p:nvSpPr>
        <p:spPr bwMode="auto">
          <a:xfrm>
            <a:off x="7626018" y="486901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41" name="Rectangle 93"/>
          <p:cNvSpPr>
            <a:spLocks noChangeArrowheads="1"/>
          </p:cNvSpPr>
          <p:nvPr/>
        </p:nvSpPr>
        <p:spPr bwMode="auto">
          <a:xfrm>
            <a:off x="7716019" y="270899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PMOS (on)</a:t>
            </a:r>
          </a:p>
        </p:txBody>
      </p:sp>
      <p:sp>
        <p:nvSpPr>
          <p:cNvPr id="44" name="Rectangle 93"/>
          <p:cNvSpPr>
            <a:spLocks noChangeArrowheads="1"/>
          </p:cNvSpPr>
          <p:nvPr/>
        </p:nvSpPr>
        <p:spPr bwMode="auto">
          <a:xfrm>
            <a:off x="7716019"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tx1">
                    <a:lumMod val="85000"/>
                    <a:lumOff val="15000"/>
                  </a:schemeClr>
                </a:solidFill>
              </a:rPr>
              <a:t>NMOS (off)</a:t>
            </a:r>
          </a:p>
        </p:txBody>
      </p:sp>
      <p:sp>
        <p:nvSpPr>
          <p:cNvPr id="4" name="曲折矢印 3"/>
          <p:cNvSpPr/>
          <p:nvPr/>
        </p:nvSpPr>
        <p:spPr bwMode="auto">
          <a:xfrm flipV="1">
            <a:off x="7626017" y="2078985"/>
            <a:ext cx="540006" cy="1291344"/>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48" name="Picture 30" descr="NOT"/>
          <p:cNvPicPr>
            <a:picLocks noChangeAspect="1" noChangeArrowheads="1"/>
          </p:cNvPicPr>
          <p:nvPr/>
        </p:nvPicPr>
        <p:blipFill>
          <a:blip r:embed="rId8" cstate="print"/>
          <a:srcRect/>
          <a:stretch>
            <a:fillRect/>
          </a:stretch>
        </p:blipFill>
        <p:spPr bwMode="auto">
          <a:xfrm rot="10800000" flipH="1">
            <a:off x="3575972" y="3068997"/>
            <a:ext cx="717550" cy="720725"/>
          </a:xfrm>
          <a:prstGeom prst="rect">
            <a:avLst/>
          </a:prstGeom>
          <a:noFill/>
        </p:spPr>
      </p:pic>
    </p:spTree>
    <p:extLst>
      <p:ext uri="{BB962C8B-B14F-4D97-AF65-F5344CB8AC3E}">
        <p14:creationId xmlns:p14="http://schemas.microsoft.com/office/powerpoint/2010/main" val="23378842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NOT </a:t>
            </a:r>
            <a:r>
              <a:rPr lang="ja-JP" altLang="en-US" dirty="0"/>
              <a:t>ゲート の例</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2225957" y="4509013"/>
                <a:ext cx="8280092" cy="1979715"/>
              </a:xfrm>
            </p:spPr>
            <p:txBody>
              <a:bodyPr/>
              <a:lstStyle/>
              <a:p>
                <a14:m>
                  <m:oMath xmlns:m="http://schemas.openxmlformats.org/officeDocument/2006/math">
                    <m:r>
                      <a:rPr lang="en-US" altLang="ja-JP" i="1" dirty="0" smtClean="0">
                        <a:latin typeface="Cambria Math" panose="02040503050406030204" pitchFamily="18" charset="0"/>
                      </a:rPr>
                      <m:t>𝑖</m:t>
                    </m:r>
                    <m:r>
                      <a:rPr lang="en-US" altLang="ja-JP" i="1" dirty="0" smtClean="0">
                        <a:latin typeface="Cambria Math" panose="02040503050406030204" pitchFamily="18" charset="0"/>
                      </a:rPr>
                      <m:t> </m:t>
                    </m:r>
                  </m:oMath>
                </a14:m>
                <a:r>
                  <a:rPr kumimoji="1" lang="ja-JP" altLang="en-US" dirty="0"/>
                  <a:t>が </a:t>
                </a:r>
                <a:r>
                  <a:rPr kumimoji="1" lang="en-US" altLang="ja-JP" dirty="0"/>
                  <a:t>1 </a:t>
                </a:r>
                <a:r>
                  <a:rPr kumimoji="1" lang="ja-JP" altLang="en-US" dirty="0"/>
                  <a:t>（高電位）の場合</a:t>
                </a:r>
                <a:endParaRPr kumimoji="1" lang="en-US" altLang="ja-JP" dirty="0"/>
              </a:p>
              <a:p>
                <a:pPr lvl="1"/>
                <a:r>
                  <a:rPr lang="en-US" altLang="ja-JP" dirty="0"/>
                  <a:t>PMOS</a:t>
                </a:r>
                <a:r>
                  <a:rPr lang="ja-JP" altLang="en-US" dirty="0"/>
                  <a:t>（上側）は，</a:t>
                </a:r>
                <a:r>
                  <a:rPr lang="en-US" altLang="ja-JP" dirty="0"/>
                  <a:t>off </a:t>
                </a:r>
              </a:p>
              <a:p>
                <a:pPr lvl="1"/>
                <a:r>
                  <a:rPr kumimoji="1" lang="en-US" altLang="ja-JP" dirty="0"/>
                  <a:t>NMOS</a:t>
                </a:r>
                <a:r>
                  <a:rPr kumimoji="1" lang="ja-JP" altLang="en-US" dirty="0"/>
                  <a:t>（下側）は，</a:t>
                </a:r>
                <a:r>
                  <a:rPr kumimoji="1" lang="en-US" altLang="ja-JP" dirty="0"/>
                  <a:t>on = GND </a:t>
                </a:r>
                <a:r>
                  <a:rPr kumimoji="1" lang="ja-JP" altLang="en-US" dirty="0"/>
                  <a:t>と繋がる</a:t>
                </a:r>
                <a:endParaRPr kumimoji="1" lang="en-US" altLang="ja-JP" dirty="0"/>
              </a:p>
              <a:p>
                <a:r>
                  <a:rPr kumimoji="1" lang="ja-JP" altLang="en-US" dirty="0"/>
                  <a:t>出力が </a:t>
                </a:r>
                <a:r>
                  <a:rPr lang="en-US" altLang="ja-JP" dirty="0"/>
                  <a:t>0</a:t>
                </a:r>
                <a:r>
                  <a:rPr lang="ja-JP" altLang="en-US" dirty="0"/>
                  <a:t>（低電位に）</a:t>
                </a:r>
                <a:endParaRPr kumimoji="1" lang="ja-JP" altLang="en-US" dirty="0"/>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225957" y="4509013"/>
                <a:ext cx="8280092" cy="1979715"/>
              </a:xfrm>
              <a:blipFill>
                <a:blip r:embed="rId3"/>
                <a:stretch>
                  <a:fillRect l="-663" t="-1235" b="-5247"/>
                </a:stretch>
              </a:blipFill>
            </p:spPr>
            <p:txBody>
              <a:bodyPr/>
              <a:lstStyle/>
              <a:p>
                <a:r>
                  <a:rPr lang="ja-JP" altLang="en-US">
                    <a:noFill/>
                  </a:rPr>
                  <a:t> </a:t>
                </a:r>
              </a:p>
            </p:txBody>
          </p:sp>
        </mc:Fallback>
      </mc:AlternateContent>
      <p:sp>
        <p:nvSpPr>
          <p:cNvPr id="8" name="スライド番号プレースホルダー 7"/>
          <p:cNvSpPr>
            <a:spLocks noGrp="1"/>
          </p:cNvSpPr>
          <p:nvPr>
            <p:ph type="sldNum" sz="quarter" idx="4294967295"/>
          </p:nvPr>
        </p:nvSpPr>
        <p:spPr>
          <a:xfrm>
            <a:off x="11831638" y="6399213"/>
            <a:ext cx="360362" cy="360362"/>
          </a:xfrm>
          <a:prstGeom prst="rect">
            <a:avLst/>
          </a:prstGeom>
        </p:spPr>
        <p:txBody>
          <a:bodyPr/>
          <a:lstStyle/>
          <a:p>
            <a:fld id="{57822056-E1F9-464F-82C8-6C2C7E347532}" type="slidenum">
              <a:rPr lang="ja-JP" altLang="en-US" smtClean="0"/>
              <a:pPr/>
              <a:t>55</a:t>
            </a:fld>
            <a:endParaRPr lang="ja-JP" altLang="en-US"/>
          </a:p>
        </p:txBody>
      </p:sp>
      <p:sp>
        <p:nvSpPr>
          <p:cNvPr id="10" name="正方形/長方形 9"/>
          <p:cNvSpPr/>
          <p:nvPr/>
        </p:nvSpPr>
        <p:spPr bwMode="auto">
          <a:xfrm>
            <a:off x="8976320" y="630932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NOT</a:t>
            </a:r>
            <a:endParaRPr lang="ja-JP" altLang="en-US" dirty="0">
              <a:solidFill>
                <a:schemeClr val="tx1"/>
              </a:solidFill>
              <a:latin typeface="Times New Roman" pitchFamily="18" charset="0"/>
              <a:ea typeface="HG丸ｺﾞｼｯｸM-PRO" pitchFamily="50" charset="-128"/>
            </a:endParaRPr>
          </a:p>
        </p:txBody>
      </p:sp>
      <p:sp>
        <p:nvSpPr>
          <p:cNvPr id="12" name="Line 9"/>
          <p:cNvSpPr>
            <a:spLocks noChangeShapeType="1"/>
          </p:cNvSpPr>
          <p:nvPr/>
        </p:nvSpPr>
        <p:spPr bwMode="auto">
          <a:xfrm>
            <a:off x="3215969"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4205980" y="342900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7356014" y="4869016"/>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7266013" y="3789004"/>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9" name="直線コネクタ 28"/>
          <p:cNvCxnSpPr/>
          <p:nvPr/>
        </p:nvCxnSpPr>
        <p:spPr>
          <a:xfrm flipH="1">
            <a:off x="6276003" y="3429000"/>
            <a:ext cx="540007"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cxnSp>
        <p:nvCxnSpPr>
          <p:cNvPr id="30" name="直線コネクタ 29"/>
          <p:cNvCxnSpPr/>
          <p:nvPr/>
        </p:nvCxnSpPr>
        <p:spPr>
          <a:xfrm flipV="1">
            <a:off x="7536016" y="3068996"/>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7536016" y="4149010"/>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2945966"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𝑖</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2945966" y="3158997"/>
                <a:ext cx="270003" cy="360362"/>
              </a:xfrm>
              <a:prstGeom prst="rect">
                <a:avLst/>
              </a:prstGeom>
              <a:blipFill>
                <a:blip r:embed="rId4"/>
                <a:stretch>
                  <a:fillRect/>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4655985"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4655985" y="3158997"/>
                <a:ext cx="270003" cy="360362"/>
              </a:xfrm>
              <a:prstGeom prst="rect">
                <a:avLst/>
              </a:prstGeom>
              <a:blipFill>
                <a:blip r:embed="rId5"/>
                <a:stretch>
                  <a:fillRect r="-2273"/>
                </a:stretch>
              </a:blipFill>
              <a:ln w="12700" algn="ctr">
                <a:noFill/>
                <a:miter lim="800000"/>
                <a:headEnd/>
                <a:tailEnd/>
              </a:ln>
              <a:effectLst/>
            </p:spPr>
            <p:txBody>
              <a:bodyPr/>
              <a:lstStyle/>
              <a:p>
                <a:r>
                  <a:rPr lang="ja-JP" altLang="en-US">
                    <a:noFill/>
                  </a:rPr>
                  <a:t> </a:t>
                </a:r>
              </a:p>
            </p:txBody>
          </p:sp>
        </mc:Fallback>
      </mc:AlternateContent>
      <p:sp>
        <p:nvSpPr>
          <p:cNvPr id="35" name="Freeform 10"/>
          <p:cNvSpPr>
            <a:spLocks/>
          </p:cNvSpPr>
          <p:nvPr/>
        </p:nvSpPr>
        <p:spPr bwMode="auto">
          <a:xfrm flipV="1">
            <a:off x="6815854" y="2888993"/>
            <a:ext cx="360004" cy="108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Line 9"/>
          <p:cNvSpPr>
            <a:spLocks noChangeShapeType="1"/>
          </p:cNvSpPr>
          <p:nvPr/>
        </p:nvSpPr>
        <p:spPr bwMode="auto">
          <a:xfrm>
            <a:off x="6816009" y="396900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7176012" y="2708992"/>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mc:AlternateContent xmlns:mc="http://schemas.openxmlformats.org/markup-compatibility/2006" xmlns:a14="http://schemas.microsoft.com/office/drawing/2010/main">
        <mc:Choice Requires="a14">
          <p:sp>
            <p:nvSpPr>
              <p:cNvPr id="39" name="Rectangle 93"/>
              <p:cNvSpPr>
                <a:spLocks noChangeArrowheads="1"/>
              </p:cNvSpPr>
              <p:nvPr/>
            </p:nvSpPr>
            <p:spPr bwMode="auto">
              <a:xfrm>
                <a:off x="6006000"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𝑖</m:t>
                      </m:r>
                    </m:oMath>
                  </m:oMathPara>
                </a14:m>
                <a:endParaRPr lang="en-US" altLang="ja-JP" dirty="0"/>
              </a:p>
            </p:txBody>
          </p:sp>
        </mc:Choice>
        <mc:Fallback xmlns="">
          <p:sp>
            <p:nvSpPr>
              <p:cNvPr id="39" name="Rectangle 93"/>
              <p:cNvSpPr>
                <a:spLocks noRot="1" noChangeAspect="1" noMove="1" noResize="1" noEditPoints="1" noAdjustHandles="1" noChangeArrowheads="1" noChangeShapeType="1" noTextEdit="1"/>
              </p:cNvSpPr>
              <p:nvPr/>
            </p:nvSpPr>
            <p:spPr bwMode="auto">
              <a:xfrm>
                <a:off x="6006000" y="3158997"/>
                <a:ext cx="270003" cy="360362"/>
              </a:xfrm>
              <a:prstGeom prst="rect">
                <a:avLst/>
              </a:prstGeom>
              <a:blipFill>
                <a:blip r:embed="rId6"/>
                <a:stretch>
                  <a:fillRect/>
                </a:stretch>
              </a:blipFill>
              <a:ln w="12700" algn="ctr">
                <a:noFill/>
                <a:miter lim="800000"/>
                <a:headEnd/>
                <a:tailEnd/>
              </a:ln>
              <a:effectLst/>
            </p:spPr>
            <p:txBody>
              <a:bodyPr/>
              <a:lstStyle/>
              <a:p>
                <a:r>
                  <a:rPr lang="ja-JP" altLang="en-US">
                    <a:noFill/>
                  </a:rPr>
                  <a:t> </a:t>
                </a:r>
              </a:p>
            </p:txBody>
          </p:sp>
        </mc:Fallback>
      </mc:AlternateContent>
      <p:cxnSp>
        <p:nvCxnSpPr>
          <p:cNvPr id="40" name="直線コネクタ 39"/>
          <p:cNvCxnSpPr/>
          <p:nvPr/>
        </p:nvCxnSpPr>
        <p:spPr>
          <a:xfrm>
            <a:off x="7536017" y="3429000"/>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93"/>
              <p:cNvSpPr>
                <a:spLocks noChangeArrowheads="1"/>
              </p:cNvSpPr>
              <p:nvPr/>
            </p:nvSpPr>
            <p:spPr bwMode="auto">
              <a:xfrm>
                <a:off x="8166024" y="315899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42" name="Rectangle 93"/>
              <p:cNvSpPr>
                <a:spLocks noRot="1" noChangeAspect="1" noMove="1" noResize="1" noEditPoints="1" noAdjustHandles="1" noChangeArrowheads="1" noChangeShapeType="1" noTextEdit="1"/>
              </p:cNvSpPr>
              <p:nvPr/>
            </p:nvSpPr>
            <p:spPr bwMode="auto">
              <a:xfrm>
                <a:off x="8166024" y="3158997"/>
                <a:ext cx="270003" cy="360362"/>
              </a:xfrm>
              <a:prstGeom prst="rect">
                <a:avLst/>
              </a:prstGeom>
              <a:blipFill>
                <a:blip r:embed="rId7"/>
                <a:stretch>
                  <a:fillRect/>
                </a:stretch>
              </a:blipFill>
              <a:ln w="12700" algn="ctr">
                <a:noFill/>
                <a:miter lim="800000"/>
                <a:headEnd/>
                <a:tailEnd/>
              </a:ln>
              <a:effectLst/>
            </p:spPr>
            <p:txBody>
              <a:bodyPr/>
              <a:lstStyle/>
              <a:p>
                <a:r>
                  <a:rPr lang="ja-JP" altLang="en-US">
                    <a:noFill/>
                  </a:rPr>
                  <a:t> </a:t>
                </a:r>
              </a:p>
            </p:txBody>
          </p:sp>
        </mc:Fallback>
      </mc:AlternateContent>
      <p:cxnSp>
        <p:nvCxnSpPr>
          <p:cNvPr id="43" name="直線コネクタ 42"/>
          <p:cNvCxnSpPr/>
          <p:nvPr/>
        </p:nvCxnSpPr>
        <p:spPr>
          <a:xfrm flipV="1">
            <a:off x="7536016" y="1988984"/>
            <a:ext cx="0" cy="72007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7356014" y="1988984"/>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7716019" y="1718981"/>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47" name="Rectangle 93"/>
          <p:cNvSpPr>
            <a:spLocks noChangeArrowheads="1"/>
          </p:cNvSpPr>
          <p:nvPr/>
        </p:nvSpPr>
        <p:spPr bwMode="auto">
          <a:xfrm>
            <a:off x="7626018" y="4869016"/>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41" name="Rectangle 93"/>
          <p:cNvSpPr>
            <a:spLocks noChangeArrowheads="1"/>
          </p:cNvSpPr>
          <p:nvPr/>
        </p:nvSpPr>
        <p:spPr bwMode="auto">
          <a:xfrm>
            <a:off x="7716019" y="270899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PMOS (off)</a:t>
            </a:r>
          </a:p>
        </p:txBody>
      </p:sp>
      <p:sp>
        <p:nvSpPr>
          <p:cNvPr id="44" name="Rectangle 93"/>
          <p:cNvSpPr>
            <a:spLocks noChangeArrowheads="1"/>
          </p:cNvSpPr>
          <p:nvPr/>
        </p:nvSpPr>
        <p:spPr bwMode="auto">
          <a:xfrm>
            <a:off x="7716019"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NMOS (on)</a:t>
            </a:r>
          </a:p>
        </p:txBody>
      </p:sp>
      <p:sp>
        <p:nvSpPr>
          <p:cNvPr id="48" name="曲折矢印 47"/>
          <p:cNvSpPr/>
          <p:nvPr/>
        </p:nvSpPr>
        <p:spPr bwMode="auto">
          <a:xfrm rot="16200000" flipH="1">
            <a:off x="7266016" y="3879007"/>
            <a:ext cx="1260013" cy="54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pic>
        <p:nvPicPr>
          <p:cNvPr id="49" name="Picture 30" descr="NOT"/>
          <p:cNvPicPr>
            <a:picLocks noChangeAspect="1" noChangeArrowheads="1"/>
          </p:cNvPicPr>
          <p:nvPr/>
        </p:nvPicPr>
        <p:blipFill>
          <a:blip r:embed="rId8" cstate="print"/>
          <a:srcRect/>
          <a:stretch>
            <a:fillRect/>
          </a:stretch>
        </p:blipFill>
        <p:spPr bwMode="auto">
          <a:xfrm rot="10800000" flipH="1">
            <a:off x="3575972" y="3068997"/>
            <a:ext cx="717550" cy="720725"/>
          </a:xfrm>
          <a:prstGeom prst="rect">
            <a:avLst/>
          </a:prstGeom>
          <a:noFill/>
        </p:spPr>
      </p:pic>
    </p:spTree>
    <p:extLst>
      <p:ext uri="{BB962C8B-B14F-4D97-AF65-F5344CB8AC3E}">
        <p14:creationId xmlns:p14="http://schemas.microsoft.com/office/powerpoint/2010/main" val="848763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NAND </a:t>
            </a:r>
            <a:r>
              <a:rPr kumimoji="1" lang="ja-JP" altLang="en-US" dirty="0"/>
              <a:t>の例</a:t>
            </a:r>
          </a:p>
        </p:txBody>
      </p:sp>
      <mc:AlternateContent xmlns:mc="http://schemas.openxmlformats.org/markup-compatibility/2006" xmlns:a14="http://schemas.microsoft.com/office/drawing/2010/main">
        <mc:Choice Requires="a14">
          <p:sp>
            <p:nvSpPr>
              <p:cNvPr id="76" name="テキスト プレースホルダー 2"/>
              <p:cNvSpPr>
                <a:spLocks noGrp="1"/>
              </p:cNvSpPr>
              <p:nvPr>
                <p:ph type="body" sz="quarter" idx="10"/>
              </p:nvPr>
            </p:nvSpPr>
            <p:spPr>
              <a:xfrm>
                <a:off x="2135956" y="5409023"/>
                <a:ext cx="8280092" cy="899703"/>
              </a:xfrm>
            </p:spPr>
            <p:txBody>
              <a:bodyPr/>
              <a:lstStyle/>
              <a:p>
                <a14:m>
                  <m:oMath xmlns:m="http://schemas.openxmlformats.org/officeDocument/2006/math">
                    <m:r>
                      <a:rPr lang="en-US" altLang="ja-JP" b="0" i="1" dirty="0" smtClean="0">
                        <a:latin typeface="Cambria Math" panose="02040503050406030204" pitchFamily="18" charset="0"/>
                      </a:rPr>
                      <m:t>𝑎</m:t>
                    </m:r>
                    <m:r>
                      <a:rPr lang="en-US" altLang="ja-JP" i="1" dirty="0" smtClean="0">
                        <a:latin typeface="Cambria Math" panose="02040503050406030204" pitchFamily="18" charset="0"/>
                      </a:rPr>
                      <m:t> </m:t>
                    </m:r>
                  </m:oMath>
                </a14:m>
                <a:r>
                  <a:rPr kumimoji="1" lang="ja-JP" altLang="en-US" dirty="0"/>
                  <a:t>と </a:t>
                </a:r>
                <a:r>
                  <a:rPr kumimoji="1" lang="en-US" altLang="ja-JP" dirty="0"/>
                  <a:t>b </a:t>
                </a:r>
                <a:r>
                  <a:rPr kumimoji="1" lang="ja-JP" altLang="en-US" dirty="0"/>
                  <a:t>共に </a:t>
                </a:r>
                <a:r>
                  <a:rPr kumimoji="1" lang="en-US" altLang="ja-JP" dirty="0"/>
                  <a:t>1 </a:t>
                </a:r>
                <a:r>
                  <a:rPr kumimoji="1" lang="ja-JP" altLang="en-US" dirty="0"/>
                  <a:t>（高電位）の場合</a:t>
                </a:r>
                <a:endParaRPr kumimoji="1" lang="en-US" altLang="ja-JP" dirty="0"/>
              </a:p>
              <a:p>
                <a:pPr lvl="1"/>
                <a:r>
                  <a:rPr lang="en-US" altLang="ja-JP" dirty="0"/>
                  <a:t>PMOS</a:t>
                </a:r>
                <a:r>
                  <a:rPr lang="ja-JP" altLang="en-US" dirty="0"/>
                  <a:t>（上側）は，</a:t>
                </a:r>
                <a:r>
                  <a:rPr lang="en-US" altLang="ja-JP" dirty="0"/>
                  <a:t>off </a:t>
                </a:r>
              </a:p>
              <a:p>
                <a:pPr lvl="1"/>
                <a:r>
                  <a:rPr kumimoji="1" lang="en-US" altLang="ja-JP" dirty="0"/>
                  <a:t>NMOS</a:t>
                </a:r>
                <a:r>
                  <a:rPr kumimoji="1" lang="ja-JP" altLang="en-US" dirty="0"/>
                  <a:t>（下側）は，双方 </a:t>
                </a:r>
                <a:r>
                  <a:rPr kumimoji="1" lang="en-US" altLang="ja-JP" dirty="0"/>
                  <a:t>on = GND </a:t>
                </a:r>
                <a:r>
                  <a:rPr kumimoji="1" lang="ja-JP" altLang="en-US" dirty="0"/>
                  <a:t>と繋がる</a:t>
                </a:r>
                <a:endParaRPr kumimoji="1" lang="en-US" altLang="ja-JP" dirty="0"/>
              </a:p>
              <a:p>
                <a:r>
                  <a:rPr kumimoji="1" lang="ja-JP" altLang="en-US" dirty="0"/>
                  <a:t>出力が </a:t>
                </a:r>
                <a:r>
                  <a:rPr lang="en-US" altLang="ja-JP" dirty="0"/>
                  <a:t>0</a:t>
                </a:r>
                <a:r>
                  <a:rPr lang="ja-JP" altLang="en-US" dirty="0"/>
                  <a:t>（低電位に）</a:t>
                </a:r>
                <a:endParaRPr kumimoji="1" lang="ja-JP" altLang="en-US" dirty="0"/>
              </a:p>
            </p:txBody>
          </p:sp>
        </mc:Choice>
        <mc:Fallback xmlns="">
          <p:sp>
            <p:nvSpPr>
              <p:cNvPr id="76" name="テキスト プレースホルダー 2"/>
              <p:cNvSpPr>
                <a:spLocks noGrp="1" noRot="1" noChangeAspect="1" noMove="1" noResize="1" noEditPoints="1" noAdjustHandles="1" noChangeArrowheads="1" noChangeShapeType="1" noTextEdit="1"/>
              </p:cNvSpPr>
              <p:nvPr>
                <p:ph type="body" sz="quarter" idx="10"/>
              </p:nvPr>
            </p:nvSpPr>
            <p:spPr>
              <a:xfrm>
                <a:off x="2135956" y="5409023"/>
                <a:ext cx="8280092" cy="899703"/>
              </a:xfrm>
              <a:blipFill>
                <a:blip r:embed="rId3"/>
                <a:stretch>
                  <a:fillRect l="-662" t="-62162" b="-70946"/>
                </a:stretch>
              </a:blipFill>
            </p:spPr>
            <p:txBody>
              <a:bodyPr/>
              <a:lstStyle/>
              <a:p>
                <a:r>
                  <a:rPr lang="ja-JP" altLang="en-US">
                    <a:noFill/>
                  </a:rPr>
                  <a:t> </a:t>
                </a:r>
              </a:p>
            </p:txBody>
          </p:sp>
        </mc:Fallback>
      </mc:AlternateContent>
      <p:sp>
        <p:nvSpPr>
          <p:cNvPr id="8" name="スライド番号プレースホルダー 7"/>
          <p:cNvSpPr>
            <a:spLocks noGrp="1"/>
          </p:cNvSpPr>
          <p:nvPr>
            <p:ph type="sldNum" sz="quarter" idx="4294967295"/>
          </p:nvPr>
        </p:nvSpPr>
        <p:spPr>
          <a:xfrm>
            <a:off x="11831638" y="6399213"/>
            <a:ext cx="360362" cy="360362"/>
          </a:xfrm>
          <a:prstGeom prst="rect">
            <a:avLst/>
          </a:prstGeom>
        </p:spPr>
        <p:txBody>
          <a:bodyPr/>
          <a:lstStyle/>
          <a:p>
            <a:fld id="{57822056-E1F9-464F-82C8-6C2C7E347532}" type="slidenum">
              <a:rPr lang="ja-JP" altLang="en-US" smtClean="0"/>
              <a:pPr/>
              <a:t>56</a:t>
            </a:fld>
            <a:endParaRPr lang="ja-JP" altLang="en-US"/>
          </a:p>
        </p:txBody>
      </p:sp>
      <p:sp>
        <p:nvSpPr>
          <p:cNvPr id="12" name="Line 9"/>
          <p:cNvSpPr>
            <a:spLocks noChangeShapeType="1"/>
          </p:cNvSpPr>
          <p:nvPr/>
        </p:nvSpPr>
        <p:spPr bwMode="auto">
          <a:xfrm>
            <a:off x="3215969"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3" name="Line 9"/>
          <p:cNvSpPr>
            <a:spLocks noChangeShapeType="1"/>
          </p:cNvSpPr>
          <p:nvPr/>
        </p:nvSpPr>
        <p:spPr bwMode="auto">
          <a:xfrm>
            <a:off x="4205980"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14" name="グループ化 13"/>
          <p:cNvGrpSpPr/>
          <p:nvPr/>
        </p:nvGrpSpPr>
        <p:grpSpPr>
          <a:xfrm>
            <a:off x="7356014" y="5229019"/>
            <a:ext cx="360048" cy="180024"/>
            <a:chOff x="1691616" y="2708904"/>
            <a:chExt cx="360048" cy="180024"/>
          </a:xfrm>
        </p:grpSpPr>
        <p:cxnSp>
          <p:nvCxnSpPr>
            <p:cNvPr id="15" name="直線コネクタ 14"/>
            <p:cNvCxnSpPr/>
            <p:nvPr/>
          </p:nvCxnSpPr>
          <p:spPr>
            <a:xfrm flipV="1">
              <a:off x="1691616" y="2708904"/>
              <a:ext cx="360048"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V="1">
              <a:off x="1759125" y="2798916"/>
              <a:ext cx="225030" cy="0"/>
            </a:xfrm>
            <a:prstGeom prst="line">
              <a:avLst/>
            </a:prstGeom>
            <a:ln w="1270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flipV="1">
              <a:off x="1826634" y="2888928"/>
              <a:ext cx="90012"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18" name="グループ化 17"/>
          <p:cNvGrpSpPr/>
          <p:nvPr/>
        </p:nvGrpSpPr>
        <p:grpSpPr>
          <a:xfrm>
            <a:off x="7266013" y="4149007"/>
            <a:ext cx="270036" cy="360048"/>
            <a:chOff x="6282228" y="1988808"/>
            <a:chExt cx="270036" cy="360048"/>
          </a:xfrm>
        </p:grpSpPr>
        <p:cxnSp>
          <p:nvCxnSpPr>
            <p:cNvPr id="19" name="直線コネクタ 18"/>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1" name="直線コネクタ 20"/>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 name="直線コネクタ 29"/>
          <p:cNvCxnSpPr/>
          <p:nvPr/>
        </p:nvCxnSpPr>
        <p:spPr>
          <a:xfrm flipV="1">
            <a:off x="7536016" y="2708992"/>
            <a:ext cx="0" cy="720008"/>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V="1">
            <a:off x="7536016" y="4509013"/>
            <a:ext cx="0" cy="720007"/>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Rectangle 93"/>
              <p:cNvSpPr>
                <a:spLocks noChangeArrowheads="1"/>
              </p:cNvSpPr>
              <p:nvPr/>
            </p:nvSpPr>
            <p:spPr bwMode="auto">
              <a:xfrm>
                <a:off x="2945966" y="1178975"/>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𝑎</m:t>
                      </m:r>
                    </m:oMath>
                  </m:oMathPara>
                </a14:m>
                <a:endParaRPr lang="en-US" altLang="ja-JP" dirty="0"/>
              </a:p>
            </p:txBody>
          </p:sp>
        </mc:Choice>
        <mc:Fallback xmlns="">
          <p:sp>
            <p:nvSpPr>
              <p:cNvPr id="32" name="Rectangle 93"/>
              <p:cNvSpPr>
                <a:spLocks noRot="1" noChangeAspect="1" noMove="1" noResize="1" noEditPoints="1" noAdjustHandles="1" noChangeArrowheads="1" noChangeShapeType="1" noTextEdit="1"/>
              </p:cNvSpPr>
              <p:nvPr/>
            </p:nvSpPr>
            <p:spPr bwMode="auto">
              <a:xfrm>
                <a:off x="2945966" y="1178975"/>
                <a:ext cx="270003" cy="360362"/>
              </a:xfrm>
              <a:prstGeom prst="rect">
                <a:avLst/>
              </a:prstGeom>
              <a:blipFill>
                <a:blip r:embed="rId4"/>
                <a:stretch>
                  <a:fillRect r="-2222"/>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Rectangle 93"/>
              <p:cNvSpPr>
                <a:spLocks noChangeArrowheads="1"/>
              </p:cNvSpPr>
              <p:nvPr/>
            </p:nvSpPr>
            <p:spPr bwMode="auto">
              <a:xfrm>
                <a:off x="4655985" y="135897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33" name="Rectangle 93"/>
              <p:cNvSpPr>
                <a:spLocks noRot="1" noChangeAspect="1" noMove="1" noResize="1" noEditPoints="1" noAdjustHandles="1" noChangeArrowheads="1" noChangeShapeType="1" noTextEdit="1"/>
              </p:cNvSpPr>
              <p:nvPr/>
            </p:nvSpPr>
            <p:spPr bwMode="auto">
              <a:xfrm>
                <a:off x="4655985" y="1358977"/>
                <a:ext cx="270003" cy="360362"/>
              </a:xfrm>
              <a:prstGeom prst="rect">
                <a:avLst/>
              </a:prstGeom>
              <a:blipFill>
                <a:blip r:embed="rId5"/>
                <a:stretch>
                  <a:fillRect r="-2273"/>
                </a:stretch>
              </a:blipFill>
              <a:ln w="12700" algn="ctr">
                <a:noFill/>
                <a:miter lim="800000"/>
                <a:headEnd/>
                <a:tailEnd/>
              </a:ln>
              <a:effectLst/>
            </p:spPr>
            <p:txBody>
              <a:bodyPr/>
              <a:lstStyle/>
              <a:p>
                <a:r>
                  <a:rPr lang="ja-JP" altLang="en-US">
                    <a:noFill/>
                  </a:rPr>
                  <a:t> </a:t>
                </a:r>
              </a:p>
            </p:txBody>
          </p:sp>
        </mc:Fallback>
      </mc:AlternateContent>
      <p:sp>
        <p:nvSpPr>
          <p:cNvPr id="36" name="Line 9"/>
          <p:cNvSpPr>
            <a:spLocks noChangeShapeType="1"/>
          </p:cNvSpPr>
          <p:nvPr/>
        </p:nvSpPr>
        <p:spPr bwMode="auto">
          <a:xfrm>
            <a:off x="6726007" y="4329009"/>
            <a:ext cx="540006" cy="1"/>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grpSp>
        <p:nvGrpSpPr>
          <p:cNvPr id="23" name="グループ化 22"/>
          <p:cNvGrpSpPr/>
          <p:nvPr/>
        </p:nvGrpSpPr>
        <p:grpSpPr>
          <a:xfrm>
            <a:off x="6816008" y="1988984"/>
            <a:ext cx="360048" cy="360048"/>
            <a:chOff x="3131808" y="1628760"/>
            <a:chExt cx="360048" cy="360048"/>
          </a:xfrm>
        </p:grpSpPr>
        <p:cxnSp>
          <p:nvCxnSpPr>
            <p:cNvPr id="24" name="直線コネクタ 23"/>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43" name="直線コネクタ 42"/>
          <p:cNvCxnSpPr/>
          <p:nvPr/>
        </p:nvCxnSpPr>
        <p:spPr>
          <a:xfrm flipV="1">
            <a:off x="7536016" y="1268976"/>
            <a:ext cx="0" cy="36000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45" name="直線コネクタ 44"/>
          <p:cNvCxnSpPr/>
          <p:nvPr/>
        </p:nvCxnSpPr>
        <p:spPr>
          <a:xfrm>
            <a:off x="7356014" y="126897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46" name="Rectangle 93"/>
          <p:cNvSpPr>
            <a:spLocks noChangeArrowheads="1"/>
          </p:cNvSpPr>
          <p:nvPr/>
        </p:nvSpPr>
        <p:spPr bwMode="auto">
          <a:xfrm>
            <a:off x="7716019" y="998973"/>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sp>
        <p:nvSpPr>
          <p:cNvPr id="47" name="Rectangle 93"/>
          <p:cNvSpPr>
            <a:spLocks noChangeArrowheads="1"/>
          </p:cNvSpPr>
          <p:nvPr/>
        </p:nvSpPr>
        <p:spPr bwMode="auto">
          <a:xfrm>
            <a:off x="7626018" y="5229019"/>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sp>
        <p:nvSpPr>
          <p:cNvPr id="38" name="Line 9"/>
          <p:cNvSpPr>
            <a:spLocks noChangeShapeType="1"/>
          </p:cNvSpPr>
          <p:nvPr/>
        </p:nvSpPr>
        <p:spPr bwMode="auto">
          <a:xfrm>
            <a:off x="3215969" y="180862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41" name="Rectangle 93"/>
              <p:cNvSpPr>
                <a:spLocks noChangeArrowheads="1"/>
              </p:cNvSpPr>
              <p:nvPr/>
            </p:nvSpPr>
            <p:spPr bwMode="auto">
              <a:xfrm>
                <a:off x="2945966" y="1538621"/>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𝑏</m:t>
                      </m:r>
                    </m:oMath>
                  </m:oMathPara>
                </a14:m>
                <a:endParaRPr lang="en-US" altLang="ja-JP" dirty="0"/>
              </a:p>
            </p:txBody>
          </p:sp>
        </mc:Choice>
        <mc:Fallback xmlns="">
          <p:sp>
            <p:nvSpPr>
              <p:cNvPr id="41" name="Rectangle 93"/>
              <p:cNvSpPr>
                <a:spLocks noRot="1" noChangeAspect="1" noMove="1" noResize="1" noEditPoints="1" noAdjustHandles="1" noChangeArrowheads="1" noChangeShapeType="1" noTextEdit="1"/>
              </p:cNvSpPr>
              <p:nvPr/>
            </p:nvSpPr>
            <p:spPr bwMode="auto">
              <a:xfrm>
                <a:off x="2945966" y="1538621"/>
                <a:ext cx="270003" cy="360362"/>
              </a:xfrm>
              <a:prstGeom prst="rect">
                <a:avLst/>
              </a:prstGeom>
              <a:blipFill>
                <a:blip r:embed="rId6"/>
                <a:stretch>
                  <a:fillRect r="-8889"/>
                </a:stretch>
              </a:blipFill>
              <a:ln w="12700" algn="ctr">
                <a:noFill/>
                <a:miter lim="800000"/>
                <a:headEnd/>
                <a:tailEnd/>
              </a:ln>
              <a:effectLst/>
            </p:spPr>
            <p:txBody>
              <a:bodyPr/>
              <a:lstStyle/>
              <a:p>
                <a:r>
                  <a:rPr lang="ja-JP" altLang="en-US">
                    <a:noFill/>
                  </a:rPr>
                  <a:t> </a:t>
                </a:r>
              </a:p>
            </p:txBody>
          </p:sp>
        </mc:Fallback>
      </mc:AlternateContent>
      <p:pic>
        <p:nvPicPr>
          <p:cNvPr id="37" name="Picture 83" descr="NAND"/>
          <p:cNvPicPr>
            <a:picLocks noChangeAspect="1" noChangeArrowheads="1"/>
          </p:cNvPicPr>
          <p:nvPr/>
        </p:nvPicPr>
        <p:blipFill>
          <a:blip r:embed="rId7" cstate="print"/>
          <a:srcRect/>
          <a:stretch>
            <a:fillRect/>
          </a:stretch>
        </p:blipFill>
        <p:spPr bwMode="auto">
          <a:xfrm>
            <a:off x="3485971" y="1268977"/>
            <a:ext cx="1079500" cy="720725"/>
          </a:xfrm>
          <a:prstGeom prst="rect">
            <a:avLst/>
          </a:prstGeom>
          <a:noFill/>
        </p:spPr>
      </p:pic>
      <p:grpSp>
        <p:nvGrpSpPr>
          <p:cNvPr id="44" name="グループ化 43"/>
          <p:cNvGrpSpPr/>
          <p:nvPr/>
        </p:nvGrpSpPr>
        <p:grpSpPr>
          <a:xfrm>
            <a:off x="7266013" y="3429000"/>
            <a:ext cx="270036" cy="360048"/>
            <a:chOff x="6282228" y="1988808"/>
            <a:chExt cx="270036" cy="360048"/>
          </a:xfrm>
        </p:grpSpPr>
        <p:cxnSp>
          <p:nvCxnSpPr>
            <p:cNvPr id="48" name="直線コネクタ 47"/>
            <p:cNvCxnSpPr/>
            <p:nvPr/>
          </p:nvCxnSpPr>
          <p:spPr>
            <a:xfrm flipH="1">
              <a:off x="63722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9" name="直線コネクタ 48"/>
            <p:cNvCxnSpPr/>
            <p:nvPr/>
          </p:nvCxnSpPr>
          <p:spPr>
            <a:xfrm>
              <a:off x="6372240"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0" name="直線コネクタ 49"/>
            <p:cNvCxnSpPr/>
            <p:nvPr/>
          </p:nvCxnSpPr>
          <p:spPr>
            <a:xfrm flipH="1">
              <a:off x="63722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a:off x="6282228"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2" name="Line 9"/>
          <p:cNvSpPr>
            <a:spLocks noChangeShapeType="1"/>
          </p:cNvSpPr>
          <p:nvPr/>
        </p:nvSpPr>
        <p:spPr bwMode="auto">
          <a:xfrm>
            <a:off x="7536017" y="3789005"/>
            <a:ext cx="1" cy="360003"/>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53" name="Line 9"/>
          <p:cNvSpPr>
            <a:spLocks noChangeShapeType="1"/>
          </p:cNvSpPr>
          <p:nvPr/>
        </p:nvSpPr>
        <p:spPr bwMode="auto">
          <a:xfrm>
            <a:off x="6726007" y="3609002"/>
            <a:ext cx="540006"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54" name="Rectangle 93"/>
              <p:cNvSpPr>
                <a:spLocks noChangeArrowheads="1"/>
              </p:cNvSpPr>
              <p:nvPr/>
            </p:nvSpPr>
            <p:spPr bwMode="auto">
              <a:xfrm>
                <a:off x="6456005" y="333935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𝑎</m:t>
                      </m:r>
                    </m:oMath>
                  </m:oMathPara>
                </a14:m>
                <a:endParaRPr lang="en-US" altLang="ja-JP" dirty="0"/>
              </a:p>
            </p:txBody>
          </p:sp>
        </mc:Choice>
        <mc:Fallback xmlns="">
          <p:sp>
            <p:nvSpPr>
              <p:cNvPr id="54" name="Rectangle 93"/>
              <p:cNvSpPr>
                <a:spLocks noRot="1" noChangeAspect="1" noMove="1" noResize="1" noEditPoints="1" noAdjustHandles="1" noChangeArrowheads="1" noChangeShapeType="1" noTextEdit="1"/>
              </p:cNvSpPr>
              <p:nvPr/>
            </p:nvSpPr>
            <p:spPr bwMode="auto">
              <a:xfrm>
                <a:off x="6456005" y="3339357"/>
                <a:ext cx="270003" cy="360362"/>
              </a:xfrm>
              <a:prstGeom prst="rect">
                <a:avLst/>
              </a:prstGeom>
              <a:blipFill>
                <a:blip r:embed="rId8"/>
                <a:stretch>
                  <a:fillRect r="-4545"/>
                </a:stretch>
              </a:blipFill>
              <a:ln w="12700" algn="ctr">
                <a:noFill/>
                <a:miter lim="800000"/>
                <a:headEnd/>
                <a:tailEnd/>
              </a:ln>
              <a:effectLst/>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5" name="Rectangle 93"/>
              <p:cNvSpPr>
                <a:spLocks noChangeArrowheads="1"/>
              </p:cNvSpPr>
              <p:nvPr/>
            </p:nvSpPr>
            <p:spPr bwMode="auto">
              <a:xfrm>
                <a:off x="6456005" y="4059007"/>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𝑏</m:t>
                      </m:r>
                    </m:oMath>
                  </m:oMathPara>
                </a14:m>
                <a:endParaRPr lang="en-US" altLang="ja-JP" dirty="0"/>
              </a:p>
            </p:txBody>
          </p:sp>
        </mc:Choice>
        <mc:Fallback xmlns="">
          <p:sp>
            <p:nvSpPr>
              <p:cNvPr id="55" name="Rectangle 93"/>
              <p:cNvSpPr>
                <a:spLocks noRot="1" noChangeAspect="1" noMove="1" noResize="1" noEditPoints="1" noAdjustHandles="1" noChangeArrowheads="1" noChangeShapeType="1" noTextEdit="1"/>
              </p:cNvSpPr>
              <p:nvPr/>
            </p:nvSpPr>
            <p:spPr bwMode="auto">
              <a:xfrm>
                <a:off x="6456005" y="4059007"/>
                <a:ext cx="270003" cy="360362"/>
              </a:xfrm>
              <a:prstGeom prst="rect">
                <a:avLst/>
              </a:prstGeom>
              <a:blipFill>
                <a:blip r:embed="rId9"/>
                <a:stretch>
                  <a:fillRect r="-11364"/>
                </a:stretch>
              </a:blipFill>
              <a:ln w="12700" algn="ctr">
                <a:noFill/>
                <a:miter lim="800000"/>
                <a:headEnd/>
                <a:tailEnd/>
              </a:ln>
              <a:effectLst/>
            </p:spPr>
            <p:txBody>
              <a:bodyPr/>
              <a:lstStyle/>
              <a:p>
                <a:r>
                  <a:rPr lang="ja-JP" altLang="en-US">
                    <a:noFill/>
                  </a:rPr>
                  <a:t> </a:t>
                </a:r>
              </a:p>
            </p:txBody>
          </p:sp>
        </mc:Fallback>
      </mc:AlternateContent>
      <p:sp>
        <p:nvSpPr>
          <p:cNvPr id="56" name="Line 9"/>
          <p:cNvSpPr>
            <a:spLocks noChangeShapeType="1"/>
          </p:cNvSpPr>
          <p:nvPr/>
        </p:nvSpPr>
        <p:spPr bwMode="auto">
          <a:xfrm>
            <a:off x="6366004" y="216898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57" name="Rectangle 93"/>
              <p:cNvSpPr>
                <a:spLocks noChangeArrowheads="1"/>
              </p:cNvSpPr>
              <p:nvPr/>
            </p:nvSpPr>
            <p:spPr bwMode="auto">
              <a:xfrm>
                <a:off x="6096001" y="1899341"/>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𝑎</m:t>
                      </m:r>
                    </m:oMath>
                  </m:oMathPara>
                </a14:m>
                <a:endParaRPr lang="en-US" altLang="ja-JP" dirty="0"/>
              </a:p>
            </p:txBody>
          </p:sp>
        </mc:Choice>
        <mc:Fallback xmlns="">
          <p:sp>
            <p:nvSpPr>
              <p:cNvPr id="57" name="Rectangle 93"/>
              <p:cNvSpPr>
                <a:spLocks noRot="1" noChangeAspect="1" noMove="1" noResize="1" noEditPoints="1" noAdjustHandles="1" noChangeArrowheads="1" noChangeShapeType="1" noTextEdit="1"/>
              </p:cNvSpPr>
              <p:nvPr/>
            </p:nvSpPr>
            <p:spPr bwMode="auto">
              <a:xfrm>
                <a:off x="6096001" y="1899341"/>
                <a:ext cx="270003" cy="360362"/>
              </a:xfrm>
              <a:prstGeom prst="rect">
                <a:avLst/>
              </a:prstGeom>
              <a:blipFill>
                <a:blip r:embed="rId10"/>
                <a:stretch>
                  <a:fillRect r="-4545"/>
                </a:stretch>
              </a:blipFill>
              <a:ln w="12700" algn="ctr">
                <a:noFill/>
                <a:miter lim="800000"/>
                <a:headEnd/>
                <a:tailEnd/>
              </a:ln>
              <a:effectLst/>
            </p:spPr>
            <p:txBody>
              <a:bodyPr/>
              <a:lstStyle/>
              <a:p>
                <a:r>
                  <a:rPr lang="ja-JP" altLang="en-US">
                    <a:noFill/>
                  </a:rPr>
                  <a:t> </a:t>
                </a:r>
              </a:p>
            </p:txBody>
          </p:sp>
        </mc:Fallback>
      </mc:AlternateContent>
      <p:grpSp>
        <p:nvGrpSpPr>
          <p:cNvPr id="58" name="グループ化 57"/>
          <p:cNvGrpSpPr/>
          <p:nvPr/>
        </p:nvGrpSpPr>
        <p:grpSpPr>
          <a:xfrm rot="10800000">
            <a:off x="7896020" y="1988984"/>
            <a:ext cx="360048" cy="360048"/>
            <a:chOff x="3131808" y="1628760"/>
            <a:chExt cx="360048" cy="360048"/>
          </a:xfrm>
        </p:grpSpPr>
        <p:cxnSp>
          <p:nvCxnSpPr>
            <p:cNvPr id="59" name="直線コネクタ 58"/>
            <p:cNvCxnSpPr/>
            <p:nvPr/>
          </p:nvCxnSpPr>
          <p:spPr>
            <a:xfrm flipH="1">
              <a:off x="3311832" y="1628760"/>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0" name="直線コネクタ 59"/>
            <p:cNvCxnSpPr/>
            <p:nvPr/>
          </p:nvCxnSpPr>
          <p:spPr>
            <a:xfrm>
              <a:off x="3311832"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1" name="直線コネクタ 60"/>
            <p:cNvCxnSpPr/>
            <p:nvPr/>
          </p:nvCxnSpPr>
          <p:spPr>
            <a:xfrm flipH="1">
              <a:off x="3311832"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2" name="直線コネクタ 61"/>
            <p:cNvCxnSpPr/>
            <p:nvPr/>
          </p:nvCxnSpPr>
          <p:spPr>
            <a:xfrm>
              <a:off x="3221820" y="1628760"/>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63" name="円/楕円 62"/>
            <p:cNvSpPr/>
            <p:nvPr/>
          </p:nvSpPr>
          <p:spPr>
            <a:xfrm>
              <a:off x="3131808" y="1763778"/>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
        <p:nvSpPr>
          <p:cNvPr id="64" name="Line 9"/>
          <p:cNvSpPr>
            <a:spLocks noChangeShapeType="1"/>
          </p:cNvSpPr>
          <p:nvPr/>
        </p:nvSpPr>
        <p:spPr bwMode="auto">
          <a:xfrm>
            <a:off x="8256025" y="2168986"/>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65" name="Rectangle 93"/>
              <p:cNvSpPr>
                <a:spLocks noChangeArrowheads="1"/>
              </p:cNvSpPr>
              <p:nvPr/>
            </p:nvSpPr>
            <p:spPr bwMode="auto">
              <a:xfrm>
                <a:off x="8706030" y="1898983"/>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𝑏</m:t>
                      </m:r>
                    </m:oMath>
                  </m:oMathPara>
                </a14:m>
                <a:endParaRPr lang="en-US" altLang="ja-JP" dirty="0"/>
              </a:p>
            </p:txBody>
          </p:sp>
        </mc:Choice>
        <mc:Fallback xmlns="">
          <p:sp>
            <p:nvSpPr>
              <p:cNvPr id="65" name="Rectangle 93"/>
              <p:cNvSpPr>
                <a:spLocks noRot="1" noChangeAspect="1" noMove="1" noResize="1" noEditPoints="1" noAdjustHandles="1" noChangeArrowheads="1" noChangeShapeType="1" noTextEdit="1"/>
              </p:cNvSpPr>
              <p:nvPr/>
            </p:nvSpPr>
            <p:spPr bwMode="auto">
              <a:xfrm>
                <a:off x="8706030" y="1898983"/>
                <a:ext cx="270003" cy="360362"/>
              </a:xfrm>
              <a:prstGeom prst="rect">
                <a:avLst/>
              </a:prstGeom>
              <a:blipFill>
                <a:blip r:embed="rId11"/>
                <a:stretch>
                  <a:fillRect r="-11364"/>
                </a:stretch>
              </a:blipFill>
              <a:ln w="12700" algn="ctr">
                <a:noFill/>
                <a:miter lim="800000"/>
                <a:headEnd/>
                <a:tailEnd/>
              </a:ln>
              <a:effectLst/>
            </p:spPr>
            <p:txBody>
              <a:bodyPr/>
              <a:lstStyle/>
              <a:p>
                <a:r>
                  <a:rPr lang="ja-JP" altLang="en-US">
                    <a:noFill/>
                  </a:rPr>
                  <a:t> </a:t>
                </a:r>
              </a:p>
            </p:txBody>
          </p:sp>
        </mc:Fallback>
      </mc:AlternateContent>
      <p:sp>
        <p:nvSpPr>
          <p:cNvPr id="66" name="Freeform 10"/>
          <p:cNvSpPr>
            <a:spLocks/>
          </p:cNvSpPr>
          <p:nvPr/>
        </p:nvSpPr>
        <p:spPr bwMode="auto">
          <a:xfrm rot="16200000" flipV="1">
            <a:off x="7356014" y="2168986"/>
            <a:ext cx="360004"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67" name="直線コネクタ 66"/>
          <p:cNvCxnSpPr/>
          <p:nvPr/>
        </p:nvCxnSpPr>
        <p:spPr>
          <a:xfrm>
            <a:off x="7536017" y="3068996"/>
            <a:ext cx="630005" cy="0"/>
          </a:xfrm>
          <a:prstGeom prst="line">
            <a:avLst/>
          </a:prstGeom>
          <a:ln w="3175" cap="rnd">
            <a:solidFill>
              <a:srgbClr val="000000"/>
            </a:solidFill>
            <a:headEnd type="oval"/>
          </a:ln>
        </p:spPr>
        <p:style>
          <a:lnRef idx="1">
            <a:schemeClr val="accent1"/>
          </a:lnRef>
          <a:fillRef idx="0">
            <a:schemeClr val="accent1"/>
          </a:fillRef>
          <a:effectRef idx="0">
            <a:schemeClr val="accent1"/>
          </a:effectRef>
          <a:fontRef idx="minor">
            <a:schemeClr val="tx1"/>
          </a:fontRef>
        </p:style>
      </p:cxnSp>
      <p:sp>
        <p:nvSpPr>
          <p:cNvPr id="68" name="Freeform 10"/>
          <p:cNvSpPr>
            <a:spLocks/>
          </p:cNvSpPr>
          <p:nvPr/>
        </p:nvSpPr>
        <p:spPr bwMode="auto">
          <a:xfrm rot="16200000" flipH="1" flipV="1">
            <a:off x="7356014" y="1448978"/>
            <a:ext cx="360004" cy="72000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69" name="直線コネクタ 68"/>
          <p:cNvCxnSpPr/>
          <p:nvPr/>
        </p:nvCxnSpPr>
        <p:spPr>
          <a:xfrm flipV="1">
            <a:off x="7896020" y="1628980"/>
            <a:ext cx="0" cy="36000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p:cNvCxnSpPr/>
          <p:nvPr/>
        </p:nvCxnSpPr>
        <p:spPr>
          <a:xfrm flipV="1">
            <a:off x="7896020" y="2348988"/>
            <a:ext cx="0" cy="360004"/>
          </a:xfrm>
          <a:prstGeom prst="line">
            <a:avLst/>
          </a:prstGeom>
          <a:ln w="3175" cap="rnd">
            <a:solidFill>
              <a:srgbClr val="000000"/>
            </a:solidFill>
            <a:head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1" name="Rectangle 93"/>
              <p:cNvSpPr>
                <a:spLocks noChangeArrowheads="1"/>
              </p:cNvSpPr>
              <p:nvPr/>
            </p:nvSpPr>
            <p:spPr bwMode="auto">
              <a:xfrm>
                <a:off x="8256025" y="2888994"/>
                <a:ext cx="270003" cy="360362"/>
              </a:xfrm>
              <a:prstGeom prst="rect">
                <a:avLst/>
              </a:prstGeom>
              <a:noFill/>
              <a:ln w="12700" algn="ctr">
                <a:noFill/>
                <a:miter lim="800000"/>
                <a:headEnd/>
                <a:tailEnd/>
              </a:ln>
              <a:effectLst/>
            </p:spPr>
            <p:txBody>
              <a:bodyPr wrap="none" lIns="90000" tIns="46800" rIns="90000" bIns="46800" anchor="ctr"/>
              <a:lstStyle/>
              <a:p>
                <a:pP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rPr>
                        <m:t>𝑜</m:t>
                      </m:r>
                    </m:oMath>
                  </m:oMathPara>
                </a14:m>
                <a:endParaRPr lang="en-US" altLang="ja-JP" dirty="0"/>
              </a:p>
            </p:txBody>
          </p:sp>
        </mc:Choice>
        <mc:Fallback xmlns="">
          <p:sp>
            <p:nvSpPr>
              <p:cNvPr id="71" name="Rectangle 93"/>
              <p:cNvSpPr>
                <a:spLocks noRot="1" noChangeAspect="1" noMove="1" noResize="1" noEditPoints="1" noAdjustHandles="1" noChangeArrowheads="1" noChangeShapeType="1" noTextEdit="1"/>
              </p:cNvSpPr>
              <p:nvPr/>
            </p:nvSpPr>
            <p:spPr bwMode="auto">
              <a:xfrm>
                <a:off x="8256025" y="2888994"/>
                <a:ext cx="270003" cy="360362"/>
              </a:xfrm>
              <a:prstGeom prst="rect">
                <a:avLst/>
              </a:prstGeom>
              <a:blipFill>
                <a:blip r:embed="rId12"/>
                <a:stretch>
                  <a:fillRect/>
                </a:stretch>
              </a:blipFill>
              <a:ln w="12700" algn="ctr">
                <a:noFill/>
                <a:miter lim="800000"/>
                <a:headEnd/>
                <a:tailEnd/>
              </a:ln>
              <a:effectLst/>
            </p:spPr>
            <p:txBody>
              <a:bodyPr/>
              <a:lstStyle/>
              <a:p>
                <a:r>
                  <a:rPr lang="ja-JP" altLang="en-US">
                    <a:noFill/>
                  </a:rPr>
                  <a:t> </a:t>
                </a:r>
              </a:p>
            </p:txBody>
          </p:sp>
        </mc:Fallback>
      </mc:AlternateContent>
      <p:graphicFrame>
        <p:nvGraphicFramePr>
          <p:cNvPr id="72" name="Group 383"/>
          <p:cNvGraphicFramePr>
            <a:graphicFrameLocks/>
          </p:cNvGraphicFramePr>
          <p:nvPr/>
        </p:nvGraphicFramePr>
        <p:xfrm>
          <a:off x="3215968" y="2528990"/>
          <a:ext cx="1439862" cy="212630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6"/>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7" name="正方形/長方形 6"/>
              <p:cNvSpPr/>
              <p:nvPr/>
            </p:nvSpPr>
            <p:spPr>
              <a:xfrm>
                <a:off x="3215969" y="2078985"/>
                <a:ext cx="1465209" cy="369332"/>
              </a:xfrm>
              <a:prstGeom prst="rect">
                <a:avLst/>
              </a:prstGeom>
            </p:spPr>
            <p:txBody>
              <a:bodyPr wrap="none">
                <a:spAutoFit/>
              </a:bodyPr>
              <a:lstStyle/>
              <a:p>
                <a:pPr algn="ctr"/>
                <a14:m>
                  <m:oMathPara xmlns:m="http://schemas.openxmlformats.org/officeDocument/2006/math">
                    <m:oMathParaPr>
                      <m:jc m:val="centerGroup"/>
                    </m:oMathParaPr>
                    <m:oMath xmlns:m="http://schemas.openxmlformats.org/officeDocument/2006/math">
                      <m:r>
                        <a:rPr lang="en-US" altLang="ja-JP" i="1" dirty="0">
                          <a:latin typeface="Cambria Math" panose="02040503050406030204" pitchFamily="18" charset="0"/>
                          <a:ea typeface="MeiryoKe_PGothic" pitchFamily="50" charset="-128"/>
                        </a:rPr>
                        <m:t>𝑜</m:t>
                      </m:r>
                      <m:r>
                        <a:rPr lang="en-US" altLang="ja-JP" i="1" dirty="0">
                          <a:latin typeface="Cambria Math" panose="02040503050406030204" pitchFamily="18" charset="0"/>
                          <a:ea typeface="MeiryoKe_PGothic" pitchFamily="50" charset="-128"/>
                        </a:rPr>
                        <m:t> = (</m:t>
                      </m:r>
                      <m:r>
                        <a:rPr lang="en-US" altLang="ja-JP" i="1" dirty="0" err="1">
                          <a:latin typeface="Cambria Math" panose="02040503050406030204" pitchFamily="18" charset="0"/>
                          <a:ea typeface="MeiryoKe_PGothic" pitchFamily="50" charset="-128"/>
                        </a:rPr>
                        <m:t>𝑎</m:t>
                      </m:r>
                      <m:r>
                        <a:rPr lang="en-US" altLang="ja-JP" i="1" dirty="0" err="1">
                          <a:latin typeface="Cambria Math" panose="02040503050406030204" pitchFamily="18" charset="0"/>
                          <a:ea typeface="MeiryoKe_PGothic" pitchFamily="50" charset="-128"/>
                          <a:cs typeface="Times New Roman" pitchFamily="18" charset="0"/>
                        </a:rPr>
                        <m:t>∙</m:t>
                      </m:r>
                      <m:r>
                        <a:rPr lang="en-US" altLang="ja-JP" i="1" dirty="0" err="1">
                          <a:latin typeface="Cambria Math" panose="02040503050406030204" pitchFamily="18" charset="0"/>
                          <a:ea typeface="MeiryoKe_PGothic" pitchFamily="50" charset="-128"/>
                        </a:rPr>
                        <m:t>𝑏</m:t>
                      </m:r>
                      <m:r>
                        <a:rPr lang="en-US" altLang="ja-JP" i="1" dirty="0">
                          <a:latin typeface="Cambria Math" panose="02040503050406030204" pitchFamily="18" charset="0"/>
                          <a:ea typeface="MeiryoKe_PGothic" pitchFamily="50" charset="-128"/>
                        </a:rPr>
                        <m:t>)′</m:t>
                      </m:r>
                    </m:oMath>
                  </m:oMathPara>
                </a14:m>
                <a:endParaRPr lang="en-US" altLang="ja-JP" i="1" dirty="0">
                  <a:ea typeface="MeiryoKe_PGothic" pitchFamily="50" charset="-128"/>
                </a:endParaRPr>
              </a:p>
            </p:txBody>
          </p:sp>
        </mc:Choice>
        <mc:Fallback xmlns="">
          <p:sp>
            <p:nvSpPr>
              <p:cNvPr id="7" name="正方形/長方形 6"/>
              <p:cNvSpPr>
                <a:spLocks noRot="1" noChangeAspect="1" noMove="1" noResize="1" noEditPoints="1" noAdjustHandles="1" noChangeArrowheads="1" noChangeShapeType="1" noTextEdit="1"/>
              </p:cNvSpPr>
              <p:nvPr/>
            </p:nvSpPr>
            <p:spPr>
              <a:xfrm>
                <a:off x="3215969" y="2078985"/>
                <a:ext cx="1465209" cy="369332"/>
              </a:xfrm>
              <a:prstGeom prst="rect">
                <a:avLst/>
              </a:prstGeom>
              <a:blipFill>
                <a:blip r:embed="rId13"/>
                <a:stretch>
                  <a:fillRect b="-16393"/>
                </a:stretch>
              </a:blipFill>
            </p:spPr>
            <p:txBody>
              <a:bodyPr/>
              <a:lstStyle/>
              <a:p>
                <a:r>
                  <a:rPr lang="ja-JP" altLang="en-US">
                    <a:noFill/>
                  </a:rPr>
                  <a:t> </a:t>
                </a:r>
              </a:p>
            </p:txBody>
          </p:sp>
        </mc:Fallback>
      </mc:AlternateContent>
      <p:sp>
        <p:nvSpPr>
          <p:cNvPr id="73" name="Rectangle 93"/>
          <p:cNvSpPr>
            <a:spLocks noChangeArrowheads="1"/>
          </p:cNvSpPr>
          <p:nvPr/>
        </p:nvSpPr>
        <p:spPr bwMode="auto">
          <a:xfrm>
            <a:off x="7716019" y="378900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NMOS (on)</a:t>
            </a:r>
          </a:p>
        </p:txBody>
      </p:sp>
      <p:sp>
        <p:nvSpPr>
          <p:cNvPr id="74" name="曲折矢印 73"/>
          <p:cNvSpPr/>
          <p:nvPr/>
        </p:nvSpPr>
        <p:spPr bwMode="auto">
          <a:xfrm rot="16200000" flipH="1">
            <a:off x="7086013" y="3699004"/>
            <a:ext cx="1620019" cy="54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40244043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による論理回路の実現のまとめ</a:t>
            </a:r>
          </a:p>
        </p:txBody>
      </p:sp>
      <p:sp>
        <p:nvSpPr>
          <p:cNvPr id="3" name="テキスト プレースホルダー 2"/>
          <p:cNvSpPr>
            <a:spLocks noGrp="1"/>
          </p:cNvSpPr>
          <p:nvPr>
            <p:ph type="body" sz="quarter" idx="10"/>
          </p:nvPr>
        </p:nvSpPr>
        <p:spPr/>
        <p:txBody>
          <a:bodyPr/>
          <a:lstStyle/>
          <a:p>
            <a:r>
              <a:rPr lang="ja-JP" altLang="en-US" dirty="0"/>
              <a:t>全ての論理ゲートは，</a:t>
            </a:r>
            <a:br>
              <a:rPr lang="en-US" altLang="ja-JP" dirty="0"/>
            </a:br>
            <a:r>
              <a:rPr kumimoji="1" lang="en-US" altLang="ja-JP" dirty="0"/>
              <a:t>NMOS/PMOS </a:t>
            </a:r>
            <a:r>
              <a:rPr kumimoji="1" lang="ja-JP" altLang="en-US" dirty="0"/>
              <a:t>の組み合わせによって構成されている</a:t>
            </a:r>
            <a:endParaRPr kumimoji="1" lang="en-US" altLang="ja-JP" dirty="0"/>
          </a:p>
          <a:p>
            <a:r>
              <a:rPr kumimoji="1" lang="ja-JP" altLang="en-US" dirty="0"/>
              <a:t>リレーの時と同じ</a:t>
            </a:r>
          </a:p>
        </p:txBody>
      </p:sp>
    </p:spTree>
    <p:extLst>
      <p:ext uri="{BB962C8B-B14F-4D97-AF65-F5344CB8AC3E}">
        <p14:creationId xmlns:p14="http://schemas.microsoft.com/office/powerpoint/2010/main" val="12741755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の等価回路</a:t>
            </a:r>
            <a:endParaRPr kumimoji="1" lang="ja-JP" altLang="en-US" dirty="0"/>
          </a:p>
        </p:txBody>
      </p:sp>
      <p:sp>
        <p:nvSpPr>
          <p:cNvPr id="3" name="テキスト プレースホルダー 2"/>
          <p:cNvSpPr>
            <a:spLocks noGrp="1"/>
          </p:cNvSpPr>
          <p:nvPr>
            <p:ph type="body" sz="quarter" idx="10"/>
          </p:nvPr>
        </p:nvSpPr>
        <p:spPr>
          <a:xfrm>
            <a:off x="2225957" y="4599014"/>
            <a:ext cx="8262041" cy="1439709"/>
          </a:xfrm>
        </p:spPr>
        <p:txBody>
          <a:bodyPr/>
          <a:lstStyle/>
          <a:p>
            <a:r>
              <a:rPr lang="ja-JP" altLang="en-US" dirty="0"/>
              <a:t>抵抗 </a:t>
            </a:r>
            <a:r>
              <a:rPr lang="en-US" altLang="ja-JP" dirty="0"/>
              <a:t>&amp; </a:t>
            </a:r>
            <a:r>
              <a:rPr lang="ja-JP" altLang="en-US" dirty="0"/>
              <a:t>コンデンサと，連動したスイッチによって表せる</a:t>
            </a:r>
            <a:endParaRPr lang="en-US" altLang="ja-JP" dirty="0"/>
          </a:p>
          <a:p>
            <a:pPr lvl="1"/>
            <a:r>
              <a:rPr lang="ja-JP" altLang="en-US" dirty="0"/>
              <a:t>コンデンサに充電：下のスイッチが</a:t>
            </a:r>
            <a:r>
              <a:rPr lang="en-US" altLang="ja-JP" dirty="0"/>
              <a:t>ON</a:t>
            </a:r>
          </a:p>
          <a:p>
            <a:pPr lvl="1"/>
            <a:r>
              <a:rPr lang="ja-JP" altLang="en-US" dirty="0"/>
              <a:t>コンデンサを放電：上のスイッチが</a:t>
            </a:r>
            <a:r>
              <a:rPr lang="en-US" altLang="ja-JP" dirty="0"/>
              <a:t>ON</a:t>
            </a:r>
          </a:p>
        </p:txBody>
      </p:sp>
      <p:grpSp>
        <p:nvGrpSpPr>
          <p:cNvPr id="4" name="グループ化 3"/>
          <p:cNvGrpSpPr/>
          <p:nvPr/>
        </p:nvGrpSpPr>
        <p:grpSpPr>
          <a:xfrm rot="5400000">
            <a:off x="9792942" y="2085887"/>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4" name="グループ化 13"/>
          <p:cNvGrpSpPr/>
          <p:nvPr/>
        </p:nvGrpSpPr>
        <p:grpSpPr>
          <a:xfrm rot="10800000">
            <a:off x="5735996" y="2348988"/>
            <a:ext cx="270036" cy="360048"/>
            <a:chOff x="1871640" y="1988808"/>
            <a:chExt cx="270036" cy="360048"/>
          </a:xfrm>
        </p:grpSpPr>
        <p:cxnSp>
          <p:nvCxnSpPr>
            <p:cNvPr id="15" name="直線コネクタ 14"/>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1" name="グループ化 30"/>
          <p:cNvGrpSpPr/>
          <p:nvPr/>
        </p:nvGrpSpPr>
        <p:grpSpPr>
          <a:xfrm rot="16200000">
            <a:off x="5189524" y="1995452"/>
            <a:ext cx="726521" cy="353582"/>
            <a:chOff x="2675342" y="2348879"/>
            <a:chExt cx="906547" cy="360041"/>
          </a:xfrm>
        </p:grpSpPr>
        <p:sp>
          <p:nvSpPr>
            <p:cNvPr id="32" name="フリーフォーム 3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33" name="フリーフォーム 3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pic>
        <p:nvPicPr>
          <p:cNvPr id="34" name="Picture 28" descr="NOT"/>
          <p:cNvPicPr>
            <a:picLocks noChangeAspect="1" noChangeArrowheads="1"/>
          </p:cNvPicPr>
          <p:nvPr/>
        </p:nvPicPr>
        <p:blipFill>
          <a:blip r:embed="rId3"/>
          <a:srcRect/>
          <a:stretch>
            <a:fillRect/>
          </a:stretch>
        </p:blipFill>
        <p:spPr bwMode="auto">
          <a:xfrm>
            <a:off x="2495960" y="1808983"/>
            <a:ext cx="717550" cy="720725"/>
          </a:xfrm>
          <a:prstGeom prst="rect">
            <a:avLst/>
          </a:prstGeom>
          <a:noFill/>
        </p:spPr>
      </p:pic>
      <p:cxnSp>
        <p:nvCxnSpPr>
          <p:cNvPr id="35" name="直線コネクタ 34"/>
          <p:cNvCxnSpPr/>
          <p:nvPr/>
        </p:nvCxnSpPr>
        <p:spPr>
          <a:xfrm flipH="1" flipV="1">
            <a:off x="2135957" y="2168986"/>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p:cNvCxnSpPr/>
          <p:nvPr/>
        </p:nvCxnSpPr>
        <p:spPr>
          <a:xfrm flipH="1">
            <a:off x="3125968" y="2168986"/>
            <a:ext cx="450005"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0" name="グループ化 152"/>
          <p:cNvGrpSpPr/>
          <p:nvPr/>
        </p:nvGrpSpPr>
        <p:grpSpPr>
          <a:xfrm>
            <a:off x="5915998" y="2978995"/>
            <a:ext cx="180002" cy="90001"/>
            <a:chOff x="3643306" y="4500570"/>
            <a:chExt cx="428628" cy="144464"/>
          </a:xfrm>
        </p:grpSpPr>
        <p:cxnSp>
          <p:nvCxnSpPr>
            <p:cNvPr id="41" name="直線コネクタ 40"/>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2" name="直線コネクタ 41"/>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3" name="直線コネクタ 42"/>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44" name="直線コネクタ 43"/>
          <p:cNvCxnSpPr/>
          <p:nvPr/>
        </p:nvCxnSpPr>
        <p:spPr>
          <a:xfrm flipV="1">
            <a:off x="6006000" y="2708993"/>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3" name="グループ化 22"/>
          <p:cNvGrpSpPr/>
          <p:nvPr/>
        </p:nvGrpSpPr>
        <p:grpSpPr>
          <a:xfrm rot="10800000">
            <a:off x="5645996" y="1628980"/>
            <a:ext cx="360048" cy="360048"/>
            <a:chOff x="4662012" y="908664"/>
            <a:chExt cx="360048" cy="360048"/>
          </a:xfrm>
        </p:grpSpPr>
        <p:cxnSp>
          <p:nvCxnSpPr>
            <p:cNvPr id="24" name="直線コネクタ 23"/>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49" name="直線コネクタ 48"/>
          <p:cNvCxnSpPr/>
          <p:nvPr/>
        </p:nvCxnSpPr>
        <p:spPr>
          <a:xfrm flipV="1">
            <a:off x="4835986" y="2168986"/>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1" name="グループ化 50"/>
          <p:cNvGrpSpPr/>
          <p:nvPr/>
        </p:nvGrpSpPr>
        <p:grpSpPr>
          <a:xfrm rot="16200000" flipV="1">
            <a:off x="5960998" y="2033985"/>
            <a:ext cx="360004" cy="270003"/>
            <a:chOff x="2675342" y="2348879"/>
            <a:chExt cx="906547" cy="360041"/>
          </a:xfrm>
        </p:grpSpPr>
        <p:sp>
          <p:nvSpPr>
            <p:cNvPr id="52" name="フリーフォーム 5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53" name="フリーフォーム 5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54" name="直線コネクタ 53"/>
          <p:cNvCxnSpPr/>
          <p:nvPr/>
        </p:nvCxnSpPr>
        <p:spPr>
          <a:xfrm flipH="1">
            <a:off x="6276002" y="2168986"/>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6" name="グループ化 55"/>
          <p:cNvGrpSpPr/>
          <p:nvPr/>
        </p:nvGrpSpPr>
        <p:grpSpPr>
          <a:xfrm>
            <a:off x="5915998" y="1268977"/>
            <a:ext cx="180020" cy="360033"/>
            <a:chOff x="4481992" y="1268760"/>
            <a:chExt cx="180020" cy="360033"/>
          </a:xfrm>
        </p:grpSpPr>
        <p:cxnSp>
          <p:nvCxnSpPr>
            <p:cNvPr id="57" name="直線コネクタ 56"/>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直線コネクタ 57"/>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9" name="右矢印 58"/>
          <p:cNvSpPr/>
          <p:nvPr/>
        </p:nvSpPr>
        <p:spPr bwMode="auto">
          <a:xfrm>
            <a:off x="3935976" y="1898984"/>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grpSp>
        <p:nvGrpSpPr>
          <p:cNvPr id="66" name="グループ化 65"/>
          <p:cNvGrpSpPr/>
          <p:nvPr/>
        </p:nvGrpSpPr>
        <p:grpSpPr>
          <a:xfrm>
            <a:off x="9066033" y="1538979"/>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67" name="グループ化 66"/>
          <p:cNvGrpSpPr/>
          <p:nvPr/>
        </p:nvGrpSpPr>
        <p:grpSpPr>
          <a:xfrm>
            <a:off x="9246035" y="2528990"/>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72" name="グループ化 152"/>
          <p:cNvGrpSpPr/>
          <p:nvPr/>
        </p:nvGrpSpPr>
        <p:grpSpPr>
          <a:xfrm>
            <a:off x="9201754" y="3248998"/>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9291756" y="2978996"/>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9201754" y="1178976"/>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9291756" y="1988984"/>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9291755" y="2258987"/>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8346025" y="2078985"/>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8616028" y="3248999"/>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8076022" y="2618991"/>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97" name="直線コネクタ 96"/>
          <p:cNvCxnSpPr/>
          <p:nvPr/>
        </p:nvCxnSpPr>
        <p:spPr>
          <a:xfrm>
            <a:off x="8166023" y="2258987"/>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8" name="右矢印 97"/>
          <p:cNvSpPr/>
          <p:nvPr/>
        </p:nvSpPr>
        <p:spPr bwMode="auto">
          <a:xfrm>
            <a:off x="6816008" y="1898984"/>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cxnSp>
        <p:nvCxnSpPr>
          <p:cNvPr id="100" name="直線コネクタ 99"/>
          <p:cNvCxnSpPr/>
          <p:nvPr/>
        </p:nvCxnSpPr>
        <p:spPr>
          <a:xfrm>
            <a:off x="7626017"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1" name="正方形/長方形 80"/>
          <p:cNvSpPr/>
          <p:nvPr/>
        </p:nvSpPr>
        <p:spPr bwMode="auto">
          <a:xfrm>
            <a:off x="2675962" y="324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65000"/>
                    <a:lumOff val="35000"/>
                  </a:schemeClr>
                </a:solidFill>
              </a:rPr>
              <a:t>NOT</a:t>
            </a:r>
            <a:r>
              <a:rPr lang="ja-JP" altLang="en-US" sz="2400" dirty="0">
                <a:solidFill>
                  <a:schemeClr val="tx1">
                    <a:lumMod val="65000"/>
                    <a:lumOff val="35000"/>
                  </a:schemeClr>
                </a:solidFill>
              </a:rPr>
              <a:t>ゲート</a:t>
            </a:r>
          </a:p>
        </p:txBody>
      </p:sp>
      <p:sp>
        <p:nvSpPr>
          <p:cNvPr id="82" name="正方形/長方形 81"/>
          <p:cNvSpPr/>
          <p:nvPr/>
        </p:nvSpPr>
        <p:spPr bwMode="auto">
          <a:xfrm>
            <a:off x="5645995" y="324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65000"/>
                    <a:lumOff val="35000"/>
                  </a:schemeClr>
                </a:solidFill>
              </a:rPr>
              <a:t>CMOS </a:t>
            </a:r>
            <a:endParaRPr lang="ja-JP" altLang="en-US" sz="2400" dirty="0">
              <a:solidFill>
                <a:schemeClr val="tx1">
                  <a:lumMod val="65000"/>
                  <a:lumOff val="35000"/>
                </a:schemeClr>
              </a:solidFill>
            </a:endParaRPr>
          </a:p>
        </p:txBody>
      </p:sp>
      <p:sp>
        <p:nvSpPr>
          <p:cNvPr id="83" name="正方形/長方形 82"/>
          <p:cNvSpPr/>
          <p:nvPr/>
        </p:nvSpPr>
        <p:spPr bwMode="auto">
          <a:xfrm>
            <a:off x="8436026" y="324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000" dirty="0">
                <a:solidFill>
                  <a:schemeClr val="tx1">
                    <a:lumMod val="65000"/>
                    <a:lumOff val="35000"/>
                  </a:schemeClr>
                </a:solidFill>
              </a:rPr>
              <a:t>等価回路</a:t>
            </a:r>
          </a:p>
        </p:txBody>
      </p:sp>
      <p:sp>
        <p:nvSpPr>
          <p:cNvPr id="84" name="正方形/長方形 83"/>
          <p:cNvSpPr/>
          <p:nvPr/>
        </p:nvSpPr>
        <p:spPr bwMode="auto">
          <a:xfrm>
            <a:off x="8436026" y="81897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85" name="直線コネクタ 84"/>
          <p:cNvCxnSpPr/>
          <p:nvPr/>
        </p:nvCxnSpPr>
        <p:spPr>
          <a:xfrm>
            <a:off x="9994618"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1854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の等価回路</a:t>
            </a:r>
            <a:endParaRPr kumimoji="1" lang="ja-JP" altLang="en-US" dirty="0"/>
          </a:p>
        </p:txBody>
      </p:sp>
      <p:sp>
        <p:nvSpPr>
          <p:cNvPr id="3" name="テキスト プレースホルダー 2"/>
          <p:cNvSpPr>
            <a:spLocks noGrp="1"/>
          </p:cNvSpPr>
          <p:nvPr>
            <p:ph type="body" sz="quarter" idx="10"/>
          </p:nvPr>
        </p:nvSpPr>
        <p:spPr>
          <a:xfrm>
            <a:off x="2225957" y="4599014"/>
            <a:ext cx="8262041" cy="1439709"/>
          </a:xfrm>
        </p:spPr>
        <p:txBody>
          <a:bodyPr/>
          <a:lstStyle/>
          <a:p>
            <a:r>
              <a:rPr lang="ja-JP" altLang="en-US" dirty="0"/>
              <a:t>コンデンサ：</a:t>
            </a:r>
            <a:endParaRPr lang="en-US" altLang="ja-JP" dirty="0"/>
          </a:p>
          <a:p>
            <a:pPr lvl="1"/>
            <a:r>
              <a:rPr lang="ja-JP" altLang="en-US" dirty="0"/>
              <a:t>電荷を溜めることが出来るもの</a:t>
            </a:r>
            <a:endParaRPr lang="en-US" altLang="ja-JP" dirty="0"/>
          </a:p>
          <a:p>
            <a:pPr lvl="1"/>
            <a:r>
              <a:rPr lang="ja-JP" altLang="en-US" dirty="0"/>
              <a:t>電子を引き寄せてチャネルを作る </a:t>
            </a:r>
            <a:r>
              <a:rPr lang="en-US" altLang="ja-JP" dirty="0"/>
              <a:t>= </a:t>
            </a:r>
            <a:r>
              <a:rPr lang="ja-JP" altLang="en-US" dirty="0"/>
              <a:t>充電している</a:t>
            </a:r>
            <a:endParaRPr lang="en-US" altLang="ja-JP" dirty="0"/>
          </a:p>
          <a:p>
            <a:r>
              <a:rPr lang="ja-JP" altLang="en-US" dirty="0"/>
              <a:t>抵抗：</a:t>
            </a:r>
            <a:endParaRPr lang="en-US" altLang="ja-JP" dirty="0"/>
          </a:p>
          <a:p>
            <a:pPr lvl="1"/>
            <a:r>
              <a:rPr lang="ja-JP" altLang="en-US" dirty="0"/>
              <a:t>配線などの各部はちょっとずつ必ず抵抗がある</a:t>
            </a:r>
            <a:endParaRPr lang="en-US" altLang="ja-JP" dirty="0"/>
          </a:p>
          <a:p>
            <a:pPr lvl="1"/>
            <a:r>
              <a:rPr lang="ja-JP" altLang="en-US" dirty="0"/>
              <a:t>等価回路では，それを１つの抵抗として表現</a:t>
            </a:r>
            <a:endParaRPr lang="en-US" altLang="ja-JP" dirty="0"/>
          </a:p>
        </p:txBody>
      </p:sp>
      <p:grpSp>
        <p:nvGrpSpPr>
          <p:cNvPr id="4" name="グループ化 3"/>
          <p:cNvGrpSpPr/>
          <p:nvPr/>
        </p:nvGrpSpPr>
        <p:grpSpPr>
          <a:xfrm rot="5400000">
            <a:off x="9792942" y="2085887"/>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4" name="グループ化 13"/>
          <p:cNvGrpSpPr/>
          <p:nvPr/>
        </p:nvGrpSpPr>
        <p:grpSpPr>
          <a:xfrm rot="10800000">
            <a:off x="5735996" y="2348988"/>
            <a:ext cx="270036" cy="360048"/>
            <a:chOff x="1871640" y="1988808"/>
            <a:chExt cx="270036" cy="360048"/>
          </a:xfrm>
        </p:grpSpPr>
        <p:cxnSp>
          <p:nvCxnSpPr>
            <p:cNvPr id="15" name="直線コネクタ 14"/>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6" name="直線コネクタ 15"/>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31" name="グループ化 30"/>
          <p:cNvGrpSpPr/>
          <p:nvPr/>
        </p:nvGrpSpPr>
        <p:grpSpPr>
          <a:xfrm rot="16200000">
            <a:off x="5189524" y="1995452"/>
            <a:ext cx="726521" cy="353582"/>
            <a:chOff x="2675342" y="2348879"/>
            <a:chExt cx="906547" cy="360041"/>
          </a:xfrm>
        </p:grpSpPr>
        <p:sp>
          <p:nvSpPr>
            <p:cNvPr id="32" name="フリーフォーム 3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33" name="フリーフォーム 3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pic>
        <p:nvPicPr>
          <p:cNvPr id="34" name="Picture 28" descr="NOT"/>
          <p:cNvPicPr>
            <a:picLocks noChangeAspect="1" noChangeArrowheads="1"/>
          </p:cNvPicPr>
          <p:nvPr/>
        </p:nvPicPr>
        <p:blipFill>
          <a:blip r:embed="rId3"/>
          <a:srcRect/>
          <a:stretch>
            <a:fillRect/>
          </a:stretch>
        </p:blipFill>
        <p:spPr bwMode="auto">
          <a:xfrm>
            <a:off x="2495960" y="1808983"/>
            <a:ext cx="717550" cy="720725"/>
          </a:xfrm>
          <a:prstGeom prst="rect">
            <a:avLst/>
          </a:prstGeom>
          <a:noFill/>
        </p:spPr>
      </p:pic>
      <p:cxnSp>
        <p:nvCxnSpPr>
          <p:cNvPr id="35" name="直線コネクタ 34"/>
          <p:cNvCxnSpPr/>
          <p:nvPr/>
        </p:nvCxnSpPr>
        <p:spPr>
          <a:xfrm flipH="1" flipV="1">
            <a:off x="2135957" y="2168986"/>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p:cNvCxnSpPr/>
          <p:nvPr/>
        </p:nvCxnSpPr>
        <p:spPr>
          <a:xfrm flipH="1">
            <a:off x="3125968" y="2168986"/>
            <a:ext cx="450005"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40" name="グループ化 152"/>
          <p:cNvGrpSpPr/>
          <p:nvPr/>
        </p:nvGrpSpPr>
        <p:grpSpPr>
          <a:xfrm>
            <a:off x="5915998" y="2978995"/>
            <a:ext cx="180002" cy="90001"/>
            <a:chOff x="3643306" y="4500570"/>
            <a:chExt cx="428628" cy="144464"/>
          </a:xfrm>
        </p:grpSpPr>
        <p:cxnSp>
          <p:nvCxnSpPr>
            <p:cNvPr id="41" name="直線コネクタ 40"/>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2" name="直線コネクタ 41"/>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3" name="直線コネクタ 42"/>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44" name="直線コネクタ 43"/>
          <p:cNvCxnSpPr/>
          <p:nvPr/>
        </p:nvCxnSpPr>
        <p:spPr>
          <a:xfrm flipV="1">
            <a:off x="6006000" y="2708993"/>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3" name="グループ化 22"/>
          <p:cNvGrpSpPr/>
          <p:nvPr/>
        </p:nvGrpSpPr>
        <p:grpSpPr>
          <a:xfrm rot="10800000">
            <a:off x="5645996" y="1628980"/>
            <a:ext cx="360048" cy="360048"/>
            <a:chOff x="4662012" y="908664"/>
            <a:chExt cx="360048" cy="360048"/>
          </a:xfrm>
        </p:grpSpPr>
        <p:cxnSp>
          <p:nvCxnSpPr>
            <p:cNvPr id="24" name="直線コネクタ 23"/>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5" name="直線コネクタ 24"/>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6" name="直線コネクタ 25"/>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8" name="円/楕円 27"/>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49" name="直線コネクタ 48"/>
          <p:cNvCxnSpPr/>
          <p:nvPr/>
        </p:nvCxnSpPr>
        <p:spPr>
          <a:xfrm flipV="1">
            <a:off x="4835986" y="2168986"/>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1" name="グループ化 50"/>
          <p:cNvGrpSpPr/>
          <p:nvPr/>
        </p:nvGrpSpPr>
        <p:grpSpPr>
          <a:xfrm rot="16200000" flipV="1">
            <a:off x="5960998" y="2033985"/>
            <a:ext cx="360004" cy="270003"/>
            <a:chOff x="2675342" y="2348879"/>
            <a:chExt cx="906547" cy="360041"/>
          </a:xfrm>
        </p:grpSpPr>
        <p:sp>
          <p:nvSpPr>
            <p:cNvPr id="52" name="フリーフォーム 51"/>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53" name="フリーフォーム 52"/>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54" name="直線コネクタ 53"/>
          <p:cNvCxnSpPr/>
          <p:nvPr/>
        </p:nvCxnSpPr>
        <p:spPr>
          <a:xfrm flipH="1">
            <a:off x="6276002" y="2168986"/>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6" name="グループ化 55"/>
          <p:cNvGrpSpPr/>
          <p:nvPr/>
        </p:nvGrpSpPr>
        <p:grpSpPr>
          <a:xfrm>
            <a:off x="5915998" y="1268977"/>
            <a:ext cx="180020" cy="360033"/>
            <a:chOff x="4481992" y="1268760"/>
            <a:chExt cx="180020" cy="360033"/>
          </a:xfrm>
        </p:grpSpPr>
        <p:cxnSp>
          <p:nvCxnSpPr>
            <p:cNvPr id="57" name="直線コネクタ 56"/>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直線コネクタ 57"/>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59" name="右矢印 58"/>
          <p:cNvSpPr/>
          <p:nvPr/>
        </p:nvSpPr>
        <p:spPr bwMode="auto">
          <a:xfrm>
            <a:off x="3935976" y="1898984"/>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grpSp>
        <p:nvGrpSpPr>
          <p:cNvPr id="66" name="グループ化 65"/>
          <p:cNvGrpSpPr/>
          <p:nvPr/>
        </p:nvGrpSpPr>
        <p:grpSpPr>
          <a:xfrm>
            <a:off x="9066033" y="1538979"/>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67" name="グループ化 66"/>
          <p:cNvGrpSpPr/>
          <p:nvPr/>
        </p:nvGrpSpPr>
        <p:grpSpPr>
          <a:xfrm>
            <a:off x="9246035" y="2528990"/>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72" name="グループ化 152"/>
          <p:cNvGrpSpPr/>
          <p:nvPr/>
        </p:nvGrpSpPr>
        <p:grpSpPr>
          <a:xfrm>
            <a:off x="9201754" y="3248998"/>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9291756" y="2978996"/>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9201754" y="1178976"/>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9291756" y="1988984"/>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9291755" y="2258987"/>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8346025" y="2078985"/>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8616028" y="3248999"/>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8076022" y="2618991"/>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97" name="直線コネクタ 96"/>
          <p:cNvCxnSpPr/>
          <p:nvPr/>
        </p:nvCxnSpPr>
        <p:spPr>
          <a:xfrm>
            <a:off x="8166023" y="2258987"/>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8" name="右矢印 97"/>
          <p:cNvSpPr/>
          <p:nvPr/>
        </p:nvSpPr>
        <p:spPr bwMode="auto">
          <a:xfrm>
            <a:off x="6816008" y="1898984"/>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cxnSp>
        <p:nvCxnSpPr>
          <p:cNvPr id="100" name="直線コネクタ 99"/>
          <p:cNvCxnSpPr/>
          <p:nvPr/>
        </p:nvCxnSpPr>
        <p:spPr>
          <a:xfrm>
            <a:off x="7626017"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1" name="正方形/長方形 80"/>
          <p:cNvSpPr/>
          <p:nvPr/>
        </p:nvSpPr>
        <p:spPr bwMode="auto">
          <a:xfrm>
            <a:off x="2675962" y="324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65000"/>
                    <a:lumOff val="35000"/>
                  </a:schemeClr>
                </a:solidFill>
              </a:rPr>
              <a:t>NOT</a:t>
            </a:r>
            <a:r>
              <a:rPr lang="ja-JP" altLang="en-US" sz="2400" dirty="0">
                <a:solidFill>
                  <a:schemeClr val="tx1">
                    <a:lumMod val="65000"/>
                    <a:lumOff val="35000"/>
                  </a:schemeClr>
                </a:solidFill>
              </a:rPr>
              <a:t>ゲート</a:t>
            </a:r>
          </a:p>
        </p:txBody>
      </p:sp>
      <p:sp>
        <p:nvSpPr>
          <p:cNvPr id="82" name="正方形/長方形 81"/>
          <p:cNvSpPr/>
          <p:nvPr/>
        </p:nvSpPr>
        <p:spPr bwMode="auto">
          <a:xfrm>
            <a:off x="5645995" y="324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65000"/>
                    <a:lumOff val="35000"/>
                  </a:schemeClr>
                </a:solidFill>
              </a:rPr>
              <a:t>CMOS </a:t>
            </a:r>
            <a:endParaRPr lang="ja-JP" altLang="en-US" sz="2400" dirty="0">
              <a:solidFill>
                <a:schemeClr val="tx1">
                  <a:lumMod val="65000"/>
                  <a:lumOff val="35000"/>
                </a:schemeClr>
              </a:solidFill>
            </a:endParaRPr>
          </a:p>
        </p:txBody>
      </p:sp>
      <p:sp>
        <p:nvSpPr>
          <p:cNvPr id="83" name="正方形/長方形 82"/>
          <p:cNvSpPr/>
          <p:nvPr/>
        </p:nvSpPr>
        <p:spPr bwMode="auto">
          <a:xfrm>
            <a:off x="8436026" y="324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000" dirty="0">
                <a:solidFill>
                  <a:schemeClr val="tx1">
                    <a:lumMod val="65000"/>
                    <a:lumOff val="35000"/>
                  </a:schemeClr>
                </a:solidFill>
              </a:rPr>
              <a:t>等価回路</a:t>
            </a:r>
          </a:p>
        </p:txBody>
      </p:sp>
      <p:sp>
        <p:nvSpPr>
          <p:cNvPr id="84" name="正方形/長方形 83"/>
          <p:cNvSpPr/>
          <p:nvPr/>
        </p:nvSpPr>
        <p:spPr bwMode="auto">
          <a:xfrm>
            <a:off x="8436026" y="81897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85" name="直線コネクタ 84"/>
          <p:cNvCxnSpPr/>
          <p:nvPr/>
        </p:nvCxnSpPr>
        <p:spPr>
          <a:xfrm>
            <a:off x="9994618" y="2258987"/>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522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5682C5-E921-794B-2D5C-99C1545ECD4E}"/>
              </a:ext>
            </a:extLst>
          </p:cNvPr>
          <p:cNvSpPr>
            <a:spLocks noGrp="1"/>
          </p:cNvSpPr>
          <p:nvPr>
            <p:ph type="title"/>
          </p:nvPr>
        </p:nvSpPr>
        <p:spPr/>
        <p:txBody>
          <a:bodyPr/>
          <a:lstStyle/>
          <a:p>
            <a:r>
              <a:rPr kumimoji="1" lang="en-US" altLang="ja-JP" dirty="0"/>
              <a:t>CMOS </a:t>
            </a:r>
            <a:r>
              <a:rPr kumimoji="1" lang="ja-JP" altLang="en-US" dirty="0"/>
              <a:t>ゲート</a:t>
            </a:r>
            <a:r>
              <a:rPr lang="ja-JP" altLang="en-US" dirty="0"/>
              <a:t>の等価回路</a:t>
            </a:r>
            <a:endParaRPr kumimoji="1" lang="en-US" dirty="0"/>
          </a:p>
        </p:txBody>
      </p:sp>
      <p:sp>
        <p:nvSpPr>
          <p:cNvPr id="3" name="コンテンツ プレースホルダー 2">
            <a:extLst>
              <a:ext uri="{FF2B5EF4-FFF2-40B4-BE49-F238E27FC236}">
                <a16:creationId xmlns:a16="http://schemas.microsoft.com/office/drawing/2014/main" id="{7FD4B3D8-D13E-18FD-F5A5-DCC39EE7706F}"/>
              </a:ext>
            </a:extLst>
          </p:cNvPr>
          <p:cNvSpPr>
            <a:spLocks noGrp="1"/>
          </p:cNvSpPr>
          <p:nvPr>
            <p:ph type="body" sz="quarter" idx="10"/>
          </p:nvPr>
        </p:nvSpPr>
        <p:spPr>
          <a:xfrm>
            <a:off x="2135956" y="1538979"/>
            <a:ext cx="8280092" cy="1260014"/>
          </a:xfrm>
        </p:spPr>
        <p:txBody>
          <a:bodyPr/>
          <a:lstStyle/>
          <a:p>
            <a:r>
              <a:rPr kumimoji="1" lang="ja-JP" altLang="en-US" dirty="0"/>
              <a:t>青枠の部分がコンデンサとスイッチをなしている</a:t>
            </a:r>
            <a:endParaRPr kumimoji="1" lang="en-US" altLang="ja-JP" dirty="0"/>
          </a:p>
          <a:p>
            <a:pPr lvl="1"/>
            <a:r>
              <a:rPr kumimoji="1" lang="ja-JP" altLang="en-US" dirty="0"/>
              <a:t>上下のサンドイッチ構造がコンデンサ</a:t>
            </a:r>
            <a:endParaRPr kumimoji="1" lang="en-US" altLang="ja-JP" dirty="0"/>
          </a:p>
          <a:p>
            <a:pPr lvl="1"/>
            <a:r>
              <a:rPr kumimoji="1" lang="ja-JP" altLang="en-US" dirty="0"/>
              <a:t>左右に通すか通さないかがスイッチ</a:t>
            </a:r>
            <a:endParaRPr kumimoji="1" lang="en-US" altLang="ja-JP" dirty="0"/>
          </a:p>
          <a:p>
            <a:r>
              <a:rPr kumimoji="1" lang="ja-JP" altLang="en-US" dirty="0"/>
              <a:t>抵抗は全ての部分に存在する</a:t>
            </a:r>
            <a:endParaRPr kumimoji="1" lang="en-US" altLang="ja-JP" dirty="0"/>
          </a:p>
          <a:p>
            <a:pPr lvl="1"/>
            <a:r>
              <a:rPr kumimoji="1" lang="ja-JP" altLang="en-US" dirty="0"/>
              <a:t>超伝導で無い限り，必ず抵抗が存在する</a:t>
            </a:r>
            <a:endParaRPr kumimoji="1" lang="en-US" altLang="ja-JP" dirty="0"/>
          </a:p>
        </p:txBody>
      </p:sp>
      <p:sp>
        <p:nvSpPr>
          <p:cNvPr id="4" name="Freeform 9">
            <a:extLst>
              <a:ext uri="{FF2B5EF4-FFF2-40B4-BE49-F238E27FC236}">
                <a16:creationId xmlns:a16="http://schemas.microsoft.com/office/drawing/2014/main" id="{C221A3CA-1B0A-CD4E-FF1A-C98E5043F2FF}"/>
              </a:ext>
            </a:extLst>
          </p:cNvPr>
          <p:cNvSpPr>
            <a:spLocks/>
          </p:cNvSpPr>
          <p:nvPr/>
        </p:nvSpPr>
        <p:spPr bwMode="auto">
          <a:xfrm>
            <a:off x="4296168" y="4148907"/>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 name="正方形/長方形 4">
            <a:extLst>
              <a:ext uri="{FF2B5EF4-FFF2-40B4-BE49-F238E27FC236}">
                <a16:creationId xmlns:a16="http://schemas.microsoft.com/office/drawing/2014/main" id="{3785C927-F370-8C68-4D41-08809505CE1B}"/>
              </a:ext>
            </a:extLst>
          </p:cNvPr>
          <p:cNvSpPr/>
          <p:nvPr/>
        </p:nvSpPr>
        <p:spPr bwMode="auto">
          <a:xfrm>
            <a:off x="3215968" y="4869016"/>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algn="ctr" fontAlgn="base">
              <a:spcBef>
                <a:spcPct val="0"/>
              </a:spcBef>
              <a:spcAft>
                <a:spcPct val="0"/>
              </a:spcAft>
            </a:pPr>
            <a:endParaRPr lang="ja-JP" altLang="en-US" dirty="0">
              <a:solidFill>
                <a:schemeClr val="tx1"/>
              </a:solidFill>
            </a:endParaRPr>
          </a:p>
        </p:txBody>
      </p:sp>
      <p:sp>
        <p:nvSpPr>
          <p:cNvPr id="6" name="Rectangle 8">
            <a:extLst>
              <a:ext uri="{FF2B5EF4-FFF2-40B4-BE49-F238E27FC236}">
                <a16:creationId xmlns:a16="http://schemas.microsoft.com/office/drawing/2014/main" id="{C7D76E3A-C659-DFBB-C0A2-BA9E60C7BB80}"/>
              </a:ext>
            </a:extLst>
          </p:cNvPr>
          <p:cNvSpPr>
            <a:spLocks noChangeArrowheads="1"/>
          </p:cNvSpPr>
          <p:nvPr/>
        </p:nvSpPr>
        <p:spPr bwMode="auto">
          <a:xfrm>
            <a:off x="3215999" y="5138723"/>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7" name="Freeform 6">
            <a:extLst>
              <a:ext uri="{FF2B5EF4-FFF2-40B4-BE49-F238E27FC236}">
                <a16:creationId xmlns:a16="http://schemas.microsoft.com/office/drawing/2014/main" id="{C9F068C8-5A6E-731E-7A8D-D0EA490D0071}"/>
              </a:ext>
            </a:extLst>
          </p:cNvPr>
          <p:cNvSpPr>
            <a:spLocks/>
          </p:cNvSpPr>
          <p:nvPr/>
        </p:nvSpPr>
        <p:spPr bwMode="auto">
          <a:xfrm>
            <a:off x="3215999" y="5138724"/>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8" name="Freeform 7">
            <a:extLst>
              <a:ext uri="{FF2B5EF4-FFF2-40B4-BE49-F238E27FC236}">
                <a16:creationId xmlns:a16="http://schemas.microsoft.com/office/drawing/2014/main" id="{68A8671B-8BC0-525F-B094-A705A87C1541}"/>
              </a:ext>
            </a:extLst>
          </p:cNvPr>
          <p:cNvSpPr>
            <a:spLocks/>
          </p:cNvSpPr>
          <p:nvPr/>
        </p:nvSpPr>
        <p:spPr bwMode="auto">
          <a:xfrm flipH="1">
            <a:off x="5376587" y="5138724"/>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9" name="Line 10">
            <a:extLst>
              <a:ext uri="{FF2B5EF4-FFF2-40B4-BE49-F238E27FC236}">
                <a16:creationId xmlns:a16="http://schemas.microsoft.com/office/drawing/2014/main" id="{EE5C2DA5-C271-DD85-7DC9-08FDC462A8D4}"/>
              </a:ext>
            </a:extLst>
          </p:cNvPr>
          <p:cNvSpPr>
            <a:spLocks noChangeShapeType="1"/>
          </p:cNvSpPr>
          <p:nvPr/>
        </p:nvSpPr>
        <p:spPr bwMode="auto">
          <a:xfrm>
            <a:off x="3215969" y="4869016"/>
            <a:ext cx="2879725" cy="0"/>
          </a:xfrm>
          <a:prstGeom prst="line">
            <a:avLst/>
          </a:prstGeom>
          <a:noFill/>
          <a:ln w="19050">
            <a:solidFill>
              <a:schemeClr val="tx1"/>
            </a:solidFill>
            <a:round/>
            <a:headEnd/>
            <a:tailEnd/>
          </a:ln>
          <a:effectLst/>
        </p:spPr>
        <p:txBody>
          <a:bodyPr/>
          <a:lstStyle/>
          <a:p>
            <a:endParaRPr lang="ja-JP" altLang="en-US"/>
          </a:p>
        </p:txBody>
      </p:sp>
      <p:sp>
        <p:nvSpPr>
          <p:cNvPr id="10" name="Line 11">
            <a:extLst>
              <a:ext uri="{FF2B5EF4-FFF2-40B4-BE49-F238E27FC236}">
                <a16:creationId xmlns:a16="http://schemas.microsoft.com/office/drawing/2014/main" id="{B589A1F7-0827-423B-2275-97871B21B160}"/>
              </a:ext>
            </a:extLst>
          </p:cNvPr>
          <p:cNvSpPr>
            <a:spLocks noChangeShapeType="1"/>
          </p:cNvSpPr>
          <p:nvPr/>
        </p:nvSpPr>
        <p:spPr bwMode="auto">
          <a:xfrm>
            <a:off x="3215999" y="6578585"/>
            <a:ext cx="2879725" cy="0"/>
          </a:xfrm>
          <a:prstGeom prst="line">
            <a:avLst/>
          </a:prstGeom>
          <a:noFill/>
          <a:ln w="19050">
            <a:solidFill>
              <a:schemeClr val="tx1"/>
            </a:solidFill>
            <a:round/>
            <a:headEnd/>
            <a:tailEnd/>
          </a:ln>
          <a:effectLst/>
        </p:spPr>
        <p:txBody>
          <a:bodyPr/>
          <a:lstStyle/>
          <a:p>
            <a:endParaRPr lang="ja-JP" altLang="en-US"/>
          </a:p>
        </p:txBody>
      </p:sp>
      <p:sp>
        <p:nvSpPr>
          <p:cNvPr id="11" name="Rectangle 12">
            <a:extLst>
              <a:ext uri="{FF2B5EF4-FFF2-40B4-BE49-F238E27FC236}">
                <a16:creationId xmlns:a16="http://schemas.microsoft.com/office/drawing/2014/main" id="{346BD7CD-86DF-AC6E-A7CD-D5A8727DBE26}"/>
              </a:ext>
            </a:extLst>
          </p:cNvPr>
          <p:cNvSpPr>
            <a:spLocks noChangeArrowheads="1"/>
          </p:cNvSpPr>
          <p:nvPr/>
        </p:nvSpPr>
        <p:spPr bwMode="auto">
          <a:xfrm>
            <a:off x="3215999" y="5319699"/>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12" name="Rectangle 15">
            <a:extLst>
              <a:ext uri="{FF2B5EF4-FFF2-40B4-BE49-F238E27FC236}">
                <a16:creationId xmlns:a16="http://schemas.microsoft.com/office/drawing/2014/main" id="{63430AB1-80DD-4992-0EA3-51D85CD06392}"/>
              </a:ext>
            </a:extLst>
          </p:cNvPr>
          <p:cNvSpPr>
            <a:spLocks noChangeArrowheads="1"/>
          </p:cNvSpPr>
          <p:nvPr/>
        </p:nvSpPr>
        <p:spPr bwMode="auto">
          <a:xfrm>
            <a:off x="5736949" y="5319699"/>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13" name="Rectangle 16">
            <a:extLst>
              <a:ext uri="{FF2B5EF4-FFF2-40B4-BE49-F238E27FC236}">
                <a16:creationId xmlns:a16="http://schemas.microsoft.com/office/drawing/2014/main" id="{F39466E6-35AF-D7D3-C99A-906849A0D291}"/>
              </a:ext>
            </a:extLst>
          </p:cNvPr>
          <p:cNvSpPr>
            <a:spLocks noChangeArrowheads="1"/>
          </p:cNvSpPr>
          <p:nvPr/>
        </p:nvSpPr>
        <p:spPr bwMode="auto">
          <a:xfrm>
            <a:off x="4477143" y="4328294"/>
            <a:ext cx="360363" cy="358775"/>
          </a:xfrm>
          <a:prstGeom prst="rect">
            <a:avLst/>
          </a:prstGeom>
          <a:noFill/>
          <a:ln w="9525">
            <a:noFill/>
            <a:miter lim="800000"/>
            <a:headEnd/>
            <a:tailEnd/>
          </a:ln>
          <a:effectLst/>
        </p:spPr>
        <p:txBody>
          <a:bodyPr wrap="none" anchor="ctr"/>
          <a:lstStyle/>
          <a:p>
            <a:pPr algn="ctr"/>
            <a:r>
              <a:rPr lang="en-US" altLang="ja-JP"/>
              <a:t>G</a:t>
            </a:r>
          </a:p>
        </p:txBody>
      </p:sp>
      <p:grpSp>
        <p:nvGrpSpPr>
          <p:cNvPr id="14" name="グループ化 13">
            <a:extLst>
              <a:ext uri="{FF2B5EF4-FFF2-40B4-BE49-F238E27FC236}">
                <a16:creationId xmlns:a16="http://schemas.microsoft.com/office/drawing/2014/main" id="{90294872-36A1-4658-3F2C-6578641AEB81}"/>
              </a:ext>
            </a:extLst>
          </p:cNvPr>
          <p:cNvGrpSpPr/>
          <p:nvPr/>
        </p:nvGrpSpPr>
        <p:grpSpPr>
          <a:xfrm>
            <a:off x="4206168" y="5228919"/>
            <a:ext cx="900113" cy="180975"/>
            <a:chOff x="1962150" y="5499100"/>
            <a:chExt cx="900113" cy="180975"/>
          </a:xfrm>
        </p:grpSpPr>
        <p:grpSp>
          <p:nvGrpSpPr>
            <p:cNvPr id="15" name="Group 19">
              <a:extLst>
                <a:ext uri="{FF2B5EF4-FFF2-40B4-BE49-F238E27FC236}">
                  <a16:creationId xmlns:a16="http://schemas.microsoft.com/office/drawing/2014/main" id="{23C10A28-9E69-8B20-4AD9-2A843CD71243}"/>
                </a:ext>
              </a:extLst>
            </p:cNvPr>
            <p:cNvGrpSpPr>
              <a:grpSpLocks/>
            </p:cNvGrpSpPr>
            <p:nvPr/>
          </p:nvGrpSpPr>
          <p:grpSpPr bwMode="auto">
            <a:xfrm>
              <a:off x="1962150" y="5499100"/>
              <a:ext cx="180975" cy="180975"/>
              <a:chOff x="2823" y="3464"/>
              <a:chExt cx="114" cy="114"/>
            </a:xfrm>
          </p:grpSpPr>
          <p:sp>
            <p:nvSpPr>
              <p:cNvPr id="22" name="Oval 17">
                <a:extLst>
                  <a:ext uri="{FF2B5EF4-FFF2-40B4-BE49-F238E27FC236}">
                    <a16:creationId xmlns:a16="http://schemas.microsoft.com/office/drawing/2014/main" id="{E34D1485-3764-8DE7-5317-2919F5846C15}"/>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3" name="Line 18">
                <a:extLst>
                  <a:ext uri="{FF2B5EF4-FFF2-40B4-BE49-F238E27FC236}">
                    <a16:creationId xmlns:a16="http://schemas.microsoft.com/office/drawing/2014/main" id="{073E624E-5BB9-5DD5-50DF-FAF5BF6764BC}"/>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16" name="Group 20">
              <a:extLst>
                <a:ext uri="{FF2B5EF4-FFF2-40B4-BE49-F238E27FC236}">
                  <a16:creationId xmlns:a16="http://schemas.microsoft.com/office/drawing/2014/main" id="{AB57479D-386E-D089-EFE3-5DA4015A3FF2}"/>
                </a:ext>
              </a:extLst>
            </p:cNvPr>
            <p:cNvGrpSpPr>
              <a:grpSpLocks/>
            </p:cNvGrpSpPr>
            <p:nvPr/>
          </p:nvGrpSpPr>
          <p:grpSpPr bwMode="auto">
            <a:xfrm>
              <a:off x="2322513" y="5499100"/>
              <a:ext cx="180975" cy="180975"/>
              <a:chOff x="2823" y="3464"/>
              <a:chExt cx="114" cy="114"/>
            </a:xfrm>
          </p:grpSpPr>
          <p:sp>
            <p:nvSpPr>
              <p:cNvPr id="20" name="Oval 21">
                <a:extLst>
                  <a:ext uri="{FF2B5EF4-FFF2-40B4-BE49-F238E27FC236}">
                    <a16:creationId xmlns:a16="http://schemas.microsoft.com/office/drawing/2014/main" id="{FE0508BE-D50D-8772-AB29-0B7CD16C6A77}"/>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1" name="Line 22">
                <a:extLst>
                  <a:ext uri="{FF2B5EF4-FFF2-40B4-BE49-F238E27FC236}">
                    <a16:creationId xmlns:a16="http://schemas.microsoft.com/office/drawing/2014/main" id="{2AAE3A22-417B-C23C-6037-5AE8AAC4C37B}"/>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17" name="Group 23">
              <a:extLst>
                <a:ext uri="{FF2B5EF4-FFF2-40B4-BE49-F238E27FC236}">
                  <a16:creationId xmlns:a16="http://schemas.microsoft.com/office/drawing/2014/main" id="{D32C3CED-FCD3-5353-CAA5-F7FD11B3047B}"/>
                </a:ext>
              </a:extLst>
            </p:cNvPr>
            <p:cNvGrpSpPr>
              <a:grpSpLocks/>
            </p:cNvGrpSpPr>
            <p:nvPr/>
          </p:nvGrpSpPr>
          <p:grpSpPr bwMode="auto">
            <a:xfrm>
              <a:off x="2681288" y="5499100"/>
              <a:ext cx="180975" cy="180975"/>
              <a:chOff x="2823" y="3464"/>
              <a:chExt cx="114" cy="114"/>
            </a:xfrm>
          </p:grpSpPr>
          <p:sp>
            <p:nvSpPr>
              <p:cNvPr id="18" name="Oval 24">
                <a:extLst>
                  <a:ext uri="{FF2B5EF4-FFF2-40B4-BE49-F238E27FC236}">
                    <a16:creationId xmlns:a16="http://schemas.microsoft.com/office/drawing/2014/main" id="{26EF89C9-161E-8EC8-BF23-6A72D06C4CEA}"/>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19" name="Line 25">
                <a:extLst>
                  <a:ext uri="{FF2B5EF4-FFF2-40B4-BE49-F238E27FC236}">
                    <a16:creationId xmlns:a16="http://schemas.microsoft.com/office/drawing/2014/main" id="{FEC74662-B87C-8CCB-FBCF-C125CD9AD574}"/>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cxnSp>
        <p:nvCxnSpPr>
          <p:cNvPr id="24" name="直線矢印コネクタ 23">
            <a:extLst>
              <a:ext uri="{FF2B5EF4-FFF2-40B4-BE49-F238E27FC236}">
                <a16:creationId xmlns:a16="http://schemas.microsoft.com/office/drawing/2014/main" id="{20773413-3FC1-E279-4CFC-3BB018A1A0DB}"/>
              </a:ext>
            </a:extLst>
          </p:cNvPr>
          <p:cNvCxnSpPr/>
          <p:nvPr/>
        </p:nvCxnSpPr>
        <p:spPr bwMode="auto">
          <a:xfrm>
            <a:off x="3486159" y="5228918"/>
            <a:ext cx="2340026" cy="0"/>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grpSp>
        <p:nvGrpSpPr>
          <p:cNvPr id="25" name="グループ化 24">
            <a:extLst>
              <a:ext uri="{FF2B5EF4-FFF2-40B4-BE49-F238E27FC236}">
                <a16:creationId xmlns:a16="http://schemas.microsoft.com/office/drawing/2014/main" id="{BCD3065E-B7E0-928C-26A2-B45CF64EB0CB}"/>
              </a:ext>
            </a:extLst>
          </p:cNvPr>
          <p:cNvGrpSpPr/>
          <p:nvPr/>
        </p:nvGrpSpPr>
        <p:grpSpPr>
          <a:xfrm rot="5400000">
            <a:off x="8982933" y="4695916"/>
            <a:ext cx="67531" cy="337533"/>
            <a:chOff x="3401870" y="728700"/>
            <a:chExt cx="180020" cy="405045"/>
          </a:xfrm>
        </p:grpSpPr>
        <p:cxnSp>
          <p:nvCxnSpPr>
            <p:cNvPr id="26" name="直線コネクタ 25">
              <a:extLst>
                <a:ext uri="{FF2B5EF4-FFF2-40B4-BE49-F238E27FC236}">
                  <a16:creationId xmlns:a16="http://schemas.microsoft.com/office/drawing/2014/main" id="{62658809-3E2E-2877-8449-3154A52B9612}"/>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F9BC6C9C-593A-C3B7-B7CA-47A4FA4B4624}"/>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 name="直線コネクタ 27">
              <a:extLst>
                <a:ext uri="{FF2B5EF4-FFF2-40B4-BE49-F238E27FC236}">
                  <a16:creationId xmlns:a16="http://schemas.microsoft.com/office/drawing/2014/main" id="{F42E8D7A-0E85-9976-F16C-8C9827B9B3F6}"/>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503B080E-C455-CC9C-617E-85C1177B366B}"/>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7835A240-EB2D-FAC7-E09B-042A539B33A4}"/>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DBD920DA-B5B3-DA18-DC10-A5D519C60B42}"/>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56C8328C-A239-2A03-F45B-6A01A300335F}"/>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01537EB5-633B-E605-22B2-8ADC0B30CDD8}"/>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D2FBEF27-B232-C97D-59A2-EA01D4DA0C2E}"/>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39" name="グループ化 38">
            <a:extLst>
              <a:ext uri="{FF2B5EF4-FFF2-40B4-BE49-F238E27FC236}">
                <a16:creationId xmlns:a16="http://schemas.microsoft.com/office/drawing/2014/main" id="{AD90FB69-C248-17DE-FDAA-767732C2AD5D}"/>
              </a:ext>
            </a:extLst>
          </p:cNvPr>
          <p:cNvGrpSpPr/>
          <p:nvPr/>
        </p:nvGrpSpPr>
        <p:grpSpPr>
          <a:xfrm>
            <a:off x="8436026" y="5139019"/>
            <a:ext cx="90012" cy="450012"/>
            <a:chOff x="5967000" y="1944000"/>
            <a:chExt cx="90012" cy="450012"/>
          </a:xfrm>
        </p:grpSpPr>
        <p:cxnSp>
          <p:nvCxnSpPr>
            <p:cNvPr id="40" name="直線コネクタ 39">
              <a:extLst>
                <a:ext uri="{FF2B5EF4-FFF2-40B4-BE49-F238E27FC236}">
                  <a16:creationId xmlns:a16="http://schemas.microsoft.com/office/drawing/2014/main" id="{A8072065-8052-87CB-E602-088DF24B018A}"/>
                </a:ext>
              </a:extLst>
            </p:cNvPr>
            <p:cNvCxnSpPr>
              <a:stCxn id="42" idx="0"/>
            </p:cNvCxnSpPr>
            <p:nvPr/>
          </p:nvCxnSpPr>
          <p:spPr>
            <a:xfrm>
              <a:off x="5967000" y="1989006"/>
              <a:ext cx="45004" cy="359997"/>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1" name="円/楕円 68">
              <a:extLst>
                <a:ext uri="{FF2B5EF4-FFF2-40B4-BE49-F238E27FC236}">
                  <a16:creationId xmlns:a16="http://schemas.microsoft.com/office/drawing/2014/main" id="{8F51D651-8A3B-9D45-CD0C-79FFA7FE2116}"/>
                </a:ext>
              </a:extLst>
            </p:cNvPr>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42" name="円/楕円 69">
              <a:extLst>
                <a:ext uri="{FF2B5EF4-FFF2-40B4-BE49-F238E27FC236}">
                  <a16:creationId xmlns:a16="http://schemas.microsoft.com/office/drawing/2014/main" id="{E1DBA710-A54F-46C7-85CF-5DB405D6CF36}"/>
                </a:ext>
              </a:extLst>
            </p:cNvPr>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43" name="グループ化 152">
            <a:extLst>
              <a:ext uri="{FF2B5EF4-FFF2-40B4-BE49-F238E27FC236}">
                <a16:creationId xmlns:a16="http://schemas.microsoft.com/office/drawing/2014/main" id="{A2E2CF06-1F71-EEFE-C8AE-6C709B7B92C6}"/>
              </a:ext>
            </a:extLst>
          </p:cNvPr>
          <p:cNvGrpSpPr/>
          <p:nvPr/>
        </p:nvGrpSpPr>
        <p:grpSpPr>
          <a:xfrm>
            <a:off x="8391745" y="5859027"/>
            <a:ext cx="180002" cy="90001"/>
            <a:chOff x="3643306" y="4500570"/>
            <a:chExt cx="428628" cy="144464"/>
          </a:xfrm>
        </p:grpSpPr>
        <p:cxnSp>
          <p:nvCxnSpPr>
            <p:cNvPr id="44" name="直線コネクタ 43">
              <a:extLst>
                <a:ext uri="{FF2B5EF4-FFF2-40B4-BE49-F238E27FC236}">
                  <a16:creationId xmlns:a16="http://schemas.microsoft.com/office/drawing/2014/main" id="{240B9CF6-BE25-3F0E-8B59-11C9AFEECA4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5" name="直線コネクタ 44">
              <a:extLst>
                <a:ext uri="{FF2B5EF4-FFF2-40B4-BE49-F238E27FC236}">
                  <a16:creationId xmlns:a16="http://schemas.microsoft.com/office/drawing/2014/main" id="{C53486D5-0279-5CD0-C176-D9D458E10E7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09A896B3-3FB7-F3C0-D303-FD87D1AF989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47" name="直線コネクタ 46">
            <a:extLst>
              <a:ext uri="{FF2B5EF4-FFF2-40B4-BE49-F238E27FC236}">
                <a16:creationId xmlns:a16="http://schemas.microsoft.com/office/drawing/2014/main" id="{A530E4FA-E1EF-A26C-0CCA-EDBFC06F4D9D}"/>
              </a:ext>
            </a:extLst>
          </p:cNvPr>
          <p:cNvCxnSpPr/>
          <p:nvPr/>
        </p:nvCxnSpPr>
        <p:spPr>
          <a:xfrm flipV="1">
            <a:off x="8481747" y="558902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FD0DA3D5-C1E2-DC19-BD00-494C7C014E2E}"/>
              </a:ext>
            </a:extLst>
          </p:cNvPr>
          <p:cNvCxnSpPr/>
          <p:nvPr/>
        </p:nvCxnSpPr>
        <p:spPr>
          <a:xfrm flipV="1">
            <a:off x="8481747" y="4599013"/>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B696A11B-A777-8EED-EA13-54F3559FCB58}"/>
              </a:ext>
            </a:extLst>
          </p:cNvPr>
          <p:cNvCxnSpPr/>
          <p:nvPr/>
        </p:nvCxnSpPr>
        <p:spPr>
          <a:xfrm flipH="1">
            <a:off x="8481746" y="4869016"/>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3" name="グループ化 52">
            <a:extLst>
              <a:ext uri="{FF2B5EF4-FFF2-40B4-BE49-F238E27FC236}">
                <a16:creationId xmlns:a16="http://schemas.microsoft.com/office/drawing/2014/main" id="{2C9DF4D2-8559-47C0-30D5-E34E4233CF76}"/>
              </a:ext>
            </a:extLst>
          </p:cNvPr>
          <p:cNvGrpSpPr/>
          <p:nvPr/>
        </p:nvGrpSpPr>
        <p:grpSpPr>
          <a:xfrm rot="10800000">
            <a:off x="7536016" y="4689014"/>
            <a:ext cx="90012" cy="360048"/>
            <a:chOff x="2051664" y="1988808"/>
            <a:chExt cx="90012" cy="360048"/>
          </a:xfrm>
        </p:grpSpPr>
        <p:cxnSp>
          <p:nvCxnSpPr>
            <p:cNvPr id="54" name="直線コネクタ 53">
              <a:extLst>
                <a:ext uri="{FF2B5EF4-FFF2-40B4-BE49-F238E27FC236}">
                  <a16:creationId xmlns:a16="http://schemas.microsoft.com/office/drawing/2014/main" id="{1DA3A418-CE04-268B-EECC-61603A0F1FD9}"/>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9C066529-B560-2E05-E9A2-C8CDC92D55D9}"/>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56" name="グループ化 152">
            <a:extLst>
              <a:ext uri="{FF2B5EF4-FFF2-40B4-BE49-F238E27FC236}">
                <a16:creationId xmlns:a16="http://schemas.microsoft.com/office/drawing/2014/main" id="{3032C6C3-528D-0CE3-E993-CD1C65AE0363}"/>
              </a:ext>
            </a:extLst>
          </p:cNvPr>
          <p:cNvGrpSpPr/>
          <p:nvPr/>
        </p:nvGrpSpPr>
        <p:grpSpPr>
          <a:xfrm>
            <a:off x="7806019" y="5859028"/>
            <a:ext cx="180002" cy="90001"/>
            <a:chOff x="3643306" y="4500570"/>
            <a:chExt cx="428628" cy="144464"/>
          </a:xfrm>
        </p:grpSpPr>
        <p:cxnSp>
          <p:nvCxnSpPr>
            <p:cNvPr id="57" name="直線コネクタ 56">
              <a:extLst>
                <a:ext uri="{FF2B5EF4-FFF2-40B4-BE49-F238E27FC236}">
                  <a16:creationId xmlns:a16="http://schemas.microsoft.com/office/drawing/2014/main" id="{3A1F56D6-89D2-930C-C4BA-FD6C0AD46808}"/>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8" name="直線コネクタ 57">
              <a:extLst>
                <a:ext uri="{FF2B5EF4-FFF2-40B4-BE49-F238E27FC236}">
                  <a16:creationId xmlns:a16="http://schemas.microsoft.com/office/drawing/2014/main" id="{C4A3C015-DE68-EF88-CB85-534E012DEE0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59" name="直線コネクタ 58">
              <a:extLst>
                <a:ext uri="{FF2B5EF4-FFF2-40B4-BE49-F238E27FC236}">
                  <a16:creationId xmlns:a16="http://schemas.microsoft.com/office/drawing/2014/main" id="{78B062A2-B1A8-3173-3FA2-BD75C9FFCCDA}"/>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60" name="フリーフォーム 95">
            <a:extLst>
              <a:ext uri="{FF2B5EF4-FFF2-40B4-BE49-F238E27FC236}">
                <a16:creationId xmlns:a16="http://schemas.microsoft.com/office/drawing/2014/main" id="{B70B31B0-65B1-A1F8-79F3-D681B74143FA}"/>
              </a:ext>
            </a:extLst>
          </p:cNvPr>
          <p:cNvSpPr/>
          <p:nvPr/>
        </p:nvSpPr>
        <p:spPr bwMode="auto">
          <a:xfrm rot="5400000" flipH="1">
            <a:off x="7266013" y="5229020"/>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61" name="直線コネクタ 60">
            <a:extLst>
              <a:ext uri="{FF2B5EF4-FFF2-40B4-BE49-F238E27FC236}">
                <a16:creationId xmlns:a16="http://schemas.microsoft.com/office/drawing/2014/main" id="{60801AC6-C33C-C3CF-FBCB-F4181594E1CD}"/>
              </a:ext>
            </a:extLst>
          </p:cNvPr>
          <p:cNvCxnSpPr/>
          <p:nvPr/>
        </p:nvCxnSpPr>
        <p:spPr>
          <a:xfrm>
            <a:off x="7356014" y="4869016"/>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2548DC4E-D649-9164-2343-F2255A6B2F88}"/>
              </a:ext>
            </a:extLst>
          </p:cNvPr>
          <p:cNvCxnSpPr/>
          <p:nvPr/>
        </p:nvCxnSpPr>
        <p:spPr>
          <a:xfrm>
            <a:off x="6816008" y="4869016"/>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正方形/長方形 62">
            <a:extLst>
              <a:ext uri="{FF2B5EF4-FFF2-40B4-BE49-F238E27FC236}">
                <a16:creationId xmlns:a16="http://schemas.microsoft.com/office/drawing/2014/main" id="{950C2384-048C-180F-3A1F-40552090B99C}"/>
              </a:ext>
            </a:extLst>
          </p:cNvPr>
          <p:cNvSpPr/>
          <p:nvPr/>
        </p:nvSpPr>
        <p:spPr bwMode="auto">
          <a:xfrm>
            <a:off x="7626017" y="585902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000" dirty="0">
                <a:solidFill>
                  <a:schemeClr val="tx1">
                    <a:lumMod val="65000"/>
                    <a:lumOff val="35000"/>
                  </a:schemeClr>
                </a:solidFill>
              </a:rPr>
              <a:t>等価回路</a:t>
            </a:r>
          </a:p>
        </p:txBody>
      </p:sp>
      <p:cxnSp>
        <p:nvCxnSpPr>
          <p:cNvPr id="64" name="直線コネクタ 63">
            <a:extLst>
              <a:ext uri="{FF2B5EF4-FFF2-40B4-BE49-F238E27FC236}">
                <a16:creationId xmlns:a16="http://schemas.microsoft.com/office/drawing/2014/main" id="{912F6A7D-95C5-E5E0-F100-035472B1E158}"/>
              </a:ext>
            </a:extLst>
          </p:cNvPr>
          <p:cNvCxnSpPr/>
          <p:nvPr/>
        </p:nvCxnSpPr>
        <p:spPr>
          <a:xfrm>
            <a:off x="9184609" y="4869016"/>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5" name="四角形: 角を丸くする 64">
            <a:extLst>
              <a:ext uri="{FF2B5EF4-FFF2-40B4-BE49-F238E27FC236}">
                <a16:creationId xmlns:a16="http://schemas.microsoft.com/office/drawing/2014/main" id="{4EDFFAAF-1A14-2E33-5B52-98CBF94C5668}"/>
              </a:ext>
            </a:extLst>
          </p:cNvPr>
          <p:cNvSpPr/>
          <p:nvPr/>
        </p:nvSpPr>
        <p:spPr bwMode="auto">
          <a:xfrm>
            <a:off x="3936006" y="4688718"/>
            <a:ext cx="1440016" cy="900010"/>
          </a:xfrm>
          <a:prstGeom prst="roundRect">
            <a:avLst/>
          </a:prstGeom>
          <a:noFill/>
          <a:ln w="57150">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373647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の遅延の実体</a:t>
            </a:r>
            <a:endParaRPr kumimoji="1" lang="ja-JP" altLang="en-US" dirty="0"/>
          </a:p>
        </p:txBody>
      </p:sp>
      <p:sp>
        <p:nvSpPr>
          <p:cNvPr id="3" name="テキスト プレースホルダー 2"/>
          <p:cNvSpPr>
            <a:spLocks noGrp="1"/>
          </p:cNvSpPr>
          <p:nvPr>
            <p:ph type="body" sz="quarter" idx="10"/>
          </p:nvPr>
        </p:nvSpPr>
        <p:spPr>
          <a:xfrm>
            <a:off x="2225957" y="4779323"/>
            <a:ext cx="8262041" cy="1439709"/>
          </a:xfrm>
        </p:spPr>
        <p:txBody>
          <a:bodyPr/>
          <a:lstStyle/>
          <a:p>
            <a:r>
              <a:rPr lang="ja-JP" altLang="en-US" dirty="0">
                <a:solidFill>
                  <a:schemeClr val="accent6"/>
                </a:solidFill>
              </a:rPr>
              <a:t>遅延：コンデンサの充放電にかかる時間</a:t>
            </a:r>
            <a:endParaRPr lang="en-US" altLang="ja-JP" dirty="0">
              <a:solidFill>
                <a:schemeClr val="accent6"/>
              </a:solidFill>
            </a:endParaRPr>
          </a:p>
          <a:p>
            <a:pPr marL="817200" lvl="1" indent="-457200">
              <a:buFont typeface="+mj-lt"/>
              <a:buAutoNum type="arabicPeriod"/>
            </a:pPr>
            <a:r>
              <a:rPr lang="ja-JP" altLang="en-US" dirty="0"/>
              <a:t>あるゲートのスイッチが切り替わる</a:t>
            </a:r>
            <a:endParaRPr lang="en-US" altLang="ja-JP" dirty="0"/>
          </a:p>
          <a:p>
            <a:pPr marL="817200" lvl="1" indent="-457200">
              <a:buFont typeface="+mj-lt"/>
              <a:buAutoNum type="arabicPeriod"/>
            </a:pPr>
            <a:r>
              <a:rPr lang="ja-JP" altLang="en-US" dirty="0"/>
              <a:t>次の段のゲートへの充放電が開始</a:t>
            </a:r>
            <a:endParaRPr lang="en-US" altLang="ja-JP" dirty="0"/>
          </a:p>
          <a:p>
            <a:pPr marL="817200" lvl="1" indent="-457200">
              <a:buFont typeface="+mj-lt"/>
              <a:buAutoNum type="arabicPeriod"/>
            </a:pPr>
            <a:r>
              <a:rPr lang="ja-JP" altLang="en-US" dirty="0"/>
              <a:t>次の段のスイッチが切り替わる</a:t>
            </a:r>
            <a:endParaRPr lang="en-US" altLang="ja-JP" dirty="0"/>
          </a:p>
          <a:p>
            <a:pPr marL="817200" lvl="1" indent="-457200">
              <a:buFont typeface="+mj-lt"/>
              <a:buAutoNum type="arabicPeriod"/>
            </a:pPr>
            <a:r>
              <a:rPr lang="ja-JP" altLang="en-US" dirty="0"/>
              <a:t>･･･</a:t>
            </a:r>
            <a:endParaRPr lang="en-US" altLang="ja-JP" dirty="0"/>
          </a:p>
          <a:p>
            <a:pPr lvl="1"/>
            <a:endParaRPr lang="en-US" altLang="ja-JP" dirty="0"/>
          </a:p>
        </p:txBody>
      </p:sp>
      <p:grpSp>
        <p:nvGrpSpPr>
          <p:cNvPr id="4" name="グループ化 3"/>
          <p:cNvGrpSpPr/>
          <p:nvPr/>
        </p:nvGrpSpPr>
        <p:grpSpPr>
          <a:xfrm rot="5400000">
            <a:off x="4634310" y="2535892"/>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66" name="グループ化 65"/>
          <p:cNvGrpSpPr/>
          <p:nvPr/>
        </p:nvGrpSpPr>
        <p:grpSpPr>
          <a:xfrm>
            <a:off x="3935976" y="2978995"/>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67" name="グループ化 66"/>
          <p:cNvGrpSpPr/>
          <p:nvPr/>
        </p:nvGrpSpPr>
        <p:grpSpPr>
          <a:xfrm>
            <a:off x="4115978" y="1988984"/>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72" name="グループ化 152"/>
          <p:cNvGrpSpPr/>
          <p:nvPr/>
        </p:nvGrpSpPr>
        <p:grpSpPr>
          <a:xfrm>
            <a:off x="4043122" y="3699003"/>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4133124" y="3429001"/>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4043122" y="1628981"/>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4133124" y="2438989"/>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4133123" y="2708992"/>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3187393" y="2528990"/>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3457396" y="3699004"/>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2917390" y="3068996"/>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97" name="直線コネクタ 96"/>
          <p:cNvCxnSpPr/>
          <p:nvPr/>
        </p:nvCxnSpPr>
        <p:spPr>
          <a:xfrm>
            <a:off x="3007391" y="2708992"/>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0" name="直線コネクタ 99"/>
          <p:cNvCxnSpPr/>
          <p:nvPr/>
        </p:nvCxnSpPr>
        <p:spPr>
          <a:xfrm>
            <a:off x="2467385"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4" name="正方形/長方形 83"/>
          <p:cNvSpPr/>
          <p:nvPr/>
        </p:nvSpPr>
        <p:spPr bwMode="auto">
          <a:xfrm>
            <a:off x="3277394" y="126897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85" name="直線コネクタ 84"/>
          <p:cNvCxnSpPr/>
          <p:nvPr/>
        </p:nvCxnSpPr>
        <p:spPr>
          <a:xfrm>
            <a:off x="4835986"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88" name="グループ化 87"/>
          <p:cNvGrpSpPr/>
          <p:nvPr/>
        </p:nvGrpSpPr>
        <p:grpSpPr>
          <a:xfrm rot="5400000">
            <a:off x="7514342" y="2535892"/>
            <a:ext cx="67531" cy="337533"/>
            <a:chOff x="3401870" y="728700"/>
            <a:chExt cx="180020" cy="405045"/>
          </a:xfrm>
        </p:grpSpPr>
        <p:cxnSp>
          <p:nvCxnSpPr>
            <p:cNvPr id="90" name="直線コネクタ 89"/>
            <p:cNvCxnSpPr/>
            <p:nvPr/>
          </p:nvCxnSpPr>
          <p:spPr>
            <a:xfrm>
              <a:off x="3401870" y="77370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V="1">
              <a:off x="3401870" y="81871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1" name="直線コネクタ 100"/>
            <p:cNvCxnSpPr/>
            <p:nvPr/>
          </p:nvCxnSpPr>
          <p:spPr>
            <a:xfrm>
              <a:off x="3401870" y="86371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2" name="直線コネクタ 101"/>
            <p:cNvCxnSpPr/>
            <p:nvPr/>
          </p:nvCxnSpPr>
          <p:spPr>
            <a:xfrm flipV="1">
              <a:off x="3401870" y="90872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a:off x="3401870" y="95372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 name="直線コネクタ 103"/>
            <p:cNvCxnSpPr/>
            <p:nvPr/>
          </p:nvCxnSpPr>
          <p:spPr>
            <a:xfrm flipV="1">
              <a:off x="3401870" y="99873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a:off x="3401870" y="104373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V="1">
              <a:off x="3491880" y="1088741"/>
              <a:ext cx="90010" cy="45004"/>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V="1">
              <a:off x="3401870" y="728700"/>
              <a:ext cx="9001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08" name="グループ化 107"/>
          <p:cNvGrpSpPr/>
          <p:nvPr/>
        </p:nvGrpSpPr>
        <p:grpSpPr>
          <a:xfrm>
            <a:off x="6787433" y="1988984"/>
            <a:ext cx="270012" cy="450012"/>
            <a:chOff x="5787000" y="1944000"/>
            <a:chExt cx="270012" cy="450012"/>
          </a:xfrm>
        </p:grpSpPr>
        <p:cxnSp>
          <p:nvCxnSpPr>
            <p:cNvPr id="109" name="直線コネクタ 108"/>
            <p:cNvCxnSpPr/>
            <p:nvPr/>
          </p:nvCxnSpPr>
          <p:spPr>
            <a:xfrm>
              <a:off x="5787000" y="1989000"/>
              <a:ext cx="225004" cy="360003"/>
            </a:xfrm>
            <a:prstGeom prst="line">
              <a:avLst/>
            </a:prstGeom>
            <a:ln w="38100"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0" name="円/楕円 109"/>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11" name="円/楕円 110"/>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112" name="グループ化 111"/>
          <p:cNvGrpSpPr/>
          <p:nvPr/>
        </p:nvGrpSpPr>
        <p:grpSpPr>
          <a:xfrm>
            <a:off x="6967435" y="2978995"/>
            <a:ext cx="90012" cy="450012"/>
            <a:chOff x="5967000" y="1944000"/>
            <a:chExt cx="90012" cy="450012"/>
          </a:xfrm>
        </p:grpSpPr>
        <p:cxnSp>
          <p:nvCxnSpPr>
            <p:cNvPr id="113" name="直線コネクタ 112"/>
            <p:cNvCxnSpPr>
              <a:stCxn id="115" idx="0"/>
            </p:cNvCxnSpPr>
            <p:nvPr/>
          </p:nvCxnSpPr>
          <p:spPr>
            <a:xfrm>
              <a:off x="5967000" y="1989006"/>
              <a:ext cx="45004" cy="359997"/>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4" name="円/楕円 113"/>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15" name="円/楕円 114"/>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116" name="グループ化 152"/>
          <p:cNvGrpSpPr/>
          <p:nvPr/>
        </p:nvGrpSpPr>
        <p:grpSpPr>
          <a:xfrm>
            <a:off x="6923154" y="3699003"/>
            <a:ext cx="180002" cy="90001"/>
            <a:chOff x="3643306" y="4500570"/>
            <a:chExt cx="428628" cy="144464"/>
          </a:xfrm>
        </p:grpSpPr>
        <p:cxnSp>
          <p:nvCxnSpPr>
            <p:cNvPr id="117" name="直線コネクタ 116"/>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8" name="直線コネクタ 117"/>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9" name="直線コネクタ 118"/>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20" name="直線コネクタ 119"/>
          <p:cNvCxnSpPr/>
          <p:nvPr/>
        </p:nvCxnSpPr>
        <p:spPr>
          <a:xfrm flipV="1">
            <a:off x="7013156" y="3429001"/>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21" name="グループ化 120"/>
          <p:cNvGrpSpPr/>
          <p:nvPr/>
        </p:nvGrpSpPr>
        <p:grpSpPr>
          <a:xfrm>
            <a:off x="6923154" y="1628981"/>
            <a:ext cx="180020" cy="360033"/>
            <a:chOff x="4481992" y="1268760"/>
            <a:chExt cx="180020" cy="360033"/>
          </a:xfrm>
        </p:grpSpPr>
        <p:cxnSp>
          <p:nvCxnSpPr>
            <p:cNvPr id="122" name="直線コネクタ 121"/>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4" name="直線コネクタ 123"/>
          <p:cNvCxnSpPr/>
          <p:nvPr/>
        </p:nvCxnSpPr>
        <p:spPr>
          <a:xfrm flipV="1">
            <a:off x="7013156" y="2438989"/>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flipH="1">
            <a:off x="7013155" y="2708992"/>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126" name="グループ化 125"/>
          <p:cNvGrpSpPr/>
          <p:nvPr/>
        </p:nvGrpSpPr>
        <p:grpSpPr>
          <a:xfrm rot="10800000">
            <a:off x="6067425" y="2528990"/>
            <a:ext cx="90012" cy="360048"/>
            <a:chOff x="2051664" y="1988808"/>
            <a:chExt cx="90012" cy="360048"/>
          </a:xfrm>
        </p:grpSpPr>
        <p:cxnSp>
          <p:nvCxnSpPr>
            <p:cNvPr id="127" name="直線コネクタ 126"/>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28" name="直線コネクタ 127"/>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129" name="グループ化 152"/>
          <p:cNvGrpSpPr/>
          <p:nvPr/>
        </p:nvGrpSpPr>
        <p:grpSpPr>
          <a:xfrm>
            <a:off x="6337428" y="3699004"/>
            <a:ext cx="180002" cy="90001"/>
            <a:chOff x="3643306" y="4500570"/>
            <a:chExt cx="428628" cy="144464"/>
          </a:xfrm>
        </p:grpSpPr>
        <p:cxnSp>
          <p:nvCxnSpPr>
            <p:cNvPr id="130" name="直線コネクタ 129"/>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1" name="直線コネクタ 130"/>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2" name="直線コネクタ 131"/>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33" name="フリーフォーム 132"/>
          <p:cNvSpPr/>
          <p:nvPr/>
        </p:nvSpPr>
        <p:spPr bwMode="auto">
          <a:xfrm rot="5400000" flipH="1">
            <a:off x="5797422" y="3068996"/>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134" name="直線コネクタ 133"/>
          <p:cNvCxnSpPr/>
          <p:nvPr/>
        </p:nvCxnSpPr>
        <p:spPr>
          <a:xfrm>
            <a:off x="5887423" y="2708992"/>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a:off x="5347417"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7" name="正方形/長方形 136"/>
          <p:cNvSpPr/>
          <p:nvPr/>
        </p:nvSpPr>
        <p:spPr bwMode="auto">
          <a:xfrm>
            <a:off x="6157426" y="126897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138" name="直線コネクタ 137"/>
          <p:cNvCxnSpPr/>
          <p:nvPr/>
        </p:nvCxnSpPr>
        <p:spPr>
          <a:xfrm>
            <a:off x="7716018"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9" name="曲折矢印 138"/>
          <p:cNvSpPr/>
          <p:nvPr/>
        </p:nvSpPr>
        <p:spPr bwMode="auto">
          <a:xfrm rot="10800000" flipH="1">
            <a:off x="4295981" y="1898982"/>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140" name="グループ化 139"/>
          <p:cNvGrpSpPr/>
          <p:nvPr/>
        </p:nvGrpSpPr>
        <p:grpSpPr>
          <a:xfrm rot="10800000">
            <a:off x="8976033" y="2528991"/>
            <a:ext cx="90012" cy="360048"/>
            <a:chOff x="2051664" y="1988808"/>
            <a:chExt cx="90012" cy="360048"/>
          </a:xfrm>
        </p:grpSpPr>
        <p:cxnSp>
          <p:nvCxnSpPr>
            <p:cNvPr id="141" name="直線コネクタ 140"/>
            <p:cNvCxnSpPr/>
            <p:nvPr/>
          </p:nvCxnSpPr>
          <p:spPr>
            <a:xfrm flipH="1">
              <a:off x="2051664" y="1988808"/>
              <a:ext cx="0" cy="360048"/>
            </a:xfrm>
            <a:prstGeom prst="line">
              <a:avLst/>
            </a:prstGeom>
            <a:ln w="57150" cap="rnd">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flipH="1">
              <a:off x="2141676" y="1988808"/>
              <a:ext cx="0" cy="360048"/>
            </a:xfrm>
            <a:prstGeom prst="line">
              <a:avLst/>
            </a:prstGeom>
            <a:ln w="57150" cap="rnd">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143" name="グループ化 152"/>
          <p:cNvGrpSpPr/>
          <p:nvPr/>
        </p:nvGrpSpPr>
        <p:grpSpPr>
          <a:xfrm>
            <a:off x="9246036" y="3699005"/>
            <a:ext cx="180002" cy="90001"/>
            <a:chOff x="3643306" y="4500570"/>
            <a:chExt cx="428628" cy="144464"/>
          </a:xfrm>
        </p:grpSpPr>
        <p:cxnSp>
          <p:nvCxnSpPr>
            <p:cNvPr id="144" name="直線コネクタ 143"/>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45" name="直線コネクタ 144"/>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46" name="直線コネクタ 145"/>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47" name="フリーフォーム 146"/>
          <p:cNvSpPr/>
          <p:nvPr/>
        </p:nvSpPr>
        <p:spPr bwMode="auto">
          <a:xfrm rot="5400000" flipH="1">
            <a:off x="8706030" y="3068997"/>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148" name="直線コネクタ 147"/>
          <p:cNvCxnSpPr/>
          <p:nvPr/>
        </p:nvCxnSpPr>
        <p:spPr>
          <a:xfrm>
            <a:off x="8796031"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a:off x="8256025"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50" name="曲折矢印 149"/>
          <p:cNvSpPr/>
          <p:nvPr/>
        </p:nvSpPr>
        <p:spPr bwMode="auto">
          <a:xfrm rot="16200000" flipH="1">
            <a:off x="7581017" y="2393989"/>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02926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実際には</a:t>
            </a:r>
          </a:p>
        </p:txBody>
      </p:sp>
      <p:sp>
        <p:nvSpPr>
          <p:cNvPr id="3" name="テキスト プレースホルダー 2"/>
          <p:cNvSpPr>
            <a:spLocks noGrp="1"/>
          </p:cNvSpPr>
          <p:nvPr>
            <p:ph type="body" sz="quarter" idx="10"/>
          </p:nvPr>
        </p:nvSpPr>
        <p:spPr/>
        <p:txBody>
          <a:bodyPr/>
          <a:lstStyle/>
          <a:p>
            <a:r>
              <a:rPr kumimoji="1" lang="ja-JP" altLang="en-US" dirty="0"/>
              <a:t>寄生容量：</a:t>
            </a:r>
            <a:endParaRPr kumimoji="1" lang="en-US" altLang="ja-JP" dirty="0"/>
          </a:p>
          <a:p>
            <a:pPr lvl="1"/>
            <a:r>
              <a:rPr kumimoji="1" lang="ja-JP" altLang="en-US" dirty="0"/>
              <a:t>トランジスタのゲート部分以外にも，あらゆる場所にコンデンサができてしまう</a:t>
            </a:r>
            <a:endParaRPr kumimoji="1" lang="en-US" altLang="ja-JP" dirty="0"/>
          </a:p>
          <a:p>
            <a:pPr lvl="1"/>
            <a:r>
              <a:rPr kumimoji="1" lang="ja-JP" altLang="en-US" dirty="0"/>
              <a:t>なにか導体が不導体をはさんで並べばコンデンサになる</a:t>
            </a:r>
            <a:endParaRPr kumimoji="1" lang="en-US" altLang="ja-JP" dirty="0"/>
          </a:p>
          <a:p>
            <a:r>
              <a:rPr kumimoji="1" lang="ja-JP" altLang="en-US" dirty="0"/>
              <a:t>寄生容量への充放電にも時間がとられる</a:t>
            </a:r>
            <a:endParaRPr kumimoji="1" lang="en-US" altLang="ja-JP" dirty="0"/>
          </a:p>
          <a:p>
            <a:pPr lvl="1"/>
            <a:r>
              <a:rPr kumimoji="1" lang="ja-JP" altLang="en-US" dirty="0"/>
              <a:t>通常はトランジスタのゲートがメイン</a:t>
            </a:r>
            <a:endParaRPr kumimoji="1" lang="en-US" altLang="ja-JP" dirty="0"/>
          </a:p>
          <a:p>
            <a:pPr lvl="1"/>
            <a:r>
              <a:rPr lang="ja-JP" altLang="en-US" dirty="0"/>
              <a:t>長い配線では，配線間にできてしまうコンデンサの影響も大きい</a:t>
            </a:r>
            <a:endParaRPr kumimoji="1" lang="ja-JP" altLang="en-US" dirty="0"/>
          </a:p>
        </p:txBody>
      </p:sp>
    </p:spTree>
    <p:extLst>
      <p:ext uri="{BB962C8B-B14F-4D97-AF65-F5344CB8AC3E}">
        <p14:creationId xmlns:p14="http://schemas.microsoft.com/office/powerpoint/2010/main" val="12140249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遅延の違い</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1955954" y="2978996"/>
                <a:ext cx="8280092" cy="539699"/>
              </a:xfrm>
            </p:spPr>
            <p:txBody>
              <a:bodyPr/>
              <a:lstStyle/>
              <a:p>
                <a:r>
                  <a:rPr kumimoji="1" lang="ja-JP" altLang="en-US" dirty="0"/>
                  <a:t>左側の </a:t>
                </a:r>
                <a:r>
                  <a:rPr kumimoji="1" lang="en-US" altLang="ja-JP" dirty="0"/>
                  <a:t>D-FF </a:t>
                </a:r>
                <a:r>
                  <a:rPr kumimoji="1" lang="ja-JP" altLang="en-US" dirty="0"/>
                  <a:t>から何個もゲートを経て右の </a:t>
                </a:r>
                <a:r>
                  <a:rPr kumimoji="1" lang="en-US" altLang="ja-JP" dirty="0"/>
                  <a:t>D-FF </a:t>
                </a:r>
                <a:r>
                  <a:rPr kumimoji="1" lang="ja-JP" altLang="en-US" dirty="0"/>
                  <a:t>に接続（遅い）</a:t>
                </a:r>
                <a:endParaRPr kumimoji="1" lang="en-US" altLang="ja-JP" dirty="0"/>
              </a:p>
              <a:p>
                <a:pPr lvl="1"/>
                <a14:m>
                  <m:oMath xmlns:m="http://schemas.openxmlformats.org/officeDocument/2006/math">
                    <m:r>
                      <a:rPr lang="en-US" altLang="ja-JP" i="1" dirty="0">
                        <a:latin typeface="Cambria Math" panose="02040503050406030204" pitchFamily="18" charset="0"/>
                      </a:rPr>
                      <m:t>𝑞</m:t>
                    </m:r>
                    <m:r>
                      <a:rPr lang="en-US" altLang="ja-JP" i="1" dirty="0">
                        <a:latin typeface="Cambria Math" panose="02040503050406030204" pitchFamily="18" charset="0"/>
                      </a:rPr>
                      <m:t> </m:t>
                    </m:r>
                  </m:oMath>
                </a14:m>
                <a:r>
                  <a:rPr lang="ja-JP" altLang="en-US" dirty="0"/>
                  <a:t>が切り替わると，</a:t>
                </a:r>
                <a:endParaRPr lang="en-US" altLang="ja-JP" dirty="0"/>
              </a:p>
              <a:p>
                <a:pPr lvl="1"/>
                <a:r>
                  <a:rPr lang="ja-JP" altLang="en-US" dirty="0"/>
                  <a:t>各ゲートのスイッチ（充放電）が順々に行われて，</a:t>
                </a:r>
                <a:endParaRPr lang="en-US" altLang="ja-JP" dirty="0"/>
              </a:p>
              <a:p>
                <a:pPr lvl="1"/>
                <a:r>
                  <a:rPr kumimoji="1" lang="ja-JP" altLang="en-US" dirty="0"/>
                  <a:t>右側の </a:t>
                </a:r>
                <a14:m>
                  <m:oMath xmlns:m="http://schemas.openxmlformats.org/officeDocument/2006/math">
                    <m:r>
                      <a:rPr kumimoji="1" lang="en-US" altLang="ja-JP" i="1" dirty="0" smtClean="0">
                        <a:latin typeface="Cambria Math" panose="02040503050406030204" pitchFamily="18" charset="0"/>
                      </a:rPr>
                      <m:t>𝑑</m:t>
                    </m:r>
                  </m:oMath>
                </a14:m>
                <a:r>
                  <a:rPr kumimoji="1" lang="en-US" altLang="ja-JP" dirty="0"/>
                  <a:t> </a:t>
                </a:r>
                <a:r>
                  <a:rPr kumimoji="1" lang="ja-JP" altLang="en-US" dirty="0"/>
                  <a:t>に伝わる</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1955954" y="2978996"/>
                <a:ext cx="8280092" cy="539699"/>
              </a:xfrm>
              <a:blipFill>
                <a:blip r:embed="rId2"/>
                <a:stretch>
                  <a:fillRect l="-663" t="-113636" b="-128409"/>
                </a:stretch>
              </a:blipFill>
            </p:spPr>
            <p:txBody>
              <a:bodyPr/>
              <a:lstStyle/>
              <a:p>
                <a:r>
                  <a:rPr lang="ja-JP" altLang="en-US">
                    <a:noFill/>
                  </a:rPr>
                  <a:t> </a:t>
                </a:r>
              </a:p>
            </p:txBody>
          </p:sp>
        </mc:Fallback>
      </mc:AlternateContent>
      <p:grpSp>
        <p:nvGrpSpPr>
          <p:cNvPr id="4" name="グループ化 3"/>
          <p:cNvGrpSpPr/>
          <p:nvPr/>
        </p:nvGrpSpPr>
        <p:grpSpPr>
          <a:xfrm>
            <a:off x="3125968" y="1268976"/>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1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
        <p:nvSpPr>
          <p:cNvPr id="21" name="Line 9"/>
          <p:cNvSpPr>
            <a:spLocks noChangeShapeType="1"/>
          </p:cNvSpPr>
          <p:nvPr/>
        </p:nvSpPr>
        <p:spPr bwMode="auto">
          <a:xfrm>
            <a:off x="4025978" y="180898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2" name="Line 9"/>
          <p:cNvSpPr>
            <a:spLocks noChangeShapeType="1"/>
          </p:cNvSpPr>
          <p:nvPr/>
        </p:nvSpPr>
        <p:spPr bwMode="auto">
          <a:xfrm>
            <a:off x="4115979" y="468901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23" name="Picture 30" descr="NOT"/>
          <p:cNvPicPr>
            <a:picLocks noChangeAspect="1" noChangeArrowheads="1"/>
          </p:cNvPicPr>
          <p:nvPr/>
        </p:nvPicPr>
        <p:blipFill>
          <a:blip r:embed="rId3" cstate="print"/>
          <a:srcRect/>
          <a:stretch>
            <a:fillRect/>
          </a:stretch>
        </p:blipFill>
        <p:spPr bwMode="auto">
          <a:xfrm rot="10800000" flipH="1">
            <a:off x="4385981" y="4329011"/>
            <a:ext cx="717550" cy="720725"/>
          </a:xfrm>
          <a:prstGeom prst="rect">
            <a:avLst/>
          </a:prstGeom>
          <a:noFill/>
        </p:spPr>
      </p:pic>
      <p:grpSp>
        <p:nvGrpSpPr>
          <p:cNvPr id="32" name="グループ化 31"/>
          <p:cNvGrpSpPr/>
          <p:nvPr/>
        </p:nvGrpSpPr>
        <p:grpSpPr>
          <a:xfrm>
            <a:off x="3125968" y="4509012"/>
            <a:ext cx="990011" cy="720008"/>
            <a:chOff x="6369707" y="1718772"/>
            <a:chExt cx="1441450" cy="1085855"/>
          </a:xfrm>
        </p:grpSpPr>
        <p:sp>
          <p:nvSpPr>
            <p:cNvPr id="33"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34"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35"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36"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37"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38"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39"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grpSp>
        <p:nvGrpSpPr>
          <p:cNvPr id="40" name="グループ化 39"/>
          <p:cNvGrpSpPr/>
          <p:nvPr/>
        </p:nvGrpSpPr>
        <p:grpSpPr>
          <a:xfrm>
            <a:off x="7536017" y="1448978"/>
            <a:ext cx="990011" cy="720008"/>
            <a:chOff x="6369707" y="1718772"/>
            <a:chExt cx="1441450" cy="1085855"/>
          </a:xfrm>
        </p:grpSpPr>
        <p:sp>
          <p:nvSpPr>
            <p:cNvPr id="41"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42"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43"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44"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4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4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47"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grpSp>
        <p:nvGrpSpPr>
          <p:cNvPr id="56" name="グループ化 55"/>
          <p:cNvGrpSpPr/>
          <p:nvPr/>
        </p:nvGrpSpPr>
        <p:grpSpPr>
          <a:xfrm>
            <a:off x="7626018" y="4509012"/>
            <a:ext cx="990011" cy="720008"/>
            <a:chOff x="6369707" y="1718772"/>
            <a:chExt cx="1441450" cy="1085855"/>
          </a:xfrm>
        </p:grpSpPr>
        <p:sp>
          <p:nvSpPr>
            <p:cNvPr id="57"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58"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59"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60"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61"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62"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63"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
        <p:nvSpPr>
          <p:cNvPr id="65" name="Line 9"/>
          <p:cNvSpPr>
            <a:spLocks noChangeShapeType="1"/>
          </p:cNvSpPr>
          <p:nvPr/>
        </p:nvSpPr>
        <p:spPr bwMode="auto">
          <a:xfrm>
            <a:off x="5015989" y="4689014"/>
            <a:ext cx="2610029"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6" name="Line 9"/>
          <p:cNvSpPr>
            <a:spLocks noChangeShapeType="1"/>
          </p:cNvSpPr>
          <p:nvPr/>
        </p:nvSpPr>
        <p:spPr bwMode="auto">
          <a:xfrm>
            <a:off x="4115979"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7" name="Line 9"/>
          <p:cNvSpPr>
            <a:spLocks noChangeShapeType="1"/>
          </p:cNvSpPr>
          <p:nvPr/>
        </p:nvSpPr>
        <p:spPr bwMode="auto">
          <a:xfrm>
            <a:off x="5015989"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12" name="Picture 83" descr="NAND"/>
          <p:cNvPicPr>
            <a:picLocks noChangeAspect="1" noChangeArrowheads="1"/>
          </p:cNvPicPr>
          <p:nvPr/>
        </p:nvPicPr>
        <p:blipFill>
          <a:blip r:embed="rId4" cstate="print"/>
          <a:srcRect/>
          <a:stretch>
            <a:fillRect/>
          </a:stretch>
        </p:blipFill>
        <p:spPr bwMode="auto">
          <a:xfrm>
            <a:off x="4295980" y="1268977"/>
            <a:ext cx="1079500" cy="720725"/>
          </a:xfrm>
          <a:prstGeom prst="rect">
            <a:avLst/>
          </a:prstGeom>
          <a:noFill/>
        </p:spPr>
      </p:pic>
      <p:sp>
        <p:nvSpPr>
          <p:cNvPr id="68" name="Line 9"/>
          <p:cNvSpPr>
            <a:spLocks noChangeShapeType="1"/>
          </p:cNvSpPr>
          <p:nvPr/>
        </p:nvSpPr>
        <p:spPr bwMode="auto">
          <a:xfrm>
            <a:off x="5015989" y="198898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70" name="Line 9"/>
          <p:cNvSpPr>
            <a:spLocks noChangeShapeType="1"/>
          </p:cNvSpPr>
          <p:nvPr/>
        </p:nvSpPr>
        <p:spPr bwMode="auto">
          <a:xfrm>
            <a:off x="6096001" y="180898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71" name="Picture 7" descr="OR"/>
          <p:cNvPicPr>
            <a:picLocks noChangeAspect="1" noChangeArrowheads="1"/>
          </p:cNvPicPr>
          <p:nvPr/>
        </p:nvPicPr>
        <p:blipFill>
          <a:blip r:embed="rId5" cstate="print"/>
          <a:srcRect/>
          <a:stretch>
            <a:fillRect/>
          </a:stretch>
        </p:blipFill>
        <p:spPr bwMode="auto">
          <a:xfrm>
            <a:off x="5285991" y="1448978"/>
            <a:ext cx="1079500" cy="717550"/>
          </a:xfrm>
          <a:prstGeom prst="rect">
            <a:avLst/>
          </a:prstGeom>
          <a:noFill/>
        </p:spPr>
      </p:pic>
      <p:sp>
        <p:nvSpPr>
          <p:cNvPr id="73" name="Line 9"/>
          <p:cNvSpPr>
            <a:spLocks noChangeShapeType="1"/>
          </p:cNvSpPr>
          <p:nvPr/>
        </p:nvSpPr>
        <p:spPr bwMode="auto">
          <a:xfrm>
            <a:off x="7176013"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72" name="Picture 6" descr="AND"/>
          <p:cNvPicPr>
            <a:picLocks noChangeAspect="1" noChangeArrowheads="1"/>
          </p:cNvPicPr>
          <p:nvPr/>
        </p:nvPicPr>
        <p:blipFill>
          <a:blip r:embed="rId6" cstate="print"/>
          <a:srcRect/>
          <a:stretch>
            <a:fillRect/>
          </a:stretch>
        </p:blipFill>
        <p:spPr bwMode="auto">
          <a:xfrm>
            <a:off x="6456004" y="1268977"/>
            <a:ext cx="1079500" cy="720725"/>
          </a:xfrm>
          <a:prstGeom prst="rect">
            <a:avLst/>
          </a:prstGeom>
          <a:noFill/>
        </p:spPr>
      </p:pic>
      <p:sp>
        <p:nvSpPr>
          <p:cNvPr id="74" name="Line 9"/>
          <p:cNvSpPr>
            <a:spLocks noChangeShapeType="1"/>
          </p:cNvSpPr>
          <p:nvPr/>
        </p:nvSpPr>
        <p:spPr bwMode="auto">
          <a:xfrm>
            <a:off x="6096001"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xmlns:a14="http://schemas.microsoft.com/office/drawing/2010/main">
        <mc:Choice Requires="a14">
          <p:sp>
            <p:nvSpPr>
              <p:cNvPr id="75" name="テキスト プレースホルダー 2"/>
              <p:cNvSpPr txBox="1">
                <a:spLocks/>
              </p:cNvSpPr>
              <p:nvPr/>
            </p:nvSpPr>
            <p:spPr bwMode="auto">
              <a:xfrm>
                <a:off x="1955954" y="5769027"/>
                <a:ext cx="8280092" cy="539699"/>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 </a:t>
                </a:r>
                <a:r>
                  <a:rPr lang="en-US" altLang="ja-JP" kern="0" dirty="0"/>
                  <a:t>D-FF </a:t>
                </a:r>
                <a:r>
                  <a:rPr lang="ja-JP" altLang="en-US" kern="0" dirty="0"/>
                  <a:t>から１つのゲートだけを経て右の </a:t>
                </a:r>
                <a:r>
                  <a:rPr lang="en-US" altLang="ja-JP" kern="0" dirty="0"/>
                  <a:t>D-FF </a:t>
                </a:r>
                <a:r>
                  <a:rPr lang="ja-JP" altLang="en-US" kern="0" dirty="0"/>
                  <a:t>に接続</a:t>
                </a:r>
                <a:r>
                  <a:rPr lang="ja-JP" altLang="en-US" dirty="0"/>
                  <a:t>（速い）</a:t>
                </a:r>
                <a:endParaRPr lang="en-US" altLang="ja-JP" kern="0" dirty="0"/>
              </a:p>
              <a:p>
                <a:pPr lvl="1"/>
                <a14:m>
                  <m:oMath xmlns:m="http://schemas.openxmlformats.org/officeDocument/2006/math">
                    <m:r>
                      <a:rPr lang="en-US" altLang="ja-JP" i="1" kern="0" dirty="0">
                        <a:latin typeface="Cambria Math" panose="02040503050406030204" pitchFamily="18" charset="0"/>
                      </a:rPr>
                      <m:t>𝑞</m:t>
                    </m:r>
                    <m:r>
                      <a:rPr lang="en-US" altLang="ja-JP" i="1" kern="0" dirty="0">
                        <a:latin typeface="Cambria Math" panose="02040503050406030204" pitchFamily="18" charset="0"/>
                      </a:rPr>
                      <m:t> </m:t>
                    </m:r>
                  </m:oMath>
                </a14:m>
                <a:r>
                  <a:rPr lang="ja-JP" altLang="en-US" kern="0" dirty="0"/>
                  <a:t>が切り替わると，１回だけスイッチ（充放電）が行われて，</a:t>
                </a:r>
                <a:endParaRPr lang="en-US" altLang="ja-JP" kern="0" dirty="0"/>
              </a:p>
              <a:p>
                <a:pPr lvl="1"/>
                <a:r>
                  <a:rPr lang="ja-JP" altLang="en-US" kern="0" dirty="0"/>
                  <a:t>右側の </a:t>
                </a:r>
                <a14:m>
                  <m:oMath xmlns:m="http://schemas.openxmlformats.org/officeDocument/2006/math">
                    <m:r>
                      <a:rPr lang="en-US" altLang="ja-JP" i="1" kern="0" dirty="0">
                        <a:latin typeface="Cambria Math" panose="02040503050406030204" pitchFamily="18" charset="0"/>
                      </a:rPr>
                      <m:t>𝑑</m:t>
                    </m:r>
                  </m:oMath>
                </a14:m>
                <a:r>
                  <a:rPr lang="en-US" altLang="ja-JP" kern="0" dirty="0"/>
                  <a:t> </a:t>
                </a:r>
                <a:r>
                  <a:rPr lang="ja-JP" altLang="en-US" kern="0" dirty="0"/>
                  <a:t>に伝わる</a:t>
                </a:r>
              </a:p>
            </p:txBody>
          </p:sp>
        </mc:Choice>
        <mc:Fallback xmlns="">
          <p:sp>
            <p:nvSpPr>
              <p:cNvPr id="75" name="テキスト プレースホルダー 2"/>
              <p:cNvSpPr txBox="1">
                <a:spLocks noRot="1" noChangeAspect="1" noMove="1" noResize="1" noEditPoints="1" noAdjustHandles="1" noChangeArrowheads="1" noChangeShapeType="1" noTextEdit="1"/>
              </p:cNvSpPr>
              <p:nvPr/>
            </p:nvSpPr>
            <p:spPr bwMode="auto">
              <a:xfrm>
                <a:off x="1955954" y="5769027"/>
                <a:ext cx="8280092" cy="539699"/>
              </a:xfrm>
              <a:prstGeom prst="rect">
                <a:avLst/>
              </a:prstGeom>
              <a:blipFill>
                <a:blip r:embed="rId7"/>
                <a:stretch>
                  <a:fillRect l="-663" t="-74157" r="-295" b="-96629"/>
                </a:stretch>
              </a:blipFill>
              <a:ln w="9525">
                <a:noFill/>
                <a:miter lim="800000"/>
                <a:headEnd/>
                <a:tailEnd/>
              </a:ln>
              <a:effectLst/>
            </p:spPr>
            <p:txBody>
              <a:bodyPr/>
              <a:lstStyle/>
              <a:p>
                <a:r>
                  <a:rPr lang="ja-JP" altLang="en-US">
                    <a:noFill/>
                  </a:rPr>
                  <a:t> </a:t>
                </a:r>
              </a:p>
            </p:txBody>
          </p:sp>
        </mc:Fallback>
      </mc:AlternateContent>
    </p:spTree>
    <p:extLst>
      <p:ext uri="{BB962C8B-B14F-4D97-AF65-F5344CB8AC3E}">
        <p14:creationId xmlns:p14="http://schemas.microsoft.com/office/powerpoint/2010/main" val="41209076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DVFS (Dynamic Voltage Frequency Scaling)</a:t>
            </a:r>
            <a:endParaRPr kumimoji="1" lang="ja-JP" altLang="en-US" dirty="0"/>
          </a:p>
        </p:txBody>
      </p:sp>
      <p:sp>
        <p:nvSpPr>
          <p:cNvPr id="3" name="テキスト プレースホルダー 2"/>
          <p:cNvSpPr>
            <a:spLocks noGrp="1"/>
          </p:cNvSpPr>
          <p:nvPr>
            <p:ph type="body" sz="quarter" idx="10"/>
          </p:nvPr>
        </p:nvSpPr>
        <p:spPr>
          <a:xfrm>
            <a:off x="2135956" y="5499023"/>
            <a:ext cx="8280092" cy="809702"/>
          </a:xfrm>
        </p:spPr>
        <p:txBody>
          <a:bodyPr/>
          <a:lstStyle/>
          <a:p>
            <a:r>
              <a:rPr kumimoji="1" lang="en-US" altLang="ja-JP" dirty="0"/>
              <a:t>CPU </a:t>
            </a:r>
            <a:r>
              <a:rPr kumimoji="1" lang="ja-JP" altLang="en-US" dirty="0"/>
              <a:t>は通常，負荷に応じて動作周波数を変えている</a:t>
            </a:r>
            <a:endParaRPr kumimoji="1" lang="en-US" altLang="ja-JP" dirty="0"/>
          </a:p>
          <a:p>
            <a:pPr lvl="1"/>
            <a:r>
              <a:rPr kumimoji="1" lang="ja-JP" altLang="en-US" dirty="0"/>
              <a:t>消費電力削減のため</a:t>
            </a:r>
            <a:endParaRPr kumimoji="1" lang="en-US" altLang="ja-JP" dirty="0"/>
          </a:p>
          <a:p>
            <a:pPr lvl="1"/>
            <a:r>
              <a:rPr kumimoji="1" lang="ja-JP" altLang="en-US" dirty="0">
                <a:solidFill>
                  <a:schemeClr val="accent5"/>
                </a:solidFill>
              </a:rPr>
              <a:t>この時，電圧も同時に操作している</a:t>
            </a:r>
          </a:p>
        </p:txBody>
      </p:sp>
      <p:pic>
        <p:nvPicPr>
          <p:cNvPr id="4" name="図 3"/>
          <p:cNvPicPr>
            <a:picLocks noChangeAspect="1"/>
          </p:cNvPicPr>
          <p:nvPr/>
        </p:nvPicPr>
        <p:blipFill>
          <a:blip r:embed="rId2"/>
          <a:stretch>
            <a:fillRect/>
          </a:stretch>
        </p:blipFill>
        <p:spPr>
          <a:xfrm>
            <a:off x="2045955" y="1178976"/>
            <a:ext cx="3698802" cy="3870043"/>
          </a:xfrm>
          <a:prstGeom prst="rect">
            <a:avLst/>
          </a:prstGeom>
        </p:spPr>
      </p:pic>
      <p:pic>
        <p:nvPicPr>
          <p:cNvPr id="5" name="図 4"/>
          <p:cNvPicPr>
            <a:picLocks noChangeAspect="1"/>
          </p:cNvPicPr>
          <p:nvPr/>
        </p:nvPicPr>
        <p:blipFill>
          <a:blip r:embed="rId3"/>
          <a:stretch>
            <a:fillRect/>
          </a:stretch>
        </p:blipFill>
        <p:spPr>
          <a:xfrm>
            <a:off x="6276002" y="1178976"/>
            <a:ext cx="3780042" cy="3933287"/>
          </a:xfrm>
          <a:prstGeom prst="rect">
            <a:avLst/>
          </a:prstGeom>
        </p:spPr>
      </p:pic>
      <p:sp>
        <p:nvSpPr>
          <p:cNvPr id="6" name="円/楕円 5"/>
          <p:cNvSpPr/>
          <p:nvPr/>
        </p:nvSpPr>
        <p:spPr bwMode="auto">
          <a:xfrm>
            <a:off x="2495961" y="3519001"/>
            <a:ext cx="990011" cy="540006"/>
          </a:xfrm>
          <a:prstGeom prst="ellipse">
            <a:avLst/>
          </a:prstGeom>
          <a:noFill/>
          <a:ln w="31750">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円/楕円 6"/>
          <p:cNvSpPr/>
          <p:nvPr/>
        </p:nvSpPr>
        <p:spPr bwMode="auto">
          <a:xfrm>
            <a:off x="6816009" y="3519001"/>
            <a:ext cx="990011" cy="540006"/>
          </a:xfrm>
          <a:prstGeom prst="ellipse">
            <a:avLst/>
          </a:prstGeom>
          <a:noFill/>
          <a:ln w="31750">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160716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電圧と遅延</a:t>
            </a:r>
          </a:p>
        </p:txBody>
      </p:sp>
      <p:sp>
        <p:nvSpPr>
          <p:cNvPr id="3" name="テキスト プレースホルダー 2"/>
          <p:cNvSpPr>
            <a:spLocks noGrp="1"/>
          </p:cNvSpPr>
          <p:nvPr>
            <p:ph type="body" sz="quarter" idx="10"/>
          </p:nvPr>
        </p:nvSpPr>
        <p:spPr>
          <a:xfrm>
            <a:off x="2135956" y="4779016"/>
            <a:ext cx="8280092" cy="1079705"/>
          </a:xfrm>
        </p:spPr>
        <p:txBody>
          <a:bodyPr/>
          <a:lstStyle/>
          <a:p>
            <a:r>
              <a:rPr lang="en-US" altLang="ja-JP" dirty="0"/>
              <a:t>Gate </a:t>
            </a:r>
            <a:r>
              <a:rPr lang="ja-JP" altLang="en-US" dirty="0"/>
              <a:t>にかける電圧を上げると，より高速に動作する</a:t>
            </a:r>
            <a:endParaRPr lang="en-US" altLang="ja-JP" dirty="0"/>
          </a:p>
          <a:p>
            <a:pPr lvl="1"/>
            <a:r>
              <a:rPr kumimoji="1" lang="ja-JP" altLang="en-US" dirty="0"/>
              <a:t>よりたくさん電子が上に集まる</a:t>
            </a:r>
            <a:endParaRPr kumimoji="1" lang="en-US" altLang="ja-JP" dirty="0"/>
          </a:p>
          <a:p>
            <a:pPr lvl="1"/>
            <a:r>
              <a:rPr kumimoji="1" lang="ja-JP" altLang="en-US" dirty="0"/>
              <a:t>チャネルが厚くなり，電流が流れやすくなる</a:t>
            </a:r>
            <a:endParaRPr kumimoji="1" lang="en-US" altLang="ja-JP" dirty="0"/>
          </a:p>
          <a:p>
            <a:pPr lvl="1"/>
            <a:r>
              <a:rPr kumimoji="1" lang="ja-JP" altLang="en-US" dirty="0"/>
              <a:t>次段のコンデンサの充放電が速くなる</a:t>
            </a:r>
          </a:p>
        </p:txBody>
      </p:sp>
      <p:sp>
        <p:nvSpPr>
          <p:cNvPr id="4" name="Freeform 9"/>
          <p:cNvSpPr>
            <a:spLocks/>
          </p:cNvSpPr>
          <p:nvPr/>
        </p:nvSpPr>
        <p:spPr bwMode="auto">
          <a:xfrm>
            <a:off x="5736184" y="1268875"/>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 name="正方形/長方形 4"/>
          <p:cNvSpPr/>
          <p:nvPr/>
        </p:nvSpPr>
        <p:spPr bwMode="auto">
          <a:xfrm>
            <a:off x="4655984" y="1988984"/>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algn="ctr" fontAlgn="base">
              <a:spcBef>
                <a:spcPct val="0"/>
              </a:spcBef>
              <a:spcAft>
                <a:spcPct val="0"/>
              </a:spcAft>
            </a:pPr>
            <a:endParaRPr lang="ja-JP" altLang="en-US" dirty="0">
              <a:solidFill>
                <a:schemeClr val="tx1"/>
              </a:solidFill>
            </a:endParaRPr>
          </a:p>
        </p:txBody>
      </p:sp>
      <p:sp>
        <p:nvSpPr>
          <p:cNvPr id="6" name="Rectangle 8"/>
          <p:cNvSpPr>
            <a:spLocks noChangeArrowheads="1"/>
          </p:cNvSpPr>
          <p:nvPr/>
        </p:nvSpPr>
        <p:spPr bwMode="auto">
          <a:xfrm>
            <a:off x="4656015" y="2258691"/>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7" name="Freeform 6"/>
          <p:cNvSpPr>
            <a:spLocks/>
          </p:cNvSpPr>
          <p:nvPr/>
        </p:nvSpPr>
        <p:spPr bwMode="auto">
          <a:xfrm>
            <a:off x="4656015" y="2258692"/>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8" name="Freeform 7"/>
          <p:cNvSpPr>
            <a:spLocks/>
          </p:cNvSpPr>
          <p:nvPr/>
        </p:nvSpPr>
        <p:spPr bwMode="auto">
          <a:xfrm flipH="1">
            <a:off x="6816603" y="2258692"/>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9" name="Line 10"/>
          <p:cNvSpPr>
            <a:spLocks noChangeShapeType="1"/>
          </p:cNvSpPr>
          <p:nvPr/>
        </p:nvSpPr>
        <p:spPr bwMode="auto">
          <a:xfrm>
            <a:off x="4655985" y="1988984"/>
            <a:ext cx="2879725" cy="0"/>
          </a:xfrm>
          <a:prstGeom prst="line">
            <a:avLst/>
          </a:prstGeom>
          <a:noFill/>
          <a:ln w="19050">
            <a:solidFill>
              <a:schemeClr val="tx1"/>
            </a:solidFill>
            <a:round/>
            <a:headEnd/>
            <a:tailEnd/>
          </a:ln>
          <a:effectLst/>
        </p:spPr>
        <p:txBody>
          <a:bodyPr/>
          <a:lstStyle/>
          <a:p>
            <a:endParaRPr lang="ja-JP" altLang="en-US"/>
          </a:p>
        </p:txBody>
      </p:sp>
      <p:sp>
        <p:nvSpPr>
          <p:cNvPr id="10" name="Line 11"/>
          <p:cNvSpPr>
            <a:spLocks noChangeShapeType="1"/>
          </p:cNvSpPr>
          <p:nvPr/>
        </p:nvSpPr>
        <p:spPr bwMode="auto">
          <a:xfrm>
            <a:off x="4656015" y="3698553"/>
            <a:ext cx="2879725" cy="0"/>
          </a:xfrm>
          <a:prstGeom prst="line">
            <a:avLst/>
          </a:prstGeom>
          <a:noFill/>
          <a:ln w="19050">
            <a:solidFill>
              <a:schemeClr val="tx1"/>
            </a:solidFill>
            <a:round/>
            <a:headEnd/>
            <a:tailEnd/>
          </a:ln>
          <a:effectLst/>
        </p:spPr>
        <p:txBody>
          <a:bodyPr/>
          <a:lstStyle/>
          <a:p>
            <a:endParaRPr lang="ja-JP" altLang="en-US"/>
          </a:p>
        </p:txBody>
      </p:sp>
      <p:sp>
        <p:nvSpPr>
          <p:cNvPr id="11" name="Rectangle 12"/>
          <p:cNvSpPr>
            <a:spLocks noChangeArrowheads="1"/>
          </p:cNvSpPr>
          <p:nvPr/>
        </p:nvSpPr>
        <p:spPr bwMode="auto">
          <a:xfrm>
            <a:off x="4656015" y="2439667"/>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12" name="Rectangle 15"/>
          <p:cNvSpPr>
            <a:spLocks noChangeArrowheads="1"/>
          </p:cNvSpPr>
          <p:nvPr/>
        </p:nvSpPr>
        <p:spPr bwMode="auto">
          <a:xfrm>
            <a:off x="7176965" y="2439667"/>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13" name="Rectangle 16"/>
          <p:cNvSpPr>
            <a:spLocks noChangeArrowheads="1"/>
          </p:cNvSpPr>
          <p:nvPr/>
        </p:nvSpPr>
        <p:spPr bwMode="auto">
          <a:xfrm>
            <a:off x="5917159" y="1448262"/>
            <a:ext cx="360363" cy="358775"/>
          </a:xfrm>
          <a:prstGeom prst="rect">
            <a:avLst/>
          </a:prstGeom>
          <a:noFill/>
          <a:ln w="9525">
            <a:noFill/>
            <a:miter lim="800000"/>
            <a:headEnd/>
            <a:tailEnd/>
          </a:ln>
          <a:effectLst/>
        </p:spPr>
        <p:txBody>
          <a:bodyPr wrap="none" anchor="ctr"/>
          <a:lstStyle/>
          <a:p>
            <a:pPr algn="ctr"/>
            <a:r>
              <a:rPr lang="en-US" altLang="ja-JP"/>
              <a:t>G</a:t>
            </a:r>
          </a:p>
        </p:txBody>
      </p:sp>
      <p:cxnSp>
        <p:nvCxnSpPr>
          <p:cNvPr id="14" name="直線矢印コネクタ 13"/>
          <p:cNvCxnSpPr/>
          <p:nvPr/>
        </p:nvCxnSpPr>
        <p:spPr bwMode="auto">
          <a:xfrm>
            <a:off x="5736128"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15" name="直線矢印コネクタ 14"/>
          <p:cNvCxnSpPr/>
          <p:nvPr/>
        </p:nvCxnSpPr>
        <p:spPr bwMode="auto">
          <a:xfrm>
            <a:off x="6096176"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16" name="直線矢印コネクタ 15"/>
          <p:cNvCxnSpPr/>
          <p:nvPr/>
        </p:nvCxnSpPr>
        <p:spPr bwMode="auto">
          <a:xfrm>
            <a:off x="6456224"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17" name="グループ化 16"/>
          <p:cNvGrpSpPr/>
          <p:nvPr/>
        </p:nvGrpSpPr>
        <p:grpSpPr>
          <a:xfrm>
            <a:off x="5646615" y="2888929"/>
            <a:ext cx="900113" cy="180975"/>
            <a:chOff x="1962150" y="5499100"/>
            <a:chExt cx="900113" cy="180975"/>
          </a:xfrm>
        </p:grpSpPr>
        <p:grpSp>
          <p:nvGrpSpPr>
            <p:cNvPr id="18" name="Group 19"/>
            <p:cNvGrpSpPr>
              <a:grpSpLocks/>
            </p:cNvGrpSpPr>
            <p:nvPr/>
          </p:nvGrpSpPr>
          <p:grpSpPr bwMode="auto">
            <a:xfrm>
              <a:off x="1962150" y="5499100"/>
              <a:ext cx="180975" cy="180975"/>
              <a:chOff x="2823" y="3464"/>
              <a:chExt cx="114" cy="114"/>
            </a:xfrm>
          </p:grpSpPr>
          <p:sp>
            <p:nvSpPr>
              <p:cNvPr id="25"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6"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19" name="Group 20"/>
            <p:cNvGrpSpPr>
              <a:grpSpLocks/>
            </p:cNvGrpSpPr>
            <p:nvPr/>
          </p:nvGrpSpPr>
          <p:grpSpPr bwMode="auto">
            <a:xfrm>
              <a:off x="2322513" y="5499100"/>
              <a:ext cx="180975" cy="180975"/>
              <a:chOff x="2823" y="3464"/>
              <a:chExt cx="114" cy="114"/>
            </a:xfrm>
          </p:grpSpPr>
          <p:sp>
            <p:nvSpPr>
              <p:cNvPr id="2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0" name="Group 23"/>
            <p:cNvGrpSpPr>
              <a:grpSpLocks/>
            </p:cNvGrpSpPr>
            <p:nvPr/>
          </p:nvGrpSpPr>
          <p:grpSpPr bwMode="auto">
            <a:xfrm>
              <a:off x="2681288" y="5499100"/>
              <a:ext cx="180975" cy="180975"/>
              <a:chOff x="2823" y="3464"/>
              <a:chExt cx="114" cy="114"/>
            </a:xfrm>
          </p:grpSpPr>
          <p:sp>
            <p:nvSpPr>
              <p:cNvPr id="21"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2"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spTree>
    <p:extLst>
      <p:ext uri="{BB962C8B-B14F-4D97-AF65-F5344CB8AC3E}">
        <p14:creationId xmlns:p14="http://schemas.microsoft.com/office/powerpoint/2010/main" val="25756190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0 -7.40741E-7 L 0 -0.05255 " pathEditMode="relative" rAng="0" ptsTypes="AA">
                                      <p:cBhvr>
                                        <p:cTn id="6" dur="2000" fill="hold"/>
                                        <p:tgtEl>
                                          <p:spTgt spid="17"/>
                                        </p:tgtEl>
                                        <p:attrNameLst>
                                          <p:attrName>ppt_x</p:attrName>
                                          <p:attrName>ppt_y</p:attrName>
                                        </p:attrNameLst>
                                      </p:cBhvr>
                                      <p:rCtr x="0" y="-26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消費エネルギー</a:t>
            </a:r>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2135956" y="4419011"/>
                <a:ext cx="8280092" cy="1889714"/>
              </a:xfrm>
            </p:spPr>
            <p:txBody>
              <a:bodyPr/>
              <a:lstStyle/>
              <a:p>
                <a:r>
                  <a:rPr kumimoji="1" lang="ja-JP" altLang="en-US" dirty="0"/>
                  <a:t>消費エネルギーは，主にコンデンサへの充放電で消費される</a:t>
                </a:r>
                <a:endParaRPr kumimoji="1" lang="en-US" altLang="ja-JP" dirty="0"/>
              </a:p>
              <a:p>
                <a:pPr lvl="1"/>
                <a:r>
                  <a:rPr lang="ja-JP" altLang="en-US" dirty="0"/>
                  <a:t>消費エネルギーは</a:t>
                </a:r>
                <a:r>
                  <a:rPr lang="ja-JP" altLang="en-US" i="0" dirty="0">
                    <a:latin typeface="+mj-lt"/>
                  </a:rPr>
                  <a:t>電圧の二乗に比例</a:t>
                </a:r>
                <a14:m>
                  <m:oMath xmlns:m="http://schemas.openxmlformats.org/officeDocument/2006/math">
                    <m:r>
                      <a:rPr lang="ja-JP" altLang="en-US" i="1" dirty="0" smtClean="0">
                        <a:latin typeface="Cambria Math" panose="02040503050406030204" pitchFamily="18" charset="0"/>
                      </a:rPr>
                      <m:t>：</m:t>
                    </m:r>
                    <m:r>
                      <a:rPr lang="en-US" altLang="ja-JP" i="1" dirty="0" smtClean="0">
                        <a:solidFill>
                          <a:schemeClr val="accent5"/>
                        </a:solidFill>
                        <a:latin typeface="Cambria Math" panose="02040503050406030204" pitchFamily="18" charset="0"/>
                      </a:rPr>
                      <m:t>𝐸</m:t>
                    </m:r>
                    <m:r>
                      <a:rPr lang="en-US" altLang="ja-JP" i="1" dirty="0" smtClean="0">
                        <a:solidFill>
                          <a:schemeClr val="accent5"/>
                        </a:solidFill>
                        <a:latin typeface="Cambria Math" panose="02040503050406030204" pitchFamily="18" charset="0"/>
                      </a:rPr>
                      <m:t>= </m:t>
                    </m:r>
                    <m:r>
                      <a:rPr lang="en-US" altLang="ja-JP" i="1" dirty="0" smtClean="0">
                        <a:solidFill>
                          <a:schemeClr val="accent5"/>
                        </a:solidFill>
                        <a:latin typeface="Cambria Math" panose="02040503050406030204" pitchFamily="18" charset="0"/>
                      </a:rPr>
                      <m:t>𝐶</m:t>
                    </m:r>
                    <m:sSup>
                      <m:sSupPr>
                        <m:ctrlPr>
                          <a:rPr lang="en-US" altLang="ja-JP" i="1" dirty="0" smtClean="0">
                            <a:solidFill>
                              <a:schemeClr val="accent5"/>
                            </a:solidFill>
                            <a:latin typeface="Cambria Math" panose="02040503050406030204" pitchFamily="18" charset="0"/>
                          </a:rPr>
                        </m:ctrlPr>
                      </m:sSupPr>
                      <m:e>
                        <m:r>
                          <a:rPr lang="en-US" altLang="ja-JP" b="0" i="1" dirty="0" smtClean="0">
                            <a:solidFill>
                              <a:schemeClr val="accent5"/>
                            </a:solidFill>
                            <a:latin typeface="Cambria Math" panose="02040503050406030204" pitchFamily="18" charset="0"/>
                          </a:rPr>
                          <m:t>𝑉</m:t>
                        </m:r>
                      </m:e>
                      <m:sup>
                        <m:r>
                          <a:rPr lang="en-US" altLang="ja-JP" b="0" i="1" dirty="0" smtClean="0">
                            <a:solidFill>
                              <a:schemeClr val="accent5"/>
                            </a:solidFill>
                            <a:latin typeface="Cambria Math" panose="02040503050406030204" pitchFamily="18" charset="0"/>
                          </a:rPr>
                          <m:t>2</m:t>
                        </m:r>
                      </m:sup>
                    </m:sSup>
                  </m:oMath>
                </a14:m>
                <a:endParaRPr kumimoji="1" lang="en-US" altLang="ja-JP" dirty="0"/>
              </a:p>
              <a:p>
                <a:pPr lvl="1"/>
                <a:r>
                  <a:rPr kumimoji="1" lang="ja-JP" altLang="en-US" dirty="0"/>
                  <a:t>電荷 </a:t>
                </a:r>
                <a14:m>
                  <m:oMath xmlns:m="http://schemas.openxmlformats.org/officeDocument/2006/math">
                    <m:r>
                      <a:rPr kumimoji="1" lang="en-US" altLang="ja-JP" i="1" dirty="0" smtClean="0">
                        <a:latin typeface="Cambria Math" panose="02040503050406030204" pitchFamily="18" charset="0"/>
                      </a:rPr>
                      <m:t>𝑄</m:t>
                    </m:r>
                    <m:r>
                      <a:rPr kumimoji="1" lang="en-US" altLang="ja-JP" b="0" i="1" dirty="0" smtClean="0">
                        <a:latin typeface="Cambria Math" panose="02040503050406030204" pitchFamily="18" charset="0"/>
                      </a:rPr>
                      <m:t>=</m:t>
                    </m:r>
                    <m:r>
                      <a:rPr kumimoji="1" lang="en-US" altLang="ja-JP" b="0" i="1" dirty="0" smtClean="0">
                        <a:latin typeface="Cambria Math" panose="02040503050406030204" pitchFamily="18" charset="0"/>
                      </a:rPr>
                      <m:t>𝐶𝑉</m:t>
                    </m:r>
                  </m:oMath>
                </a14:m>
                <a:r>
                  <a:rPr kumimoji="1" lang="en-US" altLang="ja-JP" dirty="0"/>
                  <a:t> </a:t>
                </a:r>
                <a:r>
                  <a:rPr kumimoji="1" lang="ja-JP" altLang="en-US" dirty="0"/>
                  <a:t>が，電圧 </a:t>
                </a:r>
                <a14:m>
                  <m:oMath xmlns:m="http://schemas.openxmlformats.org/officeDocument/2006/math">
                    <m:r>
                      <a:rPr kumimoji="1" lang="en-US" altLang="ja-JP" i="1" dirty="0" smtClean="0">
                        <a:latin typeface="Cambria Math" panose="02040503050406030204" pitchFamily="18" charset="0"/>
                      </a:rPr>
                      <m:t>𝑉</m:t>
                    </m:r>
                  </m:oMath>
                </a14:m>
                <a:r>
                  <a:rPr kumimoji="1" lang="en-US" altLang="ja-JP" dirty="0"/>
                  <a:t> </a:t>
                </a:r>
                <a:r>
                  <a:rPr kumimoji="1" lang="ja-JP" altLang="en-US" dirty="0"/>
                  <a:t>の分だけ電源から </a:t>
                </a:r>
                <a:r>
                  <a:rPr kumimoji="1" lang="en-US" altLang="ja-JP" dirty="0"/>
                  <a:t>GND </a:t>
                </a:r>
                <a:r>
                  <a:rPr kumimoji="1" lang="ja-JP" altLang="en-US" dirty="0"/>
                  <a:t>へ移動するから</a:t>
                </a:r>
                <a:endParaRPr kumimoji="1" lang="en-US" altLang="ja-JP" dirty="0"/>
              </a:p>
              <a:p>
                <a:pPr lvl="2"/>
                <a:r>
                  <a:rPr lang="ja-JP" altLang="en-US" dirty="0"/>
                  <a:t>忘れた人は高校の物理の教科書を読もう</a:t>
                </a:r>
                <a:endParaRPr lang="en-US" altLang="ja-JP" dirty="0"/>
              </a:p>
              <a:p>
                <a:r>
                  <a:rPr kumimoji="1" lang="ja-JP" altLang="en-US" dirty="0"/>
                  <a:t>他にリーク電流と呼ばれるものによる消費もある</a:t>
                </a:r>
                <a:endParaRPr kumimoji="1" lang="en-US" altLang="ja-JP" dirty="0"/>
              </a:p>
              <a:p>
                <a:pPr lvl="1"/>
                <a:r>
                  <a:rPr kumimoji="1" lang="ja-JP" altLang="en-US" dirty="0"/>
                  <a:t>スイッチが一部ガバガバなので，常時多少漏れてる</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135956" y="4419011"/>
                <a:ext cx="8280092" cy="1889714"/>
              </a:xfrm>
              <a:blipFill>
                <a:blip r:embed="rId2"/>
                <a:stretch>
                  <a:fillRect l="-662" t="-24839" b="-30000"/>
                </a:stretch>
              </a:blipFill>
            </p:spPr>
            <p:txBody>
              <a:bodyPr/>
              <a:lstStyle/>
              <a:p>
                <a:r>
                  <a:rPr lang="ja-JP" altLang="en-US">
                    <a:noFill/>
                  </a:rPr>
                  <a:t> </a:t>
                </a:r>
              </a:p>
            </p:txBody>
          </p:sp>
        </mc:Fallback>
      </mc:AlternateContent>
      <p:grpSp>
        <p:nvGrpSpPr>
          <p:cNvPr id="81" name="グループ化 80"/>
          <p:cNvGrpSpPr/>
          <p:nvPr/>
        </p:nvGrpSpPr>
        <p:grpSpPr>
          <a:xfrm rot="5400000">
            <a:off x="6552907" y="2535893"/>
            <a:ext cx="67531" cy="337533"/>
            <a:chOff x="3401870" y="728700"/>
            <a:chExt cx="180020" cy="405045"/>
          </a:xfrm>
        </p:grpSpPr>
        <p:cxnSp>
          <p:nvCxnSpPr>
            <p:cNvPr id="82" name="直線コネクタ 81"/>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3" name="直線コネクタ 82"/>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4" name="直線コネクタ 83"/>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91" name="グループ化 90"/>
          <p:cNvGrpSpPr/>
          <p:nvPr/>
        </p:nvGrpSpPr>
        <p:grpSpPr>
          <a:xfrm>
            <a:off x="5854573" y="2978996"/>
            <a:ext cx="270012" cy="450012"/>
            <a:chOff x="5787000" y="1944000"/>
            <a:chExt cx="270012" cy="450012"/>
          </a:xfrm>
        </p:grpSpPr>
        <p:cxnSp>
          <p:nvCxnSpPr>
            <p:cNvPr id="92" name="直線コネクタ 91"/>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3" name="円/楕円 92"/>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94" name="円/楕円 93"/>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95" name="グループ化 94"/>
          <p:cNvGrpSpPr/>
          <p:nvPr/>
        </p:nvGrpSpPr>
        <p:grpSpPr>
          <a:xfrm>
            <a:off x="6034575" y="1988985"/>
            <a:ext cx="90012" cy="450012"/>
            <a:chOff x="5967000" y="1944000"/>
            <a:chExt cx="90012" cy="450012"/>
          </a:xfrm>
        </p:grpSpPr>
        <p:cxnSp>
          <p:nvCxnSpPr>
            <p:cNvPr id="96" name="直線コネクタ 95"/>
            <p:cNvCxnSpPr>
              <a:stCxn id="98"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97" name="円/楕円 96"/>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98" name="円/楕円 97"/>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99" name="グループ化 152"/>
          <p:cNvGrpSpPr/>
          <p:nvPr/>
        </p:nvGrpSpPr>
        <p:grpSpPr>
          <a:xfrm>
            <a:off x="5961719" y="3699004"/>
            <a:ext cx="180002" cy="90001"/>
            <a:chOff x="3643306" y="4500570"/>
            <a:chExt cx="428628" cy="144464"/>
          </a:xfrm>
        </p:grpSpPr>
        <p:cxnSp>
          <p:nvCxnSpPr>
            <p:cNvPr id="100" name="直線コネクタ 99"/>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1" name="直線コネクタ 100"/>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02" name="直線コネクタ 101"/>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03" name="直線コネクタ 102"/>
          <p:cNvCxnSpPr/>
          <p:nvPr/>
        </p:nvCxnSpPr>
        <p:spPr>
          <a:xfrm flipV="1">
            <a:off x="6051721" y="3429002"/>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04" name="グループ化 103"/>
          <p:cNvGrpSpPr/>
          <p:nvPr/>
        </p:nvGrpSpPr>
        <p:grpSpPr>
          <a:xfrm>
            <a:off x="5961719" y="1628982"/>
            <a:ext cx="180020" cy="360033"/>
            <a:chOff x="4481992" y="1268760"/>
            <a:chExt cx="180020" cy="360033"/>
          </a:xfrm>
        </p:grpSpPr>
        <p:cxnSp>
          <p:nvCxnSpPr>
            <p:cNvPr id="105" name="直線コネクタ 104"/>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07" name="直線コネクタ 106"/>
          <p:cNvCxnSpPr/>
          <p:nvPr/>
        </p:nvCxnSpPr>
        <p:spPr>
          <a:xfrm flipV="1">
            <a:off x="6051721" y="2438990"/>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p:cNvCxnSpPr/>
          <p:nvPr/>
        </p:nvCxnSpPr>
        <p:spPr>
          <a:xfrm flipH="1">
            <a:off x="6051720" y="2708993"/>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109" name="グループ化 108"/>
          <p:cNvGrpSpPr/>
          <p:nvPr/>
        </p:nvGrpSpPr>
        <p:grpSpPr>
          <a:xfrm rot="10800000">
            <a:off x="5105990" y="2528991"/>
            <a:ext cx="90012" cy="360048"/>
            <a:chOff x="2051664" y="1988808"/>
            <a:chExt cx="90012" cy="360048"/>
          </a:xfrm>
        </p:grpSpPr>
        <p:cxnSp>
          <p:nvCxnSpPr>
            <p:cNvPr id="110" name="直線コネクタ 109"/>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112" name="グループ化 152"/>
          <p:cNvGrpSpPr/>
          <p:nvPr/>
        </p:nvGrpSpPr>
        <p:grpSpPr>
          <a:xfrm>
            <a:off x="5375993" y="3699005"/>
            <a:ext cx="180002" cy="90001"/>
            <a:chOff x="3643306" y="4500570"/>
            <a:chExt cx="428628" cy="144464"/>
          </a:xfrm>
        </p:grpSpPr>
        <p:cxnSp>
          <p:nvCxnSpPr>
            <p:cNvPr id="113" name="直線コネクタ 11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4" name="直線コネクタ 11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5" name="直線コネクタ 11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16" name="フリーフォーム 115"/>
          <p:cNvSpPr/>
          <p:nvPr/>
        </p:nvSpPr>
        <p:spPr bwMode="auto">
          <a:xfrm rot="5400000" flipH="1">
            <a:off x="4835987" y="3068997"/>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117" name="直線コネクタ 116"/>
          <p:cNvCxnSpPr/>
          <p:nvPr/>
        </p:nvCxnSpPr>
        <p:spPr>
          <a:xfrm>
            <a:off x="4925988"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4385982"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9" name="正方形/長方形 118"/>
          <p:cNvSpPr/>
          <p:nvPr/>
        </p:nvSpPr>
        <p:spPr bwMode="auto">
          <a:xfrm>
            <a:off x="5195991" y="126897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120" name="直線コネクタ 119"/>
          <p:cNvCxnSpPr/>
          <p:nvPr/>
        </p:nvCxnSpPr>
        <p:spPr>
          <a:xfrm>
            <a:off x="6754583"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149" name="グループ化 148"/>
          <p:cNvGrpSpPr/>
          <p:nvPr/>
        </p:nvGrpSpPr>
        <p:grpSpPr>
          <a:xfrm rot="10800000">
            <a:off x="7986022" y="2528991"/>
            <a:ext cx="90012" cy="360048"/>
            <a:chOff x="2051664" y="1988808"/>
            <a:chExt cx="90012" cy="360048"/>
          </a:xfrm>
        </p:grpSpPr>
        <p:cxnSp>
          <p:nvCxnSpPr>
            <p:cNvPr id="150" name="直線コネクタ 149"/>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51" name="直線コネクタ 150"/>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152" name="グループ化 152"/>
          <p:cNvGrpSpPr/>
          <p:nvPr/>
        </p:nvGrpSpPr>
        <p:grpSpPr>
          <a:xfrm>
            <a:off x="8256025" y="3699005"/>
            <a:ext cx="180002" cy="90001"/>
            <a:chOff x="3643306" y="4500570"/>
            <a:chExt cx="428628" cy="144464"/>
          </a:xfrm>
        </p:grpSpPr>
        <p:cxnSp>
          <p:nvCxnSpPr>
            <p:cNvPr id="153" name="直線コネクタ 15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54" name="直線コネクタ 15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55" name="直線コネクタ 15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56" name="フリーフォーム 155"/>
          <p:cNvSpPr/>
          <p:nvPr/>
        </p:nvSpPr>
        <p:spPr bwMode="auto">
          <a:xfrm rot="5400000" flipH="1">
            <a:off x="7716019" y="3068997"/>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157" name="直線コネクタ 156"/>
          <p:cNvCxnSpPr/>
          <p:nvPr/>
        </p:nvCxnSpPr>
        <p:spPr>
          <a:xfrm>
            <a:off x="7806020"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7266014"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61" name="曲折矢印 160"/>
          <p:cNvSpPr/>
          <p:nvPr/>
        </p:nvSpPr>
        <p:spPr bwMode="auto">
          <a:xfrm rot="10800000" flipH="1">
            <a:off x="6214578" y="1898983"/>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172" name="曲折矢印 171"/>
          <p:cNvSpPr/>
          <p:nvPr/>
        </p:nvSpPr>
        <p:spPr bwMode="auto">
          <a:xfrm rot="16200000" flipH="1">
            <a:off x="6529582" y="2483991"/>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5684462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DVFS: Dynamic Voltage Frequency Scaling</a:t>
            </a:r>
            <a:endParaRPr kumimoji="1" lang="ja-JP" altLang="en-US" dirty="0"/>
          </a:p>
        </p:txBody>
      </p:sp>
      <mc:AlternateContent xmlns:mc="http://schemas.openxmlformats.org/markup-compatibility/2006" xmlns:a14="http://schemas.microsoft.com/office/drawing/2010/main">
        <mc:Choice Requires="a14">
          <p:sp>
            <p:nvSpPr>
              <p:cNvPr id="3" name="テキスト プレースホルダー 2"/>
              <p:cNvSpPr>
                <a:spLocks noGrp="1"/>
              </p:cNvSpPr>
              <p:nvPr>
                <p:ph type="body" sz="quarter" idx="10"/>
              </p:nvPr>
            </p:nvSpPr>
            <p:spPr>
              <a:xfrm>
                <a:off x="2135956" y="1358978"/>
                <a:ext cx="8280092" cy="4949748"/>
              </a:xfrm>
            </p:spPr>
            <p:txBody>
              <a:bodyPr/>
              <a:lstStyle/>
              <a:p>
                <a:endParaRPr lang="en-US" altLang="ja-JP" dirty="0"/>
              </a:p>
              <a:p>
                <a:r>
                  <a:rPr lang="ja-JP" altLang="en-US" dirty="0"/>
                  <a:t>電圧と周波数の組を用意しておき，これを切り替える</a:t>
                </a:r>
                <a:endParaRPr lang="en-US" altLang="ja-JP" dirty="0"/>
              </a:p>
              <a:p>
                <a:pPr lvl="1"/>
                <a:r>
                  <a:rPr lang="ja-JP" altLang="en-US" dirty="0"/>
                  <a:t>高速：高周波数（低遅延）で動かすために，電圧を上げる</a:t>
                </a:r>
                <a:endParaRPr lang="en-US" altLang="ja-JP" dirty="0"/>
              </a:p>
              <a:p>
                <a:pPr lvl="1"/>
                <a:r>
                  <a:rPr lang="ja-JP" altLang="en-US" dirty="0"/>
                  <a:t>低速：低周波数（高遅延）でよいので，電圧を下げる</a:t>
                </a:r>
                <a:endParaRPr lang="en-US" altLang="ja-JP" dirty="0"/>
              </a:p>
              <a:p>
                <a:r>
                  <a:rPr lang="ja-JP" altLang="en-US" dirty="0"/>
                  <a:t>電圧を下げると，すごく消費電力が減る</a:t>
                </a:r>
                <a:endParaRPr lang="en-US" altLang="ja-JP" dirty="0"/>
              </a:p>
              <a:p>
                <a:pPr lvl="1"/>
                <a:r>
                  <a:rPr lang="ja-JP" altLang="en-US" dirty="0"/>
                  <a:t>消費エネルギーは</a:t>
                </a:r>
                <a:r>
                  <a:rPr lang="ja-JP" altLang="en-US" dirty="0">
                    <a:solidFill>
                      <a:schemeClr val="accent5"/>
                    </a:solidFill>
                  </a:rPr>
                  <a:t>電圧の２乗に比例</a:t>
                </a:r>
                <a14:m>
                  <m:oMath xmlns:m="http://schemas.openxmlformats.org/officeDocument/2006/math">
                    <m:r>
                      <a:rPr lang="ja-JP" altLang="en-US" i="1" dirty="0">
                        <a:latin typeface="Cambria Math" panose="02040503050406030204" pitchFamily="18" charset="0"/>
                      </a:rPr>
                      <m:t>：</m:t>
                    </m:r>
                    <m:r>
                      <a:rPr lang="en-US" altLang="ja-JP" i="1" dirty="0">
                        <a:latin typeface="Cambria Math" panose="02040503050406030204" pitchFamily="18" charset="0"/>
                      </a:rPr>
                      <m:t>𝐸</m:t>
                    </m:r>
                    <m:r>
                      <a:rPr lang="en-US" altLang="ja-JP" i="1" dirty="0">
                        <a:latin typeface="Cambria Math" panose="02040503050406030204" pitchFamily="18" charset="0"/>
                      </a:rPr>
                      <m:t>= </m:t>
                    </m:r>
                    <m:r>
                      <a:rPr lang="en-US" altLang="ja-JP" i="1" dirty="0">
                        <a:latin typeface="Cambria Math" panose="02040503050406030204" pitchFamily="18" charset="0"/>
                      </a:rPr>
                      <m:t>𝐶</m:t>
                    </m:r>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𝑉</m:t>
                        </m:r>
                      </m:e>
                      <m:sup>
                        <m:r>
                          <a:rPr lang="en-US" altLang="ja-JP" i="1" dirty="0">
                            <a:latin typeface="Cambria Math" panose="02040503050406030204" pitchFamily="18" charset="0"/>
                          </a:rPr>
                          <m:t>2</m:t>
                        </m:r>
                      </m:sup>
                    </m:sSup>
                  </m:oMath>
                </a14:m>
                <a:endParaRPr kumimoji="1" lang="en-US" altLang="ja-JP" dirty="0"/>
              </a:p>
              <a:p>
                <a:r>
                  <a:rPr kumimoji="1" lang="ja-JP" altLang="en-US" dirty="0"/>
                  <a:t>低周波数にすると</a:t>
                </a:r>
                <a:r>
                  <a:rPr kumimoji="1" lang="ja-JP" altLang="en-US" dirty="0">
                    <a:solidFill>
                      <a:schemeClr val="accent5"/>
                    </a:solidFill>
                  </a:rPr>
                  <a:t>充放電の回数自体（</a:t>
                </a:r>
                <a:r>
                  <a:rPr kumimoji="1" lang="en-US" altLang="ja-JP" dirty="0">
                    <a:solidFill>
                      <a:schemeClr val="accent5"/>
                    </a:solidFill>
                  </a:rPr>
                  <a:t>=</a:t>
                </a:r>
                <a:r>
                  <a:rPr kumimoji="1" lang="ja-JP" altLang="en-US" dirty="0">
                    <a:solidFill>
                      <a:schemeClr val="accent5"/>
                    </a:solidFill>
                  </a:rPr>
                  <a:t>周波数）</a:t>
                </a:r>
                <a:r>
                  <a:rPr kumimoji="1" lang="ja-JP" altLang="en-US" dirty="0"/>
                  <a:t>も減る</a:t>
                </a:r>
                <a:endParaRPr kumimoji="1" lang="en-US" altLang="ja-JP" dirty="0"/>
              </a:p>
              <a:p>
                <a:pPr lvl="1"/>
                <a:r>
                  <a:rPr kumimoji="1" lang="ja-JP" altLang="en-US" dirty="0"/>
                  <a:t>結果として，</a:t>
                </a:r>
                <a:r>
                  <a:rPr kumimoji="1" lang="en-US" altLang="ja-JP" dirty="0"/>
                  <a:t>3</a:t>
                </a:r>
                <a:r>
                  <a:rPr kumimoji="1" lang="ja-JP" altLang="en-US" dirty="0"/>
                  <a:t>乗のオーダーで電力が削減できる</a:t>
                </a:r>
              </a:p>
            </p:txBody>
          </p:sp>
        </mc:Choice>
        <mc:Fallback xmlns="">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135956" y="1358978"/>
                <a:ext cx="8280092" cy="4949748"/>
              </a:xfrm>
              <a:blipFill>
                <a:blip r:embed="rId2"/>
                <a:stretch>
                  <a:fillRect l="-66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030279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96B0C8B-C928-0187-6AD1-90218DE955D9}"/>
              </a:ext>
            </a:extLst>
          </p:cNvPr>
          <p:cNvSpPr>
            <a:spLocks noGrp="1"/>
          </p:cNvSpPr>
          <p:nvPr>
            <p:ph type="title"/>
          </p:nvPr>
        </p:nvSpPr>
        <p:spPr/>
        <p:txBody>
          <a:bodyPr/>
          <a:lstStyle/>
          <a:p>
            <a:r>
              <a:rPr lang="ja-JP" altLang="en-US" dirty="0"/>
              <a:t>水流システム</a:t>
            </a:r>
          </a:p>
        </p:txBody>
      </p:sp>
    </p:spTree>
    <p:extLst>
      <p:ext uri="{BB962C8B-B14F-4D97-AF65-F5344CB8AC3E}">
        <p14:creationId xmlns:p14="http://schemas.microsoft.com/office/powerpoint/2010/main" val="6260035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AB1F67-BE7D-CC4F-AEAE-473F52A9739A}"/>
              </a:ext>
            </a:extLst>
          </p:cNvPr>
          <p:cNvSpPr>
            <a:spLocks noGrp="1"/>
          </p:cNvSpPr>
          <p:nvPr>
            <p:ph type="title"/>
          </p:nvPr>
        </p:nvSpPr>
        <p:spPr/>
        <p:txBody>
          <a:bodyPr/>
          <a:lstStyle/>
          <a:p>
            <a:r>
              <a:rPr kumimoji="1" lang="ja-JP" altLang="en-US" dirty="0"/>
              <a:t>水流システム</a:t>
            </a:r>
            <a:endParaRPr kumimoji="1" lang="en-US" dirty="0"/>
          </a:p>
        </p:txBody>
      </p:sp>
      <p:sp>
        <p:nvSpPr>
          <p:cNvPr id="3" name="テキスト プレースホルダー 2">
            <a:extLst>
              <a:ext uri="{FF2B5EF4-FFF2-40B4-BE49-F238E27FC236}">
                <a16:creationId xmlns:a16="http://schemas.microsoft.com/office/drawing/2014/main" id="{F8408C9E-8C29-3967-B494-68886E31D5DD}"/>
              </a:ext>
            </a:extLst>
          </p:cNvPr>
          <p:cNvSpPr>
            <a:spLocks noGrp="1"/>
          </p:cNvSpPr>
          <p:nvPr>
            <p:ph type="body" sz="quarter" idx="10"/>
          </p:nvPr>
        </p:nvSpPr>
        <p:spPr/>
        <p:txBody>
          <a:bodyPr/>
          <a:lstStyle/>
          <a:p>
            <a:r>
              <a:rPr kumimoji="1" lang="ja-JP" altLang="en-US" dirty="0"/>
              <a:t>ここでは水の流れに例えて説明</a:t>
            </a:r>
            <a:endParaRPr kumimoji="1" lang="en-US" altLang="ja-JP" dirty="0"/>
          </a:p>
          <a:p>
            <a:pPr lvl="1"/>
            <a:r>
              <a:rPr kumimoji="1" lang="ja-JP" altLang="en-US" dirty="0"/>
              <a:t>技術的に正確ではないが，かなりイメージは一致する</a:t>
            </a:r>
            <a:endParaRPr kumimoji="1" lang="en-US" altLang="ja-JP" dirty="0"/>
          </a:p>
          <a:p>
            <a:pPr lvl="2"/>
            <a:r>
              <a:rPr lang="ja-JP" altLang="en-US" dirty="0"/>
              <a:t>一次近似としては良くあっているはず</a:t>
            </a:r>
            <a:endParaRPr kumimoji="1" lang="en-US" altLang="ja-JP" dirty="0"/>
          </a:p>
          <a:p>
            <a:pPr lvl="2"/>
            <a:r>
              <a:rPr kumimoji="1" lang="ja-JP" altLang="en-US" dirty="0"/>
              <a:t>消費電力のイメージもかなり伝えやすい</a:t>
            </a:r>
            <a:endParaRPr kumimoji="1" lang="en-US" altLang="ja-JP" dirty="0"/>
          </a:p>
          <a:p>
            <a:r>
              <a:rPr lang="ja-JP" altLang="en-US" dirty="0"/>
              <a:t>回路の量（大きさ）と，電力の関係のイメージを掴んでほしい</a:t>
            </a:r>
            <a:endParaRPr lang="en-US" altLang="ja-JP" dirty="0"/>
          </a:p>
        </p:txBody>
      </p:sp>
    </p:spTree>
    <p:extLst>
      <p:ext uri="{BB962C8B-B14F-4D97-AF65-F5344CB8AC3E}">
        <p14:creationId xmlns:p14="http://schemas.microsoft.com/office/powerpoint/2010/main" val="42800968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30CCA5-EB2A-1758-EBB5-1A51DEBD2793}"/>
              </a:ext>
            </a:extLst>
          </p:cNvPr>
          <p:cNvSpPr>
            <a:spLocks noGrp="1"/>
          </p:cNvSpPr>
          <p:nvPr>
            <p:ph type="title"/>
          </p:nvPr>
        </p:nvSpPr>
        <p:spPr/>
        <p:txBody>
          <a:bodyPr/>
          <a:lstStyle/>
          <a:p>
            <a:r>
              <a:rPr kumimoji="1" lang="ja-JP" altLang="en-US" dirty="0"/>
              <a:t>水の流れで例えることにする</a:t>
            </a:r>
            <a:endParaRPr kumimoji="1" lang="en-US" dirty="0"/>
          </a:p>
        </p:txBody>
      </p:sp>
      <p:sp>
        <p:nvSpPr>
          <p:cNvPr id="3" name="テキスト プレースホルダー 2">
            <a:extLst>
              <a:ext uri="{FF2B5EF4-FFF2-40B4-BE49-F238E27FC236}">
                <a16:creationId xmlns:a16="http://schemas.microsoft.com/office/drawing/2014/main" id="{0FAF7A46-B8E3-23D8-12A2-0F7E8F98C48D}"/>
              </a:ext>
            </a:extLst>
          </p:cNvPr>
          <p:cNvSpPr>
            <a:spLocks noGrp="1"/>
          </p:cNvSpPr>
          <p:nvPr>
            <p:ph type="body" sz="quarter" idx="10"/>
          </p:nvPr>
        </p:nvSpPr>
        <p:spPr>
          <a:xfrm>
            <a:off x="1055944" y="3609002"/>
            <a:ext cx="9360104" cy="2700030"/>
          </a:xfrm>
        </p:spPr>
        <p:txBody>
          <a:bodyPr/>
          <a:lstStyle/>
          <a:p>
            <a:r>
              <a:rPr kumimoji="1" lang="ja-JP" altLang="en-US" dirty="0">
                <a:solidFill>
                  <a:schemeClr val="accent5"/>
                </a:solidFill>
              </a:rPr>
              <a:t>水流タンクシステム：</a:t>
            </a:r>
            <a:endParaRPr kumimoji="1" lang="en-US" altLang="ja-JP" dirty="0">
              <a:solidFill>
                <a:schemeClr val="accent5"/>
              </a:solidFill>
            </a:endParaRPr>
          </a:p>
          <a:p>
            <a:pPr lvl="1"/>
            <a:r>
              <a:rPr kumimoji="1" lang="ja-JP" altLang="en-US" dirty="0"/>
              <a:t>水が流れるパイプとタンク＋栓を考える</a:t>
            </a:r>
            <a:endParaRPr kumimoji="1" lang="en-US" altLang="ja-JP" dirty="0"/>
          </a:p>
          <a:p>
            <a:pPr lvl="1"/>
            <a:r>
              <a:rPr kumimoji="1" lang="ja-JP" altLang="en-US" dirty="0">
                <a:solidFill>
                  <a:schemeClr val="accent5"/>
                </a:solidFill>
              </a:rPr>
              <a:t>タンクに水がたまっているかどうかに連動して動く栓を持つ</a:t>
            </a:r>
            <a:endParaRPr kumimoji="1" lang="en-US" altLang="ja-JP" dirty="0">
              <a:solidFill>
                <a:schemeClr val="accent5"/>
              </a:solidFill>
            </a:endParaRPr>
          </a:p>
          <a:p>
            <a:pPr lvl="2"/>
            <a:r>
              <a:rPr lang="ja-JP" altLang="en-US" dirty="0"/>
              <a:t>栓には</a:t>
            </a:r>
            <a:r>
              <a:rPr kumimoji="1" lang="ja-JP" altLang="en-US" dirty="0"/>
              <a:t>水が通れる部分があって，水流を制御できる</a:t>
            </a:r>
            <a:endParaRPr kumimoji="1" lang="en-US" altLang="ja-JP" dirty="0"/>
          </a:p>
          <a:p>
            <a:r>
              <a:rPr kumimoji="1" lang="en-US" altLang="ja-JP" dirty="0"/>
              <a:t>PMOS </a:t>
            </a:r>
            <a:r>
              <a:rPr kumimoji="1" lang="ja-JP" altLang="en-US" dirty="0"/>
              <a:t>と同様の挙動：</a:t>
            </a:r>
            <a:endParaRPr kumimoji="1" lang="en-US" altLang="ja-JP" dirty="0"/>
          </a:p>
          <a:p>
            <a:pPr lvl="1"/>
            <a:r>
              <a:rPr lang="ja-JP" altLang="en-US" dirty="0"/>
              <a:t>「タンクが空だと，</a:t>
            </a:r>
            <a:r>
              <a:rPr lang="en-US" altLang="ja-JP" dirty="0"/>
              <a:t>S </a:t>
            </a:r>
            <a:r>
              <a:rPr lang="ja-JP" altLang="en-US" dirty="0"/>
              <a:t>から </a:t>
            </a:r>
            <a:r>
              <a:rPr lang="en-US" altLang="ja-JP" dirty="0"/>
              <a:t>D </a:t>
            </a:r>
            <a:r>
              <a:rPr lang="ja-JP" altLang="en-US" dirty="0"/>
              <a:t>に水が流れる」</a:t>
            </a:r>
            <a:endParaRPr lang="en-US" altLang="ja-JP" dirty="0"/>
          </a:p>
          <a:p>
            <a:pPr lvl="1"/>
            <a:r>
              <a:rPr kumimoji="1" lang="ja-JP" altLang="en-US" dirty="0"/>
              <a:t>「電荷が </a:t>
            </a:r>
            <a:r>
              <a:rPr kumimoji="1" lang="en-US" altLang="ja-JP" dirty="0"/>
              <a:t>Gate </a:t>
            </a:r>
            <a:r>
              <a:rPr kumimoji="1" lang="ja-JP" altLang="en-US" dirty="0"/>
              <a:t>から抜けて空だと，</a:t>
            </a:r>
            <a:r>
              <a:rPr lang="en-US" altLang="ja-JP" dirty="0"/>
              <a:t>S </a:t>
            </a:r>
            <a:r>
              <a:rPr lang="ja-JP" altLang="en-US" dirty="0"/>
              <a:t>から </a:t>
            </a:r>
            <a:r>
              <a:rPr lang="en-US" altLang="ja-JP" dirty="0"/>
              <a:t>D </a:t>
            </a:r>
            <a:r>
              <a:rPr lang="ja-JP" altLang="en-US" dirty="0"/>
              <a:t>に電荷が流れる」</a:t>
            </a:r>
          </a:p>
        </p:txBody>
      </p:sp>
      <p:cxnSp>
        <p:nvCxnSpPr>
          <p:cNvPr id="185" name="直線コネクタ 184">
            <a:extLst>
              <a:ext uri="{FF2B5EF4-FFF2-40B4-BE49-F238E27FC236}">
                <a16:creationId xmlns:a16="http://schemas.microsoft.com/office/drawing/2014/main" id="{243B26EC-4D37-A9E5-CAC1-E6876022B997}"/>
              </a:ext>
            </a:extLst>
          </p:cNvPr>
          <p:cNvCxnSpPr>
            <a:cxnSpLocks/>
          </p:cNvCxnSpPr>
          <p:nvPr/>
        </p:nvCxnSpPr>
        <p:spPr bwMode="auto">
          <a:xfrm>
            <a:off x="3845977" y="3338998"/>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313" name="グループ化 312">
            <a:extLst>
              <a:ext uri="{FF2B5EF4-FFF2-40B4-BE49-F238E27FC236}">
                <a16:creationId xmlns:a16="http://schemas.microsoft.com/office/drawing/2014/main" id="{C6D83E9D-93CE-35EF-79D4-C6F2C1CA8999}"/>
              </a:ext>
            </a:extLst>
          </p:cNvPr>
          <p:cNvGrpSpPr/>
          <p:nvPr/>
        </p:nvGrpSpPr>
        <p:grpSpPr>
          <a:xfrm>
            <a:off x="875942" y="1448977"/>
            <a:ext cx="2160240" cy="1475975"/>
            <a:chOff x="5292080" y="3203975"/>
            <a:chExt cx="2160240" cy="1475975"/>
          </a:xfrm>
        </p:grpSpPr>
        <p:cxnSp>
          <p:nvCxnSpPr>
            <p:cNvPr id="314" name="直線コネクタ 313">
              <a:extLst>
                <a:ext uri="{FF2B5EF4-FFF2-40B4-BE49-F238E27FC236}">
                  <a16:creationId xmlns:a16="http://schemas.microsoft.com/office/drawing/2014/main" id="{127055AE-9783-BE19-FB72-AF109AB90721}"/>
                </a:ext>
              </a:extLst>
            </p:cNvPr>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315" name="直線コネクタ 314">
              <a:extLst>
                <a:ext uri="{FF2B5EF4-FFF2-40B4-BE49-F238E27FC236}">
                  <a16:creationId xmlns:a16="http://schemas.microsoft.com/office/drawing/2014/main" id="{830A3127-30AB-EF22-6A57-BF30D2BF9C0A}"/>
                </a:ext>
              </a:extLst>
            </p:cNvPr>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316" name="直線コネクタ 315">
              <a:extLst>
                <a:ext uri="{FF2B5EF4-FFF2-40B4-BE49-F238E27FC236}">
                  <a16:creationId xmlns:a16="http://schemas.microsoft.com/office/drawing/2014/main" id="{59865F86-B6A0-0517-857B-C4FBE208E165}"/>
                </a:ext>
              </a:extLst>
            </p:cNvPr>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317" name="直線コネクタ 316">
              <a:extLst>
                <a:ext uri="{FF2B5EF4-FFF2-40B4-BE49-F238E27FC236}">
                  <a16:creationId xmlns:a16="http://schemas.microsoft.com/office/drawing/2014/main" id="{5F52F240-AFB7-40CB-7138-64CE2A293594}"/>
                </a:ext>
              </a:extLst>
            </p:cNvPr>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318" name="直線コネクタ 317">
              <a:extLst>
                <a:ext uri="{FF2B5EF4-FFF2-40B4-BE49-F238E27FC236}">
                  <a16:creationId xmlns:a16="http://schemas.microsoft.com/office/drawing/2014/main" id="{EDCB114F-ABD9-40D3-C60A-01242440777B}"/>
                </a:ext>
              </a:extLst>
            </p:cNvPr>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319" name="直線コネクタ 318">
              <a:extLst>
                <a:ext uri="{FF2B5EF4-FFF2-40B4-BE49-F238E27FC236}">
                  <a16:creationId xmlns:a16="http://schemas.microsoft.com/office/drawing/2014/main" id="{B071A40D-9419-FFAB-4862-8E0E2A018D5A}"/>
                </a:ext>
              </a:extLst>
            </p:cNvPr>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320" name="直線コネクタ 319">
              <a:extLst>
                <a:ext uri="{FF2B5EF4-FFF2-40B4-BE49-F238E27FC236}">
                  <a16:creationId xmlns:a16="http://schemas.microsoft.com/office/drawing/2014/main" id="{8580DF30-ADFA-551D-7855-763C747DD9E1}"/>
                </a:ext>
              </a:extLst>
            </p:cNvPr>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321" name="円/楕円 13">
              <a:extLst>
                <a:ext uri="{FF2B5EF4-FFF2-40B4-BE49-F238E27FC236}">
                  <a16:creationId xmlns:a16="http://schemas.microsoft.com/office/drawing/2014/main" id="{727A7DC3-D1C5-5AB9-7F08-FE2D4D96F1E1}"/>
                </a:ext>
              </a:extLst>
            </p:cNvPr>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322" name="正方形/長方形 321">
              <a:extLst>
                <a:ext uri="{FF2B5EF4-FFF2-40B4-BE49-F238E27FC236}">
                  <a16:creationId xmlns:a16="http://schemas.microsoft.com/office/drawing/2014/main" id="{AB400B23-78AD-CAA2-1934-9857F35FF6C4}"/>
                </a:ext>
              </a:extLst>
            </p:cNvPr>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sp>
        <p:nvSpPr>
          <p:cNvPr id="323" name="Rectangle 93">
            <a:extLst>
              <a:ext uri="{FF2B5EF4-FFF2-40B4-BE49-F238E27FC236}">
                <a16:creationId xmlns:a16="http://schemas.microsoft.com/office/drawing/2014/main" id="{FB59D1F6-ECB0-8A25-296D-9EA976AB1665}"/>
              </a:ext>
            </a:extLst>
          </p:cNvPr>
          <p:cNvSpPr>
            <a:spLocks noChangeArrowheads="1"/>
          </p:cNvSpPr>
          <p:nvPr/>
        </p:nvSpPr>
        <p:spPr bwMode="auto">
          <a:xfrm>
            <a:off x="1595951" y="108897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324" name="Rectangle 93">
            <a:extLst>
              <a:ext uri="{FF2B5EF4-FFF2-40B4-BE49-F238E27FC236}">
                <a16:creationId xmlns:a16="http://schemas.microsoft.com/office/drawing/2014/main" id="{F9FA0BB3-70F2-6DFB-0BE0-CFAA42238F1D}"/>
              </a:ext>
            </a:extLst>
          </p:cNvPr>
          <p:cNvSpPr>
            <a:spLocks noChangeArrowheads="1"/>
          </p:cNvSpPr>
          <p:nvPr/>
        </p:nvSpPr>
        <p:spPr bwMode="auto">
          <a:xfrm>
            <a:off x="515939" y="198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25" name="Rectangle 93">
            <a:extLst>
              <a:ext uri="{FF2B5EF4-FFF2-40B4-BE49-F238E27FC236}">
                <a16:creationId xmlns:a16="http://schemas.microsoft.com/office/drawing/2014/main" id="{E90ADCEF-D758-B488-EE95-210E1E9F86C7}"/>
              </a:ext>
            </a:extLst>
          </p:cNvPr>
          <p:cNvSpPr>
            <a:spLocks noChangeArrowheads="1"/>
          </p:cNvSpPr>
          <p:nvPr/>
        </p:nvSpPr>
        <p:spPr bwMode="auto">
          <a:xfrm>
            <a:off x="2495961" y="198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3A257138-6FB7-AA50-9BE8-779B5BF86754}"/>
              </a:ext>
            </a:extLst>
          </p:cNvPr>
          <p:cNvGrpSpPr/>
          <p:nvPr/>
        </p:nvGrpSpPr>
        <p:grpSpPr>
          <a:xfrm>
            <a:off x="3845975" y="908972"/>
            <a:ext cx="3240037" cy="2430026"/>
            <a:chOff x="8166024" y="908972"/>
            <a:chExt cx="3240037" cy="2430026"/>
          </a:xfrm>
        </p:grpSpPr>
        <p:cxnSp>
          <p:nvCxnSpPr>
            <p:cNvPr id="138" name="直線コネクタ 137">
              <a:extLst>
                <a:ext uri="{FF2B5EF4-FFF2-40B4-BE49-F238E27FC236}">
                  <a16:creationId xmlns:a16="http://schemas.microsoft.com/office/drawing/2014/main" id="{3D1BDB27-E911-73E0-10A0-25A7BA915B3A}"/>
                </a:ext>
              </a:extLst>
            </p:cNvPr>
            <p:cNvCxnSpPr>
              <a:cxnSpLocks/>
            </p:cNvCxnSpPr>
            <p:nvPr/>
          </p:nvCxnSpPr>
          <p:spPr bwMode="auto">
            <a:xfrm>
              <a:off x="9336038" y="162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9A89B82-A0B5-8A2E-EB7B-F84A7D1715CE}"/>
                </a:ext>
              </a:extLst>
            </p:cNvPr>
            <p:cNvCxnSpPr>
              <a:cxnSpLocks/>
            </p:cNvCxnSpPr>
            <p:nvPr/>
          </p:nvCxnSpPr>
          <p:spPr bwMode="auto">
            <a:xfrm>
              <a:off x="9336038"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06F0BF4F-4BE9-2CDB-9C18-548EAB7730D7}"/>
                </a:ext>
              </a:extLst>
            </p:cNvPr>
            <p:cNvCxnSpPr>
              <a:cxnSpLocks/>
            </p:cNvCxnSpPr>
            <p:nvPr/>
          </p:nvCxnSpPr>
          <p:spPr bwMode="auto">
            <a:xfrm>
              <a:off x="9876044"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2A711A06-F65D-0F7A-06EF-E9ED85649217}"/>
                </a:ext>
              </a:extLst>
            </p:cNvPr>
            <p:cNvCxnSpPr>
              <a:cxnSpLocks/>
            </p:cNvCxnSpPr>
            <p:nvPr/>
          </p:nvCxnSpPr>
          <p:spPr bwMode="auto">
            <a:xfrm flipV="1">
              <a:off x="9606039" y="162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42" name="正方形/長方形 141">
              <a:extLst>
                <a:ext uri="{FF2B5EF4-FFF2-40B4-BE49-F238E27FC236}">
                  <a16:creationId xmlns:a16="http://schemas.microsoft.com/office/drawing/2014/main" id="{E1AF8E8E-DFBC-A1C8-E91C-F5BD4398029D}"/>
                </a:ext>
              </a:extLst>
            </p:cNvPr>
            <p:cNvSpPr/>
            <p:nvPr/>
          </p:nvSpPr>
          <p:spPr bwMode="auto">
            <a:xfrm rot="5400000">
              <a:off x="9516040" y="998973"/>
              <a:ext cx="180002" cy="2880033"/>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3" name="直線コネクタ 142">
              <a:extLst>
                <a:ext uri="{FF2B5EF4-FFF2-40B4-BE49-F238E27FC236}">
                  <a16:creationId xmlns:a16="http://schemas.microsoft.com/office/drawing/2014/main" id="{9F3EA5DE-21C2-B9FF-CE51-9D9637C5C226}"/>
                </a:ext>
              </a:extLst>
            </p:cNvPr>
            <p:cNvCxnSpPr>
              <a:cxnSpLocks/>
            </p:cNvCxnSpPr>
            <p:nvPr/>
          </p:nvCxnSpPr>
          <p:spPr bwMode="auto">
            <a:xfrm>
              <a:off x="9696044"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32CC6C35-DDB5-893A-9560-35D4B6178DA2}"/>
                </a:ext>
              </a:extLst>
            </p:cNvPr>
            <p:cNvCxnSpPr>
              <a:cxnSpLocks/>
            </p:cNvCxnSpPr>
            <p:nvPr/>
          </p:nvCxnSpPr>
          <p:spPr bwMode="auto">
            <a:xfrm>
              <a:off x="8166024"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884578CE-614B-D8D9-CB42-EA777C006AEC}"/>
                </a:ext>
              </a:extLst>
            </p:cNvPr>
            <p:cNvCxnSpPr>
              <a:cxnSpLocks/>
            </p:cNvCxnSpPr>
            <p:nvPr/>
          </p:nvCxnSpPr>
          <p:spPr bwMode="auto">
            <a:xfrm>
              <a:off x="8166024"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46" name="正方形/長方形 145">
              <a:extLst>
                <a:ext uri="{FF2B5EF4-FFF2-40B4-BE49-F238E27FC236}">
                  <a16:creationId xmlns:a16="http://schemas.microsoft.com/office/drawing/2014/main" id="{0836A2F0-B7EC-6471-BAFB-4930CF9C58E1}"/>
                </a:ext>
              </a:extLst>
            </p:cNvPr>
            <p:cNvSpPr/>
            <p:nvPr/>
          </p:nvSpPr>
          <p:spPr bwMode="auto">
            <a:xfrm rot="5400000">
              <a:off x="9336036" y="198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7" name="グループ化 146">
              <a:extLst>
                <a:ext uri="{FF2B5EF4-FFF2-40B4-BE49-F238E27FC236}">
                  <a16:creationId xmlns:a16="http://schemas.microsoft.com/office/drawing/2014/main" id="{4DB04772-9190-6B3F-6B84-5293D9EB77C2}"/>
                </a:ext>
              </a:extLst>
            </p:cNvPr>
            <p:cNvGrpSpPr/>
            <p:nvPr/>
          </p:nvGrpSpPr>
          <p:grpSpPr>
            <a:xfrm>
              <a:off x="9516040" y="2618989"/>
              <a:ext cx="180003" cy="720009"/>
              <a:chOff x="3131985" y="5049018"/>
              <a:chExt cx="180002" cy="437056"/>
            </a:xfrm>
          </p:grpSpPr>
          <p:grpSp>
            <p:nvGrpSpPr>
              <p:cNvPr id="148" name="グループ化 147">
                <a:extLst>
                  <a:ext uri="{FF2B5EF4-FFF2-40B4-BE49-F238E27FC236}">
                    <a16:creationId xmlns:a16="http://schemas.microsoft.com/office/drawing/2014/main" id="{8C5923D4-6EDC-5946-AAD3-73B6D9B2C1D4}"/>
                  </a:ext>
                </a:extLst>
              </p:cNvPr>
              <p:cNvGrpSpPr/>
              <p:nvPr/>
            </p:nvGrpSpPr>
            <p:grpSpPr>
              <a:xfrm>
                <a:off x="3131985" y="5139021"/>
                <a:ext cx="180002" cy="254126"/>
                <a:chOff x="3131984" y="5191944"/>
                <a:chExt cx="270003" cy="201854"/>
              </a:xfrm>
            </p:grpSpPr>
            <p:sp>
              <p:nvSpPr>
                <p:cNvPr id="151" name="Freeform 42">
                  <a:extLst>
                    <a:ext uri="{FF2B5EF4-FFF2-40B4-BE49-F238E27FC236}">
                      <a16:creationId xmlns:a16="http://schemas.microsoft.com/office/drawing/2014/main" id="{7172C465-3584-FBD2-B44F-142E95F20F0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2" name="Freeform 42">
                  <a:extLst>
                    <a:ext uri="{FF2B5EF4-FFF2-40B4-BE49-F238E27FC236}">
                      <a16:creationId xmlns:a16="http://schemas.microsoft.com/office/drawing/2014/main" id="{452CBD54-1EBF-0643-8FD3-182145594D3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3" name="Freeform 42">
                  <a:extLst>
                    <a:ext uri="{FF2B5EF4-FFF2-40B4-BE49-F238E27FC236}">
                      <a16:creationId xmlns:a16="http://schemas.microsoft.com/office/drawing/2014/main" id="{2A1C9113-94B4-70FE-E828-85F9AAA57101}"/>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4" name="Freeform 42">
                  <a:extLst>
                    <a:ext uri="{FF2B5EF4-FFF2-40B4-BE49-F238E27FC236}">
                      <a16:creationId xmlns:a16="http://schemas.microsoft.com/office/drawing/2014/main" id="{31597B0A-42BD-BD2B-6AF6-420A0027A14F}"/>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9" name="直線コネクタ 148">
                <a:extLst>
                  <a:ext uri="{FF2B5EF4-FFF2-40B4-BE49-F238E27FC236}">
                    <a16:creationId xmlns:a16="http://schemas.microsoft.com/office/drawing/2014/main" id="{B62B9CA8-961F-5163-1A73-71AD6FAF5EF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18F68D78-8FE5-5990-AA51-F0486791376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81" name="正方形/長方形 180">
              <a:extLst>
                <a:ext uri="{FF2B5EF4-FFF2-40B4-BE49-F238E27FC236}">
                  <a16:creationId xmlns:a16="http://schemas.microsoft.com/office/drawing/2014/main" id="{311E4025-1AB0-EE3C-0D80-826DB64A6209}"/>
                </a:ext>
              </a:extLst>
            </p:cNvPr>
            <p:cNvSpPr/>
            <p:nvPr/>
          </p:nvSpPr>
          <p:spPr bwMode="auto">
            <a:xfrm rot="5400000" flipH="1">
              <a:off x="9561038" y="248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2" name="直線コネクタ 181">
              <a:extLst>
                <a:ext uri="{FF2B5EF4-FFF2-40B4-BE49-F238E27FC236}">
                  <a16:creationId xmlns:a16="http://schemas.microsoft.com/office/drawing/2014/main" id="{03375B85-EC39-832E-F8AA-ED7D60C1A38A}"/>
                </a:ext>
              </a:extLst>
            </p:cNvPr>
            <p:cNvCxnSpPr>
              <a:cxnSpLocks/>
            </p:cNvCxnSpPr>
            <p:nvPr/>
          </p:nvCxnSpPr>
          <p:spPr bwMode="auto">
            <a:xfrm flipH="1">
              <a:off x="9696042" y="234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83" name="直線コネクタ 182">
              <a:extLst>
                <a:ext uri="{FF2B5EF4-FFF2-40B4-BE49-F238E27FC236}">
                  <a16:creationId xmlns:a16="http://schemas.microsoft.com/office/drawing/2014/main" id="{2F951B46-437E-DC17-1DDE-DBFF7EA63FBE}"/>
                </a:ext>
              </a:extLst>
            </p:cNvPr>
            <p:cNvCxnSpPr>
              <a:cxnSpLocks/>
            </p:cNvCxnSpPr>
            <p:nvPr/>
          </p:nvCxnSpPr>
          <p:spPr bwMode="auto">
            <a:xfrm flipH="1">
              <a:off x="9516041" y="2348986"/>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184" name="正方形/長方形 183">
              <a:extLst>
                <a:ext uri="{FF2B5EF4-FFF2-40B4-BE49-F238E27FC236}">
                  <a16:creationId xmlns:a16="http://schemas.microsoft.com/office/drawing/2014/main" id="{E1AF7C07-BA81-67A6-B367-DABF2A86DCBF}"/>
                </a:ext>
              </a:extLst>
            </p:cNvPr>
            <p:cNvSpPr/>
            <p:nvPr/>
          </p:nvSpPr>
          <p:spPr bwMode="auto">
            <a:xfrm>
              <a:off x="10686053" y="126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400" dirty="0">
                  <a:solidFill>
                    <a:schemeClr val="accent6"/>
                  </a:solidFill>
                </a:rPr>
                <a:t>タンク（空）</a:t>
              </a:r>
            </a:p>
          </p:txBody>
        </p:sp>
        <p:sp>
          <p:nvSpPr>
            <p:cNvPr id="188" name="正方形/長方形 187">
              <a:extLst>
                <a:ext uri="{FF2B5EF4-FFF2-40B4-BE49-F238E27FC236}">
                  <a16:creationId xmlns:a16="http://schemas.microsoft.com/office/drawing/2014/main" id="{751A9E03-3B36-5CA3-4F28-E8E1A4988DBA}"/>
                </a:ext>
              </a:extLst>
            </p:cNvPr>
            <p:cNvSpPr/>
            <p:nvPr/>
          </p:nvSpPr>
          <p:spPr bwMode="auto">
            <a:xfrm>
              <a:off x="9696042"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水が流れる</a:t>
              </a:r>
            </a:p>
          </p:txBody>
        </p:sp>
        <p:cxnSp>
          <p:nvCxnSpPr>
            <p:cNvPr id="190" name="直線矢印コネクタ 189">
              <a:extLst>
                <a:ext uri="{FF2B5EF4-FFF2-40B4-BE49-F238E27FC236}">
                  <a16:creationId xmlns:a16="http://schemas.microsoft.com/office/drawing/2014/main" id="{5714EF0B-4D83-FFE8-0356-2648D9BF3145}"/>
                </a:ext>
              </a:extLst>
            </p:cNvPr>
            <p:cNvCxnSpPr/>
            <p:nvPr/>
          </p:nvCxnSpPr>
          <p:spPr bwMode="auto">
            <a:xfrm>
              <a:off x="8886033" y="2438989"/>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207" name="Rectangle 93">
              <a:extLst>
                <a:ext uri="{FF2B5EF4-FFF2-40B4-BE49-F238E27FC236}">
                  <a16:creationId xmlns:a16="http://schemas.microsoft.com/office/drawing/2014/main" id="{8E2A8724-5C45-B554-36AB-22B676778A4B}"/>
                </a:ext>
              </a:extLst>
            </p:cNvPr>
            <p:cNvSpPr>
              <a:spLocks noChangeArrowheads="1"/>
            </p:cNvSpPr>
            <p:nvPr/>
          </p:nvSpPr>
          <p:spPr bwMode="auto">
            <a:xfrm>
              <a:off x="9426038"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8" name="Rectangle 93">
              <a:extLst>
                <a:ext uri="{FF2B5EF4-FFF2-40B4-BE49-F238E27FC236}">
                  <a16:creationId xmlns:a16="http://schemas.microsoft.com/office/drawing/2014/main" id="{C81E4564-342C-ED27-8E15-7707FA312181}"/>
                </a:ext>
              </a:extLst>
            </p:cNvPr>
            <p:cNvSpPr>
              <a:spLocks noChangeArrowheads="1"/>
            </p:cNvSpPr>
            <p:nvPr/>
          </p:nvSpPr>
          <p:spPr bwMode="auto">
            <a:xfrm>
              <a:off x="8166024"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9" name="Rectangle 93">
              <a:extLst>
                <a:ext uri="{FF2B5EF4-FFF2-40B4-BE49-F238E27FC236}">
                  <a16:creationId xmlns:a16="http://schemas.microsoft.com/office/drawing/2014/main" id="{230161D1-3696-354C-BD17-9C8D6687B8F9}"/>
                </a:ext>
              </a:extLst>
            </p:cNvPr>
            <p:cNvSpPr>
              <a:spLocks noChangeArrowheads="1"/>
            </p:cNvSpPr>
            <p:nvPr/>
          </p:nvSpPr>
          <p:spPr bwMode="auto">
            <a:xfrm>
              <a:off x="10776053"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326" name="直線矢印コネクタ 325">
              <a:extLst>
                <a:ext uri="{FF2B5EF4-FFF2-40B4-BE49-F238E27FC236}">
                  <a16:creationId xmlns:a16="http://schemas.microsoft.com/office/drawing/2014/main" id="{A0167388-382F-B61A-676C-1720E7B9E789}"/>
                </a:ext>
              </a:extLst>
            </p:cNvPr>
            <p:cNvCxnSpPr>
              <a:cxnSpLocks/>
            </p:cNvCxnSpPr>
            <p:nvPr/>
          </p:nvCxnSpPr>
          <p:spPr bwMode="auto">
            <a:xfrm flipV="1">
              <a:off x="9426037" y="2798992"/>
              <a:ext cx="0" cy="360004"/>
            </a:xfrm>
            <a:prstGeom prst="straightConnector1">
              <a:avLst/>
            </a:prstGeom>
            <a:noFill/>
            <a:ln w="9525" cap="flat" cmpd="sng" algn="ctr">
              <a:solidFill>
                <a:schemeClr val="tx1"/>
              </a:solidFill>
              <a:prstDash val="solid"/>
              <a:round/>
              <a:headEnd type="none" w="med" len="med"/>
              <a:tailEnd type="triangle"/>
            </a:ln>
            <a:effectLst/>
          </p:spPr>
        </p:cxnSp>
      </p:grpSp>
      <p:grpSp>
        <p:nvGrpSpPr>
          <p:cNvPr id="5" name="グループ化 4">
            <a:extLst>
              <a:ext uri="{FF2B5EF4-FFF2-40B4-BE49-F238E27FC236}">
                <a16:creationId xmlns:a16="http://schemas.microsoft.com/office/drawing/2014/main" id="{077E8F91-A026-DAD1-4EF3-1CC619F538E4}"/>
              </a:ext>
            </a:extLst>
          </p:cNvPr>
          <p:cNvGrpSpPr/>
          <p:nvPr/>
        </p:nvGrpSpPr>
        <p:grpSpPr>
          <a:xfrm>
            <a:off x="7716018" y="1178975"/>
            <a:ext cx="2971108" cy="2160023"/>
            <a:chOff x="3845976" y="1178975"/>
            <a:chExt cx="2971108" cy="2160023"/>
          </a:xfrm>
        </p:grpSpPr>
        <p:sp>
          <p:nvSpPr>
            <p:cNvPr id="96" name="正方形/長方形 95">
              <a:extLst>
                <a:ext uri="{FF2B5EF4-FFF2-40B4-BE49-F238E27FC236}">
                  <a16:creationId xmlns:a16="http://schemas.microsoft.com/office/drawing/2014/main" id="{C02DB7A0-8698-6C41-1879-46A733182D00}"/>
                </a:ext>
              </a:extLst>
            </p:cNvPr>
            <p:cNvSpPr/>
            <p:nvPr/>
          </p:nvSpPr>
          <p:spPr bwMode="auto">
            <a:xfrm>
              <a:off x="5015992" y="162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2" name="直線コネクタ 91">
              <a:extLst>
                <a:ext uri="{FF2B5EF4-FFF2-40B4-BE49-F238E27FC236}">
                  <a16:creationId xmlns:a16="http://schemas.microsoft.com/office/drawing/2014/main" id="{6A95AF56-EA91-3972-A1F8-99DF96AACCB7}"/>
                </a:ext>
              </a:extLst>
            </p:cNvPr>
            <p:cNvCxnSpPr>
              <a:cxnSpLocks/>
            </p:cNvCxnSpPr>
            <p:nvPr/>
          </p:nvCxnSpPr>
          <p:spPr bwMode="auto">
            <a:xfrm>
              <a:off x="5015992" y="198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93" name="直線コネクタ 92">
              <a:extLst>
                <a:ext uri="{FF2B5EF4-FFF2-40B4-BE49-F238E27FC236}">
                  <a16:creationId xmlns:a16="http://schemas.microsoft.com/office/drawing/2014/main" id="{3A191E2D-C30A-F142-049A-CDB68490038B}"/>
                </a:ext>
              </a:extLst>
            </p:cNvPr>
            <p:cNvCxnSpPr>
              <a:cxnSpLocks/>
            </p:cNvCxnSpPr>
            <p:nvPr/>
          </p:nvCxnSpPr>
          <p:spPr bwMode="auto">
            <a:xfrm>
              <a:off x="5015992"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055718A8-CEC8-030F-6083-B27CA95AC537}"/>
                </a:ext>
              </a:extLst>
            </p:cNvPr>
            <p:cNvCxnSpPr>
              <a:cxnSpLocks/>
            </p:cNvCxnSpPr>
            <p:nvPr/>
          </p:nvCxnSpPr>
          <p:spPr bwMode="auto">
            <a:xfrm>
              <a:off x="5555998"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9B2122C0-305E-08B4-2CE8-0B925F50CFCA}"/>
                </a:ext>
              </a:extLst>
            </p:cNvPr>
            <p:cNvCxnSpPr>
              <a:cxnSpLocks/>
            </p:cNvCxnSpPr>
            <p:nvPr/>
          </p:nvCxnSpPr>
          <p:spPr bwMode="auto">
            <a:xfrm flipV="1">
              <a:off x="5285993" y="198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7" name="正方形/長方形 106">
              <a:extLst>
                <a:ext uri="{FF2B5EF4-FFF2-40B4-BE49-F238E27FC236}">
                  <a16:creationId xmlns:a16="http://schemas.microsoft.com/office/drawing/2014/main" id="{85A8B95B-F7FB-931F-0A7F-05354E3BC42F}"/>
                </a:ext>
              </a:extLst>
            </p:cNvPr>
            <p:cNvSpPr/>
            <p:nvPr/>
          </p:nvSpPr>
          <p:spPr bwMode="auto">
            <a:xfrm rot="5400000">
              <a:off x="4430983" y="1763982"/>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0" name="直線コネクタ 99">
              <a:extLst>
                <a:ext uri="{FF2B5EF4-FFF2-40B4-BE49-F238E27FC236}">
                  <a16:creationId xmlns:a16="http://schemas.microsoft.com/office/drawing/2014/main" id="{855B669B-315A-D65E-B16A-6B3D5DE538AF}"/>
                </a:ext>
              </a:extLst>
            </p:cNvPr>
            <p:cNvCxnSpPr>
              <a:cxnSpLocks/>
            </p:cNvCxnSpPr>
            <p:nvPr/>
          </p:nvCxnSpPr>
          <p:spPr bwMode="auto">
            <a:xfrm>
              <a:off x="5375996"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DFF5316E-5D50-8E18-18D3-C77D1B93B42F}"/>
                </a:ext>
              </a:extLst>
            </p:cNvPr>
            <p:cNvCxnSpPr>
              <a:cxnSpLocks/>
            </p:cNvCxnSpPr>
            <p:nvPr/>
          </p:nvCxnSpPr>
          <p:spPr bwMode="auto">
            <a:xfrm>
              <a:off x="3845976"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0703513-CD50-B101-3D6F-C8FC29959F48}"/>
                </a:ext>
              </a:extLst>
            </p:cNvPr>
            <p:cNvCxnSpPr>
              <a:cxnSpLocks/>
            </p:cNvCxnSpPr>
            <p:nvPr/>
          </p:nvCxnSpPr>
          <p:spPr bwMode="auto">
            <a:xfrm>
              <a:off x="3845976"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09" name="正方形/長方形 108">
              <a:extLst>
                <a:ext uri="{FF2B5EF4-FFF2-40B4-BE49-F238E27FC236}">
                  <a16:creationId xmlns:a16="http://schemas.microsoft.com/office/drawing/2014/main" id="{F48CA9D9-9E54-2253-AECE-3A28CE4F8BB4}"/>
                </a:ext>
              </a:extLst>
            </p:cNvPr>
            <p:cNvSpPr/>
            <p:nvPr/>
          </p:nvSpPr>
          <p:spPr bwMode="auto">
            <a:xfrm rot="5400000">
              <a:off x="5015990" y="234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17" name="グループ化 116">
              <a:extLst>
                <a:ext uri="{FF2B5EF4-FFF2-40B4-BE49-F238E27FC236}">
                  <a16:creationId xmlns:a16="http://schemas.microsoft.com/office/drawing/2014/main" id="{BE86DD72-9AE4-C699-C12A-A4549D154B4E}"/>
                </a:ext>
              </a:extLst>
            </p:cNvPr>
            <p:cNvGrpSpPr/>
            <p:nvPr/>
          </p:nvGrpSpPr>
          <p:grpSpPr>
            <a:xfrm>
              <a:off x="5195992" y="2978994"/>
              <a:ext cx="180003" cy="360004"/>
              <a:chOff x="3131985" y="5049018"/>
              <a:chExt cx="180002" cy="437056"/>
            </a:xfrm>
          </p:grpSpPr>
          <p:grpSp>
            <p:nvGrpSpPr>
              <p:cNvPr id="118" name="グループ化 117">
                <a:extLst>
                  <a:ext uri="{FF2B5EF4-FFF2-40B4-BE49-F238E27FC236}">
                    <a16:creationId xmlns:a16="http://schemas.microsoft.com/office/drawing/2014/main" id="{B4DA64CF-041E-2F31-6211-2E72008E8F68}"/>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60074FB6-C7B5-B425-F232-B269F0EFC6E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5D08D684-EA89-6459-1683-2348F7084C6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CDF4C01C-5F74-8E39-23E0-DBF42F2504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C728A1E3-1C0F-6E1B-A5BB-A4472A34191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E0D645FE-B56D-DD10-183C-703C2949FF9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E59D46EB-5474-347B-CCA0-5B52BF4DD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55" name="正方形/長方形 154">
              <a:extLst>
                <a:ext uri="{FF2B5EF4-FFF2-40B4-BE49-F238E27FC236}">
                  <a16:creationId xmlns:a16="http://schemas.microsoft.com/office/drawing/2014/main" id="{45F9BF97-B2E4-6AF6-3CB8-691C192A029C}"/>
                </a:ext>
              </a:extLst>
            </p:cNvPr>
            <p:cNvSpPr/>
            <p:nvPr/>
          </p:nvSpPr>
          <p:spPr bwMode="auto">
            <a:xfrm>
              <a:off x="5645995"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dirty="0">
                  <a:solidFill>
                    <a:schemeClr val="accent6"/>
                  </a:solidFill>
                </a:rPr>
                <a:t>タンク（溜）</a:t>
              </a:r>
            </a:p>
          </p:txBody>
        </p:sp>
        <p:sp>
          <p:nvSpPr>
            <p:cNvPr id="156" name="正方形/長方形 155">
              <a:extLst>
                <a:ext uri="{FF2B5EF4-FFF2-40B4-BE49-F238E27FC236}">
                  <a16:creationId xmlns:a16="http://schemas.microsoft.com/office/drawing/2014/main" id="{7A5A3D32-45DC-5643-DED1-4ACF450F068A}"/>
                </a:ext>
              </a:extLst>
            </p:cNvPr>
            <p:cNvSpPr/>
            <p:nvPr/>
          </p:nvSpPr>
          <p:spPr bwMode="auto">
            <a:xfrm rot="5400000" flipH="1">
              <a:off x="5240990" y="284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6" name="直線コネクタ 175">
              <a:extLst>
                <a:ext uri="{FF2B5EF4-FFF2-40B4-BE49-F238E27FC236}">
                  <a16:creationId xmlns:a16="http://schemas.microsoft.com/office/drawing/2014/main" id="{8220F12F-841C-9960-F2B7-381A71094A1D}"/>
                </a:ext>
              </a:extLst>
            </p:cNvPr>
            <p:cNvCxnSpPr>
              <a:cxnSpLocks/>
            </p:cNvCxnSpPr>
            <p:nvPr/>
          </p:nvCxnSpPr>
          <p:spPr bwMode="auto">
            <a:xfrm flipH="1">
              <a:off x="5375994" y="270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8" name="直線コネクタ 177">
              <a:extLst>
                <a:ext uri="{FF2B5EF4-FFF2-40B4-BE49-F238E27FC236}">
                  <a16:creationId xmlns:a16="http://schemas.microsoft.com/office/drawing/2014/main" id="{5F986E48-F194-51DF-911A-FA71F51A546E}"/>
                </a:ext>
              </a:extLst>
            </p:cNvPr>
            <p:cNvCxnSpPr>
              <a:cxnSpLocks/>
            </p:cNvCxnSpPr>
            <p:nvPr/>
          </p:nvCxnSpPr>
          <p:spPr bwMode="auto">
            <a:xfrm flipH="1">
              <a:off x="5195993" y="2708991"/>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187" name="正方形/長方形 186">
              <a:extLst>
                <a:ext uri="{FF2B5EF4-FFF2-40B4-BE49-F238E27FC236}">
                  <a16:creationId xmlns:a16="http://schemas.microsoft.com/office/drawing/2014/main" id="{F300A16D-D4C2-F7FE-0880-0A177C99FC7F}"/>
                </a:ext>
              </a:extLst>
            </p:cNvPr>
            <p:cNvSpPr/>
            <p:nvPr/>
          </p:nvSpPr>
          <p:spPr bwMode="auto">
            <a:xfrm>
              <a:off x="5375994"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栓が水の重みで</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降りて水が流れない</a:t>
              </a:r>
            </a:p>
          </p:txBody>
        </p:sp>
        <p:sp>
          <p:nvSpPr>
            <p:cNvPr id="204" name="Rectangle 93">
              <a:extLst>
                <a:ext uri="{FF2B5EF4-FFF2-40B4-BE49-F238E27FC236}">
                  <a16:creationId xmlns:a16="http://schemas.microsoft.com/office/drawing/2014/main" id="{668326D5-07F6-01DF-1DCE-4A4C7231FAE0}"/>
                </a:ext>
              </a:extLst>
            </p:cNvPr>
            <p:cNvSpPr>
              <a:spLocks noChangeArrowheads="1"/>
            </p:cNvSpPr>
            <p:nvPr/>
          </p:nvSpPr>
          <p:spPr bwMode="auto">
            <a:xfrm>
              <a:off x="5105990" y="117897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5" name="Rectangle 93">
              <a:extLst>
                <a:ext uri="{FF2B5EF4-FFF2-40B4-BE49-F238E27FC236}">
                  <a16:creationId xmlns:a16="http://schemas.microsoft.com/office/drawing/2014/main" id="{39AEA9D5-B671-34DA-22B9-EB2E1AF63E63}"/>
                </a:ext>
              </a:extLst>
            </p:cNvPr>
            <p:cNvSpPr>
              <a:spLocks noChangeArrowheads="1"/>
            </p:cNvSpPr>
            <p:nvPr/>
          </p:nvSpPr>
          <p:spPr bwMode="auto">
            <a:xfrm>
              <a:off x="3845976"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6" name="Rectangle 93">
              <a:extLst>
                <a:ext uri="{FF2B5EF4-FFF2-40B4-BE49-F238E27FC236}">
                  <a16:creationId xmlns:a16="http://schemas.microsoft.com/office/drawing/2014/main" id="{9BFE4FC4-4342-0787-6C6A-B15710F791A9}"/>
                </a:ext>
              </a:extLst>
            </p:cNvPr>
            <p:cNvSpPr>
              <a:spLocks noChangeArrowheads="1"/>
            </p:cNvSpPr>
            <p:nvPr/>
          </p:nvSpPr>
          <p:spPr bwMode="auto">
            <a:xfrm>
              <a:off x="6456005"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328" name="直線矢印コネクタ 327">
              <a:extLst>
                <a:ext uri="{FF2B5EF4-FFF2-40B4-BE49-F238E27FC236}">
                  <a16:creationId xmlns:a16="http://schemas.microsoft.com/office/drawing/2014/main" id="{156219F7-08E7-52C8-0B5B-EEB3983AAFEE}"/>
                </a:ext>
              </a:extLst>
            </p:cNvPr>
            <p:cNvCxnSpPr>
              <a:cxnSpLocks/>
            </p:cNvCxnSpPr>
            <p:nvPr/>
          </p:nvCxnSpPr>
          <p:spPr bwMode="auto">
            <a:xfrm>
              <a:off x="5105989" y="3068995"/>
              <a:ext cx="0" cy="180002"/>
            </a:xfrm>
            <a:prstGeom prst="straightConnector1">
              <a:avLst/>
            </a:prstGeom>
            <a:no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41086900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30CCA5-EB2A-1758-EBB5-1A51DEBD2793}"/>
              </a:ext>
            </a:extLst>
          </p:cNvPr>
          <p:cNvSpPr>
            <a:spLocks noGrp="1"/>
          </p:cNvSpPr>
          <p:nvPr>
            <p:ph type="title"/>
          </p:nvPr>
        </p:nvSpPr>
        <p:spPr/>
        <p:txBody>
          <a:bodyPr/>
          <a:lstStyle/>
          <a:p>
            <a:r>
              <a:rPr kumimoji="1" lang="ja-JP" altLang="en-US" dirty="0"/>
              <a:t>タンクは２種類ある（</a:t>
            </a:r>
            <a:r>
              <a:rPr kumimoji="1" lang="en-US" altLang="ja-JP" dirty="0"/>
              <a:t>PMOS </a:t>
            </a:r>
            <a:r>
              <a:rPr kumimoji="1" lang="ja-JP" altLang="en-US" dirty="0"/>
              <a:t>と </a:t>
            </a:r>
            <a:r>
              <a:rPr kumimoji="1" lang="en-US" altLang="ja-JP" dirty="0"/>
              <a:t>NMOS </a:t>
            </a:r>
            <a:r>
              <a:rPr kumimoji="1" lang="ja-JP" altLang="en-US" dirty="0"/>
              <a:t>に相当）</a:t>
            </a:r>
            <a:br>
              <a:rPr kumimoji="1" lang="en-US" altLang="ja-JP" dirty="0"/>
            </a:br>
            <a:r>
              <a:rPr lang="ja-JP" altLang="en-US" sz="2000" dirty="0"/>
              <a:t>タンクに水が</a:t>
            </a:r>
            <a:r>
              <a:rPr kumimoji="1" lang="ja-JP" altLang="en-US" sz="2000" dirty="0"/>
              <a:t>溜まっている時に，流れるか遮断されるかが逆になっている</a:t>
            </a:r>
            <a:endParaRPr kumimoji="1" lang="en-US" sz="2400" dirty="0"/>
          </a:p>
        </p:txBody>
      </p:sp>
      <p:cxnSp>
        <p:nvCxnSpPr>
          <p:cNvPr id="185" name="直線コネクタ 184">
            <a:extLst>
              <a:ext uri="{FF2B5EF4-FFF2-40B4-BE49-F238E27FC236}">
                <a16:creationId xmlns:a16="http://schemas.microsoft.com/office/drawing/2014/main" id="{243B26EC-4D37-A9E5-CAC1-E6876022B997}"/>
              </a:ext>
            </a:extLst>
          </p:cNvPr>
          <p:cNvCxnSpPr>
            <a:cxnSpLocks/>
          </p:cNvCxnSpPr>
          <p:nvPr/>
        </p:nvCxnSpPr>
        <p:spPr bwMode="auto">
          <a:xfrm>
            <a:off x="3935976" y="6309031"/>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6" name="グループ化 5">
            <a:extLst>
              <a:ext uri="{FF2B5EF4-FFF2-40B4-BE49-F238E27FC236}">
                <a16:creationId xmlns:a16="http://schemas.microsoft.com/office/drawing/2014/main" id="{09D93189-D8A1-5091-2A7F-62F146DF22A2}"/>
              </a:ext>
            </a:extLst>
          </p:cNvPr>
          <p:cNvGrpSpPr/>
          <p:nvPr/>
        </p:nvGrpSpPr>
        <p:grpSpPr>
          <a:xfrm>
            <a:off x="7896020" y="4149008"/>
            <a:ext cx="3331111" cy="2160023"/>
            <a:chOff x="3575972" y="4149008"/>
            <a:chExt cx="3331111" cy="2160023"/>
          </a:xfrm>
        </p:grpSpPr>
        <p:sp>
          <p:nvSpPr>
            <p:cNvPr id="96" name="正方形/長方形 95">
              <a:extLst>
                <a:ext uri="{FF2B5EF4-FFF2-40B4-BE49-F238E27FC236}">
                  <a16:creationId xmlns:a16="http://schemas.microsoft.com/office/drawing/2014/main" id="{C02DB7A0-8698-6C41-1879-46A733182D00}"/>
                </a:ext>
              </a:extLst>
            </p:cNvPr>
            <p:cNvSpPr/>
            <p:nvPr/>
          </p:nvSpPr>
          <p:spPr bwMode="auto">
            <a:xfrm>
              <a:off x="5105991"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2" name="直線コネクタ 91">
              <a:extLst>
                <a:ext uri="{FF2B5EF4-FFF2-40B4-BE49-F238E27FC236}">
                  <a16:creationId xmlns:a16="http://schemas.microsoft.com/office/drawing/2014/main" id="{6A95AF56-EA91-3972-A1F8-99DF96AACCB7}"/>
                </a:ext>
              </a:extLst>
            </p:cNvPr>
            <p:cNvCxnSpPr>
              <a:cxnSpLocks/>
            </p:cNvCxnSpPr>
            <p:nvPr/>
          </p:nvCxnSpPr>
          <p:spPr bwMode="auto">
            <a:xfrm>
              <a:off x="5105991"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93" name="直線コネクタ 92">
              <a:extLst>
                <a:ext uri="{FF2B5EF4-FFF2-40B4-BE49-F238E27FC236}">
                  <a16:creationId xmlns:a16="http://schemas.microsoft.com/office/drawing/2014/main" id="{3A191E2D-C30A-F142-049A-CDB68490038B}"/>
                </a:ext>
              </a:extLst>
            </p:cNvPr>
            <p:cNvCxnSpPr>
              <a:cxnSpLocks/>
            </p:cNvCxnSpPr>
            <p:nvPr/>
          </p:nvCxnSpPr>
          <p:spPr bwMode="auto">
            <a:xfrm>
              <a:off x="5105991"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055718A8-CEC8-030F-6083-B27CA95AC537}"/>
                </a:ext>
              </a:extLst>
            </p:cNvPr>
            <p:cNvCxnSpPr>
              <a:cxnSpLocks/>
            </p:cNvCxnSpPr>
            <p:nvPr/>
          </p:nvCxnSpPr>
          <p:spPr bwMode="auto">
            <a:xfrm>
              <a:off x="5645997"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9B2122C0-305E-08B4-2CE8-0B925F50CFCA}"/>
                </a:ext>
              </a:extLst>
            </p:cNvPr>
            <p:cNvCxnSpPr>
              <a:cxnSpLocks/>
            </p:cNvCxnSpPr>
            <p:nvPr/>
          </p:nvCxnSpPr>
          <p:spPr bwMode="auto">
            <a:xfrm flipV="1">
              <a:off x="5375992"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07" name="正方形/長方形 106">
              <a:extLst>
                <a:ext uri="{FF2B5EF4-FFF2-40B4-BE49-F238E27FC236}">
                  <a16:creationId xmlns:a16="http://schemas.microsoft.com/office/drawing/2014/main" id="{85A8B95B-F7FB-931F-0A7F-05354E3BC42F}"/>
                </a:ext>
              </a:extLst>
            </p:cNvPr>
            <p:cNvSpPr/>
            <p:nvPr/>
          </p:nvSpPr>
          <p:spPr bwMode="auto">
            <a:xfrm rot="5400000">
              <a:off x="5285989" y="3969008"/>
              <a:ext cx="180002" cy="2880030"/>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0" name="直線コネクタ 99">
              <a:extLst>
                <a:ext uri="{FF2B5EF4-FFF2-40B4-BE49-F238E27FC236}">
                  <a16:creationId xmlns:a16="http://schemas.microsoft.com/office/drawing/2014/main" id="{855B669B-315A-D65E-B16A-6B3D5DE538AF}"/>
                </a:ext>
              </a:extLst>
            </p:cNvPr>
            <p:cNvCxnSpPr>
              <a:cxnSpLocks/>
            </p:cNvCxnSpPr>
            <p:nvPr/>
          </p:nvCxnSpPr>
          <p:spPr bwMode="auto">
            <a:xfrm>
              <a:off x="5465995" y="531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DFF5316E-5D50-8E18-18D3-C77D1B93B42F}"/>
                </a:ext>
              </a:extLst>
            </p:cNvPr>
            <p:cNvCxnSpPr>
              <a:cxnSpLocks/>
            </p:cNvCxnSpPr>
            <p:nvPr/>
          </p:nvCxnSpPr>
          <p:spPr bwMode="auto">
            <a:xfrm>
              <a:off x="3935975" y="5499023"/>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0703513-CD50-B101-3D6F-C8FC29959F48}"/>
                </a:ext>
              </a:extLst>
            </p:cNvPr>
            <p:cNvCxnSpPr>
              <a:cxnSpLocks/>
            </p:cNvCxnSpPr>
            <p:nvPr/>
          </p:nvCxnSpPr>
          <p:spPr bwMode="auto">
            <a:xfrm>
              <a:off x="3935975" y="5319021"/>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09" name="正方形/長方形 108">
              <a:extLst>
                <a:ext uri="{FF2B5EF4-FFF2-40B4-BE49-F238E27FC236}">
                  <a16:creationId xmlns:a16="http://schemas.microsoft.com/office/drawing/2014/main" id="{F48CA9D9-9E54-2253-AECE-3A28CE4F8BB4}"/>
                </a:ext>
              </a:extLst>
            </p:cNvPr>
            <p:cNvSpPr/>
            <p:nvPr/>
          </p:nvSpPr>
          <p:spPr bwMode="auto">
            <a:xfrm rot="5400000">
              <a:off x="5285991"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17" name="グループ化 116">
              <a:extLst>
                <a:ext uri="{FF2B5EF4-FFF2-40B4-BE49-F238E27FC236}">
                  <a16:creationId xmlns:a16="http://schemas.microsoft.com/office/drawing/2014/main" id="{BE86DD72-9AE4-C699-C12A-A4549D154B4E}"/>
                </a:ext>
              </a:extLst>
            </p:cNvPr>
            <p:cNvGrpSpPr/>
            <p:nvPr/>
          </p:nvGrpSpPr>
          <p:grpSpPr>
            <a:xfrm>
              <a:off x="5285991" y="5949027"/>
              <a:ext cx="180003" cy="360004"/>
              <a:chOff x="3131985" y="5049018"/>
              <a:chExt cx="180002" cy="437056"/>
            </a:xfrm>
          </p:grpSpPr>
          <p:grpSp>
            <p:nvGrpSpPr>
              <p:cNvPr id="118" name="グループ化 117">
                <a:extLst>
                  <a:ext uri="{FF2B5EF4-FFF2-40B4-BE49-F238E27FC236}">
                    <a16:creationId xmlns:a16="http://schemas.microsoft.com/office/drawing/2014/main" id="{B4DA64CF-041E-2F31-6211-2E72008E8F68}"/>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60074FB6-C7B5-B425-F232-B269F0EFC6E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5D08D684-EA89-6459-1683-2348F7084C6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CDF4C01C-5F74-8E39-23E0-DBF42F2504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C728A1E3-1C0F-6E1B-A5BB-A4472A34191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E0D645FE-B56D-DD10-183C-703C2949FF9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E59D46EB-5474-347B-CCA0-5B52BF4DD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55" name="正方形/長方形 154">
              <a:extLst>
                <a:ext uri="{FF2B5EF4-FFF2-40B4-BE49-F238E27FC236}">
                  <a16:creationId xmlns:a16="http://schemas.microsoft.com/office/drawing/2014/main" id="{45F9BF97-B2E4-6AF6-3CB8-691C192A029C}"/>
                </a:ext>
              </a:extLst>
            </p:cNvPr>
            <p:cNvSpPr/>
            <p:nvPr/>
          </p:nvSpPr>
          <p:spPr bwMode="auto">
            <a:xfrm>
              <a:off x="5825997" y="423900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2400" dirty="0">
                  <a:solidFill>
                    <a:schemeClr val="tx1">
                      <a:lumMod val="75000"/>
                      <a:lumOff val="25000"/>
                    </a:schemeClr>
                  </a:solidFill>
                </a:rPr>
                <a:t>N</a:t>
              </a:r>
              <a:r>
                <a:rPr lang="ja-JP" altLang="en-US" sz="2400" dirty="0">
                  <a:solidFill>
                    <a:schemeClr val="tx1">
                      <a:lumMod val="75000"/>
                      <a:lumOff val="25000"/>
                    </a:schemeClr>
                  </a:solidFill>
                </a:rPr>
                <a:t>タンク（溜）</a:t>
              </a:r>
            </a:p>
          </p:txBody>
        </p:sp>
        <p:sp>
          <p:nvSpPr>
            <p:cNvPr id="156" name="正方形/長方形 155">
              <a:extLst>
                <a:ext uri="{FF2B5EF4-FFF2-40B4-BE49-F238E27FC236}">
                  <a16:creationId xmlns:a16="http://schemas.microsoft.com/office/drawing/2014/main" id="{7A5A3D32-45DC-5643-DED1-4ACF450F068A}"/>
                </a:ext>
              </a:extLst>
            </p:cNvPr>
            <p:cNvSpPr/>
            <p:nvPr/>
          </p:nvSpPr>
          <p:spPr bwMode="auto">
            <a:xfrm rot="5400000" flipH="1">
              <a:off x="5150987" y="5634023"/>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6" name="直線コネクタ 175">
              <a:extLst>
                <a:ext uri="{FF2B5EF4-FFF2-40B4-BE49-F238E27FC236}">
                  <a16:creationId xmlns:a16="http://schemas.microsoft.com/office/drawing/2014/main" id="{8220F12F-841C-9960-F2B7-381A71094A1D}"/>
                </a:ext>
              </a:extLst>
            </p:cNvPr>
            <p:cNvCxnSpPr>
              <a:cxnSpLocks/>
            </p:cNvCxnSpPr>
            <p:nvPr/>
          </p:nvCxnSpPr>
          <p:spPr bwMode="auto">
            <a:xfrm flipH="1">
              <a:off x="5465991" y="5319020"/>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78" name="直線コネクタ 177">
              <a:extLst>
                <a:ext uri="{FF2B5EF4-FFF2-40B4-BE49-F238E27FC236}">
                  <a16:creationId xmlns:a16="http://schemas.microsoft.com/office/drawing/2014/main" id="{5F986E48-F194-51DF-911A-FA71F51A546E}"/>
                </a:ext>
              </a:extLst>
            </p:cNvPr>
            <p:cNvCxnSpPr>
              <a:cxnSpLocks/>
            </p:cNvCxnSpPr>
            <p:nvPr/>
          </p:nvCxnSpPr>
          <p:spPr bwMode="auto">
            <a:xfrm flipH="1">
              <a:off x="5285990" y="5319020"/>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87" name="正方形/長方形 186">
              <a:extLst>
                <a:ext uri="{FF2B5EF4-FFF2-40B4-BE49-F238E27FC236}">
                  <a16:creationId xmlns:a16="http://schemas.microsoft.com/office/drawing/2014/main" id="{F300A16D-D4C2-F7FE-0880-0A177C99FC7F}"/>
                </a:ext>
              </a:extLst>
            </p:cNvPr>
            <p:cNvSpPr/>
            <p:nvPr/>
          </p:nvSpPr>
          <p:spPr bwMode="auto">
            <a:xfrm>
              <a:off x="5465993" y="540902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水の重みで降りた時に</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流れる</a:t>
              </a:r>
            </a:p>
          </p:txBody>
        </p:sp>
        <p:cxnSp>
          <p:nvCxnSpPr>
            <p:cNvPr id="190" name="直線矢印コネクタ 189">
              <a:extLst>
                <a:ext uri="{FF2B5EF4-FFF2-40B4-BE49-F238E27FC236}">
                  <a16:creationId xmlns:a16="http://schemas.microsoft.com/office/drawing/2014/main" id="{5714EF0B-4D83-FFE8-0356-2648D9BF3145}"/>
                </a:ext>
              </a:extLst>
            </p:cNvPr>
            <p:cNvCxnSpPr/>
            <p:nvPr/>
          </p:nvCxnSpPr>
          <p:spPr bwMode="auto">
            <a:xfrm>
              <a:off x="4655984" y="5409022"/>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204" name="Rectangle 93">
              <a:extLst>
                <a:ext uri="{FF2B5EF4-FFF2-40B4-BE49-F238E27FC236}">
                  <a16:creationId xmlns:a16="http://schemas.microsoft.com/office/drawing/2014/main" id="{668326D5-07F6-01DF-1DCE-4A4C7231FAE0}"/>
                </a:ext>
              </a:extLst>
            </p:cNvPr>
            <p:cNvSpPr>
              <a:spLocks noChangeArrowheads="1"/>
            </p:cNvSpPr>
            <p:nvPr/>
          </p:nvSpPr>
          <p:spPr bwMode="auto">
            <a:xfrm>
              <a:off x="5195989" y="414900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5" name="Rectangle 93">
              <a:extLst>
                <a:ext uri="{FF2B5EF4-FFF2-40B4-BE49-F238E27FC236}">
                  <a16:creationId xmlns:a16="http://schemas.microsoft.com/office/drawing/2014/main" id="{39AEA9D5-B671-34DA-22B9-EB2E1AF63E63}"/>
                </a:ext>
              </a:extLst>
            </p:cNvPr>
            <p:cNvSpPr>
              <a:spLocks noChangeArrowheads="1"/>
            </p:cNvSpPr>
            <p:nvPr/>
          </p:nvSpPr>
          <p:spPr bwMode="auto">
            <a:xfrm>
              <a:off x="3575972" y="504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6" name="Rectangle 93">
              <a:extLst>
                <a:ext uri="{FF2B5EF4-FFF2-40B4-BE49-F238E27FC236}">
                  <a16:creationId xmlns:a16="http://schemas.microsoft.com/office/drawing/2014/main" id="{9BFE4FC4-4342-0787-6C6A-B15710F791A9}"/>
                </a:ext>
              </a:extLst>
            </p:cNvPr>
            <p:cNvSpPr>
              <a:spLocks noChangeArrowheads="1"/>
            </p:cNvSpPr>
            <p:nvPr/>
          </p:nvSpPr>
          <p:spPr bwMode="auto">
            <a:xfrm>
              <a:off x="6546004"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14" name="グループ化 13">
            <a:extLst>
              <a:ext uri="{FF2B5EF4-FFF2-40B4-BE49-F238E27FC236}">
                <a16:creationId xmlns:a16="http://schemas.microsoft.com/office/drawing/2014/main" id="{09DBB5E9-6200-7B6B-EB10-027D50FF9585}"/>
              </a:ext>
            </a:extLst>
          </p:cNvPr>
          <p:cNvGrpSpPr/>
          <p:nvPr/>
        </p:nvGrpSpPr>
        <p:grpSpPr>
          <a:xfrm>
            <a:off x="1055944" y="1593021"/>
            <a:ext cx="2160240" cy="1475975"/>
            <a:chOff x="5292080" y="3203975"/>
            <a:chExt cx="2160240" cy="1475975"/>
          </a:xfrm>
        </p:grpSpPr>
        <p:cxnSp>
          <p:nvCxnSpPr>
            <p:cNvPr id="15" name="直線コネクタ 14">
              <a:extLst>
                <a:ext uri="{FF2B5EF4-FFF2-40B4-BE49-F238E27FC236}">
                  <a16:creationId xmlns:a16="http://schemas.microsoft.com/office/drawing/2014/main" id="{5B573A17-5393-A49C-FA2E-71632BEE4A26}"/>
                </a:ext>
              </a:extLst>
            </p:cNvPr>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96E5CE0C-3FFD-C5AB-CE78-7E0B2EE56209}"/>
                </a:ext>
              </a:extLst>
            </p:cNvPr>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FCE28633-96DE-24F8-DE0E-3B51162D9D36}"/>
                </a:ext>
              </a:extLst>
            </p:cNvPr>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a:extLst>
                <a:ext uri="{FF2B5EF4-FFF2-40B4-BE49-F238E27FC236}">
                  <a16:creationId xmlns:a16="http://schemas.microsoft.com/office/drawing/2014/main" id="{C3C85C1B-7F44-488D-8293-A1DD439A9983}"/>
                </a:ext>
              </a:extLst>
            </p:cNvPr>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56360E89-55FE-33F2-C721-BC06EE8F1D1A}"/>
                </a:ext>
              </a:extLst>
            </p:cNvPr>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A5A0A396-D2C3-E82D-4D69-BA306FBC3311}"/>
                </a:ext>
              </a:extLst>
            </p:cNvPr>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15082E3D-3167-0ED7-A05F-44481B65801A}"/>
                </a:ext>
              </a:extLst>
            </p:cNvPr>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22" name="円/楕円 13">
              <a:extLst>
                <a:ext uri="{FF2B5EF4-FFF2-40B4-BE49-F238E27FC236}">
                  <a16:creationId xmlns:a16="http://schemas.microsoft.com/office/drawing/2014/main" id="{9D1264BB-3BB7-4068-75A5-53D43C0B344D}"/>
                </a:ext>
              </a:extLst>
            </p:cNvPr>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23" name="正方形/長方形 22">
              <a:extLst>
                <a:ext uri="{FF2B5EF4-FFF2-40B4-BE49-F238E27FC236}">
                  <a16:creationId xmlns:a16="http://schemas.microsoft.com/office/drawing/2014/main" id="{75F64B60-72CA-1992-3EE7-8A15814BBCFF}"/>
                </a:ext>
              </a:extLst>
            </p:cNvPr>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sp>
        <p:nvSpPr>
          <p:cNvPr id="24" name="Rectangle 93">
            <a:extLst>
              <a:ext uri="{FF2B5EF4-FFF2-40B4-BE49-F238E27FC236}">
                <a16:creationId xmlns:a16="http://schemas.microsoft.com/office/drawing/2014/main" id="{A982541E-0E2D-FE53-6D12-E3FA1885BA99}"/>
              </a:ext>
            </a:extLst>
          </p:cNvPr>
          <p:cNvSpPr>
            <a:spLocks noChangeArrowheads="1"/>
          </p:cNvSpPr>
          <p:nvPr/>
        </p:nvSpPr>
        <p:spPr bwMode="auto">
          <a:xfrm>
            <a:off x="1775953" y="123301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5" name="Rectangle 93">
            <a:extLst>
              <a:ext uri="{FF2B5EF4-FFF2-40B4-BE49-F238E27FC236}">
                <a16:creationId xmlns:a16="http://schemas.microsoft.com/office/drawing/2014/main" id="{BB28B0F2-0D51-1E4B-7813-787B28A79914}"/>
              </a:ext>
            </a:extLst>
          </p:cNvPr>
          <p:cNvSpPr>
            <a:spLocks noChangeArrowheads="1"/>
          </p:cNvSpPr>
          <p:nvPr/>
        </p:nvSpPr>
        <p:spPr bwMode="auto">
          <a:xfrm>
            <a:off x="695941" y="213302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6" name="Rectangle 93">
            <a:extLst>
              <a:ext uri="{FF2B5EF4-FFF2-40B4-BE49-F238E27FC236}">
                <a16:creationId xmlns:a16="http://schemas.microsoft.com/office/drawing/2014/main" id="{37AEE90B-9290-95EE-6772-2FE08177C8A8}"/>
              </a:ext>
            </a:extLst>
          </p:cNvPr>
          <p:cNvSpPr>
            <a:spLocks noChangeArrowheads="1"/>
          </p:cNvSpPr>
          <p:nvPr/>
        </p:nvSpPr>
        <p:spPr bwMode="auto">
          <a:xfrm>
            <a:off x="2675963" y="213302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cxnSp>
        <p:nvCxnSpPr>
          <p:cNvPr id="72" name="直線コネクタ 71">
            <a:extLst>
              <a:ext uri="{FF2B5EF4-FFF2-40B4-BE49-F238E27FC236}">
                <a16:creationId xmlns:a16="http://schemas.microsoft.com/office/drawing/2014/main" id="{508597D1-6E90-8EFE-203D-FFBE4A5F1905}"/>
              </a:ext>
            </a:extLst>
          </p:cNvPr>
          <p:cNvCxnSpPr>
            <a:cxnSpLocks/>
          </p:cNvCxnSpPr>
          <p:nvPr/>
        </p:nvCxnSpPr>
        <p:spPr bwMode="auto">
          <a:xfrm>
            <a:off x="3935976" y="3338998"/>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3" name="グループ化 2">
            <a:extLst>
              <a:ext uri="{FF2B5EF4-FFF2-40B4-BE49-F238E27FC236}">
                <a16:creationId xmlns:a16="http://schemas.microsoft.com/office/drawing/2014/main" id="{0284423A-28C8-C7FB-41AD-F7F0524A9CF4}"/>
              </a:ext>
            </a:extLst>
          </p:cNvPr>
          <p:cNvGrpSpPr/>
          <p:nvPr/>
        </p:nvGrpSpPr>
        <p:grpSpPr>
          <a:xfrm>
            <a:off x="8256024" y="1178975"/>
            <a:ext cx="2971108" cy="2160023"/>
            <a:chOff x="3935975" y="1178975"/>
            <a:chExt cx="2971108" cy="2160023"/>
          </a:xfrm>
        </p:grpSpPr>
        <p:sp>
          <p:nvSpPr>
            <p:cNvPr id="29" name="正方形/長方形 28">
              <a:extLst>
                <a:ext uri="{FF2B5EF4-FFF2-40B4-BE49-F238E27FC236}">
                  <a16:creationId xmlns:a16="http://schemas.microsoft.com/office/drawing/2014/main" id="{CCDBC65B-1F22-573A-4096-23F0DAFED8A0}"/>
                </a:ext>
              </a:extLst>
            </p:cNvPr>
            <p:cNvSpPr/>
            <p:nvPr/>
          </p:nvSpPr>
          <p:spPr bwMode="auto">
            <a:xfrm>
              <a:off x="5105991" y="162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0" name="直線コネクタ 29">
              <a:extLst>
                <a:ext uri="{FF2B5EF4-FFF2-40B4-BE49-F238E27FC236}">
                  <a16:creationId xmlns:a16="http://schemas.microsoft.com/office/drawing/2014/main" id="{6EA4E734-514B-E30D-7B81-106F95E0B8E5}"/>
                </a:ext>
              </a:extLst>
            </p:cNvPr>
            <p:cNvCxnSpPr>
              <a:cxnSpLocks/>
            </p:cNvCxnSpPr>
            <p:nvPr/>
          </p:nvCxnSpPr>
          <p:spPr bwMode="auto">
            <a:xfrm>
              <a:off x="5105991" y="198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39149881-4C29-C7AE-B479-C94F71A0076A}"/>
                </a:ext>
              </a:extLst>
            </p:cNvPr>
            <p:cNvCxnSpPr>
              <a:cxnSpLocks/>
            </p:cNvCxnSpPr>
            <p:nvPr/>
          </p:nvCxnSpPr>
          <p:spPr bwMode="auto">
            <a:xfrm>
              <a:off x="5105991"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204934BF-E7A2-454F-F9E3-8983EB4AC9D6}"/>
                </a:ext>
              </a:extLst>
            </p:cNvPr>
            <p:cNvCxnSpPr>
              <a:cxnSpLocks/>
            </p:cNvCxnSpPr>
            <p:nvPr/>
          </p:nvCxnSpPr>
          <p:spPr bwMode="auto">
            <a:xfrm>
              <a:off x="5645997"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50E11F97-11A2-11AD-5248-E1382C5B5430}"/>
                </a:ext>
              </a:extLst>
            </p:cNvPr>
            <p:cNvCxnSpPr>
              <a:cxnSpLocks/>
            </p:cNvCxnSpPr>
            <p:nvPr/>
          </p:nvCxnSpPr>
          <p:spPr bwMode="auto">
            <a:xfrm flipV="1">
              <a:off x="5375992" y="198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4" name="正方形/長方形 33">
              <a:extLst>
                <a:ext uri="{FF2B5EF4-FFF2-40B4-BE49-F238E27FC236}">
                  <a16:creationId xmlns:a16="http://schemas.microsoft.com/office/drawing/2014/main" id="{1D695172-EE59-E141-A778-ACDBA3609DCD}"/>
                </a:ext>
              </a:extLst>
            </p:cNvPr>
            <p:cNvSpPr/>
            <p:nvPr/>
          </p:nvSpPr>
          <p:spPr bwMode="auto">
            <a:xfrm rot="5400000">
              <a:off x="4520982" y="1763982"/>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5" name="直線コネクタ 34">
              <a:extLst>
                <a:ext uri="{FF2B5EF4-FFF2-40B4-BE49-F238E27FC236}">
                  <a16:creationId xmlns:a16="http://schemas.microsoft.com/office/drawing/2014/main" id="{F9A70292-A4FC-658D-A83D-915E2E915F59}"/>
                </a:ext>
              </a:extLst>
            </p:cNvPr>
            <p:cNvCxnSpPr>
              <a:cxnSpLocks/>
            </p:cNvCxnSpPr>
            <p:nvPr/>
          </p:nvCxnSpPr>
          <p:spPr bwMode="auto">
            <a:xfrm>
              <a:off x="5465995"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36" name="直線コネクタ 35">
              <a:extLst>
                <a:ext uri="{FF2B5EF4-FFF2-40B4-BE49-F238E27FC236}">
                  <a16:creationId xmlns:a16="http://schemas.microsoft.com/office/drawing/2014/main" id="{A8309FB5-332C-1A4C-33DA-DEBF66D2C165}"/>
                </a:ext>
              </a:extLst>
            </p:cNvPr>
            <p:cNvCxnSpPr>
              <a:cxnSpLocks/>
            </p:cNvCxnSpPr>
            <p:nvPr/>
          </p:nvCxnSpPr>
          <p:spPr bwMode="auto">
            <a:xfrm>
              <a:off x="3935975"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D0D92D0C-26BF-79F9-9033-12836B31A2BB}"/>
                </a:ext>
              </a:extLst>
            </p:cNvPr>
            <p:cNvCxnSpPr>
              <a:cxnSpLocks/>
            </p:cNvCxnSpPr>
            <p:nvPr/>
          </p:nvCxnSpPr>
          <p:spPr bwMode="auto">
            <a:xfrm>
              <a:off x="3935975"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38" name="正方形/長方形 37">
              <a:extLst>
                <a:ext uri="{FF2B5EF4-FFF2-40B4-BE49-F238E27FC236}">
                  <a16:creationId xmlns:a16="http://schemas.microsoft.com/office/drawing/2014/main" id="{6B71B555-458C-80BF-5C7E-76E87CFD4171}"/>
                </a:ext>
              </a:extLst>
            </p:cNvPr>
            <p:cNvSpPr/>
            <p:nvPr/>
          </p:nvSpPr>
          <p:spPr bwMode="auto">
            <a:xfrm rot="5400000">
              <a:off x="5105989" y="234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39" name="グループ化 38">
              <a:extLst>
                <a:ext uri="{FF2B5EF4-FFF2-40B4-BE49-F238E27FC236}">
                  <a16:creationId xmlns:a16="http://schemas.microsoft.com/office/drawing/2014/main" id="{19F7F108-4C9E-C00C-D05D-CF04A5012544}"/>
                </a:ext>
              </a:extLst>
            </p:cNvPr>
            <p:cNvGrpSpPr/>
            <p:nvPr/>
          </p:nvGrpSpPr>
          <p:grpSpPr>
            <a:xfrm>
              <a:off x="5285991" y="2978994"/>
              <a:ext cx="180003" cy="360004"/>
              <a:chOff x="3131985" y="5049018"/>
              <a:chExt cx="180002" cy="437056"/>
            </a:xfrm>
          </p:grpSpPr>
          <p:grpSp>
            <p:nvGrpSpPr>
              <p:cNvPr id="40" name="グループ化 39">
                <a:extLst>
                  <a:ext uri="{FF2B5EF4-FFF2-40B4-BE49-F238E27FC236}">
                    <a16:creationId xmlns:a16="http://schemas.microsoft.com/office/drawing/2014/main" id="{8B975B66-04D8-A97C-A11C-0A952A17D8DC}"/>
                  </a:ext>
                </a:extLst>
              </p:cNvPr>
              <p:cNvGrpSpPr/>
              <p:nvPr/>
            </p:nvGrpSpPr>
            <p:grpSpPr>
              <a:xfrm>
                <a:off x="3131985" y="5139021"/>
                <a:ext cx="180002" cy="254126"/>
                <a:chOff x="3131984" y="5191944"/>
                <a:chExt cx="270003" cy="201854"/>
              </a:xfrm>
            </p:grpSpPr>
            <p:sp>
              <p:nvSpPr>
                <p:cNvPr id="43" name="Freeform 42">
                  <a:extLst>
                    <a:ext uri="{FF2B5EF4-FFF2-40B4-BE49-F238E27FC236}">
                      <a16:creationId xmlns:a16="http://schemas.microsoft.com/office/drawing/2014/main" id="{D274171D-E019-8A77-2A3A-0DE4CFCC505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4" name="Freeform 42">
                  <a:extLst>
                    <a:ext uri="{FF2B5EF4-FFF2-40B4-BE49-F238E27FC236}">
                      <a16:creationId xmlns:a16="http://schemas.microsoft.com/office/drawing/2014/main" id="{FD08D539-A0CF-6A99-91EF-5D471287EBEA}"/>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1257A8B8-3D09-0F81-FFFD-B160AA271408}"/>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510BA4FF-2DC5-8B68-3EFD-EE91C97937D6}"/>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1" name="直線コネクタ 40">
                <a:extLst>
                  <a:ext uri="{FF2B5EF4-FFF2-40B4-BE49-F238E27FC236}">
                    <a16:creationId xmlns:a16="http://schemas.microsoft.com/office/drawing/2014/main" id="{569021C6-74C0-5A87-56BC-A434CCCC07E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F7F66C7B-4D14-6355-806E-83EAFCB4417B}"/>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4" name="正方形/長方形 63">
              <a:extLst>
                <a:ext uri="{FF2B5EF4-FFF2-40B4-BE49-F238E27FC236}">
                  <a16:creationId xmlns:a16="http://schemas.microsoft.com/office/drawing/2014/main" id="{2BCEC655-864E-558D-8966-E389ADDE59A4}"/>
                </a:ext>
              </a:extLst>
            </p:cNvPr>
            <p:cNvSpPr/>
            <p:nvPr/>
          </p:nvSpPr>
          <p:spPr bwMode="auto">
            <a:xfrm>
              <a:off x="5825997"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2400" dirty="0">
                  <a:solidFill>
                    <a:schemeClr val="tx1">
                      <a:lumMod val="75000"/>
                      <a:lumOff val="25000"/>
                    </a:schemeClr>
                  </a:solidFill>
                </a:rPr>
                <a:t>P</a:t>
              </a:r>
              <a:r>
                <a:rPr lang="ja-JP" altLang="en-US" sz="2400" dirty="0">
                  <a:solidFill>
                    <a:schemeClr val="tx1">
                      <a:lumMod val="75000"/>
                      <a:lumOff val="25000"/>
                    </a:schemeClr>
                  </a:solidFill>
                </a:rPr>
                <a:t>タンク（溜）</a:t>
              </a:r>
            </a:p>
          </p:txBody>
        </p:sp>
        <p:sp>
          <p:nvSpPr>
            <p:cNvPr id="65" name="正方形/長方形 64">
              <a:extLst>
                <a:ext uri="{FF2B5EF4-FFF2-40B4-BE49-F238E27FC236}">
                  <a16:creationId xmlns:a16="http://schemas.microsoft.com/office/drawing/2014/main" id="{A2F3BFBF-0935-4BB5-FC3B-3A6C55671A47}"/>
                </a:ext>
              </a:extLst>
            </p:cNvPr>
            <p:cNvSpPr/>
            <p:nvPr/>
          </p:nvSpPr>
          <p:spPr bwMode="auto">
            <a:xfrm rot="5400000" flipH="1">
              <a:off x="5330989" y="284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6" name="直線コネクタ 65">
              <a:extLst>
                <a:ext uri="{FF2B5EF4-FFF2-40B4-BE49-F238E27FC236}">
                  <a16:creationId xmlns:a16="http://schemas.microsoft.com/office/drawing/2014/main" id="{EAF9F286-4804-5F59-4418-F09F07853650}"/>
                </a:ext>
              </a:extLst>
            </p:cNvPr>
            <p:cNvCxnSpPr>
              <a:cxnSpLocks/>
            </p:cNvCxnSpPr>
            <p:nvPr/>
          </p:nvCxnSpPr>
          <p:spPr bwMode="auto">
            <a:xfrm flipH="1">
              <a:off x="5465993" y="270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67" name="直線コネクタ 66">
              <a:extLst>
                <a:ext uri="{FF2B5EF4-FFF2-40B4-BE49-F238E27FC236}">
                  <a16:creationId xmlns:a16="http://schemas.microsoft.com/office/drawing/2014/main" id="{F35D23E9-DD9D-677C-8F4E-103CBBDB0419}"/>
                </a:ext>
              </a:extLst>
            </p:cNvPr>
            <p:cNvCxnSpPr>
              <a:cxnSpLocks/>
            </p:cNvCxnSpPr>
            <p:nvPr/>
          </p:nvCxnSpPr>
          <p:spPr bwMode="auto">
            <a:xfrm flipH="1">
              <a:off x="5285992" y="2708991"/>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73" name="正方形/長方形 72">
              <a:extLst>
                <a:ext uri="{FF2B5EF4-FFF2-40B4-BE49-F238E27FC236}">
                  <a16:creationId xmlns:a16="http://schemas.microsoft.com/office/drawing/2014/main" id="{A1BB13E8-8E00-79C0-CCAB-B5CE8B8BEF68}"/>
                </a:ext>
              </a:extLst>
            </p:cNvPr>
            <p:cNvSpPr/>
            <p:nvPr/>
          </p:nvSpPr>
          <p:spPr bwMode="auto">
            <a:xfrm>
              <a:off x="5465993"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栓が水の重みで</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降りて水が流れない</a:t>
              </a:r>
            </a:p>
          </p:txBody>
        </p:sp>
        <p:sp>
          <p:nvSpPr>
            <p:cNvPr id="76" name="Rectangle 93">
              <a:extLst>
                <a:ext uri="{FF2B5EF4-FFF2-40B4-BE49-F238E27FC236}">
                  <a16:creationId xmlns:a16="http://schemas.microsoft.com/office/drawing/2014/main" id="{B3A3BB14-76F5-CE51-211D-BD14C6BE3425}"/>
                </a:ext>
              </a:extLst>
            </p:cNvPr>
            <p:cNvSpPr>
              <a:spLocks noChangeArrowheads="1"/>
            </p:cNvSpPr>
            <p:nvPr/>
          </p:nvSpPr>
          <p:spPr bwMode="auto">
            <a:xfrm>
              <a:off x="5195989" y="117897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77" name="Rectangle 93">
              <a:extLst>
                <a:ext uri="{FF2B5EF4-FFF2-40B4-BE49-F238E27FC236}">
                  <a16:creationId xmlns:a16="http://schemas.microsoft.com/office/drawing/2014/main" id="{B77C8F52-FA12-0C78-EE54-984BD04B07C6}"/>
                </a:ext>
              </a:extLst>
            </p:cNvPr>
            <p:cNvSpPr>
              <a:spLocks noChangeArrowheads="1"/>
            </p:cNvSpPr>
            <p:nvPr/>
          </p:nvSpPr>
          <p:spPr bwMode="auto">
            <a:xfrm>
              <a:off x="3935975"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78" name="Rectangle 93">
              <a:extLst>
                <a:ext uri="{FF2B5EF4-FFF2-40B4-BE49-F238E27FC236}">
                  <a16:creationId xmlns:a16="http://schemas.microsoft.com/office/drawing/2014/main" id="{D2D51955-870A-2F98-7580-72F9682F92F8}"/>
                </a:ext>
              </a:extLst>
            </p:cNvPr>
            <p:cNvSpPr>
              <a:spLocks noChangeArrowheads="1"/>
            </p:cNvSpPr>
            <p:nvPr/>
          </p:nvSpPr>
          <p:spPr bwMode="auto">
            <a:xfrm>
              <a:off x="6546004"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4" name="グループ化 3">
            <a:extLst>
              <a:ext uri="{FF2B5EF4-FFF2-40B4-BE49-F238E27FC236}">
                <a16:creationId xmlns:a16="http://schemas.microsoft.com/office/drawing/2014/main" id="{7F1E086E-E19B-0832-098C-75FAC83456B7}"/>
              </a:ext>
            </a:extLst>
          </p:cNvPr>
          <p:cNvGrpSpPr/>
          <p:nvPr/>
        </p:nvGrpSpPr>
        <p:grpSpPr>
          <a:xfrm>
            <a:off x="3935976" y="908972"/>
            <a:ext cx="3240037" cy="2430026"/>
            <a:chOff x="8256023" y="908972"/>
            <a:chExt cx="3240037" cy="2430026"/>
          </a:xfrm>
        </p:grpSpPr>
        <p:cxnSp>
          <p:nvCxnSpPr>
            <p:cNvPr id="47" name="直線コネクタ 46">
              <a:extLst>
                <a:ext uri="{FF2B5EF4-FFF2-40B4-BE49-F238E27FC236}">
                  <a16:creationId xmlns:a16="http://schemas.microsoft.com/office/drawing/2014/main" id="{B4427312-AB51-8750-1A7D-939EA618C87D}"/>
                </a:ext>
              </a:extLst>
            </p:cNvPr>
            <p:cNvCxnSpPr>
              <a:cxnSpLocks/>
            </p:cNvCxnSpPr>
            <p:nvPr/>
          </p:nvCxnSpPr>
          <p:spPr bwMode="auto">
            <a:xfrm>
              <a:off x="9426037" y="162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48" name="直線コネクタ 47">
              <a:extLst>
                <a:ext uri="{FF2B5EF4-FFF2-40B4-BE49-F238E27FC236}">
                  <a16:creationId xmlns:a16="http://schemas.microsoft.com/office/drawing/2014/main" id="{6142E68E-286A-07DA-6F0F-D4FD97E30B58}"/>
                </a:ext>
              </a:extLst>
            </p:cNvPr>
            <p:cNvCxnSpPr>
              <a:cxnSpLocks/>
            </p:cNvCxnSpPr>
            <p:nvPr/>
          </p:nvCxnSpPr>
          <p:spPr bwMode="auto">
            <a:xfrm>
              <a:off x="9426037"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9" name="直線コネクタ 48">
              <a:extLst>
                <a:ext uri="{FF2B5EF4-FFF2-40B4-BE49-F238E27FC236}">
                  <a16:creationId xmlns:a16="http://schemas.microsoft.com/office/drawing/2014/main" id="{AA4063C3-0B9E-BF89-79E4-460025E13B95}"/>
                </a:ext>
              </a:extLst>
            </p:cNvPr>
            <p:cNvCxnSpPr>
              <a:cxnSpLocks/>
            </p:cNvCxnSpPr>
            <p:nvPr/>
          </p:nvCxnSpPr>
          <p:spPr bwMode="auto">
            <a:xfrm>
              <a:off x="9966043"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50" name="直線コネクタ 49">
              <a:extLst>
                <a:ext uri="{FF2B5EF4-FFF2-40B4-BE49-F238E27FC236}">
                  <a16:creationId xmlns:a16="http://schemas.microsoft.com/office/drawing/2014/main" id="{0A5CE312-7539-D861-960F-959BCFEAF276}"/>
                </a:ext>
              </a:extLst>
            </p:cNvPr>
            <p:cNvCxnSpPr>
              <a:cxnSpLocks/>
            </p:cNvCxnSpPr>
            <p:nvPr/>
          </p:nvCxnSpPr>
          <p:spPr bwMode="auto">
            <a:xfrm flipV="1">
              <a:off x="9696038" y="162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51" name="正方形/長方形 50">
              <a:extLst>
                <a:ext uri="{FF2B5EF4-FFF2-40B4-BE49-F238E27FC236}">
                  <a16:creationId xmlns:a16="http://schemas.microsoft.com/office/drawing/2014/main" id="{13C5594C-4561-DAE6-3E78-9FA0C83A1E94}"/>
                </a:ext>
              </a:extLst>
            </p:cNvPr>
            <p:cNvSpPr/>
            <p:nvPr/>
          </p:nvSpPr>
          <p:spPr bwMode="auto">
            <a:xfrm rot="5400000">
              <a:off x="9606039" y="998973"/>
              <a:ext cx="180002" cy="2880033"/>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2" name="直線コネクタ 51">
              <a:extLst>
                <a:ext uri="{FF2B5EF4-FFF2-40B4-BE49-F238E27FC236}">
                  <a16:creationId xmlns:a16="http://schemas.microsoft.com/office/drawing/2014/main" id="{9B71AC23-6A40-0761-8550-426A37798978}"/>
                </a:ext>
              </a:extLst>
            </p:cNvPr>
            <p:cNvCxnSpPr>
              <a:cxnSpLocks/>
            </p:cNvCxnSpPr>
            <p:nvPr/>
          </p:nvCxnSpPr>
          <p:spPr bwMode="auto">
            <a:xfrm>
              <a:off x="9786043"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95BC0AC0-4AEE-DD39-AAC3-87DB5952FD1D}"/>
                </a:ext>
              </a:extLst>
            </p:cNvPr>
            <p:cNvCxnSpPr>
              <a:cxnSpLocks/>
            </p:cNvCxnSpPr>
            <p:nvPr/>
          </p:nvCxnSpPr>
          <p:spPr bwMode="auto">
            <a:xfrm>
              <a:off x="8256023"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137FB84C-F465-8AC0-8721-13715BE74039}"/>
                </a:ext>
              </a:extLst>
            </p:cNvPr>
            <p:cNvCxnSpPr>
              <a:cxnSpLocks/>
            </p:cNvCxnSpPr>
            <p:nvPr/>
          </p:nvCxnSpPr>
          <p:spPr bwMode="auto">
            <a:xfrm>
              <a:off x="8256023"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55" name="正方形/長方形 54">
              <a:extLst>
                <a:ext uri="{FF2B5EF4-FFF2-40B4-BE49-F238E27FC236}">
                  <a16:creationId xmlns:a16="http://schemas.microsoft.com/office/drawing/2014/main" id="{9A4A10FC-6B0A-856A-BA8D-0E09857C50F7}"/>
                </a:ext>
              </a:extLst>
            </p:cNvPr>
            <p:cNvSpPr/>
            <p:nvPr/>
          </p:nvSpPr>
          <p:spPr bwMode="auto">
            <a:xfrm rot="5400000">
              <a:off x="9426035" y="198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56" name="グループ化 55">
              <a:extLst>
                <a:ext uri="{FF2B5EF4-FFF2-40B4-BE49-F238E27FC236}">
                  <a16:creationId xmlns:a16="http://schemas.microsoft.com/office/drawing/2014/main" id="{C24388D3-3916-A19B-48D0-CD6B900F425A}"/>
                </a:ext>
              </a:extLst>
            </p:cNvPr>
            <p:cNvGrpSpPr/>
            <p:nvPr/>
          </p:nvGrpSpPr>
          <p:grpSpPr>
            <a:xfrm>
              <a:off x="9606039" y="2618989"/>
              <a:ext cx="180003" cy="720009"/>
              <a:chOff x="3131985" y="5049018"/>
              <a:chExt cx="180002" cy="437056"/>
            </a:xfrm>
          </p:grpSpPr>
          <p:grpSp>
            <p:nvGrpSpPr>
              <p:cNvPr id="57" name="グループ化 56">
                <a:extLst>
                  <a:ext uri="{FF2B5EF4-FFF2-40B4-BE49-F238E27FC236}">
                    <a16:creationId xmlns:a16="http://schemas.microsoft.com/office/drawing/2014/main" id="{F1E36575-69DB-9358-8BCD-CF006E9E2F1D}"/>
                  </a:ext>
                </a:extLst>
              </p:cNvPr>
              <p:cNvGrpSpPr/>
              <p:nvPr/>
            </p:nvGrpSpPr>
            <p:grpSpPr>
              <a:xfrm>
                <a:off x="3131985" y="5139021"/>
                <a:ext cx="180002" cy="254126"/>
                <a:chOff x="3131984" y="5191944"/>
                <a:chExt cx="270003" cy="201854"/>
              </a:xfrm>
            </p:grpSpPr>
            <p:sp>
              <p:nvSpPr>
                <p:cNvPr id="60" name="Freeform 42">
                  <a:extLst>
                    <a:ext uri="{FF2B5EF4-FFF2-40B4-BE49-F238E27FC236}">
                      <a16:creationId xmlns:a16="http://schemas.microsoft.com/office/drawing/2014/main" id="{DF69E78E-CC48-047D-A688-5391DB41F15F}"/>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1" name="Freeform 42">
                  <a:extLst>
                    <a:ext uri="{FF2B5EF4-FFF2-40B4-BE49-F238E27FC236}">
                      <a16:creationId xmlns:a16="http://schemas.microsoft.com/office/drawing/2014/main" id="{05CF6532-7872-E168-688E-C43A323061FE}"/>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2" name="Freeform 42">
                  <a:extLst>
                    <a:ext uri="{FF2B5EF4-FFF2-40B4-BE49-F238E27FC236}">
                      <a16:creationId xmlns:a16="http://schemas.microsoft.com/office/drawing/2014/main" id="{0B9403B0-4429-5FC4-8437-1D25375D755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3" name="Freeform 42">
                  <a:extLst>
                    <a:ext uri="{FF2B5EF4-FFF2-40B4-BE49-F238E27FC236}">
                      <a16:creationId xmlns:a16="http://schemas.microsoft.com/office/drawing/2014/main" id="{7357ACFE-D25B-AACD-D1DA-5AD585C405F5}"/>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8" name="直線コネクタ 57">
                <a:extLst>
                  <a:ext uri="{FF2B5EF4-FFF2-40B4-BE49-F238E27FC236}">
                    <a16:creationId xmlns:a16="http://schemas.microsoft.com/office/drawing/2014/main" id="{42473E23-7BFC-6391-7275-1EAB02173C0B}"/>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1191E2FB-7917-5E6E-9E77-04A799EAB434}"/>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8" name="正方形/長方形 67">
              <a:extLst>
                <a:ext uri="{FF2B5EF4-FFF2-40B4-BE49-F238E27FC236}">
                  <a16:creationId xmlns:a16="http://schemas.microsoft.com/office/drawing/2014/main" id="{1E4C18DF-3500-6D90-A479-0C25E5CBAA67}"/>
                </a:ext>
              </a:extLst>
            </p:cNvPr>
            <p:cNvSpPr/>
            <p:nvPr/>
          </p:nvSpPr>
          <p:spPr bwMode="auto">
            <a:xfrm rot="5400000" flipH="1">
              <a:off x="9651037" y="248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9" name="直線コネクタ 68">
              <a:extLst>
                <a:ext uri="{FF2B5EF4-FFF2-40B4-BE49-F238E27FC236}">
                  <a16:creationId xmlns:a16="http://schemas.microsoft.com/office/drawing/2014/main" id="{4CDA44F6-CAC1-40E1-424A-C80E0BCF905C}"/>
                </a:ext>
              </a:extLst>
            </p:cNvPr>
            <p:cNvCxnSpPr>
              <a:cxnSpLocks/>
            </p:cNvCxnSpPr>
            <p:nvPr/>
          </p:nvCxnSpPr>
          <p:spPr bwMode="auto">
            <a:xfrm flipH="1">
              <a:off x="9786041" y="234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70" name="直線コネクタ 69">
              <a:extLst>
                <a:ext uri="{FF2B5EF4-FFF2-40B4-BE49-F238E27FC236}">
                  <a16:creationId xmlns:a16="http://schemas.microsoft.com/office/drawing/2014/main" id="{7BC06B7C-43DD-4159-40C1-94B9DDD96722}"/>
                </a:ext>
              </a:extLst>
            </p:cNvPr>
            <p:cNvCxnSpPr>
              <a:cxnSpLocks/>
            </p:cNvCxnSpPr>
            <p:nvPr/>
          </p:nvCxnSpPr>
          <p:spPr bwMode="auto">
            <a:xfrm flipH="1">
              <a:off x="9606040" y="2348986"/>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71" name="正方形/長方形 70">
              <a:extLst>
                <a:ext uri="{FF2B5EF4-FFF2-40B4-BE49-F238E27FC236}">
                  <a16:creationId xmlns:a16="http://schemas.microsoft.com/office/drawing/2014/main" id="{31C6E881-D005-E95A-06AC-888B1474BFF2}"/>
                </a:ext>
              </a:extLst>
            </p:cNvPr>
            <p:cNvSpPr/>
            <p:nvPr/>
          </p:nvSpPr>
          <p:spPr bwMode="auto">
            <a:xfrm>
              <a:off x="10776052" y="126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75000"/>
                      <a:lumOff val="25000"/>
                    </a:schemeClr>
                  </a:solidFill>
                </a:rPr>
                <a:t>P</a:t>
              </a:r>
              <a:r>
                <a:rPr lang="ja-JP" altLang="en-US" sz="2400" dirty="0">
                  <a:solidFill>
                    <a:schemeClr val="tx1">
                      <a:lumMod val="75000"/>
                      <a:lumOff val="25000"/>
                    </a:schemeClr>
                  </a:solidFill>
                </a:rPr>
                <a:t>タンク（空）</a:t>
              </a:r>
            </a:p>
          </p:txBody>
        </p:sp>
        <p:sp>
          <p:nvSpPr>
            <p:cNvPr id="74" name="正方形/長方形 73">
              <a:extLst>
                <a:ext uri="{FF2B5EF4-FFF2-40B4-BE49-F238E27FC236}">
                  <a16:creationId xmlns:a16="http://schemas.microsoft.com/office/drawing/2014/main" id="{153E5256-8545-D483-425A-C91453602599}"/>
                </a:ext>
              </a:extLst>
            </p:cNvPr>
            <p:cNvSpPr/>
            <p:nvPr/>
          </p:nvSpPr>
          <p:spPr bwMode="auto">
            <a:xfrm>
              <a:off x="9786041"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水が流れる</a:t>
              </a:r>
            </a:p>
          </p:txBody>
        </p:sp>
        <p:cxnSp>
          <p:nvCxnSpPr>
            <p:cNvPr id="75" name="直線矢印コネクタ 74">
              <a:extLst>
                <a:ext uri="{FF2B5EF4-FFF2-40B4-BE49-F238E27FC236}">
                  <a16:creationId xmlns:a16="http://schemas.microsoft.com/office/drawing/2014/main" id="{58F40963-27F9-BB97-0512-34D17D804B3F}"/>
                </a:ext>
              </a:extLst>
            </p:cNvPr>
            <p:cNvCxnSpPr/>
            <p:nvPr/>
          </p:nvCxnSpPr>
          <p:spPr bwMode="auto">
            <a:xfrm>
              <a:off x="8976032" y="2438989"/>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79" name="Rectangle 93">
              <a:extLst>
                <a:ext uri="{FF2B5EF4-FFF2-40B4-BE49-F238E27FC236}">
                  <a16:creationId xmlns:a16="http://schemas.microsoft.com/office/drawing/2014/main" id="{4E7084FF-CAA4-0921-69D3-D281F5B66A2C}"/>
                </a:ext>
              </a:extLst>
            </p:cNvPr>
            <p:cNvSpPr>
              <a:spLocks noChangeArrowheads="1"/>
            </p:cNvSpPr>
            <p:nvPr/>
          </p:nvSpPr>
          <p:spPr bwMode="auto">
            <a:xfrm>
              <a:off x="9516037"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80" name="Rectangle 93">
              <a:extLst>
                <a:ext uri="{FF2B5EF4-FFF2-40B4-BE49-F238E27FC236}">
                  <a16:creationId xmlns:a16="http://schemas.microsoft.com/office/drawing/2014/main" id="{B252EA05-6E77-9412-9CDC-BCB9BCFE5536}"/>
                </a:ext>
              </a:extLst>
            </p:cNvPr>
            <p:cNvSpPr>
              <a:spLocks noChangeArrowheads="1"/>
            </p:cNvSpPr>
            <p:nvPr/>
          </p:nvSpPr>
          <p:spPr bwMode="auto">
            <a:xfrm>
              <a:off x="8256023"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81" name="Rectangle 93">
              <a:extLst>
                <a:ext uri="{FF2B5EF4-FFF2-40B4-BE49-F238E27FC236}">
                  <a16:creationId xmlns:a16="http://schemas.microsoft.com/office/drawing/2014/main" id="{658E5531-ECEA-875C-E199-897E23BB9E9F}"/>
                </a:ext>
              </a:extLst>
            </p:cNvPr>
            <p:cNvSpPr>
              <a:spLocks noChangeArrowheads="1"/>
            </p:cNvSpPr>
            <p:nvPr/>
          </p:nvSpPr>
          <p:spPr bwMode="auto">
            <a:xfrm>
              <a:off x="10866052"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82" name="グループ化 81">
            <a:extLst>
              <a:ext uri="{FF2B5EF4-FFF2-40B4-BE49-F238E27FC236}">
                <a16:creationId xmlns:a16="http://schemas.microsoft.com/office/drawing/2014/main" id="{FE1C0997-885A-EC24-8B7B-1426376A56D7}"/>
              </a:ext>
            </a:extLst>
          </p:cNvPr>
          <p:cNvGrpSpPr/>
          <p:nvPr/>
        </p:nvGrpSpPr>
        <p:grpSpPr>
          <a:xfrm>
            <a:off x="1055944" y="4551516"/>
            <a:ext cx="2160240" cy="1487513"/>
            <a:chOff x="5292080" y="5004175"/>
            <a:chExt cx="2160240" cy="1487513"/>
          </a:xfrm>
        </p:grpSpPr>
        <p:cxnSp>
          <p:nvCxnSpPr>
            <p:cNvPr id="83" name="直線コネクタ 82">
              <a:extLst>
                <a:ext uri="{FF2B5EF4-FFF2-40B4-BE49-F238E27FC236}">
                  <a16:creationId xmlns:a16="http://schemas.microsoft.com/office/drawing/2014/main" id="{6639F0B2-FF13-C282-62A3-35B35A581A13}"/>
                </a:ext>
              </a:extLst>
            </p:cNvPr>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E013385F-2469-BFE1-72D2-AAA6B1D8CAB2}"/>
                </a:ext>
              </a:extLst>
            </p:cNvPr>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5B1AD636-0C6D-4256-1E78-D1C3CA5038ED}"/>
                </a:ext>
              </a:extLst>
            </p:cNvPr>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17704DB8-F9FC-44B5-E81E-C3C189BC9F22}"/>
                </a:ext>
              </a:extLst>
            </p:cNvPr>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74FDF209-1E4D-A1E8-32B5-CAABD19B5F82}"/>
                </a:ext>
              </a:extLst>
            </p:cNvPr>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88" name="直線コネクタ 87">
              <a:extLst>
                <a:ext uri="{FF2B5EF4-FFF2-40B4-BE49-F238E27FC236}">
                  <a16:creationId xmlns:a16="http://schemas.microsoft.com/office/drawing/2014/main" id="{F850F952-98E2-4265-C1E8-64DC3D019227}"/>
                </a:ext>
              </a:extLst>
            </p:cNvPr>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3A18A8CB-EA4C-0007-CF34-07FF92268101}"/>
                </a:ext>
              </a:extLst>
            </p:cNvPr>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90" name="正方形/長方形 89">
              <a:extLst>
                <a:ext uri="{FF2B5EF4-FFF2-40B4-BE49-F238E27FC236}">
                  <a16:creationId xmlns:a16="http://schemas.microsoft.com/office/drawing/2014/main" id="{1BA27E86-F23B-98DD-C6B1-F22E2D55086D}"/>
                </a:ext>
              </a:extLst>
            </p:cNvPr>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91" name="Rectangle 93">
            <a:extLst>
              <a:ext uri="{FF2B5EF4-FFF2-40B4-BE49-F238E27FC236}">
                <a16:creationId xmlns:a16="http://schemas.microsoft.com/office/drawing/2014/main" id="{C4F683AB-3CC8-5D21-AC53-4BA12CFE8D55}"/>
              </a:ext>
            </a:extLst>
          </p:cNvPr>
          <p:cNvSpPr>
            <a:spLocks noChangeArrowheads="1"/>
          </p:cNvSpPr>
          <p:nvPr/>
        </p:nvSpPr>
        <p:spPr bwMode="auto">
          <a:xfrm>
            <a:off x="1775953" y="41915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95" name="Rectangle 93">
            <a:extLst>
              <a:ext uri="{FF2B5EF4-FFF2-40B4-BE49-F238E27FC236}">
                <a16:creationId xmlns:a16="http://schemas.microsoft.com/office/drawing/2014/main" id="{8C0AC077-4BB5-9349-ACBF-23861F878CA4}"/>
              </a:ext>
            </a:extLst>
          </p:cNvPr>
          <p:cNvSpPr>
            <a:spLocks noChangeArrowheads="1"/>
          </p:cNvSpPr>
          <p:nvPr/>
        </p:nvSpPr>
        <p:spPr bwMode="auto">
          <a:xfrm>
            <a:off x="695941" y="509152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97" name="Rectangle 93">
            <a:extLst>
              <a:ext uri="{FF2B5EF4-FFF2-40B4-BE49-F238E27FC236}">
                <a16:creationId xmlns:a16="http://schemas.microsoft.com/office/drawing/2014/main" id="{0567ED03-D045-76F1-FDA0-7DE9AEF94DC8}"/>
              </a:ext>
            </a:extLst>
          </p:cNvPr>
          <p:cNvSpPr>
            <a:spLocks noChangeArrowheads="1"/>
          </p:cNvSpPr>
          <p:nvPr/>
        </p:nvSpPr>
        <p:spPr bwMode="auto">
          <a:xfrm>
            <a:off x="2675963" y="509152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5" name="グループ化 4">
            <a:extLst>
              <a:ext uri="{FF2B5EF4-FFF2-40B4-BE49-F238E27FC236}">
                <a16:creationId xmlns:a16="http://schemas.microsoft.com/office/drawing/2014/main" id="{04063C4D-F5A9-3EA7-C9EA-84B3DE5392A9}"/>
              </a:ext>
            </a:extLst>
          </p:cNvPr>
          <p:cNvGrpSpPr/>
          <p:nvPr/>
        </p:nvGrpSpPr>
        <p:grpSpPr>
          <a:xfrm>
            <a:off x="3935976" y="3879005"/>
            <a:ext cx="3240037" cy="2430026"/>
            <a:chOff x="8256023" y="3879005"/>
            <a:chExt cx="3240037" cy="2430026"/>
          </a:xfrm>
        </p:grpSpPr>
        <p:cxnSp>
          <p:nvCxnSpPr>
            <p:cNvPr id="138" name="直線コネクタ 137">
              <a:extLst>
                <a:ext uri="{FF2B5EF4-FFF2-40B4-BE49-F238E27FC236}">
                  <a16:creationId xmlns:a16="http://schemas.microsoft.com/office/drawing/2014/main" id="{3D1BDB27-E911-73E0-10A0-25A7BA915B3A}"/>
                </a:ext>
              </a:extLst>
            </p:cNvPr>
            <p:cNvCxnSpPr>
              <a:cxnSpLocks/>
            </p:cNvCxnSpPr>
            <p:nvPr/>
          </p:nvCxnSpPr>
          <p:spPr bwMode="auto">
            <a:xfrm>
              <a:off x="9426037" y="4599013"/>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9A89B82-A0B5-8A2E-EB7B-F84A7D1715CE}"/>
                </a:ext>
              </a:extLst>
            </p:cNvPr>
            <p:cNvCxnSpPr>
              <a:cxnSpLocks/>
            </p:cNvCxnSpPr>
            <p:nvPr/>
          </p:nvCxnSpPr>
          <p:spPr bwMode="auto">
            <a:xfrm>
              <a:off x="9426037" y="4149007"/>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06F0BF4F-4BE9-2CDB-9C18-548EAB7730D7}"/>
                </a:ext>
              </a:extLst>
            </p:cNvPr>
            <p:cNvCxnSpPr>
              <a:cxnSpLocks/>
            </p:cNvCxnSpPr>
            <p:nvPr/>
          </p:nvCxnSpPr>
          <p:spPr bwMode="auto">
            <a:xfrm>
              <a:off x="9966043" y="4149007"/>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2A711A06-F65D-0F7A-06EF-E9ED85649217}"/>
                </a:ext>
              </a:extLst>
            </p:cNvPr>
            <p:cNvCxnSpPr>
              <a:cxnSpLocks/>
            </p:cNvCxnSpPr>
            <p:nvPr/>
          </p:nvCxnSpPr>
          <p:spPr bwMode="auto">
            <a:xfrm flipV="1">
              <a:off x="9696038" y="4599013"/>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42" name="正方形/長方形 141">
              <a:extLst>
                <a:ext uri="{FF2B5EF4-FFF2-40B4-BE49-F238E27FC236}">
                  <a16:creationId xmlns:a16="http://schemas.microsoft.com/office/drawing/2014/main" id="{E1AF8E8E-DFBC-A1C8-E91C-F5BD4398029D}"/>
                </a:ext>
              </a:extLst>
            </p:cNvPr>
            <p:cNvSpPr/>
            <p:nvPr/>
          </p:nvSpPr>
          <p:spPr bwMode="auto">
            <a:xfrm rot="5400000">
              <a:off x="8841030" y="4734015"/>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3" name="直線コネクタ 142">
              <a:extLst>
                <a:ext uri="{FF2B5EF4-FFF2-40B4-BE49-F238E27FC236}">
                  <a16:creationId xmlns:a16="http://schemas.microsoft.com/office/drawing/2014/main" id="{9F3EA5DE-21C2-B9FF-CE51-9D9637C5C226}"/>
                </a:ext>
              </a:extLst>
            </p:cNvPr>
            <p:cNvCxnSpPr>
              <a:cxnSpLocks/>
            </p:cNvCxnSpPr>
            <p:nvPr/>
          </p:nvCxnSpPr>
          <p:spPr bwMode="auto">
            <a:xfrm>
              <a:off x="9786043" y="531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32CC6C35-DDB5-893A-9560-35D4B6178DA2}"/>
                </a:ext>
              </a:extLst>
            </p:cNvPr>
            <p:cNvCxnSpPr>
              <a:cxnSpLocks/>
            </p:cNvCxnSpPr>
            <p:nvPr/>
          </p:nvCxnSpPr>
          <p:spPr bwMode="auto">
            <a:xfrm>
              <a:off x="8256023" y="5499023"/>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884578CE-614B-D8D9-CB42-EA777C006AEC}"/>
                </a:ext>
              </a:extLst>
            </p:cNvPr>
            <p:cNvCxnSpPr>
              <a:cxnSpLocks/>
            </p:cNvCxnSpPr>
            <p:nvPr/>
          </p:nvCxnSpPr>
          <p:spPr bwMode="auto">
            <a:xfrm>
              <a:off x="8256023" y="5319021"/>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46" name="正方形/長方形 145">
              <a:extLst>
                <a:ext uri="{FF2B5EF4-FFF2-40B4-BE49-F238E27FC236}">
                  <a16:creationId xmlns:a16="http://schemas.microsoft.com/office/drawing/2014/main" id="{0836A2F0-B7EC-6471-BAFB-4930CF9C58E1}"/>
                </a:ext>
              </a:extLst>
            </p:cNvPr>
            <p:cNvSpPr/>
            <p:nvPr/>
          </p:nvSpPr>
          <p:spPr bwMode="auto">
            <a:xfrm rot="5400000">
              <a:off x="9516036" y="5229022"/>
              <a:ext cx="36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7" name="グループ化 146">
              <a:extLst>
                <a:ext uri="{FF2B5EF4-FFF2-40B4-BE49-F238E27FC236}">
                  <a16:creationId xmlns:a16="http://schemas.microsoft.com/office/drawing/2014/main" id="{4DB04772-9190-6B3F-6B84-5293D9EB77C2}"/>
                </a:ext>
              </a:extLst>
            </p:cNvPr>
            <p:cNvGrpSpPr/>
            <p:nvPr/>
          </p:nvGrpSpPr>
          <p:grpSpPr>
            <a:xfrm>
              <a:off x="9606039" y="5589022"/>
              <a:ext cx="180003" cy="720009"/>
              <a:chOff x="3131985" y="5049018"/>
              <a:chExt cx="180002" cy="437056"/>
            </a:xfrm>
          </p:grpSpPr>
          <p:grpSp>
            <p:nvGrpSpPr>
              <p:cNvPr id="148" name="グループ化 147">
                <a:extLst>
                  <a:ext uri="{FF2B5EF4-FFF2-40B4-BE49-F238E27FC236}">
                    <a16:creationId xmlns:a16="http://schemas.microsoft.com/office/drawing/2014/main" id="{8C5923D4-6EDC-5946-AAD3-73B6D9B2C1D4}"/>
                  </a:ext>
                </a:extLst>
              </p:cNvPr>
              <p:cNvGrpSpPr/>
              <p:nvPr/>
            </p:nvGrpSpPr>
            <p:grpSpPr>
              <a:xfrm>
                <a:off x="3131985" y="5139021"/>
                <a:ext cx="180002" cy="254126"/>
                <a:chOff x="3131984" y="5191944"/>
                <a:chExt cx="270003" cy="201854"/>
              </a:xfrm>
            </p:grpSpPr>
            <p:sp>
              <p:nvSpPr>
                <p:cNvPr id="151" name="Freeform 42">
                  <a:extLst>
                    <a:ext uri="{FF2B5EF4-FFF2-40B4-BE49-F238E27FC236}">
                      <a16:creationId xmlns:a16="http://schemas.microsoft.com/office/drawing/2014/main" id="{7172C465-3584-FBD2-B44F-142E95F20F0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2" name="Freeform 42">
                  <a:extLst>
                    <a:ext uri="{FF2B5EF4-FFF2-40B4-BE49-F238E27FC236}">
                      <a16:creationId xmlns:a16="http://schemas.microsoft.com/office/drawing/2014/main" id="{452CBD54-1EBF-0643-8FD3-182145594D3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3" name="Freeform 42">
                  <a:extLst>
                    <a:ext uri="{FF2B5EF4-FFF2-40B4-BE49-F238E27FC236}">
                      <a16:creationId xmlns:a16="http://schemas.microsoft.com/office/drawing/2014/main" id="{2A1C9113-94B4-70FE-E828-85F9AAA57101}"/>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4" name="Freeform 42">
                  <a:extLst>
                    <a:ext uri="{FF2B5EF4-FFF2-40B4-BE49-F238E27FC236}">
                      <a16:creationId xmlns:a16="http://schemas.microsoft.com/office/drawing/2014/main" id="{31597B0A-42BD-BD2B-6AF6-420A0027A14F}"/>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9" name="直線コネクタ 148">
                <a:extLst>
                  <a:ext uri="{FF2B5EF4-FFF2-40B4-BE49-F238E27FC236}">
                    <a16:creationId xmlns:a16="http://schemas.microsoft.com/office/drawing/2014/main" id="{B62B9CA8-961F-5163-1A73-71AD6FAF5EF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18F68D78-8FE5-5990-AA51-F0486791376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81" name="正方形/長方形 180">
              <a:extLst>
                <a:ext uri="{FF2B5EF4-FFF2-40B4-BE49-F238E27FC236}">
                  <a16:creationId xmlns:a16="http://schemas.microsoft.com/office/drawing/2014/main" id="{311E4025-1AB0-EE3C-0D80-826DB64A6209}"/>
                </a:ext>
              </a:extLst>
            </p:cNvPr>
            <p:cNvSpPr/>
            <p:nvPr/>
          </p:nvSpPr>
          <p:spPr bwMode="auto">
            <a:xfrm rot="5400000" flipH="1">
              <a:off x="9651037" y="5454020"/>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2" name="直線コネクタ 181">
              <a:extLst>
                <a:ext uri="{FF2B5EF4-FFF2-40B4-BE49-F238E27FC236}">
                  <a16:creationId xmlns:a16="http://schemas.microsoft.com/office/drawing/2014/main" id="{03375B85-EC39-832E-F8AA-ED7D60C1A38A}"/>
                </a:ext>
              </a:extLst>
            </p:cNvPr>
            <p:cNvCxnSpPr>
              <a:cxnSpLocks/>
            </p:cNvCxnSpPr>
            <p:nvPr/>
          </p:nvCxnSpPr>
          <p:spPr bwMode="auto">
            <a:xfrm flipH="1">
              <a:off x="9786041" y="4959017"/>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83" name="直線コネクタ 182">
              <a:extLst>
                <a:ext uri="{FF2B5EF4-FFF2-40B4-BE49-F238E27FC236}">
                  <a16:creationId xmlns:a16="http://schemas.microsoft.com/office/drawing/2014/main" id="{2F951B46-437E-DC17-1DDE-DBFF7EA63FBE}"/>
                </a:ext>
              </a:extLst>
            </p:cNvPr>
            <p:cNvCxnSpPr>
              <a:cxnSpLocks/>
            </p:cNvCxnSpPr>
            <p:nvPr/>
          </p:nvCxnSpPr>
          <p:spPr bwMode="auto">
            <a:xfrm flipH="1">
              <a:off x="9606040" y="4959017"/>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84" name="正方形/長方形 183">
              <a:extLst>
                <a:ext uri="{FF2B5EF4-FFF2-40B4-BE49-F238E27FC236}">
                  <a16:creationId xmlns:a16="http://schemas.microsoft.com/office/drawing/2014/main" id="{E1AF7C07-BA81-67A6-B367-DABF2A86DCBF}"/>
                </a:ext>
              </a:extLst>
            </p:cNvPr>
            <p:cNvSpPr/>
            <p:nvPr/>
          </p:nvSpPr>
          <p:spPr bwMode="auto">
            <a:xfrm>
              <a:off x="10776052" y="423900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75000"/>
                      <a:lumOff val="25000"/>
                    </a:schemeClr>
                  </a:solidFill>
                </a:rPr>
                <a:t>N</a:t>
              </a:r>
              <a:r>
                <a:rPr lang="ja-JP" altLang="en-US" sz="2400" dirty="0">
                  <a:solidFill>
                    <a:schemeClr val="tx1">
                      <a:lumMod val="75000"/>
                      <a:lumOff val="25000"/>
                    </a:schemeClr>
                  </a:solidFill>
                </a:rPr>
                <a:t>タンク（空）</a:t>
              </a:r>
            </a:p>
          </p:txBody>
        </p:sp>
        <p:sp>
          <p:nvSpPr>
            <p:cNvPr id="188" name="正方形/長方形 187">
              <a:extLst>
                <a:ext uri="{FF2B5EF4-FFF2-40B4-BE49-F238E27FC236}">
                  <a16:creationId xmlns:a16="http://schemas.microsoft.com/office/drawing/2014/main" id="{751A9E03-3B36-5CA3-4F28-E8E1A4988DBA}"/>
                </a:ext>
              </a:extLst>
            </p:cNvPr>
            <p:cNvSpPr/>
            <p:nvPr/>
          </p:nvSpPr>
          <p:spPr bwMode="auto">
            <a:xfrm>
              <a:off x="9786041" y="540902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栓が閉まる</a:t>
              </a:r>
            </a:p>
          </p:txBody>
        </p:sp>
        <p:sp>
          <p:nvSpPr>
            <p:cNvPr id="207" name="Rectangle 93">
              <a:extLst>
                <a:ext uri="{FF2B5EF4-FFF2-40B4-BE49-F238E27FC236}">
                  <a16:creationId xmlns:a16="http://schemas.microsoft.com/office/drawing/2014/main" id="{8E2A8724-5C45-B554-36AB-22B676778A4B}"/>
                </a:ext>
              </a:extLst>
            </p:cNvPr>
            <p:cNvSpPr>
              <a:spLocks noChangeArrowheads="1"/>
            </p:cNvSpPr>
            <p:nvPr/>
          </p:nvSpPr>
          <p:spPr bwMode="auto">
            <a:xfrm>
              <a:off x="9516037" y="387900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8" name="Rectangle 93">
              <a:extLst>
                <a:ext uri="{FF2B5EF4-FFF2-40B4-BE49-F238E27FC236}">
                  <a16:creationId xmlns:a16="http://schemas.microsoft.com/office/drawing/2014/main" id="{C81E4564-342C-ED27-8E15-7707FA312181}"/>
                </a:ext>
              </a:extLst>
            </p:cNvPr>
            <p:cNvSpPr>
              <a:spLocks noChangeArrowheads="1"/>
            </p:cNvSpPr>
            <p:nvPr/>
          </p:nvSpPr>
          <p:spPr bwMode="auto">
            <a:xfrm>
              <a:off x="8256023"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9" name="Rectangle 93">
              <a:extLst>
                <a:ext uri="{FF2B5EF4-FFF2-40B4-BE49-F238E27FC236}">
                  <a16:creationId xmlns:a16="http://schemas.microsoft.com/office/drawing/2014/main" id="{230161D1-3696-354C-BD17-9C8D6687B8F9}"/>
                </a:ext>
              </a:extLst>
            </p:cNvPr>
            <p:cNvSpPr>
              <a:spLocks noChangeArrowheads="1"/>
            </p:cNvSpPr>
            <p:nvPr/>
          </p:nvSpPr>
          <p:spPr bwMode="auto">
            <a:xfrm>
              <a:off x="10866052"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99" name="正方形/長方形 98">
              <a:extLst>
                <a:ext uri="{FF2B5EF4-FFF2-40B4-BE49-F238E27FC236}">
                  <a16:creationId xmlns:a16="http://schemas.microsoft.com/office/drawing/2014/main" id="{F2DD7253-EFA9-A63E-4649-A9F5315B4DDD}"/>
                </a:ext>
              </a:extLst>
            </p:cNvPr>
            <p:cNvSpPr/>
            <p:nvPr/>
          </p:nvSpPr>
          <p:spPr bwMode="auto">
            <a:xfrm rot="5400000">
              <a:off x="9606037" y="4779017"/>
              <a:ext cx="180003"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42769260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正方形/長方形 90">
            <a:extLst>
              <a:ext uri="{FF2B5EF4-FFF2-40B4-BE49-F238E27FC236}">
                <a16:creationId xmlns:a16="http://schemas.microsoft.com/office/drawing/2014/main" id="{FE103B1E-71A5-BEF0-A86C-6DF0F6D42E4A}"/>
              </a:ext>
            </a:extLst>
          </p:cNvPr>
          <p:cNvSpPr/>
          <p:nvPr/>
        </p:nvSpPr>
        <p:spPr bwMode="auto">
          <a:xfrm>
            <a:off x="3395434" y="1178974"/>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1" name="正方形/長方形 60">
            <a:extLst>
              <a:ext uri="{FF2B5EF4-FFF2-40B4-BE49-F238E27FC236}">
                <a16:creationId xmlns:a16="http://schemas.microsoft.com/office/drawing/2014/main" id="{189F94FB-CD47-58D8-508C-7E12F06E82B8}"/>
              </a:ext>
            </a:extLst>
          </p:cNvPr>
          <p:cNvSpPr/>
          <p:nvPr/>
        </p:nvSpPr>
        <p:spPr bwMode="auto">
          <a:xfrm>
            <a:off x="3575435" y="1178975"/>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4B597429-ED9C-17EA-8F06-8F7072BC05A7}"/>
              </a:ext>
            </a:extLst>
          </p:cNvPr>
          <p:cNvSpPr>
            <a:spLocks noGrp="1"/>
          </p:cNvSpPr>
          <p:nvPr>
            <p:ph type="title"/>
          </p:nvPr>
        </p:nvSpPr>
        <p:spPr/>
        <p:txBody>
          <a:bodyPr/>
          <a:lstStyle/>
          <a:p>
            <a:r>
              <a:rPr kumimoji="1" lang="en-US" altLang="ja-JP" dirty="0"/>
              <a:t>P </a:t>
            </a:r>
            <a:r>
              <a:rPr kumimoji="1" lang="ja-JP" altLang="en-US" dirty="0"/>
              <a:t>タンクと  </a:t>
            </a:r>
            <a:r>
              <a:rPr kumimoji="1" lang="en-US" altLang="ja-JP" dirty="0"/>
              <a:t>N</a:t>
            </a:r>
            <a:r>
              <a:rPr kumimoji="1" lang="ja-JP" altLang="en-US" dirty="0"/>
              <a:t>タンクで </a:t>
            </a:r>
            <a:r>
              <a:rPr kumimoji="1" lang="en-US" altLang="ja-JP" dirty="0"/>
              <a:t>NOT </a:t>
            </a:r>
            <a:r>
              <a:rPr kumimoji="1" lang="ja-JP" altLang="en-US" dirty="0"/>
              <a:t>ゲート</a:t>
            </a:r>
            <a:r>
              <a:rPr lang="ja-JP" altLang="en-US" dirty="0"/>
              <a:t>が作れる</a:t>
            </a:r>
            <a:endParaRPr kumimoji="1" lang="en-US" dirty="0"/>
          </a:p>
        </p:txBody>
      </p:sp>
      <p:sp>
        <p:nvSpPr>
          <p:cNvPr id="3" name="テキスト プレースホルダー 2">
            <a:extLst>
              <a:ext uri="{FF2B5EF4-FFF2-40B4-BE49-F238E27FC236}">
                <a16:creationId xmlns:a16="http://schemas.microsoft.com/office/drawing/2014/main" id="{3DEC836E-CCAA-8CF5-38DD-0528D16A2970}"/>
              </a:ext>
            </a:extLst>
          </p:cNvPr>
          <p:cNvSpPr>
            <a:spLocks noGrp="1"/>
          </p:cNvSpPr>
          <p:nvPr>
            <p:ph type="body" sz="quarter" idx="10"/>
          </p:nvPr>
        </p:nvSpPr>
        <p:spPr>
          <a:xfrm>
            <a:off x="965943" y="6039029"/>
            <a:ext cx="9450105" cy="540006"/>
          </a:xfrm>
        </p:spPr>
        <p:txBody>
          <a:bodyPr/>
          <a:lstStyle/>
          <a:p>
            <a:pPr lvl="1"/>
            <a:r>
              <a:rPr kumimoji="1" lang="ja-JP" altLang="en-US" dirty="0"/>
              <a:t>給水口には常に一定の圧力で水が供給されている（</a:t>
            </a:r>
            <a:r>
              <a:rPr kumimoji="1" lang="en-US" altLang="ja-JP" dirty="0"/>
              <a:t>=</a:t>
            </a:r>
            <a:r>
              <a:rPr kumimoji="1" lang="ja-JP" altLang="en-US" dirty="0"/>
              <a:t>電源）</a:t>
            </a:r>
            <a:endParaRPr kumimoji="1" lang="en-US" altLang="ja-JP" dirty="0"/>
          </a:p>
          <a:p>
            <a:pPr lvl="1"/>
            <a:r>
              <a:rPr kumimoji="1" lang="ja-JP" altLang="en-US" dirty="0"/>
              <a:t>入力側の水の有無により，出力側の水の有無が反転 → </a:t>
            </a:r>
            <a:r>
              <a:rPr kumimoji="1" lang="en-US" altLang="ja-JP" dirty="0"/>
              <a:t>NOT </a:t>
            </a:r>
            <a:r>
              <a:rPr kumimoji="1" lang="ja-JP" altLang="en-US" dirty="0"/>
              <a:t>ゲートの動作</a:t>
            </a:r>
            <a:endParaRPr kumimoji="1" lang="en-US" dirty="0"/>
          </a:p>
        </p:txBody>
      </p:sp>
      <p:sp>
        <p:nvSpPr>
          <p:cNvPr id="4" name="正方形/長方形 3">
            <a:extLst>
              <a:ext uri="{FF2B5EF4-FFF2-40B4-BE49-F238E27FC236}">
                <a16:creationId xmlns:a16="http://schemas.microsoft.com/office/drawing/2014/main" id="{F544FA4C-00BA-214A-5907-8ED7A8B470D8}"/>
              </a:ext>
            </a:extLst>
          </p:cNvPr>
          <p:cNvSpPr/>
          <p:nvPr/>
        </p:nvSpPr>
        <p:spPr bwMode="auto">
          <a:xfrm>
            <a:off x="5105454" y="4059007"/>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CA8DD28-BDEA-4217-483B-547B8A4F03E1}"/>
              </a:ext>
            </a:extLst>
          </p:cNvPr>
          <p:cNvCxnSpPr>
            <a:cxnSpLocks/>
          </p:cNvCxnSpPr>
          <p:nvPr/>
        </p:nvCxnSpPr>
        <p:spPr bwMode="auto">
          <a:xfrm>
            <a:off x="5105454" y="4419012"/>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9FF45AE4-8EF4-A14D-6340-03FCA5EDEA87}"/>
              </a:ext>
            </a:extLst>
          </p:cNvPr>
          <p:cNvCxnSpPr>
            <a:cxnSpLocks/>
          </p:cNvCxnSpPr>
          <p:nvPr/>
        </p:nvCxnSpPr>
        <p:spPr bwMode="auto">
          <a:xfrm>
            <a:off x="5105454" y="3969006"/>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0E1209BB-7D84-34D0-606D-4BE912DA4A26}"/>
              </a:ext>
            </a:extLst>
          </p:cNvPr>
          <p:cNvCxnSpPr>
            <a:cxnSpLocks/>
          </p:cNvCxnSpPr>
          <p:nvPr/>
        </p:nvCxnSpPr>
        <p:spPr bwMode="auto">
          <a:xfrm>
            <a:off x="5645460" y="3969006"/>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9110A407-7179-A860-E9DD-0F4D96E9528D}"/>
              </a:ext>
            </a:extLst>
          </p:cNvPr>
          <p:cNvCxnSpPr>
            <a:cxnSpLocks/>
          </p:cNvCxnSpPr>
          <p:nvPr/>
        </p:nvCxnSpPr>
        <p:spPr bwMode="auto">
          <a:xfrm flipV="1">
            <a:off x="5375455" y="4419012"/>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C4D5BD-FC80-624E-F378-A4EA5C36A7BB}"/>
              </a:ext>
            </a:extLst>
          </p:cNvPr>
          <p:cNvSpPr/>
          <p:nvPr/>
        </p:nvSpPr>
        <p:spPr bwMode="auto">
          <a:xfrm rot="5400000">
            <a:off x="5645456" y="3789006"/>
            <a:ext cx="180002" cy="216002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21FB108E-B80A-7304-E181-A256084CEB5A}"/>
              </a:ext>
            </a:extLst>
          </p:cNvPr>
          <p:cNvCxnSpPr>
            <a:cxnSpLocks/>
          </p:cNvCxnSpPr>
          <p:nvPr/>
        </p:nvCxnSpPr>
        <p:spPr bwMode="auto">
          <a:xfrm>
            <a:off x="5465458" y="4779017"/>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DAC7A46-7F1E-08E5-39B7-E9756DAAADF2}"/>
              </a:ext>
            </a:extLst>
          </p:cNvPr>
          <p:cNvCxnSpPr>
            <a:cxnSpLocks/>
          </p:cNvCxnSpPr>
          <p:nvPr/>
        </p:nvCxnSpPr>
        <p:spPr bwMode="auto">
          <a:xfrm>
            <a:off x="4655447" y="4959017"/>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E4EEC248-333D-8B1D-3691-F49076842A5A}"/>
              </a:ext>
            </a:extLst>
          </p:cNvPr>
          <p:cNvCxnSpPr>
            <a:cxnSpLocks/>
          </p:cNvCxnSpPr>
          <p:nvPr/>
        </p:nvCxnSpPr>
        <p:spPr bwMode="auto">
          <a:xfrm>
            <a:off x="4655447" y="4779015"/>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3" name="正方形/長方形 12">
            <a:extLst>
              <a:ext uri="{FF2B5EF4-FFF2-40B4-BE49-F238E27FC236}">
                <a16:creationId xmlns:a16="http://schemas.microsoft.com/office/drawing/2014/main" id="{F1A07955-D96B-635D-E33D-F48ED8823A53}"/>
              </a:ext>
            </a:extLst>
          </p:cNvPr>
          <p:cNvSpPr/>
          <p:nvPr/>
        </p:nvSpPr>
        <p:spPr bwMode="auto">
          <a:xfrm rot="5400000">
            <a:off x="5285454" y="4599014"/>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 name="グループ化 13">
            <a:extLst>
              <a:ext uri="{FF2B5EF4-FFF2-40B4-BE49-F238E27FC236}">
                <a16:creationId xmlns:a16="http://schemas.microsoft.com/office/drawing/2014/main" id="{1A1097E2-63CF-C02F-E881-EA114310949F}"/>
              </a:ext>
            </a:extLst>
          </p:cNvPr>
          <p:cNvGrpSpPr/>
          <p:nvPr/>
        </p:nvGrpSpPr>
        <p:grpSpPr>
          <a:xfrm>
            <a:off x="5285454" y="5409021"/>
            <a:ext cx="180003" cy="360004"/>
            <a:chOff x="3131985" y="5049018"/>
            <a:chExt cx="180002" cy="437056"/>
          </a:xfrm>
        </p:grpSpPr>
        <p:grpSp>
          <p:nvGrpSpPr>
            <p:cNvPr id="15" name="グループ化 14">
              <a:extLst>
                <a:ext uri="{FF2B5EF4-FFF2-40B4-BE49-F238E27FC236}">
                  <a16:creationId xmlns:a16="http://schemas.microsoft.com/office/drawing/2014/main" id="{6A766BE0-31F6-841D-510E-1AF93ED8CEE0}"/>
                </a:ext>
              </a:extLst>
            </p:cNvPr>
            <p:cNvGrpSpPr/>
            <p:nvPr/>
          </p:nvGrpSpPr>
          <p:grpSpPr>
            <a:xfrm>
              <a:off x="3131985" y="5139021"/>
              <a:ext cx="180002" cy="254126"/>
              <a:chOff x="3131984" y="5191944"/>
              <a:chExt cx="270003" cy="201854"/>
            </a:xfrm>
          </p:grpSpPr>
          <p:sp>
            <p:nvSpPr>
              <p:cNvPr id="18" name="Freeform 42">
                <a:extLst>
                  <a:ext uri="{FF2B5EF4-FFF2-40B4-BE49-F238E27FC236}">
                    <a16:creationId xmlns:a16="http://schemas.microsoft.com/office/drawing/2014/main" id="{BFE0788F-0661-7E75-AC7F-F1B8E0D2511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9" name="Freeform 42">
                <a:extLst>
                  <a:ext uri="{FF2B5EF4-FFF2-40B4-BE49-F238E27FC236}">
                    <a16:creationId xmlns:a16="http://schemas.microsoft.com/office/drawing/2014/main" id="{3C9E81BC-7D74-199B-137A-B65138B6CB6C}"/>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0" name="Freeform 42">
                <a:extLst>
                  <a:ext uri="{FF2B5EF4-FFF2-40B4-BE49-F238E27FC236}">
                    <a16:creationId xmlns:a16="http://schemas.microsoft.com/office/drawing/2014/main" id="{D02CC5F9-232B-B46F-BD1B-65BA6613F97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1" name="Freeform 42">
                <a:extLst>
                  <a:ext uri="{FF2B5EF4-FFF2-40B4-BE49-F238E27FC236}">
                    <a16:creationId xmlns:a16="http://schemas.microsoft.com/office/drawing/2014/main" id="{F3F5F700-4B5B-1871-D3E1-E317E5174B5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6" name="直線コネクタ 15">
              <a:extLst>
                <a:ext uri="{FF2B5EF4-FFF2-40B4-BE49-F238E27FC236}">
                  <a16:creationId xmlns:a16="http://schemas.microsoft.com/office/drawing/2014/main" id="{DEBE7EEE-D4A9-F677-302C-58D07918BE2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817B8ABC-2556-EF97-059A-25D77D0E1D9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3" name="正方形/長方形 22">
            <a:extLst>
              <a:ext uri="{FF2B5EF4-FFF2-40B4-BE49-F238E27FC236}">
                <a16:creationId xmlns:a16="http://schemas.microsoft.com/office/drawing/2014/main" id="{5E962D30-BC1A-9CCF-81BD-737F9889DFF7}"/>
              </a:ext>
            </a:extLst>
          </p:cNvPr>
          <p:cNvSpPr/>
          <p:nvPr/>
        </p:nvSpPr>
        <p:spPr bwMode="auto">
          <a:xfrm rot="5400000" flipH="1">
            <a:off x="5150450" y="5094017"/>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 name="直線コネクタ 23">
            <a:extLst>
              <a:ext uri="{FF2B5EF4-FFF2-40B4-BE49-F238E27FC236}">
                <a16:creationId xmlns:a16="http://schemas.microsoft.com/office/drawing/2014/main" id="{E747155E-616C-B82A-A513-27FF90D45F3E}"/>
              </a:ext>
            </a:extLst>
          </p:cNvPr>
          <p:cNvCxnSpPr>
            <a:cxnSpLocks/>
          </p:cNvCxnSpPr>
          <p:nvPr/>
        </p:nvCxnSpPr>
        <p:spPr bwMode="auto">
          <a:xfrm flipH="1">
            <a:off x="5465454" y="4779014"/>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5" name="直線コネクタ 24">
            <a:extLst>
              <a:ext uri="{FF2B5EF4-FFF2-40B4-BE49-F238E27FC236}">
                <a16:creationId xmlns:a16="http://schemas.microsoft.com/office/drawing/2014/main" id="{61C53AEF-2019-4BE2-F329-438DC5FCD241}"/>
              </a:ext>
            </a:extLst>
          </p:cNvPr>
          <p:cNvCxnSpPr>
            <a:cxnSpLocks/>
          </p:cNvCxnSpPr>
          <p:nvPr/>
        </p:nvCxnSpPr>
        <p:spPr bwMode="auto">
          <a:xfrm flipH="1">
            <a:off x="5285453" y="4779014"/>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6" name="正方形/長方形 25">
            <a:extLst>
              <a:ext uri="{FF2B5EF4-FFF2-40B4-BE49-F238E27FC236}">
                <a16:creationId xmlns:a16="http://schemas.microsoft.com/office/drawing/2014/main" id="{A978CB98-0069-7E7D-A06A-A50B36BDAA6A}"/>
              </a:ext>
            </a:extLst>
          </p:cNvPr>
          <p:cNvSpPr/>
          <p:nvPr/>
        </p:nvSpPr>
        <p:spPr bwMode="auto">
          <a:xfrm>
            <a:off x="5555457" y="486901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1600" dirty="0">
                <a:solidFill>
                  <a:schemeClr val="tx1">
                    <a:lumMod val="75000"/>
                    <a:lumOff val="25000"/>
                  </a:schemeClr>
                </a:solidFill>
              </a:rPr>
              <a:t>N</a:t>
            </a:r>
            <a:r>
              <a:rPr lang="ja-JP" altLang="en-US" sz="1600" dirty="0">
                <a:solidFill>
                  <a:schemeClr val="tx1">
                    <a:lumMod val="75000"/>
                    <a:lumOff val="25000"/>
                  </a:schemeClr>
                </a:solidFill>
              </a:rPr>
              <a:t>タンク に溜まると開く → 排水される</a:t>
            </a:r>
          </a:p>
        </p:txBody>
      </p:sp>
      <p:sp>
        <p:nvSpPr>
          <p:cNvPr id="28" name="Rectangle 93">
            <a:extLst>
              <a:ext uri="{FF2B5EF4-FFF2-40B4-BE49-F238E27FC236}">
                <a16:creationId xmlns:a16="http://schemas.microsoft.com/office/drawing/2014/main" id="{A6E1F0A5-637C-4A83-49B3-2F6E01BE7BF4}"/>
              </a:ext>
            </a:extLst>
          </p:cNvPr>
          <p:cNvSpPr>
            <a:spLocks noChangeArrowheads="1"/>
          </p:cNvSpPr>
          <p:nvPr/>
        </p:nvSpPr>
        <p:spPr bwMode="auto">
          <a:xfrm>
            <a:off x="5195990" y="387900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9" name="Rectangle 93">
            <a:extLst>
              <a:ext uri="{FF2B5EF4-FFF2-40B4-BE49-F238E27FC236}">
                <a16:creationId xmlns:a16="http://schemas.microsoft.com/office/drawing/2014/main" id="{C7F9F294-CD79-ED69-3EA7-8D42202ED10D}"/>
              </a:ext>
            </a:extLst>
          </p:cNvPr>
          <p:cNvSpPr>
            <a:spLocks noChangeArrowheads="1"/>
          </p:cNvSpPr>
          <p:nvPr/>
        </p:nvSpPr>
        <p:spPr bwMode="auto">
          <a:xfrm>
            <a:off x="5555457" y="441901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0" name="正方形/長方形 29">
            <a:extLst>
              <a:ext uri="{FF2B5EF4-FFF2-40B4-BE49-F238E27FC236}">
                <a16:creationId xmlns:a16="http://schemas.microsoft.com/office/drawing/2014/main" id="{457735FA-B2AE-E136-2350-5AAAB8D6BFD8}"/>
              </a:ext>
            </a:extLst>
          </p:cNvPr>
          <p:cNvSpPr/>
          <p:nvPr/>
        </p:nvSpPr>
        <p:spPr bwMode="auto">
          <a:xfrm>
            <a:off x="5105454" y="1088974"/>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1" name="直線コネクタ 30">
            <a:extLst>
              <a:ext uri="{FF2B5EF4-FFF2-40B4-BE49-F238E27FC236}">
                <a16:creationId xmlns:a16="http://schemas.microsoft.com/office/drawing/2014/main" id="{EC1BAFBF-F348-E3F0-8DD7-0E191DF4A80A}"/>
              </a:ext>
            </a:extLst>
          </p:cNvPr>
          <p:cNvCxnSpPr>
            <a:cxnSpLocks/>
          </p:cNvCxnSpPr>
          <p:nvPr/>
        </p:nvCxnSpPr>
        <p:spPr bwMode="auto">
          <a:xfrm>
            <a:off x="5105454" y="1448979"/>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5F83FEB7-F168-4AA0-408B-C4EE65EB999B}"/>
              </a:ext>
            </a:extLst>
          </p:cNvPr>
          <p:cNvCxnSpPr>
            <a:cxnSpLocks/>
          </p:cNvCxnSpPr>
          <p:nvPr/>
        </p:nvCxnSpPr>
        <p:spPr bwMode="auto">
          <a:xfrm>
            <a:off x="5105454" y="998973"/>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687F5C2C-BC4F-CC32-6655-CEB790EE9DFC}"/>
              </a:ext>
            </a:extLst>
          </p:cNvPr>
          <p:cNvCxnSpPr>
            <a:cxnSpLocks/>
          </p:cNvCxnSpPr>
          <p:nvPr/>
        </p:nvCxnSpPr>
        <p:spPr bwMode="auto">
          <a:xfrm>
            <a:off x="5645460" y="998973"/>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848E4AC0-DD0A-986F-5ECA-87E203E09E6D}"/>
              </a:ext>
            </a:extLst>
          </p:cNvPr>
          <p:cNvCxnSpPr>
            <a:cxnSpLocks/>
          </p:cNvCxnSpPr>
          <p:nvPr/>
        </p:nvCxnSpPr>
        <p:spPr bwMode="auto">
          <a:xfrm flipV="1">
            <a:off x="5375455" y="1448979"/>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8EE91B14-87A0-DFC8-D868-F03CE904D370}"/>
              </a:ext>
            </a:extLst>
          </p:cNvPr>
          <p:cNvSpPr/>
          <p:nvPr/>
        </p:nvSpPr>
        <p:spPr bwMode="auto">
          <a:xfrm rot="5400000">
            <a:off x="4880449" y="1583980"/>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A53B8040-7D9A-D0C8-65EC-B3CC8DEE24A1}"/>
              </a:ext>
            </a:extLst>
          </p:cNvPr>
          <p:cNvCxnSpPr>
            <a:cxnSpLocks/>
          </p:cNvCxnSpPr>
          <p:nvPr/>
        </p:nvCxnSpPr>
        <p:spPr bwMode="auto">
          <a:xfrm>
            <a:off x="5465458" y="1808984"/>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8B8EDD5A-60CD-5C11-370A-7E2BE8A9A936}"/>
              </a:ext>
            </a:extLst>
          </p:cNvPr>
          <p:cNvCxnSpPr>
            <a:cxnSpLocks/>
          </p:cNvCxnSpPr>
          <p:nvPr/>
        </p:nvCxnSpPr>
        <p:spPr bwMode="auto">
          <a:xfrm>
            <a:off x="4655447" y="1988984"/>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B61B936A-6390-88E9-6BDB-4AE884744437}"/>
              </a:ext>
            </a:extLst>
          </p:cNvPr>
          <p:cNvCxnSpPr>
            <a:cxnSpLocks/>
          </p:cNvCxnSpPr>
          <p:nvPr/>
        </p:nvCxnSpPr>
        <p:spPr bwMode="auto">
          <a:xfrm>
            <a:off x="4655447" y="1808982"/>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9" name="正方形/長方形 38">
            <a:extLst>
              <a:ext uri="{FF2B5EF4-FFF2-40B4-BE49-F238E27FC236}">
                <a16:creationId xmlns:a16="http://schemas.microsoft.com/office/drawing/2014/main" id="{064BB3E3-F82A-7244-ED20-211E6F41C563}"/>
              </a:ext>
            </a:extLst>
          </p:cNvPr>
          <p:cNvSpPr/>
          <p:nvPr/>
        </p:nvSpPr>
        <p:spPr bwMode="auto">
          <a:xfrm rot="5400000">
            <a:off x="5105452" y="1808983"/>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40" name="グループ化 39">
            <a:extLst>
              <a:ext uri="{FF2B5EF4-FFF2-40B4-BE49-F238E27FC236}">
                <a16:creationId xmlns:a16="http://schemas.microsoft.com/office/drawing/2014/main" id="{77A1003C-14D8-BD30-6A1A-AABC2E217974}"/>
              </a:ext>
            </a:extLst>
          </p:cNvPr>
          <p:cNvGrpSpPr/>
          <p:nvPr/>
        </p:nvGrpSpPr>
        <p:grpSpPr>
          <a:xfrm>
            <a:off x="5285454" y="2438988"/>
            <a:ext cx="180003" cy="360004"/>
            <a:chOff x="3131985" y="5049018"/>
            <a:chExt cx="180002" cy="437056"/>
          </a:xfrm>
        </p:grpSpPr>
        <p:grpSp>
          <p:nvGrpSpPr>
            <p:cNvPr id="41" name="グループ化 40">
              <a:extLst>
                <a:ext uri="{FF2B5EF4-FFF2-40B4-BE49-F238E27FC236}">
                  <a16:creationId xmlns:a16="http://schemas.microsoft.com/office/drawing/2014/main" id="{319F5EB2-E682-AB62-560B-829DC858CA57}"/>
                </a:ext>
              </a:extLst>
            </p:cNvPr>
            <p:cNvGrpSpPr/>
            <p:nvPr/>
          </p:nvGrpSpPr>
          <p:grpSpPr>
            <a:xfrm>
              <a:off x="3131985" y="5139021"/>
              <a:ext cx="180002" cy="254126"/>
              <a:chOff x="3131984" y="5191944"/>
              <a:chExt cx="270003" cy="201854"/>
            </a:xfrm>
          </p:grpSpPr>
          <p:sp>
            <p:nvSpPr>
              <p:cNvPr id="44" name="Freeform 42">
                <a:extLst>
                  <a:ext uri="{FF2B5EF4-FFF2-40B4-BE49-F238E27FC236}">
                    <a16:creationId xmlns:a16="http://schemas.microsoft.com/office/drawing/2014/main" id="{5AE946A1-4C78-EFCE-DBC3-238A17F3143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99F3755D-6142-F321-7374-79753D2FF3AD}"/>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45F316AD-4A7B-5BB1-2E3D-E2FA4C91BC4D}"/>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7" name="Freeform 42">
                <a:extLst>
                  <a:ext uri="{FF2B5EF4-FFF2-40B4-BE49-F238E27FC236}">
                    <a16:creationId xmlns:a16="http://schemas.microsoft.com/office/drawing/2014/main" id="{D182CF62-B608-15CC-6D7B-31420AF9EC4C}"/>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2" name="直線コネクタ 41">
              <a:extLst>
                <a:ext uri="{FF2B5EF4-FFF2-40B4-BE49-F238E27FC236}">
                  <a16:creationId xmlns:a16="http://schemas.microsoft.com/office/drawing/2014/main" id="{FD7EBF8B-5EF3-F172-D179-27E6355509A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F6024F1-4D05-1891-FC8A-B7EA3FFB9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9" name="正方形/長方形 48">
            <a:extLst>
              <a:ext uri="{FF2B5EF4-FFF2-40B4-BE49-F238E27FC236}">
                <a16:creationId xmlns:a16="http://schemas.microsoft.com/office/drawing/2014/main" id="{89C9F02A-C8EF-A1A2-C04C-913028BD21F7}"/>
              </a:ext>
            </a:extLst>
          </p:cNvPr>
          <p:cNvSpPr/>
          <p:nvPr/>
        </p:nvSpPr>
        <p:spPr bwMode="auto">
          <a:xfrm rot="5400000" flipH="1">
            <a:off x="5330452" y="2303986"/>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0" name="直線コネクタ 49">
            <a:extLst>
              <a:ext uri="{FF2B5EF4-FFF2-40B4-BE49-F238E27FC236}">
                <a16:creationId xmlns:a16="http://schemas.microsoft.com/office/drawing/2014/main" id="{6FBD7FF1-D8BA-F6EB-C6B9-B1BD608D4793}"/>
              </a:ext>
            </a:extLst>
          </p:cNvPr>
          <p:cNvCxnSpPr>
            <a:cxnSpLocks/>
          </p:cNvCxnSpPr>
          <p:nvPr/>
        </p:nvCxnSpPr>
        <p:spPr bwMode="auto">
          <a:xfrm flipH="1">
            <a:off x="5465456" y="2168985"/>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1" name="直線コネクタ 50">
            <a:extLst>
              <a:ext uri="{FF2B5EF4-FFF2-40B4-BE49-F238E27FC236}">
                <a16:creationId xmlns:a16="http://schemas.microsoft.com/office/drawing/2014/main" id="{A6CD5A5A-F97F-6352-0D29-7D71D2D4BBA4}"/>
              </a:ext>
            </a:extLst>
          </p:cNvPr>
          <p:cNvCxnSpPr>
            <a:cxnSpLocks/>
          </p:cNvCxnSpPr>
          <p:nvPr/>
        </p:nvCxnSpPr>
        <p:spPr bwMode="auto">
          <a:xfrm flipH="1">
            <a:off x="5285455" y="2168985"/>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52" name="正方形/長方形 51">
            <a:extLst>
              <a:ext uri="{FF2B5EF4-FFF2-40B4-BE49-F238E27FC236}">
                <a16:creationId xmlns:a16="http://schemas.microsoft.com/office/drawing/2014/main" id="{A13FBC97-65EF-E0B7-B920-63D1368245BA}"/>
              </a:ext>
            </a:extLst>
          </p:cNvPr>
          <p:cNvSpPr/>
          <p:nvPr/>
        </p:nvSpPr>
        <p:spPr bwMode="auto">
          <a:xfrm>
            <a:off x="5735459" y="90897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1600" dirty="0">
                <a:solidFill>
                  <a:schemeClr val="tx1">
                    <a:lumMod val="75000"/>
                    <a:lumOff val="25000"/>
                  </a:schemeClr>
                </a:solidFill>
              </a:rPr>
              <a:t>P</a:t>
            </a:r>
            <a:r>
              <a:rPr lang="ja-JP" altLang="en-US" sz="1600" dirty="0">
                <a:solidFill>
                  <a:schemeClr val="tx1">
                    <a:lumMod val="75000"/>
                    <a:lumOff val="25000"/>
                  </a:schemeClr>
                </a:solidFill>
              </a:rPr>
              <a:t>タンク</a:t>
            </a:r>
            <a:r>
              <a:rPr lang="en-US" altLang="ja-JP" sz="1600" dirty="0">
                <a:solidFill>
                  <a:schemeClr val="tx1">
                    <a:lumMod val="75000"/>
                    <a:lumOff val="25000"/>
                  </a:schemeClr>
                </a:solidFill>
              </a:rPr>
              <a:t> </a:t>
            </a:r>
            <a:r>
              <a:rPr lang="ja-JP" altLang="en-US" sz="1600" dirty="0">
                <a:solidFill>
                  <a:schemeClr val="tx1">
                    <a:lumMod val="75000"/>
                    <a:lumOff val="25000"/>
                  </a:schemeClr>
                </a:solidFill>
              </a:rPr>
              <a:t>に溜まると閉まる →</a:t>
            </a:r>
            <a:r>
              <a:rPr lang="en-US" altLang="ja-JP" sz="1600" dirty="0">
                <a:solidFill>
                  <a:schemeClr val="tx1">
                    <a:lumMod val="75000"/>
                    <a:lumOff val="25000"/>
                  </a:schemeClr>
                </a:solidFill>
              </a:rPr>
              <a:t> </a:t>
            </a:r>
            <a:r>
              <a:rPr lang="ja-JP" altLang="en-US" sz="1600" dirty="0">
                <a:solidFill>
                  <a:schemeClr val="tx1">
                    <a:lumMod val="75000"/>
                    <a:lumOff val="25000"/>
                  </a:schemeClr>
                </a:solidFill>
              </a:rPr>
              <a:t>出力への給水が断たれる</a:t>
            </a:r>
          </a:p>
        </p:txBody>
      </p:sp>
      <p:sp>
        <p:nvSpPr>
          <p:cNvPr id="53" name="Rectangle 93">
            <a:extLst>
              <a:ext uri="{FF2B5EF4-FFF2-40B4-BE49-F238E27FC236}">
                <a16:creationId xmlns:a16="http://schemas.microsoft.com/office/drawing/2014/main" id="{A1D33B49-0E0A-5405-D883-E378553FCF9A}"/>
              </a:ext>
            </a:extLst>
          </p:cNvPr>
          <p:cNvSpPr>
            <a:spLocks noChangeArrowheads="1"/>
          </p:cNvSpPr>
          <p:nvPr/>
        </p:nvSpPr>
        <p:spPr bwMode="auto">
          <a:xfrm>
            <a:off x="5195990"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4" name="Rectangle 93">
            <a:extLst>
              <a:ext uri="{FF2B5EF4-FFF2-40B4-BE49-F238E27FC236}">
                <a16:creationId xmlns:a16="http://schemas.microsoft.com/office/drawing/2014/main" id="{0C82557C-7F05-18D3-6483-D6947F3A2B23}"/>
              </a:ext>
            </a:extLst>
          </p:cNvPr>
          <p:cNvSpPr>
            <a:spLocks noChangeArrowheads="1"/>
          </p:cNvSpPr>
          <p:nvPr/>
        </p:nvSpPr>
        <p:spPr bwMode="auto">
          <a:xfrm>
            <a:off x="483544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5" name="Rectangle 93">
            <a:extLst>
              <a:ext uri="{FF2B5EF4-FFF2-40B4-BE49-F238E27FC236}">
                <a16:creationId xmlns:a16="http://schemas.microsoft.com/office/drawing/2014/main" id="{97A6E237-906F-47C5-EEB7-3E7E0782AE01}"/>
              </a:ext>
            </a:extLst>
          </p:cNvPr>
          <p:cNvSpPr>
            <a:spLocks noChangeArrowheads="1"/>
          </p:cNvSpPr>
          <p:nvPr/>
        </p:nvSpPr>
        <p:spPr bwMode="auto">
          <a:xfrm>
            <a:off x="5555457"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6" name="直線コネクタ 55">
            <a:extLst>
              <a:ext uri="{FF2B5EF4-FFF2-40B4-BE49-F238E27FC236}">
                <a16:creationId xmlns:a16="http://schemas.microsoft.com/office/drawing/2014/main" id="{23E0CC98-122A-A055-3218-0415458954E0}"/>
              </a:ext>
            </a:extLst>
          </p:cNvPr>
          <p:cNvCxnSpPr>
            <a:cxnSpLocks/>
          </p:cNvCxnSpPr>
          <p:nvPr/>
        </p:nvCxnSpPr>
        <p:spPr bwMode="auto">
          <a:xfrm>
            <a:off x="3395433" y="117897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982814F1-9D3A-BAA5-7F3B-CD32D28714E6}"/>
              </a:ext>
            </a:extLst>
          </p:cNvPr>
          <p:cNvCxnSpPr>
            <a:cxnSpLocks/>
          </p:cNvCxnSpPr>
          <p:nvPr/>
        </p:nvCxnSpPr>
        <p:spPr bwMode="auto">
          <a:xfrm>
            <a:off x="3575435" y="135897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59" name="直線コネクタ 58">
            <a:extLst>
              <a:ext uri="{FF2B5EF4-FFF2-40B4-BE49-F238E27FC236}">
                <a16:creationId xmlns:a16="http://schemas.microsoft.com/office/drawing/2014/main" id="{425431E0-1C84-EE3C-BE1B-06C01DB66602}"/>
              </a:ext>
            </a:extLst>
          </p:cNvPr>
          <p:cNvCxnSpPr>
            <a:cxnSpLocks/>
          </p:cNvCxnSpPr>
          <p:nvPr/>
        </p:nvCxnSpPr>
        <p:spPr bwMode="auto">
          <a:xfrm flipV="1">
            <a:off x="5105452" y="1358977"/>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A7D99AB1-3420-212E-A301-70EB9BBDA895}"/>
              </a:ext>
            </a:extLst>
          </p:cNvPr>
          <p:cNvCxnSpPr>
            <a:cxnSpLocks/>
          </p:cNvCxnSpPr>
          <p:nvPr/>
        </p:nvCxnSpPr>
        <p:spPr bwMode="auto">
          <a:xfrm>
            <a:off x="5105454" y="4329010"/>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71" name="正方形/長方形 70">
            <a:extLst>
              <a:ext uri="{FF2B5EF4-FFF2-40B4-BE49-F238E27FC236}">
                <a16:creationId xmlns:a16="http://schemas.microsoft.com/office/drawing/2014/main" id="{204CC98B-1457-ED2D-74B1-E4FF5A8A7ED0}"/>
              </a:ext>
            </a:extLst>
          </p:cNvPr>
          <p:cNvSpPr/>
          <p:nvPr/>
        </p:nvSpPr>
        <p:spPr bwMode="auto">
          <a:xfrm>
            <a:off x="3575435" y="4149008"/>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2" name="直線コネクタ 71">
            <a:extLst>
              <a:ext uri="{FF2B5EF4-FFF2-40B4-BE49-F238E27FC236}">
                <a16:creationId xmlns:a16="http://schemas.microsoft.com/office/drawing/2014/main" id="{2E68B43D-79DB-CEE5-868A-F9BF7D942A69}"/>
              </a:ext>
            </a:extLst>
          </p:cNvPr>
          <p:cNvCxnSpPr>
            <a:cxnSpLocks/>
          </p:cNvCxnSpPr>
          <p:nvPr/>
        </p:nvCxnSpPr>
        <p:spPr bwMode="auto">
          <a:xfrm>
            <a:off x="3575435" y="4149008"/>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3D69834B-9540-EA02-A7C6-D9FB23052322}"/>
              </a:ext>
            </a:extLst>
          </p:cNvPr>
          <p:cNvCxnSpPr>
            <a:cxnSpLocks/>
          </p:cNvCxnSpPr>
          <p:nvPr/>
        </p:nvCxnSpPr>
        <p:spPr bwMode="auto">
          <a:xfrm>
            <a:off x="3395433" y="4329010"/>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E680117D-D4BB-51E2-3844-3CCEFAD160B8}"/>
              </a:ext>
            </a:extLst>
          </p:cNvPr>
          <p:cNvCxnSpPr>
            <a:cxnSpLocks/>
          </p:cNvCxnSpPr>
          <p:nvPr/>
        </p:nvCxnSpPr>
        <p:spPr bwMode="auto">
          <a:xfrm>
            <a:off x="6995473" y="315899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AC0C644D-75DB-9E92-EF30-641AADFFD27B}"/>
              </a:ext>
            </a:extLst>
          </p:cNvPr>
          <p:cNvCxnSpPr>
            <a:cxnSpLocks/>
          </p:cNvCxnSpPr>
          <p:nvPr/>
        </p:nvCxnSpPr>
        <p:spPr bwMode="auto">
          <a:xfrm>
            <a:off x="6995473"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1101B623-6579-0836-B0B1-4AD579CDD22A}"/>
              </a:ext>
            </a:extLst>
          </p:cNvPr>
          <p:cNvCxnSpPr>
            <a:cxnSpLocks/>
          </p:cNvCxnSpPr>
          <p:nvPr/>
        </p:nvCxnSpPr>
        <p:spPr bwMode="auto">
          <a:xfrm>
            <a:off x="6815471" y="1988984"/>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6210A10-53C7-DB4C-689D-6137EE5510D5}"/>
              </a:ext>
            </a:extLst>
          </p:cNvPr>
          <p:cNvCxnSpPr>
            <a:cxnSpLocks/>
          </p:cNvCxnSpPr>
          <p:nvPr/>
        </p:nvCxnSpPr>
        <p:spPr bwMode="auto">
          <a:xfrm>
            <a:off x="6996010" y="3338999"/>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7C470485-C42B-82D1-1AA7-5940BF978DED}"/>
              </a:ext>
            </a:extLst>
          </p:cNvPr>
          <p:cNvCxnSpPr>
            <a:cxnSpLocks/>
          </p:cNvCxnSpPr>
          <p:nvPr/>
        </p:nvCxnSpPr>
        <p:spPr bwMode="auto">
          <a:xfrm>
            <a:off x="3575435" y="1358977"/>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CED6976B-13B1-066E-DF3A-20029DA5BA13}"/>
              </a:ext>
            </a:extLst>
          </p:cNvPr>
          <p:cNvCxnSpPr>
            <a:cxnSpLocks/>
          </p:cNvCxnSpPr>
          <p:nvPr/>
        </p:nvCxnSpPr>
        <p:spPr bwMode="auto">
          <a:xfrm>
            <a:off x="3395433" y="1178975"/>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2DD57243-B35A-393A-64A4-63154A115AED}"/>
              </a:ext>
            </a:extLst>
          </p:cNvPr>
          <p:cNvCxnSpPr>
            <a:cxnSpLocks/>
          </p:cNvCxnSpPr>
          <p:nvPr/>
        </p:nvCxnSpPr>
        <p:spPr bwMode="auto">
          <a:xfrm>
            <a:off x="3395433" y="2978995"/>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94" name="正方形/長方形 93">
            <a:extLst>
              <a:ext uri="{FF2B5EF4-FFF2-40B4-BE49-F238E27FC236}">
                <a16:creationId xmlns:a16="http://schemas.microsoft.com/office/drawing/2014/main" id="{7DF2351E-1754-2E16-0918-D906EE7FA2EA}"/>
              </a:ext>
            </a:extLst>
          </p:cNvPr>
          <p:cNvSpPr/>
          <p:nvPr/>
        </p:nvSpPr>
        <p:spPr bwMode="auto">
          <a:xfrm>
            <a:off x="1865416" y="279899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5" name="直線コネクタ 94">
            <a:extLst>
              <a:ext uri="{FF2B5EF4-FFF2-40B4-BE49-F238E27FC236}">
                <a16:creationId xmlns:a16="http://schemas.microsoft.com/office/drawing/2014/main" id="{7F8EC8BC-79F8-EA8A-3C14-0011C6427DC2}"/>
              </a:ext>
            </a:extLst>
          </p:cNvPr>
          <p:cNvCxnSpPr>
            <a:cxnSpLocks/>
          </p:cNvCxnSpPr>
          <p:nvPr/>
        </p:nvCxnSpPr>
        <p:spPr bwMode="auto">
          <a:xfrm>
            <a:off x="1865416" y="279899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95ECA90E-09F7-B274-1519-52292E9C54E9}"/>
              </a:ext>
            </a:extLst>
          </p:cNvPr>
          <p:cNvCxnSpPr>
            <a:cxnSpLocks/>
          </p:cNvCxnSpPr>
          <p:nvPr/>
        </p:nvCxnSpPr>
        <p:spPr bwMode="auto">
          <a:xfrm>
            <a:off x="1865416" y="297899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30A39633-03E6-5E7F-9007-43C46784B409}"/>
              </a:ext>
            </a:extLst>
          </p:cNvPr>
          <p:cNvCxnSpPr>
            <a:cxnSpLocks/>
          </p:cNvCxnSpPr>
          <p:nvPr/>
        </p:nvCxnSpPr>
        <p:spPr bwMode="auto">
          <a:xfrm>
            <a:off x="6995473" y="1808982"/>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矢印コネクタ 114">
            <a:extLst>
              <a:ext uri="{FF2B5EF4-FFF2-40B4-BE49-F238E27FC236}">
                <a16:creationId xmlns:a16="http://schemas.microsoft.com/office/drawing/2014/main" id="{1B54ABA9-06F8-2239-CAC1-4C7506F101A1}"/>
              </a:ext>
            </a:extLst>
          </p:cNvPr>
          <p:cNvCxnSpPr>
            <a:cxnSpLocks/>
          </p:cNvCxnSpPr>
          <p:nvPr/>
        </p:nvCxnSpPr>
        <p:spPr bwMode="auto">
          <a:xfrm flipH="1">
            <a:off x="4655447" y="4869016"/>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29" name="Rectangle 93">
            <a:extLst>
              <a:ext uri="{FF2B5EF4-FFF2-40B4-BE49-F238E27FC236}">
                <a16:creationId xmlns:a16="http://schemas.microsoft.com/office/drawing/2014/main" id="{AAC2B2B0-A35B-EC6E-C09F-3AF024D2C5AE}"/>
              </a:ext>
            </a:extLst>
          </p:cNvPr>
          <p:cNvSpPr>
            <a:spLocks noChangeArrowheads="1"/>
          </p:cNvSpPr>
          <p:nvPr/>
        </p:nvSpPr>
        <p:spPr bwMode="auto">
          <a:xfrm>
            <a:off x="4835449" y="441901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0" name="正方形/長方形 129">
            <a:extLst>
              <a:ext uri="{FF2B5EF4-FFF2-40B4-BE49-F238E27FC236}">
                <a16:creationId xmlns:a16="http://schemas.microsoft.com/office/drawing/2014/main" id="{15A3387C-E38C-1590-ABCC-6E1E9F555173}"/>
              </a:ext>
            </a:extLst>
          </p:cNvPr>
          <p:cNvSpPr/>
          <p:nvPr/>
        </p:nvSpPr>
        <p:spPr bwMode="auto">
          <a:xfrm>
            <a:off x="3845438" y="153897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31" name="正方形/長方形 130">
            <a:extLst>
              <a:ext uri="{FF2B5EF4-FFF2-40B4-BE49-F238E27FC236}">
                <a16:creationId xmlns:a16="http://schemas.microsoft.com/office/drawing/2014/main" id="{5BC8114E-7CC1-1E31-27E5-F349BF74BB70}"/>
              </a:ext>
            </a:extLst>
          </p:cNvPr>
          <p:cNvSpPr/>
          <p:nvPr/>
        </p:nvSpPr>
        <p:spPr bwMode="auto">
          <a:xfrm>
            <a:off x="3845438" y="450901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6CD406D2-14D5-AFD4-A2F2-41A61388AE9A}"/>
              </a:ext>
            </a:extLst>
          </p:cNvPr>
          <p:cNvSpPr/>
          <p:nvPr/>
        </p:nvSpPr>
        <p:spPr bwMode="auto">
          <a:xfrm>
            <a:off x="1775415" y="225898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
        <p:nvSpPr>
          <p:cNvPr id="133" name="正方形/長方形 132">
            <a:extLst>
              <a:ext uri="{FF2B5EF4-FFF2-40B4-BE49-F238E27FC236}">
                <a16:creationId xmlns:a16="http://schemas.microsoft.com/office/drawing/2014/main" id="{83BEF989-32BA-0D17-0218-8AD8D1D2FF0C}"/>
              </a:ext>
            </a:extLst>
          </p:cNvPr>
          <p:cNvSpPr/>
          <p:nvPr/>
        </p:nvSpPr>
        <p:spPr bwMode="auto">
          <a:xfrm>
            <a:off x="7985484" y="261899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p>
        </p:txBody>
      </p:sp>
      <p:sp>
        <p:nvSpPr>
          <p:cNvPr id="22" name="正方形/長方形 21">
            <a:extLst>
              <a:ext uri="{FF2B5EF4-FFF2-40B4-BE49-F238E27FC236}">
                <a16:creationId xmlns:a16="http://schemas.microsoft.com/office/drawing/2014/main" id="{CA97F46B-0BD8-2830-46E1-71D796D8100D}"/>
              </a:ext>
            </a:extLst>
          </p:cNvPr>
          <p:cNvSpPr/>
          <p:nvPr/>
        </p:nvSpPr>
        <p:spPr bwMode="auto">
          <a:xfrm>
            <a:off x="1775952" y="297899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水がある</a:t>
            </a:r>
            <a:r>
              <a:rPr lang="en-US" altLang="ja-JP" sz="1600" dirty="0">
                <a:solidFill>
                  <a:schemeClr val="tx1">
                    <a:lumMod val="75000"/>
                    <a:lumOff val="25000"/>
                  </a:schemeClr>
                </a:solidFill>
              </a:rPr>
              <a:t>=1</a:t>
            </a:r>
            <a:endParaRPr lang="ja-JP" altLang="en-US" sz="1600" dirty="0">
              <a:solidFill>
                <a:schemeClr val="tx1">
                  <a:lumMod val="75000"/>
                  <a:lumOff val="25000"/>
                </a:schemeClr>
              </a:solidFill>
            </a:endParaRPr>
          </a:p>
        </p:txBody>
      </p:sp>
      <p:sp>
        <p:nvSpPr>
          <p:cNvPr id="27" name="正方形/長方形 26">
            <a:extLst>
              <a:ext uri="{FF2B5EF4-FFF2-40B4-BE49-F238E27FC236}">
                <a16:creationId xmlns:a16="http://schemas.microsoft.com/office/drawing/2014/main" id="{01B3B152-CC0A-E402-A534-DEC960F0E7FD}"/>
              </a:ext>
            </a:extLst>
          </p:cNvPr>
          <p:cNvSpPr/>
          <p:nvPr/>
        </p:nvSpPr>
        <p:spPr bwMode="auto">
          <a:xfrm>
            <a:off x="7806019" y="333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水がない</a:t>
            </a:r>
            <a:r>
              <a:rPr lang="en-US" altLang="ja-JP" sz="1600" dirty="0">
                <a:solidFill>
                  <a:schemeClr val="tx1">
                    <a:lumMod val="75000"/>
                    <a:lumOff val="25000"/>
                  </a:schemeClr>
                </a:solidFill>
              </a:rPr>
              <a:t>=0</a:t>
            </a:r>
            <a:endParaRPr lang="ja-JP" altLang="en-US" sz="1600" dirty="0">
              <a:solidFill>
                <a:schemeClr val="tx1">
                  <a:lumMod val="75000"/>
                  <a:lumOff val="25000"/>
                </a:schemeClr>
              </a:solidFill>
            </a:endParaRPr>
          </a:p>
        </p:txBody>
      </p:sp>
    </p:spTree>
    <p:extLst>
      <p:ext uri="{BB962C8B-B14F-4D97-AF65-F5344CB8AC3E}">
        <p14:creationId xmlns:p14="http://schemas.microsoft.com/office/powerpoint/2010/main" val="33592684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正方形/長方形 156">
            <a:extLst>
              <a:ext uri="{FF2B5EF4-FFF2-40B4-BE49-F238E27FC236}">
                <a16:creationId xmlns:a16="http://schemas.microsoft.com/office/drawing/2014/main" id="{76A89134-DD3A-4D79-4436-97726B8D7771}"/>
              </a:ext>
            </a:extLst>
          </p:cNvPr>
          <p:cNvSpPr/>
          <p:nvPr/>
        </p:nvSpPr>
        <p:spPr bwMode="auto">
          <a:xfrm>
            <a:off x="7176012" y="4509012"/>
            <a:ext cx="540006"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56" name="正方形/長方形 155">
            <a:extLst>
              <a:ext uri="{FF2B5EF4-FFF2-40B4-BE49-F238E27FC236}">
                <a16:creationId xmlns:a16="http://schemas.microsoft.com/office/drawing/2014/main" id="{C993C619-F913-C8E7-D258-69AF50B8DBD6}"/>
              </a:ext>
            </a:extLst>
          </p:cNvPr>
          <p:cNvSpPr/>
          <p:nvPr/>
        </p:nvSpPr>
        <p:spPr bwMode="auto">
          <a:xfrm>
            <a:off x="7176012" y="1538980"/>
            <a:ext cx="540006"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1" name="正方形/長方形 90">
            <a:extLst>
              <a:ext uri="{FF2B5EF4-FFF2-40B4-BE49-F238E27FC236}">
                <a16:creationId xmlns:a16="http://schemas.microsoft.com/office/drawing/2014/main" id="{FE103B1E-71A5-BEF0-A86C-6DF0F6D42E4A}"/>
              </a:ext>
            </a:extLst>
          </p:cNvPr>
          <p:cNvSpPr/>
          <p:nvPr/>
        </p:nvSpPr>
        <p:spPr bwMode="auto">
          <a:xfrm>
            <a:off x="3395971" y="1538978"/>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1" name="正方形/長方形 60">
            <a:extLst>
              <a:ext uri="{FF2B5EF4-FFF2-40B4-BE49-F238E27FC236}">
                <a16:creationId xmlns:a16="http://schemas.microsoft.com/office/drawing/2014/main" id="{189F94FB-CD47-58D8-508C-7E12F06E82B8}"/>
              </a:ext>
            </a:extLst>
          </p:cNvPr>
          <p:cNvSpPr/>
          <p:nvPr/>
        </p:nvSpPr>
        <p:spPr bwMode="auto">
          <a:xfrm>
            <a:off x="3575972" y="1538979"/>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4B597429-ED9C-17EA-8F06-8F7072BC05A7}"/>
              </a:ext>
            </a:extLst>
          </p:cNvPr>
          <p:cNvSpPr>
            <a:spLocks noGrp="1"/>
          </p:cNvSpPr>
          <p:nvPr>
            <p:ph type="title"/>
          </p:nvPr>
        </p:nvSpPr>
        <p:spPr>
          <a:xfrm>
            <a:off x="785941" y="0"/>
            <a:ext cx="10776052" cy="908972"/>
          </a:xfrm>
        </p:spPr>
        <p:txBody>
          <a:bodyPr/>
          <a:lstStyle/>
          <a:p>
            <a:r>
              <a:rPr kumimoji="1" lang="ja-JP" altLang="en-US" dirty="0"/>
              <a:t>上側を並列繋ぎ，下側を直列繋ぎにすると </a:t>
            </a:r>
            <a:r>
              <a:rPr kumimoji="1" lang="en-US" altLang="ja-JP" dirty="0"/>
              <a:t>NAND </a:t>
            </a:r>
            <a:r>
              <a:rPr kumimoji="1" lang="ja-JP" altLang="en-US" dirty="0"/>
              <a:t>になる</a:t>
            </a:r>
            <a:endParaRPr kumimoji="1" lang="en-US" dirty="0"/>
          </a:p>
        </p:txBody>
      </p:sp>
      <p:sp>
        <p:nvSpPr>
          <p:cNvPr id="4" name="正方形/長方形 3">
            <a:extLst>
              <a:ext uri="{FF2B5EF4-FFF2-40B4-BE49-F238E27FC236}">
                <a16:creationId xmlns:a16="http://schemas.microsoft.com/office/drawing/2014/main" id="{F544FA4C-00BA-214A-5907-8ED7A8B470D8}"/>
              </a:ext>
            </a:extLst>
          </p:cNvPr>
          <p:cNvSpPr/>
          <p:nvPr/>
        </p:nvSpPr>
        <p:spPr bwMode="auto">
          <a:xfrm>
            <a:off x="5105991" y="4419011"/>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CA8DD28-BDEA-4217-483B-547B8A4F03E1}"/>
              </a:ext>
            </a:extLst>
          </p:cNvPr>
          <p:cNvCxnSpPr>
            <a:cxnSpLocks/>
          </p:cNvCxnSpPr>
          <p:nvPr/>
        </p:nvCxnSpPr>
        <p:spPr bwMode="auto">
          <a:xfrm>
            <a:off x="5105991" y="4779016"/>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9FF45AE4-8EF4-A14D-6340-03FCA5EDEA87}"/>
              </a:ext>
            </a:extLst>
          </p:cNvPr>
          <p:cNvCxnSpPr>
            <a:cxnSpLocks/>
          </p:cNvCxnSpPr>
          <p:nvPr/>
        </p:nvCxnSpPr>
        <p:spPr bwMode="auto">
          <a:xfrm>
            <a:off x="5105991" y="4329010"/>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0E1209BB-7D84-34D0-606D-4BE912DA4A26}"/>
              </a:ext>
            </a:extLst>
          </p:cNvPr>
          <p:cNvCxnSpPr>
            <a:cxnSpLocks/>
          </p:cNvCxnSpPr>
          <p:nvPr/>
        </p:nvCxnSpPr>
        <p:spPr bwMode="auto">
          <a:xfrm>
            <a:off x="5645997" y="4329010"/>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9110A407-7179-A860-E9DD-0F4D96E9528D}"/>
              </a:ext>
            </a:extLst>
          </p:cNvPr>
          <p:cNvCxnSpPr>
            <a:cxnSpLocks/>
          </p:cNvCxnSpPr>
          <p:nvPr/>
        </p:nvCxnSpPr>
        <p:spPr bwMode="auto">
          <a:xfrm flipV="1">
            <a:off x="5375992" y="4779016"/>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C4D5BD-FC80-624E-F378-A4EA5C36A7BB}"/>
              </a:ext>
            </a:extLst>
          </p:cNvPr>
          <p:cNvSpPr/>
          <p:nvPr/>
        </p:nvSpPr>
        <p:spPr bwMode="auto">
          <a:xfrm rot="5400000">
            <a:off x="6861008" y="2933995"/>
            <a:ext cx="180002" cy="459005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21FB108E-B80A-7304-E181-A256084CEB5A}"/>
              </a:ext>
            </a:extLst>
          </p:cNvPr>
          <p:cNvCxnSpPr>
            <a:cxnSpLocks/>
          </p:cNvCxnSpPr>
          <p:nvPr/>
        </p:nvCxnSpPr>
        <p:spPr bwMode="auto">
          <a:xfrm>
            <a:off x="5465995" y="5139021"/>
            <a:ext cx="3600038"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DAC7A46-7F1E-08E5-39B7-E9756DAAADF2}"/>
              </a:ext>
            </a:extLst>
          </p:cNvPr>
          <p:cNvCxnSpPr>
            <a:cxnSpLocks/>
          </p:cNvCxnSpPr>
          <p:nvPr/>
        </p:nvCxnSpPr>
        <p:spPr bwMode="auto">
          <a:xfrm>
            <a:off x="4655984" y="5319021"/>
            <a:ext cx="4590051"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E4EEC248-333D-8B1D-3691-F49076842A5A}"/>
              </a:ext>
            </a:extLst>
          </p:cNvPr>
          <p:cNvCxnSpPr>
            <a:cxnSpLocks/>
          </p:cNvCxnSpPr>
          <p:nvPr/>
        </p:nvCxnSpPr>
        <p:spPr bwMode="auto">
          <a:xfrm>
            <a:off x="4655984" y="5139019"/>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3" name="正方形/長方形 12">
            <a:extLst>
              <a:ext uri="{FF2B5EF4-FFF2-40B4-BE49-F238E27FC236}">
                <a16:creationId xmlns:a16="http://schemas.microsoft.com/office/drawing/2014/main" id="{F1A07955-D96B-635D-E33D-F48ED8823A53}"/>
              </a:ext>
            </a:extLst>
          </p:cNvPr>
          <p:cNvSpPr/>
          <p:nvPr/>
        </p:nvSpPr>
        <p:spPr bwMode="auto">
          <a:xfrm rot="5400000">
            <a:off x="5285991" y="4959018"/>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 name="グループ化 13">
            <a:extLst>
              <a:ext uri="{FF2B5EF4-FFF2-40B4-BE49-F238E27FC236}">
                <a16:creationId xmlns:a16="http://schemas.microsoft.com/office/drawing/2014/main" id="{1A1097E2-63CF-C02F-E881-EA114310949F}"/>
              </a:ext>
            </a:extLst>
          </p:cNvPr>
          <p:cNvGrpSpPr/>
          <p:nvPr/>
        </p:nvGrpSpPr>
        <p:grpSpPr>
          <a:xfrm>
            <a:off x="5285991" y="5769025"/>
            <a:ext cx="180003" cy="360004"/>
            <a:chOff x="3131985" y="5049018"/>
            <a:chExt cx="180002" cy="437056"/>
          </a:xfrm>
        </p:grpSpPr>
        <p:grpSp>
          <p:nvGrpSpPr>
            <p:cNvPr id="15" name="グループ化 14">
              <a:extLst>
                <a:ext uri="{FF2B5EF4-FFF2-40B4-BE49-F238E27FC236}">
                  <a16:creationId xmlns:a16="http://schemas.microsoft.com/office/drawing/2014/main" id="{6A766BE0-31F6-841D-510E-1AF93ED8CEE0}"/>
                </a:ext>
              </a:extLst>
            </p:cNvPr>
            <p:cNvGrpSpPr/>
            <p:nvPr/>
          </p:nvGrpSpPr>
          <p:grpSpPr>
            <a:xfrm>
              <a:off x="3131985" y="5139021"/>
              <a:ext cx="180002" cy="254126"/>
              <a:chOff x="3131984" y="5191944"/>
              <a:chExt cx="270003" cy="201854"/>
            </a:xfrm>
          </p:grpSpPr>
          <p:sp>
            <p:nvSpPr>
              <p:cNvPr id="18" name="Freeform 42">
                <a:extLst>
                  <a:ext uri="{FF2B5EF4-FFF2-40B4-BE49-F238E27FC236}">
                    <a16:creationId xmlns:a16="http://schemas.microsoft.com/office/drawing/2014/main" id="{BFE0788F-0661-7E75-AC7F-F1B8E0D2511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9" name="Freeform 42">
                <a:extLst>
                  <a:ext uri="{FF2B5EF4-FFF2-40B4-BE49-F238E27FC236}">
                    <a16:creationId xmlns:a16="http://schemas.microsoft.com/office/drawing/2014/main" id="{3C9E81BC-7D74-199B-137A-B65138B6CB6C}"/>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0" name="Freeform 42">
                <a:extLst>
                  <a:ext uri="{FF2B5EF4-FFF2-40B4-BE49-F238E27FC236}">
                    <a16:creationId xmlns:a16="http://schemas.microsoft.com/office/drawing/2014/main" id="{D02CC5F9-232B-B46F-BD1B-65BA6613F97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1" name="Freeform 42">
                <a:extLst>
                  <a:ext uri="{FF2B5EF4-FFF2-40B4-BE49-F238E27FC236}">
                    <a16:creationId xmlns:a16="http://schemas.microsoft.com/office/drawing/2014/main" id="{F3F5F700-4B5B-1871-D3E1-E317E5174B5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6" name="直線コネクタ 15">
              <a:extLst>
                <a:ext uri="{FF2B5EF4-FFF2-40B4-BE49-F238E27FC236}">
                  <a16:creationId xmlns:a16="http://schemas.microsoft.com/office/drawing/2014/main" id="{DEBE7EEE-D4A9-F677-302C-58D07918BE2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817B8ABC-2556-EF97-059A-25D77D0E1D9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3" name="正方形/長方形 22">
            <a:extLst>
              <a:ext uri="{FF2B5EF4-FFF2-40B4-BE49-F238E27FC236}">
                <a16:creationId xmlns:a16="http://schemas.microsoft.com/office/drawing/2014/main" id="{5E962D30-BC1A-9CCF-81BD-737F9889DFF7}"/>
              </a:ext>
            </a:extLst>
          </p:cNvPr>
          <p:cNvSpPr/>
          <p:nvPr/>
        </p:nvSpPr>
        <p:spPr bwMode="auto">
          <a:xfrm rot="5400000" flipH="1">
            <a:off x="5150987" y="5454021"/>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 name="直線コネクタ 23">
            <a:extLst>
              <a:ext uri="{FF2B5EF4-FFF2-40B4-BE49-F238E27FC236}">
                <a16:creationId xmlns:a16="http://schemas.microsoft.com/office/drawing/2014/main" id="{E747155E-616C-B82A-A513-27FF90D45F3E}"/>
              </a:ext>
            </a:extLst>
          </p:cNvPr>
          <p:cNvCxnSpPr>
            <a:cxnSpLocks/>
          </p:cNvCxnSpPr>
          <p:nvPr/>
        </p:nvCxnSpPr>
        <p:spPr bwMode="auto">
          <a:xfrm flipH="1">
            <a:off x="5465991" y="5139018"/>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5" name="直線コネクタ 24">
            <a:extLst>
              <a:ext uri="{FF2B5EF4-FFF2-40B4-BE49-F238E27FC236}">
                <a16:creationId xmlns:a16="http://schemas.microsoft.com/office/drawing/2014/main" id="{61C53AEF-2019-4BE2-F329-438DC5FCD241}"/>
              </a:ext>
            </a:extLst>
          </p:cNvPr>
          <p:cNvCxnSpPr>
            <a:cxnSpLocks/>
          </p:cNvCxnSpPr>
          <p:nvPr/>
        </p:nvCxnSpPr>
        <p:spPr bwMode="auto">
          <a:xfrm flipH="1">
            <a:off x="5285990" y="5139018"/>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8" name="Rectangle 93">
            <a:extLst>
              <a:ext uri="{FF2B5EF4-FFF2-40B4-BE49-F238E27FC236}">
                <a16:creationId xmlns:a16="http://schemas.microsoft.com/office/drawing/2014/main" id="{A6E1F0A5-637C-4A83-49B3-2F6E01BE7BF4}"/>
              </a:ext>
            </a:extLst>
          </p:cNvPr>
          <p:cNvSpPr>
            <a:spLocks noChangeArrowheads="1"/>
          </p:cNvSpPr>
          <p:nvPr/>
        </p:nvSpPr>
        <p:spPr bwMode="auto">
          <a:xfrm>
            <a:off x="5195989" y="396900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9" name="Rectangle 93">
            <a:extLst>
              <a:ext uri="{FF2B5EF4-FFF2-40B4-BE49-F238E27FC236}">
                <a16:creationId xmlns:a16="http://schemas.microsoft.com/office/drawing/2014/main" id="{C7F9F294-CD79-ED69-3EA7-8D42202ED10D}"/>
              </a:ext>
            </a:extLst>
          </p:cNvPr>
          <p:cNvSpPr>
            <a:spLocks noChangeArrowheads="1"/>
          </p:cNvSpPr>
          <p:nvPr/>
        </p:nvSpPr>
        <p:spPr bwMode="auto">
          <a:xfrm>
            <a:off x="5555994"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0" name="正方形/長方形 29">
            <a:extLst>
              <a:ext uri="{FF2B5EF4-FFF2-40B4-BE49-F238E27FC236}">
                <a16:creationId xmlns:a16="http://schemas.microsoft.com/office/drawing/2014/main" id="{457735FA-B2AE-E136-2350-5AAAB8D6BFD8}"/>
              </a:ext>
            </a:extLst>
          </p:cNvPr>
          <p:cNvSpPr/>
          <p:nvPr/>
        </p:nvSpPr>
        <p:spPr bwMode="auto">
          <a:xfrm>
            <a:off x="5105991" y="1448978"/>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1" name="直線コネクタ 30">
            <a:extLst>
              <a:ext uri="{FF2B5EF4-FFF2-40B4-BE49-F238E27FC236}">
                <a16:creationId xmlns:a16="http://schemas.microsoft.com/office/drawing/2014/main" id="{EC1BAFBF-F348-E3F0-8DD7-0E191DF4A80A}"/>
              </a:ext>
            </a:extLst>
          </p:cNvPr>
          <p:cNvCxnSpPr>
            <a:cxnSpLocks/>
          </p:cNvCxnSpPr>
          <p:nvPr/>
        </p:nvCxnSpPr>
        <p:spPr bwMode="auto">
          <a:xfrm>
            <a:off x="5105991" y="180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5F83FEB7-F168-4AA0-408B-C4EE65EB999B}"/>
              </a:ext>
            </a:extLst>
          </p:cNvPr>
          <p:cNvCxnSpPr>
            <a:cxnSpLocks/>
          </p:cNvCxnSpPr>
          <p:nvPr/>
        </p:nvCxnSpPr>
        <p:spPr bwMode="auto">
          <a:xfrm>
            <a:off x="5105991" y="135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687F5C2C-BC4F-CC32-6655-CEB790EE9DFC}"/>
              </a:ext>
            </a:extLst>
          </p:cNvPr>
          <p:cNvCxnSpPr>
            <a:cxnSpLocks/>
          </p:cNvCxnSpPr>
          <p:nvPr/>
        </p:nvCxnSpPr>
        <p:spPr bwMode="auto">
          <a:xfrm>
            <a:off x="5645997" y="135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848E4AC0-DD0A-986F-5ECA-87E203E09E6D}"/>
              </a:ext>
            </a:extLst>
          </p:cNvPr>
          <p:cNvCxnSpPr>
            <a:cxnSpLocks/>
          </p:cNvCxnSpPr>
          <p:nvPr/>
        </p:nvCxnSpPr>
        <p:spPr bwMode="auto">
          <a:xfrm flipV="1">
            <a:off x="5375992" y="180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8EE91B14-87A0-DFC8-D868-F03CE904D370}"/>
              </a:ext>
            </a:extLst>
          </p:cNvPr>
          <p:cNvSpPr/>
          <p:nvPr/>
        </p:nvSpPr>
        <p:spPr bwMode="auto">
          <a:xfrm rot="5400000">
            <a:off x="4880986" y="1943984"/>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A53B8040-7D9A-D0C8-65EC-B3CC8DEE24A1}"/>
              </a:ext>
            </a:extLst>
          </p:cNvPr>
          <p:cNvCxnSpPr>
            <a:cxnSpLocks/>
          </p:cNvCxnSpPr>
          <p:nvPr/>
        </p:nvCxnSpPr>
        <p:spPr bwMode="auto">
          <a:xfrm>
            <a:off x="5465995" y="2168988"/>
            <a:ext cx="1170011"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8B8EDD5A-60CD-5C11-370A-7E2BE8A9A936}"/>
              </a:ext>
            </a:extLst>
          </p:cNvPr>
          <p:cNvCxnSpPr>
            <a:cxnSpLocks/>
          </p:cNvCxnSpPr>
          <p:nvPr/>
        </p:nvCxnSpPr>
        <p:spPr bwMode="auto">
          <a:xfrm>
            <a:off x="4655984" y="2348988"/>
            <a:ext cx="1800020"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B61B936A-6390-88E9-6BDB-4AE884744437}"/>
              </a:ext>
            </a:extLst>
          </p:cNvPr>
          <p:cNvCxnSpPr>
            <a:cxnSpLocks/>
          </p:cNvCxnSpPr>
          <p:nvPr/>
        </p:nvCxnSpPr>
        <p:spPr bwMode="auto">
          <a:xfrm>
            <a:off x="4655984" y="2168986"/>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9" name="正方形/長方形 38">
            <a:extLst>
              <a:ext uri="{FF2B5EF4-FFF2-40B4-BE49-F238E27FC236}">
                <a16:creationId xmlns:a16="http://schemas.microsoft.com/office/drawing/2014/main" id="{064BB3E3-F82A-7244-ED20-211E6F41C563}"/>
              </a:ext>
            </a:extLst>
          </p:cNvPr>
          <p:cNvSpPr/>
          <p:nvPr/>
        </p:nvSpPr>
        <p:spPr bwMode="auto">
          <a:xfrm rot="5400000">
            <a:off x="5105989" y="2168987"/>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40" name="グループ化 39">
            <a:extLst>
              <a:ext uri="{FF2B5EF4-FFF2-40B4-BE49-F238E27FC236}">
                <a16:creationId xmlns:a16="http://schemas.microsoft.com/office/drawing/2014/main" id="{77A1003C-14D8-BD30-6A1A-AABC2E217974}"/>
              </a:ext>
            </a:extLst>
          </p:cNvPr>
          <p:cNvGrpSpPr/>
          <p:nvPr/>
        </p:nvGrpSpPr>
        <p:grpSpPr>
          <a:xfrm>
            <a:off x="5285991" y="2798992"/>
            <a:ext cx="180003" cy="360004"/>
            <a:chOff x="3131985" y="5049018"/>
            <a:chExt cx="180002" cy="437056"/>
          </a:xfrm>
        </p:grpSpPr>
        <p:grpSp>
          <p:nvGrpSpPr>
            <p:cNvPr id="41" name="グループ化 40">
              <a:extLst>
                <a:ext uri="{FF2B5EF4-FFF2-40B4-BE49-F238E27FC236}">
                  <a16:creationId xmlns:a16="http://schemas.microsoft.com/office/drawing/2014/main" id="{319F5EB2-E682-AB62-560B-829DC858CA57}"/>
                </a:ext>
              </a:extLst>
            </p:cNvPr>
            <p:cNvGrpSpPr/>
            <p:nvPr/>
          </p:nvGrpSpPr>
          <p:grpSpPr>
            <a:xfrm>
              <a:off x="3131985" y="5139021"/>
              <a:ext cx="180002" cy="254126"/>
              <a:chOff x="3131984" y="5191944"/>
              <a:chExt cx="270003" cy="201854"/>
            </a:xfrm>
          </p:grpSpPr>
          <p:sp>
            <p:nvSpPr>
              <p:cNvPr id="44" name="Freeform 42">
                <a:extLst>
                  <a:ext uri="{FF2B5EF4-FFF2-40B4-BE49-F238E27FC236}">
                    <a16:creationId xmlns:a16="http://schemas.microsoft.com/office/drawing/2014/main" id="{5AE946A1-4C78-EFCE-DBC3-238A17F3143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99F3755D-6142-F321-7374-79753D2FF3AD}"/>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45F316AD-4A7B-5BB1-2E3D-E2FA4C91BC4D}"/>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7" name="Freeform 42">
                <a:extLst>
                  <a:ext uri="{FF2B5EF4-FFF2-40B4-BE49-F238E27FC236}">
                    <a16:creationId xmlns:a16="http://schemas.microsoft.com/office/drawing/2014/main" id="{D182CF62-B608-15CC-6D7B-31420AF9EC4C}"/>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2" name="直線コネクタ 41">
              <a:extLst>
                <a:ext uri="{FF2B5EF4-FFF2-40B4-BE49-F238E27FC236}">
                  <a16:creationId xmlns:a16="http://schemas.microsoft.com/office/drawing/2014/main" id="{FD7EBF8B-5EF3-F172-D179-27E6355509A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F6024F1-4D05-1891-FC8A-B7EA3FFB9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9" name="正方形/長方形 48">
            <a:extLst>
              <a:ext uri="{FF2B5EF4-FFF2-40B4-BE49-F238E27FC236}">
                <a16:creationId xmlns:a16="http://schemas.microsoft.com/office/drawing/2014/main" id="{89C9F02A-C8EF-A1A2-C04C-913028BD21F7}"/>
              </a:ext>
            </a:extLst>
          </p:cNvPr>
          <p:cNvSpPr/>
          <p:nvPr/>
        </p:nvSpPr>
        <p:spPr bwMode="auto">
          <a:xfrm rot="5400000" flipH="1">
            <a:off x="5330989" y="2663990"/>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0" name="直線コネクタ 49">
            <a:extLst>
              <a:ext uri="{FF2B5EF4-FFF2-40B4-BE49-F238E27FC236}">
                <a16:creationId xmlns:a16="http://schemas.microsoft.com/office/drawing/2014/main" id="{6FBD7FF1-D8BA-F6EB-C6B9-B1BD608D4793}"/>
              </a:ext>
            </a:extLst>
          </p:cNvPr>
          <p:cNvCxnSpPr>
            <a:cxnSpLocks/>
          </p:cNvCxnSpPr>
          <p:nvPr/>
        </p:nvCxnSpPr>
        <p:spPr bwMode="auto">
          <a:xfrm flipH="1">
            <a:off x="5465993" y="2528989"/>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1" name="直線コネクタ 50">
            <a:extLst>
              <a:ext uri="{FF2B5EF4-FFF2-40B4-BE49-F238E27FC236}">
                <a16:creationId xmlns:a16="http://schemas.microsoft.com/office/drawing/2014/main" id="{A6CD5A5A-F97F-6352-0D29-7D71D2D4BBA4}"/>
              </a:ext>
            </a:extLst>
          </p:cNvPr>
          <p:cNvCxnSpPr>
            <a:cxnSpLocks/>
          </p:cNvCxnSpPr>
          <p:nvPr/>
        </p:nvCxnSpPr>
        <p:spPr bwMode="auto">
          <a:xfrm flipH="1">
            <a:off x="5285992" y="2528989"/>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53" name="Rectangle 93">
            <a:extLst>
              <a:ext uri="{FF2B5EF4-FFF2-40B4-BE49-F238E27FC236}">
                <a16:creationId xmlns:a16="http://schemas.microsoft.com/office/drawing/2014/main" id="{A1D33B49-0E0A-5405-D883-E378553FCF9A}"/>
              </a:ext>
            </a:extLst>
          </p:cNvPr>
          <p:cNvSpPr>
            <a:spLocks noChangeArrowheads="1"/>
          </p:cNvSpPr>
          <p:nvPr/>
        </p:nvSpPr>
        <p:spPr bwMode="auto">
          <a:xfrm>
            <a:off x="5195989" y="99897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4" name="Rectangle 93">
            <a:extLst>
              <a:ext uri="{FF2B5EF4-FFF2-40B4-BE49-F238E27FC236}">
                <a16:creationId xmlns:a16="http://schemas.microsoft.com/office/drawing/2014/main" id="{0C82557C-7F05-18D3-6483-D6947F3A2B23}"/>
              </a:ext>
            </a:extLst>
          </p:cNvPr>
          <p:cNvSpPr>
            <a:spLocks noChangeArrowheads="1"/>
          </p:cNvSpPr>
          <p:nvPr/>
        </p:nvSpPr>
        <p:spPr bwMode="auto">
          <a:xfrm>
            <a:off x="4835986"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5" name="Rectangle 93">
            <a:extLst>
              <a:ext uri="{FF2B5EF4-FFF2-40B4-BE49-F238E27FC236}">
                <a16:creationId xmlns:a16="http://schemas.microsoft.com/office/drawing/2014/main" id="{97A6E237-906F-47C5-EEB7-3E7E0782AE01}"/>
              </a:ext>
            </a:extLst>
          </p:cNvPr>
          <p:cNvSpPr>
            <a:spLocks noChangeArrowheads="1"/>
          </p:cNvSpPr>
          <p:nvPr/>
        </p:nvSpPr>
        <p:spPr bwMode="auto">
          <a:xfrm>
            <a:off x="5555994"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6" name="直線コネクタ 55">
            <a:extLst>
              <a:ext uri="{FF2B5EF4-FFF2-40B4-BE49-F238E27FC236}">
                <a16:creationId xmlns:a16="http://schemas.microsoft.com/office/drawing/2014/main" id="{23E0CC98-122A-A055-3218-0415458954E0}"/>
              </a:ext>
            </a:extLst>
          </p:cNvPr>
          <p:cNvCxnSpPr>
            <a:cxnSpLocks/>
          </p:cNvCxnSpPr>
          <p:nvPr/>
        </p:nvCxnSpPr>
        <p:spPr bwMode="auto">
          <a:xfrm>
            <a:off x="3395970" y="1538979"/>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982814F1-9D3A-BAA5-7F3B-CD32D28714E6}"/>
              </a:ext>
            </a:extLst>
          </p:cNvPr>
          <p:cNvCxnSpPr>
            <a:cxnSpLocks/>
          </p:cNvCxnSpPr>
          <p:nvPr/>
        </p:nvCxnSpPr>
        <p:spPr bwMode="auto">
          <a:xfrm>
            <a:off x="3575972" y="171898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59" name="直線コネクタ 58">
            <a:extLst>
              <a:ext uri="{FF2B5EF4-FFF2-40B4-BE49-F238E27FC236}">
                <a16:creationId xmlns:a16="http://schemas.microsoft.com/office/drawing/2014/main" id="{425431E0-1C84-EE3C-BE1B-06C01DB66602}"/>
              </a:ext>
            </a:extLst>
          </p:cNvPr>
          <p:cNvCxnSpPr>
            <a:cxnSpLocks/>
          </p:cNvCxnSpPr>
          <p:nvPr/>
        </p:nvCxnSpPr>
        <p:spPr bwMode="auto">
          <a:xfrm flipV="1">
            <a:off x="5105989" y="171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A7D99AB1-3420-212E-A301-70EB9BBDA895}"/>
              </a:ext>
            </a:extLst>
          </p:cNvPr>
          <p:cNvCxnSpPr>
            <a:cxnSpLocks/>
          </p:cNvCxnSpPr>
          <p:nvPr/>
        </p:nvCxnSpPr>
        <p:spPr bwMode="auto">
          <a:xfrm>
            <a:off x="5105991" y="4689014"/>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71" name="正方形/長方形 70">
            <a:extLst>
              <a:ext uri="{FF2B5EF4-FFF2-40B4-BE49-F238E27FC236}">
                <a16:creationId xmlns:a16="http://schemas.microsoft.com/office/drawing/2014/main" id="{204CC98B-1457-ED2D-74B1-E4FF5A8A7ED0}"/>
              </a:ext>
            </a:extLst>
          </p:cNvPr>
          <p:cNvSpPr/>
          <p:nvPr/>
        </p:nvSpPr>
        <p:spPr bwMode="auto">
          <a:xfrm>
            <a:off x="3575972" y="450901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2" name="直線コネクタ 71">
            <a:extLst>
              <a:ext uri="{FF2B5EF4-FFF2-40B4-BE49-F238E27FC236}">
                <a16:creationId xmlns:a16="http://schemas.microsoft.com/office/drawing/2014/main" id="{2E68B43D-79DB-CEE5-868A-F9BF7D942A69}"/>
              </a:ext>
            </a:extLst>
          </p:cNvPr>
          <p:cNvCxnSpPr>
            <a:cxnSpLocks/>
          </p:cNvCxnSpPr>
          <p:nvPr/>
        </p:nvCxnSpPr>
        <p:spPr bwMode="auto">
          <a:xfrm>
            <a:off x="3575972" y="450901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3D69834B-9540-EA02-A7C6-D9FB23052322}"/>
              </a:ext>
            </a:extLst>
          </p:cNvPr>
          <p:cNvCxnSpPr>
            <a:cxnSpLocks/>
          </p:cNvCxnSpPr>
          <p:nvPr/>
        </p:nvCxnSpPr>
        <p:spPr bwMode="auto">
          <a:xfrm>
            <a:off x="3395970" y="4689014"/>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E680117D-D4BB-51E2-3844-3CCEFAD160B8}"/>
              </a:ext>
            </a:extLst>
          </p:cNvPr>
          <p:cNvCxnSpPr>
            <a:cxnSpLocks/>
          </p:cNvCxnSpPr>
          <p:nvPr/>
        </p:nvCxnSpPr>
        <p:spPr bwMode="auto">
          <a:xfrm>
            <a:off x="9246035" y="351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AC0C644D-75DB-9E92-EF30-641AADFFD27B}"/>
              </a:ext>
            </a:extLst>
          </p:cNvPr>
          <p:cNvCxnSpPr>
            <a:cxnSpLocks/>
          </p:cNvCxnSpPr>
          <p:nvPr/>
        </p:nvCxnSpPr>
        <p:spPr bwMode="auto">
          <a:xfrm>
            <a:off x="9246035" y="369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1101B623-6579-0836-B0B1-4AD579CDD22A}"/>
              </a:ext>
            </a:extLst>
          </p:cNvPr>
          <p:cNvCxnSpPr>
            <a:cxnSpLocks/>
          </p:cNvCxnSpPr>
          <p:nvPr/>
        </p:nvCxnSpPr>
        <p:spPr bwMode="auto">
          <a:xfrm>
            <a:off x="9066033" y="2348988"/>
            <a:ext cx="0" cy="1170013"/>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6210A10-53C7-DB4C-689D-6137EE5510D5}"/>
              </a:ext>
            </a:extLst>
          </p:cNvPr>
          <p:cNvCxnSpPr>
            <a:cxnSpLocks/>
          </p:cNvCxnSpPr>
          <p:nvPr/>
        </p:nvCxnSpPr>
        <p:spPr bwMode="auto">
          <a:xfrm>
            <a:off x="9246572" y="3699003"/>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7C470485-C42B-82D1-1AA7-5940BF978DED}"/>
              </a:ext>
            </a:extLst>
          </p:cNvPr>
          <p:cNvCxnSpPr>
            <a:cxnSpLocks/>
          </p:cNvCxnSpPr>
          <p:nvPr/>
        </p:nvCxnSpPr>
        <p:spPr bwMode="auto">
          <a:xfrm>
            <a:off x="3575972" y="1718981"/>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CED6976B-13B1-066E-DF3A-20029DA5BA13}"/>
              </a:ext>
            </a:extLst>
          </p:cNvPr>
          <p:cNvCxnSpPr>
            <a:cxnSpLocks/>
          </p:cNvCxnSpPr>
          <p:nvPr/>
        </p:nvCxnSpPr>
        <p:spPr bwMode="auto">
          <a:xfrm>
            <a:off x="3395970" y="1538979"/>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2DD57243-B35A-393A-64A4-63154A115AED}"/>
              </a:ext>
            </a:extLst>
          </p:cNvPr>
          <p:cNvCxnSpPr>
            <a:cxnSpLocks/>
          </p:cNvCxnSpPr>
          <p:nvPr/>
        </p:nvCxnSpPr>
        <p:spPr bwMode="auto">
          <a:xfrm>
            <a:off x="3395970" y="3338999"/>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94" name="正方形/長方形 93">
            <a:extLst>
              <a:ext uri="{FF2B5EF4-FFF2-40B4-BE49-F238E27FC236}">
                <a16:creationId xmlns:a16="http://schemas.microsoft.com/office/drawing/2014/main" id="{7DF2351E-1754-2E16-0918-D906EE7FA2EA}"/>
              </a:ext>
            </a:extLst>
          </p:cNvPr>
          <p:cNvSpPr/>
          <p:nvPr/>
        </p:nvSpPr>
        <p:spPr bwMode="auto">
          <a:xfrm>
            <a:off x="1865953" y="3158997"/>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5" name="直線コネクタ 94">
            <a:extLst>
              <a:ext uri="{FF2B5EF4-FFF2-40B4-BE49-F238E27FC236}">
                <a16:creationId xmlns:a16="http://schemas.microsoft.com/office/drawing/2014/main" id="{7F8EC8BC-79F8-EA8A-3C14-0011C6427DC2}"/>
              </a:ext>
            </a:extLst>
          </p:cNvPr>
          <p:cNvCxnSpPr>
            <a:cxnSpLocks/>
          </p:cNvCxnSpPr>
          <p:nvPr/>
        </p:nvCxnSpPr>
        <p:spPr bwMode="auto">
          <a:xfrm>
            <a:off x="1865953" y="315899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95ECA90E-09F7-B274-1519-52292E9C54E9}"/>
              </a:ext>
            </a:extLst>
          </p:cNvPr>
          <p:cNvCxnSpPr>
            <a:cxnSpLocks/>
          </p:cNvCxnSpPr>
          <p:nvPr/>
        </p:nvCxnSpPr>
        <p:spPr bwMode="auto">
          <a:xfrm>
            <a:off x="1865953"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30A39633-03E6-5E7F-9007-43C46784B409}"/>
              </a:ext>
            </a:extLst>
          </p:cNvPr>
          <p:cNvCxnSpPr>
            <a:cxnSpLocks/>
          </p:cNvCxnSpPr>
          <p:nvPr/>
        </p:nvCxnSpPr>
        <p:spPr bwMode="auto">
          <a:xfrm>
            <a:off x="9246035" y="2168986"/>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矢印コネクタ 114">
            <a:extLst>
              <a:ext uri="{FF2B5EF4-FFF2-40B4-BE49-F238E27FC236}">
                <a16:creationId xmlns:a16="http://schemas.microsoft.com/office/drawing/2014/main" id="{1B54ABA9-06F8-2239-CAC1-4C7506F101A1}"/>
              </a:ext>
            </a:extLst>
          </p:cNvPr>
          <p:cNvCxnSpPr>
            <a:cxnSpLocks/>
          </p:cNvCxnSpPr>
          <p:nvPr/>
        </p:nvCxnSpPr>
        <p:spPr bwMode="auto">
          <a:xfrm flipH="1">
            <a:off x="4655984" y="5229020"/>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29" name="Rectangle 93">
            <a:extLst>
              <a:ext uri="{FF2B5EF4-FFF2-40B4-BE49-F238E27FC236}">
                <a16:creationId xmlns:a16="http://schemas.microsoft.com/office/drawing/2014/main" id="{AAC2B2B0-A35B-EC6E-C09F-3AF024D2C5AE}"/>
              </a:ext>
            </a:extLst>
          </p:cNvPr>
          <p:cNvSpPr>
            <a:spLocks noChangeArrowheads="1"/>
          </p:cNvSpPr>
          <p:nvPr/>
        </p:nvSpPr>
        <p:spPr bwMode="auto">
          <a:xfrm>
            <a:off x="4835986"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0" name="正方形/長方形 129">
            <a:extLst>
              <a:ext uri="{FF2B5EF4-FFF2-40B4-BE49-F238E27FC236}">
                <a16:creationId xmlns:a16="http://schemas.microsoft.com/office/drawing/2014/main" id="{15A3387C-E38C-1590-ABCC-6E1E9F555173}"/>
              </a:ext>
            </a:extLst>
          </p:cNvPr>
          <p:cNvSpPr/>
          <p:nvPr/>
        </p:nvSpPr>
        <p:spPr bwMode="auto">
          <a:xfrm>
            <a:off x="4385981" y="216898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31" name="正方形/長方形 130">
            <a:extLst>
              <a:ext uri="{FF2B5EF4-FFF2-40B4-BE49-F238E27FC236}">
                <a16:creationId xmlns:a16="http://schemas.microsoft.com/office/drawing/2014/main" id="{5BC8114E-7CC1-1E31-27E5-F349BF74BB70}"/>
              </a:ext>
            </a:extLst>
          </p:cNvPr>
          <p:cNvSpPr/>
          <p:nvPr/>
        </p:nvSpPr>
        <p:spPr bwMode="auto">
          <a:xfrm>
            <a:off x="4385981" y="513901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6CD406D2-14D5-AFD4-A2F2-41A61388AE9A}"/>
              </a:ext>
            </a:extLst>
          </p:cNvPr>
          <p:cNvSpPr/>
          <p:nvPr/>
        </p:nvSpPr>
        <p:spPr bwMode="auto">
          <a:xfrm>
            <a:off x="1775952" y="261899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A=1</a:t>
            </a:r>
            <a:endParaRPr lang="ja-JP" altLang="en-US" sz="1600" dirty="0">
              <a:solidFill>
                <a:schemeClr val="tx1">
                  <a:lumMod val="75000"/>
                  <a:lumOff val="25000"/>
                </a:schemeClr>
              </a:solidFill>
            </a:endParaRPr>
          </a:p>
        </p:txBody>
      </p:sp>
      <p:sp>
        <p:nvSpPr>
          <p:cNvPr id="133" name="正方形/長方形 132">
            <a:extLst>
              <a:ext uri="{FF2B5EF4-FFF2-40B4-BE49-F238E27FC236}">
                <a16:creationId xmlns:a16="http://schemas.microsoft.com/office/drawing/2014/main" id="{83BEF989-32BA-0D17-0218-8AD8D1D2FF0C}"/>
              </a:ext>
            </a:extLst>
          </p:cNvPr>
          <p:cNvSpPr/>
          <p:nvPr/>
        </p:nvSpPr>
        <p:spPr bwMode="auto">
          <a:xfrm>
            <a:off x="10236046" y="297899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r>
              <a:rPr lang="en-US" altLang="ja-JP" sz="1600" dirty="0">
                <a:solidFill>
                  <a:schemeClr val="tx1">
                    <a:lumMod val="75000"/>
                    <a:lumOff val="25000"/>
                  </a:schemeClr>
                </a:solidFill>
              </a:rPr>
              <a:t>=0</a:t>
            </a:r>
            <a:endParaRPr lang="ja-JP" altLang="en-US" sz="1600" dirty="0">
              <a:solidFill>
                <a:schemeClr val="tx1">
                  <a:lumMod val="75000"/>
                  <a:lumOff val="25000"/>
                </a:schemeClr>
              </a:solidFill>
            </a:endParaRPr>
          </a:p>
        </p:txBody>
      </p:sp>
      <p:sp>
        <p:nvSpPr>
          <p:cNvPr id="48" name="正方形/長方形 47">
            <a:extLst>
              <a:ext uri="{FF2B5EF4-FFF2-40B4-BE49-F238E27FC236}">
                <a16:creationId xmlns:a16="http://schemas.microsoft.com/office/drawing/2014/main" id="{69EC90FC-D907-C1D2-462C-A076E5D1D5C6}"/>
              </a:ext>
            </a:extLst>
          </p:cNvPr>
          <p:cNvSpPr/>
          <p:nvPr/>
        </p:nvSpPr>
        <p:spPr bwMode="auto">
          <a:xfrm>
            <a:off x="7716020" y="1448978"/>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8" name="直線コネクタ 57">
            <a:extLst>
              <a:ext uri="{FF2B5EF4-FFF2-40B4-BE49-F238E27FC236}">
                <a16:creationId xmlns:a16="http://schemas.microsoft.com/office/drawing/2014/main" id="{7BEA5911-C5DE-CA07-16D7-2B4CF5ECA9CF}"/>
              </a:ext>
            </a:extLst>
          </p:cNvPr>
          <p:cNvCxnSpPr>
            <a:cxnSpLocks/>
          </p:cNvCxnSpPr>
          <p:nvPr/>
        </p:nvCxnSpPr>
        <p:spPr bwMode="auto">
          <a:xfrm>
            <a:off x="7716020" y="180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60" name="直線コネクタ 59">
            <a:extLst>
              <a:ext uri="{FF2B5EF4-FFF2-40B4-BE49-F238E27FC236}">
                <a16:creationId xmlns:a16="http://schemas.microsoft.com/office/drawing/2014/main" id="{90B1C0F6-FEDA-0C03-1A52-D0F71662CD43}"/>
              </a:ext>
            </a:extLst>
          </p:cNvPr>
          <p:cNvCxnSpPr>
            <a:cxnSpLocks/>
          </p:cNvCxnSpPr>
          <p:nvPr/>
        </p:nvCxnSpPr>
        <p:spPr bwMode="auto">
          <a:xfrm>
            <a:off x="7716020" y="135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62" name="直線コネクタ 61">
            <a:extLst>
              <a:ext uri="{FF2B5EF4-FFF2-40B4-BE49-F238E27FC236}">
                <a16:creationId xmlns:a16="http://schemas.microsoft.com/office/drawing/2014/main" id="{CFF9E9D8-6421-9510-F733-DAF32B0FD68D}"/>
              </a:ext>
            </a:extLst>
          </p:cNvPr>
          <p:cNvCxnSpPr>
            <a:cxnSpLocks/>
          </p:cNvCxnSpPr>
          <p:nvPr/>
        </p:nvCxnSpPr>
        <p:spPr bwMode="auto">
          <a:xfrm>
            <a:off x="8256026" y="135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63" name="直線コネクタ 62">
            <a:extLst>
              <a:ext uri="{FF2B5EF4-FFF2-40B4-BE49-F238E27FC236}">
                <a16:creationId xmlns:a16="http://schemas.microsoft.com/office/drawing/2014/main" id="{A328D87A-C4D6-F01A-DC9F-33833344F486}"/>
              </a:ext>
            </a:extLst>
          </p:cNvPr>
          <p:cNvCxnSpPr>
            <a:cxnSpLocks/>
          </p:cNvCxnSpPr>
          <p:nvPr/>
        </p:nvCxnSpPr>
        <p:spPr bwMode="auto">
          <a:xfrm flipV="1">
            <a:off x="7986021" y="180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64" name="正方形/長方形 63">
            <a:extLst>
              <a:ext uri="{FF2B5EF4-FFF2-40B4-BE49-F238E27FC236}">
                <a16:creationId xmlns:a16="http://schemas.microsoft.com/office/drawing/2014/main" id="{C28A7CA2-AC66-DF77-050C-6AADF8FD4AA5}"/>
              </a:ext>
            </a:extLst>
          </p:cNvPr>
          <p:cNvSpPr/>
          <p:nvPr/>
        </p:nvSpPr>
        <p:spPr bwMode="auto">
          <a:xfrm rot="5400000">
            <a:off x="7491015" y="1943984"/>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E90EDEE2-1B48-D6B8-FAEE-722C241DE8DD}"/>
              </a:ext>
            </a:extLst>
          </p:cNvPr>
          <p:cNvCxnSpPr>
            <a:cxnSpLocks/>
          </p:cNvCxnSpPr>
          <p:nvPr/>
        </p:nvCxnSpPr>
        <p:spPr bwMode="auto">
          <a:xfrm>
            <a:off x="8076024" y="2168988"/>
            <a:ext cx="1170011" cy="0"/>
          </a:xfrm>
          <a:prstGeom prst="line">
            <a:avLst/>
          </a:prstGeom>
          <a:noFill/>
          <a:ln w="19050" cap="flat" cmpd="sng" algn="ctr">
            <a:solidFill>
              <a:schemeClr val="tx1"/>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CE2486AA-FDE9-B962-8BDC-6BC4128238D8}"/>
              </a:ext>
            </a:extLst>
          </p:cNvPr>
          <p:cNvCxnSpPr>
            <a:cxnSpLocks/>
          </p:cNvCxnSpPr>
          <p:nvPr/>
        </p:nvCxnSpPr>
        <p:spPr bwMode="auto">
          <a:xfrm>
            <a:off x="7266013" y="2348988"/>
            <a:ext cx="1800020" cy="0"/>
          </a:xfrm>
          <a:prstGeom prst="line">
            <a:avLst/>
          </a:prstGeom>
          <a:noFill/>
          <a:ln w="19050" cap="flat" cmpd="sng" algn="ctr">
            <a:solidFill>
              <a:schemeClr val="tx1"/>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54036579-24DA-7082-B822-F29844412562}"/>
              </a:ext>
            </a:extLst>
          </p:cNvPr>
          <p:cNvCxnSpPr>
            <a:cxnSpLocks/>
          </p:cNvCxnSpPr>
          <p:nvPr/>
        </p:nvCxnSpPr>
        <p:spPr bwMode="auto">
          <a:xfrm>
            <a:off x="7266013" y="2168986"/>
            <a:ext cx="630007" cy="0"/>
          </a:xfrm>
          <a:prstGeom prst="line">
            <a:avLst/>
          </a:prstGeom>
          <a:noFill/>
          <a:ln w="19050" cap="flat" cmpd="sng" algn="ctr">
            <a:solidFill>
              <a:schemeClr val="tx1"/>
            </a:solidFill>
            <a:prstDash val="solid"/>
            <a:round/>
            <a:headEnd type="none" w="med" len="med"/>
            <a:tailEnd type="none" w="med" len="med"/>
          </a:ln>
          <a:effectLst/>
        </p:spPr>
      </p:cxnSp>
      <p:sp>
        <p:nvSpPr>
          <p:cNvPr id="69" name="正方形/長方形 68">
            <a:extLst>
              <a:ext uri="{FF2B5EF4-FFF2-40B4-BE49-F238E27FC236}">
                <a16:creationId xmlns:a16="http://schemas.microsoft.com/office/drawing/2014/main" id="{96A18304-7DAE-DA6D-E8DE-DECEFE895351}"/>
              </a:ext>
            </a:extLst>
          </p:cNvPr>
          <p:cNvSpPr/>
          <p:nvPr/>
        </p:nvSpPr>
        <p:spPr bwMode="auto">
          <a:xfrm rot="5400000">
            <a:off x="7716018" y="2168987"/>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70" name="グループ化 69">
            <a:extLst>
              <a:ext uri="{FF2B5EF4-FFF2-40B4-BE49-F238E27FC236}">
                <a16:creationId xmlns:a16="http://schemas.microsoft.com/office/drawing/2014/main" id="{DDF1C8F8-89A6-81F9-58F1-9F1AA27B18B9}"/>
              </a:ext>
            </a:extLst>
          </p:cNvPr>
          <p:cNvGrpSpPr/>
          <p:nvPr/>
        </p:nvGrpSpPr>
        <p:grpSpPr>
          <a:xfrm>
            <a:off x="7896020" y="2798992"/>
            <a:ext cx="180003" cy="360004"/>
            <a:chOff x="3131985" y="5049018"/>
            <a:chExt cx="180002" cy="437056"/>
          </a:xfrm>
        </p:grpSpPr>
        <p:grpSp>
          <p:nvGrpSpPr>
            <p:cNvPr id="74" name="グループ化 73">
              <a:extLst>
                <a:ext uri="{FF2B5EF4-FFF2-40B4-BE49-F238E27FC236}">
                  <a16:creationId xmlns:a16="http://schemas.microsoft.com/office/drawing/2014/main" id="{FC27BF53-15D3-23BE-F78F-394295CB3D11}"/>
                </a:ext>
              </a:extLst>
            </p:cNvPr>
            <p:cNvGrpSpPr/>
            <p:nvPr/>
          </p:nvGrpSpPr>
          <p:grpSpPr>
            <a:xfrm>
              <a:off x="3131985" y="5139021"/>
              <a:ext cx="180002" cy="254126"/>
              <a:chOff x="3131984" y="5191944"/>
              <a:chExt cx="270003" cy="201854"/>
            </a:xfrm>
          </p:grpSpPr>
          <p:sp>
            <p:nvSpPr>
              <p:cNvPr id="80" name="Freeform 42">
                <a:extLst>
                  <a:ext uri="{FF2B5EF4-FFF2-40B4-BE49-F238E27FC236}">
                    <a16:creationId xmlns:a16="http://schemas.microsoft.com/office/drawing/2014/main" id="{0C134794-4E8E-5541-F923-9E67F8A19471}"/>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2" name="Freeform 42">
                <a:extLst>
                  <a:ext uri="{FF2B5EF4-FFF2-40B4-BE49-F238E27FC236}">
                    <a16:creationId xmlns:a16="http://schemas.microsoft.com/office/drawing/2014/main" id="{1AEE4DC2-B663-08C6-A2BF-0D5BBD82CA7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5" name="Freeform 42">
                <a:extLst>
                  <a:ext uri="{FF2B5EF4-FFF2-40B4-BE49-F238E27FC236}">
                    <a16:creationId xmlns:a16="http://schemas.microsoft.com/office/drawing/2014/main" id="{894CF513-173E-05F0-2D40-E7CD19D19C0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6" name="Freeform 42">
                <a:extLst>
                  <a:ext uri="{FF2B5EF4-FFF2-40B4-BE49-F238E27FC236}">
                    <a16:creationId xmlns:a16="http://schemas.microsoft.com/office/drawing/2014/main" id="{D50ACB10-6F33-CE4F-6BE2-545D54FB781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77" name="直線コネクタ 76">
              <a:extLst>
                <a:ext uri="{FF2B5EF4-FFF2-40B4-BE49-F238E27FC236}">
                  <a16:creationId xmlns:a16="http://schemas.microsoft.com/office/drawing/2014/main" id="{11B6B409-06AC-595E-482D-6FE2E04E69A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9CC40566-DA7B-E6CB-E0FF-F486F46B33B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87" name="正方形/長方形 86">
            <a:extLst>
              <a:ext uri="{FF2B5EF4-FFF2-40B4-BE49-F238E27FC236}">
                <a16:creationId xmlns:a16="http://schemas.microsoft.com/office/drawing/2014/main" id="{1C161B16-BFC4-2AD3-9E47-40A6C04C453E}"/>
              </a:ext>
            </a:extLst>
          </p:cNvPr>
          <p:cNvSpPr/>
          <p:nvPr/>
        </p:nvSpPr>
        <p:spPr bwMode="auto">
          <a:xfrm rot="5400000" flipH="1">
            <a:off x="7941018" y="2663990"/>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88" name="直線コネクタ 87">
            <a:extLst>
              <a:ext uri="{FF2B5EF4-FFF2-40B4-BE49-F238E27FC236}">
                <a16:creationId xmlns:a16="http://schemas.microsoft.com/office/drawing/2014/main" id="{B8CCC44F-B1FE-93E3-532D-DB511023885C}"/>
              </a:ext>
            </a:extLst>
          </p:cNvPr>
          <p:cNvCxnSpPr>
            <a:cxnSpLocks/>
          </p:cNvCxnSpPr>
          <p:nvPr/>
        </p:nvCxnSpPr>
        <p:spPr bwMode="auto">
          <a:xfrm flipH="1">
            <a:off x="8076022" y="2528989"/>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90" name="直線コネクタ 89">
            <a:extLst>
              <a:ext uri="{FF2B5EF4-FFF2-40B4-BE49-F238E27FC236}">
                <a16:creationId xmlns:a16="http://schemas.microsoft.com/office/drawing/2014/main" id="{B13D5AA0-E450-9060-F4F2-52663D9AFE3D}"/>
              </a:ext>
            </a:extLst>
          </p:cNvPr>
          <p:cNvCxnSpPr>
            <a:cxnSpLocks/>
          </p:cNvCxnSpPr>
          <p:nvPr/>
        </p:nvCxnSpPr>
        <p:spPr bwMode="auto">
          <a:xfrm flipH="1">
            <a:off x="7896021" y="2528989"/>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92" name="Rectangle 93">
            <a:extLst>
              <a:ext uri="{FF2B5EF4-FFF2-40B4-BE49-F238E27FC236}">
                <a16:creationId xmlns:a16="http://schemas.microsoft.com/office/drawing/2014/main" id="{69976656-9F0B-8E09-94F5-98E92A035412}"/>
              </a:ext>
            </a:extLst>
          </p:cNvPr>
          <p:cNvSpPr>
            <a:spLocks noChangeArrowheads="1"/>
          </p:cNvSpPr>
          <p:nvPr/>
        </p:nvSpPr>
        <p:spPr bwMode="auto">
          <a:xfrm>
            <a:off x="7806018" y="99897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93" name="Rectangle 93">
            <a:extLst>
              <a:ext uri="{FF2B5EF4-FFF2-40B4-BE49-F238E27FC236}">
                <a16:creationId xmlns:a16="http://schemas.microsoft.com/office/drawing/2014/main" id="{B8AA8397-F2E2-5655-88F1-FCFBB2F15539}"/>
              </a:ext>
            </a:extLst>
          </p:cNvPr>
          <p:cNvSpPr>
            <a:spLocks noChangeArrowheads="1"/>
          </p:cNvSpPr>
          <p:nvPr/>
        </p:nvSpPr>
        <p:spPr bwMode="auto">
          <a:xfrm>
            <a:off x="7446015"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97" name="Rectangle 93">
            <a:extLst>
              <a:ext uri="{FF2B5EF4-FFF2-40B4-BE49-F238E27FC236}">
                <a16:creationId xmlns:a16="http://schemas.microsoft.com/office/drawing/2014/main" id="{F38A652D-30AA-718A-DF8E-CFC5C759DC7C}"/>
              </a:ext>
            </a:extLst>
          </p:cNvPr>
          <p:cNvSpPr>
            <a:spLocks noChangeArrowheads="1"/>
          </p:cNvSpPr>
          <p:nvPr/>
        </p:nvSpPr>
        <p:spPr bwMode="auto">
          <a:xfrm>
            <a:off x="8166023"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98" name="直線コネクタ 97">
            <a:extLst>
              <a:ext uri="{FF2B5EF4-FFF2-40B4-BE49-F238E27FC236}">
                <a16:creationId xmlns:a16="http://schemas.microsoft.com/office/drawing/2014/main" id="{50392FCB-4CDF-DCE9-AC12-F5720F951B0E}"/>
              </a:ext>
            </a:extLst>
          </p:cNvPr>
          <p:cNvCxnSpPr>
            <a:cxnSpLocks/>
          </p:cNvCxnSpPr>
          <p:nvPr/>
        </p:nvCxnSpPr>
        <p:spPr bwMode="auto">
          <a:xfrm flipV="1">
            <a:off x="7716018" y="171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00" name="直線コネクタ 99">
            <a:extLst>
              <a:ext uri="{FF2B5EF4-FFF2-40B4-BE49-F238E27FC236}">
                <a16:creationId xmlns:a16="http://schemas.microsoft.com/office/drawing/2014/main" id="{F7799D6A-9011-BC5D-ADC5-3474221EE7A6}"/>
              </a:ext>
            </a:extLst>
          </p:cNvPr>
          <p:cNvCxnSpPr>
            <a:cxnSpLocks/>
          </p:cNvCxnSpPr>
          <p:nvPr/>
        </p:nvCxnSpPr>
        <p:spPr bwMode="auto">
          <a:xfrm>
            <a:off x="7176012" y="1538979"/>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01" name="直線コネクタ 100">
            <a:extLst>
              <a:ext uri="{FF2B5EF4-FFF2-40B4-BE49-F238E27FC236}">
                <a16:creationId xmlns:a16="http://schemas.microsoft.com/office/drawing/2014/main" id="{004ED6F4-61FA-770B-1AE6-E43C0E9A1D48}"/>
              </a:ext>
            </a:extLst>
          </p:cNvPr>
          <p:cNvCxnSpPr>
            <a:cxnSpLocks/>
          </p:cNvCxnSpPr>
          <p:nvPr/>
        </p:nvCxnSpPr>
        <p:spPr bwMode="auto">
          <a:xfrm>
            <a:off x="7176012" y="1718981"/>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AA7D2957-E8C1-5298-0C74-6F6642CE62F4}"/>
              </a:ext>
            </a:extLst>
          </p:cNvPr>
          <p:cNvCxnSpPr>
            <a:cxnSpLocks/>
          </p:cNvCxnSpPr>
          <p:nvPr/>
        </p:nvCxnSpPr>
        <p:spPr bwMode="auto">
          <a:xfrm>
            <a:off x="6456004" y="2348988"/>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C205B05A-D845-BD58-9A35-791D66B01FE9}"/>
              </a:ext>
            </a:extLst>
          </p:cNvPr>
          <p:cNvCxnSpPr>
            <a:cxnSpLocks/>
          </p:cNvCxnSpPr>
          <p:nvPr/>
        </p:nvCxnSpPr>
        <p:spPr bwMode="auto">
          <a:xfrm>
            <a:off x="6636006" y="2168986"/>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9FD0F7DF-0095-EC79-F971-DD928D340B9E}"/>
              </a:ext>
            </a:extLst>
          </p:cNvPr>
          <p:cNvCxnSpPr>
            <a:cxnSpLocks/>
          </p:cNvCxnSpPr>
          <p:nvPr/>
        </p:nvCxnSpPr>
        <p:spPr bwMode="auto">
          <a:xfrm>
            <a:off x="6636006" y="3519001"/>
            <a:ext cx="2430027" cy="0"/>
          </a:xfrm>
          <a:prstGeom prst="line">
            <a:avLst/>
          </a:prstGeom>
          <a:noFill/>
          <a:ln w="19050" cap="flat" cmpd="sng" algn="ctr">
            <a:solidFill>
              <a:schemeClr val="tx1"/>
            </a:solidFill>
            <a:prstDash val="solid"/>
            <a:round/>
            <a:headEnd type="none" w="med" len="med"/>
            <a:tailEnd type="none" w="med" len="med"/>
          </a:ln>
          <a:effectLst/>
        </p:spPr>
      </p:cxnSp>
      <p:cxnSp>
        <p:nvCxnSpPr>
          <p:cNvPr id="117" name="直線コネクタ 116">
            <a:extLst>
              <a:ext uri="{FF2B5EF4-FFF2-40B4-BE49-F238E27FC236}">
                <a16:creationId xmlns:a16="http://schemas.microsoft.com/office/drawing/2014/main" id="{5ACC73F7-5474-71E9-FA64-6320BBC33D1A}"/>
              </a:ext>
            </a:extLst>
          </p:cNvPr>
          <p:cNvCxnSpPr>
            <a:cxnSpLocks/>
          </p:cNvCxnSpPr>
          <p:nvPr/>
        </p:nvCxnSpPr>
        <p:spPr bwMode="auto">
          <a:xfrm>
            <a:off x="6456004" y="3699003"/>
            <a:ext cx="2610029" cy="0"/>
          </a:xfrm>
          <a:prstGeom prst="line">
            <a:avLst/>
          </a:prstGeom>
          <a:noFill/>
          <a:ln w="19050" cap="flat" cmpd="sng" algn="ctr">
            <a:solidFill>
              <a:schemeClr val="tx1"/>
            </a:solidFill>
            <a:prstDash val="solid"/>
            <a:round/>
            <a:headEnd type="none" w="med" len="med"/>
            <a:tailEnd type="none" w="med" len="med"/>
          </a:ln>
          <a:effectLst/>
        </p:spPr>
      </p:cxnSp>
      <p:sp>
        <p:nvSpPr>
          <p:cNvPr id="119" name="正方形/長方形 118">
            <a:extLst>
              <a:ext uri="{FF2B5EF4-FFF2-40B4-BE49-F238E27FC236}">
                <a16:creationId xmlns:a16="http://schemas.microsoft.com/office/drawing/2014/main" id="{A38DC571-D30A-2A65-95CE-F41F1261D0A4}"/>
              </a:ext>
            </a:extLst>
          </p:cNvPr>
          <p:cNvSpPr/>
          <p:nvPr/>
        </p:nvSpPr>
        <p:spPr bwMode="auto">
          <a:xfrm>
            <a:off x="7716020" y="441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0" name="直線コネクタ 119">
            <a:extLst>
              <a:ext uri="{FF2B5EF4-FFF2-40B4-BE49-F238E27FC236}">
                <a16:creationId xmlns:a16="http://schemas.microsoft.com/office/drawing/2014/main" id="{DA7CD373-E15E-AC89-99EB-CC7059BB7F5C}"/>
              </a:ext>
            </a:extLst>
          </p:cNvPr>
          <p:cNvCxnSpPr>
            <a:cxnSpLocks/>
          </p:cNvCxnSpPr>
          <p:nvPr/>
        </p:nvCxnSpPr>
        <p:spPr bwMode="auto">
          <a:xfrm>
            <a:off x="7716020" y="477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21" name="直線コネクタ 120">
            <a:extLst>
              <a:ext uri="{FF2B5EF4-FFF2-40B4-BE49-F238E27FC236}">
                <a16:creationId xmlns:a16="http://schemas.microsoft.com/office/drawing/2014/main" id="{8545D9F0-CFF6-41F3-860E-94A6B4F4C21C}"/>
              </a:ext>
            </a:extLst>
          </p:cNvPr>
          <p:cNvCxnSpPr>
            <a:cxnSpLocks/>
          </p:cNvCxnSpPr>
          <p:nvPr/>
        </p:nvCxnSpPr>
        <p:spPr bwMode="auto">
          <a:xfrm>
            <a:off x="7716020" y="432901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122" name="直線コネクタ 121">
            <a:extLst>
              <a:ext uri="{FF2B5EF4-FFF2-40B4-BE49-F238E27FC236}">
                <a16:creationId xmlns:a16="http://schemas.microsoft.com/office/drawing/2014/main" id="{7CE0BCEC-F483-ABD7-216C-75939F3A9A93}"/>
              </a:ext>
            </a:extLst>
          </p:cNvPr>
          <p:cNvCxnSpPr>
            <a:cxnSpLocks/>
          </p:cNvCxnSpPr>
          <p:nvPr/>
        </p:nvCxnSpPr>
        <p:spPr bwMode="auto">
          <a:xfrm>
            <a:off x="8256026" y="432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23" name="直線コネクタ 122">
            <a:extLst>
              <a:ext uri="{FF2B5EF4-FFF2-40B4-BE49-F238E27FC236}">
                <a16:creationId xmlns:a16="http://schemas.microsoft.com/office/drawing/2014/main" id="{DAECC043-D3E3-9032-1BE6-6117B34C2671}"/>
              </a:ext>
            </a:extLst>
          </p:cNvPr>
          <p:cNvCxnSpPr>
            <a:cxnSpLocks/>
          </p:cNvCxnSpPr>
          <p:nvPr/>
        </p:nvCxnSpPr>
        <p:spPr bwMode="auto">
          <a:xfrm flipV="1">
            <a:off x="7986021" y="477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24" name="正方形/長方形 123">
            <a:extLst>
              <a:ext uri="{FF2B5EF4-FFF2-40B4-BE49-F238E27FC236}">
                <a16:creationId xmlns:a16="http://schemas.microsoft.com/office/drawing/2014/main" id="{46D2E507-9991-C5AB-66A0-CE9AA281A886}"/>
              </a:ext>
            </a:extLst>
          </p:cNvPr>
          <p:cNvSpPr/>
          <p:nvPr/>
        </p:nvSpPr>
        <p:spPr bwMode="auto">
          <a:xfrm rot="5400000">
            <a:off x="7896020" y="4959019"/>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25" name="グループ化 124">
            <a:extLst>
              <a:ext uri="{FF2B5EF4-FFF2-40B4-BE49-F238E27FC236}">
                <a16:creationId xmlns:a16="http://schemas.microsoft.com/office/drawing/2014/main" id="{D4E6030B-A3F9-36CD-AA45-70E9123B01EA}"/>
              </a:ext>
            </a:extLst>
          </p:cNvPr>
          <p:cNvGrpSpPr/>
          <p:nvPr/>
        </p:nvGrpSpPr>
        <p:grpSpPr>
          <a:xfrm>
            <a:off x="7896020" y="5769026"/>
            <a:ext cx="180003" cy="360004"/>
            <a:chOff x="3131985" y="5049018"/>
            <a:chExt cx="180002" cy="437056"/>
          </a:xfrm>
        </p:grpSpPr>
        <p:grpSp>
          <p:nvGrpSpPr>
            <p:cNvPr id="126" name="グループ化 125">
              <a:extLst>
                <a:ext uri="{FF2B5EF4-FFF2-40B4-BE49-F238E27FC236}">
                  <a16:creationId xmlns:a16="http://schemas.microsoft.com/office/drawing/2014/main" id="{2A140E3A-C670-2654-5083-C801E9AF5E36}"/>
                </a:ext>
              </a:extLst>
            </p:cNvPr>
            <p:cNvGrpSpPr/>
            <p:nvPr/>
          </p:nvGrpSpPr>
          <p:grpSpPr>
            <a:xfrm>
              <a:off x="3131985" y="5139021"/>
              <a:ext cx="180002" cy="254126"/>
              <a:chOff x="3131984" y="5191944"/>
              <a:chExt cx="270003" cy="201854"/>
            </a:xfrm>
          </p:grpSpPr>
          <p:sp>
            <p:nvSpPr>
              <p:cNvPr id="134" name="Freeform 42">
                <a:extLst>
                  <a:ext uri="{FF2B5EF4-FFF2-40B4-BE49-F238E27FC236}">
                    <a16:creationId xmlns:a16="http://schemas.microsoft.com/office/drawing/2014/main" id="{6E04DDDA-2191-E2A3-4AB6-AA3BF728C64B}"/>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5" name="Freeform 42">
                <a:extLst>
                  <a:ext uri="{FF2B5EF4-FFF2-40B4-BE49-F238E27FC236}">
                    <a16:creationId xmlns:a16="http://schemas.microsoft.com/office/drawing/2014/main" id="{01B9294A-FA6D-6C21-113E-E92D06D29BD9}"/>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6" name="Freeform 42">
                <a:extLst>
                  <a:ext uri="{FF2B5EF4-FFF2-40B4-BE49-F238E27FC236}">
                    <a16:creationId xmlns:a16="http://schemas.microsoft.com/office/drawing/2014/main" id="{76B89D80-993C-8E92-2679-6F02E0491D0C}"/>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7" name="Freeform 42">
                <a:extLst>
                  <a:ext uri="{FF2B5EF4-FFF2-40B4-BE49-F238E27FC236}">
                    <a16:creationId xmlns:a16="http://schemas.microsoft.com/office/drawing/2014/main" id="{ACBA568A-7139-7974-C1D6-121FCF80399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27" name="直線コネクタ 126">
              <a:extLst>
                <a:ext uri="{FF2B5EF4-FFF2-40B4-BE49-F238E27FC236}">
                  <a16:creationId xmlns:a16="http://schemas.microsoft.com/office/drawing/2014/main" id="{A538F731-06F9-94F9-4CC1-E4F4003D3C3B}"/>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a16:creationId xmlns:a16="http://schemas.microsoft.com/office/drawing/2014/main" id="{B9B92562-73D5-D1DA-2486-23BD2E17C0F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38" name="正方形/長方形 137">
            <a:extLst>
              <a:ext uri="{FF2B5EF4-FFF2-40B4-BE49-F238E27FC236}">
                <a16:creationId xmlns:a16="http://schemas.microsoft.com/office/drawing/2014/main" id="{248D208E-7C61-B5D9-A653-31AFE82B119F}"/>
              </a:ext>
            </a:extLst>
          </p:cNvPr>
          <p:cNvSpPr/>
          <p:nvPr/>
        </p:nvSpPr>
        <p:spPr bwMode="auto">
          <a:xfrm rot="5400000" flipH="1">
            <a:off x="7761016" y="5454022"/>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9" name="直線コネクタ 138">
            <a:extLst>
              <a:ext uri="{FF2B5EF4-FFF2-40B4-BE49-F238E27FC236}">
                <a16:creationId xmlns:a16="http://schemas.microsoft.com/office/drawing/2014/main" id="{E6B6EE8B-EA73-8EAD-DA46-15894275FF47}"/>
              </a:ext>
            </a:extLst>
          </p:cNvPr>
          <p:cNvCxnSpPr>
            <a:cxnSpLocks/>
          </p:cNvCxnSpPr>
          <p:nvPr/>
        </p:nvCxnSpPr>
        <p:spPr bwMode="auto">
          <a:xfrm flipH="1">
            <a:off x="8076020" y="513901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40" name="直線コネクタ 139">
            <a:extLst>
              <a:ext uri="{FF2B5EF4-FFF2-40B4-BE49-F238E27FC236}">
                <a16:creationId xmlns:a16="http://schemas.microsoft.com/office/drawing/2014/main" id="{671D55B2-B2C8-FDD6-1B63-0632BD8E75A3}"/>
              </a:ext>
            </a:extLst>
          </p:cNvPr>
          <p:cNvCxnSpPr>
            <a:cxnSpLocks/>
          </p:cNvCxnSpPr>
          <p:nvPr/>
        </p:nvCxnSpPr>
        <p:spPr bwMode="auto">
          <a:xfrm flipH="1">
            <a:off x="7896019" y="5139019"/>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41" name="Rectangle 93">
            <a:extLst>
              <a:ext uri="{FF2B5EF4-FFF2-40B4-BE49-F238E27FC236}">
                <a16:creationId xmlns:a16="http://schemas.microsoft.com/office/drawing/2014/main" id="{1296AEE3-7AA6-55D3-C929-4E2C8F7840F7}"/>
              </a:ext>
            </a:extLst>
          </p:cNvPr>
          <p:cNvSpPr>
            <a:spLocks noChangeArrowheads="1"/>
          </p:cNvSpPr>
          <p:nvPr/>
        </p:nvSpPr>
        <p:spPr bwMode="auto">
          <a:xfrm>
            <a:off x="7806018" y="396900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2" name="Rectangle 93">
            <a:extLst>
              <a:ext uri="{FF2B5EF4-FFF2-40B4-BE49-F238E27FC236}">
                <a16:creationId xmlns:a16="http://schemas.microsoft.com/office/drawing/2014/main" id="{D894A0B9-D03E-8A8D-ED9B-0196CEDC8CC4}"/>
              </a:ext>
            </a:extLst>
          </p:cNvPr>
          <p:cNvSpPr>
            <a:spLocks noChangeArrowheads="1"/>
          </p:cNvSpPr>
          <p:nvPr/>
        </p:nvSpPr>
        <p:spPr bwMode="auto">
          <a:xfrm>
            <a:off x="8166023" y="477901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3" name="直線コネクタ 142">
            <a:extLst>
              <a:ext uri="{FF2B5EF4-FFF2-40B4-BE49-F238E27FC236}">
                <a16:creationId xmlns:a16="http://schemas.microsoft.com/office/drawing/2014/main" id="{CB589454-2167-0CA4-3991-0639D349F77E}"/>
              </a:ext>
            </a:extLst>
          </p:cNvPr>
          <p:cNvCxnSpPr>
            <a:cxnSpLocks/>
          </p:cNvCxnSpPr>
          <p:nvPr/>
        </p:nvCxnSpPr>
        <p:spPr bwMode="auto">
          <a:xfrm>
            <a:off x="7716020" y="468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44" name="Rectangle 93">
            <a:extLst>
              <a:ext uri="{FF2B5EF4-FFF2-40B4-BE49-F238E27FC236}">
                <a16:creationId xmlns:a16="http://schemas.microsoft.com/office/drawing/2014/main" id="{E7ADBD8C-A96C-90CF-DB0B-C2C3B8F1E1CE}"/>
              </a:ext>
            </a:extLst>
          </p:cNvPr>
          <p:cNvSpPr>
            <a:spLocks noChangeArrowheads="1"/>
          </p:cNvSpPr>
          <p:nvPr/>
        </p:nvSpPr>
        <p:spPr bwMode="auto">
          <a:xfrm>
            <a:off x="7446015" y="477901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47" name="直線コネクタ 146">
            <a:extLst>
              <a:ext uri="{FF2B5EF4-FFF2-40B4-BE49-F238E27FC236}">
                <a16:creationId xmlns:a16="http://schemas.microsoft.com/office/drawing/2014/main" id="{6C0354CD-3818-EF90-8CFF-6C0663412C68}"/>
              </a:ext>
            </a:extLst>
          </p:cNvPr>
          <p:cNvCxnSpPr>
            <a:cxnSpLocks/>
          </p:cNvCxnSpPr>
          <p:nvPr/>
        </p:nvCxnSpPr>
        <p:spPr bwMode="auto">
          <a:xfrm>
            <a:off x="9066033" y="3699003"/>
            <a:ext cx="0" cy="1440016"/>
          </a:xfrm>
          <a:prstGeom prst="line">
            <a:avLst/>
          </a:prstGeom>
          <a:noFill/>
          <a:ln w="19050" cap="flat" cmpd="sng" algn="ctr">
            <a:solidFill>
              <a:schemeClr val="tx1"/>
            </a:solidFill>
            <a:prstDash val="solid"/>
            <a:round/>
            <a:headEnd type="none" w="med" len="med"/>
            <a:tailEnd type="none" w="med" len="med"/>
          </a:ln>
          <a:effectLst/>
        </p:spPr>
      </p:cxnSp>
      <p:sp>
        <p:nvSpPr>
          <p:cNvPr id="151" name="正方形/長方形 150">
            <a:extLst>
              <a:ext uri="{FF2B5EF4-FFF2-40B4-BE49-F238E27FC236}">
                <a16:creationId xmlns:a16="http://schemas.microsoft.com/office/drawing/2014/main" id="{CC2BD827-4475-560F-FD27-0F646AB11B51}"/>
              </a:ext>
            </a:extLst>
          </p:cNvPr>
          <p:cNvSpPr/>
          <p:nvPr/>
        </p:nvSpPr>
        <p:spPr bwMode="auto">
          <a:xfrm>
            <a:off x="7086011" y="216898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2" name="正方形/長方形 151">
            <a:extLst>
              <a:ext uri="{FF2B5EF4-FFF2-40B4-BE49-F238E27FC236}">
                <a16:creationId xmlns:a16="http://schemas.microsoft.com/office/drawing/2014/main" id="{10F190A5-C917-4586-6A29-B9A4E49899F6}"/>
              </a:ext>
            </a:extLst>
          </p:cNvPr>
          <p:cNvSpPr/>
          <p:nvPr/>
        </p:nvSpPr>
        <p:spPr bwMode="auto">
          <a:xfrm>
            <a:off x="6636006" y="99897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B=1</a:t>
            </a:r>
            <a:endParaRPr lang="ja-JP" altLang="en-US" sz="1600" dirty="0">
              <a:solidFill>
                <a:schemeClr val="tx1">
                  <a:lumMod val="75000"/>
                  <a:lumOff val="25000"/>
                </a:schemeClr>
              </a:solidFill>
            </a:endParaRPr>
          </a:p>
        </p:txBody>
      </p:sp>
      <p:cxnSp>
        <p:nvCxnSpPr>
          <p:cNvPr id="153" name="直線コネクタ 152">
            <a:extLst>
              <a:ext uri="{FF2B5EF4-FFF2-40B4-BE49-F238E27FC236}">
                <a16:creationId xmlns:a16="http://schemas.microsoft.com/office/drawing/2014/main" id="{1D5CA563-776F-54D8-CE0C-D50F996E108F}"/>
              </a:ext>
            </a:extLst>
          </p:cNvPr>
          <p:cNvCxnSpPr>
            <a:cxnSpLocks/>
          </p:cNvCxnSpPr>
          <p:nvPr/>
        </p:nvCxnSpPr>
        <p:spPr bwMode="auto">
          <a:xfrm>
            <a:off x="7176012" y="4509012"/>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54" name="直線コネクタ 153">
            <a:extLst>
              <a:ext uri="{FF2B5EF4-FFF2-40B4-BE49-F238E27FC236}">
                <a16:creationId xmlns:a16="http://schemas.microsoft.com/office/drawing/2014/main" id="{7717FE01-E626-9E11-D5E5-BC6D5E06E608}"/>
              </a:ext>
            </a:extLst>
          </p:cNvPr>
          <p:cNvCxnSpPr>
            <a:cxnSpLocks/>
          </p:cNvCxnSpPr>
          <p:nvPr/>
        </p:nvCxnSpPr>
        <p:spPr bwMode="auto">
          <a:xfrm>
            <a:off x="7176012" y="4689014"/>
            <a:ext cx="540006" cy="0"/>
          </a:xfrm>
          <a:prstGeom prst="line">
            <a:avLst/>
          </a:prstGeom>
          <a:noFill/>
          <a:ln w="19050" cap="flat" cmpd="sng" algn="ctr">
            <a:solidFill>
              <a:schemeClr val="tx1"/>
            </a:solidFill>
            <a:prstDash val="solid"/>
            <a:round/>
            <a:headEnd type="none" w="med" len="med"/>
            <a:tailEnd type="none" w="med" len="med"/>
          </a:ln>
          <a:effectLst/>
        </p:spPr>
      </p:cxnSp>
      <p:sp>
        <p:nvSpPr>
          <p:cNvPr id="155" name="正方形/長方形 154">
            <a:extLst>
              <a:ext uri="{FF2B5EF4-FFF2-40B4-BE49-F238E27FC236}">
                <a16:creationId xmlns:a16="http://schemas.microsoft.com/office/drawing/2014/main" id="{17C9C183-1057-5FB5-C12A-BF78AF0B18CA}"/>
              </a:ext>
            </a:extLst>
          </p:cNvPr>
          <p:cNvSpPr/>
          <p:nvPr/>
        </p:nvSpPr>
        <p:spPr bwMode="auto">
          <a:xfrm>
            <a:off x="6636006" y="396900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B=1</a:t>
            </a:r>
            <a:endParaRPr lang="ja-JP" altLang="en-US" sz="1600" dirty="0">
              <a:solidFill>
                <a:schemeClr val="tx1">
                  <a:lumMod val="75000"/>
                  <a:lumOff val="25000"/>
                </a:schemeClr>
              </a:solidFill>
            </a:endParaRPr>
          </a:p>
        </p:txBody>
      </p:sp>
      <p:graphicFrame>
        <p:nvGraphicFramePr>
          <p:cNvPr id="158" name="Group 383">
            <a:extLst>
              <a:ext uri="{FF2B5EF4-FFF2-40B4-BE49-F238E27FC236}">
                <a16:creationId xmlns:a16="http://schemas.microsoft.com/office/drawing/2014/main" id="{4528978F-572C-F3D2-268B-88CC89B3B8D6}"/>
              </a:ext>
            </a:extLst>
          </p:cNvPr>
          <p:cNvGraphicFramePr>
            <a:graphicFrameLocks/>
          </p:cNvGraphicFramePr>
          <p:nvPr/>
        </p:nvGraphicFramePr>
        <p:xfrm>
          <a:off x="335936" y="3519001"/>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59" name="テキスト プレースホルダー 2">
            <a:extLst>
              <a:ext uri="{FF2B5EF4-FFF2-40B4-BE49-F238E27FC236}">
                <a16:creationId xmlns:a16="http://schemas.microsoft.com/office/drawing/2014/main" id="{862908B4-3D94-8FFF-DEE6-9D4EB32DCE89}"/>
              </a:ext>
            </a:extLst>
          </p:cNvPr>
          <p:cNvSpPr>
            <a:spLocks noGrp="1"/>
          </p:cNvSpPr>
          <p:nvPr>
            <p:ph type="body" sz="quarter" idx="10"/>
          </p:nvPr>
        </p:nvSpPr>
        <p:spPr>
          <a:xfrm>
            <a:off x="965943" y="6129030"/>
            <a:ext cx="10800120" cy="540006"/>
          </a:xfrm>
        </p:spPr>
        <p:txBody>
          <a:bodyPr/>
          <a:lstStyle/>
          <a:p>
            <a:r>
              <a:rPr kumimoji="1" lang="ja-JP" altLang="en-US" dirty="0"/>
              <a:t>下側の２つの</a:t>
            </a:r>
            <a:r>
              <a:rPr kumimoji="1" lang="en-US" altLang="ja-JP" dirty="0"/>
              <a:t>N</a:t>
            </a:r>
            <a:r>
              <a:rPr kumimoji="1" lang="ja-JP" altLang="en-US" dirty="0"/>
              <a:t>タンクは，直列に繋がってるので双方溜まった時のみ排水が有効 → </a:t>
            </a:r>
            <a:r>
              <a:rPr kumimoji="1" lang="en-US" altLang="ja-JP" dirty="0"/>
              <a:t>NAND</a:t>
            </a:r>
            <a:endParaRPr kumimoji="1" lang="en-US" dirty="0"/>
          </a:p>
        </p:txBody>
      </p:sp>
    </p:spTree>
    <p:extLst>
      <p:ext uri="{BB962C8B-B14F-4D97-AF65-F5344CB8AC3E}">
        <p14:creationId xmlns:p14="http://schemas.microsoft.com/office/powerpoint/2010/main" val="27387860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回路におけるスイッチングの消費エネルギー</a:t>
            </a:r>
          </a:p>
        </p:txBody>
      </p:sp>
      <p:sp>
        <p:nvSpPr>
          <p:cNvPr id="3" name="テキスト プレースホルダー 2"/>
          <p:cNvSpPr>
            <a:spLocks noGrp="1"/>
          </p:cNvSpPr>
          <p:nvPr>
            <p:ph type="body" sz="quarter" idx="10"/>
          </p:nvPr>
        </p:nvSpPr>
        <p:spPr>
          <a:xfrm>
            <a:off x="2225957" y="4779323"/>
            <a:ext cx="8262041" cy="1439709"/>
          </a:xfrm>
        </p:spPr>
        <p:txBody>
          <a:bodyPr/>
          <a:lstStyle/>
          <a:p>
            <a:r>
              <a:rPr lang="en-US" altLang="ja-JP" dirty="0">
                <a:solidFill>
                  <a:schemeClr val="accent5"/>
                </a:solidFill>
              </a:rPr>
              <a:t>CMOS </a:t>
            </a:r>
            <a:r>
              <a:rPr lang="ja-JP" altLang="en-US" dirty="0">
                <a:solidFill>
                  <a:schemeClr val="accent5"/>
                </a:solidFill>
              </a:rPr>
              <a:t>回路は，コンデンサに連動したスイッチとみなせる</a:t>
            </a:r>
            <a:br>
              <a:rPr lang="en-US" altLang="ja-JP" dirty="0">
                <a:solidFill>
                  <a:schemeClr val="accent5"/>
                </a:solidFill>
              </a:rPr>
            </a:br>
            <a:r>
              <a:rPr lang="ja-JP" altLang="en-US" dirty="0"/>
              <a:t>（</a:t>
            </a:r>
            <a:r>
              <a:rPr lang="en-US" altLang="ja-JP" dirty="0"/>
              <a:t>MOS </a:t>
            </a:r>
            <a:r>
              <a:rPr lang="ja-JP" altLang="en-US" dirty="0"/>
              <a:t>構造のゲートのところがコンデンサになってる</a:t>
            </a:r>
            <a:endParaRPr lang="en-US" altLang="ja-JP" dirty="0"/>
          </a:p>
          <a:p>
            <a:pPr lvl="1"/>
            <a:r>
              <a:rPr lang="ja-JP" altLang="en-US" dirty="0"/>
              <a:t>コンデンサが充電状態：下のスイッチが</a:t>
            </a:r>
            <a:r>
              <a:rPr lang="en-US" altLang="ja-JP" dirty="0"/>
              <a:t>ON</a:t>
            </a:r>
          </a:p>
          <a:p>
            <a:pPr lvl="1"/>
            <a:r>
              <a:rPr lang="ja-JP" altLang="en-US" dirty="0"/>
              <a:t>コンデンサが放電状態：上のスイッチが</a:t>
            </a:r>
            <a:r>
              <a:rPr lang="en-US" altLang="ja-JP" dirty="0"/>
              <a:t>ON</a:t>
            </a:r>
          </a:p>
          <a:p>
            <a:r>
              <a:rPr lang="ja-JP" altLang="en-US" dirty="0"/>
              <a:t>主に計算で消費されるエネルギー：</a:t>
            </a:r>
            <a:endParaRPr lang="en-US" altLang="ja-JP" dirty="0"/>
          </a:p>
          <a:p>
            <a:pPr lvl="1"/>
            <a:r>
              <a:rPr lang="ja-JP" altLang="en-US" dirty="0">
                <a:solidFill>
                  <a:schemeClr val="accent5"/>
                </a:solidFill>
              </a:rPr>
              <a:t>スイッチを </a:t>
            </a:r>
            <a:r>
              <a:rPr lang="en-US" altLang="ja-JP" dirty="0">
                <a:solidFill>
                  <a:schemeClr val="accent5"/>
                </a:solidFill>
              </a:rPr>
              <a:t>ON/OFF </a:t>
            </a:r>
            <a:r>
              <a:rPr lang="ja-JP" altLang="en-US" dirty="0">
                <a:solidFill>
                  <a:schemeClr val="accent5"/>
                </a:solidFill>
              </a:rPr>
              <a:t>するためのコンデンサへの充放電で消費</a:t>
            </a:r>
            <a:endParaRPr lang="en-US" altLang="ja-JP" dirty="0">
              <a:solidFill>
                <a:schemeClr val="accent5"/>
              </a:solidFill>
            </a:endParaRPr>
          </a:p>
          <a:p>
            <a:pPr lvl="1"/>
            <a:endParaRPr lang="en-US" altLang="ja-JP" dirty="0"/>
          </a:p>
        </p:txBody>
      </p:sp>
      <p:grpSp>
        <p:nvGrpSpPr>
          <p:cNvPr id="214" name="グループ化 213">
            <a:extLst>
              <a:ext uri="{FF2B5EF4-FFF2-40B4-BE49-F238E27FC236}">
                <a16:creationId xmlns:a16="http://schemas.microsoft.com/office/drawing/2014/main" id="{4138FE45-F132-8B96-CFAB-DC4E53E8D20F}"/>
              </a:ext>
            </a:extLst>
          </p:cNvPr>
          <p:cNvGrpSpPr/>
          <p:nvPr/>
        </p:nvGrpSpPr>
        <p:grpSpPr>
          <a:xfrm rot="5400000">
            <a:off x="9882942" y="2265889"/>
            <a:ext cx="67531" cy="337533"/>
            <a:chOff x="3401870" y="728700"/>
            <a:chExt cx="180020" cy="405045"/>
          </a:xfrm>
        </p:grpSpPr>
        <p:cxnSp>
          <p:nvCxnSpPr>
            <p:cNvPr id="216" name="直線コネクタ 215">
              <a:extLst>
                <a:ext uri="{FF2B5EF4-FFF2-40B4-BE49-F238E27FC236}">
                  <a16:creationId xmlns:a16="http://schemas.microsoft.com/office/drawing/2014/main" id="{2344D971-E8D2-B33A-E0EC-C60C729F1422}"/>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4A2ACF78-DD22-1B82-736F-7EFA9A625C1E}"/>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a16:creationId xmlns:a16="http://schemas.microsoft.com/office/drawing/2014/main" id="{95BC2369-1B8B-E105-7C3C-CA0D9DF55463}"/>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a16:creationId xmlns:a16="http://schemas.microsoft.com/office/drawing/2014/main" id="{95AB4AE5-80E2-79E3-6D41-973C5A045ED9}"/>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a16:creationId xmlns:a16="http://schemas.microsoft.com/office/drawing/2014/main" id="{1CAF3471-7138-37B0-55BD-F231B215AF15}"/>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a16:creationId xmlns:a16="http://schemas.microsoft.com/office/drawing/2014/main" id="{52032321-6285-DD06-62D8-5F8EC4DC7637}"/>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4" name="直線コネクタ 223">
              <a:extLst>
                <a:ext uri="{FF2B5EF4-FFF2-40B4-BE49-F238E27FC236}">
                  <a16:creationId xmlns:a16="http://schemas.microsoft.com/office/drawing/2014/main" id="{FF34AF2C-A663-62BD-DA70-B2AC227EF82D}"/>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a16:creationId xmlns:a16="http://schemas.microsoft.com/office/drawing/2014/main" id="{7749C55D-5F99-9DAF-2FD1-1028A491BC1A}"/>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a16:creationId xmlns:a16="http://schemas.microsoft.com/office/drawing/2014/main" id="{40EA7DEE-4031-D044-6822-92B2F837D793}"/>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38" name="グループ化 237">
            <a:extLst>
              <a:ext uri="{FF2B5EF4-FFF2-40B4-BE49-F238E27FC236}">
                <a16:creationId xmlns:a16="http://schemas.microsoft.com/office/drawing/2014/main" id="{4BE8AD4E-358E-5B39-51F8-17D80E5A1BE9}"/>
              </a:ext>
            </a:extLst>
          </p:cNvPr>
          <p:cNvGrpSpPr/>
          <p:nvPr/>
        </p:nvGrpSpPr>
        <p:grpSpPr>
          <a:xfrm>
            <a:off x="9184609" y="2708993"/>
            <a:ext cx="270012" cy="450012"/>
            <a:chOff x="5787000" y="1944000"/>
            <a:chExt cx="270012" cy="450012"/>
          </a:xfrm>
        </p:grpSpPr>
        <p:cxnSp>
          <p:nvCxnSpPr>
            <p:cNvPr id="239" name="直線コネクタ 238">
              <a:extLst>
                <a:ext uri="{FF2B5EF4-FFF2-40B4-BE49-F238E27FC236}">
                  <a16:creationId xmlns:a16="http://schemas.microsoft.com/office/drawing/2014/main" id="{3DE128E8-BC46-9AB8-8A84-D7A13B825D34}"/>
                </a:ext>
              </a:extLst>
            </p:cNvPr>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0" name="円/楕円 92">
              <a:extLst>
                <a:ext uri="{FF2B5EF4-FFF2-40B4-BE49-F238E27FC236}">
                  <a16:creationId xmlns:a16="http://schemas.microsoft.com/office/drawing/2014/main" id="{A0C04820-DDD6-09F2-A6FF-5C1AE884DB15}"/>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41" name="円/楕円 93">
              <a:extLst>
                <a:ext uri="{FF2B5EF4-FFF2-40B4-BE49-F238E27FC236}">
                  <a16:creationId xmlns:a16="http://schemas.microsoft.com/office/drawing/2014/main" id="{B4661E23-D377-483F-EF1D-B4A26F504485}"/>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42" name="グループ化 241">
            <a:extLst>
              <a:ext uri="{FF2B5EF4-FFF2-40B4-BE49-F238E27FC236}">
                <a16:creationId xmlns:a16="http://schemas.microsoft.com/office/drawing/2014/main" id="{A28DBAEE-9030-18B9-9739-D9C07801D640}"/>
              </a:ext>
            </a:extLst>
          </p:cNvPr>
          <p:cNvGrpSpPr/>
          <p:nvPr/>
        </p:nvGrpSpPr>
        <p:grpSpPr>
          <a:xfrm>
            <a:off x="9364611" y="1718982"/>
            <a:ext cx="90012" cy="450012"/>
            <a:chOff x="5967000" y="1944000"/>
            <a:chExt cx="90012" cy="450012"/>
          </a:xfrm>
        </p:grpSpPr>
        <p:cxnSp>
          <p:nvCxnSpPr>
            <p:cNvPr id="243" name="直線コネクタ 242">
              <a:extLst>
                <a:ext uri="{FF2B5EF4-FFF2-40B4-BE49-F238E27FC236}">
                  <a16:creationId xmlns:a16="http://schemas.microsoft.com/office/drawing/2014/main" id="{D87A0057-A518-6145-C1E1-34827C7A4C20}"/>
                </a:ext>
              </a:extLst>
            </p:cNvPr>
            <p:cNvCxnSpPr>
              <a:stCxn id="245"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4" name="円/楕円 96">
              <a:extLst>
                <a:ext uri="{FF2B5EF4-FFF2-40B4-BE49-F238E27FC236}">
                  <a16:creationId xmlns:a16="http://schemas.microsoft.com/office/drawing/2014/main" id="{ED154FF6-A2F9-661C-F733-AD79ED0512AD}"/>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45" name="円/楕円 97">
              <a:extLst>
                <a:ext uri="{FF2B5EF4-FFF2-40B4-BE49-F238E27FC236}">
                  <a16:creationId xmlns:a16="http://schemas.microsoft.com/office/drawing/2014/main" id="{69652A70-473A-D5D4-4DEC-8777F01182F5}"/>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46" name="グループ化 152">
            <a:extLst>
              <a:ext uri="{FF2B5EF4-FFF2-40B4-BE49-F238E27FC236}">
                <a16:creationId xmlns:a16="http://schemas.microsoft.com/office/drawing/2014/main" id="{443D5170-9D50-BD1A-5D0E-B9046AEB39D9}"/>
              </a:ext>
            </a:extLst>
          </p:cNvPr>
          <p:cNvGrpSpPr/>
          <p:nvPr/>
        </p:nvGrpSpPr>
        <p:grpSpPr>
          <a:xfrm>
            <a:off x="9291755" y="3429000"/>
            <a:ext cx="180002" cy="90001"/>
            <a:chOff x="3643306" y="4500570"/>
            <a:chExt cx="428628" cy="144464"/>
          </a:xfrm>
        </p:grpSpPr>
        <p:cxnSp>
          <p:nvCxnSpPr>
            <p:cNvPr id="247" name="直線コネクタ 246">
              <a:extLst>
                <a:ext uri="{FF2B5EF4-FFF2-40B4-BE49-F238E27FC236}">
                  <a16:creationId xmlns:a16="http://schemas.microsoft.com/office/drawing/2014/main" id="{C61662E3-2627-8284-3638-5430E43B8EB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8" name="直線コネクタ 247">
              <a:extLst>
                <a:ext uri="{FF2B5EF4-FFF2-40B4-BE49-F238E27FC236}">
                  <a16:creationId xmlns:a16="http://schemas.microsoft.com/office/drawing/2014/main" id="{E0C0BFFC-29D8-F86E-2972-FA6441633D6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9" name="直線コネクタ 248">
              <a:extLst>
                <a:ext uri="{FF2B5EF4-FFF2-40B4-BE49-F238E27FC236}">
                  <a16:creationId xmlns:a16="http://schemas.microsoft.com/office/drawing/2014/main" id="{99904DC4-4C9A-F183-C1DD-B89A501637FB}"/>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50" name="直線コネクタ 249">
            <a:extLst>
              <a:ext uri="{FF2B5EF4-FFF2-40B4-BE49-F238E27FC236}">
                <a16:creationId xmlns:a16="http://schemas.microsoft.com/office/drawing/2014/main" id="{B45F574F-2413-4CA9-C0A8-DDF8B59799DF}"/>
              </a:ext>
            </a:extLst>
          </p:cNvPr>
          <p:cNvCxnSpPr/>
          <p:nvPr/>
        </p:nvCxnSpPr>
        <p:spPr>
          <a:xfrm flipV="1">
            <a:off x="9381756" y="3158998"/>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1" name="グループ化 250">
            <a:extLst>
              <a:ext uri="{FF2B5EF4-FFF2-40B4-BE49-F238E27FC236}">
                <a16:creationId xmlns:a16="http://schemas.microsoft.com/office/drawing/2014/main" id="{D9BC83A5-1DF9-A020-A9D6-46E7C6AAFA68}"/>
              </a:ext>
            </a:extLst>
          </p:cNvPr>
          <p:cNvGrpSpPr/>
          <p:nvPr/>
        </p:nvGrpSpPr>
        <p:grpSpPr>
          <a:xfrm>
            <a:off x="9291755" y="1358978"/>
            <a:ext cx="180020" cy="360033"/>
            <a:chOff x="4481992" y="1268760"/>
            <a:chExt cx="180020" cy="360033"/>
          </a:xfrm>
        </p:grpSpPr>
        <p:cxnSp>
          <p:nvCxnSpPr>
            <p:cNvPr id="252" name="直線コネクタ 251">
              <a:extLst>
                <a:ext uri="{FF2B5EF4-FFF2-40B4-BE49-F238E27FC236}">
                  <a16:creationId xmlns:a16="http://schemas.microsoft.com/office/drawing/2014/main" id="{499FD040-4CE1-2FF1-7A31-D85896D0CD0F}"/>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a16:creationId xmlns:a16="http://schemas.microsoft.com/office/drawing/2014/main" id="{500066DF-652C-90AB-E7BF-C4E15C0FDDDB}"/>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54" name="直線コネクタ 253">
            <a:extLst>
              <a:ext uri="{FF2B5EF4-FFF2-40B4-BE49-F238E27FC236}">
                <a16:creationId xmlns:a16="http://schemas.microsoft.com/office/drawing/2014/main" id="{F3EA1980-BEC1-DF05-B977-9787F65A1F4D}"/>
              </a:ext>
            </a:extLst>
          </p:cNvPr>
          <p:cNvCxnSpPr/>
          <p:nvPr/>
        </p:nvCxnSpPr>
        <p:spPr>
          <a:xfrm flipV="1">
            <a:off x="9381756" y="2168987"/>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a16:creationId xmlns:a16="http://schemas.microsoft.com/office/drawing/2014/main" id="{C8A97C3B-A04C-7E05-6D25-AF41C1514611}"/>
              </a:ext>
            </a:extLst>
          </p:cNvPr>
          <p:cNvCxnSpPr/>
          <p:nvPr/>
        </p:nvCxnSpPr>
        <p:spPr>
          <a:xfrm flipH="1">
            <a:off x="9381756" y="2438990"/>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256" name="グループ化 255">
            <a:extLst>
              <a:ext uri="{FF2B5EF4-FFF2-40B4-BE49-F238E27FC236}">
                <a16:creationId xmlns:a16="http://schemas.microsoft.com/office/drawing/2014/main" id="{8EFD628E-2952-3604-3FEB-0D801AEA1420}"/>
              </a:ext>
            </a:extLst>
          </p:cNvPr>
          <p:cNvGrpSpPr/>
          <p:nvPr/>
        </p:nvGrpSpPr>
        <p:grpSpPr>
          <a:xfrm rot="10800000">
            <a:off x="8436026" y="2258988"/>
            <a:ext cx="90012" cy="360048"/>
            <a:chOff x="2051664" y="1988808"/>
            <a:chExt cx="90012" cy="360048"/>
          </a:xfrm>
        </p:grpSpPr>
        <p:cxnSp>
          <p:nvCxnSpPr>
            <p:cNvPr id="257" name="直線コネクタ 256">
              <a:extLst>
                <a:ext uri="{FF2B5EF4-FFF2-40B4-BE49-F238E27FC236}">
                  <a16:creationId xmlns:a16="http://schemas.microsoft.com/office/drawing/2014/main" id="{080F79D0-AAF6-C5C7-4395-59E8FCA9B32B}"/>
                </a:ext>
              </a:extLst>
            </p:cNvPr>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a16:creationId xmlns:a16="http://schemas.microsoft.com/office/drawing/2014/main" id="{1CDCD20B-6498-EDBD-101A-1CD451DAD6CF}"/>
                </a:ext>
              </a:extLst>
            </p:cNvPr>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259" name="グループ化 152">
            <a:extLst>
              <a:ext uri="{FF2B5EF4-FFF2-40B4-BE49-F238E27FC236}">
                <a16:creationId xmlns:a16="http://schemas.microsoft.com/office/drawing/2014/main" id="{21CA831F-038C-0B3C-03E8-BF953732331E}"/>
              </a:ext>
            </a:extLst>
          </p:cNvPr>
          <p:cNvGrpSpPr/>
          <p:nvPr/>
        </p:nvGrpSpPr>
        <p:grpSpPr>
          <a:xfrm>
            <a:off x="8706029" y="3429001"/>
            <a:ext cx="180002" cy="90001"/>
            <a:chOff x="3643306" y="4500570"/>
            <a:chExt cx="428628" cy="144464"/>
          </a:xfrm>
        </p:grpSpPr>
        <p:cxnSp>
          <p:nvCxnSpPr>
            <p:cNvPr id="260" name="直線コネクタ 259">
              <a:extLst>
                <a:ext uri="{FF2B5EF4-FFF2-40B4-BE49-F238E27FC236}">
                  <a16:creationId xmlns:a16="http://schemas.microsoft.com/office/drawing/2014/main" id="{5997A6C3-A637-FF4C-DC5D-7F1B92858AE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61" name="直線コネクタ 260">
              <a:extLst>
                <a:ext uri="{FF2B5EF4-FFF2-40B4-BE49-F238E27FC236}">
                  <a16:creationId xmlns:a16="http://schemas.microsoft.com/office/drawing/2014/main" id="{E214D065-1B98-516A-8CC8-ADCABC018C9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62" name="直線コネクタ 261">
              <a:extLst>
                <a:ext uri="{FF2B5EF4-FFF2-40B4-BE49-F238E27FC236}">
                  <a16:creationId xmlns:a16="http://schemas.microsoft.com/office/drawing/2014/main" id="{740DD007-BE3E-B548-2C92-E8399CDDBE03}"/>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63" name="フリーフォーム 115">
            <a:extLst>
              <a:ext uri="{FF2B5EF4-FFF2-40B4-BE49-F238E27FC236}">
                <a16:creationId xmlns:a16="http://schemas.microsoft.com/office/drawing/2014/main" id="{4705686F-3BE7-85FC-E8E8-6A5C6CE8605F}"/>
              </a:ext>
            </a:extLst>
          </p:cNvPr>
          <p:cNvSpPr/>
          <p:nvPr/>
        </p:nvSpPr>
        <p:spPr bwMode="auto">
          <a:xfrm rot="5400000" flipH="1">
            <a:off x="8166022" y="2798993"/>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264" name="直線コネクタ 263">
            <a:extLst>
              <a:ext uri="{FF2B5EF4-FFF2-40B4-BE49-F238E27FC236}">
                <a16:creationId xmlns:a16="http://schemas.microsoft.com/office/drawing/2014/main" id="{B318F468-6168-803F-F8EF-70207D14D222}"/>
              </a:ext>
            </a:extLst>
          </p:cNvPr>
          <p:cNvCxnSpPr/>
          <p:nvPr/>
        </p:nvCxnSpPr>
        <p:spPr>
          <a:xfrm>
            <a:off x="8256024" y="2438990"/>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a16:creationId xmlns:a16="http://schemas.microsoft.com/office/drawing/2014/main" id="{D8FBC1A8-15AD-E0C2-7889-8A5AD1DB91AF}"/>
              </a:ext>
            </a:extLst>
          </p:cNvPr>
          <p:cNvCxnSpPr/>
          <p:nvPr/>
        </p:nvCxnSpPr>
        <p:spPr>
          <a:xfrm>
            <a:off x="7716018"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66" name="正方形/長方形 265">
            <a:extLst>
              <a:ext uri="{FF2B5EF4-FFF2-40B4-BE49-F238E27FC236}">
                <a16:creationId xmlns:a16="http://schemas.microsoft.com/office/drawing/2014/main" id="{0310D5FD-9B50-50C0-1786-C0F2D7ADE33B}"/>
              </a:ext>
            </a:extLst>
          </p:cNvPr>
          <p:cNvSpPr/>
          <p:nvPr/>
        </p:nvSpPr>
        <p:spPr bwMode="auto">
          <a:xfrm>
            <a:off x="8526027" y="99897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267" name="直線コネクタ 266">
            <a:extLst>
              <a:ext uri="{FF2B5EF4-FFF2-40B4-BE49-F238E27FC236}">
                <a16:creationId xmlns:a16="http://schemas.microsoft.com/office/drawing/2014/main" id="{A9AD57C0-8778-6E8F-3F22-A563F7907E4F}"/>
              </a:ext>
            </a:extLst>
          </p:cNvPr>
          <p:cNvCxnSpPr/>
          <p:nvPr/>
        </p:nvCxnSpPr>
        <p:spPr>
          <a:xfrm>
            <a:off x="10084619"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268" name="グループ化 267">
            <a:extLst>
              <a:ext uri="{FF2B5EF4-FFF2-40B4-BE49-F238E27FC236}">
                <a16:creationId xmlns:a16="http://schemas.microsoft.com/office/drawing/2014/main" id="{16C56780-7D35-5D7B-09E5-429CE94A1EE5}"/>
              </a:ext>
            </a:extLst>
          </p:cNvPr>
          <p:cNvGrpSpPr/>
          <p:nvPr/>
        </p:nvGrpSpPr>
        <p:grpSpPr>
          <a:xfrm rot="10800000">
            <a:off x="11316058" y="2258988"/>
            <a:ext cx="90012" cy="360048"/>
            <a:chOff x="2051664" y="1988808"/>
            <a:chExt cx="90012" cy="360048"/>
          </a:xfrm>
        </p:grpSpPr>
        <p:cxnSp>
          <p:nvCxnSpPr>
            <p:cNvPr id="269" name="直線コネクタ 268">
              <a:extLst>
                <a:ext uri="{FF2B5EF4-FFF2-40B4-BE49-F238E27FC236}">
                  <a16:creationId xmlns:a16="http://schemas.microsoft.com/office/drawing/2014/main" id="{E22D757A-D2EE-D171-190C-CBE47181E54E}"/>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70" name="直線コネクタ 269">
              <a:extLst>
                <a:ext uri="{FF2B5EF4-FFF2-40B4-BE49-F238E27FC236}">
                  <a16:creationId xmlns:a16="http://schemas.microsoft.com/office/drawing/2014/main" id="{FF8B9CDE-AD5D-6999-1BCF-24F33246D53F}"/>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271" name="グループ化 152">
            <a:extLst>
              <a:ext uri="{FF2B5EF4-FFF2-40B4-BE49-F238E27FC236}">
                <a16:creationId xmlns:a16="http://schemas.microsoft.com/office/drawing/2014/main" id="{6EA351C3-FCCB-F75E-1B1F-507E555136E2}"/>
              </a:ext>
            </a:extLst>
          </p:cNvPr>
          <p:cNvGrpSpPr/>
          <p:nvPr/>
        </p:nvGrpSpPr>
        <p:grpSpPr>
          <a:xfrm>
            <a:off x="11586061" y="3429001"/>
            <a:ext cx="180002" cy="90001"/>
            <a:chOff x="3643306" y="4500570"/>
            <a:chExt cx="428628" cy="144464"/>
          </a:xfrm>
        </p:grpSpPr>
        <p:cxnSp>
          <p:nvCxnSpPr>
            <p:cNvPr id="272" name="直線コネクタ 271">
              <a:extLst>
                <a:ext uri="{FF2B5EF4-FFF2-40B4-BE49-F238E27FC236}">
                  <a16:creationId xmlns:a16="http://schemas.microsoft.com/office/drawing/2014/main" id="{89FA3FE1-720F-04E8-4C56-4FEB1440C8A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3" name="直線コネクタ 272">
              <a:extLst>
                <a:ext uri="{FF2B5EF4-FFF2-40B4-BE49-F238E27FC236}">
                  <a16:creationId xmlns:a16="http://schemas.microsoft.com/office/drawing/2014/main" id="{495B62DC-4855-6B26-250C-C7A0EC51CF3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4" name="直線コネクタ 273">
              <a:extLst>
                <a:ext uri="{FF2B5EF4-FFF2-40B4-BE49-F238E27FC236}">
                  <a16:creationId xmlns:a16="http://schemas.microsoft.com/office/drawing/2014/main" id="{CFCFE16D-EACB-2D19-7F7B-03CFC47F898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75" name="フリーフォーム 155">
            <a:extLst>
              <a:ext uri="{FF2B5EF4-FFF2-40B4-BE49-F238E27FC236}">
                <a16:creationId xmlns:a16="http://schemas.microsoft.com/office/drawing/2014/main" id="{F695B2BA-4E60-9D18-CD38-1016BF21E0BB}"/>
              </a:ext>
            </a:extLst>
          </p:cNvPr>
          <p:cNvSpPr/>
          <p:nvPr/>
        </p:nvSpPr>
        <p:spPr bwMode="auto">
          <a:xfrm rot="5400000" flipH="1">
            <a:off x="11046054" y="2798993"/>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276" name="直線コネクタ 275">
            <a:extLst>
              <a:ext uri="{FF2B5EF4-FFF2-40B4-BE49-F238E27FC236}">
                <a16:creationId xmlns:a16="http://schemas.microsoft.com/office/drawing/2014/main" id="{47B57984-C040-C905-082A-5ECF4793B7EA}"/>
              </a:ext>
            </a:extLst>
          </p:cNvPr>
          <p:cNvCxnSpPr/>
          <p:nvPr/>
        </p:nvCxnSpPr>
        <p:spPr>
          <a:xfrm>
            <a:off x="11136056" y="2438990"/>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a16:creationId xmlns:a16="http://schemas.microsoft.com/office/drawing/2014/main" id="{BACD9FFC-92AD-AE7C-D075-4223AF5A301C}"/>
              </a:ext>
            </a:extLst>
          </p:cNvPr>
          <p:cNvCxnSpPr/>
          <p:nvPr/>
        </p:nvCxnSpPr>
        <p:spPr>
          <a:xfrm>
            <a:off x="10596050"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78" name="曲折矢印 160">
            <a:extLst>
              <a:ext uri="{FF2B5EF4-FFF2-40B4-BE49-F238E27FC236}">
                <a16:creationId xmlns:a16="http://schemas.microsoft.com/office/drawing/2014/main" id="{5CF6907F-5BAB-6A46-9EA1-8071FEFCF1EF}"/>
              </a:ext>
            </a:extLst>
          </p:cNvPr>
          <p:cNvSpPr/>
          <p:nvPr/>
        </p:nvSpPr>
        <p:spPr bwMode="auto">
          <a:xfrm rot="10800000" flipH="1">
            <a:off x="9544614" y="1628980"/>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79" name="曲折矢印 171">
            <a:extLst>
              <a:ext uri="{FF2B5EF4-FFF2-40B4-BE49-F238E27FC236}">
                <a16:creationId xmlns:a16="http://schemas.microsoft.com/office/drawing/2014/main" id="{0E1A1E00-36FE-75B6-E0DA-E6EE61A029B2}"/>
              </a:ext>
            </a:extLst>
          </p:cNvPr>
          <p:cNvSpPr/>
          <p:nvPr/>
        </p:nvSpPr>
        <p:spPr bwMode="auto">
          <a:xfrm rot="16200000" flipH="1">
            <a:off x="9859617" y="2213988"/>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4" name="グループ化 3">
            <a:extLst>
              <a:ext uri="{FF2B5EF4-FFF2-40B4-BE49-F238E27FC236}">
                <a16:creationId xmlns:a16="http://schemas.microsoft.com/office/drawing/2014/main" id="{2E3D043B-8921-48BB-8716-2573B7046D39}"/>
              </a:ext>
            </a:extLst>
          </p:cNvPr>
          <p:cNvGrpSpPr/>
          <p:nvPr/>
        </p:nvGrpSpPr>
        <p:grpSpPr>
          <a:xfrm rot="10800000">
            <a:off x="4385873" y="2618990"/>
            <a:ext cx="270036" cy="360048"/>
            <a:chOff x="1871640" y="1988808"/>
            <a:chExt cx="270036" cy="360048"/>
          </a:xfrm>
        </p:grpSpPr>
        <p:cxnSp>
          <p:nvCxnSpPr>
            <p:cNvPr id="5" name="直線コネクタ 4">
              <a:extLst>
                <a:ext uri="{FF2B5EF4-FFF2-40B4-BE49-F238E27FC236}">
                  <a16:creationId xmlns:a16="http://schemas.microsoft.com/office/drawing/2014/main" id="{E0F7A921-CD99-2AB6-ED46-61313B958459}"/>
                </a:ext>
              </a:extLst>
            </p:cNvPr>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CB21FD5-E8EB-040D-A60C-EC04354FE39F}"/>
                </a:ext>
              </a:extLst>
            </p:cNvPr>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D54486CB-8EBA-841E-23BD-AE07954C7872}"/>
                </a:ext>
              </a:extLst>
            </p:cNvPr>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9BB2687-37D8-E3BE-03A3-4884CEDCC5B2}"/>
                </a:ext>
              </a:extLst>
            </p:cNvPr>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a16:creationId xmlns:a16="http://schemas.microsoft.com/office/drawing/2014/main" id="{DBDCF0C7-F179-D3B2-7BC5-013CEEC00B57}"/>
              </a:ext>
            </a:extLst>
          </p:cNvPr>
          <p:cNvGrpSpPr/>
          <p:nvPr/>
        </p:nvGrpSpPr>
        <p:grpSpPr>
          <a:xfrm rot="16200000">
            <a:off x="3839401" y="2265454"/>
            <a:ext cx="726521" cy="353582"/>
            <a:chOff x="2675342" y="2348879"/>
            <a:chExt cx="906547" cy="360041"/>
          </a:xfrm>
        </p:grpSpPr>
        <p:sp>
          <p:nvSpPr>
            <p:cNvPr id="10" name="フリーフォーム 31">
              <a:extLst>
                <a:ext uri="{FF2B5EF4-FFF2-40B4-BE49-F238E27FC236}">
                  <a16:creationId xmlns:a16="http://schemas.microsoft.com/office/drawing/2014/main" id="{D634D1F8-317A-6893-AF62-16B4B575688E}"/>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11" name="フリーフォーム 32">
              <a:extLst>
                <a:ext uri="{FF2B5EF4-FFF2-40B4-BE49-F238E27FC236}">
                  <a16:creationId xmlns:a16="http://schemas.microsoft.com/office/drawing/2014/main" id="{70658170-7B64-E296-26CF-08E78BB025D6}"/>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pic>
        <p:nvPicPr>
          <p:cNvPr id="12" name="Picture 28" descr="NOT">
            <a:extLst>
              <a:ext uri="{FF2B5EF4-FFF2-40B4-BE49-F238E27FC236}">
                <a16:creationId xmlns:a16="http://schemas.microsoft.com/office/drawing/2014/main" id="{56F8A902-1EBF-C846-776E-E971D3ECA278}"/>
              </a:ext>
            </a:extLst>
          </p:cNvPr>
          <p:cNvPicPr>
            <a:picLocks noChangeAspect="1" noChangeArrowheads="1"/>
          </p:cNvPicPr>
          <p:nvPr/>
        </p:nvPicPr>
        <p:blipFill>
          <a:blip r:embed="rId3"/>
          <a:srcRect/>
          <a:stretch>
            <a:fillRect/>
          </a:stretch>
        </p:blipFill>
        <p:spPr bwMode="auto">
          <a:xfrm>
            <a:off x="605938" y="2078985"/>
            <a:ext cx="717550" cy="720725"/>
          </a:xfrm>
          <a:prstGeom prst="rect">
            <a:avLst/>
          </a:prstGeom>
          <a:noFill/>
        </p:spPr>
      </p:pic>
      <p:cxnSp>
        <p:nvCxnSpPr>
          <p:cNvPr id="13" name="直線コネクタ 12">
            <a:extLst>
              <a:ext uri="{FF2B5EF4-FFF2-40B4-BE49-F238E27FC236}">
                <a16:creationId xmlns:a16="http://schemas.microsoft.com/office/drawing/2014/main" id="{F7B18AEC-CEC8-5604-ECBD-140769AF624C}"/>
              </a:ext>
            </a:extLst>
          </p:cNvPr>
          <p:cNvCxnSpPr/>
          <p:nvPr/>
        </p:nvCxnSpPr>
        <p:spPr>
          <a:xfrm flipH="1" flipV="1">
            <a:off x="245935" y="2438988"/>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49AFA7FF-0B90-43C4-226A-145C664227BD}"/>
              </a:ext>
            </a:extLst>
          </p:cNvPr>
          <p:cNvCxnSpPr>
            <a:cxnSpLocks/>
          </p:cNvCxnSpPr>
          <p:nvPr/>
        </p:nvCxnSpPr>
        <p:spPr>
          <a:xfrm flipH="1">
            <a:off x="1235946" y="2438988"/>
            <a:ext cx="1170013"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5" name="グループ化 152">
            <a:extLst>
              <a:ext uri="{FF2B5EF4-FFF2-40B4-BE49-F238E27FC236}">
                <a16:creationId xmlns:a16="http://schemas.microsoft.com/office/drawing/2014/main" id="{405D8347-8633-CA4B-3C66-538D0D309A85}"/>
              </a:ext>
            </a:extLst>
          </p:cNvPr>
          <p:cNvGrpSpPr/>
          <p:nvPr/>
        </p:nvGrpSpPr>
        <p:grpSpPr>
          <a:xfrm>
            <a:off x="4565875" y="3248997"/>
            <a:ext cx="180002" cy="90001"/>
            <a:chOff x="3643306" y="4500570"/>
            <a:chExt cx="428628" cy="144464"/>
          </a:xfrm>
        </p:grpSpPr>
        <p:cxnSp>
          <p:nvCxnSpPr>
            <p:cNvPr id="16" name="直線コネクタ 15">
              <a:extLst>
                <a:ext uri="{FF2B5EF4-FFF2-40B4-BE49-F238E27FC236}">
                  <a16:creationId xmlns:a16="http://schemas.microsoft.com/office/drawing/2014/main" id="{0BB796D2-2963-29CF-E757-DBE7D77DD057}"/>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7" name="直線コネクタ 16">
              <a:extLst>
                <a:ext uri="{FF2B5EF4-FFF2-40B4-BE49-F238E27FC236}">
                  <a16:creationId xmlns:a16="http://schemas.microsoft.com/office/drawing/2014/main" id="{D0453ED8-F825-2591-8EC1-B3DA71D6AAF4}"/>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8" name="直線コネクタ 17">
              <a:extLst>
                <a:ext uri="{FF2B5EF4-FFF2-40B4-BE49-F238E27FC236}">
                  <a16:creationId xmlns:a16="http://schemas.microsoft.com/office/drawing/2014/main" id="{5872F517-7626-9C29-58D0-B99AE29E0439}"/>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9" name="直線コネクタ 18">
            <a:extLst>
              <a:ext uri="{FF2B5EF4-FFF2-40B4-BE49-F238E27FC236}">
                <a16:creationId xmlns:a16="http://schemas.microsoft.com/office/drawing/2014/main" id="{3D88B108-A14B-966A-F8E0-DFB95C963AF6}"/>
              </a:ext>
            </a:extLst>
          </p:cNvPr>
          <p:cNvCxnSpPr/>
          <p:nvPr/>
        </p:nvCxnSpPr>
        <p:spPr>
          <a:xfrm flipV="1">
            <a:off x="4655877"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79C062D5-BC64-DC61-91BC-718CC9E9FDB1}"/>
              </a:ext>
            </a:extLst>
          </p:cNvPr>
          <p:cNvGrpSpPr/>
          <p:nvPr/>
        </p:nvGrpSpPr>
        <p:grpSpPr>
          <a:xfrm rot="10800000">
            <a:off x="4295873" y="1898982"/>
            <a:ext cx="360048" cy="360048"/>
            <a:chOff x="4662012" y="908664"/>
            <a:chExt cx="360048" cy="360048"/>
          </a:xfrm>
        </p:grpSpPr>
        <p:cxnSp>
          <p:nvCxnSpPr>
            <p:cNvPr id="21" name="直線コネクタ 20">
              <a:extLst>
                <a:ext uri="{FF2B5EF4-FFF2-40B4-BE49-F238E27FC236}">
                  <a16:creationId xmlns:a16="http://schemas.microsoft.com/office/drawing/2014/main" id="{503CBE0A-5F33-BB12-2CBA-8240F1DAB348}"/>
                </a:ext>
              </a:extLst>
            </p:cNvPr>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9DD03AD2-AB37-4002-59BA-A58A0B7EBE4A}"/>
                </a:ext>
              </a:extLst>
            </p:cNvPr>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32D830BB-510D-E6E2-B074-5125514AD484}"/>
                </a:ext>
              </a:extLst>
            </p:cNvPr>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9CBFEBD8-EDEF-737B-23C2-4D8C0895FF43}"/>
                </a:ext>
              </a:extLst>
            </p:cNvPr>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 name="円/楕円 27">
              <a:extLst>
                <a:ext uri="{FF2B5EF4-FFF2-40B4-BE49-F238E27FC236}">
                  <a16:creationId xmlns:a16="http://schemas.microsoft.com/office/drawing/2014/main" id="{30F5F5BA-C966-85B1-43EA-04FE1727A64E}"/>
                </a:ext>
              </a:extLst>
            </p:cNvPr>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6" name="直線コネクタ 25">
            <a:extLst>
              <a:ext uri="{FF2B5EF4-FFF2-40B4-BE49-F238E27FC236}">
                <a16:creationId xmlns:a16="http://schemas.microsoft.com/office/drawing/2014/main" id="{5805063F-2722-FC01-EFB2-7FB5A52A824C}"/>
              </a:ext>
            </a:extLst>
          </p:cNvPr>
          <p:cNvCxnSpPr/>
          <p:nvPr/>
        </p:nvCxnSpPr>
        <p:spPr>
          <a:xfrm flipV="1">
            <a:off x="3485863" y="2438988"/>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27" name="グループ化 26">
            <a:extLst>
              <a:ext uri="{FF2B5EF4-FFF2-40B4-BE49-F238E27FC236}">
                <a16:creationId xmlns:a16="http://schemas.microsoft.com/office/drawing/2014/main" id="{4C79B2F4-8AEE-2DA5-5E2A-991667BDCBC8}"/>
              </a:ext>
            </a:extLst>
          </p:cNvPr>
          <p:cNvGrpSpPr/>
          <p:nvPr/>
        </p:nvGrpSpPr>
        <p:grpSpPr>
          <a:xfrm rot="16200000" flipV="1">
            <a:off x="4610875" y="2303987"/>
            <a:ext cx="360004" cy="270003"/>
            <a:chOff x="2675342" y="2348879"/>
            <a:chExt cx="906547" cy="360041"/>
          </a:xfrm>
        </p:grpSpPr>
        <p:sp>
          <p:nvSpPr>
            <p:cNvPr id="28" name="フリーフォーム 51">
              <a:extLst>
                <a:ext uri="{FF2B5EF4-FFF2-40B4-BE49-F238E27FC236}">
                  <a16:creationId xmlns:a16="http://schemas.microsoft.com/office/drawing/2014/main" id="{D5201598-CF2B-E4CD-A1B5-0267D5540335}"/>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29" name="フリーフォーム 52">
              <a:extLst>
                <a:ext uri="{FF2B5EF4-FFF2-40B4-BE49-F238E27FC236}">
                  <a16:creationId xmlns:a16="http://schemas.microsoft.com/office/drawing/2014/main" id="{48DD9E65-6406-A8F1-E721-BC959647C6E6}"/>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30" name="直線コネクタ 29">
            <a:extLst>
              <a:ext uri="{FF2B5EF4-FFF2-40B4-BE49-F238E27FC236}">
                <a16:creationId xmlns:a16="http://schemas.microsoft.com/office/drawing/2014/main" id="{E56279F9-1BC2-D122-D3AA-BD085D8047CB}"/>
              </a:ext>
            </a:extLst>
          </p:cNvPr>
          <p:cNvCxnSpPr/>
          <p:nvPr/>
        </p:nvCxnSpPr>
        <p:spPr>
          <a:xfrm flipH="1">
            <a:off x="4925879" y="2438988"/>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31" name="グループ化 30">
            <a:extLst>
              <a:ext uri="{FF2B5EF4-FFF2-40B4-BE49-F238E27FC236}">
                <a16:creationId xmlns:a16="http://schemas.microsoft.com/office/drawing/2014/main" id="{B1BF6D1B-52F5-4E3F-8C32-BEFEB2CC2BC5}"/>
              </a:ext>
            </a:extLst>
          </p:cNvPr>
          <p:cNvGrpSpPr/>
          <p:nvPr/>
        </p:nvGrpSpPr>
        <p:grpSpPr>
          <a:xfrm>
            <a:off x="4565875" y="1538979"/>
            <a:ext cx="180020" cy="360033"/>
            <a:chOff x="4481992" y="1268760"/>
            <a:chExt cx="180020" cy="360033"/>
          </a:xfrm>
        </p:grpSpPr>
        <p:cxnSp>
          <p:nvCxnSpPr>
            <p:cNvPr id="32" name="直線コネクタ 31">
              <a:extLst>
                <a:ext uri="{FF2B5EF4-FFF2-40B4-BE49-F238E27FC236}">
                  <a16:creationId xmlns:a16="http://schemas.microsoft.com/office/drawing/2014/main" id="{7B5D43B5-7713-CBE6-4D3C-41FF70B222C7}"/>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635E4920-541B-7EAA-E5E4-5C7C120434BF}"/>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4" name="右矢印 58">
            <a:extLst>
              <a:ext uri="{FF2B5EF4-FFF2-40B4-BE49-F238E27FC236}">
                <a16:creationId xmlns:a16="http://schemas.microsoft.com/office/drawing/2014/main" id="{374CD998-6920-65C4-2B9F-A3A11DD21823}"/>
              </a:ext>
            </a:extLst>
          </p:cNvPr>
          <p:cNvSpPr/>
          <p:nvPr/>
        </p:nvSpPr>
        <p:spPr bwMode="auto">
          <a:xfrm>
            <a:off x="2585961" y="2168986"/>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sp>
        <p:nvSpPr>
          <p:cNvPr id="35" name="右矢印 97">
            <a:extLst>
              <a:ext uri="{FF2B5EF4-FFF2-40B4-BE49-F238E27FC236}">
                <a16:creationId xmlns:a16="http://schemas.microsoft.com/office/drawing/2014/main" id="{C1E1FE4F-358F-B7FE-4641-13352AF10B2B}"/>
              </a:ext>
            </a:extLst>
          </p:cNvPr>
          <p:cNvSpPr/>
          <p:nvPr/>
        </p:nvSpPr>
        <p:spPr bwMode="auto">
          <a:xfrm>
            <a:off x="6816008" y="2168986"/>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pic>
        <p:nvPicPr>
          <p:cNvPr id="36" name="Picture 28" descr="NOT">
            <a:extLst>
              <a:ext uri="{FF2B5EF4-FFF2-40B4-BE49-F238E27FC236}">
                <a16:creationId xmlns:a16="http://schemas.microsoft.com/office/drawing/2014/main" id="{7717F183-FE7F-DFA7-0FD4-2618A38417AC}"/>
              </a:ext>
            </a:extLst>
          </p:cNvPr>
          <p:cNvPicPr>
            <a:picLocks noChangeAspect="1" noChangeArrowheads="1"/>
          </p:cNvPicPr>
          <p:nvPr/>
        </p:nvPicPr>
        <p:blipFill>
          <a:blip r:embed="rId3"/>
          <a:srcRect/>
          <a:stretch>
            <a:fillRect/>
          </a:stretch>
        </p:blipFill>
        <p:spPr bwMode="auto">
          <a:xfrm>
            <a:off x="1505948" y="2078985"/>
            <a:ext cx="717550" cy="720725"/>
          </a:xfrm>
          <a:prstGeom prst="rect">
            <a:avLst/>
          </a:prstGeom>
          <a:noFill/>
        </p:spPr>
      </p:pic>
      <p:grpSp>
        <p:nvGrpSpPr>
          <p:cNvPr id="38" name="グループ化 37">
            <a:extLst>
              <a:ext uri="{FF2B5EF4-FFF2-40B4-BE49-F238E27FC236}">
                <a16:creationId xmlns:a16="http://schemas.microsoft.com/office/drawing/2014/main" id="{7229B79E-20E6-CE3C-C304-4D8E67C61F92}"/>
              </a:ext>
            </a:extLst>
          </p:cNvPr>
          <p:cNvGrpSpPr/>
          <p:nvPr/>
        </p:nvGrpSpPr>
        <p:grpSpPr>
          <a:xfrm rot="10800000">
            <a:off x="5825889" y="2618990"/>
            <a:ext cx="270036" cy="360048"/>
            <a:chOff x="1871640" y="1988808"/>
            <a:chExt cx="270036" cy="360048"/>
          </a:xfrm>
        </p:grpSpPr>
        <p:cxnSp>
          <p:nvCxnSpPr>
            <p:cNvPr id="39" name="直線コネクタ 38">
              <a:extLst>
                <a:ext uri="{FF2B5EF4-FFF2-40B4-BE49-F238E27FC236}">
                  <a16:creationId xmlns:a16="http://schemas.microsoft.com/office/drawing/2014/main" id="{B962978D-5E46-B02A-4866-8377DE41B7B1}"/>
                </a:ext>
              </a:extLst>
            </p:cNvPr>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D1A5A474-81B0-A66B-1407-3DF1D3C654A2}"/>
                </a:ext>
              </a:extLst>
            </p:cNvPr>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86ACF16A-F81C-2F8D-515E-59B3E88D9A5F}"/>
                </a:ext>
              </a:extLst>
            </p:cNvPr>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BCF62F2E-DAB9-B4CE-693C-5F25B03B095B}"/>
                </a:ext>
              </a:extLst>
            </p:cNvPr>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43" name="グループ化 42">
            <a:extLst>
              <a:ext uri="{FF2B5EF4-FFF2-40B4-BE49-F238E27FC236}">
                <a16:creationId xmlns:a16="http://schemas.microsoft.com/office/drawing/2014/main" id="{30EC738D-778A-B88F-B932-4C4954ADDBE9}"/>
              </a:ext>
            </a:extLst>
          </p:cNvPr>
          <p:cNvGrpSpPr/>
          <p:nvPr/>
        </p:nvGrpSpPr>
        <p:grpSpPr>
          <a:xfrm rot="16200000">
            <a:off x="5279417" y="2265454"/>
            <a:ext cx="726521" cy="353582"/>
            <a:chOff x="2675342" y="2348879"/>
            <a:chExt cx="906547" cy="360041"/>
          </a:xfrm>
        </p:grpSpPr>
        <p:sp>
          <p:nvSpPr>
            <p:cNvPr id="44" name="フリーフォーム 31">
              <a:extLst>
                <a:ext uri="{FF2B5EF4-FFF2-40B4-BE49-F238E27FC236}">
                  <a16:creationId xmlns:a16="http://schemas.microsoft.com/office/drawing/2014/main" id="{9028DD98-E6C1-0389-9A4F-769CBF417E9A}"/>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45" name="フリーフォーム 32">
              <a:extLst>
                <a:ext uri="{FF2B5EF4-FFF2-40B4-BE49-F238E27FC236}">
                  <a16:creationId xmlns:a16="http://schemas.microsoft.com/office/drawing/2014/main" id="{520ADF19-FF40-EA81-CBAF-7207B07A3255}"/>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grpSp>
        <p:nvGrpSpPr>
          <p:cNvPr id="46" name="グループ化 152">
            <a:extLst>
              <a:ext uri="{FF2B5EF4-FFF2-40B4-BE49-F238E27FC236}">
                <a16:creationId xmlns:a16="http://schemas.microsoft.com/office/drawing/2014/main" id="{33F258AA-CB87-1CBD-F76D-9F4920F1294A}"/>
              </a:ext>
            </a:extLst>
          </p:cNvPr>
          <p:cNvGrpSpPr/>
          <p:nvPr/>
        </p:nvGrpSpPr>
        <p:grpSpPr>
          <a:xfrm>
            <a:off x="6005891" y="3248997"/>
            <a:ext cx="180002" cy="90001"/>
            <a:chOff x="3643306" y="4500570"/>
            <a:chExt cx="428628" cy="144464"/>
          </a:xfrm>
        </p:grpSpPr>
        <p:cxnSp>
          <p:nvCxnSpPr>
            <p:cNvPr id="47" name="直線コネクタ 46">
              <a:extLst>
                <a:ext uri="{FF2B5EF4-FFF2-40B4-BE49-F238E27FC236}">
                  <a16:creationId xmlns:a16="http://schemas.microsoft.com/office/drawing/2014/main" id="{F4D0B76A-1126-E2B6-0624-5AF53B66718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8" name="直線コネクタ 47">
              <a:extLst>
                <a:ext uri="{FF2B5EF4-FFF2-40B4-BE49-F238E27FC236}">
                  <a16:creationId xmlns:a16="http://schemas.microsoft.com/office/drawing/2014/main" id="{2F4BC102-4ACC-5824-BBC9-821B4A1BCFC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9" name="直線コネクタ 48">
              <a:extLst>
                <a:ext uri="{FF2B5EF4-FFF2-40B4-BE49-F238E27FC236}">
                  <a16:creationId xmlns:a16="http://schemas.microsoft.com/office/drawing/2014/main" id="{27EAE194-1F40-7037-413B-2ED82088674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50" name="直線コネクタ 49">
            <a:extLst>
              <a:ext uri="{FF2B5EF4-FFF2-40B4-BE49-F238E27FC236}">
                <a16:creationId xmlns:a16="http://schemas.microsoft.com/office/drawing/2014/main" id="{C78BB951-F9E5-B545-52FC-484475358BF2}"/>
              </a:ext>
            </a:extLst>
          </p:cNvPr>
          <p:cNvCxnSpPr/>
          <p:nvPr/>
        </p:nvCxnSpPr>
        <p:spPr>
          <a:xfrm flipV="1">
            <a:off x="6095893"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1" name="グループ化 50">
            <a:extLst>
              <a:ext uri="{FF2B5EF4-FFF2-40B4-BE49-F238E27FC236}">
                <a16:creationId xmlns:a16="http://schemas.microsoft.com/office/drawing/2014/main" id="{3F67A68D-80C5-E875-4E54-7A8F18B50567}"/>
              </a:ext>
            </a:extLst>
          </p:cNvPr>
          <p:cNvGrpSpPr/>
          <p:nvPr/>
        </p:nvGrpSpPr>
        <p:grpSpPr>
          <a:xfrm rot="10800000">
            <a:off x="5735889" y="1898982"/>
            <a:ext cx="360048" cy="360048"/>
            <a:chOff x="4662012" y="908664"/>
            <a:chExt cx="360048" cy="360048"/>
          </a:xfrm>
        </p:grpSpPr>
        <p:cxnSp>
          <p:nvCxnSpPr>
            <p:cNvPr id="52" name="直線コネクタ 51">
              <a:extLst>
                <a:ext uri="{FF2B5EF4-FFF2-40B4-BE49-F238E27FC236}">
                  <a16:creationId xmlns:a16="http://schemas.microsoft.com/office/drawing/2014/main" id="{5686F2B3-8708-189F-6DAB-3B0F93FDC0A2}"/>
                </a:ext>
              </a:extLst>
            </p:cNvPr>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8A8E56BF-49DB-BAEA-EBCF-3CC0780DC98C}"/>
                </a:ext>
              </a:extLst>
            </p:cNvPr>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2CCCAF93-C344-BF4C-403D-F444919DA17F}"/>
                </a:ext>
              </a:extLst>
            </p:cNvPr>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E87A4B5-8057-2FCE-DAF8-74F6AFAECDC1}"/>
                </a:ext>
              </a:extLst>
            </p:cNvPr>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56" name="円/楕円 27">
              <a:extLst>
                <a:ext uri="{FF2B5EF4-FFF2-40B4-BE49-F238E27FC236}">
                  <a16:creationId xmlns:a16="http://schemas.microsoft.com/office/drawing/2014/main" id="{86FFF8D3-60ED-7A80-DDCB-4140D51FDBBC}"/>
                </a:ext>
              </a:extLst>
            </p:cNvPr>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57" name="直線コネクタ 56">
            <a:extLst>
              <a:ext uri="{FF2B5EF4-FFF2-40B4-BE49-F238E27FC236}">
                <a16:creationId xmlns:a16="http://schemas.microsoft.com/office/drawing/2014/main" id="{2A98A88F-CE62-44A1-CF4A-EA2ADCAF4591}"/>
              </a:ext>
            </a:extLst>
          </p:cNvPr>
          <p:cNvCxnSpPr/>
          <p:nvPr/>
        </p:nvCxnSpPr>
        <p:spPr>
          <a:xfrm flipV="1">
            <a:off x="4925879" y="2438988"/>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8" name="グループ化 57">
            <a:extLst>
              <a:ext uri="{FF2B5EF4-FFF2-40B4-BE49-F238E27FC236}">
                <a16:creationId xmlns:a16="http://schemas.microsoft.com/office/drawing/2014/main" id="{3B09C89B-AC7A-564E-011D-641D95992366}"/>
              </a:ext>
            </a:extLst>
          </p:cNvPr>
          <p:cNvGrpSpPr/>
          <p:nvPr/>
        </p:nvGrpSpPr>
        <p:grpSpPr>
          <a:xfrm rot="16200000" flipV="1">
            <a:off x="6050891" y="2303987"/>
            <a:ext cx="360004" cy="270003"/>
            <a:chOff x="2675342" y="2348879"/>
            <a:chExt cx="906547" cy="360041"/>
          </a:xfrm>
        </p:grpSpPr>
        <p:sp>
          <p:nvSpPr>
            <p:cNvPr id="59" name="フリーフォーム 51">
              <a:extLst>
                <a:ext uri="{FF2B5EF4-FFF2-40B4-BE49-F238E27FC236}">
                  <a16:creationId xmlns:a16="http://schemas.microsoft.com/office/drawing/2014/main" id="{14F0A00E-8AAA-9805-A4D1-48059CB56AC0}"/>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60" name="フリーフォーム 52">
              <a:extLst>
                <a:ext uri="{FF2B5EF4-FFF2-40B4-BE49-F238E27FC236}">
                  <a16:creationId xmlns:a16="http://schemas.microsoft.com/office/drawing/2014/main" id="{FF1CA129-3445-126D-7B4C-51A02B31344C}"/>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61" name="直線コネクタ 60">
            <a:extLst>
              <a:ext uri="{FF2B5EF4-FFF2-40B4-BE49-F238E27FC236}">
                <a16:creationId xmlns:a16="http://schemas.microsoft.com/office/drawing/2014/main" id="{CD903319-9127-2BFA-2231-D77C6F019C10}"/>
              </a:ext>
            </a:extLst>
          </p:cNvPr>
          <p:cNvCxnSpPr/>
          <p:nvPr/>
        </p:nvCxnSpPr>
        <p:spPr>
          <a:xfrm flipH="1">
            <a:off x="6365895" y="2438988"/>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62" name="グループ化 61">
            <a:extLst>
              <a:ext uri="{FF2B5EF4-FFF2-40B4-BE49-F238E27FC236}">
                <a16:creationId xmlns:a16="http://schemas.microsoft.com/office/drawing/2014/main" id="{45553225-7B77-892E-72DB-C03AEDCBBDE4}"/>
              </a:ext>
            </a:extLst>
          </p:cNvPr>
          <p:cNvGrpSpPr/>
          <p:nvPr/>
        </p:nvGrpSpPr>
        <p:grpSpPr>
          <a:xfrm>
            <a:off x="6005891" y="1538979"/>
            <a:ext cx="180020" cy="360033"/>
            <a:chOff x="4481992" y="1268760"/>
            <a:chExt cx="180020" cy="360033"/>
          </a:xfrm>
        </p:grpSpPr>
        <p:cxnSp>
          <p:nvCxnSpPr>
            <p:cNvPr id="63" name="直線コネクタ 62">
              <a:extLst>
                <a:ext uri="{FF2B5EF4-FFF2-40B4-BE49-F238E27FC236}">
                  <a16:creationId xmlns:a16="http://schemas.microsoft.com/office/drawing/2014/main" id="{F685664C-E527-4A80-6FDA-83AC2277EF20}"/>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a16:creationId xmlns:a16="http://schemas.microsoft.com/office/drawing/2014/main" id="{AC687CAA-FD6A-AECB-7841-910B161A65F0}"/>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93" name="曲折矢印 160">
            <a:extLst>
              <a:ext uri="{FF2B5EF4-FFF2-40B4-BE49-F238E27FC236}">
                <a16:creationId xmlns:a16="http://schemas.microsoft.com/office/drawing/2014/main" id="{B7C6D678-8F9B-A044-0F56-D9920092127E}"/>
              </a:ext>
            </a:extLst>
          </p:cNvPr>
          <p:cNvSpPr/>
          <p:nvPr/>
        </p:nvSpPr>
        <p:spPr bwMode="auto">
          <a:xfrm rot="10800000" flipH="1">
            <a:off x="4835986" y="1538978"/>
            <a:ext cx="630007"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4" name="曲折矢印 171">
            <a:extLst>
              <a:ext uri="{FF2B5EF4-FFF2-40B4-BE49-F238E27FC236}">
                <a16:creationId xmlns:a16="http://schemas.microsoft.com/office/drawing/2014/main" id="{FDEF550E-5638-CDDB-AC89-BCCF067D8B82}"/>
              </a:ext>
            </a:extLst>
          </p:cNvPr>
          <p:cNvSpPr/>
          <p:nvPr/>
        </p:nvSpPr>
        <p:spPr bwMode="auto">
          <a:xfrm rot="16200000" flipH="1">
            <a:off x="4655984" y="2618992"/>
            <a:ext cx="810009" cy="63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7" name="正方形/長方形 36">
            <a:extLst>
              <a:ext uri="{FF2B5EF4-FFF2-40B4-BE49-F238E27FC236}">
                <a16:creationId xmlns:a16="http://schemas.microsoft.com/office/drawing/2014/main" id="{FA1C8BE8-B588-289F-5270-76C8163A829B}"/>
              </a:ext>
            </a:extLst>
          </p:cNvPr>
          <p:cNvSpPr/>
          <p:nvPr/>
        </p:nvSpPr>
        <p:spPr bwMode="auto">
          <a:xfrm>
            <a:off x="7806019" y="2528990"/>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コンデンサ</a:t>
            </a:r>
          </a:p>
        </p:txBody>
      </p:sp>
    </p:spTree>
    <p:extLst>
      <p:ext uri="{BB962C8B-B14F-4D97-AF65-F5344CB8AC3E}">
        <p14:creationId xmlns:p14="http://schemas.microsoft.com/office/powerpoint/2010/main" val="1511489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20DA14-088E-E4A8-9DF1-D943987ADAE6}"/>
              </a:ext>
            </a:extLst>
          </p:cNvPr>
          <p:cNvSpPr>
            <a:spLocks noGrp="1"/>
          </p:cNvSpPr>
          <p:nvPr>
            <p:ph type="title"/>
          </p:nvPr>
        </p:nvSpPr>
        <p:spPr/>
        <p:txBody>
          <a:bodyPr/>
          <a:lstStyle/>
          <a:p>
            <a:r>
              <a:rPr kumimoji="1" lang="ja-JP" altLang="en-US" dirty="0"/>
              <a:t>これも水流で考える</a:t>
            </a:r>
            <a:endParaRPr kumimoji="1" lang="en-US" dirty="0"/>
          </a:p>
        </p:txBody>
      </p:sp>
      <p:sp>
        <p:nvSpPr>
          <p:cNvPr id="3" name="テキスト プレースホルダー 2">
            <a:extLst>
              <a:ext uri="{FF2B5EF4-FFF2-40B4-BE49-F238E27FC236}">
                <a16:creationId xmlns:a16="http://schemas.microsoft.com/office/drawing/2014/main" id="{890EE345-485C-03AB-4F9D-6EC7336BF1A2}"/>
              </a:ext>
            </a:extLst>
          </p:cNvPr>
          <p:cNvSpPr>
            <a:spLocks noGrp="1"/>
          </p:cNvSpPr>
          <p:nvPr>
            <p:ph type="body" sz="quarter" idx="10"/>
          </p:nvPr>
        </p:nvSpPr>
        <p:spPr>
          <a:xfrm>
            <a:off x="515938" y="1268976"/>
            <a:ext cx="5040056" cy="1620018"/>
          </a:xfrm>
        </p:spPr>
        <p:txBody>
          <a:bodyPr/>
          <a:lstStyle/>
          <a:p>
            <a:r>
              <a:rPr lang="ja-JP" altLang="en-US" dirty="0"/>
              <a:t>電流を流して失われるエネルギー</a:t>
            </a:r>
            <a:endParaRPr lang="en-US" altLang="ja-JP" dirty="0"/>
          </a:p>
          <a:p>
            <a:pPr lvl="1"/>
            <a:r>
              <a:rPr lang="ja-JP" altLang="en-US" dirty="0"/>
              <a:t>コンデンサに溜まる</a:t>
            </a:r>
            <a:br>
              <a:rPr lang="en-US" altLang="ja-JP" dirty="0"/>
            </a:br>
            <a:r>
              <a:rPr lang="ja-JP" altLang="en-US" dirty="0"/>
              <a:t>電荷の量：</a:t>
            </a:r>
            <a:r>
              <a:rPr lang="en-US" altLang="ja-JP" dirty="0"/>
              <a:t>	Q</a:t>
            </a:r>
          </a:p>
          <a:p>
            <a:pPr lvl="1"/>
            <a:r>
              <a:rPr lang="ja-JP" altLang="en-US" dirty="0"/>
              <a:t>電圧：</a:t>
            </a:r>
            <a:r>
              <a:rPr lang="en-US" altLang="ja-JP" dirty="0"/>
              <a:t>	V</a:t>
            </a:r>
          </a:p>
          <a:p>
            <a:pPr lvl="1"/>
            <a:r>
              <a:rPr lang="ja-JP" altLang="en-US" dirty="0"/>
              <a:t>消費エネルギー：</a:t>
            </a:r>
            <a:r>
              <a:rPr lang="en-US" altLang="ja-JP" dirty="0"/>
              <a:t>Q × V</a:t>
            </a:r>
            <a:endParaRPr kumimoji="1" lang="en-US" altLang="ja-JP" dirty="0"/>
          </a:p>
        </p:txBody>
      </p:sp>
      <p:grpSp>
        <p:nvGrpSpPr>
          <p:cNvPr id="280" name="グループ化 279">
            <a:extLst>
              <a:ext uri="{FF2B5EF4-FFF2-40B4-BE49-F238E27FC236}">
                <a16:creationId xmlns:a16="http://schemas.microsoft.com/office/drawing/2014/main" id="{87E8DC6F-0E26-5AA1-1C84-D3C528E58F6D}"/>
              </a:ext>
            </a:extLst>
          </p:cNvPr>
          <p:cNvGrpSpPr/>
          <p:nvPr/>
        </p:nvGrpSpPr>
        <p:grpSpPr>
          <a:xfrm rot="5400000">
            <a:off x="2952866" y="4875918"/>
            <a:ext cx="67531" cy="337533"/>
            <a:chOff x="3401870" y="728700"/>
            <a:chExt cx="180020" cy="405045"/>
          </a:xfrm>
        </p:grpSpPr>
        <p:cxnSp>
          <p:nvCxnSpPr>
            <p:cNvPr id="281" name="直線コネクタ 280">
              <a:extLst>
                <a:ext uri="{FF2B5EF4-FFF2-40B4-BE49-F238E27FC236}">
                  <a16:creationId xmlns:a16="http://schemas.microsoft.com/office/drawing/2014/main" id="{DF7AD983-6064-C52B-288A-AEA968F7945E}"/>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a16:creationId xmlns:a16="http://schemas.microsoft.com/office/drawing/2014/main" id="{F53F85C4-DD11-47DA-A52D-ACCB5B1A0C64}"/>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a16:creationId xmlns:a16="http://schemas.microsoft.com/office/drawing/2014/main" id="{4143C739-3F32-CF6B-3160-F3F55691CD25}"/>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a16:creationId xmlns:a16="http://schemas.microsoft.com/office/drawing/2014/main" id="{37E6B02B-EDC7-ACFD-20BD-01D999F264ED}"/>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a16:creationId xmlns:a16="http://schemas.microsoft.com/office/drawing/2014/main" id="{B18458F7-DE9C-C9CA-CFAE-D0F61A8B488C}"/>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a16:creationId xmlns:a16="http://schemas.microsoft.com/office/drawing/2014/main" id="{6423D681-AF69-FA83-9F88-886EBBE5AAB5}"/>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a16:creationId xmlns:a16="http://schemas.microsoft.com/office/drawing/2014/main" id="{DAF8C162-9238-1283-AF90-D59A1528A454}"/>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a16:creationId xmlns:a16="http://schemas.microsoft.com/office/drawing/2014/main" id="{C224398F-A115-38BE-FFC4-40BE2170766F}"/>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a16:creationId xmlns:a16="http://schemas.microsoft.com/office/drawing/2014/main" id="{66F2480F-913F-2BA9-3173-7E2956321836}"/>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90" name="グループ化 289">
            <a:extLst>
              <a:ext uri="{FF2B5EF4-FFF2-40B4-BE49-F238E27FC236}">
                <a16:creationId xmlns:a16="http://schemas.microsoft.com/office/drawing/2014/main" id="{A9D15278-5ECA-1FE2-752D-70FDC3658919}"/>
              </a:ext>
            </a:extLst>
          </p:cNvPr>
          <p:cNvGrpSpPr/>
          <p:nvPr/>
        </p:nvGrpSpPr>
        <p:grpSpPr>
          <a:xfrm>
            <a:off x="2254533" y="5319022"/>
            <a:ext cx="270012" cy="450012"/>
            <a:chOff x="5787000" y="1944000"/>
            <a:chExt cx="270012" cy="450012"/>
          </a:xfrm>
        </p:grpSpPr>
        <p:cxnSp>
          <p:nvCxnSpPr>
            <p:cNvPr id="291" name="直線コネクタ 290">
              <a:extLst>
                <a:ext uri="{FF2B5EF4-FFF2-40B4-BE49-F238E27FC236}">
                  <a16:creationId xmlns:a16="http://schemas.microsoft.com/office/drawing/2014/main" id="{5C4C3ECF-EC47-5396-8C7A-3045D7BB3F35}"/>
                </a:ext>
              </a:extLst>
            </p:cNvPr>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2" name="円/楕円 92">
              <a:extLst>
                <a:ext uri="{FF2B5EF4-FFF2-40B4-BE49-F238E27FC236}">
                  <a16:creationId xmlns:a16="http://schemas.microsoft.com/office/drawing/2014/main" id="{0BEF045E-7B98-29EF-2E79-5AE46A16A7F9}"/>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93" name="円/楕円 93">
              <a:extLst>
                <a:ext uri="{FF2B5EF4-FFF2-40B4-BE49-F238E27FC236}">
                  <a16:creationId xmlns:a16="http://schemas.microsoft.com/office/drawing/2014/main" id="{6D4AA102-FD31-D78B-51A8-ACCBEB325519}"/>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94" name="グループ化 293">
            <a:extLst>
              <a:ext uri="{FF2B5EF4-FFF2-40B4-BE49-F238E27FC236}">
                <a16:creationId xmlns:a16="http://schemas.microsoft.com/office/drawing/2014/main" id="{AA8D6560-CAC6-AAD5-F707-C974AAE396A8}"/>
              </a:ext>
            </a:extLst>
          </p:cNvPr>
          <p:cNvGrpSpPr/>
          <p:nvPr/>
        </p:nvGrpSpPr>
        <p:grpSpPr>
          <a:xfrm>
            <a:off x="2434535" y="4329011"/>
            <a:ext cx="90012" cy="450012"/>
            <a:chOff x="5967000" y="1944000"/>
            <a:chExt cx="90012" cy="450012"/>
          </a:xfrm>
        </p:grpSpPr>
        <p:cxnSp>
          <p:nvCxnSpPr>
            <p:cNvPr id="295" name="直線コネクタ 294">
              <a:extLst>
                <a:ext uri="{FF2B5EF4-FFF2-40B4-BE49-F238E27FC236}">
                  <a16:creationId xmlns:a16="http://schemas.microsoft.com/office/drawing/2014/main" id="{50AC0D7D-0236-FDE7-4D3C-F3F04D04D22A}"/>
                </a:ext>
              </a:extLst>
            </p:cNvPr>
            <p:cNvCxnSpPr>
              <a:stCxn id="297"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6" name="円/楕円 96">
              <a:extLst>
                <a:ext uri="{FF2B5EF4-FFF2-40B4-BE49-F238E27FC236}">
                  <a16:creationId xmlns:a16="http://schemas.microsoft.com/office/drawing/2014/main" id="{85F2BBD3-C88C-9C1F-745E-4EB1184327F9}"/>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97" name="円/楕円 97">
              <a:extLst>
                <a:ext uri="{FF2B5EF4-FFF2-40B4-BE49-F238E27FC236}">
                  <a16:creationId xmlns:a16="http://schemas.microsoft.com/office/drawing/2014/main" id="{3D16C544-A10C-3448-8EF7-EC1371A07EDE}"/>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98" name="グループ化 152">
            <a:extLst>
              <a:ext uri="{FF2B5EF4-FFF2-40B4-BE49-F238E27FC236}">
                <a16:creationId xmlns:a16="http://schemas.microsoft.com/office/drawing/2014/main" id="{0739F56B-5C3A-54C9-9E14-36FE0224CFC0}"/>
              </a:ext>
            </a:extLst>
          </p:cNvPr>
          <p:cNvGrpSpPr/>
          <p:nvPr/>
        </p:nvGrpSpPr>
        <p:grpSpPr>
          <a:xfrm>
            <a:off x="2361679" y="6039029"/>
            <a:ext cx="180002" cy="90001"/>
            <a:chOff x="3643306" y="4500570"/>
            <a:chExt cx="428628" cy="144464"/>
          </a:xfrm>
        </p:grpSpPr>
        <p:cxnSp>
          <p:nvCxnSpPr>
            <p:cNvPr id="299" name="直線コネクタ 298">
              <a:extLst>
                <a:ext uri="{FF2B5EF4-FFF2-40B4-BE49-F238E27FC236}">
                  <a16:creationId xmlns:a16="http://schemas.microsoft.com/office/drawing/2014/main" id="{EB41CCC5-9CC5-CEE5-C9B0-EB0CD2A1C0E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00" name="直線コネクタ 299">
              <a:extLst>
                <a:ext uri="{FF2B5EF4-FFF2-40B4-BE49-F238E27FC236}">
                  <a16:creationId xmlns:a16="http://schemas.microsoft.com/office/drawing/2014/main" id="{092FA289-7A20-5BD0-C842-6AA473A2A55A}"/>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01" name="直線コネクタ 300">
              <a:extLst>
                <a:ext uri="{FF2B5EF4-FFF2-40B4-BE49-F238E27FC236}">
                  <a16:creationId xmlns:a16="http://schemas.microsoft.com/office/drawing/2014/main" id="{84517D28-6AD4-9B7F-B0B3-8D7230DF357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302" name="直線コネクタ 301">
            <a:extLst>
              <a:ext uri="{FF2B5EF4-FFF2-40B4-BE49-F238E27FC236}">
                <a16:creationId xmlns:a16="http://schemas.microsoft.com/office/drawing/2014/main" id="{AA9E3ECD-EDF9-FDBE-83F7-D75CA2565765}"/>
              </a:ext>
            </a:extLst>
          </p:cNvPr>
          <p:cNvCxnSpPr/>
          <p:nvPr/>
        </p:nvCxnSpPr>
        <p:spPr>
          <a:xfrm flipV="1">
            <a:off x="2451680" y="5769027"/>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03" name="グループ化 302">
            <a:extLst>
              <a:ext uri="{FF2B5EF4-FFF2-40B4-BE49-F238E27FC236}">
                <a16:creationId xmlns:a16="http://schemas.microsoft.com/office/drawing/2014/main" id="{15AF2F72-4C77-7745-D183-09408F44659E}"/>
              </a:ext>
            </a:extLst>
          </p:cNvPr>
          <p:cNvGrpSpPr/>
          <p:nvPr/>
        </p:nvGrpSpPr>
        <p:grpSpPr>
          <a:xfrm>
            <a:off x="2361679" y="3969007"/>
            <a:ext cx="180020" cy="360033"/>
            <a:chOff x="4481992" y="1268760"/>
            <a:chExt cx="180020" cy="360033"/>
          </a:xfrm>
        </p:grpSpPr>
        <p:cxnSp>
          <p:nvCxnSpPr>
            <p:cNvPr id="304" name="直線コネクタ 303">
              <a:extLst>
                <a:ext uri="{FF2B5EF4-FFF2-40B4-BE49-F238E27FC236}">
                  <a16:creationId xmlns:a16="http://schemas.microsoft.com/office/drawing/2014/main" id="{357ED39B-76C3-7EB1-FF28-C79A1AC6008F}"/>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a16:creationId xmlns:a16="http://schemas.microsoft.com/office/drawing/2014/main" id="{7D98FA10-EA04-450A-FADA-F9AAD6F79EF0}"/>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6" name="直線コネクタ 305">
            <a:extLst>
              <a:ext uri="{FF2B5EF4-FFF2-40B4-BE49-F238E27FC236}">
                <a16:creationId xmlns:a16="http://schemas.microsoft.com/office/drawing/2014/main" id="{3D75AA5D-6DF6-320B-0B7C-974634C79DED}"/>
              </a:ext>
            </a:extLst>
          </p:cNvPr>
          <p:cNvCxnSpPr/>
          <p:nvPr/>
        </p:nvCxnSpPr>
        <p:spPr>
          <a:xfrm flipV="1">
            <a:off x="2451680" y="4779016"/>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a16:creationId xmlns:a16="http://schemas.microsoft.com/office/drawing/2014/main" id="{D4932EC2-5DDE-89AA-1AB4-2D83BB9A922C}"/>
              </a:ext>
            </a:extLst>
          </p:cNvPr>
          <p:cNvCxnSpPr/>
          <p:nvPr/>
        </p:nvCxnSpPr>
        <p:spPr>
          <a:xfrm flipH="1">
            <a:off x="2451680" y="5049019"/>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a16:creationId xmlns:a16="http://schemas.microsoft.com/office/drawing/2014/main" id="{4793DF6F-C92A-00A1-4A06-84B12AEE3008}"/>
              </a:ext>
            </a:extLst>
          </p:cNvPr>
          <p:cNvCxnSpPr/>
          <p:nvPr/>
        </p:nvCxnSpPr>
        <p:spPr>
          <a:xfrm>
            <a:off x="3154543" y="5049019"/>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309" name="グループ化 308">
            <a:extLst>
              <a:ext uri="{FF2B5EF4-FFF2-40B4-BE49-F238E27FC236}">
                <a16:creationId xmlns:a16="http://schemas.microsoft.com/office/drawing/2014/main" id="{730E735F-F7AA-63B9-A053-B66F73F798F0}"/>
              </a:ext>
            </a:extLst>
          </p:cNvPr>
          <p:cNvGrpSpPr/>
          <p:nvPr/>
        </p:nvGrpSpPr>
        <p:grpSpPr>
          <a:xfrm rot="10800000">
            <a:off x="4385982" y="4869017"/>
            <a:ext cx="90012" cy="360048"/>
            <a:chOff x="2051664" y="1988808"/>
            <a:chExt cx="90012" cy="360048"/>
          </a:xfrm>
        </p:grpSpPr>
        <p:cxnSp>
          <p:nvCxnSpPr>
            <p:cNvPr id="310" name="直線コネクタ 309">
              <a:extLst>
                <a:ext uri="{FF2B5EF4-FFF2-40B4-BE49-F238E27FC236}">
                  <a16:creationId xmlns:a16="http://schemas.microsoft.com/office/drawing/2014/main" id="{996C040B-55F9-425E-1C38-0D8571FA73EF}"/>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558BD19C-2B4E-BF39-280F-163671FB853B}"/>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312" name="グループ化 152">
            <a:extLst>
              <a:ext uri="{FF2B5EF4-FFF2-40B4-BE49-F238E27FC236}">
                <a16:creationId xmlns:a16="http://schemas.microsoft.com/office/drawing/2014/main" id="{2F2EF359-4E98-934C-7FBA-837B38391708}"/>
              </a:ext>
            </a:extLst>
          </p:cNvPr>
          <p:cNvGrpSpPr/>
          <p:nvPr/>
        </p:nvGrpSpPr>
        <p:grpSpPr>
          <a:xfrm>
            <a:off x="4655985" y="6039030"/>
            <a:ext cx="180002" cy="90001"/>
            <a:chOff x="3643306" y="4500570"/>
            <a:chExt cx="428628" cy="144464"/>
          </a:xfrm>
        </p:grpSpPr>
        <p:cxnSp>
          <p:nvCxnSpPr>
            <p:cNvPr id="313" name="直線コネクタ 312">
              <a:extLst>
                <a:ext uri="{FF2B5EF4-FFF2-40B4-BE49-F238E27FC236}">
                  <a16:creationId xmlns:a16="http://schemas.microsoft.com/office/drawing/2014/main" id="{9320B463-434A-1EE3-637C-084FBD59C12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14" name="直線コネクタ 313">
              <a:extLst>
                <a:ext uri="{FF2B5EF4-FFF2-40B4-BE49-F238E27FC236}">
                  <a16:creationId xmlns:a16="http://schemas.microsoft.com/office/drawing/2014/main" id="{593CF2E2-0ABE-F3E2-4814-AC2617AB82D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15" name="直線コネクタ 314">
              <a:extLst>
                <a:ext uri="{FF2B5EF4-FFF2-40B4-BE49-F238E27FC236}">
                  <a16:creationId xmlns:a16="http://schemas.microsoft.com/office/drawing/2014/main" id="{BD0C2A32-191C-7101-D348-A2B1E425D311}"/>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316" name="フリーフォーム 155">
            <a:extLst>
              <a:ext uri="{FF2B5EF4-FFF2-40B4-BE49-F238E27FC236}">
                <a16:creationId xmlns:a16="http://schemas.microsoft.com/office/drawing/2014/main" id="{DC12DBC4-79C1-2ECC-9CAF-082B2D212B8F}"/>
              </a:ext>
            </a:extLst>
          </p:cNvPr>
          <p:cNvSpPr/>
          <p:nvPr/>
        </p:nvSpPr>
        <p:spPr bwMode="auto">
          <a:xfrm rot="5400000" flipH="1">
            <a:off x="4115978" y="5409022"/>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317" name="直線コネクタ 316">
            <a:extLst>
              <a:ext uri="{FF2B5EF4-FFF2-40B4-BE49-F238E27FC236}">
                <a16:creationId xmlns:a16="http://schemas.microsoft.com/office/drawing/2014/main" id="{7119E46E-DBE0-A4A2-B9A0-336536D0CDC4}"/>
              </a:ext>
            </a:extLst>
          </p:cNvPr>
          <p:cNvCxnSpPr/>
          <p:nvPr/>
        </p:nvCxnSpPr>
        <p:spPr>
          <a:xfrm>
            <a:off x="4205980" y="5049019"/>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a16:creationId xmlns:a16="http://schemas.microsoft.com/office/drawing/2014/main" id="{3B48B560-27BD-FCA8-1245-97E2D372FD80}"/>
              </a:ext>
            </a:extLst>
          </p:cNvPr>
          <p:cNvCxnSpPr/>
          <p:nvPr/>
        </p:nvCxnSpPr>
        <p:spPr>
          <a:xfrm>
            <a:off x="3665974" y="5049019"/>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19" name="曲折矢印 160">
            <a:extLst>
              <a:ext uri="{FF2B5EF4-FFF2-40B4-BE49-F238E27FC236}">
                <a16:creationId xmlns:a16="http://schemas.microsoft.com/office/drawing/2014/main" id="{2672CB96-5080-6803-8F74-5863D97CD442}"/>
              </a:ext>
            </a:extLst>
          </p:cNvPr>
          <p:cNvSpPr/>
          <p:nvPr/>
        </p:nvSpPr>
        <p:spPr bwMode="auto">
          <a:xfrm rot="10800000" flipH="1">
            <a:off x="2614538" y="4239009"/>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20" name="曲折矢印 171">
            <a:extLst>
              <a:ext uri="{FF2B5EF4-FFF2-40B4-BE49-F238E27FC236}">
                <a16:creationId xmlns:a16="http://schemas.microsoft.com/office/drawing/2014/main" id="{080DDE31-04F4-F263-2407-846F213FF42F}"/>
              </a:ext>
            </a:extLst>
          </p:cNvPr>
          <p:cNvSpPr/>
          <p:nvPr/>
        </p:nvSpPr>
        <p:spPr bwMode="auto">
          <a:xfrm rot="16200000" flipH="1">
            <a:off x="2929541" y="4824017"/>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21" name="直線矢印コネクタ 320">
            <a:extLst>
              <a:ext uri="{FF2B5EF4-FFF2-40B4-BE49-F238E27FC236}">
                <a16:creationId xmlns:a16="http://schemas.microsoft.com/office/drawing/2014/main" id="{AFEDDBC4-E157-7478-2B43-5766B11C21FD}"/>
              </a:ext>
            </a:extLst>
          </p:cNvPr>
          <p:cNvCxnSpPr>
            <a:cxnSpLocks/>
          </p:cNvCxnSpPr>
          <p:nvPr/>
        </p:nvCxnSpPr>
        <p:spPr bwMode="auto">
          <a:xfrm flipV="1">
            <a:off x="1145945" y="3969006"/>
            <a:ext cx="0" cy="2070023"/>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322" name="正方形/長方形 321">
            <a:extLst>
              <a:ext uri="{FF2B5EF4-FFF2-40B4-BE49-F238E27FC236}">
                <a16:creationId xmlns:a16="http://schemas.microsoft.com/office/drawing/2014/main" id="{D507C77C-D674-7399-3C9B-C86FA48079DA}"/>
              </a:ext>
            </a:extLst>
          </p:cNvPr>
          <p:cNvSpPr/>
          <p:nvPr/>
        </p:nvSpPr>
        <p:spPr bwMode="auto">
          <a:xfrm>
            <a:off x="1145945" y="468901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電圧 </a:t>
            </a:r>
            <a:r>
              <a:rPr lang="en-US" altLang="ja-JP" sz="2400" b="1" dirty="0">
                <a:solidFill>
                  <a:schemeClr val="accent5"/>
                </a:solidFill>
              </a:rPr>
              <a:t>V</a:t>
            </a:r>
            <a:endParaRPr lang="ja-JP" altLang="en-US" sz="2400" b="1" dirty="0">
              <a:solidFill>
                <a:schemeClr val="accent5"/>
              </a:solidFill>
            </a:endParaRPr>
          </a:p>
        </p:txBody>
      </p:sp>
      <p:sp>
        <p:nvSpPr>
          <p:cNvPr id="323" name="テキスト プレースホルダー 2">
            <a:extLst>
              <a:ext uri="{FF2B5EF4-FFF2-40B4-BE49-F238E27FC236}">
                <a16:creationId xmlns:a16="http://schemas.microsoft.com/office/drawing/2014/main" id="{6D99E2F8-FAED-FD94-08E9-ACE839D1F43C}"/>
              </a:ext>
            </a:extLst>
          </p:cNvPr>
          <p:cNvSpPr txBox="1">
            <a:spLocks/>
          </p:cNvSpPr>
          <p:nvPr/>
        </p:nvSpPr>
        <p:spPr bwMode="auto">
          <a:xfrm>
            <a:off x="6005999" y="818971"/>
            <a:ext cx="6120068" cy="252002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solidFill>
                  <a:schemeClr val="accent5"/>
                </a:solidFill>
              </a:rPr>
              <a:t>水を高いところから流すとその分</a:t>
            </a:r>
            <a:br>
              <a:rPr lang="en-US" altLang="ja-JP" kern="0" dirty="0">
                <a:solidFill>
                  <a:schemeClr val="accent5"/>
                </a:solidFill>
              </a:rPr>
            </a:br>
            <a:r>
              <a:rPr lang="ja-JP" altLang="en-US" kern="0" dirty="0">
                <a:solidFill>
                  <a:schemeClr val="accent5"/>
                </a:solidFill>
              </a:rPr>
              <a:t>位置エネルギーが失われる</a:t>
            </a:r>
            <a:endParaRPr lang="en-US" altLang="ja-JP" kern="0" dirty="0">
              <a:solidFill>
                <a:schemeClr val="accent5"/>
              </a:solidFill>
            </a:endParaRPr>
          </a:p>
          <a:p>
            <a:pPr lvl="1"/>
            <a:r>
              <a:rPr lang="ja-JP" altLang="en-US" kern="0" dirty="0"/>
              <a:t>水の総量：</a:t>
            </a:r>
            <a:r>
              <a:rPr lang="en-US" altLang="ja-JP" kern="0" dirty="0"/>
              <a:t>	Q </a:t>
            </a:r>
          </a:p>
          <a:p>
            <a:pPr lvl="1"/>
            <a:r>
              <a:rPr lang="ja-JP" altLang="en-US" kern="0" dirty="0"/>
              <a:t>排水口から給水口高さ：</a:t>
            </a:r>
            <a:r>
              <a:rPr lang="en-US" altLang="ja-JP" kern="0" dirty="0"/>
              <a:t>	V</a:t>
            </a:r>
          </a:p>
          <a:p>
            <a:pPr lvl="1"/>
            <a:r>
              <a:rPr lang="ja-JP" altLang="en-US" kern="0" dirty="0"/>
              <a:t>エネルギー：</a:t>
            </a:r>
            <a:r>
              <a:rPr lang="en-US" altLang="ja-JP" kern="0" dirty="0"/>
              <a:t>		Q × V</a:t>
            </a:r>
          </a:p>
        </p:txBody>
      </p:sp>
      <p:sp>
        <p:nvSpPr>
          <p:cNvPr id="324" name="正方形/長方形 323">
            <a:extLst>
              <a:ext uri="{FF2B5EF4-FFF2-40B4-BE49-F238E27FC236}">
                <a16:creationId xmlns:a16="http://schemas.microsoft.com/office/drawing/2014/main" id="{9C43E815-980B-E3A1-F2DC-9F20C495658F}"/>
              </a:ext>
            </a:extLst>
          </p:cNvPr>
          <p:cNvSpPr/>
          <p:nvPr/>
        </p:nvSpPr>
        <p:spPr bwMode="auto">
          <a:xfrm>
            <a:off x="2855964" y="414900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電荷 </a:t>
            </a:r>
            <a:r>
              <a:rPr lang="en-US" altLang="ja-JP" sz="2400" b="1" dirty="0">
                <a:solidFill>
                  <a:schemeClr val="accent5"/>
                </a:solidFill>
              </a:rPr>
              <a:t>Q</a:t>
            </a:r>
            <a:endParaRPr lang="ja-JP" altLang="en-US" sz="2400" b="1" dirty="0">
              <a:solidFill>
                <a:schemeClr val="accent5"/>
              </a:solidFill>
            </a:endParaRPr>
          </a:p>
        </p:txBody>
      </p:sp>
      <p:sp>
        <p:nvSpPr>
          <p:cNvPr id="195" name="正方形/長方形 194">
            <a:extLst>
              <a:ext uri="{FF2B5EF4-FFF2-40B4-BE49-F238E27FC236}">
                <a16:creationId xmlns:a16="http://schemas.microsoft.com/office/drawing/2014/main" id="{69ADAA46-7843-83CD-E4A6-892F5B114C07}"/>
              </a:ext>
            </a:extLst>
          </p:cNvPr>
          <p:cNvSpPr/>
          <p:nvPr/>
        </p:nvSpPr>
        <p:spPr bwMode="auto">
          <a:xfrm rot="5400000">
            <a:off x="10641050" y="5454021"/>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196" name="正方形/長方形 195">
            <a:extLst>
              <a:ext uri="{FF2B5EF4-FFF2-40B4-BE49-F238E27FC236}">
                <a16:creationId xmlns:a16="http://schemas.microsoft.com/office/drawing/2014/main" id="{B34BB83F-F0B6-237A-AFFB-74726E317C03}"/>
              </a:ext>
            </a:extLst>
          </p:cNvPr>
          <p:cNvSpPr/>
          <p:nvPr/>
        </p:nvSpPr>
        <p:spPr bwMode="auto">
          <a:xfrm rot="5400000">
            <a:off x="9156034" y="4149006"/>
            <a:ext cx="180002" cy="1260014"/>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97" name="正方形/長方形 196">
            <a:extLst>
              <a:ext uri="{FF2B5EF4-FFF2-40B4-BE49-F238E27FC236}">
                <a16:creationId xmlns:a16="http://schemas.microsoft.com/office/drawing/2014/main" id="{F0EC0528-E386-1042-E444-B178F3BA5C06}"/>
              </a:ext>
            </a:extLst>
          </p:cNvPr>
          <p:cNvSpPr/>
          <p:nvPr/>
        </p:nvSpPr>
        <p:spPr bwMode="auto">
          <a:xfrm rot="5400000">
            <a:off x="7716018" y="4779015"/>
            <a:ext cx="162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98" name="正方形/長方形 197">
            <a:extLst>
              <a:ext uri="{FF2B5EF4-FFF2-40B4-BE49-F238E27FC236}">
                <a16:creationId xmlns:a16="http://schemas.microsoft.com/office/drawing/2014/main" id="{A4E60E53-A25F-F374-06FA-D386F8A81515}"/>
              </a:ext>
            </a:extLst>
          </p:cNvPr>
          <p:cNvSpPr/>
          <p:nvPr/>
        </p:nvSpPr>
        <p:spPr bwMode="auto">
          <a:xfrm rot="5400000">
            <a:off x="8121022" y="5364020"/>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99" name="直線コネクタ 198">
            <a:extLst>
              <a:ext uri="{FF2B5EF4-FFF2-40B4-BE49-F238E27FC236}">
                <a16:creationId xmlns:a16="http://schemas.microsoft.com/office/drawing/2014/main" id="{C565A5A1-87A4-D066-3EE7-DC6686F80D68}"/>
              </a:ext>
            </a:extLst>
          </p:cNvPr>
          <p:cNvCxnSpPr>
            <a:cxnSpLocks/>
          </p:cNvCxnSpPr>
          <p:nvPr/>
        </p:nvCxnSpPr>
        <p:spPr bwMode="auto">
          <a:xfrm>
            <a:off x="7086013" y="5679025"/>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200" name="正方形/長方形 199">
            <a:extLst>
              <a:ext uri="{FF2B5EF4-FFF2-40B4-BE49-F238E27FC236}">
                <a16:creationId xmlns:a16="http://schemas.microsoft.com/office/drawing/2014/main" id="{57198E50-BCCA-E0C6-EF3E-BB6EE2F8D9E3}"/>
              </a:ext>
            </a:extLst>
          </p:cNvPr>
          <p:cNvSpPr/>
          <p:nvPr/>
        </p:nvSpPr>
        <p:spPr bwMode="auto">
          <a:xfrm rot="5400000">
            <a:off x="7761018" y="3203996"/>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1" name="直線コネクタ 200">
            <a:extLst>
              <a:ext uri="{FF2B5EF4-FFF2-40B4-BE49-F238E27FC236}">
                <a16:creationId xmlns:a16="http://schemas.microsoft.com/office/drawing/2014/main" id="{3F4AF910-66B8-752A-E499-D755E2967242}"/>
              </a:ext>
            </a:extLst>
          </p:cNvPr>
          <p:cNvCxnSpPr>
            <a:cxnSpLocks/>
          </p:cNvCxnSpPr>
          <p:nvPr/>
        </p:nvCxnSpPr>
        <p:spPr bwMode="auto">
          <a:xfrm>
            <a:off x="7086011" y="3879004"/>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AD647D95-3F7E-3D80-2B76-C7DE16A41164}"/>
              </a:ext>
            </a:extLst>
          </p:cNvPr>
          <p:cNvCxnSpPr>
            <a:cxnSpLocks/>
          </p:cNvCxnSpPr>
          <p:nvPr/>
        </p:nvCxnSpPr>
        <p:spPr bwMode="auto">
          <a:xfrm>
            <a:off x="7086011" y="4059006"/>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203" name="直線コネクタ 202">
            <a:extLst>
              <a:ext uri="{FF2B5EF4-FFF2-40B4-BE49-F238E27FC236}">
                <a16:creationId xmlns:a16="http://schemas.microsoft.com/office/drawing/2014/main" id="{C4198C8C-FB73-B190-9AA7-6FE9090897DB}"/>
              </a:ext>
            </a:extLst>
          </p:cNvPr>
          <p:cNvCxnSpPr>
            <a:cxnSpLocks/>
          </p:cNvCxnSpPr>
          <p:nvPr/>
        </p:nvCxnSpPr>
        <p:spPr bwMode="auto">
          <a:xfrm>
            <a:off x="8436563" y="4059005"/>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204" name="直線コネクタ 203">
            <a:extLst>
              <a:ext uri="{FF2B5EF4-FFF2-40B4-BE49-F238E27FC236}">
                <a16:creationId xmlns:a16="http://schemas.microsoft.com/office/drawing/2014/main" id="{76125E77-0888-3659-C242-5F2E1C86EF2A}"/>
              </a:ext>
            </a:extLst>
          </p:cNvPr>
          <p:cNvCxnSpPr>
            <a:cxnSpLocks/>
          </p:cNvCxnSpPr>
          <p:nvPr/>
        </p:nvCxnSpPr>
        <p:spPr bwMode="auto">
          <a:xfrm>
            <a:off x="8616565" y="4869014"/>
            <a:ext cx="0" cy="990369"/>
          </a:xfrm>
          <a:prstGeom prst="line">
            <a:avLst/>
          </a:prstGeom>
          <a:noFill/>
          <a:ln w="19050" cap="flat" cmpd="sng" algn="ctr">
            <a:solidFill>
              <a:schemeClr val="tx1"/>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420AC317-7BA2-0D61-6884-966A2C8B8C20}"/>
              </a:ext>
            </a:extLst>
          </p:cNvPr>
          <p:cNvCxnSpPr>
            <a:cxnSpLocks/>
          </p:cNvCxnSpPr>
          <p:nvPr/>
        </p:nvCxnSpPr>
        <p:spPr bwMode="auto">
          <a:xfrm>
            <a:off x="8616028" y="3879003"/>
            <a:ext cx="0" cy="810009"/>
          </a:xfrm>
          <a:prstGeom prst="line">
            <a:avLst/>
          </a:prstGeom>
          <a:noFill/>
          <a:ln w="19050" cap="flat" cmpd="sng" algn="ctr">
            <a:solidFill>
              <a:schemeClr val="tx1"/>
            </a:solidFill>
            <a:prstDash val="solid"/>
            <a:round/>
            <a:headEnd type="none" w="med" len="med"/>
            <a:tailEnd type="none" w="med" len="med"/>
          </a:ln>
          <a:effectLst/>
        </p:spPr>
      </p:cxnSp>
      <p:cxnSp>
        <p:nvCxnSpPr>
          <p:cNvPr id="206" name="直線コネクタ 205">
            <a:extLst>
              <a:ext uri="{FF2B5EF4-FFF2-40B4-BE49-F238E27FC236}">
                <a16:creationId xmlns:a16="http://schemas.microsoft.com/office/drawing/2014/main" id="{776C10FA-E52C-09B5-32B3-D7965355EEAE}"/>
              </a:ext>
            </a:extLst>
          </p:cNvPr>
          <p:cNvCxnSpPr>
            <a:cxnSpLocks/>
          </p:cNvCxnSpPr>
          <p:nvPr/>
        </p:nvCxnSpPr>
        <p:spPr bwMode="auto">
          <a:xfrm>
            <a:off x="8616028" y="4869014"/>
            <a:ext cx="1260013" cy="0"/>
          </a:xfrm>
          <a:prstGeom prst="line">
            <a:avLst/>
          </a:prstGeom>
          <a:noFill/>
          <a:ln w="19050" cap="flat" cmpd="sng" algn="ctr">
            <a:solidFill>
              <a:schemeClr val="tx1"/>
            </a:solidFill>
            <a:prstDash val="solid"/>
            <a:round/>
            <a:headEnd type="none" w="med" len="med"/>
            <a:tailEnd type="none" w="med" len="med"/>
          </a:ln>
          <a:effectLst/>
        </p:spPr>
      </p:cxnSp>
      <p:cxnSp>
        <p:nvCxnSpPr>
          <p:cNvPr id="207" name="直線コネクタ 206">
            <a:extLst>
              <a:ext uri="{FF2B5EF4-FFF2-40B4-BE49-F238E27FC236}">
                <a16:creationId xmlns:a16="http://schemas.microsoft.com/office/drawing/2014/main" id="{75BF3679-9326-1CD1-29D9-047F978E45D5}"/>
              </a:ext>
            </a:extLst>
          </p:cNvPr>
          <p:cNvCxnSpPr>
            <a:cxnSpLocks/>
          </p:cNvCxnSpPr>
          <p:nvPr/>
        </p:nvCxnSpPr>
        <p:spPr bwMode="auto">
          <a:xfrm>
            <a:off x="8616028" y="4689012"/>
            <a:ext cx="1260013" cy="0"/>
          </a:xfrm>
          <a:prstGeom prst="line">
            <a:avLst/>
          </a:prstGeom>
          <a:noFill/>
          <a:ln w="19050" cap="flat" cmpd="sng" algn="ctr">
            <a:solidFill>
              <a:schemeClr val="tx1"/>
            </a:solidFill>
            <a:prstDash val="solid"/>
            <a:round/>
            <a:headEnd type="none" w="med" len="med"/>
            <a:tailEnd type="none" w="med" len="med"/>
          </a:ln>
          <a:effectLst/>
        </p:spPr>
      </p:cxnSp>
      <p:sp>
        <p:nvSpPr>
          <p:cNvPr id="208" name="正方形/長方形 207">
            <a:extLst>
              <a:ext uri="{FF2B5EF4-FFF2-40B4-BE49-F238E27FC236}">
                <a16:creationId xmlns:a16="http://schemas.microsoft.com/office/drawing/2014/main" id="{A238DBCB-C4BC-BA18-74E5-AA14B1E5DDD3}"/>
              </a:ext>
            </a:extLst>
          </p:cNvPr>
          <p:cNvSpPr/>
          <p:nvPr/>
        </p:nvSpPr>
        <p:spPr bwMode="auto">
          <a:xfrm rot="5400000">
            <a:off x="10056041" y="3519000"/>
            <a:ext cx="180003" cy="90001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9" name="正方形/長方形 208">
            <a:extLst>
              <a:ext uri="{FF2B5EF4-FFF2-40B4-BE49-F238E27FC236}">
                <a16:creationId xmlns:a16="http://schemas.microsoft.com/office/drawing/2014/main" id="{98124E3C-6CE2-AA56-329C-FC7CFE186B5F}"/>
              </a:ext>
            </a:extLst>
          </p:cNvPr>
          <p:cNvSpPr/>
          <p:nvPr/>
        </p:nvSpPr>
        <p:spPr bwMode="auto">
          <a:xfrm rot="5400000">
            <a:off x="10641049" y="3654002"/>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210" name="正方形/長方形 209">
            <a:extLst>
              <a:ext uri="{FF2B5EF4-FFF2-40B4-BE49-F238E27FC236}">
                <a16:creationId xmlns:a16="http://schemas.microsoft.com/office/drawing/2014/main" id="{DAB034C7-29DC-556F-6A14-678D3D4B8208}"/>
              </a:ext>
            </a:extLst>
          </p:cNvPr>
          <p:cNvSpPr/>
          <p:nvPr/>
        </p:nvSpPr>
        <p:spPr bwMode="auto">
          <a:xfrm rot="5400000">
            <a:off x="8796031" y="4779014"/>
            <a:ext cx="1980020"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1" name="正方形/長方形 210">
            <a:extLst>
              <a:ext uri="{FF2B5EF4-FFF2-40B4-BE49-F238E27FC236}">
                <a16:creationId xmlns:a16="http://schemas.microsoft.com/office/drawing/2014/main" id="{BCB41931-84AB-04D7-B021-AC4FE29EDBDA}"/>
              </a:ext>
            </a:extLst>
          </p:cNvPr>
          <p:cNvSpPr/>
          <p:nvPr/>
        </p:nvSpPr>
        <p:spPr bwMode="auto">
          <a:xfrm rot="5400000">
            <a:off x="10146044" y="5409021"/>
            <a:ext cx="180003" cy="720008"/>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12" name="直線コネクタ 211">
            <a:extLst>
              <a:ext uri="{FF2B5EF4-FFF2-40B4-BE49-F238E27FC236}">
                <a16:creationId xmlns:a16="http://schemas.microsoft.com/office/drawing/2014/main" id="{5F88F3A6-F785-7717-0887-B6DA171FF214}"/>
              </a:ext>
            </a:extLst>
          </p:cNvPr>
          <p:cNvCxnSpPr>
            <a:cxnSpLocks/>
          </p:cNvCxnSpPr>
          <p:nvPr/>
        </p:nvCxnSpPr>
        <p:spPr bwMode="auto">
          <a:xfrm>
            <a:off x="9696040" y="3879003"/>
            <a:ext cx="900009" cy="1"/>
          </a:xfrm>
          <a:prstGeom prst="line">
            <a:avLst/>
          </a:prstGeom>
          <a:noFill/>
          <a:ln w="19050" cap="flat" cmpd="sng" algn="ctr">
            <a:solidFill>
              <a:schemeClr val="tx1"/>
            </a:solidFill>
            <a:prstDash val="solid"/>
            <a:round/>
            <a:headEnd type="none" w="med" len="med"/>
            <a:tailEnd type="none" w="med" len="med"/>
          </a:ln>
          <a:effectLst/>
        </p:spPr>
      </p:cxnSp>
      <p:cxnSp>
        <p:nvCxnSpPr>
          <p:cNvPr id="213" name="直線コネクタ 212">
            <a:extLst>
              <a:ext uri="{FF2B5EF4-FFF2-40B4-BE49-F238E27FC236}">
                <a16:creationId xmlns:a16="http://schemas.microsoft.com/office/drawing/2014/main" id="{D76169E5-4312-FA0E-491A-C8755980B1C3}"/>
              </a:ext>
            </a:extLst>
          </p:cNvPr>
          <p:cNvCxnSpPr>
            <a:cxnSpLocks/>
          </p:cNvCxnSpPr>
          <p:nvPr/>
        </p:nvCxnSpPr>
        <p:spPr bwMode="auto">
          <a:xfrm>
            <a:off x="9876042" y="4059005"/>
            <a:ext cx="720007" cy="0"/>
          </a:xfrm>
          <a:prstGeom prst="line">
            <a:avLst/>
          </a:prstGeom>
          <a:noFill/>
          <a:ln w="19050" cap="flat" cmpd="sng" algn="ctr">
            <a:solidFill>
              <a:schemeClr val="tx1"/>
            </a:solidFill>
            <a:prstDash val="solid"/>
            <a:round/>
            <a:headEnd type="none" w="med" len="med"/>
            <a:tailEnd type="none" w="med" len="med"/>
          </a:ln>
          <a:effectLst/>
        </p:spPr>
      </p:cxnSp>
      <p:cxnSp>
        <p:nvCxnSpPr>
          <p:cNvPr id="214" name="直線コネクタ 213">
            <a:extLst>
              <a:ext uri="{FF2B5EF4-FFF2-40B4-BE49-F238E27FC236}">
                <a16:creationId xmlns:a16="http://schemas.microsoft.com/office/drawing/2014/main" id="{92838338-A702-5853-13C4-431777104C04}"/>
              </a:ext>
            </a:extLst>
          </p:cNvPr>
          <p:cNvCxnSpPr>
            <a:cxnSpLocks/>
          </p:cNvCxnSpPr>
          <p:nvPr/>
        </p:nvCxnSpPr>
        <p:spPr bwMode="auto">
          <a:xfrm>
            <a:off x="9876042" y="5679025"/>
            <a:ext cx="720008" cy="0"/>
          </a:xfrm>
          <a:prstGeom prst="line">
            <a:avLst/>
          </a:prstGeom>
          <a:noFill/>
          <a:ln w="19050" cap="flat" cmpd="sng" algn="ctr">
            <a:solidFill>
              <a:schemeClr val="tx1"/>
            </a:solidFill>
            <a:prstDash val="solid"/>
            <a:round/>
            <a:headEnd type="none" w="med" len="med"/>
            <a:tailEnd type="none" w="med" len="med"/>
          </a:ln>
          <a:effectLst/>
        </p:spPr>
      </p:cxnSp>
      <p:cxnSp>
        <p:nvCxnSpPr>
          <p:cNvPr id="216" name="直線コネクタ 215">
            <a:extLst>
              <a:ext uri="{FF2B5EF4-FFF2-40B4-BE49-F238E27FC236}">
                <a16:creationId xmlns:a16="http://schemas.microsoft.com/office/drawing/2014/main" id="{5740E7D0-AD62-B21C-5D3C-99AD82BB3C62}"/>
              </a:ext>
            </a:extLst>
          </p:cNvPr>
          <p:cNvCxnSpPr>
            <a:cxnSpLocks/>
          </p:cNvCxnSpPr>
          <p:nvPr/>
        </p:nvCxnSpPr>
        <p:spPr bwMode="auto">
          <a:xfrm>
            <a:off x="9696040" y="5859028"/>
            <a:ext cx="900010" cy="0"/>
          </a:xfrm>
          <a:prstGeom prst="line">
            <a:avLst/>
          </a:prstGeom>
          <a:noFill/>
          <a:ln w="19050" cap="flat" cmpd="sng" algn="ctr">
            <a:solidFill>
              <a:schemeClr val="tx1"/>
            </a:solidFill>
            <a:prstDash val="solid"/>
            <a:round/>
            <a:headEnd type="none" w="med" len="med"/>
            <a:tailEnd type="none" w="med" len="med"/>
          </a:ln>
          <a:effectLst/>
        </p:spPr>
      </p:cxnSp>
      <p:cxnSp>
        <p:nvCxnSpPr>
          <p:cNvPr id="217" name="直線コネクタ 216">
            <a:extLst>
              <a:ext uri="{FF2B5EF4-FFF2-40B4-BE49-F238E27FC236}">
                <a16:creationId xmlns:a16="http://schemas.microsoft.com/office/drawing/2014/main" id="{41C3B22A-4C91-3384-E1E8-C6BED95BD659}"/>
              </a:ext>
            </a:extLst>
          </p:cNvPr>
          <p:cNvCxnSpPr>
            <a:cxnSpLocks/>
          </p:cNvCxnSpPr>
          <p:nvPr/>
        </p:nvCxnSpPr>
        <p:spPr bwMode="auto">
          <a:xfrm>
            <a:off x="9876580" y="4059005"/>
            <a:ext cx="0" cy="1620375"/>
          </a:xfrm>
          <a:prstGeom prst="line">
            <a:avLst/>
          </a:prstGeom>
          <a:noFill/>
          <a:ln w="19050" cap="flat" cmpd="sng" algn="ctr">
            <a:solidFill>
              <a:schemeClr val="tx1"/>
            </a:solidFill>
            <a:prstDash val="solid"/>
            <a:round/>
            <a:headEnd type="none" w="med" len="med"/>
            <a:tailEnd type="none" w="med" len="med"/>
          </a:ln>
          <a:effectLst/>
        </p:spPr>
      </p:cxnSp>
      <p:cxnSp>
        <p:nvCxnSpPr>
          <p:cNvPr id="218" name="直線コネクタ 217">
            <a:extLst>
              <a:ext uri="{FF2B5EF4-FFF2-40B4-BE49-F238E27FC236}">
                <a16:creationId xmlns:a16="http://schemas.microsoft.com/office/drawing/2014/main" id="{A721DBC9-E621-E602-67EA-8A2A289FA354}"/>
              </a:ext>
            </a:extLst>
          </p:cNvPr>
          <p:cNvCxnSpPr>
            <a:cxnSpLocks/>
          </p:cNvCxnSpPr>
          <p:nvPr/>
        </p:nvCxnSpPr>
        <p:spPr bwMode="auto">
          <a:xfrm>
            <a:off x="9696041" y="3879003"/>
            <a:ext cx="0" cy="810009"/>
          </a:xfrm>
          <a:prstGeom prst="line">
            <a:avLst/>
          </a:prstGeom>
          <a:noFill/>
          <a:ln w="19050" cap="flat" cmpd="sng" algn="ctr">
            <a:solidFill>
              <a:schemeClr val="tx1"/>
            </a:solidFill>
            <a:prstDash val="solid"/>
            <a:round/>
            <a:headEnd type="none" w="med" len="med"/>
            <a:tailEnd type="none" w="med" len="med"/>
          </a:ln>
          <a:effectLst/>
        </p:spPr>
      </p:cxnSp>
      <p:cxnSp>
        <p:nvCxnSpPr>
          <p:cNvPr id="221" name="直線コネクタ 220">
            <a:extLst>
              <a:ext uri="{FF2B5EF4-FFF2-40B4-BE49-F238E27FC236}">
                <a16:creationId xmlns:a16="http://schemas.microsoft.com/office/drawing/2014/main" id="{294EA157-B60E-A2EA-66C9-059A1CB85EF7}"/>
              </a:ext>
            </a:extLst>
          </p:cNvPr>
          <p:cNvCxnSpPr>
            <a:cxnSpLocks/>
          </p:cNvCxnSpPr>
          <p:nvPr/>
        </p:nvCxnSpPr>
        <p:spPr bwMode="auto">
          <a:xfrm>
            <a:off x="9696040" y="4869014"/>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222" name="直線コネクタ 221">
            <a:extLst>
              <a:ext uri="{FF2B5EF4-FFF2-40B4-BE49-F238E27FC236}">
                <a16:creationId xmlns:a16="http://schemas.microsoft.com/office/drawing/2014/main" id="{B5979755-4DFA-247F-AB57-FA62B4847658}"/>
              </a:ext>
            </a:extLst>
          </p:cNvPr>
          <p:cNvCxnSpPr>
            <a:cxnSpLocks/>
          </p:cNvCxnSpPr>
          <p:nvPr/>
        </p:nvCxnSpPr>
        <p:spPr bwMode="auto">
          <a:xfrm>
            <a:off x="10596051" y="414900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223" name="直線コネクタ 222">
            <a:extLst>
              <a:ext uri="{FF2B5EF4-FFF2-40B4-BE49-F238E27FC236}">
                <a16:creationId xmlns:a16="http://schemas.microsoft.com/office/drawing/2014/main" id="{89508F3D-3834-0202-9C62-49A90C98474D}"/>
              </a:ext>
            </a:extLst>
          </p:cNvPr>
          <p:cNvCxnSpPr>
            <a:cxnSpLocks/>
          </p:cNvCxnSpPr>
          <p:nvPr/>
        </p:nvCxnSpPr>
        <p:spPr bwMode="auto">
          <a:xfrm>
            <a:off x="10596051" y="3699001"/>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224" name="直線コネクタ 223">
            <a:extLst>
              <a:ext uri="{FF2B5EF4-FFF2-40B4-BE49-F238E27FC236}">
                <a16:creationId xmlns:a16="http://schemas.microsoft.com/office/drawing/2014/main" id="{5113F590-B548-6949-E3AE-E10A442F2A53}"/>
              </a:ext>
            </a:extLst>
          </p:cNvPr>
          <p:cNvCxnSpPr>
            <a:cxnSpLocks/>
          </p:cNvCxnSpPr>
          <p:nvPr/>
        </p:nvCxnSpPr>
        <p:spPr bwMode="auto">
          <a:xfrm>
            <a:off x="11136057" y="369900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229" name="直線コネクタ 228">
            <a:extLst>
              <a:ext uri="{FF2B5EF4-FFF2-40B4-BE49-F238E27FC236}">
                <a16:creationId xmlns:a16="http://schemas.microsoft.com/office/drawing/2014/main" id="{77832C8D-3BE7-B8E8-6E9E-CBB9376DD179}"/>
              </a:ext>
            </a:extLst>
          </p:cNvPr>
          <p:cNvCxnSpPr>
            <a:cxnSpLocks/>
          </p:cNvCxnSpPr>
          <p:nvPr/>
        </p:nvCxnSpPr>
        <p:spPr bwMode="auto">
          <a:xfrm flipV="1">
            <a:off x="10866052" y="414900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234" name="正方形/長方形 233">
            <a:extLst>
              <a:ext uri="{FF2B5EF4-FFF2-40B4-BE49-F238E27FC236}">
                <a16:creationId xmlns:a16="http://schemas.microsoft.com/office/drawing/2014/main" id="{9940A13E-748C-763E-C03D-029DF097A465}"/>
              </a:ext>
            </a:extLst>
          </p:cNvPr>
          <p:cNvSpPr/>
          <p:nvPr/>
        </p:nvSpPr>
        <p:spPr bwMode="auto">
          <a:xfrm rot="5400000">
            <a:off x="10596049" y="4509011"/>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5" name="正方形/長方形 234">
            <a:extLst>
              <a:ext uri="{FF2B5EF4-FFF2-40B4-BE49-F238E27FC236}">
                <a16:creationId xmlns:a16="http://schemas.microsoft.com/office/drawing/2014/main" id="{167A0D73-6749-FBD3-15C1-E7A7AA6F50B2}"/>
              </a:ext>
            </a:extLst>
          </p:cNvPr>
          <p:cNvSpPr/>
          <p:nvPr/>
        </p:nvSpPr>
        <p:spPr bwMode="auto">
          <a:xfrm rot="5400000" flipH="1">
            <a:off x="10821051" y="5004014"/>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38" name="直線コネクタ 237">
            <a:extLst>
              <a:ext uri="{FF2B5EF4-FFF2-40B4-BE49-F238E27FC236}">
                <a16:creationId xmlns:a16="http://schemas.microsoft.com/office/drawing/2014/main" id="{480AF2F8-AFE1-25B3-D1DC-99571E61C118}"/>
              </a:ext>
            </a:extLst>
          </p:cNvPr>
          <p:cNvCxnSpPr>
            <a:cxnSpLocks/>
          </p:cNvCxnSpPr>
          <p:nvPr/>
        </p:nvCxnSpPr>
        <p:spPr bwMode="auto">
          <a:xfrm flipH="1">
            <a:off x="10956055" y="4869013"/>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39" name="直線コネクタ 238">
            <a:extLst>
              <a:ext uri="{FF2B5EF4-FFF2-40B4-BE49-F238E27FC236}">
                <a16:creationId xmlns:a16="http://schemas.microsoft.com/office/drawing/2014/main" id="{45AF0A52-377B-F5CD-4BFD-2D44D599DD7D}"/>
              </a:ext>
            </a:extLst>
          </p:cNvPr>
          <p:cNvCxnSpPr>
            <a:cxnSpLocks/>
          </p:cNvCxnSpPr>
          <p:nvPr/>
        </p:nvCxnSpPr>
        <p:spPr bwMode="auto">
          <a:xfrm flipH="1">
            <a:off x="10776054" y="4869013"/>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40" name="直線コネクタ 239">
            <a:extLst>
              <a:ext uri="{FF2B5EF4-FFF2-40B4-BE49-F238E27FC236}">
                <a16:creationId xmlns:a16="http://schemas.microsoft.com/office/drawing/2014/main" id="{F4634990-B472-E2D3-8EF6-8A9212C6BBD7}"/>
              </a:ext>
            </a:extLst>
          </p:cNvPr>
          <p:cNvCxnSpPr>
            <a:cxnSpLocks/>
          </p:cNvCxnSpPr>
          <p:nvPr/>
        </p:nvCxnSpPr>
        <p:spPr bwMode="auto">
          <a:xfrm flipV="1">
            <a:off x="10596050" y="4059005"/>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241" name="直線コネクタ 240">
            <a:extLst>
              <a:ext uri="{FF2B5EF4-FFF2-40B4-BE49-F238E27FC236}">
                <a16:creationId xmlns:a16="http://schemas.microsoft.com/office/drawing/2014/main" id="{EE226509-FEC2-FB70-12B9-F6FB26788CFF}"/>
              </a:ext>
            </a:extLst>
          </p:cNvPr>
          <p:cNvCxnSpPr>
            <a:cxnSpLocks/>
          </p:cNvCxnSpPr>
          <p:nvPr/>
        </p:nvCxnSpPr>
        <p:spPr bwMode="auto">
          <a:xfrm>
            <a:off x="10596050" y="594902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242" name="直線コネクタ 241">
            <a:extLst>
              <a:ext uri="{FF2B5EF4-FFF2-40B4-BE49-F238E27FC236}">
                <a16:creationId xmlns:a16="http://schemas.microsoft.com/office/drawing/2014/main" id="{B03EA33C-ED29-8867-1A10-60D4945EBD1E}"/>
              </a:ext>
            </a:extLst>
          </p:cNvPr>
          <p:cNvCxnSpPr>
            <a:cxnSpLocks/>
          </p:cNvCxnSpPr>
          <p:nvPr/>
        </p:nvCxnSpPr>
        <p:spPr bwMode="auto">
          <a:xfrm>
            <a:off x="10596050" y="549902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243" name="直線コネクタ 242">
            <a:extLst>
              <a:ext uri="{FF2B5EF4-FFF2-40B4-BE49-F238E27FC236}">
                <a16:creationId xmlns:a16="http://schemas.microsoft.com/office/drawing/2014/main" id="{7F83F46C-6666-D15B-CEED-F30504B8B1B9}"/>
              </a:ext>
            </a:extLst>
          </p:cNvPr>
          <p:cNvCxnSpPr>
            <a:cxnSpLocks/>
          </p:cNvCxnSpPr>
          <p:nvPr/>
        </p:nvCxnSpPr>
        <p:spPr bwMode="auto">
          <a:xfrm>
            <a:off x="11136056" y="549902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244" name="直線コネクタ 243">
            <a:extLst>
              <a:ext uri="{FF2B5EF4-FFF2-40B4-BE49-F238E27FC236}">
                <a16:creationId xmlns:a16="http://schemas.microsoft.com/office/drawing/2014/main" id="{0E166CE5-53F0-F5E2-CDEE-B556F5123684}"/>
              </a:ext>
            </a:extLst>
          </p:cNvPr>
          <p:cNvCxnSpPr>
            <a:cxnSpLocks/>
          </p:cNvCxnSpPr>
          <p:nvPr/>
        </p:nvCxnSpPr>
        <p:spPr bwMode="auto">
          <a:xfrm flipV="1">
            <a:off x="10866051" y="594902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245" name="正方形/長方形 244">
            <a:extLst>
              <a:ext uri="{FF2B5EF4-FFF2-40B4-BE49-F238E27FC236}">
                <a16:creationId xmlns:a16="http://schemas.microsoft.com/office/drawing/2014/main" id="{6090911E-9672-3D87-1A81-C49FAFE9B57B}"/>
              </a:ext>
            </a:extLst>
          </p:cNvPr>
          <p:cNvSpPr/>
          <p:nvPr/>
        </p:nvSpPr>
        <p:spPr bwMode="auto">
          <a:xfrm rot="5400000">
            <a:off x="10776050" y="6129029"/>
            <a:ext cx="180002"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6" name="正方形/長方形 245">
            <a:extLst>
              <a:ext uri="{FF2B5EF4-FFF2-40B4-BE49-F238E27FC236}">
                <a16:creationId xmlns:a16="http://schemas.microsoft.com/office/drawing/2014/main" id="{9679E1EB-5C1D-243B-05B4-033977FD0C4E}"/>
              </a:ext>
            </a:extLst>
          </p:cNvPr>
          <p:cNvSpPr/>
          <p:nvPr/>
        </p:nvSpPr>
        <p:spPr bwMode="auto">
          <a:xfrm rot="5400000" flipH="1">
            <a:off x="10641046" y="6624032"/>
            <a:ext cx="450004"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7" name="直線コネクタ 246">
            <a:extLst>
              <a:ext uri="{FF2B5EF4-FFF2-40B4-BE49-F238E27FC236}">
                <a16:creationId xmlns:a16="http://schemas.microsoft.com/office/drawing/2014/main" id="{5014F2C1-D0EB-9C2F-A461-68AE521CE7F9}"/>
              </a:ext>
            </a:extLst>
          </p:cNvPr>
          <p:cNvCxnSpPr>
            <a:cxnSpLocks/>
          </p:cNvCxnSpPr>
          <p:nvPr/>
        </p:nvCxnSpPr>
        <p:spPr bwMode="auto">
          <a:xfrm flipH="1">
            <a:off x="10956050" y="630902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48" name="直線コネクタ 247">
            <a:extLst>
              <a:ext uri="{FF2B5EF4-FFF2-40B4-BE49-F238E27FC236}">
                <a16:creationId xmlns:a16="http://schemas.microsoft.com/office/drawing/2014/main" id="{3AD0EFEA-883D-4F4D-E672-55EC37B752FE}"/>
              </a:ext>
            </a:extLst>
          </p:cNvPr>
          <p:cNvCxnSpPr>
            <a:cxnSpLocks/>
          </p:cNvCxnSpPr>
          <p:nvPr/>
        </p:nvCxnSpPr>
        <p:spPr bwMode="auto">
          <a:xfrm flipH="1">
            <a:off x="10776049" y="6309029"/>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49" name="直線コネクタ 248">
            <a:extLst>
              <a:ext uri="{FF2B5EF4-FFF2-40B4-BE49-F238E27FC236}">
                <a16:creationId xmlns:a16="http://schemas.microsoft.com/office/drawing/2014/main" id="{B3203003-3B30-FBAF-EFA9-CD27EA9CDBDB}"/>
              </a:ext>
            </a:extLst>
          </p:cNvPr>
          <p:cNvCxnSpPr>
            <a:cxnSpLocks/>
          </p:cNvCxnSpPr>
          <p:nvPr/>
        </p:nvCxnSpPr>
        <p:spPr bwMode="auto">
          <a:xfrm>
            <a:off x="10596050" y="5859025"/>
            <a:ext cx="0" cy="90001"/>
          </a:xfrm>
          <a:prstGeom prst="line">
            <a:avLst/>
          </a:prstGeom>
          <a:noFill/>
          <a:ln w="19050" cap="rnd" cmpd="sng" algn="ctr">
            <a:solidFill>
              <a:schemeClr val="accent5"/>
            </a:solidFill>
            <a:prstDash val="solid"/>
            <a:round/>
            <a:headEnd type="none" w="med" len="med"/>
            <a:tailEnd type="none" w="med" len="med"/>
          </a:ln>
          <a:effectLst/>
        </p:spPr>
      </p:cxnSp>
      <p:cxnSp>
        <p:nvCxnSpPr>
          <p:cNvPr id="250" name="直線コネクタ 249">
            <a:extLst>
              <a:ext uri="{FF2B5EF4-FFF2-40B4-BE49-F238E27FC236}">
                <a16:creationId xmlns:a16="http://schemas.microsoft.com/office/drawing/2014/main" id="{FE0C17FB-4D8E-8084-7A24-9397B1A57498}"/>
              </a:ext>
            </a:extLst>
          </p:cNvPr>
          <p:cNvCxnSpPr>
            <a:cxnSpLocks/>
          </p:cNvCxnSpPr>
          <p:nvPr/>
        </p:nvCxnSpPr>
        <p:spPr bwMode="auto">
          <a:xfrm>
            <a:off x="7086011" y="585902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51" name="直線矢印コネクタ 250">
            <a:extLst>
              <a:ext uri="{FF2B5EF4-FFF2-40B4-BE49-F238E27FC236}">
                <a16:creationId xmlns:a16="http://schemas.microsoft.com/office/drawing/2014/main" id="{10ADA7A1-D94D-B8A3-C47F-2E9FE1757003}"/>
              </a:ext>
            </a:extLst>
          </p:cNvPr>
          <p:cNvCxnSpPr>
            <a:cxnSpLocks/>
          </p:cNvCxnSpPr>
          <p:nvPr/>
        </p:nvCxnSpPr>
        <p:spPr bwMode="auto">
          <a:xfrm flipV="1">
            <a:off x="6816008" y="4149006"/>
            <a:ext cx="0" cy="144001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52" name="正方形/長方形 251">
            <a:extLst>
              <a:ext uri="{FF2B5EF4-FFF2-40B4-BE49-F238E27FC236}">
                <a16:creationId xmlns:a16="http://schemas.microsoft.com/office/drawing/2014/main" id="{0886D4D6-9B7A-D60B-9F1C-13C9CBE26D53}"/>
              </a:ext>
            </a:extLst>
          </p:cNvPr>
          <p:cNvSpPr/>
          <p:nvPr/>
        </p:nvSpPr>
        <p:spPr bwMode="auto">
          <a:xfrm>
            <a:off x="5555994" y="459901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253" name="正方形/長方形 252">
            <a:extLst>
              <a:ext uri="{FF2B5EF4-FFF2-40B4-BE49-F238E27FC236}">
                <a16:creationId xmlns:a16="http://schemas.microsoft.com/office/drawing/2014/main" id="{D62E33A1-273E-B9D2-CB3C-8F98EBDDC9AA}"/>
              </a:ext>
            </a:extLst>
          </p:cNvPr>
          <p:cNvSpPr/>
          <p:nvPr/>
        </p:nvSpPr>
        <p:spPr bwMode="auto">
          <a:xfrm rot="5400000">
            <a:off x="7446013" y="3519001"/>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4" name="正方形/長方形 253">
            <a:extLst>
              <a:ext uri="{FF2B5EF4-FFF2-40B4-BE49-F238E27FC236}">
                <a16:creationId xmlns:a16="http://schemas.microsoft.com/office/drawing/2014/main" id="{067BEE8A-DCA7-3EC4-8341-52BC851B82B7}"/>
              </a:ext>
            </a:extLst>
          </p:cNvPr>
          <p:cNvSpPr/>
          <p:nvPr/>
        </p:nvSpPr>
        <p:spPr bwMode="auto">
          <a:xfrm rot="5400000" flipH="1">
            <a:off x="7671015" y="4014004"/>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5" name="直線コネクタ 254">
            <a:extLst>
              <a:ext uri="{FF2B5EF4-FFF2-40B4-BE49-F238E27FC236}">
                <a16:creationId xmlns:a16="http://schemas.microsoft.com/office/drawing/2014/main" id="{C12649F1-784A-54C7-DFD1-C1AEFE3DFA04}"/>
              </a:ext>
            </a:extLst>
          </p:cNvPr>
          <p:cNvCxnSpPr>
            <a:cxnSpLocks/>
          </p:cNvCxnSpPr>
          <p:nvPr/>
        </p:nvCxnSpPr>
        <p:spPr bwMode="auto">
          <a:xfrm flipH="1">
            <a:off x="7806019" y="3879003"/>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56" name="直線コネクタ 255">
            <a:extLst>
              <a:ext uri="{FF2B5EF4-FFF2-40B4-BE49-F238E27FC236}">
                <a16:creationId xmlns:a16="http://schemas.microsoft.com/office/drawing/2014/main" id="{E64EB19C-76C3-7116-DD39-E05422BA5696}"/>
              </a:ext>
            </a:extLst>
          </p:cNvPr>
          <p:cNvCxnSpPr>
            <a:cxnSpLocks/>
          </p:cNvCxnSpPr>
          <p:nvPr/>
        </p:nvCxnSpPr>
        <p:spPr bwMode="auto">
          <a:xfrm flipH="1">
            <a:off x="7626018" y="3879003"/>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57" name="正方形/長方形 256">
            <a:extLst>
              <a:ext uri="{FF2B5EF4-FFF2-40B4-BE49-F238E27FC236}">
                <a16:creationId xmlns:a16="http://schemas.microsoft.com/office/drawing/2014/main" id="{833B8AB7-4C1D-38A8-4AE9-2E8C14B3BE49}"/>
              </a:ext>
            </a:extLst>
          </p:cNvPr>
          <p:cNvSpPr/>
          <p:nvPr/>
        </p:nvSpPr>
        <p:spPr bwMode="auto">
          <a:xfrm rot="5400000">
            <a:off x="7446014" y="5589023"/>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8" name="正方形/長方形 257">
            <a:extLst>
              <a:ext uri="{FF2B5EF4-FFF2-40B4-BE49-F238E27FC236}">
                <a16:creationId xmlns:a16="http://schemas.microsoft.com/office/drawing/2014/main" id="{369DBE60-83BC-65D6-C2C4-968E4B0EB4E6}"/>
              </a:ext>
            </a:extLst>
          </p:cNvPr>
          <p:cNvSpPr/>
          <p:nvPr/>
        </p:nvSpPr>
        <p:spPr bwMode="auto">
          <a:xfrm rot="5400000" flipH="1">
            <a:off x="7671016" y="6084026"/>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9" name="直線コネクタ 258">
            <a:extLst>
              <a:ext uri="{FF2B5EF4-FFF2-40B4-BE49-F238E27FC236}">
                <a16:creationId xmlns:a16="http://schemas.microsoft.com/office/drawing/2014/main" id="{DDF68151-B63C-EC67-E3AE-D35291300DDA}"/>
              </a:ext>
            </a:extLst>
          </p:cNvPr>
          <p:cNvCxnSpPr>
            <a:cxnSpLocks/>
          </p:cNvCxnSpPr>
          <p:nvPr/>
        </p:nvCxnSpPr>
        <p:spPr bwMode="auto">
          <a:xfrm flipH="1">
            <a:off x="7806020" y="5949025"/>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60" name="直線コネクタ 259">
            <a:extLst>
              <a:ext uri="{FF2B5EF4-FFF2-40B4-BE49-F238E27FC236}">
                <a16:creationId xmlns:a16="http://schemas.microsoft.com/office/drawing/2014/main" id="{01B5B3BD-CAD6-8A4B-7EFF-16F971E64CD1}"/>
              </a:ext>
            </a:extLst>
          </p:cNvPr>
          <p:cNvCxnSpPr>
            <a:cxnSpLocks/>
          </p:cNvCxnSpPr>
          <p:nvPr/>
        </p:nvCxnSpPr>
        <p:spPr bwMode="auto">
          <a:xfrm flipH="1">
            <a:off x="7626019" y="5949025"/>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61" name="正方形/長方形 260">
            <a:extLst>
              <a:ext uri="{FF2B5EF4-FFF2-40B4-BE49-F238E27FC236}">
                <a16:creationId xmlns:a16="http://schemas.microsoft.com/office/drawing/2014/main" id="{7B96C343-EB4C-3988-15E2-FE85F43B86F7}"/>
              </a:ext>
            </a:extLst>
          </p:cNvPr>
          <p:cNvSpPr/>
          <p:nvPr/>
        </p:nvSpPr>
        <p:spPr bwMode="auto">
          <a:xfrm>
            <a:off x="6186001" y="333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給水量 </a:t>
            </a:r>
            <a:r>
              <a:rPr lang="en-US" altLang="ja-JP" sz="2400" b="1" dirty="0">
                <a:solidFill>
                  <a:schemeClr val="accent5"/>
                </a:solidFill>
              </a:rPr>
              <a:t>Q</a:t>
            </a:r>
            <a:endParaRPr lang="ja-JP" altLang="en-US" sz="2400" b="1" dirty="0">
              <a:solidFill>
                <a:schemeClr val="accent5"/>
              </a:solidFill>
            </a:endParaRPr>
          </a:p>
        </p:txBody>
      </p:sp>
      <p:cxnSp>
        <p:nvCxnSpPr>
          <p:cNvPr id="262" name="直線矢印コネクタ 261">
            <a:extLst>
              <a:ext uri="{FF2B5EF4-FFF2-40B4-BE49-F238E27FC236}">
                <a16:creationId xmlns:a16="http://schemas.microsoft.com/office/drawing/2014/main" id="{172F368D-41E1-A131-BA32-B00C09C1569F}"/>
              </a:ext>
            </a:extLst>
          </p:cNvPr>
          <p:cNvCxnSpPr>
            <a:cxnSpLocks/>
          </p:cNvCxnSpPr>
          <p:nvPr/>
        </p:nvCxnSpPr>
        <p:spPr bwMode="auto">
          <a:xfrm>
            <a:off x="6996010" y="3969005"/>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63" name="曲折矢印 160">
            <a:extLst>
              <a:ext uri="{FF2B5EF4-FFF2-40B4-BE49-F238E27FC236}">
                <a16:creationId xmlns:a16="http://schemas.microsoft.com/office/drawing/2014/main" id="{00712136-428D-77BA-3546-B000ACF22785}"/>
              </a:ext>
            </a:extLst>
          </p:cNvPr>
          <p:cNvSpPr/>
          <p:nvPr/>
        </p:nvSpPr>
        <p:spPr bwMode="auto">
          <a:xfrm rot="10800000" flipH="1">
            <a:off x="8436027" y="3879004"/>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4" name="曲折矢印 171">
            <a:extLst>
              <a:ext uri="{FF2B5EF4-FFF2-40B4-BE49-F238E27FC236}">
                <a16:creationId xmlns:a16="http://schemas.microsoft.com/office/drawing/2014/main" id="{35C1A55D-FD56-4E7A-B8F5-2A05DFA72A0F}"/>
              </a:ext>
            </a:extLst>
          </p:cNvPr>
          <p:cNvSpPr/>
          <p:nvPr/>
        </p:nvSpPr>
        <p:spPr bwMode="auto">
          <a:xfrm rot="16200000" flipH="1">
            <a:off x="8751030" y="4464012"/>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388214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3CC-CE9B-3E93-48E3-0B192C02357F}"/>
            </a:ext>
          </a:extLst>
        </p:cNvPr>
        <p:cNvGrpSpPr/>
        <p:nvPr/>
      </p:nvGrpSpPr>
      <p:grpSpPr>
        <a:xfrm>
          <a:off x="0" y="0"/>
          <a:ext cx="0" cy="0"/>
          <a:chOff x="0" y="0"/>
          <a:chExt cx="0" cy="0"/>
        </a:xfrm>
      </p:grpSpPr>
      <p:sp>
        <p:nvSpPr>
          <p:cNvPr id="207" name="正方形/長方形 206">
            <a:extLst>
              <a:ext uri="{FF2B5EF4-FFF2-40B4-BE49-F238E27FC236}">
                <a16:creationId xmlns:a16="http://schemas.microsoft.com/office/drawing/2014/main" id="{DE137149-6541-A4F5-E006-56119604DF38}"/>
              </a:ext>
            </a:extLst>
          </p:cNvPr>
          <p:cNvSpPr/>
          <p:nvPr/>
        </p:nvSpPr>
        <p:spPr bwMode="auto">
          <a:xfrm rot="5400000">
            <a:off x="3980976" y="3744003"/>
            <a:ext cx="2790031"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22B83246-3657-55EF-B4AC-881D8A816531}"/>
              </a:ext>
            </a:extLst>
          </p:cNvPr>
          <p:cNvSpPr>
            <a:spLocks noGrp="1"/>
          </p:cNvSpPr>
          <p:nvPr>
            <p:ph type="title"/>
          </p:nvPr>
        </p:nvSpPr>
        <p:spPr/>
        <p:txBody>
          <a:bodyPr/>
          <a:lstStyle/>
          <a:p>
            <a:r>
              <a:rPr kumimoji="1" lang="en-US" altLang="ja-JP" dirty="0"/>
              <a:t>NOT </a:t>
            </a:r>
            <a:r>
              <a:rPr kumimoji="1" lang="ja-JP" altLang="en-US" dirty="0"/>
              <a:t>ゲートを２段重ねた例：入力が </a:t>
            </a:r>
            <a:r>
              <a:rPr lang="en-US" altLang="ja-JP" dirty="0"/>
              <a:t>0 </a:t>
            </a:r>
            <a:r>
              <a:rPr lang="ja-JP" altLang="en-US" dirty="0"/>
              <a:t>の場合</a:t>
            </a:r>
            <a:endParaRPr kumimoji="1" lang="en-US" dirty="0"/>
          </a:p>
        </p:txBody>
      </p:sp>
      <p:sp>
        <p:nvSpPr>
          <p:cNvPr id="9" name="正方形/長方形 8">
            <a:extLst>
              <a:ext uri="{FF2B5EF4-FFF2-40B4-BE49-F238E27FC236}">
                <a16:creationId xmlns:a16="http://schemas.microsoft.com/office/drawing/2014/main" id="{FF529A63-0251-24C7-AE71-4CA4B54E172A}"/>
              </a:ext>
            </a:extLst>
          </p:cNvPr>
          <p:cNvSpPr/>
          <p:nvPr/>
        </p:nvSpPr>
        <p:spPr bwMode="auto">
          <a:xfrm rot="5400000">
            <a:off x="4610983" y="4554013"/>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6801E9C8-1B71-3E85-9096-C26578649EFA}"/>
              </a:ext>
            </a:extLst>
          </p:cNvPr>
          <p:cNvCxnSpPr>
            <a:cxnSpLocks/>
          </p:cNvCxnSpPr>
          <p:nvPr/>
        </p:nvCxnSpPr>
        <p:spPr bwMode="auto">
          <a:xfrm>
            <a:off x="3935978" y="5229022"/>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3454D706-7DCC-8BCE-B102-75529A82F63D}"/>
              </a:ext>
            </a:extLst>
          </p:cNvPr>
          <p:cNvCxnSpPr>
            <a:cxnSpLocks/>
          </p:cNvCxnSpPr>
          <p:nvPr/>
        </p:nvCxnSpPr>
        <p:spPr bwMode="auto">
          <a:xfrm>
            <a:off x="3125967" y="5409022"/>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88541731-2BF8-6D3C-A1A6-7AB36AEFE226}"/>
              </a:ext>
            </a:extLst>
          </p:cNvPr>
          <p:cNvCxnSpPr>
            <a:cxnSpLocks/>
          </p:cNvCxnSpPr>
          <p:nvPr/>
        </p:nvCxnSpPr>
        <p:spPr bwMode="auto">
          <a:xfrm>
            <a:off x="3125967" y="5229020"/>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6EF7CBD2-08A9-FC4F-053A-D734D49A8718}"/>
              </a:ext>
            </a:extLst>
          </p:cNvPr>
          <p:cNvSpPr/>
          <p:nvPr/>
        </p:nvSpPr>
        <p:spPr bwMode="auto">
          <a:xfrm rot="5400000">
            <a:off x="4205978" y="1178976"/>
            <a:ext cx="180002" cy="234002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4F699689-B4A7-F8FA-2285-D5A702A699C4}"/>
              </a:ext>
            </a:extLst>
          </p:cNvPr>
          <p:cNvCxnSpPr>
            <a:cxnSpLocks/>
          </p:cNvCxnSpPr>
          <p:nvPr/>
        </p:nvCxnSpPr>
        <p:spPr bwMode="auto">
          <a:xfrm>
            <a:off x="3935978" y="2258989"/>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265F45C6-E4E7-BB53-1D81-F8121B431855}"/>
              </a:ext>
            </a:extLst>
          </p:cNvPr>
          <p:cNvCxnSpPr>
            <a:cxnSpLocks/>
          </p:cNvCxnSpPr>
          <p:nvPr/>
        </p:nvCxnSpPr>
        <p:spPr bwMode="auto">
          <a:xfrm>
            <a:off x="3125967" y="2438989"/>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D3B26FA9-E257-5405-2D82-B63A25996815}"/>
              </a:ext>
            </a:extLst>
          </p:cNvPr>
          <p:cNvCxnSpPr>
            <a:cxnSpLocks/>
          </p:cNvCxnSpPr>
          <p:nvPr/>
        </p:nvCxnSpPr>
        <p:spPr bwMode="auto">
          <a:xfrm>
            <a:off x="3125967" y="2258987"/>
            <a:ext cx="630007" cy="0"/>
          </a:xfrm>
          <a:prstGeom prst="line">
            <a:avLst/>
          </a:prstGeom>
          <a:noFill/>
          <a:ln w="19050" cap="flat" cmpd="sng" algn="ctr">
            <a:solidFill>
              <a:schemeClr val="tx1"/>
            </a:solidFill>
            <a:prstDash val="solid"/>
            <a:round/>
            <a:headEnd type="none" w="med" len="med"/>
            <a:tailEnd type="none" w="med" len="med"/>
          </a:ln>
          <a:effectLst/>
        </p:spPr>
      </p:cxnSp>
      <p:cxnSp>
        <p:nvCxnSpPr>
          <p:cNvPr id="56" name="直線コネクタ 55">
            <a:extLst>
              <a:ext uri="{FF2B5EF4-FFF2-40B4-BE49-F238E27FC236}">
                <a16:creationId xmlns:a16="http://schemas.microsoft.com/office/drawing/2014/main" id="{9CE3C223-787C-0313-F64B-65289EBF3210}"/>
              </a:ext>
            </a:extLst>
          </p:cNvPr>
          <p:cNvCxnSpPr>
            <a:cxnSpLocks/>
          </p:cNvCxnSpPr>
          <p:nvPr/>
        </p:nvCxnSpPr>
        <p:spPr bwMode="auto">
          <a:xfrm>
            <a:off x="1865953" y="1268976"/>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B676A5F0-E60B-F6AC-2D21-9AC76E733516}"/>
              </a:ext>
            </a:extLst>
          </p:cNvPr>
          <p:cNvCxnSpPr>
            <a:cxnSpLocks/>
          </p:cNvCxnSpPr>
          <p:nvPr/>
        </p:nvCxnSpPr>
        <p:spPr bwMode="auto">
          <a:xfrm>
            <a:off x="2045955" y="1448978"/>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2" name="直線コネクタ 71">
            <a:extLst>
              <a:ext uri="{FF2B5EF4-FFF2-40B4-BE49-F238E27FC236}">
                <a16:creationId xmlns:a16="http://schemas.microsoft.com/office/drawing/2014/main" id="{A387AFCC-1933-E9FB-AFCA-79070914ECF7}"/>
              </a:ext>
            </a:extLst>
          </p:cNvPr>
          <p:cNvCxnSpPr>
            <a:cxnSpLocks/>
          </p:cNvCxnSpPr>
          <p:nvPr/>
        </p:nvCxnSpPr>
        <p:spPr bwMode="auto">
          <a:xfrm>
            <a:off x="2045955" y="459901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D2166147-2E37-FC5F-D49C-AD8160FE29B6}"/>
              </a:ext>
            </a:extLst>
          </p:cNvPr>
          <p:cNvCxnSpPr>
            <a:cxnSpLocks/>
          </p:cNvCxnSpPr>
          <p:nvPr/>
        </p:nvCxnSpPr>
        <p:spPr bwMode="auto">
          <a:xfrm>
            <a:off x="1865953" y="477901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538F24C7-1ED8-2C14-8C49-A166C61047CA}"/>
              </a:ext>
            </a:extLst>
          </p:cNvPr>
          <p:cNvCxnSpPr>
            <a:cxnSpLocks/>
          </p:cNvCxnSpPr>
          <p:nvPr/>
        </p:nvCxnSpPr>
        <p:spPr bwMode="auto">
          <a:xfrm>
            <a:off x="5465993"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CDB96911-4FBD-C501-A608-66F8EC3C174E}"/>
              </a:ext>
            </a:extLst>
          </p:cNvPr>
          <p:cNvCxnSpPr>
            <a:cxnSpLocks/>
          </p:cNvCxnSpPr>
          <p:nvPr/>
        </p:nvCxnSpPr>
        <p:spPr bwMode="auto">
          <a:xfrm>
            <a:off x="5465993"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998E9F48-6F27-5224-0A65-E8AF10F11CC7}"/>
              </a:ext>
            </a:extLst>
          </p:cNvPr>
          <p:cNvCxnSpPr>
            <a:cxnSpLocks/>
          </p:cNvCxnSpPr>
          <p:nvPr/>
        </p:nvCxnSpPr>
        <p:spPr bwMode="auto">
          <a:xfrm>
            <a:off x="5285991" y="2438989"/>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88BEBE1B-8461-1D37-8500-CF6DBACD1E9A}"/>
              </a:ext>
            </a:extLst>
          </p:cNvPr>
          <p:cNvCxnSpPr>
            <a:cxnSpLocks/>
          </p:cNvCxnSpPr>
          <p:nvPr/>
        </p:nvCxnSpPr>
        <p:spPr bwMode="auto">
          <a:xfrm>
            <a:off x="5466530" y="3789004"/>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BAEAB907-6761-5F5E-0A38-0162A7EE9E1D}"/>
              </a:ext>
            </a:extLst>
          </p:cNvPr>
          <p:cNvCxnSpPr>
            <a:cxnSpLocks/>
          </p:cNvCxnSpPr>
          <p:nvPr/>
        </p:nvCxnSpPr>
        <p:spPr bwMode="auto">
          <a:xfrm>
            <a:off x="2045955" y="1448978"/>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D57712E6-EA06-1A60-0B3E-3D8AE6655570}"/>
              </a:ext>
            </a:extLst>
          </p:cNvPr>
          <p:cNvCxnSpPr>
            <a:cxnSpLocks/>
          </p:cNvCxnSpPr>
          <p:nvPr/>
        </p:nvCxnSpPr>
        <p:spPr bwMode="auto">
          <a:xfrm>
            <a:off x="1865953" y="1268976"/>
            <a:ext cx="0" cy="2340026"/>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B31C2DCE-D398-E364-ED1E-FE55AB5F1307}"/>
              </a:ext>
            </a:extLst>
          </p:cNvPr>
          <p:cNvCxnSpPr>
            <a:cxnSpLocks/>
          </p:cNvCxnSpPr>
          <p:nvPr/>
        </p:nvCxnSpPr>
        <p:spPr bwMode="auto">
          <a:xfrm>
            <a:off x="1865953" y="3789004"/>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95" name="直線コネクタ 94">
            <a:extLst>
              <a:ext uri="{FF2B5EF4-FFF2-40B4-BE49-F238E27FC236}">
                <a16:creationId xmlns:a16="http://schemas.microsoft.com/office/drawing/2014/main" id="{D3B09BDA-94EB-83D2-BEC8-7A15C413EFBB}"/>
              </a:ext>
            </a:extLst>
          </p:cNvPr>
          <p:cNvCxnSpPr>
            <a:cxnSpLocks/>
          </p:cNvCxnSpPr>
          <p:nvPr/>
        </p:nvCxnSpPr>
        <p:spPr bwMode="auto">
          <a:xfrm>
            <a:off x="335936"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F81E7AFE-5529-63D5-39EB-32F95BD32A57}"/>
              </a:ext>
            </a:extLst>
          </p:cNvPr>
          <p:cNvCxnSpPr>
            <a:cxnSpLocks/>
          </p:cNvCxnSpPr>
          <p:nvPr/>
        </p:nvCxnSpPr>
        <p:spPr bwMode="auto">
          <a:xfrm>
            <a:off x="335936"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41D4C1F9-2194-6531-ADBA-20E0BEABC2DB}"/>
              </a:ext>
            </a:extLst>
          </p:cNvPr>
          <p:cNvCxnSpPr>
            <a:cxnSpLocks/>
          </p:cNvCxnSpPr>
          <p:nvPr/>
        </p:nvCxnSpPr>
        <p:spPr bwMode="auto">
          <a:xfrm>
            <a:off x="5465993" y="2258987"/>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130" name="正方形/長方形 129">
            <a:extLst>
              <a:ext uri="{FF2B5EF4-FFF2-40B4-BE49-F238E27FC236}">
                <a16:creationId xmlns:a16="http://schemas.microsoft.com/office/drawing/2014/main" id="{67A7EBD1-486E-E290-2C60-7B415E1BC4AF}"/>
              </a:ext>
            </a:extLst>
          </p:cNvPr>
          <p:cNvSpPr/>
          <p:nvPr/>
        </p:nvSpPr>
        <p:spPr bwMode="auto">
          <a:xfrm>
            <a:off x="2315958" y="198898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b="1" dirty="0">
                <a:solidFill>
                  <a:schemeClr val="accent5"/>
                </a:solidFill>
              </a:rPr>
              <a:t>給水口</a:t>
            </a:r>
          </a:p>
        </p:txBody>
      </p:sp>
      <p:sp>
        <p:nvSpPr>
          <p:cNvPr id="131" name="正方形/長方形 130">
            <a:extLst>
              <a:ext uri="{FF2B5EF4-FFF2-40B4-BE49-F238E27FC236}">
                <a16:creationId xmlns:a16="http://schemas.microsoft.com/office/drawing/2014/main" id="{CB2BC859-0DA5-F6B4-BE23-652425CEA1BA}"/>
              </a:ext>
            </a:extLst>
          </p:cNvPr>
          <p:cNvSpPr/>
          <p:nvPr/>
        </p:nvSpPr>
        <p:spPr bwMode="auto">
          <a:xfrm>
            <a:off x="2315958" y="495901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382BA752-9EC4-AB9F-418B-4CE40198FA66}"/>
              </a:ext>
            </a:extLst>
          </p:cNvPr>
          <p:cNvSpPr/>
          <p:nvPr/>
        </p:nvSpPr>
        <p:spPr bwMode="auto">
          <a:xfrm>
            <a:off x="24593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
        <p:nvSpPr>
          <p:cNvPr id="62" name="正方形/長方形 61">
            <a:extLst>
              <a:ext uri="{FF2B5EF4-FFF2-40B4-BE49-F238E27FC236}">
                <a16:creationId xmlns:a16="http://schemas.microsoft.com/office/drawing/2014/main" id="{C7523370-B6BC-EA4F-21D1-075B7893ECD0}"/>
              </a:ext>
            </a:extLst>
          </p:cNvPr>
          <p:cNvSpPr/>
          <p:nvPr/>
        </p:nvSpPr>
        <p:spPr bwMode="auto">
          <a:xfrm>
            <a:off x="6996010" y="1628980"/>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3" name="正方形/長方形 62">
            <a:extLst>
              <a:ext uri="{FF2B5EF4-FFF2-40B4-BE49-F238E27FC236}">
                <a16:creationId xmlns:a16="http://schemas.microsoft.com/office/drawing/2014/main" id="{9FCBBFD3-4CC0-6F33-EF14-B9659B6EEED0}"/>
              </a:ext>
            </a:extLst>
          </p:cNvPr>
          <p:cNvSpPr/>
          <p:nvPr/>
        </p:nvSpPr>
        <p:spPr bwMode="auto">
          <a:xfrm>
            <a:off x="7176011" y="1628981"/>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4" name="正方形/長方形 63">
            <a:extLst>
              <a:ext uri="{FF2B5EF4-FFF2-40B4-BE49-F238E27FC236}">
                <a16:creationId xmlns:a16="http://schemas.microsoft.com/office/drawing/2014/main" id="{7BD501EA-A578-02B1-F71E-19D3516BE8BC}"/>
              </a:ext>
            </a:extLst>
          </p:cNvPr>
          <p:cNvSpPr/>
          <p:nvPr/>
        </p:nvSpPr>
        <p:spPr bwMode="auto">
          <a:xfrm>
            <a:off x="8706030" y="450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DE8EC008-136F-C374-4D54-A293AA54353C}"/>
              </a:ext>
            </a:extLst>
          </p:cNvPr>
          <p:cNvCxnSpPr>
            <a:cxnSpLocks/>
          </p:cNvCxnSpPr>
          <p:nvPr/>
        </p:nvCxnSpPr>
        <p:spPr bwMode="auto">
          <a:xfrm>
            <a:off x="8706030" y="486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15CEEEA3-66B2-C83F-55CD-74E3C7D82996}"/>
              </a:ext>
            </a:extLst>
          </p:cNvPr>
          <p:cNvCxnSpPr>
            <a:cxnSpLocks/>
          </p:cNvCxnSpPr>
          <p:nvPr/>
        </p:nvCxnSpPr>
        <p:spPr bwMode="auto">
          <a:xfrm>
            <a:off x="8706030" y="4419012"/>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1DC8B404-C2BD-2809-575F-89D5E142D200}"/>
              </a:ext>
            </a:extLst>
          </p:cNvPr>
          <p:cNvCxnSpPr>
            <a:cxnSpLocks/>
          </p:cNvCxnSpPr>
          <p:nvPr/>
        </p:nvCxnSpPr>
        <p:spPr bwMode="auto">
          <a:xfrm>
            <a:off x="9246036" y="441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5BE37F-B1F8-A02F-A90A-D2011B02422A}"/>
              </a:ext>
            </a:extLst>
          </p:cNvPr>
          <p:cNvCxnSpPr>
            <a:cxnSpLocks/>
          </p:cNvCxnSpPr>
          <p:nvPr/>
        </p:nvCxnSpPr>
        <p:spPr bwMode="auto">
          <a:xfrm flipV="1">
            <a:off x="8976031" y="486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70" name="正方形/長方形 69">
            <a:extLst>
              <a:ext uri="{FF2B5EF4-FFF2-40B4-BE49-F238E27FC236}">
                <a16:creationId xmlns:a16="http://schemas.microsoft.com/office/drawing/2014/main" id="{C4D078DC-59C2-8C22-637E-213F74948B46}"/>
              </a:ext>
            </a:extLst>
          </p:cNvPr>
          <p:cNvSpPr/>
          <p:nvPr/>
        </p:nvSpPr>
        <p:spPr bwMode="auto">
          <a:xfrm rot="5400000">
            <a:off x="8796029" y="4689015"/>
            <a:ext cx="180002" cy="126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4" name="直線コネクタ 73">
            <a:extLst>
              <a:ext uri="{FF2B5EF4-FFF2-40B4-BE49-F238E27FC236}">
                <a16:creationId xmlns:a16="http://schemas.microsoft.com/office/drawing/2014/main" id="{00C0E963-C400-BF19-CB01-3301803F9CCC}"/>
              </a:ext>
            </a:extLst>
          </p:cNvPr>
          <p:cNvCxnSpPr>
            <a:cxnSpLocks/>
          </p:cNvCxnSpPr>
          <p:nvPr/>
        </p:nvCxnSpPr>
        <p:spPr bwMode="auto">
          <a:xfrm>
            <a:off x="9066034" y="522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B2527C6F-9281-BF0D-9D99-3F912510DA10}"/>
              </a:ext>
            </a:extLst>
          </p:cNvPr>
          <p:cNvCxnSpPr>
            <a:cxnSpLocks/>
          </p:cNvCxnSpPr>
          <p:nvPr/>
        </p:nvCxnSpPr>
        <p:spPr bwMode="auto">
          <a:xfrm>
            <a:off x="8256023" y="5409023"/>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8F49C2E3-91CD-39A2-6EE2-5349D3D3CE07}"/>
              </a:ext>
            </a:extLst>
          </p:cNvPr>
          <p:cNvCxnSpPr>
            <a:cxnSpLocks/>
          </p:cNvCxnSpPr>
          <p:nvPr/>
        </p:nvCxnSpPr>
        <p:spPr bwMode="auto">
          <a:xfrm>
            <a:off x="8256023" y="5229021"/>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0" name="正方形/長方形 79">
            <a:extLst>
              <a:ext uri="{FF2B5EF4-FFF2-40B4-BE49-F238E27FC236}">
                <a16:creationId xmlns:a16="http://schemas.microsoft.com/office/drawing/2014/main" id="{FC03196C-EB4A-4860-3A59-B670ADB454FA}"/>
              </a:ext>
            </a:extLst>
          </p:cNvPr>
          <p:cNvSpPr/>
          <p:nvPr/>
        </p:nvSpPr>
        <p:spPr bwMode="auto">
          <a:xfrm rot="5400000">
            <a:off x="8886030" y="504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7" name="正方形/長方形 96">
            <a:extLst>
              <a:ext uri="{FF2B5EF4-FFF2-40B4-BE49-F238E27FC236}">
                <a16:creationId xmlns:a16="http://schemas.microsoft.com/office/drawing/2014/main" id="{651DE5B9-3F74-3700-0369-276D88997748}"/>
              </a:ext>
            </a:extLst>
          </p:cNvPr>
          <p:cNvSpPr/>
          <p:nvPr/>
        </p:nvSpPr>
        <p:spPr bwMode="auto">
          <a:xfrm rot="5400000" flipH="1">
            <a:off x="8751026" y="5544023"/>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8" name="直線コネクタ 97">
            <a:extLst>
              <a:ext uri="{FF2B5EF4-FFF2-40B4-BE49-F238E27FC236}">
                <a16:creationId xmlns:a16="http://schemas.microsoft.com/office/drawing/2014/main" id="{6A9ED04C-056C-38CC-2446-E425867AE663}"/>
              </a:ext>
            </a:extLst>
          </p:cNvPr>
          <p:cNvCxnSpPr>
            <a:cxnSpLocks/>
          </p:cNvCxnSpPr>
          <p:nvPr/>
        </p:nvCxnSpPr>
        <p:spPr bwMode="auto">
          <a:xfrm flipH="1">
            <a:off x="9066030" y="5229020"/>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99" name="直線コネクタ 98">
            <a:extLst>
              <a:ext uri="{FF2B5EF4-FFF2-40B4-BE49-F238E27FC236}">
                <a16:creationId xmlns:a16="http://schemas.microsoft.com/office/drawing/2014/main" id="{6BCF06EA-BE06-0A91-B32B-62BD9116BE7C}"/>
              </a:ext>
            </a:extLst>
          </p:cNvPr>
          <p:cNvCxnSpPr>
            <a:cxnSpLocks/>
          </p:cNvCxnSpPr>
          <p:nvPr/>
        </p:nvCxnSpPr>
        <p:spPr bwMode="auto">
          <a:xfrm flipH="1">
            <a:off x="8886029" y="5229020"/>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02" name="正方形/長方形 101">
            <a:extLst>
              <a:ext uri="{FF2B5EF4-FFF2-40B4-BE49-F238E27FC236}">
                <a16:creationId xmlns:a16="http://schemas.microsoft.com/office/drawing/2014/main" id="{6139EDB9-A20B-C92E-1048-7017EC79C4EF}"/>
              </a:ext>
            </a:extLst>
          </p:cNvPr>
          <p:cNvSpPr/>
          <p:nvPr/>
        </p:nvSpPr>
        <p:spPr bwMode="auto">
          <a:xfrm>
            <a:off x="8706030" y="153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3" name="直線コネクタ 102">
            <a:extLst>
              <a:ext uri="{FF2B5EF4-FFF2-40B4-BE49-F238E27FC236}">
                <a16:creationId xmlns:a16="http://schemas.microsoft.com/office/drawing/2014/main" id="{6FBA540C-8869-E2B4-F501-DE6138A96BDE}"/>
              </a:ext>
            </a:extLst>
          </p:cNvPr>
          <p:cNvCxnSpPr>
            <a:cxnSpLocks/>
          </p:cNvCxnSpPr>
          <p:nvPr/>
        </p:nvCxnSpPr>
        <p:spPr bwMode="auto">
          <a:xfrm>
            <a:off x="8706030" y="189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056AC4F5-F630-BDBB-0C73-4091EEDECAD6}"/>
              </a:ext>
            </a:extLst>
          </p:cNvPr>
          <p:cNvCxnSpPr>
            <a:cxnSpLocks/>
          </p:cNvCxnSpPr>
          <p:nvPr/>
        </p:nvCxnSpPr>
        <p:spPr bwMode="auto">
          <a:xfrm>
            <a:off x="8706030" y="1448979"/>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6F1DBC7-97DE-49FE-7C58-3074B4542EDF}"/>
              </a:ext>
            </a:extLst>
          </p:cNvPr>
          <p:cNvCxnSpPr>
            <a:cxnSpLocks/>
          </p:cNvCxnSpPr>
          <p:nvPr/>
        </p:nvCxnSpPr>
        <p:spPr bwMode="auto">
          <a:xfrm>
            <a:off x="9246036" y="144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297EEFE5-7C96-C418-3C82-83CEF62177F8}"/>
              </a:ext>
            </a:extLst>
          </p:cNvPr>
          <p:cNvCxnSpPr>
            <a:cxnSpLocks/>
          </p:cNvCxnSpPr>
          <p:nvPr/>
        </p:nvCxnSpPr>
        <p:spPr bwMode="auto">
          <a:xfrm flipV="1">
            <a:off x="8976031" y="189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8" name="正方形/長方形 107">
            <a:extLst>
              <a:ext uri="{FF2B5EF4-FFF2-40B4-BE49-F238E27FC236}">
                <a16:creationId xmlns:a16="http://schemas.microsoft.com/office/drawing/2014/main" id="{B4360AC0-15E8-7260-FEE9-1C179C798BD8}"/>
              </a:ext>
            </a:extLst>
          </p:cNvPr>
          <p:cNvSpPr/>
          <p:nvPr/>
        </p:nvSpPr>
        <p:spPr bwMode="auto">
          <a:xfrm rot="5400000">
            <a:off x="8481025" y="2033986"/>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9" name="直線コネクタ 108">
            <a:extLst>
              <a:ext uri="{FF2B5EF4-FFF2-40B4-BE49-F238E27FC236}">
                <a16:creationId xmlns:a16="http://schemas.microsoft.com/office/drawing/2014/main" id="{9EAA6BD0-65F5-A3B8-9901-F00B33623889}"/>
              </a:ext>
            </a:extLst>
          </p:cNvPr>
          <p:cNvCxnSpPr>
            <a:cxnSpLocks/>
          </p:cNvCxnSpPr>
          <p:nvPr/>
        </p:nvCxnSpPr>
        <p:spPr bwMode="auto">
          <a:xfrm>
            <a:off x="9066034" y="2258990"/>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0" name="直線コネクタ 109">
            <a:extLst>
              <a:ext uri="{FF2B5EF4-FFF2-40B4-BE49-F238E27FC236}">
                <a16:creationId xmlns:a16="http://schemas.microsoft.com/office/drawing/2014/main" id="{C9864A01-618C-9D9F-0848-B85DFE9414BA}"/>
              </a:ext>
            </a:extLst>
          </p:cNvPr>
          <p:cNvCxnSpPr>
            <a:cxnSpLocks/>
          </p:cNvCxnSpPr>
          <p:nvPr/>
        </p:nvCxnSpPr>
        <p:spPr bwMode="auto">
          <a:xfrm>
            <a:off x="8256023" y="2438990"/>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B1289701-178D-24B6-0EA3-103B2EB51FAF}"/>
              </a:ext>
            </a:extLst>
          </p:cNvPr>
          <p:cNvCxnSpPr>
            <a:cxnSpLocks/>
          </p:cNvCxnSpPr>
          <p:nvPr/>
        </p:nvCxnSpPr>
        <p:spPr bwMode="auto">
          <a:xfrm>
            <a:off x="8256023" y="2258988"/>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12" name="正方形/長方形 111">
            <a:extLst>
              <a:ext uri="{FF2B5EF4-FFF2-40B4-BE49-F238E27FC236}">
                <a16:creationId xmlns:a16="http://schemas.microsoft.com/office/drawing/2014/main" id="{A9B4DD12-1B2D-9175-136A-71177562751B}"/>
              </a:ext>
            </a:extLst>
          </p:cNvPr>
          <p:cNvSpPr/>
          <p:nvPr/>
        </p:nvSpPr>
        <p:spPr bwMode="auto">
          <a:xfrm rot="5400000">
            <a:off x="8706028" y="225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22" name="正方形/長方形 121">
            <a:extLst>
              <a:ext uri="{FF2B5EF4-FFF2-40B4-BE49-F238E27FC236}">
                <a16:creationId xmlns:a16="http://schemas.microsoft.com/office/drawing/2014/main" id="{F3967332-3FDF-A741-0716-3145E63D1C05}"/>
              </a:ext>
            </a:extLst>
          </p:cNvPr>
          <p:cNvSpPr/>
          <p:nvPr/>
        </p:nvSpPr>
        <p:spPr bwMode="auto">
          <a:xfrm rot="5400000" flipH="1">
            <a:off x="8931028" y="275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3" name="直線コネクタ 122">
            <a:extLst>
              <a:ext uri="{FF2B5EF4-FFF2-40B4-BE49-F238E27FC236}">
                <a16:creationId xmlns:a16="http://schemas.microsoft.com/office/drawing/2014/main" id="{11A9BA0C-99AA-5449-39CF-D982BB676438}"/>
              </a:ext>
            </a:extLst>
          </p:cNvPr>
          <p:cNvCxnSpPr>
            <a:cxnSpLocks/>
          </p:cNvCxnSpPr>
          <p:nvPr/>
        </p:nvCxnSpPr>
        <p:spPr bwMode="auto">
          <a:xfrm flipH="1">
            <a:off x="9066032" y="261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4" name="直線コネクタ 123">
            <a:extLst>
              <a:ext uri="{FF2B5EF4-FFF2-40B4-BE49-F238E27FC236}">
                <a16:creationId xmlns:a16="http://schemas.microsoft.com/office/drawing/2014/main" id="{8BB09BA4-45C1-94C7-1EA8-5DB64EE6D78E}"/>
              </a:ext>
            </a:extLst>
          </p:cNvPr>
          <p:cNvCxnSpPr>
            <a:cxnSpLocks/>
          </p:cNvCxnSpPr>
          <p:nvPr/>
        </p:nvCxnSpPr>
        <p:spPr bwMode="auto">
          <a:xfrm flipH="1">
            <a:off x="8886031" y="2618991"/>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8" name="直線コネクタ 127">
            <a:extLst>
              <a:ext uri="{FF2B5EF4-FFF2-40B4-BE49-F238E27FC236}">
                <a16:creationId xmlns:a16="http://schemas.microsoft.com/office/drawing/2014/main" id="{9CE5EB65-E59C-EE65-B2B1-650EFBD778CB}"/>
              </a:ext>
            </a:extLst>
          </p:cNvPr>
          <p:cNvCxnSpPr>
            <a:cxnSpLocks/>
          </p:cNvCxnSpPr>
          <p:nvPr/>
        </p:nvCxnSpPr>
        <p:spPr bwMode="auto">
          <a:xfrm>
            <a:off x="6996009" y="1628981"/>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34" name="直線コネクタ 133">
            <a:extLst>
              <a:ext uri="{FF2B5EF4-FFF2-40B4-BE49-F238E27FC236}">
                <a16:creationId xmlns:a16="http://schemas.microsoft.com/office/drawing/2014/main" id="{6B5E5816-2762-D7E5-E91F-E870FA408E6C}"/>
              </a:ext>
            </a:extLst>
          </p:cNvPr>
          <p:cNvCxnSpPr>
            <a:cxnSpLocks/>
          </p:cNvCxnSpPr>
          <p:nvPr/>
        </p:nvCxnSpPr>
        <p:spPr bwMode="auto">
          <a:xfrm>
            <a:off x="7176011" y="180898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1740B023-8028-8517-1FED-D025AD99AF31}"/>
              </a:ext>
            </a:extLst>
          </p:cNvPr>
          <p:cNvCxnSpPr>
            <a:cxnSpLocks/>
          </p:cNvCxnSpPr>
          <p:nvPr/>
        </p:nvCxnSpPr>
        <p:spPr bwMode="auto">
          <a:xfrm flipV="1">
            <a:off x="8706028" y="1808983"/>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FC65C831-E944-0B2D-C0DF-8E55806E792F}"/>
              </a:ext>
            </a:extLst>
          </p:cNvPr>
          <p:cNvCxnSpPr>
            <a:cxnSpLocks/>
          </p:cNvCxnSpPr>
          <p:nvPr/>
        </p:nvCxnSpPr>
        <p:spPr bwMode="auto">
          <a:xfrm>
            <a:off x="8706030" y="4779016"/>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FB57F4DF-DE9B-7BC5-5959-E838DC8E3618}"/>
              </a:ext>
            </a:extLst>
          </p:cNvPr>
          <p:cNvSpPr/>
          <p:nvPr/>
        </p:nvSpPr>
        <p:spPr bwMode="auto">
          <a:xfrm>
            <a:off x="7176011" y="4599014"/>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8" name="直線コネクタ 137">
            <a:extLst>
              <a:ext uri="{FF2B5EF4-FFF2-40B4-BE49-F238E27FC236}">
                <a16:creationId xmlns:a16="http://schemas.microsoft.com/office/drawing/2014/main" id="{4AC726A8-5F55-4363-0AF7-617C064FE0F0}"/>
              </a:ext>
            </a:extLst>
          </p:cNvPr>
          <p:cNvCxnSpPr>
            <a:cxnSpLocks/>
          </p:cNvCxnSpPr>
          <p:nvPr/>
        </p:nvCxnSpPr>
        <p:spPr bwMode="auto">
          <a:xfrm>
            <a:off x="7176011" y="459901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B82784B-D142-70D0-D93F-8FB77309A892}"/>
              </a:ext>
            </a:extLst>
          </p:cNvPr>
          <p:cNvCxnSpPr>
            <a:cxnSpLocks/>
          </p:cNvCxnSpPr>
          <p:nvPr/>
        </p:nvCxnSpPr>
        <p:spPr bwMode="auto">
          <a:xfrm>
            <a:off x="6996009" y="4779016"/>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34FFEC2B-2DEF-B6F9-51ED-84467780D0BF}"/>
              </a:ext>
            </a:extLst>
          </p:cNvPr>
          <p:cNvCxnSpPr>
            <a:cxnSpLocks/>
          </p:cNvCxnSpPr>
          <p:nvPr/>
        </p:nvCxnSpPr>
        <p:spPr bwMode="auto">
          <a:xfrm>
            <a:off x="10596049" y="360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4AFEF921-8515-66E2-A802-5FFDAC2EBD0E}"/>
              </a:ext>
            </a:extLst>
          </p:cNvPr>
          <p:cNvCxnSpPr>
            <a:cxnSpLocks/>
          </p:cNvCxnSpPr>
          <p:nvPr/>
        </p:nvCxnSpPr>
        <p:spPr bwMode="auto">
          <a:xfrm>
            <a:off x="10596049" y="378900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2" name="直線コネクタ 141">
            <a:extLst>
              <a:ext uri="{FF2B5EF4-FFF2-40B4-BE49-F238E27FC236}">
                <a16:creationId xmlns:a16="http://schemas.microsoft.com/office/drawing/2014/main" id="{2D0BBF34-28F9-33D5-7CDA-1E1C48959B13}"/>
              </a:ext>
            </a:extLst>
          </p:cNvPr>
          <p:cNvCxnSpPr>
            <a:cxnSpLocks/>
          </p:cNvCxnSpPr>
          <p:nvPr/>
        </p:nvCxnSpPr>
        <p:spPr bwMode="auto">
          <a:xfrm>
            <a:off x="10416047" y="2438990"/>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3" name="直線コネクタ 142">
            <a:extLst>
              <a:ext uri="{FF2B5EF4-FFF2-40B4-BE49-F238E27FC236}">
                <a16:creationId xmlns:a16="http://schemas.microsoft.com/office/drawing/2014/main" id="{848C65A6-D44B-4061-4B77-A20DA7A024E3}"/>
              </a:ext>
            </a:extLst>
          </p:cNvPr>
          <p:cNvCxnSpPr>
            <a:cxnSpLocks/>
          </p:cNvCxnSpPr>
          <p:nvPr/>
        </p:nvCxnSpPr>
        <p:spPr bwMode="auto">
          <a:xfrm>
            <a:off x="10596586" y="3789005"/>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F4077C46-5FE1-DB2A-27FD-E1BB2D2D4C4E}"/>
              </a:ext>
            </a:extLst>
          </p:cNvPr>
          <p:cNvCxnSpPr>
            <a:cxnSpLocks/>
          </p:cNvCxnSpPr>
          <p:nvPr/>
        </p:nvCxnSpPr>
        <p:spPr bwMode="auto">
          <a:xfrm>
            <a:off x="7176011" y="1808983"/>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EE74C84B-AB24-FF27-F6ED-BA016CB0F1AF}"/>
              </a:ext>
            </a:extLst>
          </p:cNvPr>
          <p:cNvCxnSpPr>
            <a:cxnSpLocks/>
          </p:cNvCxnSpPr>
          <p:nvPr/>
        </p:nvCxnSpPr>
        <p:spPr bwMode="auto">
          <a:xfrm>
            <a:off x="6996009" y="1628981"/>
            <a:ext cx="0" cy="1980022"/>
          </a:xfrm>
          <a:prstGeom prst="line">
            <a:avLst/>
          </a:prstGeom>
          <a:noFill/>
          <a:ln w="19050" cap="flat" cmpd="sng" algn="ctr">
            <a:solidFill>
              <a:schemeClr val="tx1"/>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9D45B06E-B024-7A2C-FA1F-5B76F617AFC1}"/>
              </a:ext>
            </a:extLst>
          </p:cNvPr>
          <p:cNvCxnSpPr>
            <a:cxnSpLocks/>
          </p:cNvCxnSpPr>
          <p:nvPr/>
        </p:nvCxnSpPr>
        <p:spPr bwMode="auto">
          <a:xfrm>
            <a:off x="6996009" y="3789005"/>
            <a:ext cx="0" cy="990011"/>
          </a:xfrm>
          <a:prstGeom prst="line">
            <a:avLst/>
          </a:prstGeom>
          <a:noFill/>
          <a:ln w="19050" cap="flat" cmpd="sng" algn="ctr">
            <a:solidFill>
              <a:schemeClr val="tx1"/>
            </a:solidFill>
            <a:prstDash val="solid"/>
            <a:round/>
            <a:headEnd type="none" w="med" len="med"/>
            <a:tailEnd type="none" w="med" len="med"/>
          </a:ln>
          <a:effectLst/>
        </p:spPr>
      </p:cxnSp>
      <p:sp>
        <p:nvSpPr>
          <p:cNvPr id="147" name="正方形/長方形 146">
            <a:extLst>
              <a:ext uri="{FF2B5EF4-FFF2-40B4-BE49-F238E27FC236}">
                <a16:creationId xmlns:a16="http://schemas.microsoft.com/office/drawing/2014/main" id="{8EE28A6C-402D-F105-D3BF-0FA3D99313F6}"/>
              </a:ext>
            </a:extLst>
          </p:cNvPr>
          <p:cNvSpPr/>
          <p:nvPr/>
        </p:nvSpPr>
        <p:spPr bwMode="auto">
          <a:xfrm>
            <a:off x="5465992" y="360900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8" name="直線コネクタ 147">
            <a:extLst>
              <a:ext uri="{FF2B5EF4-FFF2-40B4-BE49-F238E27FC236}">
                <a16:creationId xmlns:a16="http://schemas.microsoft.com/office/drawing/2014/main" id="{F7ECF9FC-624C-523D-BD79-2C27097B32C6}"/>
              </a:ext>
            </a:extLst>
          </p:cNvPr>
          <p:cNvCxnSpPr>
            <a:cxnSpLocks/>
          </p:cNvCxnSpPr>
          <p:nvPr/>
        </p:nvCxnSpPr>
        <p:spPr bwMode="auto">
          <a:xfrm>
            <a:off x="5465992" y="360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9" name="直線コネクタ 148">
            <a:extLst>
              <a:ext uri="{FF2B5EF4-FFF2-40B4-BE49-F238E27FC236}">
                <a16:creationId xmlns:a16="http://schemas.microsoft.com/office/drawing/2014/main" id="{F40E8A0F-C3A2-B7BE-AF0C-A5AA388483B6}"/>
              </a:ext>
            </a:extLst>
          </p:cNvPr>
          <p:cNvCxnSpPr>
            <a:cxnSpLocks/>
          </p:cNvCxnSpPr>
          <p:nvPr/>
        </p:nvCxnSpPr>
        <p:spPr bwMode="auto">
          <a:xfrm>
            <a:off x="5465992" y="378900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50" name="直線コネクタ 149">
            <a:extLst>
              <a:ext uri="{FF2B5EF4-FFF2-40B4-BE49-F238E27FC236}">
                <a16:creationId xmlns:a16="http://schemas.microsoft.com/office/drawing/2014/main" id="{D0C66F1E-8043-A077-B853-1AF78C5A0E88}"/>
              </a:ext>
            </a:extLst>
          </p:cNvPr>
          <p:cNvCxnSpPr>
            <a:cxnSpLocks/>
          </p:cNvCxnSpPr>
          <p:nvPr/>
        </p:nvCxnSpPr>
        <p:spPr bwMode="auto">
          <a:xfrm>
            <a:off x="10596049" y="2258988"/>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51" name="直線矢印コネクタ 150">
            <a:extLst>
              <a:ext uri="{FF2B5EF4-FFF2-40B4-BE49-F238E27FC236}">
                <a16:creationId xmlns:a16="http://schemas.microsoft.com/office/drawing/2014/main" id="{2139DE83-E4A6-7055-AE2C-1BB903B1E242}"/>
              </a:ext>
            </a:extLst>
          </p:cNvPr>
          <p:cNvCxnSpPr>
            <a:cxnSpLocks/>
          </p:cNvCxnSpPr>
          <p:nvPr/>
        </p:nvCxnSpPr>
        <p:spPr bwMode="auto">
          <a:xfrm flipH="1">
            <a:off x="8256023" y="5319022"/>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53" name="正方形/長方形 152">
            <a:extLst>
              <a:ext uri="{FF2B5EF4-FFF2-40B4-BE49-F238E27FC236}">
                <a16:creationId xmlns:a16="http://schemas.microsoft.com/office/drawing/2014/main" id="{E36B1CC6-DB5F-9875-9E6B-327FDB0021CA}"/>
              </a:ext>
            </a:extLst>
          </p:cNvPr>
          <p:cNvSpPr/>
          <p:nvPr/>
        </p:nvSpPr>
        <p:spPr bwMode="auto">
          <a:xfrm>
            <a:off x="7446014" y="198898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4" name="正方形/長方形 153">
            <a:extLst>
              <a:ext uri="{FF2B5EF4-FFF2-40B4-BE49-F238E27FC236}">
                <a16:creationId xmlns:a16="http://schemas.microsoft.com/office/drawing/2014/main" id="{C7F40FC4-8139-7DF0-2135-C61A858099F4}"/>
              </a:ext>
            </a:extLst>
          </p:cNvPr>
          <p:cNvSpPr/>
          <p:nvPr/>
        </p:nvSpPr>
        <p:spPr bwMode="auto">
          <a:xfrm>
            <a:off x="7446014" y="495901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56" name="正方形/長方形 155">
            <a:extLst>
              <a:ext uri="{FF2B5EF4-FFF2-40B4-BE49-F238E27FC236}">
                <a16:creationId xmlns:a16="http://schemas.microsoft.com/office/drawing/2014/main" id="{46D3CB83-ACBC-B664-0D9C-F2A799D37BA5}"/>
              </a:ext>
            </a:extLst>
          </p:cNvPr>
          <p:cNvSpPr/>
          <p:nvPr/>
        </p:nvSpPr>
        <p:spPr bwMode="auto">
          <a:xfrm>
            <a:off x="11586060" y="306899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p>
        </p:txBody>
      </p:sp>
      <p:cxnSp>
        <p:nvCxnSpPr>
          <p:cNvPr id="157" name="直線コネクタ 156">
            <a:extLst>
              <a:ext uri="{FF2B5EF4-FFF2-40B4-BE49-F238E27FC236}">
                <a16:creationId xmlns:a16="http://schemas.microsoft.com/office/drawing/2014/main" id="{0B008365-4CB0-B93A-47FE-333107C45E2F}"/>
              </a:ext>
            </a:extLst>
          </p:cNvPr>
          <p:cNvCxnSpPr>
            <a:cxnSpLocks/>
          </p:cNvCxnSpPr>
          <p:nvPr/>
        </p:nvCxnSpPr>
        <p:spPr bwMode="auto">
          <a:xfrm>
            <a:off x="3575973" y="153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8" name="直線コネクタ 157">
            <a:extLst>
              <a:ext uri="{FF2B5EF4-FFF2-40B4-BE49-F238E27FC236}">
                <a16:creationId xmlns:a16="http://schemas.microsoft.com/office/drawing/2014/main" id="{89057A0A-A450-A9CC-8AE1-F183A9B363F7}"/>
              </a:ext>
            </a:extLst>
          </p:cNvPr>
          <p:cNvCxnSpPr>
            <a:cxnSpLocks/>
          </p:cNvCxnSpPr>
          <p:nvPr/>
        </p:nvCxnSpPr>
        <p:spPr bwMode="auto">
          <a:xfrm>
            <a:off x="3575973" y="1088974"/>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59" name="直線コネクタ 158">
            <a:extLst>
              <a:ext uri="{FF2B5EF4-FFF2-40B4-BE49-F238E27FC236}">
                <a16:creationId xmlns:a16="http://schemas.microsoft.com/office/drawing/2014/main" id="{C2C82C22-B720-274A-E840-5059E441081B}"/>
              </a:ext>
            </a:extLst>
          </p:cNvPr>
          <p:cNvCxnSpPr>
            <a:cxnSpLocks/>
          </p:cNvCxnSpPr>
          <p:nvPr/>
        </p:nvCxnSpPr>
        <p:spPr bwMode="auto">
          <a:xfrm>
            <a:off x="4115979" y="108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60" name="直線コネクタ 159">
            <a:extLst>
              <a:ext uri="{FF2B5EF4-FFF2-40B4-BE49-F238E27FC236}">
                <a16:creationId xmlns:a16="http://schemas.microsoft.com/office/drawing/2014/main" id="{177F647A-05AA-58CA-CDEB-C4967697EC7E}"/>
              </a:ext>
            </a:extLst>
          </p:cNvPr>
          <p:cNvCxnSpPr>
            <a:cxnSpLocks/>
          </p:cNvCxnSpPr>
          <p:nvPr/>
        </p:nvCxnSpPr>
        <p:spPr bwMode="auto">
          <a:xfrm flipV="1">
            <a:off x="3845974" y="153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61" name="正方形/長方形 160">
            <a:extLst>
              <a:ext uri="{FF2B5EF4-FFF2-40B4-BE49-F238E27FC236}">
                <a16:creationId xmlns:a16="http://schemas.microsoft.com/office/drawing/2014/main" id="{89E3CD4A-96BF-5542-E488-186C63394586}"/>
              </a:ext>
            </a:extLst>
          </p:cNvPr>
          <p:cNvSpPr/>
          <p:nvPr/>
        </p:nvSpPr>
        <p:spPr bwMode="auto">
          <a:xfrm rot="5400000">
            <a:off x="3575971" y="189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70" name="正方形/長方形 169">
            <a:extLst>
              <a:ext uri="{FF2B5EF4-FFF2-40B4-BE49-F238E27FC236}">
                <a16:creationId xmlns:a16="http://schemas.microsoft.com/office/drawing/2014/main" id="{2157D0C8-1446-373B-2F9B-797DD1246946}"/>
              </a:ext>
            </a:extLst>
          </p:cNvPr>
          <p:cNvSpPr/>
          <p:nvPr/>
        </p:nvSpPr>
        <p:spPr bwMode="auto">
          <a:xfrm rot="5400000" flipH="1">
            <a:off x="3800973" y="239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1" name="直線コネクタ 170">
            <a:extLst>
              <a:ext uri="{FF2B5EF4-FFF2-40B4-BE49-F238E27FC236}">
                <a16:creationId xmlns:a16="http://schemas.microsoft.com/office/drawing/2014/main" id="{F722A0DF-C361-1A92-89C3-82EDE2808D4D}"/>
              </a:ext>
            </a:extLst>
          </p:cNvPr>
          <p:cNvCxnSpPr>
            <a:cxnSpLocks/>
          </p:cNvCxnSpPr>
          <p:nvPr/>
        </p:nvCxnSpPr>
        <p:spPr bwMode="auto">
          <a:xfrm flipH="1">
            <a:off x="3935977" y="225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2" name="直線コネクタ 171">
            <a:extLst>
              <a:ext uri="{FF2B5EF4-FFF2-40B4-BE49-F238E27FC236}">
                <a16:creationId xmlns:a16="http://schemas.microsoft.com/office/drawing/2014/main" id="{92D10056-BD0C-17B1-1462-40E31AB931B2}"/>
              </a:ext>
            </a:extLst>
          </p:cNvPr>
          <p:cNvCxnSpPr>
            <a:cxnSpLocks/>
          </p:cNvCxnSpPr>
          <p:nvPr/>
        </p:nvCxnSpPr>
        <p:spPr bwMode="auto">
          <a:xfrm flipH="1">
            <a:off x="3755976" y="2258986"/>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6" name="直線コネクタ 175">
            <a:extLst>
              <a:ext uri="{FF2B5EF4-FFF2-40B4-BE49-F238E27FC236}">
                <a16:creationId xmlns:a16="http://schemas.microsoft.com/office/drawing/2014/main" id="{CEA37F1D-6E7E-6B18-9F24-FB0EEAC91FDF}"/>
              </a:ext>
            </a:extLst>
          </p:cNvPr>
          <p:cNvCxnSpPr>
            <a:cxnSpLocks/>
          </p:cNvCxnSpPr>
          <p:nvPr/>
        </p:nvCxnSpPr>
        <p:spPr bwMode="auto">
          <a:xfrm flipV="1">
            <a:off x="3575972" y="1448978"/>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91" name="直線コネクタ 190">
            <a:extLst>
              <a:ext uri="{FF2B5EF4-FFF2-40B4-BE49-F238E27FC236}">
                <a16:creationId xmlns:a16="http://schemas.microsoft.com/office/drawing/2014/main" id="{0BFF226B-7D8E-4CEB-7C47-6C0436B8481F}"/>
              </a:ext>
            </a:extLst>
          </p:cNvPr>
          <p:cNvCxnSpPr>
            <a:cxnSpLocks/>
          </p:cNvCxnSpPr>
          <p:nvPr/>
        </p:nvCxnSpPr>
        <p:spPr bwMode="auto">
          <a:xfrm>
            <a:off x="3575973" y="486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92" name="直線コネクタ 191">
            <a:extLst>
              <a:ext uri="{FF2B5EF4-FFF2-40B4-BE49-F238E27FC236}">
                <a16:creationId xmlns:a16="http://schemas.microsoft.com/office/drawing/2014/main" id="{490237C9-0AF9-5109-BC71-E88DF4E2AF73}"/>
              </a:ext>
            </a:extLst>
          </p:cNvPr>
          <p:cNvCxnSpPr>
            <a:cxnSpLocks/>
          </p:cNvCxnSpPr>
          <p:nvPr/>
        </p:nvCxnSpPr>
        <p:spPr bwMode="auto">
          <a:xfrm>
            <a:off x="3575973"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93" name="直線コネクタ 192">
            <a:extLst>
              <a:ext uri="{FF2B5EF4-FFF2-40B4-BE49-F238E27FC236}">
                <a16:creationId xmlns:a16="http://schemas.microsoft.com/office/drawing/2014/main" id="{E5FE8871-1215-3ED1-BD07-1D5CB1D1AB60}"/>
              </a:ext>
            </a:extLst>
          </p:cNvPr>
          <p:cNvCxnSpPr>
            <a:cxnSpLocks/>
          </p:cNvCxnSpPr>
          <p:nvPr/>
        </p:nvCxnSpPr>
        <p:spPr bwMode="auto">
          <a:xfrm>
            <a:off x="4115979"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94" name="直線コネクタ 193">
            <a:extLst>
              <a:ext uri="{FF2B5EF4-FFF2-40B4-BE49-F238E27FC236}">
                <a16:creationId xmlns:a16="http://schemas.microsoft.com/office/drawing/2014/main" id="{3EFB5AA7-6497-48E0-EFC1-4423FFCBC596}"/>
              </a:ext>
            </a:extLst>
          </p:cNvPr>
          <p:cNvCxnSpPr>
            <a:cxnSpLocks/>
          </p:cNvCxnSpPr>
          <p:nvPr/>
        </p:nvCxnSpPr>
        <p:spPr bwMode="auto">
          <a:xfrm flipV="1">
            <a:off x="3845974" y="486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95" name="正方形/長方形 194">
            <a:extLst>
              <a:ext uri="{FF2B5EF4-FFF2-40B4-BE49-F238E27FC236}">
                <a16:creationId xmlns:a16="http://schemas.microsoft.com/office/drawing/2014/main" id="{2DE49817-AD59-06BB-5C03-E07BD7505FB5}"/>
              </a:ext>
            </a:extLst>
          </p:cNvPr>
          <p:cNvSpPr/>
          <p:nvPr/>
        </p:nvSpPr>
        <p:spPr bwMode="auto">
          <a:xfrm rot="5400000">
            <a:off x="3575971" y="5229021"/>
            <a:ext cx="540006"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4" name="正方形/長方形 203">
            <a:extLst>
              <a:ext uri="{FF2B5EF4-FFF2-40B4-BE49-F238E27FC236}">
                <a16:creationId xmlns:a16="http://schemas.microsoft.com/office/drawing/2014/main" id="{391242E0-3255-857E-635D-CA77281C0605}"/>
              </a:ext>
            </a:extLst>
          </p:cNvPr>
          <p:cNvSpPr/>
          <p:nvPr/>
        </p:nvSpPr>
        <p:spPr bwMode="auto">
          <a:xfrm rot="5400000" flipH="1">
            <a:off x="3800973" y="5724024"/>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5" name="直線コネクタ 204">
            <a:extLst>
              <a:ext uri="{FF2B5EF4-FFF2-40B4-BE49-F238E27FC236}">
                <a16:creationId xmlns:a16="http://schemas.microsoft.com/office/drawing/2014/main" id="{4735A8D5-CDC4-990D-FD6B-931D6ED6958F}"/>
              </a:ext>
            </a:extLst>
          </p:cNvPr>
          <p:cNvCxnSpPr>
            <a:cxnSpLocks/>
          </p:cNvCxnSpPr>
          <p:nvPr/>
        </p:nvCxnSpPr>
        <p:spPr bwMode="auto">
          <a:xfrm flipH="1">
            <a:off x="3935977" y="5589023"/>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06" name="直線コネクタ 205">
            <a:extLst>
              <a:ext uri="{FF2B5EF4-FFF2-40B4-BE49-F238E27FC236}">
                <a16:creationId xmlns:a16="http://schemas.microsoft.com/office/drawing/2014/main" id="{1BEA30E5-FB49-E2A0-22A7-09F739825CD5}"/>
              </a:ext>
            </a:extLst>
          </p:cNvPr>
          <p:cNvCxnSpPr>
            <a:cxnSpLocks/>
          </p:cNvCxnSpPr>
          <p:nvPr/>
        </p:nvCxnSpPr>
        <p:spPr bwMode="auto">
          <a:xfrm flipH="1">
            <a:off x="3755976" y="5589023"/>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08" name="テキスト プレースホルダー 2">
            <a:extLst>
              <a:ext uri="{FF2B5EF4-FFF2-40B4-BE49-F238E27FC236}">
                <a16:creationId xmlns:a16="http://schemas.microsoft.com/office/drawing/2014/main" id="{4BFAA9A8-AE9F-787A-9051-7EA8322EE72C}"/>
              </a:ext>
            </a:extLst>
          </p:cNvPr>
          <p:cNvSpPr>
            <a:spLocks noGrp="1"/>
          </p:cNvSpPr>
          <p:nvPr>
            <p:ph type="body" sz="quarter" idx="10"/>
          </p:nvPr>
        </p:nvSpPr>
        <p:spPr>
          <a:xfrm>
            <a:off x="1775952" y="6219031"/>
            <a:ext cx="8640096" cy="540006"/>
          </a:xfrm>
        </p:spPr>
        <p:txBody>
          <a:bodyPr/>
          <a:lstStyle/>
          <a:p>
            <a:r>
              <a:rPr kumimoji="1" lang="ja-JP" altLang="en-US" dirty="0"/>
              <a:t>左上の給水口から，右側２つのタンクに給水される</a:t>
            </a:r>
            <a:endParaRPr kumimoji="1" lang="en-US" dirty="0"/>
          </a:p>
        </p:txBody>
      </p:sp>
      <p:cxnSp>
        <p:nvCxnSpPr>
          <p:cNvPr id="4" name="直線矢印コネクタ 3">
            <a:extLst>
              <a:ext uri="{FF2B5EF4-FFF2-40B4-BE49-F238E27FC236}">
                <a16:creationId xmlns:a16="http://schemas.microsoft.com/office/drawing/2014/main" id="{FAC5F183-3454-3734-9C37-365BB52AB95E}"/>
              </a:ext>
            </a:extLst>
          </p:cNvPr>
          <p:cNvCxnSpPr>
            <a:stCxn id="35" idx="2"/>
          </p:cNvCxnSpPr>
          <p:nvPr/>
        </p:nvCxnSpPr>
        <p:spPr bwMode="auto">
          <a:xfrm flipV="1">
            <a:off x="3125966" y="2348988"/>
            <a:ext cx="2070024" cy="1"/>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7061045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3CC-CE9B-3E93-48E3-0B192C02357F}"/>
            </a:ext>
          </a:extLst>
        </p:cNvPr>
        <p:cNvGrpSpPr/>
        <p:nvPr/>
      </p:nvGrpSpPr>
      <p:grpSpPr>
        <a:xfrm>
          <a:off x="0" y="0"/>
          <a:ext cx="0" cy="0"/>
          <a:chOff x="0" y="0"/>
          <a:chExt cx="0" cy="0"/>
        </a:xfrm>
      </p:grpSpPr>
      <p:sp>
        <p:nvSpPr>
          <p:cNvPr id="93" name="正方形/長方形 92">
            <a:extLst>
              <a:ext uri="{FF2B5EF4-FFF2-40B4-BE49-F238E27FC236}">
                <a16:creationId xmlns:a16="http://schemas.microsoft.com/office/drawing/2014/main" id="{4E283F26-7C86-F0E2-6AA8-E406058F96DA}"/>
              </a:ext>
            </a:extLst>
          </p:cNvPr>
          <p:cNvSpPr/>
          <p:nvPr/>
        </p:nvSpPr>
        <p:spPr bwMode="auto">
          <a:xfrm rot="5400000">
            <a:off x="4610983" y="4554013"/>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1" name="正方形/長方形 70">
            <a:extLst>
              <a:ext uri="{FF2B5EF4-FFF2-40B4-BE49-F238E27FC236}">
                <a16:creationId xmlns:a16="http://schemas.microsoft.com/office/drawing/2014/main" id="{7ECBDB55-38A9-DB06-F0E1-73D15E2BE7F1}"/>
              </a:ext>
            </a:extLst>
          </p:cNvPr>
          <p:cNvSpPr/>
          <p:nvPr/>
        </p:nvSpPr>
        <p:spPr bwMode="auto">
          <a:xfrm rot="5400000">
            <a:off x="3980976" y="3744003"/>
            <a:ext cx="2790031"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2" name="正方形/長方形 81">
            <a:extLst>
              <a:ext uri="{FF2B5EF4-FFF2-40B4-BE49-F238E27FC236}">
                <a16:creationId xmlns:a16="http://schemas.microsoft.com/office/drawing/2014/main" id="{6F17E911-A386-4A66-11B9-159AD9734331}"/>
              </a:ext>
            </a:extLst>
          </p:cNvPr>
          <p:cNvSpPr/>
          <p:nvPr/>
        </p:nvSpPr>
        <p:spPr bwMode="auto">
          <a:xfrm rot="5400000">
            <a:off x="4610982" y="1583981"/>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5" name="正方形/長方形 84">
            <a:extLst>
              <a:ext uri="{FF2B5EF4-FFF2-40B4-BE49-F238E27FC236}">
                <a16:creationId xmlns:a16="http://schemas.microsoft.com/office/drawing/2014/main" id="{4A7BF82E-29E5-293E-98E5-6A090E8E1C95}"/>
              </a:ext>
            </a:extLst>
          </p:cNvPr>
          <p:cNvSpPr/>
          <p:nvPr/>
        </p:nvSpPr>
        <p:spPr bwMode="auto">
          <a:xfrm rot="5400000">
            <a:off x="6050999" y="2933995"/>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6" name="正方形/長方形 85">
            <a:extLst>
              <a:ext uri="{FF2B5EF4-FFF2-40B4-BE49-F238E27FC236}">
                <a16:creationId xmlns:a16="http://schemas.microsoft.com/office/drawing/2014/main" id="{AF1010E9-8AD7-0C98-28F2-10967507CA38}"/>
              </a:ext>
            </a:extLst>
          </p:cNvPr>
          <p:cNvSpPr/>
          <p:nvPr/>
        </p:nvSpPr>
        <p:spPr bwMode="auto">
          <a:xfrm rot="5400000">
            <a:off x="7491014" y="503968"/>
            <a:ext cx="180003" cy="1710019"/>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7" name="正方形/長方形 86">
            <a:extLst>
              <a:ext uri="{FF2B5EF4-FFF2-40B4-BE49-F238E27FC236}">
                <a16:creationId xmlns:a16="http://schemas.microsoft.com/office/drawing/2014/main" id="{78ECDAEA-D526-997D-1466-24EB390216A7}"/>
              </a:ext>
            </a:extLst>
          </p:cNvPr>
          <p:cNvSpPr/>
          <p:nvPr/>
        </p:nvSpPr>
        <p:spPr bwMode="auto">
          <a:xfrm rot="5400000">
            <a:off x="8481026" y="1043974"/>
            <a:ext cx="450005" cy="540006"/>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8" name="正方形/長方形 87">
            <a:extLst>
              <a:ext uri="{FF2B5EF4-FFF2-40B4-BE49-F238E27FC236}">
                <a16:creationId xmlns:a16="http://schemas.microsoft.com/office/drawing/2014/main" id="{0DB13B0E-8E85-B01F-C016-B3B5F54C3204}"/>
              </a:ext>
            </a:extLst>
          </p:cNvPr>
          <p:cNvSpPr/>
          <p:nvPr/>
        </p:nvSpPr>
        <p:spPr bwMode="auto">
          <a:xfrm rot="5400000">
            <a:off x="5735996" y="2438989"/>
            <a:ext cx="2160024"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0" name="正方形/長方形 89">
            <a:extLst>
              <a:ext uri="{FF2B5EF4-FFF2-40B4-BE49-F238E27FC236}">
                <a16:creationId xmlns:a16="http://schemas.microsoft.com/office/drawing/2014/main" id="{773D4F5F-1350-1905-4A54-FE34F77785D0}"/>
              </a:ext>
            </a:extLst>
          </p:cNvPr>
          <p:cNvSpPr/>
          <p:nvPr/>
        </p:nvSpPr>
        <p:spPr bwMode="auto">
          <a:xfrm rot="5400000">
            <a:off x="6321002" y="4194008"/>
            <a:ext cx="990011"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1" name="正方形/長方形 90">
            <a:extLst>
              <a:ext uri="{FF2B5EF4-FFF2-40B4-BE49-F238E27FC236}">
                <a16:creationId xmlns:a16="http://schemas.microsoft.com/office/drawing/2014/main" id="{E0BA2384-2DB2-06CC-74C8-F8D8183D44E2}"/>
              </a:ext>
            </a:extLst>
          </p:cNvPr>
          <p:cNvSpPr/>
          <p:nvPr/>
        </p:nvSpPr>
        <p:spPr bwMode="auto">
          <a:xfrm rot="5400000">
            <a:off x="7581015" y="3924007"/>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2" name="正方形/長方形 91">
            <a:extLst>
              <a:ext uri="{FF2B5EF4-FFF2-40B4-BE49-F238E27FC236}">
                <a16:creationId xmlns:a16="http://schemas.microsoft.com/office/drawing/2014/main" id="{BAE21499-EA5D-0BF6-9DA4-9E2A7C6D58F5}"/>
              </a:ext>
            </a:extLst>
          </p:cNvPr>
          <p:cNvSpPr/>
          <p:nvPr/>
        </p:nvSpPr>
        <p:spPr bwMode="auto">
          <a:xfrm rot="5400000">
            <a:off x="8526027" y="4419011"/>
            <a:ext cx="360004" cy="540006"/>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22B83246-3657-55EF-B4AC-881D8A816531}"/>
              </a:ext>
            </a:extLst>
          </p:cNvPr>
          <p:cNvSpPr>
            <a:spLocks noGrp="1"/>
          </p:cNvSpPr>
          <p:nvPr>
            <p:ph type="title"/>
          </p:nvPr>
        </p:nvSpPr>
        <p:spPr>
          <a:xfrm>
            <a:off x="875942" y="0"/>
            <a:ext cx="11316058" cy="908972"/>
          </a:xfrm>
        </p:spPr>
        <p:txBody>
          <a:bodyPr/>
          <a:lstStyle/>
          <a:p>
            <a:r>
              <a:rPr kumimoji="1" lang="ja-JP" altLang="en-US" sz="2400" dirty="0"/>
              <a:t>入力が </a:t>
            </a:r>
            <a:r>
              <a:rPr lang="en-US" altLang="ja-JP" sz="2400" dirty="0"/>
              <a:t>0 </a:t>
            </a:r>
            <a:r>
              <a:rPr lang="ja-JP" altLang="en-US" sz="2400" dirty="0"/>
              <a:t>→ </a:t>
            </a:r>
            <a:r>
              <a:rPr lang="en-US" altLang="ja-JP" sz="2400" dirty="0"/>
              <a:t>1 </a:t>
            </a:r>
            <a:r>
              <a:rPr lang="ja-JP" altLang="en-US" sz="2400" dirty="0"/>
              <a:t>に遷移すると，</a:t>
            </a:r>
            <a:br>
              <a:rPr lang="en-US" altLang="ja-JP" sz="2400" dirty="0"/>
            </a:br>
            <a:r>
              <a:rPr lang="ja-JP" altLang="en-US" sz="2400" dirty="0"/>
              <a:t>中央と右側タンクの水（斜線部分）が排水される</a:t>
            </a:r>
            <a:endParaRPr kumimoji="1" lang="en-US" sz="2400" dirty="0"/>
          </a:p>
        </p:txBody>
      </p:sp>
      <p:cxnSp>
        <p:nvCxnSpPr>
          <p:cNvPr id="75" name="直線コネクタ 74">
            <a:extLst>
              <a:ext uri="{FF2B5EF4-FFF2-40B4-BE49-F238E27FC236}">
                <a16:creationId xmlns:a16="http://schemas.microsoft.com/office/drawing/2014/main" id="{538F24C7-1ED8-2C14-8C49-A166C61047CA}"/>
              </a:ext>
            </a:extLst>
          </p:cNvPr>
          <p:cNvCxnSpPr>
            <a:cxnSpLocks/>
          </p:cNvCxnSpPr>
          <p:nvPr/>
        </p:nvCxnSpPr>
        <p:spPr bwMode="auto">
          <a:xfrm>
            <a:off x="335400" y="360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CDB96911-4FBD-C501-A608-66F8EC3C174E}"/>
              </a:ext>
            </a:extLst>
          </p:cNvPr>
          <p:cNvCxnSpPr>
            <a:cxnSpLocks/>
          </p:cNvCxnSpPr>
          <p:nvPr/>
        </p:nvCxnSpPr>
        <p:spPr bwMode="auto">
          <a:xfrm>
            <a:off x="335400" y="3789003"/>
            <a:ext cx="1530017" cy="0"/>
          </a:xfrm>
          <a:prstGeom prst="line">
            <a:avLst/>
          </a:prstGeom>
          <a:noFill/>
          <a:ln w="19050" cap="flat" cmpd="sng" algn="ctr">
            <a:solidFill>
              <a:schemeClr val="tx1"/>
            </a:solidFill>
            <a:prstDash val="solid"/>
            <a:round/>
            <a:headEnd type="none" w="med" len="med"/>
            <a:tailEnd type="none" w="med" len="med"/>
          </a:ln>
          <a:effectLst/>
        </p:spPr>
      </p:cxnSp>
      <p:sp>
        <p:nvSpPr>
          <p:cNvPr id="62" name="正方形/長方形 61">
            <a:extLst>
              <a:ext uri="{FF2B5EF4-FFF2-40B4-BE49-F238E27FC236}">
                <a16:creationId xmlns:a16="http://schemas.microsoft.com/office/drawing/2014/main" id="{C7523370-B6BC-EA4F-21D1-075B7893ECD0}"/>
              </a:ext>
            </a:extLst>
          </p:cNvPr>
          <p:cNvSpPr/>
          <p:nvPr/>
        </p:nvSpPr>
        <p:spPr bwMode="auto">
          <a:xfrm>
            <a:off x="1865417" y="1628979"/>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3" name="正方形/長方形 62">
            <a:extLst>
              <a:ext uri="{FF2B5EF4-FFF2-40B4-BE49-F238E27FC236}">
                <a16:creationId xmlns:a16="http://schemas.microsoft.com/office/drawing/2014/main" id="{9FCBBFD3-4CC0-6F33-EF14-B9659B6EEED0}"/>
              </a:ext>
            </a:extLst>
          </p:cNvPr>
          <p:cNvSpPr/>
          <p:nvPr/>
        </p:nvSpPr>
        <p:spPr bwMode="auto">
          <a:xfrm>
            <a:off x="2045418" y="1628980"/>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4" name="正方形/長方形 63">
            <a:extLst>
              <a:ext uri="{FF2B5EF4-FFF2-40B4-BE49-F238E27FC236}">
                <a16:creationId xmlns:a16="http://schemas.microsoft.com/office/drawing/2014/main" id="{7BD501EA-A578-02B1-F71E-19D3516BE8BC}"/>
              </a:ext>
            </a:extLst>
          </p:cNvPr>
          <p:cNvSpPr/>
          <p:nvPr/>
        </p:nvSpPr>
        <p:spPr bwMode="auto">
          <a:xfrm>
            <a:off x="3575437"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DE8EC008-136F-C374-4D54-A293AA54353C}"/>
              </a:ext>
            </a:extLst>
          </p:cNvPr>
          <p:cNvCxnSpPr>
            <a:cxnSpLocks/>
          </p:cNvCxnSpPr>
          <p:nvPr/>
        </p:nvCxnSpPr>
        <p:spPr bwMode="auto">
          <a:xfrm>
            <a:off x="3575437" y="486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15CEEEA3-66B2-C83F-55CD-74E3C7D82996}"/>
              </a:ext>
            </a:extLst>
          </p:cNvPr>
          <p:cNvCxnSpPr>
            <a:cxnSpLocks/>
          </p:cNvCxnSpPr>
          <p:nvPr/>
        </p:nvCxnSpPr>
        <p:spPr bwMode="auto">
          <a:xfrm>
            <a:off x="3575437" y="441901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1DC8B404-C2BD-2809-575F-89D5E142D200}"/>
              </a:ext>
            </a:extLst>
          </p:cNvPr>
          <p:cNvCxnSpPr>
            <a:cxnSpLocks/>
          </p:cNvCxnSpPr>
          <p:nvPr/>
        </p:nvCxnSpPr>
        <p:spPr bwMode="auto">
          <a:xfrm>
            <a:off x="4115443"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5BE37F-B1F8-A02F-A90A-D2011B02422A}"/>
              </a:ext>
            </a:extLst>
          </p:cNvPr>
          <p:cNvCxnSpPr>
            <a:cxnSpLocks/>
          </p:cNvCxnSpPr>
          <p:nvPr/>
        </p:nvCxnSpPr>
        <p:spPr bwMode="auto">
          <a:xfrm flipV="1">
            <a:off x="3845438" y="486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70" name="正方形/長方形 69">
            <a:extLst>
              <a:ext uri="{FF2B5EF4-FFF2-40B4-BE49-F238E27FC236}">
                <a16:creationId xmlns:a16="http://schemas.microsoft.com/office/drawing/2014/main" id="{C4D078DC-59C2-8C22-637E-213F74948B46}"/>
              </a:ext>
            </a:extLst>
          </p:cNvPr>
          <p:cNvSpPr/>
          <p:nvPr/>
        </p:nvSpPr>
        <p:spPr bwMode="auto">
          <a:xfrm rot="5400000">
            <a:off x="3665436" y="4689014"/>
            <a:ext cx="180002" cy="1260015"/>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4" name="直線コネクタ 73">
            <a:extLst>
              <a:ext uri="{FF2B5EF4-FFF2-40B4-BE49-F238E27FC236}">
                <a16:creationId xmlns:a16="http://schemas.microsoft.com/office/drawing/2014/main" id="{00C0E963-C400-BF19-CB01-3301803F9CCC}"/>
              </a:ext>
            </a:extLst>
          </p:cNvPr>
          <p:cNvCxnSpPr>
            <a:cxnSpLocks/>
          </p:cNvCxnSpPr>
          <p:nvPr/>
        </p:nvCxnSpPr>
        <p:spPr bwMode="auto">
          <a:xfrm>
            <a:off x="3935441" y="5229022"/>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B2527C6F-9281-BF0D-9D99-3F912510DA10}"/>
              </a:ext>
            </a:extLst>
          </p:cNvPr>
          <p:cNvCxnSpPr>
            <a:cxnSpLocks/>
          </p:cNvCxnSpPr>
          <p:nvPr/>
        </p:nvCxnSpPr>
        <p:spPr bwMode="auto">
          <a:xfrm>
            <a:off x="3125430" y="5409022"/>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8F49C2E3-91CD-39A2-6EE2-5349D3D3CE07}"/>
              </a:ext>
            </a:extLst>
          </p:cNvPr>
          <p:cNvCxnSpPr>
            <a:cxnSpLocks/>
          </p:cNvCxnSpPr>
          <p:nvPr/>
        </p:nvCxnSpPr>
        <p:spPr bwMode="auto">
          <a:xfrm>
            <a:off x="3125430" y="5229020"/>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0" name="正方形/長方形 79">
            <a:extLst>
              <a:ext uri="{FF2B5EF4-FFF2-40B4-BE49-F238E27FC236}">
                <a16:creationId xmlns:a16="http://schemas.microsoft.com/office/drawing/2014/main" id="{FC03196C-EB4A-4860-3A59-B670ADB454FA}"/>
              </a:ext>
            </a:extLst>
          </p:cNvPr>
          <p:cNvSpPr/>
          <p:nvPr/>
        </p:nvSpPr>
        <p:spPr bwMode="auto">
          <a:xfrm rot="5400000">
            <a:off x="3755437" y="5049019"/>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7" name="正方形/長方形 96">
            <a:extLst>
              <a:ext uri="{FF2B5EF4-FFF2-40B4-BE49-F238E27FC236}">
                <a16:creationId xmlns:a16="http://schemas.microsoft.com/office/drawing/2014/main" id="{651DE5B9-3F74-3700-0369-276D88997748}"/>
              </a:ext>
            </a:extLst>
          </p:cNvPr>
          <p:cNvSpPr/>
          <p:nvPr/>
        </p:nvSpPr>
        <p:spPr bwMode="auto">
          <a:xfrm rot="5400000" flipH="1">
            <a:off x="3620433" y="5544022"/>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8" name="直線コネクタ 97">
            <a:extLst>
              <a:ext uri="{FF2B5EF4-FFF2-40B4-BE49-F238E27FC236}">
                <a16:creationId xmlns:a16="http://schemas.microsoft.com/office/drawing/2014/main" id="{6A9ED04C-056C-38CC-2446-E425867AE663}"/>
              </a:ext>
            </a:extLst>
          </p:cNvPr>
          <p:cNvCxnSpPr>
            <a:cxnSpLocks/>
          </p:cNvCxnSpPr>
          <p:nvPr/>
        </p:nvCxnSpPr>
        <p:spPr bwMode="auto">
          <a:xfrm flipH="1">
            <a:off x="3935437" y="522901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99" name="直線コネクタ 98">
            <a:extLst>
              <a:ext uri="{FF2B5EF4-FFF2-40B4-BE49-F238E27FC236}">
                <a16:creationId xmlns:a16="http://schemas.microsoft.com/office/drawing/2014/main" id="{6BCF06EA-BE06-0A91-B32B-62BD9116BE7C}"/>
              </a:ext>
            </a:extLst>
          </p:cNvPr>
          <p:cNvCxnSpPr>
            <a:cxnSpLocks/>
          </p:cNvCxnSpPr>
          <p:nvPr/>
        </p:nvCxnSpPr>
        <p:spPr bwMode="auto">
          <a:xfrm flipH="1">
            <a:off x="3755436" y="5229019"/>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00" name="Rectangle 93">
            <a:extLst>
              <a:ext uri="{FF2B5EF4-FFF2-40B4-BE49-F238E27FC236}">
                <a16:creationId xmlns:a16="http://schemas.microsoft.com/office/drawing/2014/main" id="{F8BF790B-A217-9F53-396E-4004115C241B}"/>
              </a:ext>
            </a:extLst>
          </p:cNvPr>
          <p:cNvSpPr>
            <a:spLocks noChangeArrowheads="1"/>
          </p:cNvSpPr>
          <p:nvPr/>
        </p:nvSpPr>
        <p:spPr bwMode="auto">
          <a:xfrm>
            <a:off x="3665435" y="405900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2" name="正方形/長方形 101">
            <a:extLst>
              <a:ext uri="{FF2B5EF4-FFF2-40B4-BE49-F238E27FC236}">
                <a16:creationId xmlns:a16="http://schemas.microsoft.com/office/drawing/2014/main" id="{6139EDB9-A20B-C92E-1048-7017EC79C4EF}"/>
              </a:ext>
            </a:extLst>
          </p:cNvPr>
          <p:cNvSpPr/>
          <p:nvPr/>
        </p:nvSpPr>
        <p:spPr bwMode="auto">
          <a:xfrm>
            <a:off x="3575437" y="1538979"/>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3" name="直線コネクタ 102">
            <a:extLst>
              <a:ext uri="{FF2B5EF4-FFF2-40B4-BE49-F238E27FC236}">
                <a16:creationId xmlns:a16="http://schemas.microsoft.com/office/drawing/2014/main" id="{6FBA540C-8869-E2B4-F501-DE6138A96BDE}"/>
              </a:ext>
            </a:extLst>
          </p:cNvPr>
          <p:cNvCxnSpPr>
            <a:cxnSpLocks/>
          </p:cNvCxnSpPr>
          <p:nvPr/>
        </p:nvCxnSpPr>
        <p:spPr bwMode="auto">
          <a:xfrm>
            <a:off x="3575437" y="1898984"/>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056AC4F5-F630-BDBB-0C73-4091EEDECAD6}"/>
              </a:ext>
            </a:extLst>
          </p:cNvPr>
          <p:cNvCxnSpPr>
            <a:cxnSpLocks/>
          </p:cNvCxnSpPr>
          <p:nvPr/>
        </p:nvCxnSpPr>
        <p:spPr bwMode="auto">
          <a:xfrm>
            <a:off x="3575437" y="1448978"/>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6F1DBC7-97DE-49FE-7C58-3074B4542EDF}"/>
              </a:ext>
            </a:extLst>
          </p:cNvPr>
          <p:cNvCxnSpPr>
            <a:cxnSpLocks/>
          </p:cNvCxnSpPr>
          <p:nvPr/>
        </p:nvCxnSpPr>
        <p:spPr bwMode="auto">
          <a:xfrm>
            <a:off x="4115443" y="1448978"/>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297EEFE5-7C96-C418-3C82-83CEF62177F8}"/>
              </a:ext>
            </a:extLst>
          </p:cNvPr>
          <p:cNvCxnSpPr>
            <a:cxnSpLocks/>
          </p:cNvCxnSpPr>
          <p:nvPr/>
        </p:nvCxnSpPr>
        <p:spPr bwMode="auto">
          <a:xfrm flipV="1">
            <a:off x="3845438" y="1898984"/>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8" name="正方形/長方形 107">
            <a:extLst>
              <a:ext uri="{FF2B5EF4-FFF2-40B4-BE49-F238E27FC236}">
                <a16:creationId xmlns:a16="http://schemas.microsoft.com/office/drawing/2014/main" id="{B4360AC0-15E8-7260-FEE9-1C179C798BD8}"/>
              </a:ext>
            </a:extLst>
          </p:cNvPr>
          <p:cNvSpPr/>
          <p:nvPr/>
        </p:nvSpPr>
        <p:spPr bwMode="auto">
          <a:xfrm rot="5400000">
            <a:off x="3350432" y="2033985"/>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9" name="直線コネクタ 108">
            <a:extLst>
              <a:ext uri="{FF2B5EF4-FFF2-40B4-BE49-F238E27FC236}">
                <a16:creationId xmlns:a16="http://schemas.microsoft.com/office/drawing/2014/main" id="{9EAA6BD0-65F5-A3B8-9901-F00B33623889}"/>
              </a:ext>
            </a:extLst>
          </p:cNvPr>
          <p:cNvCxnSpPr>
            <a:cxnSpLocks/>
          </p:cNvCxnSpPr>
          <p:nvPr/>
        </p:nvCxnSpPr>
        <p:spPr bwMode="auto">
          <a:xfrm>
            <a:off x="3935441" y="2258989"/>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0" name="直線コネクタ 109">
            <a:extLst>
              <a:ext uri="{FF2B5EF4-FFF2-40B4-BE49-F238E27FC236}">
                <a16:creationId xmlns:a16="http://schemas.microsoft.com/office/drawing/2014/main" id="{C9864A01-618C-9D9F-0848-B85DFE9414BA}"/>
              </a:ext>
            </a:extLst>
          </p:cNvPr>
          <p:cNvCxnSpPr>
            <a:cxnSpLocks/>
          </p:cNvCxnSpPr>
          <p:nvPr/>
        </p:nvCxnSpPr>
        <p:spPr bwMode="auto">
          <a:xfrm>
            <a:off x="3125430" y="2438989"/>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B1289701-178D-24B6-0EA3-103B2EB51FAF}"/>
              </a:ext>
            </a:extLst>
          </p:cNvPr>
          <p:cNvCxnSpPr>
            <a:cxnSpLocks/>
          </p:cNvCxnSpPr>
          <p:nvPr/>
        </p:nvCxnSpPr>
        <p:spPr bwMode="auto">
          <a:xfrm>
            <a:off x="3125430" y="2258987"/>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12" name="正方形/長方形 111">
            <a:extLst>
              <a:ext uri="{FF2B5EF4-FFF2-40B4-BE49-F238E27FC236}">
                <a16:creationId xmlns:a16="http://schemas.microsoft.com/office/drawing/2014/main" id="{A9B4DD12-1B2D-9175-136A-71177562751B}"/>
              </a:ext>
            </a:extLst>
          </p:cNvPr>
          <p:cNvSpPr/>
          <p:nvPr/>
        </p:nvSpPr>
        <p:spPr bwMode="auto">
          <a:xfrm rot="5400000">
            <a:off x="3575435" y="2258988"/>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22" name="正方形/長方形 121">
            <a:extLst>
              <a:ext uri="{FF2B5EF4-FFF2-40B4-BE49-F238E27FC236}">
                <a16:creationId xmlns:a16="http://schemas.microsoft.com/office/drawing/2014/main" id="{F3967332-3FDF-A741-0716-3145E63D1C05}"/>
              </a:ext>
            </a:extLst>
          </p:cNvPr>
          <p:cNvSpPr/>
          <p:nvPr/>
        </p:nvSpPr>
        <p:spPr bwMode="auto">
          <a:xfrm rot="5400000" flipH="1">
            <a:off x="3800435" y="2753991"/>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3" name="直線コネクタ 122">
            <a:extLst>
              <a:ext uri="{FF2B5EF4-FFF2-40B4-BE49-F238E27FC236}">
                <a16:creationId xmlns:a16="http://schemas.microsoft.com/office/drawing/2014/main" id="{11A9BA0C-99AA-5449-39CF-D982BB676438}"/>
              </a:ext>
            </a:extLst>
          </p:cNvPr>
          <p:cNvCxnSpPr>
            <a:cxnSpLocks/>
          </p:cNvCxnSpPr>
          <p:nvPr/>
        </p:nvCxnSpPr>
        <p:spPr bwMode="auto">
          <a:xfrm flipH="1">
            <a:off x="3935439" y="2618990"/>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4" name="直線コネクタ 123">
            <a:extLst>
              <a:ext uri="{FF2B5EF4-FFF2-40B4-BE49-F238E27FC236}">
                <a16:creationId xmlns:a16="http://schemas.microsoft.com/office/drawing/2014/main" id="{8BB09BA4-45C1-94C7-1EA8-5DB64EE6D78E}"/>
              </a:ext>
            </a:extLst>
          </p:cNvPr>
          <p:cNvCxnSpPr>
            <a:cxnSpLocks/>
          </p:cNvCxnSpPr>
          <p:nvPr/>
        </p:nvCxnSpPr>
        <p:spPr bwMode="auto">
          <a:xfrm flipH="1">
            <a:off x="3755438" y="2618990"/>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8" name="直線コネクタ 127">
            <a:extLst>
              <a:ext uri="{FF2B5EF4-FFF2-40B4-BE49-F238E27FC236}">
                <a16:creationId xmlns:a16="http://schemas.microsoft.com/office/drawing/2014/main" id="{9CE5EB65-E59C-EE65-B2B1-650EFBD778CB}"/>
              </a:ext>
            </a:extLst>
          </p:cNvPr>
          <p:cNvCxnSpPr>
            <a:cxnSpLocks/>
          </p:cNvCxnSpPr>
          <p:nvPr/>
        </p:nvCxnSpPr>
        <p:spPr bwMode="auto">
          <a:xfrm>
            <a:off x="1865416" y="1628980"/>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34" name="直線コネクタ 133">
            <a:extLst>
              <a:ext uri="{FF2B5EF4-FFF2-40B4-BE49-F238E27FC236}">
                <a16:creationId xmlns:a16="http://schemas.microsoft.com/office/drawing/2014/main" id="{6B5E5816-2762-D7E5-E91F-E870FA408E6C}"/>
              </a:ext>
            </a:extLst>
          </p:cNvPr>
          <p:cNvCxnSpPr>
            <a:cxnSpLocks/>
          </p:cNvCxnSpPr>
          <p:nvPr/>
        </p:nvCxnSpPr>
        <p:spPr bwMode="auto">
          <a:xfrm>
            <a:off x="2045418" y="180898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1740B023-8028-8517-1FED-D025AD99AF31}"/>
              </a:ext>
            </a:extLst>
          </p:cNvPr>
          <p:cNvCxnSpPr>
            <a:cxnSpLocks/>
          </p:cNvCxnSpPr>
          <p:nvPr/>
        </p:nvCxnSpPr>
        <p:spPr bwMode="auto">
          <a:xfrm flipV="1">
            <a:off x="3575435" y="1808982"/>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FC65C831-E944-0B2D-C0DF-8E55806E792F}"/>
              </a:ext>
            </a:extLst>
          </p:cNvPr>
          <p:cNvCxnSpPr>
            <a:cxnSpLocks/>
          </p:cNvCxnSpPr>
          <p:nvPr/>
        </p:nvCxnSpPr>
        <p:spPr bwMode="auto">
          <a:xfrm>
            <a:off x="3575437" y="477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FB57F4DF-DE9B-7BC5-5959-E838DC8E3618}"/>
              </a:ext>
            </a:extLst>
          </p:cNvPr>
          <p:cNvSpPr/>
          <p:nvPr/>
        </p:nvSpPr>
        <p:spPr bwMode="auto">
          <a:xfrm>
            <a:off x="2045418" y="459901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8" name="直線コネクタ 137">
            <a:extLst>
              <a:ext uri="{FF2B5EF4-FFF2-40B4-BE49-F238E27FC236}">
                <a16:creationId xmlns:a16="http://schemas.microsoft.com/office/drawing/2014/main" id="{4AC726A8-5F55-4363-0AF7-617C064FE0F0}"/>
              </a:ext>
            </a:extLst>
          </p:cNvPr>
          <p:cNvCxnSpPr>
            <a:cxnSpLocks/>
          </p:cNvCxnSpPr>
          <p:nvPr/>
        </p:nvCxnSpPr>
        <p:spPr bwMode="auto">
          <a:xfrm>
            <a:off x="2045418" y="459901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B82784B-D142-70D0-D93F-8FB77309A892}"/>
              </a:ext>
            </a:extLst>
          </p:cNvPr>
          <p:cNvCxnSpPr>
            <a:cxnSpLocks/>
          </p:cNvCxnSpPr>
          <p:nvPr/>
        </p:nvCxnSpPr>
        <p:spPr bwMode="auto">
          <a:xfrm>
            <a:off x="1865416" y="477901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34FFEC2B-2DEF-B6F9-51ED-84467780D0BF}"/>
              </a:ext>
            </a:extLst>
          </p:cNvPr>
          <p:cNvCxnSpPr>
            <a:cxnSpLocks/>
          </p:cNvCxnSpPr>
          <p:nvPr/>
        </p:nvCxnSpPr>
        <p:spPr bwMode="auto">
          <a:xfrm>
            <a:off x="5465456" y="3609002"/>
            <a:ext cx="1260551" cy="0"/>
          </a:xfrm>
          <a:prstGeom prst="line">
            <a:avLst/>
          </a:prstGeom>
          <a:noFill/>
          <a:ln w="19050" cap="flat" cmpd="sng" algn="ctr">
            <a:solidFill>
              <a:schemeClr val="tx1"/>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4AFEF921-8515-66E2-A802-5FFDAC2EBD0E}"/>
              </a:ext>
            </a:extLst>
          </p:cNvPr>
          <p:cNvCxnSpPr>
            <a:cxnSpLocks/>
          </p:cNvCxnSpPr>
          <p:nvPr/>
        </p:nvCxnSpPr>
        <p:spPr bwMode="auto">
          <a:xfrm>
            <a:off x="5465456" y="3789004"/>
            <a:ext cx="1260551" cy="0"/>
          </a:xfrm>
          <a:prstGeom prst="line">
            <a:avLst/>
          </a:prstGeom>
          <a:noFill/>
          <a:ln w="19050" cap="flat" cmpd="sng" algn="ctr">
            <a:solidFill>
              <a:schemeClr val="tx1"/>
            </a:solidFill>
            <a:prstDash val="solid"/>
            <a:round/>
            <a:headEnd type="none" w="med" len="med"/>
            <a:tailEnd type="none" w="med" len="med"/>
          </a:ln>
          <a:effectLst/>
        </p:spPr>
      </p:cxnSp>
      <p:cxnSp>
        <p:nvCxnSpPr>
          <p:cNvPr id="142" name="直線コネクタ 141">
            <a:extLst>
              <a:ext uri="{FF2B5EF4-FFF2-40B4-BE49-F238E27FC236}">
                <a16:creationId xmlns:a16="http://schemas.microsoft.com/office/drawing/2014/main" id="{2D0BBF34-28F9-33D5-7CDA-1E1C48959B13}"/>
              </a:ext>
            </a:extLst>
          </p:cNvPr>
          <p:cNvCxnSpPr>
            <a:cxnSpLocks/>
          </p:cNvCxnSpPr>
          <p:nvPr/>
        </p:nvCxnSpPr>
        <p:spPr bwMode="auto">
          <a:xfrm>
            <a:off x="5285454" y="2438989"/>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3" name="直線コネクタ 142">
            <a:extLst>
              <a:ext uri="{FF2B5EF4-FFF2-40B4-BE49-F238E27FC236}">
                <a16:creationId xmlns:a16="http://schemas.microsoft.com/office/drawing/2014/main" id="{848C65A6-D44B-4061-4B77-A20DA7A024E3}"/>
              </a:ext>
            </a:extLst>
          </p:cNvPr>
          <p:cNvCxnSpPr>
            <a:cxnSpLocks/>
          </p:cNvCxnSpPr>
          <p:nvPr/>
        </p:nvCxnSpPr>
        <p:spPr bwMode="auto">
          <a:xfrm>
            <a:off x="5465993" y="3789004"/>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F4077C46-5FE1-DB2A-27FD-E1BB2D2D4C4E}"/>
              </a:ext>
            </a:extLst>
          </p:cNvPr>
          <p:cNvCxnSpPr>
            <a:cxnSpLocks/>
          </p:cNvCxnSpPr>
          <p:nvPr/>
        </p:nvCxnSpPr>
        <p:spPr bwMode="auto">
          <a:xfrm>
            <a:off x="2045418" y="1808982"/>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EE74C84B-AB24-FF27-F6ED-BA016CB0F1AF}"/>
              </a:ext>
            </a:extLst>
          </p:cNvPr>
          <p:cNvCxnSpPr>
            <a:cxnSpLocks/>
          </p:cNvCxnSpPr>
          <p:nvPr/>
        </p:nvCxnSpPr>
        <p:spPr bwMode="auto">
          <a:xfrm>
            <a:off x="1865416" y="1628980"/>
            <a:ext cx="0" cy="1980022"/>
          </a:xfrm>
          <a:prstGeom prst="line">
            <a:avLst/>
          </a:prstGeom>
          <a:noFill/>
          <a:ln w="19050" cap="flat" cmpd="sng" algn="ctr">
            <a:solidFill>
              <a:schemeClr val="tx1"/>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9D45B06E-B024-7A2C-FA1F-5B76F617AFC1}"/>
              </a:ext>
            </a:extLst>
          </p:cNvPr>
          <p:cNvCxnSpPr>
            <a:cxnSpLocks/>
          </p:cNvCxnSpPr>
          <p:nvPr/>
        </p:nvCxnSpPr>
        <p:spPr bwMode="auto">
          <a:xfrm>
            <a:off x="1865416" y="3789004"/>
            <a:ext cx="0" cy="990011"/>
          </a:xfrm>
          <a:prstGeom prst="line">
            <a:avLst/>
          </a:prstGeom>
          <a:noFill/>
          <a:ln w="19050" cap="flat" cmpd="sng" algn="ctr">
            <a:solidFill>
              <a:schemeClr val="tx1"/>
            </a:solidFill>
            <a:prstDash val="solid"/>
            <a:round/>
            <a:headEnd type="none" w="med" len="med"/>
            <a:tailEnd type="none" w="med" len="med"/>
          </a:ln>
          <a:effectLst/>
        </p:spPr>
      </p:cxnSp>
      <p:sp>
        <p:nvSpPr>
          <p:cNvPr id="147" name="正方形/長方形 146">
            <a:extLst>
              <a:ext uri="{FF2B5EF4-FFF2-40B4-BE49-F238E27FC236}">
                <a16:creationId xmlns:a16="http://schemas.microsoft.com/office/drawing/2014/main" id="{8EE28A6C-402D-F105-D3BF-0FA3D99313F6}"/>
              </a:ext>
            </a:extLst>
          </p:cNvPr>
          <p:cNvSpPr/>
          <p:nvPr/>
        </p:nvSpPr>
        <p:spPr bwMode="auto">
          <a:xfrm>
            <a:off x="335399" y="360900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8" name="直線コネクタ 147">
            <a:extLst>
              <a:ext uri="{FF2B5EF4-FFF2-40B4-BE49-F238E27FC236}">
                <a16:creationId xmlns:a16="http://schemas.microsoft.com/office/drawing/2014/main" id="{F7ECF9FC-624C-523D-BD79-2C27097B32C6}"/>
              </a:ext>
            </a:extLst>
          </p:cNvPr>
          <p:cNvCxnSpPr>
            <a:cxnSpLocks/>
          </p:cNvCxnSpPr>
          <p:nvPr/>
        </p:nvCxnSpPr>
        <p:spPr bwMode="auto">
          <a:xfrm>
            <a:off x="335399"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9" name="直線コネクタ 148">
            <a:extLst>
              <a:ext uri="{FF2B5EF4-FFF2-40B4-BE49-F238E27FC236}">
                <a16:creationId xmlns:a16="http://schemas.microsoft.com/office/drawing/2014/main" id="{F40E8A0F-C3A2-B7BE-AF0C-A5AA388483B6}"/>
              </a:ext>
            </a:extLst>
          </p:cNvPr>
          <p:cNvCxnSpPr>
            <a:cxnSpLocks/>
          </p:cNvCxnSpPr>
          <p:nvPr/>
        </p:nvCxnSpPr>
        <p:spPr bwMode="auto">
          <a:xfrm>
            <a:off x="335399"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50" name="直線コネクタ 149">
            <a:extLst>
              <a:ext uri="{FF2B5EF4-FFF2-40B4-BE49-F238E27FC236}">
                <a16:creationId xmlns:a16="http://schemas.microsoft.com/office/drawing/2014/main" id="{D0C66F1E-8043-A077-B853-1AF78C5A0E88}"/>
              </a:ext>
            </a:extLst>
          </p:cNvPr>
          <p:cNvCxnSpPr>
            <a:cxnSpLocks/>
          </p:cNvCxnSpPr>
          <p:nvPr/>
        </p:nvCxnSpPr>
        <p:spPr bwMode="auto">
          <a:xfrm>
            <a:off x="5465456" y="2258987"/>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51" name="直線矢印コネクタ 150">
            <a:extLst>
              <a:ext uri="{FF2B5EF4-FFF2-40B4-BE49-F238E27FC236}">
                <a16:creationId xmlns:a16="http://schemas.microsoft.com/office/drawing/2014/main" id="{2139DE83-E4A6-7055-AE2C-1BB903B1E242}"/>
              </a:ext>
            </a:extLst>
          </p:cNvPr>
          <p:cNvCxnSpPr>
            <a:cxnSpLocks/>
          </p:cNvCxnSpPr>
          <p:nvPr/>
        </p:nvCxnSpPr>
        <p:spPr bwMode="auto">
          <a:xfrm flipH="1">
            <a:off x="3125430" y="5319021"/>
            <a:ext cx="2070023"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53" name="正方形/長方形 152">
            <a:extLst>
              <a:ext uri="{FF2B5EF4-FFF2-40B4-BE49-F238E27FC236}">
                <a16:creationId xmlns:a16="http://schemas.microsoft.com/office/drawing/2014/main" id="{E36B1CC6-DB5F-9875-9E6B-327FDB0021CA}"/>
              </a:ext>
            </a:extLst>
          </p:cNvPr>
          <p:cNvSpPr/>
          <p:nvPr/>
        </p:nvSpPr>
        <p:spPr bwMode="auto">
          <a:xfrm>
            <a:off x="2315421" y="198898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4" name="正方形/長方形 153">
            <a:extLst>
              <a:ext uri="{FF2B5EF4-FFF2-40B4-BE49-F238E27FC236}">
                <a16:creationId xmlns:a16="http://schemas.microsoft.com/office/drawing/2014/main" id="{C7F40FC4-8139-7DF0-2135-C61A858099F4}"/>
              </a:ext>
            </a:extLst>
          </p:cNvPr>
          <p:cNvSpPr/>
          <p:nvPr/>
        </p:nvSpPr>
        <p:spPr bwMode="auto">
          <a:xfrm>
            <a:off x="2315421" y="495901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b="1" dirty="0">
                <a:solidFill>
                  <a:schemeClr val="accent5"/>
                </a:solidFill>
              </a:rPr>
              <a:t>排水口</a:t>
            </a:r>
          </a:p>
        </p:txBody>
      </p:sp>
      <p:sp>
        <p:nvSpPr>
          <p:cNvPr id="208" name="テキスト プレースホルダー 2">
            <a:extLst>
              <a:ext uri="{FF2B5EF4-FFF2-40B4-BE49-F238E27FC236}">
                <a16:creationId xmlns:a16="http://schemas.microsoft.com/office/drawing/2014/main" id="{4BFAA9A8-AE9F-787A-9051-7EA8322EE72C}"/>
              </a:ext>
            </a:extLst>
          </p:cNvPr>
          <p:cNvSpPr>
            <a:spLocks noGrp="1"/>
          </p:cNvSpPr>
          <p:nvPr>
            <p:ph type="body" sz="quarter" idx="10"/>
          </p:nvPr>
        </p:nvSpPr>
        <p:spPr>
          <a:xfrm>
            <a:off x="1775952" y="6219031"/>
            <a:ext cx="8640096" cy="540006"/>
          </a:xfrm>
        </p:spPr>
        <p:txBody>
          <a:bodyPr/>
          <a:lstStyle/>
          <a:p>
            <a:r>
              <a:rPr kumimoji="1" lang="ja-JP" altLang="en-US" dirty="0"/>
              <a:t>入力に水がくると，右側の２つのタンクにあった水が排水される</a:t>
            </a:r>
            <a:endParaRPr kumimoji="1" lang="en-US" dirty="0"/>
          </a:p>
        </p:txBody>
      </p:sp>
      <p:sp>
        <p:nvSpPr>
          <p:cNvPr id="3" name="正方形/長方形 2">
            <a:extLst>
              <a:ext uri="{FF2B5EF4-FFF2-40B4-BE49-F238E27FC236}">
                <a16:creationId xmlns:a16="http://schemas.microsoft.com/office/drawing/2014/main" id="{7DC0A775-F348-D936-0346-4A08EF1CA4C7}"/>
              </a:ext>
            </a:extLst>
          </p:cNvPr>
          <p:cNvSpPr/>
          <p:nvPr/>
        </p:nvSpPr>
        <p:spPr bwMode="auto">
          <a:xfrm rot="5400000">
            <a:off x="8841031" y="3744002"/>
            <a:ext cx="2790031"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1EF12C25-48CE-C713-31A2-EB31FEE3FEA7}"/>
              </a:ext>
            </a:extLst>
          </p:cNvPr>
          <p:cNvSpPr/>
          <p:nvPr/>
        </p:nvSpPr>
        <p:spPr bwMode="auto">
          <a:xfrm rot="5400000">
            <a:off x="9471038" y="4554012"/>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FA56CCAC-514D-905B-3A18-FE6257DE7DE0}"/>
              </a:ext>
            </a:extLst>
          </p:cNvPr>
          <p:cNvCxnSpPr>
            <a:cxnSpLocks/>
          </p:cNvCxnSpPr>
          <p:nvPr/>
        </p:nvCxnSpPr>
        <p:spPr bwMode="auto">
          <a:xfrm>
            <a:off x="8796033" y="5229021"/>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DFB9D26E-EDB2-C325-CBF8-6A583D50E597}"/>
              </a:ext>
            </a:extLst>
          </p:cNvPr>
          <p:cNvCxnSpPr>
            <a:cxnSpLocks/>
          </p:cNvCxnSpPr>
          <p:nvPr/>
        </p:nvCxnSpPr>
        <p:spPr bwMode="auto">
          <a:xfrm>
            <a:off x="7986022" y="5409021"/>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D7F91EA4-8C3B-70F8-FD0B-48A1C13EAEAD}"/>
              </a:ext>
            </a:extLst>
          </p:cNvPr>
          <p:cNvCxnSpPr>
            <a:cxnSpLocks/>
          </p:cNvCxnSpPr>
          <p:nvPr/>
        </p:nvCxnSpPr>
        <p:spPr bwMode="auto">
          <a:xfrm>
            <a:off x="7986022" y="5229019"/>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27B531E0-BAC1-AC51-C15B-6215AD5C7401}"/>
              </a:ext>
            </a:extLst>
          </p:cNvPr>
          <p:cNvSpPr/>
          <p:nvPr/>
        </p:nvSpPr>
        <p:spPr bwMode="auto">
          <a:xfrm rot="5400000">
            <a:off x="9066033" y="1178975"/>
            <a:ext cx="180002" cy="234002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 name="直線コネクタ 12">
            <a:extLst>
              <a:ext uri="{FF2B5EF4-FFF2-40B4-BE49-F238E27FC236}">
                <a16:creationId xmlns:a16="http://schemas.microsoft.com/office/drawing/2014/main" id="{4CBA9336-5DC6-AA1F-8E95-8084AD8B7490}"/>
              </a:ext>
            </a:extLst>
          </p:cNvPr>
          <p:cNvCxnSpPr>
            <a:cxnSpLocks/>
          </p:cNvCxnSpPr>
          <p:nvPr/>
        </p:nvCxnSpPr>
        <p:spPr bwMode="auto">
          <a:xfrm>
            <a:off x="8796033" y="2258988"/>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C8865F76-4F58-166F-F897-D5F59A80DDCD}"/>
              </a:ext>
            </a:extLst>
          </p:cNvPr>
          <p:cNvCxnSpPr>
            <a:cxnSpLocks/>
          </p:cNvCxnSpPr>
          <p:nvPr/>
        </p:nvCxnSpPr>
        <p:spPr bwMode="auto">
          <a:xfrm>
            <a:off x="7986022" y="2438988"/>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74DE750E-C6E9-615D-7120-9D90BF3DECEF}"/>
              </a:ext>
            </a:extLst>
          </p:cNvPr>
          <p:cNvCxnSpPr>
            <a:cxnSpLocks/>
          </p:cNvCxnSpPr>
          <p:nvPr/>
        </p:nvCxnSpPr>
        <p:spPr bwMode="auto">
          <a:xfrm>
            <a:off x="7986022" y="2258986"/>
            <a:ext cx="630007" cy="0"/>
          </a:xfrm>
          <a:prstGeom prst="line">
            <a:avLst/>
          </a:prstGeom>
          <a:noFill/>
          <a:ln w="19050" cap="flat"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FF11F036-BF66-AD4A-1C42-4CB3C1855A35}"/>
              </a:ext>
            </a:extLst>
          </p:cNvPr>
          <p:cNvCxnSpPr>
            <a:cxnSpLocks/>
          </p:cNvCxnSpPr>
          <p:nvPr/>
        </p:nvCxnSpPr>
        <p:spPr bwMode="auto">
          <a:xfrm>
            <a:off x="6726008" y="126897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F8A726E7-1657-5D35-61A2-362149EF28F0}"/>
              </a:ext>
            </a:extLst>
          </p:cNvPr>
          <p:cNvCxnSpPr>
            <a:cxnSpLocks/>
          </p:cNvCxnSpPr>
          <p:nvPr/>
        </p:nvCxnSpPr>
        <p:spPr bwMode="auto">
          <a:xfrm>
            <a:off x="6906010" y="144897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8" name="直線コネクタ 17">
            <a:extLst>
              <a:ext uri="{FF2B5EF4-FFF2-40B4-BE49-F238E27FC236}">
                <a16:creationId xmlns:a16="http://schemas.microsoft.com/office/drawing/2014/main" id="{544808C0-FC53-807F-0598-4D6AF71EBAE8}"/>
              </a:ext>
            </a:extLst>
          </p:cNvPr>
          <p:cNvCxnSpPr>
            <a:cxnSpLocks/>
          </p:cNvCxnSpPr>
          <p:nvPr/>
        </p:nvCxnSpPr>
        <p:spPr bwMode="auto">
          <a:xfrm>
            <a:off x="6906010" y="459901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9C89EB8A-3B65-F6C5-31A4-DF47FEDD2D20}"/>
              </a:ext>
            </a:extLst>
          </p:cNvPr>
          <p:cNvCxnSpPr>
            <a:cxnSpLocks/>
          </p:cNvCxnSpPr>
          <p:nvPr/>
        </p:nvCxnSpPr>
        <p:spPr bwMode="auto">
          <a:xfrm>
            <a:off x="6726008" y="4779014"/>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E3AEC9E3-D3A8-55B5-C4DD-49B7DD96BF07}"/>
              </a:ext>
            </a:extLst>
          </p:cNvPr>
          <p:cNvCxnSpPr>
            <a:cxnSpLocks/>
          </p:cNvCxnSpPr>
          <p:nvPr/>
        </p:nvCxnSpPr>
        <p:spPr bwMode="auto">
          <a:xfrm>
            <a:off x="10326048" y="360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192D27AC-10A3-4BC4-9479-E0939C96B82B}"/>
              </a:ext>
            </a:extLst>
          </p:cNvPr>
          <p:cNvCxnSpPr>
            <a:cxnSpLocks/>
          </p:cNvCxnSpPr>
          <p:nvPr/>
        </p:nvCxnSpPr>
        <p:spPr bwMode="auto">
          <a:xfrm>
            <a:off x="10326048" y="378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2" name="直線コネクタ 21">
            <a:extLst>
              <a:ext uri="{FF2B5EF4-FFF2-40B4-BE49-F238E27FC236}">
                <a16:creationId xmlns:a16="http://schemas.microsoft.com/office/drawing/2014/main" id="{7869455C-AA31-C1A0-B097-465AD0683311}"/>
              </a:ext>
            </a:extLst>
          </p:cNvPr>
          <p:cNvCxnSpPr>
            <a:cxnSpLocks/>
          </p:cNvCxnSpPr>
          <p:nvPr/>
        </p:nvCxnSpPr>
        <p:spPr bwMode="auto">
          <a:xfrm>
            <a:off x="10146046" y="2438988"/>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349F2D05-4CFF-97C2-C53E-BE97B69011FD}"/>
              </a:ext>
            </a:extLst>
          </p:cNvPr>
          <p:cNvCxnSpPr>
            <a:cxnSpLocks/>
          </p:cNvCxnSpPr>
          <p:nvPr/>
        </p:nvCxnSpPr>
        <p:spPr bwMode="auto">
          <a:xfrm>
            <a:off x="10326585" y="3789003"/>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24" name="直線コネクタ 23">
            <a:extLst>
              <a:ext uri="{FF2B5EF4-FFF2-40B4-BE49-F238E27FC236}">
                <a16:creationId xmlns:a16="http://schemas.microsoft.com/office/drawing/2014/main" id="{0265AA71-D121-27A0-667A-FDE8A9FB0AD2}"/>
              </a:ext>
            </a:extLst>
          </p:cNvPr>
          <p:cNvCxnSpPr>
            <a:cxnSpLocks/>
          </p:cNvCxnSpPr>
          <p:nvPr/>
        </p:nvCxnSpPr>
        <p:spPr bwMode="auto">
          <a:xfrm>
            <a:off x="6906010" y="1448977"/>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A34A4665-CA60-DBE8-622B-3BDB9C92194F}"/>
              </a:ext>
            </a:extLst>
          </p:cNvPr>
          <p:cNvCxnSpPr>
            <a:cxnSpLocks/>
          </p:cNvCxnSpPr>
          <p:nvPr/>
        </p:nvCxnSpPr>
        <p:spPr bwMode="auto">
          <a:xfrm>
            <a:off x="6726008" y="1268975"/>
            <a:ext cx="0" cy="2340026"/>
          </a:xfrm>
          <a:prstGeom prst="line">
            <a:avLst/>
          </a:prstGeom>
          <a:noFill/>
          <a:ln w="19050" cap="flat" cmpd="sng" algn="ctr">
            <a:solidFill>
              <a:schemeClr val="tx1"/>
            </a:solidFill>
            <a:prstDash val="solid"/>
            <a:round/>
            <a:headEnd type="none" w="med" len="med"/>
            <a:tailEnd type="none" w="med" len="med"/>
          </a:ln>
          <a:effectLst/>
        </p:spPr>
      </p:cxnSp>
      <p:cxnSp>
        <p:nvCxnSpPr>
          <p:cNvPr id="26" name="直線コネクタ 25">
            <a:extLst>
              <a:ext uri="{FF2B5EF4-FFF2-40B4-BE49-F238E27FC236}">
                <a16:creationId xmlns:a16="http://schemas.microsoft.com/office/drawing/2014/main" id="{1656EDA9-9E3E-05A9-B7AC-4BE3ED744F3D}"/>
              </a:ext>
            </a:extLst>
          </p:cNvPr>
          <p:cNvCxnSpPr>
            <a:cxnSpLocks/>
          </p:cNvCxnSpPr>
          <p:nvPr/>
        </p:nvCxnSpPr>
        <p:spPr bwMode="auto">
          <a:xfrm>
            <a:off x="6726008" y="3789003"/>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06792026-86F8-92CA-F80B-8682A6AB8B18}"/>
              </a:ext>
            </a:extLst>
          </p:cNvPr>
          <p:cNvCxnSpPr>
            <a:cxnSpLocks/>
          </p:cNvCxnSpPr>
          <p:nvPr/>
        </p:nvCxnSpPr>
        <p:spPr bwMode="auto">
          <a:xfrm>
            <a:off x="10326048" y="2258986"/>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30" name="正方形/長方形 29">
            <a:extLst>
              <a:ext uri="{FF2B5EF4-FFF2-40B4-BE49-F238E27FC236}">
                <a16:creationId xmlns:a16="http://schemas.microsoft.com/office/drawing/2014/main" id="{7242A8BF-9B8D-39E2-83F6-B0DA77BF6496}"/>
              </a:ext>
            </a:extLst>
          </p:cNvPr>
          <p:cNvSpPr/>
          <p:nvPr/>
        </p:nvSpPr>
        <p:spPr bwMode="auto">
          <a:xfrm>
            <a:off x="7176013" y="198898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31" name="正方形/長方形 30">
            <a:extLst>
              <a:ext uri="{FF2B5EF4-FFF2-40B4-BE49-F238E27FC236}">
                <a16:creationId xmlns:a16="http://schemas.microsoft.com/office/drawing/2014/main" id="{63EFB157-9977-65E2-0F31-4A34E4BE2852}"/>
              </a:ext>
            </a:extLst>
          </p:cNvPr>
          <p:cNvSpPr/>
          <p:nvPr/>
        </p:nvSpPr>
        <p:spPr bwMode="auto">
          <a:xfrm>
            <a:off x="7176013" y="495901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39" name="正方形/長方形 38">
            <a:extLst>
              <a:ext uri="{FF2B5EF4-FFF2-40B4-BE49-F238E27FC236}">
                <a16:creationId xmlns:a16="http://schemas.microsoft.com/office/drawing/2014/main" id="{D27DC778-E49C-859C-3303-F0BF93FF87F3}"/>
              </a:ext>
            </a:extLst>
          </p:cNvPr>
          <p:cNvSpPr/>
          <p:nvPr/>
        </p:nvSpPr>
        <p:spPr bwMode="auto">
          <a:xfrm>
            <a:off x="10326047" y="360900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0" name="直線コネクタ 39">
            <a:extLst>
              <a:ext uri="{FF2B5EF4-FFF2-40B4-BE49-F238E27FC236}">
                <a16:creationId xmlns:a16="http://schemas.microsoft.com/office/drawing/2014/main" id="{8628AACC-51D5-79D5-6D6E-2704AA6BB9D6}"/>
              </a:ext>
            </a:extLst>
          </p:cNvPr>
          <p:cNvCxnSpPr>
            <a:cxnSpLocks/>
          </p:cNvCxnSpPr>
          <p:nvPr/>
        </p:nvCxnSpPr>
        <p:spPr bwMode="auto">
          <a:xfrm>
            <a:off x="10326047"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41" name="直線コネクタ 40">
            <a:extLst>
              <a:ext uri="{FF2B5EF4-FFF2-40B4-BE49-F238E27FC236}">
                <a16:creationId xmlns:a16="http://schemas.microsoft.com/office/drawing/2014/main" id="{7677FBE4-FA25-F26A-FF19-D3A5AA6100EF}"/>
              </a:ext>
            </a:extLst>
          </p:cNvPr>
          <p:cNvCxnSpPr>
            <a:cxnSpLocks/>
          </p:cNvCxnSpPr>
          <p:nvPr/>
        </p:nvCxnSpPr>
        <p:spPr bwMode="auto">
          <a:xfrm>
            <a:off x="10326047"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42" name="直線コネクタ 41">
            <a:extLst>
              <a:ext uri="{FF2B5EF4-FFF2-40B4-BE49-F238E27FC236}">
                <a16:creationId xmlns:a16="http://schemas.microsoft.com/office/drawing/2014/main" id="{2033671D-7EF5-E525-7EEB-B656C889260F}"/>
              </a:ext>
            </a:extLst>
          </p:cNvPr>
          <p:cNvCxnSpPr>
            <a:cxnSpLocks/>
          </p:cNvCxnSpPr>
          <p:nvPr/>
        </p:nvCxnSpPr>
        <p:spPr bwMode="auto">
          <a:xfrm>
            <a:off x="8436028" y="1538979"/>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43" name="直線コネクタ 42">
            <a:extLst>
              <a:ext uri="{FF2B5EF4-FFF2-40B4-BE49-F238E27FC236}">
                <a16:creationId xmlns:a16="http://schemas.microsoft.com/office/drawing/2014/main" id="{A9EFC27F-B563-F0ED-3EA2-9A82842334AB}"/>
              </a:ext>
            </a:extLst>
          </p:cNvPr>
          <p:cNvCxnSpPr>
            <a:cxnSpLocks/>
          </p:cNvCxnSpPr>
          <p:nvPr/>
        </p:nvCxnSpPr>
        <p:spPr bwMode="auto">
          <a:xfrm>
            <a:off x="8436028" y="1088973"/>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44" name="直線コネクタ 43">
            <a:extLst>
              <a:ext uri="{FF2B5EF4-FFF2-40B4-BE49-F238E27FC236}">
                <a16:creationId xmlns:a16="http://schemas.microsoft.com/office/drawing/2014/main" id="{6546D748-9E75-354E-5F63-06753DDE5C28}"/>
              </a:ext>
            </a:extLst>
          </p:cNvPr>
          <p:cNvCxnSpPr>
            <a:cxnSpLocks/>
          </p:cNvCxnSpPr>
          <p:nvPr/>
        </p:nvCxnSpPr>
        <p:spPr bwMode="auto">
          <a:xfrm>
            <a:off x="8976034" y="1088973"/>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5" name="直線コネクタ 44">
            <a:extLst>
              <a:ext uri="{FF2B5EF4-FFF2-40B4-BE49-F238E27FC236}">
                <a16:creationId xmlns:a16="http://schemas.microsoft.com/office/drawing/2014/main" id="{2660974F-037D-4E56-A2AA-F4F1911EA248}"/>
              </a:ext>
            </a:extLst>
          </p:cNvPr>
          <p:cNvCxnSpPr>
            <a:cxnSpLocks/>
          </p:cNvCxnSpPr>
          <p:nvPr/>
        </p:nvCxnSpPr>
        <p:spPr bwMode="auto">
          <a:xfrm flipV="1">
            <a:off x="8706029" y="1538979"/>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46" name="正方形/長方形 45">
            <a:extLst>
              <a:ext uri="{FF2B5EF4-FFF2-40B4-BE49-F238E27FC236}">
                <a16:creationId xmlns:a16="http://schemas.microsoft.com/office/drawing/2014/main" id="{BE1194CF-179F-54D1-11D2-6306DC7599BC}"/>
              </a:ext>
            </a:extLst>
          </p:cNvPr>
          <p:cNvSpPr/>
          <p:nvPr/>
        </p:nvSpPr>
        <p:spPr bwMode="auto">
          <a:xfrm rot="5400000">
            <a:off x="8436026" y="1898983"/>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3CE61028-5AF8-DF51-522A-51B4DA0594E1}"/>
              </a:ext>
            </a:extLst>
          </p:cNvPr>
          <p:cNvSpPr/>
          <p:nvPr/>
        </p:nvSpPr>
        <p:spPr bwMode="auto">
          <a:xfrm rot="5400000" flipH="1">
            <a:off x="8661028" y="2393986"/>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8" name="直線コネクタ 47">
            <a:extLst>
              <a:ext uri="{FF2B5EF4-FFF2-40B4-BE49-F238E27FC236}">
                <a16:creationId xmlns:a16="http://schemas.microsoft.com/office/drawing/2014/main" id="{2325891A-DBB9-0615-5A86-1B100C3B3BE8}"/>
              </a:ext>
            </a:extLst>
          </p:cNvPr>
          <p:cNvCxnSpPr>
            <a:cxnSpLocks/>
          </p:cNvCxnSpPr>
          <p:nvPr/>
        </p:nvCxnSpPr>
        <p:spPr bwMode="auto">
          <a:xfrm flipH="1">
            <a:off x="8796032" y="2258985"/>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49" name="直線コネクタ 48">
            <a:extLst>
              <a:ext uri="{FF2B5EF4-FFF2-40B4-BE49-F238E27FC236}">
                <a16:creationId xmlns:a16="http://schemas.microsoft.com/office/drawing/2014/main" id="{049B156E-C156-0CF9-F6AC-11A681144538}"/>
              </a:ext>
            </a:extLst>
          </p:cNvPr>
          <p:cNvCxnSpPr>
            <a:cxnSpLocks/>
          </p:cNvCxnSpPr>
          <p:nvPr/>
        </p:nvCxnSpPr>
        <p:spPr bwMode="auto">
          <a:xfrm flipH="1">
            <a:off x="8616031" y="2258985"/>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0" name="直線コネクタ 49">
            <a:extLst>
              <a:ext uri="{FF2B5EF4-FFF2-40B4-BE49-F238E27FC236}">
                <a16:creationId xmlns:a16="http://schemas.microsoft.com/office/drawing/2014/main" id="{B090AFCA-A6DC-519C-43AD-4E8224C007CA}"/>
              </a:ext>
            </a:extLst>
          </p:cNvPr>
          <p:cNvCxnSpPr>
            <a:cxnSpLocks/>
          </p:cNvCxnSpPr>
          <p:nvPr/>
        </p:nvCxnSpPr>
        <p:spPr bwMode="auto">
          <a:xfrm flipV="1">
            <a:off x="8436027" y="1448977"/>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51" name="直線コネクタ 50">
            <a:extLst>
              <a:ext uri="{FF2B5EF4-FFF2-40B4-BE49-F238E27FC236}">
                <a16:creationId xmlns:a16="http://schemas.microsoft.com/office/drawing/2014/main" id="{2C6355A6-246C-94CE-3BE1-BB1DA503A803}"/>
              </a:ext>
            </a:extLst>
          </p:cNvPr>
          <p:cNvCxnSpPr>
            <a:cxnSpLocks/>
          </p:cNvCxnSpPr>
          <p:nvPr/>
        </p:nvCxnSpPr>
        <p:spPr bwMode="auto">
          <a:xfrm>
            <a:off x="8436028" y="4869016"/>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52" name="直線コネクタ 51">
            <a:extLst>
              <a:ext uri="{FF2B5EF4-FFF2-40B4-BE49-F238E27FC236}">
                <a16:creationId xmlns:a16="http://schemas.microsoft.com/office/drawing/2014/main" id="{5511F77E-6251-FA23-5E11-40D55DF32985}"/>
              </a:ext>
            </a:extLst>
          </p:cNvPr>
          <p:cNvCxnSpPr>
            <a:cxnSpLocks/>
          </p:cNvCxnSpPr>
          <p:nvPr/>
        </p:nvCxnSpPr>
        <p:spPr bwMode="auto">
          <a:xfrm>
            <a:off x="8436028" y="4419010"/>
            <a:ext cx="0" cy="180003"/>
          </a:xfrm>
          <a:prstGeom prst="line">
            <a:avLst/>
          </a:prstGeom>
          <a:noFill/>
          <a:ln w="19050" cap="rnd" cmpd="sng" algn="ctr">
            <a:solidFill>
              <a:schemeClr val="accent5"/>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AC932ACB-8F48-3945-0F58-9DA3E8A3115C}"/>
              </a:ext>
            </a:extLst>
          </p:cNvPr>
          <p:cNvCxnSpPr>
            <a:cxnSpLocks/>
          </p:cNvCxnSpPr>
          <p:nvPr/>
        </p:nvCxnSpPr>
        <p:spPr bwMode="auto">
          <a:xfrm>
            <a:off x="8976034" y="4419010"/>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849717F3-0EB0-589C-C401-11A59C01E657}"/>
              </a:ext>
            </a:extLst>
          </p:cNvPr>
          <p:cNvCxnSpPr>
            <a:cxnSpLocks/>
          </p:cNvCxnSpPr>
          <p:nvPr/>
        </p:nvCxnSpPr>
        <p:spPr bwMode="auto">
          <a:xfrm flipV="1">
            <a:off x="8706029" y="4869016"/>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55" name="正方形/長方形 54">
            <a:extLst>
              <a:ext uri="{FF2B5EF4-FFF2-40B4-BE49-F238E27FC236}">
                <a16:creationId xmlns:a16="http://schemas.microsoft.com/office/drawing/2014/main" id="{4347113B-D775-7BEC-F77D-4199458B82B8}"/>
              </a:ext>
            </a:extLst>
          </p:cNvPr>
          <p:cNvSpPr/>
          <p:nvPr/>
        </p:nvSpPr>
        <p:spPr bwMode="auto">
          <a:xfrm rot="5400000">
            <a:off x="8436026" y="5229020"/>
            <a:ext cx="540006"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8" name="正方形/長方形 57">
            <a:extLst>
              <a:ext uri="{FF2B5EF4-FFF2-40B4-BE49-F238E27FC236}">
                <a16:creationId xmlns:a16="http://schemas.microsoft.com/office/drawing/2014/main" id="{D4FE4716-61EB-EFD2-DFBE-B890C336471D}"/>
              </a:ext>
            </a:extLst>
          </p:cNvPr>
          <p:cNvSpPr/>
          <p:nvPr/>
        </p:nvSpPr>
        <p:spPr bwMode="auto">
          <a:xfrm rot="5400000" flipH="1">
            <a:off x="8661028" y="5724023"/>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9" name="直線コネクタ 58">
            <a:extLst>
              <a:ext uri="{FF2B5EF4-FFF2-40B4-BE49-F238E27FC236}">
                <a16:creationId xmlns:a16="http://schemas.microsoft.com/office/drawing/2014/main" id="{A4431BD9-98A8-9661-1BE5-3BF30475DEC3}"/>
              </a:ext>
            </a:extLst>
          </p:cNvPr>
          <p:cNvCxnSpPr>
            <a:cxnSpLocks/>
          </p:cNvCxnSpPr>
          <p:nvPr/>
        </p:nvCxnSpPr>
        <p:spPr bwMode="auto">
          <a:xfrm flipH="1">
            <a:off x="8796032" y="5589022"/>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60" name="直線コネクタ 59">
            <a:extLst>
              <a:ext uri="{FF2B5EF4-FFF2-40B4-BE49-F238E27FC236}">
                <a16:creationId xmlns:a16="http://schemas.microsoft.com/office/drawing/2014/main" id="{1E8ADB05-BA53-6699-AF98-BE876C4722F6}"/>
              </a:ext>
            </a:extLst>
          </p:cNvPr>
          <p:cNvCxnSpPr>
            <a:cxnSpLocks/>
          </p:cNvCxnSpPr>
          <p:nvPr/>
        </p:nvCxnSpPr>
        <p:spPr bwMode="auto">
          <a:xfrm flipH="1">
            <a:off x="8616031" y="5589022"/>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14" name="直線コネクタ 113">
            <a:extLst>
              <a:ext uri="{FF2B5EF4-FFF2-40B4-BE49-F238E27FC236}">
                <a16:creationId xmlns:a16="http://schemas.microsoft.com/office/drawing/2014/main" id="{D4A5DEC7-FC6D-FBE8-FFEE-0824BFC201FE}"/>
              </a:ext>
            </a:extLst>
          </p:cNvPr>
          <p:cNvCxnSpPr>
            <a:cxnSpLocks/>
          </p:cNvCxnSpPr>
          <p:nvPr/>
        </p:nvCxnSpPr>
        <p:spPr bwMode="auto">
          <a:xfrm>
            <a:off x="8436026" y="477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C886F3B-34F1-08CC-E6DB-BC2C103DAD76}"/>
              </a:ext>
            </a:extLst>
          </p:cNvPr>
          <p:cNvSpPr/>
          <p:nvPr/>
        </p:nvSpPr>
        <p:spPr bwMode="auto">
          <a:xfrm>
            <a:off x="24593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Tree>
    <p:extLst>
      <p:ext uri="{BB962C8B-B14F-4D97-AF65-F5344CB8AC3E}">
        <p14:creationId xmlns:p14="http://schemas.microsoft.com/office/powerpoint/2010/main" val="31193010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正方形/長方形 233">
            <a:extLst>
              <a:ext uri="{FF2B5EF4-FFF2-40B4-BE49-F238E27FC236}">
                <a16:creationId xmlns:a16="http://schemas.microsoft.com/office/drawing/2014/main" id="{B3F3082E-9922-1DD6-6D50-55D8068F3043}"/>
              </a:ext>
            </a:extLst>
          </p:cNvPr>
          <p:cNvSpPr/>
          <p:nvPr/>
        </p:nvSpPr>
        <p:spPr bwMode="auto">
          <a:xfrm rot="5400000">
            <a:off x="10461048" y="4734015"/>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34" name="正方形/長方形 33">
            <a:extLst>
              <a:ext uri="{FF2B5EF4-FFF2-40B4-BE49-F238E27FC236}">
                <a16:creationId xmlns:a16="http://schemas.microsoft.com/office/drawing/2014/main" id="{F53AD23F-CD7D-280B-4713-C7F269B16FCD}"/>
              </a:ext>
            </a:extLst>
          </p:cNvPr>
          <p:cNvSpPr/>
          <p:nvPr/>
        </p:nvSpPr>
        <p:spPr bwMode="auto">
          <a:xfrm rot="5400000">
            <a:off x="8976031" y="2798992"/>
            <a:ext cx="180002" cy="1260014"/>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9920DA14-088E-E4A8-9DF1-D943987ADAE6}"/>
              </a:ext>
            </a:extLst>
          </p:cNvPr>
          <p:cNvSpPr>
            <a:spLocks noGrp="1"/>
          </p:cNvSpPr>
          <p:nvPr>
            <p:ph type="title"/>
          </p:nvPr>
        </p:nvSpPr>
        <p:spPr/>
        <p:txBody>
          <a:bodyPr/>
          <a:lstStyle/>
          <a:p>
            <a:r>
              <a:rPr kumimoji="1" lang="ja-JP" altLang="en-US" dirty="0"/>
              <a:t>つまり，スイッチの切り替えが起きると・・・</a:t>
            </a:r>
            <a:endParaRPr kumimoji="1" lang="en-US" dirty="0"/>
          </a:p>
        </p:txBody>
      </p:sp>
      <p:sp>
        <p:nvSpPr>
          <p:cNvPr id="3" name="テキスト プレースホルダー 2">
            <a:extLst>
              <a:ext uri="{FF2B5EF4-FFF2-40B4-BE49-F238E27FC236}">
                <a16:creationId xmlns:a16="http://schemas.microsoft.com/office/drawing/2014/main" id="{890EE345-485C-03AB-4F9D-6EC7336BF1A2}"/>
              </a:ext>
            </a:extLst>
          </p:cNvPr>
          <p:cNvSpPr>
            <a:spLocks noGrp="1"/>
          </p:cNvSpPr>
          <p:nvPr>
            <p:ph type="body" sz="quarter" idx="10"/>
          </p:nvPr>
        </p:nvSpPr>
        <p:spPr>
          <a:xfrm>
            <a:off x="515937" y="1088974"/>
            <a:ext cx="6210070" cy="5490061"/>
          </a:xfrm>
        </p:spPr>
        <p:txBody>
          <a:bodyPr/>
          <a:lstStyle/>
          <a:p>
            <a:r>
              <a:rPr kumimoji="1" lang="ja-JP" altLang="en-US" dirty="0"/>
              <a:t>スイッチングが起きると・・・</a:t>
            </a:r>
            <a:endParaRPr kumimoji="1" lang="en-US" altLang="ja-JP" dirty="0"/>
          </a:p>
          <a:p>
            <a:pPr lvl="1"/>
            <a:r>
              <a:rPr kumimoji="1" lang="ja-JP" altLang="en-US" dirty="0"/>
              <a:t>高さ </a:t>
            </a:r>
            <a:r>
              <a:rPr kumimoji="1" lang="en-US" altLang="ja-JP" dirty="0"/>
              <a:t>V </a:t>
            </a:r>
            <a:r>
              <a:rPr kumimoji="1" lang="ja-JP" altLang="en-US" dirty="0"/>
              <a:t>の給水源から水量 </a:t>
            </a:r>
            <a:r>
              <a:rPr kumimoji="1" lang="en-US" altLang="ja-JP" dirty="0"/>
              <a:t>Q </a:t>
            </a:r>
            <a:r>
              <a:rPr kumimoji="1" lang="ja-JP" altLang="en-US" dirty="0"/>
              <a:t>が供給</a:t>
            </a:r>
            <a:endParaRPr kumimoji="1" lang="en-US" altLang="ja-JP" dirty="0"/>
          </a:p>
          <a:p>
            <a:pPr lvl="1"/>
            <a:r>
              <a:rPr kumimoji="1" lang="ja-JP" altLang="en-US" dirty="0"/>
              <a:t>総量 </a:t>
            </a:r>
            <a:r>
              <a:rPr kumimoji="1" lang="en-US" altLang="ja-JP" dirty="0"/>
              <a:t>Q </a:t>
            </a:r>
            <a:r>
              <a:rPr kumimoji="1" lang="ja-JP" altLang="en-US" dirty="0"/>
              <a:t>の水がタンクとパイプに入って抜ける</a:t>
            </a:r>
            <a:endParaRPr kumimoji="1" lang="en-US" altLang="ja-JP" dirty="0"/>
          </a:p>
          <a:p>
            <a:r>
              <a:rPr lang="ja-JP" altLang="en-US" dirty="0">
                <a:solidFill>
                  <a:schemeClr val="accent5"/>
                </a:solidFill>
              </a:rPr>
              <a:t>入力の変化に伴い，水の出し入れが</a:t>
            </a:r>
            <a:br>
              <a:rPr lang="en-US" altLang="ja-JP" dirty="0">
                <a:solidFill>
                  <a:schemeClr val="accent5"/>
                </a:solidFill>
              </a:rPr>
            </a:br>
            <a:r>
              <a:rPr lang="ja-JP" altLang="en-US" dirty="0">
                <a:solidFill>
                  <a:schemeClr val="accent5"/>
                </a:solidFill>
              </a:rPr>
              <a:t>生じるとエネルギーが消費される</a:t>
            </a:r>
            <a:endParaRPr lang="en-US" altLang="ja-JP" dirty="0">
              <a:solidFill>
                <a:schemeClr val="accent5"/>
              </a:solidFill>
            </a:endParaRPr>
          </a:p>
          <a:p>
            <a:pPr lvl="1"/>
            <a:r>
              <a:rPr lang="ja-JP" altLang="en-US" dirty="0"/>
              <a:t>電荷が電源から </a:t>
            </a:r>
            <a:r>
              <a:rPr lang="en-US" altLang="ja-JP" dirty="0"/>
              <a:t>GND </a:t>
            </a:r>
            <a:r>
              <a:rPr lang="ja-JP" altLang="en-US" dirty="0"/>
              <a:t>に流れるのも同じ</a:t>
            </a:r>
            <a:endParaRPr kumimoji="1" lang="en-US" altLang="ja-JP" dirty="0"/>
          </a:p>
          <a:p>
            <a:r>
              <a:rPr kumimoji="1" lang="ja-JP" altLang="en-US" dirty="0">
                <a:solidFill>
                  <a:schemeClr val="accent5"/>
                </a:solidFill>
              </a:rPr>
              <a:t>水を高いところから流すとその分</a:t>
            </a:r>
            <a:br>
              <a:rPr kumimoji="1" lang="en-US" altLang="ja-JP" dirty="0">
                <a:solidFill>
                  <a:schemeClr val="accent5"/>
                </a:solidFill>
              </a:rPr>
            </a:br>
            <a:r>
              <a:rPr kumimoji="1" lang="ja-JP" altLang="en-US" dirty="0">
                <a:solidFill>
                  <a:schemeClr val="accent5"/>
                </a:solidFill>
              </a:rPr>
              <a:t>位置エネルギーが失われる</a:t>
            </a:r>
            <a:endParaRPr kumimoji="1" lang="en-US" altLang="ja-JP" dirty="0">
              <a:solidFill>
                <a:schemeClr val="accent5"/>
              </a:solidFill>
            </a:endParaRPr>
          </a:p>
          <a:p>
            <a:pPr lvl="1"/>
            <a:r>
              <a:rPr kumimoji="1" lang="ja-JP" altLang="en-US" dirty="0"/>
              <a:t>タンクにたまった水の総量：</a:t>
            </a:r>
            <a:r>
              <a:rPr kumimoji="1" lang="en-US" altLang="ja-JP" dirty="0"/>
              <a:t>	Q </a:t>
            </a:r>
          </a:p>
          <a:p>
            <a:pPr lvl="1"/>
            <a:r>
              <a:rPr kumimoji="1" lang="ja-JP" altLang="en-US" dirty="0"/>
              <a:t>排水</a:t>
            </a:r>
            <a:r>
              <a:rPr lang="ja-JP" altLang="en-US" dirty="0"/>
              <a:t>口</a:t>
            </a:r>
            <a:r>
              <a:rPr kumimoji="1" lang="ja-JP" altLang="en-US" dirty="0"/>
              <a:t>から給水口高さ：</a:t>
            </a:r>
            <a:r>
              <a:rPr kumimoji="1" lang="en-US" altLang="ja-JP" dirty="0"/>
              <a:t>		V</a:t>
            </a:r>
          </a:p>
          <a:p>
            <a:pPr lvl="1"/>
            <a:r>
              <a:rPr kumimoji="1" lang="ja-JP" altLang="en-US" dirty="0"/>
              <a:t>エネルギー：</a:t>
            </a:r>
            <a:r>
              <a:rPr kumimoji="1" lang="en-US" altLang="ja-JP" dirty="0"/>
              <a:t>			Q × V</a:t>
            </a:r>
          </a:p>
        </p:txBody>
      </p:sp>
      <p:sp>
        <p:nvSpPr>
          <p:cNvPr id="4" name="正方形/長方形 3">
            <a:extLst>
              <a:ext uri="{FF2B5EF4-FFF2-40B4-BE49-F238E27FC236}">
                <a16:creationId xmlns:a16="http://schemas.microsoft.com/office/drawing/2014/main" id="{27CA8DD0-859F-78F6-62E0-E27694E1A9F2}"/>
              </a:ext>
            </a:extLst>
          </p:cNvPr>
          <p:cNvSpPr/>
          <p:nvPr/>
        </p:nvSpPr>
        <p:spPr bwMode="auto">
          <a:xfrm rot="5400000">
            <a:off x="6771008" y="3294000"/>
            <a:ext cx="3150033"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A2CD0000-5518-5419-524D-597D08B2BF19}"/>
              </a:ext>
            </a:extLst>
          </p:cNvPr>
          <p:cNvSpPr/>
          <p:nvPr/>
        </p:nvSpPr>
        <p:spPr bwMode="auto">
          <a:xfrm rot="5400000">
            <a:off x="7941020" y="4644014"/>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 name="直線コネクタ 5">
            <a:extLst>
              <a:ext uri="{FF2B5EF4-FFF2-40B4-BE49-F238E27FC236}">
                <a16:creationId xmlns:a16="http://schemas.microsoft.com/office/drawing/2014/main" id="{C24EF3B2-D55B-AC66-4BD9-E28B003094EF}"/>
              </a:ext>
            </a:extLst>
          </p:cNvPr>
          <p:cNvCxnSpPr>
            <a:cxnSpLocks/>
          </p:cNvCxnSpPr>
          <p:nvPr/>
        </p:nvCxnSpPr>
        <p:spPr bwMode="auto">
          <a:xfrm>
            <a:off x="6906011" y="4959019"/>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537EB4-C86D-1E33-585F-37719BBC8AAF}"/>
              </a:ext>
            </a:extLst>
          </p:cNvPr>
          <p:cNvSpPr/>
          <p:nvPr/>
        </p:nvSpPr>
        <p:spPr bwMode="auto">
          <a:xfrm rot="5400000">
            <a:off x="7581016" y="953972"/>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374FCD48-E7A7-80F3-3ACE-A7C41A9308D3}"/>
              </a:ext>
            </a:extLst>
          </p:cNvPr>
          <p:cNvCxnSpPr>
            <a:cxnSpLocks/>
          </p:cNvCxnSpPr>
          <p:nvPr/>
        </p:nvCxnSpPr>
        <p:spPr bwMode="auto">
          <a:xfrm>
            <a:off x="6906009" y="1628980"/>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F7B9461-F6EF-F57F-53EA-461201555B16}"/>
              </a:ext>
            </a:extLst>
          </p:cNvPr>
          <p:cNvCxnSpPr>
            <a:cxnSpLocks/>
          </p:cNvCxnSpPr>
          <p:nvPr/>
        </p:nvCxnSpPr>
        <p:spPr bwMode="auto">
          <a:xfrm>
            <a:off x="6906009" y="1808982"/>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13" name="直線コネクタ 12">
            <a:extLst>
              <a:ext uri="{FF2B5EF4-FFF2-40B4-BE49-F238E27FC236}">
                <a16:creationId xmlns:a16="http://schemas.microsoft.com/office/drawing/2014/main" id="{39C6673B-CD44-4EB3-177E-208100E91647}"/>
              </a:ext>
            </a:extLst>
          </p:cNvPr>
          <p:cNvCxnSpPr>
            <a:cxnSpLocks/>
          </p:cNvCxnSpPr>
          <p:nvPr/>
        </p:nvCxnSpPr>
        <p:spPr bwMode="auto">
          <a:xfrm>
            <a:off x="8256561" y="1808982"/>
            <a:ext cx="0" cy="3150393"/>
          </a:xfrm>
          <a:prstGeom prst="line">
            <a:avLst/>
          </a:prstGeom>
          <a:noFill/>
          <a:ln w="19050"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87FB89EA-E28D-B248-FFFB-C5138E2EF2BE}"/>
              </a:ext>
            </a:extLst>
          </p:cNvPr>
          <p:cNvCxnSpPr>
            <a:cxnSpLocks/>
          </p:cNvCxnSpPr>
          <p:nvPr/>
        </p:nvCxnSpPr>
        <p:spPr bwMode="auto">
          <a:xfrm>
            <a:off x="8436563" y="3519001"/>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02D70DA7-9442-91A6-9126-49CE9C7F6366}"/>
              </a:ext>
            </a:extLst>
          </p:cNvPr>
          <p:cNvCxnSpPr>
            <a:cxnSpLocks/>
          </p:cNvCxnSpPr>
          <p:nvPr/>
        </p:nvCxnSpPr>
        <p:spPr bwMode="auto">
          <a:xfrm>
            <a:off x="8436026" y="1628980"/>
            <a:ext cx="0" cy="1710019"/>
          </a:xfrm>
          <a:prstGeom prst="line">
            <a:avLst/>
          </a:prstGeom>
          <a:noFill/>
          <a:ln w="19050" cap="flat" cmpd="sng" algn="ctr">
            <a:solidFill>
              <a:schemeClr val="tx1"/>
            </a:solidFill>
            <a:prstDash val="solid"/>
            <a:round/>
            <a:headEnd type="none" w="med" len="med"/>
            <a:tailEnd type="none" w="med" len="med"/>
          </a:ln>
          <a:effectLst/>
        </p:spPr>
      </p:cxnSp>
      <p:cxnSp>
        <p:nvCxnSpPr>
          <p:cNvPr id="30" name="直線コネクタ 29">
            <a:extLst>
              <a:ext uri="{FF2B5EF4-FFF2-40B4-BE49-F238E27FC236}">
                <a16:creationId xmlns:a16="http://schemas.microsoft.com/office/drawing/2014/main" id="{98793B44-65A2-F9F8-CB11-2BA2BEC51046}"/>
              </a:ext>
            </a:extLst>
          </p:cNvPr>
          <p:cNvCxnSpPr>
            <a:cxnSpLocks/>
          </p:cNvCxnSpPr>
          <p:nvPr/>
        </p:nvCxnSpPr>
        <p:spPr bwMode="auto">
          <a:xfrm>
            <a:off x="8436025" y="3519000"/>
            <a:ext cx="1260013" cy="0"/>
          </a:xfrm>
          <a:prstGeom prst="line">
            <a:avLst/>
          </a:prstGeom>
          <a:noFill/>
          <a:ln w="19050" cap="flat" cmpd="sng" algn="ctr">
            <a:solidFill>
              <a:schemeClr val="tx1"/>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911E405F-22B2-6238-ABEB-845CDB1F5BC7}"/>
              </a:ext>
            </a:extLst>
          </p:cNvPr>
          <p:cNvCxnSpPr>
            <a:cxnSpLocks/>
          </p:cNvCxnSpPr>
          <p:nvPr/>
        </p:nvCxnSpPr>
        <p:spPr bwMode="auto">
          <a:xfrm>
            <a:off x="8436025" y="3338998"/>
            <a:ext cx="1260013" cy="0"/>
          </a:xfrm>
          <a:prstGeom prst="line">
            <a:avLst/>
          </a:prstGeom>
          <a:noFill/>
          <a:ln w="19050" cap="flat" cmpd="sng" algn="ctr">
            <a:solidFill>
              <a:schemeClr val="tx1"/>
            </a:solidFill>
            <a:prstDash val="solid"/>
            <a:round/>
            <a:headEnd type="none" w="med" len="med"/>
            <a:tailEnd type="none" w="med" len="med"/>
          </a:ln>
          <a:effectLst/>
        </p:spPr>
      </p:cxnSp>
      <p:sp>
        <p:nvSpPr>
          <p:cNvPr id="17" name="正方形/長方形 16">
            <a:extLst>
              <a:ext uri="{FF2B5EF4-FFF2-40B4-BE49-F238E27FC236}">
                <a16:creationId xmlns:a16="http://schemas.microsoft.com/office/drawing/2014/main" id="{B6E9C2DA-12EC-4F2F-EB22-F3E2EADA9E3F}"/>
              </a:ext>
            </a:extLst>
          </p:cNvPr>
          <p:cNvSpPr/>
          <p:nvPr/>
        </p:nvSpPr>
        <p:spPr bwMode="auto">
          <a:xfrm rot="5400000">
            <a:off x="9876040" y="1268976"/>
            <a:ext cx="180003" cy="90001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937538F-948B-694E-1161-BCBE74D07855}"/>
              </a:ext>
            </a:extLst>
          </p:cNvPr>
          <p:cNvSpPr/>
          <p:nvPr/>
        </p:nvSpPr>
        <p:spPr bwMode="auto">
          <a:xfrm rot="5400000">
            <a:off x="10461048" y="1403978"/>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19" name="正方形/長方形 18">
            <a:extLst>
              <a:ext uri="{FF2B5EF4-FFF2-40B4-BE49-F238E27FC236}">
                <a16:creationId xmlns:a16="http://schemas.microsoft.com/office/drawing/2014/main" id="{C469AF16-318F-2134-408E-DEDC59540ACE}"/>
              </a:ext>
            </a:extLst>
          </p:cNvPr>
          <p:cNvSpPr/>
          <p:nvPr/>
        </p:nvSpPr>
        <p:spPr bwMode="auto">
          <a:xfrm rot="5400000">
            <a:off x="7941020" y="3383999"/>
            <a:ext cx="333003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7929699B-8C82-CD5A-3261-DC382BC0CA0E}"/>
              </a:ext>
            </a:extLst>
          </p:cNvPr>
          <p:cNvSpPr/>
          <p:nvPr/>
        </p:nvSpPr>
        <p:spPr bwMode="auto">
          <a:xfrm rot="5400000">
            <a:off x="9966042" y="4689015"/>
            <a:ext cx="180003" cy="720008"/>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 name="直線コネクタ 24">
            <a:extLst>
              <a:ext uri="{FF2B5EF4-FFF2-40B4-BE49-F238E27FC236}">
                <a16:creationId xmlns:a16="http://schemas.microsoft.com/office/drawing/2014/main" id="{6286D723-92E7-6963-E1A3-B859882C2DB9}"/>
              </a:ext>
            </a:extLst>
          </p:cNvPr>
          <p:cNvCxnSpPr>
            <a:cxnSpLocks/>
          </p:cNvCxnSpPr>
          <p:nvPr/>
        </p:nvCxnSpPr>
        <p:spPr bwMode="auto">
          <a:xfrm>
            <a:off x="9516039" y="1628979"/>
            <a:ext cx="900009" cy="1"/>
          </a:xfrm>
          <a:prstGeom prst="line">
            <a:avLst/>
          </a:prstGeom>
          <a:noFill/>
          <a:ln w="19050" cap="flat" cmpd="sng" algn="ctr">
            <a:solidFill>
              <a:schemeClr val="tx1"/>
            </a:solidFill>
            <a:prstDash val="solid"/>
            <a:round/>
            <a:headEnd type="none" w="med" len="med"/>
            <a:tailEnd type="none" w="med" len="med"/>
          </a:ln>
          <a:effectLst/>
        </p:spPr>
      </p:cxnSp>
      <p:cxnSp>
        <p:nvCxnSpPr>
          <p:cNvPr id="26" name="直線コネクタ 25">
            <a:extLst>
              <a:ext uri="{FF2B5EF4-FFF2-40B4-BE49-F238E27FC236}">
                <a16:creationId xmlns:a16="http://schemas.microsoft.com/office/drawing/2014/main" id="{3D92774A-1D00-93EF-6816-3549CD56763B}"/>
              </a:ext>
            </a:extLst>
          </p:cNvPr>
          <p:cNvCxnSpPr>
            <a:cxnSpLocks/>
          </p:cNvCxnSpPr>
          <p:nvPr/>
        </p:nvCxnSpPr>
        <p:spPr bwMode="auto">
          <a:xfrm>
            <a:off x="9696041" y="1808981"/>
            <a:ext cx="720007" cy="0"/>
          </a:xfrm>
          <a:prstGeom prst="line">
            <a:avLst/>
          </a:prstGeom>
          <a:noFill/>
          <a:ln w="19050" cap="flat" cmpd="sng" algn="ctr">
            <a:solidFill>
              <a:schemeClr val="tx1"/>
            </a:solidFill>
            <a:prstDash val="solid"/>
            <a:round/>
            <a:headEnd type="none" w="med" len="med"/>
            <a:tailEnd type="none" w="med" len="med"/>
          </a:ln>
          <a:effectLst/>
        </p:spPr>
      </p:cxnSp>
      <p:cxnSp>
        <p:nvCxnSpPr>
          <p:cNvPr id="27" name="直線コネクタ 26">
            <a:extLst>
              <a:ext uri="{FF2B5EF4-FFF2-40B4-BE49-F238E27FC236}">
                <a16:creationId xmlns:a16="http://schemas.microsoft.com/office/drawing/2014/main" id="{6FD33837-ABB3-3340-ADB6-34F13255C959}"/>
              </a:ext>
            </a:extLst>
          </p:cNvPr>
          <p:cNvCxnSpPr>
            <a:cxnSpLocks/>
          </p:cNvCxnSpPr>
          <p:nvPr/>
        </p:nvCxnSpPr>
        <p:spPr bwMode="auto">
          <a:xfrm>
            <a:off x="9696040" y="4959019"/>
            <a:ext cx="720008" cy="0"/>
          </a:xfrm>
          <a:prstGeom prst="line">
            <a:avLst/>
          </a:prstGeom>
          <a:noFill/>
          <a:ln w="19050" cap="flat" cmpd="sng" algn="ctr">
            <a:solidFill>
              <a:schemeClr val="tx1"/>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BDA61227-CF51-4567-2FE0-8EBD13B8E3C8}"/>
              </a:ext>
            </a:extLst>
          </p:cNvPr>
          <p:cNvCxnSpPr>
            <a:cxnSpLocks/>
          </p:cNvCxnSpPr>
          <p:nvPr/>
        </p:nvCxnSpPr>
        <p:spPr bwMode="auto">
          <a:xfrm>
            <a:off x="9516038" y="5139022"/>
            <a:ext cx="900010" cy="0"/>
          </a:xfrm>
          <a:prstGeom prst="line">
            <a:avLst/>
          </a:prstGeom>
          <a:noFill/>
          <a:ln w="19050"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57CBCA4E-9A0C-AAC1-BAF0-33050D73F8A5}"/>
              </a:ext>
            </a:extLst>
          </p:cNvPr>
          <p:cNvCxnSpPr>
            <a:cxnSpLocks/>
          </p:cNvCxnSpPr>
          <p:nvPr/>
        </p:nvCxnSpPr>
        <p:spPr bwMode="auto">
          <a:xfrm>
            <a:off x="9696041" y="1808981"/>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6FFE099D-B29C-348F-EC38-44DB51C31560}"/>
              </a:ext>
            </a:extLst>
          </p:cNvPr>
          <p:cNvCxnSpPr>
            <a:cxnSpLocks/>
          </p:cNvCxnSpPr>
          <p:nvPr/>
        </p:nvCxnSpPr>
        <p:spPr bwMode="auto">
          <a:xfrm>
            <a:off x="9516039" y="1628979"/>
            <a:ext cx="0" cy="1710020"/>
          </a:xfrm>
          <a:prstGeom prst="line">
            <a:avLst/>
          </a:prstGeom>
          <a:noFill/>
          <a:ln w="19050" cap="flat" cmpd="sng" algn="ctr">
            <a:solidFill>
              <a:schemeClr val="tx1"/>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8FE196B2-9F9B-4332-7333-9B07D4988213}"/>
              </a:ext>
            </a:extLst>
          </p:cNvPr>
          <p:cNvCxnSpPr>
            <a:cxnSpLocks/>
          </p:cNvCxnSpPr>
          <p:nvPr/>
        </p:nvCxnSpPr>
        <p:spPr bwMode="auto">
          <a:xfrm>
            <a:off x="9516038" y="3519001"/>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C0409F30-16C6-F16C-3581-CD8989D4C9A4}"/>
              </a:ext>
            </a:extLst>
          </p:cNvPr>
          <p:cNvCxnSpPr>
            <a:cxnSpLocks/>
          </p:cNvCxnSpPr>
          <p:nvPr/>
        </p:nvCxnSpPr>
        <p:spPr bwMode="auto">
          <a:xfrm>
            <a:off x="10416050" y="189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69BFBF7E-7361-8A0F-CB84-F600271E408D}"/>
              </a:ext>
            </a:extLst>
          </p:cNvPr>
          <p:cNvCxnSpPr>
            <a:cxnSpLocks/>
          </p:cNvCxnSpPr>
          <p:nvPr/>
        </p:nvCxnSpPr>
        <p:spPr bwMode="auto">
          <a:xfrm>
            <a:off x="10416050" y="144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9" name="直線コネクタ 38">
            <a:extLst>
              <a:ext uri="{FF2B5EF4-FFF2-40B4-BE49-F238E27FC236}">
                <a16:creationId xmlns:a16="http://schemas.microsoft.com/office/drawing/2014/main" id="{E4175443-CE7D-65E6-F6CB-1684DF12FF4B}"/>
              </a:ext>
            </a:extLst>
          </p:cNvPr>
          <p:cNvCxnSpPr>
            <a:cxnSpLocks/>
          </p:cNvCxnSpPr>
          <p:nvPr/>
        </p:nvCxnSpPr>
        <p:spPr bwMode="auto">
          <a:xfrm>
            <a:off x="10956056" y="144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28B1DCE6-A895-677A-08AA-6ABC071ACA5C}"/>
              </a:ext>
            </a:extLst>
          </p:cNvPr>
          <p:cNvCxnSpPr>
            <a:cxnSpLocks/>
          </p:cNvCxnSpPr>
          <p:nvPr/>
        </p:nvCxnSpPr>
        <p:spPr bwMode="auto">
          <a:xfrm flipV="1">
            <a:off x="10686051" y="189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41" name="正方形/長方形 40">
            <a:extLst>
              <a:ext uri="{FF2B5EF4-FFF2-40B4-BE49-F238E27FC236}">
                <a16:creationId xmlns:a16="http://schemas.microsoft.com/office/drawing/2014/main" id="{B4317BAB-B5A1-EA94-01B5-5030FCBDEC47}"/>
              </a:ext>
            </a:extLst>
          </p:cNvPr>
          <p:cNvSpPr/>
          <p:nvPr/>
        </p:nvSpPr>
        <p:spPr bwMode="auto">
          <a:xfrm rot="5400000">
            <a:off x="10416048" y="225898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BE2461B0-6CB9-9B81-DFDC-8820BB2940BE}"/>
              </a:ext>
            </a:extLst>
          </p:cNvPr>
          <p:cNvSpPr/>
          <p:nvPr/>
        </p:nvSpPr>
        <p:spPr bwMode="auto">
          <a:xfrm rot="5400000" flipH="1">
            <a:off x="10641050" y="275399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3" name="直線コネクタ 42">
            <a:extLst>
              <a:ext uri="{FF2B5EF4-FFF2-40B4-BE49-F238E27FC236}">
                <a16:creationId xmlns:a16="http://schemas.microsoft.com/office/drawing/2014/main" id="{5F87F2D1-29D3-301C-9CC9-D9349AD5B209}"/>
              </a:ext>
            </a:extLst>
          </p:cNvPr>
          <p:cNvCxnSpPr>
            <a:cxnSpLocks/>
          </p:cNvCxnSpPr>
          <p:nvPr/>
        </p:nvCxnSpPr>
        <p:spPr bwMode="auto">
          <a:xfrm flipH="1">
            <a:off x="10776054" y="261898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44" name="直線コネクタ 43">
            <a:extLst>
              <a:ext uri="{FF2B5EF4-FFF2-40B4-BE49-F238E27FC236}">
                <a16:creationId xmlns:a16="http://schemas.microsoft.com/office/drawing/2014/main" id="{A03C9579-42F7-5CF8-BA16-BD8F817AB1FF}"/>
              </a:ext>
            </a:extLst>
          </p:cNvPr>
          <p:cNvCxnSpPr>
            <a:cxnSpLocks/>
          </p:cNvCxnSpPr>
          <p:nvPr/>
        </p:nvCxnSpPr>
        <p:spPr bwMode="auto">
          <a:xfrm flipH="1">
            <a:off x="10596053" y="261898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45" name="直線コネクタ 44">
            <a:extLst>
              <a:ext uri="{FF2B5EF4-FFF2-40B4-BE49-F238E27FC236}">
                <a16:creationId xmlns:a16="http://schemas.microsoft.com/office/drawing/2014/main" id="{63829541-51CB-EBBA-0CBB-A15DF6D27C0C}"/>
              </a:ext>
            </a:extLst>
          </p:cNvPr>
          <p:cNvCxnSpPr>
            <a:cxnSpLocks/>
          </p:cNvCxnSpPr>
          <p:nvPr/>
        </p:nvCxnSpPr>
        <p:spPr bwMode="auto">
          <a:xfrm flipV="1">
            <a:off x="10416049" y="180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8FBB7A99-954B-7624-ABC0-DF97B2E7DAD3}"/>
              </a:ext>
            </a:extLst>
          </p:cNvPr>
          <p:cNvCxnSpPr>
            <a:cxnSpLocks/>
          </p:cNvCxnSpPr>
          <p:nvPr/>
        </p:nvCxnSpPr>
        <p:spPr bwMode="auto">
          <a:xfrm>
            <a:off x="10416048" y="5229021"/>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203" name="直線コネクタ 202">
            <a:extLst>
              <a:ext uri="{FF2B5EF4-FFF2-40B4-BE49-F238E27FC236}">
                <a16:creationId xmlns:a16="http://schemas.microsoft.com/office/drawing/2014/main" id="{1C7AF6C4-0D7D-7D3B-BB5E-14E183EA253E}"/>
              </a:ext>
            </a:extLst>
          </p:cNvPr>
          <p:cNvCxnSpPr>
            <a:cxnSpLocks/>
          </p:cNvCxnSpPr>
          <p:nvPr/>
        </p:nvCxnSpPr>
        <p:spPr bwMode="auto">
          <a:xfrm>
            <a:off x="10416048" y="4779015"/>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204" name="直線コネクタ 203">
            <a:extLst>
              <a:ext uri="{FF2B5EF4-FFF2-40B4-BE49-F238E27FC236}">
                <a16:creationId xmlns:a16="http://schemas.microsoft.com/office/drawing/2014/main" id="{2A985DDA-C8BC-7EEF-15B5-04AD36FC759F}"/>
              </a:ext>
            </a:extLst>
          </p:cNvPr>
          <p:cNvCxnSpPr>
            <a:cxnSpLocks/>
          </p:cNvCxnSpPr>
          <p:nvPr/>
        </p:nvCxnSpPr>
        <p:spPr bwMode="auto">
          <a:xfrm>
            <a:off x="10956054" y="4779015"/>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5BB2D490-EEA9-4155-590C-A802F7983645}"/>
              </a:ext>
            </a:extLst>
          </p:cNvPr>
          <p:cNvCxnSpPr>
            <a:cxnSpLocks/>
          </p:cNvCxnSpPr>
          <p:nvPr/>
        </p:nvCxnSpPr>
        <p:spPr bwMode="auto">
          <a:xfrm flipV="1">
            <a:off x="10686049" y="5229021"/>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206" name="正方形/長方形 205">
            <a:extLst>
              <a:ext uri="{FF2B5EF4-FFF2-40B4-BE49-F238E27FC236}">
                <a16:creationId xmlns:a16="http://schemas.microsoft.com/office/drawing/2014/main" id="{32968234-2E2D-4230-10D9-15EBA8CDE6F2}"/>
              </a:ext>
            </a:extLst>
          </p:cNvPr>
          <p:cNvSpPr/>
          <p:nvPr/>
        </p:nvSpPr>
        <p:spPr bwMode="auto">
          <a:xfrm rot="5400000">
            <a:off x="10596048" y="5409023"/>
            <a:ext cx="180002"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7" name="正方形/長方形 206">
            <a:extLst>
              <a:ext uri="{FF2B5EF4-FFF2-40B4-BE49-F238E27FC236}">
                <a16:creationId xmlns:a16="http://schemas.microsoft.com/office/drawing/2014/main" id="{7A8637ED-1D3B-8791-B677-1804EFFAE811}"/>
              </a:ext>
            </a:extLst>
          </p:cNvPr>
          <p:cNvSpPr/>
          <p:nvPr/>
        </p:nvSpPr>
        <p:spPr bwMode="auto">
          <a:xfrm rot="5400000" flipH="1">
            <a:off x="10461044" y="5904026"/>
            <a:ext cx="450004"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8" name="直線コネクタ 207">
            <a:extLst>
              <a:ext uri="{FF2B5EF4-FFF2-40B4-BE49-F238E27FC236}">
                <a16:creationId xmlns:a16="http://schemas.microsoft.com/office/drawing/2014/main" id="{3A596151-8EFD-90EF-2916-C31AD9BC3864}"/>
              </a:ext>
            </a:extLst>
          </p:cNvPr>
          <p:cNvCxnSpPr>
            <a:cxnSpLocks/>
          </p:cNvCxnSpPr>
          <p:nvPr/>
        </p:nvCxnSpPr>
        <p:spPr bwMode="auto">
          <a:xfrm flipH="1">
            <a:off x="10776048" y="5589023"/>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10" name="直線コネクタ 209">
            <a:extLst>
              <a:ext uri="{FF2B5EF4-FFF2-40B4-BE49-F238E27FC236}">
                <a16:creationId xmlns:a16="http://schemas.microsoft.com/office/drawing/2014/main" id="{10B456A2-2271-0B2B-E322-C87D0291CE42}"/>
              </a:ext>
            </a:extLst>
          </p:cNvPr>
          <p:cNvCxnSpPr>
            <a:cxnSpLocks/>
          </p:cNvCxnSpPr>
          <p:nvPr/>
        </p:nvCxnSpPr>
        <p:spPr bwMode="auto">
          <a:xfrm flipH="1">
            <a:off x="10596047" y="5589023"/>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11" name="直線コネクタ 210">
            <a:extLst>
              <a:ext uri="{FF2B5EF4-FFF2-40B4-BE49-F238E27FC236}">
                <a16:creationId xmlns:a16="http://schemas.microsoft.com/office/drawing/2014/main" id="{B1B00B70-B73B-63DF-E08B-CF17C27613CC}"/>
              </a:ext>
            </a:extLst>
          </p:cNvPr>
          <p:cNvCxnSpPr>
            <a:cxnSpLocks/>
          </p:cNvCxnSpPr>
          <p:nvPr/>
        </p:nvCxnSpPr>
        <p:spPr bwMode="auto">
          <a:xfrm>
            <a:off x="10416048" y="5139019"/>
            <a:ext cx="0" cy="90001"/>
          </a:xfrm>
          <a:prstGeom prst="line">
            <a:avLst/>
          </a:prstGeom>
          <a:noFill/>
          <a:ln w="19050" cap="rnd" cmpd="sng" algn="ctr">
            <a:solidFill>
              <a:schemeClr val="accent5"/>
            </a:solidFill>
            <a:prstDash val="solid"/>
            <a:round/>
            <a:headEnd type="none" w="med" len="med"/>
            <a:tailEnd type="none" w="med" len="med"/>
          </a:ln>
          <a:effectLst/>
        </p:spPr>
      </p:cxnSp>
      <p:cxnSp>
        <p:nvCxnSpPr>
          <p:cNvPr id="215" name="直線コネクタ 214">
            <a:extLst>
              <a:ext uri="{FF2B5EF4-FFF2-40B4-BE49-F238E27FC236}">
                <a16:creationId xmlns:a16="http://schemas.microsoft.com/office/drawing/2014/main" id="{09625A50-6A35-278F-73F5-4635ECCAF1CE}"/>
              </a:ext>
            </a:extLst>
          </p:cNvPr>
          <p:cNvCxnSpPr>
            <a:cxnSpLocks/>
          </p:cNvCxnSpPr>
          <p:nvPr/>
        </p:nvCxnSpPr>
        <p:spPr bwMode="auto">
          <a:xfrm>
            <a:off x="6906009" y="513901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19" name="直線矢印コネクタ 218">
            <a:extLst>
              <a:ext uri="{FF2B5EF4-FFF2-40B4-BE49-F238E27FC236}">
                <a16:creationId xmlns:a16="http://schemas.microsoft.com/office/drawing/2014/main" id="{74881F6C-CEE1-87E3-18E4-E3154CA5B670}"/>
              </a:ext>
            </a:extLst>
          </p:cNvPr>
          <p:cNvCxnSpPr>
            <a:cxnSpLocks/>
          </p:cNvCxnSpPr>
          <p:nvPr/>
        </p:nvCxnSpPr>
        <p:spPr bwMode="auto">
          <a:xfrm flipV="1">
            <a:off x="6636006" y="1808982"/>
            <a:ext cx="0" cy="306003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20" name="正方形/長方形 219">
            <a:extLst>
              <a:ext uri="{FF2B5EF4-FFF2-40B4-BE49-F238E27FC236}">
                <a16:creationId xmlns:a16="http://schemas.microsoft.com/office/drawing/2014/main" id="{B83396CD-2DD7-59AC-3743-9B3A2F965CDD}"/>
              </a:ext>
            </a:extLst>
          </p:cNvPr>
          <p:cNvSpPr/>
          <p:nvPr/>
        </p:nvSpPr>
        <p:spPr bwMode="auto">
          <a:xfrm>
            <a:off x="6636006"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225" name="正方形/長方形 224">
            <a:extLst>
              <a:ext uri="{FF2B5EF4-FFF2-40B4-BE49-F238E27FC236}">
                <a16:creationId xmlns:a16="http://schemas.microsoft.com/office/drawing/2014/main" id="{C4C6B40E-C1F5-1F40-2370-F913BD969163}"/>
              </a:ext>
            </a:extLst>
          </p:cNvPr>
          <p:cNvSpPr/>
          <p:nvPr/>
        </p:nvSpPr>
        <p:spPr bwMode="auto">
          <a:xfrm rot="5400000">
            <a:off x="7266011" y="126897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6" name="正方形/長方形 225">
            <a:extLst>
              <a:ext uri="{FF2B5EF4-FFF2-40B4-BE49-F238E27FC236}">
                <a16:creationId xmlns:a16="http://schemas.microsoft.com/office/drawing/2014/main" id="{55AF84A9-239B-FFAC-2C8C-CD5CE5869C5F}"/>
              </a:ext>
            </a:extLst>
          </p:cNvPr>
          <p:cNvSpPr/>
          <p:nvPr/>
        </p:nvSpPr>
        <p:spPr bwMode="auto">
          <a:xfrm rot="5400000" flipH="1">
            <a:off x="7491013" y="176398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27" name="直線コネクタ 226">
            <a:extLst>
              <a:ext uri="{FF2B5EF4-FFF2-40B4-BE49-F238E27FC236}">
                <a16:creationId xmlns:a16="http://schemas.microsoft.com/office/drawing/2014/main" id="{5024C3EF-F04A-3D53-7043-D66701D686E3}"/>
              </a:ext>
            </a:extLst>
          </p:cNvPr>
          <p:cNvCxnSpPr>
            <a:cxnSpLocks/>
          </p:cNvCxnSpPr>
          <p:nvPr/>
        </p:nvCxnSpPr>
        <p:spPr bwMode="auto">
          <a:xfrm flipH="1">
            <a:off x="7626017" y="162897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28" name="直線コネクタ 227">
            <a:extLst>
              <a:ext uri="{FF2B5EF4-FFF2-40B4-BE49-F238E27FC236}">
                <a16:creationId xmlns:a16="http://schemas.microsoft.com/office/drawing/2014/main" id="{3D8CD2F4-E317-2C3B-7571-5C620A866A2C}"/>
              </a:ext>
            </a:extLst>
          </p:cNvPr>
          <p:cNvCxnSpPr>
            <a:cxnSpLocks/>
          </p:cNvCxnSpPr>
          <p:nvPr/>
        </p:nvCxnSpPr>
        <p:spPr bwMode="auto">
          <a:xfrm flipH="1">
            <a:off x="7446016" y="162897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30" name="正方形/長方形 229">
            <a:extLst>
              <a:ext uri="{FF2B5EF4-FFF2-40B4-BE49-F238E27FC236}">
                <a16:creationId xmlns:a16="http://schemas.microsoft.com/office/drawing/2014/main" id="{7A2C1D6A-81FB-72B9-9519-8A982FA23148}"/>
              </a:ext>
            </a:extLst>
          </p:cNvPr>
          <p:cNvSpPr/>
          <p:nvPr/>
        </p:nvSpPr>
        <p:spPr bwMode="auto">
          <a:xfrm rot="5400000">
            <a:off x="7266012" y="486901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1" name="正方形/長方形 230">
            <a:extLst>
              <a:ext uri="{FF2B5EF4-FFF2-40B4-BE49-F238E27FC236}">
                <a16:creationId xmlns:a16="http://schemas.microsoft.com/office/drawing/2014/main" id="{DEA7C9D5-E261-DC66-AD57-13900CC895BD}"/>
              </a:ext>
            </a:extLst>
          </p:cNvPr>
          <p:cNvSpPr/>
          <p:nvPr/>
        </p:nvSpPr>
        <p:spPr bwMode="auto">
          <a:xfrm rot="5400000" flipH="1">
            <a:off x="7491014" y="536402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32" name="直線コネクタ 231">
            <a:extLst>
              <a:ext uri="{FF2B5EF4-FFF2-40B4-BE49-F238E27FC236}">
                <a16:creationId xmlns:a16="http://schemas.microsoft.com/office/drawing/2014/main" id="{773FC1A8-ED85-009E-21A8-B0685E2FDF00}"/>
              </a:ext>
            </a:extLst>
          </p:cNvPr>
          <p:cNvCxnSpPr>
            <a:cxnSpLocks/>
          </p:cNvCxnSpPr>
          <p:nvPr/>
        </p:nvCxnSpPr>
        <p:spPr bwMode="auto">
          <a:xfrm flipH="1">
            <a:off x="7626018" y="522901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33" name="直線コネクタ 232">
            <a:extLst>
              <a:ext uri="{FF2B5EF4-FFF2-40B4-BE49-F238E27FC236}">
                <a16:creationId xmlns:a16="http://schemas.microsoft.com/office/drawing/2014/main" id="{E3BD5A4A-7781-1036-16C3-DE68FB9AA560}"/>
              </a:ext>
            </a:extLst>
          </p:cNvPr>
          <p:cNvCxnSpPr>
            <a:cxnSpLocks/>
          </p:cNvCxnSpPr>
          <p:nvPr/>
        </p:nvCxnSpPr>
        <p:spPr bwMode="auto">
          <a:xfrm flipH="1">
            <a:off x="7446017" y="522901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36" name="正方形/長方形 235">
            <a:extLst>
              <a:ext uri="{FF2B5EF4-FFF2-40B4-BE49-F238E27FC236}">
                <a16:creationId xmlns:a16="http://schemas.microsoft.com/office/drawing/2014/main" id="{99F1DECC-5A52-3E37-C906-11104C8D4ECE}"/>
              </a:ext>
            </a:extLst>
          </p:cNvPr>
          <p:cNvSpPr/>
          <p:nvPr/>
        </p:nvSpPr>
        <p:spPr bwMode="auto">
          <a:xfrm>
            <a:off x="834602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水量 </a:t>
            </a:r>
            <a:r>
              <a:rPr lang="en-US" altLang="ja-JP" sz="2400" b="1" dirty="0">
                <a:solidFill>
                  <a:schemeClr val="accent5"/>
                </a:solidFill>
              </a:rPr>
              <a:t>Q</a:t>
            </a:r>
            <a:endParaRPr lang="ja-JP" altLang="en-US" sz="2400" b="1" dirty="0">
              <a:solidFill>
                <a:schemeClr val="accent5"/>
              </a:solidFill>
            </a:endParaRPr>
          </a:p>
        </p:txBody>
      </p:sp>
      <p:cxnSp>
        <p:nvCxnSpPr>
          <p:cNvPr id="237" name="直線矢印コネクタ 236">
            <a:extLst>
              <a:ext uri="{FF2B5EF4-FFF2-40B4-BE49-F238E27FC236}">
                <a16:creationId xmlns:a16="http://schemas.microsoft.com/office/drawing/2014/main" id="{7BC1AA68-8B26-BAEB-BF78-948166F2226B}"/>
              </a:ext>
            </a:extLst>
          </p:cNvPr>
          <p:cNvCxnSpPr>
            <a:cxnSpLocks/>
          </p:cNvCxnSpPr>
          <p:nvPr/>
        </p:nvCxnSpPr>
        <p:spPr bwMode="auto">
          <a:xfrm>
            <a:off x="6816008" y="1718981"/>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077357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965943" y="31490"/>
            <a:ext cx="10776052" cy="908972"/>
          </a:xfrm>
        </p:spPr>
        <p:txBody>
          <a:bodyPr/>
          <a:lstStyle/>
          <a:p>
            <a:r>
              <a:rPr lang="ja-JP" altLang="en-US" dirty="0"/>
              <a:t>補足：スイッチの </a:t>
            </a:r>
            <a:r>
              <a:rPr lang="en-US" altLang="ja-JP" dirty="0"/>
              <a:t>ON/OFF </a:t>
            </a:r>
            <a:r>
              <a:rPr lang="ja-JP" altLang="en-US" dirty="0"/>
              <a:t>以外による消費エネルギー</a:t>
            </a:r>
            <a:endParaRPr kumimoji="1" lang="ja-JP" altLang="en-US" dirty="0"/>
          </a:p>
        </p:txBody>
      </p:sp>
      <p:sp>
        <p:nvSpPr>
          <p:cNvPr id="3" name="テキスト プレースホルダー 2"/>
          <p:cNvSpPr>
            <a:spLocks noGrp="1"/>
          </p:cNvSpPr>
          <p:nvPr>
            <p:ph type="body" sz="quarter" idx="10"/>
          </p:nvPr>
        </p:nvSpPr>
        <p:spPr>
          <a:xfrm>
            <a:off x="1775951" y="1088974"/>
            <a:ext cx="9630107" cy="5490061"/>
          </a:xfrm>
        </p:spPr>
        <p:txBody>
          <a:bodyPr/>
          <a:lstStyle/>
          <a:p>
            <a:r>
              <a:rPr lang="ja-JP" altLang="en-US" dirty="0"/>
              <a:t>その他に，リーク電流と呼ばれるものもある</a:t>
            </a:r>
            <a:endParaRPr lang="en-US" altLang="ja-JP" dirty="0"/>
          </a:p>
          <a:p>
            <a:pPr lvl="1"/>
            <a:r>
              <a:rPr lang="ja-JP" altLang="en-US" dirty="0"/>
              <a:t>トランジスタを </a:t>
            </a:r>
            <a:r>
              <a:rPr lang="en-US" altLang="ja-JP" dirty="0"/>
              <a:t>OFF </a:t>
            </a:r>
            <a:r>
              <a:rPr lang="ja-JP" altLang="en-US" dirty="0"/>
              <a:t>にしていても，流れ続けてしまう電流</a:t>
            </a:r>
            <a:endParaRPr lang="en-US" altLang="ja-JP" dirty="0"/>
          </a:p>
          <a:p>
            <a:r>
              <a:rPr lang="ja-JP" altLang="en-US" dirty="0"/>
              <a:t>分類：</a:t>
            </a:r>
            <a:endParaRPr lang="en-US" altLang="ja-JP" dirty="0"/>
          </a:p>
          <a:p>
            <a:pPr lvl="1"/>
            <a:r>
              <a:rPr lang="ja-JP" altLang="en-US" dirty="0"/>
              <a:t>充放電によるもの：動的（</a:t>
            </a:r>
            <a:r>
              <a:rPr lang="en-US" altLang="ja-JP" dirty="0"/>
              <a:t>dynamic</a:t>
            </a:r>
            <a:r>
              <a:rPr lang="ja-JP" altLang="en-US" dirty="0"/>
              <a:t>）消費電力</a:t>
            </a:r>
            <a:endParaRPr lang="en-US" altLang="ja-JP" dirty="0"/>
          </a:p>
          <a:p>
            <a:pPr lvl="1"/>
            <a:r>
              <a:rPr lang="ja-JP" altLang="en-US" dirty="0"/>
              <a:t>リークによるもの：静的（</a:t>
            </a:r>
            <a:r>
              <a:rPr lang="en-US" altLang="ja-JP" dirty="0"/>
              <a:t>static</a:t>
            </a:r>
            <a:r>
              <a:rPr lang="ja-JP" altLang="en-US" dirty="0"/>
              <a:t>）消費電力</a:t>
            </a:r>
            <a:endParaRPr lang="en-US" altLang="ja-JP" dirty="0"/>
          </a:p>
          <a:p>
            <a:r>
              <a:rPr kumimoji="1" lang="ja-JP" altLang="en-US" dirty="0"/>
              <a:t>リークは，栓が完璧ではないのでチロチロ水が漏れているイメージ</a:t>
            </a:r>
            <a:endParaRPr kumimoji="1" lang="en-US" altLang="ja-JP" dirty="0"/>
          </a:p>
        </p:txBody>
      </p:sp>
    </p:spTree>
    <p:extLst>
      <p:ext uri="{BB962C8B-B14F-4D97-AF65-F5344CB8AC3E}">
        <p14:creationId xmlns:p14="http://schemas.microsoft.com/office/powerpoint/2010/main" val="2574529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2E4C17-1332-7F96-5503-74AABD5E0787}"/>
              </a:ext>
            </a:extLst>
          </p:cNvPr>
          <p:cNvSpPr>
            <a:spLocks noGrp="1"/>
          </p:cNvSpPr>
          <p:nvPr>
            <p:ph type="title"/>
          </p:nvPr>
        </p:nvSpPr>
        <p:spPr>
          <a:xfrm>
            <a:off x="875942" y="0"/>
            <a:ext cx="11316058" cy="908972"/>
          </a:xfrm>
        </p:spPr>
        <p:txBody>
          <a:bodyPr/>
          <a:lstStyle/>
          <a:p>
            <a:r>
              <a:rPr kumimoji="1" lang="ja-JP" altLang="en-US" dirty="0"/>
              <a:t>水流システムのアナロジー</a:t>
            </a:r>
            <a:r>
              <a:rPr lang="ja-JP" altLang="en-US" dirty="0"/>
              <a:t>から説明できること</a:t>
            </a:r>
            <a:endParaRPr kumimoji="1" lang="en-US" dirty="0"/>
          </a:p>
        </p:txBody>
      </p:sp>
      <p:sp>
        <p:nvSpPr>
          <p:cNvPr id="3" name="テキスト プレースホルダー 2">
            <a:extLst>
              <a:ext uri="{FF2B5EF4-FFF2-40B4-BE49-F238E27FC236}">
                <a16:creationId xmlns:a16="http://schemas.microsoft.com/office/drawing/2014/main" id="{69D014C6-E436-4CBB-7774-0F62FCB3EA4A}"/>
              </a:ext>
            </a:extLst>
          </p:cNvPr>
          <p:cNvSpPr>
            <a:spLocks noGrp="1"/>
          </p:cNvSpPr>
          <p:nvPr>
            <p:ph type="body" sz="quarter" idx="10"/>
          </p:nvPr>
        </p:nvSpPr>
        <p:spPr>
          <a:xfrm>
            <a:off x="965943" y="1088974"/>
            <a:ext cx="10530117" cy="5490061"/>
          </a:xfrm>
        </p:spPr>
        <p:txBody>
          <a:bodyPr/>
          <a:lstStyle/>
          <a:p>
            <a:r>
              <a:rPr kumimoji="1" lang="ja-JP" altLang="en-US" dirty="0"/>
              <a:t>消費エネルギー：</a:t>
            </a:r>
            <a:endParaRPr kumimoji="1" lang="en-US" altLang="ja-JP" dirty="0"/>
          </a:p>
          <a:p>
            <a:pPr lvl="1"/>
            <a:r>
              <a:rPr kumimoji="1" lang="ja-JP" altLang="en-US" dirty="0"/>
              <a:t>回路：全 </a:t>
            </a:r>
            <a:r>
              <a:rPr kumimoji="1" lang="en-US" altLang="ja-JP" dirty="0"/>
              <a:t>PMOS/NMOS </a:t>
            </a:r>
            <a:r>
              <a:rPr kumimoji="1" lang="ja-JP" altLang="en-US" dirty="0"/>
              <a:t>のコンデンサに溜まる電荷量 </a:t>
            </a:r>
            <a:r>
              <a:rPr kumimoji="1" lang="en-US" altLang="ja-JP" dirty="0"/>
              <a:t>Q </a:t>
            </a:r>
            <a:r>
              <a:rPr kumimoji="1" lang="ja-JP" altLang="en-US" dirty="0"/>
              <a:t>と，電圧 </a:t>
            </a:r>
            <a:r>
              <a:rPr kumimoji="1" lang="en-US" altLang="ja-JP" dirty="0"/>
              <a:t>V </a:t>
            </a:r>
            <a:r>
              <a:rPr kumimoji="1" lang="ja-JP" altLang="en-US" dirty="0"/>
              <a:t>によって決まる</a:t>
            </a:r>
            <a:endParaRPr kumimoji="1" lang="en-US" altLang="ja-JP" dirty="0"/>
          </a:p>
          <a:p>
            <a:pPr lvl="1"/>
            <a:r>
              <a:rPr kumimoji="1" lang="ja-JP" altLang="en-US" dirty="0"/>
              <a:t>水流：全タンクにたまる総水量 </a:t>
            </a:r>
            <a:r>
              <a:rPr kumimoji="1" lang="en-US" altLang="ja-JP" dirty="0"/>
              <a:t>Q </a:t>
            </a:r>
            <a:r>
              <a:rPr kumimoji="1" lang="ja-JP" altLang="en-US" dirty="0"/>
              <a:t>と，高さ </a:t>
            </a:r>
            <a:r>
              <a:rPr kumimoji="1" lang="en-US" altLang="ja-JP" dirty="0"/>
              <a:t>V </a:t>
            </a:r>
            <a:r>
              <a:rPr kumimoji="1" lang="ja-JP" altLang="en-US" dirty="0"/>
              <a:t>によって決まる</a:t>
            </a:r>
            <a:endParaRPr kumimoji="1" lang="en-US" altLang="ja-JP" dirty="0"/>
          </a:p>
          <a:p>
            <a:r>
              <a:rPr kumimoji="1" lang="ja-JP" altLang="en-US" dirty="0">
                <a:solidFill>
                  <a:schemeClr val="accent5"/>
                </a:solidFill>
              </a:rPr>
              <a:t>回路量に比例して</a:t>
            </a:r>
            <a:r>
              <a:rPr lang="ja-JP" altLang="en-US" dirty="0">
                <a:solidFill>
                  <a:schemeClr val="accent5"/>
                </a:solidFill>
              </a:rPr>
              <a:t>消費エネルギーは増える：</a:t>
            </a:r>
            <a:endParaRPr lang="en-US" altLang="ja-JP" dirty="0">
              <a:solidFill>
                <a:schemeClr val="accent5"/>
              </a:solidFill>
            </a:endParaRPr>
          </a:p>
          <a:p>
            <a:pPr lvl="1"/>
            <a:r>
              <a:rPr lang="ja-JP" altLang="en-US" dirty="0"/>
              <a:t>水流：</a:t>
            </a:r>
            <a:r>
              <a:rPr kumimoji="1" lang="ja-JP" altLang="en-US" dirty="0"/>
              <a:t>全タンクに溜まる総水量は</a:t>
            </a:r>
            <a:r>
              <a:rPr lang="ja-JP" altLang="en-US" dirty="0"/>
              <a:t>タンクの数に</a:t>
            </a:r>
            <a:r>
              <a:rPr kumimoji="1" lang="ja-JP" altLang="en-US" dirty="0"/>
              <a:t>比例する</a:t>
            </a:r>
            <a:endParaRPr kumimoji="1" lang="en-US" altLang="ja-JP" dirty="0"/>
          </a:p>
          <a:p>
            <a:r>
              <a:rPr kumimoji="1" lang="ja-JP" altLang="en-US" dirty="0">
                <a:solidFill>
                  <a:schemeClr val="accent5"/>
                </a:solidFill>
              </a:rPr>
              <a:t>配線も電力を消費する：</a:t>
            </a:r>
            <a:endParaRPr kumimoji="1" lang="en-US" altLang="ja-JP" dirty="0">
              <a:solidFill>
                <a:schemeClr val="accent5"/>
              </a:solidFill>
            </a:endParaRPr>
          </a:p>
          <a:p>
            <a:pPr lvl="1"/>
            <a:r>
              <a:rPr kumimoji="1" lang="ja-JP" altLang="en-US" dirty="0"/>
              <a:t>回路：配線が持つ寄生容量に充放電が起きる</a:t>
            </a:r>
            <a:endParaRPr kumimoji="1" lang="en-US" altLang="ja-JP" dirty="0"/>
          </a:p>
          <a:p>
            <a:pPr lvl="1"/>
            <a:r>
              <a:rPr lang="ja-JP" altLang="en-US" dirty="0"/>
              <a:t>水流</a:t>
            </a:r>
            <a:r>
              <a:rPr kumimoji="1" lang="ja-JP" altLang="en-US" dirty="0"/>
              <a:t>：パイプにも水は多少溜まる</a:t>
            </a:r>
            <a:endParaRPr kumimoji="1" lang="en-US" altLang="ja-JP" dirty="0"/>
          </a:p>
          <a:p>
            <a:r>
              <a:rPr kumimoji="1" lang="ja-JP" altLang="en-US" dirty="0">
                <a:solidFill>
                  <a:schemeClr val="accent5"/>
                </a:solidFill>
              </a:rPr>
              <a:t>半導体化が微細化すると電力や速度も向上する：</a:t>
            </a:r>
            <a:endParaRPr kumimoji="1" lang="en-US" altLang="ja-JP" dirty="0">
              <a:solidFill>
                <a:schemeClr val="accent5"/>
              </a:solidFill>
            </a:endParaRPr>
          </a:p>
          <a:p>
            <a:pPr lvl="1"/>
            <a:r>
              <a:rPr kumimoji="1" lang="ja-JP" altLang="en-US" dirty="0"/>
              <a:t>回路：コンデンサに電荷をためる量と時間が減る</a:t>
            </a:r>
            <a:endParaRPr kumimoji="1" lang="en-US" altLang="ja-JP" dirty="0"/>
          </a:p>
          <a:p>
            <a:pPr lvl="1"/>
            <a:r>
              <a:rPr lang="ja-JP" altLang="en-US" dirty="0"/>
              <a:t>水流：タンクが小さくなるので，水が貯まる時間と量が減る</a:t>
            </a:r>
            <a:endParaRPr kumimoji="1" lang="en-US" dirty="0"/>
          </a:p>
        </p:txBody>
      </p:sp>
    </p:spTree>
    <p:extLst>
      <p:ext uri="{BB962C8B-B14F-4D97-AF65-F5344CB8AC3E}">
        <p14:creationId xmlns:p14="http://schemas.microsoft.com/office/powerpoint/2010/main" val="21379173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26C3D9B-5970-34E6-5782-0B025AF76A64}"/>
              </a:ext>
            </a:extLst>
          </p:cNvPr>
          <p:cNvSpPr>
            <a:spLocks noGrp="1"/>
          </p:cNvSpPr>
          <p:nvPr>
            <p:ph type="title"/>
          </p:nvPr>
        </p:nvSpPr>
        <p:spPr/>
        <p:txBody>
          <a:bodyPr/>
          <a:lstStyle/>
          <a:p>
            <a:r>
              <a:rPr kumimoji="1" lang="ja-JP" altLang="en-US" dirty="0"/>
              <a:t>まとめ：一番下から積み上げて一番上までいけた</a:t>
            </a:r>
            <a:br>
              <a:rPr kumimoji="1" lang="en-US" altLang="ja-JP" dirty="0"/>
            </a:br>
            <a:r>
              <a:rPr lang="ja-JP" altLang="en-US" sz="1800" dirty="0"/>
              <a:t>一番下がすげ変わっても，上は同様に作れる</a:t>
            </a:r>
            <a:endParaRPr lang="en-US" sz="1800" dirty="0"/>
          </a:p>
        </p:txBody>
      </p:sp>
      <p:sp>
        <p:nvSpPr>
          <p:cNvPr id="4" name="角丸四角形 3">
            <a:extLst>
              <a:ext uri="{FF2B5EF4-FFF2-40B4-BE49-F238E27FC236}">
                <a16:creationId xmlns:a16="http://schemas.microsoft.com/office/drawing/2014/main" id="{CBE6FE98-C297-E057-1B7A-C7F1715E0C3F}"/>
              </a:ext>
            </a:extLst>
          </p:cNvPr>
          <p:cNvSpPr/>
          <p:nvPr/>
        </p:nvSpPr>
        <p:spPr bwMode="auto">
          <a:xfrm>
            <a:off x="3575648" y="2438990"/>
            <a:ext cx="5220058" cy="99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600" b="1" dirty="0">
                <a:solidFill>
                  <a:schemeClr val="bg1"/>
                </a:solidFill>
              </a:rPr>
              <a:t>システム・ソフトウェア</a:t>
            </a:r>
            <a:endParaRPr lang="en-US" altLang="ja-JP" sz="1600" b="1" dirty="0">
              <a:solidFill>
                <a:schemeClr val="bg1"/>
              </a:solidFill>
            </a:endParaRPr>
          </a:p>
          <a:p>
            <a:pPr algn="ctr"/>
            <a:r>
              <a:rPr lang="en-US" altLang="ja-JP" sz="1600" b="1" dirty="0">
                <a:solidFill>
                  <a:schemeClr val="bg1"/>
                </a:solidFill>
              </a:rPr>
              <a:t>OS / </a:t>
            </a:r>
            <a:r>
              <a:rPr lang="ja-JP" altLang="en-US" sz="1600" b="1" dirty="0">
                <a:solidFill>
                  <a:schemeClr val="bg1"/>
                </a:solidFill>
              </a:rPr>
              <a:t>コンパイラ </a:t>
            </a:r>
            <a:r>
              <a:rPr lang="en-US" altLang="ja-JP" sz="1600" b="1" dirty="0">
                <a:solidFill>
                  <a:schemeClr val="bg1"/>
                </a:solidFill>
              </a:rPr>
              <a:t>/ </a:t>
            </a:r>
            <a:r>
              <a:rPr lang="ja-JP" altLang="en-US" sz="1600" b="1" dirty="0">
                <a:solidFill>
                  <a:schemeClr val="bg1"/>
                </a:solidFill>
              </a:rPr>
              <a:t>インタプリタ</a:t>
            </a:r>
          </a:p>
        </p:txBody>
      </p:sp>
      <p:sp>
        <p:nvSpPr>
          <p:cNvPr id="5" name="角丸四角形 4">
            <a:extLst>
              <a:ext uri="{FF2B5EF4-FFF2-40B4-BE49-F238E27FC236}">
                <a16:creationId xmlns:a16="http://schemas.microsoft.com/office/drawing/2014/main" id="{A0E66338-818E-3CB7-53E7-E05AF59F569B}"/>
              </a:ext>
            </a:extLst>
          </p:cNvPr>
          <p:cNvSpPr/>
          <p:nvPr/>
        </p:nvSpPr>
        <p:spPr bwMode="auto">
          <a:xfrm>
            <a:off x="3575972" y="3609003"/>
            <a:ext cx="5220058" cy="990011"/>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000" b="1" dirty="0">
                <a:solidFill>
                  <a:schemeClr val="bg1"/>
                </a:solidFill>
              </a:rPr>
              <a:t>（狭義の）コンピュータ・アーキテクチャ</a:t>
            </a:r>
          </a:p>
        </p:txBody>
      </p:sp>
      <p:sp>
        <p:nvSpPr>
          <p:cNvPr id="6" name="角丸四角形 5">
            <a:extLst>
              <a:ext uri="{FF2B5EF4-FFF2-40B4-BE49-F238E27FC236}">
                <a16:creationId xmlns:a16="http://schemas.microsoft.com/office/drawing/2014/main" id="{6A262420-D2BF-6D72-B0BE-2D3E87357796}"/>
              </a:ext>
            </a:extLst>
          </p:cNvPr>
          <p:cNvSpPr/>
          <p:nvPr/>
        </p:nvSpPr>
        <p:spPr bwMode="auto">
          <a:xfrm>
            <a:off x="3575972" y="1268977"/>
            <a:ext cx="5220058" cy="990011"/>
          </a:xfrm>
          <a:prstGeom prst="roundRect">
            <a:avLst/>
          </a:prstGeom>
          <a:solidFill>
            <a:schemeClr val="accent5"/>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600" dirty="0">
                <a:solidFill>
                  <a:schemeClr val="bg1"/>
                </a:solidFill>
              </a:rPr>
              <a:t>アプリケーション・ソフトウェア</a:t>
            </a:r>
            <a:endParaRPr lang="en-US" altLang="ja-JP" sz="1600" dirty="0">
              <a:solidFill>
                <a:schemeClr val="bg1"/>
              </a:solidFill>
            </a:endParaRPr>
          </a:p>
          <a:p>
            <a:pPr algn="ctr"/>
            <a:r>
              <a:rPr lang="ja-JP" altLang="en-US" sz="1600" dirty="0">
                <a:solidFill>
                  <a:schemeClr val="bg1"/>
                </a:solidFill>
              </a:rPr>
              <a:t>画像処理 </a:t>
            </a:r>
            <a:r>
              <a:rPr lang="en-US" altLang="ja-JP" sz="1600" dirty="0">
                <a:solidFill>
                  <a:schemeClr val="bg1"/>
                </a:solidFill>
              </a:rPr>
              <a:t>/ </a:t>
            </a:r>
            <a:r>
              <a:rPr lang="ja-JP" altLang="en-US" sz="1600" dirty="0">
                <a:solidFill>
                  <a:schemeClr val="bg1"/>
                </a:solidFill>
              </a:rPr>
              <a:t>音声認識 </a:t>
            </a:r>
            <a:r>
              <a:rPr lang="en-US" altLang="ja-JP" sz="1600" dirty="0">
                <a:solidFill>
                  <a:schemeClr val="bg1"/>
                </a:solidFill>
              </a:rPr>
              <a:t>/ </a:t>
            </a:r>
            <a:r>
              <a:rPr lang="ja-JP" altLang="en-US" sz="1600" dirty="0">
                <a:solidFill>
                  <a:schemeClr val="bg1"/>
                </a:solidFill>
              </a:rPr>
              <a:t>言語処理 </a:t>
            </a:r>
            <a:r>
              <a:rPr lang="en-US" altLang="ja-JP" sz="1600" dirty="0">
                <a:solidFill>
                  <a:schemeClr val="bg1"/>
                </a:solidFill>
              </a:rPr>
              <a:t>/ </a:t>
            </a:r>
            <a:r>
              <a:rPr lang="ja-JP" altLang="en-US" sz="1600" dirty="0">
                <a:solidFill>
                  <a:schemeClr val="bg1"/>
                </a:solidFill>
              </a:rPr>
              <a:t>機械制御 </a:t>
            </a:r>
            <a:endParaRPr lang="en-US" altLang="ja-JP" sz="1600" dirty="0">
              <a:solidFill>
                <a:schemeClr val="bg1"/>
              </a:solidFill>
            </a:endParaRPr>
          </a:p>
          <a:p>
            <a:pPr algn="ctr"/>
            <a:r>
              <a:rPr lang="ja-JP" altLang="en-US" sz="1600" dirty="0">
                <a:solidFill>
                  <a:schemeClr val="bg1"/>
                </a:solidFill>
              </a:rPr>
              <a:t>機械学習 </a:t>
            </a:r>
            <a:r>
              <a:rPr lang="en-US" altLang="ja-JP" sz="1600" dirty="0">
                <a:solidFill>
                  <a:schemeClr val="bg1"/>
                </a:solidFill>
              </a:rPr>
              <a:t>/ AI / WEB </a:t>
            </a:r>
            <a:r>
              <a:rPr lang="ja-JP" altLang="en-US" sz="1600" dirty="0">
                <a:solidFill>
                  <a:schemeClr val="bg1"/>
                </a:solidFill>
              </a:rPr>
              <a:t>サービス </a:t>
            </a:r>
            <a:r>
              <a:rPr lang="en-US" altLang="ja-JP" sz="1600" dirty="0">
                <a:solidFill>
                  <a:schemeClr val="bg1"/>
                </a:solidFill>
              </a:rPr>
              <a:t>/ </a:t>
            </a:r>
            <a:r>
              <a:rPr lang="ja-JP" altLang="en-US" sz="1600" dirty="0">
                <a:solidFill>
                  <a:schemeClr val="bg1"/>
                </a:solidFill>
              </a:rPr>
              <a:t>暗号　</a:t>
            </a:r>
            <a:r>
              <a:rPr lang="en-US" altLang="ja-JP" sz="1600" dirty="0">
                <a:solidFill>
                  <a:schemeClr val="bg1"/>
                </a:solidFill>
              </a:rPr>
              <a:t>…</a:t>
            </a:r>
          </a:p>
        </p:txBody>
      </p:sp>
      <p:sp>
        <p:nvSpPr>
          <p:cNvPr id="7" name="角丸四角形 6">
            <a:extLst>
              <a:ext uri="{FF2B5EF4-FFF2-40B4-BE49-F238E27FC236}">
                <a16:creationId xmlns:a16="http://schemas.microsoft.com/office/drawing/2014/main" id="{70258B8C-4338-41DB-390C-958B3A3FC595}"/>
              </a:ext>
            </a:extLst>
          </p:cNvPr>
          <p:cNvSpPr/>
          <p:nvPr/>
        </p:nvSpPr>
        <p:spPr bwMode="auto">
          <a:xfrm>
            <a:off x="3575972" y="4779015"/>
            <a:ext cx="5220058" cy="900010"/>
          </a:xfrm>
          <a:prstGeom prst="roundRect">
            <a:avLst/>
          </a:prstGeom>
          <a:solidFill>
            <a:schemeClr val="accent1"/>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b="1" dirty="0">
                <a:solidFill>
                  <a:schemeClr val="bg1"/>
                </a:solidFill>
              </a:rPr>
              <a:t>論理回路</a:t>
            </a:r>
          </a:p>
        </p:txBody>
      </p:sp>
      <p:sp>
        <p:nvSpPr>
          <p:cNvPr id="8" name="角丸四角形 7">
            <a:extLst>
              <a:ext uri="{FF2B5EF4-FFF2-40B4-BE49-F238E27FC236}">
                <a16:creationId xmlns:a16="http://schemas.microsoft.com/office/drawing/2014/main" id="{B7D55A94-3119-9A7A-2BC7-94B9A9642658}"/>
              </a:ext>
            </a:extLst>
          </p:cNvPr>
          <p:cNvSpPr/>
          <p:nvPr/>
        </p:nvSpPr>
        <p:spPr bwMode="auto">
          <a:xfrm>
            <a:off x="3575972" y="5859027"/>
            <a:ext cx="5220058" cy="900010"/>
          </a:xfrm>
          <a:prstGeom prst="roundRect">
            <a:avLst/>
          </a:prstGeom>
          <a:solidFill>
            <a:schemeClr val="accent4"/>
          </a:solidFill>
          <a:ln>
            <a:noFill/>
            <a:headEnd/>
            <a:tailEnd type="triangle" w="sm" len="med"/>
          </a:ln>
          <a:effectLst>
            <a:reflection stA="45000" endPos="0" dist="50800" dir="5400000" sy="-100000" algn="bl" rotWithShape="0"/>
          </a:effectLst>
        </p:spPr>
        <p:style>
          <a:lnRef idx="2">
            <a:schemeClr val="dk1"/>
          </a:lnRef>
          <a:fillRef idx="1">
            <a:schemeClr val="lt1"/>
          </a:fillRef>
          <a:effectRef idx="0">
            <a:schemeClr val="dk1"/>
          </a:effectRef>
          <a:fontRef idx="minor">
            <a:schemeClr val="dk1"/>
          </a:fontRef>
        </p:style>
        <p:txBody>
          <a:bodyPr rtlCol="0" anchor="ctr"/>
          <a:lstStyle/>
          <a:p>
            <a:pPr algn="ctr"/>
            <a:r>
              <a:rPr lang="en-US" altLang="ja-JP" dirty="0">
                <a:solidFill>
                  <a:schemeClr val="bg1"/>
                </a:solidFill>
              </a:rPr>
              <a:t>CMOS/</a:t>
            </a:r>
            <a:r>
              <a:rPr lang="ja-JP" altLang="en-US" dirty="0">
                <a:solidFill>
                  <a:schemeClr val="bg1"/>
                </a:solidFill>
              </a:rPr>
              <a:t>リレー</a:t>
            </a:r>
            <a:r>
              <a:rPr lang="en-US" altLang="ja-JP" dirty="0">
                <a:solidFill>
                  <a:schemeClr val="bg1"/>
                </a:solidFill>
              </a:rPr>
              <a:t>/</a:t>
            </a:r>
            <a:r>
              <a:rPr lang="ja-JP" altLang="en-US" dirty="0">
                <a:solidFill>
                  <a:schemeClr val="bg1"/>
                </a:solidFill>
              </a:rPr>
              <a:t>真空管</a:t>
            </a:r>
            <a:r>
              <a:rPr lang="en-US" altLang="ja-JP" dirty="0">
                <a:solidFill>
                  <a:schemeClr val="bg1"/>
                </a:solidFill>
              </a:rPr>
              <a:t>/</a:t>
            </a:r>
            <a:r>
              <a:rPr lang="ja-JP" altLang="en-US" dirty="0">
                <a:solidFill>
                  <a:schemeClr val="bg1"/>
                </a:solidFill>
              </a:rPr>
              <a:t>レッドストーン </a:t>
            </a:r>
            <a:r>
              <a:rPr lang="en-US" altLang="ja-JP" dirty="0">
                <a:solidFill>
                  <a:schemeClr val="bg1"/>
                </a:solidFill>
              </a:rPr>
              <a:t>etc...</a:t>
            </a:r>
            <a:endParaRPr lang="ja-JP" altLang="en-US" dirty="0">
              <a:solidFill>
                <a:schemeClr val="bg1"/>
              </a:solidFill>
            </a:endParaRPr>
          </a:p>
        </p:txBody>
      </p:sp>
      <p:cxnSp>
        <p:nvCxnSpPr>
          <p:cNvPr id="10" name="直線コネクタ 9">
            <a:extLst>
              <a:ext uri="{FF2B5EF4-FFF2-40B4-BE49-F238E27FC236}">
                <a16:creationId xmlns:a16="http://schemas.microsoft.com/office/drawing/2014/main" id="{0342EED4-0B72-814D-2308-B15092CDB1B5}"/>
              </a:ext>
            </a:extLst>
          </p:cNvPr>
          <p:cNvCxnSpPr/>
          <p:nvPr/>
        </p:nvCxnSpPr>
        <p:spPr bwMode="auto">
          <a:xfrm>
            <a:off x="3215969" y="5769026"/>
            <a:ext cx="6030067" cy="0"/>
          </a:xfrm>
          <a:prstGeom prst="line">
            <a:avLst/>
          </a:prstGeom>
          <a:noFill/>
          <a:ln w="9525" cap="flat" cmpd="sng" algn="ctr">
            <a:solidFill>
              <a:schemeClr val="tx1"/>
            </a:solidFill>
            <a:prstDash val="solid"/>
            <a:round/>
            <a:headEnd type="none" w="med" len="med"/>
            <a:tailEnd type="none" w="med" len="med"/>
          </a:ln>
          <a:effectLst/>
        </p:spPr>
      </p:cxnSp>
    </p:spTree>
    <p:extLst>
      <p:ext uri="{BB962C8B-B14F-4D97-AF65-F5344CB8AC3E}">
        <p14:creationId xmlns:p14="http://schemas.microsoft.com/office/powerpoint/2010/main" val="578996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4D02C9-F3B0-33E6-BAC5-EB8AABC2FAB6}"/>
              </a:ext>
            </a:extLst>
          </p:cNvPr>
          <p:cNvSpPr>
            <a:spLocks noGrp="1"/>
          </p:cNvSpPr>
          <p:nvPr>
            <p:ph type="title"/>
          </p:nvPr>
        </p:nvSpPr>
        <p:spPr/>
        <p:txBody>
          <a:bodyPr/>
          <a:lstStyle/>
          <a:p>
            <a:r>
              <a:rPr kumimoji="1" lang="ja-JP" altLang="en-US" dirty="0"/>
              <a:t>リレーや真空管と比較した </a:t>
            </a:r>
            <a:r>
              <a:rPr kumimoji="1" lang="en-US" altLang="ja-JP" dirty="0"/>
              <a:t>CMOS </a:t>
            </a:r>
            <a:r>
              <a:rPr kumimoji="1" lang="ja-JP" altLang="en-US" dirty="0"/>
              <a:t>の利点</a:t>
            </a:r>
            <a:endParaRPr kumimoji="1" lang="en-US" dirty="0"/>
          </a:p>
        </p:txBody>
      </p:sp>
      <p:sp>
        <p:nvSpPr>
          <p:cNvPr id="3" name="コンテンツ プレースホルダー 2">
            <a:extLst>
              <a:ext uri="{FF2B5EF4-FFF2-40B4-BE49-F238E27FC236}">
                <a16:creationId xmlns:a16="http://schemas.microsoft.com/office/drawing/2014/main" id="{301380EF-78A2-28F0-E3C7-2F0C4819691D}"/>
              </a:ext>
            </a:extLst>
          </p:cNvPr>
          <p:cNvSpPr>
            <a:spLocks noGrp="1"/>
          </p:cNvSpPr>
          <p:nvPr>
            <p:ph type="body" sz="quarter" idx="10"/>
          </p:nvPr>
        </p:nvSpPr>
        <p:spPr/>
        <p:txBody>
          <a:bodyPr/>
          <a:lstStyle/>
          <a:p>
            <a:r>
              <a:rPr kumimoji="1" lang="ja-JP" altLang="en-US" dirty="0"/>
              <a:t>超小さい：</a:t>
            </a:r>
            <a:r>
              <a:rPr kumimoji="1" lang="en-US" altLang="ja-JP" dirty="0"/>
              <a:t>CMOS </a:t>
            </a:r>
            <a:r>
              <a:rPr kumimoji="1" lang="ja-JP" altLang="en-US" dirty="0"/>
              <a:t>はナノメータ単位ぐらいの大きさで作れる</a:t>
            </a:r>
            <a:endParaRPr kumimoji="1" lang="en-US" altLang="ja-JP" dirty="0"/>
          </a:p>
          <a:p>
            <a:pPr lvl="1"/>
            <a:r>
              <a:rPr kumimoji="1" lang="ja-JP" altLang="en-US" dirty="0"/>
              <a:t>リレーや真空管は頑張っても数 </a:t>
            </a:r>
            <a:r>
              <a:rPr kumimoji="1" lang="en-US" altLang="ja-JP" dirty="0"/>
              <a:t>cm </a:t>
            </a:r>
            <a:r>
              <a:rPr kumimoji="1" lang="ja-JP" altLang="en-US" dirty="0"/>
              <a:t>ぐらい</a:t>
            </a:r>
            <a:endParaRPr kumimoji="1" lang="en-US" altLang="ja-JP" dirty="0"/>
          </a:p>
          <a:p>
            <a:r>
              <a:rPr kumimoji="1" lang="ja-JP" altLang="en-US" dirty="0"/>
              <a:t>超速い：</a:t>
            </a:r>
            <a:r>
              <a:rPr kumimoji="1" lang="en-US" altLang="ja-JP" dirty="0"/>
              <a:t>CMOS </a:t>
            </a:r>
            <a:r>
              <a:rPr kumimoji="1" lang="ja-JP" altLang="en-US" dirty="0"/>
              <a:t>はナノ秒以下で </a:t>
            </a:r>
            <a:r>
              <a:rPr kumimoji="1" lang="en-US" altLang="ja-JP" dirty="0"/>
              <a:t>ON/OFF </a:t>
            </a:r>
            <a:r>
              <a:rPr kumimoji="1" lang="ja-JP" altLang="en-US" dirty="0"/>
              <a:t>できる</a:t>
            </a:r>
            <a:endParaRPr kumimoji="1" lang="en-US" altLang="ja-JP" dirty="0"/>
          </a:p>
          <a:p>
            <a:pPr lvl="1"/>
            <a:r>
              <a:rPr kumimoji="1" lang="ja-JP" altLang="en-US" dirty="0"/>
              <a:t>リレーは物理的に動くので，ミリ秒ぐらいはかかる</a:t>
            </a:r>
            <a:endParaRPr kumimoji="1" lang="en-US" altLang="ja-JP" dirty="0"/>
          </a:p>
          <a:p>
            <a:pPr lvl="1"/>
            <a:r>
              <a:rPr kumimoji="1" lang="ja-JP" altLang="en-US" dirty="0"/>
              <a:t>リレーよりマシだが電子の移動距離が長いので遅い</a:t>
            </a:r>
            <a:endParaRPr kumimoji="1" lang="en-US" altLang="ja-JP" dirty="0"/>
          </a:p>
        </p:txBody>
      </p:sp>
    </p:spTree>
    <p:extLst>
      <p:ext uri="{BB962C8B-B14F-4D97-AF65-F5344CB8AC3E}">
        <p14:creationId xmlns:p14="http://schemas.microsoft.com/office/powerpoint/2010/main" val="35179696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4D02C9-F3B0-33E6-BAC5-EB8AABC2FAB6}"/>
              </a:ext>
            </a:extLst>
          </p:cNvPr>
          <p:cNvSpPr>
            <a:spLocks noGrp="1"/>
          </p:cNvSpPr>
          <p:nvPr>
            <p:ph type="title"/>
          </p:nvPr>
        </p:nvSpPr>
        <p:spPr/>
        <p:txBody>
          <a:bodyPr/>
          <a:lstStyle/>
          <a:p>
            <a:r>
              <a:rPr kumimoji="1" lang="ja-JP" altLang="en-US" dirty="0"/>
              <a:t>リレーや真空管と比較した </a:t>
            </a:r>
            <a:r>
              <a:rPr kumimoji="1" lang="en-US" altLang="ja-JP" dirty="0"/>
              <a:t>CMOS </a:t>
            </a:r>
            <a:r>
              <a:rPr kumimoji="1" lang="ja-JP" altLang="en-US" dirty="0"/>
              <a:t>の利点２</a:t>
            </a:r>
            <a:endParaRPr kumimoji="1" lang="en-US" dirty="0"/>
          </a:p>
        </p:txBody>
      </p:sp>
      <p:sp>
        <p:nvSpPr>
          <p:cNvPr id="3" name="コンテンツ プレースホルダー 2">
            <a:extLst>
              <a:ext uri="{FF2B5EF4-FFF2-40B4-BE49-F238E27FC236}">
                <a16:creationId xmlns:a16="http://schemas.microsoft.com/office/drawing/2014/main" id="{301380EF-78A2-28F0-E3C7-2F0C4819691D}"/>
              </a:ext>
            </a:extLst>
          </p:cNvPr>
          <p:cNvSpPr>
            <a:spLocks noGrp="1"/>
          </p:cNvSpPr>
          <p:nvPr>
            <p:ph type="body" sz="quarter" idx="10"/>
          </p:nvPr>
        </p:nvSpPr>
        <p:spPr/>
        <p:txBody>
          <a:bodyPr/>
          <a:lstStyle/>
          <a:p>
            <a:r>
              <a:rPr kumimoji="1" lang="ja-JP" altLang="en-US" dirty="0"/>
              <a:t>超省電力</a:t>
            </a:r>
            <a:endParaRPr kumimoji="1" lang="en-US" altLang="ja-JP" dirty="0"/>
          </a:p>
          <a:p>
            <a:pPr lvl="1"/>
            <a:r>
              <a:rPr kumimoji="1" lang="ja-JP" altLang="en-US" dirty="0"/>
              <a:t>リレーは物理的に動くので結構電気を食う</a:t>
            </a:r>
            <a:endParaRPr kumimoji="1" lang="en-US" altLang="ja-JP" dirty="0"/>
          </a:p>
          <a:p>
            <a:pPr lvl="1"/>
            <a:r>
              <a:rPr kumimoji="1" lang="ja-JP" altLang="en-US" dirty="0"/>
              <a:t>真空管は常に暖め続けるのでめっちゃ電気を食う</a:t>
            </a:r>
            <a:endParaRPr kumimoji="1" lang="en-US" altLang="ja-JP" dirty="0"/>
          </a:p>
          <a:p>
            <a:r>
              <a:rPr kumimoji="1" lang="ja-JP" altLang="en-US" dirty="0"/>
              <a:t>壊れない：</a:t>
            </a:r>
            <a:endParaRPr kumimoji="1" lang="en-US" altLang="ja-JP" dirty="0"/>
          </a:p>
          <a:p>
            <a:pPr lvl="1"/>
            <a:r>
              <a:rPr kumimoji="1" lang="ja-JP" altLang="en-US" dirty="0"/>
              <a:t>リレーは物理的に動くので，バネとか劣化するし，かなり壊れる</a:t>
            </a:r>
            <a:endParaRPr kumimoji="1" lang="en-US" altLang="ja-JP" dirty="0"/>
          </a:p>
          <a:p>
            <a:pPr lvl="1"/>
            <a:r>
              <a:rPr kumimoji="1" lang="ja-JP" altLang="en-US" dirty="0"/>
              <a:t>真空管はフィラメントがそのうち焼き切れるし，ガラスが割れる</a:t>
            </a:r>
            <a:endParaRPr kumimoji="1" lang="en-US" dirty="0"/>
          </a:p>
        </p:txBody>
      </p:sp>
    </p:spTree>
    <p:extLst>
      <p:ext uri="{BB962C8B-B14F-4D97-AF65-F5344CB8AC3E}">
        <p14:creationId xmlns:p14="http://schemas.microsoft.com/office/powerpoint/2010/main" val="3933438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論理回路の実現方法</a:t>
            </a:r>
            <a:endParaRPr lang="en-US" altLang="ja-JP" dirty="0"/>
          </a:p>
          <a:p>
            <a:pPr lvl="1"/>
            <a:r>
              <a:rPr lang="ja-JP" altLang="en-US" dirty="0"/>
              <a:t>リレー</a:t>
            </a:r>
            <a:endParaRPr lang="en-US" altLang="ja-JP" dirty="0"/>
          </a:p>
          <a:p>
            <a:pPr lvl="1"/>
            <a:r>
              <a:rPr lang="en-US" altLang="ja-JP" dirty="0"/>
              <a:t>CMOS</a:t>
            </a:r>
          </a:p>
          <a:p>
            <a:r>
              <a:rPr lang="ja-JP" altLang="en-US" dirty="0"/>
              <a:t>論理回路の遅延と消費エネルギー</a:t>
            </a:r>
            <a:endParaRPr lang="en-US" altLang="ja-JP" dirty="0"/>
          </a:p>
          <a:p>
            <a:pPr lvl="1"/>
            <a:r>
              <a:rPr lang="en-US" altLang="ja-JP" dirty="0"/>
              <a:t>CMOS </a:t>
            </a:r>
            <a:r>
              <a:rPr lang="ja-JP" altLang="en-US" dirty="0"/>
              <a:t>の場合，充放電にかかる時間とエネルギー</a:t>
            </a:r>
          </a:p>
        </p:txBody>
      </p:sp>
    </p:spTree>
    <p:extLst>
      <p:ext uri="{BB962C8B-B14F-4D97-AF65-F5344CB8AC3E}">
        <p14:creationId xmlns:p14="http://schemas.microsoft.com/office/powerpoint/2010/main" val="15507978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課題 </a:t>
            </a:r>
            <a:r>
              <a:rPr kumimoji="1" lang="en-US" altLang="ja-JP" dirty="0"/>
              <a:t>4</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a:xfrm>
            <a:off x="2135956" y="1088975"/>
            <a:ext cx="8280092" cy="3510039"/>
          </a:xfrm>
        </p:spPr>
        <p:txBody>
          <a:bodyPr/>
          <a:lstStyle/>
          <a:p>
            <a:r>
              <a:rPr kumimoji="1" lang="ja-JP" altLang="en-US" dirty="0"/>
              <a:t>１０から</a:t>
            </a:r>
            <a:r>
              <a:rPr lang="ja-JP" altLang="en-US" dirty="0"/>
              <a:t>３まで１</a:t>
            </a:r>
            <a:r>
              <a:rPr kumimoji="1" lang="ja-JP" altLang="en-US" dirty="0"/>
              <a:t>づつ下りながら数える以下のループをアセンブリ言語で書け</a:t>
            </a:r>
            <a:endParaRPr kumimoji="1" lang="en-US" altLang="ja-JP" dirty="0"/>
          </a:p>
          <a:p>
            <a:pPr lvl="1"/>
            <a:r>
              <a:rPr kumimoji="1" lang="ja-JP" altLang="en-US" dirty="0"/>
              <a:t>使用する命令セットは第２回の講義資料のものに準じる</a:t>
            </a:r>
            <a:endParaRPr kumimoji="1" lang="en-US" altLang="ja-JP" dirty="0"/>
          </a:p>
          <a:p>
            <a:r>
              <a:rPr lang="ja-JP" altLang="en-US" dirty="0"/>
              <a:t>ヒント：</a:t>
            </a:r>
            <a:endParaRPr lang="en-US" altLang="ja-JP" dirty="0"/>
          </a:p>
          <a:p>
            <a:pPr lvl="1"/>
            <a:r>
              <a:rPr lang="ja-JP" altLang="en-US" dirty="0"/>
              <a:t>減算には </a:t>
            </a:r>
            <a:r>
              <a:rPr lang="en-US" dirty="0"/>
              <a:t>add </a:t>
            </a:r>
            <a:r>
              <a:rPr lang="ja-JP" altLang="en-US" dirty="0"/>
              <a:t>の代わりに </a:t>
            </a:r>
            <a:r>
              <a:rPr lang="en-US" altLang="ja-JP" dirty="0"/>
              <a:t>sub </a:t>
            </a:r>
            <a:r>
              <a:rPr lang="ja-JP" altLang="en-US" dirty="0"/>
              <a:t>を使う</a:t>
            </a:r>
            <a:endParaRPr lang="en-US" altLang="ja-JP" dirty="0"/>
          </a:p>
          <a:p>
            <a:pPr lvl="1"/>
            <a:r>
              <a:rPr lang="ja-JP" altLang="en-US" dirty="0"/>
              <a:t>初期値は </a:t>
            </a:r>
            <a:r>
              <a:rPr lang="en-US" altLang="ja-JP" dirty="0"/>
              <a:t>li </a:t>
            </a:r>
            <a:r>
              <a:rPr lang="ja-JP" altLang="en-US" dirty="0"/>
              <a:t>命令で設定</a:t>
            </a:r>
            <a:endParaRPr lang="en-US" altLang="ja-JP" dirty="0"/>
          </a:p>
          <a:p>
            <a:pPr lvl="1"/>
            <a:r>
              <a:rPr kumimoji="1" lang="ja-JP" altLang="en-US" dirty="0"/>
              <a:t>講義中の </a:t>
            </a:r>
            <a:r>
              <a:rPr kumimoji="1" lang="en-US" altLang="ja-JP" dirty="0"/>
              <a:t>for </a:t>
            </a:r>
            <a:r>
              <a:rPr kumimoji="1" lang="ja-JP" altLang="en-US" dirty="0"/>
              <a:t>文の例のようにメモリ上に </a:t>
            </a:r>
            <a:r>
              <a:rPr kumimoji="1" lang="en-US" altLang="ja-JP" dirty="0"/>
              <a:t>i </a:t>
            </a:r>
            <a:r>
              <a:rPr kumimoji="1" lang="ja-JP" altLang="en-US" dirty="0"/>
              <a:t>を置くとややこしいので，レジスタの上で全て終わらした方が楽</a:t>
            </a:r>
            <a:endParaRPr kumimoji="1" lang="en-US" dirty="0"/>
          </a:p>
        </p:txBody>
      </p:sp>
      <p:sp>
        <p:nvSpPr>
          <p:cNvPr id="4" name="テキスト プレースホルダー 2">
            <a:extLst>
              <a:ext uri="{FF2B5EF4-FFF2-40B4-BE49-F238E27FC236}">
                <a16:creationId xmlns:a16="http://schemas.microsoft.com/office/drawing/2014/main" id="{D4632841-FF32-AEF3-316F-CD26E43879E9}"/>
              </a:ext>
            </a:extLst>
          </p:cNvPr>
          <p:cNvSpPr txBox="1">
            <a:spLocks/>
          </p:cNvSpPr>
          <p:nvPr/>
        </p:nvSpPr>
        <p:spPr bwMode="auto">
          <a:xfrm>
            <a:off x="2495961" y="4689014"/>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1: </a:t>
            </a:r>
            <a:r>
              <a:rPr lang="en-US" altLang="ja-JP" kern="0" dirty="0">
                <a:solidFill>
                  <a:schemeClr val="accent1"/>
                </a:solidFill>
                <a:latin typeface="Consolas" panose="020B0609020204030204" pitchFamily="49" charset="0"/>
              </a:rPr>
              <a:t>for</a:t>
            </a:r>
            <a:r>
              <a:rPr lang="en-US" altLang="ja-JP" kern="0" dirty="0">
                <a:latin typeface="Consolas" panose="020B0609020204030204" pitchFamily="49" charset="0"/>
              </a:rPr>
              <a:t> (i = 10; i &gt; 3; i-=1) {</a:t>
            </a:r>
            <a:br>
              <a:rPr lang="en-US" altLang="ja-JP" kern="0" dirty="0">
                <a:latin typeface="Consolas" panose="020B0609020204030204" pitchFamily="49" charset="0"/>
              </a:rPr>
            </a:br>
            <a:r>
              <a:rPr lang="en-US" altLang="ja-JP" kern="0" dirty="0">
                <a:latin typeface="Consolas" panose="020B0609020204030204" pitchFamily="49" charset="0"/>
              </a:rPr>
              <a:t>2: }</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12543233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p:txBody>
          <a:bodyPr/>
          <a:lstStyle/>
          <a:p>
            <a:r>
              <a:rPr lang="ja-JP" altLang="en-US" sz="1800" dirty="0"/>
              <a:t>以下の２つを提出（双方が必須であり，成績に関係します）：</a:t>
            </a:r>
            <a:endParaRPr lang="en-US" altLang="ja-JP" sz="1800" dirty="0"/>
          </a:p>
          <a:p>
            <a:pPr lvl="1"/>
            <a:r>
              <a:rPr lang="ja-JP" altLang="en-US" sz="1800" dirty="0"/>
              <a:t>課題の提出は </a:t>
            </a:r>
            <a:r>
              <a:rPr lang="en-US" altLang="ja-JP" sz="1800" dirty="0"/>
              <a:t>Moodle </a:t>
            </a:r>
            <a:r>
              <a:rPr lang="ja-JP" altLang="en-US" sz="1800" dirty="0"/>
              <a:t>の今日の日付のところからお願いします</a:t>
            </a:r>
            <a:endParaRPr lang="en-US" altLang="ja-JP" sz="1800" dirty="0"/>
          </a:p>
          <a:p>
            <a:pPr lvl="1"/>
            <a:r>
              <a:rPr lang="ja-JP" altLang="en-US" sz="1800" dirty="0"/>
              <a:t>感想や質問を「感想や質問」のところに投稿してください</a:t>
            </a:r>
            <a:endParaRPr lang="en-US" altLang="ja-JP" sz="1800" dirty="0"/>
          </a:p>
          <a:p>
            <a:pPr lvl="2"/>
            <a:r>
              <a:rPr lang="ja-JP" altLang="en-US" sz="1800" dirty="0"/>
              <a:t>わからない場所がある場合，具体的に書いてもらえると良いです</a:t>
            </a:r>
            <a:endParaRPr lang="en-US" altLang="ja-JP" sz="1800" dirty="0"/>
          </a:p>
          <a:p>
            <a:r>
              <a:rPr lang="ja-JP" altLang="en-US" sz="1800" dirty="0"/>
              <a:t>提出締め切り</a:t>
            </a:r>
            <a:endParaRPr lang="en-US" altLang="ja-JP" sz="1800" dirty="0"/>
          </a:p>
          <a:p>
            <a:pPr lvl="1"/>
            <a:r>
              <a:rPr lang="ja-JP" altLang="en-US" sz="1800" dirty="0"/>
              <a:t>次回講義開始まで</a:t>
            </a:r>
            <a:endParaRPr lang="en-US" altLang="ja-JP" sz="1800" dirty="0"/>
          </a:p>
          <a:p>
            <a:r>
              <a:rPr lang="ja-JP" altLang="en-US" sz="1800" dirty="0"/>
              <a:t>注意：</a:t>
            </a:r>
            <a:endParaRPr lang="en-US" altLang="ja-JP" sz="1800" dirty="0"/>
          </a:p>
          <a:p>
            <a:pPr lvl="1"/>
            <a:r>
              <a:rPr lang="ja-JP" altLang="en-US" sz="1800" dirty="0"/>
              <a:t>課題の出来は，ある程度努力したあとがあれば良しです</a:t>
            </a:r>
            <a:endParaRPr lang="en-US" altLang="ja-JP" sz="1800" dirty="0"/>
          </a:p>
          <a:p>
            <a:pPr lvl="1"/>
            <a:r>
              <a:rPr lang="ja-JP" altLang="en-US" sz="1800" dirty="0"/>
              <a:t>必ずしも正解していなくても良いです</a:t>
            </a:r>
            <a:endParaRPr lang="en-US" altLang="ja-JP" sz="18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945FE3-8256-B516-3DD2-BCC2CEE6F943}"/>
              </a:ext>
            </a:extLst>
          </p:cNvPr>
          <p:cNvSpPr>
            <a:spLocks noGrp="1"/>
          </p:cNvSpPr>
          <p:nvPr>
            <p:ph type="title"/>
          </p:nvPr>
        </p:nvSpPr>
        <p:spPr/>
        <p:txBody>
          <a:bodyPr/>
          <a:lstStyle/>
          <a:p>
            <a:r>
              <a:rPr kumimoji="1" lang="ja-JP" altLang="en-US" dirty="0"/>
              <a:t>付録</a:t>
            </a:r>
            <a:endParaRPr kumimoji="1" lang="en-US" dirty="0"/>
          </a:p>
        </p:txBody>
      </p:sp>
      <p:sp>
        <p:nvSpPr>
          <p:cNvPr id="3" name="コンテンツ プレースホルダー 2">
            <a:extLst>
              <a:ext uri="{FF2B5EF4-FFF2-40B4-BE49-F238E27FC236}">
                <a16:creationId xmlns:a16="http://schemas.microsoft.com/office/drawing/2014/main" id="{F1C4D418-DDCB-AEA8-A3F8-573420D9A6BB}"/>
              </a:ext>
            </a:extLst>
          </p:cNvPr>
          <p:cNvSpPr>
            <a:spLocks noGrp="1"/>
          </p:cNvSpPr>
          <p:nvPr>
            <p:ph type="body" sz="quarter" idx="10"/>
          </p:nvPr>
        </p:nvSpPr>
        <p:spPr/>
        <p:txBody>
          <a:bodyPr/>
          <a:lstStyle/>
          <a:p>
            <a:endParaRPr kumimoji="1" lang="en-US"/>
          </a:p>
        </p:txBody>
      </p:sp>
    </p:spTree>
    <p:extLst>
      <p:ext uri="{BB962C8B-B14F-4D97-AF65-F5344CB8AC3E}">
        <p14:creationId xmlns:p14="http://schemas.microsoft.com/office/powerpoint/2010/main" val="18835228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1865954" y="2888995"/>
            <a:ext cx="8550095" cy="3599733"/>
          </a:xfrm>
        </p:spPr>
        <p:txBody>
          <a:bodyPr/>
          <a:lstStyle/>
          <a:p>
            <a:pPr marL="457200" indent="-457200">
              <a:buFont typeface="+mj-lt"/>
              <a:buAutoNum type="arabicPeriod"/>
            </a:pPr>
            <a:r>
              <a:rPr kumimoji="1" lang="ja-JP" altLang="en-US" dirty="0"/>
              <a:t>ハードウェア記述言語から，論理関数を生成：</a:t>
            </a:r>
            <a:endParaRPr kumimoji="1" lang="en-US" altLang="ja-JP" dirty="0"/>
          </a:p>
          <a:p>
            <a:pPr lvl="1"/>
            <a:r>
              <a:rPr kumimoji="1" lang="ja-JP" altLang="en-US" dirty="0"/>
              <a:t>ナイーブには，入力の全パターンに対して出力を記録した真理値表</a:t>
            </a:r>
            <a:endParaRPr kumimoji="1" lang="en-US" altLang="ja-JP" dirty="0"/>
          </a:p>
          <a:p>
            <a:pPr lvl="2"/>
            <a:r>
              <a:rPr kumimoji="1" lang="ja-JP" altLang="en-US" dirty="0"/>
              <a:t>実際には表のサイズが爆発して，真理値表ではすぐに破綻</a:t>
            </a:r>
            <a:endParaRPr kumimoji="1" lang="en-US" altLang="ja-JP" dirty="0"/>
          </a:p>
          <a:p>
            <a:pPr lvl="2"/>
            <a:r>
              <a:rPr kumimoji="1" lang="ja-JP" altLang="en-US" dirty="0"/>
              <a:t>表のサイズ </a:t>
            </a:r>
            <a:r>
              <a:rPr kumimoji="1" lang="en-US" altLang="ja-JP" dirty="0"/>
              <a:t>= 2 </a:t>
            </a:r>
            <a:r>
              <a:rPr kumimoji="1" lang="ja-JP" altLang="en-US" dirty="0"/>
              <a:t>の入力ビット数乗</a:t>
            </a:r>
            <a:endParaRPr kumimoji="1" lang="en-US" altLang="ja-JP" dirty="0"/>
          </a:p>
          <a:p>
            <a:pPr lvl="1"/>
            <a:r>
              <a:rPr kumimoji="1" lang="ja-JP" altLang="en-US" dirty="0"/>
              <a:t>さまざまな効率的な保持方法が提案されており，使用されている</a:t>
            </a:r>
            <a:endParaRPr kumimoji="1" lang="en-US" altLang="ja-JP" dirty="0"/>
          </a:p>
          <a:p>
            <a:pPr lvl="2"/>
            <a:r>
              <a:rPr lang="en-US" altLang="ja-JP" dirty="0"/>
              <a:t>Binary Decision Diagram (BDD)</a:t>
            </a:r>
          </a:p>
        </p:txBody>
      </p:sp>
      <p:sp>
        <p:nvSpPr>
          <p:cNvPr id="9" name="正方形/長方形 8"/>
          <p:cNvSpPr/>
          <p:nvPr/>
        </p:nvSpPr>
        <p:spPr bwMode="auto">
          <a:xfrm>
            <a:off x="5015988" y="1538980"/>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9712061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2135956" y="1268977"/>
            <a:ext cx="8280092" cy="5219751"/>
          </a:xfrm>
        </p:spPr>
        <p:txBody>
          <a:bodyPr/>
          <a:lstStyle/>
          <a:p>
            <a:pPr marL="457200" indent="-457200">
              <a:buFont typeface="+mj-lt"/>
              <a:buAutoNum type="arabicPeriod"/>
            </a:pPr>
            <a:r>
              <a:rPr kumimoji="1" lang="ja-JP" altLang="en-US" dirty="0"/>
              <a:t>論理合成：</a:t>
            </a:r>
            <a:endParaRPr kumimoji="1" lang="en-US" altLang="ja-JP" dirty="0"/>
          </a:p>
          <a:p>
            <a:pPr marL="817200" lvl="1" indent="-457200">
              <a:buFont typeface="+mj-lt"/>
              <a:buAutoNum type="arabicPeriod"/>
            </a:pPr>
            <a:r>
              <a:rPr kumimoji="1" lang="ja-JP" altLang="en-US" dirty="0"/>
              <a:t>ハードウェア記述言語から，論理関数を生成</a:t>
            </a:r>
            <a:endParaRPr kumimoji="1" lang="en-US" altLang="ja-JP" dirty="0"/>
          </a:p>
          <a:p>
            <a:pPr marL="817200" lvl="1" indent="-457200">
              <a:buFont typeface="+mj-lt"/>
              <a:buAutoNum type="arabicPeriod"/>
            </a:pPr>
            <a:r>
              <a:rPr kumimoji="1" lang="ja-JP" altLang="en-US" dirty="0"/>
              <a:t>生成された論理関数を最適化</a:t>
            </a:r>
            <a:endParaRPr kumimoji="1" lang="en-US" altLang="ja-JP" dirty="0"/>
          </a:p>
          <a:p>
            <a:pPr lvl="2"/>
            <a:r>
              <a:rPr kumimoji="1" lang="ja-JP" altLang="en-US" dirty="0"/>
              <a:t>カルノー図：４入力ぐらいが限界</a:t>
            </a:r>
            <a:endParaRPr kumimoji="1" lang="en-US" altLang="ja-JP" dirty="0"/>
          </a:p>
          <a:p>
            <a:pPr lvl="2"/>
            <a:r>
              <a:rPr kumimoji="1" lang="ja-JP" altLang="en-US" dirty="0"/>
              <a:t>クワイン・マクラスキー法：</a:t>
            </a:r>
            <a:r>
              <a:rPr lang="ja-JP" altLang="en-US" dirty="0"/>
              <a:t>入力数が増えると計算量が爆発</a:t>
            </a:r>
            <a:endParaRPr kumimoji="1" lang="en-US" altLang="ja-JP" dirty="0"/>
          </a:p>
          <a:p>
            <a:pPr lvl="2"/>
            <a:r>
              <a:rPr kumimoji="1" lang="ja-JP" altLang="en-US" dirty="0"/>
              <a:t>さまざまな最適化アルゴリズムが提案・使用されている</a:t>
            </a:r>
            <a:endParaRPr kumimoji="1" lang="en-US" altLang="ja-JP" dirty="0"/>
          </a:p>
          <a:p>
            <a:pPr marL="817200" lvl="1" indent="-457200">
              <a:buFont typeface="+mj-lt"/>
              <a:buAutoNum type="arabicPeriod"/>
            </a:pPr>
            <a:r>
              <a:rPr lang="ja-JP" altLang="en-US" dirty="0"/>
              <a:t>回路のプリミティブと接続関係を生成</a:t>
            </a:r>
            <a:endParaRPr lang="en-US" altLang="ja-JP" dirty="0"/>
          </a:p>
          <a:p>
            <a:pPr lvl="2"/>
            <a:r>
              <a:rPr lang="en-US" altLang="ja-JP" dirty="0"/>
              <a:t>AND, OR, NOT, D-FF </a:t>
            </a:r>
            <a:r>
              <a:rPr lang="ja-JP" altLang="en-US" dirty="0"/>
              <a:t>を始めとして，よく現れる回路の部品が用意される</a:t>
            </a:r>
            <a:endParaRPr kumimoji="1" lang="en-US" altLang="ja-JP" dirty="0"/>
          </a:p>
          <a:p>
            <a:pPr marL="457200" indent="-457200">
              <a:buFont typeface="+mj-lt"/>
              <a:buAutoNum type="arabicPeriod"/>
            </a:pPr>
            <a:r>
              <a:rPr lang="ja-JP" altLang="en-US" dirty="0"/>
              <a:t>配置・配線：</a:t>
            </a:r>
            <a:endParaRPr lang="en-US" altLang="ja-JP" dirty="0"/>
          </a:p>
          <a:p>
            <a:pPr marL="817200" lvl="1" indent="-457200">
              <a:buFont typeface="+mj-lt"/>
              <a:buAutoNum type="arabicPeriod"/>
            </a:pPr>
            <a:r>
              <a:rPr kumimoji="1" lang="ja-JP" altLang="en-US" dirty="0"/>
              <a:t>回路のプリミティブを配置・配線</a:t>
            </a:r>
            <a:endParaRPr kumimoji="1" lang="en-US" altLang="ja-JP" dirty="0"/>
          </a:p>
        </p:txBody>
      </p:sp>
    </p:spTree>
    <p:extLst>
      <p:ext uri="{BB962C8B-B14F-4D97-AF65-F5344CB8AC3E}">
        <p14:creationId xmlns:p14="http://schemas.microsoft.com/office/powerpoint/2010/main" val="21677946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スタンダード・セル</a:t>
            </a:r>
          </a:p>
        </p:txBody>
      </p:sp>
      <p:sp>
        <p:nvSpPr>
          <p:cNvPr id="3" name="テキスト プレースホルダー 2"/>
          <p:cNvSpPr>
            <a:spLocks noGrp="1"/>
          </p:cNvSpPr>
          <p:nvPr>
            <p:ph type="body" sz="quarter" idx="10"/>
          </p:nvPr>
        </p:nvSpPr>
        <p:spPr>
          <a:xfrm>
            <a:off x="1775952" y="4869017"/>
            <a:ext cx="8640096" cy="1439709"/>
          </a:xfrm>
        </p:spPr>
        <p:txBody>
          <a:bodyPr/>
          <a:lstStyle/>
          <a:p>
            <a:r>
              <a:rPr kumimoji="1" lang="ja-JP" altLang="en-US" dirty="0"/>
              <a:t>スタンダード・セル：</a:t>
            </a:r>
            <a:endParaRPr kumimoji="1" lang="en-US" altLang="ja-JP" dirty="0"/>
          </a:p>
          <a:p>
            <a:pPr lvl="1"/>
            <a:r>
              <a:rPr lang="en-US" altLang="ja-JP" dirty="0"/>
              <a:t>AND </a:t>
            </a:r>
            <a:r>
              <a:rPr lang="ja-JP" altLang="en-US" dirty="0"/>
              <a:t>や </a:t>
            </a:r>
            <a:r>
              <a:rPr lang="en-US" altLang="ja-JP" dirty="0"/>
              <a:t>OR </a:t>
            </a:r>
            <a:r>
              <a:rPr lang="ja-JP" altLang="en-US" dirty="0" err="1"/>
              <a:t>のような</a:t>
            </a:r>
            <a:r>
              <a:rPr lang="ja-JP" altLang="en-US" dirty="0"/>
              <a:t>プリミティブとなる回路「セル」を用意</a:t>
            </a:r>
            <a:endParaRPr lang="en-US" altLang="ja-JP" dirty="0"/>
          </a:p>
          <a:p>
            <a:pPr lvl="2"/>
            <a:r>
              <a:rPr lang="ja-JP" altLang="en-US" dirty="0"/>
              <a:t>高さを幅を揃えておいて，簡単に並べられるように作ってある</a:t>
            </a:r>
          </a:p>
          <a:p>
            <a:pPr lvl="1"/>
            <a:r>
              <a:rPr kumimoji="1" lang="ja-JP" altLang="en-US" dirty="0"/>
              <a:t>これらを配置して，配線を接続することにより回路を実現</a:t>
            </a:r>
            <a:endParaRPr kumimoji="1" lang="en-US" altLang="ja-JP" dirty="0"/>
          </a:p>
          <a:p>
            <a:pPr lvl="2"/>
            <a:r>
              <a:rPr kumimoji="1" lang="ja-JP" altLang="en-US" dirty="0"/>
              <a:t>配置配線という</a:t>
            </a:r>
            <a:endParaRPr kumimoji="1" lang="en-US" altLang="ja-JP" dirty="0"/>
          </a:p>
        </p:txBody>
      </p:sp>
      <p:sp>
        <p:nvSpPr>
          <p:cNvPr id="4" name="正方形/長方形 3"/>
          <p:cNvSpPr/>
          <p:nvPr/>
        </p:nvSpPr>
        <p:spPr bwMode="auto">
          <a:xfrm>
            <a:off x="3485972" y="1088974"/>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VDD</a:t>
            </a:r>
            <a:endParaRPr lang="ja-JP" altLang="en-US" dirty="0">
              <a:solidFill>
                <a:schemeClr val="tx1">
                  <a:lumMod val="75000"/>
                  <a:lumOff val="25000"/>
                </a:schemeClr>
              </a:solidFill>
              <a:latin typeface="+mn-ea"/>
            </a:endParaRPr>
          </a:p>
        </p:txBody>
      </p:sp>
      <p:sp>
        <p:nvSpPr>
          <p:cNvPr id="7" name="正方形/長方形 6"/>
          <p:cNvSpPr/>
          <p:nvPr/>
        </p:nvSpPr>
        <p:spPr bwMode="auto">
          <a:xfrm>
            <a:off x="3935977"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AND</a:t>
            </a:r>
            <a:endParaRPr lang="ja-JP" altLang="en-US" dirty="0">
              <a:solidFill>
                <a:schemeClr val="tx1">
                  <a:lumMod val="75000"/>
                  <a:lumOff val="25000"/>
                </a:schemeClr>
              </a:solidFill>
              <a:latin typeface="+mn-ea"/>
            </a:endParaRPr>
          </a:p>
        </p:txBody>
      </p:sp>
      <p:sp>
        <p:nvSpPr>
          <p:cNvPr id="8" name="正方形/長方形 7"/>
          <p:cNvSpPr/>
          <p:nvPr/>
        </p:nvSpPr>
        <p:spPr bwMode="auto">
          <a:xfrm>
            <a:off x="4565984"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OR</a:t>
            </a:r>
            <a:endParaRPr lang="ja-JP" altLang="en-US" dirty="0">
              <a:solidFill>
                <a:schemeClr val="tx1">
                  <a:lumMod val="75000"/>
                  <a:lumOff val="25000"/>
                </a:schemeClr>
              </a:solidFill>
              <a:latin typeface="+mn-ea"/>
            </a:endParaRPr>
          </a:p>
        </p:txBody>
      </p:sp>
      <p:sp>
        <p:nvSpPr>
          <p:cNvPr id="9" name="正方形/長方形 8"/>
          <p:cNvSpPr/>
          <p:nvPr/>
        </p:nvSpPr>
        <p:spPr bwMode="auto">
          <a:xfrm>
            <a:off x="5195991"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AND</a:t>
            </a:r>
            <a:endParaRPr lang="ja-JP" altLang="en-US" dirty="0">
              <a:solidFill>
                <a:schemeClr val="tx1">
                  <a:lumMod val="75000"/>
                  <a:lumOff val="25000"/>
                </a:schemeClr>
              </a:solidFill>
              <a:latin typeface="+mn-ea"/>
            </a:endParaRPr>
          </a:p>
        </p:txBody>
      </p:sp>
      <p:sp>
        <p:nvSpPr>
          <p:cNvPr id="10" name="正方形/長方形 9"/>
          <p:cNvSpPr/>
          <p:nvPr/>
        </p:nvSpPr>
        <p:spPr bwMode="auto">
          <a:xfrm>
            <a:off x="5825998" y="1448978"/>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OR</a:t>
            </a:r>
            <a:endParaRPr lang="ja-JP" altLang="en-US" dirty="0">
              <a:solidFill>
                <a:schemeClr val="tx1">
                  <a:lumMod val="75000"/>
                  <a:lumOff val="25000"/>
                </a:schemeClr>
              </a:solidFill>
              <a:latin typeface="+mn-ea"/>
            </a:endParaRPr>
          </a:p>
        </p:txBody>
      </p:sp>
      <p:sp>
        <p:nvSpPr>
          <p:cNvPr id="11" name="正方形/長方形 10"/>
          <p:cNvSpPr/>
          <p:nvPr/>
        </p:nvSpPr>
        <p:spPr bwMode="auto">
          <a:xfrm>
            <a:off x="6456004" y="1448978"/>
            <a:ext cx="1440016"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D-FF</a:t>
            </a:r>
            <a:endParaRPr lang="ja-JP" altLang="en-US" dirty="0">
              <a:solidFill>
                <a:schemeClr val="tx1">
                  <a:lumMod val="75000"/>
                  <a:lumOff val="25000"/>
                </a:schemeClr>
              </a:solidFill>
              <a:latin typeface="+mn-ea"/>
            </a:endParaRPr>
          </a:p>
        </p:txBody>
      </p:sp>
      <p:sp>
        <p:nvSpPr>
          <p:cNvPr id="5" name="正方形/長方形 4"/>
          <p:cNvSpPr/>
          <p:nvPr/>
        </p:nvSpPr>
        <p:spPr bwMode="auto">
          <a:xfrm>
            <a:off x="3485972" y="2528990"/>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GND</a:t>
            </a:r>
            <a:endParaRPr lang="ja-JP" altLang="en-US" dirty="0">
              <a:solidFill>
                <a:schemeClr val="tx1">
                  <a:lumMod val="75000"/>
                  <a:lumOff val="25000"/>
                </a:schemeClr>
              </a:solidFill>
              <a:latin typeface="+mn-ea"/>
            </a:endParaRPr>
          </a:p>
        </p:txBody>
      </p:sp>
      <p:sp>
        <p:nvSpPr>
          <p:cNvPr id="12" name="正方形/長方形 11"/>
          <p:cNvSpPr/>
          <p:nvPr/>
        </p:nvSpPr>
        <p:spPr bwMode="auto">
          <a:xfrm>
            <a:off x="5375993"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NOT</a:t>
            </a:r>
            <a:endParaRPr lang="ja-JP" altLang="en-US" dirty="0">
              <a:solidFill>
                <a:schemeClr val="tx1">
                  <a:lumMod val="75000"/>
                  <a:lumOff val="25000"/>
                </a:schemeClr>
              </a:solidFill>
              <a:latin typeface="+mn-ea"/>
            </a:endParaRPr>
          </a:p>
        </p:txBody>
      </p:sp>
      <p:sp>
        <p:nvSpPr>
          <p:cNvPr id="13" name="正方形/長方形 12"/>
          <p:cNvSpPr/>
          <p:nvPr/>
        </p:nvSpPr>
        <p:spPr bwMode="auto">
          <a:xfrm>
            <a:off x="6006000"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NOT</a:t>
            </a:r>
            <a:endParaRPr lang="ja-JP" altLang="en-US" dirty="0">
              <a:solidFill>
                <a:schemeClr val="tx1">
                  <a:lumMod val="75000"/>
                  <a:lumOff val="25000"/>
                </a:schemeClr>
              </a:solidFill>
              <a:latin typeface="+mn-ea"/>
            </a:endParaRPr>
          </a:p>
        </p:txBody>
      </p:sp>
      <p:sp>
        <p:nvSpPr>
          <p:cNvPr id="14" name="正方形/長方形 13"/>
          <p:cNvSpPr/>
          <p:nvPr/>
        </p:nvSpPr>
        <p:spPr bwMode="auto">
          <a:xfrm>
            <a:off x="6636007"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AND</a:t>
            </a:r>
            <a:endParaRPr lang="ja-JP" altLang="en-US" dirty="0">
              <a:solidFill>
                <a:schemeClr val="tx1">
                  <a:lumMod val="75000"/>
                  <a:lumOff val="25000"/>
                </a:schemeClr>
              </a:solidFill>
              <a:latin typeface="+mn-ea"/>
            </a:endParaRPr>
          </a:p>
        </p:txBody>
      </p:sp>
      <p:sp>
        <p:nvSpPr>
          <p:cNvPr id="15" name="正方形/長方形 14"/>
          <p:cNvSpPr/>
          <p:nvPr/>
        </p:nvSpPr>
        <p:spPr bwMode="auto">
          <a:xfrm>
            <a:off x="7266014" y="2888994"/>
            <a:ext cx="630007"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OR</a:t>
            </a:r>
            <a:endParaRPr lang="ja-JP" altLang="en-US" dirty="0">
              <a:solidFill>
                <a:schemeClr val="tx1">
                  <a:lumMod val="75000"/>
                  <a:lumOff val="25000"/>
                </a:schemeClr>
              </a:solidFill>
              <a:latin typeface="+mn-ea"/>
            </a:endParaRPr>
          </a:p>
        </p:txBody>
      </p:sp>
      <p:sp>
        <p:nvSpPr>
          <p:cNvPr id="16" name="正方形/長方形 15"/>
          <p:cNvSpPr/>
          <p:nvPr/>
        </p:nvSpPr>
        <p:spPr bwMode="auto">
          <a:xfrm>
            <a:off x="3935976" y="2888994"/>
            <a:ext cx="1440016" cy="1080012"/>
          </a:xfrm>
          <a:prstGeom prst="rect">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D-FF</a:t>
            </a:r>
            <a:endParaRPr lang="ja-JP" altLang="en-US" dirty="0">
              <a:solidFill>
                <a:schemeClr val="tx1">
                  <a:lumMod val="75000"/>
                  <a:lumOff val="25000"/>
                </a:schemeClr>
              </a:solidFill>
              <a:latin typeface="+mn-ea"/>
            </a:endParaRPr>
          </a:p>
        </p:txBody>
      </p:sp>
      <p:sp>
        <p:nvSpPr>
          <p:cNvPr id="6" name="正方形/長方形 5"/>
          <p:cNvSpPr/>
          <p:nvPr/>
        </p:nvSpPr>
        <p:spPr bwMode="auto">
          <a:xfrm>
            <a:off x="3485972" y="3969006"/>
            <a:ext cx="4770053" cy="36000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VDD</a:t>
            </a: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4884391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フルカスタム・レイアウト</a:t>
            </a:r>
          </a:p>
        </p:txBody>
      </p:sp>
      <p:sp>
        <p:nvSpPr>
          <p:cNvPr id="3" name="テキスト プレースホルダー 2"/>
          <p:cNvSpPr>
            <a:spLocks noGrp="1"/>
          </p:cNvSpPr>
          <p:nvPr>
            <p:ph type="body" sz="quarter" idx="10"/>
          </p:nvPr>
        </p:nvSpPr>
        <p:spPr>
          <a:xfrm>
            <a:off x="2135956" y="3158997"/>
            <a:ext cx="8280092" cy="3329730"/>
          </a:xfrm>
        </p:spPr>
        <p:txBody>
          <a:bodyPr/>
          <a:lstStyle/>
          <a:p>
            <a:r>
              <a:rPr kumimoji="1" lang="ja-JP" altLang="en-US" dirty="0"/>
              <a:t>各スタンダード・セル（ゲート）は複数のトランジスタにより構成</a:t>
            </a:r>
            <a:endParaRPr kumimoji="1" lang="en-US" altLang="ja-JP" dirty="0"/>
          </a:p>
          <a:p>
            <a:r>
              <a:rPr kumimoji="1" lang="ja-JP" altLang="en-US" dirty="0"/>
              <a:t>フルカスタム・レイアウト：</a:t>
            </a:r>
            <a:endParaRPr kumimoji="1" lang="en-US" altLang="ja-JP" dirty="0"/>
          </a:p>
          <a:p>
            <a:pPr lvl="1"/>
            <a:r>
              <a:rPr kumimoji="1" lang="ja-JP" altLang="en-US" dirty="0"/>
              <a:t>半導体チップ上に１つ１つトランジスタをお絵かきして設計</a:t>
            </a:r>
            <a:endParaRPr kumimoji="1" lang="en-US" altLang="ja-JP" dirty="0"/>
          </a:p>
          <a:p>
            <a:pPr lvl="2"/>
            <a:r>
              <a:rPr kumimoji="1" lang="ja-JP" altLang="en-US" dirty="0"/>
              <a:t>形状が特定のパターンを満たすと，トランジスタとして機能</a:t>
            </a:r>
            <a:endParaRPr kumimoji="1" lang="en-US" altLang="ja-JP" dirty="0"/>
          </a:p>
          <a:p>
            <a:pPr lvl="1"/>
            <a:r>
              <a:rPr kumimoji="1" lang="ja-JP" altLang="en-US" dirty="0"/>
              <a:t>尋常じゃない手間がかかる</a:t>
            </a:r>
            <a:endParaRPr kumimoji="1" lang="en-US" altLang="ja-JP" dirty="0"/>
          </a:p>
          <a:p>
            <a:r>
              <a:rPr lang="ja-JP" altLang="en-US" dirty="0"/>
              <a:t>今はスタセルの中身と，本当に性能が出したい部分だけこれで作る</a:t>
            </a:r>
            <a:endParaRPr lang="en-US" altLang="ja-JP" dirty="0"/>
          </a:p>
          <a:p>
            <a:pPr lvl="1"/>
            <a:r>
              <a:rPr kumimoji="1" lang="ja-JP" altLang="en-US" dirty="0"/>
              <a:t>ごく一部だけアセンブリ言語でプログラムするようなもの</a:t>
            </a:r>
          </a:p>
        </p:txBody>
      </p:sp>
      <p:grpSp>
        <p:nvGrpSpPr>
          <p:cNvPr id="153" name="グループ化 152"/>
          <p:cNvGrpSpPr/>
          <p:nvPr/>
        </p:nvGrpSpPr>
        <p:grpSpPr>
          <a:xfrm>
            <a:off x="3755974" y="998973"/>
            <a:ext cx="4320664" cy="1980308"/>
            <a:chOff x="2231952" y="1088952"/>
            <a:chExt cx="5220696" cy="2520336"/>
          </a:xfrm>
        </p:grpSpPr>
        <p:sp>
          <p:nvSpPr>
            <p:cNvPr id="4" name="正方形/長方形 3"/>
            <p:cNvSpPr/>
            <p:nvPr/>
          </p:nvSpPr>
          <p:spPr>
            <a:xfrm rot="5400000">
              <a:off x="3402108" y="1358988"/>
              <a:ext cx="1080144" cy="540072"/>
            </a:xfrm>
            <a:prstGeom prst="rect">
              <a:avLst/>
            </a:prstGeom>
            <a:solidFill>
              <a:schemeClr val="accent2">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正方形/長方形 4"/>
            <p:cNvSpPr/>
            <p:nvPr/>
          </p:nvSpPr>
          <p:spPr>
            <a:xfrm rot="5400000">
              <a:off x="4032192" y="1629024"/>
              <a:ext cx="1800240" cy="720096"/>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正方形/長方形 5"/>
            <p:cNvSpPr/>
            <p:nvPr/>
          </p:nvSpPr>
          <p:spPr>
            <a:xfrm rot="5400000">
              <a:off x="4414753" y="751417"/>
              <a:ext cx="180024" cy="175521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 name="正方形/長方形 6"/>
            <p:cNvSpPr/>
            <p:nvPr/>
          </p:nvSpPr>
          <p:spPr>
            <a:xfrm rot="5400000">
              <a:off x="4819789" y="1921571"/>
              <a:ext cx="180024" cy="855097"/>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 name="正方形/長方形 7"/>
            <p:cNvSpPr/>
            <p:nvPr/>
          </p:nvSpPr>
          <p:spPr>
            <a:xfrm rot="5400000">
              <a:off x="2051928" y="2349120"/>
              <a:ext cx="1800240" cy="720096"/>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 name="正方形/長方形 8"/>
            <p:cNvSpPr/>
            <p:nvPr/>
          </p:nvSpPr>
          <p:spPr>
            <a:xfrm rot="5400000">
              <a:off x="3402108" y="2799180"/>
              <a:ext cx="1080144" cy="540072"/>
            </a:xfrm>
            <a:prstGeom prst="rect">
              <a:avLst/>
            </a:prstGeom>
            <a:solidFill>
              <a:schemeClr val="accent2">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0" name="正方形/長方形 9"/>
            <p:cNvSpPr/>
            <p:nvPr/>
          </p:nvSpPr>
          <p:spPr>
            <a:xfrm rot="5400000">
              <a:off x="3289597" y="2191595"/>
              <a:ext cx="180024" cy="1755241"/>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 name="正方形/長方形 10"/>
            <p:cNvSpPr/>
            <p:nvPr/>
          </p:nvSpPr>
          <p:spPr>
            <a:xfrm rot="5400000">
              <a:off x="2884561" y="1921585"/>
              <a:ext cx="180024" cy="855069"/>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12" name="グループ化 11"/>
            <p:cNvGrpSpPr/>
            <p:nvPr/>
          </p:nvGrpSpPr>
          <p:grpSpPr>
            <a:xfrm>
              <a:off x="2862036" y="1899060"/>
              <a:ext cx="180024" cy="180024"/>
              <a:chOff x="3311832" y="2168832"/>
              <a:chExt cx="180024" cy="180024"/>
            </a:xfrm>
          </p:grpSpPr>
          <p:sp>
            <p:nvSpPr>
              <p:cNvPr id="13" name="正方形/長方形 1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4" name="直線コネクタ 1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線コネクタ 1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6" name="グループ化 15"/>
            <p:cNvGrpSpPr/>
            <p:nvPr/>
          </p:nvGrpSpPr>
          <p:grpSpPr>
            <a:xfrm>
              <a:off x="2862036" y="2619156"/>
              <a:ext cx="180024" cy="180024"/>
              <a:chOff x="3311832" y="2168832"/>
              <a:chExt cx="180024" cy="180024"/>
            </a:xfrm>
          </p:grpSpPr>
          <p:sp>
            <p:nvSpPr>
              <p:cNvPr id="17" name="正方形/長方形 1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8" name="直線コネクタ 1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0" name="グループ化 19"/>
            <p:cNvGrpSpPr/>
            <p:nvPr/>
          </p:nvGrpSpPr>
          <p:grpSpPr>
            <a:xfrm>
              <a:off x="2862036" y="3339252"/>
              <a:ext cx="180024" cy="180024"/>
              <a:chOff x="3311832" y="2168832"/>
              <a:chExt cx="180024" cy="180024"/>
            </a:xfrm>
          </p:grpSpPr>
          <p:sp>
            <p:nvSpPr>
              <p:cNvPr id="21" name="正方形/長方形 2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2" name="直線コネクタ 2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4" name="グループ化 23"/>
            <p:cNvGrpSpPr/>
            <p:nvPr/>
          </p:nvGrpSpPr>
          <p:grpSpPr>
            <a:xfrm>
              <a:off x="3852168" y="2619156"/>
              <a:ext cx="180024" cy="180024"/>
              <a:chOff x="3311832" y="2168832"/>
              <a:chExt cx="180024" cy="180024"/>
            </a:xfrm>
          </p:grpSpPr>
          <p:sp>
            <p:nvSpPr>
              <p:cNvPr id="25" name="正方形/長方形 2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6" name="直線コネクタ 2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8" name="グループ化 27"/>
            <p:cNvGrpSpPr/>
            <p:nvPr/>
          </p:nvGrpSpPr>
          <p:grpSpPr>
            <a:xfrm>
              <a:off x="3852168" y="3339252"/>
              <a:ext cx="180024" cy="180024"/>
              <a:chOff x="3311832" y="2168832"/>
              <a:chExt cx="180024" cy="180024"/>
            </a:xfrm>
          </p:grpSpPr>
          <p:sp>
            <p:nvSpPr>
              <p:cNvPr id="29" name="正方形/長方形 2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0" name="直線コネクタ 2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32" name="グループ化 31"/>
            <p:cNvGrpSpPr/>
            <p:nvPr/>
          </p:nvGrpSpPr>
          <p:grpSpPr>
            <a:xfrm>
              <a:off x="3852168" y="1178964"/>
              <a:ext cx="180024" cy="180024"/>
              <a:chOff x="3311832" y="2168832"/>
              <a:chExt cx="180024" cy="180024"/>
            </a:xfrm>
          </p:grpSpPr>
          <p:sp>
            <p:nvSpPr>
              <p:cNvPr id="33" name="正方形/長方形 3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直線コネクタ 3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36" name="グループ化 35"/>
            <p:cNvGrpSpPr/>
            <p:nvPr/>
          </p:nvGrpSpPr>
          <p:grpSpPr>
            <a:xfrm>
              <a:off x="3852168" y="1899060"/>
              <a:ext cx="180024" cy="180024"/>
              <a:chOff x="3311832" y="2168832"/>
              <a:chExt cx="180024" cy="180024"/>
            </a:xfrm>
          </p:grpSpPr>
          <p:sp>
            <p:nvSpPr>
              <p:cNvPr id="37" name="正方形/長方形 3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8" name="直線コネクタ 3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0" name="グループ化 39"/>
            <p:cNvGrpSpPr/>
            <p:nvPr/>
          </p:nvGrpSpPr>
          <p:grpSpPr>
            <a:xfrm>
              <a:off x="4842300" y="1178964"/>
              <a:ext cx="180024" cy="180024"/>
              <a:chOff x="3311832" y="2168832"/>
              <a:chExt cx="180024" cy="180024"/>
            </a:xfrm>
          </p:grpSpPr>
          <p:sp>
            <p:nvSpPr>
              <p:cNvPr id="41" name="正方形/長方形 4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2" name="直線コネクタ 4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直線コネクタ 4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4" name="グループ化 43"/>
            <p:cNvGrpSpPr/>
            <p:nvPr/>
          </p:nvGrpSpPr>
          <p:grpSpPr>
            <a:xfrm>
              <a:off x="4842300" y="1899060"/>
              <a:ext cx="180024" cy="180024"/>
              <a:chOff x="3311832" y="2168832"/>
              <a:chExt cx="180024" cy="180024"/>
            </a:xfrm>
          </p:grpSpPr>
          <p:sp>
            <p:nvSpPr>
              <p:cNvPr id="45" name="正方形/長方形 4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6" name="直線コネクタ 4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直線コネクタ 4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8" name="グループ化 47"/>
            <p:cNvGrpSpPr/>
            <p:nvPr/>
          </p:nvGrpSpPr>
          <p:grpSpPr>
            <a:xfrm>
              <a:off x="4842300" y="2619156"/>
              <a:ext cx="180024" cy="180024"/>
              <a:chOff x="3311832" y="2168832"/>
              <a:chExt cx="180024" cy="180024"/>
            </a:xfrm>
          </p:grpSpPr>
          <p:sp>
            <p:nvSpPr>
              <p:cNvPr id="49" name="正方形/長方形 4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50" name="直線コネクタ 4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52" name="正方形/長方形 51"/>
            <p:cNvSpPr/>
            <p:nvPr/>
          </p:nvSpPr>
          <p:spPr>
            <a:xfrm>
              <a:off x="2862074" y="2259110"/>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WR1</a:t>
              </a:r>
              <a:endParaRPr lang="ja-JP" altLang="en-US" dirty="0">
                <a:solidFill>
                  <a:schemeClr val="tx1"/>
                </a:solidFill>
              </a:endParaRPr>
            </a:p>
          </p:txBody>
        </p:sp>
        <p:sp>
          <p:nvSpPr>
            <p:cNvPr id="53" name="正方形/長方形 52"/>
            <p:cNvSpPr/>
            <p:nvPr/>
          </p:nvSpPr>
          <p:spPr>
            <a:xfrm>
              <a:off x="2862036" y="1899060"/>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BR1</a:t>
              </a:r>
              <a:endParaRPr lang="ja-JP" altLang="en-US" sz="1200" dirty="0">
                <a:solidFill>
                  <a:schemeClr val="tx1"/>
                </a:solidFill>
              </a:endParaRPr>
            </a:p>
          </p:txBody>
        </p:sp>
        <p:sp>
          <p:nvSpPr>
            <p:cNvPr id="54" name="正方形/長方形 53"/>
            <p:cNvSpPr/>
            <p:nvPr/>
          </p:nvSpPr>
          <p:spPr>
            <a:xfrm>
              <a:off x="4842300" y="2259108"/>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WR2</a:t>
              </a:r>
              <a:endParaRPr lang="ja-JP" altLang="en-US" sz="1200" dirty="0">
                <a:solidFill>
                  <a:schemeClr val="tx1"/>
                </a:solidFill>
              </a:endParaRPr>
            </a:p>
          </p:txBody>
        </p:sp>
        <p:sp>
          <p:nvSpPr>
            <p:cNvPr id="55" name="正方形/長方形 54"/>
            <p:cNvSpPr/>
            <p:nvPr/>
          </p:nvSpPr>
          <p:spPr>
            <a:xfrm>
              <a:off x="4842300" y="2619156"/>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BR2’</a:t>
              </a:r>
              <a:endParaRPr lang="ja-JP" altLang="en-US" sz="1200" dirty="0">
                <a:solidFill>
                  <a:schemeClr val="tx1"/>
                </a:solidFill>
              </a:endParaRPr>
            </a:p>
          </p:txBody>
        </p:sp>
        <p:sp>
          <p:nvSpPr>
            <p:cNvPr id="56" name="正方形/長方形 55"/>
            <p:cNvSpPr/>
            <p:nvPr/>
          </p:nvSpPr>
          <p:spPr>
            <a:xfrm rot="5400000">
              <a:off x="4347234" y="1403994"/>
              <a:ext cx="180024" cy="1170156"/>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7" name="正方形/長方形 56"/>
            <p:cNvSpPr/>
            <p:nvPr/>
          </p:nvSpPr>
          <p:spPr>
            <a:xfrm rot="5400000">
              <a:off x="3357102" y="2124090"/>
              <a:ext cx="180024" cy="1170156"/>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58" name="グループ化 57"/>
            <p:cNvGrpSpPr/>
            <p:nvPr/>
          </p:nvGrpSpPr>
          <p:grpSpPr>
            <a:xfrm>
              <a:off x="4212216" y="2889192"/>
              <a:ext cx="360048" cy="360048"/>
              <a:chOff x="5292096" y="1268712"/>
              <a:chExt cx="360048" cy="360048"/>
            </a:xfrm>
          </p:grpSpPr>
          <p:sp>
            <p:nvSpPr>
              <p:cNvPr id="59" name="正方形/長方形 58"/>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0" name="正方形/長方形 59"/>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61" name="グループ化 60"/>
            <p:cNvGrpSpPr/>
            <p:nvPr/>
          </p:nvGrpSpPr>
          <p:grpSpPr>
            <a:xfrm>
              <a:off x="4302228" y="2979204"/>
              <a:ext cx="180024" cy="180024"/>
              <a:chOff x="3311832" y="2168832"/>
              <a:chExt cx="180024" cy="180024"/>
            </a:xfrm>
          </p:grpSpPr>
          <p:sp>
            <p:nvSpPr>
              <p:cNvPr id="62" name="正方形/長方形 61"/>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63" name="直線コネクタ 62"/>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4" name="直線コネクタ 63"/>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65" name="グループ化 64"/>
            <p:cNvGrpSpPr/>
            <p:nvPr/>
          </p:nvGrpSpPr>
          <p:grpSpPr>
            <a:xfrm>
              <a:off x="3312096" y="1449000"/>
              <a:ext cx="360048" cy="360048"/>
              <a:chOff x="5292096" y="1268712"/>
              <a:chExt cx="360048" cy="360048"/>
            </a:xfrm>
          </p:grpSpPr>
          <p:sp>
            <p:nvSpPr>
              <p:cNvPr id="66" name="正方形/長方形 65"/>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7" name="正方形/長方形 66"/>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68" name="グループ化 67"/>
            <p:cNvGrpSpPr/>
            <p:nvPr/>
          </p:nvGrpSpPr>
          <p:grpSpPr>
            <a:xfrm>
              <a:off x="3402108" y="1539012"/>
              <a:ext cx="180024" cy="180024"/>
              <a:chOff x="3311832" y="2168832"/>
              <a:chExt cx="180024" cy="180024"/>
            </a:xfrm>
          </p:grpSpPr>
          <p:sp>
            <p:nvSpPr>
              <p:cNvPr id="69" name="正方形/長方形 6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0" name="直線コネクタ 6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1" name="直線コネクタ 7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72" name="正方形/長方形 71"/>
            <p:cNvSpPr/>
            <p:nvPr/>
          </p:nvSpPr>
          <p:spPr>
            <a:xfrm rot="5400000">
              <a:off x="3762156" y="2439132"/>
              <a:ext cx="1260168" cy="18002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3" name="正方形/長方形 72"/>
            <p:cNvSpPr/>
            <p:nvPr/>
          </p:nvSpPr>
          <p:spPr>
            <a:xfrm rot="5400000">
              <a:off x="2862036" y="2079084"/>
              <a:ext cx="1260168" cy="18002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74" name="グループ化 73"/>
            <p:cNvGrpSpPr/>
            <p:nvPr/>
          </p:nvGrpSpPr>
          <p:grpSpPr>
            <a:xfrm>
              <a:off x="2231952" y="2169096"/>
              <a:ext cx="360048" cy="360048"/>
              <a:chOff x="5292096" y="1268712"/>
              <a:chExt cx="360048" cy="360048"/>
            </a:xfrm>
          </p:grpSpPr>
          <p:sp>
            <p:nvSpPr>
              <p:cNvPr id="75" name="正方形/長方形 74"/>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6" name="正方形/長方形 75"/>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77" name="グループ化 76"/>
            <p:cNvGrpSpPr/>
            <p:nvPr/>
          </p:nvGrpSpPr>
          <p:grpSpPr>
            <a:xfrm>
              <a:off x="5292360" y="2169096"/>
              <a:ext cx="360048" cy="360048"/>
              <a:chOff x="5292096" y="1268712"/>
              <a:chExt cx="360048" cy="360048"/>
            </a:xfrm>
          </p:grpSpPr>
          <p:sp>
            <p:nvSpPr>
              <p:cNvPr id="78" name="正方形/長方形 77"/>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9" name="正方形/長方形 78"/>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80" name="グループ化 79"/>
            <p:cNvGrpSpPr/>
            <p:nvPr/>
          </p:nvGrpSpPr>
          <p:grpSpPr>
            <a:xfrm>
              <a:off x="2321964" y="2259108"/>
              <a:ext cx="180024" cy="180024"/>
              <a:chOff x="3311832" y="2168832"/>
              <a:chExt cx="180024" cy="180024"/>
            </a:xfrm>
          </p:grpSpPr>
          <p:sp>
            <p:nvSpPr>
              <p:cNvPr id="81" name="正方形/長方形 8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82" name="直線コネクタ 8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3" name="直線コネクタ 8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84" name="グループ化 83"/>
            <p:cNvGrpSpPr/>
            <p:nvPr/>
          </p:nvGrpSpPr>
          <p:grpSpPr>
            <a:xfrm>
              <a:off x="5382372" y="2259108"/>
              <a:ext cx="180024" cy="180024"/>
              <a:chOff x="3311832" y="2168832"/>
              <a:chExt cx="180024" cy="180024"/>
            </a:xfrm>
          </p:grpSpPr>
          <p:sp>
            <p:nvSpPr>
              <p:cNvPr id="85" name="正方形/長方形 8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86" name="直線コネクタ 8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88" name="正方形/長方形 87"/>
            <p:cNvSpPr/>
            <p:nvPr/>
          </p:nvSpPr>
          <p:spPr>
            <a:xfrm rot="16200000" flipV="1">
              <a:off x="4819807" y="2236615"/>
              <a:ext cx="2205273"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9" name="正方形/長方形 88"/>
            <p:cNvSpPr/>
            <p:nvPr/>
          </p:nvSpPr>
          <p:spPr>
            <a:xfrm rot="16200000" flipV="1">
              <a:off x="5719941" y="1921566"/>
              <a:ext cx="220524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0" name="正方形/長方形 89"/>
            <p:cNvSpPr/>
            <p:nvPr/>
          </p:nvSpPr>
          <p:spPr>
            <a:xfrm rot="16200000" flipV="1">
              <a:off x="6259961" y="1201495"/>
              <a:ext cx="180024" cy="15751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1" name="正方形/長方形 90"/>
            <p:cNvSpPr/>
            <p:nvPr/>
          </p:nvSpPr>
          <p:spPr>
            <a:xfrm rot="16200000" flipV="1">
              <a:off x="6259961" y="1921591"/>
              <a:ext cx="180024" cy="15751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92" name="グループ化 91"/>
            <p:cNvGrpSpPr/>
            <p:nvPr/>
          </p:nvGrpSpPr>
          <p:grpSpPr>
            <a:xfrm flipV="1">
              <a:off x="5832432" y="3339252"/>
              <a:ext cx="180024" cy="180024"/>
              <a:chOff x="3311832" y="2168832"/>
              <a:chExt cx="180024" cy="180024"/>
            </a:xfrm>
          </p:grpSpPr>
          <p:sp>
            <p:nvSpPr>
              <p:cNvPr id="93" name="正方形/長方形 9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94" name="直線コネクタ 9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96" name="グループ化 95"/>
            <p:cNvGrpSpPr/>
            <p:nvPr/>
          </p:nvGrpSpPr>
          <p:grpSpPr>
            <a:xfrm flipV="1">
              <a:off x="5832432" y="2259108"/>
              <a:ext cx="180024" cy="180024"/>
              <a:chOff x="3311832" y="2168832"/>
              <a:chExt cx="180024" cy="180024"/>
            </a:xfrm>
          </p:grpSpPr>
          <p:sp>
            <p:nvSpPr>
              <p:cNvPr id="97" name="正方形/長方形 9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98" name="直線コネクタ 9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0" name="グループ化 99"/>
            <p:cNvGrpSpPr/>
            <p:nvPr/>
          </p:nvGrpSpPr>
          <p:grpSpPr>
            <a:xfrm flipV="1">
              <a:off x="5832396" y="1494027"/>
              <a:ext cx="180024" cy="180024"/>
              <a:chOff x="3311832" y="2168832"/>
              <a:chExt cx="180024" cy="180024"/>
            </a:xfrm>
          </p:grpSpPr>
          <p:sp>
            <p:nvSpPr>
              <p:cNvPr id="101" name="正方形/長方形 10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02" name="直線コネクタ 10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4" name="グループ化 103"/>
            <p:cNvGrpSpPr/>
            <p:nvPr/>
          </p:nvGrpSpPr>
          <p:grpSpPr>
            <a:xfrm flipV="1">
              <a:off x="6732516" y="3024197"/>
              <a:ext cx="180024" cy="180024"/>
              <a:chOff x="3311832" y="2168832"/>
              <a:chExt cx="180024" cy="180024"/>
            </a:xfrm>
          </p:grpSpPr>
          <p:sp>
            <p:nvSpPr>
              <p:cNvPr id="105" name="正方形/長方形 10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06" name="直線コネクタ 10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8" name="グループ化 107"/>
            <p:cNvGrpSpPr/>
            <p:nvPr/>
          </p:nvGrpSpPr>
          <p:grpSpPr>
            <a:xfrm flipV="1">
              <a:off x="6732552" y="2259108"/>
              <a:ext cx="180024" cy="180024"/>
              <a:chOff x="3311832" y="2168832"/>
              <a:chExt cx="180024" cy="180024"/>
            </a:xfrm>
          </p:grpSpPr>
          <p:sp>
            <p:nvSpPr>
              <p:cNvPr id="109" name="正方形/長方形 10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10" name="直線コネクタ 10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12" name="グループ化 111"/>
            <p:cNvGrpSpPr/>
            <p:nvPr/>
          </p:nvGrpSpPr>
          <p:grpSpPr>
            <a:xfrm flipV="1">
              <a:off x="6732552" y="1178964"/>
              <a:ext cx="180024" cy="180024"/>
              <a:chOff x="3311832" y="2168832"/>
              <a:chExt cx="180024" cy="180024"/>
            </a:xfrm>
          </p:grpSpPr>
          <p:sp>
            <p:nvSpPr>
              <p:cNvPr id="113" name="正方形/長方形 11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14" name="直線コネクタ 11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5" name="直線コネクタ 11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116" name="正方形/長方形 115"/>
            <p:cNvSpPr/>
            <p:nvPr/>
          </p:nvSpPr>
          <p:spPr>
            <a:xfrm rot="16200000" flipV="1">
              <a:off x="6755026" y="1291464"/>
              <a:ext cx="180038" cy="67513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7" name="正方形/長方形 116"/>
            <p:cNvSpPr/>
            <p:nvPr/>
          </p:nvSpPr>
          <p:spPr>
            <a:xfrm rot="16200000" flipV="1">
              <a:off x="5809911" y="2731689"/>
              <a:ext cx="180024" cy="6750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8" name="正方形/長方形 117"/>
            <p:cNvSpPr/>
            <p:nvPr/>
          </p:nvSpPr>
          <p:spPr>
            <a:xfrm>
              <a:off x="6282492" y="2619156"/>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WW1</a:t>
              </a:r>
              <a:endParaRPr lang="ja-JP" altLang="en-US" sz="1200" dirty="0">
                <a:solidFill>
                  <a:schemeClr val="tx1"/>
                </a:solidFill>
              </a:endParaRPr>
            </a:p>
          </p:txBody>
        </p:sp>
        <p:sp>
          <p:nvSpPr>
            <p:cNvPr id="119" name="正方形/長方形 118"/>
            <p:cNvSpPr/>
            <p:nvPr/>
          </p:nvSpPr>
          <p:spPr>
            <a:xfrm>
              <a:off x="5832432" y="2979204"/>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BW1’</a:t>
              </a:r>
              <a:endParaRPr lang="ja-JP" altLang="en-US" sz="1200" dirty="0">
                <a:solidFill>
                  <a:schemeClr val="tx1"/>
                </a:solidFill>
              </a:endParaRPr>
            </a:p>
          </p:txBody>
        </p:sp>
        <p:sp>
          <p:nvSpPr>
            <p:cNvPr id="120" name="正方形/長方形 119"/>
            <p:cNvSpPr/>
            <p:nvPr/>
          </p:nvSpPr>
          <p:spPr>
            <a:xfrm>
              <a:off x="6282492" y="1899060"/>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WW2</a:t>
              </a:r>
              <a:endParaRPr lang="ja-JP" altLang="en-US" dirty="0">
                <a:solidFill>
                  <a:schemeClr val="tx1"/>
                </a:solidFill>
              </a:endParaRPr>
            </a:p>
          </p:txBody>
        </p:sp>
        <p:sp>
          <p:nvSpPr>
            <p:cNvPr id="121" name="正方形/長方形 120"/>
            <p:cNvSpPr/>
            <p:nvPr/>
          </p:nvSpPr>
          <p:spPr>
            <a:xfrm>
              <a:off x="6732552" y="1539012"/>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BW2’</a:t>
              </a:r>
              <a:endParaRPr lang="ja-JP" altLang="en-US" sz="1200" dirty="0">
                <a:solidFill>
                  <a:schemeClr val="tx1"/>
                </a:solidFill>
              </a:endParaRPr>
            </a:p>
          </p:txBody>
        </p:sp>
        <p:grpSp>
          <p:nvGrpSpPr>
            <p:cNvPr id="122" name="グループ化 121"/>
            <p:cNvGrpSpPr/>
            <p:nvPr/>
          </p:nvGrpSpPr>
          <p:grpSpPr>
            <a:xfrm flipV="1">
              <a:off x="7092600" y="2529144"/>
              <a:ext cx="360048" cy="360048"/>
              <a:chOff x="5292096" y="1268712"/>
              <a:chExt cx="360048" cy="360048"/>
            </a:xfrm>
          </p:grpSpPr>
          <p:sp>
            <p:nvSpPr>
              <p:cNvPr id="123" name="正方形/長方形 122"/>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24" name="正方形/長方形 123"/>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25" name="グループ化 124"/>
            <p:cNvGrpSpPr/>
            <p:nvPr/>
          </p:nvGrpSpPr>
          <p:grpSpPr>
            <a:xfrm flipV="1">
              <a:off x="7092600" y="1809048"/>
              <a:ext cx="360048" cy="360048"/>
              <a:chOff x="5292096" y="1268712"/>
              <a:chExt cx="360048" cy="360048"/>
            </a:xfrm>
          </p:grpSpPr>
          <p:sp>
            <p:nvSpPr>
              <p:cNvPr id="126" name="正方形/長方形 125"/>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27" name="正方形/長方形 126"/>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28" name="グループ化 127"/>
            <p:cNvGrpSpPr/>
            <p:nvPr/>
          </p:nvGrpSpPr>
          <p:grpSpPr>
            <a:xfrm flipV="1">
              <a:off x="7182612" y="1899060"/>
              <a:ext cx="180024" cy="180024"/>
              <a:chOff x="3311832" y="2168832"/>
              <a:chExt cx="180024" cy="180024"/>
            </a:xfrm>
          </p:grpSpPr>
          <p:sp>
            <p:nvSpPr>
              <p:cNvPr id="129" name="正方形/長方形 12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0" name="直線コネクタ 12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32" name="グループ化 131"/>
            <p:cNvGrpSpPr/>
            <p:nvPr/>
          </p:nvGrpSpPr>
          <p:grpSpPr>
            <a:xfrm flipV="1">
              <a:off x="7182612" y="2619156"/>
              <a:ext cx="180024" cy="180024"/>
              <a:chOff x="3311832" y="2168832"/>
              <a:chExt cx="180024" cy="180024"/>
            </a:xfrm>
          </p:grpSpPr>
          <p:sp>
            <p:nvSpPr>
              <p:cNvPr id="133" name="正方形/長方形 13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4" name="直線コネクタ 13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36" name="グループ化 135"/>
            <p:cNvGrpSpPr/>
            <p:nvPr/>
          </p:nvGrpSpPr>
          <p:grpSpPr>
            <a:xfrm flipV="1">
              <a:off x="6192444" y="1404015"/>
              <a:ext cx="360048" cy="360048"/>
              <a:chOff x="5292096" y="1268712"/>
              <a:chExt cx="360048" cy="360048"/>
            </a:xfrm>
          </p:grpSpPr>
          <p:sp>
            <p:nvSpPr>
              <p:cNvPr id="137" name="正方形/長方形 136"/>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38" name="正方形/長方形 137"/>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39" name="グループ化 138"/>
            <p:cNvGrpSpPr/>
            <p:nvPr/>
          </p:nvGrpSpPr>
          <p:grpSpPr>
            <a:xfrm flipV="1">
              <a:off x="6192444" y="2934185"/>
              <a:ext cx="360048" cy="360048"/>
              <a:chOff x="5292096" y="1268712"/>
              <a:chExt cx="360048" cy="360048"/>
            </a:xfrm>
          </p:grpSpPr>
          <p:sp>
            <p:nvSpPr>
              <p:cNvPr id="140" name="正方形/長方形 139"/>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1" name="正方形/長方形 140"/>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42" name="グループ化 141"/>
            <p:cNvGrpSpPr/>
            <p:nvPr/>
          </p:nvGrpSpPr>
          <p:grpSpPr>
            <a:xfrm flipV="1">
              <a:off x="6282456" y="3024197"/>
              <a:ext cx="180024" cy="180024"/>
              <a:chOff x="3311832" y="2168832"/>
              <a:chExt cx="180024" cy="180024"/>
            </a:xfrm>
          </p:grpSpPr>
          <p:sp>
            <p:nvSpPr>
              <p:cNvPr id="143" name="正方形/長方形 14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44" name="直線コネクタ 14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5" name="直線コネクタ 14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46" name="グループ化 145"/>
            <p:cNvGrpSpPr/>
            <p:nvPr/>
          </p:nvGrpSpPr>
          <p:grpSpPr>
            <a:xfrm flipV="1">
              <a:off x="6282456" y="1494027"/>
              <a:ext cx="180024" cy="180024"/>
              <a:chOff x="3311832" y="2168832"/>
              <a:chExt cx="180024" cy="180024"/>
            </a:xfrm>
          </p:grpSpPr>
          <p:sp>
            <p:nvSpPr>
              <p:cNvPr id="147" name="正方形/長方形 14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48" name="直線コネクタ 14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150" name="正方形/長方形 149"/>
            <p:cNvSpPr/>
            <p:nvPr/>
          </p:nvSpPr>
          <p:spPr>
            <a:xfrm rot="16200000" flipV="1">
              <a:off x="6507486" y="2799167"/>
              <a:ext cx="180024" cy="63008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1" name="正方形/長方形 150"/>
            <p:cNvSpPr/>
            <p:nvPr/>
          </p:nvSpPr>
          <p:spPr>
            <a:xfrm rot="16200000" flipV="1">
              <a:off x="6057426" y="1268997"/>
              <a:ext cx="180024" cy="63008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2" name="正方形/長方形 151"/>
            <p:cNvSpPr/>
            <p:nvPr/>
          </p:nvSpPr>
          <p:spPr>
            <a:xfrm rot="5400000">
              <a:off x="3762156" y="-81204"/>
              <a:ext cx="2160288" cy="4860648"/>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spTree>
    <p:extLst>
      <p:ext uri="{BB962C8B-B14F-4D97-AF65-F5344CB8AC3E}">
        <p14:creationId xmlns:p14="http://schemas.microsoft.com/office/powerpoint/2010/main" val="12384093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正方形/長方形 128"/>
          <p:cNvSpPr/>
          <p:nvPr/>
        </p:nvSpPr>
        <p:spPr>
          <a:xfrm rot="5400000">
            <a:off x="7536709" y="1628991"/>
            <a:ext cx="180024"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5" name="直線コネクタ 164"/>
          <p:cNvCxnSpPr/>
          <p:nvPr/>
        </p:nvCxnSpPr>
        <p:spPr>
          <a:xfrm flipH="1">
            <a:off x="7536709" y="1719003"/>
            <a:ext cx="1080144"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6" name="直線コネクタ 165"/>
          <p:cNvCxnSpPr/>
          <p:nvPr/>
        </p:nvCxnSpPr>
        <p:spPr>
          <a:xfrm>
            <a:off x="7536709" y="1719003"/>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83" name="直線コネクタ 182"/>
          <p:cNvCxnSpPr/>
          <p:nvPr/>
        </p:nvCxnSpPr>
        <p:spPr>
          <a:xfrm flipH="1">
            <a:off x="6816613" y="1719003"/>
            <a:ext cx="720096"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1" name="正方形/長方形 110"/>
          <p:cNvSpPr/>
          <p:nvPr/>
        </p:nvSpPr>
        <p:spPr>
          <a:xfrm rot="16200000" flipV="1">
            <a:off x="5916493" y="4149327"/>
            <a:ext cx="342045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2" name="正方形/長方形 111"/>
          <p:cNvSpPr/>
          <p:nvPr/>
        </p:nvSpPr>
        <p:spPr>
          <a:xfrm rot="16200000" flipV="1">
            <a:off x="6996637" y="3249207"/>
            <a:ext cx="342045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62" name="直線コネクタ 61"/>
          <p:cNvCxnSpPr/>
          <p:nvPr/>
        </p:nvCxnSpPr>
        <p:spPr>
          <a:xfrm flipH="1">
            <a:off x="7176661" y="4689399"/>
            <a:ext cx="2430324" cy="0"/>
          </a:xfrm>
          <a:prstGeom prst="line">
            <a:avLst/>
          </a:prstGeom>
          <a:ln w="38100" cap="rnd">
            <a:solidFill>
              <a:srgbClr val="FFFF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a:off x="7626721" y="2349087"/>
            <a:ext cx="1530204"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9" name="直線コネクタ 118"/>
          <p:cNvCxnSpPr/>
          <p:nvPr/>
        </p:nvCxnSpPr>
        <p:spPr>
          <a:xfrm>
            <a:off x="7536709" y="2259075"/>
            <a:ext cx="0" cy="54007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7" name="正方形/長方形 136"/>
          <p:cNvSpPr/>
          <p:nvPr/>
        </p:nvSpPr>
        <p:spPr>
          <a:xfrm>
            <a:off x="7626721" y="6309615"/>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138" name="正方形/長方形 137"/>
          <p:cNvSpPr/>
          <p:nvPr/>
        </p:nvSpPr>
        <p:spPr>
          <a:xfrm>
            <a:off x="7896757" y="1268943"/>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143" name="正方形/長方形 142"/>
          <p:cNvSpPr/>
          <p:nvPr/>
        </p:nvSpPr>
        <p:spPr>
          <a:xfrm>
            <a:off x="9606985" y="4779411"/>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WW1</a:t>
            </a:r>
            <a:endParaRPr lang="ja-JP" altLang="en-US" sz="1200" dirty="0">
              <a:solidFill>
                <a:schemeClr val="tx1"/>
              </a:solidFill>
            </a:endParaRPr>
          </a:p>
        </p:txBody>
      </p:sp>
      <p:sp>
        <p:nvSpPr>
          <p:cNvPr id="144" name="正方形/長方形 143"/>
          <p:cNvSpPr/>
          <p:nvPr/>
        </p:nvSpPr>
        <p:spPr>
          <a:xfrm>
            <a:off x="8886889" y="5589519"/>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BW1</a:t>
            </a:r>
            <a:endParaRPr lang="ja-JP" altLang="en-US" sz="1200" dirty="0">
              <a:solidFill>
                <a:schemeClr val="tx1"/>
              </a:solidFill>
            </a:endParaRPr>
          </a:p>
        </p:txBody>
      </p:sp>
      <p:sp>
        <p:nvSpPr>
          <p:cNvPr id="145" name="正方形/長方形 144"/>
          <p:cNvSpPr/>
          <p:nvPr/>
        </p:nvSpPr>
        <p:spPr>
          <a:xfrm>
            <a:off x="9606985" y="2619123"/>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WW2</a:t>
            </a:r>
            <a:endParaRPr lang="ja-JP" altLang="en-US" dirty="0">
              <a:solidFill>
                <a:schemeClr val="tx1"/>
              </a:solidFill>
            </a:endParaRPr>
          </a:p>
        </p:txBody>
      </p:sp>
      <p:sp>
        <p:nvSpPr>
          <p:cNvPr id="146" name="正方形/長方形 145"/>
          <p:cNvSpPr/>
          <p:nvPr/>
        </p:nvSpPr>
        <p:spPr>
          <a:xfrm>
            <a:off x="7086649" y="2079051"/>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BW2’</a:t>
            </a:r>
            <a:endParaRPr lang="ja-JP" altLang="en-US" sz="1200" dirty="0">
              <a:solidFill>
                <a:schemeClr val="tx1"/>
              </a:solidFill>
            </a:endParaRPr>
          </a:p>
        </p:txBody>
      </p:sp>
      <p:cxnSp>
        <p:nvCxnSpPr>
          <p:cNvPr id="167" name="直線コネクタ 166"/>
          <p:cNvCxnSpPr/>
          <p:nvPr/>
        </p:nvCxnSpPr>
        <p:spPr>
          <a:xfrm flipH="1" flipV="1">
            <a:off x="7536709" y="4239339"/>
            <a:ext cx="90012" cy="90012"/>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69" name="直線コネクタ 168"/>
          <p:cNvCxnSpPr/>
          <p:nvPr/>
        </p:nvCxnSpPr>
        <p:spPr>
          <a:xfrm flipH="1" flipV="1">
            <a:off x="7536709" y="2799147"/>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0" name="直線コネクタ 169"/>
          <p:cNvCxnSpPr/>
          <p:nvPr/>
        </p:nvCxnSpPr>
        <p:spPr>
          <a:xfrm flipH="1" flipV="1">
            <a:off x="7536709" y="2259075"/>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2" name="直線コネクタ 171"/>
          <p:cNvCxnSpPr/>
          <p:nvPr/>
        </p:nvCxnSpPr>
        <p:spPr>
          <a:xfrm flipH="1" flipV="1">
            <a:off x="8526841" y="4869423"/>
            <a:ext cx="180024" cy="180024"/>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3" name="直線コネクタ 172"/>
          <p:cNvCxnSpPr/>
          <p:nvPr/>
        </p:nvCxnSpPr>
        <p:spPr>
          <a:xfrm flipH="1" flipV="1">
            <a:off x="7536709" y="6039579"/>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4" name="直線コネクタ 173"/>
          <p:cNvCxnSpPr/>
          <p:nvPr/>
        </p:nvCxnSpPr>
        <p:spPr>
          <a:xfrm flipH="1" flipV="1">
            <a:off x="9246937" y="4509375"/>
            <a:ext cx="180024" cy="180024"/>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6" name="直線コネクタ 175"/>
          <p:cNvCxnSpPr/>
          <p:nvPr/>
        </p:nvCxnSpPr>
        <p:spPr>
          <a:xfrm flipH="1" flipV="1">
            <a:off x="8616853" y="1719003"/>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flipH="1">
            <a:off x="7176661" y="5589519"/>
            <a:ext cx="1530204"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07" name="直線コネクタ 206"/>
          <p:cNvCxnSpPr/>
          <p:nvPr/>
        </p:nvCxnSpPr>
        <p:spPr>
          <a:xfrm>
            <a:off x="7176661" y="3249207"/>
            <a:ext cx="2430324" cy="0"/>
          </a:xfrm>
          <a:prstGeom prst="line">
            <a:avLst/>
          </a:prstGeom>
          <a:ln w="38100" cap="rnd">
            <a:solidFill>
              <a:srgbClr val="FFFF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8526841" y="4869423"/>
            <a:ext cx="0" cy="54007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1" name="直線コネクタ 170"/>
          <p:cNvCxnSpPr/>
          <p:nvPr/>
        </p:nvCxnSpPr>
        <p:spPr>
          <a:xfrm flipH="1" flipV="1">
            <a:off x="8526841" y="5409495"/>
            <a:ext cx="180024" cy="180024"/>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5" name="直線コネクタ 174"/>
          <p:cNvCxnSpPr/>
          <p:nvPr/>
        </p:nvCxnSpPr>
        <p:spPr>
          <a:xfrm flipH="1" flipV="1">
            <a:off x="9246937" y="3069183"/>
            <a:ext cx="180024" cy="180024"/>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8" name="正方形/長方形 127"/>
          <p:cNvSpPr/>
          <p:nvPr/>
        </p:nvSpPr>
        <p:spPr>
          <a:xfrm rot="5400000">
            <a:off x="8616853" y="5769543"/>
            <a:ext cx="180024"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20" name="正方形/長方形 219"/>
          <p:cNvSpPr/>
          <p:nvPr/>
        </p:nvSpPr>
        <p:spPr>
          <a:xfrm rot="5400000">
            <a:off x="3846217" y="548847"/>
            <a:ext cx="4320576" cy="6840912"/>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6" name="正方形/長方形 75"/>
          <p:cNvSpPr/>
          <p:nvPr/>
        </p:nvSpPr>
        <p:spPr>
          <a:xfrm rot="5400000">
            <a:off x="3216133" y="1628991"/>
            <a:ext cx="180024"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7" name="正方形/長方形 76"/>
          <p:cNvSpPr/>
          <p:nvPr/>
        </p:nvSpPr>
        <p:spPr>
          <a:xfrm rot="5400000">
            <a:off x="6096517" y="5769543"/>
            <a:ext cx="180024"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9" name="正方形/長方形 78"/>
          <p:cNvSpPr/>
          <p:nvPr/>
        </p:nvSpPr>
        <p:spPr>
          <a:xfrm rot="5400000">
            <a:off x="3711199" y="2574117"/>
            <a:ext cx="2070276" cy="540072"/>
          </a:xfrm>
          <a:prstGeom prst="rect">
            <a:avLst/>
          </a:prstGeom>
          <a:solidFill>
            <a:schemeClr val="accent2">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0" name="正方形/長方形 79"/>
          <p:cNvSpPr/>
          <p:nvPr/>
        </p:nvSpPr>
        <p:spPr>
          <a:xfrm rot="5400000">
            <a:off x="4611319" y="3114189"/>
            <a:ext cx="3150420"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1" name="正方形/長方形 80"/>
          <p:cNvSpPr/>
          <p:nvPr/>
        </p:nvSpPr>
        <p:spPr>
          <a:xfrm rot="5400000">
            <a:off x="1910959" y="4464369"/>
            <a:ext cx="2790372"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2" name="正方形/長方形 81"/>
          <p:cNvSpPr/>
          <p:nvPr/>
        </p:nvSpPr>
        <p:spPr>
          <a:xfrm rot="5400000">
            <a:off x="3711199" y="4824417"/>
            <a:ext cx="2070276" cy="540072"/>
          </a:xfrm>
          <a:prstGeom prst="rect">
            <a:avLst/>
          </a:prstGeom>
          <a:solidFill>
            <a:schemeClr val="accent2">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84" name="直線コネクタ 83"/>
          <p:cNvCxnSpPr/>
          <p:nvPr/>
        </p:nvCxnSpPr>
        <p:spPr>
          <a:xfrm>
            <a:off x="2586049" y="3969303"/>
            <a:ext cx="1170156"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p:cNvCxnSpPr/>
          <p:nvPr/>
        </p:nvCxnSpPr>
        <p:spPr>
          <a:xfrm flipH="1">
            <a:off x="2856085" y="5049447"/>
            <a:ext cx="2610348"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a:off x="4026241" y="2889159"/>
            <a:ext cx="2610348"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H="1">
            <a:off x="5736469" y="4329351"/>
            <a:ext cx="1170156"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flipH="1">
            <a:off x="3216133" y="4239339"/>
            <a:ext cx="1440192"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flipV="1">
            <a:off x="3936229" y="2799147"/>
            <a:ext cx="0" cy="144019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H="1">
            <a:off x="4656325" y="3519243"/>
            <a:ext cx="1440192"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1" name="正方形/長方形 90"/>
          <p:cNvSpPr/>
          <p:nvPr/>
        </p:nvSpPr>
        <p:spPr>
          <a:xfrm>
            <a:off x="3216133" y="6309615"/>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92" name="正方形/長方形 91"/>
          <p:cNvSpPr/>
          <p:nvPr/>
        </p:nvSpPr>
        <p:spPr>
          <a:xfrm>
            <a:off x="1775941" y="558951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93" name="正方形/長方形 92"/>
          <p:cNvSpPr/>
          <p:nvPr/>
        </p:nvSpPr>
        <p:spPr>
          <a:xfrm>
            <a:off x="4476301"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DD</a:t>
            </a:r>
            <a:endParaRPr lang="ja-JP" altLang="en-US" baseline="-25000" dirty="0">
              <a:solidFill>
                <a:schemeClr val="tx1"/>
              </a:solidFill>
            </a:endParaRPr>
          </a:p>
        </p:txBody>
      </p:sp>
      <p:sp>
        <p:nvSpPr>
          <p:cNvPr id="94" name="正方形/長方形 93"/>
          <p:cNvSpPr/>
          <p:nvPr/>
        </p:nvSpPr>
        <p:spPr>
          <a:xfrm>
            <a:off x="1775941" y="126894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96" name="正方形/長方形 95"/>
          <p:cNvSpPr/>
          <p:nvPr/>
        </p:nvSpPr>
        <p:spPr>
          <a:xfrm>
            <a:off x="1775941" y="30691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WR1</a:t>
            </a:r>
            <a:endParaRPr lang="ja-JP" altLang="en-US" dirty="0">
              <a:solidFill>
                <a:schemeClr val="tx1"/>
              </a:solidFill>
            </a:endParaRPr>
          </a:p>
        </p:txBody>
      </p:sp>
      <p:sp>
        <p:nvSpPr>
          <p:cNvPr id="97" name="正方形/長方形 96"/>
          <p:cNvSpPr/>
          <p:nvPr/>
        </p:nvSpPr>
        <p:spPr>
          <a:xfrm>
            <a:off x="3036109"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BR1</a:t>
            </a:r>
            <a:endParaRPr lang="ja-JP" altLang="en-US" sz="1200" dirty="0">
              <a:solidFill>
                <a:schemeClr val="tx1"/>
              </a:solidFill>
            </a:endParaRPr>
          </a:p>
        </p:txBody>
      </p:sp>
      <p:sp>
        <p:nvSpPr>
          <p:cNvPr id="98" name="正方形/長方形 97"/>
          <p:cNvSpPr/>
          <p:nvPr/>
        </p:nvSpPr>
        <p:spPr>
          <a:xfrm>
            <a:off x="1775941" y="378927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WR2</a:t>
            </a:r>
            <a:endParaRPr lang="ja-JP" altLang="en-US" sz="1200" dirty="0">
              <a:solidFill>
                <a:schemeClr val="tx1"/>
              </a:solidFill>
            </a:endParaRPr>
          </a:p>
        </p:txBody>
      </p:sp>
      <p:sp>
        <p:nvSpPr>
          <p:cNvPr id="99" name="正方形/長方形 98"/>
          <p:cNvSpPr/>
          <p:nvPr/>
        </p:nvSpPr>
        <p:spPr>
          <a:xfrm>
            <a:off x="5916493"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BR2’</a:t>
            </a:r>
            <a:endParaRPr lang="ja-JP" altLang="en-US" sz="1200" dirty="0">
              <a:solidFill>
                <a:schemeClr val="tx1"/>
              </a:solidFill>
            </a:endParaRPr>
          </a:p>
        </p:txBody>
      </p:sp>
      <p:sp>
        <p:nvSpPr>
          <p:cNvPr id="100" name="正方形/長方形 99"/>
          <p:cNvSpPr/>
          <p:nvPr/>
        </p:nvSpPr>
        <p:spPr>
          <a:xfrm>
            <a:off x="3756205" y="423933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S</a:t>
            </a:r>
            <a:endParaRPr lang="ja-JP" altLang="en-US" sz="1200" dirty="0">
              <a:solidFill>
                <a:schemeClr val="tx1"/>
              </a:solidFill>
            </a:endParaRPr>
          </a:p>
        </p:txBody>
      </p:sp>
      <p:sp>
        <p:nvSpPr>
          <p:cNvPr id="101" name="正方形/長方形 100"/>
          <p:cNvSpPr/>
          <p:nvPr/>
        </p:nvSpPr>
        <p:spPr>
          <a:xfrm>
            <a:off x="5196397" y="3159195"/>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S’</a:t>
            </a:r>
            <a:endParaRPr lang="ja-JP" altLang="en-US" sz="1200" dirty="0">
              <a:solidFill>
                <a:schemeClr val="tx1"/>
              </a:solidFill>
            </a:endParaRPr>
          </a:p>
        </p:txBody>
      </p:sp>
      <p:cxnSp>
        <p:nvCxnSpPr>
          <p:cNvPr id="102" name="直線コネクタ 101"/>
          <p:cNvCxnSpPr/>
          <p:nvPr/>
        </p:nvCxnSpPr>
        <p:spPr>
          <a:xfrm>
            <a:off x="3216133"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4" name="直線コネクタ 103"/>
          <p:cNvCxnSpPr/>
          <p:nvPr/>
        </p:nvCxnSpPr>
        <p:spPr>
          <a:xfrm>
            <a:off x="4656325"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a:off x="4656325"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a:off x="6096517"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15" name="直線コネクタ 114"/>
          <p:cNvCxnSpPr/>
          <p:nvPr/>
        </p:nvCxnSpPr>
        <p:spPr>
          <a:xfrm>
            <a:off x="3936229" y="2799147"/>
            <a:ext cx="2880384" cy="0"/>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6" name="直線コネクタ 115"/>
          <p:cNvCxnSpPr/>
          <p:nvPr/>
        </p:nvCxnSpPr>
        <p:spPr>
          <a:xfrm>
            <a:off x="5376421" y="3519243"/>
            <a:ext cx="0" cy="189025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a:off x="3216133"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3216133"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20" name="直線コネクタ 119"/>
          <p:cNvCxnSpPr/>
          <p:nvPr/>
        </p:nvCxnSpPr>
        <p:spPr>
          <a:xfrm>
            <a:off x="4656325" y="5679531"/>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21" name="直線コネクタ 120"/>
          <p:cNvCxnSpPr/>
          <p:nvPr/>
        </p:nvCxnSpPr>
        <p:spPr>
          <a:xfrm>
            <a:off x="6096517" y="4599387"/>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a:off x="2496037" y="3879291"/>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47" name="直線コネクタ 146"/>
          <p:cNvCxnSpPr/>
          <p:nvPr/>
        </p:nvCxnSpPr>
        <p:spPr>
          <a:xfrm>
            <a:off x="6816613" y="2799147"/>
            <a:ext cx="0" cy="360048"/>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8" name="直線コネクタ 147"/>
          <p:cNvCxnSpPr/>
          <p:nvPr/>
        </p:nvCxnSpPr>
        <p:spPr>
          <a:xfrm flipH="1" flipV="1">
            <a:off x="5376421" y="4959435"/>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6" name="直線コネクタ 155"/>
          <p:cNvCxnSpPr/>
          <p:nvPr/>
        </p:nvCxnSpPr>
        <p:spPr>
          <a:xfrm flipH="1" flipV="1">
            <a:off x="3936229" y="2799147"/>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7" name="直線コネクタ 156"/>
          <p:cNvCxnSpPr/>
          <p:nvPr/>
        </p:nvCxnSpPr>
        <p:spPr>
          <a:xfrm>
            <a:off x="3126121" y="3429231"/>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2406025" y="3789279"/>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0" name="直線コネクタ 159"/>
          <p:cNvCxnSpPr/>
          <p:nvPr/>
        </p:nvCxnSpPr>
        <p:spPr>
          <a:xfrm>
            <a:off x="4566313" y="5589519"/>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7" name="直線コネクタ 176"/>
          <p:cNvCxnSpPr/>
          <p:nvPr/>
        </p:nvCxnSpPr>
        <p:spPr>
          <a:xfrm>
            <a:off x="6006505" y="4509375"/>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p:cNvCxnSpPr/>
          <p:nvPr/>
        </p:nvCxnSpPr>
        <p:spPr>
          <a:xfrm>
            <a:off x="2496037" y="6039579"/>
            <a:ext cx="720096" cy="0"/>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p:cNvCxnSpPr/>
          <p:nvPr/>
        </p:nvCxnSpPr>
        <p:spPr>
          <a:xfrm flipH="1" flipV="1">
            <a:off x="2406025" y="594956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1" name="直線コネクタ 180"/>
          <p:cNvCxnSpPr/>
          <p:nvPr/>
        </p:nvCxnSpPr>
        <p:spPr>
          <a:xfrm>
            <a:off x="6096517" y="171900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2" name="直線コネクタ 181"/>
          <p:cNvCxnSpPr/>
          <p:nvPr/>
        </p:nvCxnSpPr>
        <p:spPr>
          <a:xfrm>
            <a:off x="6096517" y="1719003"/>
            <a:ext cx="720096" cy="0"/>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5" name="直線コネクタ 184"/>
          <p:cNvCxnSpPr/>
          <p:nvPr/>
        </p:nvCxnSpPr>
        <p:spPr>
          <a:xfrm>
            <a:off x="6726601" y="1628991"/>
            <a:ext cx="90012" cy="90012"/>
          </a:xfrm>
          <a:prstGeom prst="line">
            <a:avLst/>
          </a:prstGeom>
          <a:ln w="38100" cap="rnd">
            <a:solidFill>
              <a:srgbClr val="FF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6636589" y="153897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V="1">
            <a:off x="2406025" y="3429231"/>
            <a:ext cx="0" cy="36004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1" name="直線コネクタ 190"/>
          <p:cNvCxnSpPr/>
          <p:nvPr/>
        </p:nvCxnSpPr>
        <p:spPr>
          <a:xfrm>
            <a:off x="6636589" y="4059315"/>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a:off x="6096517"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93" name="直線コネクタ 192"/>
          <p:cNvCxnSpPr/>
          <p:nvPr/>
        </p:nvCxnSpPr>
        <p:spPr>
          <a:xfrm>
            <a:off x="6096517" y="6039579"/>
            <a:ext cx="720096" cy="0"/>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94" name="直線コネクタ 193"/>
          <p:cNvCxnSpPr/>
          <p:nvPr/>
        </p:nvCxnSpPr>
        <p:spPr>
          <a:xfrm flipH="1" flipV="1">
            <a:off x="6726601" y="594956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p:cNvCxnSpPr/>
          <p:nvPr/>
        </p:nvCxnSpPr>
        <p:spPr>
          <a:xfrm>
            <a:off x="6636589" y="5859555"/>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96" name="直線コネクタ 195"/>
          <p:cNvCxnSpPr/>
          <p:nvPr/>
        </p:nvCxnSpPr>
        <p:spPr>
          <a:xfrm>
            <a:off x="6816613" y="2799147"/>
            <a:ext cx="0" cy="810108"/>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a:off x="5376421" y="5409495"/>
            <a:ext cx="2160288"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flipV="1">
            <a:off x="7536709" y="4419363"/>
            <a:ext cx="0" cy="99013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2" name="直線コネクタ 201"/>
          <p:cNvCxnSpPr/>
          <p:nvPr/>
        </p:nvCxnSpPr>
        <p:spPr>
          <a:xfrm>
            <a:off x="7536709" y="4239339"/>
            <a:ext cx="0" cy="270036"/>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コネクタ 109"/>
          <p:cNvCxnSpPr/>
          <p:nvPr/>
        </p:nvCxnSpPr>
        <p:spPr>
          <a:xfrm>
            <a:off x="6636589" y="153897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40" name="直線コネクタ 139"/>
          <p:cNvCxnSpPr/>
          <p:nvPr/>
        </p:nvCxnSpPr>
        <p:spPr>
          <a:xfrm flipH="1">
            <a:off x="7536709" y="6039579"/>
            <a:ext cx="1080144"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p:cNvCxnSpPr/>
          <p:nvPr/>
        </p:nvCxnSpPr>
        <p:spPr>
          <a:xfrm>
            <a:off x="7536709" y="6039579"/>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a:off x="8616853"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6816613" y="6039579"/>
            <a:ext cx="720096"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a:off x="9156925" y="4419363"/>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1" name="直線コネクタ 150"/>
          <p:cNvCxnSpPr/>
          <p:nvPr/>
        </p:nvCxnSpPr>
        <p:spPr>
          <a:xfrm>
            <a:off x="9156925" y="4419363"/>
            <a:ext cx="0" cy="450060"/>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2" name="直線コネクタ 151"/>
          <p:cNvCxnSpPr/>
          <p:nvPr/>
        </p:nvCxnSpPr>
        <p:spPr>
          <a:xfrm>
            <a:off x="9066913" y="4779411"/>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flipV="1">
            <a:off x="9246937" y="2709135"/>
            <a:ext cx="0" cy="36004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9" name="直線コネクタ 158"/>
          <p:cNvCxnSpPr/>
          <p:nvPr/>
        </p:nvCxnSpPr>
        <p:spPr>
          <a:xfrm>
            <a:off x="9156925" y="2619123"/>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p:cNvCxnSpPr/>
          <p:nvPr/>
        </p:nvCxnSpPr>
        <p:spPr>
          <a:xfrm>
            <a:off x="9246937" y="3069183"/>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flipV="1">
            <a:off x="8616853" y="3879291"/>
            <a:ext cx="90012" cy="90012"/>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p:cNvCxnSpPr/>
          <p:nvPr/>
        </p:nvCxnSpPr>
        <p:spPr>
          <a:xfrm>
            <a:off x="6816613"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9" name="直線コネクタ 108"/>
          <p:cNvCxnSpPr/>
          <p:nvPr/>
        </p:nvCxnSpPr>
        <p:spPr>
          <a:xfrm>
            <a:off x="6726601" y="414932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a:off x="6816613" y="3609255"/>
            <a:ext cx="1800240"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6" name="直線コネクタ 125"/>
          <p:cNvCxnSpPr/>
          <p:nvPr/>
        </p:nvCxnSpPr>
        <p:spPr>
          <a:xfrm>
            <a:off x="8616853" y="3609255"/>
            <a:ext cx="0" cy="270036"/>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H="1">
            <a:off x="2316013" y="3339219"/>
            <a:ext cx="8191092"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3" name="直線コネクタ 132"/>
          <p:cNvCxnSpPr/>
          <p:nvPr/>
        </p:nvCxnSpPr>
        <p:spPr>
          <a:xfrm flipH="1">
            <a:off x="9066913" y="4779411"/>
            <a:ext cx="1440192"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4" name="直線コネクタ 133"/>
          <p:cNvCxnSpPr/>
          <p:nvPr/>
        </p:nvCxnSpPr>
        <p:spPr>
          <a:xfrm>
            <a:off x="2316013" y="333921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3126121" y="1088919"/>
            <a:ext cx="0" cy="2340312"/>
          </a:xfrm>
          <a:prstGeom prst="line">
            <a:avLst/>
          </a:prstGeom>
          <a:ln w="38100" cap="rnd">
            <a:solidFill>
              <a:srgbClr val="FF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9" name="直線コネクタ 138"/>
          <p:cNvCxnSpPr/>
          <p:nvPr/>
        </p:nvCxnSpPr>
        <p:spPr>
          <a:xfrm>
            <a:off x="8436829"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4" name="直線コネクタ 153"/>
          <p:cNvCxnSpPr/>
          <p:nvPr/>
        </p:nvCxnSpPr>
        <p:spPr>
          <a:xfrm>
            <a:off x="7446697"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3126121"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a:off x="4566313"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p:cNvCxnSpPr/>
          <p:nvPr/>
        </p:nvCxnSpPr>
        <p:spPr>
          <a:xfrm>
            <a:off x="6006505"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3" name="直線コネクタ 112"/>
          <p:cNvCxnSpPr/>
          <p:nvPr/>
        </p:nvCxnSpPr>
        <p:spPr>
          <a:xfrm>
            <a:off x="1865953" y="1538979"/>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4" name="直線コネクタ 113"/>
          <p:cNvCxnSpPr/>
          <p:nvPr/>
        </p:nvCxnSpPr>
        <p:spPr>
          <a:xfrm>
            <a:off x="1865953" y="2619123"/>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4" name="直線コネクタ 123"/>
          <p:cNvCxnSpPr/>
          <p:nvPr/>
        </p:nvCxnSpPr>
        <p:spPr>
          <a:xfrm flipH="1">
            <a:off x="1865953" y="4059315"/>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7" name="直線コネクタ 126"/>
          <p:cNvCxnSpPr/>
          <p:nvPr/>
        </p:nvCxnSpPr>
        <p:spPr>
          <a:xfrm>
            <a:off x="1865953" y="4779411"/>
            <a:ext cx="7200960"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a:off x="1865953" y="5859555"/>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2" name="直線コネクタ 131"/>
          <p:cNvCxnSpPr/>
          <p:nvPr/>
        </p:nvCxnSpPr>
        <p:spPr>
          <a:xfrm>
            <a:off x="1865953" y="3339219"/>
            <a:ext cx="450060"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2" name="タイトル 1"/>
          <p:cNvSpPr>
            <a:spLocks noGrp="1"/>
          </p:cNvSpPr>
          <p:nvPr>
            <p:ph type="title"/>
          </p:nvPr>
        </p:nvSpPr>
        <p:spPr/>
        <p:txBody>
          <a:bodyPr/>
          <a:lstStyle/>
          <a:p>
            <a:r>
              <a:rPr lang="en-US" altLang="ja-JP" dirty="0"/>
              <a:t>3</a:t>
            </a:r>
            <a:r>
              <a:rPr lang="ja-JP" altLang="en-US" dirty="0"/>
              <a:t>次元的な構造を考えながら，設計</a:t>
            </a:r>
            <a:endParaRPr kumimoji="1" lang="ja-JP" altLang="en-US" dirty="0"/>
          </a:p>
        </p:txBody>
      </p:sp>
    </p:spTree>
    <p:extLst>
      <p:ext uri="{BB962C8B-B14F-4D97-AF65-F5344CB8AC3E}">
        <p14:creationId xmlns:p14="http://schemas.microsoft.com/office/powerpoint/2010/main" val="415980991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実際の設計データ</a:t>
            </a:r>
            <a:endParaRPr kumimoji="1" lang="ja-JP" altLang="en-US" dirty="0"/>
          </a:p>
        </p:txBody>
      </p:sp>
      <p:sp>
        <p:nvSpPr>
          <p:cNvPr id="5" name="テキスト プレースホルダー 4"/>
          <p:cNvSpPr>
            <a:spLocks noGrp="1"/>
          </p:cNvSpPr>
          <p:nvPr>
            <p:ph type="body" sz="quarter" idx="10"/>
          </p:nvPr>
        </p:nvSpPr>
        <p:spPr/>
        <p:txBody>
          <a:bodyPr/>
          <a:lstStyle/>
          <a:p>
            <a:endParaRPr kumimoji="1" lang="ja-JP" altLang="en-US"/>
          </a:p>
        </p:txBody>
      </p:sp>
      <p:pic>
        <p:nvPicPr>
          <p:cNvPr id="4" name="図 3"/>
          <p:cNvPicPr>
            <a:picLocks noChangeAspect="1"/>
          </p:cNvPicPr>
          <p:nvPr/>
        </p:nvPicPr>
        <p:blipFill>
          <a:blip r:embed="rId2"/>
          <a:stretch>
            <a:fillRect/>
          </a:stretch>
        </p:blipFill>
        <p:spPr>
          <a:xfrm>
            <a:off x="2045955" y="2258987"/>
            <a:ext cx="8452256" cy="3305876"/>
          </a:xfrm>
          <a:prstGeom prst="rect">
            <a:avLst/>
          </a:prstGeom>
        </p:spPr>
      </p:pic>
    </p:spTree>
    <p:extLst>
      <p:ext uri="{BB962C8B-B14F-4D97-AF65-F5344CB8AC3E}">
        <p14:creationId xmlns:p14="http://schemas.microsoft.com/office/powerpoint/2010/main" val="399785597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955954" y="1"/>
            <a:ext cx="8712046" cy="638969"/>
          </a:xfrm>
        </p:spPr>
        <p:txBody>
          <a:bodyPr/>
          <a:lstStyle/>
          <a:p>
            <a:r>
              <a:rPr kumimoji="1" lang="ja-JP" altLang="en-US" dirty="0"/>
              <a:t>実際の例：</a:t>
            </a:r>
            <a:r>
              <a:rPr kumimoji="1" lang="en-US" altLang="ja-JP" dirty="0"/>
              <a:t>IBM POWER8 </a:t>
            </a:r>
            <a:r>
              <a:rPr kumimoji="1" lang="ja-JP" altLang="en-US" dirty="0"/>
              <a:t>のチップ写真</a:t>
            </a:r>
          </a:p>
        </p:txBody>
      </p:sp>
      <p:sp>
        <p:nvSpPr>
          <p:cNvPr id="3" name="テキスト プレースホルダー 2"/>
          <p:cNvSpPr>
            <a:spLocks noGrp="1"/>
          </p:cNvSpPr>
          <p:nvPr>
            <p:ph type="body" sz="quarter" idx="10"/>
          </p:nvPr>
        </p:nvSpPr>
        <p:spPr>
          <a:xfrm>
            <a:off x="1524000" y="5859027"/>
            <a:ext cx="8892048" cy="449698"/>
          </a:xfrm>
        </p:spPr>
        <p:txBody>
          <a:bodyPr/>
          <a:lstStyle/>
          <a:p>
            <a:pPr lvl="1"/>
            <a:r>
              <a:rPr kumimoji="1" lang="ja-JP" altLang="en-US" dirty="0" err="1"/>
              <a:t>もわっ</a:t>
            </a:r>
            <a:r>
              <a:rPr kumimoji="1" lang="ja-JP" altLang="en-US" dirty="0"/>
              <a:t>とした模様の部分がスタンダード・セルを自動で配置した部分</a:t>
            </a:r>
            <a:endParaRPr kumimoji="1" lang="en-US" altLang="ja-JP" dirty="0"/>
          </a:p>
          <a:p>
            <a:pPr lvl="1"/>
            <a:r>
              <a:rPr kumimoji="1" lang="ja-JP" altLang="en-US" dirty="0"/>
              <a:t>四角いところは基本的にはメモリ</a:t>
            </a:r>
            <a:endParaRPr kumimoji="1" lang="en-US" altLang="ja-JP" dirty="0"/>
          </a:p>
          <a:p>
            <a:pPr lvl="2"/>
            <a:r>
              <a:rPr kumimoji="1" lang="ja-JP" altLang="en-US" dirty="0"/>
              <a:t>同じものが規則正しく並んでいる</a:t>
            </a:r>
          </a:p>
        </p:txBody>
      </p:sp>
      <p:pic>
        <p:nvPicPr>
          <p:cNvPr id="4" name="図 3"/>
          <p:cNvPicPr>
            <a:picLocks noChangeAspect="1"/>
          </p:cNvPicPr>
          <p:nvPr/>
        </p:nvPicPr>
        <p:blipFill>
          <a:blip r:embed="rId2"/>
          <a:stretch>
            <a:fillRect/>
          </a:stretch>
        </p:blipFill>
        <p:spPr>
          <a:xfrm>
            <a:off x="2945966" y="1088975"/>
            <a:ext cx="6763067" cy="4444831"/>
          </a:xfrm>
          <a:prstGeom prst="rect">
            <a:avLst/>
          </a:prstGeom>
        </p:spPr>
      </p:pic>
      <p:sp>
        <p:nvSpPr>
          <p:cNvPr id="5" name="テキスト プレースホルダー 2"/>
          <p:cNvSpPr txBox="1">
            <a:spLocks/>
          </p:cNvSpPr>
          <p:nvPr/>
        </p:nvSpPr>
        <p:spPr bwMode="auto">
          <a:xfrm>
            <a:off x="1955954" y="458967"/>
            <a:ext cx="8280092" cy="44969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100" kern="0" dirty="0">
                <a:solidFill>
                  <a:schemeClr val="bg1"/>
                </a:solidFill>
              </a:rPr>
              <a:t>画像は </a:t>
            </a:r>
            <a:r>
              <a:rPr lang="en-US" altLang="ja-JP" sz="1100" dirty="0">
                <a:solidFill>
                  <a:schemeClr val="bg1"/>
                </a:solidFill>
              </a:rPr>
              <a:t>2014 IEEE International Solid-State Circuits Conference </a:t>
            </a:r>
            <a:r>
              <a:rPr lang="en-US" altLang="ja-JP" sz="1100" kern="0" dirty="0">
                <a:solidFill>
                  <a:schemeClr val="bg1"/>
                </a:solidFill>
              </a:rPr>
              <a:t>5.1: POWER8TM: A 12-Core Server-Class Processor in 22nm SOI with 7.6Tb/s Off-Chip Bandwidth </a:t>
            </a:r>
            <a:r>
              <a:rPr lang="ja-JP" altLang="en-US" sz="1100" kern="0" dirty="0">
                <a:solidFill>
                  <a:schemeClr val="bg1"/>
                </a:solidFill>
              </a:rPr>
              <a:t>より</a:t>
            </a:r>
          </a:p>
        </p:txBody>
      </p:sp>
    </p:spTree>
    <p:extLst>
      <p:ext uri="{BB962C8B-B14F-4D97-AF65-F5344CB8AC3E}">
        <p14:creationId xmlns:p14="http://schemas.microsoft.com/office/powerpoint/2010/main" val="42356041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B193E4-A1E8-5F36-16EF-9B2422247963}"/>
              </a:ext>
            </a:extLst>
          </p:cNvPr>
          <p:cNvSpPr>
            <a:spLocks noGrp="1"/>
          </p:cNvSpPr>
          <p:nvPr>
            <p:ph type="title"/>
          </p:nvPr>
        </p:nvSpPr>
        <p:spPr/>
        <p:txBody>
          <a:bodyPr/>
          <a:lstStyle/>
          <a:p>
            <a:endParaRPr kumimoji="1" lang="en-US"/>
          </a:p>
        </p:txBody>
      </p:sp>
      <p:sp>
        <p:nvSpPr>
          <p:cNvPr id="3" name="コンテンツ プレースホルダー 2">
            <a:extLst>
              <a:ext uri="{FF2B5EF4-FFF2-40B4-BE49-F238E27FC236}">
                <a16:creationId xmlns:a16="http://schemas.microsoft.com/office/drawing/2014/main" id="{349DA31E-565D-4E63-1342-8AAF9E047E0D}"/>
              </a:ext>
            </a:extLst>
          </p:cNvPr>
          <p:cNvSpPr>
            <a:spLocks noGrp="1"/>
          </p:cNvSpPr>
          <p:nvPr>
            <p:ph type="body" sz="quarter" idx="10"/>
          </p:nvPr>
        </p:nvSpPr>
        <p:spPr/>
        <p:txBody>
          <a:bodyPr/>
          <a:lstStyle/>
          <a:p>
            <a:endParaRPr kumimoji="1" lang="en-US" dirty="0"/>
          </a:p>
        </p:txBody>
      </p:sp>
      <p:pic>
        <p:nvPicPr>
          <p:cNvPr id="4" name="Picture 83" descr="NAND">
            <a:extLst>
              <a:ext uri="{FF2B5EF4-FFF2-40B4-BE49-F238E27FC236}">
                <a16:creationId xmlns:a16="http://schemas.microsoft.com/office/drawing/2014/main" id="{BB575B8A-EE34-C49B-7F26-A9EF6E6E3300}"/>
              </a:ext>
            </a:extLst>
          </p:cNvPr>
          <p:cNvPicPr>
            <a:picLocks noChangeAspect="1" noChangeArrowheads="1"/>
          </p:cNvPicPr>
          <p:nvPr/>
        </p:nvPicPr>
        <p:blipFill>
          <a:blip r:embed="rId2" cstate="print"/>
          <a:srcRect/>
          <a:stretch>
            <a:fillRect/>
          </a:stretch>
        </p:blipFill>
        <p:spPr bwMode="auto">
          <a:xfrm>
            <a:off x="4205288" y="2349501"/>
            <a:ext cx="1079500" cy="720725"/>
          </a:xfrm>
          <a:prstGeom prst="rect">
            <a:avLst/>
          </a:prstGeom>
          <a:noFill/>
        </p:spPr>
      </p:pic>
      <p:pic>
        <p:nvPicPr>
          <p:cNvPr id="5" name="Picture 84" descr="NOR">
            <a:extLst>
              <a:ext uri="{FF2B5EF4-FFF2-40B4-BE49-F238E27FC236}">
                <a16:creationId xmlns:a16="http://schemas.microsoft.com/office/drawing/2014/main" id="{A17B7CF6-A979-6A14-66B3-B26FE99ED46C}"/>
              </a:ext>
            </a:extLst>
          </p:cNvPr>
          <p:cNvPicPr>
            <a:picLocks noChangeAspect="1" noChangeArrowheads="1"/>
          </p:cNvPicPr>
          <p:nvPr/>
        </p:nvPicPr>
        <p:blipFill>
          <a:blip r:embed="rId3" cstate="print"/>
          <a:srcRect/>
          <a:stretch>
            <a:fillRect/>
          </a:stretch>
        </p:blipFill>
        <p:spPr bwMode="auto">
          <a:xfrm>
            <a:off x="6365875" y="2349500"/>
            <a:ext cx="1079500" cy="717550"/>
          </a:xfrm>
          <a:prstGeom prst="rect">
            <a:avLst/>
          </a:prstGeom>
          <a:noFill/>
        </p:spPr>
      </p:pic>
      <p:pic>
        <p:nvPicPr>
          <p:cNvPr id="6" name="Picture 85" descr="BUF">
            <a:extLst>
              <a:ext uri="{FF2B5EF4-FFF2-40B4-BE49-F238E27FC236}">
                <a16:creationId xmlns:a16="http://schemas.microsoft.com/office/drawing/2014/main" id="{4A368AE4-E7F9-AACD-33FC-4ECAA039F1A9}"/>
              </a:ext>
            </a:extLst>
          </p:cNvPr>
          <p:cNvPicPr>
            <a:picLocks noChangeAspect="1" noChangeArrowheads="1"/>
          </p:cNvPicPr>
          <p:nvPr/>
        </p:nvPicPr>
        <p:blipFill>
          <a:blip r:embed="rId4" cstate="print"/>
          <a:srcRect/>
          <a:stretch>
            <a:fillRect/>
          </a:stretch>
        </p:blipFill>
        <p:spPr bwMode="auto">
          <a:xfrm>
            <a:off x="8616950" y="2349501"/>
            <a:ext cx="717550" cy="720725"/>
          </a:xfrm>
          <a:prstGeom prst="rect">
            <a:avLst/>
          </a:prstGeom>
          <a:noFill/>
        </p:spPr>
      </p:pic>
    </p:spTree>
    <p:extLst>
      <p:ext uri="{BB962C8B-B14F-4D97-AF65-F5344CB8AC3E}">
        <p14:creationId xmlns:p14="http://schemas.microsoft.com/office/powerpoint/2010/main" val="6573985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感想や質問</a:t>
            </a:r>
          </a:p>
        </p:txBody>
      </p:sp>
    </p:spTree>
    <p:extLst>
      <p:ext uri="{BB962C8B-B14F-4D97-AF65-F5344CB8AC3E}">
        <p14:creationId xmlns:p14="http://schemas.microsoft.com/office/powerpoint/2010/main" val="257237242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74496-6B6F-C5EF-636D-7794CB7BEE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652A112-EDAE-7744-B98B-2685A86DBC98}"/>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C473EC9-37CC-1C6A-E1BC-20A90A65B9E1}"/>
              </a:ext>
            </a:extLst>
          </p:cNvPr>
          <p:cNvSpPr>
            <a:spLocks noGrp="1"/>
          </p:cNvSpPr>
          <p:nvPr>
            <p:ph type="body" sz="quarter" idx="10"/>
          </p:nvPr>
        </p:nvSpPr>
        <p:spPr/>
        <p:txBody>
          <a:bodyPr/>
          <a:lstStyle/>
          <a:p>
            <a:r>
              <a:rPr lang="ja-JP" altLang="en-US" dirty="0"/>
              <a:t>課題では </a:t>
            </a:r>
            <a:r>
              <a:rPr lang="en-US" altLang="ja-JP" dirty="0"/>
              <a:t>0b10</a:t>
            </a:r>
            <a:r>
              <a:rPr lang="ja-JP" altLang="en-US" dirty="0"/>
              <a:t>（</a:t>
            </a:r>
            <a:r>
              <a:rPr lang="en-US" altLang="ja-JP" dirty="0"/>
              <a:t>2</a:t>
            </a:r>
            <a:r>
              <a:rPr lang="ja-JP" altLang="en-US" dirty="0"/>
              <a:t>）での割り算を行いましたが、もし割る数が </a:t>
            </a:r>
            <a:r>
              <a:rPr lang="en-US" altLang="ja-JP" dirty="0"/>
              <a:t>0b11</a:t>
            </a:r>
            <a:r>
              <a:rPr lang="ja-JP" altLang="en-US" dirty="0"/>
              <a:t>（</a:t>
            </a:r>
            <a:r>
              <a:rPr lang="en-US" altLang="ja-JP" dirty="0"/>
              <a:t>3</a:t>
            </a:r>
            <a:r>
              <a:rPr lang="ja-JP" altLang="en-US" dirty="0"/>
              <a:t>）のように、</a:t>
            </a:r>
            <a:r>
              <a:rPr lang="en-US" altLang="ja-JP" dirty="0"/>
              <a:t>1</a:t>
            </a:r>
            <a:r>
              <a:rPr lang="ja-JP" altLang="en-US" dirty="0"/>
              <a:t>ビットシフトだけでは計算できない中途半端な数だったり、割り切れない・余りが出る場合は、コンピュータの内部ではどのように処理されているのでしょうか？</a:t>
            </a:r>
            <a:endParaRPr kumimoji="1" lang="en-US" altLang="ja-JP" dirty="0"/>
          </a:p>
        </p:txBody>
      </p:sp>
    </p:spTree>
    <p:extLst>
      <p:ext uri="{BB962C8B-B14F-4D97-AF65-F5344CB8AC3E}">
        <p14:creationId xmlns:p14="http://schemas.microsoft.com/office/powerpoint/2010/main" val="7867748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B47BB-01F0-CD16-A0EE-7803ECC586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A34569-BF71-2DA0-9B73-12264DF042E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DBAAD33-B18E-3AB3-142D-F91073354F07}"/>
              </a:ext>
            </a:extLst>
          </p:cNvPr>
          <p:cNvSpPr>
            <a:spLocks noGrp="1"/>
          </p:cNvSpPr>
          <p:nvPr>
            <p:ph type="body" sz="quarter" idx="10"/>
          </p:nvPr>
        </p:nvSpPr>
        <p:spPr/>
        <p:txBody>
          <a:bodyPr/>
          <a:lstStyle/>
          <a:p>
            <a:r>
              <a:rPr lang="en-US" altLang="ja-JP" dirty="0"/>
              <a:t>p.63</a:t>
            </a:r>
            <a:r>
              <a:rPr lang="ja-JP" altLang="en-US" dirty="0"/>
              <a:t>の</a:t>
            </a:r>
            <a:r>
              <a:rPr lang="en-US" altLang="ja-JP" dirty="0"/>
              <a:t>D-EF</a:t>
            </a:r>
            <a:r>
              <a:rPr lang="ja-JP" altLang="en-US" dirty="0"/>
              <a:t>の実現例の理解に苦しみます。上の図にデータ入力が繋がっていませんが、これはどういう状態ですか。</a:t>
            </a:r>
            <a:endParaRPr lang="en-US" altLang="ja-JP" dirty="0"/>
          </a:p>
          <a:p>
            <a:r>
              <a:rPr lang="ja-JP" altLang="en-US" dirty="0"/>
              <a:t>私が聞き逃してしまったのですが、</a:t>
            </a:r>
            <a:r>
              <a:rPr lang="en-US" altLang="ja-JP" dirty="0"/>
              <a:t>D-FF</a:t>
            </a:r>
            <a:r>
              <a:rPr lang="ja-JP" altLang="en-US" dirty="0"/>
              <a:t>の実現例のページ</a:t>
            </a:r>
            <a:r>
              <a:rPr lang="en-US" altLang="ja-JP" dirty="0"/>
              <a:t>(p63)</a:t>
            </a:r>
            <a:r>
              <a:rPr lang="ja-JP" altLang="en-US" dirty="0"/>
              <a:t>の図がいまいちよく分かってません。下の図で</a:t>
            </a:r>
            <a:r>
              <a:rPr lang="en-US" altLang="ja-JP" dirty="0"/>
              <a:t>d</a:t>
            </a:r>
            <a:r>
              <a:rPr lang="ja-JP" altLang="en-US" dirty="0"/>
              <a:t>の値が入力されて、上の図で</a:t>
            </a:r>
            <a:r>
              <a:rPr lang="en-US" altLang="ja-JP" dirty="0"/>
              <a:t>d</a:t>
            </a:r>
            <a:r>
              <a:rPr lang="ja-JP" altLang="en-US" dirty="0"/>
              <a:t>の値が出力されるという認識で当たってますか？</a:t>
            </a:r>
            <a:endParaRPr kumimoji="1" lang="en-US" altLang="ja-JP" dirty="0"/>
          </a:p>
        </p:txBody>
      </p:sp>
    </p:spTree>
    <p:extLst>
      <p:ext uri="{BB962C8B-B14F-4D97-AF65-F5344CB8AC3E}">
        <p14:creationId xmlns:p14="http://schemas.microsoft.com/office/powerpoint/2010/main" val="6636896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A291-B221-7198-9B62-DE0BBF2564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5C51DAF-8513-4247-71C8-1F46CE4749C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75AC7D4-D632-2E5A-51FA-96DEE87DF1D3}"/>
              </a:ext>
            </a:extLst>
          </p:cNvPr>
          <p:cNvSpPr>
            <a:spLocks noGrp="1"/>
          </p:cNvSpPr>
          <p:nvPr>
            <p:ph type="body" sz="quarter" idx="10"/>
          </p:nvPr>
        </p:nvSpPr>
        <p:spPr/>
        <p:txBody>
          <a:bodyPr/>
          <a:lstStyle/>
          <a:p>
            <a:r>
              <a:rPr lang="ja-JP" altLang="en-US" dirty="0"/>
              <a:t>論理ゲートをループさせることで記憶を生む、という方法が印象的でした。なんとなく信号が後ろに回り込むことで過去の入力が今回の出力に影響を与えるというようなイメージで理解しましたが、厳密になぜそうなるかを考えるのは難しかったです。</a:t>
            </a:r>
            <a:endParaRPr kumimoji="1" lang="en-US" altLang="ja-JP" dirty="0"/>
          </a:p>
        </p:txBody>
      </p:sp>
    </p:spTree>
    <p:extLst>
      <p:ext uri="{BB962C8B-B14F-4D97-AF65-F5344CB8AC3E}">
        <p14:creationId xmlns:p14="http://schemas.microsoft.com/office/powerpoint/2010/main" val="11605920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4FE05-C115-D184-D040-42692F7992F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3B9628-FD52-ABC6-9973-CFEEC68C941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B83D2451-EA7A-FCA2-0CAE-0B0D976B2103}"/>
              </a:ext>
            </a:extLst>
          </p:cNvPr>
          <p:cNvSpPr>
            <a:spLocks noGrp="1"/>
          </p:cNvSpPr>
          <p:nvPr>
            <p:ph type="body" sz="quarter" idx="10"/>
          </p:nvPr>
        </p:nvSpPr>
        <p:spPr/>
        <p:txBody>
          <a:bodyPr/>
          <a:lstStyle/>
          <a:p>
            <a:r>
              <a:rPr lang="ja-JP" altLang="en-US" dirty="0"/>
              <a:t>すみません。特に感想が思いつきませんでした。</a:t>
            </a:r>
            <a:endParaRPr kumimoji="1" lang="en-US" altLang="ja-JP" dirty="0"/>
          </a:p>
        </p:txBody>
      </p:sp>
    </p:spTree>
    <p:extLst>
      <p:ext uri="{BB962C8B-B14F-4D97-AF65-F5344CB8AC3E}">
        <p14:creationId xmlns:p14="http://schemas.microsoft.com/office/powerpoint/2010/main" val="8905814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F433C-3E42-E9B9-8B95-14E55B5A16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C54BFA4-320C-A972-D7F9-B19230E5A4D4}"/>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A4252BF1-2628-69DB-AFEE-A97BEEC58A6A}"/>
              </a:ext>
            </a:extLst>
          </p:cNvPr>
          <p:cNvSpPr>
            <a:spLocks noGrp="1"/>
          </p:cNvSpPr>
          <p:nvPr>
            <p:ph type="body" sz="quarter" idx="10"/>
          </p:nvPr>
        </p:nvSpPr>
        <p:spPr/>
        <p:txBody>
          <a:bodyPr/>
          <a:lstStyle/>
          <a:p>
            <a:r>
              <a:rPr lang="en-US" altLang="ja-JP" dirty="0"/>
              <a:t>16</a:t>
            </a:r>
            <a:r>
              <a:rPr lang="ja-JP" altLang="en-US" dirty="0"/>
              <a:t>進数の具体的な使いどころがよく分かりませんでした。</a:t>
            </a:r>
            <a:br>
              <a:rPr lang="en-US" altLang="ja-JP" dirty="0"/>
            </a:br>
            <a:r>
              <a:rPr lang="ja-JP" altLang="en-US" dirty="0"/>
              <a:t>プログラムを人間側が読む時にわかりやすいよう、という認識で正しいですか。</a:t>
            </a:r>
            <a:br>
              <a:rPr lang="en-US" altLang="ja-JP" dirty="0"/>
            </a:br>
            <a:r>
              <a:rPr lang="ja-JP" altLang="en-US" dirty="0"/>
              <a:t>具体例があったらお聞きしたいです。</a:t>
            </a:r>
          </a:p>
          <a:p>
            <a:endParaRPr kumimoji="1" lang="en-US" altLang="ja-JP" dirty="0"/>
          </a:p>
        </p:txBody>
      </p:sp>
    </p:spTree>
    <p:extLst>
      <p:ext uri="{BB962C8B-B14F-4D97-AF65-F5344CB8AC3E}">
        <p14:creationId xmlns:p14="http://schemas.microsoft.com/office/powerpoint/2010/main" val="22471899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34407-7103-E100-FA67-037A0A15B70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14691B-AAE4-83F5-13A3-454EE30ADB6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241FCABA-0C0B-614C-3658-F90E878233A5}"/>
              </a:ext>
            </a:extLst>
          </p:cNvPr>
          <p:cNvSpPr>
            <a:spLocks noGrp="1"/>
          </p:cNvSpPr>
          <p:nvPr>
            <p:ph type="body" sz="quarter" idx="10"/>
          </p:nvPr>
        </p:nvSpPr>
        <p:spPr/>
        <p:txBody>
          <a:bodyPr/>
          <a:lstStyle/>
          <a:p>
            <a:r>
              <a:rPr lang="en-US" altLang="ja-JP" dirty="0"/>
              <a:t>16</a:t>
            </a:r>
            <a:r>
              <a:rPr lang="ja-JP" altLang="en-US" dirty="0"/>
              <a:t>進数→​</a:t>
            </a:r>
            <a:r>
              <a:rPr lang="en-US" altLang="ja-JP" dirty="0"/>
              <a:t>2</a:t>
            </a:r>
            <a:r>
              <a:rPr lang="ja-JP" altLang="en-US" dirty="0"/>
              <a:t>進数の時に、求めた</a:t>
            </a:r>
            <a:r>
              <a:rPr lang="en-US" altLang="ja-JP" dirty="0"/>
              <a:t>2</a:t>
            </a:r>
            <a:r>
              <a:rPr lang="ja-JP" altLang="en-US" dirty="0"/>
              <a:t>進数が</a:t>
            </a:r>
            <a:r>
              <a:rPr lang="en-US" altLang="ja-JP" dirty="0"/>
              <a:t>0b0</a:t>
            </a:r>
            <a:r>
              <a:rPr lang="ja-JP" altLang="en-US" dirty="0"/>
              <a:t>～</a:t>
            </a:r>
            <a:r>
              <a:rPr lang="en-US" altLang="ja-JP" dirty="0"/>
              <a:t>1</a:t>
            </a:r>
            <a:r>
              <a:rPr lang="ja-JP" altLang="en-US" dirty="0"/>
              <a:t>～の形になった時は数部分の頭の</a:t>
            </a:r>
            <a:r>
              <a:rPr lang="en-US" altLang="ja-JP" dirty="0"/>
              <a:t>0</a:t>
            </a:r>
            <a:r>
              <a:rPr lang="ja-JP" altLang="en-US" dirty="0"/>
              <a:t>を省略して</a:t>
            </a:r>
            <a:r>
              <a:rPr lang="en-US" altLang="ja-JP" dirty="0"/>
              <a:t>0b1</a:t>
            </a:r>
            <a:r>
              <a:rPr lang="ja-JP" altLang="en-US" dirty="0"/>
              <a:t>～の形式にした方がいいですか？</a:t>
            </a:r>
            <a:endParaRPr kumimoji="1" lang="en-US" altLang="ja-JP" dirty="0"/>
          </a:p>
        </p:txBody>
      </p:sp>
    </p:spTree>
    <p:extLst>
      <p:ext uri="{BB962C8B-B14F-4D97-AF65-F5344CB8AC3E}">
        <p14:creationId xmlns:p14="http://schemas.microsoft.com/office/powerpoint/2010/main" val="13506350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0B23C-891F-1294-53DA-501406FD857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6D55A75-5491-B5DC-B524-8B8FD5640697}"/>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EAABCA5-9DEB-F2D9-EE93-3BA852A1AED7}"/>
              </a:ext>
            </a:extLst>
          </p:cNvPr>
          <p:cNvSpPr>
            <a:spLocks noGrp="1"/>
          </p:cNvSpPr>
          <p:nvPr>
            <p:ph type="body" sz="quarter" idx="10"/>
          </p:nvPr>
        </p:nvSpPr>
        <p:spPr/>
        <p:txBody>
          <a:bodyPr/>
          <a:lstStyle/>
          <a:p>
            <a:r>
              <a:rPr lang="ja-JP" altLang="en-US" dirty="0"/>
              <a:t>高校の授業で「</a:t>
            </a:r>
            <a:r>
              <a:rPr lang="en-US" altLang="ja-JP" dirty="0"/>
              <a:t>10</a:t>
            </a:r>
            <a:r>
              <a:rPr lang="ja-JP" altLang="en-US" dirty="0"/>
              <a:t>進数の</a:t>
            </a:r>
            <a:r>
              <a:rPr lang="en-US" altLang="ja-JP" dirty="0"/>
              <a:t>0.1</a:t>
            </a:r>
            <a:r>
              <a:rPr lang="ja-JP" altLang="en-US" dirty="0"/>
              <a:t>などは</a:t>
            </a:r>
            <a:r>
              <a:rPr lang="en-US" altLang="ja-JP" dirty="0"/>
              <a:t>2</a:t>
            </a:r>
            <a:r>
              <a:rPr lang="ja-JP" altLang="en-US" dirty="0"/>
              <a:t>進数で正確に表せない」ことに「そんなに雑でいいのか！？」とモヤモヤした記憶があるので、</a:t>
            </a:r>
            <a:r>
              <a:rPr lang="en-US" altLang="ja-JP" dirty="0"/>
              <a:t>BCD</a:t>
            </a:r>
            <a:r>
              <a:rPr lang="ja-JP" altLang="en-US" dirty="0"/>
              <a:t>という仕組みが存在していることに安心しました。</a:t>
            </a:r>
            <a:endParaRPr kumimoji="1" lang="en-US" altLang="ja-JP" dirty="0"/>
          </a:p>
        </p:txBody>
      </p:sp>
    </p:spTree>
    <p:extLst>
      <p:ext uri="{BB962C8B-B14F-4D97-AF65-F5344CB8AC3E}">
        <p14:creationId xmlns:p14="http://schemas.microsoft.com/office/powerpoint/2010/main" val="1192230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DB248-C711-E8C7-BF02-A02817AE28C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00DA7D-0C27-8567-AF32-415C40BCC52F}"/>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76413E70-A9DA-3F22-1E85-0D19319B858F}"/>
              </a:ext>
            </a:extLst>
          </p:cNvPr>
          <p:cNvSpPr>
            <a:spLocks noGrp="1"/>
          </p:cNvSpPr>
          <p:nvPr>
            <p:ph type="body" sz="quarter" idx="10"/>
          </p:nvPr>
        </p:nvSpPr>
        <p:spPr/>
        <p:txBody>
          <a:bodyPr/>
          <a:lstStyle/>
          <a:p>
            <a:r>
              <a:rPr lang="en-US" altLang="ja-JP" dirty="0"/>
              <a:t>D-ff</a:t>
            </a:r>
            <a:r>
              <a:rPr lang="ja-JP" altLang="en-US" dirty="0"/>
              <a:t>、保存しつつ反転も戻しつつ、となっていて、よくできているなあと思いました。回路としては単純ですが私には絶対思いつかないなあと思ったのですが、もともともっと複雑だったものを次の人が改良して</a:t>
            </a:r>
            <a:r>
              <a:rPr lang="en-US" altLang="ja-JP" dirty="0"/>
              <a:t>...</a:t>
            </a:r>
            <a:r>
              <a:rPr lang="ja-JP" altLang="en-US" dirty="0"/>
              <a:t>みたいに多くの人が関わっていたのでしょうか。一人だとしたら驚きです。</a:t>
            </a:r>
            <a:endParaRPr kumimoji="1" lang="en-US" altLang="ja-JP" dirty="0"/>
          </a:p>
        </p:txBody>
      </p:sp>
    </p:spTree>
    <p:extLst>
      <p:ext uri="{BB962C8B-B14F-4D97-AF65-F5344CB8AC3E}">
        <p14:creationId xmlns:p14="http://schemas.microsoft.com/office/powerpoint/2010/main" val="22087624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A3F0-0CC8-2757-7400-4AD285A0976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C8542F-F35C-D49B-E31E-A717421C2F1E}"/>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5F5A811-D9D5-0A2D-1BFA-24F290590895}"/>
              </a:ext>
            </a:extLst>
          </p:cNvPr>
          <p:cNvSpPr>
            <a:spLocks noGrp="1"/>
          </p:cNvSpPr>
          <p:nvPr>
            <p:ph type="body" sz="quarter" idx="10"/>
          </p:nvPr>
        </p:nvSpPr>
        <p:spPr/>
        <p:txBody>
          <a:bodyPr/>
          <a:lstStyle/>
          <a:p>
            <a:r>
              <a:rPr lang="ja-JP" altLang="en-US" dirty="0"/>
              <a:t>授業中サラッとおっしゃってましたが、テストは何を持ち込むことができるのでしょうか？もう一度言ってもらえるとありがたいです。</a:t>
            </a:r>
          </a:p>
          <a:p>
            <a:br>
              <a:rPr lang="ja-JP" altLang="en-US" dirty="0"/>
            </a:br>
            <a:endParaRPr kumimoji="1" lang="en-US" altLang="ja-JP" dirty="0"/>
          </a:p>
        </p:txBody>
      </p:sp>
    </p:spTree>
    <p:extLst>
      <p:ext uri="{BB962C8B-B14F-4D97-AF65-F5344CB8AC3E}">
        <p14:creationId xmlns:p14="http://schemas.microsoft.com/office/powerpoint/2010/main" val="26617964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83F69-C957-3A91-2834-E711BCC71B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941FCD0-DBB6-2877-3803-420B2907937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55ED4AB4-50BE-3F79-5AF9-D29A6823C21E}"/>
              </a:ext>
            </a:extLst>
          </p:cNvPr>
          <p:cNvSpPr>
            <a:spLocks noGrp="1"/>
          </p:cNvSpPr>
          <p:nvPr>
            <p:ph type="body" sz="quarter" idx="10"/>
          </p:nvPr>
        </p:nvSpPr>
        <p:spPr/>
        <p:txBody>
          <a:bodyPr/>
          <a:lstStyle/>
          <a:p>
            <a:r>
              <a:rPr lang="ja-JP" altLang="en-US" dirty="0"/>
              <a:t>スマートフォンなど記憶したい容量が多い場合は、</a:t>
            </a:r>
            <a:r>
              <a:rPr lang="en-US" altLang="ja-JP" dirty="0"/>
              <a:t>4</a:t>
            </a:r>
            <a:r>
              <a:rPr lang="ja-JP" altLang="en-US" dirty="0"/>
              <a:t>進数や</a:t>
            </a:r>
            <a:r>
              <a:rPr lang="en-US" altLang="ja-JP" dirty="0"/>
              <a:t>16</a:t>
            </a:r>
            <a:r>
              <a:rPr lang="ja-JP" altLang="en-US" dirty="0"/>
              <a:t>進数を用いることもあるとのことですが、回路は</a:t>
            </a:r>
            <a:r>
              <a:rPr lang="en-US" altLang="ja-JP" dirty="0"/>
              <a:t>2</a:t>
            </a:r>
            <a:r>
              <a:rPr lang="ja-JP" altLang="en-US" dirty="0"/>
              <a:t>進数と比べてどれくらい複雑になりますか？</a:t>
            </a:r>
            <a:endParaRPr lang="en-US" altLang="ja-JP" dirty="0"/>
          </a:p>
          <a:p>
            <a:r>
              <a:rPr lang="ja-JP" altLang="en-US" dirty="0"/>
              <a:t>また、</a:t>
            </a:r>
            <a:r>
              <a:rPr lang="en-US" altLang="ja-JP" dirty="0"/>
              <a:t>4</a:t>
            </a:r>
            <a:r>
              <a:rPr lang="ja-JP" altLang="en-US" dirty="0"/>
              <a:t>進数と</a:t>
            </a:r>
            <a:r>
              <a:rPr lang="en-US" altLang="ja-JP" dirty="0"/>
              <a:t>16</a:t>
            </a:r>
            <a:r>
              <a:rPr lang="ja-JP" altLang="en-US" dirty="0"/>
              <a:t>進数では複雑さがかなり違うように感じました。この部分は</a:t>
            </a:r>
            <a:r>
              <a:rPr lang="en-US" altLang="ja-JP" dirty="0"/>
              <a:t>16</a:t>
            </a:r>
            <a:r>
              <a:rPr lang="ja-JP" altLang="en-US" dirty="0"/>
              <a:t>進数、などの具体例はありますか？</a:t>
            </a:r>
            <a:endParaRPr kumimoji="1" lang="en-US" altLang="ja-JP" dirty="0"/>
          </a:p>
        </p:txBody>
      </p:sp>
    </p:spTree>
    <p:extLst>
      <p:ext uri="{BB962C8B-B14F-4D97-AF65-F5344CB8AC3E}">
        <p14:creationId xmlns:p14="http://schemas.microsoft.com/office/powerpoint/2010/main" val="5097792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22852-3452-81BB-F6EC-7E7FA61248C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4A451DB-D434-1E70-F598-80564397A84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6A24381-A24E-0CAB-4133-4A10AF5B7808}"/>
              </a:ext>
            </a:extLst>
          </p:cNvPr>
          <p:cNvSpPr>
            <a:spLocks noGrp="1"/>
          </p:cNvSpPr>
          <p:nvPr>
            <p:ph type="body" sz="quarter" idx="10"/>
          </p:nvPr>
        </p:nvSpPr>
        <p:spPr/>
        <p:txBody>
          <a:bodyPr/>
          <a:lstStyle/>
          <a:p>
            <a:r>
              <a:rPr lang="ja-JP" altLang="en-US" dirty="0"/>
              <a:t>マルチプレクサは複数の入力から、１つを選択して出力するということで、その選択はクロックの立ち上がりのたびに行われるという認識で間違いありませんか？また、その選択はどのように行われるのですか？</a:t>
            </a:r>
            <a:endParaRPr kumimoji="1" lang="en-US" altLang="ja-JP" dirty="0"/>
          </a:p>
        </p:txBody>
      </p:sp>
    </p:spTree>
    <p:extLst>
      <p:ext uri="{BB962C8B-B14F-4D97-AF65-F5344CB8AC3E}">
        <p14:creationId xmlns:p14="http://schemas.microsoft.com/office/powerpoint/2010/main" val="22050806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49638-E0E2-04BC-A2BE-2E0B30D6A8D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A852D14-F2CB-77F3-689E-88077A2D6893}"/>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0029382-E647-5C51-D13C-99F198EF9AEE}"/>
              </a:ext>
            </a:extLst>
          </p:cNvPr>
          <p:cNvSpPr>
            <a:spLocks noGrp="1"/>
          </p:cNvSpPr>
          <p:nvPr>
            <p:ph type="body" sz="quarter" idx="10"/>
          </p:nvPr>
        </p:nvSpPr>
        <p:spPr/>
        <p:txBody>
          <a:bodyPr/>
          <a:lstStyle/>
          <a:p>
            <a:r>
              <a:rPr lang="ja-JP" altLang="en-US" dirty="0"/>
              <a:t>論理回路の完全生の説明がありましたが、｛</a:t>
            </a:r>
            <a:r>
              <a:rPr lang="en-US" altLang="ja-JP" dirty="0"/>
              <a:t>AND,NOT</a:t>
            </a:r>
            <a:r>
              <a:rPr lang="ja-JP" altLang="en-US" dirty="0"/>
              <a:t>｝で完全集合だということは、効率や見やすさを無視すれば、実質</a:t>
            </a:r>
            <a:r>
              <a:rPr lang="en-US" altLang="ja-JP" dirty="0"/>
              <a:t>OR</a:t>
            </a:r>
            <a:r>
              <a:rPr lang="ja-JP" altLang="en-US" dirty="0"/>
              <a:t>は不要だということですか？</a:t>
            </a:r>
            <a:endParaRPr kumimoji="1" lang="en-US" altLang="ja-JP" dirty="0"/>
          </a:p>
        </p:txBody>
      </p:sp>
    </p:spTree>
    <p:extLst>
      <p:ext uri="{BB962C8B-B14F-4D97-AF65-F5344CB8AC3E}">
        <p14:creationId xmlns:p14="http://schemas.microsoft.com/office/powerpoint/2010/main" val="8887605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140E11-181A-FA51-E152-EF0BDA14723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4FD52F-C595-AEF6-2B4C-A45CA46249CB}"/>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377BE1A9-8129-931E-B9C9-110F66FAD69E}"/>
              </a:ext>
            </a:extLst>
          </p:cNvPr>
          <p:cNvSpPr>
            <a:spLocks noGrp="1"/>
          </p:cNvSpPr>
          <p:nvPr>
            <p:ph type="body" sz="quarter" idx="10"/>
          </p:nvPr>
        </p:nvSpPr>
        <p:spPr/>
        <p:txBody>
          <a:bodyPr/>
          <a:lstStyle/>
          <a:p>
            <a:r>
              <a:rPr lang="en-US" altLang="ja-JP" dirty="0"/>
              <a:t>D-FF</a:t>
            </a:r>
            <a:r>
              <a:rPr lang="ja-JP" altLang="en-US" dirty="0"/>
              <a:t>の説明で、データ入力が</a:t>
            </a:r>
            <a:r>
              <a:rPr lang="en-US" altLang="ja-JP" dirty="0"/>
              <a:t>d</a:t>
            </a:r>
            <a:r>
              <a:rPr lang="ja-JP" altLang="en-US" dirty="0"/>
              <a:t>でデータ出力が</a:t>
            </a:r>
            <a:r>
              <a:rPr lang="en-US" altLang="ja-JP" dirty="0"/>
              <a:t>q</a:t>
            </a:r>
            <a:r>
              <a:rPr lang="ja-JP" altLang="en-US" dirty="0"/>
              <a:t>なのはなぜですか？</a:t>
            </a:r>
            <a:endParaRPr kumimoji="1" lang="en-US" altLang="ja-JP" dirty="0"/>
          </a:p>
        </p:txBody>
      </p:sp>
    </p:spTree>
    <p:extLst>
      <p:ext uri="{BB962C8B-B14F-4D97-AF65-F5344CB8AC3E}">
        <p14:creationId xmlns:p14="http://schemas.microsoft.com/office/powerpoint/2010/main" val="33475775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87D2C-B64F-D26C-6B59-9901FE6ED3C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946B98F-C5E5-02E1-2588-5A0BB82CF5B5}"/>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791DD91-810A-D7F1-A482-D52C50B143E0}"/>
              </a:ext>
            </a:extLst>
          </p:cNvPr>
          <p:cNvSpPr>
            <a:spLocks noGrp="1"/>
          </p:cNvSpPr>
          <p:nvPr>
            <p:ph type="body" sz="quarter" idx="10"/>
          </p:nvPr>
        </p:nvSpPr>
        <p:spPr/>
        <p:txBody>
          <a:bodyPr/>
          <a:lstStyle/>
          <a:p>
            <a:r>
              <a:rPr lang="ja-JP" altLang="en-US" dirty="0"/>
              <a:t>一個前の課題の質問なのですが、命令セットに</a:t>
            </a:r>
            <a:r>
              <a:rPr lang="en-US" altLang="ja-JP" dirty="0" err="1"/>
              <a:t>ld</a:t>
            </a:r>
            <a:r>
              <a:rPr lang="ja-JP" altLang="en-US" dirty="0"/>
              <a:t>命令や</a:t>
            </a:r>
            <a:r>
              <a:rPr lang="en-US" altLang="ja-JP" dirty="0" err="1"/>
              <a:t>st</a:t>
            </a:r>
            <a:r>
              <a:rPr lang="ja-JP" altLang="en-US" dirty="0"/>
              <a:t>命令が入っていない場合、プログラムをアセンブリ言語で表す時これらの命令は書かないということですか？</a:t>
            </a:r>
            <a:endParaRPr kumimoji="1" lang="en-US" altLang="ja-JP" dirty="0"/>
          </a:p>
        </p:txBody>
      </p:sp>
    </p:spTree>
    <p:extLst>
      <p:ext uri="{BB962C8B-B14F-4D97-AF65-F5344CB8AC3E}">
        <p14:creationId xmlns:p14="http://schemas.microsoft.com/office/powerpoint/2010/main" val="329961722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518B9-0D81-739B-5156-BF89B9FBEF8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F4A6ABB-0CE0-0C09-AFFF-4853A2CDED5A}"/>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D8F1F4C-9AAE-C3FC-1125-06895AC85CBB}"/>
              </a:ext>
            </a:extLst>
          </p:cNvPr>
          <p:cNvSpPr>
            <a:spLocks noGrp="1"/>
          </p:cNvSpPr>
          <p:nvPr>
            <p:ph type="body" sz="quarter" idx="10"/>
          </p:nvPr>
        </p:nvSpPr>
        <p:spPr/>
        <p:txBody>
          <a:bodyPr/>
          <a:lstStyle/>
          <a:p>
            <a:r>
              <a:rPr lang="ja-JP" altLang="en-US" dirty="0"/>
              <a:t>質問ですが、</a:t>
            </a:r>
            <a:r>
              <a:rPr lang="en-US" altLang="ja-JP" dirty="0"/>
              <a:t>0b</a:t>
            </a:r>
            <a:r>
              <a:rPr lang="ja-JP" altLang="en-US" dirty="0"/>
              <a:t>などの後にスペースは必要ですか？</a:t>
            </a:r>
            <a:endParaRPr lang="en-US" altLang="ja-JP" dirty="0"/>
          </a:p>
          <a:p>
            <a:r>
              <a:rPr lang="ja-JP" altLang="en-US" dirty="0"/>
              <a:t>課題で</a:t>
            </a:r>
            <a:r>
              <a:rPr lang="en-US" altLang="ja-JP" dirty="0"/>
              <a:t>2</a:t>
            </a:r>
            <a:r>
              <a:rPr lang="ja-JP" altLang="en-US" dirty="0"/>
              <a:t>進数を表記する際、先頭の</a:t>
            </a:r>
            <a:r>
              <a:rPr lang="en-US" altLang="ja-JP" dirty="0"/>
              <a:t>0</a:t>
            </a:r>
            <a:r>
              <a:rPr lang="ja-JP" altLang="en-US" dirty="0"/>
              <a:t>を省略するかどうかで少し迷いました。実際のプログラミングやハードウェアの設計を考える場合は、桁数を一定に揃えるために先頭の</a:t>
            </a:r>
            <a:r>
              <a:rPr lang="en-US" altLang="ja-JP" dirty="0"/>
              <a:t>0</a:t>
            </a:r>
            <a:r>
              <a:rPr lang="ja-JP" altLang="en-US" dirty="0"/>
              <a:t>を残す表記と、数学的に</a:t>
            </a:r>
            <a:r>
              <a:rPr lang="en-US" altLang="ja-JP" dirty="0"/>
              <a:t>0</a:t>
            </a:r>
            <a:r>
              <a:rPr lang="ja-JP" altLang="en-US" dirty="0"/>
              <a:t>を省略する表記とでは、どちらが一般的によく使われるのでしょうか？</a:t>
            </a:r>
            <a:endParaRPr kumimoji="1" lang="en-US" altLang="ja-JP" dirty="0"/>
          </a:p>
        </p:txBody>
      </p:sp>
    </p:spTree>
    <p:extLst>
      <p:ext uri="{BB962C8B-B14F-4D97-AF65-F5344CB8AC3E}">
        <p14:creationId xmlns:p14="http://schemas.microsoft.com/office/powerpoint/2010/main" val="21354914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09EEB-91AC-70CD-BE8D-A86EC35CE7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829DFC3-9A18-B63F-5957-65C7389328F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64F12DA-1F27-C19D-CDA6-28AB92DE2014}"/>
              </a:ext>
            </a:extLst>
          </p:cNvPr>
          <p:cNvSpPr>
            <a:spLocks noGrp="1"/>
          </p:cNvSpPr>
          <p:nvPr>
            <p:ph type="body" sz="quarter" idx="10"/>
          </p:nvPr>
        </p:nvSpPr>
        <p:spPr/>
        <p:txBody>
          <a:bodyPr/>
          <a:lstStyle/>
          <a:p>
            <a:r>
              <a:rPr lang="en-US" altLang="ja-JP" dirty="0"/>
              <a:t>D-FF</a:t>
            </a:r>
            <a:r>
              <a:rPr lang="ja-JP" altLang="en-US" dirty="0"/>
              <a:t>の動作がシフト演算に似ていると感じました。クロックの立ち上がりのたびに</a:t>
            </a:r>
            <a:r>
              <a:rPr lang="en-US" altLang="ja-JP" dirty="0"/>
              <a:t>2</a:t>
            </a:r>
            <a:r>
              <a:rPr lang="ja-JP" altLang="en-US" dirty="0"/>
              <a:t>で割ってあるように見えるので、</a:t>
            </a:r>
            <a:r>
              <a:rPr lang="en-US" altLang="ja-JP" dirty="0"/>
              <a:t>2²</a:t>
            </a:r>
            <a:r>
              <a:rPr lang="ja-JP" altLang="en-US" dirty="0"/>
              <a:t>や</a:t>
            </a:r>
            <a:r>
              <a:rPr lang="en-US" altLang="ja-JP" dirty="0"/>
              <a:t>2⁴</a:t>
            </a:r>
            <a:r>
              <a:rPr lang="ja-JP" altLang="en-US" dirty="0"/>
              <a:t>などで割って早送りやスキップができたら面白そうだと思いました。</a:t>
            </a:r>
            <a:endParaRPr kumimoji="1" lang="en-US" altLang="ja-JP" dirty="0"/>
          </a:p>
        </p:txBody>
      </p:sp>
    </p:spTree>
    <p:extLst>
      <p:ext uri="{BB962C8B-B14F-4D97-AF65-F5344CB8AC3E}">
        <p14:creationId xmlns:p14="http://schemas.microsoft.com/office/powerpoint/2010/main" val="23660913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8B333-1BD1-86CB-52FA-2E8CC6FCC5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D188E7-F5E5-5557-2308-D6A6B8DB588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7F9404D-0CB7-3FF8-412F-E6436089B67F}"/>
              </a:ext>
            </a:extLst>
          </p:cNvPr>
          <p:cNvSpPr>
            <a:spLocks noGrp="1"/>
          </p:cNvSpPr>
          <p:nvPr>
            <p:ph type="body" sz="quarter" idx="10"/>
          </p:nvPr>
        </p:nvSpPr>
        <p:spPr/>
        <p:txBody>
          <a:bodyPr/>
          <a:lstStyle/>
          <a:p>
            <a:r>
              <a:rPr lang="ja-JP" altLang="en-US" dirty="0"/>
              <a:t>課題</a:t>
            </a:r>
            <a:r>
              <a:rPr lang="en-US" altLang="ja-JP" dirty="0"/>
              <a:t>2</a:t>
            </a:r>
            <a:r>
              <a:rPr lang="ja-JP" altLang="en-US" dirty="0"/>
              <a:t>の解答で</a:t>
            </a:r>
            <a:r>
              <a:rPr lang="en-US" altLang="ja-JP" dirty="0"/>
              <a:t>sub</a:t>
            </a:r>
            <a:r>
              <a:rPr lang="ja-JP" altLang="en-US" dirty="0"/>
              <a:t>ではなく</a:t>
            </a:r>
            <a:r>
              <a:rPr lang="en-US" altLang="ja-JP" dirty="0"/>
              <a:t>add</a:t>
            </a:r>
            <a:r>
              <a:rPr lang="ja-JP" altLang="en-US" dirty="0"/>
              <a:t>みたいな訂正があったと思うのですが聞き逃してしまったのでもう一度教えて頂きたいです。</a:t>
            </a:r>
            <a:endParaRPr kumimoji="1" lang="en-US" altLang="ja-JP" dirty="0"/>
          </a:p>
        </p:txBody>
      </p:sp>
    </p:spTree>
    <p:extLst>
      <p:ext uri="{BB962C8B-B14F-4D97-AF65-F5344CB8AC3E}">
        <p14:creationId xmlns:p14="http://schemas.microsoft.com/office/powerpoint/2010/main" val="30862416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F20D44-53F8-0134-F3B4-F7718A599E43}"/>
              </a:ext>
            </a:extLst>
          </p:cNvPr>
          <p:cNvSpPr>
            <a:spLocks noGrp="1"/>
          </p:cNvSpPr>
          <p:nvPr>
            <p:ph type="title"/>
          </p:nvPr>
        </p:nvSpPr>
        <p:spPr/>
        <p:txBody>
          <a:bodyPr/>
          <a:lstStyle/>
          <a:p>
            <a:r>
              <a:rPr kumimoji="1" lang="ja-JP" altLang="en-US" dirty="0"/>
              <a:t>解答例 </a:t>
            </a:r>
            <a:r>
              <a:rPr kumimoji="1" lang="en-US" altLang="ja-JP" dirty="0"/>
              <a:t>(b)</a:t>
            </a:r>
            <a:endParaRPr kumimoji="1" lang="en-US" dirty="0"/>
          </a:p>
        </p:txBody>
      </p:sp>
      <p:sp>
        <p:nvSpPr>
          <p:cNvPr id="4" name="テキスト プレースホルダー 2">
            <a:extLst>
              <a:ext uri="{FF2B5EF4-FFF2-40B4-BE49-F238E27FC236}">
                <a16:creationId xmlns:a16="http://schemas.microsoft.com/office/drawing/2014/main" id="{ABBDA586-B715-C41F-5B00-756F22DD9EDF}"/>
              </a:ext>
            </a:extLst>
          </p:cNvPr>
          <p:cNvSpPr txBox="1">
            <a:spLocks/>
          </p:cNvSpPr>
          <p:nvPr/>
        </p:nvSpPr>
        <p:spPr bwMode="auto">
          <a:xfrm>
            <a:off x="2495963" y="1358977"/>
            <a:ext cx="6542471" cy="1080012"/>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(b)</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1: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2: if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 &lt;= 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3: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4: </a:t>
            </a:r>
            <a:r>
              <a:rPr lang="en-US" altLang="ja-JP" kern="0" dirty="0" err="1">
                <a:solidFill>
                  <a:schemeClr val="tx1">
                    <a:lumMod val="85000"/>
                    <a:lumOff val="15000"/>
                  </a:schemeClr>
                </a:solidFill>
                <a:latin typeface="Consolas" panose="020B0609020204030204" pitchFamily="49" charset="0"/>
              </a:rPr>
              <a:t>i</a:t>
            </a:r>
            <a:r>
              <a:rPr lang="en-US" altLang="ja-JP" kern="0" dirty="0">
                <a:solidFill>
                  <a:schemeClr val="tx1">
                    <a:lumMod val="85000"/>
                    <a:lumOff val="15000"/>
                  </a:schemeClr>
                </a:solidFill>
                <a:latin typeface="Consolas" panose="020B0609020204030204" pitchFamily="49" charset="0"/>
              </a:rPr>
              <a:t>++;</a:t>
            </a:r>
            <a:endParaRPr lang="ja-JP" altLang="en-US" kern="0" dirty="0">
              <a:latin typeface="Consolas" panose="020B0609020204030204" pitchFamily="49" charset="0"/>
            </a:endParaRPr>
          </a:p>
        </p:txBody>
      </p:sp>
      <p:sp>
        <p:nvSpPr>
          <p:cNvPr id="5" name="テキスト プレースホルダー 2">
            <a:extLst>
              <a:ext uri="{FF2B5EF4-FFF2-40B4-BE49-F238E27FC236}">
                <a16:creationId xmlns:a16="http://schemas.microsoft.com/office/drawing/2014/main" id="{4EF11E97-8133-382F-731D-8A8CC22CA1F7}"/>
              </a:ext>
            </a:extLst>
          </p:cNvPr>
          <p:cNvSpPr txBox="1">
            <a:spLocks/>
          </p:cNvSpPr>
          <p:nvPr/>
        </p:nvSpPr>
        <p:spPr bwMode="auto">
          <a:xfrm>
            <a:off x="2495961" y="3068996"/>
            <a:ext cx="2880032"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(1)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A&gt;1,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sub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a:t>
            </a:r>
            <a:endParaRPr lang="ja-JP" altLang="en-US" kern="0" dirty="0">
              <a:latin typeface="Consolas" panose="020B0609020204030204" pitchFamily="49" charset="0"/>
            </a:endParaRPr>
          </a:p>
        </p:txBody>
      </p:sp>
      <p:sp>
        <p:nvSpPr>
          <p:cNvPr id="6" name="テキスト プレースホルダー 2">
            <a:extLst>
              <a:ext uri="{FF2B5EF4-FFF2-40B4-BE49-F238E27FC236}">
                <a16:creationId xmlns:a16="http://schemas.microsoft.com/office/drawing/2014/main" id="{54FCE24C-1733-BEA1-52D9-21068B467E93}"/>
              </a:ext>
            </a:extLst>
          </p:cNvPr>
          <p:cNvSpPr txBox="1">
            <a:spLocks/>
          </p:cNvSpPr>
          <p:nvPr/>
        </p:nvSpPr>
        <p:spPr bwMode="auto">
          <a:xfrm>
            <a:off x="6095999" y="3068996"/>
            <a:ext cx="5670063" cy="216002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en-US" altLang="ja-JP" kern="0" dirty="0">
                <a:solidFill>
                  <a:schemeClr val="tx1">
                    <a:lumMod val="85000"/>
                    <a:lumOff val="15000"/>
                  </a:schemeClr>
                </a:solidFill>
                <a:latin typeface="Consolas" panose="020B0609020204030204" pitchFamily="49" charset="0"/>
              </a:rPr>
              <a:t>(2)  </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li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4</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b A&gt;1, LABEL</a:t>
            </a:r>
            <a:br>
              <a:rPr lang="en-US" altLang="ja-JP" kern="0" dirty="0">
                <a:solidFill>
                  <a:schemeClr val="tx1">
                    <a:lumMod val="85000"/>
                    <a:lumOff val="15000"/>
                  </a:schemeClr>
                </a:solidFill>
                <a:latin typeface="Consolas" panose="020B0609020204030204" pitchFamily="49" charset="0"/>
              </a:rPr>
            </a:br>
            <a:r>
              <a:rPr lang="en-US" altLang="ja-JP" kern="0" dirty="0">
                <a:solidFill>
                  <a:schemeClr val="tx1">
                    <a:lumMod val="85000"/>
                    <a:lumOff val="15000"/>
                  </a:schemeClr>
                </a:solidFill>
                <a:latin typeface="Consolas" panose="020B0609020204030204" pitchFamily="49" charset="0"/>
              </a:rPr>
              <a:t>  add A</a:t>
            </a:r>
            <a:r>
              <a:rPr lang="ja-JP" altLang="en-US" kern="0" dirty="0">
                <a:solidFill>
                  <a:schemeClr val="tx1">
                    <a:lumMod val="85000"/>
                    <a:lumOff val="15000"/>
                  </a:schemeClr>
                </a:solidFill>
                <a:latin typeface="Consolas" panose="020B0609020204030204" pitchFamily="49" charset="0"/>
              </a:rPr>
              <a:t>←</a:t>
            </a:r>
            <a:r>
              <a:rPr lang="en-US" altLang="ja-JP" kern="0" dirty="0">
                <a:solidFill>
                  <a:schemeClr val="tx1">
                    <a:lumMod val="85000"/>
                    <a:lumOff val="15000"/>
                  </a:schemeClr>
                </a:solidFill>
                <a:latin typeface="Consolas" panose="020B0609020204030204" pitchFamily="49" charset="0"/>
              </a:rPr>
              <a:t>A+1 &lt;&lt; </a:t>
            </a:r>
            <a:r>
              <a:rPr lang="ja-JP" altLang="en-US" kern="0" dirty="0">
                <a:solidFill>
                  <a:schemeClr val="tx1">
                    <a:lumMod val="85000"/>
                    <a:lumOff val="15000"/>
                  </a:schemeClr>
                </a:solidFill>
                <a:latin typeface="Consolas" panose="020B0609020204030204" pitchFamily="49" charset="0"/>
              </a:rPr>
              <a:t>ここが </a:t>
            </a:r>
            <a:r>
              <a:rPr lang="en-US" altLang="ja-JP" kern="0" dirty="0">
                <a:solidFill>
                  <a:schemeClr val="tx1">
                    <a:lumMod val="85000"/>
                    <a:lumOff val="15000"/>
                  </a:schemeClr>
                </a:solidFill>
                <a:latin typeface="Consolas" panose="020B0609020204030204" pitchFamily="49" charset="0"/>
              </a:rPr>
              <a:t>sub </a:t>
            </a:r>
            <a:r>
              <a:rPr lang="ja-JP" altLang="en-US" kern="0" dirty="0">
                <a:solidFill>
                  <a:schemeClr val="tx1">
                    <a:lumMod val="85000"/>
                    <a:lumOff val="15000"/>
                  </a:schemeClr>
                </a:solidFill>
                <a:latin typeface="Consolas" panose="020B0609020204030204" pitchFamily="49" charset="0"/>
              </a:rPr>
              <a:t>になってた</a:t>
            </a:r>
            <a:endParaRPr lang="ja-JP" altLang="en-US" kern="0" dirty="0">
              <a:latin typeface="Consolas" panose="020B0609020204030204" pitchFamily="49" charset="0"/>
            </a:endParaRPr>
          </a:p>
        </p:txBody>
      </p:sp>
    </p:spTree>
    <p:extLst>
      <p:ext uri="{BB962C8B-B14F-4D97-AF65-F5344CB8AC3E}">
        <p14:creationId xmlns:p14="http://schemas.microsoft.com/office/powerpoint/2010/main" val="320983927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D5D94-45D6-D41B-7E12-685B3239344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E8E4E7-8C80-D9C1-54CB-FDB569DD6D16}"/>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4B6734C5-A51D-2E53-EFA7-F1BE2E8D13CA}"/>
              </a:ext>
            </a:extLst>
          </p:cNvPr>
          <p:cNvSpPr>
            <a:spLocks noGrp="1"/>
          </p:cNvSpPr>
          <p:nvPr>
            <p:ph type="body" sz="quarter" idx="10"/>
          </p:nvPr>
        </p:nvSpPr>
        <p:spPr/>
        <p:txBody>
          <a:bodyPr/>
          <a:lstStyle/>
          <a:p>
            <a:r>
              <a:rPr lang="ja-JP" altLang="en-US" dirty="0"/>
              <a:t>演算や</a:t>
            </a:r>
            <a:r>
              <a:rPr lang="en-US" altLang="ja-JP" dirty="0"/>
              <a:t>c</a:t>
            </a:r>
            <a:r>
              <a:rPr lang="ja-JP" altLang="en-US" dirty="0"/>
              <a:t>言語でいう</a:t>
            </a:r>
            <a:r>
              <a:rPr lang="en-US" altLang="ja-JP" dirty="0"/>
              <a:t>if</a:t>
            </a:r>
            <a:r>
              <a:rPr lang="ja-JP" altLang="en-US" dirty="0"/>
              <a:t>文のアセンブリ言語が講義で出てきましたが</a:t>
            </a:r>
            <a:r>
              <a:rPr lang="en-US" altLang="ja-JP" dirty="0"/>
              <a:t>for</a:t>
            </a:r>
            <a:r>
              <a:rPr lang="ja-JP" altLang="en-US" dirty="0"/>
              <a:t>文や構造体のアセンブリ言語は用意されていますか。</a:t>
            </a:r>
            <a:endParaRPr kumimoji="1" lang="en-US" altLang="ja-JP" dirty="0"/>
          </a:p>
        </p:txBody>
      </p:sp>
    </p:spTree>
    <p:extLst>
      <p:ext uri="{BB962C8B-B14F-4D97-AF65-F5344CB8AC3E}">
        <p14:creationId xmlns:p14="http://schemas.microsoft.com/office/powerpoint/2010/main" val="6358612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F2D7E-B6F2-24FB-087E-2F3B6C1EC05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FBF692D-FB05-8C83-6765-2B3E653F63A9}"/>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801C2B65-D12C-1A74-B8E6-1282BCBB06E3}"/>
              </a:ext>
            </a:extLst>
          </p:cNvPr>
          <p:cNvSpPr>
            <a:spLocks noGrp="1"/>
          </p:cNvSpPr>
          <p:nvPr>
            <p:ph type="body" sz="quarter" idx="10"/>
          </p:nvPr>
        </p:nvSpPr>
        <p:spPr/>
        <p:txBody>
          <a:bodyPr/>
          <a:lstStyle/>
          <a:p>
            <a:r>
              <a:rPr lang="en-US" altLang="ja-JP" dirty="0"/>
              <a:t>16</a:t>
            </a:r>
            <a:r>
              <a:rPr lang="ja-JP" altLang="en-US" dirty="0"/>
              <a:t>進数について、今までなんでそんなに中途半端な数にしたんだと思っていたけれど、</a:t>
            </a:r>
            <a:r>
              <a:rPr lang="en-US" altLang="ja-JP" dirty="0"/>
              <a:t>16</a:t>
            </a:r>
            <a:r>
              <a:rPr lang="ja-JP" altLang="en-US" dirty="0"/>
              <a:t>が２の累乗であるだけでなく２の４乗であり、この</a:t>
            </a:r>
            <a:r>
              <a:rPr lang="en-US" altLang="ja-JP" dirty="0"/>
              <a:t>4</a:t>
            </a:r>
            <a:r>
              <a:rPr lang="ja-JP" altLang="en-US" dirty="0"/>
              <a:t>ビットで一桁が表せるという特性も２の累乗であることで、非常に都合の良い数字だということを知って理にかなっているのだと感じスッキリした。</a:t>
            </a:r>
            <a:endParaRPr kumimoji="1" lang="en-US" altLang="ja-JP" dirty="0"/>
          </a:p>
        </p:txBody>
      </p:sp>
    </p:spTree>
    <p:extLst>
      <p:ext uri="{BB962C8B-B14F-4D97-AF65-F5344CB8AC3E}">
        <p14:creationId xmlns:p14="http://schemas.microsoft.com/office/powerpoint/2010/main" val="17091526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AD7AD-890D-BF00-187F-1E2D7DA8A45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579208-6141-01DF-718A-EE412159AED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1F2D8392-9461-8D64-CBC8-725AFD21A015}"/>
              </a:ext>
            </a:extLst>
          </p:cNvPr>
          <p:cNvSpPr>
            <a:spLocks noGrp="1"/>
          </p:cNvSpPr>
          <p:nvPr>
            <p:ph type="body" sz="quarter" idx="10"/>
          </p:nvPr>
        </p:nvSpPr>
        <p:spPr/>
        <p:txBody>
          <a:bodyPr/>
          <a:lstStyle/>
          <a:p>
            <a:r>
              <a:rPr lang="en-US" altLang="ja-JP" dirty="0"/>
              <a:t>16</a:t>
            </a:r>
            <a:r>
              <a:rPr lang="ja-JP" altLang="en-US" dirty="0"/>
              <a:t>進数の英字は、大文字小文字に特に意味はないのでしょうか。</a:t>
            </a:r>
            <a:endParaRPr kumimoji="1" lang="en-US" altLang="ja-JP" dirty="0"/>
          </a:p>
        </p:txBody>
      </p:sp>
    </p:spTree>
    <p:extLst>
      <p:ext uri="{BB962C8B-B14F-4D97-AF65-F5344CB8AC3E}">
        <p14:creationId xmlns:p14="http://schemas.microsoft.com/office/powerpoint/2010/main" val="2820806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A2820-A196-EA5B-30A6-7E7DE9B43D5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5A40197-47EE-19B9-F7A4-3D0E7A5A093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C5688C38-6D62-8EDB-7855-7D217CEA0D32}"/>
              </a:ext>
            </a:extLst>
          </p:cNvPr>
          <p:cNvSpPr>
            <a:spLocks noGrp="1"/>
          </p:cNvSpPr>
          <p:nvPr>
            <p:ph type="body" sz="quarter" idx="10"/>
          </p:nvPr>
        </p:nvSpPr>
        <p:spPr/>
        <p:txBody>
          <a:bodyPr/>
          <a:lstStyle/>
          <a:p>
            <a:r>
              <a:rPr lang="ja-JP" altLang="en-US" dirty="0"/>
              <a:t>論理回路のパートに入ってからついていけなくなってしまいました。、論理回路は、何をするための論理回路なのかが全く分かっていませんでした。</a:t>
            </a:r>
          </a:p>
          <a:p>
            <a:r>
              <a:rPr lang="ja-JP" altLang="en-US" dirty="0"/>
              <a:t>調べたところ、判断、計算、記憶、制御というコンピュータの主な働きを全て実現するということが分かったのですが、それがわかってもなお、講義資料を見ても全く意味が入ってこないので勉強が足りないと思いました。論理回路は完璧に理解するべきでしょうか。</a:t>
            </a:r>
          </a:p>
          <a:p>
            <a:endParaRPr kumimoji="1" lang="en-US" altLang="ja-JP" dirty="0"/>
          </a:p>
        </p:txBody>
      </p:sp>
    </p:spTree>
    <p:extLst>
      <p:ext uri="{BB962C8B-B14F-4D97-AF65-F5344CB8AC3E}">
        <p14:creationId xmlns:p14="http://schemas.microsoft.com/office/powerpoint/2010/main" val="2289446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01DCD-B3B3-A6FB-876F-25C91DA0DC7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4998C84-A12E-2F86-B67F-F57EDF31890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05B00259-96CF-825D-A910-4973B319F0B4}"/>
              </a:ext>
            </a:extLst>
          </p:cNvPr>
          <p:cNvSpPr>
            <a:spLocks noGrp="1"/>
          </p:cNvSpPr>
          <p:nvPr>
            <p:ph type="body" sz="quarter" idx="10"/>
          </p:nvPr>
        </p:nvSpPr>
        <p:spPr/>
        <p:txBody>
          <a:bodyPr/>
          <a:lstStyle/>
          <a:p>
            <a:r>
              <a:rPr lang="ja-JP" altLang="en-US" dirty="0"/>
              <a:t>論理回路の動きとしてこれまた２進数が基盤となることがわかったが、実際に２進数よりも</a:t>
            </a:r>
            <a:r>
              <a:rPr lang="en-US" altLang="ja-JP" dirty="0"/>
              <a:t>16</a:t>
            </a:r>
            <a:r>
              <a:rPr lang="ja-JP" altLang="en-US" dirty="0"/>
              <a:t>進数に優先的に変換される場面はどのようなときか気になった。</a:t>
            </a:r>
            <a:endParaRPr kumimoji="1" lang="en-US" altLang="ja-JP" dirty="0"/>
          </a:p>
        </p:txBody>
      </p:sp>
    </p:spTree>
    <p:extLst>
      <p:ext uri="{BB962C8B-B14F-4D97-AF65-F5344CB8AC3E}">
        <p14:creationId xmlns:p14="http://schemas.microsoft.com/office/powerpoint/2010/main" val="33287821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4D2BE-4A05-BC22-7690-66A98971571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FAB3DB-61D0-6E43-D331-C6B0D7C4B171}"/>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DB088549-3E73-F6F6-5839-133F0B110BE2}"/>
              </a:ext>
            </a:extLst>
          </p:cNvPr>
          <p:cNvSpPr>
            <a:spLocks noGrp="1"/>
          </p:cNvSpPr>
          <p:nvPr>
            <p:ph type="body" sz="quarter" idx="10"/>
          </p:nvPr>
        </p:nvSpPr>
        <p:spPr/>
        <p:txBody>
          <a:bodyPr/>
          <a:lstStyle/>
          <a:p>
            <a:r>
              <a:rPr lang="ja-JP" altLang="en-US" dirty="0"/>
              <a:t>情報という物理的実体のないものを扱う論理回路において、なぜ遅延や消費電力が発生するのかという疑問が、コンデンサの充放電という物理現象の観点から理解できました 。また、リレーや</a:t>
            </a:r>
            <a:r>
              <a:rPr lang="en-US" altLang="ja-JP" dirty="0"/>
              <a:t>CMOS</a:t>
            </a:r>
            <a:r>
              <a:rPr lang="ja-JP" altLang="en-US" dirty="0"/>
              <a:t>による</a:t>
            </a:r>
            <a:r>
              <a:rPr lang="en-US" altLang="ja-JP" dirty="0"/>
              <a:t>N NAND</a:t>
            </a:r>
            <a:r>
              <a:rPr lang="ja-JP" altLang="en-US" dirty="0"/>
              <a:t>ゲートの構築から</a:t>
            </a:r>
            <a:r>
              <a:rPr lang="en-US" altLang="ja-JP" dirty="0"/>
              <a:t>CPU</a:t>
            </a:r>
            <a:r>
              <a:rPr lang="ja-JP" altLang="en-US" dirty="0"/>
              <a:t>の部品、そしてコンピュータの完成へと、ボトムアップに積み上がっていく構造から、基本素子からプログラム実行に至るまでの繋がりを実感しました 。</a:t>
            </a:r>
            <a:endParaRPr kumimoji="1" lang="en-US" altLang="ja-JP" dirty="0"/>
          </a:p>
        </p:txBody>
      </p:sp>
    </p:spTree>
    <p:extLst>
      <p:ext uri="{BB962C8B-B14F-4D97-AF65-F5344CB8AC3E}">
        <p14:creationId xmlns:p14="http://schemas.microsoft.com/office/powerpoint/2010/main" val="28710285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B2E36-5288-4045-61E8-E79404AE44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0DD4BE-5F56-FDB2-A99E-FF8CAED43982}"/>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99474E4C-3BD7-F10C-6631-CE4EC1C187A1}"/>
              </a:ext>
            </a:extLst>
          </p:cNvPr>
          <p:cNvSpPr>
            <a:spLocks noGrp="1"/>
          </p:cNvSpPr>
          <p:nvPr>
            <p:ph type="body" sz="quarter" idx="10"/>
          </p:nvPr>
        </p:nvSpPr>
        <p:spPr/>
        <p:txBody>
          <a:bodyPr/>
          <a:lstStyle/>
          <a:p>
            <a:r>
              <a:rPr lang="en-US" altLang="ja-JP" dirty="0"/>
              <a:t>{AND, OR, NOT}</a:t>
            </a:r>
            <a:r>
              <a:rPr lang="ja-JP" altLang="en-US" dirty="0"/>
              <a:t>、</a:t>
            </a:r>
            <a:r>
              <a:rPr lang="en-US" altLang="ja-JP" dirty="0"/>
              <a:t>{AND, NOT} </a:t>
            </a:r>
            <a:r>
              <a:rPr lang="ja-JP" altLang="en-US" dirty="0"/>
              <a:t>、 </a:t>
            </a:r>
            <a:r>
              <a:rPr lang="en-US" altLang="ja-JP" dirty="0"/>
              <a:t>{OR, NOT}</a:t>
            </a:r>
            <a:r>
              <a:rPr lang="ja-JP" altLang="en-US" dirty="0"/>
              <a:t>が完全集合の例であることはわかるが、</a:t>
            </a:r>
            <a:r>
              <a:rPr lang="en-US" altLang="ja-JP" dirty="0"/>
              <a:t>{NAND} </a:t>
            </a:r>
            <a:r>
              <a:rPr lang="ja-JP" altLang="en-US" dirty="0"/>
              <a:t>や </a:t>
            </a:r>
            <a:r>
              <a:rPr lang="en-US" altLang="ja-JP" dirty="0"/>
              <a:t>{NOR}</a:t>
            </a:r>
            <a:r>
              <a:rPr lang="ja-JP" altLang="en-US" dirty="0"/>
              <a:t>だけでも完全集合になることがすぐには納得できなくて驚いた。</a:t>
            </a:r>
            <a:endParaRPr kumimoji="1" lang="en-US" altLang="ja-JP" dirty="0"/>
          </a:p>
        </p:txBody>
      </p:sp>
    </p:spTree>
    <p:extLst>
      <p:ext uri="{BB962C8B-B14F-4D97-AF65-F5344CB8AC3E}">
        <p14:creationId xmlns:p14="http://schemas.microsoft.com/office/powerpoint/2010/main" val="17627851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3BC40-7697-8314-8290-4A99AF07060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BF17808-597A-9C04-228E-8F8BF2A7E61C}"/>
              </a:ext>
            </a:extLst>
          </p:cNvPr>
          <p:cNvSpPr>
            <a:spLocks noGrp="1"/>
          </p:cNvSpPr>
          <p:nvPr>
            <p:ph type="title"/>
          </p:nvPr>
        </p:nvSpPr>
        <p:spPr/>
        <p:txBody>
          <a:bodyPr/>
          <a:lstStyle/>
          <a:p>
            <a:r>
              <a:rPr kumimoji="1" lang="ja-JP" altLang="en-US" dirty="0"/>
              <a:t>質問や感想など</a:t>
            </a:r>
            <a:endParaRPr kumimoji="1" lang="en-US" dirty="0"/>
          </a:p>
        </p:txBody>
      </p:sp>
      <p:sp>
        <p:nvSpPr>
          <p:cNvPr id="3" name="コンテンツ プレースホルダー 2">
            <a:extLst>
              <a:ext uri="{FF2B5EF4-FFF2-40B4-BE49-F238E27FC236}">
                <a16:creationId xmlns:a16="http://schemas.microsoft.com/office/drawing/2014/main" id="{663FD0B2-09D9-DEB9-D60D-5D94E653B457}"/>
              </a:ext>
            </a:extLst>
          </p:cNvPr>
          <p:cNvSpPr>
            <a:spLocks noGrp="1"/>
          </p:cNvSpPr>
          <p:nvPr>
            <p:ph type="body" sz="quarter" idx="10"/>
          </p:nvPr>
        </p:nvSpPr>
        <p:spPr/>
        <p:txBody>
          <a:bodyPr/>
          <a:lstStyle/>
          <a:p>
            <a:r>
              <a:rPr lang="ja-JP" altLang="en-US" dirty="0"/>
              <a:t>私はアセンブリ言語よりも</a:t>
            </a:r>
            <a:r>
              <a:rPr lang="en-US" altLang="ja-JP" dirty="0"/>
              <a:t>C</a:t>
            </a:r>
            <a:r>
              <a:rPr lang="ja-JP" altLang="en-US" dirty="0"/>
              <a:t>言語の方がわかりやすく感じました。アセンブリ言語はコンピュータに近い低水準な言語であり、命令一つ一つの意味を考えながら読む必要があるため難しかったです。一方で、</a:t>
            </a:r>
            <a:r>
              <a:rPr lang="en-US" altLang="ja-JP" dirty="0"/>
              <a:t>C</a:t>
            </a:r>
            <a:r>
              <a:rPr lang="ja-JP" altLang="en-US" dirty="0"/>
              <a:t>言語は処理の流れを直感的に理解しやすく、これまで学んできた内容ともつながって理解しやすいと感じました。</a:t>
            </a:r>
            <a:endParaRPr kumimoji="1" lang="en-US" altLang="ja-JP" dirty="0"/>
          </a:p>
        </p:txBody>
      </p:sp>
    </p:spTree>
    <p:extLst>
      <p:ext uri="{BB962C8B-B14F-4D97-AF65-F5344CB8AC3E}">
        <p14:creationId xmlns:p14="http://schemas.microsoft.com/office/powerpoint/2010/main" val="2307690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cai-shioya-01</Template>
  <TotalTime>0</TotalTime>
  <Words>7523</Words>
  <Application>Microsoft Office PowerPoint</Application>
  <PresentationFormat>ワイド画面</PresentationFormat>
  <Paragraphs>1282</Paragraphs>
  <Slides>122</Slides>
  <Notes>13</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122</vt:i4>
      </vt:variant>
    </vt:vector>
  </HeadingPairs>
  <TitlesOfParts>
    <vt:vector size="135" baseType="lpstr">
      <vt:lpstr>HG丸ｺﾞｼｯｸM-PRO</vt:lpstr>
      <vt:lpstr>MeiryoKe_PGothic</vt:lpstr>
      <vt:lpstr>メイリオ</vt:lpstr>
      <vt:lpstr>Arial</vt:lpstr>
      <vt:lpstr>Arial Narrow</vt:lpstr>
      <vt:lpstr>Calibri</vt:lpstr>
      <vt:lpstr>Cambria Math</vt:lpstr>
      <vt:lpstr>Consolas</vt:lpstr>
      <vt:lpstr>Segoe UI</vt:lpstr>
      <vt:lpstr>Times New Roman</vt:lpstr>
      <vt:lpstr>Verdana</vt:lpstr>
      <vt:lpstr>Wingdings</vt:lpstr>
      <vt:lpstr>cerulean</vt:lpstr>
      <vt:lpstr>塩谷 亮太 (shioya@ci.i.u-tokyo.ac.jp) 東京大学大学院情報理工学系研究科 創造情報学専攻</vt:lpstr>
      <vt:lpstr>課題３の解説</vt:lpstr>
      <vt:lpstr>課題３</vt:lpstr>
      <vt:lpstr>課題３</vt:lpstr>
      <vt:lpstr>前回の振り返り</vt:lpstr>
      <vt:lpstr>２進数や１６進数による数値表現</vt:lpstr>
      <vt:lpstr>実際の命令セットの例</vt:lpstr>
      <vt:lpstr>RISC-V (32bit) のイメージ</vt:lpstr>
      <vt:lpstr>組み合わせ回路/順序回路</vt:lpstr>
      <vt:lpstr>論理回路の実現方法</vt:lpstr>
      <vt:lpstr>論理回路の作り方</vt:lpstr>
      <vt:lpstr>論理回路の作り方</vt:lpstr>
      <vt:lpstr>論理回路の作り方</vt:lpstr>
      <vt:lpstr>リレー（Relay）</vt:lpstr>
      <vt:lpstr>リレーの絵を回路記号に単純化</vt:lpstr>
      <vt:lpstr>VDD と GND</vt:lpstr>
      <vt:lpstr>電位と数値表現</vt:lpstr>
      <vt:lpstr>短絡（ショート）は起きない想定</vt:lpstr>
      <vt:lpstr>リレーを使って論理回路を作る</vt:lpstr>
      <vt:lpstr>N 型リレー</vt:lpstr>
      <vt:lpstr>N 型の動作</vt:lpstr>
      <vt:lpstr>N 型リレー</vt:lpstr>
      <vt:lpstr>P 型リレー</vt:lpstr>
      <vt:lpstr>P 型の動作</vt:lpstr>
      <vt:lpstr>P 型リレー</vt:lpstr>
      <vt:lpstr>P 型と N 型のまとめ</vt:lpstr>
      <vt:lpstr>P と N が，どっちかどっちだかわからない？</vt:lpstr>
      <vt:lpstr>NOT ゲート</vt:lpstr>
      <vt:lpstr>NOT ゲートの動作</vt:lpstr>
      <vt:lpstr>NAND ゲート</vt:lpstr>
      <vt:lpstr>NAND ゲート</vt:lpstr>
      <vt:lpstr>NAND ゲートの動作</vt:lpstr>
      <vt:lpstr>NOT と NAND から AND と OR を作る</vt:lpstr>
      <vt:lpstr>NAND が作れればそれだけでも良い</vt:lpstr>
      <vt:lpstr>リレーからコンピュータを作る</vt:lpstr>
      <vt:lpstr>リレーからコンピュータを作る</vt:lpstr>
      <vt:lpstr>リレーがあればプログラムが実行できる</vt:lpstr>
      <vt:lpstr>つまり，</vt:lpstr>
      <vt:lpstr>余談：いろいろなコンピュータ</vt:lpstr>
      <vt:lpstr>リレー式計算機 富士通 FACOM128B (1956)</vt:lpstr>
      <vt:lpstr>真空管（三極管）</vt:lpstr>
      <vt:lpstr>真空管の動作</vt:lpstr>
      <vt:lpstr>真空管</vt:lpstr>
      <vt:lpstr>レッドストーン回路</vt:lpstr>
      <vt:lpstr>レッドストーン回路</vt:lpstr>
      <vt:lpstr>入力で出力を制御出来ればコンピュータが作れる</vt:lpstr>
      <vt:lpstr>CMOS</vt:lpstr>
      <vt:lpstr>論理回路の作り方</vt:lpstr>
      <vt:lpstr>MOS FET</vt:lpstr>
      <vt:lpstr>MOS には NMOS と PMOS の２つがある</vt:lpstr>
      <vt:lpstr>N 型/P 型リレーとほぼ同じ動作</vt:lpstr>
      <vt:lpstr>CMOS: Complementary Metal–Oxide–Semiconductor</vt:lpstr>
      <vt:lpstr>NOT ゲート の例</vt:lpstr>
      <vt:lpstr>NOT ゲート の例</vt:lpstr>
      <vt:lpstr>NOT ゲート の例</vt:lpstr>
      <vt:lpstr>NAND の例</vt:lpstr>
      <vt:lpstr>CMOS による論理回路の実現のまとめ</vt:lpstr>
      <vt:lpstr>CMOS ゲートの等価回路</vt:lpstr>
      <vt:lpstr>CMOS ゲートの等価回路</vt:lpstr>
      <vt:lpstr>CMOS ゲートの等価回路</vt:lpstr>
      <vt:lpstr>CMOS ゲートの遅延の実体</vt:lpstr>
      <vt:lpstr>実際には</vt:lpstr>
      <vt:lpstr>遅延の違い</vt:lpstr>
      <vt:lpstr>余談：DVFS (Dynamic Voltage Frequency Scaling)</vt:lpstr>
      <vt:lpstr>電圧と遅延</vt:lpstr>
      <vt:lpstr>消費エネルギー</vt:lpstr>
      <vt:lpstr>DVFS: Dynamic Voltage Frequency Scaling</vt:lpstr>
      <vt:lpstr>水流システム</vt:lpstr>
      <vt:lpstr>水流システム</vt:lpstr>
      <vt:lpstr>水の流れで例えることにする</vt:lpstr>
      <vt:lpstr>タンクは２種類ある（PMOS と NMOS に相当） タンクに水が溜まっている時に，流れるか遮断されるかが逆になっている</vt:lpstr>
      <vt:lpstr>P タンクと  Nタンクで NOT ゲートが作れる</vt:lpstr>
      <vt:lpstr>上側を並列繋ぎ，下側を直列繋ぎにすると NAND になる</vt:lpstr>
      <vt:lpstr>CMOS 回路におけるスイッチングの消費エネルギー</vt:lpstr>
      <vt:lpstr>これも水流で考える</vt:lpstr>
      <vt:lpstr>NOT ゲートを２段重ねた例：入力が 0 の場合</vt:lpstr>
      <vt:lpstr>入力が 0 → 1 に遷移すると， 中央と右側タンクの水（斜線部分）が排水される</vt:lpstr>
      <vt:lpstr>つまり，スイッチの切り替えが起きると・・・</vt:lpstr>
      <vt:lpstr>補足：スイッチの ON/OFF 以外による消費エネルギー</vt:lpstr>
      <vt:lpstr>水流システムのアナロジーから説明できること</vt:lpstr>
      <vt:lpstr>まとめ：一番下から積み上げて一番上までいけた 一番下がすげ変わっても，上は同様に作れる</vt:lpstr>
      <vt:lpstr>リレーや真空管と比較した CMOS の利点</vt:lpstr>
      <vt:lpstr>リレーや真空管と比較した CMOS の利点２</vt:lpstr>
      <vt:lpstr>まとめ</vt:lpstr>
      <vt:lpstr>課題 4</vt:lpstr>
      <vt:lpstr>提出方法</vt:lpstr>
      <vt:lpstr>付録</vt:lpstr>
      <vt:lpstr>実際の回路生成</vt:lpstr>
      <vt:lpstr>実際の回路生成</vt:lpstr>
      <vt:lpstr>スタンダード・セル</vt:lpstr>
      <vt:lpstr>フルカスタム・レイアウト</vt:lpstr>
      <vt:lpstr>3次元的な構造を考えながら，設計</vt:lpstr>
      <vt:lpstr>実際の設計データ</vt:lpstr>
      <vt:lpstr>実際の例：IBM POWER8 のチップ写真</vt:lpstr>
      <vt:lpstr>PowerPoint プレゼンテーション</vt:lpstr>
      <vt:lpstr>感想や質問</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lpstr>解答例 (b)</vt:lpstr>
      <vt:lpstr>質問や感想など</vt:lpstr>
      <vt:lpstr>質問や感想など</vt:lpstr>
      <vt:lpstr>質問や感想など</vt:lpstr>
      <vt:lpstr>質問や感想など</vt:lpstr>
      <vt:lpstr>質問や感想など</vt:lpstr>
      <vt:lpstr>質問や感想など</vt:lpstr>
      <vt:lpstr>質問や感想など</vt:lpstr>
      <vt:lpstr>質問や感想など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2026-05-19T07:25:41Z</dcterms:modified>
</cp:coreProperties>
</file>