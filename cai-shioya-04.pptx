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64" r:id="rId1"/>
  </p:sldMasterIdLst>
  <p:notesMasterIdLst>
    <p:notesMasterId r:id="rId107"/>
  </p:notesMasterIdLst>
  <p:sldIdLst>
    <p:sldId id="455" r:id="rId2"/>
    <p:sldId id="1168" r:id="rId3"/>
    <p:sldId id="1167" r:id="rId4"/>
    <p:sldId id="1169" r:id="rId5"/>
    <p:sldId id="266" r:id="rId6"/>
    <p:sldId id="749" r:id="rId7"/>
    <p:sldId id="748" r:id="rId8"/>
    <p:sldId id="750" r:id="rId9"/>
    <p:sldId id="747" r:id="rId10"/>
    <p:sldId id="458" r:id="rId11"/>
    <p:sldId id="1184" r:id="rId12"/>
    <p:sldId id="753" r:id="rId13"/>
    <p:sldId id="754" r:id="rId14"/>
    <p:sldId id="755" r:id="rId15"/>
    <p:sldId id="756" r:id="rId16"/>
    <p:sldId id="762" r:id="rId17"/>
    <p:sldId id="763" r:id="rId18"/>
    <p:sldId id="764" r:id="rId19"/>
    <p:sldId id="760" r:id="rId20"/>
    <p:sldId id="771" r:id="rId21"/>
    <p:sldId id="772" r:id="rId22"/>
    <p:sldId id="773" r:id="rId23"/>
    <p:sldId id="761" r:id="rId24"/>
    <p:sldId id="775" r:id="rId25"/>
    <p:sldId id="776" r:id="rId26"/>
    <p:sldId id="777" r:id="rId27"/>
    <p:sldId id="778" r:id="rId28"/>
    <p:sldId id="779" r:id="rId29"/>
    <p:sldId id="781" r:id="rId30"/>
    <p:sldId id="783" r:id="rId31"/>
    <p:sldId id="780" r:id="rId32"/>
    <p:sldId id="784" r:id="rId33"/>
    <p:sldId id="785" r:id="rId34"/>
    <p:sldId id="797" r:id="rId35"/>
    <p:sldId id="786" r:id="rId36"/>
    <p:sldId id="787" r:id="rId37"/>
    <p:sldId id="788" r:id="rId38"/>
    <p:sldId id="789" r:id="rId39"/>
    <p:sldId id="791" r:id="rId40"/>
    <p:sldId id="800" r:id="rId41"/>
    <p:sldId id="792" r:id="rId42"/>
    <p:sldId id="793" r:id="rId43"/>
    <p:sldId id="794" r:id="rId44"/>
    <p:sldId id="795" r:id="rId45"/>
    <p:sldId id="790" r:id="rId46"/>
    <p:sldId id="796" r:id="rId47"/>
    <p:sldId id="798" r:id="rId48"/>
    <p:sldId id="799" r:id="rId49"/>
    <p:sldId id="721" r:id="rId50"/>
    <p:sldId id="462" r:id="rId51"/>
    <p:sldId id="467" r:id="rId52"/>
    <p:sldId id="460" r:id="rId53"/>
    <p:sldId id="468" r:id="rId54"/>
    <p:sldId id="470" r:id="rId55"/>
    <p:sldId id="469" r:id="rId56"/>
    <p:sldId id="471" r:id="rId57"/>
    <p:sldId id="480" r:id="rId58"/>
    <p:sldId id="844" r:id="rId59"/>
    <p:sldId id="365" r:id="rId60"/>
    <p:sldId id="1185" r:id="rId61"/>
    <p:sldId id="472" r:id="rId62"/>
    <p:sldId id="366" r:id="rId63"/>
    <p:sldId id="474" r:id="rId64"/>
    <p:sldId id="478" r:id="rId65"/>
    <p:sldId id="477" r:id="rId66"/>
    <p:sldId id="475" r:id="rId67"/>
    <p:sldId id="476" r:id="rId68"/>
    <p:sldId id="841" r:id="rId69"/>
    <p:sldId id="845" r:id="rId70"/>
    <p:sldId id="801" r:id="rId71"/>
    <p:sldId id="386" r:id="rId72"/>
    <p:sldId id="802" r:id="rId73"/>
    <p:sldId id="696" r:id="rId74"/>
    <p:sldId id="722" r:id="rId75"/>
    <p:sldId id="363" r:id="rId76"/>
    <p:sldId id="382" r:id="rId77"/>
    <p:sldId id="364" r:id="rId78"/>
    <p:sldId id="383" r:id="rId79"/>
    <p:sldId id="720" r:id="rId80"/>
    <p:sldId id="451" r:id="rId81"/>
    <p:sldId id="384" r:id="rId82"/>
    <p:sldId id="782" r:id="rId83"/>
    <p:sldId id="752" r:id="rId84"/>
    <p:sldId id="1186" r:id="rId85"/>
    <p:sldId id="1187" r:id="rId86"/>
    <p:sldId id="1188" r:id="rId87"/>
    <p:sldId id="1189" r:id="rId88"/>
    <p:sldId id="1190" r:id="rId89"/>
    <p:sldId id="447" r:id="rId90"/>
    <p:sldId id="456" r:id="rId91"/>
    <p:sldId id="1191" r:id="rId92"/>
    <p:sldId id="1192" r:id="rId93"/>
    <p:sldId id="1193" r:id="rId94"/>
    <p:sldId id="1194" r:id="rId95"/>
    <p:sldId id="1195" r:id="rId96"/>
    <p:sldId id="1196" r:id="rId97"/>
    <p:sldId id="1197" r:id="rId98"/>
    <p:sldId id="1198" r:id="rId99"/>
    <p:sldId id="1199" r:id="rId100"/>
    <p:sldId id="1200" r:id="rId101"/>
    <p:sldId id="1201" r:id="rId102"/>
    <p:sldId id="1202" r:id="rId103"/>
    <p:sldId id="1203" r:id="rId104"/>
    <p:sldId id="1204" r:id="rId105"/>
    <p:sldId id="1176" r:id="rId106"/>
  </p:sldIdLst>
  <p:sldSz cx="9144000" cy="6858000" type="screen4x3"/>
  <p:notesSz cx="6858000" cy="9144000"/>
  <p:custDataLst>
    <p:tags r:id="rId108"/>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05B80"/>
    <a:srgbClr val="008000"/>
    <a:srgbClr val="0000FF"/>
    <a:srgbClr val="FFE8FF"/>
    <a:srgbClr val="F8E0FF"/>
    <a:srgbClr val="E4F0FF"/>
    <a:srgbClr val="E8F7FF"/>
    <a:srgbClr val="00FF00"/>
    <a:srgbClr val="FFFFE8"/>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12C8C85-51F0-491E-9774-3900AFEF0FD7}" styleName="淡色スタイル 2 - アクセント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2833802-FEF1-4C79-8D5D-14CF1EAF98D9}" styleName="淡色スタイル 2 - アクセント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中間スタイル 3 - アクセント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中間スタイル 1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0335" autoAdjust="0"/>
    <p:restoredTop sz="96889" autoAdjust="0"/>
  </p:normalViewPr>
  <p:slideViewPr>
    <p:cSldViewPr>
      <p:cViewPr varScale="1">
        <p:scale>
          <a:sx n="157" d="100"/>
          <a:sy n="157" d="100"/>
        </p:scale>
        <p:origin x="2304" y="96"/>
      </p:cViewPr>
      <p:guideLst>
        <p:guide orient="horz" pos="2160"/>
        <p:guide pos="2880"/>
      </p:guideLst>
    </p:cSldViewPr>
  </p:slideViewPr>
  <p:notesTextViewPr>
    <p:cViewPr>
      <p:scale>
        <a:sx n="100" d="100"/>
        <a:sy n="100" d="100"/>
      </p:scale>
      <p:origin x="0" y="0"/>
    </p:cViewPr>
  </p:notesTextViewPr>
  <p:gridSpacing cx="90001" cy="90001"/>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tableStyles" Target="tableStyles.xml"/><Relationship Id="rId16" Type="http://schemas.openxmlformats.org/officeDocument/2006/relationships/slide" Target="slides/slide15.xml"/><Relationship Id="rId107" Type="http://schemas.openxmlformats.org/officeDocument/2006/relationships/notesMaster" Target="notesMasters/notesMaster1.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tags" Target="tags/tag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presProps" Target="presProp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C56210E-A5EE-4707-8EFD-B2050EBAA0B3}" type="datetimeFigureOut">
              <a:rPr kumimoji="1" lang="ja-JP" altLang="en-US" smtClean="0"/>
              <a:t>2025/5/27</a:t>
            </a:fld>
            <a:endParaRPr kumimoji="1" lang="ja-JP" altLang="en-US"/>
          </a:p>
        </p:txBody>
      </p:sp>
      <p:sp>
        <p:nvSpPr>
          <p:cNvPr id="4" name="スライド イメージ プレースホルダー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2E5C193-8E84-44DA-A08F-24EBD3FDF7D3}" type="slidenum">
              <a:rPr kumimoji="1" lang="ja-JP" altLang="en-US" smtClean="0"/>
              <a:t>‹#›</a:t>
            </a:fld>
            <a:endParaRPr kumimoji="1" lang="ja-JP" altLang="en-US"/>
          </a:p>
        </p:txBody>
      </p:sp>
    </p:spTree>
    <p:extLst>
      <p:ext uri="{BB962C8B-B14F-4D97-AF65-F5344CB8AC3E}">
        <p14:creationId xmlns:p14="http://schemas.microsoft.com/office/powerpoint/2010/main" val="40375478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en-US" dirty="0"/>
          </a:p>
        </p:txBody>
      </p:sp>
      <p:sp>
        <p:nvSpPr>
          <p:cNvPr id="4" name="スライド番号プレースホルダー 3"/>
          <p:cNvSpPr>
            <a:spLocks noGrp="1"/>
          </p:cNvSpPr>
          <p:nvPr>
            <p:ph type="sldNum" sz="quarter" idx="5"/>
          </p:nvPr>
        </p:nvSpPr>
        <p:spPr/>
        <p:txBody>
          <a:bodyPr/>
          <a:lstStyle/>
          <a:p>
            <a:fld id="{02E5C193-8E84-44DA-A08F-24EBD3FDF7D3}" type="slidenum">
              <a:rPr kumimoji="1" lang="ja-JP" altLang="en-US" smtClean="0"/>
              <a:t>8</a:t>
            </a:fld>
            <a:endParaRPr kumimoji="1" lang="ja-JP" altLang="en-US"/>
          </a:p>
        </p:txBody>
      </p:sp>
    </p:spTree>
    <p:extLst>
      <p:ext uri="{BB962C8B-B14F-4D97-AF65-F5344CB8AC3E}">
        <p14:creationId xmlns:p14="http://schemas.microsoft.com/office/powerpoint/2010/main" val="6518241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 1"/>
          <p:cNvSpPr>
            <a:spLocks noGrp="1" noRot="1" noChangeAspect="1"/>
          </p:cNvSpPr>
          <p:nvPr>
            <p:ph type="sldImg"/>
          </p:nvPr>
        </p:nvSpPr>
        <p:spPr>
          <a:xfrm>
            <a:off x="819150" y="161925"/>
            <a:ext cx="5219700" cy="3914775"/>
          </a:xfrm>
        </p:spPr>
      </p:sp>
      <p:sp>
        <p:nvSpPr>
          <p:cNvPr id="3" name="ノート プレースホルダ 2"/>
          <p:cNvSpPr>
            <a:spLocks noGrp="1"/>
          </p:cNvSpPr>
          <p:nvPr>
            <p:ph type="body" idx="1"/>
          </p:nvPr>
        </p:nvSpPr>
        <p:spPr/>
        <p:txBody>
          <a:bodyPr>
            <a:normAutofit/>
          </a:bodyPr>
          <a:lstStyle/>
          <a:p>
            <a:endParaRPr kumimoji="1" lang="ja-JP" altLang="en-US"/>
          </a:p>
        </p:txBody>
      </p:sp>
      <p:sp>
        <p:nvSpPr>
          <p:cNvPr id="4" name="スライド番号プレースホルダ 3"/>
          <p:cNvSpPr>
            <a:spLocks noGrp="1"/>
          </p:cNvSpPr>
          <p:nvPr>
            <p:ph type="sldNum" sz="quarter" idx="10"/>
          </p:nvPr>
        </p:nvSpPr>
        <p:spPr/>
        <p:txBody>
          <a:bodyPr/>
          <a:lstStyle/>
          <a:p>
            <a:fld id="{4AA20E6A-E9E2-4DAF-80E2-EC8AB3F425B3}" type="slidenum">
              <a:rPr lang="en-US" altLang="ja-JP" smtClean="0"/>
              <a:pPr/>
              <a:t>49</a:t>
            </a:fld>
            <a:endParaRPr lang="en-US" altLang="ja-JP"/>
          </a:p>
        </p:txBody>
      </p:sp>
    </p:spTree>
    <p:extLst>
      <p:ext uri="{BB962C8B-B14F-4D97-AF65-F5344CB8AC3E}">
        <p14:creationId xmlns:p14="http://schemas.microsoft.com/office/powerpoint/2010/main" val="4706776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 1"/>
          <p:cNvSpPr>
            <a:spLocks noGrp="1" noRot="1" noChangeAspect="1"/>
          </p:cNvSpPr>
          <p:nvPr>
            <p:ph type="sldImg"/>
          </p:nvPr>
        </p:nvSpPr>
        <p:spPr>
          <a:xfrm>
            <a:off x="819150" y="161925"/>
            <a:ext cx="5219700" cy="3914775"/>
          </a:xfrm>
        </p:spPr>
      </p:sp>
      <p:sp>
        <p:nvSpPr>
          <p:cNvPr id="3" name="ノート プレースホルダ 2"/>
          <p:cNvSpPr>
            <a:spLocks noGrp="1"/>
          </p:cNvSpPr>
          <p:nvPr>
            <p:ph type="body" idx="1"/>
          </p:nvPr>
        </p:nvSpPr>
        <p:spPr/>
        <p:txBody>
          <a:bodyPr>
            <a:normAutofit/>
          </a:bodyPr>
          <a:lstStyle/>
          <a:p>
            <a:endParaRPr kumimoji="1" lang="ja-JP" altLang="en-US"/>
          </a:p>
        </p:txBody>
      </p:sp>
      <p:sp>
        <p:nvSpPr>
          <p:cNvPr id="4" name="スライド番号プレースホルダ 3"/>
          <p:cNvSpPr>
            <a:spLocks noGrp="1"/>
          </p:cNvSpPr>
          <p:nvPr>
            <p:ph type="sldNum" sz="quarter" idx="10"/>
          </p:nvPr>
        </p:nvSpPr>
        <p:spPr/>
        <p:txBody>
          <a:bodyPr/>
          <a:lstStyle/>
          <a:p>
            <a:fld id="{4AA20E6A-E9E2-4DAF-80E2-EC8AB3F425B3}" type="slidenum">
              <a:rPr lang="en-US" altLang="ja-JP" smtClean="0"/>
              <a:pPr/>
              <a:t>50</a:t>
            </a:fld>
            <a:endParaRPr lang="en-US" altLang="ja-JP"/>
          </a:p>
        </p:txBody>
      </p:sp>
    </p:spTree>
    <p:extLst>
      <p:ext uri="{BB962C8B-B14F-4D97-AF65-F5344CB8AC3E}">
        <p14:creationId xmlns:p14="http://schemas.microsoft.com/office/powerpoint/2010/main" val="34181804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 1"/>
          <p:cNvSpPr>
            <a:spLocks noGrp="1" noRot="1" noChangeAspect="1"/>
          </p:cNvSpPr>
          <p:nvPr>
            <p:ph type="sldImg"/>
          </p:nvPr>
        </p:nvSpPr>
        <p:spPr>
          <a:xfrm>
            <a:off x="819150" y="161925"/>
            <a:ext cx="5219700" cy="3914775"/>
          </a:xfrm>
        </p:spPr>
      </p:sp>
      <p:sp>
        <p:nvSpPr>
          <p:cNvPr id="3" name="ノート プレースホルダ 2"/>
          <p:cNvSpPr>
            <a:spLocks noGrp="1"/>
          </p:cNvSpPr>
          <p:nvPr>
            <p:ph type="body" idx="1"/>
          </p:nvPr>
        </p:nvSpPr>
        <p:spPr/>
        <p:txBody>
          <a:bodyPr>
            <a:normAutofit/>
          </a:bodyPr>
          <a:lstStyle/>
          <a:p>
            <a:endParaRPr kumimoji="1" lang="ja-JP" altLang="en-US"/>
          </a:p>
        </p:txBody>
      </p:sp>
      <p:sp>
        <p:nvSpPr>
          <p:cNvPr id="4" name="スライド番号プレースホルダ 3"/>
          <p:cNvSpPr>
            <a:spLocks noGrp="1"/>
          </p:cNvSpPr>
          <p:nvPr>
            <p:ph type="sldNum" sz="quarter" idx="10"/>
          </p:nvPr>
        </p:nvSpPr>
        <p:spPr/>
        <p:txBody>
          <a:bodyPr/>
          <a:lstStyle/>
          <a:p>
            <a:fld id="{4AA20E6A-E9E2-4DAF-80E2-EC8AB3F425B3}" type="slidenum">
              <a:rPr lang="en-US" altLang="ja-JP" smtClean="0"/>
              <a:pPr/>
              <a:t>51</a:t>
            </a:fld>
            <a:endParaRPr lang="en-US" altLang="ja-JP"/>
          </a:p>
        </p:txBody>
      </p:sp>
    </p:spTree>
    <p:extLst>
      <p:ext uri="{BB962C8B-B14F-4D97-AF65-F5344CB8AC3E}">
        <p14:creationId xmlns:p14="http://schemas.microsoft.com/office/powerpoint/2010/main" val="5134065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 1"/>
          <p:cNvSpPr>
            <a:spLocks noGrp="1" noRot="1" noChangeAspect="1"/>
          </p:cNvSpPr>
          <p:nvPr>
            <p:ph type="sldImg"/>
          </p:nvPr>
        </p:nvSpPr>
        <p:spPr>
          <a:xfrm>
            <a:off x="819150" y="161925"/>
            <a:ext cx="5219700" cy="3914775"/>
          </a:xfrm>
        </p:spPr>
      </p:sp>
      <p:sp>
        <p:nvSpPr>
          <p:cNvPr id="3" name="ノート プレースホルダ 2"/>
          <p:cNvSpPr>
            <a:spLocks noGrp="1"/>
          </p:cNvSpPr>
          <p:nvPr>
            <p:ph type="body" idx="1"/>
          </p:nvPr>
        </p:nvSpPr>
        <p:spPr/>
        <p:txBody>
          <a:bodyPr>
            <a:normAutofit/>
          </a:bodyPr>
          <a:lstStyle/>
          <a:p>
            <a:endParaRPr kumimoji="1" lang="ja-JP" altLang="en-US"/>
          </a:p>
        </p:txBody>
      </p:sp>
      <p:sp>
        <p:nvSpPr>
          <p:cNvPr id="4" name="スライド番号プレースホルダ 3"/>
          <p:cNvSpPr>
            <a:spLocks noGrp="1"/>
          </p:cNvSpPr>
          <p:nvPr>
            <p:ph type="sldNum" sz="quarter" idx="10"/>
          </p:nvPr>
        </p:nvSpPr>
        <p:spPr/>
        <p:txBody>
          <a:bodyPr/>
          <a:lstStyle/>
          <a:p>
            <a:fld id="{4AA20E6A-E9E2-4DAF-80E2-EC8AB3F425B3}" type="slidenum">
              <a:rPr lang="en-US" altLang="ja-JP" smtClean="0"/>
              <a:pPr/>
              <a:t>53</a:t>
            </a:fld>
            <a:endParaRPr lang="en-US" altLang="ja-JP"/>
          </a:p>
        </p:txBody>
      </p:sp>
    </p:spTree>
    <p:extLst>
      <p:ext uri="{BB962C8B-B14F-4D97-AF65-F5344CB8AC3E}">
        <p14:creationId xmlns:p14="http://schemas.microsoft.com/office/powerpoint/2010/main" val="6432816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 1"/>
          <p:cNvSpPr>
            <a:spLocks noGrp="1" noRot="1" noChangeAspect="1"/>
          </p:cNvSpPr>
          <p:nvPr>
            <p:ph type="sldImg"/>
          </p:nvPr>
        </p:nvSpPr>
        <p:spPr>
          <a:xfrm>
            <a:off x="819150" y="161925"/>
            <a:ext cx="5219700" cy="3914775"/>
          </a:xfrm>
        </p:spPr>
      </p:sp>
      <p:sp>
        <p:nvSpPr>
          <p:cNvPr id="3" name="ノート プレースホルダ 2"/>
          <p:cNvSpPr>
            <a:spLocks noGrp="1"/>
          </p:cNvSpPr>
          <p:nvPr>
            <p:ph type="body" idx="1"/>
          </p:nvPr>
        </p:nvSpPr>
        <p:spPr/>
        <p:txBody>
          <a:bodyPr>
            <a:normAutofit/>
          </a:bodyPr>
          <a:lstStyle/>
          <a:p>
            <a:endParaRPr kumimoji="1" lang="ja-JP" altLang="en-US"/>
          </a:p>
        </p:txBody>
      </p:sp>
      <p:sp>
        <p:nvSpPr>
          <p:cNvPr id="4" name="スライド番号プレースホルダ 3"/>
          <p:cNvSpPr>
            <a:spLocks noGrp="1"/>
          </p:cNvSpPr>
          <p:nvPr>
            <p:ph type="sldNum" sz="quarter" idx="10"/>
          </p:nvPr>
        </p:nvSpPr>
        <p:spPr/>
        <p:txBody>
          <a:bodyPr/>
          <a:lstStyle/>
          <a:p>
            <a:fld id="{4AA20E6A-E9E2-4DAF-80E2-EC8AB3F425B3}" type="slidenum">
              <a:rPr lang="en-US" altLang="ja-JP" smtClean="0"/>
              <a:pPr/>
              <a:t>54</a:t>
            </a:fld>
            <a:endParaRPr lang="en-US" altLang="ja-JP"/>
          </a:p>
        </p:txBody>
      </p:sp>
    </p:spTree>
    <p:extLst>
      <p:ext uri="{BB962C8B-B14F-4D97-AF65-F5344CB8AC3E}">
        <p14:creationId xmlns:p14="http://schemas.microsoft.com/office/powerpoint/2010/main" val="154769452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 1"/>
          <p:cNvSpPr>
            <a:spLocks noGrp="1" noRot="1" noChangeAspect="1"/>
          </p:cNvSpPr>
          <p:nvPr>
            <p:ph type="sldImg"/>
          </p:nvPr>
        </p:nvSpPr>
        <p:spPr>
          <a:xfrm>
            <a:off x="819150" y="161925"/>
            <a:ext cx="5219700" cy="3914775"/>
          </a:xfrm>
        </p:spPr>
      </p:sp>
      <p:sp>
        <p:nvSpPr>
          <p:cNvPr id="3" name="ノート プレースホルダ 2"/>
          <p:cNvSpPr>
            <a:spLocks noGrp="1"/>
          </p:cNvSpPr>
          <p:nvPr>
            <p:ph type="body" idx="1"/>
          </p:nvPr>
        </p:nvSpPr>
        <p:spPr/>
        <p:txBody>
          <a:bodyPr>
            <a:normAutofit/>
          </a:bodyPr>
          <a:lstStyle/>
          <a:p>
            <a:endParaRPr kumimoji="1" lang="ja-JP" altLang="en-US"/>
          </a:p>
        </p:txBody>
      </p:sp>
      <p:sp>
        <p:nvSpPr>
          <p:cNvPr id="4" name="スライド番号プレースホルダ 3"/>
          <p:cNvSpPr>
            <a:spLocks noGrp="1"/>
          </p:cNvSpPr>
          <p:nvPr>
            <p:ph type="sldNum" sz="quarter" idx="10"/>
          </p:nvPr>
        </p:nvSpPr>
        <p:spPr/>
        <p:txBody>
          <a:bodyPr/>
          <a:lstStyle/>
          <a:p>
            <a:fld id="{4AA20E6A-E9E2-4DAF-80E2-EC8AB3F425B3}" type="slidenum">
              <a:rPr lang="en-US" altLang="ja-JP" smtClean="0"/>
              <a:pPr/>
              <a:t>55</a:t>
            </a:fld>
            <a:endParaRPr lang="en-US" altLang="ja-JP"/>
          </a:p>
        </p:txBody>
      </p:sp>
    </p:spTree>
    <p:extLst>
      <p:ext uri="{BB962C8B-B14F-4D97-AF65-F5344CB8AC3E}">
        <p14:creationId xmlns:p14="http://schemas.microsoft.com/office/powerpoint/2010/main" val="5653384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 1"/>
          <p:cNvSpPr>
            <a:spLocks noGrp="1" noRot="1" noChangeAspect="1"/>
          </p:cNvSpPr>
          <p:nvPr>
            <p:ph type="sldImg"/>
          </p:nvPr>
        </p:nvSpPr>
        <p:spPr>
          <a:xfrm>
            <a:off x="819150" y="161925"/>
            <a:ext cx="5219700" cy="3914775"/>
          </a:xfrm>
        </p:spPr>
      </p:sp>
      <p:sp>
        <p:nvSpPr>
          <p:cNvPr id="3" name="ノート プレースホルダ 2"/>
          <p:cNvSpPr>
            <a:spLocks noGrp="1"/>
          </p:cNvSpPr>
          <p:nvPr>
            <p:ph type="body" idx="1"/>
          </p:nvPr>
        </p:nvSpPr>
        <p:spPr/>
        <p:txBody>
          <a:bodyPr>
            <a:normAutofit/>
          </a:bodyPr>
          <a:lstStyle/>
          <a:p>
            <a:endParaRPr kumimoji="1" lang="ja-JP" altLang="en-US"/>
          </a:p>
        </p:txBody>
      </p:sp>
      <p:sp>
        <p:nvSpPr>
          <p:cNvPr id="4" name="スライド番号プレースホルダ 3"/>
          <p:cNvSpPr>
            <a:spLocks noGrp="1"/>
          </p:cNvSpPr>
          <p:nvPr>
            <p:ph type="sldNum" sz="quarter" idx="10"/>
          </p:nvPr>
        </p:nvSpPr>
        <p:spPr/>
        <p:txBody>
          <a:bodyPr/>
          <a:lstStyle/>
          <a:p>
            <a:fld id="{4AA20E6A-E9E2-4DAF-80E2-EC8AB3F425B3}" type="slidenum">
              <a:rPr lang="en-US" altLang="ja-JP" smtClean="0"/>
              <a:pPr/>
              <a:t>56</a:t>
            </a:fld>
            <a:endParaRPr lang="en-US" altLang="ja-JP"/>
          </a:p>
        </p:txBody>
      </p:sp>
    </p:spTree>
    <p:extLst>
      <p:ext uri="{BB962C8B-B14F-4D97-AF65-F5344CB8AC3E}">
        <p14:creationId xmlns:p14="http://schemas.microsoft.com/office/powerpoint/2010/main" val="231974807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819150" y="161925"/>
            <a:ext cx="5219700" cy="3914775"/>
          </a:xfrm>
        </p:spPr>
      </p:sp>
      <p:sp>
        <p:nvSpPr>
          <p:cNvPr id="3" name="ノート プレースホルダー 2"/>
          <p:cNvSpPr>
            <a:spLocks noGrp="1"/>
          </p:cNvSpPr>
          <p:nvPr>
            <p:ph type="body" idx="1"/>
          </p:nvPr>
        </p:nvSpPr>
        <p:spPr/>
        <p:txBody>
          <a:bodyPr/>
          <a:lstStyle/>
          <a:p>
            <a:r>
              <a:rPr kumimoji="1" lang="ja-JP" altLang="en-US" dirty="0"/>
              <a:t>現在の </a:t>
            </a:r>
            <a:r>
              <a:rPr kumimoji="1" lang="en-US" altLang="ja-JP" dirty="0"/>
              <a:t>CPU </a:t>
            </a:r>
            <a:r>
              <a:rPr kumimoji="1" lang="ja-JP" altLang="en-US" dirty="0"/>
              <a:t>は一般に </a:t>
            </a:r>
            <a:r>
              <a:rPr kumimoji="1" lang="en-US" altLang="ja-JP" dirty="0"/>
              <a:t>CMOS </a:t>
            </a:r>
            <a:r>
              <a:rPr kumimoji="1" lang="ja-JP" altLang="en-US" dirty="0"/>
              <a:t>ゲートというものでできているのですが，</a:t>
            </a:r>
            <a:endParaRPr kumimoji="1" lang="en-US" altLang="ja-JP" dirty="0"/>
          </a:p>
          <a:p>
            <a:r>
              <a:rPr kumimoji="1" lang="ja-JP" altLang="en-US" dirty="0"/>
              <a:t>おもいっきり細かいことを省くと，</a:t>
            </a:r>
            <a:endParaRPr kumimoji="1" lang="en-US" altLang="ja-JP" dirty="0"/>
          </a:p>
          <a:p>
            <a:endParaRPr kumimoji="1" lang="en-US" altLang="ja-JP" dirty="0"/>
          </a:p>
          <a:p>
            <a:r>
              <a:rPr kumimoji="1" lang="ja-JP" altLang="en-US" dirty="0"/>
              <a:t>これは入力にコンデンサがついていて，</a:t>
            </a:r>
            <a:endParaRPr kumimoji="1" lang="en-US" altLang="ja-JP" dirty="0"/>
          </a:p>
          <a:p>
            <a:r>
              <a:rPr kumimoji="1" lang="ja-JP" altLang="en-US" dirty="0"/>
              <a:t>これに連動して動くスイッチが出力を決めるものとなっています．</a:t>
            </a:r>
            <a:endParaRPr kumimoji="1" lang="en-US" altLang="ja-JP" dirty="0"/>
          </a:p>
          <a:p>
            <a:endParaRPr kumimoji="1" lang="en-US" altLang="ja-JP" dirty="0"/>
          </a:p>
          <a:p>
            <a:r>
              <a:rPr kumimoji="1" lang="ja-JP" altLang="en-US" dirty="0"/>
              <a:t>たとえば </a:t>
            </a:r>
            <a:r>
              <a:rPr kumimoji="1" lang="en-US" altLang="ja-JP" dirty="0"/>
              <a:t>NOT </a:t>
            </a:r>
            <a:r>
              <a:rPr kumimoji="1" lang="ja-JP" altLang="en-US" dirty="0"/>
              <a:t>ゲートは，入力に高電位がかかると，</a:t>
            </a:r>
            <a:endParaRPr kumimoji="1" lang="en-US" altLang="ja-JP" dirty="0"/>
          </a:p>
          <a:p>
            <a:r>
              <a:rPr kumimoji="1" lang="ja-JP" altLang="en-US" dirty="0"/>
              <a:t>下のスイッチが </a:t>
            </a:r>
            <a:r>
              <a:rPr kumimoji="1" lang="en-US" altLang="ja-JP" dirty="0"/>
              <a:t>ON </a:t>
            </a:r>
            <a:r>
              <a:rPr kumimoji="1" lang="ja-JP" altLang="en-US" dirty="0"/>
              <a:t>になって，出力がグラウンドに</a:t>
            </a:r>
            <a:endParaRPr kumimoji="1" lang="en-US" altLang="ja-JP" dirty="0"/>
          </a:p>
          <a:p>
            <a:r>
              <a:rPr kumimoji="1" lang="ja-JP" altLang="en-US" dirty="0"/>
              <a:t>つながるので低電位になって </a:t>
            </a:r>
            <a:r>
              <a:rPr kumimoji="1" lang="en-US" altLang="ja-JP" dirty="0"/>
              <a:t>NOT </a:t>
            </a:r>
            <a:r>
              <a:rPr kumimoji="1" lang="ja-JP" altLang="en-US" dirty="0"/>
              <a:t>回路ができると．</a:t>
            </a:r>
            <a:endParaRPr kumimoji="1" lang="en-US" altLang="ja-JP" dirty="0"/>
          </a:p>
          <a:p>
            <a:endParaRPr kumimoji="1" lang="en-US" altLang="ja-JP" dirty="0"/>
          </a:p>
          <a:p>
            <a:endParaRPr kumimoji="1" lang="ja-JP" altLang="en-US" dirty="0"/>
          </a:p>
        </p:txBody>
      </p:sp>
      <p:sp>
        <p:nvSpPr>
          <p:cNvPr id="4" name="スライド番号プレースホルダー 3"/>
          <p:cNvSpPr>
            <a:spLocks noGrp="1"/>
          </p:cNvSpPr>
          <p:nvPr>
            <p:ph type="sldNum" sz="quarter" idx="10"/>
          </p:nvPr>
        </p:nvSpPr>
        <p:spPr/>
        <p:txBody>
          <a:bodyPr/>
          <a:lstStyle/>
          <a:p>
            <a:fld id="{78A5F4D4-1F28-49A5-8AEE-E46B08553EC4}" type="slidenum">
              <a:rPr kumimoji="1" lang="ja-JP" altLang="en-US" smtClean="0"/>
              <a:t>58</a:t>
            </a:fld>
            <a:endParaRPr kumimoji="1" lang="ja-JP" altLang="en-US"/>
          </a:p>
        </p:txBody>
      </p:sp>
    </p:spTree>
    <p:extLst>
      <p:ext uri="{BB962C8B-B14F-4D97-AF65-F5344CB8AC3E}">
        <p14:creationId xmlns:p14="http://schemas.microsoft.com/office/powerpoint/2010/main" val="31681563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819150" y="161925"/>
            <a:ext cx="5219700" cy="3914775"/>
          </a:xfrm>
        </p:spPr>
      </p:sp>
      <p:sp>
        <p:nvSpPr>
          <p:cNvPr id="3" name="ノート プレースホルダー 2"/>
          <p:cNvSpPr>
            <a:spLocks noGrp="1"/>
          </p:cNvSpPr>
          <p:nvPr>
            <p:ph type="body" idx="1"/>
          </p:nvPr>
        </p:nvSpPr>
        <p:spPr/>
        <p:txBody>
          <a:bodyPr/>
          <a:lstStyle/>
          <a:p>
            <a:r>
              <a:rPr kumimoji="1" lang="ja-JP" altLang="en-US" dirty="0"/>
              <a:t>現在の </a:t>
            </a:r>
            <a:r>
              <a:rPr kumimoji="1" lang="en-US" altLang="ja-JP" dirty="0"/>
              <a:t>CPU </a:t>
            </a:r>
            <a:r>
              <a:rPr kumimoji="1" lang="ja-JP" altLang="en-US" dirty="0"/>
              <a:t>は一般に </a:t>
            </a:r>
            <a:r>
              <a:rPr kumimoji="1" lang="en-US" altLang="ja-JP" dirty="0"/>
              <a:t>CMOS </a:t>
            </a:r>
            <a:r>
              <a:rPr kumimoji="1" lang="ja-JP" altLang="en-US" dirty="0"/>
              <a:t>ゲートというものでできているのですが，</a:t>
            </a:r>
            <a:endParaRPr kumimoji="1" lang="en-US" altLang="ja-JP" dirty="0"/>
          </a:p>
          <a:p>
            <a:r>
              <a:rPr kumimoji="1" lang="ja-JP" altLang="en-US" dirty="0"/>
              <a:t>おもいっきり細かいことを省くと，</a:t>
            </a:r>
            <a:endParaRPr kumimoji="1" lang="en-US" altLang="ja-JP" dirty="0"/>
          </a:p>
          <a:p>
            <a:endParaRPr kumimoji="1" lang="en-US" altLang="ja-JP" dirty="0"/>
          </a:p>
          <a:p>
            <a:r>
              <a:rPr kumimoji="1" lang="ja-JP" altLang="en-US" dirty="0"/>
              <a:t>これは入力にコンデンサがついていて，</a:t>
            </a:r>
            <a:endParaRPr kumimoji="1" lang="en-US" altLang="ja-JP" dirty="0"/>
          </a:p>
          <a:p>
            <a:r>
              <a:rPr kumimoji="1" lang="ja-JP" altLang="en-US" dirty="0"/>
              <a:t>これに連動して動くスイッチが出力を決めるものとなっています．</a:t>
            </a:r>
            <a:endParaRPr kumimoji="1" lang="en-US" altLang="ja-JP" dirty="0"/>
          </a:p>
          <a:p>
            <a:endParaRPr kumimoji="1" lang="en-US" altLang="ja-JP" dirty="0"/>
          </a:p>
          <a:p>
            <a:r>
              <a:rPr kumimoji="1" lang="ja-JP" altLang="en-US" dirty="0"/>
              <a:t>たとえば </a:t>
            </a:r>
            <a:r>
              <a:rPr kumimoji="1" lang="en-US" altLang="ja-JP" dirty="0"/>
              <a:t>NOT </a:t>
            </a:r>
            <a:r>
              <a:rPr kumimoji="1" lang="ja-JP" altLang="en-US" dirty="0"/>
              <a:t>ゲートは，入力に高電位がかかると，</a:t>
            </a:r>
            <a:endParaRPr kumimoji="1" lang="en-US" altLang="ja-JP" dirty="0"/>
          </a:p>
          <a:p>
            <a:r>
              <a:rPr kumimoji="1" lang="ja-JP" altLang="en-US" dirty="0"/>
              <a:t>下のスイッチが </a:t>
            </a:r>
            <a:r>
              <a:rPr kumimoji="1" lang="en-US" altLang="ja-JP" dirty="0"/>
              <a:t>ON </a:t>
            </a:r>
            <a:r>
              <a:rPr kumimoji="1" lang="ja-JP" altLang="en-US" dirty="0"/>
              <a:t>になって，出力がグラウンドに</a:t>
            </a:r>
            <a:endParaRPr kumimoji="1" lang="en-US" altLang="ja-JP" dirty="0"/>
          </a:p>
          <a:p>
            <a:r>
              <a:rPr kumimoji="1" lang="ja-JP" altLang="en-US" dirty="0"/>
              <a:t>つながるので低電位になって </a:t>
            </a:r>
            <a:r>
              <a:rPr kumimoji="1" lang="en-US" altLang="ja-JP" dirty="0"/>
              <a:t>NOT </a:t>
            </a:r>
            <a:r>
              <a:rPr kumimoji="1" lang="ja-JP" altLang="en-US" dirty="0"/>
              <a:t>回路ができると．</a:t>
            </a:r>
            <a:endParaRPr kumimoji="1" lang="en-US" altLang="ja-JP" dirty="0"/>
          </a:p>
          <a:p>
            <a:endParaRPr kumimoji="1" lang="en-US" altLang="ja-JP" dirty="0"/>
          </a:p>
          <a:p>
            <a:endParaRPr kumimoji="1" lang="ja-JP" altLang="en-US" dirty="0"/>
          </a:p>
        </p:txBody>
      </p:sp>
      <p:sp>
        <p:nvSpPr>
          <p:cNvPr id="4" name="スライド番号プレースホルダー 3"/>
          <p:cNvSpPr>
            <a:spLocks noGrp="1"/>
          </p:cNvSpPr>
          <p:nvPr>
            <p:ph type="sldNum" sz="quarter" idx="10"/>
          </p:nvPr>
        </p:nvSpPr>
        <p:spPr/>
        <p:txBody>
          <a:bodyPr/>
          <a:lstStyle/>
          <a:p>
            <a:fld id="{78A5F4D4-1F28-49A5-8AEE-E46B08553EC4}" type="slidenum">
              <a:rPr kumimoji="1" lang="ja-JP" altLang="en-US" smtClean="0"/>
              <a:t>59</a:t>
            </a:fld>
            <a:endParaRPr kumimoji="1" lang="ja-JP" altLang="en-US"/>
          </a:p>
        </p:txBody>
      </p:sp>
    </p:spTree>
    <p:extLst>
      <p:ext uri="{BB962C8B-B14F-4D97-AF65-F5344CB8AC3E}">
        <p14:creationId xmlns:p14="http://schemas.microsoft.com/office/powerpoint/2010/main" val="42638266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819150" y="161925"/>
            <a:ext cx="5219700" cy="3914775"/>
          </a:xfrm>
        </p:spPr>
      </p:sp>
      <p:sp>
        <p:nvSpPr>
          <p:cNvPr id="3" name="ノート プレースホルダー 2"/>
          <p:cNvSpPr>
            <a:spLocks noGrp="1"/>
          </p:cNvSpPr>
          <p:nvPr>
            <p:ph type="body" idx="1"/>
          </p:nvPr>
        </p:nvSpPr>
        <p:spPr/>
        <p:txBody>
          <a:bodyPr/>
          <a:lstStyle/>
          <a:p>
            <a:r>
              <a:rPr kumimoji="1" lang="ja-JP" altLang="en-US" dirty="0"/>
              <a:t>現在の </a:t>
            </a:r>
            <a:r>
              <a:rPr kumimoji="1" lang="en-US" altLang="ja-JP" dirty="0"/>
              <a:t>CPU </a:t>
            </a:r>
            <a:r>
              <a:rPr kumimoji="1" lang="ja-JP" altLang="en-US" dirty="0"/>
              <a:t>は一般に </a:t>
            </a:r>
            <a:r>
              <a:rPr kumimoji="1" lang="en-US" altLang="ja-JP" dirty="0"/>
              <a:t>CMOS </a:t>
            </a:r>
            <a:r>
              <a:rPr kumimoji="1" lang="ja-JP" altLang="en-US" dirty="0"/>
              <a:t>ゲートというものでできているのですが，</a:t>
            </a:r>
            <a:endParaRPr kumimoji="1" lang="en-US" altLang="ja-JP" dirty="0"/>
          </a:p>
          <a:p>
            <a:r>
              <a:rPr kumimoji="1" lang="ja-JP" altLang="en-US" dirty="0"/>
              <a:t>おもいっきり細かいことを省くと，</a:t>
            </a:r>
            <a:endParaRPr kumimoji="1" lang="en-US" altLang="ja-JP" dirty="0"/>
          </a:p>
          <a:p>
            <a:endParaRPr kumimoji="1" lang="en-US" altLang="ja-JP" dirty="0"/>
          </a:p>
          <a:p>
            <a:r>
              <a:rPr kumimoji="1" lang="ja-JP" altLang="en-US" dirty="0"/>
              <a:t>これは入力にコンデンサがついていて，</a:t>
            </a:r>
            <a:endParaRPr kumimoji="1" lang="en-US" altLang="ja-JP" dirty="0"/>
          </a:p>
          <a:p>
            <a:r>
              <a:rPr kumimoji="1" lang="ja-JP" altLang="en-US" dirty="0"/>
              <a:t>これに連動して動くスイッチが出力を決めるものとなっています．</a:t>
            </a:r>
            <a:endParaRPr kumimoji="1" lang="en-US" altLang="ja-JP" dirty="0"/>
          </a:p>
          <a:p>
            <a:endParaRPr kumimoji="1" lang="en-US" altLang="ja-JP" dirty="0"/>
          </a:p>
          <a:p>
            <a:r>
              <a:rPr kumimoji="1" lang="ja-JP" altLang="en-US" dirty="0"/>
              <a:t>たとえば </a:t>
            </a:r>
            <a:r>
              <a:rPr kumimoji="1" lang="en-US" altLang="ja-JP" dirty="0"/>
              <a:t>NOT </a:t>
            </a:r>
            <a:r>
              <a:rPr kumimoji="1" lang="ja-JP" altLang="en-US" dirty="0"/>
              <a:t>ゲートは，入力に高電位がかかると，</a:t>
            </a:r>
            <a:endParaRPr kumimoji="1" lang="en-US" altLang="ja-JP" dirty="0"/>
          </a:p>
          <a:p>
            <a:r>
              <a:rPr kumimoji="1" lang="ja-JP" altLang="en-US" dirty="0"/>
              <a:t>下のスイッチが </a:t>
            </a:r>
            <a:r>
              <a:rPr kumimoji="1" lang="en-US" altLang="ja-JP" dirty="0"/>
              <a:t>ON </a:t>
            </a:r>
            <a:r>
              <a:rPr kumimoji="1" lang="ja-JP" altLang="en-US" dirty="0"/>
              <a:t>になって，出力がグラウンドに</a:t>
            </a:r>
            <a:endParaRPr kumimoji="1" lang="en-US" altLang="ja-JP" dirty="0"/>
          </a:p>
          <a:p>
            <a:r>
              <a:rPr kumimoji="1" lang="ja-JP" altLang="en-US" dirty="0"/>
              <a:t>つながるので低電位になって </a:t>
            </a:r>
            <a:r>
              <a:rPr kumimoji="1" lang="en-US" altLang="ja-JP" dirty="0"/>
              <a:t>NOT </a:t>
            </a:r>
            <a:r>
              <a:rPr kumimoji="1" lang="ja-JP" altLang="en-US" dirty="0"/>
              <a:t>回路ができると．</a:t>
            </a:r>
            <a:endParaRPr kumimoji="1" lang="en-US" altLang="ja-JP" dirty="0"/>
          </a:p>
          <a:p>
            <a:endParaRPr kumimoji="1" lang="en-US" altLang="ja-JP" dirty="0"/>
          </a:p>
          <a:p>
            <a:endParaRPr kumimoji="1" lang="ja-JP" altLang="en-US" dirty="0"/>
          </a:p>
        </p:txBody>
      </p:sp>
      <p:sp>
        <p:nvSpPr>
          <p:cNvPr id="4" name="スライド番号プレースホルダー 3"/>
          <p:cNvSpPr>
            <a:spLocks noGrp="1"/>
          </p:cNvSpPr>
          <p:nvPr>
            <p:ph type="sldNum" sz="quarter" idx="10"/>
          </p:nvPr>
        </p:nvSpPr>
        <p:spPr/>
        <p:txBody>
          <a:bodyPr/>
          <a:lstStyle/>
          <a:p>
            <a:fld id="{78A5F4D4-1F28-49A5-8AEE-E46B08553EC4}" type="slidenum">
              <a:rPr kumimoji="1" lang="ja-JP" altLang="en-US" smtClean="0"/>
              <a:t>61</a:t>
            </a:fld>
            <a:endParaRPr kumimoji="1" lang="ja-JP" altLang="en-US"/>
          </a:p>
        </p:txBody>
      </p:sp>
    </p:spTree>
    <p:extLst>
      <p:ext uri="{BB962C8B-B14F-4D97-AF65-F5344CB8AC3E}">
        <p14:creationId xmlns:p14="http://schemas.microsoft.com/office/powerpoint/2010/main" val="23549470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819150" y="161925"/>
            <a:ext cx="5219700" cy="3914775"/>
          </a:xfrm>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55F7E7B6-97A1-4C8F-A8C0-76121E6C1AAA}" type="slidenum">
              <a:rPr kumimoji="1" lang="ja-JP" altLang="en-US" smtClean="0"/>
              <a:t>79</a:t>
            </a:fld>
            <a:endParaRPr kumimoji="1" lang="ja-JP" altLang="en-US"/>
          </a:p>
        </p:txBody>
      </p:sp>
    </p:spTree>
    <p:extLst>
      <p:ext uri="{BB962C8B-B14F-4D97-AF65-F5344CB8AC3E}">
        <p14:creationId xmlns:p14="http://schemas.microsoft.com/office/powerpoint/2010/main" val="361153120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DF758DC-2776-45EB-AE2E-025D9B790831}" type="slidenum">
              <a:rPr lang="en-US" altLang="ja-JP"/>
              <a:pPr/>
              <a:t>90</a:t>
            </a:fld>
            <a:endParaRPr lang="en-US" altLang="ja-JP"/>
          </a:p>
        </p:txBody>
      </p:sp>
      <p:sp>
        <p:nvSpPr>
          <p:cNvPr id="709634" name="Rectangle 2"/>
          <p:cNvSpPr>
            <a:spLocks noGrp="1" noRot="1" noChangeAspect="1" noChangeArrowheads="1" noTextEdit="1"/>
          </p:cNvSpPr>
          <p:nvPr>
            <p:ph type="sldImg"/>
          </p:nvPr>
        </p:nvSpPr>
        <p:spPr>
          <a:xfrm>
            <a:off x="819150" y="161925"/>
            <a:ext cx="5219700" cy="3914775"/>
          </a:xfrm>
          <a:ln/>
        </p:spPr>
      </p:sp>
      <p:sp>
        <p:nvSpPr>
          <p:cNvPr id="709635"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38311315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bg>
      <p:bgPr>
        <a:solidFill>
          <a:schemeClr val="accent4"/>
        </a:solidFill>
        <a:effectLst/>
      </p:bgPr>
    </p:bg>
    <p:spTree>
      <p:nvGrpSpPr>
        <p:cNvPr id="1" name=""/>
        <p:cNvGrpSpPr/>
        <p:nvPr/>
      </p:nvGrpSpPr>
      <p:grpSpPr>
        <a:xfrm>
          <a:off x="0" y="0"/>
          <a:ext cx="0" cy="0"/>
          <a:chOff x="0" y="0"/>
          <a:chExt cx="0" cy="0"/>
        </a:xfrm>
      </p:grpSpPr>
      <p:sp>
        <p:nvSpPr>
          <p:cNvPr id="21" name="正方形/長方形 20"/>
          <p:cNvSpPr/>
          <p:nvPr/>
        </p:nvSpPr>
        <p:spPr bwMode="auto">
          <a:xfrm>
            <a:off x="0" y="0"/>
            <a:ext cx="9144000" cy="6858000"/>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350" b="1">
              <a:solidFill>
                <a:schemeClr val="bg1"/>
              </a:solidFill>
            </a:endParaRPr>
          </a:p>
        </p:txBody>
      </p:sp>
      <p:sp>
        <p:nvSpPr>
          <p:cNvPr id="7170" name="Rectangle 2"/>
          <p:cNvSpPr>
            <a:spLocks noGrp="1" noChangeArrowheads="1"/>
          </p:cNvSpPr>
          <p:nvPr>
            <p:ph type="ctrTitle"/>
          </p:nvPr>
        </p:nvSpPr>
        <p:spPr>
          <a:xfrm>
            <a:off x="701958" y="278965"/>
            <a:ext cx="7920088" cy="2340026"/>
          </a:xfrm>
          <a:prstGeom prst="rect">
            <a:avLst/>
          </a:prstGeom>
        </p:spPr>
        <p:txBody>
          <a:bodyPr anchor="ctr"/>
          <a:lstStyle>
            <a:lvl1pPr algn="ctr">
              <a:defRPr sz="2400" b="1">
                <a:solidFill>
                  <a:schemeClr val="bg1"/>
                </a:solidFill>
              </a:defRPr>
            </a:lvl1pPr>
          </a:lstStyle>
          <a:p>
            <a:r>
              <a:rPr lang="ja-JP" altLang="en-US"/>
              <a:t>マスター タイトルの書式設定</a:t>
            </a:r>
          </a:p>
        </p:txBody>
      </p:sp>
      <p:sp>
        <p:nvSpPr>
          <p:cNvPr id="7171" name="Rectangle 3"/>
          <p:cNvSpPr>
            <a:spLocks noGrp="1" noChangeArrowheads="1"/>
          </p:cNvSpPr>
          <p:nvPr>
            <p:ph type="subTitle" idx="1"/>
          </p:nvPr>
        </p:nvSpPr>
        <p:spPr>
          <a:xfrm>
            <a:off x="1691968" y="4149009"/>
            <a:ext cx="7200080" cy="1440017"/>
          </a:xfrm>
        </p:spPr>
        <p:txBody>
          <a:bodyPr anchor="b"/>
          <a:lstStyle>
            <a:lvl1pPr marL="0" indent="0" algn="r">
              <a:lnSpc>
                <a:spcPct val="150000"/>
              </a:lnSpc>
              <a:spcBef>
                <a:spcPts val="0"/>
              </a:spcBef>
              <a:spcAft>
                <a:spcPts val="0"/>
              </a:spcAft>
              <a:buFont typeface="Wingdings" pitchFamily="2" charset="2"/>
              <a:buNone/>
              <a:defRPr>
                <a:solidFill>
                  <a:schemeClr val="bg1"/>
                </a:solidFill>
              </a:defRPr>
            </a:lvl1pPr>
          </a:lstStyle>
          <a:p>
            <a:r>
              <a:rPr lang="ja-JP" altLang="en-US"/>
              <a:t>マスター サブタイトルの書式設定</a:t>
            </a:r>
          </a:p>
        </p:txBody>
      </p:sp>
      <p:cxnSp>
        <p:nvCxnSpPr>
          <p:cNvPr id="6" name="直線コネクタ 5"/>
          <p:cNvCxnSpPr>
            <a:cxnSpLocks/>
          </p:cNvCxnSpPr>
          <p:nvPr/>
        </p:nvCxnSpPr>
        <p:spPr bwMode="auto">
          <a:xfrm>
            <a:off x="611956" y="3068996"/>
            <a:ext cx="7920088"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42102898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611956" y="0"/>
            <a:ext cx="8532044"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sz="2800">
                <a:latin typeface="+mn-lt"/>
              </a:defRPr>
            </a:lvl1pPr>
          </a:lstStyle>
          <a:p>
            <a:pPr lvl="0"/>
            <a:r>
              <a:rPr lang="ja-JP" altLang="en-US"/>
              <a:t>マスター タイトルの書式設定</a:t>
            </a:r>
          </a:p>
        </p:txBody>
      </p:sp>
      <p:sp>
        <p:nvSpPr>
          <p:cNvPr id="8" name="Rectangle 20"/>
          <p:cNvSpPr txBox="1">
            <a:spLocks noChangeArrowheads="1"/>
          </p:cNvSpPr>
          <p:nvPr/>
        </p:nvSpPr>
        <p:spPr bwMode="auto">
          <a:xfrm>
            <a:off x="8172040" y="6309032"/>
            <a:ext cx="720008" cy="548971"/>
          </a:xfrm>
          <a:prstGeom prst="rect">
            <a:avLst/>
          </a:prstGeom>
          <a:noFill/>
          <a:ln w="9525">
            <a:noFill/>
            <a:miter lim="800000"/>
            <a:headEnd/>
            <a:tailEnd/>
          </a:ln>
          <a:effectLst/>
        </p:spPr>
        <p:txBody>
          <a:bodyPr vert="horz" wrap="none" lIns="68580" tIns="34290" rIns="68580" bIns="3429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1500" smtClean="0"/>
              <a:pPr/>
              <a:t>‹#›</a:t>
            </a:fld>
            <a:endParaRPr kumimoji="1" lang="ja-JP" altLang="en-US" sz="1500" dirty="0"/>
          </a:p>
        </p:txBody>
      </p:sp>
      <p:sp>
        <p:nvSpPr>
          <p:cNvPr id="3" name="コンテンツ プレースホルダー 2">
            <a:extLst>
              <a:ext uri="{FF2B5EF4-FFF2-40B4-BE49-F238E27FC236}">
                <a16:creationId xmlns:a16="http://schemas.microsoft.com/office/drawing/2014/main" id="{ED3F4CC4-3DF1-E96F-EED4-9F7C4C9F5FFE}"/>
              </a:ext>
            </a:extLst>
          </p:cNvPr>
          <p:cNvSpPr>
            <a:spLocks noGrp="1"/>
          </p:cNvSpPr>
          <p:nvPr>
            <p:ph sz="quarter" idx="10"/>
          </p:nvPr>
        </p:nvSpPr>
        <p:spPr>
          <a:xfrm>
            <a:off x="611956" y="1088974"/>
            <a:ext cx="8280092" cy="522005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en-US"/>
          </a:p>
        </p:txBody>
      </p:sp>
    </p:spTree>
    <p:extLst>
      <p:ext uri="{BB962C8B-B14F-4D97-AF65-F5344CB8AC3E}">
        <p14:creationId xmlns:p14="http://schemas.microsoft.com/office/powerpoint/2010/main" val="34526078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431955" y="0"/>
            <a:ext cx="8712046"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sz="2800">
                <a:latin typeface="+mn-lt"/>
              </a:defRPr>
            </a:lvl1pPr>
          </a:lstStyle>
          <a:p>
            <a:pPr lvl="0"/>
            <a:r>
              <a:rPr lang="ja-JP" altLang="en-US"/>
              <a:t>マスター タイトルの書式設定</a:t>
            </a:r>
          </a:p>
        </p:txBody>
      </p:sp>
      <p:sp>
        <p:nvSpPr>
          <p:cNvPr id="7" name="Rectangle 20"/>
          <p:cNvSpPr>
            <a:spLocks noGrp="1" noChangeArrowheads="1"/>
          </p:cNvSpPr>
          <p:nvPr>
            <p:ph type="sldNum" sz="quarter" idx="4"/>
          </p:nvPr>
        </p:nvSpPr>
        <p:spPr bwMode="auto">
          <a:xfrm>
            <a:off x="8532044" y="6309032"/>
            <a:ext cx="611956" cy="548968"/>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1500">
                <a:solidFill>
                  <a:schemeClr val="tx1">
                    <a:lumMod val="75000"/>
                    <a:lumOff val="25000"/>
                  </a:schemeClr>
                </a:solidFill>
                <a:latin typeface="+mn-lt"/>
              </a:defRPr>
            </a:lvl1pPr>
          </a:lstStyle>
          <a:p>
            <a:fld id="{D2D8002D-B5B0-4BAC-B1F6-782DDCCE6D9C}" type="slidenum">
              <a:rPr kumimoji="1" lang="ja-JP" altLang="en-US" smtClean="0"/>
              <a:t>‹#›</a:t>
            </a:fld>
            <a:endParaRPr kumimoji="1" lang="ja-JP" altLang="en-US"/>
          </a:p>
        </p:txBody>
      </p:sp>
    </p:spTree>
    <p:extLst>
      <p:ext uri="{BB962C8B-B14F-4D97-AF65-F5344CB8AC3E}">
        <p14:creationId xmlns:p14="http://schemas.microsoft.com/office/powerpoint/2010/main" val="242827631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cSld name="セクションタイトル">
    <p:bg>
      <p:bgPr>
        <a:solidFill>
          <a:schemeClr val="accent4"/>
        </a:solidFill>
        <a:effectLst/>
      </p:bgPr>
    </p:bg>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bg1"/>
                </a:solidFill>
              </a:defRPr>
            </a:lvl1pPr>
          </a:lstStyle>
          <a:p>
            <a:fld id="{D2D8002D-B5B0-4BAC-B1F6-782DDCCE6D9C}" type="slidenum">
              <a:rPr kumimoji="1" lang="ja-JP" altLang="en-US" smtClean="0"/>
              <a:pPr/>
              <a:t>‹#›</a:t>
            </a:fld>
            <a:endParaRPr kumimoji="1" lang="ja-JP" altLang="en-US"/>
          </a:p>
        </p:txBody>
      </p:sp>
      <p:sp>
        <p:nvSpPr>
          <p:cNvPr id="3" name="タイトル 2"/>
          <p:cNvSpPr>
            <a:spLocks noGrp="1"/>
          </p:cNvSpPr>
          <p:nvPr>
            <p:ph type="title"/>
          </p:nvPr>
        </p:nvSpPr>
        <p:spPr>
          <a:xfrm>
            <a:off x="611956" y="2078985"/>
            <a:ext cx="7920088" cy="990011"/>
          </a:xfrm>
        </p:spPr>
        <p:txBody>
          <a:bodyPr anchor="b"/>
          <a:lstStyle>
            <a:lvl1pPr algn="ctr">
              <a:defRPr sz="3200" b="0"/>
            </a:lvl1pPr>
          </a:lstStyle>
          <a:p>
            <a:r>
              <a:rPr kumimoji="1" lang="ja-JP" altLang="en-US"/>
              <a:t>マスター タイトルの書式設定</a:t>
            </a:r>
            <a:endParaRPr kumimoji="1" lang="ja-JP" altLang="en-US" dirty="0"/>
          </a:p>
        </p:txBody>
      </p:sp>
      <p:cxnSp>
        <p:nvCxnSpPr>
          <p:cNvPr id="5" name="直線コネクタ 4">
            <a:extLst>
              <a:ext uri="{FF2B5EF4-FFF2-40B4-BE49-F238E27FC236}">
                <a16:creationId xmlns:a16="http://schemas.microsoft.com/office/drawing/2014/main" id="{4BFA6771-4A43-A7D9-54D9-CCBD4E6DE8B7}"/>
              </a:ext>
            </a:extLst>
          </p:cNvPr>
          <p:cNvCxnSpPr>
            <a:cxnSpLocks/>
          </p:cNvCxnSpPr>
          <p:nvPr userDrawn="1"/>
        </p:nvCxnSpPr>
        <p:spPr bwMode="auto">
          <a:xfrm>
            <a:off x="611956" y="3068996"/>
            <a:ext cx="7920088"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34097030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上">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4" name="フッター プレースホルダー 3"/>
          <p:cNvSpPr>
            <a:spLocks noGrp="1"/>
          </p:cNvSpPr>
          <p:nvPr>
            <p:ph type="ftr" sz="quarter" idx="11"/>
          </p:nvPr>
        </p:nvSpPr>
        <p:spPr>
          <a:xfrm>
            <a:off x="6732288" y="1"/>
            <a:ext cx="2411712" cy="278579"/>
          </a:xfrm>
          <a:prstGeom prst="rect">
            <a:avLst/>
          </a:prstGeom>
        </p:spPr>
        <p:txBody>
          <a:bodyPr/>
          <a:lstStyle/>
          <a:p>
            <a:r>
              <a:rPr lang="ja-JP" altLang="en-US"/>
              <a:t>ディジタル回路</a:t>
            </a:r>
            <a:endParaRPr lang="ja-JP" altLang="ja-JP"/>
          </a:p>
        </p:txBody>
      </p:sp>
      <p:sp>
        <p:nvSpPr>
          <p:cNvPr id="5" name="スライド番号プレースホルダー 4"/>
          <p:cNvSpPr>
            <a:spLocks noGrp="1"/>
          </p:cNvSpPr>
          <p:nvPr>
            <p:ph type="sldNum" sz="quarter" idx="12"/>
          </p:nvPr>
        </p:nvSpPr>
        <p:spPr>
          <a:xfrm>
            <a:off x="8783952" y="6482651"/>
            <a:ext cx="360048" cy="360048"/>
          </a:xfrm>
          <a:prstGeom prst="rect">
            <a:avLst/>
          </a:prstGeom>
        </p:spPr>
        <p:txBody>
          <a:bodyPr/>
          <a:lstStyle/>
          <a:p>
            <a:endParaRPr lang="ja-JP" altLang="ja-JP"/>
          </a:p>
        </p:txBody>
      </p:sp>
      <p:sp>
        <p:nvSpPr>
          <p:cNvPr id="8" name="コンテンツ プレースホルダー 7"/>
          <p:cNvSpPr>
            <a:spLocks noGrp="1"/>
          </p:cNvSpPr>
          <p:nvPr>
            <p:ph sz="quarter" idx="13"/>
          </p:nvPr>
        </p:nvSpPr>
        <p:spPr>
          <a:xfrm>
            <a:off x="251424" y="1268712"/>
            <a:ext cx="8641152" cy="2160288"/>
          </a:xfrm>
        </p:spPr>
        <p:txBody>
          <a:bodyPr anchor="t" anchorCtr="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Tree>
    <p:extLst>
      <p:ext uri="{BB962C8B-B14F-4D97-AF65-F5344CB8AC3E}">
        <p14:creationId xmlns:p14="http://schemas.microsoft.com/office/powerpoint/2010/main" val="3380819553"/>
      </p:ext>
    </p:extLst>
  </p:cSld>
  <p:clrMapOvr>
    <a:masterClrMapping/>
  </p:clrMapOvr>
  <mc:AlternateContent xmlns:mc="http://schemas.openxmlformats.org/markup-compatibility/2006" xmlns:p14="http://schemas.microsoft.com/office/powerpoint/2010/main">
    <mc:Choice Requires="p14">
      <p:transition spd="slow">
        <p14:pan dir="u"/>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userDrawn="1">
  <p:cSld name="タイトルのみ">
    <p:spTree>
      <p:nvGrpSpPr>
        <p:cNvPr id="1" name=""/>
        <p:cNvGrpSpPr/>
        <p:nvPr/>
      </p:nvGrpSpPr>
      <p:grpSpPr>
        <a:xfrm>
          <a:off x="0" y="0"/>
          <a:ext cx="0" cy="0"/>
          <a:chOff x="0" y="0"/>
          <a:chExt cx="0" cy="0"/>
        </a:xfrm>
      </p:grpSpPr>
      <p:sp>
        <p:nvSpPr>
          <p:cNvPr id="3" name="スライド番号プレースホルダ 2"/>
          <p:cNvSpPr>
            <a:spLocks noGrp="1"/>
          </p:cNvSpPr>
          <p:nvPr>
            <p:ph type="sldNum" sz="quarter" idx="10"/>
          </p:nvPr>
        </p:nvSpPr>
        <p:spPr/>
        <p:txBody>
          <a:bodyPr/>
          <a:lstStyle>
            <a:lvl1pPr>
              <a:defRPr>
                <a:solidFill>
                  <a:srgbClr val="686D6D"/>
                </a:solidFill>
              </a:defRPr>
            </a:lvl1pPr>
          </a:lstStyle>
          <a:p>
            <a:fld id="{D2D8002D-B5B0-4BAC-B1F6-782DDCCE6D9C}" type="slidenum">
              <a:rPr kumimoji="1" lang="ja-JP" altLang="en-US" smtClean="0"/>
              <a:pPr/>
              <a:t>‹#›</a:t>
            </a:fld>
            <a:endParaRPr kumimoji="1" lang="ja-JP" altLang="en-US" dirty="0"/>
          </a:p>
        </p:txBody>
      </p:sp>
      <p:sp>
        <p:nvSpPr>
          <p:cNvPr id="5" name="タイトル 4"/>
          <p:cNvSpPr>
            <a:spLocks noGrp="1"/>
          </p:cNvSpPr>
          <p:nvPr>
            <p:ph type="title"/>
          </p:nvPr>
        </p:nvSpPr>
        <p:spPr/>
        <p:txBody>
          <a:bodyPr/>
          <a:lstStyle>
            <a:lvl1pPr>
              <a:defRPr>
                <a:solidFill>
                  <a:schemeClr val="accent4"/>
                </a:solidFill>
              </a:defRPr>
            </a:lvl1pPr>
          </a:lstStyle>
          <a:p>
            <a:r>
              <a:rPr kumimoji="1" lang="ja-JP" altLang="en-US"/>
              <a:t>マスター タイトルの書式設定</a:t>
            </a:r>
            <a:endParaRPr kumimoji="1" lang="ja-JP" altLang="en-US" dirty="0"/>
          </a:p>
        </p:txBody>
      </p:sp>
      <p:sp>
        <p:nvSpPr>
          <p:cNvPr id="4" name="コンテンツ プレースホルダー 3">
            <a:extLst>
              <a:ext uri="{FF2B5EF4-FFF2-40B4-BE49-F238E27FC236}">
                <a16:creationId xmlns:a16="http://schemas.microsoft.com/office/drawing/2014/main" id="{3B411819-7407-177D-333B-1437DD14AF43}"/>
              </a:ext>
            </a:extLst>
          </p:cNvPr>
          <p:cNvSpPr>
            <a:spLocks noGrp="1"/>
          </p:cNvSpPr>
          <p:nvPr>
            <p:ph sz="quarter" idx="11"/>
          </p:nvPr>
        </p:nvSpPr>
        <p:spPr>
          <a:xfrm>
            <a:off x="611956" y="1088974"/>
            <a:ext cx="8280092" cy="522005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en-US"/>
          </a:p>
        </p:txBody>
      </p:sp>
    </p:spTree>
    <p:extLst>
      <p:ext uri="{BB962C8B-B14F-4D97-AF65-F5344CB8AC3E}">
        <p14:creationId xmlns:p14="http://schemas.microsoft.com/office/powerpoint/2010/main" val="322508807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1_タイトルのみ">
    <p:spTree>
      <p:nvGrpSpPr>
        <p:cNvPr id="1" name=""/>
        <p:cNvGrpSpPr/>
        <p:nvPr/>
      </p:nvGrpSpPr>
      <p:grpSpPr>
        <a:xfrm>
          <a:off x="0" y="0"/>
          <a:ext cx="0" cy="0"/>
          <a:chOff x="0" y="0"/>
          <a:chExt cx="0" cy="0"/>
        </a:xfrm>
      </p:grpSpPr>
      <p:sp>
        <p:nvSpPr>
          <p:cNvPr id="3" name="スライド番号プレースホルダ 2"/>
          <p:cNvSpPr>
            <a:spLocks noGrp="1"/>
          </p:cNvSpPr>
          <p:nvPr>
            <p:ph type="sldNum" sz="quarter" idx="10"/>
          </p:nvPr>
        </p:nvSpPr>
        <p:spPr/>
        <p:txBody>
          <a:bodyPr/>
          <a:lstStyle>
            <a:lvl1pPr>
              <a:defRPr>
                <a:solidFill>
                  <a:srgbClr val="686D6D"/>
                </a:solidFill>
              </a:defRPr>
            </a:lvl1pPr>
          </a:lstStyle>
          <a:p>
            <a:fld id="{D2D8002D-B5B0-4BAC-B1F6-782DDCCE6D9C}" type="slidenum">
              <a:rPr kumimoji="1" lang="ja-JP" altLang="en-US" smtClean="0"/>
              <a:pPr/>
              <a:t>‹#›</a:t>
            </a:fld>
            <a:endParaRPr kumimoji="1" lang="ja-JP" altLang="en-US" dirty="0"/>
          </a:p>
        </p:txBody>
      </p:sp>
      <p:sp>
        <p:nvSpPr>
          <p:cNvPr id="5" name="タイトル 4"/>
          <p:cNvSpPr>
            <a:spLocks noGrp="1"/>
          </p:cNvSpPr>
          <p:nvPr>
            <p:ph type="title"/>
          </p:nvPr>
        </p:nvSpPr>
        <p:spPr/>
        <p:txBody>
          <a:bodyPr/>
          <a:lstStyle>
            <a:lvl1pPr>
              <a:defRPr>
                <a:solidFill>
                  <a:schemeClr val="bg1"/>
                </a:solidFill>
              </a:defRPr>
            </a:lvl1pPr>
          </a:lstStyle>
          <a:p>
            <a:r>
              <a:rPr kumimoji="1" lang="ja-JP" altLang="en-US"/>
              <a:t>マスター タイトルの書式設定</a:t>
            </a:r>
            <a:endParaRPr kumimoji="1" lang="ja-JP" altLang="en-US" dirty="0"/>
          </a:p>
        </p:txBody>
      </p:sp>
    </p:spTree>
    <p:extLst>
      <p:ext uri="{BB962C8B-B14F-4D97-AF65-F5344CB8AC3E}">
        <p14:creationId xmlns:p14="http://schemas.microsoft.com/office/powerpoint/2010/main" val="3663301245"/>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7" name="Rectangle 3"/>
          <p:cNvSpPr>
            <a:spLocks noGrp="1" noChangeArrowheads="1"/>
          </p:cNvSpPr>
          <p:nvPr>
            <p:ph type="body" idx="1"/>
          </p:nvPr>
        </p:nvSpPr>
        <p:spPr bwMode="auto">
          <a:xfrm>
            <a:off x="611956" y="1088974"/>
            <a:ext cx="8280092" cy="522005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2" name="正方形/長方形 1"/>
          <p:cNvSpPr/>
          <p:nvPr/>
        </p:nvSpPr>
        <p:spPr bwMode="auto">
          <a:xfrm>
            <a:off x="0" y="0"/>
            <a:ext cx="9144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350"/>
          </a:p>
        </p:txBody>
      </p:sp>
      <p:sp>
        <p:nvSpPr>
          <p:cNvPr id="22" name="Rectangle 2"/>
          <p:cNvSpPr>
            <a:spLocks noGrp="1" noChangeArrowheads="1"/>
          </p:cNvSpPr>
          <p:nvPr>
            <p:ph type="title"/>
          </p:nvPr>
        </p:nvSpPr>
        <p:spPr bwMode="auto">
          <a:xfrm>
            <a:off x="431955" y="0"/>
            <a:ext cx="8712046"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p>
            <a:pPr lvl="0"/>
            <a:r>
              <a:rPr lang="ja-JP" altLang="en-US"/>
              <a:t>マスタ タイトルの書式設定</a:t>
            </a:r>
          </a:p>
        </p:txBody>
      </p:sp>
      <p:sp>
        <p:nvSpPr>
          <p:cNvPr id="6164" name="Rectangle 20"/>
          <p:cNvSpPr>
            <a:spLocks noGrp="1" noChangeArrowheads="1"/>
          </p:cNvSpPr>
          <p:nvPr>
            <p:ph type="sldNum" sz="quarter" idx="4"/>
          </p:nvPr>
        </p:nvSpPr>
        <p:spPr bwMode="auto">
          <a:xfrm>
            <a:off x="8172041" y="6309033"/>
            <a:ext cx="720008" cy="548968"/>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1500">
                <a:solidFill>
                  <a:schemeClr val="tx1">
                    <a:lumMod val="75000"/>
                    <a:lumOff val="25000"/>
                  </a:schemeClr>
                </a:solidFill>
                <a:latin typeface="+mn-lt"/>
              </a:defRPr>
            </a:lvl1pPr>
          </a:lstStyle>
          <a:p>
            <a:fld id="{D2D8002D-B5B0-4BAC-B1F6-782DDCCE6D9C}" type="slidenum">
              <a:rPr kumimoji="1" lang="ja-JP" altLang="en-US" smtClean="0"/>
              <a:t>‹#›</a:t>
            </a:fld>
            <a:endParaRPr kumimoji="1" lang="ja-JP" altLang="en-US"/>
          </a:p>
        </p:txBody>
      </p:sp>
      <p:sp>
        <p:nvSpPr>
          <p:cNvPr id="6" name="正方形/長方形 5"/>
          <p:cNvSpPr/>
          <p:nvPr/>
        </p:nvSpPr>
        <p:spPr bwMode="auto">
          <a:xfrm>
            <a:off x="0" y="0"/>
            <a:ext cx="9144000" cy="908972"/>
          </a:xfrm>
          <a:prstGeom prst="rect">
            <a:avLst/>
          </a:prstGeom>
          <a:solidFill>
            <a:srgbClr val="505B80"/>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350"/>
          </a:p>
        </p:txBody>
      </p:sp>
      <p:sp>
        <p:nvSpPr>
          <p:cNvPr id="3" name="正方形/長方形 2">
            <a:extLst>
              <a:ext uri="{FF2B5EF4-FFF2-40B4-BE49-F238E27FC236}">
                <a16:creationId xmlns:a16="http://schemas.microsoft.com/office/drawing/2014/main" id="{2AF63CA2-9471-8B7B-FC2C-3C5E975D06B8}"/>
              </a:ext>
            </a:extLst>
          </p:cNvPr>
          <p:cNvSpPr/>
          <p:nvPr userDrawn="1"/>
        </p:nvSpPr>
        <p:spPr bwMode="auto">
          <a:xfrm>
            <a:off x="0" y="0"/>
            <a:ext cx="9144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p>
        </p:txBody>
      </p:sp>
    </p:spTree>
    <p:extLst>
      <p:ext uri="{BB962C8B-B14F-4D97-AF65-F5344CB8AC3E}">
        <p14:creationId xmlns:p14="http://schemas.microsoft.com/office/powerpoint/2010/main" val="2180630630"/>
      </p:ext>
    </p:extLst>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Lst>
  <p:hf hdr="0" ftr="0" dt="0"/>
  <p:txStyles>
    <p:titleStyle>
      <a:lvl1pPr algn="l" rtl="0" eaLnBrk="1" fontAlgn="base" hangingPunct="1">
        <a:spcBef>
          <a:spcPct val="0"/>
        </a:spcBef>
        <a:spcAft>
          <a:spcPct val="0"/>
        </a:spcAft>
        <a:defRPr kumimoji="1" sz="21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5pPr>
      <a:lvl6pPr marL="3429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6pPr>
      <a:lvl7pPr marL="6858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7pPr>
      <a:lvl8pPr marL="10287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8pPr>
      <a:lvl9pPr marL="13716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9pPr>
    </p:titleStyle>
    <p:body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1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en.wikipedia.org/wiki/Relay" TargetMode="External"/><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image" Target="../media/image4.wm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4.wmf"/><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image" Target="../media/image4.wmf"/><Relationship Id="rId1" Type="http://schemas.openxmlformats.org/officeDocument/2006/relationships/slideLayout" Target="../slideLayouts/slideLayout2.xml"/><Relationship Id="rId5" Type="http://schemas.openxmlformats.org/officeDocument/2006/relationships/image" Target="../media/image6.wmf"/><Relationship Id="rId4" Type="http://schemas.openxmlformats.org/officeDocument/2006/relationships/image" Target="../media/image5.wmf"/></Relationships>
</file>

<file path=ppt/slides/_rels/slide34.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image" Target="../media/image4.wmf"/><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pr.fujitsu.com/jp/news/2018/08/21.html" TargetMode="External"/><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hyperlink" Target="https://en.wikipedia.org/wiki/Triode" TargetMode="External"/><Relationship Id="rId2" Type="http://schemas.openxmlformats.org/officeDocument/2006/relationships/image" Target="../media/image8.jpeg"/><Relationship Id="rId1" Type="http://schemas.openxmlformats.org/officeDocument/2006/relationships/slideLayout" Target="../slideLayouts/slideLayout2.xml"/><Relationship Id="rId4" Type="http://schemas.openxmlformats.org/officeDocument/2006/relationships/image" Target="../media/image9.jpe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s://www.minecraft.net/ja-jp" TargetMode="Externa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hyperlink" Target="https://minecraft.fandom.com/wiki/Redstone_circuits/Logic" TargetMode="External"/></Relationships>
</file>

<file path=ppt/slides/_rels/slide46.xml.rels><?xml version="1.0" encoding="UTF-8" standalone="yes"?>
<Relationships xmlns="http://schemas.openxmlformats.org/package/2006/relationships"><Relationship Id="rId3" Type="http://schemas.openxmlformats.org/officeDocument/2006/relationships/hyperlink" Target="https://mcpedl.com/raffis-calculator-2-map/" TargetMode="External"/><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wmf"/><Relationship Id="rId7" Type="http://schemas.openxmlformats.org/officeDocument/2006/relationships/image" Target="../media/image25.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54.xml.rels><?xml version="1.0" encoding="UTF-8" standalone="yes"?>
<Relationships xmlns="http://schemas.openxmlformats.org/package/2006/relationships"><Relationship Id="rId8" Type="http://schemas.openxmlformats.org/officeDocument/2006/relationships/image" Target="../media/image3.wmf"/><Relationship Id="rId3" Type="http://schemas.openxmlformats.org/officeDocument/2006/relationships/image" Target="../media/image21.png"/><Relationship Id="rId7" Type="http://schemas.openxmlformats.org/officeDocument/2006/relationships/image" Target="../media/image20.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90.png"/><Relationship Id="rId5" Type="http://schemas.openxmlformats.org/officeDocument/2006/relationships/image" Target="../media/image180.png"/><Relationship Id="rId4" Type="http://schemas.openxmlformats.org/officeDocument/2006/relationships/image" Target="../media/image17.png"/></Relationships>
</file>

<file path=ppt/slides/_rels/slide55.xml.rels><?xml version="1.0" encoding="UTF-8" standalone="yes"?>
<Relationships xmlns="http://schemas.openxmlformats.org/package/2006/relationships"><Relationship Id="rId8" Type="http://schemas.openxmlformats.org/officeDocument/2006/relationships/image" Target="../media/image3.wmf"/><Relationship Id="rId3" Type="http://schemas.openxmlformats.org/officeDocument/2006/relationships/image" Target="../media/image220.png"/><Relationship Id="rId7"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90.png"/><Relationship Id="rId5" Type="http://schemas.openxmlformats.org/officeDocument/2006/relationships/image" Target="../media/image180.png"/><Relationship Id="rId4" Type="http://schemas.openxmlformats.org/officeDocument/2006/relationships/image" Target="../media/image17.png"/></Relationships>
</file>

<file path=ppt/slides/_rels/slide56.xml.rels><?xml version="1.0" encoding="UTF-8" standalone="yes"?>
<Relationships xmlns="http://schemas.openxmlformats.org/package/2006/relationships"><Relationship Id="rId8" Type="http://schemas.openxmlformats.org/officeDocument/2006/relationships/image" Target="../media/image28.png"/><Relationship Id="rId13" Type="http://schemas.openxmlformats.org/officeDocument/2006/relationships/image" Target="../media/image33.png"/><Relationship Id="rId3" Type="http://schemas.openxmlformats.org/officeDocument/2006/relationships/image" Target="../media/image230.png"/><Relationship Id="rId7" Type="http://schemas.openxmlformats.org/officeDocument/2006/relationships/image" Target="../media/image27.png"/><Relationship Id="rId12" Type="http://schemas.openxmlformats.org/officeDocument/2006/relationships/image" Target="../media/image32.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4.wmf"/><Relationship Id="rId11" Type="http://schemas.openxmlformats.org/officeDocument/2006/relationships/image" Target="../media/image31.png"/><Relationship Id="rId5" Type="http://schemas.openxmlformats.org/officeDocument/2006/relationships/image" Target="../media/image250.png"/><Relationship Id="rId10" Type="http://schemas.openxmlformats.org/officeDocument/2006/relationships/image" Target="../media/image30.png"/><Relationship Id="rId4" Type="http://schemas.openxmlformats.org/officeDocument/2006/relationships/image" Target="../media/image240.png"/><Relationship Id="rId9" Type="http://schemas.openxmlformats.org/officeDocument/2006/relationships/image" Target="../media/image2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3.wmf"/><Relationship Id="rId7"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5.wmf"/><Relationship Id="rId5" Type="http://schemas.openxmlformats.org/officeDocument/2006/relationships/image" Target="../media/image6.wmf"/><Relationship Id="rId4" Type="http://schemas.openxmlformats.org/officeDocument/2006/relationships/image" Target="../media/image4.wmf"/></Relationships>
</file>

<file path=ppt/slides/_rels/slide6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27.wmf"/><Relationship Id="rId2" Type="http://schemas.openxmlformats.org/officeDocument/2006/relationships/image" Target="../media/image4.wmf"/><Relationship Id="rId1" Type="http://schemas.openxmlformats.org/officeDocument/2006/relationships/slideLayout" Target="../slideLayouts/slideLayout2.xml"/><Relationship Id="rId4" Type="http://schemas.openxmlformats.org/officeDocument/2006/relationships/image" Target="../media/image28.wmf"/></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611956" y="3969006"/>
            <a:ext cx="7920088" cy="810153"/>
          </a:xfrm>
        </p:spPr>
        <p:txBody>
          <a:bodyPr>
            <a:noAutofit/>
          </a:bodyPr>
          <a:lstStyle/>
          <a:p>
            <a:pPr>
              <a:lnSpc>
                <a:spcPct val="150000"/>
              </a:lnSpc>
            </a:pPr>
            <a:r>
              <a:rPr lang="ja-JP" altLang="en-US" sz="1800" b="0" dirty="0"/>
              <a:t>塩谷 亮太 </a:t>
            </a:r>
            <a:r>
              <a:rPr lang="en-US" altLang="ja-JP" sz="1800" b="0" dirty="0"/>
              <a:t>(shioya@ci.i.u-tokyo.ac.jp)</a:t>
            </a:r>
            <a:br>
              <a:rPr lang="en-US" altLang="ja-JP" sz="1800" b="0" dirty="0"/>
            </a:br>
            <a:r>
              <a:rPr lang="ja-JP" altLang="en-US" sz="1800" b="0" dirty="0"/>
              <a:t>東京大学大学院情報理工学系研究科 創造情報学専攻</a:t>
            </a:r>
            <a:endParaRPr kumimoji="1" lang="ja-JP" altLang="en-US" sz="3200" b="0" dirty="0"/>
          </a:p>
        </p:txBody>
      </p:sp>
      <p:sp>
        <p:nvSpPr>
          <p:cNvPr id="5" name="スライド番号プレースホルダー 4"/>
          <p:cNvSpPr>
            <a:spLocks noGrp="1"/>
          </p:cNvSpPr>
          <p:nvPr>
            <p:ph type="sldNum" sz="quarter" idx="4294967295"/>
          </p:nvPr>
        </p:nvSpPr>
        <p:spPr>
          <a:xfrm>
            <a:off x="8172450" y="6489700"/>
            <a:ext cx="971550" cy="368300"/>
          </a:xfrm>
        </p:spPr>
        <p:txBody>
          <a:bodyPr/>
          <a:lstStyle/>
          <a:p>
            <a:fld id="{D2D8002D-B5B0-4BAC-B1F6-782DDCCE6D9C}" type="slidenum">
              <a:rPr kumimoji="1" lang="ja-JP" altLang="en-US" smtClean="0"/>
              <a:t>1</a:t>
            </a:fld>
            <a:endParaRPr kumimoji="1" lang="ja-JP" altLang="en-US"/>
          </a:p>
        </p:txBody>
      </p:sp>
      <p:sp>
        <p:nvSpPr>
          <p:cNvPr id="3" name="タイトル 1">
            <a:extLst>
              <a:ext uri="{FF2B5EF4-FFF2-40B4-BE49-F238E27FC236}">
                <a16:creationId xmlns:a16="http://schemas.microsoft.com/office/drawing/2014/main" id="{713FB59C-3249-0053-1C3A-F956B535D7B4}"/>
              </a:ext>
            </a:extLst>
          </p:cNvPr>
          <p:cNvSpPr txBox="1">
            <a:spLocks/>
          </p:cNvSpPr>
          <p:nvPr/>
        </p:nvSpPr>
        <p:spPr bwMode="auto">
          <a:xfrm>
            <a:off x="791958" y="2528990"/>
            <a:ext cx="7772400" cy="540006"/>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noAutofit/>
          </a:bodyPr>
          <a:lstStyle>
            <a:lvl1pPr algn="ctr" rtl="0" eaLnBrk="1" fontAlgn="base" hangingPunct="1">
              <a:spcBef>
                <a:spcPct val="0"/>
              </a:spcBef>
              <a:spcAft>
                <a:spcPct val="0"/>
              </a:spcAft>
              <a:defRPr kumimoji="1" sz="24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5pPr>
            <a:lvl6pPr marL="3429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6pPr>
            <a:lvl7pPr marL="6858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7pPr>
            <a:lvl8pPr marL="10287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8pPr>
            <a:lvl9pPr marL="13716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9pPr>
          </a:lstStyle>
          <a:p>
            <a:r>
              <a:rPr lang="ja-JP" altLang="en-US" sz="3200" kern="0" dirty="0"/>
              <a:t>コンピュータ アーキテクチャ</a:t>
            </a:r>
            <a:r>
              <a:rPr lang="en-US" altLang="ja-JP" sz="3200" kern="0" dirty="0"/>
              <a:t>Ⅰ</a:t>
            </a:r>
            <a:r>
              <a:rPr lang="ja-JP" altLang="en-US" sz="3200" kern="0" dirty="0"/>
              <a:t>  第４回</a:t>
            </a:r>
            <a:endParaRPr lang="ja-JP" altLang="en-US" sz="3200" b="0" kern="0" dirty="0"/>
          </a:p>
        </p:txBody>
      </p:sp>
    </p:spTree>
    <p:extLst>
      <p:ext uri="{BB962C8B-B14F-4D97-AF65-F5344CB8AC3E}">
        <p14:creationId xmlns:p14="http://schemas.microsoft.com/office/powerpoint/2010/main" val="23395712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0E3FB7BF-E660-03B2-C35D-8B370DB5427C}"/>
              </a:ext>
            </a:extLst>
          </p:cNvPr>
          <p:cNvSpPr>
            <a:spLocks noGrp="1"/>
          </p:cNvSpPr>
          <p:nvPr>
            <p:ph type="title"/>
          </p:nvPr>
        </p:nvSpPr>
        <p:spPr/>
        <p:txBody>
          <a:bodyPr/>
          <a:lstStyle/>
          <a:p>
            <a:r>
              <a:rPr lang="ja-JP" altLang="en-US" b="1" dirty="0"/>
              <a:t>課題３の解説</a:t>
            </a:r>
            <a:endParaRPr lang="en-US" b="1" dirty="0"/>
          </a:p>
        </p:txBody>
      </p:sp>
    </p:spTree>
    <p:extLst>
      <p:ext uri="{BB962C8B-B14F-4D97-AF65-F5344CB8AC3E}">
        <p14:creationId xmlns:p14="http://schemas.microsoft.com/office/powerpoint/2010/main" val="30540481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課題３</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p:txBody>
          <a:bodyPr/>
          <a:lstStyle/>
          <a:p>
            <a:r>
              <a:rPr lang="ja-JP" altLang="en-US" dirty="0"/>
              <a:t>以下では </a:t>
            </a:r>
            <a:r>
              <a:rPr lang="en-US" altLang="ja-JP" dirty="0"/>
              <a:t>2</a:t>
            </a:r>
            <a:r>
              <a:rPr lang="ja-JP" altLang="en-US" dirty="0"/>
              <a:t>進数は </a:t>
            </a:r>
            <a:r>
              <a:rPr lang="en-US" altLang="ja-JP" dirty="0"/>
              <a:t>0b... 16</a:t>
            </a:r>
            <a:r>
              <a:rPr lang="ja-JP" altLang="en-US" dirty="0"/>
              <a:t>進数は </a:t>
            </a:r>
            <a:r>
              <a:rPr lang="en-US" altLang="ja-JP" dirty="0"/>
              <a:t>0x... </a:t>
            </a:r>
            <a:r>
              <a:rPr lang="ja-JP" altLang="en-US" dirty="0"/>
              <a:t>と表記するものとする</a:t>
            </a:r>
            <a:endParaRPr lang="en-US" altLang="ja-JP" dirty="0"/>
          </a:p>
          <a:p>
            <a:r>
              <a:rPr lang="ja-JP" altLang="en-US" dirty="0"/>
              <a:t>以下の１６進数を２進数で表記せよ</a:t>
            </a:r>
            <a:endParaRPr lang="en-US" altLang="ja-JP" dirty="0"/>
          </a:p>
          <a:p>
            <a:pPr lvl="1"/>
            <a:r>
              <a:rPr lang="en-US" altLang="ja-JP" dirty="0"/>
              <a:t>(1) 0x1011 </a:t>
            </a:r>
          </a:p>
          <a:p>
            <a:pPr lvl="2"/>
            <a:r>
              <a:rPr lang="en-US" altLang="ja-JP" dirty="0"/>
              <a:t>0b0001 0000 0001 0001</a:t>
            </a:r>
          </a:p>
          <a:p>
            <a:pPr lvl="1"/>
            <a:r>
              <a:rPr lang="en-US" altLang="ja-JP" dirty="0"/>
              <a:t>(2) 0x1234abcd </a:t>
            </a:r>
          </a:p>
          <a:p>
            <a:pPr lvl="2"/>
            <a:r>
              <a:rPr lang="en-US" altLang="ja-JP" dirty="0"/>
              <a:t>0b 0000 0010 0011 0100  1010 1011 1100 1101</a:t>
            </a:r>
          </a:p>
          <a:p>
            <a:pPr lvl="1"/>
            <a:endParaRPr lang="en-US" altLang="ja-JP" dirty="0"/>
          </a:p>
          <a:p>
            <a:pPr lvl="1"/>
            <a:r>
              <a:rPr lang="ja-JP" altLang="en-US" dirty="0"/>
              <a:t>２進数を４桁に区切って変換していくと良い</a:t>
            </a:r>
            <a:endParaRPr lang="en-US" altLang="ja-JP" dirty="0"/>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3</a:t>
            </a:fld>
            <a:endParaRPr kumimoji="1" lang="ja-JP" altLang="en-US" dirty="0"/>
          </a:p>
        </p:txBody>
      </p:sp>
    </p:spTree>
    <p:extLst>
      <p:ext uri="{BB962C8B-B14F-4D97-AF65-F5344CB8AC3E}">
        <p14:creationId xmlns:p14="http://schemas.microsoft.com/office/powerpoint/2010/main" val="76036829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課題３</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p:txBody>
          <a:bodyPr/>
          <a:lstStyle/>
          <a:p>
            <a:r>
              <a:rPr lang="ja-JP" altLang="en-US" dirty="0"/>
              <a:t>以下の２進数を１６進数で表記せよ</a:t>
            </a:r>
            <a:endParaRPr lang="en-US" altLang="ja-JP" dirty="0"/>
          </a:p>
          <a:p>
            <a:pPr lvl="1"/>
            <a:r>
              <a:rPr lang="en-US" altLang="ja-JP" dirty="0"/>
              <a:t>(3) 0b10 1011</a:t>
            </a:r>
          </a:p>
          <a:p>
            <a:pPr lvl="2"/>
            <a:r>
              <a:rPr lang="en-US" altLang="ja-JP" dirty="0"/>
              <a:t>0x2b</a:t>
            </a:r>
          </a:p>
          <a:p>
            <a:pPr lvl="1"/>
            <a:r>
              <a:rPr lang="en-US" altLang="ja-JP" dirty="0"/>
              <a:t>(4) 0b1111 0000 1111 </a:t>
            </a:r>
          </a:p>
          <a:p>
            <a:pPr lvl="2"/>
            <a:r>
              <a:rPr lang="en-US" altLang="ja-JP" dirty="0"/>
              <a:t>0xf0f</a:t>
            </a:r>
          </a:p>
          <a:p>
            <a:r>
              <a:rPr lang="ja-JP" altLang="en-US" dirty="0"/>
              <a:t>以下の演算を行え</a:t>
            </a:r>
            <a:endParaRPr lang="en-US" altLang="ja-JP" dirty="0"/>
          </a:p>
          <a:p>
            <a:pPr lvl="1"/>
            <a:r>
              <a:rPr lang="en-US" altLang="ja-JP" dirty="0"/>
              <a:t>(5) 0b11011010 / 0b10 (</a:t>
            </a:r>
            <a:r>
              <a:rPr lang="ja-JP" altLang="en-US" dirty="0"/>
              <a:t>「</a:t>
            </a:r>
            <a:r>
              <a:rPr lang="en-US" altLang="ja-JP" dirty="0"/>
              <a:t>/</a:t>
            </a:r>
            <a:r>
              <a:rPr lang="ja-JP" altLang="en-US" dirty="0"/>
              <a:t>」</a:t>
            </a:r>
            <a:r>
              <a:rPr lang="en-US" altLang="ja-JP" dirty="0"/>
              <a:t> </a:t>
            </a:r>
            <a:r>
              <a:rPr lang="ja-JP" altLang="en-US" dirty="0"/>
              <a:t>は割り算</a:t>
            </a:r>
            <a:r>
              <a:rPr lang="en-US" altLang="ja-JP" dirty="0"/>
              <a:t>)</a:t>
            </a:r>
          </a:p>
          <a:p>
            <a:pPr lvl="2"/>
            <a:r>
              <a:rPr lang="en-US" altLang="ja-JP" dirty="0"/>
              <a:t>0b110 1101</a:t>
            </a:r>
          </a:p>
          <a:p>
            <a:pPr lvl="2"/>
            <a:r>
              <a:rPr lang="en-US" altLang="ja-JP" dirty="0"/>
              <a:t>10</a:t>
            </a:r>
            <a:r>
              <a:rPr lang="ja-JP" altLang="en-US" dirty="0"/>
              <a:t>進に変換して普通に割り算して戻す等してもよいが，</a:t>
            </a:r>
            <a:br>
              <a:rPr lang="en-US" altLang="ja-JP" dirty="0"/>
            </a:br>
            <a:r>
              <a:rPr lang="en-US" altLang="ja-JP" dirty="0"/>
              <a:t>0b10 </a:t>
            </a:r>
            <a:r>
              <a:rPr lang="ja-JP" altLang="en-US" dirty="0"/>
              <a:t>は </a:t>
            </a:r>
            <a:r>
              <a:rPr lang="en-US" altLang="ja-JP" dirty="0"/>
              <a:t>2 </a:t>
            </a:r>
            <a:r>
              <a:rPr lang="ja-JP" altLang="en-US" dirty="0"/>
              <a:t>なので，</a:t>
            </a:r>
            <a:r>
              <a:rPr lang="en-US" altLang="ja-JP" dirty="0"/>
              <a:t>/ 2 </a:t>
            </a:r>
            <a:r>
              <a:rPr lang="ja-JP" altLang="en-US" dirty="0"/>
              <a:t>は２進数だと右に一桁ずらす事に相当</a:t>
            </a:r>
            <a:endParaRPr lang="en-US" altLang="ja-JP" dirty="0"/>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4</a:t>
            </a:fld>
            <a:endParaRPr kumimoji="1" lang="ja-JP" altLang="en-US" dirty="0"/>
          </a:p>
        </p:txBody>
      </p:sp>
    </p:spTree>
    <p:extLst>
      <p:ext uri="{BB962C8B-B14F-4D97-AF65-F5344CB8AC3E}">
        <p14:creationId xmlns:p14="http://schemas.microsoft.com/office/powerpoint/2010/main" val="320810664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lang="ja-JP" altLang="en-US" b="1" dirty="0"/>
              <a:t>前回の振り返り</a:t>
            </a:r>
          </a:p>
        </p:txBody>
      </p:sp>
    </p:spTree>
    <p:extLst>
      <p:ext uri="{BB962C8B-B14F-4D97-AF65-F5344CB8AC3E}">
        <p14:creationId xmlns:p14="http://schemas.microsoft.com/office/powerpoint/2010/main" val="23179339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051252AD-97FF-3A87-D267-75A261019A98}"/>
              </a:ext>
            </a:extLst>
          </p:cNvPr>
          <p:cNvSpPr>
            <a:spLocks noGrp="1"/>
          </p:cNvSpPr>
          <p:nvPr>
            <p:ph type="title"/>
          </p:nvPr>
        </p:nvSpPr>
        <p:spPr/>
        <p:txBody>
          <a:bodyPr/>
          <a:lstStyle/>
          <a:p>
            <a:r>
              <a:rPr kumimoji="1" lang="ja-JP" altLang="en-US" dirty="0"/>
              <a:t>２進数や１６進数による数値表現</a:t>
            </a:r>
            <a:endParaRPr lang="en-US" dirty="0"/>
          </a:p>
        </p:txBody>
      </p:sp>
      <p:sp>
        <p:nvSpPr>
          <p:cNvPr id="5" name="コンテンツ プレースホルダー 4">
            <a:extLst>
              <a:ext uri="{FF2B5EF4-FFF2-40B4-BE49-F238E27FC236}">
                <a16:creationId xmlns:a16="http://schemas.microsoft.com/office/drawing/2014/main" id="{FE3FC9F6-6123-3A84-AAC5-87399D386C97}"/>
              </a:ext>
            </a:extLst>
          </p:cNvPr>
          <p:cNvSpPr>
            <a:spLocks noGrp="1"/>
          </p:cNvSpPr>
          <p:nvPr>
            <p:ph sz="quarter" idx="10"/>
          </p:nvPr>
        </p:nvSpPr>
        <p:spPr/>
        <p:txBody>
          <a:bodyPr/>
          <a:lstStyle/>
          <a:p>
            <a:r>
              <a:rPr kumimoji="1" lang="ja-JP" altLang="en-US" sz="2000" dirty="0"/>
              <a:t>現代のコンピュータは基本的に２進数ベースで出来ている</a:t>
            </a:r>
            <a:endParaRPr kumimoji="1" lang="en-US" altLang="ja-JP" sz="2000" dirty="0"/>
          </a:p>
          <a:p>
            <a:pPr lvl="1"/>
            <a:r>
              <a:rPr kumimoji="1" lang="ja-JP" altLang="en-US" dirty="0"/>
              <a:t>電圧が「高い</a:t>
            </a:r>
            <a:r>
              <a:rPr kumimoji="1" lang="en-US" altLang="ja-JP" dirty="0"/>
              <a:t>=1</a:t>
            </a:r>
            <a:r>
              <a:rPr kumimoji="1" lang="ja-JP" altLang="en-US" dirty="0"/>
              <a:t>」</a:t>
            </a:r>
            <a:r>
              <a:rPr kumimoji="1" lang="en-US" altLang="ja-JP" dirty="0"/>
              <a:t>or</a:t>
            </a:r>
            <a:r>
              <a:rPr kumimoji="1" lang="ja-JP" altLang="en-US" dirty="0"/>
              <a:t>「低い</a:t>
            </a:r>
            <a:r>
              <a:rPr kumimoji="1" lang="en-US" altLang="ja-JP" dirty="0"/>
              <a:t>=0</a:t>
            </a:r>
            <a:r>
              <a:rPr kumimoji="1" lang="ja-JP" altLang="en-US" dirty="0"/>
              <a:t>」のような形で表現</a:t>
            </a:r>
            <a:endParaRPr kumimoji="1" lang="en-US" altLang="ja-JP" dirty="0"/>
          </a:p>
          <a:p>
            <a:pPr lvl="1"/>
            <a:r>
              <a:rPr kumimoji="1" lang="ja-JP" altLang="en-US" sz="2000" dirty="0"/>
              <a:t>２進数だと</a:t>
            </a:r>
            <a:r>
              <a:rPr kumimoji="1" lang="ja-JP" altLang="en-US" dirty="0"/>
              <a:t>回路を作るのが簡単</a:t>
            </a:r>
            <a:endParaRPr kumimoji="1" lang="en-US" altLang="ja-JP" dirty="0"/>
          </a:p>
          <a:p>
            <a:pPr lvl="2"/>
            <a:r>
              <a:rPr kumimoji="1" lang="ja-JP" altLang="en-US" dirty="0"/>
              <a:t>中間の電圧とかを扱うのは大変</a:t>
            </a:r>
            <a:endParaRPr kumimoji="1" lang="en-US" altLang="ja-JP" dirty="0"/>
          </a:p>
          <a:p>
            <a:r>
              <a:rPr kumimoji="1" lang="ja-JP" altLang="en-US" dirty="0"/>
              <a:t>２進の利点と欠点</a:t>
            </a:r>
            <a:endParaRPr kumimoji="1" lang="en-US" altLang="ja-JP" dirty="0"/>
          </a:p>
          <a:p>
            <a:pPr lvl="1"/>
            <a:r>
              <a:rPr kumimoji="1" lang="ja-JP" altLang="en-US" dirty="0"/>
              <a:t>利点：各桁に意味を持たす事が多いので色々と考えやすい</a:t>
            </a:r>
            <a:endParaRPr kumimoji="1" lang="en-US" altLang="ja-JP" dirty="0"/>
          </a:p>
          <a:p>
            <a:pPr lvl="1"/>
            <a:r>
              <a:rPr kumimoji="1" lang="ja-JP" altLang="en-US" dirty="0"/>
              <a:t>欠点：桁数が大きく人間に把握が難しい</a:t>
            </a:r>
            <a:endParaRPr kumimoji="1" lang="en-US" altLang="ja-JP" dirty="0"/>
          </a:p>
          <a:p>
            <a:r>
              <a:rPr kumimoji="1" lang="ja-JP" altLang="en-US" dirty="0"/>
              <a:t>１６進の利点</a:t>
            </a:r>
            <a:endParaRPr kumimoji="1" lang="en-US" altLang="ja-JP" dirty="0"/>
          </a:p>
          <a:p>
            <a:pPr lvl="1"/>
            <a:r>
              <a:rPr kumimoji="1" lang="ja-JP" altLang="en-US" dirty="0"/>
              <a:t>利点：２進数とは相互変換が容易</a:t>
            </a:r>
            <a:endParaRPr kumimoji="1" lang="en-US" altLang="ja-JP" dirty="0"/>
          </a:p>
          <a:p>
            <a:pPr lvl="1"/>
            <a:r>
              <a:rPr kumimoji="1" lang="ja-JP" altLang="en-US" dirty="0"/>
              <a:t>欠点：慣れていないとやや把握が難しい</a:t>
            </a:r>
            <a:endParaRPr lang="en-US" dirty="0"/>
          </a:p>
        </p:txBody>
      </p:sp>
      <p:sp>
        <p:nvSpPr>
          <p:cNvPr id="2" name="スライド番号プレースホルダー 1">
            <a:extLst>
              <a:ext uri="{FF2B5EF4-FFF2-40B4-BE49-F238E27FC236}">
                <a16:creationId xmlns:a16="http://schemas.microsoft.com/office/drawing/2014/main" id="{CD342348-FBC7-AD6E-9963-D79BBA6CD8EB}"/>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6</a:t>
            </a:fld>
            <a:endParaRPr kumimoji="1" lang="ja-JP" altLang="en-US"/>
          </a:p>
        </p:txBody>
      </p:sp>
    </p:spTree>
    <p:extLst>
      <p:ext uri="{BB962C8B-B14F-4D97-AF65-F5344CB8AC3E}">
        <p14:creationId xmlns:p14="http://schemas.microsoft.com/office/powerpoint/2010/main" val="276004332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実際の命令セットの例</a:t>
            </a:r>
            <a:endParaRPr kumimoji="1" lang="ja-JP" altLang="en-US" dirty="0"/>
          </a:p>
        </p:txBody>
      </p:sp>
      <p:sp>
        <p:nvSpPr>
          <p:cNvPr id="3" name="テキスト プレースホルダー 2"/>
          <p:cNvSpPr>
            <a:spLocks noGrp="1"/>
          </p:cNvSpPr>
          <p:nvPr>
            <p:ph sz="quarter" idx="10"/>
          </p:nvPr>
        </p:nvSpPr>
        <p:spPr>
          <a:xfrm>
            <a:off x="611956" y="1088974"/>
            <a:ext cx="8280092" cy="3150035"/>
          </a:xfrm>
        </p:spPr>
        <p:txBody>
          <a:bodyPr/>
          <a:lstStyle/>
          <a:p>
            <a:r>
              <a:rPr lang="en-US" altLang="ja-JP" dirty="0"/>
              <a:t>RISC-V </a:t>
            </a:r>
            <a:r>
              <a:rPr lang="ja-JP" altLang="en-US" dirty="0"/>
              <a:t>を例として説明</a:t>
            </a:r>
            <a:endParaRPr lang="en-US" altLang="ja-JP" dirty="0"/>
          </a:p>
          <a:p>
            <a:pPr lvl="1"/>
            <a:r>
              <a:rPr kumimoji="1" lang="ja-JP" altLang="en-US" dirty="0"/>
              <a:t>加減算，論理演算，ロード・ストア，即値，分岐とジャンプなど</a:t>
            </a:r>
            <a:endParaRPr kumimoji="1" lang="en-US" altLang="ja-JP" dirty="0"/>
          </a:p>
          <a:p>
            <a:pPr lvl="1"/>
            <a:r>
              <a:rPr kumimoji="1" lang="ja-JP" altLang="en-US" dirty="0"/>
              <a:t>各命令は基本的に </a:t>
            </a:r>
            <a:r>
              <a:rPr kumimoji="1" lang="en-US" altLang="ja-JP" dirty="0"/>
              <a:t>32bit </a:t>
            </a:r>
            <a:r>
              <a:rPr kumimoji="1" lang="ja-JP" altLang="en-US" dirty="0"/>
              <a:t>幅</a:t>
            </a:r>
            <a:endParaRPr kumimoji="1" lang="en-US" altLang="ja-JP" dirty="0"/>
          </a:p>
          <a:p>
            <a:r>
              <a:rPr lang="ja-JP" altLang="en-US" dirty="0"/>
              <a:t>１回目の講義で４桁の数字で表していたことと同じことを</a:t>
            </a:r>
            <a:br>
              <a:rPr lang="en-US" altLang="ja-JP" dirty="0"/>
            </a:br>
            <a:r>
              <a:rPr lang="en-US" altLang="ja-JP" dirty="0"/>
              <a:t>32bit </a:t>
            </a:r>
            <a:r>
              <a:rPr lang="ja-JP" altLang="en-US" dirty="0"/>
              <a:t>の中を細かく区切ってやっている</a:t>
            </a:r>
            <a:endParaRPr lang="en-US" altLang="ja-JP" dirty="0"/>
          </a:p>
          <a:p>
            <a:endParaRPr lang="en-US" altLang="ja-JP" dirty="0"/>
          </a:p>
        </p:txBody>
      </p:sp>
      <p:pic>
        <p:nvPicPr>
          <p:cNvPr id="4" name="図 3">
            <a:extLst>
              <a:ext uri="{FF2B5EF4-FFF2-40B4-BE49-F238E27FC236}">
                <a16:creationId xmlns:a16="http://schemas.microsoft.com/office/drawing/2014/main" id="{4990E592-58D4-E7F9-A4CB-52787B83DE14}"/>
              </a:ext>
            </a:extLst>
          </p:cNvPr>
          <p:cNvPicPr>
            <a:picLocks noChangeAspect="1"/>
          </p:cNvPicPr>
          <p:nvPr/>
        </p:nvPicPr>
        <p:blipFill>
          <a:blip r:embed="rId2"/>
          <a:stretch>
            <a:fillRect/>
          </a:stretch>
        </p:blipFill>
        <p:spPr>
          <a:xfrm>
            <a:off x="701957" y="3969006"/>
            <a:ext cx="7722035" cy="2020980"/>
          </a:xfrm>
          <a:prstGeom prst="rect">
            <a:avLst/>
          </a:prstGeom>
        </p:spPr>
      </p:pic>
      <p:sp>
        <p:nvSpPr>
          <p:cNvPr id="5" name="テキスト プレースホルダー 2">
            <a:extLst>
              <a:ext uri="{FF2B5EF4-FFF2-40B4-BE49-F238E27FC236}">
                <a16:creationId xmlns:a16="http://schemas.microsoft.com/office/drawing/2014/main" id="{88C95690-FB53-B2CE-A1AD-4EC6D0506118}"/>
              </a:ext>
            </a:extLst>
          </p:cNvPr>
          <p:cNvSpPr txBox="1">
            <a:spLocks/>
          </p:cNvSpPr>
          <p:nvPr/>
        </p:nvSpPr>
        <p:spPr bwMode="auto">
          <a:xfrm>
            <a:off x="251952" y="6317994"/>
            <a:ext cx="8280092" cy="540006"/>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None/>
            </a:pPr>
            <a:r>
              <a:rPr lang="ja-JP" altLang="en-US" sz="1000" kern="0" dirty="0"/>
              <a:t>画像は下記より</a:t>
            </a:r>
            <a:br>
              <a:rPr lang="en-US" altLang="ja-JP" sz="1000" kern="0" dirty="0"/>
            </a:br>
            <a:r>
              <a:rPr lang="en-US" altLang="ja-JP" sz="1000" dirty="0"/>
              <a:t>The RISC-V Instruction Set Manual Volume I: User-Level ISA Document Version 2.2 </a:t>
            </a:r>
            <a:endParaRPr lang="ja-JP" altLang="en-US" sz="1000" kern="0" dirty="0"/>
          </a:p>
        </p:txBody>
      </p:sp>
    </p:spTree>
    <p:extLst>
      <p:ext uri="{BB962C8B-B14F-4D97-AF65-F5344CB8AC3E}">
        <p14:creationId xmlns:p14="http://schemas.microsoft.com/office/powerpoint/2010/main" val="2566399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RISC-V (32bit) </a:t>
            </a:r>
            <a:r>
              <a:rPr kumimoji="1" lang="ja-JP" altLang="en-US" dirty="0"/>
              <a:t>のイメージ</a:t>
            </a:r>
          </a:p>
        </p:txBody>
      </p:sp>
      <p:sp>
        <p:nvSpPr>
          <p:cNvPr id="13" name="正方形/長方形 12">
            <a:extLst>
              <a:ext uri="{FF2B5EF4-FFF2-40B4-BE49-F238E27FC236}">
                <a16:creationId xmlns:a16="http://schemas.microsoft.com/office/drawing/2014/main" id="{A6C096BD-7EC1-7FDF-11CE-19F99B89F44B}"/>
              </a:ext>
            </a:extLst>
          </p:cNvPr>
          <p:cNvSpPr/>
          <p:nvPr/>
        </p:nvSpPr>
        <p:spPr bwMode="auto">
          <a:xfrm>
            <a:off x="611956" y="1268976"/>
            <a:ext cx="5040056" cy="5400060"/>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77BEF000-D73B-DAC5-5309-0151A8AE215C}"/>
              </a:ext>
            </a:extLst>
          </p:cNvPr>
          <p:cNvSpPr/>
          <p:nvPr/>
        </p:nvSpPr>
        <p:spPr bwMode="auto">
          <a:xfrm>
            <a:off x="7092028" y="1268976"/>
            <a:ext cx="1440016" cy="3690041"/>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C7EEC86E-7E6B-4504-F546-02992B99264D}"/>
              </a:ext>
            </a:extLst>
          </p:cNvPr>
          <p:cNvSpPr/>
          <p:nvPr/>
        </p:nvSpPr>
        <p:spPr bwMode="auto">
          <a:xfrm>
            <a:off x="7092028" y="908972"/>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rPr>
              <a:t>メモリ</a:t>
            </a:r>
          </a:p>
        </p:txBody>
      </p:sp>
      <p:sp>
        <p:nvSpPr>
          <p:cNvPr id="19" name="正方形/長方形 18">
            <a:extLst>
              <a:ext uri="{FF2B5EF4-FFF2-40B4-BE49-F238E27FC236}">
                <a16:creationId xmlns:a16="http://schemas.microsoft.com/office/drawing/2014/main" id="{6B8DA7C6-AEB1-6F72-9B90-4ADCEAAEAB36}"/>
              </a:ext>
            </a:extLst>
          </p:cNvPr>
          <p:cNvSpPr/>
          <p:nvPr/>
        </p:nvSpPr>
        <p:spPr bwMode="auto">
          <a:xfrm>
            <a:off x="7092028" y="1628981"/>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lumMod val="75000"/>
                    <a:lumOff val="25000"/>
                  </a:schemeClr>
                </a:solidFill>
                <a:latin typeface="Consolas" panose="020B0609020204030204" pitchFamily="49" charset="0"/>
                <a:ea typeface="メイリオ" panose="020B0604030504040204" pitchFamily="50" charset="-128"/>
              </a:rPr>
              <a:t>0x00000517</a:t>
            </a:r>
            <a:endParaRPr kumimoji="1" lang="ja-JP" altLang="en-US"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20" name="正方形/長方形 19">
            <a:extLst>
              <a:ext uri="{FF2B5EF4-FFF2-40B4-BE49-F238E27FC236}">
                <a16:creationId xmlns:a16="http://schemas.microsoft.com/office/drawing/2014/main" id="{EB552A23-5E9F-FB5B-7FB2-6808239A04DF}"/>
              </a:ext>
            </a:extLst>
          </p:cNvPr>
          <p:cNvSpPr/>
          <p:nvPr/>
        </p:nvSpPr>
        <p:spPr bwMode="auto">
          <a:xfrm>
            <a:off x="7092028" y="1988985"/>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lumMod val="75000"/>
                    <a:lumOff val="25000"/>
                  </a:schemeClr>
                </a:solidFill>
                <a:latin typeface="Consolas" panose="020B0609020204030204" pitchFamily="49" charset="0"/>
                <a:ea typeface="メイリオ" panose="020B0604030504040204" pitchFamily="50" charset="-128"/>
              </a:rPr>
              <a:t>0x09850513</a:t>
            </a:r>
            <a:endParaRPr kumimoji="1" lang="ja-JP" altLang="en-US"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21" name="正方形/長方形 20">
            <a:extLst>
              <a:ext uri="{FF2B5EF4-FFF2-40B4-BE49-F238E27FC236}">
                <a16:creationId xmlns:a16="http://schemas.microsoft.com/office/drawing/2014/main" id="{23ED9458-99D9-BD4C-DE7B-29A4F18EAA2B}"/>
              </a:ext>
            </a:extLst>
          </p:cNvPr>
          <p:cNvSpPr/>
          <p:nvPr/>
        </p:nvSpPr>
        <p:spPr bwMode="auto">
          <a:xfrm>
            <a:off x="7092028" y="2348989"/>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lumMod val="75000"/>
                    <a:lumOff val="25000"/>
                  </a:schemeClr>
                </a:solidFill>
                <a:latin typeface="メイリオ" panose="020B0604030504040204" pitchFamily="50" charset="-128"/>
                <a:ea typeface="メイリオ" panose="020B0604030504040204" pitchFamily="50" charset="-128"/>
              </a:rPr>
              <a:t>…</a:t>
            </a: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BB3954DB-EEF4-8036-1A0D-DE8B9E41C743}"/>
              </a:ext>
            </a:extLst>
          </p:cNvPr>
          <p:cNvSpPr/>
          <p:nvPr/>
        </p:nvSpPr>
        <p:spPr bwMode="auto">
          <a:xfrm>
            <a:off x="7092028" y="2708993"/>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lumMod val="75000"/>
                    <a:lumOff val="25000"/>
                  </a:schemeClr>
                </a:solidFill>
                <a:latin typeface="メイリオ" panose="020B0604030504040204" pitchFamily="50" charset="-128"/>
                <a:ea typeface="メイリオ" panose="020B0604030504040204" pitchFamily="50" charset="-128"/>
              </a:rPr>
              <a:t>…</a:t>
            </a: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5" name="正方形/長方形 34">
            <a:extLst>
              <a:ext uri="{FF2B5EF4-FFF2-40B4-BE49-F238E27FC236}">
                <a16:creationId xmlns:a16="http://schemas.microsoft.com/office/drawing/2014/main" id="{537C8C46-BD30-F0DE-07EB-3A0B593CBFE2}"/>
              </a:ext>
            </a:extLst>
          </p:cNvPr>
          <p:cNvSpPr/>
          <p:nvPr/>
        </p:nvSpPr>
        <p:spPr bwMode="auto">
          <a:xfrm>
            <a:off x="2681979" y="908972"/>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lumMod val="75000"/>
                    <a:lumOff val="25000"/>
                  </a:schemeClr>
                </a:solidFill>
                <a:latin typeface="メイリオ" panose="020B0604030504040204" pitchFamily="50" charset="-128"/>
                <a:ea typeface="メイリオ" panose="020B0604030504040204" pitchFamily="50" charset="-128"/>
              </a:rPr>
              <a:t>RISC-V CPU</a:t>
            </a:r>
          </a:p>
          <a:p>
            <a:pPr algn="ct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2AA9A53E-04E8-0E95-5254-A23E44B0D132}"/>
              </a:ext>
            </a:extLst>
          </p:cNvPr>
          <p:cNvSpPr/>
          <p:nvPr/>
        </p:nvSpPr>
        <p:spPr bwMode="auto">
          <a:xfrm>
            <a:off x="6732024" y="1628981"/>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r"/>
            <a:r>
              <a:rPr kumimoji="1" lang="en-US" altLang="ja-JP" dirty="0">
                <a:solidFill>
                  <a:schemeClr val="tx1">
                    <a:lumMod val="75000"/>
                    <a:lumOff val="25000"/>
                  </a:schemeClr>
                </a:solidFill>
                <a:latin typeface="Consolas" panose="020B0609020204030204" pitchFamily="49" charset="0"/>
                <a:ea typeface="メイリオ" panose="020B0604030504040204" pitchFamily="50" charset="-128"/>
              </a:rPr>
              <a:t>0x1010:</a:t>
            </a:r>
            <a:endParaRPr kumimoji="1" lang="ja-JP" altLang="en-US"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37" name="正方形/長方形 36">
            <a:extLst>
              <a:ext uri="{FF2B5EF4-FFF2-40B4-BE49-F238E27FC236}">
                <a16:creationId xmlns:a16="http://schemas.microsoft.com/office/drawing/2014/main" id="{97C757AC-FCC2-6945-3020-D7DFCF9A715E}"/>
              </a:ext>
            </a:extLst>
          </p:cNvPr>
          <p:cNvSpPr/>
          <p:nvPr/>
        </p:nvSpPr>
        <p:spPr bwMode="auto">
          <a:xfrm>
            <a:off x="6732024" y="1988985"/>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r"/>
            <a:r>
              <a:rPr lang="en-US" altLang="ja-JP" dirty="0">
                <a:solidFill>
                  <a:schemeClr val="tx1">
                    <a:lumMod val="75000"/>
                    <a:lumOff val="25000"/>
                  </a:schemeClr>
                </a:solidFill>
                <a:latin typeface="Consolas" panose="020B0609020204030204" pitchFamily="49" charset="0"/>
                <a:ea typeface="メイリオ" panose="020B0604030504040204" pitchFamily="50" charset="-128"/>
              </a:rPr>
              <a:t>0x1014:</a:t>
            </a:r>
            <a:endParaRPr kumimoji="1" lang="ja-JP" altLang="en-US"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38" name="正方形/長方形 37">
            <a:extLst>
              <a:ext uri="{FF2B5EF4-FFF2-40B4-BE49-F238E27FC236}">
                <a16:creationId xmlns:a16="http://schemas.microsoft.com/office/drawing/2014/main" id="{D34CEC2A-3629-1010-D41D-1739D54AA3B4}"/>
              </a:ext>
            </a:extLst>
          </p:cNvPr>
          <p:cNvSpPr/>
          <p:nvPr/>
        </p:nvSpPr>
        <p:spPr bwMode="auto">
          <a:xfrm>
            <a:off x="6732024" y="2348989"/>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r"/>
            <a:r>
              <a:rPr lang="en-US" altLang="ja-JP" dirty="0">
                <a:solidFill>
                  <a:schemeClr val="tx1">
                    <a:lumMod val="75000"/>
                    <a:lumOff val="25000"/>
                  </a:schemeClr>
                </a:solidFill>
                <a:latin typeface="Consolas" panose="020B0609020204030204" pitchFamily="49" charset="0"/>
                <a:ea typeface="メイリオ" panose="020B0604030504040204" pitchFamily="50" charset="-128"/>
              </a:rPr>
              <a:t>0x1018:</a:t>
            </a:r>
            <a:endParaRPr kumimoji="1" lang="ja-JP" altLang="en-US"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39" name="正方形/長方形 38">
            <a:extLst>
              <a:ext uri="{FF2B5EF4-FFF2-40B4-BE49-F238E27FC236}">
                <a16:creationId xmlns:a16="http://schemas.microsoft.com/office/drawing/2014/main" id="{6B74E5D7-4351-E626-C151-113E409CC142}"/>
              </a:ext>
            </a:extLst>
          </p:cNvPr>
          <p:cNvSpPr/>
          <p:nvPr/>
        </p:nvSpPr>
        <p:spPr bwMode="auto">
          <a:xfrm>
            <a:off x="6732024" y="2708993"/>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r"/>
            <a:r>
              <a:rPr lang="en-US" altLang="ja-JP" dirty="0">
                <a:solidFill>
                  <a:schemeClr val="tx1">
                    <a:lumMod val="75000"/>
                    <a:lumOff val="25000"/>
                  </a:schemeClr>
                </a:solidFill>
                <a:latin typeface="Consolas" panose="020B0609020204030204" pitchFamily="49" charset="0"/>
                <a:ea typeface="メイリオ" panose="020B0604030504040204" pitchFamily="50" charset="-128"/>
              </a:rPr>
              <a:t>0x101c:</a:t>
            </a:r>
            <a:endParaRPr kumimoji="1" lang="ja-JP" altLang="en-US" dirty="0">
              <a:solidFill>
                <a:schemeClr val="tx1">
                  <a:lumMod val="75000"/>
                  <a:lumOff val="25000"/>
                </a:schemeClr>
              </a:solidFill>
              <a:latin typeface="Consolas" panose="020B0609020204030204" pitchFamily="49" charset="0"/>
              <a:ea typeface="メイリオ" panose="020B0604030504040204" pitchFamily="50" charset="-128"/>
            </a:endParaRPr>
          </a:p>
        </p:txBody>
      </p:sp>
      <p:cxnSp>
        <p:nvCxnSpPr>
          <p:cNvPr id="40" name="曲線コネクタ 16">
            <a:extLst>
              <a:ext uri="{FF2B5EF4-FFF2-40B4-BE49-F238E27FC236}">
                <a16:creationId xmlns:a16="http://schemas.microsoft.com/office/drawing/2014/main" id="{623A8ADB-828C-5B21-852C-994515E97DF4}"/>
              </a:ext>
            </a:extLst>
          </p:cNvPr>
          <p:cNvCxnSpPr>
            <a:cxnSpLocks/>
          </p:cNvCxnSpPr>
          <p:nvPr/>
        </p:nvCxnSpPr>
        <p:spPr bwMode="auto">
          <a:xfrm flipV="1">
            <a:off x="5292008" y="1808982"/>
            <a:ext cx="810009" cy="360004"/>
          </a:xfrm>
          <a:prstGeom prst="curvedConnector3">
            <a:avLst/>
          </a:prstGeom>
          <a:ln>
            <a:headEnd type="none" w="med" len="med"/>
            <a:tailEnd type="triangle"/>
          </a:ln>
          <a:effectLst/>
        </p:spPr>
        <p:style>
          <a:lnRef idx="3">
            <a:schemeClr val="accent1"/>
          </a:lnRef>
          <a:fillRef idx="0">
            <a:schemeClr val="accent1"/>
          </a:fillRef>
          <a:effectRef idx="2">
            <a:schemeClr val="accent1"/>
          </a:effectRef>
          <a:fontRef idx="minor">
            <a:schemeClr val="tx1"/>
          </a:fontRef>
        </p:style>
      </p:cxnSp>
      <p:cxnSp>
        <p:nvCxnSpPr>
          <p:cNvPr id="41" name="直線コネクタ 40">
            <a:extLst>
              <a:ext uri="{FF2B5EF4-FFF2-40B4-BE49-F238E27FC236}">
                <a16:creationId xmlns:a16="http://schemas.microsoft.com/office/drawing/2014/main" id="{E749170D-3888-EDC5-D052-339C42C98DC7}"/>
              </a:ext>
            </a:extLst>
          </p:cNvPr>
          <p:cNvCxnSpPr>
            <a:cxnSpLocks/>
          </p:cNvCxnSpPr>
          <p:nvPr/>
        </p:nvCxnSpPr>
        <p:spPr bwMode="auto">
          <a:xfrm flipV="1">
            <a:off x="4932004" y="3068996"/>
            <a:ext cx="0" cy="2160024"/>
          </a:xfrm>
          <a:prstGeom prst="line">
            <a:avLst/>
          </a:prstGeom>
          <a:ln w="15875">
            <a:solidFill>
              <a:schemeClr val="tx1"/>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CE888A76-7277-C92F-ED4E-43F9AEAF85BD}"/>
              </a:ext>
            </a:extLst>
          </p:cNvPr>
          <p:cNvCxnSpPr>
            <a:cxnSpLocks/>
          </p:cNvCxnSpPr>
          <p:nvPr/>
        </p:nvCxnSpPr>
        <p:spPr bwMode="auto">
          <a:xfrm flipH="1">
            <a:off x="4932004" y="5229020"/>
            <a:ext cx="2880032" cy="0"/>
          </a:xfrm>
          <a:prstGeom prst="line">
            <a:avLst/>
          </a:prstGeom>
          <a:ln w="15875">
            <a:solidFill>
              <a:schemeClr val="tx1"/>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3" name="直線コネクタ 42">
            <a:extLst>
              <a:ext uri="{FF2B5EF4-FFF2-40B4-BE49-F238E27FC236}">
                <a16:creationId xmlns:a16="http://schemas.microsoft.com/office/drawing/2014/main" id="{2E3B5132-C541-DAAE-4E6B-F9C3C4ED6A0A}"/>
              </a:ext>
            </a:extLst>
          </p:cNvPr>
          <p:cNvCxnSpPr/>
          <p:nvPr/>
        </p:nvCxnSpPr>
        <p:spPr bwMode="auto">
          <a:xfrm flipV="1">
            <a:off x="7812036" y="1898983"/>
            <a:ext cx="1" cy="3330036"/>
          </a:xfrm>
          <a:prstGeom prst="line">
            <a:avLst/>
          </a:prstGeom>
          <a:ln w="15875">
            <a:solidFill>
              <a:schemeClr val="tx1"/>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49" name="フローチャート: 手作業 48">
            <a:extLst>
              <a:ext uri="{FF2B5EF4-FFF2-40B4-BE49-F238E27FC236}">
                <a16:creationId xmlns:a16="http://schemas.microsoft.com/office/drawing/2014/main" id="{F3CCEF8A-A7BA-606B-BA7A-650E33F38BF8}"/>
              </a:ext>
            </a:extLst>
          </p:cNvPr>
          <p:cNvSpPr/>
          <p:nvPr/>
        </p:nvSpPr>
        <p:spPr bwMode="auto">
          <a:xfrm rot="16200000">
            <a:off x="3574794" y="3886200"/>
            <a:ext cx="914400" cy="360004"/>
          </a:xfrm>
          <a:prstGeom prst="flowChartManualOperation">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en-US" altLang="ja-JP" dirty="0">
                <a:solidFill>
                  <a:schemeClr val="bg1"/>
                </a:solidFill>
                <a:latin typeface="メイリオ" panose="020B0604030504040204" pitchFamily="50" charset="-128"/>
                <a:ea typeface="メイリオ" panose="020B0604030504040204" pitchFamily="50" charset="-128"/>
              </a:rPr>
              <a:t>FU</a:t>
            </a:r>
            <a:endParaRPr kumimoji="1" lang="ja-JP" altLang="en-US" dirty="0">
              <a:solidFill>
                <a:schemeClr val="bg1"/>
              </a:solidFill>
              <a:latin typeface="メイリオ" panose="020B0604030504040204" pitchFamily="50" charset="-128"/>
              <a:ea typeface="メイリオ" panose="020B0604030504040204" pitchFamily="50" charset="-128"/>
            </a:endParaRPr>
          </a:p>
        </p:txBody>
      </p:sp>
      <p:sp>
        <p:nvSpPr>
          <p:cNvPr id="58" name="正方形/長方形 57">
            <a:extLst>
              <a:ext uri="{FF2B5EF4-FFF2-40B4-BE49-F238E27FC236}">
                <a16:creationId xmlns:a16="http://schemas.microsoft.com/office/drawing/2014/main" id="{FFAC33A1-1043-C50F-1512-6E8D561642A6}"/>
              </a:ext>
            </a:extLst>
          </p:cNvPr>
          <p:cNvSpPr/>
          <p:nvPr/>
        </p:nvSpPr>
        <p:spPr bwMode="auto">
          <a:xfrm>
            <a:off x="3851992" y="1988984"/>
            <a:ext cx="1440017"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bg1"/>
                </a:solidFill>
                <a:latin typeface="Consolas" panose="020B0609020204030204" pitchFamily="49" charset="0"/>
                <a:ea typeface="メイリオ" panose="020B0604030504040204" pitchFamily="50" charset="-128"/>
              </a:rPr>
              <a:t>0x00001010</a:t>
            </a:r>
            <a:endParaRPr kumimoji="1" lang="ja-JP" altLang="en-US" dirty="0">
              <a:solidFill>
                <a:schemeClr val="bg1"/>
              </a:solidFill>
              <a:latin typeface="Consolas" panose="020B0609020204030204" pitchFamily="49" charset="0"/>
              <a:ea typeface="メイリオ" panose="020B0604030504040204" pitchFamily="50" charset="-128"/>
            </a:endParaRPr>
          </a:p>
        </p:txBody>
      </p:sp>
      <p:cxnSp>
        <p:nvCxnSpPr>
          <p:cNvPr id="59" name="直線コネクタ 58">
            <a:extLst>
              <a:ext uri="{FF2B5EF4-FFF2-40B4-BE49-F238E27FC236}">
                <a16:creationId xmlns:a16="http://schemas.microsoft.com/office/drawing/2014/main" id="{12532D97-2D58-A883-74E9-5923237BB622}"/>
              </a:ext>
            </a:extLst>
          </p:cNvPr>
          <p:cNvCxnSpPr>
            <a:cxnSpLocks/>
          </p:cNvCxnSpPr>
          <p:nvPr/>
        </p:nvCxnSpPr>
        <p:spPr bwMode="auto">
          <a:xfrm>
            <a:off x="3221985" y="1988984"/>
            <a:ext cx="0" cy="4320048"/>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0" name="直線コネクタ 59">
            <a:extLst>
              <a:ext uri="{FF2B5EF4-FFF2-40B4-BE49-F238E27FC236}">
                <a16:creationId xmlns:a16="http://schemas.microsoft.com/office/drawing/2014/main" id="{EF745325-B540-7687-FC02-43F3A691B616}"/>
              </a:ext>
            </a:extLst>
          </p:cNvPr>
          <p:cNvCxnSpPr>
            <a:cxnSpLocks/>
          </p:cNvCxnSpPr>
          <p:nvPr/>
        </p:nvCxnSpPr>
        <p:spPr bwMode="auto">
          <a:xfrm>
            <a:off x="3311986" y="1988984"/>
            <a:ext cx="0" cy="4320048"/>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0958DFC9-3DF1-A485-089E-A080473F9D4E}"/>
              </a:ext>
            </a:extLst>
          </p:cNvPr>
          <p:cNvCxnSpPr>
            <a:cxnSpLocks/>
          </p:cNvCxnSpPr>
          <p:nvPr/>
        </p:nvCxnSpPr>
        <p:spPr bwMode="auto">
          <a:xfrm>
            <a:off x="3221985" y="3789004"/>
            <a:ext cx="630007"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2" name="直線コネクタ 61">
            <a:extLst>
              <a:ext uri="{FF2B5EF4-FFF2-40B4-BE49-F238E27FC236}">
                <a16:creationId xmlns:a16="http://schemas.microsoft.com/office/drawing/2014/main" id="{8ECCBB80-9A14-C7AE-4125-3073764D4504}"/>
              </a:ext>
            </a:extLst>
          </p:cNvPr>
          <p:cNvCxnSpPr>
            <a:cxnSpLocks/>
          </p:cNvCxnSpPr>
          <p:nvPr/>
        </p:nvCxnSpPr>
        <p:spPr bwMode="auto">
          <a:xfrm>
            <a:off x="3311986" y="4329010"/>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3" name="直線コネクタ 62">
            <a:extLst>
              <a:ext uri="{FF2B5EF4-FFF2-40B4-BE49-F238E27FC236}">
                <a16:creationId xmlns:a16="http://schemas.microsoft.com/office/drawing/2014/main" id="{E2769735-553F-72DA-D762-E19CBA31BA70}"/>
              </a:ext>
            </a:extLst>
          </p:cNvPr>
          <p:cNvCxnSpPr/>
          <p:nvPr/>
        </p:nvCxnSpPr>
        <p:spPr bwMode="auto">
          <a:xfrm flipV="1">
            <a:off x="2411976" y="6399033"/>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4" name="直線コネクタ 63">
            <a:extLst>
              <a:ext uri="{FF2B5EF4-FFF2-40B4-BE49-F238E27FC236}">
                <a16:creationId xmlns:a16="http://schemas.microsoft.com/office/drawing/2014/main" id="{749BBC53-790A-312A-DC06-8EFC2B36DBF6}"/>
              </a:ext>
            </a:extLst>
          </p:cNvPr>
          <p:cNvCxnSpPr>
            <a:cxnSpLocks/>
          </p:cNvCxnSpPr>
          <p:nvPr/>
        </p:nvCxnSpPr>
        <p:spPr bwMode="auto">
          <a:xfrm flipH="1">
            <a:off x="2411976" y="6579035"/>
            <a:ext cx="2160024"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5" name="直線コネクタ 64">
            <a:extLst>
              <a:ext uri="{FF2B5EF4-FFF2-40B4-BE49-F238E27FC236}">
                <a16:creationId xmlns:a16="http://schemas.microsoft.com/office/drawing/2014/main" id="{50E1541C-5C63-0F4B-A363-B7F70E412298}"/>
              </a:ext>
            </a:extLst>
          </p:cNvPr>
          <p:cNvCxnSpPr>
            <a:cxnSpLocks/>
          </p:cNvCxnSpPr>
          <p:nvPr/>
        </p:nvCxnSpPr>
        <p:spPr bwMode="auto">
          <a:xfrm flipH="1">
            <a:off x="4211996" y="4059007"/>
            <a:ext cx="360004"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6" name="直線コネクタ 65">
            <a:extLst>
              <a:ext uri="{FF2B5EF4-FFF2-40B4-BE49-F238E27FC236}">
                <a16:creationId xmlns:a16="http://schemas.microsoft.com/office/drawing/2014/main" id="{DFBC6527-41F2-2B2D-48AC-B8E7204012E7}"/>
              </a:ext>
            </a:extLst>
          </p:cNvPr>
          <p:cNvCxnSpPr>
            <a:cxnSpLocks/>
          </p:cNvCxnSpPr>
          <p:nvPr/>
        </p:nvCxnSpPr>
        <p:spPr bwMode="auto">
          <a:xfrm flipV="1">
            <a:off x="4572000" y="4059007"/>
            <a:ext cx="0" cy="2520028"/>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67" name="正方形/長方形 66">
            <a:extLst>
              <a:ext uri="{FF2B5EF4-FFF2-40B4-BE49-F238E27FC236}">
                <a16:creationId xmlns:a16="http://schemas.microsoft.com/office/drawing/2014/main" id="{A9293F1F-E1E4-3FCA-20DF-16643A33FE4E}"/>
              </a:ext>
            </a:extLst>
          </p:cNvPr>
          <p:cNvSpPr/>
          <p:nvPr/>
        </p:nvSpPr>
        <p:spPr bwMode="auto">
          <a:xfrm>
            <a:off x="3851992" y="2708992"/>
            <a:ext cx="1440016" cy="360004"/>
          </a:xfrm>
          <a:prstGeom prst="rect">
            <a:avLst/>
          </a:prstGeom>
          <a:noFill/>
          <a:ln>
            <a:solidFill>
              <a:schemeClr val="tx1">
                <a:lumMod val="75000"/>
                <a:lumOff val="25000"/>
              </a:schemeClr>
            </a:solid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Consolas" panose="020B0609020204030204" pitchFamily="49" charset="0"/>
                <a:ea typeface="メイリオ" panose="020B0604030504040204" pitchFamily="50" charset="-128"/>
              </a:rPr>
              <a:t>0x00000517</a:t>
            </a:r>
            <a:endParaRPr kumimoji="1" lang="ja-JP" altLang="en-US"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68" name="正方形/長方形 67">
            <a:extLst>
              <a:ext uri="{FF2B5EF4-FFF2-40B4-BE49-F238E27FC236}">
                <a16:creationId xmlns:a16="http://schemas.microsoft.com/office/drawing/2014/main" id="{84996FB8-EC5B-74EF-F822-4E387CB01EDA}"/>
              </a:ext>
            </a:extLst>
          </p:cNvPr>
          <p:cNvSpPr/>
          <p:nvPr/>
        </p:nvSpPr>
        <p:spPr bwMode="auto">
          <a:xfrm>
            <a:off x="1691968" y="1988984"/>
            <a:ext cx="1440016" cy="4320049"/>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69" name="正方形/長方形 68">
            <a:extLst>
              <a:ext uri="{FF2B5EF4-FFF2-40B4-BE49-F238E27FC236}">
                <a16:creationId xmlns:a16="http://schemas.microsoft.com/office/drawing/2014/main" id="{4A1C0476-C5F5-8D66-1ACA-432103DEA133}"/>
              </a:ext>
            </a:extLst>
          </p:cNvPr>
          <p:cNvSpPr/>
          <p:nvPr/>
        </p:nvSpPr>
        <p:spPr bwMode="auto">
          <a:xfrm>
            <a:off x="1691968" y="2708993"/>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ja-JP" dirty="0">
                <a:solidFill>
                  <a:schemeClr val="tx1">
                    <a:lumMod val="75000"/>
                    <a:lumOff val="25000"/>
                  </a:schemeClr>
                </a:solidFill>
                <a:latin typeface="メイリオ" panose="020B0604030504040204" pitchFamily="50" charset="-128"/>
                <a:ea typeface="メイリオ" panose="020B0604030504040204" pitchFamily="50" charset="-128"/>
              </a:rPr>
              <a:t>…</a:t>
            </a:r>
            <a:endParaRPr kumimoji="1" lang="ja-JP" altLang="en-US" b="1"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70" name="正方形/長方形 69">
            <a:extLst>
              <a:ext uri="{FF2B5EF4-FFF2-40B4-BE49-F238E27FC236}">
                <a16:creationId xmlns:a16="http://schemas.microsoft.com/office/drawing/2014/main" id="{F9C68A59-814E-6BE1-9152-4014B000B803}"/>
              </a:ext>
            </a:extLst>
          </p:cNvPr>
          <p:cNvSpPr/>
          <p:nvPr/>
        </p:nvSpPr>
        <p:spPr bwMode="auto">
          <a:xfrm>
            <a:off x="1691968" y="3068997"/>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en-US" altLang="ja-JP" dirty="0">
                <a:solidFill>
                  <a:schemeClr val="tx1">
                    <a:lumMod val="75000"/>
                    <a:lumOff val="25000"/>
                  </a:schemeClr>
                </a:solidFill>
                <a:latin typeface="メイリオ" panose="020B0604030504040204" pitchFamily="50" charset="-128"/>
                <a:ea typeface="メイリオ" panose="020B0604030504040204" pitchFamily="50" charset="-128"/>
              </a:rPr>
              <a:t>…</a:t>
            </a: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71" name="正方形/長方形 70">
            <a:extLst>
              <a:ext uri="{FF2B5EF4-FFF2-40B4-BE49-F238E27FC236}">
                <a16:creationId xmlns:a16="http://schemas.microsoft.com/office/drawing/2014/main" id="{CFA55730-FCBA-69F5-9E0F-98897DD46226}"/>
              </a:ext>
            </a:extLst>
          </p:cNvPr>
          <p:cNvSpPr/>
          <p:nvPr/>
        </p:nvSpPr>
        <p:spPr bwMode="auto">
          <a:xfrm>
            <a:off x="1691968" y="1988985"/>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en-US" altLang="ja-JP" dirty="0">
                <a:solidFill>
                  <a:schemeClr val="tx1">
                    <a:lumMod val="75000"/>
                    <a:lumOff val="25000"/>
                  </a:schemeClr>
                </a:solidFill>
                <a:latin typeface="メイリオ" panose="020B0604030504040204" pitchFamily="50" charset="-128"/>
                <a:ea typeface="メイリオ" panose="020B0604030504040204" pitchFamily="50" charset="-128"/>
              </a:rPr>
              <a:t>0</a:t>
            </a: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72" name="正方形/長方形 71">
            <a:extLst>
              <a:ext uri="{FF2B5EF4-FFF2-40B4-BE49-F238E27FC236}">
                <a16:creationId xmlns:a16="http://schemas.microsoft.com/office/drawing/2014/main" id="{D6CF3743-8785-5404-F861-6BEA0543C3B2}"/>
              </a:ext>
            </a:extLst>
          </p:cNvPr>
          <p:cNvSpPr/>
          <p:nvPr/>
        </p:nvSpPr>
        <p:spPr bwMode="auto">
          <a:xfrm>
            <a:off x="1691968" y="2348989"/>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en-US" altLang="ja-JP" dirty="0">
                <a:solidFill>
                  <a:schemeClr val="tx1">
                    <a:lumMod val="75000"/>
                    <a:lumOff val="25000"/>
                  </a:schemeClr>
                </a:solidFill>
                <a:latin typeface="メイリオ" panose="020B0604030504040204" pitchFamily="50" charset="-128"/>
                <a:ea typeface="メイリオ" panose="020B0604030504040204" pitchFamily="50" charset="-128"/>
              </a:rPr>
              <a:t>…</a:t>
            </a: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73" name="正方形/長方形 72">
            <a:extLst>
              <a:ext uri="{FF2B5EF4-FFF2-40B4-BE49-F238E27FC236}">
                <a16:creationId xmlns:a16="http://schemas.microsoft.com/office/drawing/2014/main" id="{DAB06E3A-C68C-7A45-2427-C9D6AFA7C35B}"/>
              </a:ext>
            </a:extLst>
          </p:cNvPr>
          <p:cNvSpPr/>
          <p:nvPr/>
        </p:nvSpPr>
        <p:spPr bwMode="auto">
          <a:xfrm>
            <a:off x="1691968" y="3429001"/>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en-US" altLang="ja-JP" dirty="0">
                <a:solidFill>
                  <a:schemeClr val="tx1">
                    <a:lumMod val="75000"/>
                    <a:lumOff val="25000"/>
                  </a:schemeClr>
                </a:solidFill>
                <a:latin typeface="メイリオ" panose="020B0604030504040204" pitchFamily="50" charset="-128"/>
                <a:ea typeface="メイリオ" panose="020B0604030504040204" pitchFamily="50" charset="-128"/>
              </a:rPr>
              <a:t>…</a:t>
            </a: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74" name="正方形/長方形 73">
            <a:extLst>
              <a:ext uri="{FF2B5EF4-FFF2-40B4-BE49-F238E27FC236}">
                <a16:creationId xmlns:a16="http://schemas.microsoft.com/office/drawing/2014/main" id="{D844D9D9-4637-C1AB-F53C-37D5404F2C1D}"/>
              </a:ext>
            </a:extLst>
          </p:cNvPr>
          <p:cNvSpPr/>
          <p:nvPr/>
        </p:nvSpPr>
        <p:spPr bwMode="auto">
          <a:xfrm>
            <a:off x="1691968" y="4869017"/>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en-US" altLang="ja-JP" dirty="0">
                <a:solidFill>
                  <a:schemeClr val="bg1"/>
                </a:solidFill>
                <a:latin typeface="メイリオ" panose="020B0604030504040204" pitchFamily="50" charset="-128"/>
                <a:ea typeface="メイリオ" panose="020B0604030504040204" pitchFamily="50" charset="-128"/>
              </a:rPr>
              <a:t>…</a:t>
            </a:r>
            <a:endParaRPr kumimoji="1" lang="ja-JP" altLang="en-US" dirty="0">
              <a:solidFill>
                <a:schemeClr val="bg1"/>
              </a:solidFill>
              <a:latin typeface="メイリオ" panose="020B0604030504040204" pitchFamily="50" charset="-128"/>
              <a:ea typeface="メイリオ" panose="020B0604030504040204" pitchFamily="50" charset="-128"/>
            </a:endParaRPr>
          </a:p>
        </p:txBody>
      </p:sp>
      <p:sp>
        <p:nvSpPr>
          <p:cNvPr id="75" name="正方形/長方形 74">
            <a:extLst>
              <a:ext uri="{FF2B5EF4-FFF2-40B4-BE49-F238E27FC236}">
                <a16:creationId xmlns:a16="http://schemas.microsoft.com/office/drawing/2014/main" id="{A6E24843-65D6-4A76-1242-8ECAB5D02461}"/>
              </a:ext>
            </a:extLst>
          </p:cNvPr>
          <p:cNvSpPr/>
          <p:nvPr/>
        </p:nvSpPr>
        <p:spPr bwMode="auto">
          <a:xfrm>
            <a:off x="1691968" y="5229021"/>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en-US" altLang="ja-JP" dirty="0">
                <a:solidFill>
                  <a:schemeClr val="bg1"/>
                </a:solidFill>
                <a:latin typeface="メイリオ" panose="020B0604030504040204" pitchFamily="50" charset="-128"/>
                <a:ea typeface="メイリオ" panose="020B0604030504040204" pitchFamily="50" charset="-128"/>
              </a:rPr>
              <a:t>…</a:t>
            </a:r>
            <a:endParaRPr kumimoji="1" lang="ja-JP" altLang="en-US" dirty="0">
              <a:solidFill>
                <a:schemeClr val="bg1"/>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97FAAF56-7B2B-0C1E-EF1B-496B42EEB051}"/>
              </a:ext>
            </a:extLst>
          </p:cNvPr>
          <p:cNvSpPr/>
          <p:nvPr/>
        </p:nvSpPr>
        <p:spPr bwMode="auto">
          <a:xfrm>
            <a:off x="1691968" y="5589025"/>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en-US" altLang="ja-JP" dirty="0">
                <a:solidFill>
                  <a:schemeClr val="bg1"/>
                </a:solidFill>
                <a:latin typeface="メイリオ" panose="020B0604030504040204" pitchFamily="50" charset="-128"/>
                <a:ea typeface="メイリオ" panose="020B0604030504040204" pitchFamily="50" charset="-128"/>
              </a:rPr>
              <a:t>…</a:t>
            </a:r>
            <a:endParaRPr kumimoji="1" lang="ja-JP" altLang="en-US" dirty="0">
              <a:solidFill>
                <a:schemeClr val="bg1"/>
              </a:solidFill>
              <a:latin typeface="メイリオ" panose="020B0604030504040204" pitchFamily="50" charset="-128"/>
              <a:ea typeface="メイリオ" panose="020B0604030504040204" pitchFamily="50" charset="-128"/>
            </a:endParaRPr>
          </a:p>
        </p:txBody>
      </p:sp>
      <p:sp>
        <p:nvSpPr>
          <p:cNvPr id="77" name="正方形/長方形 76">
            <a:extLst>
              <a:ext uri="{FF2B5EF4-FFF2-40B4-BE49-F238E27FC236}">
                <a16:creationId xmlns:a16="http://schemas.microsoft.com/office/drawing/2014/main" id="{BE0BC464-4E52-2838-683E-D683F1DCBDF8}"/>
              </a:ext>
            </a:extLst>
          </p:cNvPr>
          <p:cNvSpPr/>
          <p:nvPr/>
        </p:nvSpPr>
        <p:spPr bwMode="auto">
          <a:xfrm>
            <a:off x="1691968" y="5949029"/>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en-US" altLang="ja-JP" dirty="0">
                <a:solidFill>
                  <a:schemeClr val="bg1"/>
                </a:solidFill>
                <a:latin typeface="メイリオ" panose="020B0604030504040204" pitchFamily="50" charset="-128"/>
                <a:ea typeface="メイリオ" panose="020B0604030504040204" pitchFamily="50" charset="-128"/>
              </a:rPr>
              <a:t>…</a:t>
            </a:r>
            <a:endParaRPr kumimoji="1" lang="ja-JP" altLang="en-US" dirty="0">
              <a:solidFill>
                <a:schemeClr val="bg1"/>
              </a:solidFill>
              <a:latin typeface="メイリオ" panose="020B0604030504040204" pitchFamily="50" charset="-128"/>
              <a:ea typeface="メイリオ" panose="020B0604030504040204" pitchFamily="50" charset="-128"/>
            </a:endParaRPr>
          </a:p>
        </p:txBody>
      </p:sp>
      <p:sp>
        <p:nvSpPr>
          <p:cNvPr id="79" name="正方形/長方形 78">
            <a:extLst>
              <a:ext uri="{FF2B5EF4-FFF2-40B4-BE49-F238E27FC236}">
                <a16:creationId xmlns:a16="http://schemas.microsoft.com/office/drawing/2014/main" id="{734A28FF-F4D8-434B-8C91-1263136C92FD}"/>
              </a:ext>
            </a:extLst>
          </p:cNvPr>
          <p:cNvSpPr/>
          <p:nvPr/>
        </p:nvSpPr>
        <p:spPr bwMode="auto">
          <a:xfrm>
            <a:off x="1691968" y="1268976"/>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rPr>
              <a:t>レジスタ</a:t>
            </a:r>
            <a:br>
              <a:rPr kumimoji="1" lang="en-US" altLang="ja-JP" dirty="0">
                <a:solidFill>
                  <a:schemeClr val="tx1">
                    <a:lumMod val="75000"/>
                    <a:lumOff val="25000"/>
                  </a:schemeClr>
                </a:solidFill>
                <a:latin typeface="メイリオ" panose="020B0604030504040204" pitchFamily="50" charset="-128"/>
                <a:ea typeface="メイリオ" panose="020B0604030504040204" pitchFamily="50" charset="-128"/>
              </a:rPr>
            </a:br>
            <a:r>
              <a:rPr kumimoji="1" lang="en-US" altLang="ja-JP" dirty="0">
                <a:solidFill>
                  <a:schemeClr val="tx1">
                    <a:lumMod val="75000"/>
                    <a:lumOff val="25000"/>
                  </a:schemeClr>
                </a:solidFill>
                <a:latin typeface="メイリオ" panose="020B0604030504040204" pitchFamily="50" charset="-128"/>
                <a:ea typeface="メイリオ" panose="020B0604030504040204" pitchFamily="50" charset="-128"/>
              </a:rPr>
              <a:t>(32bit)</a:t>
            </a: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80" name="直線矢印コネクタ 79">
            <a:extLst>
              <a:ext uri="{FF2B5EF4-FFF2-40B4-BE49-F238E27FC236}">
                <a16:creationId xmlns:a16="http://schemas.microsoft.com/office/drawing/2014/main" id="{4A368243-B3F9-3AB5-4583-C8109ACFCC7B}"/>
              </a:ext>
            </a:extLst>
          </p:cNvPr>
          <p:cNvCxnSpPr/>
          <p:nvPr/>
        </p:nvCxnSpPr>
        <p:spPr bwMode="auto">
          <a:xfrm>
            <a:off x="1691968" y="1898983"/>
            <a:ext cx="1440016" cy="0"/>
          </a:xfrm>
          <a:prstGeom prst="straightConnector1">
            <a:avLst/>
          </a:prstGeom>
          <a:noFill/>
          <a:ln w="9525" cap="flat" cmpd="sng" algn="ctr">
            <a:solidFill>
              <a:schemeClr val="tx1"/>
            </a:solidFill>
            <a:prstDash val="solid"/>
            <a:round/>
            <a:headEnd type="triangle" w="med" len="med"/>
            <a:tailEnd type="triangle"/>
          </a:ln>
          <a:effectLst/>
        </p:spPr>
      </p:cxnSp>
      <p:sp>
        <p:nvSpPr>
          <p:cNvPr id="81" name="Rectangle 17">
            <a:extLst>
              <a:ext uri="{FF2B5EF4-FFF2-40B4-BE49-F238E27FC236}">
                <a16:creationId xmlns:a16="http://schemas.microsoft.com/office/drawing/2014/main" id="{5F204072-BA6D-BD87-553E-FF942598C56D}"/>
              </a:ext>
            </a:extLst>
          </p:cNvPr>
          <p:cNvSpPr>
            <a:spLocks noChangeArrowheads="1"/>
          </p:cNvSpPr>
          <p:nvPr/>
        </p:nvSpPr>
        <p:spPr bwMode="auto">
          <a:xfrm>
            <a:off x="1151962" y="1988984"/>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75000"/>
                    <a:lumOff val="25000"/>
                  </a:schemeClr>
                </a:solidFill>
                <a:latin typeface="Consolas" panose="020B0609020204030204" pitchFamily="49" charset="0"/>
              </a:rPr>
              <a:t>x0</a:t>
            </a:r>
            <a:endParaRPr lang="ja-JP" altLang="en-US" sz="1600" dirty="0">
              <a:solidFill>
                <a:schemeClr val="tx1">
                  <a:lumMod val="75000"/>
                  <a:lumOff val="25000"/>
                </a:schemeClr>
              </a:solidFill>
              <a:latin typeface="Consolas" panose="020B0609020204030204" pitchFamily="49" charset="0"/>
            </a:endParaRPr>
          </a:p>
        </p:txBody>
      </p:sp>
      <p:sp>
        <p:nvSpPr>
          <p:cNvPr id="82" name="Rectangle 17">
            <a:extLst>
              <a:ext uri="{FF2B5EF4-FFF2-40B4-BE49-F238E27FC236}">
                <a16:creationId xmlns:a16="http://schemas.microsoft.com/office/drawing/2014/main" id="{0A990045-2D3B-52E5-2D5C-89639DB526E2}"/>
              </a:ext>
            </a:extLst>
          </p:cNvPr>
          <p:cNvSpPr>
            <a:spLocks noChangeArrowheads="1"/>
          </p:cNvSpPr>
          <p:nvPr/>
        </p:nvSpPr>
        <p:spPr bwMode="auto">
          <a:xfrm>
            <a:off x="1151962" y="2348988"/>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75000"/>
                    <a:lumOff val="25000"/>
                  </a:schemeClr>
                </a:solidFill>
                <a:latin typeface="Consolas" panose="020B0609020204030204" pitchFamily="49" charset="0"/>
              </a:rPr>
              <a:t>x1</a:t>
            </a:r>
            <a:endParaRPr lang="ja-JP" altLang="en-US" sz="1600" dirty="0">
              <a:solidFill>
                <a:schemeClr val="tx1">
                  <a:lumMod val="75000"/>
                  <a:lumOff val="25000"/>
                </a:schemeClr>
              </a:solidFill>
              <a:latin typeface="Consolas" panose="020B0609020204030204" pitchFamily="49" charset="0"/>
            </a:endParaRPr>
          </a:p>
        </p:txBody>
      </p:sp>
      <p:sp>
        <p:nvSpPr>
          <p:cNvPr id="83" name="Rectangle 17">
            <a:extLst>
              <a:ext uri="{FF2B5EF4-FFF2-40B4-BE49-F238E27FC236}">
                <a16:creationId xmlns:a16="http://schemas.microsoft.com/office/drawing/2014/main" id="{0941EECC-E517-7AC3-FD22-E427B0663EDF}"/>
              </a:ext>
            </a:extLst>
          </p:cNvPr>
          <p:cNvSpPr>
            <a:spLocks noChangeArrowheads="1"/>
          </p:cNvSpPr>
          <p:nvPr/>
        </p:nvSpPr>
        <p:spPr bwMode="auto">
          <a:xfrm>
            <a:off x="1151962" y="2708992"/>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75000"/>
                    <a:lumOff val="25000"/>
                  </a:schemeClr>
                </a:solidFill>
                <a:latin typeface="Consolas" panose="020B0609020204030204" pitchFamily="49" charset="0"/>
              </a:rPr>
              <a:t>x2</a:t>
            </a:r>
            <a:endParaRPr lang="ja-JP" altLang="en-US" sz="1600" dirty="0">
              <a:solidFill>
                <a:schemeClr val="tx1">
                  <a:lumMod val="75000"/>
                  <a:lumOff val="25000"/>
                </a:schemeClr>
              </a:solidFill>
              <a:latin typeface="Consolas" panose="020B0609020204030204" pitchFamily="49" charset="0"/>
            </a:endParaRPr>
          </a:p>
        </p:txBody>
      </p:sp>
      <p:sp>
        <p:nvSpPr>
          <p:cNvPr id="84" name="Rectangle 17">
            <a:extLst>
              <a:ext uri="{FF2B5EF4-FFF2-40B4-BE49-F238E27FC236}">
                <a16:creationId xmlns:a16="http://schemas.microsoft.com/office/drawing/2014/main" id="{29BC797E-F3B2-6106-171F-4D1013B4C8EA}"/>
              </a:ext>
            </a:extLst>
          </p:cNvPr>
          <p:cNvSpPr>
            <a:spLocks noChangeArrowheads="1"/>
          </p:cNvSpPr>
          <p:nvPr/>
        </p:nvSpPr>
        <p:spPr bwMode="auto">
          <a:xfrm>
            <a:off x="1151962" y="3068996"/>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75000"/>
                    <a:lumOff val="25000"/>
                  </a:schemeClr>
                </a:solidFill>
                <a:latin typeface="Consolas" panose="020B0609020204030204" pitchFamily="49" charset="0"/>
              </a:rPr>
              <a:t>x3</a:t>
            </a:r>
            <a:endParaRPr lang="ja-JP" altLang="en-US" sz="1600" dirty="0">
              <a:solidFill>
                <a:schemeClr val="tx1">
                  <a:lumMod val="75000"/>
                  <a:lumOff val="25000"/>
                </a:schemeClr>
              </a:solidFill>
              <a:latin typeface="Consolas" panose="020B0609020204030204" pitchFamily="49" charset="0"/>
            </a:endParaRPr>
          </a:p>
        </p:txBody>
      </p:sp>
      <p:sp>
        <p:nvSpPr>
          <p:cNvPr id="85" name="Rectangle 17">
            <a:extLst>
              <a:ext uri="{FF2B5EF4-FFF2-40B4-BE49-F238E27FC236}">
                <a16:creationId xmlns:a16="http://schemas.microsoft.com/office/drawing/2014/main" id="{57F33552-FBE1-5AA2-8438-65FDE97DB3C0}"/>
              </a:ext>
            </a:extLst>
          </p:cNvPr>
          <p:cNvSpPr>
            <a:spLocks noChangeArrowheads="1"/>
          </p:cNvSpPr>
          <p:nvPr/>
        </p:nvSpPr>
        <p:spPr bwMode="auto">
          <a:xfrm>
            <a:off x="1151962" y="3429000"/>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75000"/>
                    <a:lumOff val="25000"/>
                  </a:schemeClr>
                </a:solidFill>
                <a:latin typeface="Consolas" panose="020B0609020204030204" pitchFamily="49" charset="0"/>
              </a:rPr>
              <a:t>...</a:t>
            </a:r>
            <a:endParaRPr lang="ja-JP" altLang="en-US" sz="1600" dirty="0">
              <a:solidFill>
                <a:schemeClr val="tx1">
                  <a:lumMod val="75000"/>
                  <a:lumOff val="25000"/>
                </a:schemeClr>
              </a:solidFill>
              <a:latin typeface="Consolas" panose="020B0609020204030204" pitchFamily="49" charset="0"/>
            </a:endParaRPr>
          </a:p>
        </p:txBody>
      </p:sp>
      <p:sp>
        <p:nvSpPr>
          <p:cNvPr id="86" name="Rectangle 17">
            <a:extLst>
              <a:ext uri="{FF2B5EF4-FFF2-40B4-BE49-F238E27FC236}">
                <a16:creationId xmlns:a16="http://schemas.microsoft.com/office/drawing/2014/main" id="{B8A0EFD0-A7BE-1C52-9223-9EB1D141A327}"/>
              </a:ext>
            </a:extLst>
          </p:cNvPr>
          <p:cNvSpPr>
            <a:spLocks noChangeArrowheads="1"/>
          </p:cNvSpPr>
          <p:nvPr/>
        </p:nvSpPr>
        <p:spPr bwMode="auto">
          <a:xfrm>
            <a:off x="1151962" y="5949028"/>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75000"/>
                    <a:lumOff val="25000"/>
                  </a:schemeClr>
                </a:solidFill>
                <a:latin typeface="Consolas" panose="020B0609020204030204" pitchFamily="49" charset="0"/>
              </a:rPr>
              <a:t>x31</a:t>
            </a:r>
            <a:endParaRPr lang="ja-JP" altLang="en-US" sz="1600" dirty="0">
              <a:solidFill>
                <a:schemeClr val="tx1">
                  <a:lumMod val="75000"/>
                  <a:lumOff val="25000"/>
                </a:schemeClr>
              </a:solidFill>
              <a:latin typeface="Consolas" panose="020B0609020204030204" pitchFamily="49" charset="0"/>
            </a:endParaRPr>
          </a:p>
        </p:txBody>
      </p:sp>
      <p:sp>
        <p:nvSpPr>
          <p:cNvPr id="87" name="Rectangle 17">
            <a:extLst>
              <a:ext uri="{FF2B5EF4-FFF2-40B4-BE49-F238E27FC236}">
                <a16:creationId xmlns:a16="http://schemas.microsoft.com/office/drawing/2014/main" id="{57F070CC-0E2C-9DEC-5E24-B6F7ECBC7C0D}"/>
              </a:ext>
            </a:extLst>
          </p:cNvPr>
          <p:cNvSpPr>
            <a:spLocks noChangeArrowheads="1"/>
          </p:cNvSpPr>
          <p:nvPr/>
        </p:nvSpPr>
        <p:spPr bwMode="auto">
          <a:xfrm>
            <a:off x="1151962" y="5589024"/>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75000"/>
                    <a:lumOff val="25000"/>
                  </a:schemeClr>
                </a:solidFill>
                <a:latin typeface="Consolas" panose="020B0609020204030204" pitchFamily="49" charset="0"/>
              </a:rPr>
              <a:t>x30</a:t>
            </a:r>
            <a:endParaRPr lang="ja-JP" altLang="en-US" sz="1600" dirty="0">
              <a:solidFill>
                <a:schemeClr val="tx1">
                  <a:lumMod val="75000"/>
                  <a:lumOff val="25000"/>
                </a:schemeClr>
              </a:solidFill>
              <a:latin typeface="Consolas" panose="020B0609020204030204" pitchFamily="49" charset="0"/>
            </a:endParaRPr>
          </a:p>
        </p:txBody>
      </p:sp>
      <p:sp>
        <p:nvSpPr>
          <p:cNvPr id="88" name="Rectangle 17">
            <a:extLst>
              <a:ext uri="{FF2B5EF4-FFF2-40B4-BE49-F238E27FC236}">
                <a16:creationId xmlns:a16="http://schemas.microsoft.com/office/drawing/2014/main" id="{8DB9A174-686B-A900-5557-73E71351C427}"/>
              </a:ext>
            </a:extLst>
          </p:cNvPr>
          <p:cNvSpPr>
            <a:spLocks noChangeArrowheads="1"/>
          </p:cNvSpPr>
          <p:nvPr/>
        </p:nvSpPr>
        <p:spPr bwMode="auto">
          <a:xfrm>
            <a:off x="1151962" y="5229020"/>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75000"/>
                    <a:lumOff val="25000"/>
                  </a:schemeClr>
                </a:solidFill>
                <a:latin typeface="Consolas" panose="020B0609020204030204" pitchFamily="49" charset="0"/>
              </a:rPr>
              <a:t>x29</a:t>
            </a:r>
            <a:endParaRPr lang="ja-JP" altLang="en-US" sz="1600" dirty="0">
              <a:solidFill>
                <a:schemeClr val="tx1">
                  <a:lumMod val="75000"/>
                  <a:lumOff val="25000"/>
                </a:schemeClr>
              </a:solidFill>
              <a:latin typeface="Consolas" panose="020B0609020204030204" pitchFamily="49" charset="0"/>
            </a:endParaRPr>
          </a:p>
        </p:txBody>
      </p:sp>
      <p:sp>
        <p:nvSpPr>
          <p:cNvPr id="89" name="Rectangle 17">
            <a:extLst>
              <a:ext uri="{FF2B5EF4-FFF2-40B4-BE49-F238E27FC236}">
                <a16:creationId xmlns:a16="http://schemas.microsoft.com/office/drawing/2014/main" id="{4A3A6CC2-6903-376C-1DF0-EDBDAA77EEFC}"/>
              </a:ext>
            </a:extLst>
          </p:cNvPr>
          <p:cNvSpPr>
            <a:spLocks noChangeArrowheads="1"/>
          </p:cNvSpPr>
          <p:nvPr/>
        </p:nvSpPr>
        <p:spPr bwMode="auto">
          <a:xfrm>
            <a:off x="1151962" y="4869016"/>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75000"/>
                    <a:lumOff val="25000"/>
                  </a:schemeClr>
                </a:solidFill>
                <a:latin typeface="Consolas" panose="020B0609020204030204" pitchFamily="49" charset="0"/>
              </a:rPr>
              <a:t>x28</a:t>
            </a:r>
            <a:endParaRPr lang="ja-JP" altLang="en-US" sz="1600" dirty="0">
              <a:solidFill>
                <a:schemeClr val="tx1">
                  <a:lumMod val="75000"/>
                  <a:lumOff val="25000"/>
                </a:schemeClr>
              </a:solidFill>
              <a:latin typeface="Consolas" panose="020B0609020204030204" pitchFamily="49" charset="0"/>
            </a:endParaRPr>
          </a:p>
        </p:txBody>
      </p:sp>
      <p:sp>
        <p:nvSpPr>
          <p:cNvPr id="90" name="Rectangle 17">
            <a:extLst>
              <a:ext uri="{FF2B5EF4-FFF2-40B4-BE49-F238E27FC236}">
                <a16:creationId xmlns:a16="http://schemas.microsoft.com/office/drawing/2014/main" id="{BA929625-38A3-43DC-7476-737D4DFF8023}"/>
              </a:ext>
            </a:extLst>
          </p:cNvPr>
          <p:cNvSpPr>
            <a:spLocks noChangeArrowheads="1"/>
          </p:cNvSpPr>
          <p:nvPr/>
        </p:nvSpPr>
        <p:spPr bwMode="auto">
          <a:xfrm>
            <a:off x="1151962" y="4509012"/>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75000"/>
                    <a:lumOff val="25000"/>
                  </a:schemeClr>
                </a:solidFill>
                <a:latin typeface="Consolas" panose="020B0609020204030204" pitchFamily="49" charset="0"/>
              </a:rPr>
              <a:t>...</a:t>
            </a:r>
            <a:endParaRPr lang="ja-JP" altLang="en-US" sz="1600" dirty="0">
              <a:solidFill>
                <a:schemeClr val="tx1">
                  <a:lumMod val="75000"/>
                  <a:lumOff val="25000"/>
                </a:schemeClr>
              </a:solidFill>
              <a:latin typeface="Consolas" panose="020B0609020204030204" pitchFamily="49" charset="0"/>
            </a:endParaRPr>
          </a:p>
        </p:txBody>
      </p:sp>
      <p:sp>
        <p:nvSpPr>
          <p:cNvPr id="106" name="正方形/長方形 105">
            <a:extLst>
              <a:ext uri="{FF2B5EF4-FFF2-40B4-BE49-F238E27FC236}">
                <a16:creationId xmlns:a16="http://schemas.microsoft.com/office/drawing/2014/main" id="{2FA82773-4D9F-46A1-17DB-DB2AFA432A90}"/>
              </a:ext>
            </a:extLst>
          </p:cNvPr>
          <p:cNvSpPr/>
          <p:nvPr/>
        </p:nvSpPr>
        <p:spPr bwMode="auto">
          <a:xfrm>
            <a:off x="3851992" y="1268976"/>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lumMod val="75000"/>
                    <a:lumOff val="25000"/>
                  </a:schemeClr>
                </a:solidFill>
                <a:latin typeface="メイリオ" panose="020B0604030504040204" pitchFamily="50" charset="-128"/>
                <a:ea typeface="メイリオ" panose="020B0604030504040204" pitchFamily="50" charset="-128"/>
              </a:rPr>
              <a:t>PC</a:t>
            </a:r>
          </a:p>
          <a:p>
            <a:pPr algn="ctr"/>
            <a:r>
              <a:rPr kumimoji="1" lang="en-US" altLang="ja-JP" dirty="0">
                <a:solidFill>
                  <a:schemeClr val="tx1">
                    <a:lumMod val="75000"/>
                    <a:lumOff val="25000"/>
                  </a:schemeClr>
                </a:solidFill>
                <a:latin typeface="メイリオ" panose="020B0604030504040204" pitchFamily="50" charset="-128"/>
                <a:ea typeface="メイリオ" panose="020B0604030504040204" pitchFamily="50" charset="-128"/>
              </a:rPr>
              <a:t>(32bit)</a:t>
            </a: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107" name="直線矢印コネクタ 106">
            <a:extLst>
              <a:ext uri="{FF2B5EF4-FFF2-40B4-BE49-F238E27FC236}">
                <a16:creationId xmlns:a16="http://schemas.microsoft.com/office/drawing/2014/main" id="{A24AFEB2-8485-F50A-7CC1-FF201A4EAF8C}"/>
              </a:ext>
            </a:extLst>
          </p:cNvPr>
          <p:cNvCxnSpPr/>
          <p:nvPr/>
        </p:nvCxnSpPr>
        <p:spPr bwMode="auto">
          <a:xfrm>
            <a:off x="3851992" y="1898983"/>
            <a:ext cx="1440016" cy="0"/>
          </a:xfrm>
          <a:prstGeom prst="straightConnector1">
            <a:avLst/>
          </a:prstGeom>
          <a:noFill/>
          <a:ln w="9525" cap="flat" cmpd="sng" algn="ctr">
            <a:solidFill>
              <a:schemeClr val="tx1"/>
            </a:solidFill>
            <a:prstDash val="solid"/>
            <a:round/>
            <a:headEnd type="triangle" w="med" len="med"/>
            <a:tailEnd type="triangle"/>
          </a:ln>
          <a:effectLst/>
        </p:spPr>
      </p:cxnSp>
      <p:cxnSp>
        <p:nvCxnSpPr>
          <p:cNvPr id="109" name="直線矢印コネクタ 108">
            <a:extLst>
              <a:ext uri="{FF2B5EF4-FFF2-40B4-BE49-F238E27FC236}">
                <a16:creationId xmlns:a16="http://schemas.microsoft.com/office/drawing/2014/main" id="{9DC185C8-0178-CBD2-1064-60A814481464}"/>
              </a:ext>
            </a:extLst>
          </p:cNvPr>
          <p:cNvCxnSpPr>
            <a:cxnSpLocks/>
          </p:cNvCxnSpPr>
          <p:nvPr/>
        </p:nvCxnSpPr>
        <p:spPr bwMode="auto">
          <a:xfrm>
            <a:off x="1061961" y="2078985"/>
            <a:ext cx="0" cy="4230047"/>
          </a:xfrm>
          <a:prstGeom prst="straightConnector1">
            <a:avLst/>
          </a:prstGeom>
          <a:noFill/>
          <a:ln w="9525" cap="flat" cmpd="sng" algn="ctr">
            <a:solidFill>
              <a:schemeClr val="tx1"/>
            </a:solidFill>
            <a:prstDash val="solid"/>
            <a:round/>
            <a:headEnd type="triangle" w="med" len="med"/>
            <a:tailEnd type="triangle"/>
          </a:ln>
          <a:effectLst/>
        </p:spPr>
      </p:cxnSp>
      <p:sp>
        <p:nvSpPr>
          <p:cNvPr id="112" name="正方形/長方形 111">
            <a:extLst>
              <a:ext uri="{FF2B5EF4-FFF2-40B4-BE49-F238E27FC236}">
                <a16:creationId xmlns:a16="http://schemas.microsoft.com/office/drawing/2014/main" id="{9597F034-DBD1-0906-8C3A-CE189F5EAD77}"/>
              </a:ext>
            </a:extLst>
          </p:cNvPr>
          <p:cNvSpPr/>
          <p:nvPr/>
        </p:nvSpPr>
        <p:spPr bwMode="auto">
          <a:xfrm rot="16200000">
            <a:off x="161951" y="3969006"/>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lumMod val="75000"/>
                    <a:lumOff val="25000"/>
                  </a:schemeClr>
                </a:solidFill>
                <a:latin typeface="メイリオ" panose="020B0604030504040204" pitchFamily="50" charset="-128"/>
                <a:ea typeface="メイリオ" panose="020B0604030504040204" pitchFamily="50" charset="-128"/>
              </a:rPr>
              <a:t>32</a:t>
            </a:r>
            <a:r>
              <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rPr>
              <a:t>個ある</a:t>
            </a:r>
          </a:p>
        </p:txBody>
      </p:sp>
      <p:sp>
        <p:nvSpPr>
          <p:cNvPr id="122" name="正方形/長方形 121">
            <a:extLst>
              <a:ext uri="{FF2B5EF4-FFF2-40B4-BE49-F238E27FC236}">
                <a16:creationId xmlns:a16="http://schemas.microsoft.com/office/drawing/2014/main" id="{B59D6278-BAAC-33E9-E6CA-717A954CFB15}"/>
              </a:ext>
            </a:extLst>
          </p:cNvPr>
          <p:cNvSpPr/>
          <p:nvPr/>
        </p:nvSpPr>
        <p:spPr bwMode="auto">
          <a:xfrm>
            <a:off x="7092028" y="126897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lumMod val="75000"/>
                    <a:lumOff val="25000"/>
                  </a:schemeClr>
                </a:solidFill>
                <a:latin typeface="メイリオ" panose="020B0604030504040204" pitchFamily="50" charset="-128"/>
                <a:ea typeface="メイリオ" panose="020B0604030504040204" pitchFamily="50" charset="-128"/>
              </a:rPr>
              <a:t>…</a:t>
            </a:r>
            <a:endParaRPr kumimoji="1"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25" name="正方形/長方形 124">
            <a:extLst>
              <a:ext uri="{FF2B5EF4-FFF2-40B4-BE49-F238E27FC236}">
                <a16:creationId xmlns:a16="http://schemas.microsoft.com/office/drawing/2014/main" id="{D470EF33-CF03-5F08-AE5B-679C047DCA66}"/>
              </a:ext>
            </a:extLst>
          </p:cNvPr>
          <p:cNvSpPr/>
          <p:nvPr/>
        </p:nvSpPr>
        <p:spPr bwMode="auto">
          <a:xfrm>
            <a:off x="1691968" y="2708992"/>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ja-JP" dirty="0">
                <a:solidFill>
                  <a:schemeClr val="bg1"/>
                </a:solidFill>
                <a:latin typeface="メイリオ" panose="020B0604030504040204" pitchFamily="50" charset="-128"/>
                <a:ea typeface="メイリオ" panose="020B0604030504040204" pitchFamily="50" charset="-128"/>
              </a:rPr>
              <a:t>…</a:t>
            </a:r>
            <a:endParaRPr kumimoji="1" lang="ja-JP" altLang="en-US" b="1" dirty="0">
              <a:solidFill>
                <a:schemeClr val="bg1"/>
              </a:solidFill>
              <a:latin typeface="Consolas" panose="020B0609020204030204" pitchFamily="49" charset="0"/>
              <a:ea typeface="メイリオ" panose="020B0604030504040204" pitchFamily="50" charset="-128"/>
            </a:endParaRPr>
          </a:p>
        </p:txBody>
      </p:sp>
      <p:sp>
        <p:nvSpPr>
          <p:cNvPr id="126" name="正方形/長方形 125">
            <a:extLst>
              <a:ext uri="{FF2B5EF4-FFF2-40B4-BE49-F238E27FC236}">
                <a16:creationId xmlns:a16="http://schemas.microsoft.com/office/drawing/2014/main" id="{5C18D111-47A0-B5B6-2F49-E6AE0D26EE42}"/>
              </a:ext>
            </a:extLst>
          </p:cNvPr>
          <p:cNvSpPr/>
          <p:nvPr/>
        </p:nvSpPr>
        <p:spPr bwMode="auto">
          <a:xfrm>
            <a:off x="1691968" y="3068996"/>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en-US" altLang="ja-JP" dirty="0">
                <a:solidFill>
                  <a:schemeClr val="bg1"/>
                </a:solidFill>
                <a:latin typeface="メイリオ" panose="020B0604030504040204" pitchFamily="50" charset="-128"/>
                <a:ea typeface="メイリオ" panose="020B0604030504040204" pitchFamily="50" charset="-128"/>
              </a:rPr>
              <a:t>…</a:t>
            </a:r>
            <a:endParaRPr kumimoji="1" lang="ja-JP" altLang="en-US" dirty="0">
              <a:solidFill>
                <a:schemeClr val="bg1"/>
              </a:solidFill>
              <a:latin typeface="メイリオ" panose="020B0604030504040204" pitchFamily="50" charset="-128"/>
              <a:ea typeface="メイリオ" panose="020B0604030504040204" pitchFamily="50" charset="-128"/>
            </a:endParaRPr>
          </a:p>
        </p:txBody>
      </p:sp>
      <p:sp>
        <p:nvSpPr>
          <p:cNvPr id="127" name="正方形/長方形 126">
            <a:extLst>
              <a:ext uri="{FF2B5EF4-FFF2-40B4-BE49-F238E27FC236}">
                <a16:creationId xmlns:a16="http://schemas.microsoft.com/office/drawing/2014/main" id="{8F75B599-D31F-B9A5-DAEE-CB6BAD0AD60C}"/>
              </a:ext>
            </a:extLst>
          </p:cNvPr>
          <p:cNvSpPr/>
          <p:nvPr/>
        </p:nvSpPr>
        <p:spPr bwMode="auto">
          <a:xfrm>
            <a:off x="1691968" y="1988984"/>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en-US" altLang="ja-JP" dirty="0">
                <a:solidFill>
                  <a:schemeClr val="bg1"/>
                </a:solidFill>
                <a:latin typeface="Consolas" panose="020B0609020204030204" pitchFamily="49" charset="0"/>
                <a:ea typeface="メイリオ" panose="020B0604030504040204" pitchFamily="50" charset="-128"/>
              </a:rPr>
              <a:t>0x00000000</a:t>
            </a:r>
            <a:endParaRPr kumimoji="1" lang="ja-JP" altLang="en-US" dirty="0">
              <a:solidFill>
                <a:schemeClr val="bg1"/>
              </a:solidFill>
              <a:latin typeface="Consolas" panose="020B0609020204030204" pitchFamily="49" charset="0"/>
              <a:ea typeface="メイリオ" panose="020B0604030504040204" pitchFamily="50" charset="-128"/>
            </a:endParaRPr>
          </a:p>
        </p:txBody>
      </p:sp>
      <p:sp>
        <p:nvSpPr>
          <p:cNvPr id="128" name="正方形/長方形 127">
            <a:extLst>
              <a:ext uri="{FF2B5EF4-FFF2-40B4-BE49-F238E27FC236}">
                <a16:creationId xmlns:a16="http://schemas.microsoft.com/office/drawing/2014/main" id="{573807B5-F8EF-4542-5BD4-9782E87167BD}"/>
              </a:ext>
            </a:extLst>
          </p:cNvPr>
          <p:cNvSpPr/>
          <p:nvPr/>
        </p:nvSpPr>
        <p:spPr bwMode="auto">
          <a:xfrm>
            <a:off x="1691968" y="2348988"/>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en-US" altLang="ja-JP" dirty="0">
                <a:solidFill>
                  <a:schemeClr val="bg1"/>
                </a:solidFill>
                <a:latin typeface="メイリオ" panose="020B0604030504040204" pitchFamily="50" charset="-128"/>
                <a:ea typeface="メイリオ" panose="020B0604030504040204" pitchFamily="50" charset="-128"/>
              </a:rPr>
              <a:t>…</a:t>
            </a:r>
            <a:endParaRPr kumimoji="1" lang="ja-JP" altLang="en-US" dirty="0">
              <a:solidFill>
                <a:schemeClr val="bg1"/>
              </a:solidFill>
              <a:latin typeface="メイリオ" panose="020B0604030504040204" pitchFamily="50" charset="-128"/>
              <a:ea typeface="メイリオ" panose="020B0604030504040204" pitchFamily="50" charset="-128"/>
            </a:endParaRPr>
          </a:p>
        </p:txBody>
      </p:sp>
      <p:sp>
        <p:nvSpPr>
          <p:cNvPr id="129" name="正方形/長方形 128">
            <a:extLst>
              <a:ext uri="{FF2B5EF4-FFF2-40B4-BE49-F238E27FC236}">
                <a16:creationId xmlns:a16="http://schemas.microsoft.com/office/drawing/2014/main" id="{88E51031-10EB-82E9-5A36-16899ADD4755}"/>
              </a:ext>
            </a:extLst>
          </p:cNvPr>
          <p:cNvSpPr/>
          <p:nvPr/>
        </p:nvSpPr>
        <p:spPr bwMode="auto">
          <a:xfrm>
            <a:off x="1691968" y="3429000"/>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en-US" altLang="ja-JP" dirty="0">
                <a:solidFill>
                  <a:schemeClr val="bg1"/>
                </a:solidFill>
                <a:latin typeface="メイリオ" panose="020B0604030504040204" pitchFamily="50" charset="-128"/>
                <a:ea typeface="メイリオ" panose="020B0604030504040204" pitchFamily="50" charset="-128"/>
              </a:rPr>
              <a:t>…</a:t>
            </a:r>
            <a:endParaRPr kumimoji="1" lang="ja-JP" altLang="en-US"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05670341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組み合わせ回路</a:t>
            </a:r>
            <a:r>
              <a:rPr lang="en-US" altLang="ja-JP" dirty="0"/>
              <a:t>/</a:t>
            </a:r>
            <a:r>
              <a:rPr kumimoji="1" lang="ja-JP" altLang="en-US" dirty="0"/>
              <a:t>順序回路</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dirty="0"/>
              <a:t>組み合わせ回路</a:t>
            </a:r>
            <a:endParaRPr kumimoji="1" lang="en-US" altLang="ja-JP" dirty="0"/>
          </a:p>
          <a:p>
            <a:pPr lvl="1"/>
            <a:r>
              <a:rPr lang="ja-JP" altLang="en-US" dirty="0"/>
              <a:t>出力が，現在の入力のみにより決定される論理回路</a:t>
            </a:r>
            <a:endParaRPr lang="en-US" altLang="ja-JP" dirty="0"/>
          </a:p>
          <a:p>
            <a:pPr marL="457200" indent="-457200">
              <a:buFont typeface="+mj-lt"/>
              <a:buAutoNum type="arabicPeriod"/>
            </a:pPr>
            <a:r>
              <a:rPr kumimoji="1" lang="ja-JP" altLang="en-US" dirty="0"/>
              <a:t>順序回路</a:t>
            </a:r>
            <a:endParaRPr kumimoji="1" lang="en-US" altLang="ja-JP" dirty="0"/>
          </a:p>
          <a:p>
            <a:pPr lvl="1"/>
            <a:r>
              <a:rPr kumimoji="1" lang="ja-JP" altLang="en-US" dirty="0"/>
              <a:t>出力が，過去の入力（の履歴）にも依存する</a:t>
            </a:r>
            <a:r>
              <a:rPr lang="ja-JP" altLang="en-US" dirty="0"/>
              <a:t>論理回路</a:t>
            </a:r>
            <a:endParaRPr kumimoji="1" lang="ja-JP" altLang="en-US" dirty="0"/>
          </a:p>
          <a:p>
            <a:r>
              <a:rPr kumimoji="1" lang="ja-JP" altLang="en-US" dirty="0"/>
              <a:t>任意の組み合わせ回路</a:t>
            </a:r>
            <a:r>
              <a:rPr kumimoji="1" lang="en-US" altLang="ja-JP" dirty="0"/>
              <a:t>/</a:t>
            </a:r>
            <a:r>
              <a:rPr kumimoji="1" lang="ja-JP" altLang="en-US" dirty="0"/>
              <a:t>順序回路は，</a:t>
            </a:r>
            <a:endParaRPr kumimoji="1" lang="en-US" altLang="ja-JP" dirty="0"/>
          </a:p>
          <a:p>
            <a:pPr lvl="1"/>
            <a:r>
              <a:rPr lang="ja-JP" altLang="en-US" dirty="0"/>
              <a:t>原理的には，完全集合の要素の組み合わせに落とし込める</a:t>
            </a:r>
            <a:endParaRPr lang="en-US" altLang="ja-JP" dirty="0"/>
          </a:p>
          <a:p>
            <a:pPr lvl="1"/>
            <a:r>
              <a:rPr kumimoji="1" lang="ja-JP" altLang="en-US" dirty="0"/>
              <a:t>たとえば </a:t>
            </a:r>
            <a:r>
              <a:rPr kumimoji="1" lang="en-US" altLang="ja-JP" dirty="0"/>
              <a:t>{AND, OR, NOT} </a:t>
            </a:r>
            <a:r>
              <a:rPr kumimoji="1" lang="ja-JP" altLang="en-US" dirty="0"/>
              <a:t>を組み合わせれば，全部つくれる</a:t>
            </a:r>
            <a:endParaRPr kumimoji="1" lang="en-US" altLang="ja-JP" dirty="0"/>
          </a:p>
        </p:txBody>
      </p:sp>
    </p:spTree>
    <p:extLst>
      <p:ext uri="{BB962C8B-B14F-4D97-AF65-F5344CB8AC3E}">
        <p14:creationId xmlns:p14="http://schemas.microsoft.com/office/powerpoint/2010/main" val="133826537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kumimoji="1" lang="ja-JP" altLang="en-US" b="1" dirty="0"/>
              <a:t>論理回路の実現方法</a:t>
            </a:r>
          </a:p>
        </p:txBody>
      </p:sp>
    </p:spTree>
    <p:extLst>
      <p:ext uri="{BB962C8B-B14F-4D97-AF65-F5344CB8AC3E}">
        <p14:creationId xmlns:p14="http://schemas.microsoft.com/office/powerpoint/2010/main" val="26026579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91361CE4-9EAB-F0C5-DD8A-6252E76AEA52}"/>
              </a:ext>
            </a:extLst>
          </p:cNvPr>
          <p:cNvSpPr>
            <a:spLocks noGrp="1"/>
          </p:cNvSpPr>
          <p:nvPr>
            <p:ph type="title"/>
          </p:nvPr>
        </p:nvSpPr>
        <p:spPr/>
        <p:txBody>
          <a:bodyPr/>
          <a:lstStyle/>
          <a:p>
            <a:r>
              <a:rPr lang="ja-JP" altLang="en-US" dirty="0"/>
              <a:t>論理回路の作り方</a:t>
            </a:r>
            <a:endParaRPr lang="en-US" dirty="0"/>
          </a:p>
        </p:txBody>
      </p:sp>
      <p:sp>
        <p:nvSpPr>
          <p:cNvPr id="5" name="コンテンツ プレースホルダー 4">
            <a:extLst>
              <a:ext uri="{FF2B5EF4-FFF2-40B4-BE49-F238E27FC236}">
                <a16:creationId xmlns:a16="http://schemas.microsoft.com/office/drawing/2014/main" id="{15A3C09D-6661-C4DB-AFC5-2E4B40A8A822}"/>
              </a:ext>
            </a:extLst>
          </p:cNvPr>
          <p:cNvSpPr>
            <a:spLocks noGrp="1"/>
          </p:cNvSpPr>
          <p:nvPr>
            <p:ph sz="quarter" idx="10"/>
          </p:nvPr>
        </p:nvSpPr>
        <p:spPr/>
        <p:txBody>
          <a:bodyPr/>
          <a:lstStyle/>
          <a:p>
            <a:r>
              <a:rPr lang="ja-JP" altLang="en-US" dirty="0"/>
              <a:t>前回の内容：</a:t>
            </a:r>
            <a:endParaRPr lang="en-US" altLang="ja-JP" dirty="0"/>
          </a:p>
          <a:p>
            <a:pPr lvl="1"/>
            <a:r>
              <a:rPr lang="en-US" altLang="ja-JP" dirty="0"/>
              <a:t>AND</a:t>
            </a:r>
            <a:r>
              <a:rPr lang="ja-JP" altLang="en-US" dirty="0"/>
              <a:t>，</a:t>
            </a:r>
            <a:r>
              <a:rPr lang="en-US" altLang="ja-JP" dirty="0"/>
              <a:t>OR</a:t>
            </a:r>
            <a:r>
              <a:rPr lang="ja-JP" altLang="en-US" dirty="0"/>
              <a:t>，</a:t>
            </a:r>
            <a:r>
              <a:rPr lang="en-US" altLang="ja-JP" dirty="0"/>
              <a:t>NOT </a:t>
            </a:r>
            <a:r>
              <a:rPr lang="ja-JP" altLang="en-US" dirty="0"/>
              <a:t>があれば，どんな論理回路も作れる</a:t>
            </a:r>
            <a:endParaRPr lang="en-US" altLang="ja-JP" dirty="0"/>
          </a:p>
          <a:p>
            <a:pPr lvl="2"/>
            <a:r>
              <a:rPr lang="ja-JP" altLang="en-US" dirty="0"/>
              <a:t>組み合わせ回路も順序回路も</a:t>
            </a:r>
            <a:endParaRPr lang="en-US" altLang="ja-JP" dirty="0"/>
          </a:p>
          <a:p>
            <a:pPr lvl="1"/>
            <a:r>
              <a:rPr lang="en-US" altLang="ja-JP" dirty="0"/>
              <a:t>CPU </a:t>
            </a:r>
            <a:r>
              <a:rPr lang="ja-JP" altLang="en-US" dirty="0"/>
              <a:t>を構成する演算器や </a:t>
            </a:r>
            <a:r>
              <a:rPr lang="en-US" altLang="ja-JP" dirty="0"/>
              <a:t>PC</a:t>
            </a:r>
            <a:r>
              <a:rPr lang="ja-JP" altLang="en-US" dirty="0"/>
              <a:t>，レジスタ，メモリも作れる</a:t>
            </a:r>
            <a:endParaRPr lang="en-US" altLang="ja-JP" dirty="0"/>
          </a:p>
          <a:p>
            <a:pPr lvl="2"/>
            <a:r>
              <a:rPr lang="ja-JP" altLang="en-US" dirty="0"/>
              <a:t>具体的な作り方の例をそれぞれ説明</a:t>
            </a:r>
            <a:endParaRPr lang="en-US" altLang="ja-JP" dirty="0"/>
          </a:p>
        </p:txBody>
      </p:sp>
      <p:sp>
        <p:nvSpPr>
          <p:cNvPr id="2" name="スライド番号プレースホルダー 1">
            <a:extLst>
              <a:ext uri="{FF2B5EF4-FFF2-40B4-BE49-F238E27FC236}">
                <a16:creationId xmlns:a16="http://schemas.microsoft.com/office/drawing/2014/main" id="{86E75ED9-9714-8D0C-7D92-88EC46D2B5F0}"/>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11</a:t>
            </a:fld>
            <a:endParaRPr kumimoji="1" lang="ja-JP" altLang="en-US"/>
          </a:p>
        </p:txBody>
      </p:sp>
    </p:spTree>
    <p:extLst>
      <p:ext uri="{BB962C8B-B14F-4D97-AF65-F5344CB8AC3E}">
        <p14:creationId xmlns:p14="http://schemas.microsoft.com/office/powerpoint/2010/main" val="35974522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91361CE4-9EAB-F0C5-DD8A-6252E76AEA52}"/>
              </a:ext>
            </a:extLst>
          </p:cNvPr>
          <p:cNvSpPr>
            <a:spLocks noGrp="1"/>
          </p:cNvSpPr>
          <p:nvPr>
            <p:ph type="title"/>
          </p:nvPr>
        </p:nvSpPr>
        <p:spPr/>
        <p:txBody>
          <a:bodyPr/>
          <a:lstStyle/>
          <a:p>
            <a:r>
              <a:rPr lang="ja-JP" altLang="en-US" dirty="0"/>
              <a:t>論理回路の作り方</a:t>
            </a:r>
            <a:endParaRPr lang="en-US" dirty="0"/>
          </a:p>
        </p:txBody>
      </p:sp>
      <p:sp>
        <p:nvSpPr>
          <p:cNvPr id="5" name="コンテンツ プレースホルダー 4">
            <a:extLst>
              <a:ext uri="{FF2B5EF4-FFF2-40B4-BE49-F238E27FC236}">
                <a16:creationId xmlns:a16="http://schemas.microsoft.com/office/drawing/2014/main" id="{15A3C09D-6661-C4DB-AFC5-2E4B40A8A822}"/>
              </a:ext>
            </a:extLst>
          </p:cNvPr>
          <p:cNvSpPr>
            <a:spLocks noGrp="1"/>
          </p:cNvSpPr>
          <p:nvPr>
            <p:ph sz="quarter" idx="10"/>
          </p:nvPr>
        </p:nvSpPr>
        <p:spPr/>
        <p:txBody>
          <a:bodyPr/>
          <a:lstStyle/>
          <a:p>
            <a:r>
              <a:rPr lang="ja-JP" altLang="en-US" dirty="0"/>
              <a:t>今回の内容：</a:t>
            </a:r>
            <a:endParaRPr lang="en-US" altLang="ja-JP" dirty="0"/>
          </a:p>
          <a:p>
            <a:pPr lvl="1"/>
            <a:r>
              <a:rPr lang="ja-JP" altLang="en-US" dirty="0">
                <a:solidFill>
                  <a:schemeClr val="accent6"/>
                </a:solidFill>
              </a:rPr>
              <a:t>ゲート回路：</a:t>
            </a:r>
            <a:r>
              <a:rPr lang="en-US" altLang="ja-JP" dirty="0">
                <a:solidFill>
                  <a:schemeClr val="accent6"/>
                </a:solidFill>
              </a:rPr>
              <a:t>AND </a:t>
            </a:r>
            <a:r>
              <a:rPr lang="ja-JP" altLang="en-US" dirty="0">
                <a:solidFill>
                  <a:schemeClr val="accent6"/>
                </a:solidFill>
              </a:rPr>
              <a:t>や </a:t>
            </a:r>
            <a:r>
              <a:rPr lang="en-US" altLang="ja-JP" dirty="0">
                <a:solidFill>
                  <a:schemeClr val="accent6"/>
                </a:solidFill>
              </a:rPr>
              <a:t>OR </a:t>
            </a:r>
            <a:r>
              <a:rPr lang="ja-JP" altLang="en-US" dirty="0">
                <a:solidFill>
                  <a:schemeClr val="accent6"/>
                </a:solidFill>
              </a:rPr>
              <a:t>のような論理関数を実現した回路</a:t>
            </a:r>
            <a:endParaRPr lang="en-US" altLang="ja-JP" dirty="0">
              <a:solidFill>
                <a:schemeClr val="accent6"/>
              </a:solidFill>
            </a:endParaRPr>
          </a:p>
          <a:p>
            <a:pPr lvl="2"/>
            <a:r>
              <a:rPr lang="ja-JP" altLang="en-US" dirty="0"/>
              <a:t>この名前は門を開けたり閉めたりすることから来ているはず</a:t>
            </a:r>
            <a:endParaRPr lang="en-US" altLang="ja-JP" dirty="0"/>
          </a:p>
          <a:p>
            <a:pPr lvl="2"/>
            <a:r>
              <a:rPr lang="ja-JP" altLang="en-US" dirty="0"/>
              <a:t>略してゲートとも言う</a:t>
            </a:r>
            <a:endParaRPr lang="en-US" altLang="ja-JP" dirty="0"/>
          </a:p>
          <a:p>
            <a:pPr lvl="1"/>
            <a:r>
              <a:rPr lang="ja-JP" altLang="en-US" dirty="0"/>
              <a:t>ゲート回路はどのように作るのか？</a:t>
            </a:r>
            <a:endParaRPr lang="en-US" altLang="ja-JP" dirty="0"/>
          </a:p>
          <a:p>
            <a:pPr lvl="1"/>
            <a:r>
              <a:rPr lang="ja-JP" altLang="en-US" dirty="0"/>
              <a:t>それらのゲート回路の「遅延」や「消費電力」とは何なのか？</a:t>
            </a:r>
            <a:endParaRPr lang="en-US" altLang="ja-JP" dirty="0"/>
          </a:p>
          <a:p>
            <a:pPr lvl="2"/>
            <a:r>
              <a:rPr lang="ja-JP" altLang="en-US" dirty="0"/>
              <a:t>（なぜ物理的実体のない情報を扱っているのに時間や電力がかかるのか？</a:t>
            </a:r>
            <a:endParaRPr lang="en-US" altLang="ja-JP" dirty="0"/>
          </a:p>
        </p:txBody>
      </p:sp>
      <p:sp>
        <p:nvSpPr>
          <p:cNvPr id="2" name="スライド番号プレースホルダー 1">
            <a:extLst>
              <a:ext uri="{FF2B5EF4-FFF2-40B4-BE49-F238E27FC236}">
                <a16:creationId xmlns:a16="http://schemas.microsoft.com/office/drawing/2014/main" id="{86E75ED9-9714-8D0C-7D92-88EC46D2B5F0}"/>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12</a:t>
            </a:fld>
            <a:endParaRPr kumimoji="1" lang="ja-JP" altLang="en-US"/>
          </a:p>
        </p:txBody>
      </p:sp>
    </p:spTree>
    <p:extLst>
      <p:ext uri="{BB962C8B-B14F-4D97-AF65-F5344CB8AC3E}">
        <p14:creationId xmlns:p14="http://schemas.microsoft.com/office/powerpoint/2010/main" val="11607265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A584331-3D9C-C512-2846-D6A40BDAB0DC}"/>
              </a:ext>
            </a:extLst>
          </p:cNvPr>
          <p:cNvSpPr>
            <a:spLocks noGrp="1"/>
          </p:cNvSpPr>
          <p:nvPr>
            <p:ph type="title"/>
          </p:nvPr>
        </p:nvSpPr>
        <p:spPr/>
        <p:txBody>
          <a:bodyPr/>
          <a:lstStyle/>
          <a:p>
            <a:r>
              <a:rPr kumimoji="1" lang="ja-JP" altLang="en-US" dirty="0"/>
              <a:t>論理回路の作り方</a:t>
            </a:r>
            <a:endParaRPr kumimoji="1" lang="en-US" dirty="0"/>
          </a:p>
        </p:txBody>
      </p:sp>
      <p:sp>
        <p:nvSpPr>
          <p:cNvPr id="3" name="コンテンツ プレースホルダー 2">
            <a:extLst>
              <a:ext uri="{FF2B5EF4-FFF2-40B4-BE49-F238E27FC236}">
                <a16:creationId xmlns:a16="http://schemas.microsoft.com/office/drawing/2014/main" id="{4CDF5B3C-F5EC-178A-5EAE-1A3A46827528}"/>
              </a:ext>
            </a:extLst>
          </p:cNvPr>
          <p:cNvSpPr>
            <a:spLocks noGrp="1"/>
          </p:cNvSpPr>
          <p:nvPr>
            <p:ph sz="quarter" idx="10"/>
          </p:nvPr>
        </p:nvSpPr>
        <p:spPr/>
        <p:txBody>
          <a:bodyPr/>
          <a:lstStyle/>
          <a:p>
            <a:r>
              <a:rPr kumimoji="1" lang="ja-JP" altLang="en-US" dirty="0"/>
              <a:t>以下のそれぞれの仕組みを使った回路を説明</a:t>
            </a:r>
            <a:endParaRPr kumimoji="1" lang="en-US" altLang="ja-JP" dirty="0"/>
          </a:p>
          <a:p>
            <a:pPr marL="817200" lvl="1" indent="-457200">
              <a:buFont typeface="+mj-lt"/>
              <a:buAutoNum type="arabicPeriod"/>
            </a:pPr>
            <a:r>
              <a:rPr kumimoji="1" lang="ja-JP" altLang="en-US" dirty="0"/>
              <a:t>リレー</a:t>
            </a:r>
            <a:endParaRPr kumimoji="1" lang="en-US" altLang="ja-JP" dirty="0"/>
          </a:p>
          <a:p>
            <a:pPr marL="817200" lvl="1" indent="-457200">
              <a:buFont typeface="+mj-lt"/>
              <a:buAutoNum type="arabicPeriod"/>
            </a:pPr>
            <a:r>
              <a:rPr kumimoji="1" lang="en-US" altLang="ja-JP" dirty="0"/>
              <a:t>CMOS</a:t>
            </a:r>
          </a:p>
          <a:p>
            <a:r>
              <a:rPr kumimoji="1" lang="ja-JP" altLang="en-US" dirty="0"/>
              <a:t>これらの論理的な動作は実はほぼ同じに作れる</a:t>
            </a:r>
            <a:endParaRPr kumimoji="1" lang="en-US" altLang="ja-JP" dirty="0"/>
          </a:p>
          <a:p>
            <a:pPr lvl="1"/>
            <a:r>
              <a:rPr kumimoji="1" lang="ja-JP" altLang="en-US" dirty="0"/>
              <a:t>リレーの方が直感的にわかりやすいのでこちらから説明</a:t>
            </a:r>
            <a:endParaRPr kumimoji="1" lang="en-US" altLang="ja-JP" dirty="0"/>
          </a:p>
          <a:p>
            <a:pPr lvl="1"/>
            <a:endParaRPr kumimoji="1" lang="en-US" altLang="ja-JP" dirty="0"/>
          </a:p>
          <a:p>
            <a:r>
              <a:rPr lang="ja-JP" altLang="en-US" sz="1600" dirty="0"/>
              <a:t>注意：</a:t>
            </a:r>
            <a:endParaRPr lang="en-US" altLang="ja-JP" sz="1600" dirty="0"/>
          </a:p>
          <a:p>
            <a:pPr lvl="1"/>
            <a:r>
              <a:rPr kumimoji="1" lang="ja-JP" altLang="en-US" sz="1600" dirty="0"/>
              <a:t>この資料で説明する，</a:t>
            </a:r>
            <a:r>
              <a:rPr lang="en-US" altLang="ja-JP" sz="1600" dirty="0"/>
              <a:t>N</a:t>
            </a:r>
            <a:r>
              <a:rPr lang="ja-JP" altLang="en-US" sz="1600" dirty="0"/>
              <a:t>型</a:t>
            </a:r>
            <a:r>
              <a:rPr lang="en-US" altLang="ja-JP" sz="1600" dirty="0"/>
              <a:t>/P</a:t>
            </a:r>
            <a:r>
              <a:rPr lang="ja-JP" altLang="en-US" sz="1600" dirty="0"/>
              <a:t>型 を使った</a:t>
            </a:r>
            <a:r>
              <a:rPr kumimoji="1" lang="ja-JP" altLang="en-US" sz="1600" dirty="0"/>
              <a:t>やり方は後の </a:t>
            </a:r>
            <a:r>
              <a:rPr kumimoji="1" lang="en-US" altLang="ja-JP" sz="1600" dirty="0"/>
              <a:t>CMOS</a:t>
            </a:r>
            <a:r>
              <a:rPr lang="ja-JP" altLang="en-US" sz="1600" dirty="0"/>
              <a:t> の説明をわかりすくするためのものです</a:t>
            </a:r>
            <a:endParaRPr lang="en-US" altLang="ja-JP" sz="1600" dirty="0"/>
          </a:p>
          <a:p>
            <a:pPr lvl="1"/>
            <a:r>
              <a:rPr lang="ja-JP" altLang="en-US" sz="1600" dirty="0"/>
              <a:t>実際に用いられていたリレー計算機ではもう少し効率の良い違う方法が使われていたと思う</a:t>
            </a:r>
            <a:endParaRPr kumimoji="1" lang="en-US" dirty="0"/>
          </a:p>
        </p:txBody>
      </p:sp>
    </p:spTree>
    <p:extLst>
      <p:ext uri="{BB962C8B-B14F-4D97-AF65-F5344CB8AC3E}">
        <p14:creationId xmlns:p14="http://schemas.microsoft.com/office/powerpoint/2010/main" val="35764159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3" name="矢印: 下 1062">
            <a:extLst>
              <a:ext uri="{FF2B5EF4-FFF2-40B4-BE49-F238E27FC236}">
                <a16:creationId xmlns:a16="http://schemas.microsoft.com/office/drawing/2014/main" id="{727B1A7E-A10C-40C9-2883-05D9818995C7}"/>
              </a:ext>
            </a:extLst>
          </p:cNvPr>
          <p:cNvSpPr/>
          <p:nvPr/>
        </p:nvSpPr>
        <p:spPr bwMode="auto">
          <a:xfrm>
            <a:off x="3941993" y="4689014"/>
            <a:ext cx="180002" cy="540006"/>
          </a:xfrm>
          <a:prstGeom prst="downArrow">
            <a:avLst/>
          </a:prstGeom>
          <a:solidFill>
            <a:schemeClr val="accent6">
              <a:lumMod val="20000"/>
              <a:lumOff val="80000"/>
            </a:schemeClr>
          </a:solidFill>
          <a:ln w="0">
            <a:solidFill>
              <a:schemeClr val="accent6"/>
            </a:solidFill>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 name="タイトル 1">
            <a:extLst>
              <a:ext uri="{FF2B5EF4-FFF2-40B4-BE49-F238E27FC236}">
                <a16:creationId xmlns:a16="http://schemas.microsoft.com/office/drawing/2014/main" id="{B260DA71-5786-74D4-1322-4A3B7426526B}"/>
              </a:ext>
            </a:extLst>
          </p:cNvPr>
          <p:cNvSpPr>
            <a:spLocks noGrp="1"/>
          </p:cNvSpPr>
          <p:nvPr>
            <p:ph type="title"/>
          </p:nvPr>
        </p:nvSpPr>
        <p:spPr/>
        <p:txBody>
          <a:bodyPr/>
          <a:lstStyle/>
          <a:p>
            <a:r>
              <a:rPr kumimoji="1" lang="ja-JP" altLang="en-US" dirty="0"/>
              <a:t>リレー（</a:t>
            </a:r>
            <a:r>
              <a:rPr kumimoji="1" lang="en-US" altLang="ja-JP" dirty="0"/>
              <a:t>Relay</a:t>
            </a:r>
            <a:r>
              <a:rPr kumimoji="1" lang="ja-JP" altLang="en-US" dirty="0"/>
              <a:t>）</a:t>
            </a:r>
            <a:endParaRPr kumimoji="1" lang="en-US" dirty="0"/>
          </a:p>
        </p:txBody>
      </p:sp>
      <p:sp>
        <p:nvSpPr>
          <p:cNvPr id="3" name="コンテンツ プレースホルダー 2">
            <a:extLst>
              <a:ext uri="{FF2B5EF4-FFF2-40B4-BE49-F238E27FC236}">
                <a16:creationId xmlns:a16="http://schemas.microsoft.com/office/drawing/2014/main" id="{789EAB7B-7810-7D56-9BAA-A40504D782AF}"/>
              </a:ext>
            </a:extLst>
          </p:cNvPr>
          <p:cNvSpPr>
            <a:spLocks noGrp="1"/>
          </p:cNvSpPr>
          <p:nvPr>
            <p:ph sz="quarter" idx="10"/>
          </p:nvPr>
        </p:nvSpPr>
        <p:spPr>
          <a:xfrm>
            <a:off x="611956" y="998973"/>
            <a:ext cx="8280092" cy="3420038"/>
          </a:xfrm>
        </p:spPr>
        <p:txBody>
          <a:bodyPr/>
          <a:lstStyle/>
          <a:p>
            <a:r>
              <a:rPr kumimoji="1" lang="ja-JP" altLang="en-US" dirty="0"/>
              <a:t>電気的に動作するスイッチ</a:t>
            </a:r>
            <a:endParaRPr kumimoji="1" lang="en-US" altLang="ja-JP" dirty="0"/>
          </a:p>
          <a:p>
            <a:pPr lvl="1"/>
            <a:r>
              <a:rPr kumimoji="1" lang="ja-JP" altLang="en-US" dirty="0"/>
              <a:t>もともとは長距離の電信の中継のために作られた･･･ らしい</a:t>
            </a:r>
            <a:endParaRPr kumimoji="1" lang="en-US" altLang="ja-JP" dirty="0"/>
          </a:p>
          <a:p>
            <a:r>
              <a:rPr kumimoji="1" lang="ja-JP" altLang="en-US" dirty="0"/>
              <a:t>以下の図のものの場合，</a:t>
            </a:r>
            <a:endParaRPr kumimoji="1" lang="en-US" altLang="ja-JP" dirty="0"/>
          </a:p>
          <a:p>
            <a:pPr marL="817200" lvl="1" indent="-457200">
              <a:buFont typeface="+mj-lt"/>
              <a:buAutoNum type="arabicPeriod"/>
            </a:pPr>
            <a:r>
              <a:rPr kumimoji="1" lang="ja-JP" altLang="en-US" dirty="0"/>
              <a:t>普段は電極部分がバネになっていて </a:t>
            </a:r>
            <a:r>
              <a:rPr kumimoji="1" lang="en-US" altLang="ja-JP" dirty="0"/>
              <a:t>OFF </a:t>
            </a:r>
            <a:r>
              <a:rPr kumimoji="1" lang="ja-JP" altLang="en-US" dirty="0"/>
              <a:t>になっている</a:t>
            </a:r>
            <a:endParaRPr kumimoji="1" lang="en-US" altLang="ja-JP" dirty="0"/>
          </a:p>
          <a:p>
            <a:pPr marL="817200" lvl="1" indent="-457200">
              <a:buFont typeface="+mj-lt"/>
              <a:buAutoNum type="arabicPeriod"/>
            </a:pPr>
            <a:r>
              <a:rPr kumimoji="1" lang="en-US" altLang="ja-JP" dirty="0"/>
              <a:t>G</a:t>
            </a:r>
            <a:r>
              <a:rPr kumimoji="1" lang="ja-JP" altLang="en-US" dirty="0"/>
              <a:t>～</a:t>
            </a:r>
            <a:r>
              <a:rPr kumimoji="1" lang="en-US" altLang="ja-JP" dirty="0"/>
              <a:t>B </a:t>
            </a:r>
            <a:r>
              <a:rPr kumimoji="1" lang="ja-JP" altLang="en-US" dirty="0"/>
              <a:t>間に電圧をかけると，</a:t>
            </a:r>
            <a:endParaRPr kumimoji="1" lang="en-US" altLang="ja-JP" dirty="0"/>
          </a:p>
          <a:p>
            <a:pPr marL="817200" lvl="1" indent="-457200">
              <a:buFont typeface="+mj-lt"/>
              <a:buAutoNum type="arabicPeriod"/>
            </a:pPr>
            <a:r>
              <a:rPr kumimoji="1" lang="ja-JP" altLang="en-US" dirty="0"/>
              <a:t>コイルが磁石となって，上の金属を引き寄せ，</a:t>
            </a:r>
            <a:endParaRPr kumimoji="1" lang="en-US" altLang="ja-JP" dirty="0"/>
          </a:p>
          <a:p>
            <a:pPr marL="817200" lvl="1" indent="-457200">
              <a:buFont typeface="+mj-lt"/>
              <a:buAutoNum type="arabicPeriod"/>
            </a:pPr>
            <a:r>
              <a:rPr kumimoji="1" lang="en-US" altLang="ja-JP" dirty="0"/>
              <a:t>S </a:t>
            </a:r>
            <a:r>
              <a:rPr kumimoji="1" lang="ja-JP" altLang="en-US" dirty="0"/>
              <a:t>に繋がっている端子が右に押し出されて，</a:t>
            </a:r>
            <a:endParaRPr kumimoji="1" lang="en-US" altLang="ja-JP" dirty="0"/>
          </a:p>
          <a:p>
            <a:pPr marL="817200" lvl="1" indent="-457200">
              <a:buFont typeface="+mj-lt"/>
              <a:buAutoNum type="arabicPeriod"/>
            </a:pPr>
            <a:r>
              <a:rPr lang="en-US" altLang="ja-JP" dirty="0"/>
              <a:t>S </a:t>
            </a:r>
            <a:r>
              <a:rPr lang="ja-JP" altLang="en-US" dirty="0"/>
              <a:t>と </a:t>
            </a:r>
            <a:r>
              <a:rPr lang="en-US" altLang="ja-JP" dirty="0"/>
              <a:t>D </a:t>
            </a:r>
            <a:r>
              <a:rPr lang="ja-JP" altLang="en-US" dirty="0"/>
              <a:t>が接続され</a:t>
            </a:r>
            <a:r>
              <a:rPr kumimoji="1" lang="ja-JP" altLang="en-US" dirty="0"/>
              <a:t>て </a:t>
            </a:r>
            <a:r>
              <a:rPr kumimoji="1" lang="en-US" altLang="ja-JP" dirty="0"/>
              <a:t>ON </a:t>
            </a:r>
            <a:r>
              <a:rPr kumimoji="1" lang="ja-JP" altLang="en-US" dirty="0"/>
              <a:t>に</a:t>
            </a:r>
            <a:endParaRPr kumimoji="1" lang="en-US" dirty="0"/>
          </a:p>
        </p:txBody>
      </p:sp>
      <p:pic>
        <p:nvPicPr>
          <p:cNvPr id="1028" name="Picture 4" descr="undefined">
            <a:extLst>
              <a:ext uri="{FF2B5EF4-FFF2-40B4-BE49-F238E27FC236}">
                <a16:creationId xmlns:a16="http://schemas.microsoft.com/office/drawing/2014/main" id="{91B4DE2B-E24C-96C4-3629-45E25A0312FD}"/>
              </a:ext>
            </a:extLst>
          </p:cNvPr>
          <p:cNvPicPr>
            <a:picLocks noChangeAspect="1" noChangeArrowheads="1"/>
          </p:cNvPicPr>
          <p:nvPr/>
        </p:nvPicPr>
        <p:blipFill>
          <a:blip r:embed="rId2" cstate="hqprint">
            <a:extLst>
              <a:ext uri="{28A0092B-C50C-407E-A947-70E740481C1C}">
                <a14:useLocalDpi xmlns:a14="http://schemas.microsoft.com/office/drawing/2010/main"/>
              </a:ext>
            </a:extLst>
          </a:blip>
          <a:srcRect/>
          <a:stretch>
            <a:fillRect/>
          </a:stretch>
        </p:blipFill>
        <p:spPr bwMode="auto">
          <a:xfrm>
            <a:off x="6012016" y="4239009"/>
            <a:ext cx="2078985" cy="2078985"/>
          </a:xfrm>
          <a:prstGeom prst="rect">
            <a:avLst/>
          </a:prstGeom>
          <a:noFill/>
          <a:extLst>
            <a:ext uri="{909E8E84-426E-40DD-AFC4-6F175D3DCCD1}">
              <a14:hiddenFill xmlns:a14="http://schemas.microsoft.com/office/drawing/2010/main">
                <a:solidFill>
                  <a:srgbClr val="FFFFFF"/>
                </a:solidFill>
              </a14:hiddenFill>
            </a:ext>
          </a:extLst>
        </p:spPr>
      </p:pic>
      <p:cxnSp>
        <p:nvCxnSpPr>
          <p:cNvPr id="6" name="直線コネクタ 5">
            <a:extLst>
              <a:ext uri="{FF2B5EF4-FFF2-40B4-BE49-F238E27FC236}">
                <a16:creationId xmlns:a16="http://schemas.microsoft.com/office/drawing/2014/main" id="{EA295CA7-7BED-C865-1727-98523128D7C0}"/>
              </a:ext>
            </a:extLst>
          </p:cNvPr>
          <p:cNvCxnSpPr>
            <a:cxnSpLocks/>
          </p:cNvCxnSpPr>
          <p:nvPr/>
        </p:nvCxnSpPr>
        <p:spPr>
          <a:xfrm>
            <a:off x="2051972" y="5049018"/>
            <a:ext cx="0" cy="53999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7" name="円/楕円 68">
            <a:extLst>
              <a:ext uri="{FF2B5EF4-FFF2-40B4-BE49-F238E27FC236}">
                <a16:creationId xmlns:a16="http://schemas.microsoft.com/office/drawing/2014/main" id="{2E679BA4-890D-C9CF-C18C-8867DCBB61E2}"/>
              </a:ext>
            </a:extLst>
          </p:cNvPr>
          <p:cNvSpPr/>
          <p:nvPr/>
        </p:nvSpPr>
        <p:spPr>
          <a:xfrm rot="5400000">
            <a:off x="2008228" y="5589031"/>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sp>
        <p:nvSpPr>
          <p:cNvPr id="8" name="円/楕円 69">
            <a:extLst>
              <a:ext uri="{FF2B5EF4-FFF2-40B4-BE49-F238E27FC236}">
                <a16:creationId xmlns:a16="http://schemas.microsoft.com/office/drawing/2014/main" id="{A6FEB00E-B96E-6804-3820-E1A9A437770F}"/>
              </a:ext>
            </a:extLst>
          </p:cNvPr>
          <p:cNvSpPr/>
          <p:nvPr/>
        </p:nvSpPr>
        <p:spPr>
          <a:xfrm rot="5400000">
            <a:off x="2188232" y="5049029"/>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2" name="直線コネクタ 21">
            <a:extLst>
              <a:ext uri="{FF2B5EF4-FFF2-40B4-BE49-F238E27FC236}">
                <a16:creationId xmlns:a16="http://schemas.microsoft.com/office/drawing/2014/main" id="{74193254-5681-8C0B-B59E-23B07BDA861D}"/>
              </a:ext>
            </a:extLst>
          </p:cNvPr>
          <p:cNvCxnSpPr>
            <a:cxnSpLocks/>
          </p:cNvCxnSpPr>
          <p:nvPr/>
        </p:nvCxnSpPr>
        <p:spPr>
          <a:xfrm flipH="1">
            <a:off x="971960" y="4959017"/>
            <a:ext cx="540006"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37" name="グループ化 36">
            <a:extLst>
              <a:ext uri="{FF2B5EF4-FFF2-40B4-BE49-F238E27FC236}">
                <a16:creationId xmlns:a16="http://schemas.microsoft.com/office/drawing/2014/main" id="{9926668D-E313-966C-0F08-24DE302CC109}"/>
              </a:ext>
            </a:extLst>
          </p:cNvPr>
          <p:cNvGrpSpPr/>
          <p:nvPr/>
        </p:nvGrpSpPr>
        <p:grpSpPr>
          <a:xfrm>
            <a:off x="1331964" y="4959017"/>
            <a:ext cx="360004" cy="720007"/>
            <a:chOff x="3131985" y="5049018"/>
            <a:chExt cx="180002" cy="437056"/>
          </a:xfrm>
        </p:grpSpPr>
        <p:grpSp>
          <p:nvGrpSpPr>
            <p:cNvPr id="31" name="グループ化 30">
              <a:extLst>
                <a:ext uri="{FF2B5EF4-FFF2-40B4-BE49-F238E27FC236}">
                  <a16:creationId xmlns:a16="http://schemas.microsoft.com/office/drawing/2014/main" id="{52ADB8C6-DAE3-0243-D689-236DBDABDA5C}"/>
                </a:ext>
              </a:extLst>
            </p:cNvPr>
            <p:cNvGrpSpPr/>
            <p:nvPr/>
          </p:nvGrpSpPr>
          <p:grpSpPr>
            <a:xfrm>
              <a:off x="3131985" y="5139021"/>
              <a:ext cx="180002" cy="254126"/>
              <a:chOff x="3131984" y="5191944"/>
              <a:chExt cx="270003" cy="201854"/>
            </a:xfrm>
          </p:grpSpPr>
          <p:sp>
            <p:nvSpPr>
              <p:cNvPr id="26" name="Freeform 42">
                <a:extLst>
                  <a:ext uri="{FF2B5EF4-FFF2-40B4-BE49-F238E27FC236}">
                    <a16:creationId xmlns:a16="http://schemas.microsoft.com/office/drawing/2014/main" id="{3C8FE4CB-237E-4BF7-A0F0-6EEC3432DAC2}"/>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27" name="Freeform 42">
                <a:extLst>
                  <a:ext uri="{FF2B5EF4-FFF2-40B4-BE49-F238E27FC236}">
                    <a16:creationId xmlns:a16="http://schemas.microsoft.com/office/drawing/2014/main" id="{E1BDAF63-BCED-166A-8421-93DC6E076FB8}"/>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28" name="Freeform 42">
                <a:extLst>
                  <a:ext uri="{FF2B5EF4-FFF2-40B4-BE49-F238E27FC236}">
                    <a16:creationId xmlns:a16="http://schemas.microsoft.com/office/drawing/2014/main" id="{C4FDDEF3-B4BC-0DEC-E90B-A4F4FCC22495}"/>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30" name="Freeform 42">
                <a:extLst>
                  <a:ext uri="{FF2B5EF4-FFF2-40B4-BE49-F238E27FC236}">
                    <a16:creationId xmlns:a16="http://schemas.microsoft.com/office/drawing/2014/main" id="{3E48BDF3-2041-BA0B-5B4A-0D2B710B7C83}"/>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32" name="直線コネクタ 31">
              <a:extLst>
                <a:ext uri="{FF2B5EF4-FFF2-40B4-BE49-F238E27FC236}">
                  <a16:creationId xmlns:a16="http://schemas.microsoft.com/office/drawing/2014/main" id="{AFF08301-579C-7603-8718-0E83326403D7}"/>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E208FAC0-679C-6E64-680A-337CB16A2D70}"/>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40" name="直線コネクタ 39">
            <a:extLst>
              <a:ext uri="{FF2B5EF4-FFF2-40B4-BE49-F238E27FC236}">
                <a16:creationId xmlns:a16="http://schemas.microsoft.com/office/drawing/2014/main" id="{54F2018B-C0BE-F682-0A36-44DA92CB12B1}"/>
              </a:ext>
            </a:extLst>
          </p:cNvPr>
          <p:cNvCxnSpPr>
            <a:cxnSpLocks/>
          </p:cNvCxnSpPr>
          <p:nvPr/>
        </p:nvCxnSpPr>
        <p:spPr>
          <a:xfrm flipH="1">
            <a:off x="971960" y="5679025"/>
            <a:ext cx="540006"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a16:creationId xmlns:a16="http://schemas.microsoft.com/office/drawing/2014/main" id="{B8DF09C7-9F58-E635-AA12-325D065DA9CA}"/>
              </a:ext>
            </a:extLst>
          </p:cNvPr>
          <p:cNvCxnSpPr>
            <a:cxnSpLocks/>
          </p:cNvCxnSpPr>
          <p:nvPr/>
        </p:nvCxnSpPr>
        <p:spPr>
          <a:xfrm flipH="1">
            <a:off x="1331964" y="4779015"/>
            <a:ext cx="450005" cy="0"/>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5" name="直線コネクタ 44">
            <a:extLst>
              <a:ext uri="{FF2B5EF4-FFF2-40B4-BE49-F238E27FC236}">
                <a16:creationId xmlns:a16="http://schemas.microsoft.com/office/drawing/2014/main" id="{3F7E1B12-9ABE-96EF-D4D1-BB602EF2EEEB}"/>
              </a:ext>
            </a:extLst>
          </p:cNvPr>
          <p:cNvCxnSpPr>
            <a:cxnSpLocks/>
          </p:cNvCxnSpPr>
          <p:nvPr/>
        </p:nvCxnSpPr>
        <p:spPr>
          <a:xfrm flipV="1">
            <a:off x="1781969" y="4779015"/>
            <a:ext cx="0" cy="360004"/>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07AD33AC-DB5E-0236-7E07-D87585EA4382}"/>
              </a:ext>
            </a:extLst>
          </p:cNvPr>
          <p:cNvCxnSpPr>
            <a:cxnSpLocks/>
          </p:cNvCxnSpPr>
          <p:nvPr/>
        </p:nvCxnSpPr>
        <p:spPr>
          <a:xfrm flipH="1">
            <a:off x="1781969" y="5139019"/>
            <a:ext cx="270003" cy="0"/>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7EAA77DA-D45A-6048-A20C-358A4CA3CE95}"/>
              </a:ext>
            </a:extLst>
          </p:cNvPr>
          <p:cNvCxnSpPr>
            <a:cxnSpLocks/>
          </p:cNvCxnSpPr>
          <p:nvPr/>
        </p:nvCxnSpPr>
        <p:spPr>
          <a:xfrm>
            <a:off x="2231974" y="5139019"/>
            <a:ext cx="0" cy="449998"/>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55" name="円/楕円 68">
            <a:extLst>
              <a:ext uri="{FF2B5EF4-FFF2-40B4-BE49-F238E27FC236}">
                <a16:creationId xmlns:a16="http://schemas.microsoft.com/office/drawing/2014/main" id="{BC922C26-5E3D-1653-8304-8A16BBC44F03}"/>
              </a:ext>
            </a:extLst>
          </p:cNvPr>
          <p:cNvSpPr/>
          <p:nvPr/>
        </p:nvSpPr>
        <p:spPr>
          <a:xfrm rot="5400000">
            <a:off x="2189671" y="5589035"/>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57" name="直線コネクタ 56">
            <a:extLst>
              <a:ext uri="{FF2B5EF4-FFF2-40B4-BE49-F238E27FC236}">
                <a16:creationId xmlns:a16="http://schemas.microsoft.com/office/drawing/2014/main" id="{684CF53B-6803-99C4-B8A5-0A34E7163247}"/>
              </a:ext>
            </a:extLst>
          </p:cNvPr>
          <p:cNvCxnSpPr>
            <a:cxnSpLocks/>
          </p:cNvCxnSpPr>
          <p:nvPr/>
        </p:nvCxnSpPr>
        <p:spPr>
          <a:xfrm>
            <a:off x="2051972" y="5679025"/>
            <a:ext cx="0" cy="359997"/>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63" name="直線コネクタ 62">
            <a:extLst>
              <a:ext uri="{FF2B5EF4-FFF2-40B4-BE49-F238E27FC236}">
                <a16:creationId xmlns:a16="http://schemas.microsoft.com/office/drawing/2014/main" id="{C5CB3E2E-B14E-814D-9344-8409F6B78A70}"/>
              </a:ext>
            </a:extLst>
          </p:cNvPr>
          <p:cNvCxnSpPr>
            <a:cxnSpLocks/>
          </p:cNvCxnSpPr>
          <p:nvPr/>
        </p:nvCxnSpPr>
        <p:spPr>
          <a:xfrm>
            <a:off x="2231974" y="5679025"/>
            <a:ext cx="0" cy="359997"/>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024" name="Rectangle 93">
            <a:extLst>
              <a:ext uri="{FF2B5EF4-FFF2-40B4-BE49-F238E27FC236}">
                <a16:creationId xmlns:a16="http://schemas.microsoft.com/office/drawing/2014/main" id="{16A12955-EC0F-8CDC-5DB3-803393AC815B}"/>
              </a:ext>
            </a:extLst>
          </p:cNvPr>
          <p:cNvSpPr>
            <a:spLocks noChangeArrowheads="1"/>
          </p:cNvSpPr>
          <p:nvPr/>
        </p:nvSpPr>
        <p:spPr bwMode="auto">
          <a:xfrm>
            <a:off x="611956" y="4779015"/>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025" name="Rectangle 93">
            <a:extLst>
              <a:ext uri="{FF2B5EF4-FFF2-40B4-BE49-F238E27FC236}">
                <a16:creationId xmlns:a16="http://schemas.microsoft.com/office/drawing/2014/main" id="{FD118552-02F2-FD4B-5E0A-1599CBDED6AF}"/>
              </a:ext>
            </a:extLst>
          </p:cNvPr>
          <p:cNvSpPr>
            <a:spLocks noChangeArrowheads="1"/>
          </p:cNvSpPr>
          <p:nvPr/>
        </p:nvSpPr>
        <p:spPr bwMode="auto">
          <a:xfrm>
            <a:off x="611956" y="5499023"/>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B</a:t>
            </a:r>
          </a:p>
        </p:txBody>
      </p:sp>
      <p:sp>
        <p:nvSpPr>
          <p:cNvPr id="1027" name="Rectangle 93">
            <a:extLst>
              <a:ext uri="{FF2B5EF4-FFF2-40B4-BE49-F238E27FC236}">
                <a16:creationId xmlns:a16="http://schemas.microsoft.com/office/drawing/2014/main" id="{D2BE4C87-5F89-4960-D089-C11FC16CBD6C}"/>
              </a:ext>
            </a:extLst>
          </p:cNvPr>
          <p:cNvSpPr>
            <a:spLocks noChangeArrowheads="1"/>
          </p:cNvSpPr>
          <p:nvPr/>
        </p:nvSpPr>
        <p:spPr bwMode="auto">
          <a:xfrm>
            <a:off x="1691968" y="594902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029" name="Rectangle 93">
            <a:extLst>
              <a:ext uri="{FF2B5EF4-FFF2-40B4-BE49-F238E27FC236}">
                <a16:creationId xmlns:a16="http://schemas.microsoft.com/office/drawing/2014/main" id="{F05994E3-20BF-DE00-56C6-3D390D91E694}"/>
              </a:ext>
            </a:extLst>
          </p:cNvPr>
          <p:cNvSpPr>
            <a:spLocks noChangeArrowheads="1"/>
          </p:cNvSpPr>
          <p:nvPr/>
        </p:nvSpPr>
        <p:spPr bwMode="auto">
          <a:xfrm>
            <a:off x="2231974" y="594902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1031" name="円/楕円 68">
            <a:extLst>
              <a:ext uri="{FF2B5EF4-FFF2-40B4-BE49-F238E27FC236}">
                <a16:creationId xmlns:a16="http://schemas.microsoft.com/office/drawing/2014/main" id="{7D4DC939-E1F2-DB79-C34A-70C3F5231B13}"/>
              </a:ext>
            </a:extLst>
          </p:cNvPr>
          <p:cNvSpPr/>
          <p:nvPr/>
        </p:nvSpPr>
        <p:spPr>
          <a:xfrm rot="5400000">
            <a:off x="4528256" y="5589031"/>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sp>
        <p:nvSpPr>
          <p:cNvPr id="1032" name="円/楕円 69">
            <a:extLst>
              <a:ext uri="{FF2B5EF4-FFF2-40B4-BE49-F238E27FC236}">
                <a16:creationId xmlns:a16="http://schemas.microsoft.com/office/drawing/2014/main" id="{987366B2-CBF3-0B17-7DE3-277D0822147E}"/>
              </a:ext>
            </a:extLst>
          </p:cNvPr>
          <p:cNvSpPr/>
          <p:nvPr/>
        </p:nvSpPr>
        <p:spPr>
          <a:xfrm rot="5400000">
            <a:off x="4707185" y="5049029"/>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033" name="直線コネクタ 1032">
            <a:extLst>
              <a:ext uri="{FF2B5EF4-FFF2-40B4-BE49-F238E27FC236}">
                <a16:creationId xmlns:a16="http://schemas.microsoft.com/office/drawing/2014/main" id="{0CB991D9-BF2B-EC1C-9353-942F20D64F8B}"/>
              </a:ext>
            </a:extLst>
          </p:cNvPr>
          <p:cNvCxnSpPr>
            <a:cxnSpLocks/>
          </p:cNvCxnSpPr>
          <p:nvPr/>
        </p:nvCxnSpPr>
        <p:spPr>
          <a:xfrm flipH="1">
            <a:off x="3491988" y="4959017"/>
            <a:ext cx="540006"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1034" name="グループ化 1033">
            <a:extLst>
              <a:ext uri="{FF2B5EF4-FFF2-40B4-BE49-F238E27FC236}">
                <a16:creationId xmlns:a16="http://schemas.microsoft.com/office/drawing/2014/main" id="{B4724512-C223-208A-50CB-62D0611F2D0D}"/>
              </a:ext>
            </a:extLst>
          </p:cNvPr>
          <p:cNvGrpSpPr/>
          <p:nvPr/>
        </p:nvGrpSpPr>
        <p:grpSpPr>
          <a:xfrm>
            <a:off x="3851992" y="4959017"/>
            <a:ext cx="360004" cy="720007"/>
            <a:chOff x="3131985" y="5049018"/>
            <a:chExt cx="180002" cy="437056"/>
          </a:xfrm>
        </p:grpSpPr>
        <p:grpSp>
          <p:nvGrpSpPr>
            <p:cNvPr id="1035" name="グループ化 1034">
              <a:extLst>
                <a:ext uri="{FF2B5EF4-FFF2-40B4-BE49-F238E27FC236}">
                  <a16:creationId xmlns:a16="http://schemas.microsoft.com/office/drawing/2014/main" id="{B5F299D7-7AAC-9D28-68A4-FC9BF1E040A1}"/>
                </a:ext>
              </a:extLst>
            </p:cNvPr>
            <p:cNvGrpSpPr/>
            <p:nvPr/>
          </p:nvGrpSpPr>
          <p:grpSpPr>
            <a:xfrm>
              <a:off x="3131985" y="5139021"/>
              <a:ext cx="180002" cy="254126"/>
              <a:chOff x="3131984" y="5191944"/>
              <a:chExt cx="270003" cy="201854"/>
            </a:xfrm>
          </p:grpSpPr>
          <p:sp>
            <p:nvSpPr>
              <p:cNvPr id="1038" name="Freeform 42">
                <a:extLst>
                  <a:ext uri="{FF2B5EF4-FFF2-40B4-BE49-F238E27FC236}">
                    <a16:creationId xmlns:a16="http://schemas.microsoft.com/office/drawing/2014/main" id="{A2E66C52-732E-F34A-F4C5-65621600A928}"/>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039" name="Freeform 42">
                <a:extLst>
                  <a:ext uri="{FF2B5EF4-FFF2-40B4-BE49-F238E27FC236}">
                    <a16:creationId xmlns:a16="http://schemas.microsoft.com/office/drawing/2014/main" id="{39AE87DD-78CC-5FC3-3C89-ABADC97AFC4A}"/>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040" name="Freeform 42">
                <a:extLst>
                  <a:ext uri="{FF2B5EF4-FFF2-40B4-BE49-F238E27FC236}">
                    <a16:creationId xmlns:a16="http://schemas.microsoft.com/office/drawing/2014/main" id="{6412D91C-C93B-30DD-9D21-D53020ACA68B}"/>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041" name="Freeform 42">
                <a:extLst>
                  <a:ext uri="{FF2B5EF4-FFF2-40B4-BE49-F238E27FC236}">
                    <a16:creationId xmlns:a16="http://schemas.microsoft.com/office/drawing/2014/main" id="{876938C0-42D9-4575-F9AD-13243BBFD257}"/>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1036" name="直線コネクタ 1035">
              <a:extLst>
                <a:ext uri="{FF2B5EF4-FFF2-40B4-BE49-F238E27FC236}">
                  <a16:creationId xmlns:a16="http://schemas.microsoft.com/office/drawing/2014/main" id="{F05E8978-7D1E-43BC-4F34-F6359059326C}"/>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37" name="直線コネクタ 1036">
              <a:extLst>
                <a:ext uri="{FF2B5EF4-FFF2-40B4-BE49-F238E27FC236}">
                  <a16:creationId xmlns:a16="http://schemas.microsoft.com/office/drawing/2014/main" id="{4482E944-FE67-4D70-8BC1-8C20B3057FB8}"/>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1042" name="直線コネクタ 1041">
            <a:extLst>
              <a:ext uri="{FF2B5EF4-FFF2-40B4-BE49-F238E27FC236}">
                <a16:creationId xmlns:a16="http://schemas.microsoft.com/office/drawing/2014/main" id="{FD6DF502-41E4-12AC-B72B-4108CCF66C8D}"/>
              </a:ext>
            </a:extLst>
          </p:cNvPr>
          <p:cNvCxnSpPr>
            <a:cxnSpLocks/>
          </p:cNvCxnSpPr>
          <p:nvPr/>
        </p:nvCxnSpPr>
        <p:spPr>
          <a:xfrm flipH="1">
            <a:off x="3491988" y="5679025"/>
            <a:ext cx="540006"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30" name="直線コネクタ 1029">
            <a:extLst>
              <a:ext uri="{FF2B5EF4-FFF2-40B4-BE49-F238E27FC236}">
                <a16:creationId xmlns:a16="http://schemas.microsoft.com/office/drawing/2014/main" id="{738851A0-3283-6B1F-200E-1C451B88792D}"/>
              </a:ext>
            </a:extLst>
          </p:cNvPr>
          <p:cNvCxnSpPr>
            <a:cxnSpLocks/>
            <a:endCxn id="1031" idx="2"/>
          </p:cNvCxnSpPr>
          <p:nvPr/>
        </p:nvCxnSpPr>
        <p:spPr>
          <a:xfrm flipH="1">
            <a:off x="4573262" y="5062200"/>
            <a:ext cx="127234" cy="526820"/>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1061" name="グループ化 1060">
            <a:extLst>
              <a:ext uri="{FF2B5EF4-FFF2-40B4-BE49-F238E27FC236}">
                <a16:creationId xmlns:a16="http://schemas.microsoft.com/office/drawing/2014/main" id="{A61127FA-785C-D037-7805-F95AE1EEC7A0}"/>
              </a:ext>
            </a:extLst>
          </p:cNvPr>
          <p:cNvGrpSpPr/>
          <p:nvPr/>
        </p:nvGrpSpPr>
        <p:grpSpPr>
          <a:xfrm rot="21245668">
            <a:off x="3868454" y="4860256"/>
            <a:ext cx="775659" cy="360004"/>
            <a:chOff x="3848756" y="3292030"/>
            <a:chExt cx="775659" cy="360004"/>
          </a:xfrm>
        </p:grpSpPr>
        <p:cxnSp>
          <p:nvCxnSpPr>
            <p:cNvPr id="1043" name="直線コネクタ 1042">
              <a:extLst>
                <a:ext uri="{FF2B5EF4-FFF2-40B4-BE49-F238E27FC236}">
                  <a16:creationId xmlns:a16="http://schemas.microsoft.com/office/drawing/2014/main" id="{7B46DFC9-2BDC-DCAC-7CC3-DA6E343FCDE6}"/>
                </a:ext>
              </a:extLst>
            </p:cNvPr>
            <p:cNvCxnSpPr>
              <a:cxnSpLocks/>
            </p:cNvCxnSpPr>
            <p:nvPr/>
          </p:nvCxnSpPr>
          <p:spPr>
            <a:xfrm rot="21016354" flipH="1">
              <a:off x="3848756" y="3332635"/>
              <a:ext cx="450005" cy="0"/>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44" name="直線コネクタ 1043">
              <a:extLst>
                <a:ext uri="{FF2B5EF4-FFF2-40B4-BE49-F238E27FC236}">
                  <a16:creationId xmlns:a16="http://schemas.microsoft.com/office/drawing/2014/main" id="{43216A00-2145-F3B9-8ED8-6E27C51A4C31}"/>
                </a:ext>
              </a:extLst>
            </p:cNvPr>
            <p:cNvCxnSpPr>
              <a:cxnSpLocks/>
            </p:cNvCxnSpPr>
            <p:nvPr/>
          </p:nvCxnSpPr>
          <p:spPr>
            <a:xfrm rot="21016354" flipV="1">
              <a:off x="4325940" y="3292030"/>
              <a:ext cx="0" cy="360004"/>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45" name="直線コネクタ 1044">
              <a:extLst>
                <a:ext uri="{FF2B5EF4-FFF2-40B4-BE49-F238E27FC236}">
                  <a16:creationId xmlns:a16="http://schemas.microsoft.com/office/drawing/2014/main" id="{EE1144CB-FB2E-5783-7E5C-187448BC519D}"/>
                </a:ext>
              </a:extLst>
            </p:cNvPr>
            <p:cNvCxnSpPr>
              <a:cxnSpLocks/>
            </p:cNvCxnSpPr>
            <p:nvPr/>
          </p:nvCxnSpPr>
          <p:spPr>
            <a:xfrm rot="21016354" flipH="1">
              <a:off x="4354412" y="3626636"/>
              <a:ext cx="270003" cy="0"/>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1046" name="直線コネクタ 1045">
            <a:extLst>
              <a:ext uri="{FF2B5EF4-FFF2-40B4-BE49-F238E27FC236}">
                <a16:creationId xmlns:a16="http://schemas.microsoft.com/office/drawing/2014/main" id="{A9E9FCC0-061E-5EF3-3058-98AF1796613E}"/>
              </a:ext>
            </a:extLst>
          </p:cNvPr>
          <p:cNvCxnSpPr>
            <a:cxnSpLocks/>
          </p:cNvCxnSpPr>
          <p:nvPr/>
        </p:nvCxnSpPr>
        <p:spPr>
          <a:xfrm>
            <a:off x="4750927" y="5139019"/>
            <a:ext cx="0" cy="449998"/>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047" name="円/楕円 68">
            <a:extLst>
              <a:ext uri="{FF2B5EF4-FFF2-40B4-BE49-F238E27FC236}">
                <a16:creationId xmlns:a16="http://schemas.microsoft.com/office/drawing/2014/main" id="{3CEDFFC8-4576-3E82-F5CB-088E57C86A53}"/>
              </a:ext>
            </a:extLst>
          </p:cNvPr>
          <p:cNvSpPr/>
          <p:nvPr/>
        </p:nvSpPr>
        <p:spPr>
          <a:xfrm rot="5400000">
            <a:off x="4708624" y="5589035"/>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048" name="直線コネクタ 1047">
            <a:extLst>
              <a:ext uri="{FF2B5EF4-FFF2-40B4-BE49-F238E27FC236}">
                <a16:creationId xmlns:a16="http://schemas.microsoft.com/office/drawing/2014/main" id="{C762F6A9-3E8A-BC4F-6A36-CEF70C9C5C7D}"/>
              </a:ext>
            </a:extLst>
          </p:cNvPr>
          <p:cNvCxnSpPr>
            <a:cxnSpLocks/>
          </p:cNvCxnSpPr>
          <p:nvPr/>
        </p:nvCxnSpPr>
        <p:spPr>
          <a:xfrm>
            <a:off x="4572000" y="5679025"/>
            <a:ext cx="0" cy="359997"/>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49" name="直線コネクタ 1048">
            <a:extLst>
              <a:ext uri="{FF2B5EF4-FFF2-40B4-BE49-F238E27FC236}">
                <a16:creationId xmlns:a16="http://schemas.microsoft.com/office/drawing/2014/main" id="{BC0DDFAC-1743-4D8E-97E7-36548D0055B9}"/>
              </a:ext>
            </a:extLst>
          </p:cNvPr>
          <p:cNvCxnSpPr>
            <a:cxnSpLocks/>
          </p:cNvCxnSpPr>
          <p:nvPr/>
        </p:nvCxnSpPr>
        <p:spPr>
          <a:xfrm>
            <a:off x="4750927" y="5679025"/>
            <a:ext cx="0" cy="359997"/>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050" name="Rectangle 93">
            <a:extLst>
              <a:ext uri="{FF2B5EF4-FFF2-40B4-BE49-F238E27FC236}">
                <a16:creationId xmlns:a16="http://schemas.microsoft.com/office/drawing/2014/main" id="{43770D76-5BA9-7446-4CBB-10A86CA34924}"/>
              </a:ext>
            </a:extLst>
          </p:cNvPr>
          <p:cNvSpPr>
            <a:spLocks noChangeArrowheads="1"/>
          </p:cNvSpPr>
          <p:nvPr/>
        </p:nvSpPr>
        <p:spPr bwMode="auto">
          <a:xfrm>
            <a:off x="3131984" y="4779015"/>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051" name="Rectangle 93">
            <a:extLst>
              <a:ext uri="{FF2B5EF4-FFF2-40B4-BE49-F238E27FC236}">
                <a16:creationId xmlns:a16="http://schemas.microsoft.com/office/drawing/2014/main" id="{2C0E8360-07C3-5F96-2250-A2184ECB80B6}"/>
              </a:ext>
            </a:extLst>
          </p:cNvPr>
          <p:cNvSpPr>
            <a:spLocks noChangeArrowheads="1"/>
          </p:cNvSpPr>
          <p:nvPr/>
        </p:nvSpPr>
        <p:spPr bwMode="auto">
          <a:xfrm>
            <a:off x="3131984" y="5499023"/>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B</a:t>
            </a:r>
          </a:p>
        </p:txBody>
      </p:sp>
      <p:sp>
        <p:nvSpPr>
          <p:cNvPr id="1052" name="Rectangle 93">
            <a:extLst>
              <a:ext uri="{FF2B5EF4-FFF2-40B4-BE49-F238E27FC236}">
                <a16:creationId xmlns:a16="http://schemas.microsoft.com/office/drawing/2014/main" id="{185D8541-A2C9-4692-EB76-7DD729874B0A}"/>
              </a:ext>
            </a:extLst>
          </p:cNvPr>
          <p:cNvSpPr>
            <a:spLocks noChangeArrowheads="1"/>
          </p:cNvSpPr>
          <p:nvPr/>
        </p:nvSpPr>
        <p:spPr bwMode="auto">
          <a:xfrm>
            <a:off x="4211996" y="594902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053" name="Rectangle 93">
            <a:extLst>
              <a:ext uri="{FF2B5EF4-FFF2-40B4-BE49-F238E27FC236}">
                <a16:creationId xmlns:a16="http://schemas.microsoft.com/office/drawing/2014/main" id="{D8BCF934-7B10-95E0-E00E-609CDA4666F5}"/>
              </a:ext>
            </a:extLst>
          </p:cNvPr>
          <p:cNvSpPr>
            <a:spLocks noChangeArrowheads="1"/>
          </p:cNvSpPr>
          <p:nvPr/>
        </p:nvSpPr>
        <p:spPr bwMode="auto">
          <a:xfrm>
            <a:off x="4750927" y="594902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1062" name="Rectangle 93">
            <a:extLst>
              <a:ext uri="{FF2B5EF4-FFF2-40B4-BE49-F238E27FC236}">
                <a16:creationId xmlns:a16="http://schemas.microsoft.com/office/drawing/2014/main" id="{61904DBC-3C06-D86B-7DC6-57B9AEE91FB3}"/>
              </a:ext>
            </a:extLst>
          </p:cNvPr>
          <p:cNvSpPr>
            <a:spLocks noChangeArrowheads="1"/>
          </p:cNvSpPr>
          <p:nvPr/>
        </p:nvSpPr>
        <p:spPr bwMode="auto">
          <a:xfrm>
            <a:off x="611956" y="6463724"/>
            <a:ext cx="361079" cy="360362"/>
          </a:xfrm>
          <a:prstGeom prst="rect">
            <a:avLst/>
          </a:prstGeom>
          <a:noFill/>
          <a:ln w="12700" algn="ctr">
            <a:noFill/>
            <a:miter lim="800000"/>
            <a:headEnd/>
            <a:tailEnd/>
          </a:ln>
          <a:effectLst/>
        </p:spPr>
        <p:txBody>
          <a:bodyPr wrap="none" lIns="90000" tIns="46800" rIns="90000" bIns="46800" anchor="ctr"/>
          <a:lstStyle/>
          <a:p>
            <a:r>
              <a:rPr lang="ja-JP" altLang="en-US" sz="1400"/>
              <a:t>画像は </a:t>
            </a:r>
            <a:r>
              <a:rPr lang="en-US" altLang="ja-JP" sz="1400" dirty="0">
                <a:hlinkClick r:id="rId3"/>
              </a:rPr>
              <a:t>https://en.wikipedia.org/wiki/Relay</a:t>
            </a:r>
            <a:r>
              <a:rPr lang="en-US" altLang="ja-JP" sz="1400" dirty="0"/>
              <a:t> </a:t>
            </a:r>
            <a:r>
              <a:rPr lang="ja-JP" altLang="en-US" sz="1400" dirty="0"/>
              <a:t>より</a:t>
            </a:r>
            <a:endParaRPr lang="en-US" altLang="ja-JP" sz="1400" dirty="0"/>
          </a:p>
        </p:txBody>
      </p:sp>
      <p:sp>
        <p:nvSpPr>
          <p:cNvPr id="1065" name="円/楕円 68">
            <a:extLst>
              <a:ext uri="{FF2B5EF4-FFF2-40B4-BE49-F238E27FC236}">
                <a16:creationId xmlns:a16="http://schemas.microsoft.com/office/drawing/2014/main" id="{D526FF31-2195-EB08-4518-80A0648DAD5C}"/>
              </a:ext>
            </a:extLst>
          </p:cNvPr>
          <p:cNvSpPr/>
          <p:nvPr/>
        </p:nvSpPr>
        <p:spPr>
          <a:xfrm rot="5400000">
            <a:off x="1691968" y="477902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sp>
        <p:nvSpPr>
          <p:cNvPr id="1066" name="円/楕円 68">
            <a:extLst>
              <a:ext uri="{FF2B5EF4-FFF2-40B4-BE49-F238E27FC236}">
                <a16:creationId xmlns:a16="http://schemas.microsoft.com/office/drawing/2014/main" id="{92B12BC1-2797-49CE-FAC7-305222075A98}"/>
              </a:ext>
            </a:extLst>
          </p:cNvPr>
          <p:cNvSpPr/>
          <p:nvPr/>
        </p:nvSpPr>
        <p:spPr>
          <a:xfrm rot="5400000">
            <a:off x="4211996" y="4869027"/>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sp>
        <p:nvSpPr>
          <p:cNvPr id="1067" name="円弧 1066">
            <a:extLst>
              <a:ext uri="{FF2B5EF4-FFF2-40B4-BE49-F238E27FC236}">
                <a16:creationId xmlns:a16="http://schemas.microsoft.com/office/drawing/2014/main" id="{45ECB532-1E4E-6D44-5EAB-2AF37488E17F}"/>
              </a:ext>
            </a:extLst>
          </p:cNvPr>
          <p:cNvSpPr/>
          <p:nvPr/>
        </p:nvSpPr>
        <p:spPr bwMode="auto">
          <a:xfrm rot="9273794">
            <a:off x="4149134" y="4608505"/>
            <a:ext cx="617862" cy="684905"/>
          </a:xfrm>
          <a:prstGeom prst="arc">
            <a:avLst/>
          </a:prstGeom>
          <a:noFill/>
          <a:ln w="9525" cap="flat" cmpd="sng" algn="ctr">
            <a:solidFill>
              <a:schemeClr val="accent6"/>
            </a:solidFill>
            <a:prstDash val="solid"/>
            <a:round/>
            <a:headEnd type="arrow"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en-US" sz="1800" b="0" i="0" u="none" strike="noStrike" cap="none" normalizeH="0" baseline="0">
              <a:ln>
                <a:noFill/>
              </a:ln>
              <a:solidFill>
                <a:schemeClr val="tx1"/>
              </a:solidFill>
              <a:effectLst/>
              <a:latin typeface="Verdana" pitchFamily="34" charset="0"/>
              <a:ea typeface="HG丸ｺﾞｼｯｸM-PRO" pitchFamily="50" charset="-128"/>
            </a:endParaRPr>
          </a:p>
        </p:txBody>
      </p:sp>
    </p:spTree>
    <p:extLst>
      <p:ext uri="{BB962C8B-B14F-4D97-AF65-F5344CB8AC3E}">
        <p14:creationId xmlns:p14="http://schemas.microsoft.com/office/powerpoint/2010/main" val="137113878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DD534D0-C8E4-856A-5C74-CCF9A9046573}"/>
              </a:ext>
            </a:extLst>
          </p:cNvPr>
          <p:cNvSpPr>
            <a:spLocks noGrp="1"/>
          </p:cNvSpPr>
          <p:nvPr>
            <p:ph type="title"/>
          </p:nvPr>
        </p:nvSpPr>
        <p:spPr/>
        <p:txBody>
          <a:bodyPr/>
          <a:lstStyle/>
          <a:p>
            <a:r>
              <a:rPr kumimoji="1" lang="ja-JP" altLang="en-US" dirty="0"/>
              <a:t>リレーの絵を回路記号に単純化</a:t>
            </a:r>
            <a:endParaRPr kumimoji="1" lang="en-US" dirty="0"/>
          </a:p>
        </p:txBody>
      </p:sp>
      <p:sp>
        <p:nvSpPr>
          <p:cNvPr id="3" name="コンテンツ プレースホルダー 2">
            <a:extLst>
              <a:ext uri="{FF2B5EF4-FFF2-40B4-BE49-F238E27FC236}">
                <a16:creationId xmlns:a16="http://schemas.microsoft.com/office/drawing/2014/main" id="{6908E1C2-F9FD-3F8A-C9C8-FF2A293C6198}"/>
              </a:ext>
            </a:extLst>
          </p:cNvPr>
          <p:cNvSpPr>
            <a:spLocks noGrp="1"/>
          </p:cNvSpPr>
          <p:nvPr>
            <p:ph sz="quarter" idx="10"/>
          </p:nvPr>
        </p:nvSpPr>
        <p:spPr>
          <a:xfrm>
            <a:off x="611956" y="1088974"/>
            <a:ext cx="8280092" cy="1800020"/>
          </a:xfrm>
        </p:spPr>
        <p:txBody>
          <a:bodyPr/>
          <a:lstStyle/>
          <a:p>
            <a:r>
              <a:rPr kumimoji="1" lang="ja-JP" altLang="en-US" dirty="0"/>
              <a:t>わかりにくいので，以降では右のように単純化して表記</a:t>
            </a:r>
            <a:endParaRPr kumimoji="1" lang="en-US" altLang="ja-JP" dirty="0"/>
          </a:p>
          <a:p>
            <a:pPr lvl="1"/>
            <a:r>
              <a:rPr kumimoji="1" lang="en-US" altLang="ja-JP" dirty="0"/>
              <a:t>G</a:t>
            </a:r>
            <a:r>
              <a:rPr kumimoji="1" lang="ja-JP" altLang="en-US" dirty="0"/>
              <a:t>～</a:t>
            </a:r>
            <a:r>
              <a:rPr kumimoji="1" lang="en-US" altLang="ja-JP" dirty="0"/>
              <a:t>B </a:t>
            </a:r>
            <a:r>
              <a:rPr kumimoji="1" lang="ja-JP" altLang="en-US" dirty="0"/>
              <a:t>間に電圧をかけると，</a:t>
            </a:r>
            <a:r>
              <a:rPr kumimoji="1" lang="en-US" altLang="ja-JP" dirty="0"/>
              <a:t>S</a:t>
            </a:r>
            <a:r>
              <a:rPr kumimoji="1" lang="ja-JP" altLang="en-US" dirty="0"/>
              <a:t>～</a:t>
            </a:r>
            <a:r>
              <a:rPr kumimoji="1" lang="en-US" altLang="ja-JP" dirty="0"/>
              <a:t>D </a:t>
            </a:r>
            <a:r>
              <a:rPr kumimoji="1" lang="ja-JP" altLang="en-US" dirty="0"/>
              <a:t>が </a:t>
            </a:r>
            <a:r>
              <a:rPr kumimoji="1" lang="en-US" altLang="ja-JP" dirty="0"/>
              <a:t>ON </a:t>
            </a:r>
            <a:r>
              <a:rPr kumimoji="1" lang="ja-JP" altLang="en-US" dirty="0"/>
              <a:t>に</a:t>
            </a:r>
            <a:endParaRPr kumimoji="1" lang="en-US" altLang="ja-JP" dirty="0"/>
          </a:p>
        </p:txBody>
      </p:sp>
      <p:grpSp>
        <p:nvGrpSpPr>
          <p:cNvPr id="83" name="グループ化 82">
            <a:extLst>
              <a:ext uri="{FF2B5EF4-FFF2-40B4-BE49-F238E27FC236}">
                <a16:creationId xmlns:a16="http://schemas.microsoft.com/office/drawing/2014/main" id="{0C5C9B37-FA3A-4C54-9320-E5B12DE918F6}"/>
              </a:ext>
            </a:extLst>
          </p:cNvPr>
          <p:cNvGrpSpPr/>
          <p:nvPr/>
        </p:nvGrpSpPr>
        <p:grpSpPr>
          <a:xfrm>
            <a:off x="1961971" y="3429000"/>
            <a:ext cx="1981097" cy="1530375"/>
            <a:chOff x="1961971" y="3429000"/>
            <a:chExt cx="1981097" cy="1530375"/>
          </a:xfrm>
        </p:grpSpPr>
        <p:cxnSp>
          <p:nvCxnSpPr>
            <p:cNvPr id="25" name="直線コネクタ 24">
              <a:extLst>
                <a:ext uri="{FF2B5EF4-FFF2-40B4-BE49-F238E27FC236}">
                  <a16:creationId xmlns:a16="http://schemas.microsoft.com/office/drawing/2014/main" id="{DE980B1B-647B-56A7-B906-824C3F936311}"/>
                </a:ext>
              </a:extLst>
            </p:cNvPr>
            <p:cNvCxnSpPr>
              <a:cxnSpLocks/>
            </p:cNvCxnSpPr>
            <p:nvPr/>
          </p:nvCxnSpPr>
          <p:spPr>
            <a:xfrm>
              <a:off x="3401987" y="3699003"/>
              <a:ext cx="0" cy="53999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6" name="円/楕円 68">
              <a:extLst>
                <a:ext uri="{FF2B5EF4-FFF2-40B4-BE49-F238E27FC236}">
                  <a16:creationId xmlns:a16="http://schemas.microsoft.com/office/drawing/2014/main" id="{C3BE8183-D41C-2F67-A128-D0D48FCF2033}"/>
                </a:ext>
              </a:extLst>
            </p:cNvPr>
            <p:cNvSpPr/>
            <p:nvPr/>
          </p:nvSpPr>
          <p:spPr>
            <a:xfrm rot="5400000">
              <a:off x="3358243" y="423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sp>
          <p:nvSpPr>
            <p:cNvPr id="27" name="円/楕円 69">
              <a:extLst>
                <a:ext uri="{FF2B5EF4-FFF2-40B4-BE49-F238E27FC236}">
                  <a16:creationId xmlns:a16="http://schemas.microsoft.com/office/drawing/2014/main" id="{E94FC8CD-3226-A65D-94B4-CB54A82ECBBC}"/>
                </a:ext>
              </a:extLst>
            </p:cNvPr>
            <p:cNvSpPr/>
            <p:nvPr/>
          </p:nvSpPr>
          <p:spPr>
            <a:xfrm rot="5400000">
              <a:off x="3538247" y="3699014"/>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8" name="直線コネクタ 27">
              <a:extLst>
                <a:ext uri="{FF2B5EF4-FFF2-40B4-BE49-F238E27FC236}">
                  <a16:creationId xmlns:a16="http://schemas.microsoft.com/office/drawing/2014/main" id="{31AB2BBE-9928-150A-5F1F-AC69190380BC}"/>
                </a:ext>
              </a:extLst>
            </p:cNvPr>
            <p:cNvCxnSpPr>
              <a:cxnSpLocks/>
            </p:cNvCxnSpPr>
            <p:nvPr/>
          </p:nvCxnSpPr>
          <p:spPr>
            <a:xfrm flipH="1">
              <a:off x="2321975" y="3609002"/>
              <a:ext cx="540006"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29" name="グループ化 28">
              <a:extLst>
                <a:ext uri="{FF2B5EF4-FFF2-40B4-BE49-F238E27FC236}">
                  <a16:creationId xmlns:a16="http://schemas.microsoft.com/office/drawing/2014/main" id="{685C5FAB-88B2-109E-ABDA-1A82A2E865B5}"/>
                </a:ext>
              </a:extLst>
            </p:cNvPr>
            <p:cNvGrpSpPr/>
            <p:nvPr/>
          </p:nvGrpSpPr>
          <p:grpSpPr>
            <a:xfrm>
              <a:off x="2681979" y="3609002"/>
              <a:ext cx="360004" cy="720007"/>
              <a:chOff x="3131985" y="5049018"/>
              <a:chExt cx="180002" cy="437056"/>
            </a:xfrm>
          </p:grpSpPr>
          <p:grpSp>
            <p:nvGrpSpPr>
              <p:cNvPr id="30" name="グループ化 29">
                <a:extLst>
                  <a:ext uri="{FF2B5EF4-FFF2-40B4-BE49-F238E27FC236}">
                    <a16:creationId xmlns:a16="http://schemas.microsoft.com/office/drawing/2014/main" id="{E44AD47E-CD68-DE9E-908D-20F9A2950D2B}"/>
                  </a:ext>
                </a:extLst>
              </p:cNvPr>
              <p:cNvGrpSpPr/>
              <p:nvPr/>
            </p:nvGrpSpPr>
            <p:grpSpPr>
              <a:xfrm>
                <a:off x="3131985" y="5139021"/>
                <a:ext cx="180002" cy="254126"/>
                <a:chOff x="3131984" y="5191944"/>
                <a:chExt cx="270003" cy="201854"/>
              </a:xfrm>
            </p:grpSpPr>
            <p:sp>
              <p:nvSpPr>
                <p:cNvPr id="33" name="Freeform 42">
                  <a:extLst>
                    <a:ext uri="{FF2B5EF4-FFF2-40B4-BE49-F238E27FC236}">
                      <a16:creationId xmlns:a16="http://schemas.microsoft.com/office/drawing/2014/main" id="{74BB9242-7EFC-B8A0-3C82-16408D00AC15}"/>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34" name="Freeform 42">
                  <a:extLst>
                    <a:ext uri="{FF2B5EF4-FFF2-40B4-BE49-F238E27FC236}">
                      <a16:creationId xmlns:a16="http://schemas.microsoft.com/office/drawing/2014/main" id="{F363B754-EA95-700C-EAE4-4BDD1287BDC2}"/>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35" name="Freeform 42">
                  <a:extLst>
                    <a:ext uri="{FF2B5EF4-FFF2-40B4-BE49-F238E27FC236}">
                      <a16:creationId xmlns:a16="http://schemas.microsoft.com/office/drawing/2014/main" id="{A353A633-4BD8-40C7-5B8D-FC2B6A5071F4}"/>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36" name="Freeform 42">
                  <a:extLst>
                    <a:ext uri="{FF2B5EF4-FFF2-40B4-BE49-F238E27FC236}">
                      <a16:creationId xmlns:a16="http://schemas.microsoft.com/office/drawing/2014/main" id="{6C708FAA-766F-1BBE-9EB7-5BBBE1F673C0}"/>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31" name="直線コネクタ 30">
                <a:extLst>
                  <a:ext uri="{FF2B5EF4-FFF2-40B4-BE49-F238E27FC236}">
                    <a16:creationId xmlns:a16="http://schemas.microsoft.com/office/drawing/2014/main" id="{F71C7498-DF9B-4570-E2DD-62FDCD9CBF6D}"/>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2" name="直線コネクタ 31">
                <a:extLst>
                  <a:ext uri="{FF2B5EF4-FFF2-40B4-BE49-F238E27FC236}">
                    <a16:creationId xmlns:a16="http://schemas.microsoft.com/office/drawing/2014/main" id="{41CE4290-98FD-C84A-B629-0375F5AEDB09}"/>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37" name="直線コネクタ 36">
              <a:extLst>
                <a:ext uri="{FF2B5EF4-FFF2-40B4-BE49-F238E27FC236}">
                  <a16:creationId xmlns:a16="http://schemas.microsoft.com/office/drawing/2014/main" id="{55C6680C-0C23-6954-A7EC-13681A3F4F09}"/>
                </a:ext>
              </a:extLst>
            </p:cNvPr>
            <p:cNvCxnSpPr>
              <a:cxnSpLocks/>
            </p:cNvCxnSpPr>
            <p:nvPr/>
          </p:nvCxnSpPr>
          <p:spPr>
            <a:xfrm flipH="1">
              <a:off x="2321975" y="4329010"/>
              <a:ext cx="540006"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8" name="直線コネクタ 37">
              <a:extLst>
                <a:ext uri="{FF2B5EF4-FFF2-40B4-BE49-F238E27FC236}">
                  <a16:creationId xmlns:a16="http://schemas.microsoft.com/office/drawing/2014/main" id="{903F0A35-49E1-EB71-8EFA-FA48DF997733}"/>
                </a:ext>
              </a:extLst>
            </p:cNvPr>
            <p:cNvCxnSpPr>
              <a:cxnSpLocks/>
            </p:cNvCxnSpPr>
            <p:nvPr/>
          </p:nvCxnSpPr>
          <p:spPr>
            <a:xfrm flipH="1">
              <a:off x="2681979" y="3429000"/>
              <a:ext cx="450005" cy="0"/>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9" name="直線コネクタ 38">
              <a:extLst>
                <a:ext uri="{FF2B5EF4-FFF2-40B4-BE49-F238E27FC236}">
                  <a16:creationId xmlns:a16="http://schemas.microsoft.com/office/drawing/2014/main" id="{DEADD354-BF35-410B-8197-BA04403ABF1D}"/>
                </a:ext>
              </a:extLst>
            </p:cNvPr>
            <p:cNvCxnSpPr>
              <a:cxnSpLocks/>
            </p:cNvCxnSpPr>
            <p:nvPr/>
          </p:nvCxnSpPr>
          <p:spPr>
            <a:xfrm flipV="1">
              <a:off x="3131984" y="3429000"/>
              <a:ext cx="0" cy="360004"/>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0" name="直線コネクタ 39">
              <a:extLst>
                <a:ext uri="{FF2B5EF4-FFF2-40B4-BE49-F238E27FC236}">
                  <a16:creationId xmlns:a16="http://schemas.microsoft.com/office/drawing/2014/main" id="{26E3A455-922F-158D-E7A8-E272ACD37628}"/>
                </a:ext>
              </a:extLst>
            </p:cNvPr>
            <p:cNvCxnSpPr>
              <a:cxnSpLocks/>
            </p:cNvCxnSpPr>
            <p:nvPr/>
          </p:nvCxnSpPr>
          <p:spPr>
            <a:xfrm flipH="1">
              <a:off x="3131984" y="3789004"/>
              <a:ext cx="270003" cy="0"/>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a16:creationId xmlns:a16="http://schemas.microsoft.com/office/drawing/2014/main" id="{C4B7961D-C6DC-11BC-6C9C-05D1587FD54E}"/>
                </a:ext>
              </a:extLst>
            </p:cNvPr>
            <p:cNvCxnSpPr>
              <a:cxnSpLocks/>
            </p:cNvCxnSpPr>
            <p:nvPr/>
          </p:nvCxnSpPr>
          <p:spPr>
            <a:xfrm>
              <a:off x="3581989" y="3789004"/>
              <a:ext cx="0" cy="449998"/>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42" name="円/楕円 68">
              <a:extLst>
                <a:ext uri="{FF2B5EF4-FFF2-40B4-BE49-F238E27FC236}">
                  <a16:creationId xmlns:a16="http://schemas.microsoft.com/office/drawing/2014/main" id="{192A22DE-0631-55A3-821A-53D8A18E12E4}"/>
                </a:ext>
              </a:extLst>
            </p:cNvPr>
            <p:cNvSpPr/>
            <p:nvPr/>
          </p:nvSpPr>
          <p:spPr>
            <a:xfrm rot="5400000">
              <a:off x="3539686" y="423902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43" name="直線コネクタ 42">
              <a:extLst>
                <a:ext uri="{FF2B5EF4-FFF2-40B4-BE49-F238E27FC236}">
                  <a16:creationId xmlns:a16="http://schemas.microsoft.com/office/drawing/2014/main" id="{B21B2AA4-A17E-646B-93D2-EB1B8F2CFEBC}"/>
                </a:ext>
              </a:extLst>
            </p:cNvPr>
            <p:cNvCxnSpPr>
              <a:cxnSpLocks/>
            </p:cNvCxnSpPr>
            <p:nvPr/>
          </p:nvCxnSpPr>
          <p:spPr>
            <a:xfrm>
              <a:off x="3401987" y="4329010"/>
              <a:ext cx="0" cy="359997"/>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4" name="直線コネクタ 43">
              <a:extLst>
                <a:ext uri="{FF2B5EF4-FFF2-40B4-BE49-F238E27FC236}">
                  <a16:creationId xmlns:a16="http://schemas.microsoft.com/office/drawing/2014/main" id="{60145D03-9A09-0592-7F9F-57E8A4AB77E3}"/>
                </a:ext>
              </a:extLst>
            </p:cNvPr>
            <p:cNvCxnSpPr>
              <a:cxnSpLocks/>
            </p:cNvCxnSpPr>
            <p:nvPr/>
          </p:nvCxnSpPr>
          <p:spPr>
            <a:xfrm>
              <a:off x="3581989" y="4329010"/>
              <a:ext cx="0" cy="359997"/>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45" name="Rectangle 93">
              <a:extLst>
                <a:ext uri="{FF2B5EF4-FFF2-40B4-BE49-F238E27FC236}">
                  <a16:creationId xmlns:a16="http://schemas.microsoft.com/office/drawing/2014/main" id="{64ED6BAA-B2DC-B006-2CF5-F427AE68C791}"/>
                </a:ext>
              </a:extLst>
            </p:cNvPr>
            <p:cNvSpPr>
              <a:spLocks noChangeArrowheads="1"/>
            </p:cNvSpPr>
            <p:nvPr/>
          </p:nvSpPr>
          <p:spPr bwMode="auto">
            <a:xfrm>
              <a:off x="1961971" y="3429000"/>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46" name="Rectangle 93">
              <a:extLst>
                <a:ext uri="{FF2B5EF4-FFF2-40B4-BE49-F238E27FC236}">
                  <a16:creationId xmlns:a16="http://schemas.microsoft.com/office/drawing/2014/main" id="{2B091AC3-C58E-5F0B-6678-80E2A90C579C}"/>
                </a:ext>
              </a:extLst>
            </p:cNvPr>
            <p:cNvSpPr>
              <a:spLocks noChangeArrowheads="1"/>
            </p:cNvSpPr>
            <p:nvPr/>
          </p:nvSpPr>
          <p:spPr bwMode="auto">
            <a:xfrm>
              <a:off x="1961971"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B</a:t>
              </a:r>
            </a:p>
          </p:txBody>
        </p:sp>
        <p:sp>
          <p:nvSpPr>
            <p:cNvPr id="47" name="Rectangle 93">
              <a:extLst>
                <a:ext uri="{FF2B5EF4-FFF2-40B4-BE49-F238E27FC236}">
                  <a16:creationId xmlns:a16="http://schemas.microsoft.com/office/drawing/2014/main" id="{112CC91A-34F9-7E48-AF8E-0D2172BE5F64}"/>
                </a:ext>
              </a:extLst>
            </p:cNvPr>
            <p:cNvSpPr>
              <a:spLocks noChangeArrowheads="1"/>
            </p:cNvSpPr>
            <p:nvPr/>
          </p:nvSpPr>
          <p:spPr bwMode="auto">
            <a:xfrm>
              <a:off x="3041983" y="4599013"/>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48" name="Rectangle 93">
              <a:extLst>
                <a:ext uri="{FF2B5EF4-FFF2-40B4-BE49-F238E27FC236}">
                  <a16:creationId xmlns:a16="http://schemas.microsoft.com/office/drawing/2014/main" id="{26845C06-8A17-FA3F-D9B9-DAE63D32D0B7}"/>
                </a:ext>
              </a:extLst>
            </p:cNvPr>
            <p:cNvSpPr>
              <a:spLocks noChangeArrowheads="1"/>
            </p:cNvSpPr>
            <p:nvPr/>
          </p:nvSpPr>
          <p:spPr bwMode="auto">
            <a:xfrm>
              <a:off x="3581989" y="4599013"/>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grpSp>
      <p:sp>
        <p:nvSpPr>
          <p:cNvPr id="51" name="円/楕円 69">
            <a:extLst>
              <a:ext uri="{FF2B5EF4-FFF2-40B4-BE49-F238E27FC236}">
                <a16:creationId xmlns:a16="http://schemas.microsoft.com/office/drawing/2014/main" id="{44A03D6B-529C-3026-F1CF-E464D6429147}"/>
              </a:ext>
            </a:extLst>
          </p:cNvPr>
          <p:cNvSpPr/>
          <p:nvPr/>
        </p:nvSpPr>
        <p:spPr>
          <a:xfrm rot="5400000">
            <a:off x="6238274" y="3789004"/>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52" name="直線コネクタ 51">
            <a:extLst>
              <a:ext uri="{FF2B5EF4-FFF2-40B4-BE49-F238E27FC236}">
                <a16:creationId xmlns:a16="http://schemas.microsoft.com/office/drawing/2014/main" id="{078BDBDD-B924-9083-A0E3-5D9F2B776B98}"/>
              </a:ext>
            </a:extLst>
          </p:cNvPr>
          <p:cNvCxnSpPr>
            <a:cxnSpLocks/>
          </p:cNvCxnSpPr>
          <p:nvPr/>
        </p:nvCxnSpPr>
        <p:spPr>
          <a:xfrm flipH="1">
            <a:off x="5202007" y="3609002"/>
            <a:ext cx="540006"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53" name="グループ化 52">
            <a:extLst>
              <a:ext uri="{FF2B5EF4-FFF2-40B4-BE49-F238E27FC236}">
                <a16:creationId xmlns:a16="http://schemas.microsoft.com/office/drawing/2014/main" id="{FCCF0A3B-D29A-F06A-435B-661BE79E9F72}"/>
              </a:ext>
            </a:extLst>
          </p:cNvPr>
          <p:cNvGrpSpPr/>
          <p:nvPr/>
        </p:nvGrpSpPr>
        <p:grpSpPr>
          <a:xfrm>
            <a:off x="5562011" y="3609002"/>
            <a:ext cx="360004" cy="720007"/>
            <a:chOff x="3131985" y="5049018"/>
            <a:chExt cx="180002" cy="437056"/>
          </a:xfrm>
        </p:grpSpPr>
        <p:grpSp>
          <p:nvGrpSpPr>
            <p:cNvPr id="54" name="グループ化 53">
              <a:extLst>
                <a:ext uri="{FF2B5EF4-FFF2-40B4-BE49-F238E27FC236}">
                  <a16:creationId xmlns:a16="http://schemas.microsoft.com/office/drawing/2014/main" id="{3ADC44E4-B060-787F-27E2-24655E531BAA}"/>
                </a:ext>
              </a:extLst>
            </p:cNvPr>
            <p:cNvGrpSpPr/>
            <p:nvPr/>
          </p:nvGrpSpPr>
          <p:grpSpPr>
            <a:xfrm>
              <a:off x="3131985" y="5139021"/>
              <a:ext cx="180002" cy="254126"/>
              <a:chOff x="3131984" y="5191944"/>
              <a:chExt cx="270003" cy="201854"/>
            </a:xfrm>
          </p:grpSpPr>
          <p:sp>
            <p:nvSpPr>
              <p:cNvPr id="57" name="Freeform 42">
                <a:extLst>
                  <a:ext uri="{FF2B5EF4-FFF2-40B4-BE49-F238E27FC236}">
                    <a16:creationId xmlns:a16="http://schemas.microsoft.com/office/drawing/2014/main" id="{993EAB2D-3991-E251-FD0D-CC3AA35BB386}"/>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58" name="Freeform 42">
                <a:extLst>
                  <a:ext uri="{FF2B5EF4-FFF2-40B4-BE49-F238E27FC236}">
                    <a16:creationId xmlns:a16="http://schemas.microsoft.com/office/drawing/2014/main" id="{178E3D8F-57D5-F50E-8A21-73E2A9F45C0B}"/>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59" name="Freeform 42">
                <a:extLst>
                  <a:ext uri="{FF2B5EF4-FFF2-40B4-BE49-F238E27FC236}">
                    <a16:creationId xmlns:a16="http://schemas.microsoft.com/office/drawing/2014/main" id="{995B01CC-AAD1-B5CE-128D-1304A5A29587}"/>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60" name="Freeform 42">
                <a:extLst>
                  <a:ext uri="{FF2B5EF4-FFF2-40B4-BE49-F238E27FC236}">
                    <a16:creationId xmlns:a16="http://schemas.microsoft.com/office/drawing/2014/main" id="{8E7128AD-760E-58EA-50BE-DD46F42C3EB2}"/>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55" name="直線コネクタ 54">
              <a:extLst>
                <a:ext uri="{FF2B5EF4-FFF2-40B4-BE49-F238E27FC236}">
                  <a16:creationId xmlns:a16="http://schemas.microsoft.com/office/drawing/2014/main" id="{FCD0EDDE-E51A-BA2D-7DA3-08A031FEF7AA}"/>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6" name="直線コネクタ 55">
              <a:extLst>
                <a:ext uri="{FF2B5EF4-FFF2-40B4-BE49-F238E27FC236}">
                  <a16:creationId xmlns:a16="http://schemas.microsoft.com/office/drawing/2014/main" id="{7143977E-BE7A-5F45-7AAB-8BFF032289F4}"/>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61" name="直線コネクタ 60">
            <a:extLst>
              <a:ext uri="{FF2B5EF4-FFF2-40B4-BE49-F238E27FC236}">
                <a16:creationId xmlns:a16="http://schemas.microsoft.com/office/drawing/2014/main" id="{FC364584-97D0-00E1-33D6-4565068B5A81}"/>
              </a:ext>
            </a:extLst>
          </p:cNvPr>
          <p:cNvCxnSpPr>
            <a:cxnSpLocks/>
          </p:cNvCxnSpPr>
          <p:nvPr/>
        </p:nvCxnSpPr>
        <p:spPr>
          <a:xfrm flipH="1">
            <a:off x="5202007" y="4329010"/>
            <a:ext cx="540006"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65" name="直線コネクタ 64">
            <a:extLst>
              <a:ext uri="{FF2B5EF4-FFF2-40B4-BE49-F238E27FC236}">
                <a16:creationId xmlns:a16="http://schemas.microsoft.com/office/drawing/2014/main" id="{DF989311-FADC-CC89-161C-557AD46F5706}"/>
              </a:ext>
            </a:extLst>
          </p:cNvPr>
          <p:cNvCxnSpPr>
            <a:cxnSpLocks/>
            <a:endCxn id="66" idx="4"/>
          </p:cNvCxnSpPr>
          <p:nvPr/>
        </p:nvCxnSpPr>
        <p:spPr>
          <a:xfrm>
            <a:off x="6102017" y="3789004"/>
            <a:ext cx="133734"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66" name="円/楕円 68">
            <a:extLst>
              <a:ext uri="{FF2B5EF4-FFF2-40B4-BE49-F238E27FC236}">
                <a16:creationId xmlns:a16="http://schemas.microsoft.com/office/drawing/2014/main" id="{C59871AD-7D1C-E1A9-8357-CCC6F06C31E0}"/>
              </a:ext>
            </a:extLst>
          </p:cNvPr>
          <p:cNvSpPr/>
          <p:nvPr/>
        </p:nvSpPr>
        <p:spPr>
          <a:xfrm rot="5400000">
            <a:off x="6235740" y="4059018"/>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67" name="直線コネクタ 66">
            <a:extLst>
              <a:ext uri="{FF2B5EF4-FFF2-40B4-BE49-F238E27FC236}">
                <a16:creationId xmlns:a16="http://schemas.microsoft.com/office/drawing/2014/main" id="{D0F924DA-5AB2-4B05-BE08-83CAAD6562EC}"/>
              </a:ext>
            </a:extLst>
          </p:cNvPr>
          <p:cNvCxnSpPr>
            <a:cxnSpLocks/>
            <a:endCxn id="51" idx="2"/>
          </p:cNvCxnSpPr>
          <p:nvPr/>
        </p:nvCxnSpPr>
        <p:spPr>
          <a:xfrm>
            <a:off x="6282019" y="3609002"/>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68" name="直線コネクタ 67">
            <a:extLst>
              <a:ext uri="{FF2B5EF4-FFF2-40B4-BE49-F238E27FC236}">
                <a16:creationId xmlns:a16="http://schemas.microsoft.com/office/drawing/2014/main" id="{B6EF6593-E6E9-479B-0791-62DDF648A986}"/>
              </a:ext>
            </a:extLst>
          </p:cNvPr>
          <p:cNvCxnSpPr>
            <a:cxnSpLocks/>
          </p:cNvCxnSpPr>
          <p:nvPr/>
        </p:nvCxnSpPr>
        <p:spPr>
          <a:xfrm>
            <a:off x="6282019" y="4149008"/>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69" name="Rectangle 93">
            <a:extLst>
              <a:ext uri="{FF2B5EF4-FFF2-40B4-BE49-F238E27FC236}">
                <a16:creationId xmlns:a16="http://schemas.microsoft.com/office/drawing/2014/main" id="{2BD80BB5-2AED-8002-6E47-9CD0C473F7A0}"/>
              </a:ext>
            </a:extLst>
          </p:cNvPr>
          <p:cNvSpPr>
            <a:spLocks noChangeArrowheads="1"/>
          </p:cNvSpPr>
          <p:nvPr/>
        </p:nvSpPr>
        <p:spPr bwMode="auto">
          <a:xfrm>
            <a:off x="4842003" y="3429000"/>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70" name="Rectangle 93">
            <a:extLst>
              <a:ext uri="{FF2B5EF4-FFF2-40B4-BE49-F238E27FC236}">
                <a16:creationId xmlns:a16="http://schemas.microsoft.com/office/drawing/2014/main" id="{8B2B2287-A896-D27C-35C9-EF97A6EEC2E7}"/>
              </a:ext>
            </a:extLst>
          </p:cNvPr>
          <p:cNvSpPr>
            <a:spLocks noChangeArrowheads="1"/>
          </p:cNvSpPr>
          <p:nvPr/>
        </p:nvSpPr>
        <p:spPr bwMode="auto">
          <a:xfrm>
            <a:off x="4842003"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B</a:t>
            </a:r>
          </a:p>
        </p:txBody>
      </p:sp>
      <p:sp>
        <p:nvSpPr>
          <p:cNvPr id="71" name="Rectangle 93">
            <a:extLst>
              <a:ext uri="{FF2B5EF4-FFF2-40B4-BE49-F238E27FC236}">
                <a16:creationId xmlns:a16="http://schemas.microsoft.com/office/drawing/2014/main" id="{4C234E91-6B09-FFF3-C071-5B65DD98D8CB}"/>
              </a:ext>
            </a:extLst>
          </p:cNvPr>
          <p:cNvSpPr>
            <a:spLocks noChangeArrowheads="1"/>
          </p:cNvSpPr>
          <p:nvPr/>
        </p:nvSpPr>
        <p:spPr bwMode="auto">
          <a:xfrm>
            <a:off x="6822025" y="3429000"/>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72" name="Rectangle 93">
            <a:extLst>
              <a:ext uri="{FF2B5EF4-FFF2-40B4-BE49-F238E27FC236}">
                <a16:creationId xmlns:a16="http://schemas.microsoft.com/office/drawing/2014/main" id="{CCFA00C2-F81D-B699-BFD6-CB8205A6DDBE}"/>
              </a:ext>
            </a:extLst>
          </p:cNvPr>
          <p:cNvSpPr>
            <a:spLocks noChangeArrowheads="1"/>
          </p:cNvSpPr>
          <p:nvPr/>
        </p:nvSpPr>
        <p:spPr bwMode="auto">
          <a:xfrm>
            <a:off x="6822025"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76" name="直線コネクタ 75">
            <a:extLst>
              <a:ext uri="{FF2B5EF4-FFF2-40B4-BE49-F238E27FC236}">
                <a16:creationId xmlns:a16="http://schemas.microsoft.com/office/drawing/2014/main" id="{E46E2DDF-B62E-9EF6-C8DD-21879CD730F1}"/>
              </a:ext>
            </a:extLst>
          </p:cNvPr>
          <p:cNvCxnSpPr>
            <a:cxnSpLocks/>
          </p:cNvCxnSpPr>
          <p:nvPr/>
        </p:nvCxnSpPr>
        <p:spPr>
          <a:xfrm flipH="1">
            <a:off x="6282019" y="4329010"/>
            <a:ext cx="540006"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77" name="直線コネクタ 76">
            <a:extLst>
              <a:ext uri="{FF2B5EF4-FFF2-40B4-BE49-F238E27FC236}">
                <a16:creationId xmlns:a16="http://schemas.microsoft.com/office/drawing/2014/main" id="{E384694F-A7AA-ACDD-6F8E-6053C5543852}"/>
              </a:ext>
            </a:extLst>
          </p:cNvPr>
          <p:cNvCxnSpPr>
            <a:cxnSpLocks/>
          </p:cNvCxnSpPr>
          <p:nvPr/>
        </p:nvCxnSpPr>
        <p:spPr>
          <a:xfrm flipH="1">
            <a:off x="6282019" y="3609002"/>
            <a:ext cx="540006"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2584083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2DA865E-CDA2-7D5F-6EAD-24FA2846D94C}"/>
              </a:ext>
            </a:extLst>
          </p:cNvPr>
          <p:cNvSpPr>
            <a:spLocks noGrp="1"/>
          </p:cNvSpPr>
          <p:nvPr>
            <p:ph type="title"/>
          </p:nvPr>
        </p:nvSpPr>
        <p:spPr/>
        <p:txBody>
          <a:bodyPr/>
          <a:lstStyle/>
          <a:p>
            <a:r>
              <a:rPr kumimoji="1" lang="en-US" altLang="ja-JP" dirty="0"/>
              <a:t>VDD </a:t>
            </a:r>
            <a:r>
              <a:rPr kumimoji="1" lang="ja-JP" altLang="en-US" dirty="0"/>
              <a:t>と </a:t>
            </a:r>
            <a:r>
              <a:rPr kumimoji="1" lang="en-US" altLang="ja-JP" dirty="0"/>
              <a:t>GND</a:t>
            </a:r>
            <a:endParaRPr kumimoji="1" lang="en-US" dirty="0"/>
          </a:p>
        </p:txBody>
      </p:sp>
      <p:sp>
        <p:nvSpPr>
          <p:cNvPr id="3" name="コンテンツ プレースホルダー 2">
            <a:extLst>
              <a:ext uri="{FF2B5EF4-FFF2-40B4-BE49-F238E27FC236}">
                <a16:creationId xmlns:a16="http://schemas.microsoft.com/office/drawing/2014/main" id="{18FFA833-26C6-12D0-2AEF-E0870502C9B0}"/>
              </a:ext>
            </a:extLst>
          </p:cNvPr>
          <p:cNvSpPr>
            <a:spLocks noGrp="1"/>
          </p:cNvSpPr>
          <p:nvPr>
            <p:ph sz="quarter" idx="10"/>
          </p:nvPr>
        </p:nvSpPr>
        <p:spPr>
          <a:xfrm>
            <a:off x="611956" y="1088974"/>
            <a:ext cx="8280092" cy="2700030"/>
          </a:xfrm>
        </p:spPr>
        <p:txBody>
          <a:bodyPr anchor="t"/>
          <a:lstStyle/>
          <a:p>
            <a:r>
              <a:rPr kumimoji="1" lang="ja-JP" altLang="en-US" dirty="0"/>
              <a:t>以下の２端子を定義</a:t>
            </a:r>
            <a:endParaRPr kumimoji="1" lang="en-US" altLang="ja-JP" dirty="0"/>
          </a:p>
          <a:p>
            <a:pPr lvl="1"/>
            <a:r>
              <a:rPr kumimoji="1" lang="en-US" altLang="ja-JP" dirty="0"/>
              <a:t>VDD</a:t>
            </a:r>
            <a:r>
              <a:rPr kumimoji="1" lang="ja-JP" altLang="en-US" dirty="0"/>
              <a:t>：高電位</a:t>
            </a:r>
            <a:endParaRPr kumimoji="1" lang="en-US" altLang="ja-JP" dirty="0"/>
          </a:p>
          <a:p>
            <a:pPr lvl="1"/>
            <a:r>
              <a:rPr kumimoji="1" lang="en-US" altLang="ja-JP" dirty="0"/>
              <a:t>GND</a:t>
            </a:r>
            <a:r>
              <a:rPr kumimoji="1" lang="ja-JP" altLang="en-US" dirty="0"/>
              <a:t>（</a:t>
            </a:r>
            <a:r>
              <a:rPr kumimoji="1" lang="en-US" altLang="ja-JP" dirty="0"/>
              <a:t>Ground=</a:t>
            </a:r>
            <a:r>
              <a:rPr kumimoji="1" lang="ja-JP" altLang="en-US" dirty="0"/>
              <a:t>地面）：低電位</a:t>
            </a:r>
            <a:endParaRPr kumimoji="1" lang="en-US" altLang="ja-JP" dirty="0"/>
          </a:p>
          <a:p>
            <a:r>
              <a:rPr lang="ja-JP" altLang="en-US" dirty="0"/>
              <a:t>記号の描き方</a:t>
            </a:r>
            <a:endParaRPr lang="en-US" altLang="ja-JP" dirty="0"/>
          </a:p>
          <a:p>
            <a:pPr lvl="1"/>
            <a:r>
              <a:rPr lang="ja-JP" altLang="en-US" dirty="0"/>
              <a:t>基本的に絵の上側に </a:t>
            </a:r>
            <a:r>
              <a:rPr lang="en-US" altLang="ja-JP" dirty="0"/>
              <a:t>VDD</a:t>
            </a:r>
            <a:r>
              <a:rPr lang="ja-JP" altLang="en-US" dirty="0"/>
              <a:t>，下側に </a:t>
            </a:r>
            <a:r>
              <a:rPr lang="en-US" altLang="ja-JP" dirty="0"/>
              <a:t>GND </a:t>
            </a:r>
            <a:r>
              <a:rPr lang="ja-JP" altLang="en-US" dirty="0"/>
              <a:t>を描く</a:t>
            </a:r>
            <a:endParaRPr lang="en-US" altLang="ja-JP" dirty="0"/>
          </a:p>
          <a:p>
            <a:pPr lvl="1"/>
            <a:r>
              <a:rPr lang="en-US" altLang="ja-JP" dirty="0"/>
              <a:t>VDD </a:t>
            </a:r>
            <a:r>
              <a:rPr lang="ja-JP" altLang="en-US" dirty="0"/>
              <a:t>と </a:t>
            </a:r>
            <a:r>
              <a:rPr lang="en-US" altLang="ja-JP" dirty="0"/>
              <a:t>GND </a:t>
            </a:r>
            <a:r>
              <a:rPr lang="ja-JP" altLang="en-US" dirty="0"/>
              <a:t>があったら，図内に描かれていない世界のどこかで以下のように電源に繋がっていると考える</a:t>
            </a:r>
            <a:endParaRPr lang="en-US" altLang="ja-JP" dirty="0"/>
          </a:p>
        </p:txBody>
      </p:sp>
      <p:grpSp>
        <p:nvGrpSpPr>
          <p:cNvPr id="4" name="グループ化 152">
            <a:extLst>
              <a:ext uri="{FF2B5EF4-FFF2-40B4-BE49-F238E27FC236}">
                <a16:creationId xmlns:a16="http://schemas.microsoft.com/office/drawing/2014/main" id="{5EF0520D-8706-0182-A9B0-2F104A598766}"/>
              </a:ext>
            </a:extLst>
          </p:cNvPr>
          <p:cNvGrpSpPr/>
          <p:nvPr/>
        </p:nvGrpSpPr>
        <p:grpSpPr>
          <a:xfrm>
            <a:off x="4481999" y="6309032"/>
            <a:ext cx="180002" cy="90001"/>
            <a:chOff x="3643306" y="4500570"/>
            <a:chExt cx="428628" cy="144464"/>
          </a:xfrm>
        </p:grpSpPr>
        <p:cxnSp>
          <p:nvCxnSpPr>
            <p:cNvPr id="5" name="直線コネクタ 4">
              <a:extLst>
                <a:ext uri="{FF2B5EF4-FFF2-40B4-BE49-F238E27FC236}">
                  <a16:creationId xmlns:a16="http://schemas.microsoft.com/office/drawing/2014/main" id="{469D18ED-BC0F-480E-8690-0852A0C97486}"/>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6" name="直線コネクタ 5">
              <a:extLst>
                <a:ext uri="{FF2B5EF4-FFF2-40B4-BE49-F238E27FC236}">
                  <a16:creationId xmlns:a16="http://schemas.microsoft.com/office/drawing/2014/main" id="{531EEC64-CF30-4AF8-3BBC-850A2D6683CB}"/>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7" name="直線コネクタ 6">
              <a:extLst>
                <a:ext uri="{FF2B5EF4-FFF2-40B4-BE49-F238E27FC236}">
                  <a16:creationId xmlns:a16="http://schemas.microsoft.com/office/drawing/2014/main" id="{7F3FA5A7-36AA-4066-6641-35694E3A4960}"/>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8" name="Rectangle 93">
            <a:extLst>
              <a:ext uri="{FF2B5EF4-FFF2-40B4-BE49-F238E27FC236}">
                <a16:creationId xmlns:a16="http://schemas.microsoft.com/office/drawing/2014/main" id="{039936F9-E3A9-24AB-64F6-5C7C20BC84FB}"/>
              </a:ext>
            </a:extLst>
          </p:cNvPr>
          <p:cNvSpPr>
            <a:spLocks noChangeArrowheads="1"/>
          </p:cNvSpPr>
          <p:nvPr/>
        </p:nvSpPr>
        <p:spPr bwMode="auto">
          <a:xfrm>
            <a:off x="4301997" y="6399033"/>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sp>
        <p:nvSpPr>
          <p:cNvPr id="9" name="Rectangle 93">
            <a:extLst>
              <a:ext uri="{FF2B5EF4-FFF2-40B4-BE49-F238E27FC236}">
                <a16:creationId xmlns:a16="http://schemas.microsoft.com/office/drawing/2014/main" id="{E00D0A4B-D5D2-5EFF-DB6B-47B6E176415F}"/>
              </a:ext>
            </a:extLst>
          </p:cNvPr>
          <p:cNvSpPr>
            <a:spLocks noChangeArrowheads="1"/>
          </p:cNvSpPr>
          <p:nvPr/>
        </p:nvSpPr>
        <p:spPr bwMode="auto">
          <a:xfrm>
            <a:off x="4301997" y="4508654"/>
            <a:ext cx="270003" cy="360362"/>
          </a:xfrm>
          <a:prstGeom prst="rect">
            <a:avLst/>
          </a:prstGeom>
          <a:noFill/>
          <a:ln w="12700" algn="ctr">
            <a:noFill/>
            <a:miter lim="800000"/>
            <a:headEnd/>
            <a:tailEnd/>
          </a:ln>
          <a:effectLst/>
        </p:spPr>
        <p:txBody>
          <a:bodyPr wrap="none" lIns="90000" tIns="46800" rIns="90000" bIns="46800" anchor="ctr"/>
          <a:lstStyle/>
          <a:p>
            <a:r>
              <a:rPr lang="en-US" altLang="ja-JP" b="0" i="0" dirty="0">
                <a:latin typeface="+mj-lt"/>
              </a:rPr>
              <a:t>VDD</a:t>
            </a:r>
            <a:endParaRPr lang="en-US" altLang="ja-JP" dirty="0"/>
          </a:p>
        </p:txBody>
      </p:sp>
      <p:cxnSp>
        <p:nvCxnSpPr>
          <p:cNvPr id="10" name="直線コネクタ 9">
            <a:extLst>
              <a:ext uri="{FF2B5EF4-FFF2-40B4-BE49-F238E27FC236}">
                <a16:creationId xmlns:a16="http://schemas.microsoft.com/office/drawing/2014/main" id="{F68ED680-6001-8DAB-FA70-BFC691A74E3D}"/>
              </a:ext>
            </a:extLst>
          </p:cNvPr>
          <p:cNvCxnSpPr/>
          <p:nvPr/>
        </p:nvCxnSpPr>
        <p:spPr>
          <a:xfrm>
            <a:off x="4391998" y="4868658"/>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F1162058-13D7-D683-5B79-914CF4918812}"/>
              </a:ext>
            </a:extLst>
          </p:cNvPr>
          <p:cNvCxnSpPr>
            <a:cxnSpLocks/>
          </p:cNvCxnSpPr>
          <p:nvPr/>
        </p:nvCxnSpPr>
        <p:spPr>
          <a:xfrm flipV="1">
            <a:off x="4572000" y="4869016"/>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3" name="直線コネクタ 12">
            <a:extLst>
              <a:ext uri="{FF2B5EF4-FFF2-40B4-BE49-F238E27FC236}">
                <a16:creationId xmlns:a16="http://schemas.microsoft.com/office/drawing/2014/main" id="{7D5E9C4F-8D4E-8619-2CD1-A2C6BDE425E8}"/>
              </a:ext>
            </a:extLst>
          </p:cNvPr>
          <p:cNvCxnSpPr>
            <a:cxnSpLocks/>
          </p:cNvCxnSpPr>
          <p:nvPr/>
        </p:nvCxnSpPr>
        <p:spPr>
          <a:xfrm>
            <a:off x="4391998" y="5589024"/>
            <a:ext cx="360004" cy="0"/>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a16:creationId xmlns:a16="http://schemas.microsoft.com/office/drawing/2014/main" id="{7A2254C8-EADF-B805-2032-A126A18745D5}"/>
              </a:ext>
            </a:extLst>
          </p:cNvPr>
          <p:cNvCxnSpPr>
            <a:cxnSpLocks/>
          </p:cNvCxnSpPr>
          <p:nvPr/>
        </p:nvCxnSpPr>
        <p:spPr>
          <a:xfrm>
            <a:off x="4481999" y="5679025"/>
            <a:ext cx="180002" cy="0"/>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9" name="直線コネクタ 18">
            <a:extLst>
              <a:ext uri="{FF2B5EF4-FFF2-40B4-BE49-F238E27FC236}">
                <a16:creationId xmlns:a16="http://schemas.microsoft.com/office/drawing/2014/main" id="{01FEA311-632F-59DC-BFA3-B2C0138588FC}"/>
              </a:ext>
            </a:extLst>
          </p:cNvPr>
          <p:cNvCxnSpPr>
            <a:cxnSpLocks/>
          </p:cNvCxnSpPr>
          <p:nvPr/>
        </p:nvCxnSpPr>
        <p:spPr>
          <a:xfrm flipV="1">
            <a:off x="4572000" y="5679025"/>
            <a:ext cx="0" cy="630007"/>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1" name="Rectangle 93">
            <a:extLst>
              <a:ext uri="{FF2B5EF4-FFF2-40B4-BE49-F238E27FC236}">
                <a16:creationId xmlns:a16="http://schemas.microsoft.com/office/drawing/2014/main" id="{61465843-61BD-B32C-8CAC-E6B43C5D56F4}"/>
              </a:ext>
            </a:extLst>
          </p:cNvPr>
          <p:cNvSpPr>
            <a:spLocks noChangeArrowheads="1"/>
          </p:cNvSpPr>
          <p:nvPr/>
        </p:nvSpPr>
        <p:spPr bwMode="auto">
          <a:xfrm>
            <a:off x="4752002" y="5409022"/>
            <a:ext cx="270003" cy="360362"/>
          </a:xfrm>
          <a:prstGeom prst="rect">
            <a:avLst/>
          </a:prstGeom>
          <a:noFill/>
          <a:ln w="12700" algn="ctr">
            <a:noFill/>
            <a:miter lim="800000"/>
            <a:headEnd/>
            <a:tailEnd/>
          </a:ln>
          <a:effectLst/>
        </p:spPr>
        <p:txBody>
          <a:bodyPr wrap="none" lIns="90000" tIns="46800" rIns="90000" bIns="46800" anchor="ctr"/>
          <a:lstStyle/>
          <a:p>
            <a:r>
              <a:rPr lang="ja-JP" altLang="en-US" b="0" i="0" dirty="0">
                <a:latin typeface="+mj-lt"/>
              </a:rPr>
              <a:t>電源</a:t>
            </a:r>
            <a:endParaRPr lang="en-US" altLang="ja-JP" dirty="0"/>
          </a:p>
        </p:txBody>
      </p:sp>
    </p:spTree>
    <p:extLst>
      <p:ext uri="{BB962C8B-B14F-4D97-AF65-F5344CB8AC3E}">
        <p14:creationId xmlns:p14="http://schemas.microsoft.com/office/powerpoint/2010/main" val="20041010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24F360-D537-1CFF-3E7B-6355572A4AFB}"/>
              </a:ext>
            </a:extLst>
          </p:cNvPr>
          <p:cNvSpPr>
            <a:spLocks noGrp="1"/>
          </p:cNvSpPr>
          <p:nvPr>
            <p:ph type="title"/>
          </p:nvPr>
        </p:nvSpPr>
        <p:spPr/>
        <p:txBody>
          <a:bodyPr/>
          <a:lstStyle/>
          <a:p>
            <a:r>
              <a:rPr kumimoji="1" lang="ja-JP" altLang="en-US" dirty="0"/>
              <a:t>電位と数値表現</a:t>
            </a:r>
            <a:endParaRPr kumimoji="1" lang="en-US" dirty="0"/>
          </a:p>
        </p:txBody>
      </p:sp>
      <p:sp>
        <p:nvSpPr>
          <p:cNvPr id="3" name="コンテンツ プレースホルダー 2">
            <a:extLst>
              <a:ext uri="{FF2B5EF4-FFF2-40B4-BE49-F238E27FC236}">
                <a16:creationId xmlns:a16="http://schemas.microsoft.com/office/drawing/2014/main" id="{064E000C-B747-BD03-CD8E-D9719072C836}"/>
              </a:ext>
            </a:extLst>
          </p:cNvPr>
          <p:cNvSpPr>
            <a:spLocks noGrp="1"/>
          </p:cNvSpPr>
          <p:nvPr>
            <p:ph sz="quarter" idx="10"/>
          </p:nvPr>
        </p:nvSpPr>
        <p:spPr>
          <a:xfrm>
            <a:off x="611956" y="1088974"/>
            <a:ext cx="8280092" cy="2610029"/>
          </a:xfrm>
        </p:spPr>
        <p:txBody>
          <a:bodyPr/>
          <a:lstStyle/>
          <a:p>
            <a:r>
              <a:rPr kumimoji="1" lang="ja-JP" altLang="en-US" dirty="0">
                <a:solidFill>
                  <a:schemeClr val="accent5"/>
                </a:solidFill>
              </a:rPr>
              <a:t>高電位を１，低電位を０，解放を </a:t>
            </a:r>
            <a:r>
              <a:rPr kumimoji="1" lang="en-US" altLang="ja-JP" dirty="0">
                <a:solidFill>
                  <a:schemeClr val="accent5"/>
                </a:solidFill>
              </a:rPr>
              <a:t>Z </a:t>
            </a:r>
            <a:r>
              <a:rPr kumimoji="1" lang="ja-JP" altLang="en-US" dirty="0">
                <a:solidFill>
                  <a:schemeClr val="accent5"/>
                </a:solidFill>
              </a:rPr>
              <a:t>と定義する</a:t>
            </a:r>
            <a:endParaRPr kumimoji="1" lang="en-US" altLang="ja-JP" dirty="0">
              <a:solidFill>
                <a:schemeClr val="accent5"/>
              </a:solidFill>
            </a:endParaRPr>
          </a:p>
          <a:p>
            <a:r>
              <a:rPr kumimoji="1" lang="ja-JP" altLang="en-US" dirty="0"/>
              <a:t>以下のように読み替えてもよい</a:t>
            </a:r>
            <a:endParaRPr kumimoji="1" lang="en-US" altLang="ja-JP" dirty="0"/>
          </a:p>
          <a:p>
            <a:pPr lvl="1"/>
            <a:r>
              <a:rPr kumimoji="1" lang="en-US" altLang="ja-JP" dirty="0"/>
              <a:t>VDD </a:t>
            </a:r>
            <a:r>
              <a:rPr kumimoji="1" lang="ja-JP" altLang="en-US" dirty="0"/>
              <a:t>に直結している信号線の電位（</a:t>
            </a:r>
            <a:r>
              <a:rPr kumimoji="1" lang="en-US" altLang="ja-JP" dirty="0"/>
              <a:t>=</a:t>
            </a:r>
            <a:r>
              <a:rPr kumimoji="1" lang="ja-JP" altLang="en-US" dirty="0"/>
              <a:t>状態）は１</a:t>
            </a:r>
            <a:endParaRPr kumimoji="1" lang="en-US" altLang="ja-JP" dirty="0"/>
          </a:p>
          <a:p>
            <a:pPr lvl="1"/>
            <a:r>
              <a:rPr kumimoji="1" lang="en-US" altLang="ja-JP" dirty="0"/>
              <a:t>GND </a:t>
            </a:r>
            <a:r>
              <a:rPr kumimoji="1" lang="ja-JP" altLang="en-US" dirty="0"/>
              <a:t>に直結している信号線の電位（</a:t>
            </a:r>
            <a:r>
              <a:rPr kumimoji="1" lang="en-US" altLang="ja-JP" dirty="0"/>
              <a:t>=</a:t>
            </a:r>
            <a:r>
              <a:rPr kumimoji="1" lang="ja-JP" altLang="en-US" dirty="0"/>
              <a:t>状態）は０</a:t>
            </a:r>
            <a:endParaRPr kumimoji="1" lang="en-US" altLang="ja-JP" dirty="0"/>
          </a:p>
          <a:p>
            <a:pPr lvl="1"/>
            <a:r>
              <a:rPr kumimoji="1" lang="ja-JP" altLang="en-US" dirty="0"/>
              <a:t>どこにも繋がっていない信号線の電位（</a:t>
            </a:r>
            <a:r>
              <a:rPr kumimoji="1" lang="en-US" altLang="ja-JP" dirty="0"/>
              <a:t>=</a:t>
            </a:r>
            <a:r>
              <a:rPr kumimoji="1" lang="ja-JP" altLang="en-US" dirty="0"/>
              <a:t>状態）は </a:t>
            </a:r>
            <a:r>
              <a:rPr kumimoji="1" lang="en-US" altLang="ja-JP" dirty="0"/>
              <a:t>Z</a:t>
            </a:r>
            <a:endParaRPr kumimoji="1" lang="en-US" dirty="0"/>
          </a:p>
        </p:txBody>
      </p:sp>
      <p:grpSp>
        <p:nvGrpSpPr>
          <p:cNvPr id="24" name="グループ化 23">
            <a:extLst>
              <a:ext uri="{FF2B5EF4-FFF2-40B4-BE49-F238E27FC236}">
                <a16:creationId xmlns:a16="http://schemas.microsoft.com/office/drawing/2014/main" id="{54D13DA5-13BC-F58C-7FD6-000CDEB1C3FF}"/>
              </a:ext>
            </a:extLst>
          </p:cNvPr>
          <p:cNvGrpSpPr/>
          <p:nvPr/>
        </p:nvGrpSpPr>
        <p:grpSpPr>
          <a:xfrm rot="5400000">
            <a:off x="1645695" y="4687736"/>
            <a:ext cx="92524" cy="360026"/>
            <a:chOff x="5245740" y="2168975"/>
            <a:chExt cx="92524" cy="360026"/>
          </a:xfrm>
        </p:grpSpPr>
        <p:sp>
          <p:nvSpPr>
            <p:cNvPr id="17" name="円/楕円 69">
              <a:extLst>
                <a:ext uri="{FF2B5EF4-FFF2-40B4-BE49-F238E27FC236}">
                  <a16:creationId xmlns:a16="http://schemas.microsoft.com/office/drawing/2014/main" id="{6B755A0C-16EE-4040-9A06-7C4E3200A2BE}"/>
                </a:ext>
              </a:extLst>
            </p:cNvPr>
            <p:cNvSpPr/>
            <p:nvPr/>
          </p:nvSpPr>
          <p:spPr>
            <a:xfrm rot="5400000">
              <a:off x="5248263" y="216898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8" name="直線コネクタ 17">
              <a:extLst>
                <a:ext uri="{FF2B5EF4-FFF2-40B4-BE49-F238E27FC236}">
                  <a16:creationId xmlns:a16="http://schemas.microsoft.com/office/drawing/2014/main" id="{7CD9212D-A84A-6DFC-B54B-DF5A6DD9AC60}"/>
                </a:ext>
              </a:extLst>
            </p:cNvPr>
            <p:cNvCxnSpPr>
              <a:cxnSpLocks/>
              <a:endCxn id="19" idx="4"/>
            </p:cNvCxnSpPr>
            <p:nvPr/>
          </p:nvCxnSpPr>
          <p:spPr>
            <a:xfrm rot="16200000" flipH="1" flipV="1">
              <a:off x="5088243" y="2326495"/>
              <a:ext cx="314998" cy="3"/>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9" name="円/楕円 68">
              <a:extLst>
                <a:ext uri="{FF2B5EF4-FFF2-40B4-BE49-F238E27FC236}">
                  <a16:creationId xmlns:a16="http://schemas.microsoft.com/office/drawing/2014/main" id="{EF68B45E-E172-EFDD-9ECA-24826DD1936E}"/>
                </a:ext>
              </a:extLst>
            </p:cNvPr>
            <p:cNvSpPr/>
            <p:nvPr/>
          </p:nvSpPr>
          <p:spPr>
            <a:xfrm rot="5400000">
              <a:off x="5245729" y="243900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20" name="直線コネクタ 19">
            <a:extLst>
              <a:ext uri="{FF2B5EF4-FFF2-40B4-BE49-F238E27FC236}">
                <a16:creationId xmlns:a16="http://schemas.microsoft.com/office/drawing/2014/main" id="{EE877B36-4E88-18F8-3107-B2AA41220F1A}"/>
              </a:ext>
            </a:extLst>
          </p:cNvPr>
          <p:cNvCxnSpPr>
            <a:cxnSpLocks/>
            <a:endCxn id="17" idx="2"/>
          </p:cNvCxnSpPr>
          <p:nvPr/>
        </p:nvCxnSpPr>
        <p:spPr>
          <a:xfrm flipH="1">
            <a:off x="1871970" y="4869016"/>
            <a:ext cx="719986"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1" name="直線コネクタ 20">
            <a:extLst>
              <a:ext uri="{FF2B5EF4-FFF2-40B4-BE49-F238E27FC236}">
                <a16:creationId xmlns:a16="http://schemas.microsoft.com/office/drawing/2014/main" id="{0FB45F43-CEC4-8E1A-2867-3AB150DB17F1}"/>
              </a:ext>
            </a:extLst>
          </p:cNvPr>
          <p:cNvCxnSpPr>
            <a:cxnSpLocks/>
          </p:cNvCxnSpPr>
          <p:nvPr/>
        </p:nvCxnSpPr>
        <p:spPr>
          <a:xfrm flipH="1">
            <a:off x="791936" y="4867755"/>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a16:creationId xmlns:a16="http://schemas.microsoft.com/office/drawing/2014/main" id="{C1D85C55-DAB3-9065-8260-80E2EB569AF6}"/>
              </a:ext>
            </a:extLst>
          </p:cNvPr>
          <p:cNvCxnSpPr>
            <a:cxnSpLocks/>
          </p:cNvCxnSpPr>
          <p:nvPr/>
        </p:nvCxnSpPr>
        <p:spPr>
          <a:xfrm flipV="1">
            <a:off x="791936" y="4148105"/>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31" name="グループ化 30">
            <a:extLst>
              <a:ext uri="{FF2B5EF4-FFF2-40B4-BE49-F238E27FC236}">
                <a16:creationId xmlns:a16="http://schemas.microsoft.com/office/drawing/2014/main" id="{ADBD852F-82F4-9498-787E-50EA5EAF4374}"/>
              </a:ext>
            </a:extLst>
          </p:cNvPr>
          <p:cNvGrpSpPr/>
          <p:nvPr/>
        </p:nvGrpSpPr>
        <p:grpSpPr>
          <a:xfrm>
            <a:off x="521933" y="3787743"/>
            <a:ext cx="450049" cy="360362"/>
            <a:chOff x="1061961" y="2348988"/>
            <a:chExt cx="450049" cy="360362"/>
          </a:xfrm>
        </p:grpSpPr>
        <p:sp>
          <p:nvSpPr>
            <p:cNvPr id="28" name="Rectangle 93">
              <a:extLst>
                <a:ext uri="{FF2B5EF4-FFF2-40B4-BE49-F238E27FC236}">
                  <a16:creationId xmlns:a16="http://schemas.microsoft.com/office/drawing/2014/main" id="{FA683A53-187D-92BD-6A48-0ADE48BD9F90}"/>
                </a:ext>
              </a:extLst>
            </p:cNvPr>
            <p:cNvSpPr>
              <a:spLocks noChangeArrowheads="1"/>
            </p:cNvSpPr>
            <p:nvPr/>
          </p:nvSpPr>
          <p:spPr bwMode="auto">
            <a:xfrm>
              <a:off x="1061961" y="2348988"/>
              <a:ext cx="270003" cy="360362"/>
            </a:xfrm>
            <a:prstGeom prst="rect">
              <a:avLst/>
            </a:prstGeom>
            <a:noFill/>
            <a:ln w="12700" algn="ctr">
              <a:noFill/>
              <a:miter lim="800000"/>
              <a:headEnd/>
              <a:tailEnd/>
            </a:ln>
            <a:effectLst/>
          </p:spPr>
          <p:txBody>
            <a:bodyPr wrap="none" lIns="90000" tIns="46800" rIns="90000" bIns="46800" anchor="ctr"/>
            <a:lstStyle/>
            <a:p>
              <a:r>
                <a:rPr lang="en-US" altLang="ja-JP" b="0" i="0" dirty="0">
                  <a:latin typeface="+mj-lt"/>
                </a:rPr>
                <a:t>VDD</a:t>
              </a:r>
              <a:endParaRPr lang="en-US" altLang="ja-JP" dirty="0"/>
            </a:p>
          </p:txBody>
        </p:sp>
        <p:cxnSp>
          <p:nvCxnSpPr>
            <p:cNvPr id="30" name="直線コネクタ 29">
              <a:extLst>
                <a:ext uri="{FF2B5EF4-FFF2-40B4-BE49-F238E27FC236}">
                  <a16:creationId xmlns:a16="http://schemas.microsoft.com/office/drawing/2014/main" id="{0AD42A1B-12B0-6C1D-86EC-9B404DC55880}"/>
                </a:ext>
              </a:extLst>
            </p:cNvPr>
            <p:cNvCxnSpPr/>
            <p:nvPr/>
          </p:nvCxnSpPr>
          <p:spPr>
            <a:xfrm>
              <a:off x="1151962" y="2708992"/>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37" name="Rectangle 93">
            <a:extLst>
              <a:ext uri="{FF2B5EF4-FFF2-40B4-BE49-F238E27FC236}">
                <a16:creationId xmlns:a16="http://schemas.microsoft.com/office/drawing/2014/main" id="{17E25869-6DA8-A1AB-FD41-869277D61E35}"/>
              </a:ext>
            </a:extLst>
          </p:cNvPr>
          <p:cNvSpPr>
            <a:spLocks noChangeArrowheads="1"/>
          </p:cNvSpPr>
          <p:nvPr/>
        </p:nvSpPr>
        <p:spPr bwMode="auto">
          <a:xfrm>
            <a:off x="2411954" y="4507751"/>
            <a:ext cx="270003" cy="360362"/>
          </a:xfrm>
          <a:prstGeom prst="rect">
            <a:avLst/>
          </a:prstGeom>
          <a:noFill/>
          <a:ln w="12700" algn="ctr">
            <a:noFill/>
            <a:miter lim="800000"/>
            <a:headEnd/>
            <a:tailEnd/>
          </a:ln>
          <a:effectLst/>
        </p:spPr>
        <p:txBody>
          <a:bodyPr wrap="none" lIns="90000" tIns="46800" rIns="90000" bIns="46800" anchor="ctr"/>
          <a:lstStyle/>
          <a:p>
            <a:r>
              <a:rPr lang="en-US" altLang="ja-JP" b="1" dirty="0">
                <a:solidFill>
                  <a:schemeClr val="accent5"/>
                </a:solidFill>
              </a:rPr>
              <a:t>1</a:t>
            </a:r>
          </a:p>
        </p:txBody>
      </p:sp>
      <p:grpSp>
        <p:nvGrpSpPr>
          <p:cNvPr id="38" name="グループ化 37">
            <a:extLst>
              <a:ext uri="{FF2B5EF4-FFF2-40B4-BE49-F238E27FC236}">
                <a16:creationId xmlns:a16="http://schemas.microsoft.com/office/drawing/2014/main" id="{415CD540-D10A-629E-4FCE-68AA1CB55DA7}"/>
              </a:ext>
            </a:extLst>
          </p:cNvPr>
          <p:cNvGrpSpPr/>
          <p:nvPr/>
        </p:nvGrpSpPr>
        <p:grpSpPr>
          <a:xfrm rot="5400000">
            <a:off x="4525727" y="4687736"/>
            <a:ext cx="92524" cy="360026"/>
            <a:chOff x="5245740" y="2168975"/>
            <a:chExt cx="92524" cy="360026"/>
          </a:xfrm>
        </p:grpSpPr>
        <p:sp>
          <p:nvSpPr>
            <p:cNvPr id="39" name="円/楕円 69">
              <a:extLst>
                <a:ext uri="{FF2B5EF4-FFF2-40B4-BE49-F238E27FC236}">
                  <a16:creationId xmlns:a16="http://schemas.microsoft.com/office/drawing/2014/main" id="{0308F3CF-3CA6-08E1-0F62-C81BB28A7754}"/>
                </a:ext>
              </a:extLst>
            </p:cNvPr>
            <p:cNvSpPr/>
            <p:nvPr/>
          </p:nvSpPr>
          <p:spPr>
            <a:xfrm rot="5400000">
              <a:off x="5248263" y="216898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40" name="直線コネクタ 39">
              <a:extLst>
                <a:ext uri="{FF2B5EF4-FFF2-40B4-BE49-F238E27FC236}">
                  <a16:creationId xmlns:a16="http://schemas.microsoft.com/office/drawing/2014/main" id="{7BE3CD74-0936-89BA-9D2F-D05F30DCDEF0}"/>
                </a:ext>
              </a:extLst>
            </p:cNvPr>
            <p:cNvCxnSpPr>
              <a:cxnSpLocks/>
              <a:endCxn id="41" idx="4"/>
            </p:cNvCxnSpPr>
            <p:nvPr/>
          </p:nvCxnSpPr>
          <p:spPr>
            <a:xfrm rot="16200000" flipH="1" flipV="1">
              <a:off x="5088243" y="2326495"/>
              <a:ext cx="314998" cy="3"/>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41" name="円/楕円 68">
              <a:extLst>
                <a:ext uri="{FF2B5EF4-FFF2-40B4-BE49-F238E27FC236}">
                  <a16:creationId xmlns:a16="http://schemas.microsoft.com/office/drawing/2014/main" id="{1AA4E43D-1F34-736F-4749-7DE747C10451}"/>
                </a:ext>
              </a:extLst>
            </p:cNvPr>
            <p:cNvSpPr/>
            <p:nvPr/>
          </p:nvSpPr>
          <p:spPr>
            <a:xfrm rot="5400000">
              <a:off x="5245729" y="243900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42" name="直線コネクタ 41">
            <a:extLst>
              <a:ext uri="{FF2B5EF4-FFF2-40B4-BE49-F238E27FC236}">
                <a16:creationId xmlns:a16="http://schemas.microsoft.com/office/drawing/2014/main" id="{8F965F50-3EE7-4019-5D9D-664F1AB83DD1}"/>
              </a:ext>
            </a:extLst>
          </p:cNvPr>
          <p:cNvCxnSpPr>
            <a:cxnSpLocks/>
            <a:endCxn id="39" idx="2"/>
          </p:cNvCxnSpPr>
          <p:nvPr/>
        </p:nvCxnSpPr>
        <p:spPr>
          <a:xfrm flipH="1">
            <a:off x="4752002" y="4869016"/>
            <a:ext cx="719986"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67DB26CF-2095-1F70-5A7C-579A3A108BFD}"/>
              </a:ext>
            </a:extLst>
          </p:cNvPr>
          <p:cNvCxnSpPr>
            <a:cxnSpLocks/>
          </p:cNvCxnSpPr>
          <p:nvPr/>
        </p:nvCxnSpPr>
        <p:spPr>
          <a:xfrm flipH="1">
            <a:off x="3671968" y="4867755"/>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48" name="Rectangle 93">
            <a:extLst>
              <a:ext uri="{FF2B5EF4-FFF2-40B4-BE49-F238E27FC236}">
                <a16:creationId xmlns:a16="http://schemas.microsoft.com/office/drawing/2014/main" id="{D3E48553-90AC-2FD9-FE70-66C243721F41}"/>
              </a:ext>
            </a:extLst>
          </p:cNvPr>
          <p:cNvSpPr>
            <a:spLocks noChangeArrowheads="1"/>
          </p:cNvSpPr>
          <p:nvPr/>
        </p:nvSpPr>
        <p:spPr bwMode="auto">
          <a:xfrm>
            <a:off x="5291986" y="4507751"/>
            <a:ext cx="270003" cy="360362"/>
          </a:xfrm>
          <a:prstGeom prst="rect">
            <a:avLst/>
          </a:prstGeom>
          <a:noFill/>
          <a:ln w="12700" algn="ctr">
            <a:noFill/>
            <a:miter lim="800000"/>
            <a:headEnd/>
            <a:tailEnd/>
          </a:ln>
          <a:effectLst/>
        </p:spPr>
        <p:txBody>
          <a:bodyPr wrap="none" lIns="90000" tIns="46800" rIns="90000" bIns="46800" anchor="ctr"/>
          <a:lstStyle/>
          <a:p>
            <a:r>
              <a:rPr lang="ja-JP" altLang="en-US" b="1" dirty="0">
                <a:solidFill>
                  <a:schemeClr val="accent5"/>
                </a:solidFill>
              </a:rPr>
              <a:t>０</a:t>
            </a:r>
            <a:endParaRPr lang="en-US" altLang="ja-JP" b="1" dirty="0">
              <a:solidFill>
                <a:schemeClr val="accent5"/>
              </a:solidFill>
            </a:endParaRPr>
          </a:p>
        </p:txBody>
      </p:sp>
      <p:grpSp>
        <p:nvGrpSpPr>
          <p:cNvPr id="49" name="グループ化 152">
            <a:extLst>
              <a:ext uri="{FF2B5EF4-FFF2-40B4-BE49-F238E27FC236}">
                <a16:creationId xmlns:a16="http://schemas.microsoft.com/office/drawing/2014/main" id="{1F84F2CF-CCCD-744E-3783-9F57D50498C3}"/>
              </a:ext>
            </a:extLst>
          </p:cNvPr>
          <p:cNvGrpSpPr/>
          <p:nvPr/>
        </p:nvGrpSpPr>
        <p:grpSpPr>
          <a:xfrm>
            <a:off x="3581967" y="5498120"/>
            <a:ext cx="180002" cy="90001"/>
            <a:chOff x="3643306" y="4500570"/>
            <a:chExt cx="428628" cy="144464"/>
          </a:xfrm>
        </p:grpSpPr>
        <p:cxnSp>
          <p:nvCxnSpPr>
            <p:cNvPr id="50" name="直線コネクタ 49">
              <a:extLst>
                <a:ext uri="{FF2B5EF4-FFF2-40B4-BE49-F238E27FC236}">
                  <a16:creationId xmlns:a16="http://schemas.microsoft.com/office/drawing/2014/main" id="{74334AF2-9536-35AE-052A-2AAFDC44E483}"/>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51" name="直線コネクタ 50">
              <a:extLst>
                <a:ext uri="{FF2B5EF4-FFF2-40B4-BE49-F238E27FC236}">
                  <a16:creationId xmlns:a16="http://schemas.microsoft.com/office/drawing/2014/main" id="{E604746D-0BF9-B15D-A0D7-11D0B40B2353}"/>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52" name="直線コネクタ 51">
              <a:extLst>
                <a:ext uri="{FF2B5EF4-FFF2-40B4-BE49-F238E27FC236}">
                  <a16:creationId xmlns:a16="http://schemas.microsoft.com/office/drawing/2014/main" id="{A2463343-EC42-FAE0-BA6E-9B00E9D13EC3}"/>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53" name="Rectangle 93">
            <a:extLst>
              <a:ext uri="{FF2B5EF4-FFF2-40B4-BE49-F238E27FC236}">
                <a16:creationId xmlns:a16="http://schemas.microsoft.com/office/drawing/2014/main" id="{1EC44E92-5AAA-3BB7-FDB9-BADB8303E38F}"/>
              </a:ext>
            </a:extLst>
          </p:cNvPr>
          <p:cNvSpPr>
            <a:spLocks noChangeArrowheads="1"/>
          </p:cNvSpPr>
          <p:nvPr/>
        </p:nvSpPr>
        <p:spPr bwMode="auto">
          <a:xfrm>
            <a:off x="3401965" y="5588121"/>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cxnSp>
        <p:nvCxnSpPr>
          <p:cNvPr id="54" name="直線コネクタ 53">
            <a:extLst>
              <a:ext uri="{FF2B5EF4-FFF2-40B4-BE49-F238E27FC236}">
                <a16:creationId xmlns:a16="http://schemas.microsoft.com/office/drawing/2014/main" id="{BD72FF36-0A07-862B-2065-3FB96943B2FC}"/>
              </a:ext>
            </a:extLst>
          </p:cNvPr>
          <p:cNvCxnSpPr>
            <a:cxnSpLocks/>
          </p:cNvCxnSpPr>
          <p:nvPr/>
        </p:nvCxnSpPr>
        <p:spPr>
          <a:xfrm flipV="1">
            <a:off x="3671968" y="4868113"/>
            <a:ext cx="0" cy="630007"/>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55" name="グループ化 54">
            <a:extLst>
              <a:ext uri="{FF2B5EF4-FFF2-40B4-BE49-F238E27FC236}">
                <a16:creationId xmlns:a16="http://schemas.microsoft.com/office/drawing/2014/main" id="{FEC8DBF9-7B27-E8E0-A45A-CD5219246C09}"/>
              </a:ext>
            </a:extLst>
          </p:cNvPr>
          <p:cNvGrpSpPr/>
          <p:nvPr/>
        </p:nvGrpSpPr>
        <p:grpSpPr>
          <a:xfrm rot="5400000">
            <a:off x="7338914" y="4622130"/>
            <a:ext cx="226258" cy="360026"/>
            <a:chOff x="5112006" y="2168975"/>
            <a:chExt cx="226258" cy="360026"/>
          </a:xfrm>
        </p:grpSpPr>
        <p:sp>
          <p:nvSpPr>
            <p:cNvPr id="56" name="円/楕円 69">
              <a:extLst>
                <a:ext uri="{FF2B5EF4-FFF2-40B4-BE49-F238E27FC236}">
                  <a16:creationId xmlns:a16="http://schemas.microsoft.com/office/drawing/2014/main" id="{AFDCF7BA-1F22-A540-00D5-B21D9A509451}"/>
                </a:ext>
              </a:extLst>
            </p:cNvPr>
            <p:cNvSpPr/>
            <p:nvPr/>
          </p:nvSpPr>
          <p:spPr>
            <a:xfrm rot="5400000">
              <a:off x="5248263" y="216898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57" name="直線コネクタ 56">
              <a:extLst>
                <a:ext uri="{FF2B5EF4-FFF2-40B4-BE49-F238E27FC236}">
                  <a16:creationId xmlns:a16="http://schemas.microsoft.com/office/drawing/2014/main" id="{E21D5152-4F00-83A9-EBD6-D59F137DB93D}"/>
                </a:ext>
              </a:extLst>
            </p:cNvPr>
            <p:cNvCxnSpPr>
              <a:cxnSpLocks/>
              <a:endCxn id="58" idx="4"/>
            </p:cNvCxnSpPr>
            <p:nvPr/>
          </p:nvCxnSpPr>
          <p:spPr>
            <a:xfrm rot="16200000" flipH="1">
              <a:off x="5021374" y="2259629"/>
              <a:ext cx="314998" cy="133734"/>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58" name="円/楕円 68">
              <a:extLst>
                <a:ext uri="{FF2B5EF4-FFF2-40B4-BE49-F238E27FC236}">
                  <a16:creationId xmlns:a16="http://schemas.microsoft.com/office/drawing/2014/main" id="{5B07D454-862E-D9BB-5A9C-D7EAF734B7E1}"/>
                </a:ext>
              </a:extLst>
            </p:cNvPr>
            <p:cNvSpPr/>
            <p:nvPr/>
          </p:nvSpPr>
          <p:spPr>
            <a:xfrm rot="5400000">
              <a:off x="5245729" y="243900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59" name="直線コネクタ 58">
            <a:extLst>
              <a:ext uri="{FF2B5EF4-FFF2-40B4-BE49-F238E27FC236}">
                <a16:creationId xmlns:a16="http://schemas.microsoft.com/office/drawing/2014/main" id="{F3D13530-28A6-B2BE-C306-844E577487FC}"/>
              </a:ext>
            </a:extLst>
          </p:cNvPr>
          <p:cNvCxnSpPr>
            <a:cxnSpLocks/>
            <a:endCxn id="56" idx="2"/>
          </p:cNvCxnSpPr>
          <p:nvPr/>
        </p:nvCxnSpPr>
        <p:spPr>
          <a:xfrm flipH="1">
            <a:off x="7632056" y="4870277"/>
            <a:ext cx="719986"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a16:creationId xmlns:a16="http://schemas.microsoft.com/office/drawing/2014/main" id="{6C3FC9AA-86C3-E2C3-846A-FC3580D12792}"/>
              </a:ext>
            </a:extLst>
          </p:cNvPr>
          <p:cNvCxnSpPr>
            <a:cxnSpLocks/>
          </p:cNvCxnSpPr>
          <p:nvPr/>
        </p:nvCxnSpPr>
        <p:spPr>
          <a:xfrm flipH="1">
            <a:off x="6552022" y="4869016"/>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61" name="Rectangle 93">
            <a:extLst>
              <a:ext uri="{FF2B5EF4-FFF2-40B4-BE49-F238E27FC236}">
                <a16:creationId xmlns:a16="http://schemas.microsoft.com/office/drawing/2014/main" id="{F72FBCCE-9257-310C-A0D6-11D3B9A2849D}"/>
              </a:ext>
            </a:extLst>
          </p:cNvPr>
          <p:cNvSpPr>
            <a:spLocks noChangeArrowheads="1"/>
          </p:cNvSpPr>
          <p:nvPr/>
        </p:nvSpPr>
        <p:spPr bwMode="auto">
          <a:xfrm>
            <a:off x="8172040" y="4509012"/>
            <a:ext cx="270003" cy="360362"/>
          </a:xfrm>
          <a:prstGeom prst="rect">
            <a:avLst/>
          </a:prstGeom>
          <a:noFill/>
          <a:ln w="12700" algn="ctr">
            <a:noFill/>
            <a:miter lim="800000"/>
            <a:headEnd/>
            <a:tailEnd/>
          </a:ln>
          <a:effectLst/>
        </p:spPr>
        <p:txBody>
          <a:bodyPr wrap="none" lIns="90000" tIns="46800" rIns="90000" bIns="46800" anchor="ctr"/>
          <a:lstStyle/>
          <a:p>
            <a:r>
              <a:rPr lang="en-US" altLang="ja-JP" b="1" dirty="0">
                <a:solidFill>
                  <a:schemeClr val="accent5"/>
                </a:solidFill>
              </a:rPr>
              <a:t>Z</a:t>
            </a:r>
          </a:p>
        </p:txBody>
      </p:sp>
      <p:grpSp>
        <p:nvGrpSpPr>
          <p:cNvPr id="62" name="グループ化 152">
            <a:extLst>
              <a:ext uri="{FF2B5EF4-FFF2-40B4-BE49-F238E27FC236}">
                <a16:creationId xmlns:a16="http://schemas.microsoft.com/office/drawing/2014/main" id="{25DE817B-9342-4716-9D09-1C57A41BF02A}"/>
              </a:ext>
            </a:extLst>
          </p:cNvPr>
          <p:cNvGrpSpPr/>
          <p:nvPr/>
        </p:nvGrpSpPr>
        <p:grpSpPr>
          <a:xfrm>
            <a:off x="6462021" y="5499381"/>
            <a:ext cx="180002" cy="90001"/>
            <a:chOff x="3643306" y="4500570"/>
            <a:chExt cx="428628" cy="144464"/>
          </a:xfrm>
        </p:grpSpPr>
        <p:cxnSp>
          <p:nvCxnSpPr>
            <p:cNvPr id="63" name="直線コネクタ 62">
              <a:extLst>
                <a:ext uri="{FF2B5EF4-FFF2-40B4-BE49-F238E27FC236}">
                  <a16:creationId xmlns:a16="http://schemas.microsoft.com/office/drawing/2014/main" id="{C45CF441-F800-8D29-94E8-07E98813E94B}"/>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64" name="直線コネクタ 63">
              <a:extLst>
                <a:ext uri="{FF2B5EF4-FFF2-40B4-BE49-F238E27FC236}">
                  <a16:creationId xmlns:a16="http://schemas.microsoft.com/office/drawing/2014/main" id="{B8E89225-8ECC-184D-E4F1-210BEFC7824D}"/>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65" name="直線コネクタ 64">
              <a:extLst>
                <a:ext uri="{FF2B5EF4-FFF2-40B4-BE49-F238E27FC236}">
                  <a16:creationId xmlns:a16="http://schemas.microsoft.com/office/drawing/2014/main" id="{2EFABFA0-B02C-105E-DE52-E390CF9D6F26}"/>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66" name="Rectangle 93">
            <a:extLst>
              <a:ext uri="{FF2B5EF4-FFF2-40B4-BE49-F238E27FC236}">
                <a16:creationId xmlns:a16="http://schemas.microsoft.com/office/drawing/2014/main" id="{65660B96-E240-4E65-D0D5-1D66953B40AF}"/>
              </a:ext>
            </a:extLst>
          </p:cNvPr>
          <p:cNvSpPr>
            <a:spLocks noChangeArrowheads="1"/>
          </p:cNvSpPr>
          <p:nvPr/>
        </p:nvSpPr>
        <p:spPr bwMode="auto">
          <a:xfrm>
            <a:off x="6282019" y="5589382"/>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cxnSp>
        <p:nvCxnSpPr>
          <p:cNvPr id="67" name="直線コネクタ 66">
            <a:extLst>
              <a:ext uri="{FF2B5EF4-FFF2-40B4-BE49-F238E27FC236}">
                <a16:creationId xmlns:a16="http://schemas.microsoft.com/office/drawing/2014/main" id="{7FC0812A-E398-48E7-7F3F-A8F62418D2BB}"/>
              </a:ext>
            </a:extLst>
          </p:cNvPr>
          <p:cNvCxnSpPr>
            <a:cxnSpLocks/>
          </p:cNvCxnSpPr>
          <p:nvPr/>
        </p:nvCxnSpPr>
        <p:spPr>
          <a:xfrm flipV="1">
            <a:off x="6552022" y="4869374"/>
            <a:ext cx="0" cy="630007"/>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59750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962E46D-25B5-B5B1-57DD-0C3036910A02}"/>
              </a:ext>
            </a:extLst>
          </p:cNvPr>
          <p:cNvSpPr>
            <a:spLocks noGrp="1"/>
          </p:cNvSpPr>
          <p:nvPr>
            <p:ph type="title"/>
          </p:nvPr>
        </p:nvSpPr>
        <p:spPr/>
        <p:txBody>
          <a:bodyPr/>
          <a:lstStyle/>
          <a:p>
            <a:r>
              <a:rPr kumimoji="1" lang="ja-JP" altLang="en-US" dirty="0"/>
              <a:t>短絡（ショート）は起きない想定</a:t>
            </a:r>
            <a:endParaRPr kumimoji="1" lang="en-US" dirty="0"/>
          </a:p>
        </p:txBody>
      </p:sp>
      <p:sp>
        <p:nvSpPr>
          <p:cNvPr id="3" name="コンテンツ プレースホルダー 2">
            <a:extLst>
              <a:ext uri="{FF2B5EF4-FFF2-40B4-BE49-F238E27FC236}">
                <a16:creationId xmlns:a16="http://schemas.microsoft.com/office/drawing/2014/main" id="{FEA56ADF-1D75-D077-AA37-F5BC762A7232}"/>
              </a:ext>
            </a:extLst>
          </p:cNvPr>
          <p:cNvSpPr>
            <a:spLocks noGrp="1"/>
          </p:cNvSpPr>
          <p:nvPr>
            <p:ph sz="quarter" idx="10"/>
          </p:nvPr>
        </p:nvSpPr>
        <p:spPr>
          <a:xfrm>
            <a:off x="611956" y="1088974"/>
            <a:ext cx="8280092" cy="2250025"/>
          </a:xfrm>
        </p:spPr>
        <p:txBody>
          <a:bodyPr/>
          <a:lstStyle/>
          <a:p>
            <a:r>
              <a:rPr kumimoji="1" lang="ja-JP" altLang="en-US" dirty="0"/>
              <a:t>下記図のように</a:t>
            </a:r>
            <a:r>
              <a:rPr kumimoji="1" lang="en-US" altLang="ja-JP" dirty="0"/>
              <a:t>VDD </a:t>
            </a:r>
            <a:r>
              <a:rPr kumimoji="1" lang="ja-JP" altLang="en-US" dirty="0"/>
              <a:t>と </a:t>
            </a:r>
            <a:r>
              <a:rPr kumimoji="1" lang="en-US" altLang="ja-JP" dirty="0"/>
              <a:t>GND </a:t>
            </a:r>
            <a:r>
              <a:rPr kumimoji="1" lang="ja-JP" altLang="en-US" dirty="0"/>
              <a:t>の双方に同時に直結することはない</a:t>
            </a:r>
            <a:endParaRPr kumimoji="1" lang="en-US" altLang="ja-JP" dirty="0"/>
          </a:p>
          <a:p>
            <a:pPr lvl="1"/>
            <a:r>
              <a:rPr kumimoji="1" lang="ja-JP" altLang="en-US" dirty="0"/>
              <a:t>実際にやると </a:t>
            </a:r>
            <a:r>
              <a:rPr kumimoji="1" lang="en-US" altLang="ja-JP" dirty="0"/>
              <a:t>VDD</a:t>
            </a:r>
            <a:r>
              <a:rPr lang="ja-JP" altLang="en-US" dirty="0"/>
              <a:t> から </a:t>
            </a:r>
            <a:r>
              <a:rPr lang="en-US" altLang="ja-JP" dirty="0"/>
              <a:t>GND</a:t>
            </a:r>
            <a:r>
              <a:rPr lang="ja-JP" altLang="en-US" dirty="0"/>
              <a:t> に大電流が流れて回路が壊れる</a:t>
            </a:r>
            <a:endParaRPr lang="en-US" altLang="ja-JP" dirty="0"/>
          </a:p>
          <a:p>
            <a:pPr lvl="1"/>
            <a:r>
              <a:rPr lang="ja-JP" altLang="en-US" dirty="0"/>
              <a:t>なので，そう言う状態を絶対作らないように回路を組む</a:t>
            </a:r>
            <a:endParaRPr lang="en-US" altLang="ja-JP" dirty="0"/>
          </a:p>
          <a:p>
            <a:r>
              <a:rPr kumimoji="1" lang="ja-JP" altLang="en-US" dirty="0"/>
              <a:t>もしやってしまった場合，以下の黒点は </a:t>
            </a:r>
            <a:r>
              <a:rPr kumimoji="1" lang="en-US" altLang="ja-JP" dirty="0"/>
              <a:t>VDD </a:t>
            </a:r>
            <a:r>
              <a:rPr kumimoji="1" lang="ja-JP" altLang="en-US" dirty="0"/>
              <a:t>と </a:t>
            </a:r>
            <a:r>
              <a:rPr kumimoji="1" lang="en-US" altLang="ja-JP" dirty="0"/>
              <a:t>GND </a:t>
            </a:r>
            <a:r>
              <a:rPr kumimoji="1" lang="ja-JP" altLang="en-US" dirty="0"/>
              <a:t>の中間ぐらいの電位になっていると思う</a:t>
            </a:r>
            <a:endParaRPr kumimoji="1" lang="en-US" dirty="0"/>
          </a:p>
        </p:txBody>
      </p:sp>
      <p:grpSp>
        <p:nvGrpSpPr>
          <p:cNvPr id="4" name="グループ化 3">
            <a:extLst>
              <a:ext uri="{FF2B5EF4-FFF2-40B4-BE49-F238E27FC236}">
                <a16:creationId xmlns:a16="http://schemas.microsoft.com/office/drawing/2014/main" id="{01C7CFA9-EB16-F4A6-DCC7-5F329197DC5C}"/>
              </a:ext>
            </a:extLst>
          </p:cNvPr>
          <p:cNvGrpSpPr/>
          <p:nvPr/>
        </p:nvGrpSpPr>
        <p:grpSpPr>
          <a:xfrm rot="5400000">
            <a:off x="5065755" y="4328993"/>
            <a:ext cx="92524" cy="360026"/>
            <a:chOff x="5245740" y="2168975"/>
            <a:chExt cx="92524" cy="360026"/>
          </a:xfrm>
        </p:grpSpPr>
        <p:sp>
          <p:nvSpPr>
            <p:cNvPr id="5" name="円/楕円 69">
              <a:extLst>
                <a:ext uri="{FF2B5EF4-FFF2-40B4-BE49-F238E27FC236}">
                  <a16:creationId xmlns:a16="http://schemas.microsoft.com/office/drawing/2014/main" id="{9A96F576-0C76-1B56-9583-10B028255F61}"/>
                </a:ext>
              </a:extLst>
            </p:cNvPr>
            <p:cNvSpPr/>
            <p:nvPr/>
          </p:nvSpPr>
          <p:spPr>
            <a:xfrm rot="5400000">
              <a:off x="5248263" y="216898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6" name="直線コネクタ 5">
              <a:extLst>
                <a:ext uri="{FF2B5EF4-FFF2-40B4-BE49-F238E27FC236}">
                  <a16:creationId xmlns:a16="http://schemas.microsoft.com/office/drawing/2014/main" id="{726BC8F3-5261-F196-414E-3140C1B02A57}"/>
                </a:ext>
              </a:extLst>
            </p:cNvPr>
            <p:cNvCxnSpPr>
              <a:cxnSpLocks/>
              <a:endCxn id="7" idx="4"/>
            </p:cNvCxnSpPr>
            <p:nvPr/>
          </p:nvCxnSpPr>
          <p:spPr>
            <a:xfrm rot="16200000" flipH="1" flipV="1">
              <a:off x="5088243" y="2326495"/>
              <a:ext cx="314998" cy="3"/>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7" name="円/楕円 68">
              <a:extLst>
                <a:ext uri="{FF2B5EF4-FFF2-40B4-BE49-F238E27FC236}">
                  <a16:creationId xmlns:a16="http://schemas.microsoft.com/office/drawing/2014/main" id="{41EB90F3-9F2F-19DE-F45F-5AEF76752131}"/>
                </a:ext>
              </a:extLst>
            </p:cNvPr>
            <p:cNvSpPr/>
            <p:nvPr/>
          </p:nvSpPr>
          <p:spPr>
            <a:xfrm rot="5400000">
              <a:off x="5245729" y="243900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8" name="直線コネクタ 7">
            <a:extLst>
              <a:ext uri="{FF2B5EF4-FFF2-40B4-BE49-F238E27FC236}">
                <a16:creationId xmlns:a16="http://schemas.microsoft.com/office/drawing/2014/main" id="{F0049EA1-A36E-EE95-8042-9DDCB1B0A42F}"/>
              </a:ext>
            </a:extLst>
          </p:cNvPr>
          <p:cNvCxnSpPr>
            <a:cxnSpLocks/>
            <a:endCxn id="5" idx="2"/>
          </p:cNvCxnSpPr>
          <p:nvPr/>
        </p:nvCxnSpPr>
        <p:spPr>
          <a:xfrm flipH="1">
            <a:off x="5292030" y="4510273"/>
            <a:ext cx="719986"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8BAA9657-9004-FD4F-972F-E13F2509D72F}"/>
              </a:ext>
            </a:extLst>
          </p:cNvPr>
          <p:cNvCxnSpPr>
            <a:cxnSpLocks/>
          </p:cNvCxnSpPr>
          <p:nvPr/>
        </p:nvCxnSpPr>
        <p:spPr>
          <a:xfrm flipH="1">
            <a:off x="4211996" y="4509012"/>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B8C40C1F-593E-CD56-3C85-326420A35ED1}"/>
              </a:ext>
            </a:extLst>
          </p:cNvPr>
          <p:cNvCxnSpPr>
            <a:cxnSpLocks/>
          </p:cNvCxnSpPr>
          <p:nvPr/>
        </p:nvCxnSpPr>
        <p:spPr>
          <a:xfrm flipV="1">
            <a:off x="4211996" y="3789362"/>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11" name="グループ化 10">
            <a:extLst>
              <a:ext uri="{FF2B5EF4-FFF2-40B4-BE49-F238E27FC236}">
                <a16:creationId xmlns:a16="http://schemas.microsoft.com/office/drawing/2014/main" id="{AD51CC2B-2863-0979-AEBB-8A4F5325FB95}"/>
              </a:ext>
            </a:extLst>
          </p:cNvPr>
          <p:cNvGrpSpPr/>
          <p:nvPr/>
        </p:nvGrpSpPr>
        <p:grpSpPr>
          <a:xfrm>
            <a:off x="3941993" y="3429000"/>
            <a:ext cx="450049" cy="360362"/>
            <a:chOff x="1061961" y="2348988"/>
            <a:chExt cx="450049" cy="360362"/>
          </a:xfrm>
        </p:grpSpPr>
        <p:sp>
          <p:nvSpPr>
            <p:cNvPr id="12" name="Rectangle 93">
              <a:extLst>
                <a:ext uri="{FF2B5EF4-FFF2-40B4-BE49-F238E27FC236}">
                  <a16:creationId xmlns:a16="http://schemas.microsoft.com/office/drawing/2014/main" id="{1D0FBB87-7E18-37AB-91CE-E318CE2C804F}"/>
                </a:ext>
              </a:extLst>
            </p:cNvPr>
            <p:cNvSpPr>
              <a:spLocks noChangeArrowheads="1"/>
            </p:cNvSpPr>
            <p:nvPr/>
          </p:nvSpPr>
          <p:spPr bwMode="auto">
            <a:xfrm>
              <a:off x="1061961" y="2348988"/>
              <a:ext cx="270003" cy="360362"/>
            </a:xfrm>
            <a:prstGeom prst="rect">
              <a:avLst/>
            </a:prstGeom>
            <a:noFill/>
            <a:ln w="12700" algn="ctr">
              <a:noFill/>
              <a:miter lim="800000"/>
              <a:headEnd/>
              <a:tailEnd/>
            </a:ln>
            <a:effectLst/>
          </p:spPr>
          <p:txBody>
            <a:bodyPr wrap="none" lIns="90000" tIns="46800" rIns="90000" bIns="46800" anchor="ctr"/>
            <a:lstStyle/>
            <a:p>
              <a:r>
                <a:rPr lang="en-US" altLang="ja-JP" b="0" i="0" dirty="0">
                  <a:latin typeface="+mj-lt"/>
                </a:rPr>
                <a:t>VDD</a:t>
              </a:r>
              <a:endParaRPr lang="en-US" altLang="ja-JP" dirty="0"/>
            </a:p>
          </p:txBody>
        </p:sp>
        <p:cxnSp>
          <p:nvCxnSpPr>
            <p:cNvPr id="13" name="直線コネクタ 12">
              <a:extLst>
                <a:ext uri="{FF2B5EF4-FFF2-40B4-BE49-F238E27FC236}">
                  <a16:creationId xmlns:a16="http://schemas.microsoft.com/office/drawing/2014/main" id="{ABD43576-22DF-997F-6724-3C3D4F137185}"/>
                </a:ext>
              </a:extLst>
            </p:cNvPr>
            <p:cNvCxnSpPr/>
            <p:nvPr/>
          </p:nvCxnSpPr>
          <p:spPr>
            <a:xfrm>
              <a:off x="1151962" y="2708992"/>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5" name="グループ化 14">
            <a:extLst>
              <a:ext uri="{FF2B5EF4-FFF2-40B4-BE49-F238E27FC236}">
                <a16:creationId xmlns:a16="http://schemas.microsoft.com/office/drawing/2014/main" id="{E1BA7979-2332-80E9-7213-BC1691ADE1AA}"/>
              </a:ext>
            </a:extLst>
          </p:cNvPr>
          <p:cNvGrpSpPr/>
          <p:nvPr/>
        </p:nvGrpSpPr>
        <p:grpSpPr>
          <a:xfrm rot="5400000">
            <a:off x="5065755" y="5049359"/>
            <a:ext cx="92524" cy="360026"/>
            <a:chOff x="5245740" y="2168975"/>
            <a:chExt cx="92524" cy="360026"/>
          </a:xfrm>
        </p:grpSpPr>
        <p:sp>
          <p:nvSpPr>
            <p:cNvPr id="16" name="円/楕円 69">
              <a:extLst>
                <a:ext uri="{FF2B5EF4-FFF2-40B4-BE49-F238E27FC236}">
                  <a16:creationId xmlns:a16="http://schemas.microsoft.com/office/drawing/2014/main" id="{5C68D179-59A4-F498-C5E1-9E67802CC9C0}"/>
                </a:ext>
              </a:extLst>
            </p:cNvPr>
            <p:cNvSpPr/>
            <p:nvPr/>
          </p:nvSpPr>
          <p:spPr>
            <a:xfrm rot="5400000">
              <a:off x="5248263" y="216898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7" name="直線コネクタ 16">
              <a:extLst>
                <a:ext uri="{FF2B5EF4-FFF2-40B4-BE49-F238E27FC236}">
                  <a16:creationId xmlns:a16="http://schemas.microsoft.com/office/drawing/2014/main" id="{FDD9ED32-FED9-60F9-CD85-F3BECFAEDAB0}"/>
                </a:ext>
              </a:extLst>
            </p:cNvPr>
            <p:cNvCxnSpPr>
              <a:cxnSpLocks/>
              <a:endCxn id="18" idx="4"/>
            </p:cNvCxnSpPr>
            <p:nvPr/>
          </p:nvCxnSpPr>
          <p:spPr>
            <a:xfrm rot="16200000" flipH="1" flipV="1">
              <a:off x="5088243" y="2326495"/>
              <a:ext cx="314998" cy="3"/>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8" name="円/楕円 68">
              <a:extLst>
                <a:ext uri="{FF2B5EF4-FFF2-40B4-BE49-F238E27FC236}">
                  <a16:creationId xmlns:a16="http://schemas.microsoft.com/office/drawing/2014/main" id="{1023C633-871D-3CC9-F07B-66F1EDC4900F}"/>
                </a:ext>
              </a:extLst>
            </p:cNvPr>
            <p:cNvSpPr/>
            <p:nvPr/>
          </p:nvSpPr>
          <p:spPr>
            <a:xfrm rot="5400000">
              <a:off x="5245729" y="243900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19" name="直線コネクタ 18">
            <a:extLst>
              <a:ext uri="{FF2B5EF4-FFF2-40B4-BE49-F238E27FC236}">
                <a16:creationId xmlns:a16="http://schemas.microsoft.com/office/drawing/2014/main" id="{1775F7DE-F4F6-5C98-1B24-4E166535E760}"/>
              </a:ext>
            </a:extLst>
          </p:cNvPr>
          <p:cNvCxnSpPr>
            <a:cxnSpLocks/>
            <a:endCxn id="16" idx="2"/>
          </p:cNvCxnSpPr>
          <p:nvPr/>
        </p:nvCxnSpPr>
        <p:spPr>
          <a:xfrm flipH="1">
            <a:off x="5292030" y="5230639"/>
            <a:ext cx="719986"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7499AA11-D27C-5543-EF86-994159A82A3F}"/>
              </a:ext>
            </a:extLst>
          </p:cNvPr>
          <p:cNvCxnSpPr>
            <a:cxnSpLocks/>
          </p:cNvCxnSpPr>
          <p:nvPr/>
        </p:nvCxnSpPr>
        <p:spPr>
          <a:xfrm flipH="1">
            <a:off x="4211996" y="522937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22" name="グループ化 152">
            <a:extLst>
              <a:ext uri="{FF2B5EF4-FFF2-40B4-BE49-F238E27FC236}">
                <a16:creationId xmlns:a16="http://schemas.microsoft.com/office/drawing/2014/main" id="{CE9A3B5B-FDEA-3607-3F47-4B5B6468E023}"/>
              </a:ext>
            </a:extLst>
          </p:cNvPr>
          <p:cNvGrpSpPr/>
          <p:nvPr/>
        </p:nvGrpSpPr>
        <p:grpSpPr>
          <a:xfrm>
            <a:off x="4121995" y="5859743"/>
            <a:ext cx="180002" cy="90001"/>
            <a:chOff x="3643306" y="4500570"/>
            <a:chExt cx="428628" cy="144464"/>
          </a:xfrm>
        </p:grpSpPr>
        <p:cxnSp>
          <p:nvCxnSpPr>
            <p:cNvPr id="23" name="直線コネクタ 22">
              <a:extLst>
                <a:ext uri="{FF2B5EF4-FFF2-40B4-BE49-F238E27FC236}">
                  <a16:creationId xmlns:a16="http://schemas.microsoft.com/office/drawing/2014/main" id="{31F19CE0-843D-2E87-254F-C509CCB13968}"/>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4" name="直線コネクタ 23">
              <a:extLst>
                <a:ext uri="{FF2B5EF4-FFF2-40B4-BE49-F238E27FC236}">
                  <a16:creationId xmlns:a16="http://schemas.microsoft.com/office/drawing/2014/main" id="{D9C9269C-707C-34FF-1503-D27BD7282180}"/>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5" name="直線コネクタ 24">
              <a:extLst>
                <a:ext uri="{FF2B5EF4-FFF2-40B4-BE49-F238E27FC236}">
                  <a16:creationId xmlns:a16="http://schemas.microsoft.com/office/drawing/2014/main" id="{3C313578-E89E-80A0-F264-D69A3DCC9119}"/>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26" name="Rectangle 93">
            <a:extLst>
              <a:ext uri="{FF2B5EF4-FFF2-40B4-BE49-F238E27FC236}">
                <a16:creationId xmlns:a16="http://schemas.microsoft.com/office/drawing/2014/main" id="{0318B0F7-8491-A5E1-1912-5564E098541D}"/>
              </a:ext>
            </a:extLst>
          </p:cNvPr>
          <p:cNvSpPr>
            <a:spLocks noChangeArrowheads="1"/>
          </p:cNvSpPr>
          <p:nvPr/>
        </p:nvSpPr>
        <p:spPr bwMode="auto">
          <a:xfrm>
            <a:off x="3941993" y="594974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cxnSp>
        <p:nvCxnSpPr>
          <p:cNvPr id="27" name="直線コネクタ 26">
            <a:extLst>
              <a:ext uri="{FF2B5EF4-FFF2-40B4-BE49-F238E27FC236}">
                <a16:creationId xmlns:a16="http://schemas.microsoft.com/office/drawing/2014/main" id="{5BF2787C-1EAD-1810-0BFD-D93A072FD087}"/>
              </a:ext>
            </a:extLst>
          </p:cNvPr>
          <p:cNvCxnSpPr>
            <a:cxnSpLocks/>
          </p:cNvCxnSpPr>
          <p:nvPr/>
        </p:nvCxnSpPr>
        <p:spPr>
          <a:xfrm flipV="1">
            <a:off x="4211996" y="5229736"/>
            <a:ext cx="0" cy="630007"/>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 name="直線コネクタ 27">
            <a:extLst>
              <a:ext uri="{FF2B5EF4-FFF2-40B4-BE49-F238E27FC236}">
                <a16:creationId xmlns:a16="http://schemas.microsoft.com/office/drawing/2014/main" id="{D9675F12-E878-0995-83F0-626313EDFFBC}"/>
              </a:ext>
            </a:extLst>
          </p:cNvPr>
          <p:cNvCxnSpPr>
            <a:cxnSpLocks/>
          </p:cNvCxnSpPr>
          <p:nvPr/>
        </p:nvCxnSpPr>
        <p:spPr>
          <a:xfrm>
            <a:off x="6012016" y="4869016"/>
            <a:ext cx="0" cy="360362"/>
          </a:xfrm>
          <a:prstGeom prst="line">
            <a:avLst/>
          </a:prstGeom>
          <a:ln w="6350" cap="rnd">
            <a:solidFill>
              <a:srgbClr val="000000"/>
            </a:solidFill>
            <a:headEnd type="oval" w="lg" len="lg"/>
            <a:tailEnd type="none"/>
          </a:ln>
        </p:spPr>
        <p:style>
          <a:lnRef idx="1">
            <a:schemeClr val="accent1"/>
          </a:lnRef>
          <a:fillRef idx="0">
            <a:schemeClr val="accent1"/>
          </a:fillRef>
          <a:effectRef idx="0">
            <a:schemeClr val="accent1"/>
          </a:effectRef>
          <a:fontRef idx="minor">
            <a:schemeClr val="tx1"/>
          </a:fontRef>
        </p:style>
      </p:cxnSp>
      <p:cxnSp>
        <p:nvCxnSpPr>
          <p:cNvPr id="32" name="直線コネクタ 31">
            <a:extLst>
              <a:ext uri="{FF2B5EF4-FFF2-40B4-BE49-F238E27FC236}">
                <a16:creationId xmlns:a16="http://schemas.microsoft.com/office/drawing/2014/main" id="{F2892425-1E64-E125-A29B-283DE4A6A19F}"/>
              </a:ext>
            </a:extLst>
          </p:cNvPr>
          <p:cNvCxnSpPr>
            <a:cxnSpLocks/>
          </p:cNvCxnSpPr>
          <p:nvPr/>
        </p:nvCxnSpPr>
        <p:spPr>
          <a:xfrm flipV="1">
            <a:off x="6012016" y="4509012"/>
            <a:ext cx="0" cy="360004"/>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2320993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30B1E6A-CE38-93D9-7AA7-B0F072FA9AC7}"/>
              </a:ext>
            </a:extLst>
          </p:cNvPr>
          <p:cNvSpPr>
            <a:spLocks noGrp="1"/>
          </p:cNvSpPr>
          <p:nvPr>
            <p:ph type="title"/>
          </p:nvPr>
        </p:nvSpPr>
        <p:spPr/>
        <p:txBody>
          <a:bodyPr/>
          <a:lstStyle/>
          <a:p>
            <a:r>
              <a:rPr kumimoji="1" lang="ja-JP" altLang="en-US" dirty="0"/>
              <a:t>リレーを使って論理回路を作る</a:t>
            </a:r>
            <a:endParaRPr kumimoji="1" lang="en-US" dirty="0"/>
          </a:p>
        </p:txBody>
      </p:sp>
      <p:sp>
        <p:nvSpPr>
          <p:cNvPr id="3" name="コンテンツ プレースホルダー 2">
            <a:extLst>
              <a:ext uri="{FF2B5EF4-FFF2-40B4-BE49-F238E27FC236}">
                <a16:creationId xmlns:a16="http://schemas.microsoft.com/office/drawing/2014/main" id="{F1C4B40A-C246-4EBB-49DC-F6288B58FE9D}"/>
              </a:ext>
            </a:extLst>
          </p:cNvPr>
          <p:cNvSpPr>
            <a:spLocks noGrp="1"/>
          </p:cNvSpPr>
          <p:nvPr>
            <p:ph sz="quarter" idx="10"/>
          </p:nvPr>
        </p:nvSpPr>
        <p:spPr/>
        <p:txBody>
          <a:bodyPr/>
          <a:lstStyle/>
          <a:p>
            <a:r>
              <a:rPr kumimoji="1" lang="ja-JP" altLang="en-US" dirty="0"/>
              <a:t>以下の２つの繋ぎ方をしたリレーを使って論理ゲートを作る</a:t>
            </a:r>
            <a:endParaRPr kumimoji="1" lang="en-US" altLang="ja-JP" dirty="0"/>
          </a:p>
          <a:p>
            <a:pPr lvl="1"/>
            <a:r>
              <a:rPr kumimoji="1" lang="en-US" altLang="ja-JP" dirty="0"/>
              <a:t>N </a:t>
            </a:r>
            <a:r>
              <a:rPr kumimoji="1" lang="ja-JP" altLang="en-US" dirty="0"/>
              <a:t>型</a:t>
            </a:r>
            <a:endParaRPr kumimoji="1" lang="en-US" altLang="ja-JP" dirty="0"/>
          </a:p>
          <a:p>
            <a:pPr lvl="1"/>
            <a:r>
              <a:rPr kumimoji="1" lang="en-US" altLang="ja-JP" dirty="0"/>
              <a:t>P </a:t>
            </a:r>
            <a:r>
              <a:rPr kumimoji="1" lang="ja-JP" altLang="en-US" dirty="0"/>
              <a:t>型</a:t>
            </a:r>
            <a:endParaRPr lang="en-US" altLang="ja-JP" sz="1600" dirty="0"/>
          </a:p>
        </p:txBody>
      </p:sp>
    </p:spTree>
    <p:extLst>
      <p:ext uri="{BB962C8B-B14F-4D97-AF65-F5344CB8AC3E}">
        <p14:creationId xmlns:p14="http://schemas.microsoft.com/office/powerpoint/2010/main" val="222287854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 name="正方形/長方形 72">
            <a:extLst>
              <a:ext uri="{FF2B5EF4-FFF2-40B4-BE49-F238E27FC236}">
                <a16:creationId xmlns:a16="http://schemas.microsoft.com/office/drawing/2014/main" id="{0052F1F3-C64C-DF83-F9C4-85DB4B3DB6E0}"/>
              </a:ext>
            </a:extLst>
          </p:cNvPr>
          <p:cNvSpPr/>
          <p:nvPr/>
        </p:nvSpPr>
        <p:spPr bwMode="auto">
          <a:xfrm>
            <a:off x="3851992" y="3338999"/>
            <a:ext cx="1440016"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 name="タイトル 1">
            <a:extLst>
              <a:ext uri="{FF2B5EF4-FFF2-40B4-BE49-F238E27FC236}">
                <a16:creationId xmlns:a16="http://schemas.microsoft.com/office/drawing/2014/main" id="{B4B73C90-A857-8A64-2EFD-05040F02B6A1}"/>
              </a:ext>
            </a:extLst>
          </p:cNvPr>
          <p:cNvSpPr>
            <a:spLocks noGrp="1"/>
          </p:cNvSpPr>
          <p:nvPr>
            <p:ph type="title"/>
          </p:nvPr>
        </p:nvSpPr>
        <p:spPr/>
        <p:txBody>
          <a:bodyPr/>
          <a:lstStyle/>
          <a:p>
            <a:r>
              <a:rPr kumimoji="1" lang="en-US" altLang="ja-JP" dirty="0"/>
              <a:t>N </a:t>
            </a:r>
            <a:r>
              <a:rPr kumimoji="1" lang="ja-JP" altLang="en-US" dirty="0"/>
              <a:t>型リレー</a:t>
            </a:r>
            <a:endParaRPr kumimoji="1" lang="en-US" dirty="0"/>
          </a:p>
        </p:txBody>
      </p:sp>
      <p:sp>
        <p:nvSpPr>
          <p:cNvPr id="3" name="コンテンツ プレースホルダー 2">
            <a:extLst>
              <a:ext uri="{FF2B5EF4-FFF2-40B4-BE49-F238E27FC236}">
                <a16:creationId xmlns:a16="http://schemas.microsoft.com/office/drawing/2014/main" id="{269ADB42-F714-F608-E050-CD791A2A80CE}"/>
              </a:ext>
            </a:extLst>
          </p:cNvPr>
          <p:cNvSpPr>
            <a:spLocks noGrp="1"/>
          </p:cNvSpPr>
          <p:nvPr>
            <p:ph sz="quarter" idx="10"/>
          </p:nvPr>
        </p:nvSpPr>
        <p:spPr>
          <a:xfrm>
            <a:off x="611956" y="1988984"/>
            <a:ext cx="8280092" cy="900010"/>
          </a:xfrm>
        </p:spPr>
        <p:txBody>
          <a:bodyPr/>
          <a:lstStyle/>
          <a:p>
            <a:r>
              <a:rPr kumimoji="1" lang="ja-JP" altLang="en-US" dirty="0"/>
              <a:t>左図のように </a:t>
            </a:r>
            <a:r>
              <a:rPr kumimoji="1" lang="en-US" altLang="ja-JP" dirty="0"/>
              <a:t>B </a:t>
            </a:r>
            <a:r>
              <a:rPr kumimoji="1" lang="ja-JP" altLang="en-US" dirty="0"/>
              <a:t>を </a:t>
            </a:r>
            <a:r>
              <a:rPr kumimoji="1" lang="en-US" altLang="ja-JP" dirty="0"/>
              <a:t>GND</a:t>
            </a:r>
            <a:r>
              <a:rPr kumimoji="1" lang="ja-JP" altLang="en-US" dirty="0"/>
              <a:t>（低電位）に接続する</a:t>
            </a:r>
            <a:endParaRPr kumimoji="1" lang="en-US" altLang="ja-JP" dirty="0"/>
          </a:p>
          <a:p>
            <a:pPr lvl="1"/>
            <a:r>
              <a:rPr lang="en-US" dirty="0"/>
              <a:t>N </a:t>
            </a:r>
            <a:r>
              <a:rPr lang="ja-JP" altLang="en-US" dirty="0"/>
              <a:t>は </a:t>
            </a:r>
            <a:r>
              <a:rPr lang="en-US" altLang="ja-JP" dirty="0"/>
              <a:t>Negative </a:t>
            </a:r>
            <a:r>
              <a:rPr lang="ja-JP" altLang="en-US" dirty="0"/>
              <a:t>の略</a:t>
            </a:r>
            <a:endParaRPr kumimoji="1" lang="en-US" dirty="0"/>
          </a:p>
        </p:txBody>
      </p:sp>
      <p:sp>
        <p:nvSpPr>
          <p:cNvPr id="4" name="円/楕円 69">
            <a:extLst>
              <a:ext uri="{FF2B5EF4-FFF2-40B4-BE49-F238E27FC236}">
                <a16:creationId xmlns:a16="http://schemas.microsoft.com/office/drawing/2014/main" id="{27ED7D89-5BDE-D968-7FA4-FDD87CFA58A5}"/>
              </a:ext>
            </a:extLst>
          </p:cNvPr>
          <p:cNvSpPr/>
          <p:nvPr/>
        </p:nvSpPr>
        <p:spPr>
          <a:xfrm rot="5400000">
            <a:off x="4888259"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5" name="直線コネクタ 4">
            <a:extLst>
              <a:ext uri="{FF2B5EF4-FFF2-40B4-BE49-F238E27FC236}">
                <a16:creationId xmlns:a16="http://schemas.microsoft.com/office/drawing/2014/main" id="{239207F0-970F-3F00-74FE-3176AB63465C}"/>
              </a:ext>
            </a:extLst>
          </p:cNvPr>
          <p:cNvCxnSpPr>
            <a:cxnSpLocks/>
          </p:cNvCxnSpPr>
          <p:nvPr/>
        </p:nvCxnSpPr>
        <p:spPr>
          <a:xfrm flipH="1">
            <a:off x="3491988"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6" name="グループ化 5">
            <a:extLst>
              <a:ext uri="{FF2B5EF4-FFF2-40B4-BE49-F238E27FC236}">
                <a16:creationId xmlns:a16="http://schemas.microsoft.com/office/drawing/2014/main" id="{8B8E9ADE-52D1-BAAF-234E-B47812CBC69C}"/>
              </a:ext>
            </a:extLst>
          </p:cNvPr>
          <p:cNvGrpSpPr/>
          <p:nvPr/>
        </p:nvGrpSpPr>
        <p:grpSpPr>
          <a:xfrm>
            <a:off x="4031994" y="3429000"/>
            <a:ext cx="360004" cy="720007"/>
            <a:chOff x="3131985" y="5049018"/>
            <a:chExt cx="180002" cy="437056"/>
          </a:xfrm>
        </p:grpSpPr>
        <p:grpSp>
          <p:nvGrpSpPr>
            <p:cNvPr id="7" name="グループ化 6">
              <a:extLst>
                <a:ext uri="{FF2B5EF4-FFF2-40B4-BE49-F238E27FC236}">
                  <a16:creationId xmlns:a16="http://schemas.microsoft.com/office/drawing/2014/main" id="{97A3B75D-6A12-AF4E-66C5-E3FB2CF63434}"/>
                </a:ext>
              </a:extLst>
            </p:cNvPr>
            <p:cNvGrpSpPr/>
            <p:nvPr/>
          </p:nvGrpSpPr>
          <p:grpSpPr>
            <a:xfrm>
              <a:off x="3131985" y="5139021"/>
              <a:ext cx="180002" cy="254126"/>
              <a:chOff x="3131984" y="5191944"/>
              <a:chExt cx="270003" cy="201854"/>
            </a:xfrm>
          </p:grpSpPr>
          <p:sp>
            <p:nvSpPr>
              <p:cNvPr id="10" name="Freeform 42">
                <a:extLst>
                  <a:ext uri="{FF2B5EF4-FFF2-40B4-BE49-F238E27FC236}">
                    <a16:creationId xmlns:a16="http://schemas.microsoft.com/office/drawing/2014/main" id="{FD031464-50A4-A26E-2623-1BD5C7C2CB9C}"/>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1" name="Freeform 42">
                <a:extLst>
                  <a:ext uri="{FF2B5EF4-FFF2-40B4-BE49-F238E27FC236}">
                    <a16:creationId xmlns:a16="http://schemas.microsoft.com/office/drawing/2014/main" id="{FD8EFDC2-C3E9-85A4-C820-A2C9469D774F}"/>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2" name="Freeform 42">
                <a:extLst>
                  <a:ext uri="{FF2B5EF4-FFF2-40B4-BE49-F238E27FC236}">
                    <a16:creationId xmlns:a16="http://schemas.microsoft.com/office/drawing/2014/main" id="{5A1ACE3A-2114-235C-D8C9-8F0786F62683}"/>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3" name="Freeform 42">
                <a:extLst>
                  <a:ext uri="{FF2B5EF4-FFF2-40B4-BE49-F238E27FC236}">
                    <a16:creationId xmlns:a16="http://schemas.microsoft.com/office/drawing/2014/main" id="{6DBA4758-7B7C-544F-3DAC-48D46DD96E29}"/>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8" name="直線コネクタ 7">
              <a:extLst>
                <a:ext uri="{FF2B5EF4-FFF2-40B4-BE49-F238E27FC236}">
                  <a16:creationId xmlns:a16="http://schemas.microsoft.com/office/drawing/2014/main" id="{08CE8CE0-F976-0C0B-89CC-9095FEE54BB1}"/>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969C34F4-FE79-AEC2-822A-50450B32E060}"/>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14" name="直線コネクタ 13">
            <a:extLst>
              <a:ext uri="{FF2B5EF4-FFF2-40B4-BE49-F238E27FC236}">
                <a16:creationId xmlns:a16="http://schemas.microsoft.com/office/drawing/2014/main" id="{7CBC57C7-FDCA-93BA-3AAF-638DD6DC24FC}"/>
              </a:ext>
            </a:extLst>
          </p:cNvPr>
          <p:cNvCxnSpPr>
            <a:cxnSpLocks/>
          </p:cNvCxnSpPr>
          <p:nvPr/>
        </p:nvCxnSpPr>
        <p:spPr>
          <a:xfrm flipH="1">
            <a:off x="3851992" y="4149008"/>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a16:creationId xmlns:a16="http://schemas.microsoft.com/office/drawing/2014/main" id="{F5C428A5-03EC-6383-A759-ABD1BA3A43CA}"/>
              </a:ext>
            </a:extLst>
          </p:cNvPr>
          <p:cNvCxnSpPr>
            <a:cxnSpLocks/>
            <a:endCxn id="16" idx="4"/>
          </p:cNvCxnSpPr>
          <p:nvPr/>
        </p:nvCxnSpPr>
        <p:spPr>
          <a:xfrm>
            <a:off x="4752002"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6" name="円/楕円 68">
            <a:extLst>
              <a:ext uri="{FF2B5EF4-FFF2-40B4-BE49-F238E27FC236}">
                <a16:creationId xmlns:a16="http://schemas.microsoft.com/office/drawing/2014/main" id="{913C430F-8842-70D8-5968-714B4F9D7B5F}"/>
              </a:ext>
            </a:extLst>
          </p:cNvPr>
          <p:cNvSpPr/>
          <p:nvPr/>
        </p:nvSpPr>
        <p:spPr>
          <a:xfrm rot="5400000">
            <a:off x="4885725"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7" name="直線コネクタ 16">
            <a:extLst>
              <a:ext uri="{FF2B5EF4-FFF2-40B4-BE49-F238E27FC236}">
                <a16:creationId xmlns:a16="http://schemas.microsoft.com/office/drawing/2014/main" id="{C0EED765-5E00-1D04-380A-CB2BD87154A4}"/>
              </a:ext>
            </a:extLst>
          </p:cNvPr>
          <p:cNvCxnSpPr>
            <a:cxnSpLocks/>
            <a:endCxn id="4" idx="2"/>
          </p:cNvCxnSpPr>
          <p:nvPr/>
        </p:nvCxnSpPr>
        <p:spPr>
          <a:xfrm>
            <a:off x="4932004"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 name="直線コネクタ 17">
            <a:extLst>
              <a:ext uri="{FF2B5EF4-FFF2-40B4-BE49-F238E27FC236}">
                <a16:creationId xmlns:a16="http://schemas.microsoft.com/office/drawing/2014/main" id="{D079E177-EBE2-7C6E-5E53-61D3B5BC8EA5}"/>
              </a:ext>
            </a:extLst>
          </p:cNvPr>
          <p:cNvCxnSpPr>
            <a:cxnSpLocks/>
          </p:cNvCxnSpPr>
          <p:nvPr/>
        </p:nvCxnSpPr>
        <p:spPr>
          <a:xfrm>
            <a:off x="4932004"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9" name="Rectangle 93">
            <a:extLst>
              <a:ext uri="{FF2B5EF4-FFF2-40B4-BE49-F238E27FC236}">
                <a16:creationId xmlns:a16="http://schemas.microsoft.com/office/drawing/2014/main" id="{6CF79804-210A-6488-F259-E672F4320942}"/>
              </a:ext>
            </a:extLst>
          </p:cNvPr>
          <p:cNvSpPr>
            <a:spLocks noChangeArrowheads="1"/>
          </p:cNvSpPr>
          <p:nvPr/>
        </p:nvSpPr>
        <p:spPr bwMode="auto">
          <a:xfrm>
            <a:off x="3491988" y="3068996"/>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0" name="Rectangle 93">
            <a:extLst>
              <a:ext uri="{FF2B5EF4-FFF2-40B4-BE49-F238E27FC236}">
                <a16:creationId xmlns:a16="http://schemas.microsoft.com/office/drawing/2014/main" id="{8C6B7694-0CC7-5775-B2BC-CDB28A10938F}"/>
              </a:ext>
            </a:extLst>
          </p:cNvPr>
          <p:cNvSpPr>
            <a:spLocks noChangeArrowheads="1"/>
          </p:cNvSpPr>
          <p:nvPr/>
        </p:nvSpPr>
        <p:spPr bwMode="auto">
          <a:xfrm>
            <a:off x="3491988"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B</a:t>
            </a:r>
          </a:p>
        </p:txBody>
      </p:sp>
      <p:sp>
        <p:nvSpPr>
          <p:cNvPr id="21" name="Rectangle 93">
            <a:extLst>
              <a:ext uri="{FF2B5EF4-FFF2-40B4-BE49-F238E27FC236}">
                <a16:creationId xmlns:a16="http://schemas.microsoft.com/office/drawing/2014/main" id="{92C66BC4-909C-9DBF-61BB-E90F6404DF3C}"/>
              </a:ext>
            </a:extLst>
          </p:cNvPr>
          <p:cNvSpPr>
            <a:spLocks noChangeArrowheads="1"/>
          </p:cNvSpPr>
          <p:nvPr/>
        </p:nvSpPr>
        <p:spPr bwMode="auto">
          <a:xfrm>
            <a:off x="5290933"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22" name="Rectangle 93">
            <a:extLst>
              <a:ext uri="{FF2B5EF4-FFF2-40B4-BE49-F238E27FC236}">
                <a16:creationId xmlns:a16="http://schemas.microsoft.com/office/drawing/2014/main" id="{82CDDB03-ED29-70A9-08E2-A507D0DC266C}"/>
              </a:ext>
            </a:extLst>
          </p:cNvPr>
          <p:cNvSpPr>
            <a:spLocks noChangeArrowheads="1"/>
          </p:cNvSpPr>
          <p:nvPr/>
        </p:nvSpPr>
        <p:spPr bwMode="auto">
          <a:xfrm>
            <a:off x="5290933"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23" name="直線コネクタ 22">
            <a:extLst>
              <a:ext uri="{FF2B5EF4-FFF2-40B4-BE49-F238E27FC236}">
                <a16:creationId xmlns:a16="http://schemas.microsoft.com/office/drawing/2014/main" id="{41AF3067-0216-B287-2202-FF86BEB590D9}"/>
              </a:ext>
            </a:extLst>
          </p:cNvPr>
          <p:cNvCxnSpPr>
            <a:cxnSpLocks/>
          </p:cNvCxnSpPr>
          <p:nvPr/>
        </p:nvCxnSpPr>
        <p:spPr>
          <a:xfrm flipH="1">
            <a:off x="4932004"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25" name="グループ化 152">
            <a:extLst>
              <a:ext uri="{FF2B5EF4-FFF2-40B4-BE49-F238E27FC236}">
                <a16:creationId xmlns:a16="http://schemas.microsoft.com/office/drawing/2014/main" id="{C3ECDE06-9D85-CCD3-6818-BE0583AAB859}"/>
              </a:ext>
            </a:extLst>
          </p:cNvPr>
          <p:cNvGrpSpPr/>
          <p:nvPr/>
        </p:nvGrpSpPr>
        <p:grpSpPr>
          <a:xfrm>
            <a:off x="3401987" y="4599013"/>
            <a:ext cx="180002" cy="90001"/>
            <a:chOff x="3643306" y="4500570"/>
            <a:chExt cx="428628" cy="144464"/>
          </a:xfrm>
        </p:grpSpPr>
        <p:cxnSp>
          <p:nvCxnSpPr>
            <p:cNvPr id="26" name="直線コネクタ 25">
              <a:extLst>
                <a:ext uri="{FF2B5EF4-FFF2-40B4-BE49-F238E27FC236}">
                  <a16:creationId xmlns:a16="http://schemas.microsoft.com/office/drawing/2014/main" id="{3B718EFD-0C23-5CE6-0732-E8A0A7DB7730}"/>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7" name="直線コネクタ 26">
              <a:extLst>
                <a:ext uri="{FF2B5EF4-FFF2-40B4-BE49-F238E27FC236}">
                  <a16:creationId xmlns:a16="http://schemas.microsoft.com/office/drawing/2014/main" id="{40D8F8ED-350F-0BB8-2A41-8E8325E58503}"/>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8" name="直線コネクタ 27">
              <a:extLst>
                <a:ext uri="{FF2B5EF4-FFF2-40B4-BE49-F238E27FC236}">
                  <a16:creationId xmlns:a16="http://schemas.microsoft.com/office/drawing/2014/main" id="{863558CE-8857-2A3E-2509-6967075EBA8A}"/>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33" name="Rectangle 93">
            <a:extLst>
              <a:ext uri="{FF2B5EF4-FFF2-40B4-BE49-F238E27FC236}">
                <a16:creationId xmlns:a16="http://schemas.microsoft.com/office/drawing/2014/main" id="{F98CD4B9-12DD-D57A-43E6-742C7617EB64}"/>
              </a:ext>
            </a:extLst>
          </p:cNvPr>
          <p:cNvSpPr>
            <a:spLocks noChangeArrowheads="1"/>
          </p:cNvSpPr>
          <p:nvPr/>
        </p:nvSpPr>
        <p:spPr bwMode="auto">
          <a:xfrm>
            <a:off x="431954" y="6129030"/>
            <a:ext cx="360004" cy="360362"/>
          </a:xfrm>
          <a:prstGeom prst="rect">
            <a:avLst/>
          </a:prstGeom>
          <a:noFill/>
          <a:ln w="12700" algn="ctr">
            <a:noFill/>
            <a:miter lim="800000"/>
            <a:headEnd/>
            <a:tailEnd/>
          </a:ln>
          <a:effectLst/>
        </p:spPr>
        <p:txBody>
          <a:bodyPr wrap="none" lIns="90000" tIns="46800" rIns="90000" bIns="46800" anchor="ctr"/>
          <a:lstStyle/>
          <a:p>
            <a:endParaRPr lang="en-US" altLang="ja-JP" dirty="0"/>
          </a:p>
        </p:txBody>
      </p:sp>
      <p:cxnSp>
        <p:nvCxnSpPr>
          <p:cNvPr id="39" name="直線コネクタ 38">
            <a:extLst>
              <a:ext uri="{FF2B5EF4-FFF2-40B4-BE49-F238E27FC236}">
                <a16:creationId xmlns:a16="http://schemas.microsoft.com/office/drawing/2014/main" id="{98B2AB87-367F-832B-E786-71A205A9019B}"/>
              </a:ext>
            </a:extLst>
          </p:cNvPr>
          <p:cNvCxnSpPr>
            <a:cxnSpLocks/>
          </p:cNvCxnSpPr>
          <p:nvPr/>
        </p:nvCxnSpPr>
        <p:spPr>
          <a:xfrm flipH="1">
            <a:off x="3491988" y="4149008"/>
            <a:ext cx="450543"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0" name="直線コネクタ 39">
            <a:extLst>
              <a:ext uri="{FF2B5EF4-FFF2-40B4-BE49-F238E27FC236}">
                <a16:creationId xmlns:a16="http://schemas.microsoft.com/office/drawing/2014/main" id="{6C560B9A-64F3-D4F5-9714-63FAC12D5E44}"/>
              </a:ext>
            </a:extLst>
          </p:cNvPr>
          <p:cNvCxnSpPr>
            <a:cxnSpLocks/>
          </p:cNvCxnSpPr>
          <p:nvPr/>
        </p:nvCxnSpPr>
        <p:spPr>
          <a:xfrm flipV="1">
            <a:off x="3491988" y="414900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0E87782C-5AB5-CD82-F4B5-74C1DD84700A}"/>
              </a:ext>
            </a:extLst>
          </p:cNvPr>
          <p:cNvCxnSpPr>
            <a:cxnSpLocks/>
          </p:cNvCxnSpPr>
          <p:nvPr/>
        </p:nvCxnSpPr>
        <p:spPr>
          <a:xfrm flipH="1">
            <a:off x="4932004"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52" name="Rectangle 93">
            <a:extLst>
              <a:ext uri="{FF2B5EF4-FFF2-40B4-BE49-F238E27FC236}">
                <a16:creationId xmlns:a16="http://schemas.microsoft.com/office/drawing/2014/main" id="{233FEF5A-3A77-D112-A9BA-70D053884F74}"/>
              </a:ext>
            </a:extLst>
          </p:cNvPr>
          <p:cNvSpPr>
            <a:spLocks noChangeArrowheads="1"/>
          </p:cNvSpPr>
          <p:nvPr/>
        </p:nvSpPr>
        <p:spPr bwMode="auto">
          <a:xfrm>
            <a:off x="3221985" y="468901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spTree>
    <p:extLst>
      <p:ext uri="{BB962C8B-B14F-4D97-AF65-F5344CB8AC3E}">
        <p14:creationId xmlns:p14="http://schemas.microsoft.com/office/powerpoint/2010/main" val="361453409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B73C90-A857-8A64-2EFD-05040F02B6A1}"/>
              </a:ext>
            </a:extLst>
          </p:cNvPr>
          <p:cNvSpPr>
            <a:spLocks noGrp="1"/>
          </p:cNvSpPr>
          <p:nvPr>
            <p:ph type="title"/>
          </p:nvPr>
        </p:nvSpPr>
        <p:spPr/>
        <p:txBody>
          <a:bodyPr/>
          <a:lstStyle/>
          <a:p>
            <a:r>
              <a:rPr lang="en-US" altLang="ja-JP" dirty="0"/>
              <a:t>N </a:t>
            </a:r>
            <a:r>
              <a:rPr lang="ja-JP" altLang="en-US" dirty="0"/>
              <a:t>型の動作</a:t>
            </a:r>
            <a:endParaRPr lang="en-US" dirty="0"/>
          </a:p>
        </p:txBody>
      </p:sp>
      <p:sp>
        <p:nvSpPr>
          <p:cNvPr id="3" name="コンテンツ プレースホルダー 2">
            <a:extLst>
              <a:ext uri="{FF2B5EF4-FFF2-40B4-BE49-F238E27FC236}">
                <a16:creationId xmlns:a16="http://schemas.microsoft.com/office/drawing/2014/main" id="{269ADB42-F714-F608-E050-CD791A2A80CE}"/>
              </a:ext>
            </a:extLst>
          </p:cNvPr>
          <p:cNvSpPr>
            <a:spLocks noGrp="1"/>
          </p:cNvSpPr>
          <p:nvPr>
            <p:ph sz="quarter" idx="10"/>
          </p:nvPr>
        </p:nvSpPr>
        <p:spPr>
          <a:xfrm>
            <a:off x="611956" y="998973"/>
            <a:ext cx="8280092" cy="810009"/>
          </a:xfrm>
        </p:spPr>
        <p:txBody>
          <a:bodyPr/>
          <a:lstStyle/>
          <a:p>
            <a:r>
              <a:rPr lang="en-US" altLang="ja-JP" dirty="0"/>
              <a:t>G </a:t>
            </a:r>
            <a:r>
              <a:rPr lang="ja-JP" altLang="en-US" dirty="0"/>
              <a:t>が低電位（</a:t>
            </a:r>
            <a:r>
              <a:rPr lang="en-US" altLang="ja-JP" dirty="0"/>
              <a:t>= 0</a:t>
            </a:r>
            <a:r>
              <a:rPr lang="ja-JP" altLang="en-US" dirty="0"/>
              <a:t>）</a:t>
            </a:r>
            <a:r>
              <a:rPr lang="en-US" altLang="ja-JP" dirty="0"/>
              <a:t> </a:t>
            </a:r>
            <a:r>
              <a:rPr lang="ja-JP" altLang="en-US" dirty="0"/>
              <a:t>→ スイッチ </a:t>
            </a:r>
            <a:r>
              <a:rPr lang="en-US" altLang="ja-JP" dirty="0"/>
              <a:t>OFF</a:t>
            </a:r>
          </a:p>
          <a:p>
            <a:pPr lvl="1"/>
            <a:r>
              <a:rPr lang="en-US" altLang="ja-JP" dirty="0"/>
              <a:t>G~B </a:t>
            </a:r>
            <a:r>
              <a:rPr lang="ja-JP" altLang="en-US" dirty="0"/>
              <a:t>間は電位差がないのでコイルが働かない</a:t>
            </a:r>
            <a:endParaRPr lang="en-US" dirty="0"/>
          </a:p>
        </p:txBody>
      </p:sp>
      <p:sp>
        <p:nvSpPr>
          <p:cNvPr id="33" name="Rectangle 93">
            <a:extLst>
              <a:ext uri="{FF2B5EF4-FFF2-40B4-BE49-F238E27FC236}">
                <a16:creationId xmlns:a16="http://schemas.microsoft.com/office/drawing/2014/main" id="{F98CD4B9-12DD-D57A-43E6-742C7617EB64}"/>
              </a:ext>
            </a:extLst>
          </p:cNvPr>
          <p:cNvSpPr>
            <a:spLocks noChangeArrowheads="1"/>
          </p:cNvSpPr>
          <p:nvPr/>
        </p:nvSpPr>
        <p:spPr bwMode="auto">
          <a:xfrm>
            <a:off x="431954" y="6129030"/>
            <a:ext cx="360004" cy="360362"/>
          </a:xfrm>
          <a:prstGeom prst="rect">
            <a:avLst/>
          </a:prstGeom>
          <a:noFill/>
          <a:ln w="12700" algn="ctr">
            <a:noFill/>
            <a:miter lim="800000"/>
            <a:headEnd/>
            <a:tailEnd/>
          </a:ln>
          <a:effectLst/>
        </p:spPr>
        <p:txBody>
          <a:bodyPr wrap="none" lIns="90000" tIns="46800" rIns="90000" bIns="46800" anchor="ctr"/>
          <a:lstStyle/>
          <a:p>
            <a:endParaRPr lang="en-US" altLang="ja-JP" dirty="0"/>
          </a:p>
        </p:txBody>
      </p:sp>
      <p:grpSp>
        <p:nvGrpSpPr>
          <p:cNvPr id="146" name="グループ化 145">
            <a:extLst>
              <a:ext uri="{FF2B5EF4-FFF2-40B4-BE49-F238E27FC236}">
                <a16:creationId xmlns:a16="http://schemas.microsoft.com/office/drawing/2014/main" id="{EB9FFEA8-D060-C601-0E7B-8184D32DB940}"/>
              </a:ext>
            </a:extLst>
          </p:cNvPr>
          <p:cNvGrpSpPr/>
          <p:nvPr/>
        </p:nvGrpSpPr>
        <p:grpSpPr>
          <a:xfrm>
            <a:off x="3131984" y="1718981"/>
            <a:ext cx="2520028" cy="1980380"/>
            <a:chOff x="3851992" y="1628980"/>
            <a:chExt cx="2520028" cy="1980380"/>
          </a:xfrm>
        </p:grpSpPr>
        <p:sp>
          <p:nvSpPr>
            <p:cNvPr id="76" name="正方形/長方形 75">
              <a:extLst>
                <a:ext uri="{FF2B5EF4-FFF2-40B4-BE49-F238E27FC236}">
                  <a16:creationId xmlns:a16="http://schemas.microsoft.com/office/drawing/2014/main" id="{CF97B58D-5764-9616-FC2F-06083481BF93}"/>
                </a:ext>
              </a:extLst>
            </p:cNvPr>
            <p:cNvSpPr/>
            <p:nvPr/>
          </p:nvSpPr>
          <p:spPr bwMode="auto">
            <a:xfrm>
              <a:off x="4572000" y="1898983"/>
              <a:ext cx="1440016"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82" name="円/楕円 69">
              <a:extLst>
                <a:ext uri="{FF2B5EF4-FFF2-40B4-BE49-F238E27FC236}">
                  <a16:creationId xmlns:a16="http://schemas.microsoft.com/office/drawing/2014/main" id="{F5442903-5A72-63A1-5154-C015965EB5DC}"/>
                </a:ext>
              </a:extLst>
            </p:cNvPr>
            <p:cNvSpPr/>
            <p:nvPr/>
          </p:nvSpPr>
          <p:spPr>
            <a:xfrm rot="5400000">
              <a:off x="5608267" y="216898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86" name="直線コネクタ 85">
              <a:extLst>
                <a:ext uri="{FF2B5EF4-FFF2-40B4-BE49-F238E27FC236}">
                  <a16:creationId xmlns:a16="http://schemas.microsoft.com/office/drawing/2014/main" id="{04BB337F-5751-B3CA-5110-C0B098B80455}"/>
                </a:ext>
              </a:extLst>
            </p:cNvPr>
            <p:cNvCxnSpPr>
              <a:cxnSpLocks/>
            </p:cNvCxnSpPr>
            <p:nvPr/>
          </p:nvCxnSpPr>
          <p:spPr>
            <a:xfrm flipH="1">
              <a:off x="4211996" y="1988984"/>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87" name="グループ化 86">
              <a:extLst>
                <a:ext uri="{FF2B5EF4-FFF2-40B4-BE49-F238E27FC236}">
                  <a16:creationId xmlns:a16="http://schemas.microsoft.com/office/drawing/2014/main" id="{2DDFECEE-3EB3-9A5F-093C-C25D3D5A3450}"/>
                </a:ext>
              </a:extLst>
            </p:cNvPr>
            <p:cNvGrpSpPr/>
            <p:nvPr/>
          </p:nvGrpSpPr>
          <p:grpSpPr>
            <a:xfrm>
              <a:off x="4752002" y="1988984"/>
              <a:ext cx="360004" cy="720007"/>
              <a:chOff x="3131985" y="5049018"/>
              <a:chExt cx="180002" cy="437056"/>
            </a:xfrm>
          </p:grpSpPr>
          <p:grpSp>
            <p:nvGrpSpPr>
              <p:cNvPr id="88" name="グループ化 87">
                <a:extLst>
                  <a:ext uri="{FF2B5EF4-FFF2-40B4-BE49-F238E27FC236}">
                    <a16:creationId xmlns:a16="http://schemas.microsoft.com/office/drawing/2014/main" id="{F79D74DF-22D7-2873-DC2D-9A5C8A1A7FC7}"/>
                  </a:ext>
                </a:extLst>
              </p:cNvPr>
              <p:cNvGrpSpPr/>
              <p:nvPr/>
            </p:nvGrpSpPr>
            <p:grpSpPr>
              <a:xfrm>
                <a:off x="3131985" y="5139021"/>
                <a:ext cx="180002" cy="254126"/>
                <a:chOff x="3131984" y="5191944"/>
                <a:chExt cx="270003" cy="201854"/>
              </a:xfrm>
            </p:grpSpPr>
            <p:sp>
              <p:nvSpPr>
                <p:cNvPr id="91" name="Freeform 42">
                  <a:extLst>
                    <a:ext uri="{FF2B5EF4-FFF2-40B4-BE49-F238E27FC236}">
                      <a16:creationId xmlns:a16="http://schemas.microsoft.com/office/drawing/2014/main" id="{E33DBDDC-3064-5A0A-5D9D-E6736800BFD4}"/>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92" name="Freeform 42">
                  <a:extLst>
                    <a:ext uri="{FF2B5EF4-FFF2-40B4-BE49-F238E27FC236}">
                      <a16:creationId xmlns:a16="http://schemas.microsoft.com/office/drawing/2014/main" id="{E5D9B290-FE85-9B13-E740-CB1954BAFAE8}"/>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93" name="Freeform 42">
                  <a:extLst>
                    <a:ext uri="{FF2B5EF4-FFF2-40B4-BE49-F238E27FC236}">
                      <a16:creationId xmlns:a16="http://schemas.microsoft.com/office/drawing/2014/main" id="{D7548E9E-9CE9-DF35-37F0-C41513BA7734}"/>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94" name="Freeform 42">
                  <a:extLst>
                    <a:ext uri="{FF2B5EF4-FFF2-40B4-BE49-F238E27FC236}">
                      <a16:creationId xmlns:a16="http://schemas.microsoft.com/office/drawing/2014/main" id="{215B73FE-EB08-6237-DB99-A2302633970B}"/>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89" name="直線コネクタ 88">
                <a:extLst>
                  <a:ext uri="{FF2B5EF4-FFF2-40B4-BE49-F238E27FC236}">
                    <a16:creationId xmlns:a16="http://schemas.microsoft.com/office/drawing/2014/main" id="{5940F94F-3377-CF2E-DBDF-58A2D39A570A}"/>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90" name="直線コネクタ 89">
                <a:extLst>
                  <a:ext uri="{FF2B5EF4-FFF2-40B4-BE49-F238E27FC236}">
                    <a16:creationId xmlns:a16="http://schemas.microsoft.com/office/drawing/2014/main" id="{AD478DBA-B45B-7E0D-7CD9-546994027E76}"/>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95" name="直線コネクタ 94">
              <a:extLst>
                <a:ext uri="{FF2B5EF4-FFF2-40B4-BE49-F238E27FC236}">
                  <a16:creationId xmlns:a16="http://schemas.microsoft.com/office/drawing/2014/main" id="{A92A2CF3-7AC8-4BD7-D0ED-59E294B60266}"/>
                </a:ext>
              </a:extLst>
            </p:cNvPr>
            <p:cNvCxnSpPr>
              <a:cxnSpLocks/>
            </p:cNvCxnSpPr>
            <p:nvPr/>
          </p:nvCxnSpPr>
          <p:spPr>
            <a:xfrm flipH="1">
              <a:off x="4572000" y="2708992"/>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96" name="直線コネクタ 95">
              <a:extLst>
                <a:ext uri="{FF2B5EF4-FFF2-40B4-BE49-F238E27FC236}">
                  <a16:creationId xmlns:a16="http://schemas.microsoft.com/office/drawing/2014/main" id="{EBEC8281-8A9C-DBA0-CC27-C5915BF846B8}"/>
                </a:ext>
              </a:extLst>
            </p:cNvPr>
            <p:cNvCxnSpPr>
              <a:cxnSpLocks/>
              <a:endCxn id="97" idx="4"/>
            </p:cNvCxnSpPr>
            <p:nvPr/>
          </p:nvCxnSpPr>
          <p:spPr>
            <a:xfrm>
              <a:off x="5472010" y="2168986"/>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97" name="円/楕円 68">
              <a:extLst>
                <a:ext uri="{FF2B5EF4-FFF2-40B4-BE49-F238E27FC236}">
                  <a16:creationId xmlns:a16="http://schemas.microsoft.com/office/drawing/2014/main" id="{99C2D4C4-65DE-09DD-2414-EFC009371505}"/>
                </a:ext>
              </a:extLst>
            </p:cNvPr>
            <p:cNvSpPr/>
            <p:nvPr/>
          </p:nvSpPr>
          <p:spPr>
            <a:xfrm rot="5400000">
              <a:off x="5605733" y="2439000"/>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98" name="直線コネクタ 97">
              <a:extLst>
                <a:ext uri="{FF2B5EF4-FFF2-40B4-BE49-F238E27FC236}">
                  <a16:creationId xmlns:a16="http://schemas.microsoft.com/office/drawing/2014/main" id="{5918AA9D-A3CB-DD7B-17C3-9AE60D441644}"/>
                </a:ext>
              </a:extLst>
            </p:cNvPr>
            <p:cNvCxnSpPr>
              <a:cxnSpLocks/>
              <a:endCxn id="82" idx="2"/>
            </p:cNvCxnSpPr>
            <p:nvPr/>
          </p:nvCxnSpPr>
          <p:spPr>
            <a:xfrm>
              <a:off x="5652012" y="1988984"/>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99" name="直線コネクタ 98">
              <a:extLst>
                <a:ext uri="{FF2B5EF4-FFF2-40B4-BE49-F238E27FC236}">
                  <a16:creationId xmlns:a16="http://schemas.microsoft.com/office/drawing/2014/main" id="{6AC066D6-6BE4-B682-0EE6-D186155BE8B2}"/>
                </a:ext>
              </a:extLst>
            </p:cNvPr>
            <p:cNvCxnSpPr>
              <a:cxnSpLocks/>
            </p:cNvCxnSpPr>
            <p:nvPr/>
          </p:nvCxnSpPr>
          <p:spPr>
            <a:xfrm>
              <a:off x="5652012" y="2528990"/>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00" name="Rectangle 93">
              <a:extLst>
                <a:ext uri="{FF2B5EF4-FFF2-40B4-BE49-F238E27FC236}">
                  <a16:creationId xmlns:a16="http://schemas.microsoft.com/office/drawing/2014/main" id="{2119DC8F-22F0-C2B6-E9D7-FCBB4A2801F2}"/>
                </a:ext>
              </a:extLst>
            </p:cNvPr>
            <p:cNvSpPr>
              <a:spLocks noChangeArrowheads="1"/>
            </p:cNvSpPr>
            <p:nvPr/>
          </p:nvSpPr>
          <p:spPr bwMode="auto">
            <a:xfrm>
              <a:off x="4211996" y="162898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01" name="Rectangle 93">
              <a:extLst>
                <a:ext uri="{FF2B5EF4-FFF2-40B4-BE49-F238E27FC236}">
                  <a16:creationId xmlns:a16="http://schemas.microsoft.com/office/drawing/2014/main" id="{E1E043CA-0E9C-36CC-C55B-8284E80CA3A5}"/>
                </a:ext>
              </a:extLst>
            </p:cNvPr>
            <p:cNvSpPr>
              <a:spLocks noChangeArrowheads="1"/>
            </p:cNvSpPr>
            <p:nvPr/>
          </p:nvSpPr>
          <p:spPr bwMode="auto">
            <a:xfrm>
              <a:off x="4211996" y="2708992"/>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B</a:t>
              </a:r>
            </a:p>
          </p:txBody>
        </p:sp>
        <p:sp>
          <p:nvSpPr>
            <p:cNvPr id="102" name="Rectangle 93">
              <a:extLst>
                <a:ext uri="{FF2B5EF4-FFF2-40B4-BE49-F238E27FC236}">
                  <a16:creationId xmlns:a16="http://schemas.microsoft.com/office/drawing/2014/main" id="{B3652693-69A7-94BB-AC7D-07947A06CD3F}"/>
                </a:ext>
              </a:extLst>
            </p:cNvPr>
            <p:cNvSpPr>
              <a:spLocks noChangeArrowheads="1"/>
            </p:cNvSpPr>
            <p:nvPr/>
          </p:nvSpPr>
          <p:spPr bwMode="auto">
            <a:xfrm>
              <a:off x="6010941" y="2708992"/>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03" name="Rectangle 93">
              <a:extLst>
                <a:ext uri="{FF2B5EF4-FFF2-40B4-BE49-F238E27FC236}">
                  <a16:creationId xmlns:a16="http://schemas.microsoft.com/office/drawing/2014/main" id="{F87DCDFB-6654-F748-5921-4850CE9459F4}"/>
                </a:ext>
              </a:extLst>
            </p:cNvPr>
            <p:cNvSpPr>
              <a:spLocks noChangeArrowheads="1"/>
            </p:cNvSpPr>
            <p:nvPr/>
          </p:nvSpPr>
          <p:spPr bwMode="auto">
            <a:xfrm>
              <a:off x="6010941" y="1628980"/>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04" name="直線コネクタ 103">
              <a:extLst>
                <a:ext uri="{FF2B5EF4-FFF2-40B4-BE49-F238E27FC236}">
                  <a16:creationId xmlns:a16="http://schemas.microsoft.com/office/drawing/2014/main" id="{ED9CBADE-DFCE-6370-D57C-E85A92569EC2}"/>
                </a:ext>
              </a:extLst>
            </p:cNvPr>
            <p:cNvCxnSpPr>
              <a:cxnSpLocks/>
            </p:cNvCxnSpPr>
            <p:nvPr/>
          </p:nvCxnSpPr>
          <p:spPr>
            <a:xfrm flipH="1">
              <a:off x="5652012" y="2708992"/>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105" name="グループ化 152">
              <a:extLst>
                <a:ext uri="{FF2B5EF4-FFF2-40B4-BE49-F238E27FC236}">
                  <a16:creationId xmlns:a16="http://schemas.microsoft.com/office/drawing/2014/main" id="{B2CE947B-D029-AA8B-D793-8DDC243CF948}"/>
                </a:ext>
              </a:extLst>
            </p:cNvPr>
            <p:cNvGrpSpPr/>
            <p:nvPr/>
          </p:nvGrpSpPr>
          <p:grpSpPr>
            <a:xfrm>
              <a:off x="4121995" y="3158997"/>
              <a:ext cx="180002" cy="90001"/>
              <a:chOff x="3643306" y="4500570"/>
              <a:chExt cx="428628" cy="144464"/>
            </a:xfrm>
          </p:grpSpPr>
          <p:cxnSp>
            <p:nvCxnSpPr>
              <p:cNvPr id="106" name="直線コネクタ 105">
                <a:extLst>
                  <a:ext uri="{FF2B5EF4-FFF2-40B4-BE49-F238E27FC236}">
                    <a16:creationId xmlns:a16="http://schemas.microsoft.com/office/drawing/2014/main" id="{98247DC5-5890-AF63-E603-06AE16CD821A}"/>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07" name="直線コネクタ 106">
                <a:extLst>
                  <a:ext uri="{FF2B5EF4-FFF2-40B4-BE49-F238E27FC236}">
                    <a16:creationId xmlns:a16="http://schemas.microsoft.com/office/drawing/2014/main" id="{4FD3B5E9-2547-F4C9-1D44-60C98825FDB7}"/>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08" name="直線コネクタ 107">
                <a:extLst>
                  <a:ext uri="{FF2B5EF4-FFF2-40B4-BE49-F238E27FC236}">
                    <a16:creationId xmlns:a16="http://schemas.microsoft.com/office/drawing/2014/main" id="{9B4003D0-2A38-9898-C566-B4FEBD81F93E}"/>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109" name="直線コネクタ 108">
              <a:extLst>
                <a:ext uri="{FF2B5EF4-FFF2-40B4-BE49-F238E27FC236}">
                  <a16:creationId xmlns:a16="http://schemas.microsoft.com/office/drawing/2014/main" id="{7A90873C-C0D1-F367-F724-6B21EED70ADD}"/>
                </a:ext>
              </a:extLst>
            </p:cNvPr>
            <p:cNvCxnSpPr>
              <a:cxnSpLocks/>
            </p:cNvCxnSpPr>
            <p:nvPr/>
          </p:nvCxnSpPr>
          <p:spPr>
            <a:xfrm flipH="1">
              <a:off x="4211996" y="2708992"/>
              <a:ext cx="450543"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10" name="直線コネクタ 109">
              <a:extLst>
                <a:ext uri="{FF2B5EF4-FFF2-40B4-BE49-F238E27FC236}">
                  <a16:creationId xmlns:a16="http://schemas.microsoft.com/office/drawing/2014/main" id="{523446BB-7F8C-BC74-B8DB-6F50B550651A}"/>
                </a:ext>
              </a:extLst>
            </p:cNvPr>
            <p:cNvCxnSpPr>
              <a:cxnSpLocks/>
            </p:cNvCxnSpPr>
            <p:nvPr/>
          </p:nvCxnSpPr>
          <p:spPr>
            <a:xfrm flipV="1">
              <a:off x="4211996" y="2708992"/>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11" name="直線コネクタ 110">
              <a:extLst>
                <a:ext uri="{FF2B5EF4-FFF2-40B4-BE49-F238E27FC236}">
                  <a16:creationId xmlns:a16="http://schemas.microsoft.com/office/drawing/2014/main" id="{07E3F49D-C466-0136-2F91-E6C6D3A07552}"/>
                </a:ext>
              </a:extLst>
            </p:cNvPr>
            <p:cNvCxnSpPr>
              <a:cxnSpLocks/>
            </p:cNvCxnSpPr>
            <p:nvPr/>
          </p:nvCxnSpPr>
          <p:spPr>
            <a:xfrm flipH="1">
              <a:off x="5652012" y="1988984"/>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12" name="Rectangle 93">
              <a:extLst>
                <a:ext uri="{FF2B5EF4-FFF2-40B4-BE49-F238E27FC236}">
                  <a16:creationId xmlns:a16="http://schemas.microsoft.com/office/drawing/2014/main" id="{828682E3-AFA4-2D84-FFFB-C27DDF08A940}"/>
                </a:ext>
              </a:extLst>
            </p:cNvPr>
            <p:cNvSpPr>
              <a:spLocks noChangeArrowheads="1"/>
            </p:cNvSpPr>
            <p:nvPr/>
          </p:nvSpPr>
          <p:spPr bwMode="auto">
            <a:xfrm>
              <a:off x="3941993" y="3248998"/>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sp>
          <p:nvSpPr>
            <p:cNvPr id="113" name="Rectangle 93">
              <a:extLst>
                <a:ext uri="{FF2B5EF4-FFF2-40B4-BE49-F238E27FC236}">
                  <a16:creationId xmlns:a16="http://schemas.microsoft.com/office/drawing/2014/main" id="{00944D24-E889-C775-D967-0D0DFD48CFB3}"/>
                </a:ext>
              </a:extLst>
            </p:cNvPr>
            <p:cNvSpPr>
              <a:spLocks noChangeArrowheads="1"/>
            </p:cNvSpPr>
            <p:nvPr/>
          </p:nvSpPr>
          <p:spPr bwMode="auto">
            <a:xfrm>
              <a:off x="3851992" y="1808982"/>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rPr>
                <a:t>0</a:t>
              </a:r>
            </a:p>
          </p:txBody>
        </p:sp>
      </p:grpSp>
      <p:grpSp>
        <p:nvGrpSpPr>
          <p:cNvPr id="147" name="グループ化 146">
            <a:extLst>
              <a:ext uri="{FF2B5EF4-FFF2-40B4-BE49-F238E27FC236}">
                <a16:creationId xmlns:a16="http://schemas.microsoft.com/office/drawing/2014/main" id="{1EB14A43-76D4-263C-51C2-B162C74E49FA}"/>
              </a:ext>
            </a:extLst>
          </p:cNvPr>
          <p:cNvGrpSpPr/>
          <p:nvPr/>
        </p:nvGrpSpPr>
        <p:grpSpPr>
          <a:xfrm>
            <a:off x="3131984" y="4779015"/>
            <a:ext cx="2520028" cy="1980380"/>
            <a:chOff x="3851992" y="4149008"/>
            <a:chExt cx="2520028" cy="1980380"/>
          </a:xfrm>
        </p:grpSpPr>
        <p:sp>
          <p:nvSpPr>
            <p:cNvPr id="114" name="正方形/長方形 113">
              <a:extLst>
                <a:ext uri="{FF2B5EF4-FFF2-40B4-BE49-F238E27FC236}">
                  <a16:creationId xmlns:a16="http://schemas.microsoft.com/office/drawing/2014/main" id="{784BA43E-3A35-57AB-0970-CA6899FD5258}"/>
                </a:ext>
              </a:extLst>
            </p:cNvPr>
            <p:cNvSpPr/>
            <p:nvPr/>
          </p:nvSpPr>
          <p:spPr bwMode="auto">
            <a:xfrm>
              <a:off x="4572000" y="4419011"/>
              <a:ext cx="1440016"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15" name="円/楕円 69">
              <a:extLst>
                <a:ext uri="{FF2B5EF4-FFF2-40B4-BE49-F238E27FC236}">
                  <a16:creationId xmlns:a16="http://schemas.microsoft.com/office/drawing/2014/main" id="{F28F4AB7-E9AF-A6DA-FD25-CB777A301AC3}"/>
                </a:ext>
              </a:extLst>
            </p:cNvPr>
            <p:cNvSpPr/>
            <p:nvPr/>
          </p:nvSpPr>
          <p:spPr>
            <a:xfrm rot="5400000">
              <a:off x="5608267" y="4689014"/>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16" name="直線コネクタ 115">
              <a:extLst>
                <a:ext uri="{FF2B5EF4-FFF2-40B4-BE49-F238E27FC236}">
                  <a16:creationId xmlns:a16="http://schemas.microsoft.com/office/drawing/2014/main" id="{19F75B5F-E81B-D7B3-2124-BABA3BA43EEA}"/>
                </a:ext>
              </a:extLst>
            </p:cNvPr>
            <p:cNvCxnSpPr>
              <a:cxnSpLocks/>
            </p:cNvCxnSpPr>
            <p:nvPr/>
          </p:nvCxnSpPr>
          <p:spPr>
            <a:xfrm flipH="1">
              <a:off x="4211996" y="4509012"/>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117" name="グループ化 116">
              <a:extLst>
                <a:ext uri="{FF2B5EF4-FFF2-40B4-BE49-F238E27FC236}">
                  <a16:creationId xmlns:a16="http://schemas.microsoft.com/office/drawing/2014/main" id="{65E50686-660D-DEDC-3C04-433DFC76812D}"/>
                </a:ext>
              </a:extLst>
            </p:cNvPr>
            <p:cNvGrpSpPr/>
            <p:nvPr/>
          </p:nvGrpSpPr>
          <p:grpSpPr>
            <a:xfrm>
              <a:off x="4752002" y="4509012"/>
              <a:ext cx="360004" cy="720007"/>
              <a:chOff x="3131985" y="5049018"/>
              <a:chExt cx="180002" cy="437056"/>
            </a:xfrm>
          </p:grpSpPr>
          <p:grpSp>
            <p:nvGrpSpPr>
              <p:cNvPr id="118" name="グループ化 117">
                <a:extLst>
                  <a:ext uri="{FF2B5EF4-FFF2-40B4-BE49-F238E27FC236}">
                    <a16:creationId xmlns:a16="http://schemas.microsoft.com/office/drawing/2014/main" id="{36F1AEC4-DEE9-D8A9-20F7-EC223E271536}"/>
                  </a:ext>
                </a:extLst>
              </p:cNvPr>
              <p:cNvGrpSpPr/>
              <p:nvPr/>
            </p:nvGrpSpPr>
            <p:grpSpPr>
              <a:xfrm>
                <a:off x="3131985" y="5139021"/>
                <a:ext cx="180002" cy="254126"/>
                <a:chOff x="3131984" y="5191944"/>
                <a:chExt cx="270003" cy="201854"/>
              </a:xfrm>
            </p:grpSpPr>
            <p:sp>
              <p:nvSpPr>
                <p:cNvPr id="121" name="Freeform 42">
                  <a:extLst>
                    <a:ext uri="{FF2B5EF4-FFF2-40B4-BE49-F238E27FC236}">
                      <a16:creationId xmlns:a16="http://schemas.microsoft.com/office/drawing/2014/main" id="{56BB3C6E-0D7D-84D7-A1E0-8A23FD82BD0E}"/>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22" name="Freeform 42">
                  <a:extLst>
                    <a:ext uri="{FF2B5EF4-FFF2-40B4-BE49-F238E27FC236}">
                      <a16:creationId xmlns:a16="http://schemas.microsoft.com/office/drawing/2014/main" id="{6BF4E43D-2E16-FB9E-ACCB-A02BD34E6DC6}"/>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23" name="Freeform 42">
                  <a:extLst>
                    <a:ext uri="{FF2B5EF4-FFF2-40B4-BE49-F238E27FC236}">
                      <a16:creationId xmlns:a16="http://schemas.microsoft.com/office/drawing/2014/main" id="{7D80D21B-A1B5-6D8B-A69B-94D088D94A32}"/>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24" name="Freeform 42">
                  <a:extLst>
                    <a:ext uri="{FF2B5EF4-FFF2-40B4-BE49-F238E27FC236}">
                      <a16:creationId xmlns:a16="http://schemas.microsoft.com/office/drawing/2014/main" id="{E6040A0B-BD3F-02D0-2B37-975A9D2BA2FD}"/>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119" name="直線コネクタ 118">
                <a:extLst>
                  <a:ext uri="{FF2B5EF4-FFF2-40B4-BE49-F238E27FC236}">
                    <a16:creationId xmlns:a16="http://schemas.microsoft.com/office/drawing/2014/main" id="{8B7B79E5-1832-561A-2BC9-FE91780122EE}"/>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20" name="直線コネクタ 119">
                <a:extLst>
                  <a:ext uri="{FF2B5EF4-FFF2-40B4-BE49-F238E27FC236}">
                    <a16:creationId xmlns:a16="http://schemas.microsoft.com/office/drawing/2014/main" id="{5EA161F9-1D24-483C-6C5A-3FC73FCB3A5F}"/>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125" name="直線コネクタ 124">
              <a:extLst>
                <a:ext uri="{FF2B5EF4-FFF2-40B4-BE49-F238E27FC236}">
                  <a16:creationId xmlns:a16="http://schemas.microsoft.com/office/drawing/2014/main" id="{5A3F2E20-AEB3-6D3E-D48C-A16BF6CFD370}"/>
                </a:ext>
              </a:extLst>
            </p:cNvPr>
            <p:cNvCxnSpPr>
              <a:cxnSpLocks/>
            </p:cNvCxnSpPr>
            <p:nvPr/>
          </p:nvCxnSpPr>
          <p:spPr>
            <a:xfrm flipH="1">
              <a:off x="4572000" y="5229020"/>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26" name="直線コネクタ 125">
              <a:extLst>
                <a:ext uri="{FF2B5EF4-FFF2-40B4-BE49-F238E27FC236}">
                  <a16:creationId xmlns:a16="http://schemas.microsoft.com/office/drawing/2014/main" id="{0DC7F943-0222-9B96-0B14-5ADC7DFACE14}"/>
                </a:ext>
              </a:extLst>
            </p:cNvPr>
            <p:cNvCxnSpPr>
              <a:cxnSpLocks/>
              <a:endCxn id="127" idx="4"/>
            </p:cNvCxnSpPr>
            <p:nvPr/>
          </p:nvCxnSpPr>
          <p:spPr>
            <a:xfrm>
              <a:off x="5605744" y="4689014"/>
              <a:ext cx="0"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27" name="円/楕円 68">
              <a:extLst>
                <a:ext uri="{FF2B5EF4-FFF2-40B4-BE49-F238E27FC236}">
                  <a16:creationId xmlns:a16="http://schemas.microsoft.com/office/drawing/2014/main" id="{25715270-6906-969C-E707-6FC0FDBF32CC}"/>
                </a:ext>
              </a:extLst>
            </p:cNvPr>
            <p:cNvSpPr/>
            <p:nvPr/>
          </p:nvSpPr>
          <p:spPr>
            <a:xfrm rot="5400000">
              <a:off x="5605733" y="4959028"/>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28" name="直線コネクタ 127">
              <a:extLst>
                <a:ext uri="{FF2B5EF4-FFF2-40B4-BE49-F238E27FC236}">
                  <a16:creationId xmlns:a16="http://schemas.microsoft.com/office/drawing/2014/main" id="{15E625B6-ADF9-9B30-8AC7-8882E2EC2ED1}"/>
                </a:ext>
              </a:extLst>
            </p:cNvPr>
            <p:cNvCxnSpPr>
              <a:cxnSpLocks/>
              <a:endCxn id="115" idx="2"/>
            </p:cNvCxnSpPr>
            <p:nvPr/>
          </p:nvCxnSpPr>
          <p:spPr>
            <a:xfrm>
              <a:off x="5652012" y="4509012"/>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29" name="直線コネクタ 128">
              <a:extLst>
                <a:ext uri="{FF2B5EF4-FFF2-40B4-BE49-F238E27FC236}">
                  <a16:creationId xmlns:a16="http://schemas.microsoft.com/office/drawing/2014/main" id="{1AE9A113-236C-C545-0AD8-7B9BC5A53C37}"/>
                </a:ext>
              </a:extLst>
            </p:cNvPr>
            <p:cNvCxnSpPr>
              <a:cxnSpLocks/>
            </p:cNvCxnSpPr>
            <p:nvPr/>
          </p:nvCxnSpPr>
          <p:spPr>
            <a:xfrm>
              <a:off x="5652012" y="5049018"/>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30" name="Rectangle 93">
              <a:extLst>
                <a:ext uri="{FF2B5EF4-FFF2-40B4-BE49-F238E27FC236}">
                  <a16:creationId xmlns:a16="http://schemas.microsoft.com/office/drawing/2014/main" id="{697ADA0B-E163-FB1D-BE50-F6310915D944}"/>
                </a:ext>
              </a:extLst>
            </p:cNvPr>
            <p:cNvSpPr>
              <a:spLocks noChangeArrowheads="1"/>
            </p:cNvSpPr>
            <p:nvPr/>
          </p:nvSpPr>
          <p:spPr bwMode="auto">
            <a:xfrm>
              <a:off x="4211996" y="4149008"/>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31" name="Rectangle 93">
              <a:extLst>
                <a:ext uri="{FF2B5EF4-FFF2-40B4-BE49-F238E27FC236}">
                  <a16:creationId xmlns:a16="http://schemas.microsoft.com/office/drawing/2014/main" id="{C1A7140B-ECE2-BCA5-04CF-4CD0BE55E6EA}"/>
                </a:ext>
              </a:extLst>
            </p:cNvPr>
            <p:cNvSpPr>
              <a:spLocks noChangeArrowheads="1"/>
            </p:cNvSpPr>
            <p:nvPr/>
          </p:nvSpPr>
          <p:spPr bwMode="auto">
            <a:xfrm>
              <a:off x="4211996" y="5229020"/>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B</a:t>
              </a:r>
            </a:p>
          </p:txBody>
        </p:sp>
        <p:sp>
          <p:nvSpPr>
            <p:cNvPr id="132" name="Rectangle 93">
              <a:extLst>
                <a:ext uri="{FF2B5EF4-FFF2-40B4-BE49-F238E27FC236}">
                  <a16:creationId xmlns:a16="http://schemas.microsoft.com/office/drawing/2014/main" id="{71A34840-66E4-813A-5782-027B0268BB48}"/>
                </a:ext>
              </a:extLst>
            </p:cNvPr>
            <p:cNvSpPr>
              <a:spLocks noChangeArrowheads="1"/>
            </p:cNvSpPr>
            <p:nvPr/>
          </p:nvSpPr>
          <p:spPr bwMode="auto">
            <a:xfrm>
              <a:off x="6010941" y="5229020"/>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33" name="Rectangle 93">
              <a:extLst>
                <a:ext uri="{FF2B5EF4-FFF2-40B4-BE49-F238E27FC236}">
                  <a16:creationId xmlns:a16="http://schemas.microsoft.com/office/drawing/2014/main" id="{A3A551B5-84D2-88C5-679A-603E85F1ECDF}"/>
                </a:ext>
              </a:extLst>
            </p:cNvPr>
            <p:cNvSpPr>
              <a:spLocks noChangeArrowheads="1"/>
            </p:cNvSpPr>
            <p:nvPr/>
          </p:nvSpPr>
          <p:spPr bwMode="auto">
            <a:xfrm>
              <a:off x="6010941"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34" name="直線コネクタ 133">
              <a:extLst>
                <a:ext uri="{FF2B5EF4-FFF2-40B4-BE49-F238E27FC236}">
                  <a16:creationId xmlns:a16="http://schemas.microsoft.com/office/drawing/2014/main" id="{60EF2CFC-3108-5B4D-011A-11E6E84D992A}"/>
                </a:ext>
              </a:extLst>
            </p:cNvPr>
            <p:cNvCxnSpPr>
              <a:cxnSpLocks/>
            </p:cNvCxnSpPr>
            <p:nvPr/>
          </p:nvCxnSpPr>
          <p:spPr>
            <a:xfrm flipH="1">
              <a:off x="5652012" y="522902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135" name="グループ化 152">
              <a:extLst>
                <a:ext uri="{FF2B5EF4-FFF2-40B4-BE49-F238E27FC236}">
                  <a16:creationId xmlns:a16="http://schemas.microsoft.com/office/drawing/2014/main" id="{AAD6D005-43BB-3669-BECE-4C5ACABED7F9}"/>
                </a:ext>
              </a:extLst>
            </p:cNvPr>
            <p:cNvGrpSpPr/>
            <p:nvPr/>
          </p:nvGrpSpPr>
          <p:grpSpPr>
            <a:xfrm>
              <a:off x="4121995" y="5679025"/>
              <a:ext cx="180002" cy="90001"/>
              <a:chOff x="3643306" y="4500570"/>
              <a:chExt cx="428628" cy="144464"/>
            </a:xfrm>
          </p:grpSpPr>
          <p:cxnSp>
            <p:nvCxnSpPr>
              <p:cNvPr id="136" name="直線コネクタ 135">
                <a:extLst>
                  <a:ext uri="{FF2B5EF4-FFF2-40B4-BE49-F238E27FC236}">
                    <a16:creationId xmlns:a16="http://schemas.microsoft.com/office/drawing/2014/main" id="{2A73AB4A-FC00-87C5-CA81-389993E29BDC}"/>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37" name="直線コネクタ 136">
                <a:extLst>
                  <a:ext uri="{FF2B5EF4-FFF2-40B4-BE49-F238E27FC236}">
                    <a16:creationId xmlns:a16="http://schemas.microsoft.com/office/drawing/2014/main" id="{AB364201-7060-E5F5-DCE4-3E2A8DD726CE}"/>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38" name="直線コネクタ 137">
                <a:extLst>
                  <a:ext uri="{FF2B5EF4-FFF2-40B4-BE49-F238E27FC236}">
                    <a16:creationId xmlns:a16="http://schemas.microsoft.com/office/drawing/2014/main" id="{CAAD3391-2FCD-A93B-45D2-593A4072EE50}"/>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139" name="直線コネクタ 138">
              <a:extLst>
                <a:ext uri="{FF2B5EF4-FFF2-40B4-BE49-F238E27FC236}">
                  <a16:creationId xmlns:a16="http://schemas.microsoft.com/office/drawing/2014/main" id="{9050540D-4AC8-6618-773E-B9ACB8B8B364}"/>
                </a:ext>
              </a:extLst>
            </p:cNvPr>
            <p:cNvCxnSpPr>
              <a:cxnSpLocks/>
            </p:cNvCxnSpPr>
            <p:nvPr/>
          </p:nvCxnSpPr>
          <p:spPr>
            <a:xfrm flipH="1">
              <a:off x="4211996" y="5229020"/>
              <a:ext cx="450543"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40" name="直線コネクタ 139">
              <a:extLst>
                <a:ext uri="{FF2B5EF4-FFF2-40B4-BE49-F238E27FC236}">
                  <a16:creationId xmlns:a16="http://schemas.microsoft.com/office/drawing/2014/main" id="{17B3B339-00D3-E24F-264F-769E786E2A21}"/>
                </a:ext>
              </a:extLst>
            </p:cNvPr>
            <p:cNvCxnSpPr>
              <a:cxnSpLocks/>
            </p:cNvCxnSpPr>
            <p:nvPr/>
          </p:nvCxnSpPr>
          <p:spPr>
            <a:xfrm flipV="1">
              <a:off x="4211996" y="5229020"/>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41" name="直線コネクタ 140">
              <a:extLst>
                <a:ext uri="{FF2B5EF4-FFF2-40B4-BE49-F238E27FC236}">
                  <a16:creationId xmlns:a16="http://schemas.microsoft.com/office/drawing/2014/main" id="{30F76D13-D0EB-E93F-17CB-8E357560E6B6}"/>
                </a:ext>
              </a:extLst>
            </p:cNvPr>
            <p:cNvCxnSpPr>
              <a:cxnSpLocks/>
            </p:cNvCxnSpPr>
            <p:nvPr/>
          </p:nvCxnSpPr>
          <p:spPr>
            <a:xfrm flipH="1">
              <a:off x="5652012" y="4509012"/>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42" name="Rectangle 93">
              <a:extLst>
                <a:ext uri="{FF2B5EF4-FFF2-40B4-BE49-F238E27FC236}">
                  <a16:creationId xmlns:a16="http://schemas.microsoft.com/office/drawing/2014/main" id="{A714EE66-0CEE-E95B-326E-3D792A34E500}"/>
                </a:ext>
              </a:extLst>
            </p:cNvPr>
            <p:cNvSpPr>
              <a:spLocks noChangeArrowheads="1"/>
            </p:cNvSpPr>
            <p:nvPr/>
          </p:nvSpPr>
          <p:spPr bwMode="auto">
            <a:xfrm>
              <a:off x="3941993" y="5769026"/>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sp>
          <p:nvSpPr>
            <p:cNvPr id="143" name="Rectangle 93">
              <a:extLst>
                <a:ext uri="{FF2B5EF4-FFF2-40B4-BE49-F238E27FC236}">
                  <a16:creationId xmlns:a16="http://schemas.microsoft.com/office/drawing/2014/main" id="{3C19CA13-E153-48F8-2BC7-6C54F5EF14BD}"/>
                </a:ext>
              </a:extLst>
            </p:cNvPr>
            <p:cNvSpPr>
              <a:spLocks noChangeArrowheads="1"/>
            </p:cNvSpPr>
            <p:nvPr/>
          </p:nvSpPr>
          <p:spPr bwMode="auto">
            <a:xfrm>
              <a:off x="3851992" y="432901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rPr>
                <a:t>1</a:t>
              </a:r>
            </a:p>
          </p:txBody>
        </p:sp>
      </p:grpSp>
      <p:graphicFrame>
        <p:nvGraphicFramePr>
          <p:cNvPr id="145" name="Group 383">
            <a:extLst>
              <a:ext uri="{FF2B5EF4-FFF2-40B4-BE49-F238E27FC236}">
                <a16:creationId xmlns:a16="http://schemas.microsoft.com/office/drawing/2014/main" id="{E78F6A71-B874-CC7A-096B-89598706780F}"/>
              </a:ext>
            </a:extLst>
          </p:cNvPr>
          <p:cNvGraphicFramePr>
            <a:graphicFrameLocks/>
          </p:cNvGraphicFramePr>
          <p:nvPr>
            <p:extLst>
              <p:ext uri="{D42A27DB-BD31-4B8C-83A1-F6EECF244321}">
                <p14:modId xmlns:p14="http://schemas.microsoft.com/office/powerpoint/2010/main" val="872214658"/>
              </p:ext>
            </p:extLst>
          </p:nvPr>
        </p:nvGraphicFramePr>
        <p:xfrm>
          <a:off x="7092028" y="3068996"/>
          <a:ext cx="1080012" cy="1243014"/>
        </p:xfrm>
        <a:graphic>
          <a:graphicData uri="http://schemas.openxmlformats.org/drawingml/2006/table">
            <a:tbl>
              <a:tblPr/>
              <a:tblGrid>
                <a:gridCol w="360004">
                  <a:extLst>
                    <a:ext uri="{9D8B030D-6E8A-4147-A177-3AD203B41FA5}">
                      <a16:colId xmlns:a16="http://schemas.microsoft.com/office/drawing/2014/main" val="20000"/>
                    </a:ext>
                  </a:extLst>
                </a:gridCol>
                <a:gridCol w="720008">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G</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D~S</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OFF</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ON</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150" name="コンテンツ プレースホルダー 2">
            <a:extLst>
              <a:ext uri="{FF2B5EF4-FFF2-40B4-BE49-F238E27FC236}">
                <a16:creationId xmlns:a16="http://schemas.microsoft.com/office/drawing/2014/main" id="{1310ECCF-0FFF-09E3-24C1-EDB1B1FBA9DE}"/>
              </a:ext>
            </a:extLst>
          </p:cNvPr>
          <p:cNvSpPr txBox="1">
            <a:spLocks/>
          </p:cNvSpPr>
          <p:nvPr/>
        </p:nvSpPr>
        <p:spPr bwMode="auto">
          <a:xfrm>
            <a:off x="611956" y="4059007"/>
            <a:ext cx="8280092" cy="72000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1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r>
              <a:rPr lang="en-US" altLang="ja-JP" kern="0" dirty="0"/>
              <a:t>G </a:t>
            </a:r>
            <a:r>
              <a:rPr lang="ja-JP" altLang="en-US" kern="0" dirty="0"/>
              <a:t>が高電位（</a:t>
            </a:r>
            <a:r>
              <a:rPr lang="en-US" altLang="ja-JP" kern="0" dirty="0"/>
              <a:t>= 1</a:t>
            </a:r>
            <a:r>
              <a:rPr lang="ja-JP" altLang="en-US" kern="0" dirty="0"/>
              <a:t>）</a:t>
            </a:r>
            <a:r>
              <a:rPr lang="en-US" altLang="ja-JP" kern="0" dirty="0"/>
              <a:t> </a:t>
            </a:r>
            <a:r>
              <a:rPr lang="ja-JP" altLang="en-US" kern="0" dirty="0"/>
              <a:t>→ スイッチ </a:t>
            </a:r>
            <a:r>
              <a:rPr lang="en-US" altLang="ja-JP" kern="0" dirty="0"/>
              <a:t>ON</a:t>
            </a:r>
          </a:p>
          <a:p>
            <a:pPr lvl="1"/>
            <a:r>
              <a:rPr lang="en-US" altLang="ja-JP" dirty="0"/>
              <a:t>G~B </a:t>
            </a:r>
            <a:r>
              <a:rPr lang="ja-JP" altLang="en-US" dirty="0"/>
              <a:t>間は電位差がありコイルが動作</a:t>
            </a:r>
            <a:endParaRPr lang="en-US" kern="0" dirty="0"/>
          </a:p>
        </p:txBody>
      </p:sp>
    </p:spTree>
    <p:extLst>
      <p:ext uri="{BB962C8B-B14F-4D97-AF65-F5344CB8AC3E}">
        <p14:creationId xmlns:p14="http://schemas.microsoft.com/office/powerpoint/2010/main" val="29485084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B73C90-A857-8A64-2EFD-05040F02B6A1}"/>
              </a:ext>
            </a:extLst>
          </p:cNvPr>
          <p:cNvSpPr>
            <a:spLocks noGrp="1"/>
          </p:cNvSpPr>
          <p:nvPr>
            <p:ph type="title"/>
          </p:nvPr>
        </p:nvSpPr>
        <p:spPr/>
        <p:txBody>
          <a:bodyPr/>
          <a:lstStyle/>
          <a:p>
            <a:r>
              <a:rPr kumimoji="1" lang="en-US" altLang="ja-JP" dirty="0"/>
              <a:t>N </a:t>
            </a:r>
            <a:r>
              <a:rPr kumimoji="1" lang="ja-JP" altLang="en-US" dirty="0"/>
              <a:t>型リレー</a:t>
            </a:r>
            <a:endParaRPr kumimoji="1" lang="en-US" dirty="0"/>
          </a:p>
        </p:txBody>
      </p:sp>
      <p:sp>
        <p:nvSpPr>
          <p:cNvPr id="3" name="コンテンツ プレースホルダー 2">
            <a:extLst>
              <a:ext uri="{FF2B5EF4-FFF2-40B4-BE49-F238E27FC236}">
                <a16:creationId xmlns:a16="http://schemas.microsoft.com/office/drawing/2014/main" id="{269ADB42-F714-F608-E050-CD791A2A80CE}"/>
              </a:ext>
            </a:extLst>
          </p:cNvPr>
          <p:cNvSpPr>
            <a:spLocks noGrp="1"/>
          </p:cNvSpPr>
          <p:nvPr>
            <p:ph sz="quarter" idx="10"/>
          </p:nvPr>
        </p:nvSpPr>
        <p:spPr>
          <a:xfrm>
            <a:off x="611956" y="1268976"/>
            <a:ext cx="8280092" cy="900010"/>
          </a:xfrm>
        </p:spPr>
        <p:txBody>
          <a:bodyPr/>
          <a:lstStyle/>
          <a:p>
            <a:r>
              <a:rPr kumimoji="1" lang="ja-JP" altLang="en-US" dirty="0"/>
              <a:t>左の省略系として右のように描く</a:t>
            </a:r>
            <a:endParaRPr kumimoji="1" lang="en-US" altLang="ja-JP" dirty="0"/>
          </a:p>
          <a:p>
            <a:pPr lvl="1"/>
            <a:r>
              <a:rPr kumimoji="1" lang="ja-JP" altLang="en-US" dirty="0"/>
              <a:t>毎回ぜんぶの場所にコイルや </a:t>
            </a:r>
            <a:r>
              <a:rPr kumimoji="1" lang="en-US" altLang="ja-JP" dirty="0"/>
              <a:t>GND </a:t>
            </a:r>
            <a:r>
              <a:rPr kumimoji="1" lang="ja-JP" altLang="en-US" dirty="0"/>
              <a:t>を描くとややこしい</a:t>
            </a:r>
            <a:endParaRPr kumimoji="1" lang="en-US" dirty="0"/>
          </a:p>
        </p:txBody>
      </p:sp>
      <p:sp>
        <p:nvSpPr>
          <p:cNvPr id="33" name="Rectangle 93">
            <a:extLst>
              <a:ext uri="{FF2B5EF4-FFF2-40B4-BE49-F238E27FC236}">
                <a16:creationId xmlns:a16="http://schemas.microsoft.com/office/drawing/2014/main" id="{F98CD4B9-12DD-D57A-43E6-742C7617EB64}"/>
              </a:ext>
            </a:extLst>
          </p:cNvPr>
          <p:cNvSpPr>
            <a:spLocks noChangeArrowheads="1"/>
          </p:cNvSpPr>
          <p:nvPr/>
        </p:nvSpPr>
        <p:spPr bwMode="auto">
          <a:xfrm>
            <a:off x="431954" y="6129030"/>
            <a:ext cx="360004" cy="360362"/>
          </a:xfrm>
          <a:prstGeom prst="rect">
            <a:avLst/>
          </a:prstGeom>
          <a:noFill/>
          <a:ln w="12700" algn="ctr">
            <a:noFill/>
            <a:miter lim="800000"/>
            <a:headEnd/>
            <a:tailEnd/>
          </a:ln>
          <a:effectLst/>
        </p:spPr>
        <p:txBody>
          <a:bodyPr wrap="none" lIns="90000" tIns="46800" rIns="90000" bIns="46800" anchor="ctr"/>
          <a:lstStyle/>
          <a:p>
            <a:endParaRPr lang="en-US" altLang="ja-JP" dirty="0"/>
          </a:p>
        </p:txBody>
      </p:sp>
      <p:grpSp>
        <p:nvGrpSpPr>
          <p:cNvPr id="30" name="グループ化 29">
            <a:extLst>
              <a:ext uri="{FF2B5EF4-FFF2-40B4-BE49-F238E27FC236}">
                <a16:creationId xmlns:a16="http://schemas.microsoft.com/office/drawing/2014/main" id="{1D26F62B-4ADD-2335-B3A5-F003CE18DB1B}"/>
              </a:ext>
            </a:extLst>
          </p:cNvPr>
          <p:cNvGrpSpPr/>
          <p:nvPr/>
        </p:nvGrpSpPr>
        <p:grpSpPr>
          <a:xfrm>
            <a:off x="2141973" y="2708992"/>
            <a:ext cx="2430027" cy="1980380"/>
            <a:chOff x="1781969" y="3068996"/>
            <a:chExt cx="2430027" cy="1980380"/>
          </a:xfrm>
        </p:grpSpPr>
        <p:sp>
          <p:nvSpPr>
            <p:cNvPr id="73" name="正方形/長方形 72">
              <a:extLst>
                <a:ext uri="{FF2B5EF4-FFF2-40B4-BE49-F238E27FC236}">
                  <a16:creationId xmlns:a16="http://schemas.microsoft.com/office/drawing/2014/main" id="{0052F1F3-C64C-DF83-F9C4-85DB4B3DB6E0}"/>
                </a:ext>
              </a:extLst>
            </p:cNvPr>
            <p:cNvSpPr/>
            <p:nvPr/>
          </p:nvSpPr>
          <p:spPr bwMode="auto">
            <a:xfrm>
              <a:off x="2411976" y="3338999"/>
              <a:ext cx="1440016"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4" name="円/楕円 69">
              <a:extLst>
                <a:ext uri="{FF2B5EF4-FFF2-40B4-BE49-F238E27FC236}">
                  <a16:creationId xmlns:a16="http://schemas.microsoft.com/office/drawing/2014/main" id="{27ED7D89-5BDE-D968-7FA4-FDD87CFA58A5}"/>
                </a:ext>
              </a:extLst>
            </p:cNvPr>
            <p:cNvSpPr/>
            <p:nvPr/>
          </p:nvSpPr>
          <p:spPr>
            <a:xfrm rot="5400000">
              <a:off x="3448243"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5" name="直線コネクタ 4">
              <a:extLst>
                <a:ext uri="{FF2B5EF4-FFF2-40B4-BE49-F238E27FC236}">
                  <a16:creationId xmlns:a16="http://schemas.microsoft.com/office/drawing/2014/main" id="{239207F0-970F-3F00-74FE-3176AB63465C}"/>
                </a:ext>
              </a:extLst>
            </p:cNvPr>
            <p:cNvCxnSpPr>
              <a:cxnSpLocks/>
            </p:cNvCxnSpPr>
            <p:nvPr/>
          </p:nvCxnSpPr>
          <p:spPr>
            <a:xfrm flipH="1">
              <a:off x="2051972"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6" name="グループ化 5">
              <a:extLst>
                <a:ext uri="{FF2B5EF4-FFF2-40B4-BE49-F238E27FC236}">
                  <a16:creationId xmlns:a16="http://schemas.microsoft.com/office/drawing/2014/main" id="{8B8E9ADE-52D1-BAAF-234E-B47812CBC69C}"/>
                </a:ext>
              </a:extLst>
            </p:cNvPr>
            <p:cNvGrpSpPr/>
            <p:nvPr/>
          </p:nvGrpSpPr>
          <p:grpSpPr>
            <a:xfrm>
              <a:off x="2591978" y="3429000"/>
              <a:ext cx="360004" cy="720007"/>
              <a:chOff x="3131985" y="5049018"/>
              <a:chExt cx="180002" cy="437056"/>
            </a:xfrm>
          </p:grpSpPr>
          <p:grpSp>
            <p:nvGrpSpPr>
              <p:cNvPr id="7" name="グループ化 6">
                <a:extLst>
                  <a:ext uri="{FF2B5EF4-FFF2-40B4-BE49-F238E27FC236}">
                    <a16:creationId xmlns:a16="http://schemas.microsoft.com/office/drawing/2014/main" id="{97A3B75D-6A12-AF4E-66C5-E3FB2CF63434}"/>
                  </a:ext>
                </a:extLst>
              </p:cNvPr>
              <p:cNvGrpSpPr/>
              <p:nvPr/>
            </p:nvGrpSpPr>
            <p:grpSpPr>
              <a:xfrm>
                <a:off x="3131985" y="5139021"/>
                <a:ext cx="180002" cy="254126"/>
                <a:chOff x="3131984" y="5191944"/>
                <a:chExt cx="270003" cy="201854"/>
              </a:xfrm>
            </p:grpSpPr>
            <p:sp>
              <p:nvSpPr>
                <p:cNvPr id="10" name="Freeform 42">
                  <a:extLst>
                    <a:ext uri="{FF2B5EF4-FFF2-40B4-BE49-F238E27FC236}">
                      <a16:creationId xmlns:a16="http://schemas.microsoft.com/office/drawing/2014/main" id="{FD031464-50A4-A26E-2623-1BD5C7C2CB9C}"/>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1" name="Freeform 42">
                  <a:extLst>
                    <a:ext uri="{FF2B5EF4-FFF2-40B4-BE49-F238E27FC236}">
                      <a16:creationId xmlns:a16="http://schemas.microsoft.com/office/drawing/2014/main" id="{FD8EFDC2-C3E9-85A4-C820-A2C9469D774F}"/>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2" name="Freeform 42">
                  <a:extLst>
                    <a:ext uri="{FF2B5EF4-FFF2-40B4-BE49-F238E27FC236}">
                      <a16:creationId xmlns:a16="http://schemas.microsoft.com/office/drawing/2014/main" id="{5A1ACE3A-2114-235C-D8C9-8F0786F62683}"/>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3" name="Freeform 42">
                  <a:extLst>
                    <a:ext uri="{FF2B5EF4-FFF2-40B4-BE49-F238E27FC236}">
                      <a16:creationId xmlns:a16="http://schemas.microsoft.com/office/drawing/2014/main" id="{6DBA4758-7B7C-544F-3DAC-48D46DD96E29}"/>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8" name="直線コネクタ 7">
                <a:extLst>
                  <a:ext uri="{FF2B5EF4-FFF2-40B4-BE49-F238E27FC236}">
                    <a16:creationId xmlns:a16="http://schemas.microsoft.com/office/drawing/2014/main" id="{08CE8CE0-F976-0C0B-89CC-9095FEE54BB1}"/>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969C34F4-FE79-AEC2-822A-50450B32E060}"/>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14" name="直線コネクタ 13">
              <a:extLst>
                <a:ext uri="{FF2B5EF4-FFF2-40B4-BE49-F238E27FC236}">
                  <a16:creationId xmlns:a16="http://schemas.microsoft.com/office/drawing/2014/main" id="{7CBC57C7-FDCA-93BA-3AAF-638DD6DC24FC}"/>
                </a:ext>
              </a:extLst>
            </p:cNvPr>
            <p:cNvCxnSpPr>
              <a:cxnSpLocks/>
            </p:cNvCxnSpPr>
            <p:nvPr/>
          </p:nvCxnSpPr>
          <p:spPr>
            <a:xfrm flipH="1">
              <a:off x="2411976" y="4149008"/>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a16:creationId xmlns:a16="http://schemas.microsoft.com/office/drawing/2014/main" id="{F5C428A5-03EC-6383-A759-ABD1BA3A43CA}"/>
                </a:ext>
              </a:extLst>
            </p:cNvPr>
            <p:cNvCxnSpPr>
              <a:cxnSpLocks/>
              <a:endCxn id="16" idx="4"/>
            </p:cNvCxnSpPr>
            <p:nvPr/>
          </p:nvCxnSpPr>
          <p:spPr>
            <a:xfrm>
              <a:off x="3311986"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6" name="円/楕円 68">
              <a:extLst>
                <a:ext uri="{FF2B5EF4-FFF2-40B4-BE49-F238E27FC236}">
                  <a16:creationId xmlns:a16="http://schemas.microsoft.com/office/drawing/2014/main" id="{913C430F-8842-70D8-5968-714B4F9D7B5F}"/>
                </a:ext>
              </a:extLst>
            </p:cNvPr>
            <p:cNvSpPr/>
            <p:nvPr/>
          </p:nvSpPr>
          <p:spPr>
            <a:xfrm rot="5400000">
              <a:off x="3445709"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7" name="直線コネクタ 16">
              <a:extLst>
                <a:ext uri="{FF2B5EF4-FFF2-40B4-BE49-F238E27FC236}">
                  <a16:creationId xmlns:a16="http://schemas.microsoft.com/office/drawing/2014/main" id="{C0EED765-5E00-1D04-380A-CB2BD87154A4}"/>
                </a:ext>
              </a:extLst>
            </p:cNvPr>
            <p:cNvCxnSpPr>
              <a:cxnSpLocks/>
              <a:endCxn id="4" idx="2"/>
            </p:cNvCxnSpPr>
            <p:nvPr/>
          </p:nvCxnSpPr>
          <p:spPr>
            <a:xfrm>
              <a:off x="3491988"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 name="直線コネクタ 17">
              <a:extLst>
                <a:ext uri="{FF2B5EF4-FFF2-40B4-BE49-F238E27FC236}">
                  <a16:creationId xmlns:a16="http://schemas.microsoft.com/office/drawing/2014/main" id="{D079E177-EBE2-7C6E-5E53-61D3B5BC8EA5}"/>
                </a:ext>
              </a:extLst>
            </p:cNvPr>
            <p:cNvCxnSpPr>
              <a:cxnSpLocks/>
            </p:cNvCxnSpPr>
            <p:nvPr/>
          </p:nvCxnSpPr>
          <p:spPr>
            <a:xfrm>
              <a:off x="3491988"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9" name="Rectangle 93">
              <a:extLst>
                <a:ext uri="{FF2B5EF4-FFF2-40B4-BE49-F238E27FC236}">
                  <a16:creationId xmlns:a16="http://schemas.microsoft.com/office/drawing/2014/main" id="{6CF79804-210A-6488-F259-E672F4320942}"/>
                </a:ext>
              </a:extLst>
            </p:cNvPr>
            <p:cNvSpPr>
              <a:spLocks noChangeArrowheads="1"/>
            </p:cNvSpPr>
            <p:nvPr/>
          </p:nvSpPr>
          <p:spPr bwMode="auto">
            <a:xfrm>
              <a:off x="2051972" y="3068996"/>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0" name="Rectangle 93">
              <a:extLst>
                <a:ext uri="{FF2B5EF4-FFF2-40B4-BE49-F238E27FC236}">
                  <a16:creationId xmlns:a16="http://schemas.microsoft.com/office/drawing/2014/main" id="{8C6B7694-0CC7-5775-B2BC-CDB28A10938F}"/>
                </a:ext>
              </a:extLst>
            </p:cNvPr>
            <p:cNvSpPr>
              <a:spLocks noChangeArrowheads="1"/>
            </p:cNvSpPr>
            <p:nvPr/>
          </p:nvSpPr>
          <p:spPr bwMode="auto">
            <a:xfrm>
              <a:off x="2051972"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B</a:t>
              </a:r>
            </a:p>
          </p:txBody>
        </p:sp>
        <p:sp>
          <p:nvSpPr>
            <p:cNvPr id="21" name="Rectangle 93">
              <a:extLst>
                <a:ext uri="{FF2B5EF4-FFF2-40B4-BE49-F238E27FC236}">
                  <a16:creationId xmlns:a16="http://schemas.microsoft.com/office/drawing/2014/main" id="{92C66BC4-909C-9DBF-61BB-E90F6404DF3C}"/>
                </a:ext>
              </a:extLst>
            </p:cNvPr>
            <p:cNvSpPr>
              <a:spLocks noChangeArrowheads="1"/>
            </p:cNvSpPr>
            <p:nvPr/>
          </p:nvSpPr>
          <p:spPr bwMode="auto">
            <a:xfrm>
              <a:off x="3850917"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22" name="Rectangle 93">
              <a:extLst>
                <a:ext uri="{FF2B5EF4-FFF2-40B4-BE49-F238E27FC236}">
                  <a16:creationId xmlns:a16="http://schemas.microsoft.com/office/drawing/2014/main" id="{82CDDB03-ED29-70A9-08E2-A507D0DC266C}"/>
                </a:ext>
              </a:extLst>
            </p:cNvPr>
            <p:cNvSpPr>
              <a:spLocks noChangeArrowheads="1"/>
            </p:cNvSpPr>
            <p:nvPr/>
          </p:nvSpPr>
          <p:spPr bwMode="auto">
            <a:xfrm>
              <a:off x="3850917"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23" name="直線コネクタ 22">
              <a:extLst>
                <a:ext uri="{FF2B5EF4-FFF2-40B4-BE49-F238E27FC236}">
                  <a16:creationId xmlns:a16="http://schemas.microsoft.com/office/drawing/2014/main" id="{41AF3067-0216-B287-2202-FF86BEB590D9}"/>
                </a:ext>
              </a:extLst>
            </p:cNvPr>
            <p:cNvCxnSpPr>
              <a:cxnSpLocks/>
            </p:cNvCxnSpPr>
            <p:nvPr/>
          </p:nvCxnSpPr>
          <p:spPr>
            <a:xfrm flipH="1">
              <a:off x="3491988"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25" name="グループ化 152">
              <a:extLst>
                <a:ext uri="{FF2B5EF4-FFF2-40B4-BE49-F238E27FC236}">
                  <a16:creationId xmlns:a16="http://schemas.microsoft.com/office/drawing/2014/main" id="{C3ECDE06-9D85-CCD3-6818-BE0583AAB859}"/>
                </a:ext>
              </a:extLst>
            </p:cNvPr>
            <p:cNvGrpSpPr/>
            <p:nvPr/>
          </p:nvGrpSpPr>
          <p:grpSpPr>
            <a:xfrm>
              <a:off x="1961971" y="4599013"/>
              <a:ext cx="180002" cy="90001"/>
              <a:chOff x="3643306" y="4500570"/>
              <a:chExt cx="428628" cy="144464"/>
            </a:xfrm>
          </p:grpSpPr>
          <p:cxnSp>
            <p:nvCxnSpPr>
              <p:cNvPr id="26" name="直線コネクタ 25">
                <a:extLst>
                  <a:ext uri="{FF2B5EF4-FFF2-40B4-BE49-F238E27FC236}">
                    <a16:creationId xmlns:a16="http://schemas.microsoft.com/office/drawing/2014/main" id="{3B718EFD-0C23-5CE6-0732-E8A0A7DB7730}"/>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7" name="直線コネクタ 26">
                <a:extLst>
                  <a:ext uri="{FF2B5EF4-FFF2-40B4-BE49-F238E27FC236}">
                    <a16:creationId xmlns:a16="http://schemas.microsoft.com/office/drawing/2014/main" id="{40D8F8ED-350F-0BB8-2A41-8E8325E58503}"/>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8" name="直線コネクタ 27">
                <a:extLst>
                  <a:ext uri="{FF2B5EF4-FFF2-40B4-BE49-F238E27FC236}">
                    <a16:creationId xmlns:a16="http://schemas.microsoft.com/office/drawing/2014/main" id="{863558CE-8857-2A3E-2509-6967075EBA8A}"/>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39" name="直線コネクタ 38">
              <a:extLst>
                <a:ext uri="{FF2B5EF4-FFF2-40B4-BE49-F238E27FC236}">
                  <a16:creationId xmlns:a16="http://schemas.microsoft.com/office/drawing/2014/main" id="{98B2AB87-367F-832B-E786-71A205A9019B}"/>
                </a:ext>
              </a:extLst>
            </p:cNvPr>
            <p:cNvCxnSpPr>
              <a:cxnSpLocks/>
            </p:cNvCxnSpPr>
            <p:nvPr/>
          </p:nvCxnSpPr>
          <p:spPr>
            <a:xfrm flipH="1">
              <a:off x="2051972" y="4149008"/>
              <a:ext cx="450543"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0" name="直線コネクタ 39">
              <a:extLst>
                <a:ext uri="{FF2B5EF4-FFF2-40B4-BE49-F238E27FC236}">
                  <a16:creationId xmlns:a16="http://schemas.microsoft.com/office/drawing/2014/main" id="{6C560B9A-64F3-D4F5-9714-63FAC12D5E44}"/>
                </a:ext>
              </a:extLst>
            </p:cNvPr>
            <p:cNvCxnSpPr>
              <a:cxnSpLocks/>
            </p:cNvCxnSpPr>
            <p:nvPr/>
          </p:nvCxnSpPr>
          <p:spPr>
            <a:xfrm flipV="1">
              <a:off x="2051972" y="414900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0E87782C-5AB5-CD82-F4B5-74C1DD84700A}"/>
                </a:ext>
              </a:extLst>
            </p:cNvPr>
            <p:cNvCxnSpPr>
              <a:cxnSpLocks/>
            </p:cNvCxnSpPr>
            <p:nvPr/>
          </p:nvCxnSpPr>
          <p:spPr>
            <a:xfrm flipH="1">
              <a:off x="3491988"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52" name="Rectangle 93">
              <a:extLst>
                <a:ext uri="{FF2B5EF4-FFF2-40B4-BE49-F238E27FC236}">
                  <a16:creationId xmlns:a16="http://schemas.microsoft.com/office/drawing/2014/main" id="{233FEF5A-3A77-D112-A9BA-70D053884F74}"/>
                </a:ext>
              </a:extLst>
            </p:cNvPr>
            <p:cNvSpPr>
              <a:spLocks noChangeArrowheads="1"/>
            </p:cNvSpPr>
            <p:nvPr/>
          </p:nvSpPr>
          <p:spPr bwMode="auto">
            <a:xfrm>
              <a:off x="1781969" y="468901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grpSp>
      <p:grpSp>
        <p:nvGrpSpPr>
          <p:cNvPr id="31" name="グループ化 30">
            <a:extLst>
              <a:ext uri="{FF2B5EF4-FFF2-40B4-BE49-F238E27FC236}">
                <a16:creationId xmlns:a16="http://schemas.microsoft.com/office/drawing/2014/main" id="{979102F4-D96C-21AE-DDA5-D303E779121F}"/>
              </a:ext>
            </a:extLst>
          </p:cNvPr>
          <p:cNvGrpSpPr/>
          <p:nvPr/>
        </p:nvGrpSpPr>
        <p:grpSpPr>
          <a:xfrm>
            <a:off x="5202007" y="2708992"/>
            <a:ext cx="1531092" cy="1440374"/>
            <a:chOff x="5202007" y="3068996"/>
            <a:chExt cx="1531092" cy="1440374"/>
          </a:xfrm>
        </p:grpSpPr>
        <p:sp>
          <p:nvSpPr>
            <p:cNvPr id="77" name="正方形/長方形 76">
              <a:extLst>
                <a:ext uri="{FF2B5EF4-FFF2-40B4-BE49-F238E27FC236}">
                  <a16:creationId xmlns:a16="http://schemas.microsoft.com/office/drawing/2014/main" id="{8191A662-0875-0B7E-ECDB-6E4CB416E6D7}"/>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35" name="円/楕円 69">
              <a:extLst>
                <a:ext uri="{FF2B5EF4-FFF2-40B4-BE49-F238E27FC236}">
                  <a16:creationId xmlns:a16="http://schemas.microsoft.com/office/drawing/2014/main" id="{595B7D01-DF2E-05E6-DB06-28CEB3E075A0}"/>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36" name="直線コネクタ 35">
              <a:extLst>
                <a:ext uri="{FF2B5EF4-FFF2-40B4-BE49-F238E27FC236}">
                  <a16:creationId xmlns:a16="http://schemas.microsoft.com/office/drawing/2014/main" id="{4C42C92D-8645-9A14-FAC8-B8C6CE029CDA}"/>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6" name="直線コネクタ 55">
              <a:extLst>
                <a:ext uri="{FF2B5EF4-FFF2-40B4-BE49-F238E27FC236}">
                  <a16:creationId xmlns:a16="http://schemas.microsoft.com/office/drawing/2014/main" id="{9B60195C-6A3D-E7C1-3585-CF25B1CE2179}"/>
                </a:ext>
              </a:extLst>
            </p:cNvPr>
            <p:cNvCxnSpPr>
              <a:cxnSpLocks/>
              <a:endCxn id="57" idx="4"/>
            </p:cNvCxnSpPr>
            <p:nvPr/>
          </p:nvCxnSpPr>
          <p:spPr>
            <a:xfrm>
              <a:off x="5832014"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57" name="円/楕円 68">
              <a:extLst>
                <a:ext uri="{FF2B5EF4-FFF2-40B4-BE49-F238E27FC236}">
                  <a16:creationId xmlns:a16="http://schemas.microsoft.com/office/drawing/2014/main" id="{8232BB8B-03D3-D17E-B034-9F5C6D43FFFA}"/>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58" name="直線コネクタ 57">
              <a:extLst>
                <a:ext uri="{FF2B5EF4-FFF2-40B4-BE49-F238E27FC236}">
                  <a16:creationId xmlns:a16="http://schemas.microsoft.com/office/drawing/2014/main" id="{D8880597-9986-0289-FF1C-41D727394666}"/>
                </a:ext>
              </a:extLst>
            </p:cNvPr>
            <p:cNvCxnSpPr>
              <a:cxnSpLocks/>
              <a:endCxn id="35"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9" name="直線コネクタ 58">
              <a:extLst>
                <a:ext uri="{FF2B5EF4-FFF2-40B4-BE49-F238E27FC236}">
                  <a16:creationId xmlns:a16="http://schemas.microsoft.com/office/drawing/2014/main" id="{3B14EFEF-E622-8979-F1EE-B6ED2BE813FD}"/>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60" name="Rectangle 93">
              <a:extLst>
                <a:ext uri="{FF2B5EF4-FFF2-40B4-BE49-F238E27FC236}">
                  <a16:creationId xmlns:a16="http://schemas.microsoft.com/office/drawing/2014/main" id="{045EDB31-5420-83EB-4F47-DF580918B610}"/>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62" name="Rectangle 93">
              <a:extLst>
                <a:ext uri="{FF2B5EF4-FFF2-40B4-BE49-F238E27FC236}">
                  <a16:creationId xmlns:a16="http://schemas.microsoft.com/office/drawing/2014/main" id="{EF1A29CA-5692-DFDB-47D9-EC74234E9D45}"/>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63" name="Rectangle 93">
              <a:extLst>
                <a:ext uri="{FF2B5EF4-FFF2-40B4-BE49-F238E27FC236}">
                  <a16:creationId xmlns:a16="http://schemas.microsoft.com/office/drawing/2014/main" id="{357C4F85-DFA8-A9B7-0A77-DD6FE0D3C9DB}"/>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64" name="直線コネクタ 63">
              <a:extLst>
                <a:ext uri="{FF2B5EF4-FFF2-40B4-BE49-F238E27FC236}">
                  <a16:creationId xmlns:a16="http://schemas.microsoft.com/office/drawing/2014/main" id="{99F7A64B-2A0F-1A54-14CC-850E653D6133}"/>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F91D7330-5CBA-DC70-78E4-4CF6B6A5A632}"/>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graphicFrame>
        <p:nvGraphicFramePr>
          <p:cNvPr id="29" name="Group 383">
            <a:extLst>
              <a:ext uri="{FF2B5EF4-FFF2-40B4-BE49-F238E27FC236}">
                <a16:creationId xmlns:a16="http://schemas.microsoft.com/office/drawing/2014/main" id="{28A148CA-9AAE-EEAE-B253-D118670C70A2}"/>
              </a:ext>
            </a:extLst>
          </p:cNvPr>
          <p:cNvGraphicFramePr>
            <a:graphicFrameLocks/>
          </p:cNvGraphicFramePr>
          <p:nvPr>
            <p:extLst>
              <p:ext uri="{D42A27DB-BD31-4B8C-83A1-F6EECF244321}">
                <p14:modId xmlns:p14="http://schemas.microsoft.com/office/powerpoint/2010/main" val="1998707689"/>
              </p:ext>
            </p:extLst>
          </p:nvPr>
        </p:nvGraphicFramePr>
        <p:xfrm>
          <a:off x="4211996" y="4869016"/>
          <a:ext cx="1080012" cy="1243014"/>
        </p:xfrm>
        <a:graphic>
          <a:graphicData uri="http://schemas.openxmlformats.org/drawingml/2006/table">
            <a:tbl>
              <a:tblPr/>
              <a:tblGrid>
                <a:gridCol w="360004">
                  <a:extLst>
                    <a:ext uri="{9D8B030D-6E8A-4147-A177-3AD203B41FA5}">
                      <a16:colId xmlns:a16="http://schemas.microsoft.com/office/drawing/2014/main" val="20000"/>
                    </a:ext>
                  </a:extLst>
                </a:gridCol>
                <a:gridCol w="720008">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G</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D~S</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OFF</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ON</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6150630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B73C90-A857-8A64-2EFD-05040F02B6A1}"/>
              </a:ext>
            </a:extLst>
          </p:cNvPr>
          <p:cNvSpPr>
            <a:spLocks noGrp="1"/>
          </p:cNvSpPr>
          <p:nvPr>
            <p:ph type="title"/>
          </p:nvPr>
        </p:nvSpPr>
        <p:spPr/>
        <p:txBody>
          <a:bodyPr/>
          <a:lstStyle/>
          <a:p>
            <a:r>
              <a:rPr lang="en-US" altLang="ja-JP" dirty="0"/>
              <a:t>P</a:t>
            </a:r>
            <a:r>
              <a:rPr kumimoji="1" lang="en-US" altLang="ja-JP" dirty="0"/>
              <a:t> </a:t>
            </a:r>
            <a:r>
              <a:rPr kumimoji="1" lang="ja-JP" altLang="en-US" dirty="0"/>
              <a:t>型リレー</a:t>
            </a:r>
            <a:endParaRPr kumimoji="1" lang="en-US" dirty="0"/>
          </a:p>
        </p:txBody>
      </p:sp>
      <p:sp>
        <p:nvSpPr>
          <p:cNvPr id="3" name="コンテンツ プレースホルダー 2">
            <a:extLst>
              <a:ext uri="{FF2B5EF4-FFF2-40B4-BE49-F238E27FC236}">
                <a16:creationId xmlns:a16="http://schemas.microsoft.com/office/drawing/2014/main" id="{269ADB42-F714-F608-E050-CD791A2A80CE}"/>
              </a:ext>
            </a:extLst>
          </p:cNvPr>
          <p:cNvSpPr>
            <a:spLocks noGrp="1"/>
          </p:cNvSpPr>
          <p:nvPr>
            <p:ph sz="quarter" idx="10"/>
          </p:nvPr>
        </p:nvSpPr>
        <p:spPr>
          <a:xfrm>
            <a:off x="611956" y="2258987"/>
            <a:ext cx="8280092" cy="900010"/>
          </a:xfrm>
        </p:spPr>
        <p:txBody>
          <a:bodyPr/>
          <a:lstStyle/>
          <a:p>
            <a:r>
              <a:rPr kumimoji="1" lang="ja-JP" altLang="en-US" dirty="0"/>
              <a:t>以下のように </a:t>
            </a:r>
            <a:r>
              <a:rPr kumimoji="1" lang="en-US" altLang="ja-JP" dirty="0"/>
              <a:t>B </a:t>
            </a:r>
            <a:r>
              <a:rPr kumimoji="1" lang="ja-JP" altLang="en-US" dirty="0"/>
              <a:t>を </a:t>
            </a:r>
            <a:r>
              <a:rPr kumimoji="1" lang="en-US" altLang="ja-JP" dirty="0">
                <a:solidFill>
                  <a:schemeClr val="accent6"/>
                </a:solidFill>
              </a:rPr>
              <a:t>VDD</a:t>
            </a:r>
            <a:r>
              <a:rPr kumimoji="1" lang="ja-JP" altLang="en-US" dirty="0">
                <a:solidFill>
                  <a:schemeClr val="accent6"/>
                </a:solidFill>
              </a:rPr>
              <a:t>（高電位）</a:t>
            </a:r>
            <a:r>
              <a:rPr kumimoji="1" lang="ja-JP" altLang="en-US" dirty="0"/>
              <a:t>に接続する</a:t>
            </a:r>
            <a:endParaRPr kumimoji="1" lang="en-US" altLang="ja-JP" dirty="0"/>
          </a:p>
          <a:p>
            <a:pPr lvl="1"/>
            <a:r>
              <a:rPr kumimoji="1" lang="en-US" altLang="ja-JP" dirty="0"/>
              <a:t>G </a:t>
            </a:r>
            <a:r>
              <a:rPr kumimoji="1" lang="ja-JP" altLang="en-US" dirty="0"/>
              <a:t>が入力，</a:t>
            </a:r>
            <a:r>
              <a:rPr kumimoji="1" lang="en-US" altLang="ja-JP" dirty="0"/>
              <a:t>D </a:t>
            </a:r>
            <a:r>
              <a:rPr kumimoji="1" lang="ja-JP" altLang="en-US" dirty="0"/>
              <a:t>が出力</a:t>
            </a:r>
            <a:endParaRPr kumimoji="1" lang="en-US" altLang="ja-JP" dirty="0"/>
          </a:p>
          <a:p>
            <a:pPr lvl="1"/>
            <a:r>
              <a:rPr lang="en-US" altLang="ja-JP" dirty="0"/>
              <a:t>P </a:t>
            </a:r>
            <a:r>
              <a:rPr lang="ja-JP" altLang="en-US" dirty="0"/>
              <a:t>は </a:t>
            </a:r>
            <a:r>
              <a:rPr lang="en-US" altLang="ja-JP" dirty="0"/>
              <a:t>Positive </a:t>
            </a:r>
            <a:r>
              <a:rPr lang="ja-JP" altLang="en-US" dirty="0"/>
              <a:t>の略</a:t>
            </a:r>
            <a:endParaRPr kumimoji="1" lang="en-US" altLang="ja-JP" dirty="0"/>
          </a:p>
          <a:p>
            <a:r>
              <a:rPr kumimoji="1" lang="ja-JP" altLang="en-US" dirty="0"/>
              <a:t>注意</a:t>
            </a:r>
            <a:r>
              <a:rPr kumimoji="1" lang="en-US" altLang="ja-JP" dirty="0"/>
              <a:t>	</a:t>
            </a:r>
          </a:p>
          <a:p>
            <a:pPr lvl="1"/>
            <a:r>
              <a:rPr kumimoji="1" lang="en-US" altLang="ja-JP" dirty="0"/>
              <a:t>N</a:t>
            </a:r>
            <a:r>
              <a:rPr lang="en-US" altLang="ja-JP" dirty="0"/>
              <a:t> </a:t>
            </a:r>
            <a:r>
              <a:rPr lang="ja-JP" altLang="en-US" dirty="0"/>
              <a:t>型の時とは </a:t>
            </a:r>
            <a:r>
              <a:rPr lang="en-US" altLang="ja-JP" dirty="0"/>
              <a:t>B </a:t>
            </a:r>
            <a:r>
              <a:rPr lang="ja-JP" altLang="en-US" dirty="0"/>
              <a:t>と </a:t>
            </a:r>
            <a:r>
              <a:rPr lang="en-US" altLang="ja-JP" dirty="0"/>
              <a:t>G</a:t>
            </a:r>
            <a:r>
              <a:rPr lang="ja-JP" altLang="en-US" dirty="0"/>
              <a:t>，</a:t>
            </a:r>
            <a:r>
              <a:rPr lang="en-US" altLang="ja-JP" dirty="0"/>
              <a:t>S </a:t>
            </a:r>
            <a:r>
              <a:rPr lang="ja-JP" altLang="en-US" dirty="0"/>
              <a:t>と </a:t>
            </a:r>
            <a:r>
              <a:rPr lang="en-US" altLang="ja-JP" dirty="0"/>
              <a:t>D </a:t>
            </a:r>
            <a:r>
              <a:rPr lang="ja-JP" altLang="en-US" dirty="0"/>
              <a:t>が上下逆になっているのに注意</a:t>
            </a:r>
            <a:endParaRPr lang="en-US" altLang="ja-JP" dirty="0"/>
          </a:p>
          <a:p>
            <a:pPr lvl="1"/>
            <a:r>
              <a:rPr kumimoji="1" lang="en-US" altLang="ja-JP" dirty="0"/>
              <a:t>N </a:t>
            </a:r>
            <a:r>
              <a:rPr kumimoji="1" lang="ja-JP" altLang="en-US" dirty="0"/>
              <a:t>型の時は </a:t>
            </a:r>
            <a:r>
              <a:rPr kumimoji="1" lang="en-US" altLang="ja-JP" dirty="0"/>
              <a:t>B </a:t>
            </a:r>
            <a:r>
              <a:rPr kumimoji="1" lang="ja-JP" altLang="en-US" dirty="0"/>
              <a:t>が </a:t>
            </a:r>
            <a:r>
              <a:rPr kumimoji="1" lang="en-US" altLang="ja-JP" dirty="0"/>
              <a:t>GND</a:t>
            </a:r>
            <a:r>
              <a:rPr kumimoji="1" lang="ja-JP" altLang="en-US" dirty="0"/>
              <a:t>（低電位）に繋がっていた</a:t>
            </a:r>
            <a:endParaRPr kumimoji="1" lang="en-US" altLang="ja-JP" dirty="0"/>
          </a:p>
          <a:p>
            <a:pPr lvl="1"/>
            <a:endParaRPr kumimoji="1" lang="en-US" dirty="0"/>
          </a:p>
        </p:txBody>
      </p:sp>
      <p:sp>
        <p:nvSpPr>
          <p:cNvPr id="33" name="Rectangle 93">
            <a:extLst>
              <a:ext uri="{FF2B5EF4-FFF2-40B4-BE49-F238E27FC236}">
                <a16:creationId xmlns:a16="http://schemas.microsoft.com/office/drawing/2014/main" id="{F98CD4B9-12DD-D57A-43E6-742C7617EB64}"/>
              </a:ext>
            </a:extLst>
          </p:cNvPr>
          <p:cNvSpPr>
            <a:spLocks noChangeArrowheads="1"/>
          </p:cNvSpPr>
          <p:nvPr/>
        </p:nvSpPr>
        <p:spPr bwMode="auto">
          <a:xfrm>
            <a:off x="431954" y="6129030"/>
            <a:ext cx="360004" cy="360362"/>
          </a:xfrm>
          <a:prstGeom prst="rect">
            <a:avLst/>
          </a:prstGeom>
          <a:noFill/>
          <a:ln w="12700" algn="ctr">
            <a:noFill/>
            <a:miter lim="800000"/>
            <a:headEnd/>
            <a:tailEnd/>
          </a:ln>
          <a:effectLst/>
        </p:spPr>
        <p:txBody>
          <a:bodyPr wrap="none" lIns="90000" tIns="46800" rIns="90000" bIns="46800" anchor="ctr"/>
          <a:lstStyle/>
          <a:p>
            <a:endParaRPr lang="en-US" altLang="ja-JP" dirty="0"/>
          </a:p>
        </p:txBody>
      </p:sp>
      <p:grpSp>
        <p:nvGrpSpPr>
          <p:cNvPr id="76" name="グループ化 75">
            <a:extLst>
              <a:ext uri="{FF2B5EF4-FFF2-40B4-BE49-F238E27FC236}">
                <a16:creationId xmlns:a16="http://schemas.microsoft.com/office/drawing/2014/main" id="{AD942294-E353-E192-D082-C666A2EB4469}"/>
              </a:ext>
            </a:extLst>
          </p:cNvPr>
          <p:cNvGrpSpPr/>
          <p:nvPr/>
        </p:nvGrpSpPr>
        <p:grpSpPr>
          <a:xfrm>
            <a:off x="2951982" y="4329010"/>
            <a:ext cx="2431102" cy="1890379"/>
            <a:chOff x="3041983" y="3789004"/>
            <a:chExt cx="2431102" cy="1890379"/>
          </a:xfrm>
        </p:grpSpPr>
        <p:cxnSp>
          <p:nvCxnSpPr>
            <p:cNvPr id="29" name="直線コネクタ 28">
              <a:extLst>
                <a:ext uri="{FF2B5EF4-FFF2-40B4-BE49-F238E27FC236}">
                  <a16:creationId xmlns:a16="http://schemas.microsoft.com/office/drawing/2014/main" id="{1C597F54-F894-B3AB-2890-DC6ACAD21B34}"/>
                </a:ext>
              </a:extLst>
            </p:cNvPr>
            <p:cNvCxnSpPr>
              <a:cxnSpLocks/>
            </p:cNvCxnSpPr>
            <p:nvPr/>
          </p:nvCxnSpPr>
          <p:spPr>
            <a:xfrm flipV="1">
              <a:off x="3311986" y="414900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57367B76-259D-6A21-F06E-7E83A5BC8114}"/>
                </a:ext>
              </a:extLst>
            </p:cNvPr>
            <p:cNvCxnSpPr/>
            <p:nvPr/>
          </p:nvCxnSpPr>
          <p:spPr>
            <a:xfrm>
              <a:off x="3131984" y="4149008"/>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35" name="Rectangle 93">
              <a:extLst>
                <a:ext uri="{FF2B5EF4-FFF2-40B4-BE49-F238E27FC236}">
                  <a16:creationId xmlns:a16="http://schemas.microsoft.com/office/drawing/2014/main" id="{ABABAF80-11EF-261B-18ED-70FFAD9D4D59}"/>
                </a:ext>
              </a:extLst>
            </p:cNvPr>
            <p:cNvSpPr>
              <a:spLocks noChangeArrowheads="1"/>
            </p:cNvSpPr>
            <p:nvPr/>
          </p:nvSpPr>
          <p:spPr bwMode="auto">
            <a:xfrm>
              <a:off x="3041983" y="3789004"/>
              <a:ext cx="270003" cy="360362"/>
            </a:xfrm>
            <a:prstGeom prst="rect">
              <a:avLst/>
            </a:prstGeom>
            <a:noFill/>
            <a:ln w="12700" algn="ctr">
              <a:noFill/>
              <a:miter lim="800000"/>
              <a:headEnd/>
              <a:tailEnd/>
            </a:ln>
            <a:effectLst/>
          </p:spPr>
          <p:txBody>
            <a:bodyPr wrap="none" lIns="90000" tIns="46800" rIns="90000" bIns="46800" anchor="ctr"/>
            <a:lstStyle/>
            <a:p>
              <a:r>
                <a:rPr lang="en-US" altLang="ja-JP" b="0" i="0" dirty="0">
                  <a:latin typeface="+mj-lt"/>
                </a:rPr>
                <a:t>VDD</a:t>
              </a:r>
              <a:endParaRPr lang="en-US" altLang="ja-JP" dirty="0"/>
            </a:p>
          </p:txBody>
        </p:sp>
        <p:sp>
          <p:nvSpPr>
            <p:cNvPr id="37" name="正方形/長方形 36">
              <a:extLst>
                <a:ext uri="{FF2B5EF4-FFF2-40B4-BE49-F238E27FC236}">
                  <a16:creationId xmlns:a16="http://schemas.microsoft.com/office/drawing/2014/main" id="{456A3143-7769-2D7C-0A2B-C93D2499581F}"/>
                </a:ext>
              </a:extLst>
            </p:cNvPr>
            <p:cNvSpPr/>
            <p:nvPr/>
          </p:nvSpPr>
          <p:spPr bwMode="auto">
            <a:xfrm>
              <a:off x="3671990" y="4509012"/>
              <a:ext cx="1440016"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38" name="円/楕円 69">
              <a:extLst>
                <a:ext uri="{FF2B5EF4-FFF2-40B4-BE49-F238E27FC236}">
                  <a16:creationId xmlns:a16="http://schemas.microsoft.com/office/drawing/2014/main" id="{482774F4-FFCF-F490-892B-FA7ED20A07F3}"/>
                </a:ext>
              </a:extLst>
            </p:cNvPr>
            <p:cNvSpPr/>
            <p:nvPr/>
          </p:nvSpPr>
          <p:spPr>
            <a:xfrm rot="5400000">
              <a:off x="4708257" y="4779015"/>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41" name="直線コネクタ 40">
              <a:extLst>
                <a:ext uri="{FF2B5EF4-FFF2-40B4-BE49-F238E27FC236}">
                  <a16:creationId xmlns:a16="http://schemas.microsoft.com/office/drawing/2014/main" id="{0F6E0D59-0CD3-61C8-0621-8BF9282C86C9}"/>
                </a:ext>
              </a:extLst>
            </p:cNvPr>
            <p:cNvCxnSpPr>
              <a:cxnSpLocks/>
            </p:cNvCxnSpPr>
            <p:nvPr/>
          </p:nvCxnSpPr>
          <p:spPr>
            <a:xfrm flipH="1">
              <a:off x="3311986" y="4599013"/>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42" name="グループ化 41">
              <a:extLst>
                <a:ext uri="{FF2B5EF4-FFF2-40B4-BE49-F238E27FC236}">
                  <a16:creationId xmlns:a16="http://schemas.microsoft.com/office/drawing/2014/main" id="{4644C465-1E3E-CEC5-05AE-EB9585BC4BBD}"/>
                </a:ext>
              </a:extLst>
            </p:cNvPr>
            <p:cNvGrpSpPr/>
            <p:nvPr/>
          </p:nvGrpSpPr>
          <p:grpSpPr>
            <a:xfrm>
              <a:off x="3851992" y="4599013"/>
              <a:ext cx="360004" cy="720007"/>
              <a:chOff x="3131985" y="5049018"/>
              <a:chExt cx="180002" cy="437056"/>
            </a:xfrm>
          </p:grpSpPr>
          <p:grpSp>
            <p:nvGrpSpPr>
              <p:cNvPr id="43" name="グループ化 42">
                <a:extLst>
                  <a:ext uri="{FF2B5EF4-FFF2-40B4-BE49-F238E27FC236}">
                    <a16:creationId xmlns:a16="http://schemas.microsoft.com/office/drawing/2014/main" id="{46F9E684-F084-7521-3E75-070A08DFA7E5}"/>
                  </a:ext>
                </a:extLst>
              </p:cNvPr>
              <p:cNvGrpSpPr/>
              <p:nvPr/>
            </p:nvGrpSpPr>
            <p:grpSpPr>
              <a:xfrm>
                <a:off x="3131985" y="5139021"/>
                <a:ext cx="180002" cy="254126"/>
                <a:chOff x="3131984" y="5191944"/>
                <a:chExt cx="270003" cy="201854"/>
              </a:xfrm>
            </p:grpSpPr>
            <p:sp>
              <p:nvSpPr>
                <p:cNvPr id="54" name="Freeform 42">
                  <a:extLst>
                    <a:ext uri="{FF2B5EF4-FFF2-40B4-BE49-F238E27FC236}">
                      <a16:creationId xmlns:a16="http://schemas.microsoft.com/office/drawing/2014/main" id="{01BC656E-CDDE-A2B3-D8C5-AA491316ED2D}"/>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55" name="Freeform 42">
                  <a:extLst>
                    <a:ext uri="{FF2B5EF4-FFF2-40B4-BE49-F238E27FC236}">
                      <a16:creationId xmlns:a16="http://schemas.microsoft.com/office/drawing/2014/main" id="{34DF60CE-204C-B112-CADF-46A48C16BCC1}"/>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56" name="Freeform 42">
                  <a:extLst>
                    <a:ext uri="{FF2B5EF4-FFF2-40B4-BE49-F238E27FC236}">
                      <a16:creationId xmlns:a16="http://schemas.microsoft.com/office/drawing/2014/main" id="{B407BF6D-E395-1F21-87BE-7385531B0BBB}"/>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57" name="Freeform 42">
                  <a:extLst>
                    <a:ext uri="{FF2B5EF4-FFF2-40B4-BE49-F238E27FC236}">
                      <a16:creationId xmlns:a16="http://schemas.microsoft.com/office/drawing/2014/main" id="{38FBA2D0-9010-D233-87BA-BEBF1A4ECC22}"/>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50" name="直線コネクタ 49">
                <a:extLst>
                  <a:ext uri="{FF2B5EF4-FFF2-40B4-BE49-F238E27FC236}">
                    <a16:creationId xmlns:a16="http://schemas.microsoft.com/office/drawing/2014/main" id="{79458C86-924E-1240-642A-D891BB036604}"/>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12731B76-80FB-0308-EEDC-1D5E97757ED2}"/>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58" name="直線コネクタ 57">
              <a:extLst>
                <a:ext uri="{FF2B5EF4-FFF2-40B4-BE49-F238E27FC236}">
                  <a16:creationId xmlns:a16="http://schemas.microsoft.com/office/drawing/2014/main" id="{FC53EF7F-2020-97A3-D978-828D4D504571}"/>
                </a:ext>
              </a:extLst>
            </p:cNvPr>
            <p:cNvCxnSpPr>
              <a:cxnSpLocks/>
            </p:cNvCxnSpPr>
            <p:nvPr/>
          </p:nvCxnSpPr>
          <p:spPr>
            <a:xfrm flipH="1">
              <a:off x="3671990" y="5319021"/>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9" name="直線コネクタ 58">
              <a:extLst>
                <a:ext uri="{FF2B5EF4-FFF2-40B4-BE49-F238E27FC236}">
                  <a16:creationId xmlns:a16="http://schemas.microsoft.com/office/drawing/2014/main" id="{DE698B50-21A7-4325-FCC9-1E88671DD2BD}"/>
                </a:ext>
              </a:extLst>
            </p:cNvPr>
            <p:cNvCxnSpPr>
              <a:cxnSpLocks/>
              <a:endCxn id="60" idx="4"/>
            </p:cNvCxnSpPr>
            <p:nvPr/>
          </p:nvCxnSpPr>
          <p:spPr>
            <a:xfrm>
              <a:off x="4572000" y="4779015"/>
              <a:ext cx="133734"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60" name="円/楕円 68">
              <a:extLst>
                <a:ext uri="{FF2B5EF4-FFF2-40B4-BE49-F238E27FC236}">
                  <a16:creationId xmlns:a16="http://schemas.microsoft.com/office/drawing/2014/main" id="{C93BF703-0B61-4A89-0DD9-731FEB13DCDD}"/>
                </a:ext>
              </a:extLst>
            </p:cNvPr>
            <p:cNvSpPr/>
            <p:nvPr/>
          </p:nvSpPr>
          <p:spPr>
            <a:xfrm rot="5400000">
              <a:off x="4705723" y="5049029"/>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61" name="直線コネクタ 60">
              <a:extLst>
                <a:ext uri="{FF2B5EF4-FFF2-40B4-BE49-F238E27FC236}">
                  <a16:creationId xmlns:a16="http://schemas.microsoft.com/office/drawing/2014/main" id="{4CD423E1-F94E-F62D-818C-25DB54E5F04A}"/>
                </a:ext>
              </a:extLst>
            </p:cNvPr>
            <p:cNvCxnSpPr>
              <a:cxnSpLocks/>
              <a:endCxn id="38" idx="2"/>
            </p:cNvCxnSpPr>
            <p:nvPr/>
          </p:nvCxnSpPr>
          <p:spPr>
            <a:xfrm>
              <a:off x="4752002" y="4599013"/>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62" name="直線コネクタ 61">
              <a:extLst>
                <a:ext uri="{FF2B5EF4-FFF2-40B4-BE49-F238E27FC236}">
                  <a16:creationId xmlns:a16="http://schemas.microsoft.com/office/drawing/2014/main" id="{B6BCE346-E68F-E29C-3D8C-591277D81C86}"/>
                </a:ext>
              </a:extLst>
            </p:cNvPr>
            <p:cNvCxnSpPr>
              <a:cxnSpLocks/>
            </p:cNvCxnSpPr>
            <p:nvPr/>
          </p:nvCxnSpPr>
          <p:spPr>
            <a:xfrm>
              <a:off x="4752002" y="5139019"/>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63" name="Rectangle 93">
              <a:extLst>
                <a:ext uri="{FF2B5EF4-FFF2-40B4-BE49-F238E27FC236}">
                  <a16:creationId xmlns:a16="http://schemas.microsoft.com/office/drawing/2014/main" id="{955FBFAD-0B4C-971F-8C46-215F9F5E3F85}"/>
                </a:ext>
              </a:extLst>
            </p:cNvPr>
            <p:cNvSpPr>
              <a:spLocks noChangeArrowheads="1"/>
            </p:cNvSpPr>
            <p:nvPr/>
          </p:nvSpPr>
          <p:spPr bwMode="auto">
            <a:xfrm>
              <a:off x="3311986" y="531902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64" name="Rectangle 93">
              <a:extLst>
                <a:ext uri="{FF2B5EF4-FFF2-40B4-BE49-F238E27FC236}">
                  <a16:creationId xmlns:a16="http://schemas.microsoft.com/office/drawing/2014/main" id="{0FB4D775-CCED-3A71-4D82-DED09F9F3303}"/>
                </a:ext>
              </a:extLst>
            </p:cNvPr>
            <p:cNvSpPr>
              <a:spLocks noChangeArrowheads="1"/>
            </p:cNvSpPr>
            <p:nvPr/>
          </p:nvSpPr>
          <p:spPr bwMode="auto">
            <a:xfrm>
              <a:off x="3311986" y="4239009"/>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B</a:t>
              </a:r>
            </a:p>
          </p:txBody>
        </p:sp>
        <p:sp>
          <p:nvSpPr>
            <p:cNvPr id="65" name="Rectangle 93">
              <a:extLst>
                <a:ext uri="{FF2B5EF4-FFF2-40B4-BE49-F238E27FC236}">
                  <a16:creationId xmlns:a16="http://schemas.microsoft.com/office/drawing/2014/main" id="{A9EA2CD0-C66B-73E5-6A34-B8875E31C60A}"/>
                </a:ext>
              </a:extLst>
            </p:cNvPr>
            <p:cNvSpPr>
              <a:spLocks noChangeArrowheads="1"/>
            </p:cNvSpPr>
            <p:nvPr/>
          </p:nvSpPr>
          <p:spPr bwMode="auto">
            <a:xfrm>
              <a:off x="5112006" y="4239009"/>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66" name="Rectangle 93">
              <a:extLst>
                <a:ext uri="{FF2B5EF4-FFF2-40B4-BE49-F238E27FC236}">
                  <a16:creationId xmlns:a16="http://schemas.microsoft.com/office/drawing/2014/main" id="{882B446E-23C9-B1DA-B21C-14AE3D2DC135}"/>
                </a:ext>
              </a:extLst>
            </p:cNvPr>
            <p:cNvSpPr>
              <a:spLocks noChangeArrowheads="1"/>
            </p:cNvSpPr>
            <p:nvPr/>
          </p:nvSpPr>
          <p:spPr bwMode="auto">
            <a:xfrm>
              <a:off x="5112006" y="5319021"/>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67" name="直線コネクタ 66">
              <a:extLst>
                <a:ext uri="{FF2B5EF4-FFF2-40B4-BE49-F238E27FC236}">
                  <a16:creationId xmlns:a16="http://schemas.microsoft.com/office/drawing/2014/main" id="{A300246B-8E94-93A8-B009-CBB1C0E1F67C}"/>
                </a:ext>
              </a:extLst>
            </p:cNvPr>
            <p:cNvCxnSpPr>
              <a:cxnSpLocks/>
            </p:cNvCxnSpPr>
            <p:nvPr/>
          </p:nvCxnSpPr>
          <p:spPr>
            <a:xfrm flipH="1">
              <a:off x="4752002" y="5319021"/>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a16:creationId xmlns:a16="http://schemas.microsoft.com/office/drawing/2014/main" id="{6A2664EE-47B0-86F9-1769-A9CC174233DB}"/>
                </a:ext>
              </a:extLst>
            </p:cNvPr>
            <p:cNvCxnSpPr>
              <a:cxnSpLocks/>
            </p:cNvCxnSpPr>
            <p:nvPr/>
          </p:nvCxnSpPr>
          <p:spPr>
            <a:xfrm flipH="1">
              <a:off x="3311986" y="5319021"/>
              <a:ext cx="450543"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74" name="直線コネクタ 73">
              <a:extLst>
                <a:ext uri="{FF2B5EF4-FFF2-40B4-BE49-F238E27FC236}">
                  <a16:creationId xmlns:a16="http://schemas.microsoft.com/office/drawing/2014/main" id="{0C0DBFD5-3618-0F7A-4992-FDB917A7B79C}"/>
                </a:ext>
              </a:extLst>
            </p:cNvPr>
            <p:cNvCxnSpPr>
              <a:cxnSpLocks/>
            </p:cNvCxnSpPr>
            <p:nvPr/>
          </p:nvCxnSpPr>
          <p:spPr>
            <a:xfrm flipH="1">
              <a:off x="4752002" y="4599013"/>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9505096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B73C90-A857-8A64-2EFD-05040F02B6A1}"/>
              </a:ext>
            </a:extLst>
          </p:cNvPr>
          <p:cNvSpPr>
            <a:spLocks noGrp="1"/>
          </p:cNvSpPr>
          <p:nvPr>
            <p:ph type="title"/>
          </p:nvPr>
        </p:nvSpPr>
        <p:spPr/>
        <p:txBody>
          <a:bodyPr/>
          <a:lstStyle/>
          <a:p>
            <a:r>
              <a:rPr kumimoji="1" lang="en-US" altLang="ja-JP" dirty="0"/>
              <a:t>P </a:t>
            </a:r>
            <a:r>
              <a:rPr kumimoji="1" lang="ja-JP" altLang="en-US" dirty="0"/>
              <a:t>型の動作</a:t>
            </a:r>
            <a:endParaRPr kumimoji="1" lang="en-US" dirty="0"/>
          </a:p>
        </p:txBody>
      </p:sp>
      <p:sp>
        <p:nvSpPr>
          <p:cNvPr id="3" name="コンテンツ プレースホルダー 2">
            <a:extLst>
              <a:ext uri="{FF2B5EF4-FFF2-40B4-BE49-F238E27FC236}">
                <a16:creationId xmlns:a16="http://schemas.microsoft.com/office/drawing/2014/main" id="{269ADB42-F714-F608-E050-CD791A2A80CE}"/>
              </a:ext>
            </a:extLst>
          </p:cNvPr>
          <p:cNvSpPr>
            <a:spLocks noGrp="1"/>
          </p:cNvSpPr>
          <p:nvPr>
            <p:ph sz="quarter" idx="10"/>
          </p:nvPr>
        </p:nvSpPr>
        <p:spPr>
          <a:xfrm>
            <a:off x="701957" y="998973"/>
            <a:ext cx="8370092" cy="630007"/>
          </a:xfrm>
        </p:spPr>
        <p:txBody>
          <a:bodyPr anchor="t"/>
          <a:lstStyle/>
          <a:p>
            <a:r>
              <a:rPr kumimoji="1" lang="en-US" altLang="ja-JP" dirty="0"/>
              <a:t>G </a:t>
            </a:r>
            <a:r>
              <a:rPr kumimoji="1" lang="ja-JP" altLang="en-US" dirty="0"/>
              <a:t>が低電位（</a:t>
            </a:r>
            <a:r>
              <a:rPr kumimoji="1" lang="en-US" altLang="ja-JP" dirty="0"/>
              <a:t>= 0</a:t>
            </a:r>
            <a:r>
              <a:rPr kumimoji="1" lang="ja-JP" altLang="en-US" dirty="0"/>
              <a:t>）→ スイッチ </a:t>
            </a:r>
            <a:r>
              <a:rPr kumimoji="1" lang="en-US" altLang="ja-JP" dirty="0"/>
              <a:t>ON</a:t>
            </a:r>
          </a:p>
          <a:p>
            <a:pPr lvl="1"/>
            <a:r>
              <a:rPr kumimoji="1" lang="en-US" altLang="ja-JP" dirty="0"/>
              <a:t>B</a:t>
            </a:r>
            <a:r>
              <a:rPr lang="en-US" altLang="ja-JP" dirty="0"/>
              <a:t>~G</a:t>
            </a:r>
            <a:r>
              <a:rPr lang="ja-JP" altLang="en-US" dirty="0"/>
              <a:t> 間に電位差があるのでコイルが動作</a:t>
            </a:r>
            <a:endParaRPr kumimoji="1" lang="en-US" dirty="0"/>
          </a:p>
        </p:txBody>
      </p:sp>
      <p:sp>
        <p:nvSpPr>
          <p:cNvPr id="33" name="Rectangle 93">
            <a:extLst>
              <a:ext uri="{FF2B5EF4-FFF2-40B4-BE49-F238E27FC236}">
                <a16:creationId xmlns:a16="http://schemas.microsoft.com/office/drawing/2014/main" id="{F98CD4B9-12DD-D57A-43E6-742C7617EB64}"/>
              </a:ext>
            </a:extLst>
          </p:cNvPr>
          <p:cNvSpPr>
            <a:spLocks noChangeArrowheads="1"/>
          </p:cNvSpPr>
          <p:nvPr/>
        </p:nvSpPr>
        <p:spPr bwMode="auto">
          <a:xfrm>
            <a:off x="431954" y="6129030"/>
            <a:ext cx="360004" cy="360362"/>
          </a:xfrm>
          <a:prstGeom prst="rect">
            <a:avLst/>
          </a:prstGeom>
          <a:noFill/>
          <a:ln w="12700" algn="ctr">
            <a:noFill/>
            <a:miter lim="800000"/>
            <a:headEnd/>
            <a:tailEnd/>
          </a:ln>
          <a:effectLst/>
        </p:spPr>
        <p:txBody>
          <a:bodyPr wrap="none" lIns="90000" tIns="46800" rIns="90000" bIns="46800" anchor="ctr"/>
          <a:lstStyle/>
          <a:p>
            <a:endParaRPr lang="en-US" altLang="ja-JP" dirty="0"/>
          </a:p>
        </p:txBody>
      </p:sp>
      <p:sp>
        <p:nvSpPr>
          <p:cNvPr id="113" name="Rectangle 93">
            <a:extLst>
              <a:ext uri="{FF2B5EF4-FFF2-40B4-BE49-F238E27FC236}">
                <a16:creationId xmlns:a16="http://schemas.microsoft.com/office/drawing/2014/main" id="{00944D24-E889-C775-D967-0D0DFD48CFB3}"/>
              </a:ext>
            </a:extLst>
          </p:cNvPr>
          <p:cNvSpPr>
            <a:spLocks noChangeArrowheads="1"/>
          </p:cNvSpPr>
          <p:nvPr/>
        </p:nvSpPr>
        <p:spPr bwMode="auto">
          <a:xfrm>
            <a:off x="3221985" y="3248998"/>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6"/>
                </a:solidFill>
              </a:rPr>
              <a:t>0</a:t>
            </a:r>
          </a:p>
        </p:txBody>
      </p:sp>
      <p:graphicFrame>
        <p:nvGraphicFramePr>
          <p:cNvPr id="145" name="Group 383">
            <a:extLst>
              <a:ext uri="{FF2B5EF4-FFF2-40B4-BE49-F238E27FC236}">
                <a16:creationId xmlns:a16="http://schemas.microsoft.com/office/drawing/2014/main" id="{E78F6A71-B874-CC7A-096B-89598706780F}"/>
              </a:ext>
            </a:extLst>
          </p:cNvPr>
          <p:cNvGraphicFramePr>
            <a:graphicFrameLocks/>
          </p:cNvGraphicFramePr>
          <p:nvPr>
            <p:extLst>
              <p:ext uri="{D42A27DB-BD31-4B8C-83A1-F6EECF244321}">
                <p14:modId xmlns:p14="http://schemas.microsoft.com/office/powerpoint/2010/main" val="446489637"/>
              </p:ext>
            </p:extLst>
          </p:nvPr>
        </p:nvGraphicFramePr>
        <p:xfrm>
          <a:off x="7452032" y="2708992"/>
          <a:ext cx="1080012" cy="1243014"/>
        </p:xfrm>
        <a:graphic>
          <a:graphicData uri="http://schemas.openxmlformats.org/drawingml/2006/table">
            <a:tbl>
              <a:tblPr/>
              <a:tblGrid>
                <a:gridCol w="360004">
                  <a:extLst>
                    <a:ext uri="{9D8B030D-6E8A-4147-A177-3AD203B41FA5}">
                      <a16:colId xmlns:a16="http://schemas.microsoft.com/office/drawing/2014/main" val="20000"/>
                    </a:ext>
                  </a:extLst>
                </a:gridCol>
                <a:gridCol w="720008">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G</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D~S</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ON</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OFF</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grpSp>
        <p:nvGrpSpPr>
          <p:cNvPr id="6" name="グループ化 5">
            <a:extLst>
              <a:ext uri="{FF2B5EF4-FFF2-40B4-BE49-F238E27FC236}">
                <a16:creationId xmlns:a16="http://schemas.microsoft.com/office/drawing/2014/main" id="{7C21AC07-6129-DA7A-BF64-C6E70DA16E69}"/>
              </a:ext>
            </a:extLst>
          </p:cNvPr>
          <p:cNvGrpSpPr/>
          <p:nvPr/>
        </p:nvGrpSpPr>
        <p:grpSpPr>
          <a:xfrm>
            <a:off x="3221985" y="1899341"/>
            <a:ext cx="2431102" cy="1890379"/>
            <a:chOff x="3041983" y="3789004"/>
            <a:chExt cx="2431102" cy="1890379"/>
          </a:xfrm>
        </p:grpSpPr>
        <p:cxnSp>
          <p:nvCxnSpPr>
            <p:cNvPr id="7" name="直線コネクタ 6">
              <a:extLst>
                <a:ext uri="{FF2B5EF4-FFF2-40B4-BE49-F238E27FC236}">
                  <a16:creationId xmlns:a16="http://schemas.microsoft.com/office/drawing/2014/main" id="{53374D22-326B-20AC-DB9C-E12038964563}"/>
                </a:ext>
              </a:extLst>
            </p:cNvPr>
            <p:cNvCxnSpPr>
              <a:cxnSpLocks/>
            </p:cNvCxnSpPr>
            <p:nvPr/>
          </p:nvCxnSpPr>
          <p:spPr>
            <a:xfrm flipV="1">
              <a:off x="3311986" y="414900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996FEEDF-498B-D3AA-DF04-685D92FF8340}"/>
                </a:ext>
              </a:extLst>
            </p:cNvPr>
            <p:cNvCxnSpPr/>
            <p:nvPr/>
          </p:nvCxnSpPr>
          <p:spPr>
            <a:xfrm>
              <a:off x="3131984" y="4149008"/>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2" name="Rectangle 93">
              <a:extLst>
                <a:ext uri="{FF2B5EF4-FFF2-40B4-BE49-F238E27FC236}">
                  <a16:creationId xmlns:a16="http://schemas.microsoft.com/office/drawing/2014/main" id="{E5A3BF52-3DFF-994D-F5FE-A50BA451E6FA}"/>
                </a:ext>
              </a:extLst>
            </p:cNvPr>
            <p:cNvSpPr>
              <a:spLocks noChangeArrowheads="1"/>
            </p:cNvSpPr>
            <p:nvPr/>
          </p:nvSpPr>
          <p:spPr bwMode="auto">
            <a:xfrm>
              <a:off x="3041983" y="3789004"/>
              <a:ext cx="270003" cy="360362"/>
            </a:xfrm>
            <a:prstGeom prst="rect">
              <a:avLst/>
            </a:prstGeom>
            <a:noFill/>
            <a:ln w="12700" algn="ctr">
              <a:noFill/>
              <a:miter lim="800000"/>
              <a:headEnd/>
              <a:tailEnd/>
            </a:ln>
            <a:effectLst/>
          </p:spPr>
          <p:txBody>
            <a:bodyPr wrap="none" lIns="90000" tIns="46800" rIns="90000" bIns="46800" anchor="ctr"/>
            <a:lstStyle/>
            <a:p>
              <a:r>
                <a:rPr lang="en-US" altLang="ja-JP" b="0" i="0" dirty="0">
                  <a:latin typeface="+mj-lt"/>
                </a:rPr>
                <a:t>VDD</a:t>
              </a:r>
              <a:endParaRPr lang="en-US" altLang="ja-JP" dirty="0"/>
            </a:p>
          </p:txBody>
        </p:sp>
        <p:sp>
          <p:nvSpPr>
            <p:cNvPr id="13" name="正方形/長方形 12">
              <a:extLst>
                <a:ext uri="{FF2B5EF4-FFF2-40B4-BE49-F238E27FC236}">
                  <a16:creationId xmlns:a16="http://schemas.microsoft.com/office/drawing/2014/main" id="{C1820955-4715-6DCE-99C3-5947EE5CA6E4}"/>
                </a:ext>
              </a:extLst>
            </p:cNvPr>
            <p:cNvSpPr/>
            <p:nvPr/>
          </p:nvSpPr>
          <p:spPr bwMode="auto">
            <a:xfrm>
              <a:off x="3671990" y="4509012"/>
              <a:ext cx="1440016"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4" name="円/楕円 69">
              <a:extLst>
                <a:ext uri="{FF2B5EF4-FFF2-40B4-BE49-F238E27FC236}">
                  <a16:creationId xmlns:a16="http://schemas.microsoft.com/office/drawing/2014/main" id="{FFF1A822-4534-9ED6-CA25-DF81AA59E757}"/>
                </a:ext>
              </a:extLst>
            </p:cNvPr>
            <p:cNvSpPr/>
            <p:nvPr/>
          </p:nvSpPr>
          <p:spPr>
            <a:xfrm rot="5400000">
              <a:off x="4708257" y="4779015"/>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5" name="直線コネクタ 14">
              <a:extLst>
                <a:ext uri="{FF2B5EF4-FFF2-40B4-BE49-F238E27FC236}">
                  <a16:creationId xmlns:a16="http://schemas.microsoft.com/office/drawing/2014/main" id="{EE31CF50-CED7-EAFE-75D6-23BD404DE6B4}"/>
                </a:ext>
              </a:extLst>
            </p:cNvPr>
            <p:cNvCxnSpPr>
              <a:cxnSpLocks/>
            </p:cNvCxnSpPr>
            <p:nvPr/>
          </p:nvCxnSpPr>
          <p:spPr>
            <a:xfrm flipH="1">
              <a:off x="3311986" y="4599013"/>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16" name="グループ化 15">
              <a:extLst>
                <a:ext uri="{FF2B5EF4-FFF2-40B4-BE49-F238E27FC236}">
                  <a16:creationId xmlns:a16="http://schemas.microsoft.com/office/drawing/2014/main" id="{69C5739F-5E56-EF2F-EDF8-AFAD769AA78C}"/>
                </a:ext>
              </a:extLst>
            </p:cNvPr>
            <p:cNvGrpSpPr/>
            <p:nvPr/>
          </p:nvGrpSpPr>
          <p:grpSpPr>
            <a:xfrm>
              <a:off x="3851992" y="4599013"/>
              <a:ext cx="360004" cy="720007"/>
              <a:chOff x="3131985" y="5049018"/>
              <a:chExt cx="180002" cy="437056"/>
            </a:xfrm>
          </p:grpSpPr>
          <p:grpSp>
            <p:nvGrpSpPr>
              <p:cNvPr id="29" name="グループ化 28">
                <a:extLst>
                  <a:ext uri="{FF2B5EF4-FFF2-40B4-BE49-F238E27FC236}">
                    <a16:creationId xmlns:a16="http://schemas.microsoft.com/office/drawing/2014/main" id="{9BBCD18A-019F-C179-5AA3-7392EDF2B2C9}"/>
                  </a:ext>
                </a:extLst>
              </p:cNvPr>
              <p:cNvGrpSpPr/>
              <p:nvPr/>
            </p:nvGrpSpPr>
            <p:grpSpPr>
              <a:xfrm>
                <a:off x="3131985" y="5139021"/>
                <a:ext cx="180002" cy="254126"/>
                <a:chOff x="3131984" y="5191944"/>
                <a:chExt cx="270003" cy="201854"/>
              </a:xfrm>
            </p:grpSpPr>
            <p:sp>
              <p:nvSpPr>
                <p:cNvPr id="32" name="Freeform 42">
                  <a:extLst>
                    <a:ext uri="{FF2B5EF4-FFF2-40B4-BE49-F238E27FC236}">
                      <a16:creationId xmlns:a16="http://schemas.microsoft.com/office/drawing/2014/main" id="{8C100C7A-ED1A-6D47-B08F-4F6C57800A78}"/>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34" name="Freeform 42">
                  <a:extLst>
                    <a:ext uri="{FF2B5EF4-FFF2-40B4-BE49-F238E27FC236}">
                      <a16:creationId xmlns:a16="http://schemas.microsoft.com/office/drawing/2014/main" id="{D17AFE4F-56F0-855F-6907-37DD5E2CC626}"/>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35" name="Freeform 42">
                  <a:extLst>
                    <a:ext uri="{FF2B5EF4-FFF2-40B4-BE49-F238E27FC236}">
                      <a16:creationId xmlns:a16="http://schemas.microsoft.com/office/drawing/2014/main" id="{49CBC031-BF2A-6204-4464-6928949A8764}"/>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36" name="Freeform 42">
                  <a:extLst>
                    <a:ext uri="{FF2B5EF4-FFF2-40B4-BE49-F238E27FC236}">
                      <a16:creationId xmlns:a16="http://schemas.microsoft.com/office/drawing/2014/main" id="{435256E3-8912-EB7E-3EDE-EF42F94FA0AA}"/>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30" name="直線コネクタ 29">
                <a:extLst>
                  <a:ext uri="{FF2B5EF4-FFF2-40B4-BE49-F238E27FC236}">
                    <a16:creationId xmlns:a16="http://schemas.microsoft.com/office/drawing/2014/main" id="{3C25DD91-CCB2-3E7F-B2E1-5392042DC9CE}"/>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a16:creationId xmlns:a16="http://schemas.microsoft.com/office/drawing/2014/main" id="{4CFD5AD6-5F86-26D6-C9A7-D492A2DF6B3F}"/>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17" name="直線コネクタ 16">
              <a:extLst>
                <a:ext uri="{FF2B5EF4-FFF2-40B4-BE49-F238E27FC236}">
                  <a16:creationId xmlns:a16="http://schemas.microsoft.com/office/drawing/2014/main" id="{3D472605-E80E-D3FD-79B0-7E5F3D6FDA12}"/>
                </a:ext>
              </a:extLst>
            </p:cNvPr>
            <p:cNvCxnSpPr>
              <a:cxnSpLocks/>
            </p:cNvCxnSpPr>
            <p:nvPr/>
          </p:nvCxnSpPr>
          <p:spPr>
            <a:xfrm flipH="1">
              <a:off x="3671990" y="5319021"/>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 name="直線コネクタ 17">
              <a:extLst>
                <a:ext uri="{FF2B5EF4-FFF2-40B4-BE49-F238E27FC236}">
                  <a16:creationId xmlns:a16="http://schemas.microsoft.com/office/drawing/2014/main" id="{2A7388B4-BD67-68A5-D8E0-7A830C7418C0}"/>
                </a:ext>
              </a:extLst>
            </p:cNvPr>
            <p:cNvCxnSpPr>
              <a:cxnSpLocks/>
              <a:endCxn id="19" idx="4"/>
            </p:cNvCxnSpPr>
            <p:nvPr/>
          </p:nvCxnSpPr>
          <p:spPr>
            <a:xfrm>
              <a:off x="4705734" y="4778657"/>
              <a:ext cx="0" cy="315367"/>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9" name="円/楕円 68">
              <a:extLst>
                <a:ext uri="{FF2B5EF4-FFF2-40B4-BE49-F238E27FC236}">
                  <a16:creationId xmlns:a16="http://schemas.microsoft.com/office/drawing/2014/main" id="{20F8C8AB-9AC4-83EC-FD2A-FED1846AFA96}"/>
                </a:ext>
              </a:extLst>
            </p:cNvPr>
            <p:cNvSpPr/>
            <p:nvPr/>
          </p:nvSpPr>
          <p:spPr>
            <a:xfrm rot="5400000">
              <a:off x="4705723" y="5049029"/>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0" name="直線コネクタ 19">
              <a:extLst>
                <a:ext uri="{FF2B5EF4-FFF2-40B4-BE49-F238E27FC236}">
                  <a16:creationId xmlns:a16="http://schemas.microsoft.com/office/drawing/2014/main" id="{ECEBDD57-C44B-3A0C-FF10-6A17AA36E289}"/>
                </a:ext>
              </a:extLst>
            </p:cNvPr>
            <p:cNvCxnSpPr>
              <a:cxnSpLocks/>
              <a:endCxn id="14" idx="2"/>
            </p:cNvCxnSpPr>
            <p:nvPr/>
          </p:nvCxnSpPr>
          <p:spPr>
            <a:xfrm>
              <a:off x="4752002" y="4599013"/>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1" name="直線コネクタ 20">
              <a:extLst>
                <a:ext uri="{FF2B5EF4-FFF2-40B4-BE49-F238E27FC236}">
                  <a16:creationId xmlns:a16="http://schemas.microsoft.com/office/drawing/2014/main" id="{385DF96E-BDCA-98EE-FBAE-3B37E433C653}"/>
                </a:ext>
              </a:extLst>
            </p:cNvPr>
            <p:cNvCxnSpPr>
              <a:cxnSpLocks/>
            </p:cNvCxnSpPr>
            <p:nvPr/>
          </p:nvCxnSpPr>
          <p:spPr>
            <a:xfrm>
              <a:off x="4752002" y="5139019"/>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2" name="Rectangle 93">
              <a:extLst>
                <a:ext uri="{FF2B5EF4-FFF2-40B4-BE49-F238E27FC236}">
                  <a16:creationId xmlns:a16="http://schemas.microsoft.com/office/drawing/2014/main" id="{76950704-2D95-D27A-A99B-0008D18C4F8F}"/>
                </a:ext>
              </a:extLst>
            </p:cNvPr>
            <p:cNvSpPr>
              <a:spLocks noChangeArrowheads="1"/>
            </p:cNvSpPr>
            <p:nvPr/>
          </p:nvSpPr>
          <p:spPr bwMode="auto">
            <a:xfrm>
              <a:off x="3311986" y="531902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3" name="Rectangle 93">
              <a:extLst>
                <a:ext uri="{FF2B5EF4-FFF2-40B4-BE49-F238E27FC236}">
                  <a16:creationId xmlns:a16="http://schemas.microsoft.com/office/drawing/2014/main" id="{31BBD1CE-9DE2-0146-90A2-343582EA2986}"/>
                </a:ext>
              </a:extLst>
            </p:cNvPr>
            <p:cNvSpPr>
              <a:spLocks noChangeArrowheads="1"/>
            </p:cNvSpPr>
            <p:nvPr/>
          </p:nvSpPr>
          <p:spPr bwMode="auto">
            <a:xfrm>
              <a:off x="3311986" y="4239009"/>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B</a:t>
              </a:r>
            </a:p>
          </p:txBody>
        </p:sp>
        <p:sp>
          <p:nvSpPr>
            <p:cNvPr id="24" name="Rectangle 93">
              <a:extLst>
                <a:ext uri="{FF2B5EF4-FFF2-40B4-BE49-F238E27FC236}">
                  <a16:creationId xmlns:a16="http://schemas.microsoft.com/office/drawing/2014/main" id="{9EAA3F96-B8A1-5F34-31FE-300CBDDE0454}"/>
                </a:ext>
              </a:extLst>
            </p:cNvPr>
            <p:cNvSpPr>
              <a:spLocks noChangeArrowheads="1"/>
            </p:cNvSpPr>
            <p:nvPr/>
          </p:nvSpPr>
          <p:spPr bwMode="auto">
            <a:xfrm>
              <a:off x="5112006" y="4239009"/>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25" name="Rectangle 93">
              <a:extLst>
                <a:ext uri="{FF2B5EF4-FFF2-40B4-BE49-F238E27FC236}">
                  <a16:creationId xmlns:a16="http://schemas.microsoft.com/office/drawing/2014/main" id="{AEC3AE1B-C3EB-75C2-ADA4-A75713387CDF}"/>
                </a:ext>
              </a:extLst>
            </p:cNvPr>
            <p:cNvSpPr>
              <a:spLocks noChangeArrowheads="1"/>
            </p:cNvSpPr>
            <p:nvPr/>
          </p:nvSpPr>
          <p:spPr bwMode="auto">
            <a:xfrm>
              <a:off x="5112006" y="5319021"/>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26" name="直線コネクタ 25">
              <a:extLst>
                <a:ext uri="{FF2B5EF4-FFF2-40B4-BE49-F238E27FC236}">
                  <a16:creationId xmlns:a16="http://schemas.microsoft.com/office/drawing/2014/main" id="{B53F7639-AEF9-295C-4577-198EE2CD2ACA}"/>
                </a:ext>
              </a:extLst>
            </p:cNvPr>
            <p:cNvCxnSpPr>
              <a:cxnSpLocks/>
            </p:cNvCxnSpPr>
            <p:nvPr/>
          </p:nvCxnSpPr>
          <p:spPr>
            <a:xfrm flipH="1">
              <a:off x="4752002" y="5319021"/>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E1F44D4E-ADEB-62DA-8527-4EE416EF6B02}"/>
                </a:ext>
              </a:extLst>
            </p:cNvPr>
            <p:cNvCxnSpPr>
              <a:cxnSpLocks/>
            </p:cNvCxnSpPr>
            <p:nvPr/>
          </p:nvCxnSpPr>
          <p:spPr>
            <a:xfrm flipH="1">
              <a:off x="3311986" y="5319021"/>
              <a:ext cx="450543"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 name="直線コネクタ 27">
              <a:extLst>
                <a:ext uri="{FF2B5EF4-FFF2-40B4-BE49-F238E27FC236}">
                  <a16:creationId xmlns:a16="http://schemas.microsoft.com/office/drawing/2014/main" id="{B3455A11-01BB-0FB0-7239-94E564CC541B}"/>
                </a:ext>
              </a:extLst>
            </p:cNvPr>
            <p:cNvCxnSpPr>
              <a:cxnSpLocks/>
            </p:cNvCxnSpPr>
            <p:nvPr/>
          </p:nvCxnSpPr>
          <p:spPr>
            <a:xfrm flipH="1">
              <a:off x="4752002" y="4599013"/>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37" name="Rectangle 93">
            <a:extLst>
              <a:ext uri="{FF2B5EF4-FFF2-40B4-BE49-F238E27FC236}">
                <a16:creationId xmlns:a16="http://schemas.microsoft.com/office/drawing/2014/main" id="{DB7BDC6F-54C0-FBB0-AA8F-BF28F308DF34}"/>
              </a:ext>
            </a:extLst>
          </p:cNvPr>
          <p:cNvSpPr>
            <a:spLocks noChangeArrowheads="1"/>
          </p:cNvSpPr>
          <p:nvPr/>
        </p:nvSpPr>
        <p:spPr bwMode="auto">
          <a:xfrm>
            <a:off x="3221985" y="621903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6"/>
                </a:solidFill>
              </a:rPr>
              <a:t>1</a:t>
            </a:r>
          </a:p>
        </p:txBody>
      </p:sp>
      <p:grpSp>
        <p:nvGrpSpPr>
          <p:cNvPr id="38" name="グループ化 37">
            <a:extLst>
              <a:ext uri="{FF2B5EF4-FFF2-40B4-BE49-F238E27FC236}">
                <a16:creationId xmlns:a16="http://schemas.microsoft.com/office/drawing/2014/main" id="{A81674E2-91D4-1C1F-17CB-6655CAAE892C}"/>
              </a:ext>
            </a:extLst>
          </p:cNvPr>
          <p:cNvGrpSpPr/>
          <p:nvPr/>
        </p:nvGrpSpPr>
        <p:grpSpPr>
          <a:xfrm>
            <a:off x="3221985" y="4869374"/>
            <a:ext cx="2431102" cy="1890379"/>
            <a:chOff x="3041983" y="3789004"/>
            <a:chExt cx="2431102" cy="1890379"/>
          </a:xfrm>
        </p:grpSpPr>
        <p:cxnSp>
          <p:nvCxnSpPr>
            <p:cNvPr id="39" name="直線コネクタ 38">
              <a:extLst>
                <a:ext uri="{FF2B5EF4-FFF2-40B4-BE49-F238E27FC236}">
                  <a16:creationId xmlns:a16="http://schemas.microsoft.com/office/drawing/2014/main" id="{53549BB3-687C-918C-1B98-6615BC3F7A4F}"/>
                </a:ext>
              </a:extLst>
            </p:cNvPr>
            <p:cNvCxnSpPr>
              <a:cxnSpLocks/>
            </p:cNvCxnSpPr>
            <p:nvPr/>
          </p:nvCxnSpPr>
          <p:spPr>
            <a:xfrm flipV="1">
              <a:off x="3311986" y="414900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5A3793B8-C9F6-5199-66EE-2EBECB2FAD07}"/>
                </a:ext>
              </a:extLst>
            </p:cNvPr>
            <p:cNvCxnSpPr/>
            <p:nvPr/>
          </p:nvCxnSpPr>
          <p:spPr>
            <a:xfrm>
              <a:off x="3131984" y="4149008"/>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44" name="Rectangle 93">
              <a:extLst>
                <a:ext uri="{FF2B5EF4-FFF2-40B4-BE49-F238E27FC236}">
                  <a16:creationId xmlns:a16="http://schemas.microsoft.com/office/drawing/2014/main" id="{C68537BD-2DA8-0CBF-904F-E01B4B20600B}"/>
                </a:ext>
              </a:extLst>
            </p:cNvPr>
            <p:cNvSpPr>
              <a:spLocks noChangeArrowheads="1"/>
            </p:cNvSpPr>
            <p:nvPr/>
          </p:nvSpPr>
          <p:spPr bwMode="auto">
            <a:xfrm>
              <a:off x="3041983" y="3789004"/>
              <a:ext cx="270003" cy="360362"/>
            </a:xfrm>
            <a:prstGeom prst="rect">
              <a:avLst/>
            </a:prstGeom>
            <a:noFill/>
            <a:ln w="12700" algn="ctr">
              <a:noFill/>
              <a:miter lim="800000"/>
              <a:headEnd/>
              <a:tailEnd/>
            </a:ln>
            <a:effectLst/>
          </p:spPr>
          <p:txBody>
            <a:bodyPr wrap="none" lIns="90000" tIns="46800" rIns="90000" bIns="46800" anchor="ctr"/>
            <a:lstStyle/>
            <a:p>
              <a:r>
                <a:rPr lang="en-US" altLang="ja-JP" b="0" i="0" dirty="0">
                  <a:latin typeface="+mj-lt"/>
                </a:rPr>
                <a:t>VDD</a:t>
              </a:r>
              <a:endParaRPr lang="en-US" altLang="ja-JP" dirty="0"/>
            </a:p>
          </p:txBody>
        </p:sp>
        <p:sp>
          <p:nvSpPr>
            <p:cNvPr id="45" name="正方形/長方形 44">
              <a:extLst>
                <a:ext uri="{FF2B5EF4-FFF2-40B4-BE49-F238E27FC236}">
                  <a16:creationId xmlns:a16="http://schemas.microsoft.com/office/drawing/2014/main" id="{308AC55B-2A90-37EF-B6DC-8E3B9FA27813}"/>
                </a:ext>
              </a:extLst>
            </p:cNvPr>
            <p:cNvSpPr/>
            <p:nvPr/>
          </p:nvSpPr>
          <p:spPr bwMode="auto">
            <a:xfrm>
              <a:off x="3671990" y="4509012"/>
              <a:ext cx="1440016"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46" name="円/楕円 69">
              <a:extLst>
                <a:ext uri="{FF2B5EF4-FFF2-40B4-BE49-F238E27FC236}">
                  <a16:creationId xmlns:a16="http://schemas.microsoft.com/office/drawing/2014/main" id="{04C88224-2FA0-0CDE-9CE2-4AECC0D7BE73}"/>
                </a:ext>
              </a:extLst>
            </p:cNvPr>
            <p:cNvSpPr/>
            <p:nvPr/>
          </p:nvSpPr>
          <p:spPr>
            <a:xfrm rot="5400000">
              <a:off x="4708257" y="4779015"/>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47" name="直線コネクタ 46">
              <a:extLst>
                <a:ext uri="{FF2B5EF4-FFF2-40B4-BE49-F238E27FC236}">
                  <a16:creationId xmlns:a16="http://schemas.microsoft.com/office/drawing/2014/main" id="{7C8C726E-FCFB-3B90-17E6-8309452ED6AA}"/>
                </a:ext>
              </a:extLst>
            </p:cNvPr>
            <p:cNvCxnSpPr>
              <a:cxnSpLocks/>
            </p:cNvCxnSpPr>
            <p:nvPr/>
          </p:nvCxnSpPr>
          <p:spPr>
            <a:xfrm flipH="1">
              <a:off x="3311986" y="4599013"/>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48" name="グループ化 47">
              <a:extLst>
                <a:ext uri="{FF2B5EF4-FFF2-40B4-BE49-F238E27FC236}">
                  <a16:creationId xmlns:a16="http://schemas.microsoft.com/office/drawing/2014/main" id="{827048A3-3D8F-0611-59A2-B47E9FC7F292}"/>
                </a:ext>
              </a:extLst>
            </p:cNvPr>
            <p:cNvGrpSpPr/>
            <p:nvPr/>
          </p:nvGrpSpPr>
          <p:grpSpPr>
            <a:xfrm>
              <a:off x="3851992" y="4599013"/>
              <a:ext cx="360004" cy="720007"/>
              <a:chOff x="3131985" y="5049018"/>
              <a:chExt cx="180002" cy="437056"/>
            </a:xfrm>
          </p:grpSpPr>
          <p:grpSp>
            <p:nvGrpSpPr>
              <p:cNvPr id="61" name="グループ化 60">
                <a:extLst>
                  <a:ext uri="{FF2B5EF4-FFF2-40B4-BE49-F238E27FC236}">
                    <a16:creationId xmlns:a16="http://schemas.microsoft.com/office/drawing/2014/main" id="{AA5D82C3-B3EE-53A2-1574-CB3E6A262029}"/>
                  </a:ext>
                </a:extLst>
              </p:cNvPr>
              <p:cNvGrpSpPr/>
              <p:nvPr/>
            </p:nvGrpSpPr>
            <p:grpSpPr>
              <a:xfrm>
                <a:off x="3131985" y="5139021"/>
                <a:ext cx="180002" cy="254126"/>
                <a:chOff x="3131984" y="5191944"/>
                <a:chExt cx="270003" cy="201854"/>
              </a:xfrm>
            </p:grpSpPr>
            <p:sp>
              <p:nvSpPr>
                <p:cNvPr id="64" name="Freeform 42">
                  <a:extLst>
                    <a:ext uri="{FF2B5EF4-FFF2-40B4-BE49-F238E27FC236}">
                      <a16:creationId xmlns:a16="http://schemas.microsoft.com/office/drawing/2014/main" id="{381EB1E9-3A90-22BB-5977-AAA74B87BBD0}"/>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65" name="Freeform 42">
                  <a:extLst>
                    <a:ext uri="{FF2B5EF4-FFF2-40B4-BE49-F238E27FC236}">
                      <a16:creationId xmlns:a16="http://schemas.microsoft.com/office/drawing/2014/main" id="{87552BB2-2661-A2CB-4189-586DC7FE9FA9}"/>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66" name="Freeform 42">
                  <a:extLst>
                    <a:ext uri="{FF2B5EF4-FFF2-40B4-BE49-F238E27FC236}">
                      <a16:creationId xmlns:a16="http://schemas.microsoft.com/office/drawing/2014/main" id="{9E83E2E6-2B59-7673-2499-FEEC1B23E1F7}"/>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67" name="Freeform 42">
                  <a:extLst>
                    <a:ext uri="{FF2B5EF4-FFF2-40B4-BE49-F238E27FC236}">
                      <a16:creationId xmlns:a16="http://schemas.microsoft.com/office/drawing/2014/main" id="{370FF0D3-1378-31BD-4A67-304C9C5F0615}"/>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62" name="直線コネクタ 61">
                <a:extLst>
                  <a:ext uri="{FF2B5EF4-FFF2-40B4-BE49-F238E27FC236}">
                    <a16:creationId xmlns:a16="http://schemas.microsoft.com/office/drawing/2014/main" id="{E32FB739-CE2A-8EA8-37F2-9BFEFBF74D15}"/>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63" name="直線コネクタ 62">
                <a:extLst>
                  <a:ext uri="{FF2B5EF4-FFF2-40B4-BE49-F238E27FC236}">
                    <a16:creationId xmlns:a16="http://schemas.microsoft.com/office/drawing/2014/main" id="{FAF101A8-C57E-C498-1AAC-72EF427D7BE8}"/>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49" name="直線コネクタ 48">
              <a:extLst>
                <a:ext uri="{FF2B5EF4-FFF2-40B4-BE49-F238E27FC236}">
                  <a16:creationId xmlns:a16="http://schemas.microsoft.com/office/drawing/2014/main" id="{713CBEF6-8D78-D3F7-ACE4-81AAFE3A07B0}"/>
                </a:ext>
              </a:extLst>
            </p:cNvPr>
            <p:cNvCxnSpPr>
              <a:cxnSpLocks/>
            </p:cNvCxnSpPr>
            <p:nvPr/>
          </p:nvCxnSpPr>
          <p:spPr>
            <a:xfrm flipH="1">
              <a:off x="3671990" y="5319021"/>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DB01B814-86E8-9BCE-7B20-4814638CFD8A}"/>
                </a:ext>
              </a:extLst>
            </p:cNvPr>
            <p:cNvCxnSpPr>
              <a:cxnSpLocks/>
              <a:endCxn id="51" idx="4"/>
            </p:cNvCxnSpPr>
            <p:nvPr/>
          </p:nvCxnSpPr>
          <p:spPr>
            <a:xfrm>
              <a:off x="4572000" y="4779015"/>
              <a:ext cx="133734"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51" name="円/楕円 68">
              <a:extLst>
                <a:ext uri="{FF2B5EF4-FFF2-40B4-BE49-F238E27FC236}">
                  <a16:creationId xmlns:a16="http://schemas.microsoft.com/office/drawing/2014/main" id="{EF16EBE7-65C9-2933-6CF4-C16B3045DEB2}"/>
                </a:ext>
              </a:extLst>
            </p:cNvPr>
            <p:cNvSpPr/>
            <p:nvPr/>
          </p:nvSpPr>
          <p:spPr>
            <a:xfrm rot="5400000">
              <a:off x="4705723" y="5049029"/>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52" name="直線コネクタ 51">
              <a:extLst>
                <a:ext uri="{FF2B5EF4-FFF2-40B4-BE49-F238E27FC236}">
                  <a16:creationId xmlns:a16="http://schemas.microsoft.com/office/drawing/2014/main" id="{BF41A05C-AA5D-D4A8-933A-46A0DB139671}"/>
                </a:ext>
              </a:extLst>
            </p:cNvPr>
            <p:cNvCxnSpPr>
              <a:cxnSpLocks/>
              <a:endCxn id="46" idx="2"/>
            </p:cNvCxnSpPr>
            <p:nvPr/>
          </p:nvCxnSpPr>
          <p:spPr>
            <a:xfrm>
              <a:off x="4752002" y="4599013"/>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02584A07-AF5F-BC89-D6B9-03A4E1EB4BF5}"/>
                </a:ext>
              </a:extLst>
            </p:cNvPr>
            <p:cNvCxnSpPr>
              <a:cxnSpLocks/>
            </p:cNvCxnSpPr>
            <p:nvPr/>
          </p:nvCxnSpPr>
          <p:spPr>
            <a:xfrm>
              <a:off x="4752002" y="5139019"/>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54" name="Rectangle 93">
              <a:extLst>
                <a:ext uri="{FF2B5EF4-FFF2-40B4-BE49-F238E27FC236}">
                  <a16:creationId xmlns:a16="http://schemas.microsoft.com/office/drawing/2014/main" id="{A7DAC1D6-FF4B-E1A8-FA0E-7FFC878EA3EB}"/>
                </a:ext>
              </a:extLst>
            </p:cNvPr>
            <p:cNvSpPr>
              <a:spLocks noChangeArrowheads="1"/>
            </p:cNvSpPr>
            <p:nvPr/>
          </p:nvSpPr>
          <p:spPr bwMode="auto">
            <a:xfrm>
              <a:off x="3311986" y="531902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55" name="Rectangle 93">
              <a:extLst>
                <a:ext uri="{FF2B5EF4-FFF2-40B4-BE49-F238E27FC236}">
                  <a16:creationId xmlns:a16="http://schemas.microsoft.com/office/drawing/2014/main" id="{B14686D2-15B8-0407-D3AD-47368EAC8028}"/>
                </a:ext>
              </a:extLst>
            </p:cNvPr>
            <p:cNvSpPr>
              <a:spLocks noChangeArrowheads="1"/>
            </p:cNvSpPr>
            <p:nvPr/>
          </p:nvSpPr>
          <p:spPr bwMode="auto">
            <a:xfrm>
              <a:off x="3311986" y="4239009"/>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B</a:t>
              </a:r>
            </a:p>
          </p:txBody>
        </p:sp>
        <p:sp>
          <p:nvSpPr>
            <p:cNvPr id="56" name="Rectangle 93">
              <a:extLst>
                <a:ext uri="{FF2B5EF4-FFF2-40B4-BE49-F238E27FC236}">
                  <a16:creationId xmlns:a16="http://schemas.microsoft.com/office/drawing/2014/main" id="{F0DEDFDB-55ED-2E20-74B4-B480393566F9}"/>
                </a:ext>
              </a:extLst>
            </p:cNvPr>
            <p:cNvSpPr>
              <a:spLocks noChangeArrowheads="1"/>
            </p:cNvSpPr>
            <p:nvPr/>
          </p:nvSpPr>
          <p:spPr bwMode="auto">
            <a:xfrm>
              <a:off x="5112006" y="4239009"/>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57" name="Rectangle 93">
              <a:extLst>
                <a:ext uri="{FF2B5EF4-FFF2-40B4-BE49-F238E27FC236}">
                  <a16:creationId xmlns:a16="http://schemas.microsoft.com/office/drawing/2014/main" id="{A5C056B7-AEEE-35A4-CC66-0728436D3464}"/>
                </a:ext>
              </a:extLst>
            </p:cNvPr>
            <p:cNvSpPr>
              <a:spLocks noChangeArrowheads="1"/>
            </p:cNvSpPr>
            <p:nvPr/>
          </p:nvSpPr>
          <p:spPr bwMode="auto">
            <a:xfrm>
              <a:off x="5112006" y="5319021"/>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58" name="直線コネクタ 57">
              <a:extLst>
                <a:ext uri="{FF2B5EF4-FFF2-40B4-BE49-F238E27FC236}">
                  <a16:creationId xmlns:a16="http://schemas.microsoft.com/office/drawing/2014/main" id="{8CFE5C2C-B439-A144-083E-EAFCDA995D78}"/>
                </a:ext>
              </a:extLst>
            </p:cNvPr>
            <p:cNvCxnSpPr>
              <a:cxnSpLocks/>
            </p:cNvCxnSpPr>
            <p:nvPr/>
          </p:nvCxnSpPr>
          <p:spPr>
            <a:xfrm flipH="1">
              <a:off x="4752002" y="5319021"/>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9" name="直線コネクタ 58">
              <a:extLst>
                <a:ext uri="{FF2B5EF4-FFF2-40B4-BE49-F238E27FC236}">
                  <a16:creationId xmlns:a16="http://schemas.microsoft.com/office/drawing/2014/main" id="{769EF1AD-60CF-7519-DC48-74512FC2E8E3}"/>
                </a:ext>
              </a:extLst>
            </p:cNvPr>
            <p:cNvCxnSpPr>
              <a:cxnSpLocks/>
            </p:cNvCxnSpPr>
            <p:nvPr/>
          </p:nvCxnSpPr>
          <p:spPr>
            <a:xfrm flipH="1">
              <a:off x="3311986" y="5319021"/>
              <a:ext cx="450543"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a16:creationId xmlns:a16="http://schemas.microsoft.com/office/drawing/2014/main" id="{17715BAE-588C-77BD-2A34-6A3B40BB7317}"/>
                </a:ext>
              </a:extLst>
            </p:cNvPr>
            <p:cNvCxnSpPr>
              <a:cxnSpLocks/>
            </p:cNvCxnSpPr>
            <p:nvPr/>
          </p:nvCxnSpPr>
          <p:spPr>
            <a:xfrm flipH="1">
              <a:off x="4752002" y="4599013"/>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70" name="コンテンツ プレースホルダー 2">
            <a:extLst>
              <a:ext uri="{FF2B5EF4-FFF2-40B4-BE49-F238E27FC236}">
                <a16:creationId xmlns:a16="http://schemas.microsoft.com/office/drawing/2014/main" id="{AC95C320-FE38-7E57-BD68-449D317F22C6}"/>
              </a:ext>
            </a:extLst>
          </p:cNvPr>
          <p:cNvSpPr txBox="1">
            <a:spLocks/>
          </p:cNvSpPr>
          <p:nvPr/>
        </p:nvSpPr>
        <p:spPr bwMode="auto">
          <a:xfrm>
            <a:off x="701957" y="4059007"/>
            <a:ext cx="9180101" cy="36000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1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r>
              <a:rPr lang="en-US" altLang="ja-JP" kern="0" dirty="0"/>
              <a:t>G </a:t>
            </a:r>
            <a:r>
              <a:rPr lang="ja-JP" altLang="en-US" kern="0" dirty="0"/>
              <a:t>が高電位（</a:t>
            </a:r>
            <a:r>
              <a:rPr lang="en-US" altLang="ja-JP" kern="0" dirty="0"/>
              <a:t>= 1</a:t>
            </a:r>
            <a:r>
              <a:rPr lang="ja-JP" altLang="en-US" kern="0" dirty="0"/>
              <a:t>）→ スイッチ </a:t>
            </a:r>
            <a:r>
              <a:rPr lang="en-US" altLang="ja-JP" kern="0" dirty="0"/>
              <a:t>OFF </a:t>
            </a:r>
          </a:p>
          <a:p>
            <a:pPr lvl="1"/>
            <a:r>
              <a:rPr lang="en-US" altLang="ja-JP" kern="0" dirty="0"/>
              <a:t>B~G </a:t>
            </a:r>
            <a:r>
              <a:rPr lang="ja-JP" altLang="en-US" kern="0" dirty="0"/>
              <a:t>間に電位差がないのでコイルが動作せず</a:t>
            </a:r>
            <a:endParaRPr lang="en-US" kern="0" dirty="0"/>
          </a:p>
        </p:txBody>
      </p:sp>
    </p:spTree>
    <p:extLst>
      <p:ext uri="{BB962C8B-B14F-4D97-AF65-F5344CB8AC3E}">
        <p14:creationId xmlns:p14="http://schemas.microsoft.com/office/powerpoint/2010/main" val="245396521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B73C90-A857-8A64-2EFD-05040F02B6A1}"/>
              </a:ext>
            </a:extLst>
          </p:cNvPr>
          <p:cNvSpPr>
            <a:spLocks noGrp="1"/>
          </p:cNvSpPr>
          <p:nvPr>
            <p:ph type="title"/>
          </p:nvPr>
        </p:nvSpPr>
        <p:spPr/>
        <p:txBody>
          <a:bodyPr/>
          <a:lstStyle/>
          <a:p>
            <a:r>
              <a:rPr kumimoji="1" lang="en-US" altLang="ja-JP" dirty="0"/>
              <a:t>P </a:t>
            </a:r>
            <a:r>
              <a:rPr kumimoji="1" lang="ja-JP" altLang="en-US" dirty="0"/>
              <a:t>型リレー</a:t>
            </a:r>
            <a:endParaRPr kumimoji="1" lang="en-US" dirty="0"/>
          </a:p>
        </p:txBody>
      </p:sp>
      <p:sp>
        <p:nvSpPr>
          <p:cNvPr id="3" name="コンテンツ プレースホルダー 2">
            <a:extLst>
              <a:ext uri="{FF2B5EF4-FFF2-40B4-BE49-F238E27FC236}">
                <a16:creationId xmlns:a16="http://schemas.microsoft.com/office/drawing/2014/main" id="{269ADB42-F714-F608-E050-CD791A2A80CE}"/>
              </a:ext>
            </a:extLst>
          </p:cNvPr>
          <p:cNvSpPr>
            <a:spLocks noGrp="1"/>
          </p:cNvSpPr>
          <p:nvPr>
            <p:ph sz="quarter" idx="10"/>
          </p:nvPr>
        </p:nvSpPr>
        <p:spPr>
          <a:xfrm>
            <a:off x="611956" y="1268976"/>
            <a:ext cx="8280092" cy="900010"/>
          </a:xfrm>
        </p:spPr>
        <p:txBody>
          <a:bodyPr/>
          <a:lstStyle/>
          <a:p>
            <a:r>
              <a:rPr kumimoji="1" lang="ja-JP" altLang="en-US" dirty="0"/>
              <a:t>左の省略系として右のように描く</a:t>
            </a:r>
            <a:endParaRPr kumimoji="1" lang="en-US" altLang="ja-JP" dirty="0"/>
          </a:p>
          <a:p>
            <a:pPr lvl="1"/>
            <a:r>
              <a:rPr kumimoji="1" lang="en-US" altLang="ja-JP" dirty="0"/>
              <a:t>G</a:t>
            </a:r>
            <a:r>
              <a:rPr lang="en-US" altLang="ja-JP" dirty="0"/>
              <a:t> </a:t>
            </a:r>
            <a:r>
              <a:rPr lang="ja-JP" altLang="en-US" dirty="0"/>
              <a:t>のところに白丸があるのが </a:t>
            </a:r>
            <a:r>
              <a:rPr lang="en-US" altLang="ja-JP" dirty="0"/>
              <a:t>N </a:t>
            </a:r>
            <a:r>
              <a:rPr lang="ja-JP" altLang="en-US" dirty="0"/>
              <a:t>型との描き方の違い</a:t>
            </a:r>
            <a:endParaRPr kumimoji="1" lang="en-US" altLang="ja-JP" dirty="0"/>
          </a:p>
        </p:txBody>
      </p:sp>
      <p:sp>
        <p:nvSpPr>
          <p:cNvPr id="33" name="Rectangle 93">
            <a:extLst>
              <a:ext uri="{FF2B5EF4-FFF2-40B4-BE49-F238E27FC236}">
                <a16:creationId xmlns:a16="http://schemas.microsoft.com/office/drawing/2014/main" id="{F98CD4B9-12DD-D57A-43E6-742C7617EB64}"/>
              </a:ext>
            </a:extLst>
          </p:cNvPr>
          <p:cNvSpPr>
            <a:spLocks noChangeArrowheads="1"/>
          </p:cNvSpPr>
          <p:nvPr/>
        </p:nvSpPr>
        <p:spPr bwMode="auto">
          <a:xfrm>
            <a:off x="431954" y="6129030"/>
            <a:ext cx="360004" cy="360362"/>
          </a:xfrm>
          <a:prstGeom prst="rect">
            <a:avLst/>
          </a:prstGeom>
          <a:noFill/>
          <a:ln w="12700" algn="ctr">
            <a:noFill/>
            <a:miter lim="800000"/>
            <a:headEnd/>
            <a:tailEnd/>
          </a:ln>
          <a:effectLst/>
        </p:spPr>
        <p:txBody>
          <a:bodyPr wrap="none" lIns="90000" tIns="46800" rIns="90000" bIns="46800" anchor="ctr"/>
          <a:lstStyle/>
          <a:p>
            <a:endParaRPr lang="en-US" altLang="ja-JP" dirty="0"/>
          </a:p>
        </p:txBody>
      </p:sp>
      <p:graphicFrame>
        <p:nvGraphicFramePr>
          <p:cNvPr id="29" name="Group 383">
            <a:extLst>
              <a:ext uri="{FF2B5EF4-FFF2-40B4-BE49-F238E27FC236}">
                <a16:creationId xmlns:a16="http://schemas.microsoft.com/office/drawing/2014/main" id="{28A148CA-9AAE-EEAE-B253-D118670C70A2}"/>
              </a:ext>
            </a:extLst>
          </p:cNvPr>
          <p:cNvGraphicFramePr>
            <a:graphicFrameLocks/>
          </p:cNvGraphicFramePr>
          <p:nvPr>
            <p:extLst>
              <p:ext uri="{D42A27DB-BD31-4B8C-83A1-F6EECF244321}">
                <p14:modId xmlns:p14="http://schemas.microsoft.com/office/powerpoint/2010/main" val="2604721729"/>
              </p:ext>
            </p:extLst>
          </p:nvPr>
        </p:nvGraphicFramePr>
        <p:xfrm>
          <a:off x="4211996" y="4869016"/>
          <a:ext cx="1080012" cy="1243014"/>
        </p:xfrm>
        <a:graphic>
          <a:graphicData uri="http://schemas.openxmlformats.org/drawingml/2006/table">
            <a:tbl>
              <a:tblPr/>
              <a:tblGrid>
                <a:gridCol w="360004">
                  <a:extLst>
                    <a:ext uri="{9D8B030D-6E8A-4147-A177-3AD203B41FA5}">
                      <a16:colId xmlns:a16="http://schemas.microsoft.com/office/drawing/2014/main" val="20000"/>
                    </a:ext>
                  </a:extLst>
                </a:gridCol>
                <a:gridCol w="720008">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G</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D~S</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ON</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OFF</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grpSp>
        <p:nvGrpSpPr>
          <p:cNvPr id="24" name="グループ化 23">
            <a:extLst>
              <a:ext uri="{FF2B5EF4-FFF2-40B4-BE49-F238E27FC236}">
                <a16:creationId xmlns:a16="http://schemas.microsoft.com/office/drawing/2014/main" id="{9DE2D13F-7626-D2AE-211C-8755CCB2C87A}"/>
              </a:ext>
            </a:extLst>
          </p:cNvPr>
          <p:cNvGrpSpPr/>
          <p:nvPr/>
        </p:nvGrpSpPr>
        <p:grpSpPr>
          <a:xfrm>
            <a:off x="1781969" y="2619349"/>
            <a:ext cx="2431102" cy="1890379"/>
            <a:chOff x="3041983" y="3789004"/>
            <a:chExt cx="2431102" cy="1890379"/>
          </a:xfrm>
        </p:grpSpPr>
        <p:cxnSp>
          <p:nvCxnSpPr>
            <p:cNvPr id="32" name="直線コネクタ 31">
              <a:extLst>
                <a:ext uri="{FF2B5EF4-FFF2-40B4-BE49-F238E27FC236}">
                  <a16:creationId xmlns:a16="http://schemas.microsoft.com/office/drawing/2014/main" id="{F02C3CA8-B00B-0250-FD9A-715909383907}"/>
                </a:ext>
              </a:extLst>
            </p:cNvPr>
            <p:cNvCxnSpPr>
              <a:cxnSpLocks/>
            </p:cNvCxnSpPr>
            <p:nvPr/>
          </p:nvCxnSpPr>
          <p:spPr>
            <a:xfrm flipV="1">
              <a:off x="3311986" y="414900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a16:creationId xmlns:a16="http://schemas.microsoft.com/office/drawing/2014/main" id="{204FFD18-DD55-C032-2ADF-9A4ED0B49E8B}"/>
                </a:ext>
              </a:extLst>
            </p:cNvPr>
            <p:cNvCxnSpPr/>
            <p:nvPr/>
          </p:nvCxnSpPr>
          <p:spPr>
            <a:xfrm>
              <a:off x="3131984" y="4149008"/>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42" name="Rectangle 93">
              <a:extLst>
                <a:ext uri="{FF2B5EF4-FFF2-40B4-BE49-F238E27FC236}">
                  <a16:creationId xmlns:a16="http://schemas.microsoft.com/office/drawing/2014/main" id="{AC7EEC5B-4441-CFD2-CC55-3A8515C98DB3}"/>
                </a:ext>
              </a:extLst>
            </p:cNvPr>
            <p:cNvSpPr>
              <a:spLocks noChangeArrowheads="1"/>
            </p:cNvSpPr>
            <p:nvPr/>
          </p:nvSpPr>
          <p:spPr bwMode="auto">
            <a:xfrm>
              <a:off x="3041983" y="3789004"/>
              <a:ext cx="270003" cy="360362"/>
            </a:xfrm>
            <a:prstGeom prst="rect">
              <a:avLst/>
            </a:prstGeom>
            <a:noFill/>
            <a:ln w="12700" algn="ctr">
              <a:noFill/>
              <a:miter lim="800000"/>
              <a:headEnd/>
              <a:tailEnd/>
            </a:ln>
            <a:effectLst/>
          </p:spPr>
          <p:txBody>
            <a:bodyPr wrap="none" lIns="90000" tIns="46800" rIns="90000" bIns="46800" anchor="ctr"/>
            <a:lstStyle/>
            <a:p>
              <a:r>
                <a:rPr lang="en-US" altLang="ja-JP" b="0" i="0" dirty="0">
                  <a:latin typeface="+mj-lt"/>
                </a:rPr>
                <a:t>VDD</a:t>
              </a:r>
              <a:endParaRPr lang="en-US" altLang="ja-JP" dirty="0"/>
            </a:p>
          </p:txBody>
        </p:sp>
        <p:sp>
          <p:nvSpPr>
            <p:cNvPr id="43" name="正方形/長方形 42">
              <a:extLst>
                <a:ext uri="{FF2B5EF4-FFF2-40B4-BE49-F238E27FC236}">
                  <a16:creationId xmlns:a16="http://schemas.microsoft.com/office/drawing/2014/main" id="{FFB80C57-B1EF-7FF9-54F1-683B80FE05C2}"/>
                </a:ext>
              </a:extLst>
            </p:cNvPr>
            <p:cNvSpPr/>
            <p:nvPr/>
          </p:nvSpPr>
          <p:spPr bwMode="auto">
            <a:xfrm>
              <a:off x="3671990" y="4509012"/>
              <a:ext cx="1440016"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44" name="円/楕円 69">
              <a:extLst>
                <a:ext uri="{FF2B5EF4-FFF2-40B4-BE49-F238E27FC236}">
                  <a16:creationId xmlns:a16="http://schemas.microsoft.com/office/drawing/2014/main" id="{FFDB2FBE-8F5E-3CB7-9F19-B8900D52BD87}"/>
                </a:ext>
              </a:extLst>
            </p:cNvPr>
            <p:cNvSpPr/>
            <p:nvPr/>
          </p:nvSpPr>
          <p:spPr>
            <a:xfrm rot="5400000">
              <a:off x="4708257" y="4779015"/>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45" name="直線コネクタ 44">
              <a:extLst>
                <a:ext uri="{FF2B5EF4-FFF2-40B4-BE49-F238E27FC236}">
                  <a16:creationId xmlns:a16="http://schemas.microsoft.com/office/drawing/2014/main" id="{C779E84C-8E35-D15F-0BEC-4E3220D2135C}"/>
                </a:ext>
              </a:extLst>
            </p:cNvPr>
            <p:cNvCxnSpPr>
              <a:cxnSpLocks/>
            </p:cNvCxnSpPr>
            <p:nvPr/>
          </p:nvCxnSpPr>
          <p:spPr>
            <a:xfrm flipH="1">
              <a:off x="3311986" y="4599013"/>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46" name="グループ化 45">
              <a:extLst>
                <a:ext uri="{FF2B5EF4-FFF2-40B4-BE49-F238E27FC236}">
                  <a16:creationId xmlns:a16="http://schemas.microsoft.com/office/drawing/2014/main" id="{97BBC831-E6EF-4912-27FE-CEAD42454F33}"/>
                </a:ext>
              </a:extLst>
            </p:cNvPr>
            <p:cNvGrpSpPr/>
            <p:nvPr/>
          </p:nvGrpSpPr>
          <p:grpSpPr>
            <a:xfrm>
              <a:off x="3851992" y="4599013"/>
              <a:ext cx="360004" cy="720007"/>
              <a:chOff x="3131985" y="5049018"/>
              <a:chExt cx="180002" cy="437056"/>
            </a:xfrm>
          </p:grpSpPr>
          <p:grpSp>
            <p:nvGrpSpPr>
              <p:cNvPr id="69" name="グループ化 68">
                <a:extLst>
                  <a:ext uri="{FF2B5EF4-FFF2-40B4-BE49-F238E27FC236}">
                    <a16:creationId xmlns:a16="http://schemas.microsoft.com/office/drawing/2014/main" id="{443A3CB1-AF90-8DC5-DC34-995F0EBF956C}"/>
                  </a:ext>
                </a:extLst>
              </p:cNvPr>
              <p:cNvGrpSpPr/>
              <p:nvPr/>
            </p:nvGrpSpPr>
            <p:grpSpPr>
              <a:xfrm>
                <a:off x="3131985" y="5139021"/>
                <a:ext cx="180002" cy="254126"/>
                <a:chOff x="3131984" y="5191944"/>
                <a:chExt cx="270003" cy="201854"/>
              </a:xfrm>
            </p:grpSpPr>
            <p:sp>
              <p:nvSpPr>
                <p:cNvPr id="74" name="Freeform 42">
                  <a:extLst>
                    <a:ext uri="{FF2B5EF4-FFF2-40B4-BE49-F238E27FC236}">
                      <a16:creationId xmlns:a16="http://schemas.microsoft.com/office/drawing/2014/main" id="{5947B35B-6096-FFDA-6EE7-8E9D75FAA967}"/>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75" name="Freeform 42">
                  <a:extLst>
                    <a:ext uri="{FF2B5EF4-FFF2-40B4-BE49-F238E27FC236}">
                      <a16:creationId xmlns:a16="http://schemas.microsoft.com/office/drawing/2014/main" id="{9D411C44-92A5-6C6C-458B-3AE9CAB7F174}"/>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76" name="Freeform 42">
                  <a:extLst>
                    <a:ext uri="{FF2B5EF4-FFF2-40B4-BE49-F238E27FC236}">
                      <a16:creationId xmlns:a16="http://schemas.microsoft.com/office/drawing/2014/main" id="{3C371CDD-34EC-3454-0EEB-765539ED1838}"/>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78" name="Freeform 42">
                  <a:extLst>
                    <a:ext uri="{FF2B5EF4-FFF2-40B4-BE49-F238E27FC236}">
                      <a16:creationId xmlns:a16="http://schemas.microsoft.com/office/drawing/2014/main" id="{D66CD7DC-4A6B-BEC0-ED0A-D448ECC9FCE4}"/>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70" name="直線コネクタ 69">
                <a:extLst>
                  <a:ext uri="{FF2B5EF4-FFF2-40B4-BE49-F238E27FC236}">
                    <a16:creationId xmlns:a16="http://schemas.microsoft.com/office/drawing/2014/main" id="{93C0B0F2-86AC-DECE-3765-D38115CF0F85}"/>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a16:creationId xmlns:a16="http://schemas.microsoft.com/office/drawing/2014/main" id="{A5914E39-C0A7-229C-5AF4-620FA09B35F6}"/>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47" name="直線コネクタ 46">
              <a:extLst>
                <a:ext uri="{FF2B5EF4-FFF2-40B4-BE49-F238E27FC236}">
                  <a16:creationId xmlns:a16="http://schemas.microsoft.com/office/drawing/2014/main" id="{97EF21A9-BC7B-A772-572A-7C6A30EB68E4}"/>
                </a:ext>
              </a:extLst>
            </p:cNvPr>
            <p:cNvCxnSpPr>
              <a:cxnSpLocks/>
            </p:cNvCxnSpPr>
            <p:nvPr/>
          </p:nvCxnSpPr>
          <p:spPr>
            <a:xfrm flipH="1">
              <a:off x="3671990" y="5319021"/>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EEFF6283-3F18-3BCC-2735-6C630F8E69FF}"/>
                </a:ext>
              </a:extLst>
            </p:cNvPr>
            <p:cNvCxnSpPr>
              <a:cxnSpLocks/>
              <a:endCxn id="50" idx="4"/>
            </p:cNvCxnSpPr>
            <p:nvPr/>
          </p:nvCxnSpPr>
          <p:spPr>
            <a:xfrm>
              <a:off x="4705734" y="4778657"/>
              <a:ext cx="0" cy="315367"/>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50" name="円/楕円 68">
              <a:extLst>
                <a:ext uri="{FF2B5EF4-FFF2-40B4-BE49-F238E27FC236}">
                  <a16:creationId xmlns:a16="http://schemas.microsoft.com/office/drawing/2014/main" id="{22D40220-F0F1-B5AA-4406-F0B9208E6AE1}"/>
                </a:ext>
              </a:extLst>
            </p:cNvPr>
            <p:cNvSpPr/>
            <p:nvPr/>
          </p:nvSpPr>
          <p:spPr>
            <a:xfrm rot="5400000">
              <a:off x="4705723" y="5049029"/>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51" name="直線コネクタ 50">
              <a:extLst>
                <a:ext uri="{FF2B5EF4-FFF2-40B4-BE49-F238E27FC236}">
                  <a16:creationId xmlns:a16="http://schemas.microsoft.com/office/drawing/2014/main" id="{89C35317-7D49-4072-8FD0-AB22F7450DD9}"/>
                </a:ext>
              </a:extLst>
            </p:cNvPr>
            <p:cNvCxnSpPr>
              <a:cxnSpLocks/>
              <a:endCxn id="44" idx="2"/>
            </p:cNvCxnSpPr>
            <p:nvPr/>
          </p:nvCxnSpPr>
          <p:spPr>
            <a:xfrm>
              <a:off x="4752002" y="4599013"/>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16AAD31B-3589-5476-F326-4E7ED0D06C05}"/>
                </a:ext>
              </a:extLst>
            </p:cNvPr>
            <p:cNvCxnSpPr>
              <a:cxnSpLocks/>
            </p:cNvCxnSpPr>
            <p:nvPr/>
          </p:nvCxnSpPr>
          <p:spPr>
            <a:xfrm>
              <a:off x="4752002" y="5139019"/>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54" name="Rectangle 93">
              <a:extLst>
                <a:ext uri="{FF2B5EF4-FFF2-40B4-BE49-F238E27FC236}">
                  <a16:creationId xmlns:a16="http://schemas.microsoft.com/office/drawing/2014/main" id="{336AC6D2-F6A3-FDF0-845F-50DEBCBC7FBE}"/>
                </a:ext>
              </a:extLst>
            </p:cNvPr>
            <p:cNvSpPr>
              <a:spLocks noChangeArrowheads="1"/>
            </p:cNvSpPr>
            <p:nvPr/>
          </p:nvSpPr>
          <p:spPr bwMode="auto">
            <a:xfrm>
              <a:off x="3311986" y="531902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55" name="Rectangle 93">
              <a:extLst>
                <a:ext uri="{FF2B5EF4-FFF2-40B4-BE49-F238E27FC236}">
                  <a16:creationId xmlns:a16="http://schemas.microsoft.com/office/drawing/2014/main" id="{D8CCB555-BB58-C415-3BBC-5245582DBA65}"/>
                </a:ext>
              </a:extLst>
            </p:cNvPr>
            <p:cNvSpPr>
              <a:spLocks noChangeArrowheads="1"/>
            </p:cNvSpPr>
            <p:nvPr/>
          </p:nvSpPr>
          <p:spPr bwMode="auto">
            <a:xfrm>
              <a:off x="3311986" y="4239009"/>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B</a:t>
              </a:r>
            </a:p>
          </p:txBody>
        </p:sp>
        <p:sp>
          <p:nvSpPr>
            <p:cNvPr id="61" name="Rectangle 93">
              <a:extLst>
                <a:ext uri="{FF2B5EF4-FFF2-40B4-BE49-F238E27FC236}">
                  <a16:creationId xmlns:a16="http://schemas.microsoft.com/office/drawing/2014/main" id="{3C4F5428-10F1-4053-80DE-587ABF571A80}"/>
                </a:ext>
              </a:extLst>
            </p:cNvPr>
            <p:cNvSpPr>
              <a:spLocks noChangeArrowheads="1"/>
            </p:cNvSpPr>
            <p:nvPr/>
          </p:nvSpPr>
          <p:spPr bwMode="auto">
            <a:xfrm>
              <a:off x="5112006" y="4239009"/>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65" name="Rectangle 93">
              <a:extLst>
                <a:ext uri="{FF2B5EF4-FFF2-40B4-BE49-F238E27FC236}">
                  <a16:creationId xmlns:a16="http://schemas.microsoft.com/office/drawing/2014/main" id="{592F5C67-C681-95DA-3C06-EE3700A9C120}"/>
                </a:ext>
              </a:extLst>
            </p:cNvPr>
            <p:cNvSpPr>
              <a:spLocks noChangeArrowheads="1"/>
            </p:cNvSpPr>
            <p:nvPr/>
          </p:nvSpPr>
          <p:spPr bwMode="auto">
            <a:xfrm>
              <a:off x="5112006" y="5319021"/>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66" name="直線コネクタ 65">
              <a:extLst>
                <a:ext uri="{FF2B5EF4-FFF2-40B4-BE49-F238E27FC236}">
                  <a16:creationId xmlns:a16="http://schemas.microsoft.com/office/drawing/2014/main" id="{6C036EFE-9887-1620-9D5C-3A8AA3F23F25}"/>
                </a:ext>
              </a:extLst>
            </p:cNvPr>
            <p:cNvCxnSpPr>
              <a:cxnSpLocks/>
            </p:cNvCxnSpPr>
            <p:nvPr/>
          </p:nvCxnSpPr>
          <p:spPr>
            <a:xfrm flipH="1">
              <a:off x="4752002" y="5319021"/>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67" name="直線コネクタ 66">
              <a:extLst>
                <a:ext uri="{FF2B5EF4-FFF2-40B4-BE49-F238E27FC236}">
                  <a16:creationId xmlns:a16="http://schemas.microsoft.com/office/drawing/2014/main" id="{D2277C0C-C01C-D82E-0A99-5EB5569E9FD9}"/>
                </a:ext>
              </a:extLst>
            </p:cNvPr>
            <p:cNvCxnSpPr>
              <a:cxnSpLocks/>
            </p:cNvCxnSpPr>
            <p:nvPr/>
          </p:nvCxnSpPr>
          <p:spPr>
            <a:xfrm flipH="1">
              <a:off x="3311986" y="5319021"/>
              <a:ext cx="450543"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68" name="直線コネクタ 67">
              <a:extLst>
                <a:ext uri="{FF2B5EF4-FFF2-40B4-BE49-F238E27FC236}">
                  <a16:creationId xmlns:a16="http://schemas.microsoft.com/office/drawing/2014/main" id="{4C3163DF-45EE-1A75-E467-B6C0B89C5CE8}"/>
                </a:ext>
              </a:extLst>
            </p:cNvPr>
            <p:cNvCxnSpPr>
              <a:cxnSpLocks/>
            </p:cNvCxnSpPr>
            <p:nvPr/>
          </p:nvCxnSpPr>
          <p:spPr>
            <a:xfrm flipH="1">
              <a:off x="4752002" y="4599013"/>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80" name="グループ化 79">
            <a:extLst>
              <a:ext uri="{FF2B5EF4-FFF2-40B4-BE49-F238E27FC236}">
                <a16:creationId xmlns:a16="http://schemas.microsoft.com/office/drawing/2014/main" id="{82699522-877F-7354-EFED-D8DD0AC6835D}"/>
              </a:ext>
            </a:extLst>
          </p:cNvPr>
          <p:cNvGrpSpPr/>
          <p:nvPr/>
        </p:nvGrpSpPr>
        <p:grpSpPr>
          <a:xfrm>
            <a:off x="5202007" y="2708992"/>
            <a:ext cx="1531092" cy="1440374"/>
            <a:chOff x="5202007" y="2708992"/>
            <a:chExt cx="1531092" cy="1440374"/>
          </a:xfrm>
        </p:grpSpPr>
        <p:grpSp>
          <p:nvGrpSpPr>
            <p:cNvPr id="31" name="グループ化 30">
              <a:extLst>
                <a:ext uri="{FF2B5EF4-FFF2-40B4-BE49-F238E27FC236}">
                  <a16:creationId xmlns:a16="http://schemas.microsoft.com/office/drawing/2014/main" id="{979102F4-D96C-21AE-DDA5-D303E779121F}"/>
                </a:ext>
              </a:extLst>
            </p:cNvPr>
            <p:cNvGrpSpPr/>
            <p:nvPr/>
          </p:nvGrpSpPr>
          <p:grpSpPr>
            <a:xfrm>
              <a:off x="5202007" y="2708992"/>
              <a:ext cx="1531092" cy="1440374"/>
              <a:chOff x="5202007" y="3068996"/>
              <a:chExt cx="1531092" cy="1440374"/>
            </a:xfrm>
          </p:grpSpPr>
          <p:sp>
            <p:nvSpPr>
              <p:cNvPr id="77" name="正方形/長方形 76">
                <a:extLst>
                  <a:ext uri="{FF2B5EF4-FFF2-40B4-BE49-F238E27FC236}">
                    <a16:creationId xmlns:a16="http://schemas.microsoft.com/office/drawing/2014/main" id="{8191A662-0875-0B7E-ECDB-6E4CB416E6D7}"/>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35" name="円/楕円 69">
                <a:extLst>
                  <a:ext uri="{FF2B5EF4-FFF2-40B4-BE49-F238E27FC236}">
                    <a16:creationId xmlns:a16="http://schemas.microsoft.com/office/drawing/2014/main" id="{595B7D01-DF2E-05E6-DB06-28CEB3E075A0}"/>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36" name="直線コネクタ 35">
                <a:extLst>
                  <a:ext uri="{FF2B5EF4-FFF2-40B4-BE49-F238E27FC236}">
                    <a16:creationId xmlns:a16="http://schemas.microsoft.com/office/drawing/2014/main" id="{4C42C92D-8645-9A14-FAC8-B8C6CE029CDA}"/>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6" name="直線コネクタ 55">
                <a:extLst>
                  <a:ext uri="{FF2B5EF4-FFF2-40B4-BE49-F238E27FC236}">
                    <a16:creationId xmlns:a16="http://schemas.microsoft.com/office/drawing/2014/main" id="{9B60195C-6A3D-E7C1-3585-CF25B1CE2179}"/>
                  </a:ext>
                </a:extLst>
              </p:cNvPr>
              <p:cNvCxnSpPr>
                <a:cxnSpLocks/>
                <a:endCxn id="57" idx="4"/>
              </p:cNvCxnSpPr>
              <p:nvPr/>
            </p:nvCxnSpPr>
            <p:spPr>
              <a:xfrm>
                <a:off x="5832014" y="3609002"/>
                <a:ext cx="133734"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57" name="円/楕円 68">
                <a:extLst>
                  <a:ext uri="{FF2B5EF4-FFF2-40B4-BE49-F238E27FC236}">
                    <a16:creationId xmlns:a16="http://schemas.microsoft.com/office/drawing/2014/main" id="{8232BB8B-03D3-D17E-B034-9F5C6D43FFFA}"/>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58" name="直線コネクタ 57">
                <a:extLst>
                  <a:ext uri="{FF2B5EF4-FFF2-40B4-BE49-F238E27FC236}">
                    <a16:creationId xmlns:a16="http://schemas.microsoft.com/office/drawing/2014/main" id="{D8880597-9986-0289-FF1C-41D727394666}"/>
                  </a:ext>
                </a:extLst>
              </p:cNvPr>
              <p:cNvCxnSpPr>
                <a:cxnSpLocks/>
                <a:endCxn id="35"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9" name="直線コネクタ 58">
                <a:extLst>
                  <a:ext uri="{FF2B5EF4-FFF2-40B4-BE49-F238E27FC236}">
                    <a16:creationId xmlns:a16="http://schemas.microsoft.com/office/drawing/2014/main" id="{3B14EFEF-E622-8979-F1EE-B6ED2BE813FD}"/>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60" name="Rectangle 93">
                <a:extLst>
                  <a:ext uri="{FF2B5EF4-FFF2-40B4-BE49-F238E27FC236}">
                    <a16:creationId xmlns:a16="http://schemas.microsoft.com/office/drawing/2014/main" id="{045EDB31-5420-83EB-4F47-DF580918B610}"/>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62" name="Rectangle 93">
                <a:extLst>
                  <a:ext uri="{FF2B5EF4-FFF2-40B4-BE49-F238E27FC236}">
                    <a16:creationId xmlns:a16="http://schemas.microsoft.com/office/drawing/2014/main" id="{EF1A29CA-5692-DFDB-47D9-EC74234E9D45}"/>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63" name="Rectangle 93">
                <a:extLst>
                  <a:ext uri="{FF2B5EF4-FFF2-40B4-BE49-F238E27FC236}">
                    <a16:creationId xmlns:a16="http://schemas.microsoft.com/office/drawing/2014/main" id="{357C4F85-DFA8-A9B7-0A77-DD6FE0D3C9DB}"/>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64" name="直線コネクタ 63">
                <a:extLst>
                  <a:ext uri="{FF2B5EF4-FFF2-40B4-BE49-F238E27FC236}">
                    <a16:creationId xmlns:a16="http://schemas.microsoft.com/office/drawing/2014/main" id="{99F7A64B-2A0F-1A54-14CC-850E653D6133}"/>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F91D7330-5CBA-DC70-78E4-4CF6B6A5A632}"/>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79" name="円/楕円 69">
              <a:extLst>
                <a:ext uri="{FF2B5EF4-FFF2-40B4-BE49-F238E27FC236}">
                  <a16:creationId xmlns:a16="http://schemas.microsoft.com/office/drawing/2014/main" id="{938BBB58-5AEC-A513-1242-9CFC3987A788}"/>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82" name="コネクタ: 曲線 81">
            <a:extLst>
              <a:ext uri="{FF2B5EF4-FFF2-40B4-BE49-F238E27FC236}">
                <a16:creationId xmlns:a16="http://schemas.microsoft.com/office/drawing/2014/main" id="{30E9498C-19E9-B229-8D48-F834A9D9E16E}"/>
              </a:ext>
            </a:extLst>
          </p:cNvPr>
          <p:cNvCxnSpPr>
            <a:cxnSpLocks/>
          </p:cNvCxnSpPr>
          <p:nvPr/>
        </p:nvCxnSpPr>
        <p:spPr bwMode="auto">
          <a:xfrm rot="16200000" flipH="1">
            <a:off x="3780010" y="1538998"/>
            <a:ext cx="1260000" cy="2340000"/>
          </a:xfrm>
          <a:prstGeom prst="curvedConnector3">
            <a:avLst/>
          </a:prstGeom>
          <a:noFill/>
          <a:ln w="9525" cap="flat" cmpd="sng" algn="ctr">
            <a:solidFill>
              <a:schemeClr val="accent6"/>
            </a:solidFill>
            <a:prstDash val="solid"/>
            <a:round/>
            <a:headEnd type="none" w="med" len="med"/>
            <a:tailEnd type="triangle"/>
          </a:ln>
          <a:effectLst/>
        </p:spPr>
      </p:cxnSp>
    </p:spTree>
    <p:extLst>
      <p:ext uri="{BB962C8B-B14F-4D97-AF65-F5344CB8AC3E}">
        <p14:creationId xmlns:p14="http://schemas.microsoft.com/office/powerpoint/2010/main" val="269451157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8812E4A-FE2E-5220-C4AC-78FF3A4EB4A3}"/>
              </a:ext>
            </a:extLst>
          </p:cNvPr>
          <p:cNvSpPr>
            <a:spLocks noGrp="1"/>
          </p:cNvSpPr>
          <p:nvPr>
            <p:ph type="title"/>
          </p:nvPr>
        </p:nvSpPr>
        <p:spPr/>
        <p:txBody>
          <a:bodyPr/>
          <a:lstStyle/>
          <a:p>
            <a:r>
              <a:rPr kumimoji="1" lang="en-US" altLang="ja-JP" dirty="0"/>
              <a:t>P</a:t>
            </a:r>
            <a:r>
              <a:rPr kumimoji="1" lang="en-US" dirty="0"/>
              <a:t> </a:t>
            </a:r>
            <a:r>
              <a:rPr kumimoji="1" lang="ja-JP" altLang="en-US" dirty="0"/>
              <a:t>型と </a:t>
            </a:r>
            <a:r>
              <a:rPr kumimoji="1" lang="en-US" altLang="ja-JP" dirty="0"/>
              <a:t>N </a:t>
            </a:r>
            <a:r>
              <a:rPr kumimoji="1" lang="ja-JP" altLang="en-US" dirty="0"/>
              <a:t>型のまとめ</a:t>
            </a:r>
            <a:endParaRPr kumimoji="1" lang="en-US" dirty="0"/>
          </a:p>
        </p:txBody>
      </p:sp>
      <p:sp>
        <p:nvSpPr>
          <p:cNvPr id="74" name="コンテンツ プレースホルダー 73">
            <a:extLst>
              <a:ext uri="{FF2B5EF4-FFF2-40B4-BE49-F238E27FC236}">
                <a16:creationId xmlns:a16="http://schemas.microsoft.com/office/drawing/2014/main" id="{13AE580E-0DE3-8C22-2E92-7F7074A83ACE}"/>
              </a:ext>
            </a:extLst>
          </p:cNvPr>
          <p:cNvSpPr>
            <a:spLocks noGrp="1"/>
          </p:cNvSpPr>
          <p:nvPr>
            <p:ph sz="quarter" idx="10"/>
          </p:nvPr>
        </p:nvSpPr>
        <p:spPr>
          <a:xfrm>
            <a:off x="611956" y="1088973"/>
            <a:ext cx="8280092" cy="990011"/>
          </a:xfrm>
        </p:spPr>
        <p:txBody>
          <a:bodyPr/>
          <a:lstStyle/>
          <a:p>
            <a:r>
              <a:rPr lang="en-US" altLang="ja-JP" dirty="0"/>
              <a:t>P </a:t>
            </a:r>
            <a:r>
              <a:rPr lang="ja-JP" altLang="en-US" dirty="0"/>
              <a:t>型と </a:t>
            </a:r>
            <a:r>
              <a:rPr lang="en-US" altLang="ja-JP" dirty="0"/>
              <a:t>N </a:t>
            </a:r>
            <a:r>
              <a:rPr lang="ja-JP" altLang="en-US" dirty="0"/>
              <a:t>型の違い：</a:t>
            </a:r>
            <a:endParaRPr lang="en-US" altLang="ja-JP" dirty="0"/>
          </a:p>
          <a:p>
            <a:pPr lvl="1"/>
            <a:r>
              <a:rPr lang="en-US" altLang="ja-JP" dirty="0"/>
              <a:t>P </a:t>
            </a:r>
            <a:r>
              <a:rPr lang="ja-JP" altLang="en-US" dirty="0"/>
              <a:t>型では </a:t>
            </a:r>
            <a:r>
              <a:rPr lang="en-US" altLang="ja-JP" dirty="0"/>
              <a:t>G </a:t>
            </a:r>
            <a:r>
              <a:rPr lang="ja-JP" altLang="en-US" dirty="0"/>
              <a:t>が </a:t>
            </a:r>
            <a:r>
              <a:rPr lang="en-US" altLang="ja-JP" dirty="0"/>
              <a:t>0 </a:t>
            </a:r>
            <a:r>
              <a:rPr lang="ja-JP" altLang="en-US" dirty="0"/>
              <a:t>の時 </a:t>
            </a:r>
            <a:r>
              <a:rPr lang="en-US" altLang="ja-JP" dirty="0"/>
              <a:t>ON</a:t>
            </a:r>
            <a:r>
              <a:rPr lang="ja-JP" altLang="en-US" dirty="0"/>
              <a:t>，</a:t>
            </a:r>
            <a:r>
              <a:rPr lang="en-US" altLang="ja-JP" dirty="0"/>
              <a:t>N </a:t>
            </a:r>
            <a:r>
              <a:rPr lang="ja-JP" altLang="en-US" dirty="0"/>
              <a:t>型は </a:t>
            </a:r>
            <a:r>
              <a:rPr lang="en-US" altLang="ja-JP" dirty="0"/>
              <a:t>G </a:t>
            </a:r>
            <a:r>
              <a:rPr lang="ja-JP" altLang="en-US" dirty="0"/>
              <a:t>が </a:t>
            </a:r>
            <a:r>
              <a:rPr lang="en-US" altLang="ja-JP" dirty="0"/>
              <a:t>1 </a:t>
            </a:r>
            <a:r>
              <a:rPr lang="ja-JP" altLang="en-US" dirty="0"/>
              <a:t>のとき </a:t>
            </a:r>
            <a:r>
              <a:rPr lang="en-US" altLang="ja-JP" dirty="0"/>
              <a:t>ON </a:t>
            </a:r>
            <a:r>
              <a:rPr lang="ja-JP" altLang="en-US" dirty="0"/>
              <a:t>で逆</a:t>
            </a:r>
            <a:endParaRPr lang="en-US" altLang="ja-JP" dirty="0"/>
          </a:p>
          <a:p>
            <a:pPr lvl="1"/>
            <a:r>
              <a:rPr lang="en-US" altLang="ja-JP" dirty="0"/>
              <a:t>G </a:t>
            </a:r>
            <a:r>
              <a:rPr lang="ja-JP" altLang="en-US" dirty="0"/>
              <a:t>に白丸があるのが </a:t>
            </a:r>
            <a:r>
              <a:rPr lang="en-US" altLang="ja-JP" dirty="0"/>
              <a:t>P </a:t>
            </a:r>
            <a:r>
              <a:rPr lang="ja-JP" altLang="en-US" dirty="0"/>
              <a:t>型，ないのが </a:t>
            </a:r>
            <a:r>
              <a:rPr lang="en-US" altLang="ja-JP" dirty="0"/>
              <a:t>N </a:t>
            </a:r>
            <a:r>
              <a:rPr lang="ja-JP" altLang="en-US" dirty="0"/>
              <a:t>型</a:t>
            </a:r>
            <a:endParaRPr lang="en-US" dirty="0"/>
          </a:p>
        </p:txBody>
      </p:sp>
      <p:graphicFrame>
        <p:nvGraphicFramePr>
          <p:cNvPr id="88" name="Group 383">
            <a:extLst>
              <a:ext uri="{FF2B5EF4-FFF2-40B4-BE49-F238E27FC236}">
                <a16:creationId xmlns:a16="http://schemas.microsoft.com/office/drawing/2014/main" id="{98F62C4B-867C-9B2A-4C5B-F68DF987ED12}"/>
              </a:ext>
            </a:extLst>
          </p:cNvPr>
          <p:cNvGraphicFramePr>
            <a:graphicFrameLocks/>
          </p:cNvGraphicFramePr>
          <p:nvPr>
            <p:extLst>
              <p:ext uri="{D42A27DB-BD31-4B8C-83A1-F6EECF244321}">
                <p14:modId xmlns:p14="http://schemas.microsoft.com/office/powerpoint/2010/main" val="4137035976"/>
              </p:ext>
            </p:extLst>
          </p:nvPr>
        </p:nvGraphicFramePr>
        <p:xfrm>
          <a:off x="6732024" y="2798635"/>
          <a:ext cx="1080012" cy="1243014"/>
        </p:xfrm>
        <a:graphic>
          <a:graphicData uri="http://schemas.openxmlformats.org/drawingml/2006/table">
            <a:tbl>
              <a:tblPr/>
              <a:tblGrid>
                <a:gridCol w="360004">
                  <a:extLst>
                    <a:ext uri="{9D8B030D-6E8A-4147-A177-3AD203B41FA5}">
                      <a16:colId xmlns:a16="http://schemas.microsoft.com/office/drawing/2014/main" val="20000"/>
                    </a:ext>
                  </a:extLst>
                </a:gridCol>
                <a:gridCol w="720008">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G</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D~S</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ON</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OFF</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grpSp>
        <p:nvGrpSpPr>
          <p:cNvPr id="89" name="グループ化 88">
            <a:extLst>
              <a:ext uri="{FF2B5EF4-FFF2-40B4-BE49-F238E27FC236}">
                <a16:creationId xmlns:a16="http://schemas.microsoft.com/office/drawing/2014/main" id="{3ACC75CE-193E-A25E-536B-79A1CC54C60E}"/>
              </a:ext>
            </a:extLst>
          </p:cNvPr>
          <p:cNvGrpSpPr/>
          <p:nvPr/>
        </p:nvGrpSpPr>
        <p:grpSpPr>
          <a:xfrm>
            <a:off x="1061961" y="2258629"/>
            <a:ext cx="2431102" cy="1890379"/>
            <a:chOff x="3041983" y="3789004"/>
            <a:chExt cx="2431102" cy="1890379"/>
          </a:xfrm>
        </p:grpSpPr>
        <p:cxnSp>
          <p:nvCxnSpPr>
            <p:cNvPr id="90" name="直線コネクタ 89">
              <a:extLst>
                <a:ext uri="{FF2B5EF4-FFF2-40B4-BE49-F238E27FC236}">
                  <a16:creationId xmlns:a16="http://schemas.microsoft.com/office/drawing/2014/main" id="{CAD72414-06D4-17A2-9963-0F187E9AD303}"/>
                </a:ext>
              </a:extLst>
            </p:cNvPr>
            <p:cNvCxnSpPr>
              <a:cxnSpLocks/>
            </p:cNvCxnSpPr>
            <p:nvPr/>
          </p:nvCxnSpPr>
          <p:spPr>
            <a:xfrm flipV="1">
              <a:off x="3311986" y="414900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91" name="直線コネクタ 90">
              <a:extLst>
                <a:ext uri="{FF2B5EF4-FFF2-40B4-BE49-F238E27FC236}">
                  <a16:creationId xmlns:a16="http://schemas.microsoft.com/office/drawing/2014/main" id="{68540C88-AFC9-6BCC-1527-9A58CFA0AEE7}"/>
                </a:ext>
              </a:extLst>
            </p:cNvPr>
            <p:cNvCxnSpPr/>
            <p:nvPr/>
          </p:nvCxnSpPr>
          <p:spPr>
            <a:xfrm>
              <a:off x="3131984" y="4149008"/>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92" name="Rectangle 93">
              <a:extLst>
                <a:ext uri="{FF2B5EF4-FFF2-40B4-BE49-F238E27FC236}">
                  <a16:creationId xmlns:a16="http://schemas.microsoft.com/office/drawing/2014/main" id="{9DB52627-9B15-D7B3-3630-64C4C1983478}"/>
                </a:ext>
              </a:extLst>
            </p:cNvPr>
            <p:cNvSpPr>
              <a:spLocks noChangeArrowheads="1"/>
            </p:cNvSpPr>
            <p:nvPr/>
          </p:nvSpPr>
          <p:spPr bwMode="auto">
            <a:xfrm>
              <a:off x="3041983" y="3789004"/>
              <a:ext cx="270003" cy="360362"/>
            </a:xfrm>
            <a:prstGeom prst="rect">
              <a:avLst/>
            </a:prstGeom>
            <a:noFill/>
            <a:ln w="12700" algn="ctr">
              <a:noFill/>
              <a:miter lim="800000"/>
              <a:headEnd/>
              <a:tailEnd/>
            </a:ln>
            <a:effectLst/>
          </p:spPr>
          <p:txBody>
            <a:bodyPr wrap="none" lIns="90000" tIns="46800" rIns="90000" bIns="46800" anchor="ctr"/>
            <a:lstStyle/>
            <a:p>
              <a:r>
                <a:rPr lang="en-US" altLang="ja-JP" b="0" i="0" dirty="0">
                  <a:latin typeface="+mj-lt"/>
                </a:rPr>
                <a:t>VDD</a:t>
              </a:r>
              <a:endParaRPr lang="en-US" altLang="ja-JP" dirty="0"/>
            </a:p>
          </p:txBody>
        </p:sp>
        <p:sp>
          <p:nvSpPr>
            <p:cNvPr id="93" name="正方形/長方形 92">
              <a:extLst>
                <a:ext uri="{FF2B5EF4-FFF2-40B4-BE49-F238E27FC236}">
                  <a16:creationId xmlns:a16="http://schemas.microsoft.com/office/drawing/2014/main" id="{1353F563-3094-F3D5-7D93-2291758CA8F2}"/>
                </a:ext>
              </a:extLst>
            </p:cNvPr>
            <p:cNvSpPr/>
            <p:nvPr/>
          </p:nvSpPr>
          <p:spPr bwMode="auto">
            <a:xfrm>
              <a:off x="3671990" y="4509012"/>
              <a:ext cx="1440016"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94" name="円/楕円 69">
              <a:extLst>
                <a:ext uri="{FF2B5EF4-FFF2-40B4-BE49-F238E27FC236}">
                  <a16:creationId xmlns:a16="http://schemas.microsoft.com/office/drawing/2014/main" id="{A3357176-2B59-AE9F-B26F-895ABE9E09BA}"/>
                </a:ext>
              </a:extLst>
            </p:cNvPr>
            <p:cNvSpPr/>
            <p:nvPr/>
          </p:nvSpPr>
          <p:spPr>
            <a:xfrm rot="5400000">
              <a:off x="4708257" y="4779015"/>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95" name="直線コネクタ 94">
              <a:extLst>
                <a:ext uri="{FF2B5EF4-FFF2-40B4-BE49-F238E27FC236}">
                  <a16:creationId xmlns:a16="http://schemas.microsoft.com/office/drawing/2014/main" id="{59905182-C6CC-A795-69F6-A9819F36EC31}"/>
                </a:ext>
              </a:extLst>
            </p:cNvPr>
            <p:cNvCxnSpPr>
              <a:cxnSpLocks/>
            </p:cNvCxnSpPr>
            <p:nvPr/>
          </p:nvCxnSpPr>
          <p:spPr>
            <a:xfrm flipH="1">
              <a:off x="3311986" y="4599013"/>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96" name="グループ化 95">
              <a:extLst>
                <a:ext uri="{FF2B5EF4-FFF2-40B4-BE49-F238E27FC236}">
                  <a16:creationId xmlns:a16="http://schemas.microsoft.com/office/drawing/2014/main" id="{F37C8728-36F6-CCE8-8588-1D0BF4781234}"/>
                </a:ext>
              </a:extLst>
            </p:cNvPr>
            <p:cNvGrpSpPr/>
            <p:nvPr/>
          </p:nvGrpSpPr>
          <p:grpSpPr>
            <a:xfrm>
              <a:off x="3851992" y="4599013"/>
              <a:ext cx="360004" cy="720007"/>
              <a:chOff x="3131985" y="5049018"/>
              <a:chExt cx="180002" cy="437056"/>
            </a:xfrm>
          </p:grpSpPr>
          <p:grpSp>
            <p:nvGrpSpPr>
              <p:cNvPr id="109" name="グループ化 108">
                <a:extLst>
                  <a:ext uri="{FF2B5EF4-FFF2-40B4-BE49-F238E27FC236}">
                    <a16:creationId xmlns:a16="http://schemas.microsoft.com/office/drawing/2014/main" id="{BB947E73-E210-5436-F9DD-6BC6E1CAE424}"/>
                  </a:ext>
                </a:extLst>
              </p:cNvPr>
              <p:cNvGrpSpPr/>
              <p:nvPr/>
            </p:nvGrpSpPr>
            <p:grpSpPr>
              <a:xfrm>
                <a:off x="3131985" y="5139021"/>
                <a:ext cx="180002" cy="254126"/>
                <a:chOff x="3131984" y="5191944"/>
                <a:chExt cx="270003" cy="201854"/>
              </a:xfrm>
            </p:grpSpPr>
            <p:sp>
              <p:nvSpPr>
                <p:cNvPr id="112" name="Freeform 42">
                  <a:extLst>
                    <a:ext uri="{FF2B5EF4-FFF2-40B4-BE49-F238E27FC236}">
                      <a16:creationId xmlns:a16="http://schemas.microsoft.com/office/drawing/2014/main" id="{8FFE53D7-42A2-1ABD-F94C-087A1831895F}"/>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13" name="Freeform 42">
                  <a:extLst>
                    <a:ext uri="{FF2B5EF4-FFF2-40B4-BE49-F238E27FC236}">
                      <a16:creationId xmlns:a16="http://schemas.microsoft.com/office/drawing/2014/main" id="{8390D6FF-E3C7-4145-75DD-ABC77AA1FC70}"/>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14" name="Freeform 42">
                  <a:extLst>
                    <a:ext uri="{FF2B5EF4-FFF2-40B4-BE49-F238E27FC236}">
                      <a16:creationId xmlns:a16="http://schemas.microsoft.com/office/drawing/2014/main" id="{7E9CFDDD-2E7B-5C97-B4A3-57C9DD40AAAB}"/>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15" name="Freeform 42">
                  <a:extLst>
                    <a:ext uri="{FF2B5EF4-FFF2-40B4-BE49-F238E27FC236}">
                      <a16:creationId xmlns:a16="http://schemas.microsoft.com/office/drawing/2014/main" id="{DB95F5B2-A82B-B956-4F5B-34ECC52DD9C9}"/>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110" name="直線コネクタ 109">
                <a:extLst>
                  <a:ext uri="{FF2B5EF4-FFF2-40B4-BE49-F238E27FC236}">
                    <a16:creationId xmlns:a16="http://schemas.microsoft.com/office/drawing/2014/main" id="{756EF7CF-D211-A2D0-F2E4-2884A0735366}"/>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11" name="直線コネクタ 110">
                <a:extLst>
                  <a:ext uri="{FF2B5EF4-FFF2-40B4-BE49-F238E27FC236}">
                    <a16:creationId xmlns:a16="http://schemas.microsoft.com/office/drawing/2014/main" id="{4BD790B3-1C77-7785-28D2-433B5845F518}"/>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97" name="直線コネクタ 96">
              <a:extLst>
                <a:ext uri="{FF2B5EF4-FFF2-40B4-BE49-F238E27FC236}">
                  <a16:creationId xmlns:a16="http://schemas.microsoft.com/office/drawing/2014/main" id="{F133AEED-F3C3-117D-41E5-A94972AC6EB6}"/>
                </a:ext>
              </a:extLst>
            </p:cNvPr>
            <p:cNvCxnSpPr>
              <a:cxnSpLocks/>
            </p:cNvCxnSpPr>
            <p:nvPr/>
          </p:nvCxnSpPr>
          <p:spPr>
            <a:xfrm flipH="1">
              <a:off x="3671990" y="5319021"/>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98" name="直線コネクタ 97">
              <a:extLst>
                <a:ext uri="{FF2B5EF4-FFF2-40B4-BE49-F238E27FC236}">
                  <a16:creationId xmlns:a16="http://schemas.microsoft.com/office/drawing/2014/main" id="{41BC9FA3-5F6C-6A88-7B5D-C984ED233BF0}"/>
                </a:ext>
              </a:extLst>
            </p:cNvPr>
            <p:cNvCxnSpPr>
              <a:cxnSpLocks/>
              <a:endCxn id="99" idx="4"/>
            </p:cNvCxnSpPr>
            <p:nvPr/>
          </p:nvCxnSpPr>
          <p:spPr>
            <a:xfrm>
              <a:off x="4705734" y="4778657"/>
              <a:ext cx="0" cy="315367"/>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99" name="円/楕円 68">
              <a:extLst>
                <a:ext uri="{FF2B5EF4-FFF2-40B4-BE49-F238E27FC236}">
                  <a16:creationId xmlns:a16="http://schemas.microsoft.com/office/drawing/2014/main" id="{592BB001-24B2-E404-35A3-8B1473A14B35}"/>
                </a:ext>
              </a:extLst>
            </p:cNvPr>
            <p:cNvSpPr/>
            <p:nvPr/>
          </p:nvSpPr>
          <p:spPr>
            <a:xfrm rot="5400000">
              <a:off x="4705723" y="5049029"/>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00" name="直線コネクタ 99">
              <a:extLst>
                <a:ext uri="{FF2B5EF4-FFF2-40B4-BE49-F238E27FC236}">
                  <a16:creationId xmlns:a16="http://schemas.microsoft.com/office/drawing/2014/main" id="{0FE28C34-E4B6-8FB9-2CC5-7CDBC4D09B51}"/>
                </a:ext>
              </a:extLst>
            </p:cNvPr>
            <p:cNvCxnSpPr>
              <a:cxnSpLocks/>
              <a:endCxn id="94" idx="2"/>
            </p:cNvCxnSpPr>
            <p:nvPr/>
          </p:nvCxnSpPr>
          <p:spPr>
            <a:xfrm>
              <a:off x="4752002" y="4599013"/>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1" name="直線コネクタ 100">
              <a:extLst>
                <a:ext uri="{FF2B5EF4-FFF2-40B4-BE49-F238E27FC236}">
                  <a16:creationId xmlns:a16="http://schemas.microsoft.com/office/drawing/2014/main" id="{FA4436B5-503C-FD30-EDD6-E2C9A351AB98}"/>
                </a:ext>
              </a:extLst>
            </p:cNvPr>
            <p:cNvCxnSpPr>
              <a:cxnSpLocks/>
            </p:cNvCxnSpPr>
            <p:nvPr/>
          </p:nvCxnSpPr>
          <p:spPr>
            <a:xfrm>
              <a:off x="4752002" y="5139019"/>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02" name="Rectangle 93">
              <a:extLst>
                <a:ext uri="{FF2B5EF4-FFF2-40B4-BE49-F238E27FC236}">
                  <a16:creationId xmlns:a16="http://schemas.microsoft.com/office/drawing/2014/main" id="{10399B61-0A43-3AFF-7F67-2375FE60752D}"/>
                </a:ext>
              </a:extLst>
            </p:cNvPr>
            <p:cNvSpPr>
              <a:spLocks noChangeArrowheads="1"/>
            </p:cNvSpPr>
            <p:nvPr/>
          </p:nvSpPr>
          <p:spPr bwMode="auto">
            <a:xfrm>
              <a:off x="3311986" y="531902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03" name="Rectangle 93">
              <a:extLst>
                <a:ext uri="{FF2B5EF4-FFF2-40B4-BE49-F238E27FC236}">
                  <a16:creationId xmlns:a16="http://schemas.microsoft.com/office/drawing/2014/main" id="{B944501E-31DF-0E6D-0887-C1387D477087}"/>
                </a:ext>
              </a:extLst>
            </p:cNvPr>
            <p:cNvSpPr>
              <a:spLocks noChangeArrowheads="1"/>
            </p:cNvSpPr>
            <p:nvPr/>
          </p:nvSpPr>
          <p:spPr bwMode="auto">
            <a:xfrm>
              <a:off x="3311986" y="4239009"/>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B</a:t>
              </a:r>
            </a:p>
          </p:txBody>
        </p:sp>
        <p:sp>
          <p:nvSpPr>
            <p:cNvPr id="104" name="Rectangle 93">
              <a:extLst>
                <a:ext uri="{FF2B5EF4-FFF2-40B4-BE49-F238E27FC236}">
                  <a16:creationId xmlns:a16="http://schemas.microsoft.com/office/drawing/2014/main" id="{AF9FF4B8-69D4-2193-D56A-FE9FC6D55BF4}"/>
                </a:ext>
              </a:extLst>
            </p:cNvPr>
            <p:cNvSpPr>
              <a:spLocks noChangeArrowheads="1"/>
            </p:cNvSpPr>
            <p:nvPr/>
          </p:nvSpPr>
          <p:spPr bwMode="auto">
            <a:xfrm>
              <a:off x="5112006" y="4239009"/>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05" name="Rectangle 93">
              <a:extLst>
                <a:ext uri="{FF2B5EF4-FFF2-40B4-BE49-F238E27FC236}">
                  <a16:creationId xmlns:a16="http://schemas.microsoft.com/office/drawing/2014/main" id="{BE46A745-2FA9-7BC2-8055-C8E29D65FC96}"/>
                </a:ext>
              </a:extLst>
            </p:cNvPr>
            <p:cNvSpPr>
              <a:spLocks noChangeArrowheads="1"/>
            </p:cNvSpPr>
            <p:nvPr/>
          </p:nvSpPr>
          <p:spPr bwMode="auto">
            <a:xfrm>
              <a:off x="5112006" y="5319021"/>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06" name="直線コネクタ 105">
              <a:extLst>
                <a:ext uri="{FF2B5EF4-FFF2-40B4-BE49-F238E27FC236}">
                  <a16:creationId xmlns:a16="http://schemas.microsoft.com/office/drawing/2014/main" id="{71BD6919-6BE5-9D8D-44AF-523C444FAEEB}"/>
                </a:ext>
              </a:extLst>
            </p:cNvPr>
            <p:cNvCxnSpPr>
              <a:cxnSpLocks/>
            </p:cNvCxnSpPr>
            <p:nvPr/>
          </p:nvCxnSpPr>
          <p:spPr>
            <a:xfrm flipH="1">
              <a:off x="4752002" y="5319021"/>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7" name="直線コネクタ 106">
              <a:extLst>
                <a:ext uri="{FF2B5EF4-FFF2-40B4-BE49-F238E27FC236}">
                  <a16:creationId xmlns:a16="http://schemas.microsoft.com/office/drawing/2014/main" id="{150A5E59-73AB-4A06-6679-99A8FF2383E0}"/>
                </a:ext>
              </a:extLst>
            </p:cNvPr>
            <p:cNvCxnSpPr>
              <a:cxnSpLocks/>
            </p:cNvCxnSpPr>
            <p:nvPr/>
          </p:nvCxnSpPr>
          <p:spPr>
            <a:xfrm flipH="1">
              <a:off x="3311986" y="5319021"/>
              <a:ext cx="450543"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8" name="直線コネクタ 107">
              <a:extLst>
                <a:ext uri="{FF2B5EF4-FFF2-40B4-BE49-F238E27FC236}">
                  <a16:creationId xmlns:a16="http://schemas.microsoft.com/office/drawing/2014/main" id="{9FF8FA1D-F7B6-4246-9621-2DD733B407A9}"/>
                </a:ext>
              </a:extLst>
            </p:cNvPr>
            <p:cNvCxnSpPr>
              <a:cxnSpLocks/>
            </p:cNvCxnSpPr>
            <p:nvPr/>
          </p:nvCxnSpPr>
          <p:spPr>
            <a:xfrm flipH="1">
              <a:off x="4752002" y="4599013"/>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116" name="グループ化 115">
            <a:extLst>
              <a:ext uri="{FF2B5EF4-FFF2-40B4-BE49-F238E27FC236}">
                <a16:creationId xmlns:a16="http://schemas.microsoft.com/office/drawing/2014/main" id="{95D14CC8-0B90-EBD3-10FC-77B44F348069}"/>
              </a:ext>
            </a:extLst>
          </p:cNvPr>
          <p:cNvGrpSpPr/>
          <p:nvPr/>
        </p:nvGrpSpPr>
        <p:grpSpPr>
          <a:xfrm>
            <a:off x="1061961" y="4778657"/>
            <a:ext cx="2430027" cy="1980380"/>
            <a:chOff x="1781969" y="3068996"/>
            <a:chExt cx="2430027" cy="1980380"/>
          </a:xfrm>
        </p:grpSpPr>
        <p:sp>
          <p:nvSpPr>
            <p:cNvPr id="117" name="正方形/長方形 116">
              <a:extLst>
                <a:ext uri="{FF2B5EF4-FFF2-40B4-BE49-F238E27FC236}">
                  <a16:creationId xmlns:a16="http://schemas.microsoft.com/office/drawing/2014/main" id="{BD678E7C-4EAD-CE6C-23A8-9074CAA83C9E}"/>
                </a:ext>
              </a:extLst>
            </p:cNvPr>
            <p:cNvSpPr/>
            <p:nvPr/>
          </p:nvSpPr>
          <p:spPr bwMode="auto">
            <a:xfrm>
              <a:off x="2411976" y="3338999"/>
              <a:ext cx="1440016"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18" name="円/楕円 69">
              <a:extLst>
                <a:ext uri="{FF2B5EF4-FFF2-40B4-BE49-F238E27FC236}">
                  <a16:creationId xmlns:a16="http://schemas.microsoft.com/office/drawing/2014/main" id="{ED4BA50F-F4DD-10DA-3407-0287CF3E1545}"/>
                </a:ext>
              </a:extLst>
            </p:cNvPr>
            <p:cNvSpPr/>
            <p:nvPr/>
          </p:nvSpPr>
          <p:spPr>
            <a:xfrm rot="5400000">
              <a:off x="3448243"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19" name="直線コネクタ 118">
              <a:extLst>
                <a:ext uri="{FF2B5EF4-FFF2-40B4-BE49-F238E27FC236}">
                  <a16:creationId xmlns:a16="http://schemas.microsoft.com/office/drawing/2014/main" id="{BFD30F71-C15A-DE8E-AB5B-BC010ABDC17B}"/>
                </a:ext>
              </a:extLst>
            </p:cNvPr>
            <p:cNvCxnSpPr>
              <a:cxnSpLocks/>
            </p:cNvCxnSpPr>
            <p:nvPr/>
          </p:nvCxnSpPr>
          <p:spPr>
            <a:xfrm flipH="1">
              <a:off x="2051972"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120" name="グループ化 119">
              <a:extLst>
                <a:ext uri="{FF2B5EF4-FFF2-40B4-BE49-F238E27FC236}">
                  <a16:creationId xmlns:a16="http://schemas.microsoft.com/office/drawing/2014/main" id="{4E5C5CAB-6161-7F97-C7B8-0E4DE4B06E8B}"/>
                </a:ext>
              </a:extLst>
            </p:cNvPr>
            <p:cNvGrpSpPr/>
            <p:nvPr/>
          </p:nvGrpSpPr>
          <p:grpSpPr>
            <a:xfrm>
              <a:off x="2591978" y="3429000"/>
              <a:ext cx="360004" cy="720007"/>
              <a:chOff x="3131985" y="5049018"/>
              <a:chExt cx="180002" cy="437056"/>
            </a:xfrm>
          </p:grpSpPr>
          <p:grpSp>
            <p:nvGrpSpPr>
              <p:cNvPr id="139" name="グループ化 138">
                <a:extLst>
                  <a:ext uri="{FF2B5EF4-FFF2-40B4-BE49-F238E27FC236}">
                    <a16:creationId xmlns:a16="http://schemas.microsoft.com/office/drawing/2014/main" id="{47ADFD09-1A85-C441-E712-DF5F68E6D71A}"/>
                  </a:ext>
                </a:extLst>
              </p:cNvPr>
              <p:cNvGrpSpPr/>
              <p:nvPr/>
            </p:nvGrpSpPr>
            <p:grpSpPr>
              <a:xfrm>
                <a:off x="3131985" y="5139021"/>
                <a:ext cx="180002" cy="254126"/>
                <a:chOff x="3131984" y="5191944"/>
                <a:chExt cx="270003" cy="201854"/>
              </a:xfrm>
            </p:grpSpPr>
            <p:sp>
              <p:nvSpPr>
                <p:cNvPr id="142" name="Freeform 42">
                  <a:extLst>
                    <a:ext uri="{FF2B5EF4-FFF2-40B4-BE49-F238E27FC236}">
                      <a16:creationId xmlns:a16="http://schemas.microsoft.com/office/drawing/2014/main" id="{29F3CC17-6D56-2E90-380D-5DE0BDC30B08}"/>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43" name="Freeform 42">
                  <a:extLst>
                    <a:ext uri="{FF2B5EF4-FFF2-40B4-BE49-F238E27FC236}">
                      <a16:creationId xmlns:a16="http://schemas.microsoft.com/office/drawing/2014/main" id="{1EB97324-4485-5D3D-FA42-CAD4961F09EB}"/>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44" name="Freeform 42">
                  <a:extLst>
                    <a:ext uri="{FF2B5EF4-FFF2-40B4-BE49-F238E27FC236}">
                      <a16:creationId xmlns:a16="http://schemas.microsoft.com/office/drawing/2014/main" id="{7EFF58AC-C0EA-6E2E-20AB-E246FD819A2A}"/>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45" name="Freeform 42">
                  <a:extLst>
                    <a:ext uri="{FF2B5EF4-FFF2-40B4-BE49-F238E27FC236}">
                      <a16:creationId xmlns:a16="http://schemas.microsoft.com/office/drawing/2014/main" id="{7DE4A70E-AD92-B2F0-B2F3-A008F1BB9CAE}"/>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140" name="直線コネクタ 139">
                <a:extLst>
                  <a:ext uri="{FF2B5EF4-FFF2-40B4-BE49-F238E27FC236}">
                    <a16:creationId xmlns:a16="http://schemas.microsoft.com/office/drawing/2014/main" id="{B990B850-91F8-00A7-1E1B-2F1D5D396529}"/>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41" name="直線コネクタ 140">
                <a:extLst>
                  <a:ext uri="{FF2B5EF4-FFF2-40B4-BE49-F238E27FC236}">
                    <a16:creationId xmlns:a16="http://schemas.microsoft.com/office/drawing/2014/main" id="{BC91E689-C8E1-F377-1D4C-518531BB7BB1}"/>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121" name="直線コネクタ 120">
              <a:extLst>
                <a:ext uri="{FF2B5EF4-FFF2-40B4-BE49-F238E27FC236}">
                  <a16:creationId xmlns:a16="http://schemas.microsoft.com/office/drawing/2014/main" id="{E6A7C64A-A368-1CAA-9C38-5C69AB65DEDB}"/>
                </a:ext>
              </a:extLst>
            </p:cNvPr>
            <p:cNvCxnSpPr>
              <a:cxnSpLocks/>
            </p:cNvCxnSpPr>
            <p:nvPr/>
          </p:nvCxnSpPr>
          <p:spPr>
            <a:xfrm flipH="1">
              <a:off x="2411976" y="4149008"/>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22" name="直線コネクタ 121">
              <a:extLst>
                <a:ext uri="{FF2B5EF4-FFF2-40B4-BE49-F238E27FC236}">
                  <a16:creationId xmlns:a16="http://schemas.microsoft.com/office/drawing/2014/main" id="{7F0A5510-BD08-9DD2-213E-072A8DA884DE}"/>
                </a:ext>
              </a:extLst>
            </p:cNvPr>
            <p:cNvCxnSpPr>
              <a:cxnSpLocks/>
              <a:endCxn id="123" idx="4"/>
            </p:cNvCxnSpPr>
            <p:nvPr/>
          </p:nvCxnSpPr>
          <p:spPr>
            <a:xfrm>
              <a:off x="3311986"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23" name="円/楕円 68">
              <a:extLst>
                <a:ext uri="{FF2B5EF4-FFF2-40B4-BE49-F238E27FC236}">
                  <a16:creationId xmlns:a16="http://schemas.microsoft.com/office/drawing/2014/main" id="{929A66B2-4D7A-2E43-B375-6831EE9A5994}"/>
                </a:ext>
              </a:extLst>
            </p:cNvPr>
            <p:cNvSpPr/>
            <p:nvPr/>
          </p:nvSpPr>
          <p:spPr>
            <a:xfrm rot="5400000">
              <a:off x="3445709"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24" name="直線コネクタ 123">
              <a:extLst>
                <a:ext uri="{FF2B5EF4-FFF2-40B4-BE49-F238E27FC236}">
                  <a16:creationId xmlns:a16="http://schemas.microsoft.com/office/drawing/2014/main" id="{589610C9-808A-BD2C-0D09-4F075CD483B1}"/>
                </a:ext>
              </a:extLst>
            </p:cNvPr>
            <p:cNvCxnSpPr>
              <a:cxnSpLocks/>
              <a:endCxn id="118" idx="2"/>
            </p:cNvCxnSpPr>
            <p:nvPr/>
          </p:nvCxnSpPr>
          <p:spPr>
            <a:xfrm>
              <a:off x="3491988"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25" name="直線コネクタ 124">
              <a:extLst>
                <a:ext uri="{FF2B5EF4-FFF2-40B4-BE49-F238E27FC236}">
                  <a16:creationId xmlns:a16="http://schemas.microsoft.com/office/drawing/2014/main" id="{5A978208-8A4B-35FA-FEC3-A23647411FA5}"/>
                </a:ext>
              </a:extLst>
            </p:cNvPr>
            <p:cNvCxnSpPr>
              <a:cxnSpLocks/>
            </p:cNvCxnSpPr>
            <p:nvPr/>
          </p:nvCxnSpPr>
          <p:spPr>
            <a:xfrm>
              <a:off x="3491988"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26" name="Rectangle 93">
              <a:extLst>
                <a:ext uri="{FF2B5EF4-FFF2-40B4-BE49-F238E27FC236}">
                  <a16:creationId xmlns:a16="http://schemas.microsoft.com/office/drawing/2014/main" id="{A51776E7-696D-8A3E-254A-A00D782ED992}"/>
                </a:ext>
              </a:extLst>
            </p:cNvPr>
            <p:cNvSpPr>
              <a:spLocks noChangeArrowheads="1"/>
            </p:cNvSpPr>
            <p:nvPr/>
          </p:nvSpPr>
          <p:spPr bwMode="auto">
            <a:xfrm>
              <a:off x="2051972" y="3068996"/>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27" name="Rectangle 93">
              <a:extLst>
                <a:ext uri="{FF2B5EF4-FFF2-40B4-BE49-F238E27FC236}">
                  <a16:creationId xmlns:a16="http://schemas.microsoft.com/office/drawing/2014/main" id="{7ED1C07E-D9EC-72CF-CC41-104FC6887984}"/>
                </a:ext>
              </a:extLst>
            </p:cNvPr>
            <p:cNvSpPr>
              <a:spLocks noChangeArrowheads="1"/>
            </p:cNvSpPr>
            <p:nvPr/>
          </p:nvSpPr>
          <p:spPr bwMode="auto">
            <a:xfrm>
              <a:off x="2051972"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B</a:t>
              </a:r>
            </a:p>
          </p:txBody>
        </p:sp>
        <p:sp>
          <p:nvSpPr>
            <p:cNvPr id="128" name="Rectangle 93">
              <a:extLst>
                <a:ext uri="{FF2B5EF4-FFF2-40B4-BE49-F238E27FC236}">
                  <a16:creationId xmlns:a16="http://schemas.microsoft.com/office/drawing/2014/main" id="{D60566E5-A930-D618-3D31-5E19BEB84F7D}"/>
                </a:ext>
              </a:extLst>
            </p:cNvPr>
            <p:cNvSpPr>
              <a:spLocks noChangeArrowheads="1"/>
            </p:cNvSpPr>
            <p:nvPr/>
          </p:nvSpPr>
          <p:spPr bwMode="auto">
            <a:xfrm>
              <a:off x="3850917"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29" name="Rectangle 93">
              <a:extLst>
                <a:ext uri="{FF2B5EF4-FFF2-40B4-BE49-F238E27FC236}">
                  <a16:creationId xmlns:a16="http://schemas.microsoft.com/office/drawing/2014/main" id="{1FAB49B4-09A4-C89D-136C-1D1DC9C89FB4}"/>
                </a:ext>
              </a:extLst>
            </p:cNvPr>
            <p:cNvSpPr>
              <a:spLocks noChangeArrowheads="1"/>
            </p:cNvSpPr>
            <p:nvPr/>
          </p:nvSpPr>
          <p:spPr bwMode="auto">
            <a:xfrm>
              <a:off x="3850917"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30" name="直線コネクタ 129">
              <a:extLst>
                <a:ext uri="{FF2B5EF4-FFF2-40B4-BE49-F238E27FC236}">
                  <a16:creationId xmlns:a16="http://schemas.microsoft.com/office/drawing/2014/main" id="{673B1C82-7542-15F1-0733-33BEFC132DF1}"/>
                </a:ext>
              </a:extLst>
            </p:cNvPr>
            <p:cNvCxnSpPr>
              <a:cxnSpLocks/>
            </p:cNvCxnSpPr>
            <p:nvPr/>
          </p:nvCxnSpPr>
          <p:spPr>
            <a:xfrm flipH="1">
              <a:off x="3491988"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131" name="グループ化 152">
              <a:extLst>
                <a:ext uri="{FF2B5EF4-FFF2-40B4-BE49-F238E27FC236}">
                  <a16:creationId xmlns:a16="http://schemas.microsoft.com/office/drawing/2014/main" id="{CAFF5ED6-EF28-24DA-CAAC-6952564262B0}"/>
                </a:ext>
              </a:extLst>
            </p:cNvPr>
            <p:cNvGrpSpPr/>
            <p:nvPr/>
          </p:nvGrpSpPr>
          <p:grpSpPr>
            <a:xfrm>
              <a:off x="1961971" y="4599013"/>
              <a:ext cx="180002" cy="90001"/>
              <a:chOff x="3643306" y="4500570"/>
              <a:chExt cx="428628" cy="144464"/>
            </a:xfrm>
          </p:grpSpPr>
          <p:cxnSp>
            <p:nvCxnSpPr>
              <p:cNvPr id="136" name="直線コネクタ 135">
                <a:extLst>
                  <a:ext uri="{FF2B5EF4-FFF2-40B4-BE49-F238E27FC236}">
                    <a16:creationId xmlns:a16="http://schemas.microsoft.com/office/drawing/2014/main" id="{CB8C67DE-0CA3-D6C2-7C26-58C915E952F1}"/>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37" name="直線コネクタ 136">
                <a:extLst>
                  <a:ext uri="{FF2B5EF4-FFF2-40B4-BE49-F238E27FC236}">
                    <a16:creationId xmlns:a16="http://schemas.microsoft.com/office/drawing/2014/main" id="{9E118613-628E-0FB8-C2F6-8BBA1AEAEDFB}"/>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38" name="直線コネクタ 137">
                <a:extLst>
                  <a:ext uri="{FF2B5EF4-FFF2-40B4-BE49-F238E27FC236}">
                    <a16:creationId xmlns:a16="http://schemas.microsoft.com/office/drawing/2014/main" id="{04B7B6FD-F31A-E2DB-7F6F-1848FA0969D4}"/>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132" name="直線コネクタ 131">
              <a:extLst>
                <a:ext uri="{FF2B5EF4-FFF2-40B4-BE49-F238E27FC236}">
                  <a16:creationId xmlns:a16="http://schemas.microsoft.com/office/drawing/2014/main" id="{E26F5A49-BC52-20B9-A390-D7738576DE90}"/>
                </a:ext>
              </a:extLst>
            </p:cNvPr>
            <p:cNvCxnSpPr>
              <a:cxnSpLocks/>
            </p:cNvCxnSpPr>
            <p:nvPr/>
          </p:nvCxnSpPr>
          <p:spPr>
            <a:xfrm flipH="1">
              <a:off x="2051972" y="4149008"/>
              <a:ext cx="450543"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33" name="直線コネクタ 132">
              <a:extLst>
                <a:ext uri="{FF2B5EF4-FFF2-40B4-BE49-F238E27FC236}">
                  <a16:creationId xmlns:a16="http://schemas.microsoft.com/office/drawing/2014/main" id="{E5EB6F29-C42A-9D3F-1CD2-F0B5CCA420EC}"/>
                </a:ext>
              </a:extLst>
            </p:cNvPr>
            <p:cNvCxnSpPr>
              <a:cxnSpLocks/>
            </p:cNvCxnSpPr>
            <p:nvPr/>
          </p:nvCxnSpPr>
          <p:spPr>
            <a:xfrm flipV="1">
              <a:off x="2051972" y="414900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34" name="直線コネクタ 133">
              <a:extLst>
                <a:ext uri="{FF2B5EF4-FFF2-40B4-BE49-F238E27FC236}">
                  <a16:creationId xmlns:a16="http://schemas.microsoft.com/office/drawing/2014/main" id="{DCC2A513-F729-CB68-E078-F3332360153D}"/>
                </a:ext>
              </a:extLst>
            </p:cNvPr>
            <p:cNvCxnSpPr>
              <a:cxnSpLocks/>
            </p:cNvCxnSpPr>
            <p:nvPr/>
          </p:nvCxnSpPr>
          <p:spPr>
            <a:xfrm flipH="1">
              <a:off x="3491988"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35" name="Rectangle 93">
              <a:extLst>
                <a:ext uri="{FF2B5EF4-FFF2-40B4-BE49-F238E27FC236}">
                  <a16:creationId xmlns:a16="http://schemas.microsoft.com/office/drawing/2014/main" id="{C30564BC-6651-2ABF-9988-E2887F2DD06E}"/>
                </a:ext>
              </a:extLst>
            </p:cNvPr>
            <p:cNvSpPr>
              <a:spLocks noChangeArrowheads="1"/>
            </p:cNvSpPr>
            <p:nvPr/>
          </p:nvSpPr>
          <p:spPr bwMode="auto">
            <a:xfrm>
              <a:off x="1781969" y="468901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grpSp>
      <p:grpSp>
        <p:nvGrpSpPr>
          <p:cNvPr id="146" name="グループ化 145">
            <a:extLst>
              <a:ext uri="{FF2B5EF4-FFF2-40B4-BE49-F238E27FC236}">
                <a16:creationId xmlns:a16="http://schemas.microsoft.com/office/drawing/2014/main" id="{CC7E6CA6-8853-4314-3378-98E0F01BE79C}"/>
              </a:ext>
            </a:extLst>
          </p:cNvPr>
          <p:cNvGrpSpPr/>
          <p:nvPr/>
        </p:nvGrpSpPr>
        <p:grpSpPr>
          <a:xfrm>
            <a:off x="4121995" y="4778657"/>
            <a:ext cx="1531092" cy="1440374"/>
            <a:chOff x="5202007" y="3068996"/>
            <a:chExt cx="1531092" cy="1440374"/>
          </a:xfrm>
        </p:grpSpPr>
        <p:sp>
          <p:nvSpPr>
            <p:cNvPr id="147" name="正方形/長方形 146">
              <a:extLst>
                <a:ext uri="{FF2B5EF4-FFF2-40B4-BE49-F238E27FC236}">
                  <a16:creationId xmlns:a16="http://schemas.microsoft.com/office/drawing/2014/main" id="{4E141899-E225-2F4B-BB52-1360445FC643}"/>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48" name="円/楕円 69">
              <a:extLst>
                <a:ext uri="{FF2B5EF4-FFF2-40B4-BE49-F238E27FC236}">
                  <a16:creationId xmlns:a16="http://schemas.microsoft.com/office/drawing/2014/main" id="{600D3A32-988A-0F3E-B57E-7F14969C8DA6}"/>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49" name="直線コネクタ 148">
              <a:extLst>
                <a:ext uri="{FF2B5EF4-FFF2-40B4-BE49-F238E27FC236}">
                  <a16:creationId xmlns:a16="http://schemas.microsoft.com/office/drawing/2014/main" id="{CE2635B5-3C68-61FC-1474-92F269FC3020}"/>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50" name="直線コネクタ 149">
              <a:extLst>
                <a:ext uri="{FF2B5EF4-FFF2-40B4-BE49-F238E27FC236}">
                  <a16:creationId xmlns:a16="http://schemas.microsoft.com/office/drawing/2014/main" id="{461B59BC-5267-04AE-65DD-D54C828225E7}"/>
                </a:ext>
              </a:extLst>
            </p:cNvPr>
            <p:cNvCxnSpPr>
              <a:cxnSpLocks/>
              <a:endCxn id="151" idx="4"/>
            </p:cNvCxnSpPr>
            <p:nvPr/>
          </p:nvCxnSpPr>
          <p:spPr>
            <a:xfrm>
              <a:off x="5832014"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51" name="円/楕円 68">
              <a:extLst>
                <a:ext uri="{FF2B5EF4-FFF2-40B4-BE49-F238E27FC236}">
                  <a16:creationId xmlns:a16="http://schemas.microsoft.com/office/drawing/2014/main" id="{892EA8D7-F12B-814F-C2D8-F9ECECA97AE3}"/>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52" name="直線コネクタ 151">
              <a:extLst>
                <a:ext uri="{FF2B5EF4-FFF2-40B4-BE49-F238E27FC236}">
                  <a16:creationId xmlns:a16="http://schemas.microsoft.com/office/drawing/2014/main" id="{EE864F98-A751-C916-E4FA-1B6797C1CBCE}"/>
                </a:ext>
              </a:extLst>
            </p:cNvPr>
            <p:cNvCxnSpPr>
              <a:cxnSpLocks/>
              <a:endCxn id="148"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53" name="直線コネクタ 152">
              <a:extLst>
                <a:ext uri="{FF2B5EF4-FFF2-40B4-BE49-F238E27FC236}">
                  <a16:creationId xmlns:a16="http://schemas.microsoft.com/office/drawing/2014/main" id="{B51911EE-FA5E-A938-56AF-98831150360D}"/>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54" name="Rectangle 93">
              <a:extLst>
                <a:ext uri="{FF2B5EF4-FFF2-40B4-BE49-F238E27FC236}">
                  <a16:creationId xmlns:a16="http://schemas.microsoft.com/office/drawing/2014/main" id="{968C3A1F-78A6-B791-C230-0A8C635D9363}"/>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55" name="Rectangle 93">
              <a:extLst>
                <a:ext uri="{FF2B5EF4-FFF2-40B4-BE49-F238E27FC236}">
                  <a16:creationId xmlns:a16="http://schemas.microsoft.com/office/drawing/2014/main" id="{403DC8B5-C085-9A7C-0330-5339B267438E}"/>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56" name="Rectangle 93">
              <a:extLst>
                <a:ext uri="{FF2B5EF4-FFF2-40B4-BE49-F238E27FC236}">
                  <a16:creationId xmlns:a16="http://schemas.microsoft.com/office/drawing/2014/main" id="{5360BB60-B906-FA1B-183B-2A4B54C0AD9E}"/>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57" name="直線コネクタ 156">
              <a:extLst>
                <a:ext uri="{FF2B5EF4-FFF2-40B4-BE49-F238E27FC236}">
                  <a16:creationId xmlns:a16="http://schemas.microsoft.com/office/drawing/2014/main" id="{695B64A2-A5CE-BCC1-CAAB-72B4CC6F06C1}"/>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58" name="直線コネクタ 157">
              <a:extLst>
                <a:ext uri="{FF2B5EF4-FFF2-40B4-BE49-F238E27FC236}">
                  <a16:creationId xmlns:a16="http://schemas.microsoft.com/office/drawing/2014/main" id="{43CB5E89-514F-B514-F32A-47303D78FE38}"/>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graphicFrame>
        <p:nvGraphicFramePr>
          <p:cNvPr id="159" name="Group 383">
            <a:extLst>
              <a:ext uri="{FF2B5EF4-FFF2-40B4-BE49-F238E27FC236}">
                <a16:creationId xmlns:a16="http://schemas.microsoft.com/office/drawing/2014/main" id="{3BD41258-3AD6-AE2B-A55C-196DF3A20A86}"/>
              </a:ext>
            </a:extLst>
          </p:cNvPr>
          <p:cNvGraphicFramePr>
            <a:graphicFrameLocks/>
          </p:cNvGraphicFramePr>
          <p:nvPr>
            <p:extLst>
              <p:ext uri="{D42A27DB-BD31-4B8C-83A1-F6EECF244321}">
                <p14:modId xmlns:p14="http://schemas.microsoft.com/office/powerpoint/2010/main" val="3926343264"/>
              </p:ext>
            </p:extLst>
          </p:nvPr>
        </p:nvGraphicFramePr>
        <p:xfrm>
          <a:off x="6732024" y="4868658"/>
          <a:ext cx="1080012" cy="1243014"/>
        </p:xfrm>
        <a:graphic>
          <a:graphicData uri="http://schemas.openxmlformats.org/drawingml/2006/table">
            <a:tbl>
              <a:tblPr/>
              <a:tblGrid>
                <a:gridCol w="360004">
                  <a:extLst>
                    <a:ext uri="{9D8B030D-6E8A-4147-A177-3AD203B41FA5}">
                      <a16:colId xmlns:a16="http://schemas.microsoft.com/office/drawing/2014/main" val="20000"/>
                    </a:ext>
                  </a:extLst>
                </a:gridCol>
                <a:gridCol w="720008">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G</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D~S</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OFF</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mn-ea"/>
                          <a:ea typeface="+mn-ea"/>
                        </a:rPr>
                        <a:t>ON</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grpSp>
        <p:nvGrpSpPr>
          <p:cNvPr id="175" name="グループ化 174">
            <a:extLst>
              <a:ext uri="{FF2B5EF4-FFF2-40B4-BE49-F238E27FC236}">
                <a16:creationId xmlns:a16="http://schemas.microsoft.com/office/drawing/2014/main" id="{70E40F74-A137-0E69-570D-7FB66CC234E0}"/>
              </a:ext>
            </a:extLst>
          </p:cNvPr>
          <p:cNvGrpSpPr/>
          <p:nvPr/>
        </p:nvGrpSpPr>
        <p:grpSpPr>
          <a:xfrm>
            <a:off x="4121995" y="2708992"/>
            <a:ext cx="1531092" cy="1440374"/>
            <a:chOff x="5202007" y="2708992"/>
            <a:chExt cx="1531092" cy="1440374"/>
          </a:xfrm>
        </p:grpSpPr>
        <p:grpSp>
          <p:nvGrpSpPr>
            <p:cNvPr id="176" name="グループ化 175">
              <a:extLst>
                <a:ext uri="{FF2B5EF4-FFF2-40B4-BE49-F238E27FC236}">
                  <a16:creationId xmlns:a16="http://schemas.microsoft.com/office/drawing/2014/main" id="{25127F68-3A4B-1C6C-EA2A-A159460C85B4}"/>
                </a:ext>
              </a:extLst>
            </p:cNvPr>
            <p:cNvGrpSpPr/>
            <p:nvPr/>
          </p:nvGrpSpPr>
          <p:grpSpPr>
            <a:xfrm>
              <a:off x="5202007" y="2708992"/>
              <a:ext cx="1531092" cy="1440374"/>
              <a:chOff x="5202007" y="3068996"/>
              <a:chExt cx="1531092" cy="1440374"/>
            </a:xfrm>
          </p:grpSpPr>
          <p:sp>
            <p:nvSpPr>
              <p:cNvPr id="178" name="正方形/長方形 177">
                <a:extLst>
                  <a:ext uri="{FF2B5EF4-FFF2-40B4-BE49-F238E27FC236}">
                    <a16:creationId xmlns:a16="http://schemas.microsoft.com/office/drawing/2014/main" id="{EA594EAD-5526-6353-16E7-05B5B15EE2F4}"/>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79" name="円/楕円 69">
                <a:extLst>
                  <a:ext uri="{FF2B5EF4-FFF2-40B4-BE49-F238E27FC236}">
                    <a16:creationId xmlns:a16="http://schemas.microsoft.com/office/drawing/2014/main" id="{6632A975-1F0D-3173-E21D-F16656F0ABE0}"/>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80" name="直線コネクタ 179">
                <a:extLst>
                  <a:ext uri="{FF2B5EF4-FFF2-40B4-BE49-F238E27FC236}">
                    <a16:creationId xmlns:a16="http://schemas.microsoft.com/office/drawing/2014/main" id="{FD66C0F4-C538-3A88-7989-57162868230D}"/>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1" name="直線コネクタ 180">
                <a:extLst>
                  <a:ext uri="{FF2B5EF4-FFF2-40B4-BE49-F238E27FC236}">
                    <a16:creationId xmlns:a16="http://schemas.microsoft.com/office/drawing/2014/main" id="{BF816A18-3A3C-2030-6775-B5AA2219837C}"/>
                  </a:ext>
                </a:extLst>
              </p:cNvPr>
              <p:cNvCxnSpPr>
                <a:cxnSpLocks/>
                <a:endCxn id="182" idx="4"/>
              </p:cNvCxnSpPr>
              <p:nvPr/>
            </p:nvCxnSpPr>
            <p:spPr>
              <a:xfrm>
                <a:off x="5832014" y="3609002"/>
                <a:ext cx="133734"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82" name="円/楕円 68">
                <a:extLst>
                  <a:ext uri="{FF2B5EF4-FFF2-40B4-BE49-F238E27FC236}">
                    <a16:creationId xmlns:a16="http://schemas.microsoft.com/office/drawing/2014/main" id="{615B6818-7118-EDBC-4337-C67527E8B7D5}"/>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83" name="直線コネクタ 182">
                <a:extLst>
                  <a:ext uri="{FF2B5EF4-FFF2-40B4-BE49-F238E27FC236}">
                    <a16:creationId xmlns:a16="http://schemas.microsoft.com/office/drawing/2014/main" id="{F1945EFE-97E5-14E9-2D0F-0D13BED3808B}"/>
                  </a:ext>
                </a:extLst>
              </p:cNvPr>
              <p:cNvCxnSpPr>
                <a:cxnSpLocks/>
                <a:endCxn id="179"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4" name="直線コネクタ 183">
                <a:extLst>
                  <a:ext uri="{FF2B5EF4-FFF2-40B4-BE49-F238E27FC236}">
                    <a16:creationId xmlns:a16="http://schemas.microsoft.com/office/drawing/2014/main" id="{CEFFAFF0-1C6A-28BE-B3DE-2F37A31A7CB2}"/>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85" name="Rectangle 93">
                <a:extLst>
                  <a:ext uri="{FF2B5EF4-FFF2-40B4-BE49-F238E27FC236}">
                    <a16:creationId xmlns:a16="http://schemas.microsoft.com/office/drawing/2014/main" id="{060D4439-6FE8-B7F7-9DF7-4E07F2B863E6}"/>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86" name="Rectangle 93">
                <a:extLst>
                  <a:ext uri="{FF2B5EF4-FFF2-40B4-BE49-F238E27FC236}">
                    <a16:creationId xmlns:a16="http://schemas.microsoft.com/office/drawing/2014/main" id="{C8515DAB-204D-4E18-CF55-7FF64866A0D1}"/>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187" name="Rectangle 93">
                <a:extLst>
                  <a:ext uri="{FF2B5EF4-FFF2-40B4-BE49-F238E27FC236}">
                    <a16:creationId xmlns:a16="http://schemas.microsoft.com/office/drawing/2014/main" id="{6CB5095F-9128-D168-D265-4303A0A655B1}"/>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188" name="直線コネクタ 187">
                <a:extLst>
                  <a:ext uri="{FF2B5EF4-FFF2-40B4-BE49-F238E27FC236}">
                    <a16:creationId xmlns:a16="http://schemas.microsoft.com/office/drawing/2014/main" id="{C3B4EDD0-4053-094E-B220-08E20325C3FC}"/>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9" name="直線コネクタ 188">
                <a:extLst>
                  <a:ext uri="{FF2B5EF4-FFF2-40B4-BE49-F238E27FC236}">
                    <a16:creationId xmlns:a16="http://schemas.microsoft.com/office/drawing/2014/main" id="{FED498CA-3F54-E241-EFB7-C94611F43662}"/>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177" name="円/楕円 69">
              <a:extLst>
                <a:ext uri="{FF2B5EF4-FFF2-40B4-BE49-F238E27FC236}">
                  <a16:creationId xmlns:a16="http://schemas.microsoft.com/office/drawing/2014/main" id="{2F9912FF-6F8E-5ADF-1E3F-A62C806B051F}"/>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spTree>
    <p:extLst>
      <p:ext uri="{BB962C8B-B14F-4D97-AF65-F5344CB8AC3E}">
        <p14:creationId xmlns:p14="http://schemas.microsoft.com/office/powerpoint/2010/main" val="5791419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8812E4A-FE2E-5220-C4AC-78FF3A4EB4A3}"/>
              </a:ext>
            </a:extLst>
          </p:cNvPr>
          <p:cNvSpPr>
            <a:spLocks noGrp="1"/>
          </p:cNvSpPr>
          <p:nvPr>
            <p:ph type="title"/>
          </p:nvPr>
        </p:nvSpPr>
        <p:spPr/>
        <p:txBody>
          <a:bodyPr/>
          <a:lstStyle/>
          <a:p>
            <a:r>
              <a:rPr lang="en-US" altLang="ja-JP" dirty="0"/>
              <a:t>P </a:t>
            </a:r>
            <a:r>
              <a:rPr lang="ja-JP" altLang="en-US" dirty="0"/>
              <a:t>と </a:t>
            </a:r>
            <a:r>
              <a:rPr lang="en-US" altLang="ja-JP" dirty="0"/>
              <a:t>N </a:t>
            </a:r>
            <a:r>
              <a:rPr lang="ja-JP" altLang="en-US" dirty="0"/>
              <a:t>が，どっちかどっちだかわからない？</a:t>
            </a:r>
            <a:endParaRPr lang="en-US" altLang="ja-JP" dirty="0"/>
          </a:p>
        </p:txBody>
      </p:sp>
      <p:sp>
        <p:nvSpPr>
          <p:cNvPr id="74" name="コンテンツ プレースホルダー 73">
            <a:extLst>
              <a:ext uri="{FF2B5EF4-FFF2-40B4-BE49-F238E27FC236}">
                <a16:creationId xmlns:a16="http://schemas.microsoft.com/office/drawing/2014/main" id="{13AE580E-0DE3-8C22-2E92-7F7074A83ACE}"/>
              </a:ext>
            </a:extLst>
          </p:cNvPr>
          <p:cNvSpPr>
            <a:spLocks noGrp="1"/>
          </p:cNvSpPr>
          <p:nvPr>
            <p:ph sz="quarter" idx="10"/>
          </p:nvPr>
        </p:nvSpPr>
        <p:spPr>
          <a:xfrm>
            <a:off x="611956" y="1088973"/>
            <a:ext cx="8280092" cy="990011"/>
          </a:xfrm>
        </p:spPr>
        <p:txBody>
          <a:bodyPr anchor="t"/>
          <a:lstStyle/>
          <a:p>
            <a:r>
              <a:rPr lang="ja-JP" altLang="en-US" dirty="0"/>
              <a:t>論理回路では白丸は反転を表す</a:t>
            </a:r>
            <a:endParaRPr lang="en-US" altLang="ja-JP" dirty="0"/>
          </a:p>
          <a:p>
            <a:pPr lvl="1"/>
            <a:r>
              <a:rPr lang="ja-JP" altLang="en-US" dirty="0"/>
              <a:t>白丸なしの </a:t>
            </a:r>
            <a:r>
              <a:rPr lang="en-US" altLang="ja-JP" dirty="0"/>
              <a:t>N</a:t>
            </a:r>
            <a:r>
              <a:rPr lang="ja-JP" altLang="en-US" dirty="0"/>
              <a:t>型は１で </a:t>
            </a:r>
            <a:r>
              <a:rPr lang="en-US" altLang="ja-JP" dirty="0"/>
              <a:t>ON </a:t>
            </a:r>
            <a:r>
              <a:rPr lang="ja-JP" altLang="en-US" dirty="0"/>
              <a:t>，０で </a:t>
            </a:r>
            <a:r>
              <a:rPr lang="en-US" altLang="ja-JP" dirty="0"/>
              <a:t>OFF</a:t>
            </a:r>
          </a:p>
          <a:p>
            <a:pPr lvl="1"/>
            <a:r>
              <a:rPr lang="ja-JP" altLang="en-US" dirty="0"/>
              <a:t>白丸があったらそこで反転するので </a:t>
            </a:r>
            <a:r>
              <a:rPr lang="en-US" altLang="ja-JP" dirty="0"/>
              <a:t>0 </a:t>
            </a:r>
            <a:r>
              <a:rPr lang="ja-JP" altLang="en-US" dirty="0"/>
              <a:t>で </a:t>
            </a:r>
            <a:r>
              <a:rPr lang="en-US" altLang="ja-JP" dirty="0"/>
              <a:t>ON </a:t>
            </a:r>
            <a:br>
              <a:rPr lang="en-US" altLang="ja-JP" dirty="0"/>
            </a:br>
            <a:r>
              <a:rPr lang="ja-JP" altLang="en-US" dirty="0"/>
              <a:t>･･･と憶えると良いかもしれない</a:t>
            </a:r>
            <a:endParaRPr lang="en-US" dirty="0"/>
          </a:p>
        </p:txBody>
      </p:sp>
      <p:graphicFrame>
        <p:nvGraphicFramePr>
          <p:cNvPr id="88" name="Group 383">
            <a:extLst>
              <a:ext uri="{FF2B5EF4-FFF2-40B4-BE49-F238E27FC236}">
                <a16:creationId xmlns:a16="http://schemas.microsoft.com/office/drawing/2014/main" id="{98F62C4B-867C-9B2A-4C5B-F68DF987ED12}"/>
              </a:ext>
            </a:extLst>
          </p:cNvPr>
          <p:cNvGraphicFramePr>
            <a:graphicFrameLocks/>
          </p:cNvGraphicFramePr>
          <p:nvPr>
            <p:extLst>
              <p:ext uri="{D42A27DB-BD31-4B8C-83A1-F6EECF244321}">
                <p14:modId xmlns:p14="http://schemas.microsoft.com/office/powerpoint/2010/main" val="3557692018"/>
              </p:ext>
            </p:extLst>
          </p:nvPr>
        </p:nvGraphicFramePr>
        <p:xfrm>
          <a:off x="5112006" y="3068996"/>
          <a:ext cx="1080012" cy="1243014"/>
        </p:xfrm>
        <a:graphic>
          <a:graphicData uri="http://schemas.openxmlformats.org/drawingml/2006/table">
            <a:tbl>
              <a:tblPr/>
              <a:tblGrid>
                <a:gridCol w="360004">
                  <a:extLst>
                    <a:ext uri="{9D8B030D-6E8A-4147-A177-3AD203B41FA5}">
                      <a16:colId xmlns:a16="http://schemas.microsoft.com/office/drawing/2014/main" val="20000"/>
                    </a:ext>
                  </a:extLst>
                </a:gridCol>
                <a:gridCol w="720008">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G</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D~S</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ON</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OFF</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grpSp>
        <p:nvGrpSpPr>
          <p:cNvPr id="146" name="グループ化 145">
            <a:extLst>
              <a:ext uri="{FF2B5EF4-FFF2-40B4-BE49-F238E27FC236}">
                <a16:creationId xmlns:a16="http://schemas.microsoft.com/office/drawing/2014/main" id="{CC7E6CA6-8853-4314-3378-98E0F01BE79C}"/>
              </a:ext>
            </a:extLst>
          </p:cNvPr>
          <p:cNvGrpSpPr/>
          <p:nvPr/>
        </p:nvGrpSpPr>
        <p:grpSpPr>
          <a:xfrm>
            <a:off x="2501977" y="5049018"/>
            <a:ext cx="1531092" cy="1440374"/>
            <a:chOff x="5202007" y="3068996"/>
            <a:chExt cx="1531092" cy="1440374"/>
          </a:xfrm>
        </p:grpSpPr>
        <p:sp>
          <p:nvSpPr>
            <p:cNvPr id="147" name="正方形/長方形 146">
              <a:extLst>
                <a:ext uri="{FF2B5EF4-FFF2-40B4-BE49-F238E27FC236}">
                  <a16:creationId xmlns:a16="http://schemas.microsoft.com/office/drawing/2014/main" id="{4E141899-E225-2F4B-BB52-1360445FC643}"/>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48" name="円/楕円 69">
              <a:extLst>
                <a:ext uri="{FF2B5EF4-FFF2-40B4-BE49-F238E27FC236}">
                  <a16:creationId xmlns:a16="http://schemas.microsoft.com/office/drawing/2014/main" id="{600D3A32-988A-0F3E-B57E-7F14969C8DA6}"/>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49" name="直線コネクタ 148">
              <a:extLst>
                <a:ext uri="{FF2B5EF4-FFF2-40B4-BE49-F238E27FC236}">
                  <a16:creationId xmlns:a16="http://schemas.microsoft.com/office/drawing/2014/main" id="{CE2635B5-3C68-61FC-1474-92F269FC3020}"/>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50" name="直線コネクタ 149">
              <a:extLst>
                <a:ext uri="{FF2B5EF4-FFF2-40B4-BE49-F238E27FC236}">
                  <a16:creationId xmlns:a16="http://schemas.microsoft.com/office/drawing/2014/main" id="{461B59BC-5267-04AE-65DD-D54C828225E7}"/>
                </a:ext>
              </a:extLst>
            </p:cNvPr>
            <p:cNvCxnSpPr>
              <a:cxnSpLocks/>
              <a:endCxn id="151" idx="4"/>
            </p:cNvCxnSpPr>
            <p:nvPr/>
          </p:nvCxnSpPr>
          <p:spPr>
            <a:xfrm>
              <a:off x="5832014"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51" name="円/楕円 68">
              <a:extLst>
                <a:ext uri="{FF2B5EF4-FFF2-40B4-BE49-F238E27FC236}">
                  <a16:creationId xmlns:a16="http://schemas.microsoft.com/office/drawing/2014/main" id="{892EA8D7-F12B-814F-C2D8-F9ECECA97AE3}"/>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52" name="直線コネクタ 151">
              <a:extLst>
                <a:ext uri="{FF2B5EF4-FFF2-40B4-BE49-F238E27FC236}">
                  <a16:creationId xmlns:a16="http://schemas.microsoft.com/office/drawing/2014/main" id="{EE864F98-A751-C916-E4FA-1B6797C1CBCE}"/>
                </a:ext>
              </a:extLst>
            </p:cNvPr>
            <p:cNvCxnSpPr>
              <a:cxnSpLocks/>
              <a:endCxn id="148"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53" name="直線コネクタ 152">
              <a:extLst>
                <a:ext uri="{FF2B5EF4-FFF2-40B4-BE49-F238E27FC236}">
                  <a16:creationId xmlns:a16="http://schemas.microsoft.com/office/drawing/2014/main" id="{B51911EE-FA5E-A938-56AF-98831150360D}"/>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54" name="Rectangle 93">
              <a:extLst>
                <a:ext uri="{FF2B5EF4-FFF2-40B4-BE49-F238E27FC236}">
                  <a16:creationId xmlns:a16="http://schemas.microsoft.com/office/drawing/2014/main" id="{968C3A1F-78A6-B791-C230-0A8C635D9363}"/>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55" name="Rectangle 93">
              <a:extLst>
                <a:ext uri="{FF2B5EF4-FFF2-40B4-BE49-F238E27FC236}">
                  <a16:creationId xmlns:a16="http://schemas.microsoft.com/office/drawing/2014/main" id="{403DC8B5-C085-9A7C-0330-5339B267438E}"/>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56" name="Rectangle 93">
              <a:extLst>
                <a:ext uri="{FF2B5EF4-FFF2-40B4-BE49-F238E27FC236}">
                  <a16:creationId xmlns:a16="http://schemas.microsoft.com/office/drawing/2014/main" id="{5360BB60-B906-FA1B-183B-2A4B54C0AD9E}"/>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57" name="直線コネクタ 156">
              <a:extLst>
                <a:ext uri="{FF2B5EF4-FFF2-40B4-BE49-F238E27FC236}">
                  <a16:creationId xmlns:a16="http://schemas.microsoft.com/office/drawing/2014/main" id="{695B64A2-A5CE-BCC1-CAAB-72B4CC6F06C1}"/>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58" name="直線コネクタ 157">
              <a:extLst>
                <a:ext uri="{FF2B5EF4-FFF2-40B4-BE49-F238E27FC236}">
                  <a16:creationId xmlns:a16="http://schemas.microsoft.com/office/drawing/2014/main" id="{43CB5E89-514F-B514-F32A-47303D78FE38}"/>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graphicFrame>
        <p:nvGraphicFramePr>
          <p:cNvPr id="159" name="Group 383">
            <a:extLst>
              <a:ext uri="{FF2B5EF4-FFF2-40B4-BE49-F238E27FC236}">
                <a16:creationId xmlns:a16="http://schemas.microsoft.com/office/drawing/2014/main" id="{3BD41258-3AD6-AE2B-A55C-196DF3A20A86}"/>
              </a:ext>
            </a:extLst>
          </p:cNvPr>
          <p:cNvGraphicFramePr>
            <a:graphicFrameLocks/>
          </p:cNvGraphicFramePr>
          <p:nvPr>
            <p:extLst>
              <p:ext uri="{D42A27DB-BD31-4B8C-83A1-F6EECF244321}">
                <p14:modId xmlns:p14="http://schemas.microsoft.com/office/powerpoint/2010/main" val="273878604"/>
              </p:ext>
            </p:extLst>
          </p:nvPr>
        </p:nvGraphicFramePr>
        <p:xfrm>
          <a:off x="5112006" y="5139019"/>
          <a:ext cx="1080012" cy="1243014"/>
        </p:xfrm>
        <a:graphic>
          <a:graphicData uri="http://schemas.openxmlformats.org/drawingml/2006/table">
            <a:tbl>
              <a:tblPr/>
              <a:tblGrid>
                <a:gridCol w="360004">
                  <a:extLst>
                    <a:ext uri="{9D8B030D-6E8A-4147-A177-3AD203B41FA5}">
                      <a16:colId xmlns:a16="http://schemas.microsoft.com/office/drawing/2014/main" val="20000"/>
                    </a:ext>
                  </a:extLst>
                </a:gridCol>
                <a:gridCol w="720008">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G</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D~S</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OFF</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ON</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3" name="Rectangle 93">
            <a:extLst>
              <a:ext uri="{FF2B5EF4-FFF2-40B4-BE49-F238E27FC236}">
                <a16:creationId xmlns:a16="http://schemas.microsoft.com/office/drawing/2014/main" id="{C012B7A3-4143-89D2-A014-1C5C0DD2793A}"/>
              </a:ext>
            </a:extLst>
          </p:cNvPr>
          <p:cNvSpPr>
            <a:spLocks noChangeArrowheads="1"/>
          </p:cNvSpPr>
          <p:nvPr/>
        </p:nvSpPr>
        <p:spPr bwMode="auto">
          <a:xfrm>
            <a:off x="1601967" y="3519001"/>
            <a:ext cx="270003" cy="360362"/>
          </a:xfrm>
          <a:prstGeom prst="rect">
            <a:avLst/>
          </a:prstGeom>
          <a:noFill/>
          <a:ln w="12700" algn="ctr">
            <a:noFill/>
            <a:miter lim="800000"/>
            <a:headEnd/>
            <a:tailEnd/>
          </a:ln>
          <a:effectLst/>
        </p:spPr>
        <p:txBody>
          <a:bodyPr wrap="none" lIns="90000" tIns="46800" rIns="90000" bIns="46800" anchor="ctr"/>
          <a:lstStyle/>
          <a:p>
            <a:r>
              <a:rPr lang="en-US" altLang="ja-JP" b="0" i="0" dirty="0">
                <a:latin typeface="+mj-lt"/>
              </a:rPr>
              <a:t>P </a:t>
            </a:r>
            <a:r>
              <a:rPr lang="ja-JP" altLang="en-US" b="0" i="0" dirty="0">
                <a:latin typeface="+mj-lt"/>
              </a:rPr>
              <a:t>型</a:t>
            </a:r>
            <a:endParaRPr lang="en-US" altLang="ja-JP" dirty="0"/>
          </a:p>
        </p:txBody>
      </p:sp>
      <p:sp>
        <p:nvSpPr>
          <p:cNvPr id="4" name="Rectangle 93">
            <a:extLst>
              <a:ext uri="{FF2B5EF4-FFF2-40B4-BE49-F238E27FC236}">
                <a16:creationId xmlns:a16="http://schemas.microsoft.com/office/drawing/2014/main" id="{F4BFB046-7FCD-865D-761B-A18E37E560DF}"/>
              </a:ext>
            </a:extLst>
          </p:cNvPr>
          <p:cNvSpPr>
            <a:spLocks noChangeArrowheads="1"/>
          </p:cNvSpPr>
          <p:nvPr/>
        </p:nvSpPr>
        <p:spPr bwMode="auto">
          <a:xfrm>
            <a:off x="1601967" y="5679025"/>
            <a:ext cx="270003" cy="360362"/>
          </a:xfrm>
          <a:prstGeom prst="rect">
            <a:avLst/>
          </a:prstGeom>
          <a:noFill/>
          <a:ln w="12700" algn="ctr">
            <a:noFill/>
            <a:miter lim="800000"/>
            <a:headEnd/>
            <a:tailEnd/>
          </a:ln>
          <a:effectLst/>
        </p:spPr>
        <p:txBody>
          <a:bodyPr wrap="none" lIns="90000" tIns="46800" rIns="90000" bIns="46800" anchor="ctr"/>
          <a:lstStyle/>
          <a:p>
            <a:r>
              <a:rPr lang="en-US" altLang="ja-JP" b="0" i="0" dirty="0">
                <a:latin typeface="+mj-lt"/>
              </a:rPr>
              <a:t>N </a:t>
            </a:r>
            <a:r>
              <a:rPr lang="ja-JP" altLang="en-US" b="0" i="0" dirty="0">
                <a:latin typeface="+mj-lt"/>
              </a:rPr>
              <a:t>型</a:t>
            </a:r>
            <a:endParaRPr lang="en-US" altLang="ja-JP" dirty="0"/>
          </a:p>
        </p:txBody>
      </p:sp>
      <p:grpSp>
        <p:nvGrpSpPr>
          <p:cNvPr id="5" name="グループ化 4">
            <a:extLst>
              <a:ext uri="{FF2B5EF4-FFF2-40B4-BE49-F238E27FC236}">
                <a16:creationId xmlns:a16="http://schemas.microsoft.com/office/drawing/2014/main" id="{C7872D9C-0F93-A6B1-1398-616EEFD2856A}"/>
              </a:ext>
            </a:extLst>
          </p:cNvPr>
          <p:cNvGrpSpPr/>
          <p:nvPr/>
        </p:nvGrpSpPr>
        <p:grpSpPr>
          <a:xfrm>
            <a:off x="2501977" y="3068996"/>
            <a:ext cx="1531092" cy="1440374"/>
            <a:chOff x="5202007" y="2708992"/>
            <a:chExt cx="1531092" cy="1440374"/>
          </a:xfrm>
        </p:grpSpPr>
        <p:grpSp>
          <p:nvGrpSpPr>
            <p:cNvPr id="6" name="グループ化 5">
              <a:extLst>
                <a:ext uri="{FF2B5EF4-FFF2-40B4-BE49-F238E27FC236}">
                  <a16:creationId xmlns:a16="http://schemas.microsoft.com/office/drawing/2014/main" id="{90EB1ACE-EA0D-31A7-8E8A-71CD04B5FA9D}"/>
                </a:ext>
              </a:extLst>
            </p:cNvPr>
            <p:cNvGrpSpPr/>
            <p:nvPr/>
          </p:nvGrpSpPr>
          <p:grpSpPr>
            <a:xfrm>
              <a:off x="5202007" y="2708992"/>
              <a:ext cx="1531092" cy="1440374"/>
              <a:chOff x="5202007" y="3068996"/>
              <a:chExt cx="1531092" cy="1440374"/>
            </a:xfrm>
          </p:grpSpPr>
          <p:sp>
            <p:nvSpPr>
              <p:cNvPr id="8" name="正方形/長方形 7">
                <a:extLst>
                  <a:ext uri="{FF2B5EF4-FFF2-40B4-BE49-F238E27FC236}">
                    <a16:creationId xmlns:a16="http://schemas.microsoft.com/office/drawing/2014/main" id="{C36F5242-5F1D-C983-A2A8-939C17ED9B3F}"/>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9" name="円/楕円 69">
                <a:extLst>
                  <a:ext uri="{FF2B5EF4-FFF2-40B4-BE49-F238E27FC236}">
                    <a16:creationId xmlns:a16="http://schemas.microsoft.com/office/drawing/2014/main" id="{8344B2EE-2AAE-B9AC-BADC-7D9C851630DA}"/>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0" name="直線コネクタ 9">
                <a:extLst>
                  <a:ext uri="{FF2B5EF4-FFF2-40B4-BE49-F238E27FC236}">
                    <a16:creationId xmlns:a16="http://schemas.microsoft.com/office/drawing/2014/main" id="{92B6BB9F-E5C1-6506-6797-180D4A44B059}"/>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6808941D-DB09-DF9D-B496-05A373DC0A90}"/>
                  </a:ext>
                </a:extLst>
              </p:cNvPr>
              <p:cNvCxnSpPr>
                <a:cxnSpLocks/>
                <a:endCxn id="12" idx="4"/>
              </p:cNvCxnSpPr>
              <p:nvPr/>
            </p:nvCxnSpPr>
            <p:spPr>
              <a:xfrm>
                <a:off x="5832014" y="3609002"/>
                <a:ext cx="133734"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2" name="円/楕円 68">
                <a:extLst>
                  <a:ext uri="{FF2B5EF4-FFF2-40B4-BE49-F238E27FC236}">
                    <a16:creationId xmlns:a16="http://schemas.microsoft.com/office/drawing/2014/main" id="{FFEB6709-5234-C6AF-7E29-117F869C1BC5}"/>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3" name="直線コネクタ 12">
                <a:extLst>
                  <a:ext uri="{FF2B5EF4-FFF2-40B4-BE49-F238E27FC236}">
                    <a16:creationId xmlns:a16="http://schemas.microsoft.com/office/drawing/2014/main" id="{FC4B33E7-93F7-1F86-C52B-C520EC0F6AE9}"/>
                  </a:ext>
                </a:extLst>
              </p:cNvPr>
              <p:cNvCxnSpPr>
                <a:cxnSpLocks/>
                <a:endCxn id="9"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BB63FF0A-D2A0-0F0A-DB21-C79F3412E0E1}"/>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5" name="Rectangle 93">
                <a:extLst>
                  <a:ext uri="{FF2B5EF4-FFF2-40B4-BE49-F238E27FC236}">
                    <a16:creationId xmlns:a16="http://schemas.microsoft.com/office/drawing/2014/main" id="{0E548F21-DA52-ABF6-94AB-AD6FAE878E9D}"/>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6" name="Rectangle 93">
                <a:extLst>
                  <a:ext uri="{FF2B5EF4-FFF2-40B4-BE49-F238E27FC236}">
                    <a16:creationId xmlns:a16="http://schemas.microsoft.com/office/drawing/2014/main" id="{EA2B7287-707E-A2EA-777F-8EB64CEA0D01}"/>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17" name="Rectangle 93">
                <a:extLst>
                  <a:ext uri="{FF2B5EF4-FFF2-40B4-BE49-F238E27FC236}">
                    <a16:creationId xmlns:a16="http://schemas.microsoft.com/office/drawing/2014/main" id="{F7F9E823-95DA-25D5-6F81-8E2CBB44DF87}"/>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18" name="直線コネクタ 17">
                <a:extLst>
                  <a:ext uri="{FF2B5EF4-FFF2-40B4-BE49-F238E27FC236}">
                    <a16:creationId xmlns:a16="http://schemas.microsoft.com/office/drawing/2014/main" id="{71EB4DEE-C08C-F869-F1CD-4D22CB25D81B}"/>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9" name="直線コネクタ 18">
                <a:extLst>
                  <a:ext uri="{FF2B5EF4-FFF2-40B4-BE49-F238E27FC236}">
                    <a16:creationId xmlns:a16="http://schemas.microsoft.com/office/drawing/2014/main" id="{AC5CD8AB-8468-FF95-5DA1-5214A8CE8901}"/>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7" name="円/楕円 69">
              <a:extLst>
                <a:ext uri="{FF2B5EF4-FFF2-40B4-BE49-F238E27FC236}">
                  <a16:creationId xmlns:a16="http://schemas.microsoft.com/office/drawing/2014/main" id="{CA4A715B-A176-4511-73C9-00A50FDD7E98}"/>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spTree>
    <p:extLst>
      <p:ext uri="{BB962C8B-B14F-4D97-AF65-F5344CB8AC3E}">
        <p14:creationId xmlns:p14="http://schemas.microsoft.com/office/powerpoint/2010/main" val="8135889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95A63B8-65B7-A399-D319-FBFDEFB131C2}"/>
              </a:ext>
            </a:extLst>
          </p:cNvPr>
          <p:cNvSpPr>
            <a:spLocks noGrp="1"/>
          </p:cNvSpPr>
          <p:nvPr>
            <p:ph type="title"/>
          </p:nvPr>
        </p:nvSpPr>
        <p:spPr/>
        <p:txBody>
          <a:bodyPr/>
          <a:lstStyle/>
          <a:p>
            <a:r>
              <a:rPr kumimoji="1" lang="en-US" altLang="ja-JP" dirty="0"/>
              <a:t>NOT </a:t>
            </a:r>
            <a:r>
              <a:rPr kumimoji="1" lang="ja-JP" altLang="en-US" dirty="0"/>
              <a:t>ゲート</a:t>
            </a:r>
            <a:endParaRPr kumimoji="1" lang="en-US" dirty="0"/>
          </a:p>
        </p:txBody>
      </p:sp>
      <p:sp>
        <p:nvSpPr>
          <p:cNvPr id="3" name="コンテンツ プレースホルダー 2">
            <a:extLst>
              <a:ext uri="{FF2B5EF4-FFF2-40B4-BE49-F238E27FC236}">
                <a16:creationId xmlns:a16="http://schemas.microsoft.com/office/drawing/2014/main" id="{896B1366-8D7A-2F6B-E38A-902BB7AA69A2}"/>
              </a:ext>
            </a:extLst>
          </p:cNvPr>
          <p:cNvSpPr>
            <a:spLocks noGrp="1"/>
          </p:cNvSpPr>
          <p:nvPr>
            <p:ph sz="quarter" idx="10"/>
          </p:nvPr>
        </p:nvSpPr>
        <p:spPr>
          <a:xfrm>
            <a:off x="611956" y="1358977"/>
            <a:ext cx="8280092" cy="540006"/>
          </a:xfrm>
        </p:spPr>
        <p:txBody>
          <a:bodyPr/>
          <a:lstStyle/>
          <a:p>
            <a:r>
              <a:rPr kumimoji="1" lang="en-US" altLang="ja-JP" dirty="0"/>
              <a:t>P </a:t>
            </a:r>
            <a:r>
              <a:rPr kumimoji="1" lang="ja-JP" altLang="en-US" dirty="0"/>
              <a:t>型と </a:t>
            </a:r>
            <a:r>
              <a:rPr kumimoji="1" lang="en-US" altLang="ja-JP" dirty="0"/>
              <a:t>N </a:t>
            </a:r>
            <a:r>
              <a:rPr kumimoji="1" lang="ja-JP" altLang="en-US" dirty="0"/>
              <a:t>型を並べて右のように繋ぐと </a:t>
            </a:r>
            <a:r>
              <a:rPr kumimoji="1" lang="en-US" altLang="ja-JP" dirty="0"/>
              <a:t>NOT </a:t>
            </a:r>
            <a:r>
              <a:rPr kumimoji="1" lang="ja-JP" altLang="en-US" dirty="0"/>
              <a:t>ゲートができる</a:t>
            </a:r>
            <a:endParaRPr lang="en-US" dirty="0"/>
          </a:p>
        </p:txBody>
      </p:sp>
      <p:grpSp>
        <p:nvGrpSpPr>
          <p:cNvPr id="71" name="グループ化 70">
            <a:extLst>
              <a:ext uri="{FF2B5EF4-FFF2-40B4-BE49-F238E27FC236}">
                <a16:creationId xmlns:a16="http://schemas.microsoft.com/office/drawing/2014/main" id="{13D01704-AAE9-CD16-4719-7051308AB196}"/>
              </a:ext>
            </a:extLst>
          </p:cNvPr>
          <p:cNvGrpSpPr/>
          <p:nvPr/>
        </p:nvGrpSpPr>
        <p:grpSpPr>
          <a:xfrm>
            <a:off x="5202007" y="4329010"/>
            <a:ext cx="1531092" cy="1440374"/>
            <a:chOff x="5202007" y="3068996"/>
            <a:chExt cx="1531092" cy="1440374"/>
          </a:xfrm>
        </p:grpSpPr>
        <p:sp>
          <p:nvSpPr>
            <p:cNvPr id="73" name="正方形/長方形 72">
              <a:extLst>
                <a:ext uri="{FF2B5EF4-FFF2-40B4-BE49-F238E27FC236}">
                  <a16:creationId xmlns:a16="http://schemas.microsoft.com/office/drawing/2014/main" id="{EA18C221-C4DE-C0C4-7C81-9D2CB4F72F8A}"/>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74" name="円/楕円 69">
              <a:extLst>
                <a:ext uri="{FF2B5EF4-FFF2-40B4-BE49-F238E27FC236}">
                  <a16:creationId xmlns:a16="http://schemas.microsoft.com/office/drawing/2014/main" id="{4E686B30-962A-880E-A98F-02AB8EF5BD2A}"/>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75" name="直線コネクタ 74">
              <a:extLst>
                <a:ext uri="{FF2B5EF4-FFF2-40B4-BE49-F238E27FC236}">
                  <a16:creationId xmlns:a16="http://schemas.microsoft.com/office/drawing/2014/main" id="{47A9F7C8-9004-A920-1FBC-F17608599FE5}"/>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77" name="直線コネクタ 76">
              <a:extLst>
                <a:ext uri="{FF2B5EF4-FFF2-40B4-BE49-F238E27FC236}">
                  <a16:creationId xmlns:a16="http://schemas.microsoft.com/office/drawing/2014/main" id="{7E298F31-C91B-81F1-F941-73A4983BBA75}"/>
                </a:ext>
              </a:extLst>
            </p:cNvPr>
            <p:cNvCxnSpPr>
              <a:cxnSpLocks/>
              <a:endCxn id="149" idx="4"/>
            </p:cNvCxnSpPr>
            <p:nvPr/>
          </p:nvCxnSpPr>
          <p:spPr>
            <a:xfrm>
              <a:off x="5832014"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49" name="円/楕円 68">
              <a:extLst>
                <a:ext uri="{FF2B5EF4-FFF2-40B4-BE49-F238E27FC236}">
                  <a16:creationId xmlns:a16="http://schemas.microsoft.com/office/drawing/2014/main" id="{558CF1AE-6202-2001-2213-5F3CDC77FDA1}"/>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50" name="直線コネクタ 149">
              <a:extLst>
                <a:ext uri="{FF2B5EF4-FFF2-40B4-BE49-F238E27FC236}">
                  <a16:creationId xmlns:a16="http://schemas.microsoft.com/office/drawing/2014/main" id="{E36FF8AF-258B-8E49-267D-BFE100BB30B6}"/>
                </a:ext>
              </a:extLst>
            </p:cNvPr>
            <p:cNvCxnSpPr>
              <a:cxnSpLocks/>
              <a:endCxn id="74"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56" name="直線コネクタ 155">
              <a:extLst>
                <a:ext uri="{FF2B5EF4-FFF2-40B4-BE49-F238E27FC236}">
                  <a16:creationId xmlns:a16="http://schemas.microsoft.com/office/drawing/2014/main" id="{C7BF13BD-6123-9E3F-65C7-C5E96DCA7B09}"/>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57" name="Rectangle 93">
              <a:extLst>
                <a:ext uri="{FF2B5EF4-FFF2-40B4-BE49-F238E27FC236}">
                  <a16:creationId xmlns:a16="http://schemas.microsoft.com/office/drawing/2014/main" id="{B9DF31B6-787C-3AEC-662B-586C189B377D}"/>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58" name="Rectangle 93">
              <a:extLst>
                <a:ext uri="{FF2B5EF4-FFF2-40B4-BE49-F238E27FC236}">
                  <a16:creationId xmlns:a16="http://schemas.microsoft.com/office/drawing/2014/main" id="{D84A6B59-F541-53D8-B49E-49CD449E4065}"/>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59" name="Rectangle 93">
              <a:extLst>
                <a:ext uri="{FF2B5EF4-FFF2-40B4-BE49-F238E27FC236}">
                  <a16:creationId xmlns:a16="http://schemas.microsoft.com/office/drawing/2014/main" id="{C2ADC63A-6DEA-935C-3BFD-89651BFABD73}"/>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60" name="直線コネクタ 159">
              <a:extLst>
                <a:ext uri="{FF2B5EF4-FFF2-40B4-BE49-F238E27FC236}">
                  <a16:creationId xmlns:a16="http://schemas.microsoft.com/office/drawing/2014/main" id="{BA056C96-A326-6ABA-5796-6AFC78D804FB}"/>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61" name="直線コネクタ 160">
              <a:extLst>
                <a:ext uri="{FF2B5EF4-FFF2-40B4-BE49-F238E27FC236}">
                  <a16:creationId xmlns:a16="http://schemas.microsoft.com/office/drawing/2014/main" id="{1504E12C-6059-0586-3126-E6961816D97E}"/>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177" name="直線コネクタ 176">
            <a:extLst>
              <a:ext uri="{FF2B5EF4-FFF2-40B4-BE49-F238E27FC236}">
                <a16:creationId xmlns:a16="http://schemas.microsoft.com/office/drawing/2014/main" id="{928B3203-E5C2-CF46-61F6-BABC7477CB35}"/>
              </a:ext>
            </a:extLst>
          </p:cNvPr>
          <p:cNvCxnSpPr>
            <a:cxnSpLocks/>
          </p:cNvCxnSpPr>
          <p:nvPr/>
        </p:nvCxnSpPr>
        <p:spPr>
          <a:xfrm flipV="1">
            <a:off x="5292008" y="3248998"/>
            <a:ext cx="0" cy="180002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78" name="直線コネクタ 177">
            <a:extLst>
              <a:ext uri="{FF2B5EF4-FFF2-40B4-BE49-F238E27FC236}">
                <a16:creationId xmlns:a16="http://schemas.microsoft.com/office/drawing/2014/main" id="{A3311C02-85F8-68F1-5F65-AC10266FCF12}"/>
              </a:ext>
            </a:extLst>
          </p:cNvPr>
          <p:cNvCxnSpPr>
            <a:cxnSpLocks/>
          </p:cNvCxnSpPr>
          <p:nvPr/>
        </p:nvCxnSpPr>
        <p:spPr>
          <a:xfrm flipH="1">
            <a:off x="4572000" y="4149008"/>
            <a:ext cx="720008" cy="0"/>
          </a:xfrm>
          <a:prstGeom prst="line">
            <a:avLst/>
          </a:prstGeom>
          <a:ln w="6350" cap="rnd">
            <a:solidFill>
              <a:srgbClr val="000000"/>
            </a:solidFill>
            <a:headEnd type="oval" w="med" len="med"/>
            <a:tailEnd type="none"/>
          </a:ln>
        </p:spPr>
        <p:style>
          <a:lnRef idx="1">
            <a:schemeClr val="accent1"/>
          </a:lnRef>
          <a:fillRef idx="0">
            <a:schemeClr val="accent1"/>
          </a:fillRef>
          <a:effectRef idx="0">
            <a:schemeClr val="accent1"/>
          </a:effectRef>
          <a:fontRef idx="minor">
            <a:schemeClr val="tx1"/>
          </a:fontRef>
        </p:style>
      </p:cxnSp>
      <p:cxnSp>
        <p:nvCxnSpPr>
          <p:cNvPr id="179" name="直線コネクタ 178">
            <a:extLst>
              <a:ext uri="{FF2B5EF4-FFF2-40B4-BE49-F238E27FC236}">
                <a16:creationId xmlns:a16="http://schemas.microsoft.com/office/drawing/2014/main" id="{139FE574-285A-9442-5B07-7EC80DAAFB34}"/>
              </a:ext>
            </a:extLst>
          </p:cNvPr>
          <p:cNvCxnSpPr>
            <a:cxnSpLocks/>
          </p:cNvCxnSpPr>
          <p:nvPr/>
        </p:nvCxnSpPr>
        <p:spPr>
          <a:xfrm>
            <a:off x="6732024" y="4149008"/>
            <a:ext cx="720008" cy="0"/>
          </a:xfrm>
          <a:prstGeom prst="line">
            <a:avLst/>
          </a:prstGeom>
          <a:ln w="6350" cap="rnd">
            <a:solidFill>
              <a:srgbClr val="000000"/>
            </a:solidFill>
            <a:headEnd type="oval" w="med" len="med"/>
            <a:tailEnd type="none"/>
          </a:ln>
        </p:spPr>
        <p:style>
          <a:lnRef idx="1">
            <a:schemeClr val="accent1"/>
          </a:lnRef>
          <a:fillRef idx="0">
            <a:schemeClr val="accent1"/>
          </a:fillRef>
          <a:effectRef idx="0">
            <a:schemeClr val="accent1"/>
          </a:effectRef>
          <a:fontRef idx="minor">
            <a:schemeClr val="tx1"/>
          </a:fontRef>
        </p:style>
      </p:cxnSp>
      <p:cxnSp>
        <p:nvCxnSpPr>
          <p:cNvPr id="180" name="直線コネクタ 179">
            <a:extLst>
              <a:ext uri="{FF2B5EF4-FFF2-40B4-BE49-F238E27FC236}">
                <a16:creationId xmlns:a16="http://schemas.microsoft.com/office/drawing/2014/main" id="{943135B1-A379-BCE0-5461-407CCC647509}"/>
              </a:ext>
            </a:extLst>
          </p:cNvPr>
          <p:cNvCxnSpPr>
            <a:cxnSpLocks/>
          </p:cNvCxnSpPr>
          <p:nvPr/>
        </p:nvCxnSpPr>
        <p:spPr>
          <a:xfrm flipV="1">
            <a:off x="6732024" y="3609002"/>
            <a:ext cx="0" cy="108001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81" name="Rectangle 93">
            <a:extLst>
              <a:ext uri="{FF2B5EF4-FFF2-40B4-BE49-F238E27FC236}">
                <a16:creationId xmlns:a16="http://schemas.microsoft.com/office/drawing/2014/main" id="{B3B61D5E-B8AE-E693-7105-3497841309B4}"/>
              </a:ext>
            </a:extLst>
          </p:cNvPr>
          <p:cNvSpPr>
            <a:spLocks noChangeArrowheads="1"/>
          </p:cNvSpPr>
          <p:nvPr/>
        </p:nvSpPr>
        <p:spPr bwMode="auto">
          <a:xfrm>
            <a:off x="4572000" y="378900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n-ea"/>
              </a:rPr>
              <a:t>a</a:t>
            </a:r>
          </a:p>
        </p:txBody>
      </p:sp>
      <p:sp>
        <p:nvSpPr>
          <p:cNvPr id="182" name="Rectangle 93">
            <a:extLst>
              <a:ext uri="{FF2B5EF4-FFF2-40B4-BE49-F238E27FC236}">
                <a16:creationId xmlns:a16="http://schemas.microsoft.com/office/drawing/2014/main" id="{2CDD9B44-8741-C041-53F4-C2F41A386FE9}"/>
              </a:ext>
            </a:extLst>
          </p:cNvPr>
          <p:cNvSpPr>
            <a:spLocks noChangeArrowheads="1"/>
          </p:cNvSpPr>
          <p:nvPr/>
        </p:nvSpPr>
        <p:spPr bwMode="auto">
          <a:xfrm>
            <a:off x="7092028" y="378900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n-ea"/>
              </a:rPr>
              <a:t>b</a:t>
            </a:r>
          </a:p>
        </p:txBody>
      </p:sp>
      <p:grpSp>
        <p:nvGrpSpPr>
          <p:cNvPr id="201" name="グループ化 200">
            <a:extLst>
              <a:ext uri="{FF2B5EF4-FFF2-40B4-BE49-F238E27FC236}">
                <a16:creationId xmlns:a16="http://schemas.microsoft.com/office/drawing/2014/main" id="{E9F3AD11-1B8C-4F4D-2159-6B668DC90479}"/>
              </a:ext>
            </a:extLst>
          </p:cNvPr>
          <p:cNvGrpSpPr/>
          <p:nvPr/>
        </p:nvGrpSpPr>
        <p:grpSpPr>
          <a:xfrm>
            <a:off x="6372020" y="5409022"/>
            <a:ext cx="450005" cy="900368"/>
            <a:chOff x="7272030" y="5768668"/>
            <a:chExt cx="450005" cy="900368"/>
          </a:xfrm>
        </p:grpSpPr>
        <p:grpSp>
          <p:nvGrpSpPr>
            <p:cNvPr id="202" name="グループ化 152">
              <a:extLst>
                <a:ext uri="{FF2B5EF4-FFF2-40B4-BE49-F238E27FC236}">
                  <a16:creationId xmlns:a16="http://schemas.microsoft.com/office/drawing/2014/main" id="{5122EF21-CBC1-F0DB-5471-4728735CF77E}"/>
                </a:ext>
              </a:extLst>
            </p:cNvPr>
            <p:cNvGrpSpPr/>
            <p:nvPr/>
          </p:nvGrpSpPr>
          <p:grpSpPr>
            <a:xfrm>
              <a:off x="7542033" y="6218673"/>
              <a:ext cx="180002" cy="90001"/>
              <a:chOff x="3643306" y="4500570"/>
              <a:chExt cx="428628" cy="144464"/>
            </a:xfrm>
          </p:grpSpPr>
          <p:cxnSp>
            <p:nvCxnSpPr>
              <p:cNvPr id="205" name="直線コネクタ 204">
                <a:extLst>
                  <a:ext uri="{FF2B5EF4-FFF2-40B4-BE49-F238E27FC236}">
                    <a16:creationId xmlns:a16="http://schemas.microsoft.com/office/drawing/2014/main" id="{B75BCA22-861F-81DF-639D-AFF814CA1311}"/>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06" name="直線コネクタ 205">
                <a:extLst>
                  <a:ext uri="{FF2B5EF4-FFF2-40B4-BE49-F238E27FC236}">
                    <a16:creationId xmlns:a16="http://schemas.microsoft.com/office/drawing/2014/main" id="{452FF76C-BDE3-A109-910E-720655A941EC}"/>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07" name="直線コネクタ 206">
                <a:extLst>
                  <a:ext uri="{FF2B5EF4-FFF2-40B4-BE49-F238E27FC236}">
                    <a16:creationId xmlns:a16="http://schemas.microsoft.com/office/drawing/2014/main" id="{444297C8-2435-6ADF-A6A9-6A6DB7D0EEA0}"/>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203" name="直線コネクタ 202">
              <a:extLst>
                <a:ext uri="{FF2B5EF4-FFF2-40B4-BE49-F238E27FC236}">
                  <a16:creationId xmlns:a16="http://schemas.microsoft.com/office/drawing/2014/main" id="{C41B1FB4-4C07-338B-3A33-31725CC79702}"/>
                </a:ext>
              </a:extLst>
            </p:cNvPr>
            <p:cNvCxnSpPr>
              <a:cxnSpLocks/>
            </p:cNvCxnSpPr>
            <p:nvPr/>
          </p:nvCxnSpPr>
          <p:spPr>
            <a:xfrm flipV="1">
              <a:off x="7632034" y="576866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04" name="Rectangle 93">
              <a:extLst>
                <a:ext uri="{FF2B5EF4-FFF2-40B4-BE49-F238E27FC236}">
                  <a16:creationId xmlns:a16="http://schemas.microsoft.com/office/drawing/2014/main" id="{BBB74C7C-D3C2-109D-C3E4-6BA96F67869B}"/>
                </a:ext>
              </a:extLst>
            </p:cNvPr>
            <p:cNvSpPr>
              <a:spLocks noChangeArrowheads="1"/>
            </p:cNvSpPr>
            <p:nvPr/>
          </p:nvSpPr>
          <p:spPr bwMode="auto">
            <a:xfrm>
              <a:off x="7272030" y="630867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grpSp>
      <p:grpSp>
        <p:nvGrpSpPr>
          <p:cNvPr id="209" name="グループ化 208">
            <a:extLst>
              <a:ext uri="{FF2B5EF4-FFF2-40B4-BE49-F238E27FC236}">
                <a16:creationId xmlns:a16="http://schemas.microsoft.com/office/drawing/2014/main" id="{4CD9389D-D546-904E-66A7-411876C945B2}"/>
              </a:ext>
            </a:extLst>
          </p:cNvPr>
          <p:cNvGrpSpPr/>
          <p:nvPr/>
        </p:nvGrpSpPr>
        <p:grpSpPr>
          <a:xfrm>
            <a:off x="6462021" y="2078985"/>
            <a:ext cx="450049" cy="810009"/>
            <a:chOff x="7362031" y="2528632"/>
            <a:chExt cx="450049" cy="810009"/>
          </a:xfrm>
        </p:grpSpPr>
        <p:cxnSp>
          <p:nvCxnSpPr>
            <p:cNvPr id="210" name="直線コネクタ 209">
              <a:extLst>
                <a:ext uri="{FF2B5EF4-FFF2-40B4-BE49-F238E27FC236}">
                  <a16:creationId xmlns:a16="http://schemas.microsoft.com/office/drawing/2014/main" id="{B1E0F621-8199-B58E-19B1-E80C8E425D42}"/>
                </a:ext>
              </a:extLst>
            </p:cNvPr>
            <p:cNvCxnSpPr>
              <a:cxnSpLocks/>
            </p:cNvCxnSpPr>
            <p:nvPr/>
          </p:nvCxnSpPr>
          <p:spPr>
            <a:xfrm flipV="1">
              <a:off x="7632034" y="2888636"/>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11" name="直線コネクタ 210">
              <a:extLst>
                <a:ext uri="{FF2B5EF4-FFF2-40B4-BE49-F238E27FC236}">
                  <a16:creationId xmlns:a16="http://schemas.microsoft.com/office/drawing/2014/main" id="{FA184D6D-25C4-5EB7-05E1-B075BEB8A08F}"/>
                </a:ext>
              </a:extLst>
            </p:cNvPr>
            <p:cNvCxnSpPr/>
            <p:nvPr/>
          </p:nvCxnSpPr>
          <p:spPr>
            <a:xfrm>
              <a:off x="7452032" y="2888636"/>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12" name="Rectangle 93">
              <a:extLst>
                <a:ext uri="{FF2B5EF4-FFF2-40B4-BE49-F238E27FC236}">
                  <a16:creationId xmlns:a16="http://schemas.microsoft.com/office/drawing/2014/main" id="{10B6A348-D917-0950-4BA6-B9AB5A81B721}"/>
                </a:ext>
              </a:extLst>
            </p:cNvPr>
            <p:cNvSpPr>
              <a:spLocks noChangeArrowheads="1"/>
            </p:cNvSpPr>
            <p:nvPr/>
          </p:nvSpPr>
          <p:spPr bwMode="auto">
            <a:xfrm>
              <a:off x="7362031" y="2528632"/>
              <a:ext cx="270003" cy="360362"/>
            </a:xfrm>
            <a:prstGeom prst="rect">
              <a:avLst/>
            </a:prstGeom>
            <a:noFill/>
            <a:ln w="12700" algn="ctr">
              <a:noFill/>
              <a:miter lim="800000"/>
              <a:headEnd/>
              <a:tailEnd/>
            </a:ln>
            <a:effectLst/>
          </p:spPr>
          <p:txBody>
            <a:bodyPr wrap="none" lIns="90000" tIns="46800" rIns="90000" bIns="46800" anchor="ctr"/>
            <a:lstStyle/>
            <a:p>
              <a:r>
                <a:rPr lang="en-US" altLang="ja-JP" b="0" i="0" dirty="0">
                  <a:latin typeface="+mj-lt"/>
                </a:rPr>
                <a:t>VDD</a:t>
              </a:r>
              <a:endParaRPr lang="en-US" altLang="ja-JP" dirty="0"/>
            </a:p>
          </p:txBody>
        </p:sp>
      </p:grpSp>
      <p:sp>
        <p:nvSpPr>
          <p:cNvPr id="269" name="Line 17">
            <a:extLst>
              <a:ext uri="{FF2B5EF4-FFF2-40B4-BE49-F238E27FC236}">
                <a16:creationId xmlns:a16="http://schemas.microsoft.com/office/drawing/2014/main" id="{9B850B57-38F6-77D8-648B-FD79D1C31546}"/>
              </a:ext>
            </a:extLst>
          </p:cNvPr>
          <p:cNvSpPr>
            <a:spLocks noChangeShapeType="1"/>
          </p:cNvSpPr>
          <p:nvPr/>
        </p:nvSpPr>
        <p:spPr bwMode="auto">
          <a:xfrm>
            <a:off x="1693197" y="3429358"/>
            <a:ext cx="1439863"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70" name="Rectangle 25">
            <a:extLst>
              <a:ext uri="{FF2B5EF4-FFF2-40B4-BE49-F238E27FC236}">
                <a16:creationId xmlns:a16="http://schemas.microsoft.com/office/drawing/2014/main" id="{3F01350B-3906-F8ED-EB89-C5C379F6EE7C}"/>
              </a:ext>
            </a:extLst>
          </p:cNvPr>
          <p:cNvSpPr>
            <a:spLocks noChangeArrowheads="1"/>
          </p:cNvSpPr>
          <p:nvPr/>
        </p:nvSpPr>
        <p:spPr bwMode="auto">
          <a:xfrm>
            <a:off x="1331247" y="3249971"/>
            <a:ext cx="360363" cy="360362"/>
          </a:xfrm>
          <a:prstGeom prst="rect">
            <a:avLst/>
          </a:prstGeom>
          <a:noFill/>
          <a:ln w="28575">
            <a:noFill/>
            <a:miter lim="800000"/>
            <a:headEnd/>
            <a:tailEnd/>
          </a:ln>
          <a:effectLst/>
        </p:spPr>
        <p:txBody>
          <a:bodyPr wrap="none" anchor="ctr"/>
          <a:lstStyle/>
          <a:p>
            <a:pPr algn="ctr"/>
            <a:r>
              <a:rPr lang="en-US" altLang="ja-JP" sz="2000" baseline="0" dirty="0">
                <a:ea typeface="MeiryoKe_PGothic" pitchFamily="50" charset="-128"/>
              </a:rPr>
              <a:t>a</a:t>
            </a:r>
          </a:p>
        </p:txBody>
      </p:sp>
      <p:sp>
        <p:nvSpPr>
          <p:cNvPr id="271" name="Rectangle 27">
            <a:extLst>
              <a:ext uri="{FF2B5EF4-FFF2-40B4-BE49-F238E27FC236}">
                <a16:creationId xmlns:a16="http://schemas.microsoft.com/office/drawing/2014/main" id="{B549399D-82A1-38E4-4EE9-A98BD194BBDE}"/>
              </a:ext>
            </a:extLst>
          </p:cNvPr>
          <p:cNvSpPr>
            <a:spLocks noChangeArrowheads="1"/>
          </p:cNvSpPr>
          <p:nvPr/>
        </p:nvSpPr>
        <p:spPr bwMode="auto">
          <a:xfrm>
            <a:off x="3131984" y="3248998"/>
            <a:ext cx="360362" cy="360362"/>
          </a:xfrm>
          <a:prstGeom prst="rect">
            <a:avLst/>
          </a:prstGeom>
          <a:noFill/>
          <a:ln w="28575">
            <a:noFill/>
            <a:miter lim="800000"/>
            <a:headEnd/>
            <a:tailEnd/>
          </a:ln>
          <a:effectLst/>
        </p:spPr>
        <p:txBody>
          <a:bodyPr wrap="none" anchor="ctr"/>
          <a:lstStyle/>
          <a:p>
            <a:pPr algn="ctr"/>
            <a:r>
              <a:rPr lang="en-US" altLang="ja-JP" sz="2000" baseline="0" dirty="0">
                <a:ea typeface="MeiryoKe_PGothic" pitchFamily="50" charset="-128"/>
              </a:rPr>
              <a:t>b</a:t>
            </a:r>
          </a:p>
        </p:txBody>
      </p:sp>
      <p:pic>
        <p:nvPicPr>
          <p:cNvPr id="272" name="Picture 28" descr="NOT">
            <a:extLst>
              <a:ext uri="{FF2B5EF4-FFF2-40B4-BE49-F238E27FC236}">
                <a16:creationId xmlns:a16="http://schemas.microsoft.com/office/drawing/2014/main" id="{6028E41C-089C-A866-CE81-21B27B7932CA}"/>
              </a:ext>
            </a:extLst>
          </p:cNvPr>
          <p:cNvPicPr>
            <a:picLocks noChangeAspect="1" noChangeArrowheads="1"/>
          </p:cNvPicPr>
          <p:nvPr/>
        </p:nvPicPr>
        <p:blipFill>
          <a:blip r:embed="rId2" cstate="print"/>
          <a:srcRect/>
          <a:stretch>
            <a:fillRect/>
          </a:stretch>
        </p:blipFill>
        <p:spPr bwMode="auto">
          <a:xfrm>
            <a:off x="2051972" y="3068996"/>
            <a:ext cx="717550" cy="720725"/>
          </a:xfrm>
          <a:prstGeom prst="rect">
            <a:avLst/>
          </a:prstGeom>
          <a:noFill/>
        </p:spPr>
      </p:pic>
      <p:grpSp>
        <p:nvGrpSpPr>
          <p:cNvPr id="273" name="グループ化 272">
            <a:extLst>
              <a:ext uri="{FF2B5EF4-FFF2-40B4-BE49-F238E27FC236}">
                <a16:creationId xmlns:a16="http://schemas.microsoft.com/office/drawing/2014/main" id="{E61A1C39-0DFE-CC48-0E51-2CDD4BC68362}"/>
              </a:ext>
            </a:extLst>
          </p:cNvPr>
          <p:cNvGrpSpPr/>
          <p:nvPr/>
        </p:nvGrpSpPr>
        <p:grpSpPr>
          <a:xfrm>
            <a:off x="5202007" y="2528990"/>
            <a:ext cx="1531092" cy="1440374"/>
            <a:chOff x="5202007" y="2708992"/>
            <a:chExt cx="1531092" cy="1440374"/>
          </a:xfrm>
        </p:grpSpPr>
        <p:grpSp>
          <p:nvGrpSpPr>
            <p:cNvPr id="274" name="グループ化 273">
              <a:extLst>
                <a:ext uri="{FF2B5EF4-FFF2-40B4-BE49-F238E27FC236}">
                  <a16:creationId xmlns:a16="http://schemas.microsoft.com/office/drawing/2014/main" id="{32FA991B-1677-ACEC-6B6D-593A4974EF50}"/>
                </a:ext>
              </a:extLst>
            </p:cNvPr>
            <p:cNvGrpSpPr/>
            <p:nvPr/>
          </p:nvGrpSpPr>
          <p:grpSpPr>
            <a:xfrm>
              <a:off x="5202007" y="2708992"/>
              <a:ext cx="1531092" cy="1440374"/>
              <a:chOff x="5202007" y="3068996"/>
              <a:chExt cx="1531092" cy="1440374"/>
            </a:xfrm>
          </p:grpSpPr>
          <p:sp>
            <p:nvSpPr>
              <p:cNvPr id="276" name="正方形/長方形 275">
                <a:extLst>
                  <a:ext uri="{FF2B5EF4-FFF2-40B4-BE49-F238E27FC236}">
                    <a16:creationId xmlns:a16="http://schemas.microsoft.com/office/drawing/2014/main" id="{F607EA36-699E-DC1C-19C3-D7DE5314434B}"/>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77" name="円/楕円 69">
                <a:extLst>
                  <a:ext uri="{FF2B5EF4-FFF2-40B4-BE49-F238E27FC236}">
                    <a16:creationId xmlns:a16="http://schemas.microsoft.com/office/drawing/2014/main" id="{2D4B9136-1E58-4A2E-D96A-4486C23F021C}"/>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78" name="直線コネクタ 277">
                <a:extLst>
                  <a:ext uri="{FF2B5EF4-FFF2-40B4-BE49-F238E27FC236}">
                    <a16:creationId xmlns:a16="http://schemas.microsoft.com/office/drawing/2014/main" id="{A18D89AD-117E-03DF-8E66-19E664B35071}"/>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79" name="直線コネクタ 278">
                <a:extLst>
                  <a:ext uri="{FF2B5EF4-FFF2-40B4-BE49-F238E27FC236}">
                    <a16:creationId xmlns:a16="http://schemas.microsoft.com/office/drawing/2014/main" id="{60BAA4C0-EE19-F19A-1686-B8B4D84C27D6}"/>
                  </a:ext>
                </a:extLst>
              </p:cNvPr>
              <p:cNvCxnSpPr>
                <a:cxnSpLocks/>
                <a:endCxn id="280" idx="4"/>
              </p:cNvCxnSpPr>
              <p:nvPr/>
            </p:nvCxnSpPr>
            <p:spPr>
              <a:xfrm>
                <a:off x="5965748" y="3609002"/>
                <a:ext cx="0"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80" name="円/楕円 68">
                <a:extLst>
                  <a:ext uri="{FF2B5EF4-FFF2-40B4-BE49-F238E27FC236}">
                    <a16:creationId xmlns:a16="http://schemas.microsoft.com/office/drawing/2014/main" id="{D1119976-D859-2C1C-A28C-87FF7631D3F1}"/>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81" name="直線コネクタ 280">
                <a:extLst>
                  <a:ext uri="{FF2B5EF4-FFF2-40B4-BE49-F238E27FC236}">
                    <a16:creationId xmlns:a16="http://schemas.microsoft.com/office/drawing/2014/main" id="{23465C44-B50A-33F9-3CBE-11B0166A1819}"/>
                  </a:ext>
                </a:extLst>
              </p:cNvPr>
              <p:cNvCxnSpPr>
                <a:cxnSpLocks/>
                <a:endCxn id="277"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2" name="直線コネクタ 281">
                <a:extLst>
                  <a:ext uri="{FF2B5EF4-FFF2-40B4-BE49-F238E27FC236}">
                    <a16:creationId xmlns:a16="http://schemas.microsoft.com/office/drawing/2014/main" id="{96D407D5-5307-7A0C-066D-16F25ED7585E}"/>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83" name="Rectangle 93">
                <a:extLst>
                  <a:ext uri="{FF2B5EF4-FFF2-40B4-BE49-F238E27FC236}">
                    <a16:creationId xmlns:a16="http://schemas.microsoft.com/office/drawing/2014/main" id="{33BE9391-5F9F-53FB-2276-B52E35CA3FD6}"/>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84" name="Rectangle 93">
                <a:extLst>
                  <a:ext uri="{FF2B5EF4-FFF2-40B4-BE49-F238E27FC236}">
                    <a16:creationId xmlns:a16="http://schemas.microsoft.com/office/drawing/2014/main" id="{33A23124-D35A-AE04-4E8D-C7AE14698FEB}"/>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285" name="Rectangle 93">
                <a:extLst>
                  <a:ext uri="{FF2B5EF4-FFF2-40B4-BE49-F238E27FC236}">
                    <a16:creationId xmlns:a16="http://schemas.microsoft.com/office/drawing/2014/main" id="{2B5D77D3-1F1B-4D87-CD34-A4CE36C90012}"/>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286" name="直線コネクタ 285">
                <a:extLst>
                  <a:ext uri="{FF2B5EF4-FFF2-40B4-BE49-F238E27FC236}">
                    <a16:creationId xmlns:a16="http://schemas.microsoft.com/office/drawing/2014/main" id="{B0AFC59C-2739-D77F-F2BB-BB559CDA2F06}"/>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7" name="直線コネクタ 286">
                <a:extLst>
                  <a:ext uri="{FF2B5EF4-FFF2-40B4-BE49-F238E27FC236}">
                    <a16:creationId xmlns:a16="http://schemas.microsoft.com/office/drawing/2014/main" id="{DB74A23C-4949-E6FB-1226-CFE28F2AE39F}"/>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275" name="円/楕円 69">
              <a:extLst>
                <a:ext uri="{FF2B5EF4-FFF2-40B4-BE49-F238E27FC236}">
                  <a16:creationId xmlns:a16="http://schemas.microsoft.com/office/drawing/2014/main" id="{123417DA-780F-709E-739F-F5CB697AC585}"/>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aphicFrame>
        <p:nvGraphicFramePr>
          <p:cNvPr id="288" name="Group 383">
            <a:extLst>
              <a:ext uri="{FF2B5EF4-FFF2-40B4-BE49-F238E27FC236}">
                <a16:creationId xmlns:a16="http://schemas.microsoft.com/office/drawing/2014/main" id="{CF0BA26F-CC49-A691-C930-0EC9A7C904F1}"/>
              </a:ext>
            </a:extLst>
          </p:cNvPr>
          <p:cNvGraphicFramePr>
            <a:graphicFrameLocks/>
          </p:cNvGraphicFramePr>
          <p:nvPr>
            <p:extLst>
              <p:ext uri="{D42A27DB-BD31-4B8C-83A1-F6EECF244321}">
                <p14:modId xmlns:p14="http://schemas.microsoft.com/office/powerpoint/2010/main" val="4274740441"/>
              </p:ext>
            </p:extLst>
          </p:nvPr>
        </p:nvGraphicFramePr>
        <p:xfrm>
          <a:off x="1961971" y="4149008"/>
          <a:ext cx="958850" cy="1243014"/>
        </p:xfrm>
        <a:graphic>
          <a:graphicData uri="http://schemas.openxmlformats.org/drawingml/2006/table">
            <a:tbl>
              <a:tblPr/>
              <a:tblGrid>
                <a:gridCol w="479425">
                  <a:extLst>
                    <a:ext uri="{9D8B030D-6E8A-4147-A177-3AD203B41FA5}">
                      <a16:colId xmlns:a16="http://schemas.microsoft.com/office/drawing/2014/main" val="20000"/>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a</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b</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ja-JP" altLang="en-US" sz="1600" b="0" i="0" u="none" strike="noStrike" cap="none" normalizeH="0" baseline="0" dirty="0">
                          <a:ln>
                            <a:noFill/>
                          </a:ln>
                          <a:solidFill>
                            <a:schemeClr val="tx1">
                              <a:lumMod val="75000"/>
                              <a:lumOff val="25000"/>
                            </a:schemeClr>
                          </a:solidFill>
                          <a:effectLst/>
                          <a:latin typeface="+mn-ea"/>
                          <a:ea typeface="+mn-ea"/>
                        </a:rPr>
                        <a:t>０</a:t>
                      </a:r>
                      <a:endParaRPr kumimoji="0" lang="en-US" altLang="ja-JP" sz="1600" b="0" i="0" u="none" strike="noStrike" cap="none" normalizeH="0" baseline="0" dirty="0">
                        <a:ln>
                          <a:noFill/>
                        </a:ln>
                        <a:solidFill>
                          <a:schemeClr val="tx1">
                            <a:lumMod val="75000"/>
                            <a:lumOff val="25000"/>
                          </a:schemeClr>
                        </a:solidFill>
                        <a:effectLst/>
                        <a:latin typeface="+mn-ea"/>
                        <a:ea typeface="+mn-ea"/>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44641657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95A63B8-65B7-A399-D319-FBFDEFB131C2}"/>
              </a:ext>
            </a:extLst>
          </p:cNvPr>
          <p:cNvSpPr>
            <a:spLocks noGrp="1"/>
          </p:cNvSpPr>
          <p:nvPr>
            <p:ph type="title"/>
          </p:nvPr>
        </p:nvSpPr>
        <p:spPr/>
        <p:txBody>
          <a:bodyPr/>
          <a:lstStyle/>
          <a:p>
            <a:r>
              <a:rPr kumimoji="1" lang="en-US" altLang="ja-JP" dirty="0"/>
              <a:t>NOT </a:t>
            </a:r>
            <a:r>
              <a:rPr kumimoji="1" lang="ja-JP" altLang="en-US" dirty="0"/>
              <a:t>ゲートの動作</a:t>
            </a:r>
            <a:endParaRPr kumimoji="1" lang="en-US" dirty="0"/>
          </a:p>
        </p:txBody>
      </p:sp>
      <p:sp>
        <p:nvSpPr>
          <p:cNvPr id="3" name="コンテンツ プレースホルダー 2">
            <a:extLst>
              <a:ext uri="{FF2B5EF4-FFF2-40B4-BE49-F238E27FC236}">
                <a16:creationId xmlns:a16="http://schemas.microsoft.com/office/drawing/2014/main" id="{896B1366-8D7A-2F6B-E38A-902BB7AA69A2}"/>
              </a:ext>
            </a:extLst>
          </p:cNvPr>
          <p:cNvSpPr>
            <a:spLocks noGrp="1"/>
          </p:cNvSpPr>
          <p:nvPr>
            <p:ph sz="quarter" idx="10"/>
          </p:nvPr>
        </p:nvSpPr>
        <p:spPr>
          <a:xfrm>
            <a:off x="611956" y="1358977"/>
            <a:ext cx="8280092" cy="540006"/>
          </a:xfrm>
        </p:spPr>
        <p:txBody>
          <a:bodyPr/>
          <a:lstStyle/>
          <a:p>
            <a:r>
              <a:rPr lang="ja-JP" altLang="en-US" dirty="0"/>
              <a:t>双方のスイッチが必ず反対の動作になる</a:t>
            </a:r>
            <a:endParaRPr lang="en-US" dirty="0"/>
          </a:p>
          <a:p>
            <a:pPr lvl="1"/>
            <a:r>
              <a:rPr lang="en-US" dirty="0"/>
              <a:t>P </a:t>
            </a:r>
            <a:r>
              <a:rPr lang="ja-JP" altLang="en-US" dirty="0"/>
              <a:t>型は入力が０だと </a:t>
            </a:r>
            <a:r>
              <a:rPr lang="en-US" altLang="ja-JP" dirty="0"/>
              <a:t>ON</a:t>
            </a:r>
          </a:p>
          <a:p>
            <a:pPr lvl="1"/>
            <a:r>
              <a:rPr lang="en-US" dirty="0"/>
              <a:t>N </a:t>
            </a:r>
            <a:r>
              <a:rPr lang="ja-JP" altLang="en-US" dirty="0"/>
              <a:t>型は入力が１だと </a:t>
            </a:r>
            <a:r>
              <a:rPr lang="en-US" altLang="ja-JP" dirty="0"/>
              <a:t>ON</a:t>
            </a:r>
            <a:endParaRPr lang="en-US" dirty="0"/>
          </a:p>
        </p:txBody>
      </p:sp>
      <p:graphicFrame>
        <p:nvGraphicFramePr>
          <p:cNvPr id="151" name="Group 383">
            <a:extLst>
              <a:ext uri="{FF2B5EF4-FFF2-40B4-BE49-F238E27FC236}">
                <a16:creationId xmlns:a16="http://schemas.microsoft.com/office/drawing/2014/main" id="{0FFF554D-5E1A-9E61-177E-DA32E60148C5}"/>
              </a:ext>
            </a:extLst>
          </p:cNvPr>
          <p:cNvGraphicFramePr>
            <a:graphicFrameLocks/>
          </p:cNvGraphicFramePr>
          <p:nvPr>
            <p:extLst>
              <p:ext uri="{D42A27DB-BD31-4B8C-83A1-F6EECF244321}">
                <p14:modId xmlns:p14="http://schemas.microsoft.com/office/powerpoint/2010/main" val="1406077981"/>
              </p:ext>
            </p:extLst>
          </p:nvPr>
        </p:nvGraphicFramePr>
        <p:xfrm>
          <a:off x="7902037" y="1268976"/>
          <a:ext cx="958850" cy="1243014"/>
        </p:xfrm>
        <a:graphic>
          <a:graphicData uri="http://schemas.openxmlformats.org/drawingml/2006/table">
            <a:tbl>
              <a:tblPr/>
              <a:tblGrid>
                <a:gridCol w="479425">
                  <a:extLst>
                    <a:ext uri="{9D8B030D-6E8A-4147-A177-3AD203B41FA5}">
                      <a16:colId xmlns:a16="http://schemas.microsoft.com/office/drawing/2014/main" val="20000"/>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a</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b</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ja-JP" altLang="en-US" sz="1600" b="0" i="0" u="none" strike="noStrike" cap="none" normalizeH="0" baseline="0" dirty="0">
                          <a:ln>
                            <a:noFill/>
                          </a:ln>
                          <a:solidFill>
                            <a:schemeClr val="tx1">
                              <a:lumMod val="75000"/>
                              <a:lumOff val="25000"/>
                            </a:schemeClr>
                          </a:solidFill>
                          <a:effectLst/>
                          <a:latin typeface="+mn-ea"/>
                          <a:ea typeface="+mn-ea"/>
                        </a:rPr>
                        <a:t>０</a:t>
                      </a:r>
                      <a:endParaRPr kumimoji="0" lang="en-US" altLang="ja-JP" sz="1600" b="0" i="0" u="none" strike="noStrike" cap="none" normalizeH="0" baseline="0" dirty="0">
                        <a:ln>
                          <a:noFill/>
                        </a:ln>
                        <a:solidFill>
                          <a:schemeClr val="tx1">
                            <a:lumMod val="75000"/>
                            <a:lumOff val="25000"/>
                          </a:schemeClr>
                        </a:solidFill>
                        <a:effectLst/>
                        <a:latin typeface="+mn-ea"/>
                        <a:ea typeface="+mn-ea"/>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grpSp>
        <p:nvGrpSpPr>
          <p:cNvPr id="71" name="グループ化 70">
            <a:extLst>
              <a:ext uri="{FF2B5EF4-FFF2-40B4-BE49-F238E27FC236}">
                <a16:creationId xmlns:a16="http://schemas.microsoft.com/office/drawing/2014/main" id="{13D01704-AAE9-CD16-4719-7051308AB196}"/>
              </a:ext>
            </a:extLst>
          </p:cNvPr>
          <p:cNvGrpSpPr/>
          <p:nvPr/>
        </p:nvGrpSpPr>
        <p:grpSpPr>
          <a:xfrm>
            <a:off x="1241963" y="4689014"/>
            <a:ext cx="1531092" cy="1440374"/>
            <a:chOff x="5202007" y="3068996"/>
            <a:chExt cx="1531092" cy="1440374"/>
          </a:xfrm>
        </p:grpSpPr>
        <p:sp>
          <p:nvSpPr>
            <p:cNvPr id="73" name="正方形/長方形 72">
              <a:extLst>
                <a:ext uri="{FF2B5EF4-FFF2-40B4-BE49-F238E27FC236}">
                  <a16:creationId xmlns:a16="http://schemas.microsoft.com/office/drawing/2014/main" id="{EA18C221-C4DE-C0C4-7C81-9D2CB4F72F8A}"/>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74" name="円/楕円 69">
              <a:extLst>
                <a:ext uri="{FF2B5EF4-FFF2-40B4-BE49-F238E27FC236}">
                  <a16:creationId xmlns:a16="http://schemas.microsoft.com/office/drawing/2014/main" id="{4E686B30-962A-880E-A98F-02AB8EF5BD2A}"/>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75" name="直線コネクタ 74">
              <a:extLst>
                <a:ext uri="{FF2B5EF4-FFF2-40B4-BE49-F238E27FC236}">
                  <a16:creationId xmlns:a16="http://schemas.microsoft.com/office/drawing/2014/main" id="{47A9F7C8-9004-A920-1FBC-F17608599FE5}"/>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77" name="直線コネクタ 76">
              <a:extLst>
                <a:ext uri="{FF2B5EF4-FFF2-40B4-BE49-F238E27FC236}">
                  <a16:creationId xmlns:a16="http://schemas.microsoft.com/office/drawing/2014/main" id="{7E298F31-C91B-81F1-F941-73A4983BBA75}"/>
                </a:ext>
              </a:extLst>
            </p:cNvPr>
            <p:cNvCxnSpPr>
              <a:cxnSpLocks/>
              <a:endCxn id="149" idx="4"/>
            </p:cNvCxnSpPr>
            <p:nvPr/>
          </p:nvCxnSpPr>
          <p:spPr>
            <a:xfrm>
              <a:off x="5832014"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49" name="円/楕円 68">
              <a:extLst>
                <a:ext uri="{FF2B5EF4-FFF2-40B4-BE49-F238E27FC236}">
                  <a16:creationId xmlns:a16="http://schemas.microsoft.com/office/drawing/2014/main" id="{558CF1AE-6202-2001-2213-5F3CDC77FDA1}"/>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50" name="直線コネクタ 149">
              <a:extLst>
                <a:ext uri="{FF2B5EF4-FFF2-40B4-BE49-F238E27FC236}">
                  <a16:creationId xmlns:a16="http://schemas.microsoft.com/office/drawing/2014/main" id="{E36FF8AF-258B-8E49-267D-BFE100BB30B6}"/>
                </a:ext>
              </a:extLst>
            </p:cNvPr>
            <p:cNvCxnSpPr>
              <a:cxnSpLocks/>
              <a:endCxn id="74"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56" name="直線コネクタ 155">
              <a:extLst>
                <a:ext uri="{FF2B5EF4-FFF2-40B4-BE49-F238E27FC236}">
                  <a16:creationId xmlns:a16="http://schemas.microsoft.com/office/drawing/2014/main" id="{C7BF13BD-6123-9E3F-65C7-C5E96DCA7B09}"/>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57" name="Rectangle 93">
              <a:extLst>
                <a:ext uri="{FF2B5EF4-FFF2-40B4-BE49-F238E27FC236}">
                  <a16:creationId xmlns:a16="http://schemas.microsoft.com/office/drawing/2014/main" id="{B9DF31B6-787C-3AEC-662B-586C189B377D}"/>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58" name="Rectangle 93">
              <a:extLst>
                <a:ext uri="{FF2B5EF4-FFF2-40B4-BE49-F238E27FC236}">
                  <a16:creationId xmlns:a16="http://schemas.microsoft.com/office/drawing/2014/main" id="{D84A6B59-F541-53D8-B49E-49CD449E4065}"/>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59" name="Rectangle 93">
              <a:extLst>
                <a:ext uri="{FF2B5EF4-FFF2-40B4-BE49-F238E27FC236}">
                  <a16:creationId xmlns:a16="http://schemas.microsoft.com/office/drawing/2014/main" id="{C2ADC63A-6DEA-935C-3BFD-89651BFABD73}"/>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60" name="直線コネクタ 159">
              <a:extLst>
                <a:ext uri="{FF2B5EF4-FFF2-40B4-BE49-F238E27FC236}">
                  <a16:creationId xmlns:a16="http://schemas.microsoft.com/office/drawing/2014/main" id="{BA056C96-A326-6ABA-5796-6AFC78D804FB}"/>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61" name="直線コネクタ 160">
              <a:extLst>
                <a:ext uri="{FF2B5EF4-FFF2-40B4-BE49-F238E27FC236}">
                  <a16:creationId xmlns:a16="http://schemas.microsoft.com/office/drawing/2014/main" id="{1504E12C-6059-0586-3126-E6961816D97E}"/>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177" name="直線コネクタ 176">
            <a:extLst>
              <a:ext uri="{FF2B5EF4-FFF2-40B4-BE49-F238E27FC236}">
                <a16:creationId xmlns:a16="http://schemas.microsoft.com/office/drawing/2014/main" id="{928B3203-E5C2-CF46-61F6-BABC7477CB35}"/>
              </a:ext>
            </a:extLst>
          </p:cNvPr>
          <p:cNvCxnSpPr>
            <a:cxnSpLocks/>
          </p:cNvCxnSpPr>
          <p:nvPr/>
        </p:nvCxnSpPr>
        <p:spPr>
          <a:xfrm flipV="1">
            <a:off x="1331964" y="3609002"/>
            <a:ext cx="0" cy="180002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78" name="直線コネクタ 177">
            <a:extLst>
              <a:ext uri="{FF2B5EF4-FFF2-40B4-BE49-F238E27FC236}">
                <a16:creationId xmlns:a16="http://schemas.microsoft.com/office/drawing/2014/main" id="{A3311C02-85F8-68F1-5F65-AC10266FCF12}"/>
              </a:ext>
            </a:extLst>
          </p:cNvPr>
          <p:cNvCxnSpPr>
            <a:cxnSpLocks/>
          </p:cNvCxnSpPr>
          <p:nvPr/>
        </p:nvCxnSpPr>
        <p:spPr>
          <a:xfrm flipH="1">
            <a:off x="611956" y="4509012"/>
            <a:ext cx="720008" cy="0"/>
          </a:xfrm>
          <a:prstGeom prst="line">
            <a:avLst/>
          </a:prstGeom>
          <a:ln w="6350" cap="rnd">
            <a:solidFill>
              <a:srgbClr val="000000"/>
            </a:solidFill>
            <a:headEnd type="oval" w="med" len="med"/>
            <a:tailEnd type="none"/>
          </a:ln>
        </p:spPr>
        <p:style>
          <a:lnRef idx="1">
            <a:schemeClr val="accent1"/>
          </a:lnRef>
          <a:fillRef idx="0">
            <a:schemeClr val="accent1"/>
          </a:fillRef>
          <a:effectRef idx="0">
            <a:schemeClr val="accent1"/>
          </a:effectRef>
          <a:fontRef idx="minor">
            <a:schemeClr val="tx1"/>
          </a:fontRef>
        </p:style>
      </p:cxnSp>
      <p:cxnSp>
        <p:nvCxnSpPr>
          <p:cNvPr id="179" name="直線コネクタ 178">
            <a:extLst>
              <a:ext uri="{FF2B5EF4-FFF2-40B4-BE49-F238E27FC236}">
                <a16:creationId xmlns:a16="http://schemas.microsoft.com/office/drawing/2014/main" id="{139FE574-285A-9442-5B07-7EC80DAAFB34}"/>
              </a:ext>
            </a:extLst>
          </p:cNvPr>
          <p:cNvCxnSpPr>
            <a:cxnSpLocks/>
          </p:cNvCxnSpPr>
          <p:nvPr/>
        </p:nvCxnSpPr>
        <p:spPr>
          <a:xfrm>
            <a:off x="2771980" y="4509012"/>
            <a:ext cx="720008" cy="0"/>
          </a:xfrm>
          <a:prstGeom prst="line">
            <a:avLst/>
          </a:prstGeom>
          <a:ln w="6350" cap="rnd">
            <a:solidFill>
              <a:srgbClr val="000000"/>
            </a:solidFill>
            <a:headEnd type="oval" w="med" len="med"/>
            <a:tailEnd type="none"/>
          </a:ln>
        </p:spPr>
        <p:style>
          <a:lnRef idx="1">
            <a:schemeClr val="accent1"/>
          </a:lnRef>
          <a:fillRef idx="0">
            <a:schemeClr val="accent1"/>
          </a:fillRef>
          <a:effectRef idx="0">
            <a:schemeClr val="accent1"/>
          </a:effectRef>
          <a:fontRef idx="minor">
            <a:schemeClr val="tx1"/>
          </a:fontRef>
        </p:style>
      </p:cxnSp>
      <p:cxnSp>
        <p:nvCxnSpPr>
          <p:cNvPr id="180" name="直線コネクタ 179">
            <a:extLst>
              <a:ext uri="{FF2B5EF4-FFF2-40B4-BE49-F238E27FC236}">
                <a16:creationId xmlns:a16="http://schemas.microsoft.com/office/drawing/2014/main" id="{943135B1-A379-BCE0-5461-407CCC647509}"/>
              </a:ext>
            </a:extLst>
          </p:cNvPr>
          <p:cNvCxnSpPr>
            <a:cxnSpLocks/>
          </p:cNvCxnSpPr>
          <p:nvPr/>
        </p:nvCxnSpPr>
        <p:spPr>
          <a:xfrm flipV="1">
            <a:off x="2771980" y="3969006"/>
            <a:ext cx="0" cy="108001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81" name="Rectangle 93">
            <a:extLst>
              <a:ext uri="{FF2B5EF4-FFF2-40B4-BE49-F238E27FC236}">
                <a16:creationId xmlns:a16="http://schemas.microsoft.com/office/drawing/2014/main" id="{B3B61D5E-B8AE-E693-7105-3497841309B4}"/>
              </a:ext>
            </a:extLst>
          </p:cNvPr>
          <p:cNvSpPr>
            <a:spLocks noChangeArrowheads="1"/>
          </p:cNvSpPr>
          <p:nvPr/>
        </p:nvSpPr>
        <p:spPr bwMode="auto">
          <a:xfrm>
            <a:off x="611956"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n-ea"/>
              </a:rPr>
              <a:t>a</a:t>
            </a:r>
          </a:p>
        </p:txBody>
      </p:sp>
      <p:sp>
        <p:nvSpPr>
          <p:cNvPr id="182" name="Rectangle 93">
            <a:extLst>
              <a:ext uri="{FF2B5EF4-FFF2-40B4-BE49-F238E27FC236}">
                <a16:creationId xmlns:a16="http://schemas.microsoft.com/office/drawing/2014/main" id="{2CDD9B44-8741-C041-53F4-C2F41A386FE9}"/>
              </a:ext>
            </a:extLst>
          </p:cNvPr>
          <p:cNvSpPr>
            <a:spLocks noChangeArrowheads="1"/>
          </p:cNvSpPr>
          <p:nvPr/>
        </p:nvSpPr>
        <p:spPr bwMode="auto">
          <a:xfrm>
            <a:off x="3131984"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n-ea"/>
              </a:rPr>
              <a:t>b</a:t>
            </a:r>
          </a:p>
        </p:txBody>
      </p:sp>
      <p:grpSp>
        <p:nvGrpSpPr>
          <p:cNvPr id="201" name="グループ化 200">
            <a:extLst>
              <a:ext uri="{FF2B5EF4-FFF2-40B4-BE49-F238E27FC236}">
                <a16:creationId xmlns:a16="http://schemas.microsoft.com/office/drawing/2014/main" id="{E9F3AD11-1B8C-4F4D-2159-6B668DC90479}"/>
              </a:ext>
            </a:extLst>
          </p:cNvPr>
          <p:cNvGrpSpPr/>
          <p:nvPr/>
        </p:nvGrpSpPr>
        <p:grpSpPr>
          <a:xfrm>
            <a:off x="2411976" y="5769026"/>
            <a:ext cx="450005" cy="900368"/>
            <a:chOff x="7272030" y="5768668"/>
            <a:chExt cx="450005" cy="900368"/>
          </a:xfrm>
        </p:grpSpPr>
        <p:grpSp>
          <p:nvGrpSpPr>
            <p:cNvPr id="202" name="グループ化 152">
              <a:extLst>
                <a:ext uri="{FF2B5EF4-FFF2-40B4-BE49-F238E27FC236}">
                  <a16:creationId xmlns:a16="http://schemas.microsoft.com/office/drawing/2014/main" id="{5122EF21-CBC1-F0DB-5471-4728735CF77E}"/>
                </a:ext>
              </a:extLst>
            </p:cNvPr>
            <p:cNvGrpSpPr/>
            <p:nvPr/>
          </p:nvGrpSpPr>
          <p:grpSpPr>
            <a:xfrm>
              <a:off x="7542033" y="6218673"/>
              <a:ext cx="180002" cy="90001"/>
              <a:chOff x="3643306" y="4500570"/>
              <a:chExt cx="428628" cy="144464"/>
            </a:xfrm>
          </p:grpSpPr>
          <p:cxnSp>
            <p:nvCxnSpPr>
              <p:cNvPr id="205" name="直線コネクタ 204">
                <a:extLst>
                  <a:ext uri="{FF2B5EF4-FFF2-40B4-BE49-F238E27FC236}">
                    <a16:creationId xmlns:a16="http://schemas.microsoft.com/office/drawing/2014/main" id="{B75BCA22-861F-81DF-639D-AFF814CA1311}"/>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06" name="直線コネクタ 205">
                <a:extLst>
                  <a:ext uri="{FF2B5EF4-FFF2-40B4-BE49-F238E27FC236}">
                    <a16:creationId xmlns:a16="http://schemas.microsoft.com/office/drawing/2014/main" id="{452FF76C-BDE3-A109-910E-720655A941EC}"/>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07" name="直線コネクタ 206">
                <a:extLst>
                  <a:ext uri="{FF2B5EF4-FFF2-40B4-BE49-F238E27FC236}">
                    <a16:creationId xmlns:a16="http://schemas.microsoft.com/office/drawing/2014/main" id="{444297C8-2435-6ADF-A6A9-6A6DB7D0EEA0}"/>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203" name="直線コネクタ 202">
              <a:extLst>
                <a:ext uri="{FF2B5EF4-FFF2-40B4-BE49-F238E27FC236}">
                  <a16:creationId xmlns:a16="http://schemas.microsoft.com/office/drawing/2014/main" id="{C41B1FB4-4C07-338B-3A33-31725CC79702}"/>
                </a:ext>
              </a:extLst>
            </p:cNvPr>
            <p:cNvCxnSpPr>
              <a:cxnSpLocks/>
            </p:cNvCxnSpPr>
            <p:nvPr/>
          </p:nvCxnSpPr>
          <p:spPr>
            <a:xfrm flipV="1">
              <a:off x="7632034" y="576866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04" name="Rectangle 93">
              <a:extLst>
                <a:ext uri="{FF2B5EF4-FFF2-40B4-BE49-F238E27FC236}">
                  <a16:creationId xmlns:a16="http://schemas.microsoft.com/office/drawing/2014/main" id="{BBB74C7C-D3C2-109D-C3E4-6BA96F67869B}"/>
                </a:ext>
              </a:extLst>
            </p:cNvPr>
            <p:cNvSpPr>
              <a:spLocks noChangeArrowheads="1"/>
            </p:cNvSpPr>
            <p:nvPr/>
          </p:nvSpPr>
          <p:spPr bwMode="auto">
            <a:xfrm>
              <a:off x="7272030" y="630867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grpSp>
      <p:grpSp>
        <p:nvGrpSpPr>
          <p:cNvPr id="209" name="グループ化 208">
            <a:extLst>
              <a:ext uri="{FF2B5EF4-FFF2-40B4-BE49-F238E27FC236}">
                <a16:creationId xmlns:a16="http://schemas.microsoft.com/office/drawing/2014/main" id="{4CD9389D-D546-904E-66A7-411876C945B2}"/>
              </a:ext>
            </a:extLst>
          </p:cNvPr>
          <p:cNvGrpSpPr/>
          <p:nvPr/>
        </p:nvGrpSpPr>
        <p:grpSpPr>
          <a:xfrm>
            <a:off x="2501977" y="2438989"/>
            <a:ext cx="450049" cy="810009"/>
            <a:chOff x="7362031" y="2528632"/>
            <a:chExt cx="450049" cy="810009"/>
          </a:xfrm>
        </p:grpSpPr>
        <p:cxnSp>
          <p:nvCxnSpPr>
            <p:cNvPr id="210" name="直線コネクタ 209">
              <a:extLst>
                <a:ext uri="{FF2B5EF4-FFF2-40B4-BE49-F238E27FC236}">
                  <a16:creationId xmlns:a16="http://schemas.microsoft.com/office/drawing/2014/main" id="{B1E0F621-8199-B58E-19B1-E80C8E425D42}"/>
                </a:ext>
              </a:extLst>
            </p:cNvPr>
            <p:cNvCxnSpPr>
              <a:cxnSpLocks/>
            </p:cNvCxnSpPr>
            <p:nvPr/>
          </p:nvCxnSpPr>
          <p:spPr>
            <a:xfrm flipV="1">
              <a:off x="7632034" y="2888636"/>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11" name="直線コネクタ 210">
              <a:extLst>
                <a:ext uri="{FF2B5EF4-FFF2-40B4-BE49-F238E27FC236}">
                  <a16:creationId xmlns:a16="http://schemas.microsoft.com/office/drawing/2014/main" id="{FA184D6D-25C4-5EB7-05E1-B075BEB8A08F}"/>
                </a:ext>
              </a:extLst>
            </p:cNvPr>
            <p:cNvCxnSpPr/>
            <p:nvPr/>
          </p:nvCxnSpPr>
          <p:spPr>
            <a:xfrm>
              <a:off x="7452032" y="2888636"/>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12" name="Rectangle 93">
              <a:extLst>
                <a:ext uri="{FF2B5EF4-FFF2-40B4-BE49-F238E27FC236}">
                  <a16:creationId xmlns:a16="http://schemas.microsoft.com/office/drawing/2014/main" id="{10B6A348-D917-0950-4BA6-B9AB5A81B721}"/>
                </a:ext>
              </a:extLst>
            </p:cNvPr>
            <p:cNvSpPr>
              <a:spLocks noChangeArrowheads="1"/>
            </p:cNvSpPr>
            <p:nvPr/>
          </p:nvSpPr>
          <p:spPr bwMode="auto">
            <a:xfrm>
              <a:off x="7362031" y="2528632"/>
              <a:ext cx="270003" cy="360362"/>
            </a:xfrm>
            <a:prstGeom prst="rect">
              <a:avLst/>
            </a:prstGeom>
            <a:noFill/>
            <a:ln w="12700" algn="ctr">
              <a:noFill/>
              <a:miter lim="800000"/>
              <a:headEnd/>
              <a:tailEnd/>
            </a:ln>
            <a:effectLst/>
          </p:spPr>
          <p:txBody>
            <a:bodyPr wrap="none" lIns="90000" tIns="46800" rIns="90000" bIns="46800" anchor="ctr"/>
            <a:lstStyle/>
            <a:p>
              <a:r>
                <a:rPr lang="en-US" altLang="ja-JP" b="0" i="0" dirty="0">
                  <a:latin typeface="+mj-lt"/>
                </a:rPr>
                <a:t>VDD</a:t>
              </a:r>
              <a:endParaRPr lang="en-US" altLang="ja-JP" dirty="0"/>
            </a:p>
          </p:txBody>
        </p:sp>
      </p:grpSp>
      <p:grpSp>
        <p:nvGrpSpPr>
          <p:cNvPr id="213" name="グループ化 212">
            <a:extLst>
              <a:ext uri="{FF2B5EF4-FFF2-40B4-BE49-F238E27FC236}">
                <a16:creationId xmlns:a16="http://schemas.microsoft.com/office/drawing/2014/main" id="{09D2FD2B-BC13-E562-21E6-D1D41708E37A}"/>
              </a:ext>
            </a:extLst>
          </p:cNvPr>
          <p:cNvGrpSpPr/>
          <p:nvPr/>
        </p:nvGrpSpPr>
        <p:grpSpPr>
          <a:xfrm>
            <a:off x="5202007" y="4689014"/>
            <a:ext cx="1531092" cy="1440374"/>
            <a:chOff x="5202007" y="3068996"/>
            <a:chExt cx="1531092" cy="1440374"/>
          </a:xfrm>
        </p:grpSpPr>
        <p:sp>
          <p:nvSpPr>
            <p:cNvPr id="214" name="正方形/長方形 213">
              <a:extLst>
                <a:ext uri="{FF2B5EF4-FFF2-40B4-BE49-F238E27FC236}">
                  <a16:creationId xmlns:a16="http://schemas.microsoft.com/office/drawing/2014/main" id="{6757C420-CC60-25D6-9A6D-3A630A885C30}"/>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15" name="円/楕円 69">
              <a:extLst>
                <a:ext uri="{FF2B5EF4-FFF2-40B4-BE49-F238E27FC236}">
                  <a16:creationId xmlns:a16="http://schemas.microsoft.com/office/drawing/2014/main" id="{33529E84-B0CA-C7E8-9B19-A3ECB8BC757A}"/>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16" name="直線コネクタ 215">
              <a:extLst>
                <a:ext uri="{FF2B5EF4-FFF2-40B4-BE49-F238E27FC236}">
                  <a16:creationId xmlns:a16="http://schemas.microsoft.com/office/drawing/2014/main" id="{CA7B9213-010B-9752-313C-6E229F3CFD47}"/>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17" name="直線コネクタ 216">
              <a:extLst>
                <a:ext uri="{FF2B5EF4-FFF2-40B4-BE49-F238E27FC236}">
                  <a16:creationId xmlns:a16="http://schemas.microsoft.com/office/drawing/2014/main" id="{5F4A510C-C8E8-C9BD-6017-EBBB22F516BA}"/>
                </a:ext>
              </a:extLst>
            </p:cNvPr>
            <p:cNvCxnSpPr>
              <a:cxnSpLocks/>
              <a:endCxn id="218" idx="4"/>
            </p:cNvCxnSpPr>
            <p:nvPr/>
          </p:nvCxnSpPr>
          <p:spPr>
            <a:xfrm>
              <a:off x="5965748" y="3609002"/>
              <a:ext cx="0"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18" name="円/楕円 68">
              <a:extLst>
                <a:ext uri="{FF2B5EF4-FFF2-40B4-BE49-F238E27FC236}">
                  <a16:creationId xmlns:a16="http://schemas.microsoft.com/office/drawing/2014/main" id="{CA457C54-4381-6979-1980-73A5F193BA52}"/>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19" name="直線コネクタ 218">
              <a:extLst>
                <a:ext uri="{FF2B5EF4-FFF2-40B4-BE49-F238E27FC236}">
                  <a16:creationId xmlns:a16="http://schemas.microsoft.com/office/drawing/2014/main" id="{2B79A774-5E9D-2063-EE49-CEF5BCAD7AC5}"/>
                </a:ext>
              </a:extLst>
            </p:cNvPr>
            <p:cNvCxnSpPr>
              <a:cxnSpLocks/>
              <a:endCxn id="215"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20" name="直線コネクタ 219">
              <a:extLst>
                <a:ext uri="{FF2B5EF4-FFF2-40B4-BE49-F238E27FC236}">
                  <a16:creationId xmlns:a16="http://schemas.microsoft.com/office/drawing/2014/main" id="{1A665C09-0AC5-0C76-3B57-CC676CB04639}"/>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21" name="Rectangle 93">
              <a:extLst>
                <a:ext uri="{FF2B5EF4-FFF2-40B4-BE49-F238E27FC236}">
                  <a16:creationId xmlns:a16="http://schemas.microsoft.com/office/drawing/2014/main" id="{B9CE869A-1C74-DBEC-4D9A-A2F51E5B34AA}"/>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22" name="Rectangle 93">
              <a:extLst>
                <a:ext uri="{FF2B5EF4-FFF2-40B4-BE49-F238E27FC236}">
                  <a16:creationId xmlns:a16="http://schemas.microsoft.com/office/drawing/2014/main" id="{09ACFBFF-AFB6-5A74-21AF-94314F227432}"/>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223" name="Rectangle 93">
              <a:extLst>
                <a:ext uri="{FF2B5EF4-FFF2-40B4-BE49-F238E27FC236}">
                  <a16:creationId xmlns:a16="http://schemas.microsoft.com/office/drawing/2014/main" id="{60D7CBAA-A512-99C8-E0EE-E321CF5BA915}"/>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224" name="直線コネクタ 223">
              <a:extLst>
                <a:ext uri="{FF2B5EF4-FFF2-40B4-BE49-F238E27FC236}">
                  <a16:creationId xmlns:a16="http://schemas.microsoft.com/office/drawing/2014/main" id="{07460463-69A8-2613-DC65-FA451B7350DD}"/>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25" name="直線コネクタ 224">
              <a:extLst>
                <a:ext uri="{FF2B5EF4-FFF2-40B4-BE49-F238E27FC236}">
                  <a16:creationId xmlns:a16="http://schemas.microsoft.com/office/drawing/2014/main" id="{360C38AF-BEC8-86BC-AE59-9C3459E0559E}"/>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241" name="直線コネクタ 240">
            <a:extLst>
              <a:ext uri="{FF2B5EF4-FFF2-40B4-BE49-F238E27FC236}">
                <a16:creationId xmlns:a16="http://schemas.microsoft.com/office/drawing/2014/main" id="{B5605DEF-F702-B256-B768-4CE10AECE16F}"/>
              </a:ext>
            </a:extLst>
          </p:cNvPr>
          <p:cNvCxnSpPr>
            <a:cxnSpLocks/>
          </p:cNvCxnSpPr>
          <p:nvPr/>
        </p:nvCxnSpPr>
        <p:spPr>
          <a:xfrm flipV="1">
            <a:off x="5292008" y="3609002"/>
            <a:ext cx="0" cy="180002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42" name="直線コネクタ 241">
            <a:extLst>
              <a:ext uri="{FF2B5EF4-FFF2-40B4-BE49-F238E27FC236}">
                <a16:creationId xmlns:a16="http://schemas.microsoft.com/office/drawing/2014/main" id="{E325F25E-3AA9-2669-EA8F-8AC80EACA77A}"/>
              </a:ext>
            </a:extLst>
          </p:cNvPr>
          <p:cNvCxnSpPr>
            <a:cxnSpLocks/>
          </p:cNvCxnSpPr>
          <p:nvPr/>
        </p:nvCxnSpPr>
        <p:spPr>
          <a:xfrm flipH="1">
            <a:off x="4572000" y="4509012"/>
            <a:ext cx="720008" cy="0"/>
          </a:xfrm>
          <a:prstGeom prst="line">
            <a:avLst/>
          </a:prstGeom>
          <a:ln w="6350" cap="rnd">
            <a:solidFill>
              <a:srgbClr val="000000"/>
            </a:solidFill>
            <a:headEnd type="oval" w="med" len="med"/>
            <a:tailEnd type="none"/>
          </a:ln>
        </p:spPr>
        <p:style>
          <a:lnRef idx="1">
            <a:schemeClr val="accent1"/>
          </a:lnRef>
          <a:fillRef idx="0">
            <a:schemeClr val="accent1"/>
          </a:fillRef>
          <a:effectRef idx="0">
            <a:schemeClr val="accent1"/>
          </a:effectRef>
          <a:fontRef idx="minor">
            <a:schemeClr val="tx1"/>
          </a:fontRef>
        </p:style>
      </p:cxnSp>
      <p:cxnSp>
        <p:nvCxnSpPr>
          <p:cNvPr id="243" name="直線コネクタ 242">
            <a:extLst>
              <a:ext uri="{FF2B5EF4-FFF2-40B4-BE49-F238E27FC236}">
                <a16:creationId xmlns:a16="http://schemas.microsoft.com/office/drawing/2014/main" id="{D0F22FD0-AD30-ABAE-980D-492C439CF21D}"/>
              </a:ext>
            </a:extLst>
          </p:cNvPr>
          <p:cNvCxnSpPr>
            <a:cxnSpLocks/>
          </p:cNvCxnSpPr>
          <p:nvPr/>
        </p:nvCxnSpPr>
        <p:spPr>
          <a:xfrm>
            <a:off x="6732024" y="4509012"/>
            <a:ext cx="720008" cy="0"/>
          </a:xfrm>
          <a:prstGeom prst="line">
            <a:avLst/>
          </a:prstGeom>
          <a:ln w="6350" cap="rnd">
            <a:solidFill>
              <a:srgbClr val="000000"/>
            </a:solidFill>
            <a:headEnd type="oval" w="med" len="med"/>
            <a:tailEnd type="none"/>
          </a:ln>
        </p:spPr>
        <p:style>
          <a:lnRef idx="1">
            <a:schemeClr val="accent1"/>
          </a:lnRef>
          <a:fillRef idx="0">
            <a:schemeClr val="accent1"/>
          </a:fillRef>
          <a:effectRef idx="0">
            <a:schemeClr val="accent1"/>
          </a:effectRef>
          <a:fontRef idx="minor">
            <a:schemeClr val="tx1"/>
          </a:fontRef>
        </p:style>
      </p:cxnSp>
      <p:cxnSp>
        <p:nvCxnSpPr>
          <p:cNvPr id="244" name="直線コネクタ 243">
            <a:extLst>
              <a:ext uri="{FF2B5EF4-FFF2-40B4-BE49-F238E27FC236}">
                <a16:creationId xmlns:a16="http://schemas.microsoft.com/office/drawing/2014/main" id="{224D4022-A50D-5B51-B840-AA3F8829B7DD}"/>
              </a:ext>
            </a:extLst>
          </p:cNvPr>
          <p:cNvCxnSpPr>
            <a:cxnSpLocks/>
          </p:cNvCxnSpPr>
          <p:nvPr/>
        </p:nvCxnSpPr>
        <p:spPr>
          <a:xfrm flipV="1">
            <a:off x="6732024" y="3969006"/>
            <a:ext cx="0" cy="108001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45" name="Rectangle 93">
            <a:extLst>
              <a:ext uri="{FF2B5EF4-FFF2-40B4-BE49-F238E27FC236}">
                <a16:creationId xmlns:a16="http://schemas.microsoft.com/office/drawing/2014/main" id="{23F7DEAA-E52D-E17C-1F0C-60C90883E794}"/>
              </a:ext>
            </a:extLst>
          </p:cNvPr>
          <p:cNvSpPr>
            <a:spLocks noChangeArrowheads="1"/>
          </p:cNvSpPr>
          <p:nvPr/>
        </p:nvSpPr>
        <p:spPr bwMode="auto">
          <a:xfrm>
            <a:off x="457200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n-ea"/>
              </a:rPr>
              <a:t>a</a:t>
            </a:r>
          </a:p>
        </p:txBody>
      </p:sp>
      <p:sp>
        <p:nvSpPr>
          <p:cNvPr id="246" name="Rectangle 93">
            <a:extLst>
              <a:ext uri="{FF2B5EF4-FFF2-40B4-BE49-F238E27FC236}">
                <a16:creationId xmlns:a16="http://schemas.microsoft.com/office/drawing/2014/main" id="{8B813A1D-A329-1518-5C96-CD4E7F2CA797}"/>
              </a:ext>
            </a:extLst>
          </p:cNvPr>
          <p:cNvSpPr>
            <a:spLocks noChangeArrowheads="1"/>
          </p:cNvSpPr>
          <p:nvPr/>
        </p:nvSpPr>
        <p:spPr bwMode="auto">
          <a:xfrm>
            <a:off x="7092028"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n-ea"/>
              </a:rPr>
              <a:t>b</a:t>
            </a:r>
          </a:p>
        </p:txBody>
      </p:sp>
      <p:grpSp>
        <p:nvGrpSpPr>
          <p:cNvPr id="247" name="グループ化 246">
            <a:extLst>
              <a:ext uri="{FF2B5EF4-FFF2-40B4-BE49-F238E27FC236}">
                <a16:creationId xmlns:a16="http://schemas.microsoft.com/office/drawing/2014/main" id="{9359519E-9A68-A55A-E41A-DA40622E6171}"/>
              </a:ext>
            </a:extLst>
          </p:cNvPr>
          <p:cNvGrpSpPr/>
          <p:nvPr/>
        </p:nvGrpSpPr>
        <p:grpSpPr>
          <a:xfrm>
            <a:off x="6372020" y="5769026"/>
            <a:ext cx="450005" cy="900368"/>
            <a:chOff x="7272030" y="5768668"/>
            <a:chExt cx="450005" cy="900368"/>
          </a:xfrm>
        </p:grpSpPr>
        <p:grpSp>
          <p:nvGrpSpPr>
            <p:cNvPr id="248" name="グループ化 152">
              <a:extLst>
                <a:ext uri="{FF2B5EF4-FFF2-40B4-BE49-F238E27FC236}">
                  <a16:creationId xmlns:a16="http://schemas.microsoft.com/office/drawing/2014/main" id="{2F843937-0A7F-9C8B-D5C2-CBB2D143A921}"/>
                </a:ext>
              </a:extLst>
            </p:cNvPr>
            <p:cNvGrpSpPr/>
            <p:nvPr/>
          </p:nvGrpSpPr>
          <p:grpSpPr>
            <a:xfrm>
              <a:off x="7542033" y="6218673"/>
              <a:ext cx="180002" cy="90001"/>
              <a:chOff x="3643306" y="4500570"/>
              <a:chExt cx="428628" cy="144464"/>
            </a:xfrm>
          </p:grpSpPr>
          <p:cxnSp>
            <p:nvCxnSpPr>
              <p:cNvPr id="251" name="直線コネクタ 250">
                <a:extLst>
                  <a:ext uri="{FF2B5EF4-FFF2-40B4-BE49-F238E27FC236}">
                    <a16:creationId xmlns:a16="http://schemas.microsoft.com/office/drawing/2014/main" id="{C29C0043-F061-476D-1860-E6AA7A463CBA}"/>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52" name="直線コネクタ 251">
                <a:extLst>
                  <a:ext uri="{FF2B5EF4-FFF2-40B4-BE49-F238E27FC236}">
                    <a16:creationId xmlns:a16="http://schemas.microsoft.com/office/drawing/2014/main" id="{1B21F8BE-903E-1AA4-9341-ADB5F8C94F8D}"/>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53" name="直線コネクタ 252">
                <a:extLst>
                  <a:ext uri="{FF2B5EF4-FFF2-40B4-BE49-F238E27FC236}">
                    <a16:creationId xmlns:a16="http://schemas.microsoft.com/office/drawing/2014/main" id="{05959C87-47B1-E546-6899-0BD1E9B649E5}"/>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249" name="直線コネクタ 248">
              <a:extLst>
                <a:ext uri="{FF2B5EF4-FFF2-40B4-BE49-F238E27FC236}">
                  <a16:creationId xmlns:a16="http://schemas.microsoft.com/office/drawing/2014/main" id="{D8F1CCA8-4964-C462-5EBB-81D57772C576}"/>
                </a:ext>
              </a:extLst>
            </p:cNvPr>
            <p:cNvCxnSpPr>
              <a:cxnSpLocks/>
            </p:cNvCxnSpPr>
            <p:nvPr/>
          </p:nvCxnSpPr>
          <p:spPr>
            <a:xfrm flipV="1">
              <a:off x="7632034" y="576866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50" name="Rectangle 93">
              <a:extLst>
                <a:ext uri="{FF2B5EF4-FFF2-40B4-BE49-F238E27FC236}">
                  <a16:creationId xmlns:a16="http://schemas.microsoft.com/office/drawing/2014/main" id="{F537674D-7854-C277-2BB9-04332A9DCF73}"/>
                </a:ext>
              </a:extLst>
            </p:cNvPr>
            <p:cNvSpPr>
              <a:spLocks noChangeArrowheads="1"/>
            </p:cNvSpPr>
            <p:nvPr/>
          </p:nvSpPr>
          <p:spPr bwMode="auto">
            <a:xfrm>
              <a:off x="7272030" y="630867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grpSp>
      <p:grpSp>
        <p:nvGrpSpPr>
          <p:cNvPr id="254" name="グループ化 253">
            <a:extLst>
              <a:ext uri="{FF2B5EF4-FFF2-40B4-BE49-F238E27FC236}">
                <a16:creationId xmlns:a16="http://schemas.microsoft.com/office/drawing/2014/main" id="{463F0C2E-68EF-9203-6440-53A4FC134B49}"/>
              </a:ext>
            </a:extLst>
          </p:cNvPr>
          <p:cNvGrpSpPr/>
          <p:nvPr/>
        </p:nvGrpSpPr>
        <p:grpSpPr>
          <a:xfrm>
            <a:off x="6462021" y="2438989"/>
            <a:ext cx="450049" cy="810009"/>
            <a:chOff x="7362031" y="2528632"/>
            <a:chExt cx="450049" cy="810009"/>
          </a:xfrm>
        </p:grpSpPr>
        <p:cxnSp>
          <p:nvCxnSpPr>
            <p:cNvPr id="255" name="直線コネクタ 254">
              <a:extLst>
                <a:ext uri="{FF2B5EF4-FFF2-40B4-BE49-F238E27FC236}">
                  <a16:creationId xmlns:a16="http://schemas.microsoft.com/office/drawing/2014/main" id="{5767B4D0-FA96-44C0-85DB-E5A905127F9B}"/>
                </a:ext>
              </a:extLst>
            </p:cNvPr>
            <p:cNvCxnSpPr>
              <a:cxnSpLocks/>
            </p:cNvCxnSpPr>
            <p:nvPr/>
          </p:nvCxnSpPr>
          <p:spPr>
            <a:xfrm flipV="1">
              <a:off x="7632034" y="2888636"/>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56" name="直線コネクタ 255">
              <a:extLst>
                <a:ext uri="{FF2B5EF4-FFF2-40B4-BE49-F238E27FC236}">
                  <a16:creationId xmlns:a16="http://schemas.microsoft.com/office/drawing/2014/main" id="{10A2DAC7-0C81-E91D-5F58-DDAF2E01788E}"/>
                </a:ext>
              </a:extLst>
            </p:cNvPr>
            <p:cNvCxnSpPr/>
            <p:nvPr/>
          </p:nvCxnSpPr>
          <p:spPr>
            <a:xfrm>
              <a:off x="7452032" y="2888636"/>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57" name="Rectangle 93">
              <a:extLst>
                <a:ext uri="{FF2B5EF4-FFF2-40B4-BE49-F238E27FC236}">
                  <a16:creationId xmlns:a16="http://schemas.microsoft.com/office/drawing/2014/main" id="{78FDD82C-B903-E733-1208-3DDA4D7D4CCA}"/>
                </a:ext>
              </a:extLst>
            </p:cNvPr>
            <p:cNvSpPr>
              <a:spLocks noChangeArrowheads="1"/>
            </p:cNvSpPr>
            <p:nvPr/>
          </p:nvSpPr>
          <p:spPr bwMode="auto">
            <a:xfrm>
              <a:off x="7362031" y="2528632"/>
              <a:ext cx="270003" cy="360362"/>
            </a:xfrm>
            <a:prstGeom prst="rect">
              <a:avLst/>
            </a:prstGeom>
            <a:noFill/>
            <a:ln w="12700" algn="ctr">
              <a:noFill/>
              <a:miter lim="800000"/>
              <a:headEnd/>
              <a:tailEnd/>
            </a:ln>
            <a:effectLst/>
          </p:spPr>
          <p:txBody>
            <a:bodyPr wrap="none" lIns="90000" tIns="46800" rIns="90000" bIns="46800" anchor="ctr"/>
            <a:lstStyle/>
            <a:p>
              <a:r>
                <a:rPr lang="en-US" altLang="ja-JP" b="0" i="0" dirty="0">
                  <a:latin typeface="+mj-lt"/>
                </a:rPr>
                <a:t>VDD</a:t>
              </a:r>
              <a:endParaRPr lang="en-US" altLang="ja-JP" dirty="0"/>
            </a:p>
          </p:txBody>
        </p:sp>
      </p:grpSp>
      <p:sp>
        <p:nvSpPr>
          <p:cNvPr id="258" name="Rectangle 93">
            <a:extLst>
              <a:ext uri="{FF2B5EF4-FFF2-40B4-BE49-F238E27FC236}">
                <a16:creationId xmlns:a16="http://schemas.microsoft.com/office/drawing/2014/main" id="{BFB63D3F-AF71-542E-0C39-90F2213D36D0}"/>
              </a:ext>
            </a:extLst>
          </p:cNvPr>
          <p:cNvSpPr>
            <a:spLocks noChangeArrowheads="1"/>
          </p:cNvSpPr>
          <p:nvPr/>
        </p:nvSpPr>
        <p:spPr bwMode="auto">
          <a:xfrm>
            <a:off x="341953" y="432901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rPr>
              <a:t>0</a:t>
            </a:r>
          </a:p>
        </p:txBody>
      </p:sp>
      <p:sp>
        <p:nvSpPr>
          <p:cNvPr id="259" name="Rectangle 93">
            <a:extLst>
              <a:ext uri="{FF2B5EF4-FFF2-40B4-BE49-F238E27FC236}">
                <a16:creationId xmlns:a16="http://schemas.microsoft.com/office/drawing/2014/main" id="{0FBB2383-958D-2B78-E519-D84594D14929}"/>
              </a:ext>
            </a:extLst>
          </p:cNvPr>
          <p:cNvSpPr>
            <a:spLocks noChangeArrowheads="1"/>
          </p:cNvSpPr>
          <p:nvPr/>
        </p:nvSpPr>
        <p:spPr bwMode="auto">
          <a:xfrm>
            <a:off x="3491988" y="432901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rPr>
              <a:t>1</a:t>
            </a:r>
          </a:p>
        </p:txBody>
      </p:sp>
      <p:sp>
        <p:nvSpPr>
          <p:cNvPr id="261" name="Rectangle 93">
            <a:extLst>
              <a:ext uri="{FF2B5EF4-FFF2-40B4-BE49-F238E27FC236}">
                <a16:creationId xmlns:a16="http://schemas.microsoft.com/office/drawing/2014/main" id="{D406EC6A-D193-D572-10B8-DC40E38C8B39}"/>
              </a:ext>
            </a:extLst>
          </p:cNvPr>
          <p:cNvSpPr>
            <a:spLocks noChangeArrowheads="1"/>
          </p:cNvSpPr>
          <p:nvPr/>
        </p:nvSpPr>
        <p:spPr bwMode="auto">
          <a:xfrm>
            <a:off x="4301997" y="432901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rPr>
              <a:t>1</a:t>
            </a:r>
          </a:p>
        </p:txBody>
      </p:sp>
      <p:sp>
        <p:nvSpPr>
          <p:cNvPr id="262" name="Rectangle 93">
            <a:extLst>
              <a:ext uri="{FF2B5EF4-FFF2-40B4-BE49-F238E27FC236}">
                <a16:creationId xmlns:a16="http://schemas.microsoft.com/office/drawing/2014/main" id="{BD8A4CF3-9B11-E43C-DB2A-F57C05B79ED7}"/>
              </a:ext>
            </a:extLst>
          </p:cNvPr>
          <p:cNvSpPr>
            <a:spLocks noChangeArrowheads="1"/>
          </p:cNvSpPr>
          <p:nvPr/>
        </p:nvSpPr>
        <p:spPr bwMode="auto">
          <a:xfrm>
            <a:off x="7452032" y="432901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rPr>
              <a:t>0</a:t>
            </a:r>
          </a:p>
        </p:txBody>
      </p:sp>
      <p:grpSp>
        <p:nvGrpSpPr>
          <p:cNvPr id="4" name="グループ化 3">
            <a:extLst>
              <a:ext uri="{FF2B5EF4-FFF2-40B4-BE49-F238E27FC236}">
                <a16:creationId xmlns:a16="http://schemas.microsoft.com/office/drawing/2014/main" id="{9D5C6644-17F7-DF87-B4BB-14D7DEA483B9}"/>
              </a:ext>
            </a:extLst>
          </p:cNvPr>
          <p:cNvGrpSpPr/>
          <p:nvPr/>
        </p:nvGrpSpPr>
        <p:grpSpPr>
          <a:xfrm>
            <a:off x="1241963" y="2888994"/>
            <a:ext cx="1531092" cy="1440374"/>
            <a:chOff x="5202007" y="2708992"/>
            <a:chExt cx="1531092" cy="1440374"/>
          </a:xfrm>
        </p:grpSpPr>
        <p:grpSp>
          <p:nvGrpSpPr>
            <p:cNvPr id="5" name="グループ化 4">
              <a:extLst>
                <a:ext uri="{FF2B5EF4-FFF2-40B4-BE49-F238E27FC236}">
                  <a16:creationId xmlns:a16="http://schemas.microsoft.com/office/drawing/2014/main" id="{0DF5CD34-FE86-8A7F-DB1C-32226169C2A0}"/>
                </a:ext>
              </a:extLst>
            </p:cNvPr>
            <p:cNvGrpSpPr/>
            <p:nvPr/>
          </p:nvGrpSpPr>
          <p:grpSpPr>
            <a:xfrm>
              <a:off x="5202007" y="2708992"/>
              <a:ext cx="1531092" cy="1440374"/>
              <a:chOff x="5202007" y="3068996"/>
              <a:chExt cx="1531092" cy="1440374"/>
            </a:xfrm>
          </p:grpSpPr>
          <p:sp>
            <p:nvSpPr>
              <p:cNvPr id="7" name="正方形/長方形 6">
                <a:extLst>
                  <a:ext uri="{FF2B5EF4-FFF2-40B4-BE49-F238E27FC236}">
                    <a16:creationId xmlns:a16="http://schemas.microsoft.com/office/drawing/2014/main" id="{88AD6DA1-1953-853D-C54C-05F384620795}"/>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8" name="円/楕円 69">
                <a:extLst>
                  <a:ext uri="{FF2B5EF4-FFF2-40B4-BE49-F238E27FC236}">
                    <a16:creationId xmlns:a16="http://schemas.microsoft.com/office/drawing/2014/main" id="{94B33332-1EEB-59C0-993C-9BA78B69F063}"/>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9" name="直線コネクタ 8">
                <a:extLst>
                  <a:ext uri="{FF2B5EF4-FFF2-40B4-BE49-F238E27FC236}">
                    <a16:creationId xmlns:a16="http://schemas.microsoft.com/office/drawing/2014/main" id="{D4DA51BE-3239-81E3-5BEE-622419DE28E4}"/>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095467A8-B891-DD3C-1E68-D419F005983B}"/>
                  </a:ext>
                </a:extLst>
              </p:cNvPr>
              <p:cNvCxnSpPr>
                <a:cxnSpLocks/>
                <a:endCxn id="11" idx="4"/>
              </p:cNvCxnSpPr>
              <p:nvPr/>
            </p:nvCxnSpPr>
            <p:spPr>
              <a:xfrm>
                <a:off x="5965748" y="3609002"/>
                <a:ext cx="0"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1" name="円/楕円 68">
                <a:extLst>
                  <a:ext uri="{FF2B5EF4-FFF2-40B4-BE49-F238E27FC236}">
                    <a16:creationId xmlns:a16="http://schemas.microsoft.com/office/drawing/2014/main" id="{EF147CE7-2645-04D4-94DB-F2DA588A0FF1}"/>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2" name="直線コネクタ 11">
                <a:extLst>
                  <a:ext uri="{FF2B5EF4-FFF2-40B4-BE49-F238E27FC236}">
                    <a16:creationId xmlns:a16="http://schemas.microsoft.com/office/drawing/2014/main" id="{F91270B5-DC2A-699D-2404-B3DF96C71827}"/>
                  </a:ext>
                </a:extLst>
              </p:cNvPr>
              <p:cNvCxnSpPr>
                <a:cxnSpLocks/>
                <a:endCxn id="8"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3" name="直線コネクタ 12">
                <a:extLst>
                  <a:ext uri="{FF2B5EF4-FFF2-40B4-BE49-F238E27FC236}">
                    <a16:creationId xmlns:a16="http://schemas.microsoft.com/office/drawing/2014/main" id="{6D9029EA-E148-4262-A462-F8459BF08AF9}"/>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4" name="Rectangle 93">
                <a:extLst>
                  <a:ext uri="{FF2B5EF4-FFF2-40B4-BE49-F238E27FC236}">
                    <a16:creationId xmlns:a16="http://schemas.microsoft.com/office/drawing/2014/main" id="{89BFD26E-1012-E7D4-A523-56E1E1922865}"/>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5" name="Rectangle 93">
                <a:extLst>
                  <a:ext uri="{FF2B5EF4-FFF2-40B4-BE49-F238E27FC236}">
                    <a16:creationId xmlns:a16="http://schemas.microsoft.com/office/drawing/2014/main" id="{DEF67275-5DDA-22E8-08DE-FDC82F49823C}"/>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16" name="Rectangle 93">
                <a:extLst>
                  <a:ext uri="{FF2B5EF4-FFF2-40B4-BE49-F238E27FC236}">
                    <a16:creationId xmlns:a16="http://schemas.microsoft.com/office/drawing/2014/main" id="{4122AD23-BD8D-05BC-1EAB-C4A35C872AD2}"/>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17" name="直線コネクタ 16">
                <a:extLst>
                  <a:ext uri="{FF2B5EF4-FFF2-40B4-BE49-F238E27FC236}">
                    <a16:creationId xmlns:a16="http://schemas.microsoft.com/office/drawing/2014/main" id="{D765D1BA-4A66-C95C-A42B-372211CE23F9}"/>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 name="直線コネクタ 17">
                <a:extLst>
                  <a:ext uri="{FF2B5EF4-FFF2-40B4-BE49-F238E27FC236}">
                    <a16:creationId xmlns:a16="http://schemas.microsoft.com/office/drawing/2014/main" id="{10FAD92C-2756-D832-D999-5971288DE064}"/>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6" name="円/楕円 69">
              <a:extLst>
                <a:ext uri="{FF2B5EF4-FFF2-40B4-BE49-F238E27FC236}">
                  <a16:creationId xmlns:a16="http://schemas.microsoft.com/office/drawing/2014/main" id="{277D1E25-CDD3-5C43-379E-4F8ACBB558CC}"/>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nvGrpSpPr>
          <p:cNvPr id="19" name="グループ化 18">
            <a:extLst>
              <a:ext uri="{FF2B5EF4-FFF2-40B4-BE49-F238E27FC236}">
                <a16:creationId xmlns:a16="http://schemas.microsoft.com/office/drawing/2014/main" id="{DDA7DA1A-A7CB-40B5-08B8-CE47972F26F2}"/>
              </a:ext>
            </a:extLst>
          </p:cNvPr>
          <p:cNvGrpSpPr/>
          <p:nvPr/>
        </p:nvGrpSpPr>
        <p:grpSpPr>
          <a:xfrm>
            <a:off x="5202007" y="2888994"/>
            <a:ext cx="1531092" cy="1440374"/>
            <a:chOff x="5202007" y="2708992"/>
            <a:chExt cx="1531092" cy="1440374"/>
          </a:xfrm>
        </p:grpSpPr>
        <p:grpSp>
          <p:nvGrpSpPr>
            <p:cNvPr id="20" name="グループ化 19">
              <a:extLst>
                <a:ext uri="{FF2B5EF4-FFF2-40B4-BE49-F238E27FC236}">
                  <a16:creationId xmlns:a16="http://schemas.microsoft.com/office/drawing/2014/main" id="{6E93DA43-D468-3460-1773-9FEDA6C00097}"/>
                </a:ext>
              </a:extLst>
            </p:cNvPr>
            <p:cNvGrpSpPr/>
            <p:nvPr/>
          </p:nvGrpSpPr>
          <p:grpSpPr>
            <a:xfrm>
              <a:off x="5202007" y="2708992"/>
              <a:ext cx="1531092" cy="1440374"/>
              <a:chOff x="5202007" y="3068996"/>
              <a:chExt cx="1531092" cy="1440374"/>
            </a:xfrm>
          </p:grpSpPr>
          <p:sp>
            <p:nvSpPr>
              <p:cNvPr id="22" name="正方形/長方形 21">
                <a:extLst>
                  <a:ext uri="{FF2B5EF4-FFF2-40B4-BE49-F238E27FC236}">
                    <a16:creationId xmlns:a16="http://schemas.microsoft.com/office/drawing/2014/main" id="{0F61585C-0E2B-4566-7C7C-52C6798353C1}"/>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3" name="円/楕円 69">
                <a:extLst>
                  <a:ext uri="{FF2B5EF4-FFF2-40B4-BE49-F238E27FC236}">
                    <a16:creationId xmlns:a16="http://schemas.microsoft.com/office/drawing/2014/main" id="{04E46F4D-7D24-83BC-B369-AA5DB8A83C53}"/>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4" name="直線コネクタ 23">
                <a:extLst>
                  <a:ext uri="{FF2B5EF4-FFF2-40B4-BE49-F238E27FC236}">
                    <a16:creationId xmlns:a16="http://schemas.microsoft.com/office/drawing/2014/main" id="{C43D20CE-65E9-12EA-7175-DDDCE5DE30CF}"/>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62CC533A-65FF-F253-56D6-57FA3C3DA974}"/>
                  </a:ext>
                </a:extLst>
              </p:cNvPr>
              <p:cNvCxnSpPr>
                <a:cxnSpLocks/>
                <a:endCxn id="26" idx="4"/>
              </p:cNvCxnSpPr>
              <p:nvPr/>
            </p:nvCxnSpPr>
            <p:spPr>
              <a:xfrm>
                <a:off x="5832014" y="3609002"/>
                <a:ext cx="133734"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6" name="円/楕円 68">
                <a:extLst>
                  <a:ext uri="{FF2B5EF4-FFF2-40B4-BE49-F238E27FC236}">
                    <a16:creationId xmlns:a16="http://schemas.microsoft.com/office/drawing/2014/main" id="{A26AC90B-3976-30F4-6B32-8814E2FF79B6}"/>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7" name="直線コネクタ 26">
                <a:extLst>
                  <a:ext uri="{FF2B5EF4-FFF2-40B4-BE49-F238E27FC236}">
                    <a16:creationId xmlns:a16="http://schemas.microsoft.com/office/drawing/2014/main" id="{18FC9601-D083-0C48-85AB-B6AED0793A02}"/>
                  </a:ext>
                </a:extLst>
              </p:cNvPr>
              <p:cNvCxnSpPr>
                <a:cxnSpLocks/>
                <a:endCxn id="23"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 name="直線コネクタ 27">
                <a:extLst>
                  <a:ext uri="{FF2B5EF4-FFF2-40B4-BE49-F238E27FC236}">
                    <a16:creationId xmlns:a16="http://schemas.microsoft.com/office/drawing/2014/main" id="{1275D1F4-791C-9327-8D7A-6C190242B6FD}"/>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9" name="Rectangle 93">
                <a:extLst>
                  <a:ext uri="{FF2B5EF4-FFF2-40B4-BE49-F238E27FC236}">
                    <a16:creationId xmlns:a16="http://schemas.microsoft.com/office/drawing/2014/main" id="{049FB911-97B0-C7B2-F0A3-17E8DB0EC211}"/>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30" name="Rectangle 93">
                <a:extLst>
                  <a:ext uri="{FF2B5EF4-FFF2-40B4-BE49-F238E27FC236}">
                    <a16:creationId xmlns:a16="http://schemas.microsoft.com/office/drawing/2014/main" id="{E7AF9F66-308D-B218-3883-8195BEADAFA6}"/>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31" name="Rectangle 93">
                <a:extLst>
                  <a:ext uri="{FF2B5EF4-FFF2-40B4-BE49-F238E27FC236}">
                    <a16:creationId xmlns:a16="http://schemas.microsoft.com/office/drawing/2014/main" id="{6062679B-F9BB-D479-0D8E-DE5C7683ACA5}"/>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32" name="直線コネクタ 31">
                <a:extLst>
                  <a:ext uri="{FF2B5EF4-FFF2-40B4-BE49-F238E27FC236}">
                    <a16:creationId xmlns:a16="http://schemas.microsoft.com/office/drawing/2014/main" id="{9FD4AA1C-3AE5-5813-114E-8C477169F533}"/>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a16:creationId xmlns:a16="http://schemas.microsoft.com/office/drawing/2014/main" id="{BB4C4CB3-C758-DDCC-7EB9-86631B50AB03}"/>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21" name="円/楕円 69">
              <a:extLst>
                <a:ext uri="{FF2B5EF4-FFF2-40B4-BE49-F238E27FC236}">
                  <a16:creationId xmlns:a16="http://schemas.microsoft.com/office/drawing/2014/main" id="{3812F685-3992-346F-EC81-6D4B27567970}"/>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spTree>
    <p:extLst>
      <p:ext uri="{BB962C8B-B14F-4D97-AF65-F5344CB8AC3E}">
        <p14:creationId xmlns:p14="http://schemas.microsoft.com/office/powerpoint/2010/main" val="179542486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9760A71-B915-4093-646D-0853CE010C39}"/>
              </a:ext>
            </a:extLst>
          </p:cNvPr>
          <p:cNvSpPr>
            <a:spLocks noGrp="1"/>
          </p:cNvSpPr>
          <p:nvPr>
            <p:ph type="title"/>
          </p:nvPr>
        </p:nvSpPr>
        <p:spPr/>
        <p:txBody>
          <a:bodyPr/>
          <a:lstStyle/>
          <a:p>
            <a:r>
              <a:rPr lang="en-US" altLang="ja-JP" dirty="0"/>
              <a:t>NAND </a:t>
            </a:r>
            <a:r>
              <a:rPr lang="ja-JP" altLang="en-US" dirty="0"/>
              <a:t>ゲート</a:t>
            </a:r>
            <a:endParaRPr lang="en-US" dirty="0"/>
          </a:p>
        </p:txBody>
      </p:sp>
      <p:sp>
        <p:nvSpPr>
          <p:cNvPr id="3" name="コンテンツ プレースホルダー 2">
            <a:extLst>
              <a:ext uri="{FF2B5EF4-FFF2-40B4-BE49-F238E27FC236}">
                <a16:creationId xmlns:a16="http://schemas.microsoft.com/office/drawing/2014/main" id="{6500B301-4C05-2F54-477C-AF3B848D014B}"/>
              </a:ext>
            </a:extLst>
          </p:cNvPr>
          <p:cNvSpPr>
            <a:spLocks noGrp="1"/>
          </p:cNvSpPr>
          <p:nvPr>
            <p:ph sz="quarter" idx="10"/>
          </p:nvPr>
        </p:nvSpPr>
        <p:spPr>
          <a:xfrm>
            <a:off x="611956" y="1088975"/>
            <a:ext cx="8280092" cy="1620018"/>
          </a:xfrm>
        </p:spPr>
        <p:txBody>
          <a:bodyPr/>
          <a:lstStyle/>
          <a:p>
            <a:r>
              <a:rPr lang="en-US" altLang="ja-JP" dirty="0"/>
              <a:t>NAND </a:t>
            </a:r>
            <a:r>
              <a:rPr lang="ja-JP" altLang="en-US" dirty="0"/>
              <a:t>は </a:t>
            </a:r>
            <a:r>
              <a:rPr lang="en-US" altLang="ja-JP" dirty="0"/>
              <a:t>AND </a:t>
            </a:r>
            <a:r>
              <a:rPr lang="ja-JP" altLang="en-US" dirty="0"/>
              <a:t>の結果の </a:t>
            </a:r>
            <a:r>
              <a:rPr lang="en-US" altLang="ja-JP" dirty="0"/>
              <a:t>NOT </a:t>
            </a:r>
            <a:r>
              <a:rPr lang="ja-JP" altLang="en-US" dirty="0"/>
              <a:t>をとったもの</a:t>
            </a:r>
            <a:endParaRPr lang="en-US" altLang="ja-JP" dirty="0"/>
          </a:p>
          <a:p>
            <a:pPr lvl="1"/>
            <a:r>
              <a:rPr lang="ja-JP" altLang="en-US" dirty="0"/>
              <a:t>左側が </a:t>
            </a:r>
            <a:r>
              <a:rPr lang="en-US" altLang="ja-JP" dirty="0"/>
              <a:t>AND </a:t>
            </a:r>
            <a:r>
              <a:rPr lang="ja-JP" altLang="en-US" dirty="0"/>
              <a:t>右側が </a:t>
            </a:r>
            <a:r>
              <a:rPr lang="en-US" altLang="ja-JP" dirty="0"/>
              <a:t>NAND</a:t>
            </a:r>
          </a:p>
          <a:p>
            <a:pPr lvl="1"/>
            <a:r>
              <a:rPr lang="en-US" altLang="ja-JP" dirty="0"/>
              <a:t>NAND </a:t>
            </a:r>
            <a:r>
              <a:rPr lang="ja-JP" altLang="en-US" dirty="0"/>
              <a:t>は </a:t>
            </a:r>
            <a:r>
              <a:rPr lang="en-US" altLang="ja-JP" dirty="0"/>
              <a:t>AND </a:t>
            </a:r>
            <a:r>
              <a:rPr lang="ja-JP" altLang="en-US" dirty="0"/>
              <a:t>の後ろに白丸（反転）がある形で描く</a:t>
            </a:r>
            <a:endParaRPr lang="en-US" dirty="0"/>
          </a:p>
        </p:txBody>
      </p:sp>
      <p:graphicFrame>
        <p:nvGraphicFramePr>
          <p:cNvPr id="5" name="Group 383">
            <a:extLst>
              <a:ext uri="{FF2B5EF4-FFF2-40B4-BE49-F238E27FC236}">
                <a16:creationId xmlns:a16="http://schemas.microsoft.com/office/drawing/2014/main" id="{44CF10AD-7774-CD1D-534A-0BE39A491A0E}"/>
              </a:ext>
            </a:extLst>
          </p:cNvPr>
          <p:cNvGraphicFramePr>
            <a:graphicFrameLocks/>
          </p:cNvGraphicFramePr>
          <p:nvPr>
            <p:extLst>
              <p:ext uri="{D42A27DB-BD31-4B8C-83A1-F6EECF244321}">
                <p14:modId xmlns:p14="http://schemas.microsoft.com/office/powerpoint/2010/main" val="3943185823"/>
              </p:ext>
            </p:extLst>
          </p:nvPr>
        </p:nvGraphicFramePr>
        <p:xfrm>
          <a:off x="5202007" y="4149008"/>
          <a:ext cx="1439862" cy="2071690"/>
        </p:xfrm>
        <a:graphic>
          <a:graphicData uri="http://schemas.openxmlformats.org/drawingml/2006/table">
            <a:tbl>
              <a:tblPr/>
              <a:tblGrid>
                <a:gridCol w="479425">
                  <a:extLst>
                    <a:ext uri="{9D8B030D-6E8A-4147-A177-3AD203B41FA5}">
                      <a16:colId xmlns:a16="http://schemas.microsoft.com/office/drawing/2014/main" val="20000"/>
                    </a:ext>
                  </a:extLst>
                </a:gridCol>
                <a:gridCol w="481012">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c</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mn-ea"/>
                          <a:ea typeface="+mn-ea"/>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6" name="Line 9">
            <a:extLst>
              <a:ext uri="{FF2B5EF4-FFF2-40B4-BE49-F238E27FC236}">
                <a16:creationId xmlns:a16="http://schemas.microsoft.com/office/drawing/2014/main" id="{A6267ECB-1E91-FADD-09AD-698517BB0FD1}"/>
              </a:ext>
            </a:extLst>
          </p:cNvPr>
          <p:cNvSpPr>
            <a:spLocks noChangeShapeType="1"/>
          </p:cNvSpPr>
          <p:nvPr/>
        </p:nvSpPr>
        <p:spPr bwMode="auto">
          <a:xfrm>
            <a:off x="5291709" y="3250189"/>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7" name="Line 10">
            <a:extLst>
              <a:ext uri="{FF2B5EF4-FFF2-40B4-BE49-F238E27FC236}">
                <a16:creationId xmlns:a16="http://schemas.microsoft.com/office/drawing/2014/main" id="{B996065F-5CA5-428C-672A-7637E8AA7282}"/>
              </a:ext>
            </a:extLst>
          </p:cNvPr>
          <p:cNvSpPr>
            <a:spLocks noChangeShapeType="1"/>
          </p:cNvSpPr>
          <p:nvPr/>
        </p:nvSpPr>
        <p:spPr bwMode="auto">
          <a:xfrm>
            <a:off x="5291709" y="3610551"/>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8" name="Line 11">
            <a:extLst>
              <a:ext uri="{FF2B5EF4-FFF2-40B4-BE49-F238E27FC236}">
                <a16:creationId xmlns:a16="http://schemas.microsoft.com/office/drawing/2014/main" id="{10FB03F6-469A-BABA-08D1-7648F9846B2E}"/>
              </a:ext>
            </a:extLst>
          </p:cNvPr>
          <p:cNvSpPr>
            <a:spLocks noChangeShapeType="1"/>
          </p:cNvSpPr>
          <p:nvPr/>
        </p:nvSpPr>
        <p:spPr bwMode="auto">
          <a:xfrm>
            <a:off x="6372020" y="3429000"/>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9" name="Rectangle 18">
            <a:extLst>
              <a:ext uri="{FF2B5EF4-FFF2-40B4-BE49-F238E27FC236}">
                <a16:creationId xmlns:a16="http://schemas.microsoft.com/office/drawing/2014/main" id="{978EF72D-C281-DB3E-72A1-88AC45F75039}"/>
              </a:ext>
            </a:extLst>
          </p:cNvPr>
          <p:cNvSpPr>
            <a:spLocks noChangeArrowheads="1"/>
          </p:cNvSpPr>
          <p:nvPr/>
        </p:nvSpPr>
        <p:spPr bwMode="auto">
          <a:xfrm>
            <a:off x="4931346" y="3070801"/>
            <a:ext cx="360363" cy="360363"/>
          </a:xfrm>
          <a:prstGeom prst="rect">
            <a:avLst/>
          </a:prstGeom>
          <a:noFill/>
          <a:ln w="28575">
            <a:noFill/>
            <a:miter lim="800000"/>
            <a:headEnd/>
            <a:tailEnd/>
          </a:ln>
          <a:effectLst/>
        </p:spPr>
        <p:txBody>
          <a:bodyPr wrap="none" anchor="ctr"/>
          <a:lstStyle/>
          <a:p>
            <a:pPr algn="ctr"/>
            <a:r>
              <a:rPr lang="en-US" altLang="ja-JP" sz="2000" baseline="0" dirty="0">
                <a:ea typeface="MeiryoKe_PGothic" pitchFamily="50" charset="-128"/>
              </a:rPr>
              <a:t>a</a:t>
            </a:r>
          </a:p>
        </p:txBody>
      </p:sp>
      <p:sp>
        <p:nvSpPr>
          <p:cNvPr id="10" name="Rectangle 20">
            <a:extLst>
              <a:ext uri="{FF2B5EF4-FFF2-40B4-BE49-F238E27FC236}">
                <a16:creationId xmlns:a16="http://schemas.microsoft.com/office/drawing/2014/main" id="{EAA69D3A-3146-D574-DB62-D8DCF8FDFABE}"/>
              </a:ext>
            </a:extLst>
          </p:cNvPr>
          <p:cNvSpPr>
            <a:spLocks noChangeArrowheads="1"/>
          </p:cNvSpPr>
          <p:nvPr/>
        </p:nvSpPr>
        <p:spPr bwMode="auto">
          <a:xfrm>
            <a:off x="4931346" y="3429576"/>
            <a:ext cx="360363" cy="360363"/>
          </a:xfrm>
          <a:prstGeom prst="rect">
            <a:avLst/>
          </a:prstGeom>
          <a:noFill/>
          <a:ln w="28575">
            <a:noFill/>
            <a:miter lim="800000"/>
            <a:headEnd/>
            <a:tailEnd/>
          </a:ln>
          <a:effectLst/>
        </p:spPr>
        <p:txBody>
          <a:bodyPr wrap="none" anchor="ctr"/>
          <a:lstStyle/>
          <a:p>
            <a:pPr algn="ctr"/>
            <a:r>
              <a:rPr lang="en-US" altLang="ja-JP" sz="2000" baseline="0" dirty="0">
                <a:ea typeface="MeiryoKe_PGothic" pitchFamily="50" charset="-128"/>
              </a:rPr>
              <a:t>b</a:t>
            </a:r>
          </a:p>
        </p:txBody>
      </p:sp>
      <p:sp>
        <p:nvSpPr>
          <p:cNvPr id="11" name="Rectangle 21">
            <a:extLst>
              <a:ext uri="{FF2B5EF4-FFF2-40B4-BE49-F238E27FC236}">
                <a16:creationId xmlns:a16="http://schemas.microsoft.com/office/drawing/2014/main" id="{9AEA9881-CFB7-983D-4B3D-571EE255FDD2}"/>
              </a:ext>
            </a:extLst>
          </p:cNvPr>
          <p:cNvSpPr>
            <a:spLocks noChangeArrowheads="1"/>
          </p:cNvSpPr>
          <p:nvPr/>
        </p:nvSpPr>
        <p:spPr bwMode="auto">
          <a:xfrm>
            <a:off x="6822025" y="3248998"/>
            <a:ext cx="360363" cy="360362"/>
          </a:xfrm>
          <a:prstGeom prst="rect">
            <a:avLst/>
          </a:prstGeom>
          <a:noFill/>
          <a:ln w="28575">
            <a:noFill/>
            <a:miter lim="800000"/>
            <a:headEnd/>
            <a:tailEnd/>
          </a:ln>
          <a:effectLst/>
        </p:spPr>
        <p:txBody>
          <a:bodyPr wrap="none" anchor="ctr"/>
          <a:lstStyle/>
          <a:p>
            <a:pPr algn="ctr"/>
            <a:r>
              <a:rPr lang="en-US" altLang="ja-JP" sz="2000" baseline="0" dirty="0">
                <a:ea typeface="MeiryoKe_PGothic" pitchFamily="50" charset="-128"/>
              </a:rPr>
              <a:t>c</a:t>
            </a:r>
          </a:p>
        </p:txBody>
      </p:sp>
      <p:pic>
        <p:nvPicPr>
          <p:cNvPr id="12" name="Picture 83" descr="NAND">
            <a:extLst>
              <a:ext uri="{FF2B5EF4-FFF2-40B4-BE49-F238E27FC236}">
                <a16:creationId xmlns:a16="http://schemas.microsoft.com/office/drawing/2014/main" id="{684E7946-4FBA-AE72-2460-37948A882C2F}"/>
              </a:ext>
            </a:extLst>
          </p:cNvPr>
          <p:cNvPicPr>
            <a:picLocks noChangeAspect="1" noChangeArrowheads="1"/>
          </p:cNvPicPr>
          <p:nvPr/>
        </p:nvPicPr>
        <p:blipFill>
          <a:blip r:embed="rId2" cstate="print"/>
          <a:srcRect/>
          <a:stretch>
            <a:fillRect/>
          </a:stretch>
        </p:blipFill>
        <p:spPr bwMode="auto">
          <a:xfrm>
            <a:off x="5562011" y="3068996"/>
            <a:ext cx="1079500" cy="720725"/>
          </a:xfrm>
          <a:prstGeom prst="rect">
            <a:avLst/>
          </a:prstGeom>
          <a:noFill/>
        </p:spPr>
      </p:pic>
      <p:sp>
        <p:nvSpPr>
          <p:cNvPr id="16" name="Line 9">
            <a:extLst>
              <a:ext uri="{FF2B5EF4-FFF2-40B4-BE49-F238E27FC236}">
                <a16:creationId xmlns:a16="http://schemas.microsoft.com/office/drawing/2014/main" id="{1C589DBC-DE83-6803-22F9-4B665111054B}"/>
              </a:ext>
            </a:extLst>
          </p:cNvPr>
          <p:cNvSpPr>
            <a:spLocks noChangeShapeType="1"/>
          </p:cNvSpPr>
          <p:nvPr/>
        </p:nvSpPr>
        <p:spPr bwMode="auto">
          <a:xfrm>
            <a:off x="2051673" y="3250189"/>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7" name="Line 10">
            <a:extLst>
              <a:ext uri="{FF2B5EF4-FFF2-40B4-BE49-F238E27FC236}">
                <a16:creationId xmlns:a16="http://schemas.microsoft.com/office/drawing/2014/main" id="{AEDE91A7-9943-AED4-EC04-98D7783F485E}"/>
              </a:ext>
            </a:extLst>
          </p:cNvPr>
          <p:cNvSpPr>
            <a:spLocks noChangeShapeType="1"/>
          </p:cNvSpPr>
          <p:nvPr/>
        </p:nvSpPr>
        <p:spPr bwMode="auto">
          <a:xfrm>
            <a:off x="2051673" y="3610551"/>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8" name="Line 11">
            <a:extLst>
              <a:ext uri="{FF2B5EF4-FFF2-40B4-BE49-F238E27FC236}">
                <a16:creationId xmlns:a16="http://schemas.microsoft.com/office/drawing/2014/main" id="{55B5F2AB-E6BA-1605-5D89-57FC9C5E9107}"/>
              </a:ext>
            </a:extLst>
          </p:cNvPr>
          <p:cNvSpPr>
            <a:spLocks noChangeShapeType="1"/>
          </p:cNvSpPr>
          <p:nvPr/>
        </p:nvSpPr>
        <p:spPr bwMode="auto">
          <a:xfrm>
            <a:off x="3131984" y="3429000"/>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9" name="Rectangle 18">
            <a:extLst>
              <a:ext uri="{FF2B5EF4-FFF2-40B4-BE49-F238E27FC236}">
                <a16:creationId xmlns:a16="http://schemas.microsoft.com/office/drawing/2014/main" id="{F7A038E9-22BD-6904-54BD-5CC3E6F64FF4}"/>
              </a:ext>
            </a:extLst>
          </p:cNvPr>
          <p:cNvSpPr>
            <a:spLocks noChangeArrowheads="1"/>
          </p:cNvSpPr>
          <p:nvPr/>
        </p:nvSpPr>
        <p:spPr bwMode="auto">
          <a:xfrm>
            <a:off x="1691310" y="3070801"/>
            <a:ext cx="360363" cy="360363"/>
          </a:xfrm>
          <a:prstGeom prst="rect">
            <a:avLst/>
          </a:prstGeom>
          <a:noFill/>
          <a:ln w="28575">
            <a:noFill/>
            <a:miter lim="800000"/>
            <a:headEnd/>
            <a:tailEnd/>
          </a:ln>
          <a:effectLst/>
        </p:spPr>
        <p:txBody>
          <a:bodyPr wrap="none" anchor="ctr"/>
          <a:lstStyle/>
          <a:p>
            <a:pPr algn="ctr"/>
            <a:r>
              <a:rPr lang="en-US" altLang="ja-JP" sz="2000" baseline="0" dirty="0">
                <a:ea typeface="MeiryoKe_PGothic" pitchFamily="50" charset="-128"/>
              </a:rPr>
              <a:t>a</a:t>
            </a:r>
          </a:p>
        </p:txBody>
      </p:sp>
      <p:sp>
        <p:nvSpPr>
          <p:cNvPr id="20" name="Rectangle 20">
            <a:extLst>
              <a:ext uri="{FF2B5EF4-FFF2-40B4-BE49-F238E27FC236}">
                <a16:creationId xmlns:a16="http://schemas.microsoft.com/office/drawing/2014/main" id="{31A8AACC-768E-627D-55CB-5A62AD4F95E8}"/>
              </a:ext>
            </a:extLst>
          </p:cNvPr>
          <p:cNvSpPr>
            <a:spLocks noChangeArrowheads="1"/>
          </p:cNvSpPr>
          <p:nvPr/>
        </p:nvSpPr>
        <p:spPr bwMode="auto">
          <a:xfrm>
            <a:off x="1691310" y="3429576"/>
            <a:ext cx="360363" cy="360363"/>
          </a:xfrm>
          <a:prstGeom prst="rect">
            <a:avLst/>
          </a:prstGeom>
          <a:noFill/>
          <a:ln w="28575">
            <a:noFill/>
            <a:miter lim="800000"/>
            <a:headEnd/>
            <a:tailEnd/>
          </a:ln>
          <a:effectLst/>
        </p:spPr>
        <p:txBody>
          <a:bodyPr wrap="none" anchor="ctr"/>
          <a:lstStyle/>
          <a:p>
            <a:pPr algn="ctr"/>
            <a:r>
              <a:rPr lang="en-US" altLang="ja-JP" sz="2000" baseline="0" dirty="0">
                <a:ea typeface="MeiryoKe_PGothic" pitchFamily="50" charset="-128"/>
              </a:rPr>
              <a:t>b</a:t>
            </a:r>
          </a:p>
        </p:txBody>
      </p:sp>
      <p:sp>
        <p:nvSpPr>
          <p:cNvPr id="21" name="Rectangle 21">
            <a:extLst>
              <a:ext uri="{FF2B5EF4-FFF2-40B4-BE49-F238E27FC236}">
                <a16:creationId xmlns:a16="http://schemas.microsoft.com/office/drawing/2014/main" id="{C320437A-2130-B0D4-8EA2-AEF8FD5DAA76}"/>
              </a:ext>
            </a:extLst>
          </p:cNvPr>
          <p:cNvSpPr>
            <a:spLocks noChangeArrowheads="1"/>
          </p:cNvSpPr>
          <p:nvPr/>
        </p:nvSpPr>
        <p:spPr bwMode="auto">
          <a:xfrm>
            <a:off x="3581989" y="3248998"/>
            <a:ext cx="360363" cy="360362"/>
          </a:xfrm>
          <a:prstGeom prst="rect">
            <a:avLst/>
          </a:prstGeom>
          <a:noFill/>
          <a:ln w="28575">
            <a:noFill/>
            <a:miter lim="800000"/>
            <a:headEnd/>
            <a:tailEnd/>
          </a:ln>
          <a:effectLst/>
        </p:spPr>
        <p:txBody>
          <a:bodyPr wrap="none" anchor="ctr"/>
          <a:lstStyle/>
          <a:p>
            <a:pPr algn="ctr"/>
            <a:r>
              <a:rPr lang="en-US" altLang="ja-JP" sz="2000" baseline="0" dirty="0">
                <a:ea typeface="MeiryoKe_PGothic" pitchFamily="50" charset="-128"/>
              </a:rPr>
              <a:t>c</a:t>
            </a:r>
          </a:p>
        </p:txBody>
      </p:sp>
      <p:pic>
        <p:nvPicPr>
          <p:cNvPr id="15" name="Picture 6" descr="AND">
            <a:extLst>
              <a:ext uri="{FF2B5EF4-FFF2-40B4-BE49-F238E27FC236}">
                <a16:creationId xmlns:a16="http://schemas.microsoft.com/office/drawing/2014/main" id="{C4785CDC-BCF4-7A34-A683-C4B224C5FA0A}"/>
              </a:ext>
            </a:extLst>
          </p:cNvPr>
          <p:cNvPicPr>
            <a:picLocks noChangeAspect="1" noChangeArrowheads="1"/>
          </p:cNvPicPr>
          <p:nvPr/>
        </p:nvPicPr>
        <p:blipFill>
          <a:blip r:embed="rId3" cstate="print"/>
          <a:srcRect/>
          <a:stretch>
            <a:fillRect/>
          </a:stretch>
        </p:blipFill>
        <p:spPr bwMode="auto">
          <a:xfrm>
            <a:off x="2321975" y="3068996"/>
            <a:ext cx="1079500" cy="720725"/>
          </a:xfrm>
          <a:prstGeom prst="rect">
            <a:avLst/>
          </a:prstGeom>
          <a:noFill/>
        </p:spPr>
      </p:pic>
      <p:graphicFrame>
        <p:nvGraphicFramePr>
          <p:cNvPr id="23" name="Group 383">
            <a:extLst>
              <a:ext uri="{FF2B5EF4-FFF2-40B4-BE49-F238E27FC236}">
                <a16:creationId xmlns:a16="http://schemas.microsoft.com/office/drawing/2014/main" id="{5C9AE3F8-8A00-CB57-32D8-5F137F45DA83}"/>
              </a:ext>
            </a:extLst>
          </p:cNvPr>
          <p:cNvGraphicFramePr>
            <a:graphicFrameLocks/>
          </p:cNvGraphicFramePr>
          <p:nvPr>
            <p:extLst>
              <p:ext uri="{D42A27DB-BD31-4B8C-83A1-F6EECF244321}">
                <p14:modId xmlns:p14="http://schemas.microsoft.com/office/powerpoint/2010/main" val="2410636230"/>
              </p:ext>
            </p:extLst>
          </p:nvPr>
        </p:nvGraphicFramePr>
        <p:xfrm>
          <a:off x="1961971" y="4149008"/>
          <a:ext cx="1439862" cy="2071690"/>
        </p:xfrm>
        <a:graphic>
          <a:graphicData uri="http://schemas.openxmlformats.org/drawingml/2006/table">
            <a:tbl>
              <a:tblPr/>
              <a:tblGrid>
                <a:gridCol w="479425">
                  <a:extLst>
                    <a:ext uri="{9D8B030D-6E8A-4147-A177-3AD203B41FA5}">
                      <a16:colId xmlns:a16="http://schemas.microsoft.com/office/drawing/2014/main" val="20000"/>
                    </a:ext>
                  </a:extLst>
                </a:gridCol>
                <a:gridCol w="481012">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c</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mn-ea"/>
                          <a:ea typeface="+mn-ea"/>
                        </a:rPr>
                        <a:t>0</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mn-ea"/>
                          <a:ea typeface="+mn-ea"/>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mn-ea"/>
                          <a:ea typeface="+mn-ea"/>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24" name="Rectangle 21">
            <a:extLst>
              <a:ext uri="{FF2B5EF4-FFF2-40B4-BE49-F238E27FC236}">
                <a16:creationId xmlns:a16="http://schemas.microsoft.com/office/drawing/2014/main" id="{E243797F-A5ED-FB45-D3D8-81750EBAB538}"/>
              </a:ext>
            </a:extLst>
          </p:cNvPr>
          <p:cNvSpPr>
            <a:spLocks noChangeArrowheads="1"/>
          </p:cNvSpPr>
          <p:nvPr/>
        </p:nvSpPr>
        <p:spPr bwMode="auto">
          <a:xfrm>
            <a:off x="2591978" y="2708992"/>
            <a:ext cx="360363" cy="360362"/>
          </a:xfrm>
          <a:prstGeom prst="rect">
            <a:avLst/>
          </a:prstGeom>
          <a:noFill/>
          <a:ln w="28575">
            <a:noFill/>
            <a:miter lim="800000"/>
            <a:headEnd/>
            <a:tailEnd/>
          </a:ln>
          <a:effectLst/>
        </p:spPr>
        <p:txBody>
          <a:bodyPr wrap="none" anchor="ctr"/>
          <a:lstStyle/>
          <a:p>
            <a:pPr algn="ctr"/>
            <a:r>
              <a:rPr lang="en-US" altLang="ja-JP" sz="2000" baseline="0" dirty="0">
                <a:ea typeface="MeiryoKe_PGothic" pitchFamily="50" charset="-128"/>
              </a:rPr>
              <a:t>AND</a:t>
            </a:r>
          </a:p>
        </p:txBody>
      </p:sp>
      <p:sp>
        <p:nvSpPr>
          <p:cNvPr id="25" name="Rectangle 21">
            <a:extLst>
              <a:ext uri="{FF2B5EF4-FFF2-40B4-BE49-F238E27FC236}">
                <a16:creationId xmlns:a16="http://schemas.microsoft.com/office/drawing/2014/main" id="{226A9DDC-F076-8A5F-4B6E-2230245770FC}"/>
              </a:ext>
            </a:extLst>
          </p:cNvPr>
          <p:cNvSpPr>
            <a:spLocks noChangeArrowheads="1"/>
          </p:cNvSpPr>
          <p:nvPr/>
        </p:nvSpPr>
        <p:spPr bwMode="auto">
          <a:xfrm>
            <a:off x="5832014" y="2708992"/>
            <a:ext cx="360363" cy="360362"/>
          </a:xfrm>
          <a:prstGeom prst="rect">
            <a:avLst/>
          </a:prstGeom>
          <a:noFill/>
          <a:ln w="28575">
            <a:noFill/>
            <a:miter lim="800000"/>
            <a:headEnd/>
            <a:tailEnd/>
          </a:ln>
          <a:effectLst/>
        </p:spPr>
        <p:txBody>
          <a:bodyPr wrap="none" anchor="ctr"/>
          <a:lstStyle/>
          <a:p>
            <a:pPr algn="ctr"/>
            <a:r>
              <a:rPr lang="en-US" altLang="ja-JP" sz="2000" baseline="0" dirty="0">
                <a:ea typeface="MeiryoKe_PGothic" pitchFamily="50" charset="-128"/>
              </a:rPr>
              <a:t>NAND</a:t>
            </a:r>
          </a:p>
        </p:txBody>
      </p:sp>
    </p:spTree>
    <p:extLst>
      <p:ext uri="{BB962C8B-B14F-4D97-AF65-F5344CB8AC3E}">
        <p14:creationId xmlns:p14="http://schemas.microsoft.com/office/powerpoint/2010/main" val="20949898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32A9610-628A-D1E2-C8E6-7935414255CC}"/>
              </a:ext>
            </a:extLst>
          </p:cNvPr>
          <p:cNvSpPr>
            <a:spLocks noGrp="1"/>
          </p:cNvSpPr>
          <p:nvPr>
            <p:ph type="title"/>
          </p:nvPr>
        </p:nvSpPr>
        <p:spPr/>
        <p:txBody>
          <a:bodyPr/>
          <a:lstStyle/>
          <a:p>
            <a:r>
              <a:rPr lang="en-US" sz="2800" dirty="0"/>
              <a:t>NAND </a:t>
            </a:r>
            <a:r>
              <a:rPr lang="ja-JP" altLang="en-US" sz="2800" dirty="0"/>
              <a:t>ゲート</a:t>
            </a:r>
            <a:endParaRPr lang="en-US" sz="2800" dirty="0"/>
          </a:p>
        </p:txBody>
      </p:sp>
      <p:sp>
        <p:nvSpPr>
          <p:cNvPr id="275" name="コンテンツ プレースホルダー 274">
            <a:extLst>
              <a:ext uri="{FF2B5EF4-FFF2-40B4-BE49-F238E27FC236}">
                <a16:creationId xmlns:a16="http://schemas.microsoft.com/office/drawing/2014/main" id="{76B0A87F-18D9-248D-84ED-4623A99129B9}"/>
              </a:ext>
            </a:extLst>
          </p:cNvPr>
          <p:cNvSpPr>
            <a:spLocks noGrp="1"/>
          </p:cNvSpPr>
          <p:nvPr>
            <p:ph sz="quarter" idx="11"/>
          </p:nvPr>
        </p:nvSpPr>
        <p:spPr>
          <a:xfrm>
            <a:off x="251952" y="908972"/>
            <a:ext cx="8280092" cy="630007"/>
          </a:xfrm>
        </p:spPr>
        <p:txBody>
          <a:bodyPr/>
          <a:lstStyle/>
          <a:p>
            <a:r>
              <a:rPr kumimoji="1" lang="ja-JP" altLang="en-US" dirty="0"/>
              <a:t>右のように接続すると</a:t>
            </a:r>
            <a:br>
              <a:rPr kumimoji="1" lang="en-US" altLang="ja-JP" dirty="0"/>
            </a:br>
            <a:r>
              <a:rPr kumimoji="1" lang="en-US" altLang="ja-JP" dirty="0"/>
              <a:t>NAND </a:t>
            </a:r>
            <a:r>
              <a:rPr kumimoji="1" lang="ja-JP" altLang="en-US" dirty="0"/>
              <a:t>ゲートが作れる</a:t>
            </a:r>
            <a:endParaRPr kumimoji="1" lang="en-US" dirty="0"/>
          </a:p>
        </p:txBody>
      </p:sp>
      <p:grpSp>
        <p:nvGrpSpPr>
          <p:cNvPr id="3" name="グループ化 2">
            <a:extLst>
              <a:ext uri="{FF2B5EF4-FFF2-40B4-BE49-F238E27FC236}">
                <a16:creationId xmlns:a16="http://schemas.microsoft.com/office/drawing/2014/main" id="{7562FA3F-4ECA-17A8-8E31-60A8DE7947AF}"/>
              </a:ext>
            </a:extLst>
          </p:cNvPr>
          <p:cNvGrpSpPr/>
          <p:nvPr/>
        </p:nvGrpSpPr>
        <p:grpSpPr>
          <a:xfrm>
            <a:off x="5109345" y="3068996"/>
            <a:ext cx="1531092" cy="1440374"/>
            <a:chOff x="5202007" y="3068996"/>
            <a:chExt cx="1531092" cy="1440374"/>
          </a:xfrm>
        </p:grpSpPr>
        <p:sp>
          <p:nvSpPr>
            <p:cNvPr id="4" name="正方形/長方形 3">
              <a:extLst>
                <a:ext uri="{FF2B5EF4-FFF2-40B4-BE49-F238E27FC236}">
                  <a16:creationId xmlns:a16="http://schemas.microsoft.com/office/drawing/2014/main" id="{5FD184A4-F1FE-A602-4B79-7BAB967EE851}"/>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2" name="円/楕円 69">
              <a:extLst>
                <a:ext uri="{FF2B5EF4-FFF2-40B4-BE49-F238E27FC236}">
                  <a16:creationId xmlns:a16="http://schemas.microsoft.com/office/drawing/2014/main" id="{B4FEF43B-98BF-89EB-5422-D7755B4FC1F7}"/>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5" name="直線コネクタ 24">
              <a:extLst>
                <a:ext uri="{FF2B5EF4-FFF2-40B4-BE49-F238E27FC236}">
                  <a16:creationId xmlns:a16="http://schemas.microsoft.com/office/drawing/2014/main" id="{1A374BEF-B776-6082-D66D-DE118065FB78}"/>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8A1C942F-4A3C-9236-A240-A1D8C15D7D80}"/>
                </a:ext>
              </a:extLst>
            </p:cNvPr>
            <p:cNvCxnSpPr>
              <a:cxnSpLocks/>
              <a:endCxn id="28" idx="4"/>
            </p:cNvCxnSpPr>
            <p:nvPr/>
          </p:nvCxnSpPr>
          <p:spPr>
            <a:xfrm>
              <a:off x="5832014"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8" name="円/楕円 68">
              <a:extLst>
                <a:ext uri="{FF2B5EF4-FFF2-40B4-BE49-F238E27FC236}">
                  <a16:creationId xmlns:a16="http://schemas.microsoft.com/office/drawing/2014/main" id="{D5DC85B3-4070-9F25-1AE8-22553F223780}"/>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9" name="直線コネクタ 28">
              <a:extLst>
                <a:ext uri="{FF2B5EF4-FFF2-40B4-BE49-F238E27FC236}">
                  <a16:creationId xmlns:a16="http://schemas.microsoft.com/office/drawing/2014/main" id="{B68ADCDC-8C16-1E21-FB91-A35115ECBD7C}"/>
                </a:ext>
              </a:extLst>
            </p:cNvPr>
            <p:cNvCxnSpPr>
              <a:cxnSpLocks/>
              <a:endCxn id="22"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36" name="直線コネクタ 135">
              <a:extLst>
                <a:ext uri="{FF2B5EF4-FFF2-40B4-BE49-F238E27FC236}">
                  <a16:creationId xmlns:a16="http://schemas.microsoft.com/office/drawing/2014/main" id="{3D28686F-93F2-6EED-98F7-1D93AB9B89CC}"/>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42" name="Rectangle 93">
              <a:extLst>
                <a:ext uri="{FF2B5EF4-FFF2-40B4-BE49-F238E27FC236}">
                  <a16:creationId xmlns:a16="http://schemas.microsoft.com/office/drawing/2014/main" id="{54122819-A7B8-F29E-AC4E-594574190A57}"/>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44" name="Rectangle 93">
              <a:extLst>
                <a:ext uri="{FF2B5EF4-FFF2-40B4-BE49-F238E27FC236}">
                  <a16:creationId xmlns:a16="http://schemas.microsoft.com/office/drawing/2014/main" id="{218D8A4F-F2AF-FE12-D0D5-BBA60D57DB4A}"/>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45" name="Rectangle 93">
              <a:extLst>
                <a:ext uri="{FF2B5EF4-FFF2-40B4-BE49-F238E27FC236}">
                  <a16:creationId xmlns:a16="http://schemas.microsoft.com/office/drawing/2014/main" id="{12A9C026-3AC1-97F3-0951-F34D0D38235A}"/>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48" name="直線コネクタ 147">
              <a:extLst>
                <a:ext uri="{FF2B5EF4-FFF2-40B4-BE49-F238E27FC236}">
                  <a16:creationId xmlns:a16="http://schemas.microsoft.com/office/drawing/2014/main" id="{FFE8545A-5BCE-1FE2-4765-60F1BFE22F43}"/>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49" name="直線コネクタ 148">
              <a:extLst>
                <a:ext uri="{FF2B5EF4-FFF2-40B4-BE49-F238E27FC236}">
                  <a16:creationId xmlns:a16="http://schemas.microsoft.com/office/drawing/2014/main" id="{1E62C331-62A0-2A7F-2998-382E0EAAC3AB}"/>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181" name="グループ化 180">
            <a:extLst>
              <a:ext uri="{FF2B5EF4-FFF2-40B4-BE49-F238E27FC236}">
                <a16:creationId xmlns:a16="http://schemas.microsoft.com/office/drawing/2014/main" id="{78130EE8-B535-1C98-4F69-608823EC70F4}"/>
              </a:ext>
            </a:extLst>
          </p:cNvPr>
          <p:cNvGrpSpPr/>
          <p:nvPr/>
        </p:nvGrpSpPr>
        <p:grpSpPr>
          <a:xfrm>
            <a:off x="5109345" y="4509012"/>
            <a:ext cx="1531092" cy="1440374"/>
            <a:chOff x="5202007" y="3068996"/>
            <a:chExt cx="1531092" cy="1440374"/>
          </a:xfrm>
        </p:grpSpPr>
        <p:sp>
          <p:nvSpPr>
            <p:cNvPr id="182" name="正方形/長方形 181">
              <a:extLst>
                <a:ext uri="{FF2B5EF4-FFF2-40B4-BE49-F238E27FC236}">
                  <a16:creationId xmlns:a16="http://schemas.microsoft.com/office/drawing/2014/main" id="{5D36497F-4C51-62D4-17AA-F8CDEBD39BE3}"/>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83" name="円/楕円 69">
              <a:extLst>
                <a:ext uri="{FF2B5EF4-FFF2-40B4-BE49-F238E27FC236}">
                  <a16:creationId xmlns:a16="http://schemas.microsoft.com/office/drawing/2014/main" id="{E946A75E-DF12-DA2A-78E1-65F38AD0A937}"/>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84" name="直線コネクタ 183">
              <a:extLst>
                <a:ext uri="{FF2B5EF4-FFF2-40B4-BE49-F238E27FC236}">
                  <a16:creationId xmlns:a16="http://schemas.microsoft.com/office/drawing/2014/main" id="{F9A09F99-4D67-BE84-34D2-E9765F1FF45E}"/>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5" name="直線コネクタ 184">
              <a:extLst>
                <a:ext uri="{FF2B5EF4-FFF2-40B4-BE49-F238E27FC236}">
                  <a16:creationId xmlns:a16="http://schemas.microsoft.com/office/drawing/2014/main" id="{5C6F4416-0241-4869-42A0-99054C02A6FE}"/>
                </a:ext>
              </a:extLst>
            </p:cNvPr>
            <p:cNvCxnSpPr>
              <a:cxnSpLocks/>
              <a:endCxn id="186" idx="4"/>
            </p:cNvCxnSpPr>
            <p:nvPr/>
          </p:nvCxnSpPr>
          <p:spPr>
            <a:xfrm>
              <a:off x="5965748" y="3609002"/>
              <a:ext cx="0"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86" name="円/楕円 68">
              <a:extLst>
                <a:ext uri="{FF2B5EF4-FFF2-40B4-BE49-F238E27FC236}">
                  <a16:creationId xmlns:a16="http://schemas.microsoft.com/office/drawing/2014/main" id="{C4E74ED1-969E-56A5-2DA1-6CBF1A860452}"/>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87" name="直線コネクタ 186">
              <a:extLst>
                <a:ext uri="{FF2B5EF4-FFF2-40B4-BE49-F238E27FC236}">
                  <a16:creationId xmlns:a16="http://schemas.microsoft.com/office/drawing/2014/main" id="{7AB187B5-B2F0-3129-225D-03029396FE71}"/>
                </a:ext>
              </a:extLst>
            </p:cNvPr>
            <p:cNvCxnSpPr>
              <a:cxnSpLocks/>
              <a:endCxn id="183"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8" name="直線コネクタ 187">
              <a:extLst>
                <a:ext uri="{FF2B5EF4-FFF2-40B4-BE49-F238E27FC236}">
                  <a16:creationId xmlns:a16="http://schemas.microsoft.com/office/drawing/2014/main" id="{36F01245-84C7-0659-3791-9D851EDB9230}"/>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89" name="Rectangle 93">
              <a:extLst>
                <a:ext uri="{FF2B5EF4-FFF2-40B4-BE49-F238E27FC236}">
                  <a16:creationId xmlns:a16="http://schemas.microsoft.com/office/drawing/2014/main" id="{3BFAE4A7-8A5C-11A8-C51A-9C2E35F8A940}"/>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90" name="Rectangle 93">
              <a:extLst>
                <a:ext uri="{FF2B5EF4-FFF2-40B4-BE49-F238E27FC236}">
                  <a16:creationId xmlns:a16="http://schemas.microsoft.com/office/drawing/2014/main" id="{346AB20E-6F24-C876-4D81-DCA51A179F01}"/>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91" name="Rectangle 93">
              <a:extLst>
                <a:ext uri="{FF2B5EF4-FFF2-40B4-BE49-F238E27FC236}">
                  <a16:creationId xmlns:a16="http://schemas.microsoft.com/office/drawing/2014/main" id="{BDE45902-F320-7645-5C24-BFAA45A3322E}"/>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92" name="直線コネクタ 191">
              <a:extLst>
                <a:ext uri="{FF2B5EF4-FFF2-40B4-BE49-F238E27FC236}">
                  <a16:creationId xmlns:a16="http://schemas.microsoft.com/office/drawing/2014/main" id="{8762D339-07BA-4F05-BED0-EE9C25E6D02B}"/>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93" name="直線コネクタ 192">
              <a:extLst>
                <a:ext uri="{FF2B5EF4-FFF2-40B4-BE49-F238E27FC236}">
                  <a16:creationId xmlns:a16="http://schemas.microsoft.com/office/drawing/2014/main" id="{CA7D9A00-BC48-0B61-BEEE-5467746B88BB}"/>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194" name="直線コネクタ 193">
            <a:extLst>
              <a:ext uri="{FF2B5EF4-FFF2-40B4-BE49-F238E27FC236}">
                <a16:creationId xmlns:a16="http://schemas.microsoft.com/office/drawing/2014/main" id="{DB580ECA-4E0D-14E4-1EA3-21AB3CF0B43A}"/>
              </a:ext>
            </a:extLst>
          </p:cNvPr>
          <p:cNvCxnSpPr>
            <a:cxnSpLocks/>
          </p:cNvCxnSpPr>
          <p:nvPr/>
        </p:nvCxnSpPr>
        <p:spPr>
          <a:xfrm flipH="1">
            <a:off x="5199346" y="2708992"/>
            <a:ext cx="3600040"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95" name="直線コネクタ 194">
            <a:extLst>
              <a:ext uri="{FF2B5EF4-FFF2-40B4-BE49-F238E27FC236}">
                <a16:creationId xmlns:a16="http://schemas.microsoft.com/office/drawing/2014/main" id="{ABB4A216-E134-1BD3-8862-06AE5F457314}"/>
              </a:ext>
            </a:extLst>
          </p:cNvPr>
          <p:cNvCxnSpPr>
            <a:cxnSpLocks/>
          </p:cNvCxnSpPr>
          <p:nvPr/>
        </p:nvCxnSpPr>
        <p:spPr>
          <a:xfrm>
            <a:off x="6639362" y="2708992"/>
            <a:ext cx="0" cy="720008"/>
          </a:xfrm>
          <a:prstGeom prst="line">
            <a:avLst/>
          </a:prstGeom>
          <a:ln w="6350" cap="rnd">
            <a:solidFill>
              <a:srgbClr val="000000"/>
            </a:solidFill>
            <a:headEnd type="oval" w="sm" len="sm"/>
            <a:tailEnd type="none"/>
          </a:ln>
        </p:spPr>
        <p:style>
          <a:lnRef idx="1">
            <a:schemeClr val="accent1"/>
          </a:lnRef>
          <a:fillRef idx="0">
            <a:schemeClr val="accent1"/>
          </a:fillRef>
          <a:effectRef idx="0">
            <a:schemeClr val="accent1"/>
          </a:effectRef>
          <a:fontRef idx="minor">
            <a:schemeClr val="tx1"/>
          </a:fontRef>
        </p:style>
      </p:cxnSp>
      <p:cxnSp>
        <p:nvCxnSpPr>
          <p:cNvPr id="203" name="直線コネクタ 202">
            <a:extLst>
              <a:ext uri="{FF2B5EF4-FFF2-40B4-BE49-F238E27FC236}">
                <a16:creationId xmlns:a16="http://schemas.microsoft.com/office/drawing/2014/main" id="{24DFC145-FF1A-5DAD-2768-A7562FD99C2A}"/>
              </a:ext>
            </a:extLst>
          </p:cNvPr>
          <p:cNvCxnSpPr>
            <a:cxnSpLocks/>
          </p:cNvCxnSpPr>
          <p:nvPr/>
        </p:nvCxnSpPr>
        <p:spPr>
          <a:xfrm flipV="1">
            <a:off x="5199346" y="1988984"/>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05" name="直線コネクタ 204">
            <a:extLst>
              <a:ext uri="{FF2B5EF4-FFF2-40B4-BE49-F238E27FC236}">
                <a16:creationId xmlns:a16="http://schemas.microsoft.com/office/drawing/2014/main" id="{1CD261B1-1231-B8D1-95D3-708F5A5E77BD}"/>
              </a:ext>
            </a:extLst>
          </p:cNvPr>
          <p:cNvCxnSpPr>
            <a:cxnSpLocks/>
          </p:cNvCxnSpPr>
          <p:nvPr/>
        </p:nvCxnSpPr>
        <p:spPr>
          <a:xfrm flipV="1">
            <a:off x="6639362" y="4149008"/>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06" name="直線コネクタ 205">
            <a:extLst>
              <a:ext uri="{FF2B5EF4-FFF2-40B4-BE49-F238E27FC236}">
                <a16:creationId xmlns:a16="http://schemas.microsoft.com/office/drawing/2014/main" id="{C251C3D6-31B6-C700-8D31-DD5ECEE82AA6}"/>
              </a:ext>
            </a:extLst>
          </p:cNvPr>
          <p:cNvCxnSpPr>
            <a:cxnSpLocks/>
          </p:cNvCxnSpPr>
          <p:nvPr/>
        </p:nvCxnSpPr>
        <p:spPr>
          <a:xfrm flipV="1">
            <a:off x="6639362" y="5589024"/>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08" name="直線コネクタ 207">
            <a:extLst>
              <a:ext uri="{FF2B5EF4-FFF2-40B4-BE49-F238E27FC236}">
                <a16:creationId xmlns:a16="http://schemas.microsoft.com/office/drawing/2014/main" id="{14E13B00-B2E4-2896-A4E1-0273179C6C0C}"/>
              </a:ext>
            </a:extLst>
          </p:cNvPr>
          <p:cNvCxnSpPr>
            <a:cxnSpLocks/>
          </p:cNvCxnSpPr>
          <p:nvPr/>
        </p:nvCxnSpPr>
        <p:spPr>
          <a:xfrm flipV="1">
            <a:off x="8079378" y="1988984"/>
            <a:ext cx="0" cy="720008"/>
          </a:xfrm>
          <a:prstGeom prst="line">
            <a:avLst/>
          </a:prstGeom>
          <a:ln w="6350" cap="rnd">
            <a:solidFill>
              <a:srgbClr val="000000"/>
            </a:solidFill>
            <a:headEnd type="oval" w="sm" len="sm"/>
            <a:tailEnd type="none"/>
          </a:ln>
        </p:spPr>
        <p:style>
          <a:lnRef idx="1">
            <a:schemeClr val="accent1"/>
          </a:lnRef>
          <a:fillRef idx="0">
            <a:schemeClr val="accent1"/>
          </a:fillRef>
          <a:effectRef idx="0">
            <a:schemeClr val="accent1"/>
          </a:effectRef>
          <a:fontRef idx="minor">
            <a:schemeClr val="tx1"/>
          </a:fontRef>
        </p:style>
      </p:cxnSp>
      <p:sp>
        <p:nvSpPr>
          <p:cNvPr id="211" name="Rectangle 93">
            <a:extLst>
              <a:ext uri="{FF2B5EF4-FFF2-40B4-BE49-F238E27FC236}">
                <a16:creationId xmlns:a16="http://schemas.microsoft.com/office/drawing/2014/main" id="{EE7E8219-0000-F127-EDB2-83B0262FAD54}"/>
              </a:ext>
            </a:extLst>
          </p:cNvPr>
          <p:cNvSpPr>
            <a:spLocks noChangeArrowheads="1"/>
          </p:cNvSpPr>
          <p:nvPr/>
        </p:nvSpPr>
        <p:spPr bwMode="auto">
          <a:xfrm>
            <a:off x="3309325" y="144897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a</a:t>
            </a:r>
          </a:p>
        </p:txBody>
      </p:sp>
      <p:sp>
        <p:nvSpPr>
          <p:cNvPr id="212" name="Rectangle 93">
            <a:extLst>
              <a:ext uri="{FF2B5EF4-FFF2-40B4-BE49-F238E27FC236}">
                <a16:creationId xmlns:a16="http://schemas.microsoft.com/office/drawing/2014/main" id="{F5B5152F-B86B-B54F-AB90-4CB1B2A34E45}"/>
              </a:ext>
            </a:extLst>
          </p:cNvPr>
          <p:cNvSpPr>
            <a:spLocks noChangeArrowheads="1"/>
          </p:cNvSpPr>
          <p:nvPr/>
        </p:nvSpPr>
        <p:spPr bwMode="auto">
          <a:xfrm>
            <a:off x="6279358" y="144897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b</a:t>
            </a:r>
          </a:p>
        </p:txBody>
      </p:sp>
      <p:sp>
        <p:nvSpPr>
          <p:cNvPr id="213" name="Rectangle 93">
            <a:extLst>
              <a:ext uri="{FF2B5EF4-FFF2-40B4-BE49-F238E27FC236}">
                <a16:creationId xmlns:a16="http://schemas.microsoft.com/office/drawing/2014/main" id="{CB840A81-CE05-F538-40D3-266F70063442}"/>
              </a:ext>
            </a:extLst>
          </p:cNvPr>
          <p:cNvSpPr>
            <a:spLocks noChangeArrowheads="1"/>
          </p:cNvSpPr>
          <p:nvPr/>
        </p:nvSpPr>
        <p:spPr bwMode="auto">
          <a:xfrm>
            <a:off x="4839342" y="3609002"/>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a</a:t>
            </a:r>
          </a:p>
        </p:txBody>
      </p:sp>
      <p:sp>
        <p:nvSpPr>
          <p:cNvPr id="214" name="Rectangle 93">
            <a:extLst>
              <a:ext uri="{FF2B5EF4-FFF2-40B4-BE49-F238E27FC236}">
                <a16:creationId xmlns:a16="http://schemas.microsoft.com/office/drawing/2014/main" id="{065267D5-0A2F-DDD9-D46B-E58ACA78171F}"/>
              </a:ext>
            </a:extLst>
          </p:cNvPr>
          <p:cNvSpPr>
            <a:spLocks noChangeArrowheads="1"/>
          </p:cNvSpPr>
          <p:nvPr/>
        </p:nvSpPr>
        <p:spPr bwMode="auto">
          <a:xfrm>
            <a:off x="4839342" y="5139019"/>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b</a:t>
            </a:r>
          </a:p>
        </p:txBody>
      </p:sp>
      <p:sp>
        <p:nvSpPr>
          <p:cNvPr id="215" name="Rectangle 93">
            <a:extLst>
              <a:ext uri="{FF2B5EF4-FFF2-40B4-BE49-F238E27FC236}">
                <a16:creationId xmlns:a16="http://schemas.microsoft.com/office/drawing/2014/main" id="{1B341E87-61B2-97DE-9C1C-40C38CE9E011}"/>
              </a:ext>
            </a:extLst>
          </p:cNvPr>
          <p:cNvSpPr>
            <a:spLocks noChangeArrowheads="1"/>
          </p:cNvSpPr>
          <p:nvPr/>
        </p:nvSpPr>
        <p:spPr bwMode="auto">
          <a:xfrm>
            <a:off x="8799386" y="2528990"/>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c</a:t>
            </a:r>
          </a:p>
        </p:txBody>
      </p:sp>
      <p:grpSp>
        <p:nvGrpSpPr>
          <p:cNvPr id="217" name="グループ化 216">
            <a:extLst>
              <a:ext uri="{FF2B5EF4-FFF2-40B4-BE49-F238E27FC236}">
                <a16:creationId xmlns:a16="http://schemas.microsoft.com/office/drawing/2014/main" id="{97C2E1E2-CC98-9F4C-7209-20176F57BA08}"/>
              </a:ext>
            </a:extLst>
          </p:cNvPr>
          <p:cNvGrpSpPr/>
          <p:nvPr/>
        </p:nvGrpSpPr>
        <p:grpSpPr>
          <a:xfrm>
            <a:off x="6279358" y="5859027"/>
            <a:ext cx="450005" cy="900368"/>
            <a:chOff x="7272030" y="5768668"/>
            <a:chExt cx="450005" cy="900368"/>
          </a:xfrm>
        </p:grpSpPr>
        <p:grpSp>
          <p:nvGrpSpPr>
            <p:cNvPr id="218" name="グループ化 152">
              <a:extLst>
                <a:ext uri="{FF2B5EF4-FFF2-40B4-BE49-F238E27FC236}">
                  <a16:creationId xmlns:a16="http://schemas.microsoft.com/office/drawing/2014/main" id="{473CB979-8823-E1AA-0462-54D1BE4F30D3}"/>
                </a:ext>
              </a:extLst>
            </p:cNvPr>
            <p:cNvGrpSpPr/>
            <p:nvPr/>
          </p:nvGrpSpPr>
          <p:grpSpPr>
            <a:xfrm>
              <a:off x="7542033" y="6218673"/>
              <a:ext cx="180002" cy="90001"/>
              <a:chOff x="3643306" y="4500570"/>
              <a:chExt cx="428628" cy="144464"/>
            </a:xfrm>
          </p:grpSpPr>
          <p:cxnSp>
            <p:nvCxnSpPr>
              <p:cNvPr id="221" name="直線コネクタ 220">
                <a:extLst>
                  <a:ext uri="{FF2B5EF4-FFF2-40B4-BE49-F238E27FC236}">
                    <a16:creationId xmlns:a16="http://schemas.microsoft.com/office/drawing/2014/main" id="{6417A278-E1D8-0B3B-430E-5E6E4A32BED9}"/>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22" name="直線コネクタ 221">
                <a:extLst>
                  <a:ext uri="{FF2B5EF4-FFF2-40B4-BE49-F238E27FC236}">
                    <a16:creationId xmlns:a16="http://schemas.microsoft.com/office/drawing/2014/main" id="{C4F2EB27-629F-C2C6-9373-FF714A609F15}"/>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23" name="直線コネクタ 222">
                <a:extLst>
                  <a:ext uri="{FF2B5EF4-FFF2-40B4-BE49-F238E27FC236}">
                    <a16:creationId xmlns:a16="http://schemas.microsoft.com/office/drawing/2014/main" id="{3F0BB9DC-65EA-41E0-0959-90B35B7B802F}"/>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219" name="直線コネクタ 218">
              <a:extLst>
                <a:ext uri="{FF2B5EF4-FFF2-40B4-BE49-F238E27FC236}">
                  <a16:creationId xmlns:a16="http://schemas.microsoft.com/office/drawing/2014/main" id="{2AF1F0B9-65D7-B01E-0BDC-5C5975BCD4BF}"/>
                </a:ext>
              </a:extLst>
            </p:cNvPr>
            <p:cNvCxnSpPr>
              <a:cxnSpLocks/>
            </p:cNvCxnSpPr>
            <p:nvPr/>
          </p:nvCxnSpPr>
          <p:spPr>
            <a:xfrm flipV="1">
              <a:off x="7632034" y="576866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20" name="Rectangle 93">
              <a:extLst>
                <a:ext uri="{FF2B5EF4-FFF2-40B4-BE49-F238E27FC236}">
                  <a16:creationId xmlns:a16="http://schemas.microsoft.com/office/drawing/2014/main" id="{18479E53-A48B-F1B0-C3BB-8D7DB7F95A51}"/>
                </a:ext>
              </a:extLst>
            </p:cNvPr>
            <p:cNvSpPr>
              <a:spLocks noChangeArrowheads="1"/>
            </p:cNvSpPr>
            <p:nvPr/>
          </p:nvSpPr>
          <p:spPr bwMode="auto">
            <a:xfrm>
              <a:off x="7272030" y="630867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grpSp>
      <p:grpSp>
        <p:nvGrpSpPr>
          <p:cNvPr id="224" name="グループ化 223">
            <a:extLst>
              <a:ext uri="{FF2B5EF4-FFF2-40B4-BE49-F238E27FC236}">
                <a16:creationId xmlns:a16="http://schemas.microsoft.com/office/drawing/2014/main" id="{1C0058CE-E6CB-1382-E48F-3CFFC9D93A5B}"/>
              </a:ext>
            </a:extLst>
          </p:cNvPr>
          <p:cNvGrpSpPr/>
          <p:nvPr/>
        </p:nvGrpSpPr>
        <p:grpSpPr>
          <a:xfrm>
            <a:off x="4929343" y="458967"/>
            <a:ext cx="450049" cy="810009"/>
            <a:chOff x="7362031" y="2528632"/>
            <a:chExt cx="450049" cy="810009"/>
          </a:xfrm>
        </p:grpSpPr>
        <p:cxnSp>
          <p:nvCxnSpPr>
            <p:cNvPr id="225" name="直線コネクタ 224">
              <a:extLst>
                <a:ext uri="{FF2B5EF4-FFF2-40B4-BE49-F238E27FC236}">
                  <a16:creationId xmlns:a16="http://schemas.microsoft.com/office/drawing/2014/main" id="{A834202A-B3AD-DABC-FC73-C4FABAAE102F}"/>
                </a:ext>
              </a:extLst>
            </p:cNvPr>
            <p:cNvCxnSpPr>
              <a:cxnSpLocks/>
            </p:cNvCxnSpPr>
            <p:nvPr/>
          </p:nvCxnSpPr>
          <p:spPr>
            <a:xfrm flipV="1">
              <a:off x="7632034" y="2888636"/>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26" name="直線コネクタ 225">
              <a:extLst>
                <a:ext uri="{FF2B5EF4-FFF2-40B4-BE49-F238E27FC236}">
                  <a16:creationId xmlns:a16="http://schemas.microsoft.com/office/drawing/2014/main" id="{B9AEB0FC-3ED0-A8BE-EA94-754D90879E1C}"/>
                </a:ext>
              </a:extLst>
            </p:cNvPr>
            <p:cNvCxnSpPr/>
            <p:nvPr/>
          </p:nvCxnSpPr>
          <p:spPr>
            <a:xfrm>
              <a:off x="7452032" y="2888636"/>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27" name="Rectangle 93">
              <a:extLst>
                <a:ext uri="{FF2B5EF4-FFF2-40B4-BE49-F238E27FC236}">
                  <a16:creationId xmlns:a16="http://schemas.microsoft.com/office/drawing/2014/main" id="{E8B2D051-85A9-9C09-4CE2-AE2F20A1DC3F}"/>
                </a:ext>
              </a:extLst>
            </p:cNvPr>
            <p:cNvSpPr>
              <a:spLocks noChangeArrowheads="1"/>
            </p:cNvSpPr>
            <p:nvPr/>
          </p:nvSpPr>
          <p:spPr bwMode="auto">
            <a:xfrm>
              <a:off x="7362031" y="2528632"/>
              <a:ext cx="270003" cy="360362"/>
            </a:xfrm>
            <a:prstGeom prst="rect">
              <a:avLst/>
            </a:prstGeom>
            <a:noFill/>
            <a:ln w="12700" algn="ctr">
              <a:noFill/>
              <a:miter lim="800000"/>
              <a:headEnd/>
              <a:tailEnd/>
            </a:ln>
            <a:effectLst/>
          </p:spPr>
          <p:txBody>
            <a:bodyPr wrap="none" lIns="90000" tIns="46800" rIns="90000" bIns="46800" anchor="ctr"/>
            <a:lstStyle/>
            <a:p>
              <a:r>
                <a:rPr lang="en-US" altLang="ja-JP" b="0" i="0" dirty="0">
                  <a:latin typeface="+mj-lt"/>
                </a:rPr>
                <a:t>VDD</a:t>
              </a:r>
              <a:endParaRPr lang="en-US" altLang="ja-JP" dirty="0"/>
            </a:p>
          </p:txBody>
        </p:sp>
      </p:grpSp>
      <p:grpSp>
        <p:nvGrpSpPr>
          <p:cNvPr id="228" name="グループ化 227">
            <a:extLst>
              <a:ext uri="{FF2B5EF4-FFF2-40B4-BE49-F238E27FC236}">
                <a16:creationId xmlns:a16="http://schemas.microsoft.com/office/drawing/2014/main" id="{297597D5-C82D-E38F-DAB7-D0BF7CD400E9}"/>
              </a:ext>
            </a:extLst>
          </p:cNvPr>
          <p:cNvGrpSpPr/>
          <p:nvPr/>
        </p:nvGrpSpPr>
        <p:grpSpPr>
          <a:xfrm>
            <a:off x="7809375" y="458967"/>
            <a:ext cx="450049" cy="810009"/>
            <a:chOff x="7362031" y="2528632"/>
            <a:chExt cx="450049" cy="810009"/>
          </a:xfrm>
        </p:grpSpPr>
        <p:cxnSp>
          <p:nvCxnSpPr>
            <p:cNvPr id="229" name="直線コネクタ 228">
              <a:extLst>
                <a:ext uri="{FF2B5EF4-FFF2-40B4-BE49-F238E27FC236}">
                  <a16:creationId xmlns:a16="http://schemas.microsoft.com/office/drawing/2014/main" id="{ED01009A-6891-4495-E776-F573805580AA}"/>
                </a:ext>
              </a:extLst>
            </p:cNvPr>
            <p:cNvCxnSpPr>
              <a:cxnSpLocks/>
            </p:cNvCxnSpPr>
            <p:nvPr/>
          </p:nvCxnSpPr>
          <p:spPr>
            <a:xfrm flipV="1">
              <a:off x="7632034" y="2888636"/>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30" name="直線コネクタ 229">
              <a:extLst>
                <a:ext uri="{FF2B5EF4-FFF2-40B4-BE49-F238E27FC236}">
                  <a16:creationId xmlns:a16="http://schemas.microsoft.com/office/drawing/2014/main" id="{0D8549A2-8D92-8A6A-C6D4-372E24EFBFAB}"/>
                </a:ext>
              </a:extLst>
            </p:cNvPr>
            <p:cNvCxnSpPr/>
            <p:nvPr/>
          </p:nvCxnSpPr>
          <p:spPr>
            <a:xfrm>
              <a:off x="7452032" y="2888636"/>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31" name="Rectangle 93">
              <a:extLst>
                <a:ext uri="{FF2B5EF4-FFF2-40B4-BE49-F238E27FC236}">
                  <a16:creationId xmlns:a16="http://schemas.microsoft.com/office/drawing/2014/main" id="{8111FA7D-6202-5497-10C6-7A00D4BD7FDB}"/>
                </a:ext>
              </a:extLst>
            </p:cNvPr>
            <p:cNvSpPr>
              <a:spLocks noChangeArrowheads="1"/>
            </p:cNvSpPr>
            <p:nvPr/>
          </p:nvSpPr>
          <p:spPr bwMode="auto">
            <a:xfrm>
              <a:off x="7362031" y="2528632"/>
              <a:ext cx="270003" cy="360362"/>
            </a:xfrm>
            <a:prstGeom prst="rect">
              <a:avLst/>
            </a:prstGeom>
            <a:noFill/>
            <a:ln w="12700" algn="ctr">
              <a:noFill/>
              <a:miter lim="800000"/>
              <a:headEnd/>
              <a:tailEnd/>
            </a:ln>
            <a:effectLst/>
          </p:spPr>
          <p:txBody>
            <a:bodyPr wrap="none" lIns="90000" tIns="46800" rIns="90000" bIns="46800" anchor="ctr"/>
            <a:lstStyle/>
            <a:p>
              <a:r>
                <a:rPr lang="en-US" altLang="ja-JP" b="0" i="0" dirty="0">
                  <a:latin typeface="+mj-lt"/>
                </a:rPr>
                <a:t>VDD</a:t>
              </a:r>
              <a:endParaRPr lang="en-US" altLang="ja-JP" dirty="0"/>
            </a:p>
          </p:txBody>
        </p:sp>
      </p:grpSp>
      <p:graphicFrame>
        <p:nvGraphicFramePr>
          <p:cNvPr id="232" name="Group 383">
            <a:extLst>
              <a:ext uri="{FF2B5EF4-FFF2-40B4-BE49-F238E27FC236}">
                <a16:creationId xmlns:a16="http://schemas.microsoft.com/office/drawing/2014/main" id="{6AD48ACB-5759-4106-CCBB-3D41C1CA6FCA}"/>
              </a:ext>
            </a:extLst>
          </p:cNvPr>
          <p:cNvGraphicFramePr>
            <a:graphicFrameLocks/>
          </p:cNvGraphicFramePr>
          <p:nvPr>
            <p:extLst>
              <p:ext uri="{D42A27DB-BD31-4B8C-83A1-F6EECF244321}">
                <p14:modId xmlns:p14="http://schemas.microsoft.com/office/powerpoint/2010/main" val="101556008"/>
              </p:ext>
            </p:extLst>
          </p:nvPr>
        </p:nvGraphicFramePr>
        <p:xfrm>
          <a:off x="1241963" y="3429000"/>
          <a:ext cx="1439862" cy="2071690"/>
        </p:xfrm>
        <a:graphic>
          <a:graphicData uri="http://schemas.openxmlformats.org/drawingml/2006/table">
            <a:tbl>
              <a:tblPr/>
              <a:tblGrid>
                <a:gridCol w="479425">
                  <a:extLst>
                    <a:ext uri="{9D8B030D-6E8A-4147-A177-3AD203B41FA5}">
                      <a16:colId xmlns:a16="http://schemas.microsoft.com/office/drawing/2014/main" val="20000"/>
                    </a:ext>
                  </a:extLst>
                </a:gridCol>
                <a:gridCol w="481012">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c</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mn-ea"/>
                          <a:ea typeface="+mn-ea"/>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233" name="Line 9">
            <a:extLst>
              <a:ext uri="{FF2B5EF4-FFF2-40B4-BE49-F238E27FC236}">
                <a16:creationId xmlns:a16="http://schemas.microsoft.com/office/drawing/2014/main" id="{7C290A15-73EA-1938-FE29-B1E6F989A659}"/>
              </a:ext>
            </a:extLst>
          </p:cNvPr>
          <p:cNvSpPr>
            <a:spLocks noChangeShapeType="1"/>
          </p:cNvSpPr>
          <p:nvPr/>
        </p:nvSpPr>
        <p:spPr bwMode="auto">
          <a:xfrm>
            <a:off x="1331665" y="2530181"/>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34" name="Line 10">
            <a:extLst>
              <a:ext uri="{FF2B5EF4-FFF2-40B4-BE49-F238E27FC236}">
                <a16:creationId xmlns:a16="http://schemas.microsoft.com/office/drawing/2014/main" id="{D30C1346-AA15-54DF-870F-EEF6D6EA322C}"/>
              </a:ext>
            </a:extLst>
          </p:cNvPr>
          <p:cNvSpPr>
            <a:spLocks noChangeShapeType="1"/>
          </p:cNvSpPr>
          <p:nvPr/>
        </p:nvSpPr>
        <p:spPr bwMode="auto">
          <a:xfrm>
            <a:off x="1331665" y="2890543"/>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35" name="Line 11">
            <a:extLst>
              <a:ext uri="{FF2B5EF4-FFF2-40B4-BE49-F238E27FC236}">
                <a16:creationId xmlns:a16="http://schemas.microsoft.com/office/drawing/2014/main" id="{C5E86058-9021-644D-EBD2-53F1B678DBC6}"/>
              </a:ext>
            </a:extLst>
          </p:cNvPr>
          <p:cNvSpPr>
            <a:spLocks noChangeShapeType="1"/>
          </p:cNvSpPr>
          <p:nvPr/>
        </p:nvSpPr>
        <p:spPr bwMode="auto">
          <a:xfrm>
            <a:off x="2411976" y="2708992"/>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36" name="Rectangle 18">
            <a:extLst>
              <a:ext uri="{FF2B5EF4-FFF2-40B4-BE49-F238E27FC236}">
                <a16:creationId xmlns:a16="http://schemas.microsoft.com/office/drawing/2014/main" id="{1A9E5224-72AD-D756-3924-C535C63E6842}"/>
              </a:ext>
            </a:extLst>
          </p:cNvPr>
          <p:cNvSpPr>
            <a:spLocks noChangeArrowheads="1"/>
          </p:cNvSpPr>
          <p:nvPr/>
        </p:nvSpPr>
        <p:spPr bwMode="auto">
          <a:xfrm>
            <a:off x="971302" y="2350793"/>
            <a:ext cx="360363" cy="360363"/>
          </a:xfrm>
          <a:prstGeom prst="rect">
            <a:avLst/>
          </a:prstGeom>
          <a:noFill/>
          <a:ln w="28575">
            <a:noFill/>
            <a:miter lim="800000"/>
            <a:headEnd/>
            <a:tailEnd/>
          </a:ln>
          <a:effectLst/>
        </p:spPr>
        <p:txBody>
          <a:bodyPr wrap="none" anchor="ctr"/>
          <a:lstStyle/>
          <a:p>
            <a:pPr algn="ctr"/>
            <a:r>
              <a:rPr lang="en-US" altLang="ja-JP" sz="2000" i="1" baseline="0" dirty="0">
                <a:ea typeface="MeiryoKe_PGothic" pitchFamily="50" charset="-128"/>
              </a:rPr>
              <a:t>a</a:t>
            </a:r>
          </a:p>
        </p:txBody>
      </p:sp>
      <p:sp>
        <p:nvSpPr>
          <p:cNvPr id="237" name="Rectangle 20">
            <a:extLst>
              <a:ext uri="{FF2B5EF4-FFF2-40B4-BE49-F238E27FC236}">
                <a16:creationId xmlns:a16="http://schemas.microsoft.com/office/drawing/2014/main" id="{EFCD0B20-8ED0-0F37-F223-0B41A75A6923}"/>
              </a:ext>
            </a:extLst>
          </p:cNvPr>
          <p:cNvSpPr>
            <a:spLocks noChangeArrowheads="1"/>
          </p:cNvSpPr>
          <p:nvPr/>
        </p:nvSpPr>
        <p:spPr bwMode="auto">
          <a:xfrm>
            <a:off x="971302" y="2709568"/>
            <a:ext cx="360363" cy="360363"/>
          </a:xfrm>
          <a:prstGeom prst="rect">
            <a:avLst/>
          </a:prstGeom>
          <a:noFill/>
          <a:ln w="28575">
            <a:noFill/>
            <a:miter lim="800000"/>
            <a:headEnd/>
            <a:tailEnd/>
          </a:ln>
          <a:effectLst/>
        </p:spPr>
        <p:txBody>
          <a:bodyPr wrap="none" anchor="ctr"/>
          <a:lstStyle/>
          <a:p>
            <a:pPr algn="ctr"/>
            <a:r>
              <a:rPr lang="en-US" altLang="ja-JP" sz="2000" i="1" baseline="0" dirty="0">
                <a:ea typeface="MeiryoKe_PGothic" pitchFamily="50" charset="-128"/>
              </a:rPr>
              <a:t>b</a:t>
            </a:r>
          </a:p>
        </p:txBody>
      </p:sp>
      <p:sp>
        <p:nvSpPr>
          <p:cNvPr id="238" name="Rectangle 21">
            <a:extLst>
              <a:ext uri="{FF2B5EF4-FFF2-40B4-BE49-F238E27FC236}">
                <a16:creationId xmlns:a16="http://schemas.microsoft.com/office/drawing/2014/main" id="{D809770E-4485-1EEA-3D22-37AF747BC4B5}"/>
              </a:ext>
            </a:extLst>
          </p:cNvPr>
          <p:cNvSpPr>
            <a:spLocks noChangeArrowheads="1"/>
          </p:cNvSpPr>
          <p:nvPr/>
        </p:nvSpPr>
        <p:spPr bwMode="auto">
          <a:xfrm>
            <a:off x="3038869" y="2440180"/>
            <a:ext cx="360363" cy="360362"/>
          </a:xfrm>
          <a:prstGeom prst="rect">
            <a:avLst/>
          </a:prstGeom>
          <a:noFill/>
          <a:ln w="28575">
            <a:noFill/>
            <a:miter lim="800000"/>
            <a:headEnd/>
            <a:tailEnd/>
          </a:ln>
          <a:effectLst/>
        </p:spPr>
        <p:txBody>
          <a:bodyPr wrap="none" anchor="ctr"/>
          <a:lstStyle/>
          <a:p>
            <a:pPr algn="ctr"/>
            <a:r>
              <a:rPr lang="en-US" altLang="ja-JP" sz="2000" i="1" baseline="0" dirty="0">
                <a:ea typeface="MeiryoKe_PGothic" pitchFamily="50" charset="-128"/>
              </a:rPr>
              <a:t>c</a:t>
            </a:r>
          </a:p>
        </p:txBody>
      </p:sp>
      <p:grpSp>
        <p:nvGrpSpPr>
          <p:cNvPr id="240" name="グループ化 239">
            <a:extLst>
              <a:ext uri="{FF2B5EF4-FFF2-40B4-BE49-F238E27FC236}">
                <a16:creationId xmlns:a16="http://schemas.microsoft.com/office/drawing/2014/main" id="{64DC05BE-F391-47A1-1C07-B7685C59B819}"/>
              </a:ext>
            </a:extLst>
          </p:cNvPr>
          <p:cNvGrpSpPr/>
          <p:nvPr/>
        </p:nvGrpSpPr>
        <p:grpSpPr>
          <a:xfrm>
            <a:off x="3669329" y="908972"/>
            <a:ext cx="1531092" cy="1440374"/>
            <a:chOff x="5202007" y="2708992"/>
            <a:chExt cx="1531092" cy="1440374"/>
          </a:xfrm>
        </p:grpSpPr>
        <p:grpSp>
          <p:nvGrpSpPr>
            <p:cNvPr id="241" name="グループ化 240">
              <a:extLst>
                <a:ext uri="{FF2B5EF4-FFF2-40B4-BE49-F238E27FC236}">
                  <a16:creationId xmlns:a16="http://schemas.microsoft.com/office/drawing/2014/main" id="{AD4B61D4-B437-6511-33DD-77F967CE31D0}"/>
                </a:ext>
              </a:extLst>
            </p:cNvPr>
            <p:cNvGrpSpPr/>
            <p:nvPr/>
          </p:nvGrpSpPr>
          <p:grpSpPr>
            <a:xfrm>
              <a:off x="5202007" y="2708992"/>
              <a:ext cx="1531092" cy="1440374"/>
              <a:chOff x="5202007" y="3068996"/>
              <a:chExt cx="1531092" cy="1440374"/>
            </a:xfrm>
          </p:grpSpPr>
          <p:sp>
            <p:nvSpPr>
              <p:cNvPr id="243" name="正方形/長方形 242">
                <a:extLst>
                  <a:ext uri="{FF2B5EF4-FFF2-40B4-BE49-F238E27FC236}">
                    <a16:creationId xmlns:a16="http://schemas.microsoft.com/office/drawing/2014/main" id="{86866406-9D63-F792-50B2-E0CD0FFA0846}"/>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44" name="円/楕円 69">
                <a:extLst>
                  <a:ext uri="{FF2B5EF4-FFF2-40B4-BE49-F238E27FC236}">
                    <a16:creationId xmlns:a16="http://schemas.microsoft.com/office/drawing/2014/main" id="{96371EA1-E139-0315-043E-0B4DF5FBA710}"/>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45" name="直線コネクタ 244">
                <a:extLst>
                  <a:ext uri="{FF2B5EF4-FFF2-40B4-BE49-F238E27FC236}">
                    <a16:creationId xmlns:a16="http://schemas.microsoft.com/office/drawing/2014/main" id="{38203321-0409-23A6-FD7F-45C1B686EB90}"/>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46" name="直線コネクタ 245">
                <a:extLst>
                  <a:ext uri="{FF2B5EF4-FFF2-40B4-BE49-F238E27FC236}">
                    <a16:creationId xmlns:a16="http://schemas.microsoft.com/office/drawing/2014/main" id="{FBA22A40-B145-7319-E97D-68D9B31C874F}"/>
                  </a:ext>
                </a:extLst>
              </p:cNvPr>
              <p:cNvCxnSpPr>
                <a:cxnSpLocks/>
                <a:endCxn id="247" idx="4"/>
              </p:cNvCxnSpPr>
              <p:nvPr/>
            </p:nvCxnSpPr>
            <p:spPr>
              <a:xfrm>
                <a:off x="5965748" y="3609002"/>
                <a:ext cx="0"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47" name="円/楕円 68">
                <a:extLst>
                  <a:ext uri="{FF2B5EF4-FFF2-40B4-BE49-F238E27FC236}">
                    <a16:creationId xmlns:a16="http://schemas.microsoft.com/office/drawing/2014/main" id="{5EB7FC80-3AF0-8CBA-FCEA-A1CE2514967E}"/>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48" name="直線コネクタ 247">
                <a:extLst>
                  <a:ext uri="{FF2B5EF4-FFF2-40B4-BE49-F238E27FC236}">
                    <a16:creationId xmlns:a16="http://schemas.microsoft.com/office/drawing/2014/main" id="{B5F4298D-8C76-C8B8-AD6F-46164F808165}"/>
                  </a:ext>
                </a:extLst>
              </p:cNvPr>
              <p:cNvCxnSpPr>
                <a:cxnSpLocks/>
                <a:endCxn id="244"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49" name="直線コネクタ 248">
                <a:extLst>
                  <a:ext uri="{FF2B5EF4-FFF2-40B4-BE49-F238E27FC236}">
                    <a16:creationId xmlns:a16="http://schemas.microsoft.com/office/drawing/2014/main" id="{87ED5C31-0306-BF9B-5D07-023857BE8BE5}"/>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50" name="Rectangle 93">
                <a:extLst>
                  <a:ext uri="{FF2B5EF4-FFF2-40B4-BE49-F238E27FC236}">
                    <a16:creationId xmlns:a16="http://schemas.microsoft.com/office/drawing/2014/main" id="{1CC9BD9A-C161-908B-530A-AAE16345FFF4}"/>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51" name="Rectangle 93">
                <a:extLst>
                  <a:ext uri="{FF2B5EF4-FFF2-40B4-BE49-F238E27FC236}">
                    <a16:creationId xmlns:a16="http://schemas.microsoft.com/office/drawing/2014/main" id="{8C152B59-926E-806F-0C67-BF036016E37D}"/>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252" name="Rectangle 93">
                <a:extLst>
                  <a:ext uri="{FF2B5EF4-FFF2-40B4-BE49-F238E27FC236}">
                    <a16:creationId xmlns:a16="http://schemas.microsoft.com/office/drawing/2014/main" id="{C1B3EBB4-0E50-4ED8-B062-DA6931AEE4D7}"/>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253" name="直線コネクタ 252">
                <a:extLst>
                  <a:ext uri="{FF2B5EF4-FFF2-40B4-BE49-F238E27FC236}">
                    <a16:creationId xmlns:a16="http://schemas.microsoft.com/office/drawing/2014/main" id="{ABCF7961-5A82-18F0-8D24-68C47EFDD141}"/>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54" name="直線コネクタ 253">
                <a:extLst>
                  <a:ext uri="{FF2B5EF4-FFF2-40B4-BE49-F238E27FC236}">
                    <a16:creationId xmlns:a16="http://schemas.microsoft.com/office/drawing/2014/main" id="{188713DD-5FE2-D0F7-5EC1-DC2D42665FF4}"/>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242" name="円/楕円 69">
              <a:extLst>
                <a:ext uri="{FF2B5EF4-FFF2-40B4-BE49-F238E27FC236}">
                  <a16:creationId xmlns:a16="http://schemas.microsoft.com/office/drawing/2014/main" id="{933751A7-FF78-01EB-35DF-6EF73A031FBB}"/>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nvGrpSpPr>
          <p:cNvPr id="255" name="グループ化 254">
            <a:extLst>
              <a:ext uri="{FF2B5EF4-FFF2-40B4-BE49-F238E27FC236}">
                <a16:creationId xmlns:a16="http://schemas.microsoft.com/office/drawing/2014/main" id="{9F9B0FA8-830C-7FF4-5C26-22017E7397F6}"/>
              </a:ext>
            </a:extLst>
          </p:cNvPr>
          <p:cNvGrpSpPr/>
          <p:nvPr/>
        </p:nvGrpSpPr>
        <p:grpSpPr>
          <a:xfrm>
            <a:off x="6549361" y="908972"/>
            <a:ext cx="1531092" cy="1440374"/>
            <a:chOff x="5202007" y="2708992"/>
            <a:chExt cx="1531092" cy="1440374"/>
          </a:xfrm>
        </p:grpSpPr>
        <p:grpSp>
          <p:nvGrpSpPr>
            <p:cNvPr id="256" name="グループ化 255">
              <a:extLst>
                <a:ext uri="{FF2B5EF4-FFF2-40B4-BE49-F238E27FC236}">
                  <a16:creationId xmlns:a16="http://schemas.microsoft.com/office/drawing/2014/main" id="{68E39442-C29F-1899-B368-C5ECE08904B1}"/>
                </a:ext>
              </a:extLst>
            </p:cNvPr>
            <p:cNvGrpSpPr/>
            <p:nvPr/>
          </p:nvGrpSpPr>
          <p:grpSpPr>
            <a:xfrm>
              <a:off x="5202007" y="2708992"/>
              <a:ext cx="1531092" cy="1440374"/>
              <a:chOff x="5202007" y="3068996"/>
              <a:chExt cx="1531092" cy="1440374"/>
            </a:xfrm>
          </p:grpSpPr>
          <p:sp>
            <p:nvSpPr>
              <p:cNvPr id="258" name="正方形/長方形 257">
                <a:extLst>
                  <a:ext uri="{FF2B5EF4-FFF2-40B4-BE49-F238E27FC236}">
                    <a16:creationId xmlns:a16="http://schemas.microsoft.com/office/drawing/2014/main" id="{F0A0894E-14F7-4EAB-E9F3-5450B47F73F7}"/>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59" name="円/楕円 69">
                <a:extLst>
                  <a:ext uri="{FF2B5EF4-FFF2-40B4-BE49-F238E27FC236}">
                    <a16:creationId xmlns:a16="http://schemas.microsoft.com/office/drawing/2014/main" id="{9C21C671-151D-3648-3195-97BD7B17EA5D}"/>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60" name="直線コネクタ 259">
                <a:extLst>
                  <a:ext uri="{FF2B5EF4-FFF2-40B4-BE49-F238E27FC236}">
                    <a16:creationId xmlns:a16="http://schemas.microsoft.com/office/drawing/2014/main" id="{E5ACD0F4-0B92-BB7B-EDE2-34725CE4EBEE}"/>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61" name="直線コネクタ 260">
                <a:extLst>
                  <a:ext uri="{FF2B5EF4-FFF2-40B4-BE49-F238E27FC236}">
                    <a16:creationId xmlns:a16="http://schemas.microsoft.com/office/drawing/2014/main" id="{F85D2DB9-51BF-812C-989F-D84EF291E638}"/>
                  </a:ext>
                </a:extLst>
              </p:cNvPr>
              <p:cNvCxnSpPr>
                <a:cxnSpLocks/>
                <a:endCxn id="262" idx="4"/>
              </p:cNvCxnSpPr>
              <p:nvPr/>
            </p:nvCxnSpPr>
            <p:spPr>
              <a:xfrm>
                <a:off x="5832014" y="3609002"/>
                <a:ext cx="133734"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62" name="円/楕円 68">
                <a:extLst>
                  <a:ext uri="{FF2B5EF4-FFF2-40B4-BE49-F238E27FC236}">
                    <a16:creationId xmlns:a16="http://schemas.microsoft.com/office/drawing/2014/main" id="{313B59DE-9878-BF57-314D-C173E7F967BB}"/>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63" name="直線コネクタ 262">
                <a:extLst>
                  <a:ext uri="{FF2B5EF4-FFF2-40B4-BE49-F238E27FC236}">
                    <a16:creationId xmlns:a16="http://schemas.microsoft.com/office/drawing/2014/main" id="{2EA6AA04-78CF-CBC1-8A86-A201FFBFBE03}"/>
                  </a:ext>
                </a:extLst>
              </p:cNvPr>
              <p:cNvCxnSpPr>
                <a:cxnSpLocks/>
                <a:endCxn id="259"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64" name="直線コネクタ 263">
                <a:extLst>
                  <a:ext uri="{FF2B5EF4-FFF2-40B4-BE49-F238E27FC236}">
                    <a16:creationId xmlns:a16="http://schemas.microsoft.com/office/drawing/2014/main" id="{3DDF3381-33D2-CA9C-5353-197B8754F644}"/>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65" name="Rectangle 93">
                <a:extLst>
                  <a:ext uri="{FF2B5EF4-FFF2-40B4-BE49-F238E27FC236}">
                    <a16:creationId xmlns:a16="http://schemas.microsoft.com/office/drawing/2014/main" id="{1A5CD5E4-9C26-828A-EE8A-CC6DCAE8431A}"/>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66" name="Rectangle 93">
                <a:extLst>
                  <a:ext uri="{FF2B5EF4-FFF2-40B4-BE49-F238E27FC236}">
                    <a16:creationId xmlns:a16="http://schemas.microsoft.com/office/drawing/2014/main" id="{8AF29F70-4B0B-1C15-ADC4-EC758570862F}"/>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267" name="Rectangle 93">
                <a:extLst>
                  <a:ext uri="{FF2B5EF4-FFF2-40B4-BE49-F238E27FC236}">
                    <a16:creationId xmlns:a16="http://schemas.microsoft.com/office/drawing/2014/main" id="{14E6DE1A-8D0D-C6D6-36F7-E02D704775E9}"/>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268" name="直線コネクタ 267">
                <a:extLst>
                  <a:ext uri="{FF2B5EF4-FFF2-40B4-BE49-F238E27FC236}">
                    <a16:creationId xmlns:a16="http://schemas.microsoft.com/office/drawing/2014/main" id="{3BA9A987-30BA-16EE-F80C-0BC772D8BDA7}"/>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69" name="直線コネクタ 268">
                <a:extLst>
                  <a:ext uri="{FF2B5EF4-FFF2-40B4-BE49-F238E27FC236}">
                    <a16:creationId xmlns:a16="http://schemas.microsoft.com/office/drawing/2014/main" id="{A895D64E-4D3F-993F-6C1D-4C451C76A87A}"/>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257" name="円/楕円 69">
              <a:extLst>
                <a:ext uri="{FF2B5EF4-FFF2-40B4-BE49-F238E27FC236}">
                  <a16:creationId xmlns:a16="http://schemas.microsoft.com/office/drawing/2014/main" id="{D1C2D577-F633-4585-AA57-4F24B38099D4}"/>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pic>
        <p:nvPicPr>
          <p:cNvPr id="271" name="Picture 83" descr="NAND">
            <a:extLst>
              <a:ext uri="{FF2B5EF4-FFF2-40B4-BE49-F238E27FC236}">
                <a16:creationId xmlns:a16="http://schemas.microsoft.com/office/drawing/2014/main" id="{74CA9A92-CCBF-2F74-4E80-87FB436A6EEB}"/>
              </a:ext>
            </a:extLst>
          </p:cNvPr>
          <p:cNvPicPr>
            <a:picLocks noChangeAspect="1" noChangeArrowheads="1"/>
          </p:cNvPicPr>
          <p:nvPr/>
        </p:nvPicPr>
        <p:blipFill>
          <a:blip r:embed="rId2" cstate="print"/>
          <a:srcRect/>
          <a:stretch>
            <a:fillRect/>
          </a:stretch>
        </p:blipFill>
        <p:spPr bwMode="auto">
          <a:xfrm>
            <a:off x="1601967" y="2348988"/>
            <a:ext cx="1079500" cy="720725"/>
          </a:xfrm>
          <a:prstGeom prst="rect">
            <a:avLst/>
          </a:prstGeom>
          <a:noFill/>
        </p:spPr>
      </p:pic>
    </p:spTree>
    <p:extLst>
      <p:ext uri="{BB962C8B-B14F-4D97-AF65-F5344CB8AC3E}">
        <p14:creationId xmlns:p14="http://schemas.microsoft.com/office/powerpoint/2010/main" val="26392996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32A9610-628A-D1E2-C8E6-7935414255CC}"/>
              </a:ext>
            </a:extLst>
          </p:cNvPr>
          <p:cNvSpPr>
            <a:spLocks noGrp="1"/>
          </p:cNvSpPr>
          <p:nvPr>
            <p:ph type="title"/>
          </p:nvPr>
        </p:nvSpPr>
        <p:spPr/>
        <p:txBody>
          <a:bodyPr/>
          <a:lstStyle/>
          <a:p>
            <a:r>
              <a:rPr lang="en-US" sz="2800" dirty="0"/>
              <a:t>NAND </a:t>
            </a:r>
            <a:r>
              <a:rPr lang="ja-JP" altLang="en-US" sz="2800" dirty="0"/>
              <a:t>ゲートの動作</a:t>
            </a:r>
            <a:endParaRPr lang="en-US" sz="2800" dirty="0"/>
          </a:p>
        </p:txBody>
      </p:sp>
      <p:sp>
        <p:nvSpPr>
          <p:cNvPr id="275" name="コンテンツ プレースホルダー 274">
            <a:extLst>
              <a:ext uri="{FF2B5EF4-FFF2-40B4-BE49-F238E27FC236}">
                <a16:creationId xmlns:a16="http://schemas.microsoft.com/office/drawing/2014/main" id="{76B0A87F-18D9-248D-84ED-4623A99129B9}"/>
              </a:ext>
            </a:extLst>
          </p:cNvPr>
          <p:cNvSpPr>
            <a:spLocks noGrp="1"/>
          </p:cNvSpPr>
          <p:nvPr>
            <p:ph sz="quarter" idx="11"/>
          </p:nvPr>
        </p:nvSpPr>
        <p:spPr>
          <a:xfrm>
            <a:off x="161951" y="3969006"/>
            <a:ext cx="8280092" cy="630007"/>
          </a:xfrm>
        </p:spPr>
        <p:txBody>
          <a:bodyPr anchor="t"/>
          <a:lstStyle/>
          <a:p>
            <a:r>
              <a:rPr kumimoji="1" lang="ja-JP" altLang="en-US" dirty="0"/>
              <a:t>上側の </a:t>
            </a:r>
            <a:r>
              <a:rPr kumimoji="1" lang="en-US" altLang="ja-JP" dirty="0"/>
              <a:t>P</a:t>
            </a:r>
            <a:r>
              <a:rPr lang="en-US" altLang="ja-JP" dirty="0"/>
              <a:t> </a:t>
            </a:r>
            <a:r>
              <a:rPr lang="ja-JP" altLang="en-US" dirty="0"/>
              <a:t>型２つは並列接続</a:t>
            </a:r>
            <a:endParaRPr lang="en-US" altLang="ja-JP" dirty="0"/>
          </a:p>
          <a:p>
            <a:pPr lvl="1"/>
            <a:r>
              <a:rPr lang="en-US" altLang="ja-JP" dirty="0"/>
              <a:t>a </a:t>
            </a:r>
            <a:r>
              <a:rPr lang="ja-JP" altLang="en-US" dirty="0"/>
              <a:t>と </a:t>
            </a:r>
            <a:r>
              <a:rPr lang="en-US" altLang="ja-JP" dirty="0"/>
              <a:t>b</a:t>
            </a:r>
            <a:r>
              <a:rPr lang="ja-JP" altLang="en-US" dirty="0"/>
              <a:t>どちらか片方の入力に</a:t>
            </a:r>
            <a:br>
              <a:rPr lang="en-US" altLang="ja-JP" dirty="0"/>
            </a:br>
            <a:r>
              <a:rPr lang="en-US" altLang="ja-JP" dirty="0"/>
              <a:t>0 </a:t>
            </a:r>
            <a:r>
              <a:rPr lang="ja-JP" altLang="en-US" dirty="0"/>
              <a:t>が入ると </a:t>
            </a:r>
            <a:r>
              <a:rPr lang="en-US" altLang="ja-JP" dirty="0"/>
              <a:t>VDD </a:t>
            </a:r>
            <a:r>
              <a:rPr lang="ja-JP" altLang="en-US" dirty="0"/>
              <a:t>を </a:t>
            </a:r>
            <a:r>
              <a:rPr lang="en-US" altLang="ja-JP" dirty="0"/>
              <a:t>c </a:t>
            </a:r>
            <a:r>
              <a:rPr lang="ja-JP" altLang="en-US" dirty="0"/>
              <a:t>に接続</a:t>
            </a:r>
            <a:endParaRPr lang="en-US" altLang="ja-JP" dirty="0"/>
          </a:p>
          <a:p>
            <a:r>
              <a:rPr kumimoji="1" lang="ja-JP" altLang="en-US" dirty="0"/>
              <a:t>下側の </a:t>
            </a:r>
            <a:r>
              <a:rPr kumimoji="1" lang="en-US" altLang="ja-JP" dirty="0"/>
              <a:t>N </a:t>
            </a:r>
            <a:r>
              <a:rPr kumimoji="1" lang="ja-JP" altLang="en-US" dirty="0"/>
              <a:t>型２つは直列接続</a:t>
            </a:r>
            <a:endParaRPr kumimoji="1" lang="en-US" altLang="ja-JP" dirty="0"/>
          </a:p>
          <a:p>
            <a:pPr lvl="1"/>
            <a:r>
              <a:rPr kumimoji="1" lang="en-US" altLang="ja-JP" dirty="0"/>
              <a:t>a </a:t>
            </a:r>
            <a:r>
              <a:rPr kumimoji="1" lang="ja-JP" altLang="en-US" dirty="0"/>
              <a:t>と </a:t>
            </a:r>
            <a:r>
              <a:rPr kumimoji="1" lang="en-US" altLang="ja-JP" dirty="0"/>
              <a:t>b </a:t>
            </a:r>
            <a:r>
              <a:rPr kumimoji="1" lang="ja-JP" altLang="en-US" dirty="0"/>
              <a:t>双方の入力に１が入ると</a:t>
            </a:r>
            <a:br>
              <a:rPr kumimoji="1" lang="en-US" altLang="ja-JP" dirty="0"/>
            </a:br>
            <a:r>
              <a:rPr kumimoji="1" lang="en-US" altLang="ja-JP" dirty="0"/>
              <a:t>2</a:t>
            </a:r>
            <a:r>
              <a:rPr kumimoji="1" lang="ja-JP" altLang="en-US" dirty="0"/>
              <a:t>つとも </a:t>
            </a:r>
            <a:r>
              <a:rPr kumimoji="1" lang="en-US" altLang="ja-JP" dirty="0"/>
              <a:t>ON </a:t>
            </a:r>
            <a:r>
              <a:rPr kumimoji="1" lang="ja-JP" altLang="en-US" dirty="0"/>
              <a:t>になって </a:t>
            </a:r>
            <a:r>
              <a:rPr kumimoji="1" lang="en-US" altLang="ja-JP" dirty="0"/>
              <a:t>GND </a:t>
            </a:r>
            <a:r>
              <a:rPr kumimoji="1" lang="ja-JP" altLang="en-US" dirty="0"/>
              <a:t>を </a:t>
            </a:r>
            <a:r>
              <a:rPr kumimoji="1" lang="en-US" altLang="ja-JP" dirty="0"/>
              <a:t>c </a:t>
            </a:r>
            <a:r>
              <a:rPr kumimoji="1" lang="ja-JP" altLang="en-US" dirty="0"/>
              <a:t>に接続</a:t>
            </a:r>
            <a:endParaRPr kumimoji="1" lang="en-US" altLang="ja-JP" dirty="0"/>
          </a:p>
        </p:txBody>
      </p:sp>
      <p:grpSp>
        <p:nvGrpSpPr>
          <p:cNvPr id="3" name="グループ化 2">
            <a:extLst>
              <a:ext uri="{FF2B5EF4-FFF2-40B4-BE49-F238E27FC236}">
                <a16:creationId xmlns:a16="http://schemas.microsoft.com/office/drawing/2014/main" id="{7562FA3F-4ECA-17A8-8E31-60A8DE7947AF}"/>
              </a:ext>
            </a:extLst>
          </p:cNvPr>
          <p:cNvGrpSpPr/>
          <p:nvPr/>
        </p:nvGrpSpPr>
        <p:grpSpPr>
          <a:xfrm>
            <a:off x="5109345" y="3068996"/>
            <a:ext cx="1531092" cy="1440374"/>
            <a:chOff x="5202007" y="3068996"/>
            <a:chExt cx="1531092" cy="1440374"/>
          </a:xfrm>
        </p:grpSpPr>
        <p:sp>
          <p:nvSpPr>
            <p:cNvPr id="4" name="正方形/長方形 3">
              <a:extLst>
                <a:ext uri="{FF2B5EF4-FFF2-40B4-BE49-F238E27FC236}">
                  <a16:creationId xmlns:a16="http://schemas.microsoft.com/office/drawing/2014/main" id="{5FD184A4-F1FE-A602-4B79-7BAB967EE851}"/>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2" name="円/楕円 69">
              <a:extLst>
                <a:ext uri="{FF2B5EF4-FFF2-40B4-BE49-F238E27FC236}">
                  <a16:creationId xmlns:a16="http://schemas.microsoft.com/office/drawing/2014/main" id="{B4FEF43B-98BF-89EB-5422-D7755B4FC1F7}"/>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5" name="直線コネクタ 24">
              <a:extLst>
                <a:ext uri="{FF2B5EF4-FFF2-40B4-BE49-F238E27FC236}">
                  <a16:creationId xmlns:a16="http://schemas.microsoft.com/office/drawing/2014/main" id="{1A374BEF-B776-6082-D66D-DE118065FB78}"/>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8A1C942F-4A3C-9236-A240-A1D8C15D7D80}"/>
                </a:ext>
              </a:extLst>
            </p:cNvPr>
            <p:cNvCxnSpPr>
              <a:cxnSpLocks/>
              <a:endCxn id="28" idx="4"/>
            </p:cNvCxnSpPr>
            <p:nvPr/>
          </p:nvCxnSpPr>
          <p:spPr>
            <a:xfrm>
              <a:off x="5832014"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8" name="円/楕円 68">
              <a:extLst>
                <a:ext uri="{FF2B5EF4-FFF2-40B4-BE49-F238E27FC236}">
                  <a16:creationId xmlns:a16="http://schemas.microsoft.com/office/drawing/2014/main" id="{D5DC85B3-4070-9F25-1AE8-22553F223780}"/>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9" name="直線コネクタ 28">
              <a:extLst>
                <a:ext uri="{FF2B5EF4-FFF2-40B4-BE49-F238E27FC236}">
                  <a16:creationId xmlns:a16="http://schemas.microsoft.com/office/drawing/2014/main" id="{B68ADCDC-8C16-1E21-FB91-A35115ECBD7C}"/>
                </a:ext>
              </a:extLst>
            </p:cNvPr>
            <p:cNvCxnSpPr>
              <a:cxnSpLocks/>
              <a:endCxn id="22"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36" name="直線コネクタ 135">
              <a:extLst>
                <a:ext uri="{FF2B5EF4-FFF2-40B4-BE49-F238E27FC236}">
                  <a16:creationId xmlns:a16="http://schemas.microsoft.com/office/drawing/2014/main" id="{3D28686F-93F2-6EED-98F7-1D93AB9B89CC}"/>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42" name="Rectangle 93">
              <a:extLst>
                <a:ext uri="{FF2B5EF4-FFF2-40B4-BE49-F238E27FC236}">
                  <a16:creationId xmlns:a16="http://schemas.microsoft.com/office/drawing/2014/main" id="{54122819-A7B8-F29E-AC4E-594574190A57}"/>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44" name="Rectangle 93">
              <a:extLst>
                <a:ext uri="{FF2B5EF4-FFF2-40B4-BE49-F238E27FC236}">
                  <a16:creationId xmlns:a16="http://schemas.microsoft.com/office/drawing/2014/main" id="{218D8A4F-F2AF-FE12-D0D5-BBA60D57DB4A}"/>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45" name="Rectangle 93">
              <a:extLst>
                <a:ext uri="{FF2B5EF4-FFF2-40B4-BE49-F238E27FC236}">
                  <a16:creationId xmlns:a16="http://schemas.microsoft.com/office/drawing/2014/main" id="{12A9C026-3AC1-97F3-0951-F34D0D38235A}"/>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48" name="直線コネクタ 147">
              <a:extLst>
                <a:ext uri="{FF2B5EF4-FFF2-40B4-BE49-F238E27FC236}">
                  <a16:creationId xmlns:a16="http://schemas.microsoft.com/office/drawing/2014/main" id="{FFE8545A-5BCE-1FE2-4765-60F1BFE22F43}"/>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49" name="直線コネクタ 148">
              <a:extLst>
                <a:ext uri="{FF2B5EF4-FFF2-40B4-BE49-F238E27FC236}">
                  <a16:creationId xmlns:a16="http://schemas.microsoft.com/office/drawing/2014/main" id="{1E62C331-62A0-2A7F-2998-382E0EAAC3AB}"/>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181" name="グループ化 180">
            <a:extLst>
              <a:ext uri="{FF2B5EF4-FFF2-40B4-BE49-F238E27FC236}">
                <a16:creationId xmlns:a16="http://schemas.microsoft.com/office/drawing/2014/main" id="{78130EE8-B535-1C98-4F69-608823EC70F4}"/>
              </a:ext>
            </a:extLst>
          </p:cNvPr>
          <p:cNvGrpSpPr/>
          <p:nvPr/>
        </p:nvGrpSpPr>
        <p:grpSpPr>
          <a:xfrm>
            <a:off x="5109345" y="4509012"/>
            <a:ext cx="1531092" cy="1440374"/>
            <a:chOff x="5202007" y="3068996"/>
            <a:chExt cx="1531092" cy="1440374"/>
          </a:xfrm>
        </p:grpSpPr>
        <p:sp>
          <p:nvSpPr>
            <p:cNvPr id="182" name="正方形/長方形 181">
              <a:extLst>
                <a:ext uri="{FF2B5EF4-FFF2-40B4-BE49-F238E27FC236}">
                  <a16:creationId xmlns:a16="http://schemas.microsoft.com/office/drawing/2014/main" id="{5D36497F-4C51-62D4-17AA-F8CDEBD39BE3}"/>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83" name="円/楕円 69">
              <a:extLst>
                <a:ext uri="{FF2B5EF4-FFF2-40B4-BE49-F238E27FC236}">
                  <a16:creationId xmlns:a16="http://schemas.microsoft.com/office/drawing/2014/main" id="{E946A75E-DF12-DA2A-78E1-65F38AD0A937}"/>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84" name="直線コネクタ 183">
              <a:extLst>
                <a:ext uri="{FF2B5EF4-FFF2-40B4-BE49-F238E27FC236}">
                  <a16:creationId xmlns:a16="http://schemas.microsoft.com/office/drawing/2014/main" id="{F9A09F99-4D67-BE84-34D2-E9765F1FF45E}"/>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5" name="直線コネクタ 184">
              <a:extLst>
                <a:ext uri="{FF2B5EF4-FFF2-40B4-BE49-F238E27FC236}">
                  <a16:creationId xmlns:a16="http://schemas.microsoft.com/office/drawing/2014/main" id="{5C6F4416-0241-4869-42A0-99054C02A6FE}"/>
                </a:ext>
              </a:extLst>
            </p:cNvPr>
            <p:cNvCxnSpPr>
              <a:cxnSpLocks/>
              <a:endCxn id="186" idx="4"/>
            </p:cNvCxnSpPr>
            <p:nvPr/>
          </p:nvCxnSpPr>
          <p:spPr>
            <a:xfrm>
              <a:off x="5965748" y="3609002"/>
              <a:ext cx="0"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86" name="円/楕円 68">
              <a:extLst>
                <a:ext uri="{FF2B5EF4-FFF2-40B4-BE49-F238E27FC236}">
                  <a16:creationId xmlns:a16="http://schemas.microsoft.com/office/drawing/2014/main" id="{C4E74ED1-969E-56A5-2DA1-6CBF1A860452}"/>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87" name="直線コネクタ 186">
              <a:extLst>
                <a:ext uri="{FF2B5EF4-FFF2-40B4-BE49-F238E27FC236}">
                  <a16:creationId xmlns:a16="http://schemas.microsoft.com/office/drawing/2014/main" id="{7AB187B5-B2F0-3129-225D-03029396FE71}"/>
                </a:ext>
              </a:extLst>
            </p:cNvPr>
            <p:cNvCxnSpPr>
              <a:cxnSpLocks/>
              <a:endCxn id="183"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8" name="直線コネクタ 187">
              <a:extLst>
                <a:ext uri="{FF2B5EF4-FFF2-40B4-BE49-F238E27FC236}">
                  <a16:creationId xmlns:a16="http://schemas.microsoft.com/office/drawing/2014/main" id="{36F01245-84C7-0659-3791-9D851EDB9230}"/>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89" name="Rectangle 93">
              <a:extLst>
                <a:ext uri="{FF2B5EF4-FFF2-40B4-BE49-F238E27FC236}">
                  <a16:creationId xmlns:a16="http://schemas.microsoft.com/office/drawing/2014/main" id="{3BFAE4A7-8A5C-11A8-C51A-9C2E35F8A940}"/>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90" name="Rectangle 93">
              <a:extLst>
                <a:ext uri="{FF2B5EF4-FFF2-40B4-BE49-F238E27FC236}">
                  <a16:creationId xmlns:a16="http://schemas.microsoft.com/office/drawing/2014/main" id="{346AB20E-6F24-C876-4D81-DCA51A179F01}"/>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91" name="Rectangle 93">
              <a:extLst>
                <a:ext uri="{FF2B5EF4-FFF2-40B4-BE49-F238E27FC236}">
                  <a16:creationId xmlns:a16="http://schemas.microsoft.com/office/drawing/2014/main" id="{BDE45902-F320-7645-5C24-BFAA45A3322E}"/>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92" name="直線コネクタ 191">
              <a:extLst>
                <a:ext uri="{FF2B5EF4-FFF2-40B4-BE49-F238E27FC236}">
                  <a16:creationId xmlns:a16="http://schemas.microsoft.com/office/drawing/2014/main" id="{8762D339-07BA-4F05-BED0-EE9C25E6D02B}"/>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93" name="直線コネクタ 192">
              <a:extLst>
                <a:ext uri="{FF2B5EF4-FFF2-40B4-BE49-F238E27FC236}">
                  <a16:creationId xmlns:a16="http://schemas.microsoft.com/office/drawing/2014/main" id="{CA7D9A00-BC48-0B61-BEEE-5467746B88BB}"/>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194" name="直線コネクタ 193">
            <a:extLst>
              <a:ext uri="{FF2B5EF4-FFF2-40B4-BE49-F238E27FC236}">
                <a16:creationId xmlns:a16="http://schemas.microsoft.com/office/drawing/2014/main" id="{DB580ECA-4E0D-14E4-1EA3-21AB3CF0B43A}"/>
              </a:ext>
            </a:extLst>
          </p:cNvPr>
          <p:cNvCxnSpPr>
            <a:cxnSpLocks/>
          </p:cNvCxnSpPr>
          <p:nvPr/>
        </p:nvCxnSpPr>
        <p:spPr>
          <a:xfrm flipH="1">
            <a:off x="5199346" y="2708992"/>
            <a:ext cx="3600040"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95" name="直線コネクタ 194">
            <a:extLst>
              <a:ext uri="{FF2B5EF4-FFF2-40B4-BE49-F238E27FC236}">
                <a16:creationId xmlns:a16="http://schemas.microsoft.com/office/drawing/2014/main" id="{ABB4A216-E134-1BD3-8862-06AE5F457314}"/>
              </a:ext>
            </a:extLst>
          </p:cNvPr>
          <p:cNvCxnSpPr>
            <a:cxnSpLocks/>
          </p:cNvCxnSpPr>
          <p:nvPr/>
        </p:nvCxnSpPr>
        <p:spPr>
          <a:xfrm>
            <a:off x="6639362" y="2708992"/>
            <a:ext cx="0" cy="720008"/>
          </a:xfrm>
          <a:prstGeom prst="line">
            <a:avLst/>
          </a:prstGeom>
          <a:ln w="6350" cap="rnd">
            <a:solidFill>
              <a:srgbClr val="000000"/>
            </a:solidFill>
            <a:headEnd type="oval" w="sm" len="sm"/>
            <a:tailEnd type="none"/>
          </a:ln>
        </p:spPr>
        <p:style>
          <a:lnRef idx="1">
            <a:schemeClr val="accent1"/>
          </a:lnRef>
          <a:fillRef idx="0">
            <a:schemeClr val="accent1"/>
          </a:fillRef>
          <a:effectRef idx="0">
            <a:schemeClr val="accent1"/>
          </a:effectRef>
          <a:fontRef idx="minor">
            <a:schemeClr val="tx1"/>
          </a:fontRef>
        </p:style>
      </p:cxnSp>
      <p:cxnSp>
        <p:nvCxnSpPr>
          <p:cNvPr id="203" name="直線コネクタ 202">
            <a:extLst>
              <a:ext uri="{FF2B5EF4-FFF2-40B4-BE49-F238E27FC236}">
                <a16:creationId xmlns:a16="http://schemas.microsoft.com/office/drawing/2014/main" id="{24DFC145-FF1A-5DAD-2768-A7562FD99C2A}"/>
              </a:ext>
            </a:extLst>
          </p:cNvPr>
          <p:cNvCxnSpPr>
            <a:cxnSpLocks/>
          </p:cNvCxnSpPr>
          <p:nvPr/>
        </p:nvCxnSpPr>
        <p:spPr>
          <a:xfrm flipV="1">
            <a:off x="5199346" y="1988984"/>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05" name="直線コネクタ 204">
            <a:extLst>
              <a:ext uri="{FF2B5EF4-FFF2-40B4-BE49-F238E27FC236}">
                <a16:creationId xmlns:a16="http://schemas.microsoft.com/office/drawing/2014/main" id="{1CD261B1-1231-B8D1-95D3-708F5A5E77BD}"/>
              </a:ext>
            </a:extLst>
          </p:cNvPr>
          <p:cNvCxnSpPr>
            <a:cxnSpLocks/>
          </p:cNvCxnSpPr>
          <p:nvPr/>
        </p:nvCxnSpPr>
        <p:spPr>
          <a:xfrm flipV="1">
            <a:off x="6639362" y="4149008"/>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06" name="直線コネクタ 205">
            <a:extLst>
              <a:ext uri="{FF2B5EF4-FFF2-40B4-BE49-F238E27FC236}">
                <a16:creationId xmlns:a16="http://schemas.microsoft.com/office/drawing/2014/main" id="{C251C3D6-31B6-C700-8D31-DD5ECEE82AA6}"/>
              </a:ext>
            </a:extLst>
          </p:cNvPr>
          <p:cNvCxnSpPr>
            <a:cxnSpLocks/>
          </p:cNvCxnSpPr>
          <p:nvPr/>
        </p:nvCxnSpPr>
        <p:spPr>
          <a:xfrm flipV="1">
            <a:off x="6639362" y="5589024"/>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08" name="直線コネクタ 207">
            <a:extLst>
              <a:ext uri="{FF2B5EF4-FFF2-40B4-BE49-F238E27FC236}">
                <a16:creationId xmlns:a16="http://schemas.microsoft.com/office/drawing/2014/main" id="{14E13B00-B2E4-2896-A4E1-0273179C6C0C}"/>
              </a:ext>
            </a:extLst>
          </p:cNvPr>
          <p:cNvCxnSpPr>
            <a:cxnSpLocks/>
          </p:cNvCxnSpPr>
          <p:nvPr/>
        </p:nvCxnSpPr>
        <p:spPr>
          <a:xfrm flipV="1">
            <a:off x="8079378" y="1988984"/>
            <a:ext cx="0" cy="720008"/>
          </a:xfrm>
          <a:prstGeom prst="line">
            <a:avLst/>
          </a:prstGeom>
          <a:ln w="6350" cap="rnd">
            <a:solidFill>
              <a:srgbClr val="000000"/>
            </a:solidFill>
            <a:headEnd type="oval" w="sm" len="sm"/>
            <a:tailEnd type="none"/>
          </a:ln>
        </p:spPr>
        <p:style>
          <a:lnRef idx="1">
            <a:schemeClr val="accent1"/>
          </a:lnRef>
          <a:fillRef idx="0">
            <a:schemeClr val="accent1"/>
          </a:fillRef>
          <a:effectRef idx="0">
            <a:schemeClr val="accent1"/>
          </a:effectRef>
          <a:fontRef idx="minor">
            <a:schemeClr val="tx1"/>
          </a:fontRef>
        </p:style>
      </p:cxnSp>
      <p:sp>
        <p:nvSpPr>
          <p:cNvPr id="211" name="Rectangle 93">
            <a:extLst>
              <a:ext uri="{FF2B5EF4-FFF2-40B4-BE49-F238E27FC236}">
                <a16:creationId xmlns:a16="http://schemas.microsoft.com/office/drawing/2014/main" id="{EE7E8219-0000-F127-EDB2-83B0262FAD54}"/>
              </a:ext>
            </a:extLst>
          </p:cNvPr>
          <p:cNvSpPr>
            <a:spLocks noChangeArrowheads="1"/>
          </p:cNvSpPr>
          <p:nvPr/>
        </p:nvSpPr>
        <p:spPr bwMode="auto">
          <a:xfrm>
            <a:off x="3309325" y="144897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a</a:t>
            </a:r>
          </a:p>
        </p:txBody>
      </p:sp>
      <p:sp>
        <p:nvSpPr>
          <p:cNvPr id="212" name="Rectangle 93">
            <a:extLst>
              <a:ext uri="{FF2B5EF4-FFF2-40B4-BE49-F238E27FC236}">
                <a16:creationId xmlns:a16="http://schemas.microsoft.com/office/drawing/2014/main" id="{F5B5152F-B86B-B54F-AB90-4CB1B2A34E45}"/>
              </a:ext>
            </a:extLst>
          </p:cNvPr>
          <p:cNvSpPr>
            <a:spLocks noChangeArrowheads="1"/>
          </p:cNvSpPr>
          <p:nvPr/>
        </p:nvSpPr>
        <p:spPr bwMode="auto">
          <a:xfrm>
            <a:off x="6279358" y="144897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b</a:t>
            </a:r>
          </a:p>
        </p:txBody>
      </p:sp>
      <p:sp>
        <p:nvSpPr>
          <p:cNvPr id="213" name="Rectangle 93">
            <a:extLst>
              <a:ext uri="{FF2B5EF4-FFF2-40B4-BE49-F238E27FC236}">
                <a16:creationId xmlns:a16="http://schemas.microsoft.com/office/drawing/2014/main" id="{CB840A81-CE05-F538-40D3-266F70063442}"/>
              </a:ext>
            </a:extLst>
          </p:cNvPr>
          <p:cNvSpPr>
            <a:spLocks noChangeArrowheads="1"/>
          </p:cNvSpPr>
          <p:nvPr/>
        </p:nvSpPr>
        <p:spPr bwMode="auto">
          <a:xfrm>
            <a:off x="4839342" y="3609002"/>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a</a:t>
            </a:r>
          </a:p>
        </p:txBody>
      </p:sp>
      <p:sp>
        <p:nvSpPr>
          <p:cNvPr id="214" name="Rectangle 93">
            <a:extLst>
              <a:ext uri="{FF2B5EF4-FFF2-40B4-BE49-F238E27FC236}">
                <a16:creationId xmlns:a16="http://schemas.microsoft.com/office/drawing/2014/main" id="{065267D5-0A2F-DDD9-D46B-E58ACA78171F}"/>
              </a:ext>
            </a:extLst>
          </p:cNvPr>
          <p:cNvSpPr>
            <a:spLocks noChangeArrowheads="1"/>
          </p:cNvSpPr>
          <p:nvPr/>
        </p:nvSpPr>
        <p:spPr bwMode="auto">
          <a:xfrm>
            <a:off x="4839342" y="5139019"/>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b</a:t>
            </a:r>
          </a:p>
        </p:txBody>
      </p:sp>
      <p:sp>
        <p:nvSpPr>
          <p:cNvPr id="215" name="Rectangle 93">
            <a:extLst>
              <a:ext uri="{FF2B5EF4-FFF2-40B4-BE49-F238E27FC236}">
                <a16:creationId xmlns:a16="http://schemas.microsoft.com/office/drawing/2014/main" id="{1B341E87-61B2-97DE-9C1C-40C38CE9E011}"/>
              </a:ext>
            </a:extLst>
          </p:cNvPr>
          <p:cNvSpPr>
            <a:spLocks noChangeArrowheads="1"/>
          </p:cNvSpPr>
          <p:nvPr/>
        </p:nvSpPr>
        <p:spPr bwMode="auto">
          <a:xfrm>
            <a:off x="8799386" y="2528990"/>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c</a:t>
            </a:r>
          </a:p>
        </p:txBody>
      </p:sp>
      <p:grpSp>
        <p:nvGrpSpPr>
          <p:cNvPr id="217" name="グループ化 216">
            <a:extLst>
              <a:ext uri="{FF2B5EF4-FFF2-40B4-BE49-F238E27FC236}">
                <a16:creationId xmlns:a16="http://schemas.microsoft.com/office/drawing/2014/main" id="{97C2E1E2-CC98-9F4C-7209-20176F57BA08}"/>
              </a:ext>
            </a:extLst>
          </p:cNvPr>
          <p:cNvGrpSpPr/>
          <p:nvPr/>
        </p:nvGrpSpPr>
        <p:grpSpPr>
          <a:xfrm>
            <a:off x="6279358" y="5859027"/>
            <a:ext cx="450005" cy="900368"/>
            <a:chOff x="7272030" y="5768668"/>
            <a:chExt cx="450005" cy="900368"/>
          </a:xfrm>
        </p:grpSpPr>
        <p:grpSp>
          <p:nvGrpSpPr>
            <p:cNvPr id="218" name="グループ化 152">
              <a:extLst>
                <a:ext uri="{FF2B5EF4-FFF2-40B4-BE49-F238E27FC236}">
                  <a16:creationId xmlns:a16="http://schemas.microsoft.com/office/drawing/2014/main" id="{473CB979-8823-E1AA-0462-54D1BE4F30D3}"/>
                </a:ext>
              </a:extLst>
            </p:cNvPr>
            <p:cNvGrpSpPr/>
            <p:nvPr/>
          </p:nvGrpSpPr>
          <p:grpSpPr>
            <a:xfrm>
              <a:off x="7542033" y="6218673"/>
              <a:ext cx="180002" cy="90001"/>
              <a:chOff x="3643306" y="4500570"/>
              <a:chExt cx="428628" cy="144464"/>
            </a:xfrm>
          </p:grpSpPr>
          <p:cxnSp>
            <p:nvCxnSpPr>
              <p:cNvPr id="221" name="直線コネクタ 220">
                <a:extLst>
                  <a:ext uri="{FF2B5EF4-FFF2-40B4-BE49-F238E27FC236}">
                    <a16:creationId xmlns:a16="http://schemas.microsoft.com/office/drawing/2014/main" id="{6417A278-E1D8-0B3B-430E-5E6E4A32BED9}"/>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22" name="直線コネクタ 221">
                <a:extLst>
                  <a:ext uri="{FF2B5EF4-FFF2-40B4-BE49-F238E27FC236}">
                    <a16:creationId xmlns:a16="http://schemas.microsoft.com/office/drawing/2014/main" id="{C4F2EB27-629F-C2C6-9373-FF714A609F15}"/>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23" name="直線コネクタ 222">
                <a:extLst>
                  <a:ext uri="{FF2B5EF4-FFF2-40B4-BE49-F238E27FC236}">
                    <a16:creationId xmlns:a16="http://schemas.microsoft.com/office/drawing/2014/main" id="{3F0BB9DC-65EA-41E0-0959-90B35B7B802F}"/>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219" name="直線コネクタ 218">
              <a:extLst>
                <a:ext uri="{FF2B5EF4-FFF2-40B4-BE49-F238E27FC236}">
                  <a16:creationId xmlns:a16="http://schemas.microsoft.com/office/drawing/2014/main" id="{2AF1F0B9-65D7-B01E-0BDC-5C5975BCD4BF}"/>
                </a:ext>
              </a:extLst>
            </p:cNvPr>
            <p:cNvCxnSpPr>
              <a:cxnSpLocks/>
            </p:cNvCxnSpPr>
            <p:nvPr/>
          </p:nvCxnSpPr>
          <p:spPr>
            <a:xfrm flipV="1">
              <a:off x="7632034" y="576866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20" name="Rectangle 93">
              <a:extLst>
                <a:ext uri="{FF2B5EF4-FFF2-40B4-BE49-F238E27FC236}">
                  <a16:creationId xmlns:a16="http://schemas.microsoft.com/office/drawing/2014/main" id="{18479E53-A48B-F1B0-C3BB-8D7DB7F95A51}"/>
                </a:ext>
              </a:extLst>
            </p:cNvPr>
            <p:cNvSpPr>
              <a:spLocks noChangeArrowheads="1"/>
            </p:cNvSpPr>
            <p:nvPr/>
          </p:nvSpPr>
          <p:spPr bwMode="auto">
            <a:xfrm>
              <a:off x="7272030" y="630867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grpSp>
      <p:grpSp>
        <p:nvGrpSpPr>
          <p:cNvPr id="224" name="グループ化 223">
            <a:extLst>
              <a:ext uri="{FF2B5EF4-FFF2-40B4-BE49-F238E27FC236}">
                <a16:creationId xmlns:a16="http://schemas.microsoft.com/office/drawing/2014/main" id="{1C0058CE-E6CB-1382-E48F-3CFFC9D93A5B}"/>
              </a:ext>
            </a:extLst>
          </p:cNvPr>
          <p:cNvGrpSpPr/>
          <p:nvPr/>
        </p:nvGrpSpPr>
        <p:grpSpPr>
          <a:xfrm>
            <a:off x="4929343" y="458967"/>
            <a:ext cx="450049" cy="810009"/>
            <a:chOff x="7362031" y="2528632"/>
            <a:chExt cx="450049" cy="810009"/>
          </a:xfrm>
        </p:grpSpPr>
        <p:cxnSp>
          <p:nvCxnSpPr>
            <p:cNvPr id="225" name="直線コネクタ 224">
              <a:extLst>
                <a:ext uri="{FF2B5EF4-FFF2-40B4-BE49-F238E27FC236}">
                  <a16:creationId xmlns:a16="http://schemas.microsoft.com/office/drawing/2014/main" id="{A834202A-B3AD-DABC-FC73-C4FABAAE102F}"/>
                </a:ext>
              </a:extLst>
            </p:cNvPr>
            <p:cNvCxnSpPr>
              <a:cxnSpLocks/>
            </p:cNvCxnSpPr>
            <p:nvPr/>
          </p:nvCxnSpPr>
          <p:spPr>
            <a:xfrm flipV="1">
              <a:off x="7632034" y="2888636"/>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26" name="直線コネクタ 225">
              <a:extLst>
                <a:ext uri="{FF2B5EF4-FFF2-40B4-BE49-F238E27FC236}">
                  <a16:creationId xmlns:a16="http://schemas.microsoft.com/office/drawing/2014/main" id="{B9AEB0FC-3ED0-A8BE-EA94-754D90879E1C}"/>
                </a:ext>
              </a:extLst>
            </p:cNvPr>
            <p:cNvCxnSpPr/>
            <p:nvPr/>
          </p:nvCxnSpPr>
          <p:spPr>
            <a:xfrm>
              <a:off x="7452032" y="2888636"/>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27" name="Rectangle 93">
              <a:extLst>
                <a:ext uri="{FF2B5EF4-FFF2-40B4-BE49-F238E27FC236}">
                  <a16:creationId xmlns:a16="http://schemas.microsoft.com/office/drawing/2014/main" id="{E8B2D051-85A9-9C09-4CE2-AE2F20A1DC3F}"/>
                </a:ext>
              </a:extLst>
            </p:cNvPr>
            <p:cNvSpPr>
              <a:spLocks noChangeArrowheads="1"/>
            </p:cNvSpPr>
            <p:nvPr/>
          </p:nvSpPr>
          <p:spPr bwMode="auto">
            <a:xfrm>
              <a:off x="7362031" y="2528632"/>
              <a:ext cx="270003" cy="360362"/>
            </a:xfrm>
            <a:prstGeom prst="rect">
              <a:avLst/>
            </a:prstGeom>
            <a:noFill/>
            <a:ln w="12700" algn="ctr">
              <a:noFill/>
              <a:miter lim="800000"/>
              <a:headEnd/>
              <a:tailEnd/>
            </a:ln>
            <a:effectLst/>
          </p:spPr>
          <p:txBody>
            <a:bodyPr wrap="none" lIns="90000" tIns="46800" rIns="90000" bIns="46800" anchor="ctr"/>
            <a:lstStyle/>
            <a:p>
              <a:r>
                <a:rPr lang="en-US" altLang="ja-JP" b="0" i="0" dirty="0">
                  <a:latin typeface="+mj-lt"/>
                </a:rPr>
                <a:t>VDD</a:t>
              </a:r>
              <a:endParaRPr lang="en-US" altLang="ja-JP" dirty="0"/>
            </a:p>
          </p:txBody>
        </p:sp>
      </p:grpSp>
      <p:grpSp>
        <p:nvGrpSpPr>
          <p:cNvPr id="228" name="グループ化 227">
            <a:extLst>
              <a:ext uri="{FF2B5EF4-FFF2-40B4-BE49-F238E27FC236}">
                <a16:creationId xmlns:a16="http://schemas.microsoft.com/office/drawing/2014/main" id="{297597D5-C82D-E38F-DAB7-D0BF7CD400E9}"/>
              </a:ext>
            </a:extLst>
          </p:cNvPr>
          <p:cNvGrpSpPr/>
          <p:nvPr/>
        </p:nvGrpSpPr>
        <p:grpSpPr>
          <a:xfrm>
            <a:off x="7809375" y="458967"/>
            <a:ext cx="450049" cy="810009"/>
            <a:chOff x="7362031" y="2528632"/>
            <a:chExt cx="450049" cy="810009"/>
          </a:xfrm>
        </p:grpSpPr>
        <p:cxnSp>
          <p:nvCxnSpPr>
            <p:cNvPr id="229" name="直線コネクタ 228">
              <a:extLst>
                <a:ext uri="{FF2B5EF4-FFF2-40B4-BE49-F238E27FC236}">
                  <a16:creationId xmlns:a16="http://schemas.microsoft.com/office/drawing/2014/main" id="{ED01009A-6891-4495-E776-F573805580AA}"/>
                </a:ext>
              </a:extLst>
            </p:cNvPr>
            <p:cNvCxnSpPr>
              <a:cxnSpLocks/>
            </p:cNvCxnSpPr>
            <p:nvPr/>
          </p:nvCxnSpPr>
          <p:spPr>
            <a:xfrm flipV="1">
              <a:off x="7632034" y="2888636"/>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30" name="直線コネクタ 229">
              <a:extLst>
                <a:ext uri="{FF2B5EF4-FFF2-40B4-BE49-F238E27FC236}">
                  <a16:creationId xmlns:a16="http://schemas.microsoft.com/office/drawing/2014/main" id="{0D8549A2-8D92-8A6A-C6D4-372E24EFBFAB}"/>
                </a:ext>
              </a:extLst>
            </p:cNvPr>
            <p:cNvCxnSpPr/>
            <p:nvPr/>
          </p:nvCxnSpPr>
          <p:spPr>
            <a:xfrm>
              <a:off x="7452032" y="2888636"/>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31" name="Rectangle 93">
              <a:extLst>
                <a:ext uri="{FF2B5EF4-FFF2-40B4-BE49-F238E27FC236}">
                  <a16:creationId xmlns:a16="http://schemas.microsoft.com/office/drawing/2014/main" id="{8111FA7D-6202-5497-10C6-7A00D4BD7FDB}"/>
                </a:ext>
              </a:extLst>
            </p:cNvPr>
            <p:cNvSpPr>
              <a:spLocks noChangeArrowheads="1"/>
            </p:cNvSpPr>
            <p:nvPr/>
          </p:nvSpPr>
          <p:spPr bwMode="auto">
            <a:xfrm>
              <a:off x="7362031" y="2528632"/>
              <a:ext cx="270003" cy="360362"/>
            </a:xfrm>
            <a:prstGeom prst="rect">
              <a:avLst/>
            </a:prstGeom>
            <a:noFill/>
            <a:ln w="12700" algn="ctr">
              <a:noFill/>
              <a:miter lim="800000"/>
              <a:headEnd/>
              <a:tailEnd/>
            </a:ln>
            <a:effectLst/>
          </p:spPr>
          <p:txBody>
            <a:bodyPr wrap="none" lIns="90000" tIns="46800" rIns="90000" bIns="46800" anchor="ctr"/>
            <a:lstStyle/>
            <a:p>
              <a:r>
                <a:rPr lang="en-US" altLang="ja-JP" b="0" i="0" dirty="0">
                  <a:latin typeface="+mj-lt"/>
                </a:rPr>
                <a:t>VDD</a:t>
              </a:r>
              <a:endParaRPr lang="en-US" altLang="ja-JP" dirty="0"/>
            </a:p>
          </p:txBody>
        </p:sp>
      </p:grpSp>
      <p:graphicFrame>
        <p:nvGraphicFramePr>
          <p:cNvPr id="232" name="Group 383">
            <a:extLst>
              <a:ext uri="{FF2B5EF4-FFF2-40B4-BE49-F238E27FC236}">
                <a16:creationId xmlns:a16="http://schemas.microsoft.com/office/drawing/2014/main" id="{6AD48ACB-5759-4106-CCBB-3D41C1CA6FCA}"/>
              </a:ext>
            </a:extLst>
          </p:cNvPr>
          <p:cNvGraphicFramePr>
            <a:graphicFrameLocks/>
          </p:cNvGraphicFramePr>
          <p:nvPr>
            <p:extLst>
              <p:ext uri="{D42A27DB-BD31-4B8C-83A1-F6EECF244321}">
                <p14:modId xmlns:p14="http://schemas.microsoft.com/office/powerpoint/2010/main" val="1433710083"/>
              </p:ext>
            </p:extLst>
          </p:nvPr>
        </p:nvGraphicFramePr>
        <p:xfrm>
          <a:off x="971960" y="1268976"/>
          <a:ext cx="1439862" cy="2071690"/>
        </p:xfrm>
        <a:graphic>
          <a:graphicData uri="http://schemas.openxmlformats.org/drawingml/2006/table">
            <a:tbl>
              <a:tblPr/>
              <a:tblGrid>
                <a:gridCol w="479425">
                  <a:extLst>
                    <a:ext uri="{9D8B030D-6E8A-4147-A177-3AD203B41FA5}">
                      <a16:colId xmlns:a16="http://schemas.microsoft.com/office/drawing/2014/main" val="20000"/>
                    </a:ext>
                  </a:extLst>
                </a:gridCol>
                <a:gridCol w="481012">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c</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mn-ea"/>
                          <a:ea typeface="+mn-ea"/>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mn-ea"/>
                          <a:ea typeface="+mn-ea"/>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grpSp>
        <p:nvGrpSpPr>
          <p:cNvPr id="240" name="グループ化 239">
            <a:extLst>
              <a:ext uri="{FF2B5EF4-FFF2-40B4-BE49-F238E27FC236}">
                <a16:creationId xmlns:a16="http://schemas.microsoft.com/office/drawing/2014/main" id="{64DC05BE-F391-47A1-1C07-B7685C59B819}"/>
              </a:ext>
            </a:extLst>
          </p:cNvPr>
          <p:cNvGrpSpPr/>
          <p:nvPr/>
        </p:nvGrpSpPr>
        <p:grpSpPr>
          <a:xfrm>
            <a:off x="3669329" y="908972"/>
            <a:ext cx="1531092" cy="1440374"/>
            <a:chOff x="5202007" y="2708992"/>
            <a:chExt cx="1531092" cy="1440374"/>
          </a:xfrm>
        </p:grpSpPr>
        <p:grpSp>
          <p:nvGrpSpPr>
            <p:cNvPr id="241" name="グループ化 240">
              <a:extLst>
                <a:ext uri="{FF2B5EF4-FFF2-40B4-BE49-F238E27FC236}">
                  <a16:creationId xmlns:a16="http://schemas.microsoft.com/office/drawing/2014/main" id="{AD4B61D4-B437-6511-33DD-77F967CE31D0}"/>
                </a:ext>
              </a:extLst>
            </p:cNvPr>
            <p:cNvGrpSpPr/>
            <p:nvPr/>
          </p:nvGrpSpPr>
          <p:grpSpPr>
            <a:xfrm>
              <a:off x="5202007" y="2708992"/>
              <a:ext cx="1531092" cy="1440374"/>
              <a:chOff x="5202007" y="3068996"/>
              <a:chExt cx="1531092" cy="1440374"/>
            </a:xfrm>
          </p:grpSpPr>
          <p:sp>
            <p:nvSpPr>
              <p:cNvPr id="243" name="正方形/長方形 242">
                <a:extLst>
                  <a:ext uri="{FF2B5EF4-FFF2-40B4-BE49-F238E27FC236}">
                    <a16:creationId xmlns:a16="http://schemas.microsoft.com/office/drawing/2014/main" id="{86866406-9D63-F792-50B2-E0CD0FFA0846}"/>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44" name="円/楕円 69">
                <a:extLst>
                  <a:ext uri="{FF2B5EF4-FFF2-40B4-BE49-F238E27FC236}">
                    <a16:creationId xmlns:a16="http://schemas.microsoft.com/office/drawing/2014/main" id="{96371EA1-E139-0315-043E-0B4DF5FBA710}"/>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45" name="直線コネクタ 244">
                <a:extLst>
                  <a:ext uri="{FF2B5EF4-FFF2-40B4-BE49-F238E27FC236}">
                    <a16:creationId xmlns:a16="http://schemas.microsoft.com/office/drawing/2014/main" id="{38203321-0409-23A6-FD7F-45C1B686EB90}"/>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46" name="直線コネクタ 245">
                <a:extLst>
                  <a:ext uri="{FF2B5EF4-FFF2-40B4-BE49-F238E27FC236}">
                    <a16:creationId xmlns:a16="http://schemas.microsoft.com/office/drawing/2014/main" id="{FBA22A40-B145-7319-E97D-68D9B31C874F}"/>
                  </a:ext>
                </a:extLst>
              </p:cNvPr>
              <p:cNvCxnSpPr>
                <a:cxnSpLocks/>
                <a:endCxn id="247" idx="4"/>
              </p:cNvCxnSpPr>
              <p:nvPr/>
            </p:nvCxnSpPr>
            <p:spPr>
              <a:xfrm>
                <a:off x="5965748" y="3609002"/>
                <a:ext cx="0"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47" name="円/楕円 68">
                <a:extLst>
                  <a:ext uri="{FF2B5EF4-FFF2-40B4-BE49-F238E27FC236}">
                    <a16:creationId xmlns:a16="http://schemas.microsoft.com/office/drawing/2014/main" id="{5EB7FC80-3AF0-8CBA-FCEA-A1CE2514967E}"/>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48" name="直線コネクタ 247">
                <a:extLst>
                  <a:ext uri="{FF2B5EF4-FFF2-40B4-BE49-F238E27FC236}">
                    <a16:creationId xmlns:a16="http://schemas.microsoft.com/office/drawing/2014/main" id="{B5F4298D-8C76-C8B8-AD6F-46164F808165}"/>
                  </a:ext>
                </a:extLst>
              </p:cNvPr>
              <p:cNvCxnSpPr>
                <a:cxnSpLocks/>
                <a:endCxn id="244"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49" name="直線コネクタ 248">
                <a:extLst>
                  <a:ext uri="{FF2B5EF4-FFF2-40B4-BE49-F238E27FC236}">
                    <a16:creationId xmlns:a16="http://schemas.microsoft.com/office/drawing/2014/main" id="{87ED5C31-0306-BF9B-5D07-023857BE8BE5}"/>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50" name="Rectangle 93">
                <a:extLst>
                  <a:ext uri="{FF2B5EF4-FFF2-40B4-BE49-F238E27FC236}">
                    <a16:creationId xmlns:a16="http://schemas.microsoft.com/office/drawing/2014/main" id="{1CC9BD9A-C161-908B-530A-AAE16345FFF4}"/>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51" name="Rectangle 93">
                <a:extLst>
                  <a:ext uri="{FF2B5EF4-FFF2-40B4-BE49-F238E27FC236}">
                    <a16:creationId xmlns:a16="http://schemas.microsoft.com/office/drawing/2014/main" id="{8C152B59-926E-806F-0C67-BF036016E37D}"/>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252" name="Rectangle 93">
                <a:extLst>
                  <a:ext uri="{FF2B5EF4-FFF2-40B4-BE49-F238E27FC236}">
                    <a16:creationId xmlns:a16="http://schemas.microsoft.com/office/drawing/2014/main" id="{C1B3EBB4-0E50-4ED8-B062-DA6931AEE4D7}"/>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253" name="直線コネクタ 252">
                <a:extLst>
                  <a:ext uri="{FF2B5EF4-FFF2-40B4-BE49-F238E27FC236}">
                    <a16:creationId xmlns:a16="http://schemas.microsoft.com/office/drawing/2014/main" id="{ABCF7961-5A82-18F0-8D24-68C47EFDD141}"/>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54" name="直線コネクタ 253">
                <a:extLst>
                  <a:ext uri="{FF2B5EF4-FFF2-40B4-BE49-F238E27FC236}">
                    <a16:creationId xmlns:a16="http://schemas.microsoft.com/office/drawing/2014/main" id="{188713DD-5FE2-D0F7-5EC1-DC2D42665FF4}"/>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242" name="円/楕円 69">
              <a:extLst>
                <a:ext uri="{FF2B5EF4-FFF2-40B4-BE49-F238E27FC236}">
                  <a16:creationId xmlns:a16="http://schemas.microsoft.com/office/drawing/2014/main" id="{933751A7-FF78-01EB-35DF-6EF73A031FBB}"/>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nvGrpSpPr>
          <p:cNvPr id="255" name="グループ化 254">
            <a:extLst>
              <a:ext uri="{FF2B5EF4-FFF2-40B4-BE49-F238E27FC236}">
                <a16:creationId xmlns:a16="http://schemas.microsoft.com/office/drawing/2014/main" id="{9F9B0FA8-830C-7FF4-5C26-22017E7397F6}"/>
              </a:ext>
            </a:extLst>
          </p:cNvPr>
          <p:cNvGrpSpPr/>
          <p:nvPr/>
        </p:nvGrpSpPr>
        <p:grpSpPr>
          <a:xfrm>
            <a:off x="6549361" y="908972"/>
            <a:ext cx="1531092" cy="1440374"/>
            <a:chOff x="5202007" y="2708992"/>
            <a:chExt cx="1531092" cy="1440374"/>
          </a:xfrm>
        </p:grpSpPr>
        <p:grpSp>
          <p:nvGrpSpPr>
            <p:cNvPr id="256" name="グループ化 255">
              <a:extLst>
                <a:ext uri="{FF2B5EF4-FFF2-40B4-BE49-F238E27FC236}">
                  <a16:creationId xmlns:a16="http://schemas.microsoft.com/office/drawing/2014/main" id="{68E39442-C29F-1899-B368-C5ECE08904B1}"/>
                </a:ext>
              </a:extLst>
            </p:cNvPr>
            <p:cNvGrpSpPr/>
            <p:nvPr/>
          </p:nvGrpSpPr>
          <p:grpSpPr>
            <a:xfrm>
              <a:off x="5202007" y="2708992"/>
              <a:ext cx="1531092" cy="1440374"/>
              <a:chOff x="5202007" y="3068996"/>
              <a:chExt cx="1531092" cy="1440374"/>
            </a:xfrm>
          </p:grpSpPr>
          <p:sp>
            <p:nvSpPr>
              <p:cNvPr id="258" name="正方形/長方形 257">
                <a:extLst>
                  <a:ext uri="{FF2B5EF4-FFF2-40B4-BE49-F238E27FC236}">
                    <a16:creationId xmlns:a16="http://schemas.microsoft.com/office/drawing/2014/main" id="{F0A0894E-14F7-4EAB-E9F3-5450B47F73F7}"/>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59" name="円/楕円 69">
                <a:extLst>
                  <a:ext uri="{FF2B5EF4-FFF2-40B4-BE49-F238E27FC236}">
                    <a16:creationId xmlns:a16="http://schemas.microsoft.com/office/drawing/2014/main" id="{9C21C671-151D-3648-3195-97BD7B17EA5D}"/>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60" name="直線コネクタ 259">
                <a:extLst>
                  <a:ext uri="{FF2B5EF4-FFF2-40B4-BE49-F238E27FC236}">
                    <a16:creationId xmlns:a16="http://schemas.microsoft.com/office/drawing/2014/main" id="{E5ACD0F4-0B92-BB7B-EDE2-34725CE4EBEE}"/>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61" name="直線コネクタ 260">
                <a:extLst>
                  <a:ext uri="{FF2B5EF4-FFF2-40B4-BE49-F238E27FC236}">
                    <a16:creationId xmlns:a16="http://schemas.microsoft.com/office/drawing/2014/main" id="{F85D2DB9-51BF-812C-989F-D84EF291E638}"/>
                  </a:ext>
                </a:extLst>
              </p:cNvPr>
              <p:cNvCxnSpPr>
                <a:cxnSpLocks/>
                <a:endCxn id="262" idx="4"/>
              </p:cNvCxnSpPr>
              <p:nvPr/>
            </p:nvCxnSpPr>
            <p:spPr>
              <a:xfrm>
                <a:off x="5832014" y="3609002"/>
                <a:ext cx="133734"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62" name="円/楕円 68">
                <a:extLst>
                  <a:ext uri="{FF2B5EF4-FFF2-40B4-BE49-F238E27FC236}">
                    <a16:creationId xmlns:a16="http://schemas.microsoft.com/office/drawing/2014/main" id="{313B59DE-9878-BF57-314D-C173E7F967BB}"/>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263" name="直線コネクタ 262">
                <a:extLst>
                  <a:ext uri="{FF2B5EF4-FFF2-40B4-BE49-F238E27FC236}">
                    <a16:creationId xmlns:a16="http://schemas.microsoft.com/office/drawing/2014/main" id="{2EA6AA04-78CF-CBC1-8A86-A201FFBFBE03}"/>
                  </a:ext>
                </a:extLst>
              </p:cNvPr>
              <p:cNvCxnSpPr>
                <a:cxnSpLocks/>
                <a:endCxn id="259"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64" name="直線コネクタ 263">
                <a:extLst>
                  <a:ext uri="{FF2B5EF4-FFF2-40B4-BE49-F238E27FC236}">
                    <a16:creationId xmlns:a16="http://schemas.microsoft.com/office/drawing/2014/main" id="{3DDF3381-33D2-CA9C-5353-197B8754F644}"/>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65" name="Rectangle 93">
                <a:extLst>
                  <a:ext uri="{FF2B5EF4-FFF2-40B4-BE49-F238E27FC236}">
                    <a16:creationId xmlns:a16="http://schemas.microsoft.com/office/drawing/2014/main" id="{1A5CD5E4-9C26-828A-EE8A-CC6DCAE8431A}"/>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66" name="Rectangle 93">
                <a:extLst>
                  <a:ext uri="{FF2B5EF4-FFF2-40B4-BE49-F238E27FC236}">
                    <a16:creationId xmlns:a16="http://schemas.microsoft.com/office/drawing/2014/main" id="{8AF29F70-4B0B-1C15-ADC4-EC758570862F}"/>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267" name="Rectangle 93">
                <a:extLst>
                  <a:ext uri="{FF2B5EF4-FFF2-40B4-BE49-F238E27FC236}">
                    <a16:creationId xmlns:a16="http://schemas.microsoft.com/office/drawing/2014/main" id="{14E6DE1A-8D0D-C6D6-36F7-E02D704775E9}"/>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268" name="直線コネクタ 267">
                <a:extLst>
                  <a:ext uri="{FF2B5EF4-FFF2-40B4-BE49-F238E27FC236}">
                    <a16:creationId xmlns:a16="http://schemas.microsoft.com/office/drawing/2014/main" id="{3BA9A987-30BA-16EE-F80C-0BC772D8BDA7}"/>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69" name="直線コネクタ 268">
                <a:extLst>
                  <a:ext uri="{FF2B5EF4-FFF2-40B4-BE49-F238E27FC236}">
                    <a16:creationId xmlns:a16="http://schemas.microsoft.com/office/drawing/2014/main" id="{A895D64E-4D3F-993F-6C1D-4C451C76A87A}"/>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257" name="円/楕円 69">
              <a:extLst>
                <a:ext uri="{FF2B5EF4-FFF2-40B4-BE49-F238E27FC236}">
                  <a16:creationId xmlns:a16="http://schemas.microsoft.com/office/drawing/2014/main" id="{D1C2D577-F633-4585-AA57-4F24B38099D4}"/>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spTree>
    <p:extLst>
      <p:ext uri="{BB962C8B-B14F-4D97-AF65-F5344CB8AC3E}">
        <p14:creationId xmlns:p14="http://schemas.microsoft.com/office/powerpoint/2010/main" val="4809071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606586F9-6C36-61A6-23F7-111392D1F063}"/>
              </a:ext>
            </a:extLst>
          </p:cNvPr>
          <p:cNvSpPr>
            <a:spLocks noGrp="1"/>
          </p:cNvSpPr>
          <p:nvPr>
            <p:ph type="title"/>
          </p:nvPr>
        </p:nvSpPr>
        <p:spPr/>
        <p:txBody>
          <a:bodyPr/>
          <a:lstStyle/>
          <a:p>
            <a:r>
              <a:rPr lang="en-US" altLang="ja-JP" dirty="0"/>
              <a:t>NOT </a:t>
            </a:r>
            <a:r>
              <a:rPr lang="ja-JP" altLang="en-US" dirty="0"/>
              <a:t>と </a:t>
            </a:r>
            <a:r>
              <a:rPr lang="en-US" altLang="ja-JP" dirty="0"/>
              <a:t>NAND </a:t>
            </a:r>
            <a:r>
              <a:rPr lang="ja-JP" altLang="en-US" dirty="0"/>
              <a:t>から </a:t>
            </a:r>
            <a:r>
              <a:rPr lang="en-US" altLang="ja-JP" dirty="0"/>
              <a:t>AND </a:t>
            </a:r>
            <a:r>
              <a:rPr lang="ja-JP" altLang="en-US" dirty="0"/>
              <a:t>と </a:t>
            </a:r>
            <a:r>
              <a:rPr lang="en-US" altLang="ja-JP" dirty="0"/>
              <a:t>OR </a:t>
            </a:r>
            <a:r>
              <a:rPr lang="ja-JP" altLang="en-US" dirty="0"/>
              <a:t>を作る</a:t>
            </a:r>
            <a:endParaRPr lang="en-US" dirty="0"/>
          </a:p>
        </p:txBody>
      </p:sp>
      <p:sp>
        <p:nvSpPr>
          <p:cNvPr id="6" name="コンテンツ プレースホルダー 5">
            <a:extLst>
              <a:ext uri="{FF2B5EF4-FFF2-40B4-BE49-F238E27FC236}">
                <a16:creationId xmlns:a16="http://schemas.microsoft.com/office/drawing/2014/main" id="{C5366AB5-271B-B1D3-AAAD-F3B904C622CE}"/>
              </a:ext>
            </a:extLst>
          </p:cNvPr>
          <p:cNvSpPr>
            <a:spLocks noGrp="1"/>
          </p:cNvSpPr>
          <p:nvPr>
            <p:ph sz="quarter" idx="10"/>
          </p:nvPr>
        </p:nvSpPr>
        <p:spPr>
          <a:xfrm>
            <a:off x="611956" y="1088974"/>
            <a:ext cx="8280092" cy="720008"/>
          </a:xfrm>
        </p:spPr>
        <p:txBody>
          <a:bodyPr/>
          <a:lstStyle/>
          <a:p>
            <a:r>
              <a:rPr lang="en-US" dirty="0"/>
              <a:t>NAND </a:t>
            </a:r>
            <a:r>
              <a:rPr lang="ja-JP" altLang="en-US" dirty="0"/>
              <a:t>の出力に </a:t>
            </a:r>
            <a:r>
              <a:rPr lang="en-US" altLang="ja-JP" dirty="0"/>
              <a:t>NOT </a:t>
            </a:r>
            <a:r>
              <a:rPr lang="ja-JP" altLang="en-US" dirty="0"/>
              <a:t>をつけると </a:t>
            </a:r>
            <a:r>
              <a:rPr lang="en-US" altLang="ja-JP" dirty="0"/>
              <a:t>AND </a:t>
            </a:r>
            <a:r>
              <a:rPr lang="ja-JP" altLang="en-US" dirty="0"/>
              <a:t>が作れる</a:t>
            </a:r>
            <a:endParaRPr lang="en-US" dirty="0"/>
          </a:p>
        </p:txBody>
      </p:sp>
      <p:sp>
        <p:nvSpPr>
          <p:cNvPr id="2" name="スライド番号プレースホルダー 1">
            <a:extLst>
              <a:ext uri="{FF2B5EF4-FFF2-40B4-BE49-F238E27FC236}">
                <a16:creationId xmlns:a16="http://schemas.microsoft.com/office/drawing/2014/main" id="{D7D9DC5D-B5F2-DA9F-AD9A-37D0BA086279}"/>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33</a:t>
            </a:fld>
            <a:endParaRPr kumimoji="1" lang="ja-JP" altLang="en-US" dirty="0"/>
          </a:p>
        </p:txBody>
      </p:sp>
      <p:sp>
        <p:nvSpPr>
          <p:cNvPr id="7" name="Line 9">
            <a:extLst>
              <a:ext uri="{FF2B5EF4-FFF2-40B4-BE49-F238E27FC236}">
                <a16:creationId xmlns:a16="http://schemas.microsoft.com/office/drawing/2014/main" id="{C2642822-A79B-70BD-E955-CB71CB4273E8}"/>
              </a:ext>
            </a:extLst>
          </p:cNvPr>
          <p:cNvSpPr>
            <a:spLocks noChangeShapeType="1"/>
          </p:cNvSpPr>
          <p:nvPr/>
        </p:nvSpPr>
        <p:spPr bwMode="auto">
          <a:xfrm>
            <a:off x="1601668" y="2530181"/>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8" name="Line 10">
            <a:extLst>
              <a:ext uri="{FF2B5EF4-FFF2-40B4-BE49-F238E27FC236}">
                <a16:creationId xmlns:a16="http://schemas.microsoft.com/office/drawing/2014/main" id="{CD32B842-1826-B619-84D2-AC0C58A04866}"/>
              </a:ext>
            </a:extLst>
          </p:cNvPr>
          <p:cNvSpPr>
            <a:spLocks noChangeShapeType="1"/>
          </p:cNvSpPr>
          <p:nvPr/>
        </p:nvSpPr>
        <p:spPr bwMode="auto">
          <a:xfrm>
            <a:off x="1601668" y="2890543"/>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9" name="Line 11">
            <a:extLst>
              <a:ext uri="{FF2B5EF4-FFF2-40B4-BE49-F238E27FC236}">
                <a16:creationId xmlns:a16="http://schemas.microsoft.com/office/drawing/2014/main" id="{001DB7CF-87F0-51D0-7807-0C0F5F683030}"/>
              </a:ext>
            </a:extLst>
          </p:cNvPr>
          <p:cNvSpPr>
            <a:spLocks noChangeShapeType="1"/>
          </p:cNvSpPr>
          <p:nvPr/>
        </p:nvSpPr>
        <p:spPr bwMode="auto">
          <a:xfrm>
            <a:off x="2681979" y="2708992"/>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pic>
        <p:nvPicPr>
          <p:cNvPr id="13" name="Picture 83" descr="NAND">
            <a:extLst>
              <a:ext uri="{FF2B5EF4-FFF2-40B4-BE49-F238E27FC236}">
                <a16:creationId xmlns:a16="http://schemas.microsoft.com/office/drawing/2014/main" id="{E79F2BF4-D406-657A-51C7-B97D95ECD106}"/>
              </a:ext>
            </a:extLst>
          </p:cNvPr>
          <p:cNvPicPr>
            <a:picLocks noChangeAspect="1" noChangeArrowheads="1"/>
          </p:cNvPicPr>
          <p:nvPr/>
        </p:nvPicPr>
        <p:blipFill>
          <a:blip r:embed="rId2" cstate="print"/>
          <a:srcRect/>
          <a:stretch>
            <a:fillRect/>
          </a:stretch>
        </p:blipFill>
        <p:spPr bwMode="auto">
          <a:xfrm>
            <a:off x="1871970" y="2348988"/>
            <a:ext cx="1079500" cy="720725"/>
          </a:xfrm>
          <a:prstGeom prst="rect">
            <a:avLst/>
          </a:prstGeom>
          <a:noFill/>
        </p:spPr>
      </p:pic>
      <p:pic>
        <p:nvPicPr>
          <p:cNvPr id="14" name="Picture 28" descr="NOT">
            <a:extLst>
              <a:ext uri="{FF2B5EF4-FFF2-40B4-BE49-F238E27FC236}">
                <a16:creationId xmlns:a16="http://schemas.microsoft.com/office/drawing/2014/main" id="{0CE3F9C9-DBBA-5AA2-30E4-E09334271194}"/>
              </a:ext>
            </a:extLst>
          </p:cNvPr>
          <p:cNvPicPr>
            <a:picLocks noChangeAspect="1" noChangeArrowheads="1"/>
          </p:cNvPicPr>
          <p:nvPr/>
        </p:nvPicPr>
        <p:blipFill>
          <a:blip r:embed="rId3" cstate="print"/>
          <a:srcRect/>
          <a:stretch>
            <a:fillRect/>
          </a:stretch>
        </p:blipFill>
        <p:spPr bwMode="auto">
          <a:xfrm>
            <a:off x="3041983" y="2348988"/>
            <a:ext cx="717550" cy="720725"/>
          </a:xfrm>
          <a:prstGeom prst="rect">
            <a:avLst/>
          </a:prstGeom>
          <a:noFill/>
        </p:spPr>
      </p:pic>
      <p:sp>
        <p:nvSpPr>
          <p:cNvPr id="15" name="Line 10">
            <a:extLst>
              <a:ext uri="{FF2B5EF4-FFF2-40B4-BE49-F238E27FC236}">
                <a16:creationId xmlns:a16="http://schemas.microsoft.com/office/drawing/2014/main" id="{812ADCC5-0901-AA5D-ACCA-4C87D2638C79}"/>
              </a:ext>
            </a:extLst>
          </p:cNvPr>
          <p:cNvSpPr>
            <a:spLocks noChangeShapeType="1"/>
          </p:cNvSpPr>
          <p:nvPr/>
        </p:nvSpPr>
        <p:spPr bwMode="auto">
          <a:xfrm>
            <a:off x="3671990" y="2708992"/>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6" name="Line 9">
            <a:extLst>
              <a:ext uri="{FF2B5EF4-FFF2-40B4-BE49-F238E27FC236}">
                <a16:creationId xmlns:a16="http://schemas.microsoft.com/office/drawing/2014/main" id="{063E625C-6D59-67C6-A221-55F27DC82DBF}"/>
              </a:ext>
            </a:extLst>
          </p:cNvPr>
          <p:cNvSpPr>
            <a:spLocks noChangeShapeType="1"/>
          </p:cNvSpPr>
          <p:nvPr/>
        </p:nvSpPr>
        <p:spPr bwMode="auto">
          <a:xfrm>
            <a:off x="5651713" y="2530181"/>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7" name="Line 10">
            <a:extLst>
              <a:ext uri="{FF2B5EF4-FFF2-40B4-BE49-F238E27FC236}">
                <a16:creationId xmlns:a16="http://schemas.microsoft.com/office/drawing/2014/main" id="{1131ABAB-4A1B-3A63-002D-0DCEB272AAA0}"/>
              </a:ext>
            </a:extLst>
          </p:cNvPr>
          <p:cNvSpPr>
            <a:spLocks noChangeShapeType="1"/>
          </p:cNvSpPr>
          <p:nvPr/>
        </p:nvSpPr>
        <p:spPr bwMode="auto">
          <a:xfrm>
            <a:off x="5651713" y="2890543"/>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8" name="Line 11">
            <a:extLst>
              <a:ext uri="{FF2B5EF4-FFF2-40B4-BE49-F238E27FC236}">
                <a16:creationId xmlns:a16="http://schemas.microsoft.com/office/drawing/2014/main" id="{6BEFE770-1359-D8AE-E6F9-49F4A46B0634}"/>
              </a:ext>
            </a:extLst>
          </p:cNvPr>
          <p:cNvSpPr>
            <a:spLocks noChangeShapeType="1"/>
          </p:cNvSpPr>
          <p:nvPr/>
        </p:nvSpPr>
        <p:spPr bwMode="auto">
          <a:xfrm>
            <a:off x="6732024" y="2708992"/>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pic>
        <p:nvPicPr>
          <p:cNvPr id="19" name="Picture 6" descr="AND">
            <a:extLst>
              <a:ext uri="{FF2B5EF4-FFF2-40B4-BE49-F238E27FC236}">
                <a16:creationId xmlns:a16="http://schemas.microsoft.com/office/drawing/2014/main" id="{64A34DDF-F918-A675-8F79-E725D887D9D0}"/>
              </a:ext>
            </a:extLst>
          </p:cNvPr>
          <p:cNvPicPr>
            <a:picLocks noChangeAspect="1" noChangeArrowheads="1"/>
          </p:cNvPicPr>
          <p:nvPr/>
        </p:nvPicPr>
        <p:blipFill>
          <a:blip r:embed="rId4" cstate="print"/>
          <a:srcRect/>
          <a:stretch>
            <a:fillRect/>
          </a:stretch>
        </p:blipFill>
        <p:spPr bwMode="auto">
          <a:xfrm>
            <a:off x="5922015" y="2348988"/>
            <a:ext cx="1079500" cy="720725"/>
          </a:xfrm>
          <a:prstGeom prst="rect">
            <a:avLst/>
          </a:prstGeom>
          <a:noFill/>
        </p:spPr>
      </p:pic>
      <p:sp>
        <p:nvSpPr>
          <p:cNvPr id="24" name="コンテンツ プレースホルダー 5">
            <a:extLst>
              <a:ext uri="{FF2B5EF4-FFF2-40B4-BE49-F238E27FC236}">
                <a16:creationId xmlns:a16="http://schemas.microsoft.com/office/drawing/2014/main" id="{A85D13F4-CAAA-2DF7-81A2-9D77E9850BF7}"/>
              </a:ext>
            </a:extLst>
          </p:cNvPr>
          <p:cNvSpPr txBox="1">
            <a:spLocks/>
          </p:cNvSpPr>
          <p:nvPr/>
        </p:nvSpPr>
        <p:spPr bwMode="auto">
          <a:xfrm>
            <a:off x="611956" y="3879005"/>
            <a:ext cx="8280092" cy="72000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1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r>
              <a:rPr lang="en-US" altLang="ja-JP" kern="0" dirty="0"/>
              <a:t>AND </a:t>
            </a:r>
            <a:r>
              <a:rPr lang="ja-JP" altLang="en-US" kern="0" dirty="0"/>
              <a:t>の入力と出力に </a:t>
            </a:r>
            <a:r>
              <a:rPr lang="en-US" altLang="ja-JP" kern="0" dirty="0"/>
              <a:t>NOT </a:t>
            </a:r>
            <a:r>
              <a:rPr lang="ja-JP" altLang="en-US" kern="0" dirty="0"/>
              <a:t>をつけると </a:t>
            </a:r>
            <a:r>
              <a:rPr lang="en-US" altLang="ja-JP" kern="0" dirty="0"/>
              <a:t>OR </a:t>
            </a:r>
            <a:r>
              <a:rPr lang="ja-JP" altLang="en-US" kern="0" dirty="0"/>
              <a:t>が作れる</a:t>
            </a:r>
            <a:endParaRPr lang="en-US" altLang="ja-JP" kern="0" dirty="0"/>
          </a:p>
          <a:p>
            <a:pPr lvl="1"/>
            <a:r>
              <a:rPr lang="ja-JP" altLang="en-US" kern="0" dirty="0"/>
              <a:t>ド・モルガンの定理：  </a:t>
            </a:r>
            <a:r>
              <a:rPr lang="en-US" altLang="ja-JP" kern="0" dirty="0"/>
              <a:t>	NOT(</a:t>
            </a:r>
            <a:r>
              <a:rPr lang="en-US" altLang="ja-JP" i="1" kern="0" dirty="0"/>
              <a:t>a</a:t>
            </a:r>
            <a:r>
              <a:rPr lang="en-US" altLang="ja-JP" kern="0" dirty="0"/>
              <a:t> OR </a:t>
            </a:r>
            <a:r>
              <a:rPr lang="en-US" altLang="ja-JP" i="1" kern="0" dirty="0"/>
              <a:t>b</a:t>
            </a:r>
            <a:r>
              <a:rPr lang="en-US" altLang="ja-JP" kern="0" dirty="0"/>
              <a:t>) = NOT(</a:t>
            </a:r>
            <a:r>
              <a:rPr lang="en-US" altLang="ja-JP" i="1" kern="0" dirty="0"/>
              <a:t>a</a:t>
            </a:r>
            <a:r>
              <a:rPr lang="en-US" altLang="ja-JP" kern="0" dirty="0"/>
              <a:t>) AND NOT(</a:t>
            </a:r>
            <a:r>
              <a:rPr lang="en-US" altLang="ja-JP" i="1" kern="0" dirty="0"/>
              <a:t>b</a:t>
            </a:r>
            <a:r>
              <a:rPr lang="en-US" altLang="ja-JP" kern="0" dirty="0"/>
              <a:t>)</a:t>
            </a:r>
          </a:p>
          <a:p>
            <a:pPr lvl="1"/>
            <a:r>
              <a:rPr lang="ja-JP" altLang="en-US" kern="0" dirty="0"/>
              <a:t>両辺に </a:t>
            </a:r>
            <a:r>
              <a:rPr lang="en-US" altLang="ja-JP" kern="0" dirty="0"/>
              <a:t>NOT </a:t>
            </a:r>
            <a:r>
              <a:rPr lang="ja-JP" altLang="en-US" kern="0" dirty="0"/>
              <a:t>を適用：</a:t>
            </a:r>
            <a:r>
              <a:rPr lang="en-US" altLang="ja-JP" kern="0" dirty="0"/>
              <a:t>	</a:t>
            </a:r>
            <a:r>
              <a:rPr lang="en-US" altLang="ja-JP" i="1" kern="0" dirty="0"/>
              <a:t>a</a:t>
            </a:r>
            <a:r>
              <a:rPr lang="en-US" altLang="ja-JP" kern="0" dirty="0"/>
              <a:t> OR </a:t>
            </a:r>
            <a:r>
              <a:rPr lang="en-US" altLang="ja-JP" i="1" kern="0" dirty="0"/>
              <a:t>b</a:t>
            </a:r>
            <a:r>
              <a:rPr lang="en-US" altLang="ja-JP" kern="0" dirty="0"/>
              <a:t> = NOT(NOT(</a:t>
            </a:r>
            <a:r>
              <a:rPr lang="en-US" altLang="ja-JP" i="1" kern="0" dirty="0"/>
              <a:t>a</a:t>
            </a:r>
            <a:r>
              <a:rPr lang="en-US" altLang="ja-JP" kern="0" dirty="0"/>
              <a:t>) AND NOT (</a:t>
            </a:r>
            <a:r>
              <a:rPr lang="en-US" altLang="ja-JP" i="1" kern="0" dirty="0"/>
              <a:t>b</a:t>
            </a:r>
            <a:r>
              <a:rPr lang="en-US" altLang="ja-JP" kern="0" dirty="0"/>
              <a:t>))</a:t>
            </a:r>
            <a:endParaRPr lang="en-US" kern="0" dirty="0"/>
          </a:p>
        </p:txBody>
      </p:sp>
      <p:sp>
        <p:nvSpPr>
          <p:cNvPr id="25" name="Rectangle 21">
            <a:extLst>
              <a:ext uri="{FF2B5EF4-FFF2-40B4-BE49-F238E27FC236}">
                <a16:creationId xmlns:a16="http://schemas.microsoft.com/office/drawing/2014/main" id="{008B46BD-E52C-F6B7-319C-D2568B00863E}"/>
              </a:ext>
            </a:extLst>
          </p:cNvPr>
          <p:cNvSpPr>
            <a:spLocks noChangeArrowheads="1"/>
          </p:cNvSpPr>
          <p:nvPr/>
        </p:nvSpPr>
        <p:spPr bwMode="auto">
          <a:xfrm>
            <a:off x="6192018" y="1988984"/>
            <a:ext cx="360363" cy="360362"/>
          </a:xfrm>
          <a:prstGeom prst="rect">
            <a:avLst/>
          </a:prstGeom>
          <a:noFill/>
          <a:ln w="28575">
            <a:noFill/>
            <a:miter lim="800000"/>
            <a:headEnd/>
            <a:tailEnd/>
          </a:ln>
          <a:effectLst/>
        </p:spPr>
        <p:txBody>
          <a:bodyPr wrap="none" anchor="ctr"/>
          <a:lstStyle/>
          <a:p>
            <a:pPr algn="ctr"/>
            <a:r>
              <a:rPr lang="en-US" altLang="ja-JP" sz="2000" baseline="0" dirty="0">
                <a:ea typeface="MeiryoKe_PGothic" pitchFamily="50" charset="-128"/>
              </a:rPr>
              <a:t>AND</a:t>
            </a:r>
          </a:p>
        </p:txBody>
      </p:sp>
      <p:sp>
        <p:nvSpPr>
          <p:cNvPr id="26" name="Rectangle 21">
            <a:extLst>
              <a:ext uri="{FF2B5EF4-FFF2-40B4-BE49-F238E27FC236}">
                <a16:creationId xmlns:a16="http://schemas.microsoft.com/office/drawing/2014/main" id="{2D7F462D-626B-01D4-4530-9D016B0D27C2}"/>
              </a:ext>
            </a:extLst>
          </p:cNvPr>
          <p:cNvSpPr>
            <a:spLocks noChangeArrowheads="1"/>
          </p:cNvSpPr>
          <p:nvPr/>
        </p:nvSpPr>
        <p:spPr bwMode="auto">
          <a:xfrm>
            <a:off x="2051972" y="1988984"/>
            <a:ext cx="360363" cy="360362"/>
          </a:xfrm>
          <a:prstGeom prst="rect">
            <a:avLst/>
          </a:prstGeom>
          <a:noFill/>
          <a:ln w="28575">
            <a:noFill/>
            <a:miter lim="800000"/>
            <a:headEnd/>
            <a:tailEnd/>
          </a:ln>
          <a:effectLst/>
        </p:spPr>
        <p:txBody>
          <a:bodyPr wrap="none" anchor="ctr"/>
          <a:lstStyle/>
          <a:p>
            <a:pPr algn="ctr"/>
            <a:r>
              <a:rPr lang="en-US" altLang="ja-JP" sz="2000" baseline="0" dirty="0">
                <a:ea typeface="MeiryoKe_PGothic" pitchFamily="50" charset="-128"/>
              </a:rPr>
              <a:t>NAND</a:t>
            </a:r>
          </a:p>
        </p:txBody>
      </p:sp>
      <p:sp>
        <p:nvSpPr>
          <p:cNvPr id="28" name="Line 9">
            <a:extLst>
              <a:ext uri="{FF2B5EF4-FFF2-40B4-BE49-F238E27FC236}">
                <a16:creationId xmlns:a16="http://schemas.microsoft.com/office/drawing/2014/main" id="{927B3E68-C394-8821-3AAC-D0DBC63BCB30}"/>
              </a:ext>
            </a:extLst>
          </p:cNvPr>
          <p:cNvSpPr>
            <a:spLocks noChangeShapeType="1"/>
          </p:cNvSpPr>
          <p:nvPr/>
        </p:nvSpPr>
        <p:spPr bwMode="auto">
          <a:xfrm>
            <a:off x="5651713" y="5950219"/>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9" name="Line 10">
            <a:extLst>
              <a:ext uri="{FF2B5EF4-FFF2-40B4-BE49-F238E27FC236}">
                <a16:creationId xmlns:a16="http://schemas.microsoft.com/office/drawing/2014/main" id="{AA3F1D11-2616-449F-CED7-ABA7507A01ED}"/>
              </a:ext>
            </a:extLst>
          </p:cNvPr>
          <p:cNvSpPr>
            <a:spLocks noChangeShapeType="1"/>
          </p:cNvSpPr>
          <p:nvPr/>
        </p:nvSpPr>
        <p:spPr bwMode="auto">
          <a:xfrm>
            <a:off x="5651713" y="6310581"/>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30" name="Line 11">
            <a:extLst>
              <a:ext uri="{FF2B5EF4-FFF2-40B4-BE49-F238E27FC236}">
                <a16:creationId xmlns:a16="http://schemas.microsoft.com/office/drawing/2014/main" id="{DC3E9F66-2556-59E7-608D-E2762CDA0F33}"/>
              </a:ext>
            </a:extLst>
          </p:cNvPr>
          <p:cNvSpPr>
            <a:spLocks noChangeShapeType="1"/>
          </p:cNvSpPr>
          <p:nvPr/>
        </p:nvSpPr>
        <p:spPr bwMode="auto">
          <a:xfrm>
            <a:off x="6732024" y="6129030"/>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pic>
        <p:nvPicPr>
          <p:cNvPr id="27" name="Picture 7" descr="OR">
            <a:extLst>
              <a:ext uri="{FF2B5EF4-FFF2-40B4-BE49-F238E27FC236}">
                <a16:creationId xmlns:a16="http://schemas.microsoft.com/office/drawing/2014/main" id="{1376DB9E-C5D3-455B-B0E4-8C7C5B4D25F9}"/>
              </a:ext>
            </a:extLst>
          </p:cNvPr>
          <p:cNvPicPr>
            <a:picLocks noChangeAspect="1" noChangeArrowheads="1"/>
          </p:cNvPicPr>
          <p:nvPr/>
        </p:nvPicPr>
        <p:blipFill>
          <a:blip r:embed="rId5" cstate="print"/>
          <a:srcRect/>
          <a:stretch>
            <a:fillRect/>
          </a:stretch>
        </p:blipFill>
        <p:spPr bwMode="auto">
          <a:xfrm>
            <a:off x="5922015" y="5769026"/>
            <a:ext cx="1079500" cy="717550"/>
          </a:xfrm>
          <a:prstGeom prst="rect">
            <a:avLst/>
          </a:prstGeom>
          <a:noFill/>
        </p:spPr>
      </p:pic>
      <p:sp>
        <p:nvSpPr>
          <p:cNvPr id="31" name="矢印: 右 30">
            <a:extLst>
              <a:ext uri="{FF2B5EF4-FFF2-40B4-BE49-F238E27FC236}">
                <a16:creationId xmlns:a16="http://schemas.microsoft.com/office/drawing/2014/main" id="{35434760-6840-F734-86F1-AA5456EBFB2A}"/>
              </a:ext>
            </a:extLst>
          </p:cNvPr>
          <p:cNvSpPr/>
          <p:nvPr/>
        </p:nvSpPr>
        <p:spPr bwMode="auto">
          <a:xfrm>
            <a:off x="4301997" y="2438989"/>
            <a:ext cx="630007" cy="540006"/>
          </a:xfrm>
          <a:prstGeom prst="rightArrow">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32" name="Line 9">
            <a:extLst>
              <a:ext uri="{FF2B5EF4-FFF2-40B4-BE49-F238E27FC236}">
                <a16:creationId xmlns:a16="http://schemas.microsoft.com/office/drawing/2014/main" id="{5853BA54-7470-CB27-C4D8-876D6301BC8F}"/>
              </a:ext>
            </a:extLst>
          </p:cNvPr>
          <p:cNvSpPr>
            <a:spLocks noChangeShapeType="1"/>
          </p:cNvSpPr>
          <p:nvPr/>
        </p:nvSpPr>
        <p:spPr bwMode="auto">
          <a:xfrm>
            <a:off x="1691669" y="5950219"/>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33" name="Line 10">
            <a:extLst>
              <a:ext uri="{FF2B5EF4-FFF2-40B4-BE49-F238E27FC236}">
                <a16:creationId xmlns:a16="http://schemas.microsoft.com/office/drawing/2014/main" id="{5E37BAC8-4F26-6247-8BF0-D45C856B17FC}"/>
              </a:ext>
            </a:extLst>
          </p:cNvPr>
          <p:cNvSpPr>
            <a:spLocks noChangeShapeType="1"/>
          </p:cNvSpPr>
          <p:nvPr/>
        </p:nvSpPr>
        <p:spPr bwMode="auto">
          <a:xfrm>
            <a:off x="1691669" y="6310581"/>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34" name="Line 11">
            <a:extLst>
              <a:ext uri="{FF2B5EF4-FFF2-40B4-BE49-F238E27FC236}">
                <a16:creationId xmlns:a16="http://schemas.microsoft.com/office/drawing/2014/main" id="{952B6B82-0BF9-9924-891B-F2D4F0E81E1D}"/>
              </a:ext>
            </a:extLst>
          </p:cNvPr>
          <p:cNvSpPr>
            <a:spLocks noChangeShapeType="1"/>
          </p:cNvSpPr>
          <p:nvPr/>
        </p:nvSpPr>
        <p:spPr bwMode="auto">
          <a:xfrm>
            <a:off x="2771980" y="6129030"/>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pic>
        <p:nvPicPr>
          <p:cNvPr id="35" name="Picture 6" descr="AND">
            <a:extLst>
              <a:ext uri="{FF2B5EF4-FFF2-40B4-BE49-F238E27FC236}">
                <a16:creationId xmlns:a16="http://schemas.microsoft.com/office/drawing/2014/main" id="{91477925-80DB-FD21-B42A-4EA506B7234A}"/>
              </a:ext>
            </a:extLst>
          </p:cNvPr>
          <p:cNvPicPr>
            <a:picLocks noChangeAspect="1" noChangeArrowheads="1"/>
          </p:cNvPicPr>
          <p:nvPr/>
        </p:nvPicPr>
        <p:blipFill>
          <a:blip r:embed="rId4" cstate="print"/>
          <a:srcRect/>
          <a:stretch>
            <a:fillRect/>
          </a:stretch>
        </p:blipFill>
        <p:spPr bwMode="auto">
          <a:xfrm>
            <a:off x="1961971" y="5769026"/>
            <a:ext cx="1079500" cy="720725"/>
          </a:xfrm>
          <a:prstGeom prst="rect">
            <a:avLst/>
          </a:prstGeom>
          <a:noFill/>
        </p:spPr>
      </p:pic>
      <p:sp>
        <p:nvSpPr>
          <p:cNvPr id="36" name="Rectangle 21">
            <a:extLst>
              <a:ext uri="{FF2B5EF4-FFF2-40B4-BE49-F238E27FC236}">
                <a16:creationId xmlns:a16="http://schemas.microsoft.com/office/drawing/2014/main" id="{20CC6A68-C2C3-AEC7-C3D6-324EB4DD8A02}"/>
              </a:ext>
            </a:extLst>
          </p:cNvPr>
          <p:cNvSpPr>
            <a:spLocks noChangeArrowheads="1"/>
          </p:cNvSpPr>
          <p:nvPr/>
        </p:nvSpPr>
        <p:spPr bwMode="auto">
          <a:xfrm>
            <a:off x="2231974" y="5409022"/>
            <a:ext cx="360363" cy="360362"/>
          </a:xfrm>
          <a:prstGeom prst="rect">
            <a:avLst/>
          </a:prstGeom>
          <a:noFill/>
          <a:ln w="28575">
            <a:noFill/>
            <a:miter lim="800000"/>
            <a:headEnd/>
            <a:tailEnd/>
          </a:ln>
          <a:effectLst/>
        </p:spPr>
        <p:txBody>
          <a:bodyPr wrap="none" anchor="ctr"/>
          <a:lstStyle/>
          <a:p>
            <a:pPr algn="ctr"/>
            <a:r>
              <a:rPr lang="en-US" altLang="ja-JP" sz="2000" baseline="0" dirty="0">
                <a:ea typeface="MeiryoKe_PGothic" pitchFamily="50" charset="-128"/>
              </a:rPr>
              <a:t>AND</a:t>
            </a:r>
          </a:p>
        </p:txBody>
      </p:sp>
      <p:pic>
        <p:nvPicPr>
          <p:cNvPr id="37" name="Picture 28" descr="NOT">
            <a:extLst>
              <a:ext uri="{FF2B5EF4-FFF2-40B4-BE49-F238E27FC236}">
                <a16:creationId xmlns:a16="http://schemas.microsoft.com/office/drawing/2014/main" id="{EC30B989-BC3C-F3C0-CD54-A8B587DB9F38}"/>
              </a:ext>
            </a:extLst>
          </p:cNvPr>
          <p:cNvPicPr>
            <a:picLocks noChangeAspect="1" noChangeArrowheads="1"/>
          </p:cNvPicPr>
          <p:nvPr/>
        </p:nvPicPr>
        <p:blipFill>
          <a:blip r:embed="rId3" cstate="print"/>
          <a:srcRect/>
          <a:stretch>
            <a:fillRect/>
          </a:stretch>
        </p:blipFill>
        <p:spPr bwMode="auto">
          <a:xfrm>
            <a:off x="1061961" y="5589024"/>
            <a:ext cx="717550" cy="720725"/>
          </a:xfrm>
          <a:prstGeom prst="rect">
            <a:avLst/>
          </a:prstGeom>
          <a:noFill/>
        </p:spPr>
      </p:pic>
      <p:pic>
        <p:nvPicPr>
          <p:cNvPr id="38" name="Picture 28" descr="NOT">
            <a:extLst>
              <a:ext uri="{FF2B5EF4-FFF2-40B4-BE49-F238E27FC236}">
                <a16:creationId xmlns:a16="http://schemas.microsoft.com/office/drawing/2014/main" id="{1D66F7DA-9D68-E9BE-8823-B631431865C5}"/>
              </a:ext>
            </a:extLst>
          </p:cNvPr>
          <p:cNvPicPr>
            <a:picLocks noChangeAspect="1" noChangeArrowheads="1"/>
          </p:cNvPicPr>
          <p:nvPr/>
        </p:nvPicPr>
        <p:blipFill>
          <a:blip r:embed="rId3" cstate="print"/>
          <a:srcRect/>
          <a:stretch>
            <a:fillRect/>
          </a:stretch>
        </p:blipFill>
        <p:spPr bwMode="auto">
          <a:xfrm>
            <a:off x="1061961" y="5949028"/>
            <a:ext cx="717550" cy="720725"/>
          </a:xfrm>
          <a:prstGeom prst="rect">
            <a:avLst/>
          </a:prstGeom>
          <a:noFill/>
        </p:spPr>
      </p:pic>
      <p:sp>
        <p:nvSpPr>
          <p:cNvPr id="39" name="Line 9">
            <a:extLst>
              <a:ext uri="{FF2B5EF4-FFF2-40B4-BE49-F238E27FC236}">
                <a16:creationId xmlns:a16="http://schemas.microsoft.com/office/drawing/2014/main" id="{B5C4F43A-D337-2AE8-CF5B-F2BFDB298BC2}"/>
              </a:ext>
            </a:extLst>
          </p:cNvPr>
          <p:cNvSpPr>
            <a:spLocks noChangeShapeType="1"/>
          </p:cNvSpPr>
          <p:nvPr/>
        </p:nvSpPr>
        <p:spPr bwMode="auto">
          <a:xfrm>
            <a:off x="701957" y="5948670"/>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40" name="Line 10">
            <a:extLst>
              <a:ext uri="{FF2B5EF4-FFF2-40B4-BE49-F238E27FC236}">
                <a16:creationId xmlns:a16="http://schemas.microsoft.com/office/drawing/2014/main" id="{11DA8EC7-FED1-B1A0-2DAA-5F4D6CD4BC9B}"/>
              </a:ext>
            </a:extLst>
          </p:cNvPr>
          <p:cNvSpPr>
            <a:spLocks noChangeShapeType="1"/>
          </p:cNvSpPr>
          <p:nvPr/>
        </p:nvSpPr>
        <p:spPr bwMode="auto">
          <a:xfrm>
            <a:off x="701957" y="6309032"/>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41" name="矢印: 右 40">
            <a:extLst>
              <a:ext uri="{FF2B5EF4-FFF2-40B4-BE49-F238E27FC236}">
                <a16:creationId xmlns:a16="http://schemas.microsoft.com/office/drawing/2014/main" id="{BDC70C8C-EFE6-7F70-D97C-0629341813B4}"/>
              </a:ext>
            </a:extLst>
          </p:cNvPr>
          <p:cNvSpPr/>
          <p:nvPr/>
        </p:nvSpPr>
        <p:spPr bwMode="auto">
          <a:xfrm>
            <a:off x="4301997" y="5769026"/>
            <a:ext cx="630007" cy="540006"/>
          </a:xfrm>
          <a:prstGeom prst="rightArrow">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pic>
        <p:nvPicPr>
          <p:cNvPr id="42" name="Picture 28" descr="NOT">
            <a:extLst>
              <a:ext uri="{FF2B5EF4-FFF2-40B4-BE49-F238E27FC236}">
                <a16:creationId xmlns:a16="http://schemas.microsoft.com/office/drawing/2014/main" id="{78183F1D-550D-BC37-D07A-360184B7CA4A}"/>
              </a:ext>
            </a:extLst>
          </p:cNvPr>
          <p:cNvPicPr>
            <a:picLocks noChangeAspect="1" noChangeArrowheads="1"/>
          </p:cNvPicPr>
          <p:nvPr/>
        </p:nvPicPr>
        <p:blipFill>
          <a:blip r:embed="rId3" cstate="print"/>
          <a:srcRect/>
          <a:stretch>
            <a:fillRect/>
          </a:stretch>
        </p:blipFill>
        <p:spPr bwMode="auto">
          <a:xfrm>
            <a:off x="3041983" y="5769026"/>
            <a:ext cx="717550" cy="720725"/>
          </a:xfrm>
          <a:prstGeom prst="rect">
            <a:avLst/>
          </a:prstGeom>
          <a:noFill/>
        </p:spPr>
      </p:pic>
      <p:sp>
        <p:nvSpPr>
          <p:cNvPr id="43" name="Line 10">
            <a:extLst>
              <a:ext uri="{FF2B5EF4-FFF2-40B4-BE49-F238E27FC236}">
                <a16:creationId xmlns:a16="http://schemas.microsoft.com/office/drawing/2014/main" id="{6EFD36D8-2532-22A4-F5ED-378A42F045C4}"/>
              </a:ext>
            </a:extLst>
          </p:cNvPr>
          <p:cNvSpPr>
            <a:spLocks noChangeShapeType="1"/>
          </p:cNvSpPr>
          <p:nvPr/>
        </p:nvSpPr>
        <p:spPr bwMode="auto">
          <a:xfrm>
            <a:off x="3671990" y="6129030"/>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45" name="Rectangle 21">
            <a:extLst>
              <a:ext uri="{FF2B5EF4-FFF2-40B4-BE49-F238E27FC236}">
                <a16:creationId xmlns:a16="http://schemas.microsoft.com/office/drawing/2014/main" id="{DAA50845-CD4A-806D-12CB-77E4043FFB7D}"/>
              </a:ext>
            </a:extLst>
          </p:cNvPr>
          <p:cNvSpPr>
            <a:spLocks noChangeArrowheads="1"/>
          </p:cNvSpPr>
          <p:nvPr/>
        </p:nvSpPr>
        <p:spPr bwMode="auto">
          <a:xfrm>
            <a:off x="6102017" y="5409022"/>
            <a:ext cx="360363" cy="360362"/>
          </a:xfrm>
          <a:prstGeom prst="rect">
            <a:avLst/>
          </a:prstGeom>
          <a:noFill/>
          <a:ln w="28575">
            <a:noFill/>
            <a:miter lim="800000"/>
            <a:headEnd/>
            <a:tailEnd/>
          </a:ln>
          <a:effectLst/>
        </p:spPr>
        <p:txBody>
          <a:bodyPr wrap="none" anchor="ctr"/>
          <a:lstStyle/>
          <a:p>
            <a:pPr algn="ctr"/>
            <a:r>
              <a:rPr lang="en-US" altLang="ja-JP" sz="2000" baseline="0" dirty="0">
                <a:ea typeface="MeiryoKe_PGothic" pitchFamily="50" charset="-128"/>
              </a:rPr>
              <a:t>OR</a:t>
            </a:r>
          </a:p>
        </p:txBody>
      </p:sp>
    </p:spTree>
    <p:extLst>
      <p:ext uri="{BB962C8B-B14F-4D97-AF65-F5344CB8AC3E}">
        <p14:creationId xmlns:p14="http://schemas.microsoft.com/office/powerpoint/2010/main" val="134555960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606586F9-6C36-61A6-23F7-111392D1F063}"/>
              </a:ext>
            </a:extLst>
          </p:cNvPr>
          <p:cNvSpPr>
            <a:spLocks noGrp="1"/>
          </p:cNvSpPr>
          <p:nvPr>
            <p:ph type="title"/>
          </p:nvPr>
        </p:nvSpPr>
        <p:spPr/>
        <p:txBody>
          <a:bodyPr/>
          <a:lstStyle/>
          <a:p>
            <a:r>
              <a:rPr lang="en-US" altLang="ja-JP" dirty="0"/>
              <a:t>NAND </a:t>
            </a:r>
            <a:r>
              <a:rPr lang="ja-JP" altLang="en-US" dirty="0"/>
              <a:t>が作れればそれだけでも良い</a:t>
            </a:r>
            <a:endParaRPr lang="en-US" dirty="0"/>
          </a:p>
        </p:txBody>
      </p:sp>
      <p:sp>
        <p:nvSpPr>
          <p:cNvPr id="6" name="コンテンツ プレースホルダー 5">
            <a:extLst>
              <a:ext uri="{FF2B5EF4-FFF2-40B4-BE49-F238E27FC236}">
                <a16:creationId xmlns:a16="http://schemas.microsoft.com/office/drawing/2014/main" id="{C5366AB5-271B-B1D3-AAAD-F3B904C622CE}"/>
              </a:ext>
            </a:extLst>
          </p:cNvPr>
          <p:cNvSpPr>
            <a:spLocks noGrp="1"/>
          </p:cNvSpPr>
          <p:nvPr>
            <p:ph sz="quarter" idx="10"/>
          </p:nvPr>
        </p:nvSpPr>
        <p:spPr>
          <a:xfrm>
            <a:off x="611956" y="2168986"/>
            <a:ext cx="8280092" cy="720008"/>
          </a:xfrm>
        </p:spPr>
        <p:txBody>
          <a:bodyPr/>
          <a:lstStyle/>
          <a:p>
            <a:r>
              <a:rPr lang="en-US" dirty="0"/>
              <a:t>NAND </a:t>
            </a:r>
            <a:r>
              <a:rPr lang="ja-JP" altLang="en-US" dirty="0"/>
              <a:t>の２つの入力に同じものを入れれば </a:t>
            </a:r>
            <a:r>
              <a:rPr lang="en-US" altLang="ja-JP" dirty="0"/>
              <a:t>NOT </a:t>
            </a:r>
            <a:r>
              <a:rPr lang="ja-JP" altLang="en-US" dirty="0"/>
              <a:t>になる</a:t>
            </a:r>
            <a:endParaRPr lang="en-US" altLang="ja-JP" dirty="0"/>
          </a:p>
        </p:txBody>
      </p:sp>
      <p:sp>
        <p:nvSpPr>
          <p:cNvPr id="2" name="スライド番号プレースホルダー 1">
            <a:extLst>
              <a:ext uri="{FF2B5EF4-FFF2-40B4-BE49-F238E27FC236}">
                <a16:creationId xmlns:a16="http://schemas.microsoft.com/office/drawing/2014/main" id="{D7D9DC5D-B5F2-DA9F-AD9A-37D0BA086279}"/>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34</a:t>
            </a:fld>
            <a:endParaRPr kumimoji="1" lang="ja-JP" altLang="en-US" dirty="0"/>
          </a:p>
        </p:txBody>
      </p:sp>
      <p:sp>
        <p:nvSpPr>
          <p:cNvPr id="7" name="Line 9">
            <a:extLst>
              <a:ext uri="{FF2B5EF4-FFF2-40B4-BE49-F238E27FC236}">
                <a16:creationId xmlns:a16="http://schemas.microsoft.com/office/drawing/2014/main" id="{C2642822-A79B-70BD-E955-CB71CB4273E8}"/>
              </a:ext>
            </a:extLst>
          </p:cNvPr>
          <p:cNvSpPr>
            <a:spLocks noChangeShapeType="1"/>
          </p:cNvSpPr>
          <p:nvPr/>
        </p:nvSpPr>
        <p:spPr bwMode="auto">
          <a:xfrm>
            <a:off x="1601668" y="3610193"/>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8" name="Line 10">
            <a:extLst>
              <a:ext uri="{FF2B5EF4-FFF2-40B4-BE49-F238E27FC236}">
                <a16:creationId xmlns:a16="http://schemas.microsoft.com/office/drawing/2014/main" id="{CD32B842-1826-B619-84D2-AC0C58A04866}"/>
              </a:ext>
            </a:extLst>
          </p:cNvPr>
          <p:cNvSpPr>
            <a:spLocks noChangeShapeType="1"/>
          </p:cNvSpPr>
          <p:nvPr/>
        </p:nvSpPr>
        <p:spPr bwMode="auto">
          <a:xfrm>
            <a:off x="1601668" y="3970555"/>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9" name="Line 11">
            <a:extLst>
              <a:ext uri="{FF2B5EF4-FFF2-40B4-BE49-F238E27FC236}">
                <a16:creationId xmlns:a16="http://schemas.microsoft.com/office/drawing/2014/main" id="{001DB7CF-87F0-51D0-7807-0C0F5F683030}"/>
              </a:ext>
            </a:extLst>
          </p:cNvPr>
          <p:cNvSpPr>
            <a:spLocks noChangeShapeType="1"/>
          </p:cNvSpPr>
          <p:nvPr/>
        </p:nvSpPr>
        <p:spPr bwMode="auto">
          <a:xfrm>
            <a:off x="2681979" y="3789004"/>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pic>
        <p:nvPicPr>
          <p:cNvPr id="13" name="Picture 83" descr="NAND">
            <a:extLst>
              <a:ext uri="{FF2B5EF4-FFF2-40B4-BE49-F238E27FC236}">
                <a16:creationId xmlns:a16="http://schemas.microsoft.com/office/drawing/2014/main" id="{E79F2BF4-D406-657A-51C7-B97D95ECD106}"/>
              </a:ext>
            </a:extLst>
          </p:cNvPr>
          <p:cNvPicPr>
            <a:picLocks noChangeAspect="1" noChangeArrowheads="1"/>
          </p:cNvPicPr>
          <p:nvPr/>
        </p:nvPicPr>
        <p:blipFill>
          <a:blip r:embed="rId2" cstate="print"/>
          <a:srcRect/>
          <a:stretch>
            <a:fillRect/>
          </a:stretch>
        </p:blipFill>
        <p:spPr bwMode="auto">
          <a:xfrm>
            <a:off x="1871970" y="3429000"/>
            <a:ext cx="1079500" cy="720725"/>
          </a:xfrm>
          <a:prstGeom prst="rect">
            <a:avLst/>
          </a:prstGeom>
          <a:noFill/>
        </p:spPr>
      </p:pic>
      <p:sp>
        <p:nvSpPr>
          <p:cNvPr id="16" name="Line 9">
            <a:extLst>
              <a:ext uri="{FF2B5EF4-FFF2-40B4-BE49-F238E27FC236}">
                <a16:creationId xmlns:a16="http://schemas.microsoft.com/office/drawing/2014/main" id="{063E625C-6D59-67C6-A221-55F27DC82DBF}"/>
              </a:ext>
            </a:extLst>
          </p:cNvPr>
          <p:cNvSpPr>
            <a:spLocks noChangeShapeType="1"/>
          </p:cNvSpPr>
          <p:nvPr/>
        </p:nvSpPr>
        <p:spPr bwMode="auto">
          <a:xfrm>
            <a:off x="5832014" y="3789004"/>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8" name="Line 11">
            <a:extLst>
              <a:ext uri="{FF2B5EF4-FFF2-40B4-BE49-F238E27FC236}">
                <a16:creationId xmlns:a16="http://schemas.microsoft.com/office/drawing/2014/main" id="{6BEFE770-1359-D8AE-E6F9-49F4A46B0634}"/>
              </a:ext>
            </a:extLst>
          </p:cNvPr>
          <p:cNvSpPr>
            <a:spLocks noChangeShapeType="1"/>
          </p:cNvSpPr>
          <p:nvPr/>
        </p:nvSpPr>
        <p:spPr bwMode="auto">
          <a:xfrm>
            <a:off x="6732024" y="3789004"/>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6" name="Rectangle 21">
            <a:extLst>
              <a:ext uri="{FF2B5EF4-FFF2-40B4-BE49-F238E27FC236}">
                <a16:creationId xmlns:a16="http://schemas.microsoft.com/office/drawing/2014/main" id="{2D7F462D-626B-01D4-4530-9D016B0D27C2}"/>
              </a:ext>
            </a:extLst>
          </p:cNvPr>
          <p:cNvSpPr>
            <a:spLocks noChangeArrowheads="1"/>
          </p:cNvSpPr>
          <p:nvPr/>
        </p:nvSpPr>
        <p:spPr bwMode="auto">
          <a:xfrm>
            <a:off x="2051972" y="3068996"/>
            <a:ext cx="360363" cy="360362"/>
          </a:xfrm>
          <a:prstGeom prst="rect">
            <a:avLst/>
          </a:prstGeom>
          <a:noFill/>
          <a:ln w="28575">
            <a:noFill/>
            <a:miter lim="800000"/>
            <a:headEnd/>
            <a:tailEnd/>
          </a:ln>
          <a:effectLst/>
        </p:spPr>
        <p:txBody>
          <a:bodyPr wrap="none" anchor="ctr"/>
          <a:lstStyle/>
          <a:p>
            <a:pPr algn="ctr"/>
            <a:r>
              <a:rPr lang="en-US" altLang="ja-JP" sz="2000" baseline="0" dirty="0">
                <a:ea typeface="MeiryoKe_PGothic" pitchFamily="50" charset="-128"/>
              </a:rPr>
              <a:t>NAND</a:t>
            </a:r>
          </a:p>
        </p:txBody>
      </p:sp>
      <p:sp>
        <p:nvSpPr>
          <p:cNvPr id="31" name="矢印: 右 30">
            <a:extLst>
              <a:ext uri="{FF2B5EF4-FFF2-40B4-BE49-F238E27FC236}">
                <a16:creationId xmlns:a16="http://schemas.microsoft.com/office/drawing/2014/main" id="{35434760-6840-F734-86F1-AA5456EBFB2A}"/>
              </a:ext>
            </a:extLst>
          </p:cNvPr>
          <p:cNvSpPr/>
          <p:nvPr/>
        </p:nvSpPr>
        <p:spPr bwMode="auto">
          <a:xfrm>
            <a:off x="4301997" y="3519001"/>
            <a:ext cx="630007" cy="540006"/>
          </a:xfrm>
          <a:prstGeom prst="rightArrow">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pic>
        <p:nvPicPr>
          <p:cNvPr id="14" name="Picture 28" descr="NOT">
            <a:extLst>
              <a:ext uri="{FF2B5EF4-FFF2-40B4-BE49-F238E27FC236}">
                <a16:creationId xmlns:a16="http://schemas.microsoft.com/office/drawing/2014/main" id="{0CE3F9C9-DBBA-5AA2-30E4-E09334271194}"/>
              </a:ext>
            </a:extLst>
          </p:cNvPr>
          <p:cNvPicPr>
            <a:picLocks noChangeAspect="1" noChangeArrowheads="1"/>
          </p:cNvPicPr>
          <p:nvPr/>
        </p:nvPicPr>
        <p:blipFill>
          <a:blip r:embed="rId3" cstate="print"/>
          <a:srcRect/>
          <a:stretch>
            <a:fillRect/>
          </a:stretch>
        </p:blipFill>
        <p:spPr bwMode="auto">
          <a:xfrm>
            <a:off x="6192018" y="3429000"/>
            <a:ext cx="717550" cy="720725"/>
          </a:xfrm>
          <a:prstGeom prst="rect">
            <a:avLst/>
          </a:prstGeom>
          <a:noFill/>
        </p:spPr>
      </p:pic>
      <p:sp>
        <p:nvSpPr>
          <p:cNvPr id="4" name="Rectangle 21">
            <a:extLst>
              <a:ext uri="{FF2B5EF4-FFF2-40B4-BE49-F238E27FC236}">
                <a16:creationId xmlns:a16="http://schemas.microsoft.com/office/drawing/2014/main" id="{E389EE5C-651C-4EFA-CDAB-551CA0680EE2}"/>
              </a:ext>
            </a:extLst>
          </p:cNvPr>
          <p:cNvSpPr>
            <a:spLocks noChangeArrowheads="1"/>
          </p:cNvSpPr>
          <p:nvPr/>
        </p:nvSpPr>
        <p:spPr bwMode="auto">
          <a:xfrm>
            <a:off x="6282019" y="3158997"/>
            <a:ext cx="360363" cy="360362"/>
          </a:xfrm>
          <a:prstGeom prst="rect">
            <a:avLst/>
          </a:prstGeom>
          <a:noFill/>
          <a:ln w="28575">
            <a:noFill/>
            <a:miter lim="800000"/>
            <a:headEnd/>
            <a:tailEnd/>
          </a:ln>
          <a:effectLst/>
        </p:spPr>
        <p:txBody>
          <a:bodyPr wrap="none" anchor="ctr"/>
          <a:lstStyle/>
          <a:p>
            <a:pPr algn="ctr"/>
            <a:r>
              <a:rPr lang="en-US" altLang="ja-JP" sz="2000" baseline="0" dirty="0">
                <a:ea typeface="MeiryoKe_PGothic" pitchFamily="50" charset="-128"/>
              </a:rPr>
              <a:t>NOT</a:t>
            </a:r>
          </a:p>
        </p:txBody>
      </p:sp>
    </p:spTree>
    <p:extLst>
      <p:ext uri="{BB962C8B-B14F-4D97-AF65-F5344CB8AC3E}">
        <p14:creationId xmlns:p14="http://schemas.microsoft.com/office/powerpoint/2010/main" val="19782884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606586F9-6C36-61A6-23F7-111392D1F063}"/>
              </a:ext>
            </a:extLst>
          </p:cNvPr>
          <p:cNvSpPr>
            <a:spLocks noGrp="1"/>
          </p:cNvSpPr>
          <p:nvPr>
            <p:ph type="title"/>
          </p:nvPr>
        </p:nvSpPr>
        <p:spPr/>
        <p:txBody>
          <a:bodyPr/>
          <a:lstStyle/>
          <a:p>
            <a:r>
              <a:rPr lang="ja-JP" altLang="en-US" dirty="0"/>
              <a:t>リレーからコンピュータを作る</a:t>
            </a:r>
            <a:endParaRPr lang="en-US" dirty="0"/>
          </a:p>
        </p:txBody>
      </p:sp>
      <p:sp>
        <p:nvSpPr>
          <p:cNvPr id="6" name="コンテンツ プレースホルダー 5">
            <a:extLst>
              <a:ext uri="{FF2B5EF4-FFF2-40B4-BE49-F238E27FC236}">
                <a16:creationId xmlns:a16="http://schemas.microsoft.com/office/drawing/2014/main" id="{C5366AB5-271B-B1D3-AAAD-F3B904C622CE}"/>
              </a:ext>
            </a:extLst>
          </p:cNvPr>
          <p:cNvSpPr>
            <a:spLocks noGrp="1"/>
          </p:cNvSpPr>
          <p:nvPr>
            <p:ph sz="quarter" idx="10"/>
          </p:nvPr>
        </p:nvSpPr>
        <p:spPr/>
        <p:txBody>
          <a:bodyPr anchor="t"/>
          <a:lstStyle/>
          <a:p>
            <a:r>
              <a:rPr lang="ja-JP" altLang="en-US" dirty="0"/>
              <a:t>リレーを使って </a:t>
            </a:r>
            <a:r>
              <a:rPr lang="en-US" altLang="ja-JP" dirty="0"/>
              <a:t>NOT</a:t>
            </a:r>
            <a:r>
              <a:rPr lang="ja-JP" altLang="en-US" dirty="0"/>
              <a:t>，</a:t>
            </a:r>
            <a:r>
              <a:rPr lang="en-US" altLang="ja-JP" dirty="0"/>
              <a:t>AND</a:t>
            </a:r>
            <a:r>
              <a:rPr lang="ja-JP" altLang="en-US" dirty="0"/>
              <a:t>，</a:t>
            </a:r>
            <a:r>
              <a:rPr lang="en-US" altLang="ja-JP" dirty="0"/>
              <a:t>OR </a:t>
            </a:r>
            <a:r>
              <a:rPr lang="ja-JP" altLang="en-US" dirty="0"/>
              <a:t>を作る</a:t>
            </a:r>
            <a:endParaRPr lang="en-US" altLang="ja-JP" dirty="0"/>
          </a:p>
          <a:p>
            <a:pPr marL="817200" lvl="1" indent="-457200">
              <a:buFont typeface="+mj-lt"/>
              <a:buAutoNum type="arabicPeriod"/>
            </a:pPr>
            <a:r>
              <a:rPr lang="ja-JP" altLang="en-US" dirty="0"/>
              <a:t>リレーを使って </a:t>
            </a:r>
            <a:r>
              <a:rPr lang="en-US" altLang="ja-JP" dirty="0"/>
              <a:t>P </a:t>
            </a:r>
            <a:r>
              <a:rPr lang="ja-JP" altLang="en-US" dirty="0"/>
              <a:t>型と </a:t>
            </a:r>
            <a:r>
              <a:rPr lang="en-US" altLang="ja-JP" dirty="0"/>
              <a:t>N </a:t>
            </a:r>
            <a:r>
              <a:rPr lang="ja-JP" altLang="en-US" dirty="0"/>
              <a:t>型 のリレーを作る</a:t>
            </a:r>
            <a:endParaRPr lang="en-US" altLang="ja-JP" dirty="0"/>
          </a:p>
          <a:p>
            <a:pPr marL="817200" lvl="1" indent="-457200">
              <a:buFont typeface="+mj-lt"/>
              <a:buAutoNum type="arabicPeriod"/>
            </a:pPr>
            <a:r>
              <a:rPr lang="en-US" altLang="ja-JP" dirty="0"/>
              <a:t>P </a:t>
            </a:r>
            <a:r>
              <a:rPr lang="ja-JP" altLang="en-US" dirty="0"/>
              <a:t>型と </a:t>
            </a:r>
            <a:r>
              <a:rPr lang="en-US" altLang="ja-JP" dirty="0"/>
              <a:t>N </a:t>
            </a:r>
            <a:r>
              <a:rPr lang="ja-JP" altLang="en-US" dirty="0"/>
              <a:t>型を組み合わせて </a:t>
            </a:r>
            <a:r>
              <a:rPr lang="en-US" altLang="ja-JP" dirty="0"/>
              <a:t>NOT </a:t>
            </a:r>
            <a:r>
              <a:rPr lang="ja-JP" altLang="en-US" dirty="0"/>
              <a:t>と </a:t>
            </a:r>
            <a:r>
              <a:rPr lang="en-US" altLang="ja-JP" dirty="0"/>
              <a:t>NAND </a:t>
            </a:r>
            <a:r>
              <a:rPr lang="ja-JP" altLang="en-US" dirty="0"/>
              <a:t>を作る</a:t>
            </a:r>
            <a:endParaRPr lang="en-US" altLang="ja-JP" dirty="0"/>
          </a:p>
          <a:p>
            <a:pPr marL="817200" lvl="1" indent="-457200">
              <a:buFont typeface="+mj-lt"/>
              <a:buAutoNum type="arabicPeriod"/>
            </a:pPr>
            <a:r>
              <a:rPr lang="en-US" dirty="0"/>
              <a:t>NOT </a:t>
            </a:r>
            <a:r>
              <a:rPr lang="ja-JP" altLang="en-US" dirty="0"/>
              <a:t>と </a:t>
            </a:r>
            <a:r>
              <a:rPr lang="en-US" altLang="ja-JP" dirty="0"/>
              <a:t>NAND </a:t>
            </a:r>
            <a:r>
              <a:rPr lang="ja-JP" altLang="en-US" dirty="0"/>
              <a:t>を組み合わせて </a:t>
            </a:r>
            <a:r>
              <a:rPr lang="en-US" altLang="ja-JP" dirty="0"/>
              <a:t>AND </a:t>
            </a:r>
            <a:r>
              <a:rPr lang="ja-JP" altLang="en-US" dirty="0"/>
              <a:t>と </a:t>
            </a:r>
            <a:r>
              <a:rPr lang="en-US" altLang="ja-JP" dirty="0"/>
              <a:t>OR </a:t>
            </a:r>
            <a:r>
              <a:rPr lang="ja-JP" altLang="en-US" dirty="0"/>
              <a:t>を作る</a:t>
            </a:r>
            <a:endParaRPr lang="en-US" dirty="0"/>
          </a:p>
        </p:txBody>
      </p:sp>
      <p:sp>
        <p:nvSpPr>
          <p:cNvPr id="2" name="スライド番号プレースホルダー 1">
            <a:extLst>
              <a:ext uri="{FF2B5EF4-FFF2-40B4-BE49-F238E27FC236}">
                <a16:creationId xmlns:a16="http://schemas.microsoft.com/office/drawing/2014/main" id="{D7D9DC5D-B5F2-DA9F-AD9A-37D0BA086279}"/>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35</a:t>
            </a:fld>
            <a:endParaRPr kumimoji="1" lang="ja-JP" altLang="en-US" dirty="0"/>
          </a:p>
        </p:txBody>
      </p:sp>
    </p:spTree>
    <p:extLst>
      <p:ext uri="{BB962C8B-B14F-4D97-AF65-F5344CB8AC3E}">
        <p14:creationId xmlns:p14="http://schemas.microsoft.com/office/powerpoint/2010/main" val="265733766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606586F9-6C36-61A6-23F7-111392D1F063}"/>
              </a:ext>
            </a:extLst>
          </p:cNvPr>
          <p:cNvSpPr>
            <a:spLocks noGrp="1"/>
          </p:cNvSpPr>
          <p:nvPr>
            <p:ph type="title"/>
          </p:nvPr>
        </p:nvSpPr>
        <p:spPr/>
        <p:txBody>
          <a:bodyPr/>
          <a:lstStyle/>
          <a:p>
            <a:r>
              <a:rPr lang="ja-JP" altLang="en-US" dirty="0"/>
              <a:t>リレーからコンピュータを作る</a:t>
            </a:r>
            <a:endParaRPr lang="en-US" dirty="0"/>
          </a:p>
        </p:txBody>
      </p:sp>
      <p:sp>
        <p:nvSpPr>
          <p:cNvPr id="6" name="コンテンツ プレースホルダー 5">
            <a:extLst>
              <a:ext uri="{FF2B5EF4-FFF2-40B4-BE49-F238E27FC236}">
                <a16:creationId xmlns:a16="http://schemas.microsoft.com/office/drawing/2014/main" id="{C5366AB5-271B-B1D3-AAAD-F3B904C622CE}"/>
              </a:ext>
            </a:extLst>
          </p:cNvPr>
          <p:cNvSpPr>
            <a:spLocks noGrp="1"/>
          </p:cNvSpPr>
          <p:nvPr>
            <p:ph sz="quarter" idx="10"/>
          </p:nvPr>
        </p:nvSpPr>
        <p:spPr/>
        <p:txBody>
          <a:bodyPr anchor="t"/>
          <a:lstStyle/>
          <a:p>
            <a:r>
              <a:rPr lang="ja-JP" altLang="en-US" dirty="0"/>
              <a:t>リレーを使って </a:t>
            </a:r>
            <a:r>
              <a:rPr lang="en-US" altLang="ja-JP" dirty="0"/>
              <a:t>NOT</a:t>
            </a:r>
            <a:r>
              <a:rPr lang="ja-JP" altLang="en-US" dirty="0"/>
              <a:t>，</a:t>
            </a:r>
            <a:r>
              <a:rPr lang="en-US" altLang="ja-JP" dirty="0"/>
              <a:t>AND</a:t>
            </a:r>
            <a:r>
              <a:rPr lang="ja-JP" altLang="en-US" dirty="0"/>
              <a:t>，</a:t>
            </a:r>
            <a:r>
              <a:rPr lang="en-US" altLang="ja-JP" dirty="0"/>
              <a:t>OR </a:t>
            </a:r>
            <a:r>
              <a:rPr lang="ja-JP" altLang="en-US" dirty="0"/>
              <a:t>を作る手順</a:t>
            </a:r>
            <a:endParaRPr lang="en-US" altLang="ja-JP" dirty="0"/>
          </a:p>
          <a:p>
            <a:pPr marL="817200" lvl="1" indent="-457200">
              <a:buFont typeface="+mj-lt"/>
              <a:buAutoNum type="arabicPeriod"/>
            </a:pPr>
            <a:r>
              <a:rPr lang="ja-JP" altLang="en-US" dirty="0"/>
              <a:t>リレーを使って </a:t>
            </a:r>
            <a:r>
              <a:rPr lang="en-US" altLang="ja-JP" dirty="0"/>
              <a:t>P </a:t>
            </a:r>
            <a:r>
              <a:rPr lang="ja-JP" altLang="en-US" dirty="0"/>
              <a:t>型と </a:t>
            </a:r>
            <a:r>
              <a:rPr lang="en-US" altLang="ja-JP" dirty="0"/>
              <a:t>N </a:t>
            </a:r>
            <a:r>
              <a:rPr lang="ja-JP" altLang="en-US" dirty="0"/>
              <a:t>型 のリレーを作る</a:t>
            </a:r>
            <a:endParaRPr lang="en-US" altLang="ja-JP" dirty="0"/>
          </a:p>
          <a:p>
            <a:pPr marL="817200" lvl="1" indent="-457200">
              <a:buFont typeface="+mj-lt"/>
              <a:buAutoNum type="arabicPeriod"/>
            </a:pPr>
            <a:r>
              <a:rPr lang="en-US" altLang="ja-JP" dirty="0"/>
              <a:t>P </a:t>
            </a:r>
            <a:r>
              <a:rPr lang="ja-JP" altLang="en-US" dirty="0"/>
              <a:t>型と </a:t>
            </a:r>
            <a:r>
              <a:rPr lang="en-US" altLang="ja-JP" dirty="0"/>
              <a:t>N </a:t>
            </a:r>
            <a:r>
              <a:rPr lang="ja-JP" altLang="en-US" dirty="0"/>
              <a:t>型を組み合わせて </a:t>
            </a:r>
            <a:r>
              <a:rPr lang="en-US" altLang="ja-JP" dirty="0"/>
              <a:t>NOT </a:t>
            </a:r>
            <a:r>
              <a:rPr lang="ja-JP" altLang="en-US" dirty="0"/>
              <a:t>と </a:t>
            </a:r>
            <a:r>
              <a:rPr lang="en-US" altLang="ja-JP" dirty="0"/>
              <a:t>NAND </a:t>
            </a:r>
            <a:r>
              <a:rPr lang="ja-JP" altLang="en-US" dirty="0"/>
              <a:t>を作る</a:t>
            </a:r>
            <a:endParaRPr lang="en-US" altLang="ja-JP" dirty="0"/>
          </a:p>
          <a:p>
            <a:pPr marL="817200" lvl="1" indent="-457200">
              <a:buFont typeface="+mj-lt"/>
              <a:buAutoNum type="arabicPeriod"/>
            </a:pPr>
            <a:r>
              <a:rPr lang="en-US" dirty="0"/>
              <a:t>NOT </a:t>
            </a:r>
            <a:r>
              <a:rPr lang="ja-JP" altLang="en-US" dirty="0"/>
              <a:t>と </a:t>
            </a:r>
            <a:r>
              <a:rPr lang="en-US" altLang="ja-JP" dirty="0"/>
              <a:t>NAND </a:t>
            </a:r>
            <a:r>
              <a:rPr lang="ja-JP" altLang="en-US" dirty="0"/>
              <a:t>を組み合わせて </a:t>
            </a:r>
            <a:r>
              <a:rPr lang="en-US" altLang="ja-JP" dirty="0"/>
              <a:t>AND </a:t>
            </a:r>
            <a:r>
              <a:rPr lang="ja-JP" altLang="en-US" dirty="0"/>
              <a:t>と </a:t>
            </a:r>
            <a:r>
              <a:rPr lang="en-US" altLang="ja-JP" dirty="0"/>
              <a:t>OR </a:t>
            </a:r>
            <a:r>
              <a:rPr lang="ja-JP" altLang="en-US" dirty="0"/>
              <a:t>を作る</a:t>
            </a:r>
            <a:endParaRPr lang="en-US" altLang="ja-JP" dirty="0"/>
          </a:p>
          <a:p>
            <a:r>
              <a:rPr lang="ja-JP" altLang="en-US" dirty="0"/>
              <a:t>コンピュータを作る手順（前回の講義）</a:t>
            </a:r>
            <a:endParaRPr lang="en-US" altLang="ja-JP" dirty="0"/>
          </a:p>
          <a:p>
            <a:pPr marL="817200" lvl="1" indent="-457200">
              <a:buFont typeface="+mj-lt"/>
              <a:buAutoNum type="arabicPeriod"/>
            </a:pPr>
            <a:r>
              <a:rPr lang="en-US" altLang="ja-JP" dirty="0"/>
              <a:t>NOT</a:t>
            </a:r>
            <a:r>
              <a:rPr lang="ja-JP" altLang="en-US" dirty="0"/>
              <a:t>，</a:t>
            </a:r>
            <a:r>
              <a:rPr lang="en-US" altLang="ja-JP" dirty="0"/>
              <a:t>AND</a:t>
            </a:r>
            <a:r>
              <a:rPr lang="ja-JP" altLang="en-US" dirty="0"/>
              <a:t>，</a:t>
            </a:r>
            <a:r>
              <a:rPr lang="en-US" altLang="ja-JP" dirty="0"/>
              <a:t>OR </a:t>
            </a:r>
            <a:r>
              <a:rPr lang="ja-JP" altLang="en-US" dirty="0"/>
              <a:t>を使うと任意の論理関数と記憶回路が作れる</a:t>
            </a:r>
            <a:endParaRPr lang="en-US" altLang="ja-JP" dirty="0"/>
          </a:p>
          <a:p>
            <a:pPr lvl="2"/>
            <a:r>
              <a:rPr lang="en-US" altLang="ja-JP" dirty="0"/>
              <a:t>=</a:t>
            </a:r>
            <a:r>
              <a:rPr lang="ja-JP" altLang="en-US" dirty="0"/>
              <a:t>任意の組み合わせ回路と順序回路が作れる</a:t>
            </a:r>
            <a:endParaRPr lang="en-US" altLang="ja-JP" dirty="0"/>
          </a:p>
          <a:p>
            <a:pPr marL="817200" lvl="1" indent="-457200">
              <a:buFont typeface="+mj-lt"/>
              <a:buAutoNum type="arabicPeriod"/>
            </a:pPr>
            <a:r>
              <a:rPr lang="ja-JP" altLang="en-US" dirty="0"/>
              <a:t>任意の組み合わせ回路と順序回路を使うと </a:t>
            </a:r>
            <a:r>
              <a:rPr lang="en-US" altLang="ja-JP" dirty="0"/>
              <a:t>CPU </a:t>
            </a:r>
            <a:r>
              <a:rPr lang="ja-JP" altLang="en-US" dirty="0"/>
              <a:t>の部品が作れる</a:t>
            </a:r>
            <a:endParaRPr lang="en-US" altLang="ja-JP" dirty="0"/>
          </a:p>
          <a:p>
            <a:pPr lvl="2"/>
            <a:r>
              <a:rPr lang="en-US" altLang="ja-JP" dirty="0"/>
              <a:t>PC</a:t>
            </a:r>
            <a:r>
              <a:rPr lang="ja-JP" altLang="en-US" dirty="0"/>
              <a:t>，レジスタ，演算器，メモリ･･･</a:t>
            </a:r>
            <a:endParaRPr lang="en-US" altLang="ja-JP" dirty="0"/>
          </a:p>
          <a:p>
            <a:pPr marL="817200" lvl="1" indent="-457200">
              <a:buFont typeface="+mj-lt"/>
              <a:buAutoNum type="arabicPeriod"/>
            </a:pPr>
            <a:r>
              <a:rPr lang="ja-JP" altLang="en-US" dirty="0"/>
              <a:t>それらを組み合わせるとコンピュータができる</a:t>
            </a:r>
            <a:endParaRPr lang="en-US" dirty="0"/>
          </a:p>
        </p:txBody>
      </p:sp>
      <p:sp>
        <p:nvSpPr>
          <p:cNvPr id="2" name="スライド番号プレースホルダー 1">
            <a:extLst>
              <a:ext uri="{FF2B5EF4-FFF2-40B4-BE49-F238E27FC236}">
                <a16:creationId xmlns:a16="http://schemas.microsoft.com/office/drawing/2014/main" id="{D7D9DC5D-B5F2-DA9F-AD9A-37D0BA086279}"/>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36</a:t>
            </a:fld>
            <a:endParaRPr kumimoji="1" lang="ja-JP" altLang="en-US" dirty="0"/>
          </a:p>
        </p:txBody>
      </p:sp>
    </p:spTree>
    <p:extLst>
      <p:ext uri="{BB962C8B-B14F-4D97-AF65-F5344CB8AC3E}">
        <p14:creationId xmlns:p14="http://schemas.microsoft.com/office/powerpoint/2010/main" val="26314609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5DF6353-9A4B-4E88-1051-729E69A18D53}"/>
              </a:ext>
            </a:extLst>
          </p:cNvPr>
          <p:cNvSpPr>
            <a:spLocks noGrp="1"/>
          </p:cNvSpPr>
          <p:nvPr>
            <p:ph type="title"/>
          </p:nvPr>
        </p:nvSpPr>
        <p:spPr/>
        <p:txBody>
          <a:bodyPr/>
          <a:lstStyle/>
          <a:p>
            <a:r>
              <a:rPr kumimoji="1" lang="ja-JP" altLang="en-US" dirty="0"/>
              <a:t>リレーがあればプログラムが実行できる</a:t>
            </a:r>
            <a:endParaRPr kumimoji="1" lang="en-US" dirty="0"/>
          </a:p>
        </p:txBody>
      </p:sp>
      <p:sp>
        <p:nvSpPr>
          <p:cNvPr id="3" name="コンテンツ プレースホルダー 2">
            <a:extLst>
              <a:ext uri="{FF2B5EF4-FFF2-40B4-BE49-F238E27FC236}">
                <a16:creationId xmlns:a16="http://schemas.microsoft.com/office/drawing/2014/main" id="{8CE30B8E-8142-3DC6-72B2-E2E71310CA22}"/>
              </a:ext>
            </a:extLst>
          </p:cNvPr>
          <p:cNvSpPr>
            <a:spLocks noGrp="1"/>
          </p:cNvSpPr>
          <p:nvPr>
            <p:ph sz="quarter" idx="10"/>
          </p:nvPr>
        </p:nvSpPr>
        <p:spPr/>
        <p:txBody>
          <a:bodyPr/>
          <a:lstStyle/>
          <a:p>
            <a:r>
              <a:rPr kumimoji="1" lang="ja-JP" altLang="en-US" dirty="0"/>
              <a:t>コンピュータがあれば，プログラムが実行できる</a:t>
            </a:r>
            <a:endParaRPr kumimoji="1" lang="en-US" altLang="ja-JP" dirty="0"/>
          </a:p>
          <a:p>
            <a:pPr marL="817200" lvl="1" indent="-457200">
              <a:buFont typeface="+mj-lt"/>
              <a:buAutoNum type="arabicPeriod"/>
            </a:pPr>
            <a:r>
              <a:rPr kumimoji="1" lang="ja-JP" altLang="en-US" dirty="0"/>
              <a:t>コンピュータは機械語を解釈して実行できる</a:t>
            </a:r>
            <a:endParaRPr kumimoji="1" lang="en-US" altLang="ja-JP" dirty="0"/>
          </a:p>
          <a:p>
            <a:pPr marL="817200" lvl="1" indent="-457200">
              <a:buFont typeface="+mj-lt"/>
              <a:buAutoNum type="arabicPeriod"/>
            </a:pPr>
            <a:r>
              <a:rPr kumimoji="1" lang="ja-JP" altLang="en-US" dirty="0"/>
              <a:t>機械語はアセンブリ言語から変換できる</a:t>
            </a:r>
            <a:endParaRPr kumimoji="1" lang="en-US" altLang="ja-JP" dirty="0"/>
          </a:p>
          <a:p>
            <a:pPr marL="817200" lvl="1" indent="-457200">
              <a:buFont typeface="+mj-lt"/>
              <a:buAutoNum type="arabicPeriod"/>
            </a:pPr>
            <a:r>
              <a:rPr kumimoji="1" lang="ja-JP" altLang="en-US" dirty="0"/>
              <a:t>アセンブリ言語は </a:t>
            </a:r>
            <a:r>
              <a:rPr kumimoji="1" lang="en-US" altLang="ja-JP" dirty="0"/>
              <a:t>C </a:t>
            </a:r>
            <a:r>
              <a:rPr kumimoji="1" lang="ja-JP" altLang="en-US" dirty="0"/>
              <a:t>言語からコンパイルできる</a:t>
            </a:r>
            <a:endParaRPr kumimoji="1" lang="en-US" altLang="ja-JP" dirty="0"/>
          </a:p>
          <a:p>
            <a:r>
              <a:rPr kumimoji="1" lang="ja-JP" altLang="en-US" dirty="0"/>
              <a:t>途中に多数のステップがあるが，まとめると，</a:t>
            </a:r>
            <a:endParaRPr kumimoji="1" lang="en-US" altLang="ja-JP" dirty="0"/>
          </a:p>
          <a:p>
            <a:pPr lvl="1"/>
            <a:r>
              <a:rPr kumimoji="1" lang="ja-JP" altLang="en-US" dirty="0">
                <a:solidFill>
                  <a:schemeClr val="accent5"/>
                </a:solidFill>
              </a:rPr>
              <a:t>リレーがあれば，</a:t>
            </a:r>
            <a:r>
              <a:rPr kumimoji="1" lang="en-US" altLang="ja-JP" dirty="0">
                <a:solidFill>
                  <a:schemeClr val="accent5"/>
                </a:solidFill>
              </a:rPr>
              <a:t>C </a:t>
            </a:r>
            <a:r>
              <a:rPr kumimoji="1" lang="ja-JP" altLang="en-US" dirty="0">
                <a:solidFill>
                  <a:schemeClr val="accent5"/>
                </a:solidFill>
              </a:rPr>
              <a:t>言語のプログラムを実行できる</a:t>
            </a:r>
            <a:endParaRPr kumimoji="1" lang="en-US" dirty="0">
              <a:solidFill>
                <a:schemeClr val="accent5"/>
              </a:solidFill>
            </a:endParaRPr>
          </a:p>
        </p:txBody>
      </p:sp>
    </p:spTree>
    <p:extLst>
      <p:ext uri="{BB962C8B-B14F-4D97-AF65-F5344CB8AC3E}">
        <p14:creationId xmlns:p14="http://schemas.microsoft.com/office/powerpoint/2010/main" val="24384234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F48D921-750E-E86A-3624-6989799238AC}"/>
              </a:ext>
            </a:extLst>
          </p:cNvPr>
          <p:cNvSpPr>
            <a:spLocks noGrp="1"/>
          </p:cNvSpPr>
          <p:nvPr>
            <p:ph type="title"/>
          </p:nvPr>
        </p:nvSpPr>
        <p:spPr/>
        <p:txBody>
          <a:bodyPr/>
          <a:lstStyle/>
          <a:p>
            <a:r>
              <a:rPr kumimoji="1" lang="ja-JP" altLang="en-US" dirty="0"/>
              <a:t>つまり，</a:t>
            </a:r>
            <a:endParaRPr kumimoji="1" lang="en-US" dirty="0"/>
          </a:p>
        </p:txBody>
      </p:sp>
      <p:sp>
        <p:nvSpPr>
          <p:cNvPr id="3" name="コンテンツ プレースホルダー 2">
            <a:extLst>
              <a:ext uri="{FF2B5EF4-FFF2-40B4-BE49-F238E27FC236}">
                <a16:creationId xmlns:a16="http://schemas.microsoft.com/office/drawing/2014/main" id="{0C9930CE-86B6-FE67-225C-3AFDA19E5E74}"/>
              </a:ext>
            </a:extLst>
          </p:cNvPr>
          <p:cNvSpPr>
            <a:spLocks noGrp="1"/>
          </p:cNvSpPr>
          <p:nvPr>
            <p:ph sz="quarter" idx="10"/>
          </p:nvPr>
        </p:nvSpPr>
        <p:spPr/>
        <p:txBody>
          <a:bodyPr/>
          <a:lstStyle/>
          <a:p>
            <a:r>
              <a:rPr kumimoji="1" lang="ja-JP" altLang="en-US" b="1" dirty="0">
                <a:solidFill>
                  <a:schemeClr val="accent5"/>
                </a:solidFill>
              </a:rPr>
              <a:t>なんらかの入力に従って </a:t>
            </a:r>
            <a:r>
              <a:rPr kumimoji="1" lang="en-US" altLang="ja-JP" b="1" dirty="0">
                <a:solidFill>
                  <a:schemeClr val="accent5"/>
                </a:solidFill>
              </a:rPr>
              <a:t>ON/OFF </a:t>
            </a:r>
            <a:r>
              <a:rPr kumimoji="1" lang="ja-JP" altLang="en-US" b="1" dirty="0">
                <a:solidFill>
                  <a:schemeClr val="accent5"/>
                </a:solidFill>
              </a:rPr>
              <a:t>できるスイッチがあれば，</a:t>
            </a:r>
            <a:br>
              <a:rPr kumimoji="1" lang="en-US" altLang="ja-JP" b="1" dirty="0">
                <a:solidFill>
                  <a:schemeClr val="accent5"/>
                </a:solidFill>
              </a:rPr>
            </a:br>
            <a:r>
              <a:rPr kumimoji="1" lang="ja-JP" altLang="en-US" b="1" dirty="0">
                <a:solidFill>
                  <a:schemeClr val="accent5"/>
                </a:solidFill>
              </a:rPr>
              <a:t>それでプログラムが実行できるコンピュータが作れる</a:t>
            </a:r>
            <a:endParaRPr kumimoji="1" lang="en-US" altLang="ja-JP" b="1" dirty="0">
              <a:solidFill>
                <a:schemeClr val="accent5"/>
              </a:solidFill>
            </a:endParaRPr>
          </a:p>
          <a:p>
            <a:pPr lvl="1"/>
            <a:endParaRPr lang="en-US" b="1" dirty="0">
              <a:solidFill>
                <a:schemeClr val="accent5"/>
              </a:solidFill>
            </a:endParaRPr>
          </a:p>
          <a:p>
            <a:pPr lvl="1"/>
            <a:r>
              <a:rPr kumimoji="1" lang="ja-JP" altLang="en-US" dirty="0"/>
              <a:t>具体的な回路の組み方は，回路の種別ごとに違う事もある</a:t>
            </a:r>
            <a:endParaRPr kumimoji="1" lang="en-US" altLang="ja-JP" dirty="0"/>
          </a:p>
          <a:p>
            <a:pPr lvl="1"/>
            <a:r>
              <a:rPr kumimoji="1" lang="en-US" altLang="ja-JP" dirty="0"/>
              <a:t>NAND </a:t>
            </a:r>
            <a:r>
              <a:rPr kumimoji="1" lang="ja-JP" altLang="en-US" dirty="0"/>
              <a:t>さえ出来ればこっちのもの</a:t>
            </a:r>
            <a:endParaRPr kumimoji="1" lang="en-US" dirty="0"/>
          </a:p>
        </p:txBody>
      </p:sp>
    </p:spTree>
    <p:extLst>
      <p:ext uri="{BB962C8B-B14F-4D97-AF65-F5344CB8AC3E}">
        <p14:creationId xmlns:p14="http://schemas.microsoft.com/office/powerpoint/2010/main" val="324371988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E7D6408-E8C8-F5A9-E727-6DD10B645E9D}"/>
              </a:ext>
            </a:extLst>
          </p:cNvPr>
          <p:cNvSpPr>
            <a:spLocks noGrp="1"/>
          </p:cNvSpPr>
          <p:nvPr>
            <p:ph type="title"/>
          </p:nvPr>
        </p:nvSpPr>
        <p:spPr/>
        <p:txBody>
          <a:bodyPr/>
          <a:lstStyle/>
          <a:p>
            <a:r>
              <a:rPr kumimoji="1" lang="ja-JP" altLang="en-US" dirty="0"/>
              <a:t>余談：いろいろなコンピュータ</a:t>
            </a:r>
            <a:endParaRPr kumimoji="1" lang="en-US" dirty="0"/>
          </a:p>
        </p:txBody>
      </p:sp>
      <p:sp>
        <p:nvSpPr>
          <p:cNvPr id="3" name="コンテンツ プレースホルダー 2">
            <a:extLst>
              <a:ext uri="{FF2B5EF4-FFF2-40B4-BE49-F238E27FC236}">
                <a16:creationId xmlns:a16="http://schemas.microsoft.com/office/drawing/2014/main" id="{12927C11-0443-434C-BB63-79968A1BFAF6}"/>
              </a:ext>
            </a:extLst>
          </p:cNvPr>
          <p:cNvSpPr>
            <a:spLocks noGrp="1"/>
          </p:cNvSpPr>
          <p:nvPr>
            <p:ph sz="quarter" idx="10"/>
          </p:nvPr>
        </p:nvSpPr>
        <p:spPr/>
        <p:txBody>
          <a:bodyPr/>
          <a:lstStyle/>
          <a:p>
            <a:r>
              <a:rPr kumimoji="1" lang="ja-JP" altLang="en-US" dirty="0"/>
              <a:t>なんらかの入力に従って </a:t>
            </a:r>
            <a:r>
              <a:rPr kumimoji="1" lang="en-US" altLang="ja-JP" dirty="0"/>
              <a:t>ON/OFF </a:t>
            </a:r>
            <a:r>
              <a:rPr kumimoji="1" lang="ja-JP" altLang="en-US" dirty="0"/>
              <a:t>できるスイッチさえあれば，</a:t>
            </a:r>
            <a:br>
              <a:rPr kumimoji="1" lang="en-US" altLang="ja-JP" dirty="0"/>
            </a:br>
            <a:r>
              <a:rPr kumimoji="1" lang="ja-JP" altLang="en-US" dirty="0"/>
              <a:t>プログラムが実行できるコンピュータが作れる</a:t>
            </a:r>
            <a:endParaRPr kumimoji="1" lang="en-US" altLang="ja-JP" dirty="0"/>
          </a:p>
          <a:p>
            <a:r>
              <a:rPr kumimoji="1" lang="ja-JP" altLang="en-US" dirty="0"/>
              <a:t>（余談）いろいろなコンピュータ</a:t>
            </a:r>
            <a:endParaRPr kumimoji="1" lang="en-US" altLang="ja-JP" dirty="0"/>
          </a:p>
          <a:p>
            <a:pPr lvl="1"/>
            <a:r>
              <a:rPr kumimoji="1" lang="ja-JP" altLang="en-US" dirty="0"/>
              <a:t>リレー式</a:t>
            </a:r>
            <a:endParaRPr kumimoji="1" lang="en-US" altLang="ja-JP" dirty="0"/>
          </a:p>
          <a:p>
            <a:pPr lvl="1"/>
            <a:r>
              <a:rPr kumimoji="1" lang="ja-JP" altLang="en-US" dirty="0"/>
              <a:t>真空管</a:t>
            </a:r>
            <a:endParaRPr kumimoji="1" lang="en-US" altLang="ja-JP" dirty="0"/>
          </a:p>
          <a:p>
            <a:pPr lvl="1"/>
            <a:r>
              <a:rPr kumimoji="1" lang="ja-JP" altLang="en-US" dirty="0"/>
              <a:t>レッドストーン回路</a:t>
            </a:r>
            <a:endParaRPr kumimoji="1" lang="en-US" dirty="0"/>
          </a:p>
        </p:txBody>
      </p:sp>
    </p:spTree>
    <p:extLst>
      <p:ext uri="{BB962C8B-B14F-4D97-AF65-F5344CB8AC3E}">
        <p14:creationId xmlns:p14="http://schemas.microsoft.com/office/powerpoint/2010/main" val="304395644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8BBD364-94F9-86B8-ADBD-D4DF1105544B}"/>
              </a:ext>
            </a:extLst>
          </p:cNvPr>
          <p:cNvSpPr>
            <a:spLocks noGrp="1"/>
          </p:cNvSpPr>
          <p:nvPr>
            <p:ph type="title"/>
          </p:nvPr>
        </p:nvSpPr>
        <p:spPr>
          <a:xfrm>
            <a:off x="611956" y="-5087"/>
            <a:ext cx="8532044" cy="908972"/>
          </a:xfrm>
        </p:spPr>
        <p:txBody>
          <a:bodyPr/>
          <a:lstStyle/>
          <a:p>
            <a:r>
              <a:rPr kumimoji="1" lang="ja-JP" altLang="en-US" dirty="0"/>
              <a:t>リレー式計算機 富士通 </a:t>
            </a:r>
            <a:r>
              <a:rPr kumimoji="1" lang="en-US" altLang="ja-JP" dirty="0"/>
              <a:t>FACOM128B (1956)</a:t>
            </a:r>
            <a:endParaRPr kumimoji="1" lang="en-US" dirty="0"/>
          </a:p>
        </p:txBody>
      </p:sp>
      <p:pic>
        <p:nvPicPr>
          <p:cNvPr id="28674" name="Picture 2" descr="現在でも稼働する「FACOM128B」（池田記念室）">
            <a:extLst>
              <a:ext uri="{FF2B5EF4-FFF2-40B4-BE49-F238E27FC236}">
                <a16:creationId xmlns:a16="http://schemas.microsoft.com/office/drawing/2014/main" id="{815DF229-3220-E3BC-061B-C06CAE48FDB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61971" y="1628980"/>
            <a:ext cx="5580062" cy="3846776"/>
          </a:xfrm>
          <a:prstGeom prst="rect">
            <a:avLst/>
          </a:prstGeom>
          <a:noFill/>
          <a:extLst>
            <a:ext uri="{909E8E84-426E-40DD-AFC4-6F175D3DCCD1}">
              <a14:hiddenFill xmlns:a14="http://schemas.microsoft.com/office/drawing/2010/main">
                <a:solidFill>
                  <a:srgbClr val="FFFFFF"/>
                </a:solidFill>
              </a14:hiddenFill>
            </a:ext>
          </a:extLst>
        </p:spPr>
      </p:pic>
      <p:sp>
        <p:nvSpPr>
          <p:cNvPr id="7" name="テキスト ボックス 6">
            <a:extLst>
              <a:ext uri="{FF2B5EF4-FFF2-40B4-BE49-F238E27FC236}">
                <a16:creationId xmlns:a16="http://schemas.microsoft.com/office/drawing/2014/main" id="{61D630CD-08B8-3C68-8772-34A159DFB1DD}"/>
              </a:ext>
            </a:extLst>
          </p:cNvPr>
          <p:cNvSpPr txBox="1"/>
          <p:nvPr/>
        </p:nvSpPr>
        <p:spPr>
          <a:xfrm>
            <a:off x="1601967" y="5949028"/>
            <a:ext cx="7650085" cy="646331"/>
          </a:xfrm>
          <a:prstGeom prst="rect">
            <a:avLst/>
          </a:prstGeom>
          <a:noFill/>
        </p:spPr>
        <p:txBody>
          <a:bodyPr wrap="square">
            <a:spAutoFit/>
          </a:bodyPr>
          <a:lstStyle/>
          <a:p>
            <a:r>
              <a:rPr lang="ja-JP" altLang="en-US" dirty="0"/>
              <a:t>画像は </a:t>
            </a:r>
            <a:r>
              <a:rPr lang="en-US" altLang="ja-JP" dirty="0">
                <a:hlinkClick r:id="rId3"/>
              </a:rPr>
              <a:t>https://pr.fujitsu.com/jp/news/2018/08/21.html</a:t>
            </a:r>
            <a:r>
              <a:rPr lang="en-US" altLang="ja-JP" dirty="0"/>
              <a:t> </a:t>
            </a:r>
            <a:r>
              <a:rPr lang="ja-JP" altLang="en-US" dirty="0"/>
              <a:t>より</a:t>
            </a:r>
            <a:endParaRPr lang="en-US" altLang="ja-JP" dirty="0"/>
          </a:p>
          <a:p>
            <a:endParaRPr lang="en-US" dirty="0"/>
          </a:p>
        </p:txBody>
      </p:sp>
    </p:spTree>
    <p:extLst>
      <p:ext uri="{BB962C8B-B14F-4D97-AF65-F5344CB8AC3E}">
        <p14:creationId xmlns:p14="http://schemas.microsoft.com/office/powerpoint/2010/main" val="7610877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14724B-30AA-344A-14D3-CE865807F5A4}"/>
              </a:ext>
            </a:extLst>
          </p:cNvPr>
          <p:cNvSpPr>
            <a:spLocks noGrp="1"/>
          </p:cNvSpPr>
          <p:nvPr>
            <p:ph type="title"/>
          </p:nvPr>
        </p:nvSpPr>
        <p:spPr/>
        <p:txBody>
          <a:bodyPr/>
          <a:lstStyle/>
          <a:p>
            <a:r>
              <a:rPr kumimoji="1" lang="ja-JP" altLang="en-US" dirty="0"/>
              <a:t>真空管（三極管）</a:t>
            </a:r>
            <a:endParaRPr kumimoji="1" lang="en-US" dirty="0"/>
          </a:p>
        </p:txBody>
      </p:sp>
      <p:sp>
        <p:nvSpPr>
          <p:cNvPr id="3" name="コンテンツ プレースホルダー 2">
            <a:extLst>
              <a:ext uri="{FF2B5EF4-FFF2-40B4-BE49-F238E27FC236}">
                <a16:creationId xmlns:a16="http://schemas.microsoft.com/office/drawing/2014/main" id="{28FDF9AE-FE2C-50D4-5264-356FC112DD77}"/>
              </a:ext>
            </a:extLst>
          </p:cNvPr>
          <p:cNvSpPr>
            <a:spLocks noGrp="1"/>
          </p:cNvSpPr>
          <p:nvPr>
            <p:ph sz="quarter" idx="10"/>
          </p:nvPr>
        </p:nvSpPr>
        <p:spPr>
          <a:xfrm>
            <a:off x="611956" y="1088974"/>
            <a:ext cx="8280092" cy="900010"/>
          </a:xfrm>
        </p:spPr>
        <p:txBody>
          <a:bodyPr/>
          <a:lstStyle/>
          <a:p>
            <a:r>
              <a:rPr kumimoji="1" lang="ja-JP" altLang="en-US" dirty="0"/>
              <a:t>電球にカソードとグリッド，プレートなどの電極を追加したもの</a:t>
            </a:r>
            <a:endParaRPr kumimoji="1" lang="en-US" dirty="0"/>
          </a:p>
        </p:txBody>
      </p:sp>
      <p:sp>
        <p:nvSpPr>
          <p:cNvPr id="4" name="楕円 3">
            <a:extLst>
              <a:ext uri="{FF2B5EF4-FFF2-40B4-BE49-F238E27FC236}">
                <a16:creationId xmlns:a16="http://schemas.microsoft.com/office/drawing/2014/main" id="{39394E1B-9C93-F0C9-6FF8-BF0858031730}"/>
              </a:ext>
            </a:extLst>
          </p:cNvPr>
          <p:cNvSpPr/>
          <p:nvPr/>
        </p:nvSpPr>
        <p:spPr bwMode="auto">
          <a:xfrm>
            <a:off x="6192019" y="3248998"/>
            <a:ext cx="1260014" cy="1260014"/>
          </a:xfrm>
          <a:prstGeom prst="ellipse">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pic>
        <p:nvPicPr>
          <p:cNvPr id="2050" name="Picture 2" descr="undefined">
            <a:extLst>
              <a:ext uri="{FF2B5EF4-FFF2-40B4-BE49-F238E27FC236}">
                <a16:creationId xmlns:a16="http://schemas.microsoft.com/office/drawing/2014/main" id="{A04C1AAC-4A16-6AAE-A64B-46B562D0686A}"/>
              </a:ext>
            </a:extLst>
          </p:cNvPr>
          <p:cNvPicPr>
            <a:picLocks noChangeAspect="1" noChangeArrowheads="1"/>
          </p:cNvPicPr>
          <p:nvPr/>
        </p:nvPicPr>
        <p:blipFill>
          <a:blip r:embed="rId2" cstate="print">
            <a:extLst>
              <a:ext uri="{28A0092B-C50C-407E-A947-70E740481C1C}">
                <a14:useLocalDpi xmlns:a14="http://schemas.microsoft.com/office/drawing/2010/main"/>
              </a:ext>
            </a:extLst>
          </a:blip>
          <a:srcRect/>
          <a:stretch>
            <a:fillRect/>
          </a:stretch>
        </p:blipFill>
        <p:spPr bwMode="auto">
          <a:xfrm>
            <a:off x="3671990" y="1898983"/>
            <a:ext cx="1142861" cy="3519001"/>
          </a:xfrm>
          <a:prstGeom prst="rect">
            <a:avLst/>
          </a:prstGeom>
          <a:noFill/>
          <a:extLst>
            <a:ext uri="{909E8E84-426E-40DD-AFC4-6F175D3DCCD1}">
              <a14:hiddenFill xmlns:a14="http://schemas.microsoft.com/office/drawing/2010/main">
                <a:solidFill>
                  <a:srgbClr val="FFFFFF"/>
                </a:solidFill>
              </a14:hiddenFill>
            </a:ext>
          </a:extLst>
        </p:spPr>
      </p:pic>
      <p:sp>
        <p:nvSpPr>
          <p:cNvPr id="6" name="テキスト ボックス 5">
            <a:extLst>
              <a:ext uri="{FF2B5EF4-FFF2-40B4-BE49-F238E27FC236}">
                <a16:creationId xmlns:a16="http://schemas.microsoft.com/office/drawing/2014/main" id="{01C2E457-8E8A-88C5-CDFD-C4F42641BAB8}"/>
              </a:ext>
            </a:extLst>
          </p:cNvPr>
          <p:cNvSpPr txBox="1"/>
          <p:nvPr/>
        </p:nvSpPr>
        <p:spPr>
          <a:xfrm>
            <a:off x="611956" y="5769026"/>
            <a:ext cx="5310059" cy="738664"/>
          </a:xfrm>
          <a:prstGeom prst="rect">
            <a:avLst/>
          </a:prstGeom>
          <a:noFill/>
        </p:spPr>
        <p:txBody>
          <a:bodyPr wrap="square">
            <a:spAutoFit/>
          </a:bodyPr>
          <a:lstStyle/>
          <a:p>
            <a:r>
              <a:rPr lang="ja-JP" altLang="en-US" sz="1400" dirty="0">
                <a:solidFill>
                  <a:schemeClr val="tx1">
                    <a:lumMod val="75000"/>
                    <a:lumOff val="25000"/>
                  </a:schemeClr>
                </a:solidFill>
              </a:rPr>
              <a:t>画像は </a:t>
            </a:r>
            <a:r>
              <a:rPr lang="en-US" altLang="ja-JP" sz="1400" dirty="0">
                <a:solidFill>
                  <a:schemeClr val="tx1">
                    <a:lumMod val="75000"/>
                    <a:lumOff val="25000"/>
                  </a:schemeClr>
                </a:solidFill>
                <a:hlinkClick r:id="rId3">
                  <a:extLst>
                    <a:ext uri="{A12FA001-AC4F-418D-AE19-62706E023703}">
                      <ahyp:hlinkClr xmlns:ahyp="http://schemas.microsoft.com/office/drawing/2018/hyperlinkcolor" val="tx"/>
                    </a:ext>
                  </a:extLst>
                </a:hlinkClick>
              </a:rPr>
              <a:t>https://en.wikipedia.org/wiki/Triode</a:t>
            </a:r>
            <a:r>
              <a:rPr lang="en-US" altLang="ja-JP" sz="1400" dirty="0">
                <a:solidFill>
                  <a:schemeClr val="tx1">
                    <a:lumMod val="75000"/>
                    <a:lumOff val="25000"/>
                  </a:schemeClr>
                </a:solidFill>
              </a:rPr>
              <a:t> </a:t>
            </a:r>
            <a:r>
              <a:rPr lang="ja-JP" altLang="en-US" sz="1400" dirty="0">
                <a:solidFill>
                  <a:schemeClr val="tx1">
                    <a:lumMod val="75000"/>
                    <a:lumOff val="25000"/>
                  </a:schemeClr>
                </a:solidFill>
              </a:rPr>
              <a:t>より</a:t>
            </a:r>
            <a:endParaRPr lang="en-US" altLang="ja-JP" sz="1400" dirty="0">
              <a:solidFill>
                <a:schemeClr val="tx1">
                  <a:lumMod val="75000"/>
                  <a:lumOff val="25000"/>
                </a:schemeClr>
              </a:solidFill>
            </a:endParaRPr>
          </a:p>
          <a:p>
            <a:r>
              <a:rPr lang="en-US" altLang="ja-JP" sz="1400" b="0" i="0" dirty="0">
                <a:solidFill>
                  <a:schemeClr val="tx1">
                    <a:lumMod val="75000"/>
                    <a:lumOff val="25000"/>
                  </a:schemeClr>
                </a:solidFill>
                <a:effectLst/>
                <a:latin typeface="Arial" panose="020B0604020202020204" pitchFamily="34" charset="0"/>
              </a:rPr>
              <a:t>De Forest </a:t>
            </a:r>
            <a:r>
              <a:rPr lang="en-US" altLang="ja-JP" sz="1400" b="0" i="0" dirty="0" err="1">
                <a:solidFill>
                  <a:schemeClr val="tx1">
                    <a:lumMod val="75000"/>
                    <a:lumOff val="25000"/>
                  </a:schemeClr>
                </a:solidFill>
                <a:effectLst/>
                <a:latin typeface="Arial" panose="020B0604020202020204" pitchFamily="34" charset="0"/>
              </a:rPr>
              <a:t>Audion</a:t>
            </a:r>
            <a:r>
              <a:rPr lang="en-US" altLang="ja-JP" sz="1400" b="0" i="0" dirty="0">
                <a:solidFill>
                  <a:schemeClr val="tx1">
                    <a:lumMod val="75000"/>
                    <a:lumOff val="25000"/>
                  </a:schemeClr>
                </a:solidFill>
                <a:effectLst/>
                <a:latin typeface="Arial" panose="020B0604020202020204" pitchFamily="34" charset="0"/>
              </a:rPr>
              <a:t> tube </a:t>
            </a:r>
            <a:r>
              <a:rPr lang="ja-JP" altLang="en-US" sz="1400" b="0" i="0" dirty="0">
                <a:solidFill>
                  <a:schemeClr val="tx1">
                    <a:lumMod val="75000"/>
                    <a:lumOff val="25000"/>
                  </a:schemeClr>
                </a:solidFill>
                <a:effectLst/>
                <a:latin typeface="Arial" panose="020B0604020202020204" pitchFamily="34" charset="0"/>
              </a:rPr>
              <a:t>と </a:t>
            </a:r>
            <a:r>
              <a:rPr lang="en-US" altLang="ja-JP" sz="1400" b="0" i="0" dirty="0" err="1">
                <a:solidFill>
                  <a:schemeClr val="tx1">
                    <a:lumMod val="75000"/>
                    <a:lumOff val="25000"/>
                  </a:schemeClr>
                </a:solidFill>
                <a:effectLst/>
                <a:latin typeface="Arial" panose="020B0604020202020204" pitchFamily="34" charset="0"/>
              </a:rPr>
              <a:t>Lieben</a:t>
            </a:r>
            <a:r>
              <a:rPr lang="en-US" altLang="ja-JP" sz="1400" b="0" i="0" dirty="0">
                <a:solidFill>
                  <a:schemeClr val="tx1">
                    <a:lumMod val="75000"/>
                    <a:lumOff val="25000"/>
                  </a:schemeClr>
                </a:solidFill>
                <a:effectLst/>
                <a:latin typeface="Arial" panose="020B0604020202020204" pitchFamily="34" charset="0"/>
              </a:rPr>
              <a:t>-Reisz tube </a:t>
            </a:r>
            <a:br>
              <a:rPr lang="en-US" altLang="ja-JP" sz="1400" b="0" i="0" dirty="0">
                <a:solidFill>
                  <a:schemeClr val="tx1">
                    <a:lumMod val="75000"/>
                    <a:lumOff val="25000"/>
                  </a:schemeClr>
                </a:solidFill>
                <a:effectLst/>
                <a:latin typeface="Arial" panose="020B0604020202020204" pitchFamily="34" charset="0"/>
              </a:rPr>
            </a:br>
            <a:r>
              <a:rPr lang="en-US" altLang="ja-JP" sz="1400" b="0" i="0" dirty="0">
                <a:solidFill>
                  <a:schemeClr val="tx1">
                    <a:lumMod val="75000"/>
                    <a:lumOff val="25000"/>
                  </a:schemeClr>
                </a:solidFill>
                <a:effectLst/>
                <a:latin typeface="Arial" panose="020B0604020202020204" pitchFamily="34" charset="0"/>
              </a:rPr>
              <a:t>1900 </a:t>
            </a:r>
            <a:r>
              <a:rPr lang="ja-JP" altLang="en-US" sz="1400" b="0" i="0" dirty="0">
                <a:solidFill>
                  <a:schemeClr val="tx1">
                    <a:lumMod val="75000"/>
                    <a:lumOff val="25000"/>
                  </a:schemeClr>
                </a:solidFill>
                <a:effectLst/>
                <a:latin typeface="Arial" panose="020B0604020202020204" pitchFamily="34" charset="0"/>
              </a:rPr>
              <a:t>年過ぎの発明</a:t>
            </a:r>
            <a:endParaRPr lang="en-US" altLang="ja-JP" sz="1400" dirty="0">
              <a:solidFill>
                <a:schemeClr val="tx1">
                  <a:lumMod val="75000"/>
                  <a:lumOff val="25000"/>
                </a:schemeClr>
              </a:solidFill>
            </a:endParaRPr>
          </a:p>
        </p:txBody>
      </p:sp>
      <p:cxnSp>
        <p:nvCxnSpPr>
          <p:cNvPr id="8" name="直線コネクタ 7">
            <a:extLst>
              <a:ext uri="{FF2B5EF4-FFF2-40B4-BE49-F238E27FC236}">
                <a16:creationId xmlns:a16="http://schemas.microsoft.com/office/drawing/2014/main" id="{39160491-C71D-5E59-EA26-91D9B52C3CA8}"/>
              </a:ext>
            </a:extLst>
          </p:cNvPr>
          <p:cNvCxnSpPr>
            <a:cxnSpLocks/>
          </p:cNvCxnSpPr>
          <p:nvPr/>
        </p:nvCxnSpPr>
        <p:spPr bwMode="auto">
          <a:xfrm>
            <a:off x="6462021" y="3969006"/>
            <a:ext cx="720008"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0" name="直線コネクタ 9">
            <a:extLst>
              <a:ext uri="{FF2B5EF4-FFF2-40B4-BE49-F238E27FC236}">
                <a16:creationId xmlns:a16="http://schemas.microsoft.com/office/drawing/2014/main" id="{50D41FF3-3967-5CE6-B0FA-9A0E277DE8BF}"/>
              </a:ext>
            </a:extLst>
          </p:cNvPr>
          <p:cNvCxnSpPr>
            <a:cxnSpLocks/>
          </p:cNvCxnSpPr>
          <p:nvPr/>
        </p:nvCxnSpPr>
        <p:spPr bwMode="auto">
          <a:xfrm flipV="1">
            <a:off x="6462021" y="3969006"/>
            <a:ext cx="0" cy="90001"/>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3" name="直線コネクタ 12">
            <a:extLst>
              <a:ext uri="{FF2B5EF4-FFF2-40B4-BE49-F238E27FC236}">
                <a16:creationId xmlns:a16="http://schemas.microsoft.com/office/drawing/2014/main" id="{695BE07C-BB2E-B8EA-2E3A-6D5CD30970E1}"/>
              </a:ext>
            </a:extLst>
          </p:cNvPr>
          <p:cNvCxnSpPr>
            <a:cxnSpLocks/>
          </p:cNvCxnSpPr>
          <p:nvPr/>
        </p:nvCxnSpPr>
        <p:spPr bwMode="auto">
          <a:xfrm flipV="1">
            <a:off x="7182029" y="3969006"/>
            <a:ext cx="0" cy="90001"/>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4" name="直線コネクタ 13">
            <a:extLst>
              <a:ext uri="{FF2B5EF4-FFF2-40B4-BE49-F238E27FC236}">
                <a16:creationId xmlns:a16="http://schemas.microsoft.com/office/drawing/2014/main" id="{D3BA62D9-6870-E648-798F-F2314D2DD5C4}"/>
              </a:ext>
            </a:extLst>
          </p:cNvPr>
          <p:cNvCxnSpPr>
            <a:cxnSpLocks/>
          </p:cNvCxnSpPr>
          <p:nvPr/>
        </p:nvCxnSpPr>
        <p:spPr bwMode="auto">
          <a:xfrm>
            <a:off x="7092028" y="378900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6" name="直線コネクタ 15">
            <a:extLst>
              <a:ext uri="{FF2B5EF4-FFF2-40B4-BE49-F238E27FC236}">
                <a16:creationId xmlns:a16="http://schemas.microsoft.com/office/drawing/2014/main" id="{1ED418AF-AD75-ED9D-FFAC-773FB4731659}"/>
              </a:ext>
            </a:extLst>
          </p:cNvPr>
          <p:cNvCxnSpPr>
            <a:cxnSpLocks/>
          </p:cNvCxnSpPr>
          <p:nvPr/>
        </p:nvCxnSpPr>
        <p:spPr bwMode="auto">
          <a:xfrm>
            <a:off x="6912026" y="378900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7" name="直線コネクタ 16">
            <a:extLst>
              <a:ext uri="{FF2B5EF4-FFF2-40B4-BE49-F238E27FC236}">
                <a16:creationId xmlns:a16="http://schemas.microsoft.com/office/drawing/2014/main" id="{791DFD4F-2A13-12B1-B05D-C79D225A4E31}"/>
              </a:ext>
            </a:extLst>
          </p:cNvPr>
          <p:cNvCxnSpPr>
            <a:cxnSpLocks/>
          </p:cNvCxnSpPr>
          <p:nvPr/>
        </p:nvCxnSpPr>
        <p:spPr bwMode="auto">
          <a:xfrm>
            <a:off x="6732024" y="378900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8" name="直線コネクタ 17">
            <a:extLst>
              <a:ext uri="{FF2B5EF4-FFF2-40B4-BE49-F238E27FC236}">
                <a16:creationId xmlns:a16="http://schemas.microsoft.com/office/drawing/2014/main" id="{A3EA0A3D-7ACD-D5CF-0571-57FEE70C643E}"/>
              </a:ext>
            </a:extLst>
          </p:cNvPr>
          <p:cNvCxnSpPr>
            <a:cxnSpLocks/>
          </p:cNvCxnSpPr>
          <p:nvPr/>
        </p:nvCxnSpPr>
        <p:spPr bwMode="auto">
          <a:xfrm>
            <a:off x="6552022" y="378900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22" name="直線コネクタ 21">
            <a:extLst>
              <a:ext uri="{FF2B5EF4-FFF2-40B4-BE49-F238E27FC236}">
                <a16:creationId xmlns:a16="http://schemas.microsoft.com/office/drawing/2014/main" id="{CDC78133-ED19-9CA4-6BFA-D43BEB7D7DD7}"/>
              </a:ext>
            </a:extLst>
          </p:cNvPr>
          <p:cNvCxnSpPr>
            <a:cxnSpLocks/>
          </p:cNvCxnSpPr>
          <p:nvPr/>
        </p:nvCxnSpPr>
        <p:spPr bwMode="auto">
          <a:xfrm flipV="1">
            <a:off x="6642023" y="4059007"/>
            <a:ext cx="180002" cy="180002"/>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25" name="直線コネクタ 24">
            <a:extLst>
              <a:ext uri="{FF2B5EF4-FFF2-40B4-BE49-F238E27FC236}">
                <a16:creationId xmlns:a16="http://schemas.microsoft.com/office/drawing/2014/main" id="{5A7AE018-AA41-D25F-56CB-D1BCD4AEFDD1}"/>
              </a:ext>
            </a:extLst>
          </p:cNvPr>
          <p:cNvCxnSpPr>
            <a:cxnSpLocks/>
          </p:cNvCxnSpPr>
          <p:nvPr/>
        </p:nvCxnSpPr>
        <p:spPr bwMode="auto">
          <a:xfrm>
            <a:off x="6822025" y="4059007"/>
            <a:ext cx="180002" cy="180002"/>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28" name="直線コネクタ 27">
            <a:extLst>
              <a:ext uri="{FF2B5EF4-FFF2-40B4-BE49-F238E27FC236}">
                <a16:creationId xmlns:a16="http://schemas.microsoft.com/office/drawing/2014/main" id="{0DEF974A-A3DE-F912-EDB3-B3407C3EB68B}"/>
              </a:ext>
            </a:extLst>
          </p:cNvPr>
          <p:cNvCxnSpPr>
            <a:cxnSpLocks/>
          </p:cNvCxnSpPr>
          <p:nvPr/>
        </p:nvCxnSpPr>
        <p:spPr bwMode="auto">
          <a:xfrm>
            <a:off x="6462021" y="3609002"/>
            <a:ext cx="720008"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29" name="直線コネクタ 28">
            <a:extLst>
              <a:ext uri="{FF2B5EF4-FFF2-40B4-BE49-F238E27FC236}">
                <a16:creationId xmlns:a16="http://schemas.microsoft.com/office/drawing/2014/main" id="{E03B0ED5-6CDB-CCEB-D4EC-7B7AC418A7BC}"/>
              </a:ext>
            </a:extLst>
          </p:cNvPr>
          <p:cNvCxnSpPr>
            <a:cxnSpLocks/>
          </p:cNvCxnSpPr>
          <p:nvPr/>
        </p:nvCxnSpPr>
        <p:spPr bwMode="auto">
          <a:xfrm>
            <a:off x="5832014" y="3789004"/>
            <a:ext cx="720008" cy="0"/>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30" name="直線コネクタ 29">
            <a:extLst>
              <a:ext uri="{FF2B5EF4-FFF2-40B4-BE49-F238E27FC236}">
                <a16:creationId xmlns:a16="http://schemas.microsoft.com/office/drawing/2014/main" id="{2441B73F-667A-C20D-7689-61FC07EA47F8}"/>
              </a:ext>
            </a:extLst>
          </p:cNvPr>
          <p:cNvCxnSpPr>
            <a:cxnSpLocks/>
          </p:cNvCxnSpPr>
          <p:nvPr/>
        </p:nvCxnSpPr>
        <p:spPr bwMode="auto">
          <a:xfrm flipV="1">
            <a:off x="6822025" y="3068996"/>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32" name="直線コネクタ 31">
            <a:extLst>
              <a:ext uri="{FF2B5EF4-FFF2-40B4-BE49-F238E27FC236}">
                <a16:creationId xmlns:a16="http://schemas.microsoft.com/office/drawing/2014/main" id="{D9C688C6-B45D-782B-69F8-70700C4A7D23}"/>
              </a:ext>
            </a:extLst>
          </p:cNvPr>
          <p:cNvCxnSpPr>
            <a:cxnSpLocks/>
          </p:cNvCxnSpPr>
          <p:nvPr/>
        </p:nvCxnSpPr>
        <p:spPr bwMode="auto">
          <a:xfrm flipV="1">
            <a:off x="6642023" y="4239009"/>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33" name="直線コネクタ 32">
            <a:extLst>
              <a:ext uri="{FF2B5EF4-FFF2-40B4-BE49-F238E27FC236}">
                <a16:creationId xmlns:a16="http://schemas.microsoft.com/office/drawing/2014/main" id="{F2D20371-79DC-3D61-26E0-131EE3E83AA6}"/>
              </a:ext>
            </a:extLst>
          </p:cNvPr>
          <p:cNvCxnSpPr>
            <a:cxnSpLocks/>
          </p:cNvCxnSpPr>
          <p:nvPr/>
        </p:nvCxnSpPr>
        <p:spPr bwMode="auto">
          <a:xfrm flipV="1">
            <a:off x="7002027" y="4239009"/>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35" name="直線コネクタ 34">
            <a:extLst>
              <a:ext uri="{FF2B5EF4-FFF2-40B4-BE49-F238E27FC236}">
                <a16:creationId xmlns:a16="http://schemas.microsoft.com/office/drawing/2014/main" id="{3F722863-93FD-AA45-E9B0-57A3C2B65BD4}"/>
              </a:ext>
            </a:extLst>
          </p:cNvPr>
          <p:cNvCxnSpPr>
            <a:cxnSpLocks/>
          </p:cNvCxnSpPr>
          <p:nvPr/>
        </p:nvCxnSpPr>
        <p:spPr bwMode="auto">
          <a:xfrm flipV="1">
            <a:off x="6462021" y="4059007"/>
            <a:ext cx="0" cy="720008"/>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sp>
        <p:nvSpPr>
          <p:cNvPr id="37" name="Rectangle 93">
            <a:extLst>
              <a:ext uri="{FF2B5EF4-FFF2-40B4-BE49-F238E27FC236}">
                <a16:creationId xmlns:a16="http://schemas.microsoft.com/office/drawing/2014/main" id="{2F5DC869-19F2-8204-79D7-637DAC24868F}"/>
              </a:ext>
            </a:extLst>
          </p:cNvPr>
          <p:cNvSpPr>
            <a:spLocks noChangeArrowheads="1"/>
          </p:cNvSpPr>
          <p:nvPr/>
        </p:nvSpPr>
        <p:spPr bwMode="auto">
          <a:xfrm>
            <a:off x="6822025" y="2798993"/>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Plate (anode)</a:t>
            </a:r>
          </a:p>
        </p:txBody>
      </p:sp>
      <p:sp>
        <p:nvSpPr>
          <p:cNvPr id="38" name="Rectangle 93">
            <a:extLst>
              <a:ext uri="{FF2B5EF4-FFF2-40B4-BE49-F238E27FC236}">
                <a16:creationId xmlns:a16="http://schemas.microsoft.com/office/drawing/2014/main" id="{95155F01-F072-5F10-5E8E-4D8A5BAFCCFD}"/>
              </a:ext>
            </a:extLst>
          </p:cNvPr>
          <p:cNvSpPr>
            <a:spLocks noChangeArrowheads="1"/>
          </p:cNvSpPr>
          <p:nvPr/>
        </p:nvSpPr>
        <p:spPr bwMode="auto">
          <a:xfrm>
            <a:off x="5292008"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Grid</a:t>
            </a:r>
          </a:p>
        </p:txBody>
      </p:sp>
      <p:sp>
        <p:nvSpPr>
          <p:cNvPr id="39" name="Rectangle 93">
            <a:extLst>
              <a:ext uri="{FF2B5EF4-FFF2-40B4-BE49-F238E27FC236}">
                <a16:creationId xmlns:a16="http://schemas.microsoft.com/office/drawing/2014/main" id="{7EA9552E-EF68-CFCF-D91C-44B02B9B18CE}"/>
              </a:ext>
            </a:extLst>
          </p:cNvPr>
          <p:cNvSpPr>
            <a:spLocks noChangeArrowheads="1"/>
          </p:cNvSpPr>
          <p:nvPr/>
        </p:nvSpPr>
        <p:spPr bwMode="auto">
          <a:xfrm>
            <a:off x="7002027" y="441901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Heater</a:t>
            </a:r>
          </a:p>
        </p:txBody>
      </p:sp>
      <p:sp>
        <p:nvSpPr>
          <p:cNvPr id="40" name="Rectangle 93">
            <a:extLst>
              <a:ext uri="{FF2B5EF4-FFF2-40B4-BE49-F238E27FC236}">
                <a16:creationId xmlns:a16="http://schemas.microsoft.com/office/drawing/2014/main" id="{21257B0F-A9E1-FB2D-02FA-465265D69E06}"/>
              </a:ext>
            </a:extLst>
          </p:cNvPr>
          <p:cNvSpPr>
            <a:spLocks noChangeArrowheads="1"/>
          </p:cNvSpPr>
          <p:nvPr/>
        </p:nvSpPr>
        <p:spPr bwMode="auto">
          <a:xfrm>
            <a:off x="5472010" y="441901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Cathode</a:t>
            </a:r>
          </a:p>
        </p:txBody>
      </p:sp>
      <p:pic>
        <p:nvPicPr>
          <p:cNvPr id="2052" name="Picture 4" descr="undefined">
            <a:extLst>
              <a:ext uri="{FF2B5EF4-FFF2-40B4-BE49-F238E27FC236}">
                <a16:creationId xmlns:a16="http://schemas.microsoft.com/office/drawing/2014/main" id="{D1F6FCD5-ED27-EF77-37C0-7D5AA6793D94}"/>
              </a:ext>
            </a:extLst>
          </p:cNvPr>
          <p:cNvPicPr>
            <a:picLocks noChangeAspect="1" noChangeArrowheads="1"/>
          </p:cNvPicPr>
          <p:nvPr/>
        </p:nvPicPr>
        <p:blipFill>
          <a:blip r:embed="rId4" cstate="hqprint">
            <a:extLst>
              <a:ext uri="{28A0092B-C50C-407E-A947-70E740481C1C}">
                <a14:useLocalDpi xmlns:a14="http://schemas.microsoft.com/office/drawing/2010/main"/>
              </a:ext>
            </a:extLst>
          </a:blip>
          <a:srcRect/>
          <a:stretch>
            <a:fillRect/>
          </a:stretch>
        </p:blipFill>
        <p:spPr bwMode="auto">
          <a:xfrm>
            <a:off x="1241963" y="3158997"/>
            <a:ext cx="1710019" cy="11723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63395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4CD660D-2F02-2611-DF3D-F83A6880E053}"/>
              </a:ext>
            </a:extLst>
          </p:cNvPr>
          <p:cNvSpPr>
            <a:spLocks noGrp="1"/>
          </p:cNvSpPr>
          <p:nvPr>
            <p:ph type="title"/>
          </p:nvPr>
        </p:nvSpPr>
        <p:spPr/>
        <p:txBody>
          <a:bodyPr/>
          <a:lstStyle/>
          <a:p>
            <a:r>
              <a:rPr kumimoji="1" lang="ja-JP" altLang="en-US" dirty="0"/>
              <a:t>真空管の動作</a:t>
            </a:r>
            <a:endParaRPr kumimoji="1" lang="en-US" dirty="0"/>
          </a:p>
        </p:txBody>
      </p:sp>
      <p:sp>
        <p:nvSpPr>
          <p:cNvPr id="3" name="コンテンツ プレースホルダー 2">
            <a:extLst>
              <a:ext uri="{FF2B5EF4-FFF2-40B4-BE49-F238E27FC236}">
                <a16:creationId xmlns:a16="http://schemas.microsoft.com/office/drawing/2014/main" id="{AF6E3B63-7583-224B-E404-5F2D56EA2BD2}"/>
              </a:ext>
            </a:extLst>
          </p:cNvPr>
          <p:cNvSpPr>
            <a:spLocks noGrp="1"/>
          </p:cNvSpPr>
          <p:nvPr>
            <p:ph sz="quarter" idx="10"/>
          </p:nvPr>
        </p:nvSpPr>
        <p:spPr>
          <a:xfrm>
            <a:off x="251952" y="1178975"/>
            <a:ext cx="8280092" cy="5220059"/>
          </a:xfrm>
        </p:spPr>
        <p:txBody>
          <a:bodyPr anchor="t"/>
          <a:lstStyle/>
          <a:p>
            <a:r>
              <a:rPr kumimoji="1" lang="ja-JP" altLang="en-US" dirty="0"/>
              <a:t>動作：</a:t>
            </a:r>
            <a:endParaRPr kumimoji="1" lang="en-US" altLang="ja-JP" dirty="0"/>
          </a:p>
          <a:p>
            <a:pPr marL="817200" lvl="1" indent="-457200">
              <a:buFont typeface="+mj-lt"/>
              <a:buAutoNum type="arabicPeriod"/>
            </a:pPr>
            <a:r>
              <a:rPr lang="en-US" altLang="ja-JP" dirty="0"/>
              <a:t>Plate </a:t>
            </a:r>
            <a:r>
              <a:rPr lang="ja-JP" altLang="en-US" dirty="0"/>
              <a:t>に正の電圧を，</a:t>
            </a:r>
            <a:r>
              <a:rPr lang="en-US" altLang="ja-JP" dirty="0"/>
              <a:t>Cathode </a:t>
            </a:r>
            <a:r>
              <a:rPr lang="ja-JP" altLang="en-US" dirty="0"/>
              <a:t>に負の電圧をかける</a:t>
            </a:r>
            <a:endParaRPr lang="en-US" altLang="ja-JP" dirty="0"/>
          </a:p>
          <a:p>
            <a:pPr marL="817200" lvl="1" indent="-457200">
              <a:buFont typeface="+mj-lt"/>
              <a:buAutoNum type="arabicPeriod"/>
            </a:pPr>
            <a:r>
              <a:rPr kumimoji="1" lang="en-US" altLang="ja-JP" dirty="0"/>
              <a:t>Heater</a:t>
            </a:r>
            <a:r>
              <a:rPr kumimoji="1" lang="ja-JP" altLang="en-US" dirty="0"/>
              <a:t>（電球のフィラメント）に電源を接続</a:t>
            </a:r>
            <a:endParaRPr kumimoji="1" lang="en-US" altLang="ja-JP" dirty="0"/>
          </a:p>
          <a:p>
            <a:pPr marL="817200" lvl="1" indent="-457200">
              <a:buFont typeface="+mj-lt"/>
              <a:buAutoNum type="arabicPeriod"/>
            </a:pPr>
            <a:r>
              <a:rPr kumimoji="1" lang="ja-JP" altLang="en-US" dirty="0"/>
              <a:t>暖められた </a:t>
            </a:r>
            <a:r>
              <a:rPr kumimoji="1" lang="en-US" altLang="ja-JP" dirty="0"/>
              <a:t>Cathode </a:t>
            </a:r>
            <a:r>
              <a:rPr kumimoji="1" lang="ja-JP" altLang="en-US" dirty="0"/>
              <a:t>が電子を放出</a:t>
            </a:r>
            <a:endParaRPr kumimoji="1" lang="en-US" altLang="ja-JP" dirty="0"/>
          </a:p>
          <a:p>
            <a:pPr marL="817200" lvl="1" indent="-457200">
              <a:buFont typeface="+mj-lt"/>
              <a:buAutoNum type="arabicPeriod"/>
            </a:pPr>
            <a:r>
              <a:rPr lang="en-US" altLang="ja-JP" dirty="0"/>
              <a:t>Plate </a:t>
            </a:r>
            <a:r>
              <a:rPr lang="ja-JP" altLang="en-US" dirty="0"/>
              <a:t>に電子が吸い寄せられる</a:t>
            </a:r>
            <a:endParaRPr lang="en-US" altLang="ja-JP" dirty="0"/>
          </a:p>
          <a:p>
            <a:pPr lvl="2"/>
            <a:r>
              <a:rPr kumimoji="1" lang="ja-JP" altLang="en-US" dirty="0"/>
              <a:t>電子が移動する </a:t>
            </a:r>
            <a:r>
              <a:rPr kumimoji="1" lang="en-US" altLang="ja-JP" dirty="0"/>
              <a:t>= </a:t>
            </a:r>
            <a:r>
              <a:rPr kumimoji="1" lang="ja-JP" altLang="en-US" dirty="0"/>
              <a:t>それらの間に電流が流れる</a:t>
            </a:r>
            <a:endParaRPr kumimoji="1" lang="en-US" altLang="ja-JP" dirty="0"/>
          </a:p>
          <a:p>
            <a:r>
              <a:rPr kumimoji="1" lang="ja-JP" altLang="en-US" dirty="0"/>
              <a:t>スイッチング</a:t>
            </a:r>
            <a:endParaRPr kumimoji="1" lang="en-US" altLang="ja-JP" dirty="0"/>
          </a:p>
          <a:p>
            <a:pPr lvl="1"/>
            <a:r>
              <a:rPr kumimoji="1" lang="ja-JP" altLang="en-US" dirty="0"/>
              <a:t>なにもしなければ </a:t>
            </a:r>
            <a:r>
              <a:rPr kumimoji="1" lang="en-US" altLang="ja-JP" dirty="0"/>
              <a:t>Grid </a:t>
            </a:r>
            <a:r>
              <a:rPr kumimoji="1" lang="ja-JP" altLang="en-US" dirty="0"/>
              <a:t>は網なので電子は</a:t>
            </a:r>
            <a:br>
              <a:rPr kumimoji="1" lang="en-US" altLang="ja-JP" dirty="0"/>
            </a:br>
            <a:r>
              <a:rPr kumimoji="1" lang="ja-JP" altLang="en-US" dirty="0"/>
              <a:t>すき間を通過</a:t>
            </a:r>
            <a:endParaRPr kumimoji="1" lang="en-US" altLang="ja-JP" dirty="0"/>
          </a:p>
          <a:p>
            <a:pPr lvl="1"/>
            <a:r>
              <a:rPr kumimoji="1" lang="en-US" altLang="ja-JP" dirty="0"/>
              <a:t>Grid </a:t>
            </a:r>
            <a:r>
              <a:rPr kumimoji="1" lang="ja-JP" altLang="en-US" dirty="0"/>
              <a:t>に負の電圧をかける</a:t>
            </a:r>
            <a:endParaRPr kumimoji="1" lang="en-US" altLang="ja-JP" dirty="0"/>
          </a:p>
          <a:p>
            <a:pPr lvl="1"/>
            <a:r>
              <a:rPr kumimoji="1" lang="ja-JP" altLang="en-US" dirty="0"/>
              <a:t>負同士ではじきあうので，電子が上にいけなくなり電流が </a:t>
            </a:r>
            <a:r>
              <a:rPr kumimoji="1" lang="en-US" altLang="ja-JP" dirty="0"/>
              <a:t>OFF</a:t>
            </a:r>
            <a:endParaRPr kumimoji="1" lang="en-US" dirty="0">
              <a:solidFill>
                <a:schemeClr val="accent5"/>
              </a:solidFill>
            </a:endParaRPr>
          </a:p>
        </p:txBody>
      </p:sp>
      <p:sp>
        <p:nvSpPr>
          <p:cNvPr id="4" name="楕円 3">
            <a:extLst>
              <a:ext uri="{FF2B5EF4-FFF2-40B4-BE49-F238E27FC236}">
                <a16:creationId xmlns:a16="http://schemas.microsoft.com/office/drawing/2014/main" id="{65D0F838-8850-9E51-F8B3-AC2AEE335F96}"/>
              </a:ext>
            </a:extLst>
          </p:cNvPr>
          <p:cNvSpPr/>
          <p:nvPr/>
        </p:nvSpPr>
        <p:spPr bwMode="auto">
          <a:xfrm>
            <a:off x="7092028" y="3609002"/>
            <a:ext cx="1260014" cy="1260014"/>
          </a:xfrm>
          <a:prstGeom prst="ellipse">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5" name="直線コネクタ 4">
            <a:extLst>
              <a:ext uri="{FF2B5EF4-FFF2-40B4-BE49-F238E27FC236}">
                <a16:creationId xmlns:a16="http://schemas.microsoft.com/office/drawing/2014/main" id="{DA77C0D3-3FEB-4EB8-7A30-D66E2D33C4BD}"/>
              </a:ext>
            </a:extLst>
          </p:cNvPr>
          <p:cNvCxnSpPr>
            <a:cxnSpLocks/>
          </p:cNvCxnSpPr>
          <p:nvPr/>
        </p:nvCxnSpPr>
        <p:spPr bwMode="auto">
          <a:xfrm>
            <a:off x="7362030" y="4329010"/>
            <a:ext cx="720008"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6" name="直線コネクタ 5">
            <a:extLst>
              <a:ext uri="{FF2B5EF4-FFF2-40B4-BE49-F238E27FC236}">
                <a16:creationId xmlns:a16="http://schemas.microsoft.com/office/drawing/2014/main" id="{C3976CAB-E9CB-2822-5CC2-E6AD89474D74}"/>
              </a:ext>
            </a:extLst>
          </p:cNvPr>
          <p:cNvCxnSpPr>
            <a:cxnSpLocks/>
          </p:cNvCxnSpPr>
          <p:nvPr/>
        </p:nvCxnSpPr>
        <p:spPr bwMode="auto">
          <a:xfrm flipV="1">
            <a:off x="7362030" y="4329010"/>
            <a:ext cx="0" cy="90001"/>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7" name="直線コネクタ 6">
            <a:extLst>
              <a:ext uri="{FF2B5EF4-FFF2-40B4-BE49-F238E27FC236}">
                <a16:creationId xmlns:a16="http://schemas.microsoft.com/office/drawing/2014/main" id="{D036E5CD-2325-646E-5170-BC9113EE7538}"/>
              </a:ext>
            </a:extLst>
          </p:cNvPr>
          <p:cNvCxnSpPr>
            <a:cxnSpLocks/>
          </p:cNvCxnSpPr>
          <p:nvPr/>
        </p:nvCxnSpPr>
        <p:spPr bwMode="auto">
          <a:xfrm flipV="1">
            <a:off x="8082038" y="4329010"/>
            <a:ext cx="0" cy="90001"/>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8" name="直線コネクタ 7">
            <a:extLst>
              <a:ext uri="{FF2B5EF4-FFF2-40B4-BE49-F238E27FC236}">
                <a16:creationId xmlns:a16="http://schemas.microsoft.com/office/drawing/2014/main" id="{1D2F36E7-776A-9669-D12F-D40D6F04AC40}"/>
              </a:ext>
            </a:extLst>
          </p:cNvPr>
          <p:cNvCxnSpPr>
            <a:cxnSpLocks/>
          </p:cNvCxnSpPr>
          <p:nvPr/>
        </p:nvCxnSpPr>
        <p:spPr bwMode="auto">
          <a:xfrm>
            <a:off x="7992037" y="4149008"/>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9" name="直線コネクタ 8">
            <a:extLst>
              <a:ext uri="{FF2B5EF4-FFF2-40B4-BE49-F238E27FC236}">
                <a16:creationId xmlns:a16="http://schemas.microsoft.com/office/drawing/2014/main" id="{F8680BFB-2777-C484-57A9-3B5C2EEC7E16}"/>
              </a:ext>
            </a:extLst>
          </p:cNvPr>
          <p:cNvCxnSpPr>
            <a:cxnSpLocks/>
          </p:cNvCxnSpPr>
          <p:nvPr/>
        </p:nvCxnSpPr>
        <p:spPr bwMode="auto">
          <a:xfrm>
            <a:off x="7812035" y="4149008"/>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0" name="直線コネクタ 9">
            <a:extLst>
              <a:ext uri="{FF2B5EF4-FFF2-40B4-BE49-F238E27FC236}">
                <a16:creationId xmlns:a16="http://schemas.microsoft.com/office/drawing/2014/main" id="{354DE72C-48BF-5394-28DB-B8363ECE98AD}"/>
              </a:ext>
            </a:extLst>
          </p:cNvPr>
          <p:cNvCxnSpPr>
            <a:cxnSpLocks/>
          </p:cNvCxnSpPr>
          <p:nvPr/>
        </p:nvCxnSpPr>
        <p:spPr bwMode="auto">
          <a:xfrm>
            <a:off x="7632033" y="4149008"/>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1" name="直線コネクタ 10">
            <a:extLst>
              <a:ext uri="{FF2B5EF4-FFF2-40B4-BE49-F238E27FC236}">
                <a16:creationId xmlns:a16="http://schemas.microsoft.com/office/drawing/2014/main" id="{1B702B6C-DF20-8803-0B75-10B8DB60CFA7}"/>
              </a:ext>
            </a:extLst>
          </p:cNvPr>
          <p:cNvCxnSpPr>
            <a:cxnSpLocks/>
          </p:cNvCxnSpPr>
          <p:nvPr/>
        </p:nvCxnSpPr>
        <p:spPr bwMode="auto">
          <a:xfrm>
            <a:off x="7452031" y="4149008"/>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2" name="直線コネクタ 11">
            <a:extLst>
              <a:ext uri="{FF2B5EF4-FFF2-40B4-BE49-F238E27FC236}">
                <a16:creationId xmlns:a16="http://schemas.microsoft.com/office/drawing/2014/main" id="{E0DB4673-2E7E-54FD-D7FF-CC1D2CE85577}"/>
              </a:ext>
            </a:extLst>
          </p:cNvPr>
          <p:cNvCxnSpPr>
            <a:cxnSpLocks/>
          </p:cNvCxnSpPr>
          <p:nvPr/>
        </p:nvCxnSpPr>
        <p:spPr bwMode="auto">
          <a:xfrm flipV="1">
            <a:off x="7542032" y="4419011"/>
            <a:ext cx="180002" cy="180002"/>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3" name="直線コネクタ 12">
            <a:extLst>
              <a:ext uri="{FF2B5EF4-FFF2-40B4-BE49-F238E27FC236}">
                <a16:creationId xmlns:a16="http://schemas.microsoft.com/office/drawing/2014/main" id="{F2353922-6CB8-7E99-0BB1-ADDCC3CD744F}"/>
              </a:ext>
            </a:extLst>
          </p:cNvPr>
          <p:cNvCxnSpPr>
            <a:cxnSpLocks/>
          </p:cNvCxnSpPr>
          <p:nvPr/>
        </p:nvCxnSpPr>
        <p:spPr bwMode="auto">
          <a:xfrm>
            <a:off x="7722034" y="4419011"/>
            <a:ext cx="180002" cy="180002"/>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4" name="直線コネクタ 13">
            <a:extLst>
              <a:ext uri="{FF2B5EF4-FFF2-40B4-BE49-F238E27FC236}">
                <a16:creationId xmlns:a16="http://schemas.microsoft.com/office/drawing/2014/main" id="{A73D3CA2-3F71-2077-CE8B-A251097D53E0}"/>
              </a:ext>
            </a:extLst>
          </p:cNvPr>
          <p:cNvCxnSpPr>
            <a:cxnSpLocks/>
          </p:cNvCxnSpPr>
          <p:nvPr/>
        </p:nvCxnSpPr>
        <p:spPr bwMode="auto">
          <a:xfrm>
            <a:off x="7362030" y="3969006"/>
            <a:ext cx="720008"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5" name="直線コネクタ 14">
            <a:extLst>
              <a:ext uri="{FF2B5EF4-FFF2-40B4-BE49-F238E27FC236}">
                <a16:creationId xmlns:a16="http://schemas.microsoft.com/office/drawing/2014/main" id="{798F9031-D91B-9D6D-07E2-FC5F73C2033B}"/>
              </a:ext>
            </a:extLst>
          </p:cNvPr>
          <p:cNvCxnSpPr>
            <a:cxnSpLocks/>
          </p:cNvCxnSpPr>
          <p:nvPr/>
        </p:nvCxnSpPr>
        <p:spPr bwMode="auto">
          <a:xfrm>
            <a:off x="6732023" y="4149008"/>
            <a:ext cx="720008" cy="0"/>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6" name="直線コネクタ 15">
            <a:extLst>
              <a:ext uri="{FF2B5EF4-FFF2-40B4-BE49-F238E27FC236}">
                <a16:creationId xmlns:a16="http://schemas.microsoft.com/office/drawing/2014/main" id="{478B4D91-8E99-CB77-6E33-E238A9DB4B47}"/>
              </a:ext>
            </a:extLst>
          </p:cNvPr>
          <p:cNvCxnSpPr>
            <a:cxnSpLocks/>
          </p:cNvCxnSpPr>
          <p:nvPr/>
        </p:nvCxnSpPr>
        <p:spPr bwMode="auto">
          <a:xfrm flipV="1">
            <a:off x="7722034" y="3429000"/>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7" name="直線コネクタ 16">
            <a:extLst>
              <a:ext uri="{FF2B5EF4-FFF2-40B4-BE49-F238E27FC236}">
                <a16:creationId xmlns:a16="http://schemas.microsoft.com/office/drawing/2014/main" id="{7647A1D0-BDEF-BFB4-0A79-2D56B33528BB}"/>
              </a:ext>
            </a:extLst>
          </p:cNvPr>
          <p:cNvCxnSpPr>
            <a:cxnSpLocks/>
          </p:cNvCxnSpPr>
          <p:nvPr/>
        </p:nvCxnSpPr>
        <p:spPr bwMode="auto">
          <a:xfrm flipV="1">
            <a:off x="7542032" y="4599013"/>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8" name="直線コネクタ 17">
            <a:extLst>
              <a:ext uri="{FF2B5EF4-FFF2-40B4-BE49-F238E27FC236}">
                <a16:creationId xmlns:a16="http://schemas.microsoft.com/office/drawing/2014/main" id="{F82C4B8B-8B93-936A-8300-F0E0647CB5C1}"/>
              </a:ext>
            </a:extLst>
          </p:cNvPr>
          <p:cNvCxnSpPr>
            <a:cxnSpLocks/>
          </p:cNvCxnSpPr>
          <p:nvPr/>
        </p:nvCxnSpPr>
        <p:spPr bwMode="auto">
          <a:xfrm flipV="1">
            <a:off x="7902036" y="4599013"/>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9" name="直線コネクタ 18">
            <a:extLst>
              <a:ext uri="{FF2B5EF4-FFF2-40B4-BE49-F238E27FC236}">
                <a16:creationId xmlns:a16="http://schemas.microsoft.com/office/drawing/2014/main" id="{22B15DB4-ABB7-C29C-C640-BE6476F64166}"/>
              </a:ext>
            </a:extLst>
          </p:cNvPr>
          <p:cNvCxnSpPr>
            <a:cxnSpLocks/>
          </p:cNvCxnSpPr>
          <p:nvPr/>
        </p:nvCxnSpPr>
        <p:spPr bwMode="auto">
          <a:xfrm flipV="1">
            <a:off x="7362030" y="4419011"/>
            <a:ext cx="0" cy="720008"/>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sp>
        <p:nvSpPr>
          <p:cNvPr id="20" name="Rectangle 93">
            <a:extLst>
              <a:ext uri="{FF2B5EF4-FFF2-40B4-BE49-F238E27FC236}">
                <a16:creationId xmlns:a16="http://schemas.microsoft.com/office/drawing/2014/main" id="{32DA5D25-38A0-DAAA-B66B-06A16886F1C7}"/>
              </a:ext>
            </a:extLst>
          </p:cNvPr>
          <p:cNvSpPr>
            <a:spLocks noChangeArrowheads="1"/>
          </p:cNvSpPr>
          <p:nvPr/>
        </p:nvSpPr>
        <p:spPr bwMode="auto">
          <a:xfrm>
            <a:off x="7722034" y="3158997"/>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Plate (anode)</a:t>
            </a:r>
          </a:p>
        </p:txBody>
      </p:sp>
      <p:sp>
        <p:nvSpPr>
          <p:cNvPr id="21" name="Rectangle 93">
            <a:extLst>
              <a:ext uri="{FF2B5EF4-FFF2-40B4-BE49-F238E27FC236}">
                <a16:creationId xmlns:a16="http://schemas.microsoft.com/office/drawing/2014/main" id="{3DC293EC-F468-8704-CE25-043E2B5C124A}"/>
              </a:ext>
            </a:extLst>
          </p:cNvPr>
          <p:cNvSpPr>
            <a:spLocks noChangeArrowheads="1"/>
          </p:cNvSpPr>
          <p:nvPr/>
        </p:nvSpPr>
        <p:spPr bwMode="auto">
          <a:xfrm>
            <a:off x="6192017" y="3789004"/>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Grid</a:t>
            </a:r>
          </a:p>
        </p:txBody>
      </p:sp>
      <p:sp>
        <p:nvSpPr>
          <p:cNvPr id="22" name="Rectangle 93">
            <a:extLst>
              <a:ext uri="{FF2B5EF4-FFF2-40B4-BE49-F238E27FC236}">
                <a16:creationId xmlns:a16="http://schemas.microsoft.com/office/drawing/2014/main" id="{0770669C-BDC8-FF44-9577-3310FFC591FA}"/>
              </a:ext>
            </a:extLst>
          </p:cNvPr>
          <p:cNvSpPr>
            <a:spLocks noChangeArrowheads="1"/>
          </p:cNvSpPr>
          <p:nvPr/>
        </p:nvSpPr>
        <p:spPr bwMode="auto">
          <a:xfrm>
            <a:off x="7902036" y="4779015"/>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Heater</a:t>
            </a:r>
          </a:p>
        </p:txBody>
      </p:sp>
      <p:sp>
        <p:nvSpPr>
          <p:cNvPr id="23" name="Rectangle 93">
            <a:extLst>
              <a:ext uri="{FF2B5EF4-FFF2-40B4-BE49-F238E27FC236}">
                <a16:creationId xmlns:a16="http://schemas.microsoft.com/office/drawing/2014/main" id="{5F68E55F-49DA-0CDD-8255-03F968360535}"/>
              </a:ext>
            </a:extLst>
          </p:cNvPr>
          <p:cNvSpPr>
            <a:spLocks noChangeArrowheads="1"/>
          </p:cNvSpPr>
          <p:nvPr/>
        </p:nvSpPr>
        <p:spPr bwMode="auto">
          <a:xfrm>
            <a:off x="6372019" y="4779015"/>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Cathode</a:t>
            </a:r>
          </a:p>
        </p:txBody>
      </p:sp>
    </p:spTree>
    <p:extLst>
      <p:ext uri="{BB962C8B-B14F-4D97-AF65-F5344CB8AC3E}">
        <p14:creationId xmlns:p14="http://schemas.microsoft.com/office/powerpoint/2010/main" val="29746702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4CD660D-2F02-2611-DF3D-F83A6880E053}"/>
              </a:ext>
            </a:extLst>
          </p:cNvPr>
          <p:cNvSpPr>
            <a:spLocks noGrp="1"/>
          </p:cNvSpPr>
          <p:nvPr>
            <p:ph type="title"/>
          </p:nvPr>
        </p:nvSpPr>
        <p:spPr/>
        <p:txBody>
          <a:bodyPr/>
          <a:lstStyle/>
          <a:p>
            <a:r>
              <a:rPr kumimoji="1" lang="ja-JP" altLang="en-US" dirty="0"/>
              <a:t>真空管</a:t>
            </a:r>
            <a:endParaRPr kumimoji="1" lang="en-US" dirty="0"/>
          </a:p>
        </p:txBody>
      </p:sp>
      <p:sp>
        <p:nvSpPr>
          <p:cNvPr id="3" name="コンテンツ プレースホルダー 2">
            <a:extLst>
              <a:ext uri="{FF2B5EF4-FFF2-40B4-BE49-F238E27FC236}">
                <a16:creationId xmlns:a16="http://schemas.microsoft.com/office/drawing/2014/main" id="{AF6E3B63-7583-224B-E404-5F2D56EA2BD2}"/>
              </a:ext>
            </a:extLst>
          </p:cNvPr>
          <p:cNvSpPr>
            <a:spLocks noGrp="1"/>
          </p:cNvSpPr>
          <p:nvPr>
            <p:ph sz="quarter" idx="10"/>
          </p:nvPr>
        </p:nvSpPr>
        <p:spPr>
          <a:xfrm>
            <a:off x="251952" y="908972"/>
            <a:ext cx="8280092" cy="1170013"/>
          </a:xfrm>
        </p:spPr>
        <p:txBody>
          <a:bodyPr anchor="ctr"/>
          <a:lstStyle/>
          <a:p>
            <a:r>
              <a:rPr kumimoji="1" lang="en-US" altLang="ja-JP" dirty="0"/>
              <a:t>Grid </a:t>
            </a:r>
            <a:r>
              <a:rPr kumimoji="1" lang="ja-JP" altLang="en-US" dirty="0"/>
              <a:t>にかける電圧で，</a:t>
            </a:r>
            <a:r>
              <a:rPr kumimoji="1" lang="en-US" altLang="ja-JP" dirty="0"/>
              <a:t>Cathode </a:t>
            </a:r>
            <a:r>
              <a:rPr kumimoji="1" lang="ja-JP" altLang="en-US" dirty="0"/>
              <a:t>と </a:t>
            </a:r>
            <a:r>
              <a:rPr kumimoji="1" lang="en-US" altLang="ja-JP" dirty="0"/>
              <a:t>Plate </a:t>
            </a:r>
            <a:r>
              <a:rPr kumimoji="1" lang="ja-JP" altLang="en-US" dirty="0"/>
              <a:t>を </a:t>
            </a:r>
            <a:r>
              <a:rPr kumimoji="1" lang="en-US" altLang="ja-JP" dirty="0"/>
              <a:t>ON/OFF </a:t>
            </a:r>
            <a:r>
              <a:rPr kumimoji="1" lang="ja-JP" altLang="en-US" dirty="0"/>
              <a:t>できる</a:t>
            </a:r>
            <a:endParaRPr kumimoji="1" lang="en-US" altLang="ja-JP" dirty="0"/>
          </a:p>
          <a:p>
            <a:pPr lvl="1"/>
            <a:r>
              <a:rPr kumimoji="1" lang="ja-JP" altLang="en-US" dirty="0">
                <a:solidFill>
                  <a:schemeClr val="accent5"/>
                </a:solidFill>
              </a:rPr>
              <a:t>つまり，これでもコンピュータが作れる</a:t>
            </a:r>
            <a:endParaRPr kumimoji="1" lang="en-US" dirty="0">
              <a:solidFill>
                <a:schemeClr val="accent5"/>
              </a:solidFill>
            </a:endParaRPr>
          </a:p>
        </p:txBody>
      </p:sp>
      <p:sp>
        <p:nvSpPr>
          <p:cNvPr id="4" name="楕円 3">
            <a:extLst>
              <a:ext uri="{FF2B5EF4-FFF2-40B4-BE49-F238E27FC236}">
                <a16:creationId xmlns:a16="http://schemas.microsoft.com/office/drawing/2014/main" id="{65D0F838-8850-9E51-F8B3-AC2AEE335F96}"/>
              </a:ext>
            </a:extLst>
          </p:cNvPr>
          <p:cNvSpPr/>
          <p:nvPr/>
        </p:nvSpPr>
        <p:spPr bwMode="auto">
          <a:xfrm>
            <a:off x="3581989" y="2348988"/>
            <a:ext cx="1260014" cy="1260014"/>
          </a:xfrm>
          <a:prstGeom prst="ellipse">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5" name="直線コネクタ 4">
            <a:extLst>
              <a:ext uri="{FF2B5EF4-FFF2-40B4-BE49-F238E27FC236}">
                <a16:creationId xmlns:a16="http://schemas.microsoft.com/office/drawing/2014/main" id="{DA77C0D3-3FEB-4EB8-7A30-D66E2D33C4BD}"/>
              </a:ext>
            </a:extLst>
          </p:cNvPr>
          <p:cNvCxnSpPr>
            <a:cxnSpLocks/>
          </p:cNvCxnSpPr>
          <p:nvPr/>
        </p:nvCxnSpPr>
        <p:spPr bwMode="auto">
          <a:xfrm>
            <a:off x="3851991" y="3068996"/>
            <a:ext cx="720008"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6" name="直線コネクタ 5">
            <a:extLst>
              <a:ext uri="{FF2B5EF4-FFF2-40B4-BE49-F238E27FC236}">
                <a16:creationId xmlns:a16="http://schemas.microsoft.com/office/drawing/2014/main" id="{C3976CAB-E9CB-2822-5CC2-E6AD89474D74}"/>
              </a:ext>
            </a:extLst>
          </p:cNvPr>
          <p:cNvCxnSpPr>
            <a:cxnSpLocks/>
          </p:cNvCxnSpPr>
          <p:nvPr/>
        </p:nvCxnSpPr>
        <p:spPr bwMode="auto">
          <a:xfrm flipV="1">
            <a:off x="3851991" y="3068996"/>
            <a:ext cx="0" cy="90001"/>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7" name="直線コネクタ 6">
            <a:extLst>
              <a:ext uri="{FF2B5EF4-FFF2-40B4-BE49-F238E27FC236}">
                <a16:creationId xmlns:a16="http://schemas.microsoft.com/office/drawing/2014/main" id="{D036E5CD-2325-646E-5170-BC9113EE7538}"/>
              </a:ext>
            </a:extLst>
          </p:cNvPr>
          <p:cNvCxnSpPr>
            <a:cxnSpLocks/>
          </p:cNvCxnSpPr>
          <p:nvPr/>
        </p:nvCxnSpPr>
        <p:spPr bwMode="auto">
          <a:xfrm flipV="1">
            <a:off x="4571999" y="3068996"/>
            <a:ext cx="0" cy="90001"/>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8" name="直線コネクタ 7">
            <a:extLst>
              <a:ext uri="{FF2B5EF4-FFF2-40B4-BE49-F238E27FC236}">
                <a16:creationId xmlns:a16="http://schemas.microsoft.com/office/drawing/2014/main" id="{1D2F36E7-776A-9669-D12F-D40D6F04AC40}"/>
              </a:ext>
            </a:extLst>
          </p:cNvPr>
          <p:cNvCxnSpPr>
            <a:cxnSpLocks/>
          </p:cNvCxnSpPr>
          <p:nvPr/>
        </p:nvCxnSpPr>
        <p:spPr bwMode="auto">
          <a:xfrm>
            <a:off x="4481998" y="288899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9" name="直線コネクタ 8">
            <a:extLst>
              <a:ext uri="{FF2B5EF4-FFF2-40B4-BE49-F238E27FC236}">
                <a16:creationId xmlns:a16="http://schemas.microsoft.com/office/drawing/2014/main" id="{F8680BFB-2777-C484-57A9-3B5C2EEC7E16}"/>
              </a:ext>
            </a:extLst>
          </p:cNvPr>
          <p:cNvCxnSpPr>
            <a:cxnSpLocks/>
          </p:cNvCxnSpPr>
          <p:nvPr/>
        </p:nvCxnSpPr>
        <p:spPr bwMode="auto">
          <a:xfrm>
            <a:off x="4301996" y="288899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0" name="直線コネクタ 9">
            <a:extLst>
              <a:ext uri="{FF2B5EF4-FFF2-40B4-BE49-F238E27FC236}">
                <a16:creationId xmlns:a16="http://schemas.microsoft.com/office/drawing/2014/main" id="{354DE72C-48BF-5394-28DB-B8363ECE98AD}"/>
              </a:ext>
            </a:extLst>
          </p:cNvPr>
          <p:cNvCxnSpPr>
            <a:cxnSpLocks/>
          </p:cNvCxnSpPr>
          <p:nvPr/>
        </p:nvCxnSpPr>
        <p:spPr bwMode="auto">
          <a:xfrm>
            <a:off x="4121994" y="288899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1" name="直線コネクタ 10">
            <a:extLst>
              <a:ext uri="{FF2B5EF4-FFF2-40B4-BE49-F238E27FC236}">
                <a16:creationId xmlns:a16="http://schemas.microsoft.com/office/drawing/2014/main" id="{1B702B6C-DF20-8803-0B75-10B8DB60CFA7}"/>
              </a:ext>
            </a:extLst>
          </p:cNvPr>
          <p:cNvCxnSpPr>
            <a:cxnSpLocks/>
          </p:cNvCxnSpPr>
          <p:nvPr/>
        </p:nvCxnSpPr>
        <p:spPr bwMode="auto">
          <a:xfrm>
            <a:off x="3941992" y="288899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2" name="直線コネクタ 11">
            <a:extLst>
              <a:ext uri="{FF2B5EF4-FFF2-40B4-BE49-F238E27FC236}">
                <a16:creationId xmlns:a16="http://schemas.microsoft.com/office/drawing/2014/main" id="{E0DB4673-2E7E-54FD-D7FF-CC1D2CE85577}"/>
              </a:ext>
            </a:extLst>
          </p:cNvPr>
          <p:cNvCxnSpPr>
            <a:cxnSpLocks/>
          </p:cNvCxnSpPr>
          <p:nvPr/>
        </p:nvCxnSpPr>
        <p:spPr bwMode="auto">
          <a:xfrm flipV="1">
            <a:off x="4031993" y="3158997"/>
            <a:ext cx="180002" cy="180002"/>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3" name="直線コネクタ 12">
            <a:extLst>
              <a:ext uri="{FF2B5EF4-FFF2-40B4-BE49-F238E27FC236}">
                <a16:creationId xmlns:a16="http://schemas.microsoft.com/office/drawing/2014/main" id="{F2353922-6CB8-7E99-0BB1-ADDCC3CD744F}"/>
              </a:ext>
            </a:extLst>
          </p:cNvPr>
          <p:cNvCxnSpPr>
            <a:cxnSpLocks/>
          </p:cNvCxnSpPr>
          <p:nvPr/>
        </p:nvCxnSpPr>
        <p:spPr bwMode="auto">
          <a:xfrm>
            <a:off x="4211995" y="3158997"/>
            <a:ext cx="180002" cy="180002"/>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4" name="直線コネクタ 13">
            <a:extLst>
              <a:ext uri="{FF2B5EF4-FFF2-40B4-BE49-F238E27FC236}">
                <a16:creationId xmlns:a16="http://schemas.microsoft.com/office/drawing/2014/main" id="{A73D3CA2-3F71-2077-CE8B-A251097D53E0}"/>
              </a:ext>
            </a:extLst>
          </p:cNvPr>
          <p:cNvCxnSpPr>
            <a:cxnSpLocks/>
          </p:cNvCxnSpPr>
          <p:nvPr/>
        </p:nvCxnSpPr>
        <p:spPr bwMode="auto">
          <a:xfrm>
            <a:off x="3851991" y="2708992"/>
            <a:ext cx="720008"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5" name="直線コネクタ 14">
            <a:extLst>
              <a:ext uri="{FF2B5EF4-FFF2-40B4-BE49-F238E27FC236}">
                <a16:creationId xmlns:a16="http://schemas.microsoft.com/office/drawing/2014/main" id="{798F9031-D91B-9D6D-07E2-FC5F73C2033B}"/>
              </a:ext>
            </a:extLst>
          </p:cNvPr>
          <p:cNvCxnSpPr>
            <a:cxnSpLocks/>
          </p:cNvCxnSpPr>
          <p:nvPr/>
        </p:nvCxnSpPr>
        <p:spPr bwMode="auto">
          <a:xfrm>
            <a:off x="3221984" y="2888994"/>
            <a:ext cx="720008" cy="0"/>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6" name="直線コネクタ 15">
            <a:extLst>
              <a:ext uri="{FF2B5EF4-FFF2-40B4-BE49-F238E27FC236}">
                <a16:creationId xmlns:a16="http://schemas.microsoft.com/office/drawing/2014/main" id="{478B4D91-8E99-CB77-6E33-E238A9DB4B47}"/>
              </a:ext>
            </a:extLst>
          </p:cNvPr>
          <p:cNvCxnSpPr>
            <a:cxnSpLocks/>
          </p:cNvCxnSpPr>
          <p:nvPr/>
        </p:nvCxnSpPr>
        <p:spPr bwMode="auto">
          <a:xfrm flipV="1">
            <a:off x="4211995" y="2168986"/>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7" name="直線コネクタ 16">
            <a:extLst>
              <a:ext uri="{FF2B5EF4-FFF2-40B4-BE49-F238E27FC236}">
                <a16:creationId xmlns:a16="http://schemas.microsoft.com/office/drawing/2014/main" id="{7647A1D0-BDEF-BFB4-0A79-2D56B33528BB}"/>
              </a:ext>
            </a:extLst>
          </p:cNvPr>
          <p:cNvCxnSpPr>
            <a:cxnSpLocks/>
          </p:cNvCxnSpPr>
          <p:nvPr/>
        </p:nvCxnSpPr>
        <p:spPr bwMode="auto">
          <a:xfrm flipV="1">
            <a:off x="4031993" y="3338999"/>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8" name="直線コネクタ 17">
            <a:extLst>
              <a:ext uri="{FF2B5EF4-FFF2-40B4-BE49-F238E27FC236}">
                <a16:creationId xmlns:a16="http://schemas.microsoft.com/office/drawing/2014/main" id="{F82C4B8B-8B93-936A-8300-F0E0647CB5C1}"/>
              </a:ext>
            </a:extLst>
          </p:cNvPr>
          <p:cNvCxnSpPr>
            <a:cxnSpLocks/>
          </p:cNvCxnSpPr>
          <p:nvPr/>
        </p:nvCxnSpPr>
        <p:spPr bwMode="auto">
          <a:xfrm flipV="1">
            <a:off x="4391997" y="3338999"/>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9" name="直線コネクタ 18">
            <a:extLst>
              <a:ext uri="{FF2B5EF4-FFF2-40B4-BE49-F238E27FC236}">
                <a16:creationId xmlns:a16="http://schemas.microsoft.com/office/drawing/2014/main" id="{22B15DB4-ABB7-C29C-C640-BE6476F64166}"/>
              </a:ext>
            </a:extLst>
          </p:cNvPr>
          <p:cNvCxnSpPr>
            <a:cxnSpLocks/>
          </p:cNvCxnSpPr>
          <p:nvPr/>
        </p:nvCxnSpPr>
        <p:spPr bwMode="auto">
          <a:xfrm flipV="1">
            <a:off x="3851991" y="3158997"/>
            <a:ext cx="0" cy="720008"/>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sp>
        <p:nvSpPr>
          <p:cNvPr id="20" name="Rectangle 93">
            <a:extLst>
              <a:ext uri="{FF2B5EF4-FFF2-40B4-BE49-F238E27FC236}">
                <a16:creationId xmlns:a16="http://schemas.microsoft.com/office/drawing/2014/main" id="{32DA5D25-38A0-DAAA-B66B-06A16886F1C7}"/>
              </a:ext>
            </a:extLst>
          </p:cNvPr>
          <p:cNvSpPr>
            <a:spLocks noChangeArrowheads="1"/>
          </p:cNvSpPr>
          <p:nvPr/>
        </p:nvSpPr>
        <p:spPr bwMode="auto">
          <a:xfrm>
            <a:off x="4211995" y="1898983"/>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Plate (anode)</a:t>
            </a:r>
          </a:p>
        </p:txBody>
      </p:sp>
      <p:sp>
        <p:nvSpPr>
          <p:cNvPr id="21" name="Rectangle 93">
            <a:extLst>
              <a:ext uri="{FF2B5EF4-FFF2-40B4-BE49-F238E27FC236}">
                <a16:creationId xmlns:a16="http://schemas.microsoft.com/office/drawing/2014/main" id="{3DC293EC-F468-8704-CE25-043E2B5C124A}"/>
              </a:ext>
            </a:extLst>
          </p:cNvPr>
          <p:cNvSpPr>
            <a:spLocks noChangeArrowheads="1"/>
          </p:cNvSpPr>
          <p:nvPr/>
        </p:nvSpPr>
        <p:spPr bwMode="auto">
          <a:xfrm>
            <a:off x="2681978" y="252899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Grid</a:t>
            </a:r>
          </a:p>
        </p:txBody>
      </p:sp>
      <p:sp>
        <p:nvSpPr>
          <p:cNvPr id="22" name="Rectangle 93">
            <a:extLst>
              <a:ext uri="{FF2B5EF4-FFF2-40B4-BE49-F238E27FC236}">
                <a16:creationId xmlns:a16="http://schemas.microsoft.com/office/drawing/2014/main" id="{0770669C-BDC8-FF44-9577-3310FFC591FA}"/>
              </a:ext>
            </a:extLst>
          </p:cNvPr>
          <p:cNvSpPr>
            <a:spLocks noChangeArrowheads="1"/>
          </p:cNvSpPr>
          <p:nvPr/>
        </p:nvSpPr>
        <p:spPr bwMode="auto">
          <a:xfrm>
            <a:off x="4391997" y="351900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Heater</a:t>
            </a:r>
          </a:p>
        </p:txBody>
      </p:sp>
      <p:sp>
        <p:nvSpPr>
          <p:cNvPr id="23" name="Rectangle 93">
            <a:extLst>
              <a:ext uri="{FF2B5EF4-FFF2-40B4-BE49-F238E27FC236}">
                <a16:creationId xmlns:a16="http://schemas.microsoft.com/office/drawing/2014/main" id="{5F68E55F-49DA-0CDD-8255-03F968360535}"/>
              </a:ext>
            </a:extLst>
          </p:cNvPr>
          <p:cNvSpPr>
            <a:spLocks noChangeArrowheads="1"/>
          </p:cNvSpPr>
          <p:nvPr/>
        </p:nvSpPr>
        <p:spPr bwMode="auto">
          <a:xfrm>
            <a:off x="2861980" y="351900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Cathode</a:t>
            </a:r>
          </a:p>
        </p:txBody>
      </p:sp>
      <p:pic>
        <p:nvPicPr>
          <p:cNvPr id="23554" name="Picture 2" descr="undefined">
            <a:extLst>
              <a:ext uri="{FF2B5EF4-FFF2-40B4-BE49-F238E27FC236}">
                <a16:creationId xmlns:a16="http://schemas.microsoft.com/office/drawing/2014/main" id="{D628AE51-4AA4-93B1-4F4A-F4BEEC42BA19}"/>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2133224" y="4995444"/>
            <a:ext cx="2557293" cy="1846934"/>
          </a:xfrm>
          <a:prstGeom prst="rect">
            <a:avLst/>
          </a:prstGeom>
          <a:noFill/>
          <a:extLst>
            <a:ext uri="{909E8E84-426E-40DD-AFC4-6F175D3DCCD1}">
              <a14:hiddenFill xmlns:a14="http://schemas.microsoft.com/office/drawing/2010/main">
                <a:solidFill>
                  <a:srgbClr val="FFFFFF"/>
                </a:solidFill>
              </a14:hiddenFill>
            </a:ext>
          </a:extLst>
        </p:spPr>
      </p:pic>
      <p:pic>
        <p:nvPicPr>
          <p:cNvPr id="23556" name="Picture 4" descr="undefined">
            <a:extLst>
              <a:ext uri="{FF2B5EF4-FFF2-40B4-BE49-F238E27FC236}">
                <a16:creationId xmlns:a16="http://schemas.microsoft.com/office/drawing/2014/main" id="{1B329A1B-2FFB-DCEA-68ED-78AF9E5A230C}"/>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5202007" y="4995444"/>
            <a:ext cx="1881271" cy="1714576"/>
          </a:xfrm>
          <a:prstGeom prst="rect">
            <a:avLst/>
          </a:prstGeom>
          <a:noFill/>
          <a:extLst>
            <a:ext uri="{909E8E84-426E-40DD-AFC4-6F175D3DCCD1}">
              <a14:hiddenFill xmlns:a14="http://schemas.microsoft.com/office/drawing/2010/main">
                <a:solidFill>
                  <a:srgbClr val="FFFFFF"/>
                </a:solidFill>
              </a14:hiddenFill>
            </a:ext>
          </a:extLst>
        </p:spPr>
      </p:pic>
      <p:sp>
        <p:nvSpPr>
          <p:cNvPr id="26" name="コンテンツ プレースホルダー 2">
            <a:extLst>
              <a:ext uri="{FF2B5EF4-FFF2-40B4-BE49-F238E27FC236}">
                <a16:creationId xmlns:a16="http://schemas.microsoft.com/office/drawing/2014/main" id="{140A2EBF-6519-8661-B9B7-32675DB4CB65}"/>
              </a:ext>
            </a:extLst>
          </p:cNvPr>
          <p:cNvSpPr txBox="1">
            <a:spLocks/>
          </p:cNvSpPr>
          <p:nvPr/>
        </p:nvSpPr>
        <p:spPr bwMode="auto">
          <a:xfrm>
            <a:off x="251952" y="3789004"/>
            <a:ext cx="8280092" cy="1170013"/>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1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r>
              <a:rPr lang="en-US" altLang="ja-JP" kern="0" dirty="0"/>
              <a:t>ENIAC (1945)</a:t>
            </a:r>
          </a:p>
          <a:p>
            <a:pPr lvl="1"/>
            <a:r>
              <a:rPr lang="ja-JP" altLang="en-US" kern="0" dirty="0"/>
              <a:t>世界最初のプログラムが実行できるコンピュータ</a:t>
            </a:r>
            <a:endParaRPr lang="en-US" altLang="ja-JP" kern="0" dirty="0"/>
          </a:p>
          <a:p>
            <a:pPr lvl="1"/>
            <a:r>
              <a:rPr lang="en-US" kern="0" dirty="0"/>
              <a:t>18,000 </a:t>
            </a:r>
            <a:r>
              <a:rPr lang="ja-JP" altLang="en-US" kern="0" dirty="0"/>
              <a:t>個の真空管で出来ている</a:t>
            </a:r>
            <a:endParaRPr lang="en-US" kern="0" dirty="0"/>
          </a:p>
        </p:txBody>
      </p:sp>
    </p:spTree>
    <p:extLst>
      <p:ext uri="{BB962C8B-B14F-4D97-AF65-F5344CB8AC3E}">
        <p14:creationId xmlns:p14="http://schemas.microsoft.com/office/powerpoint/2010/main" val="195244799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4CD660D-2F02-2611-DF3D-F83A6880E053}"/>
              </a:ext>
            </a:extLst>
          </p:cNvPr>
          <p:cNvSpPr>
            <a:spLocks noGrp="1"/>
          </p:cNvSpPr>
          <p:nvPr>
            <p:ph type="title"/>
          </p:nvPr>
        </p:nvSpPr>
        <p:spPr/>
        <p:txBody>
          <a:bodyPr/>
          <a:lstStyle/>
          <a:p>
            <a:r>
              <a:rPr kumimoji="1" lang="ja-JP" altLang="en-US" dirty="0"/>
              <a:t>レッドストーン回路</a:t>
            </a:r>
            <a:endParaRPr kumimoji="1" lang="en-US" dirty="0"/>
          </a:p>
        </p:txBody>
      </p:sp>
      <p:sp>
        <p:nvSpPr>
          <p:cNvPr id="3" name="コンテンツ プレースホルダー 2">
            <a:extLst>
              <a:ext uri="{FF2B5EF4-FFF2-40B4-BE49-F238E27FC236}">
                <a16:creationId xmlns:a16="http://schemas.microsoft.com/office/drawing/2014/main" id="{AF6E3B63-7583-224B-E404-5F2D56EA2BD2}"/>
              </a:ext>
            </a:extLst>
          </p:cNvPr>
          <p:cNvSpPr>
            <a:spLocks noGrp="1"/>
          </p:cNvSpPr>
          <p:nvPr>
            <p:ph sz="quarter" idx="10"/>
          </p:nvPr>
        </p:nvSpPr>
        <p:spPr>
          <a:xfrm>
            <a:off x="611956" y="1358977"/>
            <a:ext cx="8280092" cy="815924"/>
          </a:xfrm>
        </p:spPr>
        <p:txBody>
          <a:bodyPr/>
          <a:lstStyle/>
          <a:p>
            <a:r>
              <a:rPr kumimoji="1" lang="en-US" altLang="ja-JP" dirty="0"/>
              <a:t>Minecraft </a:t>
            </a:r>
            <a:r>
              <a:rPr kumimoji="1" lang="ja-JP" altLang="en-US" dirty="0"/>
              <a:t>というゲームの中で作られている回路</a:t>
            </a:r>
            <a:endParaRPr kumimoji="1" lang="en-US" altLang="ja-JP" dirty="0"/>
          </a:p>
          <a:p>
            <a:pPr lvl="1"/>
            <a:r>
              <a:rPr kumimoji="1" lang="en-US" dirty="0">
                <a:hlinkClick r:id="rId2"/>
              </a:rPr>
              <a:t>https://www.minecraft.net/ja-jp</a:t>
            </a:r>
            <a:r>
              <a:rPr lang="en-US" dirty="0"/>
              <a:t> </a:t>
            </a:r>
          </a:p>
          <a:p>
            <a:pPr lvl="1"/>
            <a:r>
              <a:rPr kumimoji="1" lang="ja-JP" altLang="en-US" dirty="0"/>
              <a:t>もともとは箱庭でブロックをおいて色々つくって遊ぶゲーム</a:t>
            </a:r>
            <a:endParaRPr kumimoji="1" lang="en-US" dirty="0"/>
          </a:p>
        </p:txBody>
      </p:sp>
      <p:pic>
        <p:nvPicPr>
          <p:cNvPr id="6" name="図 5">
            <a:extLst>
              <a:ext uri="{FF2B5EF4-FFF2-40B4-BE49-F238E27FC236}">
                <a16:creationId xmlns:a16="http://schemas.microsoft.com/office/drawing/2014/main" id="{0DA1304B-F56A-088F-D9E3-36337E7278ED}"/>
              </a:ext>
            </a:extLst>
          </p:cNvPr>
          <p:cNvPicPr>
            <a:picLocks noChangeAspect="1"/>
          </p:cNvPicPr>
          <p:nvPr/>
        </p:nvPicPr>
        <p:blipFill>
          <a:blip r:embed="rId3"/>
          <a:stretch>
            <a:fillRect/>
          </a:stretch>
        </p:blipFill>
        <p:spPr>
          <a:xfrm>
            <a:off x="971960" y="2618991"/>
            <a:ext cx="7265902" cy="4050045"/>
          </a:xfrm>
          <a:prstGeom prst="rect">
            <a:avLst/>
          </a:prstGeom>
        </p:spPr>
      </p:pic>
    </p:spTree>
    <p:extLst>
      <p:ext uri="{BB962C8B-B14F-4D97-AF65-F5344CB8AC3E}">
        <p14:creationId xmlns:p14="http://schemas.microsoft.com/office/powerpoint/2010/main" val="42067729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4CD660D-2F02-2611-DF3D-F83A6880E053}"/>
              </a:ext>
            </a:extLst>
          </p:cNvPr>
          <p:cNvSpPr>
            <a:spLocks noGrp="1"/>
          </p:cNvSpPr>
          <p:nvPr>
            <p:ph type="title"/>
          </p:nvPr>
        </p:nvSpPr>
        <p:spPr/>
        <p:txBody>
          <a:bodyPr/>
          <a:lstStyle/>
          <a:p>
            <a:r>
              <a:rPr kumimoji="1" lang="ja-JP" altLang="en-US" dirty="0"/>
              <a:t>レッドストーン回路</a:t>
            </a:r>
            <a:endParaRPr kumimoji="1" lang="en-US" dirty="0"/>
          </a:p>
        </p:txBody>
      </p:sp>
      <p:sp>
        <p:nvSpPr>
          <p:cNvPr id="3" name="コンテンツ プレースホルダー 2">
            <a:extLst>
              <a:ext uri="{FF2B5EF4-FFF2-40B4-BE49-F238E27FC236}">
                <a16:creationId xmlns:a16="http://schemas.microsoft.com/office/drawing/2014/main" id="{AF6E3B63-7583-224B-E404-5F2D56EA2BD2}"/>
              </a:ext>
            </a:extLst>
          </p:cNvPr>
          <p:cNvSpPr>
            <a:spLocks noGrp="1"/>
          </p:cNvSpPr>
          <p:nvPr>
            <p:ph sz="quarter" idx="10"/>
          </p:nvPr>
        </p:nvSpPr>
        <p:spPr>
          <a:xfrm>
            <a:off x="611956" y="1268976"/>
            <a:ext cx="8280092" cy="1445931"/>
          </a:xfrm>
        </p:spPr>
        <p:txBody>
          <a:bodyPr/>
          <a:lstStyle/>
          <a:p>
            <a:r>
              <a:rPr kumimoji="1" lang="ja-JP" altLang="en-US" dirty="0"/>
              <a:t>「レッドストーン」と言うゲーム内の要素を利用</a:t>
            </a:r>
            <a:endParaRPr kumimoji="1" lang="en-US" altLang="ja-JP" dirty="0"/>
          </a:p>
          <a:p>
            <a:pPr lvl="1"/>
            <a:r>
              <a:rPr kumimoji="1" lang="ja-JP" altLang="en-US" dirty="0"/>
              <a:t>有効と無効の状態を持つ</a:t>
            </a:r>
            <a:endParaRPr kumimoji="1" lang="en-US" altLang="ja-JP" dirty="0"/>
          </a:p>
          <a:p>
            <a:pPr lvl="1"/>
            <a:r>
              <a:rPr kumimoji="1" lang="ja-JP" altLang="en-US" dirty="0"/>
              <a:t>スイッチと扉を繋げて，遠くから開けたり閉じたりとかする</a:t>
            </a:r>
            <a:endParaRPr kumimoji="1" lang="en-US" altLang="ja-JP" dirty="0"/>
          </a:p>
          <a:p>
            <a:r>
              <a:rPr kumimoji="1" lang="ja-JP" altLang="en-US" dirty="0">
                <a:solidFill>
                  <a:schemeClr val="accent5"/>
                </a:solidFill>
              </a:rPr>
              <a:t>これも入力で出力を制御出来ていることに誰かが気づいた</a:t>
            </a:r>
            <a:endParaRPr kumimoji="1" lang="en-US" dirty="0">
              <a:solidFill>
                <a:schemeClr val="accent5"/>
              </a:solidFill>
            </a:endParaRPr>
          </a:p>
        </p:txBody>
      </p:sp>
      <p:pic>
        <p:nvPicPr>
          <p:cNvPr id="25602" name="Picture 2">
            <a:extLst>
              <a:ext uri="{FF2B5EF4-FFF2-40B4-BE49-F238E27FC236}">
                <a16:creationId xmlns:a16="http://schemas.microsoft.com/office/drawing/2014/main" id="{B845DFDA-B3A7-755F-8DDB-CF88F6DDCB3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71960" y="4239009"/>
            <a:ext cx="3401987" cy="1803171"/>
          </a:xfrm>
          <a:prstGeom prst="rect">
            <a:avLst/>
          </a:prstGeom>
          <a:noFill/>
          <a:extLst>
            <a:ext uri="{909E8E84-426E-40DD-AFC4-6F175D3DCCD1}">
              <a14:hiddenFill xmlns:a14="http://schemas.microsoft.com/office/drawing/2010/main">
                <a:solidFill>
                  <a:srgbClr val="FFFFFF"/>
                </a:solidFill>
              </a14:hiddenFill>
            </a:ext>
          </a:extLst>
        </p:spPr>
      </p:pic>
      <p:pic>
        <p:nvPicPr>
          <p:cNvPr id="25604" name="Picture 4">
            <a:extLst>
              <a:ext uri="{FF2B5EF4-FFF2-40B4-BE49-F238E27FC236}">
                <a16:creationId xmlns:a16="http://schemas.microsoft.com/office/drawing/2014/main" id="{2EAFD79E-6BEF-192B-F0C6-B7A33BC090F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22005" y="3248998"/>
            <a:ext cx="3202705" cy="2799046"/>
          </a:xfrm>
          <a:prstGeom prst="rect">
            <a:avLst/>
          </a:prstGeom>
          <a:noFill/>
          <a:extLst>
            <a:ext uri="{909E8E84-426E-40DD-AFC4-6F175D3DCCD1}">
              <a14:hiddenFill xmlns:a14="http://schemas.microsoft.com/office/drawing/2010/main">
                <a:solidFill>
                  <a:srgbClr val="FFFFFF"/>
                </a:solidFill>
              </a14:hiddenFill>
            </a:ext>
          </a:extLst>
        </p:spPr>
      </p:pic>
      <p:sp>
        <p:nvSpPr>
          <p:cNvPr id="5" name="テキスト ボックス 4">
            <a:extLst>
              <a:ext uri="{FF2B5EF4-FFF2-40B4-BE49-F238E27FC236}">
                <a16:creationId xmlns:a16="http://schemas.microsoft.com/office/drawing/2014/main" id="{7F39E439-730E-CADD-4D05-817C28753F45}"/>
              </a:ext>
            </a:extLst>
          </p:cNvPr>
          <p:cNvSpPr txBox="1"/>
          <p:nvPr/>
        </p:nvSpPr>
        <p:spPr>
          <a:xfrm>
            <a:off x="611956" y="6399033"/>
            <a:ext cx="8010089" cy="369332"/>
          </a:xfrm>
          <a:prstGeom prst="rect">
            <a:avLst/>
          </a:prstGeom>
          <a:noFill/>
        </p:spPr>
        <p:txBody>
          <a:bodyPr wrap="square">
            <a:spAutoFit/>
          </a:bodyPr>
          <a:lstStyle/>
          <a:p>
            <a:r>
              <a:rPr lang="ja-JP" altLang="en-US" dirty="0"/>
              <a:t>画像は </a:t>
            </a:r>
            <a:r>
              <a:rPr lang="en-US" altLang="ja-JP" dirty="0">
                <a:hlinkClick r:id="rId4"/>
              </a:rPr>
              <a:t>https://minecraft.fandom.com/wiki/Redstone_circuits/Logic</a:t>
            </a:r>
            <a:r>
              <a:rPr lang="en-US" altLang="ja-JP" dirty="0"/>
              <a:t> </a:t>
            </a:r>
            <a:r>
              <a:rPr lang="ja-JP" altLang="en-US" dirty="0"/>
              <a:t>より</a:t>
            </a:r>
            <a:endParaRPr lang="en-US" dirty="0"/>
          </a:p>
        </p:txBody>
      </p:sp>
      <p:sp>
        <p:nvSpPr>
          <p:cNvPr id="6" name="Rectangle 93">
            <a:extLst>
              <a:ext uri="{FF2B5EF4-FFF2-40B4-BE49-F238E27FC236}">
                <a16:creationId xmlns:a16="http://schemas.microsoft.com/office/drawing/2014/main" id="{AE324D97-E62A-26EE-CAD0-E6883AEF6EE2}"/>
              </a:ext>
            </a:extLst>
          </p:cNvPr>
          <p:cNvSpPr>
            <a:spLocks noChangeArrowheads="1"/>
          </p:cNvSpPr>
          <p:nvPr/>
        </p:nvSpPr>
        <p:spPr bwMode="auto">
          <a:xfrm>
            <a:off x="881959" y="351900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AND </a:t>
            </a:r>
            <a:r>
              <a:rPr lang="ja-JP" altLang="en-US" dirty="0"/>
              <a:t>ゲート</a:t>
            </a:r>
            <a:endParaRPr lang="en-US" altLang="ja-JP" dirty="0"/>
          </a:p>
          <a:p>
            <a:r>
              <a:rPr lang="ja-JP" altLang="en-US" dirty="0"/>
              <a:t>右のスイッチを２つとも入れると</a:t>
            </a:r>
            <a:endParaRPr lang="en-US" altLang="ja-JP" dirty="0"/>
          </a:p>
          <a:p>
            <a:r>
              <a:rPr lang="ja-JP" altLang="en-US" dirty="0"/>
              <a:t>左側が赤くなる</a:t>
            </a:r>
            <a:endParaRPr lang="en-US" altLang="ja-JP" dirty="0"/>
          </a:p>
        </p:txBody>
      </p:sp>
    </p:spTree>
    <p:extLst>
      <p:ext uri="{BB962C8B-B14F-4D97-AF65-F5344CB8AC3E}">
        <p14:creationId xmlns:p14="http://schemas.microsoft.com/office/powerpoint/2010/main" val="220730515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8AD7D5-B625-30A8-A6FF-8D986E8ABB6F}"/>
              </a:ext>
            </a:extLst>
          </p:cNvPr>
          <p:cNvSpPr>
            <a:spLocks noGrp="1"/>
          </p:cNvSpPr>
          <p:nvPr>
            <p:ph type="title"/>
          </p:nvPr>
        </p:nvSpPr>
        <p:spPr/>
        <p:txBody>
          <a:bodyPr/>
          <a:lstStyle/>
          <a:p>
            <a:r>
              <a:rPr kumimoji="1" lang="ja-JP" altLang="en-US" dirty="0"/>
              <a:t>入力で出力を制御出来ればコンピュータが作れる</a:t>
            </a:r>
            <a:endParaRPr kumimoji="1" lang="en-US" dirty="0"/>
          </a:p>
        </p:txBody>
      </p:sp>
      <p:pic>
        <p:nvPicPr>
          <p:cNvPr id="26626" name="Picture 2">
            <a:extLst>
              <a:ext uri="{FF2B5EF4-FFF2-40B4-BE49-F238E27FC236}">
                <a16:creationId xmlns:a16="http://schemas.microsoft.com/office/drawing/2014/main" id="{0AC7C0F8-03F3-DC95-824D-7E10C681572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1958" y="1448978"/>
            <a:ext cx="6667500" cy="3152775"/>
          </a:xfrm>
          <a:prstGeom prst="rect">
            <a:avLst/>
          </a:prstGeom>
          <a:noFill/>
          <a:extLst>
            <a:ext uri="{909E8E84-426E-40DD-AFC4-6F175D3DCCD1}">
              <a14:hiddenFill xmlns:a14="http://schemas.microsoft.com/office/drawing/2010/main">
                <a:solidFill>
                  <a:srgbClr val="FFFFFF"/>
                </a:solidFill>
              </a14:hiddenFill>
            </a:ext>
          </a:extLst>
        </p:spPr>
      </p:pic>
      <p:sp>
        <p:nvSpPr>
          <p:cNvPr id="5" name="テキスト ボックス 4">
            <a:extLst>
              <a:ext uri="{FF2B5EF4-FFF2-40B4-BE49-F238E27FC236}">
                <a16:creationId xmlns:a16="http://schemas.microsoft.com/office/drawing/2014/main" id="{AB1528C8-0902-0A6A-DD73-52AE1B730BAD}"/>
              </a:ext>
            </a:extLst>
          </p:cNvPr>
          <p:cNvSpPr txBox="1"/>
          <p:nvPr/>
        </p:nvSpPr>
        <p:spPr>
          <a:xfrm>
            <a:off x="1061961" y="5319021"/>
            <a:ext cx="5940066" cy="646331"/>
          </a:xfrm>
          <a:prstGeom prst="rect">
            <a:avLst/>
          </a:prstGeom>
          <a:noFill/>
        </p:spPr>
        <p:txBody>
          <a:bodyPr wrap="square">
            <a:spAutoFit/>
          </a:bodyPr>
          <a:lstStyle/>
          <a:p>
            <a:r>
              <a:rPr lang="ja-JP" altLang="en-US" dirty="0"/>
              <a:t>画像は </a:t>
            </a:r>
            <a:r>
              <a:rPr lang="en-US" altLang="ja-JP" dirty="0">
                <a:hlinkClick r:id="rId3"/>
              </a:rPr>
              <a:t>https://mcpedl.com/raffis-calculator-2-map/</a:t>
            </a:r>
            <a:r>
              <a:rPr lang="en-US" altLang="ja-JP" dirty="0"/>
              <a:t> </a:t>
            </a:r>
            <a:r>
              <a:rPr lang="ja-JP" altLang="en-US" dirty="0"/>
              <a:t>より</a:t>
            </a:r>
            <a:endParaRPr lang="en-US" altLang="ja-JP" dirty="0"/>
          </a:p>
          <a:p>
            <a:r>
              <a:rPr lang="ja-JP" altLang="en-US" dirty="0"/>
              <a:t>四則演算ができる計算機･･･らしい</a:t>
            </a:r>
            <a:endParaRPr lang="en-US" dirty="0"/>
          </a:p>
        </p:txBody>
      </p:sp>
    </p:spTree>
    <p:extLst>
      <p:ext uri="{BB962C8B-B14F-4D97-AF65-F5344CB8AC3E}">
        <p14:creationId xmlns:p14="http://schemas.microsoft.com/office/powerpoint/2010/main" val="197926738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97F02C61-CA60-E242-14BB-3B549F4A00F7}"/>
              </a:ext>
            </a:extLst>
          </p:cNvPr>
          <p:cNvSpPr>
            <a:spLocks noGrp="1"/>
          </p:cNvSpPr>
          <p:nvPr>
            <p:ph type="title"/>
          </p:nvPr>
        </p:nvSpPr>
        <p:spPr/>
        <p:txBody>
          <a:bodyPr/>
          <a:lstStyle/>
          <a:p>
            <a:r>
              <a:rPr lang="en-US" altLang="ja-JP" b="1" dirty="0"/>
              <a:t>CMOS</a:t>
            </a:r>
            <a:endParaRPr lang="en-US" b="1" dirty="0"/>
          </a:p>
        </p:txBody>
      </p:sp>
    </p:spTree>
    <p:extLst>
      <p:ext uri="{BB962C8B-B14F-4D97-AF65-F5344CB8AC3E}">
        <p14:creationId xmlns:p14="http://schemas.microsoft.com/office/powerpoint/2010/main" val="134288440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A584331-3D9C-C512-2846-D6A40BDAB0DC}"/>
              </a:ext>
            </a:extLst>
          </p:cNvPr>
          <p:cNvSpPr>
            <a:spLocks noGrp="1"/>
          </p:cNvSpPr>
          <p:nvPr>
            <p:ph type="title"/>
          </p:nvPr>
        </p:nvSpPr>
        <p:spPr/>
        <p:txBody>
          <a:bodyPr/>
          <a:lstStyle/>
          <a:p>
            <a:r>
              <a:rPr kumimoji="1" lang="ja-JP" altLang="en-US" dirty="0"/>
              <a:t>論理回路の作り方</a:t>
            </a:r>
            <a:endParaRPr kumimoji="1" lang="en-US" dirty="0"/>
          </a:p>
        </p:txBody>
      </p:sp>
      <p:sp>
        <p:nvSpPr>
          <p:cNvPr id="3" name="コンテンツ プレースホルダー 2">
            <a:extLst>
              <a:ext uri="{FF2B5EF4-FFF2-40B4-BE49-F238E27FC236}">
                <a16:creationId xmlns:a16="http://schemas.microsoft.com/office/drawing/2014/main" id="{4CDF5B3C-F5EC-178A-5EAE-1A3A46827528}"/>
              </a:ext>
            </a:extLst>
          </p:cNvPr>
          <p:cNvSpPr>
            <a:spLocks noGrp="1"/>
          </p:cNvSpPr>
          <p:nvPr>
            <p:ph sz="quarter" idx="10"/>
          </p:nvPr>
        </p:nvSpPr>
        <p:spPr/>
        <p:txBody>
          <a:bodyPr/>
          <a:lstStyle/>
          <a:p>
            <a:r>
              <a:rPr kumimoji="1" lang="ja-JP" altLang="en-US" dirty="0"/>
              <a:t>以下のそれぞれの仕組みを使った回路を説明</a:t>
            </a:r>
            <a:endParaRPr kumimoji="1" lang="en-US" altLang="ja-JP" dirty="0"/>
          </a:p>
          <a:p>
            <a:pPr marL="817200" lvl="1" indent="-457200">
              <a:buFont typeface="+mj-lt"/>
              <a:buAutoNum type="arabicPeriod"/>
            </a:pPr>
            <a:r>
              <a:rPr kumimoji="1" lang="ja-JP" altLang="en-US" dirty="0"/>
              <a:t>リレー</a:t>
            </a:r>
            <a:endParaRPr kumimoji="1" lang="en-US" altLang="ja-JP" dirty="0"/>
          </a:p>
          <a:p>
            <a:pPr marL="817200" lvl="1" indent="-457200">
              <a:buFont typeface="+mj-lt"/>
              <a:buAutoNum type="arabicPeriod"/>
            </a:pPr>
            <a:r>
              <a:rPr kumimoji="1" lang="en-US" altLang="ja-JP" dirty="0">
                <a:solidFill>
                  <a:schemeClr val="accent5"/>
                </a:solidFill>
              </a:rPr>
              <a:t>CMOS</a:t>
            </a:r>
          </a:p>
        </p:txBody>
      </p:sp>
    </p:spTree>
    <p:extLst>
      <p:ext uri="{BB962C8B-B14F-4D97-AF65-F5344CB8AC3E}">
        <p14:creationId xmlns:p14="http://schemas.microsoft.com/office/powerpoint/2010/main" val="113451524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6041" name="Freeform 9"/>
          <p:cNvSpPr>
            <a:spLocks/>
          </p:cNvSpPr>
          <p:nvPr/>
        </p:nvSpPr>
        <p:spPr bwMode="auto">
          <a:xfrm>
            <a:off x="2051972" y="4239009"/>
            <a:ext cx="720750" cy="719137"/>
          </a:xfrm>
          <a:custGeom>
            <a:avLst/>
            <a:gdLst/>
            <a:ahLst/>
            <a:cxnLst>
              <a:cxn ang="0">
                <a:pos x="0" y="453"/>
              </a:cxn>
              <a:cxn ang="0">
                <a:pos x="511" y="453"/>
              </a:cxn>
              <a:cxn ang="0">
                <a:pos x="454" y="0"/>
              </a:cxn>
              <a:cxn ang="0">
                <a:pos x="57" y="0"/>
              </a:cxn>
              <a:cxn ang="0">
                <a:pos x="0" y="453"/>
              </a:cxn>
            </a:cxnLst>
            <a:rect l="0" t="0" r="r" b="b"/>
            <a:pathLst>
              <a:path w="511" h="453">
                <a:moveTo>
                  <a:pt x="0" y="453"/>
                </a:moveTo>
                <a:lnTo>
                  <a:pt x="511" y="453"/>
                </a:lnTo>
                <a:lnTo>
                  <a:pt x="454" y="0"/>
                </a:lnTo>
                <a:lnTo>
                  <a:pt x="57" y="0"/>
                </a:lnTo>
                <a:lnTo>
                  <a:pt x="0" y="453"/>
                </a:lnTo>
                <a:close/>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latin typeface="+mn-lt"/>
            </a:endParaRPr>
          </a:p>
        </p:txBody>
      </p:sp>
      <p:sp>
        <p:nvSpPr>
          <p:cNvPr id="3" name="正方形/長方形 2"/>
          <p:cNvSpPr/>
          <p:nvPr/>
        </p:nvSpPr>
        <p:spPr bwMode="auto">
          <a:xfrm>
            <a:off x="971772" y="4959119"/>
            <a:ext cx="2880384" cy="270036"/>
          </a:xfrm>
          <a:prstGeom prst="rect">
            <a:avLst/>
          </a:prstGeom>
          <a:ln>
            <a:headEnd type="none" w="med" len="med"/>
            <a:tailEnd type="none" w="med" len="med"/>
          </a:ln>
        </p:spPr>
        <p:style>
          <a:lnRef idx="1">
            <a:schemeClr val="dk1"/>
          </a:lnRef>
          <a:fillRef idx="2">
            <a:schemeClr val="dk1"/>
          </a:fillRef>
          <a:effectRef idx="1">
            <a:schemeClr val="dk1"/>
          </a:effectRef>
          <a:fontRef idx="minor">
            <a:schemeClr val="dk1"/>
          </a:fontRef>
        </p:style>
        <p:txBody>
          <a:bodyPr vert="horz" wrap="none" lIns="36000" tIns="0" rIns="36000" bIns="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200" b="0" i="0" u="none" strike="noStrike" cap="none" normalizeH="0" dirty="0">
                <a:ln>
                  <a:noFill/>
                </a:ln>
                <a:solidFill>
                  <a:schemeClr val="tx1"/>
                </a:solidFill>
                <a:effectLst/>
              </a:rPr>
              <a:t>酸化膜（絶縁体）</a:t>
            </a:r>
          </a:p>
        </p:txBody>
      </p:sp>
      <p:sp>
        <p:nvSpPr>
          <p:cNvPr id="556040" name="Rectangle 8"/>
          <p:cNvSpPr>
            <a:spLocks noChangeArrowheads="1"/>
          </p:cNvSpPr>
          <p:nvPr/>
        </p:nvSpPr>
        <p:spPr bwMode="auto">
          <a:xfrm>
            <a:off x="971802" y="5228826"/>
            <a:ext cx="2879725" cy="1439862"/>
          </a:xfrm>
          <a:prstGeom prst="rect">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latin typeface="+mn-lt"/>
            </a:endParaRPr>
          </a:p>
        </p:txBody>
      </p:sp>
      <p:sp>
        <p:nvSpPr>
          <p:cNvPr id="556034" name="Rectangle 2"/>
          <p:cNvSpPr>
            <a:spLocks noGrp="1" noChangeArrowheads="1"/>
          </p:cNvSpPr>
          <p:nvPr>
            <p:ph type="title"/>
          </p:nvPr>
        </p:nvSpPr>
        <p:spPr/>
        <p:txBody>
          <a:bodyPr/>
          <a:lstStyle/>
          <a:p>
            <a:r>
              <a:rPr lang="en-US" altLang="ja-JP" sz="2400" dirty="0">
                <a:latin typeface="+mn-ea"/>
                <a:ea typeface="+mn-ea"/>
              </a:rPr>
              <a:t>MOS FET</a:t>
            </a:r>
          </a:p>
        </p:txBody>
      </p:sp>
      <p:sp>
        <p:nvSpPr>
          <p:cNvPr id="4" name="スライド番号プレースホルダー 3"/>
          <p:cNvSpPr>
            <a:spLocks noGrp="1"/>
          </p:cNvSpPr>
          <p:nvPr>
            <p:ph type="sldNum" sz="quarter" idx="12"/>
          </p:nvPr>
        </p:nvSpPr>
        <p:spPr>
          <a:xfrm>
            <a:off x="8783638" y="6483350"/>
            <a:ext cx="360362" cy="358775"/>
          </a:xfrm>
        </p:spPr>
        <p:txBody>
          <a:bodyPr/>
          <a:lstStyle/>
          <a:p>
            <a:fld id="{57822056-E1F9-464F-82C8-6C2C7E347532}" type="slidenum">
              <a:rPr lang="ja-JP" altLang="en-US" smtClean="0"/>
              <a:pPr/>
              <a:t>49</a:t>
            </a:fld>
            <a:endParaRPr lang="ja-JP" altLang="en-US"/>
          </a:p>
        </p:txBody>
      </p:sp>
      <p:sp>
        <p:nvSpPr>
          <p:cNvPr id="556036" name="Rectangle 4"/>
          <p:cNvSpPr>
            <a:spLocks noGrp="1" noChangeArrowheads="1"/>
          </p:cNvSpPr>
          <p:nvPr>
            <p:ph sz="quarter" idx="13"/>
          </p:nvPr>
        </p:nvSpPr>
        <p:spPr>
          <a:xfrm>
            <a:off x="251951" y="998973"/>
            <a:ext cx="8892049" cy="3150036"/>
          </a:xfrm>
        </p:spPr>
        <p:txBody>
          <a:bodyPr/>
          <a:lstStyle/>
          <a:p>
            <a:r>
              <a:rPr lang="en-US" altLang="ja-JP" dirty="0">
                <a:solidFill>
                  <a:schemeClr val="accent5"/>
                </a:solidFill>
              </a:rPr>
              <a:t>MOS</a:t>
            </a:r>
            <a:r>
              <a:rPr lang="en-US" altLang="ja-JP" dirty="0"/>
              <a:t>: metal-oxide-semiconductor</a:t>
            </a:r>
          </a:p>
          <a:p>
            <a:pPr lvl="1"/>
            <a:r>
              <a:rPr lang="ja-JP" altLang="en-US" dirty="0"/>
              <a:t>上から，金属，酸化膜，半導体のサンドイッチ構造</a:t>
            </a:r>
            <a:endParaRPr lang="en-US" altLang="ja-JP" dirty="0"/>
          </a:p>
          <a:p>
            <a:pPr lvl="1"/>
            <a:r>
              <a:rPr lang="ja-JP" altLang="en-US" dirty="0"/>
              <a:t>酸化膜を挟んで平行板コンデンサが構成されている</a:t>
            </a:r>
            <a:endParaRPr lang="en-US" altLang="ja-JP" dirty="0"/>
          </a:p>
          <a:p>
            <a:r>
              <a:rPr lang="ja-JP" altLang="en-US" dirty="0"/>
              <a:t>電界効果トランジスタ</a:t>
            </a:r>
            <a:r>
              <a:rPr lang="en-US" altLang="ja-JP" dirty="0"/>
              <a:t> (</a:t>
            </a:r>
            <a:r>
              <a:rPr lang="en-US" altLang="ja-JP" dirty="0">
                <a:solidFill>
                  <a:schemeClr val="accent5"/>
                </a:solidFill>
              </a:rPr>
              <a:t>FET</a:t>
            </a:r>
            <a:r>
              <a:rPr lang="en-US" altLang="ja-JP" dirty="0"/>
              <a:t>: Field-Effect Transistor)</a:t>
            </a:r>
          </a:p>
          <a:p>
            <a:pPr lvl="1"/>
            <a:r>
              <a:rPr lang="ja-JP" altLang="en-US" dirty="0">
                <a:solidFill>
                  <a:schemeClr val="accent5"/>
                </a:solidFill>
              </a:rPr>
              <a:t>電界で電子を動かしてスイッチングする</a:t>
            </a:r>
            <a:endParaRPr lang="en-US" altLang="ja-JP" dirty="0">
              <a:solidFill>
                <a:schemeClr val="accent5"/>
              </a:solidFill>
            </a:endParaRPr>
          </a:p>
          <a:p>
            <a:pPr marL="1177200" lvl="2" indent="-457200">
              <a:buFont typeface="+mj-lt"/>
              <a:buAutoNum type="arabicPeriod"/>
            </a:pPr>
            <a:r>
              <a:rPr lang="en-US" altLang="ja-JP" dirty="0"/>
              <a:t>G </a:t>
            </a:r>
            <a:r>
              <a:rPr lang="ja-JP" altLang="en-US" dirty="0"/>
              <a:t>に電圧をかけてコンデンサに充電</a:t>
            </a:r>
            <a:endParaRPr lang="en-US" altLang="ja-JP" dirty="0"/>
          </a:p>
          <a:p>
            <a:pPr marL="1177200" lvl="2" indent="-457200">
              <a:buFont typeface="+mj-lt"/>
              <a:buAutoNum type="arabicPeriod"/>
            </a:pPr>
            <a:r>
              <a:rPr lang="ja-JP" altLang="en-US" dirty="0"/>
              <a:t>電子の層（チャネル）酸化膜下にできて，</a:t>
            </a:r>
            <a:r>
              <a:rPr lang="en-US" altLang="ja-JP" dirty="0"/>
              <a:t>S </a:t>
            </a:r>
            <a:r>
              <a:rPr lang="ja-JP" altLang="en-US" dirty="0"/>
              <a:t>と </a:t>
            </a:r>
            <a:r>
              <a:rPr lang="en-US" altLang="ja-JP" dirty="0"/>
              <a:t>D </a:t>
            </a:r>
            <a:r>
              <a:rPr lang="ja-JP" altLang="en-US" dirty="0"/>
              <a:t>が繋がり </a:t>
            </a:r>
            <a:r>
              <a:rPr lang="en-US" altLang="ja-JP" dirty="0"/>
              <a:t>ON </a:t>
            </a:r>
            <a:r>
              <a:rPr lang="ja-JP" altLang="en-US" dirty="0"/>
              <a:t>に</a:t>
            </a:r>
            <a:endParaRPr lang="en-US" altLang="ja-JP" dirty="0"/>
          </a:p>
        </p:txBody>
      </p:sp>
      <p:sp>
        <p:nvSpPr>
          <p:cNvPr id="556038" name="Freeform 6"/>
          <p:cNvSpPr>
            <a:spLocks/>
          </p:cNvSpPr>
          <p:nvPr/>
        </p:nvSpPr>
        <p:spPr bwMode="auto">
          <a:xfrm>
            <a:off x="971802" y="5228826"/>
            <a:ext cx="720725" cy="719137"/>
          </a:xfrm>
          <a:custGeom>
            <a:avLst/>
            <a:gdLst/>
            <a:ahLst/>
            <a:cxnLst>
              <a:cxn ang="0">
                <a:pos x="0" y="0"/>
              </a:cxn>
              <a:cxn ang="0">
                <a:pos x="454" y="0"/>
              </a:cxn>
              <a:cxn ang="0">
                <a:pos x="227" y="453"/>
              </a:cxn>
              <a:cxn ang="0">
                <a:pos x="0" y="453"/>
              </a:cxn>
            </a:cxnLst>
            <a:rect l="0" t="0" r="r" b="b"/>
            <a:pathLst>
              <a:path w="454" h="453">
                <a:moveTo>
                  <a:pt x="0" y="0"/>
                </a:moveTo>
                <a:lnTo>
                  <a:pt x="454" y="0"/>
                </a:lnTo>
                <a:lnTo>
                  <a:pt x="227" y="453"/>
                </a:lnTo>
                <a:lnTo>
                  <a:pt x="0" y="453"/>
                </a:lnTo>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latin typeface="+mn-lt"/>
            </a:endParaRPr>
          </a:p>
        </p:txBody>
      </p:sp>
      <p:sp>
        <p:nvSpPr>
          <p:cNvPr id="556039" name="Freeform 7"/>
          <p:cNvSpPr>
            <a:spLocks/>
          </p:cNvSpPr>
          <p:nvPr/>
        </p:nvSpPr>
        <p:spPr bwMode="auto">
          <a:xfrm flipH="1">
            <a:off x="3132390" y="5228826"/>
            <a:ext cx="720725" cy="719137"/>
          </a:xfrm>
          <a:custGeom>
            <a:avLst/>
            <a:gdLst/>
            <a:ahLst/>
            <a:cxnLst>
              <a:cxn ang="0">
                <a:pos x="0" y="0"/>
              </a:cxn>
              <a:cxn ang="0">
                <a:pos x="454" y="0"/>
              </a:cxn>
              <a:cxn ang="0">
                <a:pos x="227" y="453"/>
              </a:cxn>
              <a:cxn ang="0">
                <a:pos x="0" y="453"/>
              </a:cxn>
            </a:cxnLst>
            <a:rect l="0" t="0" r="r" b="b"/>
            <a:pathLst>
              <a:path w="454" h="453">
                <a:moveTo>
                  <a:pt x="0" y="0"/>
                </a:moveTo>
                <a:lnTo>
                  <a:pt x="454" y="0"/>
                </a:lnTo>
                <a:lnTo>
                  <a:pt x="227" y="453"/>
                </a:lnTo>
                <a:lnTo>
                  <a:pt x="0" y="453"/>
                </a:lnTo>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latin typeface="+mn-lt"/>
            </a:endParaRPr>
          </a:p>
        </p:txBody>
      </p:sp>
      <p:sp>
        <p:nvSpPr>
          <p:cNvPr id="556042" name="Line 10"/>
          <p:cNvSpPr>
            <a:spLocks noChangeShapeType="1"/>
          </p:cNvSpPr>
          <p:nvPr/>
        </p:nvSpPr>
        <p:spPr bwMode="auto">
          <a:xfrm>
            <a:off x="971772" y="4959119"/>
            <a:ext cx="2879725" cy="0"/>
          </a:xfrm>
          <a:prstGeom prst="line">
            <a:avLst/>
          </a:prstGeom>
          <a:noFill/>
          <a:ln w="19050">
            <a:solidFill>
              <a:schemeClr val="tx1"/>
            </a:solidFill>
            <a:round/>
            <a:headEnd/>
            <a:tailEnd/>
          </a:ln>
          <a:effectLst/>
        </p:spPr>
        <p:txBody>
          <a:bodyPr/>
          <a:lstStyle/>
          <a:p>
            <a:endParaRPr lang="ja-JP" altLang="en-US">
              <a:latin typeface="+mn-lt"/>
            </a:endParaRPr>
          </a:p>
        </p:txBody>
      </p:sp>
      <p:sp>
        <p:nvSpPr>
          <p:cNvPr id="556043" name="Line 11"/>
          <p:cNvSpPr>
            <a:spLocks noChangeShapeType="1"/>
          </p:cNvSpPr>
          <p:nvPr/>
        </p:nvSpPr>
        <p:spPr bwMode="auto">
          <a:xfrm>
            <a:off x="971802" y="6668688"/>
            <a:ext cx="2879725" cy="0"/>
          </a:xfrm>
          <a:prstGeom prst="line">
            <a:avLst/>
          </a:prstGeom>
          <a:noFill/>
          <a:ln w="19050">
            <a:solidFill>
              <a:schemeClr val="tx1"/>
            </a:solidFill>
            <a:round/>
            <a:headEnd/>
            <a:tailEnd/>
          </a:ln>
          <a:effectLst/>
        </p:spPr>
        <p:txBody>
          <a:bodyPr/>
          <a:lstStyle/>
          <a:p>
            <a:endParaRPr lang="ja-JP" altLang="en-US">
              <a:latin typeface="+mn-lt"/>
            </a:endParaRPr>
          </a:p>
        </p:txBody>
      </p:sp>
      <p:sp>
        <p:nvSpPr>
          <p:cNvPr id="556044" name="Rectangle 12"/>
          <p:cNvSpPr>
            <a:spLocks noChangeArrowheads="1"/>
          </p:cNvSpPr>
          <p:nvPr/>
        </p:nvSpPr>
        <p:spPr bwMode="auto">
          <a:xfrm>
            <a:off x="971802" y="5409801"/>
            <a:ext cx="360363" cy="358775"/>
          </a:xfrm>
          <a:prstGeom prst="rect">
            <a:avLst/>
          </a:prstGeom>
          <a:noFill/>
          <a:ln w="9525">
            <a:noFill/>
            <a:miter lim="800000"/>
            <a:headEnd/>
            <a:tailEnd/>
          </a:ln>
          <a:effectLst/>
        </p:spPr>
        <p:txBody>
          <a:bodyPr wrap="none" anchor="ctr"/>
          <a:lstStyle/>
          <a:p>
            <a:pPr algn="ctr"/>
            <a:r>
              <a:rPr lang="en-US" altLang="ja-JP" baseline="0">
                <a:latin typeface="+mn-lt"/>
              </a:rPr>
              <a:t>S</a:t>
            </a:r>
          </a:p>
        </p:txBody>
      </p:sp>
      <p:sp>
        <p:nvSpPr>
          <p:cNvPr id="556047" name="Rectangle 15"/>
          <p:cNvSpPr>
            <a:spLocks noChangeArrowheads="1"/>
          </p:cNvSpPr>
          <p:nvPr/>
        </p:nvSpPr>
        <p:spPr bwMode="auto">
          <a:xfrm>
            <a:off x="3492752" y="5409801"/>
            <a:ext cx="360363" cy="358775"/>
          </a:xfrm>
          <a:prstGeom prst="rect">
            <a:avLst/>
          </a:prstGeom>
          <a:noFill/>
          <a:ln w="9525">
            <a:noFill/>
            <a:miter lim="800000"/>
            <a:headEnd/>
            <a:tailEnd/>
          </a:ln>
          <a:effectLst/>
        </p:spPr>
        <p:txBody>
          <a:bodyPr wrap="none" anchor="ctr"/>
          <a:lstStyle/>
          <a:p>
            <a:pPr algn="ctr"/>
            <a:r>
              <a:rPr lang="en-US" altLang="ja-JP" baseline="0">
                <a:latin typeface="+mn-lt"/>
              </a:rPr>
              <a:t>D</a:t>
            </a:r>
          </a:p>
        </p:txBody>
      </p:sp>
      <p:sp>
        <p:nvSpPr>
          <p:cNvPr id="556048" name="Rectangle 16"/>
          <p:cNvSpPr>
            <a:spLocks noChangeArrowheads="1"/>
          </p:cNvSpPr>
          <p:nvPr/>
        </p:nvSpPr>
        <p:spPr bwMode="auto">
          <a:xfrm>
            <a:off x="2232946" y="4418396"/>
            <a:ext cx="360363" cy="358775"/>
          </a:xfrm>
          <a:prstGeom prst="rect">
            <a:avLst/>
          </a:prstGeom>
          <a:noFill/>
          <a:ln w="9525">
            <a:noFill/>
            <a:miter lim="800000"/>
            <a:headEnd/>
            <a:tailEnd/>
          </a:ln>
          <a:effectLst/>
        </p:spPr>
        <p:txBody>
          <a:bodyPr wrap="none" anchor="ctr"/>
          <a:lstStyle/>
          <a:p>
            <a:pPr algn="ctr"/>
            <a:r>
              <a:rPr lang="en-US" altLang="ja-JP" baseline="0">
                <a:latin typeface="+mn-lt"/>
              </a:rPr>
              <a:t>G</a:t>
            </a:r>
          </a:p>
        </p:txBody>
      </p:sp>
      <p:cxnSp>
        <p:nvCxnSpPr>
          <p:cNvPr id="6" name="直線矢印コネクタ 5"/>
          <p:cNvCxnSpPr/>
          <p:nvPr/>
        </p:nvCxnSpPr>
        <p:spPr bwMode="auto">
          <a:xfrm>
            <a:off x="2051916" y="5589203"/>
            <a:ext cx="0" cy="720096"/>
          </a:xfrm>
          <a:prstGeom prst="straightConnector1">
            <a:avLst/>
          </a:prstGeom>
          <a:ln>
            <a:headEnd type="arrow"/>
            <a:tailEnd type="arrow"/>
          </a:ln>
        </p:spPr>
        <p:style>
          <a:lnRef idx="3">
            <a:schemeClr val="accent6"/>
          </a:lnRef>
          <a:fillRef idx="0">
            <a:schemeClr val="accent6"/>
          </a:fillRef>
          <a:effectRef idx="2">
            <a:schemeClr val="accent6"/>
          </a:effectRef>
          <a:fontRef idx="minor">
            <a:schemeClr val="tx1"/>
          </a:fontRef>
        </p:style>
      </p:cxnSp>
      <p:cxnSp>
        <p:nvCxnSpPr>
          <p:cNvPr id="46" name="直線矢印コネクタ 45"/>
          <p:cNvCxnSpPr/>
          <p:nvPr/>
        </p:nvCxnSpPr>
        <p:spPr bwMode="auto">
          <a:xfrm>
            <a:off x="2411964" y="5589203"/>
            <a:ext cx="0" cy="720096"/>
          </a:xfrm>
          <a:prstGeom prst="straightConnector1">
            <a:avLst/>
          </a:prstGeom>
          <a:ln>
            <a:headEnd type="arrow"/>
            <a:tailEnd type="arrow"/>
          </a:ln>
        </p:spPr>
        <p:style>
          <a:lnRef idx="3">
            <a:schemeClr val="accent6"/>
          </a:lnRef>
          <a:fillRef idx="0">
            <a:schemeClr val="accent6"/>
          </a:fillRef>
          <a:effectRef idx="2">
            <a:schemeClr val="accent6"/>
          </a:effectRef>
          <a:fontRef idx="minor">
            <a:schemeClr val="tx1"/>
          </a:fontRef>
        </p:style>
      </p:cxnSp>
      <p:cxnSp>
        <p:nvCxnSpPr>
          <p:cNvPr id="47" name="直線矢印コネクタ 46"/>
          <p:cNvCxnSpPr/>
          <p:nvPr/>
        </p:nvCxnSpPr>
        <p:spPr bwMode="auto">
          <a:xfrm>
            <a:off x="2772012" y="5589203"/>
            <a:ext cx="0" cy="720096"/>
          </a:xfrm>
          <a:prstGeom prst="straightConnector1">
            <a:avLst/>
          </a:prstGeom>
          <a:ln>
            <a:headEnd type="arrow"/>
            <a:tailEnd type="arrow"/>
          </a:ln>
        </p:spPr>
        <p:style>
          <a:lnRef idx="3">
            <a:schemeClr val="accent6"/>
          </a:lnRef>
          <a:fillRef idx="0">
            <a:schemeClr val="accent6"/>
          </a:fillRef>
          <a:effectRef idx="2">
            <a:schemeClr val="accent6"/>
          </a:effectRef>
          <a:fontRef idx="minor">
            <a:schemeClr val="tx1"/>
          </a:fontRef>
        </p:style>
      </p:cxnSp>
      <p:grpSp>
        <p:nvGrpSpPr>
          <p:cNvPr id="7" name="グループ化 6"/>
          <p:cNvGrpSpPr/>
          <p:nvPr/>
        </p:nvGrpSpPr>
        <p:grpSpPr>
          <a:xfrm>
            <a:off x="1962402" y="5859063"/>
            <a:ext cx="900113" cy="180975"/>
            <a:chOff x="1962150" y="5499100"/>
            <a:chExt cx="900113" cy="180975"/>
          </a:xfrm>
        </p:grpSpPr>
        <p:grpSp>
          <p:nvGrpSpPr>
            <p:cNvPr id="556051" name="Group 19"/>
            <p:cNvGrpSpPr>
              <a:grpSpLocks/>
            </p:cNvGrpSpPr>
            <p:nvPr/>
          </p:nvGrpSpPr>
          <p:grpSpPr bwMode="auto">
            <a:xfrm>
              <a:off x="1962150" y="5499100"/>
              <a:ext cx="180975" cy="180975"/>
              <a:chOff x="2823" y="3464"/>
              <a:chExt cx="114" cy="114"/>
            </a:xfrm>
          </p:grpSpPr>
          <p:sp>
            <p:nvSpPr>
              <p:cNvPr id="556049" name="Oval 17"/>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latin typeface="+mn-lt"/>
                </a:endParaRPr>
              </a:p>
            </p:txBody>
          </p:sp>
          <p:sp>
            <p:nvSpPr>
              <p:cNvPr id="556050" name="Line 18"/>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latin typeface="+mn-lt"/>
                </a:endParaRPr>
              </a:p>
            </p:txBody>
          </p:sp>
        </p:grpSp>
        <p:grpSp>
          <p:nvGrpSpPr>
            <p:cNvPr id="556052" name="Group 20"/>
            <p:cNvGrpSpPr>
              <a:grpSpLocks/>
            </p:cNvGrpSpPr>
            <p:nvPr/>
          </p:nvGrpSpPr>
          <p:grpSpPr bwMode="auto">
            <a:xfrm>
              <a:off x="2322513" y="5499100"/>
              <a:ext cx="180975" cy="180975"/>
              <a:chOff x="2823" y="3464"/>
              <a:chExt cx="114" cy="114"/>
            </a:xfrm>
          </p:grpSpPr>
          <p:sp>
            <p:nvSpPr>
              <p:cNvPr id="556053" name="Oval 21"/>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latin typeface="+mn-lt"/>
                </a:endParaRPr>
              </a:p>
            </p:txBody>
          </p:sp>
          <p:sp>
            <p:nvSpPr>
              <p:cNvPr id="556054" name="Line 22"/>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latin typeface="+mn-lt"/>
                </a:endParaRPr>
              </a:p>
            </p:txBody>
          </p:sp>
        </p:grpSp>
        <p:grpSp>
          <p:nvGrpSpPr>
            <p:cNvPr id="556055" name="Group 23"/>
            <p:cNvGrpSpPr>
              <a:grpSpLocks/>
            </p:cNvGrpSpPr>
            <p:nvPr/>
          </p:nvGrpSpPr>
          <p:grpSpPr bwMode="auto">
            <a:xfrm>
              <a:off x="2681288" y="5499100"/>
              <a:ext cx="180975" cy="180975"/>
              <a:chOff x="2823" y="3464"/>
              <a:chExt cx="114" cy="114"/>
            </a:xfrm>
          </p:grpSpPr>
          <p:sp>
            <p:nvSpPr>
              <p:cNvPr id="556056" name="Oval 24"/>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latin typeface="+mn-lt"/>
                </a:endParaRPr>
              </a:p>
            </p:txBody>
          </p:sp>
          <p:sp>
            <p:nvSpPr>
              <p:cNvPr id="556057" name="Line 25"/>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latin typeface="+mn-lt"/>
                </a:endParaRPr>
              </a:p>
            </p:txBody>
          </p:sp>
        </p:grpSp>
      </p:grpSp>
      <p:sp>
        <p:nvSpPr>
          <p:cNvPr id="2" name="Freeform 9">
            <a:extLst>
              <a:ext uri="{FF2B5EF4-FFF2-40B4-BE49-F238E27FC236}">
                <a16:creationId xmlns:a16="http://schemas.microsoft.com/office/drawing/2014/main" id="{B012697E-90BD-1C97-2AB1-DC86FC7DAE70}"/>
              </a:ext>
            </a:extLst>
          </p:cNvPr>
          <p:cNvSpPr>
            <a:spLocks/>
          </p:cNvSpPr>
          <p:nvPr/>
        </p:nvSpPr>
        <p:spPr bwMode="auto">
          <a:xfrm>
            <a:off x="6012016" y="4239009"/>
            <a:ext cx="720750" cy="719137"/>
          </a:xfrm>
          <a:custGeom>
            <a:avLst/>
            <a:gdLst/>
            <a:ahLst/>
            <a:cxnLst>
              <a:cxn ang="0">
                <a:pos x="0" y="453"/>
              </a:cxn>
              <a:cxn ang="0">
                <a:pos x="511" y="453"/>
              </a:cxn>
              <a:cxn ang="0">
                <a:pos x="454" y="0"/>
              </a:cxn>
              <a:cxn ang="0">
                <a:pos x="57" y="0"/>
              </a:cxn>
              <a:cxn ang="0">
                <a:pos x="0" y="453"/>
              </a:cxn>
            </a:cxnLst>
            <a:rect l="0" t="0" r="r" b="b"/>
            <a:pathLst>
              <a:path w="511" h="453">
                <a:moveTo>
                  <a:pt x="0" y="453"/>
                </a:moveTo>
                <a:lnTo>
                  <a:pt x="511" y="453"/>
                </a:lnTo>
                <a:lnTo>
                  <a:pt x="454" y="0"/>
                </a:lnTo>
                <a:lnTo>
                  <a:pt x="57" y="0"/>
                </a:lnTo>
                <a:lnTo>
                  <a:pt x="0" y="453"/>
                </a:lnTo>
                <a:close/>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latin typeface="+mn-lt"/>
            </a:endParaRPr>
          </a:p>
        </p:txBody>
      </p:sp>
      <p:sp>
        <p:nvSpPr>
          <p:cNvPr id="5" name="正方形/長方形 4">
            <a:extLst>
              <a:ext uri="{FF2B5EF4-FFF2-40B4-BE49-F238E27FC236}">
                <a16:creationId xmlns:a16="http://schemas.microsoft.com/office/drawing/2014/main" id="{1541AAB3-0B99-A322-5E59-A5417E122F45}"/>
              </a:ext>
            </a:extLst>
          </p:cNvPr>
          <p:cNvSpPr/>
          <p:nvPr/>
        </p:nvSpPr>
        <p:spPr bwMode="auto">
          <a:xfrm>
            <a:off x="4931816" y="4959119"/>
            <a:ext cx="2880384" cy="270036"/>
          </a:xfrm>
          <a:prstGeom prst="rect">
            <a:avLst/>
          </a:prstGeom>
          <a:ln>
            <a:headEnd type="none" w="med" len="med"/>
            <a:tailEnd type="none" w="med" len="med"/>
          </a:ln>
        </p:spPr>
        <p:style>
          <a:lnRef idx="1">
            <a:schemeClr val="dk1"/>
          </a:lnRef>
          <a:fillRef idx="2">
            <a:schemeClr val="dk1"/>
          </a:fillRef>
          <a:effectRef idx="1">
            <a:schemeClr val="dk1"/>
          </a:effectRef>
          <a:fontRef idx="minor">
            <a:schemeClr val="dk1"/>
          </a:fontRef>
        </p:style>
        <p:txBody>
          <a:bodyPr vert="horz" wrap="none" lIns="36000" tIns="0" rIns="36000" bIns="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dirty="0">
              <a:ln>
                <a:noFill/>
              </a:ln>
              <a:solidFill>
                <a:schemeClr val="tx1"/>
              </a:solidFill>
              <a:effectLst/>
            </a:endParaRPr>
          </a:p>
        </p:txBody>
      </p:sp>
      <p:sp>
        <p:nvSpPr>
          <p:cNvPr id="8" name="Rectangle 8">
            <a:extLst>
              <a:ext uri="{FF2B5EF4-FFF2-40B4-BE49-F238E27FC236}">
                <a16:creationId xmlns:a16="http://schemas.microsoft.com/office/drawing/2014/main" id="{6966788D-91F7-32C1-A417-DE33945F037F}"/>
              </a:ext>
            </a:extLst>
          </p:cNvPr>
          <p:cNvSpPr>
            <a:spLocks noChangeArrowheads="1"/>
          </p:cNvSpPr>
          <p:nvPr/>
        </p:nvSpPr>
        <p:spPr bwMode="auto">
          <a:xfrm>
            <a:off x="4931846" y="5228826"/>
            <a:ext cx="2879725" cy="1439862"/>
          </a:xfrm>
          <a:prstGeom prst="rect">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latin typeface="+mn-lt"/>
            </a:endParaRPr>
          </a:p>
        </p:txBody>
      </p:sp>
      <p:sp>
        <p:nvSpPr>
          <p:cNvPr id="9" name="Freeform 6">
            <a:extLst>
              <a:ext uri="{FF2B5EF4-FFF2-40B4-BE49-F238E27FC236}">
                <a16:creationId xmlns:a16="http://schemas.microsoft.com/office/drawing/2014/main" id="{D7E5104E-C24B-2439-B6CA-7D3FEB2569DD}"/>
              </a:ext>
            </a:extLst>
          </p:cNvPr>
          <p:cNvSpPr>
            <a:spLocks/>
          </p:cNvSpPr>
          <p:nvPr/>
        </p:nvSpPr>
        <p:spPr bwMode="auto">
          <a:xfrm>
            <a:off x="4931846" y="5228826"/>
            <a:ext cx="720725" cy="719137"/>
          </a:xfrm>
          <a:custGeom>
            <a:avLst/>
            <a:gdLst/>
            <a:ahLst/>
            <a:cxnLst>
              <a:cxn ang="0">
                <a:pos x="0" y="0"/>
              </a:cxn>
              <a:cxn ang="0">
                <a:pos x="454" y="0"/>
              </a:cxn>
              <a:cxn ang="0">
                <a:pos x="227" y="453"/>
              </a:cxn>
              <a:cxn ang="0">
                <a:pos x="0" y="453"/>
              </a:cxn>
            </a:cxnLst>
            <a:rect l="0" t="0" r="r" b="b"/>
            <a:pathLst>
              <a:path w="454" h="453">
                <a:moveTo>
                  <a:pt x="0" y="0"/>
                </a:moveTo>
                <a:lnTo>
                  <a:pt x="454" y="0"/>
                </a:lnTo>
                <a:lnTo>
                  <a:pt x="227" y="453"/>
                </a:lnTo>
                <a:lnTo>
                  <a:pt x="0" y="453"/>
                </a:lnTo>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latin typeface="+mn-lt"/>
            </a:endParaRPr>
          </a:p>
        </p:txBody>
      </p:sp>
      <p:sp>
        <p:nvSpPr>
          <p:cNvPr id="10" name="Freeform 7">
            <a:extLst>
              <a:ext uri="{FF2B5EF4-FFF2-40B4-BE49-F238E27FC236}">
                <a16:creationId xmlns:a16="http://schemas.microsoft.com/office/drawing/2014/main" id="{FC1A5FA5-C1B7-5EE2-6671-1CE915E88AEA}"/>
              </a:ext>
            </a:extLst>
          </p:cNvPr>
          <p:cNvSpPr>
            <a:spLocks/>
          </p:cNvSpPr>
          <p:nvPr/>
        </p:nvSpPr>
        <p:spPr bwMode="auto">
          <a:xfrm flipH="1">
            <a:off x="7092434" y="5228826"/>
            <a:ext cx="720725" cy="719137"/>
          </a:xfrm>
          <a:custGeom>
            <a:avLst/>
            <a:gdLst/>
            <a:ahLst/>
            <a:cxnLst>
              <a:cxn ang="0">
                <a:pos x="0" y="0"/>
              </a:cxn>
              <a:cxn ang="0">
                <a:pos x="454" y="0"/>
              </a:cxn>
              <a:cxn ang="0">
                <a:pos x="227" y="453"/>
              </a:cxn>
              <a:cxn ang="0">
                <a:pos x="0" y="453"/>
              </a:cxn>
            </a:cxnLst>
            <a:rect l="0" t="0" r="r" b="b"/>
            <a:pathLst>
              <a:path w="454" h="453">
                <a:moveTo>
                  <a:pt x="0" y="0"/>
                </a:moveTo>
                <a:lnTo>
                  <a:pt x="454" y="0"/>
                </a:lnTo>
                <a:lnTo>
                  <a:pt x="227" y="453"/>
                </a:lnTo>
                <a:lnTo>
                  <a:pt x="0" y="453"/>
                </a:lnTo>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latin typeface="+mn-lt"/>
            </a:endParaRPr>
          </a:p>
        </p:txBody>
      </p:sp>
      <p:sp>
        <p:nvSpPr>
          <p:cNvPr id="11" name="Line 10">
            <a:extLst>
              <a:ext uri="{FF2B5EF4-FFF2-40B4-BE49-F238E27FC236}">
                <a16:creationId xmlns:a16="http://schemas.microsoft.com/office/drawing/2014/main" id="{41EE8F78-6B9D-87FB-5C9E-EA124ECE1DF5}"/>
              </a:ext>
            </a:extLst>
          </p:cNvPr>
          <p:cNvSpPr>
            <a:spLocks noChangeShapeType="1"/>
          </p:cNvSpPr>
          <p:nvPr/>
        </p:nvSpPr>
        <p:spPr bwMode="auto">
          <a:xfrm>
            <a:off x="4931816" y="4959119"/>
            <a:ext cx="2879725" cy="0"/>
          </a:xfrm>
          <a:prstGeom prst="line">
            <a:avLst/>
          </a:prstGeom>
          <a:noFill/>
          <a:ln w="19050">
            <a:solidFill>
              <a:schemeClr val="tx1"/>
            </a:solidFill>
            <a:round/>
            <a:headEnd/>
            <a:tailEnd/>
          </a:ln>
          <a:effectLst/>
        </p:spPr>
        <p:txBody>
          <a:bodyPr/>
          <a:lstStyle/>
          <a:p>
            <a:endParaRPr lang="ja-JP" altLang="en-US">
              <a:latin typeface="+mn-lt"/>
            </a:endParaRPr>
          </a:p>
        </p:txBody>
      </p:sp>
      <p:sp>
        <p:nvSpPr>
          <p:cNvPr id="12" name="Line 11">
            <a:extLst>
              <a:ext uri="{FF2B5EF4-FFF2-40B4-BE49-F238E27FC236}">
                <a16:creationId xmlns:a16="http://schemas.microsoft.com/office/drawing/2014/main" id="{3E5B1AE8-146D-632F-B084-6E8E07394F08}"/>
              </a:ext>
            </a:extLst>
          </p:cNvPr>
          <p:cNvSpPr>
            <a:spLocks noChangeShapeType="1"/>
          </p:cNvSpPr>
          <p:nvPr/>
        </p:nvSpPr>
        <p:spPr bwMode="auto">
          <a:xfrm>
            <a:off x="4931846" y="6668688"/>
            <a:ext cx="2879725" cy="0"/>
          </a:xfrm>
          <a:prstGeom prst="line">
            <a:avLst/>
          </a:prstGeom>
          <a:noFill/>
          <a:ln w="19050">
            <a:solidFill>
              <a:schemeClr val="tx1"/>
            </a:solidFill>
            <a:round/>
            <a:headEnd/>
            <a:tailEnd/>
          </a:ln>
          <a:effectLst/>
        </p:spPr>
        <p:txBody>
          <a:bodyPr/>
          <a:lstStyle/>
          <a:p>
            <a:endParaRPr lang="ja-JP" altLang="en-US">
              <a:latin typeface="+mn-lt"/>
            </a:endParaRPr>
          </a:p>
        </p:txBody>
      </p:sp>
      <p:sp>
        <p:nvSpPr>
          <p:cNvPr id="13" name="Rectangle 12">
            <a:extLst>
              <a:ext uri="{FF2B5EF4-FFF2-40B4-BE49-F238E27FC236}">
                <a16:creationId xmlns:a16="http://schemas.microsoft.com/office/drawing/2014/main" id="{B78E739C-A35D-E813-A09F-BDDE4446ACC7}"/>
              </a:ext>
            </a:extLst>
          </p:cNvPr>
          <p:cNvSpPr>
            <a:spLocks noChangeArrowheads="1"/>
          </p:cNvSpPr>
          <p:nvPr/>
        </p:nvSpPr>
        <p:spPr bwMode="auto">
          <a:xfrm>
            <a:off x="4931846" y="5409801"/>
            <a:ext cx="360363" cy="358775"/>
          </a:xfrm>
          <a:prstGeom prst="rect">
            <a:avLst/>
          </a:prstGeom>
          <a:noFill/>
          <a:ln w="9525">
            <a:noFill/>
            <a:miter lim="800000"/>
            <a:headEnd/>
            <a:tailEnd/>
          </a:ln>
          <a:effectLst/>
        </p:spPr>
        <p:txBody>
          <a:bodyPr wrap="none" anchor="ctr"/>
          <a:lstStyle/>
          <a:p>
            <a:pPr algn="ctr"/>
            <a:r>
              <a:rPr lang="en-US" altLang="ja-JP" baseline="0">
                <a:latin typeface="+mn-lt"/>
              </a:rPr>
              <a:t>S</a:t>
            </a:r>
          </a:p>
        </p:txBody>
      </p:sp>
      <p:sp>
        <p:nvSpPr>
          <p:cNvPr id="14" name="Rectangle 15">
            <a:extLst>
              <a:ext uri="{FF2B5EF4-FFF2-40B4-BE49-F238E27FC236}">
                <a16:creationId xmlns:a16="http://schemas.microsoft.com/office/drawing/2014/main" id="{7C36156A-44D4-D73B-C427-F28FC938BD51}"/>
              </a:ext>
            </a:extLst>
          </p:cNvPr>
          <p:cNvSpPr>
            <a:spLocks noChangeArrowheads="1"/>
          </p:cNvSpPr>
          <p:nvPr/>
        </p:nvSpPr>
        <p:spPr bwMode="auto">
          <a:xfrm>
            <a:off x="7452796" y="5409801"/>
            <a:ext cx="360363" cy="358775"/>
          </a:xfrm>
          <a:prstGeom prst="rect">
            <a:avLst/>
          </a:prstGeom>
          <a:noFill/>
          <a:ln w="9525">
            <a:noFill/>
            <a:miter lim="800000"/>
            <a:headEnd/>
            <a:tailEnd/>
          </a:ln>
          <a:effectLst/>
        </p:spPr>
        <p:txBody>
          <a:bodyPr wrap="none" anchor="ctr"/>
          <a:lstStyle/>
          <a:p>
            <a:pPr algn="ctr"/>
            <a:r>
              <a:rPr lang="en-US" altLang="ja-JP" baseline="0">
                <a:latin typeface="+mn-lt"/>
              </a:rPr>
              <a:t>D</a:t>
            </a:r>
          </a:p>
        </p:txBody>
      </p:sp>
      <p:sp>
        <p:nvSpPr>
          <p:cNvPr id="15" name="Rectangle 16">
            <a:extLst>
              <a:ext uri="{FF2B5EF4-FFF2-40B4-BE49-F238E27FC236}">
                <a16:creationId xmlns:a16="http://schemas.microsoft.com/office/drawing/2014/main" id="{ABE9B84A-7551-C927-B0D3-AC1CA3F22F18}"/>
              </a:ext>
            </a:extLst>
          </p:cNvPr>
          <p:cNvSpPr>
            <a:spLocks noChangeArrowheads="1"/>
          </p:cNvSpPr>
          <p:nvPr/>
        </p:nvSpPr>
        <p:spPr bwMode="auto">
          <a:xfrm>
            <a:off x="6192990" y="4418396"/>
            <a:ext cx="360363" cy="358775"/>
          </a:xfrm>
          <a:prstGeom prst="rect">
            <a:avLst/>
          </a:prstGeom>
          <a:noFill/>
          <a:ln w="9525">
            <a:noFill/>
            <a:miter lim="800000"/>
            <a:headEnd/>
            <a:tailEnd/>
          </a:ln>
          <a:effectLst/>
        </p:spPr>
        <p:txBody>
          <a:bodyPr wrap="none" anchor="ctr"/>
          <a:lstStyle/>
          <a:p>
            <a:pPr algn="ctr"/>
            <a:r>
              <a:rPr lang="en-US" altLang="ja-JP" baseline="0">
                <a:latin typeface="+mn-lt"/>
              </a:rPr>
              <a:t>G</a:t>
            </a:r>
          </a:p>
        </p:txBody>
      </p:sp>
      <p:grpSp>
        <p:nvGrpSpPr>
          <p:cNvPr id="19" name="グループ化 18">
            <a:extLst>
              <a:ext uri="{FF2B5EF4-FFF2-40B4-BE49-F238E27FC236}">
                <a16:creationId xmlns:a16="http://schemas.microsoft.com/office/drawing/2014/main" id="{EFF559BE-F1D7-8ADD-E44C-23F236B57921}"/>
              </a:ext>
            </a:extLst>
          </p:cNvPr>
          <p:cNvGrpSpPr/>
          <p:nvPr/>
        </p:nvGrpSpPr>
        <p:grpSpPr>
          <a:xfrm>
            <a:off x="5922015" y="5319021"/>
            <a:ext cx="900113" cy="180975"/>
            <a:chOff x="1962150" y="5499100"/>
            <a:chExt cx="900113" cy="180975"/>
          </a:xfrm>
        </p:grpSpPr>
        <p:grpSp>
          <p:nvGrpSpPr>
            <p:cNvPr id="20" name="Group 19">
              <a:extLst>
                <a:ext uri="{FF2B5EF4-FFF2-40B4-BE49-F238E27FC236}">
                  <a16:creationId xmlns:a16="http://schemas.microsoft.com/office/drawing/2014/main" id="{8366906E-799E-5CEF-9E73-7D0C37CC9673}"/>
                </a:ext>
              </a:extLst>
            </p:cNvPr>
            <p:cNvGrpSpPr>
              <a:grpSpLocks/>
            </p:cNvGrpSpPr>
            <p:nvPr/>
          </p:nvGrpSpPr>
          <p:grpSpPr bwMode="auto">
            <a:xfrm>
              <a:off x="1962150" y="5499100"/>
              <a:ext cx="180975" cy="180975"/>
              <a:chOff x="2823" y="3464"/>
              <a:chExt cx="114" cy="114"/>
            </a:xfrm>
          </p:grpSpPr>
          <p:sp>
            <p:nvSpPr>
              <p:cNvPr id="27" name="Oval 17">
                <a:extLst>
                  <a:ext uri="{FF2B5EF4-FFF2-40B4-BE49-F238E27FC236}">
                    <a16:creationId xmlns:a16="http://schemas.microsoft.com/office/drawing/2014/main" id="{8CC16491-E66F-3BDC-C8FA-5AD5DA0D2660}"/>
                  </a:ext>
                </a:extLst>
              </p:cNvPr>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latin typeface="+mn-lt"/>
                </a:endParaRPr>
              </a:p>
            </p:txBody>
          </p:sp>
          <p:sp>
            <p:nvSpPr>
              <p:cNvPr id="28" name="Line 18">
                <a:extLst>
                  <a:ext uri="{FF2B5EF4-FFF2-40B4-BE49-F238E27FC236}">
                    <a16:creationId xmlns:a16="http://schemas.microsoft.com/office/drawing/2014/main" id="{E4B388A9-E03F-0314-C692-0AF1FEE523B2}"/>
                  </a:ext>
                </a:extLst>
              </p:cNvPr>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latin typeface="+mn-lt"/>
                </a:endParaRPr>
              </a:p>
            </p:txBody>
          </p:sp>
        </p:grpSp>
        <p:grpSp>
          <p:nvGrpSpPr>
            <p:cNvPr id="21" name="Group 20">
              <a:extLst>
                <a:ext uri="{FF2B5EF4-FFF2-40B4-BE49-F238E27FC236}">
                  <a16:creationId xmlns:a16="http://schemas.microsoft.com/office/drawing/2014/main" id="{D29F5FD8-8030-4AA8-46ED-50E865E8C4AB}"/>
                </a:ext>
              </a:extLst>
            </p:cNvPr>
            <p:cNvGrpSpPr>
              <a:grpSpLocks/>
            </p:cNvGrpSpPr>
            <p:nvPr/>
          </p:nvGrpSpPr>
          <p:grpSpPr bwMode="auto">
            <a:xfrm>
              <a:off x="2322513" y="5499100"/>
              <a:ext cx="180975" cy="180975"/>
              <a:chOff x="2823" y="3464"/>
              <a:chExt cx="114" cy="114"/>
            </a:xfrm>
          </p:grpSpPr>
          <p:sp>
            <p:nvSpPr>
              <p:cNvPr id="25" name="Oval 21">
                <a:extLst>
                  <a:ext uri="{FF2B5EF4-FFF2-40B4-BE49-F238E27FC236}">
                    <a16:creationId xmlns:a16="http://schemas.microsoft.com/office/drawing/2014/main" id="{E263F852-92FD-ED3E-12E9-CE2B8F024205}"/>
                  </a:ext>
                </a:extLst>
              </p:cNvPr>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latin typeface="+mn-lt"/>
                </a:endParaRPr>
              </a:p>
            </p:txBody>
          </p:sp>
          <p:sp>
            <p:nvSpPr>
              <p:cNvPr id="26" name="Line 22">
                <a:extLst>
                  <a:ext uri="{FF2B5EF4-FFF2-40B4-BE49-F238E27FC236}">
                    <a16:creationId xmlns:a16="http://schemas.microsoft.com/office/drawing/2014/main" id="{878A30F6-9405-EEDF-0C79-797D412FCA86}"/>
                  </a:ext>
                </a:extLst>
              </p:cNvPr>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latin typeface="+mn-lt"/>
                </a:endParaRPr>
              </a:p>
            </p:txBody>
          </p:sp>
        </p:grpSp>
        <p:grpSp>
          <p:nvGrpSpPr>
            <p:cNvPr id="22" name="Group 23">
              <a:extLst>
                <a:ext uri="{FF2B5EF4-FFF2-40B4-BE49-F238E27FC236}">
                  <a16:creationId xmlns:a16="http://schemas.microsoft.com/office/drawing/2014/main" id="{1B637B3A-E433-8320-EC77-4C1FE525D962}"/>
                </a:ext>
              </a:extLst>
            </p:cNvPr>
            <p:cNvGrpSpPr>
              <a:grpSpLocks/>
            </p:cNvGrpSpPr>
            <p:nvPr/>
          </p:nvGrpSpPr>
          <p:grpSpPr bwMode="auto">
            <a:xfrm>
              <a:off x="2681288" y="5499100"/>
              <a:ext cx="180975" cy="180975"/>
              <a:chOff x="2823" y="3464"/>
              <a:chExt cx="114" cy="114"/>
            </a:xfrm>
          </p:grpSpPr>
          <p:sp>
            <p:nvSpPr>
              <p:cNvPr id="23" name="Oval 24">
                <a:extLst>
                  <a:ext uri="{FF2B5EF4-FFF2-40B4-BE49-F238E27FC236}">
                    <a16:creationId xmlns:a16="http://schemas.microsoft.com/office/drawing/2014/main" id="{19DCBB86-BFF2-9606-6793-252FF5475106}"/>
                  </a:ext>
                </a:extLst>
              </p:cNvPr>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latin typeface="+mn-lt"/>
                </a:endParaRPr>
              </a:p>
            </p:txBody>
          </p:sp>
          <p:sp>
            <p:nvSpPr>
              <p:cNvPr id="24" name="Line 25">
                <a:extLst>
                  <a:ext uri="{FF2B5EF4-FFF2-40B4-BE49-F238E27FC236}">
                    <a16:creationId xmlns:a16="http://schemas.microsoft.com/office/drawing/2014/main" id="{54E16104-C51D-A5B5-3F3E-CF8F267763D7}"/>
                  </a:ext>
                </a:extLst>
              </p:cNvPr>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latin typeface="+mn-lt"/>
                </a:endParaRPr>
              </a:p>
            </p:txBody>
          </p:sp>
        </p:grpSp>
      </p:grpSp>
      <p:cxnSp>
        <p:nvCxnSpPr>
          <p:cNvPr id="30" name="直線矢印コネクタ 29">
            <a:extLst>
              <a:ext uri="{FF2B5EF4-FFF2-40B4-BE49-F238E27FC236}">
                <a16:creationId xmlns:a16="http://schemas.microsoft.com/office/drawing/2014/main" id="{8280BC87-7615-05B2-F4D5-26B9B6616364}"/>
              </a:ext>
            </a:extLst>
          </p:cNvPr>
          <p:cNvCxnSpPr/>
          <p:nvPr/>
        </p:nvCxnSpPr>
        <p:spPr bwMode="auto">
          <a:xfrm>
            <a:off x="5202007" y="5319021"/>
            <a:ext cx="2340026" cy="0"/>
          </a:xfrm>
          <a:prstGeom prst="straightConnector1">
            <a:avLst/>
          </a:prstGeom>
          <a:ln>
            <a:headEnd type="none" w="med" len="med"/>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15333412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MOS </a:t>
            </a:r>
            <a:r>
              <a:rPr lang="ja-JP" altLang="en-US" dirty="0"/>
              <a:t>には </a:t>
            </a:r>
            <a:r>
              <a:rPr lang="en-US" altLang="ja-JP" dirty="0"/>
              <a:t>NMOS </a:t>
            </a:r>
            <a:r>
              <a:rPr lang="ja-JP" altLang="en-US" dirty="0"/>
              <a:t>と </a:t>
            </a:r>
            <a:r>
              <a:rPr lang="en-US" altLang="ja-JP" dirty="0"/>
              <a:t>PMOS </a:t>
            </a:r>
            <a:r>
              <a:rPr lang="ja-JP" altLang="en-US" dirty="0"/>
              <a:t>の２つがある</a:t>
            </a:r>
          </a:p>
        </p:txBody>
      </p:sp>
      <p:sp>
        <p:nvSpPr>
          <p:cNvPr id="3" name="コンテンツ プレースホルダ 2"/>
          <p:cNvSpPr>
            <a:spLocks noGrp="1"/>
          </p:cNvSpPr>
          <p:nvPr>
            <p:ph idx="10"/>
          </p:nvPr>
        </p:nvSpPr>
        <p:spPr>
          <a:xfrm>
            <a:off x="611188" y="1089025"/>
            <a:ext cx="8280400" cy="5219700"/>
          </a:xfrm>
        </p:spPr>
        <p:txBody>
          <a:bodyPr/>
          <a:lstStyle/>
          <a:p>
            <a:r>
              <a:rPr lang="en-US" altLang="ja-JP" dirty="0"/>
              <a:t>Negative (N)</a:t>
            </a:r>
          </a:p>
          <a:p>
            <a:pPr lvl="1"/>
            <a:r>
              <a:rPr lang="ja-JP" altLang="en-US" dirty="0"/>
              <a:t>電子がキャリア</a:t>
            </a:r>
            <a:endParaRPr lang="en-US" altLang="ja-JP" dirty="0"/>
          </a:p>
          <a:p>
            <a:pPr lvl="1"/>
            <a:r>
              <a:rPr lang="ja-JP" altLang="en-US" dirty="0"/>
              <a:t>低電位しか通せない</a:t>
            </a:r>
            <a:endParaRPr lang="en-US" altLang="ja-JP" dirty="0"/>
          </a:p>
          <a:p>
            <a:pPr lvl="1"/>
            <a:r>
              <a:rPr lang="ja-JP" altLang="en-US" dirty="0"/>
              <a:t>接地側に配置</a:t>
            </a:r>
            <a:endParaRPr lang="en-US" altLang="ja-JP" dirty="0"/>
          </a:p>
          <a:p>
            <a:pPr lvl="1"/>
            <a:endParaRPr lang="en-US" altLang="ja-JP" dirty="0"/>
          </a:p>
          <a:p>
            <a:r>
              <a:rPr lang="en-US" altLang="ja-JP" dirty="0"/>
              <a:t>Positive (P)</a:t>
            </a:r>
          </a:p>
          <a:p>
            <a:pPr lvl="1"/>
            <a:r>
              <a:rPr lang="ja-JP" altLang="en-US" dirty="0"/>
              <a:t>正孔 </a:t>
            </a:r>
            <a:r>
              <a:rPr lang="en-US" altLang="ja-JP" dirty="0"/>
              <a:t>(hole)</a:t>
            </a:r>
            <a:r>
              <a:rPr lang="ja-JP" altLang="en-US" dirty="0"/>
              <a:t> がキャリア</a:t>
            </a:r>
            <a:endParaRPr lang="en-US" altLang="ja-JP" dirty="0"/>
          </a:p>
          <a:p>
            <a:pPr lvl="1"/>
            <a:r>
              <a:rPr lang="ja-JP" altLang="en-US" dirty="0"/>
              <a:t>高電位しか通せない</a:t>
            </a:r>
            <a:endParaRPr lang="en-US" altLang="ja-JP" dirty="0"/>
          </a:p>
          <a:p>
            <a:pPr lvl="1"/>
            <a:r>
              <a:rPr lang="ja-JP" altLang="en-US" dirty="0"/>
              <a:t>電源側に配置</a:t>
            </a:r>
            <a:endParaRPr lang="en-US" altLang="ja-JP" dirty="0"/>
          </a:p>
          <a:p>
            <a:pPr lvl="1"/>
            <a:r>
              <a:rPr lang="en-US" altLang="ja-JP" dirty="0"/>
              <a:t>Gate </a:t>
            </a:r>
            <a:r>
              <a:rPr lang="ja-JP" altLang="en-US" dirty="0"/>
              <a:t>に○がついている</a:t>
            </a:r>
            <a:endParaRPr lang="en-US" altLang="ja-JP" dirty="0"/>
          </a:p>
        </p:txBody>
      </p:sp>
      <p:grpSp>
        <p:nvGrpSpPr>
          <p:cNvPr id="6" name="グループ化 5"/>
          <p:cNvGrpSpPr/>
          <p:nvPr/>
        </p:nvGrpSpPr>
        <p:grpSpPr>
          <a:xfrm>
            <a:off x="4572000" y="4599013"/>
            <a:ext cx="2160240" cy="1475975"/>
            <a:chOff x="5292080" y="3203975"/>
            <a:chExt cx="2160240" cy="1475975"/>
          </a:xfrm>
        </p:grpSpPr>
        <p:cxnSp>
          <p:nvCxnSpPr>
            <p:cNvPr id="7" name="直線コネクタ 6"/>
            <p:cNvCxnSpPr/>
            <p:nvPr/>
          </p:nvCxnSpPr>
          <p:spPr bwMode="auto">
            <a:xfrm>
              <a:off x="6372200" y="3203975"/>
              <a:ext cx="0" cy="356394"/>
            </a:xfrm>
            <a:prstGeom prst="line">
              <a:avLst/>
            </a:prstGeom>
            <a:noFill/>
            <a:ln w="12700" cap="rnd" cmpd="sng" algn="ctr">
              <a:solidFill>
                <a:schemeClr val="tx1"/>
              </a:solidFill>
              <a:prstDash val="solid"/>
              <a:round/>
              <a:headEnd type="none" w="med" len="med"/>
              <a:tailEnd type="none" w="med" len="med"/>
            </a:ln>
            <a:effectLst/>
          </p:spPr>
        </p:cxnSp>
        <p:cxnSp>
          <p:nvCxnSpPr>
            <p:cNvPr id="8" name="直線コネクタ 7"/>
            <p:cNvCxnSpPr/>
            <p:nvPr/>
          </p:nvCxnSpPr>
          <p:spPr bwMode="auto">
            <a:xfrm>
              <a:off x="5292080" y="4149080"/>
              <a:ext cx="720080" cy="1"/>
            </a:xfrm>
            <a:prstGeom prst="line">
              <a:avLst/>
            </a:prstGeom>
            <a:noFill/>
            <a:ln w="12700" cap="rnd" cmpd="sng" algn="ctr">
              <a:solidFill>
                <a:schemeClr val="tx1"/>
              </a:solidFill>
              <a:prstDash val="solid"/>
              <a:round/>
              <a:headEnd type="none" w="med" len="med"/>
              <a:tailEnd type="none" w="med" len="med"/>
            </a:ln>
            <a:effectLst/>
          </p:spPr>
        </p:cxnSp>
        <p:cxnSp>
          <p:nvCxnSpPr>
            <p:cNvPr id="9" name="直線コネクタ 8"/>
            <p:cNvCxnSpPr/>
            <p:nvPr/>
          </p:nvCxnSpPr>
          <p:spPr bwMode="auto">
            <a:xfrm>
              <a:off x="6732240" y="41490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10" name="直線コネクタ 9"/>
            <p:cNvCxnSpPr/>
            <p:nvPr/>
          </p:nvCxnSpPr>
          <p:spPr bwMode="auto">
            <a:xfrm>
              <a:off x="6012160" y="3789040"/>
              <a:ext cx="720080" cy="0"/>
            </a:xfrm>
            <a:prstGeom prst="line">
              <a:avLst/>
            </a:prstGeom>
            <a:noFill/>
            <a:ln w="38100" cap="rnd" cmpd="sng" algn="ctr">
              <a:solidFill>
                <a:schemeClr val="tx1"/>
              </a:solidFill>
              <a:prstDash val="solid"/>
              <a:round/>
              <a:headEnd type="none" w="med" len="med"/>
              <a:tailEnd type="none" w="med" len="med"/>
            </a:ln>
            <a:effectLst/>
          </p:spPr>
        </p:cxnSp>
        <p:cxnSp>
          <p:nvCxnSpPr>
            <p:cNvPr id="11" name="直線コネクタ 10"/>
            <p:cNvCxnSpPr/>
            <p:nvPr/>
          </p:nvCxnSpPr>
          <p:spPr bwMode="auto">
            <a:xfrm>
              <a:off x="6012160" y="37890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12" name="直線コネクタ 11"/>
            <p:cNvCxnSpPr/>
            <p:nvPr/>
          </p:nvCxnSpPr>
          <p:spPr bwMode="auto">
            <a:xfrm>
              <a:off x="6732240" y="37890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13" name="直線コネクタ 12"/>
            <p:cNvCxnSpPr/>
            <p:nvPr/>
          </p:nvCxnSpPr>
          <p:spPr bwMode="auto">
            <a:xfrm>
              <a:off x="6012160" y="3654025"/>
              <a:ext cx="720080" cy="0"/>
            </a:xfrm>
            <a:prstGeom prst="line">
              <a:avLst/>
            </a:prstGeom>
            <a:noFill/>
            <a:ln w="38100" cap="rnd" cmpd="sng" algn="ctr">
              <a:solidFill>
                <a:schemeClr val="tx1"/>
              </a:solidFill>
              <a:prstDash val="solid"/>
              <a:round/>
              <a:headEnd type="none" w="med" len="med"/>
              <a:tailEnd type="none" w="med" len="med"/>
            </a:ln>
            <a:effectLst/>
          </p:spPr>
        </p:cxnSp>
        <p:sp useBgFill="1">
          <p:nvSpPr>
            <p:cNvPr id="14" name="円/楕円 13"/>
            <p:cNvSpPr/>
            <p:nvPr/>
          </p:nvSpPr>
          <p:spPr bwMode="auto">
            <a:xfrm>
              <a:off x="6304693" y="3519010"/>
              <a:ext cx="135015" cy="132239"/>
            </a:xfrm>
            <a:prstGeom prst="ellipse">
              <a:avLst/>
            </a:prstGeom>
            <a:ln w="38100" cap="flat" cmpd="sng" algn="ctr">
              <a:solidFill>
                <a:schemeClr val="accent6"/>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60000">
                <a:ln>
                  <a:noFill/>
                </a:ln>
                <a:effectLst/>
                <a:latin typeface="Times New Roman" pitchFamily="18" charset="0"/>
                <a:ea typeface="HG丸ｺﾞｼｯｸM-PRO" pitchFamily="50" charset="-128"/>
              </a:endParaRPr>
            </a:p>
          </p:txBody>
        </p:sp>
        <p:sp>
          <p:nvSpPr>
            <p:cNvPr id="15" name="正方形/長方形 14"/>
            <p:cNvSpPr/>
            <p:nvPr/>
          </p:nvSpPr>
          <p:spPr bwMode="auto">
            <a:xfrm>
              <a:off x="5683250" y="4362450"/>
              <a:ext cx="1466850" cy="317500"/>
            </a:xfrm>
            <a:prstGeom prst="rect">
              <a:avLst/>
            </a:prstGeom>
            <a:noFill/>
            <a:ln>
              <a:noFill/>
              <a:headEnd type="none" w="med" len="med"/>
              <a:tailEnd type="none" w="med" len="med"/>
            </a:ln>
          </p:spPr>
          <p:style>
            <a:lnRef idx="2">
              <a:schemeClr val="accent3"/>
            </a:lnRef>
            <a:fillRef idx="1">
              <a:schemeClr val="lt1"/>
            </a:fillRef>
            <a:effectRef idx="0">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dirty="0">
                  <a:solidFill>
                    <a:schemeClr val="tx1"/>
                  </a:solidFill>
                  <a:latin typeface="Times New Roman" pitchFamily="18" charset="0"/>
                  <a:ea typeface="HG丸ｺﾞｼｯｸM-PRO" pitchFamily="50" charset="-128"/>
                </a:rPr>
                <a:t>P</a:t>
              </a:r>
              <a:r>
                <a:rPr kumimoji="1" lang="en-US" altLang="ja-JP" sz="1800" b="0" i="0" u="none" strike="noStrike" cap="none" normalizeH="0" baseline="0" dirty="0">
                  <a:ln>
                    <a:noFill/>
                  </a:ln>
                  <a:solidFill>
                    <a:schemeClr val="tx1"/>
                  </a:solidFill>
                  <a:effectLst/>
                  <a:latin typeface="Times New Roman" pitchFamily="18" charset="0"/>
                  <a:ea typeface="HG丸ｺﾞｼｯｸM-PRO" pitchFamily="50" charset="-128"/>
                </a:rPr>
                <a:t>MOS</a:t>
              </a:r>
              <a:endParaRPr kumimoji="1" lang="ja-JP" altLang="en-US" sz="1800" b="0" i="0" u="none" strike="noStrike" cap="none" normalizeH="0" baseline="0" dirty="0">
                <a:ln>
                  <a:noFill/>
                </a:ln>
                <a:solidFill>
                  <a:schemeClr val="tx1"/>
                </a:solidFill>
                <a:effectLst/>
                <a:latin typeface="Times New Roman" pitchFamily="18" charset="0"/>
                <a:ea typeface="HG丸ｺﾞｼｯｸM-PRO" pitchFamily="50" charset="-128"/>
              </a:endParaRPr>
            </a:p>
          </p:txBody>
        </p:sp>
      </p:grpSp>
      <p:grpSp>
        <p:nvGrpSpPr>
          <p:cNvPr id="16" name="グループ化 15"/>
          <p:cNvGrpSpPr/>
          <p:nvPr/>
        </p:nvGrpSpPr>
        <p:grpSpPr>
          <a:xfrm>
            <a:off x="4572000" y="2168986"/>
            <a:ext cx="2160240" cy="1487513"/>
            <a:chOff x="5292080" y="5004175"/>
            <a:chExt cx="2160240" cy="1487513"/>
          </a:xfrm>
        </p:grpSpPr>
        <p:cxnSp>
          <p:nvCxnSpPr>
            <p:cNvPr id="17" name="直線コネクタ 16"/>
            <p:cNvCxnSpPr/>
            <p:nvPr/>
          </p:nvCxnSpPr>
          <p:spPr bwMode="auto">
            <a:xfrm>
              <a:off x="5292080" y="59492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18" name="直線コネクタ 17"/>
            <p:cNvCxnSpPr/>
            <p:nvPr/>
          </p:nvCxnSpPr>
          <p:spPr bwMode="auto">
            <a:xfrm>
              <a:off x="6732240" y="59492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19" name="直線コネクタ 18"/>
            <p:cNvCxnSpPr/>
            <p:nvPr/>
          </p:nvCxnSpPr>
          <p:spPr bwMode="auto">
            <a:xfrm>
              <a:off x="6012160" y="5589240"/>
              <a:ext cx="720080" cy="0"/>
            </a:xfrm>
            <a:prstGeom prst="line">
              <a:avLst/>
            </a:prstGeom>
            <a:noFill/>
            <a:ln w="38100" cap="rnd" cmpd="sng" algn="ctr">
              <a:solidFill>
                <a:schemeClr val="tx1"/>
              </a:solidFill>
              <a:prstDash val="solid"/>
              <a:round/>
              <a:headEnd type="none" w="med" len="med"/>
              <a:tailEnd type="none" w="med" len="med"/>
            </a:ln>
            <a:effectLst/>
          </p:spPr>
        </p:cxnSp>
        <p:cxnSp>
          <p:nvCxnSpPr>
            <p:cNvPr id="20" name="直線コネクタ 19"/>
            <p:cNvCxnSpPr/>
            <p:nvPr/>
          </p:nvCxnSpPr>
          <p:spPr bwMode="auto">
            <a:xfrm>
              <a:off x="6012160" y="55892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21" name="直線コネクタ 20"/>
            <p:cNvCxnSpPr/>
            <p:nvPr/>
          </p:nvCxnSpPr>
          <p:spPr bwMode="auto">
            <a:xfrm>
              <a:off x="6732240" y="55892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22" name="直線コネクタ 21"/>
            <p:cNvCxnSpPr/>
            <p:nvPr/>
          </p:nvCxnSpPr>
          <p:spPr bwMode="auto">
            <a:xfrm>
              <a:off x="6012160" y="5454225"/>
              <a:ext cx="720080" cy="1"/>
            </a:xfrm>
            <a:prstGeom prst="line">
              <a:avLst/>
            </a:prstGeom>
            <a:noFill/>
            <a:ln w="38100" cap="rnd" cmpd="sng" algn="ctr">
              <a:solidFill>
                <a:schemeClr val="tx1"/>
              </a:solidFill>
              <a:prstDash val="solid"/>
              <a:round/>
              <a:headEnd type="none" w="med" len="med"/>
              <a:tailEnd type="none" w="med" len="med"/>
            </a:ln>
            <a:effectLst/>
          </p:spPr>
        </p:cxnSp>
        <p:cxnSp>
          <p:nvCxnSpPr>
            <p:cNvPr id="23" name="直線コネクタ 22"/>
            <p:cNvCxnSpPr/>
            <p:nvPr/>
          </p:nvCxnSpPr>
          <p:spPr bwMode="auto">
            <a:xfrm>
              <a:off x="6372200" y="5004175"/>
              <a:ext cx="0" cy="450050"/>
            </a:xfrm>
            <a:prstGeom prst="line">
              <a:avLst/>
            </a:prstGeom>
            <a:noFill/>
            <a:ln w="12700" cap="rnd" cmpd="sng" algn="ctr">
              <a:solidFill>
                <a:schemeClr val="tx1"/>
              </a:solidFill>
              <a:prstDash val="solid"/>
              <a:round/>
              <a:headEnd type="none" w="med" len="med"/>
              <a:tailEnd type="none" w="med" len="med"/>
            </a:ln>
            <a:effectLst/>
          </p:spPr>
        </p:cxnSp>
        <p:sp>
          <p:nvSpPr>
            <p:cNvPr id="24" name="正方形/長方形 23"/>
            <p:cNvSpPr/>
            <p:nvPr/>
          </p:nvSpPr>
          <p:spPr bwMode="auto">
            <a:xfrm>
              <a:off x="5652084" y="6174188"/>
              <a:ext cx="1466850" cy="317500"/>
            </a:xfrm>
            <a:prstGeom prst="rect">
              <a:avLst/>
            </a:prstGeom>
            <a:noFill/>
            <a:ln>
              <a:noFill/>
              <a:headEnd type="none" w="med" len="med"/>
              <a:tailEnd type="none" w="med" len="med"/>
            </a:ln>
          </p:spPr>
          <p:style>
            <a:lnRef idx="2">
              <a:schemeClr val="accent3"/>
            </a:lnRef>
            <a:fillRef idx="1">
              <a:schemeClr val="lt1"/>
            </a:fillRef>
            <a:effectRef idx="0">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dirty="0">
                  <a:solidFill>
                    <a:schemeClr val="tx1"/>
                  </a:solidFill>
                  <a:latin typeface="Times New Roman" pitchFamily="18" charset="0"/>
                  <a:ea typeface="HG丸ｺﾞｼｯｸM-PRO" pitchFamily="50" charset="-128"/>
                </a:rPr>
                <a:t>N</a:t>
              </a:r>
              <a:r>
                <a:rPr kumimoji="1" lang="en-US" altLang="ja-JP" sz="1800" b="0" i="0" u="none" strike="noStrike" cap="none" normalizeH="0" baseline="0" dirty="0">
                  <a:ln>
                    <a:noFill/>
                  </a:ln>
                  <a:solidFill>
                    <a:schemeClr val="tx1"/>
                  </a:solidFill>
                  <a:effectLst/>
                  <a:latin typeface="Times New Roman" pitchFamily="18" charset="0"/>
                  <a:ea typeface="HG丸ｺﾞｼｯｸM-PRO" pitchFamily="50" charset="-128"/>
                </a:rPr>
                <a:t>MOS</a:t>
              </a:r>
              <a:endParaRPr kumimoji="1" lang="ja-JP" altLang="en-US" sz="1800" b="0" i="0" u="none" strike="noStrike" cap="none" normalizeH="0" baseline="0" dirty="0">
                <a:ln>
                  <a:noFill/>
                </a:ln>
                <a:solidFill>
                  <a:schemeClr val="tx1"/>
                </a:solidFill>
                <a:effectLst/>
                <a:latin typeface="Times New Roman" pitchFamily="18" charset="0"/>
                <a:ea typeface="HG丸ｺﾞｼｯｸM-PRO" pitchFamily="50" charset="-128"/>
              </a:endParaRPr>
            </a:p>
          </p:txBody>
        </p:sp>
      </p:grpSp>
      <p:sp>
        <p:nvSpPr>
          <p:cNvPr id="25" name="Rectangle 93"/>
          <p:cNvSpPr>
            <a:spLocks noChangeArrowheads="1"/>
          </p:cNvSpPr>
          <p:nvPr/>
        </p:nvSpPr>
        <p:spPr bwMode="auto">
          <a:xfrm>
            <a:off x="5292008" y="1808982"/>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Gate</a:t>
            </a:r>
          </a:p>
        </p:txBody>
      </p:sp>
      <p:sp>
        <p:nvSpPr>
          <p:cNvPr id="26" name="Rectangle 93"/>
          <p:cNvSpPr>
            <a:spLocks noChangeArrowheads="1"/>
          </p:cNvSpPr>
          <p:nvPr/>
        </p:nvSpPr>
        <p:spPr bwMode="auto">
          <a:xfrm>
            <a:off x="4211996" y="2708992"/>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Source</a:t>
            </a:r>
          </a:p>
        </p:txBody>
      </p:sp>
      <p:sp>
        <p:nvSpPr>
          <p:cNvPr id="27" name="Rectangle 93"/>
          <p:cNvSpPr>
            <a:spLocks noChangeArrowheads="1"/>
          </p:cNvSpPr>
          <p:nvPr/>
        </p:nvSpPr>
        <p:spPr bwMode="auto">
          <a:xfrm>
            <a:off x="6192018" y="2708992"/>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Drain</a:t>
            </a:r>
          </a:p>
        </p:txBody>
      </p:sp>
      <p:sp>
        <p:nvSpPr>
          <p:cNvPr id="28" name="Rectangle 93"/>
          <p:cNvSpPr>
            <a:spLocks noChangeArrowheads="1"/>
          </p:cNvSpPr>
          <p:nvPr/>
        </p:nvSpPr>
        <p:spPr bwMode="auto">
          <a:xfrm>
            <a:off x="5292008" y="4239009"/>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Gate</a:t>
            </a:r>
          </a:p>
        </p:txBody>
      </p:sp>
      <p:sp>
        <p:nvSpPr>
          <p:cNvPr id="29" name="Rectangle 93"/>
          <p:cNvSpPr>
            <a:spLocks noChangeArrowheads="1"/>
          </p:cNvSpPr>
          <p:nvPr/>
        </p:nvSpPr>
        <p:spPr bwMode="auto">
          <a:xfrm>
            <a:off x="4211996" y="5139019"/>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Source</a:t>
            </a:r>
          </a:p>
        </p:txBody>
      </p:sp>
      <p:sp>
        <p:nvSpPr>
          <p:cNvPr id="30" name="Rectangle 93"/>
          <p:cNvSpPr>
            <a:spLocks noChangeArrowheads="1"/>
          </p:cNvSpPr>
          <p:nvPr/>
        </p:nvSpPr>
        <p:spPr bwMode="auto">
          <a:xfrm>
            <a:off x="6192018" y="5139019"/>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Drain</a:t>
            </a:r>
          </a:p>
        </p:txBody>
      </p:sp>
    </p:spTree>
    <p:extLst>
      <p:ext uri="{BB962C8B-B14F-4D97-AF65-F5344CB8AC3E}">
        <p14:creationId xmlns:p14="http://schemas.microsoft.com/office/powerpoint/2010/main" val="340964026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N </a:t>
            </a:r>
            <a:r>
              <a:rPr lang="ja-JP" altLang="en-US" dirty="0"/>
              <a:t>型</a:t>
            </a:r>
            <a:r>
              <a:rPr lang="en-US" altLang="ja-JP" dirty="0"/>
              <a:t>/P </a:t>
            </a:r>
            <a:r>
              <a:rPr lang="ja-JP" altLang="en-US" dirty="0"/>
              <a:t>型リレーとほぼ同じ動作</a:t>
            </a:r>
          </a:p>
        </p:txBody>
      </p:sp>
      <p:sp>
        <p:nvSpPr>
          <p:cNvPr id="3" name="コンテンツ プレースホルダ 2"/>
          <p:cNvSpPr>
            <a:spLocks noGrp="1"/>
          </p:cNvSpPr>
          <p:nvPr>
            <p:ph idx="10"/>
          </p:nvPr>
        </p:nvSpPr>
        <p:spPr>
          <a:xfrm>
            <a:off x="611188" y="1089025"/>
            <a:ext cx="8280400" cy="5219700"/>
          </a:xfrm>
        </p:spPr>
        <p:txBody>
          <a:bodyPr/>
          <a:lstStyle/>
          <a:p>
            <a:r>
              <a:rPr lang="en-US" altLang="ja-JP" dirty="0"/>
              <a:t>Negative</a:t>
            </a:r>
          </a:p>
          <a:p>
            <a:pPr lvl="1"/>
            <a:r>
              <a:rPr lang="en-US" altLang="ja-JP" dirty="0"/>
              <a:t>Gate </a:t>
            </a:r>
            <a:r>
              <a:rPr lang="ja-JP" altLang="en-US" dirty="0"/>
              <a:t>を </a:t>
            </a:r>
            <a:r>
              <a:rPr lang="en-US" altLang="ja-JP" dirty="0"/>
              <a:t>1 </a:t>
            </a:r>
            <a:r>
              <a:rPr lang="ja-JP" altLang="en-US" dirty="0"/>
              <a:t>にすると</a:t>
            </a:r>
            <a:br>
              <a:rPr lang="en-US" altLang="ja-JP" dirty="0"/>
            </a:br>
            <a:r>
              <a:rPr lang="en-US" altLang="ja-JP" dirty="0"/>
              <a:t>ON </a:t>
            </a:r>
            <a:r>
              <a:rPr lang="ja-JP" altLang="en-US" dirty="0"/>
              <a:t>になる</a:t>
            </a:r>
            <a:endParaRPr lang="en-US" altLang="ja-JP" dirty="0"/>
          </a:p>
          <a:p>
            <a:pPr lvl="1"/>
            <a:endParaRPr lang="en-US" altLang="ja-JP" dirty="0"/>
          </a:p>
          <a:p>
            <a:pPr lvl="1"/>
            <a:endParaRPr lang="en-US" altLang="ja-JP" dirty="0"/>
          </a:p>
          <a:p>
            <a:r>
              <a:rPr lang="en-US" altLang="ja-JP" dirty="0"/>
              <a:t>Positive</a:t>
            </a:r>
          </a:p>
          <a:p>
            <a:pPr lvl="1"/>
            <a:r>
              <a:rPr lang="en-US" altLang="ja-JP" dirty="0"/>
              <a:t>Gate </a:t>
            </a:r>
            <a:r>
              <a:rPr lang="ja-JP" altLang="en-US" dirty="0"/>
              <a:t>を ０</a:t>
            </a:r>
            <a:r>
              <a:rPr lang="en-US" altLang="ja-JP" dirty="0"/>
              <a:t> </a:t>
            </a:r>
            <a:r>
              <a:rPr lang="ja-JP" altLang="en-US" dirty="0"/>
              <a:t>にすると</a:t>
            </a:r>
            <a:br>
              <a:rPr lang="en-US" altLang="ja-JP" dirty="0"/>
            </a:br>
            <a:r>
              <a:rPr lang="en-US" altLang="ja-JP" dirty="0"/>
              <a:t>ON </a:t>
            </a:r>
            <a:r>
              <a:rPr lang="ja-JP" altLang="en-US" dirty="0"/>
              <a:t>になる</a:t>
            </a:r>
            <a:endParaRPr lang="en-US" altLang="ja-JP" dirty="0"/>
          </a:p>
        </p:txBody>
      </p:sp>
      <p:grpSp>
        <p:nvGrpSpPr>
          <p:cNvPr id="6" name="グループ化 5"/>
          <p:cNvGrpSpPr/>
          <p:nvPr/>
        </p:nvGrpSpPr>
        <p:grpSpPr>
          <a:xfrm>
            <a:off x="4391998" y="4419011"/>
            <a:ext cx="2160240" cy="1475975"/>
            <a:chOff x="5292080" y="3203975"/>
            <a:chExt cx="2160240" cy="1475975"/>
          </a:xfrm>
        </p:grpSpPr>
        <p:cxnSp>
          <p:nvCxnSpPr>
            <p:cNvPr id="7" name="直線コネクタ 6"/>
            <p:cNvCxnSpPr/>
            <p:nvPr/>
          </p:nvCxnSpPr>
          <p:spPr bwMode="auto">
            <a:xfrm>
              <a:off x="6372200" y="3203975"/>
              <a:ext cx="0" cy="356394"/>
            </a:xfrm>
            <a:prstGeom prst="line">
              <a:avLst/>
            </a:prstGeom>
            <a:noFill/>
            <a:ln w="12700" cap="rnd" cmpd="sng" algn="ctr">
              <a:solidFill>
                <a:schemeClr val="tx1"/>
              </a:solidFill>
              <a:prstDash val="solid"/>
              <a:round/>
              <a:headEnd type="none" w="med" len="med"/>
              <a:tailEnd type="none" w="med" len="med"/>
            </a:ln>
            <a:effectLst/>
          </p:spPr>
        </p:cxnSp>
        <p:cxnSp>
          <p:nvCxnSpPr>
            <p:cNvPr id="8" name="直線コネクタ 7"/>
            <p:cNvCxnSpPr/>
            <p:nvPr/>
          </p:nvCxnSpPr>
          <p:spPr bwMode="auto">
            <a:xfrm>
              <a:off x="5292080" y="4149080"/>
              <a:ext cx="720080" cy="1"/>
            </a:xfrm>
            <a:prstGeom prst="line">
              <a:avLst/>
            </a:prstGeom>
            <a:noFill/>
            <a:ln w="12700" cap="rnd" cmpd="sng" algn="ctr">
              <a:solidFill>
                <a:schemeClr val="tx1"/>
              </a:solidFill>
              <a:prstDash val="solid"/>
              <a:round/>
              <a:headEnd type="none" w="med" len="med"/>
              <a:tailEnd type="none" w="med" len="med"/>
            </a:ln>
            <a:effectLst/>
          </p:spPr>
        </p:cxnSp>
        <p:cxnSp>
          <p:nvCxnSpPr>
            <p:cNvPr id="9" name="直線コネクタ 8"/>
            <p:cNvCxnSpPr/>
            <p:nvPr/>
          </p:nvCxnSpPr>
          <p:spPr bwMode="auto">
            <a:xfrm>
              <a:off x="6732240" y="41490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10" name="直線コネクタ 9"/>
            <p:cNvCxnSpPr/>
            <p:nvPr/>
          </p:nvCxnSpPr>
          <p:spPr bwMode="auto">
            <a:xfrm>
              <a:off x="6012160" y="3789040"/>
              <a:ext cx="720080" cy="0"/>
            </a:xfrm>
            <a:prstGeom prst="line">
              <a:avLst/>
            </a:prstGeom>
            <a:noFill/>
            <a:ln w="38100" cap="rnd" cmpd="sng" algn="ctr">
              <a:solidFill>
                <a:schemeClr val="tx1"/>
              </a:solidFill>
              <a:prstDash val="solid"/>
              <a:round/>
              <a:headEnd type="none" w="med" len="med"/>
              <a:tailEnd type="none" w="med" len="med"/>
            </a:ln>
            <a:effectLst/>
          </p:spPr>
        </p:cxnSp>
        <p:cxnSp>
          <p:nvCxnSpPr>
            <p:cNvPr id="11" name="直線コネクタ 10"/>
            <p:cNvCxnSpPr/>
            <p:nvPr/>
          </p:nvCxnSpPr>
          <p:spPr bwMode="auto">
            <a:xfrm>
              <a:off x="6012160" y="37890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12" name="直線コネクタ 11"/>
            <p:cNvCxnSpPr/>
            <p:nvPr/>
          </p:nvCxnSpPr>
          <p:spPr bwMode="auto">
            <a:xfrm>
              <a:off x="6732240" y="37890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13" name="直線コネクタ 12"/>
            <p:cNvCxnSpPr/>
            <p:nvPr/>
          </p:nvCxnSpPr>
          <p:spPr bwMode="auto">
            <a:xfrm>
              <a:off x="6012160" y="3654025"/>
              <a:ext cx="720080" cy="0"/>
            </a:xfrm>
            <a:prstGeom prst="line">
              <a:avLst/>
            </a:prstGeom>
            <a:noFill/>
            <a:ln w="38100" cap="rnd" cmpd="sng" algn="ctr">
              <a:solidFill>
                <a:schemeClr val="tx1"/>
              </a:solidFill>
              <a:prstDash val="solid"/>
              <a:round/>
              <a:headEnd type="none" w="med" len="med"/>
              <a:tailEnd type="none" w="med" len="med"/>
            </a:ln>
            <a:effectLst/>
          </p:spPr>
        </p:cxnSp>
        <p:sp useBgFill="1">
          <p:nvSpPr>
            <p:cNvPr id="14" name="円/楕円 13"/>
            <p:cNvSpPr/>
            <p:nvPr/>
          </p:nvSpPr>
          <p:spPr bwMode="auto">
            <a:xfrm>
              <a:off x="6304693" y="3519010"/>
              <a:ext cx="135015" cy="132239"/>
            </a:xfrm>
            <a:prstGeom prst="ellipse">
              <a:avLst/>
            </a:prstGeom>
            <a:ln w="381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60000">
                <a:ln>
                  <a:noFill/>
                </a:ln>
                <a:solidFill>
                  <a:schemeClr val="tx1"/>
                </a:solidFill>
                <a:effectLst/>
                <a:latin typeface="Times New Roman" pitchFamily="18" charset="0"/>
                <a:ea typeface="HG丸ｺﾞｼｯｸM-PRO" pitchFamily="50" charset="-128"/>
              </a:endParaRPr>
            </a:p>
          </p:txBody>
        </p:sp>
        <p:sp>
          <p:nvSpPr>
            <p:cNvPr id="15" name="正方形/長方形 14"/>
            <p:cNvSpPr/>
            <p:nvPr/>
          </p:nvSpPr>
          <p:spPr bwMode="auto">
            <a:xfrm>
              <a:off x="5683250" y="4362450"/>
              <a:ext cx="1466850" cy="317500"/>
            </a:xfrm>
            <a:prstGeom prst="rect">
              <a:avLst/>
            </a:prstGeom>
            <a:noFill/>
            <a:ln>
              <a:noFill/>
              <a:headEnd type="none" w="med" len="med"/>
              <a:tailEnd type="none" w="med" len="med"/>
            </a:ln>
          </p:spPr>
          <p:style>
            <a:lnRef idx="2">
              <a:schemeClr val="accent3"/>
            </a:lnRef>
            <a:fillRef idx="1">
              <a:schemeClr val="lt1"/>
            </a:fillRef>
            <a:effectRef idx="0">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dirty="0">
                  <a:solidFill>
                    <a:schemeClr val="tx1"/>
                  </a:solidFill>
                  <a:latin typeface="Times New Roman" pitchFamily="18" charset="0"/>
                  <a:ea typeface="HG丸ｺﾞｼｯｸM-PRO" pitchFamily="50" charset="-128"/>
                </a:rPr>
                <a:t>P</a:t>
              </a:r>
              <a:r>
                <a:rPr kumimoji="1" lang="en-US" altLang="ja-JP" sz="1800" b="0" i="0" u="none" strike="noStrike" cap="none" normalizeH="0" baseline="0" dirty="0">
                  <a:ln>
                    <a:noFill/>
                  </a:ln>
                  <a:solidFill>
                    <a:schemeClr val="tx1"/>
                  </a:solidFill>
                  <a:effectLst/>
                  <a:latin typeface="Times New Roman" pitchFamily="18" charset="0"/>
                  <a:ea typeface="HG丸ｺﾞｼｯｸM-PRO" pitchFamily="50" charset="-128"/>
                </a:rPr>
                <a:t>MOS</a:t>
              </a:r>
              <a:endParaRPr kumimoji="1" lang="ja-JP" altLang="en-US" sz="1800" b="0" i="0" u="none" strike="noStrike" cap="none" normalizeH="0" baseline="0" dirty="0">
                <a:ln>
                  <a:noFill/>
                </a:ln>
                <a:solidFill>
                  <a:schemeClr val="tx1"/>
                </a:solidFill>
                <a:effectLst/>
                <a:latin typeface="Times New Roman" pitchFamily="18" charset="0"/>
                <a:ea typeface="HG丸ｺﾞｼｯｸM-PRO" pitchFamily="50" charset="-128"/>
              </a:endParaRPr>
            </a:p>
          </p:txBody>
        </p:sp>
      </p:grpSp>
      <p:grpSp>
        <p:nvGrpSpPr>
          <p:cNvPr id="16" name="グループ化 15"/>
          <p:cNvGrpSpPr/>
          <p:nvPr/>
        </p:nvGrpSpPr>
        <p:grpSpPr>
          <a:xfrm>
            <a:off x="4391998" y="1988984"/>
            <a:ext cx="2160240" cy="1487513"/>
            <a:chOff x="5292080" y="5004175"/>
            <a:chExt cx="2160240" cy="1487513"/>
          </a:xfrm>
        </p:grpSpPr>
        <p:cxnSp>
          <p:nvCxnSpPr>
            <p:cNvPr id="17" name="直線コネクタ 16"/>
            <p:cNvCxnSpPr/>
            <p:nvPr/>
          </p:nvCxnSpPr>
          <p:spPr bwMode="auto">
            <a:xfrm>
              <a:off x="5292080" y="59492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18" name="直線コネクタ 17"/>
            <p:cNvCxnSpPr/>
            <p:nvPr/>
          </p:nvCxnSpPr>
          <p:spPr bwMode="auto">
            <a:xfrm>
              <a:off x="6732240" y="59492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19" name="直線コネクタ 18"/>
            <p:cNvCxnSpPr/>
            <p:nvPr/>
          </p:nvCxnSpPr>
          <p:spPr bwMode="auto">
            <a:xfrm>
              <a:off x="6012160" y="5589240"/>
              <a:ext cx="720080" cy="0"/>
            </a:xfrm>
            <a:prstGeom prst="line">
              <a:avLst/>
            </a:prstGeom>
            <a:noFill/>
            <a:ln w="38100" cap="rnd" cmpd="sng" algn="ctr">
              <a:solidFill>
                <a:schemeClr val="tx1"/>
              </a:solidFill>
              <a:prstDash val="solid"/>
              <a:round/>
              <a:headEnd type="none" w="med" len="med"/>
              <a:tailEnd type="none" w="med" len="med"/>
            </a:ln>
            <a:effectLst/>
          </p:spPr>
        </p:cxnSp>
        <p:cxnSp>
          <p:nvCxnSpPr>
            <p:cNvPr id="20" name="直線コネクタ 19"/>
            <p:cNvCxnSpPr/>
            <p:nvPr/>
          </p:nvCxnSpPr>
          <p:spPr bwMode="auto">
            <a:xfrm>
              <a:off x="6012160" y="55892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21" name="直線コネクタ 20"/>
            <p:cNvCxnSpPr/>
            <p:nvPr/>
          </p:nvCxnSpPr>
          <p:spPr bwMode="auto">
            <a:xfrm>
              <a:off x="6732240" y="55892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22" name="直線コネクタ 21"/>
            <p:cNvCxnSpPr/>
            <p:nvPr/>
          </p:nvCxnSpPr>
          <p:spPr bwMode="auto">
            <a:xfrm>
              <a:off x="6012160" y="5454225"/>
              <a:ext cx="720080" cy="1"/>
            </a:xfrm>
            <a:prstGeom prst="line">
              <a:avLst/>
            </a:prstGeom>
            <a:noFill/>
            <a:ln w="38100" cap="rnd" cmpd="sng" algn="ctr">
              <a:solidFill>
                <a:schemeClr val="tx1"/>
              </a:solidFill>
              <a:prstDash val="solid"/>
              <a:round/>
              <a:headEnd type="none" w="med" len="med"/>
              <a:tailEnd type="none" w="med" len="med"/>
            </a:ln>
            <a:effectLst/>
          </p:spPr>
        </p:cxnSp>
        <p:cxnSp>
          <p:nvCxnSpPr>
            <p:cNvPr id="23" name="直線コネクタ 22"/>
            <p:cNvCxnSpPr/>
            <p:nvPr/>
          </p:nvCxnSpPr>
          <p:spPr bwMode="auto">
            <a:xfrm>
              <a:off x="6372200" y="5004175"/>
              <a:ext cx="0" cy="450050"/>
            </a:xfrm>
            <a:prstGeom prst="line">
              <a:avLst/>
            </a:prstGeom>
            <a:noFill/>
            <a:ln w="12700" cap="rnd" cmpd="sng" algn="ctr">
              <a:solidFill>
                <a:schemeClr val="tx1"/>
              </a:solidFill>
              <a:prstDash val="solid"/>
              <a:round/>
              <a:headEnd type="none" w="med" len="med"/>
              <a:tailEnd type="none" w="med" len="med"/>
            </a:ln>
            <a:effectLst/>
          </p:spPr>
        </p:cxnSp>
        <p:sp>
          <p:nvSpPr>
            <p:cNvPr id="24" name="正方形/長方形 23"/>
            <p:cNvSpPr/>
            <p:nvPr/>
          </p:nvSpPr>
          <p:spPr bwMode="auto">
            <a:xfrm>
              <a:off x="5652084" y="6174188"/>
              <a:ext cx="1466850" cy="317500"/>
            </a:xfrm>
            <a:prstGeom prst="rect">
              <a:avLst/>
            </a:prstGeom>
            <a:noFill/>
            <a:ln>
              <a:noFill/>
              <a:headEnd type="none" w="med" len="med"/>
              <a:tailEnd type="none" w="med" len="med"/>
            </a:ln>
          </p:spPr>
          <p:style>
            <a:lnRef idx="2">
              <a:schemeClr val="accent3"/>
            </a:lnRef>
            <a:fillRef idx="1">
              <a:schemeClr val="lt1"/>
            </a:fillRef>
            <a:effectRef idx="0">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dirty="0">
                  <a:solidFill>
                    <a:schemeClr val="tx1"/>
                  </a:solidFill>
                  <a:latin typeface="Times New Roman" pitchFamily="18" charset="0"/>
                  <a:ea typeface="HG丸ｺﾞｼｯｸM-PRO" pitchFamily="50" charset="-128"/>
                </a:rPr>
                <a:t>N</a:t>
              </a:r>
              <a:r>
                <a:rPr kumimoji="1" lang="en-US" altLang="ja-JP" sz="1800" b="0" i="0" u="none" strike="noStrike" cap="none" normalizeH="0" baseline="0" dirty="0">
                  <a:ln>
                    <a:noFill/>
                  </a:ln>
                  <a:solidFill>
                    <a:schemeClr val="tx1"/>
                  </a:solidFill>
                  <a:effectLst/>
                  <a:latin typeface="Times New Roman" pitchFamily="18" charset="0"/>
                  <a:ea typeface="HG丸ｺﾞｼｯｸM-PRO" pitchFamily="50" charset="-128"/>
                </a:rPr>
                <a:t>MOS</a:t>
              </a:r>
              <a:endParaRPr kumimoji="1" lang="ja-JP" altLang="en-US" sz="1800" b="0" i="0" u="none" strike="noStrike" cap="none" normalizeH="0" baseline="0" dirty="0">
                <a:ln>
                  <a:noFill/>
                </a:ln>
                <a:solidFill>
                  <a:schemeClr val="tx1"/>
                </a:solidFill>
                <a:effectLst/>
                <a:latin typeface="Times New Roman" pitchFamily="18" charset="0"/>
                <a:ea typeface="HG丸ｺﾞｼｯｸM-PRO" pitchFamily="50" charset="-128"/>
              </a:endParaRPr>
            </a:p>
          </p:txBody>
        </p:sp>
      </p:grpSp>
      <p:sp>
        <p:nvSpPr>
          <p:cNvPr id="25" name="Rectangle 93"/>
          <p:cNvSpPr>
            <a:spLocks noChangeArrowheads="1"/>
          </p:cNvSpPr>
          <p:nvPr/>
        </p:nvSpPr>
        <p:spPr bwMode="auto">
          <a:xfrm>
            <a:off x="5112006" y="1628980"/>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Gate</a:t>
            </a:r>
          </a:p>
        </p:txBody>
      </p:sp>
      <p:sp>
        <p:nvSpPr>
          <p:cNvPr id="26" name="Rectangle 93"/>
          <p:cNvSpPr>
            <a:spLocks noChangeArrowheads="1"/>
          </p:cNvSpPr>
          <p:nvPr/>
        </p:nvSpPr>
        <p:spPr bwMode="auto">
          <a:xfrm>
            <a:off x="4031994" y="2528990"/>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Source</a:t>
            </a:r>
          </a:p>
        </p:txBody>
      </p:sp>
      <p:sp>
        <p:nvSpPr>
          <p:cNvPr id="27" name="Rectangle 93"/>
          <p:cNvSpPr>
            <a:spLocks noChangeArrowheads="1"/>
          </p:cNvSpPr>
          <p:nvPr/>
        </p:nvSpPr>
        <p:spPr bwMode="auto">
          <a:xfrm>
            <a:off x="6012016" y="2528990"/>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Drain</a:t>
            </a:r>
          </a:p>
        </p:txBody>
      </p:sp>
      <p:sp>
        <p:nvSpPr>
          <p:cNvPr id="28" name="Rectangle 93"/>
          <p:cNvSpPr>
            <a:spLocks noChangeArrowheads="1"/>
          </p:cNvSpPr>
          <p:nvPr/>
        </p:nvSpPr>
        <p:spPr bwMode="auto">
          <a:xfrm>
            <a:off x="5112006" y="4059007"/>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Gate</a:t>
            </a:r>
          </a:p>
        </p:txBody>
      </p:sp>
      <p:sp>
        <p:nvSpPr>
          <p:cNvPr id="29" name="Rectangle 93"/>
          <p:cNvSpPr>
            <a:spLocks noChangeArrowheads="1"/>
          </p:cNvSpPr>
          <p:nvPr/>
        </p:nvSpPr>
        <p:spPr bwMode="auto">
          <a:xfrm>
            <a:off x="4031994" y="4959017"/>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Source</a:t>
            </a:r>
          </a:p>
        </p:txBody>
      </p:sp>
      <p:sp>
        <p:nvSpPr>
          <p:cNvPr id="30" name="Rectangle 93"/>
          <p:cNvSpPr>
            <a:spLocks noChangeArrowheads="1"/>
          </p:cNvSpPr>
          <p:nvPr/>
        </p:nvSpPr>
        <p:spPr bwMode="auto">
          <a:xfrm>
            <a:off x="6012016" y="4959017"/>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Drain</a:t>
            </a:r>
          </a:p>
        </p:txBody>
      </p:sp>
      <p:grpSp>
        <p:nvGrpSpPr>
          <p:cNvPr id="4" name="グループ化 3">
            <a:extLst>
              <a:ext uri="{FF2B5EF4-FFF2-40B4-BE49-F238E27FC236}">
                <a16:creationId xmlns:a16="http://schemas.microsoft.com/office/drawing/2014/main" id="{4D20A9FF-C273-68EE-AAE2-2B4C85DB41B1}"/>
              </a:ext>
            </a:extLst>
          </p:cNvPr>
          <p:cNvGrpSpPr/>
          <p:nvPr/>
        </p:nvGrpSpPr>
        <p:grpSpPr>
          <a:xfrm>
            <a:off x="7002027" y="1988984"/>
            <a:ext cx="1531092" cy="1440374"/>
            <a:chOff x="5202007" y="3068996"/>
            <a:chExt cx="1531092" cy="1440374"/>
          </a:xfrm>
        </p:grpSpPr>
        <p:sp>
          <p:nvSpPr>
            <p:cNvPr id="5" name="正方形/長方形 4">
              <a:extLst>
                <a:ext uri="{FF2B5EF4-FFF2-40B4-BE49-F238E27FC236}">
                  <a16:creationId xmlns:a16="http://schemas.microsoft.com/office/drawing/2014/main" id="{AE9BBB44-7DA6-F8D8-A556-7E2D0EED10FF}"/>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31" name="円/楕円 69">
              <a:extLst>
                <a:ext uri="{FF2B5EF4-FFF2-40B4-BE49-F238E27FC236}">
                  <a16:creationId xmlns:a16="http://schemas.microsoft.com/office/drawing/2014/main" id="{EC5410DB-3924-6636-3A98-1D6EB6539C55}"/>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32" name="直線コネクタ 31">
              <a:extLst>
                <a:ext uri="{FF2B5EF4-FFF2-40B4-BE49-F238E27FC236}">
                  <a16:creationId xmlns:a16="http://schemas.microsoft.com/office/drawing/2014/main" id="{7592A6B3-7EA6-9E62-03DB-DA9A1FAE83F7}"/>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a16:creationId xmlns:a16="http://schemas.microsoft.com/office/drawing/2014/main" id="{4249CCA0-38C8-EBD7-336F-8F819F32A5FE}"/>
                </a:ext>
              </a:extLst>
            </p:cNvPr>
            <p:cNvCxnSpPr>
              <a:cxnSpLocks/>
              <a:endCxn id="34" idx="4"/>
            </p:cNvCxnSpPr>
            <p:nvPr/>
          </p:nvCxnSpPr>
          <p:spPr>
            <a:xfrm>
              <a:off x="5832014"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34" name="円/楕円 68">
              <a:extLst>
                <a:ext uri="{FF2B5EF4-FFF2-40B4-BE49-F238E27FC236}">
                  <a16:creationId xmlns:a16="http://schemas.microsoft.com/office/drawing/2014/main" id="{FB5FF257-823C-17F1-D152-A7CBA118DD6A}"/>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35" name="直線コネクタ 34">
              <a:extLst>
                <a:ext uri="{FF2B5EF4-FFF2-40B4-BE49-F238E27FC236}">
                  <a16:creationId xmlns:a16="http://schemas.microsoft.com/office/drawing/2014/main" id="{EE5941DD-A771-5A4B-C27F-081E04532EA7}"/>
                </a:ext>
              </a:extLst>
            </p:cNvPr>
            <p:cNvCxnSpPr>
              <a:cxnSpLocks/>
              <a:endCxn id="31"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7B77D66B-CB44-DCF4-3F98-5C736F258D6A}"/>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37" name="Rectangle 93">
              <a:extLst>
                <a:ext uri="{FF2B5EF4-FFF2-40B4-BE49-F238E27FC236}">
                  <a16:creationId xmlns:a16="http://schemas.microsoft.com/office/drawing/2014/main" id="{F51FEFD8-9C75-EB34-4E28-7AFC4F3427B5}"/>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38" name="Rectangle 93">
              <a:extLst>
                <a:ext uri="{FF2B5EF4-FFF2-40B4-BE49-F238E27FC236}">
                  <a16:creationId xmlns:a16="http://schemas.microsoft.com/office/drawing/2014/main" id="{972DE9FD-CF0A-A8A2-4258-80F65EE0E4CB}"/>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39" name="Rectangle 93">
              <a:extLst>
                <a:ext uri="{FF2B5EF4-FFF2-40B4-BE49-F238E27FC236}">
                  <a16:creationId xmlns:a16="http://schemas.microsoft.com/office/drawing/2014/main" id="{22674F4A-A4D4-419D-7995-64F739CEEDDD}"/>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40" name="直線コネクタ 39">
              <a:extLst>
                <a:ext uri="{FF2B5EF4-FFF2-40B4-BE49-F238E27FC236}">
                  <a16:creationId xmlns:a16="http://schemas.microsoft.com/office/drawing/2014/main" id="{65F37BEC-6C6B-9A8F-9427-D4CEA6FD52F1}"/>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a16:creationId xmlns:a16="http://schemas.microsoft.com/office/drawing/2014/main" id="{48C6C3AF-B87E-AE92-61E4-40F1D8E98EFA}"/>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42" name="グループ化 41">
            <a:extLst>
              <a:ext uri="{FF2B5EF4-FFF2-40B4-BE49-F238E27FC236}">
                <a16:creationId xmlns:a16="http://schemas.microsoft.com/office/drawing/2014/main" id="{1CAB5E11-FB11-73F8-1975-8233A1F05954}"/>
              </a:ext>
            </a:extLst>
          </p:cNvPr>
          <p:cNvGrpSpPr/>
          <p:nvPr/>
        </p:nvGrpSpPr>
        <p:grpSpPr>
          <a:xfrm>
            <a:off x="7002027" y="4509012"/>
            <a:ext cx="1531092" cy="1440374"/>
            <a:chOff x="5202007" y="2708992"/>
            <a:chExt cx="1531092" cy="1440374"/>
          </a:xfrm>
        </p:grpSpPr>
        <p:grpSp>
          <p:nvGrpSpPr>
            <p:cNvPr id="43" name="グループ化 42">
              <a:extLst>
                <a:ext uri="{FF2B5EF4-FFF2-40B4-BE49-F238E27FC236}">
                  <a16:creationId xmlns:a16="http://schemas.microsoft.com/office/drawing/2014/main" id="{A042DA85-F4FC-3014-7360-4E12AFDA9657}"/>
                </a:ext>
              </a:extLst>
            </p:cNvPr>
            <p:cNvGrpSpPr/>
            <p:nvPr/>
          </p:nvGrpSpPr>
          <p:grpSpPr>
            <a:xfrm>
              <a:off x="5202007" y="2708992"/>
              <a:ext cx="1531092" cy="1440374"/>
              <a:chOff x="5202007" y="3068996"/>
              <a:chExt cx="1531092" cy="1440374"/>
            </a:xfrm>
          </p:grpSpPr>
          <p:sp>
            <p:nvSpPr>
              <p:cNvPr id="45" name="正方形/長方形 44">
                <a:extLst>
                  <a:ext uri="{FF2B5EF4-FFF2-40B4-BE49-F238E27FC236}">
                    <a16:creationId xmlns:a16="http://schemas.microsoft.com/office/drawing/2014/main" id="{C47CB782-1FD7-AA68-4291-A60A9F4712F9}"/>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46" name="円/楕円 69">
                <a:extLst>
                  <a:ext uri="{FF2B5EF4-FFF2-40B4-BE49-F238E27FC236}">
                    <a16:creationId xmlns:a16="http://schemas.microsoft.com/office/drawing/2014/main" id="{8A7C1364-F621-F3F1-F9F8-C556888428EF}"/>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47" name="直線コネクタ 46">
                <a:extLst>
                  <a:ext uri="{FF2B5EF4-FFF2-40B4-BE49-F238E27FC236}">
                    <a16:creationId xmlns:a16="http://schemas.microsoft.com/office/drawing/2014/main" id="{2CB88CDD-FAF5-A353-D7E1-CB59ABF52E34}"/>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01AB4057-928F-3ED5-7334-CEDAD8129450}"/>
                  </a:ext>
                </a:extLst>
              </p:cNvPr>
              <p:cNvCxnSpPr>
                <a:cxnSpLocks/>
                <a:endCxn id="49" idx="4"/>
              </p:cNvCxnSpPr>
              <p:nvPr/>
            </p:nvCxnSpPr>
            <p:spPr>
              <a:xfrm>
                <a:off x="5832014" y="3609002"/>
                <a:ext cx="133734"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49" name="円/楕円 68">
                <a:extLst>
                  <a:ext uri="{FF2B5EF4-FFF2-40B4-BE49-F238E27FC236}">
                    <a16:creationId xmlns:a16="http://schemas.microsoft.com/office/drawing/2014/main" id="{210B036E-6956-443C-39F6-447118F9E1ED}"/>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50" name="直線コネクタ 49">
                <a:extLst>
                  <a:ext uri="{FF2B5EF4-FFF2-40B4-BE49-F238E27FC236}">
                    <a16:creationId xmlns:a16="http://schemas.microsoft.com/office/drawing/2014/main" id="{AFC405F1-A1A9-8E8E-2E95-B3AD1E3C7F4D}"/>
                  </a:ext>
                </a:extLst>
              </p:cNvPr>
              <p:cNvCxnSpPr>
                <a:cxnSpLocks/>
                <a:endCxn id="46"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1" name="直線コネクタ 50">
                <a:extLst>
                  <a:ext uri="{FF2B5EF4-FFF2-40B4-BE49-F238E27FC236}">
                    <a16:creationId xmlns:a16="http://schemas.microsoft.com/office/drawing/2014/main" id="{2BB484EB-B9AD-A7D3-ED7C-3167ABDCD0E1}"/>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52" name="Rectangle 93">
                <a:extLst>
                  <a:ext uri="{FF2B5EF4-FFF2-40B4-BE49-F238E27FC236}">
                    <a16:creationId xmlns:a16="http://schemas.microsoft.com/office/drawing/2014/main" id="{8EB3165D-6DEB-6E31-472A-0AC8123BF5E6}"/>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53" name="Rectangle 93">
                <a:extLst>
                  <a:ext uri="{FF2B5EF4-FFF2-40B4-BE49-F238E27FC236}">
                    <a16:creationId xmlns:a16="http://schemas.microsoft.com/office/drawing/2014/main" id="{35DAE38D-AFE0-8F42-CDB7-443EEBD2A425}"/>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54" name="Rectangle 93">
                <a:extLst>
                  <a:ext uri="{FF2B5EF4-FFF2-40B4-BE49-F238E27FC236}">
                    <a16:creationId xmlns:a16="http://schemas.microsoft.com/office/drawing/2014/main" id="{E08D5D87-3BF5-F011-A1D2-5A7143F12B56}"/>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55" name="直線コネクタ 54">
                <a:extLst>
                  <a:ext uri="{FF2B5EF4-FFF2-40B4-BE49-F238E27FC236}">
                    <a16:creationId xmlns:a16="http://schemas.microsoft.com/office/drawing/2014/main" id="{24612928-DF70-61AF-FEDC-1CB3D070E630}"/>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6" name="直線コネクタ 55">
                <a:extLst>
                  <a:ext uri="{FF2B5EF4-FFF2-40B4-BE49-F238E27FC236}">
                    <a16:creationId xmlns:a16="http://schemas.microsoft.com/office/drawing/2014/main" id="{2D71FEA6-831D-09D4-8CE5-553F6336A58E}"/>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44" name="円/楕円 69">
              <a:extLst>
                <a:ext uri="{FF2B5EF4-FFF2-40B4-BE49-F238E27FC236}">
                  <a16:creationId xmlns:a16="http://schemas.microsoft.com/office/drawing/2014/main" id="{A1898B93-7A45-E9F4-19F4-52FD98B933DE}"/>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spTree>
    <p:extLst>
      <p:ext uri="{BB962C8B-B14F-4D97-AF65-F5344CB8AC3E}">
        <p14:creationId xmlns:p14="http://schemas.microsoft.com/office/powerpoint/2010/main" val="337726728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lang="en-US" altLang="ja-JP" sz="2400" i="0" dirty="0">
                <a:effectLst/>
                <a:latin typeface="Arial" panose="020B0604020202020204" pitchFamily="34" charset="0"/>
              </a:rPr>
              <a:t>CMOS: Complementary Metal–Oxide–Semiconductor</a:t>
            </a:r>
          </a:p>
        </p:txBody>
      </p:sp>
      <p:sp>
        <p:nvSpPr>
          <p:cNvPr id="5" name="テキスト プレースホルダー 4"/>
          <p:cNvSpPr>
            <a:spLocks noGrp="1"/>
          </p:cNvSpPr>
          <p:nvPr>
            <p:ph type="body" sz="quarter" idx="10"/>
          </p:nvPr>
        </p:nvSpPr>
        <p:spPr/>
        <p:txBody>
          <a:bodyPr/>
          <a:lstStyle/>
          <a:p>
            <a:r>
              <a:rPr kumimoji="1" lang="en-US" altLang="ja-JP" dirty="0"/>
              <a:t>CMOS </a:t>
            </a:r>
            <a:r>
              <a:rPr kumimoji="1" lang="ja-JP" altLang="en-US" dirty="0"/>
              <a:t>は </a:t>
            </a:r>
            <a:r>
              <a:rPr kumimoji="1" lang="en-US" altLang="ja-JP" dirty="0"/>
              <a:t>NMOS </a:t>
            </a:r>
            <a:r>
              <a:rPr kumimoji="1" lang="ja-JP" altLang="en-US" dirty="0"/>
              <a:t>と </a:t>
            </a:r>
            <a:r>
              <a:rPr kumimoji="1" lang="en-US" altLang="ja-JP" dirty="0"/>
              <a:t>PMOS </a:t>
            </a:r>
            <a:r>
              <a:rPr kumimoji="1" lang="ja-JP" altLang="en-US" dirty="0"/>
              <a:t>の２種類のトランジスタから成る</a:t>
            </a:r>
            <a:endParaRPr kumimoji="1" lang="en-US" altLang="ja-JP" dirty="0"/>
          </a:p>
          <a:p>
            <a:pPr lvl="1"/>
            <a:r>
              <a:rPr lang="ja-JP" altLang="en-US" dirty="0"/>
              <a:t>電界で電荷（電子</a:t>
            </a:r>
            <a:r>
              <a:rPr lang="en-US" altLang="ja-JP" dirty="0"/>
              <a:t>/</a:t>
            </a:r>
            <a:r>
              <a:rPr lang="ja-JP" altLang="en-US" dirty="0"/>
              <a:t>正孔）を動かして </a:t>
            </a:r>
            <a:r>
              <a:rPr lang="en-US" altLang="ja-JP" dirty="0"/>
              <a:t>ON/OFF </a:t>
            </a:r>
            <a:r>
              <a:rPr lang="ja-JP" altLang="en-US" dirty="0"/>
              <a:t>する</a:t>
            </a:r>
            <a:endParaRPr lang="en-US" altLang="ja-JP" dirty="0"/>
          </a:p>
          <a:p>
            <a:r>
              <a:rPr lang="ja-JP" altLang="en-US" dirty="0"/>
              <a:t>基本的に </a:t>
            </a:r>
            <a:r>
              <a:rPr lang="en-US" altLang="ja-JP" dirty="0"/>
              <a:t>N </a:t>
            </a:r>
            <a:r>
              <a:rPr lang="ja-JP" altLang="en-US" dirty="0"/>
              <a:t>型</a:t>
            </a:r>
            <a:r>
              <a:rPr lang="en-US" altLang="ja-JP" dirty="0"/>
              <a:t>/P </a:t>
            </a:r>
            <a:r>
              <a:rPr lang="ja-JP" altLang="en-US" dirty="0"/>
              <a:t>型リレーとほぼ同じ動作</a:t>
            </a:r>
            <a:endParaRPr lang="en-US" altLang="ja-JP" dirty="0"/>
          </a:p>
          <a:p>
            <a:pPr lvl="1"/>
            <a:r>
              <a:rPr lang="ja-JP" altLang="en-US" dirty="0">
                <a:solidFill>
                  <a:schemeClr val="accent5"/>
                </a:solidFill>
              </a:rPr>
              <a:t>つまり全く同じように論理回路が組める</a:t>
            </a:r>
            <a:endParaRPr lang="en-US" altLang="ja-JP" dirty="0">
              <a:solidFill>
                <a:schemeClr val="accent5"/>
              </a:solidFill>
            </a:endParaRPr>
          </a:p>
          <a:p>
            <a:r>
              <a:rPr lang="ja-JP" altLang="en-US" dirty="0"/>
              <a:t>現代のコンピュータはこの </a:t>
            </a:r>
            <a:r>
              <a:rPr lang="en-US" altLang="ja-JP" dirty="0"/>
              <a:t>CMOS </a:t>
            </a:r>
            <a:r>
              <a:rPr lang="ja-JP" altLang="en-US" dirty="0"/>
              <a:t>を使って作られている</a:t>
            </a:r>
            <a:endParaRPr lang="en-US" altLang="ja-JP" dirty="0">
              <a:solidFill>
                <a:schemeClr val="accent5"/>
              </a:solidFill>
            </a:endParaRPr>
          </a:p>
        </p:txBody>
      </p:sp>
      <p:sp>
        <p:nvSpPr>
          <p:cNvPr id="2" name="スライド番号プレースホルダー 1"/>
          <p:cNvSpPr>
            <a:spLocks noGrp="1"/>
          </p:cNvSpPr>
          <p:nvPr>
            <p:ph type="sldNum" sz="quarter" idx="4294967295"/>
          </p:nvPr>
        </p:nvSpPr>
        <p:spPr>
          <a:xfrm>
            <a:off x="8531225" y="6308725"/>
            <a:ext cx="612775" cy="549275"/>
          </a:xfrm>
        </p:spPr>
        <p:txBody>
          <a:bodyPr/>
          <a:lstStyle/>
          <a:p>
            <a:fld id="{D2D8002D-B5B0-4BAC-B1F6-782DDCCE6D9C}" type="slidenum">
              <a:rPr kumimoji="1" lang="ja-JP" altLang="en-US" smtClean="0"/>
              <a:pPr/>
              <a:t>52</a:t>
            </a:fld>
            <a:endParaRPr kumimoji="1" lang="ja-JP" altLang="en-US"/>
          </a:p>
        </p:txBody>
      </p:sp>
    </p:spTree>
    <p:extLst>
      <p:ext uri="{BB962C8B-B14F-4D97-AF65-F5344CB8AC3E}">
        <p14:creationId xmlns:p14="http://schemas.microsoft.com/office/powerpoint/2010/main" val="133189668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NOT </a:t>
            </a:r>
            <a:r>
              <a:rPr kumimoji="1" lang="ja-JP" altLang="en-US" dirty="0"/>
              <a:t>ゲート の例</a:t>
            </a:r>
          </a:p>
        </p:txBody>
      </p:sp>
      <p:sp>
        <p:nvSpPr>
          <p:cNvPr id="8" name="スライド番号プレースホルダー 7"/>
          <p:cNvSpPr>
            <a:spLocks noGrp="1"/>
          </p:cNvSpPr>
          <p:nvPr>
            <p:ph type="sldNum" sz="quarter" idx="4294967295"/>
          </p:nvPr>
        </p:nvSpPr>
        <p:spPr>
          <a:xfrm>
            <a:off x="8783638" y="6399213"/>
            <a:ext cx="360362" cy="360362"/>
          </a:xfrm>
          <a:prstGeom prst="rect">
            <a:avLst/>
          </a:prstGeom>
        </p:spPr>
        <p:txBody>
          <a:bodyPr/>
          <a:lstStyle/>
          <a:p>
            <a:fld id="{57822056-E1F9-464F-82C8-6C2C7E347532}" type="slidenum">
              <a:rPr lang="ja-JP" altLang="en-US" smtClean="0"/>
              <a:pPr/>
              <a:t>53</a:t>
            </a:fld>
            <a:endParaRPr lang="ja-JP" altLang="en-US"/>
          </a:p>
        </p:txBody>
      </p:sp>
      <p:pic>
        <p:nvPicPr>
          <p:cNvPr id="11" name="Picture 30" descr="NOT"/>
          <p:cNvPicPr>
            <a:picLocks noChangeAspect="1" noChangeArrowheads="1"/>
          </p:cNvPicPr>
          <p:nvPr/>
        </p:nvPicPr>
        <p:blipFill>
          <a:blip r:embed="rId3" cstate="print"/>
          <a:srcRect/>
          <a:stretch>
            <a:fillRect/>
          </a:stretch>
        </p:blipFill>
        <p:spPr bwMode="auto">
          <a:xfrm rot="10800000" flipH="1">
            <a:off x="1511966" y="3068996"/>
            <a:ext cx="717550" cy="720725"/>
          </a:xfrm>
          <a:prstGeom prst="rect">
            <a:avLst/>
          </a:prstGeom>
          <a:noFill/>
        </p:spPr>
      </p:pic>
      <p:sp>
        <p:nvSpPr>
          <p:cNvPr id="12" name="Line 9"/>
          <p:cNvSpPr>
            <a:spLocks noChangeShapeType="1"/>
          </p:cNvSpPr>
          <p:nvPr/>
        </p:nvSpPr>
        <p:spPr bwMode="auto">
          <a:xfrm>
            <a:off x="1151962" y="3429000"/>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13" name="Line 9"/>
          <p:cNvSpPr>
            <a:spLocks noChangeShapeType="1"/>
          </p:cNvSpPr>
          <p:nvPr/>
        </p:nvSpPr>
        <p:spPr bwMode="auto">
          <a:xfrm>
            <a:off x="2141973" y="3429000"/>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4" name="グループ化 13"/>
          <p:cNvGrpSpPr/>
          <p:nvPr/>
        </p:nvGrpSpPr>
        <p:grpSpPr>
          <a:xfrm>
            <a:off x="4572000" y="4869016"/>
            <a:ext cx="360048" cy="180024"/>
            <a:chOff x="1691616" y="2708904"/>
            <a:chExt cx="360048" cy="180024"/>
          </a:xfrm>
        </p:grpSpPr>
        <p:cxnSp>
          <p:nvCxnSpPr>
            <p:cNvPr id="15" name="直線コネクタ 14"/>
            <p:cNvCxnSpPr/>
            <p:nvPr/>
          </p:nvCxnSpPr>
          <p:spPr>
            <a:xfrm flipV="1">
              <a:off x="1691616" y="2708904"/>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 name="直線コネクタ 15"/>
            <p:cNvCxnSpPr/>
            <p:nvPr/>
          </p:nvCxnSpPr>
          <p:spPr>
            <a:xfrm flipV="1">
              <a:off x="1759125" y="2798916"/>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7" name="直線コネクタ 16"/>
            <p:cNvCxnSpPr/>
            <p:nvPr/>
          </p:nvCxnSpPr>
          <p:spPr>
            <a:xfrm flipV="1">
              <a:off x="1826634" y="2888928"/>
              <a:ext cx="90012"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8" name="グループ化 17"/>
          <p:cNvGrpSpPr/>
          <p:nvPr/>
        </p:nvGrpSpPr>
        <p:grpSpPr>
          <a:xfrm>
            <a:off x="4481999" y="3789004"/>
            <a:ext cx="270036" cy="360048"/>
            <a:chOff x="6282228" y="1988808"/>
            <a:chExt cx="270036" cy="360048"/>
          </a:xfrm>
        </p:grpSpPr>
        <p:cxnSp>
          <p:nvCxnSpPr>
            <p:cNvPr id="19" name="直線コネクタ 18"/>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 name="直線コネクタ 19"/>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1" name="直線コネクタ 20"/>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 name="直線コネクタ 21"/>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9" name="直線コネクタ 28"/>
          <p:cNvCxnSpPr/>
          <p:nvPr/>
        </p:nvCxnSpPr>
        <p:spPr>
          <a:xfrm flipH="1">
            <a:off x="3491988" y="3429000"/>
            <a:ext cx="540007" cy="0"/>
          </a:xfrm>
          <a:prstGeom prst="line">
            <a:avLst/>
          </a:prstGeom>
          <a:ln w="3175" cap="rnd">
            <a:solidFill>
              <a:srgbClr val="000000"/>
            </a:solidFill>
            <a:headEnd type="oval"/>
          </a:ln>
        </p:spPr>
        <p:style>
          <a:lnRef idx="1">
            <a:schemeClr val="accent1"/>
          </a:lnRef>
          <a:fillRef idx="0">
            <a:schemeClr val="accent1"/>
          </a:fillRef>
          <a:effectRef idx="0">
            <a:schemeClr val="accent1"/>
          </a:effectRef>
          <a:fontRef idx="minor">
            <a:schemeClr val="tx1"/>
          </a:fontRef>
        </p:style>
      </p:cxnSp>
      <p:cxnSp>
        <p:nvCxnSpPr>
          <p:cNvPr id="30" name="直線コネクタ 29"/>
          <p:cNvCxnSpPr/>
          <p:nvPr/>
        </p:nvCxnSpPr>
        <p:spPr>
          <a:xfrm flipV="1">
            <a:off x="4752002" y="3068996"/>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31" name="直線コネクタ 30"/>
          <p:cNvCxnSpPr/>
          <p:nvPr/>
        </p:nvCxnSpPr>
        <p:spPr>
          <a:xfrm flipV="1">
            <a:off x="4752002" y="4149009"/>
            <a:ext cx="0" cy="720007"/>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Rectangle 93"/>
              <p:cNvSpPr>
                <a:spLocks noChangeArrowheads="1"/>
              </p:cNvSpPr>
              <p:nvPr/>
            </p:nvSpPr>
            <p:spPr bwMode="auto">
              <a:xfrm>
                <a:off x="881959" y="3158997"/>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smtClean="0">
                          <a:latin typeface="Cambria Math" panose="02040503050406030204" pitchFamily="18" charset="0"/>
                        </a:rPr>
                        <m:t>𝑖</m:t>
                      </m:r>
                    </m:oMath>
                  </m:oMathPara>
                </a14:m>
                <a:endParaRPr lang="en-US" altLang="ja-JP" dirty="0"/>
              </a:p>
            </p:txBody>
          </p:sp>
        </mc:Choice>
        <mc:Fallback xmlns="">
          <p:sp>
            <p:nvSpPr>
              <p:cNvPr id="32" name="Rectangle 93"/>
              <p:cNvSpPr>
                <a:spLocks noRot="1" noChangeAspect="1" noMove="1" noResize="1" noEditPoints="1" noAdjustHandles="1" noChangeArrowheads="1" noChangeShapeType="1" noTextEdit="1"/>
              </p:cNvSpPr>
              <p:nvPr/>
            </p:nvSpPr>
            <p:spPr bwMode="auto">
              <a:xfrm>
                <a:off x="881959" y="3158997"/>
                <a:ext cx="270003" cy="360362"/>
              </a:xfrm>
              <a:prstGeom prst="rect">
                <a:avLst/>
              </a:prstGeom>
              <a:blipFill>
                <a:blip r:embed="rId4"/>
                <a:stretch>
                  <a:fillRect/>
                </a:stretch>
              </a:blipFill>
              <a:ln w="12700" algn="ctr">
                <a:noFill/>
                <a:miter lim="800000"/>
                <a:headEnd/>
                <a:tailEnd/>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Rectangle 93"/>
              <p:cNvSpPr>
                <a:spLocks noChangeArrowheads="1"/>
              </p:cNvSpPr>
              <p:nvPr/>
            </p:nvSpPr>
            <p:spPr bwMode="auto">
              <a:xfrm>
                <a:off x="2591978" y="3158997"/>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smtClean="0">
                          <a:latin typeface="Cambria Math" panose="02040503050406030204" pitchFamily="18" charset="0"/>
                        </a:rPr>
                        <m:t>𝑜</m:t>
                      </m:r>
                    </m:oMath>
                  </m:oMathPara>
                </a14:m>
                <a:endParaRPr lang="en-US" altLang="ja-JP" dirty="0"/>
              </a:p>
            </p:txBody>
          </p:sp>
        </mc:Choice>
        <mc:Fallback xmlns="">
          <p:sp>
            <p:nvSpPr>
              <p:cNvPr id="33" name="Rectangle 93"/>
              <p:cNvSpPr>
                <a:spLocks noRot="1" noChangeAspect="1" noMove="1" noResize="1" noEditPoints="1" noAdjustHandles="1" noChangeArrowheads="1" noChangeShapeType="1" noTextEdit="1"/>
              </p:cNvSpPr>
              <p:nvPr/>
            </p:nvSpPr>
            <p:spPr bwMode="auto">
              <a:xfrm>
                <a:off x="2591978" y="3158997"/>
                <a:ext cx="270003" cy="360362"/>
              </a:xfrm>
              <a:prstGeom prst="rect">
                <a:avLst/>
              </a:prstGeom>
              <a:blipFill>
                <a:blip r:embed="rId5"/>
                <a:stretch>
                  <a:fillRect r="-2273"/>
                </a:stretch>
              </a:blipFill>
              <a:ln w="12700" algn="ctr">
                <a:noFill/>
                <a:miter lim="800000"/>
                <a:headEnd/>
                <a:tailEnd/>
              </a:ln>
              <a:effectLst/>
            </p:spPr>
            <p:txBody>
              <a:bodyPr/>
              <a:lstStyle/>
              <a:p>
                <a:r>
                  <a:rPr lang="en-US">
                    <a:noFill/>
                  </a:rPr>
                  <a:t> </a:t>
                </a:r>
              </a:p>
            </p:txBody>
          </p:sp>
        </mc:Fallback>
      </mc:AlternateContent>
      <p:sp>
        <p:nvSpPr>
          <p:cNvPr id="35" name="Freeform 10"/>
          <p:cNvSpPr>
            <a:spLocks/>
          </p:cNvSpPr>
          <p:nvPr/>
        </p:nvSpPr>
        <p:spPr bwMode="auto">
          <a:xfrm flipV="1">
            <a:off x="4031840" y="2888992"/>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6" name="Line 9"/>
          <p:cNvSpPr>
            <a:spLocks noChangeShapeType="1"/>
          </p:cNvSpPr>
          <p:nvPr/>
        </p:nvSpPr>
        <p:spPr bwMode="auto">
          <a:xfrm>
            <a:off x="4031994" y="3969006"/>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23" name="グループ化 22"/>
          <p:cNvGrpSpPr/>
          <p:nvPr/>
        </p:nvGrpSpPr>
        <p:grpSpPr>
          <a:xfrm>
            <a:off x="4391998" y="2708992"/>
            <a:ext cx="360048" cy="360048"/>
            <a:chOff x="3131808" y="1628760"/>
            <a:chExt cx="360048" cy="360048"/>
          </a:xfrm>
        </p:grpSpPr>
        <p:cxnSp>
          <p:nvCxnSpPr>
            <p:cNvPr id="24" name="直線コネクタ 23"/>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5" name="直線コネクタ 24"/>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6" name="直線コネクタ 25"/>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 name="直線コネクタ 26"/>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8" name="円/楕円 27"/>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mc:AlternateContent xmlns:mc="http://schemas.openxmlformats.org/markup-compatibility/2006" xmlns:a14="http://schemas.microsoft.com/office/drawing/2010/main">
        <mc:Choice Requires="a14">
          <p:sp>
            <p:nvSpPr>
              <p:cNvPr id="39" name="Rectangle 93"/>
              <p:cNvSpPr>
                <a:spLocks noChangeArrowheads="1"/>
              </p:cNvSpPr>
              <p:nvPr/>
            </p:nvSpPr>
            <p:spPr bwMode="auto">
              <a:xfrm>
                <a:off x="3221985" y="3158997"/>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smtClean="0">
                          <a:latin typeface="Cambria Math" panose="02040503050406030204" pitchFamily="18" charset="0"/>
                        </a:rPr>
                        <m:t>𝑖</m:t>
                      </m:r>
                    </m:oMath>
                  </m:oMathPara>
                </a14:m>
                <a:endParaRPr lang="en-US" altLang="ja-JP" dirty="0"/>
              </a:p>
            </p:txBody>
          </p:sp>
        </mc:Choice>
        <mc:Fallback xmlns="">
          <p:sp>
            <p:nvSpPr>
              <p:cNvPr id="39" name="Rectangle 93"/>
              <p:cNvSpPr>
                <a:spLocks noRot="1" noChangeAspect="1" noMove="1" noResize="1" noEditPoints="1" noAdjustHandles="1" noChangeArrowheads="1" noChangeShapeType="1" noTextEdit="1"/>
              </p:cNvSpPr>
              <p:nvPr/>
            </p:nvSpPr>
            <p:spPr bwMode="auto">
              <a:xfrm>
                <a:off x="3221985" y="3158997"/>
                <a:ext cx="270003" cy="360362"/>
              </a:xfrm>
              <a:prstGeom prst="rect">
                <a:avLst/>
              </a:prstGeom>
              <a:blipFill>
                <a:blip r:embed="rId6"/>
                <a:stretch>
                  <a:fillRect/>
                </a:stretch>
              </a:blipFill>
              <a:ln w="12700" algn="ctr">
                <a:noFill/>
                <a:miter lim="800000"/>
                <a:headEnd/>
                <a:tailEnd/>
              </a:ln>
              <a:effectLst/>
            </p:spPr>
            <p:txBody>
              <a:bodyPr/>
              <a:lstStyle/>
              <a:p>
                <a:r>
                  <a:rPr lang="en-US">
                    <a:noFill/>
                  </a:rPr>
                  <a:t> </a:t>
                </a:r>
              </a:p>
            </p:txBody>
          </p:sp>
        </mc:Fallback>
      </mc:AlternateContent>
      <p:cxnSp>
        <p:nvCxnSpPr>
          <p:cNvPr id="40" name="直線コネクタ 39"/>
          <p:cNvCxnSpPr/>
          <p:nvPr/>
        </p:nvCxnSpPr>
        <p:spPr>
          <a:xfrm>
            <a:off x="4752002" y="3429000"/>
            <a:ext cx="630005" cy="0"/>
          </a:xfrm>
          <a:prstGeom prst="line">
            <a:avLst/>
          </a:prstGeom>
          <a:ln w="3175" cap="rnd">
            <a:solidFill>
              <a:srgbClr val="000000"/>
            </a:solidFill>
            <a:headEnd type="ova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Rectangle 93"/>
              <p:cNvSpPr>
                <a:spLocks noChangeArrowheads="1"/>
              </p:cNvSpPr>
              <p:nvPr/>
            </p:nvSpPr>
            <p:spPr bwMode="auto">
              <a:xfrm>
                <a:off x="5382009" y="3158997"/>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smtClean="0">
                          <a:latin typeface="Cambria Math" panose="02040503050406030204" pitchFamily="18" charset="0"/>
                        </a:rPr>
                        <m:t>𝑜</m:t>
                      </m:r>
                    </m:oMath>
                  </m:oMathPara>
                </a14:m>
                <a:endParaRPr lang="en-US" altLang="ja-JP" dirty="0"/>
              </a:p>
            </p:txBody>
          </p:sp>
        </mc:Choice>
        <mc:Fallback xmlns="">
          <p:sp>
            <p:nvSpPr>
              <p:cNvPr id="42" name="Rectangle 93"/>
              <p:cNvSpPr>
                <a:spLocks noRot="1" noChangeAspect="1" noMove="1" noResize="1" noEditPoints="1" noAdjustHandles="1" noChangeArrowheads="1" noChangeShapeType="1" noTextEdit="1"/>
              </p:cNvSpPr>
              <p:nvPr/>
            </p:nvSpPr>
            <p:spPr bwMode="auto">
              <a:xfrm>
                <a:off x="5382009" y="3158997"/>
                <a:ext cx="270003" cy="360362"/>
              </a:xfrm>
              <a:prstGeom prst="rect">
                <a:avLst/>
              </a:prstGeom>
              <a:blipFill>
                <a:blip r:embed="rId7"/>
                <a:stretch>
                  <a:fillRect r="-2273"/>
                </a:stretch>
              </a:blipFill>
              <a:ln w="12700" algn="ctr">
                <a:noFill/>
                <a:miter lim="800000"/>
                <a:headEnd/>
                <a:tailEnd/>
              </a:ln>
              <a:effectLst/>
            </p:spPr>
            <p:txBody>
              <a:bodyPr/>
              <a:lstStyle/>
              <a:p>
                <a:r>
                  <a:rPr lang="en-US">
                    <a:noFill/>
                  </a:rPr>
                  <a:t> </a:t>
                </a:r>
              </a:p>
            </p:txBody>
          </p:sp>
        </mc:Fallback>
      </mc:AlternateContent>
      <p:cxnSp>
        <p:nvCxnSpPr>
          <p:cNvPr id="43" name="直線コネクタ 42"/>
          <p:cNvCxnSpPr/>
          <p:nvPr/>
        </p:nvCxnSpPr>
        <p:spPr>
          <a:xfrm flipV="1">
            <a:off x="4752002" y="1988984"/>
            <a:ext cx="0" cy="72007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45" name="直線コネクタ 44"/>
          <p:cNvCxnSpPr/>
          <p:nvPr/>
        </p:nvCxnSpPr>
        <p:spPr>
          <a:xfrm>
            <a:off x="4572000" y="1988984"/>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46" name="Rectangle 93"/>
          <p:cNvSpPr>
            <a:spLocks noChangeArrowheads="1"/>
          </p:cNvSpPr>
          <p:nvPr/>
        </p:nvSpPr>
        <p:spPr bwMode="auto">
          <a:xfrm>
            <a:off x="4932004" y="1718981"/>
            <a:ext cx="270003" cy="360362"/>
          </a:xfrm>
          <a:prstGeom prst="rect">
            <a:avLst/>
          </a:prstGeom>
          <a:noFill/>
          <a:ln w="12700" algn="ctr">
            <a:noFill/>
            <a:miter lim="800000"/>
            <a:headEnd/>
            <a:tailEnd/>
          </a:ln>
          <a:effectLst/>
        </p:spPr>
        <p:txBody>
          <a:bodyPr wrap="none" lIns="90000" tIns="46800" rIns="90000" bIns="46800" anchor="ctr"/>
          <a:lstStyle/>
          <a:p>
            <a:r>
              <a:rPr lang="en-US" altLang="ja-JP" b="0" i="0" dirty="0">
                <a:latin typeface="+mj-lt"/>
              </a:rPr>
              <a:t>VDD</a:t>
            </a:r>
            <a:endParaRPr lang="en-US" altLang="ja-JP" dirty="0"/>
          </a:p>
        </p:txBody>
      </p:sp>
      <p:sp>
        <p:nvSpPr>
          <p:cNvPr id="47" name="Rectangle 93"/>
          <p:cNvSpPr>
            <a:spLocks noChangeArrowheads="1"/>
          </p:cNvSpPr>
          <p:nvPr/>
        </p:nvSpPr>
        <p:spPr bwMode="auto">
          <a:xfrm>
            <a:off x="4842003" y="4869016"/>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grpSp>
        <p:nvGrpSpPr>
          <p:cNvPr id="3" name="グループ化 2">
            <a:extLst>
              <a:ext uri="{FF2B5EF4-FFF2-40B4-BE49-F238E27FC236}">
                <a16:creationId xmlns:a16="http://schemas.microsoft.com/office/drawing/2014/main" id="{507CEB94-AC03-229D-DFF4-853B11A3CABF}"/>
              </a:ext>
            </a:extLst>
          </p:cNvPr>
          <p:cNvGrpSpPr/>
          <p:nvPr/>
        </p:nvGrpSpPr>
        <p:grpSpPr>
          <a:xfrm>
            <a:off x="6642023" y="3429000"/>
            <a:ext cx="1531092" cy="1440374"/>
            <a:chOff x="5202007" y="3068996"/>
            <a:chExt cx="1531092" cy="1440374"/>
          </a:xfrm>
        </p:grpSpPr>
        <p:sp>
          <p:nvSpPr>
            <p:cNvPr id="4" name="正方形/長方形 3">
              <a:extLst>
                <a:ext uri="{FF2B5EF4-FFF2-40B4-BE49-F238E27FC236}">
                  <a16:creationId xmlns:a16="http://schemas.microsoft.com/office/drawing/2014/main" id="{65B330FD-037F-2E45-3859-FD1DAA322EFA}"/>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5" name="円/楕円 69">
              <a:extLst>
                <a:ext uri="{FF2B5EF4-FFF2-40B4-BE49-F238E27FC236}">
                  <a16:creationId xmlns:a16="http://schemas.microsoft.com/office/drawing/2014/main" id="{CDCB0F10-8B32-94F8-5F02-28259C870A66}"/>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6" name="直線コネクタ 5">
              <a:extLst>
                <a:ext uri="{FF2B5EF4-FFF2-40B4-BE49-F238E27FC236}">
                  <a16:creationId xmlns:a16="http://schemas.microsoft.com/office/drawing/2014/main" id="{E335ADAA-6CF8-D564-0897-28908AC49F93}"/>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EFE753E4-A952-15A1-1C6E-889500ACB47A}"/>
                </a:ext>
              </a:extLst>
            </p:cNvPr>
            <p:cNvCxnSpPr>
              <a:cxnSpLocks/>
              <a:endCxn id="9" idx="4"/>
            </p:cNvCxnSpPr>
            <p:nvPr/>
          </p:nvCxnSpPr>
          <p:spPr>
            <a:xfrm>
              <a:off x="5832014"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9" name="円/楕円 68">
              <a:extLst>
                <a:ext uri="{FF2B5EF4-FFF2-40B4-BE49-F238E27FC236}">
                  <a16:creationId xmlns:a16="http://schemas.microsoft.com/office/drawing/2014/main" id="{2F48EB0F-1E29-9126-A349-DFF23DA8495F}"/>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10" name="直線コネクタ 9">
              <a:extLst>
                <a:ext uri="{FF2B5EF4-FFF2-40B4-BE49-F238E27FC236}">
                  <a16:creationId xmlns:a16="http://schemas.microsoft.com/office/drawing/2014/main" id="{FE67FFEA-536D-6DDC-B032-711814516580}"/>
                </a:ext>
              </a:extLst>
            </p:cNvPr>
            <p:cNvCxnSpPr>
              <a:cxnSpLocks/>
              <a:endCxn id="5"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6CF8BFA7-AF93-3F46-C913-0032E9022260}"/>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37" name="Rectangle 93">
              <a:extLst>
                <a:ext uri="{FF2B5EF4-FFF2-40B4-BE49-F238E27FC236}">
                  <a16:creationId xmlns:a16="http://schemas.microsoft.com/office/drawing/2014/main" id="{84ACD4A8-F131-1BFF-D9AA-323DFFCF8353}"/>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38" name="Rectangle 93">
              <a:extLst>
                <a:ext uri="{FF2B5EF4-FFF2-40B4-BE49-F238E27FC236}">
                  <a16:creationId xmlns:a16="http://schemas.microsoft.com/office/drawing/2014/main" id="{295A7538-4476-0722-8A32-03DF50B66DAF}"/>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41" name="Rectangle 93">
              <a:extLst>
                <a:ext uri="{FF2B5EF4-FFF2-40B4-BE49-F238E27FC236}">
                  <a16:creationId xmlns:a16="http://schemas.microsoft.com/office/drawing/2014/main" id="{6F1695A8-2C50-3699-99DB-7A4149E22FCF}"/>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44" name="直線コネクタ 43">
              <a:extLst>
                <a:ext uri="{FF2B5EF4-FFF2-40B4-BE49-F238E27FC236}">
                  <a16:creationId xmlns:a16="http://schemas.microsoft.com/office/drawing/2014/main" id="{369CDF76-8E56-3421-0F99-5F727264383F}"/>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AB988A40-224F-B900-313E-CA76BFFE47B3}"/>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49" name="グループ化 48">
            <a:extLst>
              <a:ext uri="{FF2B5EF4-FFF2-40B4-BE49-F238E27FC236}">
                <a16:creationId xmlns:a16="http://schemas.microsoft.com/office/drawing/2014/main" id="{617D0B20-0C59-24D7-D8CD-501F2C7303DC}"/>
              </a:ext>
            </a:extLst>
          </p:cNvPr>
          <p:cNvGrpSpPr/>
          <p:nvPr/>
        </p:nvGrpSpPr>
        <p:grpSpPr>
          <a:xfrm>
            <a:off x="6642023" y="1988984"/>
            <a:ext cx="1531092" cy="1440374"/>
            <a:chOff x="5202007" y="2708992"/>
            <a:chExt cx="1531092" cy="1440374"/>
          </a:xfrm>
        </p:grpSpPr>
        <p:grpSp>
          <p:nvGrpSpPr>
            <p:cNvPr id="50" name="グループ化 49">
              <a:extLst>
                <a:ext uri="{FF2B5EF4-FFF2-40B4-BE49-F238E27FC236}">
                  <a16:creationId xmlns:a16="http://schemas.microsoft.com/office/drawing/2014/main" id="{D6E0C303-C19D-B398-F5D8-5E3BC2B335AF}"/>
                </a:ext>
              </a:extLst>
            </p:cNvPr>
            <p:cNvGrpSpPr/>
            <p:nvPr/>
          </p:nvGrpSpPr>
          <p:grpSpPr>
            <a:xfrm>
              <a:off x="5202007" y="2708992"/>
              <a:ext cx="1531092" cy="1440374"/>
              <a:chOff x="5202007" y="3068996"/>
              <a:chExt cx="1531092" cy="1440374"/>
            </a:xfrm>
          </p:grpSpPr>
          <p:sp>
            <p:nvSpPr>
              <p:cNvPr id="52" name="正方形/長方形 51">
                <a:extLst>
                  <a:ext uri="{FF2B5EF4-FFF2-40B4-BE49-F238E27FC236}">
                    <a16:creationId xmlns:a16="http://schemas.microsoft.com/office/drawing/2014/main" id="{C6B50A3C-AFC5-4A64-9EFF-E40D284F592F}"/>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53" name="円/楕円 69">
                <a:extLst>
                  <a:ext uri="{FF2B5EF4-FFF2-40B4-BE49-F238E27FC236}">
                    <a16:creationId xmlns:a16="http://schemas.microsoft.com/office/drawing/2014/main" id="{52AE18C5-2D9A-38B3-1013-FEE476DE9411}"/>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54" name="直線コネクタ 53">
                <a:extLst>
                  <a:ext uri="{FF2B5EF4-FFF2-40B4-BE49-F238E27FC236}">
                    <a16:creationId xmlns:a16="http://schemas.microsoft.com/office/drawing/2014/main" id="{F89EC409-F8A4-BD91-E0C0-0F4407CAD1BF}"/>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6" name="直線コネクタ 55">
                <a:extLst>
                  <a:ext uri="{FF2B5EF4-FFF2-40B4-BE49-F238E27FC236}">
                    <a16:creationId xmlns:a16="http://schemas.microsoft.com/office/drawing/2014/main" id="{C74C7830-E5CF-E9C6-7759-54B948AD25B7}"/>
                  </a:ext>
                </a:extLst>
              </p:cNvPr>
              <p:cNvCxnSpPr>
                <a:cxnSpLocks/>
                <a:endCxn id="57" idx="4"/>
              </p:cNvCxnSpPr>
              <p:nvPr/>
            </p:nvCxnSpPr>
            <p:spPr>
              <a:xfrm>
                <a:off x="5832014" y="3609002"/>
                <a:ext cx="133734"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57" name="円/楕円 68">
                <a:extLst>
                  <a:ext uri="{FF2B5EF4-FFF2-40B4-BE49-F238E27FC236}">
                    <a16:creationId xmlns:a16="http://schemas.microsoft.com/office/drawing/2014/main" id="{DF87BC9F-85D8-40B1-15F5-68B8707AEB1B}"/>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cxnSp>
            <p:nvCxnSpPr>
              <p:cNvPr id="58" name="直線コネクタ 57">
                <a:extLst>
                  <a:ext uri="{FF2B5EF4-FFF2-40B4-BE49-F238E27FC236}">
                    <a16:creationId xmlns:a16="http://schemas.microsoft.com/office/drawing/2014/main" id="{5679007F-FC67-F96D-6371-66811BBD896F}"/>
                  </a:ext>
                </a:extLst>
              </p:cNvPr>
              <p:cNvCxnSpPr>
                <a:cxnSpLocks/>
                <a:endCxn id="53"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9" name="直線コネクタ 58">
                <a:extLst>
                  <a:ext uri="{FF2B5EF4-FFF2-40B4-BE49-F238E27FC236}">
                    <a16:creationId xmlns:a16="http://schemas.microsoft.com/office/drawing/2014/main" id="{633979E0-771F-86FA-6384-6617C419F89E}"/>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60" name="Rectangle 93">
                <a:extLst>
                  <a:ext uri="{FF2B5EF4-FFF2-40B4-BE49-F238E27FC236}">
                    <a16:creationId xmlns:a16="http://schemas.microsoft.com/office/drawing/2014/main" id="{9F99C878-3311-2323-7A46-FCD4141494CA}"/>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61" name="Rectangle 93">
                <a:extLst>
                  <a:ext uri="{FF2B5EF4-FFF2-40B4-BE49-F238E27FC236}">
                    <a16:creationId xmlns:a16="http://schemas.microsoft.com/office/drawing/2014/main" id="{20EC0C23-B859-838C-1A85-3E8C774B1345}"/>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62" name="Rectangle 93">
                <a:extLst>
                  <a:ext uri="{FF2B5EF4-FFF2-40B4-BE49-F238E27FC236}">
                    <a16:creationId xmlns:a16="http://schemas.microsoft.com/office/drawing/2014/main" id="{DFF4A78D-0315-F775-675B-51F8DFCA8D6B}"/>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63" name="直線コネクタ 62">
                <a:extLst>
                  <a:ext uri="{FF2B5EF4-FFF2-40B4-BE49-F238E27FC236}">
                    <a16:creationId xmlns:a16="http://schemas.microsoft.com/office/drawing/2014/main" id="{859C15B6-216A-A4BD-7CFA-D4E67A96C159}"/>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64" name="直線コネクタ 63">
                <a:extLst>
                  <a:ext uri="{FF2B5EF4-FFF2-40B4-BE49-F238E27FC236}">
                    <a16:creationId xmlns:a16="http://schemas.microsoft.com/office/drawing/2014/main" id="{70CA8D23-EB4D-E0B1-4460-3A33AC720134}"/>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51" name="円/楕円 69">
              <a:extLst>
                <a:ext uri="{FF2B5EF4-FFF2-40B4-BE49-F238E27FC236}">
                  <a16:creationId xmlns:a16="http://schemas.microsoft.com/office/drawing/2014/main" id="{67CBFCC2-7C48-1258-4D5B-8E059A5DC000}"/>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spTree>
    <p:extLst>
      <p:ext uri="{BB962C8B-B14F-4D97-AF65-F5344CB8AC3E}">
        <p14:creationId xmlns:p14="http://schemas.microsoft.com/office/powerpoint/2010/main" val="201321407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NOT </a:t>
            </a:r>
            <a:r>
              <a:rPr lang="ja-JP" altLang="en-US" dirty="0"/>
              <a:t>ゲート の例</a:t>
            </a:r>
            <a:endParaRPr kumimoji="1" lang="ja-JP" altLang="en-US" dirty="0"/>
          </a:p>
        </p:txBody>
      </p:sp>
      <mc:AlternateContent xmlns:mc="http://schemas.openxmlformats.org/markup-compatibility/2006" xmlns:a14="http://schemas.microsoft.com/office/drawing/2010/main">
        <mc:Choice Requires="a14">
          <p:sp>
            <p:nvSpPr>
              <p:cNvPr id="3" name="テキスト プレースホルダー 2"/>
              <p:cNvSpPr>
                <a:spLocks noGrp="1"/>
              </p:cNvSpPr>
              <p:nvPr>
                <p:ph type="body" sz="quarter" idx="10"/>
              </p:nvPr>
            </p:nvSpPr>
            <p:spPr>
              <a:xfrm>
                <a:off x="701957" y="4509012"/>
                <a:ext cx="8280092" cy="1979715"/>
              </a:xfrm>
            </p:spPr>
            <p:txBody>
              <a:bodyPr/>
              <a:lstStyle/>
              <a:p>
                <a14:m>
                  <m:oMath xmlns:m="http://schemas.openxmlformats.org/officeDocument/2006/math">
                    <m:r>
                      <a:rPr lang="en-US" altLang="ja-JP" i="1" dirty="0" smtClean="0">
                        <a:latin typeface="Cambria Math" panose="02040503050406030204" pitchFamily="18" charset="0"/>
                      </a:rPr>
                      <m:t>𝑖</m:t>
                    </m:r>
                    <m:r>
                      <a:rPr lang="en-US" altLang="ja-JP" i="1" dirty="0" smtClean="0">
                        <a:latin typeface="Cambria Math" panose="02040503050406030204" pitchFamily="18" charset="0"/>
                      </a:rPr>
                      <m:t> </m:t>
                    </m:r>
                  </m:oMath>
                </a14:m>
                <a:r>
                  <a:rPr kumimoji="1" lang="ja-JP" altLang="en-US" dirty="0"/>
                  <a:t>が </a:t>
                </a:r>
                <a:r>
                  <a:rPr kumimoji="1" lang="en-US" altLang="ja-JP" dirty="0"/>
                  <a:t>0 </a:t>
                </a:r>
                <a:r>
                  <a:rPr kumimoji="1" lang="ja-JP" altLang="en-US" dirty="0"/>
                  <a:t>（低電位）の場合</a:t>
                </a:r>
                <a:endParaRPr kumimoji="1" lang="en-US" altLang="ja-JP" dirty="0"/>
              </a:p>
              <a:p>
                <a:pPr lvl="1"/>
                <a:r>
                  <a:rPr lang="en-US" altLang="ja-JP" dirty="0"/>
                  <a:t>PMOS</a:t>
                </a:r>
                <a:r>
                  <a:rPr lang="ja-JP" altLang="en-US" dirty="0"/>
                  <a:t>（上側）は  </a:t>
                </a:r>
                <a:r>
                  <a:rPr lang="en-US" altLang="ja-JP" dirty="0"/>
                  <a:t>on  = VDD </a:t>
                </a:r>
                <a:r>
                  <a:rPr lang="ja-JP" altLang="en-US" dirty="0"/>
                  <a:t>と繋がる</a:t>
                </a:r>
                <a:endParaRPr lang="en-US" altLang="ja-JP" dirty="0"/>
              </a:p>
              <a:p>
                <a:pPr lvl="1"/>
                <a:r>
                  <a:rPr kumimoji="1" lang="en-US" altLang="ja-JP" dirty="0"/>
                  <a:t>NMOS</a:t>
                </a:r>
                <a:r>
                  <a:rPr kumimoji="1" lang="ja-JP" altLang="en-US" dirty="0"/>
                  <a:t>（下側）は </a:t>
                </a:r>
                <a:r>
                  <a:rPr kumimoji="1" lang="en-US" altLang="ja-JP" dirty="0"/>
                  <a:t>off</a:t>
                </a:r>
              </a:p>
              <a:p>
                <a:r>
                  <a:rPr kumimoji="1" lang="ja-JP" altLang="en-US" dirty="0"/>
                  <a:t>出力が </a:t>
                </a:r>
                <a:r>
                  <a:rPr kumimoji="1" lang="en-US" altLang="ja-JP" dirty="0"/>
                  <a:t>1</a:t>
                </a:r>
                <a:r>
                  <a:rPr lang="ja-JP" altLang="en-US" dirty="0"/>
                  <a:t>（高電位に）</a:t>
                </a:r>
                <a:endParaRPr kumimoji="1" lang="ja-JP" altLang="en-US" dirty="0"/>
              </a:p>
            </p:txBody>
          </p:sp>
        </mc:Choice>
        <mc:Fallback xmlns="">
          <p:sp>
            <p:nvSpPr>
              <p:cNvPr id="3" name="テキスト プレースホルダー 2"/>
              <p:cNvSpPr>
                <a:spLocks noGrp="1" noRot="1" noChangeAspect="1" noMove="1" noResize="1" noEditPoints="1" noAdjustHandles="1" noChangeArrowheads="1" noChangeShapeType="1" noTextEdit="1"/>
              </p:cNvSpPr>
              <p:nvPr>
                <p:ph type="body" sz="quarter" idx="10"/>
              </p:nvPr>
            </p:nvSpPr>
            <p:spPr>
              <a:xfrm>
                <a:off x="701957" y="4509012"/>
                <a:ext cx="8280092" cy="1979715"/>
              </a:xfrm>
              <a:blipFill rotWithShape="0">
                <a:blip r:embed="rId3"/>
                <a:stretch>
                  <a:fillRect l="-663" t="-1543" b="-5247"/>
                </a:stretch>
              </a:blipFill>
            </p:spPr>
            <p:txBody>
              <a:bodyPr/>
              <a:lstStyle/>
              <a:p>
                <a:r>
                  <a:rPr lang="ja-JP" altLang="en-US">
                    <a:noFill/>
                  </a:rPr>
                  <a:t> </a:t>
                </a:r>
              </a:p>
            </p:txBody>
          </p:sp>
        </mc:Fallback>
      </mc:AlternateContent>
      <p:sp>
        <p:nvSpPr>
          <p:cNvPr id="8" name="スライド番号プレースホルダー 7"/>
          <p:cNvSpPr>
            <a:spLocks noGrp="1"/>
          </p:cNvSpPr>
          <p:nvPr>
            <p:ph type="sldNum" sz="quarter" idx="4294967295"/>
          </p:nvPr>
        </p:nvSpPr>
        <p:spPr>
          <a:xfrm>
            <a:off x="8783638" y="6399213"/>
            <a:ext cx="360362" cy="360362"/>
          </a:xfrm>
          <a:prstGeom prst="rect">
            <a:avLst/>
          </a:prstGeom>
        </p:spPr>
        <p:txBody>
          <a:bodyPr/>
          <a:lstStyle/>
          <a:p>
            <a:fld id="{57822056-E1F9-464F-82C8-6C2C7E347532}" type="slidenum">
              <a:rPr lang="ja-JP" altLang="en-US" smtClean="0"/>
              <a:pPr/>
              <a:t>54</a:t>
            </a:fld>
            <a:endParaRPr lang="ja-JP" altLang="en-US"/>
          </a:p>
        </p:txBody>
      </p:sp>
      <p:sp>
        <p:nvSpPr>
          <p:cNvPr id="10" name="正方形/長方形 9"/>
          <p:cNvSpPr/>
          <p:nvPr/>
        </p:nvSpPr>
        <p:spPr bwMode="auto">
          <a:xfrm>
            <a:off x="7452320" y="6309320"/>
            <a:ext cx="1466850" cy="317500"/>
          </a:xfrm>
          <a:prstGeom prst="rect">
            <a:avLst/>
          </a:prstGeom>
          <a:noFill/>
          <a:ln>
            <a:noFill/>
            <a:headEnd type="none" w="med" len="med"/>
            <a:tailEnd type="none" w="med" len="med"/>
          </a:ln>
        </p:spPr>
        <p:style>
          <a:lnRef idx="2">
            <a:schemeClr val="accent3"/>
          </a:lnRef>
          <a:fillRef idx="1">
            <a:schemeClr val="lt1"/>
          </a:fillRef>
          <a:effectRef idx="0">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0" i="0" u="none" strike="noStrike" cap="none" normalizeH="0" baseline="0" dirty="0">
                <a:ln>
                  <a:noFill/>
                </a:ln>
                <a:solidFill>
                  <a:schemeClr val="tx1"/>
                </a:solidFill>
                <a:effectLst/>
                <a:latin typeface="Times New Roman" pitchFamily="18" charset="0"/>
                <a:ea typeface="HG丸ｺﾞｼｯｸM-PRO" pitchFamily="50" charset="-128"/>
              </a:rPr>
              <a:t>NOT</a:t>
            </a:r>
            <a:endParaRPr kumimoji="1" lang="ja-JP" altLang="en-US" sz="1800" b="0" i="0" u="none" strike="noStrike" cap="none" normalizeH="0" baseline="0" dirty="0">
              <a:ln>
                <a:noFill/>
              </a:ln>
              <a:solidFill>
                <a:schemeClr val="tx1"/>
              </a:solidFill>
              <a:effectLst/>
              <a:latin typeface="Times New Roman" pitchFamily="18" charset="0"/>
              <a:ea typeface="HG丸ｺﾞｼｯｸM-PRO" pitchFamily="50" charset="-128"/>
            </a:endParaRPr>
          </a:p>
        </p:txBody>
      </p:sp>
      <p:sp>
        <p:nvSpPr>
          <p:cNvPr id="12" name="Line 9"/>
          <p:cNvSpPr>
            <a:spLocks noChangeShapeType="1"/>
          </p:cNvSpPr>
          <p:nvPr/>
        </p:nvSpPr>
        <p:spPr bwMode="auto">
          <a:xfrm>
            <a:off x="1691968" y="3429000"/>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13" name="Line 9"/>
          <p:cNvSpPr>
            <a:spLocks noChangeShapeType="1"/>
          </p:cNvSpPr>
          <p:nvPr/>
        </p:nvSpPr>
        <p:spPr bwMode="auto">
          <a:xfrm>
            <a:off x="2681979" y="3429000"/>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4" name="グループ化 13"/>
          <p:cNvGrpSpPr/>
          <p:nvPr/>
        </p:nvGrpSpPr>
        <p:grpSpPr>
          <a:xfrm>
            <a:off x="5832014" y="4869016"/>
            <a:ext cx="360048" cy="180024"/>
            <a:chOff x="1691616" y="2708904"/>
            <a:chExt cx="360048" cy="180024"/>
          </a:xfrm>
        </p:grpSpPr>
        <p:cxnSp>
          <p:nvCxnSpPr>
            <p:cNvPr id="15" name="直線コネクタ 14"/>
            <p:cNvCxnSpPr/>
            <p:nvPr/>
          </p:nvCxnSpPr>
          <p:spPr>
            <a:xfrm flipV="1">
              <a:off x="1691616" y="2708904"/>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 name="直線コネクタ 15"/>
            <p:cNvCxnSpPr/>
            <p:nvPr/>
          </p:nvCxnSpPr>
          <p:spPr>
            <a:xfrm flipV="1">
              <a:off x="1759125" y="2798916"/>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7" name="直線コネクタ 16"/>
            <p:cNvCxnSpPr/>
            <p:nvPr/>
          </p:nvCxnSpPr>
          <p:spPr>
            <a:xfrm flipV="1">
              <a:off x="1826634" y="2888928"/>
              <a:ext cx="90012"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8" name="グループ化 17"/>
          <p:cNvGrpSpPr/>
          <p:nvPr/>
        </p:nvGrpSpPr>
        <p:grpSpPr>
          <a:xfrm>
            <a:off x="5742013" y="3789004"/>
            <a:ext cx="270036" cy="360048"/>
            <a:chOff x="6282228" y="1988808"/>
            <a:chExt cx="270036" cy="360048"/>
          </a:xfrm>
        </p:grpSpPr>
        <p:cxnSp>
          <p:nvCxnSpPr>
            <p:cNvPr id="19" name="直線コネクタ 18"/>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 name="直線コネクタ 19"/>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1" name="直線コネクタ 20"/>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 name="直線コネクタ 21"/>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9" name="直線コネクタ 28"/>
          <p:cNvCxnSpPr/>
          <p:nvPr/>
        </p:nvCxnSpPr>
        <p:spPr>
          <a:xfrm flipH="1">
            <a:off x="4752002" y="3429000"/>
            <a:ext cx="540007" cy="0"/>
          </a:xfrm>
          <a:prstGeom prst="line">
            <a:avLst/>
          </a:prstGeom>
          <a:ln w="3175" cap="rnd">
            <a:solidFill>
              <a:srgbClr val="000000"/>
            </a:solidFill>
            <a:headEnd type="oval"/>
          </a:ln>
        </p:spPr>
        <p:style>
          <a:lnRef idx="1">
            <a:schemeClr val="accent1"/>
          </a:lnRef>
          <a:fillRef idx="0">
            <a:schemeClr val="accent1"/>
          </a:fillRef>
          <a:effectRef idx="0">
            <a:schemeClr val="accent1"/>
          </a:effectRef>
          <a:fontRef idx="minor">
            <a:schemeClr val="tx1"/>
          </a:fontRef>
        </p:style>
      </p:cxnSp>
      <p:cxnSp>
        <p:nvCxnSpPr>
          <p:cNvPr id="30" name="直線コネクタ 29"/>
          <p:cNvCxnSpPr/>
          <p:nvPr/>
        </p:nvCxnSpPr>
        <p:spPr>
          <a:xfrm flipV="1">
            <a:off x="6012016" y="3068996"/>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31" name="直線コネクタ 30"/>
          <p:cNvCxnSpPr/>
          <p:nvPr/>
        </p:nvCxnSpPr>
        <p:spPr>
          <a:xfrm flipV="1">
            <a:off x="6012016" y="4149009"/>
            <a:ext cx="0" cy="720007"/>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Rectangle 93"/>
              <p:cNvSpPr>
                <a:spLocks noChangeArrowheads="1"/>
              </p:cNvSpPr>
              <p:nvPr/>
            </p:nvSpPr>
            <p:spPr bwMode="auto">
              <a:xfrm>
                <a:off x="1421965" y="3158997"/>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smtClean="0">
                          <a:latin typeface="Cambria Math" panose="02040503050406030204" pitchFamily="18" charset="0"/>
                        </a:rPr>
                        <m:t>𝑖</m:t>
                      </m:r>
                    </m:oMath>
                  </m:oMathPara>
                </a14:m>
                <a:endParaRPr lang="en-US" altLang="ja-JP" dirty="0"/>
              </a:p>
            </p:txBody>
          </p:sp>
        </mc:Choice>
        <mc:Fallback xmlns="">
          <p:sp>
            <p:nvSpPr>
              <p:cNvPr id="32" name="Rectangle 93"/>
              <p:cNvSpPr>
                <a:spLocks noRot="1" noChangeAspect="1" noMove="1" noResize="1" noEditPoints="1" noAdjustHandles="1" noChangeArrowheads="1" noChangeShapeType="1" noTextEdit="1"/>
              </p:cNvSpPr>
              <p:nvPr/>
            </p:nvSpPr>
            <p:spPr bwMode="auto">
              <a:xfrm>
                <a:off x="1421965" y="3158997"/>
                <a:ext cx="270003" cy="360362"/>
              </a:xfrm>
              <a:prstGeom prst="rect">
                <a:avLst/>
              </a:prstGeom>
              <a:blipFill rotWithShape="0">
                <a:blip r:embed="rId4"/>
                <a:stretch>
                  <a:fillRect/>
                </a:stretch>
              </a:blipFill>
              <a:ln w="12700" algn="ctr">
                <a:noFill/>
                <a:miter lim="800000"/>
                <a:headEnd/>
                <a:tailEnd/>
              </a:ln>
              <a:effectLst/>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3" name="Rectangle 93"/>
              <p:cNvSpPr>
                <a:spLocks noChangeArrowheads="1"/>
              </p:cNvSpPr>
              <p:nvPr/>
            </p:nvSpPr>
            <p:spPr bwMode="auto">
              <a:xfrm>
                <a:off x="3131984" y="3158997"/>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smtClean="0">
                          <a:latin typeface="Cambria Math" panose="02040503050406030204" pitchFamily="18" charset="0"/>
                        </a:rPr>
                        <m:t>𝑜</m:t>
                      </m:r>
                    </m:oMath>
                  </m:oMathPara>
                </a14:m>
                <a:endParaRPr lang="en-US" altLang="ja-JP" dirty="0"/>
              </a:p>
            </p:txBody>
          </p:sp>
        </mc:Choice>
        <mc:Fallback xmlns="">
          <p:sp>
            <p:nvSpPr>
              <p:cNvPr id="33" name="Rectangle 93"/>
              <p:cNvSpPr>
                <a:spLocks noRot="1" noChangeAspect="1" noMove="1" noResize="1" noEditPoints="1" noAdjustHandles="1" noChangeArrowheads="1" noChangeShapeType="1" noTextEdit="1"/>
              </p:cNvSpPr>
              <p:nvPr/>
            </p:nvSpPr>
            <p:spPr bwMode="auto">
              <a:xfrm>
                <a:off x="3131984" y="3158997"/>
                <a:ext cx="270003" cy="360362"/>
              </a:xfrm>
              <a:prstGeom prst="rect">
                <a:avLst/>
              </a:prstGeom>
              <a:blipFill rotWithShape="0">
                <a:blip r:embed="rId5"/>
                <a:stretch>
                  <a:fillRect r="-2273"/>
                </a:stretch>
              </a:blipFill>
              <a:ln w="12700" algn="ctr">
                <a:noFill/>
                <a:miter lim="800000"/>
                <a:headEnd/>
                <a:tailEnd/>
              </a:ln>
              <a:effectLst/>
            </p:spPr>
            <p:txBody>
              <a:bodyPr/>
              <a:lstStyle/>
              <a:p>
                <a:r>
                  <a:rPr lang="ja-JP" altLang="en-US">
                    <a:noFill/>
                  </a:rPr>
                  <a:t> </a:t>
                </a:r>
              </a:p>
            </p:txBody>
          </p:sp>
        </mc:Fallback>
      </mc:AlternateContent>
      <p:sp>
        <p:nvSpPr>
          <p:cNvPr id="35" name="Freeform 10"/>
          <p:cNvSpPr>
            <a:spLocks/>
          </p:cNvSpPr>
          <p:nvPr/>
        </p:nvSpPr>
        <p:spPr bwMode="auto">
          <a:xfrm flipV="1">
            <a:off x="5291854" y="2888992"/>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6" name="Line 9"/>
          <p:cNvSpPr>
            <a:spLocks noChangeShapeType="1"/>
          </p:cNvSpPr>
          <p:nvPr/>
        </p:nvSpPr>
        <p:spPr bwMode="auto">
          <a:xfrm>
            <a:off x="5292008" y="3969006"/>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23" name="グループ化 22"/>
          <p:cNvGrpSpPr/>
          <p:nvPr/>
        </p:nvGrpSpPr>
        <p:grpSpPr>
          <a:xfrm>
            <a:off x="5652012" y="2708992"/>
            <a:ext cx="360048" cy="360048"/>
            <a:chOff x="3131808" y="1628760"/>
            <a:chExt cx="360048" cy="360048"/>
          </a:xfrm>
        </p:grpSpPr>
        <p:cxnSp>
          <p:nvCxnSpPr>
            <p:cNvPr id="24" name="直線コネクタ 23"/>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5" name="直線コネクタ 24"/>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6" name="直線コネクタ 25"/>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 name="直線コネクタ 26"/>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8" name="円/楕円 27"/>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mc:AlternateContent xmlns:mc="http://schemas.openxmlformats.org/markup-compatibility/2006" xmlns:a14="http://schemas.microsoft.com/office/drawing/2010/main">
        <mc:Choice Requires="a14">
          <p:sp>
            <p:nvSpPr>
              <p:cNvPr id="39" name="Rectangle 93"/>
              <p:cNvSpPr>
                <a:spLocks noChangeArrowheads="1"/>
              </p:cNvSpPr>
              <p:nvPr/>
            </p:nvSpPr>
            <p:spPr bwMode="auto">
              <a:xfrm>
                <a:off x="4481999" y="3158997"/>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smtClean="0">
                          <a:latin typeface="Cambria Math" panose="02040503050406030204" pitchFamily="18" charset="0"/>
                        </a:rPr>
                        <m:t>𝑖</m:t>
                      </m:r>
                    </m:oMath>
                  </m:oMathPara>
                </a14:m>
                <a:endParaRPr lang="en-US" altLang="ja-JP" dirty="0"/>
              </a:p>
            </p:txBody>
          </p:sp>
        </mc:Choice>
        <mc:Fallback xmlns="">
          <p:sp>
            <p:nvSpPr>
              <p:cNvPr id="39" name="Rectangle 93"/>
              <p:cNvSpPr>
                <a:spLocks noRot="1" noChangeAspect="1" noMove="1" noResize="1" noEditPoints="1" noAdjustHandles="1" noChangeArrowheads="1" noChangeShapeType="1" noTextEdit="1"/>
              </p:cNvSpPr>
              <p:nvPr/>
            </p:nvSpPr>
            <p:spPr bwMode="auto">
              <a:xfrm>
                <a:off x="4481999" y="3158997"/>
                <a:ext cx="270003" cy="360362"/>
              </a:xfrm>
              <a:prstGeom prst="rect">
                <a:avLst/>
              </a:prstGeom>
              <a:blipFill rotWithShape="0">
                <a:blip r:embed="rId6"/>
                <a:stretch>
                  <a:fillRect/>
                </a:stretch>
              </a:blipFill>
              <a:ln w="12700" algn="ctr">
                <a:noFill/>
                <a:miter lim="800000"/>
                <a:headEnd/>
                <a:tailEnd/>
              </a:ln>
              <a:effectLst/>
            </p:spPr>
            <p:txBody>
              <a:bodyPr/>
              <a:lstStyle/>
              <a:p>
                <a:r>
                  <a:rPr lang="ja-JP" altLang="en-US">
                    <a:noFill/>
                  </a:rPr>
                  <a:t> </a:t>
                </a:r>
              </a:p>
            </p:txBody>
          </p:sp>
        </mc:Fallback>
      </mc:AlternateContent>
      <p:cxnSp>
        <p:nvCxnSpPr>
          <p:cNvPr id="40" name="直線コネクタ 39"/>
          <p:cNvCxnSpPr/>
          <p:nvPr/>
        </p:nvCxnSpPr>
        <p:spPr>
          <a:xfrm>
            <a:off x="6012016" y="3429000"/>
            <a:ext cx="630005" cy="0"/>
          </a:xfrm>
          <a:prstGeom prst="line">
            <a:avLst/>
          </a:prstGeom>
          <a:ln w="3175" cap="rnd">
            <a:solidFill>
              <a:srgbClr val="000000"/>
            </a:solidFill>
            <a:headEnd type="ova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Rectangle 93"/>
              <p:cNvSpPr>
                <a:spLocks noChangeArrowheads="1"/>
              </p:cNvSpPr>
              <p:nvPr/>
            </p:nvSpPr>
            <p:spPr bwMode="auto">
              <a:xfrm>
                <a:off x="6642023" y="3158997"/>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smtClean="0">
                          <a:latin typeface="Cambria Math" panose="02040503050406030204" pitchFamily="18" charset="0"/>
                        </a:rPr>
                        <m:t>𝑜</m:t>
                      </m:r>
                    </m:oMath>
                  </m:oMathPara>
                </a14:m>
                <a:endParaRPr lang="en-US" altLang="ja-JP" dirty="0"/>
              </a:p>
            </p:txBody>
          </p:sp>
        </mc:Choice>
        <mc:Fallback xmlns="">
          <p:sp>
            <p:nvSpPr>
              <p:cNvPr id="42" name="Rectangle 93"/>
              <p:cNvSpPr>
                <a:spLocks noRot="1" noChangeAspect="1" noMove="1" noResize="1" noEditPoints="1" noAdjustHandles="1" noChangeArrowheads="1" noChangeShapeType="1" noTextEdit="1"/>
              </p:cNvSpPr>
              <p:nvPr/>
            </p:nvSpPr>
            <p:spPr bwMode="auto">
              <a:xfrm>
                <a:off x="6642023" y="3158997"/>
                <a:ext cx="270003" cy="360362"/>
              </a:xfrm>
              <a:prstGeom prst="rect">
                <a:avLst/>
              </a:prstGeom>
              <a:blipFill rotWithShape="0">
                <a:blip r:embed="rId7"/>
                <a:stretch>
                  <a:fillRect/>
                </a:stretch>
              </a:blipFill>
              <a:ln w="12700" algn="ctr">
                <a:noFill/>
                <a:miter lim="800000"/>
                <a:headEnd/>
                <a:tailEnd/>
              </a:ln>
              <a:effectLst/>
            </p:spPr>
            <p:txBody>
              <a:bodyPr/>
              <a:lstStyle/>
              <a:p>
                <a:r>
                  <a:rPr lang="ja-JP" altLang="en-US">
                    <a:noFill/>
                  </a:rPr>
                  <a:t> </a:t>
                </a:r>
              </a:p>
            </p:txBody>
          </p:sp>
        </mc:Fallback>
      </mc:AlternateContent>
      <p:cxnSp>
        <p:nvCxnSpPr>
          <p:cNvPr id="43" name="直線コネクタ 42"/>
          <p:cNvCxnSpPr/>
          <p:nvPr/>
        </p:nvCxnSpPr>
        <p:spPr>
          <a:xfrm flipV="1">
            <a:off x="6012016" y="1988984"/>
            <a:ext cx="0" cy="72007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45" name="直線コネクタ 44"/>
          <p:cNvCxnSpPr/>
          <p:nvPr/>
        </p:nvCxnSpPr>
        <p:spPr>
          <a:xfrm>
            <a:off x="5832014" y="1988984"/>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46" name="Rectangle 93"/>
          <p:cNvSpPr>
            <a:spLocks noChangeArrowheads="1"/>
          </p:cNvSpPr>
          <p:nvPr/>
        </p:nvSpPr>
        <p:spPr bwMode="auto">
          <a:xfrm>
            <a:off x="6192018" y="1718981"/>
            <a:ext cx="270003" cy="360362"/>
          </a:xfrm>
          <a:prstGeom prst="rect">
            <a:avLst/>
          </a:prstGeom>
          <a:noFill/>
          <a:ln w="12700" algn="ctr">
            <a:noFill/>
            <a:miter lim="800000"/>
            <a:headEnd/>
            <a:tailEnd/>
          </a:ln>
          <a:effectLst/>
        </p:spPr>
        <p:txBody>
          <a:bodyPr wrap="none" lIns="90000" tIns="46800" rIns="90000" bIns="46800" anchor="ctr"/>
          <a:lstStyle/>
          <a:p>
            <a:r>
              <a:rPr lang="en-US" altLang="ja-JP" b="0" i="0" dirty="0">
                <a:latin typeface="+mj-lt"/>
              </a:rPr>
              <a:t>VDD</a:t>
            </a:r>
            <a:endParaRPr lang="en-US" altLang="ja-JP" dirty="0"/>
          </a:p>
        </p:txBody>
      </p:sp>
      <p:sp>
        <p:nvSpPr>
          <p:cNvPr id="47" name="Rectangle 93"/>
          <p:cNvSpPr>
            <a:spLocks noChangeArrowheads="1"/>
          </p:cNvSpPr>
          <p:nvPr/>
        </p:nvSpPr>
        <p:spPr bwMode="auto">
          <a:xfrm>
            <a:off x="6102017" y="4869016"/>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sp>
        <p:nvSpPr>
          <p:cNvPr id="41" name="Rectangle 93"/>
          <p:cNvSpPr>
            <a:spLocks noChangeArrowheads="1"/>
          </p:cNvSpPr>
          <p:nvPr/>
        </p:nvSpPr>
        <p:spPr bwMode="auto">
          <a:xfrm>
            <a:off x="6192018" y="2708992"/>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rPr>
              <a:t>PMOS (on)</a:t>
            </a:r>
          </a:p>
        </p:txBody>
      </p:sp>
      <p:sp>
        <p:nvSpPr>
          <p:cNvPr id="44" name="Rectangle 93"/>
          <p:cNvSpPr>
            <a:spLocks noChangeArrowheads="1"/>
          </p:cNvSpPr>
          <p:nvPr/>
        </p:nvSpPr>
        <p:spPr bwMode="auto">
          <a:xfrm>
            <a:off x="6192018" y="378900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tx1">
                    <a:lumMod val="85000"/>
                    <a:lumOff val="15000"/>
                  </a:schemeClr>
                </a:solidFill>
              </a:rPr>
              <a:t>NMOS (off)</a:t>
            </a:r>
          </a:p>
        </p:txBody>
      </p:sp>
      <p:sp>
        <p:nvSpPr>
          <p:cNvPr id="4" name="曲折矢印 3"/>
          <p:cNvSpPr/>
          <p:nvPr/>
        </p:nvSpPr>
        <p:spPr bwMode="auto">
          <a:xfrm flipV="1">
            <a:off x="6102017" y="2078985"/>
            <a:ext cx="540006" cy="1291344"/>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pic>
        <p:nvPicPr>
          <p:cNvPr id="48" name="Picture 30" descr="NOT"/>
          <p:cNvPicPr>
            <a:picLocks noChangeAspect="1" noChangeArrowheads="1"/>
          </p:cNvPicPr>
          <p:nvPr/>
        </p:nvPicPr>
        <p:blipFill>
          <a:blip r:embed="rId8" cstate="print"/>
          <a:srcRect/>
          <a:stretch>
            <a:fillRect/>
          </a:stretch>
        </p:blipFill>
        <p:spPr bwMode="auto">
          <a:xfrm rot="10800000" flipH="1">
            <a:off x="2051972" y="3068996"/>
            <a:ext cx="717550" cy="720725"/>
          </a:xfrm>
          <a:prstGeom prst="rect">
            <a:avLst/>
          </a:prstGeom>
          <a:noFill/>
        </p:spPr>
      </p:pic>
    </p:spTree>
    <p:extLst>
      <p:ext uri="{BB962C8B-B14F-4D97-AF65-F5344CB8AC3E}">
        <p14:creationId xmlns:p14="http://schemas.microsoft.com/office/powerpoint/2010/main" val="233788426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NOT </a:t>
            </a:r>
            <a:r>
              <a:rPr lang="ja-JP" altLang="en-US" dirty="0"/>
              <a:t>ゲート の例</a:t>
            </a:r>
            <a:endParaRPr kumimoji="1" lang="ja-JP" altLang="en-US" dirty="0"/>
          </a:p>
        </p:txBody>
      </p:sp>
      <mc:AlternateContent xmlns:mc="http://schemas.openxmlformats.org/markup-compatibility/2006" xmlns:a14="http://schemas.microsoft.com/office/drawing/2010/main">
        <mc:Choice Requires="a14">
          <p:sp>
            <p:nvSpPr>
              <p:cNvPr id="3" name="テキスト プレースホルダー 2"/>
              <p:cNvSpPr>
                <a:spLocks noGrp="1"/>
              </p:cNvSpPr>
              <p:nvPr>
                <p:ph type="body" sz="quarter" idx="10"/>
              </p:nvPr>
            </p:nvSpPr>
            <p:spPr>
              <a:xfrm>
                <a:off x="701957" y="4509012"/>
                <a:ext cx="8280092" cy="1979715"/>
              </a:xfrm>
            </p:spPr>
            <p:txBody>
              <a:bodyPr/>
              <a:lstStyle/>
              <a:p>
                <a14:m>
                  <m:oMath xmlns:m="http://schemas.openxmlformats.org/officeDocument/2006/math">
                    <m:r>
                      <a:rPr lang="en-US" altLang="ja-JP" i="1" dirty="0" smtClean="0">
                        <a:latin typeface="Cambria Math" panose="02040503050406030204" pitchFamily="18" charset="0"/>
                      </a:rPr>
                      <m:t>𝑖</m:t>
                    </m:r>
                    <m:r>
                      <a:rPr lang="en-US" altLang="ja-JP" i="1" dirty="0" smtClean="0">
                        <a:latin typeface="Cambria Math" panose="02040503050406030204" pitchFamily="18" charset="0"/>
                      </a:rPr>
                      <m:t> </m:t>
                    </m:r>
                  </m:oMath>
                </a14:m>
                <a:r>
                  <a:rPr kumimoji="1" lang="ja-JP" altLang="en-US" dirty="0"/>
                  <a:t>が </a:t>
                </a:r>
                <a:r>
                  <a:rPr kumimoji="1" lang="en-US" altLang="ja-JP" dirty="0"/>
                  <a:t>1 </a:t>
                </a:r>
                <a:r>
                  <a:rPr kumimoji="1" lang="ja-JP" altLang="en-US" dirty="0"/>
                  <a:t>（高電位）の場合</a:t>
                </a:r>
                <a:endParaRPr kumimoji="1" lang="en-US" altLang="ja-JP" dirty="0"/>
              </a:p>
              <a:p>
                <a:pPr lvl="1"/>
                <a:r>
                  <a:rPr lang="en-US" altLang="ja-JP" dirty="0"/>
                  <a:t>PMOS</a:t>
                </a:r>
                <a:r>
                  <a:rPr lang="ja-JP" altLang="en-US" dirty="0"/>
                  <a:t>（上側）は，</a:t>
                </a:r>
                <a:r>
                  <a:rPr lang="en-US" altLang="ja-JP" dirty="0"/>
                  <a:t>off </a:t>
                </a:r>
              </a:p>
              <a:p>
                <a:pPr lvl="1"/>
                <a:r>
                  <a:rPr kumimoji="1" lang="en-US" altLang="ja-JP" dirty="0"/>
                  <a:t>NMOS</a:t>
                </a:r>
                <a:r>
                  <a:rPr kumimoji="1" lang="ja-JP" altLang="en-US" dirty="0"/>
                  <a:t>（下側）は，</a:t>
                </a:r>
                <a:r>
                  <a:rPr kumimoji="1" lang="en-US" altLang="ja-JP" dirty="0"/>
                  <a:t>on = GND </a:t>
                </a:r>
                <a:r>
                  <a:rPr kumimoji="1" lang="ja-JP" altLang="en-US" dirty="0"/>
                  <a:t>と繋がる</a:t>
                </a:r>
                <a:endParaRPr kumimoji="1" lang="en-US" altLang="ja-JP" dirty="0"/>
              </a:p>
              <a:p>
                <a:r>
                  <a:rPr kumimoji="1" lang="ja-JP" altLang="en-US" dirty="0"/>
                  <a:t>出力が </a:t>
                </a:r>
                <a:r>
                  <a:rPr lang="en-US" altLang="ja-JP" dirty="0"/>
                  <a:t>0</a:t>
                </a:r>
                <a:r>
                  <a:rPr lang="ja-JP" altLang="en-US" dirty="0"/>
                  <a:t>（低電位に）</a:t>
                </a:r>
                <a:endParaRPr kumimoji="1" lang="ja-JP" altLang="en-US" dirty="0"/>
              </a:p>
            </p:txBody>
          </p:sp>
        </mc:Choice>
        <mc:Fallback xmlns="">
          <p:sp>
            <p:nvSpPr>
              <p:cNvPr id="3" name="テキスト プレースホルダー 2"/>
              <p:cNvSpPr>
                <a:spLocks noGrp="1" noRot="1" noChangeAspect="1" noMove="1" noResize="1" noEditPoints="1" noAdjustHandles="1" noChangeArrowheads="1" noChangeShapeType="1" noTextEdit="1"/>
              </p:cNvSpPr>
              <p:nvPr>
                <p:ph type="body" sz="quarter" idx="10"/>
              </p:nvPr>
            </p:nvSpPr>
            <p:spPr>
              <a:xfrm>
                <a:off x="701957" y="4509012"/>
                <a:ext cx="8280092" cy="1979715"/>
              </a:xfrm>
              <a:blipFill rotWithShape="0">
                <a:blip r:embed="rId3"/>
                <a:stretch>
                  <a:fillRect l="-663" t="-1543" b="-5247"/>
                </a:stretch>
              </a:blipFill>
            </p:spPr>
            <p:txBody>
              <a:bodyPr/>
              <a:lstStyle/>
              <a:p>
                <a:r>
                  <a:rPr lang="ja-JP" altLang="en-US">
                    <a:noFill/>
                  </a:rPr>
                  <a:t> </a:t>
                </a:r>
              </a:p>
            </p:txBody>
          </p:sp>
        </mc:Fallback>
      </mc:AlternateContent>
      <p:sp>
        <p:nvSpPr>
          <p:cNvPr id="8" name="スライド番号プレースホルダー 7"/>
          <p:cNvSpPr>
            <a:spLocks noGrp="1"/>
          </p:cNvSpPr>
          <p:nvPr>
            <p:ph type="sldNum" sz="quarter" idx="4294967295"/>
          </p:nvPr>
        </p:nvSpPr>
        <p:spPr>
          <a:xfrm>
            <a:off x="8783638" y="6399213"/>
            <a:ext cx="360362" cy="360362"/>
          </a:xfrm>
          <a:prstGeom prst="rect">
            <a:avLst/>
          </a:prstGeom>
        </p:spPr>
        <p:txBody>
          <a:bodyPr/>
          <a:lstStyle/>
          <a:p>
            <a:fld id="{57822056-E1F9-464F-82C8-6C2C7E347532}" type="slidenum">
              <a:rPr lang="ja-JP" altLang="en-US" smtClean="0"/>
              <a:pPr/>
              <a:t>55</a:t>
            </a:fld>
            <a:endParaRPr lang="ja-JP" altLang="en-US"/>
          </a:p>
        </p:txBody>
      </p:sp>
      <p:sp>
        <p:nvSpPr>
          <p:cNvPr id="10" name="正方形/長方形 9"/>
          <p:cNvSpPr/>
          <p:nvPr/>
        </p:nvSpPr>
        <p:spPr bwMode="auto">
          <a:xfrm>
            <a:off x="7452320" y="6309320"/>
            <a:ext cx="1466850" cy="317500"/>
          </a:xfrm>
          <a:prstGeom prst="rect">
            <a:avLst/>
          </a:prstGeom>
          <a:noFill/>
          <a:ln>
            <a:noFill/>
            <a:headEnd type="none" w="med" len="med"/>
            <a:tailEnd type="none" w="med" len="med"/>
          </a:ln>
        </p:spPr>
        <p:style>
          <a:lnRef idx="2">
            <a:schemeClr val="accent3"/>
          </a:lnRef>
          <a:fillRef idx="1">
            <a:schemeClr val="lt1"/>
          </a:fillRef>
          <a:effectRef idx="0">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800" b="0" i="0" u="none" strike="noStrike" cap="none" normalizeH="0" baseline="0" dirty="0">
                <a:ln>
                  <a:noFill/>
                </a:ln>
                <a:solidFill>
                  <a:schemeClr val="tx1"/>
                </a:solidFill>
                <a:effectLst/>
                <a:latin typeface="Times New Roman" pitchFamily="18" charset="0"/>
                <a:ea typeface="HG丸ｺﾞｼｯｸM-PRO" pitchFamily="50" charset="-128"/>
              </a:rPr>
              <a:t>NOT</a:t>
            </a:r>
            <a:endParaRPr kumimoji="1" lang="ja-JP" altLang="en-US" sz="1800" b="0" i="0" u="none" strike="noStrike" cap="none" normalizeH="0" baseline="0" dirty="0">
              <a:ln>
                <a:noFill/>
              </a:ln>
              <a:solidFill>
                <a:schemeClr val="tx1"/>
              </a:solidFill>
              <a:effectLst/>
              <a:latin typeface="Times New Roman" pitchFamily="18" charset="0"/>
              <a:ea typeface="HG丸ｺﾞｼｯｸM-PRO" pitchFamily="50" charset="-128"/>
            </a:endParaRPr>
          </a:p>
        </p:txBody>
      </p:sp>
      <p:sp>
        <p:nvSpPr>
          <p:cNvPr id="12" name="Line 9"/>
          <p:cNvSpPr>
            <a:spLocks noChangeShapeType="1"/>
          </p:cNvSpPr>
          <p:nvPr/>
        </p:nvSpPr>
        <p:spPr bwMode="auto">
          <a:xfrm>
            <a:off x="1691968" y="3429000"/>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13" name="Line 9"/>
          <p:cNvSpPr>
            <a:spLocks noChangeShapeType="1"/>
          </p:cNvSpPr>
          <p:nvPr/>
        </p:nvSpPr>
        <p:spPr bwMode="auto">
          <a:xfrm>
            <a:off x="2681979" y="3429000"/>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4" name="グループ化 13"/>
          <p:cNvGrpSpPr/>
          <p:nvPr/>
        </p:nvGrpSpPr>
        <p:grpSpPr>
          <a:xfrm>
            <a:off x="5832014" y="4869016"/>
            <a:ext cx="360048" cy="180024"/>
            <a:chOff x="1691616" y="2708904"/>
            <a:chExt cx="360048" cy="180024"/>
          </a:xfrm>
        </p:grpSpPr>
        <p:cxnSp>
          <p:nvCxnSpPr>
            <p:cNvPr id="15" name="直線コネクタ 14"/>
            <p:cNvCxnSpPr/>
            <p:nvPr/>
          </p:nvCxnSpPr>
          <p:spPr>
            <a:xfrm flipV="1">
              <a:off x="1691616" y="2708904"/>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 name="直線コネクタ 15"/>
            <p:cNvCxnSpPr/>
            <p:nvPr/>
          </p:nvCxnSpPr>
          <p:spPr>
            <a:xfrm flipV="1">
              <a:off x="1759125" y="2798916"/>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7" name="直線コネクタ 16"/>
            <p:cNvCxnSpPr/>
            <p:nvPr/>
          </p:nvCxnSpPr>
          <p:spPr>
            <a:xfrm flipV="1">
              <a:off x="1826634" y="2888928"/>
              <a:ext cx="90012"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8" name="グループ化 17"/>
          <p:cNvGrpSpPr/>
          <p:nvPr/>
        </p:nvGrpSpPr>
        <p:grpSpPr>
          <a:xfrm>
            <a:off x="5742013" y="3789004"/>
            <a:ext cx="270036" cy="360048"/>
            <a:chOff x="6282228" y="1988808"/>
            <a:chExt cx="270036" cy="360048"/>
          </a:xfrm>
        </p:grpSpPr>
        <p:cxnSp>
          <p:nvCxnSpPr>
            <p:cNvPr id="19" name="直線コネクタ 18"/>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 name="直線コネクタ 19"/>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1" name="直線コネクタ 20"/>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 name="直線コネクタ 21"/>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9" name="直線コネクタ 28"/>
          <p:cNvCxnSpPr/>
          <p:nvPr/>
        </p:nvCxnSpPr>
        <p:spPr>
          <a:xfrm flipH="1">
            <a:off x="4752002" y="3429000"/>
            <a:ext cx="540007" cy="0"/>
          </a:xfrm>
          <a:prstGeom prst="line">
            <a:avLst/>
          </a:prstGeom>
          <a:ln w="3175" cap="rnd">
            <a:solidFill>
              <a:srgbClr val="000000"/>
            </a:solidFill>
            <a:headEnd type="oval"/>
          </a:ln>
        </p:spPr>
        <p:style>
          <a:lnRef idx="1">
            <a:schemeClr val="accent1"/>
          </a:lnRef>
          <a:fillRef idx="0">
            <a:schemeClr val="accent1"/>
          </a:fillRef>
          <a:effectRef idx="0">
            <a:schemeClr val="accent1"/>
          </a:effectRef>
          <a:fontRef idx="minor">
            <a:schemeClr val="tx1"/>
          </a:fontRef>
        </p:style>
      </p:cxnSp>
      <p:cxnSp>
        <p:nvCxnSpPr>
          <p:cNvPr id="30" name="直線コネクタ 29"/>
          <p:cNvCxnSpPr/>
          <p:nvPr/>
        </p:nvCxnSpPr>
        <p:spPr>
          <a:xfrm flipV="1">
            <a:off x="6012016" y="3068996"/>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31" name="直線コネクタ 30"/>
          <p:cNvCxnSpPr/>
          <p:nvPr/>
        </p:nvCxnSpPr>
        <p:spPr>
          <a:xfrm flipV="1">
            <a:off x="6012016" y="4149009"/>
            <a:ext cx="0" cy="720007"/>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Rectangle 93"/>
              <p:cNvSpPr>
                <a:spLocks noChangeArrowheads="1"/>
              </p:cNvSpPr>
              <p:nvPr/>
            </p:nvSpPr>
            <p:spPr bwMode="auto">
              <a:xfrm>
                <a:off x="1421965" y="3158997"/>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smtClean="0">
                          <a:latin typeface="Cambria Math" panose="02040503050406030204" pitchFamily="18" charset="0"/>
                        </a:rPr>
                        <m:t>𝑖</m:t>
                      </m:r>
                    </m:oMath>
                  </m:oMathPara>
                </a14:m>
                <a:endParaRPr lang="en-US" altLang="ja-JP" dirty="0"/>
              </a:p>
            </p:txBody>
          </p:sp>
        </mc:Choice>
        <mc:Fallback xmlns="">
          <p:sp>
            <p:nvSpPr>
              <p:cNvPr id="32" name="Rectangle 93"/>
              <p:cNvSpPr>
                <a:spLocks noRot="1" noChangeAspect="1" noMove="1" noResize="1" noEditPoints="1" noAdjustHandles="1" noChangeArrowheads="1" noChangeShapeType="1" noTextEdit="1"/>
              </p:cNvSpPr>
              <p:nvPr/>
            </p:nvSpPr>
            <p:spPr bwMode="auto">
              <a:xfrm>
                <a:off x="1421965" y="3158997"/>
                <a:ext cx="270003" cy="360362"/>
              </a:xfrm>
              <a:prstGeom prst="rect">
                <a:avLst/>
              </a:prstGeom>
              <a:blipFill rotWithShape="0">
                <a:blip r:embed="rId4"/>
                <a:stretch>
                  <a:fillRect/>
                </a:stretch>
              </a:blipFill>
              <a:ln w="12700" algn="ctr">
                <a:noFill/>
                <a:miter lim="800000"/>
                <a:headEnd/>
                <a:tailEnd/>
              </a:ln>
              <a:effectLst/>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3" name="Rectangle 93"/>
              <p:cNvSpPr>
                <a:spLocks noChangeArrowheads="1"/>
              </p:cNvSpPr>
              <p:nvPr/>
            </p:nvSpPr>
            <p:spPr bwMode="auto">
              <a:xfrm>
                <a:off x="3131984" y="3158997"/>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smtClean="0">
                          <a:latin typeface="Cambria Math" panose="02040503050406030204" pitchFamily="18" charset="0"/>
                        </a:rPr>
                        <m:t>𝑜</m:t>
                      </m:r>
                    </m:oMath>
                  </m:oMathPara>
                </a14:m>
                <a:endParaRPr lang="en-US" altLang="ja-JP" dirty="0"/>
              </a:p>
            </p:txBody>
          </p:sp>
        </mc:Choice>
        <mc:Fallback xmlns="">
          <p:sp>
            <p:nvSpPr>
              <p:cNvPr id="33" name="Rectangle 93"/>
              <p:cNvSpPr>
                <a:spLocks noRot="1" noChangeAspect="1" noMove="1" noResize="1" noEditPoints="1" noAdjustHandles="1" noChangeArrowheads="1" noChangeShapeType="1" noTextEdit="1"/>
              </p:cNvSpPr>
              <p:nvPr/>
            </p:nvSpPr>
            <p:spPr bwMode="auto">
              <a:xfrm>
                <a:off x="3131984" y="3158997"/>
                <a:ext cx="270003" cy="360362"/>
              </a:xfrm>
              <a:prstGeom prst="rect">
                <a:avLst/>
              </a:prstGeom>
              <a:blipFill rotWithShape="0">
                <a:blip r:embed="rId5"/>
                <a:stretch>
                  <a:fillRect r="-2273"/>
                </a:stretch>
              </a:blipFill>
              <a:ln w="12700" algn="ctr">
                <a:noFill/>
                <a:miter lim="800000"/>
                <a:headEnd/>
                <a:tailEnd/>
              </a:ln>
              <a:effectLst/>
            </p:spPr>
            <p:txBody>
              <a:bodyPr/>
              <a:lstStyle/>
              <a:p>
                <a:r>
                  <a:rPr lang="ja-JP" altLang="en-US">
                    <a:noFill/>
                  </a:rPr>
                  <a:t> </a:t>
                </a:r>
              </a:p>
            </p:txBody>
          </p:sp>
        </mc:Fallback>
      </mc:AlternateContent>
      <p:sp>
        <p:nvSpPr>
          <p:cNvPr id="35" name="Freeform 10"/>
          <p:cNvSpPr>
            <a:spLocks/>
          </p:cNvSpPr>
          <p:nvPr/>
        </p:nvSpPr>
        <p:spPr bwMode="auto">
          <a:xfrm flipV="1">
            <a:off x="5291854" y="2888992"/>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6" name="Line 9"/>
          <p:cNvSpPr>
            <a:spLocks noChangeShapeType="1"/>
          </p:cNvSpPr>
          <p:nvPr/>
        </p:nvSpPr>
        <p:spPr bwMode="auto">
          <a:xfrm>
            <a:off x="5292008" y="3969006"/>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23" name="グループ化 22"/>
          <p:cNvGrpSpPr/>
          <p:nvPr/>
        </p:nvGrpSpPr>
        <p:grpSpPr>
          <a:xfrm>
            <a:off x="5652012" y="2708992"/>
            <a:ext cx="360048" cy="360048"/>
            <a:chOff x="3131808" y="1628760"/>
            <a:chExt cx="360048" cy="360048"/>
          </a:xfrm>
        </p:grpSpPr>
        <p:cxnSp>
          <p:nvCxnSpPr>
            <p:cNvPr id="24" name="直線コネクタ 23"/>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5" name="直線コネクタ 24"/>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6" name="直線コネクタ 25"/>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 name="直線コネクタ 26"/>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8" name="円/楕円 27"/>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mc:AlternateContent xmlns:mc="http://schemas.openxmlformats.org/markup-compatibility/2006" xmlns:a14="http://schemas.microsoft.com/office/drawing/2010/main">
        <mc:Choice Requires="a14">
          <p:sp>
            <p:nvSpPr>
              <p:cNvPr id="39" name="Rectangle 93"/>
              <p:cNvSpPr>
                <a:spLocks noChangeArrowheads="1"/>
              </p:cNvSpPr>
              <p:nvPr/>
            </p:nvSpPr>
            <p:spPr bwMode="auto">
              <a:xfrm>
                <a:off x="4481999" y="3158997"/>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smtClean="0">
                          <a:latin typeface="Cambria Math" panose="02040503050406030204" pitchFamily="18" charset="0"/>
                        </a:rPr>
                        <m:t>𝑖</m:t>
                      </m:r>
                    </m:oMath>
                  </m:oMathPara>
                </a14:m>
                <a:endParaRPr lang="en-US" altLang="ja-JP" dirty="0"/>
              </a:p>
            </p:txBody>
          </p:sp>
        </mc:Choice>
        <mc:Fallback xmlns="">
          <p:sp>
            <p:nvSpPr>
              <p:cNvPr id="39" name="Rectangle 93"/>
              <p:cNvSpPr>
                <a:spLocks noRot="1" noChangeAspect="1" noMove="1" noResize="1" noEditPoints="1" noAdjustHandles="1" noChangeArrowheads="1" noChangeShapeType="1" noTextEdit="1"/>
              </p:cNvSpPr>
              <p:nvPr/>
            </p:nvSpPr>
            <p:spPr bwMode="auto">
              <a:xfrm>
                <a:off x="4481999" y="3158997"/>
                <a:ext cx="270003" cy="360362"/>
              </a:xfrm>
              <a:prstGeom prst="rect">
                <a:avLst/>
              </a:prstGeom>
              <a:blipFill rotWithShape="0">
                <a:blip r:embed="rId6"/>
                <a:stretch>
                  <a:fillRect/>
                </a:stretch>
              </a:blipFill>
              <a:ln w="12700" algn="ctr">
                <a:noFill/>
                <a:miter lim="800000"/>
                <a:headEnd/>
                <a:tailEnd/>
              </a:ln>
              <a:effectLst/>
            </p:spPr>
            <p:txBody>
              <a:bodyPr/>
              <a:lstStyle/>
              <a:p>
                <a:r>
                  <a:rPr lang="ja-JP" altLang="en-US">
                    <a:noFill/>
                  </a:rPr>
                  <a:t> </a:t>
                </a:r>
              </a:p>
            </p:txBody>
          </p:sp>
        </mc:Fallback>
      </mc:AlternateContent>
      <p:cxnSp>
        <p:nvCxnSpPr>
          <p:cNvPr id="40" name="直線コネクタ 39"/>
          <p:cNvCxnSpPr/>
          <p:nvPr/>
        </p:nvCxnSpPr>
        <p:spPr>
          <a:xfrm>
            <a:off x="6012016" y="3429000"/>
            <a:ext cx="630005" cy="0"/>
          </a:xfrm>
          <a:prstGeom prst="line">
            <a:avLst/>
          </a:prstGeom>
          <a:ln w="3175" cap="rnd">
            <a:solidFill>
              <a:srgbClr val="000000"/>
            </a:solidFill>
            <a:headEnd type="ova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Rectangle 93"/>
              <p:cNvSpPr>
                <a:spLocks noChangeArrowheads="1"/>
              </p:cNvSpPr>
              <p:nvPr/>
            </p:nvSpPr>
            <p:spPr bwMode="auto">
              <a:xfrm>
                <a:off x="6642023" y="3158997"/>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smtClean="0">
                          <a:latin typeface="Cambria Math" panose="02040503050406030204" pitchFamily="18" charset="0"/>
                        </a:rPr>
                        <m:t>𝑜</m:t>
                      </m:r>
                    </m:oMath>
                  </m:oMathPara>
                </a14:m>
                <a:endParaRPr lang="en-US" altLang="ja-JP" dirty="0"/>
              </a:p>
            </p:txBody>
          </p:sp>
        </mc:Choice>
        <mc:Fallback xmlns="">
          <p:sp>
            <p:nvSpPr>
              <p:cNvPr id="42" name="Rectangle 93"/>
              <p:cNvSpPr>
                <a:spLocks noRot="1" noChangeAspect="1" noMove="1" noResize="1" noEditPoints="1" noAdjustHandles="1" noChangeArrowheads="1" noChangeShapeType="1" noTextEdit="1"/>
              </p:cNvSpPr>
              <p:nvPr/>
            </p:nvSpPr>
            <p:spPr bwMode="auto">
              <a:xfrm>
                <a:off x="6642023" y="3158997"/>
                <a:ext cx="270003" cy="360362"/>
              </a:xfrm>
              <a:prstGeom prst="rect">
                <a:avLst/>
              </a:prstGeom>
              <a:blipFill rotWithShape="0">
                <a:blip r:embed="rId7"/>
                <a:stretch>
                  <a:fillRect/>
                </a:stretch>
              </a:blipFill>
              <a:ln w="12700" algn="ctr">
                <a:noFill/>
                <a:miter lim="800000"/>
                <a:headEnd/>
                <a:tailEnd/>
              </a:ln>
              <a:effectLst/>
            </p:spPr>
            <p:txBody>
              <a:bodyPr/>
              <a:lstStyle/>
              <a:p>
                <a:r>
                  <a:rPr lang="ja-JP" altLang="en-US">
                    <a:noFill/>
                  </a:rPr>
                  <a:t> </a:t>
                </a:r>
              </a:p>
            </p:txBody>
          </p:sp>
        </mc:Fallback>
      </mc:AlternateContent>
      <p:cxnSp>
        <p:nvCxnSpPr>
          <p:cNvPr id="43" name="直線コネクタ 42"/>
          <p:cNvCxnSpPr/>
          <p:nvPr/>
        </p:nvCxnSpPr>
        <p:spPr>
          <a:xfrm flipV="1">
            <a:off x="6012016" y="1988984"/>
            <a:ext cx="0" cy="72007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45" name="直線コネクタ 44"/>
          <p:cNvCxnSpPr/>
          <p:nvPr/>
        </p:nvCxnSpPr>
        <p:spPr>
          <a:xfrm>
            <a:off x="5832014" y="1988984"/>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46" name="Rectangle 93"/>
          <p:cNvSpPr>
            <a:spLocks noChangeArrowheads="1"/>
          </p:cNvSpPr>
          <p:nvPr/>
        </p:nvSpPr>
        <p:spPr bwMode="auto">
          <a:xfrm>
            <a:off x="6192018" y="1718981"/>
            <a:ext cx="270003" cy="360362"/>
          </a:xfrm>
          <a:prstGeom prst="rect">
            <a:avLst/>
          </a:prstGeom>
          <a:noFill/>
          <a:ln w="12700" algn="ctr">
            <a:noFill/>
            <a:miter lim="800000"/>
            <a:headEnd/>
            <a:tailEnd/>
          </a:ln>
          <a:effectLst/>
        </p:spPr>
        <p:txBody>
          <a:bodyPr wrap="none" lIns="90000" tIns="46800" rIns="90000" bIns="46800" anchor="ctr"/>
          <a:lstStyle/>
          <a:p>
            <a:r>
              <a:rPr lang="en-US" altLang="ja-JP" b="0" i="0" dirty="0">
                <a:latin typeface="+mj-lt"/>
              </a:rPr>
              <a:t>VDD</a:t>
            </a:r>
            <a:endParaRPr lang="en-US" altLang="ja-JP" dirty="0"/>
          </a:p>
        </p:txBody>
      </p:sp>
      <p:sp>
        <p:nvSpPr>
          <p:cNvPr id="47" name="Rectangle 93"/>
          <p:cNvSpPr>
            <a:spLocks noChangeArrowheads="1"/>
          </p:cNvSpPr>
          <p:nvPr/>
        </p:nvSpPr>
        <p:spPr bwMode="auto">
          <a:xfrm>
            <a:off x="6102017" y="4869016"/>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sp>
        <p:nvSpPr>
          <p:cNvPr id="41" name="Rectangle 93"/>
          <p:cNvSpPr>
            <a:spLocks noChangeArrowheads="1"/>
          </p:cNvSpPr>
          <p:nvPr/>
        </p:nvSpPr>
        <p:spPr bwMode="auto">
          <a:xfrm>
            <a:off x="6192018" y="2708992"/>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PMOS (off)</a:t>
            </a:r>
          </a:p>
        </p:txBody>
      </p:sp>
      <p:sp>
        <p:nvSpPr>
          <p:cNvPr id="44" name="Rectangle 93"/>
          <p:cNvSpPr>
            <a:spLocks noChangeArrowheads="1"/>
          </p:cNvSpPr>
          <p:nvPr/>
        </p:nvSpPr>
        <p:spPr bwMode="auto">
          <a:xfrm>
            <a:off x="6192018" y="378900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rPr>
              <a:t>NMOS (on)</a:t>
            </a:r>
          </a:p>
        </p:txBody>
      </p:sp>
      <p:sp>
        <p:nvSpPr>
          <p:cNvPr id="48" name="曲折矢印 47"/>
          <p:cNvSpPr/>
          <p:nvPr/>
        </p:nvSpPr>
        <p:spPr bwMode="auto">
          <a:xfrm rot="16200000" flipH="1">
            <a:off x="5742015" y="3879006"/>
            <a:ext cx="1260013" cy="540007"/>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pic>
        <p:nvPicPr>
          <p:cNvPr id="49" name="Picture 30" descr="NOT"/>
          <p:cNvPicPr>
            <a:picLocks noChangeAspect="1" noChangeArrowheads="1"/>
          </p:cNvPicPr>
          <p:nvPr/>
        </p:nvPicPr>
        <p:blipFill>
          <a:blip r:embed="rId8" cstate="print"/>
          <a:srcRect/>
          <a:stretch>
            <a:fillRect/>
          </a:stretch>
        </p:blipFill>
        <p:spPr bwMode="auto">
          <a:xfrm rot="10800000" flipH="1">
            <a:off x="2051972" y="3068996"/>
            <a:ext cx="717550" cy="720725"/>
          </a:xfrm>
          <a:prstGeom prst="rect">
            <a:avLst/>
          </a:prstGeom>
          <a:noFill/>
        </p:spPr>
      </p:pic>
    </p:spTree>
    <p:extLst>
      <p:ext uri="{BB962C8B-B14F-4D97-AF65-F5344CB8AC3E}">
        <p14:creationId xmlns:p14="http://schemas.microsoft.com/office/powerpoint/2010/main" val="8487634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NAND </a:t>
            </a:r>
            <a:r>
              <a:rPr kumimoji="1" lang="ja-JP" altLang="en-US" dirty="0"/>
              <a:t>の例</a:t>
            </a:r>
          </a:p>
        </p:txBody>
      </p:sp>
      <p:sp>
        <p:nvSpPr>
          <p:cNvPr id="8" name="スライド番号プレースホルダー 7"/>
          <p:cNvSpPr>
            <a:spLocks noGrp="1"/>
          </p:cNvSpPr>
          <p:nvPr>
            <p:ph type="sldNum" sz="quarter" idx="4294967295"/>
          </p:nvPr>
        </p:nvSpPr>
        <p:spPr>
          <a:xfrm>
            <a:off x="8783638" y="6399213"/>
            <a:ext cx="360362" cy="360362"/>
          </a:xfrm>
          <a:prstGeom prst="rect">
            <a:avLst/>
          </a:prstGeom>
        </p:spPr>
        <p:txBody>
          <a:bodyPr/>
          <a:lstStyle/>
          <a:p>
            <a:fld id="{57822056-E1F9-464F-82C8-6C2C7E347532}" type="slidenum">
              <a:rPr lang="ja-JP" altLang="en-US" smtClean="0"/>
              <a:pPr/>
              <a:t>56</a:t>
            </a:fld>
            <a:endParaRPr lang="ja-JP" altLang="en-US"/>
          </a:p>
        </p:txBody>
      </p:sp>
      <p:sp>
        <p:nvSpPr>
          <p:cNvPr id="12" name="Line 9"/>
          <p:cNvSpPr>
            <a:spLocks noChangeShapeType="1"/>
          </p:cNvSpPr>
          <p:nvPr/>
        </p:nvSpPr>
        <p:spPr bwMode="auto">
          <a:xfrm>
            <a:off x="1691968" y="1448978"/>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13" name="Line 9"/>
          <p:cNvSpPr>
            <a:spLocks noChangeShapeType="1"/>
          </p:cNvSpPr>
          <p:nvPr/>
        </p:nvSpPr>
        <p:spPr bwMode="auto">
          <a:xfrm>
            <a:off x="2681979" y="1628980"/>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4" name="グループ化 13"/>
          <p:cNvGrpSpPr/>
          <p:nvPr/>
        </p:nvGrpSpPr>
        <p:grpSpPr>
          <a:xfrm>
            <a:off x="5832014" y="5229019"/>
            <a:ext cx="360048" cy="180024"/>
            <a:chOff x="1691616" y="2708904"/>
            <a:chExt cx="360048" cy="180024"/>
          </a:xfrm>
        </p:grpSpPr>
        <p:cxnSp>
          <p:nvCxnSpPr>
            <p:cNvPr id="15" name="直線コネクタ 14"/>
            <p:cNvCxnSpPr/>
            <p:nvPr/>
          </p:nvCxnSpPr>
          <p:spPr>
            <a:xfrm flipV="1">
              <a:off x="1691616" y="2708904"/>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 name="直線コネクタ 15"/>
            <p:cNvCxnSpPr/>
            <p:nvPr/>
          </p:nvCxnSpPr>
          <p:spPr>
            <a:xfrm flipV="1">
              <a:off x="1759125" y="2798916"/>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7" name="直線コネクタ 16"/>
            <p:cNvCxnSpPr/>
            <p:nvPr/>
          </p:nvCxnSpPr>
          <p:spPr>
            <a:xfrm flipV="1">
              <a:off x="1826634" y="2888928"/>
              <a:ext cx="90012"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8" name="グループ化 17"/>
          <p:cNvGrpSpPr/>
          <p:nvPr/>
        </p:nvGrpSpPr>
        <p:grpSpPr>
          <a:xfrm>
            <a:off x="5742013" y="4149007"/>
            <a:ext cx="270036" cy="360048"/>
            <a:chOff x="6282228" y="1988808"/>
            <a:chExt cx="270036" cy="360048"/>
          </a:xfrm>
        </p:grpSpPr>
        <p:cxnSp>
          <p:nvCxnSpPr>
            <p:cNvPr id="19" name="直線コネクタ 18"/>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 name="直線コネクタ 19"/>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1" name="直線コネクタ 20"/>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 name="直線コネクタ 21"/>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30" name="直線コネクタ 29"/>
          <p:cNvCxnSpPr/>
          <p:nvPr/>
        </p:nvCxnSpPr>
        <p:spPr>
          <a:xfrm flipV="1">
            <a:off x="6012016" y="2708992"/>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31" name="直線コネクタ 30"/>
          <p:cNvCxnSpPr/>
          <p:nvPr/>
        </p:nvCxnSpPr>
        <p:spPr>
          <a:xfrm flipV="1">
            <a:off x="6012016" y="4509012"/>
            <a:ext cx="0" cy="720007"/>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Rectangle 93"/>
              <p:cNvSpPr>
                <a:spLocks noChangeArrowheads="1"/>
              </p:cNvSpPr>
              <p:nvPr/>
            </p:nvSpPr>
            <p:spPr bwMode="auto">
              <a:xfrm>
                <a:off x="1421965" y="1178975"/>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b="0" i="1" dirty="0" smtClean="0">
                          <a:latin typeface="Cambria Math" panose="02040503050406030204" pitchFamily="18" charset="0"/>
                        </a:rPr>
                        <m:t>𝑎</m:t>
                      </m:r>
                    </m:oMath>
                  </m:oMathPara>
                </a14:m>
                <a:endParaRPr lang="en-US" altLang="ja-JP" dirty="0"/>
              </a:p>
            </p:txBody>
          </p:sp>
        </mc:Choice>
        <mc:Fallback xmlns="">
          <p:sp>
            <p:nvSpPr>
              <p:cNvPr id="32" name="Rectangle 93"/>
              <p:cNvSpPr>
                <a:spLocks noRot="1" noChangeAspect="1" noMove="1" noResize="1" noEditPoints="1" noAdjustHandles="1" noChangeArrowheads="1" noChangeShapeType="1" noTextEdit="1"/>
              </p:cNvSpPr>
              <p:nvPr/>
            </p:nvSpPr>
            <p:spPr bwMode="auto">
              <a:xfrm>
                <a:off x="1421965" y="1178975"/>
                <a:ext cx="270003" cy="360362"/>
              </a:xfrm>
              <a:prstGeom prst="rect">
                <a:avLst/>
              </a:prstGeom>
              <a:blipFill rotWithShape="0">
                <a:blip r:embed="rId3"/>
                <a:stretch>
                  <a:fillRect r="-2222"/>
                </a:stretch>
              </a:blipFill>
              <a:ln w="12700" algn="ctr">
                <a:noFill/>
                <a:miter lim="800000"/>
                <a:headEnd/>
                <a:tailEnd/>
              </a:ln>
              <a:effectLst/>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3" name="Rectangle 93"/>
              <p:cNvSpPr>
                <a:spLocks noChangeArrowheads="1"/>
              </p:cNvSpPr>
              <p:nvPr/>
            </p:nvSpPr>
            <p:spPr bwMode="auto">
              <a:xfrm>
                <a:off x="3131984" y="1358977"/>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smtClean="0">
                          <a:latin typeface="Cambria Math" panose="02040503050406030204" pitchFamily="18" charset="0"/>
                        </a:rPr>
                        <m:t>𝑜</m:t>
                      </m:r>
                    </m:oMath>
                  </m:oMathPara>
                </a14:m>
                <a:endParaRPr lang="en-US" altLang="ja-JP" dirty="0"/>
              </a:p>
            </p:txBody>
          </p:sp>
        </mc:Choice>
        <mc:Fallback xmlns="">
          <p:sp>
            <p:nvSpPr>
              <p:cNvPr id="33" name="Rectangle 93"/>
              <p:cNvSpPr>
                <a:spLocks noRot="1" noChangeAspect="1" noMove="1" noResize="1" noEditPoints="1" noAdjustHandles="1" noChangeArrowheads="1" noChangeShapeType="1" noTextEdit="1"/>
              </p:cNvSpPr>
              <p:nvPr/>
            </p:nvSpPr>
            <p:spPr bwMode="auto">
              <a:xfrm>
                <a:off x="3131984" y="1358977"/>
                <a:ext cx="270003" cy="360362"/>
              </a:xfrm>
              <a:prstGeom prst="rect">
                <a:avLst/>
              </a:prstGeom>
              <a:blipFill rotWithShape="0">
                <a:blip r:embed="rId4"/>
                <a:stretch>
                  <a:fillRect r="-2273"/>
                </a:stretch>
              </a:blipFill>
              <a:ln w="12700" algn="ctr">
                <a:noFill/>
                <a:miter lim="800000"/>
                <a:headEnd/>
                <a:tailEnd/>
              </a:ln>
              <a:effectLst/>
            </p:spPr>
            <p:txBody>
              <a:bodyPr/>
              <a:lstStyle/>
              <a:p>
                <a:r>
                  <a:rPr lang="ja-JP" altLang="en-US">
                    <a:noFill/>
                  </a:rPr>
                  <a:t> </a:t>
                </a:r>
              </a:p>
            </p:txBody>
          </p:sp>
        </mc:Fallback>
      </mc:AlternateContent>
      <p:sp>
        <p:nvSpPr>
          <p:cNvPr id="36" name="Line 9"/>
          <p:cNvSpPr>
            <a:spLocks noChangeShapeType="1"/>
          </p:cNvSpPr>
          <p:nvPr/>
        </p:nvSpPr>
        <p:spPr bwMode="auto">
          <a:xfrm>
            <a:off x="5202007" y="4329008"/>
            <a:ext cx="540006" cy="1"/>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23" name="グループ化 22"/>
          <p:cNvGrpSpPr/>
          <p:nvPr/>
        </p:nvGrpSpPr>
        <p:grpSpPr>
          <a:xfrm>
            <a:off x="5292008" y="1988984"/>
            <a:ext cx="360048" cy="360048"/>
            <a:chOff x="3131808" y="1628760"/>
            <a:chExt cx="360048" cy="360048"/>
          </a:xfrm>
        </p:grpSpPr>
        <p:cxnSp>
          <p:nvCxnSpPr>
            <p:cNvPr id="24" name="直線コネクタ 23"/>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5" name="直線コネクタ 24"/>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6" name="直線コネクタ 25"/>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 name="直線コネクタ 26"/>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8" name="円/楕円 27"/>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43" name="直線コネクタ 42"/>
          <p:cNvCxnSpPr/>
          <p:nvPr/>
        </p:nvCxnSpPr>
        <p:spPr>
          <a:xfrm flipV="1">
            <a:off x="6012016" y="1268976"/>
            <a:ext cx="0" cy="36000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45" name="直線コネクタ 44"/>
          <p:cNvCxnSpPr/>
          <p:nvPr/>
        </p:nvCxnSpPr>
        <p:spPr>
          <a:xfrm>
            <a:off x="5832014" y="1268976"/>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46" name="Rectangle 93"/>
          <p:cNvSpPr>
            <a:spLocks noChangeArrowheads="1"/>
          </p:cNvSpPr>
          <p:nvPr/>
        </p:nvSpPr>
        <p:spPr bwMode="auto">
          <a:xfrm>
            <a:off x="6192018" y="998973"/>
            <a:ext cx="270003" cy="360362"/>
          </a:xfrm>
          <a:prstGeom prst="rect">
            <a:avLst/>
          </a:prstGeom>
          <a:noFill/>
          <a:ln w="12700" algn="ctr">
            <a:noFill/>
            <a:miter lim="800000"/>
            <a:headEnd/>
            <a:tailEnd/>
          </a:ln>
          <a:effectLst/>
        </p:spPr>
        <p:txBody>
          <a:bodyPr wrap="none" lIns="90000" tIns="46800" rIns="90000" bIns="46800" anchor="ctr"/>
          <a:lstStyle/>
          <a:p>
            <a:r>
              <a:rPr lang="en-US" altLang="ja-JP" b="0" i="0" dirty="0">
                <a:latin typeface="+mj-lt"/>
              </a:rPr>
              <a:t>VDD</a:t>
            </a:r>
            <a:endParaRPr lang="en-US" altLang="ja-JP" dirty="0"/>
          </a:p>
        </p:txBody>
      </p:sp>
      <p:sp>
        <p:nvSpPr>
          <p:cNvPr id="47" name="Rectangle 93"/>
          <p:cNvSpPr>
            <a:spLocks noChangeArrowheads="1"/>
          </p:cNvSpPr>
          <p:nvPr/>
        </p:nvSpPr>
        <p:spPr bwMode="auto">
          <a:xfrm>
            <a:off x="6102017" y="5229019"/>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sp>
        <p:nvSpPr>
          <p:cNvPr id="38" name="Line 9"/>
          <p:cNvSpPr>
            <a:spLocks noChangeShapeType="1"/>
          </p:cNvSpPr>
          <p:nvPr/>
        </p:nvSpPr>
        <p:spPr bwMode="auto">
          <a:xfrm>
            <a:off x="1691968" y="1808624"/>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mc:AlternateContent xmlns:mc="http://schemas.openxmlformats.org/markup-compatibility/2006" xmlns:a14="http://schemas.microsoft.com/office/drawing/2010/main">
        <mc:Choice Requires="a14">
          <p:sp>
            <p:nvSpPr>
              <p:cNvPr id="41" name="Rectangle 93"/>
              <p:cNvSpPr>
                <a:spLocks noChangeArrowheads="1"/>
              </p:cNvSpPr>
              <p:nvPr/>
            </p:nvSpPr>
            <p:spPr bwMode="auto">
              <a:xfrm>
                <a:off x="1421965" y="1538621"/>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b="0" i="1" dirty="0" smtClean="0">
                          <a:latin typeface="Cambria Math" panose="02040503050406030204" pitchFamily="18" charset="0"/>
                        </a:rPr>
                        <m:t>𝑏</m:t>
                      </m:r>
                    </m:oMath>
                  </m:oMathPara>
                </a14:m>
                <a:endParaRPr lang="en-US" altLang="ja-JP" dirty="0"/>
              </a:p>
            </p:txBody>
          </p:sp>
        </mc:Choice>
        <mc:Fallback xmlns="">
          <p:sp>
            <p:nvSpPr>
              <p:cNvPr id="41" name="Rectangle 93"/>
              <p:cNvSpPr>
                <a:spLocks noRot="1" noChangeAspect="1" noMove="1" noResize="1" noEditPoints="1" noAdjustHandles="1" noChangeArrowheads="1" noChangeShapeType="1" noTextEdit="1"/>
              </p:cNvSpPr>
              <p:nvPr/>
            </p:nvSpPr>
            <p:spPr bwMode="auto">
              <a:xfrm>
                <a:off x="1421965" y="1538621"/>
                <a:ext cx="270003" cy="360362"/>
              </a:xfrm>
              <a:prstGeom prst="rect">
                <a:avLst/>
              </a:prstGeom>
              <a:blipFill rotWithShape="0">
                <a:blip r:embed="rId5"/>
                <a:stretch>
                  <a:fillRect r="-8889"/>
                </a:stretch>
              </a:blipFill>
              <a:ln w="12700" algn="ctr">
                <a:noFill/>
                <a:miter lim="800000"/>
                <a:headEnd/>
                <a:tailEnd/>
              </a:ln>
              <a:effectLst/>
            </p:spPr>
            <p:txBody>
              <a:bodyPr/>
              <a:lstStyle/>
              <a:p>
                <a:r>
                  <a:rPr lang="ja-JP" altLang="en-US">
                    <a:noFill/>
                  </a:rPr>
                  <a:t> </a:t>
                </a:r>
              </a:p>
            </p:txBody>
          </p:sp>
        </mc:Fallback>
      </mc:AlternateContent>
      <p:pic>
        <p:nvPicPr>
          <p:cNvPr id="37" name="Picture 83" descr="NAND"/>
          <p:cNvPicPr>
            <a:picLocks noChangeAspect="1" noChangeArrowheads="1"/>
          </p:cNvPicPr>
          <p:nvPr/>
        </p:nvPicPr>
        <p:blipFill>
          <a:blip r:embed="rId6" cstate="print"/>
          <a:srcRect/>
          <a:stretch>
            <a:fillRect/>
          </a:stretch>
        </p:blipFill>
        <p:spPr bwMode="auto">
          <a:xfrm>
            <a:off x="1961971" y="1268976"/>
            <a:ext cx="1079500" cy="720725"/>
          </a:xfrm>
          <a:prstGeom prst="rect">
            <a:avLst/>
          </a:prstGeom>
          <a:noFill/>
        </p:spPr>
      </p:pic>
      <p:grpSp>
        <p:nvGrpSpPr>
          <p:cNvPr id="44" name="グループ化 43"/>
          <p:cNvGrpSpPr/>
          <p:nvPr/>
        </p:nvGrpSpPr>
        <p:grpSpPr>
          <a:xfrm>
            <a:off x="5742013" y="3429000"/>
            <a:ext cx="270036" cy="360048"/>
            <a:chOff x="6282228" y="1988808"/>
            <a:chExt cx="270036" cy="360048"/>
          </a:xfrm>
        </p:grpSpPr>
        <p:cxnSp>
          <p:nvCxnSpPr>
            <p:cNvPr id="48" name="直線コネクタ 47"/>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9" name="直線コネクタ 48"/>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50" name="直線コネクタ 49"/>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51" name="直線コネクタ 50"/>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52" name="Line 9"/>
          <p:cNvSpPr>
            <a:spLocks noChangeShapeType="1"/>
          </p:cNvSpPr>
          <p:nvPr/>
        </p:nvSpPr>
        <p:spPr bwMode="auto">
          <a:xfrm>
            <a:off x="6012016" y="3789004"/>
            <a:ext cx="1" cy="360003"/>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53" name="Line 9"/>
          <p:cNvSpPr>
            <a:spLocks noChangeShapeType="1"/>
          </p:cNvSpPr>
          <p:nvPr/>
        </p:nvSpPr>
        <p:spPr bwMode="auto">
          <a:xfrm>
            <a:off x="5202007" y="3609002"/>
            <a:ext cx="540006"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mc:AlternateContent xmlns:mc="http://schemas.openxmlformats.org/markup-compatibility/2006" xmlns:a14="http://schemas.microsoft.com/office/drawing/2010/main">
        <mc:Choice Requires="a14">
          <p:sp>
            <p:nvSpPr>
              <p:cNvPr id="54" name="Rectangle 93"/>
              <p:cNvSpPr>
                <a:spLocks noChangeArrowheads="1"/>
              </p:cNvSpPr>
              <p:nvPr/>
            </p:nvSpPr>
            <p:spPr bwMode="auto">
              <a:xfrm>
                <a:off x="4932004" y="3339357"/>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b="0" i="1" dirty="0" smtClean="0">
                          <a:latin typeface="Cambria Math" panose="02040503050406030204" pitchFamily="18" charset="0"/>
                        </a:rPr>
                        <m:t>𝑎</m:t>
                      </m:r>
                    </m:oMath>
                  </m:oMathPara>
                </a14:m>
                <a:endParaRPr lang="en-US" altLang="ja-JP" dirty="0"/>
              </a:p>
            </p:txBody>
          </p:sp>
        </mc:Choice>
        <mc:Fallback xmlns="">
          <p:sp>
            <p:nvSpPr>
              <p:cNvPr id="54" name="Rectangle 93"/>
              <p:cNvSpPr>
                <a:spLocks noRot="1" noChangeAspect="1" noMove="1" noResize="1" noEditPoints="1" noAdjustHandles="1" noChangeArrowheads="1" noChangeShapeType="1" noTextEdit="1"/>
              </p:cNvSpPr>
              <p:nvPr/>
            </p:nvSpPr>
            <p:spPr bwMode="auto">
              <a:xfrm>
                <a:off x="4932004" y="3339357"/>
                <a:ext cx="270003" cy="360362"/>
              </a:xfrm>
              <a:prstGeom prst="rect">
                <a:avLst/>
              </a:prstGeom>
              <a:blipFill rotWithShape="0">
                <a:blip r:embed="rId7"/>
                <a:stretch>
                  <a:fillRect r="-4545"/>
                </a:stretch>
              </a:blipFill>
              <a:ln w="12700" algn="ctr">
                <a:noFill/>
                <a:miter lim="800000"/>
                <a:headEnd/>
                <a:tailEnd/>
              </a:ln>
              <a:effectLst/>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55" name="Rectangle 93"/>
              <p:cNvSpPr>
                <a:spLocks noChangeArrowheads="1"/>
              </p:cNvSpPr>
              <p:nvPr/>
            </p:nvSpPr>
            <p:spPr bwMode="auto">
              <a:xfrm>
                <a:off x="4932004" y="4059007"/>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b="0" i="1" dirty="0" smtClean="0">
                          <a:latin typeface="Cambria Math" panose="02040503050406030204" pitchFamily="18" charset="0"/>
                        </a:rPr>
                        <m:t>𝑏</m:t>
                      </m:r>
                    </m:oMath>
                  </m:oMathPara>
                </a14:m>
                <a:endParaRPr lang="en-US" altLang="ja-JP" dirty="0"/>
              </a:p>
            </p:txBody>
          </p:sp>
        </mc:Choice>
        <mc:Fallback xmlns="">
          <p:sp>
            <p:nvSpPr>
              <p:cNvPr id="55" name="Rectangle 93"/>
              <p:cNvSpPr>
                <a:spLocks noRot="1" noChangeAspect="1" noMove="1" noResize="1" noEditPoints="1" noAdjustHandles="1" noChangeArrowheads="1" noChangeShapeType="1" noTextEdit="1"/>
              </p:cNvSpPr>
              <p:nvPr/>
            </p:nvSpPr>
            <p:spPr bwMode="auto">
              <a:xfrm>
                <a:off x="4932004" y="4059007"/>
                <a:ext cx="270003" cy="360362"/>
              </a:xfrm>
              <a:prstGeom prst="rect">
                <a:avLst/>
              </a:prstGeom>
              <a:blipFill rotWithShape="0">
                <a:blip r:embed="rId8"/>
                <a:stretch>
                  <a:fillRect r="-11364"/>
                </a:stretch>
              </a:blipFill>
              <a:ln w="12700" algn="ctr">
                <a:noFill/>
                <a:miter lim="800000"/>
                <a:headEnd/>
                <a:tailEnd/>
              </a:ln>
              <a:effectLst/>
            </p:spPr>
            <p:txBody>
              <a:bodyPr/>
              <a:lstStyle/>
              <a:p>
                <a:r>
                  <a:rPr lang="ja-JP" altLang="en-US">
                    <a:noFill/>
                  </a:rPr>
                  <a:t> </a:t>
                </a:r>
              </a:p>
            </p:txBody>
          </p:sp>
        </mc:Fallback>
      </mc:AlternateContent>
      <p:sp>
        <p:nvSpPr>
          <p:cNvPr id="56" name="Line 9"/>
          <p:cNvSpPr>
            <a:spLocks noChangeShapeType="1"/>
          </p:cNvSpPr>
          <p:nvPr/>
        </p:nvSpPr>
        <p:spPr bwMode="auto">
          <a:xfrm>
            <a:off x="4842003" y="2168986"/>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mc:AlternateContent xmlns:mc="http://schemas.openxmlformats.org/markup-compatibility/2006" xmlns:a14="http://schemas.microsoft.com/office/drawing/2010/main">
        <mc:Choice Requires="a14">
          <p:sp>
            <p:nvSpPr>
              <p:cNvPr id="57" name="Rectangle 93"/>
              <p:cNvSpPr>
                <a:spLocks noChangeArrowheads="1"/>
              </p:cNvSpPr>
              <p:nvPr/>
            </p:nvSpPr>
            <p:spPr bwMode="auto">
              <a:xfrm>
                <a:off x="4572000" y="1899341"/>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b="0" i="1" dirty="0" smtClean="0">
                          <a:latin typeface="Cambria Math" panose="02040503050406030204" pitchFamily="18" charset="0"/>
                        </a:rPr>
                        <m:t>𝑎</m:t>
                      </m:r>
                    </m:oMath>
                  </m:oMathPara>
                </a14:m>
                <a:endParaRPr lang="en-US" altLang="ja-JP" dirty="0"/>
              </a:p>
            </p:txBody>
          </p:sp>
        </mc:Choice>
        <mc:Fallback xmlns="">
          <p:sp>
            <p:nvSpPr>
              <p:cNvPr id="57" name="Rectangle 93"/>
              <p:cNvSpPr>
                <a:spLocks noRot="1" noChangeAspect="1" noMove="1" noResize="1" noEditPoints="1" noAdjustHandles="1" noChangeArrowheads="1" noChangeShapeType="1" noTextEdit="1"/>
              </p:cNvSpPr>
              <p:nvPr/>
            </p:nvSpPr>
            <p:spPr bwMode="auto">
              <a:xfrm>
                <a:off x="4572000" y="1899341"/>
                <a:ext cx="270003" cy="360362"/>
              </a:xfrm>
              <a:prstGeom prst="rect">
                <a:avLst/>
              </a:prstGeom>
              <a:blipFill rotWithShape="0">
                <a:blip r:embed="rId9"/>
                <a:stretch>
                  <a:fillRect r="-4545"/>
                </a:stretch>
              </a:blipFill>
              <a:ln w="12700" algn="ctr">
                <a:noFill/>
                <a:miter lim="800000"/>
                <a:headEnd/>
                <a:tailEnd/>
              </a:ln>
              <a:effectLst/>
            </p:spPr>
            <p:txBody>
              <a:bodyPr/>
              <a:lstStyle/>
              <a:p>
                <a:r>
                  <a:rPr lang="ja-JP" altLang="en-US">
                    <a:noFill/>
                  </a:rPr>
                  <a:t> </a:t>
                </a:r>
              </a:p>
            </p:txBody>
          </p:sp>
        </mc:Fallback>
      </mc:AlternateContent>
      <p:grpSp>
        <p:nvGrpSpPr>
          <p:cNvPr id="58" name="グループ化 57"/>
          <p:cNvGrpSpPr/>
          <p:nvPr/>
        </p:nvGrpSpPr>
        <p:grpSpPr>
          <a:xfrm rot="10800000">
            <a:off x="6372020" y="1988984"/>
            <a:ext cx="360048" cy="360048"/>
            <a:chOff x="3131808" y="1628760"/>
            <a:chExt cx="360048" cy="360048"/>
          </a:xfrm>
        </p:grpSpPr>
        <p:cxnSp>
          <p:nvCxnSpPr>
            <p:cNvPr id="59" name="直線コネクタ 58"/>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0" name="直線コネクタ 59"/>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1" name="直線コネクタ 60"/>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2" name="直線コネクタ 61"/>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63" name="円/楕円 62"/>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sp>
        <p:nvSpPr>
          <p:cNvPr id="64" name="Line 9"/>
          <p:cNvSpPr>
            <a:spLocks noChangeShapeType="1"/>
          </p:cNvSpPr>
          <p:nvPr/>
        </p:nvSpPr>
        <p:spPr bwMode="auto">
          <a:xfrm>
            <a:off x="6732024" y="2168986"/>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mc:AlternateContent xmlns:mc="http://schemas.openxmlformats.org/markup-compatibility/2006" xmlns:a14="http://schemas.microsoft.com/office/drawing/2010/main">
        <mc:Choice Requires="a14">
          <p:sp>
            <p:nvSpPr>
              <p:cNvPr id="65" name="Rectangle 93"/>
              <p:cNvSpPr>
                <a:spLocks noChangeArrowheads="1"/>
              </p:cNvSpPr>
              <p:nvPr/>
            </p:nvSpPr>
            <p:spPr bwMode="auto">
              <a:xfrm>
                <a:off x="7182029" y="1898983"/>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b="0" i="1" dirty="0" smtClean="0">
                          <a:latin typeface="Cambria Math" panose="02040503050406030204" pitchFamily="18" charset="0"/>
                        </a:rPr>
                        <m:t>𝑏</m:t>
                      </m:r>
                    </m:oMath>
                  </m:oMathPara>
                </a14:m>
                <a:endParaRPr lang="en-US" altLang="ja-JP" dirty="0"/>
              </a:p>
            </p:txBody>
          </p:sp>
        </mc:Choice>
        <mc:Fallback xmlns="">
          <p:sp>
            <p:nvSpPr>
              <p:cNvPr id="65" name="Rectangle 93"/>
              <p:cNvSpPr>
                <a:spLocks noRot="1" noChangeAspect="1" noMove="1" noResize="1" noEditPoints="1" noAdjustHandles="1" noChangeArrowheads="1" noChangeShapeType="1" noTextEdit="1"/>
              </p:cNvSpPr>
              <p:nvPr/>
            </p:nvSpPr>
            <p:spPr bwMode="auto">
              <a:xfrm>
                <a:off x="7182029" y="1898983"/>
                <a:ext cx="270003" cy="360362"/>
              </a:xfrm>
              <a:prstGeom prst="rect">
                <a:avLst/>
              </a:prstGeom>
              <a:blipFill rotWithShape="0">
                <a:blip r:embed="rId10"/>
                <a:stretch>
                  <a:fillRect r="-11364"/>
                </a:stretch>
              </a:blipFill>
              <a:ln w="12700" algn="ctr">
                <a:noFill/>
                <a:miter lim="800000"/>
                <a:headEnd/>
                <a:tailEnd/>
              </a:ln>
              <a:effectLst/>
            </p:spPr>
            <p:txBody>
              <a:bodyPr/>
              <a:lstStyle/>
              <a:p>
                <a:r>
                  <a:rPr lang="ja-JP" altLang="en-US">
                    <a:noFill/>
                  </a:rPr>
                  <a:t> </a:t>
                </a:r>
              </a:p>
            </p:txBody>
          </p:sp>
        </mc:Fallback>
      </mc:AlternateContent>
      <p:sp>
        <p:nvSpPr>
          <p:cNvPr id="66" name="Freeform 10"/>
          <p:cNvSpPr>
            <a:spLocks/>
          </p:cNvSpPr>
          <p:nvPr/>
        </p:nvSpPr>
        <p:spPr bwMode="auto">
          <a:xfrm rot="16200000" flipV="1">
            <a:off x="5832014" y="2168986"/>
            <a:ext cx="360004" cy="72000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67" name="直線コネクタ 66"/>
          <p:cNvCxnSpPr/>
          <p:nvPr/>
        </p:nvCxnSpPr>
        <p:spPr>
          <a:xfrm>
            <a:off x="6012016" y="3068996"/>
            <a:ext cx="630005" cy="0"/>
          </a:xfrm>
          <a:prstGeom prst="line">
            <a:avLst/>
          </a:prstGeom>
          <a:ln w="3175" cap="rnd">
            <a:solidFill>
              <a:srgbClr val="000000"/>
            </a:solidFill>
            <a:headEnd type="oval"/>
          </a:ln>
        </p:spPr>
        <p:style>
          <a:lnRef idx="1">
            <a:schemeClr val="accent1"/>
          </a:lnRef>
          <a:fillRef idx="0">
            <a:schemeClr val="accent1"/>
          </a:fillRef>
          <a:effectRef idx="0">
            <a:schemeClr val="accent1"/>
          </a:effectRef>
          <a:fontRef idx="minor">
            <a:schemeClr val="tx1"/>
          </a:fontRef>
        </p:style>
      </p:cxnSp>
      <p:sp>
        <p:nvSpPr>
          <p:cNvPr id="68" name="Freeform 10"/>
          <p:cNvSpPr>
            <a:spLocks/>
          </p:cNvSpPr>
          <p:nvPr/>
        </p:nvSpPr>
        <p:spPr bwMode="auto">
          <a:xfrm rot="16200000" flipH="1" flipV="1">
            <a:off x="5832014" y="1448978"/>
            <a:ext cx="360004" cy="72000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69" name="直線コネクタ 68"/>
          <p:cNvCxnSpPr/>
          <p:nvPr/>
        </p:nvCxnSpPr>
        <p:spPr>
          <a:xfrm flipV="1">
            <a:off x="6372020" y="1628980"/>
            <a:ext cx="0" cy="36000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70" name="直線コネクタ 69"/>
          <p:cNvCxnSpPr/>
          <p:nvPr/>
        </p:nvCxnSpPr>
        <p:spPr>
          <a:xfrm flipV="1">
            <a:off x="6372020" y="2348988"/>
            <a:ext cx="0" cy="36000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1" name="Rectangle 93"/>
              <p:cNvSpPr>
                <a:spLocks noChangeArrowheads="1"/>
              </p:cNvSpPr>
              <p:nvPr/>
            </p:nvSpPr>
            <p:spPr bwMode="auto">
              <a:xfrm>
                <a:off x="6732024" y="2888994"/>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smtClean="0">
                          <a:latin typeface="Cambria Math" panose="02040503050406030204" pitchFamily="18" charset="0"/>
                        </a:rPr>
                        <m:t>𝑜</m:t>
                      </m:r>
                    </m:oMath>
                  </m:oMathPara>
                </a14:m>
                <a:endParaRPr lang="en-US" altLang="ja-JP" dirty="0"/>
              </a:p>
            </p:txBody>
          </p:sp>
        </mc:Choice>
        <mc:Fallback xmlns="">
          <p:sp>
            <p:nvSpPr>
              <p:cNvPr id="71" name="Rectangle 93"/>
              <p:cNvSpPr>
                <a:spLocks noRot="1" noChangeAspect="1" noMove="1" noResize="1" noEditPoints="1" noAdjustHandles="1" noChangeArrowheads="1" noChangeShapeType="1" noTextEdit="1"/>
              </p:cNvSpPr>
              <p:nvPr/>
            </p:nvSpPr>
            <p:spPr bwMode="auto">
              <a:xfrm>
                <a:off x="6732024" y="2888994"/>
                <a:ext cx="270003" cy="360362"/>
              </a:xfrm>
              <a:prstGeom prst="rect">
                <a:avLst/>
              </a:prstGeom>
              <a:blipFill rotWithShape="0">
                <a:blip r:embed="rId11"/>
                <a:stretch>
                  <a:fillRect/>
                </a:stretch>
              </a:blipFill>
              <a:ln w="12700" algn="ctr">
                <a:noFill/>
                <a:miter lim="800000"/>
                <a:headEnd/>
                <a:tailEnd/>
              </a:ln>
              <a:effectLst/>
            </p:spPr>
            <p:txBody>
              <a:bodyPr/>
              <a:lstStyle/>
              <a:p>
                <a:r>
                  <a:rPr lang="ja-JP" altLang="en-US">
                    <a:noFill/>
                  </a:rPr>
                  <a:t> </a:t>
                </a:r>
              </a:p>
            </p:txBody>
          </p:sp>
        </mc:Fallback>
      </mc:AlternateContent>
      <p:graphicFrame>
        <p:nvGraphicFramePr>
          <p:cNvPr id="72" name="Group 383"/>
          <p:cNvGraphicFramePr>
            <a:graphicFrameLocks/>
          </p:cNvGraphicFramePr>
          <p:nvPr/>
        </p:nvGraphicFramePr>
        <p:xfrm>
          <a:off x="1691968" y="2528990"/>
          <a:ext cx="1439862" cy="2126300"/>
        </p:xfrm>
        <a:graphic>
          <a:graphicData uri="http://schemas.openxmlformats.org/drawingml/2006/table">
            <a:tbl>
              <a:tblPr/>
              <a:tblGrid>
                <a:gridCol w="479425">
                  <a:extLst>
                    <a:ext uri="{9D8B030D-6E8A-4147-A177-3AD203B41FA5}">
                      <a16:colId xmlns:a16="http://schemas.microsoft.com/office/drawing/2014/main" val="20000"/>
                    </a:ext>
                  </a:extLst>
                </a:gridCol>
                <a:gridCol w="481012">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o</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6"/>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6"/>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6"/>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7" name="正方形/長方形 6"/>
              <p:cNvSpPr/>
              <p:nvPr/>
            </p:nvSpPr>
            <p:spPr>
              <a:xfrm>
                <a:off x="1691968" y="2078985"/>
                <a:ext cx="1465209" cy="369332"/>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en-US" altLang="ja-JP" i="1" dirty="0" smtClean="0">
                          <a:latin typeface="Cambria Math" panose="02040503050406030204" pitchFamily="18" charset="0"/>
                          <a:ea typeface="MeiryoKe_PGothic" pitchFamily="50" charset="-128"/>
                        </a:rPr>
                        <m:t>𝑜</m:t>
                      </m:r>
                      <m:r>
                        <a:rPr lang="en-US" altLang="ja-JP" i="1" dirty="0" smtClean="0">
                          <a:latin typeface="Cambria Math" panose="02040503050406030204" pitchFamily="18" charset="0"/>
                          <a:ea typeface="MeiryoKe_PGothic" pitchFamily="50" charset="-128"/>
                        </a:rPr>
                        <m:t> = (</m:t>
                      </m:r>
                      <m:r>
                        <a:rPr lang="en-US" altLang="ja-JP" i="1" dirty="0" err="1" smtClean="0">
                          <a:latin typeface="Cambria Math" panose="02040503050406030204" pitchFamily="18" charset="0"/>
                          <a:ea typeface="MeiryoKe_PGothic" pitchFamily="50" charset="-128"/>
                        </a:rPr>
                        <m:t>𝑎</m:t>
                      </m:r>
                      <m:r>
                        <a:rPr lang="en-US" altLang="ja-JP" i="1" dirty="0" err="1">
                          <a:latin typeface="Cambria Math" panose="02040503050406030204" pitchFamily="18" charset="0"/>
                          <a:ea typeface="MeiryoKe_PGothic" pitchFamily="50" charset="-128"/>
                          <a:cs typeface="Times New Roman" pitchFamily="18" charset="0"/>
                        </a:rPr>
                        <m:t>∙</m:t>
                      </m:r>
                      <m:r>
                        <a:rPr lang="en-US" altLang="ja-JP" i="1" dirty="0" err="1" smtClean="0">
                          <a:latin typeface="Cambria Math" panose="02040503050406030204" pitchFamily="18" charset="0"/>
                          <a:ea typeface="MeiryoKe_PGothic" pitchFamily="50" charset="-128"/>
                        </a:rPr>
                        <m:t>𝑏</m:t>
                      </m:r>
                      <m:r>
                        <a:rPr lang="en-US" altLang="ja-JP" i="1" dirty="0" smtClean="0">
                          <a:latin typeface="Cambria Math" panose="02040503050406030204" pitchFamily="18" charset="0"/>
                          <a:ea typeface="MeiryoKe_PGothic" pitchFamily="50" charset="-128"/>
                        </a:rPr>
                        <m:t>)′</m:t>
                      </m:r>
                    </m:oMath>
                  </m:oMathPara>
                </a14:m>
                <a:endParaRPr lang="en-US" altLang="ja-JP" i="1" dirty="0">
                  <a:ea typeface="MeiryoKe_PGothic" pitchFamily="50" charset="-128"/>
                </a:endParaRPr>
              </a:p>
            </p:txBody>
          </p:sp>
        </mc:Choice>
        <mc:Fallback xmlns="">
          <p:sp>
            <p:nvSpPr>
              <p:cNvPr id="7" name="正方形/長方形 6"/>
              <p:cNvSpPr>
                <a:spLocks noRot="1" noChangeAspect="1" noMove="1" noResize="1" noEditPoints="1" noAdjustHandles="1" noChangeArrowheads="1" noChangeShapeType="1" noTextEdit="1"/>
              </p:cNvSpPr>
              <p:nvPr/>
            </p:nvSpPr>
            <p:spPr>
              <a:xfrm>
                <a:off x="1691968" y="2078985"/>
                <a:ext cx="1465209" cy="369332"/>
              </a:xfrm>
              <a:prstGeom prst="rect">
                <a:avLst/>
              </a:prstGeom>
              <a:blipFill rotWithShape="0">
                <a:blip r:embed="rId12"/>
                <a:stretch>
                  <a:fillRect b="-16393"/>
                </a:stretch>
              </a:blipFill>
            </p:spPr>
            <p:txBody>
              <a:bodyPr/>
              <a:lstStyle/>
              <a:p>
                <a:r>
                  <a:rPr lang="ja-JP" altLang="en-US">
                    <a:noFill/>
                  </a:rPr>
                  <a:t> </a:t>
                </a:r>
              </a:p>
            </p:txBody>
          </p:sp>
        </mc:Fallback>
      </mc:AlternateContent>
      <p:sp>
        <p:nvSpPr>
          <p:cNvPr id="73" name="Rectangle 93"/>
          <p:cNvSpPr>
            <a:spLocks noChangeArrowheads="1"/>
          </p:cNvSpPr>
          <p:nvPr/>
        </p:nvSpPr>
        <p:spPr bwMode="auto">
          <a:xfrm>
            <a:off x="6192018" y="378900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rPr>
              <a:t>NMOS (on)</a:t>
            </a:r>
          </a:p>
        </p:txBody>
      </p:sp>
      <p:sp>
        <p:nvSpPr>
          <p:cNvPr id="74" name="曲折矢印 73"/>
          <p:cNvSpPr/>
          <p:nvPr/>
        </p:nvSpPr>
        <p:spPr bwMode="auto">
          <a:xfrm rot="16200000" flipH="1">
            <a:off x="5562012" y="3699003"/>
            <a:ext cx="1620019" cy="540007"/>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mc:AlternateContent xmlns:mc="http://schemas.openxmlformats.org/markup-compatibility/2006" xmlns:a14="http://schemas.microsoft.com/office/drawing/2010/main">
        <mc:Choice Requires="a14">
          <p:sp>
            <p:nvSpPr>
              <p:cNvPr id="76" name="テキスト プレースホルダー 2"/>
              <p:cNvSpPr>
                <a:spLocks noGrp="1"/>
              </p:cNvSpPr>
              <p:nvPr>
                <p:ph type="body" sz="quarter" idx="10"/>
              </p:nvPr>
            </p:nvSpPr>
            <p:spPr>
              <a:xfrm>
                <a:off x="611956" y="5409022"/>
                <a:ext cx="8280092" cy="899703"/>
              </a:xfrm>
            </p:spPr>
            <p:txBody>
              <a:bodyPr/>
              <a:lstStyle/>
              <a:p>
                <a14:m>
                  <m:oMath xmlns:m="http://schemas.openxmlformats.org/officeDocument/2006/math">
                    <m:r>
                      <a:rPr lang="en-US" altLang="ja-JP" b="0" i="1" dirty="0" smtClean="0">
                        <a:latin typeface="Cambria Math" panose="02040503050406030204" pitchFamily="18" charset="0"/>
                      </a:rPr>
                      <m:t>𝑎</m:t>
                    </m:r>
                    <m:r>
                      <a:rPr lang="en-US" altLang="ja-JP" i="1" dirty="0" smtClean="0">
                        <a:latin typeface="Cambria Math" panose="02040503050406030204" pitchFamily="18" charset="0"/>
                      </a:rPr>
                      <m:t> </m:t>
                    </m:r>
                  </m:oMath>
                </a14:m>
                <a:r>
                  <a:rPr kumimoji="1" lang="ja-JP" altLang="en-US" dirty="0"/>
                  <a:t>と </a:t>
                </a:r>
                <a:r>
                  <a:rPr kumimoji="1" lang="en-US" altLang="ja-JP" dirty="0"/>
                  <a:t>b </a:t>
                </a:r>
                <a:r>
                  <a:rPr kumimoji="1" lang="ja-JP" altLang="en-US" dirty="0"/>
                  <a:t>共に </a:t>
                </a:r>
                <a:r>
                  <a:rPr kumimoji="1" lang="en-US" altLang="ja-JP" dirty="0"/>
                  <a:t>1 </a:t>
                </a:r>
                <a:r>
                  <a:rPr kumimoji="1" lang="ja-JP" altLang="en-US" dirty="0"/>
                  <a:t>（高電位）の場合</a:t>
                </a:r>
                <a:endParaRPr kumimoji="1" lang="en-US" altLang="ja-JP" dirty="0"/>
              </a:p>
              <a:p>
                <a:pPr lvl="1"/>
                <a:r>
                  <a:rPr lang="en-US" altLang="ja-JP" dirty="0"/>
                  <a:t>PMOS</a:t>
                </a:r>
                <a:r>
                  <a:rPr lang="ja-JP" altLang="en-US" dirty="0"/>
                  <a:t>（上側）は，</a:t>
                </a:r>
                <a:r>
                  <a:rPr lang="en-US" altLang="ja-JP" dirty="0"/>
                  <a:t>off </a:t>
                </a:r>
              </a:p>
              <a:p>
                <a:pPr lvl="1"/>
                <a:r>
                  <a:rPr kumimoji="1" lang="en-US" altLang="ja-JP" dirty="0"/>
                  <a:t>NMOS</a:t>
                </a:r>
                <a:r>
                  <a:rPr kumimoji="1" lang="ja-JP" altLang="en-US" dirty="0"/>
                  <a:t>（下側）は，双方 </a:t>
                </a:r>
                <a:r>
                  <a:rPr kumimoji="1" lang="en-US" altLang="ja-JP" dirty="0"/>
                  <a:t>on = GND </a:t>
                </a:r>
                <a:r>
                  <a:rPr kumimoji="1" lang="ja-JP" altLang="en-US" dirty="0"/>
                  <a:t>と繋がる</a:t>
                </a:r>
                <a:endParaRPr kumimoji="1" lang="en-US" altLang="ja-JP" dirty="0"/>
              </a:p>
              <a:p>
                <a:r>
                  <a:rPr kumimoji="1" lang="ja-JP" altLang="en-US" dirty="0"/>
                  <a:t>出力が </a:t>
                </a:r>
                <a:r>
                  <a:rPr lang="en-US" altLang="ja-JP" dirty="0"/>
                  <a:t>0</a:t>
                </a:r>
                <a:r>
                  <a:rPr lang="ja-JP" altLang="en-US" dirty="0"/>
                  <a:t>（低電位に）</a:t>
                </a:r>
                <a:endParaRPr kumimoji="1" lang="ja-JP" altLang="en-US" dirty="0"/>
              </a:p>
            </p:txBody>
          </p:sp>
        </mc:Choice>
        <mc:Fallback xmlns="">
          <p:sp>
            <p:nvSpPr>
              <p:cNvPr id="76" name="テキスト プレースホルダー 2"/>
              <p:cNvSpPr>
                <a:spLocks noGrp="1" noRot="1" noChangeAspect="1" noMove="1" noResize="1" noEditPoints="1" noAdjustHandles="1" noChangeArrowheads="1" noChangeShapeType="1" noTextEdit="1"/>
              </p:cNvSpPr>
              <p:nvPr>
                <p:ph type="body" sz="quarter" idx="10"/>
              </p:nvPr>
            </p:nvSpPr>
            <p:spPr>
              <a:xfrm>
                <a:off x="611956" y="5409022"/>
                <a:ext cx="8280092" cy="899703"/>
              </a:xfrm>
              <a:blipFill rotWithShape="0">
                <a:blip r:embed="rId13"/>
                <a:stretch>
                  <a:fillRect l="-662" t="-62838" b="-7094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402440434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CMOS </a:t>
            </a:r>
            <a:r>
              <a:rPr kumimoji="1" lang="ja-JP" altLang="en-US" dirty="0"/>
              <a:t>による論理回路の実現のまとめ</a:t>
            </a:r>
          </a:p>
        </p:txBody>
      </p:sp>
      <p:sp>
        <p:nvSpPr>
          <p:cNvPr id="3" name="テキスト プレースホルダー 2"/>
          <p:cNvSpPr>
            <a:spLocks noGrp="1"/>
          </p:cNvSpPr>
          <p:nvPr>
            <p:ph type="body" sz="quarter" idx="10"/>
          </p:nvPr>
        </p:nvSpPr>
        <p:spPr/>
        <p:txBody>
          <a:bodyPr/>
          <a:lstStyle/>
          <a:p>
            <a:r>
              <a:rPr lang="ja-JP" altLang="en-US" dirty="0"/>
              <a:t>全ての論理ゲートは，</a:t>
            </a:r>
            <a:br>
              <a:rPr lang="en-US" altLang="ja-JP" dirty="0"/>
            </a:br>
            <a:r>
              <a:rPr kumimoji="1" lang="en-US" altLang="ja-JP" dirty="0"/>
              <a:t>NMOS/PMOS </a:t>
            </a:r>
            <a:r>
              <a:rPr kumimoji="1" lang="ja-JP" altLang="en-US" dirty="0"/>
              <a:t>の組み合わせによって構成されている</a:t>
            </a:r>
            <a:endParaRPr kumimoji="1" lang="en-US" altLang="ja-JP" dirty="0"/>
          </a:p>
          <a:p>
            <a:r>
              <a:rPr kumimoji="1" lang="ja-JP" altLang="en-US" dirty="0"/>
              <a:t>リレーの時と同じ</a:t>
            </a:r>
          </a:p>
        </p:txBody>
      </p:sp>
    </p:spTree>
    <p:extLst>
      <p:ext uri="{BB962C8B-B14F-4D97-AF65-F5344CB8AC3E}">
        <p14:creationId xmlns:p14="http://schemas.microsoft.com/office/powerpoint/2010/main" val="127417558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CMOS </a:t>
            </a:r>
            <a:r>
              <a:rPr kumimoji="1" lang="ja-JP" altLang="en-US" dirty="0"/>
              <a:t>ゲート</a:t>
            </a:r>
            <a:r>
              <a:rPr lang="ja-JP" altLang="en-US" dirty="0"/>
              <a:t>の等価回路</a:t>
            </a:r>
            <a:endParaRPr kumimoji="1" lang="ja-JP" altLang="en-US" dirty="0"/>
          </a:p>
        </p:txBody>
      </p:sp>
      <p:sp>
        <p:nvSpPr>
          <p:cNvPr id="3" name="テキスト プレースホルダー 2"/>
          <p:cNvSpPr>
            <a:spLocks noGrp="1"/>
          </p:cNvSpPr>
          <p:nvPr>
            <p:ph type="body" sz="quarter" idx="10"/>
          </p:nvPr>
        </p:nvSpPr>
        <p:spPr>
          <a:xfrm>
            <a:off x="701956" y="4599013"/>
            <a:ext cx="8262041" cy="1439709"/>
          </a:xfrm>
        </p:spPr>
        <p:txBody>
          <a:bodyPr/>
          <a:lstStyle/>
          <a:p>
            <a:r>
              <a:rPr lang="ja-JP" altLang="en-US" dirty="0"/>
              <a:t>抵抗 </a:t>
            </a:r>
            <a:r>
              <a:rPr lang="en-US" altLang="ja-JP" dirty="0"/>
              <a:t>&amp; </a:t>
            </a:r>
            <a:r>
              <a:rPr lang="ja-JP" altLang="en-US" dirty="0"/>
              <a:t>コンデンサと，連動したスイッチによって表せる</a:t>
            </a:r>
            <a:endParaRPr lang="en-US" altLang="ja-JP" dirty="0"/>
          </a:p>
          <a:p>
            <a:pPr lvl="1"/>
            <a:r>
              <a:rPr lang="ja-JP" altLang="en-US" dirty="0"/>
              <a:t>コンデンサに充電：下のスイッチが</a:t>
            </a:r>
            <a:r>
              <a:rPr lang="en-US" altLang="ja-JP" dirty="0"/>
              <a:t>ON</a:t>
            </a:r>
          </a:p>
          <a:p>
            <a:pPr lvl="1"/>
            <a:r>
              <a:rPr lang="ja-JP" altLang="en-US" dirty="0"/>
              <a:t>コンデンサを放電：上のスイッチが</a:t>
            </a:r>
            <a:r>
              <a:rPr lang="en-US" altLang="ja-JP" dirty="0"/>
              <a:t>ON</a:t>
            </a:r>
          </a:p>
        </p:txBody>
      </p:sp>
      <p:grpSp>
        <p:nvGrpSpPr>
          <p:cNvPr id="4" name="グループ化 3"/>
          <p:cNvGrpSpPr/>
          <p:nvPr/>
        </p:nvGrpSpPr>
        <p:grpSpPr>
          <a:xfrm rot="5400000">
            <a:off x="8268941" y="2085886"/>
            <a:ext cx="67531" cy="337533"/>
            <a:chOff x="3401870" y="728700"/>
            <a:chExt cx="180020" cy="405045"/>
          </a:xfrm>
        </p:grpSpPr>
        <p:cxnSp>
          <p:nvCxnSpPr>
            <p:cNvPr id="5" name="直線コネクタ 4"/>
            <p:cNvCxnSpPr/>
            <p:nvPr/>
          </p:nvCxnSpPr>
          <p:spPr>
            <a:xfrm>
              <a:off x="3401870" y="77370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p:cNvCxnSpPr/>
            <p:nvPr/>
          </p:nvCxnSpPr>
          <p:spPr>
            <a:xfrm flipV="1">
              <a:off x="3401870" y="81871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p:cNvCxnSpPr/>
            <p:nvPr/>
          </p:nvCxnSpPr>
          <p:spPr>
            <a:xfrm>
              <a:off x="3401870" y="86371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p:cNvCxnSpPr/>
            <p:nvPr/>
          </p:nvCxnSpPr>
          <p:spPr>
            <a:xfrm flipV="1">
              <a:off x="3401870" y="90872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p:cNvCxnSpPr/>
            <p:nvPr/>
          </p:nvCxnSpPr>
          <p:spPr>
            <a:xfrm>
              <a:off x="3401870" y="95372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p:cNvCxnSpPr/>
            <p:nvPr/>
          </p:nvCxnSpPr>
          <p:spPr>
            <a:xfrm flipV="1">
              <a:off x="3401870" y="99873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p:cNvCxnSpPr/>
            <p:nvPr/>
          </p:nvCxnSpPr>
          <p:spPr>
            <a:xfrm>
              <a:off x="3401870" y="104373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p:cNvCxnSpPr/>
            <p:nvPr/>
          </p:nvCxnSpPr>
          <p:spPr>
            <a:xfrm flipV="1">
              <a:off x="3491880" y="1088741"/>
              <a:ext cx="90010" cy="45004"/>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3" name="直線コネクタ 12"/>
            <p:cNvCxnSpPr/>
            <p:nvPr/>
          </p:nvCxnSpPr>
          <p:spPr>
            <a:xfrm flipV="1">
              <a:off x="3401870" y="728700"/>
              <a:ext cx="9001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14" name="グループ化 13"/>
          <p:cNvGrpSpPr/>
          <p:nvPr/>
        </p:nvGrpSpPr>
        <p:grpSpPr>
          <a:xfrm rot="10800000">
            <a:off x="4211996" y="2348988"/>
            <a:ext cx="270036" cy="360048"/>
            <a:chOff x="1871640" y="1988808"/>
            <a:chExt cx="270036" cy="360048"/>
          </a:xfrm>
        </p:grpSpPr>
        <p:cxnSp>
          <p:nvCxnSpPr>
            <p:cNvPr id="15" name="直線コネクタ 14"/>
            <p:cNvCxnSpPr/>
            <p:nvPr/>
          </p:nvCxnSpPr>
          <p:spPr>
            <a:xfrm>
              <a:off x="18716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 name="直線コネクタ 15"/>
            <p:cNvCxnSpPr/>
            <p:nvPr/>
          </p:nvCxnSpPr>
          <p:spPr>
            <a:xfrm flipH="1">
              <a:off x="2051664"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7" name="直線コネクタ 16"/>
            <p:cNvCxnSpPr/>
            <p:nvPr/>
          </p:nvCxnSpPr>
          <p:spPr>
            <a:xfrm>
              <a:off x="18716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8" name="直線コネクタ 17"/>
            <p:cNvCxnSpPr/>
            <p:nvPr/>
          </p:nvCxnSpPr>
          <p:spPr>
            <a:xfrm flipH="1">
              <a:off x="2141676"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31" name="グループ化 30"/>
          <p:cNvGrpSpPr/>
          <p:nvPr/>
        </p:nvGrpSpPr>
        <p:grpSpPr>
          <a:xfrm rot="16200000">
            <a:off x="3665523" y="1995452"/>
            <a:ext cx="726521" cy="353582"/>
            <a:chOff x="2675342" y="2348879"/>
            <a:chExt cx="906547" cy="360041"/>
          </a:xfrm>
        </p:grpSpPr>
        <p:sp>
          <p:nvSpPr>
            <p:cNvPr id="32" name="フリーフォーム 31"/>
            <p:cNvSpPr/>
            <p:nvPr/>
          </p:nvSpPr>
          <p:spPr bwMode="auto">
            <a:xfrm rot="16200000">
              <a:off x="2723571" y="2300650"/>
              <a:ext cx="360041" cy="456500"/>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a:ln>
                  <a:noFill/>
                </a:ln>
                <a:solidFill>
                  <a:schemeClr val="tx1"/>
                </a:solidFill>
                <a:effectLst/>
                <a:latin typeface="Arial Narrow" pitchFamily="34" charset="0"/>
                <a:ea typeface="メイリオ" pitchFamily="50" charset="-128"/>
              </a:endParaRPr>
            </a:p>
          </p:txBody>
        </p:sp>
        <p:sp>
          <p:nvSpPr>
            <p:cNvPr id="33" name="フリーフォーム 32"/>
            <p:cNvSpPr/>
            <p:nvPr/>
          </p:nvSpPr>
          <p:spPr bwMode="auto">
            <a:xfrm rot="16200000" flipV="1">
              <a:off x="3176846" y="2303875"/>
              <a:ext cx="360040" cy="450047"/>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a:ln>
                  <a:noFill/>
                </a:ln>
                <a:solidFill>
                  <a:schemeClr val="tx1"/>
                </a:solidFill>
                <a:effectLst/>
                <a:latin typeface="Arial Narrow" pitchFamily="34" charset="0"/>
                <a:ea typeface="メイリオ" pitchFamily="50" charset="-128"/>
              </a:endParaRPr>
            </a:p>
          </p:txBody>
        </p:sp>
      </p:grpSp>
      <p:pic>
        <p:nvPicPr>
          <p:cNvPr id="34" name="Picture 28" descr="NOT"/>
          <p:cNvPicPr>
            <a:picLocks noChangeAspect="1" noChangeArrowheads="1"/>
          </p:cNvPicPr>
          <p:nvPr/>
        </p:nvPicPr>
        <p:blipFill>
          <a:blip r:embed="rId3"/>
          <a:srcRect/>
          <a:stretch>
            <a:fillRect/>
          </a:stretch>
        </p:blipFill>
        <p:spPr bwMode="auto">
          <a:xfrm>
            <a:off x="971960" y="1808982"/>
            <a:ext cx="717550" cy="720725"/>
          </a:xfrm>
          <a:prstGeom prst="rect">
            <a:avLst/>
          </a:prstGeom>
          <a:noFill/>
        </p:spPr>
      </p:pic>
      <p:cxnSp>
        <p:nvCxnSpPr>
          <p:cNvPr id="35" name="直線コネクタ 34"/>
          <p:cNvCxnSpPr/>
          <p:nvPr/>
        </p:nvCxnSpPr>
        <p:spPr>
          <a:xfrm flipH="1" flipV="1">
            <a:off x="611956" y="2168986"/>
            <a:ext cx="450293" cy="98"/>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p:cNvCxnSpPr/>
          <p:nvPr/>
        </p:nvCxnSpPr>
        <p:spPr>
          <a:xfrm flipH="1">
            <a:off x="1601967" y="2168986"/>
            <a:ext cx="450005" cy="0"/>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40" name="グループ化 152"/>
          <p:cNvGrpSpPr/>
          <p:nvPr/>
        </p:nvGrpSpPr>
        <p:grpSpPr>
          <a:xfrm>
            <a:off x="4391998" y="2978994"/>
            <a:ext cx="180002" cy="90001"/>
            <a:chOff x="3643306" y="4500570"/>
            <a:chExt cx="428628" cy="144464"/>
          </a:xfrm>
        </p:grpSpPr>
        <p:cxnSp>
          <p:nvCxnSpPr>
            <p:cNvPr id="41" name="直線コネクタ 40"/>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42" name="直線コネクタ 41"/>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43" name="直線コネクタ 42"/>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44" name="直線コネクタ 43"/>
          <p:cNvCxnSpPr/>
          <p:nvPr/>
        </p:nvCxnSpPr>
        <p:spPr>
          <a:xfrm flipV="1">
            <a:off x="4481999" y="2708992"/>
            <a:ext cx="1" cy="270003"/>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23" name="グループ化 22"/>
          <p:cNvGrpSpPr/>
          <p:nvPr/>
        </p:nvGrpSpPr>
        <p:grpSpPr>
          <a:xfrm rot="10800000">
            <a:off x="4121996" y="1628980"/>
            <a:ext cx="360048" cy="360048"/>
            <a:chOff x="4662012" y="908664"/>
            <a:chExt cx="360048" cy="360048"/>
          </a:xfrm>
        </p:grpSpPr>
        <p:cxnSp>
          <p:nvCxnSpPr>
            <p:cNvPr id="24" name="直線コネクタ 23"/>
            <p:cNvCxnSpPr/>
            <p:nvPr/>
          </p:nvCxnSpPr>
          <p:spPr>
            <a:xfrm>
              <a:off x="4662012" y="908664"/>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5" name="直線コネクタ 24"/>
            <p:cNvCxnSpPr/>
            <p:nvPr/>
          </p:nvCxnSpPr>
          <p:spPr>
            <a:xfrm flipH="1">
              <a:off x="4842036" y="908664"/>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6" name="直線コネクタ 25"/>
            <p:cNvCxnSpPr/>
            <p:nvPr/>
          </p:nvCxnSpPr>
          <p:spPr>
            <a:xfrm>
              <a:off x="4662012" y="1268712"/>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 name="直線コネクタ 26"/>
            <p:cNvCxnSpPr/>
            <p:nvPr/>
          </p:nvCxnSpPr>
          <p:spPr>
            <a:xfrm flipH="1">
              <a:off x="4932048" y="908664"/>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8" name="円/楕円 27"/>
            <p:cNvSpPr/>
            <p:nvPr/>
          </p:nvSpPr>
          <p:spPr>
            <a:xfrm flipH="1">
              <a:off x="4932048" y="1043682"/>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49" name="直線コネクタ 48"/>
          <p:cNvCxnSpPr/>
          <p:nvPr/>
        </p:nvCxnSpPr>
        <p:spPr>
          <a:xfrm flipV="1">
            <a:off x="3311986" y="2168986"/>
            <a:ext cx="539898" cy="18"/>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51" name="グループ化 50"/>
          <p:cNvGrpSpPr/>
          <p:nvPr/>
        </p:nvGrpSpPr>
        <p:grpSpPr>
          <a:xfrm rot="16200000" flipV="1">
            <a:off x="4436998" y="2033984"/>
            <a:ext cx="360004" cy="270003"/>
            <a:chOff x="2675342" y="2348879"/>
            <a:chExt cx="906547" cy="360041"/>
          </a:xfrm>
        </p:grpSpPr>
        <p:sp>
          <p:nvSpPr>
            <p:cNvPr id="52" name="フリーフォーム 51"/>
            <p:cNvSpPr/>
            <p:nvPr/>
          </p:nvSpPr>
          <p:spPr bwMode="auto">
            <a:xfrm rot="16200000">
              <a:off x="2723571" y="2300650"/>
              <a:ext cx="360041" cy="456500"/>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a:ln>
                  <a:noFill/>
                </a:ln>
                <a:solidFill>
                  <a:schemeClr val="tx1"/>
                </a:solidFill>
                <a:effectLst/>
                <a:latin typeface="Arial Narrow" pitchFamily="34" charset="0"/>
                <a:ea typeface="メイリオ" pitchFamily="50" charset="-128"/>
              </a:endParaRPr>
            </a:p>
          </p:txBody>
        </p:sp>
        <p:sp>
          <p:nvSpPr>
            <p:cNvPr id="53" name="フリーフォーム 52"/>
            <p:cNvSpPr/>
            <p:nvPr/>
          </p:nvSpPr>
          <p:spPr bwMode="auto">
            <a:xfrm rot="16200000" flipV="1">
              <a:off x="3176846" y="2303875"/>
              <a:ext cx="360040" cy="450047"/>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a:ln>
                  <a:noFill/>
                </a:ln>
                <a:solidFill>
                  <a:schemeClr val="tx1"/>
                </a:solidFill>
                <a:effectLst/>
                <a:latin typeface="Arial Narrow" pitchFamily="34" charset="0"/>
                <a:ea typeface="メイリオ" pitchFamily="50" charset="-128"/>
              </a:endParaRPr>
            </a:p>
          </p:txBody>
        </p:sp>
      </p:grpSp>
      <p:cxnSp>
        <p:nvCxnSpPr>
          <p:cNvPr id="54" name="直線コネクタ 53"/>
          <p:cNvCxnSpPr/>
          <p:nvPr/>
        </p:nvCxnSpPr>
        <p:spPr>
          <a:xfrm flipH="1">
            <a:off x="4752002" y="2168986"/>
            <a:ext cx="360112" cy="0"/>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56" name="グループ化 55"/>
          <p:cNvGrpSpPr/>
          <p:nvPr/>
        </p:nvGrpSpPr>
        <p:grpSpPr>
          <a:xfrm>
            <a:off x="4391998" y="1268976"/>
            <a:ext cx="180020" cy="360033"/>
            <a:chOff x="4481992" y="1268760"/>
            <a:chExt cx="180020" cy="360033"/>
          </a:xfrm>
        </p:grpSpPr>
        <p:cxnSp>
          <p:nvCxnSpPr>
            <p:cNvPr id="57" name="直線コネクタ 56"/>
            <p:cNvCxnSpPr/>
            <p:nvPr/>
          </p:nvCxnSpPr>
          <p:spPr>
            <a:xfrm flipV="1">
              <a:off x="4572003" y="1268760"/>
              <a:ext cx="1" cy="360033"/>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8" name="直線コネクタ 57"/>
            <p:cNvCxnSpPr/>
            <p:nvPr/>
          </p:nvCxnSpPr>
          <p:spPr>
            <a:xfrm flipH="1">
              <a:off x="4481992" y="1268760"/>
              <a:ext cx="180020"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59" name="右矢印 58"/>
          <p:cNvSpPr/>
          <p:nvPr/>
        </p:nvSpPr>
        <p:spPr bwMode="auto">
          <a:xfrm>
            <a:off x="2411976" y="1898983"/>
            <a:ext cx="720008" cy="630007"/>
          </a:xfrm>
          <a:prstGeom prst="rightArrow">
            <a:avLst/>
          </a:prstGeom>
          <a:solidFill>
            <a:schemeClr val="accent5">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p>
        </p:txBody>
      </p:sp>
      <p:grpSp>
        <p:nvGrpSpPr>
          <p:cNvPr id="66" name="グループ化 65"/>
          <p:cNvGrpSpPr/>
          <p:nvPr/>
        </p:nvGrpSpPr>
        <p:grpSpPr>
          <a:xfrm>
            <a:off x="7542033" y="1538979"/>
            <a:ext cx="270012" cy="450012"/>
            <a:chOff x="5787000" y="1944000"/>
            <a:chExt cx="270012" cy="450012"/>
          </a:xfrm>
        </p:grpSpPr>
        <p:cxnSp>
          <p:nvCxnSpPr>
            <p:cNvPr id="61" name="直線コネクタ 60"/>
            <p:cNvCxnSpPr/>
            <p:nvPr/>
          </p:nvCxnSpPr>
          <p:spPr>
            <a:xfrm>
              <a:off x="5787000" y="1989000"/>
              <a:ext cx="225004" cy="360003"/>
            </a:xfrm>
            <a:prstGeom prst="line">
              <a:avLst/>
            </a:prstGeom>
            <a:ln w="38100"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60" name="円/楕円 59"/>
            <p:cNvSpPr/>
            <p:nvPr/>
          </p:nvSpPr>
          <p:spPr>
            <a:xfrm rot="16200000" flipH="1">
              <a:off x="5967000" y="230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sp>
          <p:nvSpPr>
            <p:cNvPr id="63" name="円/楕円 62"/>
            <p:cNvSpPr/>
            <p:nvPr/>
          </p:nvSpPr>
          <p:spPr>
            <a:xfrm rot="16200000" flipH="1">
              <a:off x="5967000" y="194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nvGrpSpPr>
          <p:cNvPr id="67" name="グループ化 66"/>
          <p:cNvGrpSpPr/>
          <p:nvPr/>
        </p:nvGrpSpPr>
        <p:grpSpPr>
          <a:xfrm>
            <a:off x="7722035" y="2528990"/>
            <a:ext cx="90012" cy="450012"/>
            <a:chOff x="5967000" y="1944000"/>
            <a:chExt cx="90012" cy="450012"/>
          </a:xfrm>
        </p:grpSpPr>
        <p:cxnSp>
          <p:nvCxnSpPr>
            <p:cNvPr id="68" name="直線コネクタ 67"/>
            <p:cNvCxnSpPr>
              <a:stCxn id="70" idx="0"/>
            </p:cNvCxnSpPr>
            <p:nvPr/>
          </p:nvCxnSpPr>
          <p:spPr>
            <a:xfrm>
              <a:off x="5967000" y="1989006"/>
              <a:ext cx="45004" cy="359997"/>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69" name="円/楕円 68"/>
            <p:cNvSpPr/>
            <p:nvPr/>
          </p:nvSpPr>
          <p:spPr>
            <a:xfrm rot="16200000" flipH="1">
              <a:off x="5967000" y="230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sp>
          <p:nvSpPr>
            <p:cNvPr id="70" name="円/楕円 69"/>
            <p:cNvSpPr/>
            <p:nvPr/>
          </p:nvSpPr>
          <p:spPr>
            <a:xfrm rot="16200000" flipH="1">
              <a:off x="5967000" y="194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nvGrpSpPr>
          <p:cNvPr id="72" name="グループ化 152"/>
          <p:cNvGrpSpPr/>
          <p:nvPr/>
        </p:nvGrpSpPr>
        <p:grpSpPr>
          <a:xfrm>
            <a:off x="7677754" y="3248997"/>
            <a:ext cx="180002" cy="90001"/>
            <a:chOff x="3643306" y="4500570"/>
            <a:chExt cx="428628" cy="144464"/>
          </a:xfrm>
        </p:grpSpPr>
        <p:cxnSp>
          <p:nvCxnSpPr>
            <p:cNvPr id="73" name="直線コネクタ 72"/>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74" name="直線コネクタ 73"/>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75" name="直線コネクタ 74"/>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76" name="直線コネクタ 75"/>
          <p:cNvCxnSpPr/>
          <p:nvPr/>
        </p:nvCxnSpPr>
        <p:spPr>
          <a:xfrm flipV="1">
            <a:off x="7767755" y="2978995"/>
            <a:ext cx="1" cy="270003"/>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77" name="グループ化 76"/>
          <p:cNvGrpSpPr/>
          <p:nvPr/>
        </p:nvGrpSpPr>
        <p:grpSpPr>
          <a:xfrm>
            <a:off x="7677754" y="1178975"/>
            <a:ext cx="180020" cy="360033"/>
            <a:chOff x="4481992" y="1268760"/>
            <a:chExt cx="180020" cy="360033"/>
          </a:xfrm>
        </p:grpSpPr>
        <p:cxnSp>
          <p:nvCxnSpPr>
            <p:cNvPr id="78" name="直線コネクタ 77"/>
            <p:cNvCxnSpPr/>
            <p:nvPr/>
          </p:nvCxnSpPr>
          <p:spPr>
            <a:xfrm flipV="1">
              <a:off x="4572003" y="1268760"/>
              <a:ext cx="1" cy="360033"/>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9" name="直線コネクタ 78"/>
            <p:cNvCxnSpPr/>
            <p:nvPr/>
          </p:nvCxnSpPr>
          <p:spPr>
            <a:xfrm flipH="1">
              <a:off x="4481992" y="1268760"/>
              <a:ext cx="180020"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80" name="直線コネクタ 79"/>
          <p:cNvCxnSpPr/>
          <p:nvPr/>
        </p:nvCxnSpPr>
        <p:spPr>
          <a:xfrm flipV="1">
            <a:off x="7767755" y="1988984"/>
            <a:ext cx="1" cy="540006"/>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86" name="直線コネクタ 85"/>
          <p:cNvCxnSpPr/>
          <p:nvPr/>
        </p:nvCxnSpPr>
        <p:spPr>
          <a:xfrm flipH="1">
            <a:off x="7767755" y="2258987"/>
            <a:ext cx="360112" cy="0"/>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87" name="グループ化 86"/>
          <p:cNvGrpSpPr/>
          <p:nvPr/>
        </p:nvGrpSpPr>
        <p:grpSpPr>
          <a:xfrm rot="10800000">
            <a:off x="6822025" y="2078985"/>
            <a:ext cx="90012" cy="360048"/>
            <a:chOff x="2051664" y="1988808"/>
            <a:chExt cx="90012" cy="360048"/>
          </a:xfrm>
        </p:grpSpPr>
        <p:cxnSp>
          <p:nvCxnSpPr>
            <p:cNvPr id="89" name="直線コネクタ 88"/>
            <p:cNvCxnSpPr/>
            <p:nvPr/>
          </p:nvCxnSpPr>
          <p:spPr>
            <a:xfrm flipH="1">
              <a:off x="2051664" y="1988808"/>
              <a:ext cx="0" cy="360048"/>
            </a:xfrm>
            <a:prstGeom prst="line">
              <a:avLst/>
            </a:prstGeom>
            <a:ln w="57150" cap="rnd">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1" name="直線コネクタ 90"/>
            <p:cNvCxnSpPr/>
            <p:nvPr/>
          </p:nvCxnSpPr>
          <p:spPr>
            <a:xfrm flipH="1">
              <a:off x="2141676" y="1988808"/>
              <a:ext cx="0" cy="360048"/>
            </a:xfrm>
            <a:prstGeom prst="line">
              <a:avLst/>
            </a:prstGeom>
            <a:ln w="57150" cap="rnd">
              <a:solidFill>
                <a:schemeClr val="accent6"/>
              </a:solidFill>
            </a:ln>
          </p:spPr>
          <p:style>
            <a:lnRef idx="1">
              <a:schemeClr val="accent1"/>
            </a:lnRef>
            <a:fillRef idx="0">
              <a:schemeClr val="accent1"/>
            </a:fillRef>
            <a:effectRef idx="0">
              <a:schemeClr val="accent1"/>
            </a:effectRef>
            <a:fontRef idx="minor">
              <a:schemeClr val="tx1"/>
            </a:fontRef>
          </p:style>
        </p:cxnSp>
      </p:grpSp>
      <p:grpSp>
        <p:nvGrpSpPr>
          <p:cNvPr id="92" name="グループ化 152"/>
          <p:cNvGrpSpPr/>
          <p:nvPr/>
        </p:nvGrpSpPr>
        <p:grpSpPr>
          <a:xfrm>
            <a:off x="7092028" y="3248998"/>
            <a:ext cx="180002" cy="90001"/>
            <a:chOff x="3643306" y="4500570"/>
            <a:chExt cx="428628" cy="144464"/>
          </a:xfrm>
        </p:grpSpPr>
        <p:cxnSp>
          <p:nvCxnSpPr>
            <p:cNvPr id="93" name="直線コネクタ 92"/>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94" name="直線コネクタ 93"/>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95" name="直線コネクタ 94"/>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96" name="フリーフォーム 95"/>
          <p:cNvSpPr/>
          <p:nvPr/>
        </p:nvSpPr>
        <p:spPr bwMode="auto">
          <a:xfrm rot="5400000" flipH="1">
            <a:off x="6552021" y="2618990"/>
            <a:ext cx="990011" cy="270003"/>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sm" len="sm"/>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dirty="0">
              <a:ln>
                <a:noFill/>
              </a:ln>
              <a:solidFill>
                <a:schemeClr val="tx1"/>
              </a:solidFill>
              <a:effectLst/>
              <a:latin typeface="Arial Narrow" pitchFamily="34" charset="0"/>
              <a:ea typeface="メイリオ" pitchFamily="50" charset="-128"/>
            </a:endParaRPr>
          </a:p>
        </p:txBody>
      </p:sp>
      <p:cxnSp>
        <p:nvCxnSpPr>
          <p:cNvPr id="97" name="直線コネクタ 96"/>
          <p:cNvCxnSpPr/>
          <p:nvPr/>
        </p:nvCxnSpPr>
        <p:spPr>
          <a:xfrm>
            <a:off x="6642023" y="2258987"/>
            <a:ext cx="179894"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98" name="右矢印 97"/>
          <p:cNvSpPr/>
          <p:nvPr/>
        </p:nvSpPr>
        <p:spPr bwMode="auto">
          <a:xfrm>
            <a:off x="5292008" y="1898983"/>
            <a:ext cx="720008" cy="630007"/>
          </a:xfrm>
          <a:prstGeom prst="rightArrow">
            <a:avLst/>
          </a:prstGeom>
          <a:solidFill>
            <a:schemeClr val="accent5">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p>
        </p:txBody>
      </p:sp>
      <p:cxnSp>
        <p:nvCxnSpPr>
          <p:cNvPr id="100" name="直線コネクタ 99"/>
          <p:cNvCxnSpPr/>
          <p:nvPr/>
        </p:nvCxnSpPr>
        <p:spPr>
          <a:xfrm>
            <a:off x="6102017" y="2258987"/>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81" name="正方形/長方形 80"/>
          <p:cNvSpPr/>
          <p:nvPr/>
        </p:nvSpPr>
        <p:spPr bwMode="auto">
          <a:xfrm>
            <a:off x="1151962" y="3248998"/>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kumimoji="1" lang="en-US" altLang="ja-JP" sz="2400" dirty="0">
                <a:solidFill>
                  <a:schemeClr val="tx1">
                    <a:lumMod val="65000"/>
                    <a:lumOff val="35000"/>
                  </a:schemeClr>
                </a:solidFill>
              </a:rPr>
              <a:t>NOT</a:t>
            </a:r>
            <a:r>
              <a:rPr lang="ja-JP" altLang="en-US" sz="2400" dirty="0">
                <a:solidFill>
                  <a:schemeClr val="tx1">
                    <a:lumMod val="65000"/>
                    <a:lumOff val="35000"/>
                  </a:schemeClr>
                </a:solidFill>
              </a:rPr>
              <a:t>ゲート</a:t>
            </a:r>
            <a:endParaRPr kumimoji="1" lang="ja-JP" altLang="en-US" sz="2400" dirty="0">
              <a:solidFill>
                <a:schemeClr val="tx1">
                  <a:lumMod val="65000"/>
                  <a:lumOff val="35000"/>
                </a:schemeClr>
              </a:solidFill>
            </a:endParaRPr>
          </a:p>
        </p:txBody>
      </p:sp>
      <p:sp>
        <p:nvSpPr>
          <p:cNvPr id="82" name="正方形/長方形 81"/>
          <p:cNvSpPr/>
          <p:nvPr/>
        </p:nvSpPr>
        <p:spPr bwMode="auto">
          <a:xfrm>
            <a:off x="4121995" y="3248998"/>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kumimoji="1" lang="en-US" altLang="ja-JP" sz="2400" dirty="0">
                <a:solidFill>
                  <a:schemeClr val="tx1">
                    <a:lumMod val="65000"/>
                    <a:lumOff val="35000"/>
                  </a:schemeClr>
                </a:solidFill>
              </a:rPr>
              <a:t>CMOS </a:t>
            </a:r>
            <a:endParaRPr kumimoji="1" lang="ja-JP" altLang="en-US" sz="2400" dirty="0">
              <a:solidFill>
                <a:schemeClr val="tx1">
                  <a:lumMod val="65000"/>
                  <a:lumOff val="35000"/>
                </a:schemeClr>
              </a:solidFill>
            </a:endParaRPr>
          </a:p>
        </p:txBody>
      </p:sp>
      <p:sp>
        <p:nvSpPr>
          <p:cNvPr id="83" name="正方形/長方形 82"/>
          <p:cNvSpPr/>
          <p:nvPr/>
        </p:nvSpPr>
        <p:spPr bwMode="auto">
          <a:xfrm>
            <a:off x="6912026" y="3248998"/>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kumimoji="1" lang="ja-JP" altLang="en-US" sz="2000" dirty="0">
                <a:solidFill>
                  <a:schemeClr val="tx1">
                    <a:lumMod val="65000"/>
                    <a:lumOff val="35000"/>
                  </a:schemeClr>
                </a:solidFill>
              </a:rPr>
              <a:t>等価回路</a:t>
            </a:r>
          </a:p>
        </p:txBody>
      </p:sp>
      <p:sp>
        <p:nvSpPr>
          <p:cNvPr id="84" name="正方形/長方形 83"/>
          <p:cNvSpPr/>
          <p:nvPr/>
        </p:nvSpPr>
        <p:spPr bwMode="auto">
          <a:xfrm>
            <a:off x="6912026" y="818971"/>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kumimoji="1" lang="ja-JP" altLang="en-US" sz="2000" dirty="0">
                <a:solidFill>
                  <a:schemeClr val="tx1">
                    <a:lumMod val="75000"/>
                    <a:lumOff val="25000"/>
                  </a:schemeClr>
                </a:solidFill>
              </a:rPr>
              <a:t>電源</a:t>
            </a:r>
          </a:p>
        </p:txBody>
      </p:sp>
      <p:cxnSp>
        <p:nvCxnSpPr>
          <p:cNvPr id="85" name="直線コネクタ 84"/>
          <p:cNvCxnSpPr/>
          <p:nvPr/>
        </p:nvCxnSpPr>
        <p:spPr>
          <a:xfrm>
            <a:off x="8470618" y="2258987"/>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747591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CMOS </a:t>
            </a:r>
            <a:r>
              <a:rPr kumimoji="1" lang="ja-JP" altLang="en-US" dirty="0"/>
              <a:t>ゲート</a:t>
            </a:r>
            <a:r>
              <a:rPr lang="ja-JP" altLang="en-US" dirty="0"/>
              <a:t>の等価回路</a:t>
            </a:r>
            <a:endParaRPr kumimoji="1" lang="ja-JP" altLang="en-US" dirty="0"/>
          </a:p>
        </p:txBody>
      </p:sp>
      <p:sp>
        <p:nvSpPr>
          <p:cNvPr id="3" name="テキスト プレースホルダー 2"/>
          <p:cNvSpPr>
            <a:spLocks noGrp="1"/>
          </p:cNvSpPr>
          <p:nvPr>
            <p:ph type="body" sz="quarter" idx="10"/>
          </p:nvPr>
        </p:nvSpPr>
        <p:spPr>
          <a:xfrm>
            <a:off x="701956" y="4599013"/>
            <a:ext cx="8262041" cy="1439709"/>
          </a:xfrm>
        </p:spPr>
        <p:txBody>
          <a:bodyPr/>
          <a:lstStyle/>
          <a:p>
            <a:r>
              <a:rPr lang="ja-JP" altLang="en-US" dirty="0"/>
              <a:t>コンデンサ：</a:t>
            </a:r>
            <a:endParaRPr lang="en-US" altLang="ja-JP" dirty="0"/>
          </a:p>
          <a:p>
            <a:pPr lvl="1"/>
            <a:r>
              <a:rPr lang="ja-JP" altLang="en-US" dirty="0"/>
              <a:t>電荷を溜めることが出来るもの</a:t>
            </a:r>
            <a:endParaRPr lang="en-US" altLang="ja-JP" dirty="0"/>
          </a:p>
          <a:p>
            <a:pPr lvl="1"/>
            <a:r>
              <a:rPr lang="ja-JP" altLang="en-US" dirty="0"/>
              <a:t>電子を引き寄せてチャネルを作る </a:t>
            </a:r>
            <a:r>
              <a:rPr lang="en-US" altLang="ja-JP" dirty="0"/>
              <a:t>= </a:t>
            </a:r>
            <a:r>
              <a:rPr lang="ja-JP" altLang="en-US" dirty="0"/>
              <a:t>充電している</a:t>
            </a:r>
            <a:endParaRPr lang="en-US" altLang="ja-JP" dirty="0"/>
          </a:p>
          <a:p>
            <a:r>
              <a:rPr lang="ja-JP" altLang="en-US" dirty="0"/>
              <a:t>抵抗：</a:t>
            </a:r>
            <a:endParaRPr lang="en-US" altLang="ja-JP" dirty="0"/>
          </a:p>
          <a:p>
            <a:pPr lvl="1"/>
            <a:r>
              <a:rPr lang="ja-JP" altLang="en-US" dirty="0"/>
              <a:t>配線などの各部はちょっとずつ必ず抵抗がある</a:t>
            </a:r>
            <a:endParaRPr lang="en-US" altLang="ja-JP" dirty="0"/>
          </a:p>
          <a:p>
            <a:pPr lvl="1"/>
            <a:r>
              <a:rPr lang="ja-JP" altLang="en-US" dirty="0"/>
              <a:t>等価回路では，それを１つの抵抗として表現</a:t>
            </a:r>
            <a:endParaRPr lang="en-US" altLang="ja-JP" dirty="0"/>
          </a:p>
        </p:txBody>
      </p:sp>
      <p:grpSp>
        <p:nvGrpSpPr>
          <p:cNvPr id="4" name="グループ化 3"/>
          <p:cNvGrpSpPr/>
          <p:nvPr/>
        </p:nvGrpSpPr>
        <p:grpSpPr>
          <a:xfrm rot="5400000">
            <a:off x="8268941" y="2085886"/>
            <a:ext cx="67531" cy="337533"/>
            <a:chOff x="3401870" y="728700"/>
            <a:chExt cx="180020" cy="405045"/>
          </a:xfrm>
        </p:grpSpPr>
        <p:cxnSp>
          <p:nvCxnSpPr>
            <p:cNvPr id="5" name="直線コネクタ 4"/>
            <p:cNvCxnSpPr/>
            <p:nvPr/>
          </p:nvCxnSpPr>
          <p:spPr>
            <a:xfrm>
              <a:off x="3401870" y="77370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p:cNvCxnSpPr/>
            <p:nvPr/>
          </p:nvCxnSpPr>
          <p:spPr>
            <a:xfrm flipV="1">
              <a:off x="3401870" y="81871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p:cNvCxnSpPr/>
            <p:nvPr/>
          </p:nvCxnSpPr>
          <p:spPr>
            <a:xfrm>
              <a:off x="3401870" y="86371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p:cNvCxnSpPr/>
            <p:nvPr/>
          </p:nvCxnSpPr>
          <p:spPr>
            <a:xfrm flipV="1">
              <a:off x="3401870" y="90872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p:cNvCxnSpPr/>
            <p:nvPr/>
          </p:nvCxnSpPr>
          <p:spPr>
            <a:xfrm>
              <a:off x="3401870" y="95372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p:cNvCxnSpPr/>
            <p:nvPr/>
          </p:nvCxnSpPr>
          <p:spPr>
            <a:xfrm flipV="1">
              <a:off x="3401870" y="99873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p:cNvCxnSpPr/>
            <p:nvPr/>
          </p:nvCxnSpPr>
          <p:spPr>
            <a:xfrm>
              <a:off x="3401870" y="104373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p:cNvCxnSpPr/>
            <p:nvPr/>
          </p:nvCxnSpPr>
          <p:spPr>
            <a:xfrm flipV="1">
              <a:off x="3491880" y="1088741"/>
              <a:ext cx="90010" cy="45004"/>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3" name="直線コネクタ 12"/>
            <p:cNvCxnSpPr/>
            <p:nvPr/>
          </p:nvCxnSpPr>
          <p:spPr>
            <a:xfrm flipV="1">
              <a:off x="3401870" y="728700"/>
              <a:ext cx="9001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14" name="グループ化 13"/>
          <p:cNvGrpSpPr/>
          <p:nvPr/>
        </p:nvGrpSpPr>
        <p:grpSpPr>
          <a:xfrm rot="10800000">
            <a:off x="4211996" y="2348988"/>
            <a:ext cx="270036" cy="360048"/>
            <a:chOff x="1871640" y="1988808"/>
            <a:chExt cx="270036" cy="360048"/>
          </a:xfrm>
        </p:grpSpPr>
        <p:cxnSp>
          <p:nvCxnSpPr>
            <p:cNvPr id="15" name="直線コネクタ 14"/>
            <p:cNvCxnSpPr/>
            <p:nvPr/>
          </p:nvCxnSpPr>
          <p:spPr>
            <a:xfrm>
              <a:off x="18716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 name="直線コネクタ 15"/>
            <p:cNvCxnSpPr/>
            <p:nvPr/>
          </p:nvCxnSpPr>
          <p:spPr>
            <a:xfrm flipH="1">
              <a:off x="2051664"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7" name="直線コネクタ 16"/>
            <p:cNvCxnSpPr/>
            <p:nvPr/>
          </p:nvCxnSpPr>
          <p:spPr>
            <a:xfrm>
              <a:off x="18716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8" name="直線コネクタ 17"/>
            <p:cNvCxnSpPr/>
            <p:nvPr/>
          </p:nvCxnSpPr>
          <p:spPr>
            <a:xfrm flipH="1">
              <a:off x="2141676"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31" name="グループ化 30"/>
          <p:cNvGrpSpPr/>
          <p:nvPr/>
        </p:nvGrpSpPr>
        <p:grpSpPr>
          <a:xfrm rot="16200000">
            <a:off x="3665523" y="1995452"/>
            <a:ext cx="726521" cy="353582"/>
            <a:chOff x="2675342" y="2348879"/>
            <a:chExt cx="906547" cy="360041"/>
          </a:xfrm>
        </p:grpSpPr>
        <p:sp>
          <p:nvSpPr>
            <p:cNvPr id="32" name="フリーフォーム 31"/>
            <p:cNvSpPr/>
            <p:nvPr/>
          </p:nvSpPr>
          <p:spPr bwMode="auto">
            <a:xfrm rot="16200000">
              <a:off x="2723571" y="2300650"/>
              <a:ext cx="360041" cy="456500"/>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a:ln>
                  <a:noFill/>
                </a:ln>
                <a:solidFill>
                  <a:schemeClr val="tx1"/>
                </a:solidFill>
                <a:effectLst/>
                <a:latin typeface="Arial Narrow" pitchFamily="34" charset="0"/>
                <a:ea typeface="メイリオ" pitchFamily="50" charset="-128"/>
              </a:endParaRPr>
            </a:p>
          </p:txBody>
        </p:sp>
        <p:sp>
          <p:nvSpPr>
            <p:cNvPr id="33" name="フリーフォーム 32"/>
            <p:cNvSpPr/>
            <p:nvPr/>
          </p:nvSpPr>
          <p:spPr bwMode="auto">
            <a:xfrm rot="16200000" flipV="1">
              <a:off x="3176846" y="2303875"/>
              <a:ext cx="360040" cy="450047"/>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a:ln>
                  <a:noFill/>
                </a:ln>
                <a:solidFill>
                  <a:schemeClr val="tx1"/>
                </a:solidFill>
                <a:effectLst/>
                <a:latin typeface="Arial Narrow" pitchFamily="34" charset="0"/>
                <a:ea typeface="メイリオ" pitchFamily="50" charset="-128"/>
              </a:endParaRPr>
            </a:p>
          </p:txBody>
        </p:sp>
      </p:grpSp>
      <p:pic>
        <p:nvPicPr>
          <p:cNvPr id="34" name="Picture 28" descr="NOT"/>
          <p:cNvPicPr>
            <a:picLocks noChangeAspect="1" noChangeArrowheads="1"/>
          </p:cNvPicPr>
          <p:nvPr/>
        </p:nvPicPr>
        <p:blipFill>
          <a:blip r:embed="rId3"/>
          <a:srcRect/>
          <a:stretch>
            <a:fillRect/>
          </a:stretch>
        </p:blipFill>
        <p:spPr bwMode="auto">
          <a:xfrm>
            <a:off x="971960" y="1808982"/>
            <a:ext cx="717550" cy="720725"/>
          </a:xfrm>
          <a:prstGeom prst="rect">
            <a:avLst/>
          </a:prstGeom>
          <a:noFill/>
        </p:spPr>
      </p:pic>
      <p:cxnSp>
        <p:nvCxnSpPr>
          <p:cNvPr id="35" name="直線コネクタ 34"/>
          <p:cNvCxnSpPr/>
          <p:nvPr/>
        </p:nvCxnSpPr>
        <p:spPr>
          <a:xfrm flipH="1" flipV="1">
            <a:off x="611956" y="2168986"/>
            <a:ext cx="450293" cy="98"/>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p:cNvCxnSpPr/>
          <p:nvPr/>
        </p:nvCxnSpPr>
        <p:spPr>
          <a:xfrm flipH="1">
            <a:off x="1601967" y="2168986"/>
            <a:ext cx="450005" cy="0"/>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40" name="グループ化 152"/>
          <p:cNvGrpSpPr/>
          <p:nvPr/>
        </p:nvGrpSpPr>
        <p:grpSpPr>
          <a:xfrm>
            <a:off x="4391998" y="2978994"/>
            <a:ext cx="180002" cy="90001"/>
            <a:chOff x="3643306" y="4500570"/>
            <a:chExt cx="428628" cy="144464"/>
          </a:xfrm>
        </p:grpSpPr>
        <p:cxnSp>
          <p:nvCxnSpPr>
            <p:cNvPr id="41" name="直線コネクタ 40"/>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42" name="直線コネクタ 41"/>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43" name="直線コネクタ 42"/>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44" name="直線コネクタ 43"/>
          <p:cNvCxnSpPr/>
          <p:nvPr/>
        </p:nvCxnSpPr>
        <p:spPr>
          <a:xfrm flipV="1">
            <a:off x="4481999" y="2708992"/>
            <a:ext cx="1" cy="270003"/>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23" name="グループ化 22"/>
          <p:cNvGrpSpPr/>
          <p:nvPr/>
        </p:nvGrpSpPr>
        <p:grpSpPr>
          <a:xfrm rot="10800000">
            <a:off x="4121996" y="1628980"/>
            <a:ext cx="360048" cy="360048"/>
            <a:chOff x="4662012" y="908664"/>
            <a:chExt cx="360048" cy="360048"/>
          </a:xfrm>
        </p:grpSpPr>
        <p:cxnSp>
          <p:nvCxnSpPr>
            <p:cNvPr id="24" name="直線コネクタ 23"/>
            <p:cNvCxnSpPr/>
            <p:nvPr/>
          </p:nvCxnSpPr>
          <p:spPr>
            <a:xfrm>
              <a:off x="4662012" y="908664"/>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5" name="直線コネクタ 24"/>
            <p:cNvCxnSpPr/>
            <p:nvPr/>
          </p:nvCxnSpPr>
          <p:spPr>
            <a:xfrm flipH="1">
              <a:off x="4842036" y="908664"/>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6" name="直線コネクタ 25"/>
            <p:cNvCxnSpPr/>
            <p:nvPr/>
          </p:nvCxnSpPr>
          <p:spPr>
            <a:xfrm>
              <a:off x="4662012" y="1268712"/>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 name="直線コネクタ 26"/>
            <p:cNvCxnSpPr/>
            <p:nvPr/>
          </p:nvCxnSpPr>
          <p:spPr>
            <a:xfrm flipH="1">
              <a:off x="4932048" y="908664"/>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8" name="円/楕円 27"/>
            <p:cNvSpPr/>
            <p:nvPr/>
          </p:nvSpPr>
          <p:spPr>
            <a:xfrm flipH="1">
              <a:off x="4932048" y="1043682"/>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cxnSp>
        <p:nvCxnSpPr>
          <p:cNvPr id="49" name="直線コネクタ 48"/>
          <p:cNvCxnSpPr/>
          <p:nvPr/>
        </p:nvCxnSpPr>
        <p:spPr>
          <a:xfrm flipV="1">
            <a:off x="3311986" y="2168986"/>
            <a:ext cx="539898" cy="18"/>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51" name="グループ化 50"/>
          <p:cNvGrpSpPr/>
          <p:nvPr/>
        </p:nvGrpSpPr>
        <p:grpSpPr>
          <a:xfrm rot="16200000" flipV="1">
            <a:off x="4436998" y="2033984"/>
            <a:ext cx="360004" cy="270003"/>
            <a:chOff x="2675342" y="2348879"/>
            <a:chExt cx="906547" cy="360041"/>
          </a:xfrm>
        </p:grpSpPr>
        <p:sp>
          <p:nvSpPr>
            <p:cNvPr id="52" name="フリーフォーム 51"/>
            <p:cNvSpPr/>
            <p:nvPr/>
          </p:nvSpPr>
          <p:spPr bwMode="auto">
            <a:xfrm rot="16200000">
              <a:off x="2723571" y="2300650"/>
              <a:ext cx="360041" cy="456500"/>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a:ln>
                  <a:noFill/>
                </a:ln>
                <a:solidFill>
                  <a:schemeClr val="tx1"/>
                </a:solidFill>
                <a:effectLst/>
                <a:latin typeface="Arial Narrow" pitchFamily="34" charset="0"/>
                <a:ea typeface="メイリオ" pitchFamily="50" charset="-128"/>
              </a:endParaRPr>
            </a:p>
          </p:txBody>
        </p:sp>
        <p:sp>
          <p:nvSpPr>
            <p:cNvPr id="53" name="フリーフォーム 52"/>
            <p:cNvSpPr/>
            <p:nvPr/>
          </p:nvSpPr>
          <p:spPr bwMode="auto">
            <a:xfrm rot="16200000" flipV="1">
              <a:off x="3176846" y="2303875"/>
              <a:ext cx="360040" cy="450047"/>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a:ln>
                  <a:noFill/>
                </a:ln>
                <a:solidFill>
                  <a:schemeClr val="tx1"/>
                </a:solidFill>
                <a:effectLst/>
                <a:latin typeface="Arial Narrow" pitchFamily="34" charset="0"/>
                <a:ea typeface="メイリオ" pitchFamily="50" charset="-128"/>
              </a:endParaRPr>
            </a:p>
          </p:txBody>
        </p:sp>
      </p:grpSp>
      <p:cxnSp>
        <p:nvCxnSpPr>
          <p:cNvPr id="54" name="直線コネクタ 53"/>
          <p:cNvCxnSpPr/>
          <p:nvPr/>
        </p:nvCxnSpPr>
        <p:spPr>
          <a:xfrm flipH="1">
            <a:off x="4752002" y="2168986"/>
            <a:ext cx="360112" cy="0"/>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56" name="グループ化 55"/>
          <p:cNvGrpSpPr/>
          <p:nvPr/>
        </p:nvGrpSpPr>
        <p:grpSpPr>
          <a:xfrm>
            <a:off x="4391998" y="1268976"/>
            <a:ext cx="180020" cy="360033"/>
            <a:chOff x="4481992" y="1268760"/>
            <a:chExt cx="180020" cy="360033"/>
          </a:xfrm>
        </p:grpSpPr>
        <p:cxnSp>
          <p:nvCxnSpPr>
            <p:cNvPr id="57" name="直線コネクタ 56"/>
            <p:cNvCxnSpPr/>
            <p:nvPr/>
          </p:nvCxnSpPr>
          <p:spPr>
            <a:xfrm flipV="1">
              <a:off x="4572003" y="1268760"/>
              <a:ext cx="1" cy="360033"/>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8" name="直線コネクタ 57"/>
            <p:cNvCxnSpPr/>
            <p:nvPr/>
          </p:nvCxnSpPr>
          <p:spPr>
            <a:xfrm flipH="1">
              <a:off x="4481992" y="1268760"/>
              <a:ext cx="180020"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59" name="右矢印 58"/>
          <p:cNvSpPr/>
          <p:nvPr/>
        </p:nvSpPr>
        <p:spPr bwMode="auto">
          <a:xfrm>
            <a:off x="2411976" y="1898983"/>
            <a:ext cx="720008" cy="630007"/>
          </a:xfrm>
          <a:prstGeom prst="rightArrow">
            <a:avLst/>
          </a:prstGeom>
          <a:solidFill>
            <a:schemeClr val="accent5">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p>
        </p:txBody>
      </p:sp>
      <p:grpSp>
        <p:nvGrpSpPr>
          <p:cNvPr id="66" name="グループ化 65"/>
          <p:cNvGrpSpPr/>
          <p:nvPr/>
        </p:nvGrpSpPr>
        <p:grpSpPr>
          <a:xfrm>
            <a:off x="7542033" y="1538979"/>
            <a:ext cx="270012" cy="450012"/>
            <a:chOff x="5787000" y="1944000"/>
            <a:chExt cx="270012" cy="450012"/>
          </a:xfrm>
        </p:grpSpPr>
        <p:cxnSp>
          <p:nvCxnSpPr>
            <p:cNvPr id="61" name="直線コネクタ 60"/>
            <p:cNvCxnSpPr/>
            <p:nvPr/>
          </p:nvCxnSpPr>
          <p:spPr>
            <a:xfrm>
              <a:off x="5787000" y="1989000"/>
              <a:ext cx="225004" cy="360003"/>
            </a:xfrm>
            <a:prstGeom prst="line">
              <a:avLst/>
            </a:prstGeom>
            <a:ln w="38100"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60" name="円/楕円 59"/>
            <p:cNvSpPr/>
            <p:nvPr/>
          </p:nvSpPr>
          <p:spPr>
            <a:xfrm rot="16200000" flipH="1">
              <a:off x="5967000" y="230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sp>
          <p:nvSpPr>
            <p:cNvPr id="63" name="円/楕円 62"/>
            <p:cNvSpPr/>
            <p:nvPr/>
          </p:nvSpPr>
          <p:spPr>
            <a:xfrm rot="16200000" flipH="1">
              <a:off x="5967000" y="194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nvGrpSpPr>
          <p:cNvPr id="67" name="グループ化 66"/>
          <p:cNvGrpSpPr/>
          <p:nvPr/>
        </p:nvGrpSpPr>
        <p:grpSpPr>
          <a:xfrm>
            <a:off x="7722035" y="2528990"/>
            <a:ext cx="90012" cy="450012"/>
            <a:chOff x="5967000" y="1944000"/>
            <a:chExt cx="90012" cy="450012"/>
          </a:xfrm>
        </p:grpSpPr>
        <p:cxnSp>
          <p:nvCxnSpPr>
            <p:cNvPr id="68" name="直線コネクタ 67"/>
            <p:cNvCxnSpPr>
              <a:stCxn id="70" idx="0"/>
            </p:cNvCxnSpPr>
            <p:nvPr/>
          </p:nvCxnSpPr>
          <p:spPr>
            <a:xfrm>
              <a:off x="5967000" y="1989006"/>
              <a:ext cx="45004" cy="359997"/>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69" name="円/楕円 68"/>
            <p:cNvSpPr/>
            <p:nvPr/>
          </p:nvSpPr>
          <p:spPr>
            <a:xfrm rot="16200000" flipH="1">
              <a:off x="5967000" y="230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sp>
          <p:nvSpPr>
            <p:cNvPr id="70" name="円/楕円 69"/>
            <p:cNvSpPr/>
            <p:nvPr/>
          </p:nvSpPr>
          <p:spPr>
            <a:xfrm rot="16200000" flipH="1">
              <a:off x="5967000" y="194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nvGrpSpPr>
          <p:cNvPr id="72" name="グループ化 152"/>
          <p:cNvGrpSpPr/>
          <p:nvPr/>
        </p:nvGrpSpPr>
        <p:grpSpPr>
          <a:xfrm>
            <a:off x="7677754" y="3248997"/>
            <a:ext cx="180002" cy="90001"/>
            <a:chOff x="3643306" y="4500570"/>
            <a:chExt cx="428628" cy="144464"/>
          </a:xfrm>
        </p:grpSpPr>
        <p:cxnSp>
          <p:nvCxnSpPr>
            <p:cNvPr id="73" name="直線コネクタ 72"/>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74" name="直線コネクタ 73"/>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75" name="直線コネクタ 74"/>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76" name="直線コネクタ 75"/>
          <p:cNvCxnSpPr/>
          <p:nvPr/>
        </p:nvCxnSpPr>
        <p:spPr>
          <a:xfrm flipV="1">
            <a:off x="7767755" y="2978995"/>
            <a:ext cx="1" cy="270003"/>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77" name="グループ化 76"/>
          <p:cNvGrpSpPr/>
          <p:nvPr/>
        </p:nvGrpSpPr>
        <p:grpSpPr>
          <a:xfrm>
            <a:off x="7677754" y="1178975"/>
            <a:ext cx="180020" cy="360033"/>
            <a:chOff x="4481992" y="1268760"/>
            <a:chExt cx="180020" cy="360033"/>
          </a:xfrm>
        </p:grpSpPr>
        <p:cxnSp>
          <p:nvCxnSpPr>
            <p:cNvPr id="78" name="直線コネクタ 77"/>
            <p:cNvCxnSpPr/>
            <p:nvPr/>
          </p:nvCxnSpPr>
          <p:spPr>
            <a:xfrm flipV="1">
              <a:off x="4572003" y="1268760"/>
              <a:ext cx="1" cy="360033"/>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9" name="直線コネクタ 78"/>
            <p:cNvCxnSpPr/>
            <p:nvPr/>
          </p:nvCxnSpPr>
          <p:spPr>
            <a:xfrm flipH="1">
              <a:off x="4481992" y="1268760"/>
              <a:ext cx="180020"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80" name="直線コネクタ 79"/>
          <p:cNvCxnSpPr/>
          <p:nvPr/>
        </p:nvCxnSpPr>
        <p:spPr>
          <a:xfrm flipV="1">
            <a:off x="7767755" y="1988984"/>
            <a:ext cx="1" cy="540006"/>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86" name="直線コネクタ 85"/>
          <p:cNvCxnSpPr/>
          <p:nvPr/>
        </p:nvCxnSpPr>
        <p:spPr>
          <a:xfrm flipH="1">
            <a:off x="7767755" y="2258987"/>
            <a:ext cx="360112" cy="0"/>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87" name="グループ化 86"/>
          <p:cNvGrpSpPr/>
          <p:nvPr/>
        </p:nvGrpSpPr>
        <p:grpSpPr>
          <a:xfrm rot="10800000">
            <a:off x="6822025" y="2078985"/>
            <a:ext cx="90012" cy="360048"/>
            <a:chOff x="2051664" y="1988808"/>
            <a:chExt cx="90012" cy="360048"/>
          </a:xfrm>
        </p:grpSpPr>
        <p:cxnSp>
          <p:nvCxnSpPr>
            <p:cNvPr id="89" name="直線コネクタ 88"/>
            <p:cNvCxnSpPr/>
            <p:nvPr/>
          </p:nvCxnSpPr>
          <p:spPr>
            <a:xfrm flipH="1">
              <a:off x="2051664" y="1988808"/>
              <a:ext cx="0" cy="360048"/>
            </a:xfrm>
            <a:prstGeom prst="line">
              <a:avLst/>
            </a:prstGeom>
            <a:ln w="57150" cap="rnd">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1" name="直線コネクタ 90"/>
            <p:cNvCxnSpPr/>
            <p:nvPr/>
          </p:nvCxnSpPr>
          <p:spPr>
            <a:xfrm flipH="1">
              <a:off x="2141676" y="1988808"/>
              <a:ext cx="0" cy="360048"/>
            </a:xfrm>
            <a:prstGeom prst="line">
              <a:avLst/>
            </a:prstGeom>
            <a:ln w="57150" cap="rnd">
              <a:solidFill>
                <a:schemeClr val="accent6"/>
              </a:solidFill>
            </a:ln>
          </p:spPr>
          <p:style>
            <a:lnRef idx="1">
              <a:schemeClr val="accent1"/>
            </a:lnRef>
            <a:fillRef idx="0">
              <a:schemeClr val="accent1"/>
            </a:fillRef>
            <a:effectRef idx="0">
              <a:schemeClr val="accent1"/>
            </a:effectRef>
            <a:fontRef idx="minor">
              <a:schemeClr val="tx1"/>
            </a:fontRef>
          </p:style>
        </p:cxnSp>
      </p:grpSp>
      <p:grpSp>
        <p:nvGrpSpPr>
          <p:cNvPr id="92" name="グループ化 152"/>
          <p:cNvGrpSpPr/>
          <p:nvPr/>
        </p:nvGrpSpPr>
        <p:grpSpPr>
          <a:xfrm>
            <a:off x="7092028" y="3248998"/>
            <a:ext cx="180002" cy="90001"/>
            <a:chOff x="3643306" y="4500570"/>
            <a:chExt cx="428628" cy="144464"/>
          </a:xfrm>
        </p:grpSpPr>
        <p:cxnSp>
          <p:nvCxnSpPr>
            <p:cNvPr id="93" name="直線コネクタ 92"/>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94" name="直線コネクタ 93"/>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95" name="直線コネクタ 94"/>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96" name="フリーフォーム 95"/>
          <p:cNvSpPr/>
          <p:nvPr/>
        </p:nvSpPr>
        <p:spPr bwMode="auto">
          <a:xfrm rot="5400000" flipH="1">
            <a:off x="6552021" y="2618990"/>
            <a:ext cx="990011" cy="270003"/>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sm" len="sm"/>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dirty="0">
              <a:ln>
                <a:noFill/>
              </a:ln>
              <a:solidFill>
                <a:schemeClr val="tx1"/>
              </a:solidFill>
              <a:effectLst/>
              <a:latin typeface="Arial Narrow" pitchFamily="34" charset="0"/>
              <a:ea typeface="メイリオ" pitchFamily="50" charset="-128"/>
            </a:endParaRPr>
          </a:p>
        </p:txBody>
      </p:sp>
      <p:cxnSp>
        <p:nvCxnSpPr>
          <p:cNvPr id="97" name="直線コネクタ 96"/>
          <p:cNvCxnSpPr/>
          <p:nvPr/>
        </p:nvCxnSpPr>
        <p:spPr>
          <a:xfrm>
            <a:off x="6642023" y="2258987"/>
            <a:ext cx="179894"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98" name="右矢印 97"/>
          <p:cNvSpPr/>
          <p:nvPr/>
        </p:nvSpPr>
        <p:spPr bwMode="auto">
          <a:xfrm>
            <a:off x="5292008" y="1898983"/>
            <a:ext cx="720008" cy="630007"/>
          </a:xfrm>
          <a:prstGeom prst="rightArrow">
            <a:avLst/>
          </a:prstGeom>
          <a:solidFill>
            <a:schemeClr val="accent5">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p>
        </p:txBody>
      </p:sp>
      <p:cxnSp>
        <p:nvCxnSpPr>
          <p:cNvPr id="100" name="直線コネクタ 99"/>
          <p:cNvCxnSpPr/>
          <p:nvPr/>
        </p:nvCxnSpPr>
        <p:spPr>
          <a:xfrm>
            <a:off x="6102017" y="2258987"/>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81" name="正方形/長方形 80"/>
          <p:cNvSpPr/>
          <p:nvPr/>
        </p:nvSpPr>
        <p:spPr bwMode="auto">
          <a:xfrm>
            <a:off x="1151962" y="3248998"/>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kumimoji="1" lang="en-US" altLang="ja-JP" sz="2400" dirty="0">
                <a:solidFill>
                  <a:schemeClr val="tx1">
                    <a:lumMod val="65000"/>
                    <a:lumOff val="35000"/>
                  </a:schemeClr>
                </a:solidFill>
              </a:rPr>
              <a:t>NOT</a:t>
            </a:r>
            <a:r>
              <a:rPr lang="ja-JP" altLang="en-US" sz="2400" dirty="0">
                <a:solidFill>
                  <a:schemeClr val="tx1">
                    <a:lumMod val="65000"/>
                    <a:lumOff val="35000"/>
                  </a:schemeClr>
                </a:solidFill>
              </a:rPr>
              <a:t>ゲート</a:t>
            </a:r>
            <a:endParaRPr kumimoji="1" lang="ja-JP" altLang="en-US" sz="2400" dirty="0">
              <a:solidFill>
                <a:schemeClr val="tx1">
                  <a:lumMod val="65000"/>
                  <a:lumOff val="35000"/>
                </a:schemeClr>
              </a:solidFill>
            </a:endParaRPr>
          </a:p>
        </p:txBody>
      </p:sp>
      <p:sp>
        <p:nvSpPr>
          <p:cNvPr id="82" name="正方形/長方形 81"/>
          <p:cNvSpPr/>
          <p:nvPr/>
        </p:nvSpPr>
        <p:spPr bwMode="auto">
          <a:xfrm>
            <a:off x="4121995" y="3248998"/>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kumimoji="1" lang="en-US" altLang="ja-JP" sz="2400" dirty="0">
                <a:solidFill>
                  <a:schemeClr val="tx1">
                    <a:lumMod val="65000"/>
                    <a:lumOff val="35000"/>
                  </a:schemeClr>
                </a:solidFill>
              </a:rPr>
              <a:t>CMOS </a:t>
            </a:r>
            <a:endParaRPr kumimoji="1" lang="ja-JP" altLang="en-US" sz="2400" dirty="0">
              <a:solidFill>
                <a:schemeClr val="tx1">
                  <a:lumMod val="65000"/>
                  <a:lumOff val="35000"/>
                </a:schemeClr>
              </a:solidFill>
            </a:endParaRPr>
          </a:p>
        </p:txBody>
      </p:sp>
      <p:sp>
        <p:nvSpPr>
          <p:cNvPr id="83" name="正方形/長方形 82"/>
          <p:cNvSpPr/>
          <p:nvPr/>
        </p:nvSpPr>
        <p:spPr bwMode="auto">
          <a:xfrm>
            <a:off x="6912026" y="3248998"/>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kumimoji="1" lang="ja-JP" altLang="en-US" sz="2000" dirty="0">
                <a:solidFill>
                  <a:schemeClr val="tx1">
                    <a:lumMod val="65000"/>
                    <a:lumOff val="35000"/>
                  </a:schemeClr>
                </a:solidFill>
              </a:rPr>
              <a:t>等価回路</a:t>
            </a:r>
          </a:p>
        </p:txBody>
      </p:sp>
      <p:sp>
        <p:nvSpPr>
          <p:cNvPr id="84" name="正方形/長方形 83"/>
          <p:cNvSpPr/>
          <p:nvPr/>
        </p:nvSpPr>
        <p:spPr bwMode="auto">
          <a:xfrm>
            <a:off x="6912026" y="818971"/>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kumimoji="1" lang="ja-JP" altLang="en-US" sz="2000" dirty="0">
                <a:solidFill>
                  <a:schemeClr val="tx1">
                    <a:lumMod val="75000"/>
                    <a:lumOff val="25000"/>
                  </a:schemeClr>
                </a:solidFill>
              </a:rPr>
              <a:t>電源</a:t>
            </a:r>
          </a:p>
        </p:txBody>
      </p:sp>
      <p:cxnSp>
        <p:nvCxnSpPr>
          <p:cNvPr id="85" name="直線コネクタ 84"/>
          <p:cNvCxnSpPr/>
          <p:nvPr/>
        </p:nvCxnSpPr>
        <p:spPr>
          <a:xfrm>
            <a:off x="8470618" y="2258987"/>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8750286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5682C5-E921-794B-2D5C-99C1545ECD4E}"/>
              </a:ext>
            </a:extLst>
          </p:cNvPr>
          <p:cNvSpPr>
            <a:spLocks noGrp="1"/>
          </p:cNvSpPr>
          <p:nvPr>
            <p:ph type="title"/>
          </p:nvPr>
        </p:nvSpPr>
        <p:spPr/>
        <p:txBody>
          <a:bodyPr/>
          <a:lstStyle/>
          <a:p>
            <a:r>
              <a:rPr kumimoji="1" lang="en-US" altLang="ja-JP" dirty="0"/>
              <a:t>CMOS </a:t>
            </a:r>
            <a:r>
              <a:rPr kumimoji="1" lang="ja-JP" altLang="en-US" dirty="0"/>
              <a:t>ゲート</a:t>
            </a:r>
            <a:r>
              <a:rPr lang="ja-JP" altLang="en-US" dirty="0"/>
              <a:t>の等価回路</a:t>
            </a:r>
            <a:endParaRPr kumimoji="1" lang="en-US" dirty="0"/>
          </a:p>
        </p:txBody>
      </p:sp>
      <p:sp>
        <p:nvSpPr>
          <p:cNvPr id="3" name="コンテンツ プレースホルダー 2">
            <a:extLst>
              <a:ext uri="{FF2B5EF4-FFF2-40B4-BE49-F238E27FC236}">
                <a16:creationId xmlns:a16="http://schemas.microsoft.com/office/drawing/2014/main" id="{7FD4B3D8-D13E-18FD-F5A5-DCC39EE7706F}"/>
              </a:ext>
            </a:extLst>
          </p:cNvPr>
          <p:cNvSpPr>
            <a:spLocks noGrp="1"/>
          </p:cNvSpPr>
          <p:nvPr>
            <p:ph sz="quarter" idx="10"/>
          </p:nvPr>
        </p:nvSpPr>
        <p:spPr>
          <a:xfrm>
            <a:off x="611956" y="1538979"/>
            <a:ext cx="8280092" cy="1260014"/>
          </a:xfrm>
        </p:spPr>
        <p:txBody>
          <a:bodyPr/>
          <a:lstStyle/>
          <a:p>
            <a:r>
              <a:rPr kumimoji="1" lang="ja-JP" altLang="en-US" dirty="0"/>
              <a:t>青枠の部分がコンデンサとスイッチをなしている</a:t>
            </a:r>
            <a:endParaRPr kumimoji="1" lang="en-US" altLang="ja-JP" dirty="0"/>
          </a:p>
          <a:p>
            <a:pPr lvl="1"/>
            <a:r>
              <a:rPr kumimoji="1" lang="ja-JP" altLang="en-US" dirty="0"/>
              <a:t>上下のサンドイッチ構造がコンデンサ</a:t>
            </a:r>
            <a:endParaRPr kumimoji="1" lang="en-US" altLang="ja-JP" dirty="0"/>
          </a:p>
          <a:p>
            <a:pPr lvl="1"/>
            <a:r>
              <a:rPr kumimoji="1" lang="ja-JP" altLang="en-US" dirty="0"/>
              <a:t>左右に通すか通さないかがスイッチ</a:t>
            </a:r>
            <a:endParaRPr kumimoji="1" lang="en-US" altLang="ja-JP" dirty="0"/>
          </a:p>
          <a:p>
            <a:r>
              <a:rPr kumimoji="1" lang="ja-JP" altLang="en-US" dirty="0"/>
              <a:t>抵抗は全ての部分に存在する</a:t>
            </a:r>
            <a:endParaRPr kumimoji="1" lang="en-US" altLang="ja-JP" dirty="0"/>
          </a:p>
          <a:p>
            <a:pPr lvl="1"/>
            <a:r>
              <a:rPr kumimoji="1" lang="ja-JP" altLang="en-US" dirty="0"/>
              <a:t>超伝導で無い限り，必ず抵抗が存在する</a:t>
            </a:r>
            <a:endParaRPr kumimoji="1" lang="en-US" altLang="ja-JP" dirty="0"/>
          </a:p>
        </p:txBody>
      </p:sp>
      <p:sp>
        <p:nvSpPr>
          <p:cNvPr id="4" name="Freeform 9">
            <a:extLst>
              <a:ext uri="{FF2B5EF4-FFF2-40B4-BE49-F238E27FC236}">
                <a16:creationId xmlns:a16="http://schemas.microsoft.com/office/drawing/2014/main" id="{C221A3CA-1B0A-CD4E-FF1A-C98E5043F2FF}"/>
              </a:ext>
            </a:extLst>
          </p:cNvPr>
          <p:cNvSpPr>
            <a:spLocks/>
          </p:cNvSpPr>
          <p:nvPr/>
        </p:nvSpPr>
        <p:spPr bwMode="auto">
          <a:xfrm>
            <a:off x="2772168" y="4148906"/>
            <a:ext cx="720750" cy="719137"/>
          </a:xfrm>
          <a:custGeom>
            <a:avLst/>
            <a:gdLst/>
            <a:ahLst/>
            <a:cxnLst>
              <a:cxn ang="0">
                <a:pos x="0" y="453"/>
              </a:cxn>
              <a:cxn ang="0">
                <a:pos x="511" y="453"/>
              </a:cxn>
              <a:cxn ang="0">
                <a:pos x="454" y="0"/>
              </a:cxn>
              <a:cxn ang="0">
                <a:pos x="57" y="0"/>
              </a:cxn>
              <a:cxn ang="0">
                <a:pos x="0" y="453"/>
              </a:cxn>
            </a:cxnLst>
            <a:rect l="0" t="0" r="r" b="b"/>
            <a:pathLst>
              <a:path w="511" h="453">
                <a:moveTo>
                  <a:pt x="0" y="453"/>
                </a:moveTo>
                <a:lnTo>
                  <a:pt x="511" y="453"/>
                </a:lnTo>
                <a:lnTo>
                  <a:pt x="454" y="0"/>
                </a:lnTo>
                <a:lnTo>
                  <a:pt x="57" y="0"/>
                </a:lnTo>
                <a:lnTo>
                  <a:pt x="0" y="453"/>
                </a:lnTo>
                <a:close/>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latin typeface="+mn-lt"/>
            </a:endParaRPr>
          </a:p>
        </p:txBody>
      </p:sp>
      <p:sp>
        <p:nvSpPr>
          <p:cNvPr id="5" name="正方形/長方形 4">
            <a:extLst>
              <a:ext uri="{FF2B5EF4-FFF2-40B4-BE49-F238E27FC236}">
                <a16:creationId xmlns:a16="http://schemas.microsoft.com/office/drawing/2014/main" id="{3785C927-F370-8C68-4D41-08809505CE1B}"/>
              </a:ext>
            </a:extLst>
          </p:cNvPr>
          <p:cNvSpPr/>
          <p:nvPr/>
        </p:nvSpPr>
        <p:spPr bwMode="auto">
          <a:xfrm>
            <a:off x="1691968" y="4869016"/>
            <a:ext cx="2880384" cy="270036"/>
          </a:xfrm>
          <a:prstGeom prst="rect">
            <a:avLst/>
          </a:prstGeom>
          <a:ln>
            <a:headEnd type="none" w="med" len="med"/>
            <a:tailEnd type="none" w="med" len="med"/>
          </a:ln>
        </p:spPr>
        <p:style>
          <a:lnRef idx="1">
            <a:schemeClr val="dk1"/>
          </a:lnRef>
          <a:fillRef idx="2">
            <a:schemeClr val="dk1"/>
          </a:fillRef>
          <a:effectRef idx="1">
            <a:schemeClr val="dk1"/>
          </a:effectRef>
          <a:fontRef idx="minor">
            <a:schemeClr val="dk1"/>
          </a:fontRef>
        </p:style>
        <p:txBody>
          <a:bodyPr vert="horz" wrap="none" lIns="36000" tIns="0" rIns="36000" bIns="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dirty="0">
              <a:ln>
                <a:noFill/>
              </a:ln>
              <a:solidFill>
                <a:schemeClr val="tx1"/>
              </a:solidFill>
              <a:effectLst/>
            </a:endParaRPr>
          </a:p>
        </p:txBody>
      </p:sp>
      <p:sp>
        <p:nvSpPr>
          <p:cNvPr id="6" name="Rectangle 8">
            <a:extLst>
              <a:ext uri="{FF2B5EF4-FFF2-40B4-BE49-F238E27FC236}">
                <a16:creationId xmlns:a16="http://schemas.microsoft.com/office/drawing/2014/main" id="{C7D76E3A-C659-DFBB-C0A2-BA9E60C7BB80}"/>
              </a:ext>
            </a:extLst>
          </p:cNvPr>
          <p:cNvSpPr>
            <a:spLocks noChangeArrowheads="1"/>
          </p:cNvSpPr>
          <p:nvPr/>
        </p:nvSpPr>
        <p:spPr bwMode="auto">
          <a:xfrm>
            <a:off x="1691998" y="5138723"/>
            <a:ext cx="2879725" cy="1439862"/>
          </a:xfrm>
          <a:prstGeom prst="rect">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latin typeface="+mn-lt"/>
            </a:endParaRPr>
          </a:p>
        </p:txBody>
      </p:sp>
      <p:sp>
        <p:nvSpPr>
          <p:cNvPr id="7" name="Freeform 6">
            <a:extLst>
              <a:ext uri="{FF2B5EF4-FFF2-40B4-BE49-F238E27FC236}">
                <a16:creationId xmlns:a16="http://schemas.microsoft.com/office/drawing/2014/main" id="{C9F068C8-5A6E-731E-7A8D-D0EA490D0071}"/>
              </a:ext>
            </a:extLst>
          </p:cNvPr>
          <p:cNvSpPr>
            <a:spLocks/>
          </p:cNvSpPr>
          <p:nvPr/>
        </p:nvSpPr>
        <p:spPr bwMode="auto">
          <a:xfrm>
            <a:off x="1691998" y="5138723"/>
            <a:ext cx="720725" cy="719137"/>
          </a:xfrm>
          <a:custGeom>
            <a:avLst/>
            <a:gdLst/>
            <a:ahLst/>
            <a:cxnLst>
              <a:cxn ang="0">
                <a:pos x="0" y="0"/>
              </a:cxn>
              <a:cxn ang="0">
                <a:pos x="454" y="0"/>
              </a:cxn>
              <a:cxn ang="0">
                <a:pos x="227" y="453"/>
              </a:cxn>
              <a:cxn ang="0">
                <a:pos x="0" y="453"/>
              </a:cxn>
            </a:cxnLst>
            <a:rect l="0" t="0" r="r" b="b"/>
            <a:pathLst>
              <a:path w="454" h="453">
                <a:moveTo>
                  <a:pt x="0" y="0"/>
                </a:moveTo>
                <a:lnTo>
                  <a:pt x="454" y="0"/>
                </a:lnTo>
                <a:lnTo>
                  <a:pt x="227" y="453"/>
                </a:lnTo>
                <a:lnTo>
                  <a:pt x="0" y="453"/>
                </a:lnTo>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latin typeface="+mn-lt"/>
            </a:endParaRPr>
          </a:p>
        </p:txBody>
      </p:sp>
      <p:sp>
        <p:nvSpPr>
          <p:cNvPr id="8" name="Freeform 7">
            <a:extLst>
              <a:ext uri="{FF2B5EF4-FFF2-40B4-BE49-F238E27FC236}">
                <a16:creationId xmlns:a16="http://schemas.microsoft.com/office/drawing/2014/main" id="{68A8671B-8BC0-525F-B094-A705A87C1541}"/>
              </a:ext>
            </a:extLst>
          </p:cNvPr>
          <p:cNvSpPr>
            <a:spLocks/>
          </p:cNvSpPr>
          <p:nvPr/>
        </p:nvSpPr>
        <p:spPr bwMode="auto">
          <a:xfrm flipH="1">
            <a:off x="3852586" y="5138723"/>
            <a:ext cx="720725" cy="719137"/>
          </a:xfrm>
          <a:custGeom>
            <a:avLst/>
            <a:gdLst/>
            <a:ahLst/>
            <a:cxnLst>
              <a:cxn ang="0">
                <a:pos x="0" y="0"/>
              </a:cxn>
              <a:cxn ang="0">
                <a:pos x="454" y="0"/>
              </a:cxn>
              <a:cxn ang="0">
                <a:pos x="227" y="453"/>
              </a:cxn>
              <a:cxn ang="0">
                <a:pos x="0" y="453"/>
              </a:cxn>
            </a:cxnLst>
            <a:rect l="0" t="0" r="r" b="b"/>
            <a:pathLst>
              <a:path w="454" h="453">
                <a:moveTo>
                  <a:pt x="0" y="0"/>
                </a:moveTo>
                <a:lnTo>
                  <a:pt x="454" y="0"/>
                </a:lnTo>
                <a:lnTo>
                  <a:pt x="227" y="453"/>
                </a:lnTo>
                <a:lnTo>
                  <a:pt x="0" y="453"/>
                </a:lnTo>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latin typeface="+mn-lt"/>
            </a:endParaRPr>
          </a:p>
        </p:txBody>
      </p:sp>
      <p:sp>
        <p:nvSpPr>
          <p:cNvPr id="9" name="Line 10">
            <a:extLst>
              <a:ext uri="{FF2B5EF4-FFF2-40B4-BE49-F238E27FC236}">
                <a16:creationId xmlns:a16="http://schemas.microsoft.com/office/drawing/2014/main" id="{EE5C2DA5-C271-DD85-7DC9-08FDC462A8D4}"/>
              </a:ext>
            </a:extLst>
          </p:cNvPr>
          <p:cNvSpPr>
            <a:spLocks noChangeShapeType="1"/>
          </p:cNvSpPr>
          <p:nvPr/>
        </p:nvSpPr>
        <p:spPr bwMode="auto">
          <a:xfrm>
            <a:off x="1691968" y="4869016"/>
            <a:ext cx="2879725" cy="0"/>
          </a:xfrm>
          <a:prstGeom prst="line">
            <a:avLst/>
          </a:prstGeom>
          <a:noFill/>
          <a:ln w="19050">
            <a:solidFill>
              <a:schemeClr val="tx1"/>
            </a:solidFill>
            <a:round/>
            <a:headEnd/>
            <a:tailEnd/>
          </a:ln>
          <a:effectLst/>
        </p:spPr>
        <p:txBody>
          <a:bodyPr/>
          <a:lstStyle/>
          <a:p>
            <a:endParaRPr lang="ja-JP" altLang="en-US">
              <a:latin typeface="+mn-lt"/>
            </a:endParaRPr>
          </a:p>
        </p:txBody>
      </p:sp>
      <p:sp>
        <p:nvSpPr>
          <p:cNvPr id="10" name="Line 11">
            <a:extLst>
              <a:ext uri="{FF2B5EF4-FFF2-40B4-BE49-F238E27FC236}">
                <a16:creationId xmlns:a16="http://schemas.microsoft.com/office/drawing/2014/main" id="{B589A1F7-0827-423B-2275-97871B21B160}"/>
              </a:ext>
            </a:extLst>
          </p:cNvPr>
          <p:cNvSpPr>
            <a:spLocks noChangeShapeType="1"/>
          </p:cNvSpPr>
          <p:nvPr/>
        </p:nvSpPr>
        <p:spPr bwMode="auto">
          <a:xfrm>
            <a:off x="1691998" y="6578585"/>
            <a:ext cx="2879725" cy="0"/>
          </a:xfrm>
          <a:prstGeom prst="line">
            <a:avLst/>
          </a:prstGeom>
          <a:noFill/>
          <a:ln w="19050">
            <a:solidFill>
              <a:schemeClr val="tx1"/>
            </a:solidFill>
            <a:round/>
            <a:headEnd/>
            <a:tailEnd/>
          </a:ln>
          <a:effectLst/>
        </p:spPr>
        <p:txBody>
          <a:bodyPr/>
          <a:lstStyle/>
          <a:p>
            <a:endParaRPr lang="ja-JP" altLang="en-US">
              <a:latin typeface="+mn-lt"/>
            </a:endParaRPr>
          </a:p>
        </p:txBody>
      </p:sp>
      <p:sp>
        <p:nvSpPr>
          <p:cNvPr id="11" name="Rectangle 12">
            <a:extLst>
              <a:ext uri="{FF2B5EF4-FFF2-40B4-BE49-F238E27FC236}">
                <a16:creationId xmlns:a16="http://schemas.microsoft.com/office/drawing/2014/main" id="{346BD7CD-86DF-AC6E-A7CD-D5A8727DBE26}"/>
              </a:ext>
            </a:extLst>
          </p:cNvPr>
          <p:cNvSpPr>
            <a:spLocks noChangeArrowheads="1"/>
          </p:cNvSpPr>
          <p:nvPr/>
        </p:nvSpPr>
        <p:spPr bwMode="auto">
          <a:xfrm>
            <a:off x="1691998" y="5319698"/>
            <a:ext cx="360363" cy="358775"/>
          </a:xfrm>
          <a:prstGeom prst="rect">
            <a:avLst/>
          </a:prstGeom>
          <a:noFill/>
          <a:ln w="9525">
            <a:noFill/>
            <a:miter lim="800000"/>
            <a:headEnd/>
            <a:tailEnd/>
          </a:ln>
          <a:effectLst/>
        </p:spPr>
        <p:txBody>
          <a:bodyPr wrap="none" anchor="ctr"/>
          <a:lstStyle/>
          <a:p>
            <a:pPr algn="ctr"/>
            <a:r>
              <a:rPr lang="en-US" altLang="ja-JP" baseline="0">
                <a:latin typeface="+mn-lt"/>
              </a:rPr>
              <a:t>S</a:t>
            </a:r>
          </a:p>
        </p:txBody>
      </p:sp>
      <p:sp>
        <p:nvSpPr>
          <p:cNvPr id="12" name="Rectangle 15">
            <a:extLst>
              <a:ext uri="{FF2B5EF4-FFF2-40B4-BE49-F238E27FC236}">
                <a16:creationId xmlns:a16="http://schemas.microsoft.com/office/drawing/2014/main" id="{63430AB1-80DD-4992-0EA3-51D85CD06392}"/>
              </a:ext>
            </a:extLst>
          </p:cNvPr>
          <p:cNvSpPr>
            <a:spLocks noChangeArrowheads="1"/>
          </p:cNvSpPr>
          <p:nvPr/>
        </p:nvSpPr>
        <p:spPr bwMode="auto">
          <a:xfrm>
            <a:off x="4212948" y="5319698"/>
            <a:ext cx="360363" cy="358775"/>
          </a:xfrm>
          <a:prstGeom prst="rect">
            <a:avLst/>
          </a:prstGeom>
          <a:noFill/>
          <a:ln w="9525">
            <a:noFill/>
            <a:miter lim="800000"/>
            <a:headEnd/>
            <a:tailEnd/>
          </a:ln>
          <a:effectLst/>
        </p:spPr>
        <p:txBody>
          <a:bodyPr wrap="none" anchor="ctr"/>
          <a:lstStyle/>
          <a:p>
            <a:pPr algn="ctr"/>
            <a:r>
              <a:rPr lang="en-US" altLang="ja-JP" baseline="0">
                <a:latin typeface="+mn-lt"/>
              </a:rPr>
              <a:t>D</a:t>
            </a:r>
          </a:p>
        </p:txBody>
      </p:sp>
      <p:sp>
        <p:nvSpPr>
          <p:cNvPr id="13" name="Rectangle 16">
            <a:extLst>
              <a:ext uri="{FF2B5EF4-FFF2-40B4-BE49-F238E27FC236}">
                <a16:creationId xmlns:a16="http://schemas.microsoft.com/office/drawing/2014/main" id="{F39466E6-35AF-D7D3-C99A-906849A0D291}"/>
              </a:ext>
            </a:extLst>
          </p:cNvPr>
          <p:cNvSpPr>
            <a:spLocks noChangeArrowheads="1"/>
          </p:cNvSpPr>
          <p:nvPr/>
        </p:nvSpPr>
        <p:spPr bwMode="auto">
          <a:xfrm>
            <a:off x="2953142" y="4328293"/>
            <a:ext cx="360363" cy="358775"/>
          </a:xfrm>
          <a:prstGeom prst="rect">
            <a:avLst/>
          </a:prstGeom>
          <a:noFill/>
          <a:ln w="9525">
            <a:noFill/>
            <a:miter lim="800000"/>
            <a:headEnd/>
            <a:tailEnd/>
          </a:ln>
          <a:effectLst/>
        </p:spPr>
        <p:txBody>
          <a:bodyPr wrap="none" anchor="ctr"/>
          <a:lstStyle/>
          <a:p>
            <a:pPr algn="ctr"/>
            <a:r>
              <a:rPr lang="en-US" altLang="ja-JP" baseline="0">
                <a:latin typeface="+mn-lt"/>
              </a:rPr>
              <a:t>G</a:t>
            </a:r>
          </a:p>
        </p:txBody>
      </p:sp>
      <p:grpSp>
        <p:nvGrpSpPr>
          <p:cNvPr id="14" name="グループ化 13">
            <a:extLst>
              <a:ext uri="{FF2B5EF4-FFF2-40B4-BE49-F238E27FC236}">
                <a16:creationId xmlns:a16="http://schemas.microsoft.com/office/drawing/2014/main" id="{90294872-36A1-4658-3F2C-6578641AEB81}"/>
              </a:ext>
            </a:extLst>
          </p:cNvPr>
          <p:cNvGrpSpPr/>
          <p:nvPr/>
        </p:nvGrpSpPr>
        <p:grpSpPr>
          <a:xfrm>
            <a:off x="2682167" y="5228918"/>
            <a:ext cx="900113" cy="180975"/>
            <a:chOff x="1962150" y="5499100"/>
            <a:chExt cx="900113" cy="180975"/>
          </a:xfrm>
        </p:grpSpPr>
        <p:grpSp>
          <p:nvGrpSpPr>
            <p:cNvPr id="15" name="Group 19">
              <a:extLst>
                <a:ext uri="{FF2B5EF4-FFF2-40B4-BE49-F238E27FC236}">
                  <a16:creationId xmlns:a16="http://schemas.microsoft.com/office/drawing/2014/main" id="{23C10A28-9E69-8B20-4AD9-2A843CD71243}"/>
                </a:ext>
              </a:extLst>
            </p:cNvPr>
            <p:cNvGrpSpPr>
              <a:grpSpLocks/>
            </p:cNvGrpSpPr>
            <p:nvPr/>
          </p:nvGrpSpPr>
          <p:grpSpPr bwMode="auto">
            <a:xfrm>
              <a:off x="1962150" y="5499100"/>
              <a:ext cx="180975" cy="180975"/>
              <a:chOff x="2823" y="3464"/>
              <a:chExt cx="114" cy="114"/>
            </a:xfrm>
          </p:grpSpPr>
          <p:sp>
            <p:nvSpPr>
              <p:cNvPr id="22" name="Oval 17">
                <a:extLst>
                  <a:ext uri="{FF2B5EF4-FFF2-40B4-BE49-F238E27FC236}">
                    <a16:creationId xmlns:a16="http://schemas.microsoft.com/office/drawing/2014/main" id="{E34D1485-3764-8DE7-5317-2919F5846C15}"/>
                  </a:ext>
                </a:extLst>
              </p:cNvPr>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latin typeface="+mn-lt"/>
                </a:endParaRPr>
              </a:p>
            </p:txBody>
          </p:sp>
          <p:sp>
            <p:nvSpPr>
              <p:cNvPr id="23" name="Line 18">
                <a:extLst>
                  <a:ext uri="{FF2B5EF4-FFF2-40B4-BE49-F238E27FC236}">
                    <a16:creationId xmlns:a16="http://schemas.microsoft.com/office/drawing/2014/main" id="{073E624E-5BB9-5DD5-50DF-FAF5BF6764BC}"/>
                  </a:ext>
                </a:extLst>
              </p:cNvPr>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latin typeface="+mn-lt"/>
                </a:endParaRPr>
              </a:p>
            </p:txBody>
          </p:sp>
        </p:grpSp>
        <p:grpSp>
          <p:nvGrpSpPr>
            <p:cNvPr id="16" name="Group 20">
              <a:extLst>
                <a:ext uri="{FF2B5EF4-FFF2-40B4-BE49-F238E27FC236}">
                  <a16:creationId xmlns:a16="http://schemas.microsoft.com/office/drawing/2014/main" id="{AB57479D-386E-D089-EFE3-5DA4015A3FF2}"/>
                </a:ext>
              </a:extLst>
            </p:cNvPr>
            <p:cNvGrpSpPr>
              <a:grpSpLocks/>
            </p:cNvGrpSpPr>
            <p:nvPr/>
          </p:nvGrpSpPr>
          <p:grpSpPr bwMode="auto">
            <a:xfrm>
              <a:off x="2322513" y="5499100"/>
              <a:ext cx="180975" cy="180975"/>
              <a:chOff x="2823" y="3464"/>
              <a:chExt cx="114" cy="114"/>
            </a:xfrm>
          </p:grpSpPr>
          <p:sp>
            <p:nvSpPr>
              <p:cNvPr id="20" name="Oval 21">
                <a:extLst>
                  <a:ext uri="{FF2B5EF4-FFF2-40B4-BE49-F238E27FC236}">
                    <a16:creationId xmlns:a16="http://schemas.microsoft.com/office/drawing/2014/main" id="{FE0508BE-D50D-8772-AB29-0B7CD16C6A77}"/>
                  </a:ext>
                </a:extLst>
              </p:cNvPr>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latin typeface="+mn-lt"/>
                </a:endParaRPr>
              </a:p>
            </p:txBody>
          </p:sp>
          <p:sp>
            <p:nvSpPr>
              <p:cNvPr id="21" name="Line 22">
                <a:extLst>
                  <a:ext uri="{FF2B5EF4-FFF2-40B4-BE49-F238E27FC236}">
                    <a16:creationId xmlns:a16="http://schemas.microsoft.com/office/drawing/2014/main" id="{2AAE3A22-417B-C23C-6037-5AE8AAC4C37B}"/>
                  </a:ext>
                </a:extLst>
              </p:cNvPr>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latin typeface="+mn-lt"/>
                </a:endParaRPr>
              </a:p>
            </p:txBody>
          </p:sp>
        </p:grpSp>
        <p:grpSp>
          <p:nvGrpSpPr>
            <p:cNvPr id="17" name="Group 23">
              <a:extLst>
                <a:ext uri="{FF2B5EF4-FFF2-40B4-BE49-F238E27FC236}">
                  <a16:creationId xmlns:a16="http://schemas.microsoft.com/office/drawing/2014/main" id="{D32C3CED-FCD3-5353-CAA5-F7FD11B3047B}"/>
                </a:ext>
              </a:extLst>
            </p:cNvPr>
            <p:cNvGrpSpPr>
              <a:grpSpLocks/>
            </p:cNvGrpSpPr>
            <p:nvPr/>
          </p:nvGrpSpPr>
          <p:grpSpPr bwMode="auto">
            <a:xfrm>
              <a:off x="2681288" y="5499100"/>
              <a:ext cx="180975" cy="180975"/>
              <a:chOff x="2823" y="3464"/>
              <a:chExt cx="114" cy="114"/>
            </a:xfrm>
          </p:grpSpPr>
          <p:sp>
            <p:nvSpPr>
              <p:cNvPr id="18" name="Oval 24">
                <a:extLst>
                  <a:ext uri="{FF2B5EF4-FFF2-40B4-BE49-F238E27FC236}">
                    <a16:creationId xmlns:a16="http://schemas.microsoft.com/office/drawing/2014/main" id="{26EF89C9-161E-8EC8-BF23-6A72D06C4CEA}"/>
                  </a:ext>
                </a:extLst>
              </p:cNvPr>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latin typeface="+mn-lt"/>
                </a:endParaRPr>
              </a:p>
            </p:txBody>
          </p:sp>
          <p:sp>
            <p:nvSpPr>
              <p:cNvPr id="19" name="Line 25">
                <a:extLst>
                  <a:ext uri="{FF2B5EF4-FFF2-40B4-BE49-F238E27FC236}">
                    <a16:creationId xmlns:a16="http://schemas.microsoft.com/office/drawing/2014/main" id="{FEC74662-B87C-8CCB-FBCF-C125CD9AD574}"/>
                  </a:ext>
                </a:extLst>
              </p:cNvPr>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latin typeface="+mn-lt"/>
                </a:endParaRPr>
              </a:p>
            </p:txBody>
          </p:sp>
        </p:grpSp>
      </p:grpSp>
      <p:cxnSp>
        <p:nvCxnSpPr>
          <p:cNvPr id="24" name="直線矢印コネクタ 23">
            <a:extLst>
              <a:ext uri="{FF2B5EF4-FFF2-40B4-BE49-F238E27FC236}">
                <a16:creationId xmlns:a16="http://schemas.microsoft.com/office/drawing/2014/main" id="{20773413-3FC1-E279-4CFC-3BB018A1A0DB}"/>
              </a:ext>
            </a:extLst>
          </p:cNvPr>
          <p:cNvCxnSpPr/>
          <p:nvPr/>
        </p:nvCxnSpPr>
        <p:spPr bwMode="auto">
          <a:xfrm>
            <a:off x="1962159" y="5228918"/>
            <a:ext cx="2340026" cy="0"/>
          </a:xfrm>
          <a:prstGeom prst="straightConnector1">
            <a:avLst/>
          </a:prstGeom>
          <a:ln>
            <a:headEnd type="none" w="med" len="med"/>
            <a:tailEnd type="triangle"/>
          </a:ln>
        </p:spPr>
        <p:style>
          <a:lnRef idx="3">
            <a:schemeClr val="accent6"/>
          </a:lnRef>
          <a:fillRef idx="0">
            <a:schemeClr val="accent6"/>
          </a:fillRef>
          <a:effectRef idx="2">
            <a:schemeClr val="accent6"/>
          </a:effectRef>
          <a:fontRef idx="minor">
            <a:schemeClr val="tx1"/>
          </a:fontRef>
        </p:style>
      </p:cxnSp>
      <p:grpSp>
        <p:nvGrpSpPr>
          <p:cNvPr id="25" name="グループ化 24">
            <a:extLst>
              <a:ext uri="{FF2B5EF4-FFF2-40B4-BE49-F238E27FC236}">
                <a16:creationId xmlns:a16="http://schemas.microsoft.com/office/drawing/2014/main" id="{BCD3065E-B7E0-928C-26A2-B45CF64EB0CB}"/>
              </a:ext>
            </a:extLst>
          </p:cNvPr>
          <p:cNvGrpSpPr/>
          <p:nvPr/>
        </p:nvGrpSpPr>
        <p:grpSpPr>
          <a:xfrm rot="5400000">
            <a:off x="7458932" y="4695915"/>
            <a:ext cx="67531" cy="337533"/>
            <a:chOff x="3401870" y="728700"/>
            <a:chExt cx="180020" cy="405045"/>
          </a:xfrm>
        </p:grpSpPr>
        <p:cxnSp>
          <p:nvCxnSpPr>
            <p:cNvPr id="26" name="直線コネクタ 25">
              <a:extLst>
                <a:ext uri="{FF2B5EF4-FFF2-40B4-BE49-F238E27FC236}">
                  <a16:creationId xmlns:a16="http://schemas.microsoft.com/office/drawing/2014/main" id="{62658809-3E2E-2877-8449-3154A52B9612}"/>
                </a:ext>
              </a:extLst>
            </p:cNvPr>
            <p:cNvCxnSpPr/>
            <p:nvPr/>
          </p:nvCxnSpPr>
          <p:spPr>
            <a:xfrm>
              <a:off x="3401870" y="77370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F9BC6C9C-593A-C3B7-B7CA-47A4FA4B4624}"/>
                </a:ext>
              </a:extLst>
            </p:cNvPr>
            <p:cNvCxnSpPr/>
            <p:nvPr/>
          </p:nvCxnSpPr>
          <p:spPr>
            <a:xfrm flipV="1">
              <a:off x="3401870" y="81871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 name="直線コネクタ 27">
              <a:extLst>
                <a:ext uri="{FF2B5EF4-FFF2-40B4-BE49-F238E27FC236}">
                  <a16:creationId xmlns:a16="http://schemas.microsoft.com/office/drawing/2014/main" id="{F42E8D7A-0E85-9976-F16C-8C9827B9B3F6}"/>
                </a:ext>
              </a:extLst>
            </p:cNvPr>
            <p:cNvCxnSpPr/>
            <p:nvPr/>
          </p:nvCxnSpPr>
          <p:spPr>
            <a:xfrm>
              <a:off x="3401870" y="86371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a16:creationId xmlns:a16="http://schemas.microsoft.com/office/drawing/2014/main" id="{503B080E-C455-CC9C-617E-85C1177B366B}"/>
                </a:ext>
              </a:extLst>
            </p:cNvPr>
            <p:cNvCxnSpPr/>
            <p:nvPr/>
          </p:nvCxnSpPr>
          <p:spPr>
            <a:xfrm flipV="1">
              <a:off x="3401870" y="90872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7835A240-EB2D-FAC7-E09B-042A539B33A4}"/>
                </a:ext>
              </a:extLst>
            </p:cNvPr>
            <p:cNvCxnSpPr/>
            <p:nvPr/>
          </p:nvCxnSpPr>
          <p:spPr>
            <a:xfrm>
              <a:off x="3401870" y="95372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a16:creationId xmlns:a16="http://schemas.microsoft.com/office/drawing/2014/main" id="{DBD920DA-B5B3-DA18-DC10-A5D519C60B42}"/>
                </a:ext>
              </a:extLst>
            </p:cNvPr>
            <p:cNvCxnSpPr/>
            <p:nvPr/>
          </p:nvCxnSpPr>
          <p:spPr>
            <a:xfrm flipV="1">
              <a:off x="3401870" y="99873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2" name="直線コネクタ 31">
              <a:extLst>
                <a:ext uri="{FF2B5EF4-FFF2-40B4-BE49-F238E27FC236}">
                  <a16:creationId xmlns:a16="http://schemas.microsoft.com/office/drawing/2014/main" id="{56C8328C-A239-2A03-F45B-6A01A300335F}"/>
                </a:ext>
              </a:extLst>
            </p:cNvPr>
            <p:cNvCxnSpPr/>
            <p:nvPr/>
          </p:nvCxnSpPr>
          <p:spPr>
            <a:xfrm>
              <a:off x="3401870" y="104373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a16:creationId xmlns:a16="http://schemas.microsoft.com/office/drawing/2014/main" id="{01537EB5-633B-E605-22B2-8ADC0B30CDD8}"/>
                </a:ext>
              </a:extLst>
            </p:cNvPr>
            <p:cNvCxnSpPr/>
            <p:nvPr/>
          </p:nvCxnSpPr>
          <p:spPr>
            <a:xfrm flipV="1">
              <a:off x="3491880" y="1088741"/>
              <a:ext cx="90010" cy="45004"/>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D2FBEF27-B232-C97D-59A2-EA01D4DA0C2E}"/>
                </a:ext>
              </a:extLst>
            </p:cNvPr>
            <p:cNvCxnSpPr/>
            <p:nvPr/>
          </p:nvCxnSpPr>
          <p:spPr>
            <a:xfrm flipV="1">
              <a:off x="3401870" y="728700"/>
              <a:ext cx="9001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39" name="グループ化 38">
            <a:extLst>
              <a:ext uri="{FF2B5EF4-FFF2-40B4-BE49-F238E27FC236}">
                <a16:creationId xmlns:a16="http://schemas.microsoft.com/office/drawing/2014/main" id="{AD90FB69-C248-17DE-FDAA-767732C2AD5D}"/>
              </a:ext>
            </a:extLst>
          </p:cNvPr>
          <p:cNvGrpSpPr/>
          <p:nvPr/>
        </p:nvGrpSpPr>
        <p:grpSpPr>
          <a:xfrm>
            <a:off x="6912026" y="5139019"/>
            <a:ext cx="90012" cy="450012"/>
            <a:chOff x="5967000" y="1944000"/>
            <a:chExt cx="90012" cy="450012"/>
          </a:xfrm>
        </p:grpSpPr>
        <p:cxnSp>
          <p:nvCxnSpPr>
            <p:cNvPr id="40" name="直線コネクタ 39">
              <a:extLst>
                <a:ext uri="{FF2B5EF4-FFF2-40B4-BE49-F238E27FC236}">
                  <a16:creationId xmlns:a16="http://schemas.microsoft.com/office/drawing/2014/main" id="{A8072065-8052-87CB-E602-088DF24B018A}"/>
                </a:ext>
              </a:extLst>
            </p:cNvPr>
            <p:cNvCxnSpPr>
              <a:stCxn id="42" idx="0"/>
            </p:cNvCxnSpPr>
            <p:nvPr/>
          </p:nvCxnSpPr>
          <p:spPr>
            <a:xfrm>
              <a:off x="5967000" y="1989006"/>
              <a:ext cx="45004" cy="359997"/>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41" name="円/楕円 68">
              <a:extLst>
                <a:ext uri="{FF2B5EF4-FFF2-40B4-BE49-F238E27FC236}">
                  <a16:creationId xmlns:a16="http://schemas.microsoft.com/office/drawing/2014/main" id="{8F51D651-8A3B-9D45-CD0C-79FFA7FE2116}"/>
                </a:ext>
              </a:extLst>
            </p:cNvPr>
            <p:cNvSpPr/>
            <p:nvPr/>
          </p:nvSpPr>
          <p:spPr>
            <a:xfrm rot="16200000" flipH="1">
              <a:off x="5967000" y="2304000"/>
              <a:ext cx="90012" cy="90012"/>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sp>
          <p:nvSpPr>
            <p:cNvPr id="42" name="円/楕円 69">
              <a:extLst>
                <a:ext uri="{FF2B5EF4-FFF2-40B4-BE49-F238E27FC236}">
                  <a16:creationId xmlns:a16="http://schemas.microsoft.com/office/drawing/2014/main" id="{E1DBA710-A54F-46C7-85CF-5DB405D6CF36}"/>
                </a:ext>
              </a:extLst>
            </p:cNvPr>
            <p:cNvSpPr/>
            <p:nvPr/>
          </p:nvSpPr>
          <p:spPr>
            <a:xfrm rot="16200000" flipH="1">
              <a:off x="5967000" y="1944000"/>
              <a:ext cx="90012" cy="90012"/>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nvGrpSpPr>
          <p:cNvPr id="43" name="グループ化 152">
            <a:extLst>
              <a:ext uri="{FF2B5EF4-FFF2-40B4-BE49-F238E27FC236}">
                <a16:creationId xmlns:a16="http://schemas.microsoft.com/office/drawing/2014/main" id="{A2E2CF06-1F71-EEFE-C8AE-6C709B7B92C6}"/>
              </a:ext>
            </a:extLst>
          </p:cNvPr>
          <p:cNvGrpSpPr/>
          <p:nvPr/>
        </p:nvGrpSpPr>
        <p:grpSpPr>
          <a:xfrm>
            <a:off x="6867745" y="5859026"/>
            <a:ext cx="180002" cy="90001"/>
            <a:chOff x="3643306" y="4500570"/>
            <a:chExt cx="428628" cy="144464"/>
          </a:xfrm>
        </p:grpSpPr>
        <p:cxnSp>
          <p:nvCxnSpPr>
            <p:cNvPr id="44" name="直線コネクタ 43">
              <a:extLst>
                <a:ext uri="{FF2B5EF4-FFF2-40B4-BE49-F238E27FC236}">
                  <a16:creationId xmlns:a16="http://schemas.microsoft.com/office/drawing/2014/main" id="{240B9CF6-BE25-3F0E-8B59-11C9AFEECA4E}"/>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45" name="直線コネクタ 44">
              <a:extLst>
                <a:ext uri="{FF2B5EF4-FFF2-40B4-BE49-F238E27FC236}">
                  <a16:creationId xmlns:a16="http://schemas.microsoft.com/office/drawing/2014/main" id="{C53486D5-0279-5CD0-C176-D9D458E10E7D}"/>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46" name="直線コネクタ 45">
              <a:extLst>
                <a:ext uri="{FF2B5EF4-FFF2-40B4-BE49-F238E27FC236}">
                  <a16:creationId xmlns:a16="http://schemas.microsoft.com/office/drawing/2014/main" id="{09A896B3-3FB7-F3C0-D303-FD87D1AF989F}"/>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47" name="直線コネクタ 46">
            <a:extLst>
              <a:ext uri="{FF2B5EF4-FFF2-40B4-BE49-F238E27FC236}">
                <a16:creationId xmlns:a16="http://schemas.microsoft.com/office/drawing/2014/main" id="{A530E4FA-E1EF-A26C-0CCA-EDBFC06F4D9D}"/>
              </a:ext>
            </a:extLst>
          </p:cNvPr>
          <p:cNvCxnSpPr/>
          <p:nvPr/>
        </p:nvCxnSpPr>
        <p:spPr>
          <a:xfrm flipV="1">
            <a:off x="6957746" y="5589024"/>
            <a:ext cx="1" cy="270003"/>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1" name="直線コネクタ 50">
            <a:extLst>
              <a:ext uri="{FF2B5EF4-FFF2-40B4-BE49-F238E27FC236}">
                <a16:creationId xmlns:a16="http://schemas.microsoft.com/office/drawing/2014/main" id="{FD0DA3D5-C1E2-DC19-BD00-494C7C014E2E}"/>
              </a:ext>
            </a:extLst>
          </p:cNvPr>
          <p:cNvCxnSpPr/>
          <p:nvPr/>
        </p:nvCxnSpPr>
        <p:spPr>
          <a:xfrm flipV="1">
            <a:off x="6957746" y="4599013"/>
            <a:ext cx="1" cy="540006"/>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B696A11B-A777-8EED-EA13-54F3559FCB58}"/>
              </a:ext>
            </a:extLst>
          </p:cNvPr>
          <p:cNvCxnSpPr/>
          <p:nvPr/>
        </p:nvCxnSpPr>
        <p:spPr>
          <a:xfrm flipH="1">
            <a:off x="6957746" y="4869016"/>
            <a:ext cx="360112" cy="0"/>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53" name="グループ化 52">
            <a:extLst>
              <a:ext uri="{FF2B5EF4-FFF2-40B4-BE49-F238E27FC236}">
                <a16:creationId xmlns:a16="http://schemas.microsoft.com/office/drawing/2014/main" id="{2C9DF4D2-8559-47C0-30D5-E34E4233CF76}"/>
              </a:ext>
            </a:extLst>
          </p:cNvPr>
          <p:cNvGrpSpPr/>
          <p:nvPr/>
        </p:nvGrpSpPr>
        <p:grpSpPr>
          <a:xfrm rot="10800000">
            <a:off x="6012016" y="4689014"/>
            <a:ext cx="90012" cy="360048"/>
            <a:chOff x="2051664" y="1988808"/>
            <a:chExt cx="90012" cy="360048"/>
          </a:xfrm>
        </p:grpSpPr>
        <p:cxnSp>
          <p:nvCxnSpPr>
            <p:cNvPr id="54" name="直線コネクタ 53">
              <a:extLst>
                <a:ext uri="{FF2B5EF4-FFF2-40B4-BE49-F238E27FC236}">
                  <a16:creationId xmlns:a16="http://schemas.microsoft.com/office/drawing/2014/main" id="{1DA3A418-CE04-268B-EECC-61603A0F1FD9}"/>
                </a:ext>
              </a:extLst>
            </p:cNvPr>
            <p:cNvCxnSpPr/>
            <p:nvPr/>
          </p:nvCxnSpPr>
          <p:spPr>
            <a:xfrm flipH="1">
              <a:off x="2051664" y="1988808"/>
              <a:ext cx="0" cy="360048"/>
            </a:xfrm>
            <a:prstGeom prst="line">
              <a:avLst/>
            </a:prstGeom>
            <a:ln w="57150" cap="rnd">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9C066529-B560-2E05-E9A2-C8CDC92D55D9}"/>
                </a:ext>
              </a:extLst>
            </p:cNvPr>
            <p:cNvCxnSpPr/>
            <p:nvPr/>
          </p:nvCxnSpPr>
          <p:spPr>
            <a:xfrm flipH="1">
              <a:off x="2141676" y="1988808"/>
              <a:ext cx="0" cy="360048"/>
            </a:xfrm>
            <a:prstGeom prst="line">
              <a:avLst/>
            </a:prstGeom>
            <a:ln w="57150" cap="rnd">
              <a:solidFill>
                <a:schemeClr val="accent5"/>
              </a:solidFill>
            </a:ln>
          </p:spPr>
          <p:style>
            <a:lnRef idx="1">
              <a:schemeClr val="accent1"/>
            </a:lnRef>
            <a:fillRef idx="0">
              <a:schemeClr val="accent1"/>
            </a:fillRef>
            <a:effectRef idx="0">
              <a:schemeClr val="accent1"/>
            </a:effectRef>
            <a:fontRef idx="minor">
              <a:schemeClr val="tx1"/>
            </a:fontRef>
          </p:style>
        </p:cxnSp>
      </p:grpSp>
      <p:grpSp>
        <p:nvGrpSpPr>
          <p:cNvPr id="56" name="グループ化 152">
            <a:extLst>
              <a:ext uri="{FF2B5EF4-FFF2-40B4-BE49-F238E27FC236}">
                <a16:creationId xmlns:a16="http://schemas.microsoft.com/office/drawing/2014/main" id="{3032C6C3-528D-0CE3-E993-CD1C65AE0363}"/>
              </a:ext>
            </a:extLst>
          </p:cNvPr>
          <p:cNvGrpSpPr/>
          <p:nvPr/>
        </p:nvGrpSpPr>
        <p:grpSpPr>
          <a:xfrm>
            <a:off x="6282019" y="5859027"/>
            <a:ext cx="180002" cy="90001"/>
            <a:chOff x="3643306" y="4500570"/>
            <a:chExt cx="428628" cy="144464"/>
          </a:xfrm>
        </p:grpSpPr>
        <p:cxnSp>
          <p:nvCxnSpPr>
            <p:cNvPr id="57" name="直線コネクタ 56">
              <a:extLst>
                <a:ext uri="{FF2B5EF4-FFF2-40B4-BE49-F238E27FC236}">
                  <a16:creationId xmlns:a16="http://schemas.microsoft.com/office/drawing/2014/main" id="{3A1F56D6-89D2-930C-C4BA-FD6C0AD46808}"/>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58" name="直線コネクタ 57">
              <a:extLst>
                <a:ext uri="{FF2B5EF4-FFF2-40B4-BE49-F238E27FC236}">
                  <a16:creationId xmlns:a16="http://schemas.microsoft.com/office/drawing/2014/main" id="{C4A3C015-DE68-EF88-CB85-534E012DEE0E}"/>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59" name="直線コネクタ 58">
              <a:extLst>
                <a:ext uri="{FF2B5EF4-FFF2-40B4-BE49-F238E27FC236}">
                  <a16:creationId xmlns:a16="http://schemas.microsoft.com/office/drawing/2014/main" id="{78B062A2-B1A8-3173-3FA2-BD75C9FFCCDA}"/>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60" name="フリーフォーム 95">
            <a:extLst>
              <a:ext uri="{FF2B5EF4-FFF2-40B4-BE49-F238E27FC236}">
                <a16:creationId xmlns:a16="http://schemas.microsoft.com/office/drawing/2014/main" id="{B70B31B0-65B1-A1F8-79F3-D681B74143FA}"/>
              </a:ext>
            </a:extLst>
          </p:cNvPr>
          <p:cNvSpPr/>
          <p:nvPr/>
        </p:nvSpPr>
        <p:spPr bwMode="auto">
          <a:xfrm rot="5400000" flipH="1">
            <a:off x="5742012" y="5229019"/>
            <a:ext cx="990011" cy="270003"/>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sm" len="sm"/>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dirty="0">
              <a:ln>
                <a:noFill/>
              </a:ln>
              <a:solidFill>
                <a:schemeClr val="tx1"/>
              </a:solidFill>
              <a:effectLst/>
              <a:latin typeface="Arial Narrow" pitchFamily="34" charset="0"/>
              <a:ea typeface="メイリオ" pitchFamily="50" charset="-128"/>
            </a:endParaRPr>
          </a:p>
        </p:txBody>
      </p:sp>
      <p:cxnSp>
        <p:nvCxnSpPr>
          <p:cNvPr id="61" name="直線コネクタ 60">
            <a:extLst>
              <a:ext uri="{FF2B5EF4-FFF2-40B4-BE49-F238E27FC236}">
                <a16:creationId xmlns:a16="http://schemas.microsoft.com/office/drawing/2014/main" id="{60801AC6-C33C-C3CF-FBCB-F4181594E1CD}"/>
              </a:ext>
            </a:extLst>
          </p:cNvPr>
          <p:cNvCxnSpPr/>
          <p:nvPr/>
        </p:nvCxnSpPr>
        <p:spPr>
          <a:xfrm>
            <a:off x="5832014" y="4869016"/>
            <a:ext cx="179894"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2" name="直線コネクタ 61">
            <a:extLst>
              <a:ext uri="{FF2B5EF4-FFF2-40B4-BE49-F238E27FC236}">
                <a16:creationId xmlns:a16="http://schemas.microsoft.com/office/drawing/2014/main" id="{2548DC4E-D649-9164-2343-F2255A6B2F88}"/>
              </a:ext>
            </a:extLst>
          </p:cNvPr>
          <p:cNvCxnSpPr/>
          <p:nvPr/>
        </p:nvCxnSpPr>
        <p:spPr>
          <a:xfrm>
            <a:off x="5292008" y="4869016"/>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63" name="正方形/長方形 62">
            <a:extLst>
              <a:ext uri="{FF2B5EF4-FFF2-40B4-BE49-F238E27FC236}">
                <a16:creationId xmlns:a16="http://schemas.microsoft.com/office/drawing/2014/main" id="{950C2384-048C-180F-3A1F-40552090B99C}"/>
              </a:ext>
            </a:extLst>
          </p:cNvPr>
          <p:cNvSpPr/>
          <p:nvPr/>
        </p:nvSpPr>
        <p:spPr bwMode="auto">
          <a:xfrm>
            <a:off x="6102017" y="5859027"/>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kumimoji="1" lang="ja-JP" altLang="en-US" sz="2000" dirty="0">
                <a:solidFill>
                  <a:schemeClr val="tx1">
                    <a:lumMod val="65000"/>
                    <a:lumOff val="35000"/>
                  </a:schemeClr>
                </a:solidFill>
              </a:rPr>
              <a:t>等価回路</a:t>
            </a:r>
          </a:p>
        </p:txBody>
      </p:sp>
      <p:cxnSp>
        <p:nvCxnSpPr>
          <p:cNvPr id="64" name="直線コネクタ 63">
            <a:extLst>
              <a:ext uri="{FF2B5EF4-FFF2-40B4-BE49-F238E27FC236}">
                <a16:creationId xmlns:a16="http://schemas.microsoft.com/office/drawing/2014/main" id="{912F6A7D-95C5-E5E0-F100-035472B1E158}"/>
              </a:ext>
            </a:extLst>
          </p:cNvPr>
          <p:cNvCxnSpPr/>
          <p:nvPr/>
        </p:nvCxnSpPr>
        <p:spPr>
          <a:xfrm>
            <a:off x="7660609" y="4869016"/>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65" name="四角形: 角を丸くする 64">
            <a:extLst>
              <a:ext uri="{FF2B5EF4-FFF2-40B4-BE49-F238E27FC236}">
                <a16:creationId xmlns:a16="http://schemas.microsoft.com/office/drawing/2014/main" id="{4EDFFAAF-1A14-2E33-5B52-98CBF94C5668}"/>
              </a:ext>
            </a:extLst>
          </p:cNvPr>
          <p:cNvSpPr/>
          <p:nvPr/>
        </p:nvSpPr>
        <p:spPr bwMode="auto">
          <a:xfrm>
            <a:off x="2412006" y="4688718"/>
            <a:ext cx="1440016" cy="900010"/>
          </a:xfrm>
          <a:prstGeom prst="roundRect">
            <a:avLst/>
          </a:prstGeom>
          <a:noFill/>
          <a:ln w="57150">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Tree>
    <p:extLst>
      <p:ext uri="{BB962C8B-B14F-4D97-AF65-F5344CB8AC3E}">
        <p14:creationId xmlns:p14="http://schemas.microsoft.com/office/powerpoint/2010/main" val="66994918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CMOS </a:t>
            </a:r>
            <a:r>
              <a:rPr kumimoji="1" lang="ja-JP" altLang="en-US" dirty="0"/>
              <a:t>ゲート</a:t>
            </a:r>
            <a:r>
              <a:rPr lang="ja-JP" altLang="en-US" dirty="0"/>
              <a:t>の遅延の実体</a:t>
            </a:r>
            <a:endParaRPr kumimoji="1" lang="ja-JP" altLang="en-US" dirty="0"/>
          </a:p>
        </p:txBody>
      </p:sp>
      <p:sp>
        <p:nvSpPr>
          <p:cNvPr id="3" name="テキスト プレースホルダー 2"/>
          <p:cNvSpPr>
            <a:spLocks noGrp="1"/>
          </p:cNvSpPr>
          <p:nvPr>
            <p:ph type="body" sz="quarter" idx="10"/>
          </p:nvPr>
        </p:nvSpPr>
        <p:spPr>
          <a:xfrm>
            <a:off x="701956" y="4779322"/>
            <a:ext cx="8262041" cy="1439709"/>
          </a:xfrm>
        </p:spPr>
        <p:txBody>
          <a:bodyPr/>
          <a:lstStyle/>
          <a:p>
            <a:r>
              <a:rPr lang="ja-JP" altLang="en-US" dirty="0">
                <a:solidFill>
                  <a:schemeClr val="accent6"/>
                </a:solidFill>
              </a:rPr>
              <a:t>遅延：コンデンサの充放電にかかる時間</a:t>
            </a:r>
            <a:endParaRPr lang="en-US" altLang="ja-JP" dirty="0">
              <a:solidFill>
                <a:schemeClr val="accent6"/>
              </a:solidFill>
            </a:endParaRPr>
          </a:p>
          <a:p>
            <a:pPr marL="817200" lvl="1" indent="-457200">
              <a:buFont typeface="+mj-lt"/>
              <a:buAutoNum type="arabicPeriod"/>
            </a:pPr>
            <a:r>
              <a:rPr lang="ja-JP" altLang="en-US" dirty="0"/>
              <a:t>あるゲートのスイッチが切り替わる</a:t>
            </a:r>
            <a:endParaRPr lang="en-US" altLang="ja-JP" dirty="0"/>
          </a:p>
          <a:p>
            <a:pPr marL="817200" lvl="1" indent="-457200">
              <a:buFont typeface="+mj-lt"/>
              <a:buAutoNum type="arabicPeriod"/>
            </a:pPr>
            <a:r>
              <a:rPr lang="ja-JP" altLang="en-US" dirty="0"/>
              <a:t>次の段のゲートへの充放電が開始</a:t>
            </a:r>
            <a:endParaRPr lang="en-US" altLang="ja-JP" dirty="0"/>
          </a:p>
          <a:p>
            <a:pPr marL="817200" lvl="1" indent="-457200">
              <a:buFont typeface="+mj-lt"/>
              <a:buAutoNum type="arabicPeriod"/>
            </a:pPr>
            <a:r>
              <a:rPr lang="ja-JP" altLang="en-US" dirty="0"/>
              <a:t>次の段のスイッチが切り替わる</a:t>
            </a:r>
            <a:endParaRPr lang="en-US" altLang="ja-JP" dirty="0"/>
          </a:p>
          <a:p>
            <a:pPr marL="817200" lvl="1" indent="-457200">
              <a:buFont typeface="+mj-lt"/>
              <a:buAutoNum type="arabicPeriod"/>
            </a:pPr>
            <a:r>
              <a:rPr lang="ja-JP" altLang="en-US" dirty="0"/>
              <a:t>･･･</a:t>
            </a:r>
            <a:endParaRPr lang="en-US" altLang="ja-JP" dirty="0"/>
          </a:p>
          <a:p>
            <a:pPr lvl="1"/>
            <a:endParaRPr lang="en-US" altLang="ja-JP" dirty="0"/>
          </a:p>
        </p:txBody>
      </p:sp>
      <p:grpSp>
        <p:nvGrpSpPr>
          <p:cNvPr id="4" name="グループ化 3"/>
          <p:cNvGrpSpPr/>
          <p:nvPr/>
        </p:nvGrpSpPr>
        <p:grpSpPr>
          <a:xfrm rot="5400000">
            <a:off x="3110309" y="2535891"/>
            <a:ext cx="67531" cy="337533"/>
            <a:chOff x="3401870" y="728700"/>
            <a:chExt cx="180020" cy="405045"/>
          </a:xfrm>
        </p:grpSpPr>
        <p:cxnSp>
          <p:nvCxnSpPr>
            <p:cNvPr id="5" name="直線コネクタ 4"/>
            <p:cNvCxnSpPr/>
            <p:nvPr/>
          </p:nvCxnSpPr>
          <p:spPr>
            <a:xfrm>
              <a:off x="3401870" y="77370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p:cNvCxnSpPr/>
            <p:nvPr/>
          </p:nvCxnSpPr>
          <p:spPr>
            <a:xfrm flipV="1">
              <a:off x="3401870" y="81871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p:cNvCxnSpPr/>
            <p:nvPr/>
          </p:nvCxnSpPr>
          <p:spPr>
            <a:xfrm>
              <a:off x="3401870" y="86371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p:cNvCxnSpPr/>
            <p:nvPr/>
          </p:nvCxnSpPr>
          <p:spPr>
            <a:xfrm flipV="1">
              <a:off x="3401870" y="90872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p:cNvCxnSpPr/>
            <p:nvPr/>
          </p:nvCxnSpPr>
          <p:spPr>
            <a:xfrm>
              <a:off x="3401870" y="95372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p:cNvCxnSpPr/>
            <p:nvPr/>
          </p:nvCxnSpPr>
          <p:spPr>
            <a:xfrm flipV="1">
              <a:off x="3401870" y="99873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p:cNvCxnSpPr/>
            <p:nvPr/>
          </p:nvCxnSpPr>
          <p:spPr>
            <a:xfrm>
              <a:off x="3401870" y="104373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p:cNvCxnSpPr/>
            <p:nvPr/>
          </p:nvCxnSpPr>
          <p:spPr>
            <a:xfrm flipV="1">
              <a:off x="3491880" y="1088741"/>
              <a:ext cx="90010" cy="45004"/>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3" name="直線コネクタ 12"/>
            <p:cNvCxnSpPr/>
            <p:nvPr/>
          </p:nvCxnSpPr>
          <p:spPr>
            <a:xfrm flipV="1">
              <a:off x="3401870" y="728700"/>
              <a:ext cx="9001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66" name="グループ化 65"/>
          <p:cNvGrpSpPr/>
          <p:nvPr/>
        </p:nvGrpSpPr>
        <p:grpSpPr>
          <a:xfrm>
            <a:off x="2411976" y="2978995"/>
            <a:ext cx="270012" cy="450012"/>
            <a:chOff x="5787000" y="1944000"/>
            <a:chExt cx="270012" cy="450012"/>
          </a:xfrm>
        </p:grpSpPr>
        <p:cxnSp>
          <p:nvCxnSpPr>
            <p:cNvPr id="61" name="直線コネクタ 60"/>
            <p:cNvCxnSpPr/>
            <p:nvPr/>
          </p:nvCxnSpPr>
          <p:spPr>
            <a:xfrm>
              <a:off x="5787000" y="1989000"/>
              <a:ext cx="225004" cy="360003"/>
            </a:xfrm>
            <a:prstGeom prst="line">
              <a:avLst/>
            </a:prstGeom>
            <a:ln w="38100"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60" name="円/楕円 59"/>
            <p:cNvSpPr/>
            <p:nvPr/>
          </p:nvSpPr>
          <p:spPr>
            <a:xfrm rot="16200000" flipH="1">
              <a:off x="5967000" y="230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sp>
          <p:nvSpPr>
            <p:cNvPr id="63" name="円/楕円 62"/>
            <p:cNvSpPr/>
            <p:nvPr/>
          </p:nvSpPr>
          <p:spPr>
            <a:xfrm rot="16200000" flipH="1">
              <a:off x="5967000" y="194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nvGrpSpPr>
          <p:cNvPr id="67" name="グループ化 66"/>
          <p:cNvGrpSpPr/>
          <p:nvPr/>
        </p:nvGrpSpPr>
        <p:grpSpPr>
          <a:xfrm>
            <a:off x="2591978" y="1988984"/>
            <a:ext cx="90012" cy="450012"/>
            <a:chOff x="5967000" y="1944000"/>
            <a:chExt cx="90012" cy="450012"/>
          </a:xfrm>
        </p:grpSpPr>
        <p:cxnSp>
          <p:nvCxnSpPr>
            <p:cNvPr id="68" name="直線コネクタ 67"/>
            <p:cNvCxnSpPr>
              <a:stCxn id="70" idx="0"/>
            </p:cNvCxnSpPr>
            <p:nvPr/>
          </p:nvCxnSpPr>
          <p:spPr>
            <a:xfrm>
              <a:off x="5967000" y="1989006"/>
              <a:ext cx="45004" cy="359997"/>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69" name="円/楕円 68"/>
            <p:cNvSpPr/>
            <p:nvPr/>
          </p:nvSpPr>
          <p:spPr>
            <a:xfrm rot="16200000" flipH="1">
              <a:off x="5967000" y="230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sp>
          <p:nvSpPr>
            <p:cNvPr id="70" name="円/楕円 69"/>
            <p:cNvSpPr/>
            <p:nvPr/>
          </p:nvSpPr>
          <p:spPr>
            <a:xfrm rot="16200000" flipH="1">
              <a:off x="5967000" y="194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nvGrpSpPr>
          <p:cNvPr id="72" name="グループ化 152"/>
          <p:cNvGrpSpPr/>
          <p:nvPr/>
        </p:nvGrpSpPr>
        <p:grpSpPr>
          <a:xfrm>
            <a:off x="2519122" y="3699002"/>
            <a:ext cx="180002" cy="90001"/>
            <a:chOff x="3643306" y="4500570"/>
            <a:chExt cx="428628" cy="144464"/>
          </a:xfrm>
        </p:grpSpPr>
        <p:cxnSp>
          <p:nvCxnSpPr>
            <p:cNvPr id="73" name="直線コネクタ 72"/>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74" name="直線コネクタ 73"/>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75" name="直線コネクタ 74"/>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76" name="直線コネクタ 75"/>
          <p:cNvCxnSpPr/>
          <p:nvPr/>
        </p:nvCxnSpPr>
        <p:spPr>
          <a:xfrm flipV="1">
            <a:off x="2609123" y="3429000"/>
            <a:ext cx="1" cy="270003"/>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77" name="グループ化 76"/>
          <p:cNvGrpSpPr/>
          <p:nvPr/>
        </p:nvGrpSpPr>
        <p:grpSpPr>
          <a:xfrm>
            <a:off x="2519122" y="1628980"/>
            <a:ext cx="180020" cy="360033"/>
            <a:chOff x="4481992" y="1268760"/>
            <a:chExt cx="180020" cy="360033"/>
          </a:xfrm>
        </p:grpSpPr>
        <p:cxnSp>
          <p:nvCxnSpPr>
            <p:cNvPr id="78" name="直線コネクタ 77"/>
            <p:cNvCxnSpPr/>
            <p:nvPr/>
          </p:nvCxnSpPr>
          <p:spPr>
            <a:xfrm flipV="1">
              <a:off x="4572003" y="1268760"/>
              <a:ext cx="1" cy="360033"/>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9" name="直線コネクタ 78"/>
            <p:cNvCxnSpPr/>
            <p:nvPr/>
          </p:nvCxnSpPr>
          <p:spPr>
            <a:xfrm flipH="1">
              <a:off x="4481992" y="1268760"/>
              <a:ext cx="180020"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80" name="直線コネクタ 79"/>
          <p:cNvCxnSpPr/>
          <p:nvPr/>
        </p:nvCxnSpPr>
        <p:spPr>
          <a:xfrm flipV="1">
            <a:off x="2609123" y="2438989"/>
            <a:ext cx="1" cy="540006"/>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86" name="直線コネクタ 85"/>
          <p:cNvCxnSpPr/>
          <p:nvPr/>
        </p:nvCxnSpPr>
        <p:spPr>
          <a:xfrm flipH="1">
            <a:off x="2609123" y="2708992"/>
            <a:ext cx="360112" cy="0"/>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87" name="グループ化 86"/>
          <p:cNvGrpSpPr/>
          <p:nvPr/>
        </p:nvGrpSpPr>
        <p:grpSpPr>
          <a:xfrm rot="10800000">
            <a:off x="1663393" y="2528990"/>
            <a:ext cx="90012" cy="360048"/>
            <a:chOff x="2051664" y="1988808"/>
            <a:chExt cx="90012" cy="360048"/>
          </a:xfrm>
        </p:grpSpPr>
        <p:cxnSp>
          <p:nvCxnSpPr>
            <p:cNvPr id="89" name="直線コネクタ 88"/>
            <p:cNvCxnSpPr/>
            <p:nvPr/>
          </p:nvCxnSpPr>
          <p:spPr>
            <a:xfrm flipH="1">
              <a:off x="2051664" y="1988808"/>
              <a:ext cx="0" cy="360048"/>
            </a:xfrm>
            <a:prstGeom prst="line">
              <a:avLst/>
            </a:prstGeom>
            <a:ln w="57150" cap="rnd">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1" name="直線コネクタ 90"/>
            <p:cNvCxnSpPr/>
            <p:nvPr/>
          </p:nvCxnSpPr>
          <p:spPr>
            <a:xfrm flipH="1">
              <a:off x="2141676" y="1988808"/>
              <a:ext cx="0" cy="360048"/>
            </a:xfrm>
            <a:prstGeom prst="line">
              <a:avLst/>
            </a:prstGeom>
            <a:ln w="57150" cap="rnd">
              <a:solidFill>
                <a:schemeClr val="accent6"/>
              </a:solidFill>
            </a:ln>
          </p:spPr>
          <p:style>
            <a:lnRef idx="1">
              <a:schemeClr val="accent1"/>
            </a:lnRef>
            <a:fillRef idx="0">
              <a:schemeClr val="accent1"/>
            </a:fillRef>
            <a:effectRef idx="0">
              <a:schemeClr val="accent1"/>
            </a:effectRef>
            <a:fontRef idx="minor">
              <a:schemeClr val="tx1"/>
            </a:fontRef>
          </p:style>
        </p:cxnSp>
      </p:grpSp>
      <p:grpSp>
        <p:nvGrpSpPr>
          <p:cNvPr id="92" name="グループ化 152"/>
          <p:cNvGrpSpPr/>
          <p:nvPr/>
        </p:nvGrpSpPr>
        <p:grpSpPr>
          <a:xfrm>
            <a:off x="1933396" y="3699003"/>
            <a:ext cx="180002" cy="90001"/>
            <a:chOff x="3643306" y="4500570"/>
            <a:chExt cx="428628" cy="144464"/>
          </a:xfrm>
        </p:grpSpPr>
        <p:cxnSp>
          <p:nvCxnSpPr>
            <p:cNvPr id="93" name="直線コネクタ 92"/>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94" name="直線コネクタ 93"/>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95" name="直線コネクタ 94"/>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96" name="フリーフォーム 95"/>
          <p:cNvSpPr/>
          <p:nvPr/>
        </p:nvSpPr>
        <p:spPr bwMode="auto">
          <a:xfrm rot="5400000" flipH="1">
            <a:off x="1393389" y="3068995"/>
            <a:ext cx="990011" cy="270003"/>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sm" len="sm"/>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dirty="0">
              <a:ln>
                <a:noFill/>
              </a:ln>
              <a:solidFill>
                <a:schemeClr val="tx1"/>
              </a:solidFill>
              <a:effectLst/>
              <a:latin typeface="Arial Narrow" pitchFamily="34" charset="0"/>
              <a:ea typeface="メイリオ" pitchFamily="50" charset="-128"/>
            </a:endParaRPr>
          </a:p>
        </p:txBody>
      </p:sp>
      <p:cxnSp>
        <p:nvCxnSpPr>
          <p:cNvPr id="97" name="直線コネクタ 96"/>
          <p:cNvCxnSpPr/>
          <p:nvPr/>
        </p:nvCxnSpPr>
        <p:spPr>
          <a:xfrm>
            <a:off x="1483391" y="2708992"/>
            <a:ext cx="179894"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0" name="直線コネクタ 99"/>
          <p:cNvCxnSpPr/>
          <p:nvPr/>
        </p:nvCxnSpPr>
        <p:spPr>
          <a:xfrm>
            <a:off x="943385" y="2708992"/>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84" name="正方形/長方形 83"/>
          <p:cNvSpPr/>
          <p:nvPr/>
        </p:nvSpPr>
        <p:spPr bwMode="auto">
          <a:xfrm>
            <a:off x="1753394" y="126897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kumimoji="1" lang="ja-JP" altLang="en-US" sz="2000" dirty="0">
                <a:solidFill>
                  <a:schemeClr val="tx1">
                    <a:lumMod val="75000"/>
                    <a:lumOff val="25000"/>
                  </a:schemeClr>
                </a:solidFill>
              </a:rPr>
              <a:t>電源</a:t>
            </a:r>
          </a:p>
        </p:txBody>
      </p:sp>
      <p:cxnSp>
        <p:nvCxnSpPr>
          <p:cNvPr id="85" name="直線コネクタ 84"/>
          <p:cNvCxnSpPr/>
          <p:nvPr/>
        </p:nvCxnSpPr>
        <p:spPr>
          <a:xfrm>
            <a:off x="3311986" y="2708992"/>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grpSp>
        <p:nvGrpSpPr>
          <p:cNvPr id="88" name="グループ化 87"/>
          <p:cNvGrpSpPr/>
          <p:nvPr/>
        </p:nvGrpSpPr>
        <p:grpSpPr>
          <a:xfrm rot="5400000">
            <a:off x="5990341" y="2535891"/>
            <a:ext cx="67531" cy="337533"/>
            <a:chOff x="3401870" y="728700"/>
            <a:chExt cx="180020" cy="405045"/>
          </a:xfrm>
        </p:grpSpPr>
        <p:cxnSp>
          <p:nvCxnSpPr>
            <p:cNvPr id="90" name="直線コネクタ 89"/>
            <p:cNvCxnSpPr/>
            <p:nvPr/>
          </p:nvCxnSpPr>
          <p:spPr>
            <a:xfrm>
              <a:off x="3401870" y="773705"/>
              <a:ext cx="180020" cy="45005"/>
            </a:xfrm>
            <a:prstGeom prst="line">
              <a:avLst/>
            </a:prstGeom>
            <a:ln w="2857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99" name="直線コネクタ 98"/>
            <p:cNvCxnSpPr/>
            <p:nvPr/>
          </p:nvCxnSpPr>
          <p:spPr>
            <a:xfrm flipV="1">
              <a:off x="3401870" y="818710"/>
              <a:ext cx="180020" cy="45006"/>
            </a:xfrm>
            <a:prstGeom prst="line">
              <a:avLst/>
            </a:prstGeom>
            <a:ln w="2857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1" name="直線コネクタ 100"/>
            <p:cNvCxnSpPr/>
            <p:nvPr/>
          </p:nvCxnSpPr>
          <p:spPr>
            <a:xfrm>
              <a:off x="3401870" y="863715"/>
              <a:ext cx="180020" cy="45005"/>
            </a:xfrm>
            <a:prstGeom prst="line">
              <a:avLst/>
            </a:prstGeom>
            <a:ln w="2857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2" name="直線コネクタ 101"/>
            <p:cNvCxnSpPr/>
            <p:nvPr/>
          </p:nvCxnSpPr>
          <p:spPr>
            <a:xfrm flipV="1">
              <a:off x="3401870" y="908720"/>
              <a:ext cx="180020" cy="45006"/>
            </a:xfrm>
            <a:prstGeom prst="line">
              <a:avLst/>
            </a:prstGeom>
            <a:ln w="2857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3" name="直線コネクタ 102"/>
            <p:cNvCxnSpPr/>
            <p:nvPr/>
          </p:nvCxnSpPr>
          <p:spPr>
            <a:xfrm>
              <a:off x="3401870" y="953725"/>
              <a:ext cx="180020" cy="45005"/>
            </a:xfrm>
            <a:prstGeom prst="line">
              <a:avLst/>
            </a:prstGeom>
            <a:ln w="2857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4" name="直線コネクタ 103"/>
            <p:cNvCxnSpPr/>
            <p:nvPr/>
          </p:nvCxnSpPr>
          <p:spPr>
            <a:xfrm flipV="1">
              <a:off x="3401870" y="998730"/>
              <a:ext cx="180020" cy="45006"/>
            </a:xfrm>
            <a:prstGeom prst="line">
              <a:avLst/>
            </a:prstGeom>
            <a:ln w="2857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5" name="直線コネクタ 104"/>
            <p:cNvCxnSpPr/>
            <p:nvPr/>
          </p:nvCxnSpPr>
          <p:spPr>
            <a:xfrm>
              <a:off x="3401870" y="1043735"/>
              <a:ext cx="180020" cy="45005"/>
            </a:xfrm>
            <a:prstGeom prst="line">
              <a:avLst/>
            </a:prstGeom>
            <a:ln w="2857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6" name="直線コネクタ 105"/>
            <p:cNvCxnSpPr/>
            <p:nvPr/>
          </p:nvCxnSpPr>
          <p:spPr>
            <a:xfrm flipV="1">
              <a:off x="3491880" y="1088741"/>
              <a:ext cx="90010" cy="45004"/>
            </a:xfrm>
            <a:prstGeom prst="line">
              <a:avLst/>
            </a:prstGeom>
            <a:ln w="2857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7" name="直線コネクタ 106"/>
            <p:cNvCxnSpPr/>
            <p:nvPr/>
          </p:nvCxnSpPr>
          <p:spPr>
            <a:xfrm flipV="1">
              <a:off x="3401870" y="728700"/>
              <a:ext cx="90010" cy="45006"/>
            </a:xfrm>
            <a:prstGeom prst="line">
              <a:avLst/>
            </a:prstGeom>
            <a:ln w="2857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108" name="グループ化 107"/>
          <p:cNvGrpSpPr/>
          <p:nvPr/>
        </p:nvGrpSpPr>
        <p:grpSpPr>
          <a:xfrm>
            <a:off x="5263433" y="1988984"/>
            <a:ext cx="270012" cy="450012"/>
            <a:chOff x="5787000" y="1944000"/>
            <a:chExt cx="270012" cy="450012"/>
          </a:xfrm>
        </p:grpSpPr>
        <p:cxnSp>
          <p:nvCxnSpPr>
            <p:cNvPr id="109" name="直線コネクタ 108"/>
            <p:cNvCxnSpPr/>
            <p:nvPr/>
          </p:nvCxnSpPr>
          <p:spPr>
            <a:xfrm>
              <a:off x="5787000" y="1989000"/>
              <a:ext cx="225004" cy="360003"/>
            </a:xfrm>
            <a:prstGeom prst="line">
              <a:avLst/>
            </a:prstGeom>
            <a:ln w="38100"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10" name="円/楕円 109"/>
            <p:cNvSpPr/>
            <p:nvPr/>
          </p:nvSpPr>
          <p:spPr>
            <a:xfrm rot="16200000" flipH="1">
              <a:off x="5967000" y="2304000"/>
              <a:ext cx="90012" cy="90012"/>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sp>
          <p:nvSpPr>
            <p:cNvPr id="111" name="円/楕円 110"/>
            <p:cNvSpPr/>
            <p:nvPr/>
          </p:nvSpPr>
          <p:spPr>
            <a:xfrm rot="16200000" flipH="1">
              <a:off x="5967000" y="1944000"/>
              <a:ext cx="90012" cy="90012"/>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nvGrpSpPr>
          <p:cNvPr id="112" name="グループ化 111"/>
          <p:cNvGrpSpPr/>
          <p:nvPr/>
        </p:nvGrpSpPr>
        <p:grpSpPr>
          <a:xfrm>
            <a:off x="5443435" y="2978995"/>
            <a:ext cx="90012" cy="450012"/>
            <a:chOff x="5967000" y="1944000"/>
            <a:chExt cx="90012" cy="450012"/>
          </a:xfrm>
        </p:grpSpPr>
        <p:cxnSp>
          <p:nvCxnSpPr>
            <p:cNvPr id="113" name="直線コネクタ 112"/>
            <p:cNvCxnSpPr>
              <a:stCxn id="115" idx="0"/>
            </p:cNvCxnSpPr>
            <p:nvPr/>
          </p:nvCxnSpPr>
          <p:spPr>
            <a:xfrm>
              <a:off x="5967000" y="1989006"/>
              <a:ext cx="45004" cy="359997"/>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14" name="円/楕円 113"/>
            <p:cNvSpPr/>
            <p:nvPr/>
          </p:nvSpPr>
          <p:spPr>
            <a:xfrm rot="16200000" flipH="1">
              <a:off x="5967000" y="2304000"/>
              <a:ext cx="90012" cy="90012"/>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sp>
          <p:nvSpPr>
            <p:cNvPr id="115" name="円/楕円 114"/>
            <p:cNvSpPr/>
            <p:nvPr/>
          </p:nvSpPr>
          <p:spPr>
            <a:xfrm rot="16200000" flipH="1">
              <a:off x="5967000" y="1944000"/>
              <a:ext cx="90012" cy="90012"/>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nvGrpSpPr>
          <p:cNvPr id="116" name="グループ化 152"/>
          <p:cNvGrpSpPr/>
          <p:nvPr/>
        </p:nvGrpSpPr>
        <p:grpSpPr>
          <a:xfrm>
            <a:off x="5399154" y="3699002"/>
            <a:ext cx="180002" cy="90001"/>
            <a:chOff x="3643306" y="4500570"/>
            <a:chExt cx="428628" cy="144464"/>
          </a:xfrm>
        </p:grpSpPr>
        <p:cxnSp>
          <p:nvCxnSpPr>
            <p:cNvPr id="117" name="直線コネクタ 116"/>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18" name="直線コネクタ 117"/>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19" name="直線コネクタ 118"/>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120" name="直線コネクタ 119"/>
          <p:cNvCxnSpPr/>
          <p:nvPr/>
        </p:nvCxnSpPr>
        <p:spPr>
          <a:xfrm flipV="1">
            <a:off x="5489155" y="3429000"/>
            <a:ext cx="1" cy="270003"/>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121" name="グループ化 120"/>
          <p:cNvGrpSpPr/>
          <p:nvPr/>
        </p:nvGrpSpPr>
        <p:grpSpPr>
          <a:xfrm>
            <a:off x="5399154" y="1628980"/>
            <a:ext cx="180020" cy="360033"/>
            <a:chOff x="4481992" y="1268760"/>
            <a:chExt cx="180020" cy="360033"/>
          </a:xfrm>
        </p:grpSpPr>
        <p:cxnSp>
          <p:nvCxnSpPr>
            <p:cNvPr id="122" name="直線コネクタ 121"/>
            <p:cNvCxnSpPr/>
            <p:nvPr/>
          </p:nvCxnSpPr>
          <p:spPr>
            <a:xfrm flipV="1">
              <a:off x="4572003" y="1268760"/>
              <a:ext cx="1" cy="360033"/>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3" name="直線コネクタ 122"/>
            <p:cNvCxnSpPr/>
            <p:nvPr/>
          </p:nvCxnSpPr>
          <p:spPr>
            <a:xfrm flipH="1">
              <a:off x="4481992" y="1268760"/>
              <a:ext cx="180020"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24" name="直線コネクタ 123"/>
          <p:cNvCxnSpPr/>
          <p:nvPr/>
        </p:nvCxnSpPr>
        <p:spPr>
          <a:xfrm flipV="1">
            <a:off x="5489155" y="2438989"/>
            <a:ext cx="1" cy="540006"/>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25" name="直線コネクタ 124"/>
          <p:cNvCxnSpPr/>
          <p:nvPr/>
        </p:nvCxnSpPr>
        <p:spPr>
          <a:xfrm flipH="1">
            <a:off x="5489155" y="2708992"/>
            <a:ext cx="360112" cy="0"/>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126" name="グループ化 125"/>
          <p:cNvGrpSpPr/>
          <p:nvPr/>
        </p:nvGrpSpPr>
        <p:grpSpPr>
          <a:xfrm rot="10800000">
            <a:off x="4543425" y="2528990"/>
            <a:ext cx="90012" cy="360048"/>
            <a:chOff x="2051664" y="1988808"/>
            <a:chExt cx="90012" cy="360048"/>
          </a:xfrm>
        </p:grpSpPr>
        <p:cxnSp>
          <p:nvCxnSpPr>
            <p:cNvPr id="127" name="直線コネクタ 126"/>
            <p:cNvCxnSpPr/>
            <p:nvPr/>
          </p:nvCxnSpPr>
          <p:spPr>
            <a:xfrm flipH="1">
              <a:off x="2051664" y="1988808"/>
              <a:ext cx="0" cy="360048"/>
            </a:xfrm>
            <a:prstGeom prst="line">
              <a:avLst/>
            </a:prstGeom>
            <a:ln w="57150" cap="rnd">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128" name="直線コネクタ 127"/>
            <p:cNvCxnSpPr/>
            <p:nvPr/>
          </p:nvCxnSpPr>
          <p:spPr>
            <a:xfrm flipH="1">
              <a:off x="2141676" y="1988808"/>
              <a:ext cx="0" cy="360048"/>
            </a:xfrm>
            <a:prstGeom prst="line">
              <a:avLst/>
            </a:prstGeom>
            <a:ln w="57150" cap="rnd">
              <a:solidFill>
                <a:schemeClr val="accent5"/>
              </a:solidFill>
            </a:ln>
          </p:spPr>
          <p:style>
            <a:lnRef idx="1">
              <a:schemeClr val="accent1"/>
            </a:lnRef>
            <a:fillRef idx="0">
              <a:schemeClr val="accent1"/>
            </a:fillRef>
            <a:effectRef idx="0">
              <a:schemeClr val="accent1"/>
            </a:effectRef>
            <a:fontRef idx="minor">
              <a:schemeClr val="tx1"/>
            </a:fontRef>
          </p:style>
        </p:cxnSp>
      </p:grpSp>
      <p:grpSp>
        <p:nvGrpSpPr>
          <p:cNvPr id="129" name="グループ化 152"/>
          <p:cNvGrpSpPr/>
          <p:nvPr/>
        </p:nvGrpSpPr>
        <p:grpSpPr>
          <a:xfrm>
            <a:off x="4813428" y="3699003"/>
            <a:ext cx="180002" cy="90001"/>
            <a:chOff x="3643306" y="4500570"/>
            <a:chExt cx="428628" cy="144464"/>
          </a:xfrm>
        </p:grpSpPr>
        <p:cxnSp>
          <p:nvCxnSpPr>
            <p:cNvPr id="130" name="直線コネクタ 129"/>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31" name="直線コネクタ 130"/>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32" name="直線コネクタ 131"/>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133" name="フリーフォーム 132"/>
          <p:cNvSpPr/>
          <p:nvPr/>
        </p:nvSpPr>
        <p:spPr bwMode="auto">
          <a:xfrm rot="5400000" flipH="1">
            <a:off x="4273421" y="3068995"/>
            <a:ext cx="990011" cy="270003"/>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sm" len="sm"/>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dirty="0">
              <a:ln>
                <a:noFill/>
              </a:ln>
              <a:solidFill>
                <a:schemeClr val="tx1"/>
              </a:solidFill>
              <a:effectLst/>
              <a:latin typeface="Arial Narrow" pitchFamily="34" charset="0"/>
              <a:ea typeface="メイリオ" pitchFamily="50" charset="-128"/>
            </a:endParaRPr>
          </a:p>
        </p:txBody>
      </p:sp>
      <p:cxnSp>
        <p:nvCxnSpPr>
          <p:cNvPr id="134" name="直線コネクタ 133"/>
          <p:cNvCxnSpPr/>
          <p:nvPr/>
        </p:nvCxnSpPr>
        <p:spPr>
          <a:xfrm>
            <a:off x="4363423" y="2708992"/>
            <a:ext cx="179894"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5" name="直線コネクタ 134"/>
          <p:cNvCxnSpPr/>
          <p:nvPr/>
        </p:nvCxnSpPr>
        <p:spPr>
          <a:xfrm>
            <a:off x="3823417" y="2708992"/>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37" name="正方形/長方形 136"/>
          <p:cNvSpPr/>
          <p:nvPr/>
        </p:nvSpPr>
        <p:spPr bwMode="auto">
          <a:xfrm>
            <a:off x="4633426" y="126897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kumimoji="1" lang="ja-JP" altLang="en-US" sz="2000" dirty="0">
                <a:solidFill>
                  <a:schemeClr val="tx1">
                    <a:lumMod val="75000"/>
                    <a:lumOff val="25000"/>
                  </a:schemeClr>
                </a:solidFill>
              </a:rPr>
              <a:t>電源</a:t>
            </a:r>
          </a:p>
        </p:txBody>
      </p:sp>
      <p:cxnSp>
        <p:nvCxnSpPr>
          <p:cNvPr id="138" name="直線コネクタ 137"/>
          <p:cNvCxnSpPr/>
          <p:nvPr/>
        </p:nvCxnSpPr>
        <p:spPr>
          <a:xfrm>
            <a:off x="6192018" y="2708992"/>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39" name="曲折矢印 138"/>
          <p:cNvSpPr/>
          <p:nvPr/>
        </p:nvSpPr>
        <p:spPr bwMode="auto">
          <a:xfrm rot="10800000" flipH="1">
            <a:off x="2771981" y="1898982"/>
            <a:ext cx="1620018" cy="720008"/>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nvGrpSpPr>
          <p:cNvPr id="140" name="グループ化 139"/>
          <p:cNvGrpSpPr/>
          <p:nvPr/>
        </p:nvGrpSpPr>
        <p:grpSpPr>
          <a:xfrm rot="10800000">
            <a:off x="7452033" y="2528991"/>
            <a:ext cx="90012" cy="360048"/>
            <a:chOff x="2051664" y="1988808"/>
            <a:chExt cx="90012" cy="360048"/>
          </a:xfrm>
        </p:grpSpPr>
        <p:cxnSp>
          <p:nvCxnSpPr>
            <p:cNvPr id="141" name="直線コネクタ 140"/>
            <p:cNvCxnSpPr/>
            <p:nvPr/>
          </p:nvCxnSpPr>
          <p:spPr>
            <a:xfrm flipH="1">
              <a:off x="2051664" y="1988808"/>
              <a:ext cx="0" cy="360048"/>
            </a:xfrm>
            <a:prstGeom prst="line">
              <a:avLst/>
            </a:prstGeom>
            <a:ln w="57150" cap="rnd">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42" name="直線コネクタ 141"/>
            <p:cNvCxnSpPr/>
            <p:nvPr/>
          </p:nvCxnSpPr>
          <p:spPr>
            <a:xfrm flipH="1">
              <a:off x="2141676" y="1988808"/>
              <a:ext cx="0" cy="360048"/>
            </a:xfrm>
            <a:prstGeom prst="line">
              <a:avLst/>
            </a:prstGeom>
            <a:ln w="57150" cap="rnd">
              <a:solidFill>
                <a:schemeClr val="accent3"/>
              </a:solidFill>
            </a:ln>
          </p:spPr>
          <p:style>
            <a:lnRef idx="1">
              <a:schemeClr val="accent1"/>
            </a:lnRef>
            <a:fillRef idx="0">
              <a:schemeClr val="accent1"/>
            </a:fillRef>
            <a:effectRef idx="0">
              <a:schemeClr val="accent1"/>
            </a:effectRef>
            <a:fontRef idx="minor">
              <a:schemeClr val="tx1"/>
            </a:fontRef>
          </p:style>
        </p:cxnSp>
      </p:grpSp>
      <p:grpSp>
        <p:nvGrpSpPr>
          <p:cNvPr id="143" name="グループ化 152"/>
          <p:cNvGrpSpPr/>
          <p:nvPr/>
        </p:nvGrpSpPr>
        <p:grpSpPr>
          <a:xfrm>
            <a:off x="7722036" y="3699004"/>
            <a:ext cx="180002" cy="90001"/>
            <a:chOff x="3643306" y="4500570"/>
            <a:chExt cx="428628" cy="144464"/>
          </a:xfrm>
        </p:grpSpPr>
        <p:cxnSp>
          <p:nvCxnSpPr>
            <p:cNvPr id="144" name="直線コネクタ 143"/>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45" name="直線コネクタ 144"/>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46" name="直線コネクタ 145"/>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147" name="フリーフォーム 146"/>
          <p:cNvSpPr/>
          <p:nvPr/>
        </p:nvSpPr>
        <p:spPr bwMode="auto">
          <a:xfrm rot="5400000" flipH="1">
            <a:off x="7182029" y="3068996"/>
            <a:ext cx="990011" cy="270003"/>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sm" len="sm"/>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dirty="0">
              <a:ln>
                <a:noFill/>
              </a:ln>
              <a:solidFill>
                <a:schemeClr val="tx1"/>
              </a:solidFill>
              <a:effectLst/>
              <a:latin typeface="Arial Narrow" pitchFamily="34" charset="0"/>
              <a:ea typeface="メイリオ" pitchFamily="50" charset="-128"/>
            </a:endParaRPr>
          </a:p>
        </p:txBody>
      </p:sp>
      <p:cxnSp>
        <p:nvCxnSpPr>
          <p:cNvPr id="148" name="直線コネクタ 147"/>
          <p:cNvCxnSpPr/>
          <p:nvPr/>
        </p:nvCxnSpPr>
        <p:spPr>
          <a:xfrm>
            <a:off x="7272031" y="2708993"/>
            <a:ext cx="179894"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9" name="直線コネクタ 148"/>
          <p:cNvCxnSpPr/>
          <p:nvPr/>
        </p:nvCxnSpPr>
        <p:spPr>
          <a:xfrm>
            <a:off x="6732025" y="2708993"/>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50" name="曲折矢印 149"/>
          <p:cNvSpPr/>
          <p:nvPr/>
        </p:nvSpPr>
        <p:spPr bwMode="auto">
          <a:xfrm rot="16200000" flipH="1">
            <a:off x="6057016" y="2393989"/>
            <a:ext cx="810009" cy="1620018"/>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80066328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実際には</a:t>
            </a:r>
          </a:p>
        </p:txBody>
      </p:sp>
      <p:sp>
        <p:nvSpPr>
          <p:cNvPr id="3" name="テキスト プレースホルダー 2"/>
          <p:cNvSpPr>
            <a:spLocks noGrp="1"/>
          </p:cNvSpPr>
          <p:nvPr>
            <p:ph type="body" sz="quarter" idx="10"/>
          </p:nvPr>
        </p:nvSpPr>
        <p:spPr/>
        <p:txBody>
          <a:bodyPr/>
          <a:lstStyle/>
          <a:p>
            <a:r>
              <a:rPr kumimoji="1" lang="ja-JP" altLang="en-US" dirty="0"/>
              <a:t>寄生容量：</a:t>
            </a:r>
            <a:endParaRPr kumimoji="1" lang="en-US" altLang="ja-JP" dirty="0"/>
          </a:p>
          <a:p>
            <a:pPr lvl="1"/>
            <a:r>
              <a:rPr kumimoji="1" lang="ja-JP" altLang="en-US" dirty="0"/>
              <a:t>トランジスタのゲート部分以外にも，あらゆる場所にコンデンサができてしまう</a:t>
            </a:r>
            <a:endParaRPr kumimoji="1" lang="en-US" altLang="ja-JP" dirty="0"/>
          </a:p>
          <a:p>
            <a:pPr lvl="1"/>
            <a:r>
              <a:rPr kumimoji="1" lang="ja-JP" altLang="en-US" dirty="0"/>
              <a:t>なにか導体が不導体をはさんで並べばコンデンサになる</a:t>
            </a:r>
            <a:endParaRPr kumimoji="1" lang="en-US" altLang="ja-JP" dirty="0"/>
          </a:p>
          <a:p>
            <a:r>
              <a:rPr kumimoji="1" lang="ja-JP" altLang="en-US" dirty="0"/>
              <a:t>寄生容量への充放電にも時間がとられる</a:t>
            </a:r>
            <a:endParaRPr kumimoji="1" lang="en-US" altLang="ja-JP" dirty="0"/>
          </a:p>
          <a:p>
            <a:pPr lvl="1"/>
            <a:r>
              <a:rPr kumimoji="1" lang="ja-JP" altLang="en-US" dirty="0"/>
              <a:t>通常はトランジスタのゲートがメイン</a:t>
            </a:r>
            <a:endParaRPr kumimoji="1" lang="en-US" altLang="ja-JP" dirty="0"/>
          </a:p>
          <a:p>
            <a:pPr lvl="1"/>
            <a:r>
              <a:rPr lang="ja-JP" altLang="en-US" dirty="0"/>
              <a:t>長い配線では，配線間にできてしまうコンデンサの影響も大きい</a:t>
            </a:r>
            <a:endParaRPr kumimoji="1" lang="ja-JP" altLang="en-US" dirty="0"/>
          </a:p>
        </p:txBody>
      </p:sp>
    </p:spTree>
    <p:extLst>
      <p:ext uri="{BB962C8B-B14F-4D97-AF65-F5344CB8AC3E}">
        <p14:creationId xmlns:p14="http://schemas.microsoft.com/office/powerpoint/2010/main" val="419769941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遅延の違い</a:t>
            </a:r>
          </a:p>
        </p:txBody>
      </p:sp>
      <mc:AlternateContent xmlns:mc="http://schemas.openxmlformats.org/markup-compatibility/2006" xmlns:a14="http://schemas.microsoft.com/office/drawing/2010/main">
        <mc:Choice Requires="a14">
          <p:sp>
            <p:nvSpPr>
              <p:cNvPr id="3" name="テキスト プレースホルダー 2"/>
              <p:cNvSpPr>
                <a:spLocks noGrp="1"/>
              </p:cNvSpPr>
              <p:nvPr>
                <p:ph type="body" sz="quarter" idx="10"/>
              </p:nvPr>
            </p:nvSpPr>
            <p:spPr>
              <a:xfrm>
                <a:off x="431954" y="2978995"/>
                <a:ext cx="8280092" cy="539699"/>
              </a:xfrm>
            </p:spPr>
            <p:txBody>
              <a:bodyPr/>
              <a:lstStyle/>
              <a:p>
                <a:r>
                  <a:rPr kumimoji="1" lang="ja-JP" altLang="en-US" dirty="0"/>
                  <a:t>左側の </a:t>
                </a:r>
                <a:r>
                  <a:rPr kumimoji="1" lang="en-US" altLang="ja-JP" dirty="0"/>
                  <a:t>D-FF </a:t>
                </a:r>
                <a:r>
                  <a:rPr kumimoji="1" lang="ja-JP" altLang="en-US" dirty="0"/>
                  <a:t>から何個もゲートを経て右の </a:t>
                </a:r>
                <a:r>
                  <a:rPr kumimoji="1" lang="en-US" altLang="ja-JP" dirty="0"/>
                  <a:t>D-FF </a:t>
                </a:r>
                <a:r>
                  <a:rPr kumimoji="1" lang="ja-JP" altLang="en-US" dirty="0"/>
                  <a:t>に接続（遅い）</a:t>
                </a:r>
                <a:endParaRPr kumimoji="1" lang="en-US" altLang="ja-JP" dirty="0"/>
              </a:p>
              <a:p>
                <a:pPr lvl="1"/>
                <a14:m>
                  <m:oMath xmlns:m="http://schemas.openxmlformats.org/officeDocument/2006/math">
                    <m:r>
                      <a:rPr lang="en-US" altLang="ja-JP" i="1" dirty="0">
                        <a:latin typeface="Cambria Math" panose="02040503050406030204" pitchFamily="18" charset="0"/>
                      </a:rPr>
                      <m:t>𝑞</m:t>
                    </m:r>
                    <m:r>
                      <a:rPr lang="en-US" altLang="ja-JP" i="1" dirty="0">
                        <a:latin typeface="Cambria Math" panose="02040503050406030204" pitchFamily="18" charset="0"/>
                      </a:rPr>
                      <m:t> </m:t>
                    </m:r>
                  </m:oMath>
                </a14:m>
                <a:r>
                  <a:rPr lang="ja-JP" altLang="en-US" dirty="0"/>
                  <a:t>が切り替わると，</a:t>
                </a:r>
                <a:endParaRPr lang="en-US" altLang="ja-JP" dirty="0"/>
              </a:p>
              <a:p>
                <a:pPr lvl="1"/>
                <a:r>
                  <a:rPr lang="ja-JP" altLang="en-US" dirty="0"/>
                  <a:t>各ゲートのスイッチ（充放電）が順々に行われて，</a:t>
                </a:r>
                <a:endParaRPr lang="en-US" altLang="ja-JP" dirty="0"/>
              </a:p>
              <a:p>
                <a:pPr lvl="1"/>
                <a:r>
                  <a:rPr kumimoji="1" lang="ja-JP" altLang="en-US" dirty="0"/>
                  <a:t>右側の </a:t>
                </a:r>
                <a14:m>
                  <m:oMath xmlns:m="http://schemas.openxmlformats.org/officeDocument/2006/math">
                    <m:r>
                      <a:rPr kumimoji="1" lang="en-US" altLang="ja-JP" i="1" dirty="0" smtClean="0">
                        <a:latin typeface="Cambria Math" panose="02040503050406030204" pitchFamily="18" charset="0"/>
                      </a:rPr>
                      <m:t>𝑑</m:t>
                    </m:r>
                  </m:oMath>
                </a14:m>
                <a:r>
                  <a:rPr kumimoji="1" lang="en-US" altLang="ja-JP" dirty="0"/>
                  <a:t> </a:t>
                </a:r>
                <a:r>
                  <a:rPr kumimoji="1" lang="ja-JP" altLang="en-US" dirty="0"/>
                  <a:t>に伝わる</a:t>
                </a:r>
              </a:p>
            </p:txBody>
          </p:sp>
        </mc:Choice>
        <mc:Fallback xmlns="">
          <p:sp>
            <p:nvSpPr>
              <p:cNvPr id="3" name="テキスト プレースホルダー 2"/>
              <p:cNvSpPr>
                <a:spLocks noGrp="1" noRot="1" noChangeAspect="1" noMove="1" noResize="1" noEditPoints="1" noAdjustHandles="1" noChangeArrowheads="1" noChangeShapeType="1" noTextEdit="1"/>
              </p:cNvSpPr>
              <p:nvPr>
                <p:ph type="body" sz="quarter" idx="10"/>
              </p:nvPr>
            </p:nvSpPr>
            <p:spPr>
              <a:xfrm>
                <a:off x="431954" y="2978995"/>
                <a:ext cx="8280092" cy="539699"/>
              </a:xfrm>
              <a:blipFill rotWithShape="0">
                <a:blip r:embed="rId2"/>
                <a:stretch>
                  <a:fillRect l="-663" t="-114773" b="-135227"/>
                </a:stretch>
              </a:blipFill>
            </p:spPr>
            <p:txBody>
              <a:bodyPr/>
              <a:lstStyle/>
              <a:p>
                <a:r>
                  <a:rPr lang="ja-JP" altLang="en-US">
                    <a:noFill/>
                  </a:rPr>
                  <a:t> </a:t>
                </a:r>
              </a:p>
            </p:txBody>
          </p:sp>
        </mc:Fallback>
      </mc:AlternateContent>
      <p:grpSp>
        <p:nvGrpSpPr>
          <p:cNvPr id="4" name="グループ化 3"/>
          <p:cNvGrpSpPr/>
          <p:nvPr/>
        </p:nvGrpSpPr>
        <p:grpSpPr>
          <a:xfrm>
            <a:off x="1601967" y="1268976"/>
            <a:ext cx="990011" cy="720008"/>
            <a:chOff x="6369707" y="1718772"/>
            <a:chExt cx="1441450" cy="1085855"/>
          </a:xfrm>
        </p:grpSpPr>
        <p:sp>
          <p:nvSpPr>
            <p:cNvPr id="5"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400"/>
            </a:p>
          </p:txBody>
        </p:sp>
        <p:sp>
          <p:nvSpPr>
            <p:cNvPr id="6"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400"/>
            </a:p>
          </p:txBody>
        </p:sp>
        <p:sp>
          <p:nvSpPr>
            <p:cNvPr id="7" name="Rectangle 7"/>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sz="1400" i="1" dirty="0"/>
                <a:t>q</a:t>
              </a:r>
              <a:endParaRPr lang="en-US" altLang="ja-JP" sz="1400" dirty="0"/>
            </a:p>
          </p:txBody>
        </p:sp>
        <p:sp>
          <p:nvSpPr>
            <p:cNvPr id="8" name="Rectangle 8"/>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sz="1400" i="1" dirty="0"/>
                <a:t>d</a:t>
              </a:r>
              <a:endParaRPr lang="en-US" altLang="ja-JP" sz="1400" dirty="0"/>
            </a:p>
          </p:txBody>
        </p:sp>
        <p:sp>
          <p:nvSpPr>
            <p:cNvPr id="9"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400"/>
            </a:p>
          </p:txBody>
        </p:sp>
        <p:sp>
          <p:nvSpPr>
            <p:cNvPr id="10"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400"/>
            </a:p>
          </p:txBody>
        </p:sp>
        <p:sp>
          <p:nvSpPr>
            <p:cNvPr id="11" name="Rectangle 11"/>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sz="1400" i="1" dirty="0"/>
                <a:t>clk</a:t>
              </a:r>
              <a:endParaRPr lang="en-US" altLang="ja-JP" sz="1400" dirty="0"/>
            </a:p>
          </p:txBody>
        </p:sp>
      </p:grpSp>
      <p:sp>
        <p:nvSpPr>
          <p:cNvPr id="21" name="Line 9"/>
          <p:cNvSpPr>
            <a:spLocks noChangeShapeType="1"/>
          </p:cNvSpPr>
          <p:nvPr/>
        </p:nvSpPr>
        <p:spPr bwMode="auto">
          <a:xfrm>
            <a:off x="2501977" y="1808982"/>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22" name="Line 9"/>
          <p:cNvSpPr>
            <a:spLocks noChangeShapeType="1"/>
          </p:cNvSpPr>
          <p:nvPr/>
        </p:nvSpPr>
        <p:spPr bwMode="auto">
          <a:xfrm>
            <a:off x="2591978" y="4689014"/>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pic>
        <p:nvPicPr>
          <p:cNvPr id="23" name="Picture 30" descr="NOT"/>
          <p:cNvPicPr>
            <a:picLocks noChangeAspect="1" noChangeArrowheads="1"/>
          </p:cNvPicPr>
          <p:nvPr/>
        </p:nvPicPr>
        <p:blipFill>
          <a:blip r:embed="rId3" cstate="print"/>
          <a:srcRect/>
          <a:stretch>
            <a:fillRect/>
          </a:stretch>
        </p:blipFill>
        <p:spPr bwMode="auto">
          <a:xfrm rot="10800000" flipH="1">
            <a:off x="2861981" y="4329010"/>
            <a:ext cx="717550" cy="720725"/>
          </a:xfrm>
          <a:prstGeom prst="rect">
            <a:avLst/>
          </a:prstGeom>
          <a:noFill/>
        </p:spPr>
      </p:pic>
      <p:grpSp>
        <p:nvGrpSpPr>
          <p:cNvPr id="32" name="グループ化 31"/>
          <p:cNvGrpSpPr/>
          <p:nvPr/>
        </p:nvGrpSpPr>
        <p:grpSpPr>
          <a:xfrm>
            <a:off x="1601967" y="4509012"/>
            <a:ext cx="990011" cy="720008"/>
            <a:chOff x="6369707" y="1718772"/>
            <a:chExt cx="1441450" cy="1085855"/>
          </a:xfrm>
        </p:grpSpPr>
        <p:sp>
          <p:nvSpPr>
            <p:cNvPr id="33"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400"/>
            </a:p>
          </p:txBody>
        </p:sp>
        <p:sp>
          <p:nvSpPr>
            <p:cNvPr id="34"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400"/>
            </a:p>
          </p:txBody>
        </p:sp>
        <p:sp>
          <p:nvSpPr>
            <p:cNvPr id="35" name="Rectangle 7"/>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sz="1400" i="1" dirty="0"/>
                <a:t>q</a:t>
              </a:r>
              <a:endParaRPr lang="en-US" altLang="ja-JP" sz="1400" dirty="0"/>
            </a:p>
          </p:txBody>
        </p:sp>
        <p:sp>
          <p:nvSpPr>
            <p:cNvPr id="36" name="Rectangle 8"/>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sz="1400" i="1" dirty="0"/>
                <a:t>d</a:t>
              </a:r>
              <a:endParaRPr lang="en-US" altLang="ja-JP" sz="1400" dirty="0"/>
            </a:p>
          </p:txBody>
        </p:sp>
        <p:sp>
          <p:nvSpPr>
            <p:cNvPr id="37"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400"/>
            </a:p>
          </p:txBody>
        </p:sp>
        <p:sp>
          <p:nvSpPr>
            <p:cNvPr id="38"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400"/>
            </a:p>
          </p:txBody>
        </p:sp>
        <p:sp>
          <p:nvSpPr>
            <p:cNvPr id="39" name="Rectangle 11"/>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sz="1400" i="1" dirty="0"/>
                <a:t>clk</a:t>
              </a:r>
              <a:endParaRPr lang="en-US" altLang="ja-JP" sz="1400" dirty="0"/>
            </a:p>
          </p:txBody>
        </p:sp>
      </p:grpSp>
      <p:grpSp>
        <p:nvGrpSpPr>
          <p:cNvPr id="40" name="グループ化 39"/>
          <p:cNvGrpSpPr/>
          <p:nvPr/>
        </p:nvGrpSpPr>
        <p:grpSpPr>
          <a:xfrm>
            <a:off x="6012016" y="1448978"/>
            <a:ext cx="990011" cy="720008"/>
            <a:chOff x="6369707" y="1718772"/>
            <a:chExt cx="1441450" cy="1085855"/>
          </a:xfrm>
        </p:grpSpPr>
        <p:sp>
          <p:nvSpPr>
            <p:cNvPr id="41"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400"/>
            </a:p>
          </p:txBody>
        </p:sp>
        <p:sp>
          <p:nvSpPr>
            <p:cNvPr id="42"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400"/>
            </a:p>
          </p:txBody>
        </p:sp>
        <p:sp>
          <p:nvSpPr>
            <p:cNvPr id="43" name="Rectangle 7"/>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sz="1400" i="1" dirty="0"/>
                <a:t>q</a:t>
              </a:r>
              <a:endParaRPr lang="en-US" altLang="ja-JP" sz="1400" dirty="0"/>
            </a:p>
          </p:txBody>
        </p:sp>
        <p:sp>
          <p:nvSpPr>
            <p:cNvPr id="44" name="Rectangle 8"/>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sz="1400" i="1" dirty="0"/>
                <a:t>d</a:t>
              </a:r>
              <a:endParaRPr lang="en-US" altLang="ja-JP" sz="1400" dirty="0"/>
            </a:p>
          </p:txBody>
        </p:sp>
        <p:sp>
          <p:nvSpPr>
            <p:cNvPr id="45"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400"/>
            </a:p>
          </p:txBody>
        </p:sp>
        <p:sp>
          <p:nvSpPr>
            <p:cNvPr id="46"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400"/>
            </a:p>
          </p:txBody>
        </p:sp>
        <p:sp>
          <p:nvSpPr>
            <p:cNvPr id="47" name="Rectangle 11"/>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sz="1400" i="1" dirty="0"/>
                <a:t>clk</a:t>
              </a:r>
              <a:endParaRPr lang="en-US" altLang="ja-JP" sz="1400" dirty="0"/>
            </a:p>
          </p:txBody>
        </p:sp>
      </p:grpSp>
      <p:grpSp>
        <p:nvGrpSpPr>
          <p:cNvPr id="56" name="グループ化 55"/>
          <p:cNvGrpSpPr/>
          <p:nvPr/>
        </p:nvGrpSpPr>
        <p:grpSpPr>
          <a:xfrm>
            <a:off x="6102017" y="4509012"/>
            <a:ext cx="990011" cy="720008"/>
            <a:chOff x="6369707" y="1718772"/>
            <a:chExt cx="1441450" cy="1085855"/>
          </a:xfrm>
        </p:grpSpPr>
        <p:sp>
          <p:nvSpPr>
            <p:cNvPr id="57"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400"/>
            </a:p>
          </p:txBody>
        </p:sp>
        <p:sp>
          <p:nvSpPr>
            <p:cNvPr id="58"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400"/>
            </a:p>
          </p:txBody>
        </p:sp>
        <p:sp>
          <p:nvSpPr>
            <p:cNvPr id="59" name="Rectangle 7"/>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sz="1400" i="1" dirty="0"/>
                <a:t>q</a:t>
              </a:r>
              <a:endParaRPr lang="en-US" altLang="ja-JP" sz="1400" dirty="0"/>
            </a:p>
          </p:txBody>
        </p:sp>
        <p:sp>
          <p:nvSpPr>
            <p:cNvPr id="60" name="Rectangle 8"/>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sz="1400" i="1" dirty="0"/>
                <a:t>d</a:t>
              </a:r>
              <a:endParaRPr lang="en-US" altLang="ja-JP" sz="1400" dirty="0"/>
            </a:p>
          </p:txBody>
        </p:sp>
        <p:sp>
          <p:nvSpPr>
            <p:cNvPr id="61"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400"/>
            </a:p>
          </p:txBody>
        </p:sp>
        <p:sp>
          <p:nvSpPr>
            <p:cNvPr id="62"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400"/>
            </a:p>
          </p:txBody>
        </p:sp>
        <p:sp>
          <p:nvSpPr>
            <p:cNvPr id="63" name="Rectangle 11"/>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sz="1400" i="1" dirty="0"/>
                <a:t>clk</a:t>
              </a:r>
              <a:endParaRPr lang="en-US" altLang="ja-JP" sz="1400" dirty="0"/>
            </a:p>
          </p:txBody>
        </p:sp>
      </p:grpSp>
      <p:sp>
        <p:nvSpPr>
          <p:cNvPr id="65" name="Line 9"/>
          <p:cNvSpPr>
            <a:spLocks noChangeShapeType="1"/>
          </p:cNvSpPr>
          <p:nvPr/>
        </p:nvSpPr>
        <p:spPr bwMode="auto">
          <a:xfrm>
            <a:off x="3491988" y="4689014"/>
            <a:ext cx="2610029"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66" name="Line 9"/>
          <p:cNvSpPr>
            <a:spLocks noChangeShapeType="1"/>
          </p:cNvSpPr>
          <p:nvPr/>
        </p:nvSpPr>
        <p:spPr bwMode="auto">
          <a:xfrm>
            <a:off x="2591978" y="1448978"/>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67" name="Line 9"/>
          <p:cNvSpPr>
            <a:spLocks noChangeShapeType="1"/>
          </p:cNvSpPr>
          <p:nvPr/>
        </p:nvSpPr>
        <p:spPr bwMode="auto">
          <a:xfrm>
            <a:off x="3491988" y="1628980"/>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pic>
        <p:nvPicPr>
          <p:cNvPr id="12" name="Picture 83" descr="NAND"/>
          <p:cNvPicPr>
            <a:picLocks noChangeAspect="1" noChangeArrowheads="1"/>
          </p:cNvPicPr>
          <p:nvPr/>
        </p:nvPicPr>
        <p:blipFill>
          <a:blip r:embed="rId4" cstate="print"/>
          <a:srcRect/>
          <a:stretch>
            <a:fillRect/>
          </a:stretch>
        </p:blipFill>
        <p:spPr bwMode="auto">
          <a:xfrm>
            <a:off x="2771980" y="1268976"/>
            <a:ext cx="1079500" cy="720725"/>
          </a:xfrm>
          <a:prstGeom prst="rect">
            <a:avLst/>
          </a:prstGeom>
          <a:noFill/>
        </p:spPr>
      </p:pic>
      <p:sp>
        <p:nvSpPr>
          <p:cNvPr id="68" name="Line 9"/>
          <p:cNvSpPr>
            <a:spLocks noChangeShapeType="1"/>
          </p:cNvSpPr>
          <p:nvPr/>
        </p:nvSpPr>
        <p:spPr bwMode="auto">
          <a:xfrm>
            <a:off x="3491988" y="1988984"/>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70" name="Line 9"/>
          <p:cNvSpPr>
            <a:spLocks noChangeShapeType="1"/>
          </p:cNvSpPr>
          <p:nvPr/>
        </p:nvSpPr>
        <p:spPr bwMode="auto">
          <a:xfrm>
            <a:off x="4572000" y="1808982"/>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pic>
        <p:nvPicPr>
          <p:cNvPr id="71" name="Picture 7" descr="OR"/>
          <p:cNvPicPr>
            <a:picLocks noChangeAspect="1" noChangeArrowheads="1"/>
          </p:cNvPicPr>
          <p:nvPr/>
        </p:nvPicPr>
        <p:blipFill>
          <a:blip r:embed="rId5" cstate="print"/>
          <a:srcRect/>
          <a:stretch>
            <a:fillRect/>
          </a:stretch>
        </p:blipFill>
        <p:spPr bwMode="auto">
          <a:xfrm>
            <a:off x="3761991" y="1448978"/>
            <a:ext cx="1079500" cy="717550"/>
          </a:xfrm>
          <a:prstGeom prst="rect">
            <a:avLst/>
          </a:prstGeom>
          <a:noFill/>
        </p:spPr>
      </p:pic>
      <p:sp>
        <p:nvSpPr>
          <p:cNvPr id="73" name="Line 9"/>
          <p:cNvSpPr>
            <a:spLocks noChangeShapeType="1"/>
          </p:cNvSpPr>
          <p:nvPr/>
        </p:nvSpPr>
        <p:spPr bwMode="auto">
          <a:xfrm>
            <a:off x="5652012" y="1628980"/>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pic>
        <p:nvPicPr>
          <p:cNvPr id="72" name="Picture 6" descr="AND"/>
          <p:cNvPicPr>
            <a:picLocks noChangeAspect="1" noChangeArrowheads="1"/>
          </p:cNvPicPr>
          <p:nvPr/>
        </p:nvPicPr>
        <p:blipFill>
          <a:blip r:embed="rId6" cstate="print"/>
          <a:srcRect/>
          <a:stretch>
            <a:fillRect/>
          </a:stretch>
        </p:blipFill>
        <p:spPr bwMode="auto">
          <a:xfrm>
            <a:off x="4932004" y="1268976"/>
            <a:ext cx="1079500" cy="720725"/>
          </a:xfrm>
          <a:prstGeom prst="rect">
            <a:avLst/>
          </a:prstGeom>
          <a:noFill/>
        </p:spPr>
      </p:pic>
      <p:sp>
        <p:nvSpPr>
          <p:cNvPr id="74" name="Line 9"/>
          <p:cNvSpPr>
            <a:spLocks noChangeShapeType="1"/>
          </p:cNvSpPr>
          <p:nvPr/>
        </p:nvSpPr>
        <p:spPr bwMode="auto">
          <a:xfrm>
            <a:off x="4572000" y="1448978"/>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mc:AlternateContent xmlns:mc="http://schemas.openxmlformats.org/markup-compatibility/2006" xmlns:a14="http://schemas.microsoft.com/office/drawing/2010/main">
        <mc:Choice Requires="a14">
          <p:sp>
            <p:nvSpPr>
              <p:cNvPr id="75" name="テキスト プレースホルダー 2"/>
              <p:cNvSpPr txBox="1">
                <a:spLocks/>
              </p:cNvSpPr>
              <p:nvPr/>
            </p:nvSpPr>
            <p:spPr bwMode="auto">
              <a:xfrm>
                <a:off x="431954" y="5769026"/>
                <a:ext cx="8280092" cy="539699"/>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kern="0" dirty="0"/>
                  <a:t>左側の </a:t>
                </a:r>
                <a:r>
                  <a:rPr lang="en-US" altLang="ja-JP" kern="0" dirty="0"/>
                  <a:t>D-FF </a:t>
                </a:r>
                <a:r>
                  <a:rPr lang="ja-JP" altLang="en-US" kern="0" dirty="0"/>
                  <a:t>から１つのゲートだけを経て右の </a:t>
                </a:r>
                <a:r>
                  <a:rPr lang="en-US" altLang="ja-JP" kern="0" dirty="0"/>
                  <a:t>D-FF </a:t>
                </a:r>
                <a:r>
                  <a:rPr lang="ja-JP" altLang="en-US" kern="0" dirty="0"/>
                  <a:t>に接続</a:t>
                </a:r>
                <a:r>
                  <a:rPr lang="ja-JP" altLang="en-US" dirty="0"/>
                  <a:t>（速い）</a:t>
                </a:r>
                <a:endParaRPr lang="en-US" altLang="ja-JP" kern="0" dirty="0"/>
              </a:p>
              <a:p>
                <a:pPr lvl="1"/>
                <a14:m>
                  <m:oMath xmlns:m="http://schemas.openxmlformats.org/officeDocument/2006/math">
                    <m:r>
                      <a:rPr lang="en-US" altLang="ja-JP" i="1" kern="0" dirty="0">
                        <a:latin typeface="Cambria Math" panose="02040503050406030204" pitchFamily="18" charset="0"/>
                      </a:rPr>
                      <m:t>𝑞</m:t>
                    </m:r>
                    <m:r>
                      <a:rPr lang="en-US" altLang="ja-JP" i="1" kern="0" dirty="0">
                        <a:latin typeface="Cambria Math" panose="02040503050406030204" pitchFamily="18" charset="0"/>
                      </a:rPr>
                      <m:t> </m:t>
                    </m:r>
                  </m:oMath>
                </a14:m>
                <a:r>
                  <a:rPr lang="ja-JP" altLang="en-US" kern="0" dirty="0"/>
                  <a:t>が切り替わると，１回だけスイッチ（充放電）が行われて，</a:t>
                </a:r>
                <a:endParaRPr lang="en-US" altLang="ja-JP" kern="0" dirty="0"/>
              </a:p>
              <a:p>
                <a:pPr lvl="1"/>
                <a:r>
                  <a:rPr lang="ja-JP" altLang="en-US" kern="0" dirty="0"/>
                  <a:t>右側の </a:t>
                </a:r>
                <a14:m>
                  <m:oMath xmlns:m="http://schemas.openxmlformats.org/officeDocument/2006/math">
                    <m:r>
                      <a:rPr lang="en-US" altLang="ja-JP" i="1" kern="0" dirty="0" smtClean="0">
                        <a:latin typeface="Cambria Math" panose="02040503050406030204" pitchFamily="18" charset="0"/>
                      </a:rPr>
                      <m:t>𝑑</m:t>
                    </m:r>
                  </m:oMath>
                </a14:m>
                <a:r>
                  <a:rPr lang="en-US" altLang="ja-JP" kern="0" dirty="0"/>
                  <a:t> </a:t>
                </a:r>
                <a:r>
                  <a:rPr lang="ja-JP" altLang="en-US" kern="0" dirty="0"/>
                  <a:t>に伝わる</a:t>
                </a:r>
              </a:p>
            </p:txBody>
          </p:sp>
        </mc:Choice>
        <mc:Fallback xmlns="">
          <p:sp>
            <p:nvSpPr>
              <p:cNvPr id="75" name="テキスト プレースホルダー 2"/>
              <p:cNvSpPr txBox="1">
                <a:spLocks noRot="1" noChangeAspect="1" noMove="1" noResize="1" noEditPoints="1" noAdjustHandles="1" noChangeArrowheads="1" noChangeShapeType="1" noTextEdit="1"/>
              </p:cNvSpPr>
              <p:nvPr/>
            </p:nvSpPr>
            <p:spPr bwMode="auto">
              <a:xfrm>
                <a:off x="431954" y="5769026"/>
                <a:ext cx="8280092" cy="539699"/>
              </a:xfrm>
              <a:prstGeom prst="rect">
                <a:avLst/>
              </a:prstGeom>
              <a:blipFill rotWithShape="0">
                <a:blip r:embed="rId7"/>
                <a:stretch>
                  <a:fillRect l="-663" t="-74157" r="-295" b="-96629"/>
                </a:stretch>
              </a:blipFill>
              <a:ln w="9525">
                <a:noFill/>
                <a:miter lim="800000"/>
                <a:headEnd/>
                <a:tailEnd/>
              </a:ln>
              <a:effectLst/>
            </p:spPr>
            <p:txBody>
              <a:bodyPr/>
              <a:lstStyle/>
              <a:p>
                <a:r>
                  <a:rPr lang="ja-JP" altLang="en-US">
                    <a:noFill/>
                  </a:rPr>
                  <a:t> </a:t>
                </a:r>
              </a:p>
            </p:txBody>
          </p:sp>
        </mc:Fallback>
      </mc:AlternateContent>
    </p:spTree>
    <p:extLst>
      <p:ext uri="{BB962C8B-B14F-4D97-AF65-F5344CB8AC3E}">
        <p14:creationId xmlns:p14="http://schemas.microsoft.com/office/powerpoint/2010/main" val="239029777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余談：</a:t>
            </a:r>
            <a:r>
              <a:rPr kumimoji="1" lang="en-US" altLang="ja-JP" dirty="0"/>
              <a:t>DVFS (Dynamic Voltage Frequency Scaling)</a:t>
            </a:r>
            <a:endParaRPr kumimoji="1" lang="ja-JP" altLang="en-US" dirty="0"/>
          </a:p>
        </p:txBody>
      </p:sp>
      <p:sp>
        <p:nvSpPr>
          <p:cNvPr id="3" name="テキスト プレースホルダー 2"/>
          <p:cNvSpPr>
            <a:spLocks noGrp="1"/>
          </p:cNvSpPr>
          <p:nvPr>
            <p:ph type="body" sz="quarter" idx="10"/>
          </p:nvPr>
        </p:nvSpPr>
        <p:spPr>
          <a:xfrm>
            <a:off x="611956" y="5499023"/>
            <a:ext cx="8280092" cy="809702"/>
          </a:xfrm>
        </p:spPr>
        <p:txBody>
          <a:bodyPr/>
          <a:lstStyle/>
          <a:p>
            <a:r>
              <a:rPr kumimoji="1" lang="en-US" altLang="ja-JP" dirty="0"/>
              <a:t>CPU </a:t>
            </a:r>
            <a:r>
              <a:rPr kumimoji="1" lang="ja-JP" altLang="en-US" dirty="0"/>
              <a:t>は通常，負荷に応じて動作周波数を変えている</a:t>
            </a:r>
            <a:endParaRPr kumimoji="1" lang="en-US" altLang="ja-JP" dirty="0"/>
          </a:p>
          <a:p>
            <a:pPr lvl="1"/>
            <a:r>
              <a:rPr kumimoji="1" lang="ja-JP" altLang="en-US" dirty="0"/>
              <a:t>消費電力削減のため</a:t>
            </a:r>
            <a:endParaRPr kumimoji="1" lang="en-US" altLang="ja-JP" dirty="0"/>
          </a:p>
          <a:p>
            <a:pPr lvl="1"/>
            <a:r>
              <a:rPr kumimoji="1" lang="ja-JP" altLang="en-US" dirty="0">
                <a:solidFill>
                  <a:schemeClr val="accent5"/>
                </a:solidFill>
              </a:rPr>
              <a:t>この時，電圧も同時に操作している</a:t>
            </a:r>
          </a:p>
        </p:txBody>
      </p:sp>
      <p:pic>
        <p:nvPicPr>
          <p:cNvPr id="4" name="図 3"/>
          <p:cNvPicPr>
            <a:picLocks noChangeAspect="1"/>
          </p:cNvPicPr>
          <p:nvPr/>
        </p:nvPicPr>
        <p:blipFill>
          <a:blip r:embed="rId2"/>
          <a:stretch>
            <a:fillRect/>
          </a:stretch>
        </p:blipFill>
        <p:spPr>
          <a:xfrm>
            <a:off x="521955" y="1178975"/>
            <a:ext cx="3698802" cy="3870043"/>
          </a:xfrm>
          <a:prstGeom prst="rect">
            <a:avLst/>
          </a:prstGeom>
        </p:spPr>
      </p:pic>
      <p:pic>
        <p:nvPicPr>
          <p:cNvPr id="5" name="図 4"/>
          <p:cNvPicPr>
            <a:picLocks noChangeAspect="1"/>
          </p:cNvPicPr>
          <p:nvPr/>
        </p:nvPicPr>
        <p:blipFill>
          <a:blip r:embed="rId3"/>
          <a:stretch>
            <a:fillRect/>
          </a:stretch>
        </p:blipFill>
        <p:spPr>
          <a:xfrm>
            <a:off x="4752002" y="1178975"/>
            <a:ext cx="3780042" cy="3933287"/>
          </a:xfrm>
          <a:prstGeom prst="rect">
            <a:avLst/>
          </a:prstGeom>
        </p:spPr>
      </p:pic>
      <p:sp>
        <p:nvSpPr>
          <p:cNvPr id="6" name="円/楕円 5"/>
          <p:cNvSpPr/>
          <p:nvPr/>
        </p:nvSpPr>
        <p:spPr bwMode="auto">
          <a:xfrm>
            <a:off x="971960" y="3519001"/>
            <a:ext cx="990011" cy="540006"/>
          </a:xfrm>
          <a:prstGeom prst="ellipse">
            <a:avLst/>
          </a:prstGeom>
          <a:noFill/>
          <a:ln w="31750">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 name="円/楕円 6"/>
          <p:cNvSpPr/>
          <p:nvPr/>
        </p:nvSpPr>
        <p:spPr bwMode="auto">
          <a:xfrm>
            <a:off x="5292008" y="3519001"/>
            <a:ext cx="990011" cy="540006"/>
          </a:xfrm>
          <a:prstGeom prst="ellipse">
            <a:avLst/>
          </a:prstGeom>
          <a:noFill/>
          <a:ln w="31750">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32108718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電圧と遅延</a:t>
            </a:r>
          </a:p>
        </p:txBody>
      </p:sp>
      <p:sp>
        <p:nvSpPr>
          <p:cNvPr id="3" name="テキスト プレースホルダー 2"/>
          <p:cNvSpPr>
            <a:spLocks noGrp="1"/>
          </p:cNvSpPr>
          <p:nvPr>
            <p:ph type="body" sz="quarter" idx="10"/>
          </p:nvPr>
        </p:nvSpPr>
        <p:spPr>
          <a:xfrm>
            <a:off x="611956" y="4779015"/>
            <a:ext cx="8280092" cy="1079705"/>
          </a:xfrm>
        </p:spPr>
        <p:txBody>
          <a:bodyPr/>
          <a:lstStyle/>
          <a:p>
            <a:r>
              <a:rPr lang="en-US" altLang="ja-JP" dirty="0"/>
              <a:t>Gate </a:t>
            </a:r>
            <a:r>
              <a:rPr lang="ja-JP" altLang="en-US" dirty="0"/>
              <a:t>にかける電圧を上げると，より高速に動作する</a:t>
            </a:r>
            <a:endParaRPr lang="en-US" altLang="ja-JP" dirty="0"/>
          </a:p>
          <a:p>
            <a:pPr lvl="1"/>
            <a:r>
              <a:rPr kumimoji="1" lang="ja-JP" altLang="en-US" dirty="0"/>
              <a:t>よりたくさん電子が上に集まる</a:t>
            </a:r>
            <a:endParaRPr kumimoji="1" lang="en-US" altLang="ja-JP" dirty="0"/>
          </a:p>
          <a:p>
            <a:pPr lvl="1"/>
            <a:r>
              <a:rPr kumimoji="1" lang="ja-JP" altLang="en-US" dirty="0"/>
              <a:t>チャネルが厚くなり，電流が流れやすくなる</a:t>
            </a:r>
            <a:endParaRPr kumimoji="1" lang="en-US" altLang="ja-JP" dirty="0"/>
          </a:p>
          <a:p>
            <a:pPr lvl="1"/>
            <a:r>
              <a:rPr kumimoji="1" lang="ja-JP" altLang="en-US" dirty="0"/>
              <a:t>次段のコンデンサの充放電が速くなる</a:t>
            </a:r>
          </a:p>
        </p:txBody>
      </p:sp>
      <p:sp>
        <p:nvSpPr>
          <p:cNvPr id="4" name="Freeform 9"/>
          <p:cNvSpPr>
            <a:spLocks/>
          </p:cNvSpPr>
          <p:nvPr/>
        </p:nvSpPr>
        <p:spPr bwMode="auto">
          <a:xfrm>
            <a:off x="4212184" y="1268874"/>
            <a:ext cx="720750" cy="719137"/>
          </a:xfrm>
          <a:custGeom>
            <a:avLst/>
            <a:gdLst/>
            <a:ahLst/>
            <a:cxnLst>
              <a:cxn ang="0">
                <a:pos x="0" y="453"/>
              </a:cxn>
              <a:cxn ang="0">
                <a:pos x="511" y="453"/>
              </a:cxn>
              <a:cxn ang="0">
                <a:pos x="454" y="0"/>
              </a:cxn>
              <a:cxn ang="0">
                <a:pos x="57" y="0"/>
              </a:cxn>
              <a:cxn ang="0">
                <a:pos x="0" y="453"/>
              </a:cxn>
            </a:cxnLst>
            <a:rect l="0" t="0" r="r" b="b"/>
            <a:pathLst>
              <a:path w="511" h="453">
                <a:moveTo>
                  <a:pt x="0" y="453"/>
                </a:moveTo>
                <a:lnTo>
                  <a:pt x="511" y="453"/>
                </a:lnTo>
                <a:lnTo>
                  <a:pt x="454" y="0"/>
                </a:lnTo>
                <a:lnTo>
                  <a:pt x="57" y="0"/>
                </a:lnTo>
                <a:lnTo>
                  <a:pt x="0" y="453"/>
                </a:lnTo>
                <a:close/>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latin typeface="+mn-lt"/>
            </a:endParaRPr>
          </a:p>
        </p:txBody>
      </p:sp>
      <p:sp>
        <p:nvSpPr>
          <p:cNvPr id="5" name="正方形/長方形 4"/>
          <p:cNvSpPr/>
          <p:nvPr/>
        </p:nvSpPr>
        <p:spPr bwMode="auto">
          <a:xfrm>
            <a:off x="3131984" y="1988984"/>
            <a:ext cx="2880384" cy="270036"/>
          </a:xfrm>
          <a:prstGeom prst="rect">
            <a:avLst/>
          </a:prstGeom>
          <a:ln>
            <a:headEnd type="none" w="med" len="med"/>
            <a:tailEnd type="none" w="med" len="med"/>
          </a:ln>
        </p:spPr>
        <p:style>
          <a:lnRef idx="1">
            <a:schemeClr val="dk1"/>
          </a:lnRef>
          <a:fillRef idx="2">
            <a:schemeClr val="dk1"/>
          </a:fillRef>
          <a:effectRef idx="1">
            <a:schemeClr val="dk1"/>
          </a:effectRef>
          <a:fontRef idx="minor">
            <a:schemeClr val="dk1"/>
          </a:fontRef>
        </p:style>
        <p:txBody>
          <a:bodyPr vert="horz" wrap="none" lIns="36000" tIns="0" rIns="36000" bIns="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dirty="0">
              <a:ln>
                <a:noFill/>
              </a:ln>
              <a:solidFill>
                <a:schemeClr val="tx1"/>
              </a:solidFill>
              <a:effectLst/>
            </a:endParaRPr>
          </a:p>
        </p:txBody>
      </p:sp>
      <p:sp>
        <p:nvSpPr>
          <p:cNvPr id="6" name="Rectangle 8"/>
          <p:cNvSpPr>
            <a:spLocks noChangeArrowheads="1"/>
          </p:cNvSpPr>
          <p:nvPr/>
        </p:nvSpPr>
        <p:spPr bwMode="auto">
          <a:xfrm>
            <a:off x="3132014" y="2258691"/>
            <a:ext cx="2879725" cy="1439862"/>
          </a:xfrm>
          <a:prstGeom prst="rect">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latin typeface="+mn-lt"/>
            </a:endParaRPr>
          </a:p>
        </p:txBody>
      </p:sp>
      <p:sp>
        <p:nvSpPr>
          <p:cNvPr id="7" name="Freeform 6"/>
          <p:cNvSpPr>
            <a:spLocks/>
          </p:cNvSpPr>
          <p:nvPr/>
        </p:nvSpPr>
        <p:spPr bwMode="auto">
          <a:xfrm>
            <a:off x="3132014" y="2258691"/>
            <a:ext cx="720725" cy="719137"/>
          </a:xfrm>
          <a:custGeom>
            <a:avLst/>
            <a:gdLst/>
            <a:ahLst/>
            <a:cxnLst>
              <a:cxn ang="0">
                <a:pos x="0" y="0"/>
              </a:cxn>
              <a:cxn ang="0">
                <a:pos x="454" y="0"/>
              </a:cxn>
              <a:cxn ang="0">
                <a:pos x="227" y="453"/>
              </a:cxn>
              <a:cxn ang="0">
                <a:pos x="0" y="453"/>
              </a:cxn>
            </a:cxnLst>
            <a:rect l="0" t="0" r="r" b="b"/>
            <a:pathLst>
              <a:path w="454" h="453">
                <a:moveTo>
                  <a:pt x="0" y="0"/>
                </a:moveTo>
                <a:lnTo>
                  <a:pt x="454" y="0"/>
                </a:lnTo>
                <a:lnTo>
                  <a:pt x="227" y="453"/>
                </a:lnTo>
                <a:lnTo>
                  <a:pt x="0" y="453"/>
                </a:lnTo>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latin typeface="+mn-lt"/>
            </a:endParaRPr>
          </a:p>
        </p:txBody>
      </p:sp>
      <p:sp>
        <p:nvSpPr>
          <p:cNvPr id="8" name="Freeform 7"/>
          <p:cNvSpPr>
            <a:spLocks/>
          </p:cNvSpPr>
          <p:nvPr/>
        </p:nvSpPr>
        <p:spPr bwMode="auto">
          <a:xfrm flipH="1">
            <a:off x="5292602" y="2258691"/>
            <a:ext cx="720725" cy="719137"/>
          </a:xfrm>
          <a:custGeom>
            <a:avLst/>
            <a:gdLst/>
            <a:ahLst/>
            <a:cxnLst>
              <a:cxn ang="0">
                <a:pos x="0" y="0"/>
              </a:cxn>
              <a:cxn ang="0">
                <a:pos x="454" y="0"/>
              </a:cxn>
              <a:cxn ang="0">
                <a:pos x="227" y="453"/>
              </a:cxn>
              <a:cxn ang="0">
                <a:pos x="0" y="453"/>
              </a:cxn>
            </a:cxnLst>
            <a:rect l="0" t="0" r="r" b="b"/>
            <a:pathLst>
              <a:path w="454" h="453">
                <a:moveTo>
                  <a:pt x="0" y="0"/>
                </a:moveTo>
                <a:lnTo>
                  <a:pt x="454" y="0"/>
                </a:lnTo>
                <a:lnTo>
                  <a:pt x="227" y="453"/>
                </a:lnTo>
                <a:lnTo>
                  <a:pt x="0" y="453"/>
                </a:lnTo>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latin typeface="+mn-lt"/>
            </a:endParaRPr>
          </a:p>
        </p:txBody>
      </p:sp>
      <p:sp>
        <p:nvSpPr>
          <p:cNvPr id="9" name="Line 10"/>
          <p:cNvSpPr>
            <a:spLocks noChangeShapeType="1"/>
          </p:cNvSpPr>
          <p:nvPr/>
        </p:nvSpPr>
        <p:spPr bwMode="auto">
          <a:xfrm>
            <a:off x="3131984" y="1988984"/>
            <a:ext cx="2879725" cy="0"/>
          </a:xfrm>
          <a:prstGeom prst="line">
            <a:avLst/>
          </a:prstGeom>
          <a:noFill/>
          <a:ln w="19050">
            <a:solidFill>
              <a:schemeClr val="tx1"/>
            </a:solidFill>
            <a:round/>
            <a:headEnd/>
            <a:tailEnd/>
          </a:ln>
          <a:effectLst/>
        </p:spPr>
        <p:txBody>
          <a:bodyPr/>
          <a:lstStyle/>
          <a:p>
            <a:endParaRPr lang="ja-JP" altLang="en-US">
              <a:latin typeface="+mn-lt"/>
            </a:endParaRPr>
          </a:p>
        </p:txBody>
      </p:sp>
      <p:sp>
        <p:nvSpPr>
          <p:cNvPr id="10" name="Line 11"/>
          <p:cNvSpPr>
            <a:spLocks noChangeShapeType="1"/>
          </p:cNvSpPr>
          <p:nvPr/>
        </p:nvSpPr>
        <p:spPr bwMode="auto">
          <a:xfrm>
            <a:off x="3132014" y="3698553"/>
            <a:ext cx="2879725" cy="0"/>
          </a:xfrm>
          <a:prstGeom prst="line">
            <a:avLst/>
          </a:prstGeom>
          <a:noFill/>
          <a:ln w="19050">
            <a:solidFill>
              <a:schemeClr val="tx1"/>
            </a:solidFill>
            <a:round/>
            <a:headEnd/>
            <a:tailEnd/>
          </a:ln>
          <a:effectLst/>
        </p:spPr>
        <p:txBody>
          <a:bodyPr/>
          <a:lstStyle/>
          <a:p>
            <a:endParaRPr lang="ja-JP" altLang="en-US">
              <a:latin typeface="+mn-lt"/>
            </a:endParaRPr>
          </a:p>
        </p:txBody>
      </p:sp>
      <p:sp>
        <p:nvSpPr>
          <p:cNvPr id="11" name="Rectangle 12"/>
          <p:cNvSpPr>
            <a:spLocks noChangeArrowheads="1"/>
          </p:cNvSpPr>
          <p:nvPr/>
        </p:nvSpPr>
        <p:spPr bwMode="auto">
          <a:xfrm>
            <a:off x="3132014" y="2439666"/>
            <a:ext cx="360363" cy="358775"/>
          </a:xfrm>
          <a:prstGeom prst="rect">
            <a:avLst/>
          </a:prstGeom>
          <a:noFill/>
          <a:ln w="9525">
            <a:noFill/>
            <a:miter lim="800000"/>
            <a:headEnd/>
            <a:tailEnd/>
          </a:ln>
          <a:effectLst/>
        </p:spPr>
        <p:txBody>
          <a:bodyPr wrap="none" anchor="ctr"/>
          <a:lstStyle/>
          <a:p>
            <a:pPr algn="ctr"/>
            <a:r>
              <a:rPr lang="en-US" altLang="ja-JP" baseline="0">
                <a:latin typeface="+mn-lt"/>
              </a:rPr>
              <a:t>S</a:t>
            </a:r>
          </a:p>
        </p:txBody>
      </p:sp>
      <p:sp>
        <p:nvSpPr>
          <p:cNvPr id="12" name="Rectangle 15"/>
          <p:cNvSpPr>
            <a:spLocks noChangeArrowheads="1"/>
          </p:cNvSpPr>
          <p:nvPr/>
        </p:nvSpPr>
        <p:spPr bwMode="auto">
          <a:xfrm>
            <a:off x="5652964" y="2439666"/>
            <a:ext cx="360363" cy="358775"/>
          </a:xfrm>
          <a:prstGeom prst="rect">
            <a:avLst/>
          </a:prstGeom>
          <a:noFill/>
          <a:ln w="9525">
            <a:noFill/>
            <a:miter lim="800000"/>
            <a:headEnd/>
            <a:tailEnd/>
          </a:ln>
          <a:effectLst/>
        </p:spPr>
        <p:txBody>
          <a:bodyPr wrap="none" anchor="ctr"/>
          <a:lstStyle/>
          <a:p>
            <a:pPr algn="ctr"/>
            <a:r>
              <a:rPr lang="en-US" altLang="ja-JP" baseline="0">
                <a:latin typeface="+mn-lt"/>
              </a:rPr>
              <a:t>D</a:t>
            </a:r>
          </a:p>
        </p:txBody>
      </p:sp>
      <p:sp>
        <p:nvSpPr>
          <p:cNvPr id="13" name="Rectangle 16"/>
          <p:cNvSpPr>
            <a:spLocks noChangeArrowheads="1"/>
          </p:cNvSpPr>
          <p:nvPr/>
        </p:nvSpPr>
        <p:spPr bwMode="auto">
          <a:xfrm>
            <a:off x="4393158" y="1448261"/>
            <a:ext cx="360363" cy="358775"/>
          </a:xfrm>
          <a:prstGeom prst="rect">
            <a:avLst/>
          </a:prstGeom>
          <a:noFill/>
          <a:ln w="9525">
            <a:noFill/>
            <a:miter lim="800000"/>
            <a:headEnd/>
            <a:tailEnd/>
          </a:ln>
          <a:effectLst/>
        </p:spPr>
        <p:txBody>
          <a:bodyPr wrap="none" anchor="ctr"/>
          <a:lstStyle/>
          <a:p>
            <a:pPr algn="ctr"/>
            <a:r>
              <a:rPr lang="en-US" altLang="ja-JP" baseline="0">
                <a:latin typeface="+mn-lt"/>
              </a:rPr>
              <a:t>G</a:t>
            </a:r>
          </a:p>
        </p:txBody>
      </p:sp>
      <p:cxnSp>
        <p:nvCxnSpPr>
          <p:cNvPr id="14" name="直線矢印コネクタ 13"/>
          <p:cNvCxnSpPr/>
          <p:nvPr/>
        </p:nvCxnSpPr>
        <p:spPr bwMode="auto">
          <a:xfrm>
            <a:off x="4212128" y="2619068"/>
            <a:ext cx="0" cy="720096"/>
          </a:xfrm>
          <a:prstGeom prst="straightConnector1">
            <a:avLst/>
          </a:prstGeom>
          <a:ln>
            <a:headEnd type="arrow"/>
            <a:tailEnd type="arrow"/>
          </a:ln>
        </p:spPr>
        <p:style>
          <a:lnRef idx="3">
            <a:schemeClr val="accent6"/>
          </a:lnRef>
          <a:fillRef idx="0">
            <a:schemeClr val="accent6"/>
          </a:fillRef>
          <a:effectRef idx="2">
            <a:schemeClr val="accent6"/>
          </a:effectRef>
          <a:fontRef idx="minor">
            <a:schemeClr val="tx1"/>
          </a:fontRef>
        </p:style>
      </p:cxnSp>
      <p:cxnSp>
        <p:nvCxnSpPr>
          <p:cNvPr id="15" name="直線矢印コネクタ 14"/>
          <p:cNvCxnSpPr/>
          <p:nvPr/>
        </p:nvCxnSpPr>
        <p:spPr bwMode="auto">
          <a:xfrm>
            <a:off x="4572176" y="2619068"/>
            <a:ext cx="0" cy="720096"/>
          </a:xfrm>
          <a:prstGeom prst="straightConnector1">
            <a:avLst/>
          </a:prstGeom>
          <a:ln>
            <a:headEnd type="arrow"/>
            <a:tailEnd type="arrow"/>
          </a:ln>
        </p:spPr>
        <p:style>
          <a:lnRef idx="3">
            <a:schemeClr val="accent6"/>
          </a:lnRef>
          <a:fillRef idx="0">
            <a:schemeClr val="accent6"/>
          </a:fillRef>
          <a:effectRef idx="2">
            <a:schemeClr val="accent6"/>
          </a:effectRef>
          <a:fontRef idx="minor">
            <a:schemeClr val="tx1"/>
          </a:fontRef>
        </p:style>
      </p:cxnSp>
      <p:cxnSp>
        <p:nvCxnSpPr>
          <p:cNvPr id="16" name="直線矢印コネクタ 15"/>
          <p:cNvCxnSpPr/>
          <p:nvPr/>
        </p:nvCxnSpPr>
        <p:spPr bwMode="auto">
          <a:xfrm>
            <a:off x="4932224" y="2619068"/>
            <a:ext cx="0" cy="720096"/>
          </a:xfrm>
          <a:prstGeom prst="straightConnector1">
            <a:avLst/>
          </a:prstGeom>
          <a:ln>
            <a:headEnd type="arrow"/>
            <a:tailEnd type="arrow"/>
          </a:ln>
        </p:spPr>
        <p:style>
          <a:lnRef idx="3">
            <a:schemeClr val="accent6"/>
          </a:lnRef>
          <a:fillRef idx="0">
            <a:schemeClr val="accent6"/>
          </a:fillRef>
          <a:effectRef idx="2">
            <a:schemeClr val="accent6"/>
          </a:effectRef>
          <a:fontRef idx="minor">
            <a:schemeClr val="tx1"/>
          </a:fontRef>
        </p:style>
      </p:cxnSp>
      <p:grpSp>
        <p:nvGrpSpPr>
          <p:cNvPr id="17" name="グループ化 16"/>
          <p:cNvGrpSpPr/>
          <p:nvPr/>
        </p:nvGrpSpPr>
        <p:grpSpPr>
          <a:xfrm>
            <a:off x="4122614" y="2888928"/>
            <a:ext cx="900113" cy="180975"/>
            <a:chOff x="1962150" y="5499100"/>
            <a:chExt cx="900113" cy="180975"/>
          </a:xfrm>
        </p:grpSpPr>
        <p:grpSp>
          <p:nvGrpSpPr>
            <p:cNvPr id="18" name="Group 19"/>
            <p:cNvGrpSpPr>
              <a:grpSpLocks/>
            </p:cNvGrpSpPr>
            <p:nvPr/>
          </p:nvGrpSpPr>
          <p:grpSpPr bwMode="auto">
            <a:xfrm>
              <a:off x="1962150" y="5499100"/>
              <a:ext cx="180975" cy="180975"/>
              <a:chOff x="2823" y="3464"/>
              <a:chExt cx="114" cy="114"/>
            </a:xfrm>
          </p:grpSpPr>
          <p:sp>
            <p:nvSpPr>
              <p:cNvPr id="25" name="Oval 17"/>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latin typeface="+mn-lt"/>
                </a:endParaRPr>
              </a:p>
            </p:txBody>
          </p:sp>
          <p:sp>
            <p:nvSpPr>
              <p:cNvPr id="26" name="Line 18"/>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latin typeface="+mn-lt"/>
                </a:endParaRPr>
              </a:p>
            </p:txBody>
          </p:sp>
        </p:grpSp>
        <p:grpSp>
          <p:nvGrpSpPr>
            <p:cNvPr id="19" name="Group 20"/>
            <p:cNvGrpSpPr>
              <a:grpSpLocks/>
            </p:cNvGrpSpPr>
            <p:nvPr/>
          </p:nvGrpSpPr>
          <p:grpSpPr bwMode="auto">
            <a:xfrm>
              <a:off x="2322513" y="5499100"/>
              <a:ext cx="180975" cy="180975"/>
              <a:chOff x="2823" y="3464"/>
              <a:chExt cx="114" cy="114"/>
            </a:xfrm>
          </p:grpSpPr>
          <p:sp>
            <p:nvSpPr>
              <p:cNvPr id="23" name="Oval 21"/>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latin typeface="+mn-lt"/>
                </a:endParaRPr>
              </a:p>
            </p:txBody>
          </p:sp>
          <p:sp>
            <p:nvSpPr>
              <p:cNvPr id="24" name="Line 22"/>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latin typeface="+mn-lt"/>
                </a:endParaRPr>
              </a:p>
            </p:txBody>
          </p:sp>
        </p:grpSp>
        <p:grpSp>
          <p:nvGrpSpPr>
            <p:cNvPr id="20" name="Group 23"/>
            <p:cNvGrpSpPr>
              <a:grpSpLocks/>
            </p:cNvGrpSpPr>
            <p:nvPr/>
          </p:nvGrpSpPr>
          <p:grpSpPr bwMode="auto">
            <a:xfrm>
              <a:off x="2681288" y="5499100"/>
              <a:ext cx="180975" cy="180975"/>
              <a:chOff x="2823" y="3464"/>
              <a:chExt cx="114" cy="114"/>
            </a:xfrm>
          </p:grpSpPr>
          <p:sp>
            <p:nvSpPr>
              <p:cNvPr id="21" name="Oval 24"/>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latin typeface="+mn-lt"/>
                </a:endParaRPr>
              </a:p>
            </p:txBody>
          </p:sp>
          <p:sp>
            <p:nvSpPr>
              <p:cNvPr id="22" name="Line 25"/>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latin typeface="+mn-lt"/>
                </a:endParaRPr>
              </a:p>
            </p:txBody>
          </p:sp>
        </p:grpSp>
      </p:grpSp>
    </p:spTree>
    <p:extLst>
      <p:ext uri="{BB962C8B-B14F-4D97-AF65-F5344CB8AC3E}">
        <p14:creationId xmlns:p14="http://schemas.microsoft.com/office/powerpoint/2010/main" val="4253063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0 -7.40741E-7 L 0 -0.05255 " pathEditMode="relative" rAng="0" ptsTypes="AA">
                                      <p:cBhvr>
                                        <p:cTn id="6" dur="2000" fill="hold"/>
                                        <p:tgtEl>
                                          <p:spTgt spid="17"/>
                                        </p:tgtEl>
                                        <p:attrNameLst>
                                          <p:attrName>ppt_x</p:attrName>
                                          <p:attrName>ppt_y</p:attrName>
                                        </p:attrNameLst>
                                      </p:cBhvr>
                                      <p:rCtr x="0" y="-263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消費エネルギー</a:t>
            </a:r>
          </a:p>
        </p:txBody>
      </p:sp>
      <mc:AlternateContent xmlns:mc="http://schemas.openxmlformats.org/markup-compatibility/2006" xmlns:a14="http://schemas.microsoft.com/office/drawing/2010/main">
        <mc:Choice Requires="a14">
          <p:sp>
            <p:nvSpPr>
              <p:cNvPr id="3" name="テキスト プレースホルダー 2"/>
              <p:cNvSpPr>
                <a:spLocks noGrp="1"/>
              </p:cNvSpPr>
              <p:nvPr>
                <p:ph type="body" sz="quarter" idx="10"/>
              </p:nvPr>
            </p:nvSpPr>
            <p:spPr>
              <a:xfrm>
                <a:off x="611956" y="4419011"/>
                <a:ext cx="8280092" cy="1889714"/>
              </a:xfrm>
            </p:spPr>
            <p:txBody>
              <a:bodyPr/>
              <a:lstStyle/>
              <a:p>
                <a:r>
                  <a:rPr kumimoji="1" lang="ja-JP" altLang="en-US" dirty="0"/>
                  <a:t>消費エネルギーは，主にコンデンサへの充放電で消費される</a:t>
                </a:r>
                <a:endParaRPr kumimoji="1" lang="en-US" altLang="ja-JP" dirty="0"/>
              </a:p>
              <a:p>
                <a:pPr lvl="1"/>
                <a:r>
                  <a:rPr lang="ja-JP" altLang="en-US" dirty="0"/>
                  <a:t>消費エネルギーは</a:t>
                </a:r>
                <a:r>
                  <a:rPr lang="ja-JP" altLang="en-US" i="0" dirty="0">
                    <a:latin typeface="+mj-lt"/>
                  </a:rPr>
                  <a:t>電圧の二乗に比例</a:t>
                </a:r>
                <a14:m>
                  <m:oMath xmlns:m="http://schemas.openxmlformats.org/officeDocument/2006/math">
                    <m:r>
                      <a:rPr lang="ja-JP" altLang="en-US" i="1" dirty="0" smtClean="0">
                        <a:latin typeface="Cambria Math" panose="02040503050406030204" pitchFamily="18" charset="0"/>
                      </a:rPr>
                      <m:t>：</m:t>
                    </m:r>
                    <m:r>
                      <a:rPr lang="en-US" altLang="ja-JP" i="1" dirty="0" smtClean="0">
                        <a:solidFill>
                          <a:schemeClr val="accent5"/>
                        </a:solidFill>
                        <a:latin typeface="Cambria Math" panose="02040503050406030204" pitchFamily="18" charset="0"/>
                      </a:rPr>
                      <m:t>𝐸</m:t>
                    </m:r>
                    <m:r>
                      <a:rPr lang="en-US" altLang="ja-JP" i="1" dirty="0" smtClean="0">
                        <a:solidFill>
                          <a:schemeClr val="accent5"/>
                        </a:solidFill>
                        <a:latin typeface="Cambria Math" panose="02040503050406030204" pitchFamily="18" charset="0"/>
                      </a:rPr>
                      <m:t>= </m:t>
                    </m:r>
                    <m:r>
                      <a:rPr lang="en-US" altLang="ja-JP" i="1" dirty="0" smtClean="0">
                        <a:solidFill>
                          <a:schemeClr val="accent5"/>
                        </a:solidFill>
                        <a:latin typeface="Cambria Math" panose="02040503050406030204" pitchFamily="18" charset="0"/>
                      </a:rPr>
                      <m:t>𝐶</m:t>
                    </m:r>
                    <m:sSup>
                      <m:sSupPr>
                        <m:ctrlPr>
                          <a:rPr lang="en-US" altLang="ja-JP" i="1" dirty="0" smtClean="0">
                            <a:solidFill>
                              <a:schemeClr val="accent5"/>
                            </a:solidFill>
                            <a:latin typeface="Cambria Math" panose="02040503050406030204" pitchFamily="18" charset="0"/>
                          </a:rPr>
                        </m:ctrlPr>
                      </m:sSupPr>
                      <m:e>
                        <m:r>
                          <a:rPr lang="en-US" altLang="ja-JP" b="0" i="1" dirty="0" smtClean="0">
                            <a:solidFill>
                              <a:schemeClr val="accent5"/>
                            </a:solidFill>
                            <a:latin typeface="Cambria Math" panose="02040503050406030204" pitchFamily="18" charset="0"/>
                          </a:rPr>
                          <m:t>𝑉</m:t>
                        </m:r>
                      </m:e>
                      <m:sup>
                        <m:r>
                          <a:rPr lang="en-US" altLang="ja-JP" b="0" i="1" dirty="0" smtClean="0">
                            <a:solidFill>
                              <a:schemeClr val="accent5"/>
                            </a:solidFill>
                            <a:latin typeface="Cambria Math" panose="02040503050406030204" pitchFamily="18" charset="0"/>
                          </a:rPr>
                          <m:t>2</m:t>
                        </m:r>
                      </m:sup>
                    </m:sSup>
                  </m:oMath>
                </a14:m>
                <a:endParaRPr kumimoji="1" lang="en-US" altLang="ja-JP" dirty="0"/>
              </a:p>
              <a:p>
                <a:pPr lvl="1"/>
                <a:r>
                  <a:rPr kumimoji="1" lang="ja-JP" altLang="en-US" dirty="0"/>
                  <a:t>電荷 </a:t>
                </a:r>
                <a14:m>
                  <m:oMath xmlns:m="http://schemas.openxmlformats.org/officeDocument/2006/math">
                    <m:r>
                      <a:rPr kumimoji="1" lang="en-US" altLang="ja-JP" i="1" dirty="0" smtClean="0">
                        <a:latin typeface="Cambria Math" panose="02040503050406030204" pitchFamily="18" charset="0"/>
                      </a:rPr>
                      <m:t>𝑄</m:t>
                    </m:r>
                    <m:r>
                      <a:rPr kumimoji="1" lang="en-US" altLang="ja-JP" b="0" i="1" dirty="0" smtClean="0">
                        <a:latin typeface="Cambria Math" panose="02040503050406030204" pitchFamily="18" charset="0"/>
                      </a:rPr>
                      <m:t>=</m:t>
                    </m:r>
                    <m:r>
                      <a:rPr kumimoji="1" lang="en-US" altLang="ja-JP" b="0" i="1" dirty="0" smtClean="0">
                        <a:latin typeface="Cambria Math" panose="02040503050406030204" pitchFamily="18" charset="0"/>
                      </a:rPr>
                      <m:t>𝐶𝑉</m:t>
                    </m:r>
                  </m:oMath>
                </a14:m>
                <a:r>
                  <a:rPr kumimoji="1" lang="en-US" altLang="ja-JP" dirty="0"/>
                  <a:t> </a:t>
                </a:r>
                <a:r>
                  <a:rPr kumimoji="1" lang="ja-JP" altLang="en-US" dirty="0"/>
                  <a:t>が，電圧 </a:t>
                </a:r>
                <a14:m>
                  <m:oMath xmlns:m="http://schemas.openxmlformats.org/officeDocument/2006/math">
                    <m:r>
                      <a:rPr kumimoji="1" lang="en-US" altLang="ja-JP" i="1" dirty="0" smtClean="0">
                        <a:latin typeface="Cambria Math" panose="02040503050406030204" pitchFamily="18" charset="0"/>
                      </a:rPr>
                      <m:t>𝑉</m:t>
                    </m:r>
                  </m:oMath>
                </a14:m>
                <a:r>
                  <a:rPr kumimoji="1" lang="en-US" altLang="ja-JP" dirty="0"/>
                  <a:t> </a:t>
                </a:r>
                <a:r>
                  <a:rPr kumimoji="1" lang="ja-JP" altLang="en-US" dirty="0"/>
                  <a:t>の分だけ電源から </a:t>
                </a:r>
                <a:r>
                  <a:rPr kumimoji="1" lang="en-US" altLang="ja-JP" dirty="0"/>
                  <a:t>GND </a:t>
                </a:r>
                <a:r>
                  <a:rPr kumimoji="1" lang="ja-JP" altLang="en-US" dirty="0"/>
                  <a:t>へ移動するから</a:t>
                </a:r>
                <a:endParaRPr kumimoji="1" lang="en-US" altLang="ja-JP" dirty="0"/>
              </a:p>
              <a:p>
                <a:pPr lvl="2"/>
                <a:r>
                  <a:rPr lang="ja-JP" altLang="en-US" dirty="0"/>
                  <a:t>忘れた人は高校の物理の教科書を読もう</a:t>
                </a:r>
                <a:endParaRPr lang="en-US" altLang="ja-JP" dirty="0"/>
              </a:p>
              <a:p>
                <a:r>
                  <a:rPr kumimoji="1" lang="ja-JP" altLang="en-US" dirty="0"/>
                  <a:t>他にリーク電流と呼ばれるものによる消費もある</a:t>
                </a:r>
                <a:endParaRPr kumimoji="1" lang="en-US" altLang="ja-JP" dirty="0"/>
              </a:p>
              <a:p>
                <a:pPr lvl="1"/>
                <a:r>
                  <a:rPr kumimoji="1" lang="ja-JP" altLang="en-US" dirty="0"/>
                  <a:t>スイッチが一部ガバガバなので，常時多少漏れてる</a:t>
                </a:r>
              </a:p>
            </p:txBody>
          </p:sp>
        </mc:Choice>
        <mc:Fallback xmlns="">
          <p:sp>
            <p:nvSpPr>
              <p:cNvPr id="3" name="テキスト プレースホルダー 2"/>
              <p:cNvSpPr>
                <a:spLocks noGrp="1" noRot="1" noChangeAspect="1" noMove="1" noResize="1" noEditPoints="1" noAdjustHandles="1" noChangeArrowheads="1" noChangeShapeType="1" noTextEdit="1"/>
              </p:cNvSpPr>
              <p:nvPr>
                <p:ph type="body" sz="quarter" idx="10"/>
              </p:nvPr>
            </p:nvSpPr>
            <p:spPr>
              <a:xfrm>
                <a:off x="611956" y="4419011"/>
                <a:ext cx="8280092" cy="1889714"/>
              </a:xfrm>
              <a:blipFill rotWithShape="0">
                <a:blip r:embed="rId2"/>
                <a:stretch>
                  <a:fillRect l="-662" t="-25161" b="-31935"/>
                </a:stretch>
              </a:blipFill>
            </p:spPr>
            <p:txBody>
              <a:bodyPr/>
              <a:lstStyle/>
              <a:p>
                <a:r>
                  <a:rPr lang="ja-JP" altLang="en-US">
                    <a:noFill/>
                  </a:rPr>
                  <a:t> </a:t>
                </a:r>
              </a:p>
            </p:txBody>
          </p:sp>
        </mc:Fallback>
      </mc:AlternateContent>
      <p:grpSp>
        <p:nvGrpSpPr>
          <p:cNvPr id="81" name="グループ化 80"/>
          <p:cNvGrpSpPr/>
          <p:nvPr/>
        </p:nvGrpSpPr>
        <p:grpSpPr>
          <a:xfrm rot="5400000">
            <a:off x="5028906" y="2535892"/>
            <a:ext cx="67531" cy="337533"/>
            <a:chOff x="3401870" y="728700"/>
            <a:chExt cx="180020" cy="405045"/>
          </a:xfrm>
        </p:grpSpPr>
        <p:cxnSp>
          <p:nvCxnSpPr>
            <p:cNvPr id="82" name="直線コネクタ 81"/>
            <p:cNvCxnSpPr/>
            <p:nvPr/>
          </p:nvCxnSpPr>
          <p:spPr>
            <a:xfrm>
              <a:off x="3401870" y="77370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83" name="直線コネクタ 82"/>
            <p:cNvCxnSpPr/>
            <p:nvPr/>
          </p:nvCxnSpPr>
          <p:spPr>
            <a:xfrm flipV="1">
              <a:off x="3401870" y="81871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84" name="直線コネクタ 83"/>
            <p:cNvCxnSpPr/>
            <p:nvPr/>
          </p:nvCxnSpPr>
          <p:spPr>
            <a:xfrm>
              <a:off x="3401870" y="86371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85" name="直線コネクタ 84"/>
            <p:cNvCxnSpPr/>
            <p:nvPr/>
          </p:nvCxnSpPr>
          <p:spPr>
            <a:xfrm flipV="1">
              <a:off x="3401870" y="90872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86" name="直線コネクタ 85"/>
            <p:cNvCxnSpPr/>
            <p:nvPr/>
          </p:nvCxnSpPr>
          <p:spPr>
            <a:xfrm>
              <a:off x="3401870" y="95372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87" name="直線コネクタ 86"/>
            <p:cNvCxnSpPr/>
            <p:nvPr/>
          </p:nvCxnSpPr>
          <p:spPr>
            <a:xfrm flipV="1">
              <a:off x="3401870" y="99873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88" name="直線コネクタ 87"/>
            <p:cNvCxnSpPr/>
            <p:nvPr/>
          </p:nvCxnSpPr>
          <p:spPr>
            <a:xfrm>
              <a:off x="3401870" y="104373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89" name="直線コネクタ 88"/>
            <p:cNvCxnSpPr/>
            <p:nvPr/>
          </p:nvCxnSpPr>
          <p:spPr>
            <a:xfrm flipV="1">
              <a:off x="3491880" y="1088741"/>
              <a:ext cx="90010" cy="45004"/>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90" name="直線コネクタ 89"/>
            <p:cNvCxnSpPr/>
            <p:nvPr/>
          </p:nvCxnSpPr>
          <p:spPr>
            <a:xfrm flipV="1">
              <a:off x="3401870" y="728700"/>
              <a:ext cx="9001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91" name="グループ化 90"/>
          <p:cNvGrpSpPr/>
          <p:nvPr/>
        </p:nvGrpSpPr>
        <p:grpSpPr>
          <a:xfrm>
            <a:off x="4330573" y="2978996"/>
            <a:ext cx="270012" cy="450012"/>
            <a:chOff x="5787000" y="1944000"/>
            <a:chExt cx="270012" cy="450012"/>
          </a:xfrm>
        </p:grpSpPr>
        <p:cxnSp>
          <p:nvCxnSpPr>
            <p:cNvPr id="92" name="直線コネクタ 91"/>
            <p:cNvCxnSpPr/>
            <p:nvPr/>
          </p:nvCxnSpPr>
          <p:spPr>
            <a:xfrm>
              <a:off x="5787000" y="1989000"/>
              <a:ext cx="225004" cy="360003"/>
            </a:xfrm>
            <a:prstGeom prst="line">
              <a:avLst/>
            </a:prstGeom>
            <a:ln w="38100"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93" name="円/楕円 92"/>
            <p:cNvSpPr/>
            <p:nvPr/>
          </p:nvSpPr>
          <p:spPr>
            <a:xfrm rot="16200000" flipH="1">
              <a:off x="5967000" y="230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sp>
          <p:nvSpPr>
            <p:cNvPr id="94" name="円/楕円 93"/>
            <p:cNvSpPr/>
            <p:nvPr/>
          </p:nvSpPr>
          <p:spPr>
            <a:xfrm rot="16200000" flipH="1">
              <a:off x="5967000" y="194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nvGrpSpPr>
          <p:cNvPr id="95" name="グループ化 94"/>
          <p:cNvGrpSpPr/>
          <p:nvPr/>
        </p:nvGrpSpPr>
        <p:grpSpPr>
          <a:xfrm>
            <a:off x="4510575" y="1988985"/>
            <a:ext cx="90012" cy="450012"/>
            <a:chOff x="5967000" y="1944000"/>
            <a:chExt cx="90012" cy="450012"/>
          </a:xfrm>
        </p:grpSpPr>
        <p:cxnSp>
          <p:nvCxnSpPr>
            <p:cNvPr id="96" name="直線コネクタ 95"/>
            <p:cNvCxnSpPr>
              <a:stCxn id="98" idx="0"/>
            </p:cNvCxnSpPr>
            <p:nvPr/>
          </p:nvCxnSpPr>
          <p:spPr>
            <a:xfrm>
              <a:off x="5967000" y="1989006"/>
              <a:ext cx="45004" cy="359997"/>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97" name="円/楕円 96"/>
            <p:cNvSpPr/>
            <p:nvPr/>
          </p:nvSpPr>
          <p:spPr>
            <a:xfrm rot="16200000" flipH="1">
              <a:off x="5967000" y="230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sp>
          <p:nvSpPr>
            <p:cNvPr id="98" name="円/楕円 97"/>
            <p:cNvSpPr/>
            <p:nvPr/>
          </p:nvSpPr>
          <p:spPr>
            <a:xfrm rot="16200000" flipH="1">
              <a:off x="5967000" y="194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nvGrpSpPr>
          <p:cNvPr id="99" name="グループ化 152"/>
          <p:cNvGrpSpPr/>
          <p:nvPr/>
        </p:nvGrpSpPr>
        <p:grpSpPr>
          <a:xfrm>
            <a:off x="4437719" y="3699003"/>
            <a:ext cx="180002" cy="90001"/>
            <a:chOff x="3643306" y="4500570"/>
            <a:chExt cx="428628" cy="144464"/>
          </a:xfrm>
        </p:grpSpPr>
        <p:cxnSp>
          <p:nvCxnSpPr>
            <p:cNvPr id="100" name="直線コネクタ 99"/>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01" name="直線コネクタ 100"/>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02" name="直線コネクタ 101"/>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103" name="直線コネクタ 102"/>
          <p:cNvCxnSpPr/>
          <p:nvPr/>
        </p:nvCxnSpPr>
        <p:spPr>
          <a:xfrm flipV="1">
            <a:off x="4527720" y="3429001"/>
            <a:ext cx="1" cy="270003"/>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104" name="グループ化 103"/>
          <p:cNvGrpSpPr/>
          <p:nvPr/>
        </p:nvGrpSpPr>
        <p:grpSpPr>
          <a:xfrm>
            <a:off x="4437719" y="1628981"/>
            <a:ext cx="180020" cy="360033"/>
            <a:chOff x="4481992" y="1268760"/>
            <a:chExt cx="180020" cy="360033"/>
          </a:xfrm>
        </p:grpSpPr>
        <p:cxnSp>
          <p:nvCxnSpPr>
            <p:cNvPr id="105" name="直線コネクタ 104"/>
            <p:cNvCxnSpPr/>
            <p:nvPr/>
          </p:nvCxnSpPr>
          <p:spPr>
            <a:xfrm flipV="1">
              <a:off x="4572003" y="1268760"/>
              <a:ext cx="1" cy="360033"/>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6" name="直線コネクタ 105"/>
            <p:cNvCxnSpPr/>
            <p:nvPr/>
          </p:nvCxnSpPr>
          <p:spPr>
            <a:xfrm flipH="1">
              <a:off x="4481992" y="1268760"/>
              <a:ext cx="180020"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07" name="直線コネクタ 106"/>
          <p:cNvCxnSpPr/>
          <p:nvPr/>
        </p:nvCxnSpPr>
        <p:spPr>
          <a:xfrm flipV="1">
            <a:off x="4527720" y="2438990"/>
            <a:ext cx="1" cy="540006"/>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8" name="直線コネクタ 107"/>
          <p:cNvCxnSpPr/>
          <p:nvPr/>
        </p:nvCxnSpPr>
        <p:spPr>
          <a:xfrm flipH="1">
            <a:off x="4527720" y="2708993"/>
            <a:ext cx="360112" cy="0"/>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109" name="グループ化 108"/>
          <p:cNvGrpSpPr/>
          <p:nvPr/>
        </p:nvGrpSpPr>
        <p:grpSpPr>
          <a:xfrm rot="10800000">
            <a:off x="3581990" y="2528991"/>
            <a:ext cx="90012" cy="360048"/>
            <a:chOff x="2051664" y="1988808"/>
            <a:chExt cx="90012" cy="360048"/>
          </a:xfrm>
        </p:grpSpPr>
        <p:cxnSp>
          <p:nvCxnSpPr>
            <p:cNvPr id="110" name="直線コネクタ 109"/>
            <p:cNvCxnSpPr/>
            <p:nvPr/>
          </p:nvCxnSpPr>
          <p:spPr>
            <a:xfrm flipH="1">
              <a:off x="2051664" y="1988808"/>
              <a:ext cx="0" cy="360048"/>
            </a:xfrm>
            <a:prstGeom prst="line">
              <a:avLst/>
            </a:prstGeom>
            <a:ln w="57150" cap="rnd">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11" name="直線コネクタ 110"/>
            <p:cNvCxnSpPr/>
            <p:nvPr/>
          </p:nvCxnSpPr>
          <p:spPr>
            <a:xfrm flipH="1">
              <a:off x="2141676" y="1988808"/>
              <a:ext cx="0" cy="360048"/>
            </a:xfrm>
            <a:prstGeom prst="line">
              <a:avLst/>
            </a:prstGeom>
            <a:ln w="57150" cap="rnd">
              <a:solidFill>
                <a:schemeClr val="accent6"/>
              </a:solidFill>
            </a:ln>
          </p:spPr>
          <p:style>
            <a:lnRef idx="1">
              <a:schemeClr val="accent1"/>
            </a:lnRef>
            <a:fillRef idx="0">
              <a:schemeClr val="accent1"/>
            </a:fillRef>
            <a:effectRef idx="0">
              <a:schemeClr val="accent1"/>
            </a:effectRef>
            <a:fontRef idx="minor">
              <a:schemeClr val="tx1"/>
            </a:fontRef>
          </p:style>
        </p:cxnSp>
      </p:grpSp>
      <p:grpSp>
        <p:nvGrpSpPr>
          <p:cNvPr id="112" name="グループ化 152"/>
          <p:cNvGrpSpPr/>
          <p:nvPr/>
        </p:nvGrpSpPr>
        <p:grpSpPr>
          <a:xfrm>
            <a:off x="3851993" y="3699004"/>
            <a:ext cx="180002" cy="90001"/>
            <a:chOff x="3643306" y="4500570"/>
            <a:chExt cx="428628" cy="144464"/>
          </a:xfrm>
        </p:grpSpPr>
        <p:cxnSp>
          <p:nvCxnSpPr>
            <p:cNvPr id="113" name="直線コネクタ 112"/>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14" name="直線コネクタ 113"/>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15" name="直線コネクタ 114"/>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116" name="フリーフォーム 115"/>
          <p:cNvSpPr/>
          <p:nvPr/>
        </p:nvSpPr>
        <p:spPr bwMode="auto">
          <a:xfrm rot="5400000" flipH="1">
            <a:off x="3311986" y="3068996"/>
            <a:ext cx="990011" cy="270003"/>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sm" len="sm"/>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dirty="0">
              <a:ln>
                <a:noFill/>
              </a:ln>
              <a:solidFill>
                <a:schemeClr val="tx1"/>
              </a:solidFill>
              <a:effectLst/>
              <a:latin typeface="Arial Narrow" pitchFamily="34" charset="0"/>
              <a:ea typeface="メイリオ" pitchFamily="50" charset="-128"/>
            </a:endParaRPr>
          </a:p>
        </p:txBody>
      </p:sp>
      <p:cxnSp>
        <p:nvCxnSpPr>
          <p:cNvPr id="117" name="直線コネクタ 116"/>
          <p:cNvCxnSpPr/>
          <p:nvPr/>
        </p:nvCxnSpPr>
        <p:spPr>
          <a:xfrm>
            <a:off x="3401988" y="2708993"/>
            <a:ext cx="179894"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8" name="直線コネクタ 117"/>
          <p:cNvCxnSpPr/>
          <p:nvPr/>
        </p:nvCxnSpPr>
        <p:spPr>
          <a:xfrm>
            <a:off x="2861982" y="2708993"/>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19" name="正方形/長方形 118"/>
          <p:cNvSpPr/>
          <p:nvPr/>
        </p:nvSpPr>
        <p:spPr bwMode="auto">
          <a:xfrm>
            <a:off x="3671991" y="1268977"/>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kumimoji="1" lang="ja-JP" altLang="en-US" sz="2000" dirty="0">
                <a:solidFill>
                  <a:schemeClr val="tx1">
                    <a:lumMod val="75000"/>
                    <a:lumOff val="25000"/>
                  </a:schemeClr>
                </a:solidFill>
              </a:rPr>
              <a:t>電源</a:t>
            </a:r>
          </a:p>
        </p:txBody>
      </p:sp>
      <p:cxnSp>
        <p:nvCxnSpPr>
          <p:cNvPr id="120" name="直線コネクタ 119"/>
          <p:cNvCxnSpPr/>
          <p:nvPr/>
        </p:nvCxnSpPr>
        <p:spPr>
          <a:xfrm>
            <a:off x="5230583" y="2708993"/>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grpSp>
        <p:nvGrpSpPr>
          <p:cNvPr id="149" name="グループ化 148"/>
          <p:cNvGrpSpPr/>
          <p:nvPr/>
        </p:nvGrpSpPr>
        <p:grpSpPr>
          <a:xfrm rot="10800000">
            <a:off x="6462022" y="2528991"/>
            <a:ext cx="90012" cy="360048"/>
            <a:chOff x="2051664" y="1988808"/>
            <a:chExt cx="90012" cy="360048"/>
          </a:xfrm>
        </p:grpSpPr>
        <p:cxnSp>
          <p:nvCxnSpPr>
            <p:cNvPr id="150" name="直線コネクタ 149"/>
            <p:cNvCxnSpPr/>
            <p:nvPr/>
          </p:nvCxnSpPr>
          <p:spPr>
            <a:xfrm flipH="1">
              <a:off x="2051664" y="1988808"/>
              <a:ext cx="0" cy="360048"/>
            </a:xfrm>
            <a:prstGeom prst="line">
              <a:avLst/>
            </a:prstGeom>
            <a:ln w="57150" cap="rnd">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151" name="直線コネクタ 150"/>
            <p:cNvCxnSpPr/>
            <p:nvPr/>
          </p:nvCxnSpPr>
          <p:spPr>
            <a:xfrm flipH="1">
              <a:off x="2141676" y="1988808"/>
              <a:ext cx="0" cy="360048"/>
            </a:xfrm>
            <a:prstGeom prst="line">
              <a:avLst/>
            </a:prstGeom>
            <a:ln w="57150" cap="rnd">
              <a:solidFill>
                <a:schemeClr val="accent5"/>
              </a:solidFill>
            </a:ln>
          </p:spPr>
          <p:style>
            <a:lnRef idx="1">
              <a:schemeClr val="accent1"/>
            </a:lnRef>
            <a:fillRef idx="0">
              <a:schemeClr val="accent1"/>
            </a:fillRef>
            <a:effectRef idx="0">
              <a:schemeClr val="accent1"/>
            </a:effectRef>
            <a:fontRef idx="minor">
              <a:schemeClr val="tx1"/>
            </a:fontRef>
          </p:style>
        </p:cxnSp>
      </p:grpSp>
      <p:grpSp>
        <p:nvGrpSpPr>
          <p:cNvPr id="152" name="グループ化 152"/>
          <p:cNvGrpSpPr/>
          <p:nvPr/>
        </p:nvGrpSpPr>
        <p:grpSpPr>
          <a:xfrm>
            <a:off x="6732025" y="3699004"/>
            <a:ext cx="180002" cy="90001"/>
            <a:chOff x="3643306" y="4500570"/>
            <a:chExt cx="428628" cy="144464"/>
          </a:xfrm>
        </p:grpSpPr>
        <p:cxnSp>
          <p:nvCxnSpPr>
            <p:cNvPr id="153" name="直線コネクタ 152"/>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54" name="直線コネクタ 153"/>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55" name="直線コネクタ 154"/>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156" name="フリーフォーム 155"/>
          <p:cNvSpPr/>
          <p:nvPr/>
        </p:nvSpPr>
        <p:spPr bwMode="auto">
          <a:xfrm rot="5400000" flipH="1">
            <a:off x="6192018" y="3068996"/>
            <a:ext cx="990011" cy="270003"/>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sm" len="sm"/>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dirty="0">
              <a:ln>
                <a:noFill/>
              </a:ln>
              <a:solidFill>
                <a:schemeClr val="tx1"/>
              </a:solidFill>
              <a:effectLst/>
              <a:latin typeface="Arial Narrow" pitchFamily="34" charset="0"/>
              <a:ea typeface="メイリオ" pitchFamily="50" charset="-128"/>
            </a:endParaRPr>
          </a:p>
        </p:txBody>
      </p:sp>
      <p:cxnSp>
        <p:nvCxnSpPr>
          <p:cNvPr id="157" name="直線コネクタ 156"/>
          <p:cNvCxnSpPr/>
          <p:nvPr/>
        </p:nvCxnSpPr>
        <p:spPr>
          <a:xfrm>
            <a:off x="6282020" y="2708993"/>
            <a:ext cx="179894"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8" name="直線コネクタ 157"/>
          <p:cNvCxnSpPr/>
          <p:nvPr/>
        </p:nvCxnSpPr>
        <p:spPr>
          <a:xfrm>
            <a:off x="5742014" y="2708993"/>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61" name="曲折矢印 160"/>
          <p:cNvSpPr/>
          <p:nvPr/>
        </p:nvSpPr>
        <p:spPr bwMode="auto">
          <a:xfrm rot="10800000" flipH="1">
            <a:off x="4690578" y="1898983"/>
            <a:ext cx="1620018" cy="720008"/>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72" name="曲折矢印 171"/>
          <p:cNvSpPr/>
          <p:nvPr/>
        </p:nvSpPr>
        <p:spPr bwMode="auto">
          <a:xfrm rot="16200000" flipH="1">
            <a:off x="5005581" y="2483991"/>
            <a:ext cx="810009" cy="1620018"/>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6636039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DVFS: Dynamic Voltage Frequency Scaling</a:t>
            </a:r>
            <a:endParaRPr kumimoji="1" lang="ja-JP" altLang="en-US" dirty="0"/>
          </a:p>
        </p:txBody>
      </p:sp>
      <mc:AlternateContent xmlns:mc="http://schemas.openxmlformats.org/markup-compatibility/2006" xmlns:a14="http://schemas.microsoft.com/office/drawing/2010/main">
        <mc:Choice Requires="a14">
          <p:sp>
            <p:nvSpPr>
              <p:cNvPr id="3" name="テキスト プレースホルダー 2"/>
              <p:cNvSpPr>
                <a:spLocks noGrp="1"/>
              </p:cNvSpPr>
              <p:nvPr>
                <p:ph type="body" sz="quarter" idx="10"/>
              </p:nvPr>
            </p:nvSpPr>
            <p:spPr>
              <a:xfrm>
                <a:off x="611956" y="1358978"/>
                <a:ext cx="8280092" cy="4949748"/>
              </a:xfrm>
            </p:spPr>
            <p:txBody>
              <a:bodyPr/>
              <a:lstStyle/>
              <a:p>
                <a:endParaRPr lang="en-US" altLang="ja-JP" dirty="0"/>
              </a:p>
              <a:p>
                <a:r>
                  <a:rPr lang="ja-JP" altLang="en-US" dirty="0"/>
                  <a:t>電圧と周波数の組を用意しておき，これを切り替える</a:t>
                </a:r>
                <a:endParaRPr lang="en-US" altLang="ja-JP" dirty="0"/>
              </a:p>
              <a:p>
                <a:pPr lvl="1"/>
                <a:r>
                  <a:rPr lang="ja-JP" altLang="en-US" dirty="0"/>
                  <a:t>高速：高周波数（低遅延）で動かすために，電圧を上げる</a:t>
                </a:r>
                <a:endParaRPr lang="en-US" altLang="ja-JP" dirty="0"/>
              </a:p>
              <a:p>
                <a:pPr lvl="1"/>
                <a:r>
                  <a:rPr lang="ja-JP" altLang="en-US" dirty="0"/>
                  <a:t>低速：低周波数（高遅延）でよいので，電圧を下げる</a:t>
                </a:r>
                <a:endParaRPr lang="en-US" altLang="ja-JP" dirty="0"/>
              </a:p>
              <a:p>
                <a:r>
                  <a:rPr lang="ja-JP" altLang="en-US" dirty="0"/>
                  <a:t>電圧を下げると，すごく消費電力が減る</a:t>
                </a:r>
                <a:endParaRPr lang="en-US" altLang="ja-JP" dirty="0"/>
              </a:p>
              <a:p>
                <a:pPr lvl="1"/>
                <a:r>
                  <a:rPr lang="ja-JP" altLang="en-US" dirty="0"/>
                  <a:t>消費エネルギーは</a:t>
                </a:r>
                <a:r>
                  <a:rPr lang="ja-JP" altLang="en-US" dirty="0">
                    <a:solidFill>
                      <a:schemeClr val="accent5"/>
                    </a:solidFill>
                  </a:rPr>
                  <a:t>電圧の２乗に比例</a:t>
                </a:r>
                <a14:m>
                  <m:oMath xmlns:m="http://schemas.openxmlformats.org/officeDocument/2006/math">
                    <m:r>
                      <a:rPr lang="ja-JP" altLang="en-US" i="1" dirty="0">
                        <a:latin typeface="Cambria Math" panose="02040503050406030204" pitchFamily="18" charset="0"/>
                      </a:rPr>
                      <m:t>：</m:t>
                    </m:r>
                    <m:r>
                      <a:rPr lang="en-US" altLang="ja-JP" i="1" dirty="0">
                        <a:latin typeface="Cambria Math" panose="02040503050406030204" pitchFamily="18" charset="0"/>
                      </a:rPr>
                      <m:t>𝐸</m:t>
                    </m:r>
                    <m:r>
                      <a:rPr lang="en-US" altLang="ja-JP" i="1" dirty="0">
                        <a:latin typeface="Cambria Math" panose="02040503050406030204" pitchFamily="18" charset="0"/>
                      </a:rPr>
                      <m:t>= </m:t>
                    </m:r>
                    <m:r>
                      <a:rPr lang="en-US" altLang="ja-JP" i="1" dirty="0">
                        <a:latin typeface="Cambria Math" panose="02040503050406030204" pitchFamily="18" charset="0"/>
                      </a:rPr>
                      <m:t>𝐶</m:t>
                    </m:r>
                    <m:sSup>
                      <m:sSupPr>
                        <m:ctrlPr>
                          <a:rPr lang="en-US" altLang="ja-JP" i="1" dirty="0">
                            <a:latin typeface="Cambria Math" panose="02040503050406030204" pitchFamily="18" charset="0"/>
                          </a:rPr>
                        </m:ctrlPr>
                      </m:sSupPr>
                      <m:e>
                        <m:r>
                          <a:rPr lang="en-US" altLang="ja-JP" i="1" dirty="0">
                            <a:latin typeface="Cambria Math" panose="02040503050406030204" pitchFamily="18" charset="0"/>
                          </a:rPr>
                          <m:t>𝑉</m:t>
                        </m:r>
                      </m:e>
                      <m:sup>
                        <m:r>
                          <a:rPr lang="en-US" altLang="ja-JP" i="1" dirty="0">
                            <a:latin typeface="Cambria Math" panose="02040503050406030204" pitchFamily="18" charset="0"/>
                          </a:rPr>
                          <m:t>2</m:t>
                        </m:r>
                      </m:sup>
                    </m:sSup>
                  </m:oMath>
                </a14:m>
                <a:endParaRPr kumimoji="1" lang="en-US" altLang="ja-JP" dirty="0"/>
              </a:p>
              <a:p>
                <a:r>
                  <a:rPr kumimoji="1" lang="ja-JP" altLang="en-US" dirty="0"/>
                  <a:t>低周波数にすると</a:t>
                </a:r>
                <a:r>
                  <a:rPr kumimoji="1" lang="ja-JP" altLang="en-US" dirty="0">
                    <a:solidFill>
                      <a:schemeClr val="accent5"/>
                    </a:solidFill>
                  </a:rPr>
                  <a:t>充放電の回数自体（</a:t>
                </a:r>
                <a:r>
                  <a:rPr kumimoji="1" lang="en-US" altLang="ja-JP" dirty="0">
                    <a:solidFill>
                      <a:schemeClr val="accent5"/>
                    </a:solidFill>
                  </a:rPr>
                  <a:t>=</a:t>
                </a:r>
                <a:r>
                  <a:rPr kumimoji="1" lang="ja-JP" altLang="en-US" dirty="0">
                    <a:solidFill>
                      <a:schemeClr val="accent5"/>
                    </a:solidFill>
                  </a:rPr>
                  <a:t>周波数）</a:t>
                </a:r>
                <a:r>
                  <a:rPr kumimoji="1" lang="ja-JP" altLang="en-US" dirty="0"/>
                  <a:t>も減る</a:t>
                </a:r>
                <a:endParaRPr kumimoji="1" lang="en-US" altLang="ja-JP" dirty="0"/>
              </a:p>
              <a:p>
                <a:pPr lvl="1"/>
                <a:r>
                  <a:rPr kumimoji="1" lang="ja-JP" altLang="en-US" dirty="0"/>
                  <a:t>結果として，</a:t>
                </a:r>
                <a:r>
                  <a:rPr kumimoji="1" lang="en-US" altLang="ja-JP" dirty="0"/>
                  <a:t>3</a:t>
                </a:r>
                <a:r>
                  <a:rPr kumimoji="1" lang="ja-JP" altLang="en-US" dirty="0"/>
                  <a:t>乗のオーダーで電力が削減できる</a:t>
                </a:r>
              </a:p>
            </p:txBody>
          </p:sp>
        </mc:Choice>
        <mc:Fallback xmlns="">
          <p:sp>
            <p:nvSpPr>
              <p:cNvPr id="3" name="テキスト プレースホルダー 2"/>
              <p:cNvSpPr>
                <a:spLocks noGrp="1" noRot="1" noChangeAspect="1" noMove="1" noResize="1" noEditPoints="1" noAdjustHandles="1" noChangeArrowheads="1" noChangeShapeType="1" noTextEdit="1"/>
              </p:cNvSpPr>
              <p:nvPr>
                <p:ph type="body" sz="quarter" idx="10"/>
              </p:nvPr>
            </p:nvSpPr>
            <p:spPr>
              <a:xfrm>
                <a:off x="611956" y="1358978"/>
                <a:ext cx="8280092" cy="4949748"/>
              </a:xfrm>
              <a:blipFill rotWithShape="0">
                <a:blip r:embed="rId2"/>
                <a:stretch>
                  <a:fillRect l="-662"/>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61269583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26C3D9B-5970-34E6-5782-0B025AF76A64}"/>
              </a:ext>
            </a:extLst>
          </p:cNvPr>
          <p:cNvSpPr>
            <a:spLocks noGrp="1"/>
          </p:cNvSpPr>
          <p:nvPr>
            <p:ph type="title"/>
          </p:nvPr>
        </p:nvSpPr>
        <p:spPr/>
        <p:txBody>
          <a:bodyPr/>
          <a:lstStyle/>
          <a:p>
            <a:r>
              <a:rPr kumimoji="1" lang="ja-JP" altLang="en-US" dirty="0"/>
              <a:t>まとめ：一番下から積み上げて一番上までいけた</a:t>
            </a:r>
            <a:br>
              <a:rPr kumimoji="1" lang="en-US" altLang="ja-JP" dirty="0"/>
            </a:br>
            <a:r>
              <a:rPr kumimoji="1" lang="ja-JP" altLang="en-US" sz="1800" dirty="0"/>
              <a:t>一番下がすげ変わっても，上は同様に作れる</a:t>
            </a:r>
            <a:endParaRPr kumimoji="1" lang="en-US" sz="1800" dirty="0"/>
          </a:p>
        </p:txBody>
      </p:sp>
      <p:sp>
        <p:nvSpPr>
          <p:cNvPr id="4" name="角丸四角形 3">
            <a:extLst>
              <a:ext uri="{FF2B5EF4-FFF2-40B4-BE49-F238E27FC236}">
                <a16:creationId xmlns:a16="http://schemas.microsoft.com/office/drawing/2014/main" id="{CBE6FE98-C297-E057-1B7A-C7F1715E0C3F}"/>
              </a:ext>
            </a:extLst>
          </p:cNvPr>
          <p:cNvSpPr/>
          <p:nvPr/>
        </p:nvSpPr>
        <p:spPr bwMode="auto">
          <a:xfrm>
            <a:off x="2051648" y="2438990"/>
            <a:ext cx="5220058" cy="990010"/>
          </a:xfrm>
          <a:prstGeom prst="roundRect">
            <a:avLst/>
          </a:prstGeom>
          <a:solidFill>
            <a:schemeClr val="accent1"/>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sz="1600" b="1" dirty="0">
                <a:solidFill>
                  <a:schemeClr val="bg1"/>
                </a:solidFill>
              </a:rPr>
              <a:t>システム・ソフトウェア</a:t>
            </a:r>
            <a:endParaRPr kumimoji="1" lang="en-US" altLang="ja-JP" sz="1600" b="1" dirty="0">
              <a:solidFill>
                <a:schemeClr val="bg1"/>
              </a:solidFill>
            </a:endParaRPr>
          </a:p>
          <a:p>
            <a:pPr algn="ctr"/>
            <a:r>
              <a:rPr kumimoji="1" lang="en-US" altLang="ja-JP" sz="1600" b="1" dirty="0">
                <a:solidFill>
                  <a:schemeClr val="bg1"/>
                </a:solidFill>
              </a:rPr>
              <a:t>OS / </a:t>
            </a:r>
            <a:r>
              <a:rPr kumimoji="1" lang="ja-JP" altLang="en-US" sz="1600" b="1" dirty="0">
                <a:solidFill>
                  <a:schemeClr val="bg1"/>
                </a:solidFill>
              </a:rPr>
              <a:t>コンパイラ </a:t>
            </a:r>
            <a:r>
              <a:rPr kumimoji="1" lang="en-US" altLang="ja-JP" sz="1600" b="1" dirty="0">
                <a:solidFill>
                  <a:schemeClr val="bg1"/>
                </a:solidFill>
              </a:rPr>
              <a:t>/ </a:t>
            </a:r>
            <a:r>
              <a:rPr kumimoji="1" lang="ja-JP" altLang="en-US" sz="1600" b="1" dirty="0">
                <a:solidFill>
                  <a:schemeClr val="bg1"/>
                </a:solidFill>
              </a:rPr>
              <a:t>インタプリタ</a:t>
            </a:r>
          </a:p>
        </p:txBody>
      </p:sp>
      <p:sp>
        <p:nvSpPr>
          <p:cNvPr id="5" name="角丸四角形 4">
            <a:extLst>
              <a:ext uri="{FF2B5EF4-FFF2-40B4-BE49-F238E27FC236}">
                <a16:creationId xmlns:a16="http://schemas.microsoft.com/office/drawing/2014/main" id="{A0E66338-818E-3CB7-53E7-E05AF59F569B}"/>
              </a:ext>
            </a:extLst>
          </p:cNvPr>
          <p:cNvSpPr/>
          <p:nvPr/>
        </p:nvSpPr>
        <p:spPr bwMode="auto">
          <a:xfrm>
            <a:off x="2051972" y="3609002"/>
            <a:ext cx="5220058" cy="990011"/>
          </a:xfrm>
          <a:prstGeom prst="roundRect">
            <a:avLst/>
          </a:prstGeom>
          <a:solidFill>
            <a:schemeClr val="accent1"/>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lang="ja-JP" altLang="en-US" sz="2000" b="1" dirty="0">
                <a:solidFill>
                  <a:schemeClr val="bg1"/>
                </a:solidFill>
              </a:rPr>
              <a:t>（狭義の）コンピュータ</a:t>
            </a:r>
            <a:r>
              <a:rPr kumimoji="1" lang="ja-JP" altLang="en-US" sz="2000" b="1" dirty="0">
                <a:solidFill>
                  <a:schemeClr val="bg1"/>
                </a:solidFill>
              </a:rPr>
              <a:t>・アーキテクチャ</a:t>
            </a:r>
          </a:p>
        </p:txBody>
      </p:sp>
      <p:sp>
        <p:nvSpPr>
          <p:cNvPr id="6" name="角丸四角形 5">
            <a:extLst>
              <a:ext uri="{FF2B5EF4-FFF2-40B4-BE49-F238E27FC236}">
                <a16:creationId xmlns:a16="http://schemas.microsoft.com/office/drawing/2014/main" id="{6A262420-D2BF-6D72-B0BE-2D3E87357796}"/>
              </a:ext>
            </a:extLst>
          </p:cNvPr>
          <p:cNvSpPr/>
          <p:nvPr/>
        </p:nvSpPr>
        <p:spPr bwMode="auto">
          <a:xfrm>
            <a:off x="2051972" y="1268976"/>
            <a:ext cx="5220058" cy="990011"/>
          </a:xfrm>
          <a:prstGeom prst="roundRect">
            <a:avLst/>
          </a:prstGeom>
          <a:solidFill>
            <a:schemeClr val="accent5"/>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sz="1600" dirty="0">
                <a:solidFill>
                  <a:schemeClr val="bg1"/>
                </a:solidFill>
              </a:rPr>
              <a:t>アプリケーション・ソフトウェア</a:t>
            </a:r>
            <a:endParaRPr kumimoji="1" lang="en-US" altLang="ja-JP" sz="1600" dirty="0">
              <a:solidFill>
                <a:schemeClr val="bg1"/>
              </a:solidFill>
            </a:endParaRPr>
          </a:p>
          <a:p>
            <a:pPr algn="ctr"/>
            <a:r>
              <a:rPr lang="ja-JP" altLang="en-US" sz="1600" dirty="0">
                <a:solidFill>
                  <a:schemeClr val="bg1"/>
                </a:solidFill>
              </a:rPr>
              <a:t>画像処理 </a:t>
            </a:r>
            <a:r>
              <a:rPr lang="en-US" altLang="ja-JP" sz="1600" dirty="0">
                <a:solidFill>
                  <a:schemeClr val="bg1"/>
                </a:solidFill>
              </a:rPr>
              <a:t>/ </a:t>
            </a:r>
            <a:r>
              <a:rPr lang="ja-JP" altLang="en-US" sz="1600" dirty="0">
                <a:solidFill>
                  <a:schemeClr val="bg1"/>
                </a:solidFill>
              </a:rPr>
              <a:t>音声認識 </a:t>
            </a:r>
            <a:r>
              <a:rPr lang="en-US" altLang="ja-JP" sz="1600" dirty="0">
                <a:solidFill>
                  <a:schemeClr val="bg1"/>
                </a:solidFill>
              </a:rPr>
              <a:t>/ </a:t>
            </a:r>
            <a:r>
              <a:rPr lang="ja-JP" altLang="en-US" sz="1600" dirty="0">
                <a:solidFill>
                  <a:schemeClr val="bg1"/>
                </a:solidFill>
              </a:rPr>
              <a:t>言語処理 </a:t>
            </a:r>
            <a:r>
              <a:rPr lang="en-US" altLang="ja-JP" sz="1600" dirty="0">
                <a:solidFill>
                  <a:schemeClr val="bg1"/>
                </a:solidFill>
              </a:rPr>
              <a:t>/ </a:t>
            </a:r>
            <a:r>
              <a:rPr lang="ja-JP" altLang="en-US" sz="1600" dirty="0">
                <a:solidFill>
                  <a:schemeClr val="bg1"/>
                </a:solidFill>
              </a:rPr>
              <a:t>機械制御 </a:t>
            </a:r>
            <a:endParaRPr lang="en-US" altLang="ja-JP" sz="1600" dirty="0">
              <a:solidFill>
                <a:schemeClr val="bg1"/>
              </a:solidFill>
            </a:endParaRPr>
          </a:p>
          <a:p>
            <a:pPr algn="ctr"/>
            <a:r>
              <a:rPr lang="ja-JP" altLang="en-US" sz="1600" dirty="0">
                <a:solidFill>
                  <a:schemeClr val="bg1"/>
                </a:solidFill>
              </a:rPr>
              <a:t>機械学習 </a:t>
            </a:r>
            <a:r>
              <a:rPr lang="en-US" altLang="ja-JP" sz="1600" dirty="0">
                <a:solidFill>
                  <a:schemeClr val="bg1"/>
                </a:solidFill>
              </a:rPr>
              <a:t>/ AI / WEB </a:t>
            </a:r>
            <a:r>
              <a:rPr lang="ja-JP" altLang="en-US" sz="1600" dirty="0">
                <a:solidFill>
                  <a:schemeClr val="bg1"/>
                </a:solidFill>
              </a:rPr>
              <a:t>サービス </a:t>
            </a:r>
            <a:r>
              <a:rPr lang="en-US" altLang="ja-JP" sz="1600" dirty="0">
                <a:solidFill>
                  <a:schemeClr val="bg1"/>
                </a:solidFill>
              </a:rPr>
              <a:t>/ </a:t>
            </a:r>
            <a:r>
              <a:rPr lang="ja-JP" altLang="en-US" sz="1600" dirty="0">
                <a:solidFill>
                  <a:schemeClr val="bg1"/>
                </a:solidFill>
              </a:rPr>
              <a:t>暗号　</a:t>
            </a:r>
            <a:r>
              <a:rPr lang="en-US" altLang="ja-JP" sz="1600" dirty="0">
                <a:solidFill>
                  <a:schemeClr val="bg1"/>
                </a:solidFill>
              </a:rPr>
              <a:t>…</a:t>
            </a:r>
            <a:endParaRPr kumimoji="1" lang="en-US" altLang="ja-JP" sz="1600" dirty="0">
              <a:solidFill>
                <a:schemeClr val="bg1"/>
              </a:solidFill>
            </a:endParaRPr>
          </a:p>
        </p:txBody>
      </p:sp>
      <p:sp>
        <p:nvSpPr>
          <p:cNvPr id="7" name="角丸四角形 6">
            <a:extLst>
              <a:ext uri="{FF2B5EF4-FFF2-40B4-BE49-F238E27FC236}">
                <a16:creationId xmlns:a16="http://schemas.microsoft.com/office/drawing/2014/main" id="{70258B8C-4338-41DB-390C-958B3A3FC595}"/>
              </a:ext>
            </a:extLst>
          </p:cNvPr>
          <p:cNvSpPr/>
          <p:nvPr/>
        </p:nvSpPr>
        <p:spPr bwMode="auto">
          <a:xfrm>
            <a:off x="2051972" y="4779015"/>
            <a:ext cx="5220058" cy="900010"/>
          </a:xfrm>
          <a:prstGeom prst="roundRect">
            <a:avLst/>
          </a:prstGeom>
          <a:solidFill>
            <a:schemeClr val="accent1"/>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b="1" dirty="0">
                <a:solidFill>
                  <a:schemeClr val="bg1"/>
                </a:solidFill>
              </a:rPr>
              <a:t>論理回路</a:t>
            </a:r>
          </a:p>
        </p:txBody>
      </p:sp>
      <p:sp>
        <p:nvSpPr>
          <p:cNvPr id="8" name="角丸四角形 7">
            <a:extLst>
              <a:ext uri="{FF2B5EF4-FFF2-40B4-BE49-F238E27FC236}">
                <a16:creationId xmlns:a16="http://schemas.microsoft.com/office/drawing/2014/main" id="{B7D55A94-3119-9A7A-2BC7-94B9A9642658}"/>
              </a:ext>
            </a:extLst>
          </p:cNvPr>
          <p:cNvSpPr/>
          <p:nvPr/>
        </p:nvSpPr>
        <p:spPr bwMode="auto">
          <a:xfrm>
            <a:off x="2051972" y="5859027"/>
            <a:ext cx="5220058" cy="900010"/>
          </a:xfrm>
          <a:prstGeom prst="roundRect">
            <a:avLst/>
          </a:prstGeom>
          <a:solidFill>
            <a:schemeClr val="accent4"/>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dirty="0">
                <a:solidFill>
                  <a:schemeClr val="bg1"/>
                </a:solidFill>
              </a:rPr>
              <a:t>CMOS/</a:t>
            </a:r>
            <a:r>
              <a:rPr kumimoji="1" lang="ja-JP" altLang="en-US" dirty="0">
                <a:solidFill>
                  <a:schemeClr val="bg1"/>
                </a:solidFill>
              </a:rPr>
              <a:t>リレー</a:t>
            </a:r>
            <a:r>
              <a:rPr kumimoji="1" lang="en-US" altLang="ja-JP" dirty="0">
                <a:solidFill>
                  <a:schemeClr val="bg1"/>
                </a:solidFill>
              </a:rPr>
              <a:t>/</a:t>
            </a:r>
            <a:r>
              <a:rPr kumimoji="1" lang="ja-JP" altLang="en-US" dirty="0">
                <a:solidFill>
                  <a:schemeClr val="bg1"/>
                </a:solidFill>
              </a:rPr>
              <a:t>真空管</a:t>
            </a:r>
            <a:r>
              <a:rPr kumimoji="1" lang="en-US" altLang="ja-JP" dirty="0">
                <a:solidFill>
                  <a:schemeClr val="bg1"/>
                </a:solidFill>
              </a:rPr>
              <a:t>/</a:t>
            </a:r>
            <a:r>
              <a:rPr kumimoji="1" lang="ja-JP" altLang="en-US" dirty="0">
                <a:solidFill>
                  <a:schemeClr val="bg1"/>
                </a:solidFill>
              </a:rPr>
              <a:t>レッドストーン </a:t>
            </a:r>
            <a:r>
              <a:rPr kumimoji="1" lang="en-US" altLang="ja-JP" dirty="0">
                <a:solidFill>
                  <a:schemeClr val="bg1"/>
                </a:solidFill>
              </a:rPr>
              <a:t>etc...</a:t>
            </a:r>
            <a:endParaRPr kumimoji="1" lang="ja-JP" altLang="en-US" dirty="0">
              <a:solidFill>
                <a:schemeClr val="bg1"/>
              </a:solidFill>
            </a:endParaRPr>
          </a:p>
        </p:txBody>
      </p:sp>
      <p:cxnSp>
        <p:nvCxnSpPr>
          <p:cNvPr id="10" name="直線コネクタ 9">
            <a:extLst>
              <a:ext uri="{FF2B5EF4-FFF2-40B4-BE49-F238E27FC236}">
                <a16:creationId xmlns:a16="http://schemas.microsoft.com/office/drawing/2014/main" id="{0342EED4-0B72-814D-2308-B15092CDB1B5}"/>
              </a:ext>
            </a:extLst>
          </p:cNvPr>
          <p:cNvCxnSpPr/>
          <p:nvPr/>
        </p:nvCxnSpPr>
        <p:spPr bwMode="auto">
          <a:xfrm>
            <a:off x="1691968" y="5769026"/>
            <a:ext cx="6030067" cy="0"/>
          </a:xfrm>
          <a:prstGeom prst="line">
            <a:avLst/>
          </a:prstGeom>
          <a:noFill/>
          <a:ln w="9525" cap="flat" cmpd="sng" algn="ctr">
            <a:solidFill>
              <a:schemeClr val="tx1"/>
            </a:solidFill>
            <a:prstDash val="solid"/>
            <a:round/>
            <a:headEnd type="none" w="med" len="med"/>
            <a:tailEnd type="none" w="med" len="med"/>
          </a:ln>
          <a:effectLst/>
        </p:spPr>
      </p:cxnSp>
    </p:spTree>
    <p:extLst>
      <p:ext uri="{BB962C8B-B14F-4D97-AF65-F5344CB8AC3E}">
        <p14:creationId xmlns:p14="http://schemas.microsoft.com/office/powerpoint/2010/main" val="5789962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4D02C9-F3B0-33E6-BAC5-EB8AABC2FAB6}"/>
              </a:ext>
            </a:extLst>
          </p:cNvPr>
          <p:cNvSpPr>
            <a:spLocks noGrp="1"/>
          </p:cNvSpPr>
          <p:nvPr>
            <p:ph type="title"/>
          </p:nvPr>
        </p:nvSpPr>
        <p:spPr/>
        <p:txBody>
          <a:bodyPr/>
          <a:lstStyle/>
          <a:p>
            <a:r>
              <a:rPr kumimoji="1" lang="ja-JP" altLang="en-US" dirty="0"/>
              <a:t>リレーや真空管と比較した </a:t>
            </a:r>
            <a:r>
              <a:rPr kumimoji="1" lang="en-US" altLang="ja-JP" dirty="0"/>
              <a:t>CMOS </a:t>
            </a:r>
            <a:r>
              <a:rPr kumimoji="1" lang="ja-JP" altLang="en-US" dirty="0"/>
              <a:t>の利点</a:t>
            </a:r>
            <a:endParaRPr kumimoji="1" lang="en-US" dirty="0"/>
          </a:p>
        </p:txBody>
      </p:sp>
      <p:sp>
        <p:nvSpPr>
          <p:cNvPr id="3" name="コンテンツ プレースホルダー 2">
            <a:extLst>
              <a:ext uri="{FF2B5EF4-FFF2-40B4-BE49-F238E27FC236}">
                <a16:creationId xmlns:a16="http://schemas.microsoft.com/office/drawing/2014/main" id="{301380EF-78A2-28F0-E3C7-2F0C4819691D}"/>
              </a:ext>
            </a:extLst>
          </p:cNvPr>
          <p:cNvSpPr>
            <a:spLocks noGrp="1"/>
          </p:cNvSpPr>
          <p:nvPr>
            <p:ph sz="quarter" idx="10"/>
          </p:nvPr>
        </p:nvSpPr>
        <p:spPr/>
        <p:txBody>
          <a:bodyPr/>
          <a:lstStyle/>
          <a:p>
            <a:r>
              <a:rPr kumimoji="1" lang="ja-JP" altLang="en-US" dirty="0"/>
              <a:t>超小さい：</a:t>
            </a:r>
            <a:r>
              <a:rPr kumimoji="1" lang="en-US" altLang="ja-JP" dirty="0"/>
              <a:t>CMOS </a:t>
            </a:r>
            <a:r>
              <a:rPr kumimoji="1" lang="ja-JP" altLang="en-US" dirty="0"/>
              <a:t>はナノメータ単位ぐらいの大きさで作れる</a:t>
            </a:r>
            <a:endParaRPr kumimoji="1" lang="en-US" altLang="ja-JP" dirty="0"/>
          </a:p>
          <a:p>
            <a:pPr lvl="1"/>
            <a:r>
              <a:rPr kumimoji="1" lang="ja-JP" altLang="en-US" dirty="0"/>
              <a:t>リレーや真空管は頑張っても数 </a:t>
            </a:r>
            <a:r>
              <a:rPr kumimoji="1" lang="en-US" altLang="ja-JP" dirty="0"/>
              <a:t>cm </a:t>
            </a:r>
            <a:r>
              <a:rPr kumimoji="1" lang="ja-JP" altLang="en-US" dirty="0"/>
              <a:t>ぐらい</a:t>
            </a:r>
            <a:endParaRPr kumimoji="1" lang="en-US" altLang="ja-JP" dirty="0"/>
          </a:p>
          <a:p>
            <a:r>
              <a:rPr kumimoji="1" lang="ja-JP" altLang="en-US" dirty="0"/>
              <a:t>超速い：</a:t>
            </a:r>
            <a:r>
              <a:rPr kumimoji="1" lang="en-US" altLang="ja-JP" dirty="0"/>
              <a:t>CMOS </a:t>
            </a:r>
            <a:r>
              <a:rPr kumimoji="1" lang="ja-JP" altLang="en-US" dirty="0"/>
              <a:t>はナノ秒以下で </a:t>
            </a:r>
            <a:r>
              <a:rPr kumimoji="1" lang="en-US" altLang="ja-JP" dirty="0"/>
              <a:t>ON/OFF </a:t>
            </a:r>
            <a:r>
              <a:rPr kumimoji="1" lang="ja-JP" altLang="en-US" dirty="0"/>
              <a:t>できる</a:t>
            </a:r>
            <a:endParaRPr kumimoji="1" lang="en-US" altLang="ja-JP" dirty="0"/>
          </a:p>
          <a:p>
            <a:pPr lvl="1"/>
            <a:r>
              <a:rPr kumimoji="1" lang="ja-JP" altLang="en-US" dirty="0"/>
              <a:t>リレーは物理的に動くので，ミリ秒ぐらいはかかる</a:t>
            </a:r>
            <a:endParaRPr kumimoji="1" lang="en-US" altLang="ja-JP" dirty="0"/>
          </a:p>
          <a:p>
            <a:pPr lvl="1"/>
            <a:r>
              <a:rPr kumimoji="1" lang="ja-JP" altLang="en-US" dirty="0"/>
              <a:t>リレーよりマシだが電子の移動距離が長いので遅い</a:t>
            </a:r>
            <a:endParaRPr kumimoji="1" lang="en-US" altLang="ja-JP" dirty="0"/>
          </a:p>
        </p:txBody>
      </p:sp>
    </p:spTree>
    <p:extLst>
      <p:ext uri="{BB962C8B-B14F-4D97-AF65-F5344CB8AC3E}">
        <p14:creationId xmlns:p14="http://schemas.microsoft.com/office/powerpoint/2010/main" val="35179696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4D02C9-F3B0-33E6-BAC5-EB8AABC2FAB6}"/>
              </a:ext>
            </a:extLst>
          </p:cNvPr>
          <p:cNvSpPr>
            <a:spLocks noGrp="1"/>
          </p:cNvSpPr>
          <p:nvPr>
            <p:ph type="title"/>
          </p:nvPr>
        </p:nvSpPr>
        <p:spPr/>
        <p:txBody>
          <a:bodyPr/>
          <a:lstStyle/>
          <a:p>
            <a:r>
              <a:rPr kumimoji="1" lang="ja-JP" altLang="en-US" dirty="0"/>
              <a:t>リレーや真空管と比較した </a:t>
            </a:r>
            <a:r>
              <a:rPr kumimoji="1" lang="en-US" altLang="ja-JP" dirty="0"/>
              <a:t>CMOS </a:t>
            </a:r>
            <a:r>
              <a:rPr kumimoji="1" lang="ja-JP" altLang="en-US" dirty="0"/>
              <a:t>の利点２</a:t>
            </a:r>
            <a:endParaRPr kumimoji="1" lang="en-US" dirty="0"/>
          </a:p>
        </p:txBody>
      </p:sp>
      <p:sp>
        <p:nvSpPr>
          <p:cNvPr id="3" name="コンテンツ プレースホルダー 2">
            <a:extLst>
              <a:ext uri="{FF2B5EF4-FFF2-40B4-BE49-F238E27FC236}">
                <a16:creationId xmlns:a16="http://schemas.microsoft.com/office/drawing/2014/main" id="{301380EF-78A2-28F0-E3C7-2F0C4819691D}"/>
              </a:ext>
            </a:extLst>
          </p:cNvPr>
          <p:cNvSpPr>
            <a:spLocks noGrp="1"/>
          </p:cNvSpPr>
          <p:nvPr>
            <p:ph sz="quarter" idx="10"/>
          </p:nvPr>
        </p:nvSpPr>
        <p:spPr/>
        <p:txBody>
          <a:bodyPr/>
          <a:lstStyle/>
          <a:p>
            <a:r>
              <a:rPr kumimoji="1" lang="ja-JP" altLang="en-US" dirty="0"/>
              <a:t>超省電力</a:t>
            </a:r>
            <a:endParaRPr kumimoji="1" lang="en-US" altLang="ja-JP" dirty="0"/>
          </a:p>
          <a:p>
            <a:pPr lvl="1"/>
            <a:r>
              <a:rPr kumimoji="1" lang="ja-JP" altLang="en-US" dirty="0"/>
              <a:t>リレーは物理的に動くので結構電気を食う</a:t>
            </a:r>
            <a:endParaRPr kumimoji="1" lang="en-US" altLang="ja-JP" dirty="0"/>
          </a:p>
          <a:p>
            <a:pPr lvl="1"/>
            <a:r>
              <a:rPr kumimoji="1" lang="ja-JP" altLang="en-US" dirty="0"/>
              <a:t>真空管は常に暖め続けるのでめっちゃ電気を食う</a:t>
            </a:r>
            <a:endParaRPr kumimoji="1" lang="en-US" altLang="ja-JP" dirty="0"/>
          </a:p>
          <a:p>
            <a:r>
              <a:rPr kumimoji="1" lang="ja-JP" altLang="en-US" dirty="0"/>
              <a:t>壊れない：</a:t>
            </a:r>
            <a:endParaRPr kumimoji="1" lang="en-US" altLang="ja-JP" dirty="0"/>
          </a:p>
          <a:p>
            <a:pPr lvl="1"/>
            <a:r>
              <a:rPr kumimoji="1" lang="ja-JP" altLang="en-US" dirty="0"/>
              <a:t>リレーは物理的に動くので，バネとか劣化するし，かなり壊れる</a:t>
            </a:r>
            <a:endParaRPr kumimoji="1" lang="en-US" altLang="ja-JP" dirty="0"/>
          </a:p>
          <a:p>
            <a:pPr lvl="1"/>
            <a:r>
              <a:rPr kumimoji="1" lang="ja-JP" altLang="en-US" dirty="0"/>
              <a:t>真空管はフィラメントがそのうち焼き切れるし，ガラスが割れる</a:t>
            </a:r>
            <a:endParaRPr kumimoji="1" lang="en-US" dirty="0"/>
          </a:p>
        </p:txBody>
      </p:sp>
    </p:spTree>
    <p:extLst>
      <p:ext uri="{BB962C8B-B14F-4D97-AF65-F5344CB8AC3E}">
        <p14:creationId xmlns:p14="http://schemas.microsoft.com/office/powerpoint/2010/main" val="393343886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まとめ</a:t>
            </a:r>
          </a:p>
        </p:txBody>
      </p:sp>
      <p:sp>
        <p:nvSpPr>
          <p:cNvPr id="3" name="テキスト プレースホルダー 2"/>
          <p:cNvSpPr>
            <a:spLocks noGrp="1"/>
          </p:cNvSpPr>
          <p:nvPr>
            <p:ph type="body" sz="quarter" idx="10"/>
          </p:nvPr>
        </p:nvSpPr>
        <p:spPr/>
        <p:txBody>
          <a:bodyPr/>
          <a:lstStyle/>
          <a:p>
            <a:r>
              <a:rPr lang="ja-JP" altLang="en-US" dirty="0"/>
              <a:t>論理回路の実現方法</a:t>
            </a:r>
            <a:endParaRPr lang="en-US" altLang="ja-JP" dirty="0"/>
          </a:p>
          <a:p>
            <a:pPr lvl="1"/>
            <a:r>
              <a:rPr lang="ja-JP" altLang="en-US" dirty="0"/>
              <a:t>リレー</a:t>
            </a:r>
            <a:endParaRPr lang="en-US" altLang="ja-JP" dirty="0"/>
          </a:p>
          <a:p>
            <a:pPr lvl="1"/>
            <a:r>
              <a:rPr lang="en-US" altLang="ja-JP" dirty="0"/>
              <a:t>CMOS</a:t>
            </a:r>
          </a:p>
          <a:p>
            <a:r>
              <a:rPr lang="ja-JP" altLang="en-US" dirty="0"/>
              <a:t>論理回路の遅延と消費エネルギー</a:t>
            </a:r>
            <a:endParaRPr lang="en-US" altLang="ja-JP" dirty="0"/>
          </a:p>
          <a:p>
            <a:pPr lvl="1"/>
            <a:r>
              <a:rPr lang="en-US" altLang="ja-JP" dirty="0"/>
              <a:t>CMOS </a:t>
            </a:r>
            <a:r>
              <a:rPr lang="ja-JP" altLang="en-US" dirty="0"/>
              <a:t>の場合，充放電にかかる時間とエネルギー</a:t>
            </a:r>
          </a:p>
        </p:txBody>
      </p:sp>
    </p:spTree>
    <p:extLst>
      <p:ext uri="{BB962C8B-B14F-4D97-AF65-F5344CB8AC3E}">
        <p14:creationId xmlns:p14="http://schemas.microsoft.com/office/powerpoint/2010/main" val="155079789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D1C6A-AC4B-359E-389F-80FB0786D10A}"/>
              </a:ext>
            </a:extLst>
          </p:cNvPr>
          <p:cNvSpPr>
            <a:spLocks noGrp="1"/>
          </p:cNvSpPr>
          <p:nvPr>
            <p:ph type="title"/>
          </p:nvPr>
        </p:nvSpPr>
        <p:spPr/>
        <p:txBody>
          <a:bodyPr/>
          <a:lstStyle/>
          <a:p>
            <a:r>
              <a:rPr kumimoji="1" lang="ja-JP" altLang="en-US" dirty="0"/>
              <a:t>課題 </a:t>
            </a:r>
            <a:r>
              <a:rPr kumimoji="1" lang="en-US" altLang="ja-JP" dirty="0"/>
              <a:t>4</a:t>
            </a:r>
            <a:endParaRPr kumimoji="1" lang="en-US" dirty="0"/>
          </a:p>
        </p:txBody>
      </p:sp>
      <p:sp>
        <p:nvSpPr>
          <p:cNvPr id="3" name="コンテンツ プレースホルダー 2">
            <a:extLst>
              <a:ext uri="{FF2B5EF4-FFF2-40B4-BE49-F238E27FC236}">
                <a16:creationId xmlns:a16="http://schemas.microsoft.com/office/drawing/2014/main" id="{B171FBA6-7482-3F67-1F81-B0AD70367ED7}"/>
              </a:ext>
            </a:extLst>
          </p:cNvPr>
          <p:cNvSpPr>
            <a:spLocks noGrp="1"/>
          </p:cNvSpPr>
          <p:nvPr>
            <p:ph sz="quarter" idx="10"/>
          </p:nvPr>
        </p:nvSpPr>
        <p:spPr>
          <a:xfrm>
            <a:off x="611956" y="1088974"/>
            <a:ext cx="8280092" cy="3510039"/>
          </a:xfrm>
        </p:spPr>
        <p:txBody>
          <a:bodyPr/>
          <a:lstStyle/>
          <a:p>
            <a:r>
              <a:rPr kumimoji="1" lang="ja-JP" altLang="en-US" dirty="0"/>
              <a:t>１０から１までを</a:t>
            </a:r>
            <a:r>
              <a:rPr kumimoji="1" lang="en-US" altLang="ja-JP" dirty="0"/>
              <a:t>1</a:t>
            </a:r>
            <a:r>
              <a:rPr kumimoji="1" lang="ja-JP" altLang="en-US" dirty="0"/>
              <a:t>づつ下りながら数える以下のループをアセンブリ言語で書け</a:t>
            </a:r>
            <a:endParaRPr kumimoji="1" lang="en-US" altLang="ja-JP" dirty="0"/>
          </a:p>
          <a:p>
            <a:pPr lvl="1"/>
            <a:r>
              <a:rPr kumimoji="1" lang="ja-JP" altLang="en-US" dirty="0"/>
              <a:t>使用する命令セットは第２回の講義資料のものに準じる</a:t>
            </a:r>
            <a:endParaRPr kumimoji="1" lang="en-US" altLang="ja-JP" dirty="0"/>
          </a:p>
          <a:p>
            <a:r>
              <a:rPr lang="ja-JP" altLang="en-US" dirty="0"/>
              <a:t>ヒント：</a:t>
            </a:r>
            <a:endParaRPr lang="en-US" altLang="ja-JP" dirty="0"/>
          </a:p>
          <a:p>
            <a:pPr lvl="1"/>
            <a:r>
              <a:rPr lang="ja-JP" altLang="en-US" dirty="0"/>
              <a:t>減算には </a:t>
            </a:r>
            <a:r>
              <a:rPr lang="en-US" dirty="0"/>
              <a:t>add </a:t>
            </a:r>
            <a:r>
              <a:rPr lang="ja-JP" altLang="en-US" dirty="0"/>
              <a:t>の代わりに </a:t>
            </a:r>
            <a:r>
              <a:rPr lang="en-US" altLang="ja-JP" dirty="0"/>
              <a:t>sub </a:t>
            </a:r>
            <a:r>
              <a:rPr lang="ja-JP" altLang="en-US" dirty="0"/>
              <a:t>を使う</a:t>
            </a:r>
            <a:endParaRPr lang="en-US" altLang="ja-JP" dirty="0"/>
          </a:p>
          <a:p>
            <a:pPr lvl="1"/>
            <a:r>
              <a:rPr lang="ja-JP" altLang="en-US" dirty="0"/>
              <a:t>初期値は </a:t>
            </a:r>
            <a:r>
              <a:rPr lang="en-US" altLang="ja-JP" dirty="0"/>
              <a:t>li </a:t>
            </a:r>
            <a:r>
              <a:rPr lang="ja-JP" altLang="en-US" dirty="0"/>
              <a:t>命令で設定</a:t>
            </a:r>
            <a:endParaRPr lang="en-US" altLang="ja-JP" dirty="0"/>
          </a:p>
          <a:p>
            <a:pPr lvl="1"/>
            <a:r>
              <a:rPr kumimoji="1" lang="ja-JP" altLang="en-US" dirty="0"/>
              <a:t>講義中の </a:t>
            </a:r>
            <a:r>
              <a:rPr kumimoji="1" lang="en-US" altLang="ja-JP" dirty="0"/>
              <a:t>for </a:t>
            </a:r>
            <a:r>
              <a:rPr kumimoji="1" lang="ja-JP" altLang="en-US" dirty="0"/>
              <a:t>文の例のようにメモリ上に </a:t>
            </a:r>
            <a:r>
              <a:rPr kumimoji="1" lang="en-US" altLang="ja-JP" dirty="0"/>
              <a:t>i </a:t>
            </a:r>
            <a:r>
              <a:rPr kumimoji="1" lang="ja-JP" altLang="en-US" dirty="0"/>
              <a:t>を置くとややこしいので，レジスタの上で全て終わらした方が楽</a:t>
            </a:r>
            <a:endParaRPr kumimoji="1" lang="en-US" dirty="0"/>
          </a:p>
        </p:txBody>
      </p:sp>
      <p:sp>
        <p:nvSpPr>
          <p:cNvPr id="4" name="テキスト プレースホルダー 2">
            <a:extLst>
              <a:ext uri="{FF2B5EF4-FFF2-40B4-BE49-F238E27FC236}">
                <a16:creationId xmlns:a16="http://schemas.microsoft.com/office/drawing/2014/main" id="{D4632841-FF32-AEF3-316F-CD26E43879E9}"/>
              </a:ext>
            </a:extLst>
          </p:cNvPr>
          <p:cNvSpPr txBox="1">
            <a:spLocks/>
          </p:cNvSpPr>
          <p:nvPr/>
        </p:nvSpPr>
        <p:spPr bwMode="auto">
          <a:xfrm>
            <a:off x="971960" y="4689014"/>
            <a:ext cx="6542471" cy="1080012"/>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Font typeface="Wingdings" panose="05000000000000000000" pitchFamily="2" charset="2"/>
              <a:buNone/>
            </a:pPr>
            <a:r>
              <a:rPr lang="en-US" altLang="ja-JP" kern="0" dirty="0">
                <a:solidFill>
                  <a:schemeClr val="tx1">
                    <a:lumMod val="85000"/>
                    <a:lumOff val="15000"/>
                  </a:schemeClr>
                </a:solidFill>
                <a:latin typeface="Consolas" panose="020B0609020204030204" pitchFamily="49" charset="0"/>
              </a:rPr>
              <a:t>1: </a:t>
            </a:r>
            <a:r>
              <a:rPr lang="en-US" altLang="ja-JP" kern="0" dirty="0">
                <a:solidFill>
                  <a:schemeClr val="accent1"/>
                </a:solidFill>
                <a:latin typeface="Consolas" panose="020B0609020204030204" pitchFamily="49" charset="0"/>
              </a:rPr>
              <a:t>for</a:t>
            </a:r>
            <a:r>
              <a:rPr lang="en-US" altLang="ja-JP" kern="0" dirty="0">
                <a:latin typeface="Consolas" panose="020B0609020204030204" pitchFamily="49" charset="0"/>
              </a:rPr>
              <a:t> (i = 10; i &gt; 0; i-=1) {</a:t>
            </a:r>
            <a:br>
              <a:rPr lang="en-US" altLang="ja-JP" kern="0" dirty="0">
                <a:latin typeface="Consolas" panose="020B0609020204030204" pitchFamily="49" charset="0"/>
              </a:rPr>
            </a:br>
            <a:r>
              <a:rPr lang="en-US" altLang="ja-JP" kern="0" dirty="0">
                <a:latin typeface="Consolas" panose="020B0609020204030204" pitchFamily="49" charset="0"/>
              </a:rPr>
              <a:t>2: }</a:t>
            </a:r>
            <a:endParaRPr lang="ja-JP" altLang="en-US" kern="0" dirty="0">
              <a:latin typeface="Consolas" panose="020B0609020204030204" pitchFamily="49" charset="0"/>
            </a:endParaRPr>
          </a:p>
        </p:txBody>
      </p:sp>
    </p:spTree>
    <p:extLst>
      <p:ext uri="{BB962C8B-B14F-4D97-AF65-F5344CB8AC3E}">
        <p14:creationId xmlns:p14="http://schemas.microsoft.com/office/powerpoint/2010/main" val="12543233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D1C6A-AC4B-359E-389F-80FB0786D10A}"/>
              </a:ext>
            </a:extLst>
          </p:cNvPr>
          <p:cNvSpPr>
            <a:spLocks noGrp="1"/>
          </p:cNvSpPr>
          <p:nvPr>
            <p:ph type="title"/>
          </p:nvPr>
        </p:nvSpPr>
        <p:spPr/>
        <p:txBody>
          <a:bodyPr/>
          <a:lstStyle/>
          <a:p>
            <a:r>
              <a:rPr kumimoji="1" lang="ja-JP" altLang="en-US" dirty="0"/>
              <a:t>提出方法</a:t>
            </a:r>
            <a:endParaRPr kumimoji="1" lang="en-US" dirty="0"/>
          </a:p>
        </p:txBody>
      </p:sp>
      <p:sp>
        <p:nvSpPr>
          <p:cNvPr id="3" name="コンテンツ プレースホルダー 2">
            <a:extLst>
              <a:ext uri="{FF2B5EF4-FFF2-40B4-BE49-F238E27FC236}">
                <a16:creationId xmlns:a16="http://schemas.microsoft.com/office/drawing/2014/main" id="{B171FBA6-7482-3F67-1F81-B0AD70367ED7}"/>
              </a:ext>
            </a:extLst>
          </p:cNvPr>
          <p:cNvSpPr>
            <a:spLocks noGrp="1"/>
          </p:cNvSpPr>
          <p:nvPr>
            <p:ph sz="quarter" idx="10"/>
          </p:nvPr>
        </p:nvSpPr>
        <p:spPr/>
        <p:txBody>
          <a:bodyPr/>
          <a:lstStyle/>
          <a:p>
            <a:r>
              <a:rPr kumimoji="1" lang="ja-JP" altLang="en-US" sz="1800" dirty="0"/>
              <a:t>以下の２つを提出：</a:t>
            </a:r>
            <a:endParaRPr kumimoji="1" lang="en-US" altLang="ja-JP" sz="1800" dirty="0"/>
          </a:p>
          <a:p>
            <a:pPr lvl="1"/>
            <a:r>
              <a:rPr kumimoji="1" lang="ja-JP" altLang="en-US" sz="1800" dirty="0"/>
              <a:t>課題の提出は </a:t>
            </a:r>
            <a:r>
              <a:rPr kumimoji="1" lang="en-US" altLang="ja-JP" sz="1800" dirty="0"/>
              <a:t>Moodle </a:t>
            </a:r>
            <a:r>
              <a:rPr kumimoji="1" lang="ja-JP" altLang="en-US" sz="1800" dirty="0"/>
              <a:t>の「課題４」のところからお願いします</a:t>
            </a:r>
            <a:endParaRPr kumimoji="1" lang="en-US" altLang="ja-JP" sz="1800" dirty="0"/>
          </a:p>
          <a:p>
            <a:pPr lvl="1"/>
            <a:r>
              <a:rPr kumimoji="1" lang="ja-JP" altLang="en-US" sz="1800" dirty="0"/>
              <a:t>感想や質問を「感想や質問」のところに投稿してください</a:t>
            </a:r>
            <a:endParaRPr kumimoji="1" lang="en-US" altLang="ja-JP" sz="1800" dirty="0"/>
          </a:p>
          <a:p>
            <a:pPr lvl="2"/>
            <a:r>
              <a:rPr kumimoji="1" lang="ja-JP" altLang="en-US" sz="1800" dirty="0"/>
              <a:t>わからない場所がある場合，具体的に書いてもらえると良いです</a:t>
            </a:r>
            <a:endParaRPr kumimoji="1" lang="en-US" altLang="ja-JP" sz="1800" dirty="0"/>
          </a:p>
          <a:p>
            <a:r>
              <a:rPr kumimoji="1" lang="ja-JP" altLang="en-US" sz="1800" dirty="0"/>
              <a:t>提出締め切り</a:t>
            </a:r>
            <a:endParaRPr kumimoji="1" lang="en-US" altLang="ja-JP" sz="1800" dirty="0"/>
          </a:p>
          <a:p>
            <a:pPr lvl="1"/>
            <a:r>
              <a:rPr lang="ja-JP" altLang="en-US" sz="1800" dirty="0"/>
              <a:t>次回講義開始まで</a:t>
            </a:r>
            <a:endParaRPr kumimoji="1" lang="en-US" altLang="ja-JP" sz="1800" dirty="0"/>
          </a:p>
          <a:p>
            <a:r>
              <a:rPr kumimoji="1" lang="ja-JP" altLang="en-US" sz="1800" dirty="0"/>
              <a:t>注意：</a:t>
            </a:r>
            <a:endParaRPr kumimoji="1" lang="en-US" altLang="ja-JP" sz="1800" dirty="0"/>
          </a:p>
          <a:p>
            <a:pPr lvl="1"/>
            <a:r>
              <a:rPr kumimoji="1" lang="ja-JP" altLang="en-US" sz="1800" dirty="0"/>
              <a:t>課題の出来は，ある程度努力したあとがあれば良しです</a:t>
            </a:r>
            <a:endParaRPr kumimoji="1" lang="en-US" altLang="ja-JP" sz="1800" dirty="0"/>
          </a:p>
          <a:p>
            <a:pPr lvl="1"/>
            <a:r>
              <a:rPr kumimoji="1" lang="ja-JP" altLang="en-US" sz="1800" dirty="0"/>
              <a:t>必ずしも正解していなくても良いです</a:t>
            </a:r>
            <a:endParaRPr kumimoji="1" lang="en-US" altLang="ja-JP" sz="1800" dirty="0"/>
          </a:p>
        </p:txBody>
      </p:sp>
    </p:spTree>
    <p:extLst>
      <p:ext uri="{BB962C8B-B14F-4D97-AF65-F5344CB8AC3E}">
        <p14:creationId xmlns:p14="http://schemas.microsoft.com/office/powerpoint/2010/main" val="22617826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7945FE3-8256-B516-3DD2-BCC2CEE6F943}"/>
              </a:ext>
            </a:extLst>
          </p:cNvPr>
          <p:cNvSpPr>
            <a:spLocks noGrp="1"/>
          </p:cNvSpPr>
          <p:nvPr>
            <p:ph type="title"/>
          </p:nvPr>
        </p:nvSpPr>
        <p:spPr/>
        <p:txBody>
          <a:bodyPr/>
          <a:lstStyle/>
          <a:p>
            <a:r>
              <a:rPr kumimoji="1" lang="ja-JP" altLang="en-US" dirty="0"/>
              <a:t>付録</a:t>
            </a:r>
            <a:endParaRPr kumimoji="1" lang="en-US" dirty="0"/>
          </a:p>
        </p:txBody>
      </p:sp>
      <p:sp>
        <p:nvSpPr>
          <p:cNvPr id="3" name="コンテンツ プレースホルダー 2">
            <a:extLst>
              <a:ext uri="{FF2B5EF4-FFF2-40B4-BE49-F238E27FC236}">
                <a16:creationId xmlns:a16="http://schemas.microsoft.com/office/drawing/2014/main" id="{F1C4D418-DDCB-AEA8-A3F8-573420D9A6BB}"/>
              </a:ext>
            </a:extLst>
          </p:cNvPr>
          <p:cNvSpPr>
            <a:spLocks noGrp="1"/>
          </p:cNvSpPr>
          <p:nvPr>
            <p:ph sz="quarter" idx="10"/>
          </p:nvPr>
        </p:nvSpPr>
        <p:spPr/>
        <p:txBody>
          <a:bodyPr/>
          <a:lstStyle/>
          <a:p>
            <a:endParaRPr kumimoji="1" lang="en-US"/>
          </a:p>
        </p:txBody>
      </p:sp>
    </p:spTree>
    <p:extLst>
      <p:ext uri="{BB962C8B-B14F-4D97-AF65-F5344CB8AC3E}">
        <p14:creationId xmlns:p14="http://schemas.microsoft.com/office/powerpoint/2010/main" val="188352281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実際の回路生成</a:t>
            </a:r>
            <a:endParaRPr lang="ja-JP" altLang="en-US" dirty="0"/>
          </a:p>
        </p:txBody>
      </p:sp>
      <p:sp>
        <p:nvSpPr>
          <p:cNvPr id="8" name="テキスト プレースホルダー 7"/>
          <p:cNvSpPr>
            <a:spLocks noGrp="1"/>
          </p:cNvSpPr>
          <p:nvPr>
            <p:ph type="body" sz="quarter" idx="10"/>
          </p:nvPr>
        </p:nvSpPr>
        <p:spPr>
          <a:xfrm>
            <a:off x="341953" y="2888994"/>
            <a:ext cx="8550095" cy="3599733"/>
          </a:xfrm>
        </p:spPr>
        <p:txBody>
          <a:bodyPr/>
          <a:lstStyle/>
          <a:p>
            <a:pPr marL="457200" indent="-457200">
              <a:buFont typeface="+mj-lt"/>
              <a:buAutoNum type="arabicPeriod"/>
            </a:pPr>
            <a:r>
              <a:rPr kumimoji="1" lang="ja-JP" altLang="en-US" dirty="0"/>
              <a:t>ハードウェア記述言語から，論理関数を生成：</a:t>
            </a:r>
            <a:endParaRPr kumimoji="1" lang="en-US" altLang="ja-JP" dirty="0"/>
          </a:p>
          <a:p>
            <a:pPr lvl="1"/>
            <a:r>
              <a:rPr kumimoji="1" lang="ja-JP" altLang="en-US" dirty="0"/>
              <a:t>ナイーブには，入力の全パターンに対して出力を記録した真理値表</a:t>
            </a:r>
            <a:endParaRPr kumimoji="1" lang="en-US" altLang="ja-JP" dirty="0"/>
          </a:p>
          <a:p>
            <a:pPr lvl="2"/>
            <a:r>
              <a:rPr kumimoji="1" lang="ja-JP" altLang="en-US" dirty="0"/>
              <a:t>実際には表のサイズが爆発して，真理値表ではすぐに破綻</a:t>
            </a:r>
            <a:endParaRPr kumimoji="1" lang="en-US" altLang="ja-JP" dirty="0"/>
          </a:p>
          <a:p>
            <a:pPr lvl="2"/>
            <a:r>
              <a:rPr kumimoji="1" lang="ja-JP" altLang="en-US" dirty="0"/>
              <a:t>表のサイズ </a:t>
            </a:r>
            <a:r>
              <a:rPr kumimoji="1" lang="en-US" altLang="ja-JP" dirty="0"/>
              <a:t>= 2 </a:t>
            </a:r>
            <a:r>
              <a:rPr kumimoji="1" lang="ja-JP" altLang="en-US" dirty="0"/>
              <a:t>の入力ビット数乗</a:t>
            </a:r>
            <a:endParaRPr kumimoji="1" lang="en-US" altLang="ja-JP" dirty="0"/>
          </a:p>
          <a:p>
            <a:pPr lvl="1"/>
            <a:r>
              <a:rPr kumimoji="1" lang="ja-JP" altLang="en-US" dirty="0"/>
              <a:t>さまざまな効率的な保持方法が提案されており，使用されている</a:t>
            </a:r>
            <a:endParaRPr kumimoji="1" lang="en-US" altLang="ja-JP" dirty="0"/>
          </a:p>
          <a:p>
            <a:pPr lvl="2"/>
            <a:r>
              <a:rPr lang="en-US" altLang="ja-JP" dirty="0"/>
              <a:t>Binary Decision Diagram (BDD)</a:t>
            </a:r>
          </a:p>
        </p:txBody>
      </p:sp>
      <p:sp>
        <p:nvSpPr>
          <p:cNvPr id="9" name="正方形/長方形 8"/>
          <p:cNvSpPr/>
          <p:nvPr/>
        </p:nvSpPr>
        <p:spPr bwMode="auto">
          <a:xfrm>
            <a:off x="3491988" y="1538979"/>
            <a:ext cx="2340026" cy="1530017"/>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kumimoji="1" lang="en-US" altLang="ja-JP" sz="1600" dirty="0">
                <a:solidFill>
                  <a:schemeClr val="accent1"/>
                </a:solidFill>
                <a:latin typeface="Consolas" panose="020B0609020204030204" pitchFamily="49" charset="0"/>
                <a:ea typeface="メイリオ" panose="020B0604030504040204" pitchFamily="50" charset="-128"/>
              </a:rPr>
              <a:t>if</a:t>
            </a:r>
            <a:r>
              <a:rPr kumimoji="1"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code == </a:t>
            </a:r>
            <a:r>
              <a:rPr kumimoji="1" lang="en-US" altLang="ja-JP" sz="1600" dirty="0">
                <a:solidFill>
                  <a:schemeClr val="accent6"/>
                </a:solidFill>
                <a:latin typeface="Consolas" panose="020B0609020204030204" pitchFamily="49" charset="0"/>
                <a:ea typeface="メイリオ" panose="020B0604030504040204" pitchFamily="50" charset="-128"/>
              </a:rPr>
              <a:t>100</a:t>
            </a:r>
            <a:r>
              <a:rPr kumimoji="1"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out = rs1 </a:t>
            </a:r>
            <a:r>
              <a:rPr lang="en-US" altLang="ja-JP" sz="1600" dirty="0" err="1">
                <a:solidFill>
                  <a:schemeClr val="accent1"/>
                </a:solidFill>
                <a:latin typeface="Consolas" panose="020B0609020204030204" pitchFamily="49" charset="0"/>
                <a:ea typeface="メイリオ" panose="020B0604030504040204" pitchFamily="50" charset="-128"/>
              </a:rPr>
              <a:t>xor</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rs2</a:t>
            </a:r>
          </a:p>
          <a:p>
            <a:r>
              <a:rPr kumimoji="1" lang="en-US" altLang="ja-JP" sz="1600" dirty="0" err="1">
                <a:solidFill>
                  <a:schemeClr val="accent1"/>
                </a:solidFill>
                <a:latin typeface="Consolas" panose="020B0609020204030204" pitchFamily="49" charset="0"/>
                <a:ea typeface="メイリオ" panose="020B0604030504040204" pitchFamily="50" charset="-128"/>
              </a:rPr>
              <a:t>elif</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code == </a:t>
            </a:r>
            <a:r>
              <a:rPr lang="en-US" altLang="ja-JP" sz="1600" dirty="0">
                <a:solidFill>
                  <a:schemeClr val="accent6"/>
                </a:solidFill>
                <a:latin typeface="Consolas" panose="020B0609020204030204" pitchFamily="49" charset="0"/>
                <a:ea typeface="メイリオ" panose="020B0604030504040204" pitchFamily="50" charset="-128"/>
              </a:rPr>
              <a:t>110</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out = rs1 </a:t>
            </a:r>
            <a:r>
              <a:rPr lang="en-US" altLang="ja-JP" sz="1600" dirty="0">
                <a:solidFill>
                  <a:schemeClr val="accent1"/>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a:p>
            <a:r>
              <a:rPr lang="en-US" altLang="ja-JP" sz="1600" dirty="0">
                <a:solidFill>
                  <a:schemeClr val="accent1"/>
                </a:solidFill>
                <a:latin typeface="Consolas" panose="020B0609020204030204" pitchFamily="49" charset="0"/>
                <a:ea typeface="メイリオ" panose="020B0604030504040204" pitchFamily="50" charset="-128"/>
              </a:rPr>
              <a:t>else</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out = rs1 </a:t>
            </a:r>
            <a:r>
              <a:rPr lang="en-US" altLang="ja-JP" sz="1600" dirty="0">
                <a:solidFill>
                  <a:schemeClr val="accent1"/>
                </a:solidFill>
                <a:latin typeface="Consolas" panose="020B0609020204030204" pitchFamily="49" charset="0"/>
                <a:ea typeface="メイリオ" panose="020B0604030504040204" pitchFamily="50" charset="-128"/>
              </a:rPr>
              <a:t>and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p:txBody>
      </p:sp>
    </p:spTree>
    <p:extLst>
      <p:ext uri="{BB962C8B-B14F-4D97-AF65-F5344CB8AC3E}">
        <p14:creationId xmlns:p14="http://schemas.microsoft.com/office/powerpoint/2010/main" val="397120615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実際の回路生成</a:t>
            </a:r>
            <a:endParaRPr lang="ja-JP" altLang="en-US" dirty="0"/>
          </a:p>
        </p:txBody>
      </p:sp>
      <p:sp>
        <p:nvSpPr>
          <p:cNvPr id="8" name="テキスト プレースホルダー 7"/>
          <p:cNvSpPr>
            <a:spLocks noGrp="1"/>
          </p:cNvSpPr>
          <p:nvPr>
            <p:ph type="body" sz="quarter" idx="10"/>
          </p:nvPr>
        </p:nvSpPr>
        <p:spPr>
          <a:xfrm>
            <a:off x="611956" y="1268976"/>
            <a:ext cx="8280092" cy="5219751"/>
          </a:xfrm>
        </p:spPr>
        <p:txBody>
          <a:bodyPr/>
          <a:lstStyle/>
          <a:p>
            <a:pPr marL="457200" indent="-457200">
              <a:buFont typeface="+mj-lt"/>
              <a:buAutoNum type="arabicPeriod"/>
            </a:pPr>
            <a:r>
              <a:rPr kumimoji="1" lang="ja-JP" altLang="en-US" dirty="0"/>
              <a:t>論理合成：</a:t>
            </a:r>
            <a:endParaRPr kumimoji="1" lang="en-US" altLang="ja-JP" dirty="0"/>
          </a:p>
          <a:p>
            <a:pPr marL="817200" lvl="1" indent="-457200">
              <a:buFont typeface="+mj-lt"/>
              <a:buAutoNum type="arabicPeriod"/>
            </a:pPr>
            <a:r>
              <a:rPr kumimoji="1" lang="ja-JP" altLang="en-US" dirty="0"/>
              <a:t>ハードウェア記述言語から，論理関数を生成</a:t>
            </a:r>
            <a:endParaRPr kumimoji="1" lang="en-US" altLang="ja-JP" dirty="0"/>
          </a:p>
          <a:p>
            <a:pPr marL="817200" lvl="1" indent="-457200">
              <a:buFont typeface="+mj-lt"/>
              <a:buAutoNum type="arabicPeriod"/>
            </a:pPr>
            <a:r>
              <a:rPr kumimoji="1" lang="ja-JP" altLang="en-US" dirty="0"/>
              <a:t>生成された論理関数を最適化</a:t>
            </a:r>
            <a:endParaRPr kumimoji="1" lang="en-US" altLang="ja-JP" dirty="0"/>
          </a:p>
          <a:p>
            <a:pPr lvl="2"/>
            <a:r>
              <a:rPr kumimoji="1" lang="ja-JP" altLang="en-US" dirty="0"/>
              <a:t>カルノー図：４入力ぐらいが限界</a:t>
            </a:r>
            <a:endParaRPr kumimoji="1" lang="en-US" altLang="ja-JP" dirty="0"/>
          </a:p>
          <a:p>
            <a:pPr lvl="2"/>
            <a:r>
              <a:rPr kumimoji="1" lang="ja-JP" altLang="en-US" dirty="0"/>
              <a:t>クワイン・マクラスキー法：</a:t>
            </a:r>
            <a:r>
              <a:rPr lang="ja-JP" altLang="en-US" dirty="0"/>
              <a:t>入力数が増えると計算量が爆発</a:t>
            </a:r>
            <a:endParaRPr kumimoji="1" lang="en-US" altLang="ja-JP" dirty="0"/>
          </a:p>
          <a:p>
            <a:pPr lvl="2"/>
            <a:r>
              <a:rPr kumimoji="1" lang="ja-JP" altLang="en-US" dirty="0"/>
              <a:t>さまざまな最適化アルゴリズムが提案・使用されている</a:t>
            </a:r>
            <a:endParaRPr kumimoji="1" lang="en-US" altLang="ja-JP" dirty="0"/>
          </a:p>
          <a:p>
            <a:pPr marL="817200" lvl="1" indent="-457200">
              <a:buFont typeface="+mj-lt"/>
              <a:buAutoNum type="arabicPeriod"/>
            </a:pPr>
            <a:r>
              <a:rPr lang="ja-JP" altLang="en-US" dirty="0"/>
              <a:t>回路のプリミティブと接続関係を生成</a:t>
            </a:r>
            <a:endParaRPr lang="en-US" altLang="ja-JP" dirty="0"/>
          </a:p>
          <a:p>
            <a:pPr lvl="2"/>
            <a:r>
              <a:rPr lang="en-US" altLang="ja-JP" dirty="0"/>
              <a:t>AND, OR, NOT, D-FF </a:t>
            </a:r>
            <a:r>
              <a:rPr lang="ja-JP" altLang="en-US" dirty="0"/>
              <a:t>を始めとして，よく現れる回路の部品が用意される</a:t>
            </a:r>
            <a:endParaRPr kumimoji="1" lang="en-US" altLang="ja-JP" dirty="0"/>
          </a:p>
          <a:p>
            <a:pPr marL="457200" indent="-457200">
              <a:buFont typeface="+mj-lt"/>
              <a:buAutoNum type="arabicPeriod"/>
            </a:pPr>
            <a:r>
              <a:rPr lang="ja-JP" altLang="en-US" dirty="0"/>
              <a:t>配置・配線：</a:t>
            </a:r>
            <a:endParaRPr lang="en-US" altLang="ja-JP" dirty="0"/>
          </a:p>
          <a:p>
            <a:pPr marL="817200" lvl="1" indent="-457200">
              <a:buFont typeface="+mj-lt"/>
              <a:buAutoNum type="arabicPeriod"/>
            </a:pPr>
            <a:r>
              <a:rPr kumimoji="1" lang="ja-JP" altLang="en-US" dirty="0"/>
              <a:t>回路のプリミティブを配置・配線</a:t>
            </a:r>
            <a:endParaRPr kumimoji="1" lang="en-US" altLang="ja-JP" dirty="0"/>
          </a:p>
        </p:txBody>
      </p:sp>
    </p:spTree>
    <p:extLst>
      <p:ext uri="{BB962C8B-B14F-4D97-AF65-F5344CB8AC3E}">
        <p14:creationId xmlns:p14="http://schemas.microsoft.com/office/powerpoint/2010/main" val="216779467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スタンダード・セル</a:t>
            </a:r>
          </a:p>
        </p:txBody>
      </p:sp>
      <p:sp>
        <p:nvSpPr>
          <p:cNvPr id="3" name="テキスト プレースホルダー 2"/>
          <p:cNvSpPr>
            <a:spLocks noGrp="1"/>
          </p:cNvSpPr>
          <p:nvPr>
            <p:ph type="body" sz="quarter" idx="10"/>
          </p:nvPr>
        </p:nvSpPr>
        <p:spPr>
          <a:xfrm>
            <a:off x="251952" y="4869016"/>
            <a:ext cx="8640096" cy="1439709"/>
          </a:xfrm>
        </p:spPr>
        <p:txBody>
          <a:bodyPr/>
          <a:lstStyle/>
          <a:p>
            <a:r>
              <a:rPr kumimoji="1" lang="ja-JP" altLang="en-US" dirty="0"/>
              <a:t>スタンダード・セル：</a:t>
            </a:r>
            <a:endParaRPr kumimoji="1" lang="en-US" altLang="ja-JP" dirty="0"/>
          </a:p>
          <a:p>
            <a:pPr lvl="1"/>
            <a:r>
              <a:rPr lang="en-US" altLang="ja-JP" dirty="0"/>
              <a:t>AND </a:t>
            </a:r>
            <a:r>
              <a:rPr lang="ja-JP" altLang="en-US" dirty="0"/>
              <a:t>や </a:t>
            </a:r>
            <a:r>
              <a:rPr lang="en-US" altLang="ja-JP" dirty="0"/>
              <a:t>OR </a:t>
            </a:r>
            <a:r>
              <a:rPr lang="ja-JP" altLang="en-US" dirty="0" err="1"/>
              <a:t>のような</a:t>
            </a:r>
            <a:r>
              <a:rPr lang="ja-JP" altLang="en-US" dirty="0"/>
              <a:t>プリミティブとなる回路「セル」を用意</a:t>
            </a:r>
            <a:endParaRPr lang="en-US" altLang="ja-JP" dirty="0"/>
          </a:p>
          <a:p>
            <a:pPr lvl="2"/>
            <a:r>
              <a:rPr lang="ja-JP" altLang="en-US" dirty="0"/>
              <a:t>高さを幅を揃えておいて，簡単に並べられるように作ってある</a:t>
            </a:r>
          </a:p>
          <a:p>
            <a:pPr lvl="1"/>
            <a:r>
              <a:rPr kumimoji="1" lang="ja-JP" altLang="en-US" dirty="0"/>
              <a:t>これらを配置して，配線を接続することにより回路を実現</a:t>
            </a:r>
            <a:endParaRPr kumimoji="1" lang="en-US" altLang="ja-JP" dirty="0"/>
          </a:p>
          <a:p>
            <a:pPr lvl="2"/>
            <a:r>
              <a:rPr kumimoji="1" lang="ja-JP" altLang="en-US" dirty="0"/>
              <a:t>配置配線という</a:t>
            </a:r>
            <a:endParaRPr kumimoji="1" lang="en-US" altLang="ja-JP" dirty="0"/>
          </a:p>
        </p:txBody>
      </p:sp>
      <p:sp>
        <p:nvSpPr>
          <p:cNvPr id="4" name="正方形/長方形 3"/>
          <p:cNvSpPr/>
          <p:nvPr/>
        </p:nvSpPr>
        <p:spPr bwMode="auto">
          <a:xfrm>
            <a:off x="1961971" y="1088974"/>
            <a:ext cx="4770053"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VDD</a:t>
            </a:r>
            <a:endParaRPr kumimoji="1" lang="ja-JP" altLang="en-US" dirty="0">
              <a:solidFill>
                <a:schemeClr val="tx1">
                  <a:lumMod val="75000"/>
                  <a:lumOff val="25000"/>
                </a:schemeClr>
              </a:solidFill>
              <a:latin typeface="+mn-ea"/>
            </a:endParaRPr>
          </a:p>
        </p:txBody>
      </p:sp>
      <p:sp>
        <p:nvSpPr>
          <p:cNvPr id="7" name="正方形/長方形 6"/>
          <p:cNvSpPr/>
          <p:nvPr/>
        </p:nvSpPr>
        <p:spPr bwMode="auto">
          <a:xfrm>
            <a:off x="2411976" y="1448978"/>
            <a:ext cx="630007" cy="108001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AND</a:t>
            </a:r>
            <a:endParaRPr kumimoji="1" lang="ja-JP" altLang="en-US" dirty="0">
              <a:solidFill>
                <a:schemeClr val="tx1">
                  <a:lumMod val="75000"/>
                  <a:lumOff val="25000"/>
                </a:schemeClr>
              </a:solidFill>
              <a:latin typeface="+mn-ea"/>
            </a:endParaRPr>
          </a:p>
        </p:txBody>
      </p:sp>
      <p:sp>
        <p:nvSpPr>
          <p:cNvPr id="8" name="正方形/長方形 7"/>
          <p:cNvSpPr/>
          <p:nvPr/>
        </p:nvSpPr>
        <p:spPr bwMode="auto">
          <a:xfrm>
            <a:off x="3041983" y="1448978"/>
            <a:ext cx="630007" cy="108001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OR</a:t>
            </a:r>
            <a:endParaRPr kumimoji="1" lang="ja-JP" altLang="en-US" dirty="0">
              <a:solidFill>
                <a:schemeClr val="tx1">
                  <a:lumMod val="75000"/>
                  <a:lumOff val="25000"/>
                </a:schemeClr>
              </a:solidFill>
              <a:latin typeface="+mn-ea"/>
            </a:endParaRPr>
          </a:p>
        </p:txBody>
      </p:sp>
      <p:sp>
        <p:nvSpPr>
          <p:cNvPr id="9" name="正方形/長方形 8"/>
          <p:cNvSpPr/>
          <p:nvPr/>
        </p:nvSpPr>
        <p:spPr bwMode="auto">
          <a:xfrm>
            <a:off x="3671990" y="1448978"/>
            <a:ext cx="630007" cy="108001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AND</a:t>
            </a:r>
            <a:endParaRPr kumimoji="1" lang="ja-JP" altLang="en-US" dirty="0">
              <a:solidFill>
                <a:schemeClr val="tx1">
                  <a:lumMod val="75000"/>
                  <a:lumOff val="25000"/>
                </a:schemeClr>
              </a:solidFill>
              <a:latin typeface="+mn-ea"/>
            </a:endParaRPr>
          </a:p>
        </p:txBody>
      </p:sp>
      <p:sp>
        <p:nvSpPr>
          <p:cNvPr id="10" name="正方形/長方形 9"/>
          <p:cNvSpPr/>
          <p:nvPr/>
        </p:nvSpPr>
        <p:spPr bwMode="auto">
          <a:xfrm>
            <a:off x="4301997" y="1448978"/>
            <a:ext cx="630007" cy="108001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OR</a:t>
            </a:r>
            <a:endParaRPr kumimoji="1" lang="ja-JP" altLang="en-US" dirty="0">
              <a:solidFill>
                <a:schemeClr val="tx1">
                  <a:lumMod val="75000"/>
                  <a:lumOff val="25000"/>
                </a:schemeClr>
              </a:solidFill>
              <a:latin typeface="+mn-ea"/>
            </a:endParaRPr>
          </a:p>
        </p:txBody>
      </p:sp>
      <p:sp>
        <p:nvSpPr>
          <p:cNvPr id="11" name="正方形/長方形 10"/>
          <p:cNvSpPr/>
          <p:nvPr/>
        </p:nvSpPr>
        <p:spPr bwMode="auto">
          <a:xfrm>
            <a:off x="4932004" y="1448978"/>
            <a:ext cx="1440016" cy="108001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D-FF</a:t>
            </a:r>
            <a:endParaRPr kumimoji="1" lang="ja-JP" altLang="en-US" dirty="0">
              <a:solidFill>
                <a:schemeClr val="tx1">
                  <a:lumMod val="75000"/>
                  <a:lumOff val="25000"/>
                </a:schemeClr>
              </a:solidFill>
              <a:latin typeface="+mn-ea"/>
            </a:endParaRPr>
          </a:p>
        </p:txBody>
      </p:sp>
      <p:sp>
        <p:nvSpPr>
          <p:cNvPr id="5" name="正方形/長方形 4"/>
          <p:cNvSpPr/>
          <p:nvPr/>
        </p:nvSpPr>
        <p:spPr bwMode="auto">
          <a:xfrm>
            <a:off x="1961971" y="2528990"/>
            <a:ext cx="4770053"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GND</a:t>
            </a:r>
            <a:endParaRPr kumimoji="1" lang="ja-JP" altLang="en-US" dirty="0">
              <a:solidFill>
                <a:schemeClr val="tx1">
                  <a:lumMod val="75000"/>
                  <a:lumOff val="25000"/>
                </a:schemeClr>
              </a:solidFill>
              <a:latin typeface="+mn-ea"/>
            </a:endParaRPr>
          </a:p>
        </p:txBody>
      </p:sp>
      <p:sp>
        <p:nvSpPr>
          <p:cNvPr id="12" name="正方形/長方形 11"/>
          <p:cNvSpPr/>
          <p:nvPr/>
        </p:nvSpPr>
        <p:spPr bwMode="auto">
          <a:xfrm>
            <a:off x="3851992" y="2888994"/>
            <a:ext cx="630007" cy="108001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NOT</a:t>
            </a:r>
            <a:endParaRPr kumimoji="1" lang="ja-JP" altLang="en-US" dirty="0">
              <a:solidFill>
                <a:schemeClr val="tx1">
                  <a:lumMod val="75000"/>
                  <a:lumOff val="25000"/>
                </a:schemeClr>
              </a:solidFill>
              <a:latin typeface="+mn-ea"/>
            </a:endParaRPr>
          </a:p>
        </p:txBody>
      </p:sp>
      <p:sp>
        <p:nvSpPr>
          <p:cNvPr id="13" name="正方形/長方形 12"/>
          <p:cNvSpPr/>
          <p:nvPr/>
        </p:nvSpPr>
        <p:spPr bwMode="auto">
          <a:xfrm>
            <a:off x="4481999" y="2888994"/>
            <a:ext cx="630007" cy="108001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NOT</a:t>
            </a:r>
            <a:endParaRPr kumimoji="1" lang="ja-JP" altLang="en-US" dirty="0">
              <a:solidFill>
                <a:schemeClr val="tx1">
                  <a:lumMod val="75000"/>
                  <a:lumOff val="25000"/>
                </a:schemeClr>
              </a:solidFill>
              <a:latin typeface="+mn-ea"/>
            </a:endParaRPr>
          </a:p>
        </p:txBody>
      </p:sp>
      <p:sp>
        <p:nvSpPr>
          <p:cNvPr id="14" name="正方形/長方形 13"/>
          <p:cNvSpPr/>
          <p:nvPr/>
        </p:nvSpPr>
        <p:spPr bwMode="auto">
          <a:xfrm>
            <a:off x="5112006" y="2888994"/>
            <a:ext cx="630007" cy="108001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AND</a:t>
            </a:r>
            <a:endParaRPr kumimoji="1" lang="ja-JP" altLang="en-US" dirty="0">
              <a:solidFill>
                <a:schemeClr val="tx1">
                  <a:lumMod val="75000"/>
                  <a:lumOff val="25000"/>
                </a:schemeClr>
              </a:solidFill>
              <a:latin typeface="+mn-ea"/>
            </a:endParaRPr>
          </a:p>
        </p:txBody>
      </p:sp>
      <p:sp>
        <p:nvSpPr>
          <p:cNvPr id="15" name="正方形/長方形 14"/>
          <p:cNvSpPr/>
          <p:nvPr/>
        </p:nvSpPr>
        <p:spPr bwMode="auto">
          <a:xfrm>
            <a:off x="5742013" y="2888994"/>
            <a:ext cx="630007" cy="108001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OR</a:t>
            </a:r>
            <a:endParaRPr kumimoji="1" lang="ja-JP" altLang="en-US" dirty="0">
              <a:solidFill>
                <a:schemeClr val="tx1">
                  <a:lumMod val="75000"/>
                  <a:lumOff val="25000"/>
                </a:schemeClr>
              </a:solidFill>
              <a:latin typeface="+mn-ea"/>
            </a:endParaRPr>
          </a:p>
        </p:txBody>
      </p:sp>
      <p:sp>
        <p:nvSpPr>
          <p:cNvPr id="16" name="正方形/長方形 15"/>
          <p:cNvSpPr/>
          <p:nvPr/>
        </p:nvSpPr>
        <p:spPr bwMode="auto">
          <a:xfrm>
            <a:off x="2411976" y="2888994"/>
            <a:ext cx="1440016" cy="108001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D-FF</a:t>
            </a:r>
            <a:endParaRPr kumimoji="1" lang="ja-JP" altLang="en-US" dirty="0">
              <a:solidFill>
                <a:schemeClr val="tx1">
                  <a:lumMod val="75000"/>
                  <a:lumOff val="25000"/>
                </a:schemeClr>
              </a:solidFill>
              <a:latin typeface="+mn-ea"/>
            </a:endParaRPr>
          </a:p>
        </p:txBody>
      </p:sp>
      <p:sp>
        <p:nvSpPr>
          <p:cNvPr id="6" name="正方形/長方形 5"/>
          <p:cNvSpPr/>
          <p:nvPr/>
        </p:nvSpPr>
        <p:spPr bwMode="auto">
          <a:xfrm>
            <a:off x="1961971" y="3969006"/>
            <a:ext cx="4770053"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lumMod val="75000"/>
                    <a:lumOff val="25000"/>
                  </a:schemeClr>
                </a:solidFill>
                <a:latin typeface="+mn-ea"/>
              </a:rPr>
              <a:t>VDD</a:t>
            </a:r>
            <a:endParaRPr kumimoji="1"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148843917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フルカスタム・レイアウト</a:t>
            </a:r>
          </a:p>
        </p:txBody>
      </p:sp>
      <p:sp>
        <p:nvSpPr>
          <p:cNvPr id="3" name="テキスト プレースホルダー 2"/>
          <p:cNvSpPr>
            <a:spLocks noGrp="1"/>
          </p:cNvSpPr>
          <p:nvPr>
            <p:ph type="body" sz="quarter" idx="10"/>
          </p:nvPr>
        </p:nvSpPr>
        <p:spPr>
          <a:xfrm>
            <a:off x="611956" y="3158997"/>
            <a:ext cx="8280092" cy="3329730"/>
          </a:xfrm>
        </p:spPr>
        <p:txBody>
          <a:bodyPr/>
          <a:lstStyle/>
          <a:p>
            <a:r>
              <a:rPr kumimoji="1" lang="ja-JP" altLang="en-US" dirty="0"/>
              <a:t>各スタンダード・セル（ゲート）は複数のトランジスタにより構成</a:t>
            </a:r>
            <a:endParaRPr kumimoji="1" lang="en-US" altLang="ja-JP" dirty="0"/>
          </a:p>
          <a:p>
            <a:r>
              <a:rPr kumimoji="1" lang="ja-JP" altLang="en-US" dirty="0"/>
              <a:t>フルカスタム・レイアウト：</a:t>
            </a:r>
            <a:endParaRPr kumimoji="1" lang="en-US" altLang="ja-JP" dirty="0"/>
          </a:p>
          <a:p>
            <a:pPr lvl="1"/>
            <a:r>
              <a:rPr kumimoji="1" lang="ja-JP" altLang="en-US" dirty="0"/>
              <a:t>半導体チップ上に１つ１つトランジスタをお絵かきして設計</a:t>
            </a:r>
            <a:endParaRPr kumimoji="1" lang="en-US" altLang="ja-JP" dirty="0"/>
          </a:p>
          <a:p>
            <a:pPr lvl="2"/>
            <a:r>
              <a:rPr kumimoji="1" lang="ja-JP" altLang="en-US" dirty="0"/>
              <a:t>形状が特定のパターンを満たすと，トランジスタとして機能</a:t>
            </a:r>
            <a:endParaRPr kumimoji="1" lang="en-US" altLang="ja-JP" dirty="0"/>
          </a:p>
          <a:p>
            <a:pPr lvl="1"/>
            <a:r>
              <a:rPr kumimoji="1" lang="ja-JP" altLang="en-US" dirty="0"/>
              <a:t>尋常じゃない手間がかかる</a:t>
            </a:r>
            <a:endParaRPr kumimoji="1" lang="en-US" altLang="ja-JP" dirty="0"/>
          </a:p>
          <a:p>
            <a:r>
              <a:rPr lang="ja-JP" altLang="en-US" dirty="0"/>
              <a:t>今はスタセルの中身と，本当に性能が出したい部分だけこれで作る</a:t>
            </a:r>
            <a:endParaRPr lang="en-US" altLang="ja-JP" dirty="0"/>
          </a:p>
          <a:p>
            <a:pPr lvl="1"/>
            <a:r>
              <a:rPr kumimoji="1" lang="ja-JP" altLang="en-US" dirty="0"/>
              <a:t>ごく一部だけアセンブリ言語でプログラムするようなもの</a:t>
            </a:r>
          </a:p>
        </p:txBody>
      </p:sp>
      <p:grpSp>
        <p:nvGrpSpPr>
          <p:cNvPr id="153" name="グループ化 152"/>
          <p:cNvGrpSpPr/>
          <p:nvPr/>
        </p:nvGrpSpPr>
        <p:grpSpPr>
          <a:xfrm>
            <a:off x="2231974" y="998973"/>
            <a:ext cx="4320664" cy="1980308"/>
            <a:chOff x="2231952" y="1088952"/>
            <a:chExt cx="5220696" cy="2520336"/>
          </a:xfrm>
        </p:grpSpPr>
        <p:sp>
          <p:nvSpPr>
            <p:cNvPr id="4" name="正方形/長方形 3"/>
            <p:cNvSpPr/>
            <p:nvPr/>
          </p:nvSpPr>
          <p:spPr>
            <a:xfrm rot="5400000">
              <a:off x="3402108" y="1358988"/>
              <a:ext cx="1080144" cy="540072"/>
            </a:xfrm>
            <a:prstGeom prst="rect">
              <a:avLst/>
            </a:prstGeom>
            <a:solidFill>
              <a:schemeClr val="accent2">
                <a:lumMod val="20000"/>
                <a:lumOff val="8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正方形/長方形 4"/>
            <p:cNvSpPr/>
            <p:nvPr/>
          </p:nvSpPr>
          <p:spPr>
            <a:xfrm rot="5400000">
              <a:off x="4032192" y="1629024"/>
              <a:ext cx="1800240" cy="720096"/>
            </a:xfrm>
            <a:prstGeom prst="rect">
              <a:avLst/>
            </a:prstGeom>
            <a:solidFill>
              <a:schemeClr val="accent1">
                <a:lumMod val="20000"/>
                <a:lumOff val="8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p:cNvSpPr/>
            <p:nvPr/>
          </p:nvSpPr>
          <p:spPr>
            <a:xfrm rot="5400000">
              <a:off x="4414753" y="751417"/>
              <a:ext cx="180024" cy="1755213"/>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p:cNvSpPr/>
            <p:nvPr/>
          </p:nvSpPr>
          <p:spPr>
            <a:xfrm rot="5400000">
              <a:off x="4819789" y="1921571"/>
              <a:ext cx="180024" cy="855097"/>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p:cNvSpPr/>
            <p:nvPr/>
          </p:nvSpPr>
          <p:spPr>
            <a:xfrm rot="5400000">
              <a:off x="2051928" y="2349120"/>
              <a:ext cx="1800240" cy="720096"/>
            </a:xfrm>
            <a:prstGeom prst="rect">
              <a:avLst/>
            </a:prstGeom>
            <a:solidFill>
              <a:schemeClr val="accent1">
                <a:lumMod val="20000"/>
                <a:lumOff val="8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p:cNvSpPr/>
            <p:nvPr/>
          </p:nvSpPr>
          <p:spPr>
            <a:xfrm rot="5400000">
              <a:off x="3402108" y="2799180"/>
              <a:ext cx="1080144" cy="540072"/>
            </a:xfrm>
            <a:prstGeom prst="rect">
              <a:avLst/>
            </a:prstGeom>
            <a:solidFill>
              <a:schemeClr val="accent2">
                <a:lumMod val="20000"/>
                <a:lumOff val="8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p:cNvSpPr/>
            <p:nvPr/>
          </p:nvSpPr>
          <p:spPr>
            <a:xfrm rot="5400000">
              <a:off x="3289597" y="2191595"/>
              <a:ext cx="180024" cy="1755241"/>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p:cNvSpPr/>
            <p:nvPr/>
          </p:nvSpPr>
          <p:spPr>
            <a:xfrm rot="5400000">
              <a:off x="2884561" y="1921585"/>
              <a:ext cx="180024" cy="855069"/>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 name="グループ化 11"/>
            <p:cNvGrpSpPr/>
            <p:nvPr/>
          </p:nvGrpSpPr>
          <p:grpSpPr>
            <a:xfrm>
              <a:off x="2862036" y="1899060"/>
              <a:ext cx="180024" cy="180024"/>
              <a:chOff x="3311832" y="2168832"/>
              <a:chExt cx="180024" cy="180024"/>
            </a:xfrm>
          </p:grpSpPr>
          <p:sp>
            <p:nvSpPr>
              <p:cNvPr id="13" name="正方形/長方形 12"/>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4" name="直線コネクタ 13"/>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直線コネクタ 14"/>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16" name="グループ化 15"/>
            <p:cNvGrpSpPr/>
            <p:nvPr/>
          </p:nvGrpSpPr>
          <p:grpSpPr>
            <a:xfrm>
              <a:off x="2862036" y="2619156"/>
              <a:ext cx="180024" cy="180024"/>
              <a:chOff x="3311832" y="2168832"/>
              <a:chExt cx="180024" cy="180024"/>
            </a:xfrm>
          </p:grpSpPr>
          <p:sp>
            <p:nvSpPr>
              <p:cNvPr id="17" name="正方形/長方形 16"/>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8" name="直線コネクタ 17"/>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9" name="直線コネクタ 18"/>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20" name="グループ化 19"/>
            <p:cNvGrpSpPr/>
            <p:nvPr/>
          </p:nvGrpSpPr>
          <p:grpSpPr>
            <a:xfrm>
              <a:off x="2862036" y="3339252"/>
              <a:ext cx="180024" cy="180024"/>
              <a:chOff x="3311832" y="2168832"/>
              <a:chExt cx="180024" cy="180024"/>
            </a:xfrm>
          </p:grpSpPr>
          <p:sp>
            <p:nvSpPr>
              <p:cNvPr id="21" name="正方形/長方形 20"/>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2" name="直線コネクタ 21"/>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3" name="直線コネクタ 22"/>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24" name="グループ化 23"/>
            <p:cNvGrpSpPr/>
            <p:nvPr/>
          </p:nvGrpSpPr>
          <p:grpSpPr>
            <a:xfrm>
              <a:off x="3852168" y="2619156"/>
              <a:ext cx="180024" cy="180024"/>
              <a:chOff x="3311832" y="2168832"/>
              <a:chExt cx="180024" cy="180024"/>
            </a:xfrm>
          </p:grpSpPr>
          <p:sp>
            <p:nvSpPr>
              <p:cNvPr id="25" name="正方形/長方形 24"/>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6" name="直線コネクタ 25"/>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7" name="直線コネクタ 26"/>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28" name="グループ化 27"/>
            <p:cNvGrpSpPr/>
            <p:nvPr/>
          </p:nvGrpSpPr>
          <p:grpSpPr>
            <a:xfrm>
              <a:off x="3852168" y="3339252"/>
              <a:ext cx="180024" cy="180024"/>
              <a:chOff x="3311832" y="2168832"/>
              <a:chExt cx="180024" cy="180024"/>
            </a:xfrm>
          </p:grpSpPr>
          <p:sp>
            <p:nvSpPr>
              <p:cNvPr id="29" name="正方形/長方形 28"/>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コネクタ 29"/>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1" name="直線コネクタ 30"/>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32" name="グループ化 31"/>
            <p:cNvGrpSpPr/>
            <p:nvPr/>
          </p:nvGrpSpPr>
          <p:grpSpPr>
            <a:xfrm>
              <a:off x="3852168" y="1178964"/>
              <a:ext cx="180024" cy="180024"/>
              <a:chOff x="3311832" y="2168832"/>
              <a:chExt cx="180024" cy="180024"/>
            </a:xfrm>
          </p:grpSpPr>
          <p:sp>
            <p:nvSpPr>
              <p:cNvPr id="33" name="正方形/長方形 32"/>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4" name="直線コネクタ 33"/>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5" name="直線コネクタ 34"/>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36" name="グループ化 35"/>
            <p:cNvGrpSpPr/>
            <p:nvPr/>
          </p:nvGrpSpPr>
          <p:grpSpPr>
            <a:xfrm>
              <a:off x="3852168" y="1899060"/>
              <a:ext cx="180024" cy="180024"/>
              <a:chOff x="3311832" y="2168832"/>
              <a:chExt cx="180024" cy="180024"/>
            </a:xfrm>
          </p:grpSpPr>
          <p:sp>
            <p:nvSpPr>
              <p:cNvPr id="37" name="正方形/長方形 36"/>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8" name="直線コネクタ 37"/>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直線コネクタ 38"/>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40" name="グループ化 39"/>
            <p:cNvGrpSpPr/>
            <p:nvPr/>
          </p:nvGrpSpPr>
          <p:grpSpPr>
            <a:xfrm>
              <a:off x="4842300" y="1178964"/>
              <a:ext cx="180024" cy="180024"/>
              <a:chOff x="3311832" y="2168832"/>
              <a:chExt cx="180024" cy="180024"/>
            </a:xfrm>
          </p:grpSpPr>
          <p:sp>
            <p:nvSpPr>
              <p:cNvPr id="41" name="正方形/長方形 40"/>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2" name="直線コネクタ 41"/>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3" name="直線コネクタ 42"/>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44" name="グループ化 43"/>
            <p:cNvGrpSpPr/>
            <p:nvPr/>
          </p:nvGrpSpPr>
          <p:grpSpPr>
            <a:xfrm>
              <a:off x="4842300" y="1899060"/>
              <a:ext cx="180024" cy="180024"/>
              <a:chOff x="3311832" y="2168832"/>
              <a:chExt cx="180024" cy="180024"/>
            </a:xfrm>
          </p:grpSpPr>
          <p:sp>
            <p:nvSpPr>
              <p:cNvPr id="45" name="正方形/長方形 44"/>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直線コネクタ 45"/>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7" name="直線コネクタ 46"/>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48" name="グループ化 47"/>
            <p:cNvGrpSpPr/>
            <p:nvPr/>
          </p:nvGrpSpPr>
          <p:grpSpPr>
            <a:xfrm>
              <a:off x="4842300" y="2619156"/>
              <a:ext cx="180024" cy="180024"/>
              <a:chOff x="3311832" y="2168832"/>
              <a:chExt cx="180024" cy="180024"/>
            </a:xfrm>
          </p:grpSpPr>
          <p:sp>
            <p:nvSpPr>
              <p:cNvPr id="49" name="正方形/長方形 48"/>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直線コネクタ 49"/>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51" name="直線コネクタ 50"/>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sp>
          <p:nvSpPr>
            <p:cNvPr id="52" name="正方形/長方形 51"/>
            <p:cNvSpPr/>
            <p:nvPr/>
          </p:nvSpPr>
          <p:spPr>
            <a:xfrm>
              <a:off x="2862074" y="2259110"/>
              <a:ext cx="180024"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WR1</a:t>
              </a:r>
              <a:endParaRPr kumimoji="1" lang="ja-JP" altLang="en-US" dirty="0">
                <a:solidFill>
                  <a:schemeClr val="tx1"/>
                </a:solidFill>
              </a:endParaRPr>
            </a:p>
          </p:txBody>
        </p:sp>
        <p:sp>
          <p:nvSpPr>
            <p:cNvPr id="53" name="正方形/長方形 52"/>
            <p:cNvSpPr/>
            <p:nvPr/>
          </p:nvSpPr>
          <p:spPr>
            <a:xfrm>
              <a:off x="2862036" y="1899060"/>
              <a:ext cx="180024"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BR1</a:t>
              </a:r>
              <a:endParaRPr kumimoji="1" lang="ja-JP" altLang="en-US" sz="1200" dirty="0">
                <a:solidFill>
                  <a:schemeClr val="tx1"/>
                </a:solidFill>
              </a:endParaRPr>
            </a:p>
          </p:txBody>
        </p:sp>
        <p:sp>
          <p:nvSpPr>
            <p:cNvPr id="54" name="正方形/長方形 53"/>
            <p:cNvSpPr/>
            <p:nvPr/>
          </p:nvSpPr>
          <p:spPr>
            <a:xfrm>
              <a:off x="4842300" y="2259108"/>
              <a:ext cx="180024"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WR2</a:t>
              </a:r>
              <a:endParaRPr kumimoji="1" lang="ja-JP" altLang="en-US" sz="1200" dirty="0">
                <a:solidFill>
                  <a:schemeClr val="tx1"/>
                </a:solidFill>
              </a:endParaRPr>
            </a:p>
          </p:txBody>
        </p:sp>
        <p:sp>
          <p:nvSpPr>
            <p:cNvPr id="55" name="正方形/長方形 54"/>
            <p:cNvSpPr/>
            <p:nvPr/>
          </p:nvSpPr>
          <p:spPr>
            <a:xfrm>
              <a:off x="4842300" y="2619156"/>
              <a:ext cx="180024"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BR2’</a:t>
              </a:r>
              <a:endParaRPr kumimoji="1" lang="ja-JP" altLang="en-US" sz="1200" dirty="0">
                <a:solidFill>
                  <a:schemeClr val="tx1"/>
                </a:solidFill>
              </a:endParaRPr>
            </a:p>
          </p:txBody>
        </p:sp>
        <p:sp>
          <p:nvSpPr>
            <p:cNvPr id="56" name="正方形/長方形 55"/>
            <p:cNvSpPr/>
            <p:nvPr/>
          </p:nvSpPr>
          <p:spPr>
            <a:xfrm rot="5400000">
              <a:off x="4347234" y="1403994"/>
              <a:ext cx="180024" cy="1170156"/>
            </a:xfrm>
            <a:prstGeom prst="rect">
              <a:avLst/>
            </a:prstGeom>
            <a:solidFill>
              <a:srgbClr val="0070C0">
                <a:alpha val="25000"/>
              </a:srgbClr>
            </a:solidFill>
            <a:ln w="127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正方形/長方形 56"/>
            <p:cNvSpPr/>
            <p:nvPr/>
          </p:nvSpPr>
          <p:spPr>
            <a:xfrm rot="5400000">
              <a:off x="3357102" y="2124090"/>
              <a:ext cx="180024" cy="1170156"/>
            </a:xfrm>
            <a:prstGeom prst="rect">
              <a:avLst/>
            </a:prstGeom>
            <a:solidFill>
              <a:srgbClr val="0070C0">
                <a:alpha val="25000"/>
              </a:srgbClr>
            </a:solidFill>
            <a:ln w="127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8" name="グループ化 57"/>
            <p:cNvGrpSpPr/>
            <p:nvPr/>
          </p:nvGrpSpPr>
          <p:grpSpPr>
            <a:xfrm>
              <a:off x="4212216" y="2889192"/>
              <a:ext cx="360048" cy="360048"/>
              <a:chOff x="5292096" y="1268712"/>
              <a:chExt cx="360048" cy="360048"/>
            </a:xfrm>
          </p:grpSpPr>
          <p:sp>
            <p:nvSpPr>
              <p:cNvPr id="59" name="正方形/長方形 58"/>
              <p:cNvSpPr/>
              <p:nvPr/>
            </p:nvSpPr>
            <p:spPr>
              <a:xfrm rot="5400000">
                <a:off x="5337102" y="1313718"/>
                <a:ext cx="270036" cy="270036"/>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正方形/長方形 59"/>
              <p:cNvSpPr/>
              <p:nvPr/>
            </p:nvSpPr>
            <p:spPr>
              <a:xfrm rot="5400000">
                <a:off x="5292096" y="1268712"/>
                <a:ext cx="360048" cy="3600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1" name="グループ化 60"/>
            <p:cNvGrpSpPr/>
            <p:nvPr/>
          </p:nvGrpSpPr>
          <p:grpSpPr>
            <a:xfrm>
              <a:off x="4302228" y="2979204"/>
              <a:ext cx="180024" cy="180024"/>
              <a:chOff x="3311832" y="2168832"/>
              <a:chExt cx="180024" cy="180024"/>
            </a:xfrm>
          </p:grpSpPr>
          <p:sp>
            <p:nvSpPr>
              <p:cNvPr id="62" name="正方形/長方形 61"/>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3" name="直線コネクタ 62"/>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4" name="直線コネクタ 63"/>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65" name="グループ化 64"/>
            <p:cNvGrpSpPr/>
            <p:nvPr/>
          </p:nvGrpSpPr>
          <p:grpSpPr>
            <a:xfrm>
              <a:off x="3312096" y="1449000"/>
              <a:ext cx="360048" cy="360048"/>
              <a:chOff x="5292096" y="1268712"/>
              <a:chExt cx="360048" cy="360048"/>
            </a:xfrm>
          </p:grpSpPr>
          <p:sp>
            <p:nvSpPr>
              <p:cNvPr id="66" name="正方形/長方形 65"/>
              <p:cNvSpPr/>
              <p:nvPr/>
            </p:nvSpPr>
            <p:spPr>
              <a:xfrm rot="5400000">
                <a:off x="5337102" y="1313718"/>
                <a:ext cx="270036" cy="270036"/>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正方形/長方形 66"/>
              <p:cNvSpPr/>
              <p:nvPr/>
            </p:nvSpPr>
            <p:spPr>
              <a:xfrm rot="5400000">
                <a:off x="5292096" y="1268712"/>
                <a:ext cx="360048" cy="3600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8" name="グループ化 67"/>
            <p:cNvGrpSpPr/>
            <p:nvPr/>
          </p:nvGrpSpPr>
          <p:grpSpPr>
            <a:xfrm>
              <a:off x="3402108" y="1539012"/>
              <a:ext cx="180024" cy="180024"/>
              <a:chOff x="3311832" y="2168832"/>
              <a:chExt cx="180024" cy="180024"/>
            </a:xfrm>
          </p:grpSpPr>
          <p:sp>
            <p:nvSpPr>
              <p:cNvPr id="69" name="正方形/長方形 68"/>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0" name="直線コネクタ 69"/>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1" name="直線コネクタ 70"/>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sp>
          <p:nvSpPr>
            <p:cNvPr id="72" name="正方形/長方形 71"/>
            <p:cNvSpPr/>
            <p:nvPr/>
          </p:nvSpPr>
          <p:spPr>
            <a:xfrm rot="5400000">
              <a:off x="3762156" y="2439132"/>
              <a:ext cx="1260168" cy="180024"/>
            </a:xfrm>
            <a:prstGeom prst="rect">
              <a:avLst/>
            </a:prstGeom>
            <a:solidFill>
              <a:srgbClr val="0070C0">
                <a:alpha val="25000"/>
              </a:srgbClr>
            </a:solidFill>
            <a:ln w="127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正方形/長方形 72"/>
            <p:cNvSpPr/>
            <p:nvPr/>
          </p:nvSpPr>
          <p:spPr>
            <a:xfrm rot="5400000">
              <a:off x="2862036" y="2079084"/>
              <a:ext cx="1260168" cy="180024"/>
            </a:xfrm>
            <a:prstGeom prst="rect">
              <a:avLst/>
            </a:prstGeom>
            <a:solidFill>
              <a:srgbClr val="0070C0">
                <a:alpha val="25000"/>
              </a:srgbClr>
            </a:solidFill>
            <a:ln w="127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4" name="グループ化 73"/>
            <p:cNvGrpSpPr/>
            <p:nvPr/>
          </p:nvGrpSpPr>
          <p:grpSpPr>
            <a:xfrm>
              <a:off x="2231952" y="2169096"/>
              <a:ext cx="360048" cy="360048"/>
              <a:chOff x="5292096" y="1268712"/>
              <a:chExt cx="360048" cy="360048"/>
            </a:xfrm>
          </p:grpSpPr>
          <p:sp>
            <p:nvSpPr>
              <p:cNvPr id="75" name="正方形/長方形 74"/>
              <p:cNvSpPr/>
              <p:nvPr/>
            </p:nvSpPr>
            <p:spPr>
              <a:xfrm rot="5400000">
                <a:off x="5337102" y="1313718"/>
                <a:ext cx="270036" cy="270036"/>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正方形/長方形 75"/>
              <p:cNvSpPr/>
              <p:nvPr/>
            </p:nvSpPr>
            <p:spPr>
              <a:xfrm rot="5400000">
                <a:off x="5292096" y="1268712"/>
                <a:ext cx="360048" cy="3600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7" name="グループ化 76"/>
            <p:cNvGrpSpPr/>
            <p:nvPr/>
          </p:nvGrpSpPr>
          <p:grpSpPr>
            <a:xfrm>
              <a:off x="5292360" y="2169096"/>
              <a:ext cx="360048" cy="360048"/>
              <a:chOff x="5292096" y="1268712"/>
              <a:chExt cx="360048" cy="360048"/>
            </a:xfrm>
          </p:grpSpPr>
          <p:sp>
            <p:nvSpPr>
              <p:cNvPr id="78" name="正方形/長方形 77"/>
              <p:cNvSpPr/>
              <p:nvPr/>
            </p:nvSpPr>
            <p:spPr>
              <a:xfrm rot="5400000">
                <a:off x="5337102" y="1313718"/>
                <a:ext cx="270036" cy="270036"/>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正方形/長方形 78"/>
              <p:cNvSpPr/>
              <p:nvPr/>
            </p:nvSpPr>
            <p:spPr>
              <a:xfrm rot="5400000">
                <a:off x="5292096" y="1268712"/>
                <a:ext cx="360048" cy="3600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0" name="グループ化 79"/>
            <p:cNvGrpSpPr/>
            <p:nvPr/>
          </p:nvGrpSpPr>
          <p:grpSpPr>
            <a:xfrm>
              <a:off x="2321964" y="2259108"/>
              <a:ext cx="180024" cy="180024"/>
              <a:chOff x="3311832" y="2168832"/>
              <a:chExt cx="180024" cy="180024"/>
            </a:xfrm>
          </p:grpSpPr>
          <p:sp>
            <p:nvSpPr>
              <p:cNvPr id="81" name="正方形/長方形 80"/>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82" name="直線コネクタ 81"/>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3" name="直線コネクタ 82"/>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84" name="グループ化 83"/>
            <p:cNvGrpSpPr/>
            <p:nvPr/>
          </p:nvGrpSpPr>
          <p:grpSpPr>
            <a:xfrm>
              <a:off x="5382372" y="2259108"/>
              <a:ext cx="180024" cy="180024"/>
              <a:chOff x="3311832" y="2168832"/>
              <a:chExt cx="180024" cy="180024"/>
            </a:xfrm>
          </p:grpSpPr>
          <p:sp>
            <p:nvSpPr>
              <p:cNvPr id="85" name="正方形/長方形 84"/>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86" name="直線コネクタ 85"/>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7" name="直線コネクタ 86"/>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sp>
          <p:nvSpPr>
            <p:cNvPr id="88" name="正方形/長方形 87"/>
            <p:cNvSpPr/>
            <p:nvPr/>
          </p:nvSpPr>
          <p:spPr>
            <a:xfrm rot="16200000" flipV="1">
              <a:off x="4819807" y="2236615"/>
              <a:ext cx="2205273" cy="540072"/>
            </a:xfrm>
            <a:prstGeom prst="rect">
              <a:avLst/>
            </a:prstGeom>
            <a:solidFill>
              <a:schemeClr val="accent1">
                <a:lumMod val="20000"/>
                <a:lumOff val="8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正方形/長方形 88"/>
            <p:cNvSpPr/>
            <p:nvPr/>
          </p:nvSpPr>
          <p:spPr>
            <a:xfrm rot="16200000" flipV="1">
              <a:off x="5719941" y="1921566"/>
              <a:ext cx="2205246" cy="540072"/>
            </a:xfrm>
            <a:prstGeom prst="rect">
              <a:avLst/>
            </a:prstGeom>
            <a:solidFill>
              <a:schemeClr val="accent1">
                <a:lumMod val="20000"/>
                <a:lumOff val="8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0" name="正方形/長方形 89"/>
            <p:cNvSpPr/>
            <p:nvPr/>
          </p:nvSpPr>
          <p:spPr>
            <a:xfrm rot="16200000" flipV="1">
              <a:off x="6259961" y="1201495"/>
              <a:ext cx="180024" cy="1575153"/>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正方形/長方形 90"/>
            <p:cNvSpPr/>
            <p:nvPr/>
          </p:nvSpPr>
          <p:spPr>
            <a:xfrm rot="16200000" flipV="1">
              <a:off x="6259961" y="1921591"/>
              <a:ext cx="180024" cy="1575153"/>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92" name="グループ化 91"/>
            <p:cNvGrpSpPr/>
            <p:nvPr/>
          </p:nvGrpSpPr>
          <p:grpSpPr>
            <a:xfrm flipV="1">
              <a:off x="5832432" y="3339252"/>
              <a:ext cx="180024" cy="180024"/>
              <a:chOff x="3311832" y="2168832"/>
              <a:chExt cx="180024" cy="180024"/>
            </a:xfrm>
          </p:grpSpPr>
          <p:sp>
            <p:nvSpPr>
              <p:cNvPr id="93" name="正方形/長方形 92"/>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4" name="直線コネクタ 93"/>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5" name="直線コネクタ 94"/>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96" name="グループ化 95"/>
            <p:cNvGrpSpPr/>
            <p:nvPr/>
          </p:nvGrpSpPr>
          <p:grpSpPr>
            <a:xfrm flipV="1">
              <a:off x="5832432" y="2259108"/>
              <a:ext cx="180024" cy="180024"/>
              <a:chOff x="3311832" y="2168832"/>
              <a:chExt cx="180024" cy="180024"/>
            </a:xfrm>
          </p:grpSpPr>
          <p:sp>
            <p:nvSpPr>
              <p:cNvPr id="97" name="正方形/長方形 96"/>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8" name="直線コネクタ 97"/>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9" name="直線コネクタ 98"/>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100" name="グループ化 99"/>
            <p:cNvGrpSpPr/>
            <p:nvPr/>
          </p:nvGrpSpPr>
          <p:grpSpPr>
            <a:xfrm flipV="1">
              <a:off x="5832396" y="1494027"/>
              <a:ext cx="180024" cy="180024"/>
              <a:chOff x="3311832" y="2168832"/>
              <a:chExt cx="180024" cy="180024"/>
            </a:xfrm>
          </p:grpSpPr>
          <p:sp>
            <p:nvSpPr>
              <p:cNvPr id="101" name="正方形/長方形 100"/>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2" name="直線コネクタ 101"/>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3" name="直線コネクタ 102"/>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104" name="グループ化 103"/>
            <p:cNvGrpSpPr/>
            <p:nvPr/>
          </p:nvGrpSpPr>
          <p:grpSpPr>
            <a:xfrm flipV="1">
              <a:off x="6732516" y="3024197"/>
              <a:ext cx="180024" cy="180024"/>
              <a:chOff x="3311832" y="2168832"/>
              <a:chExt cx="180024" cy="180024"/>
            </a:xfrm>
          </p:grpSpPr>
          <p:sp>
            <p:nvSpPr>
              <p:cNvPr id="105" name="正方形/長方形 104"/>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6" name="直線コネクタ 105"/>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7" name="直線コネクタ 106"/>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108" name="グループ化 107"/>
            <p:cNvGrpSpPr/>
            <p:nvPr/>
          </p:nvGrpSpPr>
          <p:grpSpPr>
            <a:xfrm flipV="1">
              <a:off x="6732552" y="2259108"/>
              <a:ext cx="180024" cy="180024"/>
              <a:chOff x="3311832" y="2168832"/>
              <a:chExt cx="180024" cy="180024"/>
            </a:xfrm>
          </p:grpSpPr>
          <p:sp>
            <p:nvSpPr>
              <p:cNvPr id="109" name="正方形/長方形 108"/>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10" name="直線コネクタ 109"/>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1" name="直線コネクタ 110"/>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112" name="グループ化 111"/>
            <p:cNvGrpSpPr/>
            <p:nvPr/>
          </p:nvGrpSpPr>
          <p:grpSpPr>
            <a:xfrm flipV="1">
              <a:off x="6732552" y="1178964"/>
              <a:ext cx="180024" cy="180024"/>
              <a:chOff x="3311832" y="2168832"/>
              <a:chExt cx="180024" cy="180024"/>
            </a:xfrm>
          </p:grpSpPr>
          <p:sp>
            <p:nvSpPr>
              <p:cNvPr id="113" name="正方形/長方形 112"/>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14" name="直線コネクタ 113"/>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5" name="直線コネクタ 114"/>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sp>
          <p:nvSpPr>
            <p:cNvPr id="116" name="正方形/長方形 115"/>
            <p:cNvSpPr/>
            <p:nvPr/>
          </p:nvSpPr>
          <p:spPr>
            <a:xfrm rot="16200000" flipV="1">
              <a:off x="6755026" y="1291464"/>
              <a:ext cx="180038" cy="675133"/>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7" name="正方形/長方形 116"/>
            <p:cNvSpPr/>
            <p:nvPr/>
          </p:nvSpPr>
          <p:spPr>
            <a:xfrm rot="16200000" flipV="1">
              <a:off x="5809911" y="2731689"/>
              <a:ext cx="180024" cy="675053"/>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正方形/長方形 117"/>
            <p:cNvSpPr/>
            <p:nvPr/>
          </p:nvSpPr>
          <p:spPr>
            <a:xfrm>
              <a:off x="6282492" y="2619156"/>
              <a:ext cx="270036"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WW1</a:t>
              </a:r>
              <a:endParaRPr kumimoji="1" lang="ja-JP" altLang="en-US" sz="1200" dirty="0">
                <a:solidFill>
                  <a:schemeClr val="tx1"/>
                </a:solidFill>
              </a:endParaRPr>
            </a:p>
          </p:txBody>
        </p:sp>
        <p:sp>
          <p:nvSpPr>
            <p:cNvPr id="119" name="正方形/長方形 118"/>
            <p:cNvSpPr/>
            <p:nvPr/>
          </p:nvSpPr>
          <p:spPr>
            <a:xfrm>
              <a:off x="5832432" y="2979204"/>
              <a:ext cx="180024"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BW1’</a:t>
              </a:r>
              <a:endParaRPr kumimoji="1" lang="ja-JP" altLang="en-US" sz="1200" dirty="0">
                <a:solidFill>
                  <a:schemeClr val="tx1"/>
                </a:solidFill>
              </a:endParaRPr>
            </a:p>
          </p:txBody>
        </p:sp>
        <p:sp>
          <p:nvSpPr>
            <p:cNvPr id="120" name="正方形/長方形 119"/>
            <p:cNvSpPr/>
            <p:nvPr/>
          </p:nvSpPr>
          <p:spPr>
            <a:xfrm>
              <a:off x="6282492" y="1899060"/>
              <a:ext cx="270036"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WW2</a:t>
              </a:r>
              <a:endParaRPr kumimoji="1" lang="ja-JP" altLang="en-US" dirty="0">
                <a:solidFill>
                  <a:schemeClr val="tx1"/>
                </a:solidFill>
              </a:endParaRPr>
            </a:p>
          </p:txBody>
        </p:sp>
        <p:sp>
          <p:nvSpPr>
            <p:cNvPr id="121" name="正方形/長方形 120"/>
            <p:cNvSpPr/>
            <p:nvPr/>
          </p:nvSpPr>
          <p:spPr>
            <a:xfrm>
              <a:off x="6732552" y="1539012"/>
              <a:ext cx="180024"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BW2’</a:t>
              </a:r>
              <a:endParaRPr kumimoji="1" lang="ja-JP" altLang="en-US" sz="1200" dirty="0">
                <a:solidFill>
                  <a:schemeClr val="tx1"/>
                </a:solidFill>
              </a:endParaRPr>
            </a:p>
          </p:txBody>
        </p:sp>
        <p:grpSp>
          <p:nvGrpSpPr>
            <p:cNvPr id="122" name="グループ化 121"/>
            <p:cNvGrpSpPr/>
            <p:nvPr/>
          </p:nvGrpSpPr>
          <p:grpSpPr>
            <a:xfrm flipV="1">
              <a:off x="7092600" y="2529144"/>
              <a:ext cx="360048" cy="360048"/>
              <a:chOff x="5292096" y="1268712"/>
              <a:chExt cx="360048" cy="360048"/>
            </a:xfrm>
          </p:grpSpPr>
          <p:sp>
            <p:nvSpPr>
              <p:cNvPr id="123" name="正方形/長方形 122"/>
              <p:cNvSpPr/>
              <p:nvPr/>
            </p:nvSpPr>
            <p:spPr>
              <a:xfrm rot="5400000">
                <a:off x="5337102" y="1313718"/>
                <a:ext cx="270036" cy="270036"/>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正方形/長方形 123"/>
              <p:cNvSpPr/>
              <p:nvPr/>
            </p:nvSpPr>
            <p:spPr>
              <a:xfrm rot="5400000">
                <a:off x="5292096" y="1268712"/>
                <a:ext cx="360048" cy="3600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5" name="グループ化 124"/>
            <p:cNvGrpSpPr/>
            <p:nvPr/>
          </p:nvGrpSpPr>
          <p:grpSpPr>
            <a:xfrm flipV="1">
              <a:off x="7092600" y="1809048"/>
              <a:ext cx="360048" cy="360048"/>
              <a:chOff x="5292096" y="1268712"/>
              <a:chExt cx="360048" cy="360048"/>
            </a:xfrm>
          </p:grpSpPr>
          <p:sp>
            <p:nvSpPr>
              <p:cNvPr id="126" name="正方形/長方形 125"/>
              <p:cNvSpPr/>
              <p:nvPr/>
            </p:nvSpPr>
            <p:spPr>
              <a:xfrm rot="5400000">
                <a:off x="5337102" y="1313718"/>
                <a:ext cx="270036" cy="270036"/>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7" name="正方形/長方形 126"/>
              <p:cNvSpPr/>
              <p:nvPr/>
            </p:nvSpPr>
            <p:spPr>
              <a:xfrm rot="5400000">
                <a:off x="5292096" y="1268712"/>
                <a:ext cx="360048" cy="3600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8" name="グループ化 127"/>
            <p:cNvGrpSpPr/>
            <p:nvPr/>
          </p:nvGrpSpPr>
          <p:grpSpPr>
            <a:xfrm flipV="1">
              <a:off x="7182612" y="1899060"/>
              <a:ext cx="180024" cy="180024"/>
              <a:chOff x="3311832" y="2168832"/>
              <a:chExt cx="180024" cy="180024"/>
            </a:xfrm>
          </p:grpSpPr>
          <p:sp>
            <p:nvSpPr>
              <p:cNvPr id="129" name="正方形/長方形 128"/>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30" name="直線コネクタ 129"/>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1" name="直線コネクタ 130"/>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132" name="グループ化 131"/>
            <p:cNvGrpSpPr/>
            <p:nvPr/>
          </p:nvGrpSpPr>
          <p:grpSpPr>
            <a:xfrm flipV="1">
              <a:off x="7182612" y="2619156"/>
              <a:ext cx="180024" cy="180024"/>
              <a:chOff x="3311832" y="2168832"/>
              <a:chExt cx="180024" cy="180024"/>
            </a:xfrm>
          </p:grpSpPr>
          <p:sp>
            <p:nvSpPr>
              <p:cNvPr id="133" name="正方形/長方形 132"/>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34" name="直線コネクタ 133"/>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5" name="直線コネクタ 134"/>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136" name="グループ化 135"/>
            <p:cNvGrpSpPr/>
            <p:nvPr/>
          </p:nvGrpSpPr>
          <p:grpSpPr>
            <a:xfrm flipV="1">
              <a:off x="6192444" y="1404015"/>
              <a:ext cx="360048" cy="360048"/>
              <a:chOff x="5292096" y="1268712"/>
              <a:chExt cx="360048" cy="360048"/>
            </a:xfrm>
          </p:grpSpPr>
          <p:sp>
            <p:nvSpPr>
              <p:cNvPr id="137" name="正方形/長方形 136"/>
              <p:cNvSpPr/>
              <p:nvPr/>
            </p:nvSpPr>
            <p:spPr>
              <a:xfrm rot="5400000">
                <a:off x="5337102" y="1313718"/>
                <a:ext cx="270036" cy="270036"/>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8" name="正方形/長方形 137"/>
              <p:cNvSpPr/>
              <p:nvPr/>
            </p:nvSpPr>
            <p:spPr>
              <a:xfrm rot="5400000">
                <a:off x="5292096" y="1268712"/>
                <a:ext cx="360048" cy="3600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39" name="グループ化 138"/>
            <p:cNvGrpSpPr/>
            <p:nvPr/>
          </p:nvGrpSpPr>
          <p:grpSpPr>
            <a:xfrm flipV="1">
              <a:off x="6192444" y="2934185"/>
              <a:ext cx="360048" cy="360048"/>
              <a:chOff x="5292096" y="1268712"/>
              <a:chExt cx="360048" cy="360048"/>
            </a:xfrm>
          </p:grpSpPr>
          <p:sp>
            <p:nvSpPr>
              <p:cNvPr id="140" name="正方形/長方形 139"/>
              <p:cNvSpPr/>
              <p:nvPr/>
            </p:nvSpPr>
            <p:spPr>
              <a:xfrm rot="5400000">
                <a:off x="5337102" y="1313718"/>
                <a:ext cx="270036" cy="270036"/>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1" name="正方形/長方形 140"/>
              <p:cNvSpPr/>
              <p:nvPr/>
            </p:nvSpPr>
            <p:spPr>
              <a:xfrm rot="5400000">
                <a:off x="5292096" y="1268712"/>
                <a:ext cx="360048" cy="3600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42" name="グループ化 141"/>
            <p:cNvGrpSpPr/>
            <p:nvPr/>
          </p:nvGrpSpPr>
          <p:grpSpPr>
            <a:xfrm flipV="1">
              <a:off x="6282456" y="3024197"/>
              <a:ext cx="180024" cy="180024"/>
              <a:chOff x="3311832" y="2168832"/>
              <a:chExt cx="180024" cy="180024"/>
            </a:xfrm>
          </p:grpSpPr>
          <p:sp>
            <p:nvSpPr>
              <p:cNvPr id="143" name="正方形/長方形 142"/>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44" name="直線コネクタ 143"/>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45" name="直線コネクタ 144"/>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146" name="グループ化 145"/>
            <p:cNvGrpSpPr/>
            <p:nvPr/>
          </p:nvGrpSpPr>
          <p:grpSpPr>
            <a:xfrm flipV="1">
              <a:off x="6282456" y="1494027"/>
              <a:ext cx="180024" cy="180024"/>
              <a:chOff x="3311832" y="2168832"/>
              <a:chExt cx="180024" cy="180024"/>
            </a:xfrm>
          </p:grpSpPr>
          <p:sp>
            <p:nvSpPr>
              <p:cNvPr id="147" name="正方形/長方形 146"/>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48" name="直線コネクタ 147"/>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49" name="直線コネクタ 148"/>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sp>
          <p:nvSpPr>
            <p:cNvPr id="150" name="正方形/長方形 149"/>
            <p:cNvSpPr/>
            <p:nvPr/>
          </p:nvSpPr>
          <p:spPr>
            <a:xfrm rot="16200000" flipV="1">
              <a:off x="6507486" y="2799167"/>
              <a:ext cx="180024" cy="630084"/>
            </a:xfrm>
            <a:prstGeom prst="rect">
              <a:avLst/>
            </a:prstGeom>
            <a:solidFill>
              <a:srgbClr val="0070C0">
                <a:alpha val="25000"/>
              </a:srgbClr>
            </a:solidFill>
            <a:ln w="127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正方形/長方形 150"/>
            <p:cNvSpPr/>
            <p:nvPr/>
          </p:nvSpPr>
          <p:spPr>
            <a:xfrm rot="16200000" flipV="1">
              <a:off x="6057426" y="1268997"/>
              <a:ext cx="180024" cy="630084"/>
            </a:xfrm>
            <a:prstGeom prst="rect">
              <a:avLst/>
            </a:prstGeom>
            <a:solidFill>
              <a:srgbClr val="0070C0">
                <a:alpha val="25000"/>
              </a:srgbClr>
            </a:solidFill>
            <a:ln w="127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2" name="正方形/長方形 151"/>
            <p:cNvSpPr/>
            <p:nvPr/>
          </p:nvSpPr>
          <p:spPr>
            <a:xfrm rot="5400000">
              <a:off x="3762156" y="-81204"/>
              <a:ext cx="2160288" cy="4860648"/>
            </a:xfrm>
            <a:prstGeom prst="rect">
              <a:avLst/>
            </a:prstGeom>
            <a:noFill/>
            <a:ln w="1270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23840937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 name="正方形/長方形 128"/>
          <p:cNvSpPr/>
          <p:nvPr/>
        </p:nvSpPr>
        <p:spPr>
          <a:xfrm rot="5400000">
            <a:off x="6012709" y="1628991"/>
            <a:ext cx="180024" cy="540072"/>
          </a:xfrm>
          <a:prstGeom prst="rect">
            <a:avLst/>
          </a:prstGeom>
          <a:solidFill>
            <a:schemeClr val="accent1">
              <a:lumMod val="20000"/>
              <a:lumOff val="8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5" name="直線コネクタ 164"/>
          <p:cNvCxnSpPr/>
          <p:nvPr/>
        </p:nvCxnSpPr>
        <p:spPr>
          <a:xfrm flipH="1">
            <a:off x="6012709" y="1719003"/>
            <a:ext cx="1080144" cy="0"/>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6" name="直線コネクタ 165"/>
          <p:cNvCxnSpPr/>
          <p:nvPr/>
        </p:nvCxnSpPr>
        <p:spPr>
          <a:xfrm>
            <a:off x="6012709" y="1719003"/>
            <a:ext cx="90012" cy="90012"/>
          </a:xfrm>
          <a:prstGeom prst="line">
            <a:avLst/>
          </a:prstGeom>
          <a:ln w="38100" cap="rnd">
            <a:solidFill>
              <a:srgbClr val="00B050"/>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183" name="直線コネクタ 182"/>
          <p:cNvCxnSpPr/>
          <p:nvPr/>
        </p:nvCxnSpPr>
        <p:spPr>
          <a:xfrm flipH="1">
            <a:off x="5292613" y="1719003"/>
            <a:ext cx="720096" cy="0"/>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11" name="正方形/長方形 110"/>
          <p:cNvSpPr/>
          <p:nvPr/>
        </p:nvSpPr>
        <p:spPr>
          <a:xfrm rot="16200000" flipV="1">
            <a:off x="4392493" y="4149327"/>
            <a:ext cx="3420456" cy="540072"/>
          </a:xfrm>
          <a:prstGeom prst="rect">
            <a:avLst/>
          </a:prstGeom>
          <a:solidFill>
            <a:schemeClr val="accent1">
              <a:lumMod val="20000"/>
              <a:lumOff val="8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2" name="正方形/長方形 111"/>
          <p:cNvSpPr/>
          <p:nvPr/>
        </p:nvSpPr>
        <p:spPr>
          <a:xfrm rot="16200000" flipV="1">
            <a:off x="5472637" y="3249207"/>
            <a:ext cx="3420456" cy="540072"/>
          </a:xfrm>
          <a:prstGeom prst="rect">
            <a:avLst/>
          </a:prstGeom>
          <a:solidFill>
            <a:schemeClr val="accent1">
              <a:lumMod val="20000"/>
              <a:lumOff val="8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2" name="直線コネクタ 61"/>
          <p:cNvCxnSpPr/>
          <p:nvPr/>
        </p:nvCxnSpPr>
        <p:spPr>
          <a:xfrm flipH="1">
            <a:off x="5652661" y="4689399"/>
            <a:ext cx="2430324" cy="0"/>
          </a:xfrm>
          <a:prstGeom prst="line">
            <a:avLst/>
          </a:prstGeom>
          <a:ln w="38100" cap="rnd">
            <a:solidFill>
              <a:srgbClr val="FFFF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5" name="直線コネクタ 94"/>
          <p:cNvCxnSpPr/>
          <p:nvPr/>
        </p:nvCxnSpPr>
        <p:spPr>
          <a:xfrm>
            <a:off x="6102721" y="2349087"/>
            <a:ext cx="1530204" cy="0"/>
          </a:xfrm>
          <a:prstGeom prst="line">
            <a:avLst/>
          </a:prstGeom>
          <a:ln w="38100" cap="rnd">
            <a:solidFill>
              <a:srgbClr val="FFFF0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19" name="直線コネクタ 118"/>
          <p:cNvCxnSpPr/>
          <p:nvPr/>
        </p:nvCxnSpPr>
        <p:spPr>
          <a:xfrm>
            <a:off x="6012709" y="2259075"/>
            <a:ext cx="0" cy="540072"/>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37" name="正方形/長方形 136"/>
          <p:cNvSpPr/>
          <p:nvPr/>
        </p:nvSpPr>
        <p:spPr>
          <a:xfrm>
            <a:off x="6102721" y="6309615"/>
            <a:ext cx="180024"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V</a:t>
            </a:r>
            <a:r>
              <a:rPr kumimoji="1" lang="en-US" altLang="ja-JP" sz="1200" baseline="-25000" dirty="0">
                <a:solidFill>
                  <a:schemeClr val="tx1"/>
                </a:solidFill>
              </a:rPr>
              <a:t>SS</a:t>
            </a:r>
            <a:endParaRPr kumimoji="1" lang="ja-JP" altLang="en-US" baseline="-25000" dirty="0">
              <a:solidFill>
                <a:schemeClr val="tx1"/>
              </a:solidFill>
            </a:endParaRPr>
          </a:p>
        </p:txBody>
      </p:sp>
      <p:sp>
        <p:nvSpPr>
          <p:cNvPr id="138" name="正方形/長方形 137"/>
          <p:cNvSpPr/>
          <p:nvPr/>
        </p:nvSpPr>
        <p:spPr>
          <a:xfrm>
            <a:off x="6372757" y="1268943"/>
            <a:ext cx="180024"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V</a:t>
            </a:r>
            <a:r>
              <a:rPr kumimoji="1" lang="en-US" altLang="ja-JP" sz="1200" baseline="-25000" dirty="0">
                <a:solidFill>
                  <a:schemeClr val="tx1"/>
                </a:solidFill>
              </a:rPr>
              <a:t>SS</a:t>
            </a:r>
            <a:endParaRPr kumimoji="1" lang="ja-JP" altLang="en-US" baseline="-25000" dirty="0">
              <a:solidFill>
                <a:schemeClr val="tx1"/>
              </a:solidFill>
            </a:endParaRPr>
          </a:p>
        </p:txBody>
      </p:sp>
      <p:sp>
        <p:nvSpPr>
          <p:cNvPr id="143" name="正方形/長方形 142"/>
          <p:cNvSpPr/>
          <p:nvPr/>
        </p:nvSpPr>
        <p:spPr>
          <a:xfrm>
            <a:off x="8082985" y="4779411"/>
            <a:ext cx="270036"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WW1</a:t>
            </a:r>
            <a:endParaRPr kumimoji="1" lang="ja-JP" altLang="en-US" sz="1200" dirty="0">
              <a:solidFill>
                <a:schemeClr val="tx1"/>
              </a:solidFill>
            </a:endParaRPr>
          </a:p>
        </p:txBody>
      </p:sp>
      <p:sp>
        <p:nvSpPr>
          <p:cNvPr id="144" name="正方形/長方形 143"/>
          <p:cNvSpPr/>
          <p:nvPr/>
        </p:nvSpPr>
        <p:spPr>
          <a:xfrm>
            <a:off x="7362889" y="5589519"/>
            <a:ext cx="180024"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BW1</a:t>
            </a:r>
            <a:endParaRPr kumimoji="1" lang="ja-JP" altLang="en-US" sz="1200" dirty="0">
              <a:solidFill>
                <a:schemeClr val="tx1"/>
              </a:solidFill>
            </a:endParaRPr>
          </a:p>
        </p:txBody>
      </p:sp>
      <p:sp>
        <p:nvSpPr>
          <p:cNvPr id="145" name="正方形/長方形 144"/>
          <p:cNvSpPr/>
          <p:nvPr/>
        </p:nvSpPr>
        <p:spPr>
          <a:xfrm>
            <a:off x="8082985" y="2619123"/>
            <a:ext cx="270036"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WW2</a:t>
            </a:r>
            <a:endParaRPr kumimoji="1" lang="ja-JP" altLang="en-US" dirty="0">
              <a:solidFill>
                <a:schemeClr val="tx1"/>
              </a:solidFill>
            </a:endParaRPr>
          </a:p>
        </p:txBody>
      </p:sp>
      <p:sp>
        <p:nvSpPr>
          <p:cNvPr id="146" name="正方形/長方形 145"/>
          <p:cNvSpPr/>
          <p:nvPr/>
        </p:nvSpPr>
        <p:spPr>
          <a:xfrm>
            <a:off x="5562649" y="2079051"/>
            <a:ext cx="180024"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BW2’</a:t>
            </a:r>
            <a:endParaRPr kumimoji="1" lang="ja-JP" altLang="en-US" sz="1200" dirty="0">
              <a:solidFill>
                <a:schemeClr val="tx1"/>
              </a:solidFill>
            </a:endParaRPr>
          </a:p>
        </p:txBody>
      </p:sp>
      <p:cxnSp>
        <p:nvCxnSpPr>
          <p:cNvPr id="167" name="直線コネクタ 166"/>
          <p:cNvCxnSpPr/>
          <p:nvPr/>
        </p:nvCxnSpPr>
        <p:spPr>
          <a:xfrm flipH="1" flipV="1">
            <a:off x="6012709" y="4239339"/>
            <a:ext cx="90012" cy="90012"/>
          </a:xfrm>
          <a:prstGeom prst="line">
            <a:avLst/>
          </a:prstGeom>
          <a:ln w="38100">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69" name="直線コネクタ 168"/>
          <p:cNvCxnSpPr/>
          <p:nvPr/>
        </p:nvCxnSpPr>
        <p:spPr>
          <a:xfrm flipH="1" flipV="1">
            <a:off x="6012709" y="2799147"/>
            <a:ext cx="90012" cy="90012"/>
          </a:xfrm>
          <a:prstGeom prst="line">
            <a:avLst/>
          </a:prstGeom>
          <a:ln w="38100" cap="rnd">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70" name="直線コネクタ 169"/>
          <p:cNvCxnSpPr/>
          <p:nvPr/>
        </p:nvCxnSpPr>
        <p:spPr>
          <a:xfrm flipH="1" flipV="1">
            <a:off x="6012709" y="2259075"/>
            <a:ext cx="90012" cy="90012"/>
          </a:xfrm>
          <a:prstGeom prst="line">
            <a:avLst/>
          </a:prstGeom>
          <a:ln w="38100" cap="rnd">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72" name="直線コネクタ 171"/>
          <p:cNvCxnSpPr/>
          <p:nvPr/>
        </p:nvCxnSpPr>
        <p:spPr>
          <a:xfrm flipH="1" flipV="1">
            <a:off x="7002841" y="4869423"/>
            <a:ext cx="180024" cy="180024"/>
          </a:xfrm>
          <a:prstGeom prst="line">
            <a:avLst/>
          </a:prstGeom>
          <a:ln w="38100">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73" name="直線コネクタ 172"/>
          <p:cNvCxnSpPr/>
          <p:nvPr/>
        </p:nvCxnSpPr>
        <p:spPr>
          <a:xfrm flipH="1" flipV="1">
            <a:off x="6012709" y="6039579"/>
            <a:ext cx="90012" cy="90012"/>
          </a:xfrm>
          <a:prstGeom prst="line">
            <a:avLst/>
          </a:prstGeom>
          <a:ln w="38100" cap="rnd">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74" name="直線コネクタ 173"/>
          <p:cNvCxnSpPr/>
          <p:nvPr/>
        </p:nvCxnSpPr>
        <p:spPr>
          <a:xfrm flipH="1" flipV="1">
            <a:off x="7722937" y="4509375"/>
            <a:ext cx="180024" cy="180024"/>
          </a:xfrm>
          <a:prstGeom prst="line">
            <a:avLst/>
          </a:prstGeom>
          <a:ln w="38100" cap="rnd">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76" name="直線コネクタ 175"/>
          <p:cNvCxnSpPr/>
          <p:nvPr/>
        </p:nvCxnSpPr>
        <p:spPr>
          <a:xfrm flipH="1" flipV="1">
            <a:off x="7092853" y="1719003"/>
            <a:ext cx="90012" cy="90012"/>
          </a:xfrm>
          <a:prstGeom prst="line">
            <a:avLst/>
          </a:prstGeom>
          <a:ln w="38100" cap="rnd">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205" name="直線コネクタ 204"/>
          <p:cNvCxnSpPr/>
          <p:nvPr/>
        </p:nvCxnSpPr>
        <p:spPr>
          <a:xfrm flipH="1">
            <a:off x="5652661" y="5589519"/>
            <a:ext cx="1530204" cy="0"/>
          </a:xfrm>
          <a:prstGeom prst="line">
            <a:avLst/>
          </a:prstGeom>
          <a:ln w="38100" cap="rnd">
            <a:solidFill>
              <a:srgbClr val="FFFF0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207" name="直線コネクタ 206"/>
          <p:cNvCxnSpPr/>
          <p:nvPr/>
        </p:nvCxnSpPr>
        <p:spPr>
          <a:xfrm>
            <a:off x="5652661" y="3249207"/>
            <a:ext cx="2430324" cy="0"/>
          </a:xfrm>
          <a:prstGeom prst="line">
            <a:avLst/>
          </a:prstGeom>
          <a:ln w="38100" cap="rnd">
            <a:solidFill>
              <a:srgbClr val="FFFF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2" name="直線コネクタ 121"/>
          <p:cNvCxnSpPr/>
          <p:nvPr/>
        </p:nvCxnSpPr>
        <p:spPr>
          <a:xfrm>
            <a:off x="7002841" y="4869423"/>
            <a:ext cx="0" cy="540072"/>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1" name="直線コネクタ 170"/>
          <p:cNvCxnSpPr/>
          <p:nvPr/>
        </p:nvCxnSpPr>
        <p:spPr>
          <a:xfrm flipH="1" flipV="1">
            <a:off x="7002841" y="5409495"/>
            <a:ext cx="180024" cy="180024"/>
          </a:xfrm>
          <a:prstGeom prst="line">
            <a:avLst/>
          </a:prstGeom>
          <a:ln w="38100">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75" name="直線コネクタ 174"/>
          <p:cNvCxnSpPr/>
          <p:nvPr/>
        </p:nvCxnSpPr>
        <p:spPr>
          <a:xfrm flipH="1" flipV="1">
            <a:off x="7722937" y="3069183"/>
            <a:ext cx="180024" cy="180024"/>
          </a:xfrm>
          <a:prstGeom prst="line">
            <a:avLst/>
          </a:prstGeom>
          <a:ln w="38100" cap="rnd">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128" name="正方形/長方形 127"/>
          <p:cNvSpPr/>
          <p:nvPr/>
        </p:nvSpPr>
        <p:spPr>
          <a:xfrm rot="5400000">
            <a:off x="7092853" y="5769543"/>
            <a:ext cx="180024" cy="540072"/>
          </a:xfrm>
          <a:prstGeom prst="rect">
            <a:avLst/>
          </a:prstGeom>
          <a:solidFill>
            <a:schemeClr val="accent1">
              <a:lumMod val="20000"/>
              <a:lumOff val="8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0" name="正方形/長方形 219"/>
          <p:cNvSpPr/>
          <p:nvPr/>
        </p:nvSpPr>
        <p:spPr>
          <a:xfrm rot="5400000">
            <a:off x="2322217" y="548847"/>
            <a:ext cx="4320576" cy="6840912"/>
          </a:xfrm>
          <a:prstGeom prst="rect">
            <a:avLst/>
          </a:prstGeom>
          <a:noFill/>
          <a:ln w="1270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正方形/長方形 75"/>
          <p:cNvSpPr/>
          <p:nvPr/>
        </p:nvSpPr>
        <p:spPr>
          <a:xfrm rot="5400000">
            <a:off x="1692133" y="1628991"/>
            <a:ext cx="180024" cy="540072"/>
          </a:xfrm>
          <a:prstGeom prst="rect">
            <a:avLst/>
          </a:prstGeom>
          <a:solidFill>
            <a:schemeClr val="accent1">
              <a:lumMod val="20000"/>
              <a:lumOff val="80000"/>
            </a:schemeClr>
          </a:solidFill>
          <a:ln w="12700" cap="rnd">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正方形/長方形 76"/>
          <p:cNvSpPr/>
          <p:nvPr/>
        </p:nvSpPr>
        <p:spPr>
          <a:xfrm rot="5400000">
            <a:off x="4572517" y="5769543"/>
            <a:ext cx="180024" cy="540072"/>
          </a:xfrm>
          <a:prstGeom prst="rect">
            <a:avLst/>
          </a:prstGeom>
          <a:solidFill>
            <a:schemeClr val="accent1">
              <a:lumMod val="20000"/>
              <a:lumOff val="80000"/>
            </a:schemeClr>
          </a:solidFill>
          <a:ln w="12700" cap="rnd">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正方形/長方形 78"/>
          <p:cNvSpPr/>
          <p:nvPr/>
        </p:nvSpPr>
        <p:spPr>
          <a:xfrm rot="5400000">
            <a:off x="2187199" y="2574117"/>
            <a:ext cx="2070276" cy="540072"/>
          </a:xfrm>
          <a:prstGeom prst="rect">
            <a:avLst/>
          </a:prstGeom>
          <a:solidFill>
            <a:schemeClr val="accent2">
              <a:lumMod val="20000"/>
              <a:lumOff val="80000"/>
            </a:schemeClr>
          </a:solidFill>
          <a:ln w="12700" cap="rnd">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正方形/長方形 79"/>
          <p:cNvSpPr/>
          <p:nvPr/>
        </p:nvSpPr>
        <p:spPr>
          <a:xfrm rot="5400000">
            <a:off x="3087319" y="3114189"/>
            <a:ext cx="3150420" cy="540072"/>
          </a:xfrm>
          <a:prstGeom prst="rect">
            <a:avLst/>
          </a:prstGeom>
          <a:solidFill>
            <a:schemeClr val="accent1">
              <a:lumMod val="20000"/>
              <a:lumOff val="80000"/>
            </a:schemeClr>
          </a:solidFill>
          <a:ln w="12700" cap="rnd">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正方形/長方形 80"/>
          <p:cNvSpPr/>
          <p:nvPr/>
        </p:nvSpPr>
        <p:spPr>
          <a:xfrm rot="5400000">
            <a:off x="386959" y="4464369"/>
            <a:ext cx="2790372" cy="540072"/>
          </a:xfrm>
          <a:prstGeom prst="rect">
            <a:avLst/>
          </a:prstGeom>
          <a:solidFill>
            <a:schemeClr val="accent1">
              <a:lumMod val="20000"/>
              <a:lumOff val="80000"/>
            </a:schemeClr>
          </a:solidFill>
          <a:ln w="12700" cap="rnd">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正方形/長方形 81"/>
          <p:cNvSpPr/>
          <p:nvPr/>
        </p:nvSpPr>
        <p:spPr>
          <a:xfrm rot="5400000">
            <a:off x="2187199" y="4824417"/>
            <a:ext cx="2070276" cy="540072"/>
          </a:xfrm>
          <a:prstGeom prst="rect">
            <a:avLst/>
          </a:prstGeom>
          <a:solidFill>
            <a:schemeClr val="accent2">
              <a:lumMod val="20000"/>
              <a:lumOff val="80000"/>
            </a:schemeClr>
          </a:solidFill>
          <a:ln w="12700" cap="rnd">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84" name="直線コネクタ 83"/>
          <p:cNvCxnSpPr/>
          <p:nvPr/>
        </p:nvCxnSpPr>
        <p:spPr>
          <a:xfrm>
            <a:off x="1062049" y="3969303"/>
            <a:ext cx="1170156" cy="0"/>
          </a:xfrm>
          <a:prstGeom prst="line">
            <a:avLst/>
          </a:prstGeom>
          <a:ln w="38100" cap="rnd">
            <a:solidFill>
              <a:srgbClr val="FFFF0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85" name="直線コネクタ 84"/>
          <p:cNvCxnSpPr/>
          <p:nvPr/>
        </p:nvCxnSpPr>
        <p:spPr>
          <a:xfrm flipH="1">
            <a:off x="1332085" y="5049447"/>
            <a:ext cx="2610348" cy="0"/>
          </a:xfrm>
          <a:prstGeom prst="line">
            <a:avLst/>
          </a:prstGeom>
          <a:ln w="38100" cap="rnd">
            <a:solidFill>
              <a:srgbClr val="FFFF0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86" name="直線コネクタ 85"/>
          <p:cNvCxnSpPr/>
          <p:nvPr/>
        </p:nvCxnSpPr>
        <p:spPr>
          <a:xfrm>
            <a:off x="2502241" y="2889159"/>
            <a:ext cx="2610348" cy="0"/>
          </a:xfrm>
          <a:prstGeom prst="line">
            <a:avLst/>
          </a:prstGeom>
          <a:ln w="38100" cap="rnd">
            <a:solidFill>
              <a:srgbClr val="FFFF0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87" name="直線コネクタ 86"/>
          <p:cNvCxnSpPr/>
          <p:nvPr/>
        </p:nvCxnSpPr>
        <p:spPr>
          <a:xfrm flipH="1">
            <a:off x="4212469" y="4329351"/>
            <a:ext cx="1170156" cy="0"/>
          </a:xfrm>
          <a:prstGeom prst="line">
            <a:avLst/>
          </a:prstGeom>
          <a:ln w="38100" cap="rnd">
            <a:solidFill>
              <a:srgbClr val="FFFF0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88" name="直線コネクタ 87"/>
          <p:cNvCxnSpPr/>
          <p:nvPr/>
        </p:nvCxnSpPr>
        <p:spPr>
          <a:xfrm flipH="1">
            <a:off x="1692133" y="4239339"/>
            <a:ext cx="1440192" cy="0"/>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89" name="直線コネクタ 88"/>
          <p:cNvCxnSpPr/>
          <p:nvPr/>
        </p:nvCxnSpPr>
        <p:spPr>
          <a:xfrm flipV="1">
            <a:off x="2412229" y="2799147"/>
            <a:ext cx="0" cy="1440192"/>
          </a:xfrm>
          <a:prstGeom prst="line">
            <a:avLst/>
          </a:prstGeom>
          <a:ln w="38100" cap="rnd">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90" name="直線コネクタ 89"/>
          <p:cNvCxnSpPr/>
          <p:nvPr/>
        </p:nvCxnSpPr>
        <p:spPr>
          <a:xfrm flipH="1">
            <a:off x="3132325" y="3519243"/>
            <a:ext cx="1440192" cy="0"/>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91" name="正方形/長方形 90"/>
          <p:cNvSpPr/>
          <p:nvPr/>
        </p:nvSpPr>
        <p:spPr>
          <a:xfrm>
            <a:off x="1692133" y="6309615"/>
            <a:ext cx="180024" cy="180024"/>
          </a:xfrm>
          <a:prstGeom prst="rect">
            <a:avLst/>
          </a:prstGeom>
          <a:noFill/>
          <a:ln cap="rnd">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V</a:t>
            </a:r>
            <a:r>
              <a:rPr kumimoji="1" lang="en-US" altLang="ja-JP" sz="1200" baseline="-25000" dirty="0">
                <a:solidFill>
                  <a:schemeClr val="tx1"/>
                </a:solidFill>
              </a:rPr>
              <a:t>SS</a:t>
            </a:r>
            <a:endParaRPr kumimoji="1" lang="ja-JP" altLang="en-US" baseline="-25000" dirty="0">
              <a:solidFill>
                <a:schemeClr val="tx1"/>
              </a:solidFill>
            </a:endParaRPr>
          </a:p>
        </p:txBody>
      </p:sp>
      <p:sp>
        <p:nvSpPr>
          <p:cNvPr id="92" name="正方形/長方形 91"/>
          <p:cNvSpPr/>
          <p:nvPr/>
        </p:nvSpPr>
        <p:spPr>
          <a:xfrm>
            <a:off x="251941" y="5589519"/>
            <a:ext cx="180024" cy="180024"/>
          </a:xfrm>
          <a:prstGeom prst="rect">
            <a:avLst/>
          </a:prstGeom>
          <a:noFill/>
          <a:ln cap="rnd">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V</a:t>
            </a:r>
            <a:r>
              <a:rPr kumimoji="1" lang="en-US" altLang="ja-JP" sz="1200" baseline="-25000" dirty="0">
                <a:solidFill>
                  <a:schemeClr val="tx1"/>
                </a:solidFill>
              </a:rPr>
              <a:t>SS</a:t>
            </a:r>
            <a:endParaRPr kumimoji="1" lang="ja-JP" altLang="en-US" baseline="-25000" dirty="0">
              <a:solidFill>
                <a:schemeClr val="tx1"/>
              </a:solidFill>
            </a:endParaRPr>
          </a:p>
        </p:txBody>
      </p:sp>
      <p:sp>
        <p:nvSpPr>
          <p:cNvPr id="93" name="正方形/長方形 92"/>
          <p:cNvSpPr/>
          <p:nvPr/>
        </p:nvSpPr>
        <p:spPr>
          <a:xfrm>
            <a:off x="2952301" y="818883"/>
            <a:ext cx="180024" cy="180024"/>
          </a:xfrm>
          <a:prstGeom prst="rect">
            <a:avLst/>
          </a:prstGeom>
          <a:noFill/>
          <a:ln cap="rnd">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V</a:t>
            </a:r>
            <a:r>
              <a:rPr kumimoji="1" lang="en-US" altLang="ja-JP" sz="1200" baseline="-25000" dirty="0">
                <a:solidFill>
                  <a:schemeClr val="tx1"/>
                </a:solidFill>
              </a:rPr>
              <a:t>DD</a:t>
            </a:r>
            <a:endParaRPr kumimoji="1" lang="ja-JP" altLang="en-US" baseline="-25000" dirty="0">
              <a:solidFill>
                <a:schemeClr val="tx1"/>
              </a:solidFill>
            </a:endParaRPr>
          </a:p>
        </p:txBody>
      </p:sp>
      <p:sp>
        <p:nvSpPr>
          <p:cNvPr id="94" name="正方形/長方形 93"/>
          <p:cNvSpPr/>
          <p:nvPr/>
        </p:nvSpPr>
        <p:spPr>
          <a:xfrm>
            <a:off x="251941" y="1268943"/>
            <a:ext cx="180024" cy="180024"/>
          </a:xfrm>
          <a:prstGeom prst="rect">
            <a:avLst/>
          </a:prstGeom>
          <a:noFill/>
          <a:ln cap="rnd">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V</a:t>
            </a:r>
            <a:r>
              <a:rPr kumimoji="1" lang="en-US" altLang="ja-JP" sz="1200" baseline="-25000" dirty="0">
                <a:solidFill>
                  <a:schemeClr val="tx1"/>
                </a:solidFill>
              </a:rPr>
              <a:t>SS</a:t>
            </a:r>
            <a:endParaRPr kumimoji="1" lang="ja-JP" altLang="en-US" baseline="-25000" dirty="0">
              <a:solidFill>
                <a:schemeClr val="tx1"/>
              </a:solidFill>
            </a:endParaRPr>
          </a:p>
        </p:txBody>
      </p:sp>
      <p:sp>
        <p:nvSpPr>
          <p:cNvPr id="96" name="正方形/長方形 95"/>
          <p:cNvSpPr/>
          <p:nvPr/>
        </p:nvSpPr>
        <p:spPr>
          <a:xfrm>
            <a:off x="251941" y="3069183"/>
            <a:ext cx="180024" cy="180024"/>
          </a:xfrm>
          <a:prstGeom prst="rect">
            <a:avLst/>
          </a:prstGeom>
          <a:noFill/>
          <a:ln cap="rnd">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WR1</a:t>
            </a:r>
            <a:endParaRPr kumimoji="1" lang="ja-JP" altLang="en-US" dirty="0">
              <a:solidFill>
                <a:schemeClr val="tx1"/>
              </a:solidFill>
            </a:endParaRPr>
          </a:p>
        </p:txBody>
      </p:sp>
      <p:sp>
        <p:nvSpPr>
          <p:cNvPr id="97" name="正方形/長方形 96"/>
          <p:cNvSpPr/>
          <p:nvPr/>
        </p:nvSpPr>
        <p:spPr>
          <a:xfrm>
            <a:off x="1512109" y="818883"/>
            <a:ext cx="180024" cy="180024"/>
          </a:xfrm>
          <a:prstGeom prst="rect">
            <a:avLst/>
          </a:prstGeom>
          <a:noFill/>
          <a:ln cap="rnd">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BR1</a:t>
            </a:r>
            <a:endParaRPr kumimoji="1" lang="ja-JP" altLang="en-US" sz="1200" dirty="0">
              <a:solidFill>
                <a:schemeClr val="tx1"/>
              </a:solidFill>
            </a:endParaRPr>
          </a:p>
        </p:txBody>
      </p:sp>
      <p:sp>
        <p:nvSpPr>
          <p:cNvPr id="98" name="正方形/長方形 97"/>
          <p:cNvSpPr/>
          <p:nvPr/>
        </p:nvSpPr>
        <p:spPr>
          <a:xfrm>
            <a:off x="251941" y="3789279"/>
            <a:ext cx="180024" cy="180024"/>
          </a:xfrm>
          <a:prstGeom prst="rect">
            <a:avLst/>
          </a:prstGeom>
          <a:noFill/>
          <a:ln cap="rnd">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WR2</a:t>
            </a:r>
            <a:endParaRPr kumimoji="1" lang="ja-JP" altLang="en-US" sz="1200" dirty="0">
              <a:solidFill>
                <a:schemeClr val="tx1"/>
              </a:solidFill>
            </a:endParaRPr>
          </a:p>
        </p:txBody>
      </p:sp>
      <p:sp>
        <p:nvSpPr>
          <p:cNvPr id="99" name="正方形/長方形 98"/>
          <p:cNvSpPr/>
          <p:nvPr/>
        </p:nvSpPr>
        <p:spPr>
          <a:xfrm>
            <a:off x="4392493" y="818883"/>
            <a:ext cx="180024" cy="180024"/>
          </a:xfrm>
          <a:prstGeom prst="rect">
            <a:avLst/>
          </a:prstGeom>
          <a:noFill/>
          <a:ln cap="rnd">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BR2’</a:t>
            </a:r>
            <a:endParaRPr kumimoji="1" lang="ja-JP" altLang="en-US" sz="1200" dirty="0">
              <a:solidFill>
                <a:schemeClr val="tx1"/>
              </a:solidFill>
            </a:endParaRPr>
          </a:p>
        </p:txBody>
      </p:sp>
      <p:sp>
        <p:nvSpPr>
          <p:cNvPr id="100" name="正方形/長方形 99"/>
          <p:cNvSpPr/>
          <p:nvPr/>
        </p:nvSpPr>
        <p:spPr>
          <a:xfrm>
            <a:off x="2232205" y="4239339"/>
            <a:ext cx="180024" cy="180024"/>
          </a:xfrm>
          <a:prstGeom prst="rect">
            <a:avLst/>
          </a:prstGeom>
          <a:noFill/>
          <a:ln cap="rnd">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S</a:t>
            </a:r>
            <a:endParaRPr kumimoji="1" lang="ja-JP" altLang="en-US" sz="1200" dirty="0">
              <a:solidFill>
                <a:schemeClr val="tx1"/>
              </a:solidFill>
            </a:endParaRPr>
          </a:p>
        </p:txBody>
      </p:sp>
      <p:sp>
        <p:nvSpPr>
          <p:cNvPr id="101" name="正方形/長方形 100"/>
          <p:cNvSpPr/>
          <p:nvPr/>
        </p:nvSpPr>
        <p:spPr>
          <a:xfrm>
            <a:off x="3672397" y="3159195"/>
            <a:ext cx="180024" cy="180024"/>
          </a:xfrm>
          <a:prstGeom prst="rect">
            <a:avLst/>
          </a:prstGeom>
          <a:noFill/>
          <a:ln cap="rnd">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S’</a:t>
            </a:r>
            <a:endParaRPr kumimoji="1" lang="ja-JP" altLang="en-US" sz="1200" dirty="0">
              <a:solidFill>
                <a:schemeClr val="tx1"/>
              </a:solidFill>
            </a:endParaRPr>
          </a:p>
        </p:txBody>
      </p:sp>
      <p:cxnSp>
        <p:nvCxnSpPr>
          <p:cNvPr id="102" name="直線コネクタ 101"/>
          <p:cNvCxnSpPr/>
          <p:nvPr/>
        </p:nvCxnSpPr>
        <p:spPr>
          <a:xfrm>
            <a:off x="1692133" y="4239339"/>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04" name="直線コネクタ 103"/>
          <p:cNvCxnSpPr/>
          <p:nvPr/>
        </p:nvCxnSpPr>
        <p:spPr>
          <a:xfrm>
            <a:off x="3132325" y="4239339"/>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05" name="直線コネクタ 104"/>
          <p:cNvCxnSpPr/>
          <p:nvPr/>
        </p:nvCxnSpPr>
        <p:spPr>
          <a:xfrm>
            <a:off x="3132325" y="3519243"/>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06" name="直線コネクタ 105"/>
          <p:cNvCxnSpPr/>
          <p:nvPr/>
        </p:nvCxnSpPr>
        <p:spPr>
          <a:xfrm>
            <a:off x="4572517" y="3519243"/>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15" name="直線コネクタ 114"/>
          <p:cNvCxnSpPr/>
          <p:nvPr/>
        </p:nvCxnSpPr>
        <p:spPr>
          <a:xfrm>
            <a:off x="2412229" y="2799147"/>
            <a:ext cx="2880384" cy="0"/>
          </a:xfrm>
          <a:prstGeom prst="line">
            <a:avLst/>
          </a:prstGeom>
          <a:ln w="38100" cap="rnd">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16" name="直線コネクタ 115"/>
          <p:cNvCxnSpPr/>
          <p:nvPr/>
        </p:nvCxnSpPr>
        <p:spPr>
          <a:xfrm>
            <a:off x="3852421" y="3519243"/>
            <a:ext cx="0" cy="1890252"/>
          </a:xfrm>
          <a:prstGeom prst="line">
            <a:avLst/>
          </a:prstGeom>
          <a:ln w="38100" cap="rnd">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17" name="直線コネクタ 116"/>
          <p:cNvCxnSpPr/>
          <p:nvPr/>
        </p:nvCxnSpPr>
        <p:spPr>
          <a:xfrm>
            <a:off x="1692133" y="3519243"/>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18" name="直線コネクタ 117"/>
          <p:cNvCxnSpPr/>
          <p:nvPr/>
        </p:nvCxnSpPr>
        <p:spPr>
          <a:xfrm>
            <a:off x="1692133" y="6039579"/>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20" name="直線コネクタ 119"/>
          <p:cNvCxnSpPr/>
          <p:nvPr/>
        </p:nvCxnSpPr>
        <p:spPr>
          <a:xfrm>
            <a:off x="3132325" y="5679531"/>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21" name="直線コネクタ 120"/>
          <p:cNvCxnSpPr/>
          <p:nvPr/>
        </p:nvCxnSpPr>
        <p:spPr>
          <a:xfrm>
            <a:off x="4572517" y="4599387"/>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30" name="直線コネクタ 129"/>
          <p:cNvCxnSpPr/>
          <p:nvPr/>
        </p:nvCxnSpPr>
        <p:spPr>
          <a:xfrm>
            <a:off x="972037" y="3879291"/>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47" name="直線コネクタ 146"/>
          <p:cNvCxnSpPr/>
          <p:nvPr/>
        </p:nvCxnSpPr>
        <p:spPr>
          <a:xfrm>
            <a:off x="5292613" y="2799147"/>
            <a:ext cx="0" cy="360048"/>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8" name="直線コネクタ 147"/>
          <p:cNvCxnSpPr/>
          <p:nvPr/>
        </p:nvCxnSpPr>
        <p:spPr>
          <a:xfrm flipH="1" flipV="1">
            <a:off x="3852421" y="4959435"/>
            <a:ext cx="90012" cy="90012"/>
          </a:xfrm>
          <a:prstGeom prst="line">
            <a:avLst/>
          </a:prstGeom>
          <a:ln w="38100" cap="rnd">
            <a:solidFill>
              <a:srgbClr val="00B050"/>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156" name="直線コネクタ 155"/>
          <p:cNvCxnSpPr/>
          <p:nvPr/>
        </p:nvCxnSpPr>
        <p:spPr>
          <a:xfrm flipH="1" flipV="1">
            <a:off x="2412229" y="2799147"/>
            <a:ext cx="90012" cy="90012"/>
          </a:xfrm>
          <a:prstGeom prst="line">
            <a:avLst/>
          </a:prstGeom>
          <a:ln w="38100" cap="rnd">
            <a:solidFill>
              <a:srgbClr val="00B050"/>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157" name="直線コネクタ 156"/>
          <p:cNvCxnSpPr/>
          <p:nvPr/>
        </p:nvCxnSpPr>
        <p:spPr>
          <a:xfrm>
            <a:off x="1602121" y="3429231"/>
            <a:ext cx="90012" cy="90012"/>
          </a:xfrm>
          <a:prstGeom prst="line">
            <a:avLst/>
          </a:prstGeom>
          <a:ln w="38100" cap="rnd">
            <a:solidFill>
              <a:srgbClr val="FF000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58" name="直線コネクタ 157"/>
          <p:cNvCxnSpPr/>
          <p:nvPr/>
        </p:nvCxnSpPr>
        <p:spPr>
          <a:xfrm>
            <a:off x="882025" y="3789279"/>
            <a:ext cx="90012" cy="90012"/>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0" name="直線コネクタ 159"/>
          <p:cNvCxnSpPr/>
          <p:nvPr/>
        </p:nvCxnSpPr>
        <p:spPr>
          <a:xfrm>
            <a:off x="3042313" y="5589519"/>
            <a:ext cx="90012" cy="90012"/>
          </a:xfrm>
          <a:prstGeom prst="line">
            <a:avLst/>
          </a:prstGeom>
          <a:ln w="38100" cap="rnd">
            <a:solidFill>
              <a:srgbClr val="FF000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77" name="直線コネクタ 176"/>
          <p:cNvCxnSpPr/>
          <p:nvPr/>
        </p:nvCxnSpPr>
        <p:spPr>
          <a:xfrm>
            <a:off x="4482505" y="4509375"/>
            <a:ext cx="90012" cy="90012"/>
          </a:xfrm>
          <a:prstGeom prst="line">
            <a:avLst/>
          </a:prstGeom>
          <a:ln w="38100" cap="rnd">
            <a:solidFill>
              <a:srgbClr val="FF000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79" name="直線コネクタ 178"/>
          <p:cNvCxnSpPr/>
          <p:nvPr/>
        </p:nvCxnSpPr>
        <p:spPr>
          <a:xfrm>
            <a:off x="972037" y="6039579"/>
            <a:ext cx="720096" cy="0"/>
          </a:xfrm>
          <a:prstGeom prst="line">
            <a:avLst/>
          </a:prstGeom>
          <a:ln w="38100" cap="rnd">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80" name="直線コネクタ 179"/>
          <p:cNvCxnSpPr/>
          <p:nvPr/>
        </p:nvCxnSpPr>
        <p:spPr>
          <a:xfrm flipH="1" flipV="1">
            <a:off x="882025" y="5949567"/>
            <a:ext cx="90012" cy="90012"/>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1" name="直線コネクタ 180"/>
          <p:cNvCxnSpPr/>
          <p:nvPr/>
        </p:nvCxnSpPr>
        <p:spPr>
          <a:xfrm>
            <a:off x="4572517" y="1719003"/>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82" name="直線コネクタ 181"/>
          <p:cNvCxnSpPr/>
          <p:nvPr/>
        </p:nvCxnSpPr>
        <p:spPr>
          <a:xfrm>
            <a:off x="4572517" y="1719003"/>
            <a:ext cx="720096" cy="0"/>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85" name="直線コネクタ 184"/>
          <p:cNvCxnSpPr/>
          <p:nvPr/>
        </p:nvCxnSpPr>
        <p:spPr>
          <a:xfrm>
            <a:off x="5202601" y="1628991"/>
            <a:ext cx="90012" cy="90012"/>
          </a:xfrm>
          <a:prstGeom prst="line">
            <a:avLst/>
          </a:prstGeom>
          <a:ln w="38100" cap="rnd">
            <a:solidFill>
              <a:srgbClr val="FF000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87" name="直線コネクタ 186"/>
          <p:cNvCxnSpPr/>
          <p:nvPr/>
        </p:nvCxnSpPr>
        <p:spPr>
          <a:xfrm>
            <a:off x="5112589" y="1538979"/>
            <a:ext cx="90012" cy="90012"/>
          </a:xfrm>
          <a:prstGeom prst="line">
            <a:avLst/>
          </a:prstGeom>
          <a:ln w="38100" cap="rnd">
            <a:solidFill>
              <a:srgbClr val="0070C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88" name="直線コネクタ 187"/>
          <p:cNvCxnSpPr/>
          <p:nvPr/>
        </p:nvCxnSpPr>
        <p:spPr>
          <a:xfrm flipV="1">
            <a:off x="882025" y="3429231"/>
            <a:ext cx="0" cy="360048"/>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1" name="直線コネクタ 190"/>
          <p:cNvCxnSpPr/>
          <p:nvPr/>
        </p:nvCxnSpPr>
        <p:spPr>
          <a:xfrm>
            <a:off x="5112589" y="4059315"/>
            <a:ext cx="90012" cy="90012"/>
          </a:xfrm>
          <a:prstGeom prst="line">
            <a:avLst/>
          </a:prstGeom>
          <a:ln w="38100" cap="rnd">
            <a:solidFill>
              <a:srgbClr val="0070C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92" name="直線コネクタ 191"/>
          <p:cNvCxnSpPr/>
          <p:nvPr/>
        </p:nvCxnSpPr>
        <p:spPr>
          <a:xfrm>
            <a:off x="4572517" y="6039579"/>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93" name="直線コネクタ 192"/>
          <p:cNvCxnSpPr/>
          <p:nvPr/>
        </p:nvCxnSpPr>
        <p:spPr>
          <a:xfrm>
            <a:off x="4572517" y="6039579"/>
            <a:ext cx="720096" cy="0"/>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94" name="直線コネクタ 193"/>
          <p:cNvCxnSpPr/>
          <p:nvPr/>
        </p:nvCxnSpPr>
        <p:spPr>
          <a:xfrm flipH="1" flipV="1">
            <a:off x="5202601" y="5949567"/>
            <a:ext cx="90012" cy="90012"/>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5" name="直線コネクタ 194"/>
          <p:cNvCxnSpPr/>
          <p:nvPr/>
        </p:nvCxnSpPr>
        <p:spPr>
          <a:xfrm>
            <a:off x="5112589" y="5859555"/>
            <a:ext cx="90012" cy="90012"/>
          </a:xfrm>
          <a:prstGeom prst="line">
            <a:avLst/>
          </a:prstGeom>
          <a:ln w="38100" cap="rnd">
            <a:solidFill>
              <a:srgbClr val="0070C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96" name="直線コネクタ 195"/>
          <p:cNvCxnSpPr/>
          <p:nvPr/>
        </p:nvCxnSpPr>
        <p:spPr>
          <a:xfrm>
            <a:off x="5292613" y="2799147"/>
            <a:ext cx="0" cy="810108"/>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9" name="直線コネクタ 198"/>
          <p:cNvCxnSpPr/>
          <p:nvPr/>
        </p:nvCxnSpPr>
        <p:spPr>
          <a:xfrm>
            <a:off x="3852421" y="5409495"/>
            <a:ext cx="2160288" cy="0"/>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0" name="直線コネクタ 199"/>
          <p:cNvCxnSpPr/>
          <p:nvPr/>
        </p:nvCxnSpPr>
        <p:spPr>
          <a:xfrm flipV="1">
            <a:off x="6012709" y="4419363"/>
            <a:ext cx="0" cy="990132"/>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2" name="直線コネクタ 201"/>
          <p:cNvCxnSpPr/>
          <p:nvPr/>
        </p:nvCxnSpPr>
        <p:spPr>
          <a:xfrm>
            <a:off x="6012709" y="4239339"/>
            <a:ext cx="0" cy="270036"/>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0" name="直線コネクタ 109"/>
          <p:cNvCxnSpPr/>
          <p:nvPr/>
        </p:nvCxnSpPr>
        <p:spPr>
          <a:xfrm>
            <a:off x="5112589" y="1538979"/>
            <a:ext cx="90012" cy="90012"/>
          </a:xfrm>
          <a:prstGeom prst="line">
            <a:avLst/>
          </a:prstGeom>
          <a:ln w="38100" cap="rnd">
            <a:solidFill>
              <a:srgbClr val="0070C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40" name="直線コネクタ 139"/>
          <p:cNvCxnSpPr/>
          <p:nvPr/>
        </p:nvCxnSpPr>
        <p:spPr>
          <a:xfrm flipH="1">
            <a:off x="6012709" y="6039579"/>
            <a:ext cx="1080144" cy="0"/>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1" name="直線コネクタ 140"/>
          <p:cNvCxnSpPr/>
          <p:nvPr/>
        </p:nvCxnSpPr>
        <p:spPr>
          <a:xfrm>
            <a:off x="6012709" y="6039579"/>
            <a:ext cx="90012" cy="90012"/>
          </a:xfrm>
          <a:prstGeom prst="line">
            <a:avLst/>
          </a:prstGeom>
          <a:ln w="38100" cap="rnd">
            <a:solidFill>
              <a:srgbClr val="00B050"/>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142" name="直線コネクタ 141"/>
          <p:cNvCxnSpPr/>
          <p:nvPr/>
        </p:nvCxnSpPr>
        <p:spPr>
          <a:xfrm>
            <a:off x="7092853" y="6039579"/>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49" name="直線コネクタ 148"/>
          <p:cNvCxnSpPr/>
          <p:nvPr/>
        </p:nvCxnSpPr>
        <p:spPr>
          <a:xfrm flipH="1">
            <a:off x="5292613" y="6039579"/>
            <a:ext cx="720096" cy="0"/>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0" name="直線コネクタ 149"/>
          <p:cNvCxnSpPr/>
          <p:nvPr/>
        </p:nvCxnSpPr>
        <p:spPr>
          <a:xfrm>
            <a:off x="7632925" y="4419363"/>
            <a:ext cx="90012" cy="90012"/>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1" name="直線コネクタ 150"/>
          <p:cNvCxnSpPr/>
          <p:nvPr/>
        </p:nvCxnSpPr>
        <p:spPr>
          <a:xfrm>
            <a:off x="7632925" y="4419363"/>
            <a:ext cx="0" cy="450060"/>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2" name="直線コネクタ 151"/>
          <p:cNvCxnSpPr/>
          <p:nvPr/>
        </p:nvCxnSpPr>
        <p:spPr>
          <a:xfrm>
            <a:off x="7542913" y="4779411"/>
            <a:ext cx="90012" cy="90012"/>
          </a:xfrm>
          <a:prstGeom prst="line">
            <a:avLst/>
          </a:prstGeom>
          <a:ln w="38100" cap="rnd">
            <a:solidFill>
              <a:srgbClr val="0070C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55" name="直線コネクタ 154"/>
          <p:cNvCxnSpPr/>
          <p:nvPr/>
        </p:nvCxnSpPr>
        <p:spPr>
          <a:xfrm flipV="1">
            <a:off x="7722937" y="2709135"/>
            <a:ext cx="0" cy="360048"/>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9" name="直線コネクタ 158"/>
          <p:cNvCxnSpPr/>
          <p:nvPr/>
        </p:nvCxnSpPr>
        <p:spPr>
          <a:xfrm>
            <a:off x="7632925" y="2619123"/>
            <a:ext cx="90012" cy="90012"/>
          </a:xfrm>
          <a:prstGeom prst="line">
            <a:avLst/>
          </a:prstGeom>
          <a:ln w="38100" cap="rnd">
            <a:solidFill>
              <a:srgbClr val="0070C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61" name="直線コネクタ 160"/>
          <p:cNvCxnSpPr/>
          <p:nvPr/>
        </p:nvCxnSpPr>
        <p:spPr>
          <a:xfrm>
            <a:off x="7722937" y="3069183"/>
            <a:ext cx="90012" cy="90012"/>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3" name="直線コネクタ 122"/>
          <p:cNvCxnSpPr/>
          <p:nvPr/>
        </p:nvCxnSpPr>
        <p:spPr>
          <a:xfrm flipH="1" flipV="1">
            <a:off x="7092853" y="3879291"/>
            <a:ext cx="90012" cy="90012"/>
          </a:xfrm>
          <a:prstGeom prst="line">
            <a:avLst/>
          </a:prstGeom>
          <a:ln w="38100">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08" name="直線コネクタ 107"/>
          <p:cNvCxnSpPr/>
          <p:nvPr/>
        </p:nvCxnSpPr>
        <p:spPr>
          <a:xfrm>
            <a:off x="5292613" y="4239339"/>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09" name="直線コネクタ 108"/>
          <p:cNvCxnSpPr/>
          <p:nvPr/>
        </p:nvCxnSpPr>
        <p:spPr>
          <a:xfrm>
            <a:off x="5202601" y="4149327"/>
            <a:ext cx="90012" cy="90012"/>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5" name="直線コネクタ 124"/>
          <p:cNvCxnSpPr/>
          <p:nvPr/>
        </p:nvCxnSpPr>
        <p:spPr>
          <a:xfrm>
            <a:off x="5292613" y="3609255"/>
            <a:ext cx="1800240" cy="0"/>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6" name="直線コネクタ 125"/>
          <p:cNvCxnSpPr/>
          <p:nvPr/>
        </p:nvCxnSpPr>
        <p:spPr>
          <a:xfrm>
            <a:off x="7092853" y="3609255"/>
            <a:ext cx="0" cy="270036"/>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7" name="直線コネクタ 106"/>
          <p:cNvCxnSpPr/>
          <p:nvPr/>
        </p:nvCxnSpPr>
        <p:spPr>
          <a:xfrm flipH="1">
            <a:off x="792013" y="3339219"/>
            <a:ext cx="8191092" cy="0"/>
          </a:xfrm>
          <a:prstGeom prst="line">
            <a:avLst/>
          </a:prstGeom>
          <a:ln w="38100" cap="rnd">
            <a:solidFill>
              <a:srgbClr val="0070C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33" name="直線コネクタ 132"/>
          <p:cNvCxnSpPr/>
          <p:nvPr/>
        </p:nvCxnSpPr>
        <p:spPr>
          <a:xfrm flipH="1">
            <a:off x="7542913" y="4779411"/>
            <a:ext cx="1440192" cy="0"/>
          </a:xfrm>
          <a:prstGeom prst="line">
            <a:avLst/>
          </a:prstGeom>
          <a:ln w="38100" cap="rnd">
            <a:solidFill>
              <a:srgbClr val="0070C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34" name="直線コネクタ 133"/>
          <p:cNvCxnSpPr/>
          <p:nvPr/>
        </p:nvCxnSpPr>
        <p:spPr>
          <a:xfrm>
            <a:off x="792013" y="3339219"/>
            <a:ext cx="90012" cy="90012"/>
          </a:xfrm>
          <a:prstGeom prst="line">
            <a:avLst/>
          </a:prstGeom>
          <a:ln w="38100" cap="rnd">
            <a:solidFill>
              <a:srgbClr val="0070C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36" name="直線コネクタ 135"/>
          <p:cNvCxnSpPr/>
          <p:nvPr/>
        </p:nvCxnSpPr>
        <p:spPr>
          <a:xfrm>
            <a:off x="1602121" y="1088919"/>
            <a:ext cx="0" cy="2340312"/>
          </a:xfrm>
          <a:prstGeom prst="line">
            <a:avLst/>
          </a:prstGeom>
          <a:ln w="38100" cap="rnd">
            <a:solidFill>
              <a:srgbClr val="FF000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39" name="直線コネクタ 138"/>
          <p:cNvCxnSpPr/>
          <p:nvPr/>
        </p:nvCxnSpPr>
        <p:spPr>
          <a:xfrm>
            <a:off x="6912829" y="1088919"/>
            <a:ext cx="0" cy="5760768"/>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4" name="直線コネクタ 153"/>
          <p:cNvCxnSpPr/>
          <p:nvPr/>
        </p:nvCxnSpPr>
        <p:spPr>
          <a:xfrm>
            <a:off x="5922697" y="1088919"/>
            <a:ext cx="0" cy="5760768"/>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3" name="直線コネクタ 202"/>
          <p:cNvCxnSpPr/>
          <p:nvPr/>
        </p:nvCxnSpPr>
        <p:spPr>
          <a:xfrm>
            <a:off x="1602121" y="1088919"/>
            <a:ext cx="0" cy="5760768"/>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4" name="直線コネクタ 203"/>
          <p:cNvCxnSpPr/>
          <p:nvPr/>
        </p:nvCxnSpPr>
        <p:spPr>
          <a:xfrm>
            <a:off x="3042313" y="1088919"/>
            <a:ext cx="0" cy="5760768"/>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6" name="直線コネクタ 205"/>
          <p:cNvCxnSpPr/>
          <p:nvPr/>
        </p:nvCxnSpPr>
        <p:spPr>
          <a:xfrm>
            <a:off x="4482505" y="1088919"/>
            <a:ext cx="0" cy="5760768"/>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3" name="直線コネクタ 112"/>
          <p:cNvCxnSpPr/>
          <p:nvPr/>
        </p:nvCxnSpPr>
        <p:spPr>
          <a:xfrm>
            <a:off x="341953" y="1538979"/>
            <a:ext cx="8641152" cy="0"/>
          </a:xfrm>
          <a:prstGeom prst="line">
            <a:avLst/>
          </a:prstGeom>
          <a:ln w="38100" cap="rnd">
            <a:solidFill>
              <a:srgbClr val="0070C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4" name="直線コネクタ 113"/>
          <p:cNvCxnSpPr/>
          <p:nvPr/>
        </p:nvCxnSpPr>
        <p:spPr>
          <a:xfrm>
            <a:off x="341953" y="2619123"/>
            <a:ext cx="8641152" cy="0"/>
          </a:xfrm>
          <a:prstGeom prst="line">
            <a:avLst/>
          </a:prstGeom>
          <a:ln w="38100" cap="rnd">
            <a:solidFill>
              <a:srgbClr val="0070C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4" name="直線コネクタ 123"/>
          <p:cNvCxnSpPr/>
          <p:nvPr/>
        </p:nvCxnSpPr>
        <p:spPr>
          <a:xfrm flipH="1">
            <a:off x="341953" y="4059315"/>
            <a:ext cx="8641152" cy="0"/>
          </a:xfrm>
          <a:prstGeom prst="line">
            <a:avLst/>
          </a:prstGeom>
          <a:ln w="38100" cap="rnd">
            <a:solidFill>
              <a:srgbClr val="0070C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7" name="直線コネクタ 126"/>
          <p:cNvCxnSpPr/>
          <p:nvPr/>
        </p:nvCxnSpPr>
        <p:spPr>
          <a:xfrm>
            <a:off x="341953" y="4779411"/>
            <a:ext cx="7200960" cy="0"/>
          </a:xfrm>
          <a:prstGeom prst="line">
            <a:avLst/>
          </a:prstGeom>
          <a:ln w="38100" cap="rnd">
            <a:solidFill>
              <a:srgbClr val="0070C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31" name="直線コネクタ 130"/>
          <p:cNvCxnSpPr/>
          <p:nvPr/>
        </p:nvCxnSpPr>
        <p:spPr>
          <a:xfrm>
            <a:off x="341953" y="5859555"/>
            <a:ext cx="8641152" cy="0"/>
          </a:xfrm>
          <a:prstGeom prst="line">
            <a:avLst/>
          </a:prstGeom>
          <a:ln w="38100" cap="rnd">
            <a:solidFill>
              <a:srgbClr val="0070C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2" name="直線コネクタ 131"/>
          <p:cNvCxnSpPr/>
          <p:nvPr/>
        </p:nvCxnSpPr>
        <p:spPr>
          <a:xfrm>
            <a:off x="341953" y="3339219"/>
            <a:ext cx="450060" cy="0"/>
          </a:xfrm>
          <a:prstGeom prst="line">
            <a:avLst/>
          </a:prstGeom>
          <a:ln w="38100" cap="rnd">
            <a:solidFill>
              <a:srgbClr val="0070C0"/>
            </a:solidFill>
            <a:headEnd type="none"/>
            <a:tailEnd type="oval"/>
          </a:ln>
        </p:spPr>
        <p:style>
          <a:lnRef idx="1">
            <a:schemeClr val="accent1"/>
          </a:lnRef>
          <a:fillRef idx="0">
            <a:schemeClr val="accent1"/>
          </a:fillRef>
          <a:effectRef idx="0">
            <a:schemeClr val="accent1"/>
          </a:effectRef>
          <a:fontRef idx="minor">
            <a:schemeClr val="tx1"/>
          </a:fontRef>
        </p:style>
      </p:cxnSp>
      <p:sp>
        <p:nvSpPr>
          <p:cNvPr id="2" name="タイトル 1"/>
          <p:cNvSpPr>
            <a:spLocks noGrp="1"/>
          </p:cNvSpPr>
          <p:nvPr>
            <p:ph type="title"/>
          </p:nvPr>
        </p:nvSpPr>
        <p:spPr/>
        <p:txBody>
          <a:bodyPr/>
          <a:lstStyle/>
          <a:p>
            <a:r>
              <a:rPr lang="en-US" altLang="ja-JP" dirty="0"/>
              <a:t>3</a:t>
            </a:r>
            <a:r>
              <a:rPr lang="ja-JP" altLang="en-US" dirty="0"/>
              <a:t>次元的な構造を考えながら，設計</a:t>
            </a:r>
            <a:endParaRPr kumimoji="1" lang="ja-JP" altLang="en-US" dirty="0"/>
          </a:p>
        </p:txBody>
      </p:sp>
    </p:spTree>
    <p:extLst>
      <p:ext uri="{BB962C8B-B14F-4D97-AF65-F5344CB8AC3E}">
        <p14:creationId xmlns:p14="http://schemas.microsoft.com/office/powerpoint/2010/main" val="415980991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実際の設計データ</a:t>
            </a:r>
            <a:endParaRPr kumimoji="1" lang="ja-JP" altLang="en-US" dirty="0"/>
          </a:p>
        </p:txBody>
      </p:sp>
      <p:sp>
        <p:nvSpPr>
          <p:cNvPr id="5" name="テキスト プレースホルダー 4"/>
          <p:cNvSpPr>
            <a:spLocks noGrp="1"/>
          </p:cNvSpPr>
          <p:nvPr>
            <p:ph type="body" sz="quarter" idx="10"/>
          </p:nvPr>
        </p:nvSpPr>
        <p:spPr/>
        <p:txBody>
          <a:bodyPr/>
          <a:lstStyle/>
          <a:p>
            <a:endParaRPr kumimoji="1" lang="ja-JP" altLang="en-US"/>
          </a:p>
        </p:txBody>
      </p:sp>
      <p:pic>
        <p:nvPicPr>
          <p:cNvPr id="4" name="図 3"/>
          <p:cNvPicPr>
            <a:picLocks noChangeAspect="1"/>
          </p:cNvPicPr>
          <p:nvPr/>
        </p:nvPicPr>
        <p:blipFill>
          <a:blip r:embed="rId2"/>
          <a:stretch>
            <a:fillRect/>
          </a:stretch>
        </p:blipFill>
        <p:spPr>
          <a:xfrm>
            <a:off x="521955" y="2258987"/>
            <a:ext cx="8452256" cy="3305876"/>
          </a:xfrm>
          <a:prstGeom prst="rect">
            <a:avLst/>
          </a:prstGeom>
        </p:spPr>
      </p:pic>
    </p:spTree>
    <p:extLst>
      <p:ext uri="{BB962C8B-B14F-4D97-AF65-F5344CB8AC3E}">
        <p14:creationId xmlns:p14="http://schemas.microsoft.com/office/powerpoint/2010/main" val="399785597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31954" y="0"/>
            <a:ext cx="8712046" cy="638969"/>
          </a:xfrm>
        </p:spPr>
        <p:txBody>
          <a:bodyPr/>
          <a:lstStyle/>
          <a:p>
            <a:r>
              <a:rPr kumimoji="1" lang="ja-JP" altLang="en-US" dirty="0"/>
              <a:t>実際の例：</a:t>
            </a:r>
            <a:r>
              <a:rPr kumimoji="1" lang="en-US" altLang="ja-JP" dirty="0"/>
              <a:t>IBM POWER8 </a:t>
            </a:r>
            <a:r>
              <a:rPr kumimoji="1" lang="ja-JP" altLang="en-US" dirty="0"/>
              <a:t>のチップ写真</a:t>
            </a:r>
          </a:p>
        </p:txBody>
      </p:sp>
      <p:sp>
        <p:nvSpPr>
          <p:cNvPr id="3" name="テキスト プレースホルダー 2"/>
          <p:cNvSpPr>
            <a:spLocks noGrp="1"/>
          </p:cNvSpPr>
          <p:nvPr>
            <p:ph type="body" sz="quarter" idx="10"/>
          </p:nvPr>
        </p:nvSpPr>
        <p:spPr>
          <a:xfrm>
            <a:off x="0" y="5859027"/>
            <a:ext cx="8892048" cy="449698"/>
          </a:xfrm>
        </p:spPr>
        <p:txBody>
          <a:bodyPr/>
          <a:lstStyle/>
          <a:p>
            <a:pPr lvl="1"/>
            <a:r>
              <a:rPr kumimoji="1" lang="ja-JP" altLang="en-US" dirty="0" err="1"/>
              <a:t>もわっ</a:t>
            </a:r>
            <a:r>
              <a:rPr kumimoji="1" lang="ja-JP" altLang="en-US" dirty="0"/>
              <a:t>とした模様の部分がスタンダード・セルを自動で配置した部分</a:t>
            </a:r>
            <a:endParaRPr kumimoji="1" lang="en-US" altLang="ja-JP" dirty="0"/>
          </a:p>
          <a:p>
            <a:pPr lvl="1"/>
            <a:r>
              <a:rPr kumimoji="1" lang="ja-JP" altLang="en-US" dirty="0"/>
              <a:t>四角いところは基本的にはメモリ</a:t>
            </a:r>
            <a:endParaRPr kumimoji="1" lang="en-US" altLang="ja-JP" dirty="0"/>
          </a:p>
          <a:p>
            <a:pPr lvl="2"/>
            <a:r>
              <a:rPr kumimoji="1" lang="ja-JP" altLang="en-US" dirty="0"/>
              <a:t>同じものが規則正しく並んでいる</a:t>
            </a:r>
          </a:p>
        </p:txBody>
      </p:sp>
      <p:pic>
        <p:nvPicPr>
          <p:cNvPr id="4" name="図 3"/>
          <p:cNvPicPr>
            <a:picLocks noChangeAspect="1"/>
          </p:cNvPicPr>
          <p:nvPr/>
        </p:nvPicPr>
        <p:blipFill>
          <a:blip r:embed="rId2"/>
          <a:stretch>
            <a:fillRect/>
          </a:stretch>
        </p:blipFill>
        <p:spPr>
          <a:xfrm>
            <a:off x="1421965" y="1088974"/>
            <a:ext cx="6763067" cy="4444831"/>
          </a:xfrm>
          <a:prstGeom prst="rect">
            <a:avLst/>
          </a:prstGeom>
        </p:spPr>
      </p:pic>
      <p:sp>
        <p:nvSpPr>
          <p:cNvPr id="5" name="テキスト プレースホルダー 2"/>
          <p:cNvSpPr txBox="1">
            <a:spLocks/>
          </p:cNvSpPr>
          <p:nvPr/>
        </p:nvSpPr>
        <p:spPr bwMode="auto">
          <a:xfrm>
            <a:off x="431954" y="458967"/>
            <a:ext cx="8280092" cy="44969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None/>
            </a:pPr>
            <a:r>
              <a:rPr lang="ja-JP" altLang="en-US" sz="1100" kern="0" dirty="0">
                <a:solidFill>
                  <a:schemeClr val="bg1"/>
                </a:solidFill>
              </a:rPr>
              <a:t>画像は </a:t>
            </a:r>
            <a:r>
              <a:rPr lang="en-US" altLang="ja-JP" sz="1100" dirty="0">
                <a:solidFill>
                  <a:schemeClr val="bg1"/>
                </a:solidFill>
              </a:rPr>
              <a:t>2014 IEEE International Solid-State Circuits Conference </a:t>
            </a:r>
            <a:r>
              <a:rPr lang="en-US" altLang="ja-JP" sz="1100" kern="0" dirty="0">
                <a:solidFill>
                  <a:schemeClr val="bg1"/>
                </a:solidFill>
              </a:rPr>
              <a:t>5.1: POWER8TM: A 12-Core Server-Class Processor in 22nm SOI with 7.6Tb/s Off-Chip Bandwidth </a:t>
            </a:r>
            <a:r>
              <a:rPr lang="ja-JP" altLang="en-US" sz="1100" kern="0" dirty="0">
                <a:solidFill>
                  <a:schemeClr val="bg1"/>
                </a:solidFill>
              </a:rPr>
              <a:t>より</a:t>
            </a:r>
          </a:p>
        </p:txBody>
      </p:sp>
    </p:spTree>
    <p:extLst>
      <p:ext uri="{BB962C8B-B14F-4D97-AF65-F5344CB8AC3E}">
        <p14:creationId xmlns:p14="http://schemas.microsoft.com/office/powerpoint/2010/main" val="423560415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CB193E4-A1E8-5F36-16EF-9B2422247963}"/>
              </a:ext>
            </a:extLst>
          </p:cNvPr>
          <p:cNvSpPr>
            <a:spLocks noGrp="1"/>
          </p:cNvSpPr>
          <p:nvPr>
            <p:ph type="title"/>
          </p:nvPr>
        </p:nvSpPr>
        <p:spPr/>
        <p:txBody>
          <a:bodyPr/>
          <a:lstStyle/>
          <a:p>
            <a:endParaRPr kumimoji="1" lang="en-US"/>
          </a:p>
        </p:txBody>
      </p:sp>
      <p:sp>
        <p:nvSpPr>
          <p:cNvPr id="3" name="コンテンツ プレースホルダー 2">
            <a:extLst>
              <a:ext uri="{FF2B5EF4-FFF2-40B4-BE49-F238E27FC236}">
                <a16:creationId xmlns:a16="http://schemas.microsoft.com/office/drawing/2014/main" id="{349DA31E-565D-4E63-1342-8AAF9E047E0D}"/>
              </a:ext>
            </a:extLst>
          </p:cNvPr>
          <p:cNvSpPr>
            <a:spLocks noGrp="1"/>
          </p:cNvSpPr>
          <p:nvPr>
            <p:ph sz="quarter" idx="10"/>
          </p:nvPr>
        </p:nvSpPr>
        <p:spPr/>
        <p:txBody>
          <a:bodyPr/>
          <a:lstStyle/>
          <a:p>
            <a:endParaRPr kumimoji="1" lang="en-US" dirty="0"/>
          </a:p>
        </p:txBody>
      </p:sp>
      <p:pic>
        <p:nvPicPr>
          <p:cNvPr id="4" name="Picture 83" descr="NAND">
            <a:extLst>
              <a:ext uri="{FF2B5EF4-FFF2-40B4-BE49-F238E27FC236}">
                <a16:creationId xmlns:a16="http://schemas.microsoft.com/office/drawing/2014/main" id="{BB575B8A-EE34-C49B-7F26-A9EF6E6E3300}"/>
              </a:ext>
            </a:extLst>
          </p:cNvPr>
          <p:cNvPicPr>
            <a:picLocks noChangeAspect="1" noChangeArrowheads="1"/>
          </p:cNvPicPr>
          <p:nvPr/>
        </p:nvPicPr>
        <p:blipFill>
          <a:blip r:embed="rId2" cstate="print"/>
          <a:srcRect/>
          <a:stretch>
            <a:fillRect/>
          </a:stretch>
        </p:blipFill>
        <p:spPr bwMode="auto">
          <a:xfrm>
            <a:off x="2681288" y="2349500"/>
            <a:ext cx="1079500" cy="720725"/>
          </a:xfrm>
          <a:prstGeom prst="rect">
            <a:avLst/>
          </a:prstGeom>
          <a:noFill/>
        </p:spPr>
      </p:pic>
      <p:pic>
        <p:nvPicPr>
          <p:cNvPr id="5" name="Picture 84" descr="NOR">
            <a:extLst>
              <a:ext uri="{FF2B5EF4-FFF2-40B4-BE49-F238E27FC236}">
                <a16:creationId xmlns:a16="http://schemas.microsoft.com/office/drawing/2014/main" id="{A17B7CF6-A979-6A14-66B3-B26FE99ED46C}"/>
              </a:ext>
            </a:extLst>
          </p:cNvPr>
          <p:cNvPicPr>
            <a:picLocks noChangeAspect="1" noChangeArrowheads="1"/>
          </p:cNvPicPr>
          <p:nvPr/>
        </p:nvPicPr>
        <p:blipFill>
          <a:blip r:embed="rId3" cstate="print"/>
          <a:srcRect/>
          <a:stretch>
            <a:fillRect/>
          </a:stretch>
        </p:blipFill>
        <p:spPr bwMode="auto">
          <a:xfrm>
            <a:off x="4841875" y="2349500"/>
            <a:ext cx="1079500" cy="717550"/>
          </a:xfrm>
          <a:prstGeom prst="rect">
            <a:avLst/>
          </a:prstGeom>
          <a:noFill/>
        </p:spPr>
      </p:pic>
      <p:pic>
        <p:nvPicPr>
          <p:cNvPr id="6" name="Picture 85" descr="BUF">
            <a:extLst>
              <a:ext uri="{FF2B5EF4-FFF2-40B4-BE49-F238E27FC236}">
                <a16:creationId xmlns:a16="http://schemas.microsoft.com/office/drawing/2014/main" id="{4A368AE4-E7F9-AACD-33FC-4ECAA039F1A9}"/>
              </a:ext>
            </a:extLst>
          </p:cNvPr>
          <p:cNvPicPr>
            <a:picLocks noChangeAspect="1" noChangeArrowheads="1"/>
          </p:cNvPicPr>
          <p:nvPr/>
        </p:nvPicPr>
        <p:blipFill>
          <a:blip r:embed="rId4" cstate="print"/>
          <a:srcRect/>
          <a:stretch>
            <a:fillRect/>
          </a:stretch>
        </p:blipFill>
        <p:spPr bwMode="auto">
          <a:xfrm>
            <a:off x="7092950" y="2349500"/>
            <a:ext cx="717550" cy="720725"/>
          </a:xfrm>
          <a:prstGeom prst="rect">
            <a:avLst/>
          </a:prstGeom>
          <a:noFill/>
        </p:spPr>
      </p:pic>
    </p:spTree>
    <p:extLst>
      <p:ext uri="{BB962C8B-B14F-4D97-AF65-F5344CB8AC3E}">
        <p14:creationId xmlns:p14="http://schemas.microsoft.com/office/powerpoint/2010/main" val="6573985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kumimoji="1" lang="ja-JP" altLang="en-US" dirty="0"/>
              <a:t>感想や質問</a:t>
            </a:r>
          </a:p>
        </p:txBody>
      </p:sp>
    </p:spTree>
    <p:extLst>
      <p:ext uri="{BB962C8B-B14F-4D97-AF65-F5344CB8AC3E}">
        <p14:creationId xmlns:p14="http://schemas.microsoft.com/office/powerpoint/2010/main" val="257237242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474496-6B6F-C5EF-636D-7794CB7BEEC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652A112-EDAE-7744-B98B-2685A86DBC98}"/>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CC473EC9-37CC-1C6A-E1BC-20A90A65B9E1}"/>
              </a:ext>
            </a:extLst>
          </p:cNvPr>
          <p:cNvSpPr>
            <a:spLocks noGrp="1"/>
          </p:cNvSpPr>
          <p:nvPr>
            <p:ph sz="quarter" idx="10"/>
          </p:nvPr>
        </p:nvSpPr>
        <p:spPr/>
        <p:txBody>
          <a:bodyPr/>
          <a:lstStyle/>
          <a:p>
            <a:r>
              <a:rPr kumimoji="1" lang="ja-JP" altLang="en-US" dirty="0"/>
              <a:t>今回の講義資料の</a:t>
            </a:r>
            <a:r>
              <a:rPr kumimoji="1" lang="en-US" altLang="ja-JP" dirty="0"/>
              <a:t>44</a:t>
            </a:r>
            <a:r>
              <a:rPr kumimoji="1" lang="ja-JP" altLang="en-US" dirty="0"/>
              <a:t>ページで完全集合が</a:t>
            </a:r>
            <a:r>
              <a:rPr kumimoji="1" lang="en-US" altLang="ja-JP" dirty="0"/>
              <a:t>5</a:t>
            </a:r>
            <a:r>
              <a:rPr kumimoji="1" lang="ja-JP" altLang="en-US" dirty="0"/>
              <a:t>つ紹介されていました。それぞれ使われる場面に違いはありますか。</a:t>
            </a:r>
            <a:r>
              <a:rPr kumimoji="1" lang="en-US" altLang="ja-JP" dirty="0"/>
              <a:t>AND</a:t>
            </a:r>
            <a:r>
              <a:rPr kumimoji="1" lang="ja-JP" altLang="en-US" dirty="0"/>
              <a:t>と</a:t>
            </a:r>
            <a:r>
              <a:rPr kumimoji="1" lang="en-US" altLang="ja-JP" dirty="0"/>
              <a:t>OR</a:t>
            </a:r>
            <a:r>
              <a:rPr kumimoji="1" lang="ja-JP" altLang="en-US" dirty="0"/>
              <a:t>と</a:t>
            </a:r>
            <a:r>
              <a:rPr kumimoji="1" lang="en-US" altLang="ja-JP" dirty="0"/>
              <a:t>NOT</a:t>
            </a:r>
            <a:r>
              <a:rPr kumimoji="1" lang="ja-JP" altLang="en-US" dirty="0"/>
              <a:t>があれば全て表現できるとのことでしたが、</a:t>
            </a:r>
            <a:r>
              <a:rPr kumimoji="1" lang="en-US" altLang="ja-JP" dirty="0"/>
              <a:t>NAND1</a:t>
            </a:r>
            <a:r>
              <a:rPr kumimoji="1" lang="ja-JP" altLang="en-US" dirty="0"/>
              <a:t>つの方が簡潔で便利だったりするのでしょうか。</a:t>
            </a:r>
            <a:endParaRPr kumimoji="1" lang="en-US" altLang="ja-JP" dirty="0"/>
          </a:p>
        </p:txBody>
      </p:sp>
    </p:spTree>
    <p:extLst>
      <p:ext uri="{BB962C8B-B14F-4D97-AF65-F5344CB8AC3E}">
        <p14:creationId xmlns:p14="http://schemas.microsoft.com/office/powerpoint/2010/main" val="78677487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8E2A00-5145-D800-7DCA-702252FDDF5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B9C1A2A-D976-2095-656C-11DF17A3AF09}"/>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61521B4D-4C8B-9897-812C-A4A2BEC3322C}"/>
              </a:ext>
            </a:extLst>
          </p:cNvPr>
          <p:cNvSpPr>
            <a:spLocks noGrp="1"/>
          </p:cNvSpPr>
          <p:nvPr>
            <p:ph sz="quarter" idx="10"/>
          </p:nvPr>
        </p:nvSpPr>
        <p:spPr/>
        <p:txBody>
          <a:bodyPr/>
          <a:lstStyle/>
          <a:p>
            <a:r>
              <a:rPr kumimoji="1" lang="ja-JP" altLang="en-US" dirty="0"/>
              <a:t>また、今回の講義資料の</a:t>
            </a:r>
            <a:r>
              <a:rPr kumimoji="1" lang="en-US" altLang="ja-JP" dirty="0"/>
              <a:t>62</a:t>
            </a:r>
            <a:r>
              <a:rPr kumimoji="1" lang="ja-JP" altLang="en-US" dirty="0"/>
              <a:t>ページについて、マルチプレクサは必ず互い違いになるため貫通してしまうことがない、というところがよく理解できませんでした。どのように互い違いになるのでしょうか。</a:t>
            </a:r>
            <a:endParaRPr kumimoji="1" lang="en-US" dirty="0"/>
          </a:p>
        </p:txBody>
      </p:sp>
    </p:spTree>
    <p:extLst>
      <p:ext uri="{BB962C8B-B14F-4D97-AF65-F5344CB8AC3E}">
        <p14:creationId xmlns:p14="http://schemas.microsoft.com/office/powerpoint/2010/main" val="300575091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8C66F-94D9-33C3-5D22-07256D26E49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FB2B067-EDDC-C1DD-1A1B-EAF7D242575D}"/>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D841CDFF-08FD-6AA5-BD0D-4764A0783A17}"/>
              </a:ext>
            </a:extLst>
          </p:cNvPr>
          <p:cNvSpPr>
            <a:spLocks noGrp="1"/>
          </p:cNvSpPr>
          <p:nvPr>
            <p:ph sz="quarter" idx="10"/>
          </p:nvPr>
        </p:nvSpPr>
        <p:spPr/>
        <p:txBody>
          <a:bodyPr/>
          <a:lstStyle/>
          <a:p>
            <a:r>
              <a:rPr kumimoji="1" lang="ja-JP" altLang="en-US" dirty="0"/>
              <a:t>授業内容がスッと入ってきたので、数理論理学でたくさん真理値表や回路を書いていたことが身になっている感覚がして嬉しく思いました。</a:t>
            </a:r>
            <a:endParaRPr kumimoji="1" lang="en-US" dirty="0"/>
          </a:p>
        </p:txBody>
      </p:sp>
    </p:spTree>
    <p:extLst>
      <p:ext uri="{BB962C8B-B14F-4D97-AF65-F5344CB8AC3E}">
        <p14:creationId xmlns:p14="http://schemas.microsoft.com/office/powerpoint/2010/main" val="173719793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D88270-512B-941E-1E1C-CA530F6DFF0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2436A16-E977-74CC-B8C0-A0A395038F47}"/>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0C65FCB2-713E-87DF-FFF8-8412D1AF333B}"/>
              </a:ext>
            </a:extLst>
          </p:cNvPr>
          <p:cNvSpPr>
            <a:spLocks noGrp="1"/>
          </p:cNvSpPr>
          <p:nvPr>
            <p:ph sz="quarter" idx="10"/>
          </p:nvPr>
        </p:nvSpPr>
        <p:spPr/>
        <p:txBody>
          <a:bodyPr/>
          <a:lstStyle/>
          <a:p>
            <a:r>
              <a:rPr kumimoji="1" lang="ja-JP" altLang="en-US" dirty="0"/>
              <a:t>しかし、なぜ記憶方法が</a:t>
            </a:r>
            <a:r>
              <a:rPr kumimoji="1" lang="en-US" altLang="ja-JP" dirty="0"/>
              <a:t>NOT</a:t>
            </a:r>
            <a:r>
              <a:rPr kumimoji="1" lang="ja-JP" altLang="en-US" dirty="0"/>
              <a:t>ゲートのループである必要があるのかがよくわかりませんでした。</a:t>
            </a:r>
            <a:r>
              <a:rPr kumimoji="1" lang="en-US" altLang="ja-JP" dirty="0"/>
              <a:t>NOT</a:t>
            </a:r>
            <a:r>
              <a:rPr kumimoji="1" lang="ja-JP" altLang="en-US" dirty="0"/>
              <a:t>ゲートをなくしたただのループでは記憶できないのでしょうか。</a:t>
            </a:r>
            <a:endParaRPr kumimoji="1" lang="en-US" dirty="0"/>
          </a:p>
        </p:txBody>
      </p:sp>
    </p:spTree>
    <p:extLst>
      <p:ext uri="{BB962C8B-B14F-4D97-AF65-F5344CB8AC3E}">
        <p14:creationId xmlns:p14="http://schemas.microsoft.com/office/powerpoint/2010/main" val="171640750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C9B18-D84E-9FFD-70B4-294EC645AE6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C9FE4AE-9493-E8D4-E5BC-77839ACBD145}"/>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125D4100-ACBE-0E85-7317-9F8D7C744B3A}"/>
              </a:ext>
            </a:extLst>
          </p:cNvPr>
          <p:cNvSpPr>
            <a:spLocks noGrp="1"/>
          </p:cNvSpPr>
          <p:nvPr>
            <p:ph sz="quarter" idx="10"/>
          </p:nvPr>
        </p:nvSpPr>
        <p:spPr/>
        <p:txBody>
          <a:bodyPr/>
          <a:lstStyle/>
          <a:p>
            <a:r>
              <a:rPr kumimoji="1" lang="ja-JP" altLang="en-US" dirty="0"/>
              <a:t>またクロック入力の頻度について、</a:t>
            </a:r>
            <a:r>
              <a:rPr kumimoji="1" lang="en-US" altLang="ja-JP" dirty="0"/>
              <a:t>p59</a:t>
            </a:r>
            <a:r>
              <a:rPr kumimoji="1" lang="ja-JP" altLang="en-US" dirty="0"/>
              <a:t>の図で、</a:t>
            </a:r>
            <a:r>
              <a:rPr kumimoji="1" lang="en-US" altLang="ja-JP" dirty="0"/>
              <a:t>d</a:t>
            </a:r>
            <a:r>
              <a:rPr kumimoji="1" lang="ja-JP" altLang="en-US" dirty="0"/>
              <a:t>の入力が変わるたびに</a:t>
            </a:r>
            <a:r>
              <a:rPr kumimoji="1" lang="en-US" altLang="ja-JP" dirty="0"/>
              <a:t>q</a:t>
            </a:r>
            <a:r>
              <a:rPr kumimoji="1" lang="ja-JP" altLang="en-US" dirty="0"/>
              <a:t>の出力が変わっていることや、クロックが下がっているまたは上がっている間に</a:t>
            </a:r>
            <a:r>
              <a:rPr kumimoji="1" lang="en-US" altLang="ja-JP" dirty="0"/>
              <a:t>d</a:t>
            </a:r>
            <a:r>
              <a:rPr kumimoji="1" lang="ja-JP" altLang="en-US" dirty="0"/>
              <a:t>に異なるデータが入力されてしまうと、正しく出力されないデータが生まれてしまうことから、クロック入力の頻度は、</a:t>
            </a:r>
            <a:r>
              <a:rPr kumimoji="1" lang="en-US" altLang="ja-JP" dirty="0"/>
              <a:t>d</a:t>
            </a:r>
            <a:r>
              <a:rPr kumimoji="1" lang="ja-JP" altLang="en-US" dirty="0"/>
              <a:t>へのデータ入力の速度と比較して早いと考えたのですが、合っていますでしょうか。</a:t>
            </a:r>
            <a:endParaRPr kumimoji="1" lang="en-US" dirty="0"/>
          </a:p>
        </p:txBody>
      </p:sp>
    </p:spTree>
    <p:extLst>
      <p:ext uri="{BB962C8B-B14F-4D97-AF65-F5344CB8AC3E}">
        <p14:creationId xmlns:p14="http://schemas.microsoft.com/office/powerpoint/2010/main" val="197924504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D-FF </a:t>
            </a:r>
            <a:r>
              <a:rPr kumimoji="1" lang="ja-JP" altLang="en-US" dirty="0"/>
              <a:t>の動作</a:t>
            </a:r>
          </a:p>
        </p:txBody>
      </p:sp>
      <p:graphicFrame>
        <p:nvGraphicFramePr>
          <p:cNvPr id="4" name="Group 66"/>
          <p:cNvGraphicFramePr>
            <a:graphicFrameLocks noGrp="1"/>
          </p:cNvGraphicFramePr>
          <p:nvPr/>
        </p:nvGraphicFramePr>
        <p:xfrm>
          <a:off x="609600" y="1628775"/>
          <a:ext cx="7921625" cy="1439863"/>
        </p:xfrm>
        <a:graphic>
          <a:graphicData uri="http://schemas.openxmlformats.org/drawingml/2006/table">
            <a:tbl>
              <a:tblPr/>
              <a:tblGrid>
                <a:gridCol w="720725">
                  <a:extLst>
                    <a:ext uri="{9D8B030D-6E8A-4147-A177-3AD203B41FA5}">
                      <a16:colId xmlns:a16="http://schemas.microsoft.com/office/drawing/2014/main" val="20000"/>
                    </a:ext>
                  </a:extLst>
                </a:gridCol>
                <a:gridCol w="719138">
                  <a:extLst>
                    <a:ext uri="{9D8B030D-6E8A-4147-A177-3AD203B41FA5}">
                      <a16:colId xmlns:a16="http://schemas.microsoft.com/office/drawing/2014/main" val="20001"/>
                    </a:ext>
                  </a:extLst>
                </a:gridCol>
                <a:gridCol w="720725">
                  <a:extLst>
                    <a:ext uri="{9D8B030D-6E8A-4147-A177-3AD203B41FA5}">
                      <a16:colId xmlns:a16="http://schemas.microsoft.com/office/drawing/2014/main" val="20002"/>
                    </a:ext>
                  </a:extLst>
                </a:gridCol>
                <a:gridCol w="720725">
                  <a:extLst>
                    <a:ext uri="{9D8B030D-6E8A-4147-A177-3AD203B41FA5}">
                      <a16:colId xmlns:a16="http://schemas.microsoft.com/office/drawing/2014/main" val="20003"/>
                    </a:ext>
                  </a:extLst>
                </a:gridCol>
                <a:gridCol w="719137">
                  <a:extLst>
                    <a:ext uri="{9D8B030D-6E8A-4147-A177-3AD203B41FA5}">
                      <a16:colId xmlns:a16="http://schemas.microsoft.com/office/drawing/2014/main" val="20004"/>
                    </a:ext>
                  </a:extLst>
                </a:gridCol>
                <a:gridCol w="720725">
                  <a:extLst>
                    <a:ext uri="{9D8B030D-6E8A-4147-A177-3AD203B41FA5}">
                      <a16:colId xmlns:a16="http://schemas.microsoft.com/office/drawing/2014/main" val="20005"/>
                    </a:ext>
                  </a:extLst>
                </a:gridCol>
                <a:gridCol w="719138">
                  <a:extLst>
                    <a:ext uri="{9D8B030D-6E8A-4147-A177-3AD203B41FA5}">
                      <a16:colId xmlns:a16="http://schemas.microsoft.com/office/drawing/2014/main" val="20006"/>
                    </a:ext>
                  </a:extLst>
                </a:gridCol>
                <a:gridCol w="720725">
                  <a:extLst>
                    <a:ext uri="{9D8B030D-6E8A-4147-A177-3AD203B41FA5}">
                      <a16:colId xmlns:a16="http://schemas.microsoft.com/office/drawing/2014/main" val="20007"/>
                    </a:ext>
                  </a:extLst>
                </a:gridCol>
                <a:gridCol w="720725">
                  <a:extLst>
                    <a:ext uri="{9D8B030D-6E8A-4147-A177-3AD203B41FA5}">
                      <a16:colId xmlns:a16="http://schemas.microsoft.com/office/drawing/2014/main" val="20008"/>
                    </a:ext>
                  </a:extLst>
                </a:gridCol>
                <a:gridCol w="719137">
                  <a:extLst>
                    <a:ext uri="{9D8B030D-6E8A-4147-A177-3AD203B41FA5}">
                      <a16:colId xmlns:a16="http://schemas.microsoft.com/office/drawing/2014/main" val="20009"/>
                    </a:ext>
                  </a:extLst>
                </a:gridCol>
                <a:gridCol w="720725">
                  <a:extLst>
                    <a:ext uri="{9D8B030D-6E8A-4147-A177-3AD203B41FA5}">
                      <a16:colId xmlns:a16="http://schemas.microsoft.com/office/drawing/2014/main" val="20010"/>
                    </a:ext>
                  </a:extLst>
                </a:gridCol>
              </a:tblGrid>
              <a:tr h="7207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charset="0"/>
                          <a:ea typeface="HG丸ｺﾞｼｯｸM-PRO" pitchFamily="50" charset="-128"/>
                        </a:rPr>
                        <a:t>d</a:t>
                      </a:r>
                    </a:p>
                  </a:txBody>
                  <a:tcPr marL="90000" marR="90000" marT="46800" marB="46800" anchor="ctr" horzOverflow="overflow">
                    <a:lnL cap="flat">
                      <a:noFill/>
                    </a:lnL>
                    <a:lnR w="12700" cap="flat" cmpd="sng" algn="ctr">
                      <a:solidFill>
                        <a:schemeClr val="tx1"/>
                      </a:solidFill>
                      <a:prstDash val="solid"/>
                      <a:round/>
                      <a:headEnd type="none" w="med" len="med"/>
                      <a:tailEnd type="none" w="med" len="lg"/>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w="12700" cap="flat" cmpd="sng" algn="ctr">
                      <a:solidFill>
                        <a:schemeClr val="tx1"/>
                      </a:solidFill>
                      <a:prstDash val="solid"/>
                      <a:round/>
                      <a:headEnd type="none" w="med" len="med"/>
                      <a:tailEnd type="none" w="med" len="lg"/>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extLst>
                  <a:ext uri="{0D108BD9-81ED-4DB2-BD59-A6C34878D82A}">
                    <a16:rowId xmlns:a16="http://schemas.microsoft.com/office/drawing/2014/main" val="10000"/>
                  </a:ext>
                </a:extLst>
              </a:tr>
              <a:tr h="7191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charset="0"/>
                          <a:ea typeface="HG丸ｺﾞｼｯｸM-PRO" pitchFamily="50" charset="-128"/>
                        </a:rPr>
                        <a:t>q</a:t>
                      </a:r>
                    </a:p>
                  </a:txBody>
                  <a:tcPr marL="90000" marR="90000" marT="46800" marB="46800" anchor="ctr" horzOverflow="overflow">
                    <a:lnL cap="flat">
                      <a:noFill/>
                    </a:lnL>
                    <a:lnR w="12700" cap="flat" cmpd="sng" algn="ctr">
                      <a:solidFill>
                        <a:schemeClr val="tx1"/>
                      </a:solidFill>
                      <a:prstDash val="solid"/>
                      <a:round/>
                      <a:headEnd type="none" w="med" len="med"/>
                      <a:tailEnd type="none" w="med" len="lg"/>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w="12700" cap="flat" cmpd="sng" algn="ctr">
                      <a:solidFill>
                        <a:schemeClr val="tx1"/>
                      </a:solidFill>
                      <a:prstDash val="solid"/>
                      <a:round/>
                      <a:headEnd type="none" w="med" len="med"/>
                      <a:tailEnd type="none" w="med" len="lg"/>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extLst>
                  <a:ext uri="{0D108BD9-81ED-4DB2-BD59-A6C34878D82A}">
                    <a16:rowId xmlns:a16="http://schemas.microsoft.com/office/drawing/2014/main" val="10001"/>
                  </a:ext>
                </a:extLst>
              </a:tr>
            </a:tbl>
          </a:graphicData>
        </a:graphic>
      </p:graphicFrame>
      <p:sp>
        <p:nvSpPr>
          <p:cNvPr id="5" name="Rectangle 71"/>
          <p:cNvSpPr>
            <a:spLocks noChangeArrowheads="1"/>
          </p:cNvSpPr>
          <p:nvPr/>
        </p:nvSpPr>
        <p:spPr bwMode="auto">
          <a:xfrm>
            <a:off x="431954" y="3968750"/>
            <a:ext cx="538009" cy="360363"/>
          </a:xfrm>
          <a:prstGeom prst="rect">
            <a:avLst/>
          </a:prstGeom>
          <a:noFill/>
          <a:ln w="12700" algn="ctr">
            <a:noFill/>
            <a:miter lim="800000"/>
            <a:headEnd/>
            <a:tailEnd/>
          </a:ln>
          <a:effectLst/>
        </p:spPr>
        <p:txBody>
          <a:bodyPr wrap="none" lIns="90000" tIns="46800" rIns="90000" bIns="46800" anchor="ctr"/>
          <a:lstStyle/>
          <a:p>
            <a:r>
              <a:rPr lang="en-US" altLang="ja-JP" i="1" dirty="0"/>
              <a:t>clk</a:t>
            </a:r>
          </a:p>
        </p:txBody>
      </p:sp>
      <p:sp>
        <p:nvSpPr>
          <p:cNvPr id="6" name="Freeform 73"/>
          <p:cNvSpPr>
            <a:spLocks/>
          </p:cNvSpPr>
          <p:nvPr/>
        </p:nvSpPr>
        <p:spPr bwMode="auto">
          <a:xfrm>
            <a:off x="2051050" y="3968750"/>
            <a:ext cx="719138"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7" name="Rectangle 74"/>
          <p:cNvSpPr>
            <a:spLocks noChangeArrowheads="1"/>
          </p:cNvSpPr>
          <p:nvPr/>
        </p:nvSpPr>
        <p:spPr bwMode="auto">
          <a:xfrm>
            <a:off x="430213" y="5768975"/>
            <a:ext cx="360362" cy="360363"/>
          </a:xfrm>
          <a:prstGeom prst="rect">
            <a:avLst/>
          </a:prstGeom>
          <a:noFill/>
          <a:ln w="12700" algn="ctr">
            <a:noFill/>
            <a:miter lim="800000"/>
            <a:headEnd/>
            <a:tailEnd/>
          </a:ln>
          <a:effectLst/>
        </p:spPr>
        <p:txBody>
          <a:bodyPr wrap="none" lIns="90000" tIns="46800" rIns="90000" bIns="46800" anchor="ctr"/>
          <a:lstStyle/>
          <a:p>
            <a:r>
              <a:rPr lang="en-US" altLang="ja-JP" i="1" dirty="0"/>
              <a:t>q</a:t>
            </a:r>
          </a:p>
        </p:txBody>
      </p:sp>
      <p:sp>
        <p:nvSpPr>
          <p:cNvPr id="8" name="Line 75"/>
          <p:cNvSpPr>
            <a:spLocks noChangeShapeType="1"/>
          </p:cNvSpPr>
          <p:nvPr/>
        </p:nvSpPr>
        <p:spPr bwMode="auto">
          <a:xfrm>
            <a:off x="2051050"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9" name="Line 77"/>
          <p:cNvSpPr>
            <a:spLocks noChangeShapeType="1"/>
          </p:cNvSpPr>
          <p:nvPr/>
        </p:nvSpPr>
        <p:spPr bwMode="auto">
          <a:xfrm>
            <a:off x="1150938" y="3608388"/>
            <a:ext cx="7742237" cy="0"/>
          </a:xfrm>
          <a:prstGeom prst="line">
            <a:avLst/>
          </a:prstGeom>
          <a:noFill/>
          <a:ln w="12700">
            <a:solidFill>
              <a:schemeClr val="tx1"/>
            </a:solidFill>
            <a:round/>
            <a:headEnd/>
            <a:tailEnd type="stealth" w="med" len="lg"/>
          </a:ln>
          <a:effectLst/>
        </p:spPr>
        <p:txBody>
          <a:bodyPr wrap="none" lIns="90000" tIns="46800" rIns="90000" bIns="46800" anchor="ctr"/>
          <a:lstStyle/>
          <a:p>
            <a:endParaRPr lang="ja-JP" altLang="en-US"/>
          </a:p>
        </p:txBody>
      </p:sp>
      <p:sp>
        <p:nvSpPr>
          <p:cNvPr id="10" name="Rectangle 78"/>
          <p:cNvSpPr>
            <a:spLocks noChangeArrowheads="1"/>
          </p:cNvSpPr>
          <p:nvPr/>
        </p:nvSpPr>
        <p:spPr bwMode="auto">
          <a:xfrm>
            <a:off x="8442325" y="3159125"/>
            <a:ext cx="541338" cy="360363"/>
          </a:xfrm>
          <a:prstGeom prst="rect">
            <a:avLst/>
          </a:prstGeom>
          <a:noFill/>
          <a:ln w="12700" algn="ctr">
            <a:noFill/>
            <a:miter lim="800000"/>
            <a:headEnd/>
            <a:tailEnd/>
          </a:ln>
          <a:effectLst/>
        </p:spPr>
        <p:txBody>
          <a:bodyPr wrap="none" lIns="90000" tIns="46800" rIns="90000" bIns="46800" anchor="ctr"/>
          <a:lstStyle/>
          <a:p>
            <a:r>
              <a:rPr lang="en-US" altLang="ja-JP" i="1"/>
              <a:t>time</a:t>
            </a:r>
          </a:p>
        </p:txBody>
      </p:sp>
      <p:sp>
        <p:nvSpPr>
          <p:cNvPr id="11" name="Freeform 84"/>
          <p:cNvSpPr>
            <a:spLocks/>
          </p:cNvSpPr>
          <p:nvPr/>
        </p:nvSpPr>
        <p:spPr bwMode="auto">
          <a:xfrm>
            <a:off x="7812088" y="4868863"/>
            <a:ext cx="180975" cy="360362"/>
          </a:xfrm>
          <a:custGeom>
            <a:avLst/>
            <a:gdLst/>
            <a:ahLst/>
            <a:cxnLst>
              <a:cxn ang="0">
                <a:pos x="0" y="0"/>
              </a:cxn>
              <a:cxn ang="0">
                <a:pos x="57" y="0"/>
              </a:cxn>
              <a:cxn ang="0">
                <a:pos x="170" y="227"/>
              </a:cxn>
              <a:cxn ang="0">
                <a:pos x="227" y="227"/>
              </a:cxn>
            </a:cxnLst>
            <a:rect l="0" t="0" r="r" b="b"/>
            <a:pathLst>
              <a:path w="227" h="227">
                <a:moveTo>
                  <a:pt x="0" y="0"/>
                </a:moveTo>
                <a:lnTo>
                  <a:pt x="57" y="0"/>
                </a:lnTo>
                <a:lnTo>
                  <a:pt x="170" y="227"/>
                </a:lnTo>
                <a:lnTo>
                  <a:pt x="227" y="227"/>
                </a:lnTo>
              </a:path>
            </a:pathLst>
          </a:custGeom>
          <a:noFill/>
          <a:ln w="19050"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12" name="Rectangle 85"/>
          <p:cNvSpPr>
            <a:spLocks noChangeArrowheads="1"/>
          </p:cNvSpPr>
          <p:nvPr/>
        </p:nvSpPr>
        <p:spPr bwMode="auto">
          <a:xfrm>
            <a:off x="431800" y="4868863"/>
            <a:ext cx="358775" cy="360362"/>
          </a:xfrm>
          <a:prstGeom prst="rect">
            <a:avLst/>
          </a:prstGeom>
          <a:noFill/>
          <a:ln w="12700" algn="ctr">
            <a:noFill/>
            <a:miter lim="800000"/>
            <a:headEnd/>
            <a:tailEnd/>
          </a:ln>
          <a:effectLst/>
        </p:spPr>
        <p:txBody>
          <a:bodyPr wrap="none" lIns="90000" tIns="46800" rIns="90000" bIns="46800" anchor="ctr"/>
          <a:lstStyle/>
          <a:p>
            <a:r>
              <a:rPr lang="en-US" altLang="ja-JP" i="1" dirty="0"/>
              <a:t>d</a:t>
            </a:r>
          </a:p>
        </p:txBody>
      </p:sp>
      <p:sp>
        <p:nvSpPr>
          <p:cNvPr id="13" name="Freeform 87"/>
          <p:cNvSpPr>
            <a:spLocks/>
          </p:cNvSpPr>
          <p:nvPr/>
        </p:nvSpPr>
        <p:spPr bwMode="auto">
          <a:xfrm>
            <a:off x="7810500" y="3970338"/>
            <a:ext cx="720725" cy="360362"/>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14" name="Line 88"/>
          <p:cNvSpPr>
            <a:spLocks noChangeShapeType="1"/>
          </p:cNvSpPr>
          <p:nvPr/>
        </p:nvSpPr>
        <p:spPr bwMode="auto">
          <a:xfrm flipH="1">
            <a:off x="2770188"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15" name="Line 90"/>
          <p:cNvSpPr>
            <a:spLocks noChangeShapeType="1"/>
          </p:cNvSpPr>
          <p:nvPr/>
        </p:nvSpPr>
        <p:spPr bwMode="auto">
          <a:xfrm flipV="1">
            <a:off x="1150938" y="5229225"/>
            <a:ext cx="900112" cy="0"/>
          </a:xfrm>
          <a:prstGeom prst="line">
            <a:avLst/>
          </a:prstGeom>
          <a:noFill/>
          <a:ln w="19050">
            <a:solidFill>
              <a:schemeClr val="tx1"/>
            </a:solidFill>
            <a:round/>
            <a:headEnd/>
            <a:tailEnd type="none" w="med" len="lg"/>
          </a:ln>
          <a:effectLst/>
        </p:spPr>
        <p:txBody>
          <a:bodyPr wrap="none" lIns="90000" tIns="46800" rIns="90000" bIns="46800" anchor="ctr"/>
          <a:lstStyle/>
          <a:p>
            <a:endParaRPr lang="ja-JP" altLang="en-US"/>
          </a:p>
        </p:txBody>
      </p:sp>
      <p:sp>
        <p:nvSpPr>
          <p:cNvPr id="16" name="Freeform 91"/>
          <p:cNvSpPr>
            <a:spLocks/>
          </p:cNvSpPr>
          <p:nvPr/>
        </p:nvSpPr>
        <p:spPr bwMode="auto">
          <a:xfrm>
            <a:off x="2771775" y="4868863"/>
            <a:ext cx="179388" cy="360362"/>
          </a:xfrm>
          <a:custGeom>
            <a:avLst/>
            <a:gdLst/>
            <a:ahLst/>
            <a:cxnLst>
              <a:cxn ang="0">
                <a:pos x="0" y="0"/>
              </a:cxn>
              <a:cxn ang="0">
                <a:pos x="57" y="0"/>
              </a:cxn>
              <a:cxn ang="0">
                <a:pos x="170" y="227"/>
              </a:cxn>
              <a:cxn ang="0">
                <a:pos x="227" y="227"/>
              </a:cxn>
            </a:cxnLst>
            <a:rect l="0" t="0" r="r" b="b"/>
            <a:pathLst>
              <a:path w="227" h="227">
                <a:moveTo>
                  <a:pt x="0" y="0"/>
                </a:moveTo>
                <a:lnTo>
                  <a:pt x="57" y="0"/>
                </a:lnTo>
                <a:lnTo>
                  <a:pt x="170" y="227"/>
                </a:lnTo>
                <a:lnTo>
                  <a:pt x="227" y="227"/>
                </a:lnTo>
              </a:path>
            </a:pathLst>
          </a:custGeom>
          <a:noFill/>
          <a:ln w="19050"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17" name="Line 92"/>
          <p:cNvSpPr>
            <a:spLocks noChangeShapeType="1"/>
          </p:cNvSpPr>
          <p:nvPr/>
        </p:nvSpPr>
        <p:spPr bwMode="auto">
          <a:xfrm flipV="1">
            <a:off x="2232025" y="4868863"/>
            <a:ext cx="539750" cy="0"/>
          </a:xfrm>
          <a:prstGeom prst="line">
            <a:avLst/>
          </a:prstGeom>
          <a:noFill/>
          <a:ln w="19050">
            <a:solidFill>
              <a:schemeClr val="tx1"/>
            </a:solidFill>
            <a:round/>
            <a:headEnd/>
            <a:tailEnd type="none" w="med" len="lg"/>
          </a:ln>
          <a:effectLst/>
        </p:spPr>
        <p:txBody>
          <a:bodyPr wrap="none" lIns="90000" tIns="46800" rIns="90000" bIns="46800" anchor="ctr"/>
          <a:lstStyle/>
          <a:p>
            <a:endParaRPr lang="ja-JP" altLang="en-US"/>
          </a:p>
        </p:txBody>
      </p:sp>
      <p:sp>
        <p:nvSpPr>
          <p:cNvPr id="18" name="Line 93"/>
          <p:cNvSpPr>
            <a:spLocks noChangeShapeType="1"/>
          </p:cNvSpPr>
          <p:nvPr/>
        </p:nvSpPr>
        <p:spPr bwMode="auto">
          <a:xfrm flipV="1">
            <a:off x="7993063" y="5229225"/>
            <a:ext cx="900112" cy="0"/>
          </a:xfrm>
          <a:prstGeom prst="line">
            <a:avLst/>
          </a:prstGeom>
          <a:noFill/>
          <a:ln w="19050">
            <a:solidFill>
              <a:schemeClr val="tx1"/>
            </a:solidFill>
            <a:round/>
            <a:headEnd/>
            <a:tailEnd type="none" w="med" len="lg"/>
          </a:ln>
          <a:effectLst/>
        </p:spPr>
        <p:txBody>
          <a:bodyPr wrap="none" lIns="90000" tIns="46800" rIns="90000" bIns="46800" anchor="ctr"/>
          <a:lstStyle/>
          <a:p>
            <a:endParaRPr lang="ja-JP" altLang="en-US"/>
          </a:p>
        </p:txBody>
      </p:sp>
      <p:sp>
        <p:nvSpPr>
          <p:cNvPr id="19" name="Freeform 100"/>
          <p:cNvSpPr>
            <a:spLocks/>
          </p:cNvSpPr>
          <p:nvPr/>
        </p:nvSpPr>
        <p:spPr bwMode="auto">
          <a:xfrm>
            <a:off x="4211638" y="4868863"/>
            <a:ext cx="180975" cy="360362"/>
          </a:xfrm>
          <a:custGeom>
            <a:avLst/>
            <a:gdLst/>
            <a:ahLst/>
            <a:cxnLst>
              <a:cxn ang="0">
                <a:pos x="0" y="0"/>
              </a:cxn>
              <a:cxn ang="0">
                <a:pos x="57" y="0"/>
              </a:cxn>
              <a:cxn ang="0">
                <a:pos x="170" y="227"/>
              </a:cxn>
              <a:cxn ang="0">
                <a:pos x="227" y="227"/>
              </a:cxn>
            </a:cxnLst>
            <a:rect l="0" t="0" r="r" b="b"/>
            <a:pathLst>
              <a:path w="227" h="227">
                <a:moveTo>
                  <a:pt x="0" y="0"/>
                </a:moveTo>
                <a:lnTo>
                  <a:pt x="57" y="0"/>
                </a:lnTo>
                <a:lnTo>
                  <a:pt x="170" y="227"/>
                </a:lnTo>
                <a:lnTo>
                  <a:pt x="227" y="227"/>
                </a:lnTo>
              </a:path>
            </a:pathLst>
          </a:custGeom>
          <a:noFill/>
          <a:ln w="19050"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20" name="Freeform 105"/>
          <p:cNvSpPr>
            <a:spLocks/>
          </p:cNvSpPr>
          <p:nvPr/>
        </p:nvSpPr>
        <p:spPr bwMode="auto">
          <a:xfrm>
            <a:off x="1150938" y="3968750"/>
            <a:ext cx="179387" cy="360363"/>
          </a:xfrm>
          <a:custGeom>
            <a:avLst/>
            <a:gdLst/>
            <a:ahLst/>
            <a:cxnLst>
              <a:cxn ang="0">
                <a:pos x="0" y="227"/>
              </a:cxn>
              <a:cxn ang="0">
                <a:pos x="680" y="227"/>
              </a:cxn>
              <a:cxn ang="0">
                <a:pos x="680" y="0"/>
              </a:cxn>
            </a:cxnLst>
            <a:rect l="0" t="0" r="r" b="b"/>
            <a:pathLst>
              <a:path w="680" h="227">
                <a:moveTo>
                  <a:pt x="0" y="227"/>
                </a:moveTo>
                <a:lnTo>
                  <a:pt x="680" y="227"/>
                </a:lnTo>
                <a:lnTo>
                  <a:pt x="680" y="0"/>
                </a:lnTo>
              </a:path>
            </a:pathLst>
          </a:custGeom>
          <a:noFill/>
          <a:ln w="9525" cap="flat" cmpd="sng">
            <a:solidFill>
              <a:schemeClr val="tx1"/>
            </a:solidFill>
            <a:prstDash val="solid"/>
            <a:round/>
            <a:headEnd type="none" w="med" len="med"/>
            <a:tailEnd type="stealth" w="med" len="lg"/>
          </a:ln>
          <a:effectLst/>
        </p:spPr>
        <p:txBody>
          <a:bodyPr wrap="none" lIns="90000" tIns="46800" rIns="90000" bIns="46800" anchor="ctr"/>
          <a:lstStyle/>
          <a:p>
            <a:endParaRPr lang="ja-JP" altLang="en-US"/>
          </a:p>
        </p:txBody>
      </p:sp>
      <p:sp>
        <p:nvSpPr>
          <p:cNvPr id="21" name="Freeform 120"/>
          <p:cNvSpPr>
            <a:spLocks/>
          </p:cNvSpPr>
          <p:nvPr/>
        </p:nvSpPr>
        <p:spPr bwMode="auto">
          <a:xfrm>
            <a:off x="2770188" y="3968750"/>
            <a:ext cx="719137"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22" name="Line 121"/>
          <p:cNvSpPr>
            <a:spLocks noChangeShapeType="1"/>
          </p:cNvSpPr>
          <p:nvPr/>
        </p:nvSpPr>
        <p:spPr bwMode="auto">
          <a:xfrm flipH="1">
            <a:off x="3489325"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23" name="Freeform 122"/>
          <p:cNvSpPr>
            <a:spLocks/>
          </p:cNvSpPr>
          <p:nvPr/>
        </p:nvSpPr>
        <p:spPr bwMode="auto">
          <a:xfrm>
            <a:off x="3489325" y="3968750"/>
            <a:ext cx="719138"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24" name="Line 123"/>
          <p:cNvSpPr>
            <a:spLocks noChangeShapeType="1"/>
          </p:cNvSpPr>
          <p:nvPr/>
        </p:nvSpPr>
        <p:spPr bwMode="auto">
          <a:xfrm flipH="1">
            <a:off x="4208463"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25" name="Freeform 124"/>
          <p:cNvSpPr>
            <a:spLocks/>
          </p:cNvSpPr>
          <p:nvPr/>
        </p:nvSpPr>
        <p:spPr bwMode="auto">
          <a:xfrm>
            <a:off x="4208463" y="3968750"/>
            <a:ext cx="719137"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26" name="Line 125"/>
          <p:cNvSpPr>
            <a:spLocks noChangeShapeType="1"/>
          </p:cNvSpPr>
          <p:nvPr/>
        </p:nvSpPr>
        <p:spPr bwMode="auto">
          <a:xfrm flipH="1">
            <a:off x="4927600"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27" name="Freeform 126"/>
          <p:cNvSpPr>
            <a:spLocks/>
          </p:cNvSpPr>
          <p:nvPr/>
        </p:nvSpPr>
        <p:spPr bwMode="auto">
          <a:xfrm>
            <a:off x="4927600" y="3968750"/>
            <a:ext cx="719138"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28" name="Line 127"/>
          <p:cNvSpPr>
            <a:spLocks noChangeShapeType="1"/>
          </p:cNvSpPr>
          <p:nvPr/>
        </p:nvSpPr>
        <p:spPr bwMode="auto">
          <a:xfrm flipH="1">
            <a:off x="5646738"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29" name="Freeform 128"/>
          <p:cNvSpPr>
            <a:spLocks/>
          </p:cNvSpPr>
          <p:nvPr/>
        </p:nvSpPr>
        <p:spPr bwMode="auto">
          <a:xfrm>
            <a:off x="5646738" y="3968750"/>
            <a:ext cx="719137"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30" name="Line 129"/>
          <p:cNvSpPr>
            <a:spLocks noChangeShapeType="1"/>
          </p:cNvSpPr>
          <p:nvPr/>
        </p:nvSpPr>
        <p:spPr bwMode="auto">
          <a:xfrm flipH="1">
            <a:off x="6365875"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31" name="Freeform 130"/>
          <p:cNvSpPr>
            <a:spLocks/>
          </p:cNvSpPr>
          <p:nvPr/>
        </p:nvSpPr>
        <p:spPr bwMode="auto">
          <a:xfrm>
            <a:off x="6365875" y="3968750"/>
            <a:ext cx="719138"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32" name="Line 131"/>
          <p:cNvSpPr>
            <a:spLocks noChangeShapeType="1"/>
          </p:cNvSpPr>
          <p:nvPr/>
        </p:nvSpPr>
        <p:spPr bwMode="auto">
          <a:xfrm flipH="1">
            <a:off x="7085013"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33" name="Freeform 132"/>
          <p:cNvSpPr>
            <a:spLocks/>
          </p:cNvSpPr>
          <p:nvPr/>
        </p:nvSpPr>
        <p:spPr bwMode="auto">
          <a:xfrm>
            <a:off x="7085013" y="3968750"/>
            <a:ext cx="719137"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34" name="Line 133"/>
          <p:cNvSpPr>
            <a:spLocks noChangeShapeType="1"/>
          </p:cNvSpPr>
          <p:nvPr/>
        </p:nvSpPr>
        <p:spPr bwMode="auto">
          <a:xfrm flipH="1">
            <a:off x="7804150"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35" name="Line 183"/>
          <p:cNvSpPr>
            <a:spLocks noChangeShapeType="1"/>
          </p:cNvSpPr>
          <p:nvPr/>
        </p:nvSpPr>
        <p:spPr bwMode="auto">
          <a:xfrm flipH="1">
            <a:off x="8531225"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36" name="Freeform 184"/>
          <p:cNvSpPr>
            <a:spLocks/>
          </p:cNvSpPr>
          <p:nvPr/>
        </p:nvSpPr>
        <p:spPr bwMode="auto">
          <a:xfrm>
            <a:off x="1330325" y="3968750"/>
            <a:ext cx="719138"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37" name="Line 185"/>
          <p:cNvSpPr>
            <a:spLocks noChangeShapeType="1"/>
          </p:cNvSpPr>
          <p:nvPr/>
        </p:nvSpPr>
        <p:spPr bwMode="auto">
          <a:xfrm>
            <a:off x="1330325"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38" name="Freeform 186"/>
          <p:cNvSpPr>
            <a:spLocks/>
          </p:cNvSpPr>
          <p:nvPr/>
        </p:nvSpPr>
        <p:spPr bwMode="auto">
          <a:xfrm flipH="1">
            <a:off x="2051050" y="4868863"/>
            <a:ext cx="180975" cy="360362"/>
          </a:xfrm>
          <a:custGeom>
            <a:avLst/>
            <a:gdLst/>
            <a:ahLst/>
            <a:cxnLst>
              <a:cxn ang="0">
                <a:pos x="0" y="0"/>
              </a:cxn>
              <a:cxn ang="0">
                <a:pos x="57" y="0"/>
              </a:cxn>
              <a:cxn ang="0">
                <a:pos x="170" y="227"/>
              </a:cxn>
              <a:cxn ang="0">
                <a:pos x="227" y="227"/>
              </a:cxn>
            </a:cxnLst>
            <a:rect l="0" t="0" r="r" b="b"/>
            <a:pathLst>
              <a:path w="227" h="227">
                <a:moveTo>
                  <a:pt x="0" y="0"/>
                </a:moveTo>
                <a:lnTo>
                  <a:pt x="57" y="0"/>
                </a:lnTo>
                <a:lnTo>
                  <a:pt x="170" y="227"/>
                </a:lnTo>
                <a:lnTo>
                  <a:pt x="227" y="227"/>
                </a:lnTo>
              </a:path>
            </a:pathLst>
          </a:custGeom>
          <a:noFill/>
          <a:ln w="19050"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39" name="Line 187"/>
          <p:cNvSpPr>
            <a:spLocks noChangeShapeType="1"/>
          </p:cNvSpPr>
          <p:nvPr/>
        </p:nvSpPr>
        <p:spPr bwMode="auto">
          <a:xfrm flipV="1">
            <a:off x="3671888" y="4868863"/>
            <a:ext cx="541337" cy="0"/>
          </a:xfrm>
          <a:prstGeom prst="line">
            <a:avLst/>
          </a:prstGeom>
          <a:noFill/>
          <a:ln w="19050">
            <a:solidFill>
              <a:schemeClr val="tx1"/>
            </a:solidFill>
            <a:round/>
            <a:headEnd/>
            <a:tailEnd type="none" w="med" len="lg"/>
          </a:ln>
          <a:effectLst/>
        </p:spPr>
        <p:txBody>
          <a:bodyPr wrap="none" lIns="90000" tIns="46800" rIns="90000" bIns="46800" anchor="ctr"/>
          <a:lstStyle/>
          <a:p>
            <a:endParaRPr lang="ja-JP" altLang="en-US"/>
          </a:p>
        </p:txBody>
      </p:sp>
      <p:sp>
        <p:nvSpPr>
          <p:cNvPr id="40" name="Freeform 188"/>
          <p:cNvSpPr>
            <a:spLocks/>
          </p:cNvSpPr>
          <p:nvPr/>
        </p:nvSpPr>
        <p:spPr bwMode="auto">
          <a:xfrm flipH="1">
            <a:off x="3492500" y="4868863"/>
            <a:ext cx="179388" cy="360362"/>
          </a:xfrm>
          <a:custGeom>
            <a:avLst/>
            <a:gdLst/>
            <a:ahLst/>
            <a:cxnLst>
              <a:cxn ang="0">
                <a:pos x="0" y="0"/>
              </a:cxn>
              <a:cxn ang="0">
                <a:pos x="57" y="0"/>
              </a:cxn>
              <a:cxn ang="0">
                <a:pos x="170" y="227"/>
              </a:cxn>
              <a:cxn ang="0">
                <a:pos x="227" y="227"/>
              </a:cxn>
            </a:cxnLst>
            <a:rect l="0" t="0" r="r" b="b"/>
            <a:pathLst>
              <a:path w="227" h="227">
                <a:moveTo>
                  <a:pt x="0" y="0"/>
                </a:moveTo>
                <a:lnTo>
                  <a:pt x="57" y="0"/>
                </a:lnTo>
                <a:lnTo>
                  <a:pt x="170" y="227"/>
                </a:lnTo>
                <a:lnTo>
                  <a:pt x="227" y="227"/>
                </a:lnTo>
              </a:path>
            </a:pathLst>
          </a:custGeom>
          <a:noFill/>
          <a:ln w="19050"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41" name="Line 189"/>
          <p:cNvSpPr>
            <a:spLocks noChangeShapeType="1"/>
          </p:cNvSpPr>
          <p:nvPr/>
        </p:nvSpPr>
        <p:spPr bwMode="auto">
          <a:xfrm flipV="1">
            <a:off x="2951163" y="5229225"/>
            <a:ext cx="541337" cy="0"/>
          </a:xfrm>
          <a:prstGeom prst="line">
            <a:avLst/>
          </a:prstGeom>
          <a:noFill/>
          <a:ln w="19050">
            <a:solidFill>
              <a:schemeClr val="tx1"/>
            </a:solidFill>
            <a:round/>
            <a:headEnd/>
            <a:tailEnd type="none" w="med" len="lg"/>
          </a:ln>
          <a:effectLst/>
        </p:spPr>
        <p:txBody>
          <a:bodyPr wrap="none" lIns="90000" tIns="46800" rIns="90000" bIns="46800" anchor="ctr"/>
          <a:lstStyle/>
          <a:p>
            <a:endParaRPr lang="ja-JP" altLang="en-US"/>
          </a:p>
        </p:txBody>
      </p:sp>
      <p:sp>
        <p:nvSpPr>
          <p:cNvPr id="42" name="Line 191"/>
          <p:cNvSpPr>
            <a:spLocks noChangeShapeType="1"/>
          </p:cNvSpPr>
          <p:nvPr/>
        </p:nvSpPr>
        <p:spPr bwMode="auto">
          <a:xfrm flipV="1">
            <a:off x="6551613" y="4868863"/>
            <a:ext cx="1260475" cy="0"/>
          </a:xfrm>
          <a:prstGeom prst="line">
            <a:avLst/>
          </a:prstGeom>
          <a:noFill/>
          <a:ln w="19050">
            <a:solidFill>
              <a:schemeClr val="tx1"/>
            </a:solidFill>
            <a:round/>
            <a:headEnd/>
            <a:tailEnd type="none" w="med" len="lg"/>
          </a:ln>
          <a:effectLst/>
        </p:spPr>
        <p:txBody>
          <a:bodyPr wrap="none" lIns="90000" tIns="46800" rIns="90000" bIns="46800" anchor="ctr"/>
          <a:lstStyle/>
          <a:p>
            <a:endParaRPr lang="ja-JP" altLang="en-US"/>
          </a:p>
        </p:txBody>
      </p:sp>
      <p:sp>
        <p:nvSpPr>
          <p:cNvPr id="43" name="Freeform 192"/>
          <p:cNvSpPr>
            <a:spLocks/>
          </p:cNvSpPr>
          <p:nvPr/>
        </p:nvSpPr>
        <p:spPr bwMode="auto">
          <a:xfrm flipH="1">
            <a:off x="6372225" y="4868863"/>
            <a:ext cx="180975" cy="360362"/>
          </a:xfrm>
          <a:custGeom>
            <a:avLst/>
            <a:gdLst/>
            <a:ahLst/>
            <a:cxnLst>
              <a:cxn ang="0">
                <a:pos x="0" y="0"/>
              </a:cxn>
              <a:cxn ang="0">
                <a:pos x="57" y="0"/>
              </a:cxn>
              <a:cxn ang="0">
                <a:pos x="170" y="227"/>
              </a:cxn>
              <a:cxn ang="0">
                <a:pos x="227" y="227"/>
              </a:cxn>
            </a:cxnLst>
            <a:rect l="0" t="0" r="r" b="b"/>
            <a:pathLst>
              <a:path w="227" h="227">
                <a:moveTo>
                  <a:pt x="0" y="0"/>
                </a:moveTo>
                <a:lnTo>
                  <a:pt x="57" y="0"/>
                </a:lnTo>
                <a:lnTo>
                  <a:pt x="170" y="227"/>
                </a:lnTo>
                <a:lnTo>
                  <a:pt x="227" y="227"/>
                </a:lnTo>
              </a:path>
            </a:pathLst>
          </a:custGeom>
          <a:noFill/>
          <a:ln w="19050"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44" name="Line 193"/>
          <p:cNvSpPr>
            <a:spLocks noChangeShapeType="1"/>
          </p:cNvSpPr>
          <p:nvPr/>
        </p:nvSpPr>
        <p:spPr bwMode="auto">
          <a:xfrm flipV="1">
            <a:off x="4392613" y="5229225"/>
            <a:ext cx="1979612" cy="0"/>
          </a:xfrm>
          <a:prstGeom prst="line">
            <a:avLst/>
          </a:prstGeom>
          <a:noFill/>
          <a:ln w="19050">
            <a:solidFill>
              <a:schemeClr val="tx1"/>
            </a:solidFill>
            <a:round/>
            <a:headEnd/>
            <a:tailEnd type="none" w="med" len="lg"/>
          </a:ln>
          <a:effectLst/>
        </p:spPr>
        <p:txBody>
          <a:bodyPr wrap="none" lIns="90000" tIns="46800" rIns="90000" bIns="46800" anchor="ctr"/>
          <a:lstStyle/>
          <a:p>
            <a:endParaRPr lang="ja-JP" altLang="en-US"/>
          </a:p>
        </p:txBody>
      </p:sp>
      <p:sp>
        <p:nvSpPr>
          <p:cNvPr id="45" name="Line 194"/>
          <p:cNvSpPr>
            <a:spLocks noChangeShapeType="1"/>
          </p:cNvSpPr>
          <p:nvPr/>
        </p:nvSpPr>
        <p:spPr bwMode="auto">
          <a:xfrm flipV="1">
            <a:off x="8532813" y="3968750"/>
            <a:ext cx="179387" cy="1588"/>
          </a:xfrm>
          <a:prstGeom prst="line">
            <a:avLst/>
          </a:prstGeom>
          <a:noFill/>
          <a:ln w="12700">
            <a:solidFill>
              <a:schemeClr val="tx1"/>
            </a:solidFill>
            <a:round/>
            <a:headEnd/>
            <a:tailEnd type="none" w="med" len="lg"/>
          </a:ln>
          <a:effectLst/>
        </p:spPr>
        <p:txBody>
          <a:bodyPr wrap="none" lIns="90000" tIns="46800" rIns="90000" bIns="46800" anchor="ctr"/>
          <a:lstStyle/>
          <a:p>
            <a:endParaRPr lang="ja-JP" altLang="en-US"/>
          </a:p>
        </p:txBody>
      </p:sp>
      <p:cxnSp>
        <p:nvCxnSpPr>
          <p:cNvPr id="46" name="直線矢印コネクタ 45"/>
          <p:cNvCxnSpPr/>
          <p:nvPr/>
        </p:nvCxnSpPr>
        <p:spPr bwMode="auto">
          <a:xfrm rot="16200000" flipH="1">
            <a:off x="2536020" y="2207412"/>
            <a:ext cx="452440" cy="361952"/>
          </a:xfrm>
          <a:prstGeom prst="straightConnector1">
            <a:avLst/>
          </a:prstGeom>
          <a:solidFill>
            <a:schemeClr val="accent1"/>
          </a:solidFill>
          <a:ln w="9525" cap="flat" cmpd="sng" algn="ctr">
            <a:solidFill>
              <a:srgbClr val="FF0000"/>
            </a:solidFill>
            <a:prstDash val="solid"/>
            <a:round/>
            <a:headEnd type="none" w="med" len="med"/>
            <a:tailEnd type="arrow"/>
          </a:ln>
          <a:effectLst/>
        </p:spPr>
      </p:cxnSp>
      <p:cxnSp>
        <p:nvCxnSpPr>
          <p:cNvPr id="47" name="直線矢印コネクタ 46"/>
          <p:cNvCxnSpPr/>
          <p:nvPr/>
        </p:nvCxnSpPr>
        <p:spPr bwMode="auto">
          <a:xfrm rot="16200000" flipH="1">
            <a:off x="3983828" y="2207412"/>
            <a:ext cx="452440" cy="361952"/>
          </a:xfrm>
          <a:prstGeom prst="straightConnector1">
            <a:avLst/>
          </a:prstGeom>
          <a:solidFill>
            <a:schemeClr val="accent1"/>
          </a:solidFill>
          <a:ln w="9525" cap="flat" cmpd="sng" algn="ctr">
            <a:solidFill>
              <a:srgbClr val="FF0000"/>
            </a:solidFill>
            <a:prstDash val="solid"/>
            <a:round/>
            <a:headEnd type="none" w="med" len="med"/>
            <a:tailEnd type="arrow"/>
          </a:ln>
          <a:effectLst/>
        </p:spPr>
      </p:cxnSp>
      <p:cxnSp>
        <p:nvCxnSpPr>
          <p:cNvPr id="48" name="直線矢印コネクタ 47"/>
          <p:cNvCxnSpPr/>
          <p:nvPr/>
        </p:nvCxnSpPr>
        <p:spPr bwMode="auto">
          <a:xfrm rot="16200000" flipH="1">
            <a:off x="6879444" y="2207412"/>
            <a:ext cx="452440" cy="361952"/>
          </a:xfrm>
          <a:prstGeom prst="straightConnector1">
            <a:avLst/>
          </a:prstGeom>
          <a:solidFill>
            <a:schemeClr val="accent1"/>
          </a:solidFill>
          <a:ln w="9525" cap="flat" cmpd="sng" algn="ctr">
            <a:solidFill>
              <a:srgbClr val="FF0000"/>
            </a:solidFill>
            <a:prstDash val="solid"/>
            <a:round/>
            <a:headEnd type="none" w="med" len="med"/>
            <a:tailEnd type="arrow"/>
          </a:ln>
          <a:effectLst/>
        </p:spPr>
      </p:cxnSp>
      <p:cxnSp>
        <p:nvCxnSpPr>
          <p:cNvPr id="49" name="直線矢印コネクタ 48"/>
          <p:cNvCxnSpPr/>
          <p:nvPr/>
        </p:nvCxnSpPr>
        <p:spPr bwMode="auto">
          <a:xfrm rot="16200000" flipH="1">
            <a:off x="7603348" y="2207412"/>
            <a:ext cx="452440" cy="361952"/>
          </a:xfrm>
          <a:prstGeom prst="straightConnector1">
            <a:avLst/>
          </a:prstGeom>
          <a:solidFill>
            <a:schemeClr val="accent1"/>
          </a:solidFill>
          <a:ln w="9525" cap="flat" cmpd="sng" algn="ctr">
            <a:solidFill>
              <a:srgbClr val="FF0000"/>
            </a:solidFill>
            <a:prstDash val="solid"/>
            <a:round/>
            <a:headEnd type="none" w="med" len="med"/>
            <a:tailEnd type="arrow"/>
          </a:ln>
          <a:effectLst/>
        </p:spPr>
      </p:cxnSp>
      <p:grpSp>
        <p:nvGrpSpPr>
          <p:cNvPr id="50" name="グループ化 49"/>
          <p:cNvGrpSpPr/>
          <p:nvPr/>
        </p:nvGrpSpPr>
        <p:grpSpPr>
          <a:xfrm>
            <a:off x="2762240" y="5782482"/>
            <a:ext cx="180976" cy="363540"/>
            <a:chOff x="1314432" y="5962664"/>
            <a:chExt cx="361952" cy="363540"/>
          </a:xfrm>
        </p:grpSpPr>
        <p:sp>
          <p:nvSpPr>
            <p:cNvPr id="51" name="正方形/長方形 50"/>
            <p:cNvSpPr/>
            <p:nvPr/>
          </p:nvSpPr>
          <p:spPr bwMode="auto">
            <a:xfrm>
              <a:off x="1314432" y="5962664"/>
              <a:ext cx="361952" cy="361952"/>
            </a:xfrm>
            <a:prstGeom prst="rect">
              <a:avLst/>
            </a:prstGeom>
            <a:noFill/>
            <a:ln w="3175" cap="flat" cmpd="sng" algn="ctr">
              <a:noFill/>
              <a:prstDash val="solid"/>
              <a:round/>
              <a:headEnd type="none" w="med" len="med"/>
              <a:tailEnd type="stealth" w="med" len="lg"/>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a:ln>
                  <a:noFill/>
                </a:ln>
                <a:solidFill>
                  <a:schemeClr val="tx1"/>
                </a:solidFill>
                <a:effectLst/>
                <a:latin typeface="Times New Roman" charset="0"/>
                <a:ea typeface="HG丸ｺﾞｼｯｸM-PRO" pitchFamily="50" charset="-128"/>
              </a:endParaRPr>
            </a:p>
          </p:txBody>
        </p:sp>
        <p:cxnSp>
          <p:nvCxnSpPr>
            <p:cNvPr id="52" name="直線コネクタ 51"/>
            <p:cNvCxnSpPr/>
            <p:nvPr/>
          </p:nvCxnSpPr>
          <p:spPr bwMode="auto">
            <a:xfrm>
              <a:off x="1314432" y="6324616"/>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53" name="直線コネクタ 52"/>
            <p:cNvCxnSpPr/>
            <p:nvPr/>
          </p:nvCxnSpPr>
          <p:spPr bwMode="auto">
            <a:xfrm rot="5400000" flipH="1" flipV="1">
              <a:off x="1314432" y="6053152"/>
              <a:ext cx="361952" cy="180976"/>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54" name="直線コネクタ 53"/>
            <p:cNvCxnSpPr/>
            <p:nvPr/>
          </p:nvCxnSpPr>
          <p:spPr bwMode="auto">
            <a:xfrm>
              <a:off x="1585896" y="5962664"/>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cxnSp>
        <p:nvCxnSpPr>
          <p:cNvPr id="55" name="直線コネクタ 54"/>
          <p:cNvCxnSpPr/>
          <p:nvPr/>
        </p:nvCxnSpPr>
        <p:spPr bwMode="auto">
          <a:xfrm rot="10800000">
            <a:off x="1133456" y="6144434"/>
            <a:ext cx="1628784"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nvGrpSpPr>
          <p:cNvPr id="56" name="グループ化 55"/>
          <p:cNvGrpSpPr/>
          <p:nvPr/>
        </p:nvGrpSpPr>
        <p:grpSpPr>
          <a:xfrm flipH="1">
            <a:off x="3486144" y="5782482"/>
            <a:ext cx="180976" cy="363540"/>
            <a:chOff x="1314432" y="5962664"/>
            <a:chExt cx="361952" cy="363540"/>
          </a:xfrm>
        </p:grpSpPr>
        <p:sp>
          <p:nvSpPr>
            <p:cNvPr id="57" name="正方形/長方形 56"/>
            <p:cNvSpPr/>
            <p:nvPr/>
          </p:nvSpPr>
          <p:spPr bwMode="auto">
            <a:xfrm>
              <a:off x="1314432" y="5962664"/>
              <a:ext cx="361952" cy="361952"/>
            </a:xfrm>
            <a:prstGeom prst="rect">
              <a:avLst/>
            </a:prstGeom>
            <a:noFill/>
            <a:ln w="3175" cap="flat" cmpd="sng" algn="ctr">
              <a:noFill/>
              <a:prstDash val="solid"/>
              <a:round/>
              <a:headEnd type="none" w="med" len="med"/>
              <a:tailEnd type="stealth" w="med" len="lg"/>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a:ln>
                  <a:noFill/>
                </a:ln>
                <a:solidFill>
                  <a:schemeClr val="tx1"/>
                </a:solidFill>
                <a:effectLst/>
                <a:latin typeface="Times New Roman" charset="0"/>
                <a:ea typeface="HG丸ｺﾞｼｯｸM-PRO" pitchFamily="50" charset="-128"/>
              </a:endParaRPr>
            </a:p>
          </p:txBody>
        </p:sp>
        <p:cxnSp>
          <p:nvCxnSpPr>
            <p:cNvPr id="58" name="直線コネクタ 57"/>
            <p:cNvCxnSpPr/>
            <p:nvPr/>
          </p:nvCxnSpPr>
          <p:spPr bwMode="auto">
            <a:xfrm>
              <a:off x="1314432" y="6324616"/>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59" name="直線コネクタ 58"/>
            <p:cNvCxnSpPr/>
            <p:nvPr/>
          </p:nvCxnSpPr>
          <p:spPr bwMode="auto">
            <a:xfrm rot="5400000" flipH="1" flipV="1">
              <a:off x="1314432" y="6053152"/>
              <a:ext cx="361952" cy="180976"/>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60" name="直線コネクタ 59"/>
            <p:cNvCxnSpPr/>
            <p:nvPr/>
          </p:nvCxnSpPr>
          <p:spPr bwMode="auto">
            <a:xfrm>
              <a:off x="1585896" y="5962664"/>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cxnSp>
        <p:nvCxnSpPr>
          <p:cNvPr id="61" name="直線コネクタ 60"/>
          <p:cNvCxnSpPr/>
          <p:nvPr/>
        </p:nvCxnSpPr>
        <p:spPr bwMode="auto">
          <a:xfrm rot="10800000">
            <a:off x="2944010" y="5781688"/>
            <a:ext cx="542134" cy="794"/>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nvGrpSpPr>
          <p:cNvPr id="62" name="グループ化 61"/>
          <p:cNvGrpSpPr/>
          <p:nvPr/>
        </p:nvGrpSpPr>
        <p:grpSpPr>
          <a:xfrm>
            <a:off x="4210048" y="5782482"/>
            <a:ext cx="180976" cy="363540"/>
            <a:chOff x="1314432" y="5962664"/>
            <a:chExt cx="361952" cy="363540"/>
          </a:xfrm>
        </p:grpSpPr>
        <p:sp>
          <p:nvSpPr>
            <p:cNvPr id="63" name="正方形/長方形 62"/>
            <p:cNvSpPr/>
            <p:nvPr/>
          </p:nvSpPr>
          <p:spPr bwMode="auto">
            <a:xfrm>
              <a:off x="1314432" y="5962664"/>
              <a:ext cx="361952" cy="361952"/>
            </a:xfrm>
            <a:prstGeom prst="rect">
              <a:avLst/>
            </a:prstGeom>
            <a:noFill/>
            <a:ln w="3175" cap="flat" cmpd="sng" algn="ctr">
              <a:noFill/>
              <a:prstDash val="solid"/>
              <a:round/>
              <a:headEnd type="none" w="med" len="med"/>
              <a:tailEnd type="stealth" w="med" len="lg"/>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a:ln>
                  <a:noFill/>
                </a:ln>
                <a:solidFill>
                  <a:schemeClr val="tx1"/>
                </a:solidFill>
                <a:effectLst/>
                <a:latin typeface="Times New Roman" charset="0"/>
                <a:ea typeface="HG丸ｺﾞｼｯｸM-PRO" pitchFamily="50" charset="-128"/>
              </a:endParaRPr>
            </a:p>
          </p:txBody>
        </p:sp>
        <p:cxnSp>
          <p:nvCxnSpPr>
            <p:cNvPr id="64" name="直線コネクタ 63"/>
            <p:cNvCxnSpPr/>
            <p:nvPr/>
          </p:nvCxnSpPr>
          <p:spPr bwMode="auto">
            <a:xfrm>
              <a:off x="1314432" y="6324616"/>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65" name="直線コネクタ 64"/>
            <p:cNvCxnSpPr/>
            <p:nvPr/>
          </p:nvCxnSpPr>
          <p:spPr bwMode="auto">
            <a:xfrm rot="5400000" flipH="1" flipV="1">
              <a:off x="1314432" y="6053152"/>
              <a:ext cx="361952" cy="180976"/>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66" name="直線コネクタ 65"/>
            <p:cNvCxnSpPr/>
            <p:nvPr/>
          </p:nvCxnSpPr>
          <p:spPr bwMode="auto">
            <a:xfrm>
              <a:off x="1585896" y="5962664"/>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grpSp>
        <p:nvGrpSpPr>
          <p:cNvPr id="67" name="グループ化 66"/>
          <p:cNvGrpSpPr/>
          <p:nvPr/>
        </p:nvGrpSpPr>
        <p:grpSpPr>
          <a:xfrm flipH="1">
            <a:off x="4933952" y="5782482"/>
            <a:ext cx="180976" cy="363540"/>
            <a:chOff x="1314432" y="5962664"/>
            <a:chExt cx="361952" cy="363540"/>
          </a:xfrm>
        </p:grpSpPr>
        <p:sp>
          <p:nvSpPr>
            <p:cNvPr id="68" name="正方形/長方形 67"/>
            <p:cNvSpPr/>
            <p:nvPr/>
          </p:nvSpPr>
          <p:spPr bwMode="auto">
            <a:xfrm>
              <a:off x="1314432" y="5962664"/>
              <a:ext cx="361952" cy="361952"/>
            </a:xfrm>
            <a:prstGeom prst="rect">
              <a:avLst/>
            </a:prstGeom>
            <a:noFill/>
            <a:ln w="3175" cap="flat" cmpd="sng" algn="ctr">
              <a:noFill/>
              <a:prstDash val="solid"/>
              <a:round/>
              <a:headEnd type="none" w="med" len="med"/>
              <a:tailEnd type="stealth" w="med" len="lg"/>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a:ln>
                  <a:noFill/>
                </a:ln>
                <a:solidFill>
                  <a:schemeClr val="tx1"/>
                </a:solidFill>
                <a:effectLst/>
                <a:latin typeface="Times New Roman" charset="0"/>
                <a:ea typeface="HG丸ｺﾞｼｯｸM-PRO" pitchFamily="50" charset="-128"/>
              </a:endParaRPr>
            </a:p>
          </p:txBody>
        </p:sp>
        <p:cxnSp>
          <p:nvCxnSpPr>
            <p:cNvPr id="69" name="直線コネクタ 68"/>
            <p:cNvCxnSpPr/>
            <p:nvPr/>
          </p:nvCxnSpPr>
          <p:spPr bwMode="auto">
            <a:xfrm>
              <a:off x="1314432" y="6324616"/>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70" name="直線コネクタ 69"/>
            <p:cNvCxnSpPr/>
            <p:nvPr/>
          </p:nvCxnSpPr>
          <p:spPr bwMode="auto">
            <a:xfrm rot="5400000" flipH="1" flipV="1">
              <a:off x="1314432" y="6053152"/>
              <a:ext cx="361952" cy="180976"/>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71" name="直線コネクタ 70"/>
            <p:cNvCxnSpPr/>
            <p:nvPr/>
          </p:nvCxnSpPr>
          <p:spPr bwMode="auto">
            <a:xfrm>
              <a:off x="1585896" y="5962664"/>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cxnSp>
        <p:nvCxnSpPr>
          <p:cNvPr id="72" name="直線コネクタ 71"/>
          <p:cNvCxnSpPr/>
          <p:nvPr/>
        </p:nvCxnSpPr>
        <p:spPr bwMode="auto">
          <a:xfrm rot="10800000">
            <a:off x="4391818" y="5781688"/>
            <a:ext cx="542134" cy="794"/>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73" name="直線コネクタ 72"/>
          <p:cNvCxnSpPr/>
          <p:nvPr/>
        </p:nvCxnSpPr>
        <p:spPr bwMode="auto">
          <a:xfrm rot="10800000">
            <a:off x="3667120" y="6144434"/>
            <a:ext cx="542134" cy="794"/>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nvGrpSpPr>
          <p:cNvPr id="74" name="グループ化 73"/>
          <p:cNvGrpSpPr/>
          <p:nvPr/>
        </p:nvGrpSpPr>
        <p:grpSpPr>
          <a:xfrm>
            <a:off x="7105664" y="5782482"/>
            <a:ext cx="180976" cy="363540"/>
            <a:chOff x="1314432" y="5962664"/>
            <a:chExt cx="361952" cy="363540"/>
          </a:xfrm>
        </p:grpSpPr>
        <p:sp>
          <p:nvSpPr>
            <p:cNvPr id="75" name="正方形/長方形 74"/>
            <p:cNvSpPr/>
            <p:nvPr/>
          </p:nvSpPr>
          <p:spPr bwMode="auto">
            <a:xfrm>
              <a:off x="1314432" y="5962664"/>
              <a:ext cx="361952" cy="361952"/>
            </a:xfrm>
            <a:prstGeom prst="rect">
              <a:avLst/>
            </a:prstGeom>
            <a:noFill/>
            <a:ln w="3175" cap="flat" cmpd="sng" algn="ctr">
              <a:noFill/>
              <a:prstDash val="solid"/>
              <a:round/>
              <a:headEnd type="none" w="med" len="med"/>
              <a:tailEnd type="stealth" w="med" len="lg"/>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a:ln>
                  <a:noFill/>
                </a:ln>
                <a:solidFill>
                  <a:schemeClr val="tx1"/>
                </a:solidFill>
                <a:effectLst/>
                <a:latin typeface="Times New Roman" charset="0"/>
                <a:ea typeface="HG丸ｺﾞｼｯｸM-PRO" pitchFamily="50" charset="-128"/>
              </a:endParaRPr>
            </a:p>
          </p:txBody>
        </p:sp>
        <p:cxnSp>
          <p:nvCxnSpPr>
            <p:cNvPr id="76" name="直線コネクタ 75"/>
            <p:cNvCxnSpPr/>
            <p:nvPr/>
          </p:nvCxnSpPr>
          <p:spPr bwMode="auto">
            <a:xfrm>
              <a:off x="1314432" y="6324616"/>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77" name="直線コネクタ 76"/>
            <p:cNvCxnSpPr/>
            <p:nvPr/>
          </p:nvCxnSpPr>
          <p:spPr bwMode="auto">
            <a:xfrm rot="5400000" flipH="1" flipV="1">
              <a:off x="1314432" y="6053152"/>
              <a:ext cx="361952" cy="180976"/>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78" name="直線コネクタ 77"/>
            <p:cNvCxnSpPr/>
            <p:nvPr/>
          </p:nvCxnSpPr>
          <p:spPr bwMode="auto">
            <a:xfrm>
              <a:off x="1585896" y="5962664"/>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grpSp>
        <p:nvGrpSpPr>
          <p:cNvPr id="79" name="グループ化 78"/>
          <p:cNvGrpSpPr/>
          <p:nvPr/>
        </p:nvGrpSpPr>
        <p:grpSpPr>
          <a:xfrm flipH="1">
            <a:off x="8553472" y="5782482"/>
            <a:ext cx="180976" cy="363540"/>
            <a:chOff x="1314432" y="5962664"/>
            <a:chExt cx="361952" cy="363540"/>
          </a:xfrm>
        </p:grpSpPr>
        <p:sp>
          <p:nvSpPr>
            <p:cNvPr id="80" name="正方形/長方形 79"/>
            <p:cNvSpPr/>
            <p:nvPr/>
          </p:nvSpPr>
          <p:spPr bwMode="auto">
            <a:xfrm>
              <a:off x="1314432" y="5962664"/>
              <a:ext cx="361952" cy="361952"/>
            </a:xfrm>
            <a:prstGeom prst="rect">
              <a:avLst/>
            </a:prstGeom>
            <a:noFill/>
            <a:ln w="3175" cap="flat" cmpd="sng" algn="ctr">
              <a:noFill/>
              <a:prstDash val="solid"/>
              <a:round/>
              <a:headEnd type="none" w="med" len="med"/>
              <a:tailEnd type="stealth" w="med" len="lg"/>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a:ln>
                  <a:noFill/>
                </a:ln>
                <a:solidFill>
                  <a:schemeClr val="tx1"/>
                </a:solidFill>
                <a:effectLst/>
                <a:latin typeface="Times New Roman" charset="0"/>
                <a:ea typeface="HG丸ｺﾞｼｯｸM-PRO" pitchFamily="50" charset="-128"/>
              </a:endParaRPr>
            </a:p>
          </p:txBody>
        </p:sp>
        <p:cxnSp>
          <p:nvCxnSpPr>
            <p:cNvPr id="81" name="直線コネクタ 80"/>
            <p:cNvCxnSpPr/>
            <p:nvPr/>
          </p:nvCxnSpPr>
          <p:spPr bwMode="auto">
            <a:xfrm>
              <a:off x="1314432" y="6324616"/>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82" name="直線コネクタ 81"/>
            <p:cNvCxnSpPr/>
            <p:nvPr/>
          </p:nvCxnSpPr>
          <p:spPr bwMode="auto">
            <a:xfrm rot="5400000" flipH="1" flipV="1">
              <a:off x="1314432" y="6053152"/>
              <a:ext cx="361952" cy="180976"/>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83" name="直線コネクタ 82"/>
            <p:cNvCxnSpPr/>
            <p:nvPr/>
          </p:nvCxnSpPr>
          <p:spPr bwMode="auto">
            <a:xfrm>
              <a:off x="1585896" y="5962664"/>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cxnSp>
        <p:nvCxnSpPr>
          <p:cNvPr id="84" name="直線コネクタ 83"/>
          <p:cNvCxnSpPr/>
          <p:nvPr/>
        </p:nvCxnSpPr>
        <p:spPr bwMode="auto">
          <a:xfrm rot="10800000">
            <a:off x="7287434" y="5781688"/>
            <a:ext cx="1266038" cy="794"/>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85" name="直線コネクタ 84"/>
          <p:cNvCxnSpPr/>
          <p:nvPr/>
        </p:nvCxnSpPr>
        <p:spPr bwMode="auto">
          <a:xfrm rot="10800000">
            <a:off x="5114928" y="6144434"/>
            <a:ext cx="1990736"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86" name="直線コネクタ 85"/>
          <p:cNvCxnSpPr/>
          <p:nvPr/>
        </p:nvCxnSpPr>
        <p:spPr bwMode="auto">
          <a:xfrm rot="10800000">
            <a:off x="8734448" y="6144434"/>
            <a:ext cx="180182" cy="794"/>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87" name="直線矢印コネクタ 86"/>
          <p:cNvCxnSpPr/>
          <p:nvPr/>
        </p:nvCxnSpPr>
        <p:spPr bwMode="auto">
          <a:xfrm rot="16200000" flipH="1">
            <a:off x="1812116" y="2207412"/>
            <a:ext cx="452440" cy="361952"/>
          </a:xfrm>
          <a:prstGeom prst="straightConnector1">
            <a:avLst/>
          </a:prstGeom>
          <a:solidFill>
            <a:schemeClr val="accent1"/>
          </a:solidFill>
          <a:ln w="9525" cap="flat" cmpd="sng" algn="ctr">
            <a:solidFill>
              <a:schemeClr val="accent5"/>
            </a:solidFill>
            <a:prstDash val="solid"/>
            <a:round/>
            <a:headEnd type="none" w="med" len="med"/>
            <a:tailEnd type="arrow"/>
          </a:ln>
          <a:effectLst/>
        </p:spPr>
      </p:cxnSp>
      <p:cxnSp>
        <p:nvCxnSpPr>
          <p:cNvPr id="88" name="直線矢印コネクタ 87"/>
          <p:cNvCxnSpPr/>
          <p:nvPr/>
        </p:nvCxnSpPr>
        <p:spPr bwMode="auto">
          <a:xfrm rot="16200000" flipH="1">
            <a:off x="3259924" y="2207412"/>
            <a:ext cx="452440" cy="361952"/>
          </a:xfrm>
          <a:prstGeom prst="straightConnector1">
            <a:avLst/>
          </a:prstGeom>
          <a:solidFill>
            <a:schemeClr val="accent1"/>
          </a:solidFill>
          <a:ln w="9525" cap="flat" cmpd="sng" algn="ctr">
            <a:solidFill>
              <a:schemeClr val="accent5"/>
            </a:solidFill>
            <a:prstDash val="solid"/>
            <a:round/>
            <a:headEnd type="none" w="med" len="med"/>
            <a:tailEnd type="arrow"/>
          </a:ln>
          <a:effectLst/>
        </p:spPr>
      </p:cxnSp>
      <p:cxnSp>
        <p:nvCxnSpPr>
          <p:cNvPr id="89" name="直線矢印コネクタ 88"/>
          <p:cNvCxnSpPr/>
          <p:nvPr/>
        </p:nvCxnSpPr>
        <p:spPr bwMode="auto">
          <a:xfrm rot="16200000" flipH="1">
            <a:off x="4707732" y="2207412"/>
            <a:ext cx="452440" cy="361952"/>
          </a:xfrm>
          <a:prstGeom prst="straightConnector1">
            <a:avLst/>
          </a:prstGeom>
          <a:solidFill>
            <a:schemeClr val="accent1"/>
          </a:solidFill>
          <a:ln w="9525" cap="flat" cmpd="sng" algn="ctr">
            <a:solidFill>
              <a:schemeClr val="accent5"/>
            </a:solidFill>
            <a:prstDash val="solid"/>
            <a:round/>
            <a:headEnd type="none" w="med" len="med"/>
            <a:tailEnd type="arrow"/>
          </a:ln>
          <a:effectLst/>
        </p:spPr>
      </p:cxnSp>
      <p:cxnSp>
        <p:nvCxnSpPr>
          <p:cNvPr id="90" name="直線矢印コネクタ 89"/>
          <p:cNvCxnSpPr/>
          <p:nvPr/>
        </p:nvCxnSpPr>
        <p:spPr bwMode="auto">
          <a:xfrm rot="16200000" flipH="1">
            <a:off x="5431636" y="2207412"/>
            <a:ext cx="452440" cy="361952"/>
          </a:xfrm>
          <a:prstGeom prst="straightConnector1">
            <a:avLst/>
          </a:prstGeom>
          <a:solidFill>
            <a:schemeClr val="accent1"/>
          </a:solidFill>
          <a:ln w="9525" cap="flat" cmpd="sng" algn="ctr">
            <a:solidFill>
              <a:schemeClr val="accent5"/>
            </a:solidFill>
            <a:prstDash val="solid"/>
            <a:round/>
            <a:headEnd type="none" w="med" len="med"/>
            <a:tailEnd type="arrow"/>
          </a:ln>
          <a:effectLst/>
        </p:spPr>
      </p:cxnSp>
      <p:cxnSp>
        <p:nvCxnSpPr>
          <p:cNvPr id="91" name="直線矢印コネクタ 90"/>
          <p:cNvCxnSpPr/>
          <p:nvPr/>
        </p:nvCxnSpPr>
        <p:spPr bwMode="auto">
          <a:xfrm rot="16200000" flipH="1">
            <a:off x="6155540" y="2207412"/>
            <a:ext cx="452440" cy="361952"/>
          </a:xfrm>
          <a:prstGeom prst="straightConnector1">
            <a:avLst/>
          </a:prstGeom>
          <a:solidFill>
            <a:schemeClr val="accent1"/>
          </a:solidFill>
          <a:ln w="9525" cap="flat" cmpd="sng" algn="ctr">
            <a:solidFill>
              <a:schemeClr val="accent5"/>
            </a:solidFill>
            <a:prstDash val="solid"/>
            <a:round/>
            <a:headEnd type="none" w="med" len="med"/>
            <a:tailEnd type="arrow"/>
          </a:ln>
          <a:effectLst/>
        </p:spPr>
      </p:cxnSp>
      <p:grpSp>
        <p:nvGrpSpPr>
          <p:cNvPr id="3" name="グループ化 2">
            <a:extLst>
              <a:ext uri="{FF2B5EF4-FFF2-40B4-BE49-F238E27FC236}">
                <a16:creationId xmlns:a16="http://schemas.microsoft.com/office/drawing/2014/main" id="{792AD1EF-5072-762F-115B-BE766F2D25D4}"/>
              </a:ext>
            </a:extLst>
          </p:cNvPr>
          <p:cNvGrpSpPr/>
          <p:nvPr/>
        </p:nvGrpSpPr>
        <p:grpSpPr>
          <a:xfrm>
            <a:off x="6912026" y="278965"/>
            <a:ext cx="1441450" cy="1085855"/>
            <a:chOff x="6369707" y="1718772"/>
            <a:chExt cx="1441450" cy="1085855"/>
          </a:xfrm>
        </p:grpSpPr>
        <p:sp>
          <p:nvSpPr>
            <p:cNvPr id="92" name="Line 9">
              <a:extLst>
                <a:ext uri="{FF2B5EF4-FFF2-40B4-BE49-F238E27FC236}">
                  <a16:creationId xmlns:a16="http://schemas.microsoft.com/office/drawing/2014/main" id="{BFBFA04C-29A3-094E-68A8-3ECDBBAED248}"/>
                </a:ext>
              </a:extLst>
            </p:cNvPr>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a:p>
          </p:txBody>
        </p:sp>
        <p:sp>
          <p:nvSpPr>
            <p:cNvPr id="93" name="Rectangle 6">
              <a:extLst>
                <a:ext uri="{FF2B5EF4-FFF2-40B4-BE49-F238E27FC236}">
                  <a16:creationId xmlns:a16="http://schemas.microsoft.com/office/drawing/2014/main" id="{7D8857CE-3971-4EDB-4CC4-AF2DC86CCE7F}"/>
                </a:ext>
              </a:extLst>
            </p:cNvPr>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a:p>
          </p:txBody>
        </p:sp>
        <p:sp>
          <p:nvSpPr>
            <p:cNvPr id="94" name="Rectangle 7">
              <a:extLst>
                <a:ext uri="{FF2B5EF4-FFF2-40B4-BE49-F238E27FC236}">
                  <a16:creationId xmlns:a16="http://schemas.microsoft.com/office/drawing/2014/main" id="{D7204C1E-F704-34FE-6012-4EF08877FF7F}"/>
                </a:ext>
              </a:extLst>
            </p:cNvPr>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i="1" dirty="0"/>
                <a:t>q</a:t>
              </a:r>
              <a:endParaRPr lang="en-US" altLang="ja-JP" dirty="0"/>
            </a:p>
          </p:txBody>
        </p:sp>
        <p:sp>
          <p:nvSpPr>
            <p:cNvPr id="95" name="Rectangle 8">
              <a:extLst>
                <a:ext uri="{FF2B5EF4-FFF2-40B4-BE49-F238E27FC236}">
                  <a16:creationId xmlns:a16="http://schemas.microsoft.com/office/drawing/2014/main" id="{CB8A8DA5-6281-7563-28E3-EAC4579A8E44}"/>
                </a:ext>
              </a:extLst>
            </p:cNvPr>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i="1" dirty="0"/>
                <a:t>d</a:t>
              </a:r>
              <a:endParaRPr lang="en-US" altLang="ja-JP" dirty="0"/>
            </a:p>
          </p:txBody>
        </p:sp>
        <p:sp>
          <p:nvSpPr>
            <p:cNvPr id="96" name="Freeform 10">
              <a:extLst>
                <a:ext uri="{FF2B5EF4-FFF2-40B4-BE49-F238E27FC236}">
                  <a16:creationId xmlns:a16="http://schemas.microsoft.com/office/drawing/2014/main" id="{D69591F8-CD54-DAB9-7407-13014BC80E92}"/>
                </a:ext>
              </a:extLst>
            </p:cNvPr>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97" name="Line 12">
              <a:extLst>
                <a:ext uri="{FF2B5EF4-FFF2-40B4-BE49-F238E27FC236}">
                  <a16:creationId xmlns:a16="http://schemas.microsoft.com/office/drawing/2014/main" id="{2E536C42-6245-A133-B22E-604DA42481D2}"/>
                </a:ext>
              </a:extLst>
            </p:cNvPr>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a:p>
          </p:txBody>
        </p:sp>
        <p:sp>
          <p:nvSpPr>
            <p:cNvPr id="98" name="Rectangle 11">
              <a:extLst>
                <a:ext uri="{FF2B5EF4-FFF2-40B4-BE49-F238E27FC236}">
                  <a16:creationId xmlns:a16="http://schemas.microsoft.com/office/drawing/2014/main" id="{B4A9D607-0B50-B4E0-2113-14D5C39BB7FB}"/>
                </a:ext>
              </a:extLst>
            </p:cNvPr>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i="1" dirty="0"/>
                <a:t>clk</a:t>
              </a:r>
              <a:endParaRPr lang="en-US" altLang="ja-JP" dirty="0"/>
            </a:p>
          </p:txBody>
        </p:sp>
      </p:grpSp>
    </p:spTree>
    <p:extLst>
      <p:ext uri="{BB962C8B-B14F-4D97-AF65-F5344CB8AC3E}">
        <p14:creationId xmlns:p14="http://schemas.microsoft.com/office/powerpoint/2010/main" val="418217804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0418" name="Rectangle 2"/>
          <p:cNvSpPr>
            <a:spLocks noGrp="1" noChangeArrowheads="1"/>
          </p:cNvSpPr>
          <p:nvPr>
            <p:ph type="title"/>
          </p:nvPr>
        </p:nvSpPr>
        <p:spPr/>
        <p:txBody>
          <a:bodyPr/>
          <a:lstStyle/>
          <a:p>
            <a:r>
              <a:rPr lang="en-US" altLang="ja-JP" sz="2400" dirty="0"/>
              <a:t>D-FF</a:t>
            </a:r>
            <a:r>
              <a:rPr lang="ja-JP" altLang="en-US" sz="2400" dirty="0"/>
              <a:t> の実現例</a:t>
            </a:r>
            <a:endParaRPr lang="en-US" altLang="ja-JP" sz="2400" dirty="0"/>
          </a:p>
        </p:txBody>
      </p:sp>
      <p:grpSp>
        <p:nvGrpSpPr>
          <p:cNvPr id="3" name="グループ化 2"/>
          <p:cNvGrpSpPr/>
          <p:nvPr/>
        </p:nvGrpSpPr>
        <p:grpSpPr>
          <a:xfrm>
            <a:off x="1871970" y="4779015"/>
            <a:ext cx="5400675" cy="1620223"/>
            <a:chOff x="1673205" y="1448415"/>
            <a:chExt cx="5400675" cy="1620223"/>
          </a:xfrm>
        </p:grpSpPr>
        <p:sp>
          <p:nvSpPr>
            <p:cNvPr id="700460" name="Freeform 44"/>
            <p:cNvSpPr>
              <a:spLocks/>
            </p:cNvSpPr>
            <p:nvPr/>
          </p:nvSpPr>
          <p:spPr bwMode="auto">
            <a:xfrm>
              <a:off x="2752705" y="1987550"/>
              <a:ext cx="1439862"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459" name="Freeform 43"/>
            <p:cNvSpPr>
              <a:spLocks/>
            </p:cNvSpPr>
            <p:nvPr/>
          </p:nvSpPr>
          <p:spPr bwMode="auto">
            <a:xfrm>
              <a:off x="4913292" y="1987550"/>
              <a:ext cx="1439863"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pic>
          <p:nvPicPr>
            <p:cNvPr id="700446" name="Picture 30" descr="NOT"/>
            <p:cNvPicPr>
              <a:picLocks noChangeAspect="1" noChangeArrowheads="1"/>
            </p:cNvPicPr>
            <p:nvPr/>
          </p:nvPicPr>
          <p:blipFill>
            <a:blip r:embed="rId3" cstate="print"/>
            <a:srcRect/>
            <a:stretch>
              <a:fillRect/>
            </a:stretch>
          </p:blipFill>
          <p:spPr bwMode="auto">
            <a:xfrm flipH="1">
              <a:off x="3113067" y="1627188"/>
              <a:ext cx="717550" cy="720725"/>
            </a:xfrm>
            <a:prstGeom prst="rect">
              <a:avLst/>
            </a:prstGeom>
            <a:noFill/>
          </p:spPr>
        </p:pic>
        <p:pic>
          <p:nvPicPr>
            <p:cNvPr id="700447" name="Picture 31" descr="NOT"/>
            <p:cNvPicPr>
              <a:picLocks noChangeAspect="1" noChangeArrowheads="1"/>
            </p:cNvPicPr>
            <p:nvPr/>
          </p:nvPicPr>
          <p:blipFill>
            <a:blip r:embed="rId3" cstate="print"/>
            <a:srcRect/>
            <a:stretch>
              <a:fillRect/>
            </a:stretch>
          </p:blipFill>
          <p:spPr bwMode="auto">
            <a:xfrm>
              <a:off x="3113067" y="2347913"/>
              <a:ext cx="717550" cy="720725"/>
            </a:xfrm>
            <a:prstGeom prst="rect">
              <a:avLst/>
            </a:prstGeom>
            <a:noFill/>
          </p:spPr>
        </p:pic>
        <p:pic>
          <p:nvPicPr>
            <p:cNvPr id="700448" name="Picture 32" descr="NOT"/>
            <p:cNvPicPr>
              <a:picLocks noChangeAspect="1" noChangeArrowheads="1"/>
            </p:cNvPicPr>
            <p:nvPr/>
          </p:nvPicPr>
          <p:blipFill>
            <a:blip r:embed="rId3" cstate="print"/>
            <a:srcRect/>
            <a:stretch>
              <a:fillRect/>
            </a:stretch>
          </p:blipFill>
          <p:spPr bwMode="auto">
            <a:xfrm flipH="1">
              <a:off x="5273655" y="1627188"/>
              <a:ext cx="717550" cy="720725"/>
            </a:xfrm>
            <a:prstGeom prst="rect">
              <a:avLst/>
            </a:prstGeom>
            <a:noFill/>
          </p:spPr>
        </p:pic>
        <p:pic>
          <p:nvPicPr>
            <p:cNvPr id="700449" name="Picture 33" descr="NOT"/>
            <p:cNvPicPr>
              <a:picLocks noChangeAspect="1" noChangeArrowheads="1"/>
            </p:cNvPicPr>
            <p:nvPr/>
          </p:nvPicPr>
          <p:blipFill>
            <a:blip r:embed="rId3" cstate="print"/>
            <a:srcRect/>
            <a:stretch>
              <a:fillRect/>
            </a:stretch>
          </p:blipFill>
          <p:spPr bwMode="auto">
            <a:xfrm>
              <a:off x="5273655" y="2347913"/>
              <a:ext cx="717550" cy="720725"/>
            </a:xfrm>
            <a:prstGeom prst="rect">
              <a:avLst/>
            </a:prstGeom>
            <a:noFill/>
          </p:spPr>
        </p:pic>
        <p:sp>
          <p:nvSpPr>
            <p:cNvPr id="700461" name="Line 45"/>
            <p:cNvSpPr>
              <a:spLocks noChangeShapeType="1"/>
            </p:cNvSpPr>
            <p:nvPr/>
          </p:nvSpPr>
          <p:spPr bwMode="auto">
            <a:xfrm>
              <a:off x="4192567" y="2708275"/>
              <a:ext cx="360363"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grpSp>
          <p:nvGrpSpPr>
            <p:cNvPr id="700453" name="Group 37"/>
            <p:cNvGrpSpPr>
              <a:grpSpLocks/>
            </p:cNvGrpSpPr>
            <p:nvPr/>
          </p:nvGrpSpPr>
          <p:grpSpPr bwMode="auto">
            <a:xfrm>
              <a:off x="4822805" y="2257425"/>
              <a:ext cx="180975" cy="180975"/>
              <a:chOff x="2823" y="1990"/>
              <a:chExt cx="227" cy="227"/>
            </a:xfrm>
          </p:grpSpPr>
          <p:sp>
            <p:nvSpPr>
              <p:cNvPr id="700454" name="Rectangle 38"/>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55" name="Oval 39"/>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56" name="Group 40"/>
            <p:cNvGrpSpPr>
              <a:grpSpLocks/>
            </p:cNvGrpSpPr>
            <p:nvPr/>
          </p:nvGrpSpPr>
          <p:grpSpPr bwMode="auto">
            <a:xfrm>
              <a:off x="4462442" y="2617788"/>
              <a:ext cx="180975" cy="180975"/>
              <a:chOff x="2823" y="1990"/>
              <a:chExt cx="227" cy="227"/>
            </a:xfrm>
          </p:grpSpPr>
          <p:sp>
            <p:nvSpPr>
              <p:cNvPr id="700457" name="Rectangle 41"/>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58" name="Oval 42"/>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62" name="Line 46"/>
            <p:cNvSpPr>
              <a:spLocks noChangeShapeType="1"/>
            </p:cNvSpPr>
            <p:nvPr/>
          </p:nvSpPr>
          <p:spPr bwMode="auto">
            <a:xfrm>
              <a:off x="2033567" y="2708275"/>
              <a:ext cx="360363" cy="0"/>
            </a:xfrm>
            <a:prstGeom prst="line">
              <a:avLst/>
            </a:prstGeom>
            <a:noFill/>
            <a:ln w="9525">
              <a:solidFill>
                <a:schemeClr val="tx1"/>
              </a:solidFill>
              <a:round/>
              <a:headEnd type="none" w="sm" len="sm"/>
              <a:tailEnd type="none" w="med" len="lg"/>
            </a:ln>
            <a:effectLst/>
          </p:spPr>
          <p:txBody>
            <a:bodyPr wrap="none" lIns="90000" tIns="46800" rIns="90000" bIns="46800" anchor="ctr"/>
            <a:lstStyle/>
            <a:p>
              <a:endParaRPr lang="ja-JP" altLang="en-US"/>
            </a:p>
          </p:txBody>
        </p:sp>
        <p:grpSp>
          <p:nvGrpSpPr>
            <p:cNvPr id="700466" name="Group 50"/>
            <p:cNvGrpSpPr>
              <a:grpSpLocks/>
            </p:cNvGrpSpPr>
            <p:nvPr/>
          </p:nvGrpSpPr>
          <p:grpSpPr bwMode="auto">
            <a:xfrm>
              <a:off x="2663805" y="2257425"/>
              <a:ext cx="180975" cy="180975"/>
              <a:chOff x="2823" y="1990"/>
              <a:chExt cx="227" cy="227"/>
            </a:xfrm>
          </p:grpSpPr>
          <p:sp>
            <p:nvSpPr>
              <p:cNvPr id="700467" name="Rectangle 51"/>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68" name="Oval 52"/>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69" name="Group 53"/>
            <p:cNvGrpSpPr>
              <a:grpSpLocks/>
            </p:cNvGrpSpPr>
            <p:nvPr/>
          </p:nvGrpSpPr>
          <p:grpSpPr bwMode="auto">
            <a:xfrm>
              <a:off x="2303442" y="2617788"/>
              <a:ext cx="180975" cy="180975"/>
              <a:chOff x="2823" y="1990"/>
              <a:chExt cx="227" cy="227"/>
            </a:xfrm>
          </p:grpSpPr>
          <p:sp>
            <p:nvSpPr>
              <p:cNvPr id="700470" name="Rectangle 54"/>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71" name="Oval 55"/>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72" name="Line 56"/>
            <p:cNvSpPr>
              <a:spLocks noChangeShapeType="1"/>
            </p:cNvSpPr>
            <p:nvPr/>
          </p:nvSpPr>
          <p:spPr bwMode="auto">
            <a:xfrm>
              <a:off x="6353155" y="2708275"/>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700474" name="Rectangle 58"/>
            <p:cNvSpPr>
              <a:spLocks noChangeArrowheads="1"/>
            </p:cNvSpPr>
            <p:nvPr/>
          </p:nvSpPr>
          <p:spPr bwMode="auto">
            <a:xfrm>
              <a:off x="1673205" y="2528888"/>
              <a:ext cx="360362" cy="360362"/>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700475" name="Rectangle 59"/>
            <p:cNvSpPr>
              <a:spLocks noChangeArrowheads="1"/>
            </p:cNvSpPr>
            <p:nvPr/>
          </p:nvSpPr>
          <p:spPr bwMode="auto">
            <a:xfrm>
              <a:off x="6713517" y="2528888"/>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700476" name="Line 60"/>
            <p:cNvSpPr>
              <a:spLocks noChangeShapeType="1"/>
            </p:cNvSpPr>
            <p:nvPr/>
          </p:nvSpPr>
          <p:spPr bwMode="auto">
            <a:xfrm flipH="1" flipV="1">
              <a:off x="2303442" y="2617788"/>
              <a:ext cx="449263" cy="90487"/>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463" name="Group 47"/>
            <p:cNvGrpSpPr>
              <a:grpSpLocks/>
            </p:cNvGrpSpPr>
            <p:nvPr/>
          </p:nvGrpSpPr>
          <p:grpSpPr bwMode="auto">
            <a:xfrm>
              <a:off x="2663805" y="2617788"/>
              <a:ext cx="180975" cy="180975"/>
              <a:chOff x="2823" y="1990"/>
              <a:chExt cx="227" cy="227"/>
            </a:xfrm>
          </p:grpSpPr>
          <p:sp>
            <p:nvSpPr>
              <p:cNvPr id="700464" name="Rectangle 48"/>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65" name="Oval 49"/>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77" name="Line 61"/>
            <p:cNvSpPr>
              <a:spLocks noChangeShapeType="1"/>
            </p:cNvSpPr>
            <p:nvPr/>
          </p:nvSpPr>
          <p:spPr bwMode="auto">
            <a:xfrm flipH="1" flipV="1">
              <a:off x="4822805" y="2257425"/>
              <a:ext cx="88900" cy="450850"/>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452" name="Group 36"/>
            <p:cNvGrpSpPr>
              <a:grpSpLocks/>
            </p:cNvGrpSpPr>
            <p:nvPr/>
          </p:nvGrpSpPr>
          <p:grpSpPr bwMode="auto">
            <a:xfrm>
              <a:off x="4822805" y="2617788"/>
              <a:ext cx="180975" cy="180975"/>
              <a:chOff x="2823" y="1990"/>
              <a:chExt cx="227" cy="227"/>
            </a:xfrm>
          </p:grpSpPr>
          <p:sp>
            <p:nvSpPr>
              <p:cNvPr id="700451" name="Rectangle 35"/>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50" name="Oval 34"/>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509" name="Rectangle 93"/>
            <p:cNvSpPr>
              <a:spLocks noChangeArrowheads="1"/>
            </p:cNvSpPr>
            <p:nvPr/>
          </p:nvSpPr>
          <p:spPr bwMode="auto">
            <a:xfrm>
              <a:off x="4013231" y="1448415"/>
              <a:ext cx="1081087" cy="360362"/>
            </a:xfrm>
            <a:prstGeom prst="rect">
              <a:avLst/>
            </a:prstGeom>
            <a:noFill/>
            <a:ln w="12700" algn="ctr">
              <a:noFill/>
              <a:miter lim="800000"/>
              <a:headEnd/>
              <a:tailEnd/>
            </a:ln>
            <a:effectLst/>
          </p:spPr>
          <p:txBody>
            <a:bodyPr wrap="none" lIns="90000" tIns="46800" rIns="90000" bIns="46800" anchor="ctr"/>
            <a:lstStyle/>
            <a:p>
              <a:pPr algn="r"/>
              <a:r>
                <a:rPr lang="en-US" altLang="ja-JP" i="1" dirty="0"/>
                <a:t>clock</a:t>
              </a:r>
              <a:r>
                <a:rPr lang="en-US" altLang="ja-JP" dirty="0"/>
                <a:t> = 0</a:t>
              </a:r>
            </a:p>
          </p:txBody>
        </p:sp>
      </p:grpSp>
      <p:grpSp>
        <p:nvGrpSpPr>
          <p:cNvPr id="5" name="グループ化 4"/>
          <p:cNvGrpSpPr/>
          <p:nvPr/>
        </p:nvGrpSpPr>
        <p:grpSpPr>
          <a:xfrm>
            <a:off x="1871970" y="2528990"/>
            <a:ext cx="5400675" cy="1621452"/>
            <a:chOff x="1673205" y="4328498"/>
            <a:chExt cx="5400675" cy="1621452"/>
          </a:xfrm>
        </p:grpSpPr>
        <p:sp>
          <p:nvSpPr>
            <p:cNvPr id="700478" name="Freeform 62"/>
            <p:cNvSpPr>
              <a:spLocks/>
            </p:cNvSpPr>
            <p:nvPr/>
          </p:nvSpPr>
          <p:spPr bwMode="auto">
            <a:xfrm>
              <a:off x="2752705" y="4868863"/>
              <a:ext cx="1439862"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479" name="Freeform 63"/>
            <p:cNvSpPr>
              <a:spLocks/>
            </p:cNvSpPr>
            <p:nvPr/>
          </p:nvSpPr>
          <p:spPr bwMode="auto">
            <a:xfrm>
              <a:off x="4913292" y="4868863"/>
              <a:ext cx="1439863"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pic>
          <p:nvPicPr>
            <p:cNvPr id="700480" name="Picture 64" descr="NOT"/>
            <p:cNvPicPr>
              <a:picLocks noChangeAspect="1" noChangeArrowheads="1"/>
            </p:cNvPicPr>
            <p:nvPr/>
          </p:nvPicPr>
          <p:blipFill>
            <a:blip r:embed="rId3" cstate="print"/>
            <a:srcRect/>
            <a:stretch>
              <a:fillRect/>
            </a:stretch>
          </p:blipFill>
          <p:spPr bwMode="auto">
            <a:xfrm flipH="1">
              <a:off x="3113067" y="4508500"/>
              <a:ext cx="717550" cy="720725"/>
            </a:xfrm>
            <a:prstGeom prst="rect">
              <a:avLst/>
            </a:prstGeom>
            <a:noFill/>
          </p:spPr>
        </p:pic>
        <p:pic>
          <p:nvPicPr>
            <p:cNvPr id="700481" name="Picture 65" descr="NOT"/>
            <p:cNvPicPr>
              <a:picLocks noChangeAspect="1" noChangeArrowheads="1"/>
            </p:cNvPicPr>
            <p:nvPr/>
          </p:nvPicPr>
          <p:blipFill>
            <a:blip r:embed="rId3" cstate="print"/>
            <a:srcRect/>
            <a:stretch>
              <a:fillRect/>
            </a:stretch>
          </p:blipFill>
          <p:spPr bwMode="auto">
            <a:xfrm>
              <a:off x="3113067" y="5229225"/>
              <a:ext cx="717550" cy="720725"/>
            </a:xfrm>
            <a:prstGeom prst="rect">
              <a:avLst/>
            </a:prstGeom>
            <a:noFill/>
          </p:spPr>
        </p:pic>
        <p:pic>
          <p:nvPicPr>
            <p:cNvPr id="700482" name="Picture 66" descr="NOT"/>
            <p:cNvPicPr>
              <a:picLocks noChangeAspect="1" noChangeArrowheads="1"/>
            </p:cNvPicPr>
            <p:nvPr/>
          </p:nvPicPr>
          <p:blipFill>
            <a:blip r:embed="rId3" cstate="print"/>
            <a:srcRect/>
            <a:stretch>
              <a:fillRect/>
            </a:stretch>
          </p:blipFill>
          <p:spPr bwMode="auto">
            <a:xfrm flipH="1">
              <a:off x="5273655" y="4508500"/>
              <a:ext cx="717550" cy="720725"/>
            </a:xfrm>
            <a:prstGeom prst="rect">
              <a:avLst/>
            </a:prstGeom>
            <a:noFill/>
          </p:spPr>
        </p:pic>
        <p:pic>
          <p:nvPicPr>
            <p:cNvPr id="700483" name="Picture 67" descr="NOT"/>
            <p:cNvPicPr>
              <a:picLocks noChangeAspect="1" noChangeArrowheads="1"/>
            </p:cNvPicPr>
            <p:nvPr/>
          </p:nvPicPr>
          <p:blipFill>
            <a:blip r:embed="rId3" cstate="print"/>
            <a:srcRect/>
            <a:stretch>
              <a:fillRect/>
            </a:stretch>
          </p:blipFill>
          <p:spPr bwMode="auto">
            <a:xfrm>
              <a:off x="5273655" y="5229225"/>
              <a:ext cx="717550" cy="720725"/>
            </a:xfrm>
            <a:prstGeom prst="rect">
              <a:avLst/>
            </a:prstGeom>
            <a:noFill/>
          </p:spPr>
        </p:pic>
        <p:sp>
          <p:nvSpPr>
            <p:cNvPr id="700484" name="Line 68"/>
            <p:cNvSpPr>
              <a:spLocks noChangeShapeType="1"/>
            </p:cNvSpPr>
            <p:nvPr/>
          </p:nvSpPr>
          <p:spPr bwMode="auto">
            <a:xfrm>
              <a:off x="4192567" y="5589588"/>
              <a:ext cx="360363"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grpSp>
          <p:nvGrpSpPr>
            <p:cNvPr id="700485" name="Group 69"/>
            <p:cNvGrpSpPr>
              <a:grpSpLocks/>
            </p:cNvGrpSpPr>
            <p:nvPr/>
          </p:nvGrpSpPr>
          <p:grpSpPr bwMode="auto">
            <a:xfrm>
              <a:off x="4822805" y="5138738"/>
              <a:ext cx="180975" cy="180975"/>
              <a:chOff x="2823" y="1990"/>
              <a:chExt cx="227" cy="227"/>
            </a:xfrm>
          </p:grpSpPr>
          <p:sp>
            <p:nvSpPr>
              <p:cNvPr id="700486" name="Rectangle 7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87" name="Oval 7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88" name="Group 72"/>
            <p:cNvGrpSpPr>
              <a:grpSpLocks/>
            </p:cNvGrpSpPr>
            <p:nvPr/>
          </p:nvGrpSpPr>
          <p:grpSpPr bwMode="auto">
            <a:xfrm>
              <a:off x="4462442" y="5499100"/>
              <a:ext cx="180975" cy="180975"/>
              <a:chOff x="2823" y="1990"/>
              <a:chExt cx="227" cy="227"/>
            </a:xfrm>
          </p:grpSpPr>
          <p:sp>
            <p:nvSpPr>
              <p:cNvPr id="700489" name="Rectangle 73"/>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0" name="Oval 74"/>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1" name="Line 75"/>
            <p:cNvSpPr>
              <a:spLocks noChangeShapeType="1"/>
            </p:cNvSpPr>
            <p:nvPr/>
          </p:nvSpPr>
          <p:spPr bwMode="auto">
            <a:xfrm>
              <a:off x="2033567" y="5589588"/>
              <a:ext cx="360363" cy="0"/>
            </a:xfrm>
            <a:prstGeom prst="line">
              <a:avLst/>
            </a:prstGeom>
            <a:noFill/>
            <a:ln w="9525">
              <a:solidFill>
                <a:schemeClr val="tx1"/>
              </a:solidFill>
              <a:round/>
              <a:headEnd type="none" w="sm" len="sm"/>
              <a:tailEnd type="none" w="med" len="lg"/>
            </a:ln>
            <a:effectLst/>
          </p:spPr>
          <p:txBody>
            <a:bodyPr wrap="none" lIns="90000" tIns="46800" rIns="90000" bIns="46800" anchor="ctr"/>
            <a:lstStyle/>
            <a:p>
              <a:endParaRPr lang="ja-JP" altLang="en-US"/>
            </a:p>
          </p:txBody>
        </p:sp>
        <p:grpSp>
          <p:nvGrpSpPr>
            <p:cNvPr id="700492" name="Group 76"/>
            <p:cNvGrpSpPr>
              <a:grpSpLocks/>
            </p:cNvGrpSpPr>
            <p:nvPr/>
          </p:nvGrpSpPr>
          <p:grpSpPr bwMode="auto">
            <a:xfrm>
              <a:off x="2663805" y="5138738"/>
              <a:ext cx="180975" cy="180975"/>
              <a:chOff x="2823" y="1990"/>
              <a:chExt cx="227" cy="227"/>
            </a:xfrm>
          </p:grpSpPr>
          <p:sp>
            <p:nvSpPr>
              <p:cNvPr id="700493" name="Rectangle 7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4" name="Oval 7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95" name="Group 79"/>
            <p:cNvGrpSpPr>
              <a:grpSpLocks/>
            </p:cNvGrpSpPr>
            <p:nvPr/>
          </p:nvGrpSpPr>
          <p:grpSpPr bwMode="auto">
            <a:xfrm>
              <a:off x="2303442" y="5499100"/>
              <a:ext cx="180975" cy="180975"/>
              <a:chOff x="2823" y="1990"/>
              <a:chExt cx="227" cy="227"/>
            </a:xfrm>
          </p:grpSpPr>
          <p:sp>
            <p:nvSpPr>
              <p:cNvPr id="700496" name="Rectangle 8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7" name="Oval 8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8" name="Line 82"/>
            <p:cNvSpPr>
              <a:spLocks noChangeShapeType="1"/>
            </p:cNvSpPr>
            <p:nvPr/>
          </p:nvSpPr>
          <p:spPr bwMode="auto">
            <a:xfrm>
              <a:off x="6353155" y="5589588"/>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700499" name="Rectangle 83"/>
            <p:cNvSpPr>
              <a:spLocks noChangeArrowheads="1"/>
            </p:cNvSpPr>
            <p:nvPr/>
          </p:nvSpPr>
          <p:spPr bwMode="auto">
            <a:xfrm>
              <a:off x="1673205" y="5410200"/>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700500" name="Rectangle 84"/>
            <p:cNvSpPr>
              <a:spLocks noChangeArrowheads="1"/>
            </p:cNvSpPr>
            <p:nvPr/>
          </p:nvSpPr>
          <p:spPr bwMode="auto">
            <a:xfrm>
              <a:off x="6713517" y="5410200"/>
              <a:ext cx="360363" cy="360363"/>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700501" name="Line 85"/>
            <p:cNvSpPr>
              <a:spLocks noChangeShapeType="1"/>
            </p:cNvSpPr>
            <p:nvPr/>
          </p:nvSpPr>
          <p:spPr bwMode="auto">
            <a:xfrm flipH="1" flipV="1">
              <a:off x="2662217" y="5140325"/>
              <a:ext cx="90488" cy="449263"/>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502" name="Group 86"/>
            <p:cNvGrpSpPr>
              <a:grpSpLocks/>
            </p:cNvGrpSpPr>
            <p:nvPr/>
          </p:nvGrpSpPr>
          <p:grpSpPr bwMode="auto">
            <a:xfrm>
              <a:off x="2663805" y="5499100"/>
              <a:ext cx="180975" cy="180975"/>
              <a:chOff x="2823" y="1990"/>
              <a:chExt cx="227" cy="227"/>
            </a:xfrm>
          </p:grpSpPr>
          <p:sp>
            <p:nvSpPr>
              <p:cNvPr id="700503" name="Rectangle 8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4" name="Oval 8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505" name="Line 89"/>
            <p:cNvSpPr>
              <a:spLocks noChangeShapeType="1"/>
            </p:cNvSpPr>
            <p:nvPr/>
          </p:nvSpPr>
          <p:spPr bwMode="auto">
            <a:xfrm flipH="1" flipV="1">
              <a:off x="4462442" y="5499100"/>
              <a:ext cx="449263" cy="90488"/>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506" name="Group 90"/>
            <p:cNvGrpSpPr>
              <a:grpSpLocks/>
            </p:cNvGrpSpPr>
            <p:nvPr/>
          </p:nvGrpSpPr>
          <p:grpSpPr bwMode="auto">
            <a:xfrm>
              <a:off x="4822805" y="5499100"/>
              <a:ext cx="180975" cy="180975"/>
              <a:chOff x="2823" y="1990"/>
              <a:chExt cx="227" cy="227"/>
            </a:xfrm>
          </p:grpSpPr>
          <p:sp>
            <p:nvSpPr>
              <p:cNvPr id="700507" name="Rectangle 91"/>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8" name="Oval 92"/>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510" name="Rectangle 94"/>
            <p:cNvSpPr>
              <a:spLocks noChangeArrowheads="1"/>
            </p:cNvSpPr>
            <p:nvPr/>
          </p:nvSpPr>
          <p:spPr bwMode="auto">
            <a:xfrm>
              <a:off x="4013231" y="4328498"/>
              <a:ext cx="1081087" cy="360362"/>
            </a:xfrm>
            <a:prstGeom prst="rect">
              <a:avLst/>
            </a:prstGeom>
            <a:noFill/>
            <a:ln w="12700" algn="ctr">
              <a:noFill/>
              <a:miter lim="800000"/>
              <a:headEnd/>
              <a:tailEnd/>
            </a:ln>
            <a:effectLst/>
          </p:spPr>
          <p:txBody>
            <a:bodyPr wrap="none" lIns="90000" tIns="46800" rIns="90000" bIns="46800" anchor="ctr"/>
            <a:lstStyle/>
            <a:p>
              <a:pPr algn="r"/>
              <a:r>
                <a:rPr lang="en-US" altLang="ja-JP" i="1" dirty="0"/>
                <a:t>clock</a:t>
              </a:r>
              <a:r>
                <a:rPr lang="en-US" altLang="ja-JP" dirty="0"/>
                <a:t> = 1</a:t>
              </a:r>
            </a:p>
          </p:txBody>
        </p:sp>
      </p:grpSp>
      <p:grpSp>
        <p:nvGrpSpPr>
          <p:cNvPr id="700516" name="Group 100"/>
          <p:cNvGrpSpPr>
            <a:grpSpLocks/>
          </p:cNvGrpSpPr>
          <p:nvPr/>
        </p:nvGrpSpPr>
        <p:grpSpPr bwMode="auto">
          <a:xfrm>
            <a:off x="8262041" y="4689014"/>
            <a:ext cx="358775" cy="360362"/>
            <a:chOff x="159" y="2500"/>
            <a:chExt cx="226" cy="227"/>
          </a:xfrm>
        </p:grpSpPr>
        <p:sp>
          <p:nvSpPr>
            <p:cNvPr id="700511" name="Freeform 95"/>
            <p:cNvSpPr>
              <a:spLocks/>
            </p:cNvSpPr>
            <p:nvPr/>
          </p:nvSpPr>
          <p:spPr bwMode="auto">
            <a:xfrm>
              <a:off x="159" y="2500"/>
              <a:ext cx="113" cy="227"/>
            </a:xfrm>
            <a:custGeom>
              <a:avLst/>
              <a:gdLst/>
              <a:ahLst/>
              <a:cxnLst>
                <a:cxn ang="0">
                  <a:pos x="0" y="227"/>
                </a:cxn>
                <a:cxn ang="0">
                  <a:pos x="113" y="227"/>
                </a:cxn>
                <a:cxn ang="0">
                  <a:pos x="113" y="0"/>
                </a:cxn>
              </a:cxnLst>
              <a:rect l="0" t="0" r="r" b="b"/>
              <a:pathLst>
                <a:path w="113" h="227">
                  <a:moveTo>
                    <a:pt x="0" y="227"/>
                  </a:moveTo>
                  <a:lnTo>
                    <a:pt x="113" y="227"/>
                  </a:lnTo>
                  <a:lnTo>
                    <a:pt x="113" y="0"/>
                  </a:lnTo>
                </a:path>
              </a:pathLst>
            </a:custGeom>
            <a:noFill/>
            <a:ln w="9525" cap="flat" cmpd="sng">
              <a:solidFill>
                <a:schemeClr val="tx1"/>
              </a:solidFill>
              <a:prstDash val="solid"/>
              <a:round/>
              <a:headEnd type="none" w="med" len="med"/>
              <a:tailEnd type="stealth" w="med" len="lg"/>
            </a:ln>
            <a:effectLst/>
          </p:spPr>
          <p:txBody>
            <a:bodyPr wrap="none" lIns="90000" tIns="46800" rIns="90000" bIns="46800" anchor="ctr"/>
            <a:lstStyle/>
            <a:p>
              <a:endParaRPr lang="ja-JP" altLang="en-US"/>
            </a:p>
          </p:txBody>
        </p:sp>
        <p:sp>
          <p:nvSpPr>
            <p:cNvPr id="700512" name="Line 96"/>
            <p:cNvSpPr>
              <a:spLocks noChangeShapeType="1"/>
            </p:cNvSpPr>
            <p:nvPr/>
          </p:nvSpPr>
          <p:spPr bwMode="auto">
            <a:xfrm>
              <a:off x="272" y="2500"/>
              <a:ext cx="113"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a:p>
          </p:txBody>
        </p:sp>
      </p:grpSp>
      <p:sp>
        <p:nvSpPr>
          <p:cNvPr id="700513" name="Freeform 97"/>
          <p:cNvSpPr>
            <a:spLocks/>
          </p:cNvSpPr>
          <p:nvPr/>
        </p:nvSpPr>
        <p:spPr bwMode="auto">
          <a:xfrm flipV="1">
            <a:off x="701957" y="4869016"/>
            <a:ext cx="360362" cy="360363"/>
          </a:xfrm>
          <a:custGeom>
            <a:avLst/>
            <a:gdLst/>
            <a:ahLst/>
            <a:cxnLst>
              <a:cxn ang="0">
                <a:pos x="0" y="227"/>
              </a:cxn>
              <a:cxn ang="0">
                <a:pos x="114" y="227"/>
              </a:cxn>
              <a:cxn ang="0">
                <a:pos x="114" y="0"/>
              </a:cxn>
              <a:cxn ang="0">
                <a:pos x="227" y="0"/>
              </a:cxn>
            </a:cxnLst>
            <a:rect l="0" t="0" r="r" b="b"/>
            <a:pathLst>
              <a:path w="227" h="227">
                <a:moveTo>
                  <a:pt x="0" y="227"/>
                </a:moveTo>
                <a:lnTo>
                  <a:pt x="114" y="227"/>
                </a:lnTo>
                <a:lnTo>
                  <a:pt x="114" y="0"/>
                </a:lnTo>
                <a:lnTo>
                  <a:pt x="227" y="0"/>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514" name="AutoShape 98"/>
          <p:cNvSpPr>
            <a:spLocks noChangeArrowheads="1"/>
          </p:cNvSpPr>
          <p:nvPr/>
        </p:nvSpPr>
        <p:spPr bwMode="auto">
          <a:xfrm>
            <a:off x="1331964" y="4149008"/>
            <a:ext cx="539750" cy="1709737"/>
          </a:xfrm>
          <a:prstGeom prst="curvedRightArrow">
            <a:avLst>
              <a:gd name="adj1" fmla="val 63353"/>
              <a:gd name="adj2" fmla="val 126706"/>
              <a:gd name="adj3" fmla="val 33333"/>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0000" tIns="46800" rIns="90000" bIns="46800" anchor="ctr"/>
          <a:lstStyle/>
          <a:p>
            <a:endParaRPr lang="ja-JP" altLang="en-US"/>
          </a:p>
        </p:txBody>
      </p:sp>
      <p:sp>
        <p:nvSpPr>
          <p:cNvPr id="700515" name="AutoShape 99"/>
          <p:cNvSpPr>
            <a:spLocks noChangeArrowheads="1"/>
          </p:cNvSpPr>
          <p:nvPr/>
        </p:nvSpPr>
        <p:spPr bwMode="auto">
          <a:xfrm rot="-10800000">
            <a:off x="7452032" y="4059007"/>
            <a:ext cx="539750" cy="1709738"/>
          </a:xfrm>
          <a:prstGeom prst="curvedRightArrow">
            <a:avLst>
              <a:gd name="adj1" fmla="val 63353"/>
              <a:gd name="adj2" fmla="val 126706"/>
              <a:gd name="adj3" fmla="val 33333"/>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0000" tIns="46800" rIns="90000" bIns="46800" anchor="ctr"/>
          <a:lstStyle/>
          <a:p>
            <a:endParaRPr lang="ja-JP" altLang="en-US"/>
          </a:p>
        </p:txBody>
      </p:sp>
      <p:sp>
        <p:nvSpPr>
          <p:cNvPr id="4" name="スライド番号プレースホルダー 3"/>
          <p:cNvSpPr>
            <a:spLocks noGrp="1"/>
          </p:cNvSpPr>
          <p:nvPr>
            <p:ph type="sldNum" sz="quarter" idx="4294967295"/>
          </p:nvPr>
        </p:nvSpPr>
        <p:spPr>
          <a:xfrm>
            <a:off x="8712552" y="6399396"/>
            <a:ext cx="360048" cy="360048"/>
          </a:xfrm>
          <a:prstGeom prst="rect">
            <a:avLst/>
          </a:prstGeom>
        </p:spPr>
        <p:txBody>
          <a:bodyPr/>
          <a:lstStyle/>
          <a:p>
            <a:fld id="{B99B8E25-FC55-4448-A609-32D724F2B374}" type="slidenum">
              <a:rPr lang="ja-JP" altLang="en-US" smtClean="0"/>
              <a:pPr/>
              <a:t>90</a:t>
            </a:fld>
            <a:endParaRPr lang="ja-JP" altLang="en-US"/>
          </a:p>
        </p:txBody>
      </p:sp>
      <p:sp>
        <p:nvSpPr>
          <p:cNvPr id="75" name="Rectangle 5"/>
          <p:cNvSpPr txBox="1">
            <a:spLocks noChangeArrowheads="1"/>
          </p:cNvSpPr>
          <p:nvPr/>
        </p:nvSpPr>
        <p:spPr>
          <a:xfrm>
            <a:off x="701957" y="1358977"/>
            <a:ext cx="8281219" cy="630844"/>
          </a:xfrm>
          <a:prstGeom prst="rect">
            <a:avLst/>
          </a:prstGeom>
        </p:spPr>
        <p:txBody>
          <a:bodyPr anchor="ct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kern="0" dirty="0"/>
              <a:t>マルチプレクサを，切り替えスイッチとして説明</a:t>
            </a:r>
          </a:p>
          <a:p>
            <a:pPr lvl="1"/>
            <a:r>
              <a:rPr lang="ja-JP" altLang="en-US" kern="0" dirty="0"/>
              <a:t>クロックの立ち上がりのたびに，</a:t>
            </a:r>
            <a:r>
              <a:rPr lang="en-US" altLang="ja-JP" i="1" kern="0" dirty="0"/>
              <a:t>d</a:t>
            </a:r>
            <a:r>
              <a:rPr lang="ja-JP" altLang="en-US" kern="0" dirty="0"/>
              <a:t> の値がサンプリングされる</a:t>
            </a:r>
            <a:endParaRPr lang="en-US" altLang="ja-JP" kern="0" dirty="0"/>
          </a:p>
          <a:p>
            <a:pPr lvl="1"/>
            <a:r>
              <a:rPr lang="ja-JP" altLang="en-US" kern="0" dirty="0"/>
              <a:t>その値が次のサイクルの間 </a:t>
            </a:r>
            <a:r>
              <a:rPr lang="en-US" altLang="ja-JP" i="1" kern="0" dirty="0"/>
              <a:t>q</a:t>
            </a:r>
            <a:r>
              <a:rPr lang="ja-JP" altLang="en-US" kern="0" dirty="0"/>
              <a:t> から出力される</a:t>
            </a:r>
            <a:endParaRPr lang="en-US" altLang="ja-JP" kern="0" dirty="0"/>
          </a:p>
        </p:txBody>
      </p:sp>
      <p:sp>
        <p:nvSpPr>
          <p:cNvPr id="77" name="Rectangle 93"/>
          <p:cNvSpPr>
            <a:spLocks noChangeArrowheads="1"/>
          </p:cNvSpPr>
          <p:nvPr/>
        </p:nvSpPr>
        <p:spPr bwMode="auto">
          <a:xfrm>
            <a:off x="7362031" y="3609002"/>
            <a:ext cx="1081087" cy="360362"/>
          </a:xfrm>
          <a:prstGeom prst="rect">
            <a:avLst/>
          </a:prstGeom>
          <a:noFill/>
          <a:ln w="12700" algn="ctr">
            <a:noFill/>
            <a:miter lim="800000"/>
            <a:headEnd/>
            <a:tailEnd/>
          </a:ln>
          <a:effectLst/>
        </p:spPr>
        <p:txBody>
          <a:bodyPr wrap="none" lIns="90000" tIns="46800" rIns="90000" bIns="46800" anchor="ctr"/>
          <a:lstStyle/>
          <a:p>
            <a:r>
              <a:rPr lang="ja-JP" altLang="en-US" dirty="0"/>
              <a:t>立ち上がり</a:t>
            </a:r>
            <a:endParaRPr lang="en-US" altLang="ja-JP" dirty="0"/>
          </a:p>
        </p:txBody>
      </p:sp>
      <p:sp>
        <p:nvSpPr>
          <p:cNvPr id="78" name="Rectangle 93"/>
          <p:cNvSpPr>
            <a:spLocks noChangeArrowheads="1"/>
          </p:cNvSpPr>
          <p:nvPr/>
        </p:nvSpPr>
        <p:spPr bwMode="auto">
          <a:xfrm>
            <a:off x="341953" y="5859027"/>
            <a:ext cx="1081087" cy="360362"/>
          </a:xfrm>
          <a:prstGeom prst="rect">
            <a:avLst/>
          </a:prstGeom>
          <a:noFill/>
          <a:ln w="12700" algn="ctr">
            <a:noFill/>
            <a:miter lim="800000"/>
            <a:headEnd/>
            <a:tailEnd/>
          </a:ln>
          <a:effectLst/>
        </p:spPr>
        <p:txBody>
          <a:bodyPr wrap="none" lIns="90000" tIns="46800" rIns="90000" bIns="46800" anchor="ctr"/>
          <a:lstStyle/>
          <a:p>
            <a:r>
              <a:rPr lang="ja-JP" altLang="en-US" dirty="0"/>
              <a:t>立ち下がり</a:t>
            </a:r>
            <a:endParaRPr lang="en-US" altLang="ja-JP" dirty="0"/>
          </a:p>
        </p:txBody>
      </p:sp>
    </p:spTree>
    <p:extLst>
      <p:ext uri="{BB962C8B-B14F-4D97-AF65-F5344CB8AC3E}">
        <p14:creationId xmlns:p14="http://schemas.microsoft.com/office/powerpoint/2010/main" val="131568287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61619-BE34-1B09-DA05-ACEBB43092B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C5C63D1-B497-D513-F377-285CC40A48DD}"/>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9D94BE0B-BDB3-DF86-0339-FC8F73241B1E}"/>
              </a:ext>
            </a:extLst>
          </p:cNvPr>
          <p:cNvSpPr>
            <a:spLocks noGrp="1"/>
          </p:cNvSpPr>
          <p:nvPr>
            <p:ph sz="quarter" idx="10"/>
          </p:nvPr>
        </p:nvSpPr>
        <p:spPr/>
        <p:txBody>
          <a:bodyPr/>
          <a:lstStyle/>
          <a:p>
            <a:r>
              <a:rPr kumimoji="1" lang="en-US" altLang="ja-JP" dirty="0"/>
              <a:t>XOR</a:t>
            </a:r>
            <a:r>
              <a:rPr kumimoji="1" lang="ja-JP" altLang="en-US" dirty="0"/>
              <a:t>がなぜあるのかわからないです、、</a:t>
            </a:r>
            <a:br>
              <a:rPr kumimoji="1" lang="en-US" altLang="ja-JP" dirty="0"/>
            </a:br>
            <a:r>
              <a:rPr kumimoji="1" lang="en-US" altLang="ja-JP" dirty="0"/>
              <a:t>AND ,OR ,NOT</a:t>
            </a:r>
            <a:r>
              <a:rPr kumimoji="1" lang="ja-JP" altLang="en-US" dirty="0"/>
              <a:t>があれば演算はできると思うのですが、なぜ</a:t>
            </a:r>
            <a:r>
              <a:rPr kumimoji="1" lang="en-US" altLang="ja-JP" dirty="0"/>
              <a:t>XOR</a:t>
            </a:r>
            <a:r>
              <a:rPr kumimoji="1" lang="ja-JP" altLang="en-US" dirty="0"/>
              <a:t>が必要なのでしょうか。</a:t>
            </a:r>
            <a:endParaRPr kumimoji="1" lang="en-US" dirty="0"/>
          </a:p>
        </p:txBody>
      </p:sp>
    </p:spTree>
    <p:extLst>
      <p:ext uri="{BB962C8B-B14F-4D97-AF65-F5344CB8AC3E}">
        <p14:creationId xmlns:p14="http://schemas.microsoft.com/office/powerpoint/2010/main" val="277722423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D731F-F09E-1575-07E7-67EF18A665C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4B785BA-7B3B-39E8-8184-11500A88699D}"/>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62341D7B-A542-4953-418E-3A9E484D83DD}"/>
              </a:ext>
            </a:extLst>
          </p:cNvPr>
          <p:cNvSpPr>
            <a:spLocks noGrp="1"/>
          </p:cNvSpPr>
          <p:nvPr>
            <p:ph sz="quarter" idx="10"/>
          </p:nvPr>
        </p:nvSpPr>
        <p:spPr/>
        <p:txBody>
          <a:bodyPr/>
          <a:lstStyle/>
          <a:p>
            <a:r>
              <a:rPr kumimoji="1" lang="ja-JP" altLang="en-US" dirty="0"/>
              <a:t>現在キャッシュレスが進んでいるので、</a:t>
            </a:r>
            <a:r>
              <a:rPr kumimoji="1" lang="en-US" altLang="ja-JP" dirty="0"/>
              <a:t>BCD</a:t>
            </a:r>
            <a:r>
              <a:rPr kumimoji="1" lang="ja-JP" altLang="en-US" dirty="0"/>
              <a:t>は電子マネーでも使われているのかもしれないと思いました。日常的には使う機会がなさそうですが、お金の計算の場面では使いやすいだろうと思いました。</a:t>
            </a:r>
            <a:endParaRPr kumimoji="1" lang="en-US" dirty="0"/>
          </a:p>
        </p:txBody>
      </p:sp>
    </p:spTree>
    <p:extLst>
      <p:ext uri="{BB962C8B-B14F-4D97-AF65-F5344CB8AC3E}">
        <p14:creationId xmlns:p14="http://schemas.microsoft.com/office/powerpoint/2010/main" val="26362009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D17A3-871A-DBC2-949D-DC201D0B011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B6710AB-0BC6-1661-6D31-44EB67FEEC73}"/>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F55BCD67-EF70-9F62-E495-01A7C27D279E}"/>
              </a:ext>
            </a:extLst>
          </p:cNvPr>
          <p:cNvSpPr>
            <a:spLocks noGrp="1"/>
          </p:cNvSpPr>
          <p:nvPr>
            <p:ph sz="quarter" idx="10"/>
          </p:nvPr>
        </p:nvSpPr>
        <p:spPr/>
        <p:txBody>
          <a:bodyPr/>
          <a:lstStyle/>
          <a:p>
            <a:r>
              <a:rPr kumimoji="1" lang="en-US" altLang="ja-JP" dirty="0"/>
              <a:t>CPU</a:t>
            </a:r>
            <a:r>
              <a:rPr kumimoji="1" lang="ja-JP" altLang="en-US" dirty="0"/>
              <a:t>が電圧の大中小を区別できたとして、</a:t>
            </a:r>
            <a:r>
              <a:rPr kumimoji="1" lang="en-US" altLang="ja-JP" dirty="0"/>
              <a:t>2</a:t>
            </a:r>
            <a:r>
              <a:rPr kumimoji="1" lang="ja-JP" altLang="en-US" dirty="0"/>
              <a:t>進数ベースでないコンピューターを作ることはできるんですか？</a:t>
            </a:r>
            <a:endParaRPr kumimoji="1" lang="en-US" dirty="0"/>
          </a:p>
        </p:txBody>
      </p:sp>
    </p:spTree>
    <p:extLst>
      <p:ext uri="{BB962C8B-B14F-4D97-AF65-F5344CB8AC3E}">
        <p14:creationId xmlns:p14="http://schemas.microsoft.com/office/powerpoint/2010/main" val="70956873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094DD-440A-7AB6-32B6-2D1EB37A98A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62C051C-9986-DD05-BB32-7F798E6526BF}"/>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5BE81A3D-2942-9431-D94D-9B9DDB53D949}"/>
              </a:ext>
            </a:extLst>
          </p:cNvPr>
          <p:cNvSpPr>
            <a:spLocks noGrp="1"/>
          </p:cNvSpPr>
          <p:nvPr>
            <p:ph sz="quarter" idx="10"/>
          </p:nvPr>
        </p:nvSpPr>
        <p:spPr/>
        <p:txBody>
          <a:bodyPr/>
          <a:lstStyle/>
          <a:p>
            <a:r>
              <a:rPr kumimoji="1" lang="ja-JP" altLang="en-US" dirty="0"/>
              <a:t>電圧が「高い」→１、「低い」→０が多数だと思うのですが、逆になる場合はどのような時なのでしょうか。また、他のものと０と１の割り当てを逆にしたことで悪影響があったりはしないのでしょうか。（実行時の動作が逆になるなど）</a:t>
            </a:r>
            <a:endParaRPr kumimoji="1" lang="en-US" dirty="0"/>
          </a:p>
        </p:txBody>
      </p:sp>
    </p:spTree>
    <p:extLst>
      <p:ext uri="{BB962C8B-B14F-4D97-AF65-F5344CB8AC3E}">
        <p14:creationId xmlns:p14="http://schemas.microsoft.com/office/powerpoint/2010/main" val="15889152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E05B4-758C-9482-0202-82FF5876507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00B135F-8D28-5058-8BC0-0E142B071430}"/>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9E169718-F462-EF4A-925C-5945EC094894}"/>
              </a:ext>
            </a:extLst>
          </p:cNvPr>
          <p:cNvSpPr>
            <a:spLocks noGrp="1"/>
          </p:cNvSpPr>
          <p:nvPr>
            <p:ph sz="quarter" idx="10"/>
          </p:nvPr>
        </p:nvSpPr>
        <p:spPr/>
        <p:txBody>
          <a:bodyPr/>
          <a:lstStyle/>
          <a:p>
            <a:r>
              <a:rPr kumimoji="1" lang="ja-JP" altLang="en-US" dirty="0"/>
              <a:t>１６進数の</a:t>
            </a:r>
            <a:r>
              <a:rPr kumimoji="1" lang="en-US" altLang="ja-JP" dirty="0" err="1"/>
              <a:t>a~f</a:t>
            </a:r>
            <a:r>
              <a:rPr kumimoji="1" lang="ja-JP" altLang="en-US" dirty="0"/>
              <a:t>は大文字と小文字のどちらでもいいのでしょうか。</a:t>
            </a:r>
            <a:endParaRPr kumimoji="1" lang="en-US" dirty="0"/>
          </a:p>
        </p:txBody>
      </p:sp>
    </p:spTree>
    <p:extLst>
      <p:ext uri="{BB962C8B-B14F-4D97-AF65-F5344CB8AC3E}">
        <p14:creationId xmlns:p14="http://schemas.microsoft.com/office/powerpoint/2010/main" val="90083625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BEE729-480C-0E97-F497-282BB5ACDD2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DACE69F-F4CD-A522-ECAA-667C8E6E48E8}"/>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75FB12D5-11A5-C001-B578-9D70BAB2C79C}"/>
              </a:ext>
            </a:extLst>
          </p:cNvPr>
          <p:cNvSpPr>
            <a:spLocks noGrp="1"/>
          </p:cNvSpPr>
          <p:nvPr>
            <p:ph sz="quarter" idx="10"/>
          </p:nvPr>
        </p:nvSpPr>
        <p:spPr/>
        <p:txBody>
          <a:bodyPr/>
          <a:lstStyle/>
          <a:p>
            <a:r>
              <a:rPr kumimoji="1" lang="ja-JP" altLang="en-US" dirty="0"/>
              <a:t>完全集合の要素を組み合わせれば全ての論理関数を表現できるということでしたが、完全集合の例にあった </a:t>
            </a:r>
            <a:r>
              <a:rPr kumimoji="1" lang="en-US" altLang="ja-JP" dirty="0"/>
              <a:t>{NAND}</a:t>
            </a:r>
            <a:r>
              <a:rPr kumimoji="1" lang="ja-JP" altLang="en-US" dirty="0"/>
              <a:t>や </a:t>
            </a:r>
            <a:r>
              <a:rPr kumimoji="1" lang="en-US" altLang="ja-JP" dirty="0"/>
              <a:t>{NOR}</a:t>
            </a:r>
            <a:r>
              <a:rPr kumimoji="1" lang="ja-JP" altLang="en-US" dirty="0"/>
              <a:t>はそれだけで全ての論理関数を表現できるということでしょうか？</a:t>
            </a:r>
            <a:endParaRPr kumimoji="1" lang="en-US" dirty="0"/>
          </a:p>
        </p:txBody>
      </p:sp>
    </p:spTree>
    <p:extLst>
      <p:ext uri="{BB962C8B-B14F-4D97-AF65-F5344CB8AC3E}">
        <p14:creationId xmlns:p14="http://schemas.microsoft.com/office/powerpoint/2010/main" val="72374079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479F1-79A7-F2EE-A250-3526B7095C6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4B79B63-AA21-9370-7B9E-95BB1AFA324C}"/>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F0C075DE-A03A-772A-4D53-A2056E7F273C}"/>
              </a:ext>
            </a:extLst>
          </p:cNvPr>
          <p:cNvSpPr>
            <a:spLocks noGrp="1"/>
          </p:cNvSpPr>
          <p:nvPr>
            <p:ph sz="quarter" idx="10"/>
          </p:nvPr>
        </p:nvSpPr>
        <p:spPr/>
        <p:txBody>
          <a:bodyPr/>
          <a:lstStyle/>
          <a:p>
            <a:r>
              <a:rPr kumimoji="1" lang="ja-JP" altLang="en-US" dirty="0"/>
              <a:t>完全集合の例に、</a:t>
            </a:r>
            <a:r>
              <a:rPr kumimoji="1" lang="en-US" altLang="ja-JP" dirty="0"/>
              <a:t>5</a:t>
            </a:r>
            <a:r>
              <a:rPr kumimoji="1" lang="ja-JP" altLang="en-US" dirty="0"/>
              <a:t>つの集合があがっていましたが、組み合わせ回路や順序回路を作る際に、どの完全集合の要素の組み合わせを使うのかを決める基準のようなものはあるのでしょうか。また、よく使われるのは</a:t>
            </a:r>
            <a:r>
              <a:rPr kumimoji="1" lang="en-US" altLang="ja-JP" dirty="0"/>
              <a:t>{AND, OR, NOT}</a:t>
            </a:r>
            <a:r>
              <a:rPr kumimoji="1" lang="ja-JP" altLang="en-US" dirty="0"/>
              <a:t>なのでしょうか。</a:t>
            </a:r>
            <a:endParaRPr kumimoji="1" lang="en-US" dirty="0"/>
          </a:p>
        </p:txBody>
      </p:sp>
    </p:spTree>
    <p:extLst>
      <p:ext uri="{BB962C8B-B14F-4D97-AF65-F5344CB8AC3E}">
        <p14:creationId xmlns:p14="http://schemas.microsoft.com/office/powerpoint/2010/main" val="426816041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6D9711-399E-34DF-62EA-74B91C9EEDB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145EA1-0DAE-EBD6-9821-82783AF223CA}"/>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27933C97-67EC-824A-C888-24B3100B86E4}"/>
              </a:ext>
            </a:extLst>
          </p:cNvPr>
          <p:cNvSpPr>
            <a:spLocks noGrp="1"/>
          </p:cNvSpPr>
          <p:nvPr>
            <p:ph sz="quarter" idx="10"/>
          </p:nvPr>
        </p:nvSpPr>
        <p:spPr/>
        <p:txBody>
          <a:bodyPr/>
          <a:lstStyle/>
          <a:p>
            <a:r>
              <a:rPr kumimoji="1" lang="ja-JP" altLang="en-US" dirty="0"/>
              <a:t>原理的には完全集合の要素を組み合わせに落とし込める、とありましたが、原理的にはということは、実際には落とし込めないこともあるのでしょうか？もしあるのでしたら、具体例を知りたいです。</a:t>
            </a:r>
            <a:endParaRPr kumimoji="1" lang="en-US" dirty="0"/>
          </a:p>
        </p:txBody>
      </p:sp>
    </p:spTree>
    <p:extLst>
      <p:ext uri="{BB962C8B-B14F-4D97-AF65-F5344CB8AC3E}">
        <p14:creationId xmlns:p14="http://schemas.microsoft.com/office/powerpoint/2010/main" val="182403539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436960-AB32-C0F4-4B91-AFD170F996A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07C729F-143E-B0AE-FE83-0812BE149763}"/>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B5B99CBA-C697-382D-24DD-D0F4846E9303}"/>
              </a:ext>
            </a:extLst>
          </p:cNvPr>
          <p:cNvSpPr>
            <a:spLocks noGrp="1"/>
          </p:cNvSpPr>
          <p:nvPr>
            <p:ph sz="quarter" idx="10"/>
          </p:nvPr>
        </p:nvSpPr>
        <p:spPr/>
        <p:txBody>
          <a:bodyPr/>
          <a:lstStyle/>
          <a:p>
            <a:r>
              <a:rPr kumimoji="1" lang="ja-JP" altLang="en-US" dirty="0"/>
              <a:t>一方で、順序回路では、記憶素子の原理の理解が難しかったです。各ループに入っているマルチプレクサがどのような役割を果たすのかがあまりよく理解できませんでした。</a:t>
            </a:r>
            <a:endParaRPr kumimoji="1" lang="en-US" dirty="0"/>
          </a:p>
        </p:txBody>
      </p:sp>
    </p:spTree>
    <p:extLst>
      <p:ext uri="{BB962C8B-B14F-4D97-AF65-F5344CB8AC3E}">
        <p14:creationId xmlns:p14="http://schemas.microsoft.com/office/powerpoint/2010/main" val="15914527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9C0129-51CC-35AA-ABD6-319D0018BDC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00632D6-1C1F-44D9-87C9-B0BA3D43F79E}"/>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24945F01-56A1-9DD7-57E6-4FB37AB904D0}"/>
              </a:ext>
            </a:extLst>
          </p:cNvPr>
          <p:cNvSpPr>
            <a:spLocks noGrp="1"/>
          </p:cNvSpPr>
          <p:nvPr>
            <p:ph sz="quarter" idx="10"/>
          </p:nvPr>
        </p:nvSpPr>
        <p:spPr/>
        <p:txBody>
          <a:bodyPr/>
          <a:lstStyle/>
          <a:p>
            <a:r>
              <a:rPr kumimoji="1" lang="ja-JP" altLang="en-US" dirty="0"/>
              <a:t>前回の課題についての質問なのですが、解答例で「</a:t>
            </a:r>
            <a:r>
              <a:rPr kumimoji="1" lang="en-US" altLang="ja-JP" dirty="0"/>
              <a:t>LABEL:</a:t>
            </a:r>
            <a:r>
              <a:rPr kumimoji="1" lang="ja-JP" altLang="en-US" dirty="0"/>
              <a:t>」の行だけ他の行よりも左に飛び出ているのは何か意味があるのでしょうか。またそのように入力する場合は他の行を右にずらすしかないのでしょうか。</a:t>
            </a:r>
            <a:endParaRPr kumimoji="1" lang="en-US" altLang="ja-JP" dirty="0"/>
          </a:p>
          <a:p>
            <a:endParaRPr lang="en-US" dirty="0"/>
          </a:p>
          <a:p>
            <a:pPr lvl="1"/>
            <a:r>
              <a:rPr kumimoji="1" lang="ja-JP" altLang="en-US" dirty="0"/>
              <a:t>プログラムでインデントをするようなもので，見やすくするためです</a:t>
            </a:r>
            <a:endParaRPr kumimoji="1" lang="en-US" dirty="0"/>
          </a:p>
        </p:txBody>
      </p:sp>
    </p:spTree>
    <p:extLst>
      <p:ext uri="{BB962C8B-B14F-4D97-AF65-F5344CB8AC3E}">
        <p14:creationId xmlns:p14="http://schemas.microsoft.com/office/powerpoint/2010/main" val="265276430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0937A-6086-D8A3-4E0E-D16801D45A8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012DFE7-EB54-C60F-5749-35706B3EB967}"/>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CC575F4C-A2DF-BC2E-C000-7EB5DB2EB1BD}"/>
              </a:ext>
            </a:extLst>
          </p:cNvPr>
          <p:cNvSpPr>
            <a:spLocks noGrp="1"/>
          </p:cNvSpPr>
          <p:nvPr>
            <p:ph sz="quarter" idx="10"/>
          </p:nvPr>
        </p:nvSpPr>
        <p:spPr/>
        <p:txBody>
          <a:bodyPr/>
          <a:lstStyle/>
          <a:p>
            <a:r>
              <a:rPr kumimoji="1" lang="ja-JP" altLang="en-US" dirty="0"/>
              <a:t>講義資料の</a:t>
            </a:r>
            <a:r>
              <a:rPr kumimoji="1" lang="en-US" altLang="ja-JP" dirty="0"/>
              <a:t>23</a:t>
            </a:r>
            <a:r>
              <a:rPr kumimoji="1" lang="ja-JP" altLang="en-US" dirty="0"/>
              <a:t>ページで</a:t>
            </a:r>
            <a:r>
              <a:rPr kumimoji="1" lang="en-US" altLang="ja-JP" dirty="0"/>
              <a:t>C</a:t>
            </a:r>
            <a:r>
              <a:rPr kumimoji="1" lang="ja-JP" altLang="en-US" dirty="0"/>
              <a:t>言語における</a:t>
            </a:r>
            <a:r>
              <a:rPr kumimoji="1" lang="en-US" altLang="ja-JP" dirty="0"/>
              <a:t>10,2,16</a:t>
            </a:r>
            <a:r>
              <a:rPr kumimoji="1" lang="ja-JP" altLang="en-US" dirty="0"/>
              <a:t>進数の表記方法について触れられていましたが、なぜ</a:t>
            </a:r>
            <a:r>
              <a:rPr kumimoji="1" lang="en-US" altLang="ja-JP" dirty="0"/>
              <a:t>2</a:t>
            </a:r>
            <a:r>
              <a:rPr kumimoji="1" lang="ja-JP" altLang="en-US" dirty="0"/>
              <a:t>進数や</a:t>
            </a:r>
            <a:r>
              <a:rPr kumimoji="1" lang="en-US" altLang="ja-JP" dirty="0"/>
              <a:t>16</a:t>
            </a:r>
            <a:r>
              <a:rPr kumimoji="1" lang="ja-JP" altLang="en-US" dirty="0"/>
              <a:t>進数の先頭につけるのがアルファベットだけ</a:t>
            </a:r>
            <a:r>
              <a:rPr kumimoji="1" lang="en-US" altLang="ja-JP" dirty="0"/>
              <a:t>(2</a:t>
            </a:r>
            <a:r>
              <a:rPr kumimoji="1" lang="ja-JP" altLang="en-US" dirty="0"/>
              <a:t>進数なら</a:t>
            </a:r>
            <a:r>
              <a:rPr kumimoji="1" lang="en-US" altLang="ja-JP" dirty="0"/>
              <a:t>b,16</a:t>
            </a:r>
            <a:r>
              <a:rPr kumimoji="1" lang="ja-JP" altLang="en-US" dirty="0"/>
              <a:t>進数なら</a:t>
            </a:r>
            <a:r>
              <a:rPr kumimoji="1" lang="en-US" altLang="ja-JP" dirty="0"/>
              <a:t>x)</a:t>
            </a:r>
            <a:r>
              <a:rPr kumimoji="1" lang="ja-JP" altLang="en-US" dirty="0"/>
              <a:t>でないのか気になりました。先頭が何らかの数値</a:t>
            </a:r>
            <a:r>
              <a:rPr kumimoji="1" lang="en-US" altLang="ja-JP" dirty="0"/>
              <a:t>(</a:t>
            </a:r>
            <a:r>
              <a:rPr kumimoji="1" lang="ja-JP" altLang="en-US" dirty="0"/>
              <a:t>この場合は</a:t>
            </a:r>
            <a:r>
              <a:rPr kumimoji="1" lang="en-US" altLang="ja-JP" dirty="0"/>
              <a:t>0)</a:t>
            </a:r>
            <a:r>
              <a:rPr kumimoji="1" lang="ja-JP" altLang="en-US" dirty="0"/>
              <a:t>でないと、その後に続くデータが数値なのか文字列なのか判別しづらくなってしまうためだったりしますか？</a:t>
            </a:r>
            <a:endParaRPr kumimoji="1" lang="en-US" altLang="ja-JP" dirty="0"/>
          </a:p>
          <a:p>
            <a:pPr lvl="1"/>
            <a:endParaRPr lang="en-US" dirty="0"/>
          </a:p>
          <a:p>
            <a:pPr lvl="1"/>
            <a:r>
              <a:rPr kumimoji="1" lang="ja-JP" altLang="en-US" dirty="0"/>
              <a:t>変数名と区別がつかなくなるから</a:t>
            </a:r>
            <a:endParaRPr kumimoji="1" lang="en-US" dirty="0"/>
          </a:p>
        </p:txBody>
      </p:sp>
    </p:spTree>
    <p:extLst>
      <p:ext uri="{BB962C8B-B14F-4D97-AF65-F5344CB8AC3E}">
        <p14:creationId xmlns:p14="http://schemas.microsoft.com/office/powerpoint/2010/main" val="85010282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BD513-13EA-0535-6E9C-D1848CC4A76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5E6CA6E-A6AE-33FA-5BA2-5306B75D261D}"/>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25934D72-CEDE-D11C-E8DC-5F9ACDDE3097}"/>
              </a:ext>
            </a:extLst>
          </p:cNvPr>
          <p:cNvSpPr>
            <a:spLocks noGrp="1"/>
          </p:cNvSpPr>
          <p:nvPr>
            <p:ph sz="quarter" idx="10"/>
          </p:nvPr>
        </p:nvSpPr>
        <p:spPr/>
        <p:txBody>
          <a:bodyPr/>
          <a:lstStyle/>
          <a:p>
            <a:r>
              <a:rPr kumimoji="1" lang="ja-JP" altLang="en-US" dirty="0"/>
              <a:t>論理回路については、</a:t>
            </a:r>
            <a:r>
              <a:rPr kumimoji="1" lang="en-US" altLang="ja-JP" dirty="0"/>
              <a:t>D-EF</a:t>
            </a:r>
            <a:r>
              <a:rPr kumimoji="1" lang="ja-JP" altLang="en-US" dirty="0"/>
              <a:t>の動作の部分で、なぜ少しずれている部分があるのかがよくわからなかった。</a:t>
            </a:r>
            <a:endParaRPr kumimoji="1" lang="en-US" dirty="0"/>
          </a:p>
        </p:txBody>
      </p:sp>
    </p:spTree>
    <p:extLst>
      <p:ext uri="{BB962C8B-B14F-4D97-AF65-F5344CB8AC3E}">
        <p14:creationId xmlns:p14="http://schemas.microsoft.com/office/powerpoint/2010/main" val="383018541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C6CF7B-39B2-2FD0-BC80-D2FB457CE59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2E93ED7-1A9D-BDDE-1B89-CF7F1E5FDEA2}"/>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723904EB-D431-1BC4-37FA-2B50279927C2}"/>
              </a:ext>
            </a:extLst>
          </p:cNvPr>
          <p:cNvSpPr>
            <a:spLocks noGrp="1"/>
          </p:cNvSpPr>
          <p:nvPr>
            <p:ph sz="quarter" idx="10"/>
          </p:nvPr>
        </p:nvSpPr>
        <p:spPr/>
        <p:txBody>
          <a:bodyPr/>
          <a:lstStyle/>
          <a:p>
            <a:r>
              <a:rPr kumimoji="1" lang="en-US" altLang="ja-JP" dirty="0"/>
              <a:t>CPU</a:t>
            </a:r>
            <a:r>
              <a:rPr kumimoji="1" lang="ja-JP" altLang="en-US" dirty="0"/>
              <a:t>の主な構成要素として、制御装置・演算ユニット・レジスタ・バス・クロックがあると思うのですが、スライド</a:t>
            </a:r>
            <a:r>
              <a:rPr kumimoji="1" lang="en-US" altLang="ja-JP" dirty="0"/>
              <a:t>p.70</a:t>
            </a:r>
            <a:r>
              <a:rPr kumimoji="1" lang="ja-JP" altLang="en-US" dirty="0"/>
              <a:t>の</a:t>
            </a:r>
            <a:r>
              <a:rPr kumimoji="1" lang="en-US" altLang="ja-JP" dirty="0"/>
              <a:t>PC</a:t>
            </a:r>
            <a:r>
              <a:rPr kumimoji="1" lang="ja-JP" altLang="en-US" dirty="0"/>
              <a:t>はクロック（各部の動作を同期させるためのタイミング信号を発生させる場所）という認識で会ってますか？</a:t>
            </a:r>
            <a:r>
              <a:rPr kumimoji="1" lang="en-US" altLang="ja-JP" dirty="0"/>
              <a:t>p.70</a:t>
            </a:r>
            <a:r>
              <a:rPr kumimoji="1" lang="ja-JP" altLang="en-US" dirty="0"/>
              <a:t>の加算などの組み合わせ回路に当たるのが演算装置ですか？</a:t>
            </a:r>
            <a:r>
              <a:rPr kumimoji="1" lang="en-US" altLang="ja-JP" dirty="0"/>
              <a:t>CPU</a:t>
            </a:r>
            <a:r>
              <a:rPr kumimoji="1" lang="ja-JP" altLang="en-US" dirty="0"/>
              <a:t>のイメージがまだぼんやりしていてこれから授業で教えていただくときに、</a:t>
            </a:r>
            <a:r>
              <a:rPr kumimoji="1" lang="en-US" altLang="ja-JP" dirty="0"/>
              <a:t>CPU</a:t>
            </a:r>
            <a:r>
              <a:rPr kumimoji="1" lang="ja-JP" altLang="en-US" dirty="0"/>
              <a:t>の中身のどの部分の話なのかを示しながら教えていただけるとありがたいです。</a:t>
            </a:r>
            <a:endParaRPr kumimoji="1" lang="en-US" dirty="0"/>
          </a:p>
        </p:txBody>
      </p:sp>
    </p:spTree>
    <p:extLst>
      <p:ext uri="{BB962C8B-B14F-4D97-AF65-F5344CB8AC3E}">
        <p14:creationId xmlns:p14="http://schemas.microsoft.com/office/powerpoint/2010/main" val="28111505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92CE0-77D5-FF40-D567-F4B4C3C4ACF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B96AF21-F010-3139-3F26-4C11DB2FD10C}"/>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948FE737-45F2-AE85-401E-D59B27A2B742}"/>
              </a:ext>
            </a:extLst>
          </p:cNvPr>
          <p:cNvSpPr>
            <a:spLocks noGrp="1"/>
          </p:cNvSpPr>
          <p:nvPr>
            <p:ph sz="quarter" idx="10"/>
          </p:nvPr>
        </p:nvSpPr>
        <p:spPr/>
        <p:txBody>
          <a:bodyPr/>
          <a:lstStyle/>
          <a:p>
            <a:r>
              <a:rPr kumimoji="1" lang="ja-JP" altLang="en-US" dirty="0"/>
              <a:t>最近では</a:t>
            </a:r>
            <a:r>
              <a:rPr kumimoji="1" lang="en-US" altLang="ja-JP" dirty="0"/>
              <a:t>C</a:t>
            </a:r>
            <a:r>
              <a:rPr kumimoji="1" lang="ja-JP" altLang="en-US" dirty="0"/>
              <a:t>のような低水準言語だけで開発することはあまりないのではないかと思います。アセンブリ言語が長くて不便だったために</a:t>
            </a:r>
            <a:r>
              <a:rPr kumimoji="1" lang="en-US" altLang="ja-JP" dirty="0"/>
              <a:t>C</a:t>
            </a:r>
            <a:r>
              <a:rPr kumimoji="1" lang="ja-JP" altLang="en-US" dirty="0"/>
              <a:t>言語が使われ始め、その</a:t>
            </a:r>
            <a:r>
              <a:rPr kumimoji="1" lang="en-US" altLang="ja-JP" dirty="0"/>
              <a:t>C</a:t>
            </a:r>
            <a:r>
              <a:rPr kumimoji="1" lang="ja-JP" altLang="en-US" dirty="0"/>
              <a:t>ですら不便だということで</a:t>
            </a:r>
            <a:r>
              <a:rPr kumimoji="1" lang="en-US" altLang="ja-JP" dirty="0"/>
              <a:t>Python</a:t>
            </a:r>
            <a:r>
              <a:rPr kumimoji="1" lang="ja-JP" altLang="en-US" dirty="0"/>
              <a:t>のような高水準言語が登場したとおっしゃっていましたが、現在では</a:t>
            </a:r>
            <a:r>
              <a:rPr kumimoji="1" lang="en-US" altLang="ja-JP" dirty="0"/>
              <a:t>C</a:t>
            </a:r>
            <a:r>
              <a:rPr kumimoji="1" lang="ja-JP" altLang="en-US" dirty="0"/>
              <a:t>が主に大学で教育用として使われているようで、興味深いと感じました。</a:t>
            </a:r>
            <a:endParaRPr kumimoji="1" lang="en-US" dirty="0"/>
          </a:p>
        </p:txBody>
      </p:sp>
    </p:spTree>
    <p:extLst>
      <p:ext uri="{BB962C8B-B14F-4D97-AF65-F5344CB8AC3E}">
        <p14:creationId xmlns:p14="http://schemas.microsoft.com/office/powerpoint/2010/main" val="372857720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F09B5DC-F8CA-C55F-BFBB-1B5752A4BFE8}"/>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3A5A566C-0471-B938-B941-0450ECF50318}"/>
              </a:ext>
            </a:extLst>
          </p:cNvPr>
          <p:cNvSpPr>
            <a:spLocks noGrp="1"/>
          </p:cNvSpPr>
          <p:nvPr>
            <p:ph sz="quarter" idx="10"/>
          </p:nvPr>
        </p:nvSpPr>
        <p:spPr/>
        <p:txBody>
          <a:bodyPr/>
          <a:lstStyle/>
          <a:p>
            <a:r>
              <a:rPr kumimoji="1" lang="ja-JP" altLang="en-US" dirty="0"/>
              <a:t>単純な興味になってしまいますが、先生が一番好きなプログラミング言語は何ですか？</a:t>
            </a:r>
            <a:endParaRPr kumimoji="1" lang="en-US" altLang="ja-JP" dirty="0"/>
          </a:p>
          <a:p>
            <a:pPr lvl="1"/>
            <a:r>
              <a:rPr kumimoji="1" lang="en-US" altLang="ja-JP" dirty="0"/>
              <a:t>C, C++: </a:t>
            </a:r>
            <a:r>
              <a:rPr kumimoji="1" lang="ja-JP" altLang="en-US" dirty="0"/>
              <a:t>一番使ってきたがあまり好きではない</a:t>
            </a:r>
            <a:endParaRPr kumimoji="1" lang="en-US" altLang="ja-JP" dirty="0"/>
          </a:p>
          <a:p>
            <a:pPr lvl="1"/>
            <a:r>
              <a:rPr lang="en-US" dirty="0"/>
              <a:t>Python: </a:t>
            </a:r>
            <a:r>
              <a:rPr lang="ja-JP" altLang="en-US" dirty="0"/>
              <a:t>まぁまぁ</a:t>
            </a:r>
            <a:endParaRPr lang="en-US" altLang="ja-JP" dirty="0"/>
          </a:p>
          <a:p>
            <a:pPr lvl="1"/>
            <a:r>
              <a:rPr lang="en-US" altLang="ja-JP" dirty="0"/>
              <a:t>C#: </a:t>
            </a:r>
            <a:r>
              <a:rPr lang="ja-JP" altLang="en-US" dirty="0"/>
              <a:t>悪くない</a:t>
            </a:r>
            <a:endParaRPr lang="en-US" altLang="ja-JP" dirty="0"/>
          </a:p>
          <a:p>
            <a:pPr lvl="1"/>
            <a:r>
              <a:rPr kumimoji="1" lang="en-US" dirty="0"/>
              <a:t>TypeScript</a:t>
            </a:r>
            <a:r>
              <a:rPr lang="en-US" dirty="0"/>
              <a:t>: </a:t>
            </a:r>
            <a:r>
              <a:rPr lang="ja-JP" altLang="en-US" dirty="0"/>
              <a:t>結構すき</a:t>
            </a:r>
            <a:endParaRPr kumimoji="1" lang="en-US" dirty="0"/>
          </a:p>
        </p:txBody>
      </p:sp>
    </p:spTree>
    <p:extLst>
      <p:ext uri="{BB962C8B-B14F-4D97-AF65-F5344CB8AC3E}">
        <p14:creationId xmlns:p14="http://schemas.microsoft.com/office/powerpoint/2010/main" val="289015373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FIRSTFOOOFO@ELLEIXSFUVW0Y5HA" val="4663"/>
</p:tagLst>
</file>

<file path=ppt/theme/theme1.xml><?xml version="1.0" encoding="utf-8"?>
<a:theme xmlns:a="http://schemas.openxmlformats.org/drawingml/2006/main" name="cerulean">
  <a:themeElements>
    <a:clrScheme name="ユーザー定義 1">
      <a:dk1>
        <a:sysClr val="windowText" lastClr="000000"/>
      </a:dk1>
      <a:lt1>
        <a:sysClr val="window" lastClr="FFFFFF"/>
      </a:lt1>
      <a:dk2>
        <a:srgbClr val="F4EB00"/>
      </a:dk2>
      <a:lt2>
        <a:srgbClr val="C4FF4A"/>
      </a:lt2>
      <a:accent1>
        <a:srgbClr val="4F81BD"/>
      </a:accent1>
      <a:accent2>
        <a:srgbClr val="C0504D"/>
      </a:accent2>
      <a:accent3>
        <a:srgbClr val="9BBB59"/>
      </a:accent3>
      <a:accent4>
        <a:srgbClr val="5C6994"/>
      </a:accent4>
      <a:accent5>
        <a:srgbClr val="328FAC"/>
      </a:accent5>
      <a:accent6>
        <a:srgbClr val="D87552"/>
      </a:accent6>
      <a:hlink>
        <a:srgbClr val="0000FF"/>
      </a:hlink>
      <a:folHlink>
        <a:srgbClr val="800080"/>
      </a:folHlink>
    </a:clrScheme>
    <a:fontScheme name="メイリオ-SegoeUI">
      <a:majorFont>
        <a:latin typeface="Segoe UI"/>
        <a:ea typeface="メイリオ"/>
        <a:cs typeface=""/>
      </a:majorFont>
      <a:minorFont>
        <a:latin typeface="Segoe UI"/>
        <a:ea typeface="メイリオ"/>
        <a:cs typeface=""/>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a:headEnd/>
          <a:tailEnd type="triangle" w="sm" len="med"/>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kumimoji="1" dirty="0" smtClean="0">
            <a:solidFill>
              <a:schemeClr val="tx1">
                <a:lumMod val="75000"/>
                <a:lumOff val="25000"/>
              </a:schemeClr>
            </a:solidFill>
            <a:latin typeface="+mn-ea"/>
          </a:defRPr>
        </a:defPPr>
      </a:lstStyle>
      <a:style>
        <a:lnRef idx="1">
          <a:schemeClr val="accent5"/>
        </a:lnRef>
        <a:fillRef idx="2">
          <a:schemeClr val="accent5"/>
        </a:fillRef>
        <a:effectRef idx="1">
          <a:schemeClr val="accent5"/>
        </a:effectRef>
        <a:fontRef idx="minor">
          <a:schemeClr val="dk1"/>
        </a:fontRef>
      </a: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0000" tIns="46800" rIns="90000" bIns="4680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ja-JP" altLang="en-US" sz="1800" b="0" i="0" u="none" strike="noStrike" cap="none" normalizeH="0" baseline="0" smtClean="0">
            <a:ln>
              <a:noFill/>
            </a:ln>
            <a:solidFill>
              <a:schemeClr val="tx1"/>
            </a:solidFill>
            <a:effectLst/>
            <a:latin typeface="Verdana" pitchFamily="34" charset="0"/>
            <a:ea typeface="HG丸ｺﾞｼｯｸM-PRO" pitchFamily="50" charset="-128"/>
          </a:defRPr>
        </a:defPPr>
      </a:lstStyle>
    </a:lnDef>
  </a:objectDefaults>
  <a:extraClrSchemeLst>
    <a:extraClrScheme>
      <a:clrScheme name="colorful water rev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olorful water rev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olorful water rev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olorful water rev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olorful water rev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olorful water rev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
      <a:clrScheme name="colorful water rev 8">
        <a:dk1>
          <a:srgbClr val="000000"/>
        </a:dk1>
        <a:lt1>
          <a:srgbClr val="FFFFFF"/>
        </a:lt1>
        <a:dk2>
          <a:srgbClr val="000000"/>
        </a:dk2>
        <a:lt2>
          <a:srgbClr val="808080"/>
        </a:lt2>
        <a:accent1>
          <a:srgbClr val="9999FF"/>
        </a:accent1>
        <a:accent2>
          <a:srgbClr val="3333CC"/>
        </a:accent2>
        <a:accent3>
          <a:srgbClr val="FFFFFF"/>
        </a:accent3>
        <a:accent4>
          <a:srgbClr val="000000"/>
        </a:accent4>
        <a:accent5>
          <a:srgbClr val="CACAFF"/>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9">
        <a:dk1>
          <a:srgbClr val="000000"/>
        </a:dk1>
        <a:lt1>
          <a:srgbClr val="FFFFFF"/>
        </a:lt1>
        <a:dk2>
          <a:srgbClr val="000000"/>
        </a:dk2>
        <a:lt2>
          <a:srgbClr val="808080"/>
        </a:lt2>
        <a:accent1>
          <a:srgbClr val="9999FF"/>
        </a:accent1>
        <a:accent2>
          <a:srgbClr val="FF0000"/>
        </a:accent2>
        <a:accent3>
          <a:srgbClr val="FFFFFF"/>
        </a:accent3>
        <a:accent4>
          <a:srgbClr val="000000"/>
        </a:accent4>
        <a:accent5>
          <a:srgbClr val="CACAFF"/>
        </a:accent5>
        <a:accent6>
          <a:srgbClr val="E70000"/>
        </a:accent6>
        <a:hlink>
          <a:srgbClr val="CCCCFF"/>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cerulean" id="{B42443E9-F396-466A-92C3-7ED6F4EBC01F}" vid="{0CE6AD82-9598-49D5-BEEF-3DCDCFA8BED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コーパス爆発の対策</Template>
  <TotalTime>0</TotalTime>
  <Words>6164</Words>
  <Application>Microsoft Office PowerPoint</Application>
  <PresentationFormat>画面に合わせる (4:3)</PresentationFormat>
  <Paragraphs>1120</Paragraphs>
  <Slides>105</Slides>
  <Notes>13</Notes>
  <HiddenSlides>0</HiddenSlides>
  <MMClips>0</MMClips>
  <ScaleCrop>false</ScaleCrop>
  <HeadingPairs>
    <vt:vector size="6" baseType="variant">
      <vt:variant>
        <vt:lpstr>使用されているフォント</vt:lpstr>
      </vt:variant>
      <vt:variant>
        <vt:i4>12</vt:i4>
      </vt:variant>
      <vt:variant>
        <vt:lpstr>テーマ</vt:lpstr>
      </vt:variant>
      <vt:variant>
        <vt:i4>1</vt:i4>
      </vt:variant>
      <vt:variant>
        <vt:lpstr>スライド タイトル</vt:lpstr>
      </vt:variant>
      <vt:variant>
        <vt:i4>105</vt:i4>
      </vt:variant>
    </vt:vector>
  </HeadingPairs>
  <TitlesOfParts>
    <vt:vector size="118" baseType="lpstr">
      <vt:lpstr>HG丸ｺﾞｼｯｸM-PRO</vt:lpstr>
      <vt:lpstr>MeiryoKe_PGothic</vt:lpstr>
      <vt:lpstr>メイリオ</vt:lpstr>
      <vt:lpstr>Arial</vt:lpstr>
      <vt:lpstr>Arial Narrow</vt:lpstr>
      <vt:lpstr>Calibri</vt:lpstr>
      <vt:lpstr>Cambria Math</vt:lpstr>
      <vt:lpstr>Consolas</vt:lpstr>
      <vt:lpstr>Segoe UI</vt:lpstr>
      <vt:lpstr>Times New Roman</vt:lpstr>
      <vt:lpstr>Verdana</vt:lpstr>
      <vt:lpstr>Wingdings</vt:lpstr>
      <vt:lpstr>cerulean</vt:lpstr>
      <vt:lpstr>塩谷 亮太 (shioya@ci.i.u-tokyo.ac.jp) 東京大学大学院情報理工学系研究科 創造情報学専攻</vt:lpstr>
      <vt:lpstr>課題３の解説</vt:lpstr>
      <vt:lpstr>課題３</vt:lpstr>
      <vt:lpstr>課題３</vt:lpstr>
      <vt:lpstr>前回の振り返り</vt:lpstr>
      <vt:lpstr>２進数や１６進数による数値表現</vt:lpstr>
      <vt:lpstr>実際の命令セットの例</vt:lpstr>
      <vt:lpstr>RISC-V (32bit) のイメージ</vt:lpstr>
      <vt:lpstr>組み合わせ回路/順序回路</vt:lpstr>
      <vt:lpstr>論理回路の実現方法</vt:lpstr>
      <vt:lpstr>論理回路の作り方</vt:lpstr>
      <vt:lpstr>論理回路の作り方</vt:lpstr>
      <vt:lpstr>論理回路の作り方</vt:lpstr>
      <vt:lpstr>リレー（Relay）</vt:lpstr>
      <vt:lpstr>リレーの絵を回路記号に単純化</vt:lpstr>
      <vt:lpstr>VDD と GND</vt:lpstr>
      <vt:lpstr>電位と数値表現</vt:lpstr>
      <vt:lpstr>短絡（ショート）は起きない想定</vt:lpstr>
      <vt:lpstr>リレーを使って論理回路を作る</vt:lpstr>
      <vt:lpstr>N 型リレー</vt:lpstr>
      <vt:lpstr>N 型の動作</vt:lpstr>
      <vt:lpstr>N 型リレー</vt:lpstr>
      <vt:lpstr>P 型リレー</vt:lpstr>
      <vt:lpstr>P 型の動作</vt:lpstr>
      <vt:lpstr>P 型リレー</vt:lpstr>
      <vt:lpstr>P 型と N 型のまとめ</vt:lpstr>
      <vt:lpstr>P と N が，どっちかどっちだかわからない？</vt:lpstr>
      <vt:lpstr>NOT ゲート</vt:lpstr>
      <vt:lpstr>NOT ゲートの動作</vt:lpstr>
      <vt:lpstr>NAND ゲート</vt:lpstr>
      <vt:lpstr>NAND ゲート</vt:lpstr>
      <vt:lpstr>NAND ゲートの動作</vt:lpstr>
      <vt:lpstr>NOT と NAND から AND と OR を作る</vt:lpstr>
      <vt:lpstr>NAND が作れればそれだけでも良い</vt:lpstr>
      <vt:lpstr>リレーからコンピュータを作る</vt:lpstr>
      <vt:lpstr>リレーからコンピュータを作る</vt:lpstr>
      <vt:lpstr>リレーがあればプログラムが実行できる</vt:lpstr>
      <vt:lpstr>つまり，</vt:lpstr>
      <vt:lpstr>余談：いろいろなコンピュータ</vt:lpstr>
      <vt:lpstr>リレー式計算機 富士通 FACOM128B (1956)</vt:lpstr>
      <vt:lpstr>真空管（三極管）</vt:lpstr>
      <vt:lpstr>真空管の動作</vt:lpstr>
      <vt:lpstr>真空管</vt:lpstr>
      <vt:lpstr>レッドストーン回路</vt:lpstr>
      <vt:lpstr>レッドストーン回路</vt:lpstr>
      <vt:lpstr>入力で出力を制御出来ればコンピュータが作れる</vt:lpstr>
      <vt:lpstr>CMOS</vt:lpstr>
      <vt:lpstr>論理回路の作り方</vt:lpstr>
      <vt:lpstr>MOS FET</vt:lpstr>
      <vt:lpstr>MOS には NMOS と PMOS の２つがある</vt:lpstr>
      <vt:lpstr>N 型/P 型リレーとほぼ同じ動作</vt:lpstr>
      <vt:lpstr>CMOS: Complementary Metal–Oxide–Semiconductor</vt:lpstr>
      <vt:lpstr>NOT ゲート の例</vt:lpstr>
      <vt:lpstr>NOT ゲート の例</vt:lpstr>
      <vt:lpstr>NOT ゲート の例</vt:lpstr>
      <vt:lpstr>NAND の例</vt:lpstr>
      <vt:lpstr>CMOS による論理回路の実現のまとめ</vt:lpstr>
      <vt:lpstr>CMOS ゲートの等価回路</vt:lpstr>
      <vt:lpstr>CMOS ゲートの等価回路</vt:lpstr>
      <vt:lpstr>CMOS ゲートの等価回路</vt:lpstr>
      <vt:lpstr>CMOS ゲートの遅延の実体</vt:lpstr>
      <vt:lpstr>実際には</vt:lpstr>
      <vt:lpstr>遅延の違い</vt:lpstr>
      <vt:lpstr>余談：DVFS (Dynamic Voltage Frequency Scaling)</vt:lpstr>
      <vt:lpstr>電圧と遅延</vt:lpstr>
      <vt:lpstr>消費エネルギー</vt:lpstr>
      <vt:lpstr>DVFS: Dynamic Voltage Frequency Scaling</vt:lpstr>
      <vt:lpstr>まとめ：一番下から積み上げて一番上までいけた 一番下がすげ変わっても，上は同様に作れる</vt:lpstr>
      <vt:lpstr>リレーや真空管と比較した CMOS の利点</vt:lpstr>
      <vt:lpstr>リレーや真空管と比較した CMOS の利点２</vt:lpstr>
      <vt:lpstr>まとめ</vt:lpstr>
      <vt:lpstr>課題 4</vt:lpstr>
      <vt:lpstr>提出方法</vt:lpstr>
      <vt:lpstr>付録</vt:lpstr>
      <vt:lpstr>実際の回路生成</vt:lpstr>
      <vt:lpstr>実際の回路生成</vt:lpstr>
      <vt:lpstr>スタンダード・セル</vt:lpstr>
      <vt:lpstr>フルカスタム・レイアウト</vt:lpstr>
      <vt:lpstr>3次元的な構造を考えながら，設計</vt:lpstr>
      <vt:lpstr>実際の設計データ</vt:lpstr>
      <vt:lpstr>実際の例：IBM POWER8 のチップ写真</vt:lpstr>
      <vt:lpstr>PowerPoint プレゼンテーション</vt:lpstr>
      <vt:lpstr>感想や質問</vt:lpstr>
      <vt:lpstr>質問や感想など</vt:lpstr>
      <vt:lpstr>質問や感想など</vt:lpstr>
      <vt:lpstr>質問や感想など</vt:lpstr>
      <vt:lpstr>質問や感想など</vt:lpstr>
      <vt:lpstr>質問や感想など</vt:lpstr>
      <vt:lpstr>D-FF の動作</vt:lpstr>
      <vt:lpstr>D-FF の実現例</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2023-04-04T03:22:42Z</dcterms:created>
  <dcterms:modified xsi:type="dcterms:W3CDTF">2025-05-27T05:28:21Z</dcterms:modified>
</cp:coreProperties>
</file>