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64" r:id="rId1"/>
  </p:sldMasterIdLst>
  <p:notesMasterIdLst>
    <p:notesMasterId r:id="rId98"/>
  </p:notesMasterIdLst>
  <p:handoutMasterIdLst>
    <p:handoutMasterId r:id="rId99"/>
  </p:handoutMasterIdLst>
  <p:sldIdLst>
    <p:sldId id="455" r:id="rId2"/>
    <p:sldId id="805" r:id="rId3"/>
    <p:sldId id="1024" r:id="rId4"/>
    <p:sldId id="986" r:id="rId5"/>
    <p:sldId id="987" r:id="rId6"/>
    <p:sldId id="983" r:id="rId7"/>
    <p:sldId id="989" r:id="rId8"/>
    <p:sldId id="984" r:id="rId9"/>
    <p:sldId id="1042" r:id="rId10"/>
    <p:sldId id="918" r:id="rId11"/>
    <p:sldId id="919" r:id="rId12"/>
    <p:sldId id="944" r:id="rId13"/>
    <p:sldId id="968" r:id="rId14"/>
    <p:sldId id="980" r:id="rId15"/>
    <p:sldId id="945" r:id="rId16"/>
    <p:sldId id="936" r:id="rId17"/>
    <p:sldId id="938" r:id="rId18"/>
    <p:sldId id="939" r:id="rId19"/>
    <p:sldId id="940" r:id="rId20"/>
    <p:sldId id="943" r:id="rId21"/>
    <p:sldId id="981" r:id="rId22"/>
    <p:sldId id="934" r:id="rId23"/>
    <p:sldId id="942" r:id="rId24"/>
    <p:sldId id="967" r:id="rId25"/>
    <p:sldId id="966" r:id="rId26"/>
    <p:sldId id="941" r:id="rId27"/>
    <p:sldId id="947" r:id="rId28"/>
    <p:sldId id="948" r:id="rId29"/>
    <p:sldId id="949" r:id="rId30"/>
    <p:sldId id="961" r:id="rId31"/>
    <p:sldId id="946" r:id="rId32"/>
    <p:sldId id="950" r:id="rId33"/>
    <p:sldId id="952" r:id="rId34"/>
    <p:sldId id="954" r:id="rId35"/>
    <p:sldId id="955" r:id="rId36"/>
    <p:sldId id="956" r:id="rId37"/>
    <p:sldId id="960" r:id="rId38"/>
    <p:sldId id="957" r:id="rId39"/>
    <p:sldId id="958" r:id="rId40"/>
    <p:sldId id="962" r:id="rId41"/>
    <p:sldId id="963" r:id="rId42"/>
    <p:sldId id="959" r:id="rId43"/>
    <p:sldId id="969" r:id="rId44"/>
    <p:sldId id="970" r:id="rId45"/>
    <p:sldId id="965" r:id="rId46"/>
    <p:sldId id="971" r:id="rId47"/>
    <p:sldId id="972" r:id="rId48"/>
    <p:sldId id="979" r:id="rId49"/>
    <p:sldId id="964" r:id="rId50"/>
    <p:sldId id="973" r:id="rId51"/>
    <p:sldId id="974" r:id="rId52"/>
    <p:sldId id="978" r:id="rId53"/>
    <p:sldId id="975" r:id="rId54"/>
    <p:sldId id="976" r:id="rId55"/>
    <p:sldId id="977" r:id="rId56"/>
    <p:sldId id="882" r:id="rId57"/>
    <p:sldId id="1021" r:id="rId58"/>
    <p:sldId id="1019" r:id="rId59"/>
    <p:sldId id="696" r:id="rId60"/>
    <p:sldId id="1043" r:id="rId61"/>
    <p:sldId id="1020" r:id="rId62"/>
    <p:sldId id="1010" r:id="rId63"/>
    <p:sldId id="1048" r:id="rId64"/>
    <p:sldId id="1049" r:id="rId65"/>
    <p:sldId id="1050" r:id="rId66"/>
    <p:sldId id="1051" r:id="rId67"/>
    <p:sldId id="1052" r:id="rId68"/>
    <p:sldId id="1053" r:id="rId69"/>
    <p:sldId id="1054" r:id="rId70"/>
    <p:sldId id="1055" r:id="rId71"/>
    <p:sldId id="1056" r:id="rId72"/>
    <p:sldId id="1057" r:id="rId73"/>
    <p:sldId id="1058" r:id="rId74"/>
    <p:sldId id="1059" r:id="rId75"/>
    <p:sldId id="1060" r:id="rId76"/>
    <p:sldId id="1061" r:id="rId77"/>
    <p:sldId id="1062" r:id="rId78"/>
    <p:sldId id="1063" r:id="rId79"/>
    <p:sldId id="1064" r:id="rId80"/>
    <p:sldId id="1065" r:id="rId81"/>
    <p:sldId id="1066" r:id="rId82"/>
    <p:sldId id="1067" r:id="rId83"/>
    <p:sldId id="1068" r:id="rId84"/>
    <p:sldId id="1069" r:id="rId85"/>
    <p:sldId id="1070" r:id="rId86"/>
    <p:sldId id="1074" r:id="rId87"/>
    <p:sldId id="1041" r:id="rId88"/>
    <p:sldId id="697" r:id="rId89"/>
    <p:sldId id="1046" r:id="rId90"/>
    <p:sldId id="911" r:id="rId91"/>
    <p:sldId id="1045" r:id="rId92"/>
    <p:sldId id="1044" r:id="rId93"/>
    <p:sldId id="262" r:id="rId94"/>
    <p:sldId id="604" r:id="rId95"/>
    <p:sldId id="1047" r:id="rId96"/>
    <p:sldId id="1075" r:id="rId97"/>
  </p:sldIdLst>
  <p:sldSz cx="9144000" cy="6858000" type="screen4x3"/>
  <p:notesSz cx="6858000" cy="9144000"/>
  <p:custDataLst>
    <p:tags r:id="rId100"/>
  </p:custDataLst>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05B80"/>
    <a:srgbClr val="008000"/>
    <a:srgbClr val="0000FF"/>
    <a:srgbClr val="FFE8FF"/>
    <a:srgbClr val="F8E0FF"/>
    <a:srgbClr val="E4F0FF"/>
    <a:srgbClr val="E8F7FF"/>
    <a:srgbClr val="00FF00"/>
    <a:srgbClr val="FFFFE8"/>
    <a:srgbClr val="FF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淡色スタイル 3 - アクセント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912C8C85-51F0-491E-9774-3900AFEF0FD7}" styleName="淡色スタイル 2 - アクセント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72833802-FEF1-4C79-8D5D-14CF1EAF98D9}" styleName="淡色スタイル 2 - アクセント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85BE263C-DBD7-4A20-BB59-AAB30ACAA65A}" styleName="中間スタイル 3 - アクセント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中間スタイル 1 - アクセント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326" autoAdjust="0"/>
    <p:restoredTop sz="97229" autoAdjust="0"/>
  </p:normalViewPr>
  <p:slideViewPr>
    <p:cSldViewPr>
      <p:cViewPr varScale="1">
        <p:scale>
          <a:sx n="101" d="100"/>
          <a:sy n="101" d="100"/>
        </p:scale>
        <p:origin x="336" y="65"/>
      </p:cViewPr>
      <p:guideLst>
        <p:guide orient="horz" pos="2160"/>
        <p:guide pos="2880"/>
      </p:guideLst>
    </p:cSldViewPr>
  </p:slideViewPr>
  <p:notesTextViewPr>
    <p:cViewPr>
      <p:scale>
        <a:sx n="100" d="100"/>
        <a:sy n="100" d="100"/>
      </p:scale>
      <p:origin x="0" y="0"/>
    </p:cViewPr>
  </p:notesTextViewPr>
  <p:notesViewPr>
    <p:cSldViewPr>
      <p:cViewPr varScale="1">
        <p:scale>
          <a:sx n="121" d="100"/>
          <a:sy n="121" d="100"/>
        </p:scale>
        <p:origin x="5020" y="64"/>
      </p:cViewPr>
      <p:guideLst/>
    </p:cSldViewPr>
  </p:notesViewPr>
  <p:gridSpacing cx="90001" cy="90001"/>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viewProps" Target="view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handoutMaster" Target="handoutMasters/handoutMaster1.xml"/><Relationship Id="rId10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tags" Target="tags/tag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notesMaster" Target="notesMasters/notesMaster1.xml"/><Relationship Id="rId3"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a:extLst>
              <a:ext uri="{FF2B5EF4-FFF2-40B4-BE49-F238E27FC236}">
                <a16:creationId xmlns:a16="http://schemas.microsoft.com/office/drawing/2014/main" id="{CE415D75-4CAE-15A9-D899-49A856941C2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en-US"/>
          </a:p>
        </p:txBody>
      </p:sp>
      <p:sp>
        <p:nvSpPr>
          <p:cNvPr id="3" name="日付プレースホルダー 2">
            <a:extLst>
              <a:ext uri="{FF2B5EF4-FFF2-40B4-BE49-F238E27FC236}">
                <a16:creationId xmlns:a16="http://schemas.microsoft.com/office/drawing/2014/main" id="{96B6FC8F-672D-0C9B-883F-429FE5BFF444}"/>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F0D877F-F984-4AF8-9DD3-1EDD0240AB14}" type="datetimeFigureOut">
              <a:rPr kumimoji="1" lang="en-US" smtClean="0"/>
              <a:t>6/24/2025</a:t>
            </a:fld>
            <a:endParaRPr kumimoji="1" lang="en-US"/>
          </a:p>
        </p:txBody>
      </p:sp>
      <p:sp>
        <p:nvSpPr>
          <p:cNvPr id="4" name="フッター プレースホルダー 3">
            <a:extLst>
              <a:ext uri="{FF2B5EF4-FFF2-40B4-BE49-F238E27FC236}">
                <a16:creationId xmlns:a16="http://schemas.microsoft.com/office/drawing/2014/main" id="{A49831F7-A7E2-B057-CA7D-BF4A5D256B0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en-US"/>
          </a:p>
        </p:txBody>
      </p:sp>
      <p:sp>
        <p:nvSpPr>
          <p:cNvPr id="5" name="スライド番号プレースホルダー 4">
            <a:extLst>
              <a:ext uri="{FF2B5EF4-FFF2-40B4-BE49-F238E27FC236}">
                <a16:creationId xmlns:a16="http://schemas.microsoft.com/office/drawing/2014/main" id="{C915A581-8333-6E1F-684C-607B3F07B9DF}"/>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0CF5AA5-7A9C-4B37-BC55-3EC5404452FB}" type="slidenum">
              <a:rPr kumimoji="1" lang="en-US" smtClean="0"/>
              <a:t>‹#›</a:t>
            </a:fld>
            <a:endParaRPr kumimoji="1" lang="en-US"/>
          </a:p>
        </p:txBody>
      </p:sp>
    </p:spTree>
    <p:extLst>
      <p:ext uri="{BB962C8B-B14F-4D97-AF65-F5344CB8AC3E}">
        <p14:creationId xmlns:p14="http://schemas.microsoft.com/office/powerpoint/2010/main" val="7991511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BC56210E-A5EE-4707-8EFD-B2050EBAA0B3}" type="datetimeFigureOut">
              <a:rPr kumimoji="1" lang="ja-JP" altLang="en-US" smtClean="0"/>
              <a:t>2025/6/24</a:t>
            </a:fld>
            <a:endParaRPr kumimoji="1" lang="ja-JP" altLang="en-US"/>
          </a:p>
        </p:txBody>
      </p:sp>
      <p:sp>
        <p:nvSpPr>
          <p:cNvPr id="4" name="スライド イメージ プレースホルダー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2E5C193-8E84-44DA-A08F-24EBD3FDF7D3}" type="slidenum">
              <a:rPr kumimoji="1" lang="ja-JP" altLang="en-US" smtClean="0"/>
              <a:t>‹#›</a:t>
            </a:fld>
            <a:endParaRPr kumimoji="1" lang="ja-JP" altLang="en-US"/>
          </a:p>
        </p:txBody>
      </p:sp>
    </p:spTree>
    <p:extLst>
      <p:ext uri="{BB962C8B-B14F-4D97-AF65-F5344CB8AC3E}">
        <p14:creationId xmlns:p14="http://schemas.microsoft.com/office/powerpoint/2010/main" val="40375478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63B681C4-8BE2-4B31-9412-64C71E09F28E}" type="slidenum">
              <a:rPr kumimoji="1" lang="ja-JP" altLang="en-US" sz="1200" b="0" i="0" u="none" strike="noStrike" kern="1200" cap="none" spc="0" normalizeH="0" baseline="0" noProof="0" smtClean="0">
                <a:ln>
                  <a:noFill/>
                </a:ln>
                <a:solidFill>
                  <a:prstClr val="black"/>
                </a:solidFill>
                <a:effectLst/>
                <a:uLnTx/>
                <a:uFillTx/>
                <a:latin typeface="游ゴシック" panose="02110004020202020204"/>
                <a:ea typeface="游ゴシック" panose="020B0400000000000000" pitchFamily="50" charset="-128"/>
                <a:cs typeface="+mn-cs"/>
              </a:rPr>
              <a:pPr marL="0" marR="0" lvl="0" indent="0" algn="r" defTabSz="457200" rtl="0" eaLnBrk="1" fontAlgn="auto" latinLnBrk="0" hangingPunct="1">
                <a:lnSpc>
                  <a:spcPct val="100000"/>
                </a:lnSpc>
                <a:spcBef>
                  <a:spcPts val="0"/>
                </a:spcBef>
                <a:spcAft>
                  <a:spcPts val="0"/>
                </a:spcAft>
                <a:buClrTx/>
                <a:buSzTx/>
                <a:buFontTx/>
                <a:buNone/>
                <a:tabLst/>
                <a:defRPr/>
              </a:pPr>
              <a:t>93</a:t>
            </a:fld>
            <a:endParaRPr kumimoji="1" lang="ja-JP" altLang="en-US" sz="1200" b="0" i="0" u="none" strike="noStrike" kern="1200" cap="none" spc="0" normalizeH="0" baseline="0" noProof="0">
              <a:ln>
                <a:noFill/>
              </a:ln>
              <a:solidFill>
                <a:prstClr val="black"/>
              </a:solidFill>
              <a:effectLst/>
              <a:uLnTx/>
              <a:uFillTx/>
              <a:latin typeface="游ゴシック" panose="02110004020202020204"/>
              <a:ea typeface="游ゴシック" panose="020B0400000000000000" pitchFamily="50" charset="-128"/>
              <a:cs typeface="+mn-cs"/>
            </a:endParaRPr>
          </a:p>
        </p:txBody>
      </p:sp>
    </p:spTree>
    <p:extLst>
      <p:ext uri="{BB962C8B-B14F-4D97-AF65-F5344CB8AC3E}">
        <p14:creationId xmlns:p14="http://schemas.microsoft.com/office/powerpoint/2010/main" val="12823109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819150" y="161925"/>
            <a:ext cx="52197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94</a:t>
            </a:fld>
            <a:endParaRPr kumimoji="1" lang="ja-JP" altLang="en-US"/>
          </a:p>
        </p:txBody>
      </p:sp>
    </p:spTree>
    <p:extLst>
      <p:ext uri="{BB962C8B-B14F-4D97-AF65-F5344CB8AC3E}">
        <p14:creationId xmlns:p14="http://schemas.microsoft.com/office/powerpoint/2010/main" val="338655343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819150" y="161925"/>
            <a:ext cx="52197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95</a:t>
            </a:fld>
            <a:endParaRPr kumimoji="1" lang="ja-JP" altLang="en-US"/>
          </a:p>
        </p:txBody>
      </p:sp>
    </p:spTree>
    <p:extLst>
      <p:ext uri="{BB962C8B-B14F-4D97-AF65-F5344CB8AC3E}">
        <p14:creationId xmlns:p14="http://schemas.microsoft.com/office/powerpoint/2010/main" val="8819207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bg>
      <p:bgPr>
        <a:solidFill>
          <a:schemeClr val="accent4"/>
        </a:solidFill>
        <a:effectLst/>
      </p:bgPr>
    </p:bg>
    <p:spTree>
      <p:nvGrpSpPr>
        <p:cNvPr id="1" name=""/>
        <p:cNvGrpSpPr/>
        <p:nvPr/>
      </p:nvGrpSpPr>
      <p:grpSpPr>
        <a:xfrm>
          <a:off x="0" y="0"/>
          <a:ext cx="0" cy="0"/>
          <a:chOff x="0" y="0"/>
          <a:chExt cx="0" cy="0"/>
        </a:xfrm>
      </p:grpSpPr>
      <p:sp>
        <p:nvSpPr>
          <p:cNvPr id="21" name="正方形/長方形 20"/>
          <p:cNvSpPr/>
          <p:nvPr/>
        </p:nvSpPr>
        <p:spPr bwMode="auto">
          <a:xfrm>
            <a:off x="0" y="0"/>
            <a:ext cx="9144000" cy="6858000"/>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350" b="1">
              <a:solidFill>
                <a:schemeClr val="bg1"/>
              </a:solidFill>
            </a:endParaRPr>
          </a:p>
        </p:txBody>
      </p:sp>
      <p:sp>
        <p:nvSpPr>
          <p:cNvPr id="7170" name="Rectangle 2"/>
          <p:cNvSpPr>
            <a:spLocks noGrp="1" noChangeArrowheads="1"/>
          </p:cNvSpPr>
          <p:nvPr>
            <p:ph type="ctrTitle"/>
          </p:nvPr>
        </p:nvSpPr>
        <p:spPr>
          <a:xfrm>
            <a:off x="701958" y="278965"/>
            <a:ext cx="7920088" cy="2340026"/>
          </a:xfrm>
          <a:prstGeom prst="rect">
            <a:avLst/>
          </a:prstGeom>
        </p:spPr>
        <p:txBody>
          <a:bodyPr anchor="ctr"/>
          <a:lstStyle>
            <a:lvl1pPr algn="ctr">
              <a:defRPr sz="2400" b="1">
                <a:solidFill>
                  <a:schemeClr val="bg1"/>
                </a:solidFill>
              </a:defRPr>
            </a:lvl1pPr>
          </a:lstStyle>
          <a:p>
            <a:r>
              <a:rPr lang="ja-JP" altLang="en-US"/>
              <a:t>マスター タイトルの書式設定</a:t>
            </a:r>
          </a:p>
        </p:txBody>
      </p:sp>
      <p:sp>
        <p:nvSpPr>
          <p:cNvPr id="7171" name="Rectangle 3"/>
          <p:cNvSpPr>
            <a:spLocks noGrp="1" noChangeArrowheads="1"/>
          </p:cNvSpPr>
          <p:nvPr>
            <p:ph type="subTitle" idx="1"/>
          </p:nvPr>
        </p:nvSpPr>
        <p:spPr>
          <a:xfrm>
            <a:off x="1691968" y="4149009"/>
            <a:ext cx="7200080" cy="1440017"/>
          </a:xfrm>
        </p:spPr>
        <p:txBody>
          <a:bodyPr anchor="b"/>
          <a:lstStyle>
            <a:lvl1pPr marL="0" indent="0" algn="r">
              <a:lnSpc>
                <a:spcPct val="150000"/>
              </a:lnSpc>
              <a:spcBef>
                <a:spcPts val="0"/>
              </a:spcBef>
              <a:spcAft>
                <a:spcPts val="0"/>
              </a:spcAft>
              <a:buFont typeface="Wingdings" pitchFamily="2" charset="2"/>
              <a:buNone/>
              <a:defRPr>
                <a:solidFill>
                  <a:schemeClr val="bg1"/>
                </a:solidFill>
              </a:defRPr>
            </a:lvl1pPr>
          </a:lstStyle>
          <a:p>
            <a:r>
              <a:rPr lang="ja-JP" altLang="en-US"/>
              <a:t>マスター サブタイトルの書式設定</a:t>
            </a:r>
          </a:p>
        </p:txBody>
      </p:sp>
      <p:cxnSp>
        <p:nvCxnSpPr>
          <p:cNvPr id="6" name="直線コネクタ 5"/>
          <p:cNvCxnSpPr>
            <a:cxnSpLocks/>
          </p:cNvCxnSpPr>
          <p:nvPr/>
        </p:nvCxnSpPr>
        <p:spPr bwMode="auto">
          <a:xfrm>
            <a:off x="611956" y="3068996"/>
            <a:ext cx="7920088" cy="0"/>
          </a:xfrm>
          <a:prstGeom prst="line">
            <a:avLst/>
          </a:prstGeom>
          <a:noFill/>
          <a:ln w="9525" cap="flat" cmpd="sng" algn="ctr">
            <a:solidFill>
              <a:schemeClr val="accent4">
                <a:lumMod val="60000"/>
                <a:lumOff val="40000"/>
              </a:schemeClr>
            </a:solidFill>
            <a:prstDash val="solid"/>
            <a:round/>
            <a:headEnd type="none" w="med" len="med"/>
            <a:tailEnd type="none" w="med" len="med"/>
          </a:ln>
          <a:effectLst/>
        </p:spPr>
      </p:cxnSp>
    </p:spTree>
    <p:extLst>
      <p:ext uri="{BB962C8B-B14F-4D97-AF65-F5344CB8AC3E}">
        <p14:creationId xmlns:p14="http://schemas.microsoft.com/office/powerpoint/2010/main" val="42102898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タイトルとコンテンツ">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auto">
          <a:xfrm>
            <a:off x="611956" y="0"/>
            <a:ext cx="8532044"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lvl1pPr>
              <a:defRPr sz="2800">
                <a:latin typeface="+mn-lt"/>
              </a:defRPr>
            </a:lvl1pPr>
          </a:lstStyle>
          <a:p>
            <a:pPr lvl="0"/>
            <a:r>
              <a:rPr lang="ja-JP" altLang="en-US"/>
              <a:t>マスター タイトルの書式設定</a:t>
            </a:r>
          </a:p>
        </p:txBody>
      </p:sp>
      <p:sp>
        <p:nvSpPr>
          <p:cNvPr id="8" name="Rectangle 20"/>
          <p:cNvSpPr txBox="1">
            <a:spLocks noChangeArrowheads="1"/>
          </p:cNvSpPr>
          <p:nvPr/>
        </p:nvSpPr>
        <p:spPr bwMode="auto">
          <a:xfrm>
            <a:off x="8172040" y="6309032"/>
            <a:ext cx="720008" cy="548971"/>
          </a:xfrm>
          <a:prstGeom prst="rect">
            <a:avLst/>
          </a:prstGeom>
          <a:noFill/>
          <a:ln w="9525">
            <a:noFill/>
            <a:miter lim="800000"/>
            <a:headEnd/>
            <a:tailEnd/>
          </a:ln>
          <a:effectLst/>
        </p:spPr>
        <p:txBody>
          <a:bodyPr vert="horz" wrap="none" lIns="68580" tIns="34290" rIns="68580" bIns="3429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1500" smtClean="0"/>
              <a:pPr/>
              <a:t>‹#›</a:t>
            </a:fld>
            <a:endParaRPr kumimoji="1" lang="ja-JP" altLang="en-US" sz="1500" dirty="0"/>
          </a:p>
        </p:txBody>
      </p:sp>
      <p:sp>
        <p:nvSpPr>
          <p:cNvPr id="3" name="コンテンツ プレースホルダー 2">
            <a:extLst>
              <a:ext uri="{FF2B5EF4-FFF2-40B4-BE49-F238E27FC236}">
                <a16:creationId xmlns:a16="http://schemas.microsoft.com/office/drawing/2014/main" id="{ED3F4CC4-3DF1-E96F-EED4-9F7C4C9F5FFE}"/>
              </a:ext>
            </a:extLst>
          </p:cNvPr>
          <p:cNvSpPr>
            <a:spLocks noGrp="1"/>
          </p:cNvSpPr>
          <p:nvPr>
            <p:ph sz="quarter" idx="10"/>
          </p:nvPr>
        </p:nvSpPr>
        <p:spPr>
          <a:xfrm>
            <a:off x="611956" y="1088974"/>
            <a:ext cx="7920088" cy="522005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en-US"/>
          </a:p>
        </p:txBody>
      </p:sp>
    </p:spTree>
    <p:extLst>
      <p:ext uri="{BB962C8B-B14F-4D97-AF65-F5344CB8AC3E}">
        <p14:creationId xmlns:p14="http://schemas.microsoft.com/office/powerpoint/2010/main" val="345260785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1_タイトルとコンテンツ">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auto">
          <a:xfrm>
            <a:off x="431955" y="0"/>
            <a:ext cx="8712046"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lvl1pPr>
              <a:defRPr sz="2800">
                <a:latin typeface="+mn-lt"/>
              </a:defRPr>
            </a:lvl1pPr>
          </a:lstStyle>
          <a:p>
            <a:pPr lvl="0"/>
            <a:r>
              <a:rPr lang="ja-JP" altLang="en-US"/>
              <a:t>マスター タイトルの書式設定</a:t>
            </a:r>
          </a:p>
        </p:txBody>
      </p:sp>
      <p:sp>
        <p:nvSpPr>
          <p:cNvPr id="7" name="Rectangle 20"/>
          <p:cNvSpPr>
            <a:spLocks noGrp="1" noChangeArrowheads="1"/>
          </p:cNvSpPr>
          <p:nvPr>
            <p:ph type="sldNum" sz="quarter" idx="4"/>
          </p:nvPr>
        </p:nvSpPr>
        <p:spPr bwMode="auto">
          <a:xfrm>
            <a:off x="8532044" y="6309032"/>
            <a:ext cx="611956" cy="548968"/>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lvl1pPr algn="r">
              <a:defRPr kumimoji="0" sz="1500">
                <a:solidFill>
                  <a:schemeClr val="tx1">
                    <a:lumMod val="75000"/>
                    <a:lumOff val="25000"/>
                  </a:schemeClr>
                </a:solidFill>
                <a:latin typeface="+mn-lt"/>
              </a:defRPr>
            </a:lvl1pPr>
          </a:lstStyle>
          <a:p>
            <a:fld id="{D2D8002D-B5B0-4BAC-B1F6-782DDCCE6D9C}" type="slidenum">
              <a:rPr kumimoji="1" lang="ja-JP" altLang="en-US" smtClean="0"/>
              <a:t>‹#›</a:t>
            </a:fld>
            <a:endParaRPr kumimoji="1" lang="ja-JP" altLang="en-US"/>
          </a:p>
        </p:txBody>
      </p:sp>
    </p:spTree>
    <p:extLst>
      <p:ext uri="{BB962C8B-B14F-4D97-AF65-F5344CB8AC3E}">
        <p14:creationId xmlns:p14="http://schemas.microsoft.com/office/powerpoint/2010/main" val="242827631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cSld name="セクションタイトル">
    <p:bg>
      <p:bgPr>
        <a:solidFill>
          <a:schemeClr val="accent4"/>
        </a:solidFill>
        <a:effectLst/>
      </p:bgPr>
    </p:bg>
    <p:spTree>
      <p:nvGrpSpPr>
        <p:cNvPr id="1" name=""/>
        <p:cNvGrpSpPr/>
        <p:nvPr/>
      </p:nvGrpSpPr>
      <p:grpSpPr>
        <a:xfrm>
          <a:off x="0" y="0"/>
          <a:ext cx="0" cy="0"/>
          <a:chOff x="0" y="0"/>
          <a:chExt cx="0" cy="0"/>
        </a:xfrm>
      </p:grpSpPr>
      <p:sp>
        <p:nvSpPr>
          <p:cNvPr id="2" name="スライド番号プレースホルダ 1"/>
          <p:cNvSpPr>
            <a:spLocks noGrp="1"/>
          </p:cNvSpPr>
          <p:nvPr>
            <p:ph type="sldNum" sz="quarter" idx="10"/>
          </p:nvPr>
        </p:nvSpPr>
        <p:spPr/>
        <p:txBody>
          <a:bodyPr/>
          <a:lstStyle>
            <a:lvl1pPr>
              <a:defRPr>
                <a:solidFill>
                  <a:schemeClr val="bg1"/>
                </a:solidFill>
              </a:defRPr>
            </a:lvl1pPr>
          </a:lstStyle>
          <a:p>
            <a:fld id="{D2D8002D-B5B0-4BAC-B1F6-782DDCCE6D9C}" type="slidenum">
              <a:rPr kumimoji="1" lang="ja-JP" altLang="en-US" smtClean="0"/>
              <a:pPr/>
              <a:t>‹#›</a:t>
            </a:fld>
            <a:endParaRPr kumimoji="1" lang="ja-JP" altLang="en-US"/>
          </a:p>
        </p:txBody>
      </p:sp>
      <p:sp>
        <p:nvSpPr>
          <p:cNvPr id="3" name="タイトル 2"/>
          <p:cNvSpPr>
            <a:spLocks noGrp="1"/>
          </p:cNvSpPr>
          <p:nvPr>
            <p:ph type="title"/>
          </p:nvPr>
        </p:nvSpPr>
        <p:spPr>
          <a:xfrm>
            <a:off x="611956" y="2078985"/>
            <a:ext cx="7920088" cy="990011"/>
          </a:xfrm>
        </p:spPr>
        <p:txBody>
          <a:bodyPr anchor="b"/>
          <a:lstStyle>
            <a:lvl1pPr algn="ctr">
              <a:defRPr sz="3200" b="1"/>
            </a:lvl1pPr>
          </a:lstStyle>
          <a:p>
            <a:r>
              <a:rPr kumimoji="1" lang="ja-JP" altLang="en-US"/>
              <a:t>マスター タイトルの書式設定</a:t>
            </a:r>
            <a:endParaRPr kumimoji="1" lang="ja-JP" altLang="en-US" dirty="0"/>
          </a:p>
        </p:txBody>
      </p:sp>
      <p:cxnSp>
        <p:nvCxnSpPr>
          <p:cNvPr id="5" name="直線コネクタ 4">
            <a:extLst>
              <a:ext uri="{FF2B5EF4-FFF2-40B4-BE49-F238E27FC236}">
                <a16:creationId xmlns:a16="http://schemas.microsoft.com/office/drawing/2014/main" id="{4BFA6771-4A43-A7D9-54D9-CCBD4E6DE8B7}"/>
              </a:ext>
            </a:extLst>
          </p:cNvPr>
          <p:cNvCxnSpPr>
            <a:cxnSpLocks/>
          </p:cNvCxnSpPr>
          <p:nvPr userDrawn="1"/>
        </p:nvCxnSpPr>
        <p:spPr bwMode="auto">
          <a:xfrm>
            <a:off x="611956" y="3068996"/>
            <a:ext cx="7920088" cy="0"/>
          </a:xfrm>
          <a:prstGeom prst="line">
            <a:avLst/>
          </a:prstGeom>
          <a:noFill/>
          <a:ln w="9525" cap="flat" cmpd="sng" algn="ctr">
            <a:solidFill>
              <a:schemeClr val="accent4">
                <a:lumMod val="60000"/>
                <a:lumOff val="40000"/>
              </a:schemeClr>
            </a:solidFill>
            <a:prstDash val="solid"/>
            <a:round/>
            <a:headEnd type="none" w="med" len="med"/>
            <a:tailEnd type="none" w="med" len="med"/>
          </a:ln>
          <a:effectLst/>
        </p:spPr>
      </p:cxnSp>
    </p:spTree>
    <p:extLst>
      <p:ext uri="{BB962C8B-B14F-4D97-AF65-F5344CB8AC3E}">
        <p14:creationId xmlns:p14="http://schemas.microsoft.com/office/powerpoint/2010/main" val="34097030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1_タイトルのみ">
    <p:spTree>
      <p:nvGrpSpPr>
        <p:cNvPr id="1" name=""/>
        <p:cNvGrpSpPr/>
        <p:nvPr/>
      </p:nvGrpSpPr>
      <p:grpSpPr>
        <a:xfrm>
          <a:off x="0" y="0"/>
          <a:ext cx="0" cy="0"/>
          <a:chOff x="0" y="0"/>
          <a:chExt cx="0" cy="0"/>
        </a:xfrm>
      </p:grpSpPr>
      <p:sp>
        <p:nvSpPr>
          <p:cNvPr id="3" name="スライド番号プレースホルダ 2"/>
          <p:cNvSpPr>
            <a:spLocks noGrp="1"/>
          </p:cNvSpPr>
          <p:nvPr>
            <p:ph type="sldNum" sz="quarter" idx="10"/>
          </p:nvPr>
        </p:nvSpPr>
        <p:spPr/>
        <p:txBody>
          <a:bodyPr/>
          <a:lstStyle>
            <a:lvl1pPr>
              <a:defRPr>
                <a:solidFill>
                  <a:srgbClr val="686D6D"/>
                </a:solidFill>
              </a:defRPr>
            </a:lvl1pPr>
          </a:lstStyle>
          <a:p>
            <a:fld id="{D2D8002D-B5B0-4BAC-B1F6-782DDCCE6D9C}" type="slidenum">
              <a:rPr kumimoji="1" lang="ja-JP" altLang="en-US" smtClean="0"/>
              <a:pPr/>
              <a:t>‹#›</a:t>
            </a:fld>
            <a:endParaRPr kumimoji="1" lang="ja-JP" altLang="en-US" dirty="0"/>
          </a:p>
        </p:txBody>
      </p:sp>
      <p:sp>
        <p:nvSpPr>
          <p:cNvPr id="5" name="タイトル 4"/>
          <p:cNvSpPr>
            <a:spLocks noGrp="1"/>
          </p:cNvSpPr>
          <p:nvPr>
            <p:ph type="title"/>
          </p:nvPr>
        </p:nvSpPr>
        <p:spPr/>
        <p:txBody>
          <a:bodyPr/>
          <a:lstStyle>
            <a:lvl1pPr>
              <a:defRPr>
                <a:solidFill>
                  <a:schemeClr val="bg1"/>
                </a:solidFill>
              </a:defRPr>
            </a:lvl1pPr>
          </a:lstStyle>
          <a:p>
            <a:r>
              <a:rPr kumimoji="1" lang="ja-JP" altLang="en-US"/>
              <a:t>マスター タイトルの書式設定</a:t>
            </a:r>
            <a:endParaRPr kumimoji="1" lang="ja-JP" altLang="en-US" dirty="0"/>
          </a:p>
        </p:txBody>
      </p:sp>
    </p:spTree>
    <p:extLst>
      <p:ext uri="{BB962C8B-B14F-4D97-AF65-F5344CB8AC3E}">
        <p14:creationId xmlns:p14="http://schemas.microsoft.com/office/powerpoint/2010/main" val="3663301245"/>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1_セクションタイトル">
    <p:bg>
      <p:bgPr>
        <a:solidFill>
          <a:schemeClr val="bg1"/>
        </a:solidFill>
        <a:effectLst/>
      </p:bgPr>
    </p:bg>
    <p:spTree>
      <p:nvGrpSpPr>
        <p:cNvPr id="1" name=""/>
        <p:cNvGrpSpPr/>
        <p:nvPr/>
      </p:nvGrpSpPr>
      <p:grpSpPr>
        <a:xfrm>
          <a:off x="0" y="0"/>
          <a:ext cx="0" cy="0"/>
          <a:chOff x="0" y="0"/>
          <a:chExt cx="0" cy="0"/>
        </a:xfrm>
      </p:grpSpPr>
      <p:sp>
        <p:nvSpPr>
          <p:cNvPr id="2" name="スライド番号プレースホルダ 1"/>
          <p:cNvSpPr>
            <a:spLocks noGrp="1"/>
          </p:cNvSpPr>
          <p:nvPr>
            <p:ph type="sldNum" sz="quarter" idx="10"/>
          </p:nvPr>
        </p:nvSpPr>
        <p:spPr/>
        <p:txBody>
          <a:bodyPr/>
          <a:lstStyle>
            <a:lvl1pPr>
              <a:defRPr>
                <a:solidFill>
                  <a:schemeClr val="tx1">
                    <a:lumMod val="75000"/>
                    <a:lumOff val="25000"/>
                  </a:schemeClr>
                </a:solidFill>
              </a:defRPr>
            </a:lvl1pPr>
          </a:lstStyle>
          <a:p>
            <a:fld id="{D2D8002D-B5B0-4BAC-B1F6-782DDCCE6D9C}" type="slidenum">
              <a:rPr kumimoji="1" lang="ja-JP" altLang="en-US" smtClean="0"/>
              <a:pPr/>
              <a:t>‹#›</a:t>
            </a:fld>
            <a:endParaRPr kumimoji="1" lang="ja-JP" altLang="en-US"/>
          </a:p>
        </p:txBody>
      </p:sp>
    </p:spTree>
    <p:extLst>
      <p:ext uri="{BB962C8B-B14F-4D97-AF65-F5344CB8AC3E}">
        <p14:creationId xmlns:p14="http://schemas.microsoft.com/office/powerpoint/2010/main" val="295044545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47" name="Rectangle 3"/>
          <p:cNvSpPr>
            <a:spLocks noGrp="1" noChangeArrowheads="1"/>
          </p:cNvSpPr>
          <p:nvPr>
            <p:ph type="body" idx="1"/>
          </p:nvPr>
        </p:nvSpPr>
        <p:spPr bwMode="auto">
          <a:xfrm>
            <a:off x="611956" y="1088974"/>
            <a:ext cx="7920088" cy="522005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p>
            <a:pPr lvl="0"/>
            <a:r>
              <a:rPr lang="ja-JP" altLang="en-US" dirty="0"/>
              <a:t>マスタ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2" name="正方形/長方形 1"/>
          <p:cNvSpPr/>
          <p:nvPr/>
        </p:nvSpPr>
        <p:spPr bwMode="auto">
          <a:xfrm>
            <a:off x="0" y="0"/>
            <a:ext cx="9144000" cy="908972"/>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350"/>
          </a:p>
        </p:txBody>
      </p:sp>
      <p:sp>
        <p:nvSpPr>
          <p:cNvPr id="22" name="Rectangle 2"/>
          <p:cNvSpPr>
            <a:spLocks noGrp="1" noChangeArrowheads="1"/>
          </p:cNvSpPr>
          <p:nvPr>
            <p:ph type="title"/>
          </p:nvPr>
        </p:nvSpPr>
        <p:spPr bwMode="auto">
          <a:xfrm>
            <a:off x="431955" y="0"/>
            <a:ext cx="8712046"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p>
            <a:pPr lvl="0"/>
            <a:r>
              <a:rPr lang="ja-JP" altLang="en-US"/>
              <a:t>マスタ タイトルの書式設定</a:t>
            </a:r>
          </a:p>
        </p:txBody>
      </p:sp>
      <p:sp>
        <p:nvSpPr>
          <p:cNvPr id="6164" name="Rectangle 20"/>
          <p:cNvSpPr>
            <a:spLocks noGrp="1" noChangeArrowheads="1"/>
          </p:cNvSpPr>
          <p:nvPr>
            <p:ph type="sldNum" sz="quarter" idx="4"/>
          </p:nvPr>
        </p:nvSpPr>
        <p:spPr bwMode="auto">
          <a:xfrm>
            <a:off x="8172041" y="6309033"/>
            <a:ext cx="720008" cy="548968"/>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lvl1pPr algn="r">
              <a:defRPr kumimoji="0" sz="1500">
                <a:solidFill>
                  <a:schemeClr val="tx1">
                    <a:lumMod val="75000"/>
                    <a:lumOff val="25000"/>
                  </a:schemeClr>
                </a:solidFill>
                <a:latin typeface="+mn-lt"/>
              </a:defRPr>
            </a:lvl1pPr>
          </a:lstStyle>
          <a:p>
            <a:fld id="{D2D8002D-B5B0-4BAC-B1F6-782DDCCE6D9C}" type="slidenum">
              <a:rPr kumimoji="1" lang="ja-JP" altLang="en-US" smtClean="0"/>
              <a:t>‹#›</a:t>
            </a:fld>
            <a:endParaRPr kumimoji="1" lang="ja-JP" altLang="en-US"/>
          </a:p>
        </p:txBody>
      </p:sp>
      <p:sp>
        <p:nvSpPr>
          <p:cNvPr id="6" name="正方形/長方形 5"/>
          <p:cNvSpPr/>
          <p:nvPr/>
        </p:nvSpPr>
        <p:spPr bwMode="auto">
          <a:xfrm>
            <a:off x="0" y="0"/>
            <a:ext cx="9144000" cy="908972"/>
          </a:xfrm>
          <a:prstGeom prst="rect">
            <a:avLst/>
          </a:prstGeom>
          <a:solidFill>
            <a:srgbClr val="505B80"/>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350"/>
          </a:p>
        </p:txBody>
      </p:sp>
      <p:sp>
        <p:nvSpPr>
          <p:cNvPr id="3" name="正方形/長方形 2">
            <a:extLst>
              <a:ext uri="{FF2B5EF4-FFF2-40B4-BE49-F238E27FC236}">
                <a16:creationId xmlns:a16="http://schemas.microsoft.com/office/drawing/2014/main" id="{2AF63CA2-9471-8B7B-FC2C-3C5E975D06B8}"/>
              </a:ext>
            </a:extLst>
          </p:cNvPr>
          <p:cNvSpPr/>
          <p:nvPr userDrawn="1"/>
        </p:nvSpPr>
        <p:spPr bwMode="auto">
          <a:xfrm>
            <a:off x="0" y="0"/>
            <a:ext cx="9144000" cy="908972"/>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a:p>
        </p:txBody>
      </p:sp>
    </p:spTree>
    <p:extLst>
      <p:ext uri="{BB962C8B-B14F-4D97-AF65-F5344CB8AC3E}">
        <p14:creationId xmlns:p14="http://schemas.microsoft.com/office/powerpoint/2010/main" val="2180630630"/>
      </p:ext>
    </p:extLst>
  </p:cSld>
  <p:clrMap bg1="lt1" tx1="dk1" bg2="lt2" tx2="dk2" accent1="accent1" accent2="accent2" accent3="accent3" accent4="accent4" accent5="accent5" accent6="accent6" hlink="hlink" folHlink="folHlink"/>
  <p:sldLayoutIdLst>
    <p:sldLayoutId id="2147483665" r:id="rId1"/>
    <p:sldLayoutId id="2147483666" r:id="rId2"/>
    <p:sldLayoutId id="2147483667" r:id="rId3"/>
    <p:sldLayoutId id="2147483668" r:id="rId4"/>
    <p:sldLayoutId id="2147483671" r:id="rId5"/>
    <p:sldLayoutId id="2147483672" r:id="rId6"/>
  </p:sldLayoutIdLst>
  <p:hf hdr="0" ftr="0" dt="0"/>
  <p:txStyles>
    <p:titleStyle>
      <a:lvl1pPr algn="l" rtl="0" eaLnBrk="1" fontAlgn="base" hangingPunct="1">
        <a:spcBef>
          <a:spcPct val="0"/>
        </a:spcBef>
        <a:spcAft>
          <a:spcPct val="0"/>
        </a:spcAft>
        <a:defRPr kumimoji="1" sz="2100" b="1">
          <a:solidFill>
            <a:schemeClr val="bg1"/>
          </a:solidFill>
          <a:latin typeface="+mn-lt"/>
          <a:ea typeface="メイリオ" pitchFamily="50" charset="-128"/>
          <a:cs typeface="メイリオ" pitchFamily="50" charset="-128"/>
        </a:defRPr>
      </a:lvl1pPr>
      <a:lvl2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2pPr>
      <a:lvl3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3pPr>
      <a:lvl4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4pPr>
      <a:lvl5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5pPr>
      <a:lvl6pPr marL="3429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6pPr>
      <a:lvl7pPr marL="6858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7pPr>
      <a:lvl8pPr marL="10287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8pPr>
      <a:lvl9pPr marL="13716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9pPr>
    </p:titleStyle>
    <p:body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lumMod val="60000"/>
            <a:lumOff val="40000"/>
          </a:schemeClr>
        </a:buClr>
        <a:buSzPct val="90000"/>
        <a:buFont typeface="Wingdings" panose="05000000000000000000" pitchFamily="2" charset="2"/>
        <a:buChar char="l"/>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300"/>
        </a:spcAft>
        <a:buClr>
          <a:schemeClr val="accent4">
            <a:lumMod val="60000"/>
            <a:lumOff val="40000"/>
          </a:schemeClr>
        </a:buClr>
        <a:buSzPct val="7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300"/>
        </a:spcBef>
        <a:spcAft>
          <a:spcPts val="300"/>
        </a:spcAft>
        <a:buClr>
          <a:schemeClr val="accent4">
            <a:lumMod val="60000"/>
            <a:lumOff val="40000"/>
          </a:schemeClr>
        </a:buClr>
        <a:buSzPct val="6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300"/>
        </a:spcAft>
        <a:buClr>
          <a:schemeClr val="accent4">
            <a:lumMod val="60000"/>
            <a:lumOff val="40000"/>
          </a:schemeClr>
        </a:buClr>
        <a:buSzPct val="8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5pPr>
      <a:lvl6pPr marL="18859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6pPr>
      <a:lvl7pPr marL="22288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7pPr>
      <a:lvl8pPr marL="25717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8pPr>
      <a:lvl9pPr marL="29146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9pPr>
    </p:bodyStyle>
    <p:otherStyle>
      <a:defPPr>
        <a:defRPr lang="ja-JP"/>
      </a:defPPr>
      <a:lvl1pPr marL="0" algn="l" defTabSz="685800" rtl="0" eaLnBrk="1" latinLnBrk="0" hangingPunct="1">
        <a:defRPr kumimoji="1" sz="1350" kern="1200">
          <a:solidFill>
            <a:schemeClr val="tx1"/>
          </a:solidFill>
          <a:latin typeface="+mn-lt"/>
          <a:ea typeface="+mn-ea"/>
          <a:cs typeface="+mn-cs"/>
        </a:defRPr>
      </a:lvl1pPr>
      <a:lvl2pPr marL="342900" algn="l" defTabSz="685800" rtl="0" eaLnBrk="1" latinLnBrk="0" hangingPunct="1">
        <a:defRPr kumimoji="1" sz="1350" kern="1200">
          <a:solidFill>
            <a:schemeClr val="tx1"/>
          </a:solidFill>
          <a:latin typeface="+mn-lt"/>
          <a:ea typeface="+mn-ea"/>
          <a:cs typeface="+mn-cs"/>
        </a:defRPr>
      </a:lvl2pPr>
      <a:lvl3pPr marL="685800" algn="l" defTabSz="685800" rtl="0" eaLnBrk="1" latinLnBrk="0" hangingPunct="1">
        <a:defRPr kumimoji="1" sz="1350" kern="1200">
          <a:solidFill>
            <a:schemeClr val="tx1"/>
          </a:solidFill>
          <a:latin typeface="+mn-lt"/>
          <a:ea typeface="+mn-ea"/>
          <a:cs typeface="+mn-cs"/>
        </a:defRPr>
      </a:lvl3pPr>
      <a:lvl4pPr marL="1028700" algn="l" defTabSz="685800" rtl="0" eaLnBrk="1" latinLnBrk="0" hangingPunct="1">
        <a:defRPr kumimoji="1" sz="1350" kern="1200">
          <a:solidFill>
            <a:schemeClr val="tx1"/>
          </a:solidFill>
          <a:latin typeface="+mn-lt"/>
          <a:ea typeface="+mn-ea"/>
          <a:cs typeface="+mn-cs"/>
        </a:defRPr>
      </a:lvl4pPr>
      <a:lvl5pPr marL="1371600" algn="l" defTabSz="685800" rtl="0" eaLnBrk="1" latinLnBrk="0" hangingPunct="1">
        <a:defRPr kumimoji="1" sz="1350" kern="1200">
          <a:solidFill>
            <a:schemeClr val="tx1"/>
          </a:solidFill>
          <a:latin typeface="+mn-lt"/>
          <a:ea typeface="+mn-ea"/>
          <a:cs typeface="+mn-cs"/>
        </a:defRPr>
      </a:lvl5pPr>
      <a:lvl6pPr marL="1714500" algn="l" defTabSz="685800" rtl="0" eaLnBrk="1" latinLnBrk="0" hangingPunct="1">
        <a:defRPr kumimoji="1" sz="1350" kern="1200">
          <a:solidFill>
            <a:schemeClr val="tx1"/>
          </a:solidFill>
          <a:latin typeface="+mn-lt"/>
          <a:ea typeface="+mn-ea"/>
          <a:cs typeface="+mn-cs"/>
        </a:defRPr>
      </a:lvl6pPr>
      <a:lvl7pPr marL="2057400" algn="l" defTabSz="685800" rtl="0" eaLnBrk="1" latinLnBrk="0" hangingPunct="1">
        <a:defRPr kumimoji="1" sz="1350" kern="1200">
          <a:solidFill>
            <a:schemeClr val="tx1"/>
          </a:solidFill>
          <a:latin typeface="+mn-lt"/>
          <a:ea typeface="+mn-ea"/>
          <a:cs typeface="+mn-cs"/>
        </a:defRPr>
      </a:lvl7pPr>
      <a:lvl8pPr marL="2400300" algn="l" defTabSz="685800" rtl="0" eaLnBrk="1" latinLnBrk="0" hangingPunct="1">
        <a:defRPr kumimoji="1" sz="1350" kern="1200">
          <a:solidFill>
            <a:schemeClr val="tx1"/>
          </a:solidFill>
          <a:latin typeface="+mn-lt"/>
          <a:ea typeface="+mn-ea"/>
          <a:cs typeface="+mn-cs"/>
        </a:defRPr>
      </a:lvl8pPr>
      <a:lvl9pPr marL="2743200" algn="l" defTabSz="685800" rtl="0" eaLnBrk="1" latinLnBrk="0" hangingPunct="1">
        <a:defRPr kumimoji="1"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10.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hyperlink" Target="https://github.com/shioyadan/advanced-computer-organization/blob/master/aco-shioya-appendix-bpred.pdf" TargetMode="External"/><Relationship Id="rId2" Type="http://schemas.openxmlformats.org/officeDocument/2006/relationships/hyperlink" Target="https://github.com/shioyadan/advanced-computer-organization/blob/master/aco-shioya-06.pdf" TargetMode="Externa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hyperlink" Target="https://team.inria.fr/pacap/members/andre-seznec/" TargetMode="Externa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91.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a:xfrm>
            <a:off x="611956" y="3969006"/>
            <a:ext cx="7920088" cy="810153"/>
          </a:xfrm>
        </p:spPr>
        <p:txBody>
          <a:bodyPr>
            <a:noAutofit/>
          </a:bodyPr>
          <a:lstStyle/>
          <a:p>
            <a:pPr>
              <a:lnSpc>
                <a:spcPct val="150000"/>
              </a:lnSpc>
            </a:pPr>
            <a:r>
              <a:rPr lang="ja-JP" altLang="en-US" sz="1800" b="0" dirty="0"/>
              <a:t>塩谷 亮太 </a:t>
            </a:r>
            <a:r>
              <a:rPr lang="en-US" altLang="ja-JP" sz="1800" b="0" dirty="0"/>
              <a:t>(shioya@ci.i.u-tokyo.ac.jp)</a:t>
            </a:r>
            <a:br>
              <a:rPr lang="en-US" altLang="ja-JP" sz="1800" b="0" dirty="0"/>
            </a:br>
            <a:r>
              <a:rPr lang="ja-JP" altLang="en-US" sz="1800" b="0" dirty="0"/>
              <a:t>東京大学大学院情報理工学系研究科 創造情報学専攻</a:t>
            </a:r>
            <a:endParaRPr kumimoji="1" lang="ja-JP" altLang="en-US" sz="3200" b="0" dirty="0"/>
          </a:p>
        </p:txBody>
      </p:sp>
      <p:sp>
        <p:nvSpPr>
          <p:cNvPr id="5" name="スライド番号プレースホルダー 4"/>
          <p:cNvSpPr>
            <a:spLocks noGrp="1"/>
          </p:cNvSpPr>
          <p:nvPr>
            <p:ph type="sldNum" sz="quarter" idx="4294967295"/>
          </p:nvPr>
        </p:nvSpPr>
        <p:spPr>
          <a:xfrm>
            <a:off x="8172450" y="6489700"/>
            <a:ext cx="971550" cy="368300"/>
          </a:xfrm>
        </p:spPr>
        <p:txBody>
          <a:bodyPr/>
          <a:lstStyle/>
          <a:p>
            <a:fld id="{D2D8002D-B5B0-4BAC-B1F6-782DDCCE6D9C}" type="slidenum">
              <a:rPr kumimoji="1" lang="ja-JP" altLang="en-US" smtClean="0"/>
              <a:t>1</a:t>
            </a:fld>
            <a:endParaRPr kumimoji="1" lang="ja-JP" altLang="en-US"/>
          </a:p>
        </p:txBody>
      </p:sp>
      <p:sp>
        <p:nvSpPr>
          <p:cNvPr id="3" name="タイトル 1">
            <a:extLst>
              <a:ext uri="{FF2B5EF4-FFF2-40B4-BE49-F238E27FC236}">
                <a16:creationId xmlns:a16="http://schemas.microsoft.com/office/drawing/2014/main" id="{713FB59C-3249-0053-1C3A-F956B535D7B4}"/>
              </a:ext>
            </a:extLst>
          </p:cNvPr>
          <p:cNvSpPr txBox="1">
            <a:spLocks/>
          </p:cNvSpPr>
          <p:nvPr/>
        </p:nvSpPr>
        <p:spPr bwMode="auto">
          <a:xfrm>
            <a:off x="791958" y="2528990"/>
            <a:ext cx="7772400" cy="540006"/>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noAutofit/>
          </a:bodyPr>
          <a:lstStyle>
            <a:lvl1pPr algn="ctr" rtl="0" eaLnBrk="1" fontAlgn="base" hangingPunct="1">
              <a:spcBef>
                <a:spcPct val="0"/>
              </a:spcBef>
              <a:spcAft>
                <a:spcPct val="0"/>
              </a:spcAft>
              <a:defRPr kumimoji="1" sz="2400" b="1">
                <a:solidFill>
                  <a:schemeClr val="bg1"/>
                </a:solidFill>
                <a:latin typeface="+mn-lt"/>
                <a:ea typeface="メイリオ" pitchFamily="50" charset="-128"/>
                <a:cs typeface="メイリオ" pitchFamily="50" charset="-128"/>
              </a:defRPr>
            </a:lvl1pPr>
            <a:lvl2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2pPr>
            <a:lvl3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3pPr>
            <a:lvl4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4pPr>
            <a:lvl5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5pPr>
            <a:lvl6pPr marL="3429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6pPr>
            <a:lvl7pPr marL="6858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7pPr>
            <a:lvl8pPr marL="10287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8pPr>
            <a:lvl9pPr marL="13716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9pPr>
          </a:lstStyle>
          <a:p>
            <a:r>
              <a:rPr lang="ja-JP" altLang="en-US" sz="3200" kern="0" dirty="0"/>
              <a:t>コンピュータ アーキテクチャ</a:t>
            </a:r>
            <a:r>
              <a:rPr lang="en-US" altLang="ja-JP" sz="3200" kern="0" dirty="0"/>
              <a:t>Ⅰ</a:t>
            </a:r>
            <a:r>
              <a:rPr lang="ja-JP" altLang="en-US" sz="3200" kern="0"/>
              <a:t>  第８回</a:t>
            </a:r>
            <a:endParaRPr lang="ja-JP" altLang="en-US" sz="3200" b="0" kern="0" dirty="0"/>
          </a:p>
        </p:txBody>
      </p:sp>
    </p:spTree>
    <p:extLst>
      <p:ext uri="{BB962C8B-B14F-4D97-AF65-F5344CB8AC3E}">
        <p14:creationId xmlns:p14="http://schemas.microsoft.com/office/powerpoint/2010/main" val="23395712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2A71D11E-8112-2FA2-FA79-FFC28F7BE0B5}"/>
              </a:ext>
            </a:extLst>
          </p:cNvPr>
          <p:cNvSpPr>
            <a:spLocks noGrp="1"/>
          </p:cNvSpPr>
          <p:nvPr>
            <p:ph type="sldNum" sz="quarter" idx="10"/>
          </p:nvPr>
        </p:nvSpPr>
        <p:spPr/>
        <p:txBody>
          <a:bodyPr/>
          <a:lstStyle/>
          <a:p>
            <a:fld id="{D2D8002D-B5B0-4BAC-B1F6-782DDCCE6D9C}" type="slidenum">
              <a:rPr kumimoji="1" lang="ja-JP" altLang="en-US" smtClean="0"/>
              <a:pPr/>
              <a:t>2</a:t>
            </a:fld>
            <a:endParaRPr kumimoji="1" lang="ja-JP" altLang="en-US"/>
          </a:p>
        </p:txBody>
      </p:sp>
      <p:sp>
        <p:nvSpPr>
          <p:cNvPr id="3" name="タイトル 2">
            <a:extLst>
              <a:ext uri="{FF2B5EF4-FFF2-40B4-BE49-F238E27FC236}">
                <a16:creationId xmlns:a16="http://schemas.microsoft.com/office/drawing/2014/main" id="{62F2C409-B5E7-7F76-673F-6504E455E5CA}"/>
              </a:ext>
            </a:extLst>
          </p:cNvPr>
          <p:cNvSpPr>
            <a:spLocks noGrp="1"/>
          </p:cNvSpPr>
          <p:nvPr>
            <p:ph type="title"/>
          </p:nvPr>
        </p:nvSpPr>
        <p:spPr/>
        <p:txBody>
          <a:bodyPr/>
          <a:lstStyle/>
          <a:p>
            <a:r>
              <a:rPr kumimoji="1" lang="ja-JP" altLang="en-US" dirty="0"/>
              <a:t>課題の解説</a:t>
            </a:r>
            <a:endParaRPr kumimoji="1" lang="en-US" dirty="0"/>
          </a:p>
        </p:txBody>
      </p:sp>
    </p:spTree>
    <p:extLst>
      <p:ext uri="{BB962C8B-B14F-4D97-AF65-F5344CB8AC3E}">
        <p14:creationId xmlns:p14="http://schemas.microsoft.com/office/powerpoint/2010/main" val="14874634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 </a:t>
            </a:r>
            <a:r>
              <a:rPr lang="en-US" altLang="ja-JP" dirty="0"/>
              <a:t>7</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sz="quarter" idx="10"/>
          </p:nvPr>
        </p:nvSpPr>
        <p:spPr>
          <a:xfrm>
            <a:off x="521955" y="1358977"/>
            <a:ext cx="8190091" cy="2520028"/>
          </a:xfrm>
        </p:spPr>
        <p:txBody>
          <a:bodyPr/>
          <a:lstStyle/>
          <a:p>
            <a:r>
              <a:rPr lang="ja-JP" altLang="en-US" sz="1600" dirty="0"/>
              <a:t>前提：</a:t>
            </a:r>
            <a:endParaRPr lang="en-US" altLang="ja-JP" sz="1600" dirty="0"/>
          </a:p>
          <a:p>
            <a:pPr lvl="1"/>
            <a:r>
              <a:rPr lang="ja-JP" altLang="en-US" sz="1600" dirty="0"/>
              <a:t>各命令は以下の５つの処理を経て実行されるものとする</a:t>
            </a:r>
            <a:endParaRPr lang="en-US" altLang="ja-JP" sz="1600" dirty="0"/>
          </a:p>
          <a:p>
            <a:pPr lvl="2"/>
            <a:r>
              <a:rPr lang="en-US" altLang="ja-JP" sz="1600" dirty="0"/>
              <a:t>F</a:t>
            </a:r>
            <a:r>
              <a:rPr lang="ja-JP" altLang="en-US" sz="1600" dirty="0"/>
              <a:t>：フェッチ，</a:t>
            </a:r>
            <a:r>
              <a:rPr lang="en-US" altLang="ja-JP" sz="1600" dirty="0"/>
              <a:t>D</a:t>
            </a:r>
            <a:r>
              <a:rPr lang="ja-JP" altLang="en-US" sz="1600" dirty="0"/>
              <a:t>：デコード，</a:t>
            </a:r>
            <a:r>
              <a:rPr lang="en-US" altLang="ja-JP" sz="1600" dirty="0"/>
              <a:t>X</a:t>
            </a:r>
            <a:r>
              <a:rPr lang="ja-JP" altLang="en-US" sz="1600" dirty="0"/>
              <a:t>：演算，</a:t>
            </a:r>
            <a:br>
              <a:rPr lang="en-US" altLang="ja-JP" sz="1600" dirty="0"/>
            </a:br>
            <a:r>
              <a:rPr lang="en-US" altLang="ja-JP" sz="1600" dirty="0"/>
              <a:t>M</a:t>
            </a:r>
            <a:r>
              <a:rPr lang="ja-JP" altLang="en-US" sz="1600" dirty="0"/>
              <a:t>：メモリアクセス，</a:t>
            </a:r>
            <a:r>
              <a:rPr lang="en-US" altLang="ja-JP" sz="1600" dirty="0"/>
              <a:t>W</a:t>
            </a:r>
            <a:r>
              <a:rPr lang="ja-JP" altLang="en-US" sz="1600" dirty="0"/>
              <a:t>：書き戻し</a:t>
            </a:r>
            <a:endParaRPr lang="en-US" altLang="ja-JP" sz="1600" dirty="0"/>
          </a:p>
          <a:p>
            <a:pPr lvl="1"/>
            <a:r>
              <a:rPr lang="ja-JP" altLang="en-US" sz="1600" dirty="0"/>
              <a:t>これらの各処理には </a:t>
            </a:r>
            <a:r>
              <a:rPr lang="en-US" altLang="ja-JP" sz="1600" dirty="0"/>
              <a:t>1 nano second (ns)</a:t>
            </a:r>
            <a:r>
              <a:rPr lang="ja-JP" altLang="en-US" sz="1600" dirty="0"/>
              <a:t> がかかるものとする</a:t>
            </a:r>
            <a:endParaRPr lang="en-US" altLang="ja-JP" sz="1600" dirty="0"/>
          </a:p>
          <a:p>
            <a:pPr lvl="1"/>
            <a:r>
              <a:rPr lang="ja-JP" altLang="en-US" sz="1600" dirty="0"/>
              <a:t>演算しか行わずメモリアクセスを伴わない命令でも，必ず </a:t>
            </a:r>
            <a:r>
              <a:rPr lang="en-US" altLang="ja-JP" sz="1600" dirty="0"/>
              <a:t>M </a:t>
            </a:r>
            <a:r>
              <a:rPr lang="ja-JP" altLang="en-US" sz="1600" dirty="0"/>
              <a:t>を経るものとする</a:t>
            </a:r>
            <a:endParaRPr lang="en-US" altLang="ja-JP" sz="1600" dirty="0"/>
          </a:p>
          <a:p>
            <a:pPr lvl="1"/>
            <a:r>
              <a:rPr lang="ja-JP" altLang="en-US" sz="1600" dirty="0"/>
              <a:t>フォワーディングは常に行うものとする</a:t>
            </a:r>
            <a:endParaRPr lang="en-US" altLang="ja-JP" sz="1600" dirty="0"/>
          </a:p>
          <a:p>
            <a:pPr lvl="1"/>
            <a:r>
              <a:rPr lang="ja-JP" altLang="en-US" sz="1600" dirty="0"/>
              <a:t>命令を実行するために「必要な時間」とは，最初の命令のフェッチ開始から最後の命令の書き戻しが終わるまでの時間とする</a:t>
            </a:r>
            <a:endParaRPr lang="en-US" altLang="ja-JP" sz="1600" dirty="0"/>
          </a:p>
          <a:p>
            <a:pPr lvl="2"/>
            <a:r>
              <a:rPr lang="ja-JP" altLang="en-US" sz="1600" dirty="0"/>
              <a:t>たとえば以下の１命令を実行するために「必要な時間」は </a:t>
            </a:r>
            <a:r>
              <a:rPr lang="en-US" altLang="ja-JP" sz="1600" dirty="0"/>
              <a:t>5ns </a:t>
            </a:r>
          </a:p>
        </p:txBody>
      </p:sp>
      <p:sp>
        <p:nvSpPr>
          <p:cNvPr id="2" name="スライド番号プレースホルダー 1">
            <a:extLst>
              <a:ext uri="{FF2B5EF4-FFF2-40B4-BE49-F238E27FC236}">
                <a16:creationId xmlns:a16="http://schemas.microsoft.com/office/drawing/2014/main" id="{40B77A9A-899F-2270-7269-9E9BA0B25E86}"/>
              </a:ext>
            </a:extLst>
          </p:cNvPr>
          <p:cNvSpPr>
            <a:spLocks noGrp="1"/>
          </p:cNvSpPr>
          <p:nvPr>
            <p:ph type="sldNum" sz="quarter" idx="4294967295"/>
          </p:nvPr>
        </p:nvSpPr>
        <p:spPr>
          <a:xfrm>
            <a:off x="8424863" y="6308725"/>
            <a:ext cx="719137" cy="549275"/>
          </a:xfrm>
        </p:spPr>
        <p:txBody>
          <a:bodyPr/>
          <a:lstStyle/>
          <a:p>
            <a:fld id="{D2D8002D-B5B0-4BAC-B1F6-782DDCCE6D9C}" type="slidenum">
              <a:rPr kumimoji="1" lang="ja-JP" altLang="en-US" smtClean="0"/>
              <a:pPr/>
              <a:t>3</a:t>
            </a:fld>
            <a:endParaRPr kumimoji="1" lang="ja-JP" altLang="en-US" dirty="0"/>
          </a:p>
        </p:txBody>
      </p:sp>
      <p:grpSp>
        <p:nvGrpSpPr>
          <p:cNvPr id="3" name="グループ化 2">
            <a:extLst>
              <a:ext uri="{FF2B5EF4-FFF2-40B4-BE49-F238E27FC236}">
                <a16:creationId xmlns:a16="http://schemas.microsoft.com/office/drawing/2014/main" id="{B96BAC0D-A22D-AC7B-C114-D535EFF197FA}"/>
              </a:ext>
            </a:extLst>
          </p:cNvPr>
          <p:cNvGrpSpPr/>
          <p:nvPr/>
        </p:nvGrpSpPr>
        <p:grpSpPr>
          <a:xfrm>
            <a:off x="3131984" y="4869016"/>
            <a:ext cx="2160020" cy="360000"/>
            <a:chOff x="4481999" y="4959017"/>
            <a:chExt cx="2160020" cy="360000"/>
          </a:xfrm>
        </p:grpSpPr>
        <p:sp>
          <p:nvSpPr>
            <p:cNvPr id="4" name="Rectangle 69">
              <a:extLst>
                <a:ext uri="{FF2B5EF4-FFF2-40B4-BE49-F238E27FC236}">
                  <a16:creationId xmlns:a16="http://schemas.microsoft.com/office/drawing/2014/main" id="{286BA23D-FFF9-AAB1-87B6-12C23D3AD974}"/>
                </a:ext>
              </a:extLst>
            </p:cNvPr>
            <p:cNvSpPr>
              <a:spLocks noChangeArrowheads="1"/>
            </p:cNvSpPr>
            <p:nvPr/>
          </p:nvSpPr>
          <p:spPr bwMode="auto">
            <a:xfrm>
              <a:off x="448199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F</a:t>
              </a:r>
            </a:p>
          </p:txBody>
        </p:sp>
        <p:sp>
          <p:nvSpPr>
            <p:cNvPr id="6" name="Rectangle 70">
              <a:extLst>
                <a:ext uri="{FF2B5EF4-FFF2-40B4-BE49-F238E27FC236}">
                  <a16:creationId xmlns:a16="http://schemas.microsoft.com/office/drawing/2014/main" id="{D196602A-E238-1C8E-4438-948DE3ED5133}"/>
                </a:ext>
              </a:extLst>
            </p:cNvPr>
            <p:cNvSpPr>
              <a:spLocks noChangeArrowheads="1"/>
            </p:cNvSpPr>
            <p:nvPr/>
          </p:nvSpPr>
          <p:spPr bwMode="auto">
            <a:xfrm>
              <a:off x="493200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D</a:t>
              </a:r>
            </a:p>
          </p:txBody>
        </p:sp>
        <p:sp>
          <p:nvSpPr>
            <p:cNvPr id="8" name="Rectangle 71">
              <a:extLst>
                <a:ext uri="{FF2B5EF4-FFF2-40B4-BE49-F238E27FC236}">
                  <a16:creationId xmlns:a16="http://schemas.microsoft.com/office/drawing/2014/main" id="{8EC8455E-83D0-4FA8-F7A8-B60B10782E17}"/>
                </a:ext>
              </a:extLst>
            </p:cNvPr>
            <p:cNvSpPr>
              <a:spLocks noChangeArrowheads="1"/>
            </p:cNvSpPr>
            <p:nvPr/>
          </p:nvSpPr>
          <p:spPr bwMode="auto">
            <a:xfrm>
              <a:off x="538200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X</a:t>
              </a:r>
            </a:p>
          </p:txBody>
        </p:sp>
        <p:sp>
          <p:nvSpPr>
            <p:cNvPr id="9" name="Rectangle 72">
              <a:extLst>
                <a:ext uri="{FF2B5EF4-FFF2-40B4-BE49-F238E27FC236}">
                  <a16:creationId xmlns:a16="http://schemas.microsoft.com/office/drawing/2014/main" id="{C8953909-6ECA-BC7C-97C1-1362676ECFBA}"/>
                </a:ext>
              </a:extLst>
            </p:cNvPr>
            <p:cNvSpPr>
              <a:spLocks noChangeArrowheads="1"/>
            </p:cNvSpPr>
            <p:nvPr/>
          </p:nvSpPr>
          <p:spPr bwMode="auto">
            <a:xfrm>
              <a:off x="583201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M</a:t>
              </a:r>
            </a:p>
          </p:txBody>
        </p:sp>
        <p:sp>
          <p:nvSpPr>
            <p:cNvPr id="10" name="Rectangle 73">
              <a:extLst>
                <a:ext uri="{FF2B5EF4-FFF2-40B4-BE49-F238E27FC236}">
                  <a16:creationId xmlns:a16="http://schemas.microsoft.com/office/drawing/2014/main" id="{646C8723-BA5A-6244-201F-F4EBBFF9CCBD}"/>
                </a:ext>
              </a:extLst>
            </p:cNvPr>
            <p:cNvSpPr>
              <a:spLocks noChangeArrowheads="1"/>
            </p:cNvSpPr>
            <p:nvPr/>
          </p:nvSpPr>
          <p:spPr bwMode="auto">
            <a:xfrm>
              <a:off x="628201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a:t>
              </a:r>
              <a:endParaRPr lang="en-US" altLang="ja-JP" sz="1600" dirty="0">
                <a:latin typeface="+mn-lt"/>
                <a:ea typeface="+mn-ea"/>
              </a:endParaRPr>
            </a:p>
          </p:txBody>
        </p:sp>
      </p:grpSp>
      <p:cxnSp>
        <p:nvCxnSpPr>
          <p:cNvPr id="12" name="直線矢印コネクタ 11">
            <a:extLst>
              <a:ext uri="{FF2B5EF4-FFF2-40B4-BE49-F238E27FC236}">
                <a16:creationId xmlns:a16="http://schemas.microsoft.com/office/drawing/2014/main" id="{A1D5E35B-E768-67B7-0FFC-61F06181FFC2}"/>
              </a:ext>
            </a:extLst>
          </p:cNvPr>
          <p:cNvCxnSpPr/>
          <p:nvPr/>
        </p:nvCxnSpPr>
        <p:spPr bwMode="auto">
          <a:xfrm>
            <a:off x="3131984" y="4689014"/>
            <a:ext cx="2160024" cy="0"/>
          </a:xfrm>
          <a:prstGeom prst="straightConnector1">
            <a:avLst/>
          </a:prstGeom>
          <a:noFill/>
          <a:ln w="9525" cap="flat" cmpd="sng" algn="ctr">
            <a:solidFill>
              <a:schemeClr val="tx1"/>
            </a:solidFill>
            <a:prstDash val="solid"/>
            <a:round/>
            <a:headEnd type="triangle" w="med" len="med"/>
            <a:tailEnd type="triangle"/>
          </a:ln>
          <a:effectLst/>
        </p:spPr>
      </p:cxnSp>
      <p:sp>
        <p:nvSpPr>
          <p:cNvPr id="13" name="正方形/長方形 12">
            <a:extLst>
              <a:ext uri="{FF2B5EF4-FFF2-40B4-BE49-F238E27FC236}">
                <a16:creationId xmlns:a16="http://schemas.microsoft.com/office/drawing/2014/main" id="{01AFDA20-A72E-AF4E-E6C3-CA3C8C118968}"/>
              </a:ext>
            </a:extLst>
          </p:cNvPr>
          <p:cNvSpPr/>
          <p:nvPr/>
        </p:nvSpPr>
        <p:spPr>
          <a:xfrm>
            <a:off x="3131984" y="4329010"/>
            <a:ext cx="2160024" cy="369332"/>
          </a:xfrm>
          <a:prstGeom prst="rect">
            <a:avLst/>
          </a:prstGeom>
        </p:spPr>
        <p:txBody>
          <a:bodyPr wrap="square">
            <a:spAutoFit/>
          </a:bodyPr>
          <a:lstStyle/>
          <a:p>
            <a:pPr algn="ctr"/>
            <a:r>
              <a:rPr lang="en-US" altLang="ja-JP" dirty="0">
                <a:solidFill>
                  <a:schemeClr val="tx1">
                    <a:lumMod val="65000"/>
                    <a:lumOff val="35000"/>
                  </a:schemeClr>
                </a:solidFill>
              </a:rPr>
              <a:t>5ns</a:t>
            </a:r>
            <a:endParaRPr lang="ja-JP" altLang="en-US" dirty="0">
              <a:solidFill>
                <a:schemeClr val="tx1">
                  <a:lumMod val="65000"/>
                  <a:lumOff val="35000"/>
                </a:schemeClr>
              </a:solidFill>
            </a:endParaRPr>
          </a:p>
        </p:txBody>
      </p:sp>
    </p:spTree>
    <p:extLst>
      <p:ext uri="{BB962C8B-B14F-4D97-AF65-F5344CB8AC3E}">
        <p14:creationId xmlns:p14="http://schemas.microsoft.com/office/powerpoint/2010/main" val="127300433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 </a:t>
            </a:r>
            <a:r>
              <a:rPr lang="en-US" altLang="ja-JP" dirty="0"/>
              <a:t>7</a:t>
            </a:r>
            <a:endParaRPr lang="en-US" dirty="0"/>
          </a:p>
        </p:txBody>
      </p:sp>
      <mc:AlternateContent xmlns:mc="http://schemas.openxmlformats.org/markup-compatibility/2006" xmlns:a14="http://schemas.microsoft.com/office/drawing/2010/main">
        <mc:Choice Requires="a14">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sz="quarter" idx="10"/>
              </p:nvPr>
            </p:nvSpPr>
            <p:spPr>
              <a:xfrm>
                <a:off x="611956" y="1088974"/>
                <a:ext cx="8100090" cy="2520028"/>
              </a:xfrm>
            </p:spPr>
            <p:txBody>
              <a:bodyPr/>
              <a:lstStyle/>
              <a:p>
                <a:r>
                  <a:rPr lang="en-US" altLang="ja-JP" dirty="0"/>
                  <a:t>(1) </a:t>
                </a:r>
                <a:r>
                  <a:rPr lang="ja-JP" altLang="en-US" dirty="0"/>
                  <a:t>その場合の最大動作周波数はいくつになるか述べよ</a:t>
                </a:r>
                <a:endParaRPr lang="en-US" altLang="ja-JP" dirty="0"/>
              </a:p>
              <a:p>
                <a:pPr lvl="1"/>
                <a:r>
                  <a:rPr lang="en-US" altLang="ja-JP" dirty="0"/>
                  <a:t>1 </a:t>
                </a:r>
                <a:r>
                  <a:rPr lang="ja-JP" altLang="en-US" dirty="0"/>
                  <a:t>秒 </a:t>
                </a:r>
                <a:r>
                  <a:rPr lang="en-US" altLang="ja-JP" dirty="0"/>
                  <a:t>/ 5ns = 200MHz</a:t>
                </a:r>
              </a:p>
              <a:p>
                <a:pPr lvl="1"/>
                <a:r>
                  <a:rPr lang="ja-JP" altLang="en-US" dirty="0"/>
                  <a:t>各命令の処理は </a:t>
                </a:r>
                <a:r>
                  <a:rPr lang="en-US" altLang="ja-JP" dirty="0"/>
                  <a:t>5ns </a:t>
                </a:r>
                <a:r>
                  <a:rPr lang="ja-JP" altLang="en-US" dirty="0"/>
                  <a:t>かかり，それを１サイクルで処理するため</a:t>
                </a:r>
                <a:endParaRPr lang="en-US" altLang="ja-JP" dirty="0"/>
              </a:p>
              <a:p>
                <a:r>
                  <a:rPr lang="en-US" altLang="ja-JP" dirty="0"/>
                  <a:t>(2) </a:t>
                </a:r>
                <a:r>
                  <a:rPr lang="ja-JP" altLang="en-US" dirty="0"/>
                  <a:t>以下の命令列を実行するのに必要な時間を計算せよ</a:t>
                </a:r>
              </a:p>
              <a:p>
                <a:pPr lvl="1"/>
                <a:r>
                  <a:rPr lang="en-US" altLang="ja-JP" dirty="0"/>
                  <a:t>5 ns </a:t>
                </a:r>
                <a14:m>
                  <m:oMath xmlns:m="http://schemas.openxmlformats.org/officeDocument/2006/math">
                    <m:r>
                      <a:rPr lang="en-US" altLang="ja-JP" i="1" dirty="0" smtClean="0">
                        <a:latin typeface="Cambria Math" panose="02040503050406030204" pitchFamily="18" charset="0"/>
                      </a:rPr>
                      <m:t>×</m:t>
                    </m:r>
                  </m:oMath>
                </a14:m>
                <a:r>
                  <a:rPr lang="en-US" altLang="ja-JP" dirty="0"/>
                  <a:t> 3 </a:t>
                </a:r>
                <a:r>
                  <a:rPr lang="ja-JP" altLang="en-US" dirty="0"/>
                  <a:t>命令 </a:t>
                </a:r>
                <a:r>
                  <a:rPr lang="en-US" altLang="ja-JP" dirty="0"/>
                  <a:t>= 15ns </a:t>
                </a:r>
              </a:p>
            </p:txBody>
          </p:sp>
        </mc:Choice>
        <mc:Fallback xmlns="">
          <p:sp>
            <p:nvSpPr>
              <p:cNvPr id="7" name="コンテンツ プレースホルダー 2">
                <a:extLst>
                  <a:ext uri="{FF2B5EF4-FFF2-40B4-BE49-F238E27FC236}">
                    <a16:creationId xmlns:a16="http://schemas.microsoft.com/office/drawing/2014/main" id="{E21D1133-FC57-F955-23BE-11C267021F5C}"/>
                  </a:ext>
                </a:extLst>
              </p:cNvPr>
              <p:cNvSpPr>
                <a:spLocks noGrp="1" noRot="1" noChangeAspect="1" noMove="1" noResize="1" noEditPoints="1" noAdjustHandles="1" noChangeArrowheads="1" noChangeShapeType="1" noTextEdit="1"/>
              </p:cNvSpPr>
              <p:nvPr>
                <p:ph sz="quarter" idx="10"/>
              </p:nvPr>
            </p:nvSpPr>
            <p:spPr>
              <a:xfrm>
                <a:off x="611956" y="1088974"/>
                <a:ext cx="8100090" cy="2520028"/>
              </a:xfrm>
              <a:blipFill>
                <a:blip r:embed="rId2"/>
                <a:stretch>
                  <a:fillRect l="-677" r="-226" b="-2421"/>
                </a:stretch>
              </a:blipFill>
            </p:spPr>
            <p:txBody>
              <a:bodyPr/>
              <a:lstStyle/>
              <a:p>
                <a:r>
                  <a:rPr lang="en-US">
                    <a:noFill/>
                  </a:rPr>
                  <a:t> </a:t>
                </a:r>
              </a:p>
            </p:txBody>
          </p:sp>
        </mc:Fallback>
      </mc:AlternateContent>
      <p:sp>
        <p:nvSpPr>
          <p:cNvPr id="11" name="正方形/長方形 10">
            <a:extLst>
              <a:ext uri="{FF2B5EF4-FFF2-40B4-BE49-F238E27FC236}">
                <a16:creationId xmlns:a16="http://schemas.microsoft.com/office/drawing/2014/main" id="{877639C6-33D7-AC41-D1EC-B79D1CEB9025}"/>
              </a:ext>
            </a:extLst>
          </p:cNvPr>
          <p:cNvSpPr/>
          <p:nvPr/>
        </p:nvSpPr>
        <p:spPr>
          <a:xfrm>
            <a:off x="1151962" y="3699003"/>
            <a:ext cx="2160024" cy="923330"/>
          </a:xfrm>
          <a:prstGeom prst="rect">
            <a:avLst/>
          </a:prstGeom>
        </p:spPr>
        <p:txBody>
          <a:bodyPr wrap="square">
            <a:spAutoFit/>
          </a:bodyPr>
          <a:lstStyle/>
          <a:p>
            <a:pPr algn="ctr"/>
            <a:r>
              <a:rPr lang="en-US" altLang="ja-JP" dirty="0">
                <a:solidFill>
                  <a:schemeClr val="tx1">
                    <a:lumMod val="65000"/>
                    <a:lumOff val="35000"/>
                  </a:schemeClr>
                </a:solidFill>
                <a:latin typeface="Consolas" panose="020B0609020204030204" pitchFamily="49" charset="0"/>
              </a:rPr>
              <a:t>sub x2←x3+x4</a:t>
            </a:r>
            <a:br>
              <a:rPr lang="en-US" altLang="ja-JP" dirty="0">
                <a:solidFill>
                  <a:schemeClr val="tx1">
                    <a:lumMod val="65000"/>
                    <a:lumOff val="35000"/>
                  </a:schemeClr>
                </a:solidFill>
                <a:latin typeface="Consolas" panose="020B0609020204030204" pitchFamily="49" charset="0"/>
              </a:rPr>
            </a:br>
            <a:r>
              <a:rPr lang="en-US" altLang="ja-JP" dirty="0">
                <a:solidFill>
                  <a:schemeClr val="tx1">
                    <a:lumMod val="65000"/>
                    <a:lumOff val="35000"/>
                  </a:schemeClr>
                </a:solidFill>
                <a:latin typeface="Consolas" panose="020B0609020204030204" pitchFamily="49" charset="0"/>
              </a:rPr>
              <a:t>add x1←x2+x3</a:t>
            </a:r>
            <a:br>
              <a:rPr lang="en-US" altLang="ja-JP" dirty="0">
                <a:solidFill>
                  <a:schemeClr val="tx1">
                    <a:lumMod val="65000"/>
                    <a:lumOff val="35000"/>
                  </a:schemeClr>
                </a:solidFill>
                <a:latin typeface="Consolas" panose="020B0609020204030204" pitchFamily="49" charset="0"/>
              </a:rPr>
            </a:br>
            <a:r>
              <a:rPr lang="en-US" altLang="ja-JP" dirty="0">
                <a:solidFill>
                  <a:schemeClr val="tx1">
                    <a:lumMod val="65000"/>
                    <a:lumOff val="35000"/>
                  </a:schemeClr>
                </a:solidFill>
                <a:latin typeface="Consolas" panose="020B0609020204030204" pitchFamily="49" charset="0"/>
              </a:rPr>
              <a:t>add x5←x6+x7</a:t>
            </a:r>
          </a:p>
        </p:txBody>
      </p:sp>
      <p:grpSp>
        <p:nvGrpSpPr>
          <p:cNvPr id="3" name="グループ化 2">
            <a:extLst>
              <a:ext uri="{FF2B5EF4-FFF2-40B4-BE49-F238E27FC236}">
                <a16:creationId xmlns:a16="http://schemas.microsoft.com/office/drawing/2014/main" id="{5E9F7CA8-41E9-A8D7-93F8-88DD0F71B83B}"/>
              </a:ext>
            </a:extLst>
          </p:cNvPr>
          <p:cNvGrpSpPr/>
          <p:nvPr/>
        </p:nvGrpSpPr>
        <p:grpSpPr>
          <a:xfrm>
            <a:off x="1511966" y="5049018"/>
            <a:ext cx="2160020" cy="360000"/>
            <a:chOff x="4481999" y="4959017"/>
            <a:chExt cx="2160020" cy="360000"/>
          </a:xfrm>
        </p:grpSpPr>
        <p:sp>
          <p:nvSpPr>
            <p:cNvPr id="4" name="Rectangle 69">
              <a:extLst>
                <a:ext uri="{FF2B5EF4-FFF2-40B4-BE49-F238E27FC236}">
                  <a16:creationId xmlns:a16="http://schemas.microsoft.com/office/drawing/2014/main" id="{D000AF0B-8A0D-86B7-2F4C-BDB6F249F43C}"/>
                </a:ext>
              </a:extLst>
            </p:cNvPr>
            <p:cNvSpPr>
              <a:spLocks noChangeArrowheads="1"/>
            </p:cNvSpPr>
            <p:nvPr/>
          </p:nvSpPr>
          <p:spPr bwMode="auto">
            <a:xfrm>
              <a:off x="448199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F</a:t>
              </a:r>
            </a:p>
          </p:txBody>
        </p:sp>
        <p:sp>
          <p:nvSpPr>
            <p:cNvPr id="6" name="Rectangle 70">
              <a:extLst>
                <a:ext uri="{FF2B5EF4-FFF2-40B4-BE49-F238E27FC236}">
                  <a16:creationId xmlns:a16="http://schemas.microsoft.com/office/drawing/2014/main" id="{12006D8E-8B8D-78D4-DA43-7F8915E9D3F9}"/>
                </a:ext>
              </a:extLst>
            </p:cNvPr>
            <p:cNvSpPr>
              <a:spLocks noChangeArrowheads="1"/>
            </p:cNvSpPr>
            <p:nvPr/>
          </p:nvSpPr>
          <p:spPr bwMode="auto">
            <a:xfrm>
              <a:off x="493200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D</a:t>
              </a:r>
            </a:p>
          </p:txBody>
        </p:sp>
        <p:sp>
          <p:nvSpPr>
            <p:cNvPr id="8" name="Rectangle 71">
              <a:extLst>
                <a:ext uri="{FF2B5EF4-FFF2-40B4-BE49-F238E27FC236}">
                  <a16:creationId xmlns:a16="http://schemas.microsoft.com/office/drawing/2014/main" id="{07AEE776-5138-92E6-8E55-AF066DF1DA59}"/>
                </a:ext>
              </a:extLst>
            </p:cNvPr>
            <p:cNvSpPr>
              <a:spLocks noChangeArrowheads="1"/>
            </p:cNvSpPr>
            <p:nvPr/>
          </p:nvSpPr>
          <p:spPr bwMode="auto">
            <a:xfrm>
              <a:off x="538200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X</a:t>
              </a:r>
            </a:p>
          </p:txBody>
        </p:sp>
        <p:sp>
          <p:nvSpPr>
            <p:cNvPr id="9" name="Rectangle 72">
              <a:extLst>
                <a:ext uri="{FF2B5EF4-FFF2-40B4-BE49-F238E27FC236}">
                  <a16:creationId xmlns:a16="http://schemas.microsoft.com/office/drawing/2014/main" id="{CB2DA477-3C0C-FB4F-A36F-A4E0E835AE35}"/>
                </a:ext>
              </a:extLst>
            </p:cNvPr>
            <p:cNvSpPr>
              <a:spLocks noChangeArrowheads="1"/>
            </p:cNvSpPr>
            <p:nvPr/>
          </p:nvSpPr>
          <p:spPr bwMode="auto">
            <a:xfrm>
              <a:off x="583201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M</a:t>
              </a:r>
            </a:p>
          </p:txBody>
        </p:sp>
        <p:sp>
          <p:nvSpPr>
            <p:cNvPr id="10" name="Rectangle 73">
              <a:extLst>
                <a:ext uri="{FF2B5EF4-FFF2-40B4-BE49-F238E27FC236}">
                  <a16:creationId xmlns:a16="http://schemas.microsoft.com/office/drawing/2014/main" id="{AE3D7AF5-933E-8D78-17B0-1E05906A41DE}"/>
                </a:ext>
              </a:extLst>
            </p:cNvPr>
            <p:cNvSpPr>
              <a:spLocks noChangeArrowheads="1"/>
            </p:cNvSpPr>
            <p:nvPr/>
          </p:nvSpPr>
          <p:spPr bwMode="auto">
            <a:xfrm>
              <a:off x="628201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a:t>
              </a:r>
              <a:endParaRPr lang="en-US" altLang="ja-JP" sz="1600" dirty="0">
                <a:latin typeface="+mn-lt"/>
                <a:ea typeface="+mn-ea"/>
              </a:endParaRPr>
            </a:p>
          </p:txBody>
        </p:sp>
      </p:grpSp>
      <p:grpSp>
        <p:nvGrpSpPr>
          <p:cNvPr id="12" name="グループ化 11">
            <a:extLst>
              <a:ext uri="{FF2B5EF4-FFF2-40B4-BE49-F238E27FC236}">
                <a16:creationId xmlns:a16="http://schemas.microsoft.com/office/drawing/2014/main" id="{531EFF3F-57E9-82EB-FE80-84403430419E}"/>
              </a:ext>
            </a:extLst>
          </p:cNvPr>
          <p:cNvGrpSpPr/>
          <p:nvPr/>
        </p:nvGrpSpPr>
        <p:grpSpPr>
          <a:xfrm>
            <a:off x="3761991" y="5499023"/>
            <a:ext cx="2160020" cy="360000"/>
            <a:chOff x="4481999" y="4959017"/>
            <a:chExt cx="2160020" cy="360000"/>
          </a:xfrm>
        </p:grpSpPr>
        <p:sp>
          <p:nvSpPr>
            <p:cNvPr id="13" name="Rectangle 69">
              <a:extLst>
                <a:ext uri="{FF2B5EF4-FFF2-40B4-BE49-F238E27FC236}">
                  <a16:creationId xmlns:a16="http://schemas.microsoft.com/office/drawing/2014/main" id="{43B2A0A1-6A8E-AA4E-5A7B-21872A472D11}"/>
                </a:ext>
              </a:extLst>
            </p:cNvPr>
            <p:cNvSpPr>
              <a:spLocks noChangeArrowheads="1"/>
            </p:cNvSpPr>
            <p:nvPr/>
          </p:nvSpPr>
          <p:spPr bwMode="auto">
            <a:xfrm>
              <a:off x="448199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F</a:t>
              </a:r>
            </a:p>
          </p:txBody>
        </p:sp>
        <p:sp>
          <p:nvSpPr>
            <p:cNvPr id="14" name="Rectangle 70">
              <a:extLst>
                <a:ext uri="{FF2B5EF4-FFF2-40B4-BE49-F238E27FC236}">
                  <a16:creationId xmlns:a16="http://schemas.microsoft.com/office/drawing/2014/main" id="{EB523C16-8828-CEBB-4DC3-63CAB39BF458}"/>
                </a:ext>
              </a:extLst>
            </p:cNvPr>
            <p:cNvSpPr>
              <a:spLocks noChangeArrowheads="1"/>
            </p:cNvSpPr>
            <p:nvPr/>
          </p:nvSpPr>
          <p:spPr bwMode="auto">
            <a:xfrm>
              <a:off x="493200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D</a:t>
              </a:r>
            </a:p>
          </p:txBody>
        </p:sp>
        <p:sp>
          <p:nvSpPr>
            <p:cNvPr id="15" name="Rectangle 71">
              <a:extLst>
                <a:ext uri="{FF2B5EF4-FFF2-40B4-BE49-F238E27FC236}">
                  <a16:creationId xmlns:a16="http://schemas.microsoft.com/office/drawing/2014/main" id="{84E7E829-7355-A008-EDD1-35FE0DD468A4}"/>
                </a:ext>
              </a:extLst>
            </p:cNvPr>
            <p:cNvSpPr>
              <a:spLocks noChangeArrowheads="1"/>
            </p:cNvSpPr>
            <p:nvPr/>
          </p:nvSpPr>
          <p:spPr bwMode="auto">
            <a:xfrm>
              <a:off x="538200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X</a:t>
              </a:r>
            </a:p>
          </p:txBody>
        </p:sp>
        <p:sp>
          <p:nvSpPr>
            <p:cNvPr id="16" name="Rectangle 72">
              <a:extLst>
                <a:ext uri="{FF2B5EF4-FFF2-40B4-BE49-F238E27FC236}">
                  <a16:creationId xmlns:a16="http://schemas.microsoft.com/office/drawing/2014/main" id="{64910646-986D-7194-C994-E22507712981}"/>
                </a:ext>
              </a:extLst>
            </p:cNvPr>
            <p:cNvSpPr>
              <a:spLocks noChangeArrowheads="1"/>
            </p:cNvSpPr>
            <p:nvPr/>
          </p:nvSpPr>
          <p:spPr bwMode="auto">
            <a:xfrm>
              <a:off x="583201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M</a:t>
              </a:r>
            </a:p>
          </p:txBody>
        </p:sp>
        <p:sp>
          <p:nvSpPr>
            <p:cNvPr id="17" name="Rectangle 73">
              <a:extLst>
                <a:ext uri="{FF2B5EF4-FFF2-40B4-BE49-F238E27FC236}">
                  <a16:creationId xmlns:a16="http://schemas.microsoft.com/office/drawing/2014/main" id="{D0A3B737-7838-0A45-AFE6-3FB26F17D87E}"/>
                </a:ext>
              </a:extLst>
            </p:cNvPr>
            <p:cNvSpPr>
              <a:spLocks noChangeArrowheads="1"/>
            </p:cNvSpPr>
            <p:nvPr/>
          </p:nvSpPr>
          <p:spPr bwMode="auto">
            <a:xfrm>
              <a:off x="628201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a:t>
              </a:r>
              <a:endParaRPr lang="en-US" altLang="ja-JP" sz="1600" dirty="0">
                <a:latin typeface="+mn-lt"/>
                <a:ea typeface="+mn-ea"/>
              </a:endParaRPr>
            </a:p>
          </p:txBody>
        </p:sp>
      </p:grpSp>
      <p:grpSp>
        <p:nvGrpSpPr>
          <p:cNvPr id="18" name="グループ化 17">
            <a:extLst>
              <a:ext uri="{FF2B5EF4-FFF2-40B4-BE49-F238E27FC236}">
                <a16:creationId xmlns:a16="http://schemas.microsoft.com/office/drawing/2014/main" id="{33DAD082-9967-A7FB-F6FA-C0DE77BD1C72}"/>
              </a:ext>
            </a:extLst>
          </p:cNvPr>
          <p:cNvGrpSpPr/>
          <p:nvPr/>
        </p:nvGrpSpPr>
        <p:grpSpPr>
          <a:xfrm>
            <a:off x="6012016" y="5949028"/>
            <a:ext cx="2160020" cy="360000"/>
            <a:chOff x="4481999" y="4959017"/>
            <a:chExt cx="2160020" cy="360000"/>
          </a:xfrm>
        </p:grpSpPr>
        <p:sp>
          <p:nvSpPr>
            <p:cNvPr id="19" name="Rectangle 69">
              <a:extLst>
                <a:ext uri="{FF2B5EF4-FFF2-40B4-BE49-F238E27FC236}">
                  <a16:creationId xmlns:a16="http://schemas.microsoft.com/office/drawing/2014/main" id="{61DB57FF-2EB2-5D6F-0309-2E7F787A4F10}"/>
                </a:ext>
              </a:extLst>
            </p:cNvPr>
            <p:cNvSpPr>
              <a:spLocks noChangeArrowheads="1"/>
            </p:cNvSpPr>
            <p:nvPr/>
          </p:nvSpPr>
          <p:spPr bwMode="auto">
            <a:xfrm>
              <a:off x="448199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F</a:t>
              </a:r>
            </a:p>
          </p:txBody>
        </p:sp>
        <p:sp>
          <p:nvSpPr>
            <p:cNvPr id="20" name="Rectangle 70">
              <a:extLst>
                <a:ext uri="{FF2B5EF4-FFF2-40B4-BE49-F238E27FC236}">
                  <a16:creationId xmlns:a16="http://schemas.microsoft.com/office/drawing/2014/main" id="{5DCB6FA0-E1A6-C5DF-6724-CC07F820AFAB}"/>
                </a:ext>
              </a:extLst>
            </p:cNvPr>
            <p:cNvSpPr>
              <a:spLocks noChangeArrowheads="1"/>
            </p:cNvSpPr>
            <p:nvPr/>
          </p:nvSpPr>
          <p:spPr bwMode="auto">
            <a:xfrm>
              <a:off x="493200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D</a:t>
              </a:r>
            </a:p>
          </p:txBody>
        </p:sp>
        <p:sp>
          <p:nvSpPr>
            <p:cNvPr id="21" name="Rectangle 71">
              <a:extLst>
                <a:ext uri="{FF2B5EF4-FFF2-40B4-BE49-F238E27FC236}">
                  <a16:creationId xmlns:a16="http://schemas.microsoft.com/office/drawing/2014/main" id="{83E1F6AC-6AE5-A860-9132-524538737B15}"/>
                </a:ext>
              </a:extLst>
            </p:cNvPr>
            <p:cNvSpPr>
              <a:spLocks noChangeArrowheads="1"/>
            </p:cNvSpPr>
            <p:nvPr/>
          </p:nvSpPr>
          <p:spPr bwMode="auto">
            <a:xfrm>
              <a:off x="538200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X</a:t>
              </a:r>
            </a:p>
          </p:txBody>
        </p:sp>
        <p:sp>
          <p:nvSpPr>
            <p:cNvPr id="22" name="Rectangle 72">
              <a:extLst>
                <a:ext uri="{FF2B5EF4-FFF2-40B4-BE49-F238E27FC236}">
                  <a16:creationId xmlns:a16="http://schemas.microsoft.com/office/drawing/2014/main" id="{A122F1F0-FA86-E7AE-6689-437B4FA39E6F}"/>
                </a:ext>
              </a:extLst>
            </p:cNvPr>
            <p:cNvSpPr>
              <a:spLocks noChangeArrowheads="1"/>
            </p:cNvSpPr>
            <p:nvPr/>
          </p:nvSpPr>
          <p:spPr bwMode="auto">
            <a:xfrm>
              <a:off x="583201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M</a:t>
              </a:r>
            </a:p>
          </p:txBody>
        </p:sp>
        <p:sp>
          <p:nvSpPr>
            <p:cNvPr id="23" name="Rectangle 73">
              <a:extLst>
                <a:ext uri="{FF2B5EF4-FFF2-40B4-BE49-F238E27FC236}">
                  <a16:creationId xmlns:a16="http://schemas.microsoft.com/office/drawing/2014/main" id="{1B2329F1-47A8-E167-9295-4279EE01003D}"/>
                </a:ext>
              </a:extLst>
            </p:cNvPr>
            <p:cNvSpPr>
              <a:spLocks noChangeArrowheads="1"/>
            </p:cNvSpPr>
            <p:nvPr/>
          </p:nvSpPr>
          <p:spPr bwMode="auto">
            <a:xfrm>
              <a:off x="628201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a:t>
              </a:r>
              <a:endParaRPr lang="en-US" altLang="ja-JP" sz="1600" dirty="0">
                <a:latin typeface="+mn-lt"/>
                <a:ea typeface="+mn-ea"/>
              </a:endParaRPr>
            </a:p>
          </p:txBody>
        </p:sp>
      </p:grpSp>
      <p:cxnSp>
        <p:nvCxnSpPr>
          <p:cNvPr id="24" name="直線矢印コネクタ 23">
            <a:extLst>
              <a:ext uri="{FF2B5EF4-FFF2-40B4-BE49-F238E27FC236}">
                <a16:creationId xmlns:a16="http://schemas.microsoft.com/office/drawing/2014/main" id="{C84EFADD-44A5-ED03-5730-0B1F0E235E7D}"/>
              </a:ext>
            </a:extLst>
          </p:cNvPr>
          <p:cNvCxnSpPr/>
          <p:nvPr/>
        </p:nvCxnSpPr>
        <p:spPr bwMode="auto">
          <a:xfrm>
            <a:off x="1511966" y="4959017"/>
            <a:ext cx="2160024" cy="0"/>
          </a:xfrm>
          <a:prstGeom prst="straightConnector1">
            <a:avLst/>
          </a:prstGeom>
          <a:noFill/>
          <a:ln w="9525" cap="flat" cmpd="sng" algn="ctr">
            <a:solidFill>
              <a:schemeClr val="tx1"/>
            </a:solidFill>
            <a:prstDash val="solid"/>
            <a:round/>
            <a:headEnd type="triangle" w="med" len="med"/>
            <a:tailEnd type="triangle"/>
          </a:ln>
          <a:effectLst/>
        </p:spPr>
      </p:cxnSp>
      <p:sp>
        <p:nvSpPr>
          <p:cNvPr id="25" name="正方形/長方形 24">
            <a:extLst>
              <a:ext uri="{FF2B5EF4-FFF2-40B4-BE49-F238E27FC236}">
                <a16:creationId xmlns:a16="http://schemas.microsoft.com/office/drawing/2014/main" id="{23BDA0A7-2BF9-8363-DFD8-F10E0591DE1F}"/>
              </a:ext>
            </a:extLst>
          </p:cNvPr>
          <p:cNvSpPr/>
          <p:nvPr/>
        </p:nvSpPr>
        <p:spPr>
          <a:xfrm>
            <a:off x="1511966" y="4599013"/>
            <a:ext cx="2160024" cy="369332"/>
          </a:xfrm>
          <a:prstGeom prst="rect">
            <a:avLst/>
          </a:prstGeom>
        </p:spPr>
        <p:txBody>
          <a:bodyPr wrap="square">
            <a:spAutoFit/>
          </a:bodyPr>
          <a:lstStyle/>
          <a:p>
            <a:pPr algn="ctr"/>
            <a:r>
              <a:rPr lang="en-US" altLang="ja-JP" dirty="0">
                <a:solidFill>
                  <a:schemeClr val="tx1">
                    <a:lumMod val="65000"/>
                    <a:lumOff val="35000"/>
                  </a:schemeClr>
                </a:solidFill>
              </a:rPr>
              <a:t>1cycle 5ns</a:t>
            </a:r>
            <a:endParaRPr lang="ja-JP" altLang="en-US" dirty="0">
              <a:solidFill>
                <a:schemeClr val="tx1">
                  <a:lumMod val="65000"/>
                  <a:lumOff val="35000"/>
                </a:schemeClr>
              </a:solidFill>
            </a:endParaRPr>
          </a:p>
        </p:txBody>
      </p:sp>
    </p:spTree>
    <p:extLst>
      <p:ext uri="{BB962C8B-B14F-4D97-AF65-F5344CB8AC3E}">
        <p14:creationId xmlns:p14="http://schemas.microsoft.com/office/powerpoint/2010/main" val="334411281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 </a:t>
            </a:r>
            <a:r>
              <a:rPr lang="en-US" altLang="ja-JP" dirty="0"/>
              <a:t>7</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sz="quarter" idx="10"/>
          </p:nvPr>
        </p:nvSpPr>
        <p:spPr>
          <a:xfrm>
            <a:off x="611956" y="1088974"/>
            <a:ext cx="7920088" cy="2520028"/>
          </a:xfrm>
        </p:spPr>
        <p:txBody>
          <a:bodyPr anchor="t"/>
          <a:lstStyle/>
          <a:p>
            <a:r>
              <a:rPr lang="ja-JP" altLang="en-US" sz="1600" dirty="0"/>
              <a:t>前記の前提の下で，</a:t>
            </a:r>
            <a:r>
              <a:rPr lang="en-US" altLang="ja-JP" sz="1600" dirty="0"/>
              <a:t>F,D,X,M,W </a:t>
            </a:r>
            <a:r>
              <a:rPr lang="ja-JP" altLang="en-US" sz="1600" dirty="0"/>
              <a:t>の５ステージからなるパイプライン・プロセッサを構成することを考える</a:t>
            </a:r>
            <a:br>
              <a:rPr lang="en-US" altLang="ja-JP" sz="1600" dirty="0"/>
            </a:br>
            <a:r>
              <a:rPr lang="ja-JP" altLang="en-US" sz="1600" dirty="0"/>
              <a:t>ただし，</a:t>
            </a:r>
            <a:r>
              <a:rPr lang="en-US" altLang="ja-JP" sz="1600" dirty="0"/>
              <a:t>in-order </a:t>
            </a:r>
            <a:r>
              <a:rPr lang="ja-JP" altLang="en-US" sz="1600" dirty="0"/>
              <a:t>スカラ・プロセッサであるものとする</a:t>
            </a:r>
            <a:endParaRPr lang="en-US" altLang="ja-JP" sz="1600" dirty="0"/>
          </a:p>
          <a:p>
            <a:r>
              <a:rPr lang="en-US" altLang="ja-JP" sz="1600" dirty="0"/>
              <a:t>(3) </a:t>
            </a:r>
            <a:r>
              <a:rPr lang="ja-JP" altLang="en-US" sz="1600" dirty="0"/>
              <a:t>その場合の最大動作周波数はいくつになるか述べよ</a:t>
            </a:r>
            <a:endParaRPr lang="en-US" altLang="ja-JP" sz="1600" dirty="0"/>
          </a:p>
          <a:p>
            <a:pPr lvl="1"/>
            <a:r>
              <a:rPr lang="en-US" altLang="ja-JP" sz="1600" dirty="0"/>
              <a:t>1 </a:t>
            </a:r>
            <a:r>
              <a:rPr lang="ja-JP" altLang="en-US" sz="1600" dirty="0"/>
              <a:t>秒 </a:t>
            </a:r>
            <a:r>
              <a:rPr lang="en-US" altLang="ja-JP" sz="1600" dirty="0"/>
              <a:t>/ 1 ns = 1GHz</a:t>
            </a:r>
          </a:p>
          <a:p>
            <a:r>
              <a:rPr lang="en-US" altLang="ja-JP" sz="1600" dirty="0"/>
              <a:t>(4) </a:t>
            </a:r>
            <a:r>
              <a:rPr lang="ja-JP" altLang="en-US" sz="1600" dirty="0"/>
              <a:t>以下の命令列を実行するのに必要な時間を計算せよ</a:t>
            </a:r>
            <a:endParaRPr lang="en-US" altLang="ja-JP" sz="1600" dirty="0"/>
          </a:p>
          <a:p>
            <a:pPr marL="360000" lvl="1" indent="0">
              <a:buNone/>
            </a:pPr>
            <a:r>
              <a:rPr lang="en-US" altLang="ja-JP" sz="1600" dirty="0"/>
              <a:t>sub x2←x3+x4</a:t>
            </a:r>
            <a:br>
              <a:rPr lang="en-US" altLang="ja-JP" sz="1600" dirty="0"/>
            </a:br>
            <a:r>
              <a:rPr lang="en-US" altLang="ja-JP" sz="1600" dirty="0"/>
              <a:t>add x1←x2+x3</a:t>
            </a:r>
            <a:br>
              <a:rPr lang="en-US" altLang="ja-JP" sz="1600" dirty="0"/>
            </a:br>
            <a:r>
              <a:rPr lang="en-US" altLang="ja-JP" sz="1600" dirty="0"/>
              <a:t>add x5←x6+x7</a:t>
            </a:r>
          </a:p>
          <a:p>
            <a:pPr lvl="1"/>
            <a:r>
              <a:rPr lang="en-US" altLang="ja-JP" sz="1600" dirty="0"/>
              <a:t>7ns</a:t>
            </a:r>
          </a:p>
        </p:txBody>
      </p:sp>
      <p:grpSp>
        <p:nvGrpSpPr>
          <p:cNvPr id="3" name="グループ化 2">
            <a:extLst>
              <a:ext uri="{FF2B5EF4-FFF2-40B4-BE49-F238E27FC236}">
                <a16:creationId xmlns:a16="http://schemas.microsoft.com/office/drawing/2014/main" id="{8B14EF7C-0F78-F004-4DDA-8DA94615623B}"/>
              </a:ext>
            </a:extLst>
          </p:cNvPr>
          <p:cNvGrpSpPr/>
          <p:nvPr/>
        </p:nvGrpSpPr>
        <p:grpSpPr>
          <a:xfrm>
            <a:off x="1421965" y="5139019"/>
            <a:ext cx="2160020" cy="360000"/>
            <a:chOff x="4481999" y="4959017"/>
            <a:chExt cx="2160020" cy="360000"/>
          </a:xfrm>
        </p:grpSpPr>
        <p:sp>
          <p:nvSpPr>
            <p:cNvPr id="4" name="Rectangle 69">
              <a:extLst>
                <a:ext uri="{FF2B5EF4-FFF2-40B4-BE49-F238E27FC236}">
                  <a16:creationId xmlns:a16="http://schemas.microsoft.com/office/drawing/2014/main" id="{0897DC75-0566-5C7D-1CDB-4F8B442E9928}"/>
                </a:ext>
              </a:extLst>
            </p:cNvPr>
            <p:cNvSpPr>
              <a:spLocks noChangeArrowheads="1"/>
            </p:cNvSpPr>
            <p:nvPr/>
          </p:nvSpPr>
          <p:spPr bwMode="auto">
            <a:xfrm>
              <a:off x="448199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F</a:t>
              </a:r>
            </a:p>
          </p:txBody>
        </p:sp>
        <p:sp>
          <p:nvSpPr>
            <p:cNvPr id="6" name="Rectangle 70">
              <a:extLst>
                <a:ext uri="{FF2B5EF4-FFF2-40B4-BE49-F238E27FC236}">
                  <a16:creationId xmlns:a16="http://schemas.microsoft.com/office/drawing/2014/main" id="{A58320EF-FFF0-5068-04A6-C71EDADA0346}"/>
                </a:ext>
              </a:extLst>
            </p:cNvPr>
            <p:cNvSpPr>
              <a:spLocks noChangeArrowheads="1"/>
            </p:cNvSpPr>
            <p:nvPr/>
          </p:nvSpPr>
          <p:spPr bwMode="auto">
            <a:xfrm>
              <a:off x="493200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D</a:t>
              </a:r>
            </a:p>
          </p:txBody>
        </p:sp>
        <p:sp>
          <p:nvSpPr>
            <p:cNvPr id="8" name="Rectangle 71">
              <a:extLst>
                <a:ext uri="{FF2B5EF4-FFF2-40B4-BE49-F238E27FC236}">
                  <a16:creationId xmlns:a16="http://schemas.microsoft.com/office/drawing/2014/main" id="{4F1845DC-416E-12AC-0C32-65A88ED6139D}"/>
                </a:ext>
              </a:extLst>
            </p:cNvPr>
            <p:cNvSpPr>
              <a:spLocks noChangeArrowheads="1"/>
            </p:cNvSpPr>
            <p:nvPr/>
          </p:nvSpPr>
          <p:spPr bwMode="auto">
            <a:xfrm>
              <a:off x="538200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X</a:t>
              </a:r>
            </a:p>
          </p:txBody>
        </p:sp>
        <p:sp>
          <p:nvSpPr>
            <p:cNvPr id="9" name="Rectangle 72">
              <a:extLst>
                <a:ext uri="{FF2B5EF4-FFF2-40B4-BE49-F238E27FC236}">
                  <a16:creationId xmlns:a16="http://schemas.microsoft.com/office/drawing/2014/main" id="{BB10643C-A17E-ABAB-9435-FE44EB7F71B9}"/>
                </a:ext>
              </a:extLst>
            </p:cNvPr>
            <p:cNvSpPr>
              <a:spLocks noChangeArrowheads="1"/>
            </p:cNvSpPr>
            <p:nvPr/>
          </p:nvSpPr>
          <p:spPr bwMode="auto">
            <a:xfrm>
              <a:off x="583201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M</a:t>
              </a:r>
            </a:p>
          </p:txBody>
        </p:sp>
        <p:sp>
          <p:nvSpPr>
            <p:cNvPr id="10" name="Rectangle 73">
              <a:extLst>
                <a:ext uri="{FF2B5EF4-FFF2-40B4-BE49-F238E27FC236}">
                  <a16:creationId xmlns:a16="http://schemas.microsoft.com/office/drawing/2014/main" id="{1CDDC21D-4AD9-55FD-ED24-94BC6BD673FB}"/>
                </a:ext>
              </a:extLst>
            </p:cNvPr>
            <p:cNvSpPr>
              <a:spLocks noChangeArrowheads="1"/>
            </p:cNvSpPr>
            <p:nvPr/>
          </p:nvSpPr>
          <p:spPr bwMode="auto">
            <a:xfrm>
              <a:off x="628201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a:t>
              </a:r>
              <a:endParaRPr lang="en-US" altLang="ja-JP" sz="1600" dirty="0">
                <a:latin typeface="+mn-lt"/>
                <a:ea typeface="+mn-ea"/>
              </a:endParaRPr>
            </a:p>
          </p:txBody>
        </p:sp>
      </p:grpSp>
      <p:grpSp>
        <p:nvGrpSpPr>
          <p:cNvPr id="11" name="グループ化 10">
            <a:extLst>
              <a:ext uri="{FF2B5EF4-FFF2-40B4-BE49-F238E27FC236}">
                <a16:creationId xmlns:a16="http://schemas.microsoft.com/office/drawing/2014/main" id="{E746961F-4BFA-DAA9-9EA7-B52D9CB03FA6}"/>
              </a:ext>
            </a:extLst>
          </p:cNvPr>
          <p:cNvGrpSpPr/>
          <p:nvPr/>
        </p:nvGrpSpPr>
        <p:grpSpPr>
          <a:xfrm>
            <a:off x="1871970" y="5589024"/>
            <a:ext cx="2160020" cy="360000"/>
            <a:chOff x="4481999" y="4959017"/>
            <a:chExt cx="2160020" cy="360000"/>
          </a:xfrm>
        </p:grpSpPr>
        <p:sp>
          <p:nvSpPr>
            <p:cNvPr id="12" name="Rectangle 69">
              <a:extLst>
                <a:ext uri="{FF2B5EF4-FFF2-40B4-BE49-F238E27FC236}">
                  <a16:creationId xmlns:a16="http://schemas.microsoft.com/office/drawing/2014/main" id="{C4194B49-B1EF-5270-74B5-869DC3734A08}"/>
                </a:ext>
              </a:extLst>
            </p:cNvPr>
            <p:cNvSpPr>
              <a:spLocks noChangeArrowheads="1"/>
            </p:cNvSpPr>
            <p:nvPr/>
          </p:nvSpPr>
          <p:spPr bwMode="auto">
            <a:xfrm>
              <a:off x="448199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F</a:t>
              </a:r>
            </a:p>
          </p:txBody>
        </p:sp>
        <p:sp>
          <p:nvSpPr>
            <p:cNvPr id="13" name="Rectangle 70">
              <a:extLst>
                <a:ext uri="{FF2B5EF4-FFF2-40B4-BE49-F238E27FC236}">
                  <a16:creationId xmlns:a16="http://schemas.microsoft.com/office/drawing/2014/main" id="{F64FAC9D-FFD2-10DC-E5D1-C282E1B92D5F}"/>
                </a:ext>
              </a:extLst>
            </p:cNvPr>
            <p:cNvSpPr>
              <a:spLocks noChangeArrowheads="1"/>
            </p:cNvSpPr>
            <p:nvPr/>
          </p:nvSpPr>
          <p:spPr bwMode="auto">
            <a:xfrm>
              <a:off x="493200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D</a:t>
              </a:r>
            </a:p>
          </p:txBody>
        </p:sp>
        <p:sp>
          <p:nvSpPr>
            <p:cNvPr id="14" name="Rectangle 71">
              <a:extLst>
                <a:ext uri="{FF2B5EF4-FFF2-40B4-BE49-F238E27FC236}">
                  <a16:creationId xmlns:a16="http://schemas.microsoft.com/office/drawing/2014/main" id="{6CDBFF53-EAC9-80B0-1E86-BD269BBA4A0C}"/>
                </a:ext>
              </a:extLst>
            </p:cNvPr>
            <p:cNvSpPr>
              <a:spLocks noChangeArrowheads="1"/>
            </p:cNvSpPr>
            <p:nvPr/>
          </p:nvSpPr>
          <p:spPr bwMode="auto">
            <a:xfrm>
              <a:off x="538200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X</a:t>
              </a:r>
            </a:p>
          </p:txBody>
        </p:sp>
        <p:sp>
          <p:nvSpPr>
            <p:cNvPr id="15" name="Rectangle 72">
              <a:extLst>
                <a:ext uri="{FF2B5EF4-FFF2-40B4-BE49-F238E27FC236}">
                  <a16:creationId xmlns:a16="http://schemas.microsoft.com/office/drawing/2014/main" id="{6C754524-4F97-059C-ED8B-2EC50962C7BA}"/>
                </a:ext>
              </a:extLst>
            </p:cNvPr>
            <p:cNvSpPr>
              <a:spLocks noChangeArrowheads="1"/>
            </p:cNvSpPr>
            <p:nvPr/>
          </p:nvSpPr>
          <p:spPr bwMode="auto">
            <a:xfrm>
              <a:off x="583201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M</a:t>
              </a:r>
            </a:p>
          </p:txBody>
        </p:sp>
        <p:sp>
          <p:nvSpPr>
            <p:cNvPr id="16" name="Rectangle 73">
              <a:extLst>
                <a:ext uri="{FF2B5EF4-FFF2-40B4-BE49-F238E27FC236}">
                  <a16:creationId xmlns:a16="http://schemas.microsoft.com/office/drawing/2014/main" id="{3742B222-2E83-7502-DDDF-F1D3F72EF846}"/>
                </a:ext>
              </a:extLst>
            </p:cNvPr>
            <p:cNvSpPr>
              <a:spLocks noChangeArrowheads="1"/>
            </p:cNvSpPr>
            <p:nvPr/>
          </p:nvSpPr>
          <p:spPr bwMode="auto">
            <a:xfrm>
              <a:off x="628201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a:t>
              </a:r>
              <a:endParaRPr lang="en-US" altLang="ja-JP" sz="1600" dirty="0">
                <a:latin typeface="+mn-lt"/>
                <a:ea typeface="+mn-ea"/>
              </a:endParaRPr>
            </a:p>
          </p:txBody>
        </p:sp>
      </p:grpSp>
      <p:grpSp>
        <p:nvGrpSpPr>
          <p:cNvPr id="17" name="グループ化 16">
            <a:extLst>
              <a:ext uri="{FF2B5EF4-FFF2-40B4-BE49-F238E27FC236}">
                <a16:creationId xmlns:a16="http://schemas.microsoft.com/office/drawing/2014/main" id="{07FA17C6-39C4-8803-0CD8-DDA1432D4C46}"/>
              </a:ext>
            </a:extLst>
          </p:cNvPr>
          <p:cNvGrpSpPr/>
          <p:nvPr/>
        </p:nvGrpSpPr>
        <p:grpSpPr>
          <a:xfrm>
            <a:off x="2321975" y="6039029"/>
            <a:ext cx="2160020" cy="360000"/>
            <a:chOff x="4481999" y="4959017"/>
            <a:chExt cx="2160020" cy="360000"/>
          </a:xfrm>
        </p:grpSpPr>
        <p:sp>
          <p:nvSpPr>
            <p:cNvPr id="18" name="Rectangle 69">
              <a:extLst>
                <a:ext uri="{FF2B5EF4-FFF2-40B4-BE49-F238E27FC236}">
                  <a16:creationId xmlns:a16="http://schemas.microsoft.com/office/drawing/2014/main" id="{11608AD3-E1AB-34F7-3583-36F8572E9B3D}"/>
                </a:ext>
              </a:extLst>
            </p:cNvPr>
            <p:cNvSpPr>
              <a:spLocks noChangeArrowheads="1"/>
            </p:cNvSpPr>
            <p:nvPr/>
          </p:nvSpPr>
          <p:spPr bwMode="auto">
            <a:xfrm>
              <a:off x="448199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F</a:t>
              </a:r>
            </a:p>
          </p:txBody>
        </p:sp>
        <p:sp>
          <p:nvSpPr>
            <p:cNvPr id="19" name="Rectangle 70">
              <a:extLst>
                <a:ext uri="{FF2B5EF4-FFF2-40B4-BE49-F238E27FC236}">
                  <a16:creationId xmlns:a16="http://schemas.microsoft.com/office/drawing/2014/main" id="{BE0C1326-CC49-97F5-3F05-6705CEE2DD7F}"/>
                </a:ext>
              </a:extLst>
            </p:cNvPr>
            <p:cNvSpPr>
              <a:spLocks noChangeArrowheads="1"/>
            </p:cNvSpPr>
            <p:nvPr/>
          </p:nvSpPr>
          <p:spPr bwMode="auto">
            <a:xfrm>
              <a:off x="493200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D</a:t>
              </a:r>
            </a:p>
          </p:txBody>
        </p:sp>
        <p:sp>
          <p:nvSpPr>
            <p:cNvPr id="20" name="Rectangle 71">
              <a:extLst>
                <a:ext uri="{FF2B5EF4-FFF2-40B4-BE49-F238E27FC236}">
                  <a16:creationId xmlns:a16="http://schemas.microsoft.com/office/drawing/2014/main" id="{0E466E56-392C-5828-E0F9-C8879BCE9F9E}"/>
                </a:ext>
              </a:extLst>
            </p:cNvPr>
            <p:cNvSpPr>
              <a:spLocks noChangeArrowheads="1"/>
            </p:cNvSpPr>
            <p:nvPr/>
          </p:nvSpPr>
          <p:spPr bwMode="auto">
            <a:xfrm>
              <a:off x="538200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X</a:t>
              </a:r>
            </a:p>
          </p:txBody>
        </p:sp>
        <p:sp>
          <p:nvSpPr>
            <p:cNvPr id="21" name="Rectangle 72">
              <a:extLst>
                <a:ext uri="{FF2B5EF4-FFF2-40B4-BE49-F238E27FC236}">
                  <a16:creationId xmlns:a16="http://schemas.microsoft.com/office/drawing/2014/main" id="{9B12CCD0-BC5D-9A7A-7B5B-118B5CF6CDA5}"/>
                </a:ext>
              </a:extLst>
            </p:cNvPr>
            <p:cNvSpPr>
              <a:spLocks noChangeArrowheads="1"/>
            </p:cNvSpPr>
            <p:nvPr/>
          </p:nvSpPr>
          <p:spPr bwMode="auto">
            <a:xfrm>
              <a:off x="583201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M</a:t>
              </a:r>
            </a:p>
          </p:txBody>
        </p:sp>
        <p:sp>
          <p:nvSpPr>
            <p:cNvPr id="22" name="Rectangle 73">
              <a:extLst>
                <a:ext uri="{FF2B5EF4-FFF2-40B4-BE49-F238E27FC236}">
                  <a16:creationId xmlns:a16="http://schemas.microsoft.com/office/drawing/2014/main" id="{08CEAC68-4661-CABD-0978-B7562F359107}"/>
                </a:ext>
              </a:extLst>
            </p:cNvPr>
            <p:cNvSpPr>
              <a:spLocks noChangeArrowheads="1"/>
            </p:cNvSpPr>
            <p:nvPr/>
          </p:nvSpPr>
          <p:spPr bwMode="auto">
            <a:xfrm>
              <a:off x="628201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a:t>
              </a:r>
              <a:endParaRPr lang="en-US" altLang="ja-JP" sz="1600" dirty="0">
                <a:latin typeface="+mn-lt"/>
                <a:ea typeface="+mn-ea"/>
              </a:endParaRPr>
            </a:p>
          </p:txBody>
        </p:sp>
      </p:grpSp>
      <p:cxnSp>
        <p:nvCxnSpPr>
          <p:cNvPr id="24" name="直線矢印コネクタ 23">
            <a:extLst>
              <a:ext uri="{FF2B5EF4-FFF2-40B4-BE49-F238E27FC236}">
                <a16:creationId xmlns:a16="http://schemas.microsoft.com/office/drawing/2014/main" id="{87C159C9-5E9A-39EC-CCBE-350E833AFD57}"/>
              </a:ext>
            </a:extLst>
          </p:cNvPr>
          <p:cNvCxnSpPr/>
          <p:nvPr/>
        </p:nvCxnSpPr>
        <p:spPr bwMode="auto">
          <a:xfrm>
            <a:off x="1421965" y="4959017"/>
            <a:ext cx="3150035" cy="0"/>
          </a:xfrm>
          <a:prstGeom prst="straightConnector1">
            <a:avLst/>
          </a:prstGeom>
          <a:noFill/>
          <a:ln w="9525" cap="flat" cmpd="sng" algn="ctr">
            <a:solidFill>
              <a:schemeClr val="tx1"/>
            </a:solidFill>
            <a:prstDash val="solid"/>
            <a:round/>
            <a:headEnd type="triangle" w="med" len="med"/>
            <a:tailEnd type="triangle"/>
          </a:ln>
          <a:effectLst/>
        </p:spPr>
      </p:cxnSp>
    </p:spTree>
    <p:extLst>
      <p:ext uri="{BB962C8B-B14F-4D97-AF65-F5344CB8AC3E}">
        <p14:creationId xmlns:p14="http://schemas.microsoft.com/office/powerpoint/2010/main" val="89287716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 </a:t>
            </a:r>
            <a:r>
              <a:rPr lang="en-US" altLang="ja-JP" dirty="0"/>
              <a:t>7</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sz="quarter" idx="10"/>
          </p:nvPr>
        </p:nvSpPr>
        <p:spPr>
          <a:xfrm>
            <a:off x="611956" y="1088974"/>
            <a:ext cx="7920088" cy="2520028"/>
          </a:xfrm>
        </p:spPr>
        <p:txBody>
          <a:bodyPr anchor="t"/>
          <a:lstStyle/>
          <a:p>
            <a:r>
              <a:rPr lang="en-US" altLang="ja-JP" sz="1600" dirty="0"/>
              <a:t>(5) </a:t>
            </a:r>
            <a:r>
              <a:rPr lang="ja-JP" altLang="en-US" sz="1600" dirty="0"/>
              <a:t>以下の命令列を実行するのに必要な時間を計算せよ</a:t>
            </a:r>
            <a:br>
              <a:rPr lang="en-US" altLang="ja-JP" sz="1600" dirty="0"/>
            </a:br>
            <a:r>
              <a:rPr lang="ja-JP" altLang="en-US" sz="1600" dirty="0"/>
              <a:t>依存関係のために必要な場合のみパイプラインを適宜ストールして実行するものとせよ</a:t>
            </a:r>
            <a:br>
              <a:rPr lang="en-US" altLang="ja-JP" sz="1600" dirty="0"/>
            </a:br>
            <a:r>
              <a:rPr lang="en-US" altLang="ja-JP" sz="1600" dirty="0"/>
              <a:t>ld    </a:t>
            </a:r>
            <a:r>
              <a:rPr lang="en-US" altLang="ja-JP" sz="1600" dirty="0">
                <a:solidFill>
                  <a:schemeClr val="accent5"/>
                </a:solidFill>
              </a:rPr>
              <a:t>x2</a:t>
            </a:r>
            <a:r>
              <a:rPr lang="en-US" altLang="ja-JP" sz="1600" dirty="0"/>
              <a:t>←(x1)</a:t>
            </a:r>
            <a:br>
              <a:rPr lang="en-US" altLang="ja-JP" sz="1600" dirty="0"/>
            </a:br>
            <a:r>
              <a:rPr lang="en-US" altLang="ja-JP" sz="1600" dirty="0"/>
              <a:t>add x1←</a:t>
            </a:r>
            <a:r>
              <a:rPr lang="en-US" altLang="ja-JP" sz="1600" dirty="0">
                <a:solidFill>
                  <a:schemeClr val="accent5"/>
                </a:solidFill>
              </a:rPr>
              <a:t>x2</a:t>
            </a:r>
            <a:r>
              <a:rPr lang="en-US" altLang="ja-JP" sz="1600" dirty="0"/>
              <a:t>+x3</a:t>
            </a:r>
            <a:br>
              <a:rPr lang="en-US" altLang="ja-JP" sz="1600" dirty="0"/>
            </a:br>
            <a:r>
              <a:rPr lang="en-US" altLang="ja-JP" sz="1600" dirty="0"/>
              <a:t>ld    </a:t>
            </a:r>
            <a:r>
              <a:rPr lang="en-US" altLang="ja-JP" sz="1600" dirty="0">
                <a:solidFill>
                  <a:schemeClr val="accent5"/>
                </a:solidFill>
              </a:rPr>
              <a:t>x2</a:t>
            </a:r>
            <a:r>
              <a:rPr lang="en-US" altLang="ja-JP" sz="1600" dirty="0"/>
              <a:t>←(x3)</a:t>
            </a:r>
            <a:br>
              <a:rPr lang="en-US" altLang="ja-JP" sz="1600" dirty="0"/>
            </a:br>
            <a:r>
              <a:rPr lang="en-US" altLang="ja-JP" sz="1600" dirty="0"/>
              <a:t>add x5←</a:t>
            </a:r>
            <a:r>
              <a:rPr lang="en-US" altLang="ja-JP" sz="1600" dirty="0">
                <a:solidFill>
                  <a:schemeClr val="accent5"/>
                </a:solidFill>
              </a:rPr>
              <a:t>x2</a:t>
            </a:r>
            <a:r>
              <a:rPr lang="en-US" altLang="ja-JP" sz="1600" dirty="0"/>
              <a:t>+x7</a:t>
            </a:r>
          </a:p>
          <a:p>
            <a:r>
              <a:rPr lang="en-US" altLang="ja-JP" sz="1600" dirty="0"/>
              <a:t>10ns</a:t>
            </a:r>
            <a:r>
              <a:rPr lang="ja-JP" altLang="en-US" sz="1600" dirty="0"/>
              <a:t>（フォワーディングありの場合）</a:t>
            </a:r>
            <a:br>
              <a:rPr lang="en-US" altLang="ja-JP" sz="1600" dirty="0"/>
            </a:br>
            <a:r>
              <a:rPr lang="en-US" altLang="ja-JP" sz="1600" dirty="0"/>
              <a:t>1,3 </a:t>
            </a:r>
            <a:r>
              <a:rPr lang="ja-JP" altLang="en-US" sz="1600" dirty="0"/>
              <a:t>命令目の </a:t>
            </a:r>
            <a:r>
              <a:rPr lang="en-US" altLang="ja-JP" sz="1600" dirty="0" err="1"/>
              <a:t>ld</a:t>
            </a:r>
            <a:r>
              <a:rPr lang="en-US" altLang="ja-JP" sz="1600" dirty="0"/>
              <a:t> </a:t>
            </a:r>
            <a:r>
              <a:rPr lang="ja-JP" altLang="en-US" sz="1600" dirty="0"/>
              <a:t>では </a:t>
            </a:r>
            <a:r>
              <a:rPr lang="en-US" altLang="ja-JP" sz="1600" dirty="0"/>
              <a:t>M </a:t>
            </a:r>
            <a:r>
              <a:rPr lang="ja-JP" altLang="en-US" sz="1600" dirty="0"/>
              <a:t>が終わるまで値が取れないため，</a:t>
            </a:r>
            <a:br>
              <a:rPr lang="en-US" altLang="ja-JP" sz="1600" dirty="0"/>
            </a:br>
            <a:r>
              <a:rPr lang="ja-JP" altLang="en-US" sz="1600" dirty="0"/>
              <a:t>それに依存した後ろにある命令ではバブルが生じる（ストールが発生する）</a:t>
            </a:r>
            <a:endParaRPr lang="en-US" altLang="ja-JP" sz="1600" dirty="0"/>
          </a:p>
        </p:txBody>
      </p:sp>
      <p:sp>
        <p:nvSpPr>
          <p:cNvPr id="4" name="Rectangle 69">
            <a:extLst>
              <a:ext uri="{FF2B5EF4-FFF2-40B4-BE49-F238E27FC236}">
                <a16:creationId xmlns:a16="http://schemas.microsoft.com/office/drawing/2014/main" id="{BE7DE7CF-0982-42D5-387A-3F09092B0AA3}"/>
              </a:ext>
            </a:extLst>
          </p:cNvPr>
          <p:cNvSpPr>
            <a:spLocks noChangeArrowheads="1"/>
          </p:cNvSpPr>
          <p:nvPr/>
        </p:nvSpPr>
        <p:spPr bwMode="auto">
          <a:xfrm>
            <a:off x="971960" y="450901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F</a:t>
            </a:r>
          </a:p>
        </p:txBody>
      </p:sp>
      <p:sp>
        <p:nvSpPr>
          <p:cNvPr id="6" name="Rectangle 70">
            <a:extLst>
              <a:ext uri="{FF2B5EF4-FFF2-40B4-BE49-F238E27FC236}">
                <a16:creationId xmlns:a16="http://schemas.microsoft.com/office/drawing/2014/main" id="{7F7EB531-94AD-4E0A-C7F9-8D1912702EF1}"/>
              </a:ext>
            </a:extLst>
          </p:cNvPr>
          <p:cNvSpPr>
            <a:spLocks noChangeArrowheads="1"/>
          </p:cNvSpPr>
          <p:nvPr/>
        </p:nvSpPr>
        <p:spPr bwMode="auto">
          <a:xfrm>
            <a:off x="1421965" y="450901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D</a:t>
            </a:r>
          </a:p>
        </p:txBody>
      </p:sp>
      <p:sp>
        <p:nvSpPr>
          <p:cNvPr id="8" name="Rectangle 71">
            <a:extLst>
              <a:ext uri="{FF2B5EF4-FFF2-40B4-BE49-F238E27FC236}">
                <a16:creationId xmlns:a16="http://schemas.microsoft.com/office/drawing/2014/main" id="{0B160E19-0513-955E-6EC3-E3C00C83FDF1}"/>
              </a:ext>
            </a:extLst>
          </p:cNvPr>
          <p:cNvSpPr>
            <a:spLocks noChangeArrowheads="1"/>
          </p:cNvSpPr>
          <p:nvPr/>
        </p:nvSpPr>
        <p:spPr bwMode="auto">
          <a:xfrm>
            <a:off x="1871970" y="450901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X</a:t>
            </a:r>
          </a:p>
        </p:txBody>
      </p:sp>
      <p:sp>
        <p:nvSpPr>
          <p:cNvPr id="9" name="Rectangle 72">
            <a:extLst>
              <a:ext uri="{FF2B5EF4-FFF2-40B4-BE49-F238E27FC236}">
                <a16:creationId xmlns:a16="http://schemas.microsoft.com/office/drawing/2014/main" id="{3B6F30B4-FAD5-2F55-BF93-C25584F514E0}"/>
              </a:ext>
            </a:extLst>
          </p:cNvPr>
          <p:cNvSpPr>
            <a:spLocks noChangeArrowheads="1"/>
          </p:cNvSpPr>
          <p:nvPr/>
        </p:nvSpPr>
        <p:spPr bwMode="auto">
          <a:xfrm>
            <a:off x="2321975" y="450901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M</a:t>
            </a:r>
          </a:p>
        </p:txBody>
      </p:sp>
      <p:sp>
        <p:nvSpPr>
          <p:cNvPr id="10" name="Rectangle 73">
            <a:extLst>
              <a:ext uri="{FF2B5EF4-FFF2-40B4-BE49-F238E27FC236}">
                <a16:creationId xmlns:a16="http://schemas.microsoft.com/office/drawing/2014/main" id="{C77F1EE0-4744-519F-F966-C96C7A3EEB05}"/>
              </a:ext>
            </a:extLst>
          </p:cNvPr>
          <p:cNvSpPr>
            <a:spLocks noChangeArrowheads="1"/>
          </p:cNvSpPr>
          <p:nvPr/>
        </p:nvSpPr>
        <p:spPr bwMode="auto">
          <a:xfrm>
            <a:off x="2771980" y="450901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a:t>
            </a:r>
            <a:endParaRPr lang="en-US" altLang="ja-JP" sz="1600" dirty="0">
              <a:latin typeface="+mn-lt"/>
              <a:ea typeface="+mn-ea"/>
            </a:endParaRPr>
          </a:p>
        </p:txBody>
      </p:sp>
      <p:sp>
        <p:nvSpPr>
          <p:cNvPr id="12" name="Rectangle 69">
            <a:extLst>
              <a:ext uri="{FF2B5EF4-FFF2-40B4-BE49-F238E27FC236}">
                <a16:creationId xmlns:a16="http://schemas.microsoft.com/office/drawing/2014/main" id="{B90DD618-53E3-EC9E-567D-D74D9C9C0AFB}"/>
              </a:ext>
            </a:extLst>
          </p:cNvPr>
          <p:cNvSpPr>
            <a:spLocks noChangeArrowheads="1"/>
          </p:cNvSpPr>
          <p:nvPr/>
        </p:nvSpPr>
        <p:spPr bwMode="auto">
          <a:xfrm>
            <a:off x="1421965"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F</a:t>
            </a:r>
          </a:p>
        </p:txBody>
      </p:sp>
      <p:sp>
        <p:nvSpPr>
          <p:cNvPr id="13" name="Rectangle 70">
            <a:extLst>
              <a:ext uri="{FF2B5EF4-FFF2-40B4-BE49-F238E27FC236}">
                <a16:creationId xmlns:a16="http://schemas.microsoft.com/office/drawing/2014/main" id="{641302E3-B5F6-22C5-3449-A0398C2EBA03}"/>
              </a:ext>
            </a:extLst>
          </p:cNvPr>
          <p:cNvSpPr>
            <a:spLocks noChangeArrowheads="1"/>
          </p:cNvSpPr>
          <p:nvPr/>
        </p:nvSpPr>
        <p:spPr bwMode="auto">
          <a:xfrm>
            <a:off x="1871970"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D</a:t>
            </a:r>
          </a:p>
        </p:txBody>
      </p:sp>
      <p:sp>
        <p:nvSpPr>
          <p:cNvPr id="14" name="Rectangle 71">
            <a:extLst>
              <a:ext uri="{FF2B5EF4-FFF2-40B4-BE49-F238E27FC236}">
                <a16:creationId xmlns:a16="http://schemas.microsoft.com/office/drawing/2014/main" id="{3B494AC6-34BC-F677-8086-7ED1D13107C6}"/>
              </a:ext>
            </a:extLst>
          </p:cNvPr>
          <p:cNvSpPr>
            <a:spLocks noChangeArrowheads="1"/>
          </p:cNvSpPr>
          <p:nvPr/>
        </p:nvSpPr>
        <p:spPr bwMode="auto">
          <a:xfrm>
            <a:off x="2771980"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X</a:t>
            </a:r>
          </a:p>
        </p:txBody>
      </p:sp>
      <p:sp>
        <p:nvSpPr>
          <p:cNvPr id="15" name="Rectangle 72">
            <a:extLst>
              <a:ext uri="{FF2B5EF4-FFF2-40B4-BE49-F238E27FC236}">
                <a16:creationId xmlns:a16="http://schemas.microsoft.com/office/drawing/2014/main" id="{294B0C06-8112-5710-EFA7-4206AD8E2A3E}"/>
              </a:ext>
            </a:extLst>
          </p:cNvPr>
          <p:cNvSpPr>
            <a:spLocks noChangeArrowheads="1"/>
          </p:cNvSpPr>
          <p:nvPr/>
        </p:nvSpPr>
        <p:spPr bwMode="auto">
          <a:xfrm>
            <a:off x="3221985"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M</a:t>
            </a:r>
          </a:p>
        </p:txBody>
      </p:sp>
      <p:sp>
        <p:nvSpPr>
          <p:cNvPr id="16" name="Rectangle 73">
            <a:extLst>
              <a:ext uri="{FF2B5EF4-FFF2-40B4-BE49-F238E27FC236}">
                <a16:creationId xmlns:a16="http://schemas.microsoft.com/office/drawing/2014/main" id="{EC5DC536-6527-3B79-B33C-3E55F0D3FD5E}"/>
              </a:ext>
            </a:extLst>
          </p:cNvPr>
          <p:cNvSpPr>
            <a:spLocks noChangeArrowheads="1"/>
          </p:cNvSpPr>
          <p:nvPr/>
        </p:nvSpPr>
        <p:spPr bwMode="auto">
          <a:xfrm>
            <a:off x="3671990"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a:t>
            </a:r>
            <a:endParaRPr lang="en-US" altLang="ja-JP" sz="1600" dirty="0">
              <a:latin typeface="+mn-lt"/>
              <a:ea typeface="+mn-ea"/>
            </a:endParaRPr>
          </a:p>
        </p:txBody>
      </p:sp>
      <p:sp>
        <p:nvSpPr>
          <p:cNvPr id="18" name="Rectangle 69">
            <a:extLst>
              <a:ext uri="{FF2B5EF4-FFF2-40B4-BE49-F238E27FC236}">
                <a16:creationId xmlns:a16="http://schemas.microsoft.com/office/drawing/2014/main" id="{B94E6F65-C29C-ED3B-FF01-78D1D9A574FC}"/>
              </a:ext>
            </a:extLst>
          </p:cNvPr>
          <p:cNvSpPr>
            <a:spLocks noChangeArrowheads="1"/>
          </p:cNvSpPr>
          <p:nvPr/>
        </p:nvSpPr>
        <p:spPr bwMode="auto">
          <a:xfrm>
            <a:off x="1871970" y="540902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F</a:t>
            </a:r>
          </a:p>
        </p:txBody>
      </p:sp>
      <p:sp>
        <p:nvSpPr>
          <p:cNvPr id="19" name="Rectangle 70">
            <a:extLst>
              <a:ext uri="{FF2B5EF4-FFF2-40B4-BE49-F238E27FC236}">
                <a16:creationId xmlns:a16="http://schemas.microsoft.com/office/drawing/2014/main" id="{1A804DCF-C7C7-9883-0EF5-C4A6E2C7D9DF}"/>
              </a:ext>
            </a:extLst>
          </p:cNvPr>
          <p:cNvSpPr>
            <a:spLocks noChangeArrowheads="1"/>
          </p:cNvSpPr>
          <p:nvPr/>
        </p:nvSpPr>
        <p:spPr bwMode="auto">
          <a:xfrm>
            <a:off x="2771980" y="540902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D</a:t>
            </a:r>
          </a:p>
        </p:txBody>
      </p:sp>
      <p:sp>
        <p:nvSpPr>
          <p:cNvPr id="20" name="Rectangle 71">
            <a:extLst>
              <a:ext uri="{FF2B5EF4-FFF2-40B4-BE49-F238E27FC236}">
                <a16:creationId xmlns:a16="http://schemas.microsoft.com/office/drawing/2014/main" id="{0F26E2E7-BB3F-BDCE-B849-E5B9BB3AD7F6}"/>
              </a:ext>
            </a:extLst>
          </p:cNvPr>
          <p:cNvSpPr>
            <a:spLocks noChangeArrowheads="1"/>
          </p:cNvSpPr>
          <p:nvPr/>
        </p:nvSpPr>
        <p:spPr bwMode="auto">
          <a:xfrm>
            <a:off x="3221985" y="540902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X</a:t>
            </a:r>
          </a:p>
        </p:txBody>
      </p:sp>
      <p:sp>
        <p:nvSpPr>
          <p:cNvPr id="21" name="Rectangle 72">
            <a:extLst>
              <a:ext uri="{FF2B5EF4-FFF2-40B4-BE49-F238E27FC236}">
                <a16:creationId xmlns:a16="http://schemas.microsoft.com/office/drawing/2014/main" id="{E9DD3DDB-CBBA-68F0-CAF4-B450691DB739}"/>
              </a:ext>
            </a:extLst>
          </p:cNvPr>
          <p:cNvSpPr>
            <a:spLocks noChangeArrowheads="1"/>
          </p:cNvSpPr>
          <p:nvPr/>
        </p:nvSpPr>
        <p:spPr bwMode="auto">
          <a:xfrm>
            <a:off x="3671990" y="540902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M</a:t>
            </a:r>
          </a:p>
        </p:txBody>
      </p:sp>
      <p:sp>
        <p:nvSpPr>
          <p:cNvPr id="22" name="Rectangle 73">
            <a:extLst>
              <a:ext uri="{FF2B5EF4-FFF2-40B4-BE49-F238E27FC236}">
                <a16:creationId xmlns:a16="http://schemas.microsoft.com/office/drawing/2014/main" id="{2841FC1B-147E-4B50-2C62-D057CB5723BB}"/>
              </a:ext>
            </a:extLst>
          </p:cNvPr>
          <p:cNvSpPr>
            <a:spLocks noChangeArrowheads="1"/>
          </p:cNvSpPr>
          <p:nvPr/>
        </p:nvSpPr>
        <p:spPr bwMode="auto">
          <a:xfrm>
            <a:off x="4121995" y="540902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a:t>
            </a:r>
            <a:endParaRPr lang="en-US" altLang="ja-JP" sz="1600" dirty="0">
              <a:latin typeface="+mn-lt"/>
              <a:ea typeface="+mn-ea"/>
            </a:endParaRPr>
          </a:p>
        </p:txBody>
      </p:sp>
      <p:sp>
        <p:nvSpPr>
          <p:cNvPr id="29" name="Rectangle 69">
            <a:extLst>
              <a:ext uri="{FF2B5EF4-FFF2-40B4-BE49-F238E27FC236}">
                <a16:creationId xmlns:a16="http://schemas.microsoft.com/office/drawing/2014/main" id="{EADEF4E3-32B3-6C5C-9BB7-376DF5308E84}"/>
              </a:ext>
            </a:extLst>
          </p:cNvPr>
          <p:cNvSpPr>
            <a:spLocks noChangeArrowheads="1"/>
          </p:cNvSpPr>
          <p:nvPr/>
        </p:nvSpPr>
        <p:spPr bwMode="auto">
          <a:xfrm>
            <a:off x="2771980" y="585902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F</a:t>
            </a:r>
          </a:p>
        </p:txBody>
      </p:sp>
      <p:sp>
        <p:nvSpPr>
          <p:cNvPr id="30" name="Rectangle 70">
            <a:extLst>
              <a:ext uri="{FF2B5EF4-FFF2-40B4-BE49-F238E27FC236}">
                <a16:creationId xmlns:a16="http://schemas.microsoft.com/office/drawing/2014/main" id="{64EA38E5-1AA6-AE27-E1C4-5AFB9E2F56C7}"/>
              </a:ext>
            </a:extLst>
          </p:cNvPr>
          <p:cNvSpPr>
            <a:spLocks noChangeArrowheads="1"/>
          </p:cNvSpPr>
          <p:nvPr/>
        </p:nvSpPr>
        <p:spPr bwMode="auto">
          <a:xfrm>
            <a:off x="3221985" y="585902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D</a:t>
            </a:r>
          </a:p>
        </p:txBody>
      </p:sp>
      <p:sp>
        <p:nvSpPr>
          <p:cNvPr id="31" name="Rectangle 71">
            <a:extLst>
              <a:ext uri="{FF2B5EF4-FFF2-40B4-BE49-F238E27FC236}">
                <a16:creationId xmlns:a16="http://schemas.microsoft.com/office/drawing/2014/main" id="{E5FFC73C-3256-A443-689E-121251F82A36}"/>
              </a:ext>
            </a:extLst>
          </p:cNvPr>
          <p:cNvSpPr>
            <a:spLocks noChangeArrowheads="1"/>
          </p:cNvSpPr>
          <p:nvPr/>
        </p:nvSpPr>
        <p:spPr bwMode="auto">
          <a:xfrm>
            <a:off x="4121995" y="585902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X</a:t>
            </a:r>
          </a:p>
        </p:txBody>
      </p:sp>
      <p:sp>
        <p:nvSpPr>
          <p:cNvPr id="32" name="Rectangle 72">
            <a:extLst>
              <a:ext uri="{FF2B5EF4-FFF2-40B4-BE49-F238E27FC236}">
                <a16:creationId xmlns:a16="http://schemas.microsoft.com/office/drawing/2014/main" id="{1263441F-926D-8336-F897-30E1AE2310BD}"/>
              </a:ext>
            </a:extLst>
          </p:cNvPr>
          <p:cNvSpPr>
            <a:spLocks noChangeArrowheads="1"/>
          </p:cNvSpPr>
          <p:nvPr/>
        </p:nvSpPr>
        <p:spPr bwMode="auto">
          <a:xfrm>
            <a:off x="4572000" y="585902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M</a:t>
            </a:r>
          </a:p>
        </p:txBody>
      </p:sp>
      <p:sp>
        <p:nvSpPr>
          <p:cNvPr id="33" name="Rectangle 73">
            <a:extLst>
              <a:ext uri="{FF2B5EF4-FFF2-40B4-BE49-F238E27FC236}">
                <a16:creationId xmlns:a16="http://schemas.microsoft.com/office/drawing/2014/main" id="{B3DD9601-38D5-D1B5-541A-4C97BEDE571C}"/>
              </a:ext>
            </a:extLst>
          </p:cNvPr>
          <p:cNvSpPr>
            <a:spLocks noChangeArrowheads="1"/>
          </p:cNvSpPr>
          <p:nvPr/>
        </p:nvSpPr>
        <p:spPr bwMode="auto">
          <a:xfrm>
            <a:off x="5022005" y="585902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a:t>
            </a:r>
            <a:endParaRPr lang="en-US" altLang="ja-JP" sz="1600" dirty="0">
              <a:latin typeface="+mn-lt"/>
              <a:ea typeface="+mn-ea"/>
            </a:endParaRPr>
          </a:p>
        </p:txBody>
      </p:sp>
      <p:sp>
        <p:nvSpPr>
          <p:cNvPr id="34" name="Rectangle 70">
            <a:extLst>
              <a:ext uri="{FF2B5EF4-FFF2-40B4-BE49-F238E27FC236}">
                <a16:creationId xmlns:a16="http://schemas.microsoft.com/office/drawing/2014/main" id="{4EB51CDB-B172-127A-93A1-91F2634AEFF5}"/>
              </a:ext>
            </a:extLst>
          </p:cNvPr>
          <p:cNvSpPr>
            <a:spLocks noChangeArrowheads="1"/>
          </p:cNvSpPr>
          <p:nvPr/>
        </p:nvSpPr>
        <p:spPr bwMode="auto">
          <a:xfrm>
            <a:off x="2321975" y="4959017"/>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latin typeface="+mn-lt"/>
                <a:ea typeface="+mn-ea"/>
              </a:rPr>
              <a:t>bb</a:t>
            </a:r>
          </a:p>
        </p:txBody>
      </p:sp>
      <p:sp>
        <p:nvSpPr>
          <p:cNvPr id="35" name="Rectangle 70">
            <a:extLst>
              <a:ext uri="{FF2B5EF4-FFF2-40B4-BE49-F238E27FC236}">
                <a16:creationId xmlns:a16="http://schemas.microsoft.com/office/drawing/2014/main" id="{65A157E9-B368-1D92-E1E6-CBBC7B05D04B}"/>
              </a:ext>
            </a:extLst>
          </p:cNvPr>
          <p:cNvSpPr>
            <a:spLocks noChangeArrowheads="1"/>
          </p:cNvSpPr>
          <p:nvPr/>
        </p:nvSpPr>
        <p:spPr bwMode="auto">
          <a:xfrm>
            <a:off x="2321975" y="5409022"/>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latin typeface="+mn-lt"/>
                <a:ea typeface="+mn-ea"/>
              </a:rPr>
              <a:t>bb</a:t>
            </a:r>
          </a:p>
        </p:txBody>
      </p:sp>
      <p:cxnSp>
        <p:nvCxnSpPr>
          <p:cNvPr id="37" name="直線矢印コネクタ 36">
            <a:extLst>
              <a:ext uri="{FF2B5EF4-FFF2-40B4-BE49-F238E27FC236}">
                <a16:creationId xmlns:a16="http://schemas.microsoft.com/office/drawing/2014/main" id="{7BE7FA8B-CAA2-366B-5E7F-4DD25AF7541E}"/>
              </a:ext>
            </a:extLst>
          </p:cNvPr>
          <p:cNvCxnSpPr/>
          <p:nvPr/>
        </p:nvCxnSpPr>
        <p:spPr bwMode="auto">
          <a:xfrm>
            <a:off x="3941993" y="5679025"/>
            <a:ext cx="270003" cy="270003"/>
          </a:xfrm>
          <a:prstGeom prst="straightConnector1">
            <a:avLst/>
          </a:prstGeom>
          <a:ln>
            <a:headEnd type="none" w="med" len="med"/>
            <a:tailEnd type="triangle"/>
          </a:ln>
        </p:spPr>
        <p:style>
          <a:lnRef idx="3">
            <a:schemeClr val="accent5"/>
          </a:lnRef>
          <a:fillRef idx="0">
            <a:schemeClr val="accent5"/>
          </a:fillRef>
          <a:effectRef idx="2">
            <a:schemeClr val="accent5"/>
          </a:effectRef>
          <a:fontRef idx="minor">
            <a:schemeClr val="tx1"/>
          </a:fontRef>
        </p:style>
      </p:cxnSp>
      <p:cxnSp>
        <p:nvCxnSpPr>
          <p:cNvPr id="38" name="直線矢印コネクタ 37">
            <a:extLst>
              <a:ext uri="{FF2B5EF4-FFF2-40B4-BE49-F238E27FC236}">
                <a16:creationId xmlns:a16="http://schemas.microsoft.com/office/drawing/2014/main" id="{1851F5AE-A5FA-5812-672D-E5BDA144E932}"/>
              </a:ext>
            </a:extLst>
          </p:cNvPr>
          <p:cNvCxnSpPr/>
          <p:nvPr/>
        </p:nvCxnSpPr>
        <p:spPr bwMode="auto">
          <a:xfrm>
            <a:off x="2591978" y="4779015"/>
            <a:ext cx="270003" cy="270003"/>
          </a:xfrm>
          <a:prstGeom prst="straightConnector1">
            <a:avLst/>
          </a:prstGeom>
          <a:ln>
            <a:headEnd type="none" w="med" len="med"/>
            <a:tailEnd type="triangle"/>
          </a:ln>
        </p:spPr>
        <p:style>
          <a:lnRef idx="3">
            <a:schemeClr val="accent5"/>
          </a:lnRef>
          <a:fillRef idx="0">
            <a:schemeClr val="accent5"/>
          </a:fillRef>
          <a:effectRef idx="2">
            <a:schemeClr val="accent5"/>
          </a:effectRef>
          <a:fontRef idx="minor">
            <a:schemeClr val="tx1"/>
          </a:fontRef>
        </p:style>
      </p:cxnSp>
      <p:sp>
        <p:nvSpPr>
          <p:cNvPr id="23" name="Rectangle 70">
            <a:extLst>
              <a:ext uri="{FF2B5EF4-FFF2-40B4-BE49-F238E27FC236}">
                <a16:creationId xmlns:a16="http://schemas.microsoft.com/office/drawing/2014/main" id="{C5FDB007-F70D-96C7-1CDC-B2E40D8DA928}"/>
              </a:ext>
            </a:extLst>
          </p:cNvPr>
          <p:cNvSpPr>
            <a:spLocks noChangeArrowheads="1"/>
          </p:cNvSpPr>
          <p:nvPr/>
        </p:nvSpPr>
        <p:spPr bwMode="auto">
          <a:xfrm>
            <a:off x="3671990" y="5859027"/>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latin typeface="+mn-lt"/>
                <a:ea typeface="+mn-ea"/>
              </a:rPr>
              <a:t>bb</a:t>
            </a:r>
          </a:p>
        </p:txBody>
      </p:sp>
    </p:spTree>
    <p:extLst>
      <p:ext uri="{BB962C8B-B14F-4D97-AF65-F5344CB8AC3E}">
        <p14:creationId xmlns:p14="http://schemas.microsoft.com/office/powerpoint/2010/main" val="158882053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 </a:t>
            </a:r>
            <a:r>
              <a:rPr lang="en-US" altLang="ja-JP" dirty="0"/>
              <a:t>7</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sz="quarter" idx="10"/>
          </p:nvPr>
        </p:nvSpPr>
        <p:spPr>
          <a:xfrm>
            <a:off x="611956" y="998973"/>
            <a:ext cx="7920088" cy="2520028"/>
          </a:xfrm>
        </p:spPr>
        <p:txBody>
          <a:bodyPr anchor="t"/>
          <a:lstStyle/>
          <a:p>
            <a:r>
              <a:rPr lang="en-US" altLang="ja-JP" sz="1600" dirty="0"/>
              <a:t>(6) </a:t>
            </a:r>
            <a:r>
              <a:rPr lang="ja-JP" altLang="en-US" sz="1600" dirty="0"/>
              <a:t>以下の命令列を実行するのに必要な時間を計算せよ</a:t>
            </a:r>
            <a:br>
              <a:rPr lang="en-US" altLang="ja-JP" sz="1600" dirty="0"/>
            </a:br>
            <a:r>
              <a:rPr lang="ja-JP" altLang="en-US" sz="1600" dirty="0"/>
              <a:t>ここで </a:t>
            </a:r>
            <a:r>
              <a:rPr lang="en-US" altLang="ja-JP" sz="1600" dirty="0"/>
              <a:t>mul </a:t>
            </a:r>
            <a:r>
              <a:rPr lang="ja-JP" altLang="en-US" sz="1600" dirty="0"/>
              <a:t>は乗算命令であり </a:t>
            </a:r>
            <a:r>
              <a:rPr lang="en-US" altLang="ja-JP" sz="1600" dirty="0"/>
              <a:t>X </a:t>
            </a:r>
            <a:r>
              <a:rPr lang="ja-JP" altLang="en-US" sz="1600" dirty="0"/>
              <a:t>に４サイクルが必要である．</a:t>
            </a:r>
            <a:br>
              <a:rPr lang="en-US" altLang="ja-JP" sz="1600" dirty="0"/>
            </a:br>
            <a:r>
              <a:rPr lang="ja-JP" altLang="en-US" sz="1600" dirty="0"/>
              <a:t>依存関係を満たすために必要な場合のみ</a:t>
            </a:r>
            <a:br>
              <a:rPr lang="en-US" altLang="ja-JP" sz="1600" dirty="0"/>
            </a:br>
            <a:r>
              <a:rPr lang="ja-JP" altLang="en-US" sz="1600" dirty="0"/>
              <a:t>パイプラインを適宜ストールして実行するものとせよ</a:t>
            </a:r>
            <a:br>
              <a:rPr lang="en-US" altLang="ja-JP" sz="1600" dirty="0"/>
            </a:br>
            <a:r>
              <a:rPr lang="en-US" altLang="ja-JP" sz="1600" dirty="0"/>
              <a:t>mul </a:t>
            </a:r>
            <a:r>
              <a:rPr lang="en-US" altLang="ja-JP" sz="1600" dirty="0">
                <a:solidFill>
                  <a:schemeClr val="accent5"/>
                </a:solidFill>
              </a:rPr>
              <a:t>x2</a:t>
            </a:r>
            <a:r>
              <a:rPr lang="en-US" altLang="ja-JP" sz="1600" dirty="0"/>
              <a:t>←x1+x4</a:t>
            </a:r>
            <a:br>
              <a:rPr lang="en-US" altLang="ja-JP" sz="1600" dirty="0"/>
            </a:br>
            <a:r>
              <a:rPr lang="en-US" altLang="ja-JP" sz="1600" dirty="0"/>
              <a:t>add x1←</a:t>
            </a:r>
            <a:r>
              <a:rPr lang="en-US" altLang="ja-JP" sz="1600" dirty="0">
                <a:solidFill>
                  <a:schemeClr val="accent5"/>
                </a:solidFill>
              </a:rPr>
              <a:t>x2</a:t>
            </a:r>
            <a:r>
              <a:rPr lang="en-US" altLang="ja-JP" sz="1600" dirty="0"/>
              <a:t>+x3</a:t>
            </a:r>
            <a:br>
              <a:rPr lang="en-US" altLang="ja-JP" sz="1600" dirty="0"/>
            </a:br>
            <a:r>
              <a:rPr lang="en-US" altLang="ja-JP" sz="1600" dirty="0"/>
              <a:t>add x5←x2+x7</a:t>
            </a:r>
          </a:p>
          <a:p>
            <a:r>
              <a:rPr lang="en-US" altLang="ja-JP" sz="1600" dirty="0"/>
              <a:t>10ns </a:t>
            </a:r>
            <a:r>
              <a:rPr lang="ja-JP" altLang="en-US" sz="1600" dirty="0"/>
              <a:t>（フォワーディングありの場合）</a:t>
            </a:r>
            <a:endParaRPr lang="en-US" altLang="ja-JP" sz="1600" dirty="0"/>
          </a:p>
          <a:p>
            <a:endParaRPr lang="en-US" altLang="ja-JP" sz="1600" dirty="0"/>
          </a:p>
        </p:txBody>
      </p:sp>
      <p:sp>
        <p:nvSpPr>
          <p:cNvPr id="4" name="Rectangle 69">
            <a:extLst>
              <a:ext uri="{FF2B5EF4-FFF2-40B4-BE49-F238E27FC236}">
                <a16:creationId xmlns:a16="http://schemas.microsoft.com/office/drawing/2014/main" id="{BCFBF644-97FC-FBE9-C860-0EA06709A80D}"/>
              </a:ext>
            </a:extLst>
          </p:cNvPr>
          <p:cNvSpPr>
            <a:spLocks noChangeArrowheads="1"/>
          </p:cNvSpPr>
          <p:nvPr/>
        </p:nvSpPr>
        <p:spPr bwMode="auto">
          <a:xfrm>
            <a:off x="2321975" y="513901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F</a:t>
            </a:r>
          </a:p>
        </p:txBody>
      </p:sp>
      <p:sp>
        <p:nvSpPr>
          <p:cNvPr id="6" name="Rectangle 70">
            <a:extLst>
              <a:ext uri="{FF2B5EF4-FFF2-40B4-BE49-F238E27FC236}">
                <a16:creationId xmlns:a16="http://schemas.microsoft.com/office/drawing/2014/main" id="{D66903EA-1175-4A92-05C4-B1B197B09C16}"/>
              </a:ext>
            </a:extLst>
          </p:cNvPr>
          <p:cNvSpPr>
            <a:spLocks noChangeArrowheads="1"/>
          </p:cNvSpPr>
          <p:nvPr/>
        </p:nvSpPr>
        <p:spPr bwMode="auto">
          <a:xfrm>
            <a:off x="4121995" y="513901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D</a:t>
            </a:r>
          </a:p>
        </p:txBody>
      </p:sp>
      <p:sp>
        <p:nvSpPr>
          <p:cNvPr id="8" name="Rectangle 71">
            <a:extLst>
              <a:ext uri="{FF2B5EF4-FFF2-40B4-BE49-F238E27FC236}">
                <a16:creationId xmlns:a16="http://schemas.microsoft.com/office/drawing/2014/main" id="{2B8994CB-B64E-FAFD-8F26-129574F6EA08}"/>
              </a:ext>
            </a:extLst>
          </p:cNvPr>
          <p:cNvSpPr>
            <a:spLocks noChangeArrowheads="1"/>
          </p:cNvSpPr>
          <p:nvPr/>
        </p:nvSpPr>
        <p:spPr bwMode="auto">
          <a:xfrm>
            <a:off x="4572000" y="513901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X</a:t>
            </a:r>
          </a:p>
        </p:txBody>
      </p:sp>
      <p:sp>
        <p:nvSpPr>
          <p:cNvPr id="9" name="Rectangle 72">
            <a:extLst>
              <a:ext uri="{FF2B5EF4-FFF2-40B4-BE49-F238E27FC236}">
                <a16:creationId xmlns:a16="http://schemas.microsoft.com/office/drawing/2014/main" id="{D626610C-63E6-22BF-0221-A4364EE198FF}"/>
              </a:ext>
            </a:extLst>
          </p:cNvPr>
          <p:cNvSpPr>
            <a:spLocks noChangeArrowheads="1"/>
          </p:cNvSpPr>
          <p:nvPr/>
        </p:nvSpPr>
        <p:spPr bwMode="auto">
          <a:xfrm>
            <a:off x="5022005" y="513901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M</a:t>
            </a:r>
          </a:p>
        </p:txBody>
      </p:sp>
      <p:sp>
        <p:nvSpPr>
          <p:cNvPr id="10" name="Rectangle 73">
            <a:extLst>
              <a:ext uri="{FF2B5EF4-FFF2-40B4-BE49-F238E27FC236}">
                <a16:creationId xmlns:a16="http://schemas.microsoft.com/office/drawing/2014/main" id="{F6B709E1-853F-6E20-0B26-05E50A7E0AB8}"/>
              </a:ext>
            </a:extLst>
          </p:cNvPr>
          <p:cNvSpPr>
            <a:spLocks noChangeArrowheads="1"/>
          </p:cNvSpPr>
          <p:nvPr/>
        </p:nvSpPr>
        <p:spPr bwMode="auto">
          <a:xfrm>
            <a:off x="5472010" y="513901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a:t>
            </a:r>
            <a:endParaRPr lang="en-US" altLang="ja-JP" sz="1600" dirty="0">
              <a:latin typeface="+mn-lt"/>
              <a:ea typeface="+mn-ea"/>
            </a:endParaRPr>
          </a:p>
        </p:txBody>
      </p:sp>
      <p:sp>
        <p:nvSpPr>
          <p:cNvPr id="12" name="Rectangle 69">
            <a:extLst>
              <a:ext uri="{FF2B5EF4-FFF2-40B4-BE49-F238E27FC236}">
                <a16:creationId xmlns:a16="http://schemas.microsoft.com/office/drawing/2014/main" id="{12AE0FF9-54EB-D0E8-292C-DB7FB72470CC}"/>
              </a:ext>
            </a:extLst>
          </p:cNvPr>
          <p:cNvSpPr>
            <a:spLocks noChangeArrowheads="1"/>
          </p:cNvSpPr>
          <p:nvPr/>
        </p:nvSpPr>
        <p:spPr bwMode="auto">
          <a:xfrm>
            <a:off x="1421965" y="423900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F</a:t>
            </a:r>
          </a:p>
        </p:txBody>
      </p:sp>
      <p:sp>
        <p:nvSpPr>
          <p:cNvPr id="13" name="Rectangle 70">
            <a:extLst>
              <a:ext uri="{FF2B5EF4-FFF2-40B4-BE49-F238E27FC236}">
                <a16:creationId xmlns:a16="http://schemas.microsoft.com/office/drawing/2014/main" id="{0635572C-C100-F4DD-A52D-D4B224D913E6}"/>
              </a:ext>
            </a:extLst>
          </p:cNvPr>
          <p:cNvSpPr>
            <a:spLocks noChangeArrowheads="1"/>
          </p:cNvSpPr>
          <p:nvPr/>
        </p:nvSpPr>
        <p:spPr bwMode="auto">
          <a:xfrm>
            <a:off x="1871970" y="423900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D</a:t>
            </a:r>
          </a:p>
        </p:txBody>
      </p:sp>
      <p:sp>
        <p:nvSpPr>
          <p:cNvPr id="14" name="Rectangle 71">
            <a:extLst>
              <a:ext uri="{FF2B5EF4-FFF2-40B4-BE49-F238E27FC236}">
                <a16:creationId xmlns:a16="http://schemas.microsoft.com/office/drawing/2014/main" id="{0197F41D-88E5-AB05-15E7-FCB8574472DF}"/>
              </a:ext>
            </a:extLst>
          </p:cNvPr>
          <p:cNvSpPr>
            <a:spLocks noChangeArrowheads="1"/>
          </p:cNvSpPr>
          <p:nvPr/>
        </p:nvSpPr>
        <p:spPr bwMode="auto">
          <a:xfrm>
            <a:off x="2321975" y="423900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X</a:t>
            </a:r>
          </a:p>
        </p:txBody>
      </p:sp>
      <p:sp>
        <p:nvSpPr>
          <p:cNvPr id="15" name="Rectangle 72">
            <a:extLst>
              <a:ext uri="{FF2B5EF4-FFF2-40B4-BE49-F238E27FC236}">
                <a16:creationId xmlns:a16="http://schemas.microsoft.com/office/drawing/2014/main" id="{D008D8C0-9E03-A24E-EC9C-B86493768BAA}"/>
              </a:ext>
            </a:extLst>
          </p:cNvPr>
          <p:cNvSpPr>
            <a:spLocks noChangeArrowheads="1"/>
          </p:cNvSpPr>
          <p:nvPr/>
        </p:nvSpPr>
        <p:spPr bwMode="auto">
          <a:xfrm>
            <a:off x="4121995" y="423900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M</a:t>
            </a:r>
          </a:p>
        </p:txBody>
      </p:sp>
      <p:sp>
        <p:nvSpPr>
          <p:cNvPr id="16" name="Rectangle 73">
            <a:extLst>
              <a:ext uri="{FF2B5EF4-FFF2-40B4-BE49-F238E27FC236}">
                <a16:creationId xmlns:a16="http://schemas.microsoft.com/office/drawing/2014/main" id="{717344D1-CC4E-0E10-EBF6-647116747DE1}"/>
              </a:ext>
            </a:extLst>
          </p:cNvPr>
          <p:cNvSpPr>
            <a:spLocks noChangeArrowheads="1"/>
          </p:cNvSpPr>
          <p:nvPr/>
        </p:nvSpPr>
        <p:spPr bwMode="auto">
          <a:xfrm>
            <a:off x="4572000" y="423900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a:t>
            </a:r>
            <a:endParaRPr lang="en-US" altLang="ja-JP" sz="1600" dirty="0">
              <a:latin typeface="+mn-lt"/>
              <a:ea typeface="+mn-ea"/>
            </a:endParaRPr>
          </a:p>
        </p:txBody>
      </p:sp>
      <p:sp>
        <p:nvSpPr>
          <p:cNvPr id="17" name="Rectangle 69">
            <a:extLst>
              <a:ext uri="{FF2B5EF4-FFF2-40B4-BE49-F238E27FC236}">
                <a16:creationId xmlns:a16="http://schemas.microsoft.com/office/drawing/2014/main" id="{2867D37A-78BE-07CA-4B70-7BE1638DCD98}"/>
              </a:ext>
            </a:extLst>
          </p:cNvPr>
          <p:cNvSpPr>
            <a:spLocks noChangeArrowheads="1"/>
          </p:cNvSpPr>
          <p:nvPr/>
        </p:nvSpPr>
        <p:spPr bwMode="auto">
          <a:xfrm>
            <a:off x="1871970" y="468901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F</a:t>
            </a:r>
          </a:p>
        </p:txBody>
      </p:sp>
      <p:sp>
        <p:nvSpPr>
          <p:cNvPr id="18" name="Rectangle 70">
            <a:extLst>
              <a:ext uri="{FF2B5EF4-FFF2-40B4-BE49-F238E27FC236}">
                <a16:creationId xmlns:a16="http://schemas.microsoft.com/office/drawing/2014/main" id="{5675BC93-D24F-5C4B-3CDC-4D0F24A75DC5}"/>
              </a:ext>
            </a:extLst>
          </p:cNvPr>
          <p:cNvSpPr>
            <a:spLocks noChangeArrowheads="1"/>
          </p:cNvSpPr>
          <p:nvPr/>
        </p:nvSpPr>
        <p:spPr bwMode="auto">
          <a:xfrm>
            <a:off x="2321975" y="468901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D</a:t>
            </a:r>
          </a:p>
        </p:txBody>
      </p:sp>
      <p:sp>
        <p:nvSpPr>
          <p:cNvPr id="19" name="Rectangle 71">
            <a:extLst>
              <a:ext uri="{FF2B5EF4-FFF2-40B4-BE49-F238E27FC236}">
                <a16:creationId xmlns:a16="http://schemas.microsoft.com/office/drawing/2014/main" id="{D3823924-7D2E-E018-F883-01441E16FFCD}"/>
              </a:ext>
            </a:extLst>
          </p:cNvPr>
          <p:cNvSpPr>
            <a:spLocks noChangeArrowheads="1"/>
          </p:cNvSpPr>
          <p:nvPr/>
        </p:nvSpPr>
        <p:spPr bwMode="auto">
          <a:xfrm>
            <a:off x="4121995" y="468901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X</a:t>
            </a:r>
          </a:p>
        </p:txBody>
      </p:sp>
      <p:sp>
        <p:nvSpPr>
          <p:cNvPr id="20" name="Rectangle 72">
            <a:extLst>
              <a:ext uri="{FF2B5EF4-FFF2-40B4-BE49-F238E27FC236}">
                <a16:creationId xmlns:a16="http://schemas.microsoft.com/office/drawing/2014/main" id="{D706E755-8A91-2546-FC43-7C532251E77D}"/>
              </a:ext>
            </a:extLst>
          </p:cNvPr>
          <p:cNvSpPr>
            <a:spLocks noChangeArrowheads="1"/>
          </p:cNvSpPr>
          <p:nvPr/>
        </p:nvSpPr>
        <p:spPr bwMode="auto">
          <a:xfrm>
            <a:off x="4572000" y="468901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M</a:t>
            </a:r>
          </a:p>
        </p:txBody>
      </p:sp>
      <p:sp>
        <p:nvSpPr>
          <p:cNvPr id="21" name="Rectangle 73">
            <a:extLst>
              <a:ext uri="{FF2B5EF4-FFF2-40B4-BE49-F238E27FC236}">
                <a16:creationId xmlns:a16="http://schemas.microsoft.com/office/drawing/2014/main" id="{D30DB0A8-D0BF-747F-9C30-2DDA1A84A6A8}"/>
              </a:ext>
            </a:extLst>
          </p:cNvPr>
          <p:cNvSpPr>
            <a:spLocks noChangeArrowheads="1"/>
          </p:cNvSpPr>
          <p:nvPr/>
        </p:nvSpPr>
        <p:spPr bwMode="auto">
          <a:xfrm>
            <a:off x="5022005" y="468901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a:t>
            </a:r>
            <a:endParaRPr lang="en-US" altLang="ja-JP" sz="1600" dirty="0">
              <a:latin typeface="+mn-lt"/>
              <a:ea typeface="+mn-ea"/>
            </a:endParaRPr>
          </a:p>
        </p:txBody>
      </p:sp>
      <p:sp>
        <p:nvSpPr>
          <p:cNvPr id="27" name="Rectangle 70">
            <a:extLst>
              <a:ext uri="{FF2B5EF4-FFF2-40B4-BE49-F238E27FC236}">
                <a16:creationId xmlns:a16="http://schemas.microsoft.com/office/drawing/2014/main" id="{3A775945-7782-DBB7-930E-6445217118AE}"/>
              </a:ext>
            </a:extLst>
          </p:cNvPr>
          <p:cNvSpPr>
            <a:spLocks noChangeArrowheads="1"/>
          </p:cNvSpPr>
          <p:nvPr/>
        </p:nvSpPr>
        <p:spPr bwMode="auto">
          <a:xfrm>
            <a:off x="2771980" y="4689014"/>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latin typeface="+mn-lt"/>
                <a:ea typeface="+mn-ea"/>
              </a:rPr>
              <a:t>bb</a:t>
            </a:r>
          </a:p>
        </p:txBody>
      </p:sp>
      <p:sp>
        <p:nvSpPr>
          <p:cNvPr id="31" name="Rectangle 71">
            <a:extLst>
              <a:ext uri="{FF2B5EF4-FFF2-40B4-BE49-F238E27FC236}">
                <a16:creationId xmlns:a16="http://schemas.microsoft.com/office/drawing/2014/main" id="{0BB121FE-2D2D-3790-EA28-2D4687950560}"/>
              </a:ext>
            </a:extLst>
          </p:cNvPr>
          <p:cNvSpPr>
            <a:spLocks noChangeArrowheads="1"/>
          </p:cNvSpPr>
          <p:nvPr/>
        </p:nvSpPr>
        <p:spPr bwMode="auto">
          <a:xfrm>
            <a:off x="2771980" y="423900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X</a:t>
            </a:r>
          </a:p>
        </p:txBody>
      </p:sp>
      <p:sp>
        <p:nvSpPr>
          <p:cNvPr id="32" name="Rectangle 71">
            <a:extLst>
              <a:ext uri="{FF2B5EF4-FFF2-40B4-BE49-F238E27FC236}">
                <a16:creationId xmlns:a16="http://schemas.microsoft.com/office/drawing/2014/main" id="{7F62E108-824E-0CEF-AE4C-A2E5F09B54CA}"/>
              </a:ext>
            </a:extLst>
          </p:cNvPr>
          <p:cNvSpPr>
            <a:spLocks noChangeArrowheads="1"/>
          </p:cNvSpPr>
          <p:nvPr/>
        </p:nvSpPr>
        <p:spPr bwMode="auto">
          <a:xfrm>
            <a:off x="3221985" y="423900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X</a:t>
            </a:r>
          </a:p>
        </p:txBody>
      </p:sp>
      <p:sp>
        <p:nvSpPr>
          <p:cNvPr id="33" name="Rectangle 71">
            <a:extLst>
              <a:ext uri="{FF2B5EF4-FFF2-40B4-BE49-F238E27FC236}">
                <a16:creationId xmlns:a16="http://schemas.microsoft.com/office/drawing/2014/main" id="{BAB2FA10-90FA-55F6-6DBB-9615FF1C3856}"/>
              </a:ext>
            </a:extLst>
          </p:cNvPr>
          <p:cNvSpPr>
            <a:spLocks noChangeArrowheads="1"/>
          </p:cNvSpPr>
          <p:nvPr/>
        </p:nvSpPr>
        <p:spPr bwMode="auto">
          <a:xfrm>
            <a:off x="3671990" y="423900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X</a:t>
            </a:r>
          </a:p>
        </p:txBody>
      </p:sp>
      <p:cxnSp>
        <p:nvCxnSpPr>
          <p:cNvPr id="29" name="直線矢印コネクタ 28">
            <a:extLst>
              <a:ext uri="{FF2B5EF4-FFF2-40B4-BE49-F238E27FC236}">
                <a16:creationId xmlns:a16="http://schemas.microsoft.com/office/drawing/2014/main" id="{21B98EF5-CBA6-80AC-2E79-EC02A94E3C64}"/>
              </a:ext>
            </a:extLst>
          </p:cNvPr>
          <p:cNvCxnSpPr/>
          <p:nvPr/>
        </p:nvCxnSpPr>
        <p:spPr bwMode="auto">
          <a:xfrm>
            <a:off x="3941993" y="4509012"/>
            <a:ext cx="270003" cy="270003"/>
          </a:xfrm>
          <a:prstGeom prst="straightConnector1">
            <a:avLst/>
          </a:prstGeom>
          <a:ln>
            <a:headEnd type="none" w="med" len="med"/>
            <a:tailEnd type="triangle"/>
          </a:ln>
        </p:spPr>
        <p:style>
          <a:lnRef idx="3">
            <a:schemeClr val="accent5"/>
          </a:lnRef>
          <a:fillRef idx="0">
            <a:schemeClr val="accent5"/>
          </a:fillRef>
          <a:effectRef idx="2">
            <a:schemeClr val="accent5"/>
          </a:effectRef>
          <a:fontRef idx="minor">
            <a:schemeClr val="tx1"/>
          </a:fontRef>
        </p:style>
      </p:cxnSp>
      <p:sp>
        <p:nvSpPr>
          <p:cNvPr id="34" name="Rectangle 70">
            <a:extLst>
              <a:ext uri="{FF2B5EF4-FFF2-40B4-BE49-F238E27FC236}">
                <a16:creationId xmlns:a16="http://schemas.microsoft.com/office/drawing/2014/main" id="{91B873CB-6548-0CF1-49F0-58F6EB4E225B}"/>
              </a:ext>
            </a:extLst>
          </p:cNvPr>
          <p:cNvSpPr>
            <a:spLocks noChangeArrowheads="1"/>
          </p:cNvSpPr>
          <p:nvPr/>
        </p:nvSpPr>
        <p:spPr bwMode="auto">
          <a:xfrm>
            <a:off x="3221985" y="4689014"/>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latin typeface="+mn-lt"/>
                <a:ea typeface="+mn-ea"/>
              </a:rPr>
              <a:t>bb</a:t>
            </a:r>
          </a:p>
        </p:txBody>
      </p:sp>
      <p:sp>
        <p:nvSpPr>
          <p:cNvPr id="35" name="Rectangle 70">
            <a:extLst>
              <a:ext uri="{FF2B5EF4-FFF2-40B4-BE49-F238E27FC236}">
                <a16:creationId xmlns:a16="http://schemas.microsoft.com/office/drawing/2014/main" id="{7ED5397A-7BEA-BA9B-A992-C5DA36BC1DD5}"/>
              </a:ext>
            </a:extLst>
          </p:cNvPr>
          <p:cNvSpPr>
            <a:spLocks noChangeArrowheads="1"/>
          </p:cNvSpPr>
          <p:nvPr/>
        </p:nvSpPr>
        <p:spPr bwMode="auto">
          <a:xfrm>
            <a:off x="3671990" y="4689014"/>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latin typeface="+mn-lt"/>
                <a:ea typeface="+mn-ea"/>
              </a:rPr>
              <a:t>bb</a:t>
            </a:r>
          </a:p>
        </p:txBody>
      </p:sp>
      <p:sp>
        <p:nvSpPr>
          <p:cNvPr id="2" name="Rectangle 70">
            <a:extLst>
              <a:ext uri="{FF2B5EF4-FFF2-40B4-BE49-F238E27FC236}">
                <a16:creationId xmlns:a16="http://schemas.microsoft.com/office/drawing/2014/main" id="{C3353D56-82B0-EF4F-18C0-CDCA6ACFA6AB}"/>
              </a:ext>
            </a:extLst>
          </p:cNvPr>
          <p:cNvSpPr>
            <a:spLocks noChangeArrowheads="1"/>
          </p:cNvSpPr>
          <p:nvPr/>
        </p:nvSpPr>
        <p:spPr bwMode="auto">
          <a:xfrm>
            <a:off x="2771980" y="5139019"/>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latin typeface="+mn-lt"/>
                <a:ea typeface="+mn-ea"/>
              </a:rPr>
              <a:t>bb</a:t>
            </a:r>
          </a:p>
        </p:txBody>
      </p:sp>
      <p:sp>
        <p:nvSpPr>
          <p:cNvPr id="3" name="Rectangle 70">
            <a:extLst>
              <a:ext uri="{FF2B5EF4-FFF2-40B4-BE49-F238E27FC236}">
                <a16:creationId xmlns:a16="http://schemas.microsoft.com/office/drawing/2014/main" id="{DC18887C-2D26-5ABB-8D4F-6E726CF9E269}"/>
              </a:ext>
            </a:extLst>
          </p:cNvPr>
          <p:cNvSpPr>
            <a:spLocks noChangeArrowheads="1"/>
          </p:cNvSpPr>
          <p:nvPr/>
        </p:nvSpPr>
        <p:spPr bwMode="auto">
          <a:xfrm>
            <a:off x="3221985" y="5139019"/>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latin typeface="+mn-lt"/>
                <a:ea typeface="+mn-ea"/>
              </a:rPr>
              <a:t>bb</a:t>
            </a:r>
          </a:p>
        </p:txBody>
      </p:sp>
      <p:sp>
        <p:nvSpPr>
          <p:cNvPr id="11" name="Rectangle 70">
            <a:extLst>
              <a:ext uri="{FF2B5EF4-FFF2-40B4-BE49-F238E27FC236}">
                <a16:creationId xmlns:a16="http://schemas.microsoft.com/office/drawing/2014/main" id="{4093FAAD-35DB-916D-7161-A26264D74582}"/>
              </a:ext>
            </a:extLst>
          </p:cNvPr>
          <p:cNvSpPr>
            <a:spLocks noChangeArrowheads="1"/>
          </p:cNvSpPr>
          <p:nvPr/>
        </p:nvSpPr>
        <p:spPr bwMode="auto">
          <a:xfrm>
            <a:off x="3671990" y="5139019"/>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latin typeface="+mn-lt"/>
                <a:ea typeface="+mn-ea"/>
              </a:rPr>
              <a:t>bb</a:t>
            </a:r>
          </a:p>
        </p:txBody>
      </p:sp>
    </p:spTree>
    <p:extLst>
      <p:ext uri="{BB962C8B-B14F-4D97-AF65-F5344CB8AC3E}">
        <p14:creationId xmlns:p14="http://schemas.microsoft.com/office/powerpoint/2010/main" val="101755710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 </a:t>
            </a:r>
            <a:r>
              <a:rPr lang="en-US" altLang="ja-JP" dirty="0"/>
              <a:t>7</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sz="quarter" idx="10"/>
          </p:nvPr>
        </p:nvSpPr>
        <p:spPr>
          <a:xfrm>
            <a:off x="611956" y="998973"/>
            <a:ext cx="7920088" cy="2520028"/>
          </a:xfrm>
        </p:spPr>
        <p:txBody>
          <a:bodyPr anchor="t"/>
          <a:lstStyle/>
          <a:p>
            <a:r>
              <a:rPr lang="en-US" altLang="ja-JP" sz="1600" dirty="0"/>
              <a:t>(7) </a:t>
            </a:r>
            <a:r>
              <a:rPr lang="ja-JP" altLang="en-US" sz="1600" dirty="0"/>
              <a:t>以下の命令列を実行するのに必要な時間を計算せよ</a:t>
            </a:r>
            <a:br>
              <a:rPr lang="en-US" altLang="ja-JP" sz="1600" dirty="0"/>
            </a:br>
            <a:r>
              <a:rPr lang="ja-JP" altLang="en-US" sz="1600" dirty="0"/>
              <a:t>ここで </a:t>
            </a:r>
            <a:r>
              <a:rPr lang="en-US" altLang="ja-JP" sz="1600" dirty="0" err="1"/>
              <a:t>beq</a:t>
            </a:r>
            <a:r>
              <a:rPr lang="en-US" altLang="ja-JP" sz="1600" dirty="0"/>
              <a:t> </a:t>
            </a:r>
            <a:r>
              <a:rPr lang="ja-JP" altLang="en-US" sz="1600" dirty="0"/>
              <a:t>はオペランドが等しい時に分岐する分岐命令である</a:t>
            </a:r>
            <a:br>
              <a:rPr lang="en-US" altLang="ja-JP" sz="1600" dirty="0"/>
            </a:br>
            <a:r>
              <a:rPr lang="ja-JP" altLang="en-US" sz="1600" dirty="0"/>
              <a:t>プロセッサは分岐予測を行うものとし，</a:t>
            </a:r>
            <a:r>
              <a:rPr lang="en-US" altLang="ja-JP" sz="1600" dirty="0" err="1"/>
              <a:t>beq</a:t>
            </a:r>
            <a:r>
              <a:rPr lang="en-US" altLang="ja-JP" sz="1600" dirty="0"/>
              <a:t> </a:t>
            </a:r>
            <a:r>
              <a:rPr lang="ja-JP" altLang="en-US" sz="1600" dirty="0"/>
              <a:t>が分岐予測ミスを起こして </a:t>
            </a:r>
            <a:r>
              <a:rPr lang="en-US" altLang="ja-JP" sz="1600" dirty="0"/>
              <a:t>LABEL </a:t>
            </a:r>
            <a:r>
              <a:rPr lang="ja-JP" altLang="en-US" sz="1600" dirty="0"/>
              <a:t>に飛んだあとにフラッシュされてやり直した場合を想定せよ</a:t>
            </a:r>
            <a:br>
              <a:rPr lang="en-US" altLang="ja-JP" sz="1600" dirty="0"/>
            </a:br>
            <a:r>
              <a:rPr lang="en-US" altLang="ja-JP" sz="1600" dirty="0"/>
              <a:t>  </a:t>
            </a:r>
            <a:r>
              <a:rPr lang="it-IT" altLang="ja-JP" sz="1600" dirty="0"/>
              <a:t>li x1←1</a:t>
            </a:r>
            <a:br>
              <a:rPr lang="it-IT" altLang="ja-JP" sz="1600" dirty="0"/>
            </a:br>
            <a:r>
              <a:rPr lang="it-IT" altLang="ja-JP" sz="1600" dirty="0"/>
              <a:t>  li x2←2</a:t>
            </a:r>
            <a:br>
              <a:rPr lang="it-IT" altLang="ja-JP" sz="1600" dirty="0"/>
            </a:br>
            <a:r>
              <a:rPr lang="it-IT" altLang="ja-JP" sz="1600" dirty="0"/>
              <a:t>  beq x1==x2, LABEL</a:t>
            </a:r>
            <a:br>
              <a:rPr lang="it-IT" altLang="ja-JP" sz="1600" dirty="0"/>
            </a:br>
            <a:r>
              <a:rPr lang="it-IT" altLang="ja-JP" sz="1600" dirty="0"/>
              <a:t>  add x1←x2+x3</a:t>
            </a:r>
            <a:br>
              <a:rPr lang="it-IT" altLang="ja-JP" sz="1600" dirty="0"/>
            </a:br>
            <a:r>
              <a:rPr lang="it-IT" altLang="ja-JP" sz="1600" dirty="0"/>
              <a:t>LABEL:</a:t>
            </a:r>
            <a:br>
              <a:rPr lang="it-IT" altLang="ja-JP" sz="1600" dirty="0"/>
            </a:br>
            <a:r>
              <a:rPr lang="it-IT" altLang="ja-JP" sz="1600" dirty="0"/>
              <a:t>  add x2←x3+x4</a:t>
            </a:r>
          </a:p>
          <a:p>
            <a:r>
              <a:rPr lang="en-US" altLang="ja-JP" sz="1600" dirty="0"/>
              <a:t>13ns </a:t>
            </a:r>
            <a:br>
              <a:rPr lang="en-US" altLang="ja-JP" sz="1600" dirty="0"/>
            </a:br>
            <a:r>
              <a:rPr lang="ja-JP" altLang="en-US" sz="1600" dirty="0"/>
              <a:t>フォワーディング</a:t>
            </a:r>
            <a:br>
              <a:rPr lang="en-US" altLang="ja-JP" sz="1600" dirty="0"/>
            </a:br>
            <a:r>
              <a:rPr lang="ja-JP" altLang="en-US" sz="1600" dirty="0"/>
              <a:t>ありの場合</a:t>
            </a:r>
            <a:br>
              <a:rPr lang="en-US" altLang="ja-JP" sz="1600" dirty="0"/>
            </a:br>
            <a:br>
              <a:rPr lang="en-US" altLang="ja-JP" sz="1600" dirty="0"/>
            </a:br>
            <a:r>
              <a:rPr lang="ja-JP" altLang="en-US" sz="1600" dirty="0"/>
              <a:t>やり直した後に</a:t>
            </a:r>
            <a:br>
              <a:rPr lang="en-US" altLang="ja-JP" sz="1600" dirty="0"/>
            </a:br>
            <a:r>
              <a:rPr lang="ja-JP" altLang="en-US" sz="1600" dirty="0"/>
              <a:t>結局 </a:t>
            </a:r>
            <a:r>
              <a:rPr lang="en-US" altLang="ja-JP" sz="1600" dirty="0"/>
              <a:t>LABEL </a:t>
            </a:r>
            <a:r>
              <a:rPr lang="ja-JP" altLang="en-US" sz="1600" dirty="0"/>
              <a:t>の下の</a:t>
            </a:r>
            <a:br>
              <a:rPr lang="en-US" altLang="ja-JP" sz="1600" dirty="0"/>
            </a:br>
            <a:r>
              <a:rPr lang="ja-JP" altLang="en-US" sz="1600" dirty="0"/>
              <a:t>命令も実行することに注意</a:t>
            </a:r>
            <a:br>
              <a:rPr lang="en-US" altLang="ja-JP" sz="1600" dirty="0"/>
            </a:br>
            <a:br>
              <a:rPr lang="en-US" altLang="ja-JP" sz="1600" dirty="0"/>
            </a:br>
            <a:r>
              <a:rPr lang="ja-JP" altLang="en-US" sz="1600" dirty="0"/>
              <a:t>パイプラインの各行は上の</a:t>
            </a:r>
            <a:r>
              <a:rPr lang="en-US" altLang="ja-JP" sz="1600" dirty="0"/>
              <a:t>5</a:t>
            </a:r>
            <a:r>
              <a:rPr lang="ja-JP" altLang="en-US" sz="1600" dirty="0"/>
              <a:t>つの命令を上から順にやった</a:t>
            </a:r>
            <a:br>
              <a:rPr lang="en-US" altLang="ja-JP" sz="1600" dirty="0"/>
            </a:br>
            <a:r>
              <a:rPr lang="ja-JP" altLang="en-US" sz="1600" dirty="0"/>
              <a:t>場合に対応</a:t>
            </a:r>
            <a:endParaRPr lang="en-US" altLang="ja-JP" sz="1600" dirty="0"/>
          </a:p>
        </p:txBody>
      </p:sp>
      <p:sp>
        <p:nvSpPr>
          <p:cNvPr id="3" name="Rectangle 69">
            <a:extLst>
              <a:ext uri="{FF2B5EF4-FFF2-40B4-BE49-F238E27FC236}">
                <a16:creationId xmlns:a16="http://schemas.microsoft.com/office/drawing/2014/main" id="{5BD7BC87-8DAD-1926-B62A-9F8B8C18152F}"/>
              </a:ext>
            </a:extLst>
          </p:cNvPr>
          <p:cNvSpPr>
            <a:spLocks noChangeArrowheads="1"/>
          </p:cNvSpPr>
          <p:nvPr/>
        </p:nvSpPr>
        <p:spPr bwMode="auto">
          <a:xfrm>
            <a:off x="3131984" y="414900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F</a:t>
            </a:r>
          </a:p>
        </p:txBody>
      </p:sp>
      <p:sp>
        <p:nvSpPr>
          <p:cNvPr id="4" name="Rectangle 70">
            <a:extLst>
              <a:ext uri="{FF2B5EF4-FFF2-40B4-BE49-F238E27FC236}">
                <a16:creationId xmlns:a16="http://schemas.microsoft.com/office/drawing/2014/main" id="{014F695B-F45D-B81A-7B20-753F4CCA9DA2}"/>
              </a:ext>
            </a:extLst>
          </p:cNvPr>
          <p:cNvSpPr>
            <a:spLocks noChangeArrowheads="1"/>
          </p:cNvSpPr>
          <p:nvPr/>
        </p:nvSpPr>
        <p:spPr bwMode="auto">
          <a:xfrm>
            <a:off x="3581989" y="414900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D</a:t>
            </a:r>
          </a:p>
        </p:txBody>
      </p:sp>
      <p:sp>
        <p:nvSpPr>
          <p:cNvPr id="6" name="Rectangle 71">
            <a:extLst>
              <a:ext uri="{FF2B5EF4-FFF2-40B4-BE49-F238E27FC236}">
                <a16:creationId xmlns:a16="http://schemas.microsoft.com/office/drawing/2014/main" id="{3DEC9A20-3A23-F4AA-4871-E71E1790C95F}"/>
              </a:ext>
            </a:extLst>
          </p:cNvPr>
          <p:cNvSpPr>
            <a:spLocks noChangeArrowheads="1"/>
          </p:cNvSpPr>
          <p:nvPr/>
        </p:nvSpPr>
        <p:spPr bwMode="auto">
          <a:xfrm>
            <a:off x="4031994" y="414900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X</a:t>
            </a:r>
          </a:p>
        </p:txBody>
      </p:sp>
      <p:sp>
        <p:nvSpPr>
          <p:cNvPr id="8" name="Rectangle 72">
            <a:extLst>
              <a:ext uri="{FF2B5EF4-FFF2-40B4-BE49-F238E27FC236}">
                <a16:creationId xmlns:a16="http://schemas.microsoft.com/office/drawing/2014/main" id="{63F2F5EC-5849-9CA6-1B23-DE0516DE853D}"/>
              </a:ext>
            </a:extLst>
          </p:cNvPr>
          <p:cNvSpPr>
            <a:spLocks noChangeArrowheads="1"/>
          </p:cNvSpPr>
          <p:nvPr/>
        </p:nvSpPr>
        <p:spPr bwMode="auto">
          <a:xfrm>
            <a:off x="4481999" y="414900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M</a:t>
            </a:r>
          </a:p>
        </p:txBody>
      </p:sp>
      <p:sp>
        <p:nvSpPr>
          <p:cNvPr id="9" name="Rectangle 73">
            <a:extLst>
              <a:ext uri="{FF2B5EF4-FFF2-40B4-BE49-F238E27FC236}">
                <a16:creationId xmlns:a16="http://schemas.microsoft.com/office/drawing/2014/main" id="{C7436587-2845-295C-C68A-67EF217E891A}"/>
              </a:ext>
            </a:extLst>
          </p:cNvPr>
          <p:cNvSpPr>
            <a:spLocks noChangeArrowheads="1"/>
          </p:cNvSpPr>
          <p:nvPr/>
        </p:nvSpPr>
        <p:spPr bwMode="auto">
          <a:xfrm>
            <a:off x="4932004" y="414900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a:t>
            </a:r>
            <a:endParaRPr lang="en-US" altLang="ja-JP" sz="1600" dirty="0">
              <a:latin typeface="+mn-lt"/>
              <a:ea typeface="+mn-ea"/>
            </a:endParaRPr>
          </a:p>
        </p:txBody>
      </p:sp>
      <p:sp>
        <p:nvSpPr>
          <p:cNvPr id="10" name="Rectangle 69">
            <a:extLst>
              <a:ext uri="{FF2B5EF4-FFF2-40B4-BE49-F238E27FC236}">
                <a16:creationId xmlns:a16="http://schemas.microsoft.com/office/drawing/2014/main" id="{5F1AB6B1-B0FE-B5A9-83F1-192D00BBC4F3}"/>
              </a:ext>
            </a:extLst>
          </p:cNvPr>
          <p:cNvSpPr>
            <a:spLocks noChangeArrowheads="1"/>
          </p:cNvSpPr>
          <p:nvPr/>
        </p:nvSpPr>
        <p:spPr bwMode="auto">
          <a:xfrm>
            <a:off x="3581989" y="4599013"/>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F</a:t>
            </a:r>
          </a:p>
        </p:txBody>
      </p:sp>
      <p:sp>
        <p:nvSpPr>
          <p:cNvPr id="11" name="Rectangle 70">
            <a:extLst>
              <a:ext uri="{FF2B5EF4-FFF2-40B4-BE49-F238E27FC236}">
                <a16:creationId xmlns:a16="http://schemas.microsoft.com/office/drawing/2014/main" id="{C6FF601B-C3AB-6699-4C78-E4EA58E9CD46}"/>
              </a:ext>
            </a:extLst>
          </p:cNvPr>
          <p:cNvSpPr>
            <a:spLocks noChangeArrowheads="1"/>
          </p:cNvSpPr>
          <p:nvPr/>
        </p:nvSpPr>
        <p:spPr bwMode="auto">
          <a:xfrm>
            <a:off x="4031994" y="4599013"/>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D</a:t>
            </a:r>
          </a:p>
        </p:txBody>
      </p:sp>
      <p:sp>
        <p:nvSpPr>
          <p:cNvPr id="12" name="Rectangle 71">
            <a:extLst>
              <a:ext uri="{FF2B5EF4-FFF2-40B4-BE49-F238E27FC236}">
                <a16:creationId xmlns:a16="http://schemas.microsoft.com/office/drawing/2014/main" id="{F3782D20-A034-9922-AFA6-700373049606}"/>
              </a:ext>
            </a:extLst>
          </p:cNvPr>
          <p:cNvSpPr>
            <a:spLocks noChangeArrowheads="1"/>
          </p:cNvSpPr>
          <p:nvPr/>
        </p:nvSpPr>
        <p:spPr bwMode="auto">
          <a:xfrm>
            <a:off x="4481999" y="4599013"/>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X</a:t>
            </a:r>
          </a:p>
        </p:txBody>
      </p:sp>
      <p:sp>
        <p:nvSpPr>
          <p:cNvPr id="13" name="Rectangle 72">
            <a:extLst>
              <a:ext uri="{FF2B5EF4-FFF2-40B4-BE49-F238E27FC236}">
                <a16:creationId xmlns:a16="http://schemas.microsoft.com/office/drawing/2014/main" id="{422BEB1C-D60E-F052-7E6A-0F618B5FB4A7}"/>
              </a:ext>
            </a:extLst>
          </p:cNvPr>
          <p:cNvSpPr>
            <a:spLocks noChangeArrowheads="1"/>
          </p:cNvSpPr>
          <p:nvPr/>
        </p:nvSpPr>
        <p:spPr bwMode="auto">
          <a:xfrm>
            <a:off x="4932004" y="4599013"/>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M</a:t>
            </a:r>
          </a:p>
        </p:txBody>
      </p:sp>
      <p:sp>
        <p:nvSpPr>
          <p:cNvPr id="14" name="Rectangle 73">
            <a:extLst>
              <a:ext uri="{FF2B5EF4-FFF2-40B4-BE49-F238E27FC236}">
                <a16:creationId xmlns:a16="http://schemas.microsoft.com/office/drawing/2014/main" id="{4DE27651-5637-4E99-009E-AE66E6942A97}"/>
              </a:ext>
            </a:extLst>
          </p:cNvPr>
          <p:cNvSpPr>
            <a:spLocks noChangeArrowheads="1"/>
          </p:cNvSpPr>
          <p:nvPr/>
        </p:nvSpPr>
        <p:spPr bwMode="auto">
          <a:xfrm>
            <a:off x="5382009" y="4599013"/>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a:t>
            </a:r>
            <a:endParaRPr lang="en-US" altLang="ja-JP" sz="1600" dirty="0">
              <a:latin typeface="+mn-lt"/>
              <a:ea typeface="+mn-ea"/>
            </a:endParaRPr>
          </a:p>
        </p:txBody>
      </p:sp>
      <p:sp>
        <p:nvSpPr>
          <p:cNvPr id="15" name="Rectangle 69">
            <a:extLst>
              <a:ext uri="{FF2B5EF4-FFF2-40B4-BE49-F238E27FC236}">
                <a16:creationId xmlns:a16="http://schemas.microsoft.com/office/drawing/2014/main" id="{FF5EDBB2-0575-5873-2FB2-1811E1663D37}"/>
              </a:ext>
            </a:extLst>
          </p:cNvPr>
          <p:cNvSpPr>
            <a:spLocks noChangeArrowheads="1"/>
          </p:cNvSpPr>
          <p:nvPr/>
        </p:nvSpPr>
        <p:spPr bwMode="auto">
          <a:xfrm>
            <a:off x="4031994" y="504901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F</a:t>
            </a:r>
          </a:p>
        </p:txBody>
      </p:sp>
      <p:sp>
        <p:nvSpPr>
          <p:cNvPr id="16" name="Rectangle 70">
            <a:extLst>
              <a:ext uri="{FF2B5EF4-FFF2-40B4-BE49-F238E27FC236}">
                <a16:creationId xmlns:a16="http://schemas.microsoft.com/office/drawing/2014/main" id="{F0147F7F-E657-5664-E2C4-D51B2AD89E5B}"/>
              </a:ext>
            </a:extLst>
          </p:cNvPr>
          <p:cNvSpPr>
            <a:spLocks noChangeArrowheads="1"/>
          </p:cNvSpPr>
          <p:nvPr/>
        </p:nvSpPr>
        <p:spPr bwMode="auto">
          <a:xfrm>
            <a:off x="4481999" y="504901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D</a:t>
            </a:r>
          </a:p>
        </p:txBody>
      </p:sp>
      <p:sp>
        <p:nvSpPr>
          <p:cNvPr id="17" name="Rectangle 71">
            <a:extLst>
              <a:ext uri="{FF2B5EF4-FFF2-40B4-BE49-F238E27FC236}">
                <a16:creationId xmlns:a16="http://schemas.microsoft.com/office/drawing/2014/main" id="{F6628364-FB9B-ECD5-135C-A5971A19494C}"/>
              </a:ext>
            </a:extLst>
          </p:cNvPr>
          <p:cNvSpPr>
            <a:spLocks noChangeArrowheads="1"/>
          </p:cNvSpPr>
          <p:nvPr/>
        </p:nvSpPr>
        <p:spPr bwMode="auto">
          <a:xfrm>
            <a:off x="4932004" y="504901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X</a:t>
            </a:r>
          </a:p>
        </p:txBody>
      </p:sp>
      <p:sp>
        <p:nvSpPr>
          <p:cNvPr id="18" name="Rectangle 72">
            <a:extLst>
              <a:ext uri="{FF2B5EF4-FFF2-40B4-BE49-F238E27FC236}">
                <a16:creationId xmlns:a16="http://schemas.microsoft.com/office/drawing/2014/main" id="{7A3BE4B3-3142-B3C0-F236-FBEF1DA25F71}"/>
              </a:ext>
            </a:extLst>
          </p:cNvPr>
          <p:cNvSpPr>
            <a:spLocks noChangeArrowheads="1"/>
          </p:cNvSpPr>
          <p:nvPr/>
        </p:nvSpPr>
        <p:spPr bwMode="auto">
          <a:xfrm>
            <a:off x="5382009" y="504901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M</a:t>
            </a:r>
          </a:p>
        </p:txBody>
      </p:sp>
      <p:sp>
        <p:nvSpPr>
          <p:cNvPr id="19" name="Rectangle 73">
            <a:extLst>
              <a:ext uri="{FF2B5EF4-FFF2-40B4-BE49-F238E27FC236}">
                <a16:creationId xmlns:a16="http://schemas.microsoft.com/office/drawing/2014/main" id="{DFCC18AE-A2D0-6D0D-1786-7AC85CF2EF71}"/>
              </a:ext>
            </a:extLst>
          </p:cNvPr>
          <p:cNvSpPr>
            <a:spLocks noChangeArrowheads="1"/>
          </p:cNvSpPr>
          <p:nvPr/>
        </p:nvSpPr>
        <p:spPr bwMode="auto">
          <a:xfrm>
            <a:off x="5832014" y="504901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a:t>
            </a:r>
            <a:endParaRPr lang="en-US" altLang="ja-JP" sz="1600" dirty="0">
              <a:latin typeface="+mn-lt"/>
              <a:ea typeface="+mn-ea"/>
            </a:endParaRPr>
          </a:p>
        </p:txBody>
      </p:sp>
      <p:cxnSp>
        <p:nvCxnSpPr>
          <p:cNvPr id="21" name="直線矢印コネクタ 20">
            <a:extLst>
              <a:ext uri="{FF2B5EF4-FFF2-40B4-BE49-F238E27FC236}">
                <a16:creationId xmlns:a16="http://schemas.microsoft.com/office/drawing/2014/main" id="{50E143F1-2D86-C680-8566-38B134E87E9B}"/>
              </a:ext>
            </a:extLst>
          </p:cNvPr>
          <p:cNvCxnSpPr>
            <a:cxnSpLocks/>
          </p:cNvCxnSpPr>
          <p:nvPr/>
        </p:nvCxnSpPr>
        <p:spPr bwMode="auto">
          <a:xfrm>
            <a:off x="4301997" y="4329010"/>
            <a:ext cx="810009" cy="810009"/>
          </a:xfrm>
          <a:prstGeom prst="straightConnector1">
            <a:avLst/>
          </a:prstGeom>
          <a:ln>
            <a:headEnd type="none" w="med" len="med"/>
            <a:tailEnd type="triangle"/>
          </a:ln>
        </p:spPr>
        <p:style>
          <a:lnRef idx="3">
            <a:schemeClr val="accent5"/>
          </a:lnRef>
          <a:fillRef idx="0">
            <a:schemeClr val="accent5"/>
          </a:fillRef>
          <a:effectRef idx="2">
            <a:schemeClr val="accent5"/>
          </a:effectRef>
          <a:fontRef idx="minor">
            <a:schemeClr val="tx1"/>
          </a:fontRef>
        </p:style>
      </p:cxnSp>
      <p:cxnSp>
        <p:nvCxnSpPr>
          <p:cNvPr id="25" name="直線矢印コネクタ 24">
            <a:extLst>
              <a:ext uri="{FF2B5EF4-FFF2-40B4-BE49-F238E27FC236}">
                <a16:creationId xmlns:a16="http://schemas.microsoft.com/office/drawing/2014/main" id="{EAB7D709-ED8E-153A-1920-C6608D47D435}"/>
              </a:ext>
            </a:extLst>
          </p:cNvPr>
          <p:cNvCxnSpPr/>
          <p:nvPr/>
        </p:nvCxnSpPr>
        <p:spPr bwMode="auto">
          <a:xfrm>
            <a:off x="4752002" y="4869016"/>
            <a:ext cx="270003" cy="270003"/>
          </a:xfrm>
          <a:prstGeom prst="straightConnector1">
            <a:avLst/>
          </a:prstGeom>
          <a:ln>
            <a:headEnd type="none" w="med" len="med"/>
            <a:tailEnd type="triangle"/>
          </a:ln>
        </p:spPr>
        <p:style>
          <a:lnRef idx="3">
            <a:schemeClr val="accent5"/>
          </a:lnRef>
          <a:fillRef idx="0">
            <a:schemeClr val="accent5"/>
          </a:fillRef>
          <a:effectRef idx="2">
            <a:schemeClr val="accent5"/>
          </a:effectRef>
          <a:fontRef idx="minor">
            <a:schemeClr val="tx1"/>
          </a:fontRef>
        </p:style>
      </p:cxnSp>
      <p:sp>
        <p:nvSpPr>
          <p:cNvPr id="28" name="Rectangle 69">
            <a:extLst>
              <a:ext uri="{FF2B5EF4-FFF2-40B4-BE49-F238E27FC236}">
                <a16:creationId xmlns:a16="http://schemas.microsoft.com/office/drawing/2014/main" id="{B391E403-A457-131A-6930-2D40E69398CB}"/>
              </a:ext>
            </a:extLst>
          </p:cNvPr>
          <p:cNvSpPr>
            <a:spLocks noChangeArrowheads="1"/>
          </p:cNvSpPr>
          <p:nvPr/>
        </p:nvSpPr>
        <p:spPr bwMode="auto">
          <a:xfrm>
            <a:off x="6282019" y="5499023"/>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F</a:t>
            </a:r>
          </a:p>
        </p:txBody>
      </p:sp>
      <p:sp>
        <p:nvSpPr>
          <p:cNvPr id="29" name="Rectangle 70">
            <a:extLst>
              <a:ext uri="{FF2B5EF4-FFF2-40B4-BE49-F238E27FC236}">
                <a16:creationId xmlns:a16="http://schemas.microsoft.com/office/drawing/2014/main" id="{368D7E5E-51AA-872D-5C34-58D9849574C6}"/>
              </a:ext>
            </a:extLst>
          </p:cNvPr>
          <p:cNvSpPr>
            <a:spLocks noChangeArrowheads="1"/>
          </p:cNvSpPr>
          <p:nvPr/>
        </p:nvSpPr>
        <p:spPr bwMode="auto">
          <a:xfrm>
            <a:off x="6732024" y="5499023"/>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D</a:t>
            </a:r>
          </a:p>
        </p:txBody>
      </p:sp>
      <p:sp>
        <p:nvSpPr>
          <p:cNvPr id="30" name="Rectangle 71">
            <a:extLst>
              <a:ext uri="{FF2B5EF4-FFF2-40B4-BE49-F238E27FC236}">
                <a16:creationId xmlns:a16="http://schemas.microsoft.com/office/drawing/2014/main" id="{6D00DA2E-278D-169C-14DC-22A7F0CCF5DD}"/>
              </a:ext>
            </a:extLst>
          </p:cNvPr>
          <p:cNvSpPr>
            <a:spLocks noChangeArrowheads="1"/>
          </p:cNvSpPr>
          <p:nvPr/>
        </p:nvSpPr>
        <p:spPr bwMode="auto">
          <a:xfrm>
            <a:off x="7182029" y="5499023"/>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X</a:t>
            </a:r>
          </a:p>
        </p:txBody>
      </p:sp>
      <p:sp>
        <p:nvSpPr>
          <p:cNvPr id="31" name="Rectangle 72">
            <a:extLst>
              <a:ext uri="{FF2B5EF4-FFF2-40B4-BE49-F238E27FC236}">
                <a16:creationId xmlns:a16="http://schemas.microsoft.com/office/drawing/2014/main" id="{F7C0B4A5-7152-6D08-7E7C-1CE89AEA3750}"/>
              </a:ext>
            </a:extLst>
          </p:cNvPr>
          <p:cNvSpPr>
            <a:spLocks noChangeArrowheads="1"/>
          </p:cNvSpPr>
          <p:nvPr/>
        </p:nvSpPr>
        <p:spPr bwMode="auto">
          <a:xfrm>
            <a:off x="7632034" y="5499023"/>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M</a:t>
            </a:r>
          </a:p>
        </p:txBody>
      </p:sp>
      <p:sp>
        <p:nvSpPr>
          <p:cNvPr id="32" name="Rectangle 73">
            <a:extLst>
              <a:ext uri="{FF2B5EF4-FFF2-40B4-BE49-F238E27FC236}">
                <a16:creationId xmlns:a16="http://schemas.microsoft.com/office/drawing/2014/main" id="{E892CC28-8EB2-8A2B-D1C4-C84913CA8C7D}"/>
              </a:ext>
            </a:extLst>
          </p:cNvPr>
          <p:cNvSpPr>
            <a:spLocks noChangeArrowheads="1"/>
          </p:cNvSpPr>
          <p:nvPr/>
        </p:nvSpPr>
        <p:spPr bwMode="auto">
          <a:xfrm>
            <a:off x="8082039" y="5499023"/>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a:t>
            </a:r>
            <a:endParaRPr lang="en-US" altLang="ja-JP" sz="1600" dirty="0">
              <a:latin typeface="+mn-lt"/>
              <a:ea typeface="+mn-ea"/>
            </a:endParaRPr>
          </a:p>
        </p:txBody>
      </p:sp>
      <p:sp>
        <p:nvSpPr>
          <p:cNvPr id="36" name="Rectangle 69">
            <a:extLst>
              <a:ext uri="{FF2B5EF4-FFF2-40B4-BE49-F238E27FC236}">
                <a16:creationId xmlns:a16="http://schemas.microsoft.com/office/drawing/2014/main" id="{2CE04C4F-87B8-BDF0-4FEF-EBA9700C68B9}"/>
              </a:ext>
            </a:extLst>
          </p:cNvPr>
          <p:cNvSpPr>
            <a:spLocks noChangeArrowheads="1"/>
          </p:cNvSpPr>
          <p:nvPr/>
        </p:nvSpPr>
        <p:spPr bwMode="auto">
          <a:xfrm>
            <a:off x="6732024" y="594902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F</a:t>
            </a:r>
          </a:p>
        </p:txBody>
      </p:sp>
      <p:sp>
        <p:nvSpPr>
          <p:cNvPr id="37" name="Rectangle 70">
            <a:extLst>
              <a:ext uri="{FF2B5EF4-FFF2-40B4-BE49-F238E27FC236}">
                <a16:creationId xmlns:a16="http://schemas.microsoft.com/office/drawing/2014/main" id="{C0B080A1-ACBB-4652-6489-EBA9B4969D81}"/>
              </a:ext>
            </a:extLst>
          </p:cNvPr>
          <p:cNvSpPr>
            <a:spLocks noChangeArrowheads="1"/>
          </p:cNvSpPr>
          <p:nvPr/>
        </p:nvSpPr>
        <p:spPr bwMode="auto">
          <a:xfrm>
            <a:off x="7182029" y="594902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D</a:t>
            </a:r>
          </a:p>
        </p:txBody>
      </p:sp>
      <p:sp>
        <p:nvSpPr>
          <p:cNvPr id="38" name="Rectangle 71">
            <a:extLst>
              <a:ext uri="{FF2B5EF4-FFF2-40B4-BE49-F238E27FC236}">
                <a16:creationId xmlns:a16="http://schemas.microsoft.com/office/drawing/2014/main" id="{59B0D913-9332-0EDB-D0F1-BBD84CBC2AF5}"/>
              </a:ext>
            </a:extLst>
          </p:cNvPr>
          <p:cNvSpPr>
            <a:spLocks noChangeArrowheads="1"/>
          </p:cNvSpPr>
          <p:nvPr/>
        </p:nvSpPr>
        <p:spPr bwMode="auto">
          <a:xfrm>
            <a:off x="7632034" y="594902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X</a:t>
            </a:r>
          </a:p>
        </p:txBody>
      </p:sp>
      <p:sp>
        <p:nvSpPr>
          <p:cNvPr id="39" name="Rectangle 72">
            <a:extLst>
              <a:ext uri="{FF2B5EF4-FFF2-40B4-BE49-F238E27FC236}">
                <a16:creationId xmlns:a16="http://schemas.microsoft.com/office/drawing/2014/main" id="{D52D636B-5E3B-1F36-6B03-C931148034B6}"/>
              </a:ext>
            </a:extLst>
          </p:cNvPr>
          <p:cNvSpPr>
            <a:spLocks noChangeArrowheads="1"/>
          </p:cNvSpPr>
          <p:nvPr/>
        </p:nvSpPr>
        <p:spPr bwMode="auto">
          <a:xfrm>
            <a:off x="8082039" y="594902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M</a:t>
            </a:r>
          </a:p>
        </p:txBody>
      </p:sp>
      <p:sp>
        <p:nvSpPr>
          <p:cNvPr id="40" name="Rectangle 73">
            <a:extLst>
              <a:ext uri="{FF2B5EF4-FFF2-40B4-BE49-F238E27FC236}">
                <a16:creationId xmlns:a16="http://schemas.microsoft.com/office/drawing/2014/main" id="{A924C96C-FBC4-5E2F-C1A0-F19E6456C1A6}"/>
              </a:ext>
            </a:extLst>
          </p:cNvPr>
          <p:cNvSpPr>
            <a:spLocks noChangeArrowheads="1"/>
          </p:cNvSpPr>
          <p:nvPr/>
        </p:nvSpPr>
        <p:spPr bwMode="auto">
          <a:xfrm>
            <a:off x="8532044" y="594902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a:t>
            </a:r>
            <a:endParaRPr lang="en-US" altLang="ja-JP" sz="1600" dirty="0">
              <a:latin typeface="+mn-lt"/>
              <a:ea typeface="+mn-ea"/>
            </a:endParaRPr>
          </a:p>
        </p:txBody>
      </p:sp>
    </p:spTree>
    <p:extLst>
      <p:ext uri="{BB962C8B-B14F-4D97-AF65-F5344CB8AC3E}">
        <p14:creationId xmlns:p14="http://schemas.microsoft.com/office/powerpoint/2010/main" val="264032506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 </a:t>
            </a:r>
            <a:r>
              <a:rPr lang="en-US" altLang="ja-JP" dirty="0"/>
              <a:t>7</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sz="quarter" idx="10"/>
          </p:nvPr>
        </p:nvSpPr>
        <p:spPr>
          <a:xfrm>
            <a:off x="611956" y="998973"/>
            <a:ext cx="7920088" cy="2520028"/>
          </a:xfrm>
        </p:spPr>
        <p:txBody>
          <a:bodyPr anchor="t"/>
          <a:lstStyle/>
          <a:p>
            <a:r>
              <a:rPr lang="en-US" altLang="ja-JP" sz="1600" dirty="0"/>
              <a:t>13ns </a:t>
            </a:r>
            <a:r>
              <a:rPr lang="ja-JP" altLang="en-US" sz="1600" dirty="0"/>
              <a:t>フォワーディングありの場合</a:t>
            </a:r>
            <a:endParaRPr lang="en-US" altLang="ja-JP" sz="1600" dirty="0"/>
          </a:p>
          <a:p>
            <a:pPr lvl="1"/>
            <a:r>
              <a:rPr lang="ja-JP" altLang="en-US" sz="1600" dirty="0"/>
              <a:t>やり直した後に結局 </a:t>
            </a:r>
            <a:r>
              <a:rPr lang="en-US" altLang="ja-JP" sz="1600" dirty="0"/>
              <a:t>LABEL </a:t>
            </a:r>
            <a:r>
              <a:rPr lang="ja-JP" altLang="en-US" sz="1600" dirty="0"/>
              <a:t>の下の命令（</a:t>
            </a:r>
            <a:r>
              <a:rPr lang="it-IT" altLang="ja-JP" sz="1600" dirty="0">
                <a:latin typeface="Consolas" panose="020B0609020204030204" pitchFamily="49" charset="0"/>
              </a:rPr>
              <a:t>add x2←x3+x4</a:t>
            </a:r>
            <a:r>
              <a:rPr lang="ja-JP" altLang="en-US" sz="1600" dirty="0"/>
              <a:t>）も実行することに注意</a:t>
            </a:r>
            <a:endParaRPr lang="en-US" altLang="ja-JP" sz="1600" dirty="0"/>
          </a:p>
        </p:txBody>
      </p:sp>
      <p:sp>
        <p:nvSpPr>
          <p:cNvPr id="3" name="Rectangle 69">
            <a:extLst>
              <a:ext uri="{FF2B5EF4-FFF2-40B4-BE49-F238E27FC236}">
                <a16:creationId xmlns:a16="http://schemas.microsoft.com/office/drawing/2014/main" id="{5BD7BC87-8DAD-1926-B62A-9F8B8C18152F}"/>
              </a:ext>
            </a:extLst>
          </p:cNvPr>
          <p:cNvSpPr>
            <a:spLocks noChangeArrowheads="1"/>
          </p:cNvSpPr>
          <p:nvPr/>
        </p:nvSpPr>
        <p:spPr bwMode="auto">
          <a:xfrm>
            <a:off x="2771980" y="234898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F</a:t>
            </a:r>
          </a:p>
        </p:txBody>
      </p:sp>
      <p:sp>
        <p:nvSpPr>
          <p:cNvPr id="4" name="Rectangle 70">
            <a:extLst>
              <a:ext uri="{FF2B5EF4-FFF2-40B4-BE49-F238E27FC236}">
                <a16:creationId xmlns:a16="http://schemas.microsoft.com/office/drawing/2014/main" id="{014F695B-F45D-B81A-7B20-753F4CCA9DA2}"/>
              </a:ext>
            </a:extLst>
          </p:cNvPr>
          <p:cNvSpPr>
            <a:spLocks noChangeArrowheads="1"/>
          </p:cNvSpPr>
          <p:nvPr/>
        </p:nvSpPr>
        <p:spPr bwMode="auto">
          <a:xfrm>
            <a:off x="3221985" y="234898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D</a:t>
            </a:r>
          </a:p>
        </p:txBody>
      </p:sp>
      <p:sp>
        <p:nvSpPr>
          <p:cNvPr id="6" name="Rectangle 71">
            <a:extLst>
              <a:ext uri="{FF2B5EF4-FFF2-40B4-BE49-F238E27FC236}">
                <a16:creationId xmlns:a16="http://schemas.microsoft.com/office/drawing/2014/main" id="{3DEC9A20-3A23-F4AA-4871-E71E1790C95F}"/>
              </a:ext>
            </a:extLst>
          </p:cNvPr>
          <p:cNvSpPr>
            <a:spLocks noChangeArrowheads="1"/>
          </p:cNvSpPr>
          <p:nvPr/>
        </p:nvSpPr>
        <p:spPr bwMode="auto">
          <a:xfrm>
            <a:off x="3671990" y="234898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X</a:t>
            </a:r>
          </a:p>
        </p:txBody>
      </p:sp>
      <p:sp>
        <p:nvSpPr>
          <p:cNvPr id="8" name="Rectangle 72">
            <a:extLst>
              <a:ext uri="{FF2B5EF4-FFF2-40B4-BE49-F238E27FC236}">
                <a16:creationId xmlns:a16="http://schemas.microsoft.com/office/drawing/2014/main" id="{63F2F5EC-5849-9CA6-1B23-DE0516DE853D}"/>
              </a:ext>
            </a:extLst>
          </p:cNvPr>
          <p:cNvSpPr>
            <a:spLocks noChangeArrowheads="1"/>
          </p:cNvSpPr>
          <p:nvPr/>
        </p:nvSpPr>
        <p:spPr bwMode="auto">
          <a:xfrm>
            <a:off x="4121995" y="234898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M</a:t>
            </a:r>
          </a:p>
        </p:txBody>
      </p:sp>
      <p:sp>
        <p:nvSpPr>
          <p:cNvPr id="9" name="Rectangle 73">
            <a:extLst>
              <a:ext uri="{FF2B5EF4-FFF2-40B4-BE49-F238E27FC236}">
                <a16:creationId xmlns:a16="http://schemas.microsoft.com/office/drawing/2014/main" id="{C7436587-2845-295C-C68A-67EF217E891A}"/>
              </a:ext>
            </a:extLst>
          </p:cNvPr>
          <p:cNvSpPr>
            <a:spLocks noChangeArrowheads="1"/>
          </p:cNvSpPr>
          <p:nvPr/>
        </p:nvSpPr>
        <p:spPr bwMode="auto">
          <a:xfrm>
            <a:off x="4572000" y="234898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a:t>
            </a:r>
            <a:endParaRPr lang="en-US" altLang="ja-JP" sz="1600" dirty="0">
              <a:latin typeface="+mn-lt"/>
              <a:ea typeface="+mn-ea"/>
            </a:endParaRPr>
          </a:p>
        </p:txBody>
      </p:sp>
      <p:sp>
        <p:nvSpPr>
          <p:cNvPr id="10" name="Rectangle 69">
            <a:extLst>
              <a:ext uri="{FF2B5EF4-FFF2-40B4-BE49-F238E27FC236}">
                <a16:creationId xmlns:a16="http://schemas.microsoft.com/office/drawing/2014/main" id="{5F1AB6B1-B0FE-B5A9-83F1-192D00BBC4F3}"/>
              </a:ext>
            </a:extLst>
          </p:cNvPr>
          <p:cNvSpPr>
            <a:spLocks noChangeArrowheads="1"/>
          </p:cNvSpPr>
          <p:nvPr/>
        </p:nvSpPr>
        <p:spPr bwMode="auto">
          <a:xfrm>
            <a:off x="3221985" y="2798993"/>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F</a:t>
            </a:r>
          </a:p>
        </p:txBody>
      </p:sp>
      <p:sp>
        <p:nvSpPr>
          <p:cNvPr id="11" name="Rectangle 70">
            <a:extLst>
              <a:ext uri="{FF2B5EF4-FFF2-40B4-BE49-F238E27FC236}">
                <a16:creationId xmlns:a16="http://schemas.microsoft.com/office/drawing/2014/main" id="{C6FF601B-C3AB-6699-4C78-E4EA58E9CD46}"/>
              </a:ext>
            </a:extLst>
          </p:cNvPr>
          <p:cNvSpPr>
            <a:spLocks noChangeArrowheads="1"/>
          </p:cNvSpPr>
          <p:nvPr/>
        </p:nvSpPr>
        <p:spPr bwMode="auto">
          <a:xfrm>
            <a:off x="3671990" y="2798993"/>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D</a:t>
            </a:r>
          </a:p>
        </p:txBody>
      </p:sp>
      <p:sp>
        <p:nvSpPr>
          <p:cNvPr id="12" name="Rectangle 71">
            <a:extLst>
              <a:ext uri="{FF2B5EF4-FFF2-40B4-BE49-F238E27FC236}">
                <a16:creationId xmlns:a16="http://schemas.microsoft.com/office/drawing/2014/main" id="{F3782D20-A034-9922-AFA6-700373049606}"/>
              </a:ext>
            </a:extLst>
          </p:cNvPr>
          <p:cNvSpPr>
            <a:spLocks noChangeArrowheads="1"/>
          </p:cNvSpPr>
          <p:nvPr/>
        </p:nvSpPr>
        <p:spPr bwMode="auto">
          <a:xfrm>
            <a:off x="4121995" y="2798993"/>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X</a:t>
            </a:r>
          </a:p>
        </p:txBody>
      </p:sp>
      <p:sp>
        <p:nvSpPr>
          <p:cNvPr id="13" name="Rectangle 72">
            <a:extLst>
              <a:ext uri="{FF2B5EF4-FFF2-40B4-BE49-F238E27FC236}">
                <a16:creationId xmlns:a16="http://schemas.microsoft.com/office/drawing/2014/main" id="{422BEB1C-D60E-F052-7E6A-0F618B5FB4A7}"/>
              </a:ext>
            </a:extLst>
          </p:cNvPr>
          <p:cNvSpPr>
            <a:spLocks noChangeArrowheads="1"/>
          </p:cNvSpPr>
          <p:nvPr/>
        </p:nvSpPr>
        <p:spPr bwMode="auto">
          <a:xfrm>
            <a:off x="4572000" y="2798993"/>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M</a:t>
            </a:r>
          </a:p>
        </p:txBody>
      </p:sp>
      <p:sp>
        <p:nvSpPr>
          <p:cNvPr id="14" name="Rectangle 73">
            <a:extLst>
              <a:ext uri="{FF2B5EF4-FFF2-40B4-BE49-F238E27FC236}">
                <a16:creationId xmlns:a16="http://schemas.microsoft.com/office/drawing/2014/main" id="{4DE27651-5637-4E99-009E-AE66E6942A97}"/>
              </a:ext>
            </a:extLst>
          </p:cNvPr>
          <p:cNvSpPr>
            <a:spLocks noChangeArrowheads="1"/>
          </p:cNvSpPr>
          <p:nvPr/>
        </p:nvSpPr>
        <p:spPr bwMode="auto">
          <a:xfrm>
            <a:off x="5022005" y="2798993"/>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a:t>
            </a:r>
            <a:endParaRPr lang="en-US" altLang="ja-JP" sz="1600" dirty="0">
              <a:latin typeface="+mn-lt"/>
              <a:ea typeface="+mn-ea"/>
            </a:endParaRPr>
          </a:p>
        </p:txBody>
      </p:sp>
      <p:sp>
        <p:nvSpPr>
          <p:cNvPr id="15" name="Rectangle 69">
            <a:extLst>
              <a:ext uri="{FF2B5EF4-FFF2-40B4-BE49-F238E27FC236}">
                <a16:creationId xmlns:a16="http://schemas.microsoft.com/office/drawing/2014/main" id="{FF5EDBB2-0575-5873-2FB2-1811E1663D37}"/>
              </a:ext>
            </a:extLst>
          </p:cNvPr>
          <p:cNvSpPr>
            <a:spLocks noChangeArrowheads="1"/>
          </p:cNvSpPr>
          <p:nvPr/>
        </p:nvSpPr>
        <p:spPr bwMode="auto">
          <a:xfrm>
            <a:off x="3671990" y="324899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F</a:t>
            </a:r>
          </a:p>
        </p:txBody>
      </p:sp>
      <p:sp>
        <p:nvSpPr>
          <p:cNvPr id="16" name="Rectangle 70">
            <a:extLst>
              <a:ext uri="{FF2B5EF4-FFF2-40B4-BE49-F238E27FC236}">
                <a16:creationId xmlns:a16="http://schemas.microsoft.com/office/drawing/2014/main" id="{F0147F7F-E657-5664-E2C4-D51B2AD89E5B}"/>
              </a:ext>
            </a:extLst>
          </p:cNvPr>
          <p:cNvSpPr>
            <a:spLocks noChangeArrowheads="1"/>
          </p:cNvSpPr>
          <p:nvPr/>
        </p:nvSpPr>
        <p:spPr bwMode="auto">
          <a:xfrm>
            <a:off x="4121995" y="324899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D</a:t>
            </a:r>
          </a:p>
        </p:txBody>
      </p:sp>
      <p:sp>
        <p:nvSpPr>
          <p:cNvPr id="17" name="Rectangle 71">
            <a:extLst>
              <a:ext uri="{FF2B5EF4-FFF2-40B4-BE49-F238E27FC236}">
                <a16:creationId xmlns:a16="http://schemas.microsoft.com/office/drawing/2014/main" id="{F6628364-FB9B-ECD5-135C-A5971A19494C}"/>
              </a:ext>
            </a:extLst>
          </p:cNvPr>
          <p:cNvSpPr>
            <a:spLocks noChangeArrowheads="1"/>
          </p:cNvSpPr>
          <p:nvPr/>
        </p:nvSpPr>
        <p:spPr bwMode="auto">
          <a:xfrm>
            <a:off x="4572000" y="324899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X</a:t>
            </a:r>
          </a:p>
        </p:txBody>
      </p:sp>
      <p:sp>
        <p:nvSpPr>
          <p:cNvPr id="18" name="Rectangle 72">
            <a:extLst>
              <a:ext uri="{FF2B5EF4-FFF2-40B4-BE49-F238E27FC236}">
                <a16:creationId xmlns:a16="http://schemas.microsoft.com/office/drawing/2014/main" id="{7A3BE4B3-3142-B3C0-F236-FBEF1DA25F71}"/>
              </a:ext>
            </a:extLst>
          </p:cNvPr>
          <p:cNvSpPr>
            <a:spLocks noChangeArrowheads="1"/>
          </p:cNvSpPr>
          <p:nvPr/>
        </p:nvSpPr>
        <p:spPr bwMode="auto">
          <a:xfrm>
            <a:off x="5022005" y="324899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M</a:t>
            </a:r>
          </a:p>
        </p:txBody>
      </p:sp>
      <p:sp>
        <p:nvSpPr>
          <p:cNvPr id="19" name="Rectangle 73">
            <a:extLst>
              <a:ext uri="{FF2B5EF4-FFF2-40B4-BE49-F238E27FC236}">
                <a16:creationId xmlns:a16="http://schemas.microsoft.com/office/drawing/2014/main" id="{DFCC18AE-A2D0-6D0D-1786-7AC85CF2EF71}"/>
              </a:ext>
            </a:extLst>
          </p:cNvPr>
          <p:cNvSpPr>
            <a:spLocks noChangeArrowheads="1"/>
          </p:cNvSpPr>
          <p:nvPr/>
        </p:nvSpPr>
        <p:spPr bwMode="auto">
          <a:xfrm>
            <a:off x="5472010" y="324899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a:t>
            </a:r>
            <a:endParaRPr lang="en-US" altLang="ja-JP" sz="1600" dirty="0">
              <a:latin typeface="+mn-lt"/>
              <a:ea typeface="+mn-ea"/>
            </a:endParaRPr>
          </a:p>
        </p:txBody>
      </p:sp>
      <p:cxnSp>
        <p:nvCxnSpPr>
          <p:cNvPr id="21" name="直線矢印コネクタ 20">
            <a:extLst>
              <a:ext uri="{FF2B5EF4-FFF2-40B4-BE49-F238E27FC236}">
                <a16:creationId xmlns:a16="http://schemas.microsoft.com/office/drawing/2014/main" id="{50E143F1-2D86-C680-8566-38B134E87E9B}"/>
              </a:ext>
            </a:extLst>
          </p:cNvPr>
          <p:cNvCxnSpPr>
            <a:cxnSpLocks/>
          </p:cNvCxnSpPr>
          <p:nvPr/>
        </p:nvCxnSpPr>
        <p:spPr bwMode="auto">
          <a:xfrm>
            <a:off x="3941993" y="2528990"/>
            <a:ext cx="810009" cy="810009"/>
          </a:xfrm>
          <a:prstGeom prst="straightConnector1">
            <a:avLst/>
          </a:prstGeom>
          <a:ln>
            <a:headEnd type="none" w="med" len="med"/>
            <a:tailEnd type="triangle"/>
          </a:ln>
        </p:spPr>
        <p:style>
          <a:lnRef idx="3">
            <a:schemeClr val="accent5"/>
          </a:lnRef>
          <a:fillRef idx="0">
            <a:schemeClr val="accent5"/>
          </a:fillRef>
          <a:effectRef idx="2">
            <a:schemeClr val="accent5"/>
          </a:effectRef>
          <a:fontRef idx="minor">
            <a:schemeClr val="tx1"/>
          </a:fontRef>
        </p:style>
      </p:cxnSp>
      <p:cxnSp>
        <p:nvCxnSpPr>
          <p:cNvPr id="25" name="直線矢印コネクタ 24">
            <a:extLst>
              <a:ext uri="{FF2B5EF4-FFF2-40B4-BE49-F238E27FC236}">
                <a16:creationId xmlns:a16="http://schemas.microsoft.com/office/drawing/2014/main" id="{EAB7D709-ED8E-153A-1920-C6608D47D435}"/>
              </a:ext>
            </a:extLst>
          </p:cNvPr>
          <p:cNvCxnSpPr/>
          <p:nvPr/>
        </p:nvCxnSpPr>
        <p:spPr bwMode="auto">
          <a:xfrm>
            <a:off x="4391998" y="3068996"/>
            <a:ext cx="270003" cy="270003"/>
          </a:xfrm>
          <a:prstGeom prst="straightConnector1">
            <a:avLst/>
          </a:prstGeom>
          <a:ln>
            <a:headEnd type="none" w="med" len="med"/>
            <a:tailEnd type="triangle"/>
          </a:ln>
        </p:spPr>
        <p:style>
          <a:lnRef idx="3">
            <a:schemeClr val="accent5"/>
          </a:lnRef>
          <a:fillRef idx="0">
            <a:schemeClr val="accent5"/>
          </a:fillRef>
          <a:effectRef idx="2">
            <a:schemeClr val="accent5"/>
          </a:effectRef>
          <a:fontRef idx="minor">
            <a:schemeClr val="tx1"/>
          </a:fontRef>
        </p:style>
      </p:cxnSp>
      <p:sp>
        <p:nvSpPr>
          <p:cNvPr id="28" name="Rectangle 69">
            <a:extLst>
              <a:ext uri="{FF2B5EF4-FFF2-40B4-BE49-F238E27FC236}">
                <a16:creationId xmlns:a16="http://schemas.microsoft.com/office/drawing/2014/main" id="{B391E403-A457-131A-6930-2D40E69398CB}"/>
              </a:ext>
            </a:extLst>
          </p:cNvPr>
          <p:cNvSpPr>
            <a:spLocks noChangeArrowheads="1"/>
          </p:cNvSpPr>
          <p:nvPr/>
        </p:nvSpPr>
        <p:spPr bwMode="auto">
          <a:xfrm>
            <a:off x="5922015" y="3699003"/>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F</a:t>
            </a:r>
          </a:p>
        </p:txBody>
      </p:sp>
      <p:sp>
        <p:nvSpPr>
          <p:cNvPr id="29" name="Rectangle 70">
            <a:extLst>
              <a:ext uri="{FF2B5EF4-FFF2-40B4-BE49-F238E27FC236}">
                <a16:creationId xmlns:a16="http://schemas.microsoft.com/office/drawing/2014/main" id="{368D7E5E-51AA-872D-5C34-58D9849574C6}"/>
              </a:ext>
            </a:extLst>
          </p:cNvPr>
          <p:cNvSpPr>
            <a:spLocks noChangeArrowheads="1"/>
          </p:cNvSpPr>
          <p:nvPr/>
        </p:nvSpPr>
        <p:spPr bwMode="auto">
          <a:xfrm>
            <a:off x="6372020" y="3699003"/>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D</a:t>
            </a:r>
          </a:p>
        </p:txBody>
      </p:sp>
      <p:sp>
        <p:nvSpPr>
          <p:cNvPr id="30" name="Rectangle 71">
            <a:extLst>
              <a:ext uri="{FF2B5EF4-FFF2-40B4-BE49-F238E27FC236}">
                <a16:creationId xmlns:a16="http://schemas.microsoft.com/office/drawing/2014/main" id="{6D00DA2E-278D-169C-14DC-22A7F0CCF5DD}"/>
              </a:ext>
            </a:extLst>
          </p:cNvPr>
          <p:cNvSpPr>
            <a:spLocks noChangeArrowheads="1"/>
          </p:cNvSpPr>
          <p:nvPr/>
        </p:nvSpPr>
        <p:spPr bwMode="auto">
          <a:xfrm>
            <a:off x="6822025" y="3699003"/>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X</a:t>
            </a:r>
          </a:p>
        </p:txBody>
      </p:sp>
      <p:sp>
        <p:nvSpPr>
          <p:cNvPr id="31" name="Rectangle 72">
            <a:extLst>
              <a:ext uri="{FF2B5EF4-FFF2-40B4-BE49-F238E27FC236}">
                <a16:creationId xmlns:a16="http://schemas.microsoft.com/office/drawing/2014/main" id="{F7C0B4A5-7152-6D08-7E7C-1CE89AEA3750}"/>
              </a:ext>
            </a:extLst>
          </p:cNvPr>
          <p:cNvSpPr>
            <a:spLocks noChangeArrowheads="1"/>
          </p:cNvSpPr>
          <p:nvPr/>
        </p:nvSpPr>
        <p:spPr bwMode="auto">
          <a:xfrm>
            <a:off x="7272030" y="3699003"/>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M</a:t>
            </a:r>
          </a:p>
        </p:txBody>
      </p:sp>
      <p:sp>
        <p:nvSpPr>
          <p:cNvPr id="32" name="Rectangle 73">
            <a:extLst>
              <a:ext uri="{FF2B5EF4-FFF2-40B4-BE49-F238E27FC236}">
                <a16:creationId xmlns:a16="http://schemas.microsoft.com/office/drawing/2014/main" id="{E892CC28-8EB2-8A2B-D1C4-C84913CA8C7D}"/>
              </a:ext>
            </a:extLst>
          </p:cNvPr>
          <p:cNvSpPr>
            <a:spLocks noChangeArrowheads="1"/>
          </p:cNvSpPr>
          <p:nvPr/>
        </p:nvSpPr>
        <p:spPr bwMode="auto">
          <a:xfrm>
            <a:off x="7722035" y="3699003"/>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a:t>
            </a:r>
            <a:endParaRPr lang="en-US" altLang="ja-JP" sz="1600" dirty="0">
              <a:latin typeface="+mn-lt"/>
              <a:ea typeface="+mn-ea"/>
            </a:endParaRPr>
          </a:p>
        </p:txBody>
      </p:sp>
      <p:sp>
        <p:nvSpPr>
          <p:cNvPr id="36" name="Rectangle 69">
            <a:extLst>
              <a:ext uri="{FF2B5EF4-FFF2-40B4-BE49-F238E27FC236}">
                <a16:creationId xmlns:a16="http://schemas.microsoft.com/office/drawing/2014/main" id="{2CE04C4F-87B8-BDF0-4FEF-EBA9700C68B9}"/>
              </a:ext>
            </a:extLst>
          </p:cNvPr>
          <p:cNvSpPr>
            <a:spLocks noChangeArrowheads="1"/>
          </p:cNvSpPr>
          <p:nvPr/>
        </p:nvSpPr>
        <p:spPr bwMode="auto">
          <a:xfrm>
            <a:off x="6372020" y="414900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F</a:t>
            </a:r>
          </a:p>
        </p:txBody>
      </p:sp>
      <p:sp>
        <p:nvSpPr>
          <p:cNvPr id="37" name="Rectangle 70">
            <a:extLst>
              <a:ext uri="{FF2B5EF4-FFF2-40B4-BE49-F238E27FC236}">
                <a16:creationId xmlns:a16="http://schemas.microsoft.com/office/drawing/2014/main" id="{C0B080A1-ACBB-4652-6489-EBA9B4969D81}"/>
              </a:ext>
            </a:extLst>
          </p:cNvPr>
          <p:cNvSpPr>
            <a:spLocks noChangeArrowheads="1"/>
          </p:cNvSpPr>
          <p:nvPr/>
        </p:nvSpPr>
        <p:spPr bwMode="auto">
          <a:xfrm>
            <a:off x="6822025" y="414900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D</a:t>
            </a:r>
          </a:p>
        </p:txBody>
      </p:sp>
      <p:sp>
        <p:nvSpPr>
          <p:cNvPr id="38" name="Rectangle 71">
            <a:extLst>
              <a:ext uri="{FF2B5EF4-FFF2-40B4-BE49-F238E27FC236}">
                <a16:creationId xmlns:a16="http://schemas.microsoft.com/office/drawing/2014/main" id="{59B0D913-9332-0EDB-D0F1-BBD84CBC2AF5}"/>
              </a:ext>
            </a:extLst>
          </p:cNvPr>
          <p:cNvSpPr>
            <a:spLocks noChangeArrowheads="1"/>
          </p:cNvSpPr>
          <p:nvPr/>
        </p:nvSpPr>
        <p:spPr bwMode="auto">
          <a:xfrm>
            <a:off x="7272030" y="414900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X</a:t>
            </a:r>
          </a:p>
        </p:txBody>
      </p:sp>
      <p:sp>
        <p:nvSpPr>
          <p:cNvPr id="39" name="Rectangle 72">
            <a:extLst>
              <a:ext uri="{FF2B5EF4-FFF2-40B4-BE49-F238E27FC236}">
                <a16:creationId xmlns:a16="http://schemas.microsoft.com/office/drawing/2014/main" id="{D52D636B-5E3B-1F36-6B03-C931148034B6}"/>
              </a:ext>
            </a:extLst>
          </p:cNvPr>
          <p:cNvSpPr>
            <a:spLocks noChangeArrowheads="1"/>
          </p:cNvSpPr>
          <p:nvPr/>
        </p:nvSpPr>
        <p:spPr bwMode="auto">
          <a:xfrm>
            <a:off x="7722035" y="414900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M</a:t>
            </a:r>
          </a:p>
        </p:txBody>
      </p:sp>
      <p:sp>
        <p:nvSpPr>
          <p:cNvPr id="40" name="Rectangle 73">
            <a:extLst>
              <a:ext uri="{FF2B5EF4-FFF2-40B4-BE49-F238E27FC236}">
                <a16:creationId xmlns:a16="http://schemas.microsoft.com/office/drawing/2014/main" id="{A924C96C-FBC4-5E2F-C1A0-F19E6456C1A6}"/>
              </a:ext>
            </a:extLst>
          </p:cNvPr>
          <p:cNvSpPr>
            <a:spLocks noChangeArrowheads="1"/>
          </p:cNvSpPr>
          <p:nvPr/>
        </p:nvSpPr>
        <p:spPr bwMode="auto">
          <a:xfrm>
            <a:off x="8172040" y="414900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a:t>
            </a:r>
            <a:endParaRPr lang="en-US" altLang="ja-JP" sz="1600" dirty="0">
              <a:latin typeface="+mn-lt"/>
              <a:ea typeface="+mn-ea"/>
            </a:endParaRPr>
          </a:p>
        </p:txBody>
      </p:sp>
      <p:sp>
        <p:nvSpPr>
          <p:cNvPr id="23" name="テキスト ボックス 22">
            <a:extLst>
              <a:ext uri="{FF2B5EF4-FFF2-40B4-BE49-F238E27FC236}">
                <a16:creationId xmlns:a16="http://schemas.microsoft.com/office/drawing/2014/main" id="{352F93AB-0A3A-ED3D-98E2-24D379765937}"/>
              </a:ext>
            </a:extLst>
          </p:cNvPr>
          <p:cNvSpPr txBox="1"/>
          <p:nvPr/>
        </p:nvSpPr>
        <p:spPr>
          <a:xfrm>
            <a:off x="521955" y="2348988"/>
            <a:ext cx="4572000" cy="2125325"/>
          </a:xfrm>
          <a:prstGeom prst="rect">
            <a:avLst/>
          </a:prstGeom>
          <a:noFill/>
        </p:spPr>
        <p:txBody>
          <a:bodyPr wrap="square">
            <a:spAutoFit/>
          </a:bodyPr>
          <a:lstStyle/>
          <a:p>
            <a:pPr>
              <a:lnSpc>
                <a:spcPct val="150000"/>
              </a:lnSpc>
            </a:pPr>
            <a:r>
              <a:rPr lang="en-US" altLang="ja-JP" sz="1800" dirty="0">
                <a:latin typeface="Consolas" panose="020B0609020204030204" pitchFamily="49" charset="0"/>
              </a:rPr>
              <a:t>  </a:t>
            </a:r>
            <a:r>
              <a:rPr lang="it-IT" altLang="ja-JP" sz="1800" dirty="0">
                <a:latin typeface="Consolas" panose="020B0609020204030204" pitchFamily="49" charset="0"/>
              </a:rPr>
              <a:t>li x1←1</a:t>
            </a:r>
            <a:br>
              <a:rPr lang="it-IT" altLang="ja-JP" sz="1800" dirty="0">
                <a:latin typeface="Consolas" panose="020B0609020204030204" pitchFamily="49" charset="0"/>
              </a:rPr>
            </a:br>
            <a:r>
              <a:rPr lang="it-IT" altLang="ja-JP" sz="1800" dirty="0">
                <a:latin typeface="Consolas" panose="020B0609020204030204" pitchFamily="49" charset="0"/>
              </a:rPr>
              <a:t>  li x2←2</a:t>
            </a:r>
            <a:br>
              <a:rPr lang="it-IT" altLang="ja-JP" sz="1800" dirty="0">
                <a:latin typeface="Consolas" panose="020B0609020204030204" pitchFamily="49" charset="0"/>
              </a:rPr>
            </a:br>
            <a:r>
              <a:rPr lang="it-IT" altLang="ja-JP" sz="1800" dirty="0">
                <a:latin typeface="Consolas" panose="020B0609020204030204" pitchFamily="49" charset="0"/>
              </a:rPr>
              <a:t>  beq x1==x2, LABEL</a:t>
            </a:r>
            <a:br>
              <a:rPr lang="it-IT" altLang="ja-JP" sz="1800" dirty="0">
                <a:latin typeface="Consolas" panose="020B0609020204030204" pitchFamily="49" charset="0"/>
              </a:rPr>
            </a:br>
            <a:r>
              <a:rPr lang="it-IT" altLang="ja-JP" sz="1800" dirty="0">
                <a:latin typeface="Consolas" panose="020B0609020204030204" pitchFamily="49" charset="0"/>
              </a:rPr>
              <a:t>  add x1←x2+x3</a:t>
            </a:r>
            <a:br>
              <a:rPr lang="it-IT" altLang="ja-JP" sz="1800" dirty="0">
                <a:latin typeface="Consolas" panose="020B0609020204030204" pitchFamily="49" charset="0"/>
              </a:rPr>
            </a:br>
            <a:r>
              <a:rPr lang="it-IT" altLang="ja-JP" sz="1800" dirty="0">
                <a:latin typeface="Consolas" panose="020B0609020204030204" pitchFamily="49" charset="0"/>
              </a:rPr>
              <a:t>  add x2←x3+x4</a:t>
            </a:r>
          </a:p>
        </p:txBody>
      </p:sp>
      <p:cxnSp>
        <p:nvCxnSpPr>
          <p:cNvPr id="26" name="直線矢印コネクタ 25">
            <a:extLst>
              <a:ext uri="{FF2B5EF4-FFF2-40B4-BE49-F238E27FC236}">
                <a16:creationId xmlns:a16="http://schemas.microsoft.com/office/drawing/2014/main" id="{6308DCFF-C4D3-09D1-3DFC-FC9909288713}"/>
              </a:ext>
            </a:extLst>
          </p:cNvPr>
          <p:cNvCxnSpPr/>
          <p:nvPr/>
        </p:nvCxnSpPr>
        <p:spPr bwMode="auto">
          <a:xfrm>
            <a:off x="4211996" y="3879005"/>
            <a:ext cx="1620018" cy="0"/>
          </a:xfrm>
          <a:prstGeom prst="straightConnector1">
            <a:avLst/>
          </a:prstGeom>
          <a:ln>
            <a:headEnd type="triangle" w="med" len="med"/>
            <a:tailEnd type="triangle"/>
          </a:ln>
        </p:spPr>
        <p:style>
          <a:lnRef idx="3">
            <a:schemeClr val="accent6"/>
          </a:lnRef>
          <a:fillRef idx="0">
            <a:schemeClr val="accent6"/>
          </a:fillRef>
          <a:effectRef idx="2">
            <a:schemeClr val="accent6"/>
          </a:effectRef>
          <a:fontRef idx="minor">
            <a:schemeClr val="tx1"/>
          </a:fontRef>
        </p:style>
      </p:cxnSp>
      <p:sp>
        <p:nvSpPr>
          <p:cNvPr id="27" name="テキスト ボックス 26">
            <a:extLst>
              <a:ext uri="{FF2B5EF4-FFF2-40B4-BE49-F238E27FC236}">
                <a16:creationId xmlns:a16="http://schemas.microsoft.com/office/drawing/2014/main" id="{2BA1614D-FCEB-7683-4E7B-CAE38B1C0FBC}"/>
              </a:ext>
            </a:extLst>
          </p:cNvPr>
          <p:cNvSpPr txBox="1"/>
          <p:nvPr/>
        </p:nvSpPr>
        <p:spPr>
          <a:xfrm>
            <a:off x="3761991" y="3969006"/>
            <a:ext cx="3060034" cy="1477328"/>
          </a:xfrm>
          <a:prstGeom prst="rect">
            <a:avLst/>
          </a:prstGeom>
          <a:noFill/>
        </p:spPr>
        <p:txBody>
          <a:bodyPr wrap="square">
            <a:spAutoFit/>
          </a:bodyPr>
          <a:lstStyle/>
          <a:p>
            <a:r>
              <a:rPr lang="ja-JP" altLang="en-US" sz="1800" dirty="0">
                <a:solidFill>
                  <a:schemeClr val="tx1">
                    <a:lumMod val="75000"/>
                    <a:lumOff val="25000"/>
                  </a:schemeClr>
                </a:solidFill>
                <a:latin typeface="Consolas" panose="020B0609020204030204" pitchFamily="49" charset="0"/>
              </a:rPr>
              <a:t>この期間の処理は</a:t>
            </a:r>
            <a:br>
              <a:rPr lang="en-US" altLang="ja-JP" sz="1800" dirty="0">
                <a:solidFill>
                  <a:schemeClr val="tx1">
                    <a:lumMod val="75000"/>
                    <a:lumOff val="25000"/>
                  </a:schemeClr>
                </a:solidFill>
                <a:latin typeface="Consolas" panose="020B0609020204030204" pitchFamily="49" charset="0"/>
              </a:rPr>
            </a:br>
            <a:r>
              <a:rPr lang="ja-JP" altLang="en-US" sz="1800" dirty="0">
                <a:solidFill>
                  <a:schemeClr val="tx1">
                    <a:lumMod val="75000"/>
                    <a:lumOff val="25000"/>
                  </a:schemeClr>
                </a:solidFill>
                <a:latin typeface="Consolas" panose="020B0609020204030204" pitchFamily="49" charset="0"/>
              </a:rPr>
              <a:t>分岐予測ミスで</a:t>
            </a:r>
            <a:br>
              <a:rPr lang="en-US" altLang="ja-JP" sz="1800" dirty="0">
                <a:solidFill>
                  <a:schemeClr val="tx1">
                    <a:lumMod val="75000"/>
                    <a:lumOff val="25000"/>
                  </a:schemeClr>
                </a:solidFill>
                <a:latin typeface="Consolas" panose="020B0609020204030204" pitchFamily="49" charset="0"/>
              </a:rPr>
            </a:br>
            <a:r>
              <a:rPr lang="ja-JP" altLang="en-US" sz="1800" dirty="0">
                <a:solidFill>
                  <a:schemeClr val="tx1">
                    <a:lumMod val="75000"/>
                    <a:lumOff val="25000"/>
                  </a:schemeClr>
                </a:solidFill>
                <a:latin typeface="Consolas" panose="020B0609020204030204" pitchFamily="49" charset="0"/>
              </a:rPr>
              <a:t>取り消されている</a:t>
            </a:r>
            <a:endParaRPr lang="en-US" altLang="ja-JP" sz="1800" dirty="0">
              <a:solidFill>
                <a:schemeClr val="tx1">
                  <a:lumMod val="75000"/>
                  <a:lumOff val="25000"/>
                </a:schemeClr>
              </a:solidFill>
              <a:latin typeface="Consolas" panose="020B0609020204030204" pitchFamily="49" charset="0"/>
            </a:endParaRPr>
          </a:p>
          <a:p>
            <a:r>
              <a:rPr lang="ja-JP" altLang="en-US" sz="1800" dirty="0">
                <a:solidFill>
                  <a:schemeClr val="tx1">
                    <a:lumMod val="75000"/>
                    <a:lumOff val="25000"/>
                  </a:schemeClr>
                </a:solidFill>
                <a:latin typeface="Consolas" panose="020B0609020204030204" pitchFamily="49" charset="0"/>
              </a:rPr>
              <a:t>（</a:t>
            </a:r>
            <a:r>
              <a:rPr lang="it-IT" altLang="ja-JP" sz="1800" dirty="0">
                <a:solidFill>
                  <a:schemeClr val="tx1">
                    <a:lumMod val="75000"/>
                    <a:lumOff val="25000"/>
                  </a:schemeClr>
                </a:solidFill>
                <a:latin typeface="Consolas" panose="020B0609020204030204" pitchFamily="49" charset="0"/>
              </a:rPr>
              <a:t>add x2←x3+x4 </a:t>
            </a:r>
            <a:r>
              <a:rPr lang="ja-JP" altLang="en-US" sz="1800" dirty="0">
                <a:solidFill>
                  <a:schemeClr val="tx1">
                    <a:lumMod val="75000"/>
                    <a:lumOff val="25000"/>
                  </a:schemeClr>
                </a:solidFill>
                <a:latin typeface="Consolas" panose="020B0609020204030204" pitchFamily="49" charset="0"/>
              </a:rPr>
              <a:t>を先にやって取り消している）</a:t>
            </a:r>
            <a:endParaRPr lang="it-IT" altLang="ja-JP" sz="1800" dirty="0">
              <a:solidFill>
                <a:schemeClr val="tx1">
                  <a:lumMod val="75000"/>
                  <a:lumOff val="25000"/>
                </a:schemeClr>
              </a:solidFill>
              <a:latin typeface="Consolas" panose="020B0609020204030204" pitchFamily="49" charset="0"/>
            </a:endParaRPr>
          </a:p>
        </p:txBody>
      </p:sp>
    </p:spTree>
    <p:extLst>
      <p:ext uri="{BB962C8B-B14F-4D97-AF65-F5344CB8AC3E}">
        <p14:creationId xmlns:p14="http://schemas.microsoft.com/office/powerpoint/2010/main" val="411424460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322E92C3-71CE-2A9C-1483-A8D8082664C1}"/>
              </a:ext>
            </a:extLst>
          </p:cNvPr>
          <p:cNvSpPr>
            <a:spLocks noGrp="1"/>
          </p:cNvSpPr>
          <p:nvPr>
            <p:ph type="title"/>
          </p:nvPr>
        </p:nvSpPr>
        <p:spPr/>
        <p:txBody>
          <a:bodyPr/>
          <a:lstStyle/>
          <a:p>
            <a:r>
              <a:rPr lang="ja-JP" altLang="en-US" dirty="0"/>
              <a:t>性能のモデル</a:t>
            </a:r>
            <a:endParaRPr lang="en-US" dirty="0"/>
          </a:p>
        </p:txBody>
      </p:sp>
    </p:spTree>
    <p:extLst>
      <p:ext uri="{BB962C8B-B14F-4D97-AF65-F5344CB8AC3E}">
        <p14:creationId xmlns:p14="http://schemas.microsoft.com/office/powerpoint/2010/main" val="103571176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0B91FC5C-6DF3-2441-ECED-061FA34B4D91}"/>
              </a:ext>
            </a:extLst>
          </p:cNvPr>
          <p:cNvSpPr>
            <a:spLocks noGrp="1"/>
          </p:cNvSpPr>
          <p:nvPr>
            <p:ph type="title"/>
          </p:nvPr>
        </p:nvSpPr>
        <p:spPr/>
        <p:txBody>
          <a:bodyPr/>
          <a:lstStyle/>
          <a:p>
            <a:r>
              <a:rPr lang="ja-JP" altLang="en-US" dirty="0"/>
              <a:t>性能</a:t>
            </a:r>
            <a:endParaRPr lang="en-US" dirty="0"/>
          </a:p>
        </p:txBody>
      </p:sp>
      <p:sp>
        <p:nvSpPr>
          <p:cNvPr id="7" name="コンテンツ プレースホルダー 6">
            <a:extLst>
              <a:ext uri="{FF2B5EF4-FFF2-40B4-BE49-F238E27FC236}">
                <a16:creationId xmlns:a16="http://schemas.microsoft.com/office/drawing/2014/main" id="{6734BD7E-5D53-7BE2-66E0-CD8FA1DEB9D5}"/>
              </a:ext>
            </a:extLst>
          </p:cNvPr>
          <p:cNvSpPr>
            <a:spLocks noGrp="1"/>
          </p:cNvSpPr>
          <p:nvPr>
            <p:ph sz="quarter" idx="10"/>
          </p:nvPr>
        </p:nvSpPr>
        <p:spPr/>
        <p:txBody>
          <a:bodyPr/>
          <a:lstStyle/>
          <a:p>
            <a:r>
              <a:rPr lang="en-US" altLang="ja-JP" dirty="0"/>
              <a:t>CPU </a:t>
            </a:r>
            <a:r>
              <a:rPr lang="ja-JP" altLang="en-US" dirty="0"/>
              <a:t>の性能（処理速度）</a:t>
            </a:r>
            <a:r>
              <a:rPr lang="en-US" altLang="ja-JP" dirty="0"/>
              <a:t>= </a:t>
            </a:r>
            <a:r>
              <a:rPr lang="ja-JP" altLang="en-US" dirty="0"/>
              <a:t>単位時間あたりに処理できる命令数</a:t>
            </a:r>
            <a:endParaRPr lang="en-US" altLang="ja-JP" dirty="0"/>
          </a:p>
          <a:p>
            <a:r>
              <a:rPr lang="ja-JP" altLang="en-US" dirty="0"/>
              <a:t>性能は以下の２要素のかけ算で決まる：</a:t>
            </a:r>
            <a:endParaRPr lang="en-US" altLang="ja-JP" dirty="0"/>
          </a:p>
          <a:p>
            <a:pPr marL="817200" lvl="1" indent="-457200">
              <a:buFont typeface="+mj-lt"/>
              <a:buAutoNum type="arabicPeriod"/>
            </a:pPr>
            <a:r>
              <a:rPr lang="ja-JP" altLang="en-US" dirty="0">
                <a:solidFill>
                  <a:schemeClr val="accent5"/>
                </a:solidFill>
              </a:rPr>
              <a:t>クロック周波数 </a:t>
            </a:r>
            <a:r>
              <a:rPr lang="en-US" altLang="ja-JP" dirty="0">
                <a:solidFill>
                  <a:schemeClr val="accent5"/>
                </a:solidFill>
              </a:rPr>
              <a:t>=</a:t>
            </a:r>
            <a:r>
              <a:rPr lang="ja-JP" altLang="en-US" dirty="0">
                <a:solidFill>
                  <a:schemeClr val="accent5"/>
                </a:solidFill>
              </a:rPr>
              <a:t> </a:t>
            </a:r>
            <a:br>
              <a:rPr lang="en-US" altLang="ja-JP" dirty="0"/>
            </a:br>
            <a:r>
              <a:rPr lang="ja-JP" altLang="en-US" dirty="0"/>
              <a:t>１秒あたり何サイクル分の処理ができるか</a:t>
            </a:r>
          </a:p>
          <a:p>
            <a:pPr marL="817200" lvl="1" indent="-457200">
              <a:buFont typeface="+mj-lt"/>
              <a:buAutoNum type="arabicPeriod"/>
            </a:pPr>
            <a:r>
              <a:rPr lang="en-US" dirty="0">
                <a:solidFill>
                  <a:schemeClr val="accent5"/>
                </a:solidFill>
              </a:rPr>
              <a:t>Instructions per cycle (IPC) </a:t>
            </a:r>
            <a:r>
              <a:rPr lang="en-US" altLang="ja-JP" dirty="0">
                <a:solidFill>
                  <a:schemeClr val="accent5"/>
                </a:solidFill>
              </a:rPr>
              <a:t>=</a:t>
            </a:r>
            <a:br>
              <a:rPr lang="en-US" altLang="ja-JP" dirty="0">
                <a:solidFill>
                  <a:schemeClr val="accent5"/>
                </a:solidFill>
              </a:rPr>
            </a:br>
            <a:r>
              <a:rPr lang="ja-JP" altLang="en-US" dirty="0"/>
              <a:t>１サイクルあたり何命令処理できるか</a:t>
            </a:r>
            <a:endParaRPr lang="en-US" dirty="0"/>
          </a:p>
        </p:txBody>
      </p:sp>
      <p:sp>
        <p:nvSpPr>
          <p:cNvPr id="2" name="スライド番号プレースホルダー 1">
            <a:extLst>
              <a:ext uri="{FF2B5EF4-FFF2-40B4-BE49-F238E27FC236}">
                <a16:creationId xmlns:a16="http://schemas.microsoft.com/office/drawing/2014/main" id="{2DE4932B-25B3-33C2-336B-7058B8AB678E}"/>
              </a:ext>
            </a:extLst>
          </p:cNvPr>
          <p:cNvSpPr>
            <a:spLocks noGrp="1"/>
          </p:cNvSpPr>
          <p:nvPr>
            <p:ph type="sldNum" sz="quarter" idx="4294967295"/>
          </p:nvPr>
        </p:nvSpPr>
        <p:spPr>
          <a:xfrm>
            <a:off x="8424863" y="6308725"/>
            <a:ext cx="719137" cy="549275"/>
          </a:xfrm>
        </p:spPr>
        <p:txBody>
          <a:bodyPr/>
          <a:lstStyle/>
          <a:p>
            <a:fld id="{D2D8002D-B5B0-4BAC-B1F6-782DDCCE6D9C}" type="slidenum">
              <a:rPr lang="ja-JP" altLang="en-US" smtClean="0"/>
              <a:pPr/>
              <a:t>11</a:t>
            </a:fld>
            <a:endParaRPr lang="ja-JP" altLang="en-US"/>
          </a:p>
        </p:txBody>
      </p:sp>
    </p:spTree>
    <p:extLst>
      <p:ext uri="{BB962C8B-B14F-4D97-AF65-F5344CB8AC3E}">
        <p14:creationId xmlns:p14="http://schemas.microsoft.com/office/powerpoint/2010/main" val="263281710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30B2B78-EE75-4C74-FFCF-BB68D5383B36}"/>
              </a:ext>
            </a:extLst>
          </p:cNvPr>
          <p:cNvSpPr>
            <a:spLocks noGrp="1"/>
          </p:cNvSpPr>
          <p:nvPr>
            <p:ph type="title"/>
          </p:nvPr>
        </p:nvSpPr>
        <p:spPr/>
        <p:txBody>
          <a:bodyPr/>
          <a:lstStyle/>
          <a:p>
            <a:r>
              <a:rPr kumimoji="1" lang="ja-JP" altLang="en-US" dirty="0"/>
              <a:t>性能のモデル</a:t>
            </a:r>
            <a:endParaRPr kumimoji="1" lang="en-US" dirty="0"/>
          </a:p>
        </p:txBody>
      </p:sp>
      <p:sp>
        <p:nvSpPr>
          <p:cNvPr id="3" name="コンテンツ プレースホルダー 2">
            <a:extLst>
              <a:ext uri="{FF2B5EF4-FFF2-40B4-BE49-F238E27FC236}">
                <a16:creationId xmlns:a16="http://schemas.microsoft.com/office/drawing/2014/main" id="{D0BC0428-353B-A04A-7E40-2FCA1BAB49C1}"/>
              </a:ext>
            </a:extLst>
          </p:cNvPr>
          <p:cNvSpPr>
            <a:spLocks noGrp="1"/>
          </p:cNvSpPr>
          <p:nvPr>
            <p:ph sz="quarter" idx="10"/>
          </p:nvPr>
        </p:nvSpPr>
        <p:spPr/>
        <p:txBody>
          <a:bodyPr/>
          <a:lstStyle/>
          <a:p>
            <a:r>
              <a:rPr kumimoji="1" lang="ja-JP" altLang="en-US" dirty="0"/>
              <a:t>以下について検討していく</a:t>
            </a:r>
            <a:endParaRPr kumimoji="1" lang="en-US" altLang="ja-JP" dirty="0"/>
          </a:p>
          <a:p>
            <a:pPr lvl="1"/>
            <a:r>
              <a:rPr kumimoji="1" lang="ja-JP" altLang="en-US" dirty="0"/>
              <a:t>理想的な場合の性能のモデル</a:t>
            </a:r>
            <a:endParaRPr kumimoji="1" lang="en-US" altLang="ja-JP" dirty="0"/>
          </a:p>
          <a:p>
            <a:pPr lvl="1"/>
            <a:r>
              <a:rPr kumimoji="1" lang="ja-JP" altLang="en-US" dirty="0"/>
              <a:t>ハザードを考慮した性能のモデル</a:t>
            </a:r>
            <a:endParaRPr kumimoji="1" lang="en-US" altLang="ja-JP" dirty="0"/>
          </a:p>
        </p:txBody>
      </p:sp>
    </p:spTree>
    <p:extLst>
      <p:ext uri="{BB962C8B-B14F-4D97-AF65-F5344CB8AC3E}">
        <p14:creationId xmlns:p14="http://schemas.microsoft.com/office/powerpoint/2010/main" val="356187575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82918045-1413-49E0-E525-3A3F638871DC}"/>
              </a:ext>
            </a:extLst>
          </p:cNvPr>
          <p:cNvSpPr>
            <a:spLocks noGrp="1"/>
          </p:cNvSpPr>
          <p:nvPr>
            <p:ph type="title"/>
          </p:nvPr>
        </p:nvSpPr>
        <p:spPr/>
        <p:txBody>
          <a:bodyPr/>
          <a:lstStyle/>
          <a:p>
            <a:r>
              <a:rPr lang="ja-JP" altLang="en-US" dirty="0"/>
              <a:t>理想的な場合の性能モデル</a:t>
            </a:r>
            <a:endParaRPr lang="en-US" dirty="0"/>
          </a:p>
        </p:txBody>
      </p:sp>
    </p:spTree>
    <p:extLst>
      <p:ext uri="{BB962C8B-B14F-4D97-AF65-F5344CB8AC3E}">
        <p14:creationId xmlns:p14="http://schemas.microsoft.com/office/powerpoint/2010/main" val="32520704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B497847A-E7D4-873B-8483-4A476110C7CB}"/>
              </a:ext>
            </a:extLst>
          </p:cNvPr>
          <p:cNvSpPr>
            <a:spLocks noGrp="1"/>
          </p:cNvSpPr>
          <p:nvPr>
            <p:ph type="title"/>
          </p:nvPr>
        </p:nvSpPr>
        <p:spPr/>
        <p:txBody>
          <a:bodyPr/>
          <a:lstStyle/>
          <a:p>
            <a:r>
              <a:rPr kumimoji="1" lang="ja-JP" altLang="en-US" sz="2800" dirty="0"/>
              <a:t>理想的な各モデルの性能</a:t>
            </a:r>
            <a:endParaRPr lang="en-US" dirty="0"/>
          </a:p>
        </p:txBody>
      </p:sp>
      <p:sp>
        <p:nvSpPr>
          <p:cNvPr id="5" name="コンテンツ プレースホルダー 4">
            <a:extLst>
              <a:ext uri="{FF2B5EF4-FFF2-40B4-BE49-F238E27FC236}">
                <a16:creationId xmlns:a16="http://schemas.microsoft.com/office/drawing/2014/main" id="{8FD10F4C-5CDD-6EC6-B66A-096A6AD6E153}"/>
              </a:ext>
            </a:extLst>
          </p:cNvPr>
          <p:cNvSpPr>
            <a:spLocks noGrp="1"/>
          </p:cNvSpPr>
          <p:nvPr>
            <p:ph sz="quarter" idx="10"/>
          </p:nvPr>
        </p:nvSpPr>
        <p:spPr/>
        <p:txBody>
          <a:bodyPr/>
          <a:lstStyle/>
          <a:p>
            <a:r>
              <a:rPr kumimoji="1" lang="ja-JP" altLang="en-US" sz="1800" dirty="0"/>
              <a:t>下記のそれぞれについて秒間何命令処理できるかを考える</a:t>
            </a:r>
            <a:endParaRPr kumimoji="1" lang="en-US" altLang="ja-JP" sz="1800" dirty="0"/>
          </a:p>
          <a:p>
            <a:pPr lvl="1">
              <a:buFont typeface="+mj-lt"/>
              <a:buAutoNum type="arabicPeriod"/>
            </a:pPr>
            <a:r>
              <a:rPr kumimoji="1" lang="ja-JP" altLang="en-US" sz="1800" dirty="0"/>
              <a:t>シングル・サイクル・プロセッサ</a:t>
            </a:r>
            <a:endParaRPr kumimoji="1" lang="en-US" altLang="ja-JP" sz="1800" dirty="0"/>
          </a:p>
          <a:p>
            <a:pPr lvl="1">
              <a:buFont typeface="+mj-lt"/>
              <a:buAutoNum type="arabicPeriod"/>
            </a:pPr>
            <a:r>
              <a:rPr kumimoji="1" lang="ja-JP" altLang="en-US" sz="1800" dirty="0"/>
              <a:t>スカラ・パイプライン・プロセッサ</a:t>
            </a:r>
            <a:endParaRPr kumimoji="1" lang="en-US" altLang="ja-JP" sz="1800" dirty="0"/>
          </a:p>
          <a:p>
            <a:pPr lvl="1">
              <a:buFont typeface="+mj-lt"/>
              <a:buAutoNum type="arabicPeriod"/>
            </a:pPr>
            <a:r>
              <a:rPr kumimoji="1" lang="ja-JP" altLang="en-US" sz="1800" dirty="0"/>
              <a:t>スカラ・パイプライン・プロセッサ（段数２倍）</a:t>
            </a:r>
            <a:endParaRPr kumimoji="1" lang="en-US" altLang="ja-JP" sz="1800" dirty="0"/>
          </a:p>
          <a:p>
            <a:pPr lvl="1">
              <a:buFont typeface="+mj-lt"/>
              <a:buAutoNum type="arabicPeriod"/>
            </a:pPr>
            <a:r>
              <a:rPr kumimoji="1" lang="en-US" altLang="ja-JP" sz="1800" dirty="0"/>
              <a:t>2-way </a:t>
            </a:r>
            <a:r>
              <a:rPr kumimoji="1" lang="ja-JP" altLang="en-US" sz="1800" dirty="0"/>
              <a:t>スーパスカラ・プロセッサ</a:t>
            </a:r>
            <a:endParaRPr lang="en-US" dirty="0"/>
          </a:p>
        </p:txBody>
      </p:sp>
    </p:spTree>
    <p:extLst>
      <p:ext uri="{BB962C8B-B14F-4D97-AF65-F5344CB8AC3E}">
        <p14:creationId xmlns:p14="http://schemas.microsoft.com/office/powerpoint/2010/main" val="320165867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30B2B78-EE75-4C74-FFCF-BB68D5383B36}"/>
              </a:ext>
            </a:extLst>
          </p:cNvPr>
          <p:cNvSpPr>
            <a:spLocks noGrp="1"/>
          </p:cNvSpPr>
          <p:nvPr>
            <p:ph type="title"/>
          </p:nvPr>
        </p:nvSpPr>
        <p:spPr>
          <a:xfrm>
            <a:off x="431954" y="0"/>
            <a:ext cx="8712046" cy="908972"/>
          </a:xfrm>
        </p:spPr>
        <p:txBody>
          <a:bodyPr/>
          <a:lstStyle/>
          <a:p>
            <a:r>
              <a:rPr kumimoji="1" lang="ja-JP" altLang="en-US" dirty="0"/>
              <a:t>ここからの前提：</a:t>
            </a:r>
            <a:br>
              <a:rPr kumimoji="1" lang="en-US" altLang="ja-JP" dirty="0"/>
            </a:br>
            <a:r>
              <a:rPr kumimoji="1" lang="ja-JP" altLang="en-US" dirty="0"/>
              <a:t>パイプラインでは</a:t>
            </a:r>
            <a:r>
              <a:rPr lang="ja-JP" altLang="en-US" dirty="0"/>
              <a:t>フォワーディングの実装を仮定</a:t>
            </a:r>
            <a:endParaRPr lang="en-US" altLang="ja-JP" dirty="0"/>
          </a:p>
        </p:txBody>
      </p:sp>
      <p:sp>
        <p:nvSpPr>
          <p:cNvPr id="3" name="コンテンツ プレースホルダー 2">
            <a:extLst>
              <a:ext uri="{FF2B5EF4-FFF2-40B4-BE49-F238E27FC236}">
                <a16:creationId xmlns:a16="http://schemas.microsoft.com/office/drawing/2014/main" id="{D0BC0428-353B-A04A-7E40-2FCA1BAB49C1}"/>
              </a:ext>
            </a:extLst>
          </p:cNvPr>
          <p:cNvSpPr>
            <a:spLocks noGrp="1"/>
          </p:cNvSpPr>
          <p:nvPr>
            <p:ph sz="quarter" idx="10"/>
          </p:nvPr>
        </p:nvSpPr>
        <p:spPr>
          <a:xfrm>
            <a:off x="611956" y="1178975"/>
            <a:ext cx="7920088" cy="1260014"/>
          </a:xfrm>
        </p:spPr>
        <p:txBody>
          <a:bodyPr/>
          <a:lstStyle/>
          <a:p>
            <a:pPr lvl="1"/>
            <a:r>
              <a:rPr kumimoji="1" lang="ja-JP" altLang="en-US" sz="1800" dirty="0"/>
              <a:t>結果が </a:t>
            </a:r>
            <a:r>
              <a:rPr kumimoji="1" lang="en-US" altLang="ja-JP" sz="1800" dirty="0"/>
              <a:t>RF </a:t>
            </a:r>
            <a:r>
              <a:rPr kumimoji="1" lang="ja-JP" altLang="en-US" sz="1800" dirty="0"/>
              <a:t>に書かれる前に，後続の命令は最速のタイミングでそれを使える（</a:t>
            </a:r>
            <a:r>
              <a:rPr kumimoji="1" lang="en-US" altLang="ja-JP" sz="1800" dirty="0"/>
              <a:t>=</a:t>
            </a:r>
            <a:r>
              <a:rPr kumimoji="1" lang="ja-JP" altLang="en-US" sz="1800" dirty="0"/>
              <a:t>フォワーディングを行う）と想定</a:t>
            </a:r>
            <a:endParaRPr kumimoji="1" lang="en-US" altLang="ja-JP" sz="1800" dirty="0"/>
          </a:p>
          <a:p>
            <a:pPr lvl="1"/>
            <a:r>
              <a:rPr kumimoji="1" lang="ja-JP" altLang="en-US" sz="1800" dirty="0"/>
              <a:t>つまり，依存元命令の実行ステージ（以下では </a:t>
            </a:r>
            <a:r>
              <a:rPr kumimoji="1" lang="en-US" altLang="ja-JP" sz="1800" dirty="0"/>
              <a:t>X</a:t>
            </a:r>
            <a:r>
              <a:rPr kumimoji="1" lang="ja-JP" altLang="en-US" sz="1800" dirty="0"/>
              <a:t>）が終わり次第，</a:t>
            </a:r>
            <a:br>
              <a:rPr kumimoji="1" lang="en-US" altLang="ja-JP" sz="1800" dirty="0"/>
            </a:br>
            <a:r>
              <a:rPr kumimoji="1" lang="ja-JP" altLang="en-US" sz="1800" dirty="0"/>
              <a:t>直ちに依存先の命令は実行ステージを開始できる</a:t>
            </a:r>
            <a:endParaRPr kumimoji="1" lang="en-US" sz="1800" dirty="0"/>
          </a:p>
        </p:txBody>
      </p:sp>
      <p:sp>
        <p:nvSpPr>
          <p:cNvPr id="4" name="正方形/長方形 3">
            <a:extLst>
              <a:ext uri="{FF2B5EF4-FFF2-40B4-BE49-F238E27FC236}">
                <a16:creationId xmlns:a16="http://schemas.microsoft.com/office/drawing/2014/main" id="{80982571-D2C0-A4B6-F6A4-3A6979083863}"/>
              </a:ext>
            </a:extLst>
          </p:cNvPr>
          <p:cNvSpPr/>
          <p:nvPr/>
        </p:nvSpPr>
        <p:spPr>
          <a:xfrm>
            <a:off x="971961" y="3248998"/>
            <a:ext cx="450005" cy="646331"/>
          </a:xfrm>
          <a:prstGeom prst="rect">
            <a:avLst/>
          </a:prstGeom>
        </p:spPr>
        <p:txBody>
          <a:bodyPr wrap="none">
            <a:noAutofit/>
          </a:bodyPr>
          <a:lstStyle/>
          <a:p>
            <a:r>
              <a:rPr lang="en-US" altLang="ja-JP" dirty="0">
                <a:solidFill>
                  <a:schemeClr val="tx1">
                    <a:lumMod val="65000"/>
                    <a:lumOff val="35000"/>
                  </a:schemeClr>
                </a:solidFill>
                <a:latin typeface="Consolas" panose="020B0609020204030204" pitchFamily="49" charset="0"/>
              </a:rPr>
              <a:t>I0: add </a:t>
            </a:r>
            <a:r>
              <a:rPr lang="en-US" altLang="ja-JP" dirty="0">
                <a:solidFill>
                  <a:schemeClr val="accent5"/>
                </a:solidFill>
                <a:latin typeface="Consolas" panose="020B0609020204030204" pitchFamily="49" charset="0"/>
              </a:rPr>
              <a:t>x1</a:t>
            </a:r>
            <a:r>
              <a:rPr lang="ja-JP" altLang="en-US" dirty="0">
                <a:solidFill>
                  <a:schemeClr val="tx1">
                    <a:lumMod val="65000"/>
                    <a:lumOff val="35000"/>
                  </a:schemeClr>
                </a:solidFill>
                <a:latin typeface="Consolas" panose="020B0609020204030204" pitchFamily="49" charset="0"/>
              </a:rPr>
              <a:t>←</a:t>
            </a:r>
            <a:r>
              <a:rPr lang="en-US" altLang="ja-JP" dirty="0">
                <a:solidFill>
                  <a:schemeClr val="tx1">
                    <a:lumMod val="65000"/>
                    <a:lumOff val="35000"/>
                  </a:schemeClr>
                </a:solidFill>
                <a:latin typeface="Consolas" panose="020B0609020204030204" pitchFamily="49" charset="0"/>
              </a:rPr>
              <a:t>x2,x3</a:t>
            </a:r>
            <a:endParaRPr lang="ja-JP" altLang="en-US" dirty="0">
              <a:solidFill>
                <a:schemeClr val="tx1">
                  <a:lumMod val="65000"/>
                  <a:lumOff val="35000"/>
                </a:schemeClr>
              </a:solidFill>
              <a:latin typeface="Consolas" panose="020B0609020204030204" pitchFamily="49" charset="0"/>
            </a:endParaRPr>
          </a:p>
        </p:txBody>
      </p:sp>
      <p:sp>
        <p:nvSpPr>
          <p:cNvPr id="5" name="正方形/長方形 4">
            <a:extLst>
              <a:ext uri="{FF2B5EF4-FFF2-40B4-BE49-F238E27FC236}">
                <a16:creationId xmlns:a16="http://schemas.microsoft.com/office/drawing/2014/main" id="{FE3FD0CD-B690-9B2B-22A8-BA610A9E06A5}"/>
              </a:ext>
            </a:extLst>
          </p:cNvPr>
          <p:cNvSpPr/>
          <p:nvPr/>
        </p:nvSpPr>
        <p:spPr>
          <a:xfrm>
            <a:off x="971961" y="3699003"/>
            <a:ext cx="450005" cy="369332"/>
          </a:xfrm>
          <a:prstGeom prst="rect">
            <a:avLst/>
          </a:prstGeom>
        </p:spPr>
        <p:txBody>
          <a:bodyPr wrap="none">
            <a:noAutofit/>
          </a:bodyPr>
          <a:lstStyle/>
          <a:p>
            <a:r>
              <a:rPr lang="en-US" altLang="ja-JP" dirty="0">
                <a:solidFill>
                  <a:schemeClr val="tx1">
                    <a:lumMod val="65000"/>
                    <a:lumOff val="35000"/>
                  </a:schemeClr>
                </a:solidFill>
                <a:latin typeface="Consolas" panose="020B0609020204030204" pitchFamily="49" charset="0"/>
              </a:rPr>
              <a:t>I1: sub x4</a:t>
            </a:r>
            <a:r>
              <a:rPr lang="ja-JP" altLang="en-US" dirty="0">
                <a:solidFill>
                  <a:schemeClr val="tx1">
                    <a:lumMod val="65000"/>
                    <a:lumOff val="35000"/>
                  </a:schemeClr>
                </a:solidFill>
                <a:latin typeface="Consolas" panose="020B0609020204030204" pitchFamily="49" charset="0"/>
              </a:rPr>
              <a:t>←</a:t>
            </a:r>
            <a:r>
              <a:rPr lang="en-US" altLang="ja-JP" dirty="0">
                <a:solidFill>
                  <a:schemeClr val="accent5"/>
                </a:solidFill>
                <a:latin typeface="Consolas" panose="020B0609020204030204" pitchFamily="49" charset="0"/>
              </a:rPr>
              <a:t>x1</a:t>
            </a:r>
            <a:r>
              <a:rPr lang="en-US" altLang="ja-JP" dirty="0">
                <a:solidFill>
                  <a:schemeClr val="tx1">
                    <a:lumMod val="65000"/>
                    <a:lumOff val="35000"/>
                  </a:schemeClr>
                </a:solidFill>
                <a:latin typeface="Consolas" panose="020B0609020204030204" pitchFamily="49" charset="0"/>
              </a:rPr>
              <a:t>,x5</a:t>
            </a:r>
            <a:endParaRPr lang="ja-JP" altLang="en-US" dirty="0">
              <a:solidFill>
                <a:schemeClr val="tx1">
                  <a:lumMod val="65000"/>
                  <a:lumOff val="35000"/>
                </a:schemeClr>
              </a:solidFill>
              <a:latin typeface="Consolas" panose="020B0609020204030204" pitchFamily="49" charset="0"/>
            </a:endParaRPr>
          </a:p>
        </p:txBody>
      </p:sp>
      <p:sp>
        <p:nvSpPr>
          <p:cNvPr id="6" name="正方形/長方形 5">
            <a:extLst>
              <a:ext uri="{FF2B5EF4-FFF2-40B4-BE49-F238E27FC236}">
                <a16:creationId xmlns:a16="http://schemas.microsoft.com/office/drawing/2014/main" id="{2F34BAC8-5BC2-64B5-96A1-0B8FB5ED93C8}"/>
              </a:ext>
            </a:extLst>
          </p:cNvPr>
          <p:cNvSpPr/>
          <p:nvPr/>
        </p:nvSpPr>
        <p:spPr>
          <a:xfrm>
            <a:off x="971961" y="4149008"/>
            <a:ext cx="450005" cy="369332"/>
          </a:xfrm>
          <a:prstGeom prst="rect">
            <a:avLst/>
          </a:prstGeom>
        </p:spPr>
        <p:txBody>
          <a:bodyPr wrap="none">
            <a:noAutofit/>
          </a:bodyPr>
          <a:lstStyle/>
          <a:p>
            <a:r>
              <a:rPr lang="en-US" altLang="ja-JP" dirty="0">
                <a:solidFill>
                  <a:schemeClr val="tx1">
                    <a:lumMod val="65000"/>
                    <a:lumOff val="35000"/>
                  </a:schemeClr>
                </a:solidFill>
                <a:latin typeface="Consolas" panose="020B0609020204030204" pitchFamily="49" charset="0"/>
              </a:rPr>
              <a:t>I2: ...</a:t>
            </a:r>
            <a:endParaRPr lang="ja-JP" altLang="en-US" dirty="0">
              <a:solidFill>
                <a:schemeClr val="tx1">
                  <a:lumMod val="65000"/>
                  <a:lumOff val="35000"/>
                </a:schemeClr>
              </a:solidFill>
              <a:latin typeface="Consolas" panose="020B0609020204030204" pitchFamily="49" charset="0"/>
            </a:endParaRPr>
          </a:p>
        </p:txBody>
      </p:sp>
      <p:sp>
        <p:nvSpPr>
          <p:cNvPr id="7" name="Rectangle 69">
            <a:extLst>
              <a:ext uri="{FF2B5EF4-FFF2-40B4-BE49-F238E27FC236}">
                <a16:creationId xmlns:a16="http://schemas.microsoft.com/office/drawing/2014/main" id="{C6B6FE4C-FD18-4CFB-2A8C-279ACE9A89AC}"/>
              </a:ext>
            </a:extLst>
          </p:cNvPr>
          <p:cNvSpPr>
            <a:spLocks noChangeArrowheads="1"/>
          </p:cNvSpPr>
          <p:nvPr/>
        </p:nvSpPr>
        <p:spPr bwMode="auto">
          <a:xfrm>
            <a:off x="3131985" y="3248998"/>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8" name="Rectangle 70">
            <a:extLst>
              <a:ext uri="{FF2B5EF4-FFF2-40B4-BE49-F238E27FC236}">
                <a16:creationId xmlns:a16="http://schemas.microsoft.com/office/drawing/2014/main" id="{CD1FD6A3-0F9F-4A87-85C0-EBE3DEC41E8C}"/>
              </a:ext>
            </a:extLst>
          </p:cNvPr>
          <p:cNvSpPr>
            <a:spLocks noChangeArrowheads="1"/>
          </p:cNvSpPr>
          <p:nvPr/>
        </p:nvSpPr>
        <p:spPr bwMode="auto">
          <a:xfrm>
            <a:off x="3581988" y="3248998"/>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D</a:t>
            </a:r>
          </a:p>
        </p:txBody>
      </p:sp>
      <p:sp>
        <p:nvSpPr>
          <p:cNvPr id="9" name="Rectangle 71">
            <a:extLst>
              <a:ext uri="{FF2B5EF4-FFF2-40B4-BE49-F238E27FC236}">
                <a16:creationId xmlns:a16="http://schemas.microsoft.com/office/drawing/2014/main" id="{F87806BC-6869-1C6B-1AF2-03F70A79A7BC}"/>
              </a:ext>
            </a:extLst>
          </p:cNvPr>
          <p:cNvSpPr>
            <a:spLocks noChangeArrowheads="1"/>
          </p:cNvSpPr>
          <p:nvPr/>
        </p:nvSpPr>
        <p:spPr bwMode="auto">
          <a:xfrm>
            <a:off x="4031994" y="3248998"/>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X</a:t>
            </a:r>
          </a:p>
        </p:txBody>
      </p:sp>
      <p:sp>
        <p:nvSpPr>
          <p:cNvPr id="10" name="Rectangle 72">
            <a:extLst>
              <a:ext uri="{FF2B5EF4-FFF2-40B4-BE49-F238E27FC236}">
                <a16:creationId xmlns:a16="http://schemas.microsoft.com/office/drawing/2014/main" id="{B3505AB2-E1DC-4013-CD91-5F2821AB29B7}"/>
              </a:ext>
            </a:extLst>
          </p:cNvPr>
          <p:cNvSpPr>
            <a:spLocks noChangeArrowheads="1"/>
          </p:cNvSpPr>
          <p:nvPr/>
        </p:nvSpPr>
        <p:spPr bwMode="auto">
          <a:xfrm>
            <a:off x="4481999" y="3248998"/>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M</a:t>
            </a:r>
          </a:p>
        </p:txBody>
      </p:sp>
      <p:sp>
        <p:nvSpPr>
          <p:cNvPr id="11" name="Rectangle 73">
            <a:extLst>
              <a:ext uri="{FF2B5EF4-FFF2-40B4-BE49-F238E27FC236}">
                <a16:creationId xmlns:a16="http://schemas.microsoft.com/office/drawing/2014/main" id="{0B0D3294-A940-2A96-F811-E215FA59AA74}"/>
              </a:ext>
            </a:extLst>
          </p:cNvPr>
          <p:cNvSpPr>
            <a:spLocks noChangeArrowheads="1"/>
          </p:cNvSpPr>
          <p:nvPr/>
        </p:nvSpPr>
        <p:spPr bwMode="auto">
          <a:xfrm>
            <a:off x="4932004" y="3248998"/>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W</a:t>
            </a:r>
          </a:p>
        </p:txBody>
      </p:sp>
      <p:sp>
        <p:nvSpPr>
          <p:cNvPr id="12" name="Rectangle 69">
            <a:extLst>
              <a:ext uri="{FF2B5EF4-FFF2-40B4-BE49-F238E27FC236}">
                <a16:creationId xmlns:a16="http://schemas.microsoft.com/office/drawing/2014/main" id="{3FFF24F7-8C81-54C6-6D03-59D66B2E0DEF}"/>
              </a:ext>
            </a:extLst>
          </p:cNvPr>
          <p:cNvSpPr>
            <a:spLocks noChangeArrowheads="1"/>
          </p:cNvSpPr>
          <p:nvPr/>
        </p:nvSpPr>
        <p:spPr bwMode="auto">
          <a:xfrm>
            <a:off x="3581992" y="3699003"/>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13" name="Rectangle 70">
            <a:extLst>
              <a:ext uri="{FF2B5EF4-FFF2-40B4-BE49-F238E27FC236}">
                <a16:creationId xmlns:a16="http://schemas.microsoft.com/office/drawing/2014/main" id="{DBEE4C99-270A-0993-C633-C7A98ACC77BA}"/>
              </a:ext>
            </a:extLst>
          </p:cNvPr>
          <p:cNvSpPr>
            <a:spLocks noChangeArrowheads="1"/>
          </p:cNvSpPr>
          <p:nvPr/>
        </p:nvSpPr>
        <p:spPr bwMode="auto">
          <a:xfrm>
            <a:off x="4031995" y="3699003"/>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D</a:t>
            </a:r>
          </a:p>
        </p:txBody>
      </p:sp>
      <p:sp>
        <p:nvSpPr>
          <p:cNvPr id="14" name="Rectangle 71">
            <a:extLst>
              <a:ext uri="{FF2B5EF4-FFF2-40B4-BE49-F238E27FC236}">
                <a16:creationId xmlns:a16="http://schemas.microsoft.com/office/drawing/2014/main" id="{BA666BE2-8DF1-B748-0ECF-899A82DECB78}"/>
              </a:ext>
            </a:extLst>
          </p:cNvPr>
          <p:cNvSpPr>
            <a:spLocks noChangeArrowheads="1"/>
          </p:cNvSpPr>
          <p:nvPr/>
        </p:nvSpPr>
        <p:spPr bwMode="auto">
          <a:xfrm>
            <a:off x="4482001" y="3699003"/>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X</a:t>
            </a:r>
          </a:p>
        </p:txBody>
      </p:sp>
      <p:sp>
        <p:nvSpPr>
          <p:cNvPr id="15" name="Rectangle 72">
            <a:extLst>
              <a:ext uri="{FF2B5EF4-FFF2-40B4-BE49-F238E27FC236}">
                <a16:creationId xmlns:a16="http://schemas.microsoft.com/office/drawing/2014/main" id="{9444ACCD-A1B4-ED14-C0A7-EC067213F395}"/>
              </a:ext>
            </a:extLst>
          </p:cNvPr>
          <p:cNvSpPr>
            <a:spLocks noChangeArrowheads="1"/>
          </p:cNvSpPr>
          <p:nvPr/>
        </p:nvSpPr>
        <p:spPr bwMode="auto">
          <a:xfrm>
            <a:off x="4932006" y="3699003"/>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M</a:t>
            </a:r>
          </a:p>
        </p:txBody>
      </p:sp>
      <p:sp>
        <p:nvSpPr>
          <p:cNvPr id="16" name="Rectangle 73">
            <a:extLst>
              <a:ext uri="{FF2B5EF4-FFF2-40B4-BE49-F238E27FC236}">
                <a16:creationId xmlns:a16="http://schemas.microsoft.com/office/drawing/2014/main" id="{1259ED78-131C-7158-591B-538D483C10A7}"/>
              </a:ext>
            </a:extLst>
          </p:cNvPr>
          <p:cNvSpPr>
            <a:spLocks noChangeArrowheads="1"/>
          </p:cNvSpPr>
          <p:nvPr/>
        </p:nvSpPr>
        <p:spPr bwMode="auto">
          <a:xfrm>
            <a:off x="5382011" y="3699003"/>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W</a:t>
            </a:r>
          </a:p>
        </p:txBody>
      </p:sp>
      <p:sp>
        <p:nvSpPr>
          <p:cNvPr id="17" name="Rectangle 69">
            <a:extLst>
              <a:ext uri="{FF2B5EF4-FFF2-40B4-BE49-F238E27FC236}">
                <a16:creationId xmlns:a16="http://schemas.microsoft.com/office/drawing/2014/main" id="{BD2E9A90-2C2E-99A3-43F1-533D88552D2E}"/>
              </a:ext>
            </a:extLst>
          </p:cNvPr>
          <p:cNvSpPr>
            <a:spLocks noChangeArrowheads="1"/>
          </p:cNvSpPr>
          <p:nvPr/>
        </p:nvSpPr>
        <p:spPr bwMode="auto">
          <a:xfrm>
            <a:off x="4031996" y="4149008"/>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18" name="Rectangle 70">
            <a:extLst>
              <a:ext uri="{FF2B5EF4-FFF2-40B4-BE49-F238E27FC236}">
                <a16:creationId xmlns:a16="http://schemas.microsoft.com/office/drawing/2014/main" id="{F289A381-7297-B3EB-9D3B-6A656487A5FE}"/>
              </a:ext>
            </a:extLst>
          </p:cNvPr>
          <p:cNvSpPr>
            <a:spLocks noChangeArrowheads="1"/>
          </p:cNvSpPr>
          <p:nvPr/>
        </p:nvSpPr>
        <p:spPr bwMode="auto">
          <a:xfrm>
            <a:off x="4481999" y="4149008"/>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D</a:t>
            </a:r>
          </a:p>
        </p:txBody>
      </p:sp>
      <p:sp>
        <p:nvSpPr>
          <p:cNvPr id="19" name="Rectangle 71">
            <a:extLst>
              <a:ext uri="{FF2B5EF4-FFF2-40B4-BE49-F238E27FC236}">
                <a16:creationId xmlns:a16="http://schemas.microsoft.com/office/drawing/2014/main" id="{3FDA12F2-9EBB-C344-D7F7-8A4553A32290}"/>
              </a:ext>
            </a:extLst>
          </p:cNvPr>
          <p:cNvSpPr>
            <a:spLocks noChangeArrowheads="1"/>
          </p:cNvSpPr>
          <p:nvPr/>
        </p:nvSpPr>
        <p:spPr bwMode="auto">
          <a:xfrm>
            <a:off x="4932005" y="4149008"/>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X</a:t>
            </a:r>
          </a:p>
        </p:txBody>
      </p:sp>
      <p:sp>
        <p:nvSpPr>
          <p:cNvPr id="20" name="Rectangle 72">
            <a:extLst>
              <a:ext uri="{FF2B5EF4-FFF2-40B4-BE49-F238E27FC236}">
                <a16:creationId xmlns:a16="http://schemas.microsoft.com/office/drawing/2014/main" id="{61809726-1B0F-1583-1CFE-ADEA3CE9697A}"/>
              </a:ext>
            </a:extLst>
          </p:cNvPr>
          <p:cNvSpPr>
            <a:spLocks noChangeArrowheads="1"/>
          </p:cNvSpPr>
          <p:nvPr/>
        </p:nvSpPr>
        <p:spPr bwMode="auto">
          <a:xfrm>
            <a:off x="5382010" y="4149008"/>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M</a:t>
            </a:r>
          </a:p>
        </p:txBody>
      </p:sp>
      <p:sp>
        <p:nvSpPr>
          <p:cNvPr id="21" name="Rectangle 73">
            <a:extLst>
              <a:ext uri="{FF2B5EF4-FFF2-40B4-BE49-F238E27FC236}">
                <a16:creationId xmlns:a16="http://schemas.microsoft.com/office/drawing/2014/main" id="{F780DAF1-F6D6-DBE0-9054-2B421DB658F0}"/>
              </a:ext>
            </a:extLst>
          </p:cNvPr>
          <p:cNvSpPr>
            <a:spLocks noChangeArrowheads="1"/>
          </p:cNvSpPr>
          <p:nvPr/>
        </p:nvSpPr>
        <p:spPr bwMode="auto">
          <a:xfrm>
            <a:off x="5832015" y="4149008"/>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W</a:t>
            </a:r>
          </a:p>
        </p:txBody>
      </p:sp>
      <p:cxnSp>
        <p:nvCxnSpPr>
          <p:cNvPr id="23" name="直線矢印コネクタ 22">
            <a:extLst>
              <a:ext uri="{FF2B5EF4-FFF2-40B4-BE49-F238E27FC236}">
                <a16:creationId xmlns:a16="http://schemas.microsoft.com/office/drawing/2014/main" id="{59903140-1EDB-F2F9-7261-31A01F4AAC33}"/>
              </a:ext>
            </a:extLst>
          </p:cNvPr>
          <p:cNvCxnSpPr/>
          <p:nvPr/>
        </p:nvCxnSpPr>
        <p:spPr bwMode="auto">
          <a:xfrm>
            <a:off x="4391999" y="3519001"/>
            <a:ext cx="270003" cy="270003"/>
          </a:xfrm>
          <a:prstGeom prst="straightConnector1">
            <a:avLst/>
          </a:prstGeom>
          <a:ln>
            <a:headEnd type="none" w="med" len="med"/>
            <a:tailEnd type="triangle"/>
          </a:ln>
        </p:spPr>
        <p:style>
          <a:lnRef idx="3">
            <a:schemeClr val="accent5"/>
          </a:lnRef>
          <a:fillRef idx="0">
            <a:schemeClr val="accent5"/>
          </a:fillRef>
          <a:effectRef idx="2">
            <a:schemeClr val="accent5"/>
          </a:effectRef>
          <a:fontRef idx="minor">
            <a:schemeClr val="tx1"/>
          </a:fontRef>
        </p:style>
      </p:cxnSp>
      <p:sp>
        <p:nvSpPr>
          <p:cNvPr id="24" name="正方形/長方形 23">
            <a:extLst>
              <a:ext uri="{FF2B5EF4-FFF2-40B4-BE49-F238E27FC236}">
                <a16:creationId xmlns:a16="http://schemas.microsoft.com/office/drawing/2014/main" id="{94C25B1F-142C-EEE5-BB1D-0A2719D528F2}"/>
              </a:ext>
            </a:extLst>
          </p:cNvPr>
          <p:cNvSpPr/>
          <p:nvPr/>
        </p:nvSpPr>
        <p:spPr>
          <a:xfrm>
            <a:off x="971960" y="5409022"/>
            <a:ext cx="450005" cy="646331"/>
          </a:xfrm>
          <a:prstGeom prst="rect">
            <a:avLst/>
          </a:prstGeom>
        </p:spPr>
        <p:txBody>
          <a:bodyPr wrap="none">
            <a:noAutofit/>
          </a:bodyPr>
          <a:lstStyle/>
          <a:p>
            <a:r>
              <a:rPr lang="en-US" altLang="ja-JP" dirty="0">
                <a:solidFill>
                  <a:schemeClr val="tx1">
                    <a:lumMod val="65000"/>
                    <a:lumOff val="35000"/>
                  </a:schemeClr>
                </a:solidFill>
                <a:latin typeface="Consolas" panose="020B0609020204030204" pitchFamily="49" charset="0"/>
              </a:rPr>
              <a:t>I0: add </a:t>
            </a:r>
            <a:r>
              <a:rPr lang="en-US" altLang="ja-JP" dirty="0">
                <a:solidFill>
                  <a:schemeClr val="accent5"/>
                </a:solidFill>
                <a:latin typeface="Consolas" panose="020B0609020204030204" pitchFamily="49" charset="0"/>
              </a:rPr>
              <a:t>x1</a:t>
            </a:r>
            <a:r>
              <a:rPr lang="ja-JP" altLang="en-US" dirty="0">
                <a:solidFill>
                  <a:schemeClr val="tx1">
                    <a:lumMod val="65000"/>
                    <a:lumOff val="35000"/>
                  </a:schemeClr>
                </a:solidFill>
                <a:latin typeface="Consolas" panose="020B0609020204030204" pitchFamily="49" charset="0"/>
              </a:rPr>
              <a:t>←</a:t>
            </a:r>
            <a:r>
              <a:rPr lang="en-US" altLang="ja-JP" dirty="0">
                <a:solidFill>
                  <a:schemeClr val="tx1">
                    <a:lumMod val="65000"/>
                    <a:lumOff val="35000"/>
                  </a:schemeClr>
                </a:solidFill>
                <a:latin typeface="Consolas" panose="020B0609020204030204" pitchFamily="49" charset="0"/>
              </a:rPr>
              <a:t>x2,x3</a:t>
            </a:r>
            <a:endParaRPr lang="ja-JP" altLang="en-US" dirty="0">
              <a:solidFill>
                <a:schemeClr val="tx1">
                  <a:lumMod val="65000"/>
                  <a:lumOff val="35000"/>
                </a:schemeClr>
              </a:solidFill>
              <a:latin typeface="Consolas" panose="020B0609020204030204" pitchFamily="49" charset="0"/>
            </a:endParaRPr>
          </a:p>
        </p:txBody>
      </p:sp>
      <p:sp>
        <p:nvSpPr>
          <p:cNvPr id="25" name="正方形/長方形 24">
            <a:extLst>
              <a:ext uri="{FF2B5EF4-FFF2-40B4-BE49-F238E27FC236}">
                <a16:creationId xmlns:a16="http://schemas.microsoft.com/office/drawing/2014/main" id="{D94678A4-2731-682C-1C8A-018678FBA318}"/>
              </a:ext>
            </a:extLst>
          </p:cNvPr>
          <p:cNvSpPr/>
          <p:nvPr/>
        </p:nvSpPr>
        <p:spPr>
          <a:xfrm>
            <a:off x="971960" y="5859027"/>
            <a:ext cx="450005" cy="369332"/>
          </a:xfrm>
          <a:prstGeom prst="rect">
            <a:avLst/>
          </a:prstGeom>
        </p:spPr>
        <p:txBody>
          <a:bodyPr wrap="none">
            <a:noAutofit/>
          </a:bodyPr>
          <a:lstStyle/>
          <a:p>
            <a:r>
              <a:rPr lang="en-US" altLang="ja-JP" dirty="0">
                <a:solidFill>
                  <a:schemeClr val="tx1">
                    <a:lumMod val="65000"/>
                    <a:lumOff val="35000"/>
                  </a:schemeClr>
                </a:solidFill>
                <a:latin typeface="Consolas" panose="020B0609020204030204" pitchFamily="49" charset="0"/>
              </a:rPr>
              <a:t>I1: sub x4</a:t>
            </a:r>
            <a:r>
              <a:rPr lang="ja-JP" altLang="en-US" dirty="0">
                <a:solidFill>
                  <a:schemeClr val="tx1">
                    <a:lumMod val="65000"/>
                    <a:lumOff val="35000"/>
                  </a:schemeClr>
                </a:solidFill>
                <a:latin typeface="Consolas" panose="020B0609020204030204" pitchFamily="49" charset="0"/>
              </a:rPr>
              <a:t>←</a:t>
            </a:r>
            <a:r>
              <a:rPr lang="en-US" altLang="ja-JP" dirty="0">
                <a:solidFill>
                  <a:schemeClr val="accent5"/>
                </a:solidFill>
                <a:latin typeface="Consolas" panose="020B0609020204030204" pitchFamily="49" charset="0"/>
              </a:rPr>
              <a:t>x1</a:t>
            </a:r>
            <a:r>
              <a:rPr lang="en-US" altLang="ja-JP" dirty="0">
                <a:solidFill>
                  <a:schemeClr val="tx1">
                    <a:lumMod val="65000"/>
                    <a:lumOff val="35000"/>
                  </a:schemeClr>
                </a:solidFill>
                <a:latin typeface="Consolas" panose="020B0609020204030204" pitchFamily="49" charset="0"/>
              </a:rPr>
              <a:t>,x5</a:t>
            </a:r>
            <a:endParaRPr lang="ja-JP" altLang="en-US" dirty="0">
              <a:solidFill>
                <a:schemeClr val="tx1">
                  <a:lumMod val="65000"/>
                  <a:lumOff val="35000"/>
                </a:schemeClr>
              </a:solidFill>
              <a:latin typeface="Consolas" panose="020B0609020204030204" pitchFamily="49" charset="0"/>
            </a:endParaRPr>
          </a:p>
        </p:txBody>
      </p:sp>
      <p:sp>
        <p:nvSpPr>
          <p:cNvPr id="26" name="正方形/長方形 25">
            <a:extLst>
              <a:ext uri="{FF2B5EF4-FFF2-40B4-BE49-F238E27FC236}">
                <a16:creationId xmlns:a16="http://schemas.microsoft.com/office/drawing/2014/main" id="{AA5216BD-8B11-A92B-2B95-51EE9C6D2AB3}"/>
              </a:ext>
            </a:extLst>
          </p:cNvPr>
          <p:cNvSpPr/>
          <p:nvPr/>
        </p:nvSpPr>
        <p:spPr>
          <a:xfrm>
            <a:off x="971960" y="6309032"/>
            <a:ext cx="450005" cy="369332"/>
          </a:xfrm>
          <a:prstGeom prst="rect">
            <a:avLst/>
          </a:prstGeom>
        </p:spPr>
        <p:txBody>
          <a:bodyPr wrap="none">
            <a:noAutofit/>
          </a:bodyPr>
          <a:lstStyle/>
          <a:p>
            <a:r>
              <a:rPr lang="en-US" altLang="ja-JP" dirty="0">
                <a:solidFill>
                  <a:schemeClr val="tx1">
                    <a:lumMod val="65000"/>
                    <a:lumOff val="35000"/>
                  </a:schemeClr>
                </a:solidFill>
                <a:latin typeface="Consolas" panose="020B0609020204030204" pitchFamily="49" charset="0"/>
              </a:rPr>
              <a:t>I2: ...</a:t>
            </a:r>
            <a:endParaRPr lang="ja-JP" altLang="en-US" dirty="0">
              <a:solidFill>
                <a:schemeClr val="tx1">
                  <a:lumMod val="65000"/>
                  <a:lumOff val="35000"/>
                </a:schemeClr>
              </a:solidFill>
              <a:latin typeface="Consolas" panose="020B0609020204030204" pitchFamily="49" charset="0"/>
            </a:endParaRPr>
          </a:p>
        </p:txBody>
      </p:sp>
      <p:sp>
        <p:nvSpPr>
          <p:cNvPr id="27" name="Rectangle 69">
            <a:extLst>
              <a:ext uri="{FF2B5EF4-FFF2-40B4-BE49-F238E27FC236}">
                <a16:creationId xmlns:a16="http://schemas.microsoft.com/office/drawing/2014/main" id="{9483F997-127F-87D1-C4F4-81D044B46D14}"/>
              </a:ext>
            </a:extLst>
          </p:cNvPr>
          <p:cNvSpPr>
            <a:spLocks noChangeArrowheads="1"/>
          </p:cNvSpPr>
          <p:nvPr/>
        </p:nvSpPr>
        <p:spPr bwMode="auto">
          <a:xfrm>
            <a:off x="3131984" y="5409022"/>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28" name="Rectangle 70">
            <a:extLst>
              <a:ext uri="{FF2B5EF4-FFF2-40B4-BE49-F238E27FC236}">
                <a16:creationId xmlns:a16="http://schemas.microsoft.com/office/drawing/2014/main" id="{1E67612F-0D2B-D432-0110-04F0C213B01A}"/>
              </a:ext>
            </a:extLst>
          </p:cNvPr>
          <p:cNvSpPr>
            <a:spLocks noChangeArrowheads="1"/>
          </p:cNvSpPr>
          <p:nvPr/>
        </p:nvSpPr>
        <p:spPr bwMode="auto">
          <a:xfrm>
            <a:off x="3581987" y="5409022"/>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D</a:t>
            </a:r>
          </a:p>
        </p:txBody>
      </p:sp>
      <p:sp>
        <p:nvSpPr>
          <p:cNvPr id="29" name="Rectangle 71">
            <a:extLst>
              <a:ext uri="{FF2B5EF4-FFF2-40B4-BE49-F238E27FC236}">
                <a16:creationId xmlns:a16="http://schemas.microsoft.com/office/drawing/2014/main" id="{24060467-E40D-8334-59E8-3C8090337476}"/>
              </a:ext>
            </a:extLst>
          </p:cNvPr>
          <p:cNvSpPr>
            <a:spLocks noChangeArrowheads="1"/>
          </p:cNvSpPr>
          <p:nvPr/>
        </p:nvSpPr>
        <p:spPr bwMode="auto">
          <a:xfrm>
            <a:off x="4031993" y="5409022"/>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X</a:t>
            </a:r>
          </a:p>
        </p:txBody>
      </p:sp>
      <p:sp>
        <p:nvSpPr>
          <p:cNvPr id="30" name="Rectangle 72">
            <a:extLst>
              <a:ext uri="{FF2B5EF4-FFF2-40B4-BE49-F238E27FC236}">
                <a16:creationId xmlns:a16="http://schemas.microsoft.com/office/drawing/2014/main" id="{CCB97C13-A9EB-A60B-837D-C0F36B066C05}"/>
              </a:ext>
            </a:extLst>
          </p:cNvPr>
          <p:cNvSpPr>
            <a:spLocks noChangeArrowheads="1"/>
          </p:cNvSpPr>
          <p:nvPr/>
        </p:nvSpPr>
        <p:spPr bwMode="auto">
          <a:xfrm>
            <a:off x="4481998" y="5409022"/>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M</a:t>
            </a:r>
          </a:p>
        </p:txBody>
      </p:sp>
      <p:sp>
        <p:nvSpPr>
          <p:cNvPr id="31" name="Rectangle 73">
            <a:extLst>
              <a:ext uri="{FF2B5EF4-FFF2-40B4-BE49-F238E27FC236}">
                <a16:creationId xmlns:a16="http://schemas.microsoft.com/office/drawing/2014/main" id="{C32935F9-FE3B-F220-B99C-DCF9B41ED6BD}"/>
              </a:ext>
            </a:extLst>
          </p:cNvPr>
          <p:cNvSpPr>
            <a:spLocks noChangeArrowheads="1"/>
          </p:cNvSpPr>
          <p:nvPr/>
        </p:nvSpPr>
        <p:spPr bwMode="auto">
          <a:xfrm>
            <a:off x="4932003" y="5409022"/>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W</a:t>
            </a:r>
          </a:p>
        </p:txBody>
      </p:sp>
      <p:sp>
        <p:nvSpPr>
          <p:cNvPr id="32" name="Rectangle 69">
            <a:extLst>
              <a:ext uri="{FF2B5EF4-FFF2-40B4-BE49-F238E27FC236}">
                <a16:creationId xmlns:a16="http://schemas.microsoft.com/office/drawing/2014/main" id="{3A64BEAE-4BB5-DD69-6A95-079C4397015B}"/>
              </a:ext>
            </a:extLst>
          </p:cNvPr>
          <p:cNvSpPr>
            <a:spLocks noChangeArrowheads="1"/>
          </p:cNvSpPr>
          <p:nvPr/>
        </p:nvSpPr>
        <p:spPr bwMode="auto">
          <a:xfrm>
            <a:off x="3581991" y="5859027"/>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33" name="Rectangle 70">
            <a:extLst>
              <a:ext uri="{FF2B5EF4-FFF2-40B4-BE49-F238E27FC236}">
                <a16:creationId xmlns:a16="http://schemas.microsoft.com/office/drawing/2014/main" id="{364F385E-15E7-4C25-F7A9-67C9DA98971B}"/>
              </a:ext>
            </a:extLst>
          </p:cNvPr>
          <p:cNvSpPr>
            <a:spLocks noChangeArrowheads="1"/>
          </p:cNvSpPr>
          <p:nvPr/>
        </p:nvSpPr>
        <p:spPr bwMode="auto">
          <a:xfrm>
            <a:off x="5382009" y="5859027"/>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D</a:t>
            </a:r>
          </a:p>
        </p:txBody>
      </p:sp>
      <p:sp>
        <p:nvSpPr>
          <p:cNvPr id="34" name="Rectangle 71">
            <a:extLst>
              <a:ext uri="{FF2B5EF4-FFF2-40B4-BE49-F238E27FC236}">
                <a16:creationId xmlns:a16="http://schemas.microsoft.com/office/drawing/2014/main" id="{E823B201-0B22-32DD-2AFF-9CE3A989E91C}"/>
              </a:ext>
            </a:extLst>
          </p:cNvPr>
          <p:cNvSpPr>
            <a:spLocks noChangeArrowheads="1"/>
          </p:cNvSpPr>
          <p:nvPr/>
        </p:nvSpPr>
        <p:spPr bwMode="auto">
          <a:xfrm>
            <a:off x="5832015" y="5859027"/>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X</a:t>
            </a:r>
          </a:p>
        </p:txBody>
      </p:sp>
      <p:sp>
        <p:nvSpPr>
          <p:cNvPr id="35" name="Rectangle 72">
            <a:extLst>
              <a:ext uri="{FF2B5EF4-FFF2-40B4-BE49-F238E27FC236}">
                <a16:creationId xmlns:a16="http://schemas.microsoft.com/office/drawing/2014/main" id="{0A705251-D23C-2A48-B5DD-677EFE3F7AB8}"/>
              </a:ext>
            </a:extLst>
          </p:cNvPr>
          <p:cNvSpPr>
            <a:spLocks noChangeArrowheads="1"/>
          </p:cNvSpPr>
          <p:nvPr/>
        </p:nvSpPr>
        <p:spPr bwMode="auto">
          <a:xfrm>
            <a:off x="6282020" y="5859027"/>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M</a:t>
            </a:r>
          </a:p>
        </p:txBody>
      </p:sp>
      <p:sp>
        <p:nvSpPr>
          <p:cNvPr id="36" name="Rectangle 73">
            <a:extLst>
              <a:ext uri="{FF2B5EF4-FFF2-40B4-BE49-F238E27FC236}">
                <a16:creationId xmlns:a16="http://schemas.microsoft.com/office/drawing/2014/main" id="{0C3B088C-CFD4-F7F2-4D39-05BF79170959}"/>
              </a:ext>
            </a:extLst>
          </p:cNvPr>
          <p:cNvSpPr>
            <a:spLocks noChangeArrowheads="1"/>
          </p:cNvSpPr>
          <p:nvPr/>
        </p:nvSpPr>
        <p:spPr bwMode="auto">
          <a:xfrm>
            <a:off x="6732025" y="5859027"/>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W</a:t>
            </a:r>
          </a:p>
        </p:txBody>
      </p:sp>
      <p:sp>
        <p:nvSpPr>
          <p:cNvPr id="37" name="Rectangle 69">
            <a:extLst>
              <a:ext uri="{FF2B5EF4-FFF2-40B4-BE49-F238E27FC236}">
                <a16:creationId xmlns:a16="http://schemas.microsoft.com/office/drawing/2014/main" id="{17F664A7-46DF-E28C-6534-13291E2BFDB6}"/>
              </a:ext>
            </a:extLst>
          </p:cNvPr>
          <p:cNvSpPr>
            <a:spLocks noChangeArrowheads="1"/>
          </p:cNvSpPr>
          <p:nvPr/>
        </p:nvSpPr>
        <p:spPr bwMode="auto">
          <a:xfrm>
            <a:off x="5382010" y="6309032"/>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38" name="Rectangle 70">
            <a:extLst>
              <a:ext uri="{FF2B5EF4-FFF2-40B4-BE49-F238E27FC236}">
                <a16:creationId xmlns:a16="http://schemas.microsoft.com/office/drawing/2014/main" id="{002EDF5E-7C02-0876-CF97-22073FF2311D}"/>
              </a:ext>
            </a:extLst>
          </p:cNvPr>
          <p:cNvSpPr>
            <a:spLocks noChangeArrowheads="1"/>
          </p:cNvSpPr>
          <p:nvPr/>
        </p:nvSpPr>
        <p:spPr bwMode="auto">
          <a:xfrm>
            <a:off x="5832013" y="6309032"/>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D</a:t>
            </a:r>
          </a:p>
        </p:txBody>
      </p:sp>
      <p:sp>
        <p:nvSpPr>
          <p:cNvPr id="39" name="Rectangle 71">
            <a:extLst>
              <a:ext uri="{FF2B5EF4-FFF2-40B4-BE49-F238E27FC236}">
                <a16:creationId xmlns:a16="http://schemas.microsoft.com/office/drawing/2014/main" id="{C5475903-2C2A-27F5-F036-BAF9561E6508}"/>
              </a:ext>
            </a:extLst>
          </p:cNvPr>
          <p:cNvSpPr>
            <a:spLocks noChangeArrowheads="1"/>
          </p:cNvSpPr>
          <p:nvPr/>
        </p:nvSpPr>
        <p:spPr bwMode="auto">
          <a:xfrm>
            <a:off x="6282019" y="6309032"/>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X</a:t>
            </a:r>
          </a:p>
        </p:txBody>
      </p:sp>
      <p:sp>
        <p:nvSpPr>
          <p:cNvPr id="40" name="Rectangle 72">
            <a:extLst>
              <a:ext uri="{FF2B5EF4-FFF2-40B4-BE49-F238E27FC236}">
                <a16:creationId xmlns:a16="http://schemas.microsoft.com/office/drawing/2014/main" id="{C7B69C80-ED30-8949-2C42-3BC478495849}"/>
              </a:ext>
            </a:extLst>
          </p:cNvPr>
          <p:cNvSpPr>
            <a:spLocks noChangeArrowheads="1"/>
          </p:cNvSpPr>
          <p:nvPr/>
        </p:nvSpPr>
        <p:spPr bwMode="auto">
          <a:xfrm>
            <a:off x="6732024" y="6309032"/>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M</a:t>
            </a:r>
          </a:p>
        </p:txBody>
      </p:sp>
      <p:sp>
        <p:nvSpPr>
          <p:cNvPr id="41" name="Rectangle 73">
            <a:extLst>
              <a:ext uri="{FF2B5EF4-FFF2-40B4-BE49-F238E27FC236}">
                <a16:creationId xmlns:a16="http://schemas.microsoft.com/office/drawing/2014/main" id="{18FDAD98-10F9-9182-6287-A1C9E26DDAEA}"/>
              </a:ext>
            </a:extLst>
          </p:cNvPr>
          <p:cNvSpPr>
            <a:spLocks noChangeArrowheads="1"/>
          </p:cNvSpPr>
          <p:nvPr/>
        </p:nvSpPr>
        <p:spPr bwMode="auto">
          <a:xfrm>
            <a:off x="7182029" y="6309032"/>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W</a:t>
            </a:r>
          </a:p>
        </p:txBody>
      </p:sp>
      <p:sp>
        <p:nvSpPr>
          <p:cNvPr id="43" name="正方形/長方形 42">
            <a:extLst>
              <a:ext uri="{FF2B5EF4-FFF2-40B4-BE49-F238E27FC236}">
                <a16:creationId xmlns:a16="http://schemas.microsoft.com/office/drawing/2014/main" id="{91ED77D1-F093-D21C-50E9-8C0174E20E94}"/>
              </a:ext>
            </a:extLst>
          </p:cNvPr>
          <p:cNvSpPr/>
          <p:nvPr/>
        </p:nvSpPr>
        <p:spPr>
          <a:xfrm>
            <a:off x="521956" y="2798993"/>
            <a:ext cx="450005" cy="646331"/>
          </a:xfrm>
          <a:prstGeom prst="rect">
            <a:avLst/>
          </a:prstGeom>
        </p:spPr>
        <p:txBody>
          <a:bodyPr wrap="none">
            <a:noAutofit/>
          </a:bodyPr>
          <a:lstStyle/>
          <a:p>
            <a:r>
              <a:rPr lang="en-US" altLang="ja-JP" dirty="0">
                <a:solidFill>
                  <a:schemeClr val="tx1">
                    <a:lumMod val="65000"/>
                    <a:lumOff val="35000"/>
                  </a:schemeClr>
                </a:solidFill>
                <a:latin typeface="Consolas" panose="020B0609020204030204" pitchFamily="49" charset="0"/>
              </a:rPr>
              <a:t>I0 </a:t>
            </a:r>
            <a:r>
              <a:rPr lang="ja-JP" altLang="en-US" dirty="0">
                <a:solidFill>
                  <a:schemeClr val="tx1">
                    <a:lumMod val="65000"/>
                    <a:lumOff val="35000"/>
                  </a:schemeClr>
                </a:solidFill>
                <a:latin typeface="Consolas" panose="020B0609020204030204" pitchFamily="49" charset="0"/>
              </a:rPr>
              <a:t>の結果を </a:t>
            </a:r>
            <a:r>
              <a:rPr lang="en-US" altLang="ja-JP" dirty="0">
                <a:solidFill>
                  <a:schemeClr val="tx1">
                    <a:lumMod val="65000"/>
                    <a:lumOff val="35000"/>
                  </a:schemeClr>
                </a:solidFill>
                <a:latin typeface="Consolas" panose="020B0609020204030204" pitchFamily="49" charset="0"/>
              </a:rPr>
              <a:t>I1 </a:t>
            </a:r>
            <a:r>
              <a:rPr lang="ja-JP" altLang="en-US" dirty="0">
                <a:solidFill>
                  <a:schemeClr val="tx1">
                    <a:lumMod val="65000"/>
                    <a:lumOff val="35000"/>
                  </a:schemeClr>
                </a:solidFill>
                <a:latin typeface="Consolas" panose="020B0609020204030204" pitchFamily="49" charset="0"/>
              </a:rPr>
              <a:t>にフォワーディング</a:t>
            </a:r>
          </a:p>
        </p:txBody>
      </p:sp>
      <p:sp>
        <p:nvSpPr>
          <p:cNvPr id="44" name="正方形/長方形 43">
            <a:extLst>
              <a:ext uri="{FF2B5EF4-FFF2-40B4-BE49-F238E27FC236}">
                <a16:creationId xmlns:a16="http://schemas.microsoft.com/office/drawing/2014/main" id="{ED3B1597-31BB-54F6-AAAC-F1C8AC9C5C93}"/>
              </a:ext>
            </a:extLst>
          </p:cNvPr>
          <p:cNvSpPr/>
          <p:nvPr/>
        </p:nvSpPr>
        <p:spPr>
          <a:xfrm>
            <a:off x="521955" y="4869016"/>
            <a:ext cx="450005" cy="646331"/>
          </a:xfrm>
          <a:prstGeom prst="rect">
            <a:avLst/>
          </a:prstGeom>
        </p:spPr>
        <p:txBody>
          <a:bodyPr wrap="none">
            <a:noAutofit/>
          </a:bodyPr>
          <a:lstStyle/>
          <a:p>
            <a:r>
              <a:rPr lang="ja-JP" altLang="en-US" dirty="0">
                <a:solidFill>
                  <a:schemeClr val="tx1">
                    <a:lumMod val="65000"/>
                    <a:lumOff val="35000"/>
                  </a:schemeClr>
                </a:solidFill>
                <a:latin typeface="Consolas" panose="020B0609020204030204" pitchFamily="49" charset="0"/>
              </a:rPr>
              <a:t>フォワーディングを実装しない場合，バブルが生じる</a:t>
            </a:r>
          </a:p>
        </p:txBody>
      </p:sp>
      <p:sp>
        <p:nvSpPr>
          <p:cNvPr id="45" name="Rectangle 70">
            <a:extLst>
              <a:ext uri="{FF2B5EF4-FFF2-40B4-BE49-F238E27FC236}">
                <a16:creationId xmlns:a16="http://schemas.microsoft.com/office/drawing/2014/main" id="{25E2C719-DE37-B887-879C-100266D1F50C}"/>
              </a:ext>
            </a:extLst>
          </p:cNvPr>
          <p:cNvSpPr>
            <a:spLocks noChangeArrowheads="1"/>
          </p:cNvSpPr>
          <p:nvPr/>
        </p:nvSpPr>
        <p:spPr bwMode="auto">
          <a:xfrm>
            <a:off x="4031995" y="5859027"/>
            <a:ext cx="450005" cy="360000"/>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dirty="0"/>
              <a:t>bb</a:t>
            </a:r>
            <a:endParaRPr lang="en-US" altLang="ja-JP" dirty="0">
              <a:latin typeface="+mn-lt"/>
              <a:ea typeface="+mn-ea"/>
            </a:endParaRPr>
          </a:p>
        </p:txBody>
      </p:sp>
      <p:sp>
        <p:nvSpPr>
          <p:cNvPr id="46" name="Rectangle 70">
            <a:extLst>
              <a:ext uri="{FF2B5EF4-FFF2-40B4-BE49-F238E27FC236}">
                <a16:creationId xmlns:a16="http://schemas.microsoft.com/office/drawing/2014/main" id="{6E7C75F1-1622-52EF-B8E7-16BEA9382A71}"/>
              </a:ext>
            </a:extLst>
          </p:cNvPr>
          <p:cNvSpPr>
            <a:spLocks noChangeArrowheads="1"/>
          </p:cNvSpPr>
          <p:nvPr/>
        </p:nvSpPr>
        <p:spPr bwMode="auto">
          <a:xfrm>
            <a:off x="4482000" y="5859027"/>
            <a:ext cx="450005" cy="360000"/>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dirty="0"/>
              <a:t>bb</a:t>
            </a:r>
            <a:endParaRPr lang="en-US" altLang="ja-JP" dirty="0">
              <a:latin typeface="+mn-lt"/>
              <a:ea typeface="+mn-ea"/>
            </a:endParaRPr>
          </a:p>
        </p:txBody>
      </p:sp>
      <p:sp>
        <p:nvSpPr>
          <p:cNvPr id="47" name="Rectangle 70">
            <a:extLst>
              <a:ext uri="{FF2B5EF4-FFF2-40B4-BE49-F238E27FC236}">
                <a16:creationId xmlns:a16="http://schemas.microsoft.com/office/drawing/2014/main" id="{9F5D2619-7B8E-A1B9-86FC-3FC119A06B08}"/>
              </a:ext>
            </a:extLst>
          </p:cNvPr>
          <p:cNvSpPr>
            <a:spLocks noChangeArrowheads="1"/>
          </p:cNvSpPr>
          <p:nvPr/>
        </p:nvSpPr>
        <p:spPr bwMode="auto">
          <a:xfrm>
            <a:off x="4932005" y="5859027"/>
            <a:ext cx="450005" cy="360000"/>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dirty="0"/>
              <a:t>bb</a:t>
            </a:r>
            <a:endParaRPr lang="en-US" altLang="ja-JP" dirty="0">
              <a:latin typeface="+mn-lt"/>
              <a:ea typeface="+mn-ea"/>
            </a:endParaRPr>
          </a:p>
        </p:txBody>
      </p:sp>
    </p:spTree>
    <p:extLst>
      <p:ext uri="{BB962C8B-B14F-4D97-AF65-F5344CB8AC3E}">
        <p14:creationId xmlns:p14="http://schemas.microsoft.com/office/powerpoint/2010/main" val="313939380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シングル・サイクル・プロセッサ の性能</a:t>
            </a:r>
            <a:endParaRPr kumimoji="1" lang="ja-JP" altLang="en-US" dirty="0"/>
          </a:p>
        </p:txBody>
      </p:sp>
      <p:sp>
        <p:nvSpPr>
          <p:cNvPr id="35" name="コンテンツ プレースホルダー 34">
            <a:extLst>
              <a:ext uri="{FF2B5EF4-FFF2-40B4-BE49-F238E27FC236}">
                <a16:creationId xmlns:a16="http://schemas.microsoft.com/office/drawing/2014/main" id="{B8270401-5B5C-2481-4ADE-07DC610E53EF}"/>
              </a:ext>
            </a:extLst>
          </p:cNvPr>
          <p:cNvSpPr>
            <a:spLocks noGrp="1"/>
          </p:cNvSpPr>
          <p:nvPr>
            <p:ph sz="quarter" idx="10"/>
          </p:nvPr>
        </p:nvSpPr>
        <p:spPr>
          <a:xfrm>
            <a:off x="611956" y="4599012"/>
            <a:ext cx="7920088" cy="1710019"/>
          </a:xfrm>
        </p:spPr>
        <p:txBody>
          <a:bodyPr/>
          <a:lstStyle/>
          <a:p>
            <a:pPr lvl="1"/>
            <a:r>
              <a:rPr lang="en-US" altLang="ja-JP" dirty="0">
                <a:solidFill>
                  <a:schemeClr val="tx1">
                    <a:lumMod val="65000"/>
                    <a:lumOff val="35000"/>
                  </a:schemeClr>
                </a:solidFill>
              </a:rPr>
              <a:t>IPC = 1</a:t>
            </a:r>
            <a:r>
              <a:rPr lang="ja-JP" altLang="en-US" dirty="0">
                <a:solidFill>
                  <a:schemeClr val="tx1">
                    <a:lumMod val="65000"/>
                    <a:lumOff val="35000"/>
                  </a:schemeClr>
                </a:solidFill>
              </a:rPr>
              <a:t>命令</a:t>
            </a:r>
            <a:r>
              <a:rPr lang="en-US" altLang="ja-JP" dirty="0">
                <a:solidFill>
                  <a:schemeClr val="tx1">
                    <a:lumMod val="65000"/>
                    <a:lumOff val="35000"/>
                  </a:schemeClr>
                </a:solidFill>
              </a:rPr>
              <a:t> / 1</a:t>
            </a:r>
            <a:r>
              <a:rPr lang="ja-JP" altLang="en-US" dirty="0">
                <a:solidFill>
                  <a:schemeClr val="tx1">
                    <a:lumMod val="65000"/>
                    <a:lumOff val="35000"/>
                  </a:schemeClr>
                </a:solidFill>
              </a:rPr>
              <a:t>サイクル</a:t>
            </a:r>
            <a:r>
              <a:rPr lang="en-US" altLang="ja-JP" dirty="0">
                <a:solidFill>
                  <a:schemeClr val="tx1">
                    <a:lumMod val="65000"/>
                    <a:lumOff val="35000"/>
                  </a:schemeClr>
                </a:solidFill>
              </a:rPr>
              <a:t> = </a:t>
            </a:r>
            <a:r>
              <a:rPr lang="en-US" altLang="ja-JP" dirty="0">
                <a:solidFill>
                  <a:schemeClr val="accent5"/>
                </a:solidFill>
              </a:rPr>
              <a:t>1</a:t>
            </a:r>
          </a:p>
          <a:p>
            <a:pPr lvl="1"/>
            <a:r>
              <a:rPr lang="ja-JP" altLang="en-US" dirty="0">
                <a:solidFill>
                  <a:schemeClr val="tx1">
                    <a:lumMod val="75000"/>
                    <a:lumOff val="25000"/>
                  </a:schemeClr>
                </a:solidFill>
              </a:rPr>
              <a:t>周波数</a:t>
            </a:r>
            <a:r>
              <a:rPr lang="en-US" altLang="ja-JP" dirty="0">
                <a:solidFill>
                  <a:schemeClr val="tx1">
                    <a:lumMod val="65000"/>
                    <a:lumOff val="35000"/>
                  </a:schemeClr>
                </a:solidFill>
              </a:rPr>
              <a:t> = 1</a:t>
            </a:r>
            <a:r>
              <a:rPr lang="ja-JP" altLang="en-US" dirty="0">
                <a:solidFill>
                  <a:schemeClr val="tx1">
                    <a:lumMod val="65000"/>
                    <a:lumOff val="35000"/>
                  </a:schemeClr>
                </a:solidFill>
              </a:rPr>
              <a:t>秒</a:t>
            </a:r>
            <a:r>
              <a:rPr lang="en-US" altLang="ja-JP" dirty="0">
                <a:solidFill>
                  <a:schemeClr val="tx1">
                    <a:lumMod val="65000"/>
                    <a:lumOff val="35000"/>
                  </a:schemeClr>
                </a:solidFill>
              </a:rPr>
              <a:t> / 5ns = </a:t>
            </a:r>
            <a:r>
              <a:rPr lang="en-US" altLang="ja-JP" dirty="0">
                <a:solidFill>
                  <a:schemeClr val="accent5"/>
                </a:solidFill>
              </a:rPr>
              <a:t>200 MHz</a:t>
            </a:r>
            <a:r>
              <a:rPr lang="ja-JP" altLang="en-US" dirty="0">
                <a:solidFill>
                  <a:schemeClr val="accent5"/>
                </a:solidFill>
              </a:rPr>
              <a:t>（</a:t>
            </a:r>
            <a:r>
              <a:rPr lang="en-US" altLang="ja-JP" dirty="0">
                <a:solidFill>
                  <a:schemeClr val="accent5"/>
                </a:solidFill>
              </a:rPr>
              <a:t>M = </a:t>
            </a:r>
            <a:r>
              <a:rPr lang="ja-JP" altLang="en-US" dirty="0">
                <a:solidFill>
                  <a:schemeClr val="accent5"/>
                </a:solidFill>
              </a:rPr>
              <a:t>メガ</a:t>
            </a:r>
            <a:r>
              <a:rPr lang="en-US" altLang="ja-JP" dirty="0">
                <a:solidFill>
                  <a:schemeClr val="accent5"/>
                </a:solidFill>
              </a:rPr>
              <a:t> 100</a:t>
            </a:r>
            <a:r>
              <a:rPr lang="ja-JP" altLang="en-US" dirty="0">
                <a:solidFill>
                  <a:schemeClr val="accent5"/>
                </a:solidFill>
              </a:rPr>
              <a:t>万）</a:t>
            </a:r>
            <a:endParaRPr lang="en-US" altLang="ja-JP" dirty="0">
              <a:solidFill>
                <a:schemeClr val="accent5"/>
              </a:solidFill>
            </a:endParaRPr>
          </a:p>
          <a:p>
            <a:pPr lvl="1"/>
            <a:r>
              <a:rPr lang="ja-JP" altLang="en-US" dirty="0">
                <a:solidFill>
                  <a:schemeClr val="tx1">
                    <a:lumMod val="75000"/>
                    <a:lumOff val="25000"/>
                  </a:schemeClr>
                </a:solidFill>
              </a:rPr>
              <a:t>性能（</a:t>
            </a:r>
            <a:r>
              <a:rPr lang="en-US" altLang="ja-JP" dirty="0">
                <a:solidFill>
                  <a:schemeClr val="tx1">
                    <a:lumMod val="75000"/>
                    <a:lumOff val="25000"/>
                  </a:schemeClr>
                </a:solidFill>
              </a:rPr>
              <a:t>1</a:t>
            </a:r>
            <a:r>
              <a:rPr lang="ja-JP" altLang="en-US" dirty="0">
                <a:solidFill>
                  <a:schemeClr val="tx1">
                    <a:lumMod val="75000"/>
                    <a:lumOff val="25000"/>
                  </a:schemeClr>
                </a:solidFill>
              </a:rPr>
              <a:t>秒あたりの命令数）</a:t>
            </a:r>
            <a:r>
              <a:rPr lang="en-US" altLang="ja-JP" dirty="0">
                <a:solidFill>
                  <a:schemeClr val="tx1">
                    <a:lumMod val="75000"/>
                    <a:lumOff val="25000"/>
                  </a:schemeClr>
                </a:solidFill>
              </a:rPr>
              <a:t>=</a:t>
            </a:r>
            <a:r>
              <a:rPr lang="ja-JP" altLang="en-US" dirty="0">
                <a:solidFill>
                  <a:schemeClr val="accent5"/>
                </a:solidFill>
              </a:rPr>
              <a:t> </a:t>
            </a:r>
            <a:r>
              <a:rPr lang="en-US" altLang="ja-JP" dirty="0">
                <a:solidFill>
                  <a:schemeClr val="tx1">
                    <a:lumMod val="75000"/>
                    <a:lumOff val="25000"/>
                  </a:schemeClr>
                </a:solidFill>
              </a:rPr>
              <a:t>IPC*</a:t>
            </a:r>
            <a:r>
              <a:rPr lang="ja-JP" altLang="en-US" dirty="0">
                <a:solidFill>
                  <a:schemeClr val="tx1">
                    <a:lumMod val="75000"/>
                    <a:lumOff val="25000"/>
                  </a:schemeClr>
                </a:solidFill>
              </a:rPr>
              <a:t>周波数</a:t>
            </a:r>
            <a:r>
              <a:rPr lang="ja-JP" altLang="en-US" dirty="0">
                <a:solidFill>
                  <a:schemeClr val="accent5"/>
                </a:solidFill>
              </a:rPr>
              <a:t> </a:t>
            </a:r>
            <a:r>
              <a:rPr lang="en-US" altLang="ja-JP" dirty="0">
                <a:solidFill>
                  <a:schemeClr val="accent5"/>
                </a:solidFill>
              </a:rPr>
              <a:t>= </a:t>
            </a:r>
            <a:r>
              <a:rPr lang="ja-JP" altLang="en-US" dirty="0">
                <a:solidFill>
                  <a:schemeClr val="accent5"/>
                </a:solidFill>
              </a:rPr>
              <a:t>秒間 </a:t>
            </a:r>
            <a:r>
              <a:rPr lang="en-US" altLang="ja-JP" dirty="0">
                <a:solidFill>
                  <a:schemeClr val="accent5"/>
                </a:solidFill>
              </a:rPr>
              <a:t>200 M </a:t>
            </a:r>
            <a:r>
              <a:rPr lang="ja-JP" altLang="en-US" dirty="0">
                <a:solidFill>
                  <a:schemeClr val="accent5"/>
                </a:solidFill>
              </a:rPr>
              <a:t>命令</a:t>
            </a:r>
            <a:endParaRPr lang="en-US" dirty="0"/>
          </a:p>
        </p:txBody>
      </p:sp>
      <p:sp>
        <p:nvSpPr>
          <p:cNvPr id="163" name="Rectangle 69"/>
          <p:cNvSpPr>
            <a:spLocks noChangeArrowheads="1"/>
          </p:cNvSpPr>
          <p:nvPr/>
        </p:nvSpPr>
        <p:spPr bwMode="auto">
          <a:xfrm>
            <a:off x="971961" y="2348988"/>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164" name="Rectangle 70"/>
          <p:cNvSpPr>
            <a:spLocks noChangeArrowheads="1"/>
          </p:cNvSpPr>
          <p:nvPr/>
        </p:nvSpPr>
        <p:spPr bwMode="auto">
          <a:xfrm>
            <a:off x="1421964" y="2348988"/>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D</a:t>
            </a:r>
          </a:p>
        </p:txBody>
      </p:sp>
      <p:sp>
        <p:nvSpPr>
          <p:cNvPr id="165" name="Rectangle 71"/>
          <p:cNvSpPr>
            <a:spLocks noChangeArrowheads="1"/>
          </p:cNvSpPr>
          <p:nvPr/>
        </p:nvSpPr>
        <p:spPr bwMode="auto">
          <a:xfrm>
            <a:off x="1871970" y="2348988"/>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X</a:t>
            </a:r>
          </a:p>
        </p:txBody>
      </p:sp>
      <p:sp>
        <p:nvSpPr>
          <p:cNvPr id="166" name="Rectangle 72"/>
          <p:cNvSpPr>
            <a:spLocks noChangeArrowheads="1"/>
          </p:cNvSpPr>
          <p:nvPr/>
        </p:nvSpPr>
        <p:spPr bwMode="auto">
          <a:xfrm>
            <a:off x="2321975" y="2348988"/>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M</a:t>
            </a:r>
          </a:p>
        </p:txBody>
      </p:sp>
      <p:sp>
        <p:nvSpPr>
          <p:cNvPr id="167" name="Rectangle 73"/>
          <p:cNvSpPr>
            <a:spLocks noChangeArrowheads="1"/>
          </p:cNvSpPr>
          <p:nvPr/>
        </p:nvSpPr>
        <p:spPr bwMode="auto">
          <a:xfrm>
            <a:off x="2771980" y="2348988"/>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W</a:t>
            </a:r>
          </a:p>
        </p:txBody>
      </p:sp>
      <p:cxnSp>
        <p:nvCxnSpPr>
          <p:cNvPr id="9" name="直線矢印コネクタ 8">
            <a:extLst>
              <a:ext uri="{FF2B5EF4-FFF2-40B4-BE49-F238E27FC236}">
                <a16:creationId xmlns:a16="http://schemas.microsoft.com/office/drawing/2014/main" id="{157B58F2-B969-1A3F-020A-AEA348CAEB44}"/>
              </a:ext>
            </a:extLst>
          </p:cNvPr>
          <p:cNvCxnSpPr>
            <a:cxnSpLocks/>
          </p:cNvCxnSpPr>
          <p:nvPr/>
        </p:nvCxnSpPr>
        <p:spPr bwMode="auto">
          <a:xfrm>
            <a:off x="971960" y="2258987"/>
            <a:ext cx="2250025" cy="0"/>
          </a:xfrm>
          <a:prstGeom prst="straightConnector1">
            <a:avLst/>
          </a:prstGeom>
          <a:noFill/>
          <a:ln w="9525" cap="flat" cmpd="sng" algn="ctr">
            <a:solidFill>
              <a:schemeClr val="tx1">
                <a:lumMod val="75000"/>
                <a:lumOff val="25000"/>
              </a:schemeClr>
            </a:solidFill>
            <a:prstDash val="solid"/>
            <a:round/>
            <a:headEnd type="triangle" w="med" len="med"/>
            <a:tailEnd type="triangle"/>
          </a:ln>
          <a:effectLst/>
        </p:spPr>
      </p:cxnSp>
      <p:sp>
        <p:nvSpPr>
          <p:cNvPr id="10" name="正方形/長方形 9">
            <a:extLst>
              <a:ext uri="{FF2B5EF4-FFF2-40B4-BE49-F238E27FC236}">
                <a16:creationId xmlns:a16="http://schemas.microsoft.com/office/drawing/2014/main" id="{5DFFE877-7C03-23A0-352A-C3CE599B7613}"/>
              </a:ext>
            </a:extLst>
          </p:cNvPr>
          <p:cNvSpPr/>
          <p:nvPr/>
        </p:nvSpPr>
        <p:spPr>
          <a:xfrm>
            <a:off x="971960" y="1628980"/>
            <a:ext cx="2250025" cy="646331"/>
          </a:xfrm>
          <a:prstGeom prst="rect">
            <a:avLst/>
          </a:prstGeom>
        </p:spPr>
        <p:txBody>
          <a:bodyPr wrap="square">
            <a:spAutoFit/>
          </a:bodyPr>
          <a:lstStyle/>
          <a:p>
            <a:pPr algn="ctr"/>
            <a:r>
              <a:rPr lang="en-US" altLang="ja-JP" dirty="0">
                <a:solidFill>
                  <a:schemeClr val="tx1">
                    <a:lumMod val="65000"/>
                    <a:lumOff val="35000"/>
                  </a:schemeClr>
                </a:solidFill>
              </a:rPr>
              <a:t>5 nano second</a:t>
            </a:r>
          </a:p>
          <a:p>
            <a:pPr algn="ctr"/>
            <a:r>
              <a:rPr lang="en-US" altLang="ja-JP" dirty="0">
                <a:solidFill>
                  <a:schemeClr val="tx1">
                    <a:lumMod val="65000"/>
                    <a:lumOff val="35000"/>
                  </a:schemeClr>
                </a:solidFill>
              </a:rPr>
              <a:t>1 cycle</a:t>
            </a:r>
            <a:endParaRPr lang="ja-JP" altLang="en-US" dirty="0">
              <a:solidFill>
                <a:schemeClr val="tx1">
                  <a:lumMod val="65000"/>
                  <a:lumOff val="35000"/>
                </a:schemeClr>
              </a:solidFill>
            </a:endParaRPr>
          </a:p>
        </p:txBody>
      </p:sp>
      <p:cxnSp>
        <p:nvCxnSpPr>
          <p:cNvPr id="11" name="直線矢印コネクタ 10">
            <a:extLst>
              <a:ext uri="{FF2B5EF4-FFF2-40B4-BE49-F238E27FC236}">
                <a16:creationId xmlns:a16="http://schemas.microsoft.com/office/drawing/2014/main" id="{F24D315C-DD16-9081-081F-2709D87EE14F}"/>
              </a:ext>
            </a:extLst>
          </p:cNvPr>
          <p:cNvCxnSpPr>
            <a:cxnSpLocks/>
          </p:cNvCxnSpPr>
          <p:nvPr/>
        </p:nvCxnSpPr>
        <p:spPr bwMode="auto">
          <a:xfrm>
            <a:off x="3221985" y="2258987"/>
            <a:ext cx="2250025" cy="0"/>
          </a:xfrm>
          <a:prstGeom prst="straightConnector1">
            <a:avLst/>
          </a:prstGeom>
          <a:noFill/>
          <a:ln w="9525" cap="flat" cmpd="sng" algn="ctr">
            <a:solidFill>
              <a:schemeClr val="tx1">
                <a:lumMod val="75000"/>
                <a:lumOff val="25000"/>
              </a:schemeClr>
            </a:solidFill>
            <a:prstDash val="solid"/>
            <a:round/>
            <a:headEnd type="triangle" w="med" len="med"/>
            <a:tailEnd type="triangle"/>
          </a:ln>
          <a:effectLst/>
        </p:spPr>
      </p:cxnSp>
      <p:cxnSp>
        <p:nvCxnSpPr>
          <p:cNvPr id="14" name="直線矢印コネクタ 13">
            <a:extLst>
              <a:ext uri="{FF2B5EF4-FFF2-40B4-BE49-F238E27FC236}">
                <a16:creationId xmlns:a16="http://schemas.microsoft.com/office/drawing/2014/main" id="{46B2DA16-7912-F71C-87E5-71C6A4318A6C}"/>
              </a:ext>
            </a:extLst>
          </p:cNvPr>
          <p:cNvCxnSpPr>
            <a:cxnSpLocks/>
          </p:cNvCxnSpPr>
          <p:nvPr/>
        </p:nvCxnSpPr>
        <p:spPr bwMode="auto">
          <a:xfrm>
            <a:off x="5472010" y="2258987"/>
            <a:ext cx="2250025" cy="0"/>
          </a:xfrm>
          <a:prstGeom prst="straightConnector1">
            <a:avLst/>
          </a:prstGeom>
          <a:noFill/>
          <a:ln w="9525" cap="flat" cmpd="sng" algn="ctr">
            <a:solidFill>
              <a:schemeClr val="tx1">
                <a:lumMod val="75000"/>
                <a:lumOff val="25000"/>
              </a:schemeClr>
            </a:solidFill>
            <a:prstDash val="solid"/>
            <a:round/>
            <a:headEnd type="triangle" w="med" len="med"/>
            <a:tailEnd type="triangle"/>
          </a:ln>
          <a:effectLst/>
        </p:spPr>
      </p:cxnSp>
      <p:sp>
        <p:nvSpPr>
          <p:cNvPr id="18" name="正方形/長方形 17">
            <a:extLst>
              <a:ext uri="{FF2B5EF4-FFF2-40B4-BE49-F238E27FC236}">
                <a16:creationId xmlns:a16="http://schemas.microsoft.com/office/drawing/2014/main" id="{842DC25E-D905-548B-B524-078E9180232F}"/>
              </a:ext>
            </a:extLst>
          </p:cNvPr>
          <p:cNvSpPr/>
          <p:nvPr/>
        </p:nvSpPr>
        <p:spPr>
          <a:xfrm>
            <a:off x="341953" y="2348988"/>
            <a:ext cx="450005" cy="369332"/>
          </a:xfrm>
          <a:prstGeom prst="rect">
            <a:avLst/>
          </a:prstGeom>
        </p:spPr>
        <p:txBody>
          <a:bodyPr wrap="square">
            <a:spAutoFit/>
          </a:bodyPr>
          <a:lstStyle/>
          <a:p>
            <a:pPr algn="ctr"/>
            <a:r>
              <a:rPr lang="en-US" altLang="ja-JP" dirty="0">
                <a:solidFill>
                  <a:schemeClr val="tx1">
                    <a:lumMod val="65000"/>
                    <a:lumOff val="35000"/>
                  </a:schemeClr>
                </a:solidFill>
                <a:latin typeface="Consolas" panose="020B0609020204030204" pitchFamily="49" charset="0"/>
              </a:rPr>
              <a:t>I0</a:t>
            </a:r>
            <a:endParaRPr lang="ja-JP" altLang="en-US" dirty="0">
              <a:solidFill>
                <a:schemeClr val="tx1">
                  <a:lumMod val="65000"/>
                  <a:lumOff val="35000"/>
                </a:schemeClr>
              </a:solidFill>
              <a:latin typeface="Consolas" panose="020B0609020204030204" pitchFamily="49" charset="0"/>
            </a:endParaRPr>
          </a:p>
        </p:txBody>
      </p:sp>
      <p:sp>
        <p:nvSpPr>
          <p:cNvPr id="19" name="正方形/長方形 18">
            <a:extLst>
              <a:ext uri="{FF2B5EF4-FFF2-40B4-BE49-F238E27FC236}">
                <a16:creationId xmlns:a16="http://schemas.microsoft.com/office/drawing/2014/main" id="{44BE2AF5-A875-5784-4C41-EC5D5BE957C5}"/>
              </a:ext>
            </a:extLst>
          </p:cNvPr>
          <p:cNvSpPr/>
          <p:nvPr/>
        </p:nvSpPr>
        <p:spPr>
          <a:xfrm>
            <a:off x="341953" y="2798993"/>
            <a:ext cx="450005" cy="369332"/>
          </a:xfrm>
          <a:prstGeom prst="rect">
            <a:avLst/>
          </a:prstGeom>
        </p:spPr>
        <p:txBody>
          <a:bodyPr wrap="square">
            <a:spAutoFit/>
          </a:bodyPr>
          <a:lstStyle/>
          <a:p>
            <a:pPr algn="ctr"/>
            <a:r>
              <a:rPr lang="en-US" altLang="ja-JP" dirty="0">
                <a:solidFill>
                  <a:schemeClr val="tx1">
                    <a:lumMod val="65000"/>
                    <a:lumOff val="35000"/>
                  </a:schemeClr>
                </a:solidFill>
                <a:latin typeface="Consolas" panose="020B0609020204030204" pitchFamily="49" charset="0"/>
              </a:rPr>
              <a:t>I1</a:t>
            </a:r>
            <a:endParaRPr lang="ja-JP" altLang="en-US" dirty="0">
              <a:solidFill>
                <a:schemeClr val="tx1">
                  <a:lumMod val="65000"/>
                  <a:lumOff val="35000"/>
                </a:schemeClr>
              </a:solidFill>
              <a:latin typeface="Consolas" panose="020B0609020204030204" pitchFamily="49" charset="0"/>
            </a:endParaRPr>
          </a:p>
        </p:txBody>
      </p:sp>
      <p:sp>
        <p:nvSpPr>
          <p:cNvPr id="20" name="正方形/長方形 19">
            <a:extLst>
              <a:ext uri="{FF2B5EF4-FFF2-40B4-BE49-F238E27FC236}">
                <a16:creationId xmlns:a16="http://schemas.microsoft.com/office/drawing/2014/main" id="{8A302DEA-B7EB-2ED5-2902-CB3D9432A7CD}"/>
              </a:ext>
            </a:extLst>
          </p:cNvPr>
          <p:cNvSpPr/>
          <p:nvPr/>
        </p:nvSpPr>
        <p:spPr>
          <a:xfrm>
            <a:off x="341953" y="3248998"/>
            <a:ext cx="450005" cy="369332"/>
          </a:xfrm>
          <a:prstGeom prst="rect">
            <a:avLst/>
          </a:prstGeom>
        </p:spPr>
        <p:txBody>
          <a:bodyPr wrap="square">
            <a:spAutoFit/>
          </a:bodyPr>
          <a:lstStyle/>
          <a:p>
            <a:pPr algn="ctr"/>
            <a:r>
              <a:rPr lang="en-US" altLang="ja-JP" dirty="0">
                <a:solidFill>
                  <a:schemeClr val="tx1">
                    <a:lumMod val="65000"/>
                    <a:lumOff val="35000"/>
                  </a:schemeClr>
                </a:solidFill>
                <a:latin typeface="Consolas" panose="020B0609020204030204" pitchFamily="49" charset="0"/>
              </a:rPr>
              <a:t>I2</a:t>
            </a:r>
            <a:endParaRPr lang="ja-JP" altLang="en-US" dirty="0">
              <a:solidFill>
                <a:schemeClr val="tx1">
                  <a:lumMod val="65000"/>
                  <a:lumOff val="35000"/>
                </a:schemeClr>
              </a:solidFill>
              <a:latin typeface="Consolas" panose="020B0609020204030204" pitchFamily="49" charset="0"/>
            </a:endParaRPr>
          </a:p>
        </p:txBody>
      </p:sp>
      <p:sp>
        <p:nvSpPr>
          <p:cNvPr id="33" name="正方形/長方形 32">
            <a:extLst>
              <a:ext uri="{FF2B5EF4-FFF2-40B4-BE49-F238E27FC236}">
                <a16:creationId xmlns:a16="http://schemas.microsoft.com/office/drawing/2014/main" id="{AE713051-B95F-0EC2-D0B5-883EF303EE9E}"/>
              </a:ext>
            </a:extLst>
          </p:cNvPr>
          <p:cNvSpPr/>
          <p:nvPr/>
        </p:nvSpPr>
        <p:spPr>
          <a:xfrm>
            <a:off x="3131984" y="1628980"/>
            <a:ext cx="2250025" cy="646331"/>
          </a:xfrm>
          <a:prstGeom prst="rect">
            <a:avLst/>
          </a:prstGeom>
        </p:spPr>
        <p:txBody>
          <a:bodyPr wrap="square">
            <a:spAutoFit/>
          </a:bodyPr>
          <a:lstStyle/>
          <a:p>
            <a:pPr algn="ctr"/>
            <a:r>
              <a:rPr lang="en-US" altLang="ja-JP" dirty="0">
                <a:solidFill>
                  <a:schemeClr val="tx1">
                    <a:lumMod val="65000"/>
                    <a:lumOff val="35000"/>
                  </a:schemeClr>
                </a:solidFill>
              </a:rPr>
              <a:t>5ns</a:t>
            </a:r>
          </a:p>
          <a:p>
            <a:pPr algn="ctr"/>
            <a:r>
              <a:rPr lang="en-US" altLang="ja-JP" dirty="0">
                <a:solidFill>
                  <a:schemeClr val="tx1">
                    <a:lumMod val="65000"/>
                    <a:lumOff val="35000"/>
                  </a:schemeClr>
                </a:solidFill>
              </a:rPr>
              <a:t>1 cycle</a:t>
            </a:r>
            <a:endParaRPr lang="ja-JP" altLang="en-US" dirty="0">
              <a:solidFill>
                <a:schemeClr val="tx1">
                  <a:lumMod val="65000"/>
                  <a:lumOff val="35000"/>
                </a:schemeClr>
              </a:solidFill>
            </a:endParaRPr>
          </a:p>
        </p:txBody>
      </p:sp>
      <p:sp>
        <p:nvSpPr>
          <p:cNvPr id="34" name="正方形/長方形 33">
            <a:extLst>
              <a:ext uri="{FF2B5EF4-FFF2-40B4-BE49-F238E27FC236}">
                <a16:creationId xmlns:a16="http://schemas.microsoft.com/office/drawing/2014/main" id="{24374C40-7947-08D3-0143-A33C626B6207}"/>
              </a:ext>
            </a:extLst>
          </p:cNvPr>
          <p:cNvSpPr/>
          <p:nvPr/>
        </p:nvSpPr>
        <p:spPr>
          <a:xfrm>
            <a:off x="5472010" y="1628980"/>
            <a:ext cx="2250025" cy="646331"/>
          </a:xfrm>
          <a:prstGeom prst="rect">
            <a:avLst/>
          </a:prstGeom>
        </p:spPr>
        <p:txBody>
          <a:bodyPr wrap="square">
            <a:spAutoFit/>
          </a:bodyPr>
          <a:lstStyle/>
          <a:p>
            <a:pPr algn="ctr"/>
            <a:r>
              <a:rPr lang="en-US" altLang="ja-JP" dirty="0">
                <a:solidFill>
                  <a:schemeClr val="tx1">
                    <a:lumMod val="65000"/>
                    <a:lumOff val="35000"/>
                  </a:schemeClr>
                </a:solidFill>
              </a:rPr>
              <a:t>5ns</a:t>
            </a:r>
          </a:p>
          <a:p>
            <a:pPr algn="ctr"/>
            <a:r>
              <a:rPr lang="en-US" altLang="ja-JP" dirty="0">
                <a:solidFill>
                  <a:schemeClr val="tx1">
                    <a:lumMod val="65000"/>
                    <a:lumOff val="35000"/>
                  </a:schemeClr>
                </a:solidFill>
              </a:rPr>
              <a:t>1 cycle</a:t>
            </a:r>
            <a:endParaRPr lang="ja-JP" altLang="en-US" dirty="0">
              <a:solidFill>
                <a:schemeClr val="tx1">
                  <a:lumMod val="65000"/>
                  <a:lumOff val="35000"/>
                </a:schemeClr>
              </a:solidFill>
            </a:endParaRPr>
          </a:p>
        </p:txBody>
      </p:sp>
      <p:sp>
        <p:nvSpPr>
          <p:cNvPr id="36" name="Rectangle 69">
            <a:extLst>
              <a:ext uri="{FF2B5EF4-FFF2-40B4-BE49-F238E27FC236}">
                <a16:creationId xmlns:a16="http://schemas.microsoft.com/office/drawing/2014/main" id="{C0B0648F-C06F-8274-C463-A03AB56E2540}"/>
              </a:ext>
            </a:extLst>
          </p:cNvPr>
          <p:cNvSpPr>
            <a:spLocks noChangeArrowheads="1"/>
          </p:cNvSpPr>
          <p:nvPr/>
        </p:nvSpPr>
        <p:spPr bwMode="auto">
          <a:xfrm>
            <a:off x="3221986" y="2798993"/>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37" name="Rectangle 70">
            <a:extLst>
              <a:ext uri="{FF2B5EF4-FFF2-40B4-BE49-F238E27FC236}">
                <a16:creationId xmlns:a16="http://schemas.microsoft.com/office/drawing/2014/main" id="{74B82135-7FB5-EDE1-00F4-9196E95B4404}"/>
              </a:ext>
            </a:extLst>
          </p:cNvPr>
          <p:cNvSpPr>
            <a:spLocks noChangeArrowheads="1"/>
          </p:cNvSpPr>
          <p:nvPr/>
        </p:nvSpPr>
        <p:spPr bwMode="auto">
          <a:xfrm>
            <a:off x="3671989" y="2798993"/>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D</a:t>
            </a:r>
          </a:p>
        </p:txBody>
      </p:sp>
      <p:sp>
        <p:nvSpPr>
          <p:cNvPr id="38" name="Rectangle 71">
            <a:extLst>
              <a:ext uri="{FF2B5EF4-FFF2-40B4-BE49-F238E27FC236}">
                <a16:creationId xmlns:a16="http://schemas.microsoft.com/office/drawing/2014/main" id="{C4D8A910-54E4-5C6D-C0F2-5CD318797182}"/>
              </a:ext>
            </a:extLst>
          </p:cNvPr>
          <p:cNvSpPr>
            <a:spLocks noChangeArrowheads="1"/>
          </p:cNvSpPr>
          <p:nvPr/>
        </p:nvSpPr>
        <p:spPr bwMode="auto">
          <a:xfrm>
            <a:off x="4121995" y="2798993"/>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X</a:t>
            </a:r>
          </a:p>
        </p:txBody>
      </p:sp>
      <p:sp>
        <p:nvSpPr>
          <p:cNvPr id="39" name="Rectangle 72">
            <a:extLst>
              <a:ext uri="{FF2B5EF4-FFF2-40B4-BE49-F238E27FC236}">
                <a16:creationId xmlns:a16="http://schemas.microsoft.com/office/drawing/2014/main" id="{AF36B9B5-5F17-3424-39E4-6AAD4ADC8D71}"/>
              </a:ext>
            </a:extLst>
          </p:cNvPr>
          <p:cNvSpPr>
            <a:spLocks noChangeArrowheads="1"/>
          </p:cNvSpPr>
          <p:nvPr/>
        </p:nvSpPr>
        <p:spPr bwMode="auto">
          <a:xfrm>
            <a:off x="4572000" y="2798993"/>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M</a:t>
            </a:r>
          </a:p>
        </p:txBody>
      </p:sp>
      <p:sp>
        <p:nvSpPr>
          <p:cNvPr id="41" name="Rectangle 73">
            <a:extLst>
              <a:ext uri="{FF2B5EF4-FFF2-40B4-BE49-F238E27FC236}">
                <a16:creationId xmlns:a16="http://schemas.microsoft.com/office/drawing/2014/main" id="{FEF831BC-FC51-1294-22A1-35139F830B1E}"/>
              </a:ext>
            </a:extLst>
          </p:cNvPr>
          <p:cNvSpPr>
            <a:spLocks noChangeArrowheads="1"/>
          </p:cNvSpPr>
          <p:nvPr/>
        </p:nvSpPr>
        <p:spPr bwMode="auto">
          <a:xfrm>
            <a:off x="5022005" y="2798993"/>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W</a:t>
            </a:r>
          </a:p>
        </p:txBody>
      </p:sp>
      <p:grpSp>
        <p:nvGrpSpPr>
          <p:cNvPr id="48" name="グループ化 47">
            <a:extLst>
              <a:ext uri="{FF2B5EF4-FFF2-40B4-BE49-F238E27FC236}">
                <a16:creationId xmlns:a16="http://schemas.microsoft.com/office/drawing/2014/main" id="{702406D2-785B-6B6E-F860-87ADD21D558F}"/>
              </a:ext>
            </a:extLst>
          </p:cNvPr>
          <p:cNvGrpSpPr/>
          <p:nvPr/>
        </p:nvGrpSpPr>
        <p:grpSpPr>
          <a:xfrm>
            <a:off x="5472011" y="3248998"/>
            <a:ext cx="2250023" cy="360000"/>
            <a:chOff x="5472011" y="3248998"/>
            <a:chExt cx="2250023" cy="360000"/>
          </a:xfrm>
        </p:grpSpPr>
        <p:sp>
          <p:nvSpPr>
            <p:cNvPr id="42" name="Rectangle 69">
              <a:extLst>
                <a:ext uri="{FF2B5EF4-FFF2-40B4-BE49-F238E27FC236}">
                  <a16:creationId xmlns:a16="http://schemas.microsoft.com/office/drawing/2014/main" id="{6DFE5CD5-B379-C794-1EF6-3A84436AE7E8}"/>
                </a:ext>
              </a:extLst>
            </p:cNvPr>
            <p:cNvSpPr>
              <a:spLocks noChangeArrowheads="1"/>
            </p:cNvSpPr>
            <p:nvPr/>
          </p:nvSpPr>
          <p:spPr bwMode="auto">
            <a:xfrm>
              <a:off x="5472011" y="3248998"/>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43" name="Rectangle 70">
              <a:extLst>
                <a:ext uri="{FF2B5EF4-FFF2-40B4-BE49-F238E27FC236}">
                  <a16:creationId xmlns:a16="http://schemas.microsoft.com/office/drawing/2014/main" id="{17DDBF4F-3844-ADB2-0D82-177DC57EA0F9}"/>
                </a:ext>
              </a:extLst>
            </p:cNvPr>
            <p:cNvSpPr>
              <a:spLocks noChangeArrowheads="1"/>
            </p:cNvSpPr>
            <p:nvPr/>
          </p:nvSpPr>
          <p:spPr bwMode="auto">
            <a:xfrm>
              <a:off x="5922014" y="3248998"/>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D</a:t>
              </a:r>
            </a:p>
          </p:txBody>
        </p:sp>
        <p:sp>
          <p:nvSpPr>
            <p:cNvPr id="44" name="Rectangle 71">
              <a:extLst>
                <a:ext uri="{FF2B5EF4-FFF2-40B4-BE49-F238E27FC236}">
                  <a16:creationId xmlns:a16="http://schemas.microsoft.com/office/drawing/2014/main" id="{BFA22239-4DD0-1462-6A50-7331A950E5A2}"/>
                </a:ext>
              </a:extLst>
            </p:cNvPr>
            <p:cNvSpPr>
              <a:spLocks noChangeArrowheads="1"/>
            </p:cNvSpPr>
            <p:nvPr/>
          </p:nvSpPr>
          <p:spPr bwMode="auto">
            <a:xfrm>
              <a:off x="6372020" y="3248998"/>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X</a:t>
              </a:r>
            </a:p>
          </p:txBody>
        </p:sp>
        <p:sp>
          <p:nvSpPr>
            <p:cNvPr id="45" name="Rectangle 72">
              <a:extLst>
                <a:ext uri="{FF2B5EF4-FFF2-40B4-BE49-F238E27FC236}">
                  <a16:creationId xmlns:a16="http://schemas.microsoft.com/office/drawing/2014/main" id="{0835F96A-7470-7996-2EAC-8633B1139B0C}"/>
                </a:ext>
              </a:extLst>
            </p:cNvPr>
            <p:cNvSpPr>
              <a:spLocks noChangeArrowheads="1"/>
            </p:cNvSpPr>
            <p:nvPr/>
          </p:nvSpPr>
          <p:spPr bwMode="auto">
            <a:xfrm>
              <a:off x="6822025" y="3248998"/>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M</a:t>
              </a:r>
            </a:p>
          </p:txBody>
        </p:sp>
        <p:sp>
          <p:nvSpPr>
            <p:cNvPr id="46" name="Rectangle 73">
              <a:extLst>
                <a:ext uri="{FF2B5EF4-FFF2-40B4-BE49-F238E27FC236}">
                  <a16:creationId xmlns:a16="http://schemas.microsoft.com/office/drawing/2014/main" id="{B68DE78D-B660-4AE3-1527-501705C423C1}"/>
                </a:ext>
              </a:extLst>
            </p:cNvPr>
            <p:cNvSpPr>
              <a:spLocks noChangeArrowheads="1"/>
            </p:cNvSpPr>
            <p:nvPr/>
          </p:nvSpPr>
          <p:spPr bwMode="auto">
            <a:xfrm>
              <a:off x="7272030" y="3248998"/>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W</a:t>
              </a:r>
            </a:p>
          </p:txBody>
        </p:sp>
      </p:grpSp>
    </p:spTree>
    <p:extLst>
      <p:ext uri="{BB962C8B-B14F-4D97-AF65-F5344CB8AC3E}">
        <p14:creationId xmlns:p14="http://schemas.microsoft.com/office/powerpoint/2010/main" val="182237437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パイプライン化されたプロセッサ の性能</a:t>
            </a:r>
            <a:endParaRPr kumimoji="1" lang="ja-JP" altLang="en-US" dirty="0"/>
          </a:p>
        </p:txBody>
      </p:sp>
      <p:cxnSp>
        <p:nvCxnSpPr>
          <p:cNvPr id="9" name="直線矢印コネクタ 8">
            <a:extLst>
              <a:ext uri="{FF2B5EF4-FFF2-40B4-BE49-F238E27FC236}">
                <a16:creationId xmlns:a16="http://schemas.microsoft.com/office/drawing/2014/main" id="{157B58F2-B969-1A3F-020A-AEA348CAEB44}"/>
              </a:ext>
            </a:extLst>
          </p:cNvPr>
          <p:cNvCxnSpPr>
            <a:cxnSpLocks/>
          </p:cNvCxnSpPr>
          <p:nvPr/>
        </p:nvCxnSpPr>
        <p:spPr bwMode="auto">
          <a:xfrm>
            <a:off x="971961" y="3338999"/>
            <a:ext cx="450005" cy="0"/>
          </a:xfrm>
          <a:prstGeom prst="straightConnector1">
            <a:avLst/>
          </a:prstGeom>
          <a:noFill/>
          <a:ln w="9525" cap="flat" cmpd="sng" algn="ctr">
            <a:solidFill>
              <a:schemeClr val="tx1">
                <a:lumMod val="75000"/>
                <a:lumOff val="25000"/>
              </a:schemeClr>
            </a:solidFill>
            <a:prstDash val="solid"/>
            <a:round/>
            <a:headEnd type="triangle" w="med" len="med"/>
            <a:tailEnd type="triangle"/>
          </a:ln>
          <a:effectLst/>
        </p:spPr>
      </p:cxnSp>
      <p:sp>
        <p:nvSpPr>
          <p:cNvPr id="10" name="正方形/長方形 9">
            <a:extLst>
              <a:ext uri="{FF2B5EF4-FFF2-40B4-BE49-F238E27FC236}">
                <a16:creationId xmlns:a16="http://schemas.microsoft.com/office/drawing/2014/main" id="{5DFFE877-7C03-23A0-352A-C3CE599B7613}"/>
              </a:ext>
            </a:extLst>
          </p:cNvPr>
          <p:cNvSpPr/>
          <p:nvPr/>
        </p:nvSpPr>
        <p:spPr>
          <a:xfrm>
            <a:off x="881960" y="2618991"/>
            <a:ext cx="540005" cy="540006"/>
          </a:xfrm>
          <a:prstGeom prst="rect">
            <a:avLst/>
          </a:prstGeom>
        </p:spPr>
        <p:txBody>
          <a:bodyPr wrap="none">
            <a:noAutofit/>
          </a:bodyPr>
          <a:lstStyle/>
          <a:p>
            <a:pPr algn="ctr"/>
            <a:r>
              <a:rPr lang="en-US" altLang="ja-JP" dirty="0">
                <a:solidFill>
                  <a:schemeClr val="tx1">
                    <a:lumMod val="65000"/>
                    <a:lumOff val="35000"/>
                  </a:schemeClr>
                </a:solidFill>
              </a:rPr>
              <a:t>1 ns</a:t>
            </a:r>
          </a:p>
          <a:p>
            <a:pPr algn="ctr"/>
            <a:r>
              <a:rPr lang="en-US" altLang="ja-JP" dirty="0">
                <a:solidFill>
                  <a:schemeClr val="tx1">
                    <a:lumMod val="65000"/>
                    <a:lumOff val="35000"/>
                  </a:schemeClr>
                </a:solidFill>
              </a:rPr>
              <a:t>1 cycle</a:t>
            </a:r>
            <a:endParaRPr lang="ja-JP" altLang="en-US" dirty="0">
              <a:solidFill>
                <a:schemeClr val="tx1">
                  <a:lumMod val="65000"/>
                  <a:lumOff val="35000"/>
                </a:schemeClr>
              </a:solidFill>
            </a:endParaRPr>
          </a:p>
        </p:txBody>
      </p:sp>
      <p:sp>
        <p:nvSpPr>
          <p:cNvPr id="18" name="正方形/長方形 17">
            <a:extLst>
              <a:ext uri="{FF2B5EF4-FFF2-40B4-BE49-F238E27FC236}">
                <a16:creationId xmlns:a16="http://schemas.microsoft.com/office/drawing/2014/main" id="{842DC25E-D905-548B-B524-078E9180232F}"/>
              </a:ext>
            </a:extLst>
          </p:cNvPr>
          <p:cNvSpPr/>
          <p:nvPr/>
        </p:nvSpPr>
        <p:spPr>
          <a:xfrm>
            <a:off x="341954" y="3429000"/>
            <a:ext cx="450005" cy="369332"/>
          </a:xfrm>
          <a:prstGeom prst="rect">
            <a:avLst/>
          </a:prstGeom>
        </p:spPr>
        <p:txBody>
          <a:bodyPr wrap="square">
            <a:spAutoFit/>
          </a:bodyPr>
          <a:lstStyle/>
          <a:p>
            <a:pPr algn="ctr"/>
            <a:r>
              <a:rPr lang="en-US" altLang="ja-JP" dirty="0">
                <a:solidFill>
                  <a:schemeClr val="tx1">
                    <a:lumMod val="65000"/>
                    <a:lumOff val="35000"/>
                  </a:schemeClr>
                </a:solidFill>
                <a:latin typeface="Consolas" panose="020B0609020204030204" pitchFamily="49" charset="0"/>
              </a:rPr>
              <a:t>I0</a:t>
            </a:r>
            <a:endParaRPr lang="ja-JP" altLang="en-US" dirty="0">
              <a:solidFill>
                <a:schemeClr val="tx1">
                  <a:lumMod val="65000"/>
                  <a:lumOff val="35000"/>
                </a:schemeClr>
              </a:solidFill>
              <a:latin typeface="Consolas" panose="020B0609020204030204" pitchFamily="49" charset="0"/>
            </a:endParaRPr>
          </a:p>
        </p:txBody>
      </p:sp>
      <p:sp>
        <p:nvSpPr>
          <p:cNvPr id="19" name="正方形/長方形 18">
            <a:extLst>
              <a:ext uri="{FF2B5EF4-FFF2-40B4-BE49-F238E27FC236}">
                <a16:creationId xmlns:a16="http://schemas.microsoft.com/office/drawing/2014/main" id="{44BE2AF5-A875-5784-4C41-EC5D5BE957C5}"/>
              </a:ext>
            </a:extLst>
          </p:cNvPr>
          <p:cNvSpPr/>
          <p:nvPr/>
        </p:nvSpPr>
        <p:spPr>
          <a:xfrm>
            <a:off x="341954" y="3879005"/>
            <a:ext cx="450005" cy="369332"/>
          </a:xfrm>
          <a:prstGeom prst="rect">
            <a:avLst/>
          </a:prstGeom>
        </p:spPr>
        <p:txBody>
          <a:bodyPr wrap="square">
            <a:spAutoFit/>
          </a:bodyPr>
          <a:lstStyle/>
          <a:p>
            <a:pPr algn="ctr"/>
            <a:r>
              <a:rPr lang="en-US" altLang="ja-JP" dirty="0">
                <a:solidFill>
                  <a:schemeClr val="tx1">
                    <a:lumMod val="65000"/>
                    <a:lumOff val="35000"/>
                  </a:schemeClr>
                </a:solidFill>
                <a:latin typeface="Consolas" panose="020B0609020204030204" pitchFamily="49" charset="0"/>
              </a:rPr>
              <a:t>I1</a:t>
            </a:r>
            <a:endParaRPr lang="ja-JP" altLang="en-US" dirty="0">
              <a:solidFill>
                <a:schemeClr val="tx1">
                  <a:lumMod val="65000"/>
                  <a:lumOff val="35000"/>
                </a:schemeClr>
              </a:solidFill>
              <a:latin typeface="Consolas" panose="020B0609020204030204" pitchFamily="49" charset="0"/>
            </a:endParaRPr>
          </a:p>
        </p:txBody>
      </p:sp>
      <p:sp>
        <p:nvSpPr>
          <p:cNvPr id="20" name="正方形/長方形 19">
            <a:extLst>
              <a:ext uri="{FF2B5EF4-FFF2-40B4-BE49-F238E27FC236}">
                <a16:creationId xmlns:a16="http://schemas.microsoft.com/office/drawing/2014/main" id="{8A302DEA-B7EB-2ED5-2902-CB3D9432A7CD}"/>
              </a:ext>
            </a:extLst>
          </p:cNvPr>
          <p:cNvSpPr/>
          <p:nvPr/>
        </p:nvSpPr>
        <p:spPr>
          <a:xfrm>
            <a:off x="341954" y="4329010"/>
            <a:ext cx="450005" cy="369332"/>
          </a:xfrm>
          <a:prstGeom prst="rect">
            <a:avLst/>
          </a:prstGeom>
        </p:spPr>
        <p:txBody>
          <a:bodyPr wrap="square">
            <a:spAutoFit/>
          </a:bodyPr>
          <a:lstStyle/>
          <a:p>
            <a:pPr algn="ctr"/>
            <a:r>
              <a:rPr lang="en-US" altLang="ja-JP" dirty="0">
                <a:solidFill>
                  <a:schemeClr val="tx1">
                    <a:lumMod val="65000"/>
                    <a:lumOff val="35000"/>
                  </a:schemeClr>
                </a:solidFill>
                <a:latin typeface="Consolas" panose="020B0609020204030204" pitchFamily="49" charset="0"/>
              </a:rPr>
              <a:t>I2</a:t>
            </a:r>
            <a:endParaRPr lang="ja-JP" altLang="en-US" dirty="0">
              <a:solidFill>
                <a:schemeClr val="tx1">
                  <a:lumMod val="65000"/>
                  <a:lumOff val="35000"/>
                </a:schemeClr>
              </a:solidFill>
              <a:latin typeface="Consolas" panose="020B0609020204030204" pitchFamily="49" charset="0"/>
            </a:endParaRPr>
          </a:p>
        </p:txBody>
      </p:sp>
      <p:sp>
        <p:nvSpPr>
          <p:cNvPr id="39" name="Rectangle 69">
            <a:extLst>
              <a:ext uri="{FF2B5EF4-FFF2-40B4-BE49-F238E27FC236}">
                <a16:creationId xmlns:a16="http://schemas.microsoft.com/office/drawing/2014/main" id="{7A275430-0751-5FEB-5A19-5D72A0480ADD}"/>
              </a:ext>
            </a:extLst>
          </p:cNvPr>
          <p:cNvSpPr>
            <a:spLocks noChangeArrowheads="1"/>
          </p:cNvSpPr>
          <p:nvPr/>
        </p:nvSpPr>
        <p:spPr bwMode="auto">
          <a:xfrm>
            <a:off x="971961" y="3429000"/>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40" name="Rectangle 70">
            <a:extLst>
              <a:ext uri="{FF2B5EF4-FFF2-40B4-BE49-F238E27FC236}">
                <a16:creationId xmlns:a16="http://schemas.microsoft.com/office/drawing/2014/main" id="{D131183A-3D62-5404-2945-A58D213D075D}"/>
              </a:ext>
            </a:extLst>
          </p:cNvPr>
          <p:cNvSpPr>
            <a:spLocks noChangeArrowheads="1"/>
          </p:cNvSpPr>
          <p:nvPr/>
        </p:nvSpPr>
        <p:spPr bwMode="auto">
          <a:xfrm>
            <a:off x="1421964" y="3429000"/>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D</a:t>
            </a:r>
          </a:p>
        </p:txBody>
      </p:sp>
      <p:sp>
        <p:nvSpPr>
          <p:cNvPr id="41" name="Rectangle 71">
            <a:extLst>
              <a:ext uri="{FF2B5EF4-FFF2-40B4-BE49-F238E27FC236}">
                <a16:creationId xmlns:a16="http://schemas.microsoft.com/office/drawing/2014/main" id="{6744CC94-BF18-9CEF-AFB6-6DEB21D9172B}"/>
              </a:ext>
            </a:extLst>
          </p:cNvPr>
          <p:cNvSpPr>
            <a:spLocks noChangeArrowheads="1"/>
          </p:cNvSpPr>
          <p:nvPr/>
        </p:nvSpPr>
        <p:spPr bwMode="auto">
          <a:xfrm>
            <a:off x="1871970" y="3429000"/>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X</a:t>
            </a:r>
          </a:p>
        </p:txBody>
      </p:sp>
      <p:sp>
        <p:nvSpPr>
          <p:cNvPr id="42" name="Rectangle 72">
            <a:extLst>
              <a:ext uri="{FF2B5EF4-FFF2-40B4-BE49-F238E27FC236}">
                <a16:creationId xmlns:a16="http://schemas.microsoft.com/office/drawing/2014/main" id="{FB38BC88-7159-BA88-8E85-664C17366C7F}"/>
              </a:ext>
            </a:extLst>
          </p:cNvPr>
          <p:cNvSpPr>
            <a:spLocks noChangeArrowheads="1"/>
          </p:cNvSpPr>
          <p:nvPr/>
        </p:nvSpPr>
        <p:spPr bwMode="auto">
          <a:xfrm>
            <a:off x="2321975" y="3429000"/>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M</a:t>
            </a:r>
          </a:p>
        </p:txBody>
      </p:sp>
      <p:sp>
        <p:nvSpPr>
          <p:cNvPr id="43" name="Rectangle 73">
            <a:extLst>
              <a:ext uri="{FF2B5EF4-FFF2-40B4-BE49-F238E27FC236}">
                <a16:creationId xmlns:a16="http://schemas.microsoft.com/office/drawing/2014/main" id="{1BF0F800-00CF-AF98-1CA1-A1155DFC6C78}"/>
              </a:ext>
            </a:extLst>
          </p:cNvPr>
          <p:cNvSpPr>
            <a:spLocks noChangeArrowheads="1"/>
          </p:cNvSpPr>
          <p:nvPr/>
        </p:nvSpPr>
        <p:spPr bwMode="auto">
          <a:xfrm>
            <a:off x="2771980" y="3429000"/>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W</a:t>
            </a:r>
          </a:p>
        </p:txBody>
      </p:sp>
      <p:sp>
        <p:nvSpPr>
          <p:cNvPr id="44" name="Rectangle 69">
            <a:extLst>
              <a:ext uri="{FF2B5EF4-FFF2-40B4-BE49-F238E27FC236}">
                <a16:creationId xmlns:a16="http://schemas.microsoft.com/office/drawing/2014/main" id="{12119416-5055-999C-0322-C56D8BED2219}"/>
              </a:ext>
            </a:extLst>
          </p:cNvPr>
          <p:cNvSpPr>
            <a:spLocks noChangeArrowheads="1"/>
          </p:cNvSpPr>
          <p:nvPr/>
        </p:nvSpPr>
        <p:spPr bwMode="auto">
          <a:xfrm>
            <a:off x="1421968" y="3879005"/>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45" name="Rectangle 70">
            <a:extLst>
              <a:ext uri="{FF2B5EF4-FFF2-40B4-BE49-F238E27FC236}">
                <a16:creationId xmlns:a16="http://schemas.microsoft.com/office/drawing/2014/main" id="{23D39F9F-68DF-416A-409D-F13D8EA68DA6}"/>
              </a:ext>
            </a:extLst>
          </p:cNvPr>
          <p:cNvSpPr>
            <a:spLocks noChangeArrowheads="1"/>
          </p:cNvSpPr>
          <p:nvPr/>
        </p:nvSpPr>
        <p:spPr bwMode="auto">
          <a:xfrm>
            <a:off x="1871971" y="3879005"/>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D</a:t>
            </a:r>
          </a:p>
        </p:txBody>
      </p:sp>
      <p:sp>
        <p:nvSpPr>
          <p:cNvPr id="46" name="Rectangle 71">
            <a:extLst>
              <a:ext uri="{FF2B5EF4-FFF2-40B4-BE49-F238E27FC236}">
                <a16:creationId xmlns:a16="http://schemas.microsoft.com/office/drawing/2014/main" id="{7777B920-ADDF-5172-6E3A-7CC9D6B3C83F}"/>
              </a:ext>
            </a:extLst>
          </p:cNvPr>
          <p:cNvSpPr>
            <a:spLocks noChangeArrowheads="1"/>
          </p:cNvSpPr>
          <p:nvPr/>
        </p:nvSpPr>
        <p:spPr bwMode="auto">
          <a:xfrm>
            <a:off x="2321977" y="3879005"/>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X</a:t>
            </a:r>
          </a:p>
        </p:txBody>
      </p:sp>
      <p:sp>
        <p:nvSpPr>
          <p:cNvPr id="47" name="Rectangle 72">
            <a:extLst>
              <a:ext uri="{FF2B5EF4-FFF2-40B4-BE49-F238E27FC236}">
                <a16:creationId xmlns:a16="http://schemas.microsoft.com/office/drawing/2014/main" id="{9A0A565C-F1AB-6962-BD0C-8142D0B09F77}"/>
              </a:ext>
            </a:extLst>
          </p:cNvPr>
          <p:cNvSpPr>
            <a:spLocks noChangeArrowheads="1"/>
          </p:cNvSpPr>
          <p:nvPr/>
        </p:nvSpPr>
        <p:spPr bwMode="auto">
          <a:xfrm>
            <a:off x="2771982" y="3879005"/>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M</a:t>
            </a:r>
          </a:p>
        </p:txBody>
      </p:sp>
      <p:sp>
        <p:nvSpPr>
          <p:cNvPr id="48" name="Rectangle 73">
            <a:extLst>
              <a:ext uri="{FF2B5EF4-FFF2-40B4-BE49-F238E27FC236}">
                <a16:creationId xmlns:a16="http://schemas.microsoft.com/office/drawing/2014/main" id="{AAFF3007-01CB-8524-A765-46D3B7097B2F}"/>
              </a:ext>
            </a:extLst>
          </p:cNvPr>
          <p:cNvSpPr>
            <a:spLocks noChangeArrowheads="1"/>
          </p:cNvSpPr>
          <p:nvPr/>
        </p:nvSpPr>
        <p:spPr bwMode="auto">
          <a:xfrm>
            <a:off x="3221987" y="3879005"/>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W</a:t>
            </a:r>
          </a:p>
        </p:txBody>
      </p:sp>
      <p:sp>
        <p:nvSpPr>
          <p:cNvPr id="49" name="Rectangle 69">
            <a:extLst>
              <a:ext uri="{FF2B5EF4-FFF2-40B4-BE49-F238E27FC236}">
                <a16:creationId xmlns:a16="http://schemas.microsoft.com/office/drawing/2014/main" id="{650F9D52-0147-6D75-3FDA-44BA83C72168}"/>
              </a:ext>
            </a:extLst>
          </p:cNvPr>
          <p:cNvSpPr>
            <a:spLocks noChangeArrowheads="1"/>
          </p:cNvSpPr>
          <p:nvPr/>
        </p:nvSpPr>
        <p:spPr bwMode="auto">
          <a:xfrm>
            <a:off x="1871972" y="4329010"/>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50" name="Rectangle 70">
            <a:extLst>
              <a:ext uri="{FF2B5EF4-FFF2-40B4-BE49-F238E27FC236}">
                <a16:creationId xmlns:a16="http://schemas.microsoft.com/office/drawing/2014/main" id="{56D0B039-AFA9-3E3F-6727-0CACD9FD68EA}"/>
              </a:ext>
            </a:extLst>
          </p:cNvPr>
          <p:cNvSpPr>
            <a:spLocks noChangeArrowheads="1"/>
          </p:cNvSpPr>
          <p:nvPr/>
        </p:nvSpPr>
        <p:spPr bwMode="auto">
          <a:xfrm>
            <a:off x="2321975" y="4329010"/>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D</a:t>
            </a:r>
          </a:p>
        </p:txBody>
      </p:sp>
      <p:sp>
        <p:nvSpPr>
          <p:cNvPr id="51" name="Rectangle 71">
            <a:extLst>
              <a:ext uri="{FF2B5EF4-FFF2-40B4-BE49-F238E27FC236}">
                <a16:creationId xmlns:a16="http://schemas.microsoft.com/office/drawing/2014/main" id="{90490859-5C7F-30A5-609B-983EEB24421C}"/>
              </a:ext>
            </a:extLst>
          </p:cNvPr>
          <p:cNvSpPr>
            <a:spLocks noChangeArrowheads="1"/>
          </p:cNvSpPr>
          <p:nvPr/>
        </p:nvSpPr>
        <p:spPr bwMode="auto">
          <a:xfrm>
            <a:off x="2771981" y="4329010"/>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X</a:t>
            </a:r>
          </a:p>
        </p:txBody>
      </p:sp>
      <p:sp>
        <p:nvSpPr>
          <p:cNvPr id="52" name="Rectangle 72">
            <a:extLst>
              <a:ext uri="{FF2B5EF4-FFF2-40B4-BE49-F238E27FC236}">
                <a16:creationId xmlns:a16="http://schemas.microsoft.com/office/drawing/2014/main" id="{A20843B1-0FCB-11F5-A0D9-DB77FB5BE61F}"/>
              </a:ext>
            </a:extLst>
          </p:cNvPr>
          <p:cNvSpPr>
            <a:spLocks noChangeArrowheads="1"/>
          </p:cNvSpPr>
          <p:nvPr/>
        </p:nvSpPr>
        <p:spPr bwMode="auto">
          <a:xfrm>
            <a:off x="3221986" y="4329010"/>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M</a:t>
            </a:r>
          </a:p>
        </p:txBody>
      </p:sp>
      <p:sp>
        <p:nvSpPr>
          <p:cNvPr id="53" name="Rectangle 73">
            <a:extLst>
              <a:ext uri="{FF2B5EF4-FFF2-40B4-BE49-F238E27FC236}">
                <a16:creationId xmlns:a16="http://schemas.microsoft.com/office/drawing/2014/main" id="{9F30305D-2169-69D7-3760-BB366497EEAC}"/>
              </a:ext>
            </a:extLst>
          </p:cNvPr>
          <p:cNvSpPr>
            <a:spLocks noChangeArrowheads="1"/>
          </p:cNvSpPr>
          <p:nvPr/>
        </p:nvSpPr>
        <p:spPr bwMode="auto">
          <a:xfrm>
            <a:off x="3671991" y="4329010"/>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W</a:t>
            </a:r>
          </a:p>
        </p:txBody>
      </p:sp>
      <p:cxnSp>
        <p:nvCxnSpPr>
          <p:cNvPr id="56" name="直線矢印コネクタ 55">
            <a:extLst>
              <a:ext uri="{FF2B5EF4-FFF2-40B4-BE49-F238E27FC236}">
                <a16:creationId xmlns:a16="http://schemas.microsoft.com/office/drawing/2014/main" id="{1AAB9649-31D6-99A1-B76D-BD3678622B59}"/>
              </a:ext>
            </a:extLst>
          </p:cNvPr>
          <p:cNvCxnSpPr>
            <a:cxnSpLocks/>
          </p:cNvCxnSpPr>
          <p:nvPr/>
        </p:nvCxnSpPr>
        <p:spPr bwMode="auto">
          <a:xfrm>
            <a:off x="971960" y="2438989"/>
            <a:ext cx="2250025" cy="0"/>
          </a:xfrm>
          <a:prstGeom prst="straightConnector1">
            <a:avLst/>
          </a:prstGeom>
          <a:noFill/>
          <a:ln w="9525" cap="flat" cmpd="sng" algn="ctr">
            <a:solidFill>
              <a:schemeClr val="tx1">
                <a:lumMod val="75000"/>
                <a:lumOff val="25000"/>
              </a:schemeClr>
            </a:solidFill>
            <a:prstDash val="solid"/>
            <a:round/>
            <a:headEnd type="triangle" w="med" len="med"/>
            <a:tailEnd type="triangle"/>
          </a:ln>
          <a:effectLst/>
        </p:spPr>
      </p:cxnSp>
      <p:sp>
        <p:nvSpPr>
          <p:cNvPr id="58" name="正方形/長方形 57">
            <a:extLst>
              <a:ext uri="{FF2B5EF4-FFF2-40B4-BE49-F238E27FC236}">
                <a16:creationId xmlns:a16="http://schemas.microsoft.com/office/drawing/2014/main" id="{CFC89224-3E21-D4DB-FBC8-48DE7DE55887}"/>
              </a:ext>
            </a:extLst>
          </p:cNvPr>
          <p:cNvSpPr/>
          <p:nvPr/>
        </p:nvSpPr>
        <p:spPr>
          <a:xfrm>
            <a:off x="1871970" y="1808982"/>
            <a:ext cx="540005" cy="540006"/>
          </a:xfrm>
          <a:prstGeom prst="rect">
            <a:avLst/>
          </a:prstGeom>
        </p:spPr>
        <p:txBody>
          <a:bodyPr wrap="none">
            <a:noAutofit/>
          </a:bodyPr>
          <a:lstStyle/>
          <a:p>
            <a:pPr algn="ctr"/>
            <a:r>
              <a:rPr lang="en-US" altLang="ja-JP" dirty="0">
                <a:solidFill>
                  <a:schemeClr val="tx1">
                    <a:lumMod val="65000"/>
                    <a:lumOff val="35000"/>
                  </a:schemeClr>
                </a:solidFill>
              </a:rPr>
              <a:t>5 ns</a:t>
            </a:r>
          </a:p>
          <a:p>
            <a:pPr algn="ctr"/>
            <a:r>
              <a:rPr lang="en-US" altLang="ja-JP" dirty="0">
                <a:solidFill>
                  <a:schemeClr val="tx1">
                    <a:lumMod val="65000"/>
                    <a:lumOff val="35000"/>
                  </a:schemeClr>
                </a:solidFill>
              </a:rPr>
              <a:t>5 cycle</a:t>
            </a:r>
            <a:endParaRPr lang="ja-JP" altLang="en-US" dirty="0">
              <a:solidFill>
                <a:schemeClr val="tx1">
                  <a:lumMod val="65000"/>
                  <a:lumOff val="35000"/>
                </a:schemeClr>
              </a:solidFill>
            </a:endParaRPr>
          </a:p>
        </p:txBody>
      </p:sp>
      <p:cxnSp>
        <p:nvCxnSpPr>
          <p:cNvPr id="59" name="直線矢印コネクタ 58">
            <a:extLst>
              <a:ext uri="{FF2B5EF4-FFF2-40B4-BE49-F238E27FC236}">
                <a16:creationId xmlns:a16="http://schemas.microsoft.com/office/drawing/2014/main" id="{EB434A61-DD22-4EDC-D2D4-0FCBE9794095}"/>
              </a:ext>
            </a:extLst>
          </p:cNvPr>
          <p:cNvCxnSpPr>
            <a:cxnSpLocks/>
          </p:cNvCxnSpPr>
          <p:nvPr/>
        </p:nvCxnSpPr>
        <p:spPr bwMode="auto">
          <a:xfrm>
            <a:off x="971960" y="1268976"/>
            <a:ext cx="0" cy="3600040"/>
          </a:xfrm>
          <a:prstGeom prst="straightConnector1">
            <a:avLst/>
          </a:prstGeom>
          <a:noFill/>
          <a:ln w="6350" cap="flat" cmpd="sng" algn="ctr">
            <a:solidFill>
              <a:schemeClr val="tx1">
                <a:lumMod val="75000"/>
                <a:lumOff val="25000"/>
              </a:schemeClr>
            </a:solidFill>
            <a:prstDash val="solid"/>
            <a:round/>
            <a:headEnd type="none" w="med" len="med"/>
            <a:tailEnd type="none"/>
          </a:ln>
          <a:effectLst/>
        </p:spPr>
      </p:cxnSp>
      <p:cxnSp>
        <p:nvCxnSpPr>
          <p:cNvPr id="61" name="直線矢印コネクタ 60">
            <a:extLst>
              <a:ext uri="{FF2B5EF4-FFF2-40B4-BE49-F238E27FC236}">
                <a16:creationId xmlns:a16="http://schemas.microsoft.com/office/drawing/2014/main" id="{AC3D18FF-5C44-B0B8-E16F-919152BE8ED9}"/>
              </a:ext>
            </a:extLst>
          </p:cNvPr>
          <p:cNvCxnSpPr>
            <a:cxnSpLocks/>
          </p:cNvCxnSpPr>
          <p:nvPr/>
        </p:nvCxnSpPr>
        <p:spPr bwMode="auto">
          <a:xfrm>
            <a:off x="3221985" y="1268976"/>
            <a:ext cx="0" cy="3600040"/>
          </a:xfrm>
          <a:prstGeom prst="straightConnector1">
            <a:avLst/>
          </a:prstGeom>
          <a:noFill/>
          <a:ln w="6350" cap="flat" cmpd="sng" algn="ctr">
            <a:solidFill>
              <a:schemeClr val="tx1">
                <a:lumMod val="75000"/>
                <a:lumOff val="25000"/>
              </a:schemeClr>
            </a:solidFill>
            <a:prstDash val="solid"/>
            <a:round/>
            <a:headEnd type="none" w="med" len="med"/>
            <a:tailEnd type="none"/>
          </a:ln>
          <a:effectLst/>
        </p:spPr>
      </p:cxnSp>
      <p:sp>
        <p:nvSpPr>
          <p:cNvPr id="129" name="コンテンツ プレースホルダー 34">
            <a:extLst>
              <a:ext uri="{FF2B5EF4-FFF2-40B4-BE49-F238E27FC236}">
                <a16:creationId xmlns:a16="http://schemas.microsoft.com/office/drawing/2014/main" id="{3A18A38F-0614-2DB0-E41C-5B0A06C2A320}"/>
              </a:ext>
            </a:extLst>
          </p:cNvPr>
          <p:cNvSpPr>
            <a:spLocks noGrp="1"/>
          </p:cNvSpPr>
          <p:nvPr>
            <p:ph sz="quarter" idx="10"/>
          </p:nvPr>
        </p:nvSpPr>
        <p:spPr>
          <a:xfrm>
            <a:off x="611188" y="5499100"/>
            <a:ext cx="7921625" cy="809625"/>
          </a:xfrm>
        </p:spPr>
        <p:txBody>
          <a:bodyPr/>
          <a:lstStyle/>
          <a:p>
            <a:pPr lvl="1"/>
            <a:r>
              <a:rPr lang="ja-JP" altLang="en-US" sz="2000" dirty="0"/>
              <a:t>シングル・サイクル・プロセッサの時とはサイクルの長さが変わっている事に注意</a:t>
            </a:r>
            <a:endParaRPr lang="en-US" altLang="ja-JP" dirty="0">
              <a:solidFill>
                <a:schemeClr val="tx1">
                  <a:lumMod val="75000"/>
                  <a:lumOff val="25000"/>
                </a:schemeClr>
              </a:solidFill>
            </a:endParaRPr>
          </a:p>
          <a:p>
            <a:pPr lvl="1"/>
            <a:r>
              <a:rPr lang="ja-JP" altLang="en-US" dirty="0">
                <a:solidFill>
                  <a:schemeClr val="tx1">
                    <a:lumMod val="75000"/>
                    <a:lumOff val="25000"/>
                  </a:schemeClr>
                </a:solidFill>
              </a:rPr>
              <a:t>周波数</a:t>
            </a:r>
            <a:r>
              <a:rPr lang="en-US" altLang="ja-JP" dirty="0">
                <a:solidFill>
                  <a:schemeClr val="tx1">
                    <a:lumMod val="65000"/>
                    <a:lumOff val="35000"/>
                  </a:schemeClr>
                </a:solidFill>
              </a:rPr>
              <a:t> = 1</a:t>
            </a:r>
            <a:r>
              <a:rPr lang="ja-JP" altLang="en-US" dirty="0">
                <a:solidFill>
                  <a:schemeClr val="tx1">
                    <a:lumMod val="65000"/>
                    <a:lumOff val="35000"/>
                  </a:schemeClr>
                </a:solidFill>
              </a:rPr>
              <a:t>秒</a:t>
            </a:r>
            <a:r>
              <a:rPr lang="en-US" altLang="ja-JP" dirty="0">
                <a:solidFill>
                  <a:schemeClr val="tx1">
                    <a:lumMod val="65000"/>
                    <a:lumOff val="35000"/>
                  </a:schemeClr>
                </a:solidFill>
              </a:rPr>
              <a:t> / 1ns = </a:t>
            </a:r>
            <a:r>
              <a:rPr lang="en-US" altLang="ja-JP" dirty="0">
                <a:solidFill>
                  <a:schemeClr val="accent5"/>
                </a:solidFill>
              </a:rPr>
              <a:t>1000 MHz = 1GHz</a:t>
            </a:r>
          </a:p>
          <a:p>
            <a:pPr lvl="1"/>
            <a:r>
              <a:rPr lang="en-US" altLang="ja-JP" dirty="0">
                <a:solidFill>
                  <a:schemeClr val="tx1">
                    <a:lumMod val="65000"/>
                    <a:lumOff val="35000"/>
                  </a:schemeClr>
                </a:solidFill>
              </a:rPr>
              <a:t>IPC </a:t>
            </a:r>
            <a:r>
              <a:rPr lang="ja-JP" altLang="en-US" dirty="0">
                <a:solidFill>
                  <a:schemeClr val="tx1">
                    <a:lumMod val="65000"/>
                    <a:lumOff val="35000"/>
                  </a:schemeClr>
                </a:solidFill>
              </a:rPr>
              <a:t>はどう考える？ </a:t>
            </a:r>
            <a:r>
              <a:rPr lang="en-US" altLang="ja-JP" dirty="0">
                <a:solidFill>
                  <a:schemeClr val="tx1">
                    <a:lumMod val="65000"/>
                    <a:lumOff val="35000"/>
                  </a:schemeClr>
                </a:solidFill>
              </a:rPr>
              <a:t>IPC = 3 </a:t>
            </a:r>
            <a:r>
              <a:rPr lang="ja-JP" altLang="en-US" dirty="0">
                <a:solidFill>
                  <a:schemeClr val="tx1">
                    <a:lumMod val="65000"/>
                    <a:lumOff val="35000"/>
                  </a:schemeClr>
                </a:solidFill>
              </a:rPr>
              <a:t>命令 </a:t>
            </a:r>
            <a:r>
              <a:rPr lang="en-US" altLang="ja-JP" dirty="0">
                <a:solidFill>
                  <a:schemeClr val="tx1">
                    <a:lumMod val="65000"/>
                    <a:lumOff val="35000"/>
                  </a:schemeClr>
                </a:solidFill>
              </a:rPr>
              <a:t>/ 7 </a:t>
            </a:r>
            <a:r>
              <a:rPr lang="ja-JP" altLang="en-US" dirty="0">
                <a:solidFill>
                  <a:schemeClr val="tx1">
                    <a:lumMod val="65000"/>
                    <a:lumOff val="35000"/>
                  </a:schemeClr>
                </a:solidFill>
              </a:rPr>
              <a:t>サイクル？</a:t>
            </a:r>
            <a:endParaRPr lang="en-US" altLang="ja-JP" dirty="0">
              <a:solidFill>
                <a:schemeClr val="accent5"/>
              </a:solidFill>
            </a:endParaRPr>
          </a:p>
        </p:txBody>
      </p:sp>
      <p:cxnSp>
        <p:nvCxnSpPr>
          <p:cNvPr id="130" name="直線矢印コネクタ 129">
            <a:extLst>
              <a:ext uri="{FF2B5EF4-FFF2-40B4-BE49-F238E27FC236}">
                <a16:creationId xmlns:a16="http://schemas.microsoft.com/office/drawing/2014/main" id="{7BDCE70A-4EFD-926C-B353-75ED148A5258}"/>
              </a:ext>
            </a:extLst>
          </p:cNvPr>
          <p:cNvCxnSpPr>
            <a:cxnSpLocks/>
          </p:cNvCxnSpPr>
          <p:nvPr/>
        </p:nvCxnSpPr>
        <p:spPr bwMode="auto">
          <a:xfrm>
            <a:off x="4121995" y="1268976"/>
            <a:ext cx="0" cy="3600040"/>
          </a:xfrm>
          <a:prstGeom prst="straightConnector1">
            <a:avLst/>
          </a:prstGeom>
          <a:noFill/>
          <a:ln w="6350" cap="flat" cmpd="sng" algn="ctr">
            <a:solidFill>
              <a:schemeClr val="tx1">
                <a:lumMod val="75000"/>
                <a:lumOff val="25000"/>
              </a:schemeClr>
            </a:solidFill>
            <a:prstDash val="solid"/>
            <a:round/>
            <a:headEnd type="none" w="med" len="med"/>
            <a:tailEnd type="none"/>
          </a:ln>
          <a:effectLst/>
        </p:spPr>
      </p:cxnSp>
      <p:cxnSp>
        <p:nvCxnSpPr>
          <p:cNvPr id="134" name="直線矢印コネクタ 133">
            <a:extLst>
              <a:ext uri="{FF2B5EF4-FFF2-40B4-BE49-F238E27FC236}">
                <a16:creationId xmlns:a16="http://schemas.microsoft.com/office/drawing/2014/main" id="{EE5C5938-A721-BEEF-629A-64553E8D568A}"/>
              </a:ext>
            </a:extLst>
          </p:cNvPr>
          <p:cNvCxnSpPr>
            <a:cxnSpLocks/>
          </p:cNvCxnSpPr>
          <p:nvPr/>
        </p:nvCxnSpPr>
        <p:spPr bwMode="auto">
          <a:xfrm>
            <a:off x="971960" y="1538979"/>
            <a:ext cx="3150035" cy="0"/>
          </a:xfrm>
          <a:prstGeom prst="straightConnector1">
            <a:avLst/>
          </a:prstGeom>
          <a:noFill/>
          <a:ln w="9525" cap="flat" cmpd="sng" algn="ctr">
            <a:solidFill>
              <a:schemeClr val="tx1">
                <a:lumMod val="75000"/>
                <a:lumOff val="25000"/>
              </a:schemeClr>
            </a:solidFill>
            <a:prstDash val="solid"/>
            <a:round/>
            <a:headEnd type="triangle" w="med" len="med"/>
            <a:tailEnd type="triangle"/>
          </a:ln>
          <a:effectLst/>
        </p:spPr>
      </p:cxnSp>
      <p:sp>
        <p:nvSpPr>
          <p:cNvPr id="135" name="正方形/長方形 134">
            <a:extLst>
              <a:ext uri="{FF2B5EF4-FFF2-40B4-BE49-F238E27FC236}">
                <a16:creationId xmlns:a16="http://schemas.microsoft.com/office/drawing/2014/main" id="{94404645-267F-AE95-3ECE-D36CCB54C175}"/>
              </a:ext>
            </a:extLst>
          </p:cNvPr>
          <p:cNvSpPr/>
          <p:nvPr/>
        </p:nvSpPr>
        <p:spPr>
          <a:xfrm>
            <a:off x="2321975" y="908972"/>
            <a:ext cx="540005" cy="540006"/>
          </a:xfrm>
          <a:prstGeom prst="rect">
            <a:avLst/>
          </a:prstGeom>
        </p:spPr>
        <p:txBody>
          <a:bodyPr wrap="none">
            <a:noAutofit/>
          </a:bodyPr>
          <a:lstStyle/>
          <a:p>
            <a:pPr algn="ctr"/>
            <a:r>
              <a:rPr lang="en-US" altLang="ja-JP" dirty="0">
                <a:solidFill>
                  <a:schemeClr val="tx1">
                    <a:lumMod val="65000"/>
                    <a:lumOff val="35000"/>
                  </a:schemeClr>
                </a:solidFill>
              </a:rPr>
              <a:t>7 ns</a:t>
            </a:r>
          </a:p>
          <a:p>
            <a:pPr algn="ctr"/>
            <a:r>
              <a:rPr lang="en-US" altLang="ja-JP" dirty="0">
                <a:solidFill>
                  <a:schemeClr val="tx1">
                    <a:lumMod val="65000"/>
                    <a:lumOff val="35000"/>
                  </a:schemeClr>
                </a:solidFill>
              </a:rPr>
              <a:t>7 cycle</a:t>
            </a:r>
            <a:endParaRPr lang="ja-JP" altLang="en-US" dirty="0">
              <a:solidFill>
                <a:schemeClr val="tx1">
                  <a:lumMod val="65000"/>
                  <a:lumOff val="35000"/>
                </a:schemeClr>
              </a:solidFill>
            </a:endParaRPr>
          </a:p>
        </p:txBody>
      </p:sp>
    </p:spTree>
    <p:extLst>
      <p:ext uri="{BB962C8B-B14F-4D97-AF65-F5344CB8AC3E}">
        <p14:creationId xmlns:p14="http://schemas.microsoft.com/office/powerpoint/2010/main" val="297772980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「十分に多く」の命令を実行した場合</a:t>
            </a:r>
          </a:p>
        </p:txBody>
      </p:sp>
      <p:sp>
        <p:nvSpPr>
          <p:cNvPr id="18" name="正方形/長方形 17">
            <a:extLst>
              <a:ext uri="{FF2B5EF4-FFF2-40B4-BE49-F238E27FC236}">
                <a16:creationId xmlns:a16="http://schemas.microsoft.com/office/drawing/2014/main" id="{842DC25E-D905-548B-B524-078E9180232F}"/>
              </a:ext>
            </a:extLst>
          </p:cNvPr>
          <p:cNvSpPr/>
          <p:nvPr/>
        </p:nvSpPr>
        <p:spPr>
          <a:xfrm>
            <a:off x="71950" y="1718981"/>
            <a:ext cx="450005" cy="369332"/>
          </a:xfrm>
          <a:prstGeom prst="rect">
            <a:avLst/>
          </a:prstGeom>
        </p:spPr>
        <p:txBody>
          <a:bodyPr wrap="square">
            <a:spAutoFit/>
          </a:bodyPr>
          <a:lstStyle/>
          <a:p>
            <a:pPr algn="ctr"/>
            <a:r>
              <a:rPr lang="en-US" altLang="ja-JP" dirty="0">
                <a:solidFill>
                  <a:schemeClr val="tx1">
                    <a:lumMod val="65000"/>
                    <a:lumOff val="35000"/>
                  </a:schemeClr>
                </a:solidFill>
                <a:latin typeface="Consolas" panose="020B0609020204030204" pitchFamily="49" charset="0"/>
              </a:rPr>
              <a:t>I0</a:t>
            </a:r>
            <a:endParaRPr lang="ja-JP" altLang="en-US" dirty="0">
              <a:solidFill>
                <a:schemeClr val="tx1">
                  <a:lumMod val="65000"/>
                  <a:lumOff val="35000"/>
                </a:schemeClr>
              </a:solidFill>
              <a:latin typeface="Consolas" panose="020B0609020204030204" pitchFamily="49" charset="0"/>
            </a:endParaRPr>
          </a:p>
        </p:txBody>
      </p:sp>
      <p:sp>
        <p:nvSpPr>
          <p:cNvPr id="19" name="正方形/長方形 18">
            <a:extLst>
              <a:ext uri="{FF2B5EF4-FFF2-40B4-BE49-F238E27FC236}">
                <a16:creationId xmlns:a16="http://schemas.microsoft.com/office/drawing/2014/main" id="{44BE2AF5-A875-5784-4C41-EC5D5BE957C5}"/>
              </a:ext>
            </a:extLst>
          </p:cNvPr>
          <p:cNvSpPr/>
          <p:nvPr/>
        </p:nvSpPr>
        <p:spPr>
          <a:xfrm>
            <a:off x="71950" y="2168986"/>
            <a:ext cx="450005" cy="369332"/>
          </a:xfrm>
          <a:prstGeom prst="rect">
            <a:avLst/>
          </a:prstGeom>
        </p:spPr>
        <p:txBody>
          <a:bodyPr wrap="square">
            <a:spAutoFit/>
          </a:bodyPr>
          <a:lstStyle/>
          <a:p>
            <a:pPr algn="ctr"/>
            <a:r>
              <a:rPr lang="en-US" altLang="ja-JP" dirty="0">
                <a:solidFill>
                  <a:schemeClr val="tx1">
                    <a:lumMod val="65000"/>
                    <a:lumOff val="35000"/>
                  </a:schemeClr>
                </a:solidFill>
                <a:latin typeface="Consolas" panose="020B0609020204030204" pitchFamily="49" charset="0"/>
              </a:rPr>
              <a:t>I1</a:t>
            </a:r>
            <a:endParaRPr lang="ja-JP" altLang="en-US" dirty="0">
              <a:solidFill>
                <a:schemeClr val="tx1">
                  <a:lumMod val="65000"/>
                  <a:lumOff val="35000"/>
                </a:schemeClr>
              </a:solidFill>
              <a:latin typeface="Consolas" panose="020B0609020204030204" pitchFamily="49" charset="0"/>
            </a:endParaRPr>
          </a:p>
        </p:txBody>
      </p:sp>
      <p:sp>
        <p:nvSpPr>
          <p:cNvPr id="20" name="正方形/長方形 19">
            <a:extLst>
              <a:ext uri="{FF2B5EF4-FFF2-40B4-BE49-F238E27FC236}">
                <a16:creationId xmlns:a16="http://schemas.microsoft.com/office/drawing/2014/main" id="{8A302DEA-B7EB-2ED5-2902-CB3D9432A7CD}"/>
              </a:ext>
            </a:extLst>
          </p:cNvPr>
          <p:cNvSpPr/>
          <p:nvPr/>
        </p:nvSpPr>
        <p:spPr>
          <a:xfrm>
            <a:off x="71950" y="2618991"/>
            <a:ext cx="450005" cy="369332"/>
          </a:xfrm>
          <a:prstGeom prst="rect">
            <a:avLst/>
          </a:prstGeom>
        </p:spPr>
        <p:txBody>
          <a:bodyPr wrap="square">
            <a:spAutoFit/>
          </a:bodyPr>
          <a:lstStyle/>
          <a:p>
            <a:pPr algn="ctr"/>
            <a:r>
              <a:rPr lang="en-US" altLang="ja-JP" dirty="0">
                <a:solidFill>
                  <a:schemeClr val="tx1">
                    <a:lumMod val="65000"/>
                    <a:lumOff val="35000"/>
                  </a:schemeClr>
                </a:solidFill>
                <a:latin typeface="Consolas" panose="020B0609020204030204" pitchFamily="49" charset="0"/>
              </a:rPr>
              <a:t>I2</a:t>
            </a:r>
            <a:endParaRPr lang="ja-JP" altLang="en-US" dirty="0">
              <a:solidFill>
                <a:schemeClr val="tx1">
                  <a:lumMod val="65000"/>
                  <a:lumOff val="35000"/>
                </a:schemeClr>
              </a:solidFill>
              <a:latin typeface="Consolas" panose="020B0609020204030204" pitchFamily="49" charset="0"/>
            </a:endParaRPr>
          </a:p>
        </p:txBody>
      </p:sp>
      <p:sp>
        <p:nvSpPr>
          <p:cNvPr id="39" name="Rectangle 69">
            <a:extLst>
              <a:ext uri="{FF2B5EF4-FFF2-40B4-BE49-F238E27FC236}">
                <a16:creationId xmlns:a16="http://schemas.microsoft.com/office/drawing/2014/main" id="{7A275430-0751-5FEB-5A19-5D72A0480ADD}"/>
              </a:ext>
            </a:extLst>
          </p:cNvPr>
          <p:cNvSpPr>
            <a:spLocks noChangeArrowheads="1"/>
          </p:cNvSpPr>
          <p:nvPr/>
        </p:nvSpPr>
        <p:spPr bwMode="auto">
          <a:xfrm>
            <a:off x="701957" y="1718981"/>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40" name="Rectangle 70">
            <a:extLst>
              <a:ext uri="{FF2B5EF4-FFF2-40B4-BE49-F238E27FC236}">
                <a16:creationId xmlns:a16="http://schemas.microsoft.com/office/drawing/2014/main" id="{D131183A-3D62-5404-2945-A58D213D075D}"/>
              </a:ext>
            </a:extLst>
          </p:cNvPr>
          <p:cNvSpPr>
            <a:spLocks noChangeArrowheads="1"/>
          </p:cNvSpPr>
          <p:nvPr/>
        </p:nvSpPr>
        <p:spPr bwMode="auto">
          <a:xfrm>
            <a:off x="1151960" y="1718981"/>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D</a:t>
            </a:r>
          </a:p>
        </p:txBody>
      </p:sp>
      <p:sp>
        <p:nvSpPr>
          <p:cNvPr id="41" name="Rectangle 71">
            <a:extLst>
              <a:ext uri="{FF2B5EF4-FFF2-40B4-BE49-F238E27FC236}">
                <a16:creationId xmlns:a16="http://schemas.microsoft.com/office/drawing/2014/main" id="{6744CC94-BF18-9CEF-AFB6-6DEB21D9172B}"/>
              </a:ext>
            </a:extLst>
          </p:cNvPr>
          <p:cNvSpPr>
            <a:spLocks noChangeArrowheads="1"/>
          </p:cNvSpPr>
          <p:nvPr/>
        </p:nvSpPr>
        <p:spPr bwMode="auto">
          <a:xfrm>
            <a:off x="1601966" y="1718981"/>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X</a:t>
            </a:r>
          </a:p>
        </p:txBody>
      </p:sp>
      <p:sp>
        <p:nvSpPr>
          <p:cNvPr id="42" name="Rectangle 72">
            <a:extLst>
              <a:ext uri="{FF2B5EF4-FFF2-40B4-BE49-F238E27FC236}">
                <a16:creationId xmlns:a16="http://schemas.microsoft.com/office/drawing/2014/main" id="{FB38BC88-7159-BA88-8E85-664C17366C7F}"/>
              </a:ext>
            </a:extLst>
          </p:cNvPr>
          <p:cNvSpPr>
            <a:spLocks noChangeArrowheads="1"/>
          </p:cNvSpPr>
          <p:nvPr/>
        </p:nvSpPr>
        <p:spPr bwMode="auto">
          <a:xfrm>
            <a:off x="2051971" y="1718981"/>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M</a:t>
            </a:r>
          </a:p>
        </p:txBody>
      </p:sp>
      <p:sp>
        <p:nvSpPr>
          <p:cNvPr id="43" name="Rectangle 73">
            <a:extLst>
              <a:ext uri="{FF2B5EF4-FFF2-40B4-BE49-F238E27FC236}">
                <a16:creationId xmlns:a16="http://schemas.microsoft.com/office/drawing/2014/main" id="{1BF0F800-00CF-AF98-1CA1-A1155DFC6C78}"/>
              </a:ext>
            </a:extLst>
          </p:cNvPr>
          <p:cNvSpPr>
            <a:spLocks noChangeArrowheads="1"/>
          </p:cNvSpPr>
          <p:nvPr/>
        </p:nvSpPr>
        <p:spPr bwMode="auto">
          <a:xfrm>
            <a:off x="2501976" y="1718981"/>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W</a:t>
            </a:r>
          </a:p>
        </p:txBody>
      </p:sp>
      <p:sp>
        <p:nvSpPr>
          <p:cNvPr id="44" name="Rectangle 69">
            <a:extLst>
              <a:ext uri="{FF2B5EF4-FFF2-40B4-BE49-F238E27FC236}">
                <a16:creationId xmlns:a16="http://schemas.microsoft.com/office/drawing/2014/main" id="{12119416-5055-999C-0322-C56D8BED2219}"/>
              </a:ext>
            </a:extLst>
          </p:cNvPr>
          <p:cNvSpPr>
            <a:spLocks noChangeArrowheads="1"/>
          </p:cNvSpPr>
          <p:nvPr/>
        </p:nvSpPr>
        <p:spPr bwMode="auto">
          <a:xfrm>
            <a:off x="1151964" y="2168986"/>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45" name="Rectangle 70">
            <a:extLst>
              <a:ext uri="{FF2B5EF4-FFF2-40B4-BE49-F238E27FC236}">
                <a16:creationId xmlns:a16="http://schemas.microsoft.com/office/drawing/2014/main" id="{23D39F9F-68DF-416A-409D-F13D8EA68DA6}"/>
              </a:ext>
            </a:extLst>
          </p:cNvPr>
          <p:cNvSpPr>
            <a:spLocks noChangeArrowheads="1"/>
          </p:cNvSpPr>
          <p:nvPr/>
        </p:nvSpPr>
        <p:spPr bwMode="auto">
          <a:xfrm>
            <a:off x="1601967" y="2168986"/>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D</a:t>
            </a:r>
          </a:p>
        </p:txBody>
      </p:sp>
      <p:sp>
        <p:nvSpPr>
          <p:cNvPr id="46" name="Rectangle 71">
            <a:extLst>
              <a:ext uri="{FF2B5EF4-FFF2-40B4-BE49-F238E27FC236}">
                <a16:creationId xmlns:a16="http://schemas.microsoft.com/office/drawing/2014/main" id="{7777B920-ADDF-5172-6E3A-7CC9D6B3C83F}"/>
              </a:ext>
            </a:extLst>
          </p:cNvPr>
          <p:cNvSpPr>
            <a:spLocks noChangeArrowheads="1"/>
          </p:cNvSpPr>
          <p:nvPr/>
        </p:nvSpPr>
        <p:spPr bwMode="auto">
          <a:xfrm>
            <a:off x="2051973" y="2168986"/>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X</a:t>
            </a:r>
          </a:p>
        </p:txBody>
      </p:sp>
      <p:sp>
        <p:nvSpPr>
          <p:cNvPr id="47" name="Rectangle 72">
            <a:extLst>
              <a:ext uri="{FF2B5EF4-FFF2-40B4-BE49-F238E27FC236}">
                <a16:creationId xmlns:a16="http://schemas.microsoft.com/office/drawing/2014/main" id="{9A0A565C-F1AB-6962-BD0C-8142D0B09F77}"/>
              </a:ext>
            </a:extLst>
          </p:cNvPr>
          <p:cNvSpPr>
            <a:spLocks noChangeArrowheads="1"/>
          </p:cNvSpPr>
          <p:nvPr/>
        </p:nvSpPr>
        <p:spPr bwMode="auto">
          <a:xfrm>
            <a:off x="2501978" y="2168986"/>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M</a:t>
            </a:r>
          </a:p>
        </p:txBody>
      </p:sp>
      <p:sp>
        <p:nvSpPr>
          <p:cNvPr id="48" name="Rectangle 73">
            <a:extLst>
              <a:ext uri="{FF2B5EF4-FFF2-40B4-BE49-F238E27FC236}">
                <a16:creationId xmlns:a16="http://schemas.microsoft.com/office/drawing/2014/main" id="{AAFF3007-01CB-8524-A765-46D3B7097B2F}"/>
              </a:ext>
            </a:extLst>
          </p:cNvPr>
          <p:cNvSpPr>
            <a:spLocks noChangeArrowheads="1"/>
          </p:cNvSpPr>
          <p:nvPr/>
        </p:nvSpPr>
        <p:spPr bwMode="auto">
          <a:xfrm>
            <a:off x="2951983" y="2168986"/>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W</a:t>
            </a:r>
          </a:p>
        </p:txBody>
      </p:sp>
      <p:sp>
        <p:nvSpPr>
          <p:cNvPr id="49" name="Rectangle 69">
            <a:extLst>
              <a:ext uri="{FF2B5EF4-FFF2-40B4-BE49-F238E27FC236}">
                <a16:creationId xmlns:a16="http://schemas.microsoft.com/office/drawing/2014/main" id="{650F9D52-0147-6D75-3FDA-44BA83C72168}"/>
              </a:ext>
            </a:extLst>
          </p:cNvPr>
          <p:cNvSpPr>
            <a:spLocks noChangeArrowheads="1"/>
          </p:cNvSpPr>
          <p:nvPr/>
        </p:nvSpPr>
        <p:spPr bwMode="auto">
          <a:xfrm>
            <a:off x="1601968" y="2618991"/>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50" name="Rectangle 70">
            <a:extLst>
              <a:ext uri="{FF2B5EF4-FFF2-40B4-BE49-F238E27FC236}">
                <a16:creationId xmlns:a16="http://schemas.microsoft.com/office/drawing/2014/main" id="{56D0B039-AFA9-3E3F-6727-0CACD9FD68EA}"/>
              </a:ext>
            </a:extLst>
          </p:cNvPr>
          <p:cNvSpPr>
            <a:spLocks noChangeArrowheads="1"/>
          </p:cNvSpPr>
          <p:nvPr/>
        </p:nvSpPr>
        <p:spPr bwMode="auto">
          <a:xfrm>
            <a:off x="2051971" y="2618991"/>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D</a:t>
            </a:r>
          </a:p>
        </p:txBody>
      </p:sp>
      <p:sp>
        <p:nvSpPr>
          <p:cNvPr id="51" name="Rectangle 71">
            <a:extLst>
              <a:ext uri="{FF2B5EF4-FFF2-40B4-BE49-F238E27FC236}">
                <a16:creationId xmlns:a16="http://schemas.microsoft.com/office/drawing/2014/main" id="{90490859-5C7F-30A5-609B-983EEB24421C}"/>
              </a:ext>
            </a:extLst>
          </p:cNvPr>
          <p:cNvSpPr>
            <a:spLocks noChangeArrowheads="1"/>
          </p:cNvSpPr>
          <p:nvPr/>
        </p:nvSpPr>
        <p:spPr bwMode="auto">
          <a:xfrm>
            <a:off x="2501977" y="2618991"/>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X</a:t>
            </a:r>
          </a:p>
        </p:txBody>
      </p:sp>
      <p:sp>
        <p:nvSpPr>
          <p:cNvPr id="52" name="Rectangle 72">
            <a:extLst>
              <a:ext uri="{FF2B5EF4-FFF2-40B4-BE49-F238E27FC236}">
                <a16:creationId xmlns:a16="http://schemas.microsoft.com/office/drawing/2014/main" id="{A20843B1-0FCB-11F5-A0D9-DB77FB5BE61F}"/>
              </a:ext>
            </a:extLst>
          </p:cNvPr>
          <p:cNvSpPr>
            <a:spLocks noChangeArrowheads="1"/>
          </p:cNvSpPr>
          <p:nvPr/>
        </p:nvSpPr>
        <p:spPr bwMode="auto">
          <a:xfrm>
            <a:off x="2951982" y="2618991"/>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M</a:t>
            </a:r>
          </a:p>
        </p:txBody>
      </p:sp>
      <p:sp>
        <p:nvSpPr>
          <p:cNvPr id="53" name="Rectangle 73">
            <a:extLst>
              <a:ext uri="{FF2B5EF4-FFF2-40B4-BE49-F238E27FC236}">
                <a16:creationId xmlns:a16="http://schemas.microsoft.com/office/drawing/2014/main" id="{9F30305D-2169-69D7-3760-BB366497EEAC}"/>
              </a:ext>
            </a:extLst>
          </p:cNvPr>
          <p:cNvSpPr>
            <a:spLocks noChangeArrowheads="1"/>
          </p:cNvSpPr>
          <p:nvPr/>
        </p:nvSpPr>
        <p:spPr bwMode="auto">
          <a:xfrm>
            <a:off x="3401987" y="2618991"/>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W</a:t>
            </a:r>
          </a:p>
        </p:txBody>
      </p:sp>
      <p:sp>
        <p:nvSpPr>
          <p:cNvPr id="129" name="コンテンツ プレースホルダー 34">
            <a:extLst>
              <a:ext uri="{FF2B5EF4-FFF2-40B4-BE49-F238E27FC236}">
                <a16:creationId xmlns:a16="http://schemas.microsoft.com/office/drawing/2014/main" id="{3A18A38F-0614-2DB0-E41C-5B0A06C2A320}"/>
              </a:ext>
            </a:extLst>
          </p:cNvPr>
          <p:cNvSpPr>
            <a:spLocks noGrp="1"/>
          </p:cNvSpPr>
          <p:nvPr>
            <p:ph sz="quarter" idx="10"/>
          </p:nvPr>
        </p:nvSpPr>
        <p:spPr>
          <a:xfrm>
            <a:off x="0" y="5409022"/>
            <a:ext cx="8280860" cy="809625"/>
          </a:xfrm>
        </p:spPr>
        <p:txBody>
          <a:bodyPr/>
          <a:lstStyle/>
          <a:p>
            <a:pPr lvl="1"/>
            <a:r>
              <a:rPr lang="ja-JP" altLang="en-US" dirty="0"/>
              <a:t>十分な長さの命令を実行すれば，</a:t>
            </a:r>
            <a:br>
              <a:rPr lang="en-US" altLang="ja-JP" dirty="0"/>
            </a:br>
            <a:r>
              <a:rPr lang="ja-JP" altLang="en-US" dirty="0"/>
              <a:t>パイプラインの長さ分は無視して近似できる</a:t>
            </a:r>
            <a:endParaRPr lang="en-US" altLang="ja-JP" dirty="0"/>
          </a:p>
          <a:p>
            <a:pPr lvl="2"/>
            <a:r>
              <a:rPr lang="ja-JP" altLang="en-US" dirty="0">
                <a:solidFill>
                  <a:schemeClr val="accent5"/>
                </a:solidFill>
              </a:rPr>
              <a:t>右上の場合，ほぼ </a:t>
            </a:r>
            <a:r>
              <a:rPr lang="en-US" altLang="ja-JP" dirty="0">
                <a:solidFill>
                  <a:schemeClr val="accent5"/>
                </a:solidFill>
              </a:rPr>
              <a:t>IPC = 1,000,000/(5+999,999) </a:t>
            </a:r>
            <a:r>
              <a:rPr lang="ja-JP" altLang="en-US" dirty="0">
                <a:solidFill>
                  <a:schemeClr val="accent5"/>
                </a:solidFill>
              </a:rPr>
              <a:t>は，ほぼ </a:t>
            </a:r>
            <a:r>
              <a:rPr lang="en-US" altLang="ja-JP" dirty="0">
                <a:solidFill>
                  <a:schemeClr val="accent5"/>
                </a:solidFill>
              </a:rPr>
              <a:t>1 </a:t>
            </a:r>
          </a:p>
          <a:p>
            <a:pPr lvl="1"/>
            <a:r>
              <a:rPr lang="ja-JP" altLang="en-US" dirty="0"/>
              <a:t>左端の </a:t>
            </a:r>
            <a:r>
              <a:rPr lang="en-US" altLang="ja-JP" dirty="0"/>
              <a:t>F </a:t>
            </a:r>
            <a:r>
              <a:rPr lang="ja-JP" altLang="en-US" dirty="0"/>
              <a:t>ないしは右端の </a:t>
            </a:r>
            <a:r>
              <a:rPr lang="en-US" altLang="ja-JP" dirty="0"/>
              <a:t>W </a:t>
            </a:r>
            <a:r>
              <a:rPr lang="ja-JP" altLang="en-US" dirty="0"/>
              <a:t>ステージの傾きのみを考えればよい</a:t>
            </a:r>
            <a:endParaRPr lang="en-US" altLang="ja-JP" dirty="0"/>
          </a:p>
        </p:txBody>
      </p:sp>
      <p:sp>
        <p:nvSpPr>
          <p:cNvPr id="6" name="平行四辺形 5">
            <a:extLst>
              <a:ext uri="{FF2B5EF4-FFF2-40B4-BE49-F238E27FC236}">
                <a16:creationId xmlns:a16="http://schemas.microsoft.com/office/drawing/2014/main" id="{748C4BAE-3192-B141-058B-AA2C56A990B8}"/>
              </a:ext>
            </a:extLst>
          </p:cNvPr>
          <p:cNvSpPr/>
          <p:nvPr/>
        </p:nvSpPr>
        <p:spPr bwMode="auto">
          <a:xfrm flipH="1">
            <a:off x="4662001" y="1718982"/>
            <a:ext cx="3600040" cy="3600040"/>
          </a:xfrm>
          <a:prstGeom prst="parallelogram">
            <a:avLst>
              <a:gd name="adj" fmla="val 98821"/>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22" name="直線矢印コネクタ 21">
            <a:extLst>
              <a:ext uri="{FF2B5EF4-FFF2-40B4-BE49-F238E27FC236}">
                <a16:creationId xmlns:a16="http://schemas.microsoft.com/office/drawing/2014/main" id="{A32AC71E-E372-BD45-2787-25596F8DC4F8}"/>
              </a:ext>
            </a:extLst>
          </p:cNvPr>
          <p:cNvCxnSpPr>
            <a:cxnSpLocks/>
          </p:cNvCxnSpPr>
          <p:nvPr/>
        </p:nvCxnSpPr>
        <p:spPr bwMode="auto">
          <a:xfrm>
            <a:off x="4662001" y="1628980"/>
            <a:ext cx="3600040" cy="0"/>
          </a:xfrm>
          <a:prstGeom prst="straightConnector1">
            <a:avLst/>
          </a:prstGeom>
          <a:noFill/>
          <a:ln w="9525" cap="flat" cmpd="sng" algn="ctr">
            <a:solidFill>
              <a:schemeClr val="tx1">
                <a:lumMod val="75000"/>
                <a:lumOff val="25000"/>
              </a:schemeClr>
            </a:solidFill>
            <a:prstDash val="solid"/>
            <a:round/>
            <a:headEnd type="triangle" w="med" len="med"/>
            <a:tailEnd type="triangle"/>
          </a:ln>
          <a:effectLst/>
        </p:spPr>
      </p:cxnSp>
      <p:cxnSp>
        <p:nvCxnSpPr>
          <p:cNvPr id="24" name="直線矢印コネクタ 23">
            <a:extLst>
              <a:ext uri="{FF2B5EF4-FFF2-40B4-BE49-F238E27FC236}">
                <a16:creationId xmlns:a16="http://schemas.microsoft.com/office/drawing/2014/main" id="{F9A1CDE6-D568-AC2A-6EAF-591891154AFA}"/>
              </a:ext>
            </a:extLst>
          </p:cNvPr>
          <p:cNvCxnSpPr>
            <a:cxnSpLocks/>
          </p:cNvCxnSpPr>
          <p:nvPr/>
        </p:nvCxnSpPr>
        <p:spPr bwMode="auto">
          <a:xfrm>
            <a:off x="4572000" y="1718981"/>
            <a:ext cx="0" cy="3600040"/>
          </a:xfrm>
          <a:prstGeom prst="straightConnector1">
            <a:avLst/>
          </a:prstGeom>
          <a:noFill/>
          <a:ln w="9525" cap="flat" cmpd="sng" algn="ctr">
            <a:solidFill>
              <a:schemeClr val="tx1">
                <a:lumMod val="75000"/>
                <a:lumOff val="25000"/>
              </a:schemeClr>
            </a:solidFill>
            <a:prstDash val="solid"/>
            <a:round/>
            <a:headEnd type="triangle" w="med" len="med"/>
            <a:tailEnd type="triangle"/>
          </a:ln>
          <a:effectLst/>
        </p:spPr>
      </p:cxnSp>
      <p:cxnSp>
        <p:nvCxnSpPr>
          <p:cNvPr id="28" name="直線矢印コネクタ 27">
            <a:extLst>
              <a:ext uri="{FF2B5EF4-FFF2-40B4-BE49-F238E27FC236}">
                <a16:creationId xmlns:a16="http://schemas.microsoft.com/office/drawing/2014/main" id="{B1C9A60F-2243-A988-CF3F-4FAF4189D76F}"/>
              </a:ext>
            </a:extLst>
          </p:cNvPr>
          <p:cNvCxnSpPr>
            <a:cxnSpLocks/>
          </p:cNvCxnSpPr>
          <p:nvPr/>
        </p:nvCxnSpPr>
        <p:spPr bwMode="auto">
          <a:xfrm>
            <a:off x="701957" y="1628980"/>
            <a:ext cx="2250025" cy="0"/>
          </a:xfrm>
          <a:prstGeom prst="straightConnector1">
            <a:avLst/>
          </a:prstGeom>
          <a:noFill/>
          <a:ln w="9525" cap="flat" cmpd="sng" algn="ctr">
            <a:solidFill>
              <a:schemeClr val="tx1">
                <a:lumMod val="75000"/>
                <a:lumOff val="25000"/>
              </a:schemeClr>
            </a:solidFill>
            <a:prstDash val="solid"/>
            <a:round/>
            <a:headEnd type="triangle" w="med" len="med"/>
            <a:tailEnd type="triangle"/>
          </a:ln>
          <a:effectLst/>
        </p:spPr>
      </p:cxnSp>
      <p:sp>
        <p:nvSpPr>
          <p:cNvPr id="29" name="正方形/長方形 28">
            <a:extLst>
              <a:ext uri="{FF2B5EF4-FFF2-40B4-BE49-F238E27FC236}">
                <a16:creationId xmlns:a16="http://schemas.microsoft.com/office/drawing/2014/main" id="{C29A97F9-4418-F49A-F8B8-AEA988553BCC}"/>
              </a:ext>
            </a:extLst>
          </p:cNvPr>
          <p:cNvSpPr/>
          <p:nvPr/>
        </p:nvSpPr>
        <p:spPr>
          <a:xfrm>
            <a:off x="1601967" y="1088973"/>
            <a:ext cx="540005" cy="450005"/>
          </a:xfrm>
          <a:prstGeom prst="rect">
            <a:avLst/>
          </a:prstGeom>
        </p:spPr>
        <p:txBody>
          <a:bodyPr wrap="none">
            <a:noAutofit/>
          </a:bodyPr>
          <a:lstStyle/>
          <a:p>
            <a:pPr algn="ctr"/>
            <a:r>
              <a:rPr lang="en-US" altLang="ja-JP" dirty="0">
                <a:solidFill>
                  <a:schemeClr val="tx1">
                    <a:lumMod val="65000"/>
                    <a:lumOff val="35000"/>
                  </a:schemeClr>
                </a:solidFill>
              </a:rPr>
              <a:t>5 cycle</a:t>
            </a:r>
            <a:endParaRPr lang="ja-JP" altLang="en-US" dirty="0">
              <a:solidFill>
                <a:schemeClr val="tx1">
                  <a:lumMod val="65000"/>
                  <a:lumOff val="35000"/>
                </a:schemeClr>
              </a:solidFill>
            </a:endParaRPr>
          </a:p>
        </p:txBody>
      </p:sp>
      <p:sp>
        <p:nvSpPr>
          <p:cNvPr id="30" name="正方形/長方形 29">
            <a:extLst>
              <a:ext uri="{FF2B5EF4-FFF2-40B4-BE49-F238E27FC236}">
                <a16:creationId xmlns:a16="http://schemas.microsoft.com/office/drawing/2014/main" id="{0A43CA62-8DC3-657D-527C-1AA42E98A139}"/>
              </a:ext>
            </a:extLst>
          </p:cNvPr>
          <p:cNvSpPr/>
          <p:nvPr/>
        </p:nvSpPr>
        <p:spPr>
          <a:xfrm>
            <a:off x="6282019" y="1178975"/>
            <a:ext cx="540005" cy="360004"/>
          </a:xfrm>
          <a:prstGeom prst="rect">
            <a:avLst/>
          </a:prstGeom>
        </p:spPr>
        <p:txBody>
          <a:bodyPr wrap="none">
            <a:noAutofit/>
          </a:bodyPr>
          <a:lstStyle/>
          <a:p>
            <a:pPr algn="ctr"/>
            <a:r>
              <a:rPr lang="en-US" altLang="ja-JP" dirty="0">
                <a:solidFill>
                  <a:schemeClr val="tx1">
                    <a:lumMod val="65000"/>
                    <a:lumOff val="35000"/>
                  </a:schemeClr>
                </a:solidFill>
              </a:rPr>
              <a:t>5+999,999 cycle</a:t>
            </a:r>
            <a:endParaRPr lang="ja-JP" altLang="en-US" dirty="0">
              <a:solidFill>
                <a:schemeClr val="tx1">
                  <a:lumMod val="65000"/>
                  <a:lumOff val="35000"/>
                </a:schemeClr>
              </a:solidFill>
            </a:endParaRPr>
          </a:p>
        </p:txBody>
      </p:sp>
      <p:sp>
        <p:nvSpPr>
          <p:cNvPr id="31" name="正方形/長方形 30">
            <a:extLst>
              <a:ext uri="{FF2B5EF4-FFF2-40B4-BE49-F238E27FC236}">
                <a16:creationId xmlns:a16="http://schemas.microsoft.com/office/drawing/2014/main" id="{EB247995-759E-B5E2-0124-4EF4EB26DDBA}"/>
              </a:ext>
            </a:extLst>
          </p:cNvPr>
          <p:cNvSpPr/>
          <p:nvPr/>
        </p:nvSpPr>
        <p:spPr>
          <a:xfrm rot="16200000">
            <a:off x="4121995" y="3158996"/>
            <a:ext cx="540005" cy="360004"/>
          </a:xfrm>
          <a:prstGeom prst="rect">
            <a:avLst/>
          </a:prstGeom>
        </p:spPr>
        <p:txBody>
          <a:bodyPr wrap="none">
            <a:noAutofit/>
          </a:bodyPr>
          <a:lstStyle/>
          <a:p>
            <a:pPr algn="ctr"/>
            <a:r>
              <a:rPr lang="en-US" altLang="ja-JP" dirty="0">
                <a:solidFill>
                  <a:schemeClr val="tx1">
                    <a:lumMod val="65000"/>
                    <a:lumOff val="35000"/>
                  </a:schemeClr>
                </a:solidFill>
              </a:rPr>
              <a:t>1,000,000 </a:t>
            </a:r>
            <a:r>
              <a:rPr lang="ja-JP" altLang="en-US" dirty="0">
                <a:solidFill>
                  <a:schemeClr val="tx1">
                    <a:lumMod val="65000"/>
                    <a:lumOff val="35000"/>
                  </a:schemeClr>
                </a:solidFill>
              </a:rPr>
              <a:t>命令</a:t>
            </a:r>
          </a:p>
        </p:txBody>
      </p:sp>
      <p:cxnSp>
        <p:nvCxnSpPr>
          <p:cNvPr id="32" name="直線矢印コネクタ 31">
            <a:extLst>
              <a:ext uri="{FF2B5EF4-FFF2-40B4-BE49-F238E27FC236}">
                <a16:creationId xmlns:a16="http://schemas.microsoft.com/office/drawing/2014/main" id="{14BF5223-F353-66D9-AC0A-CB5B3F45C527}"/>
              </a:ext>
            </a:extLst>
          </p:cNvPr>
          <p:cNvCxnSpPr>
            <a:cxnSpLocks/>
          </p:cNvCxnSpPr>
          <p:nvPr/>
        </p:nvCxnSpPr>
        <p:spPr bwMode="auto">
          <a:xfrm>
            <a:off x="2951982" y="1628980"/>
            <a:ext cx="900010" cy="0"/>
          </a:xfrm>
          <a:prstGeom prst="straightConnector1">
            <a:avLst/>
          </a:prstGeom>
          <a:noFill/>
          <a:ln w="9525" cap="flat" cmpd="sng" algn="ctr">
            <a:solidFill>
              <a:schemeClr val="tx1">
                <a:lumMod val="75000"/>
                <a:lumOff val="25000"/>
              </a:schemeClr>
            </a:solidFill>
            <a:prstDash val="solid"/>
            <a:round/>
            <a:headEnd type="triangle" w="med" len="med"/>
            <a:tailEnd type="triangle"/>
          </a:ln>
          <a:effectLst/>
        </p:spPr>
      </p:cxnSp>
      <p:sp>
        <p:nvSpPr>
          <p:cNvPr id="34" name="正方形/長方形 33">
            <a:extLst>
              <a:ext uri="{FF2B5EF4-FFF2-40B4-BE49-F238E27FC236}">
                <a16:creationId xmlns:a16="http://schemas.microsoft.com/office/drawing/2014/main" id="{500F67A2-728F-B2E7-D309-BF98BCA7D1BD}"/>
              </a:ext>
            </a:extLst>
          </p:cNvPr>
          <p:cNvSpPr/>
          <p:nvPr/>
        </p:nvSpPr>
        <p:spPr>
          <a:xfrm>
            <a:off x="3131984" y="1088974"/>
            <a:ext cx="540005" cy="450005"/>
          </a:xfrm>
          <a:prstGeom prst="rect">
            <a:avLst/>
          </a:prstGeom>
        </p:spPr>
        <p:txBody>
          <a:bodyPr wrap="none">
            <a:noAutofit/>
          </a:bodyPr>
          <a:lstStyle/>
          <a:p>
            <a:pPr algn="ctr"/>
            <a:r>
              <a:rPr lang="en-US" altLang="ja-JP" dirty="0">
                <a:solidFill>
                  <a:schemeClr val="tx1">
                    <a:lumMod val="65000"/>
                    <a:lumOff val="35000"/>
                  </a:schemeClr>
                </a:solidFill>
              </a:rPr>
              <a:t>2 cycle</a:t>
            </a:r>
            <a:endParaRPr lang="ja-JP" altLang="en-US" dirty="0">
              <a:solidFill>
                <a:schemeClr val="tx1">
                  <a:lumMod val="65000"/>
                  <a:lumOff val="35000"/>
                </a:schemeClr>
              </a:solidFill>
            </a:endParaRPr>
          </a:p>
        </p:txBody>
      </p:sp>
    </p:spTree>
    <p:extLst>
      <p:ext uri="{BB962C8B-B14F-4D97-AF65-F5344CB8AC3E}">
        <p14:creationId xmlns:p14="http://schemas.microsoft.com/office/powerpoint/2010/main" val="222535009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「十分に多く」の命令を実行した場合の性能</a:t>
            </a:r>
          </a:p>
        </p:txBody>
      </p:sp>
      <p:sp>
        <p:nvSpPr>
          <p:cNvPr id="129" name="コンテンツ プレースホルダー 34">
            <a:extLst>
              <a:ext uri="{FF2B5EF4-FFF2-40B4-BE49-F238E27FC236}">
                <a16:creationId xmlns:a16="http://schemas.microsoft.com/office/drawing/2014/main" id="{3A18A38F-0614-2DB0-E41C-5B0A06C2A320}"/>
              </a:ext>
            </a:extLst>
          </p:cNvPr>
          <p:cNvSpPr>
            <a:spLocks noGrp="1"/>
          </p:cNvSpPr>
          <p:nvPr>
            <p:ph sz="quarter" idx="10"/>
          </p:nvPr>
        </p:nvSpPr>
        <p:spPr>
          <a:xfrm>
            <a:off x="431954" y="5499023"/>
            <a:ext cx="8280860" cy="809625"/>
          </a:xfrm>
        </p:spPr>
        <p:txBody>
          <a:bodyPr/>
          <a:lstStyle/>
          <a:p>
            <a:pPr lvl="1"/>
            <a:r>
              <a:rPr lang="en-US" altLang="ja-JP" dirty="0">
                <a:solidFill>
                  <a:schemeClr val="tx1">
                    <a:lumMod val="65000"/>
                    <a:lumOff val="35000"/>
                  </a:schemeClr>
                </a:solidFill>
              </a:rPr>
              <a:t>IPC</a:t>
            </a:r>
            <a:r>
              <a:rPr lang="ja-JP" altLang="en-US" dirty="0">
                <a:solidFill>
                  <a:schemeClr val="tx1">
                    <a:lumMod val="65000"/>
                    <a:lumOff val="35000"/>
                  </a:schemeClr>
                </a:solidFill>
              </a:rPr>
              <a:t>≈</a:t>
            </a:r>
            <a:r>
              <a:rPr lang="en-US" altLang="ja-JP" dirty="0">
                <a:solidFill>
                  <a:schemeClr val="tx1">
                    <a:lumMod val="65000"/>
                    <a:lumOff val="35000"/>
                  </a:schemeClr>
                </a:solidFill>
              </a:rPr>
              <a:t>1</a:t>
            </a:r>
            <a:r>
              <a:rPr lang="ja-JP" altLang="en-US" dirty="0">
                <a:solidFill>
                  <a:schemeClr val="tx1">
                    <a:lumMod val="65000"/>
                    <a:lumOff val="35000"/>
                  </a:schemeClr>
                </a:solidFill>
              </a:rPr>
              <a:t>命令</a:t>
            </a:r>
            <a:r>
              <a:rPr lang="en-US" altLang="ja-JP" dirty="0">
                <a:solidFill>
                  <a:schemeClr val="tx1">
                    <a:lumMod val="65000"/>
                    <a:lumOff val="35000"/>
                  </a:schemeClr>
                </a:solidFill>
              </a:rPr>
              <a:t> / 1</a:t>
            </a:r>
            <a:r>
              <a:rPr lang="ja-JP" altLang="en-US" dirty="0">
                <a:solidFill>
                  <a:schemeClr val="tx1">
                    <a:lumMod val="65000"/>
                    <a:lumOff val="35000"/>
                  </a:schemeClr>
                </a:solidFill>
              </a:rPr>
              <a:t>サイクル</a:t>
            </a:r>
            <a:r>
              <a:rPr lang="en-US" altLang="ja-JP" dirty="0">
                <a:solidFill>
                  <a:schemeClr val="tx1">
                    <a:lumMod val="65000"/>
                    <a:lumOff val="35000"/>
                  </a:schemeClr>
                </a:solidFill>
              </a:rPr>
              <a:t> = </a:t>
            </a:r>
            <a:r>
              <a:rPr lang="en-US" altLang="ja-JP" dirty="0">
                <a:solidFill>
                  <a:schemeClr val="accent5"/>
                </a:solidFill>
              </a:rPr>
              <a:t>1</a:t>
            </a:r>
          </a:p>
          <a:p>
            <a:pPr lvl="1"/>
            <a:r>
              <a:rPr lang="ja-JP" altLang="en-US" dirty="0">
                <a:solidFill>
                  <a:schemeClr val="tx1">
                    <a:lumMod val="75000"/>
                    <a:lumOff val="25000"/>
                  </a:schemeClr>
                </a:solidFill>
              </a:rPr>
              <a:t>周波数</a:t>
            </a:r>
            <a:r>
              <a:rPr lang="en-US" altLang="ja-JP" dirty="0">
                <a:solidFill>
                  <a:schemeClr val="tx1">
                    <a:lumMod val="65000"/>
                    <a:lumOff val="35000"/>
                  </a:schemeClr>
                </a:solidFill>
              </a:rPr>
              <a:t> = 1</a:t>
            </a:r>
            <a:r>
              <a:rPr lang="ja-JP" altLang="en-US" dirty="0">
                <a:solidFill>
                  <a:schemeClr val="tx1">
                    <a:lumMod val="65000"/>
                    <a:lumOff val="35000"/>
                  </a:schemeClr>
                </a:solidFill>
              </a:rPr>
              <a:t>秒</a:t>
            </a:r>
            <a:r>
              <a:rPr lang="en-US" altLang="ja-JP" dirty="0">
                <a:solidFill>
                  <a:schemeClr val="tx1">
                    <a:lumMod val="65000"/>
                    <a:lumOff val="35000"/>
                  </a:schemeClr>
                </a:solidFill>
              </a:rPr>
              <a:t> / 1ns = </a:t>
            </a:r>
            <a:r>
              <a:rPr lang="en-US" altLang="ja-JP" dirty="0">
                <a:solidFill>
                  <a:schemeClr val="accent5"/>
                </a:solidFill>
              </a:rPr>
              <a:t>1000 MHz = 1GHz</a:t>
            </a:r>
          </a:p>
          <a:p>
            <a:pPr lvl="1"/>
            <a:r>
              <a:rPr lang="ja-JP" altLang="en-US" dirty="0">
                <a:solidFill>
                  <a:schemeClr val="tx1">
                    <a:lumMod val="75000"/>
                    <a:lumOff val="25000"/>
                  </a:schemeClr>
                </a:solidFill>
              </a:rPr>
              <a:t>性能（</a:t>
            </a:r>
            <a:r>
              <a:rPr lang="en-US" altLang="ja-JP" dirty="0">
                <a:solidFill>
                  <a:schemeClr val="tx1">
                    <a:lumMod val="75000"/>
                    <a:lumOff val="25000"/>
                  </a:schemeClr>
                </a:solidFill>
              </a:rPr>
              <a:t>1</a:t>
            </a:r>
            <a:r>
              <a:rPr lang="ja-JP" altLang="en-US" dirty="0">
                <a:solidFill>
                  <a:schemeClr val="tx1">
                    <a:lumMod val="75000"/>
                    <a:lumOff val="25000"/>
                  </a:schemeClr>
                </a:solidFill>
              </a:rPr>
              <a:t>秒あたりの命令数）</a:t>
            </a:r>
            <a:r>
              <a:rPr lang="en-US" altLang="ja-JP" dirty="0">
                <a:solidFill>
                  <a:schemeClr val="tx1">
                    <a:lumMod val="75000"/>
                    <a:lumOff val="25000"/>
                  </a:schemeClr>
                </a:solidFill>
              </a:rPr>
              <a:t>=</a:t>
            </a:r>
            <a:r>
              <a:rPr lang="ja-JP" altLang="en-US" dirty="0">
                <a:solidFill>
                  <a:schemeClr val="accent5"/>
                </a:solidFill>
              </a:rPr>
              <a:t> </a:t>
            </a:r>
            <a:r>
              <a:rPr lang="en-US" altLang="ja-JP" dirty="0">
                <a:solidFill>
                  <a:schemeClr val="tx1">
                    <a:lumMod val="75000"/>
                    <a:lumOff val="25000"/>
                  </a:schemeClr>
                </a:solidFill>
              </a:rPr>
              <a:t>IPC*</a:t>
            </a:r>
            <a:r>
              <a:rPr lang="ja-JP" altLang="en-US" dirty="0">
                <a:solidFill>
                  <a:schemeClr val="tx1">
                    <a:lumMod val="75000"/>
                    <a:lumOff val="25000"/>
                  </a:schemeClr>
                </a:solidFill>
              </a:rPr>
              <a:t>周波数</a:t>
            </a:r>
            <a:r>
              <a:rPr lang="ja-JP" altLang="en-US" dirty="0">
                <a:solidFill>
                  <a:schemeClr val="accent5"/>
                </a:solidFill>
              </a:rPr>
              <a:t> </a:t>
            </a:r>
            <a:r>
              <a:rPr lang="en-US" altLang="ja-JP" dirty="0">
                <a:solidFill>
                  <a:schemeClr val="accent5"/>
                </a:solidFill>
              </a:rPr>
              <a:t>= </a:t>
            </a:r>
            <a:r>
              <a:rPr lang="ja-JP" altLang="en-US" dirty="0">
                <a:solidFill>
                  <a:schemeClr val="accent5"/>
                </a:solidFill>
              </a:rPr>
              <a:t>秒間 </a:t>
            </a:r>
            <a:r>
              <a:rPr lang="en-US" altLang="ja-JP" dirty="0">
                <a:solidFill>
                  <a:schemeClr val="accent5"/>
                </a:solidFill>
              </a:rPr>
              <a:t>1G </a:t>
            </a:r>
            <a:r>
              <a:rPr lang="ja-JP" altLang="en-US" dirty="0">
                <a:solidFill>
                  <a:schemeClr val="accent5"/>
                </a:solidFill>
              </a:rPr>
              <a:t>命令</a:t>
            </a:r>
            <a:endParaRPr lang="en-US" altLang="ja-JP" dirty="0"/>
          </a:p>
        </p:txBody>
      </p:sp>
      <p:sp>
        <p:nvSpPr>
          <p:cNvPr id="3" name="平行四辺形 2">
            <a:extLst>
              <a:ext uri="{FF2B5EF4-FFF2-40B4-BE49-F238E27FC236}">
                <a16:creationId xmlns:a16="http://schemas.microsoft.com/office/drawing/2014/main" id="{51F2A056-AEF9-BFDD-E80A-1D877C2AE31C}"/>
              </a:ext>
            </a:extLst>
          </p:cNvPr>
          <p:cNvSpPr/>
          <p:nvPr/>
        </p:nvSpPr>
        <p:spPr bwMode="auto">
          <a:xfrm flipH="1">
            <a:off x="5202007" y="1538979"/>
            <a:ext cx="3600040" cy="3600040"/>
          </a:xfrm>
          <a:prstGeom prst="parallelogram">
            <a:avLst>
              <a:gd name="adj" fmla="val 98821"/>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4" name="直線矢印コネクタ 3">
            <a:extLst>
              <a:ext uri="{FF2B5EF4-FFF2-40B4-BE49-F238E27FC236}">
                <a16:creationId xmlns:a16="http://schemas.microsoft.com/office/drawing/2014/main" id="{932B1EA0-6D29-11A5-0285-71D18AA08611}"/>
              </a:ext>
            </a:extLst>
          </p:cNvPr>
          <p:cNvCxnSpPr>
            <a:cxnSpLocks/>
          </p:cNvCxnSpPr>
          <p:nvPr/>
        </p:nvCxnSpPr>
        <p:spPr bwMode="auto">
          <a:xfrm>
            <a:off x="5202007" y="1448977"/>
            <a:ext cx="3600040" cy="0"/>
          </a:xfrm>
          <a:prstGeom prst="straightConnector1">
            <a:avLst/>
          </a:prstGeom>
          <a:noFill/>
          <a:ln w="9525" cap="flat" cmpd="sng" algn="ctr">
            <a:solidFill>
              <a:schemeClr val="tx1">
                <a:lumMod val="75000"/>
                <a:lumOff val="25000"/>
              </a:schemeClr>
            </a:solidFill>
            <a:prstDash val="solid"/>
            <a:round/>
            <a:headEnd type="triangle" w="med" len="med"/>
            <a:tailEnd type="triangle"/>
          </a:ln>
          <a:effectLst/>
        </p:spPr>
      </p:cxnSp>
      <p:cxnSp>
        <p:nvCxnSpPr>
          <p:cNvPr id="5" name="直線矢印コネクタ 4">
            <a:extLst>
              <a:ext uri="{FF2B5EF4-FFF2-40B4-BE49-F238E27FC236}">
                <a16:creationId xmlns:a16="http://schemas.microsoft.com/office/drawing/2014/main" id="{D074F71C-1A32-CAC6-F6BA-7D410794006A}"/>
              </a:ext>
            </a:extLst>
          </p:cNvPr>
          <p:cNvCxnSpPr>
            <a:cxnSpLocks/>
          </p:cNvCxnSpPr>
          <p:nvPr/>
        </p:nvCxnSpPr>
        <p:spPr bwMode="auto">
          <a:xfrm>
            <a:off x="5112006" y="1538978"/>
            <a:ext cx="0" cy="3600040"/>
          </a:xfrm>
          <a:prstGeom prst="straightConnector1">
            <a:avLst/>
          </a:prstGeom>
          <a:noFill/>
          <a:ln w="9525" cap="flat" cmpd="sng" algn="ctr">
            <a:solidFill>
              <a:schemeClr val="tx1">
                <a:lumMod val="75000"/>
                <a:lumOff val="25000"/>
              </a:schemeClr>
            </a:solidFill>
            <a:prstDash val="solid"/>
            <a:round/>
            <a:headEnd type="triangle" w="med" len="med"/>
            <a:tailEnd type="triangle"/>
          </a:ln>
          <a:effectLst/>
        </p:spPr>
      </p:cxnSp>
      <p:sp>
        <p:nvSpPr>
          <p:cNvPr id="7" name="正方形/長方形 6">
            <a:extLst>
              <a:ext uri="{FF2B5EF4-FFF2-40B4-BE49-F238E27FC236}">
                <a16:creationId xmlns:a16="http://schemas.microsoft.com/office/drawing/2014/main" id="{9ACEFC03-AB90-2263-C451-AB721D7A31C6}"/>
              </a:ext>
            </a:extLst>
          </p:cNvPr>
          <p:cNvSpPr/>
          <p:nvPr/>
        </p:nvSpPr>
        <p:spPr>
          <a:xfrm>
            <a:off x="6822025" y="998972"/>
            <a:ext cx="540005" cy="360004"/>
          </a:xfrm>
          <a:prstGeom prst="rect">
            <a:avLst/>
          </a:prstGeom>
        </p:spPr>
        <p:txBody>
          <a:bodyPr wrap="none">
            <a:noAutofit/>
          </a:bodyPr>
          <a:lstStyle/>
          <a:p>
            <a:pPr algn="ctr"/>
            <a:r>
              <a:rPr lang="en-US" altLang="ja-JP" dirty="0">
                <a:solidFill>
                  <a:schemeClr val="tx1">
                    <a:lumMod val="65000"/>
                    <a:lumOff val="35000"/>
                  </a:schemeClr>
                </a:solidFill>
              </a:rPr>
              <a:t>5+999,999 cycle</a:t>
            </a:r>
            <a:endParaRPr lang="ja-JP" altLang="en-US" dirty="0">
              <a:solidFill>
                <a:schemeClr val="tx1">
                  <a:lumMod val="65000"/>
                  <a:lumOff val="35000"/>
                </a:schemeClr>
              </a:solidFill>
            </a:endParaRPr>
          </a:p>
        </p:txBody>
      </p:sp>
      <p:sp>
        <p:nvSpPr>
          <p:cNvPr id="8" name="正方形/長方形 7">
            <a:extLst>
              <a:ext uri="{FF2B5EF4-FFF2-40B4-BE49-F238E27FC236}">
                <a16:creationId xmlns:a16="http://schemas.microsoft.com/office/drawing/2014/main" id="{CAB52952-7588-9ACA-EDE0-590CD30928FE}"/>
              </a:ext>
            </a:extLst>
          </p:cNvPr>
          <p:cNvSpPr/>
          <p:nvPr/>
        </p:nvSpPr>
        <p:spPr>
          <a:xfrm rot="16200000">
            <a:off x="4662001" y="2978993"/>
            <a:ext cx="540005" cy="360004"/>
          </a:xfrm>
          <a:prstGeom prst="rect">
            <a:avLst/>
          </a:prstGeom>
        </p:spPr>
        <p:txBody>
          <a:bodyPr wrap="none">
            <a:noAutofit/>
          </a:bodyPr>
          <a:lstStyle/>
          <a:p>
            <a:pPr algn="ctr"/>
            <a:r>
              <a:rPr lang="en-US" altLang="ja-JP" dirty="0">
                <a:solidFill>
                  <a:schemeClr val="tx1">
                    <a:lumMod val="65000"/>
                    <a:lumOff val="35000"/>
                  </a:schemeClr>
                </a:solidFill>
              </a:rPr>
              <a:t>1,000,000 </a:t>
            </a:r>
            <a:r>
              <a:rPr lang="ja-JP" altLang="en-US" dirty="0">
                <a:solidFill>
                  <a:schemeClr val="tx1">
                    <a:lumMod val="65000"/>
                    <a:lumOff val="35000"/>
                  </a:schemeClr>
                </a:solidFill>
              </a:rPr>
              <a:t>命令</a:t>
            </a:r>
          </a:p>
        </p:txBody>
      </p:sp>
      <p:cxnSp>
        <p:nvCxnSpPr>
          <p:cNvPr id="55" name="直線矢印コネクタ 54">
            <a:extLst>
              <a:ext uri="{FF2B5EF4-FFF2-40B4-BE49-F238E27FC236}">
                <a16:creationId xmlns:a16="http://schemas.microsoft.com/office/drawing/2014/main" id="{6D77AB78-7BC7-CBD4-F18B-9D907526FC71}"/>
              </a:ext>
            </a:extLst>
          </p:cNvPr>
          <p:cNvCxnSpPr>
            <a:cxnSpLocks/>
          </p:cNvCxnSpPr>
          <p:nvPr/>
        </p:nvCxnSpPr>
        <p:spPr bwMode="auto">
          <a:xfrm>
            <a:off x="971961" y="1898983"/>
            <a:ext cx="450005" cy="0"/>
          </a:xfrm>
          <a:prstGeom prst="straightConnector1">
            <a:avLst/>
          </a:prstGeom>
          <a:noFill/>
          <a:ln w="9525" cap="flat" cmpd="sng" algn="ctr">
            <a:solidFill>
              <a:schemeClr val="tx1">
                <a:lumMod val="75000"/>
                <a:lumOff val="25000"/>
              </a:schemeClr>
            </a:solidFill>
            <a:prstDash val="solid"/>
            <a:round/>
            <a:headEnd type="triangle" w="med" len="med"/>
            <a:tailEnd type="triangle"/>
          </a:ln>
          <a:effectLst/>
        </p:spPr>
      </p:cxnSp>
      <p:sp>
        <p:nvSpPr>
          <p:cNvPr id="56" name="正方形/長方形 55">
            <a:extLst>
              <a:ext uri="{FF2B5EF4-FFF2-40B4-BE49-F238E27FC236}">
                <a16:creationId xmlns:a16="http://schemas.microsoft.com/office/drawing/2014/main" id="{33FE95D5-3BFB-1523-49BC-25556741C4DA}"/>
              </a:ext>
            </a:extLst>
          </p:cNvPr>
          <p:cNvSpPr/>
          <p:nvPr/>
        </p:nvSpPr>
        <p:spPr>
          <a:xfrm>
            <a:off x="881960" y="1178975"/>
            <a:ext cx="540005" cy="540006"/>
          </a:xfrm>
          <a:prstGeom prst="rect">
            <a:avLst/>
          </a:prstGeom>
        </p:spPr>
        <p:txBody>
          <a:bodyPr wrap="none">
            <a:noAutofit/>
          </a:bodyPr>
          <a:lstStyle/>
          <a:p>
            <a:pPr algn="ctr"/>
            <a:r>
              <a:rPr lang="en-US" altLang="ja-JP" dirty="0">
                <a:solidFill>
                  <a:schemeClr val="tx1">
                    <a:lumMod val="65000"/>
                    <a:lumOff val="35000"/>
                  </a:schemeClr>
                </a:solidFill>
              </a:rPr>
              <a:t>1 ns</a:t>
            </a:r>
          </a:p>
          <a:p>
            <a:pPr algn="ctr"/>
            <a:r>
              <a:rPr lang="en-US" altLang="ja-JP" dirty="0">
                <a:solidFill>
                  <a:schemeClr val="tx1">
                    <a:lumMod val="65000"/>
                    <a:lumOff val="35000"/>
                  </a:schemeClr>
                </a:solidFill>
              </a:rPr>
              <a:t>1 cycle</a:t>
            </a:r>
            <a:endParaRPr lang="ja-JP" altLang="en-US" dirty="0">
              <a:solidFill>
                <a:schemeClr val="tx1">
                  <a:lumMod val="65000"/>
                  <a:lumOff val="35000"/>
                </a:schemeClr>
              </a:solidFill>
            </a:endParaRPr>
          </a:p>
        </p:txBody>
      </p:sp>
      <p:sp>
        <p:nvSpPr>
          <p:cNvPr id="57" name="正方形/長方形 56">
            <a:extLst>
              <a:ext uri="{FF2B5EF4-FFF2-40B4-BE49-F238E27FC236}">
                <a16:creationId xmlns:a16="http://schemas.microsoft.com/office/drawing/2014/main" id="{77A73637-76DF-7872-938B-0C23A46DF8AE}"/>
              </a:ext>
            </a:extLst>
          </p:cNvPr>
          <p:cNvSpPr/>
          <p:nvPr/>
        </p:nvSpPr>
        <p:spPr>
          <a:xfrm>
            <a:off x="341954" y="1988984"/>
            <a:ext cx="450005" cy="369332"/>
          </a:xfrm>
          <a:prstGeom prst="rect">
            <a:avLst/>
          </a:prstGeom>
        </p:spPr>
        <p:txBody>
          <a:bodyPr wrap="square">
            <a:spAutoFit/>
          </a:bodyPr>
          <a:lstStyle/>
          <a:p>
            <a:pPr algn="ctr"/>
            <a:r>
              <a:rPr lang="en-US" altLang="ja-JP" dirty="0">
                <a:solidFill>
                  <a:schemeClr val="tx1">
                    <a:lumMod val="65000"/>
                    <a:lumOff val="35000"/>
                  </a:schemeClr>
                </a:solidFill>
                <a:latin typeface="Consolas" panose="020B0609020204030204" pitchFamily="49" charset="0"/>
              </a:rPr>
              <a:t>I0</a:t>
            </a:r>
            <a:endParaRPr lang="ja-JP" altLang="en-US" dirty="0">
              <a:solidFill>
                <a:schemeClr val="tx1">
                  <a:lumMod val="65000"/>
                  <a:lumOff val="35000"/>
                </a:schemeClr>
              </a:solidFill>
              <a:latin typeface="Consolas" panose="020B0609020204030204" pitchFamily="49" charset="0"/>
            </a:endParaRPr>
          </a:p>
        </p:txBody>
      </p:sp>
      <p:sp>
        <p:nvSpPr>
          <p:cNvPr id="58" name="正方形/長方形 57">
            <a:extLst>
              <a:ext uri="{FF2B5EF4-FFF2-40B4-BE49-F238E27FC236}">
                <a16:creationId xmlns:a16="http://schemas.microsoft.com/office/drawing/2014/main" id="{32957A3E-8661-C702-597C-530530728537}"/>
              </a:ext>
            </a:extLst>
          </p:cNvPr>
          <p:cNvSpPr/>
          <p:nvPr/>
        </p:nvSpPr>
        <p:spPr>
          <a:xfrm>
            <a:off x="341954" y="2438989"/>
            <a:ext cx="450005" cy="369332"/>
          </a:xfrm>
          <a:prstGeom prst="rect">
            <a:avLst/>
          </a:prstGeom>
        </p:spPr>
        <p:txBody>
          <a:bodyPr wrap="square">
            <a:spAutoFit/>
          </a:bodyPr>
          <a:lstStyle/>
          <a:p>
            <a:pPr algn="ctr"/>
            <a:r>
              <a:rPr lang="en-US" altLang="ja-JP" dirty="0">
                <a:solidFill>
                  <a:schemeClr val="tx1">
                    <a:lumMod val="65000"/>
                    <a:lumOff val="35000"/>
                  </a:schemeClr>
                </a:solidFill>
                <a:latin typeface="Consolas" panose="020B0609020204030204" pitchFamily="49" charset="0"/>
              </a:rPr>
              <a:t>I1</a:t>
            </a:r>
            <a:endParaRPr lang="ja-JP" altLang="en-US" dirty="0">
              <a:solidFill>
                <a:schemeClr val="tx1">
                  <a:lumMod val="65000"/>
                  <a:lumOff val="35000"/>
                </a:schemeClr>
              </a:solidFill>
              <a:latin typeface="Consolas" panose="020B0609020204030204" pitchFamily="49" charset="0"/>
            </a:endParaRPr>
          </a:p>
        </p:txBody>
      </p:sp>
      <p:sp>
        <p:nvSpPr>
          <p:cNvPr id="59" name="正方形/長方形 58">
            <a:extLst>
              <a:ext uri="{FF2B5EF4-FFF2-40B4-BE49-F238E27FC236}">
                <a16:creationId xmlns:a16="http://schemas.microsoft.com/office/drawing/2014/main" id="{81DB0530-021F-858A-B3EF-742405885C04}"/>
              </a:ext>
            </a:extLst>
          </p:cNvPr>
          <p:cNvSpPr/>
          <p:nvPr/>
        </p:nvSpPr>
        <p:spPr>
          <a:xfrm>
            <a:off x="341954" y="2888994"/>
            <a:ext cx="450005" cy="369332"/>
          </a:xfrm>
          <a:prstGeom prst="rect">
            <a:avLst/>
          </a:prstGeom>
        </p:spPr>
        <p:txBody>
          <a:bodyPr wrap="square">
            <a:spAutoFit/>
          </a:bodyPr>
          <a:lstStyle/>
          <a:p>
            <a:pPr algn="ctr"/>
            <a:r>
              <a:rPr lang="en-US" altLang="ja-JP" dirty="0">
                <a:solidFill>
                  <a:schemeClr val="tx1">
                    <a:lumMod val="65000"/>
                    <a:lumOff val="35000"/>
                  </a:schemeClr>
                </a:solidFill>
                <a:latin typeface="Consolas" panose="020B0609020204030204" pitchFamily="49" charset="0"/>
              </a:rPr>
              <a:t>I2</a:t>
            </a:r>
            <a:endParaRPr lang="ja-JP" altLang="en-US" dirty="0">
              <a:solidFill>
                <a:schemeClr val="tx1">
                  <a:lumMod val="65000"/>
                  <a:lumOff val="35000"/>
                </a:schemeClr>
              </a:solidFill>
              <a:latin typeface="Consolas" panose="020B0609020204030204" pitchFamily="49" charset="0"/>
            </a:endParaRPr>
          </a:p>
        </p:txBody>
      </p:sp>
      <p:sp>
        <p:nvSpPr>
          <p:cNvPr id="60" name="Rectangle 69">
            <a:extLst>
              <a:ext uri="{FF2B5EF4-FFF2-40B4-BE49-F238E27FC236}">
                <a16:creationId xmlns:a16="http://schemas.microsoft.com/office/drawing/2014/main" id="{87DC93EA-510F-2CED-3C49-ABA98D0CB62E}"/>
              </a:ext>
            </a:extLst>
          </p:cNvPr>
          <p:cNvSpPr>
            <a:spLocks noChangeArrowheads="1"/>
          </p:cNvSpPr>
          <p:nvPr/>
        </p:nvSpPr>
        <p:spPr bwMode="auto">
          <a:xfrm>
            <a:off x="971961" y="1988984"/>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61" name="Rectangle 70">
            <a:extLst>
              <a:ext uri="{FF2B5EF4-FFF2-40B4-BE49-F238E27FC236}">
                <a16:creationId xmlns:a16="http://schemas.microsoft.com/office/drawing/2014/main" id="{E2A5E54B-BBC7-0B25-B996-770AF7D777C1}"/>
              </a:ext>
            </a:extLst>
          </p:cNvPr>
          <p:cNvSpPr>
            <a:spLocks noChangeArrowheads="1"/>
          </p:cNvSpPr>
          <p:nvPr/>
        </p:nvSpPr>
        <p:spPr bwMode="auto">
          <a:xfrm>
            <a:off x="1421964" y="1988984"/>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D</a:t>
            </a:r>
          </a:p>
        </p:txBody>
      </p:sp>
      <p:sp>
        <p:nvSpPr>
          <p:cNvPr id="62" name="Rectangle 71">
            <a:extLst>
              <a:ext uri="{FF2B5EF4-FFF2-40B4-BE49-F238E27FC236}">
                <a16:creationId xmlns:a16="http://schemas.microsoft.com/office/drawing/2014/main" id="{E7243571-9A69-A4F8-37EB-6A83C0C08289}"/>
              </a:ext>
            </a:extLst>
          </p:cNvPr>
          <p:cNvSpPr>
            <a:spLocks noChangeArrowheads="1"/>
          </p:cNvSpPr>
          <p:nvPr/>
        </p:nvSpPr>
        <p:spPr bwMode="auto">
          <a:xfrm>
            <a:off x="1871970" y="1988984"/>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X</a:t>
            </a:r>
          </a:p>
        </p:txBody>
      </p:sp>
      <p:sp>
        <p:nvSpPr>
          <p:cNvPr id="63" name="Rectangle 72">
            <a:extLst>
              <a:ext uri="{FF2B5EF4-FFF2-40B4-BE49-F238E27FC236}">
                <a16:creationId xmlns:a16="http://schemas.microsoft.com/office/drawing/2014/main" id="{AEA01D9D-197B-B914-C0BA-9B727A10DEA3}"/>
              </a:ext>
            </a:extLst>
          </p:cNvPr>
          <p:cNvSpPr>
            <a:spLocks noChangeArrowheads="1"/>
          </p:cNvSpPr>
          <p:nvPr/>
        </p:nvSpPr>
        <p:spPr bwMode="auto">
          <a:xfrm>
            <a:off x="2321975" y="1988984"/>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M</a:t>
            </a:r>
          </a:p>
        </p:txBody>
      </p:sp>
      <p:sp>
        <p:nvSpPr>
          <p:cNvPr id="128" name="Rectangle 73">
            <a:extLst>
              <a:ext uri="{FF2B5EF4-FFF2-40B4-BE49-F238E27FC236}">
                <a16:creationId xmlns:a16="http://schemas.microsoft.com/office/drawing/2014/main" id="{17B20D46-4CEE-67DC-B6CC-20CB76AC10C6}"/>
              </a:ext>
            </a:extLst>
          </p:cNvPr>
          <p:cNvSpPr>
            <a:spLocks noChangeArrowheads="1"/>
          </p:cNvSpPr>
          <p:nvPr/>
        </p:nvSpPr>
        <p:spPr bwMode="auto">
          <a:xfrm>
            <a:off x="2771980" y="1988984"/>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W</a:t>
            </a:r>
          </a:p>
        </p:txBody>
      </p:sp>
      <p:sp>
        <p:nvSpPr>
          <p:cNvPr id="130" name="Rectangle 69">
            <a:extLst>
              <a:ext uri="{FF2B5EF4-FFF2-40B4-BE49-F238E27FC236}">
                <a16:creationId xmlns:a16="http://schemas.microsoft.com/office/drawing/2014/main" id="{C647FE3E-935D-F989-C66B-BFC091CAB2F6}"/>
              </a:ext>
            </a:extLst>
          </p:cNvPr>
          <p:cNvSpPr>
            <a:spLocks noChangeArrowheads="1"/>
          </p:cNvSpPr>
          <p:nvPr/>
        </p:nvSpPr>
        <p:spPr bwMode="auto">
          <a:xfrm>
            <a:off x="1421968" y="2438989"/>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131" name="Rectangle 70">
            <a:extLst>
              <a:ext uri="{FF2B5EF4-FFF2-40B4-BE49-F238E27FC236}">
                <a16:creationId xmlns:a16="http://schemas.microsoft.com/office/drawing/2014/main" id="{7DF1DC2B-874E-1278-DF63-B9E73CCC8F7D}"/>
              </a:ext>
            </a:extLst>
          </p:cNvPr>
          <p:cNvSpPr>
            <a:spLocks noChangeArrowheads="1"/>
          </p:cNvSpPr>
          <p:nvPr/>
        </p:nvSpPr>
        <p:spPr bwMode="auto">
          <a:xfrm>
            <a:off x="1871971" y="2438989"/>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D</a:t>
            </a:r>
          </a:p>
        </p:txBody>
      </p:sp>
      <p:sp>
        <p:nvSpPr>
          <p:cNvPr id="132" name="Rectangle 71">
            <a:extLst>
              <a:ext uri="{FF2B5EF4-FFF2-40B4-BE49-F238E27FC236}">
                <a16:creationId xmlns:a16="http://schemas.microsoft.com/office/drawing/2014/main" id="{FE3BA170-7C17-3A71-9AFE-7A6FBE450D19}"/>
              </a:ext>
            </a:extLst>
          </p:cNvPr>
          <p:cNvSpPr>
            <a:spLocks noChangeArrowheads="1"/>
          </p:cNvSpPr>
          <p:nvPr/>
        </p:nvSpPr>
        <p:spPr bwMode="auto">
          <a:xfrm>
            <a:off x="2321977" y="2438989"/>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X</a:t>
            </a:r>
          </a:p>
        </p:txBody>
      </p:sp>
      <p:sp>
        <p:nvSpPr>
          <p:cNvPr id="133" name="Rectangle 72">
            <a:extLst>
              <a:ext uri="{FF2B5EF4-FFF2-40B4-BE49-F238E27FC236}">
                <a16:creationId xmlns:a16="http://schemas.microsoft.com/office/drawing/2014/main" id="{877CBFD3-A24D-935E-BE93-3B9EC99B0A36}"/>
              </a:ext>
            </a:extLst>
          </p:cNvPr>
          <p:cNvSpPr>
            <a:spLocks noChangeArrowheads="1"/>
          </p:cNvSpPr>
          <p:nvPr/>
        </p:nvSpPr>
        <p:spPr bwMode="auto">
          <a:xfrm>
            <a:off x="2771982" y="2438989"/>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M</a:t>
            </a:r>
          </a:p>
        </p:txBody>
      </p:sp>
      <p:sp>
        <p:nvSpPr>
          <p:cNvPr id="134" name="Rectangle 73">
            <a:extLst>
              <a:ext uri="{FF2B5EF4-FFF2-40B4-BE49-F238E27FC236}">
                <a16:creationId xmlns:a16="http://schemas.microsoft.com/office/drawing/2014/main" id="{1CB131F6-C6F4-76CA-5E32-202EBE799FC7}"/>
              </a:ext>
            </a:extLst>
          </p:cNvPr>
          <p:cNvSpPr>
            <a:spLocks noChangeArrowheads="1"/>
          </p:cNvSpPr>
          <p:nvPr/>
        </p:nvSpPr>
        <p:spPr bwMode="auto">
          <a:xfrm>
            <a:off x="3221987" y="2438989"/>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W</a:t>
            </a:r>
          </a:p>
        </p:txBody>
      </p:sp>
      <p:sp>
        <p:nvSpPr>
          <p:cNvPr id="135" name="Rectangle 69">
            <a:extLst>
              <a:ext uri="{FF2B5EF4-FFF2-40B4-BE49-F238E27FC236}">
                <a16:creationId xmlns:a16="http://schemas.microsoft.com/office/drawing/2014/main" id="{B49B0883-7391-E92F-DFAA-AA40DA29736A}"/>
              </a:ext>
            </a:extLst>
          </p:cNvPr>
          <p:cNvSpPr>
            <a:spLocks noChangeArrowheads="1"/>
          </p:cNvSpPr>
          <p:nvPr/>
        </p:nvSpPr>
        <p:spPr bwMode="auto">
          <a:xfrm>
            <a:off x="1871972" y="2888994"/>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136" name="Rectangle 70">
            <a:extLst>
              <a:ext uri="{FF2B5EF4-FFF2-40B4-BE49-F238E27FC236}">
                <a16:creationId xmlns:a16="http://schemas.microsoft.com/office/drawing/2014/main" id="{2256CA1E-1814-A02B-5AFB-4FF3F7A8A388}"/>
              </a:ext>
            </a:extLst>
          </p:cNvPr>
          <p:cNvSpPr>
            <a:spLocks noChangeArrowheads="1"/>
          </p:cNvSpPr>
          <p:nvPr/>
        </p:nvSpPr>
        <p:spPr bwMode="auto">
          <a:xfrm>
            <a:off x="2321975" y="2888994"/>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D</a:t>
            </a:r>
          </a:p>
        </p:txBody>
      </p:sp>
      <p:sp>
        <p:nvSpPr>
          <p:cNvPr id="137" name="Rectangle 71">
            <a:extLst>
              <a:ext uri="{FF2B5EF4-FFF2-40B4-BE49-F238E27FC236}">
                <a16:creationId xmlns:a16="http://schemas.microsoft.com/office/drawing/2014/main" id="{0737A09B-604C-1CB0-42AF-C9BD503DA945}"/>
              </a:ext>
            </a:extLst>
          </p:cNvPr>
          <p:cNvSpPr>
            <a:spLocks noChangeArrowheads="1"/>
          </p:cNvSpPr>
          <p:nvPr/>
        </p:nvSpPr>
        <p:spPr bwMode="auto">
          <a:xfrm>
            <a:off x="2771981" y="2888994"/>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X</a:t>
            </a:r>
          </a:p>
        </p:txBody>
      </p:sp>
      <p:sp>
        <p:nvSpPr>
          <p:cNvPr id="138" name="Rectangle 72">
            <a:extLst>
              <a:ext uri="{FF2B5EF4-FFF2-40B4-BE49-F238E27FC236}">
                <a16:creationId xmlns:a16="http://schemas.microsoft.com/office/drawing/2014/main" id="{69E3EC64-2493-6031-9890-F9C7B54AF75D}"/>
              </a:ext>
            </a:extLst>
          </p:cNvPr>
          <p:cNvSpPr>
            <a:spLocks noChangeArrowheads="1"/>
          </p:cNvSpPr>
          <p:nvPr/>
        </p:nvSpPr>
        <p:spPr bwMode="auto">
          <a:xfrm>
            <a:off x="3221986" y="2888994"/>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M</a:t>
            </a:r>
          </a:p>
        </p:txBody>
      </p:sp>
      <p:sp>
        <p:nvSpPr>
          <p:cNvPr id="139" name="Rectangle 73">
            <a:extLst>
              <a:ext uri="{FF2B5EF4-FFF2-40B4-BE49-F238E27FC236}">
                <a16:creationId xmlns:a16="http://schemas.microsoft.com/office/drawing/2014/main" id="{2DD3B5A2-6C73-6F04-C526-B27BD1E3F253}"/>
              </a:ext>
            </a:extLst>
          </p:cNvPr>
          <p:cNvSpPr>
            <a:spLocks noChangeArrowheads="1"/>
          </p:cNvSpPr>
          <p:nvPr/>
        </p:nvSpPr>
        <p:spPr bwMode="auto">
          <a:xfrm>
            <a:off x="3671991" y="2888994"/>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W</a:t>
            </a:r>
          </a:p>
        </p:txBody>
      </p:sp>
    </p:spTree>
    <p:extLst>
      <p:ext uri="{BB962C8B-B14F-4D97-AF65-F5344CB8AC3E}">
        <p14:creationId xmlns:p14="http://schemas.microsoft.com/office/powerpoint/2010/main" val="216560030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パイプライン段数を倍にした場合の性能</a:t>
            </a:r>
            <a:endParaRPr kumimoji="1" lang="ja-JP" altLang="en-US" dirty="0"/>
          </a:p>
        </p:txBody>
      </p:sp>
      <p:sp>
        <p:nvSpPr>
          <p:cNvPr id="129" name="コンテンツ プレースホルダー 34">
            <a:extLst>
              <a:ext uri="{FF2B5EF4-FFF2-40B4-BE49-F238E27FC236}">
                <a16:creationId xmlns:a16="http://schemas.microsoft.com/office/drawing/2014/main" id="{3A18A38F-0614-2DB0-E41C-5B0A06C2A320}"/>
              </a:ext>
            </a:extLst>
          </p:cNvPr>
          <p:cNvSpPr>
            <a:spLocks noGrp="1"/>
          </p:cNvSpPr>
          <p:nvPr>
            <p:ph sz="quarter" idx="10"/>
          </p:nvPr>
        </p:nvSpPr>
        <p:spPr>
          <a:xfrm>
            <a:off x="521955" y="4869016"/>
            <a:ext cx="8280860" cy="809625"/>
          </a:xfrm>
        </p:spPr>
        <p:txBody>
          <a:bodyPr/>
          <a:lstStyle/>
          <a:p>
            <a:pPr lvl="1"/>
            <a:r>
              <a:rPr lang="ja-JP" altLang="en-US" dirty="0">
                <a:solidFill>
                  <a:schemeClr val="tx1">
                    <a:lumMod val="65000"/>
                    <a:lumOff val="35000"/>
                  </a:schemeClr>
                </a:solidFill>
              </a:rPr>
              <a:t>１ページ前までのパイプラインのステージを半分に分割して（</a:t>
            </a:r>
            <a:r>
              <a:rPr lang="en-US" altLang="ja-JP" dirty="0">
                <a:solidFill>
                  <a:schemeClr val="tx1">
                    <a:lumMod val="65000"/>
                    <a:lumOff val="35000"/>
                  </a:schemeClr>
                </a:solidFill>
              </a:rPr>
              <a:t>=</a:t>
            </a:r>
            <a:r>
              <a:rPr lang="ja-JP" altLang="en-US" dirty="0">
                <a:solidFill>
                  <a:schemeClr val="tx1">
                    <a:lumMod val="65000"/>
                    <a:lumOff val="35000"/>
                  </a:schemeClr>
                </a:solidFill>
              </a:rPr>
              <a:t>各ステージで実施する仕事を半分にして）倍速で動かしている</a:t>
            </a:r>
            <a:br>
              <a:rPr lang="en-US" altLang="ja-JP" dirty="0">
                <a:solidFill>
                  <a:schemeClr val="tx1">
                    <a:lumMod val="65000"/>
                    <a:lumOff val="35000"/>
                  </a:schemeClr>
                </a:solidFill>
              </a:rPr>
            </a:br>
            <a:endParaRPr lang="en-US" altLang="ja-JP" dirty="0">
              <a:solidFill>
                <a:schemeClr val="tx1">
                  <a:lumMod val="65000"/>
                  <a:lumOff val="35000"/>
                </a:schemeClr>
              </a:solidFill>
            </a:endParaRPr>
          </a:p>
          <a:p>
            <a:pPr lvl="1"/>
            <a:r>
              <a:rPr lang="en-US" altLang="ja-JP" dirty="0">
                <a:solidFill>
                  <a:schemeClr val="tx1">
                    <a:lumMod val="65000"/>
                    <a:lumOff val="35000"/>
                  </a:schemeClr>
                </a:solidFill>
              </a:rPr>
              <a:t>IPC</a:t>
            </a:r>
            <a:r>
              <a:rPr lang="ja-JP" altLang="en-US" dirty="0">
                <a:solidFill>
                  <a:schemeClr val="tx1">
                    <a:lumMod val="65000"/>
                    <a:lumOff val="35000"/>
                  </a:schemeClr>
                </a:solidFill>
              </a:rPr>
              <a:t>≈</a:t>
            </a:r>
            <a:r>
              <a:rPr lang="en-US" altLang="ja-JP" dirty="0">
                <a:solidFill>
                  <a:schemeClr val="tx1">
                    <a:lumMod val="65000"/>
                    <a:lumOff val="35000"/>
                  </a:schemeClr>
                </a:solidFill>
              </a:rPr>
              <a:t>1</a:t>
            </a:r>
            <a:r>
              <a:rPr lang="ja-JP" altLang="en-US" dirty="0">
                <a:solidFill>
                  <a:schemeClr val="tx1">
                    <a:lumMod val="65000"/>
                    <a:lumOff val="35000"/>
                  </a:schemeClr>
                </a:solidFill>
              </a:rPr>
              <a:t>命令</a:t>
            </a:r>
            <a:r>
              <a:rPr lang="en-US" altLang="ja-JP" dirty="0">
                <a:solidFill>
                  <a:schemeClr val="tx1">
                    <a:lumMod val="65000"/>
                    <a:lumOff val="35000"/>
                  </a:schemeClr>
                </a:solidFill>
              </a:rPr>
              <a:t> / 1</a:t>
            </a:r>
            <a:r>
              <a:rPr lang="ja-JP" altLang="en-US" dirty="0">
                <a:solidFill>
                  <a:schemeClr val="tx1">
                    <a:lumMod val="65000"/>
                    <a:lumOff val="35000"/>
                  </a:schemeClr>
                </a:solidFill>
              </a:rPr>
              <a:t>サイクル</a:t>
            </a:r>
            <a:r>
              <a:rPr lang="en-US" altLang="ja-JP" dirty="0">
                <a:solidFill>
                  <a:schemeClr val="tx1">
                    <a:lumMod val="65000"/>
                    <a:lumOff val="35000"/>
                  </a:schemeClr>
                </a:solidFill>
              </a:rPr>
              <a:t> = </a:t>
            </a:r>
            <a:r>
              <a:rPr lang="en-US" altLang="ja-JP" dirty="0">
                <a:solidFill>
                  <a:schemeClr val="accent5"/>
                </a:solidFill>
              </a:rPr>
              <a:t>1</a:t>
            </a:r>
          </a:p>
          <a:p>
            <a:pPr lvl="1"/>
            <a:r>
              <a:rPr lang="ja-JP" altLang="en-US" dirty="0">
                <a:solidFill>
                  <a:schemeClr val="tx1">
                    <a:lumMod val="75000"/>
                    <a:lumOff val="25000"/>
                  </a:schemeClr>
                </a:solidFill>
              </a:rPr>
              <a:t>周波数</a:t>
            </a:r>
            <a:r>
              <a:rPr lang="en-US" altLang="ja-JP" dirty="0">
                <a:solidFill>
                  <a:schemeClr val="tx1">
                    <a:lumMod val="65000"/>
                    <a:lumOff val="35000"/>
                  </a:schemeClr>
                </a:solidFill>
              </a:rPr>
              <a:t> = 1</a:t>
            </a:r>
            <a:r>
              <a:rPr lang="ja-JP" altLang="en-US" dirty="0">
                <a:solidFill>
                  <a:schemeClr val="tx1">
                    <a:lumMod val="65000"/>
                    <a:lumOff val="35000"/>
                  </a:schemeClr>
                </a:solidFill>
              </a:rPr>
              <a:t>秒</a:t>
            </a:r>
            <a:r>
              <a:rPr lang="en-US" altLang="ja-JP" dirty="0">
                <a:solidFill>
                  <a:schemeClr val="tx1">
                    <a:lumMod val="65000"/>
                    <a:lumOff val="35000"/>
                  </a:schemeClr>
                </a:solidFill>
              </a:rPr>
              <a:t> / 0.5ns = </a:t>
            </a:r>
            <a:r>
              <a:rPr lang="en-US" altLang="ja-JP" dirty="0">
                <a:solidFill>
                  <a:schemeClr val="accent5"/>
                </a:solidFill>
              </a:rPr>
              <a:t>2000 MHz = 2GHz</a:t>
            </a:r>
          </a:p>
          <a:p>
            <a:pPr lvl="1"/>
            <a:r>
              <a:rPr lang="ja-JP" altLang="en-US" dirty="0">
                <a:solidFill>
                  <a:schemeClr val="tx1">
                    <a:lumMod val="75000"/>
                    <a:lumOff val="25000"/>
                  </a:schemeClr>
                </a:solidFill>
              </a:rPr>
              <a:t>性能（</a:t>
            </a:r>
            <a:r>
              <a:rPr lang="en-US" altLang="ja-JP" dirty="0">
                <a:solidFill>
                  <a:schemeClr val="tx1">
                    <a:lumMod val="75000"/>
                    <a:lumOff val="25000"/>
                  </a:schemeClr>
                </a:solidFill>
              </a:rPr>
              <a:t>1</a:t>
            </a:r>
            <a:r>
              <a:rPr lang="ja-JP" altLang="en-US" dirty="0">
                <a:solidFill>
                  <a:schemeClr val="tx1">
                    <a:lumMod val="75000"/>
                    <a:lumOff val="25000"/>
                  </a:schemeClr>
                </a:solidFill>
              </a:rPr>
              <a:t>秒あたりの命令数）</a:t>
            </a:r>
            <a:r>
              <a:rPr lang="en-US" altLang="ja-JP" dirty="0">
                <a:solidFill>
                  <a:schemeClr val="tx1">
                    <a:lumMod val="75000"/>
                    <a:lumOff val="25000"/>
                  </a:schemeClr>
                </a:solidFill>
              </a:rPr>
              <a:t>=</a:t>
            </a:r>
            <a:r>
              <a:rPr lang="ja-JP" altLang="en-US" dirty="0">
                <a:solidFill>
                  <a:schemeClr val="accent5"/>
                </a:solidFill>
              </a:rPr>
              <a:t> </a:t>
            </a:r>
            <a:r>
              <a:rPr lang="en-US" altLang="ja-JP" dirty="0">
                <a:solidFill>
                  <a:schemeClr val="tx1">
                    <a:lumMod val="75000"/>
                    <a:lumOff val="25000"/>
                  </a:schemeClr>
                </a:solidFill>
              </a:rPr>
              <a:t>IPC*</a:t>
            </a:r>
            <a:r>
              <a:rPr lang="ja-JP" altLang="en-US" dirty="0">
                <a:solidFill>
                  <a:schemeClr val="tx1">
                    <a:lumMod val="75000"/>
                    <a:lumOff val="25000"/>
                  </a:schemeClr>
                </a:solidFill>
              </a:rPr>
              <a:t>周波数</a:t>
            </a:r>
            <a:r>
              <a:rPr lang="ja-JP" altLang="en-US" dirty="0">
                <a:solidFill>
                  <a:schemeClr val="accent5"/>
                </a:solidFill>
              </a:rPr>
              <a:t> </a:t>
            </a:r>
            <a:r>
              <a:rPr lang="en-US" altLang="ja-JP" dirty="0">
                <a:solidFill>
                  <a:schemeClr val="accent5"/>
                </a:solidFill>
              </a:rPr>
              <a:t>= </a:t>
            </a:r>
            <a:r>
              <a:rPr lang="ja-JP" altLang="en-US" dirty="0">
                <a:solidFill>
                  <a:schemeClr val="accent5"/>
                </a:solidFill>
              </a:rPr>
              <a:t>秒間 </a:t>
            </a:r>
            <a:r>
              <a:rPr lang="en-US" altLang="ja-JP" dirty="0">
                <a:solidFill>
                  <a:schemeClr val="accent5"/>
                </a:solidFill>
              </a:rPr>
              <a:t>2G </a:t>
            </a:r>
            <a:r>
              <a:rPr lang="ja-JP" altLang="en-US" dirty="0">
                <a:solidFill>
                  <a:schemeClr val="accent5"/>
                </a:solidFill>
              </a:rPr>
              <a:t>命令</a:t>
            </a:r>
            <a:endParaRPr lang="en-US" altLang="ja-JP" dirty="0"/>
          </a:p>
        </p:txBody>
      </p:sp>
      <p:cxnSp>
        <p:nvCxnSpPr>
          <p:cNvPr id="55" name="直線矢印コネクタ 54">
            <a:extLst>
              <a:ext uri="{FF2B5EF4-FFF2-40B4-BE49-F238E27FC236}">
                <a16:creationId xmlns:a16="http://schemas.microsoft.com/office/drawing/2014/main" id="{6D77AB78-7BC7-CBD4-F18B-9D907526FC71}"/>
              </a:ext>
            </a:extLst>
          </p:cNvPr>
          <p:cNvCxnSpPr>
            <a:cxnSpLocks/>
          </p:cNvCxnSpPr>
          <p:nvPr/>
        </p:nvCxnSpPr>
        <p:spPr bwMode="auto">
          <a:xfrm>
            <a:off x="2861981" y="1898983"/>
            <a:ext cx="270002" cy="0"/>
          </a:xfrm>
          <a:prstGeom prst="straightConnector1">
            <a:avLst/>
          </a:prstGeom>
          <a:noFill/>
          <a:ln w="9525" cap="flat" cmpd="sng" algn="ctr">
            <a:solidFill>
              <a:schemeClr val="tx1">
                <a:lumMod val="75000"/>
                <a:lumOff val="25000"/>
              </a:schemeClr>
            </a:solidFill>
            <a:prstDash val="solid"/>
            <a:round/>
            <a:headEnd type="triangle" w="med" len="med"/>
            <a:tailEnd type="triangle"/>
          </a:ln>
          <a:effectLst/>
        </p:spPr>
      </p:cxnSp>
      <p:sp>
        <p:nvSpPr>
          <p:cNvPr id="56" name="正方形/長方形 55">
            <a:extLst>
              <a:ext uri="{FF2B5EF4-FFF2-40B4-BE49-F238E27FC236}">
                <a16:creationId xmlns:a16="http://schemas.microsoft.com/office/drawing/2014/main" id="{33FE95D5-3BFB-1523-49BC-25556741C4DA}"/>
              </a:ext>
            </a:extLst>
          </p:cNvPr>
          <p:cNvSpPr/>
          <p:nvPr/>
        </p:nvSpPr>
        <p:spPr>
          <a:xfrm>
            <a:off x="2771980" y="1178975"/>
            <a:ext cx="540005" cy="540006"/>
          </a:xfrm>
          <a:prstGeom prst="rect">
            <a:avLst/>
          </a:prstGeom>
        </p:spPr>
        <p:txBody>
          <a:bodyPr wrap="none">
            <a:noAutofit/>
          </a:bodyPr>
          <a:lstStyle/>
          <a:p>
            <a:pPr algn="ctr"/>
            <a:r>
              <a:rPr lang="en-US" altLang="ja-JP" dirty="0">
                <a:solidFill>
                  <a:schemeClr val="tx1">
                    <a:lumMod val="65000"/>
                    <a:lumOff val="35000"/>
                  </a:schemeClr>
                </a:solidFill>
              </a:rPr>
              <a:t>0.5 ns</a:t>
            </a:r>
          </a:p>
          <a:p>
            <a:pPr algn="ctr"/>
            <a:r>
              <a:rPr lang="en-US" altLang="ja-JP" dirty="0">
                <a:solidFill>
                  <a:schemeClr val="tx1">
                    <a:lumMod val="65000"/>
                    <a:lumOff val="35000"/>
                  </a:schemeClr>
                </a:solidFill>
              </a:rPr>
              <a:t>1 cycle</a:t>
            </a:r>
            <a:endParaRPr lang="ja-JP" altLang="en-US" dirty="0">
              <a:solidFill>
                <a:schemeClr val="tx1">
                  <a:lumMod val="65000"/>
                  <a:lumOff val="35000"/>
                </a:schemeClr>
              </a:solidFill>
            </a:endParaRPr>
          </a:p>
        </p:txBody>
      </p:sp>
      <p:sp>
        <p:nvSpPr>
          <p:cNvPr id="57" name="正方形/長方形 56">
            <a:extLst>
              <a:ext uri="{FF2B5EF4-FFF2-40B4-BE49-F238E27FC236}">
                <a16:creationId xmlns:a16="http://schemas.microsoft.com/office/drawing/2014/main" id="{77A73637-76DF-7872-938B-0C23A46DF8AE}"/>
              </a:ext>
            </a:extLst>
          </p:cNvPr>
          <p:cNvSpPr/>
          <p:nvPr/>
        </p:nvSpPr>
        <p:spPr>
          <a:xfrm>
            <a:off x="2231974" y="1988984"/>
            <a:ext cx="450005" cy="369332"/>
          </a:xfrm>
          <a:prstGeom prst="rect">
            <a:avLst/>
          </a:prstGeom>
        </p:spPr>
        <p:txBody>
          <a:bodyPr wrap="square">
            <a:spAutoFit/>
          </a:bodyPr>
          <a:lstStyle/>
          <a:p>
            <a:pPr algn="ctr"/>
            <a:r>
              <a:rPr lang="en-US" altLang="ja-JP" dirty="0">
                <a:solidFill>
                  <a:schemeClr val="tx1">
                    <a:lumMod val="65000"/>
                    <a:lumOff val="35000"/>
                  </a:schemeClr>
                </a:solidFill>
                <a:latin typeface="Consolas" panose="020B0609020204030204" pitchFamily="49" charset="0"/>
              </a:rPr>
              <a:t>I0</a:t>
            </a:r>
            <a:endParaRPr lang="ja-JP" altLang="en-US" dirty="0">
              <a:solidFill>
                <a:schemeClr val="tx1">
                  <a:lumMod val="65000"/>
                  <a:lumOff val="35000"/>
                </a:schemeClr>
              </a:solidFill>
              <a:latin typeface="Consolas" panose="020B0609020204030204" pitchFamily="49" charset="0"/>
            </a:endParaRPr>
          </a:p>
        </p:txBody>
      </p:sp>
      <p:sp>
        <p:nvSpPr>
          <p:cNvPr id="58" name="正方形/長方形 57">
            <a:extLst>
              <a:ext uri="{FF2B5EF4-FFF2-40B4-BE49-F238E27FC236}">
                <a16:creationId xmlns:a16="http://schemas.microsoft.com/office/drawing/2014/main" id="{32957A3E-8661-C702-597C-530530728537}"/>
              </a:ext>
            </a:extLst>
          </p:cNvPr>
          <p:cNvSpPr/>
          <p:nvPr/>
        </p:nvSpPr>
        <p:spPr>
          <a:xfrm>
            <a:off x="2231974" y="2438989"/>
            <a:ext cx="450005" cy="369332"/>
          </a:xfrm>
          <a:prstGeom prst="rect">
            <a:avLst/>
          </a:prstGeom>
        </p:spPr>
        <p:txBody>
          <a:bodyPr wrap="square">
            <a:spAutoFit/>
          </a:bodyPr>
          <a:lstStyle/>
          <a:p>
            <a:pPr algn="ctr"/>
            <a:r>
              <a:rPr lang="en-US" altLang="ja-JP" dirty="0">
                <a:solidFill>
                  <a:schemeClr val="tx1">
                    <a:lumMod val="65000"/>
                    <a:lumOff val="35000"/>
                  </a:schemeClr>
                </a:solidFill>
                <a:latin typeface="Consolas" panose="020B0609020204030204" pitchFamily="49" charset="0"/>
              </a:rPr>
              <a:t>I1</a:t>
            </a:r>
            <a:endParaRPr lang="ja-JP" altLang="en-US" dirty="0">
              <a:solidFill>
                <a:schemeClr val="tx1">
                  <a:lumMod val="65000"/>
                  <a:lumOff val="35000"/>
                </a:schemeClr>
              </a:solidFill>
              <a:latin typeface="Consolas" panose="020B0609020204030204" pitchFamily="49" charset="0"/>
            </a:endParaRPr>
          </a:p>
        </p:txBody>
      </p:sp>
      <p:sp>
        <p:nvSpPr>
          <p:cNvPr id="59" name="正方形/長方形 58">
            <a:extLst>
              <a:ext uri="{FF2B5EF4-FFF2-40B4-BE49-F238E27FC236}">
                <a16:creationId xmlns:a16="http://schemas.microsoft.com/office/drawing/2014/main" id="{81DB0530-021F-858A-B3EF-742405885C04}"/>
              </a:ext>
            </a:extLst>
          </p:cNvPr>
          <p:cNvSpPr/>
          <p:nvPr/>
        </p:nvSpPr>
        <p:spPr>
          <a:xfrm>
            <a:off x="2231974" y="2888994"/>
            <a:ext cx="450005" cy="369332"/>
          </a:xfrm>
          <a:prstGeom prst="rect">
            <a:avLst/>
          </a:prstGeom>
        </p:spPr>
        <p:txBody>
          <a:bodyPr wrap="square">
            <a:spAutoFit/>
          </a:bodyPr>
          <a:lstStyle/>
          <a:p>
            <a:pPr algn="ctr"/>
            <a:r>
              <a:rPr lang="en-US" altLang="ja-JP" dirty="0">
                <a:solidFill>
                  <a:schemeClr val="tx1">
                    <a:lumMod val="65000"/>
                    <a:lumOff val="35000"/>
                  </a:schemeClr>
                </a:solidFill>
                <a:latin typeface="Consolas" panose="020B0609020204030204" pitchFamily="49" charset="0"/>
              </a:rPr>
              <a:t>I2</a:t>
            </a:r>
            <a:endParaRPr lang="ja-JP" altLang="en-US" dirty="0">
              <a:solidFill>
                <a:schemeClr val="tx1">
                  <a:lumMod val="65000"/>
                  <a:lumOff val="35000"/>
                </a:schemeClr>
              </a:solidFill>
              <a:latin typeface="Consolas" panose="020B0609020204030204" pitchFamily="49" charset="0"/>
            </a:endParaRPr>
          </a:p>
        </p:txBody>
      </p:sp>
      <p:grpSp>
        <p:nvGrpSpPr>
          <p:cNvPr id="34" name="グループ化 33">
            <a:extLst>
              <a:ext uri="{FF2B5EF4-FFF2-40B4-BE49-F238E27FC236}">
                <a16:creationId xmlns:a16="http://schemas.microsoft.com/office/drawing/2014/main" id="{98C2113D-5572-EA74-1307-9A55A7F106C2}"/>
              </a:ext>
            </a:extLst>
          </p:cNvPr>
          <p:cNvGrpSpPr/>
          <p:nvPr/>
        </p:nvGrpSpPr>
        <p:grpSpPr>
          <a:xfrm>
            <a:off x="2861981" y="1988984"/>
            <a:ext cx="2700029" cy="360000"/>
            <a:chOff x="971961" y="1988984"/>
            <a:chExt cx="2700029" cy="360000"/>
          </a:xfrm>
        </p:grpSpPr>
        <p:sp>
          <p:nvSpPr>
            <p:cNvPr id="60" name="Rectangle 69">
              <a:extLst>
                <a:ext uri="{FF2B5EF4-FFF2-40B4-BE49-F238E27FC236}">
                  <a16:creationId xmlns:a16="http://schemas.microsoft.com/office/drawing/2014/main" id="{87DC93EA-510F-2CED-3C49-ABA98D0CB62E}"/>
                </a:ext>
              </a:extLst>
            </p:cNvPr>
            <p:cNvSpPr>
              <a:spLocks noChangeArrowheads="1"/>
            </p:cNvSpPr>
            <p:nvPr/>
          </p:nvSpPr>
          <p:spPr bwMode="auto">
            <a:xfrm>
              <a:off x="971961" y="1988984"/>
              <a:ext cx="270002"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F0</a:t>
              </a:r>
            </a:p>
          </p:txBody>
        </p:sp>
        <p:sp>
          <p:nvSpPr>
            <p:cNvPr id="61" name="Rectangle 70">
              <a:extLst>
                <a:ext uri="{FF2B5EF4-FFF2-40B4-BE49-F238E27FC236}">
                  <a16:creationId xmlns:a16="http://schemas.microsoft.com/office/drawing/2014/main" id="{E2A5E54B-BBC7-0B25-B996-770AF7D777C1}"/>
                </a:ext>
              </a:extLst>
            </p:cNvPr>
            <p:cNvSpPr>
              <a:spLocks noChangeArrowheads="1"/>
            </p:cNvSpPr>
            <p:nvPr/>
          </p:nvSpPr>
          <p:spPr bwMode="auto">
            <a:xfrm>
              <a:off x="1511966" y="1988984"/>
              <a:ext cx="270003"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D0</a:t>
              </a:r>
            </a:p>
          </p:txBody>
        </p:sp>
        <p:sp>
          <p:nvSpPr>
            <p:cNvPr id="62" name="Rectangle 71">
              <a:extLst>
                <a:ext uri="{FF2B5EF4-FFF2-40B4-BE49-F238E27FC236}">
                  <a16:creationId xmlns:a16="http://schemas.microsoft.com/office/drawing/2014/main" id="{E7243571-9A69-A4F8-37EB-6A83C0C08289}"/>
                </a:ext>
              </a:extLst>
            </p:cNvPr>
            <p:cNvSpPr>
              <a:spLocks noChangeArrowheads="1"/>
            </p:cNvSpPr>
            <p:nvPr/>
          </p:nvSpPr>
          <p:spPr bwMode="auto">
            <a:xfrm>
              <a:off x="2051972" y="1988984"/>
              <a:ext cx="270003"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X0</a:t>
              </a:r>
            </a:p>
          </p:txBody>
        </p:sp>
        <p:sp>
          <p:nvSpPr>
            <p:cNvPr id="63" name="Rectangle 72">
              <a:extLst>
                <a:ext uri="{FF2B5EF4-FFF2-40B4-BE49-F238E27FC236}">
                  <a16:creationId xmlns:a16="http://schemas.microsoft.com/office/drawing/2014/main" id="{AEA01D9D-197B-B914-C0BA-9B727A10DEA3}"/>
                </a:ext>
              </a:extLst>
            </p:cNvPr>
            <p:cNvSpPr>
              <a:spLocks noChangeArrowheads="1"/>
            </p:cNvSpPr>
            <p:nvPr/>
          </p:nvSpPr>
          <p:spPr bwMode="auto">
            <a:xfrm>
              <a:off x="2591978" y="1988984"/>
              <a:ext cx="270003"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M0</a:t>
              </a:r>
            </a:p>
          </p:txBody>
        </p:sp>
        <p:sp>
          <p:nvSpPr>
            <p:cNvPr id="128" name="Rectangle 73">
              <a:extLst>
                <a:ext uri="{FF2B5EF4-FFF2-40B4-BE49-F238E27FC236}">
                  <a16:creationId xmlns:a16="http://schemas.microsoft.com/office/drawing/2014/main" id="{17B20D46-4CEE-67DC-B6CC-20CB76AC10C6}"/>
                </a:ext>
              </a:extLst>
            </p:cNvPr>
            <p:cNvSpPr>
              <a:spLocks noChangeArrowheads="1"/>
            </p:cNvSpPr>
            <p:nvPr/>
          </p:nvSpPr>
          <p:spPr bwMode="auto">
            <a:xfrm>
              <a:off x="3131984" y="1988984"/>
              <a:ext cx="270003"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W0</a:t>
              </a:r>
            </a:p>
          </p:txBody>
        </p:sp>
        <p:sp>
          <p:nvSpPr>
            <p:cNvPr id="6" name="Rectangle 69">
              <a:extLst>
                <a:ext uri="{FF2B5EF4-FFF2-40B4-BE49-F238E27FC236}">
                  <a16:creationId xmlns:a16="http://schemas.microsoft.com/office/drawing/2014/main" id="{737114E1-0671-6363-B2D6-8307E969BBC7}"/>
                </a:ext>
              </a:extLst>
            </p:cNvPr>
            <p:cNvSpPr>
              <a:spLocks noChangeArrowheads="1"/>
            </p:cNvSpPr>
            <p:nvPr/>
          </p:nvSpPr>
          <p:spPr bwMode="auto">
            <a:xfrm>
              <a:off x="1241963" y="1988984"/>
              <a:ext cx="270002"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F1</a:t>
              </a:r>
            </a:p>
          </p:txBody>
        </p:sp>
        <p:sp>
          <p:nvSpPr>
            <p:cNvPr id="9" name="Rectangle 70">
              <a:extLst>
                <a:ext uri="{FF2B5EF4-FFF2-40B4-BE49-F238E27FC236}">
                  <a16:creationId xmlns:a16="http://schemas.microsoft.com/office/drawing/2014/main" id="{161F6D0F-D0B2-4A96-EA22-84372F7E5770}"/>
                </a:ext>
              </a:extLst>
            </p:cNvPr>
            <p:cNvSpPr>
              <a:spLocks noChangeArrowheads="1"/>
            </p:cNvSpPr>
            <p:nvPr/>
          </p:nvSpPr>
          <p:spPr bwMode="auto">
            <a:xfrm>
              <a:off x="1781969" y="1988984"/>
              <a:ext cx="270003"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D1</a:t>
              </a:r>
            </a:p>
          </p:txBody>
        </p:sp>
        <p:sp>
          <p:nvSpPr>
            <p:cNvPr id="10" name="Rectangle 71">
              <a:extLst>
                <a:ext uri="{FF2B5EF4-FFF2-40B4-BE49-F238E27FC236}">
                  <a16:creationId xmlns:a16="http://schemas.microsoft.com/office/drawing/2014/main" id="{87E9ECC3-7246-ECF3-38CB-F4D773C08F3B}"/>
                </a:ext>
              </a:extLst>
            </p:cNvPr>
            <p:cNvSpPr>
              <a:spLocks noChangeArrowheads="1"/>
            </p:cNvSpPr>
            <p:nvPr/>
          </p:nvSpPr>
          <p:spPr bwMode="auto">
            <a:xfrm>
              <a:off x="2321975" y="1988984"/>
              <a:ext cx="270003"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X1</a:t>
              </a:r>
            </a:p>
          </p:txBody>
        </p:sp>
        <p:sp>
          <p:nvSpPr>
            <p:cNvPr id="11" name="Rectangle 72">
              <a:extLst>
                <a:ext uri="{FF2B5EF4-FFF2-40B4-BE49-F238E27FC236}">
                  <a16:creationId xmlns:a16="http://schemas.microsoft.com/office/drawing/2014/main" id="{B5229207-E305-D06C-4B56-5C95119327D3}"/>
                </a:ext>
              </a:extLst>
            </p:cNvPr>
            <p:cNvSpPr>
              <a:spLocks noChangeArrowheads="1"/>
            </p:cNvSpPr>
            <p:nvPr/>
          </p:nvSpPr>
          <p:spPr bwMode="auto">
            <a:xfrm>
              <a:off x="2861981" y="1988984"/>
              <a:ext cx="270003"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M1</a:t>
              </a:r>
            </a:p>
          </p:txBody>
        </p:sp>
        <p:sp>
          <p:nvSpPr>
            <p:cNvPr id="13" name="Rectangle 73">
              <a:extLst>
                <a:ext uri="{FF2B5EF4-FFF2-40B4-BE49-F238E27FC236}">
                  <a16:creationId xmlns:a16="http://schemas.microsoft.com/office/drawing/2014/main" id="{F0D13BB0-AEA6-DF50-DB51-2BCBBFB5D46F}"/>
                </a:ext>
              </a:extLst>
            </p:cNvPr>
            <p:cNvSpPr>
              <a:spLocks noChangeArrowheads="1"/>
            </p:cNvSpPr>
            <p:nvPr/>
          </p:nvSpPr>
          <p:spPr bwMode="auto">
            <a:xfrm>
              <a:off x="3401987" y="1988984"/>
              <a:ext cx="270003"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W1</a:t>
              </a:r>
            </a:p>
          </p:txBody>
        </p:sp>
      </p:grpSp>
      <p:grpSp>
        <p:nvGrpSpPr>
          <p:cNvPr id="35" name="グループ化 34">
            <a:extLst>
              <a:ext uri="{FF2B5EF4-FFF2-40B4-BE49-F238E27FC236}">
                <a16:creationId xmlns:a16="http://schemas.microsoft.com/office/drawing/2014/main" id="{6E1AD3D4-A7F7-4C3E-178C-327BC87D6AD9}"/>
              </a:ext>
            </a:extLst>
          </p:cNvPr>
          <p:cNvGrpSpPr/>
          <p:nvPr/>
        </p:nvGrpSpPr>
        <p:grpSpPr>
          <a:xfrm>
            <a:off x="3131983" y="2438989"/>
            <a:ext cx="2700029" cy="360000"/>
            <a:chOff x="971961" y="1988984"/>
            <a:chExt cx="2700029" cy="360000"/>
          </a:xfrm>
        </p:grpSpPr>
        <p:sp>
          <p:nvSpPr>
            <p:cNvPr id="36" name="Rectangle 69">
              <a:extLst>
                <a:ext uri="{FF2B5EF4-FFF2-40B4-BE49-F238E27FC236}">
                  <a16:creationId xmlns:a16="http://schemas.microsoft.com/office/drawing/2014/main" id="{AF00E769-B36A-BD34-D33B-06E016EECA55}"/>
                </a:ext>
              </a:extLst>
            </p:cNvPr>
            <p:cNvSpPr>
              <a:spLocks noChangeArrowheads="1"/>
            </p:cNvSpPr>
            <p:nvPr/>
          </p:nvSpPr>
          <p:spPr bwMode="auto">
            <a:xfrm>
              <a:off x="971961" y="1988984"/>
              <a:ext cx="270002"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F0</a:t>
              </a:r>
            </a:p>
          </p:txBody>
        </p:sp>
        <p:sp>
          <p:nvSpPr>
            <p:cNvPr id="37" name="Rectangle 70">
              <a:extLst>
                <a:ext uri="{FF2B5EF4-FFF2-40B4-BE49-F238E27FC236}">
                  <a16:creationId xmlns:a16="http://schemas.microsoft.com/office/drawing/2014/main" id="{FB5946DD-8E4A-F7DF-3083-FEE132381F93}"/>
                </a:ext>
              </a:extLst>
            </p:cNvPr>
            <p:cNvSpPr>
              <a:spLocks noChangeArrowheads="1"/>
            </p:cNvSpPr>
            <p:nvPr/>
          </p:nvSpPr>
          <p:spPr bwMode="auto">
            <a:xfrm>
              <a:off x="1511966" y="1988984"/>
              <a:ext cx="270003"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D0</a:t>
              </a:r>
            </a:p>
          </p:txBody>
        </p:sp>
        <p:sp>
          <p:nvSpPr>
            <p:cNvPr id="38" name="Rectangle 71">
              <a:extLst>
                <a:ext uri="{FF2B5EF4-FFF2-40B4-BE49-F238E27FC236}">
                  <a16:creationId xmlns:a16="http://schemas.microsoft.com/office/drawing/2014/main" id="{24C6E786-46FE-C2B1-C944-EAB30869C89C}"/>
                </a:ext>
              </a:extLst>
            </p:cNvPr>
            <p:cNvSpPr>
              <a:spLocks noChangeArrowheads="1"/>
            </p:cNvSpPr>
            <p:nvPr/>
          </p:nvSpPr>
          <p:spPr bwMode="auto">
            <a:xfrm>
              <a:off x="2051972" y="1988984"/>
              <a:ext cx="270003"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X0</a:t>
              </a:r>
            </a:p>
          </p:txBody>
        </p:sp>
        <p:sp>
          <p:nvSpPr>
            <p:cNvPr id="39" name="Rectangle 72">
              <a:extLst>
                <a:ext uri="{FF2B5EF4-FFF2-40B4-BE49-F238E27FC236}">
                  <a16:creationId xmlns:a16="http://schemas.microsoft.com/office/drawing/2014/main" id="{0CED4570-4BAE-9CF7-BA68-2C0380260BEF}"/>
                </a:ext>
              </a:extLst>
            </p:cNvPr>
            <p:cNvSpPr>
              <a:spLocks noChangeArrowheads="1"/>
            </p:cNvSpPr>
            <p:nvPr/>
          </p:nvSpPr>
          <p:spPr bwMode="auto">
            <a:xfrm>
              <a:off x="2591978" y="1988984"/>
              <a:ext cx="270003"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M0</a:t>
              </a:r>
            </a:p>
          </p:txBody>
        </p:sp>
        <p:sp>
          <p:nvSpPr>
            <p:cNvPr id="40" name="Rectangle 73">
              <a:extLst>
                <a:ext uri="{FF2B5EF4-FFF2-40B4-BE49-F238E27FC236}">
                  <a16:creationId xmlns:a16="http://schemas.microsoft.com/office/drawing/2014/main" id="{35C28E28-CB41-E23E-D42F-906E365D74E6}"/>
                </a:ext>
              </a:extLst>
            </p:cNvPr>
            <p:cNvSpPr>
              <a:spLocks noChangeArrowheads="1"/>
            </p:cNvSpPr>
            <p:nvPr/>
          </p:nvSpPr>
          <p:spPr bwMode="auto">
            <a:xfrm>
              <a:off x="3131984" y="1988984"/>
              <a:ext cx="270003"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W0</a:t>
              </a:r>
            </a:p>
          </p:txBody>
        </p:sp>
        <p:sp>
          <p:nvSpPr>
            <p:cNvPr id="41" name="Rectangle 69">
              <a:extLst>
                <a:ext uri="{FF2B5EF4-FFF2-40B4-BE49-F238E27FC236}">
                  <a16:creationId xmlns:a16="http://schemas.microsoft.com/office/drawing/2014/main" id="{89635FF1-A543-0C29-1D23-1F40ED8124C7}"/>
                </a:ext>
              </a:extLst>
            </p:cNvPr>
            <p:cNvSpPr>
              <a:spLocks noChangeArrowheads="1"/>
            </p:cNvSpPr>
            <p:nvPr/>
          </p:nvSpPr>
          <p:spPr bwMode="auto">
            <a:xfrm>
              <a:off x="1241963" y="1988984"/>
              <a:ext cx="270002"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F1</a:t>
              </a:r>
            </a:p>
          </p:txBody>
        </p:sp>
        <p:sp>
          <p:nvSpPr>
            <p:cNvPr id="42" name="Rectangle 70">
              <a:extLst>
                <a:ext uri="{FF2B5EF4-FFF2-40B4-BE49-F238E27FC236}">
                  <a16:creationId xmlns:a16="http://schemas.microsoft.com/office/drawing/2014/main" id="{862FBFB5-530D-CB96-2CA2-B070347D2751}"/>
                </a:ext>
              </a:extLst>
            </p:cNvPr>
            <p:cNvSpPr>
              <a:spLocks noChangeArrowheads="1"/>
            </p:cNvSpPr>
            <p:nvPr/>
          </p:nvSpPr>
          <p:spPr bwMode="auto">
            <a:xfrm>
              <a:off x="1781969" y="1988984"/>
              <a:ext cx="270003"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D1</a:t>
              </a:r>
            </a:p>
          </p:txBody>
        </p:sp>
        <p:sp>
          <p:nvSpPr>
            <p:cNvPr id="43" name="Rectangle 71">
              <a:extLst>
                <a:ext uri="{FF2B5EF4-FFF2-40B4-BE49-F238E27FC236}">
                  <a16:creationId xmlns:a16="http://schemas.microsoft.com/office/drawing/2014/main" id="{4AE484B0-3202-9D7C-A537-65555F946326}"/>
                </a:ext>
              </a:extLst>
            </p:cNvPr>
            <p:cNvSpPr>
              <a:spLocks noChangeArrowheads="1"/>
            </p:cNvSpPr>
            <p:nvPr/>
          </p:nvSpPr>
          <p:spPr bwMode="auto">
            <a:xfrm>
              <a:off x="2321975" y="1988984"/>
              <a:ext cx="270003"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X1</a:t>
              </a:r>
            </a:p>
          </p:txBody>
        </p:sp>
        <p:sp>
          <p:nvSpPr>
            <p:cNvPr id="44" name="Rectangle 72">
              <a:extLst>
                <a:ext uri="{FF2B5EF4-FFF2-40B4-BE49-F238E27FC236}">
                  <a16:creationId xmlns:a16="http://schemas.microsoft.com/office/drawing/2014/main" id="{67799F7C-FBE3-C592-371D-EAD812D8FC03}"/>
                </a:ext>
              </a:extLst>
            </p:cNvPr>
            <p:cNvSpPr>
              <a:spLocks noChangeArrowheads="1"/>
            </p:cNvSpPr>
            <p:nvPr/>
          </p:nvSpPr>
          <p:spPr bwMode="auto">
            <a:xfrm>
              <a:off x="2861981" y="1988984"/>
              <a:ext cx="270003"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M1</a:t>
              </a:r>
            </a:p>
          </p:txBody>
        </p:sp>
        <p:sp>
          <p:nvSpPr>
            <p:cNvPr id="45" name="Rectangle 73">
              <a:extLst>
                <a:ext uri="{FF2B5EF4-FFF2-40B4-BE49-F238E27FC236}">
                  <a16:creationId xmlns:a16="http://schemas.microsoft.com/office/drawing/2014/main" id="{FE483F62-66CD-C7BA-456F-95747EF40285}"/>
                </a:ext>
              </a:extLst>
            </p:cNvPr>
            <p:cNvSpPr>
              <a:spLocks noChangeArrowheads="1"/>
            </p:cNvSpPr>
            <p:nvPr/>
          </p:nvSpPr>
          <p:spPr bwMode="auto">
            <a:xfrm>
              <a:off x="3401987" y="1988984"/>
              <a:ext cx="270003"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W1</a:t>
              </a:r>
            </a:p>
          </p:txBody>
        </p:sp>
      </p:grpSp>
      <p:grpSp>
        <p:nvGrpSpPr>
          <p:cNvPr id="46" name="グループ化 45">
            <a:extLst>
              <a:ext uri="{FF2B5EF4-FFF2-40B4-BE49-F238E27FC236}">
                <a16:creationId xmlns:a16="http://schemas.microsoft.com/office/drawing/2014/main" id="{E1E5F147-42A0-AFE6-3574-96AD5B7CCE04}"/>
              </a:ext>
            </a:extLst>
          </p:cNvPr>
          <p:cNvGrpSpPr/>
          <p:nvPr/>
        </p:nvGrpSpPr>
        <p:grpSpPr>
          <a:xfrm>
            <a:off x="3401986" y="2888994"/>
            <a:ext cx="2700029" cy="360000"/>
            <a:chOff x="971961" y="1988984"/>
            <a:chExt cx="2700029" cy="360000"/>
          </a:xfrm>
        </p:grpSpPr>
        <p:sp>
          <p:nvSpPr>
            <p:cNvPr id="47" name="Rectangle 69">
              <a:extLst>
                <a:ext uri="{FF2B5EF4-FFF2-40B4-BE49-F238E27FC236}">
                  <a16:creationId xmlns:a16="http://schemas.microsoft.com/office/drawing/2014/main" id="{3768284E-F6A3-9E2E-1640-740E0C75D714}"/>
                </a:ext>
              </a:extLst>
            </p:cNvPr>
            <p:cNvSpPr>
              <a:spLocks noChangeArrowheads="1"/>
            </p:cNvSpPr>
            <p:nvPr/>
          </p:nvSpPr>
          <p:spPr bwMode="auto">
            <a:xfrm>
              <a:off x="971961" y="1988984"/>
              <a:ext cx="270002"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F0</a:t>
              </a:r>
            </a:p>
          </p:txBody>
        </p:sp>
        <p:sp>
          <p:nvSpPr>
            <p:cNvPr id="48" name="Rectangle 70">
              <a:extLst>
                <a:ext uri="{FF2B5EF4-FFF2-40B4-BE49-F238E27FC236}">
                  <a16:creationId xmlns:a16="http://schemas.microsoft.com/office/drawing/2014/main" id="{B18CCB91-187F-E3B1-9BBA-6FD8096166CC}"/>
                </a:ext>
              </a:extLst>
            </p:cNvPr>
            <p:cNvSpPr>
              <a:spLocks noChangeArrowheads="1"/>
            </p:cNvSpPr>
            <p:nvPr/>
          </p:nvSpPr>
          <p:spPr bwMode="auto">
            <a:xfrm>
              <a:off x="1511966" y="1988984"/>
              <a:ext cx="270003"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D0</a:t>
              </a:r>
            </a:p>
          </p:txBody>
        </p:sp>
        <p:sp>
          <p:nvSpPr>
            <p:cNvPr id="49" name="Rectangle 71">
              <a:extLst>
                <a:ext uri="{FF2B5EF4-FFF2-40B4-BE49-F238E27FC236}">
                  <a16:creationId xmlns:a16="http://schemas.microsoft.com/office/drawing/2014/main" id="{A81C8618-58D2-F998-3AF8-B9104EDC843E}"/>
                </a:ext>
              </a:extLst>
            </p:cNvPr>
            <p:cNvSpPr>
              <a:spLocks noChangeArrowheads="1"/>
            </p:cNvSpPr>
            <p:nvPr/>
          </p:nvSpPr>
          <p:spPr bwMode="auto">
            <a:xfrm>
              <a:off x="2051972" y="1988984"/>
              <a:ext cx="270003"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X0</a:t>
              </a:r>
            </a:p>
          </p:txBody>
        </p:sp>
        <p:sp>
          <p:nvSpPr>
            <p:cNvPr id="50" name="Rectangle 72">
              <a:extLst>
                <a:ext uri="{FF2B5EF4-FFF2-40B4-BE49-F238E27FC236}">
                  <a16:creationId xmlns:a16="http://schemas.microsoft.com/office/drawing/2014/main" id="{BAE62ACB-37CC-46DF-8002-D24C2F3DF839}"/>
                </a:ext>
              </a:extLst>
            </p:cNvPr>
            <p:cNvSpPr>
              <a:spLocks noChangeArrowheads="1"/>
            </p:cNvSpPr>
            <p:nvPr/>
          </p:nvSpPr>
          <p:spPr bwMode="auto">
            <a:xfrm>
              <a:off x="2591978" y="1988984"/>
              <a:ext cx="270003"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M0</a:t>
              </a:r>
            </a:p>
          </p:txBody>
        </p:sp>
        <p:sp>
          <p:nvSpPr>
            <p:cNvPr id="51" name="Rectangle 73">
              <a:extLst>
                <a:ext uri="{FF2B5EF4-FFF2-40B4-BE49-F238E27FC236}">
                  <a16:creationId xmlns:a16="http://schemas.microsoft.com/office/drawing/2014/main" id="{02884FA5-F467-0DC1-02C3-E5364E013B18}"/>
                </a:ext>
              </a:extLst>
            </p:cNvPr>
            <p:cNvSpPr>
              <a:spLocks noChangeArrowheads="1"/>
            </p:cNvSpPr>
            <p:nvPr/>
          </p:nvSpPr>
          <p:spPr bwMode="auto">
            <a:xfrm>
              <a:off x="3131984" y="1988984"/>
              <a:ext cx="270003"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W0</a:t>
              </a:r>
            </a:p>
          </p:txBody>
        </p:sp>
        <p:sp>
          <p:nvSpPr>
            <p:cNvPr id="52" name="Rectangle 69">
              <a:extLst>
                <a:ext uri="{FF2B5EF4-FFF2-40B4-BE49-F238E27FC236}">
                  <a16:creationId xmlns:a16="http://schemas.microsoft.com/office/drawing/2014/main" id="{88B98742-7F31-EB68-32D7-E8233B04C7E8}"/>
                </a:ext>
              </a:extLst>
            </p:cNvPr>
            <p:cNvSpPr>
              <a:spLocks noChangeArrowheads="1"/>
            </p:cNvSpPr>
            <p:nvPr/>
          </p:nvSpPr>
          <p:spPr bwMode="auto">
            <a:xfrm>
              <a:off x="1241963" y="1988984"/>
              <a:ext cx="270002"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F1</a:t>
              </a:r>
            </a:p>
          </p:txBody>
        </p:sp>
        <p:sp>
          <p:nvSpPr>
            <p:cNvPr id="53" name="Rectangle 70">
              <a:extLst>
                <a:ext uri="{FF2B5EF4-FFF2-40B4-BE49-F238E27FC236}">
                  <a16:creationId xmlns:a16="http://schemas.microsoft.com/office/drawing/2014/main" id="{AC661E5B-CC38-DE07-58C6-521468B64032}"/>
                </a:ext>
              </a:extLst>
            </p:cNvPr>
            <p:cNvSpPr>
              <a:spLocks noChangeArrowheads="1"/>
            </p:cNvSpPr>
            <p:nvPr/>
          </p:nvSpPr>
          <p:spPr bwMode="auto">
            <a:xfrm>
              <a:off x="1781969" y="1988984"/>
              <a:ext cx="270003"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D1</a:t>
              </a:r>
            </a:p>
          </p:txBody>
        </p:sp>
        <p:sp>
          <p:nvSpPr>
            <p:cNvPr id="54" name="Rectangle 71">
              <a:extLst>
                <a:ext uri="{FF2B5EF4-FFF2-40B4-BE49-F238E27FC236}">
                  <a16:creationId xmlns:a16="http://schemas.microsoft.com/office/drawing/2014/main" id="{713D145B-82CB-0E21-37E4-CB3FDB75E737}"/>
                </a:ext>
              </a:extLst>
            </p:cNvPr>
            <p:cNvSpPr>
              <a:spLocks noChangeArrowheads="1"/>
            </p:cNvSpPr>
            <p:nvPr/>
          </p:nvSpPr>
          <p:spPr bwMode="auto">
            <a:xfrm>
              <a:off x="2321975" y="1988984"/>
              <a:ext cx="270003"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X1</a:t>
              </a:r>
            </a:p>
          </p:txBody>
        </p:sp>
        <p:sp>
          <p:nvSpPr>
            <p:cNvPr id="140" name="Rectangle 72">
              <a:extLst>
                <a:ext uri="{FF2B5EF4-FFF2-40B4-BE49-F238E27FC236}">
                  <a16:creationId xmlns:a16="http://schemas.microsoft.com/office/drawing/2014/main" id="{9D032706-21A4-776F-FCF4-55E84B4BCE64}"/>
                </a:ext>
              </a:extLst>
            </p:cNvPr>
            <p:cNvSpPr>
              <a:spLocks noChangeArrowheads="1"/>
            </p:cNvSpPr>
            <p:nvPr/>
          </p:nvSpPr>
          <p:spPr bwMode="auto">
            <a:xfrm>
              <a:off x="2861981" y="1988984"/>
              <a:ext cx="270003"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M1</a:t>
              </a:r>
            </a:p>
          </p:txBody>
        </p:sp>
        <p:sp>
          <p:nvSpPr>
            <p:cNvPr id="141" name="Rectangle 73">
              <a:extLst>
                <a:ext uri="{FF2B5EF4-FFF2-40B4-BE49-F238E27FC236}">
                  <a16:creationId xmlns:a16="http://schemas.microsoft.com/office/drawing/2014/main" id="{3A3E40C5-7A7C-55A1-FC8B-7C7CFBB166E1}"/>
                </a:ext>
              </a:extLst>
            </p:cNvPr>
            <p:cNvSpPr>
              <a:spLocks noChangeArrowheads="1"/>
            </p:cNvSpPr>
            <p:nvPr/>
          </p:nvSpPr>
          <p:spPr bwMode="auto">
            <a:xfrm>
              <a:off x="3401987" y="1988984"/>
              <a:ext cx="270003"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W1</a:t>
              </a:r>
            </a:p>
          </p:txBody>
        </p:sp>
      </p:grpSp>
    </p:spTree>
    <p:extLst>
      <p:ext uri="{BB962C8B-B14F-4D97-AF65-F5344CB8AC3E}">
        <p14:creationId xmlns:p14="http://schemas.microsoft.com/office/powerpoint/2010/main" val="27857502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43DF8F5-B166-84F8-727E-88F2D154DDC3}"/>
              </a:ext>
            </a:extLst>
          </p:cNvPr>
          <p:cNvSpPr>
            <a:spLocks noGrp="1"/>
          </p:cNvSpPr>
          <p:nvPr>
            <p:ph type="title"/>
          </p:nvPr>
        </p:nvSpPr>
        <p:spPr/>
        <p:txBody>
          <a:bodyPr/>
          <a:lstStyle/>
          <a:p>
            <a:r>
              <a:rPr lang="ja-JP" altLang="en-US" dirty="0"/>
              <a:t>各ステージで実施する仕事を半分にして，</a:t>
            </a:r>
            <a:br>
              <a:rPr lang="en-US" altLang="ja-JP" dirty="0"/>
            </a:br>
            <a:r>
              <a:rPr lang="ja-JP" altLang="en-US" dirty="0"/>
              <a:t>かわりに倍速で動かしている</a:t>
            </a:r>
            <a:endParaRPr kumimoji="1" lang="en-US" dirty="0"/>
          </a:p>
        </p:txBody>
      </p:sp>
      <p:sp>
        <p:nvSpPr>
          <p:cNvPr id="6" name="平行四辺形 5">
            <a:extLst>
              <a:ext uri="{FF2B5EF4-FFF2-40B4-BE49-F238E27FC236}">
                <a16:creationId xmlns:a16="http://schemas.microsoft.com/office/drawing/2014/main" id="{924A0410-E82C-0C3E-5D17-009BF319D2DA}"/>
              </a:ext>
            </a:extLst>
          </p:cNvPr>
          <p:cNvSpPr/>
          <p:nvPr/>
        </p:nvSpPr>
        <p:spPr bwMode="auto">
          <a:xfrm>
            <a:off x="881959" y="2888994"/>
            <a:ext cx="15624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sp>
        <p:nvSpPr>
          <p:cNvPr id="9" name="平行四辺形 8">
            <a:extLst>
              <a:ext uri="{FF2B5EF4-FFF2-40B4-BE49-F238E27FC236}">
                <a16:creationId xmlns:a16="http://schemas.microsoft.com/office/drawing/2014/main" id="{F3F9C887-A1F6-5400-D621-B89E230B60DC}"/>
              </a:ext>
            </a:extLst>
          </p:cNvPr>
          <p:cNvSpPr/>
          <p:nvPr/>
        </p:nvSpPr>
        <p:spPr bwMode="auto">
          <a:xfrm>
            <a:off x="2322119" y="2888994"/>
            <a:ext cx="15624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sp>
        <p:nvSpPr>
          <p:cNvPr id="12" name="平行四辺形 11">
            <a:extLst>
              <a:ext uri="{FF2B5EF4-FFF2-40B4-BE49-F238E27FC236}">
                <a16:creationId xmlns:a16="http://schemas.microsoft.com/office/drawing/2014/main" id="{749A4345-BE4C-48B8-1C25-D053078D38F1}"/>
              </a:ext>
            </a:extLst>
          </p:cNvPr>
          <p:cNvSpPr/>
          <p:nvPr/>
        </p:nvSpPr>
        <p:spPr bwMode="auto">
          <a:xfrm>
            <a:off x="3762279" y="2888994"/>
            <a:ext cx="15624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sp>
        <p:nvSpPr>
          <p:cNvPr id="16" name="正方形/長方形 15">
            <a:extLst>
              <a:ext uri="{FF2B5EF4-FFF2-40B4-BE49-F238E27FC236}">
                <a16:creationId xmlns:a16="http://schemas.microsoft.com/office/drawing/2014/main" id="{6ED1F96C-52BF-AD99-74CE-13E0B4D5E90A}"/>
              </a:ext>
            </a:extLst>
          </p:cNvPr>
          <p:cNvSpPr/>
          <p:nvPr/>
        </p:nvSpPr>
        <p:spPr>
          <a:xfrm>
            <a:off x="1331963" y="1988984"/>
            <a:ext cx="117001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ﾏｯﾀﾘ</a:t>
            </a:r>
            <a:endPar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9" name="正方形/長方形 18">
            <a:extLst>
              <a:ext uri="{FF2B5EF4-FFF2-40B4-BE49-F238E27FC236}">
                <a16:creationId xmlns:a16="http://schemas.microsoft.com/office/drawing/2014/main" id="{08644A07-6BA2-3F97-1CBE-EC276B367423}"/>
              </a:ext>
            </a:extLst>
          </p:cNvPr>
          <p:cNvSpPr/>
          <p:nvPr/>
        </p:nvSpPr>
        <p:spPr>
          <a:xfrm>
            <a:off x="7092028" y="1988984"/>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dirty="0"/>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1" name="平行四辺形 30">
            <a:extLst>
              <a:ext uri="{FF2B5EF4-FFF2-40B4-BE49-F238E27FC236}">
                <a16:creationId xmlns:a16="http://schemas.microsoft.com/office/drawing/2014/main" id="{A0D2B890-3FBD-6740-6EA3-487C95E1B8E8}"/>
              </a:ext>
            </a:extLst>
          </p:cNvPr>
          <p:cNvSpPr/>
          <p:nvPr/>
        </p:nvSpPr>
        <p:spPr bwMode="auto">
          <a:xfrm>
            <a:off x="5202007" y="2888994"/>
            <a:ext cx="1562400" cy="504056"/>
          </a:xfrm>
          <a:prstGeom prst="parallelogram">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sp>
        <p:nvSpPr>
          <p:cNvPr id="15" name="平行四辺形 14">
            <a:extLst>
              <a:ext uri="{FF2B5EF4-FFF2-40B4-BE49-F238E27FC236}">
                <a16:creationId xmlns:a16="http://schemas.microsoft.com/office/drawing/2014/main" id="{B77396CE-B31F-1D85-9D61-3710D94E5E05}"/>
              </a:ext>
            </a:extLst>
          </p:cNvPr>
          <p:cNvSpPr/>
          <p:nvPr/>
        </p:nvSpPr>
        <p:spPr bwMode="auto">
          <a:xfrm>
            <a:off x="6642023" y="2888994"/>
            <a:ext cx="1584176"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sp>
        <p:nvSpPr>
          <p:cNvPr id="34" name="平行四辺形 33">
            <a:extLst>
              <a:ext uri="{FF2B5EF4-FFF2-40B4-BE49-F238E27FC236}">
                <a16:creationId xmlns:a16="http://schemas.microsoft.com/office/drawing/2014/main" id="{80AB508D-5659-8D46-E2D9-843DDA7585E4}"/>
              </a:ext>
            </a:extLst>
          </p:cNvPr>
          <p:cNvSpPr/>
          <p:nvPr/>
        </p:nvSpPr>
        <p:spPr bwMode="auto">
          <a:xfrm>
            <a:off x="881959" y="5769026"/>
            <a:ext cx="8100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sp>
        <p:nvSpPr>
          <p:cNvPr id="35" name="平行四辺形 34">
            <a:extLst>
              <a:ext uri="{FF2B5EF4-FFF2-40B4-BE49-F238E27FC236}">
                <a16:creationId xmlns:a16="http://schemas.microsoft.com/office/drawing/2014/main" id="{B4C44D83-CC29-5479-B3D8-0EE8765BC5CF}"/>
              </a:ext>
            </a:extLst>
          </p:cNvPr>
          <p:cNvSpPr/>
          <p:nvPr/>
        </p:nvSpPr>
        <p:spPr bwMode="auto">
          <a:xfrm>
            <a:off x="1601966" y="5769026"/>
            <a:ext cx="8100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sp>
        <p:nvSpPr>
          <p:cNvPr id="36" name="平行四辺形 35">
            <a:extLst>
              <a:ext uri="{FF2B5EF4-FFF2-40B4-BE49-F238E27FC236}">
                <a16:creationId xmlns:a16="http://schemas.microsoft.com/office/drawing/2014/main" id="{EBE9BC35-B43F-1CF3-6F54-A1BEA6C6AF31}"/>
              </a:ext>
            </a:extLst>
          </p:cNvPr>
          <p:cNvSpPr/>
          <p:nvPr/>
        </p:nvSpPr>
        <p:spPr bwMode="auto">
          <a:xfrm>
            <a:off x="2321975" y="5769026"/>
            <a:ext cx="810009"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sp>
        <p:nvSpPr>
          <p:cNvPr id="37" name="平行四辺形 36">
            <a:extLst>
              <a:ext uri="{FF2B5EF4-FFF2-40B4-BE49-F238E27FC236}">
                <a16:creationId xmlns:a16="http://schemas.microsoft.com/office/drawing/2014/main" id="{5723047A-888B-5D65-94CD-ACD5545E61D4}"/>
              </a:ext>
            </a:extLst>
          </p:cNvPr>
          <p:cNvSpPr/>
          <p:nvPr/>
        </p:nvSpPr>
        <p:spPr bwMode="auto">
          <a:xfrm>
            <a:off x="3041983" y="5769026"/>
            <a:ext cx="810009"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sp>
        <p:nvSpPr>
          <p:cNvPr id="38" name="平行四辺形 37">
            <a:extLst>
              <a:ext uri="{FF2B5EF4-FFF2-40B4-BE49-F238E27FC236}">
                <a16:creationId xmlns:a16="http://schemas.microsoft.com/office/drawing/2014/main" id="{EF9EE983-A2CA-412E-476D-9DB6FC50CFF9}"/>
              </a:ext>
            </a:extLst>
          </p:cNvPr>
          <p:cNvSpPr/>
          <p:nvPr/>
        </p:nvSpPr>
        <p:spPr bwMode="auto">
          <a:xfrm>
            <a:off x="3761992" y="5769026"/>
            <a:ext cx="810009" cy="504056"/>
          </a:xfrm>
          <a:prstGeom prst="parallelogram">
            <a:avLst/>
          </a:pr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sp>
        <p:nvSpPr>
          <p:cNvPr id="39" name="平行四辺形 38">
            <a:extLst>
              <a:ext uri="{FF2B5EF4-FFF2-40B4-BE49-F238E27FC236}">
                <a16:creationId xmlns:a16="http://schemas.microsoft.com/office/drawing/2014/main" id="{15EEA2EF-8E76-7D00-5EA8-782D0AA73252}"/>
              </a:ext>
            </a:extLst>
          </p:cNvPr>
          <p:cNvSpPr/>
          <p:nvPr/>
        </p:nvSpPr>
        <p:spPr bwMode="auto">
          <a:xfrm>
            <a:off x="4481999" y="5769026"/>
            <a:ext cx="810009" cy="504056"/>
          </a:xfrm>
          <a:prstGeom prst="parallelogram">
            <a:avLst/>
          </a:pr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sp>
        <p:nvSpPr>
          <p:cNvPr id="40" name="平行四辺形 39">
            <a:extLst>
              <a:ext uri="{FF2B5EF4-FFF2-40B4-BE49-F238E27FC236}">
                <a16:creationId xmlns:a16="http://schemas.microsoft.com/office/drawing/2014/main" id="{297FF9FC-84D0-F0E0-35FC-1F1B91B5DA9B}"/>
              </a:ext>
            </a:extLst>
          </p:cNvPr>
          <p:cNvSpPr/>
          <p:nvPr/>
        </p:nvSpPr>
        <p:spPr bwMode="auto">
          <a:xfrm>
            <a:off x="5202008" y="5769026"/>
            <a:ext cx="810009" cy="504056"/>
          </a:xfrm>
          <a:prstGeom prst="parallelogram">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sp>
        <p:nvSpPr>
          <p:cNvPr id="41" name="平行四辺形 40">
            <a:extLst>
              <a:ext uri="{FF2B5EF4-FFF2-40B4-BE49-F238E27FC236}">
                <a16:creationId xmlns:a16="http://schemas.microsoft.com/office/drawing/2014/main" id="{F8D4B663-9B2D-CB7F-D76D-B68529EDE1E6}"/>
              </a:ext>
            </a:extLst>
          </p:cNvPr>
          <p:cNvSpPr/>
          <p:nvPr/>
        </p:nvSpPr>
        <p:spPr bwMode="auto">
          <a:xfrm>
            <a:off x="5922016" y="5769026"/>
            <a:ext cx="810009" cy="504056"/>
          </a:xfrm>
          <a:prstGeom prst="parallelogram">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sp>
        <p:nvSpPr>
          <p:cNvPr id="42" name="平行四辺形 41">
            <a:extLst>
              <a:ext uri="{FF2B5EF4-FFF2-40B4-BE49-F238E27FC236}">
                <a16:creationId xmlns:a16="http://schemas.microsoft.com/office/drawing/2014/main" id="{9C421364-8A9B-FA56-5D16-985CE0D91111}"/>
              </a:ext>
            </a:extLst>
          </p:cNvPr>
          <p:cNvSpPr/>
          <p:nvPr/>
        </p:nvSpPr>
        <p:spPr bwMode="auto">
          <a:xfrm>
            <a:off x="6642023" y="5769026"/>
            <a:ext cx="810009"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sp>
        <p:nvSpPr>
          <p:cNvPr id="43" name="平行四辺形 42">
            <a:extLst>
              <a:ext uri="{FF2B5EF4-FFF2-40B4-BE49-F238E27FC236}">
                <a16:creationId xmlns:a16="http://schemas.microsoft.com/office/drawing/2014/main" id="{5DCB0CDC-C763-995C-9DEF-6E9CB6EB16AF}"/>
              </a:ext>
            </a:extLst>
          </p:cNvPr>
          <p:cNvSpPr/>
          <p:nvPr/>
        </p:nvSpPr>
        <p:spPr bwMode="auto">
          <a:xfrm>
            <a:off x="7362031" y="5769026"/>
            <a:ext cx="810009"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sp>
        <p:nvSpPr>
          <p:cNvPr id="44" name="正方形/長方形 43">
            <a:extLst>
              <a:ext uri="{FF2B5EF4-FFF2-40B4-BE49-F238E27FC236}">
                <a16:creationId xmlns:a16="http://schemas.microsoft.com/office/drawing/2014/main" id="{6925D667-4B72-2320-3479-BD04548441C3}"/>
              </a:ext>
            </a:extLst>
          </p:cNvPr>
          <p:cNvSpPr/>
          <p:nvPr/>
        </p:nvSpPr>
        <p:spPr>
          <a:xfrm>
            <a:off x="7362031" y="4959017"/>
            <a:ext cx="1710019"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dirty="0"/>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ﾊﾞｲｿｸﾃﾞｽ</a:t>
            </a:r>
            <a:b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b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8" name="角丸四角形 89">
            <a:extLst>
              <a:ext uri="{FF2B5EF4-FFF2-40B4-BE49-F238E27FC236}">
                <a16:creationId xmlns:a16="http://schemas.microsoft.com/office/drawing/2014/main" id="{77252879-6EA2-5436-7599-BF908A68CC37}"/>
              </a:ext>
            </a:extLst>
          </p:cNvPr>
          <p:cNvSpPr/>
          <p:nvPr/>
        </p:nvSpPr>
        <p:spPr bwMode="auto">
          <a:xfrm>
            <a:off x="7272030" y="2708992"/>
            <a:ext cx="450005"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kumimoji="1" lang="ja-JP" altLang="en-US" sz="1200" dirty="0">
                <a:latin typeface="Arial Narrow" panose="020B0606020202030204" pitchFamily="34" charset="0"/>
              </a:rPr>
              <a:t>命令</a:t>
            </a:r>
          </a:p>
        </p:txBody>
      </p:sp>
      <p:sp>
        <p:nvSpPr>
          <p:cNvPr id="14" name="正方形/長方形 13">
            <a:extLst>
              <a:ext uri="{FF2B5EF4-FFF2-40B4-BE49-F238E27FC236}">
                <a16:creationId xmlns:a16="http://schemas.microsoft.com/office/drawing/2014/main" id="{B26F96B2-0252-4023-6797-4DE0A37C1346}"/>
              </a:ext>
            </a:extLst>
          </p:cNvPr>
          <p:cNvSpPr/>
          <p:nvPr/>
        </p:nvSpPr>
        <p:spPr>
          <a:xfrm>
            <a:off x="971959" y="4959017"/>
            <a:ext cx="1710019"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0" name="角丸四角形 89">
            <a:extLst>
              <a:ext uri="{FF2B5EF4-FFF2-40B4-BE49-F238E27FC236}">
                <a16:creationId xmlns:a16="http://schemas.microsoft.com/office/drawing/2014/main" id="{20272F35-3875-E924-DDD0-13BE33D8DC39}"/>
              </a:ext>
            </a:extLst>
          </p:cNvPr>
          <p:cNvSpPr/>
          <p:nvPr/>
        </p:nvSpPr>
        <p:spPr bwMode="auto">
          <a:xfrm>
            <a:off x="5742013" y="2708992"/>
            <a:ext cx="450005"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kumimoji="1" lang="ja-JP" altLang="en-US" sz="1200" dirty="0">
                <a:latin typeface="Arial Narrow" panose="020B0606020202030204" pitchFamily="34" charset="0"/>
              </a:rPr>
              <a:t>命令</a:t>
            </a:r>
          </a:p>
        </p:txBody>
      </p:sp>
      <p:sp>
        <p:nvSpPr>
          <p:cNvPr id="17" name="角丸四角形 89">
            <a:extLst>
              <a:ext uri="{FF2B5EF4-FFF2-40B4-BE49-F238E27FC236}">
                <a16:creationId xmlns:a16="http://schemas.microsoft.com/office/drawing/2014/main" id="{76883C71-F802-E1A6-5593-C7BCD031EA88}"/>
              </a:ext>
            </a:extLst>
          </p:cNvPr>
          <p:cNvSpPr/>
          <p:nvPr/>
        </p:nvSpPr>
        <p:spPr bwMode="auto">
          <a:xfrm>
            <a:off x="4301997" y="2708992"/>
            <a:ext cx="450005"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kumimoji="1" lang="ja-JP" altLang="en-US" sz="1200" dirty="0">
                <a:latin typeface="Arial Narrow" panose="020B0606020202030204" pitchFamily="34" charset="0"/>
              </a:rPr>
              <a:t>命令</a:t>
            </a:r>
          </a:p>
        </p:txBody>
      </p:sp>
      <p:sp>
        <p:nvSpPr>
          <p:cNvPr id="18" name="角丸四角形 89">
            <a:extLst>
              <a:ext uri="{FF2B5EF4-FFF2-40B4-BE49-F238E27FC236}">
                <a16:creationId xmlns:a16="http://schemas.microsoft.com/office/drawing/2014/main" id="{055E20B1-1F81-AFCB-70AD-75FA5767993E}"/>
              </a:ext>
            </a:extLst>
          </p:cNvPr>
          <p:cNvSpPr/>
          <p:nvPr/>
        </p:nvSpPr>
        <p:spPr bwMode="auto">
          <a:xfrm>
            <a:off x="2951982" y="2708992"/>
            <a:ext cx="450005"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kumimoji="1" lang="ja-JP" altLang="en-US" sz="1200" dirty="0">
                <a:latin typeface="Arial Narrow" panose="020B0606020202030204" pitchFamily="34" charset="0"/>
              </a:rPr>
              <a:t>命令</a:t>
            </a:r>
          </a:p>
        </p:txBody>
      </p:sp>
      <p:sp>
        <p:nvSpPr>
          <p:cNvPr id="20" name="角丸四角形 89">
            <a:extLst>
              <a:ext uri="{FF2B5EF4-FFF2-40B4-BE49-F238E27FC236}">
                <a16:creationId xmlns:a16="http://schemas.microsoft.com/office/drawing/2014/main" id="{DA629A66-2CE0-3C32-58EA-AA69AA1D8F29}"/>
              </a:ext>
            </a:extLst>
          </p:cNvPr>
          <p:cNvSpPr/>
          <p:nvPr/>
        </p:nvSpPr>
        <p:spPr bwMode="auto">
          <a:xfrm>
            <a:off x="1511966" y="2708992"/>
            <a:ext cx="450005"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kumimoji="1" lang="ja-JP" altLang="en-US" sz="1200" dirty="0">
                <a:latin typeface="Arial Narrow" panose="020B0606020202030204" pitchFamily="34" charset="0"/>
              </a:rPr>
              <a:t>命令</a:t>
            </a:r>
          </a:p>
        </p:txBody>
      </p:sp>
      <p:sp>
        <p:nvSpPr>
          <p:cNvPr id="21" name="角丸四角形 89">
            <a:extLst>
              <a:ext uri="{FF2B5EF4-FFF2-40B4-BE49-F238E27FC236}">
                <a16:creationId xmlns:a16="http://schemas.microsoft.com/office/drawing/2014/main" id="{C26F65AC-EFE3-FA6F-4624-4B51696F63BA}"/>
              </a:ext>
            </a:extLst>
          </p:cNvPr>
          <p:cNvSpPr/>
          <p:nvPr/>
        </p:nvSpPr>
        <p:spPr bwMode="auto">
          <a:xfrm>
            <a:off x="1061961" y="5679025"/>
            <a:ext cx="450005"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kumimoji="1" lang="ja-JP" altLang="en-US" sz="1200" dirty="0">
                <a:latin typeface="Arial Narrow" panose="020B0606020202030204" pitchFamily="34" charset="0"/>
              </a:rPr>
              <a:t>命令</a:t>
            </a:r>
          </a:p>
        </p:txBody>
      </p:sp>
      <p:sp>
        <p:nvSpPr>
          <p:cNvPr id="22" name="角丸四角形 89">
            <a:extLst>
              <a:ext uri="{FF2B5EF4-FFF2-40B4-BE49-F238E27FC236}">
                <a16:creationId xmlns:a16="http://schemas.microsoft.com/office/drawing/2014/main" id="{30607270-E65C-6AE1-8AC8-BBB02F453B0C}"/>
              </a:ext>
            </a:extLst>
          </p:cNvPr>
          <p:cNvSpPr/>
          <p:nvPr/>
        </p:nvSpPr>
        <p:spPr bwMode="auto">
          <a:xfrm>
            <a:off x="1781969" y="5679025"/>
            <a:ext cx="450005"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kumimoji="1" lang="ja-JP" altLang="en-US" sz="1200" dirty="0">
                <a:latin typeface="Arial Narrow" panose="020B0606020202030204" pitchFamily="34" charset="0"/>
              </a:rPr>
              <a:t>命令</a:t>
            </a:r>
          </a:p>
        </p:txBody>
      </p:sp>
      <p:sp>
        <p:nvSpPr>
          <p:cNvPr id="23" name="角丸四角形 89">
            <a:extLst>
              <a:ext uri="{FF2B5EF4-FFF2-40B4-BE49-F238E27FC236}">
                <a16:creationId xmlns:a16="http://schemas.microsoft.com/office/drawing/2014/main" id="{19E86F23-99E7-C602-188C-90D189C26B1F}"/>
              </a:ext>
            </a:extLst>
          </p:cNvPr>
          <p:cNvSpPr/>
          <p:nvPr/>
        </p:nvSpPr>
        <p:spPr bwMode="auto">
          <a:xfrm>
            <a:off x="2501977" y="5679025"/>
            <a:ext cx="450005"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kumimoji="1" lang="ja-JP" altLang="en-US" sz="1200" dirty="0">
                <a:latin typeface="Arial Narrow" panose="020B0606020202030204" pitchFamily="34" charset="0"/>
              </a:rPr>
              <a:t>命令</a:t>
            </a:r>
          </a:p>
        </p:txBody>
      </p:sp>
      <p:sp>
        <p:nvSpPr>
          <p:cNvPr id="25" name="角丸四角形 89">
            <a:extLst>
              <a:ext uri="{FF2B5EF4-FFF2-40B4-BE49-F238E27FC236}">
                <a16:creationId xmlns:a16="http://schemas.microsoft.com/office/drawing/2014/main" id="{7C08E1CC-410A-6D39-AF3F-A2859279CD29}"/>
              </a:ext>
            </a:extLst>
          </p:cNvPr>
          <p:cNvSpPr/>
          <p:nvPr/>
        </p:nvSpPr>
        <p:spPr bwMode="auto">
          <a:xfrm>
            <a:off x="3221985" y="5679025"/>
            <a:ext cx="450005"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kumimoji="1" lang="ja-JP" altLang="en-US" sz="1200" dirty="0">
                <a:latin typeface="Arial Narrow" panose="020B0606020202030204" pitchFamily="34" charset="0"/>
              </a:rPr>
              <a:t>命令</a:t>
            </a:r>
          </a:p>
        </p:txBody>
      </p:sp>
      <p:sp>
        <p:nvSpPr>
          <p:cNvPr id="29" name="角丸四角形 89">
            <a:extLst>
              <a:ext uri="{FF2B5EF4-FFF2-40B4-BE49-F238E27FC236}">
                <a16:creationId xmlns:a16="http://schemas.microsoft.com/office/drawing/2014/main" id="{825B04FE-9DD8-96F6-9E14-43F0DE8A2FEA}"/>
              </a:ext>
            </a:extLst>
          </p:cNvPr>
          <p:cNvSpPr/>
          <p:nvPr/>
        </p:nvSpPr>
        <p:spPr bwMode="auto">
          <a:xfrm>
            <a:off x="3941993" y="5679025"/>
            <a:ext cx="450005"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kumimoji="1" lang="ja-JP" altLang="en-US" sz="1200" dirty="0">
                <a:latin typeface="Arial Narrow" panose="020B0606020202030204" pitchFamily="34" charset="0"/>
              </a:rPr>
              <a:t>命令</a:t>
            </a:r>
          </a:p>
        </p:txBody>
      </p:sp>
      <p:sp>
        <p:nvSpPr>
          <p:cNvPr id="30" name="角丸四角形 89">
            <a:extLst>
              <a:ext uri="{FF2B5EF4-FFF2-40B4-BE49-F238E27FC236}">
                <a16:creationId xmlns:a16="http://schemas.microsoft.com/office/drawing/2014/main" id="{3C475DEC-AE0F-72BD-B317-045213E7D0F3}"/>
              </a:ext>
            </a:extLst>
          </p:cNvPr>
          <p:cNvSpPr/>
          <p:nvPr/>
        </p:nvSpPr>
        <p:spPr bwMode="auto">
          <a:xfrm>
            <a:off x="4662001" y="5679025"/>
            <a:ext cx="450005"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kumimoji="1" lang="ja-JP" altLang="en-US" sz="1200" dirty="0">
                <a:latin typeface="Arial Narrow" panose="020B0606020202030204" pitchFamily="34" charset="0"/>
              </a:rPr>
              <a:t>命令</a:t>
            </a:r>
          </a:p>
        </p:txBody>
      </p:sp>
      <p:sp>
        <p:nvSpPr>
          <p:cNvPr id="33" name="角丸四角形 89">
            <a:extLst>
              <a:ext uri="{FF2B5EF4-FFF2-40B4-BE49-F238E27FC236}">
                <a16:creationId xmlns:a16="http://schemas.microsoft.com/office/drawing/2014/main" id="{0FAAA45C-ED43-F0F0-12B9-CA37603AEDBC}"/>
              </a:ext>
            </a:extLst>
          </p:cNvPr>
          <p:cNvSpPr/>
          <p:nvPr/>
        </p:nvSpPr>
        <p:spPr bwMode="auto">
          <a:xfrm>
            <a:off x="5382009" y="5679025"/>
            <a:ext cx="450005"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kumimoji="1" lang="ja-JP" altLang="en-US" sz="1200" dirty="0">
                <a:latin typeface="Arial Narrow" panose="020B0606020202030204" pitchFamily="34" charset="0"/>
              </a:rPr>
              <a:t>命令</a:t>
            </a:r>
          </a:p>
        </p:txBody>
      </p:sp>
      <p:sp>
        <p:nvSpPr>
          <p:cNvPr id="46" name="角丸四角形 89">
            <a:extLst>
              <a:ext uri="{FF2B5EF4-FFF2-40B4-BE49-F238E27FC236}">
                <a16:creationId xmlns:a16="http://schemas.microsoft.com/office/drawing/2014/main" id="{C902C5CD-1E00-A00C-B9AC-E53BFB2C8E91}"/>
              </a:ext>
            </a:extLst>
          </p:cNvPr>
          <p:cNvSpPr/>
          <p:nvPr/>
        </p:nvSpPr>
        <p:spPr bwMode="auto">
          <a:xfrm>
            <a:off x="6102017" y="5679025"/>
            <a:ext cx="450005"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kumimoji="1" lang="ja-JP" altLang="en-US" sz="1200" dirty="0">
                <a:latin typeface="Arial Narrow" panose="020B0606020202030204" pitchFamily="34" charset="0"/>
              </a:rPr>
              <a:t>命令</a:t>
            </a:r>
          </a:p>
        </p:txBody>
      </p:sp>
      <p:sp>
        <p:nvSpPr>
          <p:cNvPr id="55" name="角丸四角形 89">
            <a:extLst>
              <a:ext uri="{FF2B5EF4-FFF2-40B4-BE49-F238E27FC236}">
                <a16:creationId xmlns:a16="http://schemas.microsoft.com/office/drawing/2014/main" id="{5835660E-1B2E-56F2-1947-0E366A06B2EE}"/>
              </a:ext>
            </a:extLst>
          </p:cNvPr>
          <p:cNvSpPr/>
          <p:nvPr/>
        </p:nvSpPr>
        <p:spPr bwMode="auto">
          <a:xfrm>
            <a:off x="6822025" y="5679025"/>
            <a:ext cx="450005"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kumimoji="1" lang="ja-JP" altLang="en-US" sz="1200" dirty="0">
                <a:latin typeface="Arial Narrow" panose="020B0606020202030204" pitchFamily="34" charset="0"/>
              </a:rPr>
              <a:t>命令</a:t>
            </a:r>
          </a:p>
        </p:txBody>
      </p:sp>
      <p:sp>
        <p:nvSpPr>
          <p:cNvPr id="56" name="角丸四角形 89">
            <a:extLst>
              <a:ext uri="{FF2B5EF4-FFF2-40B4-BE49-F238E27FC236}">
                <a16:creationId xmlns:a16="http://schemas.microsoft.com/office/drawing/2014/main" id="{7E4E6833-2E61-1070-2991-62487CEBB4A3}"/>
              </a:ext>
            </a:extLst>
          </p:cNvPr>
          <p:cNvSpPr/>
          <p:nvPr/>
        </p:nvSpPr>
        <p:spPr bwMode="auto">
          <a:xfrm>
            <a:off x="7542033" y="5679025"/>
            <a:ext cx="450005"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kumimoji="1" lang="ja-JP" altLang="en-US" sz="1200" dirty="0">
                <a:latin typeface="Arial Narrow" panose="020B0606020202030204" pitchFamily="34" charset="0"/>
              </a:rPr>
              <a:t>命令</a:t>
            </a:r>
          </a:p>
        </p:txBody>
      </p:sp>
      <p:sp>
        <p:nvSpPr>
          <p:cNvPr id="60" name="テキスト ボックス 59">
            <a:extLst>
              <a:ext uri="{FF2B5EF4-FFF2-40B4-BE49-F238E27FC236}">
                <a16:creationId xmlns:a16="http://schemas.microsoft.com/office/drawing/2014/main" id="{07D5A3ED-8857-28AC-DEC3-7DCED16B7592}"/>
              </a:ext>
            </a:extLst>
          </p:cNvPr>
          <p:cNvSpPr txBox="1"/>
          <p:nvPr/>
        </p:nvSpPr>
        <p:spPr>
          <a:xfrm>
            <a:off x="341953" y="1358977"/>
            <a:ext cx="5400060" cy="646331"/>
          </a:xfrm>
          <a:prstGeom prst="rect">
            <a:avLst/>
          </a:prstGeom>
          <a:noFill/>
        </p:spPr>
        <p:txBody>
          <a:bodyPr wrap="square">
            <a:spAutoFit/>
          </a:bodyPr>
          <a:lstStyle/>
          <a:p>
            <a:pPr lvl="1"/>
            <a:r>
              <a:rPr lang="en-US" altLang="ja-JP" dirty="0">
                <a:solidFill>
                  <a:schemeClr val="tx1">
                    <a:lumMod val="75000"/>
                    <a:lumOff val="25000"/>
                  </a:schemeClr>
                </a:solidFill>
              </a:rPr>
              <a:t>IPC</a:t>
            </a:r>
            <a:r>
              <a:rPr lang="ja-JP" altLang="en-US" dirty="0">
                <a:solidFill>
                  <a:schemeClr val="tx1">
                    <a:lumMod val="75000"/>
                    <a:lumOff val="25000"/>
                  </a:schemeClr>
                </a:solidFill>
              </a:rPr>
              <a:t>≈</a:t>
            </a:r>
            <a:r>
              <a:rPr lang="en-US" altLang="ja-JP" dirty="0">
                <a:solidFill>
                  <a:schemeClr val="tx1">
                    <a:lumMod val="75000"/>
                    <a:lumOff val="25000"/>
                  </a:schemeClr>
                </a:solidFill>
              </a:rPr>
              <a:t>1</a:t>
            </a:r>
            <a:r>
              <a:rPr lang="ja-JP" altLang="en-US" dirty="0">
                <a:solidFill>
                  <a:schemeClr val="tx1">
                    <a:lumMod val="75000"/>
                    <a:lumOff val="25000"/>
                  </a:schemeClr>
                </a:solidFill>
              </a:rPr>
              <a:t>命令</a:t>
            </a:r>
            <a:r>
              <a:rPr lang="en-US" altLang="ja-JP" dirty="0">
                <a:solidFill>
                  <a:schemeClr val="tx1">
                    <a:lumMod val="75000"/>
                    <a:lumOff val="25000"/>
                  </a:schemeClr>
                </a:solidFill>
              </a:rPr>
              <a:t> / 1</a:t>
            </a:r>
            <a:r>
              <a:rPr lang="ja-JP" altLang="en-US" dirty="0">
                <a:solidFill>
                  <a:schemeClr val="tx1">
                    <a:lumMod val="75000"/>
                    <a:lumOff val="25000"/>
                  </a:schemeClr>
                </a:solidFill>
              </a:rPr>
              <a:t>サイクル</a:t>
            </a:r>
            <a:r>
              <a:rPr lang="en-US" altLang="ja-JP" dirty="0">
                <a:solidFill>
                  <a:schemeClr val="tx1">
                    <a:lumMod val="75000"/>
                    <a:lumOff val="25000"/>
                  </a:schemeClr>
                </a:solidFill>
              </a:rPr>
              <a:t> = 1</a:t>
            </a:r>
          </a:p>
          <a:p>
            <a:pPr lvl="1"/>
            <a:r>
              <a:rPr lang="ja-JP" altLang="en-US" dirty="0">
                <a:solidFill>
                  <a:schemeClr val="tx1">
                    <a:lumMod val="75000"/>
                    <a:lumOff val="25000"/>
                  </a:schemeClr>
                </a:solidFill>
              </a:rPr>
              <a:t>周波数</a:t>
            </a:r>
            <a:r>
              <a:rPr lang="en-US" altLang="ja-JP" dirty="0">
                <a:solidFill>
                  <a:schemeClr val="tx1">
                    <a:lumMod val="75000"/>
                    <a:lumOff val="25000"/>
                  </a:schemeClr>
                </a:solidFill>
              </a:rPr>
              <a:t> = 1</a:t>
            </a:r>
            <a:r>
              <a:rPr lang="ja-JP" altLang="en-US" dirty="0">
                <a:solidFill>
                  <a:schemeClr val="tx1">
                    <a:lumMod val="75000"/>
                    <a:lumOff val="25000"/>
                  </a:schemeClr>
                </a:solidFill>
              </a:rPr>
              <a:t>秒</a:t>
            </a:r>
            <a:r>
              <a:rPr lang="en-US" altLang="ja-JP" dirty="0">
                <a:solidFill>
                  <a:schemeClr val="tx1">
                    <a:lumMod val="75000"/>
                    <a:lumOff val="25000"/>
                  </a:schemeClr>
                </a:solidFill>
              </a:rPr>
              <a:t> / 1ns = 1000 MHz = 1GHz</a:t>
            </a:r>
          </a:p>
        </p:txBody>
      </p:sp>
      <p:sp>
        <p:nvSpPr>
          <p:cNvPr id="61" name="テキスト ボックス 60">
            <a:extLst>
              <a:ext uri="{FF2B5EF4-FFF2-40B4-BE49-F238E27FC236}">
                <a16:creationId xmlns:a16="http://schemas.microsoft.com/office/drawing/2014/main" id="{4CC02C3E-9FFE-6883-51C0-30BC79B85143}"/>
              </a:ext>
            </a:extLst>
          </p:cNvPr>
          <p:cNvSpPr txBox="1"/>
          <p:nvPr/>
        </p:nvSpPr>
        <p:spPr>
          <a:xfrm>
            <a:off x="341953" y="4059007"/>
            <a:ext cx="7740086" cy="923330"/>
          </a:xfrm>
          <a:prstGeom prst="rect">
            <a:avLst/>
          </a:prstGeom>
          <a:noFill/>
        </p:spPr>
        <p:txBody>
          <a:bodyPr wrap="square">
            <a:spAutoFit/>
          </a:bodyPr>
          <a:lstStyle/>
          <a:p>
            <a:pPr lvl="1"/>
            <a:r>
              <a:rPr lang="en-US" altLang="ja-JP" dirty="0">
                <a:solidFill>
                  <a:schemeClr val="tx1">
                    <a:lumMod val="75000"/>
                    <a:lumOff val="25000"/>
                  </a:schemeClr>
                </a:solidFill>
              </a:rPr>
              <a:t>IPC</a:t>
            </a:r>
            <a:r>
              <a:rPr lang="ja-JP" altLang="en-US" dirty="0">
                <a:solidFill>
                  <a:schemeClr val="tx1">
                    <a:lumMod val="75000"/>
                    <a:lumOff val="25000"/>
                  </a:schemeClr>
                </a:solidFill>
              </a:rPr>
              <a:t>≈</a:t>
            </a:r>
            <a:r>
              <a:rPr lang="en-US" altLang="ja-JP" dirty="0">
                <a:solidFill>
                  <a:schemeClr val="tx1">
                    <a:lumMod val="75000"/>
                    <a:lumOff val="25000"/>
                  </a:schemeClr>
                </a:solidFill>
              </a:rPr>
              <a:t>1</a:t>
            </a:r>
            <a:r>
              <a:rPr lang="ja-JP" altLang="en-US" dirty="0">
                <a:solidFill>
                  <a:schemeClr val="tx1">
                    <a:lumMod val="75000"/>
                    <a:lumOff val="25000"/>
                  </a:schemeClr>
                </a:solidFill>
              </a:rPr>
              <a:t>命令</a:t>
            </a:r>
            <a:r>
              <a:rPr lang="en-US" altLang="ja-JP" dirty="0">
                <a:solidFill>
                  <a:schemeClr val="tx1">
                    <a:lumMod val="75000"/>
                    <a:lumOff val="25000"/>
                  </a:schemeClr>
                </a:solidFill>
              </a:rPr>
              <a:t> / 1</a:t>
            </a:r>
            <a:r>
              <a:rPr lang="ja-JP" altLang="en-US" dirty="0">
                <a:solidFill>
                  <a:schemeClr val="tx1">
                    <a:lumMod val="75000"/>
                    <a:lumOff val="25000"/>
                  </a:schemeClr>
                </a:solidFill>
              </a:rPr>
              <a:t>サイクル</a:t>
            </a:r>
            <a:r>
              <a:rPr lang="en-US" altLang="ja-JP" dirty="0">
                <a:solidFill>
                  <a:schemeClr val="tx1">
                    <a:lumMod val="75000"/>
                    <a:lumOff val="25000"/>
                  </a:schemeClr>
                </a:solidFill>
              </a:rPr>
              <a:t> = 1</a:t>
            </a:r>
          </a:p>
          <a:p>
            <a:pPr lvl="1"/>
            <a:r>
              <a:rPr lang="ja-JP" altLang="en-US" dirty="0">
                <a:solidFill>
                  <a:schemeClr val="tx1">
                    <a:lumMod val="75000"/>
                    <a:lumOff val="25000"/>
                  </a:schemeClr>
                </a:solidFill>
              </a:rPr>
              <a:t>周波数</a:t>
            </a:r>
            <a:r>
              <a:rPr lang="en-US" altLang="ja-JP" dirty="0">
                <a:solidFill>
                  <a:schemeClr val="tx1">
                    <a:lumMod val="75000"/>
                    <a:lumOff val="25000"/>
                  </a:schemeClr>
                </a:solidFill>
              </a:rPr>
              <a:t> = 1</a:t>
            </a:r>
            <a:r>
              <a:rPr lang="ja-JP" altLang="en-US" dirty="0">
                <a:solidFill>
                  <a:schemeClr val="tx1">
                    <a:lumMod val="75000"/>
                    <a:lumOff val="25000"/>
                  </a:schemeClr>
                </a:solidFill>
              </a:rPr>
              <a:t>秒</a:t>
            </a:r>
            <a:r>
              <a:rPr lang="en-US" altLang="ja-JP" dirty="0">
                <a:solidFill>
                  <a:schemeClr val="tx1">
                    <a:lumMod val="75000"/>
                    <a:lumOff val="25000"/>
                  </a:schemeClr>
                </a:solidFill>
              </a:rPr>
              <a:t> / 0.5ns = 2000 MHz = 2GHz</a:t>
            </a:r>
          </a:p>
          <a:p>
            <a:pPr lvl="1"/>
            <a:r>
              <a:rPr lang="ja-JP" altLang="en-US" dirty="0">
                <a:solidFill>
                  <a:schemeClr val="tx1">
                    <a:lumMod val="75000"/>
                    <a:lumOff val="25000"/>
                  </a:schemeClr>
                </a:solidFill>
              </a:rPr>
              <a:t>１人が１サイクルに行う仕事を半分にして，かわりに倍速で次に送る</a:t>
            </a:r>
            <a:endParaRPr lang="en-US" altLang="ja-JP" dirty="0">
              <a:solidFill>
                <a:schemeClr val="tx1">
                  <a:lumMod val="75000"/>
                  <a:lumOff val="25000"/>
                </a:schemeClr>
              </a:solidFill>
            </a:endParaRPr>
          </a:p>
        </p:txBody>
      </p:sp>
      <p:sp>
        <p:nvSpPr>
          <p:cNvPr id="63" name="正方形/長方形 62">
            <a:extLst>
              <a:ext uri="{FF2B5EF4-FFF2-40B4-BE49-F238E27FC236}">
                <a16:creationId xmlns:a16="http://schemas.microsoft.com/office/drawing/2014/main" id="{C38327EA-A2D9-D317-F566-88063C6F7DF4}"/>
              </a:ext>
            </a:extLst>
          </p:cNvPr>
          <p:cNvSpPr/>
          <p:nvPr/>
        </p:nvSpPr>
        <p:spPr>
          <a:xfrm>
            <a:off x="1601967" y="4959017"/>
            <a:ext cx="937991"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Tree>
    <p:extLst>
      <p:ext uri="{BB962C8B-B14F-4D97-AF65-F5344CB8AC3E}">
        <p14:creationId xmlns:p14="http://schemas.microsoft.com/office/powerpoint/2010/main" val="418569010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2-way </a:t>
            </a:r>
            <a:r>
              <a:rPr kumimoji="1" lang="ja-JP" altLang="en-US" dirty="0"/>
              <a:t>スーパスカラ・プロセッサの性能</a:t>
            </a:r>
          </a:p>
        </p:txBody>
      </p:sp>
      <p:cxnSp>
        <p:nvCxnSpPr>
          <p:cNvPr id="42" name="直線矢印コネクタ 41">
            <a:extLst>
              <a:ext uri="{FF2B5EF4-FFF2-40B4-BE49-F238E27FC236}">
                <a16:creationId xmlns:a16="http://schemas.microsoft.com/office/drawing/2014/main" id="{752E328C-C1D5-FF66-56F7-6D32BE02079A}"/>
              </a:ext>
            </a:extLst>
          </p:cNvPr>
          <p:cNvCxnSpPr>
            <a:cxnSpLocks/>
          </p:cNvCxnSpPr>
          <p:nvPr/>
        </p:nvCxnSpPr>
        <p:spPr bwMode="auto">
          <a:xfrm>
            <a:off x="971961" y="1898983"/>
            <a:ext cx="450005" cy="0"/>
          </a:xfrm>
          <a:prstGeom prst="straightConnector1">
            <a:avLst/>
          </a:prstGeom>
          <a:noFill/>
          <a:ln w="9525" cap="flat" cmpd="sng" algn="ctr">
            <a:solidFill>
              <a:schemeClr val="tx1">
                <a:lumMod val="75000"/>
                <a:lumOff val="25000"/>
              </a:schemeClr>
            </a:solidFill>
            <a:prstDash val="solid"/>
            <a:round/>
            <a:headEnd type="triangle" w="med" len="med"/>
            <a:tailEnd type="triangle"/>
          </a:ln>
          <a:effectLst/>
        </p:spPr>
      </p:cxnSp>
      <p:sp>
        <p:nvSpPr>
          <p:cNvPr id="43" name="正方形/長方形 42">
            <a:extLst>
              <a:ext uri="{FF2B5EF4-FFF2-40B4-BE49-F238E27FC236}">
                <a16:creationId xmlns:a16="http://schemas.microsoft.com/office/drawing/2014/main" id="{5FDAE602-62FC-55B4-E974-D59EF8802FD9}"/>
              </a:ext>
            </a:extLst>
          </p:cNvPr>
          <p:cNvSpPr/>
          <p:nvPr/>
        </p:nvSpPr>
        <p:spPr>
          <a:xfrm>
            <a:off x="881960" y="1178975"/>
            <a:ext cx="540005" cy="540006"/>
          </a:xfrm>
          <a:prstGeom prst="rect">
            <a:avLst/>
          </a:prstGeom>
        </p:spPr>
        <p:txBody>
          <a:bodyPr wrap="none">
            <a:noAutofit/>
          </a:bodyPr>
          <a:lstStyle/>
          <a:p>
            <a:pPr algn="ctr"/>
            <a:r>
              <a:rPr lang="en-US" altLang="ja-JP" dirty="0">
                <a:solidFill>
                  <a:schemeClr val="tx1">
                    <a:lumMod val="65000"/>
                    <a:lumOff val="35000"/>
                  </a:schemeClr>
                </a:solidFill>
              </a:rPr>
              <a:t>1 ns</a:t>
            </a:r>
          </a:p>
          <a:p>
            <a:pPr algn="ctr"/>
            <a:r>
              <a:rPr lang="en-US" altLang="ja-JP" dirty="0">
                <a:solidFill>
                  <a:schemeClr val="tx1">
                    <a:lumMod val="65000"/>
                    <a:lumOff val="35000"/>
                  </a:schemeClr>
                </a:solidFill>
              </a:rPr>
              <a:t>1 cycle</a:t>
            </a:r>
            <a:endParaRPr lang="ja-JP" altLang="en-US" dirty="0">
              <a:solidFill>
                <a:schemeClr val="tx1">
                  <a:lumMod val="65000"/>
                  <a:lumOff val="35000"/>
                </a:schemeClr>
              </a:solidFill>
            </a:endParaRPr>
          </a:p>
        </p:txBody>
      </p:sp>
      <p:sp>
        <p:nvSpPr>
          <p:cNvPr id="44" name="正方形/長方形 43">
            <a:extLst>
              <a:ext uri="{FF2B5EF4-FFF2-40B4-BE49-F238E27FC236}">
                <a16:creationId xmlns:a16="http://schemas.microsoft.com/office/drawing/2014/main" id="{66426AD8-2063-864A-2E33-ED04ABA301E1}"/>
              </a:ext>
            </a:extLst>
          </p:cNvPr>
          <p:cNvSpPr/>
          <p:nvPr/>
        </p:nvSpPr>
        <p:spPr>
          <a:xfrm>
            <a:off x="341954" y="1988984"/>
            <a:ext cx="450005" cy="369332"/>
          </a:xfrm>
          <a:prstGeom prst="rect">
            <a:avLst/>
          </a:prstGeom>
        </p:spPr>
        <p:txBody>
          <a:bodyPr wrap="square">
            <a:spAutoFit/>
          </a:bodyPr>
          <a:lstStyle/>
          <a:p>
            <a:pPr algn="ctr"/>
            <a:r>
              <a:rPr lang="en-US" altLang="ja-JP" dirty="0">
                <a:solidFill>
                  <a:schemeClr val="tx1">
                    <a:lumMod val="65000"/>
                    <a:lumOff val="35000"/>
                  </a:schemeClr>
                </a:solidFill>
                <a:latin typeface="Consolas" panose="020B0609020204030204" pitchFamily="49" charset="0"/>
              </a:rPr>
              <a:t>I0</a:t>
            </a:r>
            <a:endParaRPr lang="ja-JP" altLang="en-US" dirty="0">
              <a:solidFill>
                <a:schemeClr val="tx1">
                  <a:lumMod val="65000"/>
                  <a:lumOff val="35000"/>
                </a:schemeClr>
              </a:solidFill>
              <a:latin typeface="Consolas" panose="020B0609020204030204" pitchFamily="49" charset="0"/>
            </a:endParaRPr>
          </a:p>
        </p:txBody>
      </p:sp>
      <p:sp>
        <p:nvSpPr>
          <p:cNvPr id="45" name="正方形/長方形 44">
            <a:extLst>
              <a:ext uri="{FF2B5EF4-FFF2-40B4-BE49-F238E27FC236}">
                <a16:creationId xmlns:a16="http://schemas.microsoft.com/office/drawing/2014/main" id="{FFFD2385-A68A-86AD-D46A-FD94AB21DFF3}"/>
              </a:ext>
            </a:extLst>
          </p:cNvPr>
          <p:cNvSpPr/>
          <p:nvPr/>
        </p:nvSpPr>
        <p:spPr>
          <a:xfrm>
            <a:off x="341954" y="2438989"/>
            <a:ext cx="450005" cy="369332"/>
          </a:xfrm>
          <a:prstGeom prst="rect">
            <a:avLst/>
          </a:prstGeom>
        </p:spPr>
        <p:txBody>
          <a:bodyPr wrap="square">
            <a:spAutoFit/>
          </a:bodyPr>
          <a:lstStyle/>
          <a:p>
            <a:pPr algn="ctr"/>
            <a:r>
              <a:rPr lang="en-US" altLang="ja-JP" dirty="0">
                <a:solidFill>
                  <a:schemeClr val="tx1">
                    <a:lumMod val="65000"/>
                    <a:lumOff val="35000"/>
                  </a:schemeClr>
                </a:solidFill>
                <a:latin typeface="Consolas" panose="020B0609020204030204" pitchFamily="49" charset="0"/>
              </a:rPr>
              <a:t>I1</a:t>
            </a:r>
            <a:endParaRPr lang="ja-JP" altLang="en-US" dirty="0">
              <a:solidFill>
                <a:schemeClr val="tx1">
                  <a:lumMod val="65000"/>
                  <a:lumOff val="35000"/>
                </a:schemeClr>
              </a:solidFill>
              <a:latin typeface="Consolas" panose="020B0609020204030204" pitchFamily="49" charset="0"/>
            </a:endParaRPr>
          </a:p>
        </p:txBody>
      </p:sp>
      <p:sp>
        <p:nvSpPr>
          <p:cNvPr id="46" name="正方形/長方形 45">
            <a:extLst>
              <a:ext uri="{FF2B5EF4-FFF2-40B4-BE49-F238E27FC236}">
                <a16:creationId xmlns:a16="http://schemas.microsoft.com/office/drawing/2014/main" id="{7244211F-16C9-2035-785E-D5107B736746}"/>
              </a:ext>
            </a:extLst>
          </p:cNvPr>
          <p:cNvSpPr/>
          <p:nvPr/>
        </p:nvSpPr>
        <p:spPr>
          <a:xfrm>
            <a:off x="341954" y="2888994"/>
            <a:ext cx="450005" cy="369332"/>
          </a:xfrm>
          <a:prstGeom prst="rect">
            <a:avLst/>
          </a:prstGeom>
        </p:spPr>
        <p:txBody>
          <a:bodyPr wrap="square">
            <a:spAutoFit/>
          </a:bodyPr>
          <a:lstStyle/>
          <a:p>
            <a:pPr algn="ctr"/>
            <a:r>
              <a:rPr lang="en-US" altLang="ja-JP" dirty="0">
                <a:solidFill>
                  <a:schemeClr val="tx1">
                    <a:lumMod val="65000"/>
                    <a:lumOff val="35000"/>
                  </a:schemeClr>
                </a:solidFill>
                <a:latin typeface="Consolas" panose="020B0609020204030204" pitchFamily="49" charset="0"/>
              </a:rPr>
              <a:t>I2</a:t>
            </a:r>
            <a:endParaRPr lang="ja-JP" altLang="en-US" dirty="0">
              <a:solidFill>
                <a:schemeClr val="tx1">
                  <a:lumMod val="65000"/>
                  <a:lumOff val="35000"/>
                </a:schemeClr>
              </a:solidFill>
              <a:latin typeface="Consolas" panose="020B0609020204030204" pitchFamily="49" charset="0"/>
            </a:endParaRPr>
          </a:p>
        </p:txBody>
      </p:sp>
      <p:sp>
        <p:nvSpPr>
          <p:cNvPr id="47" name="Rectangle 69">
            <a:extLst>
              <a:ext uri="{FF2B5EF4-FFF2-40B4-BE49-F238E27FC236}">
                <a16:creationId xmlns:a16="http://schemas.microsoft.com/office/drawing/2014/main" id="{9B3F32A6-2741-4C89-4253-E3088ABC24B9}"/>
              </a:ext>
            </a:extLst>
          </p:cNvPr>
          <p:cNvSpPr>
            <a:spLocks noChangeArrowheads="1"/>
          </p:cNvSpPr>
          <p:nvPr/>
        </p:nvSpPr>
        <p:spPr bwMode="auto">
          <a:xfrm>
            <a:off x="971961" y="1988984"/>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48" name="Rectangle 70">
            <a:extLst>
              <a:ext uri="{FF2B5EF4-FFF2-40B4-BE49-F238E27FC236}">
                <a16:creationId xmlns:a16="http://schemas.microsoft.com/office/drawing/2014/main" id="{52D75755-CCCB-2F7E-37EE-CE5F0B18DB5C}"/>
              </a:ext>
            </a:extLst>
          </p:cNvPr>
          <p:cNvSpPr>
            <a:spLocks noChangeArrowheads="1"/>
          </p:cNvSpPr>
          <p:nvPr/>
        </p:nvSpPr>
        <p:spPr bwMode="auto">
          <a:xfrm>
            <a:off x="1421964" y="1988984"/>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D</a:t>
            </a:r>
          </a:p>
        </p:txBody>
      </p:sp>
      <p:sp>
        <p:nvSpPr>
          <p:cNvPr id="49" name="Rectangle 71">
            <a:extLst>
              <a:ext uri="{FF2B5EF4-FFF2-40B4-BE49-F238E27FC236}">
                <a16:creationId xmlns:a16="http://schemas.microsoft.com/office/drawing/2014/main" id="{5A8CBD06-584C-73D2-E9C2-030B11A0E28E}"/>
              </a:ext>
            </a:extLst>
          </p:cNvPr>
          <p:cNvSpPr>
            <a:spLocks noChangeArrowheads="1"/>
          </p:cNvSpPr>
          <p:nvPr/>
        </p:nvSpPr>
        <p:spPr bwMode="auto">
          <a:xfrm>
            <a:off x="1871970" y="1988984"/>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X</a:t>
            </a:r>
          </a:p>
        </p:txBody>
      </p:sp>
      <p:sp>
        <p:nvSpPr>
          <p:cNvPr id="50" name="Rectangle 72">
            <a:extLst>
              <a:ext uri="{FF2B5EF4-FFF2-40B4-BE49-F238E27FC236}">
                <a16:creationId xmlns:a16="http://schemas.microsoft.com/office/drawing/2014/main" id="{6843D2EC-A076-22ED-41B6-42963B406BCE}"/>
              </a:ext>
            </a:extLst>
          </p:cNvPr>
          <p:cNvSpPr>
            <a:spLocks noChangeArrowheads="1"/>
          </p:cNvSpPr>
          <p:nvPr/>
        </p:nvSpPr>
        <p:spPr bwMode="auto">
          <a:xfrm>
            <a:off x="2321975" y="1988984"/>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M</a:t>
            </a:r>
          </a:p>
        </p:txBody>
      </p:sp>
      <p:sp>
        <p:nvSpPr>
          <p:cNvPr id="51" name="Rectangle 73">
            <a:extLst>
              <a:ext uri="{FF2B5EF4-FFF2-40B4-BE49-F238E27FC236}">
                <a16:creationId xmlns:a16="http://schemas.microsoft.com/office/drawing/2014/main" id="{DADD78E0-BB6B-4298-DBD5-B683E5769EB7}"/>
              </a:ext>
            </a:extLst>
          </p:cNvPr>
          <p:cNvSpPr>
            <a:spLocks noChangeArrowheads="1"/>
          </p:cNvSpPr>
          <p:nvPr/>
        </p:nvSpPr>
        <p:spPr bwMode="auto">
          <a:xfrm>
            <a:off x="2771980" y="1988984"/>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W</a:t>
            </a:r>
          </a:p>
        </p:txBody>
      </p:sp>
      <p:sp>
        <p:nvSpPr>
          <p:cNvPr id="52" name="Rectangle 69">
            <a:extLst>
              <a:ext uri="{FF2B5EF4-FFF2-40B4-BE49-F238E27FC236}">
                <a16:creationId xmlns:a16="http://schemas.microsoft.com/office/drawing/2014/main" id="{144BAB32-E26D-025B-3338-D71F81E76E34}"/>
              </a:ext>
            </a:extLst>
          </p:cNvPr>
          <p:cNvSpPr>
            <a:spLocks noChangeArrowheads="1"/>
          </p:cNvSpPr>
          <p:nvPr/>
        </p:nvSpPr>
        <p:spPr bwMode="auto">
          <a:xfrm>
            <a:off x="971960" y="2438989"/>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53" name="Rectangle 70">
            <a:extLst>
              <a:ext uri="{FF2B5EF4-FFF2-40B4-BE49-F238E27FC236}">
                <a16:creationId xmlns:a16="http://schemas.microsoft.com/office/drawing/2014/main" id="{AC04BFC9-F09F-FECB-2D99-1EDF4C5C2865}"/>
              </a:ext>
            </a:extLst>
          </p:cNvPr>
          <p:cNvSpPr>
            <a:spLocks noChangeArrowheads="1"/>
          </p:cNvSpPr>
          <p:nvPr/>
        </p:nvSpPr>
        <p:spPr bwMode="auto">
          <a:xfrm>
            <a:off x="1421963" y="2438989"/>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D</a:t>
            </a:r>
          </a:p>
        </p:txBody>
      </p:sp>
      <p:sp>
        <p:nvSpPr>
          <p:cNvPr id="54" name="Rectangle 71">
            <a:extLst>
              <a:ext uri="{FF2B5EF4-FFF2-40B4-BE49-F238E27FC236}">
                <a16:creationId xmlns:a16="http://schemas.microsoft.com/office/drawing/2014/main" id="{EA60CA67-E297-5214-B39B-B4EAAB35993B}"/>
              </a:ext>
            </a:extLst>
          </p:cNvPr>
          <p:cNvSpPr>
            <a:spLocks noChangeArrowheads="1"/>
          </p:cNvSpPr>
          <p:nvPr/>
        </p:nvSpPr>
        <p:spPr bwMode="auto">
          <a:xfrm>
            <a:off x="1871969" y="2438989"/>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X</a:t>
            </a:r>
          </a:p>
        </p:txBody>
      </p:sp>
      <p:sp>
        <p:nvSpPr>
          <p:cNvPr id="55" name="Rectangle 72">
            <a:extLst>
              <a:ext uri="{FF2B5EF4-FFF2-40B4-BE49-F238E27FC236}">
                <a16:creationId xmlns:a16="http://schemas.microsoft.com/office/drawing/2014/main" id="{02678D27-6D0B-3033-4BC2-6FB980BB2D1D}"/>
              </a:ext>
            </a:extLst>
          </p:cNvPr>
          <p:cNvSpPr>
            <a:spLocks noChangeArrowheads="1"/>
          </p:cNvSpPr>
          <p:nvPr/>
        </p:nvSpPr>
        <p:spPr bwMode="auto">
          <a:xfrm>
            <a:off x="2321974" y="2438989"/>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M</a:t>
            </a:r>
          </a:p>
        </p:txBody>
      </p:sp>
      <p:sp>
        <p:nvSpPr>
          <p:cNvPr id="56" name="Rectangle 73">
            <a:extLst>
              <a:ext uri="{FF2B5EF4-FFF2-40B4-BE49-F238E27FC236}">
                <a16:creationId xmlns:a16="http://schemas.microsoft.com/office/drawing/2014/main" id="{CE3195C7-E623-D699-8944-103871540258}"/>
              </a:ext>
            </a:extLst>
          </p:cNvPr>
          <p:cNvSpPr>
            <a:spLocks noChangeArrowheads="1"/>
          </p:cNvSpPr>
          <p:nvPr/>
        </p:nvSpPr>
        <p:spPr bwMode="auto">
          <a:xfrm>
            <a:off x="2771979" y="2438989"/>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W</a:t>
            </a:r>
          </a:p>
        </p:txBody>
      </p:sp>
      <p:sp>
        <p:nvSpPr>
          <p:cNvPr id="57" name="Rectangle 69">
            <a:extLst>
              <a:ext uri="{FF2B5EF4-FFF2-40B4-BE49-F238E27FC236}">
                <a16:creationId xmlns:a16="http://schemas.microsoft.com/office/drawing/2014/main" id="{A957579B-9D10-3905-6A3B-A277C36BEE2B}"/>
              </a:ext>
            </a:extLst>
          </p:cNvPr>
          <p:cNvSpPr>
            <a:spLocks noChangeArrowheads="1"/>
          </p:cNvSpPr>
          <p:nvPr/>
        </p:nvSpPr>
        <p:spPr bwMode="auto">
          <a:xfrm>
            <a:off x="1421966" y="2888994"/>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58" name="Rectangle 70">
            <a:extLst>
              <a:ext uri="{FF2B5EF4-FFF2-40B4-BE49-F238E27FC236}">
                <a16:creationId xmlns:a16="http://schemas.microsoft.com/office/drawing/2014/main" id="{35182A08-F2BE-7B51-810A-A8097795E83D}"/>
              </a:ext>
            </a:extLst>
          </p:cNvPr>
          <p:cNvSpPr>
            <a:spLocks noChangeArrowheads="1"/>
          </p:cNvSpPr>
          <p:nvPr/>
        </p:nvSpPr>
        <p:spPr bwMode="auto">
          <a:xfrm>
            <a:off x="1871969" y="2888994"/>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D</a:t>
            </a:r>
          </a:p>
        </p:txBody>
      </p:sp>
      <p:sp>
        <p:nvSpPr>
          <p:cNvPr id="59" name="Rectangle 71">
            <a:extLst>
              <a:ext uri="{FF2B5EF4-FFF2-40B4-BE49-F238E27FC236}">
                <a16:creationId xmlns:a16="http://schemas.microsoft.com/office/drawing/2014/main" id="{699BB56D-A72F-DBBC-8F09-C4548E422CB5}"/>
              </a:ext>
            </a:extLst>
          </p:cNvPr>
          <p:cNvSpPr>
            <a:spLocks noChangeArrowheads="1"/>
          </p:cNvSpPr>
          <p:nvPr/>
        </p:nvSpPr>
        <p:spPr bwMode="auto">
          <a:xfrm>
            <a:off x="2321975" y="2888994"/>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X</a:t>
            </a:r>
          </a:p>
        </p:txBody>
      </p:sp>
      <p:sp>
        <p:nvSpPr>
          <p:cNvPr id="60" name="Rectangle 72">
            <a:extLst>
              <a:ext uri="{FF2B5EF4-FFF2-40B4-BE49-F238E27FC236}">
                <a16:creationId xmlns:a16="http://schemas.microsoft.com/office/drawing/2014/main" id="{C5CA23B1-CF0E-04F1-DD93-3437F8C9D114}"/>
              </a:ext>
            </a:extLst>
          </p:cNvPr>
          <p:cNvSpPr>
            <a:spLocks noChangeArrowheads="1"/>
          </p:cNvSpPr>
          <p:nvPr/>
        </p:nvSpPr>
        <p:spPr bwMode="auto">
          <a:xfrm>
            <a:off x="2771980" y="2888994"/>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M</a:t>
            </a:r>
          </a:p>
        </p:txBody>
      </p:sp>
      <p:sp>
        <p:nvSpPr>
          <p:cNvPr id="61" name="Rectangle 73">
            <a:extLst>
              <a:ext uri="{FF2B5EF4-FFF2-40B4-BE49-F238E27FC236}">
                <a16:creationId xmlns:a16="http://schemas.microsoft.com/office/drawing/2014/main" id="{BF87EBEA-58E2-718F-7102-DB9F26A5C7B2}"/>
              </a:ext>
            </a:extLst>
          </p:cNvPr>
          <p:cNvSpPr>
            <a:spLocks noChangeArrowheads="1"/>
          </p:cNvSpPr>
          <p:nvPr/>
        </p:nvSpPr>
        <p:spPr bwMode="auto">
          <a:xfrm>
            <a:off x="3221985" y="2888994"/>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W</a:t>
            </a:r>
          </a:p>
        </p:txBody>
      </p:sp>
      <p:grpSp>
        <p:nvGrpSpPr>
          <p:cNvPr id="131" name="グループ化 130">
            <a:extLst>
              <a:ext uri="{FF2B5EF4-FFF2-40B4-BE49-F238E27FC236}">
                <a16:creationId xmlns:a16="http://schemas.microsoft.com/office/drawing/2014/main" id="{5F7AADA1-C5B1-90AA-2492-AE731AF9B24F}"/>
              </a:ext>
            </a:extLst>
          </p:cNvPr>
          <p:cNvGrpSpPr/>
          <p:nvPr/>
        </p:nvGrpSpPr>
        <p:grpSpPr>
          <a:xfrm>
            <a:off x="1421967" y="3338999"/>
            <a:ext cx="2250023" cy="360000"/>
            <a:chOff x="1421967" y="3338999"/>
            <a:chExt cx="2250023" cy="360000"/>
          </a:xfrm>
        </p:grpSpPr>
        <p:sp>
          <p:nvSpPr>
            <p:cNvPr id="62" name="Rectangle 69">
              <a:extLst>
                <a:ext uri="{FF2B5EF4-FFF2-40B4-BE49-F238E27FC236}">
                  <a16:creationId xmlns:a16="http://schemas.microsoft.com/office/drawing/2014/main" id="{20C2F236-92B5-48E8-528F-4F5AD95EF19C}"/>
                </a:ext>
              </a:extLst>
            </p:cNvPr>
            <p:cNvSpPr>
              <a:spLocks noChangeArrowheads="1"/>
            </p:cNvSpPr>
            <p:nvPr/>
          </p:nvSpPr>
          <p:spPr bwMode="auto">
            <a:xfrm>
              <a:off x="1421967" y="3338999"/>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63" name="Rectangle 70">
              <a:extLst>
                <a:ext uri="{FF2B5EF4-FFF2-40B4-BE49-F238E27FC236}">
                  <a16:creationId xmlns:a16="http://schemas.microsoft.com/office/drawing/2014/main" id="{9DF3D61D-7B60-DBCD-FF5B-485985C42C87}"/>
                </a:ext>
              </a:extLst>
            </p:cNvPr>
            <p:cNvSpPr>
              <a:spLocks noChangeArrowheads="1"/>
            </p:cNvSpPr>
            <p:nvPr/>
          </p:nvSpPr>
          <p:spPr bwMode="auto">
            <a:xfrm>
              <a:off x="1871970" y="3338999"/>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D</a:t>
              </a:r>
            </a:p>
          </p:txBody>
        </p:sp>
        <p:sp>
          <p:nvSpPr>
            <p:cNvPr id="128" name="Rectangle 71">
              <a:extLst>
                <a:ext uri="{FF2B5EF4-FFF2-40B4-BE49-F238E27FC236}">
                  <a16:creationId xmlns:a16="http://schemas.microsoft.com/office/drawing/2014/main" id="{5B392B3B-6528-8A80-3C19-F597F012A5BE}"/>
                </a:ext>
              </a:extLst>
            </p:cNvPr>
            <p:cNvSpPr>
              <a:spLocks noChangeArrowheads="1"/>
            </p:cNvSpPr>
            <p:nvPr/>
          </p:nvSpPr>
          <p:spPr bwMode="auto">
            <a:xfrm>
              <a:off x="2321976" y="3338999"/>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X</a:t>
              </a:r>
            </a:p>
          </p:txBody>
        </p:sp>
        <p:sp>
          <p:nvSpPr>
            <p:cNvPr id="129" name="Rectangle 72">
              <a:extLst>
                <a:ext uri="{FF2B5EF4-FFF2-40B4-BE49-F238E27FC236}">
                  <a16:creationId xmlns:a16="http://schemas.microsoft.com/office/drawing/2014/main" id="{2061ED60-8B4A-27C8-86E6-1BBC12E40209}"/>
                </a:ext>
              </a:extLst>
            </p:cNvPr>
            <p:cNvSpPr>
              <a:spLocks noChangeArrowheads="1"/>
            </p:cNvSpPr>
            <p:nvPr/>
          </p:nvSpPr>
          <p:spPr bwMode="auto">
            <a:xfrm>
              <a:off x="2771981" y="3338999"/>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M</a:t>
              </a:r>
            </a:p>
          </p:txBody>
        </p:sp>
        <p:sp>
          <p:nvSpPr>
            <p:cNvPr id="130" name="Rectangle 73">
              <a:extLst>
                <a:ext uri="{FF2B5EF4-FFF2-40B4-BE49-F238E27FC236}">
                  <a16:creationId xmlns:a16="http://schemas.microsoft.com/office/drawing/2014/main" id="{5D5FBB19-AC81-75B5-24DB-AB1727D08292}"/>
                </a:ext>
              </a:extLst>
            </p:cNvPr>
            <p:cNvSpPr>
              <a:spLocks noChangeArrowheads="1"/>
            </p:cNvSpPr>
            <p:nvPr/>
          </p:nvSpPr>
          <p:spPr bwMode="auto">
            <a:xfrm>
              <a:off x="3221986" y="3338999"/>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W</a:t>
              </a:r>
            </a:p>
          </p:txBody>
        </p:sp>
      </p:grpSp>
      <p:grpSp>
        <p:nvGrpSpPr>
          <p:cNvPr id="132" name="グループ化 131">
            <a:extLst>
              <a:ext uri="{FF2B5EF4-FFF2-40B4-BE49-F238E27FC236}">
                <a16:creationId xmlns:a16="http://schemas.microsoft.com/office/drawing/2014/main" id="{2E4967D7-B845-DB32-0B66-9BB5C3700C6E}"/>
              </a:ext>
            </a:extLst>
          </p:cNvPr>
          <p:cNvGrpSpPr/>
          <p:nvPr/>
        </p:nvGrpSpPr>
        <p:grpSpPr>
          <a:xfrm>
            <a:off x="1871970" y="3789004"/>
            <a:ext cx="2250023" cy="360000"/>
            <a:chOff x="1421967" y="3338999"/>
            <a:chExt cx="2250023" cy="360000"/>
          </a:xfrm>
        </p:grpSpPr>
        <p:sp>
          <p:nvSpPr>
            <p:cNvPr id="133" name="Rectangle 69">
              <a:extLst>
                <a:ext uri="{FF2B5EF4-FFF2-40B4-BE49-F238E27FC236}">
                  <a16:creationId xmlns:a16="http://schemas.microsoft.com/office/drawing/2014/main" id="{A2B8A086-1AEB-F7C6-071A-C7A91E99CFFB}"/>
                </a:ext>
              </a:extLst>
            </p:cNvPr>
            <p:cNvSpPr>
              <a:spLocks noChangeArrowheads="1"/>
            </p:cNvSpPr>
            <p:nvPr/>
          </p:nvSpPr>
          <p:spPr bwMode="auto">
            <a:xfrm>
              <a:off x="1421967" y="3338999"/>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134" name="Rectangle 70">
              <a:extLst>
                <a:ext uri="{FF2B5EF4-FFF2-40B4-BE49-F238E27FC236}">
                  <a16:creationId xmlns:a16="http://schemas.microsoft.com/office/drawing/2014/main" id="{3800438F-B9BD-B59C-E505-05F3C467FEE5}"/>
                </a:ext>
              </a:extLst>
            </p:cNvPr>
            <p:cNvSpPr>
              <a:spLocks noChangeArrowheads="1"/>
            </p:cNvSpPr>
            <p:nvPr/>
          </p:nvSpPr>
          <p:spPr bwMode="auto">
            <a:xfrm>
              <a:off x="1871970" y="3338999"/>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D</a:t>
              </a:r>
            </a:p>
          </p:txBody>
        </p:sp>
        <p:sp>
          <p:nvSpPr>
            <p:cNvPr id="135" name="Rectangle 71">
              <a:extLst>
                <a:ext uri="{FF2B5EF4-FFF2-40B4-BE49-F238E27FC236}">
                  <a16:creationId xmlns:a16="http://schemas.microsoft.com/office/drawing/2014/main" id="{7C5BC112-0C90-1E2D-CC66-9377AB69E947}"/>
                </a:ext>
              </a:extLst>
            </p:cNvPr>
            <p:cNvSpPr>
              <a:spLocks noChangeArrowheads="1"/>
            </p:cNvSpPr>
            <p:nvPr/>
          </p:nvSpPr>
          <p:spPr bwMode="auto">
            <a:xfrm>
              <a:off x="2321976" y="3338999"/>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X</a:t>
              </a:r>
            </a:p>
          </p:txBody>
        </p:sp>
        <p:sp>
          <p:nvSpPr>
            <p:cNvPr id="136" name="Rectangle 72">
              <a:extLst>
                <a:ext uri="{FF2B5EF4-FFF2-40B4-BE49-F238E27FC236}">
                  <a16:creationId xmlns:a16="http://schemas.microsoft.com/office/drawing/2014/main" id="{53644511-1676-BA8B-34BD-A5125D196FAB}"/>
                </a:ext>
              </a:extLst>
            </p:cNvPr>
            <p:cNvSpPr>
              <a:spLocks noChangeArrowheads="1"/>
            </p:cNvSpPr>
            <p:nvPr/>
          </p:nvSpPr>
          <p:spPr bwMode="auto">
            <a:xfrm>
              <a:off x="2771981" y="3338999"/>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M</a:t>
              </a:r>
            </a:p>
          </p:txBody>
        </p:sp>
        <p:sp>
          <p:nvSpPr>
            <p:cNvPr id="137" name="Rectangle 73">
              <a:extLst>
                <a:ext uri="{FF2B5EF4-FFF2-40B4-BE49-F238E27FC236}">
                  <a16:creationId xmlns:a16="http://schemas.microsoft.com/office/drawing/2014/main" id="{F48293A1-DC44-D565-D8C6-6E1722B597F0}"/>
                </a:ext>
              </a:extLst>
            </p:cNvPr>
            <p:cNvSpPr>
              <a:spLocks noChangeArrowheads="1"/>
            </p:cNvSpPr>
            <p:nvPr/>
          </p:nvSpPr>
          <p:spPr bwMode="auto">
            <a:xfrm>
              <a:off x="3221986" y="3338999"/>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W</a:t>
              </a:r>
            </a:p>
          </p:txBody>
        </p:sp>
      </p:grpSp>
      <p:grpSp>
        <p:nvGrpSpPr>
          <p:cNvPr id="138" name="グループ化 137">
            <a:extLst>
              <a:ext uri="{FF2B5EF4-FFF2-40B4-BE49-F238E27FC236}">
                <a16:creationId xmlns:a16="http://schemas.microsoft.com/office/drawing/2014/main" id="{44413ECB-926E-2674-1D67-1F1536A38E90}"/>
              </a:ext>
            </a:extLst>
          </p:cNvPr>
          <p:cNvGrpSpPr/>
          <p:nvPr/>
        </p:nvGrpSpPr>
        <p:grpSpPr>
          <a:xfrm>
            <a:off x="1871970" y="4239009"/>
            <a:ext cx="2250023" cy="360000"/>
            <a:chOff x="1421967" y="3338999"/>
            <a:chExt cx="2250023" cy="360000"/>
          </a:xfrm>
        </p:grpSpPr>
        <p:sp>
          <p:nvSpPr>
            <p:cNvPr id="139" name="Rectangle 69">
              <a:extLst>
                <a:ext uri="{FF2B5EF4-FFF2-40B4-BE49-F238E27FC236}">
                  <a16:creationId xmlns:a16="http://schemas.microsoft.com/office/drawing/2014/main" id="{9589A191-7C76-0B8B-84B9-0E6DAABE8E7A}"/>
                </a:ext>
              </a:extLst>
            </p:cNvPr>
            <p:cNvSpPr>
              <a:spLocks noChangeArrowheads="1"/>
            </p:cNvSpPr>
            <p:nvPr/>
          </p:nvSpPr>
          <p:spPr bwMode="auto">
            <a:xfrm>
              <a:off x="1421967" y="3338999"/>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140" name="Rectangle 70">
              <a:extLst>
                <a:ext uri="{FF2B5EF4-FFF2-40B4-BE49-F238E27FC236}">
                  <a16:creationId xmlns:a16="http://schemas.microsoft.com/office/drawing/2014/main" id="{0B9DE5CD-46F4-9CB9-6901-63F8A8B30A10}"/>
                </a:ext>
              </a:extLst>
            </p:cNvPr>
            <p:cNvSpPr>
              <a:spLocks noChangeArrowheads="1"/>
            </p:cNvSpPr>
            <p:nvPr/>
          </p:nvSpPr>
          <p:spPr bwMode="auto">
            <a:xfrm>
              <a:off x="1871970" y="3338999"/>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D</a:t>
              </a:r>
            </a:p>
          </p:txBody>
        </p:sp>
        <p:sp>
          <p:nvSpPr>
            <p:cNvPr id="141" name="Rectangle 71">
              <a:extLst>
                <a:ext uri="{FF2B5EF4-FFF2-40B4-BE49-F238E27FC236}">
                  <a16:creationId xmlns:a16="http://schemas.microsoft.com/office/drawing/2014/main" id="{70A7E287-ADCC-740F-3384-8CC38A06D09B}"/>
                </a:ext>
              </a:extLst>
            </p:cNvPr>
            <p:cNvSpPr>
              <a:spLocks noChangeArrowheads="1"/>
            </p:cNvSpPr>
            <p:nvPr/>
          </p:nvSpPr>
          <p:spPr bwMode="auto">
            <a:xfrm>
              <a:off x="2321976" y="3338999"/>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X</a:t>
              </a:r>
            </a:p>
          </p:txBody>
        </p:sp>
        <p:sp>
          <p:nvSpPr>
            <p:cNvPr id="143" name="Rectangle 72">
              <a:extLst>
                <a:ext uri="{FF2B5EF4-FFF2-40B4-BE49-F238E27FC236}">
                  <a16:creationId xmlns:a16="http://schemas.microsoft.com/office/drawing/2014/main" id="{07A6B74C-80E2-C177-625B-A697C7BE1872}"/>
                </a:ext>
              </a:extLst>
            </p:cNvPr>
            <p:cNvSpPr>
              <a:spLocks noChangeArrowheads="1"/>
            </p:cNvSpPr>
            <p:nvPr/>
          </p:nvSpPr>
          <p:spPr bwMode="auto">
            <a:xfrm>
              <a:off x="2771981" y="3338999"/>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M</a:t>
              </a:r>
            </a:p>
          </p:txBody>
        </p:sp>
        <p:sp>
          <p:nvSpPr>
            <p:cNvPr id="146" name="Rectangle 73">
              <a:extLst>
                <a:ext uri="{FF2B5EF4-FFF2-40B4-BE49-F238E27FC236}">
                  <a16:creationId xmlns:a16="http://schemas.microsoft.com/office/drawing/2014/main" id="{A8528180-A8D3-2EEC-46FF-A51006E29E92}"/>
                </a:ext>
              </a:extLst>
            </p:cNvPr>
            <p:cNvSpPr>
              <a:spLocks noChangeArrowheads="1"/>
            </p:cNvSpPr>
            <p:nvPr/>
          </p:nvSpPr>
          <p:spPr bwMode="auto">
            <a:xfrm>
              <a:off x="3221986" y="3338999"/>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W</a:t>
              </a:r>
            </a:p>
          </p:txBody>
        </p:sp>
      </p:grpSp>
      <p:sp>
        <p:nvSpPr>
          <p:cNvPr id="153" name="正方形/長方形 152">
            <a:extLst>
              <a:ext uri="{FF2B5EF4-FFF2-40B4-BE49-F238E27FC236}">
                <a16:creationId xmlns:a16="http://schemas.microsoft.com/office/drawing/2014/main" id="{ACAB8FD4-70DD-D440-18B7-ECAB05BE219D}"/>
              </a:ext>
            </a:extLst>
          </p:cNvPr>
          <p:cNvSpPr/>
          <p:nvPr/>
        </p:nvSpPr>
        <p:spPr>
          <a:xfrm>
            <a:off x="341953" y="3338999"/>
            <a:ext cx="450005" cy="369332"/>
          </a:xfrm>
          <a:prstGeom prst="rect">
            <a:avLst/>
          </a:prstGeom>
        </p:spPr>
        <p:txBody>
          <a:bodyPr wrap="square">
            <a:spAutoFit/>
          </a:bodyPr>
          <a:lstStyle/>
          <a:p>
            <a:pPr algn="ctr"/>
            <a:r>
              <a:rPr lang="en-US" altLang="ja-JP" dirty="0">
                <a:solidFill>
                  <a:schemeClr val="tx1">
                    <a:lumMod val="65000"/>
                    <a:lumOff val="35000"/>
                  </a:schemeClr>
                </a:solidFill>
                <a:latin typeface="Consolas" panose="020B0609020204030204" pitchFamily="49" charset="0"/>
              </a:rPr>
              <a:t>I3</a:t>
            </a:r>
            <a:endParaRPr lang="ja-JP" altLang="en-US" dirty="0">
              <a:solidFill>
                <a:schemeClr val="tx1">
                  <a:lumMod val="65000"/>
                  <a:lumOff val="35000"/>
                </a:schemeClr>
              </a:solidFill>
              <a:latin typeface="Consolas" panose="020B0609020204030204" pitchFamily="49" charset="0"/>
            </a:endParaRPr>
          </a:p>
        </p:txBody>
      </p:sp>
      <p:sp>
        <p:nvSpPr>
          <p:cNvPr id="162" name="正方形/長方形 161">
            <a:extLst>
              <a:ext uri="{FF2B5EF4-FFF2-40B4-BE49-F238E27FC236}">
                <a16:creationId xmlns:a16="http://schemas.microsoft.com/office/drawing/2014/main" id="{9021EFB4-CEAC-F356-6E6B-DA67704C94A9}"/>
              </a:ext>
            </a:extLst>
          </p:cNvPr>
          <p:cNvSpPr/>
          <p:nvPr/>
        </p:nvSpPr>
        <p:spPr>
          <a:xfrm>
            <a:off x="341953" y="3789004"/>
            <a:ext cx="450005" cy="369332"/>
          </a:xfrm>
          <a:prstGeom prst="rect">
            <a:avLst/>
          </a:prstGeom>
        </p:spPr>
        <p:txBody>
          <a:bodyPr wrap="square">
            <a:spAutoFit/>
          </a:bodyPr>
          <a:lstStyle/>
          <a:p>
            <a:pPr algn="ctr"/>
            <a:r>
              <a:rPr lang="en-US" altLang="ja-JP" dirty="0">
                <a:solidFill>
                  <a:schemeClr val="tx1">
                    <a:lumMod val="65000"/>
                    <a:lumOff val="35000"/>
                  </a:schemeClr>
                </a:solidFill>
                <a:latin typeface="Consolas" panose="020B0609020204030204" pitchFamily="49" charset="0"/>
              </a:rPr>
              <a:t>I4</a:t>
            </a:r>
            <a:endParaRPr lang="ja-JP" altLang="en-US" dirty="0">
              <a:solidFill>
                <a:schemeClr val="tx1">
                  <a:lumMod val="65000"/>
                  <a:lumOff val="35000"/>
                </a:schemeClr>
              </a:solidFill>
              <a:latin typeface="Consolas" panose="020B0609020204030204" pitchFamily="49" charset="0"/>
            </a:endParaRPr>
          </a:p>
        </p:txBody>
      </p:sp>
      <p:sp>
        <p:nvSpPr>
          <p:cNvPr id="163" name="正方形/長方形 162">
            <a:extLst>
              <a:ext uri="{FF2B5EF4-FFF2-40B4-BE49-F238E27FC236}">
                <a16:creationId xmlns:a16="http://schemas.microsoft.com/office/drawing/2014/main" id="{9E9B5BD2-02DD-394D-F6A5-B44727DB5FC7}"/>
              </a:ext>
            </a:extLst>
          </p:cNvPr>
          <p:cNvSpPr/>
          <p:nvPr/>
        </p:nvSpPr>
        <p:spPr>
          <a:xfrm>
            <a:off x="341953" y="4239009"/>
            <a:ext cx="450005" cy="369332"/>
          </a:xfrm>
          <a:prstGeom prst="rect">
            <a:avLst/>
          </a:prstGeom>
        </p:spPr>
        <p:txBody>
          <a:bodyPr wrap="square">
            <a:spAutoFit/>
          </a:bodyPr>
          <a:lstStyle/>
          <a:p>
            <a:pPr algn="ctr"/>
            <a:r>
              <a:rPr lang="en-US" altLang="ja-JP" dirty="0">
                <a:solidFill>
                  <a:schemeClr val="tx1">
                    <a:lumMod val="65000"/>
                    <a:lumOff val="35000"/>
                  </a:schemeClr>
                </a:solidFill>
                <a:latin typeface="Consolas" panose="020B0609020204030204" pitchFamily="49" charset="0"/>
              </a:rPr>
              <a:t>I5</a:t>
            </a:r>
            <a:endParaRPr lang="ja-JP" altLang="en-US" dirty="0">
              <a:solidFill>
                <a:schemeClr val="tx1">
                  <a:lumMod val="65000"/>
                  <a:lumOff val="35000"/>
                </a:schemeClr>
              </a:solidFill>
              <a:latin typeface="Consolas" panose="020B0609020204030204" pitchFamily="49" charset="0"/>
            </a:endParaRPr>
          </a:p>
        </p:txBody>
      </p:sp>
      <p:sp>
        <p:nvSpPr>
          <p:cNvPr id="164" name="コンテンツ プレースホルダー 34">
            <a:extLst>
              <a:ext uri="{FF2B5EF4-FFF2-40B4-BE49-F238E27FC236}">
                <a16:creationId xmlns:a16="http://schemas.microsoft.com/office/drawing/2014/main" id="{1427C5C5-48AE-702F-24B4-44FCC04F520E}"/>
              </a:ext>
            </a:extLst>
          </p:cNvPr>
          <p:cNvSpPr>
            <a:spLocks noGrp="1"/>
          </p:cNvSpPr>
          <p:nvPr>
            <p:ph sz="quarter" idx="10"/>
          </p:nvPr>
        </p:nvSpPr>
        <p:spPr>
          <a:xfrm>
            <a:off x="431954" y="5499023"/>
            <a:ext cx="8280860" cy="809625"/>
          </a:xfrm>
        </p:spPr>
        <p:txBody>
          <a:bodyPr/>
          <a:lstStyle/>
          <a:p>
            <a:pPr lvl="1"/>
            <a:r>
              <a:rPr lang="en-US" altLang="ja-JP" dirty="0">
                <a:solidFill>
                  <a:schemeClr val="tx1">
                    <a:lumMod val="65000"/>
                    <a:lumOff val="35000"/>
                  </a:schemeClr>
                </a:solidFill>
              </a:rPr>
              <a:t>IPC </a:t>
            </a:r>
            <a:r>
              <a:rPr lang="ja-JP" altLang="en-US" dirty="0">
                <a:solidFill>
                  <a:schemeClr val="tx1">
                    <a:lumMod val="65000"/>
                    <a:lumOff val="35000"/>
                  </a:schemeClr>
                </a:solidFill>
              </a:rPr>
              <a:t>≈ </a:t>
            </a:r>
            <a:r>
              <a:rPr lang="en-US" altLang="ja-JP" dirty="0">
                <a:solidFill>
                  <a:schemeClr val="tx1">
                    <a:lumMod val="65000"/>
                    <a:lumOff val="35000"/>
                  </a:schemeClr>
                </a:solidFill>
              </a:rPr>
              <a:t>2</a:t>
            </a:r>
            <a:r>
              <a:rPr lang="ja-JP" altLang="en-US" dirty="0">
                <a:solidFill>
                  <a:schemeClr val="tx1">
                    <a:lumMod val="65000"/>
                    <a:lumOff val="35000"/>
                  </a:schemeClr>
                </a:solidFill>
              </a:rPr>
              <a:t>命令</a:t>
            </a:r>
            <a:r>
              <a:rPr lang="en-US" altLang="ja-JP" dirty="0">
                <a:solidFill>
                  <a:schemeClr val="tx1">
                    <a:lumMod val="65000"/>
                    <a:lumOff val="35000"/>
                  </a:schemeClr>
                </a:solidFill>
              </a:rPr>
              <a:t> / 1</a:t>
            </a:r>
            <a:r>
              <a:rPr lang="ja-JP" altLang="en-US" dirty="0">
                <a:solidFill>
                  <a:schemeClr val="tx1">
                    <a:lumMod val="65000"/>
                    <a:lumOff val="35000"/>
                  </a:schemeClr>
                </a:solidFill>
              </a:rPr>
              <a:t>サイクル</a:t>
            </a:r>
            <a:r>
              <a:rPr lang="en-US" altLang="ja-JP" dirty="0">
                <a:solidFill>
                  <a:schemeClr val="tx1">
                    <a:lumMod val="65000"/>
                    <a:lumOff val="35000"/>
                  </a:schemeClr>
                </a:solidFill>
              </a:rPr>
              <a:t> = </a:t>
            </a:r>
            <a:r>
              <a:rPr lang="en-US" altLang="ja-JP" dirty="0">
                <a:solidFill>
                  <a:schemeClr val="accent5"/>
                </a:solidFill>
              </a:rPr>
              <a:t>2</a:t>
            </a:r>
          </a:p>
          <a:p>
            <a:pPr lvl="1"/>
            <a:r>
              <a:rPr lang="ja-JP" altLang="en-US" dirty="0">
                <a:solidFill>
                  <a:schemeClr val="tx1">
                    <a:lumMod val="75000"/>
                    <a:lumOff val="25000"/>
                  </a:schemeClr>
                </a:solidFill>
              </a:rPr>
              <a:t>周波数</a:t>
            </a:r>
            <a:r>
              <a:rPr lang="en-US" altLang="ja-JP" dirty="0">
                <a:solidFill>
                  <a:schemeClr val="tx1">
                    <a:lumMod val="65000"/>
                    <a:lumOff val="35000"/>
                  </a:schemeClr>
                </a:solidFill>
              </a:rPr>
              <a:t> = 1</a:t>
            </a:r>
            <a:r>
              <a:rPr lang="ja-JP" altLang="en-US" dirty="0">
                <a:solidFill>
                  <a:schemeClr val="tx1">
                    <a:lumMod val="65000"/>
                    <a:lumOff val="35000"/>
                  </a:schemeClr>
                </a:solidFill>
              </a:rPr>
              <a:t>秒</a:t>
            </a:r>
            <a:r>
              <a:rPr lang="en-US" altLang="ja-JP" dirty="0">
                <a:solidFill>
                  <a:schemeClr val="tx1">
                    <a:lumMod val="65000"/>
                    <a:lumOff val="35000"/>
                  </a:schemeClr>
                </a:solidFill>
              </a:rPr>
              <a:t> / 1ns = </a:t>
            </a:r>
            <a:r>
              <a:rPr lang="en-US" altLang="ja-JP" dirty="0">
                <a:solidFill>
                  <a:schemeClr val="accent5"/>
                </a:solidFill>
              </a:rPr>
              <a:t>1000 MHz = 1GHz</a:t>
            </a:r>
          </a:p>
          <a:p>
            <a:pPr lvl="1"/>
            <a:r>
              <a:rPr lang="ja-JP" altLang="en-US" dirty="0">
                <a:solidFill>
                  <a:schemeClr val="tx1">
                    <a:lumMod val="75000"/>
                    <a:lumOff val="25000"/>
                  </a:schemeClr>
                </a:solidFill>
              </a:rPr>
              <a:t>性能（</a:t>
            </a:r>
            <a:r>
              <a:rPr lang="en-US" altLang="ja-JP" dirty="0">
                <a:solidFill>
                  <a:schemeClr val="tx1">
                    <a:lumMod val="75000"/>
                    <a:lumOff val="25000"/>
                  </a:schemeClr>
                </a:solidFill>
              </a:rPr>
              <a:t>1</a:t>
            </a:r>
            <a:r>
              <a:rPr lang="ja-JP" altLang="en-US" dirty="0">
                <a:solidFill>
                  <a:schemeClr val="tx1">
                    <a:lumMod val="75000"/>
                    <a:lumOff val="25000"/>
                  </a:schemeClr>
                </a:solidFill>
              </a:rPr>
              <a:t>秒あたりの命令数）</a:t>
            </a:r>
            <a:r>
              <a:rPr lang="en-US" altLang="ja-JP" dirty="0">
                <a:solidFill>
                  <a:schemeClr val="tx1">
                    <a:lumMod val="75000"/>
                    <a:lumOff val="25000"/>
                  </a:schemeClr>
                </a:solidFill>
              </a:rPr>
              <a:t>=</a:t>
            </a:r>
            <a:r>
              <a:rPr lang="ja-JP" altLang="en-US" dirty="0">
                <a:solidFill>
                  <a:schemeClr val="accent5"/>
                </a:solidFill>
              </a:rPr>
              <a:t> </a:t>
            </a:r>
            <a:r>
              <a:rPr lang="en-US" altLang="ja-JP" dirty="0">
                <a:solidFill>
                  <a:schemeClr val="tx1">
                    <a:lumMod val="75000"/>
                    <a:lumOff val="25000"/>
                  </a:schemeClr>
                </a:solidFill>
              </a:rPr>
              <a:t>IPC*</a:t>
            </a:r>
            <a:r>
              <a:rPr lang="ja-JP" altLang="en-US" dirty="0">
                <a:solidFill>
                  <a:schemeClr val="tx1">
                    <a:lumMod val="75000"/>
                    <a:lumOff val="25000"/>
                  </a:schemeClr>
                </a:solidFill>
              </a:rPr>
              <a:t>周波数</a:t>
            </a:r>
            <a:r>
              <a:rPr lang="ja-JP" altLang="en-US" dirty="0">
                <a:solidFill>
                  <a:schemeClr val="accent5"/>
                </a:solidFill>
              </a:rPr>
              <a:t> </a:t>
            </a:r>
            <a:r>
              <a:rPr lang="en-US" altLang="ja-JP" dirty="0">
                <a:solidFill>
                  <a:schemeClr val="accent5"/>
                </a:solidFill>
              </a:rPr>
              <a:t>= </a:t>
            </a:r>
            <a:r>
              <a:rPr lang="ja-JP" altLang="en-US" dirty="0">
                <a:solidFill>
                  <a:schemeClr val="accent5"/>
                </a:solidFill>
              </a:rPr>
              <a:t>秒間 </a:t>
            </a:r>
            <a:r>
              <a:rPr lang="en-US" altLang="ja-JP" dirty="0">
                <a:solidFill>
                  <a:schemeClr val="accent5"/>
                </a:solidFill>
              </a:rPr>
              <a:t>2G </a:t>
            </a:r>
            <a:r>
              <a:rPr lang="ja-JP" altLang="en-US" dirty="0">
                <a:solidFill>
                  <a:schemeClr val="accent5"/>
                </a:solidFill>
              </a:rPr>
              <a:t>命令</a:t>
            </a:r>
            <a:endParaRPr lang="en-US" altLang="ja-JP" dirty="0"/>
          </a:p>
        </p:txBody>
      </p:sp>
      <p:sp>
        <p:nvSpPr>
          <p:cNvPr id="165" name="平行四辺形 164">
            <a:extLst>
              <a:ext uri="{FF2B5EF4-FFF2-40B4-BE49-F238E27FC236}">
                <a16:creationId xmlns:a16="http://schemas.microsoft.com/office/drawing/2014/main" id="{FA5C915E-C87C-7E2F-8AD1-7FC44C8D73CA}"/>
              </a:ext>
            </a:extLst>
          </p:cNvPr>
          <p:cNvSpPr/>
          <p:nvPr/>
        </p:nvSpPr>
        <p:spPr bwMode="auto">
          <a:xfrm flipH="1">
            <a:off x="5202007" y="1538979"/>
            <a:ext cx="3600040" cy="3600040"/>
          </a:xfrm>
          <a:prstGeom prst="parallelogram">
            <a:avLst>
              <a:gd name="adj" fmla="val 98821"/>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66" name="直線矢印コネクタ 165">
            <a:extLst>
              <a:ext uri="{FF2B5EF4-FFF2-40B4-BE49-F238E27FC236}">
                <a16:creationId xmlns:a16="http://schemas.microsoft.com/office/drawing/2014/main" id="{DB72290D-DB2A-B484-0670-EA63C0554951}"/>
              </a:ext>
            </a:extLst>
          </p:cNvPr>
          <p:cNvCxnSpPr>
            <a:cxnSpLocks/>
          </p:cNvCxnSpPr>
          <p:nvPr/>
        </p:nvCxnSpPr>
        <p:spPr bwMode="auto">
          <a:xfrm>
            <a:off x="5202007" y="1448977"/>
            <a:ext cx="3600040" cy="0"/>
          </a:xfrm>
          <a:prstGeom prst="straightConnector1">
            <a:avLst/>
          </a:prstGeom>
          <a:noFill/>
          <a:ln w="9525" cap="flat" cmpd="sng" algn="ctr">
            <a:solidFill>
              <a:schemeClr val="tx1">
                <a:lumMod val="75000"/>
                <a:lumOff val="25000"/>
              </a:schemeClr>
            </a:solidFill>
            <a:prstDash val="solid"/>
            <a:round/>
            <a:headEnd type="triangle" w="med" len="med"/>
            <a:tailEnd type="triangle"/>
          </a:ln>
          <a:effectLst/>
        </p:spPr>
      </p:cxnSp>
      <p:cxnSp>
        <p:nvCxnSpPr>
          <p:cNvPr id="167" name="直線矢印コネクタ 166">
            <a:extLst>
              <a:ext uri="{FF2B5EF4-FFF2-40B4-BE49-F238E27FC236}">
                <a16:creationId xmlns:a16="http://schemas.microsoft.com/office/drawing/2014/main" id="{E065AB71-454C-6A17-3C53-739D2DC39EA7}"/>
              </a:ext>
            </a:extLst>
          </p:cNvPr>
          <p:cNvCxnSpPr>
            <a:cxnSpLocks/>
          </p:cNvCxnSpPr>
          <p:nvPr/>
        </p:nvCxnSpPr>
        <p:spPr bwMode="auto">
          <a:xfrm>
            <a:off x="5112006" y="1538978"/>
            <a:ext cx="0" cy="3600040"/>
          </a:xfrm>
          <a:prstGeom prst="straightConnector1">
            <a:avLst/>
          </a:prstGeom>
          <a:noFill/>
          <a:ln w="9525" cap="flat" cmpd="sng" algn="ctr">
            <a:solidFill>
              <a:schemeClr val="tx1">
                <a:lumMod val="75000"/>
                <a:lumOff val="25000"/>
              </a:schemeClr>
            </a:solidFill>
            <a:prstDash val="solid"/>
            <a:round/>
            <a:headEnd type="triangle" w="med" len="med"/>
            <a:tailEnd type="triangle"/>
          </a:ln>
          <a:effectLst/>
        </p:spPr>
      </p:cxnSp>
      <p:sp>
        <p:nvSpPr>
          <p:cNvPr id="168" name="正方形/長方形 167">
            <a:extLst>
              <a:ext uri="{FF2B5EF4-FFF2-40B4-BE49-F238E27FC236}">
                <a16:creationId xmlns:a16="http://schemas.microsoft.com/office/drawing/2014/main" id="{E60C1DF2-4AC3-E1F8-E4CF-61FA2DA634E9}"/>
              </a:ext>
            </a:extLst>
          </p:cNvPr>
          <p:cNvSpPr/>
          <p:nvPr/>
        </p:nvSpPr>
        <p:spPr>
          <a:xfrm>
            <a:off x="6822025" y="998972"/>
            <a:ext cx="540005" cy="360004"/>
          </a:xfrm>
          <a:prstGeom prst="rect">
            <a:avLst/>
          </a:prstGeom>
        </p:spPr>
        <p:txBody>
          <a:bodyPr wrap="none">
            <a:noAutofit/>
          </a:bodyPr>
          <a:lstStyle/>
          <a:p>
            <a:pPr algn="ctr"/>
            <a:r>
              <a:rPr lang="en-US" altLang="ja-JP" dirty="0">
                <a:solidFill>
                  <a:schemeClr val="tx1">
                    <a:lumMod val="65000"/>
                    <a:lumOff val="35000"/>
                  </a:schemeClr>
                </a:solidFill>
              </a:rPr>
              <a:t>5+999,999 cycle</a:t>
            </a:r>
            <a:endParaRPr lang="ja-JP" altLang="en-US" dirty="0">
              <a:solidFill>
                <a:schemeClr val="tx1">
                  <a:lumMod val="65000"/>
                  <a:lumOff val="35000"/>
                </a:schemeClr>
              </a:solidFill>
            </a:endParaRPr>
          </a:p>
        </p:txBody>
      </p:sp>
      <p:sp>
        <p:nvSpPr>
          <p:cNvPr id="169" name="正方形/長方形 168">
            <a:extLst>
              <a:ext uri="{FF2B5EF4-FFF2-40B4-BE49-F238E27FC236}">
                <a16:creationId xmlns:a16="http://schemas.microsoft.com/office/drawing/2014/main" id="{C4AB57A7-3A18-1BDC-D2AD-2606B7DF2E4B}"/>
              </a:ext>
            </a:extLst>
          </p:cNvPr>
          <p:cNvSpPr/>
          <p:nvPr/>
        </p:nvSpPr>
        <p:spPr>
          <a:xfrm rot="16200000">
            <a:off x="4662001" y="2978993"/>
            <a:ext cx="540005" cy="360004"/>
          </a:xfrm>
          <a:prstGeom prst="rect">
            <a:avLst/>
          </a:prstGeom>
        </p:spPr>
        <p:txBody>
          <a:bodyPr wrap="none">
            <a:noAutofit/>
          </a:bodyPr>
          <a:lstStyle/>
          <a:p>
            <a:pPr algn="ctr"/>
            <a:r>
              <a:rPr lang="en-US" altLang="ja-JP" dirty="0">
                <a:solidFill>
                  <a:schemeClr val="tx1">
                    <a:lumMod val="65000"/>
                    <a:lumOff val="35000"/>
                  </a:schemeClr>
                </a:solidFill>
              </a:rPr>
              <a:t>2,000,000 </a:t>
            </a:r>
            <a:r>
              <a:rPr lang="ja-JP" altLang="en-US" dirty="0">
                <a:solidFill>
                  <a:schemeClr val="tx1">
                    <a:lumMod val="65000"/>
                    <a:lumOff val="35000"/>
                  </a:schemeClr>
                </a:solidFill>
              </a:rPr>
              <a:t>命令</a:t>
            </a:r>
          </a:p>
        </p:txBody>
      </p:sp>
    </p:spTree>
    <p:extLst>
      <p:ext uri="{BB962C8B-B14F-4D97-AF65-F5344CB8AC3E}">
        <p14:creationId xmlns:p14="http://schemas.microsoft.com/office/powerpoint/2010/main" val="26640076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106C16B-DECE-6416-2403-15F9497F8C09}"/>
              </a:ext>
            </a:extLst>
          </p:cNvPr>
          <p:cNvSpPr>
            <a:spLocks noGrp="1"/>
          </p:cNvSpPr>
          <p:nvPr>
            <p:ph type="title"/>
          </p:nvPr>
        </p:nvSpPr>
        <p:spPr/>
        <p:txBody>
          <a:bodyPr/>
          <a:lstStyle/>
          <a:p>
            <a:r>
              <a:rPr kumimoji="1" lang="ja-JP" altLang="en-US" dirty="0"/>
              <a:t>ここまでの性能は理想的な性能</a:t>
            </a:r>
            <a:endParaRPr kumimoji="1" lang="en-US" dirty="0"/>
          </a:p>
        </p:txBody>
      </p:sp>
      <p:sp>
        <p:nvSpPr>
          <p:cNvPr id="3" name="コンテンツ プレースホルダー 2">
            <a:extLst>
              <a:ext uri="{FF2B5EF4-FFF2-40B4-BE49-F238E27FC236}">
                <a16:creationId xmlns:a16="http://schemas.microsoft.com/office/drawing/2014/main" id="{CC51DE1A-F7CD-3111-107E-F054CEFE666B}"/>
              </a:ext>
            </a:extLst>
          </p:cNvPr>
          <p:cNvSpPr>
            <a:spLocks noGrp="1"/>
          </p:cNvSpPr>
          <p:nvPr>
            <p:ph sz="quarter" idx="10"/>
          </p:nvPr>
        </p:nvSpPr>
        <p:spPr>
          <a:xfrm>
            <a:off x="431954" y="1088974"/>
            <a:ext cx="8370093" cy="5220058"/>
          </a:xfrm>
        </p:spPr>
        <p:txBody>
          <a:bodyPr/>
          <a:lstStyle/>
          <a:p>
            <a:r>
              <a:rPr kumimoji="1" lang="ja-JP" altLang="en-US" sz="1800" dirty="0"/>
              <a:t>理想的な各モデルの性能</a:t>
            </a:r>
            <a:endParaRPr kumimoji="1" lang="en-US" altLang="ja-JP" sz="1800" dirty="0"/>
          </a:p>
          <a:p>
            <a:pPr lvl="1"/>
            <a:r>
              <a:rPr kumimoji="1" lang="ja-JP" altLang="en-US" sz="1800" dirty="0"/>
              <a:t>シングル・サイクル・プロセッサ：</a:t>
            </a:r>
            <a:r>
              <a:rPr kumimoji="1" lang="en-US" altLang="ja-JP" sz="1800" dirty="0"/>
              <a:t>		</a:t>
            </a:r>
            <a:r>
              <a:rPr kumimoji="1" lang="ja-JP" altLang="en-US" sz="1800" dirty="0"/>
              <a:t>秒間 </a:t>
            </a:r>
            <a:r>
              <a:rPr kumimoji="1" lang="en-US" altLang="ja-JP" sz="1800" dirty="0"/>
              <a:t>200M </a:t>
            </a:r>
            <a:r>
              <a:rPr kumimoji="1" lang="ja-JP" altLang="en-US" sz="1800" dirty="0"/>
              <a:t>命令</a:t>
            </a:r>
            <a:endParaRPr kumimoji="1" lang="en-US" altLang="ja-JP" sz="1800" dirty="0"/>
          </a:p>
          <a:p>
            <a:pPr lvl="1"/>
            <a:r>
              <a:rPr kumimoji="1" lang="ja-JP" altLang="en-US" sz="1800" dirty="0"/>
              <a:t>スカラ・パイプライン・プロセッサ：</a:t>
            </a:r>
            <a:r>
              <a:rPr kumimoji="1" lang="en-US" altLang="ja-JP" sz="1800" dirty="0"/>
              <a:t>	</a:t>
            </a:r>
            <a:r>
              <a:rPr kumimoji="1" lang="ja-JP" altLang="en-US" sz="1800" dirty="0"/>
              <a:t>秒間 </a:t>
            </a:r>
            <a:r>
              <a:rPr kumimoji="1" lang="en-US" altLang="ja-JP" sz="1800" dirty="0"/>
              <a:t>1G </a:t>
            </a:r>
            <a:r>
              <a:rPr kumimoji="1" lang="ja-JP" altLang="en-US" sz="1800" dirty="0"/>
              <a:t>命令</a:t>
            </a:r>
            <a:endParaRPr kumimoji="1" lang="en-US" altLang="ja-JP" sz="1800" dirty="0"/>
          </a:p>
          <a:p>
            <a:pPr lvl="1"/>
            <a:r>
              <a:rPr kumimoji="1" lang="ja-JP" altLang="en-US" sz="1800" dirty="0"/>
              <a:t>スカラ・パイプライン・プロセッサ（段数２倍）：</a:t>
            </a:r>
            <a:r>
              <a:rPr kumimoji="1" lang="en-US" altLang="ja-JP" sz="1800" dirty="0"/>
              <a:t>								</a:t>
            </a:r>
            <a:r>
              <a:rPr kumimoji="1" lang="ja-JP" altLang="en-US" sz="1800" dirty="0"/>
              <a:t>秒間 ２</a:t>
            </a:r>
            <a:r>
              <a:rPr kumimoji="1" lang="en-US" altLang="ja-JP" sz="1800" dirty="0"/>
              <a:t>G </a:t>
            </a:r>
            <a:r>
              <a:rPr kumimoji="1" lang="ja-JP" altLang="en-US" sz="1800" dirty="0"/>
              <a:t>命令</a:t>
            </a:r>
            <a:endParaRPr kumimoji="1" lang="en-US" altLang="ja-JP" sz="1800" dirty="0"/>
          </a:p>
          <a:p>
            <a:pPr lvl="1"/>
            <a:r>
              <a:rPr kumimoji="1" lang="en-US" altLang="ja-JP" sz="1800" dirty="0"/>
              <a:t>2-way </a:t>
            </a:r>
            <a:r>
              <a:rPr kumimoji="1" lang="ja-JP" altLang="en-US" sz="1800" dirty="0"/>
              <a:t>スーパスカラ・プロセッサ：</a:t>
            </a:r>
            <a:r>
              <a:rPr kumimoji="1" lang="en-US" altLang="ja-JP" sz="1800" dirty="0"/>
              <a:t>		</a:t>
            </a:r>
            <a:r>
              <a:rPr kumimoji="1" lang="ja-JP" altLang="en-US" sz="1800" dirty="0"/>
              <a:t>秒間 ２</a:t>
            </a:r>
            <a:r>
              <a:rPr kumimoji="1" lang="en-US" altLang="ja-JP" sz="1800" dirty="0"/>
              <a:t>G </a:t>
            </a:r>
            <a:r>
              <a:rPr kumimoji="1" lang="ja-JP" altLang="en-US" sz="1800" dirty="0"/>
              <a:t>命令</a:t>
            </a:r>
            <a:endParaRPr kumimoji="1" lang="en-US" altLang="ja-JP" sz="1800" dirty="0"/>
          </a:p>
          <a:p>
            <a:r>
              <a:rPr kumimoji="1" lang="ja-JP" altLang="en-US" sz="1800" dirty="0"/>
              <a:t>現実には･･･</a:t>
            </a:r>
            <a:endParaRPr kumimoji="1" lang="en-US" altLang="ja-JP" sz="1800" dirty="0"/>
          </a:p>
          <a:p>
            <a:pPr lvl="1"/>
            <a:r>
              <a:rPr kumimoji="1" lang="ja-JP" altLang="en-US" sz="1800" dirty="0"/>
              <a:t>回路的な要因により（第５回講義），</a:t>
            </a:r>
            <a:endParaRPr kumimoji="1" lang="en-US" altLang="ja-JP" sz="1800" dirty="0"/>
          </a:p>
          <a:p>
            <a:pPr lvl="2"/>
            <a:r>
              <a:rPr kumimoji="1" lang="ja-JP" altLang="en-US" sz="1800" dirty="0"/>
              <a:t>スーパスカラにするとステージごとの回路が増えて遅延が増加 → </a:t>
            </a:r>
            <a:br>
              <a:rPr kumimoji="1" lang="en-US" altLang="ja-JP" sz="1800" dirty="0"/>
            </a:br>
            <a:r>
              <a:rPr kumimoji="1" lang="ja-JP" altLang="en-US" sz="1800" dirty="0"/>
              <a:t>周波数は落ちる</a:t>
            </a:r>
            <a:endParaRPr kumimoji="1" lang="en-US" altLang="ja-JP" sz="1800" dirty="0"/>
          </a:p>
          <a:p>
            <a:pPr lvl="2"/>
            <a:r>
              <a:rPr kumimoji="1" lang="ja-JP" altLang="en-US" sz="1800" dirty="0"/>
              <a:t>パイプライン段数を２倍にしても周波数は倍にならない</a:t>
            </a:r>
            <a:endParaRPr kumimoji="1" lang="en-US" altLang="ja-JP" sz="1800" dirty="0"/>
          </a:p>
          <a:p>
            <a:pPr lvl="1"/>
            <a:r>
              <a:rPr kumimoji="1" lang="ja-JP" altLang="en-US" sz="1800" dirty="0">
                <a:solidFill>
                  <a:schemeClr val="accent5"/>
                </a:solidFill>
              </a:rPr>
              <a:t>各種のハザードにより，ストールが起きて </a:t>
            </a:r>
            <a:r>
              <a:rPr kumimoji="1" lang="en-US" altLang="ja-JP" sz="1800" dirty="0">
                <a:solidFill>
                  <a:schemeClr val="accent5"/>
                </a:solidFill>
              </a:rPr>
              <a:t>IPC </a:t>
            </a:r>
            <a:r>
              <a:rPr kumimoji="1" lang="ja-JP" altLang="en-US" sz="1800" dirty="0">
                <a:solidFill>
                  <a:schemeClr val="accent5"/>
                </a:solidFill>
              </a:rPr>
              <a:t>が下がる（第６回講義）</a:t>
            </a:r>
            <a:endParaRPr kumimoji="1" lang="en-US" sz="1800" dirty="0">
              <a:solidFill>
                <a:schemeClr val="accent5"/>
              </a:solidFill>
            </a:endParaRPr>
          </a:p>
        </p:txBody>
      </p:sp>
    </p:spTree>
    <p:extLst>
      <p:ext uri="{BB962C8B-B14F-4D97-AF65-F5344CB8AC3E}">
        <p14:creationId xmlns:p14="http://schemas.microsoft.com/office/powerpoint/2010/main" val="101846385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82918045-1413-49E0-E525-3A3F638871DC}"/>
              </a:ext>
            </a:extLst>
          </p:cNvPr>
          <p:cNvSpPr>
            <a:spLocks noGrp="1"/>
          </p:cNvSpPr>
          <p:nvPr>
            <p:ph type="title"/>
          </p:nvPr>
        </p:nvSpPr>
        <p:spPr/>
        <p:txBody>
          <a:bodyPr/>
          <a:lstStyle/>
          <a:p>
            <a:r>
              <a:rPr lang="ja-JP" altLang="en-US" dirty="0"/>
              <a:t>ハザードを考慮した性能のモデル</a:t>
            </a:r>
            <a:endParaRPr lang="en-US" dirty="0"/>
          </a:p>
        </p:txBody>
      </p:sp>
    </p:spTree>
    <p:extLst>
      <p:ext uri="{BB962C8B-B14F-4D97-AF65-F5344CB8AC3E}">
        <p14:creationId xmlns:p14="http://schemas.microsoft.com/office/powerpoint/2010/main" val="3367320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30B2B78-EE75-4C74-FFCF-BB68D5383B36}"/>
              </a:ext>
            </a:extLst>
          </p:cNvPr>
          <p:cNvSpPr>
            <a:spLocks noGrp="1"/>
          </p:cNvSpPr>
          <p:nvPr>
            <p:ph type="title"/>
          </p:nvPr>
        </p:nvSpPr>
        <p:spPr/>
        <p:txBody>
          <a:bodyPr/>
          <a:lstStyle/>
          <a:p>
            <a:r>
              <a:rPr kumimoji="1" lang="ja-JP" altLang="en-US" dirty="0"/>
              <a:t>性能のモデル</a:t>
            </a:r>
            <a:endParaRPr kumimoji="1" lang="en-US" dirty="0"/>
          </a:p>
        </p:txBody>
      </p:sp>
      <p:sp>
        <p:nvSpPr>
          <p:cNvPr id="3" name="コンテンツ プレースホルダー 2">
            <a:extLst>
              <a:ext uri="{FF2B5EF4-FFF2-40B4-BE49-F238E27FC236}">
                <a16:creationId xmlns:a16="http://schemas.microsoft.com/office/drawing/2014/main" id="{D0BC0428-353B-A04A-7E40-2FCA1BAB49C1}"/>
              </a:ext>
            </a:extLst>
          </p:cNvPr>
          <p:cNvSpPr>
            <a:spLocks noGrp="1"/>
          </p:cNvSpPr>
          <p:nvPr>
            <p:ph sz="quarter" idx="10"/>
          </p:nvPr>
        </p:nvSpPr>
        <p:spPr/>
        <p:txBody>
          <a:bodyPr/>
          <a:lstStyle/>
          <a:p>
            <a:r>
              <a:rPr kumimoji="1" lang="ja-JP" altLang="en-US" dirty="0"/>
              <a:t>以下について検討</a:t>
            </a:r>
            <a:endParaRPr kumimoji="1" lang="en-US" altLang="ja-JP" dirty="0"/>
          </a:p>
          <a:p>
            <a:pPr lvl="1"/>
            <a:r>
              <a:rPr kumimoji="1" lang="ja-JP" altLang="en-US" dirty="0"/>
              <a:t>理想的な性能のモデル</a:t>
            </a:r>
            <a:endParaRPr kumimoji="1" lang="en-US" altLang="ja-JP" dirty="0"/>
          </a:p>
          <a:p>
            <a:pPr lvl="1"/>
            <a:r>
              <a:rPr kumimoji="1" lang="ja-JP" altLang="en-US" dirty="0">
                <a:solidFill>
                  <a:schemeClr val="accent5"/>
                </a:solidFill>
              </a:rPr>
              <a:t>ハザードを考慮した性能のモデル</a:t>
            </a:r>
            <a:endParaRPr kumimoji="1" lang="en-US" altLang="ja-JP" dirty="0">
              <a:solidFill>
                <a:schemeClr val="accent5"/>
              </a:solidFill>
            </a:endParaRPr>
          </a:p>
        </p:txBody>
      </p:sp>
    </p:spTree>
    <p:extLst>
      <p:ext uri="{BB962C8B-B14F-4D97-AF65-F5344CB8AC3E}">
        <p14:creationId xmlns:p14="http://schemas.microsoft.com/office/powerpoint/2010/main" val="393668555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D980B11-33F7-EE11-FCE5-7E18DFB99CF7}"/>
              </a:ext>
            </a:extLst>
          </p:cNvPr>
          <p:cNvSpPr>
            <a:spLocks noGrp="1"/>
          </p:cNvSpPr>
          <p:nvPr>
            <p:ph type="title"/>
          </p:nvPr>
        </p:nvSpPr>
        <p:spPr/>
        <p:txBody>
          <a:bodyPr/>
          <a:lstStyle/>
          <a:p>
            <a:r>
              <a:rPr kumimoji="1" lang="ja-JP" altLang="en-US" dirty="0"/>
              <a:t>ハザードによる </a:t>
            </a:r>
            <a:r>
              <a:rPr kumimoji="1" lang="en-US" altLang="ja-JP" dirty="0"/>
              <a:t>IPC </a:t>
            </a:r>
            <a:r>
              <a:rPr kumimoji="1" lang="ja-JP" altLang="en-US" dirty="0"/>
              <a:t>の低下</a:t>
            </a:r>
            <a:endParaRPr kumimoji="1" lang="en-US" dirty="0"/>
          </a:p>
        </p:txBody>
      </p:sp>
      <p:sp>
        <p:nvSpPr>
          <p:cNvPr id="3" name="コンテンツ プレースホルダー 2">
            <a:extLst>
              <a:ext uri="{FF2B5EF4-FFF2-40B4-BE49-F238E27FC236}">
                <a16:creationId xmlns:a16="http://schemas.microsoft.com/office/drawing/2014/main" id="{721CB15D-2AFE-CBB3-A07D-7338C1E3DD42}"/>
              </a:ext>
            </a:extLst>
          </p:cNvPr>
          <p:cNvSpPr>
            <a:spLocks noGrp="1"/>
          </p:cNvSpPr>
          <p:nvPr>
            <p:ph sz="quarter" idx="10"/>
          </p:nvPr>
        </p:nvSpPr>
        <p:spPr/>
        <p:txBody>
          <a:bodyPr/>
          <a:lstStyle/>
          <a:p>
            <a:r>
              <a:rPr kumimoji="1" lang="ja-JP" altLang="en-US" dirty="0"/>
              <a:t>以下を例として，具体的な </a:t>
            </a:r>
            <a:r>
              <a:rPr kumimoji="1" lang="en-US" altLang="ja-JP" dirty="0"/>
              <a:t>IPC </a:t>
            </a:r>
            <a:r>
              <a:rPr kumimoji="1" lang="ja-JP" altLang="en-US" dirty="0"/>
              <a:t>の数字の変化を説明</a:t>
            </a:r>
            <a:endParaRPr kumimoji="1" lang="en-US" altLang="ja-JP" dirty="0"/>
          </a:p>
          <a:p>
            <a:pPr lvl="1"/>
            <a:r>
              <a:rPr kumimoji="1" lang="ja-JP" altLang="en-US" dirty="0"/>
              <a:t>分岐予測ミス</a:t>
            </a:r>
            <a:endParaRPr kumimoji="1" lang="en-US" altLang="ja-JP" dirty="0"/>
          </a:p>
          <a:p>
            <a:pPr lvl="1"/>
            <a:r>
              <a:rPr kumimoji="1" lang="ja-JP" altLang="en-US" dirty="0"/>
              <a:t>ロードに依存した命令によるデータハザード</a:t>
            </a:r>
            <a:endParaRPr kumimoji="1" lang="en-US" altLang="ja-JP" dirty="0"/>
          </a:p>
          <a:p>
            <a:r>
              <a:rPr kumimoji="1" lang="ja-JP" altLang="en-US" dirty="0"/>
              <a:t>キャッシュによる影響も大きい</a:t>
            </a:r>
            <a:endParaRPr kumimoji="1" lang="en-US" altLang="ja-JP" dirty="0"/>
          </a:p>
          <a:p>
            <a:pPr lvl="1"/>
            <a:r>
              <a:rPr kumimoji="1" lang="ja-JP" altLang="en-US" dirty="0"/>
              <a:t>（この講義ではまだ説明していないが，後日説明</a:t>
            </a:r>
            <a:endParaRPr kumimoji="1" lang="en-US" dirty="0"/>
          </a:p>
        </p:txBody>
      </p:sp>
    </p:spTree>
    <p:extLst>
      <p:ext uri="{BB962C8B-B14F-4D97-AF65-F5344CB8AC3E}">
        <p14:creationId xmlns:p14="http://schemas.microsoft.com/office/powerpoint/2010/main" val="95109355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分岐予測ミスによる実行サイクルの増加</a:t>
            </a:r>
            <a:endParaRPr kumimoji="1" lang="ja-JP" altLang="en-US" dirty="0"/>
          </a:p>
        </p:txBody>
      </p:sp>
      <p:sp>
        <p:nvSpPr>
          <p:cNvPr id="129" name="コンテンツ プレースホルダー 34">
            <a:extLst>
              <a:ext uri="{FF2B5EF4-FFF2-40B4-BE49-F238E27FC236}">
                <a16:creationId xmlns:a16="http://schemas.microsoft.com/office/drawing/2014/main" id="{3A18A38F-0614-2DB0-E41C-5B0A06C2A320}"/>
              </a:ext>
            </a:extLst>
          </p:cNvPr>
          <p:cNvSpPr>
            <a:spLocks noGrp="1"/>
          </p:cNvSpPr>
          <p:nvPr>
            <p:ph sz="quarter" idx="10"/>
          </p:nvPr>
        </p:nvSpPr>
        <p:spPr>
          <a:xfrm>
            <a:off x="5562010" y="1268976"/>
            <a:ext cx="3330805" cy="3780042"/>
          </a:xfrm>
        </p:spPr>
        <p:txBody>
          <a:bodyPr/>
          <a:lstStyle/>
          <a:p>
            <a:pPr lvl="1"/>
            <a:r>
              <a:rPr lang="en-US" altLang="ja-JP" dirty="0">
                <a:solidFill>
                  <a:schemeClr val="tx1">
                    <a:lumMod val="65000"/>
                    <a:lumOff val="35000"/>
                  </a:schemeClr>
                </a:solidFill>
                <a:latin typeface="Consolas" panose="020B0609020204030204" pitchFamily="49" charset="0"/>
              </a:rPr>
              <a:t>I2 </a:t>
            </a:r>
            <a:r>
              <a:rPr lang="ja-JP" altLang="en-US" dirty="0">
                <a:solidFill>
                  <a:schemeClr val="tx1">
                    <a:lumMod val="65000"/>
                    <a:lumOff val="35000"/>
                  </a:schemeClr>
                </a:solidFill>
                <a:latin typeface="Consolas" panose="020B0609020204030204" pitchFamily="49" charset="0"/>
              </a:rPr>
              <a:t>の実行が </a:t>
            </a:r>
            <a:r>
              <a:rPr lang="en-US" altLang="ja-JP" dirty="0">
                <a:solidFill>
                  <a:schemeClr val="tx1">
                    <a:lumMod val="65000"/>
                    <a:lumOff val="35000"/>
                  </a:schemeClr>
                </a:solidFill>
                <a:latin typeface="Consolas" panose="020B0609020204030204" pitchFamily="49" charset="0"/>
              </a:rPr>
              <a:t>4 </a:t>
            </a:r>
            <a:r>
              <a:rPr lang="ja-JP" altLang="en-US" dirty="0">
                <a:solidFill>
                  <a:schemeClr val="tx1">
                    <a:lumMod val="65000"/>
                    <a:lumOff val="35000"/>
                  </a:schemeClr>
                </a:solidFill>
                <a:latin typeface="Consolas" panose="020B0609020204030204" pitchFamily="49" charset="0"/>
              </a:rPr>
              <a:t>サイクル遅れている</a:t>
            </a:r>
            <a:endParaRPr lang="en-US" altLang="ja-JP" dirty="0">
              <a:solidFill>
                <a:schemeClr val="tx1">
                  <a:lumMod val="65000"/>
                  <a:lumOff val="35000"/>
                </a:schemeClr>
              </a:solidFill>
              <a:latin typeface="Consolas" panose="020B0609020204030204" pitchFamily="49" charset="0"/>
            </a:endParaRPr>
          </a:p>
          <a:p>
            <a:pPr lvl="1"/>
            <a:r>
              <a:rPr lang="en-US" altLang="ja-JP" dirty="0">
                <a:solidFill>
                  <a:schemeClr val="tx1">
                    <a:lumMod val="65000"/>
                    <a:lumOff val="35000"/>
                  </a:schemeClr>
                </a:solidFill>
                <a:latin typeface="Consolas" panose="020B0609020204030204" pitchFamily="49" charset="0"/>
              </a:rPr>
              <a:t>4</a:t>
            </a:r>
            <a:r>
              <a:rPr lang="ja-JP" altLang="en-US" dirty="0">
                <a:solidFill>
                  <a:schemeClr val="tx1">
                    <a:lumMod val="65000"/>
                    <a:lumOff val="35000"/>
                  </a:schemeClr>
                </a:solidFill>
                <a:latin typeface="Consolas" panose="020B0609020204030204" pitchFamily="49" charset="0"/>
              </a:rPr>
              <a:t>サイクル分の処理を取り消してやり直しているため</a:t>
            </a:r>
          </a:p>
        </p:txBody>
      </p:sp>
      <p:sp>
        <p:nvSpPr>
          <p:cNvPr id="57" name="正方形/長方形 56">
            <a:extLst>
              <a:ext uri="{FF2B5EF4-FFF2-40B4-BE49-F238E27FC236}">
                <a16:creationId xmlns:a16="http://schemas.microsoft.com/office/drawing/2014/main" id="{77A73637-76DF-7872-938B-0C23A46DF8AE}"/>
              </a:ext>
            </a:extLst>
          </p:cNvPr>
          <p:cNvSpPr/>
          <p:nvPr/>
        </p:nvSpPr>
        <p:spPr>
          <a:xfrm>
            <a:off x="341954" y="1088974"/>
            <a:ext cx="450005" cy="369332"/>
          </a:xfrm>
          <a:prstGeom prst="rect">
            <a:avLst/>
          </a:prstGeom>
        </p:spPr>
        <p:txBody>
          <a:bodyPr wrap="square">
            <a:spAutoFit/>
          </a:bodyPr>
          <a:lstStyle/>
          <a:p>
            <a:pPr algn="ctr"/>
            <a:r>
              <a:rPr lang="en-US" altLang="ja-JP" dirty="0">
                <a:solidFill>
                  <a:schemeClr val="tx1">
                    <a:lumMod val="65000"/>
                    <a:lumOff val="35000"/>
                  </a:schemeClr>
                </a:solidFill>
                <a:latin typeface="Consolas" panose="020B0609020204030204" pitchFamily="49" charset="0"/>
              </a:rPr>
              <a:t>I0</a:t>
            </a:r>
            <a:endParaRPr lang="ja-JP" altLang="en-US" dirty="0">
              <a:solidFill>
                <a:schemeClr val="tx1">
                  <a:lumMod val="65000"/>
                  <a:lumOff val="35000"/>
                </a:schemeClr>
              </a:solidFill>
              <a:latin typeface="Consolas" panose="020B0609020204030204" pitchFamily="49" charset="0"/>
            </a:endParaRPr>
          </a:p>
        </p:txBody>
      </p:sp>
      <p:sp>
        <p:nvSpPr>
          <p:cNvPr id="58" name="正方形/長方形 57">
            <a:extLst>
              <a:ext uri="{FF2B5EF4-FFF2-40B4-BE49-F238E27FC236}">
                <a16:creationId xmlns:a16="http://schemas.microsoft.com/office/drawing/2014/main" id="{32957A3E-8661-C702-597C-530530728537}"/>
              </a:ext>
            </a:extLst>
          </p:cNvPr>
          <p:cNvSpPr/>
          <p:nvPr/>
        </p:nvSpPr>
        <p:spPr>
          <a:xfrm>
            <a:off x="341954" y="1538979"/>
            <a:ext cx="450005" cy="369332"/>
          </a:xfrm>
          <a:prstGeom prst="rect">
            <a:avLst/>
          </a:prstGeom>
        </p:spPr>
        <p:txBody>
          <a:bodyPr wrap="square">
            <a:spAutoFit/>
          </a:bodyPr>
          <a:lstStyle/>
          <a:p>
            <a:pPr algn="ctr"/>
            <a:r>
              <a:rPr lang="en-US" altLang="ja-JP" dirty="0">
                <a:solidFill>
                  <a:schemeClr val="tx1">
                    <a:lumMod val="65000"/>
                    <a:lumOff val="35000"/>
                  </a:schemeClr>
                </a:solidFill>
                <a:latin typeface="Consolas" panose="020B0609020204030204" pitchFamily="49" charset="0"/>
              </a:rPr>
              <a:t>I1</a:t>
            </a:r>
            <a:endParaRPr lang="ja-JP" altLang="en-US" dirty="0">
              <a:solidFill>
                <a:schemeClr val="tx1">
                  <a:lumMod val="65000"/>
                  <a:lumOff val="35000"/>
                </a:schemeClr>
              </a:solidFill>
              <a:latin typeface="Consolas" panose="020B0609020204030204" pitchFamily="49" charset="0"/>
            </a:endParaRPr>
          </a:p>
        </p:txBody>
      </p:sp>
      <p:sp>
        <p:nvSpPr>
          <p:cNvPr id="59" name="正方形/長方形 58">
            <a:extLst>
              <a:ext uri="{FF2B5EF4-FFF2-40B4-BE49-F238E27FC236}">
                <a16:creationId xmlns:a16="http://schemas.microsoft.com/office/drawing/2014/main" id="{81DB0530-021F-858A-B3EF-742405885C04}"/>
              </a:ext>
            </a:extLst>
          </p:cNvPr>
          <p:cNvSpPr/>
          <p:nvPr/>
        </p:nvSpPr>
        <p:spPr>
          <a:xfrm>
            <a:off x="341954" y="1988984"/>
            <a:ext cx="450005" cy="369332"/>
          </a:xfrm>
          <a:prstGeom prst="rect">
            <a:avLst/>
          </a:prstGeom>
        </p:spPr>
        <p:txBody>
          <a:bodyPr wrap="square">
            <a:spAutoFit/>
          </a:bodyPr>
          <a:lstStyle/>
          <a:p>
            <a:pPr algn="ctr"/>
            <a:r>
              <a:rPr lang="en-US" altLang="ja-JP" dirty="0">
                <a:solidFill>
                  <a:schemeClr val="tx1">
                    <a:lumMod val="65000"/>
                    <a:lumOff val="35000"/>
                  </a:schemeClr>
                </a:solidFill>
                <a:latin typeface="Consolas" panose="020B0609020204030204" pitchFamily="49" charset="0"/>
              </a:rPr>
              <a:t>I2</a:t>
            </a:r>
            <a:endParaRPr lang="ja-JP" altLang="en-US" dirty="0">
              <a:solidFill>
                <a:schemeClr val="tx1">
                  <a:lumMod val="65000"/>
                  <a:lumOff val="35000"/>
                </a:schemeClr>
              </a:solidFill>
              <a:latin typeface="Consolas" panose="020B0609020204030204" pitchFamily="49" charset="0"/>
            </a:endParaRPr>
          </a:p>
        </p:txBody>
      </p:sp>
      <p:sp>
        <p:nvSpPr>
          <p:cNvPr id="60" name="Rectangle 69">
            <a:extLst>
              <a:ext uri="{FF2B5EF4-FFF2-40B4-BE49-F238E27FC236}">
                <a16:creationId xmlns:a16="http://schemas.microsoft.com/office/drawing/2014/main" id="{87DC93EA-510F-2CED-3C49-ABA98D0CB62E}"/>
              </a:ext>
            </a:extLst>
          </p:cNvPr>
          <p:cNvSpPr>
            <a:spLocks noChangeArrowheads="1"/>
          </p:cNvSpPr>
          <p:nvPr/>
        </p:nvSpPr>
        <p:spPr bwMode="auto">
          <a:xfrm>
            <a:off x="971961" y="1088974"/>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61" name="Rectangle 70">
            <a:extLst>
              <a:ext uri="{FF2B5EF4-FFF2-40B4-BE49-F238E27FC236}">
                <a16:creationId xmlns:a16="http://schemas.microsoft.com/office/drawing/2014/main" id="{E2A5E54B-BBC7-0B25-B996-770AF7D777C1}"/>
              </a:ext>
            </a:extLst>
          </p:cNvPr>
          <p:cNvSpPr>
            <a:spLocks noChangeArrowheads="1"/>
          </p:cNvSpPr>
          <p:nvPr/>
        </p:nvSpPr>
        <p:spPr bwMode="auto">
          <a:xfrm>
            <a:off x="1421964" y="1088974"/>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D</a:t>
            </a:r>
          </a:p>
        </p:txBody>
      </p:sp>
      <p:sp>
        <p:nvSpPr>
          <p:cNvPr id="62" name="Rectangle 71">
            <a:extLst>
              <a:ext uri="{FF2B5EF4-FFF2-40B4-BE49-F238E27FC236}">
                <a16:creationId xmlns:a16="http://schemas.microsoft.com/office/drawing/2014/main" id="{E7243571-9A69-A4F8-37EB-6A83C0C08289}"/>
              </a:ext>
            </a:extLst>
          </p:cNvPr>
          <p:cNvSpPr>
            <a:spLocks noChangeArrowheads="1"/>
          </p:cNvSpPr>
          <p:nvPr/>
        </p:nvSpPr>
        <p:spPr bwMode="auto">
          <a:xfrm>
            <a:off x="1871970" y="1088974"/>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X</a:t>
            </a:r>
          </a:p>
        </p:txBody>
      </p:sp>
      <p:sp>
        <p:nvSpPr>
          <p:cNvPr id="63" name="Rectangle 72">
            <a:extLst>
              <a:ext uri="{FF2B5EF4-FFF2-40B4-BE49-F238E27FC236}">
                <a16:creationId xmlns:a16="http://schemas.microsoft.com/office/drawing/2014/main" id="{AEA01D9D-197B-B914-C0BA-9B727A10DEA3}"/>
              </a:ext>
            </a:extLst>
          </p:cNvPr>
          <p:cNvSpPr>
            <a:spLocks noChangeArrowheads="1"/>
          </p:cNvSpPr>
          <p:nvPr/>
        </p:nvSpPr>
        <p:spPr bwMode="auto">
          <a:xfrm>
            <a:off x="2321975" y="1088974"/>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M</a:t>
            </a:r>
          </a:p>
        </p:txBody>
      </p:sp>
      <p:sp>
        <p:nvSpPr>
          <p:cNvPr id="128" name="Rectangle 73">
            <a:extLst>
              <a:ext uri="{FF2B5EF4-FFF2-40B4-BE49-F238E27FC236}">
                <a16:creationId xmlns:a16="http://schemas.microsoft.com/office/drawing/2014/main" id="{17B20D46-4CEE-67DC-B6CC-20CB76AC10C6}"/>
              </a:ext>
            </a:extLst>
          </p:cNvPr>
          <p:cNvSpPr>
            <a:spLocks noChangeArrowheads="1"/>
          </p:cNvSpPr>
          <p:nvPr/>
        </p:nvSpPr>
        <p:spPr bwMode="auto">
          <a:xfrm>
            <a:off x="2771980" y="1088974"/>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W</a:t>
            </a:r>
          </a:p>
        </p:txBody>
      </p:sp>
      <p:sp>
        <p:nvSpPr>
          <p:cNvPr id="130" name="Rectangle 69">
            <a:extLst>
              <a:ext uri="{FF2B5EF4-FFF2-40B4-BE49-F238E27FC236}">
                <a16:creationId xmlns:a16="http://schemas.microsoft.com/office/drawing/2014/main" id="{C647FE3E-935D-F989-C66B-BFC091CAB2F6}"/>
              </a:ext>
            </a:extLst>
          </p:cNvPr>
          <p:cNvSpPr>
            <a:spLocks noChangeArrowheads="1"/>
          </p:cNvSpPr>
          <p:nvPr/>
        </p:nvSpPr>
        <p:spPr bwMode="auto">
          <a:xfrm>
            <a:off x="1421968" y="1538979"/>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131" name="Rectangle 70">
            <a:extLst>
              <a:ext uri="{FF2B5EF4-FFF2-40B4-BE49-F238E27FC236}">
                <a16:creationId xmlns:a16="http://schemas.microsoft.com/office/drawing/2014/main" id="{7DF1DC2B-874E-1278-DF63-B9E73CCC8F7D}"/>
              </a:ext>
            </a:extLst>
          </p:cNvPr>
          <p:cNvSpPr>
            <a:spLocks noChangeArrowheads="1"/>
          </p:cNvSpPr>
          <p:nvPr/>
        </p:nvSpPr>
        <p:spPr bwMode="auto">
          <a:xfrm>
            <a:off x="1871971" y="1538979"/>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D</a:t>
            </a:r>
          </a:p>
        </p:txBody>
      </p:sp>
      <p:sp>
        <p:nvSpPr>
          <p:cNvPr id="132" name="Rectangle 71">
            <a:extLst>
              <a:ext uri="{FF2B5EF4-FFF2-40B4-BE49-F238E27FC236}">
                <a16:creationId xmlns:a16="http://schemas.microsoft.com/office/drawing/2014/main" id="{FE3BA170-7C17-3A71-9AFE-7A6FBE450D19}"/>
              </a:ext>
            </a:extLst>
          </p:cNvPr>
          <p:cNvSpPr>
            <a:spLocks noChangeArrowheads="1"/>
          </p:cNvSpPr>
          <p:nvPr/>
        </p:nvSpPr>
        <p:spPr bwMode="auto">
          <a:xfrm>
            <a:off x="2321977" y="1538979"/>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X</a:t>
            </a:r>
          </a:p>
        </p:txBody>
      </p:sp>
      <p:sp>
        <p:nvSpPr>
          <p:cNvPr id="133" name="Rectangle 72">
            <a:extLst>
              <a:ext uri="{FF2B5EF4-FFF2-40B4-BE49-F238E27FC236}">
                <a16:creationId xmlns:a16="http://schemas.microsoft.com/office/drawing/2014/main" id="{877CBFD3-A24D-935E-BE93-3B9EC99B0A36}"/>
              </a:ext>
            </a:extLst>
          </p:cNvPr>
          <p:cNvSpPr>
            <a:spLocks noChangeArrowheads="1"/>
          </p:cNvSpPr>
          <p:nvPr/>
        </p:nvSpPr>
        <p:spPr bwMode="auto">
          <a:xfrm>
            <a:off x="2771982" y="1538979"/>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M</a:t>
            </a:r>
          </a:p>
        </p:txBody>
      </p:sp>
      <p:sp>
        <p:nvSpPr>
          <p:cNvPr id="134" name="Rectangle 73">
            <a:extLst>
              <a:ext uri="{FF2B5EF4-FFF2-40B4-BE49-F238E27FC236}">
                <a16:creationId xmlns:a16="http://schemas.microsoft.com/office/drawing/2014/main" id="{1CB131F6-C6F4-76CA-5E32-202EBE799FC7}"/>
              </a:ext>
            </a:extLst>
          </p:cNvPr>
          <p:cNvSpPr>
            <a:spLocks noChangeArrowheads="1"/>
          </p:cNvSpPr>
          <p:nvPr/>
        </p:nvSpPr>
        <p:spPr bwMode="auto">
          <a:xfrm>
            <a:off x="3221987" y="1538979"/>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W</a:t>
            </a:r>
          </a:p>
        </p:txBody>
      </p:sp>
      <p:sp>
        <p:nvSpPr>
          <p:cNvPr id="135" name="Rectangle 69">
            <a:extLst>
              <a:ext uri="{FF2B5EF4-FFF2-40B4-BE49-F238E27FC236}">
                <a16:creationId xmlns:a16="http://schemas.microsoft.com/office/drawing/2014/main" id="{B49B0883-7391-E92F-DFAA-AA40DA29736A}"/>
              </a:ext>
            </a:extLst>
          </p:cNvPr>
          <p:cNvSpPr>
            <a:spLocks noChangeArrowheads="1"/>
          </p:cNvSpPr>
          <p:nvPr/>
        </p:nvSpPr>
        <p:spPr bwMode="auto">
          <a:xfrm>
            <a:off x="1871972" y="1988984"/>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136" name="Rectangle 70">
            <a:extLst>
              <a:ext uri="{FF2B5EF4-FFF2-40B4-BE49-F238E27FC236}">
                <a16:creationId xmlns:a16="http://schemas.microsoft.com/office/drawing/2014/main" id="{2256CA1E-1814-A02B-5AFB-4FF3F7A8A388}"/>
              </a:ext>
            </a:extLst>
          </p:cNvPr>
          <p:cNvSpPr>
            <a:spLocks noChangeArrowheads="1"/>
          </p:cNvSpPr>
          <p:nvPr/>
        </p:nvSpPr>
        <p:spPr bwMode="auto">
          <a:xfrm>
            <a:off x="2321975" y="1988984"/>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D</a:t>
            </a:r>
          </a:p>
        </p:txBody>
      </p:sp>
      <p:sp>
        <p:nvSpPr>
          <p:cNvPr id="137" name="Rectangle 71">
            <a:extLst>
              <a:ext uri="{FF2B5EF4-FFF2-40B4-BE49-F238E27FC236}">
                <a16:creationId xmlns:a16="http://schemas.microsoft.com/office/drawing/2014/main" id="{0737A09B-604C-1CB0-42AF-C9BD503DA945}"/>
              </a:ext>
            </a:extLst>
          </p:cNvPr>
          <p:cNvSpPr>
            <a:spLocks noChangeArrowheads="1"/>
          </p:cNvSpPr>
          <p:nvPr/>
        </p:nvSpPr>
        <p:spPr bwMode="auto">
          <a:xfrm>
            <a:off x="2771981" y="1988984"/>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X</a:t>
            </a:r>
          </a:p>
        </p:txBody>
      </p:sp>
      <p:sp>
        <p:nvSpPr>
          <p:cNvPr id="138" name="Rectangle 72">
            <a:extLst>
              <a:ext uri="{FF2B5EF4-FFF2-40B4-BE49-F238E27FC236}">
                <a16:creationId xmlns:a16="http://schemas.microsoft.com/office/drawing/2014/main" id="{69E3EC64-2493-6031-9890-F9C7B54AF75D}"/>
              </a:ext>
            </a:extLst>
          </p:cNvPr>
          <p:cNvSpPr>
            <a:spLocks noChangeArrowheads="1"/>
          </p:cNvSpPr>
          <p:nvPr/>
        </p:nvSpPr>
        <p:spPr bwMode="auto">
          <a:xfrm>
            <a:off x="3221986" y="1988984"/>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M</a:t>
            </a:r>
          </a:p>
        </p:txBody>
      </p:sp>
      <p:sp>
        <p:nvSpPr>
          <p:cNvPr id="139" name="Rectangle 73">
            <a:extLst>
              <a:ext uri="{FF2B5EF4-FFF2-40B4-BE49-F238E27FC236}">
                <a16:creationId xmlns:a16="http://schemas.microsoft.com/office/drawing/2014/main" id="{2DD3B5A2-6C73-6F04-C526-B27BD1E3F253}"/>
              </a:ext>
            </a:extLst>
          </p:cNvPr>
          <p:cNvSpPr>
            <a:spLocks noChangeArrowheads="1"/>
          </p:cNvSpPr>
          <p:nvPr/>
        </p:nvSpPr>
        <p:spPr bwMode="auto">
          <a:xfrm>
            <a:off x="3671991" y="1988984"/>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W</a:t>
            </a:r>
          </a:p>
        </p:txBody>
      </p:sp>
      <p:sp>
        <p:nvSpPr>
          <p:cNvPr id="6" name="正方形/長方形 5">
            <a:extLst>
              <a:ext uri="{FF2B5EF4-FFF2-40B4-BE49-F238E27FC236}">
                <a16:creationId xmlns:a16="http://schemas.microsoft.com/office/drawing/2014/main" id="{F7AC24C4-5052-BDD6-E65A-9598E2DF30CD}"/>
              </a:ext>
            </a:extLst>
          </p:cNvPr>
          <p:cNvSpPr/>
          <p:nvPr/>
        </p:nvSpPr>
        <p:spPr>
          <a:xfrm>
            <a:off x="341954" y="3248998"/>
            <a:ext cx="450005" cy="369332"/>
          </a:xfrm>
          <a:prstGeom prst="rect">
            <a:avLst/>
          </a:prstGeom>
        </p:spPr>
        <p:txBody>
          <a:bodyPr wrap="square">
            <a:spAutoFit/>
          </a:bodyPr>
          <a:lstStyle/>
          <a:p>
            <a:pPr algn="ctr"/>
            <a:r>
              <a:rPr lang="en-US" altLang="ja-JP" dirty="0">
                <a:solidFill>
                  <a:schemeClr val="tx1">
                    <a:lumMod val="65000"/>
                    <a:lumOff val="35000"/>
                  </a:schemeClr>
                </a:solidFill>
                <a:latin typeface="Consolas" panose="020B0609020204030204" pitchFamily="49" charset="0"/>
              </a:rPr>
              <a:t>I0</a:t>
            </a:r>
            <a:endParaRPr lang="ja-JP" altLang="en-US" dirty="0">
              <a:solidFill>
                <a:schemeClr val="tx1">
                  <a:lumMod val="65000"/>
                  <a:lumOff val="35000"/>
                </a:schemeClr>
              </a:solidFill>
              <a:latin typeface="Consolas" panose="020B0609020204030204" pitchFamily="49" charset="0"/>
            </a:endParaRPr>
          </a:p>
        </p:txBody>
      </p:sp>
      <p:sp>
        <p:nvSpPr>
          <p:cNvPr id="9" name="正方形/長方形 8">
            <a:extLst>
              <a:ext uri="{FF2B5EF4-FFF2-40B4-BE49-F238E27FC236}">
                <a16:creationId xmlns:a16="http://schemas.microsoft.com/office/drawing/2014/main" id="{DCE544BA-5357-EED8-D479-6B0CD4AB5396}"/>
              </a:ext>
            </a:extLst>
          </p:cNvPr>
          <p:cNvSpPr/>
          <p:nvPr/>
        </p:nvSpPr>
        <p:spPr>
          <a:xfrm>
            <a:off x="341953" y="5489695"/>
            <a:ext cx="450005" cy="369332"/>
          </a:xfrm>
          <a:prstGeom prst="rect">
            <a:avLst/>
          </a:prstGeom>
        </p:spPr>
        <p:txBody>
          <a:bodyPr wrap="square">
            <a:spAutoFit/>
          </a:bodyPr>
          <a:lstStyle/>
          <a:p>
            <a:pPr algn="ctr"/>
            <a:r>
              <a:rPr lang="en-US" altLang="ja-JP" dirty="0">
                <a:solidFill>
                  <a:schemeClr val="tx1">
                    <a:lumMod val="65000"/>
                    <a:lumOff val="35000"/>
                  </a:schemeClr>
                </a:solidFill>
                <a:latin typeface="Consolas" panose="020B0609020204030204" pitchFamily="49" charset="0"/>
              </a:rPr>
              <a:t>I1</a:t>
            </a:r>
            <a:endParaRPr lang="ja-JP" altLang="en-US" dirty="0">
              <a:solidFill>
                <a:schemeClr val="tx1">
                  <a:lumMod val="65000"/>
                  <a:lumOff val="35000"/>
                </a:schemeClr>
              </a:solidFill>
              <a:latin typeface="Consolas" panose="020B0609020204030204" pitchFamily="49" charset="0"/>
            </a:endParaRPr>
          </a:p>
        </p:txBody>
      </p:sp>
      <p:sp>
        <p:nvSpPr>
          <p:cNvPr id="10" name="正方形/長方形 9">
            <a:extLst>
              <a:ext uri="{FF2B5EF4-FFF2-40B4-BE49-F238E27FC236}">
                <a16:creationId xmlns:a16="http://schemas.microsoft.com/office/drawing/2014/main" id="{0B942568-EBA8-5772-6851-DA5853E373C3}"/>
              </a:ext>
            </a:extLst>
          </p:cNvPr>
          <p:cNvSpPr/>
          <p:nvPr/>
        </p:nvSpPr>
        <p:spPr>
          <a:xfrm>
            <a:off x="341953" y="5939700"/>
            <a:ext cx="450005" cy="369332"/>
          </a:xfrm>
          <a:prstGeom prst="rect">
            <a:avLst/>
          </a:prstGeom>
        </p:spPr>
        <p:txBody>
          <a:bodyPr wrap="square">
            <a:spAutoFit/>
          </a:bodyPr>
          <a:lstStyle/>
          <a:p>
            <a:pPr algn="ctr"/>
            <a:r>
              <a:rPr lang="en-US" altLang="ja-JP" dirty="0">
                <a:solidFill>
                  <a:schemeClr val="tx1">
                    <a:lumMod val="65000"/>
                    <a:lumOff val="35000"/>
                  </a:schemeClr>
                </a:solidFill>
                <a:latin typeface="Consolas" panose="020B0609020204030204" pitchFamily="49" charset="0"/>
              </a:rPr>
              <a:t>I2</a:t>
            </a:r>
            <a:endParaRPr lang="ja-JP" altLang="en-US" dirty="0">
              <a:solidFill>
                <a:schemeClr val="tx1">
                  <a:lumMod val="65000"/>
                  <a:lumOff val="35000"/>
                </a:schemeClr>
              </a:solidFill>
              <a:latin typeface="Consolas" panose="020B0609020204030204" pitchFamily="49" charset="0"/>
            </a:endParaRPr>
          </a:p>
        </p:txBody>
      </p:sp>
      <p:sp>
        <p:nvSpPr>
          <p:cNvPr id="11" name="Rectangle 69">
            <a:extLst>
              <a:ext uri="{FF2B5EF4-FFF2-40B4-BE49-F238E27FC236}">
                <a16:creationId xmlns:a16="http://schemas.microsoft.com/office/drawing/2014/main" id="{36D32E68-11A6-09F5-B828-F3E4CF6E8358}"/>
              </a:ext>
            </a:extLst>
          </p:cNvPr>
          <p:cNvSpPr>
            <a:spLocks noChangeArrowheads="1"/>
          </p:cNvSpPr>
          <p:nvPr/>
        </p:nvSpPr>
        <p:spPr bwMode="auto">
          <a:xfrm>
            <a:off x="971961" y="3248998"/>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12" name="Rectangle 70">
            <a:extLst>
              <a:ext uri="{FF2B5EF4-FFF2-40B4-BE49-F238E27FC236}">
                <a16:creationId xmlns:a16="http://schemas.microsoft.com/office/drawing/2014/main" id="{2E05BE76-2F1B-1DA7-C431-C1700B9B125E}"/>
              </a:ext>
            </a:extLst>
          </p:cNvPr>
          <p:cNvSpPr>
            <a:spLocks noChangeArrowheads="1"/>
          </p:cNvSpPr>
          <p:nvPr/>
        </p:nvSpPr>
        <p:spPr bwMode="auto">
          <a:xfrm>
            <a:off x="1421964" y="3248998"/>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D</a:t>
            </a:r>
          </a:p>
        </p:txBody>
      </p:sp>
      <p:sp>
        <p:nvSpPr>
          <p:cNvPr id="13" name="Rectangle 71">
            <a:extLst>
              <a:ext uri="{FF2B5EF4-FFF2-40B4-BE49-F238E27FC236}">
                <a16:creationId xmlns:a16="http://schemas.microsoft.com/office/drawing/2014/main" id="{FFFE146F-D924-5DFA-7373-F80B69A087D5}"/>
              </a:ext>
            </a:extLst>
          </p:cNvPr>
          <p:cNvSpPr>
            <a:spLocks noChangeArrowheads="1"/>
          </p:cNvSpPr>
          <p:nvPr/>
        </p:nvSpPr>
        <p:spPr bwMode="auto">
          <a:xfrm>
            <a:off x="1871970" y="3248998"/>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X</a:t>
            </a:r>
          </a:p>
        </p:txBody>
      </p:sp>
      <p:sp>
        <p:nvSpPr>
          <p:cNvPr id="14" name="Rectangle 72">
            <a:extLst>
              <a:ext uri="{FF2B5EF4-FFF2-40B4-BE49-F238E27FC236}">
                <a16:creationId xmlns:a16="http://schemas.microsoft.com/office/drawing/2014/main" id="{D64365E3-CFBE-77EC-EEB6-FFA49ED3964C}"/>
              </a:ext>
            </a:extLst>
          </p:cNvPr>
          <p:cNvSpPr>
            <a:spLocks noChangeArrowheads="1"/>
          </p:cNvSpPr>
          <p:nvPr/>
        </p:nvSpPr>
        <p:spPr bwMode="auto">
          <a:xfrm>
            <a:off x="2321975" y="3248998"/>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M</a:t>
            </a:r>
          </a:p>
        </p:txBody>
      </p:sp>
      <p:sp>
        <p:nvSpPr>
          <p:cNvPr id="15" name="Rectangle 73">
            <a:extLst>
              <a:ext uri="{FF2B5EF4-FFF2-40B4-BE49-F238E27FC236}">
                <a16:creationId xmlns:a16="http://schemas.microsoft.com/office/drawing/2014/main" id="{3EF48632-7CD9-E9BA-BB1C-3DA87C150EFC}"/>
              </a:ext>
            </a:extLst>
          </p:cNvPr>
          <p:cNvSpPr>
            <a:spLocks noChangeArrowheads="1"/>
          </p:cNvSpPr>
          <p:nvPr/>
        </p:nvSpPr>
        <p:spPr bwMode="auto">
          <a:xfrm>
            <a:off x="2771980" y="3248998"/>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W</a:t>
            </a:r>
          </a:p>
        </p:txBody>
      </p:sp>
      <p:sp>
        <p:nvSpPr>
          <p:cNvPr id="16" name="Rectangle 69">
            <a:extLst>
              <a:ext uri="{FF2B5EF4-FFF2-40B4-BE49-F238E27FC236}">
                <a16:creationId xmlns:a16="http://schemas.microsoft.com/office/drawing/2014/main" id="{D79287FF-FE5D-4E4E-1CBA-DD0DE39235D9}"/>
              </a:ext>
            </a:extLst>
          </p:cNvPr>
          <p:cNvSpPr>
            <a:spLocks noChangeArrowheads="1"/>
          </p:cNvSpPr>
          <p:nvPr/>
        </p:nvSpPr>
        <p:spPr bwMode="auto">
          <a:xfrm>
            <a:off x="1421968" y="3699003"/>
            <a:ext cx="450004" cy="360000"/>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17" name="Rectangle 70">
            <a:extLst>
              <a:ext uri="{FF2B5EF4-FFF2-40B4-BE49-F238E27FC236}">
                <a16:creationId xmlns:a16="http://schemas.microsoft.com/office/drawing/2014/main" id="{55294C82-26F3-3B53-DA89-49B3388A843B}"/>
              </a:ext>
            </a:extLst>
          </p:cNvPr>
          <p:cNvSpPr>
            <a:spLocks noChangeArrowheads="1"/>
          </p:cNvSpPr>
          <p:nvPr/>
        </p:nvSpPr>
        <p:spPr bwMode="auto">
          <a:xfrm>
            <a:off x="1871971" y="3699003"/>
            <a:ext cx="450005" cy="360000"/>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dirty="0">
                <a:latin typeface="+mn-lt"/>
                <a:ea typeface="+mn-ea"/>
              </a:rPr>
              <a:t>D</a:t>
            </a:r>
          </a:p>
        </p:txBody>
      </p:sp>
      <p:sp>
        <p:nvSpPr>
          <p:cNvPr id="18" name="Rectangle 71">
            <a:extLst>
              <a:ext uri="{FF2B5EF4-FFF2-40B4-BE49-F238E27FC236}">
                <a16:creationId xmlns:a16="http://schemas.microsoft.com/office/drawing/2014/main" id="{6A0B1FFF-3557-CB49-C34A-0A49637001EB}"/>
              </a:ext>
            </a:extLst>
          </p:cNvPr>
          <p:cNvSpPr>
            <a:spLocks noChangeArrowheads="1"/>
          </p:cNvSpPr>
          <p:nvPr/>
        </p:nvSpPr>
        <p:spPr bwMode="auto">
          <a:xfrm>
            <a:off x="2321977" y="3699003"/>
            <a:ext cx="450005" cy="360000"/>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dirty="0">
                <a:latin typeface="+mn-lt"/>
                <a:ea typeface="+mn-ea"/>
              </a:rPr>
              <a:t>X</a:t>
            </a:r>
          </a:p>
        </p:txBody>
      </p:sp>
      <p:sp>
        <p:nvSpPr>
          <p:cNvPr id="19" name="Rectangle 72">
            <a:extLst>
              <a:ext uri="{FF2B5EF4-FFF2-40B4-BE49-F238E27FC236}">
                <a16:creationId xmlns:a16="http://schemas.microsoft.com/office/drawing/2014/main" id="{99F19349-1717-37FB-270A-96BB7C6EFCE1}"/>
              </a:ext>
            </a:extLst>
          </p:cNvPr>
          <p:cNvSpPr>
            <a:spLocks noChangeArrowheads="1"/>
          </p:cNvSpPr>
          <p:nvPr/>
        </p:nvSpPr>
        <p:spPr bwMode="auto">
          <a:xfrm>
            <a:off x="2771982" y="3699003"/>
            <a:ext cx="450005" cy="360000"/>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dirty="0">
                <a:latin typeface="+mn-lt"/>
                <a:ea typeface="+mn-ea"/>
              </a:rPr>
              <a:t>M</a:t>
            </a:r>
          </a:p>
        </p:txBody>
      </p:sp>
      <p:grpSp>
        <p:nvGrpSpPr>
          <p:cNvPr id="41" name="グループ化 40">
            <a:extLst>
              <a:ext uri="{FF2B5EF4-FFF2-40B4-BE49-F238E27FC236}">
                <a16:creationId xmlns:a16="http://schemas.microsoft.com/office/drawing/2014/main" id="{B74FFB9D-BADF-1D2E-2BF1-52C064B5E36C}"/>
              </a:ext>
            </a:extLst>
          </p:cNvPr>
          <p:cNvGrpSpPr/>
          <p:nvPr/>
        </p:nvGrpSpPr>
        <p:grpSpPr>
          <a:xfrm>
            <a:off x="3221985" y="5499023"/>
            <a:ext cx="2250023" cy="360000"/>
            <a:chOff x="1871971" y="5679025"/>
            <a:chExt cx="2250023" cy="360000"/>
          </a:xfrm>
        </p:grpSpPr>
        <p:sp>
          <p:nvSpPr>
            <p:cNvPr id="21" name="Rectangle 69">
              <a:extLst>
                <a:ext uri="{FF2B5EF4-FFF2-40B4-BE49-F238E27FC236}">
                  <a16:creationId xmlns:a16="http://schemas.microsoft.com/office/drawing/2014/main" id="{BE5A2BD5-60F8-507F-7D0D-639BBBA8B030}"/>
                </a:ext>
              </a:extLst>
            </p:cNvPr>
            <p:cNvSpPr>
              <a:spLocks noChangeArrowheads="1"/>
            </p:cNvSpPr>
            <p:nvPr/>
          </p:nvSpPr>
          <p:spPr bwMode="auto">
            <a:xfrm>
              <a:off x="1871971" y="5679025"/>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22" name="Rectangle 70">
              <a:extLst>
                <a:ext uri="{FF2B5EF4-FFF2-40B4-BE49-F238E27FC236}">
                  <a16:creationId xmlns:a16="http://schemas.microsoft.com/office/drawing/2014/main" id="{476E5005-654E-270B-37D5-F286DD1CC1DF}"/>
                </a:ext>
              </a:extLst>
            </p:cNvPr>
            <p:cNvSpPr>
              <a:spLocks noChangeArrowheads="1"/>
            </p:cNvSpPr>
            <p:nvPr/>
          </p:nvSpPr>
          <p:spPr bwMode="auto">
            <a:xfrm>
              <a:off x="2321974" y="5679025"/>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D</a:t>
              </a:r>
            </a:p>
          </p:txBody>
        </p:sp>
        <p:sp>
          <p:nvSpPr>
            <p:cNvPr id="23" name="Rectangle 71">
              <a:extLst>
                <a:ext uri="{FF2B5EF4-FFF2-40B4-BE49-F238E27FC236}">
                  <a16:creationId xmlns:a16="http://schemas.microsoft.com/office/drawing/2014/main" id="{840287FC-9CB5-4AA7-E875-1E001926FDD9}"/>
                </a:ext>
              </a:extLst>
            </p:cNvPr>
            <p:cNvSpPr>
              <a:spLocks noChangeArrowheads="1"/>
            </p:cNvSpPr>
            <p:nvPr/>
          </p:nvSpPr>
          <p:spPr bwMode="auto">
            <a:xfrm>
              <a:off x="2771980" y="5679025"/>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X</a:t>
              </a:r>
            </a:p>
          </p:txBody>
        </p:sp>
        <p:sp>
          <p:nvSpPr>
            <p:cNvPr id="24" name="Rectangle 72">
              <a:extLst>
                <a:ext uri="{FF2B5EF4-FFF2-40B4-BE49-F238E27FC236}">
                  <a16:creationId xmlns:a16="http://schemas.microsoft.com/office/drawing/2014/main" id="{1A79FD48-1F2F-446B-0B2A-9F8394A1A5D1}"/>
                </a:ext>
              </a:extLst>
            </p:cNvPr>
            <p:cNvSpPr>
              <a:spLocks noChangeArrowheads="1"/>
            </p:cNvSpPr>
            <p:nvPr/>
          </p:nvSpPr>
          <p:spPr bwMode="auto">
            <a:xfrm>
              <a:off x="3221985" y="5679025"/>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M</a:t>
              </a:r>
            </a:p>
          </p:txBody>
        </p:sp>
        <p:sp>
          <p:nvSpPr>
            <p:cNvPr id="25" name="Rectangle 73">
              <a:extLst>
                <a:ext uri="{FF2B5EF4-FFF2-40B4-BE49-F238E27FC236}">
                  <a16:creationId xmlns:a16="http://schemas.microsoft.com/office/drawing/2014/main" id="{0E6385F2-5B1B-A538-DE15-8469E69FA678}"/>
                </a:ext>
              </a:extLst>
            </p:cNvPr>
            <p:cNvSpPr>
              <a:spLocks noChangeArrowheads="1"/>
            </p:cNvSpPr>
            <p:nvPr/>
          </p:nvSpPr>
          <p:spPr bwMode="auto">
            <a:xfrm>
              <a:off x="3671990" y="5679025"/>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W</a:t>
              </a:r>
            </a:p>
          </p:txBody>
        </p:sp>
      </p:grpSp>
      <p:sp>
        <p:nvSpPr>
          <p:cNvPr id="26" name="Rectangle 69">
            <a:extLst>
              <a:ext uri="{FF2B5EF4-FFF2-40B4-BE49-F238E27FC236}">
                <a16:creationId xmlns:a16="http://schemas.microsoft.com/office/drawing/2014/main" id="{65087BCE-2C17-116A-F08E-6150BABF171E}"/>
              </a:ext>
            </a:extLst>
          </p:cNvPr>
          <p:cNvSpPr>
            <a:spLocks noChangeArrowheads="1"/>
          </p:cNvSpPr>
          <p:nvPr/>
        </p:nvSpPr>
        <p:spPr bwMode="auto">
          <a:xfrm>
            <a:off x="1871972" y="4149008"/>
            <a:ext cx="450004" cy="360000"/>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27" name="Rectangle 70">
            <a:extLst>
              <a:ext uri="{FF2B5EF4-FFF2-40B4-BE49-F238E27FC236}">
                <a16:creationId xmlns:a16="http://schemas.microsoft.com/office/drawing/2014/main" id="{75B13ADA-FF53-2D8C-6C7E-7788C5FBF4D6}"/>
              </a:ext>
            </a:extLst>
          </p:cNvPr>
          <p:cNvSpPr>
            <a:spLocks noChangeArrowheads="1"/>
          </p:cNvSpPr>
          <p:nvPr/>
        </p:nvSpPr>
        <p:spPr bwMode="auto">
          <a:xfrm>
            <a:off x="2321975" y="4149008"/>
            <a:ext cx="450005" cy="360000"/>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dirty="0">
                <a:latin typeface="+mn-lt"/>
                <a:ea typeface="+mn-ea"/>
              </a:rPr>
              <a:t>D</a:t>
            </a:r>
          </a:p>
        </p:txBody>
      </p:sp>
      <p:sp>
        <p:nvSpPr>
          <p:cNvPr id="28" name="Rectangle 71">
            <a:extLst>
              <a:ext uri="{FF2B5EF4-FFF2-40B4-BE49-F238E27FC236}">
                <a16:creationId xmlns:a16="http://schemas.microsoft.com/office/drawing/2014/main" id="{CCC3A11B-7559-0DA3-BFC1-B129C698983B}"/>
              </a:ext>
            </a:extLst>
          </p:cNvPr>
          <p:cNvSpPr>
            <a:spLocks noChangeArrowheads="1"/>
          </p:cNvSpPr>
          <p:nvPr/>
        </p:nvSpPr>
        <p:spPr bwMode="auto">
          <a:xfrm>
            <a:off x="2771981" y="4149008"/>
            <a:ext cx="450005" cy="360000"/>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dirty="0">
                <a:latin typeface="+mn-lt"/>
                <a:ea typeface="+mn-ea"/>
              </a:rPr>
              <a:t>X</a:t>
            </a:r>
          </a:p>
        </p:txBody>
      </p:sp>
      <p:sp>
        <p:nvSpPr>
          <p:cNvPr id="31" name="Rectangle 69">
            <a:extLst>
              <a:ext uri="{FF2B5EF4-FFF2-40B4-BE49-F238E27FC236}">
                <a16:creationId xmlns:a16="http://schemas.microsoft.com/office/drawing/2014/main" id="{C1B2AE82-9F1E-DD86-AD24-83E30341D4FD}"/>
              </a:ext>
            </a:extLst>
          </p:cNvPr>
          <p:cNvSpPr>
            <a:spLocks noChangeArrowheads="1"/>
          </p:cNvSpPr>
          <p:nvPr/>
        </p:nvSpPr>
        <p:spPr bwMode="auto">
          <a:xfrm>
            <a:off x="2321977" y="4599013"/>
            <a:ext cx="450004" cy="360000"/>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32" name="Rectangle 70">
            <a:extLst>
              <a:ext uri="{FF2B5EF4-FFF2-40B4-BE49-F238E27FC236}">
                <a16:creationId xmlns:a16="http://schemas.microsoft.com/office/drawing/2014/main" id="{48B0182E-EABB-C472-9B6F-44F14B70FD09}"/>
              </a:ext>
            </a:extLst>
          </p:cNvPr>
          <p:cNvSpPr>
            <a:spLocks noChangeArrowheads="1"/>
          </p:cNvSpPr>
          <p:nvPr/>
        </p:nvSpPr>
        <p:spPr bwMode="auto">
          <a:xfrm>
            <a:off x="2771980" y="4599013"/>
            <a:ext cx="450005" cy="360000"/>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dirty="0">
                <a:latin typeface="+mn-lt"/>
                <a:ea typeface="+mn-ea"/>
              </a:rPr>
              <a:t>D</a:t>
            </a:r>
          </a:p>
        </p:txBody>
      </p:sp>
      <p:sp>
        <p:nvSpPr>
          <p:cNvPr id="36" name="Rectangle 69">
            <a:extLst>
              <a:ext uri="{FF2B5EF4-FFF2-40B4-BE49-F238E27FC236}">
                <a16:creationId xmlns:a16="http://schemas.microsoft.com/office/drawing/2014/main" id="{0D00536B-19C1-7914-4AAF-122E95C2662C}"/>
              </a:ext>
            </a:extLst>
          </p:cNvPr>
          <p:cNvSpPr>
            <a:spLocks noChangeArrowheads="1"/>
          </p:cNvSpPr>
          <p:nvPr/>
        </p:nvSpPr>
        <p:spPr bwMode="auto">
          <a:xfrm>
            <a:off x="2771981" y="5049018"/>
            <a:ext cx="450004" cy="360000"/>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dirty="0">
                <a:latin typeface="+mn-lt"/>
                <a:ea typeface="+mn-ea"/>
              </a:rPr>
              <a:t>F</a:t>
            </a:r>
          </a:p>
        </p:txBody>
      </p:sp>
      <p:grpSp>
        <p:nvGrpSpPr>
          <p:cNvPr id="42" name="グループ化 41">
            <a:extLst>
              <a:ext uri="{FF2B5EF4-FFF2-40B4-BE49-F238E27FC236}">
                <a16:creationId xmlns:a16="http://schemas.microsoft.com/office/drawing/2014/main" id="{FE448C61-B7F6-AB0D-1631-50D92A2CF441}"/>
              </a:ext>
            </a:extLst>
          </p:cNvPr>
          <p:cNvGrpSpPr/>
          <p:nvPr/>
        </p:nvGrpSpPr>
        <p:grpSpPr>
          <a:xfrm>
            <a:off x="3671990" y="5949028"/>
            <a:ext cx="2250023" cy="360000"/>
            <a:chOff x="1871971" y="5679025"/>
            <a:chExt cx="2250023" cy="360000"/>
          </a:xfrm>
        </p:grpSpPr>
        <p:sp>
          <p:nvSpPr>
            <p:cNvPr id="43" name="Rectangle 69">
              <a:extLst>
                <a:ext uri="{FF2B5EF4-FFF2-40B4-BE49-F238E27FC236}">
                  <a16:creationId xmlns:a16="http://schemas.microsoft.com/office/drawing/2014/main" id="{5C080615-7F45-71AD-DB99-1054C00D65BF}"/>
                </a:ext>
              </a:extLst>
            </p:cNvPr>
            <p:cNvSpPr>
              <a:spLocks noChangeArrowheads="1"/>
            </p:cNvSpPr>
            <p:nvPr/>
          </p:nvSpPr>
          <p:spPr bwMode="auto">
            <a:xfrm>
              <a:off x="1871971" y="5679025"/>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44" name="Rectangle 70">
              <a:extLst>
                <a:ext uri="{FF2B5EF4-FFF2-40B4-BE49-F238E27FC236}">
                  <a16:creationId xmlns:a16="http://schemas.microsoft.com/office/drawing/2014/main" id="{7522868B-5903-4428-C318-3D50FB95F05E}"/>
                </a:ext>
              </a:extLst>
            </p:cNvPr>
            <p:cNvSpPr>
              <a:spLocks noChangeArrowheads="1"/>
            </p:cNvSpPr>
            <p:nvPr/>
          </p:nvSpPr>
          <p:spPr bwMode="auto">
            <a:xfrm>
              <a:off x="2321974" y="5679025"/>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D</a:t>
              </a:r>
            </a:p>
          </p:txBody>
        </p:sp>
        <p:sp>
          <p:nvSpPr>
            <p:cNvPr id="45" name="Rectangle 71">
              <a:extLst>
                <a:ext uri="{FF2B5EF4-FFF2-40B4-BE49-F238E27FC236}">
                  <a16:creationId xmlns:a16="http://schemas.microsoft.com/office/drawing/2014/main" id="{5F4FA41D-09F7-0F2A-7BF2-6047F77498EF}"/>
                </a:ext>
              </a:extLst>
            </p:cNvPr>
            <p:cNvSpPr>
              <a:spLocks noChangeArrowheads="1"/>
            </p:cNvSpPr>
            <p:nvPr/>
          </p:nvSpPr>
          <p:spPr bwMode="auto">
            <a:xfrm>
              <a:off x="2771980" y="5679025"/>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X</a:t>
              </a:r>
            </a:p>
          </p:txBody>
        </p:sp>
        <p:sp>
          <p:nvSpPr>
            <p:cNvPr id="46" name="Rectangle 72">
              <a:extLst>
                <a:ext uri="{FF2B5EF4-FFF2-40B4-BE49-F238E27FC236}">
                  <a16:creationId xmlns:a16="http://schemas.microsoft.com/office/drawing/2014/main" id="{CF6E949B-82C2-1906-1FB4-447D32A65541}"/>
                </a:ext>
              </a:extLst>
            </p:cNvPr>
            <p:cNvSpPr>
              <a:spLocks noChangeArrowheads="1"/>
            </p:cNvSpPr>
            <p:nvPr/>
          </p:nvSpPr>
          <p:spPr bwMode="auto">
            <a:xfrm>
              <a:off x="3221985" y="5679025"/>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M</a:t>
              </a:r>
            </a:p>
          </p:txBody>
        </p:sp>
        <p:sp>
          <p:nvSpPr>
            <p:cNvPr id="47" name="Rectangle 73">
              <a:extLst>
                <a:ext uri="{FF2B5EF4-FFF2-40B4-BE49-F238E27FC236}">
                  <a16:creationId xmlns:a16="http://schemas.microsoft.com/office/drawing/2014/main" id="{314F5B40-B65D-8A5C-D5BE-27C6B273063F}"/>
                </a:ext>
              </a:extLst>
            </p:cNvPr>
            <p:cNvSpPr>
              <a:spLocks noChangeArrowheads="1"/>
            </p:cNvSpPr>
            <p:nvPr/>
          </p:nvSpPr>
          <p:spPr bwMode="auto">
            <a:xfrm>
              <a:off x="3671990" y="5679025"/>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W</a:t>
              </a:r>
            </a:p>
          </p:txBody>
        </p:sp>
      </p:grpSp>
      <p:cxnSp>
        <p:nvCxnSpPr>
          <p:cNvPr id="48" name="直線矢印コネクタ 47">
            <a:extLst>
              <a:ext uri="{FF2B5EF4-FFF2-40B4-BE49-F238E27FC236}">
                <a16:creationId xmlns:a16="http://schemas.microsoft.com/office/drawing/2014/main" id="{296FF6F4-CB57-F0C8-A37F-45F1AE1379B8}"/>
              </a:ext>
            </a:extLst>
          </p:cNvPr>
          <p:cNvCxnSpPr>
            <a:cxnSpLocks/>
          </p:cNvCxnSpPr>
          <p:nvPr/>
        </p:nvCxnSpPr>
        <p:spPr bwMode="auto">
          <a:xfrm>
            <a:off x="4121995" y="2168986"/>
            <a:ext cx="1800020" cy="0"/>
          </a:xfrm>
          <a:prstGeom prst="straightConnector1">
            <a:avLst/>
          </a:prstGeom>
          <a:noFill/>
          <a:ln w="9525" cap="flat" cmpd="sng" algn="ctr">
            <a:solidFill>
              <a:schemeClr val="tx1">
                <a:lumMod val="75000"/>
                <a:lumOff val="25000"/>
              </a:schemeClr>
            </a:solidFill>
            <a:prstDash val="solid"/>
            <a:round/>
            <a:headEnd type="triangle" w="med" len="med"/>
            <a:tailEnd type="triangle"/>
          </a:ln>
          <a:effectLst/>
        </p:spPr>
      </p:cxnSp>
      <p:cxnSp>
        <p:nvCxnSpPr>
          <p:cNvPr id="50" name="直線矢印コネクタ 49">
            <a:extLst>
              <a:ext uri="{FF2B5EF4-FFF2-40B4-BE49-F238E27FC236}">
                <a16:creationId xmlns:a16="http://schemas.microsoft.com/office/drawing/2014/main" id="{C1635BA8-E45B-1036-89FD-CD4F6EFA972E}"/>
              </a:ext>
            </a:extLst>
          </p:cNvPr>
          <p:cNvCxnSpPr>
            <a:cxnSpLocks/>
          </p:cNvCxnSpPr>
          <p:nvPr/>
        </p:nvCxnSpPr>
        <p:spPr bwMode="auto">
          <a:xfrm>
            <a:off x="4121995" y="1448978"/>
            <a:ext cx="0" cy="4590051"/>
          </a:xfrm>
          <a:prstGeom prst="straightConnector1">
            <a:avLst/>
          </a:prstGeom>
          <a:noFill/>
          <a:ln w="6350" cap="flat" cmpd="sng" algn="ctr">
            <a:solidFill>
              <a:schemeClr val="tx1">
                <a:lumMod val="75000"/>
                <a:lumOff val="25000"/>
              </a:schemeClr>
            </a:solidFill>
            <a:prstDash val="solid"/>
            <a:round/>
            <a:headEnd type="none" w="med" len="med"/>
            <a:tailEnd type="none"/>
          </a:ln>
          <a:effectLst/>
        </p:spPr>
      </p:cxnSp>
      <p:cxnSp>
        <p:nvCxnSpPr>
          <p:cNvPr id="51" name="直線矢印コネクタ 50">
            <a:extLst>
              <a:ext uri="{FF2B5EF4-FFF2-40B4-BE49-F238E27FC236}">
                <a16:creationId xmlns:a16="http://schemas.microsoft.com/office/drawing/2014/main" id="{B968D68F-F81F-229A-8E69-E7845670CB60}"/>
              </a:ext>
            </a:extLst>
          </p:cNvPr>
          <p:cNvCxnSpPr>
            <a:cxnSpLocks/>
          </p:cNvCxnSpPr>
          <p:nvPr/>
        </p:nvCxnSpPr>
        <p:spPr bwMode="auto">
          <a:xfrm>
            <a:off x="5922015" y="1448978"/>
            <a:ext cx="0" cy="4590051"/>
          </a:xfrm>
          <a:prstGeom prst="straightConnector1">
            <a:avLst/>
          </a:prstGeom>
          <a:noFill/>
          <a:ln w="6350" cap="flat" cmpd="sng" algn="ctr">
            <a:solidFill>
              <a:schemeClr val="tx1">
                <a:lumMod val="75000"/>
                <a:lumOff val="25000"/>
              </a:schemeClr>
            </a:solidFill>
            <a:prstDash val="solid"/>
            <a:round/>
            <a:headEnd type="none" w="med" len="med"/>
            <a:tailEnd type="none"/>
          </a:ln>
          <a:effectLst/>
        </p:spPr>
      </p:cxnSp>
      <p:sp>
        <p:nvSpPr>
          <p:cNvPr id="141" name="正方形/長方形 140">
            <a:extLst>
              <a:ext uri="{FF2B5EF4-FFF2-40B4-BE49-F238E27FC236}">
                <a16:creationId xmlns:a16="http://schemas.microsoft.com/office/drawing/2014/main" id="{1F9DB709-B2BF-4639-F203-F05948BDAB69}"/>
              </a:ext>
            </a:extLst>
          </p:cNvPr>
          <p:cNvSpPr/>
          <p:nvPr/>
        </p:nvSpPr>
        <p:spPr>
          <a:xfrm>
            <a:off x="4752002" y="1808981"/>
            <a:ext cx="540005" cy="270003"/>
          </a:xfrm>
          <a:prstGeom prst="rect">
            <a:avLst/>
          </a:prstGeom>
        </p:spPr>
        <p:txBody>
          <a:bodyPr wrap="none">
            <a:noAutofit/>
          </a:bodyPr>
          <a:lstStyle/>
          <a:p>
            <a:pPr algn="ctr"/>
            <a:r>
              <a:rPr lang="en-US" altLang="ja-JP" dirty="0">
                <a:solidFill>
                  <a:schemeClr val="tx1">
                    <a:lumMod val="65000"/>
                    <a:lumOff val="35000"/>
                  </a:schemeClr>
                </a:solidFill>
              </a:rPr>
              <a:t>4 cycle</a:t>
            </a:r>
            <a:endParaRPr lang="ja-JP" altLang="en-US" dirty="0">
              <a:solidFill>
                <a:schemeClr val="tx1">
                  <a:lumMod val="65000"/>
                  <a:lumOff val="35000"/>
                </a:schemeClr>
              </a:solidFill>
            </a:endParaRPr>
          </a:p>
        </p:txBody>
      </p:sp>
      <p:cxnSp>
        <p:nvCxnSpPr>
          <p:cNvPr id="142" name="直線矢印コネクタ 141">
            <a:extLst>
              <a:ext uri="{FF2B5EF4-FFF2-40B4-BE49-F238E27FC236}">
                <a16:creationId xmlns:a16="http://schemas.microsoft.com/office/drawing/2014/main" id="{64BC1CFE-703D-F2B2-B15B-61820D24E522}"/>
              </a:ext>
            </a:extLst>
          </p:cNvPr>
          <p:cNvCxnSpPr>
            <a:cxnSpLocks/>
          </p:cNvCxnSpPr>
          <p:nvPr/>
        </p:nvCxnSpPr>
        <p:spPr bwMode="auto">
          <a:xfrm>
            <a:off x="1421965" y="5679025"/>
            <a:ext cx="1800020" cy="0"/>
          </a:xfrm>
          <a:prstGeom prst="straightConnector1">
            <a:avLst/>
          </a:prstGeom>
          <a:noFill/>
          <a:ln w="9525" cap="flat" cmpd="sng" algn="ctr">
            <a:solidFill>
              <a:schemeClr val="tx1">
                <a:lumMod val="75000"/>
                <a:lumOff val="25000"/>
              </a:schemeClr>
            </a:solidFill>
            <a:prstDash val="solid"/>
            <a:round/>
            <a:headEnd type="triangle" w="med" len="med"/>
            <a:tailEnd type="triangle"/>
          </a:ln>
          <a:effectLst/>
        </p:spPr>
      </p:cxnSp>
      <p:sp>
        <p:nvSpPr>
          <p:cNvPr id="143" name="正方形/長方形 142">
            <a:extLst>
              <a:ext uri="{FF2B5EF4-FFF2-40B4-BE49-F238E27FC236}">
                <a16:creationId xmlns:a16="http://schemas.microsoft.com/office/drawing/2014/main" id="{82E58FB9-D0E5-F270-66F6-DAD7164BA165}"/>
              </a:ext>
            </a:extLst>
          </p:cNvPr>
          <p:cNvSpPr/>
          <p:nvPr/>
        </p:nvSpPr>
        <p:spPr>
          <a:xfrm>
            <a:off x="2051972" y="5319020"/>
            <a:ext cx="540005" cy="270003"/>
          </a:xfrm>
          <a:prstGeom prst="rect">
            <a:avLst/>
          </a:prstGeom>
        </p:spPr>
        <p:txBody>
          <a:bodyPr wrap="none">
            <a:noAutofit/>
          </a:bodyPr>
          <a:lstStyle/>
          <a:p>
            <a:pPr algn="ctr"/>
            <a:r>
              <a:rPr lang="en-US" altLang="ja-JP" dirty="0">
                <a:solidFill>
                  <a:schemeClr val="tx1">
                    <a:lumMod val="65000"/>
                    <a:lumOff val="35000"/>
                  </a:schemeClr>
                </a:solidFill>
              </a:rPr>
              <a:t>4 cycle</a:t>
            </a:r>
            <a:endParaRPr lang="ja-JP" altLang="en-US" dirty="0">
              <a:solidFill>
                <a:schemeClr val="tx1">
                  <a:lumMod val="65000"/>
                  <a:lumOff val="35000"/>
                </a:schemeClr>
              </a:solidFill>
            </a:endParaRPr>
          </a:p>
        </p:txBody>
      </p:sp>
      <p:cxnSp>
        <p:nvCxnSpPr>
          <p:cNvPr id="144" name="直線矢印コネクタ 143">
            <a:extLst>
              <a:ext uri="{FF2B5EF4-FFF2-40B4-BE49-F238E27FC236}">
                <a16:creationId xmlns:a16="http://schemas.microsoft.com/office/drawing/2014/main" id="{FD0958C4-70F8-965E-8F1F-8FC31B4342C0}"/>
              </a:ext>
            </a:extLst>
          </p:cNvPr>
          <p:cNvCxnSpPr>
            <a:cxnSpLocks/>
          </p:cNvCxnSpPr>
          <p:nvPr/>
        </p:nvCxnSpPr>
        <p:spPr bwMode="auto">
          <a:xfrm>
            <a:off x="1421965" y="3609002"/>
            <a:ext cx="0" cy="2340026"/>
          </a:xfrm>
          <a:prstGeom prst="straightConnector1">
            <a:avLst/>
          </a:prstGeom>
          <a:noFill/>
          <a:ln w="6350" cap="flat" cmpd="sng" algn="ctr">
            <a:solidFill>
              <a:schemeClr val="tx1">
                <a:lumMod val="75000"/>
                <a:lumOff val="25000"/>
              </a:schemeClr>
            </a:solidFill>
            <a:prstDash val="solid"/>
            <a:round/>
            <a:headEnd type="none" w="med" len="med"/>
            <a:tailEnd type="none"/>
          </a:ln>
          <a:effectLst/>
        </p:spPr>
      </p:cxnSp>
    </p:spTree>
    <p:extLst>
      <p:ext uri="{BB962C8B-B14F-4D97-AF65-F5344CB8AC3E}">
        <p14:creationId xmlns:p14="http://schemas.microsoft.com/office/powerpoint/2010/main" val="145349557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スーパスカラの場合</a:t>
            </a:r>
          </a:p>
        </p:txBody>
      </p:sp>
      <p:sp>
        <p:nvSpPr>
          <p:cNvPr id="129" name="コンテンツ プレースホルダー 34">
            <a:extLst>
              <a:ext uri="{FF2B5EF4-FFF2-40B4-BE49-F238E27FC236}">
                <a16:creationId xmlns:a16="http://schemas.microsoft.com/office/drawing/2014/main" id="{3A18A38F-0614-2DB0-E41C-5B0A06C2A320}"/>
              </a:ext>
            </a:extLst>
          </p:cNvPr>
          <p:cNvSpPr>
            <a:spLocks noGrp="1"/>
          </p:cNvSpPr>
          <p:nvPr>
            <p:ph sz="quarter" idx="10"/>
          </p:nvPr>
        </p:nvSpPr>
        <p:spPr>
          <a:xfrm>
            <a:off x="5562010" y="1268976"/>
            <a:ext cx="3330805" cy="3780042"/>
          </a:xfrm>
        </p:spPr>
        <p:txBody>
          <a:bodyPr/>
          <a:lstStyle/>
          <a:p>
            <a:pPr lvl="1"/>
            <a:r>
              <a:rPr lang="en-US" altLang="ja-JP" dirty="0">
                <a:solidFill>
                  <a:schemeClr val="tx1">
                    <a:lumMod val="65000"/>
                    <a:lumOff val="35000"/>
                  </a:schemeClr>
                </a:solidFill>
                <a:latin typeface="Consolas" panose="020B0609020204030204" pitchFamily="49" charset="0"/>
              </a:rPr>
              <a:t>I5 </a:t>
            </a:r>
            <a:r>
              <a:rPr lang="ja-JP" altLang="en-US" dirty="0">
                <a:solidFill>
                  <a:schemeClr val="tx1">
                    <a:lumMod val="65000"/>
                    <a:lumOff val="35000"/>
                  </a:schemeClr>
                </a:solidFill>
                <a:latin typeface="Consolas" panose="020B0609020204030204" pitchFamily="49" charset="0"/>
              </a:rPr>
              <a:t>の実行が </a:t>
            </a:r>
            <a:r>
              <a:rPr lang="en-US" altLang="ja-JP" dirty="0">
                <a:solidFill>
                  <a:schemeClr val="tx1">
                    <a:lumMod val="65000"/>
                    <a:lumOff val="35000"/>
                  </a:schemeClr>
                </a:solidFill>
                <a:latin typeface="Consolas" panose="020B0609020204030204" pitchFamily="49" charset="0"/>
              </a:rPr>
              <a:t>4 </a:t>
            </a:r>
            <a:r>
              <a:rPr lang="ja-JP" altLang="en-US" dirty="0">
                <a:solidFill>
                  <a:schemeClr val="tx1">
                    <a:lumMod val="65000"/>
                    <a:lumOff val="35000"/>
                  </a:schemeClr>
                </a:solidFill>
                <a:latin typeface="Consolas" panose="020B0609020204030204" pitchFamily="49" charset="0"/>
              </a:rPr>
              <a:t>サイクル遅れている</a:t>
            </a:r>
            <a:endParaRPr lang="en-US" altLang="ja-JP" dirty="0">
              <a:solidFill>
                <a:schemeClr val="tx1">
                  <a:lumMod val="65000"/>
                  <a:lumOff val="35000"/>
                </a:schemeClr>
              </a:solidFill>
              <a:latin typeface="Consolas" panose="020B0609020204030204" pitchFamily="49" charset="0"/>
            </a:endParaRPr>
          </a:p>
          <a:p>
            <a:pPr lvl="1"/>
            <a:r>
              <a:rPr lang="en-US" altLang="ja-JP" dirty="0">
                <a:solidFill>
                  <a:schemeClr val="tx1">
                    <a:lumMod val="65000"/>
                    <a:lumOff val="35000"/>
                  </a:schemeClr>
                </a:solidFill>
                <a:latin typeface="Consolas" panose="020B0609020204030204" pitchFamily="49" charset="0"/>
              </a:rPr>
              <a:t>4</a:t>
            </a:r>
            <a:r>
              <a:rPr lang="ja-JP" altLang="en-US" dirty="0">
                <a:solidFill>
                  <a:schemeClr val="tx1">
                    <a:lumMod val="65000"/>
                    <a:lumOff val="35000"/>
                  </a:schemeClr>
                </a:solidFill>
                <a:latin typeface="Consolas" panose="020B0609020204030204" pitchFamily="49" charset="0"/>
              </a:rPr>
              <a:t>サイクル分の処理を取り消してやり直しているため</a:t>
            </a:r>
          </a:p>
        </p:txBody>
      </p:sp>
      <p:grpSp>
        <p:nvGrpSpPr>
          <p:cNvPr id="3" name="グループ化 2">
            <a:extLst>
              <a:ext uri="{FF2B5EF4-FFF2-40B4-BE49-F238E27FC236}">
                <a16:creationId xmlns:a16="http://schemas.microsoft.com/office/drawing/2014/main" id="{73541057-30E3-3884-2716-0A4158893DA2}"/>
              </a:ext>
            </a:extLst>
          </p:cNvPr>
          <p:cNvGrpSpPr/>
          <p:nvPr/>
        </p:nvGrpSpPr>
        <p:grpSpPr>
          <a:xfrm>
            <a:off x="971961" y="998973"/>
            <a:ext cx="2250023" cy="180002"/>
            <a:chOff x="971961" y="1088974"/>
            <a:chExt cx="2250023" cy="180002"/>
          </a:xfrm>
        </p:grpSpPr>
        <p:sp>
          <p:nvSpPr>
            <p:cNvPr id="60" name="Rectangle 69">
              <a:extLst>
                <a:ext uri="{FF2B5EF4-FFF2-40B4-BE49-F238E27FC236}">
                  <a16:creationId xmlns:a16="http://schemas.microsoft.com/office/drawing/2014/main" id="{87DC93EA-510F-2CED-3C49-ABA98D0CB62E}"/>
                </a:ext>
              </a:extLst>
            </p:cNvPr>
            <p:cNvSpPr>
              <a:spLocks noChangeArrowheads="1"/>
            </p:cNvSpPr>
            <p:nvPr/>
          </p:nvSpPr>
          <p:spPr bwMode="auto">
            <a:xfrm>
              <a:off x="971961" y="1088974"/>
              <a:ext cx="450004"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F</a:t>
              </a:r>
            </a:p>
          </p:txBody>
        </p:sp>
        <p:sp>
          <p:nvSpPr>
            <p:cNvPr id="61" name="Rectangle 70">
              <a:extLst>
                <a:ext uri="{FF2B5EF4-FFF2-40B4-BE49-F238E27FC236}">
                  <a16:creationId xmlns:a16="http://schemas.microsoft.com/office/drawing/2014/main" id="{E2A5E54B-BBC7-0B25-B996-770AF7D777C1}"/>
                </a:ext>
              </a:extLst>
            </p:cNvPr>
            <p:cNvSpPr>
              <a:spLocks noChangeArrowheads="1"/>
            </p:cNvSpPr>
            <p:nvPr/>
          </p:nvSpPr>
          <p:spPr bwMode="auto">
            <a:xfrm>
              <a:off x="1421964" y="108897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D</a:t>
              </a:r>
            </a:p>
          </p:txBody>
        </p:sp>
        <p:sp>
          <p:nvSpPr>
            <p:cNvPr id="62" name="Rectangle 71">
              <a:extLst>
                <a:ext uri="{FF2B5EF4-FFF2-40B4-BE49-F238E27FC236}">
                  <a16:creationId xmlns:a16="http://schemas.microsoft.com/office/drawing/2014/main" id="{E7243571-9A69-A4F8-37EB-6A83C0C08289}"/>
                </a:ext>
              </a:extLst>
            </p:cNvPr>
            <p:cNvSpPr>
              <a:spLocks noChangeArrowheads="1"/>
            </p:cNvSpPr>
            <p:nvPr/>
          </p:nvSpPr>
          <p:spPr bwMode="auto">
            <a:xfrm>
              <a:off x="1871970" y="108897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X</a:t>
              </a:r>
            </a:p>
          </p:txBody>
        </p:sp>
        <p:sp>
          <p:nvSpPr>
            <p:cNvPr id="63" name="Rectangle 72">
              <a:extLst>
                <a:ext uri="{FF2B5EF4-FFF2-40B4-BE49-F238E27FC236}">
                  <a16:creationId xmlns:a16="http://schemas.microsoft.com/office/drawing/2014/main" id="{AEA01D9D-197B-B914-C0BA-9B727A10DEA3}"/>
                </a:ext>
              </a:extLst>
            </p:cNvPr>
            <p:cNvSpPr>
              <a:spLocks noChangeArrowheads="1"/>
            </p:cNvSpPr>
            <p:nvPr/>
          </p:nvSpPr>
          <p:spPr bwMode="auto">
            <a:xfrm>
              <a:off x="2321975" y="108897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M</a:t>
              </a:r>
            </a:p>
          </p:txBody>
        </p:sp>
        <p:sp>
          <p:nvSpPr>
            <p:cNvPr id="128" name="Rectangle 73">
              <a:extLst>
                <a:ext uri="{FF2B5EF4-FFF2-40B4-BE49-F238E27FC236}">
                  <a16:creationId xmlns:a16="http://schemas.microsoft.com/office/drawing/2014/main" id="{17B20D46-4CEE-67DC-B6CC-20CB76AC10C6}"/>
                </a:ext>
              </a:extLst>
            </p:cNvPr>
            <p:cNvSpPr>
              <a:spLocks noChangeArrowheads="1"/>
            </p:cNvSpPr>
            <p:nvPr/>
          </p:nvSpPr>
          <p:spPr bwMode="auto">
            <a:xfrm>
              <a:off x="2771980" y="1088974"/>
              <a:ext cx="450004"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W</a:t>
              </a:r>
            </a:p>
          </p:txBody>
        </p:sp>
      </p:grpSp>
      <p:sp>
        <p:nvSpPr>
          <p:cNvPr id="16" name="Rectangle 69">
            <a:extLst>
              <a:ext uri="{FF2B5EF4-FFF2-40B4-BE49-F238E27FC236}">
                <a16:creationId xmlns:a16="http://schemas.microsoft.com/office/drawing/2014/main" id="{D79287FF-FE5D-4E4E-1CBA-DD0DE39235D9}"/>
              </a:ext>
            </a:extLst>
          </p:cNvPr>
          <p:cNvSpPr>
            <a:spLocks noChangeArrowheads="1"/>
          </p:cNvSpPr>
          <p:nvPr/>
        </p:nvSpPr>
        <p:spPr bwMode="auto">
          <a:xfrm>
            <a:off x="1421968" y="3609002"/>
            <a:ext cx="450004" cy="180002"/>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400" dirty="0">
                <a:latin typeface="+mn-lt"/>
                <a:ea typeface="+mn-ea"/>
              </a:rPr>
              <a:t>F</a:t>
            </a:r>
          </a:p>
        </p:txBody>
      </p:sp>
      <p:sp>
        <p:nvSpPr>
          <p:cNvPr id="17" name="Rectangle 70">
            <a:extLst>
              <a:ext uri="{FF2B5EF4-FFF2-40B4-BE49-F238E27FC236}">
                <a16:creationId xmlns:a16="http://schemas.microsoft.com/office/drawing/2014/main" id="{55294C82-26F3-3B53-DA89-49B3388A843B}"/>
              </a:ext>
            </a:extLst>
          </p:cNvPr>
          <p:cNvSpPr>
            <a:spLocks noChangeArrowheads="1"/>
          </p:cNvSpPr>
          <p:nvPr/>
        </p:nvSpPr>
        <p:spPr bwMode="auto">
          <a:xfrm>
            <a:off x="1871971" y="3609002"/>
            <a:ext cx="450005" cy="180002"/>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400" dirty="0">
                <a:latin typeface="+mn-lt"/>
                <a:ea typeface="+mn-ea"/>
              </a:rPr>
              <a:t>D</a:t>
            </a:r>
          </a:p>
        </p:txBody>
      </p:sp>
      <p:sp>
        <p:nvSpPr>
          <p:cNvPr id="18" name="Rectangle 71">
            <a:extLst>
              <a:ext uri="{FF2B5EF4-FFF2-40B4-BE49-F238E27FC236}">
                <a16:creationId xmlns:a16="http://schemas.microsoft.com/office/drawing/2014/main" id="{6A0B1FFF-3557-CB49-C34A-0A49637001EB}"/>
              </a:ext>
            </a:extLst>
          </p:cNvPr>
          <p:cNvSpPr>
            <a:spLocks noChangeArrowheads="1"/>
          </p:cNvSpPr>
          <p:nvPr/>
        </p:nvSpPr>
        <p:spPr bwMode="auto">
          <a:xfrm>
            <a:off x="2321977" y="3609002"/>
            <a:ext cx="450005" cy="180002"/>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400" dirty="0">
                <a:latin typeface="+mn-lt"/>
                <a:ea typeface="+mn-ea"/>
              </a:rPr>
              <a:t>X</a:t>
            </a:r>
          </a:p>
        </p:txBody>
      </p:sp>
      <p:sp>
        <p:nvSpPr>
          <p:cNvPr id="19" name="Rectangle 72">
            <a:extLst>
              <a:ext uri="{FF2B5EF4-FFF2-40B4-BE49-F238E27FC236}">
                <a16:creationId xmlns:a16="http://schemas.microsoft.com/office/drawing/2014/main" id="{99F19349-1717-37FB-270A-96BB7C6EFCE1}"/>
              </a:ext>
            </a:extLst>
          </p:cNvPr>
          <p:cNvSpPr>
            <a:spLocks noChangeArrowheads="1"/>
          </p:cNvSpPr>
          <p:nvPr/>
        </p:nvSpPr>
        <p:spPr bwMode="auto">
          <a:xfrm>
            <a:off x="2771982" y="3609002"/>
            <a:ext cx="450005" cy="180002"/>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400" dirty="0">
                <a:latin typeface="+mn-lt"/>
                <a:ea typeface="+mn-ea"/>
              </a:rPr>
              <a:t>M</a:t>
            </a:r>
          </a:p>
        </p:txBody>
      </p:sp>
      <p:sp>
        <p:nvSpPr>
          <p:cNvPr id="26" name="Rectangle 69">
            <a:extLst>
              <a:ext uri="{FF2B5EF4-FFF2-40B4-BE49-F238E27FC236}">
                <a16:creationId xmlns:a16="http://schemas.microsoft.com/office/drawing/2014/main" id="{65087BCE-2C17-116A-F08E-6150BABF171E}"/>
              </a:ext>
            </a:extLst>
          </p:cNvPr>
          <p:cNvSpPr>
            <a:spLocks noChangeArrowheads="1"/>
          </p:cNvSpPr>
          <p:nvPr/>
        </p:nvSpPr>
        <p:spPr bwMode="auto">
          <a:xfrm>
            <a:off x="1871971" y="4149008"/>
            <a:ext cx="450004" cy="179998"/>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400" dirty="0">
                <a:latin typeface="+mn-lt"/>
                <a:ea typeface="+mn-ea"/>
              </a:rPr>
              <a:t>F</a:t>
            </a:r>
          </a:p>
        </p:txBody>
      </p:sp>
      <p:sp>
        <p:nvSpPr>
          <p:cNvPr id="27" name="Rectangle 70">
            <a:extLst>
              <a:ext uri="{FF2B5EF4-FFF2-40B4-BE49-F238E27FC236}">
                <a16:creationId xmlns:a16="http://schemas.microsoft.com/office/drawing/2014/main" id="{75B13ADA-FF53-2D8C-6C7E-7788C5FBF4D6}"/>
              </a:ext>
            </a:extLst>
          </p:cNvPr>
          <p:cNvSpPr>
            <a:spLocks noChangeArrowheads="1"/>
          </p:cNvSpPr>
          <p:nvPr/>
        </p:nvSpPr>
        <p:spPr bwMode="auto">
          <a:xfrm>
            <a:off x="2321974" y="4149008"/>
            <a:ext cx="450005" cy="179998"/>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400" dirty="0">
                <a:latin typeface="+mn-lt"/>
                <a:ea typeface="+mn-ea"/>
              </a:rPr>
              <a:t>D</a:t>
            </a:r>
          </a:p>
        </p:txBody>
      </p:sp>
      <p:sp>
        <p:nvSpPr>
          <p:cNvPr id="28" name="Rectangle 71">
            <a:extLst>
              <a:ext uri="{FF2B5EF4-FFF2-40B4-BE49-F238E27FC236}">
                <a16:creationId xmlns:a16="http://schemas.microsoft.com/office/drawing/2014/main" id="{CCC3A11B-7559-0DA3-BFC1-B129C698983B}"/>
              </a:ext>
            </a:extLst>
          </p:cNvPr>
          <p:cNvSpPr>
            <a:spLocks noChangeArrowheads="1"/>
          </p:cNvSpPr>
          <p:nvPr/>
        </p:nvSpPr>
        <p:spPr bwMode="auto">
          <a:xfrm>
            <a:off x="2771980" y="4149008"/>
            <a:ext cx="450005" cy="179998"/>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400" dirty="0">
                <a:latin typeface="+mn-lt"/>
                <a:ea typeface="+mn-ea"/>
              </a:rPr>
              <a:t>X</a:t>
            </a:r>
          </a:p>
        </p:txBody>
      </p:sp>
      <p:sp>
        <p:nvSpPr>
          <p:cNvPr id="31" name="Rectangle 69">
            <a:extLst>
              <a:ext uri="{FF2B5EF4-FFF2-40B4-BE49-F238E27FC236}">
                <a16:creationId xmlns:a16="http://schemas.microsoft.com/office/drawing/2014/main" id="{C1B2AE82-9F1E-DD86-AD24-83E30341D4FD}"/>
              </a:ext>
            </a:extLst>
          </p:cNvPr>
          <p:cNvSpPr>
            <a:spLocks noChangeArrowheads="1"/>
          </p:cNvSpPr>
          <p:nvPr/>
        </p:nvSpPr>
        <p:spPr bwMode="auto">
          <a:xfrm>
            <a:off x="2321977" y="4689014"/>
            <a:ext cx="450004" cy="180002"/>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400" dirty="0">
                <a:latin typeface="+mn-lt"/>
                <a:ea typeface="+mn-ea"/>
              </a:rPr>
              <a:t>F</a:t>
            </a:r>
          </a:p>
        </p:txBody>
      </p:sp>
      <p:sp>
        <p:nvSpPr>
          <p:cNvPr id="32" name="Rectangle 70">
            <a:extLst>
              <a:ext uri="{FF2B5EF4-FFF2-40B4-BE49-F238E27FC236}">
                <a16:creationId xmlns:a16="http://schemas.microsoft.com/office/drawing/2014/main" id="{48B0182E-EABB-C472-9B6F-44F14B70FD09}"/>
              </a:ext>
            </a:extLst>
          </p:cNvPr>
          <p:cNvSpPr>
            <a:spLocks noChangeArrowheads="1"/>
          </p:cNvSpPr>
          <p:nvPr/>
        </p:nvSpPr>
        <p:spPr bwMode="auto">
          <a:xfrm>
            <a:off x="2771980" y="4689014"/>
            <a:ext cx="450005" cy="180002"/>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400" dirty="0">
                <a:latin typeface="+mn-lt"/>
                <a:ea typeface="+mn-ea"/>
              </a:rPr>
              <a:t>D</a:t>
            </a:r>
          </a:p>
        </p:txBody>
      </p:sp>
      <p:sp>
        <p:nvSpPr>
          <p:cNvPr id="36" name="Rectangle 69">
            <a:extLst>
              <a:ext uri="{FF2B5EF4-FFF2-40B4-BE49-F238E27FC236}">
                <a16:creationId xmlns:a16="http://schemas.microsoft.com/office/drawing/2014/main" id="{0D00536B-19C1-7914-4AAF-122E95C2662C}"/>
              </a:ext>
            </a:extLst>
          </p:cNvPr>
          <p:cNvSpPr>
            <a:spLocks noChangeArrowheads="1"/>
          </p:cNvSpPr>
          <p:nvPr/>
        </p:nvSpPr>
        <p:spPr bwMode="auto">
          <a:xfrm>
            <a:off x="2771980" y="5229020"/>
            <a:ext cx="450004" cy="180002"/>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400" dirty="0">
                <a:latin typeface="+mn-lt"/>
                <a:ea typeface="+mn-ea"/>
              </a:rPr>
              <a:t>F</a:t>
            </a:r>
          </a:p>
        </p:txBody>
      </p:sp>
      <p:cxnSp>
        <p:nvCxnSpPr>
          <p:cNvPr id="48" name="直線矢印コネクタ 47">
            <a:extLst>
              <a:ext uri="{FF2B5EF4-FFF2-40B4-BE49-F238E27FC236}">
                <a16:creationId xmlns:a16="http://schemas.microsoft.com/office/drawing/2014/main" id="{296FF6F4-CB57-F0C8-A37F-45F1AE1379B8}"/>
              </a:ext>
            </a:extLst>
          </p:cNvPr>
          <p:cNvCxnSpPr>
            <a:cxnSpLocks/>
          </p:cNvCxnSpPr>
          <p:nvPr/>
        </p:nvCxnSpPr>
        <p:spPr bwMode="auto">
          <a:xfrm>
            <a:off x="4121995" y="2078985"/>
            <a:ext cx="1800020" cy="0"/>
          </a:xfrm>
          <a:prstGeom prst="straightConnector1">
            <a:avLst/>
          </a:prstGeom>
          <a:noFill/>
          <a:ln w="9525" cap="flat" cmpd="sng" algn="ctr">
            <a:solidFill>
              <a:schemeClr val="tx1">
                <a:lumMod val="75000"/>
                <a:lumOff val="25000"/>
              </a:schemeClr>
            </a:solidFill>
            <a:prstDash val="solid"/>
            <a:round/>
            <a:headEnd type="triangle" w="med" len="med"/>
            <a:tailEnd type="triangle"/>
          </a:ln>
          <a:effectLst/>
        </p:spPr>
      </p:cxnSp>
      <p:cxnSp>
        <p:nvCxnSpPr>
          <p:cNvPr id="50" name="直線矢印コネクタ 49">
            <a:extLst>
              <a:ext uri="{FF2B5EF4-FFF2-40B4-BE49-F238E27FC236}">
                <a16:creationId xmlns:a16="http://schemas.microsoft.com/office/drawing/2014/main" id="{C1635BA8-E45B-1036-89FD-CD4F6EFA972E}"/>
              </a:ext>
            </a:extLst>
          </p:cNvPr>
          <p:cNvCxnSpPr>
            <a:cxnSpLocks/>
          </p:cNvCxnSpPr>
          <p:nvPr/>
        </p:nvCxnSpPr>
        <p:spPr bwMode="auto">
          <a:xfrm>
            <a:off x="4121995" y="1538979"/>
            <a:ext cx="0" cy="4590051"/>
          </a:xfrm>
          <a:prstGeom prst="straightConnector1">
            <a:avLst/>
          </a:prstGeom>
          <a:noFill/>
          <a:ln w="6350" cap="flat" cmpd="sng" algn="ctr">
            <a:solidFill>
              <a:schemeClr val="tx1">
                <a:lumMod val="75000"/>
                <a:lumOff val="25000"/>
              </a:schemeClr>
            </a:solidFill>
            <a:prstDash val="solid"/>
            <a:round/>
            <a:headEnd type="none" w="med" len="med"/>
            <a:tailEnd type="none"/>
          </a:ln>
          <a:effectLst/>
        </p:spPr>
      </p:cxnSp>
      <p:cxnSp>
        <p:nvCxnSpPr>
          <p:cNvPr id="51" name="直線矢印コネクタ 50">
            <a:extLst>
              <a:ext uri="{FF2B5EF4-FFF2-40B4-BE49-F238E27FC236}">
                <a16:creationId xmlns:a16="http://schemas.microsoft.com/office/drawing/2014/main" id="{B968D68F-F81F-229A-8E69-E7845670CB60}"/>
              </a:ext>
            </a:extLst>
          </p:cNvPr>
          <p:cNvCxnSpPr>
            <a:cxnSpLocks/>
          </p:cNvCxnSpPr>
          <p:nvPr/>
        </p:nvCxnSpPr>
        <p:spPr bwMode="auto">
          <a:xfrm>
            <a:off x="5922015" y="1538979"/>
            <a:ext cx="0" cy="5310059"/>
          </a:xfrm>
          <a:prstGeom prst="straightConnector1">
            <a:avLst/>
          </a:prstGeom>
          <a:noFill/>
          <a:ln w="6350" cap="flat" cmpd="sng" algn="ctr">
            <a:solidFill>
              <a:schemeClr val="tx1">
                <a:lumMod val="75000"/>
                <a:lumOff val="25000"/>
              </a:schemeClr>
            </a:solidFill>
            <a:prstDash val="solid"/>
            <a:round/>
            <a:headEnd type="none" w="med" len="med"/>
            <a:tailEnd type="none"/>
          </a:ln>
          <a:effectLst/>
        </p:spPr>
      </p:cxnSp>
      <p:sp>
        <p:nvSpPr>
          <p:cNvPr id="141" name="正方形/長方形 140">
            <a:extLst>
              <a:ext uri="{FF2B5EF4-FFF2-40B4-BE49-F238E27FC236}">
                <a16:creationId xmlns:a16="http://schemas.microsoft.com/office/drawing/2014/main" id="{1F9DB709-B2BF-4639-F203-F05948BDAB69}"/>
              </a:ext>
            </a:extLst>
          </p:cNvPr>
          <p:cNvSpPr/>
          <p:nvPr/>
        </p:nvSpPr>
        <p:spPr>
          <a:xfrm>
            <a:off x="4752002" y="1718980"/>
            <a:ext cx="540005" cy="270003"/>
          </a:xfrm>
          <a:prstGeom prst="rect">
            <a:avLst/>
          </a:prstGeom>
        </p:spPr>
        <p:txBody>
          <a:bodyPr wrap="none">
            <a:noAutofit/>
          </a:bodyPr>
          <a:lstStyle/>
          <a:p>
            <a:pPr algn="ctr"/>
            <a:r>
              <a:rPr lang="en-US" altLang="ja-JP" sz="1400" dirty="0">
                <a:solidFill>
                  <a:schemeClr val="tx1">
                    <a:lumMod val="65000"/>
                    <a:lumOff val="35000"/>
                  </a:schemeClr>
                </a:solidFill>
              </a:rPr>
              <a:t>4 cycle</a:t>
            </a:r>
            <a:endParaRPr lang="ja-JP" altLang="en-US" sz="1400" dirty="0">
              <a:solidFill>
                <a:schemeClr val="tx1">
                  <a:lumMod val="65000"/>
                  <a:lumOff val="35000"/>
                </a:schemeClr>
              </a:solidFill>
            </a:endParaRPr>
          </a:p>
        </p:txBody>
      </p:sp>
      <p:cxnSp>
        <p:nvCxnSpPr>
          <p:cNvPr id="142" name="直線矢印コネクタ 141">
            <a:extLst>
              <a:ext uri="{FF2B5EF4-FFF2-40B4-BE49-F238E27FC236}">
                <a16:creationId xmlns:a16="http://schemas.microsoft.com/office/drawing/2014/main" id="{64BC1CFE-703D-F2B2-B15B-61820D24E522}"/>
              </a:ext>
            </a:extLst>
          </p:cNvPr>
          <p:cNvCxnSpPr>
            <a:cxnSpLocks/>
          </p:cNvCxnSpPr>
          <p:nvPr/>
        </p:nvCxnSpPr>
        <p:spPr bwMode="auto">
          <a:xfrm>
            <a:off x="1421965" y="5859027"/>
            <a:ext cx="1800020" cy="0"/>
          </a:xfrm>
          <a:prstGeom prst="straightConnector1">
            <a:avLst/>
          </a:prstGeom>
          <a:noFill/>
          <a:ln w="9525" cap="flat" cmpd="sng" algn="ctr">
            <a:solidFill>
              <a:schemeClr val="tx1">
                <a:lumMod val="75000"/>
                <a:lumOff val="25000"/>
              </a:schemeClr>
            </a:solidFill>
            <a:prstDash val="solid"/>
            <a:round/>
            <a:headEnd type="triangle" w="med" len="med"/>
            <a:tailEnd type="triangle"/>
          </a:ln>
          <a:effectLst/>
        </p:spPr>
      </p:cxnSp>
      <p:sp>
        <p:nvSpPr>
          <p:cNvPr id="143" name="正方形/長方形 142">
            <a:extLst>
              <a:ext uri="{FF2B5EF4-FFF2-40B4-BE49-F238E27FC236}">
                <a16:creationId xmlns:a16="http://schemas.microsoft.com/office/drawing/2014/main" id="{82E58FB9-D0E5-F270-66F6-DAD7164BA165}"/>
              </a:ext>
            </a:extLst>
          </p:cNvPr>
          <p:cNvSpPr/>
          <p:nvPr/>
        </p:nvSpPr>
        <p:spPr>
          <a:xfrm>
            <a:off x="2051972" y="5859027"/>
            <a:ext cx="540005" cy="270003"/>
          </a:xfrm>
          <a:prstGeom prst="rect">
            <a:avLst/>
          </a:prstGeom>
        </p:spPr>
        <p:txBody>
          <a:bodyPr wrap="none">
            <a:noAutofit/>
          </a:bodyPr>
          <a:lstStyle/>
          <a:p>
            <a:pPr algn="ctr"/>
            <a:r>
              <a:rPr lang="en-US" altLang="ja-JP" sz="1400" dirty="0">
                <a:solidFill>
                  <a:schemeClr val="tx1">
                    <a:lumMod val="65000"/>
                    <a:lumOff val="35000"/>
                  </a:schemeClr>
                </a:solidFill>
              </a:rPr>
              <a:t>4 cycle</a:t>
            </a:r>
            <a:endParaRPr lang="ja-JP" altLang="en-US" sz="1400" dirty="0">
              <a:solidFill>
                <a:schemeClr val="tx1">
                  <a:lumMod val="65000"/>
                  <a:lumOff val="35000"/>
                </a:schemeClr>
              </a:solidFill>
            </a:endParaRPr>
          </a:p>
        </p:txBody>
      </p:sp>
      <p:cxnSp>
        <p:nvCxnSpPr>
          <p:cNvPr id="144" name="直線矢印コネクタ 143">
            <a:extLst>
              <a:ext uri="{FF2B5EF4-FFF2-40B4-BE49-F238E27FC236}">
                <a16:creationId xmlns:a16="http://schemas.microsoft.com/office/drawing/2014/main" id="{FD0958C4-70F8-965E-8F1F-8FC31B4342C0}"/>
              </a:ext>
            </a:extLst>
          </p:cNvPr>
          <p:cNvCxnSpPr>
            <a:cxnSpLocks/>
          </p:cNvCxnSpPr>
          <p:nvPr/>
        </p:nvCxnSpPr>
        <p:spPr bwMode="auto">
          <a:xfrm>
            <a:off x="1421965" y="3519001"/>
            <a:ext cx="0" cy="2520028"/>
          </a:xfrm>
          <a:prstGeom prst="straightConnector1">
            <a:avLst/>
          </a:prstGeom>
          <a:noFill/>
          <a:ln w="6350" cap="flat" cmpd="sng" algn="ctr">
            <a:solidFill>
              <a:schemeClr val="tx1">
                <a:lumMod val="75000"/>
                <a:lumOff val="25000"/>
              </a:schemeClr>
            </a:solidFill>
            <a:prstDash val="solid"/>
            <a:round/>
            <a:headEnd type="none" w="med" len="med"/>
            <a:tailEnd type="none"/>
          </a:ln>
          <a:effectLst/>
        </p:spPr>
      </p:cxnSp>
      <p:grpSp>
        <p:nvGrpSpPr>
          <p:cNvPr id="4" name="グループ化 3">
            <a:extLst>
              <a:ext uri="{FF2B5EF4-FFF2-40B4-BE49-F238E27FC236}">
                <a16:creationId xmlns:a16="http://schemas.microsoft.com/office/drawing/2014/main" id="{05D91D91-7626-4347-C91E-E309B4629A5F}"/>
              </a:ext>
            </a:extLst>
          </p:cNvPr>
          <p:cNvGrpSpPr/>
          <p:nvPr/>
        </p:nvGrpSpPr>
        <p:grpSpPr>
          <a:xfrm>
            <a:off x="971960" y="1268976"/>
            <a:ext cx="2250023" cy="180002"/>
            <a:chOff x="971961" y="1088974"/>
            <a:chExt cx="2250023" cy="180002"/>
          </a:xfrm>
        </p:grpSpPr>
        <p:sp>
          <p:nvSpPr>
            <p:cNvPr id="5" name="Rectangle 69">
              <a:extLst>
                <a:ext uri="{FF2B5EF4-FFF2-40B4-BE49-F238E27FC236}">
                  <a16:creationId xmlns:a16="http://schemas.microsoft.com/office/drawing/2014/main" id="{C62ED99A-EB23-8F92-C0BD-3596859CDC1B}"/>
                </a:ext>
              </a:extLst>
            </p:cNvPr>
            <p:cNvSpPr>
              <a:spLocks noChangeArrowheads="1"/>
            </p:cNvSpPr>
            <p:nvPr/>
          </p:nvSpPr>
          <p:spPr bwMode="auto">
            <a:xfrm>
              <a:off x="971961" y="1088974"/>
              <a:ext cx="450004"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F</a:t>
              </a:r>
            </a:p>
          </p:txBody>
        </p:sp>
        <p:sp>
          <p:nvSpPr>
            <p:cNvPr id="7" name="Rectangle 70">
              <a:extLst>
                <a:ext uri="{FF2B5EF4-FFF2-40B4-BE49-F238E27FC236}">
                  <a16:creationId xmlns:a16="http://schemas.microsoft.com/office/drawing/2014/main" id="{BCC94D9B-F394-44E5-35D1-6D73E068E726}"/>
                </a:ext>
              </a:extLst>
            </p:cNvPr>
            <p:cNvSpPr>
              <a:spLocks noChangeArrowheads="1"/>
            </p:cNvSpPr>
            <p:nvPr/>
          </p:nvSpPr>
          <p:spPr bwMode="auto">
            <a:xfrm>
              <a:off x="1421964" y="108897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D</a:t>
              </a:r>
            </a:p>
          </p:txBody>
        </p:sp>
        <p:sp>
          <p:nvSpPr>
            <p:cNvPr id="8" name="Rectangle 71">
              <a:extLst>
                <a:ext uri="{FF2B5EF4-FFF2-40B4-BE49-F238E27FC236}">
                  <a16:creationId xmlns:a16="http://schemas.microsoft.com/office/drawing/2014/main" id="{CD410115-FEDD-DCA6-6344-E3332FDB9959}"/>
                </a:ext>
              </a:extLst>
            </p:cNvPr>
            <p:cNvSpPr>
              <a:spLocks noChangeArrowheads="1"/>
            </p:cNvSpPr>
            <p:nvPr/>
          </p:nvSpPr>
          <p:spPr bwMode="auto">
            <a:xfrm>
              <a:off x="1871970" y="108897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X</a:t>
              </a:r>
            </a:p>
          </p:txBody>
        </p:sp>
        <p:sp>
          <p:nvSpPr>
            <p:cNvPr id="20" name="Rectangle 72">
              <a:extLst>
                <a:ext uri="{FF2B5EF4-FFF2-40B4-BE49-F238E27FC236}">
                  <a16:creationId xmlns:a16="http://schemas.microsoft.com/office/drawing/2014/main" id="{427852D4-88E7-09F2-0A3C-E0CB80E54710}"/>
                </a:ext>
              </a:extLst>
            </p:cNvPr>
            <p:cNvSpPr>
              <a:spLocks noChangeArrowheads="1"/>
            </p:cNvSpPr>
            <p:nvPr/>
          </p:nvSpPr>
          <p:spPr bwMode="auto">
            <a:xfrm>
              <a:off x="2321975" y="108897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M</a:t>
              </a:r>
            </a:p>
          </p:txBody>
        </p:sp>
        <p:sp>
          <p:nvSpPr>
            <p:cNvPr id="29" name="Rectangle 73">
              <a:extLst>
                <a:ext uri="{FF2B5EF4-FFF2-40B4-BE49-F238E27FC236}">
                  <a16:creationId xmlns:a16="http://schemas.microsoft.com/office/drawing/2014/main" id="{0701B121-B155-C90D-D7F0-79462BECF543}"/>
                </a:ext>
              </a:extLst>
            </p:cNvPr>
            <p:cNvSpPr>
              <a:spLocks noChangeArrowheads="1"/>
            </p:cNvSpPr>
            <p:nvPr/>
          </p:nvSpPr>
          <p:spPr bwMode="auto">
            <a:xfrm>
              <a:off x="2771980" y="1088974"/>
              <a:ext cx="450004"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W</a:t>
              </a:r>
            </a:p>
          </p:txBody>
        </p:sp>
      </p:grpSp>
      <p:grpSp>
        <p:nvGrpSpPr>
          <p:cNvPr id="30" name="グループ化 29">
            <a:extLst>
              <a:ext uri="{FF2B5EF4-FFF2-40B4-BE49-F238E27FC236}">
                <a16:creationId xmlns:a16="http://schemas.microsoft.com/office/drawing/2014/main" id="{9B199E8E-E0AE-46EF-62F6-4F38780DCD31}"/>
              </a:ext>
            </a:extLst>
          </p:cNvPr>
          <p:cNvGrpSpPr/>
          <p:nvPr/>
        </p:nvGrpSpPr>
        <p:grpSpPr>
          <a:xfrm>
            <a:off x="1421965" y="1538979"/>
            <a:ext cx="2250023" cy="180002"/>
            <a:chOff x="971961" y="1088974"/>
            <a:chExt cx="2250023" cy="180002"/>
          </a:xfrm>
        </p:grpSpPr>
        <p:sp>
          <p:nvSpPr>
            <p:cNvPr id="33" name="Rectangle 69">
              <a:extLst>
                <a:ext uri="{FF2B5EF4-FFF2-40B4-BE49-F238E27FC236}">
                  <a16:creationId xmlns:a16="http://schemas.microsoft.com/office/drawing/2014/main" id="{CD8DA6CD-D49C-1ABC-BE78-61E1C886148A}"/>
                </a:ext>
              </a:extLst>
            </p:cNvPr>
            <p:cNvSpPr>
              <a:spLocks noChangeArrowheads="1"/>
            </p:cNvSpPr>
            <p:nvPr/>
          </p:nvSpPr>
          <p:spPr bwMode="auto">
            <a:xfrm>
              <a:off x="971961" y="1088974"/>
              <a:ext cx="450004"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F</a:t>
              </a:r>
            </a:p>
          </p:txBody>
        </p:sp>
        <p:sp>
          <p:nvSpPr>
            <p:cNvPr id="34" name="Rectangle 70">
              <a:extLst>
                <a:ext uri="{FF2B5EF4-FFF2-40B4-BE49-F238E27FC236}">
                  <a16:creationId xmlns:a16="http://schemas.microsoft.com/office/drawing/2014/main" id="{57C69274-F460-39AF-E99C-F6711213A198}"/>
                </a:ext>
              </a:extLst>
            </p:cNvPr>
            <p:cNvSpPr>
              <a:spLocks noChangeArrowheads="1"/>
            </p:cNvSpPr>
            <p:nvPr/>
          </p:nvSpPr>
          <p:spPr bwMode="auto">
            <a:xfrm>
              <a:off x="1421964" y="108897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D</a:t>
              </a:r>
            </a:p>
          </p:txBody>
        </p:sp>
        <p:sp>
          <p:nvSpPr>
            <p:cNvPr id="35" name="Rectangle 71">
              <a:extLst>
                <a:ext uri="{FF2B5EF4-FFF2-40B4-BE49-F238E27FC236}">
                  <a16:creationId xmlns:a16="http://schemas.microsoft.com/office/drawing/2014/main" id="{C60AE377-7243-32DB-DAD1-2AA44789AB19}"/>
                </a:ext>
              </a:extLst>
            </p:cNvPr>
            <p:cNvSpPr>
              <a:spLocks noChangeArrowheads="1"/>
            </p:cNvSpPr>
            <p:nvPr/>
          </p:nvSpPr>
          <p:spPr bwMode="auto">
            <a:xfrm>
              <a:off x="1871970" y="108897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X</a:t>
              </a:r>
            </a:p>
          </p:txBody>
        </p:sp>
        <p:sp>
          <p:nvSpPr>
            <p:cNvPr id="37" name="Rectangle 72">
              <a:extLst>
                <a:ext uri="{FF2B5EF4-FFF2-40B4-BE49-F238E27FC236}">
                  <a16:creationId xmlns:a16="http://schemas.microsoft.com/office/drawing/2014/main" id="{787E6361-4341-C372-0682-C2DD1B1D6D3F}"/>
                </a:ext>
              </a:extLst>
            </p:cNvPr>
            <p:cNvSpPr>
              <a:spLocks noChangeArrowheads="1"/>
            </p:cNvSpPr>
            <p:nvPr/>
          </p:nvSpPr>
          <p:spPr bwMode="auto">
            <a:xfrm>
              <a:off x="2321975" y="108897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M</a:t>
              </a:r>
            </a:p>
          </p:txBody>
        </p:sp>
        <p:sp>
          <p:nvSpPr>
            <p:cNvPr id="38" name="Rectangle 73">
              <a:extLst>
                <a:ext uri="{FF2B5EF4-FFF2-40B4-BE49-F238E27FC236}">
                  <a16:creationId xmlns:a16="http://schemas.microsoft.com/office/drawing/2014/main" id="{28CF3F4B-DAAD-BB38-861C-0BF4DAAF16CD}"/>
                </a:ext>
              </a:extLst>
            </p:cNvPr>
            <p:cNvSpPr>
              <a:spLocks noChangeArrowheads="1"/>
            </p:cNvSpPr>
            <p:nvPr/>
          </p:nvSpPr>
          <p:spPr bwMode="auto">
            <a:xfrm>
              <a:off x="2771980" y="1088974"/>
              <a:ext cx="450004"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W</a:t>
              </a:r>
            </a:p>
          </p:txBody>
        </p:sp>
      </p:grpSp>
      <p:grpSp>
        <p:nvGrpSpPr>
          <p:cNvPr id="39" name="グループ化 38">
            <a:extLst>
              <a:ext uri="{FF2B5EF4-FFF2-40B4-BE49-F238E27FC236}">
                <a16:creationId xmlns:a16="http://schemas.microsoft.com/office/drawing/2014/main" id="{ECB5AA74-6638-BAD0-8C17-BB7BE22B8B81}"/>
              </a:ext>
            </a:extLst>
          </p:cNvPr>
          <p:cNvGrpSpPr/>
          <p:nvPr/>
        </p:nvGrpSpPr>
        <p:grpSpPr>
          <a:xfrm>
            <a:off x="1421964" y="1808982"/>
            <a:ext cx="2250023" cy="180002"/>
            <a:chOff x="971961" y="1088974"/>
            <a:chExt cx="2250023" cy="180002"/>
          </a:xfrm>
        </p:grpSpPr>
        <p:sp>
          <p:nvSpPr>
            <p:cNvPr id="40" name="Rectangle 69">
              <a:extLst>
                <a:ext uri="{FF2B5EF4-FFF2-40B4-BE49-F238E27FC236}">
                  <a16:creationId xmlns:a16="http://schemas.microsoft.com/office/drawing/2014/main" id="{D1A7636E-F0D6-CA66-EFFC-AA4FCC19B3A8}"/>
                </a:ext>
              </a:extLst>
            </p:cNvPr>
            <p:cNvSpPr>
              <a:spLocks noChangeArrowheads="1"/>
            </p:cNvSpPr>
            <p:nvPr/>
          </p:nvSpPr>
          <p:spPr bwMode="auto">
            <a:xfrm>
              <a:off x="971961" y="1088974"/>
              <a:ext cx="450004"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F</a:t>
              </a:r>
            </a:p>
          </p:txBody>
        </p:sp>
        <p:sp>
          <p:nvSpPr>
            <p:cNvPr id="49" name="Rectangle 70">
              <a:extLst>
                <a:ext uri="{FF2B5EF4-FFF2-40B4-BE49-F238E27FC236}">
                  <a16:creationId xmlns:a16="http://schemas.microsoft.com/office/drawing/2014/main" id="{563E07A1-847F-234C-E751-8E8061156CE0}"/>
                </a:ext>
              </a:extLst>
            </p:cNvPr>
            <p:cNvSpPr>
              <a:spLocks noChangeArrowheads="1"/>
            </p:cNvSpPr>
            <p:nvPr/>
          </p:nvSpPr>
          <p:spPr bwMode="auto">
            <a:xfrm>
              <a:off x="1421964" y="108897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D</a:t>
              </a:r>
            </a:p>
          </p:txBody>
        </p:sp>
        <p:sp>
          <p:nvSpPr>
            <p:cNvPr id="52" name="Rectangle 71">
              <a:extLst>
                <a:ext uri="{FF2B5EF4-FFF2-40B4-BE49-F238E27FC236}">
                  <a16:creationId xmlns:a16="http://schemas.microsoft.com/office/drawing/2014/main" id="{63A02E3F-3DDC-197F-E187-FCB1440CF1EC}"/>
                </a:ext>
              </a:extLst>
            </p:cNvPr>
            <p:cNvSpPr>
              <a:spLocks noChangeArrowheads="1"/>
            </p:cNvSpPr>
            <p:nvPr/>
          </p:nvSpPr>
          <p:spPr bwMode="auto">
            <a:xfrm>
              <a:off x="1871970" y="108897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X</a:t>
              </a:r>
            </a:p>
          </p:txBody>
        </p:sp>
        <p:sp>
          <p:nvSpPr>
            <p:cNvPr id="53" name="Rectangle 72">
              <a:extLst>
                <a:ext uri="{FF2B5EF4-FFF2-40B4-BE49-F238E27FC236}">
                  <a16:creationId xmlns:a16="http://schemas.microsoft.com/office/drawing/2014/main" id="{D85EAA9D-2A17-6E76-EA67-558D009D244F}"/>
                </a:ext>
              </a:extLst>
            </p:cNvPr>
            <p:cNvSpPr>
              <a:spLocks noChangeArrowheads="1"/>
            </p:cNvSpPr>
            <p:nvPr/>
          </p:nvSpPr>
          <p:spPr bwMode="auto">
            <a:xfrm>
              <a:off x="2321975" y="108897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M</a:t>
              </a:r>
            </a:p>
          </p:txBody>
        </p:sp>
        <p:sp>
          <p:nvSpPr>
            <p:cNvPr id="54" name="Rectangle 73">
              <a:extLst>
                <a:ext uri="{FF2B5EF4-FFF2-40B4-BE49-F238E27FC236}">
                  <a16:creationId xmlns:a16="http://schemas.microsoft.com/office/drawing/2014/main" id="{14E8BBCE-29FC-9D29-DDE7-FE6A95F3A392}"/>
                </a:ext>
              </a:extLst>
            </p:cNvPr>
            <p:cNvSpPr>
              <a:spLocks noChangeArrowheads="1"/>
            </p:cNvSpPr>
            <p:nvPr/>
          </p:nvSpPr>
          <p:spPr bwMode="auto">
            <a:xfrm>
              <a:off x="2771980" y="1088974"/>
              <a:ext cx="450004"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W</a:t>
              </a:r>
            </a:p>
          </p:txBody>
        </p:sp>
      </p:grpSp>
      <p:grpSp>
        <p:nvGrpSpPr>
          <p:cNvPr id="55" name="グループ化 54">
            <a:extLst>
              <a:ext uri="{FF2B5EF4-FFF2-40B4-BE49-F238E27FC236}">
                <a16:creationId xmlns:a16="http://schemas.microsoft.com/office/drawing/2014/main" id="{4B3CA136-9166-7B13-CDB1-1AE4FED08DF7}"/>
              </a:ext>
            </a:extLst>
          </p:cNvPr>
          <p:cNvGrpSpPr/>
          <p:nvPr/>
        </p:nvGrpSpPr>
        <p:grpSpPr>
          <a:xfrm>
            <a:off x="1871971" y="2078985"/>
            <a:ext cx="2250023" cy="180002"/>
            <a:chOff x="971961" y="1088974"/>
            <a:chExt cx="2250023" cy="180002"/>
          </a:xfrm>
        </p:grpSpPr>
        <p:sp>
          <p:nvSpPr>
            <p:cNvPr id="56" name="Rectangle 69">
              <a:extLst>
                <a:ext uri="{FF2B5EF4-FFF2-40B4-BE49-F238E27FC236}">
                  <a16:creationId xmlns:a16="http://schemas.microsoft.com/office/drawing/2014/main" id="{577F84E4-E190-BF39-5B21-28F8993D7194}"/>
                </a:ext>
              </a:extLst>
            </p:cNvPr>
            <p:cNvSpPr>
              <a:spLocks noChangeArrowheads="1"/>
            </p:cNvSpPr>
            <p:nvPr/>
          </p:nvSpPr>
          <p:spPr bwMode="auto">
            <a:xfrm>
              <a:off x="971961" y="1088974"/>
              <a:ext cx="450004"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F</a:t>
              </a:r>
            </a:p>
          </p:txBody>
        </p:sp>
        <p:sp>
          <p:nvSpPr>
            <p:cNvPr id="140" name="Rectangle 70">
              <a:extLst>
                <a:ext uri="{FF2B5EF4-FFF2-40B4-BE49-F238E27FC236}">
                  <a16:creationId xmlns:a16="http://schemas.microsoft.com/office/drawing/2014/main" id="{424D0A1A-28ED-4516-E62C-6167C37C7D86}"/>
                </a:ext>
              </a:extLst>
            </p:cNvPr>
            <p:cNvSpPr>
              <a:spLocks noChangeArrowheads="1"/>
            </p:cNvSpPr>
            <p:nvPr/>
          </p:nvSpPr>
          <p:spPr bwMode="auto">
            <a:xfrm>
              <a:off x="1421964" y="108897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D</a:t>
              </a:r>
            </a:p>
          </p:txBody>
        </p:sp>
        <p:sp>
          <p:nvSpPr>
            <p:cNvPr id="145" name="Rectangle 71">
              <a:extLst>
                <a:ext uri="{FF2B5EF4-FFF2-40B4-BE49-F238E27FC236}">
                  <a16:creationId xmlns:a16="http://schemas.microsoft.com/office/drawing/2014/main" id="{0A192C1C-6CD6-9421-BD3B-E91CC00359F2}"/>
                </a:ext>
              </a:extLst>
            </p:cNvPr>
            <p:cNvSpPr>
              <a:spLocks noChangeArrowheads="1"/>
            </p:cNvSpPr>
            <p:nvPr/>
          </p:nvSpPr>
          <p:spPr bwMode="auto">
            <a:xfrm>
              <a:off x="1871970" y="108897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X</a:t>
              </a:r>
            </a:p>
          </p:txBody>
        </p:sp>
        <p:sp>
          <p:nvSpPr>
            <p:cNvPr id="146" name="Rectangle 72">
              <a:extLst>
                <a:ext uri="{FF2B5EF4-FFF2-40B4-BE49-F238E27FC236}">
                  <a16:creationId xmlns:a16="http://schemas.microsoft.com/office/drawing/2014/main" id="{F1A3CE6F-81CA-7527-2350-1AFE0DCBEA17}"/>
                </a:ext>
              </a:extLst>
            </p:cNvPr>
            <p:cNvSpPr>
              <a:spLocks noChangeArrowheads="1"/>
            </p:cNvSpPr>
            <p:nvPr/>
          </p:nvSpPr>
          <p:spPr bwMode="auto">
            <a:xfrm>
              <a:off x="2321975" y="108897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M</a:t>
              </a:r>
            </a:p>
          </p:txBody>
        </p:sp>
        <p:sp>
          <p:nvSpPr>
            <p:cNvPr id="147" name="Rectangle 73">
              <a:extLst>
                <a:ext uri="{FF2B5EF4-FFF2-40B4-BE49-F238E27FC236}">
                  <a16:creationId xmlns:a16="http://schemas.microsoft.com/office/drawing/2014/main" id="{B899C8E1-1D64-2BC7-59EB-A00C3DD5BB8D}"/>
                </a:ext>
              </a:extLst>
            </p:cNvPr>
            <p:cNvSpPr>
              <a:spLocks noChangeArrowheads="1"/>
            </p:cNvSpPr>
            <p:nvPr/>
          </p:nvSpPr>
          <p:spPr bwMode="auto">
            <a:xfrm>
              <a:off x="2771980" y="1088974"/>
              <a:ext cx="450004"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W</a:t>
              </a:r>
            </a:p>
          </p:txBody>
        </p:sp>
      </p:grpSp>
      <p:grpSp>
        <p:nvGrpSpPr>
          <p:cNvPr id="148" name="グループ化 147">
            <a:extLst>
              <a:ext uri="{FF2B5EF4-FFF2-40B4-BE49-F238E27FC236}">
                <a16:creationId xmlns:a16="http://schemas.microsoft.com/office/drawing/2014/main" id="{D969CDB4-503C-E910-9E3D-BD19C9BEF27D}"/>
              </a:ext>
            </a:extLst>
          </p:cNvPr>
          <p:cNvGrpSpPr/>
          <p:nvPr/>
        </p:nvGrpSpPr>
        <p:grpSpPr>
          <a:xfrm>
            <a:off x="1871970" y="2348988"/>
            <a:ext cx="2250023" cy="180002"/>
            <a:chOff x="971961" y="1088974"/>
            <a:chExt cx="2250023" cy="180002"/>
          </a:xfrm>
        </p:grpSpPr>
        <p:sp>
          <p:nvSpPr>
            <p:cNvPr id="149" name="Rectangle 69">
              <a:extLst>
                <a:ext uri="{FF2B5EF4-FFF2-40B4-BE49-F238E27FC236}">
                  <a16:creationId xmlns:a16="http://schemas.microsoft.com/office/drawing/2014/main" id="{41947F27-3B69-BAB8-B2A3-971F29126479}"/>
                </a:ext>
              </a:extLst>
            </p:cNvPr>
            <p:cNvSpPr>
              <a:spLocks noChangeArrowheads="1"/>
            </p:cNvSpPr>
            <p:nvPr/>
          </p:nvSpPr>
          <p:spPr bwMode="auto">
            <a:xfrm>
              <a:off x="971961" y="1088974"/>
              <a:ext cx="450004"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F</a:t>
              </a:r>
            </a:p>
          </p:txBody>
        </p:sp>
        <p:sp>
          <p:nvSpPr>
            <p:cNvPr id="150" name="Rectangle 70">
              <a:extLst>
                <a:ext uri="{FF2B5EF4-FFF2-40B4-BE49-F238E27FC236}">
                  <a16:creationId xmlns:a16="http://schemas.microsoft.com/office/drawing/2014/main" id="{9048815F-727B-9858-30FB-D84B843D38DD}"/>
                </a:ext>
              </a:extLst>
            </p:cNvPr>
            <p:cNvSpPr>
              <a:spLocks noChangeArrowheads="1"/>
            </p:cNvSpPr>
            <p:nvPr/>
          </p:nvSpPr>
          <p:spPr bwMode="auto">
            <a:xfrm>
              <a:off x="1421964" y="108897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D</a:t>
              </a:r>
            </a:p>
          </p:txBody>
        </p:sp>
        <p:sp>
          <p:nvSpPr>
            <p:cNvPr id="151" name="Rectangle 71">
              <a:extLst>
                <a:ext uri="{FF2B5EF4-FFF2-40B4-BE49-F238E27FC236}">
                  <a16:creationId xmlns:a16="http://schemas.microsoft.com/office/drawing/2014/main" id="{E54088D7-F842-FBF8-5B17-FB2DC541E1B2}"/>
                </a:ext>
              </a:extLst>
            </p:cNvPr>
            <p:cNvSpPr>
              <a:spLocks noChangeArrowheads="1"/>
            </p:cNvSpPr>
            <p:nvPr/>
          </p:nvSpPr>
          <p:spPr bwMode="auto">
            <a:xfrm>
              <a:off x="1871970" y="108897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X</a:t>
              </a:r>
            </a:p>
          </p:txBody>
        </p:sp>
        <p:sp>
          <p:nvSpPr>
            <p:cNvPr id="152" name="Rectangle 72">
              <a:extLst>
                <a:ext uri="{FF2B5EF4-FFF2-40B4-BE49-F238E27FC236}">
                  <a16:creationId xmlns:a16="http://schemas.microsoft.com/office/drawing/2014/main" id="{02753A92-0E98-0256-6442-9E7D187BEE14}"/>
                </a:ext>
              </a:extLst>
            </p:cNvPr>
            <p:cNvSpPr>
              <a:spLocks noChangeArrowheads="1"/>
            </p:cNvSpPr>
            <p:nvPr/>
          </p:nvSpPr>
          <p:spPr bwMode="auto">
            <a:xfrm>
              <a:off x="2321975" y="108897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M</a:t>
              </a:r>
            </a:p>
          </p:txBody>
        </p:sp>
        <p:sp>
          <p:nvSpPr>
            <p:cNvPr id="153" name="Rectangle 73">
              <a:extLst>
                <a:ext uri="{FF2B5EF4-FFF2-40B4-BE49-F238E27FC236}">
                  <a16:creationId xmlns:a16="http://schemas.microsoft.com/office/drawing/2014/main" id="{17ACD50F-2B79-5736-778F-69438AF18FA9}"/>
                </a:ext>
              </a:extLst>
            </p:cNvPr>
            <p:cNvSpPr>
              <a:spLocks noChangeArrowheads="1"/>
            </p:cNvSpPr>
            <p:nvPr/>
          </p:nvSpPr>
          <p:spPr bwMode="auto">
            <a:xfrm>
              <a:off x="2771980" y="1088974"/>
              <a:ext cx="450004"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W</a:t>
              </a:r>
            </a:p>
          </p:txBody>
        </p:sp>
      </p:grpSp>
      <p:grpSp>
        <p:nvGrpSpPr>
          <p:cNvPr id="154" name="グループ化 153">
            <a:extLst>
              <a:ext uri="{FF2B5EF4-FFF2-40B4-BE49-F238E27FC236}">
                <a16:creationId xmlns:a16="http://schemas.microsoft.com/office/drawing/2014/main" id="{1C4E3723-8AC2-1A8F-2608-07A5446F1DC9}"/>
              </a:ext>
            </a:extLst>
          </p:cNvPr>
          <p:cNvGrpSpPr/>
          <p:nvPr/>
        </p:nvGrpSpPr>
        <p:grpSpPr>
          <a:xfrm>
            <a:off x="971960" y="3068996"/>
            <a:ext cx="2250023" cy="180002"/>
            <a:chOff x="971961" y="1088974"/>
            <a:chExt cx="2250023" cy="180002"/>
          </a:xfrm>
        </p:grpSpPr>
        <p:sp>
          <p:nvSpPr>
            <p:cNvPr id="155" name="Rectangle 69">
              <a:extLst>
                <a:ext uri="{FF2B5EF4-FFF2-40B4-BE49-F238E27FC236}">
                  <a16:creationId xmlns:a16="http://schemas.microsoft.com/office/drawing/2014/main" id="{3F6DA7F5-DFC4-17ED-2013-1ED2216EBCD5}"/>
                </a:ext>
              </a:extLst>
            </p:cNvPr>
            <p:cNvSpPr>
              <a:spLocks noChangeArrowheads="1"/>
            </p:cNvSpPr>
            <p:nvPr/>
          </p:nvSpPr>
          <p:spPr bwMode="auto">
            <a:xfrm>
              <a:off x="971961" y="1088974"/>
              <a:ext cx="450004"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F</a:t>
              </a:r>
            </a:p>
          </p:txBody>
        </p:sp>
        <p:sp>
          <p:nvSpPr>
            <p:cNvPr id="156" name="Rectangle 70">
              <a:extLst>
                <a:ext uri="{FF2B5EF4-FFF2-40B4-BE49-F238E27FC236}">
                  <a16:creationId xmlns:a16="http://schemas.microsoft.com/office/drawing/2014/main" id="{356D9158-5F9E-1A16-D966-7DA2AA1BFA55}"/>
                </a:ext>
              </a:extLst>
            </p:cNvPr>
            <p:cNvSpPr>
              <a:spLocks noChangeArrowheads="1"/>
            </p:cNvSpPr>
            <p:nvPr/>
          </p:nvSpPr>
          <p:spPr bwMode="auto">
            <a:xfrm>
              <a:off x="1421964" y="108897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D</a:t>
              </a:r>
            </a:p>
          </p:txBody>
        </p:sp>
        <p:sp>
          <p:nvSpPr>
            <p:cNvPr id="157" name="Rectangle 71">
              <a:extLst>
                <a:ext uri="{FF2B5EF4-FFF2-40B4-BE49-F238E27FC236}">
                  <a16:creationId xmlns:a16="http://schemas.microsoft.com/office/drawing/2014/main" id="{286C5DCF-200F-DD94-C5AF-BBCD536112CA}"/>
                </a:ext>
              </a:extLst>
            </p:cNvPr>
            <p:cNvSpPr>
              <a:spLocks noChangeArrowheads="1"/>
            </p:cNvSpPr>
            <p:nvPr/>
          </p:nvSpPr>
          <p:spPr bwMode="auto">
            <a:xfrm>
              <a:off x="1871970" y="108897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X</a:t>
              </a:r>
            </a:p>
          </p:txBody>
        </p:sp>
        <p:sp>
          <p:nvSpPr>
            <p:cNvPr id="158" name="Rectangle 72">
              <a:extLst>
                <a:ext uri="{FF2B5EF4-FFF2-40B4-BE49-F238E27FC236}">
                  <a16:creationId xmlns:a16="http://schemas.microsoft.com/office/drawing/2014/main" id="{29F01D96-6FB7-A8B2-BFAA-2B3891941BB9}"/>
                </a:ext>
              </a:extLst>
            </p:cNvPr>
            <p:cNvSpPr>
              <a:spLocks noChangeArrowheads="1"/>
            </p:cNvSpPr>
            <p:nvPr/>
          </p:nvSpPr>
          <p:spPr bwMode="auto">
            <a:xfrm>
              <a:off x="2321975" y="108897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M</a:t>
              </a:r>
            </a:p>
          </p:txBody>
        </p:sp>
        <p:sp>
          <p:nvSpPr>
            <p:cNvPr id="159" name="Rectangle 73">
              <a:extLst>
                <a:ext uri="{FF2B5EF4-FFF2-40B4-BE49-F238E27FC236}">
                  <a16:creationId xmlns:a16="http://schemas.microsoft.com/office/drawing/2014/main" id="{0BAC1C71-CEF0-9BBB-1EA4-DF5BD86002CD}"/>
                </a:ext>
              </a:extLst>
            </p:cNvPr>
            <p:cNvSpPr>
              <a:spLocks noChangeArrowheads="1"/>
            </p:cNvSpPr>
            <p:nvPr/>
          </p:nvSpPr>
          <p:spPr bwMode="auto">
            <a:xfrm>
              <a:off x="2771980" y="1088974"/>
              <a:ext cx="450004"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W</a:t>
              </a:r>
            </a:p>
          </p:txBody>
        </p:sp>
      </p:grpSp>
      <p:grpSp>
        <p:nvGrpSpPr>
          <p:cNvPr id="160" name="グループ化 159">
            <a:extLst>
              <a:ext uri="{FF2B5EF4-FFF2-40B4-BE49-F238E27FC236}">
                <a16:creationId xmlns:a16="http://schemas.microsoft.com/office/drawing/2014/main" id="{D88B002E-F05A-BB45-726F-34A0EC5F22E4}"/>
              </a:ext>
            </a:extLst>
          </p:cNvPr>
          <p:cNvGrpSpPr/>
          <p:nvPr/>
        </p:nvGrpSpPr>
        <p:grpSpPr>
          <a:xfrm>
            <a:off x="971959" y="3338999"/>
            <a:ext cx="2250023" cy="180002"/>
            <a:chOff x="971961" y="1088974"/>
            <a:chExt cx="2250023" cy="180002"/>
          </a:xfrm>
        </p:grpSpPr>
        <p:sp>
          <p:nvSpPr>
            <p:cNvPr id="161" name="Rectangle 69">
              <a:extLst>
                <a:ext uri="{FF2B5EF4-FFF2-40B4-BE49-F238E27FC236}">
                  <a16:creationId xmlns:a16="http://schemas.microsoft.com/office/drawing/2014/main" id="{ACC19367-DBE1-42D3-9DA3-4D9467288CAE}"/>
                </a:ext>
              </a:extLst>
            </p:cNvPr>
            <p:cNvSpPr>
              <a:spLocks noChangeArrowheads="1"/>
            </p:cNvSpPr>
            <p:nvPr/>
          </p:nvSpPr>
          <p:spPr bwMode="auto">
            <a:xfrm>
              <a:off x="971961" y="1088974"/>
              <a:ext cx="450004"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F</a:t>
              </a:r>
            </a:p>
          </p:txBody>
        </p:sp>
        <p:sp>
          <p:nvSpPr>
            <p:cNvPr id="162" name="Rectangle 70">
              <a:extLst>
                <a:ext uri="{FF2B5EF4-FFF2-40B4-BE49-F238E27FC236}">
                  <a16:creationId xmlns:a16="http://schemas.microsoft.com/office/drawing/2014/main" id="{6D09F3D8-E07D-2EC5-50D6-0D6C0C8CE38D}"/>
                </a:ext>
              </a:extLst>
            </p:cNvPr>
            <p:cNvSpPr>
              <a:spLocks noChangeArrowheads="1"/>
            </p:cNvSpPr>
            <p:nvPr/>
          </p:nvSpPr>
          <p:spPr bwMode="auto">
            <a:xfrm>
              <a:off x="1421964" y="108897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D</a:t>
              </a:r>
            </a:p>
          </p:txBody>
        </p:sp>
        <p:sp>
          <p:nvSpPr>
            <p:cNvPr id="163" name="Rectangle 71">
              <a:extLst>
                <a:ext uri="{FF2B5EF4-FFF2-40B4-BE49-F238E27FC236}">
                  <a16:creationId xmlns:a16="http://schemas.microsoft.com/office/drawing/2014/main" id="{64829B18-15E6-AD1B-9FEF-9828331F8497}"/>
                </a:ext>
              </a:extLst>
            </p:cNvPr>
            <p:cNvSpPr>
              <a:spLocks noChangeArrowheads="1"/>
            </p:cNvSpPr>
            <p:nvPr/>
          </p:nvSpPr>
          <p:spPr bwMode="auto">
            <a:xfrm>
              <a:off x="1871970" y="108897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X</a:t>
              </a:r>
            </a:p>
          </p:txBody>
        </p:sp>
        <p:sp>
          <p:nvSpPr>
            <p:cNvPr id="164" name="Rectangle 72">
              <a:extLst>
                <a:ext uri="{FF2B5EF4-FFF2-40B4-BE49-F238E27FC236}">
                  <a16:creationId xmlns:a16="http://schemas.microsoft.com/office/drawing/2014/main" id="{7361A66D-FD45-251B-6088-97C81867AAA0}"/>
                </a:ext>
              </a:extLst>
            </p:cNvPr>
            <p:cNvSpPr>
              <a:spLocks noChangeArrowheads="1"/>
            </p:cNvSpPr>
            <p:nvPr/>
          </p:nvSpPr>
          <p:spPr bwMode="auto">
            <a:xfrm>
              <a:off x="2321975" y="108897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M</a:t>
              </a:r>
            </a:p>
          </p:txBody>
        </p:sp>
        <p:sp>
          <p:nvSpPr>
            <p:cNvPr id="165" name="Rectangle 73">
              <a:extLst>
                <a:ext uri="{FF2B5EF4-FFF2-40B4-BE49-F238E27FC236}">
                  <a16:creationId xmlns:a16="http://schemas.microsoft.com/office/drawing/2014/main" id="{6D6A7F14-05D9-D603-0729-CE4A069637D9}"/>
                </a:ext>
              </a:extLst>
            </p:cNvPr>
            <p:cNvSpPr>
              <a:spLocks noChangeArrowheads="1"/>
            </p:cNvSpPr>
            <p:nvPr/>
          </p:nvSpPr>
          <p:spPr bwMode="auto">
            <a:xfrm>
              <a:off x="2771980" y="1088974"/>
              <a:ext cx="450004"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W</a:t>
              </a:r>
            </a:p>
          </p:txBody>
        </p:sp>
      </p:grpSp>
      <p:sp>
        <p:nvSpPr>
          <p:cNvPr id="166" name="Rectangle 69">
            <a:extLst>
              <a:ext uri="{FF2B5EF4-FFF2-40B4-BE49-F238E27FC236}">
                <a16:creationId xmlns:a16="http://schemas.microsoft.com/office/drawing/2014/main" id="{4A961EAB-D98A-C4D3-2C2F-F2E5FFE5FF3B}"/>
              </a:ext>
            </a:extLst>
          </p:cNvPr>
          <p:cNvSpPr>
            <a:spLocks noChangeArrowheads="1"/>
          </p:cNvSpPr>
          <p:nvPr/>
        </p:nvSpPr>
        <p:spPr bwMode="auto">
          <a:xfrm>
            <a:off x="1421965" y="3879005"/>
            <a:ext cx="450004" cy="180002"/>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400" dirty="0">
                <a:latin typeface="+mn-lt"/>
                <a:ea typeface="+mn-ea"/>
              </a:rPr>
              <a:t>F</a:t>
            </a:r>
          </a:p>
        </p:txBody>
      </p:sp>
      <p:sp>
        <p:nvSpPr>
          <p:cNvPr id="167" name="Rectangle 70">
            <a:extLst>
              <a:ext uri="{FF2B5EF4-FFF2-40B4-BE49-F238E27FC236}">
                <a16:creationId xmlns:a16="http://schemas.microsoft.com/office/drawing/2014/main" id="{B2590239-6AFD-6F52-311B-98382C0DCBA5}"/>
              </a:ext>
            </a:extLst>
          </p:cNvPr>
          <p:cNvSpPr>
            <a:spLocks noChangeArrowheads="1"/>
          </p:cNvSpPr>
          <p:nvPr/>
        </p:nvSpPr>
        <p:spPr bwMode="auto">
          <a:xfrm>
            <a:off x="1871968" y="3879005"/>
            <a:ext cx="450005" cy="180002"/>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400" dirty="0">
                <a:latin typeface="+mn-lt"/>
                <a:ea typeface="+mn-ea"/>
              </a:rPr>
              <a:t>D</a:t>
            </a:r>
          </a:p>
        </p:txBody>
      </p:sp>
      <p:sp>
        <p:nvSpPr>
          <p:cNvPr id="168" name="Rectangle 71">
            <a:extLst>
              <a:ext uri="{FF2B5EF4-FFF2-40B4-BE49-F238E27FC236}">
                <a16:creationId xmlns:a16="http://schemas.microsoft.com/office/drawing/2014/main" id="{2094911A-DA6B-95F5-ECFE-E2CE8BA964F7}"/>
              </a:ext>
            </a:extLst>
          </p:cNvPr>
          <p:cNvSpPr>
            <a:spLocks noChangeArrowheads="1"/>
          </p:cNvSpPr>
          <p:nvPr/>
        </p:nvSpPr>
        <p:spPr bwMode="auto">
          <a:xfrm>
            <a:off x="2321974" y="3879005"/>
            <a:ext cx="450005" cy="180002"/>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400" dirty="0">
                <a:latin typeface="+mn-lt"/>
                <a:ea typeface="+mn-ea"/>
              </a:rPr>
              <a:t>X</a:t>
            </a:r>
          </a:p>
        </p:txBody>
      </p:sp>
      <p:sp>
        <p:nvSpPr>
          <p:cNvPr id="169" name="Rectangle 72">
            <a:extLst>
              <a:ext uri="{FF2B5EF4-FFF2-40B4-BE49-F238E27FC236}">
                <a16:creationId xmlns:a16="http://schemas.microsoft.com/office/drawing/2014/main" id="{637327DA-17A0-6653-1216-DD251D78DA4D}"/>
              </a:ext>
            </a:extLst>
          </p:cNvPr>
          <p:cNvSpPr>
            <a:spLocks noChangeArrowheads="1"/>
          </p:cNvSpPr>
          <p:nvPr/>
        </p:nvSpPr>
        <p:spPr bwMode="auto">
          <a:xfrm>
            <a:off x="2771979" y="3879005"/>
            <a:ext cx="450005" cy="180002"/>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400" dirty="0">
                <a:latin typeface="+mn-lt"/>
                <a:ea typeface="+mn-ea"/>
              </a:rPr>
              <a:t>M</a:t>
            </a:r>
          </a:p>
        </p:txBody>
      </p:sp>
      <p:sp>
        <p:nvSpPr>
          <p:cNvPr id="170" name="Rectangle 69">
            <a:extLst>
              <a:ext uri="{FF2B5EF4-FFF2-40B4-BE49-F238E27FC236}">
                <a16:creationId xmlns:a16="http://schemas.microsoft.com/office/drawing/2014/main" id="{FD821E7D-8A24-191C-2896-311CCDC957FE}"/>
              </a:ext>
            </a:extLst>
          </p:cNvPr>
          <p:cNvSpPr>
            <a:spLocks noChangeArrowheads="1"/>
          </p:cNvSpPr>
          <p:nvPr/>
        </p:nvSpPr>
        <p:spPr bwMode="auto">
          <a:xfrm>
            <a:off x="1871971" y="4419011"/>
            <a:ext cx="450004" cy="179998"/>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400" dirty="0">
                <a:latin typeface="+mn-lt"/>
                <a:ea typeface="+mn-ea"/>
              </a:rPr>
              <a:t>F</a:t>
            </a:r>
          </a:p>
        </p:txBody>
      </p:sp>
      <p:sp>
        <p:nvSpPr>
          <p:cNvPr id="171" name="Rectangle 70">
            <a:extLst>
              <a:ext uri="{FF2B5EF4-FFF2-40B4-BE49-F238E27FC236}">
                <a16:creationId xmlns:a16="http://schemas.microsoft.com/office/drawing/2014/main" id="{94A716C0-E9FB-B9F0-5B17-002DA45FE4E5}"/>
              </a:ext>
            </a:extLst>
          </p:cNvPr>
          <p:cNvSpPr>
            <a:spLocks noChangeArrowheads="1"/>
          </p:cNvSpPr>
          <p:nvPr/>
        </p:nvSpPr>
        <p:spPr bwMode="auto">
          <a:xfrm>
            <a:off x="2321974" y="4419011"/>
            <a:ext cx="450005" cy="179998"/>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400" dirty="0">
                <a:latin typeface="+mn-lt"/>
                <a:ea typeface="+mn-ea"/>
              </a:rPr>
              <a:t>D</a:t>
            </a:r>
          </a:p>
        </p:txBody>
      </p:sp>
      <p:sp>
        <p:nvSpPr>
          <p:cNvPr id="172" name="Rectangle 71">
            <a:extLst>
              <a:ext uri="{FF2B5EF4-FFF2-40B4-BE49-F238E27FC236}">
                <a16:creationId xmlns:a16="http://schemas.microsoft.com/office/drawing/2014/main" id="{8D88348F-8BFD-D61F-28C6-E5FFAC6B1F9C}"/>
              </a:ext>
            </a:extLst>
          </p:cNvPr>
          <p:cNvSpPr>
            <a:spLocks noChangeArrowheads="1"/>
          </p:cNvSpPr>
          <p:nvPr/>
        </p:nvSpPr>
        <p:spPr bwMode="auto">
          <a:xfrm>
            <a:off x="2771980" y="4419011"/>
            <a:ext cx="450005" cy="179998"/>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400" dirty="0">
                <a:latin typeface="+mn-lt"/>
                <a:ea typeface="+mn-ea"/>
              </a:rPr>
              <a:t>X</a:t>
            </a:r>
          </a:p>
        </p:txBody>
      </p:sp>
      <p:sp>
        <p:nvSpPr>
          <p:cNvPr id="173" name="Rectangle 69">
            <a:extLst>
              <a:ext uri="{FF2B5EF4-FFF2-40B4-BE49-F238E27FC236}">
                <a16:creationId xmlns:a16="http://schemas.microsoft.com/office/drawing/2014/main" id="{28FDE560-1E9B-8F5D-DF2E-9745ED1D60AC}"/>
              </a:ext>
            </a:extLst>
          </p:cNvPr>
          <p:cNvSpPr>
            <a:spLocks noChangeArrowheads="1"/>
          </p:cNvSpPr>
          <p:nvPr/>
        </p:nvSpPr>
        <p:spPr bwMode="auto">
          <a:xfrm>
            <a:off x="2321975" y="4959017"/>
            <a:ext cx="450004" cy="180002"/>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400" dirty="0">
                <a:latin typeface="+mn-lt"/>
                <a:ea typeface="+mn-ea"/>
              </a:rPr>
              <a:t>F</a:t>
            </a:r>
          </a:p>
        </p:txBody>
      </p:sp>
      <p:sp>
        <p:nvSpPr>
          <p:cNvPr id="174" name="Rectangle 70">
            <a:extLst>
              <a:ext uri="{FF2B5EF4-FFF2-40B4-BE49-F238E27FC236}">
                <a16:creationId xmlns:a16="http://schemas.microsoft.com/office/drawing/2014/main" id="{6BA07413-F363-C953-24A4-01DFEAB909CE}"/>
              </a:ext>
            </a:extLst>
          </p:cNvPr>
          <p:cNvSpPr>
            <a:spLocks noChangeArrowheads="1"/>
          </p:cNvSpPr>
          <p:nvPr/>
        </p:nvSpPr>
        <p:spPr bwMode="auto">
          <a:xfrm>
            <a:off x="2771978" y="4959017"/>
            <a:ext cx="450005" cy="180002"/>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400" dirty="0">
                <a:latin typeface="+mn-lt"/>
                <a:ea typeface="+mn-ea"/>
              </a:rPr>
              <a:t>D</a:t>
            </a:r>
          </a:p>
        </p:txBody>
      </p:sp>
      <p:sp>
        <p:nvSpPr>
          <p:cNvPr id="175" name="Rectangle 69">
            <a:extLst>
              <a:ext uri="{FF2B5EF4-FFF2-40B4-BE49-F238E27FC236}">
                <a16:creationId xmlns:a16="http://schemas.microsoft.com/office/drawing/2014/main" id="{62C9EACA-B076-E40E-DD09-CF93A5C99193}"/>
              </a:ext>
            </a:extLst>
          </p:cNvPr>
          <p:cNvSpPr>
            <a:spLocks noChangeArrowheads="1"/>
          </p:cNvSpPr>
          <p:nvPr/>
        </p:nvSpPr>
        <p:spPr bwMode="auto">
          <a:xfrm>
            <a:off x="2771980" y="5499023"/>
            <a:ext cx="450004" cy="180002"/>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400" dirty="0">
                <a:latin typeface="+mn-lt"/>
                <a:ea typeface="+mn-ea"/>
              </a:rPr>
              <a:t>F</a:t>
            </a:r>
          </a:p>
        </p:txBody>
      </p:sp>
      <p:grpSp>
        <p:nvGrpSpPr>
          <p:cNvPr id="176" name="グループ化 175">
            <a:extLst>
              <a:ext uri="{FF2B5EF4-FFF2-40B4-BE49-F238E27FC236}">
                <a16:creationId xmlns:a16="http://schemas.microsoft.com/office/drawing/2014/main" id="{F2AB8E9F-53D6-171F-AAFD-F31E1C2CFDE1}"/>
              </a:ext>
            </a:extLst>
          </p:cNvPr>
          <p:cNvGrpSpPr/>
          <p:nvPr/>
        </p:nvGrpSpPr>
        <p:grpSpPr>
          <a:xfrm>
            <a:off x="3221986" y="5769026"/>
            <a:ext cx="2250023" cy="180002"/>
            <a:chOff x="971961" y="1088974"/>
            <a:chExt cx="2250023" cy="180002"/>
          </a:xfrm>
        </p:grpSpPr>
        <p:sp>
          <p:nvSpPr>
            <p:cNvPr id="177" name="Rectangle 69">
              <a:extLst>
                <a:ext uri="{FF2B5EF4-FFF2-40B4-BE49-F238E27FC236}">
                  <a16:creationId xmlns:a16="http://schemas.microsoft.com/office/drawing/2014/main" id="{22821331-EDCC-8C40-EF38-AAF53F1B7D7B}"/>
                </a:ext>
              </a:extLst>
            </p:cNvPr>
            <p:cNvSpPr>
              <a:spLocks noChangeArrowheads="1"/>
            </p:cNvSpPr>
            <p:nvPr/>
          </p:nvSpPr>
          <p:spPr bwMode="auto">
            <a:xfrm>
              <a:off x="971961" y="1088974"/>
              <a:ext cx="450004"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F</a:t>
              </a:r>
            </a:p>
          </p:txBody>
        </p:sp>
        <p:sp>
          <p:nvSpPr>
            <p:cNvPr id="178" name="Rectangle 70">
              <a:extLst>
                <a:ext uri="{FF2B5EF4-FFF2-40B4-BE49-F238E27FC236}">
                  <a16:creationId xmlns:a16="http://schemas.microsoft.com/office/drawing/2014/main" id="{66D5654A-C069-3789-4DD3-92D3D819A791}"/>
                </a:ext>
              </a:extLst>
            </p:cNvPr>
            <p:cNvSpPr>
              <a:spLocks noChangeArrowheads="1"/>
            </p:cNvSpPr>
            <p:nvPr/>
          </p:nvSpPr>
          <p:spPr bwMode="auto">
            <a:xfrm>
              <a:off x="1421964" y="108897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D</a:t>
              </a:r>
            </a:p>
          </p:txBody>
        </p:sp>
        <p:sp>
          <p:nvSpPr>
            <p:cNvPr id="179" name="Rectangle 71">
              <a:extLst>
                <a:ext uri="{FF2B5EF4-FFF2-40B4-BE49-F238E27FC236}">
                  <a16:creationId xmlns:a16="http://schemas.microsoft.com/office/drawing/2014/main" id="{75CF4DB4-2197-9940-F5FC-ECE4EE1F1A6B}"/>
                </a:ext>
              </a:extLst>
            </p:cNvPr>
            <p:cNvSpPr>
              <a:spLocks noChangeArrowheads="1"/>
            </p:cNvSpPr>
            <p:nvPr/>
          </p:nvSpPr>
          <p:spPr bwMode="auto">
            <a:xfrm>
              <a:off x="1871970" y="108897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X</a:t>
              </a:r>
            </a:p>
          </p:txBody>
        </p:sp>
        <p:sp>
          <p:nvSpPr>
            <p:cNvPr id="180" name="Rectangle 72">
              <a:extLst>
                <a:ext uri="{FF2B5EF4-FFF2-40B4-BE49-F238E27FC236}">
                  <a16:creationId xmlns:a16="http://schemas.microsoft.com/office/drawing/2014/main" id="{5CDE8CF2-4D8D-01F2-4FCB-23FA991E4E1B}"/>
                </a:ext>
              </a:extLst>
            </p:cNvPr>
            <p:cNvSpPr>
              <a:spLocks noChangeArrowheads="1"/>
            </p:cNvSpPr>
            <p:nvPr/>
          </p:nvSpPr>
          <p:spPr bwMode="auto">
            <a:xfrm>
              <a:off x="2321975" y="108897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M</a:t>
              </a:r>
            </a:p>
          </p:txBody>
        </p:sp>
        <p:sp>
          <p:nvSpPr>
            <p:cNvPr id="181" name="Rectangle 73">
              <a:extLst>
                <a:ext uri="{FF2B5EF4-FFF2-40B4-BE49-F238E27FC236}">
                  <a16:creationId xmlns:a16="http://schemas.microsoft.com/office/drawing/2014/main" id="{6861BBF7-0223-742C-587B-88BF3506AD3F}"/>
                </a:ext>
              </a:extLst>
            </p:cNvPr>
            <p:cNvSpPr>
              <a:spLocks noChangeArrowheads="1"/>
            </p:cNvSpPr>
            <p:nvPr/>
          </p:nvSpPr>
          <p:spPr bwMode="auto">
            <a:xfrm>
              <a:off x="2771980" y="1088974"/>
              <a:ext cx="450004"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W</a:t>
              </a:r>
            </a:p>
          </p:txBody>
        </p:sp>
      </p:grpSp>
      <p:grpSp>
        <p:nvGrpSpPr>
          <p:cNvPr id="182" name="グループ化 181">
            <a:extLst>
              <a:ext uri="{FF2B5EF4-FFF2-40B4-BE49-F238E27FC236}">
                <a16:creationId xmlns:a16="http://schemas.microsoft.com/office/drawing/2014/main" id="{78BB2E81-C4A1-16D3-144D-2510F2EDD13A}"/>
              </a:ext>
            </a:extLst>
          </p:cNvPr>
          <p:cNvGrpSpPr/>
          <p:nvPr/>
        </p:nvGrpSpPr>
        <p:grpSpPr>
          <a:xfrm>
            <a:off x="3221985" y="6039029"/>
            <a:ext cx="2250023" cy="180002"/>
            <a:chOff x="971961" y="1088974"/>
            <a:chExt cx="2250023" cy="180002"/>
          </a:xfrm>
        </p:grpSpPr>
        <p:sp>
          <p:nvSpPr>
            <p:cNvPr id="183" name="Rectangle 69">
              <a:extLst>
                <a:ext uri="{FF2B5EF4-FFF2-40B4-BE49-F238E27FC236}">
                  <a16:creationId xmlns:a16="http://schemas.microsoft.com/office/drawing/2014/main" id="{E372DD37-53D1-C2F4-0C1D-A73C4B517603}"/>
                </a:ext>
              </a:extLst>
            </p:cNvPr>
            <p:cNvSpPr>
              <a:spLocks noChangeArrowheads="1"/>
            </p:cNvSpPr>
            <p:nvPr/>
          </p:nvSpPr>
          <p:spPr bwMode="auto">
            <a:xfrm>
              <a:off x="971961" y="1088974"/>
              <a:ext cx="450004"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F</a:t>
              </a:r>
            </a:p>
          </p:txBody>
        </p:sp>
        <p:sp>
          <p:nvSpPr>
            <p:cNvPr id="184" name="Rectangle 70">
              <a:extLst>
                <a:ext uri="{FF2B5EF4-FFF2-40B4-BE49-F238E27FC236}">
                  <a16:creationId xmlns:a16="http://schemas.microsoft.com/office/drawing/2014/main" id="{9A6A0B71-643E-6752-FEB2-901E8CE3F1DE}"/>
                </a:ext>
              </a:extLst>
            </p:cNvPr>
            <p:cNvSpPr>
              <a:spLocks noChangeArrowheads="1"/>
            </p:cNvSpPr>
            <p:nvPr/>
          </p:nvSpPr>
          <p:spPr bwMode="auto">
            <a:xfrm>
              <a:off x="1421964" y="108897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D</a:t>
              </a:r>
            </a:p>
          </p:txBody>
        </p:sp>
        <p:sp>
          <p:nvSpPr>
            <p:cNvPr id="185" name="Rectangle 71">
              <a:extLst>
                <a:ext uri="{FF2B5EF4-FFF2-40B4-BE49-F238E27FC236}">
                  <a16:creationId xmlns:a16="http://schemas.microsoft.com/office/drawing/2014/main" id="{8660B713-55DE-75AB-3810-0CF6BAF844BC}"/>
                </a:ext>
              </a:extLst>
            </p:cNvPr>
            <p:cNvSpPr>
              <a:spLocks noChangeArrowheads="1"/>
            </p:cNvSpPr>
            <p:nvPr/>
          </p:nvSpPr>
          <p:spPr bwMode="auto">
            <a:xfrm>
              <a:off x="1871970" y="108897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X</a:t>
              </a:r>
            </a:p>
          </p:txBody>
        </p:sp>
        <p:sp>
          <p:nvSpPr>
            <p:cNvPr id="186" name="Rectangle 72">
              <a:extLst>
                <a:ext uri="{FF2B5EF4-FFF2-40B4-BE49-F238E27FC236}">
                  <a16:creationId xmlns:a16="http://schemas.microsoft.com/office/drawing/2014/main" id="{1C0856E3-75EB-9168-B1E7-AE8F36B55524}"/>
                </a:ext>
              </a:extLst>
            </p:cNvPr>
            <p:cNvSpPr>
              <a:spLocks noChangeArrowheads="1"/>
            </p:cNvSpPr>
            <p:nvPr/>
          </p:nvSpPr>
          <p:spPr bwMode="auto">
            <a:xfrm>
              <a:off x="2321975" y="108897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M</a:t>
              </a:r>
            </a:p>
          </p:txBody>
        </p:sp>
        <p:sp>
          <p:nvSpPr>
            <p:cNvPr id="187" name="Rectangle 73">
              <a:extLst>
                <a:ext uri="{FF2B5EF4-FFF2-40B4-BE49-F238E27FC236}">
                  <a16:creationId xmlns:a16="http://schemas.microsoft.com/office/drawing/2014/main" id="{C92786F8-C1D9-7D9A-A43C-17B41102931E}"/>
                </a:ext>
              </a:extLst>
            </p:cNvPr>
            <p:cNvSpPr>
              <a:spLocks noChangeArrowheads="1"/>
            </p:cNvSpPr>
            <p:nvPr/>
          </p:nvSpPr>
          <p:spPr bwMode="auto">
            <a:xfrm>
              <a:off x="2771980" y="1088974"/>
              <a:ext cx="450004"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W</a:t>
              </a:r>
            </a:p>
          </p:txBody>
        </p:sp>
      </p:grpSp>
      <p:grpSp>
        <p:nvGrpSpPr>
          <p:cNvPr id="188" name="グループ化 187">
            <a:extLst>
              <a:ext uri="{FF2B5EF4-FFF2-40B4-BE49-F238E27FC236}">
                <a16:creationId xmlns:a16="http://schemas.microsoft.com/office/drawing/2014/main" id="{17CD7CE4-7DF3-AA4E-B1FC-1C37D4A81746}"/>
              </a:ext>
            </a:extLst>
          </p:cNvPr>
          <p:cNvGrpSpPr/>
          <p:nvPr/>
        </p:nvGrpSpPr>
        <p:grpSpPr>
          <a:xfrm>
            <a:off x="3671991" y="6309032"/>
            <a:ext cx="2250023" cy="180002"/>
            <a:chOff x="971961" y="1088974"/>
            <a:chExt cx="2250023" cy="180002"/>
          </a:xfrm>
        </p:grpSpPr>
        <p:sp>
          <p:nvSpPr>
            <p:cNvPr id="189" name="Rectangle 69">
              <a:extLst>
                <a:ext uri="{FF2B5EF4-FFF2-40B4-BE49-F238E27FC236}">
                  <a16:creationId xmlns:a16="http://schemas.microsoft.com/office/drawing/2014/main" id="{5DB371E4-3AF0-453E-51D5-A4D2400FB796}"/>
                </a:ext>
              </a:extLst>
            </p:cNvPr>
            <p:cNvSpPr>
              <a:spLocks noChangeArrowheads="1"/>
            </p:cNvSpPr>
            <p:nvPr/>
          </p:nvSpPr>
          <p:spPr bwMode="auto">
            <a:xfrm>
              <a:off x="971961" y="1088974"/>
              <a:ext cx="450004"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F</a:t>
              </a:r>
            </a:p>
          </p:txBody>
        </p:sp>
        <p:sp>
          <p:nvSpPr>
            <p:cNvPr id="190" name="Rectangle 70">
              <a:extLst>
                <a:ext uri="{FF2B5EF4-FFF2-40B4-BE49-F238E27FC236}">
                  <a16:creationId xmlns:a16="http://schemas.microsoft.com/office/drawing/2014/main" id="{D9A75F0C-FD03-038F-252C-41EECF67467A}"/>
                </a:ext>
              </a:extLst>
            </p:cNvPr>
            <p:cNvSpPr>
              <a:spLocks noChangeArrowheads="1"/>
            </p:cNvSpPr>
            <p:nvPr/>
          </p:nvSpPr>
          <p:spPr bwMode="auto">
            <a:xfrm>
              <a:off x="1421964" y="108897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D</a:t>
              </a:r>
            </a:p>
          </p:txBody>
        </p:sp>
        <p:sp>
          <p:nvSpPr>
            <p:cNvPr id="191" name="Rectangle 71">
              <a:extLst>
                <a:ext uri="{FF2B5EF4-FFF2-40B4-BE49-F238E27FC236}">
                  <a16:creationId xmlns:a16="http://schemas.microsoft.com/office/drawing/2014/main" id="{01D769CD-7C3B-3461-F6B1-552422C71DFB}"/>
                </a:ext>
              </a:extLst>
            </p:cNvPr>
            <p:cNvSpPr>
              <a:spLocks noChangeArrowheads="1"/>
            </p:cNvSpPr>
            <p:nvPr/>
          </p:nvSpPr>
          <p:spPr bwMode="auto">
            <a:xfrm>
              <a:off x="1871970" y="108897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X</a:t>
              </a:r>
            </a:p>
          </p:txBody>
        </p:sp>
        <p:sp>
          <p:nvSpPr>
            <p:cNvPr id="192" name="Rectangle 72">
              <a:extLst>
                <a:ext uri="{FF2B5EF4-FFF2-40B4-BE49-F238E27FC236}">
                  <a16:creationId xmlns:a16="http://schemas.microsoft.com/office/drawing/2014/main" id="{2310AEBE-33FD-8017-6C63-011F0B5E12DC}"/>
                </a:ext>
              </a:extLst>
            </p:cNvPr>
            <p:cNvSpPr>
              <a:spLocks noChangeArrowheads="1"/>
            </p:cNvSpPr>
            <p:nvPr/>
          </p:nvSpPr>
          <p:spPr bwMode="auto">
            <a:xfrm>
              <a:off x="2321975" y="108897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M</a:t>
              </a:r>
            </a:p>
          </p:txBody>
        </p:sp>
        <p:sp>
          <p:nvSpPr>
            <p:cNvPr id="193" name="Rectangle 73">
              <a:extLst>
                <a:ext uri="{FF2B5EF4-FFF2-40B4-BE49-F238E27FC236}">
                  <a16:creationId xmlns:a16="http://schemas.microsoft.com/office/drawing/2014/main" id="{FF98468D-4309-4F69-872D-D24180DCDBFF}"/>
                </a:ext>
              </a:extLst>
            </p:cNvPr>
            <p:cNvSpPr>
              <a:spLocks noChangeArrowheads="1"/>
            </p:cNvSpPr>
            <p:nvPr/>
          </p:nvSpPr>
          <p:spPr bwMode="auto">
            <a:xfrm>
              <a:off x="2771980" y="1088974"/>
              <a:ext cx="450004"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W</a:t>
              </a:r>
            </a:p>
          </p:txBody>
        </p:sp>
      </p:grpSp>
      <p:grpSp>
        <p:nvGrpSpPr>
          <p:cNvPr id="194" name="グループ化 193">
            <a:extLst>
              <a:ext uri="{FF2B5EF4-FFF2-40B4-BE49-F238E27FC236}">
                <a16:creationId xmlns:a16="http://schemas.microsoft.com/office/drawing/2014/main" id="{A75BF7A2-C1AC-C403-CE8E-CD2A87902261}"/>
              </a:ext>
            </a:extLst>
          </p:cNvPr>
          <p:cNvGrpSpPr/>
          <p:nvPr/>
        </p:nvGrpSpPr>
        <p:grpSpPr>
          <a:xfrm>
            <a:off x="3671990" y="6579035"/>
            <a:ext cx="2250023" cy="180002"/>
            <a:chOff x="971961" y="1088974"/>
            <a:chExt cx="2250023" cy="180002"/>
          </a:xfrm>
        </p:grpSpPr>
        <p:sp>
          <p:nvSpPr>
            <p:cNvPr id="195" name="Rectangle 69">
              <a:extLst>
                <a:ext uri="{FF2B5EF4-FFF2-40B4-BE49-F238E27FC236}">
                  <a16:creationId xmlns:a16="http://schemas.microsoft.com/office/drawing/2014/main" id="{09B354E7-9B2E-30CB-6215-01CD416581B0}"/>
                </a:ext>
              </a:extLst>
            </p:cNvPr>
            <p:cNvSpPr>
              <a:spLocks noChangeArrowheads="1"/>
            </p:cNvSpPr>
            <p:nvPr/>
          </p:nvSpPr>
          <p:spPr bwMode="auto">
            <a:xfrm>
              <a:off x="971961" y="1088974"/>
              <a:ext cx="450004"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F</a:t>
              </a:r>
            </a:p>
          </p:txBody>
        </p:sp>
        <p:sp>
          <p:nvSpPr>
            <p:cNvPr id="196" name="Rectangle 70">
              <a:extLst>
                <a:ext uri="{FF2B5EF4-FFF2-40B4-BE49-F238E27FC236}">
                  <a16:creationId xmlns:a16="http://schemas.microsoft.com/office/drawing/2014/main" id="{73902641-B8D6-93D9-B07A-659A81947660}"/>
                </a:ext>
              </a:extLst>
            </p:cNvPr>
            <p:cNvSpPr>
              <a:spLocks noChangeArrowheads="1"/>
            </p:cNvSpPr>
            <p:nvPr/>
          </p:nvSpPr>
          <p:spPr bwMode="auto">
            <a:xfrm>
              <a:off x="1421964" y="108897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D</a:t>
              </a:r>
            </a:p>
          </p:txBody>
        </p:sp>
        <p:sp>
          <p:nvSpPr>
            <p:cNvPr id="197" name="Rectangle 71">
              <a:extLst>
                <a:ext uri="{FF2B5EF4-FFF2-40B4-BE49-F238E27FC236}">
                  <a16:creationId xmlns:a16="http://schemas.microsoft.com/office/drawing/2014/main" id="{99FF6F8F-C9D9-56F4-0B03-72F6C38161A0}"/>
                </a:ext>
              </a:extLst>
            </p:cNvPr>
            <p:cNvSpPr>
              <a:spLocks noChangeArrowheads="1"/>
            </p:cNvSpPr>
            <p:nvPr/>
          </p:nvSpPr>
          <p:spPr bwMode="auto">
            <a:xfrm>
              <a:off x="1871970" y="108897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X</a:t>
              </a:r>
            </a:p>
          </p:txBody>
        </p:sp>
        <p:sp>
          <p:nvSpPr>
            <p:cNvPr id="198" name="Rectangle 72">
              <a:extLst>
                <a:ext uri="{FF2B5EF4-FFF2-40B4-BE49-F238E27FC236}">
                  <a16:creationId xmlns:a16="http://schemas.microsoft.com/office/drawing/2014/main" id="{43E137DE-C423-3FFF-BD75-275E129F89E8}"/>
                </a:ext>
              </a:extLst>
            </p:cNvPr>
            <p:cNvSpPr>
              <a:spLocks noChangeArrowheads="1"/>
            </p:cNvSpPr>
            <p:nvPr/>
          </p:nvSpPr>
          <p:spPr bwMode="auto">
            <a:xfrm>
              <a:off x="2321975" y="108897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M</a:t>
              </a:r>
            </a:p>
          </p:txBody>
        </p:sp>
        <p:sp>
          <p:nvSpPr>
            <p:cNvPr id="199" name="Rectangle 73">
              <a:extLst>
                <a:ext uri="{FF2B5EF4-FFF2-40B4-BE49-F238E27FC236}">
                  <a16:creationId xmlns:a16="http://schemas.microsoft.com/office/drawing/2014/main" id="{86F46255-D516-6C0F-F0E1-2E039865C494}"/>
                </a:ext>
              </a:extLst>
            </p:cNvPr>
            <p:cNvSpPr>
              <a:spLocks noChangeArrowheads="1"/>
            </p:cNvSpPr>
            <p:nvPr/>
          </p:nvSpPr>
          <p:spPr bwMode="auto">
            <a:xfrm>
              <a:off x="2771980" y="1088974"/>
              <a:ext cx="450004"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W</a:t>
              </a:r>
            </a:p>
          </p:txBody>
        </p:sp>
      </p:grpSp>
      <p:sp>
        <p:nvSpPr>
          <p:cNvPr id="202" name="正方形/長方形 201">
            <a:extLst>
              <a:ext uri="{FF2B5EF4-FFF2-40B4-BE49-F238E27FC236}">
                <a16:creationId xmlns:a16="http://schemas.microsoft.com/office/drawing/2014/main" id="{8A92B3E9-727B-9CF9-49AC-5B67A59294C9}"/>
              </a:ext>
            </a:extLst>
          </p:cNvPr>
          <p:cNvSpPr/>
          <p:nvPr/>
        </p:nvSpPr>
        <p:spPr>
          <a:xfrm>
            <a:off x="431954" y="908972"/>
            <a:ext cx="450005" cy="307777"/>
          </a:xfrm>
          <a:prstGeom prst="rect">
            <a:avLst/>
          </a:prstGeom>
        </p:spPr>
        <p:txBody>
          <a:bodyPr wrap="square">
            <a:spAutoFit/>
          </a:bodyPr>
          <a:lstStyle/>
          <a:p>
            <a:pPr algn="ctr"/>
            <a:r>
              <a:rPr lang="en-US" altLang="ja-JP" sz="1400" dirty="0">
                <a:solidFill>
                  <a:schemeClr val="tx1">
                    <a:lumMod val="65000"/>
                    <a:lumOff val="35000"/>
                  </a:schemeClr>
                </a:solidFill>
                <a:latin typeface="Consolas" panose="020B0609020204030204" pitchFamily="49" charset="0"/>
              </a:rPr>
              <a:t>I0</a:t>
            </a:r>
            <a:endParaRPr lang="ja-JP" altLang="en-US" sz="1400" dirty="0">
              <a:solidFill>
                <a:schemeClr val="tx1">
                  <a:lumMod val="65000"/>
                  <a:lumOff val="35000"/>
                </a:schemeClr>
              </a:solidFill>
              <a:latin typeface="Consolas" panose="020B0609020204030204" pitchFamily="49" charset="0"/>
            </a:endParaRPr>
          </a:p>
        </p:txBody>
      </p:sp>
      <p:sp>
        <p:nvSpPr>
          <p:cNvPr id="203" name="正方形/長方形 202">
            <a:extLst>
              <a:ext uri="{FF2B5EF4-FFF2-40B4-BE49-F238E27FC236}">
                <a16:creationId xmlns:a16="http://schemas.microsoft.com/office/drawing/2014/main" id="{4E3AC2DE-A188-F618-5832-137BB805C1EA}"/>
              </a:ext>
            </a:extLst>
          </p:cNvPr>
          <p:cNvSpPr/>
          <p:nvPr/>
        </p:nvSpPr>
        <p:spPr>
          <a:xfrm>
            <a:off x="431954" y="1178975"/>
            <a:ext cx="450005" cy="307777"/>
          </a:xfrm>
          <a:prstGeom prst="rect">
            <a:avLst/>
          </a:prstGeom>
        </p:spPr>
        <p:txBody>
          <a:bodyPr wrap="square">
            <a:spAutoFit/>
          </a:bodyPr>
          <a:lstStyle/>
          <a:p>
            <a:pPr algn="ctr"/>
            <a:r>
              <a:rPr lang="en-US" altLang="ja-JP" sz="1400" dirty="0">
                <a:solidFill>
                  <a:schemeClr val="tx1">
                    <a:lumMod val="65000"/>
                    <a:lumOff val="35000"/>
                  </a:schemeClr>
                </a:solidFill>
                <a:latin typeface="Consolas" panose="020B0609020204030204" pitchFamily="49" charset="0"/>
              </a:rPr>
              <a:t>I1</a:t>
            </a:r>
            <a:endParaRPr lang="ja-JP" altLang="en-US" sz="1400" dirty="0">
              <a:solidFill>
                <a:schemeClr val="tx1">
                  <a:lumMod val="65000"/>
                  <a:lumOff val="35000"/>
                </a:schemeClr>
              </a:solidFill>
              <a:latin typeface="Consolas" panose="020B0609020204030204" pitchFamily="49" charset="0"/>
            </a:endParaRPr>
          </a:p>
        </p:txBody>
      </p:sp>
      <p:sp>
        <p:nvSpPr>
          <p:cNvPr id="204" name="正方形/長方形 203">
            <a:extLst>
              <a:ext uri="{FF2B5EF4-FFF2-40B4-BE49-F238E27FC236}">
                <a16:creationId xmlns:a16="http://schemas.microsoft.com/office/drawing/2014/main" id="{AFA7AF7D-130C-7543-787D-94B51C301B1A}"/>
              </a:ext>
            </a:extLst>
          </p:cNvPr>
          <p:cNvSpPr/>
          <p:nvPr/>
        </p:nvSpPr>
        <p:spPr>
          <a:xfrm>
            <a:off x="431954" y="1448978"/>
            <a:ext cx="450005" cy="307777"/>
          </a:xfrm>
          <a:prstGeom prst="rect">
            <a:avLst/>
          </a:prstGeom>
        </p:spPr>
        <p:txBody>
          <a:bodyPr wrap="square">
            <a:spAutoFit/>
          </a:bodyPr>
          <a:lstStyle/>
          <a:p>
            <a:pPr algn="ctr"/>
            <a:r>
              <a:rPr lang="en-US" altLang="ja-JP" sz="1400" dirty="0">
                <a:solidFill>
                  <a:schemeClr val="tx1">
                    <a:lumMod val="65000"/>
                    <a:lumOff val="35000"/>
                  </a:schemeClr>
                </a:solidFill>
                <a:latin typeface="Consolas" panose="020B0609020204030204" pitchFamily="49" charset="0"/>
              </a:rPr>
              <a:t>I2</a:t>
            </a:r>
            <a:endParaRPr lang="ja-JP" altLang="en-US" sz="1400" dirty="0">
              <a:solidFill>
                <a:schemeClr val="tx1">
                  <a:lumMod val="65000"/>
                  <a:lumOff val="35000"/>
                </a:schemeClr>
              </a:solidFill>
              <a:latin typeface="Consolas" panose="020B0609020204030204" pitchFamily="49" charset="0"/>
            </a:endParaRPr>
          </a:p>
        </p:txBody>
      </p:sp>
      <p:sp>
        <p:nvSpPr>
          <p:cNvPr id="205" name="正方形/長方形 204">
            <a:extLst>
              <a:ext uri="{FF2B5EF4-FFF2-40B4-BE49-F238E27FC236}">
                <a16:creationId xmlns:a16="http://schemas.microsoft.com/office/drawing/2014/main" id="{BEFA14A6-65F9-0953-DDE8-E9C260EB6749}"/>
              </a:ext>
            </a:extLst>
          </p:cNvPr>
          <p:cNvSpPr/>
          <p:nvPr/>
        </p:nvSpPr>
        <p:spPr>
          <a:xfrm>
            <a:off x="431954" y="1718981"/>
            <a:ext cx="450005" cy="307777"/>
          </a:xfrm>
          <a:prstGeom prst="rect">
            <a:avLst/>
          </a:prstGeom>
        </p:spPr>
        <p:txBody>
          <a:bodyPr wrap="square">
            <a:spAutoFit/>
          </a:bodyPr>
          <a:lstStyle/>
          <a:p>
            <a:pPr algn="ctr"/>
            <a:r>
              <a:rPr lang="en-US" altLang="ja-JP" sz="1400" dirty="0">
                <a:solidFill>
                  <a:schemeClr val="tx1">
                    <a:lumMod val="65000"/>
                    <a:lumOff val="35000"/>
                  </a:schemeClr>
                </a:solidFill>
                <a:latin typeface="Consolas" panose="020B0609020204030204" pitchFamily="49" charset="0"/>
              </a:rPr>
              <a:t>I3</a:t>
            </a:r>
            <a:endParaRPr lang="ja-JP" altLang="en-US" sz="1400" dirty="0">
              <a:solidFill>
                <a:schemeClr val="tx1">
                  <a:lumMod val="65000"/>
                  <a:lumOff val="35000"/>
                </a:schemeClr>
              </a:solidFill>
              <a:latin typeface="Consolas" panose="020B0609020204030204" pitchFamily="49" charset="0"/>
            </a:endParaRPr>
          </a:p>
        </p:txBody>
      </p:sp>
      <p:sp>
        <p:nvSpPr>
          <p:cNvPr id="206" name="正方形/長方形 205">
            <a:extLst>
              <a:ext uri="{FF2B5EF4-FFF2-40B4-BE49-F238E27FC236}">
                <a16:creationId xmlns:a16="http://schemas.microsoft.com/office/drawing/2014/main" id="{F7CDA43B-6DAE-D1F7-56B6-414B83F37AA3}"/>
              </a:ext>
            </a:extLst>
          </p:cNvPr>
          <p:cNvSpPr/>
          <p:nvPr/>
        </p:nvSpPr>
        <p:spPr>
          <a:xfrm>
            <a:off x="431954" y="1988984"/>
            <a:ext cx="450005" cy="307777"/>
          </a:xfrm>
          <a:prstGeom prst="rect">
            <a:avLst/>
          </a:prstGeom>
        </p:spPr>
        <p:txBody>
          <a:bodyPr wrap="square">
            <a:spAutoFit/>
          </a:bodyPr>
          <a:lstStyle/>
          <a:p>
            <a:pPr algn="ctr"/>
            <a:r>
              <a:rPr lang="en-US" altLang="ja-JP" sz="1400" dirty="0">
                <a:solidFill>
                  <a:schemeClr val="tx1">
                    <a:lumMod val="65000"/>
                    <a:lumOff val="35000"/>
                  </a:schemeClr>
                </a:solidFill>
                <a:latin typeface="Consolas" panose="020B0609020204030204" pitchFamily="49" charset="0"/>
              </a:rPr>
              <a:t>I4</a:t>
            </a:r>
            <a:endParaRPr lang="ja-JP" altLang="en-US" sz="1400" dirty="0">
              <a:solidFill>
                <a:schemeClr val="tx1">
                  <a:lumMod val="65000"/>
                  <a:lumOff val="35000"/>
                </a:schemeClr>
              </a:solidFill>
              <a:latin typeface="Consolas" panose="020B0609020204030204" pitchFamily="49" charset="0"/>
            </a:endParaRPr>
          </a:p>
        </p:txBody>
      </p:sp>
      <p:sp>
        <p:nvSpPr>
          <p:cNvPr id="207" name="正方形/長方形 206">
            <a:extLst>
              <a:ext uri="{FF2B5EF4-FFF2-40B4-BE49-F238E27FC236}">
                <a16:creationId xmlns:a16="http://schemas.microsoft.com/office/drawing/2014/main" id="{A42192FF-2DBE-2778-773E-7CE671B5A7F2}"/>
              </a:ext>
            </a:extLst>
          </p:cNvPr>
          <p:cNvSpPr/>
          <p:nvPr/>
        </p:nvSpPr>
        <p:spPr>
          <a:xfrm>
            <a:off x="431954" y="2258987"/>
            <a:ext cx="450005" cy="307777"/>
          </a:xfrm>
          <a:prstGeom prst="rect">
            <a:avLst/>
          </a:prstGeom>
        </p:spPr>
        <p:txBody>
          <a:bodyPr wrap="square">
            <a:spAutoFit/>
          </a:bodyPr>
          <a:lstStyle/>
          <a:p>
            <a:pPr algn="ctr"/>
            <a:r>
              <a:rPr lang="en-US" altLang="ja-JP" sz="1400" dirty="0">
                <a:solidFill>
                  <a:schemeClr val="tx1">
                    <a:lumMod val="65000"/>
                    <a:lumOff val="35000"/>
                  </a:schemeClr>
                </a:solidFill>
                <a:latin typeface="Consolas" panose="020B0609020204030204" pitchFamily="49" charset="0"/>
              </a:rPr>
              <a:t>I5</a:t>
            </a:r>
            <a:endParaRPr lang="ja-JP" altLang="en-US" sz="1400" dirty="0">
              <a:solidFill>
                <a:schemeClr val="tx1">
                  <a:lumMod val="65000"/>
                  <a:lumOff val="35000"/>
                </a:schemeClr>
              </a:solidFill>
              <a:latin typeface="Consolas" panose="020B0609020204030204" pitchFamily="49" charset="0"/>
            </a:endParaRPr>
          </a:p>
        </p:txBody>
      </p:sp>
      <p:sp>
        <p:nvSpPr>
          <p:cNvPr id="208" name="正方形/長方形 207">
            <a:extLst>
              <a:ext uri="{FF2B5EF4-FFF2-40B4-BE49-F238E27FC236}">
                <a16:creationId xmlns:a16="http://schemas.microsoft.com/office/drawing/2014/main" id="{6B0AABDA-871B-1BEE-71B8-8BC3CB984E7F}"/>
              </a:ext>
            </a:extLst>
          </p:cNvPr>
          <p:cNvSpPr/>
          <p:nvPr/>
        </p:nvSpPr>
        <p:spPr>
          <a:xfrm>
            <a:off x="431954" y="2978995"/>
            <a:ext cx="450005" cy="307777"/>
          </a:xfrm>
          <a:prstGeom prst="rect">
            <a:avLst/>
          </a:prstGeom>
        </p:spPr>
        <p:txBody>
          <a:bodyPr wrap="square">
            <a:spAutoFit/>
          </a:bodyPr>
          <a:lstStyle/>
          <a:p>
            <a:pPr algn="ctr"/>
            <a:r>
              <a:rPr lang="en-US" altLang="ja-JP" sz="1400" dirty="0">
                <a:solidFill>
                  <a:schemeClr val="tx1">
                    <a:lumMod val="65000"/>
                    <a:lumOff val="35000"/>
                  </a:schemeClr>
                </a:solidFill>
                <a:latin typeface="Consolas" panose="020B0609020204030204" pitchFamily="49" charset="0"/>
              </a:rPr>
              <a:t>I0</a:t>
            </a:r>
            <a:endParaRPr lang="ja-JP" altLang="en-US" sz="1400" dirty="0">
              <a:solidFill>
                <a:schemeClr val="tx1">
                  <a:lumMod val="65000"/>
                  <a:lumOff val="35000"/>
                </a:schemeClr>
              </a:solidFill>
              <a:latin typeface="Consolas" panose="020B0609020204030204" pitchFamily="49" charset="0"/>
            </a:endParaRPr>
          </a:p>
        </p:txBody>
      </p:sp>
      <p:sp>
        <p:nvSpPr>
          <p:cNvPr id="209" name="正方形/長方形 208">
            <a:extLst>
              <a:ext uri="{FF2B5EF4-FFF2-40B4-BE49-F238E27FC236}">
                <a16:creationId xmlns:a16="http://schemas.microsoft.com/office/drawing/2014/main" id="{64BE4FBF-08E1-7DC3-4974-1C2DF1744B3B}"/>
              </a:ext>
            </a:extLst>
          </p:cNvPr>
          <p:cNvSpPr/>
          <p:nvPr/>
        </p:nvSpPr>
        <p:spPr>
          <a:xfrm>
            <a:off x="431954" y="3248998"/>
            <a:ext cx="450005" cy="307777"/>
          </a:xfrm>
          <a:prstGeom prst="rect">
            <a:avLst/>
          </a:prstGeom>
        </p:spPr>
        <p:txBody>
          <a:bodyPr wrap="square">
            <a:spAutoFit/>
          </a:bodyPr>
          <a:lstStyle/>
          <a:p>
            <a:pPr algn="ctr"/>
            <a:r>
              <a:rPr lang="en-US" altLang="ja-JP" sz="1400" dirty="0">
                <a:solidFill>
                  <a:schemeClr val="tx1">
                    <a:lumMod val="65000"/>
                    <a:lumOff val="35000"/>
                  </a:schemeClr>
                </a:solidFill>
                <a:latin typeface="Consolas" panose="020B0609020204030204" pitchFamily="49" charset="0"/>
              </a:rPr>
              <a:t>I1</a:t>
            </a:r>
            <a:endParaRPr lang="ja-JP" altLang="en-US" sz="1400" dirty="0">
              <a:solidFill>
                <a:schemeClr val="tx1">
                  <a:lumMod val="65000"/>
                  <a:lumOff val="35000"/>
                </a:schemeClr>
              </a:solidFill>
              <a:latin typeface="Consolas" panose="020B0609020204030204" pitchFamily="49" charset="0"/>
            </a:endParaRPr>
          </a:p>
        </p:txBody>
      </p:sp>
      <p:sp>
        <p:nvSpPr>
          <p:cNvPr id="210" name="正方形/長方形 209">
            <a:extLst>
              <a:ext uri="{FF2B5EF4-FFF2-40B4-BE49-F238E27FC236}">
                <a16:creationId xmlns:a16="http://schemas.microsoft.com/office/drawing/2014/main" id="{E07A42F9-1CDE-08B0-D8AC-0A4FAC5A2230}"/>
              </a:ext>
            </a:extLst>
          </p:cNvPr>
          <p:cNvSpPr/>
          <p:nvPr/>
        </p:nvSpPr>
        <p:spPr>
          <a:xfrm>
            <a:off x="521955" y="5679025"/>
            <a:ext cx="450005" cy="307777"/>
          </a:xfrm>
          <a:prstGeom prst="rect">
            <a:avLst/>
          </a:prstGeom>
        </p:spPr>
        <p:txBody>
          <a:bodyPr wrap="square">
            <a:spAutoFit/>
          </a:bodyPr>
          <a:lstStyle/>
          <a:p>
            <a:pPr algn="ctr"/>
            <a:r>
              <a:rPr lang="en-US" altLang="ja-JP" sz="1400" dirty="0">
                <a:solidFill>
                  <a:schemeClr val="tx1">
                    <a:lumMod val="65000"/>
                    <a:lumOff val="35000"/>
                  </a:schemeClr>
                </a:solidFill>
                <a:latin typeface="Consolas" panose="020B0609020204030204" pitchFamily="49" charset="0"/>
              </a:rPr>
              <a:t>I2</a:t>
            </a:r>
            <a:endParaRPr lang="ja-JP" altLang="en-US" sz="1400" dirty="0">
              <a:solidFill>
                <a:schemeClr val="tx1">
                  <a:lumMod val="65000"/>
                  <a:lumOff val="35000"/>
                </a:schemeClr>
              </a:solidFill>
              <a:latin typeface="Consolas" panose="020B0609020204030204" pitchFamily="49" charset="0"/>
            </a:endParaRPr>
          </a:p>
        </p:txBody>
      </p:sp>
      <p:sp>
        <p:nvSpPr>
          <p:cNvPr id="211" name="正方形/長方形 210">
            <a:extLst>
              <a:ext uri="{FF2B5EF4-FFF2-40B4-BE49-F238E27FC236}">
                <a16:creationId xmlns:a16="http://schemas.microsoft.com/office/drawing/2014/main" id="{AF8D2CD2-2885-3972-12B6-2A08FD050F1E}"/>
              </a:ext>
            </a:extLst>
          </p:cNvPr>
          <p:cNvSpPr/>
          <p:nvPr/>
        </p:nvSpPr>
        <p:spPr>
          <a:xfrm>
            <a:off x="521955" y="5949028"/>
            <a:ext cx="450005" cy="307777"/>
          </a:xfrm>
          <a:prstGeom prst="rect">
            <a:avLst/>
          </a:prstGeom>
        </p:spPr>
        <p:txBody>
          <a:bodyPr wrap="square">
            <a:spAutoFit/>
          </a:bodyPr>
          <a:lstStyle/>
          <a:p>
            <a:pPr algn="ctr"/>
            <a:r>
              <a:rPr lang="en-US" altLang="ja-JP" sz="1400" dirty="0">
                <a:solidFill>
                  <a:schemeClr val="tx1">
                    <a:lumMod val="65000"/>
                    <a:lumOff val="35000"/>
                  </a:schemeClr>
                </a:solidFill>
                <a:latin typeface="Consolas" panose="020B0609020204030204" pitchFamily="49" charset="0"/>
              </a:rPr>
              <a:t>I3</a:t>
            </a:r>
            <a:endParaRPr lang="ja-JP" altLang="en-US" sz="1400" dirty="0">
              <a:solidFill>
                <a:schemeClr val="tx1">
                  <a:lumMod val="65000"/>
                  <a:lumOff val="35000"/>
                </a:schemeClr>
              </a:solidFill>
              <a:latin typeface="Consolas" panose="020B0609020204030204" pitchFamily="49" charset="0"/>
            </a:endParaRPr>
          </a:p>
        </p:txBody>
      </p:sp>
      <p:sp>
        <p:nvSpPr>
          <p:cNvPr id="212" name="正方形/長方形 211">
            <a:extLst>
              <a:ext uri="{FF2B5EF4-FFF2-40B4-BE49-F238E27FC236}">
                <a16:creationId xmlns:a16="http://schemas.microsoft.com/office/drawing/2014/main" id="{95994507-86FE-26CE-A37D-2BFB81A2BA21}"/>
              </a:ext>
            </a:extLst>
          </p:cNvPr>
          <p:cNvSpPr/>
          <p:nvPr/>
        </p:nvSpPr>
        <p:spPr>
          <a:xfrm>
            <a:off x="521955" y="6219031"/>
            <a:ext cx="450005" cy="307777"/>
          </a:xfrm>
          <a:prstGeom prst="rect">
            <a:avLst/>
          </a:prstGeom>
        </p:spPr>
        <p:txBody>
          <a:bodyPr wrap="square">
            <a:spAutoFit/>
          </a:bodyPr>
          <a:lstStyle/>
          <a:p>
            <a:pPr algn="ctr"/>
            <a:r>
              <a:rPr lang="en-US" altLang="ja-JP" sz="1400" dirty="0">
                <a:solidFill>
                  <a:schemeClr val="tx1">
                    <a:lumMod val="65000"/>
                    <a:lumOff val="35000"/>
                  </a:schemeClr>
                </a:solidFill>
                <a:latin typeface="Consolas" panose="020B0609020204030204" pitchFamily="49" charset="0"/>
              </a:rPr>
              <a:t>I4</a:t>
            </a:r>
            <a:endParaRPr lang="ja-JP" altLang="en-US" sz="1400" dirty="0">
              <a:solidFill>
                <a:schemeClr val="tx1">
                  <a:lumMod val="65000"/>
                  <a:lumOff val="35000"/>
                </a:schemeClr>
              </a:solidFill>
              <a:latin typeface="Consolas" panose="020B0609020204030204" pitchFamily="49" charset="0"/>
            </a:endParaRPr>
          </a:p>
        </p:txBody>
      </p:sp>
      <p:sp>
        <p:nvSpPr>
          <p:cNvPr id="213" name="正方形/長方形 212">
            <a:extLst>
              <a:ext uri="{FF2B5EF4-FFF2-40B4-BE49-F238E27FC236}">
                <a16:creationId xmlns:a16="http://schemas.microsoft.com/office/drawing/2014/main" id="{217EEC53-076D-5C2C-D16B-DBE6C3229703}"/>
              </a:ext>
            </a:extLst>
          </p:cNvPr>
          <p:cNvSpPr/>
          <p:nvPr/>
        </p:nvSpPr>
        <p:spPr>
          <a:xfrm>
            <a:off x="521955" y="6489034"/>
            <a:ext cx="450005" cy="307777"/>
          </a:xfrm>
          <a:prstGeom prst="rect">
            <a:avLst/>
          </a:prstGeom>
        </p:spPr>
        <p:txBody>
          <a:bodyPr wrap="square">
            <a:spAutoFit/>
          </a:bodyPr>
          <a:lstStyle/>
          <a:p>
            <a:pPr algn="ctr"/>
            <a:r>
              <a:rPr lang="en-US" altLang="ja-JP" sz="1400" dirty="0">
                <a:solidFill>
                  <a:schemeClr val="tx1">
                    <a:lumMod val="65000"/>
                    <a:lumOff val="35000"/>
                  </a:schemeClr>
                </a:solidFill>
                <a:latin typeface="Consolas" panose="020B0609020204030204" pitchFamily="49" charset="0"/>
              </a:rPr>
              <a:t>I5</a:t>
            </a:r>
            <a:endParaRPr lang="ja-JP" altLang="en-US" sz="1400" dirty="0">
              <a:solidFill>
                <a:schemeClr val="tx1">
                  <a:lumMod val="65000"/>
                  <a:lumOff val="35000"/>
                </a:schemeClr>
              </a:solidFill>
              <a:latin typeface="Consolas" panose="020B0609020204030204" pitchFamily="49" charset="0"/>
            </a:endParaRPr>
          </a:p>
        </p:txBody>
      </p:sp>
    </p:spTree>
    <p:extLst>
      <p:ext uri="{BB962C8B-B14F-4D97-AF65-F5344CB8AC3E}">
        <p14:creationId xmlns:p14="http://schemas.microsoft.com/office/powerpoint/2010/main" val="327231319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BC5A7B2-C863-927A-116C-8C441C160174}"/>
              </a:ext>
            </a:extLst>
          </p:cNvPr>
          <p:cNvSpPr>
            <a:spLocks noGrp="1"/>
          </p:cNvSpPr>
          <p:nvPr>
            <p:ph type="title"/>
          </p:nvPr>
        </p:nvSpPr>
        <p:spPr/>
        <p:txBody>
          <a:bodyPr/>
          <a:lstStyle/>
          <a:p>
            <a:r>
              <a:rPr lang="ja-JP" altLang="en-US" dirty="0"/>
              <a:t>分岐予測ミスによる実行サイクルの増加のモデル</a:t>
            </a:r>
            <a:endParaRPr kumimoji="1" lang="en-US" dirty="0"/>
          </a:p>
        </p:txBody>
      </p:sp>
      <p:sp>
        <p:nvSpPr>
          <p:cNvPr id="3" name="コンテンツ プレースホルダー 2">
            <a:extLst>
              <a:ext uri="{FF2B5EF4-FFF2-40B4-BE49-F238E27FC236}">
                <a16:creationId xmlns:a16="http://schemas.microsoft.com/office/drawing/2014/main" id="{7A388F3E-9D46-BE60-22D7-DE67BE9600EC}"/>
              </a:ext>
            </a:extLst>
          </p:cNvPr>
          <p:cNvSpPr>
            <a:spLocks noGrp="1"/>
          </p:cNvSpPr>
          <p:nvPr>
            <p:ph sz="quarter" idx="10"/>
          </p:nvPr>
        </p:nvSpPr>
        <p:spPr/>
        <p:txBody>
          <a:bodyPr/>
          <a:lstStyle/>
          <a:p>
            <a:r>
              <a:rPr kumimoji="1" lang="ja-JP" altLang="en-US" dirty="0"/>
              <a:t>まとめると･･･</a:t>
            </a:r>
            <a:endParaRPr kumimoji="1" lang="en-US" altLang="ja-JP" dirty="0"/>
          </a:p>
          <a:p>
            <a:pPr lvl="1"/>
            <a:r>
              <a:rPr kumimoji="1" lang="ja-JP" altLang="en-US" dirty="0">
                <a:solidFill>
                  <a:schemeClr val="accent5"/>
                </a:solidFill>
              </a:rPr>
              <a:t>予測ミス毎に，実行サイクル数がペナルティの分だけ伸びる</a:t>
            </a:r>
            <a:endParaRPr kumimoji="1" lang="en-US" altLang="ja-JP" dirty="0">
              <a:solidFill>
                <a:schemeClr val="accent5"/>
              </a:solidFill>
            </a:endParaRPr>
          </a:p>
          <a:p>
            <a:pPr lvl="2"/>
            <a:r>
              <a:rPr kumimoji="1" lang="ja-JP" altLang="en-US" dirty="0"/>
              <a:t>ペナルティは（パイプライン段数 </a:t>
            </a:r>
            <a:r>
              <a:rPr kumimoji="1" lang="en-US" altLang="ja-JP" dirty="0"/>
              <a:t>– 1</a:t>
            </a:r>
            <a:r>
              <a:rPr kumimoji="1" lang="ja-JP" altLang="en-US" dirty="0"/>
              <a:t>）サイクル</a:t>
            </a:r>
            <a:endParaRPr kumimoji="1" lang="en-US" altLang="ja-JP" dirty="0"/>
          </a:p>
          <a:p>
            <a:pPr lvl="2"/>
            <a:r>
              <a:rPr kumimoji="1" lang="ja-JP" altLang="en-US" dirty="0"/>
              <a:t>スカラでもスーパスカラでも同じ</a:t>
            </a:r>
            <a:endParaRPr kumimoji="1" lang="en-US" dirty="0"/>
          </a:p>
        </p:txBody>
      </p:sp>
    </p:spTree>
    <p:extLst>
      <p:ext uri="{BB962C8B-B14F-4D97-AF65-F5344CB8AC3E}">
        <p14:creationId xmlns:p14="http://schemas.microsoft.com/office/powerpoint/2010/main" val="400408717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43DF8F5-B166-84F8-727E-88F2D154DDC3}"/>
              </a:ext>
            </a:extLst>
          </p:cNvPr>
          <p:cNvSpPr>
            <a:spLocks noGrp="1"/>
          </p:cNvSpPr>
          <p:nvPr>
            <p:ph type="title"/>
          </p:nvPr>
        </p:nvSpPr>
        <p:spPr/>
        <p:txBody>
          <a:bodyPr/>
          <a:lstStyle/>
          <a:p>
            <a:r>
              <a:rPr kumimoji="1" lang="ja-JP" altLang="en-US" sz="2000" dirty="0"/>
              <a:t>ペナルティは（パイプライン段数 </a:t>
            </a:r>
            <a:r>
              <a:rPr kumimoji="1" lang="en-US" altLang="ja-JP" sz="2000" dirty="0"/>
              <a:t>– 1</a:t>
            </a:r>
            <a:r>
              <a:rPr kumimoji="1" lang="ja-JP" altLang="en-US" sz="2000" dirty="0"/>
              <a:t>）サイクル</a:t>
            </a:r>
            <a:br>
              <a:rPr kumimoji="1" lang="en-US" altLang="ja-JP" sz="2000" dirty="0"/>
            </a:br>
            <a:r>
              <a:rPr kumimoji="1" lang="ja-JP" altLang="en-US" sz="2000" dirty="0"/>
              <a:t>取り消される命令数は増えるが，時間は同じ</a:t>
            </a:r>
            <a:endParaRPr kumimoji="1" lang="en-US" sz="2000" dirty="0"/>
          </a:p>
        </p:txBody>
      </p:sp>
      <p:sp>
        <p:nvSpPr>
          <p:cNvPr id="6" name="平行四辺形 5">
            <a:extLst>
              <a:ext uri="{FF2B5EF4-FFF2-40B4-BE49-F238E27FC236}">
                <a16:creationId xmlns:a16="http://schemas.microsoft.com/office/drawing/2014/main" id="{924A0410-E82C-0C3E-5D17-009BF319D2DA}"/>
              </a:ext>
            </a:extLst>
          </p:cNvPr>
          <p:cNvSpPr/>
          <p:nvPr/>
        </p:nvSpPr>
        <p:spPr bwMode="auto">
          <a:xfrm>
            <a:off x="161951" y="2168986"/>
            <a:ext cx="15624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sp>
        <p:nvSpPr>
          <p:cNvPr id="9" name="平行四辺形 8">
            <a:extLst>
              <a:ext uri="{FF2B5EF4-FFF2-40B4-BE49-F238E27FC236}">
                <a16:creationId xmlns:a16="http://schemas.microsoft.com/office/drawing/2014/main" id="{F3F9C887-A1F6-5400-D621-B89E230B60DC}"/>
              </a:ext>
            </a:extLst>
          </p:cNvPr>
          <p:cNvSpPr/>
          <p:nvPr/>
        </p:nvSpPr>
        <p:spPr bwMode="auto">
          <a:xfrm>
            <a:off x="1602111" y="2168986"/>
            <a:ext cx="15624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sp>
        <p:nvSpPr>
          <p:cNvPr id="12" name="平行四辺形 11">
            <a:extLst>
              <a:ext uri="{FF2B5EF4-FFF2-40B4-BE49-F238E27FC236}">
                <a16:creationId xmlns:a16="http://schemas.microsoft.com/office/drawing/2014/main" id="{749A4345-BE4C-48B8-1C25-D053078D38F1}"/>
              </a:ext>
            </a:extLst>
          </p:cNvPr>
          <p:cNvSpPr/>
          <p:nvPr/>
        </p:nvSpPr>
        <p:spPr bwMode="auto">
          <a:xfrm>
            <a:off x="3042271" y="2168986"/>
            <a:ext cx="15624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sp>
        <p:nvSpPr>
          <p:cNvPr id="16" name="正方形/長方形 15">
            <a:extLst>
              <a:ext uri="{FF2B5EF4-FFF2-40B4-BE49-F238E27FC236}">
                <a16:creationId xmlns:a16="http://schemas.microsoft.com/office/drawing/2014/main" id="{6ED1F96C-52BF-AD99-74CE-13E0B4D5E90A}"/>
              </a:ext>
            </a:extLst>
          </p:cNvPr>
          <p:cNvSpPr/>
          <p:nvPr/>
        </p:nvSpPr>
        <p:spPr>
          <a:xfrm>
            <a:off x="611956" y="1268976"/>
            <a:ext cx="900010"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05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予測器</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a:t>
            </a:r>
          </a:p>
        </p:txBody>
      </p:sp>
      <p:sp>
        <p:nvSpPr>
          <p:cNvPr id="19" name="正方形/長方形 18">
            <a:extLst>
              <a:ext uri="{FF2B5EF4-FFF2-40B4-BE49-F238E27FC236}">
                <a16:creationId xmlns:a16="http://schemas.microsoft.com/office/drawing/2014/main" id="{08644A07-6BA2-3F97-1CBE-EC276B367423}"/>
              </a:ext>
            </a:extLst>
          </p:cNvPr>
          <p:cNvSpPr/>
          <p:nvPr/>
        </p:nvSpPr>
        <p:spPr>
          <a:xfrm>
            <a:off x="6372020" y="1268976"/>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dirty="0"/>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4" name="角丸四角形 23">
            <a:extLst>
              <a:ext uri="{FF2B5EF4-FFF2-40B4-BE49-F238E27FC236}">
                <a16:creationId xmlns:a16="http://schemas.microsoft.com/office/drawing/2014/main" id="{16DF9B34-629E-FC8F-A73C-B3E291C266B6}"/>
              </a:ext>
            </a:extLst>
          </p:cNvPr>
          <p:cNvSpPr/>
          <p:nvPr/>
        </p:nvSpPr>
        <p:spPr bwMode="auto">
          <a:xfrm>
            <a:off x="3581989" y="1988984"/>
            <a:ext cx="450006"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r>
              <a:rPr lang="en-US" altLang="ja-JP" dirty="0">
                <a:latin typeface="Arial Narrow" panose="020B0606020202030204" pitchFamily="34" charset="0"/>
              </a:rPr>
              <a:t>...</a:t>
            </a:r>
            <a:endParaRPr lang="ja-JP" altLang="en-US" dirty="0">
              <a:latin typeface="Arial Narrow" panose="020B0606020202030204" pitchFamily="34" charset="0"/>
            </a:endParaRPr>
          </a:p>
        </p:txBody>
      </p:sp>
      <p:sp>
        <p:nvSpPr>
          <p:cNvPr id="26" name="角丸四角形吹き出し 26">
            <a:extLst>
              <a:ext uri="{FF2B5EF4-FFF2-40B4-BE49-F238E27FC236}">
                <a16:creationId xmlns:a16="http://schemas.microsoft.com/office/drawing/2014/main" id="{E5C149EB-9555-8015-692A-837036F80A4F}"/>
              </a:ext>
            </a:extLst>
          </p:cNvPr>
          <p:cNvSpPr/>
          <p:nvPr/>
        </p:nvSpPr>
        <p:spPr bwMode="auto">
          <a:xfrm>
            <a:off x="6983976" y="728970"/>
            <a:ext cx="1980022" cy="612648"/>
          </a:xfrm>
          <a:prstGeom prst="wedgeRoundRectCallout">
            <a:avLst>
              <a:gd name="adj1" fmla="val -42160"/>
              <a:gd name="adj2" fmla="val 92539"/>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dirty="0">
                <a:solidFill>
                  <a:schemeClr val="tx1">
                    <a:lumMod val="65000"/>
                    <a:lumOff val="35000"/>
                  </a:schemeClr>
                </a:solidFill>
                <a:latin typeface="Arial Narrow" panose="020B0606020202030204" pitchFamily="34" charset="0"/>
              </a:rPr>
              <a:t>間違っとるが</a:t>
            </a:r>
            <a:r>
              <a:rPr kumimoji="1" lang="ja-JP" altLang="en-US" dirty="0" err="1">
                <a:solidFill>
                  <a:schemeClr val="tx1">
                    <a:lumMod val="65000"/>
                    <a:lumOff val="35000"/>
                  </a:schemeClr>
                </a:solidFill>
                <a:latin typeface="Arial Narrow" panose="020B0606020202030204" pitchFamily="34" charset="0"/>
              </a:rPr>
              <a:t>な</a:t>
            </a:r>
            <a:endParaRPr kumimoji="1" lang="ja-JP" altLang="en-US" dirty="0">
              <a:solidFill>
                <a:schemeClr val="tx1">
                  <a:lumMod val="65000"/>
                  <a:lumOff val="35000"/>
                </a:schemeClr>
              </a:solidFill>
              <a:latin typeface="Arial Narrow" panose="020B0606020202030204" pitchFamily="34" charset="0"/>
            </a:endParaRPr>
          </a:p>
        </p:txBody>
      </p:sp>
      <p:sp>
        <p:nvSpPr>
          <p:cNvPr id="27" name="角丸四角形 27">
            <a:extLst>
              <a:ext uri="{FF2B5EF4-FFF2-40B4-BE49-F238E27FC236}">
                <a16:creationId xmlns:a16="http://schemas.microsoft.com/office/drawing/2014/main" id="{ABF75782-6CD1-727C-25AF-F709C7728C91}"/>
              </a:ext>
            </a:extLst>
          </p:cNvPr>
          <p:cNvSpPr/>
          <p:nvPr/>
        </p:nvSpPr>
        <p:spPr bwMode="auto">
          <a:xfrm>
            <a:off x="2231974" y="1988984"/>
            <a:ext cx="450005"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r>
              <a:rPr kumimoji="1" lang="en-US" altLang="ja-JP" dirty="0">
                <a:latin typeface="Arial Narrow" panose="020B0606020202030204" pitchFamily="34" charset="0"/>
              </a:rPr>
              <a:t>…</a:t>
            </a:r>
            <a:endParaRPr kumimoji="1" lang="ja-JP" altLang="en-US" dirty="0">
              <a:latin typeface="Arial Narrow" panose="020B0606020202030204" pitchFamily="34" charset="0"/>
            </a:endParaRPr>
          </a:p>
        </p:txBody>
      </p:sp>
      <p:sp>
        <p:nvSpPr>
          <p:cNvPr id="28" name="角丸四角形 28">
            <a:extLst>
              <a:ext uri="{FF2B5EF4-FFF2-40B4-BE49-F238E27FC236}">
                <a16:creationId xmlns:a16="http://schemas.microsoft.com/office/drawing/2014/main" id="{25891D38-133B-1A48-C38D-F0D14D69CD32}"/>
              </a:ext>
            </a:extLst>
          </p:cNvPr>
          <p:cNvSpPr/>
          <p:nvPr/>
        </p:nvSpPr>
        <p:spPr bwMode="auto">
          <a:xfrm>
            <a:off x="791957" y="1988984"/>
            <a:ext cx="450005"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r>
              <a:rPr kumimoji="1" lang="en-US" altLang="ja-JP" dirty="0">
                <a:latin typeface="Arial Narrow" panose="020B0606020202030204" pitchFamily="34" charset="0"/>
              </a:rPr>
              <a:t>…</a:t>
            </a:r>
            <a:endParaRPr kumimoji="1" lang="ja-JP" altLang="en-US" dirty="0">
              <a:latin typeface="Arial Narrow" panose="020B0606020202030204" pitchFamily="34" charset="0"/>
            </a:endParaRPr>
          </a:p>
        </p:txBody>
      </p:sp>
      <p:sp>
        <p:nvSpPr>
          <p:cNvPr id="31" name="平行四辺形 30">
            <a:extLst>
              <a:ext uri="{FF2B5EF4-FFF2-40B4-BE49-F238E27FC236}">
                <a16:creationId xmlns:a16="http://schemas.microsoft.com/office/drawing/2014/main" id="{A0D2B890-3FBD-6740-6EA3-487C95E1B8E8}"/>
              </a:ext>
            </a:extLst>
          </p:cNvPr>
          <p:cNvSpPr/>
          <p:nvPr/>
        </p:nvSpPr>
        <p:spPr bwMode="auto">
          <a:xfrm>
            <a:off x="4481999" y="2168986"/>
            <a:ext cx="1562400" cy="504056"/>
          </a:xfrm>
          <a:prstGeom prst="parallelogram">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sp>
        <p:nvSpPr>
          <p:cNvPr id="15" name="平行四辺形 14">
            <a:extLst>
              <a:ext uri="{FF2B5EF4-FFF2-40B4-BE49-F238E27FC236}">
                <a16:creationId xmlns:a16="http://schemas.microsoft.com/office/drawing/2014/main" id="{B77396CE-B31F-1D85-9D61-3710D94E5E05}"/>
              </a:ext>
            </a:extLst>
          </p:cNvPr>
          <p:cNvSpPr/>
          <p:nvPr/>
        </p:nvSpPr>
        <p:spPr bwMode="auto">
          <a:xfrm>
            <a:off x="5922015" y="2168986"/>
            <a:ext cx="1584176"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sp>
        <p:nvSpPr>
          <p:cNvPr id="32" name="角丸四角形 23">
            <a:extLst>
              <a:ext uri="{FF2B5EF4-FFF2-40B4-BE49-F238E27FC236}">
                <a16:creationId xmlns:a16="http://schemas.microsoft.com/office/drawing/2014/main" id="{B993F76D-9173-9CC4-065B-44844839F8B0}"/>
              </a:ext>
            </a:extLst>
          </p:cNvPr>
          <p:cNvSpPr/>
          <p:nvPr/>
        </p:nvSpPr>
        <p:spPr bwMode="auto">
          <a:xfrm>
            <a:off x="5022005" y="1988984"/>
            <a:ext cx="450006"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r>
              <a:rPr lang="en-US" altLang="ja-JP" dirty="0">
                <a:latin typeface="Arial Narrow" panose="020B0606020202030204" pitchFamily="34" charset="0"/>
              </a:rPr>
              <a:t>...</a:t>
            </a:r>
            <a:endParaRPr lang="ja-JP" altLang="en-US" dirty="0">
              <a:latin typeface="Arial Narrow" panose="020B0606020202030204" pitchFamily="34" charset="0"/>
            </a:endParaRPr>
          </a:p>
        </p:txBody>
      </p:sp>
      <p:sp>
        <p:nvSpPr>
          <p:cNvPr id="58" name="角丸四角形 89">
            <a:extLst>
              <a:ext uri="{FF2B5EF4-FFF2-40B4-BE49-F238E27FC236}">
                <a16:creationId xmlns:a16="http://schemas.microsoft.com/office/drawing/2014/main" id="{77252879-6EA2-5436-7599-BF908A68CC37}"/>
              </a:ext>
            </a:extLst>
          </p:cNvPr>
          <p:cNvSpPr/>
          <p:nvPr/>
        </p:nvSpPr>
        <p:spPr bwMode="auto">
          <a:xfrm>
            <a:off x="6552022" y="1988984"/>
            <a:ext cx="450005"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kumimoji="1" lang="en-US" altLang="ja-JP" sz="1200" dirty="0">
                <a:latin typeface="Arial Narrow" panose="020B0606020202030204" pitchFamily="34" charset="0"/>
              </a:rPr>
              <a:t>if a &gt; 0</a:t>
            </a:r>
            <a:endParaRPr kumimoji="1" lang="ja-JP" altLang="en-US" sz="1200" dirty="0">
              <a:latin typeface="Arial Narrow" panose="020B0606020202030204" pitchFamily="34" charset="0"/>
            </a:endParaRPr>
          </a:p>
        </p:txBody>
      </p:sp>
      <p:sp>
        <p:nvSpPr>
          <p:cNvPr id="4" name="角丸四角形吹き出し 3">
            <a:extLst>
              <a:ext uri="{FF2B5EF4-FFF2-40B4-BE49-F238E27FC236}">
                <a16:creationId xmlns:a16="http://schemas.microsoft.com/office/drawing/2014/main" id="{86B6A3CD-F71B-B70E-B067-DEBC61AA4A3B}"/>
              </a:ext>
            </a:extLst>
          </p:cNvPr>
          <p:cNvSpPr/>
          <p:nvPr/>
        </p:nvSpPr>
        <p:spPr bwMode="auto">
          <a:xfrm>
            <a:off x="1151962" y="728970"/>
            <a:ext cx="2520028" cy="612648"/>
          </a:xfrm>
          <a:prstGeom prst="wedgeRoundRectCallout">
            <a:avLst>
              <a:gd name="adj1" fmla="val -44943"/>
              <a:gd name="adj2" fmla="val 95784"/>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en-US" altLang="ja-JP" dirty="0">
                <a:solidFill>
                  <a:schemeClr val="tx1">
                    <a:lumMod val="65000"/>
                    <a:lumOff val="35000"/>
                  </a:schemeClr>
                </a:solidFill>
                <a:latin typeface="Arial Narrow" panose="020B0606020202030204" pitchFamily="34" charset="0"/>
              </a:rPr>
              <a:t>else </a:t>
            </a:r>
            <a:r>
              <a:rPr kumimoji="1" lang="ja-JP" altLang="en-US" dirty="0">
                <a:solidFill>
                  <a:schemeClr val="tx1">
                    <a:lumMod val="65000"/>
                    <a:lumOff val="35000"/>
                  </a:schemeClr>
                </a:solidFill>
                <a:latin typeface="Arial Narrow" panose="020B0606020202030204" pitchFamily="34" charset="0"/>
              </a:rPr>
              <a:t>じゃなかったかー</a:t>
            </a:r>
            <a:endParaRPr kumimoji="1" lang="en-US" altLang="ja-JP" dirty="0">
              <a:solidFill>
                <a:schemeClr val="tx1">
                  <a:lumMod val="65000"/>
                  <a:lumOff val="35000"/>
                </a:schemeClr>
              </a:solidFill>
              <a:latin typeface="Arial Narrow" panose="020B0606020202030204" pitchFamily="34" charset="0"/>
            </a:endParaRPr>
          </a:p>
        </p:txBody>
      </p:sp>
      <p:cxnSp>
        <p:nvCxnSpPr>
          <p:cNvPr id="7" name="直線矢印コネクタ 6">
            <a:extLst>
              <a:ext uri="{FF2B5EF4-FFF2-40B4-BE49-F238E27FC236}">
                <a16:creationId xmlns:a16="http://schemas.microsoft.com/office/drawing/2014/main" id="{62AAC06C-177E-A477-2989-AA7ACCDE4C60}"/>
              </a:ext>
            </a:extLst>
          </p:cNvPr>
          <p:cNvCxnSpPr>
            <a:cxnSpLocks/>
          </p:cNvCxnSpPr>
          <p:nvPr/>
        </p:nvCxnSpPr>
        <p:spPr bwMode="auto">
          <a:xfrm>
            <a:off x="161951" y="3068996"/>
            <a:ext cx="5670063" cy="0"/>
          </a:xfrm>
          <a:prstGeom prst="straightConnector1">
            <a:avLst/>
          </a:prstGeom>
          <a:noFill/>
          <a:ln w="9525" cap="flat" cmpd="sng" algn="ctr">
            <a:solidFill>
              <a:schemeClr val="tx1">
                <a:lumMod val="75000"/>
                <a:lumOff val="25000"/>
              </a:schemeClr>
            </a:solidFill>
            <a:prstDash val="solid"/>
            <a:round/>
            <a:headEnd type="triangle" w="med" len="med"/>
            <a:tailEnd type="triangle"/>
          </a:ln>
          <a:effectLst/>
        </p:spPr>
      </p:cxnSp>
      <mc:AlternateContent xmlns:mc="http://schemas.openxmlformats.org/markup-compatibility/2006" xmlns:a14="http://schemas.microsoft.com/office/drawing/2010/main">
        <mc:Choice Requires="a14">
          <p:sp>
            <p:nvSpPr>
              <p:cNvPr id="8" name="正方形/長方形 7">
                <a:extLst>
                  <a:ext uri="{FF2B5EF4-FFF2-40B4-BE49-F238E27FC236}">
                    <a16:creationId xmlns:a16="http://schemas.microsoft.com/office/drawing/2014/main" id="{E1B198A9-F9BA-3FD1-6E65-73F9BD3485BB}"/>
                  </a:ext>
                </a:extLst>
              </p:cNvPr>
              <p:cNvSpPr/>
              <p:nvPr/>
            </p:nvSpPr>
            <p:spPr>
              <a:xfrm>
                <a:off x="2771980" y="2708992"/>
                <a:ext cx="540005" cy="270003"/>
              </a:xfrm>
              <a:prstGeom prst="rect">
                <a:avLst/>
              </a:prstGeom>
            </p:spPr>
            <p:txBody>
              <a:bodyPr wrap="none">
                <a:noAutofit/>
              </a:bodyPr>
              <a:lstStyle/>
              <a:p>
                <a:pPr algn="ctr"/>
                <a:r>
                  <a:rPr lang="ja-JP" altLang="en-US" i="0" dirty="0">
                    <a:solidFill>
                      <a:schemeClr val="tx1">
                        <a:lumMod val="65000"/>
                        <a:lumOff val="35000"/>
                      </a:schemeClr>
                    </a:solidFill>
                    <a:latin typeface="+mj-lt"/>
                  </a:rPr>
                  <a:t>ペナルティ </a:t>
                </a:r>
                <a14:m>
                  <m:oMath xmlns:m="http://schemas.openxmlformats.org/officeDocument/2006/math">
                    <m:r>
                      <a:rPr lang="en-US" altLang="ja-JP" i="1" dirty="0" smtClean="0">
                        <a:solidFill>
                          <a:schemeClr val="tx1">
                            <a:lumMod val="65000"/>
                            <a:lumOff val="35000"/>
                          </a:schemeClr>
                        </a:solidFill>
                        <a:latin typeface="Cambria Math" panose="02040503050406030204" pitchFamily="18" charset="0"/>
                      </a:rPr>
                      <m:t>𝐶𝑝</m:t>
                    </m:r>
                    <m:r>
                      <a:rPr lang="en-US" altLang="ja-JP" i="1" dirty="0" smtClean="0">
                        <a:solidFill>
                          <a:schemeClr val="tx1">
                            <a:lumMod val="65000"/>
                            <a:lumOff val="35000"/>
                          </a:schemeClr>
                        </a:solidFill>
                        <a:latin typeface="Cambria Math" panose="02040503050406030204" pitchFamily="18" charset="0"/>
                      </a:rPr>
                      <m:t>=4</m:t>
                    </m:r>
                  </m:oMath>
                </a14:m>
                <a:r>
                  <a:rPr lang="en-US" altLang="ja-JP" dirty="0">
                    <a:solidFill>
                      <a:schemeClr val="tx1">
                        <a:lumMod val="65000"/>
                        <a:lumOff val="35000"/>
                      </a:schemeClr>
                    </a:solidFill>
                  </a:rPr>
                  <a:t> cycle</a:t>
                </a:r>
                <a:endParaRPr lang="ja-JP" altLang="en-US" dirty="0">
                  <a:solidFill>
                    <a:schemeClr val="tx1">
                      <a:lumMod val="65000"/>
                      <a:lumOff val="35000"/>
                    </a:schemeClr>
                  </a:solidFill>
                </a:endParaRPr>
              </a:p>
            </p:txBody>
          </p:sp>
        </mc:Choice>
        <mc:Fallback xmlns="">
          <p:sp>
            <p:nvSpPr>
              <p:cNvPr id="8" name="正方形/長方形 7">
                <a:extLst>
                  <a:ext uri="{FF2B5EF4-FFF2-40B4-BE49-F238E27FC236}">
                    <a16:creationId xmlns:a16="http://schemas.microsoft.com/office/drawing/2014/main" id="{E1B198A9-F9BA-3FD1-6E65-73F9BD3485BB}"/>
                  </a:ext>
                </a:extLst>
              </p:cNvPr>
              <p:cNvSpPr>
                <a:spLocks noRot="1" noChangeAspect="1" noMove="1" noResize="1" noEditPoints="1" noAdjustHandles="1" noChangeArrowheads="1" noChangeShapeType="1" noTextEdit="1"/>
              </p:cNvSpPr>
              <p:nvPr/>
            </p:nvSpPr>
            <p:spPr>
              <a:xfrm>
                <a:off x="2771980" y="2708992"/>
                <a:ext cx="540005" cy="270003"/>
              </a:xfrm>
              <a:prstGeom prst="rect">
                <a:avLst/>
              </a:prstGeom>
              <a:blipFill>
                <a:blip r:embed="rId2"/>
                <a:stretch>
                  <a:fillRect l="-206818" t="-17778" r="-205682" b="-73333"/>
                </a:stretch>
              </a:blipFill>
            </p:spPr>
            <p:txBody>
              <a:bodyPr/>
              <a:lstStyle/>
              <a:p>
                <a:r>
                  <a:rPr lang="en-US">
                    <a:noFill/>
                  </a:rPr>
                  <a:t> </a:t>
                </a:r>
              </a:p>
            </p:txBody>
          </p:sp>
        </mc:Fallback>
      </mc:AlternateContent>
      <p:sp>
        <p:nvSpPr>
          <p:cNvPr id="10" name="平行四辺形 9">
            <a:extLst>
              <a:ext uri="{FF2B5EF4-FFF2-40B4-BE49-F238E27FC236}">
                <a16:creationId xmlns:a16="http://schemas.microsoft.com/office/drawing/2014/main" id="{10046E87-FA9F-0AFD-E9BD-B6EDCE4B9B92}"/>
              </a:ext>
            </a:extLst>
          </p:cNvPr>
          <p:cNvSpPr/>
          <p:nvPr/>
        </p:nvSpPr>
        <p:spPr bwMode="auto">
          <a:xfrm>
            <a:off x="161951" y="5139019"/>
            <a:ext cx="15624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sp>
        <p:nvSpPr>
          <p:cNvPr id="17" name="平行四辺形 16">
            <a:extLst>
              <a:ext uri="{FF2B5EF4-FFF2-40B4-BE49-F238E27FC236}">
                <a16:creationId xmlns:a16="http://schemas.microsoft.com/office/drawing/2014/main" id="{5C62921A-B12A-5B95-1FFE-2FB356637FC2}"/>
              </a:ext>
            </a:extLst>
          </p:cNvPr>
          <p:cNvSpPr/>
          <p:nvPr/>
        </p:nvSpPr>
        <p:spPr bwMode="auto">
          <a:xfrm>
            <a:off x="1602111" y="5139019"/>
            <a:ext cx="15624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sp>
        <p:nvSpPr>
          <p:cNvPr id="18" name="平行四辺形 17">
            <a:extLst>
              <a:ext uri="{FF2B5EF4-FFF2-40B4-BE49-F238E27FC236}">
                <a16:creationId xmlns:a16="http://schemas.microsoft.com/office/drawing/2014/main" id="{6386B61F-A883-A332-D2D5-3395DDAF4150}"/>
              </a:ext>
            </a:extLst>
          </p:cNvPr>
          <p:cNvSpPr/>
          <p:nvPr/>
        </p:nvSpPr>
        <p:spPr bwMode="auto">
          <a:xfrm>
            <a:off x="3042271" y="5139019"/>
            <a:ext cx="15624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sp>
        <p:nvSpPr>
          <p:cNvPr id="20" name="角丸四角形 23">
            <a:extLst>
              <a:ext uri="{FF2B5EF4-FFF2-40B4-BE49-F238E27FC236}">
                <a16:creationId xmlns:a16="http://schemas.microsoft.com/office/drawing/2014/main" id="{88DBD828-FE4F-BAC4-EC5B-DD9052EB71D0}"/>
              </a:ext>
            </a:extLst>
          </p:cNvPr>
          <p:cNvSpPr/>
          <p:nvPr/>
        </p:nvSpPr>
        <p:spPr bwMode="auto">
          <a:xfrm>
            <a:off x="3581989" y="4959017"/>
            <a:ext cx="450006"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r>
              <a:rPr lang="en-US" altLang="ja-JP" dirty="0">
                <a:latin typeface="Arial Narrow" panose="020B0606020202030204" pitchFamily="34" charset="0"/>
              </a:rPr>
              <a:t>...</a:t>
            </a:r>
            <a:endParaRPr lang="ja-JP" altLang="en-US" dirty="0">
              <a:latin typeface="Arial Narrow" panose="020B0606020202030204" pitchFamily="34" charset="0"/>
            </a:endParaRPr>
          </a:p>
        </p:txBody>
      </p:sp>
      <p:sp>
        <p:nvSpPr>
          <p:cNvPr id="21" name="角丸四角形 27">
            <a:extLst>
              <a:ext uri="{FF2B5EF4-FFF2-40B4-BE49-F238E27FC236}">
                <a16:creationId xmlns:a16="http://schemas.microsoft.com/office/drawing/2014/main" id="{CE0559D8-C157-AABB-60DC-2D3C9605B5C5}"/>
              </a:ext>
            </a:extLst>
          </p:cNvPr>
          <p:cNvSpPr/>
          <p:nvPr/>
        </p:nvSpPr>
        <p:spPr bwMode="auto">
          <a:xfrm>
            <a:off x="2231974" y="4959017"/>
            <a:ext cx="450005"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r>
              <a:rPr kumimoji="1" lang="en-US" altLang="ja-JP" dirty="0">
                <a:latin typeface="Arial Narrow" panose="020B0606020202030204" pitchFamily="34" charset="0"/>
              </a:rPr>
              <a:t>…</a:t>
            </a:r>
            <a:endParaRPr kumimoji="1" lang="ja-JP" altLang="en-US" dirty="0">
              <a:latin typeface="Arial Narrow" panose="020B0606020202030204" pitchFamily="34" charset="0"/>
            </a:endParaRPr>
          </a:p>
        </p:txBody>
      </p:sp>
      <p:sp>
        <p:nvSpPr>
          <p:cNvPr id="22" name="角丸四角形 28">
            <a:extLst>
              <a:ext uri="{FF2B5EF4-FFF2-40B4-BE49-F238E27FC236}">
                <a16:creationId xmlns:a16="http://schemas.microsoft.com/office/drawing/2014/main" id="{803EE3CF-8587-1363-2381-C2D4DCEE8BC5}"/>
              </a:ext>
            </a:extLst>
          </p:cNvPr>
          <p:cNvSpPr/>
          <p:nvPr/>
        </p:nvSpPr>
        <p:spPr bwMode="auto">
          <a:xfrm>
            <a:off x="791957" y="4959017"/>
            <a:ext cx="450005"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r>
              <a:rPr kumimoji="1" lang="en-US" altLang="ja-JP" dirty="0">
                <a:latin typeface="Arial Narrow" panose="020B0606020202030204" pitchFamily="34" charset="0"/>
              </a:rPr>
              <a:t>…</a:t>
            </a:r>
            <a:endParaRPr kumimoji="1" lang="ja-JP" altLang="en-US" dirty="0">
              <a:latin typeface="Arial Narrow" panose="020B0606020202030204" pitchFamily="34" charset="0"/>
            </a:endParaRPr>
          </a:p>
        </p:txBody>
      </p:sp>
      <p:sp>
        <p:nvSpPr>
          <p:cNvPr id="23" name="平行四辺形 22">
            <a:extLst>
              <a:ext uri="{FF2B5EF4-FFF2-40B4-BE49-F238E27FC236}">
                <a16:creationId xmlns:a16="http://schemas.microsoft.com/office/drawing/2014/main" id="{BB267817-FADA-80F2-3A09-FAC2115B29CA}"/>
              </a:ext>
            </a:extLst>
          </p:cNvPr>
          <p:cNvSpPr/>
          <p:nvPr/>
        </p:nvSpPr>
        <p:spPr bwMode="auto">
          <a:xfrm>
            <a:off x="4481999" y="5139019"/>
            <a:ext cx="1562400" cy="504056"/>
          </a:xfrm>
          <a:prstGeom prst="parallelogram">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sp>
        <p:nvSpPr>
          <p:cNvPr id="25" name="平行四辺形 24">
            <a:extLst>
              <a:ext uri="{FF2B5EF4-FFF2-40B4-BE49-F238E27FC236}">
                <a16:creationId xmlns:a16="http://schemas.microsoft.com/office/drawing/2014/main" id="{80EAD8D7-7ECD-02E0-E1E2-7AE85795723F}"/>
              </a:ext>
            </a:extLst>
          </p:cNvPr>
          <p:cNvSpPr/>
          <p:nvPr/>
        </p:nvSpPr>
        <p:spPr bwMode="auto">
          <a:xfrm>
            <a:off x="5922015" y="5139019"/>
            <a:ext cx="1584176"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sp>
        <p:nvSpPr>
          <p:cNvPr id="29" name="角丸四角形 23">
            <a:extLst>
              <a:ext uri="{FF2B5EF4-FFF2-40B4-BE49-F238E27FC236}">
                <a16:creationId xmlns:a16="http://schemas.microsoft.com/office/drawing/2014/main" id="{8BB2D0DF-48CA-D922-EE17-9CF40C08B8EA}"/>
              </a:ext>
            </a:extLst>
          </p:cNvPr>
          <p:cNvSpPr/>
          <p:nvPr/>
        </p:nvSpPr>
        <p:spPr bwMode="auto">
          <a:xfrm>
            <a:off x="5022005" y="4959017"/>
            <a:ext cx="450006"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r>
              <a:rPr lang="en-US" altLang="ja-JP" dirty="0">
                <a:latin typeface="Arial Narrow" panose="020B0606020202030204" pitchFamily="34" charset="0"/>
              </a:rPr>
              <a:t>...</a:t>
            </a:r>
            <a:endParaRPr lang="ja-JP" altLang="en-US" dirty="0">
              <a:latin typeface="Arial Narrow" panose="020B0606020202030204" pitchFamily="34" charset="0"/>
            </a:endParaRPr>
          </a:p>
        </p:txBody>
      </p:sp>
      <p:sp>
        <p:nvSpPr>
          <p:cNvPr id="30" name="角丸四角形 89">
            <a:extLst>
              <a:ext uri="{FF2B5EF4-FFF2-40B4-BE49-F238E27FC236}">
                <a16:creationId xmlns:a16="http://schemas.microsoft.com/office/drawing/2014/main" id="{1E5C4690-C307-585A-7CD4-2BF0E74BD3CC}"/>
              </a:ext>
            </a:extLst>
          </p:cNvPr>
          <p:cNvSpPr/>
          <p:nvPr/>
        </p:nvSpPr>
        <p:spPr bwMode="auto">
          <a:xfrm>
            <a:off x="6552022" y="4959017"/>
            <a:ext cx="450005"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kumimoji="1" lang="en-US" altLang="ja-JP" sz="1200" dirty="0">
                <a:latin typeface="Arial Narrow" panose="020B0606020202030204" pitchFamily="34" charset="0"/>
              </a:rPr>
              <a:t>if a &gt; 0</a:t>
            </a:r>
            <a:endParaRPr kumimoji="1" lang="ja-JP" altLang="en-US" sz="1200" dirty="0">
              <a:latin typeface="Arial Narrow" panose="020B0606020202030204" pitchFamily="34" charset="0"/>
            </a:endParaRPr>
          </a:p>
        </p:txBody>
      </p:sp>
      <p:cxnSp>
        <p:nvCxnSpPr>
          <p:cNvPr id="33" name="直線矢印コネクタ 32">
            <a:extLst>
              <a:ext uri="{FF2B5EF4-FFF2-40B4-BE49-F238E27FC236}">
                <a16:creationId xmlns:a16="http://schemas.microsoft.com/office/drawing/2014/main" id="{CDE36840-5FBA-89EF-3E14-1816A96A73D7}"/>
              </a:ext>
            </a:extLst>
          </p:cNvPr>
          <p:cNvCxnSpPr>
            <a:cxnSpLocks/>
          </p:cNvCxnSpPr>
          <p:nvPr/>
        </p:nvCxnSpPr>
        <p:spPr bwMode="auto">
          <a:xfrm>
            <a:off x="161951" y="6759037"/>
            <a:ext cx="5670063" cy="0"/>
          </a:xfrm>
          <a:prstGeom prst="straightConnector1">
            <a:avLst/>
          </a:prstGeom>
          <a:noFill/>
          <a:ln w="9525" cap="flat" cmpd="sng" algn="ctr">
            <a:solidFill>
              <a:schemeClr val="tx1">
                <a:lumMod val="75000"/>
                <a:lumOff val="25000"/>
              </a:schemeClr>
            </a:solidFill>
            <a:prstDash val="solid"/>
            <a:round/>
            <a:headEnd type="triangle" w="med" len="med"/>
            <a:tailEnd type="triangle"/>
          </a:ln>
          <a:effectLst/>
        </p:spPr>
      </p:cxnSp>
      <mc:AlternateContent xmlns:mc="http://schemas.openxmlformats.org/markup-compatibility/2006" xmlns:a14="http://schemas.microsoft.com/office/drawing/2010/main">
        <mc:Choice Requires="a14">
          <p:sp>
            <p:nvSpPr>
              <p:cNvPr id="46" name="正方形/長方形 45">
                <a:extLst>
                  <a:ext uri="{FF2B5EF4-FFF2-40B4-BE49-F238E27FC236}">
                    <a16:creationId xmlns:a16="http://schemas.microsoft.com/office/drawing/2014/main" id="{67D7EE48-735C-4B9D-BDD0-7FFBC4EE0575}"/>
                  </a:ext>
                </a:extLst>
              </p:cNvPr>
              <p:cNvSpPr/>
              <p:nvPr/>
            </p:nvSpPr>
            <p:spPr>
              <a:xfrm>
                <a:off x="2771980" y="6399033"/>
                <a:ext cx="540005" cy="270003"/>
              </a:xfrm>
              <a:prstGeom prst="rect">
                <a:avLst/>
              </a:prstGeom>
            </p:spPr>
            <p:txBody>
              <a:bodyPr wrap="none">
                <a:noAutofit/>
              </a:bodyPr>
              <a:lstStyle/>
              <a:p>
                <a:pPr algn="ctr"/>
                <a:r>
                  <a:rPr lang="ja-JP" altLang="en-US" i="0" dirty="0">
                    <a:solidFill>
                      <a:schemeClr val="tx1">
                        <a:lumMod val="65000"/>
                        <a:lumOff val="35000"/>
                      </a:schemeClr>
                    </a:solidFill>
                    <a:latin typeface="+mj-lt"/>
                  </a:rPr>
                  <a:t>ペナルティ </a:t>
                </a:r>
                <a14:m>
                  <m:oMath xmlns:m="http://schemas.openxmlformats.org/officeDocument/2006/math">
                    <m:r>
                      <a:rPr lang="en-US" altLang="ja-JP" i="1" dirty="0" smtClean="0">
                        <a:solidFill>
                          <a:schemeClr val="tx1">
                            <a:lumMod val="65000"/>
                            <a:lumOff val="35000"/>
                          </a:schemeClr>
                        </a:solidFill>
                        <a:latin typeface="Cambria Math" panose="02040503050406030204" pitchFamily="18" charset="0"/>
                      </a:rPr>
                      <m:t>𝐶𝑝</m:t>
                    </m:r>
                    <m:r>
                      <a:rPr lang="en-US" altLang="ja-JP" i="1" dirty="0" smtClean="0">
                        <a:solidFill>
                          <a:schemeClr val="tx1">
                            <a:lumMod val="65000"/>
                            <a:lumOff val="35000"/>
                          </a:schemeClr>
                        </a:solidFill>
                        <a:latin typeface="Cambria Math" panose="02040503050406030204" pitchFamily="18" charset="0"/>
                      </a:rPr>
                      <m:t>=4</m:t>
                    </m:r>
                  </m:oMath>
                </a14:m>
                <a:r>
                  <a:rPr lang="en-US" altLang="ja-JP" dirty="0">
                    <a:solidFill>
                      <a:schemeClr val="tx1">
                        <a:lumMod val="65000"/>
                        <a:lumOff val="35000"/>
                      </a:schemeClr>
                    </a:solidFill>
                  </a:rPr>
                  <a:t> cycle</a:t>
                </a:r>
                <a:endParaRPr lang="ja-JP" altLang="en-US" dirty="0">
                  <a:solidFill>
                    <a:schemeClr val="tx1">
                      <a:lumMod val="65000"/>
                      <a:lumOff val="35000"/>
                    </a:schemeClr>
                  </a:solidFill>
                </a:endParaRPr>
              </a:p>
            </p:txBody>
          </p:sp>
        </mc:Choice>
        <mc:Fallback xmlns="">
          <p:sp>
            <p:nvSpPr>
              <p:cNvPr id="46" name="正方形/長方形 45">
                <a:extLst>
                  <a:ext uri="{FF2B5EF4-FFF2-40B4-BE49-F238E27FC236}">
                    <a16:creationId xmlns:a16="http://schemas.microsoft.com/office/drawing/2014/main" id="{67D7EE48-735C-4B9D-BDD0-7FFBC4EE0575}"/>
                  </a:ext>
                </a:extLst>
              </p:cNvPr>
              <p:cNvSpPr>
                <a:spLocks noRot="1" noChangeAspect="1" noMove="1" noResize="1" noEditPoints="1" noAdjustHandles="1" noChangeArrowheads="1" noChangeShapeType="1" noTextEdit="1"/>
              </p:cNvSpPr>
              <p:nvPr/>
            </p:nvSpPr>
            <p:spPr>
              <a:xfrm>
                <a:off x="2771980" y="6399033"/>
                <a:ext cx="540005" cy="270003"/>
              </a:xfrm>
              <a:prstGeom prst="rect">
                <a:avLst/>
              </a:prstGeom>
              <a:blipFill>
                <a:blip r:embed="rId3"/>
                <a:stretch>
                  <a:fillRect l="-206818" t="-20455" r="-205682" b="-77273"/>
                </a:stretch>
              </a:blipFill>
            </p:spPr>
            <p:txBody>
              <a:bodyPr/>
              <a:lstStyle/>
              <a:p>
                <a:r>
                  <a:rPr lang="en-US">
                    <a:noFill/>
                  </a:rPr>
                  <a:t> </a:t>
                </a:r>
              </a:p>
            </p:txBody>
          </p:sp>
        </mc:Fallback>
      </mc:AlternateContent>
      <p:sp>
        <p:nvSpPr>
          <p:cNvPr id="55" name="平行四辺形 54">
            <a:extLst>
              <a:ext uri="{FF2B5EF4-FFF2-40B4-BE49-F238E27FC236}">
                <a16:creationId xmlns:a16="http://schemas.microsoft.com/office/drawing/2014/main" id="{CCA24E10-3D9D-9D5B-6BE4-1F6574783BAC}"/>
              </a:ext>
            </a:extLst>
          </p:cNvPr>
          <p:cNvSpPr/>
          <p:nvPr/>
        </p:nvSpPr>
        <p:spPr bwMode="auto">
          <a:xfrm>
            <a:off x="161951" y="5859027"/>
            <a:ext cx="15624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sp>
        <p:nvSpPr>
          <p:cNvPr id="56" name="平行四辺形 55">
            <a:extLst>
              <a:ext uri="{FF2B5EF4-FFF2-40B4-BE49-F238E27FC236}">
                <a16:creationId xmlns:a16="http://schemas.microsoft.com/office/drawing/2014/main" id="{AEE24F25-362E-E60F-AE24-0FE06A6EE7F7}"/>
              </a:ext>
            </a:extLst>
          </p:cNvPr>
          <p:cNvSpPr/>
          <p:nvPr/>
        </p:nvSpPr>
        <p:spPr bwMode="auto">
          <a:xfrm>
            <a:off x="1602111" y="5859027"/>
            <a:ext cx="15624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sp>
        <p:nvSpPr>
          <p:cNvPr id="59" name="平行四辺形 58">
            <a:extLst>
              <a:ext uri="{FF2B5EF4-FFF2-40B4-BE49-F238E27FC236}">
                <a16:creationId xmlns:a16="http://schemas.microsoft.com/office/drawing/2014/main" id="{1D0EDE8A-B228-5F78-01C2-850038D2E25C}"/>
              </a:ext>
            </a:extLst>
          </p:cNvPr>
          <p:cNvSpPr/>
          <p:nvPr/>
        </p:nvSpPr>
        <p:spPr bwMode="auto">
          <a:xfrm>
            <a:off x="3042271" y="5859027"/>
            <a:ext cx="15624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sp>
        <p:nvSpPr>
          <p:cNvPr id="60" name="角丸四角形 23">
            <a:extLst>
              <a:ext uri="{FF2B5EF4-FFF2-40B4-BE49-F238E27FC236}">
                <a16:creationId xmlns:a16="http://schemas.microsoft.com/office/drawing/2014/main" id="{C34DB6F5-7E43-0507-9D22-2F4256B21F82}"/>
              </a:ext>
            </a:extLst>
          </p:cNvPr>
          <p:cNvSpPr/>
          <p:nvPr/>
        </p:nvSpPr>
        <p:spPr bwMode="auto">
          <a:xfrm>
            <a:off x="3581989" y="5679025"/>
            <a:ext cx="450006"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r>
              <a:rPr lang="en-US" altLang="ja-JP" dirty="0">
                <a:latin typeface="Arial Narrow" panose="020B0606020202030204" pitchFamily="34" charset="0"/>
              </a:rPr>
              <a:t>...</a:t>
            </a:r>
            <a:endParaRPr lang="ja-JP" altLang="en-US" dirty="0">
              <a:latin typeface="Arial Narrow" panose="020B0606020202030204" pitchFamily="34" charset="0"/>
            </a:endParaRPr>
          </a:p>
        </p:txBody>
      </p:sp>
      <p:sp>
        <p:nvSpPr>
          <p:cNvPr id="61" name="角丸四角形 27">
            <a:extLst>
              <a:ext uri="{FF2B5EF4-FFF2-40B4-BE49-F238E27FC236}">
                <a16:creationId xmlns:a16="http://schemas.microsoft.com/office/drawing/2014/main" id="{7A04B190-01F4-697A-9DD9-C9616C393F44}"/>
              </a:ext>
            </a:extLst>
          </p:cNvPr>
          <p:cNvSpPr/>
          <p:nvPr/>
        </p:nvSpPr>
        <p:spPr bwMode="auto">
          <a:xfrm>
            <a:off x="2231974" y="5679025"/>
            <a:ext cx="450005"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r>
              <a:rPr kumimoji="1" lang="en-US" altLang="ja-JP" dirty="0">
                <a:latin typeface="Arial Narrow" panose="020B0606020202030204" pitchFamily="34" charset="0"/>
              </a:rPr>
              <a:t>…</a:t>
            </a:r>
            <a:endParaRPr kumimoji="1" lang="ja-JP" altLang="en-US" dirty="0">
              <a:latin typeface="Arial Narrow" panose="020B0606020202030204" pitchFamily="34" charset="0"/>
            </a:endParaRPr>
          </a:p>
        </p:txBody>
      </p:sp>
      <p:sp>
        <p:nvSpPr>
          <p:cNvPr id="62" name="角丸四角形 28">
            <a:extLst>
              <a:ext uri="{FF2B5EF4-FFF2-40B4-BE49-F238E27FC236}">
                <a16:creationId xmlns:a16="http://schemas.microsoft.com/office/drawing/2014/main" id="{FB467C29-6A9E-DBBA-4E8A-9D326F948261}"/>
              </a:ext>
            </a:extLst>
          </p:cNvPr>
          <p:cNvSpPr/>
          <p:nvPr/>
        </p:nvSpPr>
        <p:spPr bwMode="auto">
          <a:xfrm>
            <a:off x="791957" y="5679025"/>
            <a:ext cx="450005"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r>
              <a:rPr kumimoji="1" lang="en-US" altLang="ja-JP" dirty="0">
                <a:latin typeface="Arial Narrow" panose="020B0606020202030204" pitchFamily="34" charset="0"/>
              </a:rPr>
              <a:t>…</a:t>
            </a:r>
            <a:endParaRPr kumimoji="1" lang="ja-JP" altLang="en-US" dirty="0">
              <a:latin typeface="Arial Narrow" panose="020B0606020202030204" pitchFamily="34" charset="0"/>
            </a:endParaRPr>
          </a:p>
        </p:txBody>
      </p:sp>
      <p:sp>
        <p:nvSpPr>
          <p:cNvPr id="63" name="平行四辺形 62">
            <a:extLst>
              <a:ext uri="{FF2B5EF4-FFF2-40B4-BE49-F238E27FC236}">
                <a16:creationId xmlns:a16="http://schemas.microsoft.com/office/drawing/2014/main" id="{240E1835-5282-AD36-1341-6EFEDD1D5C39}"/>
              </a:ext>
            </a:extLst>
          </p:cNvPr>
          <p:cNvSpPr/>
          <p:nvPr/>
        </p:nvSpPr>
        <p:spPr bwMode="auto">
          <a:xfrm>
            <a:off x="4481999" y="5859027"/>
            <a:ext cx="1562400" cy="504056"/>
          </a:xfrm>
          <a:prstGeom prst="parallelogram">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sp>
        <p:nvSpPr>
          <p:cNvPr id="64" name="平行四辺形 63">
            <a:extLst>
              <a:ext uri="{FF2B5EF4-FFF2-40B4-BE49-F238E27FC236}">
                <a16:creationId xmlns:a16="http://schemas.microsoft.com/office/drawing/2014/main" id="{486F3C37-9BDC-BF1F-F807-F6C819901828}"/>
              </a:ext>
            </a:extLst>
          </p:cNvPr>
          <p:cNvSpPr/>
          <p:nvPr/>
        </p:nvSpPr>
        <p:spPr bwMode="auto">
          <a:xfrm>
            <a:off x="5922015" y="5859027"/>
            <a:ext cx="1584176"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sp>
        <p:nvSpPr>
          <p:cNvPr id="65" name="角丸四角形 23">
            <a:extLst>
              <a:ext uri="{FF2B5EF4-FFF2-40B4-BE49-F238E27FC236}">
                <a16:creationId xmlns:a16="http://schemas.microsoft.com/office/drawing/2014/main" id="{7F92E031-FED9-3905-4587-67AA2E6E347F}"/>
              </a:ext>
            </a:extLst>
          </p:cNvPr>
          <p:cNvSpPr/>
          <p:nvPr/>
        </p:nvSpPr>
        <p:spPr bwMode="auto">
          <a:xfrm>
            <a:off x="5022005" y="5679025"/>
            <a:ext cx="450006"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r>
              <a:rPr lang="en-US" altLang="ja-JP" dirty="0">
                <a:latin typeface="Arial Narrow" panose="020B0606020202030204" pitchFamily="34" charset="0"/>
              </a:rPr>
              <a:t>...</a:t>
            </a:r>
            <a:endParaRPr lang="ja-JP" altLang="en-US" dirty="0">
              <a:latin typeface="Arial Narrow" panose="020B0606020202030204" pitchFamily="34" charset="0"/>
            </a:endParaRPr>
          </a:p>
        </p:txBody>
      </p:sp>
      <p:sp>
        <p:nvSpPr>
          <p:cNvPr id="67" name="角丸四角形 23">
            <a:extLst>
              <a:ext uri="{FF2B5EF4-FFF2-40B4-BE49-F238E27FC236}">
                <a16:creationId xmlns:a16="http://schemas.microsoft.com/office/drawing/2014/main" id="{9999920A-7919-2C2E-6809-4AD2E6C1AE3C}"/>
              </a:ext>
            </a:extLst>
          </p:cNvPr>
          <p:cNvSpPr/>
          <p:nvPr/>
        </p:nvSpPr>
        <p:spPr bwMode="auto">
          <a:xfrm>
            <a:off x="6552022" y="5679025"/>
            <a:ext cx="450006"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r>
              <a:rPr lang="en-US" altLang="ja-JP" dirty="0">
                <a:latin typeface="Arial Narrow" panose="020B0606020202030204" pitchFamily="34" charset="0"/>
              </a:rPr>
              <a:t>...</a:t>
            </a:r>
            <a:endParaRPr lang="ja-JP" altLang="en-US" dirty="0">
              <a:latin typeface="Arial Narrow" panose="020B0606020202030204" pitchFamily="34" charset="0"/>
            </a:endParaRPr>
          </a:p>
        </p:txBody>
      </p:sp>
      <p:sp>
        <p:nvSpPr>
          <p:cNvPr id="68" name="正方形/長方形 67">
            <a:extLst>
              <a:ext uri="{FF2B5EF4-FFF2-40B4-BE49-F238E27FC236}">
                <a16:creationId xmlns:a16="http://schemas.microsoft.com/office/drawing/2014/main" id="{CBC46140-7E30-933F-C47E-F186B4F1E37C}"/>
              </a:ext>
            </a:extLst>
          </p:cNvPr>
          <p:cNvSpPr/>
          <p:nvPr/>
        </p:nvSpPr>
        <p:spPr>
          <a:xfrm>
            <a:off x="630007" y="4149008"/>
            <a:ext cx="900010"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05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予測器</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a:t>
            </a:r>
          </a:p>
        </p:txBody>
      </p:sp>
      <p:sp>
        <p:nvSpPr>
          <p:cNvPr id="69" name="正方形/長方形 68">
            <a:extLst>
              <a:ext uri="{FF2B5EF4-FFF2-40B4-BE49-F238E27FC236}">
                <a16:creationId xmlns:a16="http://schemas.microsoft.com/office/drawing/2014/main" id="{1BBAEB45-EE1D-97A5-22F2-A176108B09A1}"/>
              </a:ext>
            </a:extLst>
          </p:cNvPr>
          <p:cNvSpPr/>
          <p:nvPr/>
        </p:nvSpPr>
        <p:spPr>
          <a:xfrm>
            <a:off x="6390071" y="4149008"/>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dirty="0"/>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70" name="角丸四角形吹き出し 26">
            <a:extLst>
              <a:ext uri="{FF2B5EF4-FFF2-40B4-BE49-F238E27FC236}">
                <a16:creationId xmlns:a16="http://schemas.microsoft.com/office/drawing/2014/main" id="{0501CEEE-AA60-A198-3A7F-1E1E609BFAD2}"/>
              </a:ext>
            </a:extLst>
          </p:cNvPr>
          <p:cNvSpPr/>
          <p:nvPr/>
        </p:nvSpPr>
        <p:spPr bwMode="auto">
          <a:xfrm>
            <a:off x="7002027" y="3609002"/>
            <a:ext cx="1980022" cy="612648"/>
          </a:xfrm>
          <a:prstGeom prst="wedgeRoundRectCallout">
            <a:avLst>
              <a:gd name="adj1" fmla="val -42160"/>
              <a:gd name="adj2" fmla="val 92539"/>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dirty="0">
                <a:solidFill>
                  <a:schemeClr val="tx1">
                    <a:lumMod val="65000"/>
                    <a:lumOff val="35000"/>
                  </a:schemeClr>
                </a:solidFill>
                <a:latin typeface="Arial Narrow" panose="020B0606020202030204" pitchFamily="34" charset="0"/>
              </a:rPr>
              <a:t>ライン２本分</a:t>
            </a:r>
            <a:br>
              <a:rPr kumimoji="1" lang="en-US" altLang="ja-JP" dirty="0">
                <a:solidFill>
                  <a:schemeClr val="tx1">
                    <a:lumMod val="65000"/>
                    <a:lumOff val="35000"/>
                  </a:schemeClr>
                </a:solidFill>
                <a:latin typeface="Arial Narrow" panose="020B0606020202030204" pitchFamily="34" charset="0"/>
              </a:rPr>
            </a:br>
            <a:r>
              <a:rPr kumimoji="1" lang="ja-JP" altLang="en-US" dirty="0">
                <a:solidFill>
                  <a:schemeClr val="tx1">
                    <a:lumMod val="65000"/>
                    <a:lumOff val="35000"/>
                  </a:schemeClr>
                </a:solidFill>
                <a:latin typeface="Arial Narrow" panose="020B0606020202030204" pitchFamily="34" charset="0"/>
              </a:rPr>
              <a:t>廃棄やん･･･</a:t>
            </a:r>
          </a:p>
        </p:txBody>
      </p:sp>
      <p:sp>
        <p:nvSpPr>
          <p:cNvPr id="71" name="角丸四角形吹き出し 3">
            <a:extLst>
              <a:ext uri="{FF2B5EF4-FFF2-40B4-BE49-F238E27FC236}">
                <a16:creationId xmlns:a16="http://schemas.microsoft.com/office/drawing/2014/main" id="{943CF68C-F389-04D1-CD89-35ECE42485DA}"/>
              </a:ext>
            </a:extLst>
          </p:cNvPr>
          <p:cNvSpPr/>
          <p:nvPr/>
        </p:nvSpPr>
        <p:spPr bwMode="auto">
          <a:xfrm>
            <a:off x="1170013" y="3609002"/>
            <a:ext cx="2051972" cy="612648"/>
          </a:xfrm>
          <a:prstGeom prst="wedgeRoundRectCallout">
            <a:avLst>
              <a:gd name="adj1" fmla="val -44943"/>
              <a:gd name="adj2" fmla="val 95784"/>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dirty="0">
                <a:solidFill>
                  <a:schemeClr val="tx1">
                    <a:lumMod val="65000"/>
                    <a:lumOff val="35000"/>
                  </a:schemeClr>
                </a:solidFill>
                <a:latin typeface="Arial Narrow" panose="020B0606020202030204" pitchFamily="34" charset="0"/>
              </a:rPr>
              <a:t>大損害まったなし</a:t>
            </a:r>
            <a:endParaRPr kumimoji="1" lang="en-US" altLang="ja-JP" dirty="0">
              <a:solidFill>
                <a:schemeClr val="tx1">
                  <a:lumMod val="65000"/>
                  <a:lumOff val="35000"/>
                </a:schemeClr>
              </a:solidFill>
              <a:latin typeface="Arial Narrow" panose="020B0606020202030204" pitchFamily="34" charset="0"/>
            </a:endParaRPr>
          </a:p>
        </p:txBody>
      </p:sp>
    </p:spTree>
    <p:extLst>
      <p:ext uri="{BB962C8B-B14F-4D97-AF65-F5344CB8AC3E}">
        <p14:creationId xmlns:p14="http://schemas.microsoft.com/office/powerpoint/2010/main" val="336435062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BC5A7B2-C863-927A-116C-8C441C160174}"/>
              </a:ext>
            </a:extLst>
          </p:cNvPr>
          <p:cNvSpPr>
            <a:spLocks noGrp="1"/>
          </p:cNvSpPr>
          <p:nvPr>
            <p:ph type="title"/>
          </p:nvPr>
        </p:nvSpPr>
        <p:spPr/>
        <p:txBody>
          <a:bodyPr/>
          <a:lstStyle/>
          <a:p>
            <a:r>
              <a:rPr lang="ja-JP" altLang="en-US" dirty="0"/>
              <a:t>分岐予測ミスによる実行サイクルの増加のモデル</a:t>
            </a:r>
            <a:endParaRPr kumimoji="1" lang="en-US"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7A388F3E-9D46-BE60-22D7-DE67BE9600EC}"/>
                  </a:ext>
                </a:extLst>
              </p:cNvPr>
              <p:cNvSpPr>
                <a:spLocks noGrp="1"/>
              </p:cNvSpPr>
              <p:nvPr>
                <p:ph sz="quarter" idx="10"/>
              </p:nvPr>
            </p:nvSpPr>
            <p:spPr>
              <a:xfrm>
                <a:off x="611955" y="1088974"/>
                <a:ext cx="8190091" cy="5220058"/>
              </a:xfrm>
            </p:spPr>
            <p:txBody>
              <a:bodyPr/>
              <a:lstStyle/>
              <a:p>
                <a:r>
                  <a:rPr kumimoji="1" lang="ja-JP" altLang="en-US" dirty="0"/>
                  <a:t>以下のようにおいた場合，</a:t>
                </a:r>
                <a:endParaRPr kumimoji="1" lang="en-US" altLang="ja-JP" dirty="0"/>
              </a:p>
              <a:p>
                <a:pPr lvl="1"/>
                <a:r>
                  <a:rPr lang="ja-JP" altLang="en-US" dirty="0"/>
                  <a:t>ミスがない理想的な実行の際のサイクル数：</a:t>
                </a:r>
                <a:r>
                  <a:rPr lang="en-US" altLang="ja-JP" dirty="0"/>
                  <a:t>	</a:t>
                </a:r>
                <a14:m>
                  <m:oMath xmlns:m="http://schemas.openxmlformats.org/officeDocument/2006/math">
                    <m:r>
                      <a:rPr lang="en-US" altLang="ja-JP" b="1" i="1" dirty="0" smtClean="0">
                        <a:solidFill>
                          <a:schemeClr val="accent5"/>
                        </a:solidFill>
                        <a:latin typeface="Cambria Math" panose="02040503050406030204" pitchFamily="18" charset="0"/>
                      </a:rPr>
                      <m:t>𝑪𝒕</m:t>
                    </m:r>
                  </m:oMath>
                </a14:m>
                <a:br>
                  <a:rPr lang="en-US" altLang="ja-JP" dirty="0"/>
                </a:br>
                <a:endParaRPr lang="en-US" altLang="ja-JP" dirty="0"/>
              </a:p>
              <a:p>
                <a:pPr lvl="1"/>
                <a:r>
                  <a:rPr lang="ja-JP" altLang="en-US" dirty="0"/>
                  <a:t>分岐予測ミスの発生回数：</a:t>
                </a:r>
                <a:r>
                  <a:rPr lang="en-US" altLang="ja-JP" dirty="0"/>
                  <a:t>	</a:t>
                </a:r>
                <a14:m>
                  <m:oMath xmlns:m="http://schemas.openxmlformats.org/officeDocument/2006/math">
                    <m:r>
                      <a:rPr lang="en-US" altLang="ja-JP" b="1" i="1" dirty="0" smtClean="0">
                        <a:solidFill>
                          <a:schemeClr val="accent5"/>
                        </a:solidFill>
                        <a:latin typeface="Cambria Math" panose="02040503050406030204" pitchFamily="18" charset="0"/>
                      </a:rPr>
                      <m:t>𝑵𝒎</m:t>
                    </m:r>
                    <m:r>
                      <a:rPr lang="en-US" altLang="ja-JP" b="0" i="1" dirty="0" smtClean="0">
                        <a:latin typeface="Cambria Math" panose="02040503050406030204" pitchFamily="18" charset="0"/>
                      </a:rPr>
                      <m:t>=</m:t>
                    </m:r>
                    <m:r>
                      <a:rPr lang="en-US" altLang="ja-JP" i="1" dirty="0">
                        <a:latin typeface="Cambria Math" panose="02040503050406030204" pitchFamily="18" charset="0"/>
                      </a:rPr>
                      <m:t>𝑁𝑖</m:t>
                    </m:r>
                    <m:r>
                      <a:rPr lang="en-US" altLang="ja-JP" i="1" dirty="0">
                        <a:latin typeface="Cambria Math" panose="02040503050406030204" pitchFamily="18" charset="0"/>
                      </a:rPr>
                      <m:t>×</m:t>
                    </m:r>
                    <m:r>
                      <a:rPr lang="en-US" altLang="ja-JP" i="1" dirty="0">
                        <a:latin typeface="Cambria Math" panose="02040503050406030204" pitchFamily="18" charset="0"/>
                      </a:rPr>
                      <m:t>𝑃𝑏</m:t>
                    </m:r>
                    <m:r>
                      <a:rPr lang="en-US" altLang="ja-JP" i="1" dirty="0">
                        <a:latin typeface="Cambria Math" panose="02040503050406030204" pitchFamily="18" charset="0"/>
                      </a:rPr>
                      <m:t>×</m:t>
                    </m:r>
                    <m:r>
                      <a:rPr lang="en-US" altLang="ja-JP" i="1" dirty="0">
                        <a:latin typeface="Cambria Math" panose="02040503050406030204" pitchFamily="18" charset="0"/>
                      </a:rPr>
                      <m:t>𝑃𝑚</m:t>
                    </m:r>
                  </m:oMath>
                </a14:m>
                <a:endParaRPr lang="en-US" altLang="ja-JP" dirty="0"/>
              </a:p>
              <a:p>
                <a:pPr lvl="2"/>
                <a:r>
                  <a:rPr kumimoji="1" lang="ja-JP" altLang="en-US" dirty="0"/>
                  <a:t>実行命令数：</a:t>
                </a:r>
                <a:r>
                  <a:rPr kumimoji="1" lang="en-US" altLang="ja-JP" dirty="0"/>
                  <a:t>				</a:t>
                </a:r>
                <a14:m>
                  <m:oMath xmlns:m="http://schemas.openxmlformats.org/officeDocument/2006/math">
                    <m:r>
                      <a:rPr kumimoji="1" lang="en-US" altLang="ja-JP" i="1" dirty="0" smtClean="0">
                        <a:latin typeface="Cambria Math" panose="02040503050406030204" pitchFamily="18" charset="0"/>
                      </a:rPr>
                      <m:t>𝑁𝑖</m:t>
                    </m:r>
                  </m:oMath>
                </a14:m>
                <a:endParaRPr kumimoji="1" lang="en-US" altLang="ja-JP" dirty="0"/>
              </a:p>
              <a:p>
                <a:pPr lvl="2"/>
                <a:r>
                  <a:rPr lang="ja-JP" altLang="en-US" dirty="0"/>
                  <a:t>プログラム中の分岐命令の出現率：</a:t>
                </a:r>
                <a:r>
                  <a:rPr lang="en-US" altLang="ja-JP" dirty="0"/>
                  <a:t>	</a:t>
                </a:r>
                <a14:m>
                  <m:oMath xmlns:m="http://schemas.openxmlformats.org/officeDocument/2006/math">
                    <m:r>
                      <a:rPr lang="en-US" altLang="ja-JP" i="1" dirty="0">
                        <a:latin typeface="Cambria Math" panose="02040503050406030204" pitchFamily="18" charset="0"/>
                      </a:rPr>
                      <m:t>𝑃𝑏</m:t>
                    </m:r>
                  </m:oMath>
                </a14:m>
                <a:endParaRPr kumimoji="1" lang="en-US" altLang="ja-JP" dirty="0"/>
              </a:p>
              <a:p>
                <a:pPr lvl="2"/>
                <a:r>
                  <a:rPr kumimoji="1" lang="ja-JP" altLang="en-US" dirty="0"/>
                  <a:t>分岐命令毎の予測ミス発生率：</a:t>
                </a:r>
                <a:r>
                  <a:rPr kumimoji="1" lang="en-US" altLang="ja-JP" dirty="0"/>
                  <a:t>	</a:t>
                </a:r>
                <a14:m>
                  <m:oMath xmlns:m="http://schemas.openxmlformats.org/officeDocument/2006/math">
                    <m:r>
                      <a:rPr kumimoji="1" lang="en-US" altLang="ja-JP" i="1" dirty="0" smtClean="0">
                        <a:latin typeface="Cambria Math" panose="02040503050406030204" pitchFamily="18" charset="0"/>
                      </a:rPr>
                      <m:t>𝑃𝑚</m:t>
                    </m:r>
                  </m:oMath>
                </a14:m>
                <a:br>
                  <a:rPr kumimoji="1" lang="en-US" altLang="ja-JP" dirty="0"/>
                </a:br>
                <a:endParaRPr kumimoji="1" lang="en-US" altLang="ja-JP" dirty="0"/>
              </a:p>
              <a:p>
                <a:pPr lvl="1"/>
                <a:r>
                  <a:rPr kumimoji="1" lang="ja-JP" altLang="en-US" dirty="0"/>
                  <a:t>分岐予測ミス・ペナルティ：</a:t>
                </a:r>
                <a:r>
                  <a:rPr kumimoji="1" lang="en-US" altLang="ja-JP" dirty="0"/>
                  <a:t>	</a:t>
                </a:r>
                <a14:m>
                  <m:oMath xmlns:m="http://schemas.openxmlformats.org/officeDocument/2006/math">
                    <m:r>
                      <a:rPr kumimoji="1" lang="en-US" altLang="ja-JP" b="1" i="1" dirty="0" smtClean="0">
                        <a:solidFill>
                          <a:schemeClr val="accent5"/>
                        </a:solidFill>
                        <a:latin typeface="Cambria Math" panose="02040503050406030204" pitchFamily="18" charset="0"/>
                      </a:rPr>
                      <m:t>𝑪𝒑</m:t>
                    </m:r>
                  </m:oMath>
                </a14:m>
                <a:endParaRPr kumimoji="1" lang="en-US" altLang="ja-JP" b="1" dirty="0"/>
              </a:p>
              <a:p>
                <a:r>
                  <a:rPr kumimoji="1" lang="ja-JP" altLang="en-US" dirty="0"/>
                  <a:t>実行サイクル数 </a:t>
                </a:r>
                <a14:m>
                  <m:oMath xmlns:m="http://schemas.openxmlformats.org/officeDocument/2006/math">
                    <m:r>
                      <a:rPr kumimoji="1" lang="en-US" altLang="ja-JP" i="1" dirty="0" smtClean="0">
                        <a:latin typeface="Cambria Math" panose="02040503050406030204" pitchFamily="18" charset="0"/>
                      </a:rPr>
                      <m:t>𝐶𝑟</m:t>
                    </m:r>
                  </m:oMath>
                </a14:m>
                <a:r>
                  <a:rPr kumimoji="1" lang="en-US" altLang="ja-JP" dirty="0"/>
                  <a:t> </a:t>
                </a:r>
                <a:r>
                  <a:rPr kumimoji="1" lang="ja-JP" altLang="en-US" dirty="0"/>
                  <a:t>は，理想サイクル数 </a:t>
                </a:r>
                <a14:m>
                  <m:oMath xmlns:m="http://schemas.openxmlformats.org/officeDocument/2006/math">
                    <m:r>
                      <a:rPr kumimoji="1" lang="en-US" altLang="ja-JP" i="1" dirty="0" smtClean="0">
                        <a:latin typeface="Cambria Math" panose="02040503050406030204" pitchFamily="18" charset="0"/>
                      </a:rPr>
                      <m:t>𝐶𝑡</m:t>
                    </m:r>
                  </m:oMath>
                </a14:m>
                <a:r>
                  <a:rPr kumimoji="1" lang="en-US" altLang="ja-JP" dirty="0"/>
                  <a:t> </a:t>
                </a:r>
                <a:r>
                  <a:rPr kumimoji="1" lang="ja-JP" altLang="en-US" dirty="0"/>
                  <a:t>に対して，</a:t>
                </a:r>
                <a:endParaRPr kumimoji="1" lang="en-US" altLang="ja-JP" dirty="0"/>
              </a:p>
              <a:p>
                <a:pPr lvl="1"/>
                <a14:m>
                  <m:oMath xmlns:m="http://schemas.openxmlformats.org/officeDocument/2006/math">
                    <m:r>
                      <a:rPr lang="en-US" b="1" i="1" dirty="0" smtClean="0">
                        <a:solidFill>
                          <a:schemeClr val="accent5"/>
                        </a:solidFill>
                        <a:latin typeface="Cambria Math" panose="02040503050406030204" pitchFamily="18" charset="0"/>
                      </a:rPr>
                      <m:t>𝑪𝒓</m:t>
                    </m:r>
                    <m:r>
                      <a:rPr lang="en-US" b="1" i="1" dirty="0" smtClean="0">
                        <a:solidFill>
                          <a:schemeClr val="accent5"/>
                        </a:solidFill>
                        <a:latin typeface="Cambria Math" panose="02040503050406030204" pitchFamily="18" charset="0"/>
                      </a:rPr>
                      <m:t>=</m:t>
                    </m:r>
                    <m:r>
                      <a:rPr lang="en-US" b="1" i="1" dirty="0" smtClean="0">
                        <a:solidFill>
                          <a:schemeClr val="accent5"/>
                        </a:solidFill>
                        <a:latin typeface="Cambria Math" panose="02040503050406030204" pitchFamily="18" charset="0"/>
                      </a:rPr>
                      <m:t>𝑪𝒕</m:t>
                    </m:r>
                    <m:r>
                      <a:rPr lang="en-US" b="1" i="1" dirty="0" smtClean="0">
                        <a:solidFill>
                          <a:schemeClr val="accent5"/>
                        </a:solidFill>
                        <a:latin typeface="Cambria Math" panose="02040503050406030204" pitchFamily="18" charset="0"/>
                      </a:rPr>
                      <m:t> + </m:t>
                    </m:r>
                    <m:r>
                      <a:rPr lang="en-US" b="1" i="1" dirty="0" smtClean="0">
                        <a:solidFill>
                          <a:schemeClr val="accent5"/>
                        </a:solidFill>
                        <a:latin typeface="Cambria Math" panose="02040503050406030204" pitchFamily="18" charset="0"/>
                      </a:rPr>
                      <m:t>𝑵𝒎</m:t>
                    </m:r>
                    <m:r>
                      <a:rPr lang="en-US" altLang="ja-JP" b="1" i="1" dirty="0">
                        <a:solidFill>
                          <a:schemeClr val="accent5"/>
                        </a:solidFill>
                        <a:latin typeface="Cambria Math" panose="02040503050406030204" pitchFamily="18" charset="0"/>
                      </a:rPr>
                      <m:t>×</m:t>
                    </m:r>
                    <m:r>
                      <a:rPr lang="en-US" altLang="ja-JP" b="1" i="1" dirty="0" smtClean="0">
                        <a:solidFill>
                          <a:schemeClr val="accent5"/>
                        </a:solidFill>
                        <a:latin typeface="Cambria Math" panose="02040503050406030204" pitchFamily="18" charset="0"/>
                      </a:rPr>
                      <m:t>𝑪𝒑</m:t>
                    </m:r>
                  </m:oMath>
                </a14:m>
                <a:endParaRPr kumimoji="1" lang="en-US" b="1" dirty="0">
                  <a:solidFill>
                    <a:schemeClr val="accent5"/>
                  </a:solidFill>
                </a:endParaRPr>
              </a:p>
              <a:p>
                <a:pPr lvl="1"/>
                <a:r>
                  <a:rPr kumimoji="1" lang="ja-JP" altLang="en-US" dirty="0">
                    <a:solidFill>
                      <a:schemeClr val="tx1">
                        <a:lumMod val="75000"/>
                        <a:lumOff val="25000"/>
                      </a:schemeClr>
                    </a:solidFill>
                  </a:rPr>
                  <a:t>意味：予測ミスの発生回数</a:t>
                </a:r>
                <a14:m>
                  <m:oMath xmlns:m="http://schemas.openxmlformats.org/officeDocument/2006/math">
                    <m:r>
                      <a:rPr lang="en-US" altLang="ja-JP" i="1" dirty="0" smtClean="0">
                        <a:solidFill>
                          <a:schemeClr val="tx1">
                            <a:lumMod val="75000"/>
                            <a:lumOff val="25000"/>
                          </a:schemeClr>
                        </a:solidFill>
                        <a:latin typeface="Cambria Math" panose="02040503050406030204" pitchFamily="18" charset="0"/>
                      </a:rPr>
                      <m:t>×</m:t>
                    </m:r>
                  </m:oMath>
                </a14:m>
                <a:r>
                  <a:rPr kumimoji="1" lang="ja-JP" altLang="en-US" dirty="0">
                    <a:solidFill>
                      <a:schemeClr val="tx1">
                        <a:lumMod val="75000"/>
                        <a:lumOff val="25000"/>
                      </a:schemeClr>
                    </a:solidFill>
                  </a:rPr>
                  <a:t>ペナルティ だけ実行時間が伸びる</a:t>
                </a:r>
                <a:endParaRPr kumimoji="1" lang="en-US" dirty="0">
                  <a:solidFill>
                    <a:schemeClr val="tx1">
                      <a:lumMod val="75000"/>
                      <a:lumOff val="25000"/>
                    </a:schemeClr>
                  </a:solidFill>
                </a:endParaRPr>
              </a:p>
            </p:txBody>
          </p:sp>
        </mc:Choice>
        <mc:Fallback xmlns="">
          <p:sp>
            <p:nvSpPr>
              <p:cNvPr id="3" name="コンテンツ プレースホルダー 2">
                <a:extLst>
                  <a:ext uri="{FF2B5EF4-FFF2-40B4-BE49-F238E27FC236}">
                    <a16:creationId xmlns:a16="http://schemas.microsoft.com/office/drawing/2014/main" id="{7A388F3E-9D46-BE60-22D7-DE67BE9600EC}"/>
                  </a:ext>
                </a:extLst>
              </p:cNvPr>
              <p:cNvSpPr>
                <a:spLocks noGrp="1" noRot="1" noChangeAspect="1" noMove="1" noResize="1" noEditPoints="1" noAdjustHandles="1" noChangeArrowheads="1" noChangeShapeType="1" noTextEdit="1"/>
              </p:cNvSpPr>
              <p:nvPr>
                <p:ph sz="quarter" idx="10"/>
              </p:nvPr>
            </p:nvSpPr>
            <p:spPr>
              <a:xfrm>
                <a:off x="611955" y="1088974"/>
                <a:ext cx="8190091" cy="5220058"/>
              </a:xfrm>
              <a:blipFill>
                <a:blip r:embed="rId2"/>
                <a:stretch>
                  <a:fillRect l="-670" b="-1402"/>
                </a:stretch>
              </a:blipFill>
            </p:spPr>
            <p:txBody>
              <a:bodyPr/>
              <a:lstStyle/>
              <a:p>
                <a:r>
                  <a:rPr lang="en-US">
                    <a:noFill/>
                  </a:rPr>
                  <a:t> </a:t>
                </a:r>
              </a:p>
            </p:txBody>
          </p:sp>
        </mc:Fallback>
      </mc:AlternateContent>
    </p:spTree>
    <p:extLst>
      <p:ext uri="{BB962C8B-B14F-4D97-AF65-F5344CB8AC3E}">
        <p14:creationId xmlns:p14="http://schemas.microsoft.com/office/powerpoint/2010/main" val="163664518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BC5A7B2-C863-927A-116C-8C441C160174}"/>
              </a:ext>
            </a:extLst>
          </p:cNvPr>
          <p:cNvSpPr>
            <a:spLocks noGrp="1"/>
          </p:cNvSpPr>
          <p:nvPr>
            <p:ph type="title"/>
          </p:nvPr>
        </p:nvSpPr>
        <p:spPr/>
        <p:txBody>
          <a:bodyPr/>
          <a:lstStyle/>
          <a:p>
            <a:r>
              <a:rPr lang="ja-JP" altLang="en-US" dirty="0"/>
              <a:t>具体的な値を入れてみる</a:t>
            </a:r>
            <a:endParaRPr kumimoji="1" lang="en-US"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7A388F3E-9D46-BE60-22D7-DE67BE9600EC}"/>
                  </a:ext>
                </a:extLst>
              </p:cNvPr>
              <p:cNvSpPr>
                <a:spLocks noGrp="1"/>
              </p:cNvSpPr>
              <p:nvPr>
                <p:ph sz="quarter" idx="10"/>
              </p:nvPr>
            </p:nvSpPr>
            <p:spPr>
              <a:xfrm>
                <a:off x="431954" y="1088974"/>
                <a:ext cx="8550095" cy="5220058"/>
              </a:xfrm>
            </p:spPr>
            <p:txBody>
              <a:bodyPr/>
              <a:lstStyle/>
              <a:p>
                <a:r>
                  <a:rPr kumimoji="1" lang="ja-JP" altLang="en-US" dirty="0"/>
                  <a:t>以下のように置いた場合，</a:t>
                </a:r>
                <a:endParaRPr kumimoji="1" lang="en-US" altLang="ja-JP" dirty="0"/>
              </a:p>
              <a:p>
                <a:pPr lvl="1"/>
                <a:r>
                  <a:rPr lang="ja-JP" altLang="en-US" dirty="0"/>
                  <a:t>理想的な実行の際のサイクル数：</a:t>
                </a:r>
                <a:r>
                  <a:rPr lang="en-US" altLang="ja-JP" dirty="0"/>
                  <a:t>	</a:t>
                </a:r>
                <a14:m>
                  <m:oMath xmlns:m="http://schemas.openxmlformats.org/officeDocument/2006/math">
                    <m:r>
                      <a:rPr lang="en-US" altLang="ja-JP" b="1" i="1" dirty="0" smtClean="0">
                        <a:solidFill>
                          <a:schemeClr val="accent5"/>
                        </a:solidFill>
                        <a:latin typeface="Cambria Math" panose="02040503050406030204" pitchFamily="18" charset="0"/>
                      </a:rPr>
                      <m:t>𝑪𝒕</m:t>
                    </m:r>
                    <m:r>
                      <a:rPr lang="en-US" altLang="ja-JP" b="1" i="1" dirty="0" smtClean="0">
                        <a:solidFill>
                          <a:schemeClr val="accent5"/>
                        </a:solidFill>
                        <a:latin typeface="Cambria Math" panose="02040503050406030204" pitchFamily="18" charset="0"/>
                      </a:rPr>
                      <m:t>=</m:t>
                    </m:r>
                    <m:r>
                      <a:rPr lang="en-US" altLang="ja-JP" b="1" i="1" dirty="0" smtClean="0">
                        <a:solidFill>
                          <a:schemeClr val="accent5"/>
                        </a:solidFill>
                        <a:latin typeface="Cambria Math" panose="02040503050406030204" pitchFamily="18" charset="0"/>
                      </a:rPr>
                      <m:t>𝟏</m:t>
                    </m:r>
                    <m:r>
                      <a:rPr lang="en-US" altLang="ja-JP" b="1" i="1" dirty="0" smtClean="0">
                        <a:solidFill>
                          <a:schemeClr val="accent5"/>
                        </a:solidFill>
                        <a:latin typeface="Cambria Math" panose="02040503050406030204" pitchFamily="18" charset="0"/>
                      </a:rPr>
                      <m:t>𝑴</m:t>
                    </m:r>
                  </m:oMath>
                </a14:m>
                <a:r>
                  <a:rPr lang="ja-JP" altLang="en-US" dirty="0">
                    <a:solidFill>
                      <a:schemeClr val="accent5"/>
                    </a:solidFill>
                  </a:rPr>
                  <a:t>（メガ）</a:t>
                </a:r>
                <a:br>
                  <a:rPr lang="en-US" altLang="ja-JP" dirty="0"/>
                </a:br>
                <a:endParaRPr lang="en-US" altLang="ja-JP" dirty="0"/>
              </a:p>
              <a:p>
                <a:pPr lvl="1"/>
                <a:r>
                  <a:rPr lang="ja-JP" altLang="en-US" dirty="0"/>
                  <a:t>分岐予測ミスの発生回数：</a:t>
                </a:r>
                <a:r>
                  <a:rPr lang="en-US" altLang="ja-JP" dirty="0"/>
                  <a:t>	</a:t>
                </a:r>
                <a14:m>
                  <m:oMath xmlns:m="http://schemas.openxmlformats.org/officeDocument/2006/math">
                    <m:r>
                      <a:rPr lang="en-US" altLang="ja-JP" b="1" i="1" dirty="0" smtClean="0">
                        <a:solidFill>
                          <a:schemeClr val="accent5"/>
                        </a:solidFill>
                        <a:latin typeface="Cambria Math" panose="02040503050406030204" pitchFamily="18" charset="0"/>
                      </a:rPr>
                      <m:t>𝑵𝒎</m:t>
                    </m:r>
                    <m:r>
                      <a:rPr lang="en-US" altLang="ja-JP" b="1" i="1" dirty="0" smtClean="0">
                        <a:solidFill>
                          <a:schemeClr val="accent5"/>
                        </a:solidFill>
                        <a:latin typeface="Cambria Math" panose="02040503050406030204" pitchFamily="18" charset="0"/>
                      </a:rPr>
                      <m:t>=</m:t>
                    </m:r>
                    <m:r>
                      <a:rPr lang="en-US" altLang="ja-JP" b="1" i="1" dirty="0">
                        <a:solidFill>
                          <a:schemeClr val="accent5"/>
                        </a:solidFill>
                        <a:latin typeface="Cambria Math" panose="02040503050406030204" pitchFamily="18" charset="0"/>
                      </a:rPr>
                      <m:t>𝑵𝒊</m:t>
                    </m:r>
                    <m:r>
                      <a:rPr lang="en-US" altLang="ja-JP" b="1" i="1" dirty="0">
                        <a:solidFill>
                          <a:schemeClr val="accent5"/>
                        </a:solidFill>
                        <a:latin typeface="Cambria Math" panose="02040503050406030204" pitchFamily="18" charset="0"/>
                      </a:rPr>
                      <m:t>×</m:t>
                    </m:r>
                    <m:r>
                      <a:rPr lang="en-US" altLang="ja-JP" b="1" i="1" dirty="0">
                        <a:solidFill>
                          <a:schemeClr val="accent5"/>
                        </a:solidFill>
                        <a:latin typeface="Cambria Math" panose="02040503050406030204" pitchFamily="18" charset="0"/>
                      </a:rPr>
                      <m:t>𝑷𝒃</m:t>
                    </m:r>
                    <m:r>
                      <a:rPr lang="en-US" altLang="ja-JP" b="1" i="1" dirty="0">
                        <a:solidFill>
                          <a:schemeClr val="accent5"/>
                        </a:solidFill>
                        <a:latin typeface="Cambria Math" panose="02040503050406030204" pitchFamily="18" charset="0"/>
                      </a:rPr>
                      <m:t>×</m:t>
                    </m:r>
                    <m:r>
                      <a:rPr lang="en-US" altLang="ja-JP" b="1" i="1" dirty="0">
                        <a:solidFill>
                          <a:schemeClr val="accent5"/>
                        </a:solidFill>
                        <a:latin typeface="Cambria Math" panose="02040503050406030204" pitchFamily="18" charset="0"/>
                      </a:rPr>
                      <m:t>𝑷𝒎</m:t>
                    </m:r>
                    <m:r>
                      <a:rPr lang="en-US" altLang="ja-JP" b="1" i="1" dirty="0" smtClean="0">
                        <a:solidFill>
                          <a:schemeClr val="accent5"/>
                        </a:solidFill>
                        <a:latin typeface="Cambria Math" panose="02040503050406030204" pitchFamily="18" charset="0"/>
                      </a:rPr>
                      <m:t>=</m:t>
                    </m:r>
                    <m:r>
                      <a:rPr lang="en-US" altLang="ja-JP" b="1" i="1" dirty="0" smtClean="0">
                        <a:solidFill>
                          <a:schemeClr val="accent5"/>
                        </a:solidFill>
                        <a:latin typeface="Cambria Math" panose="02040503050406030204" pitchFamily="18" charset="0"/>
                      </a:rPr>
                      <m:t>𝟎</m:t>
                    </m:r>
                    <m:r>
                      <a:rPr lang="en-US" altLang="ja-JP" b="1" i="1" dirty="0" smtClean="0">
                        <a:solidFill>
                          <a:schemeClr val="accent5"/>
                        </a:solidFill>
                        <a:latin typeface="Cambria Math" panose="02040503050406030204" pitchFamily="18" charset="0"/>
                      </a:rPr>
                      <m:t>.</m:t>
                    </m:r>
                    <m:r>
                      <a:rPr lang="en-US" altLang="ja-JP" b="1" i="1" dirty="0" smtClean="0">
                        <a:solidFill>
                          <a:schemeClr val="accent5"/>
                        </a:solidFill>
                        <a:latin typeface="Cambria Math" panose="02040503050406030204" pitchFamily="18" charset="0"/>
                      </a:rPr>
                      <m:t>𝟎𝟐𝟓</m:t>
                    </m:r>
                    <m:r>
                      <a:rPr lang="en-US" altLang="ja-JP" b="1" i="1" dirty="0" smtClean="0">
                        <a:solidFill>
                          <a:schemeClr val="accent5"/>
                        </a:solidFill>
                        <a:latin typeface="Cambria Math" panose="02040503050406030204" pitchFamily="18" charset="0"/>
                      </a:rPr>
                      <m:t>𝑴</m:t>
                    </m:r>
                  </m:oMath>
                </a14:m>
                <a:endParaRPr lang="en-US" altLang="ja-JP" b="1" dirty="0">
                  <a:solidFill>
                    <a:schemeClr val="accent5"/>
                  </a:solidFill>
                </a:endParaRPr>
              </a:p>
              <a:p>
                <a:pPr lvl="2"/>
                <a:r>
                  <a:rPr kumimoji="1" lang="ja-JP" altLang="en-US" dirty="0"/>
                  <a:t>実行命令数：</a:t>
                </a:r>
                <a:r>
                  <a:rPr kumimoji="1" lang="en-US" altLang="ja-JP" dirty="0"/>
                  <a:t>				</a:t>
                </a:r>
                <a14:m>
                  <m:oMath xmlns:m="http://schemas.openxmlformats.org/officeDocument/2006/math">
                    <m:r>
                      <a:rPr kumimoji="1" lang="en-US" altLang="ja-JP" i="1" dirty="0" smtClean="0">
                        <a:latin typeface="Cambria Math" panose="02040503050406030204" pitchFamily="18" charset="0"/>
                      </a:rPr>
                      <m:t>𝑁𝑖</m:t>
                    </m:r>
                    <m:r>
                      <a:rPr kumimoji="1" lang="en-US" altLang="ja-JP" b="0" i="1" dirty="0" smtClean="0">
                        <a:latin typeface="Cambria Math" panose="02040503050406030204" pitchFamily="18" charset="0"/>
                      </a:rPr>
                      <m:t>=1</m:t>
                    </m:r>
                    <m:r>
                      <a:rPr kumimoji="1" lang="en-US" altLang="ja-JP" b="0" i="1" dirty="0" smtClean="0">
                        <a:latin typeface="Cambria Math" panose="02040503050406030204" pitchFamily="18" charset="0"/>
                      </a:rPr>
                      <m:t>𝑀</m:t>
                    </m:r>
                  </m:oMath>
                </a14:m>
                <a:endParaRPr kumimoji="1" lang="en-US" altLang="ja-JP" dirty="0"/>
              </a:p>
              <a:p>
                <a:pPr lvl="2"/>
                <a:r>
                  <a:rPr lang="ja-JP" altLang="en-US" dirty="0"/>
                  <a:t>分岐命令の出現率：</a:t>
                </a:r>
                <a:r>
                  <a:rPr lang="en-US" altLang="ja-JP" dirty="0"/>
                  <a:t>			</a:t>
                </a:r>
                <a14:m>
                  <m:oMath xmlns:m="http://schemas.openxmlformats.org/officeDocument/2006/math">
                    <m:r>
                      <a:rPr lang="en-US" altLang="ja-JP" i="1" dirty="0">
                        <a:latin typeface="Cambria Math" panose="02040503050406030204" pitchFamily="18" charset="0"/>
                      </a:rPr>
                      <m:t>𝑃𝑏</m:t>
                    </m:r>
                    <m:r>
                      <a:rPr lang="en-US" altLang="ja-JP" b="0" i="1" dirty="0" smtClean="0">
                        <a:latin typeface="Cambria Math" panose="02040503050406030204" pitchFamily="18" charset="0"/>
                      </a:rPr>
                      <m:t>=0.25</m:t>
                    </m:r>
                  </m:oMath>
                </a14:m>
                <a:endParaRPr kumimoji="1" lang="en-US" altLang="ja-JP" dirty="0"/>
              </a:p>
              <a:p>
                <a:pPr marL="1080000" lvl="3" indent="0">
                  <a:buNone/>
                </a:pPr>
                <a:r>
                  <a:rPr kumimoji="1" lang="ja-JP" altLang="en-US" dirty="0"/>
                  <a:t>（プログラムは大体４命令に１つぐらい分岐が出てくる</a:t>
                </a:r>
                <a:endParaRPr kumimoji="1" lang="en-US" altLang="ja-JP" dirty="0"/>
              </a:p>
              <a:p>
                <a:pPr lvl="2"/>
                <a:r>
                  <a:rPr kumimoji="1" lang="ja-JP" altLang="en-US" dirty="0"/>
                  <a:t>分岐命令毎の予測ミス発生率：</a:t>
                </a:r>
                <a:r>
                  <a:rPr kumimoji="1" lang="en-US" altLang="ja-JP" dirty="0"/>
                  <a:t>	</a:t>
                </a:r>
                <a14:m>
                  <m:oMath xmlns:m="http://schemas.openxmlformats.org/officeDocument/2006/math">
                    <m:r>
                      <a:rPr kumimoji="1" lang="en-US" altLang="ja-JP" i="1" dirty="0" smtClean="0">
                        <a:latin typeface="Cambria Math" panose="02040503050406030204" pitchFamily="18" charset="0"/>
                      </a:rPr>
                      <m:t>𝑃𝑚</m:t>
                    </m:r>
                    <m:r>
                      <a:rPr kumimoji="1" lang="en-US" altLang="ja-JP" b="0" i="1" dirty="0" smtClean="0">
                        <a:latin typeface="Cambria Math" panose="02040503050406030204" pitchFamily="18" charset="0"/>
                      </a:rPr>
                      <m:t>=0.1</m:t>
                    </m:r>
                  </m:oMath>
                </a14:m>
                <a:br>
                  <a:rPr kumimoji="1" lang="en-US" altLang="ja-JP" dirty="0"/>
                </a:br>
                <a:endParaRPr kumimoji="1" lang="en-US" altLang="ja-JP" dirty="0"/>
              </a:p>
              <a:p>
                <a:pPr lvl="1"/>
                <a:r>
                  <a:rPr kumimoji="1" lang="ja-JP" altLang="en-US" dirty="0"/>
                  <a:t>分岐予測ミス・ペナルティ：</a:t>
                </a:r>
                <a:r>
                  <a:rPr kumimoji="1" lang="en-US" altLang="ja-JP" dirty="0"/>
                  <a:t>	</a:t>
                </a:r>
                <a14:m>
                  <m:oMath xmlns:m="http://schemas.openxmlformats.org/officeDocument/2006/math">
                    <m:r>
                      <a:rPr kumimoji="1" lang="en-US" altLang="ja-JP" b="1" i="1" dirty="0" smtClean="0">
                        <a:solidFill>
                          <a:schemeClr val="accent5"/>
                        </a:solidFill>
                        <a:latin typeface="Cambria Math" panose="02040503050406030204" pitchFamily="18" charset="0"/>
                      </a:rPr>
                      <m:t>𝑪𝒑</m:t>
                    </m:r>
                    <m:r>
                      <a:rPr kumimoji="1" lang="en-US" altLang="ja-JP" b="1" i="1" dirty="0" smtClean="0">
                        <a:solidFill>
                          <a:schemeClr val="accent5"/>
                        </a:solidFill>
                        <a:latin typeface="Cambria Math" panose="02040503050406030204" pitchFamily="18" charset="0"/>
                      </a:rPr>
                      <m:t>=</m:t>
                    </m:r>
                    <m:r>
                      <a:rPr kumimoji="1" lang="en-US" altLang="ja-JP" b="1" i="1" dirty="0" smtClean="0">
                        <a:solidFill>
                          <a:schemeClr val="accent5"/>
                        </a:solidFill>
                        <a:latin typeface="Cambria Math" panose="02040503050406030204" pitchFamily="18" charset="0"/>
                      </a:rPr>
                      <m:t>𝟒</m:t>
                    </m:r>
                  </m:oMath>
                </a14:m>
                <a:endParaRPr kumimoji="1" lang="en-US" altLang="ja-JP" b="1" dirty="0">
                  <a:solidFill>
                    <a:schemeClr val="accent5"/>
                  </a:solidFill>
                </a:endParaRPr>
              </a:p>
              <a:p>
                <a:r>
                  <a:rPr kumimoji="1" lang="ja-JP" altLang="en-US" dirty="0"/>
                  <a:t>実行サイクル数 </a:t>
                </a:r>
                <a14:m>
                  <m:oMath xmlns:m="http://schemas.openxmlformats.org/officeDocument/2006/math">
                    <m:r>
                      <a:rPr kumimoji="1" lang="en-US" altLang="ja-JP" i="1" dirty="0" smtClean="0">
                        <a:latin typeface="Cambria Math" panose="02040503050406030204" pitchFamily="18" charset="0"/>
                      </a:rPr>
                      <m:t>𝐶𝑟</m:t>
                    </m:r>
                  </m:oMath>
                </a14:m>
                <a:r>
                  <a:rPr kumimoji="1" lang="en-US" altLang="ja-JP" dirty="0"/>
                  <a:t> </a:t>
                </a:r>
                <a:r>
                  <a:rPr kumimoji="1" lang="ja-JP" altLang="en-US" dirty="0"/>
                  <a:t>は</a:t>
                </a:r>
                <a:endParaRPr kumimoji="1" lang="en-US" altLang="ja-JP" dirty="0"/>
              </a:p>
              <a:p>
                <a:pPr lvl="1"/>
                <a14:m>
                  <m:oMath xmlns:m="http://schemas.openxmlformats.org/officeDocument/2006/math">
                    <m:r>
                      <a:rPr lang="en-US" b="1" i="1" dirty="0" smtClean="0">
                        <a:solidFill>
                          <a:schemeClr val="accent5"/>
                        </a:solidFill>
                        <a:latin typeface="Cambria Math" panose="02040503050406030204" pitchFamily="18" charset="0"/>
                      </a:rPr>
                      <m:t>𝑪𝒓</m:t>
                    </m:r>
                    <m:r>
                      <a:rPr lang="en-US" b="1" i="1" dirty="0" smtClean="0">
                        <a:solidFill>
                          <a:schemeClr val="accent5"/>
                        </a:solidFill>
                        <a:latin typeface="Cambria Math" panose="02040503050406030204" pitchFamily="18" charset="0"/>
                      </a:rPr>
                      <m:t>=</m:t>
                    </m:r>
                    <m:r>
                      <a:rPr lang="en-US" b="1" i="1" dirty="0" smtClean="0">
                        <a:solidFill>
                          <a:schemeClr val="accent5"/>
                        </a:solidFill>
                        <a:latin typeface="Cambria Math" panose="02040503050406030204" pitchFamily="18" charset="0"/>
                      </a:rPr>
                      <m:t>𝑪𝒕</m:t>
                    </m:r>
                    <m:r>
                      <a:rPr lang="en-US" b="1" i="1" dirty="0" smtClean="0">
                        <a:solidFill>
                          <a:schemeClr val="accent5"/>
                        </a:solidFill>
                        <a:latin typeface="Cambria Math" panose="02040503050406030204" pitchFamily="18" charset="0"/>
                      </a:rPr>
                      <m:t> + </m:t>
                    </m:r>
                    <m:r>
                      <a:rPr lang="en-US" b="1" i="1" dirty="0" smtClean="0">
                        <a:solidFill>
                          <a:schemeClr val="accent5"/>
                        </a:solidFill>
                        <a:latin typeface="Cambria Math" panose="02040503050406030204" pitchFamily="18" charset="0"/>
                      </a:rPr>
                      <m:t>𝑵𝒎</m:t>
                    </m:r>
                    <m:r>
                      <a:rPr lang="en-US" altLang="ja-JP" b="1" i="1" dirty="0">
                        <a:solidFill>
                          <a:schemeClr val="accent5"/>
                        </a:solidFill>
                        <a:latin typeface="Cambria Math" panose="02040503050406030204" pitchFamily="18" charset="0"/>
                      </a:rPr>
                      <m:t>×</m:t>
                    </m:r>
                    <m:r>
                      <a:rPr lang="en-US" altLang="ja-JP" b="1" i="1" dirty="0" smtClean="0">
                        <a:solidFill>
                          <a:schemeClr val="accent5"/>
                        </a:solidFill>
                        <a:latin typeface="Cambria Math" panose="02040503050406030204" pitchFamily="18" charset="0"/>
                      </a:rPr>
                      <m:t>𝑪𝒑</m:t>
                    </m:r>
                    <m:r>
                      <a:rPr lang="en-US" altLang="ja-JP" b="1" i="1" dirty="0" smtClean="0">
                        <a:solidFill>
                          <a:schemeClr val="accent5"/>
                        </a:solidFill>
                        <a:latin typeface="Cambria Math" panose="02040503050406030204" pitchFamily="18" charset="0"/>
                      </a:rPr>
                      <m:t>=</m:t>
                    </m:r>
                    <m:r>
                      <a:rPr lang="en-US" altLang="ja-JP" b="1" i="1" dirty="0" smtClean="0">
                        <a:solidFill>
                          <a:schemeClr val="accent5"/>
                        </a:solidFill>
                        <a:latin typeface="Cambria Math" panose="02040503050406030204" pitchFamily="18" charset="0"/>
                      </a:rPr>
                      <m:t>𝟏</m:t>
                    </m:r>
                    <m:r>
                      <a:rPr lang="en-US" altLang="ja-JP" b="1" i="1" dirty="0" smtClean="0">
                        <a:solidFill>
                          <a:schemeClr val="accent5"/>
                        </a:solidFill>
                        <a:latin typeface="Cambria Math" panose="02040503050406030204" pitchFamily="18" charset="0"/>
                      </a:rPr>
                      <m:t>𝑴</m:t>
                    </m:r>
                    <m:r>
                      <a:rPr lang="en-US" altLang="ja-JP" b="1" i="1" dirty="0" smtClean="0">
                        <a:solidFill>
                          <a:schemeClr val="accent5"/>
                        </a:solidFill>
                        <a:latin typeface="Cambria Math" panose="02040503050406030204" pitchFamily="18" charset="0"/>
                      </a:rPr>
                      <m:t>+</m:t>
                    </m:r>
                    <m:r>
                      <a:rPr lang="en-US" altLang="ja-JP" b="1" i="1" dirty="0" smtClean="0">
                        <a:solidFill>
                          <a:schemeClr val="accent5"/>
                        </a:solidFill>
                        <a:latin typeface="Cambria Math" panose="02040503050406030204" pitchFamily="18" charset="0"/>
                      </a:rPr>
                      <m:t>𝟎</m:t>
                    </m:r>
                    <m:r>
                      <a:rPr lang="en-US" altLang="ja-JP" b="1" i="1" dirty="0" smtClean="0">
                        <a:solidFill>
                          <a:schemeClr val="accent5"/>
                        </a:solidFill>
                        <a:latin typeface="Cambria Math" panose="02040503050406030204" pitchFamily="18" charset="0"/>
                      </a:rPr>
                      <m:t>.</m:t>
                    </m:r>
                    <m:r>
                      <a:rPr lang="en-US" altLang="ja-JP" b="1" i="1" dirty="0" smtClean="0">
                        <a:solidFill>
                          <a:schemeClr val="accent5"/>
                        </a:solidFill>
                        <a:latin typeface="Cambria Math" panose="02040503050406030204" pitchFamily="18" charset="0"/>
                      </a:rPr>
                      <m:t>𝟏</m:t>
                    </m:r>
                    <m:r>
                      <a:rPr lang="en-US" altLang="ja-JP" b="1" i="1" dirty="0" smtClean="0">
                        <a:solidFill>
                          <a:schemeClr val="accent5"/>
                        </a:solidFill>
                        <a:latin typeface="Cambria Math" panose="02040503050406030204" pitchFamily="18" charset="0"/>
                      </a:rPr>
                      <m:t>𝑴</m:t>
                    </m:r>
                    <m:r>
                      <a:rPr lang="en-US" altLang="ja-JP" b="1" i="1" dirty="0" smtClean="0">
                        <a:solidFill>
                          <a:schemeClr val="accent5"/>
                        </a:solidFill>
                        <a:latin typeface="Cambria Math" panose="02040503050406030204" pitchFamily="18" charset="0"/>
                      </a:rPr>
                      <m:t>=</m:t>
                    </m:r>
                    <m:r>
                      <a:rPr lang="en-US" altLang="ja-JP" b="1" i="1" dirty="0" smtClean="0">
                        <a:solidFill>
                          <a:schemeClr val="accent5"/>
                        </a:solidFill>
                        <a:latin typeface="Cambria Math" panose="02040503050406030204" pitchFamily="18" charset="0"/>
                      </a:rPr>
                      <m:t>𝟏</m:t>
                    </m:r>
                    <m:r>
                      <a:rPr lang="en-US" altLang="ja-JP" b="1" i="1" dirty="0" smtClean="0">
                        <a:solidFill>
                          <a:schemeClr val="accent5"/>
                        </a:solidFill>
                        <a:latin typeface="Cambria Math" panose="02040503050406030204" pitchFamily="18" charset="0"/>
                      </a:rPr>
                      <m:t>.</m:t>
                    </m:r>
                    <m:r>
                      <a:rPr lang="en-US" altLang="ja-JP" b="1" i="1" dirty="0" smtClean="0">
                        <a:solidFill>
                          <a:schemeClr val="accent5"/>
                        </a:solidFill>
                        <a:latin typeface="Cambria Math" panose="02040503050406030204" pitchFamily="18" charset="0"/>
                      </a:rPr>
                      <m:t>𝟏</m:t>
                    </m:r>
                    <m:r>
                      <a:rPr lang="en-US" altLang="ja-JP" b="1" i="1" dirty="0" smtClean="0">
                        <a:solidFill>
                          <a:schemeClr val="accent5"/>
                        </a:solidFill>
                        <a:latin typeface="Cambria Math" panose="02040503050406030204" pitchFamily="18" charset="0"/>
                      </a:rPr>
                      <m:t>𝑴</m:t>
                    </m:r>
                  </m:oMath>
                </a14:m>
                <a:endParaRPr kumimoji="1" lang="en-US" b="1" dirty="0">
                  <a:solidFill>
                    <a:schemeClr val="accent5"/>
                  </a:solidFill>
                </a:endParaRPr>
              </a:p>
              <a:p>
                <a:pPr lvl="1"/>
                <a:r>
                  <a:rPr kumimoji="1" lang="ja-JP" altLang="en-US" dirty="0"/>
                  <a:t>分岐予測ミスにより </a:t>
                </a:r>
                <a:r>
                  <a:rPr kumimoji="1" lang="en-US" altLang="ja-JP" dirty="0"/>
                  <a:t>10% </a:t>
                </a:r>
                <a:r>
                  <a:rPr kumimoji="1" lang="ja-JP" altLang="en-US" dirty="0"/>
                  <a:t>実行サイクル数が伸びている</a:t>
                </a:r>
                <a:endParaRPr kumimoji="1" lang="en-US" dirty="0"/>
              </a:p>
            </p:txBody>
          </p:sp>
        </mc:Choice>
        <mc:Fallback xmlns="">
          <p:sp>
            <p:nvSpPr>
              <p:cNvPr id="3" name="コンテンツ プレースホルダー 2">
                <a:extLst>
                  <a:ext uri="{FF2B5EF4-FFF2-40B4-BE49-F238E27FC236}">
                    <a16:creationId xmlns:a16="http://schemas.microsoft.com/office/drawing/2014/main" id="{7A388F3E-9D46-BE60-22D7-DE67BE9600EC}"/>
                  </a:ext>
                </a:extLst>
              </p:cNvPr>
              <p:cNvSpPr>
                <a:spLocks noGrp="1" noRot="1" noChangeAspect="1" noMove="1" noResize="1" noEditPoints="1" noAdjustHandles="1" noChangeArrowheads="1" noChangeShapeType="1" noTextEdit="1"/>
              </p:cNvSpPr>
              <p:nvPr>
                <p:ph sz="quarter" idx="10"/>
              </p:nvPr>
            </p:nvSpPr>
            <p:spPr>
              <a:xfrm>
                <a:off x="431954" y="1088974"/>
                <a:ext cx="8550095" cy="5220058"/>
              </a:xfrm>
              <a:blipFill>
                <a:blip r:embed="rId2"/>
                <a:stretch>
                  <a:fillRect l="-642" t="-3154" b="-5023"/>
                </a:stretch>
              </a:blipFill>
            </p:spPr>
            <p:txBody>
              <a:bodyPr/>
              <a:lstStyle/>
              <a:p>
                <a:r>
                  <a:rPr lang="en-US">
                    <a:noFill/>
                  </a:rPr>
                  <a:t> </a:t>
                </a:r>
              </a:p>
            </p:txBody>
          </p:sp>
        </mc:Fallback>
      </mc:AlternateContent>
    </p:spTree>
    <p:extLst>
      <p:ext uri="{BB962C8B-B14F-4D97-AF65-F5344CB8AC3E}">
        <p14:creationId xmlns:p14="http://schemas.microsoft.com/office/powerpoint/2010/main" val="266266787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DC12892-35F5-E8A0-AFC3-832AE2AE9B06}"/>
              </a:ext>
            </a:extLst>
          </p:cNvPr>
          <p:cNvSpPr>
            <a:spLocks noGrp="1"/>
          </p:cNvSpPr>
          <p:nvPr>
            <p:ph type="title"/>
          </p:nvPr>
        </p:nvSpPr>
        <p:spPr/>
        <p:txBody>
          <a:bodyPr/>
          <a:lstStyle/>
          <a:p>
            <a:r>
              <a:rPr kumimoji="1" lang="en-US" dirty="0"/>
              <a:t>IPC </a:t>
            </a:r>
            <a:r>
              <a:rPr kumimoji="1" lang="ja-JP" altLang="en-US" dirty="0"/>
              <a:t>で考えると</a:t>
            </a:r>
            <a:endParaRPr kumimoji="1" lang="en-US"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24C80AA3-F81D-AB4A-CDFC-745326F1053F}"/>
                  </a:ext>
                </a:extLst>
              </p:cNvPr>
              <p:cNvSpPr>
                <a:spLocks noGrp="1"/>
              </p:cNvSpPr>
              <p:nvPr>
                <p:ph sz="quarter" idx="10"/>
              </p:nvPr>
            </p:nvSpPr>
            <p:spPr/>
            <p:txBody>
              <a:bodyPr/>
              <a:lstStyle/>
              <a:p>
                <a:r>
                  <a:rPr lang="ja-JP" altLang="en-US" i="1" dirty="0">
                    <a:latin typeface="Cambria Math" panose="02040503050406030204" pitchFamily="18" charset="0"/>
                  </a:rPr>
                  <a:t>最終的な性能を考える上で </a:t>
                </a:r>
                <a:r>
                  <a:rPr lang="en-US" altLang="ja-JP" i="0" dirty="0">
                    <a:latin typeface="+mj-lt"/>
                  </a:rPr>
                  <a:t>IPC</a:t>
                </a:r>
                <a14:m>
                  <m:oMath xmlns:m="http://schemas.openxmlformats.org/officeDocument/2006/math">
                    <m:r>
                      <a:rPr lang="en-US" altLang="ja-JP" i="1" dirty="0" smtClean="0">
                        <a:latin typeface="Cambria Math" panose="02040503050406030204" pitchFamily="18" charset="0"/>
                      </a:rPr>
                      <m:t> </m:t>
                    </m:r>
                  </m:oMath>
                </a14:m>
                <a:r>
                  <a:rPr lang="en-US" altLang="ja-JP" i="1" dirty="0">
                    <a:latin typeface="Cambria Math" panose="02040503050406030204" pitchFamily="18" charset="0"/>
                  </a:rPr>
                  <a:t> </a:t>
                </a:r>
                <a:r>
                  <a:rPr lang="ja-JP" altLang="en-US" i="1" dirty="0">
                    <a:latin typeface="Cambria Math" panose="02040503050406030204" pitchFamily="18" charset="0"/>
                  </a:rPr>
                  <a:t>の方が都合がよい</a:t>
                </a:r>
                <a:endParaRPr lang="en-US" altLang="ja-JP" i="1" dirty="0">
                  <a:latin typeface="Cambria Math" panose="02040503050406030204" pitchFamily="18" charset="0"/>
                </a:endParaRPr>
              </a:p>
              <a:p>
                <a14:m>
                  <m:oMath xmlns:m="http://schemas.openxmlformats.org/officeDocument/2006/math">
                    <m:r>
                      <a:rPr lang="ja-JP" altLang="en-US" i="1" dirty="0" smtClean="0">
                        <a:latin typeface="Cambria Math" panose="02040503050406030204" pitchFamily="18" charset="0"/>
                      </a:rPr>
                      <m:t>実行サイクル数</m:t>
                    </m:r>
                    <m:r>
                      <a:rPr lang="en-US" altLang="ja-JP" b="0" i="1" dirty="0" smtClean="0">
                        <a:latin typeface="Cambria Math" panose="02040503050406030204" pitchFamily="18" charset="0"/>
                      </a:rPr>
                      <m:t> </m:t>
                    </m:r>
                    <m:r>
                      <a:rPr lang="en-US" altLang="ja-JP" i="1" dirty="0" smtClean="0">
                        <a:latin typeface="Cambria Math" panose="02040503050406030204" pitchFamily="18" charset="0"/>
                      </a:rPr>
                      <m:t>𝐶𝑟</m:t>
                    </m:r>
                  </m:oMath>
                </a14:m>
                <a:r>
                  <a:rPr kumimoji="1" lang="ja-JP" altLang="en-US" dirty="0"/>
                  <a:t> を命令数 </a:t>
                </a:r>
                <a14:m>
                  <m:oMath xmlns:m="http://schemas.openxmlformats.org/officeDocument/2006/math">
                    <m:r>
                      <a:rPr kumimoji="1" lang="en-US" altLang="ja-JP" i="1" dirty="0" smtClean="0">
                        <a:latin typeface="Cambria Math" panose="02040503050406030204" pitchFamily="18" charset="0"/>
                      </a:rPr>
                      <m:t>𝑁𝑖</m:t>
                    </m:r>
                  </m:oMath>
                </a14:m>
                <a:r>
                  <a:rPr kumimoji="1" lang="en-US" dirty="0"/>
                  <a:t> </a:t>
                </a:r>
                <a:r>
                  <a:rPr kumimoji="1" lang="ja-JP" altLang="en-US" dirty="0"/>
                  <a:t>で正規化すると，</a:t>
                </a:r>
                <a:endParaRPr kumimoji="1" lang="en-US" altLang="ja-JP" dirty="0"/>
              </a:p>
              <a:p>
                <a:pPr lvl="1"/>
                <a14:m>
                  <m:oMath xmlns:m="http://schemas.openxmlformats.org/officeDocument/2006/math">
                    <m:f>
                      <m:fPr>
                        <m:ctrlPr>
                          <a:rPr lang="en-US" altLang="ja-JP" b="0" i="1" dirty="0" smtClean="0">
                            <a:latin typeface="Cambria Math" panose="02040503050406030204" pitchFamily="18" charset="0"/>
                          </a:rPr>
                        </m:ctrlPr>
                      </m:fPr>
                      <m:num>
                        <m:r>
                          <a:rPr lang="en-US" altLang="ja-JP" i="1" dirty="0" smtClean="0">
                            <a:latin typeface="Cambria Math" panose="02040503050406030204" pitchFamily="18" charset="0"/>
                          </a:rPr>
                          <m:t>𝐶𝑟</m:t>
                        </m:r>
                      </m:num>
                      <m:den>
                        <m:r>
                          <a:rPr lang="en-US" altLang="ja-JP" b="0" i="1" dirty="0" smtClean="0">
                            <a:latin typeface="Cambria Math" panose="02040503050406030204" pitchFamily="18" charset="0"/>
                          </a:rPr>
                          <m:t>𝑁𝑖</m:t>
                        </m:r>
                      </m:den>
                    </m:f>
                    <m:r>
                      <a:rPr lang="en-US" altLang="ja-JP" i="1" dirty="0" smtClean="0">
                        <a:latin typeface="Cambria Math" panose="02040503050406030204" pitchFamily="18" charset="0"/>
                      </a:rPr>
                      <m:t>=</m:t>
                    </m:r>
                    <m:f>
                      <m:fPr>
                        <m:ctrlPr>
                          <a:rPr lang="en-US" altLang="ja-JP" i="1" dirty="0">
                            <a:latin typeface="Cambria Math" panose="02040503050406030204" pitchFamily="18" charset="0"/>
                          </a:rPr>
                        </m:ctrlPr>
                      </m:fPr>
                      <m:num>
                        <m:r>
                          <a:rPr lang="en-US" altLang="ja-JP" i="1" dirty="0">
                            <a:latin typeface="Cambria Math" panose="02040503050406030204" pitchFamily="18" charset="0"/>
                          </a:rPr>
                          <m:t>𝐶𝑡</m:t>
                        </m:r>
                      </m:num>
                      <m:den>
                        <m:r>
                          <a:rPr lang="en-US" altLang="ja-JP" i="1" dirty="0">
                            <a:latin typeface="Cambria Math" panose="02040503050406030204" pitchFamily="18" charset="0"/>
                          </a:rPr>
                          <m:t>𝑁𝑖</m:t>
                        </m:r>
                      </m:den>
                    </m:f>
                    <m:r>
                      <a:rPr lang="en-US" altLang="ja-JP" i="1" dirty="0">
                        <a:latin typeface="Cambria Math" panose="02040503050406030204" pitchFamily="18" charset="0"/>
                      </a:rPr>
                      <m:t> +</m:t>
                    </m:r>
                    <m:f>
                      <m:fPr>
                        <m:ctrlPr>
                          <a:rPr lang="en-US" altLang="ja-JP" i="1" dirty="0">
                            <a:latin typeface="Cambria Math" panose="02040503050406030204" pitchFamily="18" charset="0"/>
                          </a:rPr>
                        </m:ctrlPr>
                      </m:fPr>
                      <m:num>
                        <m:d>
                          <m:dPr>
                            <m:ctrlPr>
                              <a:rPr lang="en-US" altLang="ja-JP" i="1" dirty="0">
                                <a:latin typeface="Cambria Math" panose="02040503050406030204" pitchFamily="18" charset="0"/>
                              </a:rPr>
                            </m:ctrlPr>
                          </m:dPr>
                          <m:e>
                            <m:r>
                              <a:rPr lang="en-US" altLang="ja-JP" i="1" dirty="0">
                                <a:latin typeface="Cambria Math" panose="02040503050406030204" pitchFamily="18" charset="0"/>
                              </a:rPr>
                              <m:t>𝑁𝑚</m:t>
                            </m:r>
                            <m:r>
                              <a:rPr lang="en-US" altLang="ja-JP" i="1" dirty="0">
                                <a:latin typeface="Cambria Math" panose="02040503050406030204" pitchFamily="18" charset="0"/>
                              </a:rPr>
                              <m:t>×</m:t>
                            </m:r>
                            <m:r>
                              <a:rPr lang="en-US" altLang="ja-JP" i="1" dirty="0">
                                <a:latin typeface="Cambria Math" panose="02040503050406030204" pitchFamily="18" charset="0"/>
                              </a:rPr>
                              <m:t>𝐶𝑝</m:t>
                            </m:r>
                          </m:e>
                        </m:d>
                      </m:num>
                      <m:den>
                        <m:r>
                          <a:rPr lang="en-US" altLang="ja-JP" i="1" dirty="0">
                            <a:latin typeface="Cambria Math" panose="02040503050406030204" pitchFamily="18" charset="0"/>
                          </a:rPr>
                          <m:t>𝑁𝑖</m:t>
                        </m:r>
                      </m:den>
                    </m:f>
                    <m:r>
                      <a:rPr lang="en-US" altLang="ja-JP" i="1" dirty="0">
                        <a:latin typeface="Cambria Math" panose="02040503050406030204" pitchFamily="18" charset="0"/>
                      </a:rPr>
                      <m:t>=</m:t>
                    </m:r>
                    <m:f>
                      <m:fPr>
                        <m:ctrlPr>
                          <a:rPr lang="en-US" altLang="ja-JP" i="1" dirty="0">
                            <a:latin typeface="Cambria Math" panose="02040503050406030204" pitchFamily="18" charset="0"/>
                          </a:rPr>
                        </m:ctrlPr>
                      </m:fPr>
                      <m:num>
                        <m:r>
                          <a:rPr lang="en-US" altLang="ja-JP" i="1" dirty="0">
                            <a:latin typeface="Cambria Math" panose="02040503050406030204" pitchFamily="18" charset="0"/>
                          </a:rPr>
                          <m:t>𝐶𝑡</m:t>
                        </m:r>
                      </m:num>
                      <m:den>
                        <m:r>
                          <a:rPr lang="en-US" altLang="ja-JP" i="1" dirty="0">
                            <a:latin typeface="Cambria Math" panose="02040503050406030204" pitchFamily="18" charset="0"/>
                          </a:rPr>
                          <m:t>𝑁𝑖</m:t>
                        </m:r>
                      </m:den>
                    </m:f>
                    <m:r>
                      <a:rPr lang="en-US" altLang="ja-JP" i="1" dirty="0">
                        <a:latin typeface="Cambria Math" panose="02040503050406030204" pitchFamily="18" charset="0"/>
                      </a:rPr>
                      <m:t> +</m:t>
                    </m:r>
                    <m:f>
                      <m:fPr>
                        <m:ctrlPr>
                          <a:rPr lang="en-US" altLang="ja-JP" i="1" dirty="0">
                            <a:latin typeface="Cambria Math" panose="02040503050406030204" pitchFamily="18" charset="0"/>
                          </a:rPr>
                        </m:ctrlPr>
                      </m:fPr>
                      <m:num>
                        <m:d>
                          <m:dPr>
                            <m:ctrlPr>
                              <a:rPr lang="en-US" altLang="ja-JP" i="1" dirty="0">
                                <a:latin typeface="Cambria Math" panose="02040503050406030204" pitchFamily="18" charset="0"/>
                              </a:rPr>
                            </m:ctrlPr>
                          </m:dPr>
                          <m:e>
                            <m:r>
                              <a:rPr lang="en-US" altLang="ja-JP" i="1" dirty="0">
                                <a:latin typeface="Cambria Math" panose="02040503050406030204" pitchFamily="18" charset="0"/>
                              </a:rPr>
                              <m:t>𝑁𝑖</m:t>
                            </m:r>
                            <m:r>
                              <a:rPr lang="en-US" altLang="ja-JP" i="1" dirty="0">
                                <a:latin typeface="Cambria Math" panose="02040503050406030204" pitchFamily="18" charset="0"/>
                              </a:rPr>
                              <m:t>×</m:t>
                            </m:r>
                            <m:r>
                              <a:rPr lang="en-US" altLang="ja-JP" i="1" dirty="0">
                                <a:latin typeface="Cambria Math" panose="02040503050406030204" pitchFamily="18" charset="0"/>
                              </a:rPr>
                              <m:t>𝑃𝑏</m:t>
                            </m:r>
                            <m:r>
                              <a:rPr lang="en-US" altLang="ja-JP" i="1" dirty="0">
                                <a:latin typeface="Cambria Math" panose="02040503050406030204" pitchFamily="18" charset="0"/>
                              </a:rPr>
                              <m:t>×</m:t>
                            </m:r>
                            <m:r>
                              <a:rPr lang="en-US" altLang="ja-JP" i="1" dirty="0">
                                <a:latin typeface="Cambria Math" panose="02040503050406030204" pitchFamily="18" charset="0"/>
                              </a:rPr>
                              <m:t>𝑃𝑚</m:t>
                            </m:r>
                            <m:r>
                              <a:rPr lang="en-US" altLang="ja-JP" b="0" i="1" dirty="0" smtClean="0">
                                <a:latin typeface="Cambria Math" panose="02040503050406030204" pitchFamily="18" charset="0"/>
                              </a:rPr>
                              <m:t>×</m:t>
                            </m:r>
                            <m:r>
                              <a:rPr lang="en-US" altLang="ja-JP" i="1" dirty="0">
                                <a:latin typeface="Cambria Math" panose="02040503050406030204" pitchFamily="18" charset="0"/>
                              </a:rPr>
                              <m:t>𝐶𝑝</m:t>
                            </m:r>
                          </m:e>
                        </m:d>
                      </m:num>
                      <m:den>
                        <m:r>
                          <a:rPr lang="en-US" altLang="ja-JP" i="1" dirty="0">
                            <a:latin typeface="Cambria Math" panose="02040503050406030204" pitchFamily="18" charset="0"/>
                          </a:rPr>
                          <m:t>𝑁𝑖</m:t>
                        </m:r>
                      </m:den>
                    </m:f>
                    <m:r>
                      <a:rPr lang="en-US" altLang="ja-JP" b="0" i="1" dirty="0" smtClean="0">
                        <a:latin typeface="Cambria Math" panose="02040503050406030204" pitchFamily="18" charset="0"/>
                      </a:rPr>
                      <m:t>=</m:t>
                    </m:r>
                    <m:f>
                      <m:fPr>
                        <m:ctrlPr>
                          <a:rPr lang="en-US" altLang="ja-JP" i="1" dirty="0" smtClean="0">
                            <a:solidFill>
                              <a:schemeClr val="accent5"/>
                            </a:solidFill>
                            <a:latin typeface="Cambria Math" panose="02040503050406030204" pitchFamily="18" charset="0"/>
                          </a:rPr>
                        </m:ctrlPr>
                      </m:fPr>
                      <m:num>
                        <m:r>
                          <a:rPr lang="en-US" altLang="ja-JP" i="1" dirty="0">
                            <a:solidFill>
                              <a:schemeClr val="accent5"/>
                            </a:solidFill>
                            <a:latin typeface="Cambria Math" panose="02040503050406030204" pitchFamily="18" charset="0"/>
                          </a:rPr>
                          <m:t>𝐶𝑡</m:t>
                        </m:r>
                      </m:num>
                      <m:den>
                        <m:r>
                          <a:rPr lang="en-US" altLang="ja-JP" i="1" dirty="0">
                            <a:solidFill>
                              <a:schemeClr val="accent5"/>
                            </a:solidFill>
                            <a:latin typeface="Cambria Math" panose="02040503050406030204" pitchFamily="18" charset="0"/>
                          </a:rPr>
                          <m:t>𝑁𝑖</m:t>
                        </m:r>
                      </m:den>
                    </m:f>
                    <m:r>
                      <a:rPr lang="en-US" altLang="ja-JP" i="1" dirty="0">
                        <a:solidFill>
                          <a:schemeClr val="accent5"/>
                        </a:solidFill>
                        <a:latin typeface="Cambria Math" panose="02040503050406030204" pitchFamily="18" charset="0"/>
                      </a:rPr>
                      <m:t> </m:t>
                    </m:r>
                    <m:r>
                      <a:rPr lang="en-US" altLang="ja-JP" i="1" dirty="0" smtClean="0">
                        <a:solidFill>
                          <a:schemeClr val="accent5"/>
                        </a:solidFill>
                        <a:latin typeface="Cambria Math" panose="02040503050406030204" pitchFamily="18" charset="0"/>
                      </a:rPr>
                      <m:t>+</m:t>
                    </m:r>
                    <m:r>
                      <a:rPr kumimoji="1" lang="en-US" altLang="ja-JP" i="1" dirty="0" smtClean="0">
                        <a:solidFill>
                          <a:schemeClr val="accent5"/>
                        </a:solidFill>
                        <a:latin typeface="Cambria Math" panose="02040503050406030204" pitchFamily="18" charset="0"/>
                      </a:rPr>
                      <m:t>𝑃𝑏</m:t>
                    </m:r>
                    <m:r>
                      <a:rPr kumimoji="1" lang="en-US" altLang="ja-JP" b="0" i="1" dirty="0" smtClean="0">
                        <a:solidFill>
                          <a:schemeClr val="accent5"/>
                        </a:solidFill>
                        <a:latin typeface="Cambria Math" panose="02040503050406030204" pitchFamily="18" charset="0"/>
                      </a:rPr>
                      <m:t>×</m:t>
                    </m:r>
                    <m:r>
                      <a:rPr kumimoji="1" lang="en-US" altLang="ja-JP" i="1" dirty="0" smtClean="0">
                        <a:solidFill>
                          <a:schemeClr val="accent5"/>
                        </a:solidFill>
                        <a:latin typeface="Cambria Math" panose="02040503050406030204" pitchFamily="18" charset="0"/>
                      </a:rPr>
                      <m:t>𝑃𝑚</m:t>
                    </m:r>
                    <m:r>
                      <a:rPr lang="en-US" altLang="ja-JP" i="1" dirty="0">
                        <a:solidFill>
                          <a:schemeClr val="accent5"/>
                        </a:solidFill>
                        <a:latin typeface="Cambria Math" panose="02040503050406030204" pitchFamily="18" charset="0"/>
                      </a:rPr>
                      <m:t>×</m:t>
                    </m:r>
                    <m:r>
                      <a:rPr lang="en-US" altLang="ja-JP" i="1" dirty="0">
                        <a:solidFill>
                          <a:schemeClr val="accent5"/>
                        </a:solidFill>
                        <a:latin typeface="Cambria Math" panose="02040503050406030204" pitchFamily="18" charset="0"/>
                      </a:rPr>
                      <m:t>𝐶𝑝</m:t>
                    </m:r>
                  </m:oMath>
                </a14:m>
                <a:endParaRPr kumimoji="1" lang="en-US" altLang="ja-JP" dirty="0">
                  <a:solidFill>
                    <a:schemeClr val="accent5"/>
                  </a:solidFill>
                </a:endParaRPr>
              </a:p>
              <a:p>
                <a:pPr lvl="1"/>
                <a:endParaRPr kumimoji="1" lang="en-US" dirty="0">
                  <a:solidFill>
                    <a:schemeClr val="accent5"/>
                  </a:solidFill>
                </a:endParaRPr>
              </a:p>
              <a:p>
                <a:r>
                  <a:rPr lang="en-US" altLang="ja-JP" dirty="0"/>
                  <a:t>IPC </a:t>
                </a:r>
                <a:r>
                  <a:rPr lang="ja-JP" altLang="en-US" dirty="0"/>
                  <a:t>は命令数を実行サイクル数で割ったもの </a:t>
                </a:r>
                <a:r>
                  <a:rPr lang="en-US" altLang="ja-JP" dirty="0"/>
                  <a:t>= </a:t>
                </a:r>
                <a:r>
                  <a:rPr lang="ja-JP" altLang="en-US" dirty="0"/>
                  <a:t>つまり上記の逆数</a:t>
                </a:r>
                <a:r>
                  <a:rPr kumimoji="1" lang="ja-JP" altLang="en-US" dirty="0"/>
                  <a:t> </a:t>
                </a:r>
                <a:endParaRPr kumimoji="1" lang="en-US" altLang="ja-JP" dirty="0"/>
              </a:p>
              <a:p>
                <a:pPr lvl="1"/>
                <a14:m>
                  <m:oMath xmlns:m="http://schemas.openxmlformats.org/officeDocument/2006/math">
                    <m:r>
                      <a:rPr kumimoji="1" lang="en-US" altLang="ja-JP" i="1" dirty="0" smtClean="0">
                        <a:latin typeface="Cambria Math" panose="02040503050406030204" pitchFamily="18" charset="0"/>
                      </a:rPr>
                      <m:t>𝐼𝑃𝐶𝑟</m:t>
                    </m:r>
                  </m:oMath>
                </a14:m>
                <a:r>
                  <a:rPr kumimoji="1" lang="en-US" dirty="0"/>
                  <a:t>=</a:t>
                </a:r>
                <a14:m>
                  <m:oMath xmlns:m="http://schemas.openxmlformats.org/officeDocument/2006/math">
                    <m:f>
                      <m:fPr>
                        <m:ctrlPr>
                          <a:rPr lang="en-US" altLang="ja-JP" i="1" dirty="0">
                            <a:latin typeface="Cambria Math" panose="02040503050406030204" pitchFamily="18" charset="0"/>
                          </a:rPr>
                        </m:ctrlPr>
                      </m:fPr>
                      <m:num>
                        <m:r>
                          <a:rPr lang="en-US" altLang="ja-JP" i="1" dirty="0">
                            <a:latin typeface="Cambria Math" panose="02040503050406030204" pitchFamily="18" charset="0"/>
                          </a:rPr>
                          <m:t>1</m:t>
                        </m:r>
                      </m:num>
                      <m:den>
                        <m:f>
                          <m:fPr>
                            <m:ctrlPr>
                              <a:rPr lang="en-US" altLang="ja-JP" i="1" dirty="0" smtClean="0">
                                <a:solidFill>
                                  <a:schemeClr val="accent5"/>
                                </a:solidFill>
                                <a:latin typeface="Cambria Math" panose="02040503050406030204" pitchFamily="18" charset="0"/>
                              </a:rPr>
                            </m:ctrlPr>
                          </m:fPr>
                          <m:num>
                            <m:r>
                              <a:rPr lang="en-US" altLang="ja-JP" i="1" dirty="0">
                                <a:solidFill>
                                  <a:schemeClr val="accent5"/>
                                </a:solidFill>
                                <a:latin typeface="Cambria Math" panose="02040503050406030204" pitchFamily="18" charset="0"/>
                              </a:rPr>
                              <m:t>𝐶𝑡</m:t>
                            </m:r>
                          </m:num>
                          <m:den>
                            <m:r>
                              <a:rPr lang="en-US" altLang="ja-JP" i="1" dirty="0">
                                <a:solidFill>
                                  <a:schemeClr val="accent5"/>
                                </a:solidFill>
                                <a:latin typeface="Cambria Math" panose="02040503050406030204" pitchFamily="18" charset="0"/>
                              </a:rPr>
                              <m:t>𝑁𝑖</m:t>
                            </m:r>
                          </m:den>
                        </m:f>
                        <m:r>
                          <a:rPr lang="en-US" altLang="ja-JP" i="1" dirty="0">
                            <a:solidFill>
                              <a:schemeClr val="accent5"/>
                            </a:solidFill>
                            <a:latin typeface="Cambria Math" panose="02040503050406030204" pitchFamily="18" charset="0"/>
                          </a:rPr>
                          <m:t> +</m:t>
                        </m:r>
                        <m:r>
                          <a:rPr lang="en-US" altLang="ja-JP" i="1" dirty="0">
                            <a:solidFill>
                              <a:schemeClr val="accent5"/>
                            </a:solidFill>
                            <a:latin typeface="Cambria Math" panose="02040503050406030204" pitchFamily="18" charset="0"/>
                          </a:rPr>
                          <m:t>𝑃𝑏</m:t>
                        </m:r>
                        <m:r>
                          <a:rPr lang="en-US" altLang="ja-JP" i="1" dirty="0">
                            <a:solidFill>
                              <a:schemeClr val="accent5"/>
                            </a:solidFill>
                            <a:latin typeface="Cambria Math" panose="02040503050406030204" pitchFamily="18" charset="0"/>
                          </a:rPr>
                          <m:t>×</m:t>
                        </m:r>
                        <m:r>
                          <a:rPr lang="en-US" altLang="ja-JP" i="1" dirty="0">
                            <a:solidFill>
                              <a:schemeClr val="accent5"/>
                            </a:solidFill>
                            <a:latin typeface="Cambria Math" panose="02040503050406030204" pitchFamily="18" charset="0"/>
                          </a:rPr>
                          <m:t>𝑃𝑚</m:t>
                        </m:r>
                        <m:r>
                          <a:rPr lang="en-US" altLang="ja-JP" i="1" dirty="0">
                            <a:solidFill>
                              <a:schemeClr val="accent5"/>
                            </a:solidFill>
                            <a:latin typeface="Cambria Math" panose="02040503050406030204" pitchFamily="18" charset="0"/>
                          </a:rPr>
                          <m:t>×</m:t>
                        </m:r>
                        <m:r>
                          <a:rPr lang="en-US" altLang="ja-JP" i="1" dirty="0">
                            <a:solidFill>
                              <a:schemeClr val="accent5"/>
                            </a:solidFill>
                            <a:latin typeface="Cambria Math" panose="02040503050406030204" pitchFamily="18" charset="0"/>
                          </a:rPr>
                          <m:t>𝐶𝑝</m:t>
                        </m:r>
                      </m:den>
                    </m:f>
                    <m:r>
                      <a:rPr lang="en-US" altLang="ja-JP" b="0" i="1" dirty="0" smtClean="0">
                        <a:latin typeface="Cambria Math" panose="02040503050406030204" pitchFamily="18" charset="0"/>
                      </a:rPr>
                      <m:t>=</m:t>
                    </m:r>
                    <m:f>
                      <m:fPr>
                        <m:ctrlPr>
                          <a:rPr lang="en-US" altLang="ja-JP" i="1" dirty="0" smtClean="0">
                            <a:solidFill>
                              <a:schemeClr val="accent6"/>
                            </a:solidFill>
                            <a:latin typeface="Cambria Math" panose="02040503050406030204" pitchFamily="18" charset="0"/>
                          </a:rPr>
                        </m:ctrlPr>
                      </m:fPr>
                      <m:num>
                        <m:r>
                          <a:rPr lang="en-US" altLang="ja-JP" i="1" dirty="0">
                            <a:solidFill>
                              <a:schemeClr val="accent6"/>
                            </a:solidFill>
                            <a:latin typeface="Cambria Math" panose="02040503050406030204" pitchFamily="18" charset="0"/>
                          </a:rPr>
                          <m:t>1</m:t>
                        </m:r>
                      </m:num>
                      <m:den>
                        <m:f>
                          <m:fPr>
                            <m:ctrlPr>
                              <a:rPr lang="en-US" altLang="ja-JP" i="1" dirty="0">
                                <a:solidFill>
                                  <a:schemeClr val="accent6"/>
                                </a:solidFill>
                                <a:latin typeface="Cambria Math" panose="02040503050406030204" pitchFamily="18" charset="0"/>
                              </a:rPr>
                            </m:ctrlPr>
                          </m:fPr>
                          <m:num>
                            <m:r>
                              <a:rPr lang="en-US" altLang="ja-JP" i="1" dirty="0">
                                <a:solidFill>
                                  <a:schemeClr val="accent6"/>
                                </a:solidFill>
                                <a:latin typeface="Cambria Math" panose="02040503050406030204" pitchFamily="18" charset="0"/>
                              </a:rPr>
                              <m:t>1</m:t>
                            </m:r>
                          </m:num>
                          <m:den>
                            <m:r>
                              <a:rPr lang="en-US" altLang="ja-JP" b="0" i="1" dirty="0" smtClean="0">
                                <a:solidFill>
                                  <a:schemeClr val="accent6"/>
                                </a:solidFill>
                                <a:latin typeface="Cambria Math" panose="02040503050406030204" pitchFamily="18" charset="0"/>
                              </a:rPr>
                              <m:t>𝐼𝑃𝐶𝑡</m:t>
                            </m:r>
                          </m:den>
                        </m:f>
                        <m:r>
                          <a:rPr lang="en-US" altLang="ja-JP" i="1" dirty="0">
                            <a:solidFill>
                              <a:schemeClr val="accent6"/>
                            </a:solidFill>
                            <a:latin typeface="Cambria Math" panose="02040503050406030204" pitchFamily="18" charset="0"/>
                          </a:rPr>
                          <m:t>+</m:t>
                        </m:r>
                        <m:r>
                          <a:rPr lang="en-US" altLang="ja-JP" i="1" dirty="0">
                            <a:solidFill>
                              <a:schemeClr val="accent6"/>
                            </a:solidFill>
                            <a:latin typeface="Cambria Math" panose="02040503050406030204" pitchFamily="18" charset="0"/>
                          </a:rPr>
                          <m:t>𝑃𝑏</m:t>
                        </m:r>
                        <m:r>
                          <a:rPr lang="en-US" altLang="ja-JP" i="1" dirty="0">
                            <a:solidFill>
                              <a:schemeClr val="accent6"/>
                            </a:solidFill>
                            <a:latin typeface="Cambria Math" panose="02040503050406030204" pitchFamily="18" charset="0"/>
                          </a:rPr>
                          <m:t>×</m:t>
                        </m:r>
                        <m:r>
                          <a:rPr lang="en-US" altLang="ja-JP" i="1" dirty="0">
                            <a:solidFill>
                              <a:schemeClr val="accent6"/>
                            </a:solidFill>
                            <a:latin typeface="Cambria Math" panose="02040503050406030204" pitchFamily="18" charset="0"/>
                          </a:rPr>
                          <m:t>𝑃𝑚</m:t>
                        </m:r>
                        <m:r>
                          <a:rPr lang="en-US" altLang="ja-JP" i="1" dirty="0">
                            <a:solidFill>
                              <a:schemeClr val="accent6"/>
                            </a:solidFill>
                            <a:latin typeface="Cambria Math" panose="02040503050406030204" pitchFamily="18" charset="0"/>
                          </a:rPr>
                          <m:t>×</m:t>
                        </m:r>
                        <m:r>
                          <a:rPr lang="en-US" altLang="ja-JP" i="1" dirty="0">
                            <a:solidFill>
                              <a:schemeClr val="accent6"/>
                            </a:solidFill>
                            <a:latin typeface="Cambria Math" panose="02040503050406030204" pitchFamily="18" charset="0"/>
                          </a:rPr>
                          <m:t>𝐶𝑝</m:t>
                        </m:r>
                      </m:den>
                    </m:f>
                  </m:oMath>
                </a14:m>
                <a:endParaRPr lang="en-US" altLang="ja-JP" dirty="0"/>
              </a:p>
              <a:p>
                <a:pPr lvl="1"/>
                <a14:m>
                  <m:oMath xmlns:m="http://schemas.openxmlformats.org/officeDocument/2006/math">
                    <m:r>
                      <a:rPr lang="ja-JP" altLang="en-US" i="1" dirty="0">
                        <a:latin typeface="Cambria Math" panose="02040503050406030204" pitchFamily="18" charset="0"/>
                      </a:rPr>
                      <m:t>ここで</m:t>
                    </m:r>
                    <m:r>
                      <a:rPr lang="en-US" altLang="ja-JP" b="0" i="1" dirty="0" smtClean="0">
                        <a:latin typeface="Cambria Math" panose="02040503050406030204" pitchFamily="18" charset="0"/>
                      </a:rPr>
                      <m:t> </m:t>
                    </m:r>
                    <m:r>
                      <a:rPr lang="en-US" altLang="ja-JP" i="1" dirty="0" smtClean="0">
                        <a:latin typeface="Cambria Math" panose="02040503050406030204" pitchFamily="18" charset="0"/>
                      </a:rPr>
                      <m:t>𝐼𝑃𝐶𝑟</m:t>
                    </m:r>
                  </m:oMath>
                </a14:m>
                <a:r>
                  <a:rPr lang="en-US" altLang="ja-JP" dirty="0"/>
                  <a:t> </a:t>
                </a:r>
                <a:r>
                  <a:rPr lang="ja-JP" altLang="en-US" dirty="0"/>
                  <a:t>は実際の </a:t>
                </a:r>
                <a:r>
                  <a:rPr lang="en-US" altLang="ja-JP" dirty="0"/>
                  <a:t>IPC</a:t>
                </a:r>
                <a:r>
                  <a:rPr lang="ja-JP" altLang="en-US" dirty="0"/>
                  <a:t>，</a:t>
                </a:r>
                <a14:m>
                  <m:oMath xmlns:m="http://schemas.openxmlformats.org/officeDocument/2006/math">
                    <m:r>
                      <a:rPr lang="en-US" altLang="ja-JP" i="1" dirty="0" smtClean="0">
                        <a:latin typeface="Cambria Math" panose="02040503050406030204" pitchFamily="18" charset="0"/>
                      </a:rPr>
                      <m:t>𝐼𝑃𝐶𝑡</m:t>
                    </m:r>
                  </m:oMath>
                </a14:m>
                <a:r>
                  <a:rPr lang="en-US" altLang="ja-JP" dirty="0"/>
                  <a:t> </a:t>
                </a:r>
                <a:r>
                  <a:rPr lang="ja-JP" altLang="en-US" dirty="0"/>
                  <a:t>は理想 </a:t>
                </a:r>
                <a:r>
                  <a:rPr lang="en-US" altLang="ja-JP" dirty="0"/>
                  <a:t>IPC</a:t>
                </a:r>
              </a:p>
            </p:txBody>
          </p:sp>
        </mc:Choice>
        <mc:Fallback xmlns="">
          <p:sp>
            <p:nvSpPr>
              <p:cNvPr id="3" name="コンテンツ プレースホルダー 2">
                <a:extLst>
                  <a:ext uri="{FF2B5EF4-FFF2-40B4-BE49-F238E27FC236}">
                    <a16:creationId xmlns:a16="http://schemas.microsoft.com/office/drawing/2014/main" id="{24C80AA3-F81D-AB4A-CDFC-745326F1053F}"/>
                  </a:ext>
                </a:extLst>
              </p:cNvPr>
              <p:cNvSpPr>
                <a:spLocks noGrp="1" noRot="1" noChangeAspect="1" noMove="1" noResize="1" noEditPoints="1" noAdjustHandles="1" noChangeArrowheads="1" noChangeShapeType="1" noTextEdit="1"/>
              </p:cNvSpPr>
              <p:nvPr>
                <p:ph sz="quarter" idx="10"/>
              </p:nvPr>
            </p:nvSpPr>
            <p:spPr>
              <a:blipFill>
                <a:blip r:embed="rId2"/>
                <a:stretch>
                  <a:fillRect l="-692" r="-692"/>
                </a:stretch>
              </a:blipFill>
            </p:spPr>
            <p:txBody>
              <a:bodyPr/>
              <a:lstStyle/>
              <a:p>
                <a:r>
                  <a:rPr lang="en-US">
                    <a:noFill/>
                  </a:rPr>
                  <a:t> </a:t>
                </a:r>
              </a:p>
            </p:txBody>
          </p:sp>
        </mc:Fallback>
      </mc:AlternateContent>
    </p:spTree>
    <p:extLst>
      <p:ext uri="{BB962C8B-B14F-4D97-AF65-F5344CB8AC3E}">
        <p14:creationId xmlns:p14="http://schemas.microsoft.com/office/powerpoint/2010/main" val="360554115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DC12892-35F5-E8A0-AFC3-832AE2AE9B06}"/>
              </a:ext>
            </a:extLst>
          </p:cNvPr>
          <p:cNvSpPr>
            <a:spLocks noGrp="1"/>
          </p:cNvSpPr>
          <p:nvPr>
            <p:ph type="title"/>
          </p:nvPr>
        </p:nvSpPr>
        <p:spPr/>
        <p:txBody>
          <a:bodyPr/>
          <a:lstStyle/>
          <a:p>
            <a:r>
              <a:rPr kumimoji="1" lang="en-US" dirty="0"/>
              <a:t>IPC </a:t>
            </a:r>
            <a:r>
              <a:rPr kumimoji="1" lang="ja-JP" altLang="en-US" dirty="0"/>
              <a:t>の式のまとめ</a:t>
            </a:r>
            <a:endParaRPr kumimoji="1" lang="en-US"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24C80AA3-F81D-AB4A-CDFC-745326F1053F}"/>
                  </a:ext>
                </a:extLst>
              </p:cNvPr>
              <p:cNvSpPr>
                <a:spLocks noGrp="1"/>
              </p:cNvSpPr>
              <p:nvPr>
                <p:ph sz="quarter" idx="10"/>
              </p:nvPr>
            </p:nvSpPr>
            <p:spPr/>
            <p:txBody>
              <a:bodyPr/>
              <a:lstStyle/>
              <a:p>
                <a14:m>
                  <m:oMath xmlns:m="http://schemas.openxmlformats.org/officeDocument/2006/math">
                    <m:r>
                      <a:rPr lang="en-US" altLang="ja-JP" i="1" dirty="0" smtClean="0">
                        <a:latin typeface="Cambria Math" panose="02040503050406030204" pitchFamily="18" charset="0"/>
                      </a:rPr>
                      <m:t>𝐼𝑃𝐶𝑟</m:t>
                    </m:r>
                    <m:r>
                      <m:rPr>
                        <m:nor/>
                      </m:rPr>
                      <a:rPr lang="en-US" altLang="ja-JP" dirty="0"/>
                      <m:t>=</m:t>
                    </m:r>
                    <m:f>
                      <m:fPr>
                        <m:ctrlPr>
                          <a:rPr lang="en-US" altLang="ja-JP" i="1" dirty="0">
                            <a:latin typeface="Cambria Math" panose="02040503050406030204" pitchFamily="18" charset="0"/>
                          </a:rPr>
                        </m:ctrlPr>
                      </m:fPr>
                      <m:num>
                        <m:r>
                          <a:rPr lang="en-US" altLang="ja-JP" i="1" dirty="0">
                            <a:latin typeface="Cambria Math" panose="02040503050406030204" pitchFamily="18" charset="0"/>
                          </a:rPr>
                          <m:t>1</m:t>
                        </m:r>
                      </m:num>
                      <m:den>
                        <m:f>
                          <m:fPr>
                            <m:ctrlPr>
                              <a:rPr lang="en-US" altLang="ja-JP" i="1" dirty="0">
                                <a:latin typeface="Cambria Math" panose="02040503050406030204" pitchFamily="18" charset="0"/>
                              </a:rPr>
                            </m:ctrlPr>
                          </m:fPr>
                          <m:num>
                            <m:r>
                              <a:rPr lang="en-US" altLang="ja-JP" i="1" dirty="0">
                                <a:latin typeface="Cambria Math" panose="02040503050406030204" pitchFamily="18" charset="0"/>
                              </a:rPr>
                              <m:t>1</m:t>
                            </m:r>
                          </m:num>
                          <m:den>
                            <m:r>
                              <a:rPr lang="en-US" altLang="ja-JP" i="1" dirty="0">
                                <a:latin typeface="Cambria Math" panose="02040503050406030204" pitchFamily="18" charset="0"/>
                              </a:rPr>
                              <m:t>𝐼𝑃𝐶𝑡</m:t>
                            </m:r>
                          </m:den>
                        </m:f>
                        <m:r>
                          <a:rPr lang="en-US" altLang="ja-JP" i="1" dirty="0">
                            <a:latin typeface="Cambria Math" panose="02040503050406030204" pitchFamily="18" charset="0"/>
                          </a:rPr>
                          <m:t>+</m:t>
                        </m:r>
                        <m:r>
                          <a:rPr lang="en-US" altLang="ja-JP" i="1" dirty="0">
                            <a:latin typeface="Cambria Math" panose="02040503050406030204" pitchFamily="18" charset="0"/>
                          </a:rPr>
                          <m:t>𝑃𝑏</m:t>
                        </m:r>
                        <m:r>
                          <a:rPr lang="en-US" altLang="ja-JP" i="1" dirty="0">
                            <a:latin typeface="Cambria Math" panose="02040503050406030204" pitchFamily="18" charset="0"/>
                          </a:rPr>
                          <m:t>×</m:t>
                        </m:r>
                        <m:r>
                          <a:rPr lang="en-US" altLang="ja-JP" i="1" dirty="0">
                            <a:latin typeface="Cambria Math" panose="02040503050406030204" pitchFamily="18" charset="0"/>
                          </a:rPr>
                          <m:t>𝑃𝑚</m:t>
                        </m:r>
                        <m:r>
                          <a:rPr lang="en-US" altLang="ja-JP" i="1" dirty="0">
                            <a:latin typeface="Cambria Math" panose="02040503050406030204" pitchFamily="18" charset="0"/>
                          </a:rPr>
                          <m:t>×</m:t>
                        </m:r>
                        <m:r>
                          <a:rPr lang="en-US" altLang="ja-JP" i="1" dirty="0">
                            <a:latin typeface="Cambria Math" panose="02040503050406030204" pitchFamily="18" charset="0"/>
                          </a:rPr>
                          <m:t>𝐶𝑝</m:t>
                        </m:r>
                      </m:den>
                    </m:f>
                  </m:oMath>
                </a14:m>
                <a:endParaRPr lang="en-US" altLang="ja-JP" dirty="0"/>
              </a:p>
              <a:p>
                <a:pPr lvl="1"/>
                <a:endParaRPr lang="en-US" altLang="ja-JP" dirty="0"/>
              </a:p>
              <a:p>
                <a:pPr lvl="1"/>
                <a:r>
                  <a:rPr lang="ja-JP" altLang="en-US" dirty="0"/>
                  <a:t>実際の </a:t>
                </a:r>
                <a:r>
                  <a:rPr lang="en-US" altLang="ja-JP" dirty="0"/>
                  <a:t>IPC</a:t>
                </a:r>
                <a:r>
                  <a:rPr lang="ja-JP" altLang="en-US" dirty="0"/>
                  <a:t>：</a:t>
                </a:r>
                <a:r>
                  <a:rPr lang="en-US" altLang="ja-JP" dirty="0"/>
                  <a:t>	</a:t>
                </a:r>
                <a:r>
                  <a:rPr lang="en-US" altLang="ja-JP" i="0" dirty="0">
                    <a:latin typeface="+mj-lt"/>
                  </a:rPr>
                  <a:t> 			</a:t>
                </a:r>
                <a14:m>
                  <m:oMath xmlns:m="http://schemas.openxmlformats.org/officeDocument/2006/math">
                    <m:r>
                      <a:rPr lang="en-US" altLang="ja-JP" i="1" dirty="0">
                        <a:latin typeface="Cambria Math" panose="02040503050406030204" pitchFamily="18" charset="0"/>
                      </a:rPr>
                      <m:t>𝐼𝑃𝐶𝑟</m:t>
                    </m:r>
                  </m:oMath>
                </a14:m>
                <a:r>
                  <a:rPr lang="en-US" altLang="ja-JP" dirty="0"/>
                  <a:t> </a:t>
                </a:r>
                <a:br>
                  <a:rPr lang="en-US" altLang="ja-JP" dirty="0"/>
                </a:br>
                <a:endParaRPr lang="en-US" altLang="ja-JP" dirty="0"/>
              </a:p>
              <a:p>
                <a:pPr lvl="1"/>
                <a:r>
                  <a:rPr lang="ja-JP" altLang="en-US" dirty="0"/>
                  <a:t>予測ミスがなかった場合の理想 </a:t>
                </a:r>
                <a:r>
                  <a:rPr lang="en-US" altLang="ja-JP" dirty="0"/>
                  <a:t>IPC</a:t>
                </a:r>
                <a:r>
                  <a:rPr lang="ja-JP" altLang="en-US" dirty="0"/>
                  <a:t>：</a:t>
                </a:r>
                <a:r>
                  <a:rPr lang="en-US" altLang="ja-JP" dirty="0"/>
                  <a:t>	</a:t>
                </a:r>
                <a14:m>
                  <m:oMath xmlns:m="http://schemas.openxmlformats.org/officeDocument/2006/math">
                    <m:r>
                      <a:rPr lang="en-US" altLang="ja-JP" i="1" dirty="0" smtClean="0">
                        <a:latin typeface="Cambria Math" panose="02040503050406030204" pitchFamily="18" charset="0"/>
                      </a:rPr>
                      <m:t>𝐼𝑃𝐶𝑡</m:t>
                    </m:r>
                  </m:oMath>
                </a14:m>
                <a:r>
                  <a:rPr lang="en-US" altLang="ja-JP" dirty="0"/>
                  <a:t> </a:t>
                </a:r>
                <a:endParaRPr kumimoji="1" lang="en-US" altLang="ja-JP" dirty="0"/>
              </a:p>
              <a:p>
                <a:pPr lvl="1"/>
                <a:r>
                  <a:rPr lang="ja-JP" altLang="en-US" dirty="0"/>
                  <a:t>プログラム中の分岐命令の出現率：</a:t>
                </a:r>
                <a:r>
                  <a:rPr lang="en-US" altLang="ja-JP" dirty="0"/>
                  <a:t>	</a:t>
                </a:r>
                <a14:m>
                  <m:oMath xmlns:m="http://schemas.openxmlformats.org/officeDocument/2006/math">
                    <m:r>
                      <a:rPr lang="en-US" altLang="ja-JP" i="1" dirty="0">
                        <a:latin typeface="Cambria Math" panose="02040503050406030204" pitchFamily="18" charset="0"/>
                      </a:rPr>
                      <m:t>𝑃𝑏</m:t>
                    </m:r>
                  </m:oMath>
                </a14:m>
                <a:endParaRPr kumimoji="1" lang="en-US" altLang="ja-JP" dirty="0"/>
              </a:p>
              <a:p>
                <a:pPr lvl="1"/>
                <a:r>
                  <a:rPr kumimoji="1" lang="ja-JP" altLang="en-US" dirty="0"/>
                  <a:t>分岐命令毎の予測ミス発生率：</a:t>
                </a:r>
                <a:r>
                  <a:rPr kumimoji="1" lang="en-US" altLang="ja-JP" dirty="0"/>
                  <a:t>		</a:t>
                </a:r>
                <a14:m>
                  <m:oMath xmlns:m="http://schemas.openxmlformats.org/officeDocument/2006/math">
                    <m:r>
                      <a:rPr kumimoji="1" lang="en-US" altLang="ja-JP" i="1" dirty="0" smtClean="0">
                        <a:latin typeface="Cambria Math" panose="02040503050406030204" pitchFamily="18" charset="0"/>
                      </a:rPr>
                      <m:t>𝑃𝑚</m:t>
                    </m:r>
                  </m:oMath>
                </a14:m>
                <a:endParaRPr kumimoji="1" lang="en-US" altLang="ja-JP" dirty="0"/>
              </a:p>
              <a:p>
                <a:pPr lvl="1"/>
                <a:r>
                  <a:rPr kumimoji="1" lang="ja-JP" altLang="en-US" dirty="0"/>
                  <a:t>分岐予測ミス・ペナルティ（サイクル）：</a:t>
                </a:r>
                <a14:m>
                  <m:oMath xmlns:m="http://schemas.openxmlformats.org/officeDocument/2006/math">
                    <m:r>
                      <a:rPr kumimoji="1" lang="en-US" altLang="ja-JP" i="1" dirty="0" smtClean="0">
                        <a:latin typeface="Cambria Math" panose="02040503050406030204" pitchFamily="18" charset="0"/>
                      </a:rPr>
                      <m:t>𝐶𝑝</m:t>
                    </m:r>
                  </m:oMath>
                </a14:m>
                <a:endParaRPr kumimoji="1" lang="en-US" altLang="ja-JP" dirty="0"/>
              </a:p>
              <a:p>
                <a:pPr lvl="1"/>
                <a:endParaRPr lang="en-US" altLang="ja-JP" dirty="0"/>
              </a:p>
              <a:p>
                <a:pPr lvl="1"/>
                <a:r>
                  <a:rPr lang="ja-JP" altLang="en-US" dirty="0"/>
                  <a:t>（実行命令数が項から消えている</a:t>
                </a:r>
                <a:endParaRPr lang="en-US" altLang="ja-JP" dirty="0"/>
              </a:p>
            </p:txBody>
          </p:sp>
        </mc:Choice>
        <mc:Fallback xmlns="">
          <p:sp>
            <p:nvSpPr>
              <p:cNvPr id="3" name="コンテンツ プレースホルダー 2">
                <a:extLst>
                  <a:ext uri="{FF2B5EF4-FFF2-40B4-BE49-F238E27FC236}">
                    <a16:creationId xmlns:a16="http://schemas.microsoft.com/office/drawing/2014/main" id="{24C80AA3-F81D-AB4A-CDFC-745326F1053F}"/>
                  </a:ext>
                </a:extLst>
              </p:cNvPr>
              <p:cNvSpPr>
                <a:spLocks noGrp="1" noRot="1" noChangeAspect="1" noMove="1" noResize="1" noEditPoints="1" noAdjustHandles="1" noChangeArrowheads="1" noChangeShapeType="1" noTextEdit="1"/>
              </p:cNvSpPr>
              <p:nvPr>
                <p:ph sz="quarter" idx="10"/>
              </p:nvPr>
            </p:nvSpPr>
            <p:spPr>
              <a:blipFill>
                <a:blip r:embed="rId2"/>
                <a:stretch>
                  <a:fillRect l="-692"/>
                </a:stretch>
              </a:blipFill>
            </p:spPr>
            <p:txBody>
              <a:bodyPr/>
              <a:lstStyle/>
              <a:p>
                <a:r>
                  <a:rPr lang="en-US">
                    <a:noFill/>
                  </a:rPr>
                  <a:t> </a:t>
                </a:r>
              </a:p>
            </p:txBody>
          </p:sp>
        </mc:Fallback>
      </mc:AlternateContent>
    </p:spTree>
    <p:extLst>
      <p:ext uri="{BB962C8B-B14F-4D97-AF65-F5344CB8AC3E}">
        <p14:creationId xmlns:p14="http://schemas.microsoft.com/office/powerpoint/2010/main" val="379948044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DC12892-35F5-E8A0-AFC3-832AE2AE9B06}"/>
              </a:ext>
            </a:extLst>
          </p:cNvPr>
          <p:cNvSpPr>
            <a:spLocks noGrp="1"/>
          </p:cNvSpPr>
          <p:nvPr>
            <p:ph type="title"/>
          </p:nvPr>
        </p:nvSpPr>
        <p:spPr/>
        <p:txBody>
          <a:bodyPr/>
          <a:lstStyle/>
          <a:p>
            <a:r>
              <a:rPr kumimoji="1" lang="ja-JP" altLang="en-US" dirty="0"/>
              <a:t>スカラの５段パイプライン・プロセッサの </a:t>
            </a:r>
            <a:r>
              <a:rPr kumimoji="1" lang="en-US" altLang="ja-JP" dirty="0"/>
              <a:t>IPC</a:t>
            </a:r>
            <a:endParaRPr kumimoji="1" lang="en-US"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24C80AA3-F81D-AB4A-CDFC-745326F1053F}"/>
                  </a:ext>
                </a:extLst>
              </p:cNvPr>
              <p:cNvSpPr>
                <a:spLocks noGrp="1"/>
              </p:cNvSpPr>
              <p:nvPr>
                <p:ph sz="quarter" idx="10"/>
              </p:nvPr>
            </p:nvSpPr>
            <p:spPr/>
            <p:txBody>
              <a:bodyPr/>
              <a:lstStyle/>
              <a:p>
                <a14:m>
                  <m:oMath xmlns:m="http://schemas.openxmlformats.org/officeDocument/2006/math">
                    <m:r>
                      <a:rPr lang="en-US" altLang="ja-JP" i="1" dirty="0" smtClean="0">
                        <a:latin typeface="Cambria Math" panose="02040503050406030204" pitchFamily="18" charset="0"/>
                      </a:rPr>
                      <m:t>𝐼𝑃𝐶𝑟</m:t>
                    </m:r>
                    <m:r>
                      <m:rPr>
                        <m:nor/>
                      </m:rPr>
                      <a:rPr lang="en-US" altLang="ja-JP" dirty="0"/>
                      <m:t>=</m:t>
                    </m:r>
                    <m:f>
                      <m:fPr>
                        <m:ctrlPr>
                          <a:rPr lang="en-US" altLang="ja-JP" i="1" dirty="0">
                            <a:latin typeface="Cambria Math" panose="02040503050406030204" pitchFamily="18" charset="0"/>
                          </a:rPr>
                        </m:ctrlPr>
                      </m:fPr>
                      <m:num>
                        <m:r>
                          <a:rPr lang="en-US" altLang="ja-JP" i="1" dirty="0">
                            <a:latin typeface="Cambria Math" panose="02040503050406030204" pitchFamily="18" charset="0"/>
                          </a:rPr>
                          <m:t>1</m:t>
                        </m:r>
                      </m:num>
                      <m:den>
                        <m:f>
                          <m:fPr>
                            <m:ctrlPr>
                              <a:rPr lang="en-US" altLang="ja-JP" i="1" dirty="0">
                                <a:latin typeface="Cambria Math" panose="02040503050406030204" pitchFamily="18" charset="0"/>
                              </a:rPr>
                            </m:ctrlPr>
                          </m:fPr>
                          <m:num>
                            <m:r>
                              <a:rPr lang="en-US" altLang="ja-JP" i="1" dirty="0">
                                <a:latin typeface="Cambria Math" panose="02040503050406030204" pitchFamily="18" charset="0"/>
                              </a:rPr>
                              <m:t>1</m:t>
                            </m:r>
                          </m:num>
                          <m:den>
                            <m:r>
                              <a:rPr lang="en-US" altLang="ja-JP" i="1" dirty="0">
                                <a:latin typeface="Cambria Math" panose="02040503050406030204" pitchFamily="18" charset="0"/>
                              </a:rPr>
                              <m:t>𝐼𝑃𝐶𝑡</m:t>
                            </m:r>
                          </m:den>
                        </m:f>
                        <m:r>
                          <a:rPr lang="en-US" altLang="ja-JP" i="1" dirty="0">
                            <a:latin typeface="Cambria Math" panose="02040503050406030204" pitchFamily="18" charset="0"/>
                          </a:rPr>
                          <m:t>+</m:t>
                        </m:r>
                        <m:r>
                          <a:rPr lang="en-US" altLang="ja-JP" i="1" dirty="0">
                            <a:latin typeface="Cambria Math" panose="02040503050406030204" pitchFamily="18" charset="0"/>
                          </a:rPr>
                          <m:t>𝑃𝑏</m:t>
                        </m:r>
                        <m:r>
                          <a:rPr lang="en-US" altLang="ja-JP" i="1" dirty="0">
                            <a:latin typeface="Cambria Math" panose="02040503050406030204" pitchFamily="18" charset="0"/>
                          </a:rPr>
                          <m:t>×</m:t>
                        </m:r>
                        <m:r>
                          <a:rPr lang="en-US" altLang="ja-JP" i="1" dirty="0">
                            <a:latin typeface="Cambria Math" panose="02040503050406030204" pitchFamily="18" charset="0"/>
                          </a:rPr>
                          <m:t>𝑃𝑚</m:t>
                        </m:r>
                        <m:r>
                          <a:rPr lang="en-US" altLang="ja-JP" i="1" dirty="0">
                            <a:latin typeface="Cambria Math" panose="02040503050406030204" pitchFamily="18" charset="0"/>
                          </a:rPr>
                          <m:t>×</m:t>
                        </m:r>
                        <m:r>
                          <a:rPr lang="en-US" altLang="ja-JP" i="1" dirty="0">
                            <a:latin typeface="Cambria Math" panose="02040503050406030204" pitchFamily="18" charset="0"/>
                          </a:rPr>
                          <m:t>𝐶𝑝</m:t>
                        </m:r>
                      </m:den>
                    </m:f>
                  </m:oMath>
                </a14:m>
                <a:endParaRPr lang="en-US" altLang="ja-JP" dirty="0"/>
              </a:p>
              <a:p>
                <a:r>
                  <a:rPr lang="ja-JP" altLang="en-US" i="0" dirty="0">
                    <a:latin typeface="+mj-lt"/>
                  </a:rPr>
                  <a:t>ここで，</a:t>
                </a:r>
                <a:br>
                  <a:rPr lang="en-US" altLang="ja-JP" i="0" dirty="0">
                    <a:latin typeface="+mj-lt"/>
                  </a:rPr>
                </a:br>
                <a:r>
                  <a:rPr lang="ja-JP" altLang="en-US" i="0" dirty="0">
                    <a:latin typeface="+mj-lt"/>
                  </a:rPr>
                  <a:t>理想 </a:t>
                </a:r>
                <a:r>
                  <a:rPr lang="en-US" altLang="ja-JP" i="0" dirty="0">
                    <a:latin typeface="+mj-lt"/>
                  </a:rPr>
                  <a:t>IPC		</a:t>
                </a:r>
                <a:r>
                  <a:rPr lang="en-US" altLang="ja-JP" b="0" i="0" dirty="0">
                    <a:latin typeface="+mj-lt"/>
                  </a:rPr>
                  <a:t> </a:t>
                </a:r>
                <a14:m>
                  <m:oMath xmlns:m="http://schemas.openxmlformats.org/officeDocument/2006/math">
                    <m:r>
                      <a:rPr lang="en-US" altLang="ja-JP" i="1" dirty="0" smtClean="0">
                        <a:latin typeface="Cambria Math" panose="02040503050406030204" pitchFamily="18" charset="0"/>
                      </a:rPr>
                      <m:t>𝐼𝑃𝐶𝑡</m:t>
                    </m:r>
                    <m:r>
                      <a:rPr lang="en-US" altLang="ja-JP" b="0" i="0" dirty="0" smtClean="0">
                        <a:latin typeface="Cambria Math" panose="02040503050406030204" pitchFamily="18" charset="0"/>
                      </a:rPr>
                      <m:t>=1</m:t>
                    </m:r>
                  </m:oMath>
                </a14:m>
                <a:r>
                  <a:rPr lang="ja-JP" altLang="en-US" dirty="0"/>
                  <a:t>，</a:t>
                </a:r>
                <a:br>
                  <a:rPr lang="en-US" altLang="ja-JP" dirty="0"/>
                </a:br>
                <a:r>
                  <a:rPr lang="ja-JP" altLang="en-US" dirty="0"/>
                  <a:t>分岐発生率</a:t>
                </a:r>
                <a:r>
                  <a:rPr lang="en-US" altLang="ja-JP" dirty="0"/>
                  <a:t>	</a:t>
                </a:r>
                <a:r>
                  <a:rPr lang="ja-JP" altLang="en-US" dirty="0"/>
                  <a:t> </a:t>
                </a:r>
                <a14:m>
                  <m:oMath xmlns:m="http://schemas.openxmlformats.org/officeDocument/2006/math">
                    <m:r>
                      <a:rPr lang="en-US" altLang="ja-JP" i="1" dirty="0" smtClean="0">
                        <a:latin typeface="Cambria Math" panose="02040503050406030204" pitchFamily="18" charset="0"/>
                      </a:rPr>
                      <m:t>𝑃𝑏</m:t>
                    </m:r>
                    <m:r>
                      <a:rPr lang="en-US" altLang="ja-JP" i="1" dirty="0" smtClean="0">
                        <a:latin typeface="Cambria Math" panose="02040503050406030204" pitchFamily="18" charset="0"/>
                      </a:rPr>
                      <m:t>=0.25</m:t>
                    </m:r>
                  </m:oMath>
                </a14:m>
                <a:r>
                  <a:rPr lang="ja-JP" altLang="en-US" dirty="0"/>
                  <a:t>，</a:t>
                </a:r>
                <a:br>
                  <a:rPr lang="en-US" altLang="ja-JP" dirty="0"/>
                </a:br>
                <a:r>
                  <a:rPr lang="ja-JP" altLang="en-US" dirty="0"/>
                  <a:t>予測ミス率</a:t>
                </a:r>
                <a:r>
                  <a:rPr lang="en-US" altLang="ja-JP" dirty="0"/>
                  <a:t>	</a:t>
                </a:r>
                <a:r>
                  <a:rPr lang="ja-JP" altLang="en-US" dirty="0"/>
                  <a:t> </a:t>
                </a:r>
                <a14:m>
                  <m:oMath xmlns:m="http://schemas.openxmlformats.org/officeDocument/2006/math">
                    <m:r>
                      <a:rPr lang="en-US" altLang="ja-JP" i="1" dirty="0" smtClean="0">
                        <a:latin typeface="Cambria Math" panose="02040503050406030204" pitchFamily="18" charset="0"/>
                      </a:rPr>
                      <m:t>𝑃𝑚</m:t>
                    </m:r>
                    <m:r>
                      <a:rPr lang="en-US" altLang="ja-JP" i="1" dirty="0" smtClean="0">
                        <a:latin typeface="Cambria Math" panose="02040503050406030204" pitchFamily="18" charset="0"/>
                      </a:rPr>
                      <m:t>=0.2</m:t>
                    </m:r>
                  </m:oMath>
                </a14:m>
                <a:r>
                  <a:rPr lang="ja-JP" altLang="en-US" dirty="0"/>
                  <a:t>，</a:t>
                </a:r>
                <a:br>
                  <a:rPr lang="en-US" altLang="ja-JP" dirty="0"/>
                </a:br>
                <a:r>
                  <a:rPr lang="ja-JP" altLang="en-US" i="0" dirty="0">
                    <a:latin typeface="+mj-lt"/>
                  </a:rPr>
                  <a:t>ペナルティ</a:t>
                </a:r>
                <a:r>
                  <a:rPr lang="en-US" altLang="ja-JP" i="0" dirty="0">
                    <a:latin typeface="+mj-lt"/>
                  </a:rPr>
                  <a:t>	    </a:t>
                </a:r>
                <a14:m>
                  <m:oMath xmlns:m="http://schemas.openxmlformats.org/officeDocument/2006/math">
                    <m:r>
                      <a:rPr lang="en-US" altLang="ja-JP" i="1" dirty="0" smtClean="0">
                        <a:latin typeface="Cambria Math" panose="02040503050406030204" pitchFamily="18" charset="0"/>
                      </a:rPr>
                      <m:t>𝐶𝑝</m:t>
                    </m:r>
                    <m:r>
                      <a:rPr lang="en-US" altLang="ja-JP" i="1" dirty="0" smtClean="0">
                        <a:latin typeface="Cambria Math" panose="02040503050406030204" pitchFamily="18" charset="0"/>
                      </a:rPr>
                      <m:t>=4</m:t>
                    </m:r>
                  </m:oMath>
                </a14:m>
                <a:r>
                  <a:rPr lang="en-US" altLang="ja-JP" dirty="0"/>
                  <a:t> </a:t>
                </a:r>
                <a:r>
                  <a:rPr lang="ja-JP" altLang="en-US" dirty="0"/>
                  <a:t>（</a:t>
                </a:r>
                <a:r>
                  <a:rPr lang="en-US" altLang="ja-JP" dirty="0"/>
                  <a:t>5</a:t>
                </a:r>
                <a:r>
                  <a:rPr lang="ja-JP" altLang="en-US" dirty="0"/>
                  <a:t>段なので</a:t>
                </a:r>
                <a14:m>
                  <m:oMath xmlns:m="http://schemas.openxmlformats.org/officeDocument/2006/math">
                    <m:r>
                      <a:rPr lang="en-US" altLang="ja-JP" i="1" dirty="0" smtClean="0">
                        <a:latin typeface="Cambria Math" panose="02040503050406030204" pitchFamily="18" charset="0"/>
                      </a:rPr>
                      <m:t>5−1</m:t>
                    </m:r>
                    <m:r>
                      <a:rPr lang="en-US" altLang="ja-JP" b="0" i="1" dirty="0" smtClean="0">
                        <a:latin typeface="Cambria Math" panose="02040503050406030204" pitchFamily="18" charset="0"/>
                      </a:rPr>
                      <m:t>=4</m:t>
                    </m:r>
                  </m:oMath>
                </a14:m>
                <a:r>
                  <a:rPr lang="ja-JP" altLang="en-US" dirty="0"/>
                  <a:t>サイクル）とすると，</a:t>
                </a:r>
                <a:endParaRPr lang="en-US" altLang="ja-JP" dirty="0"/>
              </a:p>
              <a:p>
                <a:pPr lvl="1"/>
                <a14:m>
                  <m:oMath xmlns:m="http://schemas.openxmlformats.org/officeDocument/2006/math">
                    <m:r>
                      <a:rPr lang="en-US" altLang="ja-JP" i="1" dirty="0" smtClean="0">
                        <a:latin typeface="Cambria Math" panose="02040503050406030204" pitchFamily="18" charset="0"/>
                      </a:rPr>
                      <m:t>𝐼𝑃𝐶𝑟</m:t>
                    </m:r>
                    <m:r>
                      <a:rPr lang="en-US" altLang="ja-JP" b="0" i="1" dirty="0" smtClean="0">
                        <a:latin typeface="Cambria Math" panose="02040503050406030204" pitchFamily="18" charset="0"/>
                      </a:rPr>
                      <m:t>=</m:t>
                    </m:r>
                    <m:f>
                      <m:fPr>
                        <m:ctrlPr>
                          <a:rPr lang="en-US" altLang="ja-JP" i="1" dirty="0">
                            <a:latin typeface="Cambria Math" panose="02040503050406030204" pitchFamily="18" charset="0"/>
                          </a:rPr>
                        </m:ctrlPr>
                      </m:fPr>
                      <m:num>
                        <m:r>
                          <a:rPr lang="en-US" altLang="ja-JP" i="1" dirty="0">
                            <a:latin typeface="Cambria Math" panose="02040503050406030204" pitchFamily="18" charset="0"/>
                          </a:rPr>
                          <m:t>1</m:t>
                        </m:r>
                      </m:num>
                      <m:den>
                        <m:r>
                          <a:rPr lang="en-US" altLang="ja-JP" i="1" dirty="0">
                            <a:latin typeface="Cambria Math" panose="02040503050406030204" pitchFamily="18" charset="0"/>
                          </a:rPr>
                          <m:t>1+0.25×</m:t>
                        </m:r>
                        <m:r>
                          <a:rPr lang="en-US" altLang="ja-JP" b="0" i="1" dirty="0" smtClean="0">
                            <a:latin typeface="Cambria Math" panose="02040503050406030204" pitchFamily="18" charset="0"/>
                          </a:rPr>
                          <m:t>0.2</m:t>
                        </m:r>
                        <m:r>
                          <a:rPr lang="en-US" altLang="ja-JP" i="1" dirty="0">
                            <a:latin typeface="Cambria Math" panose="02040503050406030204" pitchFamily="18" charset="0"/>
                          </a:rPr>
                          <m:t>×</m:t>
                        </m:r>
                        <m:r>
                          <a:rPr lang="en-US" altLang="ja-JP" b="0" i="1" dirty="0" smtClean="0">
                            <a:solidFill>
                              <a:schemeClr val="accent5"/>
                            </a:solidFill>
                            <a:latin typeface="Cambria Math" panose="02040503050406030204" pitchFamily="18" charset="0"/>
                          </a:rPr>
                          <m:t>4</m:t>
                        </m:r>
                      </m:den>
                    </m:f>
                    <m:r>
                      <a:rPr lang="ja-JP" altLang="en-US" b="0" i="1" dirty="0">
                        <a:latin typeface="Cambria Math" panose="02040503050406030204" pitchFamily="18" charset="0"/>
                      </a:rPr>
                      <m:t>≃</m:t>
                    </m:r>
                    <m:r>
                      <a:rPr lang="en-US" altLang="ja-JP" b="0" i="1" dirty="0" smtClean="0">
                        <a:latin typeface="Cambria Math" panose="02040503050406030204" pitchFamily="18" charset="0"/>
                      </a:rPr>
                      <m:t>0.83</m:t>
                    </m:r>
                  </m:oMath>
                </a14:m>
                <a:endParaRPr lang="en-US" altLang="ja-JP" dirty="0"/>
              </a:p>
              <a:p>
                <a:pPr lvl="1"/>
                <a:r>
                  <a:rPr lang="ja-JP" altLang="en-US" dirty="0"/>
                  <a:t>つまり分岐予測ミスが無かった場合の理想 </a:t>
                </a:r>
                <a:r>
                  <a:rPr lang="en-US" altLang="ja-JP" dirty="0"/>
                  <a:t>IPC </a:t>
                </a:r>
                <a:r>
                  <a:rPr lang="ja-JP" altLang="en-US" dirty="0"/>
                  <a:t>と比べて</a:t>
                </a:r>
                <a:br>
                  <a:rPr lang="en-US" altLang="ja-JP" dirty="0"/>
                </a:br>
                <a:r>
                  <a:rPr lang="en-US" altLang="ja-JP" dirty="0"/>
                  <a:t>17% </a:t>
                </a:r>
                <a:r>
                  <a:rPr lang="ja-JP" altLang="en-US" dirty="0"/>
                  <a:t>ぐらい </a:t>
                </a:r>
                <a:r>
                  <a:rPr lang="en-US" altLang="ja-JP" dirty="0"/>
                  <a:t>IPC </a:t>
                </a:r>
                <a:r>
                  <a:rPr lang="ja-JP" altLang="en-US" dirty="0"/>
                  <a:t>が落ちている</a:t>
                </a:r>
                <a:endParaRPr lang="en-US" altLang="ja-JP" dirty="0"/>
              </a:p>
            </p:txBody>
          </p:sp>
        </mc:Choice>
        <mc:Fallback xmlns="">
          <p:sp>
            <p:nvSpPr>
              <p:cNvPr id="3" name="コンテンツ プレースホルダー 2">
                <a:extLst>
                  <a:ext uri="{FF2B5EF4-FFF2-40B4-BE49-F238E27FC236}">
                    <a16:creationId xmlns:a16="http://schemas.microsoft.com/office/drawing/2014/main" id="{24C80AA3-F81D-AB4A-CDFC-745326F1053F}"/>
                  </a:ext>
                </a:extLst>
              </p:cNvPr>
              <p:cNvSpPr>
                <a:spLocks noGrp="1" noRot="1" noChangeAspect="1" noMove="1" noResize="1" noEditPoints="1" noAdjustHandles="1" noChangeArrowheads="1" noChangeShapeType="1" noTextEdit="1"/>
              </p:cNvSpPr>
              <p:nvPr>
                <p:ph sz="quarter" idx="10"/>
              </p:nvPr>
            </p:nvSpPr>
            <p:spPr>
              <a:blipFill>
                <a:blip r:embed="rId2"/>
                <a:stretch>
                  <a:fillRect l="-692"/>
                </a:stretch>
              </a:blipFill>
            </p:spPr>
            <p:txBody>
              <a:bodyPr/>
              <a:lstStyle/>
              <a:p>
                <a:r>
                  <a:rPr lang="en-US">
                    <a:noFill/>
                  </a:rPr>
                  <a:t> </a:t>
                </a:r>
              </a:p>
            </p:txBody>
          </p:sp>
        </mc:Fallback>
      </mc:AlternateContent>
    </p:spTree>
    <p:extLst>
      <p:ext uri="{BB962C8B-B14F-4D97-AF65-F5344CB8AC3E}">
        <p14:creationId xmlns:p14="http://schemas.microsoft.com/office/powerpoint/2010/main" val="318124374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DC12892-35F5-E8A0-AFC3-832AE2AE9B06}"/>
              </a:ext>
            </a:extLst>
          </p:cNvPr>
          <p:cNvSpPr>
            <a:spLocks noGrp="1"/>
          </p:cNvSpPr>
          <p:nvPr>
            <p:ph type="title"/>
          </p:nvPr>
        </p:nvSpPr>
        <p:spPr/>
        <p:txBody>
          <a:bodyPr/>
          <a:lstStyle/>
          <a:p>
            <a:r>
              <a:rPr kumimoji="1" lang="ja-JP" altLang="en-US" dirty="0"/>
              <a:t>パイプライン段数を２倍にした時の </a:t>
            </a:r>
            <a:r>
              <a:rPr kumimoji="1" lang="en-US" altLang="ja-JP" dirty="0"/>
              <a:t>IPC</a:t>
            </a:r>
            <a:endParaRPr kumimoji="1" lang="en-US"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24C80AA3-F81D-AB4A-CDFC-745326F1053F}"/>
                  </a:ext>
                </a:extLst>
              </p:cNvPr>
              <p:cNvSpPr>
                <a:spLocks noGrp="1"/>
              </p:cNvSpPr>
              <p:nvPr>
                <p:ph sz="quarter" idx="10"/>
              </p:nvPr>
            </p:nvSpPr>
            <p:spPr/>
            <p:txBody>
              <a:bodyPr/>
              <a:lstStyle/>
              <a:p>
                <a14:m>
                  <m:oMath xmlns:m="http://schemas.openxmlformats.org/officeDocument/2006/math">
                    <m:r>
                      <a:rPr lang="en-US" altLang="ja-JP" i="1" dirty="0" smtClean="0">
                        <a:latin typeface="Cambria Math" panose="02040503050406030204" pitchFamily="18" charset="0"/>
                      </a:rPr>
                      <m:t>𝐼𝑃𝐶𝑟</m:t>
                    </m:r>
                    <m:r>
                      <m:rPr>
                        <m:nor/>
                      </m:rPr>
                      <a:rPr lang="en-US" altLang="ja-JP" dirty="0"/>
                      <m:t>=</m:t>
                    </m:r>
                    <m:f>
                      <m:fPr>
                        <m:ctrlPr>
                          <a:rPr lang="en-US" altLang="ja-JP" i="1" dirty="0">
                            <a:latin typeface="Cambria Math" panose="02040503050406030204" pitchFamily="18" charset="0"/>
                          </a:rPr>
                        </m:ctrlPr>
                      </m:fPr>
                      <m:num>
                        <m:r>
                          <a:rPr lang="en-US" altLang="ja-JP" i="1" dirty="0">
                            <a:latin typeface="Cambria Math" panose="02040503050406030204" pitchFamily="18" charset="0"/>
                          </a:rPr>
                          <m:t>1</m:t>
                        </m:r>
                      </m:num>
                      <m:den>
                        <m:f>
                          <m:fPr>
                            <m:ctrlPr>
                              <a:rPr lang="en-US" altLang="ja-JP" i="1" dirty="0">
                                <a:latin typeface="Cambria Math" panose="02040503050406030204" pitchFamily="18" charset="0"/>
                              </a:rPr>
                            </m:ctrlPr>
                          </m:fPr>
                          <m:num>
                            <m:r>
                              <a:rPr lang="en-US" altLang="ja-JP" i="1" dirty="0">
                                <a:latin typeface="Cambria Math" panose="02040503050406030204" pitchFamily="18" charset="0"/>
                              </a:rPr>
                              <m:t>1</m:t>
                            </m:r>
                          </m:num>
                          <m:den>
                            <m:r>
                              <a:rPr lang="en-US" altLang="ja-JP" i="1" dirty="0">
                                <a:latin typeface="Cambria Math" panose="02040503050406030204" pitchFamily="18" charset="0"/>
                              </a:rPr>
                              <m:t>𝐼𝑃𝐶𝑡</m:t>
                            </m:r>
                          </m:den>
                        </m:f>
                        <m:r>
                          <a:rPr lang="en-US" altLang="ja-JP" i="1" dirty="0">
                            <a:latin typeface="Cambria Math" panose="02040503050406030204" pitchFamily="18" charset="0"/>
                          </a:rPr>
                          <m:t>+</m:t>
                        </m:r>
                        <m:r>
                          <a:rPr lang="en-US" altLang="ja-JP" i="1" dirty="0">
                            <a:latin typeface="Cambria Math" panose="02040503050406030204" pitchFamily="18" charset="0"/>
                          </a:rPr>
                          <m:t>𝑃𝑏</m:t>
                        </m:r>
                        <m:r>
                          <a:rPr lang="en-US" altLang="ja-JP" i="1" dirty="0">
                            <a:latin typeface="Cambria Math" panose="02040503050406030204" pitchFamily="18" charset="0"/>
                          </a:rPr>
                          <m:t>×</m:t>
                        </m:r>
                        <m:r>
                          <a:rPr lang="en-US" altLang="ja-JP" i="1" dirty="0">
                            <a:latin typeface="Cambria Math" panose="02040503050406030204" pitchFamily="18" charset="0"/>
                          </a:rPr>
                          <m:t>𝑃𝑚</m:t>
                        </m:r>
                        <m:r>
                          <a:rPr lang="en-US" altLang="ja-JP" i="1" dirty="0">
                            <a:latin typeface="Cambria Math" panose="02040503050406030204" pitchFamily="18" charset="0"/>
                          </a:rPr>
                          <m:t>×</m:t>
                        </m:r>
                        <m:r>
                          <a:rPr lang="en-US" altLang="ja-JP" i="1" dirty="0">
                            <a:latin typeface="Cambria Math" panose="02040503050406030204" pitchFamily="18" charset="0"/>
                          </a:rPr>
                          <m:t>𝐶𝑝</m:t>
                        </m:r>
                      </m:den>
                    </m:f>
                  </m:oMath>
                </a14:m>
                <a:endParaRPr lang="en-US" altLang="ja-JP" dirty="0"/>
              </a:p>
              <a:p>
                <a:r>
                  <a:rPr kumimoji="1" lang="ja-JP" altLang="en-US" dirty="0"/>
                  <a:t>パイプライン段数を２倍に</a:t>
                </a:r>
                <a:r>
                  <a:rPr lang="ja-JP" altLang="en-US" i="1" dirty="0">
                    <a:latin typeface="Cambria Math" panose="02040503050406030204" pitchFamily="18" charset="0"/>
                  </a:rPr>
                  <a:t>すると･･･</a:t>
                </a:r>
                <a:endParaRPr lang="en-US" altLang="ja-JP" i="1" dirty="0">
                  <a:latin typeface="Cambria Math" panose="02040503050406030204" pitchFamily="18" charset="0"/>
                </a:endParaRPr>
              </a:p>
              <a:p>
                <a:pPr lvl="1"/>
                <a14:m>
                  <m:oMath xmlns:m="http://schemas.openxmlformats.org/officeDocument/2006/math">
                    <m:r>
                      <a:rPr lang="en-US" altLang="ja-JP" i="1" dirty="0">
                        <a:latin typeface="Cambria Math" panose="02040503050406030204" pitchFamily="18" charset="0"/>
                      </a:rPr>
                      <m:t>𝐼𝑃𝐶𝑡</m:t>
                    </m:r>
                    <m:r>
                      <a:rPr lang="en-US" altLang="ja-JP" dirty="0">
                        <a:latin typeface="Cambria Math" panose="02040503050406030204" pitchFamily="18" charset="0"/>
                      </a:rPr>
                      <m:t>=1</m:t>
                    </m:r>
                  </m:oMath>
                </a14:m>
                <a:r>
                  <a:rPr lang="ja-JP" altLang="en-US" i="0" dirty="0">
                    <a:latin typeface="+mj-lt"/>
                  </a:rPr>
                  <a:t>，</a:t>
                </a:r>
                <a14:m>
                  <m:oMath xmlns:m="http://schemas.openxmlformats.org/officeDocument/2006/math">
                    <m:r>
                      <a:rPr lang="en-US" altLang="ja-JP" i="1" dirty="0" smtClean="0">
                        <a:latin typeface="Cambria Math" panose="02040503050406030204" pitchFamily="18" charset="0"/>
                      </a:rPr>
                      <m:t>𝑃𝑏</m:t>
                    </m:r>
                    <m:r>
                      <a:rPr lang="en-US" altLang="ja-JP" i="1" dirty="0" smtClean="0">
                        <a:latin typeface="Cambria Math" panose="02040503050406030204" pitchFamily="18" charset="0"/>
                      </a:rPr>
                      <m:t>=0.25</m:t>
                    </m:r>
                  </m:oMath>
                </a14:m>
                <a:r>
                  <a:rPr lang="ja-JP" altLang="en-US" dirty="0"/>
                  <a:t>，</a:t>
                </a:r>
                <a14:m>
                  <m:oMath xmlns:m="http://schemas.openxmlformats.org/officeDocument/2006/math">
                    <m:r>
                      <a:rPr lang="en-US" altLang="ja-JP" i="1" dirty="0" smtClean="0">
                        <a:latin typeface="Cambria Math" panose="02040503050406030204" pitchFamily="18" charset="0"/>
                      </a:rPr>
                      <m:t>𝑃𝑚</m:t>
                    </m:r>
                    <m:r>
                      <a:rPr lang="en-US" altLang="ja-JP" i="1" dirty="0" smtClean="0">
                        <a:latin typeface="Cambria Math" panose="02040503050406030204" pitchFamily="18" charset="0"/>
                      </a:rPr>
                      <m:t>=0.2</m:t>
                    </m:r>
                  </m:oMath>
                </a14:m>
                <a:r>
                  <a:rPr lang="en-US" altLang="ja-JP" dirty="0"/>
                  <a:t> </a:t>
                </a:r>
                <a:r>
                  <a:rPr lang="ja-JP" altLang="en-US" dirty="0"/>
                  <a:t>は変わらない</a:t>
                </a:r>
                <a:endParaRPr lang="en-US" altLang="ja-JP" dirty="0"/>
              </a:p>
              <a:p>
                <a:pPr lvl="1"/>
                <a:r>
                  <a:rPr lang="ja-JP" altLang="en-US" i="0" dirty="0">
                    <a:solidFill>
                      <a:schemeClr val="accent5"/>
                    </a:solidFill>
                    <a:latin typeface="+mj-lt"/>
                  </a:rPr>
                  <a:t>ペナルティは</a:t>
                </a:r>
                <a:r>
                  <a:rPr lang="en-US" altLang="ja-JP" b="0" i="0" dirty="0">
                    <a:solidFill>
                      <a:schemeClr val="accent5"/>
                    </a:solidFill>
                    <a:latin typeface="+mj-lt"/>
                  </a:rPr>
                  <a:t> </a:t>
                </a:r>
                <a14:m>
                  <m:oMath xmlns:m="http://schemas.openxmlformats.org/officeDocument/2006/math">
                    <m:r>
                      <a:rPr lang="en-US" altLang="ja-JP" i="1" dirty="0">
                        <a:solidFill>
                          <a:schemeClr val="accent5"/>
                        </a:solidFill>
                        <a:latin typeface="Cambria Math" panose="02040503050406030204" pitchFamily="18" charset="0"/>
                      </a:rPr>
                      <m:t>𝐶𝑝</m:t>
                    </m:r>
                    <m:r>
                      <a:rPr lang="en-US" altLang="ja-JP" i="1" dirty="0">
                        <a:solidFill>
                          <a:schemeClr val="accent5"/>
                        </a:solidFill>
                        <a:latin typeface="Cambria Math" panose="02040503050406030204" pitchFamily="18" charset="0"/>
                      </a:rPr>
                      <m:t>=9</m:t>
                    </m:r>
                  </m:oMath>
                </a14:m>
                <a:r>
                  <a:rPr lang="en-US" altLang="ja-JP" dirty="0">
                    <a:solidFill>
                      <a:schemeClr val="accent5"/>
                    </a:solidFill>
                  </a:rPr>
                  <a:t> </a:t>
                </a:r>
                <a:r>
                  <a:rPr lang="ja-JP" altLang="en-US" dirty="0">
                    <a:solidFill>
                      <a:schemeClr val="accent5"/>
                    </a:solidFill>
                  </a:rPr>
                  <a:t>（</a:t>
                </a:r>
                <a:r>
                  <a:rPr lang="en-US" altLang="ja-JP" dirty="0">
                    <a:solidFill>
                      <a:schemeClr val="accent5"/>
                    </a:solidFill>
                  </a:rPr>
                  <a:t>10</a:t>
                </a:r>
                <a:r>
                  <a:rPr lang="ja-JP" altLang="en-US" dirty="0">
                    <a:solidFill>
                      <a:schemeClr val="accent5"/>
                    </a:solidFill>
                  </a:rPr>
                  <a:t>段なので </a:t>
                </a:r>
                <a14:m>
                  <m:oMath xmlns:m="http://schemas.openxmlformats.org/officeDocument/2006/math">
                    <m:r>
                      <a:rPr lang="en-US" altLang="ja-JP" i="1" dirty="0" smtClean="0">
                        <a:solidFill>
                          <a:schemeClr val="accent5"/>
                        </a:solidFill>
                        <a:latin typeface="Cambria Math" panose="02040503050406030204" pitchFamily="18" charset="0"/>
                      </a:rPr>
                      <m:t>10</m:t>
                    </m:r>
                    <m:r>
                      <a:rPr lang="ja-JP" altLang="en-US" i="1" dirty="0" smtClean="0">
                        <a:solidFill>
                          <a:schemeClr val="accent5"/>
                        </a:solidFill>
                        <a:latin typeface="Cambria Math" panose="02040503050406030204" pitchFamily="18" charset="0"/>
                      </a:rPr>
                      <m:t> </m:t>
                    </m:r>
                    <m:r>
                      <a:rPr lang="en-US" altLang="ja-JP" i="1" dirty="0">
                        <a:solidFill>
                          <a:schemeClr val="accent5"/>
                        </a:solidFill>
                        <a:latin typeface="Cambria Math" panose="02040503050406030204" pitchFamily="18" charset="0"/>
                      </a:rPr>
                      <m:t>− 1</m:t>
                    </m:r>
                    <m:r>
                      <a:rPr lang="en-US" altLang="ja-JP" b="0" i="1" dirty="0" smtClean="0">
                        <a:solidFill>
                          <a:schemeClr val="accent5"/>
                        </a:solidFill>
                        <a:latin typeface="Cambria Math" panose="02040503050406030204" pitchFamily="18" charset="0"/>
                      </a:rPr>
                      <m:t>=9</m:t>
                    </m:r>
                  </m:oMath>
                </a14:m>
                <a:r>
                  <a:rPr lang="ja-JP" altLang="en-US" dirty="0">
                    <a:solidFill>
                      <a:schemeClr val="accent5"/>
                    </a:solidFill>
                  </a:rPr>
                  <a:t>）に</a:t>
                </a:r>
                <a:endParaRPr lang="en-US" altLang="ja-JP" i="1" dirty="0">
                  <a:solidFill>
                    <a:schemeClr val="accent5"/>
                  </a:solidFill>
                  <a:latin typeface="Cambria Math" panose="02040503050406030204" pitchFamily="18" charset="0"/>
                </a:endParaRPr>
              </a:p>
              <a:p>
                <a:pPr lvl="1"/>
                <a:endParaRPr lang="en-US" altLang="ja-JP" i="1" dirty="0">
                  <a:latin typeface="Cambria Math" panose="02040503050406030204" pitchFamily="18" charset="0"/>
                </a:endParaRPr>
              </a:p>
              <a:p>
                <a:pPr lvl="1"/>
                <a14:m>
                  <m:oMath xmlns:m="http://schemas.openxmlformats.org/officeDocument/2006/math">
                    <m:r>
                      <a:rPr lang="en-US" altLang="ja-JP" i="1" dirty="0">
                        <a:latin typeface="Cambria Math" panose="02040503050406030204" pitchFamily="18" charset="0"/>
                      </a:rPr>
                      <m:t>𝐼𝑃𝐶𝑟</m:t>
                    </m:r>
                    <m:r>
                      <a:rPr lang="en-US" altLang="ja-JP" i="1" dirty="0">
                        <a:latin typeface="Cambria Math" panose="02040503050406030204" pitchFamily="18" charset="0"/>
                      </a:rPr>
                      <m:t>=</m:t>
                    </m:r>
                    <m:f>
                      <m:fPr>
                        <m:ctrlPr>
                          <a:rPr lang="en-US" altLang="ja-JP" i="1" dirty="0">
                            <a:latin typeface="Cambria Math" panose="02040503050406030204" pitchFamily="18" charset="0"/>
                          </a:rPr>
                        </m:ctrlPr>
                      </m:fPr>
                      <m:num>
                        <m:r>
                          <a:rPr lang="en-US" altLang="ja-JP" i="1" dirty="0">
                            <a:latin typeface="Cambria Math" panose="02040503050406030204" pitchFamily="18" charset="0"/>
                          </a:rPr>
                          <m:t>1</m:t>
                        </m:r>
                      </m:num>
                      <m:den>
                        <m:r>
                          <a:rPr lang="en-US" altLang="ja-JP" i="1" dirty="0">
                            <a:latin typeface="Cambria Math" panose="02040503050406030204" pitchFamily="18" charset="0"/>
                          </a:rPr>
                          <m:t>1+0.25×0.2×</m:t>
                        </m:r>
                        <m:r>
                          <a:rPr lang="en-US" altLang="ja-JP" b="1" i="1" dirty="0">
                            <a:solidFill>
                              <a:schemeClr val="accent5"/>
                            </a:solidFill>
                            <a:latin typeface="Cambria Math" panose="02040503050406030204" pitchFamily="18" charset="0"/>
                          </a:rPr>
                          <m:t>𝟗</m:t>
                        </m:r>
                      </m:den>
                    </m:f>
                    <m:r>
                      <a:rPr lang="ja-JP" altLang="en-US" i="1" dirty="0">
                        <a:latin typeface="Cambria Math" panose="02040503050406030204" pitchFamily="18" charset="0"/>
                      </a:rPr>
                      <m:t>≃</m:t>
                    </m:r>
                    <m:r>
                      <a:rPr lang="en-US" altLang="ja-JP" i="1" dirty="0">
                        <a:latin typeface="Cambria Math" panose="02040503050406030204" pitchFamily="18" charset="0"/>
                      </a:rPr>
                      <m:t>0.69</m:t>
                    </m:r>
                  </m:oMath>
                </a14:m>
                <a:endParaRPr lang="en-US" altLang="ja-JP" i="1" dirty="0">
                  <a:latin typeface="Cambria Math" panose="02040503050406030204" pitchFamily="18" charset="0"/>
                </a:endParaRPr>
              </a:p>
              <a:p>
                <a:pPr lvl="1"/>
                <a:r>
                  <a:rPr lang="ja-JP" altLang="en-US" dirty="0"/>
                  <a:t>分岐予測ミスが無かった場合の理想 </a:t>
                </a:r>
                <a:r>
                  <a:rPr lang="en-US" altLang="ja-JP" dirty="0"/>
                  <a:t>IPC </a:t>
                </a:r>
                <a:r>
                  <a:rPr lang="ja-JP" altLang="en-US" dirty="0"/>
                  <a:t>と比べて</a:t>
                </a:r>
                <a:br>
                  <a:rPr lang="en-US" altLang="ja-JP" dirty="0"/>
                </a:br>
                <a:r>
                  <a:rPr lang="en-US" altLang="ja-JP" dirty="0"/>
                  <a:t>31% </a:t>
                </a:r>
                <a:r>
                  <a:rPr lang="ja-JP" altLang="en-US" dirty="0"/>
                  <a:t>ぐらい性能が落ちている</a:t>
                </a:r>
                <a:endParaRPr lang="en-US" altLang="ja-JP" dirty="0"/>
              </a:p>
              <a:p>
                <a:pPr lvl="2"/>
                <a:r>
                  <a:rPr lang="ja-JP" altLang="en-US" dirty="0"/>
                  <a:t>パイプライン段数が５段の時より </a:t>
                </a:r>
                <a:r>
                  <a:rPr lang="en-US" altLang="ja-JP" dirty="0"/>
                  <a:t>IPC </a:t>
                </a:r>
                <a:r>
                  <a:rPr lang="ja-JP" altLang="en-US" dirty="0"/>
                  <a:t>低下が大きい</a:t>
                </a:r>
                <a:endParaRPr lang="en-US" altLang="ja-JP" i="1" dirty="0">
                  <a:latin typeface="Cambria Math" panose="02040503050406030204" pitchFamily="18" charset="0"/>
                </a:endParaRPr>
              </a:p>
            </p:txBody>
          </p:sp>
        </mc:Choice>
        <mc:Fallback xmlns="">
          <p:sp>
            <p:nvSpPr>
              <p:cNvPr id="3" name="コンテンツ プレースホルダー 2">
                <a:extLst>
                  <a:ext uri="{FF2B5EF4-FFF2-40B4-BE49-F238E27FC236}">
                    <a16:creationId xmlns:a16="http://schemas.microsoft.com/office/drawing/2014/main" id="{24C80AA3-F81D-AB4A-CDFC-745326F1053F}"/>
                  </a:ext>
                </a:extLst>
              </p:cNvPr>
              <p:cNvSpPr>
                <a:spLocks noGrp="1" noRot="1" noChangeAspect="1" noMove="1" noResize="1" noEditPoints="1" noAdjustHandles="1" noChangeArrowheads="1" noChangeShapeType="1" noTextEdit="1"/>
              </p:cNvSpPr>
              <p:nvPr>
                <p:ph sz="quarter" idx="10"/>
              </p:nvPr>
            </p:nvSpPr>
            <p:spPr>
              <a:blipFill>
                <a:blip r:embed="rId2"/>
                <a:stretch>
                  <a:fillRect l="-692"/>
                </a:stretch>
              </a:blipFill>
            </p:spPr>
            <p:txBody>
              <a:bodyPr/>
              <a:lstStyle/>
              <a:p>
                <a:r>
                  <a:rPr lang="en-US">
                    <a:noFill/>
                  </a:rPr>
                  <a:t> </a:t>
                </a:r>
              </a:p>
            </p:txBody>
          </p:sp>
        </mc:Fallback>
      </mc:AlternateContent>
    </p:spTree>
    <p:extLst>
      <p:ext uri="{BB962C8B-B14F-4D97-AF65-F5344CB8AC3E}">
        <p14:creationId xmlns:p14="http://schemas.microsoft.com/office/powerpoint/2010/main" val="362971909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43DF8F5-B166-84F8-727E-88F2D154DDC3}"/>
              </a:ext>
            </a:extLst>
          </p:cNvPr>
          <p:cNvSpPr>
            <a:spLocks noGrp="1"/>
          </p:cNvSpPr>
          <p:nvPr>
            <p:ph type="title"/>
          </p:nvPr>
        </p:nvSpPr>
        <p:spPr/>
        <p:txBody>
          <a:bodyPr/>
          <a:lstStyle/>
          <a:p>
            <a:r>
              <a:rPr kumimoji="1" lang="ja-JP" altLang="en-US" dirty="0"/>
              <a:t>パイプライン段数が深い時は予測器の精度が重要</a:t>
            </a:r>
            <a:endParaRPr kumimoji="1" lang="en-US" dirty="0"/>
          </a:p>
        </p:txBody>
      </p:sp>
      <p:sp>
        <p:nvSpPr>
          <p:cNvPr id="6" name="平行四辺形 5">
            <a:extLst>
              <a:ext uri="{FF2B5EF4-FFF2-40B4-BE49-F238E27FC236}">
                <a16:creationId xmlns:a16="http://schemas.microsoft.com/office/drawing/2014/main" id="{924A0410-E82C-0C3E-5D17-009BF319D2DA}"/>
              </a:ext>
            </a:extLst>
          </p:cNvPr>
          <p:cNvSpPr/>
          <p:nvPr/>
        </p:nvSpPr>
        <p:spPr bwMode="auto">
          <a:xfrm>
            <a:off x="251952" y="2438989"/>
            <a:ext cx="15624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sp>
        <p:nvSpPr>
          <p:cNvPr id="9" name="平行四辺形 8">
            <a:extLst>
              <a:ext uri="{FF2B5EF4-FFF2-40B4-BE49-F238E27FC236}">
                <a16:creationId xmlns:a16="http://schemas.microsoft.com/office/drawing/2014/main" id="{F3F9C887-A1F6-5400-D621-B89E230B60DC}"/>
              </a:ext>
            </a:extLst>
          </p:cNvPr>
          <p:cNvSpPr/>
          <p:nvPr/>
        </p:nvSpPr>
        <p:spPr bwMode="auto">
          <a:xfrm>
            <a:off x="1692112" y="2438989"/>
            <a:ext cx="15624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sp>
        <p:nvSpPr>
          <p:cNvPr id="12" name="平行四辺形 11">
            <a:extLst>
              <a:ext uri="{FF2B5EF4-FFF2-40B4-BE49-F238E27FC236}">
                <a16:creationId xmlns:a16="http://schemas.microsoft.com/office/drawing/2014/main" id="{749A4345-BE4C-48B8-1C25-D053078D38F1}"/>
              </a:ext>
            </a:extLst>
          </p:cNvPr>
          <p:cNvSpPr/>
          <p:nvPr/>
        </p:nvSpPr>
        <p:spPr bwMode="auto">
          <a:xfrm>
            <a:off x="3132272" y="2438989"/>
            <a:ext cx="15624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sp>
        <p:nvSpPr>
          <p:cNvPr id="16" name="正方形/長方形 15">
            <a:extLst>
              <a:ext uri="{FF2B5EF4-FFF2-40B4-BE49-F238E27FC236}">
                <a16:creationId xmlns:a16="http://schemas.microsoft.com/office/drawing/2014/main" id="{6ED1F96C-52BF-AD99-74CE-13E0B4D5E90A}"/>
              </a:ext>
            </a:extLst>
          </p:cNvPr>
          <p:cNvSpPr/>
          <p:nvPr/>
        </p:nvSpPr>
        <p:spPr>
          <a:xfrm>
            <a:off x="701957" y="1538979"/>
            <a:ext cx="900010"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05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予測器</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a:t>
            </a:r>
          </a:p>
        </p:txBody>
      </p:sp>
      <p:sp>
        <p:nvSpPr>
          <p:cNvPr id="19" name="正方形/長方形 18">
            <a:extLst>
              <a:ext uri="{FF2B5EF4-FFF2-40B4-BE49-F238E27FC236}">
                <a16:creationId xmlns:a16="http://schemas.microsoft.com/office/drawing/2014/main" id="{08644A07-6BA2-3F97-1CBE-EC276B367423}"/>
              </a:ext>
            </a:extLst>
          </p:cNvPr>
          <p:cNvSpPr/>
          <p:nvPr/>
        </p:nvSpPr>
        <p:spPr>
          <a:xfrm>
            <a:off x="6462021" y="1538979"/>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dirty="0"/>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4" name="角丸四角形 23">
            <a:extLst>
              <a:ext uri="{FF2B5EF4-FFF2-40B4-BE49-F238E27FC236}">
                <a16:creationId xmlns:a16="http://schemas.microsoft.com/office/drawing/2014/main" id="{16DF9B34-629E-FC8F-A73C-B3E291C266B6}"/>
              </a:ext>
            </a:extLst>
          </p:cNvPr>
          <p:cNvSpPr/>
          <p:nvPr/>
        </p:nvSpPr>
        <p:spPr bwMode="auto">
          <a:xfrm>
            <a:off x="3671990" y="2258987"/>
            <a:ext cx="450006"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r>
              <a:rPr lang="en-US" altLang="ja-JP" dirty="0">
                <a:latin typeface="Arial Narrow" panose="020B0606020202030204" pitchFamily="34" charset="0"/>
              </a:rPr>
              <a:t>...</a:t>
            </a:r>
            <a:endParaRPr lang="ja-JP" altLang="en-US" dirty="0">
              <a:latin typeface="Arial Narrow" panose="020B0606020202030204" pitchFamily="34" charset="0"/>
            </a:endParaRPr>
          </a:p>
        </p:txBody>
      </p:sp>
      <p:sp>
        <p:nvSpPr>
          <p:cNvPr id="26" name="角丸四角形吹き出し 26">
            <a:extLst>
              <a:ext uri="{FF2B5EF4-FFF2-40B4-BE49-F238E27FC236}">
                <a16:creationId xmlns:a16="http://schemas.microsoft.com/office/drawing/2014/main" id="{E5C149EB-9555-8015-692A-837036F80A4F}"/>
              </a:ext>
            </a:extLst>
          </p:cNvPr>
          <p:cNvSpPr/>
          <p:nvPr/>
        </p:nvSpPr>
        <p:spPr bwMode="auto">
          <a:xfrm>
            <a:off x="7073977" y="998973"/>
            <a:ext cx="1980022" cy="612648"/>
          </a:xfrm>
          <a:prstGeom prst="wedgeRoundRectCallout">
            <a:avLst>
              <a:gd name="adj1" fmla="val -42160"/>
              <a:gd name="adj2" fmla="val 92539"/>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dirty="0">
                <a:solidFill>
                  <a:schemeClr val="tx1">
                    <a:lumMod val="65000"/>
                    <a:lumOff val="35000"/>
                  </a:schemeClr>
                </a:solidFill>
                <a:latin typeface="Arial Narrow" panose="020B0606020202030204" pitchFamily="34" charset="0"/>
              </a:rPr>
              <a:t>間違っとるが</a:t>
            </a:r>
            <a:r>
              <a:rPr kumimoji="1" lang="ja-JP" altLang="en-US" dirty="0" err="1">
                <a:solidFill>
                  <a:schemeClr val="tx1">
                    <a:lumMod val="65000"/>
                    <a:lumOff val="35000"/>
                  </a:schemeClr>
                </a:solidFill>
                <a:latin typeface="Arial Narrow" panose="020B0606020202030204" pitchFamily="34" charset="0"/>
              </a:rPr>
              <a:t>な</a:t>
            </a:r>
            <a:endParaRPr kumimoji="1" lang="ja-JP" altLang="en-US" dirty="0">
              <a:solidFill>
                <a:schemeClr val="tx1">
                  <a:lumMod val="65000"/>
                  <a:lumOff val="35000"/>
                </a:schemeClr>
              </a:solidFill>
              <a:latin typeface="Arial Narrow" panose="020B0606020202030204" pitchFamily="34" charset="0"/>
            </a:endParaRPr>
          </a:p>
        </p:txBody>
      </p:sp>
      <p:sp>
        <p:nvSpPr>
          <p:cNvPr id="27" name="角丸四角形 27">
            <a:extLst>
              <a:ext uri="{FF2B5EF4-FFF2-40B4-BE49-F238E27FC236}">
                <a16:creationId xmlns:a16="http://schemas.microsoft.com/office/drawing/2014/main" id="{ABF75782-6CD1-727C-25AF-F709C7728C91}"/>
              </a:ext>
            </a:extLst>
          </p:cNvPr>
          <p:cNvSpPr/>
          <p:nvPr/>
        </p:nvSpPr>
        <p:spPr bwMode="auto">
          <a:xfrm>
            <a:off x="2321975" y="2258987"/>
            <a:ext cx="450005"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r>
              <a:rPr kumimoji="1" lang="en-US" altLang="ja-JP" dirty="0">
                <a:latin typeface="Arial Narrow" panose="020B0606020202030204" pitchFamily="34" charset="0"/>
              </a:rPr>
              <a:t>…</a:t>
            </a:r>
            <a:endParaRPr kumimoji="1" lang="ja-JP" altLang="en-US" dirty="0">
              <a:latin typeface="Arial Narrow" panose="020B0606020202030204" pitchFamily="34" charset="0"/>
            </a:endParaRPr>
          </a:p>
        </p:txBody>
      </p:sp>
      <p:sp>
        <p:nvSpPr>
          <p:cNvPr id="28" name="角丸四角形 28">
            <a:extLst>
              <a:ext uri="{FF2B5EF4-FFF2-40B4-BE49-F238E27FC236}">
                <a16:creationId xmlns:a16="http://schemas.microsoft.com/office/drawing/2014/main" id="{25891D38-133B-1A48-C38D-F0D14D69CD32}"/>
              </a:ext>
            </a:extLst>
          </p:cNvPr>
          <p:cNvSpPr/>
          <p:nvPr/>
        </p:nvSpPr>
        <p:spPr bwMode="auto">
          <a:xfrm>
            <a:off x="881958" y="2258987"/>
            <a:ext cx="450005"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r>
              <a:rPr kumimoji="1" lang="en-US" altLang="ja-JP" dirty="0">
                <a:latin typeface="Arial Narrow" panose="020B0606020202030204" pitchFamily="34" charset="0"/>
              </a:rPr>
              <a:t>…</a:t>
            </a:r>
            <a:endParaRPr kumimoji="1" lang="ja-JP" altLang="en-US" dirty="0">
              <a:latin typeface="Arial Narrow" panose="020B0606020202030204" pitchFamily="34" charset="0"/>
            </a:endParaRPr>
          </a:p>
        </p:txBody>
      </p:sp>
      <p:sp>
        <p:nvSpPr>
          <p:cNvPr id="31" name="平行四辺形 30">
            <a:extLst>
              <a:ext uri="{FF2B5EF4-FFF2-40B4-BE49-F238E27FC236}">
                <a16:creationId xmlns:a16="http://schemas.microsoft.com/office/drawing/2014/main" id="{A0D2B890-3FBD-6740-6EA3-487C95E1B8E8}"/>
              </a:ext>
            </a:extLst>
          </p:cNvPr>
          <p:cNvSpPr/>
          <p:nvPr/>
        </p:nvSpPr>
        <p:spPr bwMode="auto">
          <a:xfrm>
            <a:off x="4572000" y="2438989"/>
            <a:ext cx="1562400" cy="504056"/>
          </a:xfrm>
          <a:prstGeom prst="parallelogram">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sp>
        <p:nvSpPr>
          <p:cNvPr id="15" name="平行四辺形 14">
            <a:extLst>
              <a:ext uri="{FF2B5EF4-FFF2-40B4-BE49-F238E27FC236}">
                <a16:creationId xmlns:a16="http://schemas.microsoft.com/office/drawing/2014/main" id="{B77396CE-B31F-1D85-9D61-3710D94E5E05}"/>
              </a:ext>
            </a:extLst>
          </p:cNvPr>
          <p:cNvSpPr/>
          <p:nvPr/>
        </p:nvSpPr>
        <p:spPr bwMode="auto">
          <a:xfrm>
            <a:off x="6012016" y="2438989"/>
            <a:ext cx="1584176"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sp>
        <p:nvSpPr>
          <p:cNvPr id="32" name="角丸四角形 23">
            <a:extLst>
              <a:ext uri="{FF2B5EF4-FFF2-40B4-BE49-F238E27FC236}">
                <a16:creationId xmlns:a16="http://schemas.microsoft.com/office/drawing/2014/main" id="{B993F76D-9173-9CC4-065B-44844839F8B0}"/>
              </a:ext>
            </a:extLst>
          </p:cNvPr>
          <p:cNvSpPr/>
          <p:nvPr/>
        </p:nvSpPr>
        <p:spPr bwMode="auto">
          <a:xfrm>
            <a:off x="5112006" y="2258987"/>
            <a:ext cx="450006"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r>
              <a:rPr lang="en-US" altLang="ja-JP" dirty="0">
                <a:latin typeface="Arial Narrow" panose="020B0606020202030204" pitchFamily="34" charset="0"/>
              </a:rPr>
              <a:t>...</a:t>
            </a:r>
            <a:endParaRPr lang="ja-JP" altLang="en-US" dirty="0">
              <a:latin typeface="Arial Narrow" panose="020B0606020202030204" pitchFamily="34" charset="0"/>
            </a:endParaRPr>
          </a:p>
        </p:txBody>
      </p:sp>
      <p:sp>
        <p:nvSpPr>
          <p:cNvPr id="34" name="平行四辺形 33">
            <a:extLst>
              <a:ext uri="{FF2B5EF4-FFF2-40B4-BE49-F238E27FC236}">
                <a16:creationId xmlns:a16="http://schemas.microsoft.com/office/drawing/2014/main" id="{80AB508D-5659-8D46-E2D9-843DDA7585E4}"/>
              </a:ext>
            </a:extLst>
          </p:cNvPr>
          <p:cNvSpPr/>
          <p:nvPr/>
        </p:nvSpPr>
        <p:spPr bwMode="auto">
          <a:xfrm>
            <a:off x="251952" y="5409022"/>
            <a:ext cx="8100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sp>
        <p:nvSpPr>
          <p:cNvPr id="35" name="平行四辺形 34">
            <a:extLst>
              <a:ext uri="{FF2B5EF4-FFF2-40B4-BE49-F238E27FC236}">
                <a16:creationId xmlns:a16="http://schemas.microsoft.com/office/drawing/2014/main" id="{B4C44D83-CC29-5479-B3D8-0EE8765BC5CF}"/>
              </a:ext>
            </a:extLst>
          </p:cNvPr>
          <p:cNvSpPr/>
          <p:nvPr/>
        </p:nvSpPr>
        <p:spPr bwMode="auto">
          <a:xfrm>
            <a:off x="971959" y="5409022"/>
            <a:ext cx="8100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sp>
        <p:nvSpPr>
          <p:cNvPr id="36" name="平行四辺形 35">
            <a:extLst>
              <a:ext uri="{FF2B5EF4-FFF2-40B4-BE49-F238E27FC236}">
                <a16:creationId xmlns:a16="http://schemas.microsoft.com/office/drawing/2014/main" id="{EBE9BC35-B43F-1CF3-6F54-A1BEA6C6AF31}"/>
              </a:ext>
            </a:extLst>
          </p:cNvPr>
          <p:cNvSpPr/>
          <p:nvPr/>
        </p:nvSpPr>
        <p:spPr bwMode="auto">
          <a:xfrm>
            <a:off x="1691968" y="5409022"/>
            <a:ext cx="810009"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sp>
        <p:nvSpPr>
          <p:cNvPr id="37" name="平行四辺形 36">
            <a:extLst>
              <a:ext uri="{FF2B5EF4-FFF2-40B4-BE49-F238E27FC236}">
                <a16:creationId xmlns:a16="http://schemas.microsoft.com/office/drawing/2014/main" id="{5723047A-888B-5D65-94CD-ACD5545E61D4}"/>
              </a:ext>
            </a:extLst>
          </p:cNvPr>
          <p:cNvSpPr/>
          <p:nvPr/>
        </p:nvSpPr>
        <p:spPr bwMode="auto">
          <a:xfrm>
            <a:off x="2411976" y="5409022"/>
            <a:ext cx="810009"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sp>
        <p:nvSpPr>
          <p:cNvPr id="38" name="平行四辺形 37">
            <a:extLst>
              <a:ext uri="{FF2B5EF4-FFF2-40B4-BE49-F238E27FC236}">
                <a16:creationId xmlns:a16="http://schemas.microsoft.com/office/drawing/2014/main" id="{EF9EE983-A2CA-412E-476D-9DB6FC50CFF9}"/>
              </a:ext>
            </a:extLst>
          </p:cNvPr>
          <p:cNvSpPr/>
          <p:nvPr/>
        </p:nvSpPr>
        <p:spPr bwMode="auto">
          <a:xfrm>
            <a:off x="3131985" y="5409022"/>
            <a:ext cx="810009" cy="504056"/>
          </a:xfrm>
          <a:prstGeom prst="parallelogram">
            <a:avLst/>
          </a:pr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sp>
        <p:nvSpPr>
          <p:cNvPr id="39" name="平行四辺形 38">
            <a:extLst>
              <a:ext uri="{FF2B5EF4-FFF2-40B4-BE49-F238E27FC236}">
                <a16:creationId xmlns:a16="http://schemas.microsoft.com/office/drawing/2014/main" id="{15EEA2EF-8E76-7D00-5EA8-782D0AA73252}"/>
              </a:ext>
            </a:extLst>
          </p:cNvPr>
          <p:cNvSpPr/>
          <p:nvPr/>
        </p:nvSpPr>
        <p:spPr bwMode="auto">
          <a:xfrm>
            <a:off x="3851992" y="5409022"/>
            <a:ext cx="810009" cy="504056"/>
          </a:xfrm>
          <a:prstGeom prst="parallelogram">
            <a:avLst/>
          </a:prstGeom>
          <a:ln>
            <a:headEnd/>
            <a:tailEnd type="triangle" w="sm" len="med"/>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sp>
        <p:nvSpPr>
          <p:cNvPr id="40" name="平行四辺形 39">
            <a:extLst>
              <a:ext uri="{FF2B5EF4-FFF2-40B4-BE49-F238E27FC236}">
                <a16:creationId xmlns:a16="http://schemas.microsoft.com/office/drawing/2014/main" id="{297FF9FC-84D0-F0E0-35FC-1F1B91B5DA9B}"/>
              </a:ext>
            </a:extLst>
          </p:cNvPr>
          <p:cNvSpPr/>
          <p:nvPr/>
        </p:nvSpPr>
        <p:spPr bwMode="auto">
          <a:xfrm>
            <a:off x="4572001" y="5409022"/>
            <a:ext cx="810009" cy="504056"/>
          </a:xfrm>
          <a:prstGeom prst="parallelogram">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sp>
        <p:nvSpPr>
          <p:cNvPr id="41" name="平行四辺形 40">
            <a:extLst>
              <a:ext uri="{FF2B5EF4-FFF2-40B4-BE49-F238E27FC236}">
                <a16:creationId xmlns:a16="http://schemas.microsoft.com/office/drawing/2014/main" id="{F8D4B663-9B2D-CB7F-D76D-B68529EDE1E6}"/>
              </a:ext>
            </a:extLst>
          </p:cNvPr>
          <p:cNvSpPr/>
          <p:nvPr/>
        </p:nvSpPr>
        <p:spPr bwMode="auto">
          <a:xfrm>
            <a:off x="5292009" y="5409022"/>
            <a:ext cx="810009" cy="504056"/>
          </a:xfrm>
          <a:prstGeom prst="parallelogram">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sp>
        <p:nvSpPr>
          <p:cNvPr id="42" name="平行四辺形 41">
            <a:extLst>
              <a:ext uri="{FF2B5EF4-FFF2-40B4-BE49-F238E27FC236}">
                <a16:creationId xmlns:a16="http://schemas.microsoft.com/office/drawing/2014/main" id="{9C421364-8A9B-FA56-5D16-985CE0D91111}"/>
              </a:ext>
            </a:extLst>
          </p:cNvPr>
          <p:cNvSpPr/>
          <p:nvPr/>
        </p:nvSpPr>
        <p:spPr bwMode="auto">
          <a:xfrm>
            <a:off x="6012016" y="5409022"/>
            <a:ext cx="810009"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sp>
        <p:nvSpPr>
          <p:cNvPr id="43" name="平行四辺形 42">
            <a:extLst>
              <a:ext uri="{FF2B5EF4-FFF2-40B4-BE49-F238E27FC236}">
                <a16:creationId xmlns:a16="http://schemas.microsoft.com/office/drawing/2014/main" id="{5DCB0CDC-C763-995C-9DEF-6E9CB6EB16AF}"/>
              </a:ext>
            </a:extLst>
          </p:cNvPr>
          <p:cNvSpPr/>
          <p:nvPr/>
        </p:nvSpPr>
        <p:spPr bwMode="auto">
          <a:xfrm>
            <a:off x="6732024" y="5409022"/>
            <a:ext cx="810009"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sp>
        <p:nvSpPr>
          <p:cNvPr id="44" name="正方形/長方形 43">
            <a:extLst>
              <a:ext uri="{FF2B5EF4-FFF2-40B4-BE49-F238E27FC236}">
                <a16:creationId xmlns:a16="http://schemas.microsoft.com/office/drawing/2014/main" id="{6925D667-4B72-2320-3479-BD04548441C3}"/>
              </a:ext>
            </a:extLst>
          </p:cNvPr>
          <p:cNvSpPr/>
          <p:nvPr/>
        </p:nvSpPr>
        <p:spPr>
          <a:xfrm>
            <a:off x="6732023" y="4689014"/>
            <a:ext cx="2250025"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dirty="0"/>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b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b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5" name="角丸四角形 89">
            <a:extLst>
              <a:ext uri="{FF2B5EF4-FFF2-40B4-BE49-F238E27FC236}">
                <a16:creationId xmlns:a16="http://schemas.microsoft.com/office/drawing/2014/main" id="{02E6C179-A03E-6AF7-6AB4-2CADEC38B4A0}"/>
              </a:ext>
            </a:extLst>
          </p:cNvPr>
          <p:cNvSpPr/>
          <p:nvPr/>
        </p:nvSpPr>
        <p:spPr bwMode="auto">
          <a:xfrm>
            <a:off x="6912026" y="5319021"/>
            <a:ext cx="450005"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kumimoji="1" lang="en-US" altLang="ja-JP" sz="1200" dirty="0">
                <a:latin typeface="Arial Narrow" panose="020B0606020202030204" pitchFamily="34" charset="0"/>
              </a:rPr>
              <a:t>if a &gt; 0</a:t>
            </a:r>
            <a:endParaRPr kumimoji="1" lang="ja-JP" altLang="en-US" sz="1200" dirty="0">
              <a:latin typeface="Arial Narrow" panose="020B0606020202030204" pitchFamily="34" charset="0"/>
            </a:endParaRPr>
          </a:p>
        </p:txBody>
      </p:sp>
      <p:sp>
        <p:nvSpPr>
          <p:cNvPr id="47" name="角丸四角形 28">
            <a:extLst>
              <a:ext uri="{FF2B5EF4-FFF2-40B4-BE49-F238E27FC236}">
                <a16:creationId xmlns:a16="http://schemas.microsoft.com/office/drawing/2014/main" id="{F0A7D094-FD7E-9E6E-8FA8-4927AEF5195A}"/>
              </a:ext>
            </a:extLst>
          </p:cNvPr>
          <p:cNvSpPr/>
          <p:nvPr/>
        </p:nvSpPr>
        <p:spPr bwMode="auto">
          <a:xfrm>
            <a:off x="431953" y="5319021"/>
            <a:ext cx="450005"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r>
              <a:rPr kumimoji="1" lang="en-US" altLang="ja-JP" dirty="0">
                <a:latin typeface="Arial Narrow" panose="020B0606020202030204" pitchFamily="34" charset="0"/>
              </a:rPr>
              <a:t>…</a:t>
            </a:r>
            <a:endParaRPr kumimoji="1" lang="ja-JP" altLang="en-US" dirty="0">
              <a:latin typeface="Arial Narrow" panose="020B0606020202030204" pitchFamily="34" charset="0"/>
            </a:endParaRPr>
          </a:p>
        </p:txBody>
      </p:sp>
      <p:sp>
        <p:nvSpPr>
          <p:cNvPr id="48" name="角丸四角形 28">
            <a:extLst>
              <a:ext uri="{FF2B5EF4-FFF2-40B4-BE49-F238E27FC236}">
                <a16:creationId xmlns:a16="http://schemas.microsoft.com/office/drawing/2014/main" id="{9C5E7028-9C90-6A8B-B33D-DAB0DC04A771}"/>
              </a:ext>
            </a:extLst>
          </p:cNvPr>
          <p:cNvSpPr/>
          <p:nvPr/>
        </p:nvSpPr>
        <p:spPr bwMode="auto">
          <a:xfrm>
            <a:off x="1151962" y="5319021"/>
            <a:ext cx="450005"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r>
              <a:rPr kumimoji="1" lang="en-US" altLang="ja-JP" dirty="0">
                <a:latin typeface="Arial Narrow" panose="020B0606020202030204" pitchFamily="34" charset="0"/>
              </a:rPr>
              <a:t>…</a:t>
            </a:r>
            <a:endParaRPr kumimoji="1" lang="ja-JP" altLang="en-US" dirty="0">
              <a:latin typeface="Arial Narrow" panose="020B0606020202030204" pitchFamily="34" charset="0"/>
            </a:endParaRPr>
          </a:p>
        </p:txBody>
      </p:sp>
      <p:sp>
        <p:nvSpPr>
          <p:cNvPr id="49" name="角丸四角形 28">
            <a:extLst>
              <a:ext uri="{FF2B5EF4-FFF2-40B4-BE49-F238E27FC236}">
                <a16:creationId xmlns:a16="http://schemas.microsoft.com/office/drawing/2014/main" id="{450CC458-E9F9-BAF6-0A13-F87C33C2C7E4}"/>
              </a:ext>
            </a:extLst>
          </p:cNvPr>
          <p:cNvSpPr/>
          <p:nvPr/>
        </p:nvSpPr>
        <p:spPr bwMode="auto">
          <a:xfrm>
            <a:off x="1871969" y="5319021"/>
            <a:ext cx="450005"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r>
              <a:rPr kumimoji="1" lang="en-US" altLang="ja-JP" dirty="0">
                <a:latin typeface="Arial Narrow" panose="020B0606020202030204" pitchFamily="34" charset="0"/>
              </a:rPr>
              <a:t>…</a:t>
            </a:r>
            <a:endParaRPr kumimoji="1" lang="ja-JP" altLang="en-US" dirty="0">
              <a:latin typeface="Arial Narrow" panose="020B0606020202030204" pitchFamily="34" charset="0"/>
            </a:endParaRPr>
          </a:p>
        </p:txBody>
      </p:sp>
      <p:sp>
        <p:nvSpPr>
          <p:cNvPr id="50" name="角丸四角形 28">
            <a:extLst>
              <a:ext uri="{FF2B5EF4-FFF2-40B4-BE49-F238E27FC236}">
                <a16:creationId xmlns:a16="http://schemas.microsoft.com/office/drawing/2014/main" id="{DC81AD1E-C5B6-4997-BA2E-590E804F2723}"/>
              </a:ext>
            </a:extLst>
          </p:cNvPr>
          <p:cNvSpPr/>
          <p:nvPr/>
        </p:nvSpPr>
        <p:spPr bwMode="auto">
          <a:xfrm>
            <a:off x="2591978" y="5319021"/>
            <a:ext cx="450005"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r>
              <a:rPr kumimoji="1" lang="en-US" altLang="ja-JP" dirty="0">
                <a:latin typeface="Arial Narrow" panose="020B0606020202030204" pitchFamily="34" charset="0"/>
              </a:rPr>
              <a:t>…</a:t>
            </a:r>
            <a:endParaRPr kumimoji="1" lang="ja-JP" altLang="en-US" dirty="0">
              <a:latin typeface="Arial Narrow" panose="020B0606020202030204" pitchFamily="34" charset="0"/>
            </a:endParaRPr>
          </a:p>
        </p:txBody>
      </p:sp>
      <p:sp>
        <p:nvSpPr>
          <p:cNvPr id="51" name="角丸四角形 28">
            <a:extLst>
              <a:ext uri="{FF2B5EF4-FFF2-40B4-BE49-F238E27FC236}">
                <a16:creationId xmlns:a16="http://schemas.microsoft.com/office/drawing/2014/main" id="{65054F20-C458-EA17-4A6B-FCB1E5A71CCC}"/>
              </a:ext>
            </a:extLst>
          </p:cNvPr>
          <p:cNvSpPr/>
          <p:nvPr/>
        </p:nvSpPr>
        <p:spPr bwMode="auto">
          <a:xfrm>
            <a:off x="3311985" y="5319021"/>
            <a:ext cx="450005"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r>
              <a:rPr kumimoji="1" lang="en-US" altLang="ja-JP" dirty="0">
                <a:latin typeface="Arial Narrow" panose="020B0606020202030204" pitchFamily="34" charset="0"/>
              </a:rPr>
              <a:t>…</a:t>
            </a:r>
            <a:endParaRPr kumimoji="1" lang="ja-JP" altLang="en-US" dirty="0">
              <a:latin typeface="Arial Narrow" panose="020B0606020202030204" pitchFamily="34" charset="0"/>
            </a:endParaRPr>
          </a:p>
        </p:txBody>
      </p:sp>
      <p:sp>
        <p:nvSpPr>
          <p:cNvPr id="52" name="角丸四角形 28">
            <a:extLst>
              <a:ext uri="{FF2B5EF4-FFF2-40B4-BE49-F238E27FC236}">
                <a16:creationId xmlns:a16="http://schemas.microsoft.com/office/drawing/2014/main" id="{9BF7547A-7245-B2EB-6028-2EADD81C0E24}"/>
              </a:ext>
            </a:extLst>
          </p:cNvPr>
          <p:cNvSpPr/>
          <p:nvPr/>
        </p:nvSpPr>
        <p:spPr bwMode="auto">
          <a:xfrm>
            <a:off x="4031994" y="5319021"/>
            <a:ext cx="450005"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r>
              <a:rPr kumimoji="1" lang="en-US" altLang="ja-JP" dirty="0">
                <a:latin typeface="Arial Narrow" panose="020B0606020202030204" pitchFamily="34" charset="0"/>
              </a:rPr>
              <a:t>…</a:t>
            </a:r>
            <a:endParaRPr kumimoji="1" lang="ja-JP" altLang="en-US" dirty="0">
              <a:latin typeface="Arial Narrow" panose="020B0606020202030204" pitchFamily="34" charset="0"/>
            </a:endParaRPr>
          </a:p>
        </p:txBody>
      </p:sp>
      <p:sp>
        <p:nvSpPr>
          <p:cNvPr id="53" name="角丸四角形 28">
            <a:extLst>
              <a:ext uri="{FF2B5EF4-FFF2-40B4-BE49-F238E27FC236}">
                <a16:creationId xmlns:a16="http://schemas.microsoft.com/office/drawing/2014/main" id="{52FC087E-450F-78DF-AC9E-D38245391E1A}"/>
              </a:ext>
            </a:extLst>
          </p:cNvPr>
          <p:cNvSpPr/>
          <p:nvPr/>
        </p:nvSpPr>
        <p:spPr bwMode="auto">
          <a:xfrm>
            <a:off x="4752001" y="5319021"/>
            <a:ext cx="450005"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r>
              <a:rPr kumimoji="1" lang="en-US" altLang="ja-JP" dirty="0">
                <a:latin typeface="Arial Narrow" panose="020B0606020202030204" pitchFamily="34" charset="0"/>
              </a:rPr>
              <a:t>…</a:t>
            </a:r>
            <a:endParaRPr kumimoji="1" lang="ja-JP" altLang="en-US" dirty="0">
              <a:latin typeface="Arial Narrow" panose="020B0606020202030204" pitchFamily="34" charset="0"/>
            </a:endParaRPr>
          </a:p>
        </p:txBody>
      </p:sp>
      <p:sp>
        <p:nvSpPr>
          <p:cNvPr id="54" name="角丸四角形 28">
            <a:extLst>
              <a:ext uri="{FF2B5EF4-FFF2-40B4-BE49-F238E27FC236}">
                <a16:creationId xmlns:a16="http://schemas.microsoft.com/office/drawing/2014/main" id="{BF0E06ED-3A68-ED30-9232-A01109D7B0DE}"/>
              </a:ext>
            </a:extLst>
          </p:cNvPr>
          <p:cNvSpPr/>
          <p:nvPr/>
        </p:nvSpPr>
        <p:spPr bwMode="auto">
          <a:xfrm>
            <a:off x="5472010" y="5319021"/>
            <a:ext cx="450005"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r>
              <a:rPr kumimoji="1" lang="en-US" altLang="ja-JP" dirty="0">
                <a:latin typeface="Arial Narrow" panose="020B0606020202030204" pitchFamily="34" charset="0"/>
              </a:rPr>
              <a:t>…</a:t>
            </a:r>
            <a:endParaRPr kumimoji="1" lang="ja-JP" altLang="en-US" dirty="0">
              <a:latin typeface="Arial Narrow" panose="020B0606020202030204" pitchFamily="34" charset="0"/>
            </a:endParaRPr>
          </a:p>
        </p:txBody>
      </p:sp>
      <p:sp>
        <p:nvSpPr>
          <p:cNvPr id="57" name="角丸四角形 28">
            <a:extLst>
              <a:ext uri="{FF2B5EF4-FFF2-40B4-BE49-F238E27FC236}">
                <a16:creationId xmlns:a16="http://schemas.microsoft.com/office/drawing/2014/main" id="{69002638-D0E8-9057-F0AA-57CFA8B1897E}"/>
              </a:ext>
            </a:extLst>
          </p:cNvPr>
          <p:cNvSpPr/>
          <p:nvPr/>
        </p:nvSpPr>
        <p:spPr bwMode="auto">
          <a:xfrm>
            <a:off x="6192018" y="5319021"/>
            <a:ext cx="450005"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r>
              <a:rPr kumimoji="1" lang="en-US" altLang="ja-JP" dirty="0">
                <a:latin typeface="Arial Narrow" panose="020B0606020202030204" pitchFamily="34" charset="0"/>
              </a:rPr>
              <a:t>…</a:t>
            </a:r>
            <a:endParaRPr kumimoji="1" lang="ja-JP" altLang="en-US" dirty="0">
              <a:latin typeface="Arial Narrow" panose="020B0606020202030204" pitchFamily="34" charset="0"/>
            </a:endParaRPr>
          </a:p>
        </p:txBody>
      </p:sp>
      <p:sp>
        <p:nvSpPr>
          <p:cNvPr id="58" name="角丸四角形 89">
            <a:extLst>
              <a:ext uri="{FF2B5EF4-FFF2-40B4-BE49-F238E27FC236}">
                <a16:creationId xmlns:a16="http://schemas.microsoft.com/office/drawing/2014/main" id="{77252879-6EA2-5436-7599-BF908A68CC37}"/>
              </a:ext>
            </a:extLst>
          </p:cNvPr>
          <p:cNvSpPr/>
          <p:nvPr/>
        </p:nvSpPr>
        <p:spPr bwMode="auto">
          <a:xfrm>
            <a:off x="6642023" y="2258987"/>
            <a:ext cx="450005"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kumimoji="1" lang="en-US" altLang="ja-JP" sz="1200" dirty="0">
                <a:latin typeface="Arial Narrow" panose="020B0606020202030204" pitchFamily="34" charset="0"/>
              </a:rPr>
              <a:t>if a &gt; 0</a:t>
            </a:r>
            <a:endParaRPr kumimoji="1" lang="ja-JP" altLang="en-US" sz="1200" dirty="0">
              <a:latin typeface="Arial Narrow" panose="020B0606020202030204" pitchFamily="34" charset="0"/>
            </a:endParaRPr>
          </a:p>
        </p:txBody>
      </p:sp>
      <p:sp>
        <p:nvSpPr>
          <p:cNvPr id="3" name="角丸四角形吹き出し 26">
            <a:extLst>
              <a:ext uri="{FF2B5EF4-FFF2-40B4-BE49-F238E27FC236}">
                <a16:creationId xmlns:a16="http://schemas.microsoft.com/office/drawing/2014/main" id="{ED395970-82C8-58AB-76AD-01140D05D86A}"/>
              </a:ext>
            </a:extLst>
          </p:cNvPr>
          <p:cNvSpPr/>
          <p:nvPr/>
        </p:nvSpPr>
        <p:spPr bwMode="auto">
          <a:xfrm>
            <a:off x="7092028" y="3879005"/>
            <a:ext cx="1980022" cy="612648"/>
          </a:xfrm>
          <a:prstGeom prst="wedgeRoundRectCallout">
            <a:avLst>
              <a:gd name="adj1" fmla="val -44771"/>
              <a:gd name="adj2" fmla="val 97082"/>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dirty="0">
                <a:solidFill>
                  <a:schemeClr val="tx1">
                    <a:lumMod val="65000"/>
                    <a:lumOff val="35000"/>
                  </a:schemeClr>
                </a:solidFill>
                <a:latin typeface="Arial Narrow" panose="020B0606020202030204" pitchFamily="34" charset="0"/>
              </a:rPr>
              <a:t>ええ加減にせい</a:t>
            </a:r>
          </a:p>
        </p:txBody>
      </p:sp>
      <p:sp>
        <p:nvSpPr>
          <p:cNvPr id="4" name="角丸四角形吹き出し 3">
            <a:extLst>
              <a:ext uri="{FF2B5EF4-FFF2-40B4-BE49-F238E27FC236}">
                <a16:creationId xmlns:a16="http://schemas.microsoft.com/office/drawing/2014/main" id="{86B6A3CD-F71B-B70E-B067-DEBC61AA4A3B}"/>
              </a:ext>
            </a:extLst>
          </p:cNvPr>
          <p:cNvSpPr/>
          <p:nvPr/>
        </p:nvSpPr>
        <p:spPr bwMode="auto">
          <a:xfrm>
            <a:off x="1241963" y="998973"/>
            <a:ext cx="2520028" cy="612648"/>
          </a:xfrm>
          <a:prstGeom prst="wedgeRoundRectCallout">
            <a:avLst>
              <a:gd name="adj1" fmla="val -44943"/>
              <a:gd name="adj2" fmla="val 95784"/>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en-US" altLang="ja-JP" dirty="0">
                <a:solidFill>
                  <a:schemeClr val="tx1">
                    <a:lumMod val="65000"/>
                    <a:lumOff val="35000"/>
                  </a:schemeClr>
                </a:solidFill>
                <a:latin typeface="Arial Narrow" panose="020B0606020202030204" pitchFamily="34" charset="0"/>
              </a:rPr>
              <a:t>else </a:t>
            </a:r>
            <a:r>
              <a:rPr kumimoji="1" lang="ja-JP" altLang="en-US" dirty="0">
                <a:solidFill>
                  <a:schemeClr val="tx1">
                    <a:lumMod val="65000"/>
                    <a:lumOff val="35000"/>
                  </a:schemeClr>
                </a:solidFill>
                <a:latin typeface="Arial Narrow" panose="020B0606020202030204" pitchFamily="34" charset="0"/>
              </a:rPr>
              <a:t>じゃなかったかー</a:t>
            </a:r>
            <a:endParaRPr kumimoji="1" lang="en-US" altLang="ja-JP" dirty="0">
              <a:solidFill>
                <a:schemeClr val="tx1">
                  <a:lumMod val="65000"/>
                  <a:lumOff val="35000"/>
                </a:schemeClr>
              </a:solidFill>
              <a:latin typeface="Arial Narrow" panose="020B0606020202030204" pitchFamily="34" charset="0"/>
            </a:endParaRPr>
          </a:p>
        </p:txBody>
      </p:sp>
      <p:sp>
        <p:nvSpPr>
          <p:cNvPr id="5" name="角丸四角形吹き出し 3">
            <a:extLst>
              <a:ext uri="{FF2B5EF4-FFF2-40B4-BE49-F238E27FC236}">
                <a16:creationId xmlns:a16="http://schemas.microsoft.com/office/drawing/2014/main" id="{DBC4D151-3923-A84C-4EDE-4E5933E6E74F}"/>
              </a:ext>
            </a:extLst>
          </p:cNvPr>
          <p:cNvSpPr/>
          <p:nvPr/>
        </p:nvSpPr>
        <p:spPr bwMode="auto">
          <a:xfrm>
            <a:off x="881959" y="3969006"/>
            <a:ext cx="2070023" cy="612648"/>
          </a:xfrm>
          <a:prstGeom prst="wedgeRoundRectCallout">
            <a:avLst>
              <a:gd name="adj1" fmla="val -46053"/>
              <a:gd name="adj2" fmla="val 93837"/>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dirty="0">
                <a:solidFill>
                  <a:schemeClr val="tx1">
                    <a:lumMod val="65000"/>
                    <a:lumOff val="35000"/>
                  </a:schemeClr>
                </a:solidFill>
                <a:latin typeface="Arial Narrow" panose="020B0606020202030204" pitchFamily="34" charset="0"/>
              </a:rPr>
              <a:t>正直すまんかった</a:t>
            </a:r>
            <a:endParaRPr kumimoji="1" lang="en-US" altLang="ja-JP" dirty="0">
              <a:solidFill>
                <a:schemeClr val="tx1">
                  <a:lumMod val="65000"/>
                  <a:lumOff val="35000"/>
                </a:schemeClr>
              </a:solidFill>
              <a:latin typeface="Arial Narrow" panose="020B0606020202030204" pitchFamily="34" charset="0"/>
            </a:endParaRPr>
          </a:p>
        </p:txBody>
      </p:sp>
      <p:cxnSp>
        <p:nvCxnSpPr>
          <p:cNvPr id="7" name="直線矢印コネクタ 6">
            <a:extLst>
              <a:ext uri="{FF2B5EF4-FFF2-40B4-BE49-F238E27FC236}">
                <a16:creationId xmlns:a16="http://schemas.microsoft.com/office/drawing/2014/main" id="{62AAC06C-177E-A477-2989-AA7ACCDE4C60}"/>
              </a:ext>
            </a:extLst>
          </p:cNvPr>
          <p:cNvCxnSpPr>
            <a:cxnSpLocks/>
          </p:cNvCxnSpPr>
          <p:nvPr/>
        </p:nvCxnSpPr>
        <p:spPr bwMode="auto">
          <a:xfrm>
            <a:off x="251952" y="3338999"/>
            <a:ext cx="5670063" cy="0"/>
          </a:xfrm>
          <a:prstGeom prst="straightConnector1">
            <a:avLst/>
          </a:prstGeom>
          <a:noFill/>
          <a:ln w="9525" cap="flat" cmpd="sng" algn="ctr">
            <a:solidFill>
              <a:schemeClr val="tx1">
                <a:lumMod val="75000"/>
                <a:lumOff val="25000"/>
              </a:schemeClr>
            </a:solidFill>
            <a:prstDash val="solid"/>
            <a:round/>
            <a:headEnd type="triangle" w="med" len="med"/>
            <a:tailEnd type="triangle"/>
          </a:ln>
          <a:effectLst/>
        </p:spPr>
      </p:cxnSp>
      <mc:AlternateContent xmlns:mc="http://schemas.openxmlformats.org/markup-compatibility/2006" xmlns:a14="http://schemas.microsoft.com/office/drawing/2010/main">
        <mc:Choice Requires="a14">
          <p:sp>
            <p:nvSpPr>
              <p:cNvPr id="8" name="正方形/長方形 7">
                <a:extLst>
                  <a:ext uri="{FF2B5EF4-FFF2-40B4-BE49-F238E27FC236}">
                    <a16:creationId xmlns:a16="http://schemas.microsoft.com/office/drawing/2014/main" id="{E1B198A9-F9BA-3FD1-6E65-73F9BD3485BB}"/>
                  </a:ext>
                </a:extLst>
              </p:cNvPr>
              <p:cNvSpPr/>
              <p:nvPr/>
            </p:nvSpPr>
            <p:spPr>
              <a:xfrm>
                <a:off x="2861981" y="2978995"/>
                <a:ext cx="540005" cy="270003"/>
              </a:xfrm>
              <a:prstGeom prst="rect">
                <a:avLst/>
              </a:prstGeom>
            </p:spPr>
            <p:txBody>
              <a:bodyPr wrap="none">
                <a:noAutofit/>
              </a:bodyPr>
              <a:lstStyle/>
              <a:p>
                <a:pPr algn="ctr"/>
                <a:r>
                  <a:rPr lang="ja-JP" altLang="en-US" i="0" dirty="0">
                    <a:solidFill>
                      <a:schemeClr val="tx1">
                        <a:lumMod val="65000"/>
                        <a:lumOff val="35000"/>
                      </a:schemeClr>
                    </a:solidFill>
                    <a:latin typeface="+mj-lt"/>
                  </a:rPr>
                  <a:t>ペナルティ </a:t>
                </a:r>
                <a14:m>
                  <m:oMath xmlns:m="http://schemas.openxmlformats.org/officeDocument/2006/math">
                    <m:r>
                      <a:rPr lang="en-US" altLang="ja-JP" i="1" dirty="0" smtClean="0">
                        <a:solidFill>
                          <a:schemeClr val="tx1">
                            <a:lumMod val="65000"/>
                            <a:lumOff val="35000"/>
                          </a:schemeClr>
                        </a:solidFill>
                        <a:latin typeface="Cambria Math" panose="02040503050406030204" pitchFamily="18" charset="0"/>
                      </a:rPr>
                      <m:t>𝐶𝑝</m:t>
                    </m:r>
                    <m:r>
                      <a:rPr lang="en-US" altLang="ja-JP" i="1" dirty="0" smtClean="0">
                        <a:solidFill>
                          <a:schemeClr val="tx1">
                            <a:lumMod val="65000"/>
                            <a:lumOff val="35000"/>
                          </a:schemeClr>
                        </a:solidFill>
                        <a:latin typeface="Cambria Math" panose="02040503050406030204" pitchFamily="18" charset="0"/>
                      </a:rPr>
                      <m:t>=4</m:t>
                    </m:r>
                  </m:oMath>
                </a14:m>
                <a:r>
                  <a:rPr lang="en-US" altLang="ja-JP" dirty="0">
                    <a:solidFill>
                      <a:schemeClr val="tx1">
                        <a:lumMod val="65000"/>
                        <a:lumOff val="35000"/>
                      </a:schemeClr>
                    </a:solidFill>
                  </a:rPr>
                  <a:t> cycle</a:t>
                </a:r>
                <a:endParaRPr lang="ja-JP" altLang="en-US" dirty="0">
                  <a:solidFill>
                    <a:schemeClr val="tx1">
                      <a:lumMod val="65000"/>
                      <a:lumOff val="35000"/>
                    </a:schemeClr>
                  </a:solidFill>
                </a:endParaRPr>
              </a:p>
            </p:txBody>
          </p:sp>
        </mc:Choice>
        <mc:Fallback xmlns="">
          <p:sp>
            <p:nvSpPr>
              <p:cNvPr id="8" name="正方形/長方形 7">
                <a:extLst>
                  <a:ext uri="{FF2B5EF4-FFF2-40B4-BE49-F238E27FC236}">
                    <a16:creationId xmlns:a16="http://schemas.microsoft.com/office/drawing/2014/main" id="{E1B198A9-F9BA-3FD1-6E65-73F9BD3485BB}"/>
                  </a:ext>
                </a:extLst>
              </p:cNvPr>
              <p:cNvSpPr>
                <a:spLocks noRot="1" noChangeAspect="1" noMove="1" noResize="1" noEditPoints="1" noAdjustHandles="1" noChangeArrowheads="1" noChangeShapeType="1" noTextEdit="1"/>
              </p:cNvSpPr>
              <p:nvPr/>
            </p:nvSpPr>
            <p:spPr>
              <a:xfrm>
                <a:off x="2861981" y="2978995"/>
                <a:ext cx="540005" cy="270003"/>
              </a:xfrm>
              <a:prstGeom prst="rect">
                <a:avLst/>
              </a:prstGeom>
              <a:blipFill>
                <a:blip r:embed="rId2"/>
                <a:stretch>
                  <a:fillRect l="-203371" t="-20455" r="-203371" b="-77273"/>
                </a:stretch>
              </a:blipFill>
            </p:spPr>
            <p:txBody>
              <a:bodyPr/>
              <a:lstStyle/>
              <a:p>
                <a:r>
                  <a:rPr lang="en-US">
                    <a:noFill/>
                  </a:rPr>
                  <a:t> </a:t>
                </a:r>
              </a:p>
            </p:txBody>
          </p:sp>
        </mc:Fallback>
      </mc:AlternateContent>
      <p:cxnSp>
        <p:nvCxnSpPr>
          <p:cNvPr id="11" name="直線矢印コネクタ 10">
            <a:extLst>
              <a:ext uri="{FF2B5EF4-FFF2-40B4-BE49-F238E27FC236}">
                <a16:creationId xmlns:a16="http://schemas.microsoft.com/office/drawing/2014/main" id="{B293F499-90A8-6319-09E4-78512B1E5FF8}"/>
              </a:ext>
            </a:extLst>
          </p:cNvPr>
          <p:cNvCxnSpPr>
            <a:cxnSpLocks/>
          </p:cNvCxnSpPr>
          <p:nvPr/>
        </p:nvCxnSpPr>
        <p:spPr bwMode="auto">
          <a:xfrm>
            <a:off x="251952" y="6309032"/>
            <a:ext cx="6480072" cy="0"/>
          </a:xfrm>
          <a:prstGeom prst="straightConnector1">
            <a:avLst/>
          </a:prstGeom>
          <a:noFill/>
          <a:ln w="9525" cap="flat" cmpd="sng" algn="ctr">
            <a:solidFill>
              <a:schemeClr val="tx1">
                <a:lumMod val="75000"/>
                <a:lumOff val="25000"/>
              </a:schemeClr>
            </a:solidFill>
            <a:prstDash val="solid"/>
            <a:round/>
            <a:headEnd type="triangle" w="med" len="med"/>
            <a:tailEnd type="triangle"/>
          </a:ln>
          <a:effectLst/>
        </p:spPr>
      </p:cxnSp>
      <mc:AlternateContent xmlns:mc="http://schemas.openxmlformats.org/markup-compatibility/2006" xmlns:a14="http://schemas.microsoft.com/office/drawing/2010/main">
        <mc:Choice Requires="a14">
          <p:sp>
            <p:nvSpPr>
              <p:cNvPr id="13" name="正方形/長方形 12">
                <a:extLst>
                  <a:ext uri="{FF2B5EF4-FFF2-40B4-BE49-F238E27FC236}">
                    <a16:creationId xmlns:a16="http://schemas.microsoft.com/office/drawing/2014/main" id="{2B1706B7-4908-B39C-615C-69350FBEBA61}"/>
                  </a:ext>
                </a:extLst>
              </p:cNvPr>
              <p:cNvSpPr/>
              <p:nvPr/>
            </p:nvSpPr>
            <p:spPr>
              <a:xfrm>
                <a:off x="2861981" y="5949028"/>
                <a:ext cx="540005" cy="270003"/>
              </a:xfrm>
              <a:prstGeom prst="rect">
                <a:avLst/>
              </a:prstGeom>
            </p:spPr>
            <p:txBody>
              <a:bodyPr wrap="none">
                <a:noAutofit/>
              </a:bodyPr>
              <a:lstStyle/>
              <a:p>
                <a:pPr algn="ctr"/>
                <a:r>
                  <a:rPr lang="ja-JP" altLang="en-US" i="0" dirty="0">
                    <a:solidFill>
                      <a:schemeClr val="tx1">
                        <a:lumMod val="65000"/>
                        <a:lumOff val="35000"/>
                      </a:schemeClr>
                    </a:solidFill>
                    <a:latin typeface="+mj-lt"/>
                  </a:rPr>
                  <a:t>ペナルティ </a:t>
                </a:r>
                <a14:m>
                  <m:oMath xmlns:m="http://schemas.openxmlformats.org/officeDocument/2006/math">
                    <m:r>
                      <a:rPr lang="en-US" altLang="ja-JP" i="1" dirty="0" smtClean="0">
                        <a:solidFill>
                          <a:schemeClr val="tx1">
                            <a:lumMod val="65000"/>
                            <a:lumOff val="35000"/>
                          </a:schemeClr>
                        </a:solidFill>
                        <a:latin typeface="Cambria Math" panose="02040503050406030204" pitchFamily="18" charset="0"/>
                      </a:rPr>
                      <m:t>𝐶𝑝</m:t>
                    </m:r>
                    <m:r>
                      <a:rPr lang="en-US" altLang="ja-JP" i="1" dirty="0" smtClean="0">
                        <a:solidFill>
                          <a:schemeClr val="tx1">
                            <a:lumMod val="65000"/>
                            <a:lumOff val="35000"/>
                          </a:schemeClr>
                        </a:solidFill>
                        <a:latin typeface="Cambria Math" panose="02040503050406030204" pitchFamily="18" charset="0"/>
                      </a:rPr>
                      <m:t>=9</m:t>
                    </m:r>
                  </m:oMath>
                </a14:m>
                <a:r>
                  <a:rPr lang="en-US" altLang="ja-JP" dirty="0">
                    <a:solidFill>
                      <a:schemeClr val="tx1">
                        <a:lumMod val="65000"/>
                        <a:lumOff val="35000"/>
                      </a:schemeClr>
                    </a:solidFill>
                  </a:rPr>
                  <a:t> cycle</a:t>
                </a:r>
                <a:endParaRPr lang="ja-JP" altLang="en-US" dirty="0">
                  <a:solidFill>
                    <a:schemeClr val="tx1">
                      <a:lumMod val="65000"/>
                      <a:lumOff val="35000"/>
                    </a:schemeClr>
                  </a:solidFill>
                </a:endParaRPr>
              </a:p>
            </p:txBody>
          </p:sp>
        </mc:Choice>
        <mc:Fallback xmlns="">
          <p:sp>
            <p:nvSpPr>
              <p:cNvPr id="13" name="正方形/長方形 12">
                <a:extLst>
                  <a:ext uri="{FF2B5EF4-FFF2-40B4-BE49-F238E27FC236}">
                    <a16:creationId xmlns:a16="http://schemas.microsoft.com/office/drawing/2014/main" id="{2B1706B7-4908-B39C-615C-69350FBEBA61}"/>
                  </a:ext>
                </a:extLst>
              </p:cNvPr>
              <p:cNvSpPr>
                <a:spLocks noRot="1" noChangeAspect="1" noMove="1" noResize="1" noEditPoints="1" noAdjustHandles="1" noChangeArrowheads="1" noChangeShapeType="1" noTextEdit="1"/>
              </p:cNvSpPr>
              <p:nvPr/>
            </p:nvSpPr>
            <p:spPr>
              <a:xfrm>
                <a:off x="2861981" y="5949028"/>
                <a:ext cx="540005" cy="270003"/>
              </a:xfrm>
              <a:prstGeom prst="rect">
                <a:avLst/>
              </a:prstGeom>
              <a:blipFill>
                <a:blip r:embed="rId3"/>
                <a:stretch>
                  <a:fillRect l="-203371" t="-20455" r="-203371" b="-77273"/>
                </a:stretch>
              </a:blipFill>
            </p:spPr>
            <p:txBody>
              <a:bodyPr/>
              <a:lstStyle/>
              <a:p>
                <a:r>
                  <a:rPr lang="en-US">
                    <a:noFill/>
                  </a:rPr>
                  <a:t> </a:t>
                </a:r>
              </a:p>
            </p:txBody>
          </p:sp>
        </mc:Fallback>
      </mc:AlternateContent>
      <p:sp>
        <p:nvSpPr>
          <p:cNvPr id="14" name="正方形/長方形 13">
            <a:extLst>
              <a:ext uri="{FF2B5EF4-FFF2-40B4-BE49-F238E27FC236}">
                <a16:creationId xmlns:a16="http://schemas.microsoft.com/office/drawing/2014/main" id="{B26F96B2-0252-4023-6797-4DE0A37C1346}"/>
              </a:ext>
            </a:extLst>
          </p:cNvPr>
          <p:cNvSpPr/>
          <p:nvPr/>
        </p:nvSpPr>
        <p:spPr>
          <a:xfrm>
            <a:off x="341953" y="4599013"/>
            <a:ext cx="900010"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05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予測器</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a:t>
            </a:r>
          </a:p>
        </p:txBody>
      </p:sp>
    </p:spTree>
    <p:extLst>
      <p:ext uri="{BB962C8B-B14F-4D97-AF65-F5344CB8AC3E}">
        <p14:creationId xmlns:p14="http://schemas.microsoft.com/office/powerpoint/2010/main" val="367156118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DC12892-35F5-E8A0-AFC3-832AE2AE9B06}"/>
              </a:ext>
            </a:extLst>
          </p:cNvPr>
          <p:cNvSpPr>
            <a:spLocks noGrp="1"/>
          </p:cNvSpPr>
          <p:nvPr>
            <p:ph type="title"/>
          </p:nvPr>
        </p:nvSpPr>
        <p:spPr/>
        <p:txBody>
          <a:bodyPr/>
          <a:lstStyle/>
          <a:p>
            <a:r>
              <a:rPr kumimoji="1" lang="ja-JP" altLang="en-US" dirty="0"/>
              <a:t>パイプライン段数を２倍にした時の性能</a:t>
            </a:r>
            <a:endParaRPr kumimoji="1" lang="en-US"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24C80AA3-F81D-AB4A-CDFC-745326F1053F}"/>
                  </a:ext>
                </a:extLst>
              </p:cNvPr>
              <p:cNvSpPr>
                <a:spLocks noGrp="1"/>
              </p:cNvSpPr>
              <p:nvPr>
                <p:ph sz="quarter" idx="10"/>
              </p:nvPr>
            </p:nvSpPr>
            <p:spPr/>
            <p:txBody>
              <a:bodyPr/>
              <a:lstStyle/>
              <a:p>
                <a:r>
                  <a:rPr lang="ja-JP" altLang="en-US" i="1" dirty="0">
                    <a:latin typeface="Cambria Math" panose="02040503050406030204" pitchFamily="18" charset="0"/>
                  </a:rPr>
                  <a:t>全体の性能は 周波数</a:t>
                </a:r>
                <a14:m>
                  <m:oMath xmlns:m="http://schemas.openxmlformats.org/officeDocument/2006/math">
                    <m:r>
                      <a:rPr lang="en-US" altLang="ja-JP" i="1" dirty="0">
                        <a:latin typeface="Cambria Math" panose="02040503050406030204" pitchFamily="18" charset="0"/>
                      </a:rPr>
                      <m:t>×</m:t>
                    </m:r>
                  </m:oMath>
                </a14:m>
                <a:r>
                  <a:rPr lang="en-US" altLang="ja-JP" i="0" dirty="0">
                    <a:latin typeface="+mj-lt"/>
                  </a:rPr>
                  <a:t> IPC </a:t>
                </a:r>
                <a:r>
                  <a:rPr lang="ja-JP" altLang="en-US" i="0" dirty="0">
                    <a:latin typeface="+mj-lt"/>
                  </a:rPr>
                  <a:t>で決まる</a:t>
                </a:r>
                <a:endParaRPr lang="en-US" altLang="ja-JP" i="0" dirty="0">
                  <a:latin typeface="+mj-lt"/>
                </a:endParaRPr>
              </a:p>
              <a:p>
                <a:pPr lvl="1"/>
                <a:r>
                  <a:rPr lang="ja-JP" altLang="en-US" i="1" dirty="0">
                    <a:latin typeface="Cambria Math" panose="02040503050406030204" pitchFamily="18" charset="0"/>
                  </a:rPr>
                  <a:t>段数を倍にしたことで，周波数は２倍に</a:t>
                </a:r>
                <a:endParaRPr lang="en-US" altLang="ja-JP" i="1" dirty="0">
                  <a:latin typeface="Cambria Math" panose="02040503050406030204" pitchFamily="18" charset="0"/>
                </a:endParaRPr>
              </a:p>
              <a:p>
                <a:pPr lvl="1"/>
                <a:r>
                  <a:rPr lang="ja-JP" altLang="en-US" i="1" dirty="0">
                    <a:latin typeface="Cambria Math" panose="02040503050406030204" pitchFamily="18" charset="0"/>
                  </a:rPr>
                  <a:t> </a:t>
                </a:r>
                <a:r>
                  <a:rPr lang="en-US" altLang="ja-JP" dirty="0">
                    <a:latin typeface="Cambria Math" panose="02040503050406030204" pitchFamily="18" charset="0"/>
                  </a:rPr>
                  <a:t>IPC</a:t>
                </a:r>
                <a:r>
                  <a:rPr lang="en-US" altLang="ja-JP" i="1" dirty="0">
                    <a:latin typeface="Cambria Math" panose="02040503050406030204" pitchFamily="18" charset="0"/>
                  </a:rPr>
                  <a:t>  </a:t>
                </a:r>
                <a:r>
                  <a:rPr lang="ja-JP" altLang="en-US" i="1" dirty="0">
                    <a:latin typeface="Cambria Math" panose="02040503050406030204" pitchFamily="18" charset="0"/>
                  </a:rPr>
                  <a:t>は</a:t>
                </a:r>
                <a14:m>
                  <m:oMath xmlns:m="http://schemas.openxmlformats.org/officeDocument/2006/math">
                    <m:r>
                      <a:rPr lang="en-US" altLang="ja-JP" b="0" i="1" dirty="0" smtClean="0">
                        <a:latin typeface="Cambria Math" panose="02040503050406030204" pitchFamily="18" charset="0"/>
                      </a:rPr>
                      <m:t> </m:t>
                    </m:r>
                    <m:r>
                      <a:rPr lang="en-US" altLang="ja-JP" i="1" dirty="0">
                        <a:latin typeface="Cambria Math" panose="02040503050406030204" pitchFamily="18" charset="0"/>
                      </a:rPr>
                      <m:t>0.69</m:t>
                    </m:r>
                  </m:oMath>
                </a14:m>
                <a:endParaRPr lang="en-US" altLang="ja-JP" i="1" dirty="0">
                  <a:latin typeface="Cambria Math" panose="02040503050406030204" pitchFamily="18" charset="0"/>
                </a:endParaRPr>
              </a:p>
              <a:p>
                <a:pPr lvl="1"/>
                <a:r>
                  <a:rPr lang="ja-JP" altLang="en-US" i="1" dirty="0">
                    <a:solidFill>
                      <a:schemeClr val="accent5"/>
                    </a:solidFill>
                    <a:latin typeface="Cambria Math" panose="02040503050406030204" pitchFamily="18" charset="0"/>
                  </a:rPr>
                  <a:t>性能は </a:t>
                </a:r>
                <a14:m>
                  <m:oMath xmlns:m="http://schemas.openxmlformats.org/officeDocument/2006/math">
                    <m:r>
                      <a:rPr lang="en-US" altLang="ja-JP" i="1" dirty="0">
                        <a:solidFill>
                          <a:schemeClr val="accent5"/>
                        </a:solidFill>
                        <a:latin typeface="Cambria Math" panose="02040503050406030204" pitchFamily="18" charset="0"/>
                      </a:rPr>
                      <m:t>2</m:t>
                    </m:r>
                    <m:r>
                      <a:rPr lang="en-US" altLang="ja-JP" i="1" dirty="0" smtClean="0">
                        <a:solidFill>
                          <a:schemeClr val="accent5"/>
                        </a:solidFill>
                        <a:latin typeface="Cambria Math" panose="02040503050406030204" pitchFamily="18" charset="0"/>
                      </a:rPr>
                      <m:t>×</m:t>
                    </m:r>
                    <m:r>
                      <a:rPr lang="en-US" altLang="ja-JP" b="0" i="1" dirty="0" smtClean="0">
                        <a:solidFill>
                          <a:schemeClr val="accent5"/>
                        </a:solidFill>
                        <a:latin typeface="Cambria Math" panose="02040503050406030204" pitchFamily="18" charset="0"/>
                      </a:rPr>
                      <m:t>0.69=</m:t>
                    </m:r>
                    <m:r>
                      <a:rPr lang="en-US" altLang="ja-JP" i="1" dirty="0" smtClean="0">
                        <a:solidFill>
                          <a:schemeClr val="accent5"/>
                        </a:solidFill>
                        <a:latin typeface="Cambria Math" panose="02040503050406030204" pitchFamily="18" charset="0"/>
                      </a:rPr>
                      <m:t>1.38</m:t>
                    </m:r>
                  </m:oMath>
                </a14:m>
                <a:endParaRPr lang="en-US" altLang="ja-JP" i="1" dirty="0">
                  <a:solidFill>
                    <a:schemeClr val="accent5"/>
                  </a:solidFill>
                  <a:latin typeface="Cambria Math" panose="02040503050406030204" pitchFamily="18" charset="0"/>
                </a:endParaRPr>
              </a:p>
            </p:txBody>
          </p:sp>
        </mc:Choice>
        <mc:Fallback xmlns="">
          <p:sp>
            <p:nvSpPr>
              <p:cNvPr id="3" name="コンテンツ プレースホルダー 2">
                <a:extLst>
                  <a:ext uri="{FF2B5EF4-FFF2-40B4-BE49-F238E27FC236}">
                    <a16:creationId xmlns:a16="http://schemas.microsoft.com/office/drawing/2014/main" id="{24C80AA3-F81D-AB4A-CDFC-745326F1053F}"/>
                  </a:ext>
                </a:extLst>
              </p:cNvPr>
              <p:cNvSpPr>
                <a:spLocks noGrp="1" noRot="1" noChangeAspect="1" noMove="1" noResize="1" noEditPoints="1" noAdjustHandles="1" noChangeArrowheads="1" noChangeShapeType="1" noTextEdit="1"/>
              </p:cNvSpPr>
              <p:nvPr>
                <p:ph sz="quarter" idx="10"/>
              </p:nvPr>
            </p:nvSpPr>
            <p:spPr>
              <a:blipFill>
                <a:blip r:embed="rId2"/>
                <a:stretch>
                  <a:fillRect l="-692"/>
                </a:stretch>
              </a:blipFill>
            </p:spPr>
            <p:txBody>
              <a:bodyPr/>
              <a:lstStyle/>
              <a:p>
                <a:r>
                  <a:rPr lang="en-US">
                    <a:noFill/>
                  </a:rPr>
                  <a:t> </a:t>
                </a:r>
              </a:p>
            </p:txBody>
          </p:sp>
        </mc:Fallback>
      </mc:AlternateContent>
    </p:spTree>
    <p:extLst>
      <p:ext uri="{BB962C8B-B14F-4D97-AF65-F5344CB8AC3E}">
        <p14:creationId xmlns:p14="http://schemas.microsoft.com/office/powerpoint/2010/main" val="306159378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DC12892-35F5-E8A0-AFC3-832AE2AE9B06}"/>
              </a:ext>
            </a:extLst>
          </p:cNvPr>
          <p:cNvSpPr>
            <a:spLocks noGrp="1"/>
          </p:cNvSpPr>
          <p:nvPr>
            <p:ph type="title"/>
          </p:nvPr>
        </p:nvSpPr>
        <p:spPr/>
        <p:txBody>
          <a:bodyPr/>
          <a:lstStyle/>
          <a:p>
            <a:r>
              <a:rPr kumimoji="1" lang="ja-JP" altLang="en-US" dirty="0"/>
              <a:t>パイプライン段数を２倍にした時の </a:t>
            </a:r>
            <a:r>
              <a:rPr kumimoji="1" lang="en-US" altLang="ja-JP" dirty="0"/>
              <a:t>IPC</a:t>
            </a:r>
            <a:endParaRPr kumimoji="1" lang="en-US"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24C80AA3-F81D-AB4A-CDFC-745326F1053F}"/>
                  </a:ext>
                </a:extLst>
              </p:cNvPr>
              <p:cNvSpPr>
                <a:spLocks noGrp="1"/>
              </p:cNvSpPr>
              <p:nvPr>
                <p:ph sz="quarter" idx="10"/>
              </p:nvPr>
            </p:nvSpPr>
            <p:spPr/>
            <p:txBody>
              <a:bodyPr/>
              <a:lstStyle/>
              <a:p>
                <a:r>
                  <a:rPr lang="ja-JP" altLang="en-US" dirty="0">
                    <a:latin typeface="Cambria Math" panose="02040503050406030204" pitchFamily="18" charset="0"/>
                  </a:rPr>
                  <a:t>まとめると，</a:t>
                </a:r>
                <a:endParaRPr lang="en-US" altLang="ja-JP" dirty="0">
                  <a:latin typeface="Cambria Math" panose="02040503050406030204" pitchFamily="18" charset="0"/>
                </a:endParaRPr>
              </a:p>
              <a:p>
                <a:pPr lvl="1"/>
                <a:r>
                  <a:rPr lang="ja-JP" altLang="en-US" dirty="0">
                    <a:latin typeface="Cambria Math" panose="02040503050406030204" pitchFamily="18" charset="0"/>
                  </a:rPr>
                  <a:t>５段パイプの理想的な性能 ：</a:t>
                </a:r>
                <a:r>
                  <a:rPr lang="en-US" altLang="ja-JP" dirty="0">
                    <a:latin typeface="Cambria Math" panose="02040503050406030204" pitchFamily="18" charset="0"/>
                  </a:rPr>
                  <a:t>	</a:t>
                </a:r>
                <a14:m>
                  <m:oMath xmlns:m="http://schemas.openxmlformats.org/officeDocument/2006/math">
                    <m:r>
                      <a:rPr lang="en-US" altLang="ja-JP" i="1" dirty="0" smtClean="0">
                        <a:latin typeface="Cambria Math" panose="02040503050406030204" pitchFamily="18" charset="0"/>
                      </a:rPr>
                      <m:t>1</m:t>
                    </m:r>
                  </m:oMath>
                </a14:m>
                <a:endParaRPr lang="en-US" altLang="ja-JP" dirty="0">
                  <a:latin typeface="Cambria Math" panose="02040503050406030204" pitchFamily="18" charset="0"/>
                </a:endParaRPr>
              </a:p>
              <a:p>
                <a:pPr lvl="1"/>
                <a:r>
                  <a:rPr lang="ja-JP" altLang="en-US" dirty="0">
                    <a:latin typeface="Cambria Math" panose="02040503050406030204" pitchFamily="18" charset="0"/>
                  </a:rPr>
                  <a:t>分岐予測ミスありの性能：</a:t>
                </a:r>
                <a:r>
                  <a:rPr lang="en-US" altLang="ja-JP" dirty="0">
                    <a:latin typeface="Cambria Math" panose="02040503050406030204" pitchFamily="18" charset="0"/>
                  </a:rPr>
                  <a:t>	0.69</a:t>
                </a:r>
              </a:p>
              <a:p>
                <a:pPr lvl="1"/>
                <a:r>
                  <a:rPr lang="ja-JP" altLang="en-US" dirty="0">
                    <a:latin typeface="Cambria Math" panose="02040503050406030204" pitchFamily="18" charset="0"/>
                  </a:rPr>
                  <a:t>１０段パイプの理想的な性能：</a:t>
                </a:r>
                <a:r>
                  <a:rPr lang="en-US" altLang="ja-JP" dirty="0">
                    <a:latin typeface="Cambria Math" panose="02040503050406030204" pitchFamily="18" charset="0"/>
                  </a:rPr>
                  <a:t>	2</a:t>
                </a:r>
              </a:p>
              <a:p>
                <a:pPr lvl="1"/>
                <a:r>
                  <a:rPr lang="ja-JP" altLang="en-US" dirty="0">
                    <a:latin typeface="Cambria Math" panose="02040503050406030204" pitchFamily="18" charset="0"/>
                  </a:rPr>
                  <a:t>１０段で予測ミスあり：</a:t>
                </a:r>
                <a:r>
                  <a:rPr lang="en-US" altLang="ja-JP" dirty="0">
                    <a:latin typeface="Cambria Math" panose="02040503050406030204" pitchFamily="18" charset="0"/>
                  </a:rPr>
                  <a:t>		1.38 (0.69 </a:t>
                </a:r>
                <a:r>
                  <a:rPr lang="ja-JP" altLang="en-US" dirty="0">
                    <a:latin typeface="Cambria Math" panose="02040503050406030204" pitchFamily="18" charset="0"/>
                  </a:rPr>
                  <a:t>の </a:t>
                </a:r>
                <a:r>
                  <a:rPr lang="en-US" altLang="ja-JP" dirty="0">
                    <a:latin typeface="Cambria Math" panose="02040503050406030204" pitchFamily="18" charset="0"/>
                  </a:rPr>
                  <a:t>1.66</a:t>
                </a:r>
                <a:r>
                  <a:rPr lang="ja-JP" altLang="en-US" dirty="0">
                    <a:latin typeface="Cambria Math" panose="02040503050406030204" pitchFamily="18" charset="0"/>
                  </a:rPr>
                  <a:t>倍</a:t>
                </a:r>
                <a:r>
                  <a:rPr lang="en-US" altLang="ja-JP" dirty="0">
                    <a:latin typeface="Cambria Math" panose="02040503050406030204" pitchFamily="18" charset="0"/>
                  </a:rPr>
                  <a:t>)</a:t>
                </a:r>
              </a:p>
              <a:p>
                <a:r>
                  <a:rPr lang="ja-JP" altLang="en-US" dirty="0">
                    <a:latin typeface="Cambria Math" panose="02040503050406030204" pitchFamily="18" charset="0"/>
                  </a:rPr>
                  <a:t>わかること：</a:t>
                </a:r>
                <a:endParaRPr lang="en-US" altLang="ja-JP" dirty="0">
                  <a:latin typeface="Cambria Math" panose="02040503050406030204" pitchFamily="18" charset="0"/>
                </a:endParaRPr>
              </a:p>
              <a:p>
                <a:pPr marL="817200" lvl="1" indent="-457200">
                  <a:buFont typeface="+mj-lt"/>
                  <a:buAutoNum type="arabicPeriod"/>
                </a:pPr>
                <a:r>
                  <a:rPr lang="ja-JP" altLang="en-US" dirty="0">
                    <a:solidFill>
                      <a:schemeClr val="tx1">
                        <a:lumMod val="75000"/>
                        <a:lumOff val="25000"/>
                      </a:schemeClr>
                    </a:solidFill>
                    <a:latin typeface="Cambria Math" panose="02040503050406030204" pitchFamily="18" charset="0"/>
                  </a:rPr>
                  <a:t>パイプライン段数を深くすると </a:t>
                </a:r>
                <a:r>
                  <a:rPr lang="en-US" altLang="ja-JP" dirty="0">
                    <a:solidFill>
                      <a:schemeClr val="tx1">
                        <a:lumMod val="75000"/>
                        <a:lumOff val="25000"/>
                      </a:schemeClr>
                    </a:solidFill>
                    <a:latin typeface="Cambria Math" panose="02040503050406030204" pitchFamily="18" charset="0"/>
                  </a:rPr>
                  <a:t>IPC </a:t>
                </a:r>
                <a:r>
                  <a:rPr lang="ja-JP" altLang="en-US" dirty="0">
                    <a:solidFill>
                      <a:schemeClr val="tx1">
                        <a:lumMod val="75000"/>
                        <a:lumOff val="25000"/>
                      </a:schemeClr>
                    </a:solidFill>
                    <a:latin typeface="Cambria Math" panose="02040503050406030204" pitchFamily="18" charset="0"/>
                  </a:rPr>
                  <a:t>への影響が増加する</a:t>
                </a:r>
                <a:endParaRPr lang="en-US" altLang="ja-JP" dirty="0">
                  <a:solidFill>
                    <a:schemeClr val="tx1">
                      <a:lumMod val="75000"/>
                      <a:lumOff val="25000"/>
                    </a:schemeClr>
                  </a:solidFill>
                  <a:latin typeface="Cambria Math" panose="02040503050406030204" pitchFamily="18" charset="0"/>
                </a:endParaRPr>
              </a:p>
              <a:p>
                <a:pPr lvl="2"/>
                <a:r>
                  <a:rPr lang="ja-JP" altLang="en-US" dirty="0">
                    <a:solidFill>
                      <a:schemeClr val="tx1">
                        <a:lumMod val="75000"/>
                        <a:lumOff val="25000"/>
                      </a:schemeClr>
                    </a:solidFill>
                    <a:latin typeface="Cambria Math" panose="02040503050406030204" pitchFamily="18" charset="0"/>
                  </a:rPr>
                  <a:t>同じ分岐予測ミス発生率でも，より大きく </a:t>
                </a:r>
                <a:r>
                  <a:rPr lang="en-US" altLang="ja-JP" dirty="0">
                    <a:solidFill>
                      <a:schemeClr val="tx1">
                        <a:lumMod val="75000"/>
                        <a:lumOff val="25000"/>
                      </a:schemeClr>
                    </a:solidFill>
                    <a:latin typeface="Cambria Math" panose="02040503050406030204" pitchFamily="18" charset="0"/>
                  </a:rPr>
                  <a:t>IPC </a:t>
                </a:r>
                <a:r>
                  <a:rPr lang="ja-JP" altLang="en-US" dirty="0">
                    <a:solidFill>
                      <a:schemeClr val="tx1">
                        <a:lumMod val="75000"/>
                        <a:lumOff val="25000"/>
                      </a:schemeClr>
                    </a:solidFill>
                    <a:latin typeface="Cambria Math" panose="02040503050406030204" pitchFamily="18" charset="0"/>
                  </a:rPr>
                  <a:t>が下がる</a:t>
                </a:r>
                <a:endParaRPr lang="en-US" altLang="ja-JP" dirty="0">
                  <a:solidFill>
                    <a:schemeClr val="tx1">
                      <a:lumMod val="75000"/>
                      <a:lumOff val="25000"/>
                    </a:schemeClr>
                  </a:solidFill>
                  <a:latin typeface="Cambria Math" panose="02040503050406030204" pitchFamily="18" charset="0"/>
                </a:endParaRPr>
              </a:p>
              <a:p>
                <a:pPr marL="817200" lvl="1" indent="-457200">
                  <a:buFont typeface="+mj-lt"/>
                  <a:buAutoNum type="arabicPeriod"/>
                </a:pPr>
                <a:r>
                  <a:rPr lang="ja-JP" altLang="en-US" dirty="0">
                    <a:solidFill>
                      <a:schemeClr val="tx1">
                        <a:lumMod val="75000"/>
                        <a:lumOff val="25000"/>
                      </a:schemeClr>
                    </a:solidFill>
                    <a:latin typeface="Cambria Math" panose="02040503050406030204" pitchFamily="18" charset="0"/>
                  </a:rPr>
                  <a:t>予測ミス率 </a:t>
                </a:r>
                <a14:m>
                  <m:oMath xmlns:m="http://schemas.openxmlformats.org/officeDocument/2006/math">
                    <m:r>
                      <a:rPr lang="en-US" altLang="ja-JP" i="0" dirty="0" smtClean="0">
                        <a:solidFill>
                          <a:schemeClr val="tx1">
                            <a:lumMod val="75000"/>
                            <a:lumOff val="25000"/>
                          </a:schemeClr>
                        </a:solidFill>
                        <a:latin typeface="Cambria Math" panose="02040503050406030204" pitchFamily="18" charset="0"/>
                      </a:rPr>
                      <m:t>0.2 </m:t>
                    </m:r>
                  </m:oMath>
                </a14:m>
                <a:r>
                  <a:rPr lang="ja-JP" altLang="en-US" dirty="0">
                    <a:solidFill>
                      <a:schemeClr val="tx1">
                        <a:lumMod val="75000"/>
                        <a:lumOff val="25000"/>
                      </a:schemeClr>
                    </a:solidFill>
                    <a:latin typeface="Cambria Math" panose="02040503050406030204" pitchFamily="18" charset="0"/>
                  </a:rPr>
                  <a:t>で１０段パイプだと，全体の３割ぐらいの時間は無駄な実行をしている</a:t>
                </a:r>
                <a:endParaRPr lang="en-US" altLang="ja-JP" dirty="0">
                  <a:solidFill>
                    <a:schemeClr val="tx1">
                      <a:lumMod val="75000"/>
                      <a:lumOff val="25000"/>
                    </a:schemeClr>
                  </a:solidFill>
                  <a:latin typeface="Cambria Math" panose="02040503050406030204" pitchFamily="18" charset="0"/>
                </a:endParaRPr>
              </a:p>
              <a:p>
                <a:pPr lvl="2"/>
                <a:r>
                  <a:rPr lang="en-US" altLang="ja-JP" i="0" dirty="0">
                    <a:latin typeface="+mj-lt"/>
                  </a:rPr>
                  <a:t>1.38</a:t>
                </a:r>
                <a:r>
                  <a:rPr lang="en-US" altLang="ja-JP" b="0" i="0" dirty="0">
                    <a:latin typeface="+mj-lt"/>
                  </a:rPr>
                  <a:t> </a:t>
                </a:r>
                <a:r>
                  <a:rPr lang="en-US" altLang="ja-JP" i="0" dirty="0">
                    <a:latin typeface="+mj-lt"/>
                  </a:rPr>
                  <a:t>/ 2 = </a:t>
                </a:r>
                <a:r>
                  <a:rPr lang="en-US" altLang="ja-JP" b="0" i="0" dirty="0">
                    <a:latin typeface="+mj-lt"/>
                  </a:rPr>
                  <a:t>0.69</a:t>
                </a:r>
                <a:endParaRPr lang="en-US" altLang="ja-JP" i="1" dirty="0">
                  <a:solidFill>
                    <a:schemeClr val="tx1">
                      <a:lumMod val="75000"/>
                      <a:lumOff val="25000"/>
                    </a:schemeClr>
                  </a:solidFill>
                  <a:latin typeface="Cambria Math" panose="02040503050406030204" pitchFamily="18" charset="0"/>
                </a:endParaRPr>
              </a:p>
            </p:txBody>
          </p:sp>
        </mc:Choice>
        <mc:Fallback xmlns="">
          <p:sp>
            <p:nvSpPr>
              <p:cNvPr id="3" name="コンテンツ プレースホルダー 2">
                <a:extLst>
                  <a:ext uri="{FF2B5EF4-FFF2-40B4-BE49-F238E27FC236}">
                    <a16:creationId xmlns:a16="http://schemas.microsoft.com/office/drawing/2014/main" id="{24C80AA3-F81D-AB4A-CDFC-745326F1053F}"/>
                  </a:ext>
                </a:extLst>
              </p:cNvPr>
              <p:cNvSpPr>
                <a:spLocks noGrp="1" noRot="1" noChangeAspect="1" noMove="1" noResize="1" noEditPoints="1" noAdjustHandles="1" noChangeArrowheads="1" noChangeShapeType="1" noTextEdit="1"/>
              </p:cNvSpPr>
              <p:nvPr>
                <p:ph sz="quarter" idx="10"/>
              </p:nvPr>
            </p:nvSpPr>
            <p:spPr>
              <a:blipFill>
                <a:blip r:embed="rId2"/>
                <a:stretch>
                  <a:fillRect l="-692"/>
                </a:stretch>
              </a:blipFill>
            </p:spPr>
            <p:txBody>
              <a:bodyPr/>
              <a:lstStyle/>
              <a:p>
                <a:r>
                  <a:rPr lang="en-US">
                    <a:noFill/>
                  </a:rPr>
                  <a:t> </a:t>
                </a:r>
              </a:p>
            </p:txBody>
          </p:sp>
        </mc:Fallback>
      </mc:AlternateContent>
    </p:spTree>
    <p:extLst>
      <p:ext uri="{BB962C8B-B14F-4D97-AF65-F5344CB8AC3E}">
        <p14:creationId xmlns:p14="http://schemas.microsoft.com/office/powerpoint/2010/main" val="84424807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DC12892-35F5-E8A0-AFC3-832AE2AE9B06}"/>
              </a:ext>
            </a:extLst>
          </p:cNvPr>
          <p:cNvSpPr>
            <a:spLocks noGrp="1"/>
          </p:cNvSpPr>
          <p:nvPr>
            <p:ph type="title"/>
          </p:nvPr>
        </p:nvSpPr>
        <p:spPr/>
        <p:txBody>
          <a:bodyPr/>
          <a:lstStyle/>
          <a:p>
            <a:r>
              <a:rPr kumimoji="1" lang="ja-JP" altLang="en-US" dirty="0"/>
              <a:t>スーパスカラにした時の </a:t>
            </a:r>
            <a:r>
              <a:rPr kumimoji="1" lang="en-US" altLang="ja-JP" dirty="0"/>
              <a:t>IPC</a:t>
            </a:r>
            <a:endParaRPr kumimoji="1" lang="en-US"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24C80AA3-F81D-AB4A-CDFC-745326F1053F}"/>
                  </a:ext>
                </a:extLst>
              </p:cNvPr>
              <p:cNvSpPr>
                <a:spLocks noGrp="1"/>
              </p:cNvSpPr>
              <p:nvPr>
                <p:ph sz="quarter" idx="10"/>
              </p:nvPr>
            </p:nvSpPr>
            <p:spPr>
              <a:xfrm>
                <a:off x="431954" y="1088974"/>
                <a:ext cx="8100090" cy="5220058"/>
              </a:xfrm>
            </p:spPr>
            <p:txBody>
              <a:bodyPr/>
              <a:lstStyle/>
              <a:p>
                <a14:m>
                  <m:oMath xmlns:m="http://schemas.openxmlformats.org/officeDocument/2006/math">
                    <m:r>
                      <a:rPr lang="en-US" altLang="ja-JP" i="1" dirty="0" smtClean="0">
                        <a:latin typeface="Cambria Math" panose="02040503050406030204" pitchFamily="18" charset="0"/>
                      </a:rPr>
                      <m:t>𝐼𝑃𝐶𝑟</m:t>
                    </m:r>
                    <m:r>
                      <m:rPr>
                        <m:nor/>
                      </m:rPr>
                      <a:rPr lang="en-US" altLang="ja-JP" dirty="0"/>
                      <m:t>=</m:t>
                    </m:r>
                    <m:f>
                      <m:fPr>
                        <m:ctrlPr>
                          <a:rPr lang="en-US" altLang="ja-JP" i="1" dirty="0">
                            <a:latin typeface="Cambria Math" panose="02040503050406030204" pitchFamily="18" charset="0"/>
                          </a:rPr>
                        </m:ctrlPr>
                      </m:fPr>
                      <m:num>
                        <m:r>
                          <a:rPr lang="en-US" altLang="ja-JP" i="1" dirty="0">
                            <a:latin typeface="Cambria Math" panose="02040503050406030204" pitchFamily="18" charset="0"/>
                          </a:rPr>
                          <m:t>1</m:t>
                        </m:r>
                      </m:num>
                      <m:den>
                        <m:f>
                          <m:fPr>
                            <m:ctrlPr>
                              <a:rPr lang="en-US" altLang="ja-JP" i="1" dirty="0">
                                <a:latin typeface="Cambria Math" panose="02040503050406030204" pitchFamily="18" charset="0"/>
                              </a:rPr>
                            </m:ctrlPr>
                          </m:fPr>
                          <m:num>
                            <m:r>
                              <a:rPr lang="en-US" altLang="ja-JP" i="1" dirty="0">
                                <a:latin typeface="Cambria Math" panose="02040503050406030204" pitchFamily="18" charset="0"/>
                              </a:rPr>
                              <m:t>1</m:t>
                            </m:r>
                          </m:num>
                          <m:den>
                            <m:r>
                              <a:rPr lang="en-US" altLang="ja-JP" i="1" dirty="0">
                                <a:latin typeface="Cambria Math" panose="02040503050406030204" pitchFamily="18" charset="0"/>
                              </a:rPr>
                              <m:t>𝐼𝑃𝐶𝑡</m:t>
                            </m:r>
                          </m:den>
                        </m:f>
                        <m:r>
                          <a:rPr lang="en-US" altLang="ja-JP" i="1" dirty="0">
                            <a:latin typeface="Cambria Math" panose="02040503050406030204" pitchFamily="18" charset="0"/>
                          </a:rPr>
                          <m:t>+</m:t>
                        </m:r>
                        <m:r>
                          <a:rPr lang="en-US" altLang="ja-JP" i="1" dirty="0">
                            <a:latin typeface="Cambria Math" panose="02040503050406030204" pitchFamily="18" charset="0"/>
                          </a:rPr>
                          <m:t>𝑃𝑏</m:t>
                        </m:r>
                        <m:r>
                          <a:rPr lang="en-US" altLang="ja-JP" i="1" dirty="0">
                            <a:latin typeface="Cambria Math" panose="02040503050406030204" pitchFamily="18" charset="0"/>
                          </a:rPr>
                          <m:t>×</m:t>
                        </m:r>
                        <m:r>
                          <a:rPr lang="en-US" altLang="ja-JP" i="1" dirty="0">
                            <a:latin typeface="Cambria Math" panose="02040503050406030204" pitchFamily="18" charset="0"/>
                          </a:rPr>
                          <m:t>𝑃𝑚</m:t>
                        </m:r>
                        <m:r>
                          <a:rPr lang="en-US" altLang="ja-JP" i="1" dirty="0">
                            <a:latin typeface="Cambria Math" panose="02040503050406030204" pitchFamily="18" charset="0"/>
                          </a:rPr>
                          <m:t>×</m:t>
                        </m:r>
                        <m:r>
                          <a:rPr lang="en-US" altLang="ja-JP" i="1" dirty="0">
                            <a:latin typeface="Cambria Math" panose="02040503050406030204" pitchFamily="18" charset="0"/>
                          </a:rPr>
                          <m:t>𝐶𝑝</m:t>
                        </m:r>
                      </m:den>
                    </m:f>
                  </m:oMath>
                </a14:m>
                <a:endParaRPr lang="en-US" altLang="ja-JP" dirty="0"/>
              </a:p>
              <a:p>
                <a:r>
                  <a:rPr kumimoji="1" lang="ja-JP" altLang="en-US" dirty="0"/>
                  <a:t>スーパスカラに</a:t>
                </a:r>
                <a:r>
                  <a:rPr lang="ja-JP" altLang="en-US" i="1" dirty="0">
                    <a:latin typeface="Cambria Math" panose="02040503050406030204" pitchFamily="18" charset="0"/>
                  </a:rPr>
                  <a:t>すると･･･</a:t>
                </a:r>
                <a:endParaRPr lang="en-US" altLang="ja-JP" i="1" dirty="0">
                  <a:latin typeface="Cambria Math" panose="02040503050406030204" pitchFamily="18" charset="0"/>
                </a:endParaRPr>
              </a:p>
              <a:p>
                <a:pPr lvl="1"/>
                <a14:m>
                  <m:oMath xmlns:m="http://schemas.openxmlformats.org/officeDocument/2006/math">
                    <m:r>
                      <a:rPr lang="en-US" altLang="ja-JP" i="1" dirty="0" smtClean="0">
                        <a:latin typeface="Cambria Math" panose="02040503050406030204" pitchFamily="18" charset="0"/>
                      </a:rPr>
                      <m:t>𝑃𝑏</m:t>
                    </m:r>
                    <m:r>
                      <a:rPr lang="en-US" altLang="ja-JP" i="1" dirty="0" smtClean="0">
                        <a:latin typeface="Cambria Math" panose="02040503050406030204" pitchFamily="18" charset="0"/>
                      </a:rPr>
                      <m:t>=0.25</m:t>
                    </m:r>
                  </m:oMath>
                </a14:m>
                <a:r>
                  <a:rPr lang="ja-JP" altLang="en-US" dirty="0"/>
                  <a:t>，</a:t>
                </a:r>
                <a14:m>
                  <m:oMath xmlns:m="http://schemas.openxmlformats.org/officeDocument/2006/math">
                    <m:r>
                      <a:rPr lang="en-US" altLang="ja-JP" i="1" dirty="0" smtClean="0">
                        <a:latin typeface="Cambria Math" panose="02040503050406030204" pitchFamily="18" charset="0"/>
                      </a:rPr>
                      <m:t>𝑃𝑚</m:t>
                    </m:r>
                    <m:r>
                      <a:rPr lang="en-US" altLang="ja-JP" i="1" dirty="0" smtClean="0">
                        <a:latin typeface="Cambria Math" panose="02040503050406030204" pitchFamily="18" charset="0"/>
                      </a:rPr>
                      <m:t>=0.2</m:t>
                    </m:r>
                  </m:oMath>
                </a14:m>
                <a:r>
                  <a:rPr lang="ja-JP" altLang="en-US" dirty="0"/>
                  <a:t>，</a:t>
                </a:r>
                <a:r>
                  <a:rPr lang="en-US" altLang="ja-JP" dirty="0">
                    <a:solidFill>
                      <a:schemeClr val="tx1">
                        <a:lumMod val="75000"/>
                        <a:lumOff val="25000"/>
                      </a:schemeClr>
                    </a:solidFill>
                  </a:rPr>
                  <a:t> </a:t>
                </a:r>
                <a14:m>
                  <m:oMath xmlns:m="http://schemas.openxmlformats.org/officeDocument/2006/math">
                    <m:r>
                      <a:rPr lang="en-US" altLang="ja-JP" i="1" dirty="0">
                        <a:solidFill>
                          <a:schemeClr val="tx1">
                            <a:lumMod val="75000"/>
                            <a:lumOff val="25000"/>
                          </a:schemeClr>
                        </a:solidFill>
                        <a:latin typeface="Cambria Math" panose="02040503050406030204" pitchFamily="18" charset="0"/>
                      </a:rPr>
                      <m:t>𝐶𝑝</m:t>
                    </m:r>
                    <m:r>
                      <a:rPr lang="en-US" altLang="ja-JP" i="1" dirty="0" smtClean="0">
                        <a:solidFill>
                          <a:schemeClr val="tx1">
                            <a:lumMod val="75000"/>
                            <a:lumOff val="25000"/>
                          </a:schemeClr>
                        </a:solidFill>
                        <a:latin typeface="Cambria Math" panose="02040503050406030204" pitchFamily="18" charset="0"/>
                      </a:rPr>
                      <m:t>=</m:t>
                    </m:r>
                    <m:r>
                      <a:rPr lang="en-US" altLang="ja-JP" b="0" i="1" dirty="0" smtClean="0">
                        <a:solidFill>
                          <a:schemeClr val="tx1">
                            <a:lumMod val="75000"/>
                            <a:lumOff val="25000"/>
                          </a:schemeClr>
                        </a:solidFill>
                        <a:latin typeface="Cambria Math" panose="02040503050406030204" pitchFamily="18" charset="0"/>
                      </a:rPr>
                      <m:t>4</m:t>
                    </m:r>
                  </m:oMath>
                </a14:m>
                <a:r>
                  <a:rPr lang="en-US" altLang="ja-JP" dirty="0"/>
                  <a:t> </a:t>
                </a:r>
                <a:r>
                  <a:rPr lang="ja-JP" altLang="en-US" dirty="0"/>
                  <a:t>は変わらない</a:t>
                </a:r>
                <a:endParaRPr lang="en-US" altLang="ja-JP" dirty="0"/>
              </a:p>
              <a:p>
                <a:pPr lvl="1"/>
                <a:r>
                  <a:rPr lang="ja-JP" altLang="en-US" i="0" dirty="0">
                    <a:solidFill>
                      <a:schemeClr val="accent5"/>
                    </a:solidFill>
                    <a:latin typeface="+mj-lt"/>
                  </a:rPr>
                  <a:t>パイプラインが２本に増えたので</a:t>
                </a:r>
                <a:r>
                  <a:rPr lang="en-US" altLang="ja-JP" b="0" i="0" dirty="0">
                    <a:solidFill>
                      <a:schemeClr val="accent5"/>
                    </a:solidFill>
                    <a:latin typeface="+mj-lt"/>
                  </a:rPr>
                  <a:t> </a:t>
                </a:r>
                <a14:m>
                  <m:oMath xmlns:m="http://schemas.openxmlformats.org/officeDocument/2006/math">
                    <m:r>
                      <a:rPr lang="en-US" altLang="ja-JP" i="1" dirty="0">
                        <a:solidFill>
                          <a:schemeClr val="accent5"/>
                        </a:solidFill>
                        <a:latin typeface="Cambria Math" panose="02040503050406030204" pitchFamily="18" charset="0"/>
                      </a:rPr>
                      <m:t>𝐼𝑃𝐶𝑡</m:t>
                    </m:r>
                    <m:r>
                      <a:rPr lang="en-US" altLang="ja-JP" dirty="0">
                        <a:solidFill>
                          <a:schemeClr val="accent5"/>
                        </a:solidFill>
                        <a:latin typeface="Cambria Math" panose="02040503050406030204" pitchFamily="18" charset="0"/>
                      </a:rPr>
                      <m:t>=</m:t>
                    </m:r>
                    <m:r>
                      <a:rPr lang="en-US" altLang="ja-JP" b="0" i="0" dirty="0" smtClean="0">
                        <a:solidFill>
                          <a:schemeClr val="accent5"/>
                        </a:solidFill>
                        <a:latin typeface="Cambria Math" panose="02040503050406030204" pitchFamily="18" charset="0"/>
                      </a:rPr>
                      <m:t>2 </m:t>
                    </m:r>
                  </m:oMath>
                </a14:m>
                <a:r>
                  <a:rPr lang="ja-JP" altLang="en-US" i="1" dirty="0">
                    <a:solidFill>
                      <a:schemeClr val="accent5"/>
                    </a:solidFill>
                    <a:latin typeface="Cambria Math" panose="02040503050406030204" pitchFamily="18" charset="0"/>
                  </a:rPr>
                  <a:t>に</a:t>
                </a:r>
                <a:endParaRPr lang="en-US" altLang="ja-JP" i="1" dirty="0">
                  <a:solidFill>
                    <a:schemeClr val="accent5"/>
                  </a:solidFill>
                  <a:latin typeface="Cambria Math" panose="02040503050406030204" pitchFamily="18" charset="0"/>
                </a:endParaRPr>
              </a:p>
              <a:p>
                <a:pPr lvl="1"/>
                <a:endParaRPr lang="en-US" altLang="ja-JP" i="1" dirty="0">
                  <a:latin typeface="Cambria Math" panose="02040503050406030204" pitchFamily="18" charset="0"/>
                </a:endParaRPr>
              </a:p>
              <a:p>
                <a:pPr lvl="1"/>
                <a14:m>
                  <m:oMath xmlns:m="http://schemas.openxmlformats.org/officeDocument/2006/math">
                    <m:r>
                      <a:rPr lang="en-US" altLang="ja-JP" i="1" dirty="0">
                        <a:latin typeface="Cambria Math" panose="02040503050406030204" pitchFamily="18" charset="0"/>
                      </a:rPr>
                      <m:t>𝐼𝑃𝐶𝑟</m:t>
                    </m:r>
                    <m:r>
                      <a:rPr lang="en-US" altLang="ja-JP" i="1" dirty="0">
                        <a:latin typeface="Cambria Math" panose="02040503050406030204" pitchFamily="18" charset="0"/>
                      </a:rPr>
                      <m:t>=</m:t>
                    </m:r>
                    <m:f>
                      <m:fPr>
                        <m:ctrlPr>
                          <a:rPr lang="en-US" altLang="ja-JP" i="1" dirty="0">
                            <a:latin typeface="Cambria Math" panose="02040503050406030204" pitchFamily="18" charset="0"/>
                          </a:rPr>
                        </m:ctrlPr>
                      </m:fPr>
                      <m:num>
                        <m:r>
                          <a:rPr lang="en-US" altLang="ja-JP" i="1" dirty="0">
                            <a:latin typeface="Cambria Math" panose="02040503050406030204" pitchFamily="18" charset="0"/>
                          </a:rPr>
                          <m:t>1</m:t>
                        </m:r>
                      </m:num>
                      <m:den>
                        <m:r>
                          <a:rPr lang="en-US" altLang="ja-JP" b="0" i="1" dirty="0" smtClean="0">
                            <a:latin typeface="Cambria Math" panose="02040503050406030204" pitchFamily="18" charset="0"/>
                          </a:rPr>
                          <m:t>1/</m:t>
                        </m:r>
                        <m:r>
                          <a:rPr lang="en-US" altLang="ja-JP" b="1" i="1" dirty="0" smtClean="0">
                            <a:solidFill>
                              <a:schemeClr val="accent5"/>
                            </a:solidFill>
                            <a:latin typeface="Cambria Math" panose="02040503050406030204" pitchFamily="18" charset="0"/>
                          </a:rPr>
                          <m:t>𝟐</m:t>
                        </m:r>
                        <m:r>
                          <a:rPr lang="en-US" altLang="ja-JP" i="1" dirty="0">
                            <a:latin typeface="Cambria Math" panose="02040503050406030204" pitchFamily="18" charset="0"/>
                          </a:rPr>
                          <m:t>+0.25×0.2×</m:t>
                        </m:r>
                        <m:r>
                          <a:rPr lang="en-US" altLang="ja-JP" b="0" i="1" dirty="0" smtClean="0">
                            <a:latin typeface="Cambria Math" panose="02040503050406030204" pitchFamily="18" charset="0"/>
                          </a:rPr>
                          <m:t>4</m:t>
                        </m:r>
                      </m:den>
                    </m:f>
                    <m:r>
                      <a:rPr lang="ja-JP" altLang="en-US" i="1" dirty="0">
                        <a:latin typeface="Cambria Math" panose="02040503050406030204" pitchFamily="18" charset="0"/>
                      </a:rPr>
                      <m:t>≃</m:t>
                    </m:r>
                    <m:r>
                      <a:rPr lang="en-US" altLang="ja-JP" b="0" i="1" dirty="0" smtClean="0">
                        <a:latin typeface="Cambria Math" panose="02040503050406030204" pitchFamily="18" charset="0"/>
                      </a:rPr>
                      <m:t>1</m:t>
                    </m:r>
                    <m:r>
                      <a:rPr lang="en-US" altLang="ja-JP" i="1" dirty="0">
                        <a:latin typeface="Cambria Math" panose="02040503050406030204" pitchFamily="18" charset="0"/>
                      </a:rPr>
                      <m:t>.</m:t>
                    </m:r>
                    <m:r>
                      <a:rPr lang="en-US" altLang="ja-JP" b="0" i="1" dirty="0" smtClean="0">
                        <a:latin typeface="Cambria Math" panose="02040503050406030204" pitchFamily="18" charset="0"/>
                      </a:rPr>
                      <m:t>42</m:t>
                    </m:r>
                  </m:oMath>
                </a14:m>
                <a:endParaRPr lang="en-US" altLang="ja-JP" dirty="0"/>
              </a:p>
              <a:p>
                <a:pPr lvl="1"/>
                <a:r>
                  <a:rPr lang="ja-JP" altLang="en-US" dirty="0"/>
                  <a:t>分岐予測ミスが無かった場合の理想 </a:t>
                </a:r>
                <a:r>
                  <a:rPr lang="en-US" altLang="ja-JP" dirty="0"/>
                  <a:t>IPC </a:t>
                </a:r>
                <a:r>
                  <a:rPr lang="ja-JP" altLang="en-US" dirty="0"/>
                  <a:t>に比べると大幅に低い</a:t>
                </a:r>
                <a:br>
                  <a:rPr lang="en-US" altLang="ja-JP" dirty="0"/>
                </a:br>
                <a:endParaRPr lang="en-US" altLang="ja-JP" i="1" dirty="0">
                  <a:latin typeface="Cambria Math" panose="02040503050406030204" pitchFamily="18" charset="0"/>
                </a:endParaRPr>
              </a:p>
            </p:txBody>
          </p:sp>
        </mc:Choice>
        <mc:Fallback xmlns="">
          <p:sp>
            <p:nvSpPr>
              <p:cNvPr id="3" name="コンテンツ プレースホルダー 2">
                <a:extLst>
                  <a:ext uri="{FF2B5EF4-FFF2-40B4-BE49-F238E27FC236}">
                    <a16:creationId xmlns:a16="http://schemas.microsoft.com/office/drawing/2014/main" id="{24C80AA3-F81D-AB4A-CDFC-745326F1053F}"/>
                  </a:ext>
                </a:extLst>
              </p:cNvPr>
              <p:cNvSpPr>
                <a:spLocks noGrp="1" noRot="1" noChangeAspect="1" noMove="1" noResize="1" noEditPoints="1" noAdjustHandles="1" noChangeArrowheads="1" noChangeShapeType="1" noTextEdit="1"/>
              </p:cNvSpPr>
              <p:nvPr>
                <p:ph sz="quarter" idx="10"/>
              </p:nvPr>
            </p:nvSpPr>
            <p:spPr>
              <a:xfrm>
                <a:off x="431954" y="1088974"/>
                <a:ext cx="8100090" cy="5220058"/>
              </a:xfrm>
              <a:blipFill>
                <a:blip r:embed="rId2"/>
                <a:stretch>
                  <a:fillRect l="-677"/>
                </a:stretch>
              </a:blipFill>
            </p:spPr>
            <p:txBody>
              <a:bodyPr/>
              <a:lstStyle/>
              <a:p>
                <a:r>
                  <a:rPr lang="en-US">
                    <a:noFill/>
                  </a:rPr>
                  <a:t> </a:t>
                </a:r>
              </a:p>
            </p:txBody>
          </p:sp>
        </mc:Fallback>
      </mc:AlternateContent>
    </p:spTree>
    <p:extLst>
      <p:ext uri="{BB962C8B-B14F-4D97-AF65-F5344CB8AC3E}">
        <p14:creationId xmlns:p14="http://schemas.microsoft.com/office/powerpoint/2010/main" val="309301402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43DF8F5-B166-84F8-727E-88F2D154DDC3}"/>
              </a:ext>
            </a:extLst>
          </p:cNvPr>
          <p:cNvSpPr>
            <a:spLocks noGrp="1"/>
          </p:cNvSpPr>
          <p:nvPr>
            <p:ph type="title"/>
          </p:nvPr>
        </p:nvSpPr>
        <p:spPr/>
        <p:txBody>
          <a:bodyPr/>
          <a:lstStyle/>
          <a:p>
            <a:r>
              <a:rPr kumimoji="1" lang="ja-JP" altLang="en-US" sz="2400" dirty="0"/>
              <a:t>スーパスカラにすると，その分取り消される命令が増える</a:t>
            </a:r>
            <a:endParaRPr kumimoji="1" lang="en-US" sz="2400" dirty="0"/>
          </a:p>
        </p:txBody>
      </p:sp>
      <p:sp>
        <p:nvSpPr>
          <p:cNvPr id="6" name="平行四辺形 5">
            <a:extLst>
              <a:ext uri="{FF2B5EF4-FFF2-40B4-BE49-F238E27FC236}">
                <a16:creationId xmlns:a16="http://schemas.microsoft.com/office/drawing/2014/main" id="{924A0410-E82C-0C3E-5D17-009BF319D2DA}"/>
              </a:ext>
            </a:extLst>
          </p:cNvPr>
          <p:cNvSpPr/>
          <p:nvPr/>
        </p:nvSpPr>
        <p:spPr bwMode="auto">
          <a:xfrm>
            <a:off x="161951" y="2168986"/>
            <a:ext cx="15624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sp>
        <p:nvSpPr>
          <p:cNvPr id="9" name="平行四辺形 8">
            <a:extLst>
              <a:ext uri="{FF2B5EF4-FFF2-40B4-BE49-F238E27FC236}">
                <a16:creationId xmlns:a16="http://schemas.microsoft.com/office/drawing/2014/main" id="{F3F9C887-A1F6-5400-D621-B89E230B60DC}"/>
              </a:ext>
            </a:extLst>
          </p:cNvPr>
          <p:cNvSpPr/>
          <p:nvPr/>
        </p:nvSpPr>
        <p:spPr bwMode="auto">
          <a:xfrm>
            <a:off x="1602111" y="2168986"/>
            <a:ext cx="15624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sp>
        <p:nvSpPr>
          <p:cNvPr id="12" name="平行四辺形 11">
            <a:extLst>
              <a:ext uri="{FF2B5EF4-FFF2-40B4-BE49-F238E27FC236}">
                <a16:creationId xmlns:a16="http://schemas.microsoft.com/office/drawing/2014/main" id="{749A4345-BE4C-48B8-1C25-D053078D38F1}"/>
              </a:ext>
            </a:extLst>
          </p:cNvPr>
          <p:cNvSpPr/>
          <p:nvPr/>
        </p:nvSpPr>
        <p:spPr bwMode="auto">
          <a:xfrm>
            <a:off x="3042271" y="2168986"/>
            <a:ext cx="15624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sp>
        <p:nvSpPr>
          <p:cNvPr id="16" name="正方形/長方形 15">
            <a:extLst>
              <a:ext uri="{FF2B5EF4-FFF2-40B4-BE49-F238E27FC236}">
                <a16:creationId xmlns:a16="http://schemas.microsoft.com/office/drawing/2014/main" id="{6ED1F96C-52BF-AD99-74CE-13E0B4D5E90A}"/>
              </a:ext>
            </a:extLst>
          </p:cNvPr>
          <p:cNvSpPr/>
          <p:nvPr/>
        </p:nvSpPr>
        <p:spPr>
          <a:xfrm>
            <a:off x="611956" y="1268976"/>
            <a:ext cx="900010"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05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予測器</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a:t>
            </a:r>
          </a:p>
        </p:txBody>
      </p:sp>
      <p:sp>
        <p:nvSpPr>
          <p:cNvPr id="19" name="正方形/長方形 18">
            <a:extLst>
              <a:ext uri="{FF2B5EF4-FFF2-40B4-BE49-F238E27FC236}">
                <a16:creationId xmlns:a16="http://schemas.microsoft.com/office/drawing/2014/main" id="{08644A07-6BA2-3F97-1CBE-EC276B367423}"/>
              </a:ext>
            </a:extLst>
          </p:cNvPr>
          <p:cNvSpPr/>
          <p:nvPr/>
        </p:nvSpPr>
        <p:spPr>
          <a:xfrm>
            <a:off x="6372020" y="1268976"/>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dirty="0"/>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4" name="角丸四角形 23">
            <a:extLst>
              <a:ext uri="{FF2B5EF4-FFF2-40B4-BE49-F238E27FC236}">
                <a16:creationId xmlns:a16="http://schemas.microsoft.com/office/drawing/2014/main" id="{16DF9B34-629E-FC8F-A73C-B3E291C266B6}"/>
              </a:ext>
            </a:extLst>
          </p:cNvPr>
          <p:cNvSpPr/>
          <p:nvPr/>
        </p:nvSpPr>
        <p:spPr bwMode="auto">
          <a:xfrm>
            <a:off x="3581989" y="1988984"/>
            <a:ext cx="450006"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r>
              <a:rPr lang="en-US" altLang="ja-JP" dirty="0">
                <a:latin typeface="Arial Narrow" panose="020B0606020202030204" pitchFamily="34" charset="0"/>
              </a:rPr>
              <a:t>...</a:t>
            </a:r>
            <a:endParaRPr lang="ja-JP" altLang="en-US" dirty="0">
              <a:latin typeface="Arial Narrow" panose="020B0606020202030204" pitchFamily="34" charset="0"/>
            </a:endParaRPr>
          </a:p>
        </p:txBody>
      </p:sp>
      <p:sp>
        <p:nvSpPr>
          <p:cNvPr id="26" name="角丸四角形吹き出し 26">
            <a:extLst>
              <a:ext uri="{FF2B5EF4-FFF2-40B4-BE49-F238E27FC236}">
                <a16:creationId xmlns:a16="http://schemas.microsoft.com/office/drawing/2014/main" id="{E5C149EB-9555-8015-692A-837036F80A4F}"/>
              </a:ext>
            </a:extLst>
          </p:cNvPr>
          <p:cNvSpPr/>
          <p:nvPr/>
        </p:nvSpPr>
        <p:spPr bwMode="auto">
          <a:xfrm>
            <a:off x="6983976" y="728970"/>
            <a:ext cx="1980022" cy="612648"/>
          </a:xfrm>
          <a:prstGeom prst="wedgeRoundRectCallout">
            <a:avLst>
              <a:gd name="adj1" fmla="val -42160"/>
              <a:gd name="adj2" fmla="val 92539"/>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dirty="0">
                <a:solidFill>
                  <a:schemeClr val="tx1">
                    <a:lumMod val="65000"/>
                    <a:lumOff val="35000"/>
                  </a:schemeClr>
                </a:solidFill>
                <a:latin typeface="Arial Narrow" panose="020B0606020202030204" pitchFamily="34" charset="0"/>
              </a:rPr>
              <a:t>間違っとるが</a:t>
            </a:r>
            <a:r>
              <a:rPr kumimoji="1" lang="ja-JP" altLang="en-US" dirty="0" err="1">
                <a:solidFill>
                  <a:schemeClr val="tx1">
                    <a:lumMod val="65000"/>
                    <a:lumOff val="35000"/>
                  </a:schemeClr>
                </a:solidFill>
                <a:latin typeface="Arial Narrow" panose="020B0606020202030204" pitchFamily="34" charset="0"/>
              </a:rPr>
              <a:t>な</a:t>
            </a:r>
            <a:endParaRPr kumimoji="1" lang="ja-JP" altLang="en-US" dirty="0">
              <a:solidFill>
                <a:schemeClr val="tx1">
                  <a:lumMod val="65000"/>
                  <a:lumOff val="35000"/>
                </a:schemeClr>
              </a:solidFill>
              <a:latin typeface="Arial Narrow" panose="020B0606020202030204" pitchFamily="34" charset="0"/>
            </a:endParaRPr>
          </a:p>
        </p:txBody>
      </p:sp>
      <p:sp>
        <p:nvSpPr>
          <p:cNvPr id="27" name="角丸四角形 27">
            <a:extLst>
              <a:ext uri="{FF2B5EF4-FFF2-40B4-BE49-F238E27FC236}">
                <a16:creationId xmlns:a16="http://schemas.microsoft.com/office/drawing/2014/main" id="{ABF75782-6CD1-727C-25AF-F709C7728C91}"/>
              </a:ext>
            </a:extLst>
          </p:cNvPr>
          <p:cNvSpPr/>
          <p:nvPr/>
        </p:nvSpPr>
        <p:spPr bwMode="auto">
          <a:xfrm>
            <a:off x="2231974" y="1988984"/>
            <a:ext cx="450005"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r>
              <a:rPr kumimoji="1" lang="en-US" altLang="ja-JP" dirty="0">
                <a:latin typeface="Arial Narrow" panose="020B0606020202030204" pitchFamily="34" charset="0"/>
              </a:rPr>
              <a:t>…</a:t>
            </a:r>
            <a:endParaRPr kumimoji="1" lang="ja-JP" altLang="en-US" dirty="0">
              <a:latin typeface="Arial Narrow" panose="020B0606020202030204" pitchFamily="34" charset="0"/>
            </a:endParaRPr>
          </a:p>
        </p:txBody>
      </p:sp>
      <p:sp>
        <p:nvSpPr>
          <p:cNvPr id="28" name="角丸四角形 28">
            <a:extLst>
              <a:ext uri="{FF2B5EF4-FFF2-40B4-BE49-F238E27FC236}">
                <a16:creationId xmlns:a16="http://schemas.microsoft.com/office/drawing/2014/main" id="{25891D38-133B-1A48-C38D-F0D14D69CD32}"/>
              </a:ext>
            </a:extLst>
          </p:cNvPr>
          <p:cNvSpPr/>
          <p:nvPr/>
        </p:nvSpPr>
        <p:spPr bwMode="auto">
          <a:xfrm>
            <a:off x="791957" y="1988984"/>
            <a:ext cx="450005"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r>
              <a:rPr kumimoji="1" lang="en-US" altLang="ja-JP" dirty="0">
                <a:latin typeface="Arial Narrow" panose="020B0606020202030204" pitchFamily="34" charset="0"/>
              </a:rPr>
              <a:t>…</a:t>
            </a:r>
            <a:endParaRPr kumimoji="1" lang="ja-JP" altLang="en-US" dirty="0">
              <a:latin typeface="Arial Narrow" panose="020B0606020202030204" pitchFamily="34" charset="0"/>
            </a:endParaRPr>
          </a:p>
        </p:txBody>
      </p:sp>
      <p:sp>
        <p:nvSpPr>
          <p:cNvPr id="31" name="平行四辺形 30">
            <a:extLst>
              <a:ext uri="{FF2B5EF4-FFF2-40B4-BE49-F238E27FC236}">
                <a16:creationId xmlns:a16="http://schemas.microsoft.com/office/drawing/2014/main" id="{A0D2B890-3FBD-6740-6EA3-487C95E1B8E8}"/>
              </a:ext>
            </a:extLst>
          </p:cNvPr>
          <p:cNvSpPr/>
          <p:nvPr/>
        </p:nvSpPr>
        <p:spPr bwMode="auto">
          <a:xfrm>
            <a:off x="4481999" y="2168986"/>
            <a:ext cx="1562400" cy="504056"/>
          </a:xfrm>
          <a:prstGeom prst="parallelogram">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sp>
        <p:nvSpPr>
          <p:cNvPr id="15" name="平行四辺形 14">
            <a:extLst>
              <a:ext uri="{FF2B5EF4-FFF2-40B4-BE49-F238E27FC236}">
                <a16:creationId xmlns:a16="http://schemas.microsoft.com/office/drawing/2014/main" id="{B77396CE-B31F-1D85-9D61-3710D94E5E05}"/>
              </a:ext>
            </a:extLst>
          </p:cNvPr>
          <p:cNvSpPr/>
          <p:nvPr/>
        </p:nvSpPr>
        <p:spPr bwMode="auto">
          <a:xfrm>
            <a:off x="5922015" y="2168986"/>
            <a:ext cx="1584176"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sp>
        <p:nvSpPr>
          <p:cNvPr id="32" name="角丸四角形 23">
            <a:extLst>
              <a:ext uri="{FF2B5EF4-FFF2-40B4-BE49-F238E27FC236}">
                <a16:creationId xmlns:a16="http://schemas.microsoft.com/office/drawing/2014/main" id="{B993F76D-9173-9CC4-065B-44844839F8B0}"/>
              </a:ext>
            </a:extLst>
          </p:cNvPr>
          <p:cNvSpPr/>
          <p:nvPr/>
        </p:nvSpPr>
        <p:spPr bwMode="auto">
          <a:xfrm>
            <a:off x="5022005" y="1988984"/>
            <a:ext cx="450006"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r>
              <a:rPr lang="en-US" altLang="ja-JP" dirty="0">
                <a:latin typeface="Arial Narrow" panose="020B0606020202030204" pitchFamily="34" charset="0"/>
              </a:rPr>
              <a:t>...</a:t>
            </a:r>
            <a:endParaRPr lang="ja-JP" altLang="en-US" dirty="0">
              <a:latin typeface="Arial Narrow" panose="020B0606020202030204" pitchFamily="34" charset="0"/>
            </a:endParaRPr>
          </a:p>
        </p:txBody>
      </p:sp>
      <p:sp>
        <p:nvSpPr>
          <p:cNvPr id="58" name="角丸四角形 89">
            <a:extLst>
              <a:ext uri="{FF2B5EF4-FFF2-40B4-BE49-F238E27FC236}">
                <a16:creationId xmlns:a16="http://schemas.microsoft.com/office/drawing/2014/main" id="{77252879-6EA2-5436-7599-BF908A68CC37}"/>
              </a:ext>
            </a:extLst>
          </p:cNvPr>
          <p:cNvSpPr/>
          <p:nvPr/>
        </p:nvSpPr>
        <p:spPr bwMode="auto">
          <a:xfrm>
            <a:off x="6552022" y="1988984"/>
            <a:ext cx="450005"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kumimoji="1" lang="en-US" altLang="ja-JP" sz="1200" dirty="0">
                <a:latin typeface="Arial Narrow" panose="020B0606020202030204" pitchFamily="34" charset="0"/>
              </a:rPr>
              <a:t>if a &gt; 0</a:t>
            </a:r>
            <a:endParaRPr kumimoji="1" lang="ja-JP" altLang="en-US" sz="1200" dirty="0">
              <a:latin typeface="Arial Narrow" panose="020B0606020202030204" pitchFamily="34" charset="0"/>
            </a:endParaRPr>
          </a:p>
        </p:txBody>
      </p:sp>
      <p:sp>
        <p:nvSpPr>
          <p:cNvPr id="4" name="角丸四角形吹き出し 3">
            <a:extLst>
              <a:ext uri="{FF2B5EF4-FFF2-40B4-BE49-F238E27FC236}">
                <a16:creationId xmlns:a16="http://schemas.microsoft.com/office/drawing/2014/main" id="{86B6A3CD-F71B-B70E-B067-DEBC61AA4A3B}"/>
              </a:ext>
            </a:extLst>
          </p:cNvPr>
          <p:cNvSpPr/>
          <p:nvPr/>
        </p:nvSpPr>
        <p:spPr bwMode="auto">
          <a:xfrm>
            <a:off x="1151962" y="728970"/>
            <a:ext cx="2520028" cy="612648"/>
          </a:xfrm>
          <a:prstGeom prst="wedgeRoundRectCallout">
            <a:avLst>
              <a:gd name="adj1" fmla="val -44943"/>
              <a:gd name="adj2" fmla="val 95784"/>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en-US" altLang="ja-JP" dirty="0">
                <a:solidFill>
                  <a:schemeClr val="tx1">
                    <a:lumMod val="65000"/>
                    <a:lumOff val="35000"/>
                  </a:schemeClr>
                </a:solidFill>
                <a:latin typeface="Arial Narrow" panose="020B0606020202030204" pitchFamily="34" charset="0"/>
              </a:rPr>
              <a:t>else </a:t>
            </a:r>
            <a:r>
              <a:rPr kumimoji="1" lang="ja-JP" altLang="en-US" dirty="0">
                <a:solidFill>
                  <a:schemeClr val="tx1">
                    <a:lumMod val="65000"/>
                    <a:lumOff val="35000"/>
                  </a:schemeClr>
                </a:solidFill>
                <a:latin typeface="Arial Narrow" panose="020B0606020202030204" pitchFamily="34" charset="0"/>
              </a:rPr>
              <a:t>じゃなかったかー</a:t>
            </a:r>
            <a:endParaRPr kumimoji="1" lang="en-US" altLang="ja-JP" dirty="0">
              <a:solidFill>
                <a:schemeClr val="tx1">
                  <a:lumMod val="65000"/>
                  <a:lumOff val="35000"/>
                </a:schemeClr>
              </a:solidFill>
              <a:latin typeface="Arial Narrow" panose="020B0606020202030204" pitchFamily="34" charset="0"/>
            </a:endParaRPr>
          </a:p>
        </p:txBody>
      </p:sp>
      <p:cxnSp>
        <p:nvCxnSpPr>
          <p:cNvPr id="7" name="直線矢印コネクタ 6">
            <a:extLst>
              <a:ext uri="{FF2B5EF4-FFF2-40B4-BE49-F238E27FC236}">
                <a16:creationId xmlns:a16="http://schemas.microsoft.com/office/drawing/2014/main" id="{62AAC06C-177E-A477-2989-AA7ACCDE4C60}"/>
              </a:ext>
            </a:extLst>
          </p:cNvPr>
          <p:cNvCxnSpPr>
            <a:cxnSpLocks/>
          </p:cNvCxnSpPr>
          <p:nvPr/>
        </p:nvCxnSpPr>
        <p:spPr bwMode="auto">
          <a:xfrm>
            <a:off x="161951" y="3068996"/>
            <a:ext cx="5670063" cy="0"/>
          </a:xfrm>
          <a:prstGeom prst="straightConnector1">
            <a:avLst/>
          </a:prstGeom>
          <a:noFill/>
          <a:ln w="9525" cap="flat" cmpd="sng" algn="ctr">
            <a:solidFill>
              <a:schemeClr val="tx1">
                <a:lumMod val="75000"/>
                <a:lumOff val="25000"/>
              </a:schemeClr>
            </a:solidFill>
            <a:prstDash val="solid"/>
            <a:round/>
            <a:headEnd type="triangle" w="med" len="med"/>
            <a:tailEnd type="triangle"/>
          </a:ln>
          <a:effectLst/>
        </p:spPr>
      </p:cxnSp>
      <p:sp>
        <p:nvSpPr>
          <p:cNvPr id="8" name="正方形/長方形 7">
            <a:extLst>
              <a:ext uri="{FF2B5EF4-FFF2-40B4-BE49-F238E27FC236}">
                <a16:creationId xmlns:a16="http://schemas.microsoft.com/office/drawing/2014/main" id="{E1B198A9-F9BA-3FD1-6E65-73F9BD3485BB}"/>
              </a:ext>
            </a:extLst>
          </p:cNvPr>
          <p:cNvSpPr/>
          <p:nvPr/>
        </p:nvSpPr>
        <p:spPr>
          <a:xfrm>
            <a:off x="2771980" y="2708992"/>
            <a:ext cx="540005" cy="270003"/>
          </a:xfrm>
          <a:prstGeom prst="rect">
            <a:avLst/>
          </a:prstGeom>
        </p:spPr>
        <p:txBody>
          <a:bodyPr wrap="none">
            <a:noAutofit/>
          </a:bodyPr>
          <a:lstStyle/>
          <a:p>
            <a:pPr algn="ctr"/>
            <a:r>
              <a:rPr lang="ja-JP" altLang="en-US" dirty="0">
                <a:solidFill>
                  <a:schemeClr val="tx1">
                    <a:lumMod val="65000"/>
                    <a:lumOff val="35000"/>
                  </a:schemeClr>
                </a:solidFill>
              </a:rPr>
              <a:t>取り消される命令</a:t>
            </a:r>
            <a:r>
              <a:rPr lang="en-US" altLang="ja-JP" dirty="0">
                <a:solidFill>
                  <a:schemeClr val="tx1">
                    <a:lumMod val="65000"/>
                    <a:lumOff val="35000"/>
                  </a:schemeClr>
                </a:solidFill>
              </a:rPr>
              <a:t>=4</a:t>
            </a:r>
            <a:r>
              <a:rPr lang="ja-JP" altLang="en-US" dirty="0">
                <a:solidFill>
                  <a:schemeClr val="tx1">
                    <a:lumMod val="65000"/>
                    <a:lumOff val="35000"/>
                  </a:schemeClr>
                </a:solidFill>
              </a:rPr>
              <a:t>命令</a:t>
            </a:r>
          </a:p>
        </p:txBody>
      </p:sp>
      <p:sp>
        <p:nvSpPr>
          <p:cNvPr id="10" name="平行四辺形 9">
            <a:extLst>
              <a:ext uri="{FF2B5EF4-FFF2-40B4-BE49-F238E27FC236}">
                <a16:creationId xmlns:a16="http://schemas.microsoft.com/office/drawing/2014/main" id="{10046E87-FA9F-0AFD-E9BD-B6EDCE4B9B92}"/>
              </a:ext>
            </a:extLst>
          </p:cNvPr>
          <p:cNvSpPr/>
          <p:nvPr/>
        </p:nvSpPr>
        <p:spPr bwMode="auto">
          <a:xfrm>
            <a:off x="161951" y="5139019"/>
            <a:ext cx="15624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sp>
        <p:nvSpPr>
          <p:cNvPr id="17" name="平行四辺形 16">
            <a:extLst>
              <a:ext uri="{FF2B5EF4-FFF2-40B4-BE49-F238E27FC236}">
                <a16:creationId xmlns:a16="http://schemas.microsoft.com/office/drawing/2014/main" id="{5C62921A-B12A-5B95-1FFE-2FB356637FC2}"/>
              </a:ext>
            </a:extLst>
          </p:cNvPr>
          <p:cNvSpPr/>
          <p:nvPr/>
        </p:nvSpPr>
        <p:spPr bwMode="auto">
          <a:xfrm>
            <a:off x="1602111" y="5139019"/>
            <a:ext cx="15624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sp>
        <p:nvSpPr>
          <p:cNvPr id="18" name="平行四辺形 17">
            <a:extLst>
              <a:ext uri="{FF2B5EF4-FFF2-40B4-BE49-F238E27FC236}">
                <a16:creationId xmlns:a16="http://schemas.microsoft.com/office/drawing/2014/main" id="{6386B61F-A883-A332-D2D5-3395DDAF4150}"/>
              </a:ext>
            </a:extLst>
          </p:cNvPr>
          <p:cNvSpPr/>
          <p:nvPr/>
        </p:nvSpPr>
        <p:spPr bwMode="auto">
          <a:xfrm>
            <a:off x="3042271" y="5139019"/>
            <a:ext cx="15624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sp>
        <p:nvSpPr>
          <p:cNvPr id="20" name="角丸四角形 23">
            <a:extLst>
              <a:ext uri="{FF2B5EF4-FFF2-40B4-BE49-F238E27FC236}">
                <a16:creationId xmlns:a16="http://schemas.microsoft.com/office/drawing/2014/main" id="{88DBD828-FE4F-BAC4-EC5B-DD9052EB71D0}"/>
              </a:ext>
            </a:extLst>
          </p:cNvPr>
          <p:cNvSpPr/>
          <p:nvPr/>
        </p:nvSpPr>
        <p:spPr bwMode="auto">
          <a:xfrm>
            <a:off x="3581989" y="4959017"/>
            <a:ext cx="450006"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r>
              <a:rPr lang="en-US" altLang="ja-JP" dirty="0">
                <a:latin typeface="Arial Narrow" panose="020B0606020202030204" pitchFamily="34" charset="0"/>
              </a:rPr>
              <a:t>...</a:t>
            </a:r>
            <a:endParaRPr lang="ja-JP" altLang="en-US" dirty="0">
              <a:latin typeface="Arial Narrow" panose="020B0606020202030204" pitchFamily="34" charset="0"/>
            </a:endParaRPr>
          </a:p>
        </p:txBody>
      </p:sp>
      <p:sp>
        <p:nvSpPr>
          <p:cNvPr id="21" name="角丸四角形 27">
            <a:extLst>
              <a:ext uri="{FF2B5EF4-FFF2-40B4-BE49-F238E27FC236}">
                <a16:creationId xmlns:a16="http://schemas.microsoft.com/office/drawing/2014/main" id="{CE0559D8-C157-AABB-60DC-2D3C9605B5C5}"/>
              </a:ext>
            </a:extLst>
          </p:cNvPr>
          <p:cNvSpPr/>
          <p:nvPr/>
        </p:nvSpPr>
        <p:spPr bwMode="auto">
          <a:xfrm>
            <a:off x="2231974" y="4959017"/>
            <a:ext cx="450005"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r>
              <a:rPr kumimoji="1" lang="en-US" altLang="ja-JP" dirty="0">
                <a:latin typeface="Arial Narrow" panose="020B0606020202030204" pitchFamily="34" charset="0"/>
              </a:rPr>
              <a:t>…</a:t>
            </a:r>
            <a:endParaRPr kumimoji="1" lang="ja-JP" altLang="en-US" dirty="0">
              <a:latin typeface="Arial Narrow" panose="020B0606020202030204" pitchFamily="34" charset="0"/>
            </a:endParaRPr>
          </a:p>
        </p:txBody>
      </p:sp>
      <p:sp>
        <p:nvSpPr>
          <p:cNvPr id="22" name="角丸四角形 28">
            <a:extLst>
              <a:ext uri="{FF2B5EF4-FFF2-40B4-BE49-F238E27FC236}">
                <a16:creationId xmlns:a16="http://schemas.microsoft.com/office/drawing/2014/main" id="{803EE3CF-8587-1363-2381-C2D4DCEE8BC5}"/>
              </a:ext>
            </a:extLst>
          </p:cNvPr>
          <p:cNvSpPr/>
          <p:nvPr/>
        </p:nvSpPr>
        <p:spPr bwMode="auto">
          <a:xfrm>
            <a:off x="791957" y="4959017"/>
            <a:ext cx="450005"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r>
              <a:rPr kumimoji="1" lang="en-US" altLang="ja-JP" dirty="0">
                <a:latin typeface="Arial Narrow" panose="020B0606020202030204" pitchFamily="34" charset="0"/>
              </a:rPr>
              <a:t>…</a:t>
            </a:r>
            <a:endParaRPr kumimoji="1" lang="ja-JP" altLang="en-US" dirty="0">
              <a:latin typeface="Arial Narrow" panose="020B0606020202030204" pitchFamily="34" charset="0"/>
            </a:endParaRPr>
          </a:p>
        </p:txBody>
      </p:sp>
      <p:sp>
        <p:nvSpPr>
          <p:cNvPr id="23" name="平行四辺形 22">
            <a:extLst>
              <a:ext uri="{FF2B5EF4-FFF2-40B4-BE49-F238E27FC236}">
                <a16:creationId xmlns:a16="http://schemas.microsoft.com/office/drawing/2014/main" id="{BB267817-FADA-80F2-3A09-FAC2115B29CA}"/>
              </a:ext>
            </a:extLst>
          </p:cNvPr>
          <p:cNvSpPr/>
          <p:nvPr/>
        </p:nvSpPr>
        <p:spPr bwMode="auto">
          <a:xfrm>
            <a:off x="4481999" y="5139019"/>
            <a:ext cx="1562400" cy="504056"/>
          </a:xfrm>
          <a:prstGeom prst="parallelogram">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sp>
        <p:nvSpPr>
          <p:cNvPr id="25" name="平行四辺形 24">
            <a:extLst>
              <a:ext uri="{FF2B5EF4-FFF2-40B4-BE49-F238E27FC236}">
                <a16:creationId xmlns:a16="http://schemas.microsoft.com/office/drawing/2014/main" id="{80EAD8D7-7ECD-02E0-E1E2-7AE85795723F}"/>
              </a:ext>
            </a:extLst>
          </p:cNvPr>
          <p:cNvSpPr/>
          <p:nvPr/>
        </p:nvSpPr>
        <p:spPr bwMode="auto">
          <a:xfrm>
            <a:off x="5922015" y="5139019"/>
            <a:ext cx="1584176"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sp>
        <p:nvSpPr>
          <p:cNvPr id="29" name="角丸四角形 23">
            <a:extLst>
              <a:ext uri="{FF2B5EF4-FFF2-40B4-BE49-F238E27FC236}">
                <a16:creationId xmlns:a16="http://schemas.microsoft.com/office/drawing/2014/main" id="{8BB2D0DF-48CA-D922-EE17-9CF40C08B8EA}"/>
              </a:ext>
            </a:extLst>
          </p:cNvPr>
          <p:cNvSpPr/>
          <p:nvPr/>
        </p:nvSpPr>
        <p:spPr bwMode="auto">
          <a:xfrm>
            <a:off x="5022005" y="4959017"/>
            <a:ext cx="450006"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r>
              <a:rPr lang="en-US" altLang="ja-JP" dirty="0">
                <a:latin typeface="Arial Narrow" panose="020B0606020202030204" pitchFamily="34" charset="0"/>
              </a:rPr>
              <a:t>...</a:t>
            </a:r>
            <a:endParaRPr lang="ja-JP" altLang="en-US" dirty="0">
              <a:latin typeface="Arial Narrow" panose="020B0606020202030204" pitchFamily="34" charset="0"/>
            </a:endParaRPr>
          </a:p>
        </p:txBody>
      </p:sp>
      <p:sp>
        <p:nvSpPr>
          <p:cNvPr id="30" name="角丸四角形 89">
            <a:extLst>
              <a:ext uri="{FF2B5EF4-FFF2-40B4-BE49-F238E27FC236}">
                <a16:creationId xmlns:a16="http://schemas.microsoft.com/office/drawing/2014/main" id="{1E5C4690-C307-585A-7CD4-2BF0E74BD3CC}"/>
              </a:ext>
            </a:extLst>
          </p:cNvPr>
          <p:cNvSpPr/>
          <p:nvPr/>
        </p:nvSpPr>
        <p:spPr bwMode="auto">
          <a:xfrm>
            <a:off x="6552022" y="4959017"/>
            <a:ext cx="450005"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kumimoji="1" lang="en-US" altLang="ja-JP" sz="1200" dirty="0">
                <a:latin typeface="Arial Narrow" panose="020B0606020202030204" pitchFamily="34" charset="0"/>
              </a:rPr>
              <a:t>if a &gt; 0</a:t>
            </a:r>
            <a:endParaRPr kumimoji="1" lang="ja-JP" altLang="en-US" sz="1200" dirty="0">
              <a:latin typeface="Arial Narrow" panose="020B0606020202030204" pitchFamily="34" charset="0"/>
            </a:endParaRPr>
          </a:p>
        </p:txBody>
      </p:sp>
      <p:cxnSp>
        <p:nvCxnSpPr>
          <p:cNvPr id="33" name="直線矢印コネクタ 32">
            <a:extLst>
              <a:ext uri="{FF2B5EF4-FFF2-40B4-BE49-F238E27FC236}">
                <a16:creationId xmlns:a16="http://schemas.microsoft.com/office/drawing/2014/main" id="{CDE36840-5FBA-89EF-3E14-1816A96A73D7}"/>
              </a:ext>
            </a:extLst>
          </p:cNvPr>
          <p:cNvCxnSpPr>
            <a:cxnSpLocks/>
          </p:cNvCxnSpPr>
          <p:nvPr/>
        </p:nvCxnSpPr>
        <p:spPr bwMode="auto">
          <a:xfrm>
            <a:off x="161951" y="6759037"/>
            <a:ext cx="7290081" cy="0"/>
          </a:xfrm>
          <a:prstGeom prst="straightConnector1">
            <a:avLst/>
          </a:prstGeom>
          <a:noFill/>
          <a:ln w="9525" cap="flat" cmpd="sng" algn="ctr">
            <a:solidFill>
              <a:schemeClr val="tx1">
                <a:lumMod val="75000"/>
                <a:lumOff val="25000"/>
              </a:schemeClr>
            </a:solidFill>
            <a:prstDash val="solid"/>
            <a:round/>
            <a:headEnd type="triangle" w="med" len="med"/>
            <a:tailEnd type="triangle"/>
          </a:ln>
          <a:effectLst/>
        </p:spPr>
      </p:cxnSp>
      <p:sp>
        <p:nvSpPr>
          <p:cNvPr id="46" name="正方形/長方形 45">
            <a:extLst>
              <a:ext uri="{FF2B5EF4-FFF2-40B4-BE49-F238E27FC236}">
                <a16:creationId xmlns:a16="http://schemas.microsoft.com/office/drawing/2014/main" id="{67D7EE48-735C-4B9D-BDD0-7FFBC4EE0575}"/>
              </a:ext>
            </a:extLst>
          </p:cNvPr>
          <p:cNvSpPr/>
          <p:nvPr/>
        </p:nvSpPr>
        <p:spPr>
          <a:xfrm>
            <a:off x="2771980" y="6399033"/>
            <a:ext cx="540005" cy="270003"/>
          </a:xfrm>
          <a:prstGeom prst="rect">
            <a:avLst/>
          </a:prstGeom>
        </p:spPr>
        <p:txBody>
          <a:bodyPr wrap="none">
            <a:noAutofit/>
          </a:bodyPr>
          <a:lstStyle/>
          <a:p>
            <a:pPr algn="ctr"/>
            <a:r>
              <a:rPr lang="ja-JP" altLang="en-US" dirty="0">
                <a:solidFill>
                  <a:schemeClr val="tx1">
                    <a:lumMod val="65000"/>
                    <a:lumOff val="35000"/>
                  </a:schemeClr>
                </a:solidFill>
              </a:rPr>
              <a:t>取り消される命令</a:t>
            </a:r>
            <a:r>
              <a:rPr lang="en-US" altLang="ja-JP" dirty="0">
                <a:solidFill>
                  <a:schemeClr val="tx1">
                    <a:lumMod val="65000"/>
                    <a:lumOff val="35000"/>
                  </a:schemeClr>
                </a:solidFill>
              </a:rPr>
              <a:t>=9</a:t>
            </a:r>
            <a:r>
              <a:rPr lang="ja-JP" altLang="en-US" dirty="0">
                <a:solidFill>
                  <a:schemeClr val="tx1">
                    <a:lumMod val="65000"/>
                    <a:lumOff val="35000"/>
                  </a:schemeClr>
                </a:solidFill>
              </a:rPr>
              <a:t>命令</a:t>
            </a:r>
          </a:p>
        </p:txBody>
      </p:sp>
      <p:sp>
        <p:nvSpPr>
          <p:cNvPr id="55" name="平行四辺形 54">
            <a:extLst>
              <a:ext uri="{FF2B5EF4-FFF2-40B4-BE49-F238E27FC236}">
                <a16:creationId xmlns:a16="http://schemas.microsoft.com/office/drawing/2014/main" id="{CCA24E10-3D9D-9D5B-6BE4-1F6574783BAC}"/>
              </a:ext>
            </a:extLst>
          </p:cNvPr>
          <p:cNvSpPr/>
          <p:nvPr/>
        </p:nvSpPr>
        <p:spPr bwMode="auto">
          <a:xfrm>
            <a:off x="161951" y="5859027"/>
            <a:ext cx="15624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sp>
        <p:nvSpPr>
          <p:cNvPr id="56" name="平行四辺形 55">
            <a:extLst>
              <a:ext uri="{FF2B5EF4-FFF2-40B4-BE49-F238E27FC236}">
                <a16:creationId xmlns:a16="http://schemas.microsoft.com/office/drawing/2014/main" id="{AEE24F25-362E-E60F-AE24-0FE06A6EE7F7}"/>
              </a:ext>
            </a:extLst>
          </p:cNvPr>
          <p:cNvSpPr/>
          <p:nvPr/>
        </p:nvSpPr>
        <p:spPr bwMode="auto">
          <a:xfrm>
            <a:off x="1602111" y="5859027"/>
            <a:ext cx="15624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sp>
        <p:nvSpPr>
          <p:cNvPr id="59" name="平行四辺形 58">
            <a:extLst>
              <a:ext uri="{FF2B5EF4-FFF2-40B4-BE49-F238E27FC236}">
                <a16:creationId xmlns:a16="http://schemas.microsoft.com/office/drawing/2014/main" id="{1D0EDE8A-B228-5F78-01C2-850038D2E25C}"/>
              </a:ext>
            </a:extLst>
          </p:cNvPr>
          <p:cNvSpPr/>
          <p:nvPr/>
        </p:nvSpPr>
        <p:spPr bwMode="auto">
          <a:xfrm>
            <a:off x="3042271" y="5859027"/>
            <a:ext cx="15624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sp>
        <p:nvSpPr>
          <p:cNvPr id="60" name="角丸四角形 23">
            <a:extLst>
              <a:ext uri="{FF2B5EF4-FFF2-40B4-BE49-F238E27FC236}">
                <a16:creationId xmlns:a16="http://schemas.microsoft.com/office/drawing/2014/main" id="{C34DB6F5-7E43-0507-9D22-2F4256B21F82}"/>
              </a:ext>
            </a:extLst>
          </p:cNvPr>
          <p:cNvSpPr/>
          <p:nvPr/>
        </p:nvSpPr>
        <p:spPr bwMode="auto">
          <a:xfrm>
            <a:off x="3581989" y="5679025"/>
            <a:ext cx="450006"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r>
              <a:rPr lang="en-US" altLang="ja-JP" dirty="0">
                <a:latin typeface="Arial Narrow" panose="020B0606020202030204" pitchFamily="34" charset="0"/>
              </a:rPr>
              <a:t>...</a:t>
            </a:r>
            <a:endParaRPr lang="ja-JP" altLang="en-US" dirty="0">
              <a:latin typeface="Arial Narrow" panose="020B0606020202030204" pitchFamily="34" charset="0"/>
            </a:endParaRPr>
          </a:p>
        </p:txBody>
      </p:sp>
      <p:sp>
        <p:nvSpPr>
          <p:cNvPr id="61" name="角丸四角形 27">
            <a:extLst>
              <a:ext uri="{FF2B5EF4-FFF2-40B4-BE49-F238E27FC236}">
                <a16:creationId xmlns:a16="http://schemas.microsoft.com/office/drawing/2014/main" id="{7A04B190-01F4-697A-9DD9-C9616C393F44}"/>
              </a:ext>
            </a:extLst>
          </p:cNvPr>
          <p:cNvSpPr/>
          <p:nvPr/>
        </p:nvSpPr>
        <p:spPr bwMode="auto">
          <a:xfrm>
            <a:off x="2231974" y="5679025"/>
            <a:ext cx="450005"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r>
              <a:rPr kumimoji="1" lang="en-US" altLang="ja-JP" dirty="0">
                <a:latin typeface="Arial Narrow" panose="020B0606020202030204" pitchFamily="34" charset="0"/>
              </a:rPr>
              <a:t>…</a:t>
            </a:r>
            <a:endParaRPr kumimoji="1" lang="ja-JP" altLang="en-US" dirty="0">
              <a:latin typeface="Arial Narrow" panose="020B0606020202030204" pitchFamily="34" charset="0"/>
            </a:endParaRPr>
          </a:p>
        </p:txBody>
      </p:sp>
      <p:sp>
        <p:nvSpPr>
          <p:cNvPr id="62" name="角丸四角形 28">
            <a:extLst>
              <a:ext uri="{FF2B5EF4-FFF2-40B4-BE49-F238E27FC236}">
                <a16:creationId xmlns:a16="http://schemas.microsoft.com/office/drawing/2014/main" id="{FB467C29-6A9E-DBBA-4E8A-9D326F948261}"/>
              </a:ext>
            </a:extLst>
          </p:cNvPr>
          <p:cNvSpPr/>
          <p:nvPr/>
        </p:nvSpPr>
        <p:spPr bwMode="auto">
          <a:xfrm>
            <a:off x="791957" y="5679025"/>
            <a:ext cx="450005"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r>
              <a:rPr kumimoji="1" lang="en-US" altLang="ja-JP" dirty="0">
                <a:latin typeface="Arial Narrow" panose="020B0606020202030204" pitchFamily="34" charset="0"/>
              </a:rPr>
              <a:t>…</a:t>
            </a:r>
            <a:endParaRPr kumimoji="1" lang="ja-JP" altLang="en-US" dirty="0">
              <a:latin typeface="Arial Narrow" panose="020B0606020202030204" pitchFamily="34" charset="0"/>
            </a:endParaRPr>
          </a:p>
        </p:txBody>
      </p:sp>
      <p:sp>
        <p:nvSpPr>
          <p:cNvPr id="63" name="平行四辺形 62">
            <a:extLst>
              <a:ext uri="{FF2B5EF4-FFF2-40B4-BE49-F238E27FC236}">
                <a16:creationId xmlns:a16="http://schemas.microsoft.com/office/drawing/2014/main" id="{240E1835-5282-AD36-1341-6EFEDD1D5C39}"/>
              </a:ext>
            </a:extLst>
          </p:cNvPr>
          <p:cNvSpPr/>
          <p:nvPr/>
        </p:nvSpPr>
        <p:spPr bwMode="auto">
          <a:xfrm>
            <a:off x="4481999" y="5859027"/>
            <a:ext cx="1562400" cy="504056"/>
          </a:xfrm>
          <a:prstGeom prst="parallelogram">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sp>
        <p:nvSpPr>
          <p:cNvPr id="64" name="平行四辺形 63">
            <a:extLst>
              <a:ext uri="{FF2B5EF4-FFF2-40B4-BE49-F238E27FC236}">
                <a16:creationId xmlns:a16="http://schemas.microsoft.com/office/drawing/2014/main" id="{486F3C37-9BDC-BF1F-F807-F6C819901828}"/>
              </a:ext>
            </a:extLst>
          </p:cNvPr>
          <p:cNvSpPr/>
          <p:nvPr/>
        </p:nvSpPr>
        <p:spPr bwMode="auto">
          <a:xfrm>
            <a:off x="5922015" y="5859027"/>
            <a:ext cx="1584176"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sp>
        <p:nvSpPr>
          <p:cNvPr id="65" name="角丸四角形 23">
            <a:extLst>
              <a:ext uri="{FF2B5EF4-FFF2-40B4-BE49-F238E27FC236}">
                <a16:creationId xmlns:a16="http://schemas.microsoft.com/office/drawing/2014/main" id="{7F92E031-FED9-3905-4587-67AA2E6E347F}"/>
              </a:ext>
            </a:extLst>
          </p:cNvPr>
          <p:cNvSpPr/>
          <p:nvPr/>
        </p:nvSpPr>
        <p:spPr bwMode="auto">
          <a:xfrm>
            <a:off x="5022005" y="5679025"/>
            <a:ext cx="450006"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r>
              <a:rPr lang="en-US" altLang="ja-JP" dirty="0">
                <a:latin typeface="Arial Narrow" panose="020B0606020202030204" pitchFamily="34" charset="0"/>
              </a:rPr>
              <a:t>...</a:t>
            </a:r>
            <a:endParaRPr lang="ja-JP" altLang="en-US" dirty="0">
              <a:latin typeface="Arial Narrow" panose="020B0606020202030204" pitchFamily="34" charset="0"/>
            </a:endParaRPr>
          </a:p>
        </p:txBody>
      </p:sp>
      <p:sp>
        <p:nvSpPr>
          <p:cNvPr id="67" name="角丸四角形 23">
            <a:extLst>
              <a:ext uri="{FF2B5EF4-FFF2-40B4-BE49-F238E27FC236}">
                <a16:creationId xmlns:a16="http://schemas.microsoft.com/office/drawing/2014/main" id="{9999920A-7919-2C2E-6809-4AD2E6C1AE3C}"/>
              </a:ext>
            </a:extLst>
          </p:cNvPr>
          <p:cNvSpPr/>
          <p:nvPr/>
        </p:nvSpPr>
        <p:spPr bwMode="auto">
          <a:xfrm>
            <a:off x="6552022" y="5679025"/>
            <a:ext cx="450006"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r>
              <a:rPr lang="en-US" altLang="ja-JP" dirty="0">
                <a:latin typeface="Arial Narrow" panose="020B0606020202030204" pitchFamily="34" charset="0"/>
              </a:rPr>
              <a:t>...</a:t>
            </a:r>
            <a:endParaRPr lang="ja-JP" altLang="en-US" dirty="0">
              <a:latin typeface="Arial Narrow" panose="020B0606020202030204" pitchFamily="34" charset="0"/>
            </a:endParaRPr>
          </a:p>
        </p:txBody>
      </p:sp>
      <p:sp>
        <p:nvSpPr>
          <p:cNvPr id="68" name="正方形/長方形 67">
            <a:extLst>
              <a:ext uri="{FF2B5EF4-FFF2-40B4-BE49-F238E27FC236}">
                <a16:creationId xmlns:a16="http://schemas.microsoft.com/office/drawing/2014/main" id="{CBC46140-7E30-933F-C47E-F186B4F1E37C}"/>
              </a:ext>
            </a:extLst>
          </p:cNvPr>
          <p:cNvSpPr/>
          <p:nvPr/>
        </p:nvSpPr>
        <p:spPr>
          <a:xfrm>
            <a:off x="630007" y="4149008"/>
            <a:ext cx="900010"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05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予測器</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a:t>
            </a:r>
          </a:p>
        </p:txBody>
      </p:sp>
      <p:sp>
        <p:nvSpPr>
          <p:cNvPr id="69" name="正方形/長方形 68">
            <a:extLst>
              <a:ext uri="{FF2B5EF4-FFF2-40B4-BE49-F238E27FC236}">
                <a16:creationId xmlns:a16="http://schemas.microsoft.com/office/drawing/2014/main" id="{1BBAEB45-EE1D-97A5-22F2-A176108B09A1}"/>
              </a:ext>
            </a:extLst>
          </p:cNvPr>
          <p:cNvSpPr/>
          <p:nvPr/>
        </p:nvSpPr>
        <p:spPr>
          <a:xfrm>
            <a:off x="6390071" y="4149008"/>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dirty="0"/>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70" name="角丸四角形吹き出し 26">
            <a:extLst>
              <a:ext uri="{FF2B5EF4-FFF2-40B4-BE49-F238E27FC236}">
                <a16:creationId xmlns:a16="http://schemas.microsoft.com/office/drawing/2014/main" id="{0501CEEE-AA60-A198-3A7F-1E1E609BFAD2}"/>
              </a:ext>
            </a:extLst>
          </p:cNvPr>
          <p:cNvSpPr/>
          <p:nvPr/>
        </p:nvSpPr>
        <p:spPr bwMode="auto">
          <a:xfrm>
            <a:off x="7002027" y="3609002"/>
            <a:ext cx="1980022" cy="612648"/>
          </a:xfrm>
          <a:prstGeom prst="wedgeRoundRectCallout">
            <a:avLst>
              <a:gd name="adj1" fmla="val -42160"/>
              <a:gd name="adj2" fmla="val 92539"/>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dirty="0">
                <a:solidFill>
                  <a:schemeClr val="tx1">
                    <a:lumMod val="65000"/>
                    <a:lumOff val="35000"/>
                  </a:schemeClr>
                </a:solidFill>
                <a:latin typeface="Arial Narrow" panose="020B0606020202030204" pitchFamily="34" charset="0"/>
              </a:rPr>
              <a:t>また違うやん</a:t>
            </a:r>
          </a:p>
        </p:txBody>
      </p:sp>
      <p:sp>
        <p:nvSpPr>
          <p:cNvPr id="71" name="角丸四角形吹き出し 3">
            <a:extLst>
              <a:ext uri="{FF2B5EF4-FFF2-40B4-BE49-F238E27FC236}">
                <a16:creationId xmlns:a16="http://schemas.microsoft.com/office/drawing/2014/main" id="{943CF68C-F389-04D1-CD89-35ECE42485DA}"/>
              </a:ext>
            </a:extLst>
          </p:cNvPr>
          <p:cNvSpPr/>
          <p:nvPr/>
        </p:nvSpPr>
        <p:spPr bwMode="auto">
          <a:xfrm>
            <a:off x="1170013" y="3609002"/>
            <a:ext cx="2520028" cy="612648"/>
          </a:xfrm>
          <a:prstGeom prst="wedgeRoundRectCallout">
            <a:avLst>
              <a:gd name="adj1" fmla="val -44943"/>
              <a:gd name="adj2" fmla="val 95784"/>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dirty="0">
                <a:solidFill>
                  <a:schemeClr val="tx1">
                    <a:lumMod val="65000"/>
                    <a:lumOff val="35000"/>
                  </a:schemeClr>
                </a:solidFill>
                <a:latin typeface="Arial Narrow" panose="020B0606020202030204" pitchFamily="34" charset="0"/>
              </a:rPr>
              <a:t>大量廃棄やな・・・</a:t>
            </a:r>
            <a:endParaRPr kumimoji="1" lang="en-US" altLang="ja-JP" dirty="0">
              <a:solidFill>
                <a:schemeClr val="tx1">
                  <a:lumMod val="65000"/>
                  <a:lumOff val="35000"/>
                </a:schemeClr>
              </a:solidFill>
              <a:latin typeface="Arial Narrow" panose="020B0606020202030204" pitchFamily="34" charset="0"/>
            </a:endParaRPr>
          </a:p>
        </p:txBody>
      </p:sp>
    </p:spTree>
    <p:extLst>
      <p:ext uri="{BB962C8B-B14F-4D97-AF65-F5344CB8AC3E}">
        <p14:creationId xmlns:p14="http://schemas.microsoft.com/office/powerpoint/2010/main" val="211154035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096F7B0-F715-D446-4499-2A047000F91C}"/>
              </a:ext>
            </a:extLst>
          </p:cNvPr>
          <p:cNvSpPr>
            <a:spLocks noGrp="1"/>
          </p:cNvSpPr>
          <p:nvPr>
            <p:ph type="title"/>
          </p:nvPr>
        </p:nvSpPr>
        <p:spPr/>
        <p:txBody>
          <a:bodyPr/>
          <a:lstStyle/>
          <a:p>
            <a:r>
              <a:rPr kumimoji="1" lang="ja-JP" altLang="en-US" dirty="0"/>
              <a:t>分岐予測ミスによる </a:t>
            </a:r>
            <a:r>
              <a:rPr kumimoji="1" lang="en-US" altLang="ja-JP" dirty="0"/>
              <a:t>IPC </a:t>
            </a:r>
            <a:r>
              <a:rPr kumimoji="1" lang="ja-JP" altLang="en-US" dirty="0"/>
              <a:t>の低下のまとめ</a:t>
            </a:r>
            <a:endParaRPr kumimoji="1" lang="en-US" dirty="0"/>
          </a:p>
        </p:txBody>
      </p:sp>
      <p:sp>
        <p:nvSpPr>
          <p:cNvPr id="3" name="コンテンツ プレースホルダー 2">
            <a:extLst>
              <a:ext uri="{FF2B5EF4-FFF2-40B4-BE49-F238E27FC236}">
                <a16:creationId xmlns:a16="http://schemas.microsoft.com/office/drawing/2014/main" id="{9B6799CC-1362-13DD-7555-D43C129FD0A0}"/>
              </a:ext>
            </a:extLst>
          </p:cNvPr>
          <p:cNvSpPr>
            <a:spLocks noGrp="1"/>
          </p:cNvSpPr>
          <p:nvPr>
            <p:ph sz="quarter" idx="10"/>
          </p:nvPr>
        </p:nvSpPr>
        <p:spPr/>
        <p:txBody>
          <a:bodyPr/>
          <a:lstStyle/>
          <a:p>
            <a:r>
              <a:rPr kumimoji="1" lang="ja-JP" altLang="en-US" dirty="0"/>
              <a:t>以下のような場合に，より予測ミスの影響が大きくなる</a:t>
            </a:r>
            <a:endParaRPr kumimoji="1" lang="en-US" altLang="ja-JP" dirty="0"/>
          </a:p>
          <a:p>
            <a:pPr lvl="1"/>
            <a:r>
              <a:rPr kumimoji="1" lang="ja-JP" altLang="en-US" dirty="0"/>
              <a:t>パイプラインを深くする（周波数を向上させる）場合</a:t>
            </a:r>
            <a:endParaRPr kumimoji="1" lang="en-US" altLang="ja-JP" dirty="0"/>
          </a:p>
          <a:p>
            <a:pPr lvl="1"/>
            <a:r>
              <a:rPr kumimoji="1" lang="ja-JP" altLang="en-US" dirty="0"/>
              <a:t>スーパスカラにしてパイプライン本数を増やす場合</a:t>
            </a:r>
            <a:endParaRPr kumimoji="1" lang="en-US" altLang="ja-JP" dirty="0"/>
          </a:p>
          <a:p>
            <a:r>
              <a:rPr kumimoji="1" lang="ja-JP" altLang="en-US" dirty="0"/>
              <a:t>裏を返すと･･･</a:t>
            </a:r>
            <a:endParaRPr kumimoji="1" lang="en-US" altLang="ja-JP" dirty="0"/>
          </a:p>
          <a:p>
            <a:pPr lvl="1"/>
            <a:r>
              <a:rPr kumimoji="1" lang="ja-JP" altLang="en-US" dirty="0"/>
              <a:t>パイプラインを深くしたり本数を増やす回路を追加する代わりに，予測器を強化した方が性能が上がることも</a:t>
            </a:r>
            <a:endParaRPr kumimoji="1" lang="en-US" altLang="ja-JP" dirty="0"/>
          </a:p>
          <a:p>
            <a:pPr lvl="1"/>
            <a:r>
              <a:rPr kumimoji="1" lang="ja-JP" altLang="en-US" dirty="0"/>
              <a:t>バランスが大事</a:t>
            </a:r>
            <a:endParaRPr kumimoji="1" lang="en-US" altLang="ja-JP" dirty="0"/>
          </a:p>
          <a:p>
            <a:pPr lvl="2"/>
            <a:r>
              <a:rPr kumimoji="1" lang="ja-JP" altLang="en-US" dirty="0"/>
              <a:t>へちょい分岐予測器のまま他を強化しても無駄と言う事も</a:t>
            </a:r>
            <a:endParaRPr kumimoji="1" lang="en-US" dirty="0"/>
          </a:p>
        </p:txBody>
      </p:sp>
    </p:spTree>
    <p:extLst>
      <p:ext uri="{BB962C8B-B14F-4D97-AF65-F5344CB8AC3E}">
        <p14:creationId xmlns:p14="http://schemas.microsoft.com/office/powerpoint/2010/main" val="225109163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5E85A47-E768-F537-DFF8-AB9DB3DCC0DF}"/>
              </a:ext>
            </a:extLst>
          </p:cNvPr>
          <p:cNvSpPr>
            <a:spLocks noGrp="1"/>
          </p:cNvSpPr>
          <p:nvPr>
            <p:ph type="title"/>
          </p:nvPr>
        </p:nvSpPr>
        <p:spPr/>
        <p:txBody>
          <a:bodyPr/>
          <a:lstStyle/>
          <a:p>
            <a:r>
              <a:rPr kumimoji="1" lang="ja-JP" altLang="en-US" dirty="0"/>
              <a:t>パイプラインの長さと性能</a:t>
            </a:r>
            <a:endParaRPr kumimoji="1" lang="en-US" dirty="0"/>
          </a:p>
        </p:txBody>
      </p:sp>
      <p:sp>
        <p:nvSpPr>
          <p:cNvPr id="3" name="コンテンツ プレースホルダー 2">
            <a:extLst>
              <a:ext uri="{FF2B5EF4-FFF2-40B4-BE49-F238E27FC236}">
                <a16:creationId xmlns:a16="http://schemas.microsoft.com/office/drawing/2014/main" id="{CF8017B8-3060-F213-73D8-3FCE70AA2CC8}"/>
              </a:ext>
            </a:extLst>
          </p:cNvPr>
          <p:cNvSpPr>
            <a:spLocks noGrp="1"/>
          </p:cNvSpPr>
          <p:nvPr>
            <p:ph sz="quarter" idx="10"/>
          </p:nvPr>
        </p:nvSpPr>
        <p:spPr>
          <a:xfrm>
            <a:off x="472809" y="5630219"/>
            <a:ext cx="7920088" cy="810009"/>
          </a:xfrm>
        </p:spPr>
        <p:txBody>
          <a:bodyPr/>
          <a:lstStyle/>
          <a:p>
            <a:pPr lvl="1"/>
            <a:r>
              <a:rPr kumimoji="1" lang="ja-JP" altLang="en-US" sz="1800" dirty="0"/>
              <a:t>パイプライン段数は，理想的なパイプラインではほとんど性能に影響しない</a:t>
            </a:r>
            <a:endParaRPr kumimoji="1" lang="en-US" altLang="ja-JP" sz="1800" dirty="0"/>
          </a:p>
          <a:p>
            <a:pPr lvl="2"/>
            <a:r>
              <a:rPr kumimoji="1" lang="ja-JP" altLang="en-US" sz="1800" dirty="0"/>
              <a:t>最初の１命令分しか実行時間に影響しないから</a:t>
            </a:r>
            <a:endParaRPr kumimoji="1" lang="en-US" altLang="ja-JP" sz="1800" dirty="0"/>
          </a:p>
          <a:p>
            <a:pPr lvl="1"/>
            <a:r>
              <a:rPr kumimoji="1" lang="ja-JP" altLang="en-US" sz="1800" dirty="0">
                <a:solidFill>
                  <a:schemeClr val="accent5"/>
                </a:solidFill>
              </a:rPr>
              <a:t>分岐予測ミスは，起きる度にパイプラインの長さが表面化する</a:t>
            </a:r>
            <a:endParaRPr kumimoji="1" lang="en-US" sz="1800" dirty="0">
              <a:solidFill>
                <a:schemeClr val="accent5"/>
              </a:solidFill>
            </a:endParaRPr>
          </a:p>
        </p:txBody>
      </p:sp>
      <p:sp>
        <p:nvSpPr>
          <p:cNvPr id="4" name="平行四辺形 3">
            <a:extLst>
              <a:ext uri="{FF2B5EF4-FFF2-40B4-BE49-F238E27FC236}">
                <a16:creationId xmlns:a16="http://schemas.microsoft.com/office/drawing/2014/main" id="{2176A96A-0700-BA9A-A573-9435F33CDBE3}"/>
              </a:ext>
            </a:extLst>
          </p:cNvPr>
          <p:cNvSpPr/>
          <p:nvPr/>
        </p:nvSpPr>
        <p:spPr bwMode="auto">
          <a:xfrm flipH="1">
            <a:off x="971960" y="1448979"/>
            <a:ext cx="3600040" cy="3600040"/>
          </a:xfrm>
          <a:prstGeom prst="parallelogram">
            <a:avLst>
              <a:gd name="adj" fmla="val 98821"/>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5" name="直線矢印コネクタ 4">
            <a:extLst>
              <a:ext uri="{FF2B5EF4-FFF2-40B4-BE49-F238E27FC236}">
                <a16:creationId xmlns:a16="http://schemas.microsoft.com/office/drawing/2014/main" id="{5248DE31-7A3E-66FB-40BC-065864D503FE}"/>
              </a:ext>
            </a:extLst>
          </p:cNvPr>
          <p:cNvCxnSpPr>
            <a:cxnSpLocks/>
          </p:cNvCxnSpPr>
          <p:nvPr/>
        </p:nvCxnSpPr>
        <p:spPr bwMode="auto">
          <a:xfrm>
            <a:off x="971960" y="1358977"/>
            <a:ext cx="3600040" cy="0"/>
          </a:xfrm>
          <a:prstGeom prst="straightConnector1">
            <a:avLst/>
          </a:prstGeom>
          <a:noFill/>
          <a:ln w="9525" cap="flat" cmpd="sng" algn="ctr">
            <a:solidFill>
              <a:schemeClr val="tx1">
                <a:lumMod val="75000"/>
                <a:lumOff val="25000"/>
              </a:schemeClr>
            </a:solidFill>
            <a:prstDash val="solid"/>
            <a:round/>
            <a:headEnd type="triangle" w="med" len="med"/>
            <a:tailEnd type="triangle"/>
          </a:ln>
          <a:effectLst/>
        </p:spPr>
      </p:cxnSp>
      <p:cxnSp>
        <p:nvCxnSpPr>
          <p:cNvPr id="6" name="直線矢印コネクタ 5">
            <a:extLst>
              <a:ext uri="{FF2B5EF4-FFF2-40B4-BE49-F238E27FC236}">
                <a16:creationId xmlns:a16="http://schemas.microsoft.com/office/drawing/2014/main" id="{7EC9B5A4-6877-8802-97AE-FFDE8F1BECFE}"/>
              </a:ext>
            </a:extLst>
          </p:cNvPr>
          <p:cNvCxnSpPr>
            <a:cxnSpLocks/>
          </p:cNvCxnSpPr>
          <p:nvPr/>
        </p:nvCxnSpPr>
        <p:spPr bwMode="auto">
          <a:xfrm>
            <a:off x="881959" y="1448978"/>
            <a:ext cx="0" cy="3600040"/>
          </a:xfrm>
          <a:prstGeom prst="straightConnector1">
            <a:avLst/>
          </a:prstGeom>
          <a:noFill/>
          <a:ln w="9525" cap="flat" cmpd="sng" algn="ctr">
            <a:solidFill>
              <a:schemeClr val="tx1">
                <a:lumMod val="75000"/>
                <a:lumOff val="25000"/>
              </a:schemeClr>
            </a:solidFill>
            <a:prstDash val="solid"/>
            <a:round/>
            <a:headEnd type="triangle" w="med" len="med"/>
            <a:tailEnd type="triangle"/>
          </a:ln>
          <a:effectLst/>
        </p:spPr>
      </p:cxnSp>
      <p:sp>
        <p:nvSpPr>
          <p:cNvPr id="7" name="正方形/長方形 6">
            <a:extLst>
              <a:ext uri="{FF2B5EF4-FFF2-40B4-BE49-F238E27FC236}">
                <a16:creationId xmlns:a16="http://schemas.microsoft.com/office/drawing/2014/main" id="{69232D28-9CE5-8D94-D7E1-EAF14A069B69}"/>
              </a:ext>
            </a:extLst>
          </p:cNvPr>
          <p:cNvSpPr/>
          <p:nvPr/>
        </p:nvSpPr>
        <p:spPr>
          <a:xfrm>
            <a:off x="2591978" y="908972"/>
            <a:ext cx="540005" cy="360004"/>
          </a:xfrm>
          <a:prstGeom prst="rect">
            <a:avLst/>
          </a:prstGeom>
        </p:spPr>
        <p:txBody>
          <a:bodyPr wrap="none">
            <a:noAutofit/>
          </a:bodyPr>
          <a:lstStyle/>
          <a:p>
            <a:pPr algn="ctr"/>
            <a:r>
              <a:rPr lang="en-US" altLang="ja-JP" dirty="0">
                <a:solidFill>
                  <a:schemeClr val="tx1">
                    <a:lumMod val="65000"/>
                    <a:lumOff val="35000"/>
                  </a:schemeClr>
                </a:solidFill>
              </a:rPr>
              <a:t>5+999,999 cycle</a:t>
            </a:r>
            <a:endParaRPr lang="ja-JP" altLang="en-US" dirty="0">
              <a:solidFill>
                <a:schemeClr val="tx1">
                  <a:lumMod val="65000"/>
                  <a:lumOff val="35000"/>
                </a:schemeClr>
              </a:solidFill>
            </a:endParaRPr>
          </a:p>
        </p:txBody>
      </p:sp>
      <p:sp>
        <p:nvSpPr>
          <p:cNvPr id="8" name="正方形/長方形 7">
            <a:extLst>
              <a:ext uri="{FF2B5EF4-FFF2-40B4-BE49-F238E27FC236}">
                <a16:creationId xmlns:a16="http://schemas.microsoft.com/office/drawing/2014/main" id="{A29AD0B1-5E13-A055-B4CA-153E35739D4D}"/>
              </a:ext>
            </a:extLst>
          </p:cNvPr>
          <p:cNvSpPr/>
          <p:nvPr/>
        </p:nvSpPr>
        <p:spPr>
          <a:xfrm rot="16200000">
            <a:off x="431954" y="2888993"/>
            <a:ext cx="540005" cy="360004"/>
          </a:xfrm>
          <a:prstGeom prst="rect">
            <a:avLst/>
          </a:prstGeom>
        </p:spPr>
        <p:txBody>
          <a:bodyPr wrap="none">
            <a:noAutofit/>
          </a:bodyPr>
          <a:lstStyle/>
          <a:p>
            <a:pPr algn="ctr"/>
            <a:r>
              <a:rPr lang="en-US" altLang="ja-JP" dirty="0">
                <a:solidFill>
                  <a:schemeClr val="tx1">
                    <a:lumMod val="65000"/>
                    <a:lumOff val="35000"/>
                  </a:schemeClr>
                </a:solidFill>
              </a:rPr>
              <a:t>1,000,000 </a:t>
            </a:r>
            <a:r>
              <a:rPr lang="ja-JP" altLang="en-US" dirty="0">
                <a:solidFill>
                  <a:schemeClr val="tx1">
                    <a:lumMod val="65000"/>
                    <a:lumOff val="35000"/>
                  </a:schemeClr>
                </a:solidFill>
              </a:rPr>
              <a:t>命令</a:t>
            </a:r>
          </a:p>
        </p:txBody>
      </p:sp>
      <p:sp>
        <p:nvSpPr>
          <p:cNvPr id="9" name="正方形/長方形 8">
            <a:extLst>
              <a:ext uri="{FF2B5EF4-FFF2-40B4-BE49-F238E27FC236}">
                <a16:creationId xmlns:a16="http://schemas.microsoft.com/office/drawing/2014/main" id="{547A4AD4-5CDF-9940-22CF-991E6FE67034}"/>
              </a:ext>
            </a:extLst>
          </p:cNvPr>
          <p:cNvSpPr/>
          <p:nvPr/>
        </p:nvSpPr>
        <p:spPr>
          <a:xfrm>
            <a:off x="4842004" y="1268976"/>
            <a:ext cx="450005" cy="369332"/>
          </a:xfrm>
          <a:prstGeom prst="rect">
            <a:avLst/>
          </a:prstGeom>
        </p:spPr>
        <p:txBody>
          <a:bodyPr wrap="square">
            <a:spAutoFit/>
          </a:bodyPr>
          <a:lstStyle/>
          <a:p>
            <a:pPr algn="ctr"/>
            <a:r>
              <a:rPr lang="en-US" altLang="ja-JP" dirty="0">
                <a:solidFill>
                  <a:schemeClr val="tx1">
                    <a:lumMod val="65000"/>
                    <a:lumOff val="35000"/>
                  </a:schemeClr>
                </a:solidFill>
                <a:latin typeface="Consolas" panose="020B0609020204030204" pitchFamily="49" charset="0"/>
              </a:rPr>
              <a:t>I0</a:t>
            </a:r>
            <a:endParaRPr lang="ja-JP" altLang="en-US" dirty="0">
              <a:solidFill>
                <a:schemeClr val="tx1">
                  <a:lumMod val="65000"/>
                  <a:lumOff val="35000"/>
                </a:schemeClr>
              </a:solidFill>
              <a:latin typeface="Consolas" panose="020B0609020204030204" pitchFamily="49" charset="0"/>
            </a:endParaRPr>
          </a:p>
        </p:txBody>
      </p:sp>
      <p:sp>
        <p:nvSpPr>
          <p:cNvPr id="10" name="正方形/長方形 9">
            <a:extLst>
              <a:ext uri="{FF2B5EF4-FFF2-40B4-BE49-F238E27FC236}">
                <a16:creationId xmlns:a16="http://schemas.microsoft.com/office/drawing/2014/main" id="{A3E1AE2F-AD27-AEBF-36A9-CDB861C2D8E8}"/>
              </a:ext>
            </a:extLst>
          </p:cNvPr>
          <p:cNvSpPr/>
          <p:nvPr/>
        </p:nvSpPr>
        <p:spPr>
          <a:xfrm>
            <a:off x="4842003" y="3509673"/>
            <a:ext cx="450005" cy="369332"/>
          </a:xfrm>
          <a:prstGeom prst="rect">
            <a:avLst/>
          </a:prstGeom>
        </p:spPr>
        <p:txBody>
          <a:bodyPr wrap="square">
            <a:spAutoFit/>
          </a:bodyPr>
          <a:lstStyle/>
          <a:p>
            <a:pPr algn="ctr"/>
            <a:r>
              <a:rPr lang="en-US" altLang="ja-JP" dirty="0">
                <a:solidFill>
                  <a:schemeClr val="tx1">
                    <a:lumMod val="65000"/>
                    <a:lumOff val="35000"/>
                  </a:schemeClr>
                </a:solidFill>
                <a:latin typeface="Consolas" panose="020B0609020204030204" pitchFamily="49" charset="0"/>
              </a:rPr>
              <a:t>I1</a:t>
            </a:r>
            <a:endParaRPr lang="ja-JP" altLang="en-US" dirty="0">
              <a:solidFill>
                <a:schemeClr val="tx1">
                  <a:lumMod val="65000"/>
                  <a:lumOff val="35000"/>
                </a:schemeClr>
              </a:solidFill>
              <a:latin typeface="Consolas" panose="020B0609020204030204" pitchFamily="49" charset="0"/>
            </a:endParaRPr>
          </a:p>
        </p:txBody>
      </p:sp>
      <p:sp>
        <p:nvSpPr>
          <p:cNvPr id="11" name="正方形/長方形 10">
            <a:extLst>
              <a:ext uri="{FF2B5EF4-FFF2-40B4-BE49-F238E27FC236}">
                <a16:creationId xmlns:a16="http://schemas.microsoft.com/office/drawing/2014/main" id="{1B81FC55-ADDB-A2F7-4E1A-DCC974FFF7B3}"/>
              </a:ext>
            </a:extLst>
          </p:cNvPr>
          <p:cNvSpPr/>
          <p:nvPr/>
        </p:nvSpPr>
        <p:spPr>
          <a:xfrm>
            <a:off x="4842003" y="3959678"/>
            <a:ext cx="450005" cy="369332"/>
          </a:xfrm>
          <a:prstGeom prst="rect">
            <a:avLst/>
          </a:prstGeom>
        </p:spPr>
        <p:txBody>
          <a:bodyPr wrap="square">
            <a:spAutoFit/>
          </a:bodyPr>
          <a:lstStyle/>
          <a:p>
            <a:pPr algn="ctr"/>
            <a:r>
              <a:rPr lang="en-US" altLang="ja-JP" dirty="0">
                <a:solidFill>
                  <a:schemeClr val="tx1">
                    <a:lumMod val="65000"/>
                    <a:lumOff val="35000"/>
                  </a:schemeClr>
                </a:solidFill>
                <a:latin typeface="Consolas" panose="020B0609020204030204" pitchFamily="49" charset="0"/>
              </a:rPr>
              <a:t>I2</a:t>
            </a:r>
            <a:endParaRPr lang="ja-JP" altLang="en-US" dirty="0">
              <a:solidFill>
                <a:schemeClr val="tx1">
                  <a:lumMod val="65000"/>
                  <a:lumOff val="35000"/>
                </a:schemeClr>
              </a:solidFill>
              <a:latin typeface="Consolas" panose="020B0609020204030204" pitchFamily="49" charset="0"/>
            </a:endParaRPr>
          </a:p>
        </p:txBody>
      </p:sp>
      <p:sp>
        <p:nvSpPr>
          <p:cNvPr id="12" name="Rectangle 69">
            <a:extLst>
              <a:ext uri="{FF2B5EF4-FFF2-40B4-BE49-F238E27FC236}">
                <a16:creationId xmlns:a16="http://schemas.microsoft.com/office/drawing/2014/main" id="{8FBCA978-8F00-C45B-7655-6D3A98BBC23A}"/>
              </a:ext>
            </a:extLst>
          </p:cNvPr>
          <p:cNvSpPr>
            <a:spLocks noChangeArrowheads="1"/>
          </p:cNvSpPr>
          <p:nvPr/>
        </p:nvSpPr>
        <p:spPr bwMode="auto">
          <a:xfrm>
            <a:off x="5472011" y="1268976"/>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13" name="Rectangle 70">
            <a:extLst>
              <a:ext uri="{FF2B5EF4-FFF2-40B4-BE49-F238E27FC236}">
                <a16:creationId xmlns:a16="http://schemas.microsoft.com/office/drawing/2014/main" id="{ACEE5B5A-02DC-9C80-E666-B091536D55CE}"/>
              </a:ext>
            </a:extLst>
          </p:cNvPr>
          <p:cNvSpPr>
            <a:spLocks noChangeArrowheads="1"/>
          </p:cNvSpPr>
          <p:nvPr/>
        </p:nvSpPr>
        <p:spPr bwMode="auto">
          <a:xfrm>
            <a:off x="5922014" y="1268976"/>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D</a:t>
            </a:r>
          </a:p>
        </p:txBody>
      </p:sp>
      <p:sp>
        <p:nvSpPr>
          <p:cNvPr id="14" name="Rectangle 71">
            <a:extLst>
              <a:ext uri="{FF2B5EF4-FFF2-40B4-BE49-F238E27FC236}">
                <a16:creationId xmlns:a16="http://schemas.microsoft.com/office/drawing/2014/main" id="{D12EEE6F-4F45-80A1-FAE1-63CB2B89DF52}"/>
              </a:ext>
            </a:extLst>
          </p:cNvPr>
          <p:cNvSpPr>
            <a:spLocks noChangeArrowheads="1"/>
          </p:cNvSpPr>
          <p:nvPr/>
        </p:nvSpPr>
        <p:spPr bwMode="auto">
          <a:xfrm>
            <a:off x="6372020" y="1268976"/>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X</a:t>
            </a:r>
          </a:p>
        </p:txBody>
      </p:sp>
      <p:sp>
        <p:nvSpPr>
          <p:cNvPr id="15" name="Rectangle 72">
            <a:extLst>
              <a:ext uri="{FF2B5EF4-FFF2-40B4-BE49-F238E27FC236}">
                <a16:creationId xmlns:a16="http://schemas.microsoft.com/office/drawing/2014/main" id="{E0C6032C-1318-6A4C-5863-4148A0F9759E}"/>
              </a:ext>
            </a:extLst>
          </p:cNvPr>
          <p:cNvSpPr>
            <a:spLocks noChangeArrowheads="1"/>
          </p:cNvSpPr>
          <p:nvPr/>
        </p:nvSpPr>
        <p:spPr bwMode="auto">
          <a:xfrm>
            <a:off x="6822025" y="1268976"/>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M</a:t>
            </a:r>
          </a:p>
        </p:txBody>
      </p:sp>
      <p:sp>
        <p:nvSpPr>
          <p:cNvPr id="16" name="Rectangle 73">
            <a:extLst>
              <a:ext uri="{FF2B5EF4-FFF2-40B4-BE49-F238E27FC236}">
                <a16:creationId xmlns:a16="http://schemas.microsoft.com/office/drawing/2014/main" id="{5A9CC4E0-5B4C-034B-16F1-092A5E166AE6}"/>
              </a:ext>
            </a:extLst>
          </p:cNvPr>
          <p:cNvSpPr>
            <a:spLocks noChangeArrowheads="1"/>
          </p:cNvSpPr>
          <p:nvPr/>
        </p:nvSpPr>
        <p:spPr bwMode="auto">
          <a:xfrm>
            <a:off x="7272030" y="1268976"/>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W</a:t>
            </a:r>
          </a:p>
        </p:txBody>
      </p:sp>
      <p:sp>
        <p:nvSpPr>
          <p:cNvPr id="17" name="Rectangle 69">
            <a:extLst>
              <a:ext uri="{FF2B5EF4-FFF2-40B4-BE49-F238E27FC236}">
                <a16:creationId xmlns:a16="http://schemas.microsoft.com/office/drawing/2014/main" id="{6908A02F-2BCA-3745-882D-56099F4E06D8}"/>
              </a:ext>
            </a:extLst>
          </p:cNvPr>
          <p:cNvSpPr>
            <a:spLocks noChangeArrowheads="1"/>
          </p:cNvSpPr>
          <p:nvPr/>
        </p:nvSpPr>
        <p:spPr bwMode="auto">
          <a:xfrm>
            <a:off x="5922018" y="1718981"/>
            <a:ext cx="450004" cy="360000"/>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18" name="Rectangle 70">
            <a:extLst>
              <a:ext uri="{FF2B5EF4-FFF2-40B4-BE49-F238E27FC236}">
                <a16:creationId xmlns:a16="http://schemas.microsoft.com/office/drawing/2014/main" id="{FF174E0B-791A-0D0B-158C-4C7729584E71}"/>
              </a:ext>
            </a:extLst>
          </p:cNvPr>
          <p:cNvSpPr>
            <a:spLocks noChangeArrowheads="1"/>
          </p:cNvSpPr>
          <p:nvPr/>
        </p:nvSpPr>
        <p:spPr bwMode="auto">
          <a:xfrm>
            <a:off x="6372021" y="1718981"/>
            <a:ext cx="450005" cy="360000"/>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dirty="0">
                <a:latin typeface="+mn-lt"/>
                <a:ea typeface="+mn-ea"/>
              </a:rPr>
              <a:t>D</a:t>
            </a:r>
          </a:p>
        </p:txBody>
      </p:sp>
      <p:sp>
        <p:nvSpPr>
          <p:cNvPr id="19" name="Rectangle 71">
            <a:extLst>
              <a:ext uri="{FF2B5EF4-FFF2-40B4-BE49-F238E27FC236}">
                <a16:creationId xmlns:a16="http://schemas.microsoft.com/office/drawing/2014/main" id="{C7D53603-74E0-CA19-AFD7-F78C97AF391E}"/>
              </a:ext>
            </a:extLst>
          </p:cNvPr>
          <p:cNvSpPr>
            <a:spLocks noChangeArrowheads="1"/>
          </p:cNvSpPr>
          <p:nvPr/>
        </p:nvSpPr>
        <p:spPr bwMode="auto">
          <a:xfrm>
            <a:off x="6822027" y="1718981"/>
            <a:ext cx="450005" cy="360000"/>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dirty="0">
                <a:latin typeface="+mn-lt"/>
                <a:ea typeface="+mn-ea"/>
              </a:rPr>
              <a:t>X</a:t>
            </a:r>
          </a:p>
        </p:txBody>
      </p:sp>
      <p:sp>
        <p:nvSpPr>
          <p:cNvPr id="20" name="Rectangle 72">
            <a:extLst>
              <a:ext uri="{FF2B5EF4-FFF2-40B4-BE49-F238E27FC236}">
                <a16:creationId xmlns:a16="http://schemas.microsoft.com/office/drawing/2014/main" id="{B86B6AB6-41D9-07D3-1439-C5951CBE61EC}"/>
              </a:ext>
            </a:extLst>
          </p:cNvPr>
          <p:cNvSpPr>
            <a:spLocks noChangeArrowheads="1"/>
          </p:cNvSpPr>
          <p:nvPr/>
        </p:nvSpPr>
        <p:spPr bwMode="auto">
          <a:xfrm>
            <a:off x="7272032" y="1718981"/>
            <a:ext cx="450005" cy="360000"/>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dirty="0">
                <a:latin typeface="+mn-lt"/>
                <a:ea typeface="+mn-ea"/>
              </a:rPr>
              <a:t>M</a:t>
            </a:r>
          </a:p>
        </p:txBody>
      </p:sp>
      <p:grpSp>
        <p:nvGrpSpPr>
          <p:cNvPr id="21" name="グループ化 20">
            <a:extLst>
              <a:ext uri="{FF2B5EF4-FFF2-40B4-BE49-F238E27FC236}">
                <a16:creationId xmlns:a16="http://schemas.microsoft.com/office/drawing/2014/main" id="{B654DACA-CDC2-898B-8A27-838C6BF75583}"/>
              </a:ext>
            </a:extLst>
          </p:cNvPr>
          <p:cNvGrpSpPr/>
          <p:nvPr/>
        </p:nvGrpSpPr>
        <p:grpSpPr>
          <a:xfrm>
            <a:off x="7722035" y="3519001"/>
            <a:ext cx="2250023" cy="360000"/>
            <a:chOff x="1871971" y="5679025"/>
            <a:chExt cx="2250023" cy="360000"/>
          </a:xfrm>
        </p:grpSpPr>
        <p:sp>
          <p:nvSpPr>
            <p:cNvPr id="22" name="Rectangle 69">
              <a:extLst>
                <a:ext uri="{FF2B5EF4-FFF2-40B4-BE49-F238E27FC236}">
                  <a16:creationId xmlns:a16="http://schemas.microsoft.com/office/drawing/2014/main" id="{9C9B7D97-408E-341A-F5E4-0135ED7B516B}"/>
                </a:ext>
              </a:extLst>
            </p:cNvPr>
            <p:cNvSpPr>
              <a:spLocks noChangeArrowheads="1"/>
            </p:cNvSpPr>
            <p:nvPr/>
          </p:nvSpPr>
          <p:spPr bwMode="auto">
            <a:xfrm>
              <a:off x="1871971" y="5679025"/>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23" name="Rectangle 70">
              <a:extLst>
                <a:ext uri="{FF2B5EF4-FFF2-40B4-BE49-F238E27FC236}">
                  <a16:creationId xmlns:a16="http://schemas.microsoft.com/office/drawing/2014/main" id="{809B6265-5069-0997-5D2F-8E43F0178563}"/>
                </a:ext>
              </a:extLst>
            </p:cNvPr>
            <p:cNvSpPr>
              <a:spLocks noChangeArrowheads="1"/>
            </p:cNvSpPr>
            <p:nvPr/>
          </p:nvSpPr>
          <p:spPr bwMode="auto">
            <a:xfrm>
              <a:off x="2321974" y="5679025"/>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D</a:t>
              </a:r>
            </a:p>
          </p:txBody>
        </p:sp>
        <p:sp>
          <p:nvSpPr>
            <p:cNvPr id="24" name="Rectangle 71">
              <a:extLst>
                <a:ext uri="{FF2B5EF4-FFF2-40B4-BE49-F238E27FC236}">
                  <a16:creationId xmlns:a16="http://schemas.microsoft.com/office/drawing/2014/main" id="{6EEB7D79-BB6C-BE8F-EA55-3F8814FE5713}"/>
                </a:ext>
              </a:extLst>
            </p:cNvPr>
            <p:cNvSpPr>
              <a:spLocks noChangeArrowheads="1"/>
            </p:cNvSpPr>
            <p:nvPr/>
          </p:nvSpPr>
          <p:spPr bwMode="auto">
            <a:xfrm>
              <a:off x="2771980" y="5679025"/>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X</a:t>
              </a:r>
            </a:p>
          </p:txBody>
        </p:sp>
        <p:sp>
          <p:nvSpPr>
            <p:cNvPr id="25" name="Rectangle 72">
              <a:extLst>
                <a:ext uri="{FF2B5EF4-FFF2-40B4-BE49-F238E27FC236}">
                  <a16:creationId xmlns:a16="http://schemas.microsoft.com/office/drawing/2014/main" id="{1D645E78-5826-027D-A49B-1C3A7C9E7444}"/>
                </a:ext>
              </a:extLst>
            </p:cNvPr>
            <p:cNvSpPr>
              <a:spLocks noChangeArrowheads="1"/>
            </p:cNvSpPr>
            <p:nvPr/>
          </p:nvSpPr>
          <p:spPr bwMode="auto">
            <a:xfrm>
              <a:off x="3221985" y="5679025"/>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M</a:t>
              </a:r>
            </a:p>
          </p:txBody>
        </p:sp>
        <p:sp>
          <p:nvSpPr>
            <p:cNvPr id="26" name="Rectangle 73">
              <a:extLst>
                <a:ext uri="{FF2B5EF4-FFF2-40B4-BE49-F238E27FC236}">
                  <a16:creationId xmlns:a16="http://schemas.microsoft.com/office/drawing/2014/main" id="{B0983B92-0502-D148-2040-421F4A0B72C8}"/>
                </a:ext>
              </a:extLst>
            </p:cNvPr>
            <p:cNvSpPr>
              <a:spLocks noChangeArrowheads="1"/>
            </p:cNvSpPr>
            <p:nvPr/>
          </p:nvSpPr>
          <p:spPr bwMode="auto">
            <a:xfrm>
              <a:off x="3671990" y="5679025"/>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W</a:t>
              </a:r>
            </a:p>
          </p:txBody>
        </p:sp>
      </p:grpSp>
      <p:sp>
        <p:nvSpPr>
          <p:cNvPr id="27" name="Rectangle 69">
            <a:extLst>
              <a:ext uri="{FF2B5EF4-FFF2-40B4-BE49-F238E27FC236}">
                <a16:creationId xmlns:a16="http://schemas.microsoft.com/office/drawing/2014/main" id="{76D52CB4-2B4A-AC4A-446E-A9D30DAEEBF9}"/>
              </a:ext>
            </a:extLst>
          </p:cNvPr>
          <p:cNvSpPr>
            <a:spLocks noChangeArrowheads="1"/>
          </p:cNvSpPr>
          <p:nvPr/>
        </p:nvSpPr>
        <p:spPr bwMode="auto">
          <a:xfrm>
            <a:off x="6372022" y="2168986"/>
            <a:ext cx="450004" cy="360000"/>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28" name="Rectangle 70">
            <a:extLst>
              <a:ext uri="{FF2B5EF4-FFF2-40B4-BE49-F238E27FC236}">
                <a16:creationId xmlns:a16="http://schemas.microsoft.com/office/drawing/2014/main" id="{2000DF45-9EEA-ADF0-FF7C-AEAA214D453B}"/>
              </a:ext>
            </a:extLst>
          </p:cNvPr>
          <p:cNvSpPr>
            <a:spLocks noChangeArrowheads="1"/>
          </p:cNvSpPr>
          <p:nvPr/>
        </p:nvSpPr>
        <p:spPr bwMode="auto">
          <a:xfrm>
            <a:off x="6822025" y="2168986"/>
            <a:ext cx="450005" cy="360000"/>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dirty="0">
                <a:latin typeface="+mn-lt"/>
                <a:ea typeface="+mn-ea"/>
              </a:rPr>
              <a:t>D</a:t>
            </a:r>
          </a:p>
        </p:txBody>
      </p:sp>
      <p:sp>
        <p:nvSpPr>
          <p:cNvPr id="29" name="Rectangle 71">
            <a:extLst>
              <a:ext uri="{FF2B5EF4-FFF2-40B4-BE49-F238E27FC236}">
                <a16:creationId xmlns:a16="http://schemas.microsoft.com/office/drawing/2014/main" id="{E057CA4F-173B-05AB-3F14-5F111EBD4E5E}"/>
              </a:ext>
            </a:extLst>
          </p:cNvPr>
          <p:cNvSpPr>
            <a:spLocks noChangeArrowheads="1"/>
          </p:cNvSpPr>
          <p:nvPr/>
        </p:nvSpPr>
        <p:spPr bwMode="auto">
          <a:xfrm>
            <a:off x="7272031" y="2168986"/>
            <a:ext cx="450005" cy="360000"/>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dirty="0">
                <a:latin typeface="+mn-lt"/>
                <a:ea typeface="+mn-ea"/>
              </a:rPr>
              <a:t>X</a:t>
            </a:r>
          </a:p>
        </p:txBody>
      </p:sp>
      <p:sp>
        <p:nvSpPr>
          <p:cNvPr id="30" name="Rectangle 69">
            <a:extLst>
              <a:ext uri="{FF2B5EF4-FFF2-40B4-BE49-F238E27FC236}">
                <a16:creationId xmlns:a16="http://schemas.microsoft.com/office/drawing/2014/main" id="{7DD0316A-2578-3F4F-C067-00FE20B9E263}"/>
              </a:ext>
            </a:extLst>
          </p:cNvPr>
          <p:cNvSpPr>
            <a:spLocks noChangeArrowheads="1"/>
          </p:cNvSpPr>
          <p:nvPr/>
        </p:nvSpPr>
        <p:spPr bwMode="auto">
          <a:xfrm>
            <a:off x="6822027" y="2618991"/>
            <a:ext cx="450004" cy="360000"/>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31" name="Rectangle 70">
            <a:extLst>
              <a:ext uri="{FF2B5EF4-FFF2-40B4-BE49-F238E27FC236}">
                <a16:creationId xmlns:a16="http://schemas.microsoft.com/office/drawing/2014/main" id="{EA5D41CC-5EB5-23CD-B605-5C1F97E0D2EC}"/>
              </a:ext>
            </a:extLst>
          </p:cNvPr>
          <p:cNvSpPr>
            <a:spLocks noChangeArrowheads="1"/>
          </p:cNvSpPr>
          <p:nvPr/>
        </p:nvSpPr>
        <p:spPr bwMode="auto">
          <a:xfrm>
            <a:off x="7272030" y="2618991"/>
            <a:ext cx="450005" cy="360000"/>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dirty="0">
                <a:latin typeface="+mn-lt"/>
                <a:ea typeface="+mn-ea"/>
              </a:rPr>
              <a:t>D</a:t>
            </a:r>
          </a:p>
        </p:txBody>
      </p:sp>
      <p:sp>
        <p:nvSpPr>
          <p:cNvPr id="32" name="Rectangle 69">
            <a:extLst>
              <a:ext uri="{FF2B5EF4-FFF2-40B4-BE49-F238E27FC236}">
                <a16:creationId xmlns:a16="http://schemas.microsoft.com/office/drawing/2014/main" id="{DBE64BEC-6E84-4AFC-A7FA-FA9407EDAD7B}"/>
              </a:ext>
            </a:extLst>
          </p:cNvPr>
          <p:cNvSpPr>
            <a:spLocks noChangeArrowheads="1"/>
          </p:cNvSpPr>
          <p:nvPr/>
        </p:nvSpPr>
        <p:spPr bwMode="auto">
          <a:xfrm>
            <a:off x="7272031" y="3068996"/>
            <a:ext cx="450004" cy="360000"/>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dirty="0">
                <a:latin typeface="+mn-lt"/>
                <a:ea typeface="+mn-ea"/>
              </a:rPr>
              <a:t>F</a:t>
            </a:r>
          </a:p>
        </p:txBody>
      </p:sp>
      <p:grpSp>
        <p:nvGrpSpPr>
          <p:cNvPr id="33" name="グループ化 32">
            <a:extLst>
              <a:ext uri="{FF2B5EF4-FFF2-40B4-BE49-F238E27FC236}">
                <a16:creationId xmlns:a16="http://schemas.microsoft.com/office/drawing/2014/main" id="{4DC57A93-1D2C-38DA-947B-DAC6B1CAAF82}"/>
              </a:ext>
            </a:extLst>
          </p:cNvPr>
          <p:cNvGrpSpPr/>
          <p:nvPr/>
        </p:nvGrpSpPr>
        <p:grpSpPr>
          <a:xfrm>
            <a:off x="8172040" y="3969006"/>
            <a:ext cx="2250023" cy="360000"/>
            <a:chOff x="1871971" y="5679025"/>
            <a:chExt cx="2250023" cy="360000"/>
          </a:xfrm>
        </p:grpSpPr>
        <p:sp>
          <p:nvSpPr>
            <p:cNvPr id="34" name="Rectangle 69">
              <a:extLst>
                <a:ext uri="{FF2B5EF4-FFF2-40B4-BE49-F238E27FC236}">
                  <a16:creationId xmlns:a16="http://schemas.microsoft.com/office/drawing/2014/main" id="{AB07276B-D9D9-3F2D-EF37-FCEE6F6FC32B}"/>
                </a:ext>
              </a:extLst>
            </p:cNvPr>
            <p:cNvSpPr>
              <a:spLocks noChangeArrowheads="1"/>
            </p:cNvSpPr>
            <p:nvPr/>
          </p:nvSpPr>
          <p:spPr bwMode="auto">
            <a:xfrm>
              <a:off x="1871971" y="5679025"/>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35" name="Rectangle 70">
              <a:extLst>
                <a:ext uri="{FF2B5EF4-FFF2-40B4-BE49-F238E27FC236}">
                  <a16:creationId xmlns:a16="http://schemas.microsoft.com/office/drawing/2014/main" id="{9B3A48F9-2779-4EF2-D1C1-29C35ED2EF91}"/>
                </a:ext>
              </a:extLst>
            </p:cNvPr>
            <p:cNvSpPr>
              <a:spLocks noChangeArrowheads="1"/>
            </p:cNvSpPr>
            <p:nvPr/>
          </p:nvSpPr>
          <p:spPr bwMode="auto">
            <a:xfrm>
              <a:off x="2321974" y="5679025"/>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D</a:t>
              </a:r>
            </a:p>
          </p:txBody>
        </p:sp>
        <p:sp>
          <p:nvSpPr>
            <p:cNvPr id="36" name="Rectangle 71">
              <a:extLst>
                <a:ext uri="{FF2B5EF4-FFF2-40B4-BE49-F238E27FC236}">
                  <a16:creationId xmlns:a16="http://schemas.microsoft.com/office/drawing/2014/main" id="{E3687D1D-D916-3BC0-14B9-9F31F2717F6E}"/>
                </a:ext>
              </a:extLst>
            </p:cNvPr>
            <p:cNvSpPr>
              <a:spLocks noChangeArrowheads="1"/>
            </p:cNvSpPr>
            <p:nvPr/>
          </p:nvSpPr>
          <p:spPr bwMode="auto">
            <a:xfrm>
              <a:off x="2771980" y="5679025"/>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X</a:t>
              </a:r>
            </a:p>
          </p:txBody>
        </p:sp>
        <p:sp>
          <p:nvSpPr>
            <p:cNvPr id="37" name="Rectangle 72">
              <a:extLst>
                <a:ext uri="{FF2B5EF4-FFF2-40B4-BE49-F238E27FC236}">
                  <a16:creationId xmlns:a16="http://schemas.microsoft.com/office/drawing/2014/main" id="{862147B0-FC0A-3A08-CB0D-B093ACD75C0F}"/>
                </a:ext>
              </a:extLst>
            </p:cNvPr>
            <p:cNvSpPr>
              <a:spLocks noChangeArrowheads="1"/>
            </p:cNvSpPr>
            <p:nvPr/>
          </p:nvSpPr>
          <p:spPr bwMode="auto">
            <a:xfrm>
              <a:off x="3221985" y="5679025"/>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M</a:t>
              </a:r>
            </a:p>
          </p:txBody>
        </p:sp>
        <p:sp>
          <p:nvSpPr>
            <p:cNvPr id="38" name="Rectangle 73">
              <a:extLst>
                <a:ext uri="{FF2B5EF4-FFF2-40B4-BE49-F238E27FC236}">
                  <a16:creationId xmlns:a16="http://schemas.microsoft.com/office/drawing/2014/main" id="{4089E6BC-F847-DDE2-4382-1FDDD80E3F9B}"/>
                </a:ext>
              </a:extLst>
            </p:cNvPr>
            <p:cNvSpPr>
              <a:spLocks noChangeArrowheads="1"/>
            </p:cNvSpPr>
            <p:nvPr/>
          </p:nvSpPr>
          <p:spPr bwMode="auto">
            <a:xfrm>
              <a:off x="3671990" y="5679025"/>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W</a:t>
              </a:r>
            </a:p>
          </p:txBody>
        </p:sp>
      </p:grpSp>
      <p:cxnSp>
        <p:nvCxnSpPr>
          <p:cNvPr id="39" name="直線矢印コネクタ 38">
            <a:extLst>
              <a:ext uri="{FF2B5EF4-FFF2-40B4-BE49-F238E27FC236}">
                <a16:creationId xmlns:a16="http://schemas.microsoft.com/office/drawing/2014/main" id="{2353229E-8040-22DD-20C7-2B108C34851A}"/>
              </a:ext>
            </a:extLst>
          </p:cNvPr>
          <p:cNvCxnSpPr>
            <a:cxnSpLocks/>
          </p:cNvCxnSpPr>
          <p:nvPr/>
        </p:nvCxnSpPr>
        <p:spPr bwMode="auto">
          <a:xfrm>
            <a:off x="5922015" y="3699003"/>
            <a:ext cx="1800020" cy="0"/>
          </a:xfrm>
          <a:prstGeom prst="straightConnector1">
            <a:avLst/>
          </a:prstGeom>
          <a:noFill/>
          <a:ln w="9525" cap="flat" cmpd="sng" algn="ctr">
            <a:solidFill>
              <a:schemeClr val="tx1">
                <a:lumMod val="75000"/>
                <a:lumOff val="25000"/>
              </a:schemeClr>
            </a:solidFill>
            <a:prstDash val="solid"/>
            <a:round/>
            <a:headEnd type="triangle" w="med" len="med"/>
            <a:tailEnd type="triangle"/>
          </a:ln>
          <a:effectLst/>
        </p:spPr>
      </p:cxnSp>
      <p:sp>
        <p:nvSpPr>
          <p:cNvPr id="40" name="正方形/長方形 39">
            <a:extLst>
              <a:ext uri="{FF2B5EF4-FFF2-40B4-BE49-F238E27FC236}">
                <a16:creationId xmlns:a16="http://schemas.microsoft.com/office/drawing/2014/main" id="{3E3402DC-3228-C709-6E8B-B0C4B65B4D77}"/>
              </a:ext>
            </a:extLst>
          </p:cNvPr>
          <p:cNvSpPr/>
          <p:nvPr/>
        </p:nvSpPr>
        <p:spPr>
          <a:xfrm>
            <a:off x="6552022" y="3338998"/>
            <a:ext cx="540005" cy="270003"/>
          </a:xfrm>
          <a:prstGeom prst="rect">
            <a:avLst/>
          </a:prstGeom>
        </p:spPr>
        <p:txBody>
          <a:bodyPr wrap="none">
            <a:noAutofit/>
          </a:bodyPr>
          <a:lstStyle/>
          <a:p>
            <a:pPr algn="ctr"/>
            <a:r>
              <a:rPr lang="en-US" altLang="ja-JP" dirty="0">
                <a:solidFill>
                  <a:schemeClr val="tx1">
                    <a:lumMod val="65000"/>
                    <a:lumOff val="35000"/>
                  </a:schemeClr>
                </a:solidFill>
              </a:rPr>
              <a:t>4 cycle</a:t>
            </a:r>
            <a:endParaRPr lang="ja-JP" altLang="en-US" dirty="0">
              <a:solidFill>
                <a:schemeClr val="tx1">
                  <a:lumMod val="65000"/>
                  <a:lumOff val="35000"/>
                </a:schemeClr>
              </a:solidFill>
            </a:endParaRPr>
          </a:p>
        </p:txBody>
      </p:sp>
      <p:cxnSp>
        <p:nvCxnSpPr>
          <p:cNvPr id="41" name="直線矢印コネクタ 40">
            <a:extLst>
              <a:ext uri="{FF2B5EF4-FFF2-40B4-BE49-F238E27FC236}">
                <a16:creationId xmlns:a16="http://schemas.microsoft.com/office/drawing/2014/main" id="{E24E8FF0-92DC-70C9-9D95-321DDB3CD3A8}"/>
              </a:ext>
            </a:extLst>
          </p:cNvPr>
          <p:cNvCxnSpPr>
            <a:cxnSpLocks/>
          </p:cNvCxnSpPr>
          <p:nvPr/>
        </p:nvCxnSpPr>
        <p:spPr bwMode="auto">
          <a:xfrm>
            <a:off x="5922015" y="1628980"/>
            <a:ext cx="0" cy="2340026"/>
          </a:xfrm>
          <a:prstGeom prst="straightConnector1">
            <a:avLst/>
          </a:prstGeom>
          <a:noFill/>
          <a:ln w="6350" cap="flat" cmpd="sng" algn="ctr">
            <a:solidFill>
              <a:schemeClr val="tx1">
                <a:lumMod val="75000"/>
                <a:lumOff val="25000"/>
              </a:schemeClr>
            </a:solidFill>
            <a:prstDash val="solid"/>
            <a:round/>
            <a:headEnd type="none" w="med" len="med"/>
            <a:tailEnd type="none"/>
          </a:ln>
          <a:effectLst/>
        </p:spPr>
      </p:cxnSp>
    </p:spTree>
    <p:extLst>
      <p:ext uri="{BB962C8B-B14F-4D97-AF65-F5344CB8AC3E}">
        <p14:creationId xmlns:p14="http://schemas.microsoft.com/office/powerpoint/2010/main" val="163256196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D980B11-33F7-EE11-FCE5-7E18DFB99CF7}"/>
              </a:ext>
            </a:extLst>
          </p:cNvPr>
          <p:cNvSpPr>
            <a:spLocks noGrp="1"/>
          </p:cNvSpPr>
          <p:nvPr>
            <p:ph type="title"/>
          </p:nvPr>
        </p:nvSpPr>
        <p:spPr/>
        <p:txBody>
          <a:bodyPr/>
          <a:lstStyle/>
          <a:p>
            <a:r>
              <a:rPr kumimoji="1" lang="ja-JP" altLang="en-US" dirty="0"/>
              <a:t>ハザードによる </a:t>
            </a:r>
            <a:r>
              <a:rPr kumimoji="1" lang="en-US" altLang="ja-JP" dirty="0"/>
              <a:t>IPC </a:t>
            </a:r>
            <a:r>
              <a:rPr kumimoji="1" lang="ja-JP" altLang="en-US" dirty="0"/>
              <a:t>の低下</a:t>
            </a:r>
            <a:endParaRPr kumimoji="1" lang="en-US" dirty="0"/>
          </a:p>
        </p:txBody>
      </p:sp>
      <p:sp>
        <p:nvSpPr>
          <p:cNvPr id="3" name="コンテンツ プレースホルダー 2">
            <a:extLst>
              <a:ext uri="{FF2B5EF4-FFF2-40B4-BE49-F238E27FC236}">
                <a16:creationId xmlns:a16="http://schemas.microsoft.com/office/drawing/2014/main" id="{721CB15D-2AFE-CBB3-A07D-7338C1E3DD42}"/>
              </a:ext>
            </a:extLst>
          </p:cNvPr>
          <p:cNvSpPr>
            <a:spLocks noGrp="1"/>
          </p:cNvSpPr>
          <p:nvPr>
            <p:ph sz="quarter" idx="10"/>
          </p:nvPr>
        </p:nvSpPr>
        <p:spPr/>
        <p:txBody>
          <a:bodyPr/>
          <a:lstStyle/>
          <a:p>
            <a:r>
              <a:rPr kumimoji="1" lang="ja-JP" altLang="en-US" dirty="0"/>
              <a:t>以下を例として，具体的な </a:t>
            </a:r>
            <a:r>
              <a:rPr kumimoji="1" lang="en-US" altLang="ja-JP" dirty="0"/>
              <a:t>IPC </a:t>
            </a:r>
            <a:r>
              <a:rPr kumimoji="1" lang="ja-JP" altLang="en-US" dirty="0"/>
              <a:t>の数字の変化を説明</a:t>
            </a:r>
            <a:endParaRPr kumimoji="1" lang="en-US" altLang="ja-JP" dirty="0"/>
          </a:p>
          <a:p>
            <a:pPr lvl="1"/>
            <a:r>
              <a:rPr kumimoji="1" lang="ja-JP" altLang="en-US" dirty="0"/>
              <a:t>分岐予測ミス</a:t>
            </a:r>
            <a:endParaRPr kumimoji="1" lang="en-US" altLang="ja-JP" dirty="0"/>
          </a:p>
          <a:p>
            <a:pPr lvl="1"/>
            <a:r>
              <a:rPr kumimoji="1" lang="ja-JP" altLang="en-US" dirty="0">
                <a:solidFill>
                  <a:schemeClr val="accent5"/>
                </a:solidFill>
              </a:rPr>
              <a:t>ロードに依存した命令によるデータハザード</a:t>
            </a:r>
            <a:endParaRPr kumimoji="1" lang="en-US" altLang="ja-JP" dirty="0">
              <a:solidFill>
                <a:schemeClr val="accent5"/>
              </a:solidFill>
            </a:endParaRPr>
          </a:p>
        </p:txBody>
      </p:sp>
    </p:spTree>
    <p:extLst>
      <p:ext uri="{BB962C8B-B14F-4D97-AF65-F5344CB8AC3E}">
        <p14:creationId xmlns:p14="http://schemas.microsoft.com/office/powerpoint/2010/main" val="170732316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9849BE9-D698-A3D1-291A-36A425966451}"/>
              </a:ext>
            </a:extLst>
          </p:cNvPr>
          <p:cNvSpPr>
            <a:spLocks noGrp="1"/>
          </p:cNvSpPr>
          <p:nvPr>
            <p:ph type="title"/>
          </p:nvPr>
        </p:nvSpPr>
        <p:spPr/>
        <p:txBody>
          <a:bodyPr/>
          <a:lstStyle/>
          <a:p>
            <a:r>
              <a:rPr kumimoji="1" lang="ja-JP" altLang="en-US" dirty="0"/>
              <a:t>ロードに依存した命令によるデータハザード</a:t>
            </a:r>
            <a:endParaRPr kumimoji="1" lang="en-US" dirty="0"/>
          </a:p>
        </p:txBody>
      </p:sp>
      <p:sp>
        <p:nvSpPr>
          <p:cNvPr id="4" name="コンテンツ プレースホルダー 34">
            <a:extLst>
              <a:ext uri="{FF2B5EF4-FFF2-40B4-BE49-F238E27FC236}">
                <a16:creationId xmlns:a16="http://schemas.microsoft.com/office/drawing/2014/main" id="{79DDCD81-2276-0A6F-727D-8087EBF8CD83}"/>
              </a:ext>
            </a:extLst>
          </p:cNvPr>
          <p:cNvSpPr txBox="1">
            <a:spLocks/>
          </p:cNvSpPr>
          <p:nvPr/>
        </p:nvSpPr>
        <p:spPr bwMode="auto">
          <a:xfrm>
            <a:off x="431954" y="5949028"/>
            <a:ext cx="8280859" cy="63000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lumMod val="60000"/>
                  <a:lumOff val="40000"/>
                </a:schemeClr>
              </a:buClr>
              <a:buSzPct val="90000"/>
              <a:buFont typeface="Wingdings" panose="05000000000000000000" pitchFamily="2" charset="2"/>
              <a:buChar char="l"/>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300"/>
              </a:spcAft>
              <a:buClr>
                <a:schemeClr val="accent4">
                  <a:lumMod val="60000"/>
                  <a:lumOff val="40000"/>
                </a:schemeClr>
              </a:buClr>
              <a:buSzPct val="7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300"/>
              </a:spcBef>
              <a:spcAft>
                <a:spcPts val="300"/>
              </a:spcAft>
              <a:buClr>
                <a:schemeClr val="accent4">
                  <a:lumMod val="60000"/>
                  <a:lumOff val="40000"/>
                </a:schemeClr>
              </a:buClr>
              <a:buSzPct val="6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300"/>
              </a:spcAft>
              <a:buClr>
                <a:schemeClr val="accent4">
                  <a:lumMod val="60000"/>
                  <a:lumOff val="40000"/>
                </a:schemeClr>
              </a:buClr>
              <a:buSzPct val="8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5pPr>
            <a:lvl6pPr marL="18859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6pPr>
            <a:lvl7pPr marL="22288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7pPr>
            <a:lvl8pPr marL="25717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8pPr>
            <a:lvl9pPr marL="29146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9pPr>
          </a:lstStyle>
          <a:p>
            <a:pPr lvl="1"/>
            <a:r>
              <a:rPr lang="ja-JP" altLang="en-US" kern="0" dirty="0">
                <a:solidFill>
                  <a:schemeClr val="tx1">
                    <a:lumMod val="65000"/>
                    <a:lumOff val="35000"/>
                  </a:schemeClr>
                </a:solidFill>
                <a:latin typeface="Consolas" panose="020B0609020204030204" pitchFamily="49" charset="0"/>
              </a:rPr>
              <a:t>パイプライン全体が，理想的な場合と比べて</a:t>
            </a:r>
            <a:br>
              <a:rPr lang="en-US" altLang="ja-JP" kern="0" dirty="0">
                <a:solidFill>
                  <a:schemeClr val="tx1">
                    <a:lumMod val="65000"/>
                    <a:lumOff val="35000"/>
                  </a:schemeClr>
                </a:solidFill>
                <a:latin typeface="Consolas" panose="020B0609020204030204" pitchFamily="49" charset="0"/>
              </a:rPr>
            </a:br>
            <a:r>
              <a:rPr lang="ja-JP" altLang="en-US" kern="0" dirty="0">
                <a:solidFill>
                  <a:schemeClr val="tx1">
                    <a:lumMod val="65000"/>
                    <a:lumOff val="35000"/>
                  </a:schemeClr>
                </a:solidFill>
                <a:latin typeface="Consolas" panose="020B0609020204030204" pitchFamily="49" charset="0"/>
              </a:rPr>
              <a:t>１サイクル遅れている</a:t>
            </a:r>
            <a:endParaRPr lang="en-US" altLang="ja-JP" kern="0" dirty="0">
              <a:solidFill>
                <a:schemeClr val="tx1">
                  <a:lumMod val="65000"/>
                  <a:lumOff val="35000"/>
                </a:schemeClr>
              </a:solidFill>
              <a:latin typeface="Consolas" panose="020B0609020204030204" pitchFamily="49" charset="0"/>
            </a:endParaRPr>
          </a:p>
        </p:txBody>
      </p:sp>
      <p:sp>
        <p:nvSpPr>
          <p:cNvPr id="5" name="正方形/長方形 4">
            <a:extLst>
              <a:ext uri="{FF2B5EF4-FFF2-40B4-BE49-F238E27FC236}">
                <a16:creationId xmlns:a16="http://schemas.microsoft.com/office/drawing/2014/main" id="{406A156B-DC63-6B9C-C9F2-16CAD6A2BDE2}"/>
              </a:ext>
            </a:extLst>
          </p:cNvPr>
          <p:cNvSpPr/>
          <p:nvPr/>
        </p:nvSpPr>
        <p:spPr>
          <a:xfrm>
            <a:off x="341953" y="1988984"/>
            <a:ext cx="450005" cy="369332"/>
          </a:xfrm>
          <a:prstGeom prst="rect">
            <a:avLst/>
          </a:prstGeom>
        </p:spPr>
        <p:txBody>
          <a:bodyPr wrap="square">
            <a:spAutoFit/>
          </a:bodyPr>
          <a:lstStyle/>
          <a:p>
            <a:pPr algn="ctr"/>
            <a:r>
              <a:rPr lang="en-US" altLang="ja-JP" dirty="0">
                <a:solidFill>
                  <a:schemeClr val="tx1">
                    <a:lumMod val="65000"/>
                    <a:lumOff val="35000"/>
                  </a:schemeClr>
                </a:solidFill>
                <a:latin typeface="Consolas" panose="020B0609020204030204" pitchFamily="49" charset="0"/>
              </a:rPr>
              <a:t>I0 </a:t>
            </a:r>
            <a:endParaRPr lang="ja-JP" altLang="en-US" dirty="0">
              <a:solidFill>
                <a:schemeClr val="tx1">
                  <a:lumMod val="65000"/>
                  <a:lumOff val="35000"/>
                </a:schemeClr>
              </a:solidFill>
              <a:latin typeface="Consolas" panose="020B0609020204030204" pitchFamily="49" charset="0"/>
            </a:endParaRPr>
          </a:p>
        </p:txBody>
      </p:sp>
      <p:sp>
        <p:nvSpPr>
          <p:cNvPr id="6" name="正方形/長方形 5">
            <a:extLst>
              <a:ext uri="{FF2B5EF4-FFF2-40B4-BE49-F238E27FC236}">
                <a16:creationId xmlns:a16="http://schemas.microsoft.com/office/drawing/2014/main" id="{F69ADC3C-71EF-2570-E0DE-071896053B1C}"/>
              </a:ext>
            </a:extLst>
          </p:cNvPr>
          <p:cNvSpPr/>
          <p:nvPr/>
        </p:nvSpPr>
        <p:spPr>
          <a:xfrm>
            <a:off x="341953" y="2438989"/>
            <a:ext cx="450005" cy="369332"/>
          </a:xfrm>
          <a:prstGeom prst="rect">
            <a:avLst/>
          </a:prstGeom>
        </p:spPr>
        <p:txBody>
          <a:bodyPr wrap="square">
            <a:spAutoFit/>
          </a:bodyPr>
          <a:lstStyle/>
          <a:p>
            <a:pPr algn="ctr"/>
            <a:r>
              <a:rPr lang="en-US" altLang="ja-JP" dirty="0">
                <a:solidFill>
                  <a:schemeClr val="tx1">
                    <a:lumMod val="65000"/>
                    <a:lumOff val="35000"/>
                  </a:schemeClr>
                </a:solidFill>
                <a:latin typeface="Consolas" panose="020B0609020204030204" pitchFamily="49" charset="0"/>
              </a:rPr>
              <a:t>I1</a:t>
            </a:r>
            <a:endParaRPr lang="ja-JP" altLang="en-US" dirty="0">
              <a:solidFill>
                <a:schemeClr val="tx1">
                  <a:lumMod val="65000"/>
                  <a:lumOff val="35000"/>
                </a:schemeClr>
              </a:solidFill>
              <a:latin typeface="Consolas" panose="020B0609020204030204" pitchFamily="49" charset="0"/>
            </a:endParaRPr>
          </a:p>
        </p:txBody>
      </p:sp>
      <p:sp>
        <p:nvSpPr>
          <p:cNvPr id="7" name="正方形/長方形 6">
            <a:extLst>
              <a:ext uri="{FF2B5EF4-FFF2-40B4-BE49-F238E27FC236}">
                <a16:creationId xmlns:a16="http://schemas.microsoft.com/office/drawing/2014/main" id="{82FE1F6B-4B2A-3134-C916-58EA44515BA7}"/>
              </a:ext>
            </a:extLst>
          </p:cNvPr>
          <p:cNvSpPr/>
          <p:nvPr/>
        </p:nvSpPr>
        <p:spPr>
          <a:xfrm>
            <a:off x="341953" y="2888994"/>
            <a:ext cx="450005" cy="369332"/>
          </a:xfrm>
          <a:prstGeom prst="rect">
            <a:avLst/>
          </a:prstGeom>
        </p:spPr>
        <p:txBody>
          <a:bodyPr wrap="square">
            <a:spAutoFit/>
          </a:bodyPr>
          <a:lstStyle/>
          <a:p>
            <a:pPr algn="ctr"/>
            <a:r>
              <a:rPr lang="en-US" altLang="ja-JP" dirty="0">
                <a:solidFill>
                  <a:schemeClr val="tx1">
                    <a:lumMod val="65000"/>
                    <a:lumOff val="35000"/>
                  </a:schemeClr>
                </a:solidFill>
                <a:latin typeface="Consolas" panose="020B0609020204030204" pitchFamily="49" charset="0"/>
              </a:rPr>
              <a:t>I2</a:t>
            </a:r>
            <a:endParaRPr lang="ja-JP" altLang="en-US" dirty="0">
              <a:solidFill>
                <a:schemeClr val="tx1">
                  <a:lumMod val="65000"/>
                  <a:lumOff val="35000"/>
                </a:schemeClr>
              </a:solidFill>
              <a:latin typeface="Consolas" panose="020B0609020204030204" pitchFamily="49" charset="0"/>
            </a:endParaRPr>
          </a:p>
        </p:txBody>
      </p:sp>
      <p:sp>
        <p:nvSpPr>
          <p:cNvPr id="8" name="Rectangle 69">
            <a:extLst>
              <a:ext uri="{FF2B5EF4-FFF2-40B4-BE49-F238E27FC236}">
                <a16:creationId xmlns:a16="http://schemas.microsoft.com/office/drawing/2014/main" id="{6CDCA5E1-1D16-0EC4-2036-ED6808148BBA}"/>
              </a:ext>
            </a:extLst>
          </p:cNvPr>
          <p:cNvSpPr>
            <a:spLocks noChangeArrowheads="1"/>
          </p:cNvSpPr>
          <p:nvPr/>
        </p:nvSpPr>
        <p:spPr bwMode="auto">
          <a:xfrm>
            <a:off x="3131985" y="1988984"/>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9" name="Rectangle 70">
            <a:extLst>
              <a:ext uri="{FF2B5EF4-FFF2-40B4-BE49-F238E27FC236}">
                <a16:creationId xmlns:a16="http://schemas.microsoft.com/office/drawing/2014/main" id="{3056EF5F-22EE-96C9-0A6C-9438EB7E9B10}"/>
              </a:ext>
            </a:extLst>
          </p:cNvPr>
          <p:cNvSpPr>
            <a:spLocks noChangeArrowheads="1"/>
          </p:cNvSpPr>
          <p:nvPr/>
        </p:nvSpPr>
        <p:spPr bwMode="auto">
          <a:xfrm>
            <a:off x="3581988" y="1988984"/>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D</a:t>
            </a:r>
          </a:p>
        </p:txBody>
      </p:sp>
      <p:sp>
        <p:nvSpPr>
          <p:cNvPr id="10" name="Rectangle 71">
            <a:extLst>
              <a:ext uri="{FF2B5EF4-FFF2-40B4-BE49-F238E27FC236}">
                <a16:creationId xmlns:a16="http://schemas.microsoft.com/office/drawing/2014/main" id="{8084D93D-26D5-CE09-7BEA-45294BB59633}"/>
              </a:ext>
            </a:extLst>
          </p:cNvPr>
          <p:cNvSpPr>
            <a:spLocks noChangeArrowheads="1"/>
          </p:cNvSpPr>
          <p:nvPr/>
        </p:nvSpPr>
        <p:spPr bwMode="auto">
          <a:xfrm>
            <a:off x="4031994" y="1988984"/>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X</a:t>
            </a:r>
          </a:p>
        </p:txBody>
      </p:sp>
      <p:sp>
        <p:nvSpPr>
          <p:cNvPr id="11" name="Rectangle 72">
            <a:extLst>
              <a:ext uri="{FF2B5EF4-FFF2-40B4-BE49-F238E27FC236}">
                <a16:creationId xmlns:a16="http://schemas.microsoft.com/office/drawing/2014/main" id="{1BC8A31E-A114-C52C-D132-921C32395D4C}"/>
              </a:ext>
            </a:extLst>
          </p:cNvPr>
          <p:cNvSpPr>
            <a:spLocks noChangeArrowheads="1"/>
          </p:cNvSpPr>
          <p:nvPr/>
        </p:nvSpPr>
        <p:spPr bwMode="auto">
          <a:xfrm>
            <a:off x="4481999" y="1988984"/>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M</a:t>
            </a:r>
          </a:p>
        </p:txBody>
      </p:sp>
      <p:sp>
        <p:nvSpPr>
          <p:cNvPr id="12" name="Rectangle 73">
            <a:extLst>
              <a:ext uri="{FF2B5EF4-FFF2-40B4-BE49-F238E27FC236}">
                <a16:creationId xmlns:a16="http://schemas.microsoft.com/office/drawing/2014/main" id="{911B3E5F-CD12-8F84-32E9-E1B3EBFEBE31}"/>
              </a:ext>
            </a:extLst>
          </p:cNvPr>
          <p:cNvSpPr>
            <a:spLocks noChangeArrowheads="1"/>
          </p:cNvSpPr>
          <p:nvPr/>
        </p:nvSpPr>
        <p:spPr bwMode="auto">
          <a:xfrm>
            <a:off x="4932004" y="1988984"/>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W</a:t>
            </a:r>
          </a:p>
        </p:txBody>
      </p:sp>
      <p:sp>
        <p:nvSpPr>
          <p:cNvPr id="13" name="Rectangle 69">
            <a:extLst>
              <a:ext uri="{FF2B5EF4-FFF2-40B4-BE49-F238E27FC236}">
                <a16:creationId xmlns:a16="http://schemas.microsoft.com/office/drawing/2014/main" id="{D9327406-6B72-05C8-8079-46CF0BB96FC6}"/>
              </a:ext>
            </a:extLst>
          </p:cNvPr>
          <p:cNvSpPr>
            <a:spLocks noChangeArrowheads="1"/>
          </p:cNvSpPr>
          <p:nvPr/>
        </p:nvSpPr>
        <p:spPr bwMode="auto">
          <a:xfrm>
            <a:off x="3581992" y="2438989"/>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14" name="Rectangle 70">
            <a:extLst>
              <a:ext uri="{FF2B5EF4-FFF2-40B4-BE49-F238E27FC236}">
                <a16:creationId xmlns:a16="http://schemas.microsoft.com/office/drawing/2014/main" id="{8734414C-2ED0-825A-4FDC-AD221C9D562D}"/>
              </a:ext>
            </a:extLst>
          </p:cNvPr>
          <p:cNvSpPr>
            <a:spLocks noChangeArrowheads="1"/>
          </p:cNvSpPr>
          <p:nvPr/>
        </p:nvSpPr>
        <p:spPr bwMode="auto">
          <a:xfrm>
            <a:off x="4031995" y="2438989"/>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D</a:t>
            </a:r>
          </a:p>
        </p:txBody>
      </p:sp>
      <p:sp>
        <p:nvSpPr>
          <p:cNvPr id="15" name="Rectangle 71">
            <a:extLst>
              <a:ext uri="{FF2B5EF4-FFF2-40B4-BE49-F238E27FC236}">
                <a16:creationId xmlns:a16="http://schemas.microsoft.com/office/drawing/2014/main" id="{5F0344EC-28C1-989B-79EE-7CD69B31E89E}"/>
              </a:ext>
            </a:extLst>
          </p:cNvPr>
          <p:cNvSpPr>
            <a:spLocks noChangeArrowheads="1"/>
          </p:cNvSpPr>
          <p:nvPr/>
        </p:nvSpPr>
        <p:spPr bwMode="auto">
          <a:xfrm>
            <a:off x="4482001" y="2438989"/>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X</a:t>
            </a:r>
          </a:p>
        </p:txBody>
      </p:sp>
      <p:sp>
        <p:nvSpPr>
          <p:cNvPr id="16" name="Rectangle 72">
            <a:extLst>
              <a:ext uri="{FF2B5EF4-FFF2-40B4-BE49-F238E27FC236}">
                <a16:creationId xmlns:a16="http://schemas.microsoft.com/office/drawing/2014/main" id="{0E27937C-995F-060F-8BDA-5A17C2F9825A}"/>
              </a:ext>
            </a:extLst>
          </p:cNvPr>
          <p:cNvSpPr>
            <a:spLocks noChangeArrowheads="1"/>
          </p:cNvSpPr>
          <p:nvPr/>
        </p:nvSpPr>
        <p:spPr bwMode="auto">
          <a:xfrm>
            <a:off x="4932006" y="2438989"/>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M</a:t>
            </a:r>
          </a:p>
        </p:txBody>
      </p:sp>
      <p:sp>
        <p:nvSpPr>
          <p:cNvPr id="17" name="Rectangle 73">
            <a:extLst>
              <a:ext uri="{FF2B5EF4-FFF2-40B4-BE49-F238E27FC236}">
                <a16:creationId xmlns:a16="http://schemas.microsoft.com/office/drawing/2014/main" id="{F252315E-7CCD-E558-3565-32D48FB3B0C8}"/>
              </a:ext>
            </a:extLst>
          </p:cNvPr>
          <p:cNvSpPr>
            <a:spLocks noChangeArrowheads="1"/>
          </p:cNvSpPr>
          <p:nvPr/>
        </p:nvSpPr>
        <p:spPr bwMode="auto">
          <a:xfrm>
            <a:off x="5382011" y="2438989"/>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W</a:t>
            </a:r>
          </a:p>
        </p:txBody>
      </p:sp>
      <p:sp>
        <p:nvSpPr>
          <p:cNvPr id="18" name="Rectangle 69">
            <a:extLst>
              <a:ext uri="{FF2B5EF4-FFF2-40B4-BE49-F238E27FC236}">
                <a16:creationId xmlns:a16="http://schemas.microsoft.com/office/drawing/2014/main" id="{CD145C8B-8CED-399A-8939-81236A9ADE72}"/>
              </a:ext>
            </a:extLst>
          </p:cNvPr>
          <p:cNvSpPr>
            <a:spLocks noChangeArrowheads="1"/>
          </p:cNvSpPr>
          <p:nvPr/>
        </p:nvSpPr>
        <p:spPr bwMode="auto">
          <a:xfrm>
            <a:off x="4031996" y="2888994"/>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19" name="Rectangle 70">
            <a:extLst>
              <a:ext uri="{FF2B5EF4-FFF2-40B4-BE49-F238E27FC236}">
                <a16:creationId xmlns:a16="http://schemas.microsoft.com/office/drawing/2014/main" id="{6D6F90DA-5FA4-6CC8-CC0C-E9D671D2B9EF}"/>
              </a:ext>
            </a:extLst>
          </p:cNvPr>
          <p:cNvSpPr>
            <a:spLocks noChangeArrowheads="1"/>
          </p:cNvSpPr>
          <p:nvPr/>
        </p:nvSpPr>
        <p:spPr bwMode="auto">
          <a:xfrm>
            <a:off x="4481999" y="2888994"/>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D</a:t>
            </a:r>
          </a:p>
        </p:txBody>
      </p:sp>
      <p:sp>
        <p:nvSpPr>
          <p:cNvPr id="20" name="Rectangle 71">
            <a:extLst>
              <a:ext uri="{FF2B5EF4-FFF2-40B4-BE49-F238E27FC236}">
                <a16:creationId xmlns:a16="http://schemas.microsoft.com/office/drawing/2014/main" id="{5BFFDE02-871F-7639-87AA-BD4771ABBB84}"/>
              </a:ext>
            </a:extLst>
          </p:cNvPr>
          <p:cNvSpPr>
            <a:spLocks noChangeArrowheads="1"/>
          </p:cNvSpPr>
          <p:nvPr/>
        </p:nvSpPr>
        <p:spPr bwMode="auto">
          <a:xfrm>
            <a:off x="4932005" y="2888994"/>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X</a:t>
            </a:r>
          </a:p>
        </p:txBody>
      </p:sp>
      <p:sp>
        <p:nvSpPr>
          <p:cNvPr id="21" name="Rectangle 72">
            <a:extLst>
              <a:ext uri="{FF2B5EF4-FFF2-40B4-BE49-F238E27FC236}">
                <a16:creationId xmlns:a16="http://schemas.microsoft.com/office/drawing/2014/main" id="{3A4DD6BF-4DB3-26BF-C302-39350BE8F412}"/>
              </a:ext>
            </a:extLst>
          </p:cNvPr>
          <p:cNvSpPr>
            <a:spLocks noChangeArrowheads="1"/>
          </p:cNvSpPr>
          <p:nvPr/>
        </p:nvSpPr>
        <p:spPr bwMode="auto">
          <a:xfrm>
            <a:off x="5382010" y="2888994"/>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M</a:t>
            </a:r>
          </a:p>
        </p:txBody>
      </p:sp>
      <p:sp>
        <p:nvSpPr>
          <p:cNvPr id="22" name="Rectangle 73">
            <a:extLst>
              <a:ext uri="{FF2B5EF4-FFF2-40B4-BE49-F238E27FC236}">
                <a16:creationId xmlns:a16="http://schemas.microsoft.com/office/drawing/2014/main" id="{77C3551B-96B0-A8B5-1701-C17206EF7ED7}"/>
              </a:ext>
            </a:extLst>
          </p:cNvPr>
          <p:cNvSpPr>
            <a:spLocks noChangeArrowheads="1"/>
          </p:cNvSpPr>
          <p:nvPr/>
        </p:nvSpPr>
        <p:spPr bwMode="auto">
          <a:xfrm>
            <a:off x="5832015" y="2888994"/>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W</a:t>
            </a:r>
          </a:p>
        </p:txBody>
      </p:sp>
      <p:sp>
        <p:nvSpPr>
          <p:cNvPr id="23" name="正方形/長方形 22">
            <a:extLst>
              <a:ext uri="{FF2B5EF4-FFF2-40B4-BE49-F238E27FC236}">
                <a16:creationId xmlns:a16="http://schemas.microsoft.com/office/drawing/2014/main" id="{DB73E7F8-33F6-F649-8C88-78C57D69D485}"/>
              </a:ext>
            </a:extLst>
          </p:cNvPr>
          <p:cNvSpPr/>
          <p:nvPr/>
        </p:nvSpPr>
        <p:spPr>
          <a:xfrm>
            <a:off x="341953" y="4149008"/>
            <a:ext cx="450005" cy="360004"/>
          </a:xfrm>
          <a:prstGeom prst="rect">
            <a:avLst/>
          </a:prstGeom>
        </p:spPr>
        <p:txBody>
          <a:bodyPr wrap="none">
            <a:noAutofit/>
          </a:bodyPr>
          <a:lstStyle/>
          <a:p>
            <a:r>
              <a:rPr lang="en-US" altLang="ja-JP" dirty="0">
                <a:solidFill>
                  <a:schemeClr val="tx1">
                    <a:lumMod val="65000"/>
                    <a:lumOff val="35000"/>
                  </a:schemeClr>
                </a:solidFill>
                <a:latin typeface="Consolas" panose="020B0609020204030204" pitchFamily="49" charset="0"/>
              </a:rPr>
              <a:t>I0: ld </a:t>
            </a:r>
            <a:r>
              <a:rPr lang="en-US" altLang="ja-JP" dirty="0">
                <a:solidFill>
                  <a:schemeClr val="accent5"/>
                </a:solidFill>
                <a:latin typeface="Consolas" panose="020B0609020204030204" pitchFamily="49" charset="0"/>
              </a:rPr>
              <a:t>x1</a:t>
            </a:r>
            <a:r>
              <a:rPr lang="ja-JP" altLang="en-US" dirty="0">
                <a:solidFill>
                  <a:schemeClr val="tx1">
                    <a:lumMod val="65000"/>
                    <a:lumOff val="35000"/>
                  </a:schemeClr>
                </a:solidFill>
                <a:latin typeface="Consolas" panose="020B0609020204030204" pitchFamily="49" charset="0"/>
              </a:rPr>
              <a:t>←</a:t>
            </a:r>
            <a:r>
              <a:rPr lang="en-US" altLang="ja-JP" dirty="0">
                <a:solidFill>
                  <a:schemeClr val="tx1">
                    <a:lumMod val="65000"/>
                    <a:lumOff val="35000"/>
                  </a:schemeClr>
                </a:solidFill>
                <a:latin typeface="Consolas" panose="020B0609020204030204" pitchFamily="49" charset="0"/>
              </a:rPr>
              <a:t>(x2)</a:t>
            </a:r>
            <a:endParaRPr lang="ja-JP" altLang="en-US" dirty="0">
              <a:solidFill>
                <a:schemeClr val="tx1">
                  <a:lumMod val="65000"/>
                  <a:lumOff val="35000"/>
                </a:schemeClr>
              </a:solidFill>
              <a:latin typeface="Consolas" panose="020B0609020204030204" pitchFamily="49" charset="0"/>
            </a:endParaRPr>
          </a:p>
        </p:txBody>
      </p:sp>
      <p:sp>
        <p:nvSpPr>
          <p:cNvPr id="26" name="Rectangle 69">
            <a:extLst>
              <a:ext uri="{FF2B5EF4-FFF2-40B4-BE49-F238E27FC236}">
                <a16:creationId xmlns:a16="http://schemas.microsoft.com/office/drawing/2014/main" id="{F2A4A1B0-6A4A-2AB7-6939-9C61E3052B6C}"/>
              </a:ext>
            </a:extLst>
          </p:cNvPr>
          <p:cNvSpPr>
            <a:spLocks noChangeArrowheads="1"/>
          </p:cNvSpPr>
          <p:nvPr/>
        </p:nvSpPr>
        <p:spPr bwMode="auto">
          <a:xfrm>
            <a:off x="3131985" y="4149008"/>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27" name="Rectangle 70">
            <a:extLst>
              <a:ext uri="{FF2B5EF4-FFF2-40B4-BE49-F238E27FC236}">
                <a16:creationId xmlns:a16="http://schemas.microsoft.com/office/drawing/2014/main" id="{FE18DC80-E387-6284-6D95-729875F95009}"/>
              </a:ext>
            </a:extLst>
          </p:cNvPr>
          <p:cNvSpPr>
            <a:spLocks noChangeArrowheads="1"/>
          </p:cNvSpPr>
          <p:nvPr/>
        </p:nvSpPr>
        <p:spPr bwMode="auto">
          <a:xfrm>
            <a:off x="3581988" y="4149008"/>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D</a:t>
            </a:r>
          </a:p>
        </p:txBody>
      </p:sp>
      <p:sp>
        <p:nvSpPr>
          <p:cNvPr id="28" name="Rectangle 71">
            <a:extLst>
              <a:ext uri="{FF2B5EF4-FFF2-40B4-BE49-F238E27FC236}">
                <a16:creationId xmlns:a16="http://schemas.microsoft.com/office/drawing/2014/main" id="{91F4E788-7463-DB0C-963D-C0A1CDF06C4C}"/>
              </a:ext>
            </a:extLst>
          </p:cNvPr>
          <p:cNvSpPr>
            <a:spLocks noChangeArrowheads="1"/>
          </p:cNvSpPr>
          <p:nvPr/>
        </p:nvSpPr>
        <p:spPr bwMode="auto">
          <a:xfrm>
            <a:off x="4031994" y="4149008"/>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X</a:t>
            </a:r>
          </a:p>
        </p:txBody>
      </p:sp>
      <p:sp>
        <p:nvSpPr>
          <p:cNvPr id="29" name="Rectangle 72">
            <a:extLst>
              <a:ext uri="{FF2B5EF4-FFF2-40B4-BE49-F238E27FC236}">
                <a16:creationId xmlns:a16="http://schemas.microsoft.com/office/drawing/2014/main" id="{9B8080CE-FB3D-2FAD-23BE-60B30F325DBF}"/>
              </a:ext>
            </a:extLst>
          </p:cNvPr>
          <p:cNvSpPr>
            <a:spLocks noChangeArrowheads="1"/>
          </p:cNvSpPr>
          <p:nvPr/>
        </p:nvSpPr>
        <p:spPr bwMode="auto">
          <a:xfrm>
            <a:off x="4481999" y="4149008"/>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M</a:t>
            </a:r>
          </a:p>
        </p:txBody>
      </p:sp>
      <p:sp>
        <p:nvSpPr>
          <p:cNvPr id="30" name="Rectangle 73">
            <a:extLst>
              <a:ext uri="{FF2B5EF4-FFF2-40B4-BE49-F238E27FC236}">
                <a16:creationId xmlns:a16="http://schemas.microsoft.com/office/drawing/2014/main" id="{82D7F27C-47F6-7D74-8E45-E97BCDF89493}"/>
              </a:ext>
            </a:extLst>
          </p:cNvPr>
          <p:cNvSpPr>
            <a:spLocks noChangeArrowheads="1"/>
          </p:cNvSpPr>
          <p:nvPr/>
        </p:nvSpPr>
        <p:spPr bwMode="auto">
          <a:xfrm>
            <a:off x="4932004" y="4149008"/>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W</a:t>
            </a:r>
          </a:p>
        </p:txBody>
      </p:sp>
      <p:sp>
        <p:nvSpPr>
          <p:cNvPr id="41" name="Rectangle 69">
            <a:extLst>
              <a:ext uri="{FF2B5EF4-FFF2-40B4-BE49-F238E27FC236}">
                <a16:creationId xmlns:a16="http://schemas.microsoft.com/office/drawing/2014/main" id="{9972E94F-48DE-CAA2-9953-277A03754740}"/>
              </a:ext>
            </a:extLst>
          </p:cNvPr>
          <p:cNvSpPr>
            <a:spLocks noChangeArrowheads="1"/>
          </p:cNvSpPr>
          <p:nvPr/>
        </p:nvSpPr>
        <p:spPr bwMode="auto">
          <a:xfrm>
            <a:off x="4481999" y="4599013"/>
            <a:ext cx="450004" cy="360000"/>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dirty="0">
                <a:latin typeface="+mn-lt"/>
                <a:ea typeface="+mn-ea"/>
              </a:rPr>
              <a:t>bb</a:t>
            </a:r>
          </a:p>
        </p:txBody>
      </p:sp>
      <p:sp>
        <p:nvSpPr>
          <p:cNvPr id="42" name="Rectangle 70">
            <a:extLst>
              <a:ext uri="{FF2B5EF4-FFF2-40B4-BE49-F238E27FC236}">
                <a16:creationId xmlns:a16="http://schemas.microsoft.com/office/drawing/2014/main" id="{EC567034-1F33-0905-D70D-493033C7C370}"/>
              </a:ext>
            </a:extLst>
          </p:cNvPr>
          <p:cNvSpPr>
            <a:spLocks noChangeArrowheads="1"/>
          </p:cNvSpPr>
          <p:nvPr/>
        </p:nvSpPr>
        <p:spPr bwMode="auto">
          <a:xfrm>
            <a:off x="4481999" y="5049018"/>
            <a:ext cx="450005" cy="360000"/>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dirty="0">
                <a:latin typeface="+mn-lt"/>
                <a:ea typeface="+mn-ea"/>
              </a:rPr>
              <a:t>bb</a:t>
            </a:r>
          </a:p>
        </p:txBody>
      </p:sp>
      <p:cxnSp>
        <p:nvCxnSpPr>
          <p:cNvPr id="53" name="直線矢印コネクタ 52">
            <a:extLst>
              <a:ext uri="{FF2B5EF4-FFF2-40B4-BE49-F238E27FC236}">
                <a16:creationId xmlns:a16="http://schemas.microsoft.com/office/drawing/2014/main" id="{14AA1C66-7B5E-531D-1038-3562299F4237}"/>
              </a:ext>
            </a:extLst>
          </p:cNvPr>
          <p:cNvCxnSpPr>
            <a:cxnSpLocks/>
          </p:cNvCxnSpPr>
          <p:nvPr/>
        </p:nvCxnSpPr>
        <p:spPr bwMode="auto">
          <a:xfrm>
            <a:off x="6282019" y="3068996"/>
            <a:ext cx="450005" cy="0"/>
          </a:xfrm>
          <a:prstGeom prst="straightConnector1">
            <a:avLst/>
          </a:prstGeom>
          <a:noFill/>
          <a:ln w="9525" cap="flat" cmpd="sng" algn="ctr">
            <a:solidFill>
              <a:schemeClr val="tx1">
                <a:lumMod val="75000"/>
                <a:lumOff val="25000"/>
              </a:schemeClr>
            </a:solidFill>
            <a:prstDash val="solid"/>
            <a:round/>
            <a:headEnd type="triangle" w="med" len="med"/>
            <a:tailEnd type="triangle"/>
          </a:ln>
          <a:effectLst/>
        </p:spPr>
      </p:cxnSp>
      <p:cxnSp>
        <p:nvCxnSpPr>
          <p:cNvPr id="54" name="直線矢印コネクタ 53">
            <a:extLst>
              <a:ext uri="{FF2B5EF4-FFF2-40B4-BE49-F238E27FC236}">
                <a16:creationId xmlns:a16="http://schemas.microsoft.com/office/drawing/2014/main" id="{58DCCA5A-0614-0D6C-E683-A3EA190A66C3}"/>
              </a:ext>
            </a:extLst>
          </p:cNvPr>
          <p:cNvCxnSpPr>
            <a:cxnSpLocks/>
          </p:cNvCxnSpPr>
          <p:nvPr/>
        </p:nvCxnSpPr>
        <p:spPr bwMode="auto">
          <a:xfrm>
            <a:off x="6282019" y="2348988"/>
            <a:ext cx="0" cy="3420038"/>
          </a:xfrm>
          <a:prstGeom prst="straightConnector1">
            <a:avLst/>
          </a:prstGeom>
          <a:noFill/>
          <a:ln w="6350" cap="flat" cmpd="sng" algn="ctr">
            <a:solidFill>
              <a:schemeClr val="tx1">
                <a:lumMod val="75000"/>
                <a:lumOff val="25000"/>
              </a:schemeClr>
            </a:solidFill>
            <a:prstDash val="solid"/>
            <a:round/>
            <a:headEnd type="none" w="med" len="med"/>
            <a:tailEnd type="none"/>
          </a:ln>
          <a:effectLst/>
        </p:spPr>
      </p:cxnSp>
      <p:cxnSp>
        <p:nvCxnSpPr>
          <p:cNvPr id="55" name="直線矢印コネクタ 54">
            <a:extLst>
              <a:ext uri="{FF2B5EF4-FFF2-40B4-BE49-F238E27FC236}">
                <a16:creationId xmlns:a16="http://schemas.microsoft.com/office/drawing/2014/main" id="{F1A16DF5-E50D-C61A-DC33-2B88B00C1A9C}"/>
              </a:ext>
            </a:extLst>
          </p:cNvPr>
          <p:cNvCxnSpPr>
            <a:cxnSpLocks/>
          </p:cNvCxnSpPr>
          <p:nvPr/>
        </p:nvCxnSpPr>
        <p:spPr bwMode="auto">
          <a:xfrm>
            <a:off x="6732024" y="2348988"/>
            <a:ext cx="0" cy="3420038"/>
          </a:xfrm>
          <a:prstGeom prst="straightConnector1">
            <a:avLst/>
          </a:prstGeom>
          <a:noFill/>
          <a:ln w="6350" cap="flat" cmpd="sng" algn="ctr">
            <a:solidFill>
              <a:schemeClr val="tx1">
                <a:lumMod val="75000"/>
                <a:lumOff val="25000"/>
              </a:schemeClr>
            </a:solidFill>
            <a:prstDash val="solid"/>
            <a:round/>
            <a:headEnd type="none" w="med" len="med"/>
            <a:tailEnd type="none"/>
          </a:ln>
          <a:effectLst/>
        </p:spPr>
      </p:cxnSp>
      <p:sp>
        <p:nvSpPr>
          <p:cNvPr id="56" name="正方形/長方形 55">
            <a:extLst>
              <a:ext uri="{FF2B5EF4-FFF2-40B4-BE49-F238E27FC236}">
                <a16:creationId xmlns:a16="http://schemas.microsoft.com/office/drawing/2014/main" id="{676C7215-0672-F610-33C3-866188B8FDBA}"/>
              </a:ext>
            </a:extLst>
          </p:cNvPr>
          <p:cNvSpPr/>
          <p:nvPr/>
        </p:nvSpPr>
        <p:spPr>
          <a:xfrm>
            <a:off x="6282019" y="1988984"/>
            <a:ext cx="540005" cy="270003"/>
          </a:xfrm>
          <a:prstGeom prst="rect">
            <a:avLst/>
          </a:prstGeom>
        </p:spPr>
        <p:txBody>
          <a:bodyPr wrap="none">
            <a:noAutofit/>
          </a:bodyPr>
          <a:lstStyle/>
          <a:p>
            <a:pPr algn="ctr"/>
            <a:r>
              <a:rPr lang="en-US" altLang="ja-JP" dirty="0">
                <a:solidFill>
                  <a:schemeClr val="tx1">
                    <a:lumMod val="65000"/>
                    <a:lumOff val="35000"/>
                  </a:schemeClr>
                </a:solidFill>
              </a:rPr>
              <a:t>1 cycle</a:t>
            </a:r>
            <a:endParaRPr lang="ja-JP" altLang="en-US" dirty="0">
              <a:solidFill>
                <a:schemeClr val="tx1">
                  <a:lumMod val="65000"/>
                  <a:lumOff val="35000"/>
                </a:schemeClr>
              </a:solidFill>
            </a:endParaRPr>
          </a:p>
        </p:txBody>
      </p:sp>
      <p:sp>
        <p:nvSpPr>
          <p:cNvPr id="60" name="Rectangle 69">
            <a:extLst>
              <a:ext uri="{FF2B5EF4-FFF2-40B4-BE49-F238E27FC236}">
                <a16:creationId xmlns:a16="http://schemas.microsoft.com/office/drawing/2014/main" id="{A44D2913-36DA-233F-BFA7-11682C8F64C1}"/>
              </a:ext>
            </a:extLst>
          </p:cNvPr>
          <p:cNvSpPr>
            <a:spLocks noChangeArrowheads="1"/>
          </p:cNvSpPr>
          <p:nvPr/>
        </p:nvSpPr>
        <p:spPr bwMode="auto">
          <a:xfrm>
            <a:off x="3581989" y="4599013"/>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61" name="Rectangle 70">
            <a:extLst>
              <a:ext uri="{FF2B5EF4-FFF2-40B4-BE49-F238E27FC236}">
                <a16:creationId xmlns:a16="http://schemas.microsoft.com/office/drawing/2014/main" id="{A640850F-0C97-5EC3-2298-510D579C102A}"/>
              </a:ext>
            </a:extLst>
          </p:cNvPr>
          <p:cNvSpPr>
            <a:spLocks noChangeArrowheads="1"/>
          </p:cNvSpPr>
          <p:nvPr/>
        </p:nvSpPr>
        <p:spPr bwMode="auto">
          <a:xfrm>
            <a:off x="4031992" y="4599013"/>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D</a:t>
            </a:r>
          </a:p>
        </p:txBody>
      </p:sp>
      <p:sp>
        <p:nvSpPr>
          <p:cNvPr id="62" name="Rectangle 71">
            <a:extLst>
              <a:ext uri="{FF2B5EF4-FFF2-40B4-BE49-F238E27FC236}">
                <a16:creationId xmlns:a16="http://schemas.microsoft.com/office/drawing/2014/main" id="{C47FF20B-06F8-F55A-BCB8-58E0407025D4}"/>
              </a:ext>
            </a:extLst>
          </p:cNvPr>
          <p:cNvSpPr>
            <a:spLocks noChangeArrowheads="1"/>
          </p:cNvSpPr>
          <p:nvPr/>
        </p:nvSpPr>
        <p:spPr bwMode="auto">
          <a:xfrm>
            <a:off x="4932004" y="4599013"/>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X</a:t>
            </a:r>
          </a:p>
        </p:txBody>
      </p:sp>
      <p:sp>
        <p:nvSpPr>
          <p:cNvPr id="63" name="Rectangle 72">
            <a:extLst>
              <a:ext uri="{FF2B5EF4-FFF2-40B4-BE49-F238E27FC236}">
                <a16:creationId xmlns:a16="http://schemas.microsoft.com/office/drawing/2014/main" id="{31F6A47C-FE6E-0D07-E0E4-8A770D726163}"/>
              </a:ext>
            </a:extLst>
          </p:cNvPr>
          <p:cNvSpPr>
            <a:spLocks noChangeArrowheads="1"/>
          </p:cNvSpPr>
          <p:nvPr/>
        </p:nvSpPr>
        <p:spPr bwMode="auto">
          <a:xfrm>
            <a:off x="5382009" y="4599013"/>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M</a:t>
            </a:r>
          </a:p>
        </p:txBody>
      </p:sp>
      <p:sp>
        <p:nvSpPr>
          <p:cNvPr id="64" name="Rectangle 73">
            <a:extLst>
              <a:ext uri="{FF2B5EF4-FFF2-40B4-BE49-F238E27FC236}">
                <a16:creationId xmlns:a16="http://schemas.microsoft.com/office/drawing/2014/main" id="{1B8177B4-6A7E-A2FA-84DB-A4C013FA2F06}"/>
              </a:ext>
            </a:extLst>
          </p:cNvPr>
          <p:cNvSpPr>
            <a:spLocks noChangeArrowheads="1"/>
          </p:cNvSpPr>
          <p:nvPr/>
        </p:nvSpPr>
        <p:spPr bwMode="auto">
          <a:xfrm>
            <a:off x="5832014" y="4599013"/>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W</a:t>
            </a:r>
          </a:p>
        </p:txBody>
      </p:sp>
      <p:sp>
        <p:nvSpPr>
          <p:cNvPr id="65" name="Rectangle 69">
            <a:extLst>
              <a:ext uri="{FF2B5EF4-FFF2-40B4-BE49-F238E27FC236}">
                <a16:creationId xmlns:a16="http://schemas.microsoft.com/office/drawing/2014/main" id="{5027E163-BDD0-37B9-21BC-D3F2371DE18B}"/>
              </a:ext>
            </a:extLst>
          </p:cNvPr>
          <p:cNvSpPr>
            <a:spLocks noChangeArrowheads="1"/>
          </p:cNvSpPr>
          <p:nvPr/>
        </p:nvSpPr>
        <p:spPr bwMode="auto">
          <a:xfrm>
            <a:off x="4031994" y="5049018"/>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F</a:t>
            </a:r>
          </a:p>
        </p:txBody>
      </p:sp>
      <p:sp>
        <p:nvSpPr>
          <p:cNvPr id="66" name="Rectangle 71">
            <a:extLst>
              <a:ext uri="{FF2B5EF4-FFF2-40B4-BE49-F238E27FC236}">
                <a16:creationId xmlns:a16="http://schemas.microsoft.com/office/drawing/2014/main" id="{5B261367-AA30-1C49-DC42-B309AA72169A}"/>
              </a:ext>
            </a:extLst>
          </p:cNvPr>
          <p:cNvSpPr>
            <a:spLocks noChangeArrowheads="1"/>
          </p:cNvSpPr>
          <p:nvPr/>
        </p:nvSpPr>
        <p:spPr bwMode="auto">
          <a:xfrm>
            <a:off x="5382009" y="5049018"/>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X</a:t>
            </a:r>
          </a:p>
        </p:txBody>
      </p:sp>
      <p:sp>
        <p:nvSpPr>
          <p:cNvPr id="67" name="Rectangle 72">
            <a:extLst>
              <a:ext uri="{FF2B5EF4-FFF2-40B4-BE49-F238E27FC236}">
                <a16:creationId xmlns:a16="http://schemas.microsoft.com/office/drawing/2014/main" id="{EC00E3EE-9D59-61FF-144B-22852E7A770E}"/>
              </a:ext>
            </a:extLst>
          </p:cNvPr>
          <p:cNvSpPr>
            <a:spLocks noChangeArrowheads="1"/>
          </p:cNvSpPr>
          <p:nvPr/>
        </p:nvSpPr>
        <p:spPr bwMode="auto">
          <a:xfrm>
            <a:off x="5832014" y="5049018"/>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M</a:t>
            </a:r>
          </a:p>
        </p:txBody>
      </p:sp>
      <p:sp>
        <p:nvSpPr>
          <p:cNvPr id="68" name="Rectangle 73">
            <a:extLst>
              <a:ext uri="{FF2B5EF4-FFF2-40B4-BE49-F238E27FC236}">
                <a16:creationId xmlns:a16="http://schemas.microsoft.com/office/drawing/2014/main" id="{5EDD17B2-7A06-B780-CC14-12C280BDDC21}"/>
              </a:ext>
            </a:extLst>
          </p:cNvPr>
          <p:cNvSpPr>
            <a:spLocks noChangeArrowheads="1"/>
          </p:cNvSpPr>
          <p:nvPr/>
        </p:nvSpPr>
        <p:spPr bwMode="auto">
          <a:xfrm>
            <a:off x="6282019" y="5049018"/>
            <a:ext cx="450004"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W</a:t>
            </a:r>
          </a:p>
        </p:txBody>
      </p:sp>
      <p:sp>
        <p:nvSpPr>
          <p:cNvPr id="81" name="Rectangle 70">
            <a:extLst>
              <a:ext uri="{FF2B5EF4-FFF2-40B4-BE49-F238E27FC236}">
                <a16:creationId xmlns:a16="http://schemas.microsoft.com/office/drawing/2014/main" id="{51F89A25-521F-9B54-7026-CD65B9FEB9C7}"/>
              </a:ext>
            </a:extLst>
          </p:cNvPr>
          <p:cNvSpPr>
            <a:spLocks noChangeArrowheads="1"/>
          </p:cNvSpPr>
          <p:nvPr/>
        </p:nvSpPr>
        <p:spPr bwMode="auto">
          <a:xfrm>
            <a:off x="4932004" y="5049018"/>
            <a:ext cx="450005" cy="360000"/>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dirty="0">
                <a:latin typeface="+mn-lt"/>
                <a:ea typeface="+mn-ea"/>
              </a:rPr>
              <a:t>D</a:t>
            </a:r>
          </a:p>
        </p:txBody>
      </p:sp>
      <p:sp>
        <p:nvSpPr>
          <p:cNvPr id="85" name="正方形/長方形 84">
            <a:extLst>
              <a:ext uri="{FF2B5EF4-FFF2-40B4-BE49-F238E27FC236}">
                <a16:creationId xmlns:a16="http://schemas.microsoft.com/office/drawing/2014/main" id="{BC6F6C1B-FE43-C46F-4CD0-EFC24C8B81E4}"/>
              </a:ext>
            </a:extLst>
          </p:cNvPr>
          <p:cNvSpPr/>
          <p:nvPr/>
        </p:nvSpPr>
        <p:spPr>
          <a:xfrm>
            <a:off x="341953" y="4599013"/>
            <a:ext cx="450005" cy="360004"/>
          </a:xfrm>
          <a:prstGeom prst="rect">
            <a:avLst/>
          </a:prstGeom>
        </p:spPr>
        <p:txBody>
          <a:bodyPr wrap="none">
            <a:noAutofit/>
          </a:bodyPr>
          <a:lstStyle/>
          <a:p>
            <a:r>
              <a:rPr lang="en-US" altLang="ja-JP" dirty="0">
                <a:solidFill>
                  <a:schemeClr val="tx1">
                    <a:lumMod val="65000"/>
                    <a:lumOff val="35000"/>
                  </a:schemeClr>
                </a:solidFill>
                <a:latin typeface="Consolas" panose="020B0609020204030204" pitchFamily="49" charset="0"/>
              </a:rPr>
              <a:t>I1: add x3</a:t>
            </a:r>
            <a:r>
              <a:rPr lang="ja-JP" altLang="en-US" dirty="0">
                <a:solidFill>
                  <a:schemeClr val="tx1">
                    <a:lumMod val="65000"/>
                    <a:lumOff val="35000"/>
                  </a:schemeClr>
                </a:solidFill>
                <a:latin typeface="Consolas" panose="020B0609020204030204" pitchFamily="49" charset="0"/>
              </a:rPr>
              <a:t>←</a:t>
            </a:r>
            <a:r>
              <a:rPr lang="en-US" altLang="ja-JP" dirty="0">
                <a:solidFill>
                  <a:schemeClr val="accent5"/>
                </a:solidFill>
                <a:latin typeface="Consolas" panose="020B0609020204030204" pitchFamily="49" charset="0"/>
              </a:rPr>
              <a:t>x1</a:t>
            </a:r>
            <a:r>
              <a:rPr lang="en-US" altLang="ja-JP" dirty="0">
                <a:solidFill>
                  <a:schemeClr val="tx1">
                    <a:lumMod val="65000"/>
                    <a:lumOff val="35000"/>
                  </a:schemeClr>
                </a:solidFill>
                <a:latin typeface="Consolas" panose="020B0609020204030204" pitchFamily="49" charset="0"/>
              </a:rPr>
              <a:t>+x2</a:t>
            </a:r>
            <a:endParaRPr lang="ja-JP" altLang="en-US" dirty="0">
              <a:solidFill>
                <a:schemeClr val="tx1">
                  <a:lumMod val="65000"/>
                  <a:lumOff val="35000"/>
                </a:schemeClr>
              </a:solidFill>
              <a:latin typeface="Consolas" panose="020B0609020204030204" pitchFamily="49" charset="0"/>
            </a:endParaRPr>
          </a:p>
        </p:txBody>
      </p:sp>
      <p:sp>
        <p:nvSpPr>
          <p:cNvPr id="86" name="正方形/長方形 85">
            <a:extLst>
              <a:ext uri="{FF2B5EF4-FFF2-40B4-BE49-F238E27FC236}">
                <a16:creationId xmlns:a16="http://schemas.microsoft.com/office/drawing/2014/main" id="{32C4086E-7C05-4BA8-8F0F-825BE53F8026}"/>
              </a:ext>
            </a:extLst>
          </p:cNvPr>
          <p:cNvSpPr/>
          <p:nvPr/>
        </p:nvSpPr>
        <p:spPr>
          <a:xfrm>
            <a:off x="341953" y="5049018"/>
            <a:ext cx="450005" cy="360004"/>
          </a:xfrm>
          <a:prstGeom prst="rect">
            <a:avLst/>
          </a:prstGeom>
        </p:spPr>
        <p:txBody>
          <a:bodyPr wrap="none">
            <a:noAutofit/>
          </a:bodyPr>
          <a:lstStyle/>
          <a:p>
            <a:r>
              <a:rPr lang="en-US" altLang="ja-JP" dirty="0">
                <a:solidFill>
                  <a:schemeClr val="tx1">
                    <a:lumMod val="65000"/>
                    <a:lumOff val="35000"/>
                  </a:schemeClr>
                </a:solidFill>
                <a:latin typeface="Consolas" panose="020B0609020204030204" pitchFamily="49" charset="0"/>
              </a:rPr>
              <a:t>I2: ...</a:t>
            </a:r>
            <a:endParaRPr lang="ja-JP" altLang="en-US" dirty="0">
              <a:solidFill>
                <a:schemeClr val="tx1">
                  <a:lumMod val="65000"/>
                  <a:lumOff val="35000"/>
                </a:schemeClr>
              </a:solidFill>
              <a:latin typeface="Consolas" panose="020B0609020204030204" pitchFamily="49" charset="0"/>
            </a:endParaRPr>
          </a:p>
        </p:txBody>
      </p:sp>
      <p:cxnSp>
        <p:nvCxnSpPr>
          <p:cNvPr id="24" name="直線矢印コネクタ 23">
            <a:extLst>
              <a:ext uri="{FF2B5EF4-FFF2-40B4-BE49-F238E27FC236}">
                <a16:creationId xmlns:a16="http://schemas.microsoft.com/office/drawing/2014/main" id="{466C598D-F62A-217D-F6E1-CC20DCFE2895}"/>
              </a:ext>
            </a:extLst>
          </p:cNvPr>
          <p:cNvCxnSpPr>
            <a:cxnSpLocks/>
          </p:cNvCxnSpPr>
          <p:nvPr/>
        </p:nvCxnSpPr>
        <p:spPr bwMode="auto">
          <a:xfrm>
            <a:off x="4842003" y="4419011"/>
            <a:ext cx="270003" cy="270003"/>
          </a:xfrm>
          <a:prstGeom prst="straightConnector1">
            <a:avLst/>
          </a:prstGeom>
          <a:ln>
            <a:headEnd type="none" w="med" len="med"/>
            <a:tailEnd type="triangle"/>
          </a:ln>
        </p:spPr>
        <p:style>
          <a:lnRef idx="3">
            <a:schemeClr val="accent5"/>
          </a:lnRef>
          <a:fillRef idx="0">
            <a:schemeClr val="accent5"/>
          </a:fillRef>
          <a:effectRef idx="2">
            <a:schemeClr val="accent5"/>
          </a:effectRef>
          <a:fontRef idx="minor">
            <a:schemeClr val="tx1"/>
          </a:fontRef>
        </p:style>
      </p:cxnSp>
    </p:spTree>
    <p:extLst>
      <p:ext uri="{BB962C8B-B14F-4D97-AF65-F5344CB8AC3E}">
        <p14:creationId xmlns:p14="http://schemas.microsoft.com/office/powerpoint/2010/main" val="329230298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スーパスカラの場合も同じ</a:t>
            </a:r>
          </a:p>
        </p:txBody>
      </p:sp>
      <p:grpSp>
        <p:nvGrpSpPr>
          <p:cNvPr id="3" name="グループ化 2">
            <a:extLst>
              <a:ext uri="{FF2B5EF4-FFF2-40B4-BE49-F238E27FC236}">
                <a16:creationId xmlns:a16="http://schemas.microsoft.com/office/drawing/2014/main" id="{73541057-30E3-3884-2716-0A4158893DA2}"/>
              </a:ext>
            </a:extLst>
          </p:cNvPr>
          <p:cNvGrpSpPr/>
          <p:nvPr/>
        </p:nvGrpSpPr>
        <p:grpSpPr>
          <a:xfrm>
            <a:off x="3131985" y="1538979"/>
            <a:ext cx="2250023" cy="180002"/>
            <a:chOff x="971961" y="1088974"/>
            <a:chExt cx="2250023" cy="180002"/>
          </a:xfrm>
        </p:grpSpPr>
        <p:sp>
          <p:nvSpPr>
            <p:cNvPr id="60" name="Rectangle 69">
              <a:extLst>
                <a:ext uri="{FF2B5EF4-FFF2-40B4-BE49-F238E27FC236}">
                  <a16:creationId xmlns:a16="http://schemas.microsoft.com/office/drawing/2014/main" id="{87DC93EA-510F-2CED-3C49-ABA98D0CB62E}"/>
                </a:ext>
              </a:extLst>
            </p:cNvPr>
            <p:cNvSpPr>
              <a:spLocks noChangeArrowheads="1"/>
            </p:cNvSpPr>
            <p:nvPr/>
          </p:nvSpPr>
          <p:spPr bwMode="auto">
            <a:xfrm>
              <a:off x="971961" y="1088974"/>
              <a:ext cx="450004"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F</a:t>
              </a:r>
            </a:p>
          </p:txBody>
        </p:sp>
        <p:sp>
          <p:nvSpPr>
            <p:cNvPr id="61" name="Rectangle 70">
              <a:extLst>
                <a:ext uri="{FF2B5EF4-FFF2-40B4-BE49-F238E27FC236}">
                  <a16:creationId xmlns:a16="http://schemas.microsoft.com/office/drawing/2014/main" id="{E2A5E54B-BBC7-0B25-B996-770AF7D777C1}"/>
                </a:ext>
              </a:extLst>
            </p:cNvPr>
            <p:cNvSpPr>
              <a:spLocks noChangeArrowheads="1"/>
            </p:cNvSpPr>
            <p:nvPr/>
          </p:nvSpPr>
          <p:spPr bwMode="auto">
            <a:xfrm>
              <a:off x="1421964" y="108897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D</a:t>
              </a:r>
            </a:p>
          </p:txBody>
        </p:sp>
        <p:sp>
          <p:nvSpPr>
            <p:cNvPr id="62" name="Rectangle 71">
              <a:extLst>
                <a:ext uri="{FF2B5EF4-FFF2-40B4-BE49-F238E27FC236}">
                  <a16:creationId xmlns:a16="http://schemas.microsoft.com/office/drawing/2014/main" id="{E7243571-9A69-A4F8-37EB-6A83C0C08289}"/>
                </a:ext>
              </a:extLst>
            </p:cNvPr>
            <p:cNvSpPr>
              <a:spLocks noChangeArrowheads="1"/>
            </p:cNvSpPr>
            <p:nvPr/>
          </p:nvSpPr>
          <p:spPr bwMode="auto">
            <a:xfrm>
              <a:off x="1871970" y="108897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X</a:t>
              </a:r>
            </a:p>
          </p:txBody>
        </p:sp>
        <p:sp>
          <p:nvSpPr>
            <p:cNvPr id="63" name="Rectangle 72">
              <a:extLst>
                <a:ext uri="{FF2B5EF4-FFF2-40B4-BE49-F238E27FC236}">
                  <a16:creationId xmlns:a16="http://schemas.microsoft.com/office/drawing/2014/main" id="{AEA01D9D-197B-B914-C0BA-9B727A10DEA3}"/>
                </a:ext>
              </a:extLst>
            </p:cNvPr>
            <p:cNvSpPr>
              <a:spLocks noChangeArrowheads="1"/>
            </p:cNvSpPr>
            <p:nvPr/>
          </p:nvSpPr>
          <p:spPr bwMode="auto">
            <a:xfrm>
              <a:off x="2321975" y="108897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M</a:t>
              </a:r>
            </a:p>
          </p:txBody>
        </p:sp>
        <p:sp>
          <p:nvSpPr>
            <p:cNvPr id="128" name="Rectangle 73">
              <a:extLst>
                <a:ext uri="{FF2B5EF4-FFF2-40B4-BE49-F238E27FC236}">
                  <a16:creationId xmlns:a16="http://schemas.microsoft.com/office/drawing/2014/main" id="{17B20D46-4CEE-67DC-B6CC-20CB76AC10C6}"/>
                </a:ext>
              </a:extLst>
            </p:cNvPr>
            <p:cNvSpPr>
              <a:spLocks noChangeArrowheads="1"/>
            </p:cNvSpPr>
            <p:nvPr/>
          </p:nvSpPr>
          <p:spPr bwMode="auto">
            <a:xfrm>
              <a:off x="2771980" y="1088974"/>
              <a:ext cx="450004"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W</a:t>
              </a:r>
            </a:p>
          </p:txBody>
        </p:sp>
      </p:grpSp>
      <p:sp>
        <p:nvSpPr>
          <p:cNvPr id="16" name="Rectangle 69">
            <a:extLst>
              <a:ext uri="{FF2B5EF4-FFF2-40B4-BE49-F238E27FC236}">
                <a16:creationId xmlns:a16="http://schemas.microsoft.com/office/drawing/2014/main" id="{D79287FF-FE5D-4E4E-1CBA-DD0DE39235D9}"/>
              </a:ext>
            </a:extLst>
          </p:cNvPr>
          <p:cNvSpPr>
            <a:spLocks noChangeArrowheads="1"/>
          </p:cNvSpPr>
          <p:nvPr/>
        </p:nvSpPr>
        <p:spPr bwMode="auto">
          <a:xfrm>
            <a:off x="4481999" y="4149008"/>
            <a:ext cx="450004" cy="180002"/>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400" dirty="0">
                <a:latin typeface="+mn-lt"/>
                <a:ea typeface="+mn-ea"/>
              </a:rPr>
              <a:t>bb</a:t>
            </a:r>
          </a:p>
        </p:txBody>
      </p:sp>
      <p:grpSp>
        <p:nvGrpSpPr>
          <p:cNvPr id="4" name="グループ化 3">
            <a:extLst>
              <a:ext uri="{FF2B5EF4-FFF2-40B4-BE49-F238E27FC236}">
                <a16:creationId xmlns:a16="http://schemas.microsoft.com/office/drawing/2014/main" id="{05D91D91-7626-4347-C91E-E309B4629A5F}"/>
              </a:ext>
            </a:extLst>
          </p:cNvPr>
          <p:cNvGrpSpPr/>
          <p:nvPr/>
        </p:nvGrpSpPr>
        <p:grpSpPr>
          <a:xfrm>
            <a:off x="3131984" y="1808982"/>
            <a:ext cx="2250023" cy="180002"/>
            <a:chOff x="971961" y="1088974"/>
            <a:chExt cx="2250023" cy="180002"/>
          </a:xfrm>
        </p:grpSpPr>
        <p:sp>
          <p:nvSpPr>
            <p:cNvPr id="5" name="Rectangle 69">
              <a:extLst>
                <a:ext uri="{FF2B5EF4-FFF2-40B4-BE49-F238E27FC236}">
                  <a16:creationId xmlns:a16="http://schemas.microsoft.com/office/drawing/2014/main" id="{C62ED99A-EB23-8F92-C0BD-3596859CDC1B}"/>
                </a:ext>
              </a:extLst>
            </p:cNvPr>
            <p:cNvSpPr>
              <a:spLocks noChangeArrowheads="1"/>
            </p:cNvSpPr>
            <p:nvPr/>
          </p:nvSpPr>
          <p:spPr bwMode="auto">
            <a:xfrm>
              <a:off x="971961" y="1088974"/>
              <a:ext cx="450004"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F</a:t>
              </a:r>
            </a:p>
          </p:txBody>
        </p:sp>
        <p:sp>
          <p:nvSpPr>
            <p:cNvPr id="7" name="Rectangle 70">
              <a:extLst>
                <a:ext uri="{FF2B5EF4-FFF2-40B4-BE49-F238E27FC236}">
                  <a16:creationId xmlns:a16="http://schemas.microsoft.com/office/drawing/2014/main" id="{BCC94D9B-F394-44E5-35D1-6D73E068E726}"/>
                </a:ext>
              </a:extLst>
            </p:cNvPr>
            <p:cNvSpPr>
              <a:spLocks noChangeArrowheads="1"/>
            </p:cNvSpPr>
            <p:nvPr/>
          </p:nvSpPr>
          <p:spPr bwMode="auto">
            <a:xfrm>
              <a:off x="1421964" y="108897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D</a:t>
              </a:r>
            </a:p>
          </p:txBody>
        </p:sp>
        <p:sp>
          <p:nvSpPr>
            <p:cNvPr id="8" name="Rectangle 71">
              <a:extLst>
                <a:ext uri="{FF2B5EF4-FFF2-40B4-BE49-F238E27FC236}">
                  <a16:creationId xmlns:a16="http://schemas.microsoft.com/office/drawing/2014/main" id="{CD410115-FEDD-DCA6-6344-E3332FDB9959}"/>
                </a:ext>
              </a:extLst>
            </p:cNvPr>
            <p:cNvSpPr>
              <a:spLocks noChangeArrowheads="1"/>
            </p:cNvSpPr>
            <p:nvPr/>
          </p:nvSpPr>
          <p:spPr bwMode="auto">
            <a:xfrm>
              <a:off x="1871970" y="108897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X</a:t>
              </a:r>
            </a:p>
          </p:txBody>
        </p:sp>
        <p:sp>
          <p:nvSpPr>
            <p:cNvPr id="20" name="Rectangle 72">
              <a:extLst>
                <a:ext uri="{FF2B5EF4-FFF2-40B4-BE49-F238E27FC236}">
                  <a16:creationId xmlns:a16="http://schemas.microsoft.com/office/drawing/2014/main" id="{427852D4-88E7-09F2-0A3C-E0CB80E54710}"/>
                </a:ext>
              </a:extLst>
            </p:cNvPr>
            <p:cNvSpPr>
              <a:spLocks noChangeArrowheads="1"/>
            </p:cNvSpPr>
            <p:nvPr/>
          </p:nvSpPr>
          <p:spPr bwMode="auto">
            <a:xfrm>
              <a:off x="2321975" y="108897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M</a:t>
              </a:r>
            </a:p>
          </p:txBody>
        </p:sp>
        <p:sp>
          <p:nvSpPr>
            <p:cNvPr id="29" name="Rectangle 73">
              <a:extLst>
                <a:ext uri="{FF2B5EF4-FFF2-40B4-BE49-F238E27FC236}">
                  <a16:creationId xmlns:a16="http://schemas.microsoft.com/office/drawing/2014/main" id="{0701B121-B155-C90D-D7F0-79462BECF543}"/>
                </a:ext>
              </a:extLst>
            </p:cNvPr>
            <p:cNvSpPr>
              <a:spLocks noChangeArrowheads="1"/>
            </p:cNvSpPr>
            <p:nvPr/>
          </p:nvSpPr>
          <p:spPr bwMode="auto">
            <a:xfrm>
              <a:off x="2771980" y="1088974"/>
              <a:ext cx="450004"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W</a:t>
              </a:r>
            </a:p>
          </p:txBody>
        </p:sp>
      </p:grpSp>
      <p:grpSp>
        <p:nvGrpSpPr>
          <p:cNvPr id="30" name="グループ化 29">
            <a:extLst>
              <a:ext uri="{FF2B5EF4-FFF2-40B4-BE49-F238E27FC236}">
                <a16:creationId xmlns:a16="http://schemas.microsoft.com/office/drawing/2014/main" id="{9B199E8E-E0AE-46EF-62F6-4F38780DCD31}"/>
              </a:ext>
            </a:extLst>
          </p:cNvPr>
          <p:cNvGrpSpPr/>
          <p:nvPr/>
        </p:nvGrpSpPr>
        <p:grpSpPr>
          <a:xfrm>
            <a:off x="3581989" y="2078985"/>
            <a:ext cx="2250023" cy="180002"/>
            <a:chOff x="971961" y="1088974"/>
            <a:chExt cx="2250023" cy="180002"/>
          </a:xfrm>
        </p:grpSpPr>
        <p:sp>
          <p:nvSpPr>
            <p:cNvPr id="33" name="Rectangle 69">
              <a:extLst>
                <a:ext uri="{FF2B5EF4-FFF2-40B4-BE49-F238E27FC236}">
                  <a16:creationId xmlns:a16="http://schemas.microsoft.com/office/drawing/2014/main" id="{CD8DA6CD-D49C-1ABC-BE78-61E1C886148A}"/>
                </a:ext>
              </a:extLst>
            </p:cNvPr>
            <p:cNvSpPr>
              <a:spLocks noChangeArrowheads="1"/>
            </p:cNvSpPr>
            <p:nvPr/>
          </p:nvSpPr>
          <p:spPr bwMode="auto">
            <a:xfrm>
              <a:off x="971961" y="1088974"/>
              <a:ext cx="450004"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F</a:t>
              </a:r>
            </a:p>
          </p:txBody>
        </p:sp>
        <p:sp>
          <p:nvSpPr>
            <p:cNvPr id="34" name="Rectangle 70">
              <a:extLst>
                <a:ext uri="{FF2B5EF4-FFF2-40B4-BE49-F238E27FC236}">
                  <a16:creationId xmlns:a16="http://schemas.microsoft.com/office/drawing/2014/main" id="{57C69274-F460-39AF-E99C-F6711213A198}"/>
                </a:ext>
              </a:extLst>
            </p:cNvPr>
            <p:cNvSpPr>
              <a:spLocks noChangeArrowheads="1"/>
            </p:cNvSpPr>
            <p:nvPr/>
          </p:nvSpPr>
          <p:spPr bwMode="auto">
            <a:xfrm>
              <a:off x="1421964" y="108897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D</a:t>
              </a:r>
            </a:p>
          </p:txBody>
        </p:sp>
        <p:sp>
          <p:nvSpPr>
            <p:cNvPr id="35" name="Rectangle 71">
              <a:extLst>
                <a:ext uri="{FF2B5EF4-FFF2-40B4-BE49-F238E27FC236}">
                  <a16:creationId xmlns:a16="http://schemas.microsoft.com/office/drawing/2014/main" id="{C60AE377-7243-32DB-DAD1-2AA44789AB19}"/>
                </a:ext>
              </a:extLst>
            </p:cNvPr>
            <p:cNvSpPr>
              <a:spLocks noChangeArrowheads="1"/>
            </p:cNvSpPr>
            <p:nvPr/>
          </p:nvSpPr>
          <p:spPr bwMode="auto">
            <a:xfrm>
              <a:off x="1871970" y="108897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X</a:t>
              </a:r>
            </a:p>
          </p:txBody>
        </p:sp>
        <p:sp>
          <p:nvSpPr>
            <p:cNvPr id="37" name="Rectangle 72">
              <a:extLst>
                <a:ext uri="{FF2B5EF4-FFF2-40B4-BE49-F238E27FC236}">
                  <a16:creationId xmlns:a16="http://schemas.microsoft.com/office/drawing/2014/main" id="{787E6361-4341-C372-0682-C2DD1B1D6D3F}"/>
                </a:ext>
              </a:extLst>
            </p:cNvPr>
            <p:cNvSpPr>
              <a:spLocks noChangeArrowheads="1"/>
            </p:cNvSpPr>
            <p:nvPr/>
          </p:nvSpPr>
          <p:spPr bwMode="auto">
            <a:xfrm>
              <a:off x="2321975" y="108897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M</a:t>
              </a:r>
            </a:p>
          </p:txBody>
        </p:sp>
        <p:sp>
          <p:nvSpPr>
            <p:cNvPr id="38" name="Rectangle 73">
              <a:extLst>
                <a:ext uri="{FF2B5EF4-FFF2-40B4-BE49-F238E27FC236}">
                  <a16:creationId xmlns:a16="http://schemas.microsoft.com/office/drawing/2014/main" id="{28CF3F4B-DAAD-BB38-861C-0BF4DAAF16CD}"/>
                </a:ext>
              </a:extLst>
            </p:cNvPr>
            <p:cNvSpPr>
              <a:spLocks noChangeArrowheads="1"/>
            </p:cNvSpPr>
            <p:nvPr/>
          </p:nvSpPr>
          <p:spPr bwMode="auto">
            <a:xfrm>
              <a:off x="2771980" y="1088974"/>
              <a:ext cx="450004"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W</a:t>
              </a:r>
            </a:p>
          </p:txBody>
        </p:sp>
      </p:grpSp>
      <p:grpSp>
        <p:nvGrpSpPr>
          <p:cNvPr id="39" name="グループ化 38">
            <a:extLst>
              <a:ext uri="{FF2B5EF4-FFF2-40B4-BE49-F238E27FC236}">
                <a16:creationId xmlns:a16="http://schemas.microsoft.com/office/drawing/2014/main" id="{ECB5AA74-6638-BAD0-8C17-BB7BE22B8B81}"/>
              </a:ext>
            </a:extLst>
          </p:cNvPr>
          <p:cNvGrpSpPr/>
          <p:nvPr/>
        </p:nvGrpSpPr>
        <p:grpSpPr>
          <a:xfrm>
            <a:off x="3581988" y="2348988"/>
            <a:ext cx="2250023" cy="180002"/>
            <a:chOff x="971961" y="1088974"/>
            <a:chExt cx="2250023" cy="180002"/>
          </a:xfrm>
        </p:grpSpPr>
        <p:sp>
          <p:nvSpPr>
            <p:cNvPr id="40" name="Rectangle 69">
              <a:extLst>
                <a:ext uri="{FF2B5EF4-FFF2-40B4-BE49-F238E27FC236}">
                  <a16:creationId xmlns:a16="http://schemas.microsoft.com/office/drawing/2014/main" id="{D1A7636E-F0D6-CA66-EFFC-AA4FCC19B3A8}"/>
                </a:ext>
              </a:extLst>
            </p:cNvPr>
            <p:cNvSpPr>
              <a:spLocks noChangeArrowheads="1"/>
            </p:cNvSpPr>
            <p:nvPr/>
          </p:nvSpPr>
          <p:spPr bwMode="auto">
            <a:xfrm>
              <a:off x="971961" y="1088974"/>
              <a:ext cx="450004"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F</a:t>
              </a:r>
            </a:p>
          </p:txBody>
        </p:sp>
        <p:sp>
          <p:nvSpPr>
            <p:cNvPr id="49" name="Rectangle 70">
              <a:extLst>
                <a:ext uri="{FF2B5EF4-FFF2-40B4-BE49-F238E27FC236}">
                  <a16:creationId xmlns:a16="http://schemas.microsoft.com/office/drawing/2014/main" id="{563E07A1-847F-234C-E751-8E8061156CE0}"/>
                </a:ext>
              </a:extLst>
            </p:cNvPr>
            <p:cNvSpPr>
              <a:spLocks noChangeArrowheads="1"/>
            </p:cNvSpPr>
            <p:nvPr/>
          </p:nvSpPr>
          <p:spPr bwMode="auto">
            <a:xfrm>
              <a:off x="1421964" y="108897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D</a:t>
              </a:r>
            </a:p>
          </p:txBody>
        </p:sp>
        <p:sp>
          <p:nvSpPr>
            <p:cNvPr id="52" name="Rectangle 71">
              <a:extLst>
                <a:ext uri="{FF2B5EF4-FFF2-40B4-BE49-F238E27FC236}">
                  <a16:creationId xmlns:a16="http://schemas.microsoft.com/office/drawing/2014/main" id="{63A02E3F-3DDC-197F-E187-FCB1440CF1EC}"/>
                </a:ext>
              </a:extLst>
            </p:cNvPr>
            <p:cNvSpPr>
              <a:spLocks noChangeArrowheads="1"/>
            </p:cNvSpPr>
            <p:nvPr/>
          </p:nvSpPr>
          <p:spPr bwMode="auto">
            <a:xfrm>
              <a:off x="1871970" y="108897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X</a:t>
              </a:r>
            </a:p>
          </p:txBody>
        </p:sp>
        <p:sp>
          <p:nvSpPr>
            <p:cNvPr id="53" name="Rectangle 72">
              <a:extLst>
                <a:ext uri="{FF2B5EF4-FFF2-40B4-BE49-F238E27FC236}">
                  <a16:creationId xmlns:a16="http://schemas.microsoft.com/office/drawing/2014/main" id="{D85EAA9D-2A17-6E76-EA67-558D009D244F}"/>
                </a:ext>
              </a:extLst>
            </p:cNvPr>
            <p:cNvSpPr>
              <a:spLocks noChangeArrowheads="1"/>
            </p:cNvSpPr>
            <p:nvPr/>
          </p:nvSpPr>
          <p:spPr bwMode="auto">
            <a:xfrm>
              <a:off x="2321975" y="108897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M</a:t>
              </a:r>
            </a:p>
          </p:txBody>
        </p:sp>
        <p:sp>
          <p:nvSpPr>
            <p:cNvPr id="54" name="Rectangle 73">
              <a:extLst>
                <a:ext uri="{FF2B5EF4-FFF2-40B4-BE49-F238E27FC236}">
                  <a16:creationId xmlns:a16="http://schemas.microsoft.com/office/drawing/2014/main" id="{14E8BBCE-29FC-9D29-DDE7-FE6A95F3A392}"/>
                </a:ext>
              </a:extLst>
            </p:cNvPr>
            <p:cNvSpPr>
              <a:spLocks noChangeArrowheads="1"/>
            </p:cNvSpPr>
            <p:nvPr/>
          </p:nvSpPr>
          <p:spPr bwMode="auto">
            <a:xfrm>
              <a:off x="2771980" y="1088974"/>
              <a:ext cx="450004"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W</a:t>
              </a:r>
            </a:p>
          </p:txBody>
        </p:sp>
      </p:grpSp>
      <p:grpSp>
        <p:nvGrpSpPr>
          <p:cNvPr id="55" name="グループ化 54">
            <a:extLst>
              <a:ext uri="{FF2B5EF4-FFF2-40B4-BE49-F238E27FC236}">
                <a16:creationId xmlns:a16="http://schemas.microsoft.com/office/drawing/2014/main" id="{4B3CA136-9166-7B13-CDB1-1AE4FED08DF7}"/>
              </a:ext>
            </a:extLst>
          </p:cNvPr>
          <p:cNvGrpSpPr/>
          <p:nvPr/>
        </p:nvGrpSpPr>
        <p:grpSpPr>
          <a:xfrm>
            <a:off x="4031995" y="2618991"/>
            <a:ext cx="2250023" cy="180002"/>
            <a:chOff x="971961" y="1088974"/>
            <a:chExt cx="2250023" cy="180002"/>
          </a:xfrm>
        </p:grpSpPr>
        <p:sp>
          <p:nvSpPr>
            <p:cNvPr id="56" name="Rectangle 69">
              <a:extLst>
                <a:ext uri="{FF2B5EF4-FFF2-40B4-BE49-F238E27FC236}">
                  <a16:creationId xmlns:a16="http://schemas.microsoft.com/office/drawing/2014/main" id="{577F84E4-E190-BF39-5B21-28F8993D7194}"/>
                </a:ext>
              </a:extLst>
            </p:cNvPr>
            <p:cNvSpPr>
              <a:spLocks noChangeArrowheads="1"/>
            </p:cNvSpPr>
            <p:nvPr/>
          </p:nvSpPr>
          <p:spPr bwMode="auto">
            <a:xfrm>
              <a:off x="971961" y="1088974"/>
              <a:ext cx="450004"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F</a:t>
              </a:r>
            </a:p>
          </p:txBody>
        </p:sp>
        <p:sp>
          <p:nvSpPr>
            <p:cNvPr id="140" name="Rectangle 70">
              <a:extLst>
                <a:ext uri="{FF2B5EF4-FFF2-40B4-BE49-F238E27FC236}">
                  <a16:creationId xmlns:a16="http://schemas.microsoft.com/office/drawing/2014/main" id="{424D0A1A-28ED-4516-E62C-6167C37C7D86}"/>
                </a:ext>
              </a:extLst>
            </p:cNvPr>
            <p:cNvSpPr>
              <a:spLocks noChangeArrowheads="1"/>
            </p:cNvSpPr>
            <p:nvPr/>
          </p:nvSpPr>
          <p:spPr bwMode="auto">
            <a:xfrm>
              <a:off x="1421964" y="108897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D</a:t>
              </a:r>
            </a:p>
          </p:txBody>
        </p:sp>
        <p:sp>
          <p:nvSpPr>
            <p:cNvPr id="145" name="Rectangle 71">
              <a:extLst>
                <a:ext uri="{FF2B5EF4-FFF2-40B4-BE49-F238E27FC236}">
                  <a16:creationId xmlns:a16="http://schemas.microsoft.com/office/drawing/2014/main" id="{0A192C1C-6CD6-9421-BD3B-E91CC00359F2}"/>
                </a:ext>
              </a:extLst>
            </p:cNvPr>
            <p:cNvSpPr>
              <a:spLocks noChangeArrowheads="1"/>
            </p:cNvSpPr>
            <p:nvPr/>
          </p:nvSpPr>
          <p:spPr bwMode="auto">
            <a:xfrm>
              <a:off x="1871970" y="108897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X</a:t>
              </a:r>
            </a:p>
          </p:txBody>
        </p:sp>
        <p:sp>
          <p:nvSpPr>
            <p:cNvPr id="146" name="Rectangle 72">
              <a:extLst>
                <a:ext uri="{FF2B5EF4-FFF2-40B4-BE49-F238E27FC236}">
                  <a16:creationId xmlns:a16="http://schemas.microsoft.com/office/drawing/2014/main" id="{F1A3CE6F-81CA-7527-2350-1AFE0DCBEA17}"/>
                </a:ext>
              </a:extLst>
            </p:cNvPr>
            <p:cNvSpPr>
              <a:spLocks noChangeArrowheads="1"/>
            </p:cNvSpPr>
            <p:nvPr/>
          </p:nvSpPr>
          <p:spPr bwMode="auto">
            <a:xfrm>
              <a:off x="2321975" y="108897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M</a:t>
              </a:r>
            </a:p>
          </p:txBody>
        </p:sp>
        <p:sp>
          <p:nvSpPr>
            <p:cNvPr id="147" name="Rectangle 73">
              <a:extLst>
                <a:ext uri="{FF2B5EF4-FFF2-40B4-BE49-F238E27FC236}">
                  <a16:creationId xmlns:a16="http://schemas.microsoft.com/office/drawing/2014/main" id="{B899C8E1-1D64-2BC7-59EB-A00C3DD5BB8D}"/>
                </a:ext>
              </a:extLst>
            </p:cNvPr>
            <p:cNvSpPr>
              <a:spLocks noChangeArrowheads="1"/>
            </p:cNvSpPr>
            <p:nvPr/>
          </p:nvSpPr>
          <p:spPr bwMode="auto">
            <a:xfrm>
              <a:off x="2771980" y="1088974"/>
              <a:ext cx="450004"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W</a:t>
              </a:r>
            </a:p>
          </p:txBody>
        </p:sp>
      </p:grpSp>
      <p:grpSp>
        <p:nvGrpSpPr>
          <p:cNvPr id="148" name="グループ化 147">
            <a:extLst>
              <a:ext uri="{FF2B5EF4-FFF2-40B4-BE49-F238E27FC236}">
                <a16:creationId xmlns:a16="http://schemas.microsoft.com/office/drawing/2014/main" id="{D969CDB4-503C-E910-9E3D-BD19C9BEF27D}"/>
              </a:ext>
            </a:extLst>
          </p:cNvPr>
          <p:cNvGrpSpPr/>
          <p:nvPr/>
        </p:nvGrpSpPr>
        <p:grpSpPr>
          <a:xfrm>
            <a:off x="4031994" y="2888994"/>
            <a:ext cx="2250023" cy="180002"/>
            <a:chOff x="971961" y="1088974"/>
            <a:chExt cx="2250023" cy="180002"/>
          </a:xfrm>
        </p:grpSpPr>
        <p:sp>
          <p:nvSpPr>
            <p:cNvPr id="149" name="Rectangle 69">
              <a:extLst>
                <a:ext uri="{FF2B5EF4-FFF2-40B4-BE49-F238E27FC236}">
                  <a16:creationId xmlns:a16="http://schemas.microsoft.com/office/drawing/2014/main" id="{41947F27-3B69-BAB8-B2A3-971F29126479}"/>
                </a:ext>
              </a:extLst>
            </p:cNvPr>
            <p:cNvSpPr>
              <a:spLocks noChangeArrowheads="1"/>
            </p:cNvSpPr>
            <p:nvPr/>
          </p:nvSpPr>
          <p:spPr bwMode="auto">
            <a:xfrm>
              <a:off x="971961" y="1088974"/>
              <a:ext cx="450004"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F</a:t>
              </a:r>
            </a:p>
          </p:txBody>
        </p:sp>
        <p:sp>
          <p:nvSpPr>
            <p:cNvPr id="150" name="Rectangle 70">
              <a:extLst>
                <a:ext uri="{FF2B5EF4-FFF2-40B4-BE49-F238E27FC236}">
                  <a16:creationId xmlns:a16="http://schemas.microsoft.com/office/drawing/2014/main" id="{9048815F-727B-9858-30FB-D84B843D38DD}"/>
                </a:ext>
              </a:extLst>
            </p:cNvPr>
            <p:cNvSpPr>
              <a:spLocks noChangeArrowheads="1"/>
            </p:cNvSpPr>
            <p:nvPr/>
          </p:nvSpPr>
          <p:spPr bwMode="auto">
            <a:xfrm>
              <a:off x="1421964" y="108897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D</a:t>
              </a:r>
            </a:p>
          </p:txBody>
        </p:sp>
        <p:sp>
          <p:nvSpPr>
            <p:cNvPr id="151" name="Rectangle 71">
              <a:extLst>
                <a:ext uri="{FF2B5EF4-FFF2-40B4-BE49-F238E27FC236}">
                  <a16:creationId xmlns:a16="http://schemas.microsoft.com/office/drawing/2014/main" id="{E54088D7-F842-FBF8-5B17-FB2DC541E1B2}"/>
                </a:ext>
              </a:extLst>
            </p:cNvPr>
            <p:cNvSpPr>
              <a:spLocks noChangeArrowheads="1"/>
            </p:cNvSpPr>
            <p:nvPr/>
          </p:nvSpPr>
          <p:spPr bwMode="auto">
            <a:xfrm>
              <a:off x="1871970" y="108897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X</a:t>
              </a:r>
            </a:p>
          </p:txBody>
        </p:sp>
        <p:sp>
          <p:nvSpPr>
            <p:cNvPr id="152" name="Rectangle 72">
              <a:extLst>
                <a:ext uri="{FF2B5EF4-FFF2-40B4-BE49-F238E27FC236}">
                  <a16:creationId xmlns:a16="http://schemas.microsoft.com/office/drawing/2014/main" id="{02753A92-0E98-0256-6442-9E7D187BEE14}"/>
                </a:ext>
              </a:extLst>
            </p:cNvPr>
            <p:cNvSpPr>
              <a:spLocks noChangeArrowheads="1"/>
            </p:cNvSpPr>
            <p:nvPr/>
          </p:nvSpPr>
          <p:spPr bwMode="auto">
            <a:xfrm>
              <a:off x="2321975" y="108897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M</a:t>
              </a:r>
            </a:p>
          </p:txBody>
        </p:sp>
        <p:sp>
          <p:nvSpPr>
            <p:cNvPr id="153" name="Rectangle 73">
              <a:extLst>
                <a:ext uri="{FF2B5EF4-FFF2-40B4-BE49-F238E27FC236}">
                  <a16:creationId xmlns:a16="http://schemas.microsoft.com/office/drawing/2014/main" id="{17ACD50F-2B79-5736-778F-69438AF18FA9}"/>
                </a:ext>
              </a:extLst>
            </p:cNvPr>
            <p:cNvSpPr>
              <a:spLocks noChangeArrowheads="1"/>
            </p:cNvSpPr>
            <p:nvPr/>
          </p:nvSpPr>
          <p:spPr bwMode="auto">
            <a:xfrm>
              <a:off x="2771980" y="1088974"/>
              <a:ext cx="450004"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W</a:t>
              </a:r>
            </a:p>
          </p:txBody>
        </p:sp>
      </p:grpSp>
      <p:grpSp>
        <p:nvGrpSpPr>
          <p:cNvPr id="154" name="グループ化 153">
            <a:extLst>
              <a:ext uri="{FF2B5EF4-FFF2-40B4-BE49-F238E27FC236}">
                <a16:creationId xmlns:a16="http://schemas.microsoft.com/office/drawing/2014/main" id="{1C4E3723-8AC2-1A8F-2608-07A5446F1DC9}"/>
              </a:ext>
            </a:extLst>
          </p:cNvPr>
          <p:cNvGrpSpPr/>
          <p:nvPr/>
        </p:nvGrpSpPr>
        <p:grpSpPr>
          <a:xfrm>
            <a:off x="3131984" y="3609002"/>
            <a:ext cx="2250023" cy="180002"/>
            <a:chOff x="971961" y="1088974"/>
            <a:chExt cx="2250023" cy="180002"/>
          </a:xfrm>
        </p:grpSpPr>
        <p:sp>
          <p:nvSpPr>
            <p:cNvPr id="155" name="Rectangle 69">
              <a:extLst>
                <a:ext uri="{FF2B5EF4-FFF2-40B4-BE49-F238E27FC236}">
                  <a16:creationId xmlns:a16="http://schemas.microsoft.com/office/drawing/2014/main" id="{3F6DA7F5-DFC4-17ED-2013-1ED2216EBCD5}"/>
                </a:ext>
              </a:extLst>
            </p:cNvPr>
            <p:cNvSpPr>
              <a:spLocks noChangeArrowheads="1"/>
            </p:cNvSpPr>
            <p:nvPr/>
          </p:nvSpPr>
          <p:spPr bwMode="auto">
            <a:xfrm>
              <a:off x="971961" y="1088974"/>
              <a:ext cx="450004"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F</a:t>
              </a:r>
            </a:p>
          </p:txBody>
        </p:sp>
        <p:sp>
          <p:nvSpPr>
            <p:cNvPr id="156" name="Rectangle 70">
              <a:extLst>
                <a:ext uri="{FF2B5EF4-FFF2-40B4-BE49-F238E27FC236}">
                  <a16:creationId xmlns:a16="http://schemas.microsoft.com/office/drawing/2014/main" id="{356D9158-5F9E-1A16-D966-7DA2AA1BFA55}"/>
                </a:ext>
              </a:extLst>
            </p:cNvPr>
            <p:cNvSpPr>
              <a:spLocks noChangeArrowheads="1"/>
            </p:cNvSpPr>
            <p:nvPr/>
          </p:nvSpPr>
          <p:spPr bwMode="auto">
            <a:xfrm>
              <a:off x="1421964" y="108897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D</a:t>
              </a:r>
            </a:p>
          </p:txBody>
        </p:sp>
        <p:sp>
          <p:nvSpPr>
            <p:cNvPr id="157" name="Rectangle 71">
              <a:extLst>
                <a:ext uri="{FF2B5EF4-FFF2-40B4-BE49-F238E27FC236}">
                  <a16:creationId xmlns:a16="http://schemas.microsoft.com/office/drawing/2014/main" id="{286C5DCF-200F-DD94-C5AF-BBCD536112CA}"/>
                </a:ext>
              </a:extLst>
            </p:cNvPr>
            <p:cNvSpPr>
              <a:spLocks noChangeArrowheads="1"/>
            </p:cNvSpPr>
            <p:nvPr/>
          </p:nvSpPr>
          <p:spPr bwMode="auto">
            <a:xfrm>
              <a:off x="1871970" y="108897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X</a:t>
              </a:r>
            </a:p>
          </p:txBody>
        </p:sp>
        <p:sp>
          <p:nvSpPr>
            <p:cNvPr id="158" name="Rectangle 72">
              <a:extLst>
                <a:ext uri="{FF2B5EF4-FFF2-40B4-BE49-F238E27FC236}">
                  <a16:creationId xmlns:a16="http://schemas.microsoft.com/office/drawing/2014/main" id="{29F01D96-6FB7-A8B2-BFAA-2B3891941BB9}"/>
                </a:ext>
              </a:extLst>
            </p:cNvPr>
            <p:cNvSpPr>
              <a:spLocks noChangeArrowheads="1"/>
            </p:cNvSpPr>
            <p:nvPr/>
          </p:nvSpPr>
          <p:spPr bwMode="auto">
            <a:xfrm>
              <a:off x="2321975" y="108897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M</a:t>
              </a:r>
            </a:p>
          </p:txBody>
        </p:sp>
        <p:sp>
          <p:nvSpPr>
            <p:cNvPr id="159" name="Rectangle 73">
              <a:extLst>
                <a:ext uri="{FF2B5EF4-FFF2-40B4-BE49-F238E27FC236}">
                  <a16:creationId xmlns:a16="http://schemas.microsoft.com/office/drawing/2014/main" id="{0BAC1C71-CEF0-9BBB-1EA4-DF5BD86002CD}"/>
                </a:ext>
              </a:extLst>
            </p:cNvPr>
            <p:cNvSpPr>
              <a:spLocks noChangeArrowheads="1"/>
            </p:cNvSpPr>
            <p:nvPr/>
          </p:nvSpPr>
          <p:spPr bwMode="auto">
            <a:xfrm>
              <a:off x="2771980" y="1088974"/>
              <a:ext cx="450004"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W</a:t>
              </a:r>
            </a:p>
          </p:txBody>
        </p:sp>
      </p:grpSp>
      <p:grpSp>
        <p:nvGrpSpPr>
          <p:cNvPr id="160" name="グループ化 159">
            <a:extLst>
              <a:ext uri="{FF2B5EF4-FFF2-40B4-BE49-F238E27FC236}">
                <a16:creationId xmlns:a16="http://schemas.microsoft.com/office/drawing/2014/main" id="{D88B002E-F05A-BB45-726F-34A0EC5F22E4}"/>
              </a:ext>
            </a:extLst>
          </p:cNvPr>
          <p:cNvGrpSpPr/>
          <p:nvPr/>
        </p:nvGrpSpPr>
        <p:grpSpPr>
          <a:xfrm>
            <a:off x="3131983" y="3879005"/>
            <a:ext cx="2250023" cy="180002"/>
            <a:chOff x="971961" y="1088974"/>
            <a:chExt cx="2250023" cy="180002"/>
          </a:xfrm>
        </p:grpSpPr>
        <p:sp>
          <p:nvSpPr>
            <p:cNvPr id="161" name="Rectangle 69">
              <a:extLst>
                <a:ext uri="{FF2B5EF4-FFF2-40B4-BE49-F238E27FC236}">
                  <a16:creationId xmlns:a16="http://schemas.microsoft.com/office/drawing/2014/main" id="{ACC19367-DBE1-42D3-9DA3-4D9467288CAE}"/>
                </a:ext>
              </a:extLst>
            </p:cNvPr>
            <p:cNvSpPr>
              <a:spLocks noChangeArrowheads="1"/>
            </p:cNvSpPr>
            <p:nvPr/>
          </p:nvSpPr>
          <p:spPr bwMode="auto">
            <a:xfrm>
              <a:off x="971961" y="1088974"/>
              <a:ext cx="450004"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F</a:t>
              </a:r>
            </a:p>
          </p:txBody>
        </p:sp>
        <p:sp>
          <p:nvSpPr>
            <p:cNvPr id="162" name="Rectangle 70">
              <a:extLst>
                <a:ext uri="{FF2B5EF4-FFF2-40B4-BE49-F238E27FC236}">
                  <a16:creationId xmlns:a16="http://schemas.microsoft.com/office/drawing/2014/main" id="{6D09F3D8-E07D-2EC5-50D6-0D6C0C8CE38D}"/>
                </a:ext>
              </a:extLst>
            </p:cNvPr>
            <p:cNvSpPr>
              <a:spLocks noChangeArrowheads="1"/>
            </p:cNvSpPr>
            <p:nvPr/>
          </p:nvSpPr>
          <p:spPr bwMode="auto">
            <a:xfrm>
              <a:off x="1421964" y="108897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D</a:t>
              </a:r>
            </a:p>
          </p:txBody>
        </p:sp>
        <p:sp>
          <p:nvSpPr>
            <p:cNvPr id="163" name="Rectangle 71">
              <a:extLst>
                <a:ext uri="{FF2B5EF4-FFF2-40B4-BE49-F238E27FC236}">
                  <a16:creationId xmlns:a16="http://schemas.microsoft.com/office/drawing/2014/main" id="{64829B18-15E6-AD1B-9FEF-9828331F8497}"/>
                </a:ext>
              </a:extLst>
            </p:cNvPr>
            <p:cNvSpPr>
              <a:spLocks noChangeArrowheads="1"/>
            </p:cNvSpPr>
            <p:nvPr/>
          </p:nvSpPr>
          <p:spPr bwMode="auto">
            <a:xfrm>
              <a:off x="1871970" y="108897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X</a:t>
              </a:r>
            </a:p>
          </p:txBody>
        </p:sp>
        <p:sp>
          <p:nvSpPr>
            <p:cNvPr id="164" name="Rectangle 72">
              <a:extLst>
                <a:ext uri="{FF2B5EF4-FFF2-40B4-BE49-F238E27FC236}">
                  <a16:creationId xmlns:a16="http://schemas.microsoft.com/office/drawing/2014/main" id="{7361A66D-FD45-251B-6088-97C81867AAA0}"/>
                </a:ext>
              </a:extLst>
            </p:cNvPr>
            <p:cNvSpPr>
              <a:spLocks noChangeArrowheads="1"/>
            </p:cNvSpPr>
            <p:nvPr/>
          </p:nvSpPr>
          <p:spPr bwMode="auto">
            <a:xfrm>
              <a:off x="2321975" y="108897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M</a:t>
              </a:r>
            </a:p>
          </p:txBody>
        </p:sp>
        <p:sp>
          <p:nvSpPr>
            <p:cNvPr id="165" name="Rectangle 73">
              <a:extLst>
                <a:ext uri="{FF2B5EF4-FFF2-40B4-BE49-F238E27FC236}">
                  <a16:creationId xmlns:a16="http://schemas.microsoft.com/office/drawing/2014/main" id="{6D6A7F14-05D9-D603-0729-CE4A069637D9}"/>
                </a:ext>
              </a:extLst>
            </p:cNvPr>
            <p:cNvSpPr>
              <a:spLocks noChangeArrowheads="1"/>
            </p:cNvSpPr>
            <p:nvPr/>
          </p:nvSpPr>
          <p:spPr bwMode="auto">
            <a:xfrm>
              <a:off x="2771980" y="1088974"/>
              <a:ext cx="450004"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W</a:t>
              </a:r>
            </a:p>
          </p:txBody>
        </p:sp>
      </p:grpSp>
      <p:sp>
        <p:nvSpPr>
          <p:cNvPr id="202" name="正方形/長方形 201">
            <a:extLst>
              <a:ext uri="{FF2B5EF4-FFF2-40B4-BE49-F238E27FC236}">
                <a16:creationId xmlns:a16="http://schemas.microsoft.com/office/drawing/2014/main" id="{8A92B3E9-727B-9CF9-49AC-5B67A59294C9}"/>
              </a:ext>
            </a:extLst>
          </p:cNvPr>
          <p:cNvSpPr/>
          <p:nvPr/>
        </p:nvSpPr>
        <p:spPr>
          <a:xfrm>
            <a:off x="2591978" y="1448978"/>
            <a:ext cx="450005" cy="307777"/>
          </a:xfrm>
          <a:prstGeom prst="rect">
            <a:avLst/>
          </a:prstGeom>
        </p:spPr>
        <p:txBody>
          <a:bodyPr wrap="square">
            <a:spAutoFit/>
          </a:bodyPr>
          <a:lstStyle/>
          <a:p>
            <a:pPr algn="ctr"/>
            <a:r>
              <a:rPr lang="en-US" altLang="ja-JP" sz="1400" dirty="0">
                <a:solidFill>
                  <a:schemeClr val="tx1">
                    <a:lumMod val="65000"/>
                    <a:lumOff val="35000"/>
                  </a:schemeClr>
                </a:solidFill>
                <a:latin typeface="Consolas" panose="020B0609020204030204" pitchFamily="49" charset="0"/>
              </a:rPr>
              <a:t>I0</a:t>
            </a:r>
            <a:endParaRPr lang="ja-JP" altLang="en-US" sz="1400" dirty="0">
              <a:solidFill>
                <a:schemeClr val="tx1">
                  <a:lumMod val="65000"/>
                  <a:lumOff val="35000"/>
                </a:schemeClr>
              </a:solidFill>
              <a:latin typeface="Consolas" panose="020B0609020204030204" pitchFamily="49" charset="0"/>
            </a:endParaRPr>
          </a:p>
        </p:txBody>
      </p:sp>
      <p:sp>
        <p:nvSpPr>
          <p:cNvPr id="203" name="正方形/長方形 202">
            <a:extLst>
              <a:ext uri="{FF2B5EF4-FFF2-40B4-BE49-F238E27FC236}">
                <a16:creationId xmlns:a16="http://schemas.microsoft.com/office/drawing/2014/main" id="{4E3AC2DE-A188-F618-5832-137BB805C1EA}"/>
              </a:ext>
            </a:extLst>
          </p:cNvPr>
          <p:cNvSpPr/>
          <p:nvPr/>
        </p:nvSpPr>
        <p:spPr>
          <a:xfrm>
            <a:off x="2591978" y="1718981"/>
            <a:ext cx="450005" cy="307777"/>
          </a:xfrm>
          <a:prstGeom prst="rect">
            <a:avLst/>
          </a:prstGeom>
        </p:spPr>
        <p:txBody>
          <a:bodyPr wrap="square">
            <a:spAutoFit/>
          </a:bodyPr>
          <a:lstStyle/>
          <a:p>
            <a:pPr algn="ctr"/>
            <a:r>
              <a:rPr lang="en-US" altLang="ja-JP" sz="1400" dirty="0">
                <a:solidFill>
                  <a:schemeClr val="tx1">
                    <a:lumMod val="65000"/>
                    <a:lumOff val="35000"/>
                  </a:schemeClr>
                </a:solidFill>
                <a:latin typeface="Consolas" panose="020B0609020204030204" pitchFamily="49" charset="0"/>
              </a:rPr>
              <a:t>I1</a:t>
            </a:r>
            <a:endParaRPr lang="ja-JP" altLang="en-US" sz="1400" dirty="0">
              <a:solidFill>
                <a:schemeClr val="tx1">
                  <a:lumMod val="65000"/>
                  <a:lumOff val="35000"/>
                </a:schemeClr>
              </a:solidFill>
              <a:latin typeface="Consolas" panose="020B0609020204030204" pitchFamily="49" charset="0"/>
            </a:endParaRPr>
          </a:p>
        </p:txBody>
      </p:sp>
      <p:sp>
        <p:nvSpPr>
          <p:cNvPr id="204" name="正方形/長方形 203">
            <a:extLst>
              <a:ext uri="{FF2B5EF4-FFF2-40B4-BE49-F238E27FC236}">
                <a16:creationId xmlns:a16="http://schemas.microsoft.com/office/drawing/2014/main" id="{AFA7AF7D-130C-7543-787D-94B51C301B1A}"/>
              </a:ext>
            </a:extLst>
          </p:cNvPr>
          <p:cNvSpPr/>
          <p:nvPr/>
        </p:nvSpPr>
        <p:spPr>
          <a:xfrm>
            <a:off x="2591978" y="1988984"/>
            <a:ext cx="450005" cy="307777"/>
          </a:xfrm>
          <a:prstGeom prst="rect">
            <a:avLst/>
          </a:prstGeom>
        </p:spPr>
        <p:txBody>
          <a:bodyPr wrap="square">
            <a:spAutoFit/>
          </a:bodyPr>
          <a:lstStyle/>
          <a:p>
            <a:pPr algn="ctr"/>
            <a:r>
              <a:rPr lang="en-US" altLang="ja-JP" sz="1400" dirty="0">
                <a:solidFill>
                  <a:schemeClr val="tx1">
                    <a:lumMod val="65000"/>
                    <a:lumOff val="35000"/>
                  </a:schemeClr>
                </a:solidFill>
                <a:latin typeface="Consolas" panose="020B0609020204030204" pitchFamily="49" charset="0"/>
              </a:rPr>
              <a:t>I2</a:t>
            </a:r>
            <a:endParaRPr lang="ja-JP" altLang="en-US" sz="1400" dirty="0">
              <a:solidFill>
                <a:schemeClr val="tx1">
                  <a:lumMod val="65000"/>
                  <a:lumOff val="35000"/>
                </a:schemeClr>
              </a:solidFill>
              <a:latin typeface="Consolas" panose="020B0609020204030204" pitchFamily="49" charset="0"/>
            </a:endParaRPr>
          </a:p>
        </p:txBody>
      </p:sp>
      <p:sp>
        <p:nvSpPr>
          <p:cNvPr id="205" name="正方形/長方形 204">
            <a:extLst>
              <a:ext uri="{FF2B5EF4-FFF2-40B4-BE49-F238E27FC236}">
                <a16:creationId xmlns:a16="http://schemas.microsoft.com/office/drawing/2014/main" id="{BEFA14A6-65F9-0953-DDE8-E9C260EB6749}"/>
              </a:ext>
            </a:extLst>
          </p:cNvPr>
          <p:cNvSpPr/>
          <p:nvPr/>
        </p:nvSpPr>
        <p:spPr>
          <a:xfrm>
            <a:off x="2591978" y="2258987"/>
            <a:ext cx="450005" cy="307777"/>
          </a:xfrm>
          <a:prstGeom prst="rect">
            <a:avLst/>
          </a:prstGeom>
        </p:spPr>
        <p:txBody>
          <a:bodyPr wrap="square">
            <a:spAutoFit/>
          </a:bodyPr>
          <a:lstStyle/>
          <a:p>
            <a:pPr algn="ctr"/>
            <a:r>
              <a:rPr lang="en-US" altLang="ja-JP" sz="1400" dirty="0">
                <a:solidFill>
                  <a:schemeClr val="tx1">
                    <a:lumMod val="65000"/>
                    <a:lumOff val="35000"/>
                  </a:schemeClr>
                </a:solidFill>
                <a:latin typeface="Consolas" panose="020B0609020204030204" pitchFamily="49" charset="0"/>
              </a:rPr>
              <a:t>I3</a:t>
            </a:r>
            <a:endParaRPr lang="ja-JP" altLang="en-US" sz="1400" dirty="0">
              <a:solidFill>
                <a:schemeClr val="tx1">
                  <a:lumMod val="65000"/>
                  <a:lumOff val="35000"/>
                </a:schemeClr>
              </a:solidFill>
              <a:latin typeface="Consolas" panose="020B0609020204030204" pitchFamily="49" charset="0"/>
            </a:endParaRPr>
          </a:p>
        </p:txBody>
      </p:sp>
      <p:sp>
        <p:nvSpPr>
          <p:cNvPr id="206" name="正方形/長方形 205">
            <a:extLst>
              <a:ext uri="{FF2B5EF4-FFF2-40B4-BE49-F238E27FC236}">
                <a16:creationId xmlns:a16="http://schemas.microsoft.com/office/drawing/2014/main" id="{F7CDA43B-6DAE-D1F7-56B6-414B83F37AA3}"/>
              </a:ext>
            </a:extLst>
          </p:cNvPr>
          <p:cNvSpPr/>
          <p:nvPr/>
        </p:nvSpPr>
        <p:spPr>
          <a:xfrm>
            <a:off x="2591978" y="2528990"/>
            <a:ext cx="450005" cy="307777"/>
          </a:xfrm>
          <a:prstGeom prst="rect">
            <a:avLst/>
          </a:prstGeom>
        </p:spPr>
        <p:txBody>
          <a:bodyPr wrap="square">
            <a:spAutoFit/>
          </a:bodyPr>
          <a:lstStyle/>
          <a:p>
            <a:pPr algn="ctr"/>
            <a:r>
              <a:rPr lang="en-US" altLang="ja-JP" sz="1400" dirty="0">
                <a:solidFill>
                  <a:schemeClr val="tx1">
                    <a:lumMod val="65000"/>
                    <a:lumOff val="35000"/>
                  </a:schemeClr>
                </a:solidFill>
                <a:latin typeface="Consolas" panose="020B0609020204030204" pitchFamily="49" charset="0"/>
              </a:rPr>
              <a:t>I4</a:t>
            </a:r>
            <a:endParaRPr lang="ja-JP" altLang="en-US" sz="1400" dirty="0">
              <a:solidFill>
                <a:schemeClr val="tx1">
                  <a:lumMod val="65000"/>
                  <a:lumOff val="35000"/>
                </a:schemeClr>
              </a:solidFill>
              <a:latin typeface="Consolas" panose="020B0609020204030204" pitchFamily="49" charset="0"/>
            </a:endParaRPr>
          </a:p>
        </p:txBody>
      </p:sp>
      <p:sp>
        <p:nvSpPr>
          <p:cNvPr id="207" name="正方形/長方形 206">
            <a:extLst>
              <a:ext uri="{FF2B5EF4-FFF2-40B4-BE49-F238E27FC236}">
                <a16:creationId xmlns:a16="http://schemas.microsoft.com/office/drawing/2014/main" id="{A42192FF-2DBE-2778-773E-7CE671B5A7F2}"/>
              </a:ext>
            </a:extLst>
          </p:cNvPr>
          <p:cNvSpPr/>
          <p:nvPr/>
        </p:nvSpPr>
        <p:spPr>
          <a:xfrm>
            <a:off x="2591978" y="2798993"/>
            <a:ext cx="450005" cy="307777"/>
          </a:xfrm>
          <a:prstGeom prst="rect">
            <a:avLst/>
          </a:prstGeom>
        </p:spPr>
        <p:txBody>
          <a:bodyPr wrap="square">
            <a:spAutoFit/>
          </a:bodyPr>
          <a:lstStyle/>
          <a:p>
            <a:pPr algn="ctr"/>
            <a:r>
              <a:rPr lang="en-US" altLang="ja-JP" sz="1400" dirty="0">
                <a:solidFill>
                  <a:schemeClr val="tx1">
                    <a:lumMod val="65000"/>
                    <a:lumOff val="35000"/>
                  </a:schemeClr>
                </a:solidFill>
                <a:latin typeface="Consolas" panose="020B0609020204030204" pitchFamily="49" charset="0"/>
              </a:rPr>
              <a:t>I5</a:t>
            </a:r>
            <a:endParaRPr lang="ja-JP" altLang="en-US" sz="1400" dirty="0">
              <a:solidFill>
                <a:schemeClr val="tx1">
                  <a:lumMod val="65000"/>
                  <a:lumOff val="35000"/>
                </a:schemeClr>
              </a:solidFill>
              <a:latin typeface="Consolas" panose="020B0609020204030204" pitchFamily="49" charset="0"/>
            </a:endParaRPr>
          </a:p>
        </p:txBody>
      </p:sp>
      <p:sp>
        <p:nvSpPr>
          <p:cNvPr id="208" name="正方形/長方形 207">
            <a:extLst>
              <a:ext uri="{FF2B5EF4-FFF2-40B4-BE49-F238E27FC236}">
                <a16:creationId xmlns:a16="http://schemas.microsoft.com/office/drawing/2014/main" id="{6B0AABDA-871B-1BEE-71B8-8BC3CB984E7F}"/>
              </a:ext>
            </a:extLst>
          </p:cNvPr>
          <p:cNvSpPr/>
          <p:nvPr/>
        </p:nvSpPr>
        <p:spPr>
          <a:xfrm>
            <a:off x="2591978" y="3519001"/>
            <a:ext cx="450005" cy="307777"/>
          </a:xfrm>
          <a:prstGeom prst="rect">
            <a:avLst/>
          </a:prstGeom>
        </p:spPr>
        <p:txBody>
          <a:bodyPr wrap="square">
            <a:spAutoFit/>
          </a:bodyPr>
          <a:lstStyle/>
          <a:p>
            <a:pPr algn="ctr"/>
            <a:r>
              <a:rPr lang="en-US" altLang="ja-JP" sz="1400" dirty="0">
                <a:solidFill>
                  <a:schemeClr val="tx1">
                    <a:lumMod val="65000"/>
                    <a:lumOff val="35000"/>
                  </a:schemeClr>
                </a:solidFill>
                <a:latin typeface="Consolas" panose="020B0609020204030204" pitchFamily="49" charset="0"/>
              </a:rPr>
              <a:t>I0</a:t>
            </a:r>
            <a:endParaRPr lang="ja-JP" altLang="en-US" sz="1400" dirty="0">
              <a:solidFill>
                <a:schemeClr val="tx1">
                  <a:lumMod val="65000"/>
                  <a:lumOff val="35000"/>
                </a:schemeClr>
              </a:solidFill>
              <a:latin typeface="Consolas" panose="020B0609020204030204" pitchFamily="49" charset="0"/>
            </a:endParaRPr>
          </a:p>
        </p:txBody>
      </p:sp>
      <p:sp>
        <p:nvSpPr>
          <p:cNvPr id="209" name="正方形/長方形 208">
            <a:extLst>
              <a:ext uri="{FF2B5EF4-FFF2-40B4-BE49-F238E27FC236}">
                <a16:creationId xmlns:a16="http://schemas.microsoft.com/office/drawing/2014/main" id="{64BE4FBF-08E1-7DC3-4974-1C2DF1744B3B}"/>
              </a:ext>
            </a:extLst>
          </p:cNvPr>
          <p:cNvSpPr/>
          <p:nvPr/>
        </p:nvSpPr>
        <p:spPr>
          <a:xfrm>
            <a:off x="2591978" y="3789004"/>
            <a:ext cx="450005" cy="307777"/>
          </a:xfrm>
          <a:prstGeom prst="rect">
            <a:avLst/>
          </a:prstGeom>
        </p:spPr>
        <p:txBody>
          <a:bodyPr wrap="square">
            <a:spAutoFit/>
          </a:bodyPr>
          <a:lstStyle/>
          <a:p>
            <a:pPr algn="ctr"/>
            <a:r>
              <a:rPr lang="en-US" altLang="ja-JP" sz="1400" dirty="0">
                <a:solidFill>
                  <a:schemeClr val="tx1">
                    <a:lumMod val="65000"/>
                    <a:lumOff val="35000"/>
                  </a:schemeClr>
                </a:solidFill>
                <a:latin typeface="Consolas" panose="020B0609020204030204" pitchFamily="49" charset="0"/>
              </a:rPr>
              <a:t>I1</a:t>
            </a:r>
            <a:endParaRPr lang="ja-JP" altLang="en-US" sz="1400" dirty="0">
              <a:solidFill>
                <a:schemeClr val="tx1">
                  <a:lumMod val="65000"/>
                  <a:lumOff val="35000"/>
                </a:schemeClr>
              </a:solidFill>
              <a:latin typeface="Consolas" panose="020B0609020204030204" pitchFamily="49" charset="0"/>
            </a:endParaRPr>
          </a:p>
        </p:txBody>
      </p:sp>
      <p:sp>
        <p:nvSpPr>
          <p:cNvPr id="210" name="正方形/長方形 209">
            <a:extLst>
              <a:ext uri="{FF2B5EF4-FFF2-40B4-BE49-F238E27FC236}">
                <a16:creationId xmlns:a16="http://schemas.microsoft.com/office/drawing/2014/main" id="{E07A42F9-1CDE-08B0-D8AC-0A4FAC5A2230}"/>
              </a:ext>
            </a:extLst>
          </p:cNvPr>
          <p:cNvSpPr/>
          <p:nvPr/>
        </p:nvSpPr>
        <p:spPr>
          <a:xfrm>
            <a:off x="2591978" y="4059007"/>
            <a:ext cx="450005" cy="307777"/>
          </a:xfrm>
          <a:prstGeom prst="rect">
            <a:avLst/>
          </a:prstGeom>
        </p:spPr>
        <p:txBody>
          <a:bodyPr wrap="square">
            <a:spAutoFit/>
          </a:bodyPr>
          <a:lstStyle/>
          <a:p>
            <a:pPr algn="ctr"/>
            <a:r>
              <a:rPr lang="en-US" altLang="ja-JP" sz="1400" dirty="0">
                <a:solidFill>
                  <a:schemeClr val="tx1">
                    <a:lumMod val="65000"/>
                    <a:lumOff val="35000"/>
                  </a:schemeClr>
                </a:solidFill>
                <a:latin typeface="Consolas" panose="020B0609020204030204" pitchFamily="49" charset="0"/>
              </a:rPr>
              <a:t>I2</a:t>
            </a:r>
            <a:endParaRPr lang="ja-JP" altLang="en-US" sz="1400" dirty="0">
              <a:solidFill>
                <a:schemeClr val="tx1">
                  <a:lumMod val="65000"/>
                  <a:lumOff val="35000"/>
                </a:schemeClr>
              </a:solidFill>
              <a:latin typeface="Consolas" panose="020B0609020204030204" pitchFamily="49" charset="0"/>
            </a:endParaRPr>
          </a:p>
        </p:txBody>
      </p:sp>
      <p:sp>
        <p:nvSpPr>
          <p:cNvPr id="211" name="正方形/長方形 210">
            <a:extLst>
              <a:ext uri="{FF2B5EF4-FFF2-40B4-BE49-F238E27FC236}">
                <a16:creationId xmlns:a16="http://schemas.microsoft.com/office/drawing/2014/main" id="{AF8D2CD2-2885-3972-12B6-2A08FD050F1E}"/>
              </a:ext>
            </a:extLst>
          </p:cNvPr>
          <p:cNvSpPr/>
          <p:nvPr/>
        </p:nvSpPr>
        <p:spPr>
          <a:xfrm>
            <a:off x="2591978" y="4329010"/>
            <a:ext cx="450005" cy="307777"/>
          </a:xfrm>
          <a:prstGeom prst="rect">
            <a:avLst/>
          </a:prstGeom>
        </p:spPr>
        <p:txBody>
          <a:bodyPr wrap="square">
            <a:spAutoFit/>
          </a:bodyPr>
          <a:lstStyle/>
          <a:p>
            <a:pPr algn="ctr"/>
            <a:r>
              <a:rPr lang="en-US" altLang="ja-JP" sz="1400" dirty="0">
                <a:solidFill>
                  <a:schemeClr val="tx1">
                    <a:lumMod val="65000"/>
                    <a:lumOff val="35000"/>
                  </a:schemeClr>
                </a:solidFill>
                <a:latin typeface="Consolas" panose="020B0609020204030204" pitchFamily="49" charset="0"/>
              </a:rPr>
              <a:t>I3</a:t>
            </a:r>
            <a:endParaRPr lang="ja-JP" altLang="en-US" sz="1400" dirty="0">
              <a:solidFill>
                <a:schemeClr val="tx1">
                  <a:lumMod val="65000"/>
                  <a:lumOff val="35000"/>
                </a:schemeClr>
              </a:solidFill>
              <a:latin typeface="Consolas" panose="020B0609020204030204" pitchFamily="49" charset="0"/>
            </a:endParaRPr>
          </a:p>
        </p:txBody>
      </p:sp>
      <p:sp>
        <p:nvSpPr>
          <p:cNvPr id="212" name="正方形/長方形 211">
            <a:extLst>
              <a:ext uri="{FF2B5EF4-FFF2-40B4-BE49-F238E27FC236}">
                <a16:creationId xmlns:a16="http://schemas.microsoft.com/office/drawing/2014/main" id="{95994507-86FE-26CE-A37D-2BFB81A2BA21}"/>
              </a:ext>
            </a:extLst>
          </p:cNvPr>
          <p:cNvSpPr/>
          <p:nvPr/>
        </p:nvSpPr>
        <p:spPr>
          <a:xfrm>
            <a:off x="2591978" y="4599013"/>
            <a:ext cx="450005" cy="307777"/>
          </a:xfrm>
          <a:prstGeom prst="rect">
            <a:avLst/>
          </a:prstGeom>
        </p:spPr>
        <p:txBody>
          <a:bodyPr wrap="square">
            <a:spAutoFit/>
          </a:bodyPr>
          <a:lstStyle/>
          <a:p>
            <a:pPr algn="ctr"/>
            <a:r>
              <a:rPr lang="en-US" altLang="ja-JP" sz="1400" dirty="0">
                <a:solidFill>
                  <a:schemeClr val="tx1">
                    <a:lumMod val="65000"/>
                    <a:lumOff val="35000"/>
                  </a:schemeClr>
                </a:solidFill>
                <a:latin typeface="Consolas" panose="020B0609020204030204" pitchFamily="49" charset="0"/>
              </a:rPr>
              <a:t>I4</a:t>
            </a:r>
            <a:endParaRPr lang="ja-JP" altLang="en-US" sz="1400" dirty="0">
              <a:solidFill>
                <a:schemeClr val="tx1">
                  <a:lumMod val="65000"/>
                  <a:lumOff val="35000"/>
                </a:schemeClr>
              </a:solidFill>
              <a:latin typeface="Consolas" panose="020B0609020204030204" pitchFamily="49" charset="0"/>
            </a:endParaRPr>
          </a:p>
        </p:txBody>
      </p:sp>
      <p:sp>
        <p:nvSpPr>
          <p:cNvPr id="213" name="正方形/長方形 212">
            <a:extLst>
              <a:ext uri="{FF2B5EF4-FFF2-40B4-BE49-F238E27FC236}">
                <a16:creationId xmlns:a16="http://schemas.microsoft.com/office/drawing/2014/main" id="{217EEC53-076D-5C2C-D16B-DBE6C3229703}"/>
              </a:ext>
            </a:extLst>
          </p:cNvPr>
          <p:cNvSpPr/>
          <p:nvPr/>
        </p:nvSpPr>
        <p:spPr>
          <a:xfrm>
            <a:off x="2591978" y="4869016"/>
            <a:ext cx="450005" cy="307777"/>
          </a:xfrm>
          <a:prstGeom prst="rect">
            <a:avLst/>
          </a:prstGeom>
        </p:spPr>
        <p:txBody>
          <a:bodyPr wrap="square">
            <a:spAutoFit/>
          </a:bodyPr>
          <a:lstStyle/>
          <a:p>
            <a:pPr algn="ctr"/>
            <a:r>
              <a:rPr lang="en-US" altLang="ja-JP" sz="1400" dirty="0">
                <a:solidFill>
                  <a:schemeClr val="tx1">
                    <a:lumMod val="65000"/>
                    <a:lumOff val="35000"/>
                  </a:schemeClr>
                </a:solidFill>
                <a:latin typeface="Consolas" panose="020B0609020204030204" pitchFamily="49" charset="0"/>
              </a:rPr>
              <a:t>I5</a:t>
            </a:r>
            <a:endParaRPr lang="ja-JP" altLang="en-US" sz="1400" dirty="0">
              <a:solidFill>
                <a:schemeClr val="tx1">
                  <a:lumMod val="65000"/>
                  <a:lumOff val="35000"/>
                </a:schemeClr>
              </a:solidFill>
              <a:latin typeface="Consolas" panose="020B0609020204030204" pitchFamily="49" charset="0"/>
            </a:endParaRPr>
          </a:p>
        </p:txBody>
      </p:sp>
      <p:sp>
        <p:nvSpPr>
          <p:cNvPr id="9" name="Rectangle 69">
            <a:extLst>
              <a:ext uri="{FF2B5EF4-FFF2-40B4-BE49-F238E27FC236}">
                <a16:creationId xmlns:a16="http://schemas.microsoft.com/office/drawing/2014/main" id="{AE060D6C-A745-1AAA-3158-A76DD48A5483}"/>
              </a:ext>
            </a:extLst>
          </p:cNvPr>
          <p:cNvSpPr>
            <a:spLocks noChangeArrowheads="1"/>
          </p:cNvSpPr>
          <p:nvPr/>
        </p:nvSpPr>
        <p:spPr bwMode="auto">
          <a:xfrm>
            <a:off x="3581989" y="4149008"/>
            <a:ext cx="450004"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F</a:t>
            </a:r>
          </a:p>
        </p:txBody>
      </p:sp>
      <p:sp>
        <p:nvSpPr>
          <p:cNvPr id="10" name="Rectangle 70">
            <a:extLst>
              <a:ext uri="{FF2B5EF4-FFF2-40B4-BE49-F238E27FC236}">
                <a16:creationId xmlns:a16="http://schemas.microsoft.com/office/drawing/2014/main" id="{C46E4B64-79CE-BAE6-C2D8-524AA567D7F5}"/>
              </a:ext>
            </a:extLst>
          </p:cNvPr>
          <p:cNvSpPr>
            <a:spLocks noChangeArrowheads="1"/>
          </p:cNvSpPr>
          <p:nvPr/>
        </p:nvSpPr>
        <p:spPr bwMode="auto">
          <a:xfrm>
            <a:off x="4031992" y="4149008"/>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D</a:t>
            </a:r>
          </a:p>
        </p:txBody>
      </p:sp>
      <p:sp>
        <p:nvSpPr>
          <p:cNvPr id="11" name="Rectangle 71">
            <a:extLst>
              <a:ext uri="{FF2B5EF4-FFF2-40B4-BE49-F238E27FC236}">
                <a16:creationId xmlns:a16="http://schemas.microsoft.com/office/drawing/2014/main" id="{5397F58D-9589-A201-900B-CCA576863646}"/>
              </a:ext>
            </a:extLst>
          </p:cNvPr>
          <p:cNvSpPr>
            <a:spLocks noChangeArrowheads="1"/>
          </p:cNvSpPr>
          <p:nvPr/>
        </p:nvSpPr>
        <p:spPr bwMode="auto">
          <a:xfrm>
            <a:off x="4932004" y="4149008"/>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X</a:t>
            </a:r>
          </a:p>
        </p:txBody>
      </p:sp>
      <p:sp>
        <p:nvSpPr>
          <p:cNvPr id="12" name="Rectangle 72">
            <a:extLst>
              <a:ext uri="{FF2B5EF4-FFF2-40B4-BE49-F238E27FC236}">
                <a16:creationId xmlns:a16="http://schemas.microsoft.com/office/drawing/2014/main" id="{5BAC2181-C745-DC46-D95A-3EA92D2678C4}"/>
              </a:ext>
            </a:extLst>
          </p:cNvPr>
          <p:cNvSpPr>
            <a:spLocks noChangeArrowheads="1"/>
          </p:cNvSpPr>
          <p:nvPr/>
        </p:nvSpPr>
        <p:spPr bwMode="auto">
          <a:xfrm>
            <a:off x="5382009" y="4149008"/>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M</a:t>
            </a:r>
          </a:p>
        </p:txBody>
      </p:sp>
      <p:sp>
        <p:nvSpPr>
          <p:cNvPr id="13" name="Rectangle 73">
            <a:extLst>
              <a:ext uri="{FF2B5EF4-FFF2-40B4-BE49-F238E27FC236}">
                <a16:creationId xmlns:a16="http://schemas.microsoft.com/office/drawing/2014/main" id="{B614E49F-19CD-8D0A-D4B2-4F7A43F70C30}"/>
              </a:ext>
            </a:extLst>
          </p:cNvPr>
          <p:cNvSpPr>
            <a:spLocks noChangeArrowheads="1"/>
          </p:cNvSpPr>
          <p:nvPr/>
        </p:nvSpPr>
        <p:spPr bwMode="auto">
          <a:xfrm>
            <a:off x="5832014" y="4149008"/>
            <a:ext cx="450004"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W</a:t>
            </a:r>
          </a:p>
        </p:txBody>
      </p:sp>
      <p:sp>
        <p:nvSpPr>
          <p:cNvPr id="14" name="Rectangle 69">
            <a:extLst>
              <a:ext uri="{FF2B5EF4-FFF2-40B4-BE49-F238E27FC236}">
                <a16:creationId xmlns:a16="http://schemas.microsoft.com/office/drawing/2014/main" id="{8AA53BF3-779C-7DAE-8BE8-B9216258A714}"/>
              </a:ext>
            </a:extLst>
          </p:cNvPr>
          <p:cNvSpPr>
            <a:spLocks noChangeArrowheads="1"/>
          </p:cNvSpPr>
          <p:nvPr/>
        </p:nvSpPr>
        <p:spPr bwMode="auto">
          <a:xfrm>
            <a:off x="4481999" y="4419011"/>
            <a:ext cx="450004" cy="180002"/>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400" dirty="0">
                <a:latin typeface="+mn-lt"/>
                <a:ea typeface="+mn-ea"/>
              </a:rPr>
              <a:t>bb</a:t>
            </a:r>
          </a:p>
        </p:txBody>
      </p:sp>
      <p:sp>
        <p:nvSpPr>
          <p:cNvPr id="15" name="Rectangle 69">
            <a:extLst>
              <a:ext uri="{FF2B5EF4-FFF2-40B4-BE49-F238E27FC236}">
                <a16:creationId xmlns:a16="http://schemas.microsoft.com/office/drawing/2014/main" id="{18D00300-C464-FDDC-3B6A-59246869D112}"/>
              </a:ext>
            </a:extLst>
          </p:cNvPr>
          <p:cNvSpPr>
            <a:spLocks noChangeArrowheads="1"/>
          </p:cNvSpPr>
          <p:nvPr/>
        </p:nvSpPr>
        <p:spPr bwMode="auto">
          <a:xfrm>
            <a:off x="3581989" y="4419011"/>
            <a:ext cx="450004"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F</a:t>
            </a:r>
          </a:p>
        </p:txBody>
      </p:sp>
      <p:sp>
        <p:nvSpPr>
          <p:cNvPr id="21" name="Rectangle 70">
            <a:extLst>
              <a:ext uri="{FF2B5EF4-FFF2-40B4-BE49-F238E27FC236}">
                <a16:creationId xmlns:a16="http://schemas.microsoft.com/office/drawing/2014/main" id="{1639A189-C392-4D0E-10E0-B1F9B475E8CC}"/>
              </a:ext>
            </a:extLst>
          </p:cNvPr>
          <p:cNvSpPr>
            <a:spLocks noChangeArrowheads="1"/>
          </p:cNvSpPr>
          <p:nvPr/>
        </p:nvSpPr>
        <p:spPr bwMode="auto">
          <a:xfrm>
            <a:off x="4031992" y="4419011"/>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D</a:t>
            </a:r>
          </a:p>
        </p:txBody>
      </p:sp>
      <p:sp>
        <p:nvSpPr>
          <p:cNvPr id="22" name="Rectangle 71">
            <a:extLst>
              <a:ext uri="{FF2B5EF4-FFF2-40B4-BE49-F238E27FC236}">
                <a16:creationId xmlns:a16="http://schemas.microsoft.com/office/drawing/2014/main" id="{51F95A23-ECA7-65EE-F8A2-EF175310530E}"/>
              </a:ext>
            </a:extLst>
          </p:cNvPr>
          <p:cNvSpPr>
            <a:spLocks noChangeArrowheads="1"/>
          </p:cNvSpPr>
          <p:nvPr/>
        </p:nvSpPr>
        <p:spPr bwMode="auto">
          <a:xfrm>
            <a:off x="4932004" y="4419011"/>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X</a:t>
            </a:r>
          </a:p>
        </p:txBody>
      </p:sp>
      <p:sp>
        <p:nvSpPr>
          <p:cNvPr id="23" name="Rectangle 72">
            <a:extLst>
              <a:ext uri="{FF2B5EF4-FFF2-40B4-BE49-F238E27FC236}">
                <a16:creationId xmlns:a16="http://schemas.microsoft.com/office/drawing/2014/main" id="{9B10E8E9-99D1-80E6-3427-5FBD08A462C4}"/>
              </a:ext>
            </a:extLst>
          </p:cNvPr>
          <p:cNvSpPr>
            <a:spLocks noChangeArrowheads="1"/>
          </p:cNvSpPr>
          <p:nvPr/>
        </p:nvSpPr>
        <p:spPr bwMode="auto">
          <a:xfrm>
            <a:off x="5382009" y="4419011"/>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M</a:t>
            </a:r>
          </a:p>
        </p:txBody>
      </p:sp>
      <p:sp>
        <p:nvSpPr>
          <p:cNvPr id="24" name="Rectangle 73">
            <a:extLst>
              <a:ext uri="{FF2B5EF4-FFF2-40B4-BE49-F238E27FC236}">
                <a16:creationId xmlns:a16="http://schemas.microsoft.com/office/drawing/2014/main" id="{5C8B753D-C001-FB28-40F2-A9CB534EAE85}"/>
              </a:ext>
            </a:extLst>
          </p:cNvPr>
          <p:cNvSpPr>
            <a:spLocks noChangeArrowheads="1"/>
          </p:cNvSpPr>
          <p:nvPr/>
        </p:nvSpPr>
        <p:spPr bwMode="auto">
          <a:xfrm>
            <a:off x="5832014" y="4419011"/>
            <a:ext cx="450004"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W</a:t>
            </a:r>
          </a:p>
        </p:txBody>
      </p:sp>
      <p:sp>
        <p:nvSpPr>
          <p:cNvPr id="25" name="Rectangle 69">
            <a:extLst>
              <a:ext uri="{FF2B5EF4-FFF2-40B4-BE49-F238E27FC236}">
                <a16:creationId xmlns:a16="http://schemas.microsoft.com/office/drawing/2014/main" id="{E6D0B51F-ECE3-89C3-B8AB-C9C1A738E523}"/>
              </a:ext>
            </a:extLst>
          </p:cNvPr>
          <p:cNvSpPr>
            <a:spLocks noChangeArrowheads="1"/>
          </p:cNvSpPr>
          <p:nvPr/>
        </p:nvSpPr>
        <p:spPr bwMode="auto">
          <a:xfrm>
            <a:off x="4481999" y="4689014"/>
            <a:ext cx="450004" cy="180002"/>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400" dirty="0">
                <a:latin typeface="+mn-lt"/>
                <a:ea typeface="+mn-ea"/>
              </a:rPr>
              <a:t>bb</a:t>
            </a:r>
          </a:p>
        </p:txBody>
      </p:sp>
      <p:sp>
        <p:nvSpPr>
          <p:cNvPr id="41" name="Rectangle 69">
            <a:extLst>
              <a:ext uri="{FF2B5EF4-FFF2-40B4-BE49-F238E27FC236}">
                <a16:creationId xmlns:a16="http://schemas.microsoft.com/office/drawing/2014/main" id="{0252B0BF-16C6-B7AB-A445-2E7F4912A6BC}"/>
              </a:ext>
            </a:extLst>
          </p:cNvPr>
          <p:cNvSpPr>
            <a:spLocks noChangeArrowheads="1"/>
          </p:cNvSpPr>
          <p:nvPr/>
        </p:nvSpPr>
        <p:spPr bwMode="auto">
          <a:xfrm>
            <a:off x="4031994" y="4689014"/>
            <a:ext cx="450004"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F</a:t>
            </a:r>
          </a:p>
        </p:txBody>
      </p:sp>
      <p:sp>
        <p:nvSpPr>
          <p:cNvPr id="42" name="Rectangle 70">
            <a:extLst>
              <a:ext uri="{FF2B5EF4-FFF2-40B4-BE49-F238E27FC236}">
                <a16:creationId xmlns:a16="http://schemas.microsoft.com/office/drawing/2014/main" id="{A5CD2E37-9240-B945-601C-0271821255D2}"/>
              </a:ext>
            </a:extLst>
          </p:cNvPr>
          <p:cNvSpPr>
            <a:spLocks noChangeArrowheads="1"/>
          </p:cNvSpPr>
          <p:nvPr/>
        </p:nvSpPr>
        <p:spPr bwMode="auto">
          <a:xfrm>
            <a:off x="4932004" y="468901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D</a:t>
            </a:r>
          </a:p>
        </p:txBody>
      </p:sp>
      <p:sp>
        <p:nvSpPr>
          <p:cNvPr id="43" name="Rectangle 71">
            <a:extLst>
              <a:ext uri="{FF2B5EF4-FFF2-40B4-BE49-F238E27FC236}">
                <a16:creationId xmlns:a16="http://schemas.microsoft.com/office/drawing/2014/main" id="{8299E7F3-C792-D639-9E90-7E860974C3BB}"/>
              </a:ext>
            </a:extLst>
          </p:cNvPr>
          <p:cNvSpPr>
            <a:spLocks noChangeArrowheads="1"/>
          </p:cNvSpPr>
          <p:nvPr/>
        </p:nvSpPr>
        <p:spPr bwMode="auto">
          <a:xfrm>
            <a:off x="5382009" y="468901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X</a:t>
            </a:r>
          </a:p>
        </p:txBody>
      </p:sp>
      <p:sp>
        <p:nvSpPr>
          <p:cNvPr id="44" name="Rectangle 72">
            <a:extLst>
              <a:ext uri="{FF2B5EF4-FFF2-40B4-BE49-F238E27FC236}">
                <a16:creationId xmlns:a16="http://schemas.microsoft.com/office/drawing/2014/main" id="{89B2D5C8-A1F0-5829-4F19-039BF4081380}"/>
              </a:ext>
            </a:extLst>
          </p:cNvPr>
          <p:cNvSpPr>
            <a:spLocks noChangeArrowheads="1"/>
          </p:cNvSpPr>
          <p:nvPr/>
        </p:nvSpPr>
        <p:spPr bwMode="auto">
          <a:xfrm>
            <a:off x="5832014" y="4689014"/>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M</a:t>
            </a:r>
          </a:p>
        </p:txBody>
      </p:sp>
      <p:sp>
        <p:nvSpPr>
          <p:cNvPr id="45" name="Rectangle 73">
            <a:extLst>
              <a:ext uri="{FF2B5EF4-FFF2-40B4-BE49-F238E27FC236}">
                <a16:creationId xmlns:a16="http://schemas.microsoft.com/office/drawing/2014/main" id="{9FFF2ECD-3E00-7737-D3DA-8057CB76AC36}"/>
              </a:ext>
            </a:extLst>
          </p:cNvPr>
          <p:cNvSpPr>
            <a:spLocks noChangeArrowheads="1"/>
          </p:cNvSpPr>
          <p:nvPr/>
        </p:nvSpPr>
        <p:spPr bwMode="auto">
          <a:xfrm>
            <a:off x="6282019" y="4689014"/>
            <a:ext cx="450004"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W</a:t>
            </a:r>
          </a:p>
        </p:txBody>
      </p:sp>
      <p:sp>
        <p:nvSpPr>
          <p:cNvPr id="46" name="Rectangle 69">
            <a:extLst>
              <a:ext uri="{FF2B5EF4-FFF2-40B4-BE49-F238E27FC236}">
                <a16:creationId xmlns:a16="http://schemas.microsoft.com/office/drawing/2014/main" id="{8A9083BF-9517-BB7E-20C8-6FE03691F3F6}"/>
              </a:ext>
            </a:extLst>
          </p:cNvPr>
          <p:cNvSpPr>
            <a:spLocks noChangeArrowheads="1"/>
          </p:cNvSpPr>
          <p:nvPr/>
        </p:nvSpPr>
        <p:spPr bwMode="auto">
          <a:xfrm>
            <a:off x="4481999" y="4959017"/>
            <a:ext cx="450004" cy="180002"/>
          </a:xfrm>
          <a:prstGeom prst="rect">
            <a:avLst/>
          </a:prstGeom>
          <a:ln>
            <a:headEnd/>
            <a:tailEnd type="none" w="med" len="lg"/>
          </a:ln>
          <a:effectLst/>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400" dirty="0">
                <a:latin typeface="+mn-lt"/>
                <a:ea typeface="+mn-ea"/>
              </a:rPr>
              <a:t>bb</a:t>
            </a:r>
          </a:p>
        </p:txBody>
      </p:sp>
      <p:sp>
        <p:nvSpPr>
          <p:cNvPr id="47" name="Rectangle 69">
            <a:extLst>
              <a:ext uri="{FF2B5EF4-FFF2-40B4-BE49-F238E27FC236}">
                <a16:creationId xmlns:a16="http://schemas.microsoft.com/office/drawing/2014/main" id="{71C4CE7F-E27C-9EBC-9CF7-FDA2C573F85F}"/>
              </a:ext>
            </a:extLst>
          </p:cNvPr>
          <p:cNvSpPr>
            <a:spLocks noChangeArrowheads="1"/>
          </p:cNvSpPr>
          <p:nvPr/>
        </p:nvSpPr>
        <p:spPr bwMode="auto">
          <a:xfrm>
            <a:off x="4031994" y="4959017"/>
            <a:ext cx="450004"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F</a:t>
            </a:r>
          </a:p>
        </p:txBody>
      </p:sp>
      <p:sp>
        <p:nvSpPr>
          <p:cNvPr id="57" name="Rectangle 70">
            <a:extLst>
              <a:ext uri="{FF2B5EF4-FFF2-40B4-BE49-F238E27FC236}">
                <a16:creationId xmlns:a16="http://schemas.microsoft.com/office/drawing/2014/main" id="{4300C42B-5267-AF60-2FF9-72D40FDE5D69}"/>
              </a:ext>
            </a:extLst>
          </p:cNvPr>
          <p:cNvSpPr>
            <a:spLocks noChangeArrowheads="1"/>
          </p:cNvSpPr>
          <p:nvPr/>
        </p:nvSpPr>
        <p:spPr bwMode="auto">
          <a:xfrm>
            <a:off x="4932004" y="4959017"/>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D</a:t>
            </a:r>
          </a:p>
        </p:txBody>
      </p:sp>
      <p:sp>
        <p:nvSpPr>
          <p:cNvPr id="58" name="Rectangle 71">
            <a:extLst>
              <a:ext uri="{FF2B5EF4-FFF2-40B4-BE49-F238E27FC236}">
                <a16:creationId xmlns:a16="http://schemas.microsoft.com/office/drawing/2014/main" id="{8043CE17-8523-C708-713F-29FFE1F53431}"/>
              </a:ext>
            </a:extLst>
          </p:cNvPr>
          <p:cNvSpPr>
            <a:spLocks noChangeArrowheads="1"/>
          </p:cNvSpPr>
          <p:nvPr/>
        </p:nvSpPr>
        <p:spPr bwMode="auto">
          <a:xfrm>
            <a:off x="5382009" y="4959017"/>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X</a:t>
            </a:r>
          </a:p>
        </p:txBody>
      </p:sp>
      <p:sp>
        <p:nvSpPr>
          <p:cNvPr id="59" name="Rectangle 72">
            <a:extLst>
              <a:ext uri="{FF2B5EF4-FFF2-40B4-BE49-F238E27FC236}">
                <a16:creationId xmlns:a16="http://schemas.microsoft.com/office/drawing/2014/main" id="{E870A178-61E7-D972-FCD8-C1151CF01914}"/>
              </a:ext>
            </a:extLst>
          </p:cNvPr>
          <p:cNvSpPr>
            <a:spLocks noChangeArrowheads="1"/>
          </p:cNvSpPr>
          <p:nvPr/>
        </p:nvSpPr>
        <p:spPr bwMode="auto">
          <a:xfrm>
            <a:off x="5832014" y="4959017"/>
            <a:ext cx="450005"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M</a:t>
            </a:r>
          </a:p>
        </p:txBody>
      </p:sp>
      <p:sp>
        <p:nvSpPr>
          <p:cNvPr id="130" name="Rectangle 73">
            <a:extLst>
              <a:ext uri="{FF2B5EF4-FFF2-40B4-BE49-F238E27FC236}">
                <a16:creationId xmlns:a16="http://schemas.microsoft.com/office/drawing/2014/main" id="{3AB8F81D-9405-B54E-B464-2ED8EB19D850}"/>
              </a:ext>
            </a:extLst>
          </p:cNvPr>
          <p:cNvSpPr>
            <a:spLocks noChangeArrowheads="1"/>
          </p:cNvSpPr>
          <p:nvPr/>
        </p:nvSpPr>
        <p:spPr bwMode="auto">
          <a:xfrm>
            <a:off x="6282019" y="4959017"/>
            <a:ext cx="450004" cy="180002"/>
          </a:xfrm>
          <a:prstGeom prst="rect">
            <a:avLst/>
          </a:prstGeom>
          <a:ln>
            <a:headEnd/>
            <a:tailEnd type="none" w="med" len="lg"/>
          </a:ln>
          <a:effectLst/>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400" dirty="0">
                <a:latin typeface="+mn-lt"/>
                <a:ea typeface="+mn-ea"/>
              </a:rPr>
              <a:t>W</a:t>
            </a:r>
          </a:p>
        </p:txBody>
      </p:sp>
      <p:cxnSp>
        <p:nvCxnSpPr>
          <p:cNvPr id="131" name="直線矢印コネクタ 130">
            <a:extLst>
              <a:ext uri="{FF2B5EF4-FFF2-40B4-BE49-F238E27FC236}">
                <a16:creationId xmlns:a16="http://schemas.microsoft.com/office/drawing/2014/main" id="{3C4368DD-BA1D-6276-BEFB-39D0A1DFACE1}"/>
              </a:ext>
            </a:extLst>
          </p:cNvPr>
          <p:cNvCxnSpPr>
            <a:cxnSpLocks/>
          </p:cNvCxnSpPr>
          <p:nvPr/>
        </p:nvCxnSpPr>
        <p:spPr bwMode="auto">
          <a:xfrm>
            <a:off x="6282019" y="2528990"/>
            <a:ext cx="450005" cy="0"/>
          </a:xfrm>
          <a:prstGeom prst="straightConnector1">
            <a:avLst/>
          </a:prstGeom>
          <a:noFill/>
          <a:ln w="9525" cap="flat" cmpd="sng" algn="ctr">
            <a:solidFill>
              <a:schemeClr val="tx1">
                <a:lumMod val="75000"/>
                <a:lumOff val="25000"/>
              </a:schemeClr>
            </a:solidFill>
            <a:prstDash val="solid"/>
            <a:round/>
            <a:headEnd type="triangle" w="med" len="med"/>
            <a:tailEnd type="triangle"/>
          </a:ln>
          <a:effectLst/>
        </p:spPr>
      </p:cxnSp>
      <p:cxnSp>
        <p:nvCxnSpPr>
          <p:cNvPr id="132" name="直線矢印コネクタ 131">
            <a:extLst>
              <a:ext uri="{FF2B5EF4-FFF2-40B4-BE49-F238E27FC236}">
                <a16:creationId xmlns:a16="http://schemas.microsoft.com/office/drawing/2014/main" id="{76D2D9F5-A522-211E-418D-F425CD064DDE}"/>
              </a:ext>
            </a:extLst>
          </p:cNvPr>
          <p:cNvCxnSpPr>
            <a:cxnSpLocks/>
          </p:cNvCxnSpPr>
          <p:nvPr/>
        </p:nvCxnSpPr>
        <p:spPr bwMode="auto">
          <a:xfrm>
            <a:off x="6282019" y="1808982"/>
            <a:ext cx="0" cy="3420038"/>
          </a:xfrm>
          <a:prstGeom prst="straightConnector1">
            <a:avLst/>
          </a:prstGeom>
          <a:noFill/>
          <a:ln w="6350" cap="flat" cmpd="sng" algn="ctr">
            <a:solidFill>
              <a:schemeClr val="tx1">
                <a:lumMod val="75000"/>
                <a:lumOff val="25000"/>
              </a:schemeClr>
            </a:solidFill>
            <a:prstDash val="solid"/>
            <a:round/>
            <a:headEnd type="none" w="med" len="med"/>
            <a:tailEnd type="none"/>
          </a:ln>
          <a:effectLst/>
        </p:spPr>
      </p:cxnSp>
      <p:cxnSp>
        <p:nvCxnSpPr>
          <p:cNvPr id="133" name="直線矢印コネクタ 132">
            <a:extLst>
              <a:ext uri="{FF2B5EF4-FFF2-40B4-BE49-F238E27FC236}">
                <a16:creationId xmlns:a16="http://schemas.microsoft.com/office/drawing/2014/main" id="{722D96FB-D080-2113-6570-69CFAA0307D6}"/>
              </a:ext>
            </a:extLst>
          </p:cNvPr>
          <p:cNvCxnSpPr>
            <a:cxnSpLocks/>
          </p:cNvCxnSpPr>
          <p:nvPr/>
        </p:nvCxnSpPr>
        <p:spPr bwMode="auto">
          <a:xfrm>
            <a:off x="6732024" y="1808982"/>
            <a:ext cx="0" cy="3420038"/>
          </a:xfrm>
          <a:prstGeom prst="straightConnector1">
            <a:avLst/>
          </a:prstGeom>
          <a:noFill/>
          <a:ln w="6350" cap="flat" cmpd="sng" algn="ctr">
            <a:solidFill>
              <a:schemeClr val="tx1">
                <a:lumMod val="75000"/>
                <a:lumOff val="25000"/>
              </a:schemeClr>
            </a:solidFill>
            <a:prstDash val="solid"/>
            <a:round/>
            <a:headEnd type="none" w="med" len="med"/>
            <a:tailEnd type="none"/>
          </a:ln>
          <a:effectLst/>
        </p:spPr>
      </p:cxnSp>
      <p:sp>
        <p:nvSpPr>
          <p:cNvPr id="134" name="正方形/長方形 133">
            <a:extLst>
              <a:ext uri="{FF2B5EF4-FFF2-40B4-BE49-F238E27FC236}">
                <a16:creationId xmlns:a16="http://schemas.microsoft.com/office/drawing/2014/main" id="{CDDB88CF-E8DD-34F9-C1F6-04DBD9BE5E08}"/>
              </a:ext>
            </a:extLst>
          </p:cNvPr>
          <p:cNvSpPr/>
          <p:nvPr/>
        </p:nvSpPr>
        <p:spPr>
          <a:xfrm>
            <a:off x="6282019" y="1448978"/>
            <a:ext cx="540005" cy="270003"/>
          </a:xfrm>
          <a:prstGeom prst="rect">
            <a:avLst/>
          </a:prstGeom>
        </p:spPr>
        <p:txBody>
          <a:bodyPr wrap="none">
            <a:noAutofit/>
          </a:bodyPr>
          <a:lstStyle/>
          <a:p>
            <a:pPr algn="ctr"/>
            <a:r>
              <a:rPr lang="en-US" altLang="ja-JP" dirty="0">
                <a:solidFill>
                  <a:schemeClr val="tx1">
                    <a:lumMod val="65000"/>
                    <a:lumOff val="35000"/>
                  </a:schemeClr>
                </a:solidFill>
              </a:rPr>
              <a:t>1 cycle</a:t>
            </a:r>
            <a:endParaRPr lang="ja-JP" altLang="en-US" dirty="0">
              <a:solidFill>
                <a:schemeClr val="tx1">
                  <a:lumMod val="65000"/>
                  <a:lumOff val="35000"/>
                </a:schemeClr>
              </a:solidFill>
            </a:endParaRPr>
          </a:p>
        </p:txBody>
      </p:sp>
      <p:sp>
        <p:nvSpPr>
          <p:cNvPr id="138" name="コンテンツ プレースホルダー 34">
            <a:extLst>
              <a:ext uri="{FF2B5EF4-FFF2-40B4-BE49-F238E27FC236}">
                <a16:creationId xmlns:a16="http://schemas.microsoft.com/office/drawing/2014/main" id="{E6017AB7-697A-650D-1A30-6B1BB1FB9F42}"/>
              </a:ext>
            </a:extLst>
          </p:cNvPr>
          <p:cNvSpPr txBox="1">
            <a:spLocks/>
          </p:cNvSpPr>
          <p:nvPr/>
        </p:nvSpPr>
        <p:spPr bwMode="auto">
          <a:xfrm>
            <a:off x="431954" y="5949028"/>
            <a:ext cx="8280859" cy="63000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lumMod val="60000"/>
                  <a:lumOff val="40000"/>
                </a:schemeClr>
              </a:buClr>
              <a:buSzPct val="90000"/>
              <a:buFont typeface="Wingdings" panose="05000000000000000000" pitchFamily="2" charset="2"/>
              <a:buChar char="l"/>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300"/>
              </a:spcAft>
              <a:buClr>
                <a:schemeClr val="accent4">
                  <a:lumMod val="60000"/>
                  <a:lumOff val="40000"/>
                </a:schemeClr>
              </a:buClr>
              <a:buSzPct val="7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300"/>
              </a:spcBef>
              <a:spcAft>
                <a:spcPts val="300"/>
              </a:spcAft>
              <a:buClr>
                <a:schemeClr val="accent4">
                  <a:lumMod val="60000"/>
                  <a:lumOff val="40000"/>
                </a:schemeClr>
              </a:buClr>
              <a:buSzPct val="6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300"/>
              </a:spcAft>
              <a:buClr>
                <a:schemeClr val="accent4">
                  <a:lumMod val="60000"/>
                  <a:lumOff val="40000"/>
                </a:schemeClr>
              </a:buClr>
              <a:buSzPct val="8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5pPr>
            <a:lvl6pPr marL="18859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6pPr>
            <a:lvl7pPr marL="22288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7pPr>
            <a:lvl8pPr marL="25717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8pPr>
            <a:lvl9pPr marL="29146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9pPr>
          </a:lstStyle>
          <a:p>
            <a:pPr lvl="1"/>
            <a:r>
              <a:rPr lang="ja-JP" altLang="en-US" kern="0" dirty="0">
                <a:solidFill>
                  <a:schemeClr val="tx1">
                    <a:lumMod val="65000"/>
                    <a:lumOff val="35000"/>
                  </a:schemeClr>
                </a:solidFill>
                <a:latin typeface="Consolas" panose="020B0609020204030204" pitchFamily="49" charset="0"/>
              </a:rPr>
              <a:t>パイプライン全体が，理想的な場合と比べて</a:t>
            </a:r>
            <a:br>
              <a:rPr lang="en-US" altLang="ja-JP" kern="0" dirty="0">
                <a:solidFill>
                  <a:schemeClr val="tx1">
                    <a:lumMod val="65000"/>
                    <a:lumOff val="35000"/>
                  </a:schemeClr>
                </a:solidFill>
                <a:latin typeface="Consolas" panose="020B0609020204030204" pitchFamily="49" charset="0"/>
              </a:rPr>
            </a:br>
            <a:r>
              <a:rPr lang="ja-JP" altLang="en-US" kern="0" dirty="0">
                <a:solidFill>
                  <a:schemeClr val="tx1">
                    <a:lumMod val="65000"/>
                    <a:lumOff val="35000"/>
                  </a:schemeClr>
                </a:solidFill>
                <a:latin typeface="Consolas" panose="020B0609020204030204" pitchFamily="49" charset="0"/>
              </a:rPr>
              <a:t>１サイクル遅れている</a:t>
            </a:r>
            <a:endParaRPr lang="en-US" altLang="ja-JP" kern="0" dirty="0">
              <a:solidFill>
                <a:schemeClr val="tx1">
                  <a:lumMod val="65000"/>
                  <a:lumOff val="35000"/>
                </a:schemeClr>
              </a:solidFill>
              <a:latin typeface="Consolas" panose="020B0609020204030204" pitchFamily="49" charset="0"/>
            </a:endParaRPr>
          </a:p>
        </p:txBody>
      </p:sp>
    </p:spTree>
    <p:extLst>
      <p:ext uri="{BB962C8B-B14F-4D97-AF65-F5344CB8AC3E}">
        <p14:creationId xmlns:p14="http://schemas.microsoft.com/office/powerpoint/2010/main" val="159836932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BC5A7B2-C863-927A-116C-8C441C160174}"/>
              </a:ext>
            </a:extLst>
          </p:cNvPr>
          <p:cNvSpPr>
            <a:spLocks noGrp="1"/>
          </p:cNvSpPr>
          <p:nvPr>
            <p:ph type="title"/>
          </p:nvPr>
        </p:nvSpPr>
        <p:spPr/>
        <p:txBody>
          <a:bodyPr/>
          <a:lstStyle/>
          <a:p>
            <a:r>
              <a:rPr lang="ja-JP" altLang="en-US" dirty="0"/>
              <a:t>ロードによるデータハザードの</a:t>
            </a:r>
            <a:br>
              <a:rPr lang="en-US" altLang="ja-JP" dirty="0"/>
            </a:br>
            <a:r>
              <a:rPr lang="ja-JP" altLang="en-US" dirty="0"/>
              <a:t>実行サイクルの増加のモデル</a:t>
            </a:r>
            <a:endParaRPr kumimoji="1" lang="en-US"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7A388F3E-9D46-BE60-22D7-DE67BE9600EC}"/>
                  </a:ext>
                </a:extLst>
              </p:cNvPr>
              <p:cNvSpPr>
                <a:spLocks noGrp="1"/>
              </p:cNvSpPr>
              <p:nvPr>
                <p:ph sz="quarter" idx="10"/>
              </p:nvPr>
            </p:nvSpPr>
            <p:spPr>
              <a:xfrm>
                <a:off x="611956" y="1088974"/>
                <a:ext cx="8280092" cy="5220058"/>
              </a:xfrm>
            </p:spPr>
            <p:txBody>
              <a:bodyPr/>
              <a:lstStyle/>
              <a:p>
                <a:r>
                  <a:rPr kumimoji="1" lang="ja-JP" altLang="en-US" dirty="0"/>
                  <a:t>以下のようにおいた場合，</a:t>
                </a:r>
                <a:endParaRPr kumimoji="1" lang="en-US" altLang="ja-JP" dirty="0"/>
              </a:p>
              <a:p>
                <a:pPr lvl="1"/>
                <a:r>
                  <a:rPr lang="ja-JP" altLang="en-US" dirty="0"/>
                  <a:t>ミスがない理想的な実行の際のサイクル数：</a:t>
                </a:r>
                <a:r>
                  <a:rPr lang="en-US" altLang="ja-JP" dirty="0"/>
                  <a:t>	</a:t>
                </a:r>
                <a14:m>
                  <m:oMath xmlns:m="http://schemas.openxmlformats.org/officeDocument/2006/math">
                    <m:r>
                      <a:rPr lang="en-US" altLang="ja-JP" i="1" dirty="0">
                        <a:latin typeface="Cambria Math" panose="02040503050406030204" pitchFamily="18" charset="0"/>
                      </a:rPr>
                      <m:t>𝐶𝑡</m:t>
                    </m:r>
                  </m:oMath>
                </a14:m>
                <a:br>
                  <a:rPr lang="en-US" altLang="ja-JP" dirty="0"/>
                </a:br>
                <a:endParaRPr lang="en-US" altLang="ja-JP" dirty="0"/>
              </a:p>
              <a:p>
                <a:pPr lvl="1"/>
                <a:r>
                  <a:rPr lang="ja-JP" altLang="en-US" dirty="0"/>
                  <a:t>ロードのデータハザードの発生回数：</a:t>
                </a:r>
                <a:r>
                  <a:rPr lang="en-US" altLang="ja-JP" dirty="0"/>
                  <a:t>	</a:t>
                </a:r>
                <a14:m>
                  <m:oMath xmlns:m="http://schemas.openxmlformats.org/officeDocument/2006/math">
                    <m:r>
                      <a:rPr lang="en-US" altLang="ja-JP" i="1" dirty="0" smtClean="0">
                        <a:latin typeface="Cambria Math" panose="02040503050406030204" pitchFamily="18" charset="0"/>
                      </a:rPr>
                      <m:t>𝑁𝑚</m:t>
                    </m:r>
                    <m:r>
                      <a:rPr lang="en-US" altLang="ja-JP" b="0" i="1" dirty="0" smtClean="0">
                        <a:latin typeface="Cambria Math" panose="02040503050406030204" pitchFamily="18" charset="0"/>
                      </a:rPr>
                      <m:t>=</m:t>
                    </m:r>
                    <m:r>
                      <a:rPr lang="en-US" altLang="ja-JP" i="1" dirty="0">
                        <a:latin typeface="Cambria Math" panose="02040503050406030204" pitchFamily="18" charset="0"/>
                      </a:rPr>
                      <m:t>𝑁𝑖</m:t>
                    </m:r>
                    <m:r>
                      <a:rPr lang="en-US" altLang="ja-JP" i="1" dirty="0">
                        <a:latin typeface="Cambria Math" panose="02040503050406030204" pitchFamily="18" charset="0"/>
                      </a:rPr>
                      <m:t>×</m:t>
                    </m:r>
                    <m:r>
                      <a:rPr lang="en-US" altLang="ja-JP" i="1" dirty="0">
                        <a:latin typeface="Cambria Math" panose="02040503050406030204" pitchFamily="18" charset="0"/>
                      </a:rPr>
                      <m:t>𝑃𝑙</m:t>
                    </m:r>
                    <m:r>
                      <a:rPr lang="en-US" altLang="ja-JP" i="1" dirty="0">
                        <a:latin typeface="Cambria Math" panose="02040503050406030204" pitchFamily="18" charset="0"/>
                      </a:rPr>
                      <m:t>×</m:t>
                    </m:r>
                    <m:r>
                      <a:rPr lang="en-US" altLang="ja-JP" i="1" dirty="0">
                        <a:latin typeface="Cambria Math" panose="02040503050406030204" pitchFamily="18" charset="0"/>
                      </a:rPr>
                      <m:t>𝑃h</m:t>
                    </m:r>
                  </m:oMath>
                </a14:m>
                <a:endParaRPr lang="en-US" altLang="ja-JP" dirty="0"/>
              </a:p>
              <a:p>
                <a:pPr lvl="2"/>
                <a:r>
                  <a:rPr kumimoji="1" lang="ja-JP" altLang="en-US" dirty="0"/>
                  <a:t>実行命令数：</a:t>
                </a:r>
                <a:r>
                  <a:rPr kumimoji="1" lang="en-US" altLang="ja-JP" dirty="0"/>
                  <a:t>				</a:t>
                </a:r>
                <a14:m>
                  <m:oMath xmlns:m="http://schemas.openxmlformats.org/officeDocument/2006/math">
                    <m:r>
                      <a:rPr kumimoji="1" lang="en-US" altLang="ja-JP" i="1" dirty="0" smtClean="0">
                        <a:latin typeface="Cambria Math" panose="02040503050406030204" pitchFamily="18" charset="0"/>
                      </a:rPr>
                      <m:t>𝑁𝑖</m:t>
                    </m:r>
                  </m:oMath>
                </a14:m>
                <a:endParaRPr kumimoji="1" lang="en-US" altLang="ja-JP" dirty="0"/>
              </a:p>
              <a:p>
                <a:pPr lvl="2"/>
                <a:r>
                  <a:rPr lang="ja-JP" altLang="en-US" dirty="0"/>
                  <a:t>ロードの出現率：</a:t>
                </a:r>
                <a:r>
                  <a:rPr lang="en-US" altLang="ja-JP" dirty="0"/>
                  <a:t>			</a:t>
                </a:r>
                <a14:m>
                  <m:oMath xmlns:m="http://schemas.openxmlformats.org/officeDocument/2006/math">
                    <m:r>
                      <a:rPr lang="en-US" altLang="ja-JP" i="1" dirty="0">
                        <a:latin typeface="Cambria Math" panose="02040503050406030204" pitchFamily="18" charset="0"/>
                      </a:rPr>
                      <m:t>𝑃</m:t>
                    </m:r>
                    <m:r>
                      <a:rPr lang="en-US" altLang="ja-JP" b="0" i="1" dirty="0" smtClean="0">
                        <a:latin typeface="Cambria Math" panose="02040503050406030204" pitchFamily="18" charset="0"/>
                      </a:rPr>
                      <m:t>𝑙</m:t>
                    </m:r>
                  </m:oMath>
                </a14:m>
                <a:endParaRPr kumimoji="1" lang="en-US" altLang="ja-JP" dirty="0"/>
              </a:p>
              <a:p>
                <a:pPr lvl="2"/>
                <a:r>
                  <a:rPr kumimoji="1" lang="ja-JP" altLang="en-US" dirty="0"/>
                  <a:t>ロード命令毎のハザード発生率：</a:t>
                </a:r>
                <a:r>
                  <a:rPr kumimoji="1" lang="en-US" altLang="ja-JP" dirty="0"/>
                  <a:t>	</a:t>
                </a:r>
                <a14:m>
                  <m:oMath xmlns:m="http://schemas.openxmlformats.org/officeDocument/2006/math">
                    <m:r>
                      <a:rPr kumimoji="1" lang="en-US" altLang="ja-JP" i="1" dirty="0" smtClean="0">
                        <a:latin typeface="Cambria Math" panose="02040503050406030204" pitchFamily="18" charset="0"/>
                      </a:rPr>
                      <m:t>𝑃</m:t>
                    </m:r>
                    <m:r>
                      <a:rPr kumimoji="1" lang="en-US" altLang="ja-JP" b="0" i="1" dirty="0" smtClean="0">
                        <a:latin typeface="Cambria Math" panose="02040503050406030204" pitchFamily="18" charset="0"/>
                      </a:rPr>
                      <m:t>h</m:t>
                    </m:r>
                  </m:oMath>
                </a14:m>
                <a:br>
                  <a:rPr kumimoji="1" lang="en-US" altLang="ja-JP" dirty="0"/>
                </a:br>
                <a:endParaRPr kumimoji="1" lang="en-US" altLang="ja-JP" dirty="0"/>
              </a:p>
              <a:p>
                <a:pPr lvl="1"/>
                <a:r>
                  <a:rPr kumimoji="1" lang="ja-JP" altLang="en-US" dirty="0"/>
                  <a:t>ハザード時のサイクル数の増加：</a:t>
                </a:r>
                <a:r>
                  <a:rPr kumimoji="1" lang="en-US" altLang="ja-JP" dirty="0"/>
                  <a:t>	</a:t>
                </a:r>
                <a14:m>
                  <m:oMath xmlns:m="http://schemas.openxmlformats.org/officeDocument/2006/math">
                    <m:r>
                      <a:rPr kumimoji="1" lang="en-US" altLang="ja-JP" i="1" dirty="0" smtClean="0">
                        <a:latin typeface="Cambria Math" panose="02040503050406030204" pitchFamily="18" charset="0"/>
                      </a:rPr>
                      <m:t>𝐶𝑝</m:t>
                    </m:r>
                  </m:oMath>
                </a14:m>
                <a:endParaRPr kumimoji="1" lang="en-US" altLang="ja-JP" dirty="0"/>
              </a:p>
              <a:p>
                <a:r>
                  <a:rPr kumimoji="1" lang="ja-JP" altLang="en-US" dirty="0"/>
                  <a:t>実行サイクル数 </a:t>
                </a:r>
                <a14:m>
                  <m:oMath xmlns:m="http://schemas.openxmlformats.org/officeDocument/2006/math">
                    <m:r>
                      <a:rPr kumimoji="1" lang="en-US" altLang="ja-JP" i="1" dirty="0" smtClean="0">
                        <a:latin typeface="Cambria Math" panose="02040503050406030204" pitchFamily="18" charset="0"/>
                      </a:rPr>
                      <m:t>𝐶𝑟</m:t>
                    </m:r>
                  </m:oMath>
                </a14:m>
                <a:r>
                  <a:rPr kumimoji="1" lang="en-US" altLang="ja-JP" dirty="0"/>
                  <a:t> </a:t>
                </a:r>
                <a:r>
                  <a:rPr kumimoji="1" lang="ja-JP" altLang="en-US" dirty="0"/>
                  <a:t>は，理想サイクル数 </a:t>
                </a:r>
                <a14:m>
                  <m:oMath xmlns:m="http://schemas.openxmlformats.org/officeDocument/2006/math">
                    <m:r>
                      <a:rPr kumimoji="1" lang="en-US" altLang="ja-JP" i="1" dirty="0" smtClean="0">
                        <a:latin typeface="Cambria Math" panose="02040503050406030204" pitchFamily="18" charset="0"/>
                      </a:rPr>
                      <m:t>𝐶𝑡</m:t>
                    </m:r>
                  </m:oMath>
                </a14:m>
                <a:r>
                  <a:rPr kumimoji="1" lang="en-US" altLang="ja-JP" dirty="0"/>
                  <a:t> </a:t>
                </a:r>
                <a:r>
                  <a:rPr kumimoji="1" lang="ja-JP" altLang="en-US" dirty="0"/>
                  <a:t>に対して，</a:t>
                </a:r>
                <a:endParaRPr kumimoji="1" lang="en-US" altLang="ja-JP" dirty="0"/>
              </a:p>
              <a:p>
                <a:pPr lvl="1"/>
                <a14:m>
                  <m:oMath xmlns:m="http://schemas.openxmlformats.org/officeDocument/2006/math">
                    <m:r>
                      <a:rPr lang="en-US" i="1" dirty="0" smtClean="0">
                        <a:latin typeface="Cambria Math" panose="02040503050406030204" pitchFamily="18" charset="0"/>
                      </a:rPr>
                      <m:t>𝐶𝑟</m:t>
                    </m:r>
                    <m:r>
                      <a:rPr lang="en-US" i="1" dirty="0" smtClean="0">
                        <a:latin typeface="Cambria Math" panose="02040503050406030204" pitchFamily="18" charset="0"/>
                      </a:rPr>
                      <m:t>=</m:t>
                    </m:r>
                    <m:r>
                      <a:rPr lang="en-US" i="1" dirty="0" smtClean="0">
                        <a:latin typeface="Cambria Math" panose="02040503050406030204" pitchFamily="18" charset="0"/>
                      </a:rPr>
                      <m:t>𝐶𝑡</m:t>
                    </m:r>
                    <m:r>
                      <a:rPr lang="en-US" i="1" dirty="0" smtClean="0">
                        <a:latin typeface="Cambria Math" panose="02040503050406030204" pitchFamily="18" charset="0"/>
                      </a:rPr>
                      <m:t> + </m:t>
                    </m:r>
                    <m:r>
                      <a:rPr lang="en-US" i="1" dirty="0" smtClean="0">
                        <a:latin typeface="Cambria Math" panose="02040503050406030204" pitchFamily="18" charset="0"/>
                      </a:rPr>
                      <m:t>𝑁𝑚</m:t>
                    </m:r>
                    <m:r>
                      <a:rPr lang="en-US" altLang="ja-JP" i="1" dirty="0">
                        <a:latin typeface="Cambria Math" panose="02040503050406030204" pitchFamily="18" charset="0"/>
                      </a:rPr>
                      <m:t>×</m:t>
                    </m:r>
                    <m:r>
                      <a:rPr lang="en-US" altLang="ja-JP" b="0" i="1" dirty="0" smtClean="0">
                        <a:latin typeface="Cambria Math" panose="02040503050406030204" pitchFamily="18" charset="0"/>
                      </a:rPr>
                      <m:t>𝐶𝑝</m:t>
                    </m:r>
                  </m:oMath>
                </a14:m>
                <a:endParaRPr kumimoji="1" lang="en-US" dirty="0"/>
              </a:p>
              <a:p>
                <a:pPr lvl="1"/>
                <a:r>
                  <a:rPr kumimoji="1" lang="ja-JP" altLang="en-US" dirty="0">
                    <a:solidFill>
                      <a:schemeClr val="accent5"/>
                    </a:solidFill>
                  </a:rPr>
                  <a:t>分岐予測ミスの時とほぼ同じ</a:t>
                </a:r>
                <a:endParaRPr kumimoji="1" lang="en-US" dirty="0">
                  <a:solidFill>
                    <a:schemeClr val="accent5"/>
                  </a:solidFill>
                </a:endParaRPr>
              </a:p>
            </p:txBody>
          </p:sp>
        </mc:Choice>
        <mc:Fallback xmlns="">
          <p:sp>
            <p:nvSpPr>
              <p:cNvPr id="3" name="コンテンツ プレースホルダー 2">
                <a:extLst>
                  <a:ext uri="{FF2B5EF4-FFF2-40B4-BE49-F238E27FC236}">
                    <a16:creationId xmlns:a16="http://schemas.microsoft.com/office/drawing/2014/main" id="{7A388F3E-9D46-BE60-22D7-DE67BE9600EC}"/>
                  </a:ext>
                </a:extLst>
              </p:cNvPr>
              <p:cNvSpPr>
                <a:spLocks noGrp="1" noRot="1" noChangeAspect="1" noMove="1" noResize="1" noEditPoints="1" noAdjustHandles="1" noChangeArrowheads="1" noChangeShapeType="1" noTextEdit="1"/>
              </p:cNvSpPr>
              <p:nvPr>
                <p:ph sz="quarter" idx="10"/>
              </p:nvPr>
            </p:nvSpPr>
            <p:spPr>
              <a:xfrm>
                <a:off x="611956" y="1088974"/>
                <a:ext cx="8280092" cy="5220058"/>
              </a:xfrm>
              <a:blipFill>
                <a:blip r:embed="rId2"/>
                <a:stretch>
                  <a:fillRect l="-662" b="-1402"/>
                </a:stretch>
              </a:blipFill>
            </p:spPr>
            <p:txBody>
              <a:bodyPr/>
              <a:lstStyle/>
              <a:p>
                <a:r>
                  <a:rPr lang="en-US">
                    <a:noFill/>
                  </a:rPr>
                  <a:t> </a:t>
                </a:r>
              </a:p>
            </p:txBody>
          </p:sp>
        </mc:Fallback>
      </mc:AlternateContent>
    </p:spTree>
    <p:extLst>
      <p:ext uri="{BB962C8B-B14F-4D97-AF65-F5344CB8AC3E}">
        <p14:creationId xmlns:p14="http://schemas.microsoft.com/office/powerpoint/2010/main" val="406104437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82918045-1413-49E0-E525-3A3F638871DC}"/>
              </a:ext>
            </a:extLst>
          </p:cNvPr>
          <p:cNvSpPr>
            <a:spLocks noGrp="1"/>
          </p:cNvSpPr>
          <p:nvPr>
            <p:ph type="title"/>
          </p:nvPr>
        </p:nvSpPr>
        <p:spPr/>
        <p:txBody>
          <a:bodyPr/>
          <a:lstStyle/>
          <a:p>
            <a:r>
              <a:rPr lang="ja-JP" altLang="en-US"/>
              <a:t>性能のモデルの一般化</a:t>
            </a:r>
            <a:endParaRPr lang="en-US" dirty="0"/>
          </a:p>
        </p:txBody>
      </p:sp>
    </p:spTree>
    <p:extLst>
      <p:ext uri="{BB962C8B-B14F-4D97-AF65-F5344CB8AC3E}">
        <p14:creationId xmlns:p14="http://schemas.microsoft.com/office/powerpoint/2010/main" val="325620261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AE99578-A595-50A4-CCA4-30AF7D776F7F}"/>
              </a:ext>
            </a:extLst>
          </p:cNvPr>
          <p:cNvSpPr>
            <a:spLocks noGrp="1"/>
          </p:cNvSpPr>
          <p:nvPr>
            <p:ph type="title"/>
          </p:nvPr>
        </p:nvSpPr>
        <p:spPr/>
        <p:txBody>
          <a:bodyPr/>
          <a:lstStyle/>
          <a:p>
            <a:r>
              <a:rPr kumimoji="1" lang="ja-JP" altLang="en-US" dirty="0"/>
              <a:t>一般化できる</a:t>
            </a:r>
            <a:endParaRPr kumimoji="1" lang="en-US"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F536DDF2-031C-97E8-113C-48FFED98AC12}"/>
                  </a:ext>
                </a:extLst>
              </p:cNvPr>
              <p:cNvSpPr>
                <a:spLocks noGrp="1"/>
              </p:cNvSpPr>
              <p:nvPr>
                <p:ph sz="quarter" idx="10"/>
              </p:nvPr>
            </p:nvSpPr>
            <p:spPr/>
            <p:txBody>
              <a:bodyPr/>
              <a:lstStyle/>
              <a:p>
                <a:r>
                  <a:rPr kumimoji="1" lang="ja-JP" altLang="en-US" dirty="0"/>
                  <a:t>以下のようにおいた場合，</a:t>
                </a:r>
                <a:endParaRPr kumimoji="1" lang="en-US" altLang="ja-JP" dirty="0"/>
              </a:p>
              <a:p>
                <a:pPr lvl="1"/>
                <a:r>
                  <a:rPr lang="ja-JP" altLang="en-US" dirty="0"/>
                  <a:t>理想的な実行の際のサイクル数：</a:t>
                </a:r>
                <a:r>
                  <a:rPr lang="en-US" altLang="ja-JP" dirty="0"/>
                  <a:t>	</a:t>
                </a:r>
                <a14:m>
                  <m:oMath xmlns:m="http://schemas.openxmlformats.org/officeDocument/2006/math">
                    <m:r>
                      <a:rPr lang="en-US" altLang="ja-JP" i="1" dirty="0">
                        <a:latin typeface="Cambria Math" panose="02040503050406030204" pitchFamily="18" charset="0"/>
                      </a:rPr>
                      <m:t>𝐶𝑡</m:t>
                    </m:r>
                  </m:oMath>
                </a14:m>
                <a:br>
                  <a:rPr lang="en-US" altLang="ja-JP" dirty="0"/>
                </a:br>
                <a:endParaRPr lang="en-US" altLang="ja-JP" dirty="0"/>
              </a:p>
              <a:p>
                <a:pPr lvl="1"/>
                <a:r>
                  <a:rPr lang="ja-JP" altLang="en-US" dirty="0"/>
                  <a:t>何らかのハザードの発生回数：</a:t>
                </a:r>
                <a:r>
                  <a:rPr lang="en-US" altLang="ja-JP" dirty="0"/>
                  <a:t>	</a:t>
                </a:r>
                <a14:m>
                  <m:oMath xmlns:m="http://schemas.openxmlformats.org/officeDocument/2006/math">
                    <m:r>
                      <a:rPr lang="en-US" altLang="ja-JP" i="1" dirty="0" smtClean="0">
                        <a:latin typeface="Cambria Math" panose="02040503050406030204" pitchFamily="18" charset="0"/>
                      </a:rPr>
                      <m:t>𝑁</m:t>
                    </m:r>
                    <m:r>
                      <a:rPr lang="en-US" altLang="ja-JP" b="0" i="1" dirty="0" smtClean="0">
                        <a:latin typeface="Cambria Math" panose="02040503050406030204" pitchFamily="18" charset="0"/>
                      </a:rPr>
                      <m:t>h</m:t>
                    </m:r>
                    <m:r>
                      <a:rPr lang="en-US" altLang="ja-JP" b="0" i="1" dirty="0" smtClean="0">
                        <a:latin typeface="Cambria Math" panose="02040503050406030204" pitchFamily="18" charset="0"/>
                      </a:rPr>
                      <m:t>=</m:t>
                    </m:r>
                    <m:r>
                      <a:rPr lang="en-US" altLang="ja-JP" i="1" dirty="0">
                        <a:latin typeface="Cambria Math" panose="02040503050406030204" pitchFamily="18" charset="0"/>
                      </a:rPr>
                      <m:t>𝑁𝑖</m:t>
                    </m:r>
                    <m:r>
                      <a:rPr lang="en-US" altLang="ja-JP" i="1" dirty="0">
                        <a:latin typeface="Cambria Math" panose="02040503050406030204" pitchFamily="18" charset="0"/>
                      </a:rPr>
                      <m:t>×</m:t>
                    </m:r>
                    <m:r>
                      <a:rPr lang="en-US" altLang="ja-JP" i="1" dirty="0">
                        <a:latin typeface="Cambria Math" panose="02040503050406030204" pitchFamily="18" charset="0"/>
                      </a:rPr>
                      <m:t>𝑃𝑖</m:t>
                    </m:r>
                    <m:r>
                      <a:rPr lang="en-US" altLang="ja-JP" i="1" dirty="0">
                        <a:latin typeface="Cambria Math" panose="02040503050406030204" pitchFamily="18" charset="0"/>
                      </a:rPr>
                      <m:t>×</m:t>
                    </m:r>
                    <m:r>
                      <a:rPr lang="en-US" altLang="ja-JP" i="1" dirty="0">
                        <a:latin typeface="Cambria Math" panose="02040503050406030204" pitchFamily="18" charset="0"/>
                      </a:rPr>
                      <m:t>𝑃h</m:t>
                    </m:r>
                  </m:oMath>
                </a14:m>
                <a:endParaRPr lang="en-US" altLang="ja-JP" dirty="0"/>
              </a:p>
              <a:p>
                <a:pPr lvl="2"/>
                <a:r>
                  <a:rPr kumimoji="1" lang="ja-JP" altLang="en-US" dirty="0"/>
                  <a:t>実行命令数：</a:t>
                </a:r>
                <a:r>
                  <a:rPr kumimoji="1" lang="en-US" altLang="ja-JP" dirty="0"/>
                  <a:t>				</a:t>
                </a:r>
                <a14:m>
                  <m:oMath xmlns:m="http://schemas.openxmlformats.org/officeDocument/2006/math">
                    <m:r>
                      <a:rPr kumimoji="1" lang="en-US" altLang="ja-JP" i="1" dirty="0" smtClean="0">
                        <a:latin typeface="Cambria Math" panose="02040503050406030204" pitchFamily="18" charset="0"/>
                      </a:rPr>
                      <m:t>𝑁𝑖</m:t>
                    </m:r>
                  </m:oMath>
                </a14:m>
                <a:endParaRPr kumimoji="1" lang="en-US" altLang="ja-JP" dirty="0"/>
              </a:p>
              <a:p>
                <a:pPr lvl="2"/>
                <a:r>
                  <a:rPr lang="ja-JP" altLang="en-US" dirty="0"/>
                  <a:t>ハザードを起こす命令の出現率：</a:t>
                </a:r>
                <a:r>
                  <a:rPr lang="en-US" altLang="ja-JP" dirty="0"/>
                  <a:t>	</a:t>
                </a:r>
                <a14:m>
                  <m:oMath xmlns:m="http://schemas.openxmlformats.org/officeDocument/2006/math">
                    <m:r>
                      <a:rPr lang="en-US" altLang="ja-JP" i="1" dirty="0">
                        <a:latin typeface="Cambria Math" panose="02040503050406030204" pitchFamily="18" charset="0"/>
                      </a:rPr>
                      <m:t>𝑃</m:t>
                    </m:r>
                    <m:r>
                      <a:rPr lang="en-US" altLang="ja-JP" b="0" i="1" dirty="0" smtClean="0">
                        <a:latin typeface="Cambria Math" panose="02040503050406030204" pitchFamily="18" charset="0"/>
                      </a:rPr>
                      <m:t>𝑖</m:t>
                    </m:r>
                  </m:oMath>
                </a14:m>
                <a:endParaRPr kumimoji="1" lang="en-US" altLang="ja-JP" dirty="0"/>
              </a:p>
              <a:p>
                <a:pPr lvl="2"/>
                <a:r>
                  <a:rPr kumimoji="1" lang="ja-JP" altLang="en-US" dirty="0"/>
                  <a:t>その命令毎のハザード発生率：</a:t>
                </a:r>
                <a:r>
                  <a:rPr kumimoji="1" lang="en-US" altLang="ja-JP" dirty="0"/>
                  <a:t>	</a:t>
                </a:r>
                <a14:m>
                  <m:oMath xmlns:m="http://schemas.openxmlformats.org/officeDocument/2006/math">
                    <m:r>
                      <a:rPr kumimoji="1" lang="en-US" altLang="ja-JP" i="1" dirty="0" smtClean="0">
                        <a:latin typeface="Cambria Math" panose="02040503050406030204" pitchFamily="18" charset="0"/>
                      </a:rPr>
                      <m:t>𝑃</m:t>
                    </m:r>
                    <m:r>
                      <a:rPr kumimoji="1" lang="en-US" altLang="ja-JP" b="0" i="1" dirty="0" smtClean="0">
                        <a:latin typeface="Cambria Math" panose="02040503050406030204" pitchFamily="18" charset="0"/>
                      </a:rPr>
                      <m:t>h</m:t>
                    </m:r>
                  </m:oMath>
                </a14:m>
                <a:br>
                  <a:rPr kumimoji="1" lang="en-US" altLang="ja-JP" dirty="0"/>
                </a:br>
                <a:endParaRPr kumimoji="1" lang="en-US" altLang="ja-JP" dirty="0"/>
              </a:p>
              <a:p>
                <a:pPr lvl="1"/>
                <a:r>
                  <a:rPr kumimoji="1" lang="ja-JP" altLang="en-US" dirty="0"/>
                  <a:t>ハザード時のサイクル数の増加：</a:t>
                </a:r>
                <a:r>
                  <a:rPr kumimoji="1" lang="en-US" altLang="ja-JP" dirty="0"/>
                  <a:t>	</a:t>
                </a:r>
                <a14:m>
                  <m:oMath xmlns:m="http://schemas.openxmlformats.org/officeDocument/2006/math">
                    <m:r>
                      <a:rPr kumimoji="1" lang="en-US" altLang="ja-JP" i="1" dirty="0" smtClean="0">
                        <a:latin typeface="Cambria Math" panose="02040503050406030204" pitchFamily="18" charset="0"/>
                      </a:rPr>
                      <m:t>𝐶𝑝</m:t>
                    </m:r>
                  </m:oMath>
                </a14:m>
                <a:endParaRPr kumimoji="1" lang="en-US" altLang="ja-JP" dirty="0"/>
              </a:p>
              <a:p>
                <a:r>
                  <a:rPr kumimoji="1" lang="ja-JP" altLang="en-US" dirty="0"/>
                  <a:t>実行サイクル数 </a:t>
                </a:r>
                <a14:m>
                  <m:oMath xmlns:m="http://schemas.openxmlformats.org/officeDocument/2006/math">
                    <m:r>
                      <a:rPr kumimoji="1" lang="en-US" altLang="ja-JP" i="1" dirty="0" smtClean="0">
                        <a:latin typeface="Cambria Math" panose="02040503050406030204" pitchFamily="18" charset="0"/>
                      </a:rPr>
                      <m:t>𝐶𝑟</m:t>
                    </m:r>
                  </m:oMath>
                </a14:m>
                <a:r>
                  <a:rPr kumimoji="1" lang="en-US" altLang="ja-JP" dirty="0"/>
                  <a:t> </a:t>
                </a:r>
                <a:r>
                  <a:rPr kumimoji="1" lang="ja-JP" altLang="en-US" dirty="0"/>
                  <a:t>は，理想サイクル数 </a:t>
                </a:r>
                <a14:m>
                  <m:oMath xmlns:m="http://schemas.openxmlformats.org/officeDocument/2006/math">
                    <m:r>
                      <a:rPr kumimoji="1" lang="en-US" altLang="ja-JP" i="1" dirty="0" smtClean="0">
                        <a:latin typeface="Cambria Math" panose="02040503050406030204" pitchFamily="18" charset="0"/>
                      </a:rPr>
                      <m:t>𝐶𝑡</m:t>
                    </m:r>
                  </m:oMath>
                </a14:m>
                <a:r>
                  <a:rPr kumimoji="1" lang="en-US" altLang="ja-JP" dirty="0"/>
                  <a:t> </a:t>
                </a:r>
                <a:r>
                  <a:rPr kumimoji="1" lang="ja-JP" altLang="en-US" dirty="0"/>
                  <a:t>に対して，</a:t>
                </a:r>
                <a:endParaRPr kumimoji="1" lang="en-US" altLang="ja-JP" dirty="0"/>
              </a:p>
              <a:p>
                <a:pPr lvl="1"/>
                <a14:m>
                  <m:oMath xmlns:m="http://schemas.openxmlformats.org/officeDocument/2006/math">
                    <m:r>
                      <a:rPr lang="en-US" altLang="ja-JP" i="1" dirty="0" smtClean="0">
                        <a:latin typeface="Cambria Math" panose="02040503050406030204" pitchFamily="18" charset="0"/>
                      </a:rPr>
                      <m:t>𝐶𝑟</m:t>
                    </m:r>
                    <m:r>
                      <a:rPr lang="en-US" altLang="ja-JP" i="1" dirty="0" smtClean="0">
                        <a:latin typeface="Cambria Math" panose="02040503050406030204" pitchFamily="18" charset="0"/>
                      </a:rPr>
                      <m:t>=</m:t>
                    </m:r>
                    <m:r>
                      <a:rPr lang="en-US" altLang="ja-JP" i="1" dirty="0" smtClean="0">
                        <a:latin typeface="Cambria Math" panose="02040503050406030204" pitchFamily="18" charset="0"/>
                      </a:rPr>
                      <m:t>𝐶𝑡</m:t>
                    </m:r>
                    <m:r>
                      <a:rPr lang="en-US" altLang="ja-JP" i="1" dirty="0" smtClean="0">
                        <a:latin typeface="Cambria Math" panose="02040503050406030204" pitchFamily="18" charset="0"/>
                      </a:rPr>
                      <m:t> + </m:t>
                    </m:r>
                    <m:r>
                      <a:rPr lang="en-US" altLang="ja-JP" i="1" dirty="0" smtClean="0">
                        <a:latin typeface="Cambria Math" panose="02040503050406030204" pitchFamily="18" charset="0"/>
                      </a:rPr>
                      <m:t>𝑁h</m:t>
                    </m:r>
                    <m:r>
                      <a:rPr lang="en-US" altLang="ja-JP" i="1" dirty="0">
                        <a:latin typeface="Cambria Math" panose="02040503050406030204" pitchFamily="18" charset="0"/>
                      </a:rPr>
                      <m:t>×</m:t>
                    </m:r>
                    <m:r>
                      <a:rPr lang="en-US" altLang="ja-JP" b="0" i="1" dirty="0" smtClean="0">
                        <a:latin typeface="Cambria Math" panose="02040503050406030204" pitchFamily="18" charset="0"/>
                      </a:rPr>
                      <m:t>𝐶𝑝</m:t>
                    </m:r>
                  </m:oMath>
                </a14:m>
                <a:endParaRPr kumimoji="1" lang="en-US" dirty="0"/>
              </a:p>
            </p:txBody>
          </p:sp>
        </mc:Choice>
        <mc:Fallback xmlns="">
          <p:sp>
            <p:nvSpPr>
              <p:cNvPr id="3" name="コンテンツ プレースホルダー 2">
                <a:extLst>
                  <a:ext uri="{FF2B5EF4-FFF2-40B4-BE49-F238E27FC236}">
                    <a16:creationId xmlns:a16="http://schemas.microsoft.com/office/drawing/2014/main" id="{F536DDF2-031C-97E8-113C-48FFED98AC12}"/>
                  </a:ext>
                </a:extLst>
              </p:cNvPr>
              <p:cNvSpPr>
                <a:spLocks noGrp="1" noRot="1" noChangeAspect="1" noMove="1" noResize="1" noEditPoints="1" noAdjustHandles="1" noChangeArrowheads="1" noChangeShapeType="1" noTextEdit="1"/>
              </p:cNvSpPr>
              <p:nvPr>
                <p:ph sz="quarter" idx="10"/>
              </p:nvPr>
            </p:nvSpPr>
            <p:spPr>
              <a:blipFill>
                <a:blip r:embed="rId2"/>
                <a:stretch>
                  <a:fillRect l="-692"/>
                </a:stretch>
              </a:blipFill>
            </p:spPr>
            <p:txBody>
              <a:bodyPr/>
              <a:lstStyle/>
              <a:p>
                <a:r>
                  <a:rPr lang="en-US">
                    <a:noFill/>
                  </a:rPr>
                  <a:t> </a:t>
                </a:r>
              </a:p>
            </p:txBody>
          </p:sp>
        </mc:Fallback>
      </mc:AlternateContent>
    </p:spTree>
    <p:extLst>
      <p:ext uri="{BB962C8B-B14F-4D97-AF65-F5344CB8AC3E}">
        <p14:creationId xmlns:p14="http://schemas.microsoft.com/office/powerpoint/2010/main" val="251752519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46278D4-CEE1-7814-8C31-ED385C6B5221}"/>
              </a:ext>
            </a:extLst>
          </p:cNvPr>
          <p:cNvSpPr>
            <a:spLocks noGrp="1"/>
          </p:cNvSpPr>
          <p:nvPr>
            <p:ph type="title"/>
          </p:nvPr>
        </p:nvSpPr>
        <p:spPr/>
        <p:txBody>
          <a:bodyPr/>
          <a:lstStyle/>
          <a:p>
            <a:r>
              <a:rPr kumimoji="1" lang="ja-JP" altLang="en-US" dirty="0"/>
              <a:t>一般化できる</a:t>
            </a:r>
            <a:endParaRPr kumimoji="1" lang="en-US"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2F99C606-F320-4759-1DA1-881FE7545722}"/>
                  </a:ext>
                </a:extLst>
              </p:cNvPr>
              <p:cNvSpPr>
                <a:spLocks noGrp="1"/>
              </p:cNvSpPr>
              <p:nvPr>
                <p:ph sz="quarter" idx="10"/>
              </p:nvPr>
            </p:nvSpPr>
            <p:spPr/>
            <p:txBody>
              <a:bodyPr/>
              <a:lstStyle/>
              <a:p>
                <a:r>
                  <a:rPr kumimoji="1" lang="ja-JP" altLang="en-US" dirty="0"/>
                  <a:t>ハザード </a:t>
                </a:r>
                <a:r>
                  <a:rPr kumimoji="1" lang="en-US" altLang="ja-JP" dirty="0"/>
                  <a:t>a</a:t>
                </a:r>
                <a:r>
                  <a:rPr kumimoji="1" lang="ja-JP" altLang="en-US" dirty="0"/>
                  <a:t>，ハザード </a:t>
                </a:r>
                <a:r>
                  <a:rPr kumimoji="1" lang="en-US" altLang="ja-JP" dirty="0"/>
                  <a:t>b</a:t>
                </a:r>
                <a:r>
                  <a:rPr kumimoji="1" lang="ja-JP" altLang="en-US" dirty="0"/>
                  <a:t>，ハザード </a:t>
                </a:r>
                <a:r>
                  <a:rPr kumimoji="1" lang="en-US" altLang="ja-JP" dirty="0"/>
                  <a:t>c </a:t>
                </a:r>
                <a:r>
                  <a:rPr kumimoji="1" lang="ja-JP" altLang="en-US" dirty="0"/>
                  <a:t>･･･ とあった時</a:t>
                </a:r>
                <a:endParaRPr kumimoji="1" lang="en-US" altLang="ja-JP" dirty="0"/>
              </a:p>
              <a:p>
                <a:r>
                  <a:rPr kumimoji="1" lang="ja-JP" altLang="en-US" dirty="0"/>
                  <a:t>実行サイクル数 </a:t>
                </a:r>
                <a14:m>
                  <m:oMath xmlns:m="http://schemas.openxmlformats.org/officeDocument/2006/math">
                    <m:r>
                      <a:rPr kumimoji="1" lang="en-US" altLang="ja-JP" i="1" dirty="0" smtClean="0">
                        <a:latin typeface="Cambria Math" panose="02040503050406030204" pitchFamily="18" charset="0"/>
                      </a:rPr>
                      <m:t>𝐶𝑟</m:t>
                    </m:r>
                  </m:oMath>
                </a14:m>
                <a:r>
                  <a:rPr kumimoji="1" lang="en-US" altLang="ja-JP" dirty="0"/>
                  <a:t> </a:t>
                </a:r>
                <a:r>
                  <a:rPr kumimoji="1" lang="ja-JP" altLang="en-US" dirty="0"/>
                  <a:t>は，理想サイクル数 </a:t>
                </a:r>
                <a14:m>
                  <m:oMath xmlns:m="http://schemas.openxmlformats.org/officeDocument/2006/math">
                    <m:r>
                      <a:rPr kumimoji="1" lang="en-US" altLang="ja-JP" i="1" dirty="0" smtClean="0">
                        <a:latin typeface="Cambria Math" panose="02040503050406030204" pitchFamily="18" charset="0"/>
                      </a:rPr>
                      <m:t>𝐶𝑡</m:t>
                    </m:r>
                  </m:oMath>
                </a14:m>
                <a:r>
                  <a:rPr kumimoji="1" lang="en-US" altLang="ja-JP" dirty="0"/>
                  <a:t> </a:t>
                </a:r>
                <a:r>
                  <a:rPr kumimoji="1" lang="ja-JP" altLang="en-US" dirty="0"/>
                  <a:t>に対して，</a:t>
                </a:r>
                <a:endParaRPr kumimoji="1" lang="en-US" altLang="ja-JP" dirty="0"/>
              </a:p>
              <a:p>
                <a:pPr lvl="1"/>
                <a14:m>
                  <m:oMath xmlns:m="http://schemas.openxmlformats.org/officeDocument/2006/math">
                    <m:r>
                      <a:rPr lang="en-US" altLang="ja-JP" i="1" dirty="0" smtClean="0">
                        <a:latin typeface="Cambria Math" panose="02040503050406030204" pitchFamily="18" charset="0"/>
                      </a:rPr>
                      <m:t>𝐶𝑟</m:t>
                    </m:r>
                    <m:r>
                      <a:rPr lang="en-US" altLang="ja-JP" i="1" dirty="0" smtClean="0">
                        <a:latin typeface="Cambria Math" panose="02040503050406030204" pitchFamily="18" charset="0"/>
                      </a:rPr>
                      <m:t>=</m:t>
                    </m:r>
                    <m:r>
                      <a:rPr lang="en-US" altLang="ja-JP" i="1" dirty="0" smtClean="0">
                        <a:latin typeface="Cambria Math" panose="02040503050406030204" pitchFamily="18" charset="0"/>
                      </a:rPr>
                      <m:t>𝐶𝑡</m:t>
                    </m:r>
                    <m:r>
                      <a:rPr lang="en-US" altLang="ja-JP" i="1" dirty="0" smtClean="0">
                        <a:latin typeface="Cambria Math" panose="02040503050406030204" pitchFamily="18" charset="0"/>
                      </a:rPr>
                      <m:t> + </m:t>
                    </m:r>
                    <m:r>
                      <a:rPr lang="en-US" altLang="ja-JP" i="1" dirty="0" smtClean="0">
                        <a:solidFill>
                          <a:schemeClr val="accent5"/>
                        </a:solidFill>
                        <a:latin typeface="Cambria Math" panose="02040503050406030204" pitchFamily="18" charset="0"/>
                      </a:rPr>
                      <m:t>𝑁𝑚𝑎</m:t>
                    </m:r>
                    <m:r>
                      <a:rPr lang="en-US" altLang="ja-JP" i="1" dirty="0">
                        <a:solidFill>
                          <a:schemeClr val="accent5"/>
                        </a:solidFill>
                        <a:latin typeface="Cambria Math" panose="02040503050406030204" pitchFamily="18" charset="0"/>
                      </a:rPr>
                      <m:t>×</m:t>
                    </m:r>
                    <m:r>
                      <a:rPr lang="en-US" altLang="ja-JP" b="0" i="1" dirty="0" smtClean="0">
                        <a:solidFill>
                          <a:schemeClr val="accent5"/>
                        </a:solidFill>
                        <a:latin typeface="Cambria Math" panose="02040503050406030204" pitchFamily="18" charset="0"/>
                      </a:rPr>
                      <m:t>𝐶𝑝𝑎</m:t>
                    </m:r>
                    <m:r>
                      <a:rPr lang="en-US" altLang="ja-JP" b="0" i="1" dirty="0" smtClean="0">
                        <a:latin typeface="Cambria Math" panose="02040503050406030204" pitchFamily="18" charset="0"/>
                      </a:rPr>
                      <m:t>+ </m:t>
                    </m:r>
                    <m:r>
                      <a:rPr lang="en-US" altLang="ja-JP" i="1" dirty="0" smtClean="0">
                        <a:solidFill>
                          <a:schemeClr val="accent6"/>
                        </a:solidFill>
                        <a:latin typeface="Cambria Math" panose="02040503050406030204" pitchFamily="18" charset="0"/>
                      </a:rPr>
                      <m:t>𝑁𝑚𝑏</m:t>
                    </m:r>
                    <m:r>
                      <a:rPr lang="en-US" altLang="ja-JP" i="1" dirty="0" smtClean="0">
                        <a:solidFill>
                          <a:schemeClr val="accent6"/>
                        </a:solidFill>
                        <a:latin typeface="Cambria Math" panose="02040503050406030204" pitchFamily="18" charset="0"/>
                      </a:rPr>
                      <m:t>×</m:t>
                    </m:r>
                    <m:r>
                      <a:rPr lang="en-US" altLang="ja-JP" i="1" dirty="0" smtClean="0">
                        <a:solidFill>
                          <a:schemeClr val="accent6"/>
                        </a:solidFill>
                        <a:latin typeface="Cambria Math" panose="02040503050406030204" pitchFamily="18" charset="0"/>
                      </a:rPr>
                      <m:t>𝐶𝑝𝑏</m:t>
                    </m:r>
                    <m:r>
                      <a:rPr lang="en-US" altLang="ja-JP" i="1" dirty="0">
                        <a:latin typeface="Cambria Math" panose="02040503050406030204" pitchFamily="18" charset="0"/>
                      </a:rPr>
                      <m:t>+</m:t>
                    </m:r>
                    <m:r>
                      <a:rPr lang="en-US" altLang="ja-JP" i="1" dirty="0" smtClean="0">
                        <a:solidFill>
                          <a:schemeClr val="accent3">
                            <a:lumMod val="75000"/>
                          </a:schemeClr>
                        </a:solidFill>
                        <a:latin typeface="Cambria Math" panose="02040503050406030204" pitchFamily="18" charset="0"/>
                      </a:rPr>
                      <m:t>𝑁𝑚</m:t>
                    </m:r>
                    <m:r>
                      <a:rPr lang="en-US" altLang="ja-JP" b="0" i="1" dirty="0" smtClean="0">
                        <a:solidFill>
                          <a:schemeClr val="accent3">
                            <a:lumMod val="75000"/>
                          </a:schemeClr>
                        </a:solidFill>
                        <a:latin typeface="Cambria Math" panose="02040503050406030204" pitchFamily="18" charset="0"/>
                      </a:rPr>
                      <m:t>𝑐</m:t>
                    </m:r>
                    <m:r>
                      <a:rPr lang="en-US" altLang="ja-JP" i="1" dirty="0">
                        <a:solidFill>
                          <a:schemeClr val="accent3">
                            <a:lumMod val="75000"/>
                          </a:schemeClr>
                        </a:solidFill>
                        <a:latin typeface="Cambria Math" panose="02040503050406030204" pitchFamily="18" charset="0"/>
                      </a:rPr>
                      <m:t>×</m:t>
                    </m:r>
                    <m:r>
                      <a:rPr lang="en-US" altLang="ja-JP" i="1" dirty="0">
                        <a:solidFill>
                          <a:schemeClr val="accent3">
                            <a:lumMod val="75000"/>
                          </a:schemeClr>
                        </a:solidFill>
                        <a:latin typeface="Cambria Math" panose="02040503050406030204" pitchFamily="18" charset="0"/>
                      </a:rPr>
                      <m:t>𝐶𝑝𝑐</m:t>
                    </m:r>
                    <m:r>
                      <a:rPr lang="en-US" altLang="ja-JP" b="0" i="1" dirty="0" smtClean="0">
                        <a:latin typeface="Cambria Math" panose="02040503050406030204" pitchFamily="18" charset="0"/>
                      </a:rPr>
                      <m:t>+…</m:t>
                    </m:r>
                  </m:oMath>
                </a14:m>
                <a:endParaRPr lang="en-US" altLang="ja-JP" b="0" dirty="0"/>
              </a:p>
              <a:p>
                <a:pPr lvl="1"/>
                <a:r>
                  <a:rPr kumimoji="1" lang="ja-JP" altLang="en-US" dirty="0"/>
                  <a:t>これを積み上げ棒グラフで表したのが </a:t>
                </a:r>
                <a:r>
                  <a:rPr kumimoji="1" lang="en-US" altLang="ja-JP" dirty="0"/>
                  <a:t>CPI Stack</a:t>
                </a:r>
                <a:endParaRPr kumimoji="1" lang="en-US" dirty="0"/>
              </a:p>
            </p:txBody>
          </p:sp>
        </mc:Choice>
        <mc:Fallback xmlns="">
          <p:sp>
            <p:nvSpPr>
              <p:cNvPr id="3" name="コンテンツ プレースホルダー 2">
                <a:extLst>
                  <a:ext uri="{FF2B5EF4-FFF2-40B4-BE49-F238E27FC236}">
                    <a16:creationId xmlns:a16="http://schemas.microsoft.com/office/drawing/2014/main" id="{2F99C606-F320-4759-1DA1-881FE7545722}"/>
                  </a:ext>
                </a:extLst>
              </p:cNvPr>
              <p:cNvSpPr>
                <a:spLocks noGrp="1" noRot="1" noChangeAspect="1" noMove="1" noResize="1" noEditPoints="1" noAdjustHandles="1" noChangeArrowheads="1" noChangeShapeType="1" noTextEdit="1"/>
              </p:cNvSpPr>
              <p:nvPr>
                <p:ph sz="quarter" idx="10"/>
              </p:nvPr>
            </p:nvSpPr>
            <p:spPr>
              <a:blipFill>
                <a:blip r:embed="rId2"/>
                <a:stretch>
                  <a:fillRect l="-692"/>
                </a:stretch>
              </a:blipFill>
            </p:spPr>
            <p:txBody>
              <a:bodyPr/>
              <a:lstStyle/>
              <a:p>
                <a:r>
                  <a:rPr lang="en-US">
                    <a:noFill/>
                  </a:rPr>
                  <a:t> </a:t>
                </a:r>
              </a:p>
            </p:txBody>
          </p:sp>
        </mc:Fallback>
      </mc:AlternateContent>
    </p:spTree>
    <p:extLst>
      <p:ext uri="{BB962C8B-B14F-4D97-AF65-F5344CB8AC3E}">
        <p14:creationId xmlns:p14="http://schemas.microsoft.com/office/powerpoint/2010/main" val="363268079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E1B24C6-E0E8-F382-E217-EFCF5A517F7E}"/>
              </a:ext>
            </a:extLst>
          </p:cNvPr>
          <p:cNvSpPr>
            <a:spLocks noGrp="1"/>
          </p:cNvSpPr>
          <p:nvPr>
            <p:ph type="title"/>
          </p:nvPr>
        </p:nvSpPr>
        <p:spPr/>
        <p:txBody>
          <a:bodyPr/>
          <a:lstStyle/>
          <a:p>
            <a:r>
              <a:rPr kumimoji="1" lang="en-US" altLang="ja-JP" sz="3600" dirty="0"/>
              <a:t>CPI Stack</a:t>
            </a:r>
            <a:endParaRPr kumimoji="1" lang="en-US" sz="1600"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C2CEC445-C7DC-8112-DD0D-AC0E9F1F40A1}"/>
                  </a:ext>
                </a:extLst>
              </p:cNvPr>
              <p:cNvSpPr>
                <a:spLocks noGrp="1"/>
              </p:cNvSpPr>
              <p:nvPr>
                <p:ph sz="quarter" idx="10"/>
              </p:nvPr>
            </p:nvSpPr>
            <p:spPr>
              <a:xfrm>
                <a:off x="521955" y="5139019"/>
                <a:ext cx="7920088" cy="630007"/>
              </a:xfrm>
            </p:spPr>
            <p:txBody>
              <a:bodyPr/>
              <a:lstStyle/>
              <a:p>
                <a:r>
                  <a:rPr lang="en-US" altLang="ja-JP" sz="1800" dirty="0"/>
                  <a:t>Cycles Per Instruction (CPI) </a:t>
                </a:r>
                <a:r>
                  <a:rPr lang="ja-JP" altLang="en-US" sz="1800" dirty="0"/>
                  <a:t>は１命令あたりのサイクル数</a:t>
                </a:r>
                <a:endParaRPr lang="en-US" altLang="ja-JP" sz="1800" dirty="0"/>
              </a:p>
              <a:p>
                <a:pPr lvl="1"/>
                <a14:m>
                  <m:oMath xmlns:m="http://schemas.openxmlformats.org/officeDocument/2006/math">
                    <m:r>
                      <a:rPr lang="en-US" altLang="ja-JP" sz="1800" i="1" dirty="0" smtClean="0">
                        <a:latin typeface="Cambria Math" panose="02040503050406030204" pitchFamily="18" charset="0"/>
                      </a:rPr>
                      <m:t>𝐶𝑟</m:t>
                    </m:r>
                    <m:r>
                      <a:rPr lang="en-US" altLang="ja-JP" sz="1800" i="1" dirty="0" smtClean="0">
                        <a:latin typeface="Cambria Math" panose="02040503050406030204" pitchFamily="18" charset="0"/>
                      </a:rPr>
                      <m:t>=</m:t>
                    </m:r>
                    <m:r>
                      <a:rPr lang="en-US" altLang="ja-JP" sz="1800" i="1" dirty="0" smtClean="0">
                        <a:latin typeface="Cambria Math" panose="02040503050406030204" pitchFamily="18" charset="0"/>
                      </a:rPr>
                      <m:t>𝐶𝑡</m:t>
                    </m:r>
                    <m:r>
                      <a:rPr lang="en-US" altLang="ja-JP" sz="1800" i="1" dirty="0" smtClean="0">
                        <a:latin typeface="Cambria Math" panose="02040503050406030204" pitchFamily="18" charset="0"/>
                      </a:rPr>
                      <m:t> + </m:t>
                    </m:r>
                    <m:r>
                      <a:rPr lang="en-US" altLang="ja-JP" sz="1800" i="1" dirty="0" smtClean="0">
                        <a:latin typeface="Cambria Math" panose="02040503050406030204" pitchFamily="18" charset="0"/>
                      </a:rPr>
                      <m:t>𝑁𝑚𝑎</m:t>
                    </m:r>
                    <m:r>
                      <a:rPr lang="en-US" altLang="ja-JP" sz="1800" i="1" dirty="0">
                        <a:latin typeface="Cambria Math" panose="02040503050406030204" pitchFamily="18" charset="0"/>
                      </a:rPr>
                      <m:t>×</m:t>
                    </m:r>
                    <m:r>
                      <a:rPr lang="en-US" altLang="ja-JP" sz="1800" b="0" i="1" dirty="0" smtClean="0">
                        <a:latin typeface="Cambria Math" panose="02040503050406030204" pitchFamily="18" charset="0"/>
                      </a:rPr>
                      <m:t>𝐶𝑝𝑎</m:t>
                    </m:r>
                    <m:r>
                      <a:rPr lang="en-US" altLang="ja-JP" sz="1800" b="0" i="1" dirty="0" smtClean="0">
                        <a:latin typeface="Cambria Math" panose="02040503050406030204" pitchFamily="18" charset="0"/>
                      </a:rPr>
                      <m:t>+ </m:t>
                    </m:r>
                    <m:r>
                      <a:rPr lang="en-US" altLang="ja-JP" sz="1800" i="1" dirty="0">
                        <a:latin typeface="Cambria Math" panose="02040503050406030204" pitchFamily="18" charset="0"/>
                      </a:rPr>
                      <m:t>𝑁𝑚𝑏</m:t>
                    </m:r>
                    <m:r>
                      <a:rPr lang="en-US" altLang="ja-JP" sz="1800" i="1" dirty="0">
                        <a:latin typeface="Cambria Math" panose="02040503050406030204" pitchFamily="18" charset="0"/>
                      </a:rPr>
                      <m:t>×</m:t>
                    </m:r>
                    <m:r>
                      <a:rPr lang="en-US" altLang="ja-JP" sz="1800" i="1" dirty="0">
                        <a:latin typeface="Cambria Math" panose="02040503050406030204" pitchFamily="18" charset="0"/>
                      </a:rPr>
                      <m:t>𝐶𝑝𝑏</m:t>
                    </m:r>
                    <m:r>
                      <a:rPr lang="en-US" altLang="ja-JP" sz="1800" i="1" dirty="0">
                        <a:latin typeface="Cambria Math" panose="02040503050406030204" pitchFamily="18" charset="0"/>
                      </a:rPr>
                      <m:t>+</m:t>
                    </m:r>
                    <m:r>
                      <a:rPr lang="en-US" altLang="ja-JP" sz="1800" i="1" dirty="0">
                        <a:latin typeface="Cambria Math" panose="02040503050406030204" pitchFamily="18" charset="0"/>
                      </a:rPr>
                      <m:t>𝑁𝑚𝑐</m:t>
                    </m:r>
                    <m:r>
                      <a:rPr lang="en-US" altLang="ja-JP" sz="1800" i="1" dirty="0">
                        <a:latin typeface="Cambria Math" panose="02040503050406030204" pitchFamily="18" charset="0"/>
                      </a:rPr>
                      <m:t>×</m:t>
                    </m:r>
                    <m:r>
                      <a:rPr lang="en-US" altLang="ja-JP" sz="1800" i="1" dirty="0">
                        <a:latin typeface="Cambria Math" panose="02040503050406030204" pitchFamily="18" charset="0"/>
                      </a:rPr>
                      <m:t>𝐶𝑝𝑐</m:t>
                    </m:r>
                    <m:r>
                      <a:rPr lang="en-US" altLang="ja-JP" sz="1800" b="0" i="1" dirty="0" smtClean="0">
                        <a:latin typeface="Cambria Math" panose="02040503050406030204" pitchFamily="18" charset="0"/>
                      </a:rPr>
                      <m:t>+…</m:t>
                    </m:r>
                  </m:oMath>
                </a14:m>
                <a:r>
                  <a:rPr lang="en-US" altLang="ja-JP" sz="1800" b="0" dirty="0"/>
                  <a:t> </a:t>
                </a:r>
                <a:r>
                  <a:rPr lang="ja-JP" altLang="en-US" sz="1800" b="0" dirty="0"/>
                  <a:t>を</a:t>
                </a:r>
                <a:br>
                  <a:rPr lang="en-US" altLang="ja-JP" sz="1800" b="0" dirty="0"/>
                </a:br>
                <a:r>
                  <a:rPr lang="ja-JP" altLang="en-US" sz="1800" b="0" dirty="0"/>
                  <a:t>命令数で正規化して図示</a:t>
                </a:r>
                <a:endParaRPr lang="en-US" altLang="ja-JP" sz="1800" b="0" dirty="0"/>
              </a:p>
              <a:p>
                <a:pPr lvl="1"/>
                <a14:m>
                  <m:oMath xmlns:m="http://schemas.openxmlformats.org/officeDocument/2006/math">
                    <m:r>
                      <a:rPr lang="en-US" altLang="ja-JP" sz="1800" b="0" i="1" dirty="0" smtClean="0">
                        <a:latin typeface="Cambria Math" panose="02040503050406030204" pitchFamily="18" charset="0"/>
                      </a:rPr>
                      <m:t>𝐶𝑡</m:t>
                    </m:r>
                    <m:r>
                      <a:rPr lang="en-US" altLang="ja-JP" sz="1800" b="0" i="1" dirty="0" smtClean="0">
                        <a:latin typeface="Cambria Math" panose="02040503050406030204" pitchFamily="18" charset="0"/>
                      </a:rPr>
                      <m:t>=0.25</m:t>
                    </m:r>
                  </m:oMath>
                </a14:m>
                <a:r>
                  <a:rPr lang="en-US" altLang="ja-JP" sz="1800" b="0" dirty="0"/>
                  <a:t> </a:t>
                </a:r>
                <a:r>
                  <a:rPr lang="ja-JP" altLang="en-US" sz="1800" b="0" dirty="0"/>
                  <a:t>ぐらいなので，４</a:t>
                </a:r>
                <a:r>
                  <a:rPr lang="en-US" altLang="ja-JP" sz="1800" b="0" dirty="0"/>
                  <a:t>way </a:t>
                </a:r>
                <a:r>
                  <a:rPr lang="ja-JP" altLang="en-US" sz="1800" b="0" dirty="0"/>
                  <a:t>スーパスカラが基準？</a:t>
                </a:r>
                <a:endParaRPr lang="en-US" altLang="ja-JP" sz="1800" b="0" dirty="0"/>
              </a:p>
              <a:p>
                <a:r>
                  <a:rPr lang="ja-JP" altLang="en-US" sz="1800" dirty="0"/>
                  <a:t>どのようなハザードによって性能が決まっているのかを直感的に知ることができる</a:t>
                </a:r>
                <a:br>
                  <a:rPr lang="en-US" altLang="ja-JP" sz="1800" dirty="0"/>
                </a:br>
                <a:r>
                  <a:rPr lang="ja-JP" altLang="en-US" sz="1100" dirty="0"/>
                  <a:t>図は </a:t>
                </a:r>
                <a:r>
                  <a:rPr lang="en-US" altLang="ja-JP" sz="1100" dirty="0"/>
                  <a:t>Stijn </a:t>
                </a:r>
                <a:r>
                  <a:rPr lang="en-US" altLang="ja-JP" sz="1100" dirty="0" err="1"/>
                  <a:t>Eyerman</a:t>
                </a:r>
                <a:r>
                  <a:rPr lang="en-US" altLang="ja-JP" sz="1100" dirty="0"/>
                  <a:t> et al, A Performance Counter Architecture for Computing Accurate CPI Components </a:t>
                </a:r>
                <a:r>
                  <a:rPr lang="ja-JP" altLang="en-US" sz="1100" dirty="0"/>
                  <a:t>より</a:t>
                </a:r>
                <a:endParaRPr lang="en-US" altLang="ja-JP" sz="1100" dirty="0"/>
              </a:p>
            </p:txBody>
          </p:sp>
        </mc:Choice>
        <mc:Fallback xmlns="">
          <p:sp>
            <p:nvSpPr>
              <p:cNvPr id="3" name="コンテンツ プレースホルダー 2">
                <a:extLst>
                  <a:ext uri="{FF2B5EF4-FFF2-40B4-BE49-F238E27FC236}">
                    <a16:creationId xmlns:a16="http://schemas.microsoft.com/office/drawing/2014/main" id="{C2CEC445-C7DC-8112-DD0D-AC0E9F1F40A1}"/>
                  </a:ext>
                </a:extLst>
              </p:cNvPr>
              <p:cNvSpPr>
                <a:spLocks noGrp="1" noRot="1" noChangeAspect="1" noMove="1" noResize="1" noEditPoints="1" noAdjustHandles="1" noChangeArrowheads="1" noChangeShapeType="1" noTextEdit="1"/>
              </p:cNvSpPr>
              <p:nvPr>
                <p:ph sz="quarter" idx="10"/>
              </p:nvPr>
            </p:nvSpPr>
            <p:spPr>
              <a:xfrm>
                <a:off x="521955" y="5139019"/>
                <a:ext cx="7920088" cy="630007"/>
              </a:xfrm>
              <a:blipFill>
                <a:blip r:embed="rId2"/>
                <a:stretch>
                  <a:fillRect l="-539" t="-163107" r="-77" b="-166019"/>
                </a:stretch>
              </a:blipFill>
            </p:spPr>
            <p:txBody>
              <a:bodyPr/>
              <a:lstStyle/>
              <a:p>
                <a:r>
                  <a:rPr lang="en-US">
                    <a:noFill/>
                  </a:rPr>
                  <a:t> </a:t>
                </a:r>
              </a:p>
            </p:txBody>
          </p:sp>
        </mc:Fallback>
      </mc:AlternateContent>
      <p:pic>
        <p:nvPicPr>
          <p:cNvPr id="5" name="図 4">
            <a:extLst>
              <a:ext uri="{FF2B5EF4-FFF2-40B4-BE49-F238E27FC236}">
                <a16:creationId xmlns:a16="http://schemas.microsoft.com/office/drawing/2014/main" id="{C5EEB153-019B-E3FB-0F78-C786A9F7FF54}"/>
              </a:ext>
            </a:extLst>
          </p:cNvPr>
          <p:cNvPicPr>
            <a:picLocks noChangeAspect="1"/>
          </p:cNvPicPr>
          <p:nvPr/>
        </p:nvPicPr>
        <p:blipFill>
          <a:blip r:embed="rId3"/>
          <a:stretch>
            <a:fillRect/>
          </a:stretch>
        </p:blipFill>
        <p:spPr>
          <a:xfrm>
            <a:off x="1871970" y="908972"/>
            <a:ext cx="4878171" cy="3060034"/>
          </a:xfrm>
          <a:prstGeom prst="rect">
            <a:avLst/>
          </a:prstGeom>
        </p:spPr>
      </p:pic>
    </p:spTree>
    <p:extLst>
      <p:ext uri="{BB962C8B-B14F-4D97-AF65-F5344CB8AC3E}">
        <p14:creationId xmlns:p14="http://schemas.microsoft.com/office/powerpoint/2010/main" val="301336564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C64C08C-51BF-E153-EFF3-7C0B7498BD68}"/>
              </a:ext>
            </a:extLst>
          </p:cNvPr>
          <p:cNvSpPr>
            <a:spLocks noGrp="1"/>
          </p:cNvSpPr>
          <p:nvPr>
            <p:ph type="title"/>
          </p:nvPr>
        </p:nvSpPr>
        <p:spPr/>
        <p:txBody>
          <a:bodyPr/>
          <a:lstStyle/>
          <a:p>
            <a:r>
              <a:rPr kumimoji="1" lang="en-US" dirty="0"/>
              <a:t>Out-of-order </a:t>
            </a:r>
            <a:r>
              <a:rPr kumimoji="1" lang="ja-JP" altLang="en-US" dirty="0"/>
              <a:t>スーパスカラ・プロセッサの場合</a:t>
            </a:r>
            <a:endParaRPr kumimoji="1" lang="en-US"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094405EB-2387-73C3-594C-B6ED4F68FFC2}"/>
                  </a:ext>
                </a:extLst>
              </p:cNvPr>
              <p:cNvSpPr>
                <a:spLocks noGrp="1"/>
              </p:cNvSpPr>
              <p:nvPr>
                <p:ph sz="quarter" idx="10"/>
              </p:nvPr>
            </p:nvSpPr>
            <p:spPr/>
            <p:txBody>
              <a:bodyPr/>
              <a:lstStyle/>
              <a:p>
                <a:r>
                  <a:rPr kumimoji="1" lang="en-US" altLang="ja-JP" dirty="0"/>
                  <a:t>Out-of-order </a:t>
                </a:r>
                <a:r>
                  <a:rPr kumimoji="1" lang="ja-JP" altLang="en-US" dirty="0"/>
                  <a:t>スーパスカラ・プロセッサではもっと複雑</a:t>
                </a:r>
                <a:endParaRPr kumimoji="1" lang="en-US" altLang="ja-JP" dirty="0"/>
              </a:p>
              <a:p>
                <a:pPr lvl="1"/>
                <a:r>
                  <a:rPr kumimoji="1" lang="ja-JP" altLang="en-US" dirty="0"/>
                  <a:t>長時間かかる命令による待ちがあった場合，</a:t>
                </a:r>
                <a:br>
                  <a:rPr kumimoji="1" lang="en-US" altLang="ja-JP" dirty="0"/>
                </a:br>
                <a:r>
                  <a:rPr kumimoji="1" lang="ja-JP" altLang="en-US" dirty="0"/>
                  <a:t>それを待つ間に別の後ろにある命令を実行できる</a:t>
                </a:r>
                <a:endParaRPr kumimoji="1" lang="en-US" altLang="ja-JP" dirty="0"/>
              </a:p>
              <a:p>
                <a:pPr lvl="1"/>
                <a:r>
                  <a:rPr kumimoji="1" lang="ja-JP" altLang="en-US" dirty="0"/>
                  <a:t>色々なハザードが同時並行で起きうる</a:t>
                </a:r>
                <a:endParaRPr kumimoji="1" lang="en-US" altLang="ja-JP" dirty="0"/>
              </a:p>
              <a:p>
                <a:r>
                  <a:rPr kumimoji="1" lang="ja-JP" altLang="en-US" dirty="0"/>
                  <a:t>単純な線形加算のモデルでは扱えない</a:t>
                </a:r>
                <a:endParaRPr kumimoji="1" lang="en-US" altLang="ja-JP" dirty="0"/>
              </a:p>
              <a:p>
                <a:pPr lvl="1"/>
                <a14:m>
                  <m:oMath xmlns:m="http://schemas.openxmlformats.org/officeDocument/2006/math">
                    <m:r>
                      <a:rPr lang="en-US" altLang="ja-JP" i="1" dirty="0" smtClean="0">
                        <a:latin typeface="Cambria Math" panose="02040503050406030204" pitchFamily="18" charset="0"/>
                      </a:rPr>
                      <m:t>𝐶𝑟</m:t>
                    </m:r>
                    <m:r>
                      <a:rPr lang="en-US" altLang="ja-JP" i="1" dirty="0" smtClean="0">
                        <a:latin typeface="Cambria Math" panose="02040503050406030204" pitchFamily="18" charset="0"/>
                      </a:rPr>
                      <m:t>=</m:t>
                    </m:r>
                    <m:r>
                      <a:rPr lang="en-US" altLang="ja-JP" i="1" dirty="0" smtClean="0">
                        <a:latin typeface="Cambria Math" panose="02040503050406030204" pitchFamily="18" charset="0"/>
                      </a:rPr>
                      <m:t>𝐶𝑡</m:t>
                    </m:r>
                    <m:r>
                      <a:rPr lang="en-US" altLang="ja-JP" i="1" dirty="0" smtClean="0">
                        <a:latin typeface="Cambria Math" panose="02040503050406030204" pitchFamily="18" charset="0"/>
                      </a:rPr>
                      <m:t> + </m:t>
                    </m:r>
                    <m:r>
                      <a:rPr lang="en-US" altLang="ja-JP" i="1" dirty="0" smtClean="0">
                        <a:latin typeface="Cambria Math" panose="02040503050406030204" pitchFamily="18" charset="0"/>
                      </a:rPr>
                      <m:t>𝑁𝑚𝑎</m:t>
                    </m:r>
                    <m:r>
                      <a:rPr lang="en-US" altLang="ja-JP" i="1" dirty="0">
                        <a:latin typeface="Cambria Math" panose="02040503050406030204" pitchFamily="18" charset="0"/>
                      </a:rPr>
                      <m:t>×</m:t>
                    </m:r>
                    <m:r>
                      <a:rPr lang="en-US" altLang="ja-JP" b="0" i="1" dirty="0" smtClean="0">
                        <a:latin typeface="Cambria Math" panose="02040503050406030204" pitchFamily="18" charset="0"/>
                      </a:rPr>
                      <m:t>𝐶𝑝𝑎</m:t>
                    </m:r>
                    <m:r>
                      <a:rPr lang="en-US" altLang="ja-JP" b="0" i="1" dirty="0" smtClean="0">
                        <a:latin typeface="Cambria Math" panose="02040503050406030204" pitchFamily="18" charset="0"/>
                      </a:rPr>
                      <m:t>+ </m:t>
                    </m:r>
                    <m:r>
                      <a:rPr lang="en-US" altLang="ja-JP" i="1" dirty="0">
                        <a:latin typeface="Cambria Math" panose="02040503050406030204" pitchFamily="18" charset="0"/>
                      </a:rPr>
                      <m:t>𝑁𝑚𝑏</m:t>
                    </m:r>
                    <m:r>
                      <a:rPr lang="en-US" altLang="ja-JP" i="1" dirty="0">
                        <a:latin typeface="Cambria Math" panose="02040503050406030204" pitchFamily="18" charset="0"/>
                      </a:rPr>
                      <m:t>×</m:t>
                    </m:r>
                    <m:r>
                      <a:rPr lang="en-US" altLang="ja-JP" i="1" dirty="0">
                        <a:latin typeface="Cambria Math" panose="02040503050406030204" pitchFamily="18" charset="0"/>
                      </a:rPr>
                      <m:t>𝐶𝑝𝑏</m:t>
                    </m:r>
                    <m:r>
                      <a:rPr lang="en-US" altLang="ja-JP" i="1" dirty="0">
                        <a:latin typeface="Cambria Math" panose="02040503050406030204" pitchFamily="18" charset="0"/>
                      </a:rPr>
                      <m:t>+</m:t>
                    </m:r>
                    <m:r>
                      <a:rPr lang="en-US" altLang="ja-JP" i="1" dirty="0">
                        <a:latin typeface="Cambria Math" panose="02040503050406030204" pitchFamily="18" charset="0"/>
                      </a:rPr>
                      <m:t>𝑁𝑚𝑐</m:t>
                    </m:r>
                    <m:r>
                      <a:rPr lang="en-US" altLang="ja-JP" i="1" dirty="0">
                        <a:latin typeface="Cambria Math" panose="02040503050406030204" pitchFamily="18" charset="0"/>
                      </a:rPr>
                      <m:t>×</m:t>
                    </m:r>
                    <m:r>
                      <a:rPr lang="en-US" altLang="ja-JP" i="1" dirty="0">
                        <a:latin typeface="Cambria Math" panose="02040503050406030204" pitchFamily="18" charset="0"/>
                      </a:rPr>
                      <m:t>𝐶𝑝𝑐</m:t>
                    </m:r>
                    <m:r>
                      <a:rPr lang="en-US" altLang="ja-JP" b="0" i="1" dirty="0" smtClean="0">
                        <a:latin typeface="Cambria Math" panose="02040503050406030204" pitchFamily="18" charset="0"/>
                      </a:rPr>
                      <m:t>+…</m:t>
                    </m:r>
                  </m:oMath>
                </a14:m>
                <a:r>
                  <a:rPr lang="en-US" altLang="ja-JP" b="0" dirty="0"/>
                  <a:t> </a:t>
                </a:r>
              </a:p>
              <a:p>
                <a:pPr lvl="1"/>
                <a:r>
                  <a:rPr lang="ja-JP" altLang="en-US" dirty="0"/>
                  <a:t>これはハザード発生時に </a:t>
                </a:r>
                <a:r>
                  <a:rPr lang="en-US" altLang="ja-JP" dirty="0"/>
                  <a:t>CPU </a:t>
                </a:r>
                <a:r>
                  <a:rPr lang="ja-JP" altLang="en-US" dirty="0"/>
                  <a:t>全体がストールするからなり立つ</a:t>
                </a:r>
                <a:endParaRPr lang="en-US" altLang="ja-JP" dirty="0"/>
              </a:p>
              <a:p>
                <a:pPr lvl="1"/>
                <a:r>
                  <a:rPr lang="ja-JP" altLang="en-US" dirty="0"/>
                  <a:t>ハザード同士がオーバラップして起きると上手く扱えない</a:t>
                </a:r>
                <a:endParaRPr lang="en-US" altLang="ja-JP" dirty="0"/>
              </a:p>
              <a:p>
                <a:r>
                  <a:rPr lang="ja-JP" altLang="en-US" dirty="0"/>
                  <a:t>色々な方法が研究されている</a:t>
                </a:r>
                <a:endParaRPr kumimoji="1" lang="en-US" altLang="ja-JP" dirty="0"/>
              </a:p>
            </p:txBody>
          </p:sp>
        </mc:Choice>
        <mc:Fallback xmlns="">
          <p:sp>
            <p:nvSpPr>
              <p:cNvPr id="3" name="コンテンツ プレースホルダー 2">
                <a:extLst>
                  <a:ext uri="{FF2B5EF4-FFF2-40B4-BE49-F238E27FC236}">
                    <a16:creationId xmlns:a16="http://schemas.microsoft.com/office/drawing/2014/main" id="{094405EB-2387-73C3-594C-B6ED4F68FFC2}"/>
                  </a:ext>
                </a:extLst>
              </p:cNvPr>
              <p:cNvSpPr>
                <a:spLocks noGrp="1" noRot="1" noChangeAspect="1" noMove="1" noResize="1" noEditPoints="1" noAdjustHandles="1" noChangeArrowheads="1" noChangeShapeType="1" noTextEdit="1"/>
              </p:cNvSpPr>
              <p:nvPr>
                <p:ph sz="quarter" idx="10"/>
              </p:nvPr>
            </p:nvSpPr>
            <p:spPr>
              <a:blipFill>
                <a:blip r:embed="rId2"/>
                <a:stretch>
                  <a:fillRect l="-692" r="-308"/>
                </a:stretch>
              </a:blipFill>
            </p:spPr>
            <p:txBody>
              <a:bodyPr/>
              <a:lstStyle/>
              <a:p>
                <a:r>
                  <a:rPr lang="en-US">
                    <a:noFill/>
                  </a:rPr>
                  <a:t> </a:t>
                </a:r>
              </a:p>
            </p:txBody>
          </p:sp>
        </mc:Fallback>
      </mc:AlternateContent>
    </p:spTree>
    <p:extLst>
      <p:ext uri="{BB962C8B-B14F-4D97-AF65-F5344CB8AC3E}">
        <p14:creationId xmlns:p14="http://schemas.microsoft.com/office/powerpoint/2010/main" val="282081534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13909B-03B7-CE69-EEA5-BCD49E998EF8}"/>
              </a:ext>
            </a:extLst>
          </p:cNvPr>
          <p:cNvSpPr>
            <a:spLocks noGrp="1"/>
          </p:cNvSpPr>
          <p:nvPr>
            <p:ph type="title"/>
          </p:nvPr>
        </p:nvSpPr>
        <p:spPr/>
        <p:txBody>
          <a:bodyPr/>
          <a:lstStyle/>
          <a:p>
            <a:r>
              <a:rPr kumimoji="1" lang="ja-JP" altLang="en-US" dirty="0"/>
              <a:t>ここまでのまとめ</a:t>
            </a:r>
            <a:endParaRPr kumimoji="1" lang="en-US" dirty="0"/>
          </a:p>
        </p:txBody>
      </p:sp>
      <p:sp>
        <p:nvSpPr>
          <p:cNvPr id="3" name="コンテンツ プレースホルダー 2">
            <a:extLst>
              <a:ext uri="{FF2B5EF4-FFF2-40B4-BE49-F238E27FC236}">
                <a16:creationId xmlns:a16="http://schemas.microsoft.com/office/drawing/2014/main" id="{C09AAD35-D763-7927-525E-A02D586A9BDC}"/>
              </a:ext>
            </a:extLst>
          </p:cNvPr>
          <p:cNvSpPr>
            <a:spLocks noGrp="1"/>
          </p:cNvSpPr>
          <p:nvPr>
            <p:ph sz="quarter" idx="10"/>
          </p:nvPr>
        </p:nvSpPr>
        <p:spPr/>
        <p:txBody>
          <a:bodyPr/>
          <a:lstStyle/>
          <a:p>
            <a:r>
              <a:rPr lang="ja-JP" altLang="en-US" dirty="0"/>
              <a:t>性能は以下の２要素のかけ算で決まる：</a:t>
            </a:r>
            <a:endParaRPr lang="en-US" altLang="ja-JP" dirty="0"/>
          </a:p>
          <a:p>
            <a:pPr marL="817200" lvl="1" indent="-457200">
              <a:buFont typeface="+mj-lt"/>
              <a:buAutoNum type="arabicPeriod"/>
            </a:pPr>
            <a:r>
              <a:rPr lang="ja-JP" altLang="en-US" dirty="0"/>
              <a:t>クロック周波数</a:t>
            </a:r>
            <a:endParaRPr lang="en-US" altLang="ja-JP" dirty="0"/>
          </a:p>
          <a:p>
            <a:pPr marL="817200" lvl="1" indent="-457200">
              <a:buFont typeface="+mj-lt"/>
              <a:buAutoNum type="arabicPeriod"/>
            </a:pPr>
            <a:r>
              <a:rPr lang="en-US" altLang="ja-JP" dirty="0"/>
              <a:t>Instructions per cycle (IPC)</a:t>
            </a:r>
          </a:p>
          <a:p>
            <a:r>
              <a:rPr kumimoji="1" lang="ja-JP" altLang="en-US" dirty="0">
                <a:solidFill>
                  <a:schemeClr val="accent5"/>
                </a:solidFill>
              </a:rPr>
              <a:t>色んなバランスが大事</a:t>
            </a:r>
            <a:endParaRPr kumimoji="1" lang="en-US" altLang="ja-JP" dirty="0">
              <a:solidFill>
                <a:schemeClr val="accent5"/>
              </a:solidFill>
            </a:endParaRPr>
          </a:p>
          <a:p>
            <a:pPr lvl="1"/>
            <a:r>
              <a:rPr kumimoji="1" lang="ja-JP" altLang="en-US" dirty="0"/>
              <a:t>クロック周波数だけを上げても </a:t>
            </a:r>
            <a:r>
              <a:rPr kumimoji="1" lang="en-US" altLang="ja-JP" dirty="0"/>
              <a:t>IPC </a:t>
            </a:r>
            <a:r>
              <a:rPr kumimoji="1" lang="ja-JP" altLang="en-US" dirty="0"/>
              <a:t>が上がらないとだめ</a:t>
            </a:r>
            <a:endParaRPr kumimoji="1" lang="en-US" altLang="ja-JP" dirty="0"/>
          </a:p>
          <a:p>
            <a:pPr lvl="1"/>
            <a:r>
              <a:rPr kumimoji="1" lang="ja-JP" altLang="en-US" dirty="0"/>
              <a:t>スーパスカラの同時実行数を増やしても </a:t>
            </a:r>
            <a:r>
              <a:rPr kumimoji="1" lang="en-US" altLang="ja-JP" dirty="0"/>
              <a:t>IPC </a:t>
            </a:r>
            <a:r>
              <a:rPr kumimoji="1" lang="ja-JP" altLang="en-US" dirty="0"/>
              <a:t>が増えない事もある</a:t>
            </a:r>
            <a:endParaRPr kumimoji="1" lang="en-US" altLang="ja-JP" dirty="0"/>
          </a:p>
          <a:p>
            <a:pPr lvl="1"/>
            <a:r>
              <a:rPr kumimoji="1" lang="ja-JP" altLang="en-US" dirty="0"/>
              <a:t>予測器だけ強くしても </a:t>
            </a:r>
            <a:r>
              <a:rPr kumimoji="1" lang="en-US" altLang="ja-JP" dirty="0"/>
              <a:t>IPC </a:t>
            </a:r>
            <a:r>
              <a:rPr kumimoji="1" lang="ja-JP" altLang="en-US" dirty="0"/>
              <a:t>があまり上がらないことも</a:t>
            </a:r>
            <a:endParaRPr kumimoji="1" lang="en-US" dirty="0"/>
          </a:p>
        </p:txBody>
      </p:sp>
    </p:spTree>
    <p:extLst>
      <p:ext uri="{BB962C8B-B14F-4D97-AF65-F5344CB8AC3E}">
        <p14:creationId xmlns:p14="http://schemas.microsoft.com/office/powerpoint/2010/main" val="279149366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E6EDCF1-7871-5C30-8E34-052C43107A39}"/>
              </a:ext>
            </a:extLst>
          </p:cNvPr>
          <p:cNvSpPr>
            <a:spLocks noGrp="1"/>
          </p:cNvSpPr>
          <p:nvPr>
            <p:ph type="title"/>
          </p:nvPr>
        </p:nvSpPr>
        <p:spPr/>
        <p:txBody>
          <a:bodyPr/>
          <a:lstStyle/>
          <a:p>
            <a:r>
              <a:rPr kumimoji="1" lang="ja-JP" altLang="en-US" dirty="0"/>
              <a:t>実際には構成をどう決めるのか？</a:t>
            </a:r>
            <a:endParaRPr kumimoji="1" lang="en-US" dirty="0"/>
          </a:p>
        </p:txBody>
      </p:sp>
      <p:sp>
        <p:nvSpPr>
          <p:cNvPr id="3" name="コンテンツ プレースホルダー 2">
            <a:extLst>
              <a:ext uri="{FF2B5EF4-FFF2-40B4-BE49-F238E27FC236}">
                <a16:creationId xmlns:a16="http://schemas.microsoft.com/office/drawing/2014/main" id="{0BF54947-D3B0-227A-1C17-434A2EAF7C02}"/>
              </a:ext>
            </a:extLst>
          </p:cNvPr>
          <p:cNvSpPr>
            <a:spLocks noGrp="1"/>
          </p:cNvSpPr>
          <p:nvPr>
            <p:ph sz="quarter" idx="10"/>
          </p:nvPr>
        </p:nvSpPr>
        <p:spPr/>
        <p:txBody>
          <a:bodyPr/>
          <a:lstStyle/>
          <a:p>
            <a:r>
              <a:rPr kumimoji="1" lang="ja-JP" altLang="en-US" dirty="0"/>
              <a:t>だいたい最初に以下あたりの条件が決まっている</a:t>
            </a:r>
            <a:endParaRPr kumimoji="1" lang="en-US" altLang="ja-JP" dirty="0"/>
          </a:p>
          <a:p>
            <a:pPr lvl="1"/>
            <a:r>
              <a:rPr kumimoji="1" lang="ja-JP" altLang="en-US" dirty="0"/>
              <a:t>要求性能</a:t>
            </a:r>
            <a:endParaRPr kumimoji="1" lang="en-US" altLang="ja-JP" dirty="0"/>
          </a:p>
          <a:p>
            <a:pPr lvl="1"/>
            <a:r>
              <a:rPr kumimoji="1" lang="ja-JP" altLang="en-US" dirty="0"/>
              <a:t>使える回路面積（チップの大きさ）</a:t>
            </a:r>
            <a:endParaRPr kumimoji="1" lang="en-US" altLang="ja-JP" dirty="0"/>
          </a:p>
          <a:p>
            <a:pPr lvl="1"/>
            <a:r>
              <a:rPr kumimoji="1" lang="ja-JP" altLang="en-US" dirty="0"/>
              <a:t>許容出来る消費電力</a:t>
            </a:r>
            <a:endParaRPr kumimoji="1" lang="en-US" altLang="ja-JP" dirty="0"/>
          </a:p>
          <a:p>
            <a:endParaRPr kumimoji="1" lang="en-US" altLang="ja-JP" dirty="0"/>
          </a:p>
        </p:txBody>
      </p:sp>
    </p:spTree>
    <p:extLst>
      <p:ext uri="{BB962C8B-B14F-4D97-AF65-F5344CB8AC3E}">
        <p14:creationId xmlns:p14="http://schemas.microsoft.com/office/powerpoint/2010/main" val="417111453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0802B54-DE65-916C-80B3-22BFD2268E95}"/>
              </a:ext>
            </a:extLst>
          </p:cNvPr>
          <p:cNvSpPr>
            <a:spLocks noGrp="1"/>
          </p:cNvSpPr>
          <p:nvPr>
            <p:ph type="title"/>
          </p:nvPr>
        </p:nvSpPr>
        <p:spPr/>
        <p:txBody>
          <a:bodyPr/>
          <a:lstStyle/>
          <a:p>
            <a:r>
              <a:rPr kumimoji="1" lang="ja-JP" altLang="en-US" dirty="0"/>
              <a:t>いろんな戦略がありえる</a:t>
            </a:r>
            <a:endParaRPr kumimoji="1" lang="en-US" dirty="0"/>
          </a:p>
        </p:txBody>
      </p:sp>
      <p:sp>
        <p:nvSpPr>
          <p:cNvPr id="3" name="コンテンツ プレースホルダー 2">
            <a:extLst>
              <a:ext uri="{FF2B5EF4-FFF2-40B4-BE49-F238E27FC236}">
                <a16:creationId xmlns:a16="http://schemas.microsoft.com/office/drawing/2014/main" id="{50AC3735-54B2-C6BA-0FF1-741E9DA1B8D7}"/>
              </a:ext>
            </a:extLst>
          </p:cNvPr>
          <p:cNvSpPr>
            <a:spLocks noGrp="1"/>
          </p:cNvSpPr>
          <p:nvPr>
            <p:ph sz="quarter" idx="10"/>
          </p:nvPr>
        </p:nvSpPr>
        <p:spPr/>
        <p:txBody>
          <a:bodyPr/>
          <a:lstStyle/>
          <a:p>
            <a:r>
              <a:rPr kumimoji="1" lang="ja-JP" altLang="en-US" dirty="0"/>
              <a:t>回路面積が一定の場合，どちらが良いか？</a:t>
            </a:r>
            <a:endParaRPr kumimoji="1" lang="en-US" altLang="ja-JP" dirty="0"/>
          </a:p>
          <a:p>
            <a:pPr lvl="1"/>
            <a:r>
              <a:rPr kumimoji="1" lang="ja-JP" altLang="en-US" dirty="0"/>
              <a:t>パイプラインの本数を増やす</a:t>
            </a:r>
            <a:endParaRPr kumimoji="1" lang="en-US" altLang="ja-JP" dirty="0"/>
          </a:p>
          <a:p>
            <a:pPr lvl="1"/>
            <a:r>
              <a:rPr kumimoji="1" lang="ja-JP" altLang="en-US" dirty="0"/>
              <a:t>予測器を複雑にして精度を上げる</a:t>
            </a:r>
            <a:endParaRPr kumimoji="1" lang="en-US" altLang="ja-JP" dirty="0"/>
          </a:p>
          <a:p>
            <a:r>
              <a:rPr kumimoji="1" lang="ja-JP" altLang="en-US" dirty="0"/>
              <a:t>消費電力の上限が一定の場合</a:t>
            </a:r>
            <a:endParaRPr kumimoji="1" lang="en-US" altLang="ja-JP" dirty="0"/>
          </a:p>
          <a:p>
            <a:pPr lvl="1"/>
            <a:r>
              <a:rPr kumimoji="1" lang="ja-JP" altLang="en-US" dirty="0"/>
              <a:t>消費電力はクロック周波数の２～３乗で増える</a:t>
            </a:r>
            <a:endParaRPr kumimoji="1" lang="en-US" altLang="ja-JP" dirty="0"/>
          </a:p>
          <a:p>
            <a:pPr lvl="1"/>
            <a:r>
              <a:rPr kumimoji="1" lang="ja-JP" altLang="en-US" dirty="0"/>
              <a:t>クロック周波数をあえて下げるかわりに，</a:t>
            </a:r>
            <a:br>
              <a:rPr kumimoji="1" lang="en-US" altLang="ja-JP" dirty="0"/>
            </a:br>
            <a:r>
              <a:rPr kumimoji="1" lang="ja-JP" altLang="en-US" dirty="0"/>
              <a:t>パイプライン本数を増やして </a:t>
            </a:r>
            <a:r>
              <a:rPr kumimoji="1" lang="en-US" altLang="ja-JP" dirty="0"/>
              <a:t>IPC </a:t>
            </a:r>
            <a:r>
              <a:rPr kumimoji="1" lang="ja-JP" altLang="en-US" dirty="0"/>
              <a:t>を上げる</a:t>
            </a:r>
            <a:endParaRPr kumimoji="1" lang="en-US" altLang="ja-JP" dirty="0"/>
          </a:p>
          <a:p>
            <a:r>
              <a:rPr kumimoji="1" lang="ja-JP" altLang="en-US" dirty="0"/>
              <a:t>色々シミュレーションやモデル化して決める</a:t>
            </a:r>
            <a:endParaRPr kumimoji="1" lang="en-US" altLang="ja-JP" dirty="0"/>
          </a:p>
        </p:txBody>
      </p:sp>
    </p:spTree>
    <p:extLst>
      <p:ext uri="{BB962C8B-B14F-4D97-AF65-F5344CB8AC3E}">
        <p14:creationId xmlns:p14="http://schemas.microsoft.com/office/powerpoint/2010/main" val="99982935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まとめ</a:t>
            </a:r>
          </a:p>
        </p:txBody>
      </p:sp>
      <p:sp>
        <p:nvSpPr>
          <p:cNvPr id="3" name="テキスト プレースホルダー 2"/>
          <p:cNvSpPr>
            <a:spLocks noGrp="1"/>
          </p:cNvSpPr>
          <p:nvPr>
            <p:ph type="body" sz="quarter" idx="10"/>
          </p:nvPr>
        </p:nvSpPr>
        <p:spPr/>
        <p:txBody>
          <a:bodyPr/>
          <a:lstStyle/>
          <a:p>
            <a:r>
              <a:rPr lang="ja-JP" altLang="en-US" dirty="0"/>
              <a:t>性能は以下の２要素のかけ算で決まる：</a:t>
            </a:r>
            <a:endParaRPr lang="en-US" altLang="ja-JP" dirty="0"/>
          </a:p>
          <a:p>
            <a:pPr marL="817200" lvl="1" indent="-457200">
              <a:buFont typeface="+mj-lt"/>
              <a:buAutoNum type="arabicPeriod"/>
            </a:pPr>
            <a:r>
              <a:rPr lang="ja-JP" altLang="en-US" dirty="0"/>
              <a:t>クロック周波数</a:t>
            </a:r>
            <a:endParaRPr lang="en-US" altLang="ja-JP" dirty="0"/>
          </a:p>
          <a:p>
            <a:pPr marL="817200" lvl="1" indent="-457200">
              <a:buFont typeface="+mj-lt"/>
              <a:buAutoNum type="arabicPeriod"/>
            </a:pPr>
            <a:r>
              <a:rPr lang="en-US" altLang="ja-JP" dirty="0"/>
              <a:t>Instructions per cycle (IPC)</a:t>
            </a:r>
          </a:p>
          <a:p>
            <a:r>
              <a:rPr kumimoji="1" lang="ja-JP" altLang="en-US" dirty="0"/>
              <a:t>以下について検討</a:t>
            </a:r>
            <a:endParaRPr kumimoji="1" lang="en-US" altLang="ja-JP" dirty="0"/>
          </a:p>
          <a:p>
            <a:pPr lvl="1"/>
            <a:r>
              <a:rPr kumimoji="1" lang="ja-JP" altLang="en-US" dirty="0"/>
              <a:t>理想的な場合の性能のモデル</a:t>
            </a:r>
            <a:endParaRPr kumimoji="1" lang="en-US" altLang="ja-JP" dirty="0"/>
          </a:p>
          <a:p>
            <a:pPr lvl="1"/>
            <a:r>
              <a:rPr kumimoji="1" lang="ja-JP" altLang="en-US" dirty="0"/>
              <a:t>ハザードを考慮した性能のモデル</a:t>
            </a:r>
            <a:endParaRPr kumimoji="1" lang="en-US" altLang="ja-JP" dirty="0"/>
          </a:p>
          <a:p>
            <a:r>
              <a:rPr kumimoji="1" lang="ja-JP" altLang="en-US" dirty="0">
                <a:solidFill>
                  <a:schemeClr val="accent5"/>
                </a:solidFill>
              </a:rPr>
              <a:t>性能は色々な要素の相互作用で決まる</a:t>
            </a:r>
            <a:endParaRPr kumimoji="1" lang="en-US" altLang="ja-JP" dirty="0">
              <a:solidFill>
                <a:schemeClr val="accent5"/>
              </a:solidFill>
            </a:endParaRPr>
          </a:p>
        </p:txBody>
      </p:sp>
    </p:spTree>
    <p:extLst>
      <p:ext uri="{BB962C8B-B14F-4D97-AF65-F5344CB8AC3E}">
        <p14:creationId xmlns:p14="http://schemas.microsoft.com/office/powerpoint/2010/main" val="46648827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a:t>課題 ８</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sz="quarter" idx="10"/>
          </p:nvPr>
        </p:nvSpPr>
        <p:spPr>
          <a:xfrm>
            <a:off x="611955" y="1088974"/>
            <a:ext cx="7830087" cy="5220057"/>
          </a:xfrm>
        </p:spPr>
        <p:txBody>
          <a:bodyPr/>
          <a:lstStyle/>
          <a:p>
            <a:r>
              <a:rPr lang="ja-JP" altLang="en-US" sz="1600" dirty="0"/>
              <a:t>以下のような条件を考える</a:t>
            </a:r>
            <a:endParaRPr lang="en-US" altLang="ja-JP" sz="1600" dirty="0"/>
          </a:p>
          <a:p>
            <a:pPr lvl="1"/>
            <a:r>
              <a:rPr lang="en-US" altLang="ja-JP" sz="1600" dirty="0"/>
              <a:t>10</a:t>
            </a:r>
            <a:r>
              <a:rPr lang="ja-JP" altLang="en-US" sz="1600" dirty="0"/>
              <a:t>段のパイプラインを持つ </a:t>
            </a:r>
            <a:r>
              <a:rPr lang="en-US" altLang="ja-JP" sz="1600" dirty="0"/>
              <a:t>2-way </a:t>
            </a:r>
            <a:r>
              <a:rPr lang="ja-JP" altLang="en-US" sz="1600" dirty="0"/>
              <a:t>スーパスカラプロセッサであり，理想的には </a:t>
            </a:r>
            <a:r>
              <a:rPr lang="en-US" altLang="ja-JP" sz="1600" dirty="0"/>
              <a:t>IPC=2 </a:t>
            </a:r>
            <a:r>
              <a:rPr lang="ja-JP" altLang="en-US" sz="1600" dirty="0"/>
              <a:t>で実行できる</a:t>
            </a:r>
            <a:endParaRPr lang="en-US" altLang="ja-JP" sz="1600" dirty="0"/>
          </a:p>
          <a:p>
            <a:pPr lvl="1"/>
            <a:r>
              <a:rPr lang="ja-JP" altLang="en-US" sz="1600" dirty="0"/>
              <a:t>全実行命令におけるなんらかのデータハザードの発生率は </a:t>
            </a:r>
            <a:r>
              <a:rPr lang="en-US" altLang="ja-JP" sz="1600" dirty="0"/>
              <a:t>0.2 </a:t>
            </a:r>
          </a:p>
          <a:p>
            <a:pPr lvl="1"/>
            <a:r>
              <a:rPr lang="ja-JP" altLang="en-US" sz="1600" dirty="0"/>
              <a:t>このデータハザード発生時は </a:t>
            </a:r>
            <a:r>
              <a:rPr lang="en-US" altLang="ja-JP" sz="1600" dirty="0"/>
              <a:t>1 </a:t>
            </a:r>
            <a:r>
              <a:rPr lang="ja-JP" altLang="en-US" sz="1600" dirty="0"/>
              <a:t>サイクル実行時間が伸びるものとする</a:t>
            </a:r>
            <a:endParaRPr lang="en-US" altLang="ja-JP" sz="1600" dirty="0"/>
          </a:p>
          <a:p>
            <a:pPr lvl="1"/>
            <a:r>
              <a:rPr lang="ja-JP" altLang="en-US" sz="1600" dirty="0"/>
              <a:t>全実行命令における分岐命令の出現率は </a:t>
            </a:r>
            <a:r>
              <a:rPr lang="en-US" altLang="ja-JP" sz="1600" dirty="0"/>
              <a:t>0.2</a:t>
            </a:r>
          </a:p>
          <a:p>
            <a:pPr lvl="1"/>
            <a:r>
              <a:rPr lang="ja-JP" altLang="en-US" sz="1600" dirty="0"/>
              <a:t>分岐予測ミス率は </a:t>
            </a:r>
            <a:r>
              <a:rPr lang="en-US" altLang="ja-JP" sz="1600" dirty="0"/>
              <a:t>0.3</a:t>
            </a:r>
          </a:p>
          <a:p>
            <a:r>
              <a:rPr lang="en-US" altLang="ja-JP" sz="1600" dirty="0"/>
              <a:t>(1) </a:t>
            </a:r>
            <a:r>
              <a:rPr lang="ja-JP" altLang="en-US" sz="1600" dirty="0"/>
              <a:t>この </a:t>
            </a:r>
            <a:r>
              <a:rPr lang="en-US" altLang="ja-JP" sz="1600" dirty="0"/>
              <a:t>CPU </a:t>
            </a:r>
            <a:r>
              <a:rPr lang="ja-JP" altLang="en-US" sz="1600" dirty="0"/>
              <a:t>を改良する際，</a:t>
            </a:r>
            <a:br>
              <a:rPr lang="en-US" altLang="ja-JP" sz="1600" dirty="0"/>
            </a:br>
            <a:r>
              <a:rPr lang="ja-JP" altLang="en-US" sz="1600" dirty="0"/>
              <a:t>「</a:t>
            </a:r>
            <a:r>
              <a:rPr lang="en-US" altLang="ja-JP" sz="1600" dirty="0"/>
              <a:t>3-way </a:t>
            </a:r>
            <a:r>
              <a:rPr lang="ja-JP" altLang="en-US" sz="1600" dirty="0"/>
              <a:t>スーパスカラにする」</a:t>
            </a:r>
            <a:br>
              <a:rPr lang="en-US" altLang="ja-JP" sz="1600" dirty="0"/>
            </a:br>
            <a:r>
              <a:rPr lang="ja-JP" altLang="en-US" sz="1600" dirty="0"/>
              <a:t>「</a:t>
            </a:r>
            <a:r>
              <a:rPr lang="en-US" altLang="ja-JP" sz="1600" dirty="0"/>
              <a:t>2-way </a:t>
            </a:r>
            <a:r>
              <a:rPr lang="ja-JP" altLang="en-US" sz="1600" dirty="0"/>
              <a:t>のまま</a:t>
            </a:r>
            <a:r>
              <a:rPr lang="en-US" altLang="ja-JP" sz="1600" dirty="0"/>
              <a:t>15</a:t>
            </a:r>
            <a:r>
              <a:rPr lang="ja-JP" altLang="en-US" sz="1600" dirty="0"/>
              <a:t>段パイプラインにする」</a:t>
            </a:r>
            <a:br>
              <a:rPr lang="en-US" altLang="ja-JP" sz="1600" dirty="0"/>
            </a:br>
            <a:r>
              <a:rPr lang="ja-JP" altLang="en-US" sz="1600" dirty="0"/>
              <a:t>「</a:t>
            </a:r>
            <a:r>
              <a:rPr lang="en-US" altLang="ja-JP" sz="1600" dirty="0"/>
              <a:t>2-way </a:t>
            </a:r>
            <a:r>
              <a:rPr lang="ja-JP" altLang="en-US" sz="1600" dirty="0"/>
              <a:t>のまま分岐予測器を改良する」</a:t>
            </a:r>
            <a:br>
              <a:rPr lang="en-US" altLang="ja-JP" sz="1600" dirty="0"/>
            </a:br>
            <a:r>
              <a:rPr lang="ja-JP" altLang="en-US" sz="1600" dirty="0"/>
              <a:t>のどれが最も性能が上がるかを性能を計算して検討せよ</a:t>
            </a:r>
            <a:endParaRPr lang="en-US" altLang="ja-JP" sz="1600" dirty="0"/>
          </a:p>
          <a:p>
            <a:pPr lvl="1"/>
            <a:r>
              <a:rPr lang="ja-JP" altLang="en-US" sz="1600" dirty="0"/>
              <a:t>この </a:t>
            </a:r>
            <a:r>
              <a:rPr lang="en-US" altLang="ja-JP" sz="1600" dirty="0"/>
              <a:t>CPU </a:t>
            </a:r>
            <a:r>
              <a:rPr lang="ja-JP" altLang="en-US" sz="1600" dirty="0"/>
              <a:t>を </a:t>
            </a:r>
            <a:r>
              <a:rPr lang="en-US" altLang="ja-JP" sz="1600" dirty="0"/>
              <a:t>3-way </a:t>
            </a:r>
            <a:r>
              <a:rPr lang="ja-JP" altLang="en-US" sz="1600" dirty="0"/>
              <a:t>スーパスカラにすると理想的には </a:t>
            </a:r>
            <a:r>
              <a:rPr lang="en-US" altLang="ja-JP" sz="1600" dirty="0"/>
              <a:t>IPC=3 </a:t>
            </a:r>
            <a:r>
              <a:rPr lang="ja-JP" altLang="en-US" sz="1600" dirty="0"/>
              <a:t>で実行できるがデータハザードの発生率は </a:t>
            </a:r>
            <a:r>
              <a:rPr lang="en-US" altLang="ja-JP" sz="1600" dirty="0"/>
              <a:t>0.3 </a:t>
            </a:r>
            <a:r>
              <a:rPr lang="ja-JP" altLang="en-US" sz="1600" dirty="0"/>
              <a:t>に上昇するとする</a:t>
            </a:r>
            <a:endParaRPr lang="en-US" altLang="ja-JP" sz="1600" dirty="0"/>
          </a:p>
          <a:p>
            <a:pPr lvl="1"/>
            <a:r>
              <a:rPr lang="ja-JP" altLang="en-US" sz="1600" dirty="0"/>
              <a:t>また，分岐予測器を改良すると分岐予測ミス率が </a:t>
            </a:r>
            <a:r>
              <a:rPr lang="en-US" altLang="ja-JP" sz="1600" dirty="0"/>
              <a:t>0.2 </a:t>
            </a:r>
            <a:r>
              <a:rPr lang="ja-JP" altLang="en-US" sz="1600" dirty="0"/>
              <a:t>にまで削減されるとする</a:t>
            </a:r>
            <a:endParaRPr lang="en-US" altLang="ja-JP" sz="1600" dirty="0"/>
          </a:p>
        </p:txBody>
      </p:sp>
      <p:sp>
        <p:nvSpPr>
          <p:cNvPr id="2" name="スライド番号プレースホルダー 1">
            <a:extLst>
              <a:ext uri="{FF2B5EF4-FFF2-40B4-BE49-F238E27FC236}">
                <a16:creationId xmlns:a16="http://schemas.microsoft.com/office/drawing/2014/main" id="{40B77A9A-899F-2270-7269-9E9BA0B25E86}"/>
              </a:ext>
            </a:extLst>
          </p:cNvPr>
          <p:cNvSpPr>
            <a:spLocks noGrp="1"/>
          </p:cNvSpPr>
          <p:nvPr>
            <p:ph type="sldNum" sz="quarter" idx="4294967295"/>
          </p:nvPr>
        </p:nvSpPr>
        <p:spPr>
          <a:xfrm>
            <a:off x="8424863" y="6308725"/>
            <a:ext cx="719137" cy="549275"/>
          </a:xfrm>
        </p:spPr>
        <p:txBody>
          <a:bodyPr/>
          <a:lstStyle/>
          <a:p>
            <a:fld id="{D2D8002D-B5B0-4BAC-B1F6-782DDCCE6D9C}" type="slidenum">
              <a:rPr kumimoji="1" lang="ja-JP" altLang="en-US" smtClean="0"/>
              <a:pPr/>
              <a:t>57</a:t>
            </a:fld>
            <a:endParaRPr kumimoji="1" lang="ja-JP" altLang="en-US" dirty="0"/>
          </a:p>
        </p:txBody>
      </p:sp>
    </p:spTree>
    <p:extLst>
      <p:ext uri="{BB962C8B-B14F-4D97-AF65-F5344CB8AC3E}">
        <p14:creationId xmlns:p14="http://schemas.microsoft.com/office/powerpoint/2010/main" val="24445133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a:t>課題 ８</a:t>
            </a:r>
            <a:endParaRPr lang="en-US" dirty="0"/>
          </a:p>
        </p:txBody>
      </p:sp>
      <mc:AlternateContent xmlns:mc="http://schemas.openxmlformats.org/markup-compatibility/2006" xmlns:a14="http://schemas.microsoft.com/office/drawing/2010/main">
        <mc:Choice Requires="a14">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sz="quarter" idx="10"/>
              </p:nvPr>
            </p:nvSpPr>
            <p:spPr>
              <a:xfrm>
                <a:off x="611955" y="1088974"/>
                <a:ext cx="7830087" cy="5220057"/>
              </a:xfrm>
            </p:spPr>
            <p:txBody>
              <a:bodyPr/>
              <a:lstStyle/>
              <a:p>
                <a:r>
                  <a:rPr lang="en-US" altLang="ja-JP" sz="1600" dirty="0"/>
                  <a:t>(2) </a:t>
                </a:r>
                <a:r>
                  <a:rPr lang="ja-JP" altLang="en-US" sz="1600" dirty="0"/>
                  <a:t>ここで効率を表す「性能エネルギー比（性能 </a:t>
                </a:r>
                <a:r>
                  <a:rPr lang="en-US" altLang="ja-JP" sz="1600" dirty="0"/>
                  <a:t>/ </a:t>
                </a:r>
                <a:r>
                  <a:rPr lang="ja-JP" altLang="en-US" sz="1600" dirty="0"/>
                  <a:t>消費エネルギー）」という指標を導入する．この数字が大きいほど小さなエネルギーで速く動くことを意味する．前述の３つの改良方針のうち，以下の追加の条件のもとで，最も性能エネルギー比が良いものはどれかを計算して検討せよ．</a:t>
                </a:r>
                <a:endParaRPr lang="en-US" altLang="ja-JP" sz="1600" dirty="0"/>
              </a:p>
              <a:p>
                <a:pPr lvl="1"/>
                <a:r>
                  <a:rPr lang="ja-JP" altLang="en-US" sz="1600" dirty="0"/>
                  <a:t>クロック周波数を </a:t>
                </a:r>
                <a:r>
                  <a:rPr lang="en-US" altLang="ja-JP" sz="1600" dirty="0"/>
                  <a:t>N </a:t>
                </a:r>
                <a:r>
                  <a:rPr lang="ja-JP" altLang="en-US" sz="1600" dirty="0"/>
                  <a:t>倍にすると，消費エネルギーは </a:t>
                </a:r>
                <a14:m>
                  <m:oMath xmlns:m="http://schemas.openxmlformats.org/officeDocument/2006/math">
                    <m:sSup>
                      <m:sSupPr>
                        <m:ctrlPr>
                          <a:rPr lang="en-US" altLang="ja-JP" sz="1600" i="1" dirty="0" smtClean="0">
                            <a:latin typeface="Cambria Math" panose="02040503050406030204" pitchFamily="18" charset="0"/>
                          </a:rPr>
                        </m:ctrlPr>
                      </m:sSupPr>
                      <m:e>
                        <m:r>
                          <a:rPr lang="en-US" altLang="ja-JP" sz="1600" i="1" dirty="0" smtClean="0">
                            <a:latin typeface="Cambria Math" panose="02040503050406030204" pitchFamily="18" charset="0"/>
                          </a:rPr>
                          <m:t>𝑁</m:t>
                        </m:r>
                      </m:e>
                      <m:sup>
                        <m:r>
                          <a:rPr lang="en-US" altLang="ja-JP" sz="1600" i="1" dirty="0" smtClean="0">
                            <a:latin typeface="Cambria Math" panose="02040503050406030204" pitchFamily="18" charset="0"/>
                          </a:rPr>
                          <m:t>2</m:t>
                        </m:r>
                      </m:sup>
                    </m:sSup>
                  </m:oMath>
                </a14:m>
                <a:r>
                  <a:rPr lang="ja-JP" altLang="en-US" sz="1600" dirty="0"/>
                  <a:t> 倍増える</a:t>
                </a:r>
                <a:endParaRPr lang="en-US" altLang="ja-JP" sz="1600" dirty="0"/>
              </a:p>
              <a:p>
                <a:pPr lvl="1"/>
                <a:r>
                  <a:rPr lang="en-US" altLang="ja-JP" sz="1600" dirty="0"/>
                  <a:t>3-way </a:t>
                </a:r>
                <a:r>
                  <a:rPr lang="ja-JP" altLang="en-US" sz="1600" dirty="0"/>
                  <a:t>スーパースカラにすると消費エネルギーは </a:t>
                </a:r>
                <a:r>
                  <a:rPr lang="en-US" altLang="ja-JP" sz="1600" dirty="0"/>
                  <a:t>1.5 </a:t>
                </a:r>
                <a:r>
                  <a:rPr lang="ja-JP" altLang="en-US" sz="1600" dirty="0"/>
                  <a:t>倍になる</a:t>
                </a:r>
                <a:endParaRPr lang="en-US" altLang="ja-JP" sz="1600" dirty="0"/>
              </a:p>
              <a:p>
                <a:pPr lvl="1"/>
                <a:r>
                  <a:rPr lang="ja-JP" altLang="en-US" sz="1600" dirty="0"/>
                  <a:t>分岐予測器を改良すると消費エネルギーは </a:t>
                </a:r>
                <a:r>
                  <a:rPr lang="en-US" altLang="ja-JP" sz="1600" dirty="0"/>
                  <a:t>1.1 </a:t>
                </a:r>
                <a:r>
                  <a:rPr lang="ja-JP" altLang="en-US" sz="1600" dirty="0"/>
                  <a:t>倍になる</a:t>
                </a:r>
                <a:endParaRPr lang="en-US" altLang="ja-JP" sz="1600" dirty="0"/>
              </a:p>
            </p:txBody>
          </p:sp>
        </mc:Choice>
        <mc:Fallback xmlns="">
          <p:sp>
            <p:nvSpPr>
              <p:cNvPr id="7" name="コンテンツ プレースホルダー 2">
                <a:extLst>
                  <a:ext uri="{FF2B5EF4-FFF2-40B4-BE49-F238E27FC236}">
                    <a16:creationId xmlns:a16="http://schemas.microsoft.com/office/drawing/2014/main" id="{E21D1133-FC57-F955-23BE-11C267021F5C}"/>
                  </a:ext>
                </a:extLst>
              </p:cNvPr>
              <p:cNvSpPr>
                <a:spLocks noGrp="1" noRot="1" noChangeAspect="1" noMove="1" noResize="1" noEditPoints="1" noAdjustHandles="1" noChangeArrowheads="1" noChangeShapeType="1" noTextEdit="1"/>
              </p:cNvSpPr>
              <p:nvPr>
                <p:ph sz="quarter" idx="10"/>
              </p:nvPr>
            </p:nvSpPr>
            <p:spPr>
              <a:xfrm>
                <a:off x="611955" y="1088974"/>
                <a:ext cx="7830087" cy="5220057"/>
              </a:xfrm>
              <a:blipFill>
                <a:blip r:embed="rId2"/>
                <a:stretch>
                  <a:fillRect l="-311"/>
                </a:stretch>
              </a:blipFill>
            </p:spPr>
            <p:txBody>
              <a:bodyPr/>
              <a:lstStyle/>
              <a:p>
                <a:r>
                  <a:rPr lang="ja-JP" altLang="en-US">
                    <a:noFill/>
                  </a:rPr>
                  <a:t> </a:t>
                </a:r>
              </a:p>
            </p:txBody>
          </p:sp>
        </mc:Fallback>
      </mc:AlternateContent>
      <p:sp>
        <p:nvSpPr>
          <p:cNvPr id="2" name="スライド番号プレースホルダー 1">
            <a:extLst>
              <a:ext uri="{FF2B5EF4-FFF2-40B4-BE49-F238E27FC236}">
                <a16:creationId xmlns:a16="http://schemas.microsoft.com/office/drawing/2014/main" id="{40B77A9A-899F-2270-7269-9E9BA0B25E86}"/>
              </a:ext>
            </a:extLst>
          </p:cNvPr>
          <p:cNvSpPr>
            <a:spLocks noGrp="1"/>
          </p:cNvSpPr>
          <p:nvPr>
            <p:ph type="sldNum" sz="quarter" idx="4294967295"/>
          </p:nvPr>
        </p:nvSpPr>
        <p:spPr>
          <a:xfrm>
            <a:off x="8424863" y="6308725"/>
            <a:ext cx="719137" cy="549275"/>
          </a:xfrm>
        </p:spPr>
        <p:txBody>
          <a:bodyPr/>
          <a:lstStyle/>
          <a:p>
            <a:fld id="{D2D8002D-B5B0-4BAC-B1F6-782DDCCE6D9C}" type="slidenum">
              <a:rPr kumimoji="1" lang="ja-JP" altLang="en-US" smtClean="0"/>
              <a:pPr/>
              <a:t>58</a:t>
            </a:fld>
            <a:endParaRPr kumimoji="1" lang="ja-JP" altLang="en-US" dirty="0"/>
          </a:p>
        </p:txBody>
      </p:sp>
    </p:spTree>
    <p:extLst>
      <p:ext uri="{BB962C8B-B14F-4D97-AF65-F5344CB8AC3E}">
        <p14:creationId xmlns:p14="http://schemas.microsoft.com/office/powerpoint/2010/main" val="358730861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21D1C6A-AC4B-359E-389F-80FB0786D10A}"/>
              </a:ext>
            </a:extLst>
          </p:cNvPr>
          <p:cNvSpPr>
            <a:spLocks noGrp="1"/>
          </p:cNvSpPr>
          <p:nvPr>
            <p:ph type="title"/>
          </p:nvPr>
        </p:nvSpPr>
        <p:spPr/>
        <p:txBody>
          <a:bodyPr/>
          <a:lstStyle/>
          <a:p>
            <a:r>
              <a:rPr kumimoji="1" lang="ja-JP" altLang="en-US" dirty="0"/>
              <a:t>提出方法</a:t>
            </a:r>
            <a:endParaRPr kumimoji="1" lang="en-US" dirty="0"/>
          </a:p>
        </p:txBody>
      </p:sp>
      <p:sp>
        <p:nvSpPr>
          <p:cNvPr id="3" name="コンテンツ プレースホルダー 2">
            <a:extLst>
              <a:ext uri="{FF2B5EF4-FFF2-40B4-BE49-F238E27FC236}">
                <a16:creationId xmlns:a16="http://schemas.microsoft.com/office/drawing/2014/main" id="{B171FBA6-7482-3F67-1F81-B0AD70367ED7}"/>
              </a:ext>
            </a:extLst>
          </p:cNvPr>
          <p:cNvSpPr>
            <a:spLocks noGrp="1"/>
          </p:cNvSpPr>
          <p:nvPr>
            <p:ph sz="quarter" idx="10"/>
          </p:nvPr>
        </p:nvSpPr>
        <p:spPr>
          <a:xfrm>
            <a:off x="611956" y="1268976"/>
            <a:ext cx="7920088" cy="5220058"/>
          </a:xfrm>
        </p:spPr>
        <p:txBody>
          <a:bodyPr/>
          <a:lstStyle/>
          <a:p>
            <a:r>
              <a:rPr kumimoji="1" lang="ja-JP" altLang="en-US" sz="1600" dirty="0"/>
              <a:t>以下を提出：</a:t>
            </a:r>
            <a:endParaRPr kumimoji="1" lang="en-US" altLang="ja-JP" sz="1600" dirty="0"/>
          </a:p>
          <a:p>
            <a:pPr lvl="1">
              <a:buFont typeface="+mj-lt"/>
              <a:buAutoNum type="arabicPeriod"/>
            </a:pPr>
            <a:r>
              <a:rPr kumimoji="1" lang="ja-JP" altLang="en-US" sz="1600" dirty="0"/>
              <a:t>課題８：　</a:t>
            </a:r>
            <a:endParaRPr kumimoji="1" lang="en-US" altLang="ja-JP" sz="1600" dirty="0"/>
          </a:p>
          <a:p>
            <a:pPr lvl="2"/>
            <a:r>
              <a:rPr kumimoji="1" lang="ja-JP" altLang="en-US" sz="1600" dirty="0"/>
              <a:t>提出は </a:t>
            </a:r>
            <a:r>
              <a:rPr kumimoji="1" lang="en-US" altLang="ja-JP" sz="1600" dirty="0"/>
              <a:t>Moodle </a:t>
            </a:r>
            <a:r>
              <a:rPr kumimoji="1" lang="ja-JP" altLang="en-US" sz="1600" dirty="0"/>
              <a:t>の「課題８」のところからお願いします</a:t>
            </a:r>
            <a:endParaRPr kumimoji="1" lang="en-US" altLang="ja-JP" sz="1600" dirty="0"/>
          </a:p>
          <a:p>
            <a:pPr lvl="2"/>
            <a:r>
              <a:rPr kumimoji="1" lang="ja-JP" altLang="en-US" sz="1600" dirty="0"/>
              <a:t>紙に書いた場合は写真を撮ってアップロードしてください</a:t>
            </a:r>
            <a:endParaRPr kumimoji="1" lang="en-US" altLang="ja-JP" sz="1600" dirty="0"/>
          </a:p>
          <a:p>
            <a:pPr lvl="1">
              <a:buFont typeface="+mj-lt"/>
              <a:buAutoNum type="arabicPeriod"/>
            </a:pPr>
            <a:r>
              <a:rPr kumimoji="1" lang="ja-JP" altLang="en-US" sz="1600" dirty="0"/>
              <a:t>感想や質問：　</a:t>
            </a:r>
            <a:endParaRPr kumimoji="1" lang="en-US" altLang="ja-JP" sz="1600" dirty="0"/>
          </a:p>
          <a:p>
            <a:pPr lvl="2"/>
            <a:r>
              <a:rPr kumimoji="1" lang="ja-JP" altLang="en-US" sz="1600" dirty="0"/>
              <a:t>「感想や質問」のところに投稿してください</a:t>
            </a:r>
            <a:endParaRPr kumimoji="1" lang="en-US" altLang="ja-JP" sz="1600" dirty="0"/>
          </a:p>
          <a:p>
            <a:pPr lvl="2"/>
            <a:r>
              <a:rPr kumimoji="1" lang="ja-JP" altLang="en-US" sz="1600" dirty="0"/>
              <a:t>わからない場所がある場合，具体的に書いてもらえると良いです</a:t>
            </a:r>
            <a:endParaRPr kumimoji="1" lang="en-US" altLang="ja-JP" sz="1600" dirty="0"/>
          </a:p>
          <a:p>
            <a:r>
              <a:rPr kumimoji="1" lang="ja-JP" altLang="en-US" sz="1600" dirty="0"/>
              <a:t>提出締め切り</a:t>
            </a:r>
            <a:endParaRPr kumimoji="1" lang="en-US" altLang="ja-JP" sz="1600" dirty="0"/>
          </a:p>
          <a:p>
            <a:pPr lvl="1"/>
            <a:r>
              <a:rPr kumimoji="1" lang="ja-JP" altLang="en-US" sz="1600" dirty="0"/>
              <a:t>次回講義開始まで</a:t>
            </a:r>
            <a:endParaRPr kumimoji="1" lang="en-US" altLang="ja-JP" sz="1600" dirty="0"/>
          </a:p>
          <a:p>
            <a:r>
              <a:rPr kumimoji="1" lang="ja-JP" altLang="en-US" sz="1600" dirty="0"/>
              <a:t>注意：</a:t>
            </a:r>
            <a:endParaRPr kumimoji="1" lang="en-US" altLang="ja-JP" sz="1600" dirty="0"/>
          </a:p>
          <a:p>
            <a:pPr lvl="1"/>
            <a:r>
              <a:rPr kumimoji="1" lang="ja-JP" altLang="en-US" sz="1600" dirty="0"/>
              <a:t>課題の出来は，ある程度努力したあとがあれば良しです</a:t>
            </a:r>
            <a:endParaRPr kumimoji="1" lang="en-US" altLang="ja-JP" sz="1600" dirty="0"/>
          </a:p>
          <a:p>
            <a:pPr lvl="2"/>
            <a:r>
              <a:rPr kumimoji="1" lang="ja-JP" altLang="en-US" sz="1600" dirty="0"/>
              <a:t>必ずしも正解していなくても良いです</a:t>
            </a:r>
            <a:endParaRPr kumimoji="1" lang="en-US" altLang="ja-JP" sz="1600" dirty="0"/>
          </a:p>
        </p:txBody>
      </p:sp>
    </p:spTree>
    <p:extLst>
      <p:ext uri="{BB962C8B-B14F-4D97-AF65-F5344CB8AC3E}">
        <p14:creationId xmlns:p14="http://schemas.microsoft.com/office/powerpoint/2010/main" val="226178264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8F69A61-DFFC-ADC4-BC06-0BE0638E69DB}"/>
              </a:ext>
            </a:extLst>
          </p:cNvPr>
          <p:cNvSpPr>
            <a:spLocks noGrp="1"/>
          </p:cNvSpPr>
          <p:nvPr>
            <p:ph type="title"/>
          </p:nvPr>
        </p:nvSpPr>
        <p:spPr/>
        <p:txBody>
          <a:bodyPr/>
          <a:lstStyle/>
          <a:p>
            <a:r>
              <a:rPr lang="ja-JP" altLang="en-US" dirty="0"/>
              <a:t>休講と期末試験について</a:t>
            </a:r>
            <a:endParaRPr kumimoji="1" lang="ja-JP" altLang="en-US" dirty="0"/>
          </a:p>
        </p:txBody>
      </p:sp>
      <p:sp>
        <p:nvSpPr>
          <p:cNvPr id="3" name="コンテンツ プレースホルダー 2">
            <a:extLst>
              <a:ext uri="{FF2B5EF4-FFF2-40B4-BE49-F238E27FC236}">
                <a16:creationId xmlns:a16="http://schemas.microsoft.com/office/drawing/2014/main" id="{D883A268-693D-A39D-95DA-DEFB145555E0}"/>
              </a:ext>
            </a:extLst>
          </p:cNvPr>
          <p:cNvSpPr>
            <a:spLocks noGrp="1"/>
          </p:cNvSpPr>
          <p:nvPr>
            <p:ph sz="quarter" idx="10"/>
          </p:nvPr>
        </p:nvSpPr>
        <p:spPr/>
        <p:txBody>
          <a:bodyPr/>
          <a:lstStyle/>
          <a:p>
            <a:r>
              <a:rPr kumimoji="1" lang="en-US" altLang="ja-JP" dirty="0"/>
              <a:t>7/1 </a:t>
            </a:r>
            <a:r>
              <a:rPr kumimoji="1" lang="ja-JP" altLang="en-US" dirty="0"/>
              <a:t>の講義はおやすみです</a:t>
            </a:r>
            <a:endParaRPr kumimoji="1" lang="en-US" altLang="ja-JP" dirty="0"/>
          </a:p>
          <a:p>
            <a:pPr lvl="1"/>
            <a:r>
              <a:rPr lang="ja-JP" altLang="en-US" dirty="0"/>
              <a:t>次回は </a:t>
            </a:r>
            <a:r>
              <a:rPr lang="en-US" altLang="ja-JP" dirty="0"/>
              <a:t>7/8</a:t>
            </a:r>
          </a:p>
          <a:p>
            <a:r>
              <a:rPr kumimoji="1" lang="ja-JP" altLang="en-US" dirty="0"/>
              <a:t>期末試験は </a:t>
            </a:r>
            <a:r>
              <a:rPr kumimoji="1" lang="en-US" altLang="ja-JP" dirty="0"/>
              <a:t>8/5 </a:t>
            </a:r>
            <a:r>
              <a:rPr kumimoji="1" lang="ja-JP" altLang="en-US" dirty="0"/>
              <a:t>に実施予定です</a:t>
            </a:r>
          </a:p>
        </p:txBody>
      </p:sp>
    </p:spTree>
    <p:extLst>
      <p:ext uri="{BB962C8B-B14F-4D97-AF65-F5344CB8AC3E}">
        <p14:creationId xmlns:p14="http://schemas.microsoft.com/office/powerpoint/2010/main" val="41386878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709E12B7-1370-3346-B4E8-7093BA1662C1}"/>
              </a:ext>
            </a:extLst>
          </p:cNvPr>
          <p:cNvSpPr>
            <a:spLocks noGrp="1"/>
          </p:cNvSpPr>
          <p:nvPr>
            <p:ph type="title"/>
          </p:nvPr>
        </p:nvSpPr>
        <p:spPr/>
        <p:txBody>
          <a:bodyPr/>
          <a:lstStyle/>
          <a:p>
            <a:r>
              <a:rPr kumimoji="1" lang="ja-JP" altLang="en-US" dirty="0"/>
              <a:t>質問とか感想</a:t>
            </a:r>
            <a:endParaRPr lang="en-US" dirty="0"/>
          </a:p>
        </p:txBody>
      </p:sp>
    </p:spTree>
    <p:extLst>
      <p:ext uri="{BB962C8B-B14F-4D97-AF65-F5344CB8AC3E}">
        <p14:creationId xmlns:p14="http://schemas.microsoft.com/office/powerpoint/2010/main" val="115434529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AA8EBBD-6456-B940-EE50-E6057DAEC093}"/>
              </a:ext>
            </a:extLst>
          </p:cNvPr>
          <p:cNvSpPr>
            <a:spLocks noGrp="1"/>
          </p:cNvSpPr>
          <p:nvPr>
            <p:ph type="title"/>
          </p:nvPr>
        </p:nvSpPr>
        <p:spPr>
          <a:xfrm>
            <a:off x="611956" y="0"/>
            <a:ext cx="8532044" cy="908972"/>
          </a:xfrm>
        </p:spPr>
        <p:txBody>
          <a:bodyPr/>
          <a:lstStyle/>
          <a:p>
            <a:r>
              <a:rPr lang="ja-JP" altLang="en-US"/>
              <a:t>質問とか感想</a:t>
            </a:r>
            <a:endParaRPr lang="en-US"/>
          </a:p>
        </p:txBody>
      </p:sp>
      <p:sp>
        <p:nvSpPr>
          <p:cNvPr id="3" name="コンテンツ プレースホルダー 2">
            <a:extLst>
              <a:ext uri="{FF2B5EF4-FFF2-40B4-BE49-F238E27FC236}">
                <a16:creationId xmlns:a16="http://schemas.microsoft.com/office/drawing/2014/main" id="{46C96F0D-39A0-7B53-A71E-67DF1A3CBE56}"/>
              </a:ext>
            </a:extLst>
          </p:cNvPr>
          <p:cNvSpPr>
            <a:spLocks noGrp="1"/>
          </p:cNvSpPr>
          <p:nvPr>
            <p:ph sz="quarter" idx="10"/>
          </p:nvPr>
        </p:nvSpPr>
        <p:spPr>
          <a:xfrm>
            <a:off x="611956" y="1088974"/>
            <a:ext cx="7920088" cy="5220058"/>
          </a:xfrm>
        </p:spPr>
        <p:txBody>
          <a:bodyPr/>
          <a:lstStyle/>
          <a:p>
            <a:r>
              <a:rPr lang="ja-JP" altLang="en-US" dirty="0"/>
              <a:t>最近暑くて夏バテ気味です。先生は夏バテ対策は何かありますか？</a:t>
            </a:r>
          </a:p>
          <a:p>
            <a:endParaRPr lang="en-US" dirty="0"/>
          </a:p>
        </p:txBody>
      </p:sp>
    </p:spTree>
    <p:extLst>
      <p:ext uri="{BB962C8B-B14F-4D97-AF65-F5344CB8AC3E}">
        <p14:creationId xmlns:p14="http://schemas.microsoft.com/office/powerpoint/2010/main" val="325131820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4178EC-E571-1573-B350-0F56025AADB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AA51F5B-F7C7-DE17-2DBB-B14B04281192}"/>
              </a:ext>
            </a:extLst>
          </p:cNvPr>
          <p:cNvSpPr>
            <a:spLocks noGrp="1"/>
          </p:cNvSpPr>
          <p:nvPr>
            <p:ph type="title"/>
          </p:nvPr>
        </p:nvSpPr>
        <p:spPr>
          <a:xfrm>
            <a:off x="611956" y="0"/>
            <a:ext cx="8532044" cy="908972"/>
          </a:xfrm>
        </p:spPr>
        <p:txBody>
          <a:bodyPr/>
          <a:lstStyle/>
          <a:p>
            <a:r>
              <a:rPr lang="ja-JP" altLang="en-US"/>
              <a:t>質問とか感想</a:t>
            </a:r>
            <a:endParaRPr lang="en-US"/>
          </a:p>
        </p:txBody>
      </p:sp>
      <p:sp>
        <p:nvSpPr>
          <p:cNvPr id="3" name="コンテンツ プレースホルダー 2">
            <a:extLst>
              <a:ext uri="{FF2B5EF4-FFF2-40B4-BE49-F238E27FC236}">
                <a16:creationId xmlns:a16="http://schemas.microsoft.com/office/drawing/2014/main" id="{50F25417-217B-F49E-8821-DA1DEF819FE4}"/>
              </a:ext>
            </a:extLst>
          </p:cNvPr>
          <p:cNvSpPr>
            <a:spLocks noGrp="1"/>
          </p:cNvSpPr>
          <p:nvPr>
            <p:ph sz="quarter" idx="10"/>
          </p:nvPr>
        </p:nvSpPr>
        <p:spPr>
          <a:xfrm>
            <a:off x="611956" y="1088974"/>
            <a:ext cx="7920088" cy="5220058"/>
          </a:xfrm>
        </p:spPr>
        <p:txBody>
          <a:bodyPr/>
          <a:lstStyle/>
          <a:p>
            <a:r>
              <a:rPr lang="ja-JP" altLang="en-US" dirty="0"/>
              <a:t>ストールを用いるときと、フォワーディングや遅延を用いるときの違いがよくわからないのですが、ストールを用いるのは、依存関係が</a:t>
            </a:r>
            <a:r>
              <a:rPr lang="en-US" altLang="ja-JP" dirty="0" err="1"/>
              <a:t>ld</a:t>
            </a:r>
            <a:r>
              <a:rPr lang="ja-JP" altLang="en-US" dirty="0"/>
              <a:t>と</a:t>
            </a:r>
            <a:r>
              <a:rPr lang="en-US" altLang="ja-JP" dirty="0"/>
              <a:t>add</a:t>
            </a:r>
            <a:r>
              <a:rPr lang="ja-JP" altLang="en-US" dirty="0"/>
              <a:t>の時のみですか？</a:t>
            </a:r>
            <a:endParaRPr lang="en-US" dirty="0"/>
          </a:p>
        </p:txBody>
      </p:sp>
    </p:spTree>
    <p:extLst>
      <p:ext uri="{BB962C8B-B14F-4D97-AF65-F5344CB8AC3E}">
        <p14:creationId xmlns:p14="http://schemas.microsoft.com/office/powerpoint/2010/main" val="56193586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94A934-CC24-49AA-1339-D218B9E3310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92EB849-E697-69AC-5B17-6C927A2322D9}"/>
              </a:ext>
            </a:extLst>
          </p:cNvPr>
          <p:cNvSpPr>
            <a:spLocks noGrp="1"/>
          </p:cNvSpPr>
          <p:nvPr>
            <p:ph type="title"/>
          </p:nvPr>
        </p:nvSpPr>
        <p:spPr>
          <a:xfrm>
            <a:off x="611956" y="0"/>
            <a:ext cx="8532044" cy="908972"/>
          </a:xfrm>
        </p:spPr>
        <p:txBody>
          <a:bodyPr/>
          <a:lstStyle/>
          <a:p>
            <a:r>
              <a:rPr lang="ja-JP" altLang="en-US"/>
              <a:t>質問とか感想</a:t>
            </a:r>
            <a:endParaRPr lang="en-US"/>
          </a:p>
        </p:txBody>
      </p:sp>
      <p:sp>
        <p:nvSpPr>
          <p:cNvPr id="3" name="コンテンツ プレースホルダー 2">
            <a:extLst>
              <a:ext uri="{FF2B5EF4-FFF2-40B4-BE49-F238E27FC236}">
                <a16:creationId xmlns:a16="http://schemas.microsoft.com/office/drawing/2014/main" id="{EEA9C97A-6164-ACE5-7E62-06BC7AC0C900}"/>
              </a:ext>
            </a:extLst>
          </p:cNvPr>
          <p:cNvSpPr>
            <a:spLocks noGrp="1"/>
          </p:cNvSpPr>
          <p:nvPr>
            <p:ph sz="quarter" idx="10"/>
          </p:nvPr>
        </p:nvSpPr>
        <p:spPr>
          <a:xfrm>
            <a:off x="611956" y="1088974"/>
            <a:ext cx="7920088" cy="5220058"/>
          </a:xfrm>
        </p:spPr>
        <p:txBody>
          <a:bodyPr/>
          <a:lstStyle/>
          <a:p>
            <a:r>
              <a:rPr lang="ja-JP" altLang="en-US" dirty="0"/>
              <a:t>デコードのタイミングが分からないです、あと演算は同時に処理されることはないのですか、、？</a:t>
            </a:r>
            <a:endParaRPr lang="en-US" dirty="0"/>
          </a:p>
        </p:txBody>
      </p:sp>
    </p:spTree>
    <p:extLst>
      <p:ext uri="{BB962C8B-B14F-4D97-AF65-F5344CB8AC3E}">
        <p14:creationId xmlns:p14="http://schemas.microsoft.com/office/powerpoint/2010/main" val="418218742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F1D8D6-7FF6-B0A4-59F1-C4314429C58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A4C1A0C-DFA1-8E82-2018-0C0DFBC79603}"/>
              </a:ext>
            </a:extLst>
          </p:cNvPr>
          <p:cNvSpPr>
            <a:spLocks noGrp="1"/>
          </p:cNvSpPr>
          <p:nvPr>
            <p:ph type="title"/>
          </p:nvPr>
        </p:nvSpPr>
        <p:spPr>
          <a:xfrm>
            <a:off x="611956" y="0"/>
            <a:ext cx="8532044" cy="908972"/>
          </a:xfrm>
        </p:spPr>
        <p:txBody>
          <a:bodyPr/>
          <a:lstStyle/>
          <a:p>
            <a:r>
              <a:rPr lang="ja-JP" altLang="en-US"/>
              <a:t>質問とか感想</a:t>
            </a:r>
            <a:endParaRPr lang="en-US"/>
          </a:p>
        </p:txBody>
      </p:sp>
      <p:sp>
        <p:nvSpPr>
          <p:cNvPr id="3" name="コンテンツ プレースホルダー 2">
            <a:extLst>
              <a:ext uri="{FF2B5EF4-FFF2-40B4-BE49-F238E27FC236}">
                <a16:creationId xmlns:a16="http://schemas.microsoft.com/office/drawing/2014/main" id="{09165727-93F2-D08F-2CF4-3AB127CFD96A}"/>
              </a:ext>
            </a:extLst>
          </p:cNvPr>
          <p:cNvSpPr>
            <a:spLocks noGrp="1"/>
          </p:cNvSpPr>
          <p:nvPr>
            <p:ph sz="quarter" idx="10"/>
          </p:nvPr>
        </p:nvSpPr>
        <p:spPr>
          <a:xfrm>
            <a:off x="611956" y="1088974"/>
            <a:ext cx="7920088" cy="5220058"/>
          </a:xfrm>
        </p:spPr>
        <p:txBody>
          <a:bodyPr/>
          <a:lstStyle/>
          <a:p>
            <a:r>
              <a:rPr lang="ja-JP" altLang="en-US" dirty="0"/>
              <a:t>また、個人的に火曜日が</a:t>
            </a:r>
            <a:r>
              <a:rPr lang="en-US" altLang="ja-JP" dirty="0"/>
              <a:t>1</a:t>
            </a:r>
            <a:r>
              <a:rPr lang="ja-JP" altLang="en-US" dirty="0"/>
              <a:t>、</a:t>
            </a:r>
            <a:r>
              <a:rPr lang="en-US" altLang="ja-JP" dirty="0"/>
              <a:t>4</a:t>
            </a:r>
            <a:r>
              <a:rPr lang="ja-JP" altLang="en-US" dirty="0"/>
              <a:t>限だけなのでこの授業を</a:t>
            </a:r>
            <a:r>
              <a:rPr lang="en-US" altLang="ja-JP" dirty="0"/>
              <a:t>ZOOM</a:t>
            </a:r>
            <a:r>
              <a:rPr lang="ja-JP" altLang="en-US" dirty="0"/>
              <a:t>でも配信してもらえるととても嬉しいです。先生も暑い中自転車でくるのは大変だと思うので、、、ぜひご検討よろしくお願いします。</a:t>
            </a:r>
            <a:endParaRPr lang="en-US" dirty="0"/>
          </a:p>
        </p:txBody>
      </p:sp>
    </p:spTree>
    <p:extLst>
      <p:ext uri="{BB962C8B-B14F-4D97-AF65-F5344CB8AC3E}">
        <p14:creationId xmlns:p14="http://schemas.microsoft.com/office/powerpoint/2010/main" val="307878282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FD7811-1400-D602-9BF9-0D1D0E49828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93DE4BC-6CC7-0D67-127F-9601732526D8}"/>
              </a:ext>
            </a:extLst>
          </p:cNvPr>
          <p:cNvSpPr>
            <a:spLocks noGrp="1"/>
          </p:cNvSpPr>
          <p:nvPr>
            <p:ph type="title"/>
          </p:nvPr>
        </p:nvSpPr>
        <p:spPr>
          <a:xfrm>
            <a:off x="611956" y="0"/>
            <a:ext cx="8532044" cy="908972"/>
          </a:xfrm>
        </p:spPr>
        <p:txBody>
          <a:bodyPr/>
          <a:lstStyle/>
          <a:p>
            <a:r>
              <a:rPr lang="ja-JP" altLang="en-US"/>
              <a:t>質問とか感想</a:t>
            </a:r>
            <a:endParaRPr lang="en-US"/>
          </a:p>
        </p:txBody>
      </p:sp>
      <p:sp>
        <p:nvSpPr>
          <p:cNvPr id="3" name="コンテンツ プレースホルダー 2">
            <a:extLst>
              <a:ext uri="{FF2B5EF4-FFF2-40B4-BE49-F238E27FC236}">
                <a16:creationId xmlns:a16="http://schemas.microsoft.com/office/drawing/2014/main" id="{22F4297D-42AC-1194-BB82-B5B95FDBBEB0}"/>
              </a:ext>
            </a:extLst>
          </p:cNvPr>
          <p:cNvSpPr>
            <a:spLocks noGrp="1"/>
          </p:cNvSpPr>
          <p:nvPr>
            <p:ph sz="quarter" idx="10"/>
          </p:nvPr>
        </p:nvSpPr>
        <p:spPr>
          <a:xfrm>
            <a:off x="611956" y="1088974"/>
            <a:ext cx="7920088" cy="5220058"/>
          </a:xfrm>
        </p:spPr>
        <p:txBody>
          <a:bodyPr/>
          <a:lstStyle/>
          <a:p>
            <a:r>
              <a:rPr lang="ja-JP" altLang="en-US" dirty="0"/>
              <a:t>課題について、フォワーディングをするとどのステージまでストールしたら良いのか分かりませんでした。</a:t>
            </a:r>
            <a:endParaRPr lang="en-US" dirty="0"/>
          </a:p>
        </p:txBody>
      </p:sp>
    </p:spTree>
    <p:extLst>
      <p:ext uri="{BB962C8B-B14F-4D97-AF65-F5344CB8AC3E}">
        <p14:creationId xmlns:p14="http://schemas.microsoft.com/office/powerpoint/2010/main" val="242244512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7F4F43-C4C4-BCF3-478B-9FBE81D3B0D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145D910-A3A7-D568-F4F5-37FFEDDA21CE}"/>
              </a:ext>
            </a:extLst>
          </p:cNvPr>
          <p:cNvSpPr>
            <a:spLocks noGrp="1"/>
          </p:cNvSpPr>
          <p:nvPr>
            <p:ph type="title"/>
          </p:nvPr>
        </p:nvSpPr>
        <p:spPr>
          <a:xfrm>
            <a:off x="611956" y="0"/>
            <a:ext cx="8532044" cy="908972"/>
          </a:xfrm>
        </p:spPr>
        <p:txBody>
          <a:bodyPr/>
          <a:lstStyle/>
          <a:p>
            <a:r>
              <a:rPr lang="ja-JP" altLang="en-US"/>
              <a:t>質問とか感想</a:t>
            </a:r>
            <a:endParaRPr lang="en-US"/>
          </a:p>
        </p:txBody>
      </p:sp>
      <p:sp>
        <p:nvSpPr>
          <p:cNvPr id="3" name="コンテンツ プレースホルダー 2">
            <a:extLst>
              <a:ext uri="{FF2B5EF4-FFF2-40B4-BE49-F238E27FC236}">
                <a16:creationId xmlns:a16="http://schemas.microsoft.com/office/drawing/2014/main" id="{765E42E1-88B5-9691-C545-B30CB4B87DF8}"/>
              </a:ext>
            </a:extLst>
          </p:cNvPr>
          <p:cNvSpPr>
            <a:spLocks noGrp="1"/>
          </p:cNvSpPr>
          <p:nvPr>
            <p:ph sz="quarter" idx="10"/>
          </p:nvPr>
        </p:nvSpPr>
        <p:spPr>
          <a:xfrm>
            <a:off x="611956" y="1088974"/>
            <a:ext cx="7920088" cy="5220058"/>
          </a:xfrm>
        </p:spPr>
        <p:txBody>
          <a:bodyPr/>
          <a:lstStyle/>
          <a:p>
            <a:r>
              <a:rPr lang="ja-JP" altLang="en-US" dirty="0"/>
              <a:t>前回の内容と今回の内容とのつながりがイマイチわかりませんでした。パイプライン化の話はなんとなくわかったのですが他があんまりわからなかったです。一応課題は出しているのですが完全に理解しているのではなく、多分こうだろうみたいな感じなので期末テストが心配です。</a:t>
            </a:r>
            <a:endParaRPr lang="en-US" dirty="0"/>
          </a:p>
        </p:txBody>
      </p:sp>
    </p:spTree>
    <p:extLst>
      <p:ext uri="{BB962C8B-B14F-4D97-AF65-F5344CB8AC3E}">
        <p14:creationId xmlns:p14="http://schemas.microsoft.com/office/powerpoint/2010/main" val="13257322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39D07F-59CC-B33B-D6E9-29A117687C1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65BE0D3-B998-6B9D-AE0E-4B93589D2C41}"/>
              </a:ext>
            </a:extLst>
          </p:cNvPr>
          <p:cNvSpPr>
            <a:spLocks noGrp="1"/>
          </p:cNvSpPr>
          <p:nvPr>
            <p:ph type="title"/>
          </p:nvPr>
        </p:nvSpPr>
        <p:spPr>
          <a:xfrm>
            <a:off x="611956" y="0"/>
            <a:ext cx="8532044" cy="908972"/>
          </a:xfrm>
        </p:spPr>
        <p:txBody>
          <a:bodyPr/>
          <a:lstStyle/>
          <a:p>
            <a:r>
              <a:rPr lang="ja-JP" altLang="en-US"/>
              <a:t>質問とか感想</a:t>
            </a:r>
            <a:endParaRPr lang="en-US"/>
          </a:p>
        </p:txBody>
      </p:sp>
      <p:sp>
        <p:nvSpPr>
          <p:cNvPr id="3" name="コンテンツ プレースホルダー 2">
            <a:extLst>
              <a:ext uri="{FF2B5EF4-FFF2-40B4-BE49-F238E27FC236}">
                <a16:creationId xmlns:a16="http://schemas.microsoft.com/office/drawing/2014/main" id="{9FB2A23A-E51F-1485-D7BD-67449ABEB0B0}"/>
              </a:ext>
            </a:extLst>
          </p:cNvPr>
          <p:cNvSpPr>
            <a:spLocks noGrp="1"/>
          </p:cNvSpPr>
          <p:nvPr>
            <p:ph sz="quarter" idx="10"/>
          </p:nvPr>
        </p:nvSpPr>
        <p:spPr>
          <a:xfrm>
            <a:off x="611956" y="1088974"/>
            <a:ext cx="7920088" cy="5220058"/>
          </a:xfrm>
        </p:spPr>
        <p:txBody>
          <a:bodyPr/>
          <a:lstStyle/>
          <a:p>
            <a:r>
              <a:rPr lang="ja-JP" altLang="en-US" dirty="0"/>
              <a:t>今日の課題が難しかったです、、。課題に関してですが、</a:t>
            </a:r>
            <a:r>
              <a:rPr lang="en-US" altLang="ja-JP" dirty="0" err="1"/>
              <a:t>beq</a:t>
            </a:r>
            <a:r>
              <a:rPr lang="en-US" altLang="ja-JP" dirty="0"/>
              <a:t> </a:t>
            </a:r>
            <a:r>
              <a:rPr lang="ja-JP" altLang="en-US" dirty="0"/>
              <a:t>が分岐予測ミスを起こすのはどのような場合ですか？</a:t>
            </a:r>
            <a:endParaRPr lang="en-US" dirty="0"/>
          </a:p>
        </p:txBody>
      </p:sp>
    </p:spTree>
    <p:extLst>
      <p:ext uri="{BB962C8B-B14F-4D97-AF65-F5344CB8AC3E}">
        <p14:creationId xmlns:p14="http://schemas.microsoft.com/office/powerpoint/2010/main" val="73001430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EE6139-580F-A227-5C92-910829C6811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1544EDB-204C-1BE7-16BE-5D0483075823}"/>
              </a:ext>
            </a:extLst>
          </p:cNvPr>
          <p:cNvSpPr>
            <a:spLocks noGrp="1"/>
          </p:cNvSpPr>
          <p:nvPr>
            <p:ph type="title"/>
          </p:nvPr>
        </p:nvSpPr>
        <p:spPr>
          <a:xfrm>
            <a:off x="611956" y="0"/>
            <a:ext cx="8532044" cy="908972"/>
          </a:xfrm>
        </p:spPr>
        <p:txBody>
          <a:bodyPr/>
          <a:lstStyle/>
          <a:p>
            <a:r>
              <a:rPr lang="ja-JP" altLang="en-US"/>
              <a:t>質問とか感想</a:t>
            </a:r>
            <a:endParaRPr lang="en-US"/>
          </a:p>
        </p:txBody>
      </p:sp>
      <p:sp>
        <p:nvSpPr>
          <p:cNvPr id="3" name="コンテンツ プレースホルダー 2">
            <a:extLst>
              <a:ext uri="{FF2B5EF4-FFF2-40B4-BE49-F238E27FC236}">
                <a16:creationId xmlns:a16="http://schemas.microsoft.com/office/drawing/2014/main" id="{5CBF5509-02B8-5BD7-2128-12CAE1493963}"/>
              </a:ext>
            </a:extLst>
          </p:cNvPr>
          <p:cNvSpPr>
            <a:spLocks noGrp="1"/>
          </p:cNvSpPr>
          <p:nvPr>
            <p:ph sz="quarter" idx="10"/>
          </p:nvPr>
        </p:nvSpPr>
        <p:spPr>
          <a:xfrm>
            <a:off x="611956" y="1088974"/>
            <a:ext cx="7920088" cy="5220058"/>
          </a:xfrm>
        </p:spPr>
        <p:txBody>
          <a:bodyPr/>
          <a:lstStyle/>
          <a:p>
            <a:r>
              <a:rPr lang="ja-JP" altLang="en-US" dirty="0"/>
              <a:t>分岐予測が正しかったかが分かるのはその命令のメモリアクセスの処理が完了した時という認識であっていますか？</a:t>
            </a:r>
            <a:endParaRPr lang="en-US" dirty="0"/>
          </a:p>
        </p:txBody>
      </p:sp>
    </p:spTree>
    <p:extLst>
      <p:ext uri="{BB962C8B-B14F-4D97-AF65-F5344CB8AC3E}">
        <p14:creationId xmlns:p14="http://schemas.microsoft.com/office/powerpoint/2010/main" val="404092263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1933E-F0DE-6ADE-2093-3D444689ADE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DF872B5-5A25-2D89-8D19-B7FBB1583616}"/>
              </a:ext>
            </a:extLst>
          </p:cNvPr>
          <p:cNvSpPr>
            <a:spLocks noGrp="1"/>
          </p:cNvSpPr>
          <p:nvPr>
            <p:ph type="title"/>
          </p:nvPr>
        </p:nvSpPr>
        <p:spPr>
          <a:xfrm>
            <a:off x="611956" y="0"/>
            <a:ext cx="8532044" cy="908972"/>
          </a:xfrm>
        </p:spPr>
        <p:txBody>
          <a:bodyPr/>
          <a:lstStyle/>
          <a:p>
            <a:r>
              <a:rPr lang="ja-JP" altLang="en-US"/>
              <a:t>質問とか感想</a:t>
            </a:r>
            <a:endParaRPr lang="en-US"/>
          </a:p>
        </p:txBody>
      </p:sp>
      <p:sp>
        <p:nvSpPr>
          <p:cNvPr id="3" name="コンテンツ プレースホルダー 2">
            <a:extLst>
              <a:ext uri="{FF2B5EF4-FFF2-40B4-BE49-F238E27FC236}">
                <a16:creationId xmlns:a16="http://schemas.microsoft.com/office/drawing/2014/main" id="{D71F86A8-C19D-DBED-D11B-1485F44A949C}"/>
              </a:ext>
            </a:extLst>
          </p:cNvPr>
          <p:cNvSpPr>
            <a:spLocks noGrp="1"/>
          </p:cNvSpPr>
          <p:nvPr>
            <p:ph sz="quarter" idx="10"/>
          </p:nvPr>
        </p:nvSpPr>
        <p:spPr>
          <a:xfrm>
            <a:off x="611956" y="1088974"/>
            <a:ext cx="7920088" cy="5220058"/>
          </a:xfrm>
        </p:spPr>
        <p:txBody>
          <a:bodyPr/>
          <a:lstStyle/>
          <a:p>
            <a:r>
              <a:rPr lang="ja-JP" altLang="en-US" dirty="0"/>
              <a:t>最大周波数についてよく分かりませんでした。授業資料を読み返してみましたが、見つけられなかったのでもう少し教えて欲しいです。</a:t>
            </a:r>
            <a:endParaRPr lang="en-US" dirty="0"/>
          </a:p>
        </p:txBody>
      </p:sp>
    </p:spTree>
    <p:extLst>
      <p:ext uri="{BB962C8B-B14F-4D97-AF65-F5344CB8AC3E}">
        <p14:creationId xmlns:p14="http://schemas.microsoft.com/office/powerpoint/2010/main" val="140489026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3F0920-CAD3-4812-B76A-40CD5C9B33A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E411427-3305-49A1-33F6-140FE74F0C74}"/>
              </a:ext>
            </a:extLst>
          </p:cNvPr>
          <p:cNvSpPr>
            <a:spLocks noGrp="1"/>
          </p:cNvSpPr>
          <p:nvPr>
            <p:ph type="title"/>
          </p:nvPr>
        </p:nvSpPr>
        <p:spPr>
          <a:xfrm>
            <a:off x="611956" y="0"/>
            <a:ext cx="8532044" cy="908972"/>
          </a:xfrm>
        </p:spPr>
        <p:txBody>
          <a:bodyPr/>
          <a:lstStyle/>
          <a:p>
            <a:r>
              <a:rPr lang="ja-JP" altLang="en-US"/>
              <a:t>質問とか感想</a:t>
            </a:r>
            <a:endParaRPr lang="en-US"/>
          </a:p>
        </p:txBody>
      </p:sp>
      <p:sp>
        <p:nvSpPr>
          <p:cNvPr id="3" name="コンテンツ プレースホルダー 2">
            <a:extLst>
              <a:ext uri="{FF2B5EF4-FFF2-40B4-BE49-F238E27FC236}">
                <a16:creationId xmlns:a16="http://schemas.microsoft.com/office/drawing/2014/main" id="{8C45B0FE-58A8-9CEA-6E99-A4F0202FB0EC}"/>
              </a:ext>
            </a:extLst>
          </p:cNvPr>
          <p:cNvSpPr>
            <a:spLocks noGrp="1"/>
          </p:cNvSpPr>
          <p:nvPr>
            <p:ph sz="quarter" idx="10"/>
          </p:nvPr>
        </p:nvSpPr>
        <p:spPr>
          <a:xfrm>
            <a:off x="611956" y="1088974"/>
            <a:ext cx="7920088" cy="5220058"/>
          </a:xfrm>
        </p:spPr>
        <p:txBody>
          <a:bodyPr/>
          <a:lstStyle/>
          <a:p>
            <a:r>
              <a:rPr lang="ja-JP" altLang="en-US" dirty="0"/>
              <a:t>フォワーディングを行なっているときのロードについての質問です。第</a:t>
            </a:r>
            <a:r>
              <a:rPr lang="en-US" altLang="ja-JP" dirty="0"/>
              <a:t>6</a:t>
            </a:r>
            <a:r>
              <a:rPr lang="ja-JP" altLang="en-US" dirty="0"/>
              <a:t>回</a:t>
            </a:r>
            <a:r>
              <a:rPr lang="en-US" altLang="ja-JP" dirty="0"/>
              <a:t>p64</a:t>
            </a:r>
            <a:r>
              <a:rPr lang="ja-JP" altLang="en-US" dirty="0"/>
              <a:t>で、</a:t>
            </a:r>
            <a:r>
              <a:rPr lang="en-US" altLang="ja-JP" dirty="0"/>
              <a:t>MEM</a:t>
            </a:r>
            <a:r>
              <a:rPr lang="ja-JP" altLang="en-US" dirty="0"/>
              <a:t>より後に</a:t>
            </a:r>
            <a:r>
              <a:rPr lang="en-US" altLang="ja-JP" dirty="0"/>
              <a:t>EX</a:t>
            </a:r>
            <a:r>
              <a:rPr lang="ja-JP" altLang="en-US" dirty="0"/>
              <a:t>が来ないといけないとありましたが、理由があまりわかりませんでした。</a:t>
            </a:r>
            <a:r>
              <a:rPr lang="en-US" altLang="ja-JP" dirty="0" err="1"/>
              <a:t>ld</a:t>
            </a:r>
            <a:r>
              <a:rPr lang="ja-JP" altLang="en-US" dirty="0"/>
              <a:t>の</a:t>
            </a:r>
            <a:r>
              <a:rPr lang="en-US" altLang="ja-JP" dirty="0"/>
              <a:t>MEM</a:t>
            </a:r>
            <a:r>
              <a:rPr lang="ja-JP" altLang="en-US" dirty="0"/>
              <a:t>を行った時点で初めてロード結果が取得できるというのはわかるのですが、</a:t>
            </a:r>
            <a:r>
              <a:rPr lang="en-US" altLang="ja-JP" dirty="0" err="1"/>
              <a:t>ld</a:t>
            </a:r>
            <a:r>
              <a:rPr lang="ja-JP" altLang="en-US" dirty="0"/>
              <a:t>の</a:t>
            </a:r>
            <a:r>
              <a:rPr lang="en-US" altLang="ja-JP" dirty="0"/>
              <a:t>MEM</a:t>
            </a:r>
            <a:r>
              <a:rPr lang="ja-JP" altLang="en-US" dirty="0"/>
              <a:t>実行後に</a:t>
            </a:r>
            <a:r>
              <a:rPr lang="en-US" altLang="ja-JP" dirty="0"/>
              <a:t>MEM</a:t>
            </a:r>
            <a:r>
              <a:rPr lang="ja-JP" altLang="en-US" dirty="0"/>
              <a:t>が取得してきた結果を手元に置いていたとしても、その後で</a:t>
            </a:r>
            <a:r>
              <a:rPr lang="en-US" altLang="ja-JP" dirty="0" err="1"/>
              <a:t>ld</a:t>
            </a:r>
            <a:r>
              <a:rPr lang="ja-JP" altLang="en-US" dirty="0"/>
              <a:t>の結果を用いる命令</a:t>
            </a:r>
            <a:r>
              <a:rPr lang="en-US" altLang="ja-JP" dirty="0"/>
              <a:t>add</a:t>
            </a:r>
            <a:r>
              <a:rPr lang="ja-JP" altLang="en-US" dirty="0"/>
              <a:t>の</a:t>
            </a:r>
            <a:r>
              <a:rPr lang="en-US" altLang="ja-JP" dirty="0"/>
              <a:t>EX</a:t>
            </a:r>
            <a:r>
              <a:rPr lang="ja-JP" altLang="en-US" dirty="0"/>
              <a:t>を行ったところで、</a:t>
            </a:r>
            <a:r>
              <a:rPr lang="en-US" altLang="ja-JP" dirty="0"/>
              <a:t>add</a:t>
            </a:r>
            <a:r>
              <a:rPr lang="ja-JP" altLang="en-US" dirty="0"/>
              <a:t>の</a:t>
            </a:r>
            <a:r>
              <a:rPr lang="en-US" altLang="ja-JP" dirty="0"/>
              <a:t>EX</a:t>
            </a:r>
            <a:r>
              <a:rPr lang="ja-JP" altLang="en-US" dirty="0"/>
              <a:t>は</a:t>
            </a:r>
            <a:r>
              <a:rPr lang="en-US" altLang="ja-JP" dirty="0"/>
              <a:t>add</a:t>
            </a:r>
            <a:r>
              <a:rPr lang="ja-JP" altLang="en-US" dirty="0"/>
              <a:t>の</a:t>
            </a:r>
            <a:r>
              <a:rPr lang="en-US" altLang="ja-JP" dirty="0"/>
              <a:t>MEM</a:t>
            </a:r>
            <a:r>
              <a:rPr lang="ja-JP" altLang="en-US" dirty="0"/>
              <a:t>より前の段階の処理なので、</a:t>
            </a:r>
            <a:r>
              <a:rPr lang="en-US" altLang="ja-JP" dirty="0"/>
              <a:t>MEM</a:t>
            </a:r>
            <a:r>
              <a:rPr lang="ja-JP" altLang="en-US" dirty="0"/>
              <a:t>が手元に置いている値は使えないのではないかと思いました。</a:t>
            </a:r>
          </a:p>
          <a:p>
            <a:endParaRPr lang="en-US" dirty="0"/>
          </a:p>
        </p:txBody>
      </p:sp>
    </p:spTree>
    <p:extLst>
      <p:ext uri="{BB962C8B-B14F-4D97-AF65-F5344CB8AC3E}">
        <p14:creationId xmlns:p14="http://schemas.microsoft.com/office/powerpoint/2010/main" val="63635399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2B1A4C-8076-3DB4-75EE-381520E53A4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6F87424-10CD-D40F-E3D6-ED7D260A1B40}"/>
              </a:ext>
            </a:extLst>
          </p:cNvPr>
          <p:cNvSpPr>
            <a:spLocks noGrp="1"/>
          </p:cNvSpPr>
          <p:nvPr>
            <p:ph type="title"/>
          </p:nvPr>
        </p:nvSpPr>
        <p:spPr>
          <a:xfrm>
            <a:off x="611956" y="0"/>
            <a:ext cx="8532044" cy="908972"/>
          </a:xfrm>
        </p:spPr>
        <p:txBody>
          <a:bodyPr/>
          <a:lstStyle/>
          <a:p>
            <a:r>
              <a:rPr lang="ja-JP" altLang="en-US"/>
              <a:t>質問とか感想</a:t>
            </a:r>
            <a:endParaRPr lang="en-US"/>
          </a:p>
        </p:txBody>
      </p:sp>
      <p:sp>
        <p:nvSpPr>
          <p:cNvPr id="3" name="コンテンツ プレースホルダー 2">
            <a:extLst>
              <a:ext uri="{FF2B5EF4-FFF2-40B4-BE49-F238E27FC236}">
                <a16:creationId xmlns:a16="http://schemas.microsoft.com/office/drawing/2014/main" id="{847E7A2F-5F32-3E2A-F3C5-689C500DD372}"/>
              </a:ext>
            </a:extLst>
          </p:cNvPr>
          <p:cNvSpPr>
            <a:spLocks noGrp="1"/>
          </p:cNvSpPr>
          <p:nvPr>
            <p:ph sz="quarter" idx="10"/>
          </p:nvPr>
        </p:nvSpPr>
        <p:spPr>
          <a:xfrm>
            <a:off x="611956" y="1088974"/>
            <a:ext cx="7920088" cy="5220058"/>
          </a:xfrm>
        </p:spPr>
        <p:txBody>
          <a:bodyPr/>
          <a:lstStyle/>
          <a:p>
            <a:r>
              <a:rPr lang="ja-JP" altLang="en-US" dirty="0"/>
              <a:t>課題の</a:t>
            </a:r>
            <a:r>
              <a:rPr lang="en-US" altLang="ja-JP" dirty="0"/>
              <a:t>(5)</a:t>
            </a:r>
            <a:r>
              <a:rPr lang="ja-JP" altLang="en-US" dirty="0"/>
              <a:t>や</a:t>
            </a:r>
            <a:r>
              <a:rPr lang="en-US" altLang="ja-JP" dirty="0"/>
              <a:t>(6)</a:t>
            </a:r>
            <a:r>
              <a:rPr lang="ja-JP" altLang="en-US" dirty="0"/>
              <a:t>でどのタイミングで</a:t>
            </a:r>
            <a:r>
              <a:rPr lang="en-US" altLang="ja-JP" dirty="0"/>
              <a:t>bb</a:t>
            </a:r>
            <a:r>
              <a:rPr lang="ja-JP" altLang="en-US" dirty="0"/>
              <a:t>を入れれば良いのかがよくわかりませんでした。例えば</a:t>
            </a:r>
            <a:r>
              <a:rPr lang="en-US" altLang="ja-JP" dirty="0"/>
              <a:t>(6)</a:t>
            </a:r>
            <a:r>
              <a:rPr lang="ja-JP" altLang="en-US" dirty="0"/>
              <a:t>の場合、</a:t>
            </a:r>
            <a:r>
              <a:rPr lang="en-US" altLang="ja-JP" dirty="0"/>
              <a:t>3</a:t>
            </a:r>
            <a:r>
              <a:rPr lang="ja-JP" altLang="en-US" dirty="0"/>
              <a:t>行目の処理は</a:t>
            </a:r>
            <a:r>
              <a:rPr lang="en-US" altLang="ja-JP" dirty="0"/>
              <a:t>F D bb </a:t>
            </a:r>
            <a:r>
              <a:rPr lang="en-US" altLang="ja-JP" dirty="0" err="1"/>
              <a:t>bb</a:t>
            </a:r>
            <a:r>
              <a:rPr lang="en-US" altLang="ja-JP" dirty="0"/>
              <a:t> </a:t>
            </a:r>
            <a:r>
              <a:rPr lang="en-US" altLang="ja-JP" dirty="0" err="1"/>
              <a:t>bb</a:t>
            </a:r>
            <a:r>
              <a:rPr lang="en-US" altLang="ja-JP" dirty="0"/>
              <a:t>  X M W </a:t>
            </a:r>
            <a:r>
              <a:rPr lang="ja-JP" altLang="en-US" dirty="0"/>
              <a:t>と </a:t>
            </a:r>
            <a:r>
              <a:rPr lang="en-US" altLang="ja-JP" dirty="0"/>
              <a:t>F bb </a:t>
            </a:r>
            <a:r>
              <a:rPr lang="en-US" altLang="ja-JP" dirty="0" err="1"/>
              <a:t>bb</a:t>
            </a:r>
            <a:r>
              <a:rPr lang="en-US" altLang="ja-JP" dirty="0"/>
              <a:t> </a:t>
            </a:r>
            <a:r>
              <a:rPr lang="en-US" altLang="ja-JP" dirty="0" err="1"/>
              <a:t>bb</a:t>
            </a:r>
            <a:r>
              <a:rPr lang="en-US" altLang="ja-JP" dirty="0"/>
              <a:t> D X M W </a:t>
            </a:r>
            <a:r>
              <a:rPr lang="ja-JP" altLang="en-US" dirty="0"/>
              <a:t>のどちらが良いのでしょうか。また</a:t>
            </a:r>
            <a:r>
              <a:rPr lang="en-US" altLang="ja-JP" dirty="0"/>
              <a:t>(5)</a:t>
            </a:r>
            <a:r>
              <a:rPr lang="ja-JP" altLang="en-US" dirty="0"/>
              <a:t>で、ファイル提出の方で添付した画像の</a:t>
            </a:r>
            <a:r>
              <a:rPr lang="en-US" altLang="ja-JP" dirty="0"/>
              <a:t>3</a:t>
            </a:r>
            <a:r>
              <a:rPr lang="ja-JP" altLang="en-US" dirty="0"/>
              <a:t>つの解答だと、どれが正しくてどれが間違っているというのはあるのでしょうか。</a:t>
            </a:r>
          </a:p>
          <a:p>
            <a:endParaRPr lang="en-US" dirty="0"/>
          </a:p>
        </p:txBody>
      </p:sp>
    </p:spTree>
    <p:extLst>
      <p:ext uri="{BB962C8B-B14F-4D97-AF65-F5344CB8AC3E}">
        <p14:creationId xmlns:p14="http://schemas.microsoft.com/office/powerpoint/2010/main" val="295579212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E800A3-63B5-5072-EECE-8A88F77C1CE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A42AB27-5EFF-8988-6481-41388E4483CE}"/>
              </a:ext>
            </a:extLst>
          </p:cNvPr>
          <p:cNvSpPr>
            <a:spLocks noGrp="1"/>
          </p:cNvSpPr>
          <p:nvPr>
            <p:ph type="title"/>
          </p:nvPr>
        </p:nvSpPr>
        <p:spPr>
          <a:xfrm>
            <a:off x="611956" y="0"/>
            <a:ext cx="8532044" cy="908972"/>
          </a:xfrm>
        </p:spPr>
        <p:txBody>
          <a:bodyPr/>
          <a:lstStyle/>
          <a:p>
            <a:r>
              <a:rPr lang="ja-JP" altLang="en-US"/>
              <a:t>質問とか感想</a:t>
            </a:r>
            <a:endParaRPr lang="en-US"/>
          </a:p>
        </p:txBody>
      </p:sp>
      <p:sp>
        <p:nvSpPr>
          <p:cNvPr id="3" name="コンテンツ プレースホルダー 2">
            <a:extLst>
              <a:ext uri="{FF2B5EF4-FFF2-40B4-BE49-F238E27FC236}">
                <a16:creationId xmlns:a16="http://schemas.microsoft.com/office/drawing/2014/main" id="{438F133F-62FD-9314-E67E-243BBE0D14FB}"/>
              </a:ext>
            </a:extLst>
          </p:cNvPr>
          <p:cNvSpPr>
            <a:spLocks noGrp="1"/>
          </p:cNvSpPr>
          <p:nvPr>
            <p:ph sz="quarter" idx="10"/>
          </p:nvPr>
        </p:nvSpPr>
        <p:spPr>
          <a:xfrm>
            <a:off x="611956" y="1088974"/>
            <a:ext cx="7920088" cy="5220058"/>
          </a:xfrm>
        </p:spPr>
        <p:txBody>
          <a:bodyPr/>
          <a:lstStyle/>
          <a:p>
            <a:r>
              <a:rPr lang="ja-JP" altLang="en-US" dirty="0"/>
              <a:t>以下の命令列を実行するのに必要な時間を計算せよ、のような問題で、もし命令が、「①</a:t>
            </a:r>
            <a:r>
              <a:rPr lang="en-US" altLang="ja-JP" dirty="0" err="1"/>
              <a:t>ld</a:t>
            </a:r>
            <a:r>
              <a:rPr lang="ja-JP" altLang="en-US" dirty="0"/>
              <a:t>命令、②</a:t>
            </a:r>
            <a:r>
              <a:rPr lang="en-US" altLang="ja-JP" dirty="0" err="1"/>
              <a:t>ld</a:t>
            </a:r>
            <a:r>
              <a:rPr lang="ja-JP" altLang="en-US" dirty="0"/>
              <a:t>結果を使う</a:t>
            </a:r>
            <a:r>
              <a:rPr lang="en-US" altLang="ja-JP" dirty="0"/>
              <a:t>add</a:t>
            </a:r>
            <a:r>
              <a:rPr lang="ja-JP" altLang="en-US" dirty="0"/>
              <a:t>命令、③</a:t>
            </a:r>
            <a:r>
              <a:rPr lang="en-US" altLang="ja-JP" dirty="0" err="1"/>
              <a:t>ld</a:t>
            </a:r>
            <a:r>
              <a:rPr lang="ja-JP" altLang="en-US" dirty="0"/>
              <a:t>結果を使わない</a:t>
            </a:r>
            <a:r>
              <a:rPr lang="en-US" altLang="ja-JP" dirty="0"/>
              <a:t>add</a:t>
            </a:r>
            <a:r>
              <a:rPr lang="ja-JP" altLang="en-US" dirty="0"/>
              <a:t>命令」のように並んでいた場合、処理手順を並べ替えて①③②の順で実行したものが解答になるのでしょうか。</a:t>
            </a:r>
          </a:p>
          <a:p>
            <a:endParaRPr lang="en-US" dirty="0"/>
          </a:p>
        </p:txBody>
      </p:sp>
    </p:spTree>
    <p:extLst>
      <p:ext uri="{BB962C8B-B14F-4D97-AF65-F5344CB8AC3E}">
        <p14:creationId xmlns:p14="http://schemas.microsoft.com/office/powerpoint/2010/main" val="197331116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FDE08E-25AC-2D79-659D-AD392F8B4A7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4A30A58-91A3-7338-723E-C1B526255691}"/>
              </a:ext>
            </a:extLst>
          </p:cNvPr>
          <p:cNvSpPr>
            <a:spLocks noGrp="1"/>
          </p:cNvSpPr>
          <p:nvPr>
            <p:ph type="title"/>
          </p:nvPr>
        </p:nvSpPr>
        <p:spPr>
          <a:xfrm>
            <a:off x="611956" y="0"/>
            <a:ext cx="8532044" cy="908972"/>
          </a:xfrm>
        </p:spPr>
        <p:txBody>
          <a:bodyPr/>
          <a:lstStyle/>
          <a:p>
            <a:r>
              <a:rPr lang="ja-JP" altLang="en-US"/>
              <a:t>質問とか感想</a:t>
            </a:r>
            <a:endParaRPr lang="en-US"/>
          </a:p>
        </p:txBody>
      </p:sp>
      <p:sp>
        <p:nvSpPr>
          <p:cNvPr id="3" name="コンテンツ プレースホルダー 2">
            <a:extLst>
              <a:ext uri="{FF2B5EF4-FFF2-40B4-BE49-F238E27FC236}">
                <a16:creationId xmlns:a16="http://schemas.microsoft.com/office/drawing/2014/main" id="{9C4D80F6-F1C5-BF5C-5FD6-48351D6B49EB}"/>
              </a:ext>
            </a:extLst>
          </p:cNvPr>
          <p:cNvSpPr>
            <a:spLocks noGrp="1"/>
          </p:cNvSpPr>
          <p:nvPr>
            <p:ph sz="quarter" idx="10"/>
          </p:nvPr>
        </p:nvSpPr>
        <p:spPr>
          <a:xfrm>
            <a:off x="611956" y="1088974"/>
            <a:ext cx="7920088" cy="5220058"/>
          </a:xfrm>
        </p:spPr>
        <p:txBody>
          <a:bodyPr/>
          <a:lstStyle/>
          <a:p>
            <a:r>
              <a:rPr lang="ja-JP" altLang="en-US" dirty="0"/>
              <a:t>とても前の回の質問で申し訳ないのですが、課題</a:t>
            </a:r>
            <a:r>
              <a:rPr lang="en-US" altLang="ja-JP" dirty="0"/>
              <a:t>4</a:t>
            </a:r>
            <a:r>
              <a:rPr lang="ja-JP" altLang="en-US" dirty="0"/>
              <a:t>の解答で、</a:t>
            </a:r>
            <a:r>
              <a:rPr lang="en-US" altLang="ja-JP" dirty="0"/>
              <a:t>li 0→B </a:t>
            </a:r>
            <a:r>
              <a:rPr lang="ja-JP" altLang="en-US" dirty="0"/>
              <a:t>とレジスタ</a:t>
            </a:r>
            <a:r>
              <a:rPr lang="en-US" altLang="ja-JP" dirty="0"/>
              <a:t>B</a:t>
            </a:r>
            <a:r>
              <a:rPr lang="ja-JP" altLang="en-US" dirty="0"/>
              <a:t>に</a:t>
            </a:r>
            <a:r>
              <a:rPr lang="en-US" altLang="ja-JP" dirty="0"/>
              <a:t>0</a:t>
            </a:r>
            <a:r>
              <a:rPr lang="ja-JP" altLang="en-US" dirty="0"/>
              <a:t>を入れて、最後の</a:t>
            </a:r>
            <a:r>
              <a:rPr lang="en-US" altLang="ja-JP" dirty="0"/>
              <a:t>b</a:t>
            </a:r>
            <a:r>
              <a:rPr lang="ja-JP" altLang="en-US" dirty="0"/>
              <a:t>での比較の値に使っていますが、</a:t>
            </a:r>
            <a:r>
              <a:rPr lang="en-US" altLang="ja-JP" dirty="0"/>
              <a:t>sub A, 1→A</a:t>
            </a:r>
            <a:r>
              <a:rPr lang="ja-JP" altLang="en-US" dirty="0"/>
              <a:t>で使っている</a:t>
            </a:r>
            <a:r>
              <a:rPr lang="en-US" altLang="ja-JP" dirty="0"/>
              <a:t>1</a:t>
            </a:r>
            <a:r>
              <a:rPr lang="ja-JP" altLang="en-US" dirty="0"/>
              <a:t>は、なぜ</a:t>
            </a:r>
            <a:r>
              <a:rPr lang="en-US" altLang="ja-JP" dirty="0"/>
              <a:t>li 1→C</a:t>
            </a:r>
            <a:r>
              <a:rPr lang="ja-JP" altLang="en-US" dirty="0"/>
              <a:t>のようにしないで即値でやって良いのでしょうか。</a:t>
            </a:r>
          </a:p>
          <a:p>
            <a:endParaRPr lang="en-US" dirty="0"/>
          </a:p>
        </p:txBody>
      </p:sp>
    </p:spTree>
    <p:extLst>
      <p:ext uri="{BB962C8B-B14F-4D97-AF65-F5344CB8AC3E}">
        <p14:creationId xmlns:p14="http://schemas.microsoft.com/office/powerpoint/2010/main" val="222228509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E533D-31C9-F9F6-249B-7560A6F31C9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96979EE-8928-0244-2B20-D68FFE1DD6F7}"/>
              </a:ext>
            </a:extLst>
          </p:cNvPr>
          <p:cNvSpPr>
            <a:spLocks noGrp="1"/>
          </p:cNvSpPr>
          <p:nvPr>
            <p:ph type="title"/>
          </p:nvPr>
        </p:nvSpPr>
        <p:spPr>
          <a:xfrm>
            <a:off x="611956" y="0"/>
            <a:ext cx="8532044" cy="908972"/>
          </a:xfrm>
        </p:spPr>
        <p:txBody>
          <a:bodyPr/>
          <a:lstStyle/>
          <a:p>
            <a:r>
              <a:rPr lang="ja-JP" altLang="en-US"/>
              <a:t>質問とか感想</a:t>
            </a:r>
            <a:endParaRPr lang="en-US"/>
          </a:p>
        </p:txBody>
      </p:sp>
      <p:sp>
        <p:nvSpPr>
          <p:cNvPr id="3" name="コンテンツ プレースホルダー 2">
            <a:extLst>
              <a:ext uri="{FF2B5EF4-FFF2-40B4-BE49-F238E27FC236}">
                <a16:creationId xmlns:a16="http://schemas.microsoft.com/office/drawing/2014/main" id="{C19F962E-BD86-2E01-A05D-F3BF1AD669F4}"/>
              </a:ext>
            </a:extLst>
          </p:cNvPr>
          <p:cNvSpPr>
            <a:spLocks noGrp="1"/>
          </p:cNvSpPr>
          <p:nvPr>
            <p:ph sz="quarter" idx="10"/>
          </p:nvPr>
        </p:nvSpPr>
        <p:spPr>
          <a:xfrm>
            <a:off x="611956" y="1088974"/>
            <a:ext cx="7920088" cy="5220058"/>
          </a:xfrm>
        </p:spPr>
        <p:txBody>
          <a:bodyPr/>
          <a:lstStyle/>
          <a:p>
            <a:r>
              <a:rPr lang="ja-JP" altLang="en-US" dirty="0"/>
              <a:t>また、そこまで授業内容とは関係ないのですが、「</a:t>
            </a:r>
            <a:r>
              <a:rPr lang="en-US" altLang="ja-JP" dirty="0"/>
              <a:t>PC</a:t>
            </a:r>
            <a:r>
              <a:rPr lang="ja-JP" altLang="en-US" dirty="0"/>
              <a:t>が落ちる」というのは具体的に何がどうなったときに起こるのか知りたいです。</a:t>
            </a:r>
            <a:endParaRPr lang="en-US" dirty="0"/>
          </a:p>
        </p:txBody>
      </p:sp>
    </p:spTree>
    <p:extLst>
      <p:ext uri="{BB962C8B-B14F-4D97-AF65-F5344CB8AC3E}">
        <p14:creationId xmlns:p14="http://schemas.microsoft.com/office/powerpoint/2010/main" val="156804516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828C53-4A28-471D-E4E3-68E15619377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F1EE209-83E5-1D77-5309-F79C2F48DE46}"/>
              </a:ext>
            </a:extLst>
          </p:cNvPr>
          <p:cNvSpPr>
            <a:spLocks noGrp="1"/>
          </p:cNvSpPr>
          <p:nvPr>
            <p:ph type="title"/>
          </p:nvPr>
        </p:nvSpPr>
        <p:spPr>
          <a:xfrm>
            <a:off x="611956" y="0"/>
            <a:ext cx="8532044" cy="908972"/>
          </a:xfrm>
        </p:spPr>
        <p:txBody>
          <a:bodyPr/>
          <a:lstStyle/>
          <a:p>
            <a:r>
              <a:rPr lang="ja-JP" altLang="en-US"/>
              <a:t>質問とか感想</a:t>
            </a:r>
            <a:endParaRPr lang="en-US"/>
          </a:p>
        </p:txBody>
      </p:sp>
      <p:sp>
        <p:nvSpPr>
          <p:cNvPr id="3" name="コンテンツ プレースホルダー 2">
            <a:extLst>
              <a:ext uri="{FF2B5EF4-FFF2-40B4-BE49-F238E27FC236}">
                <a16:creationId xmlns:a16="http://schemas.microsoft.com/office/drawing/2014/main" id="{7E77C6E3-5A2A-DAF7-0CD0-CD156A6BD253}"/>
              </a:ext>
            </a:extLst>
          </p:cNvPr>
          <p:cNvSpPr>
            <a:spLocks noGrp="1"/>
          </p:cNvSpPr>
          <p:nvPr>
            <p:ph sz="quarter" idx="10"/>
          </p:nvPr>
        </p:nvSpPr>
        <p:spPr>
          <a:xfrm>
            <a:off x="611956" y="1088974"/>
            <a:ext cx="7920088" cy="5220058"/>
          </a:xfrm>
        </p:spPr>
        <p:txBody>
          <a:bodyPr/>
          <a:lstStyle/>
          <a:p>
            <a:r>
              <a:rPr lang="ja-JP" altLang="en-US" dirty="0"/>
              <a:t>課題の状況のように、フォワーディングが行われる際、ストールがどこに必要でどこに必要でないかがよくわからなかった。</a:t>
            </a:r>
            <a:endParaRPr lang="en-US" dirty="0"/>
          </a:p>
        </p:txBody>
      </p:sp>
    </p:spTree>
    <p:extLst>
      <p:ext uri="{BB962C8B-B14F-4D97-AF65-F5344CB8AC3E}">
        <p14:creationId xmlns:p14="http://schemas.microsoft.com/office/powerpoint/2010/main" val="152725279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4D21EE-C052-6013-AE4A-BA0B4137DE4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DA4989A-711C-6A04-F0F9-FE01E6274923}"/>
              </a:ext>
            </a:extLst>
          </p:cNvPr>
          <p:cNvSpPr>
            <a:spLocks noGrp="1"/>
          </p:cNvSpPr>
          <p:nvPr>
            <p:ph type="title"/>
          </p:nvPr>
        </p:nvSpPr>
        <p:spPr>
          <a:xfrm>
            <a:off x="611956" y="0"/>
            <a:ext cx="8532044" cy="908972"/>
          </a:xfrm>
        </p:spPr>
        <p:txBody>
          <a:bodyPr/>
          <a:lstStyle/>
          <a:p>
            <a:r>
              <a:rPr lang="ja-JP" altLang="en-US"/>
              <a:t>質問とか感想</a:t>
            </a:r>
            <a:endParaRPr lang="en-US"/>
          </a:p>
        </p:txBody>
      </p:sp>
      <p:sp>
        <p:nvSpPr>
          <p:cNvPr id="3" name="コンテンツ プレースホルダー 2">
            <a:extLst>
              <a:ext uri="{FF2B5EF4-FFF2-40B4-BE49-F238E27FC236}">
                <a16:creationId xmlns:a16="http://schemas.microsoft.com/office/drawing/2014/main" id="{0EF6F339-90F2-4EA3-F6EB-60B489C25DB6}"/>
              </a:ext>
            </a:extLst>
          </p:cNvPr>
          <p:cNvSpPr>
            <a:spLocks noGrp="1"/>
          </p:cNvSpPr>
          <p:nvPr>
            <p:ph sz="quarter" idx="10"/>
          </p:nvPr>
        </p:nvSpPr>
        <p:spPr>
          <a:xfrm>
            <a:off x="611956" y="1088974"/>
            <a:ext cx="7920088" cy="5220058"/>
          </a:xfrm>
        </p:spPr>
        <p:txBody>
          <a:bodyPr/>
          <a:lstStyle/>
          <a:p>
            <a:r>
              <a:rPr lang="en-US" altLang="ja-JP" dirty="0"/>
              <a:t>[11:0]</a:t>
            </a:r>
            <a:r>
              <a:rPr lang="ja-JP" altLang="en-US" dirty="0"/>
              <a:t>や</a:t>
            </a:r>
            <a:r>
              <a:rPr lang="en-US" altLang="ja-JP" dirty="0"/>
              <a:t>[20|10:1|11|19:12]</a:t>
            </a:r>
            <a:r>
              <a:rPr lang="ja-JP" altLang="en-US" dirty="0"/>
              <a:t>などの部分が色々と種類がありよく分かりませんでした。授業終了後は次の予定があり質問に伺えなかったのでご教示いただければ幸いです。</a:t>
            </a:r>
            <a:endParaRPr lang="en-US" dirty="0"/>
          </a:p>
        </p:txBody>
      </p:sp>
    </p:spTree>
    <p:extLst>
      <p:ext uri="{BB962C8B-B14F-4D97-AF65-F5344CB8AC3E}">
        <p14:creationId xmlns:p14="http://schemas.microsoft.com/office/powerpoint/2010/main" val="189890871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DE853D-4EED-C0B6-163E-CBC0C069559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B1B56C1-B5E8-D1B3-950D-D710BC063770}"/>
              </a:ext>
            </a:extLst>
          </p:cNvPr>
          <p:cNvSpPr>
            <a:spLocks noGrp="1"/>
          </p:cNvSpPr>
          <p:nvPr>
            <p:ph type="title"/>
          </p:nvPr>
        </p:nvSpPr>
        <p:spPr>
          <a:xfrm>
            <a:off x="611956" y="0"/>
            <a:ext cx="8532044" cy="908972"/>
          </a:xfrm>
        </p:spPr>
        <p:txBody>
          <a:bodyPr/>
          <a:lstStyle/>
          <a:p>
            <a:r>
              <a:rPr lang="ja-JP" altLang="en-US"/>
              <a:t>質問とか感想</a:t>
            </a:r>
            <a:endParaRPr lang="en-US"/>
          </a:p>
        </p:txBody>
      </p:sp>
      <p:sp>
        <p:nvSpPr>
          <p:cNvPr id="3" name="コンテンツ プレースホルダー 2">
            <a:extLst>
              <a:ext uri="{FF2B5EF4-FFF2-40B4-BE49-F238E27FC236}">
                <a16:creationId xmlns:a16="http://schemas.microsoft.com/office/drawing/2014/main" id="{9D8817EC-F053-390F-FB16-63C9B3CF3FCC}"/>
              </a:ext>
            </a:extLst>
          </p:cNvPr>
          <p:cNvSpPr>
            <a:spLocks noGrp="1"/>
          </p:cNvSpPr>
          <p:nvPr>
            <p:ph sz="quarter" idx="10"/>
          </p:nvPr>
        </p:nvSpPr>
        <p:spPr>
          <a:xfrm>
            <a:off x="611956" y="1088974"/>
            <a:ext cx="7920088" cy="5220058"/>
          </a:xfrm>
        </p:spPr>
        <p:txBody>
          <a:bodyPr/>
          <a:lstStyle/>
          <a:p>
            <a:r>
              <a:rPr lang="en-US" altLang="ja-JP" dirty="0"/>
              <a:t>63</a:t>
            </a:r>
            <a:r>
              <a:rPr lang="ja-JP" altLang="en-US" dirty="0"/>
              <a:t>ページで</a:t>
            </a:r>
            <a:r>
              <a:rPr lang="en-US" altLang="ja-JP" dirty="0"/>
              <a:t>MEM</a:t>
            </a:r>
            <a:r>
              <a:rPr lang="ja-JP" altLang="en-US" dirty="0"/>
              <a:t>がないのはなぜですか？</a:t>
            </a:r>
            <a:endParaRPr lang="en-US" dirty="0"/>
          </a:p>
        </p:txBody>
      </p:sp>
    </p:spTree>
    <p:extLst>
      <p:ext uri="{BB962C8B-B14F-4D97-AF65-F5344CB8AC3E}">
        <p14:creationId xmlns:p14="http://schemas.microsoft.com/office/powerpoint/2010/main" val="250680042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0EC2C2-AC56-B4C1-680B-4B8A5AAFC7D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5091BB2-AE7A-6267-E957-D7A21DB27482}"/>
              </a:ext>
            </a:extLst>
          </p:cNvPr>
          <p:cNvSpPr>
            <a:spLocks noGrp="1"/>
          </p:cNvSpPr>
          <p:nvPr>
            <p:ph type="title"/>
          </p:nvPr>
        </p:nvSpPr>
        <p:spPr>
          <a:xfrm>
            <a:off x="611956" y="0"/>
            <a:ext cx="8532044" cy="908972"/>
          </a:xfrm>
        </p:spPr>
        <p:txBody>
          <a:bodyPr/>
          <a:lstStyle/>
          <a:p>
            <a:r>
              <a:rPr lang="ja-JP" altLang="en-US"/>
              <a:t>質問とか感想</a:t>
            </a:r>
            <a:endParaRPr lang="en-US"/>
          </a:p>
        </p:txBody>
      </p:sp>
      <p:sp>
        <p:nvSpPr>
          <p:cNvPr id="3" name="コンテンツ プレースホルダー 2">
            <a:extLst>
              <a:ext uri="{FF2B5EF4-FFF2-40B4-BE49-F238E27FC236}">
                <a16:creationId xmlns:a16="http://schemas.microsoft.com/office/drawing/2014/main" id="{E3A14762-5BFF-CCAF-4E2D-B65031E4983F}"/>
              </a:ext>
            </a:extLst>
          </p:cNvPr>
          <p:cNvSpPr>
            <a:spLocks noGrp="1"/>
          </p:cNvSpPr>
          <p:nvPr>
            <p:ph sz="quarter" idx="10"/>
          </p:nvPr>
        </p:nvSpPr>
        <p:spPr>
          <a:xfrm>
            <a:off x="611956" y="1088974"/>
            <a:ext cx="7920088" cy="5220058"/>
          </a:xfrm>
        </p:spPr>
        <p:txBody>
          <a:bodyPr/>
          <a:lstStyle/>
          <a:p>
            <a:r>
              <a:rPr lang="ja-JP" altLang="en-US" dirty="0"/>
              <a:t>課題</a:t>
            </a:r>
            <a:r>
              <a:rPr lang="en-US" altLang="ja-JP" dirty="0"/>
              <a:t>(7)</a:t>
            </a:r>
            <a:r>
              <a:rPr lang="ja-JP" altLang="en-US" dirty="0"/>
              <a:t>について、誤った処理がフラッシュされるまで正しい方のフェッチとデコードの処理は行われないと考えて良いのでしょうか？</a:t>
            </a:r>
            <a:endParaRPr lang="en-US" dirty="0"/>
          </a:p>
        </p:txBody>
      </p:sp>
    </p:spTree>
    <p:extLst>
      <p:ext uri="{BB962C8B-B14F-4D97-AF65-F5344CB8AC3E}">
        <p14:creationId xmlns:p14="http://schemas.microsoft.com/office/powerpoint/2010/main" val="241669361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521C73-FB35-6E9A-2CEF-A7BFD497085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DCF0FA0-E6E4-1657-6B02-4A8A0B96CF64}"/>
              </a:ext>
            </a:extLst>
          </p:cNvPr>
          <p:cNvSpPr>
            <a:spLocks noGrp="1"/>
          </p:cNvSpPr>
          <p:nvPr>
            <p:ph type="title"/>
          </p:nvPr>
        </p:nvSpPr>
        <p:spPr>
          <a:xfrm>
            <a:off x="611956" y="0"/>
            <a:ext cx="8532044" cy="908972"/>
          </a:xfrm>
        </p:spPr>
        <p:txBody>
          <a:bodyPr/>
          <a:lstStyle/>
          <a:p>
            <a:r>
              <a:rPr lang="ja-JP" altLang="en-US"/>
              <a:t>質問とか感想</a:t>
            </a:r>
            <a:endParaRPr lang="en-US"/>
          </a:p>
        </p:txBody>
      </p:sp>
      <p:sp>
        <p:nvSpPr>
          <p:cNvPr id="3" name="コンテンツ プレースホルダー 2">
            <a:extLst>
              <a:ext uri="{FF2B5EF4-FFF2-40B4-BE49-F238E27FC236}">
                <a16:creationId xmlns:a16="http://schemas.microsoft.com/office/drawing/2014/main" id="{435DB2F5-9DA1-C385-519B-59D3485A0B6E}"/>
              </a:ext>
            </a:extLst>
          </p:cNvPr>
          <p:cNvSpPr>
            <a:spLocks noGrp="1"/>
          </p:cNvSpPr>
          <p:nvPr>
            <p:ph sz="quarter" idx="10"/>
          </p:nvPr>
        </p:nvSpPr>
        <p:spPr>
          <a:xfrm>
            <a:off x="611956" y="1088974"/>
            <a:ext cx="7920088" cy="5220058"/>
          </a:xfrm>
        </p:spPr>
        <p:txBody>
          <a:bodyPr/>
          <a:lstStyle/>
          <a:p>
            <a:r>
              <a:rPr lang="ja-JP" altLang="en-US" dirty="0"/>
              <a:t>　データ依存には偽の依存があり、偽の依存はさらに逆依存と出力依存の２つに分けられるという話がありました。逆依存と出力依存の解決方法として、使用するレジスタが被らないようプログラムを書き換えるという方法が講義内で紹介されていましたが、同じ方法で解決できるならそこまで厳密に区別しなくてもいい</a:t>
            </a:r>
            <a:r>
              <a:rPr lang="en-US" altLang="ja-JP" dirty="0"/>
              <a:t>(=</a:t>
            </a:r>
            <a:r>
              <a:rPr lang="ja-JP" altLang="en-US" dirty="0"/>
              <a:t>まとめて偽の依存と扱ってもいい</a:t>
            </a:r>
            <a:r>
              <a:rPr lang="en-US" altLang="ja-JP" dirty="0"/>
              <a:t>)</a:t>
            </a:r>
            <a:r>
              <a:rPr lang="ja-JP" altLang="en-US" dirty="0"/>
              <a:t>のでしょうか。それとも、依存が発生した原因に基づいて分類しておいた方が良い場年もあるのでしょうか。</a:t>
            </a:r>
            <a:endParaRPr lang="en-US" altLang="ja-JP" dirty="0"/>
          </a:p>
        </p:txBody>
      </p:sp>
    </p:spTree>
    <p:extLst>
      <p:ext uri="{BB962C8B-B14F-4D97-AF65-F5344CB8AC3E}">
        <p14:creationId xmlns:p14="http://schemas.microsoft.com/office/powerpoint/2010/main" val="330845116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097850-5860-4DC0-BEEF-A20085C1FA2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76C6D86-F276-6FBD-70CF-59492CAB5F02}"/>
              </a:ext>
            </a:extLst>
          </p:cNvPr>
          <p:cNvSpPr>
            <a:spLocks noGrp="1"/>
          </p:cNvSpPr>
          <p:nvPr>
            <p:ph type="title"/>
          </p:nvPr>
        </p:nvSpPr>
        <p:spPr>
          <a:xfrm>
            <a:off x="611956" y="0"/>
            <a:ext cx="8532044" cy="908972"/>
          </a:xfrm>
        </p:spPr>
        <p:txBody>
          <a:bodyPr/>
          <a:lstStyle/>
          <a:p>
            <a:r>
              <a:rPr lang="ja-JP" altLang="en-US"/>
              <a:t>質問とか感想</a:t>
            </a:r>
            <a:endParaRPr lang="en-US"/>
          </a:p>
        </p:txBody>
      </p:sp>
      <p:sp>
        <p:nvSpPr>
          <p:cNvPr id="3" name="コンテンツ プレースホルダー 2">
            <a:extLst>
              <a:ext uri="{FF2B5EF4-FFF2-40B4-BE49-F238E27FC236}">
                <a16:creationId xmlns:a16="http://schemas.microsoft.com/office/drawing/2014/main" id="{1962E0EC-6858-0FE1-C8F1-0293658FC33C}"/>
              </a:ext>
            </a:extLst>
          </p:cNvPr>
          <p:cNvSpPr>
            <a:spLocks noGrp="1"/>
          </p:cNvSpPr>
          <p:nvPr>
            <p:ph sz="quarter" idx="10"/>
          </p:nvPr>
        </p:nvSpPr>
        <p:spPr>
          <a:xfrm>
            <a:off x="611956" y="1088974"/>
            <a:ext cx="7920088" cy="5220058"/>
          </a:xfrm>
        </p:spPr>
        <p:txBody>
          <a:bodyPr/>
          <a:lstStyle/>
          <a:p>
            <a:r>
              <a:rPr lang="ja-JP" altLang="en-US" dirty="0"/>
              <a:t>また、今回の講義の内容と直接的には関係ないのですが、</a:t>
            </a:r>
            <a:r>
              <a:rPr lang="en-US" altLang="ja-JP" dirty="0"/>
              <a:t>C</a:t>
            </a:r>
            <a:r>
              <a:rPr lang="ja-JP" altLang="en-US" dirty="0"/>
              <a:t>言語のポインタという概念がどのようなものなのか簡単に教えていただきたいです。</a:t>
            </a:r>
            <a:endParaRPr lang="en-US" altLang="ja-JP" dirty="0"/>
          </a:p>
          <a:p>
            <a:pPr marL="0" indent="0">
              <a:buNone/>
            </a:pPr>
            <a:endParaRPr lang="en-US" dirty="0"/>
          </a:p>
        </p:txBody>
      </p:sp>
    </p:spTree>
    <p:extLst>
      <p:ext uri="{BB962C8B-B14F-4D97-AF65-F5344CB8AC3E}">
        <p14:creationId xmlns:p14="http://schemas.microsoft.com/office/powerpoint/2010/main" val="395011278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297822-8DC7-C948-1205-B4C33D3EEBD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F596711-E038-0DE0-D7DA-26A53F3509A1}"/>
              </a:ext>
            </a:extLst>
          </p:cNvPr>
          <p:cNvSpPr>
            <a:spLocks noGrp="1"/>
          </p:cNvSpPr>
          <p:nvPr>
            <p:ph type="title"/>
          </p:nvPr>
        </p:nvSpPr>
        <p:spPr>
          <a:xfrm>
            <a:off x="611956" y="0"/>
            <a:ext cx="8532044" cy="908972"/>
          </a:xfrm>
        </p:spPr>
        <p:txBody>
          <a:bodyPr/>
          <a:lstStyle/>
          <a:p>
            <a:r>
              <a:rPr lang="ja-JP" altLang="en-US"/>
              <a:t>質問とか感想</a:t>
            </a:r>
            <a:endParaRPr lang="en-US"/>
          </a:p>
        </p:txBody>
      </p:sp>
      <p:sp>
        <p:nvSpPr>
          <p:cNvPr id="3" name="コンテンツ プレースホルダー 2">
            <a:extLst>
              <a:ext uri="{FF2B5EF4-FFF2-40B4-BE49-F238E27FC236}">
                <a16:creationId xmlns:a16="http://schemas.microsoft.com/office/drawing/2014/main" id="{09EE46FE-3E8D-C081-DA00-6751AA818CA4}"/>
              </a:ext>
            </a:extLst>
          </p:cNvPr>
          <p:cNvSpPr>
            <a:spLocks noGrp="1"/>
          </p:cNvSpPr>
          <p:nvPr>
            <p:ph sz="quarter" idx="10"/>
          </p:nvPr>
        </p:nvSpPr>
        <p:spPr>
          <a:xfrm>
            <a:off x="611956" y="1088974"/>
            <a:ext cx="7920088" cy="5220058"/>
          </a:xfrm>
        </p:spPr>
        <p:txBody>
          <a:bodyPr/>
          <a:lstStyle/>
          <a:p>
            <a:r>
              <a:rPr lang="ja-JP" altLang="en-US" dirty="0"/>
              <a:t>課題について、</a:t>
            </a:r>
            <a:r>
              <a:rPr lang="en-US" altLang="ja-JP" dirty="0"/>
              <a:t>LABEL</a:t>
            </a:r>
            <a:r>
              <a:rPr lang="ja-JP" altLang="en-US" dirty="0"/>
              <a:t>に飛んだ後、どのサイクルでフラッシュが起こりやり直すのかがわからなかった。</a:t>
            </a:r>
            <a:endParaRPr lang="en-US" dirty="0"/>
          </a:p>
        </p:txBody>
      </p:sp>
    </p:spTree>
    <p:extLst>
      <p:ext uri="{BB962C8B-B14F-4D97-AF65-F5344CB8AC3E}">
        <p14:creationId xmlns:p14="http://schemas.microsoft.com/office/powerpoint/2010/main" val="112636322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D21C65-0C78-88D0-7839-872D9B15417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378FE6A-EBB7-31E0-E576-EAB6FC43623B}"/>
              </a:ext>
            </a:extLst>
          </p:cNvPr>
          <p:cNvSpPr>
            <a:spLocks noGrp="1"/>
          </p:cNvSpPr>
          <p:nvPr>
            <p:ph type="title"/>
          </p:nvPr>
        </p:nvSpPr>
        <p:spPr>
          <a:xfrm>
            <a:off x="611956" y="0"/>
            <a:ext cx="8532044" cy="908972"/>
          </a:xfrm>
        </p:spPr>
        <p:txBody>
          <a:bodyPr/>
          <a:lstStyle/>
          <a:p>
            <a:r>
              <a:rPr lang="ja-JP" altLang="en-US"/>
              <a:t>質問とか感想</a:t>
            </a:r>
            <a:endParaRPr lang="en-US"/>
          </a:p>
        </p:txBody>
      </p:sp>
      <p:sp>
        <p:nvSpPr>
          <p:cNvPr id="3" name="コンテンツ プレースホルダー 2">
            <a:extLst>
              <a:ext uri="{FF2B5EF4-FFF2-40B4-BE49-F238E27FC236}">
                <a16:creationId xmlns:a16="http://schemas.microsoft.com/office/drawing/2014/main" id="{76ADB418-E8F6-5891-4202-3AC4EFD65EDB}"/>
              </a:ext>
            </a:extLst>
          </p:cNvPr>
          <p:cNvSpPr>
            <a:spLocks noGrp="1"/>
          </p:cNvSpPr>
          <p:nvPr>
            <p:ph sz="quarter" idx="10"/>
          </p:nvPr>
        </p:nvSpPr>
        <p:spPr>
          <a:xfrm>
            <a:off x="611956" y="1088974"/>
            <a:ext cx="7920088" cy="5220058"/>
          </a:xfrm>
        </p:spPr>
        <p:txBody>
          <a:bodyPr/>
          <a:lstStyle/>
          <a:p>
            <a:r>
              <a:rPr lang="ja-JP" altLang="en-US" dirty="0"/>
              <a:t>最近の授業についていけてなくて、なぜ理解しにくいのかが分からないです。</a:t>
            </a:r>
            <a:endParaRPr lang="en-US" dirty="0"/>
          </a:p>
        </p:txBody>
      </p:sp>
    </p:spTree>
    <p:extLst>
      <p:ext uri="{BB962C8B-B14F-4D97-AF65-F5344CB8AC3E}">
        <p14:creationId xmlns:p14="http://schemas.microsoft.com/office/powerpoint/2010/main" val="69245870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886932-7DA5-73A5-7E16-B355BCBCAFA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3BAE4B3-9830-1C4D-CF11-89D179D72179}"/>
              </a:ext>
            </a:extLst>
          </p:cNvPr>
          <p:cNvSpPr>
            <a:spLocks noGrp="1"/>
          </p:cNvSpPr>
          <p:nvPr>
            <p:ph type="title"/>
          </p:nvPr>
        </p:nvSpPr>
        <p:spPr>
          <a:xfrm>
            <a:off x="611956" y="0"/>
            <a:ext cx="8532044" cy="908972"/>
          </a:xfrm>
        </p:spPr>
        <p:txBody>
          <a:bodyPr/>
          <a:lstStyle/>
          <a:p>
            <a:r>
              <a:rPr lang="ja-JP" altLang="en-US"/>
              <a:t>質問とか感想</a:t>
            </a:r>
            <a:endParaRPr lang="en-US"/>
          </a:p>
        </p:txBody>
      </p:sp>
      <p:sp>
        <p:nvSpPr>
          <p:cNvPr id="3" name="コンテンツ プレースホルダー 2">
            <a:extLst>
              <a:ext uri="{FF2B5EF4-FFF2-40B4-BE49-F238E27FC236}">
                <a16:creationId xmlns:a16="http://schemas.microsoft.com/office/drawing/2014/main" id="{BD2A7143-7053-971A-E03D-01842669D2E7}"/>
              </a:ext>
            </a:extLst>
          </p:cNvPr>
          <p:cNvSpPr>
            <a:spLocks noGrp="1"/>
          </p:cNvSpPr>
          <p:nvPr>
            <p:ph sz="quarter" idx="10"/>
          </p:nvPr>
        </p:nvSpPr>
        <p:spPr>
          <a:xfrm>
            <a:off x="611956" y="1088974"/>
            <a:ext cx="7920088" cy="5220058"/>
          </a:xfrm>
        </p:spPr>
        <p:txBody>
          <a:bodyPr/>
          <a:lstStyle/>
          <a:p>
            <a:r>
              <a:rPr lang="ja-JP" altLang="en-US" dirty="0"/>
              <a:t>課題７でストールを実行するときいつまでバブル状態でいればよいかを考えるのが難しかったです。とくに、</a:t>
            </a:r>
            <a:r>
              <a:rPr lang="en-US" altLang="ja-JP" dirty="0"/>
              <a:t>M</a:t>
            </a:r>
            <a:r>
              <a:rPr lang="ja-JP" altLang="en-US" dirty="0"/>
              <a:t>が終わるまでなのか、</a:t>
            </a:r>
            <a:r>
              <a:rPr lang="en-US" altLang="ja-JP" dirty="0"/>
              <a:t>X</a:t>
            </a:r>
            <a:r>
              <a:rPr lang="ja-JP" altLang="en-US" dirty="0"/>
              <a:t>が終わるまでなのかを考えるのに苦戦しました。パイプライン・ステージを一文字として紙のノートに絵を描くと確かに考えやすかったです。まだ全然慣れることができていなくて時間がかかってしまうのではやく慣れるように練習を重ねていこうと思います。</a:t>
            </a:r>
            <a:endParaRPr lang="en-US" dirty="0"/>
          </a:p>
        </p:txBody>
      </p:sp>
    </p:spTree>
    <p:extLst>
      <p:ext uri="{BB962C8B-B14F-4D97-AF65-F5344CB8AC3E}">
        <p14:creationId xmlns:p14="http://schemas.microsoft.com/office/powerpoint/2010/main" val="373275984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CD64D2-C810-7492-5FE2-3C7370B2135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3143D1B-C922-F0E3-F22E-18A9153F7C49}"/>
              </a:ext>
            </a:extLst>
          </p:cNvPr>
          <p:cNvSpPr>
            <a:spLocks noGrp="1"/>
          </p:cNvSpPr>
          <p:nvPr>
            <p:ph type="title"/>
          </p:nvPr>
        </p:nvSpPr>
        <p:spPr>
          <a:xfrm>
            <a:off x="611956" y="0"/>
            <a:ext cx="8532044" cy="908972"/>
          </a:xfrm>
        </p:spPr>
        <p:txBody>
          <a:bodyPr/>
          <a:lstStyle/>
          <a:p>
            <a:r>
              <a:rPr lang="ja-JP" altLang="en-US"/>
              <a:t>質問とか感想</a:t>
            </a:r>
            <a:endParaRPr lang="en-US"/>
          </a:p>
        </p:txBody>
      </p:sp>
      <p:sp>
        <p:nvSpPr>
          <p:cNvPr id="3" name="コンテンツ プレースホルダー 2">
            <a:extLst>
              <a:ext uri="{FF2B5EF4-FFF2-40B4-BE49-F238E27FC236}">
                <a16:creationId xmlns:a16="http://schemas.microsoft.com/office/drawing/2014/main" id="{FE91DD4F-261B-0165-117F-69E7A9981C0F}"/>
              </a:ext>
            </a:extLst>
          </p:cNvPr>
          <p:cNvSpPr>
            <a:spLocks noGrp="1"/>
          </p:cNvSpPr>
          <p:nvPr>
            <p:ph sz="quarter" idx="10"/>
          </p:nvPr>
        </p:nvSpPr>
        <p:spPr>
          <a:xfrm>
            <a:off x="611956" y="1088974"/>
            <a:ext cx="7920088" cy="5220058"/>
          </a:xfrm>
        </p:spPr>
        <p:txBody>
          <a:bodyPr/>
          <a:lstStyle/>
          <a:p>
            <a:r>
              <a:rPr lang="en-US" altLang="ja-JP" dirty="0"/>
              <a:t>Out-of-Order</a:t>
            </a:r>
            <a:r>
              <a:rPr lang="ja-JP" altLang="en-US" dirty="0"/>
              <a:t>実行におけるフロントエンド／バックエンドという用語は、</a:t>
            </a:r>
            <a:r>
              <a:rPr lang="en-US" altLang="ja-JP" dirty="0"/>
              <a:t>Web</a:t>
            </a:r>
            <a:r>
              <a:rPr lang="ja-JP" altLang="en-US" dirty="0"/>
              <a:t>開発におけるフロントエンド／バックエンドとは異なる文脈で用いられているということは今回初めて知りました。</a:t>
            </a:r>
            <a:endParaRPr lang="en-US" dirty="0"/>
          </a:p>
        </p:txBody>
      </p:sp>
    </p:spTree>
    <p:extLst>
      <p:ext uri="{BB962C8B-B14F-4D97-AF65-F5344CB8AC3E}">
        <p14:creationId xmlns:p14="http://schemas.microsoft.com/office/powerpoint/2010/main" val="69211972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28B3AB-83DD-2852-F10C-48FE0AFBB26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BA6A74C-9B6E-C732-44CD-A40505C5ED0F}"/>
              </a:ext>
            </a:extLst>
          </p:cNvPr>
          <p:cNvSpPr>
            <a:spLocks noGrp="1"/>
          </p:cNvSpPr>
          <p:nvPr>
            <p:ph type="title"/>
          </p:nvPr>
        </p:nvSpPr>
        <p:spPr>
          <a:xfrm>
            <a:off x="611956" y="0"/>
            <a:ext cx="8532044" cy="908972"/>
          </a:xfrm>
        </p:spPr>
        <p:txBody>
          <a:bodyPr/>
          <a:lstStyle/>
          <a:p>
            <a:r>
              <a:rPr lang="ja-JP" altLang="en-US"/>
              <a:t>質問とか感想</a:t>
            </a:r>
            <a:endParaRPr lang="en-US"/>
          </a:p>
        </p:txBody>
      </p:sp>
      <p:sp>
        <p:nvSpPr>
          <p:cNvPr id="3" name="コンテンツ プレースホルダー 2">
            <a:extLst>
              <a:ext uri="{FF2B5EF4-FFF2-40B4-BE49-F238E27FC236}">
                <a16:creationId xmlns:a16="http://schemas.microsoft.com/office/drawing/2014/main" id="{FC82FEF0-7ACD-CA4A-C4FF-26434F65105B}"/>
              </a:ext>
            </a:extLst>
          </p:cNvPr>
          <p:cNvSpPr>
            <a:spLocks noGrp="1"/>
          </p:cNvSpPr>
          <p:nvPr>
            <p:ph sz="quarter" idx="10"/>
          </p:nvPr>
        </p:nvSpPr>
        <p:spPr>
          <a:xfrm>
            <a:off x="611956" y="1088974"/>
            <a:ext cx="7920088" cy="5220058"/>
          </a:xfrm>
        </p:spPr>
        <p:txBody>
          <a:bodyPr/>
          <a:lstStyle/>
          <a:p>
            <a:r>
              <a:rPr lang="ja-JP" altLang="en-US" dirty="0"/>
              <a:t>分岐予測について、最低どれくらいの精度があれば実用に耐えうるとされていますか？また分岐予測のコンテストで勝つレベルのシステムになるとどの程度の的中率になるのか気になりました。</a:t>
            </a:r>
            <a:endParaRPr lang="en-US" dirty="0"/>
          </a:p>
        </p:txBody>
      </p:sp>
    </p:spTree>
    <p:extLst>
      <p:ext uri="{BB962C8B-B14F-4D97-AF65-F5344CB8AC3E}">
        <p14:creationId xmlns:p14="http://schemas.microsoft.com/office/powerpoint/2010/main" val="259821037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AA8EBBD-6456-B940-EE50-E6057DAEC093}"/>
              </a:ext>
            </a:extLst>
          </p:cNvPr>
          <p:cNvSpPr>
            <a:spLocks noGrp="1"/>
          </p:cNvSpPr>
          <p:nvPr>
            <p:ph type="title"/>
          </p:nvPr>
        </p:nvSpPr>
        <p:spPr>
          <a:xfrm>
            <a:off x="611956" y="0"/>
            <a:ext cx="8532044" cy="908972"/>
          </a:xfrm>
        </p:spPr>
        <p:txBody>
          <a:bodyPr/>
          <a:lstStyle/>
          <a:p>
            <a:r>
              <a:rPr lang="ja-JP" altLang="en-US"/>
              <a:t>質問とか感想</a:t>
            </a:r>
            <a:endParaRPr lang="en-US"/>
          </a:p>
        </p:txBody>
      </p:sp>
      <p:sp>
        <p:nvSpPr>
          <p:cNvPr id="3" name="コンテンツ プレースホルダー 2">
            <a:extLst>
              <a:ext uri="{FF2B5EF4-FFF2-40B4-BE49-F238E27FC236}">
                <a16:creationId xmlns:a16="http://schemas.microsoft.com/office/drawing/2014/main" id="{46C96F0D-39A0-7B53-A71E-67DF1A3CBE56}"/>
              </a:ext>
            </a:extLst>
          </p:cNvPr>
          <p:cNvSpPr>
            <a:spLocks noGrp="1"/>
          </p:cNvSpPr>
          <p:nvPr>
            <p:ph sz="quarter" idx="10"/>
          </p:nvPr>
        </p:nvSpPr>
        <p:spPr>
          <a:xfrm>
            <a:off x="611956" y="1088974"/>
            <a:ext cx="7920088" cy="5220058"/>
          </a:xfrm>
        </p:spPr>
        <p:txBody>
          <a:bodyPr/>
          <a:lstStyle/>
          <a:p>
            <a:r>
              <a:rPr lang="ja-JP" altLang="en-US" b="0" i="0" dirty="0">
                <a:solidFill>
                  <a:srgbClr val="000000"/>
                </a:solidFill>
                <a:effectLst/>
                <a:latin typeface="Meiryo" panose="020B0604030504040204" pitchFamily="50" charset="-128"/>
                <a:ea typeface="Meiryo" panose="020B0604030504040204" pitchFamily="50" charset="-128"/>
              </a:rPr>
              <a:t>また、分岐予測のアルゴリズムについて具体的に教えていただきたいです。特に、どのような種類があり、それぞれの精度の違いはどのようなものなのでしょうか。また、これらのアルゴリズムが実際にどのように実装され、どのように動作するのかについても詳しく知りたいです。</a:t>
            </a:r>
            <a:endParaRPr lang="en-US" altLang="ja-JP" b="0" i="0" dirty="0">
              <a:solidFill>
                <a:srgbClr val="000000"/>
              </a:solidFill>
              <a:effectLst/>
              <a:latin typeface="Meiryo" panose="020B0604030504040204" pitchFamily="50" charset="-128"/>
              <a:ea typeface="Meiryo" panose="020B0604030504040204" pitchFamily="50" charset="-128"/>
            </a:endParaRPr>
          </a:p>
          <a:p>
            <a:pPr lvl="1"/>
            <a:endParaRPr lang="en-US" dirty="0">
              <a:solidFill>
                <a:srgbClr val="000000"/>
              </a:solidFill>
              <a:latin typeface="Meiryo" panose="020B0604030504040204" pitchFamily="50" charset="-128"/>
              <a:ea typeface="Meiryo" panose="020B0604030504040204" pitchFamily="50" charset="-128"/>
            </a:endParaRPr>
          </a:p>
          <a:p>
            <a:pPr lvl="1"/>
            <a:r>
              <a:rPr lang="ja-JP" altLang="en-US" dirty="0">
                <a:solidFill>
                  <a:srgbClr val="000000"/>
                </a:solidFill>
                <a:latin typeface="Meiryo" panose="020B0604030504040204" pitchFamily="50" charset="-128"/>
                <a:ea typeface="Meiryo" panose="020B0604030504040204" pitchFamily="50" charset="-128"/>
              </a:rPr>
              <a:t>院生むけの講義資料ですが，興味があればこちらも</a:t>
            </a:r>
            <a:endParaRPr lang="en-US" dirty="0">
              <a:solidFill>
                <a:srgbClr val="000000"/>
              </a:solidFill>
              <a:latin typeface="Meiryo" panose="020B0604030504040204" pitchFamily="50" charset="-128"/>
              <a:ea typeface="Meiryo" panose="020B0604030504040204" pitchFamily="50" charset="-128"/>
            </a:endParaRPr>
          </a:p>
          <a:p>
            <a:pPr lvl="1"/>
            <a:r>
              <a:rPr lang="en-US" dirty="0">
                <a:hlinkClick r:id="rId2"/>
              </a:rPr>
              <a:t>https://github.com/shioyadan/advanced-computer-organization/blob/master/aco-shioya-06.pdf</a:t>
            </a:r>
            <a:endParaRPr lang="en-US" dirty="0"/>
          </a:p>
          <a:p>
            <a:pPr lvl="1"/>
            <a:r>
              <a:rPr lang="en-US" dirty="0">
                <a:hlinkClick r:id="rId3"/>
              </a:rPr>
              <a:t>https://github.com/shioyadan/advanced-computer-organization/blob/master/aco-shioya-appendix-bpred.pdf</a:t>
            </a:r>
            <a:endParaRPr lang="en-US" dirty="0"/>
          </a:p>
        </p:txBody>
      </p:sp>
    </p:spTree>
    <p:extLst>
      <p:ext uri="{BB962C8B-B14F-4D97-AF65-F5344CB8AC3E}">
        <p14:creationId xmlns:p14="http://schemas.microsoft.com/office/powerpoint/2010/main" val="401806400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BD4E83C-5E1C-4755-9CC4-ED0423359990}"/>
              </a:ext>
            </a:extLst>
          </p:cNvPr>
          <p:cNvSpPr>
            <a:spLocks noGrp="1"/>
          </p:cNvSpPr>
          <p:nvPr>
            <p:ph type="title"/>
          </p:nvPr>
        </p:nvSpPr>
        <p:spPr/>
        <p:txBody>
          <a:bodyPr/>
          <a:lstStyle/>
          <a:p>
            <a:r>
              <a:rPr kumimoji="1" lang="ja-JP" altLang="en-US" dirty="0"/>
              <a:t>現代の分岐予測器の性能（</a:t>
            </a:r>
            <a:r>
              <a:rPr kumimoji="1" lang="en-US" altLang="ja-JP" dirty="0"/>
              <a:t>64 KB </a:t>
            </a:r>
            <a:r>
              <a:rPr kumimoji="1" lang="ja-JP" altLang="en-US" dirty="0"/>
              <a:t>使用の場合）</a:t>
            </a:r>
            <a:br>
              <a:rPr kumimoji="1" lang="en-US" altLang="ja-JP" dirty="0"/>
            </a:br>
            <a:r>
              <a:rPr lang="en-US" altLang="ja-JP" sz="1400" dirty="0"/>
              <a:t>PIERRE MICHAUD, An Alternative TAGE-like Conditional Branch Predictor, TACO 2018 </a:t>
            </a:r>
            <a:r>
              <a:rPr lang="ja-JP" altLang="en-US" sz="1400" dirty="0"/>
              <a:t>より</a:t>
            </a:r>
            <a:endParaRPr kumimoji="1" lang="ja-JP" altLang="en-US" sz="1400" dirty="0"/>
          </a:p>
        </p:txBody>
      </p:sp>
      <p:pic>
        <p:nvPicPr>
          <p:cNvPr id="8" name="図 7">
            <a:extLst>
              <a:ext uri="{FF2B5EF4-FFF2-40B4-BE49-F238E27FC236}">
                <a16:creationId xmlns:a16="http://schemas.microsoft.com/office/drawing/2014/main" id="{FB73A42B-B2B6-432E-B0A8-FE54D8D67DDE}"/>
              </a:ext>
            </a:extLst>
          </p:cNvPr>
          <p:cNvPicPr>
            <a:picLocks noChangeAspect="1"/>
          </p:cNvPicPr>
          <p:nvPr/>
        </p:nvPicPr>
        <p:blipFill>
          <a:blip r:embed="rId2"/>
          <a:stretch>
            <a:fillRect/>
          </a:stretch>
        </p:blipFill>
        <p:spPr>
          <a:xfrm>
            <a:off x="341953" y="1718981"/>
            <a:ext cx="7992038" cy="4171113"/>
          </a:xfrm>
          <a:prstGeom prst="rect">
            <a:avLst/>
          </a:prstGeom>
        </p:spPr>
      </p:pic>
    </p:spTree>
    <p:extLst>
      <p:ext uri="{BB962C8B-B14F-4D97-AF65-F5344CB8AC3E}">
        <p14:creationId xmlns:p14="http://schemas.microsoft.com/office/powerpoint/2010/main" val="411091652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5AD8B5-7705-31C7-2592-8960B2A54D5A}"/>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AB11BE0C-0756-B5B9-2B40-60F3F2240620}"/>
              </a:ext>
            </a:extLst>
          </p:cNvPr>
          <p:cNvSpPr>
            <a:spLocks noGrp="1"/>
          </p:cNvSpPr>
          <p:nvPr>
            <p:ph type="title"/>
          </p:nvPr>
        </p:nvSpPr>
        <p:spPr/>
        <p:txBody>
          <a:bodyPr/>
          <a:lstStyle/>
          <a:p>
            <a:r>
              <a:rPr lang="ja-JP" altLang="en-US" dirty="0"/>
              <a:t>おまけ</a:t>
            </a:r>
            <a:endParaRPr lang="en-US" dirty="0"/>
          </a:p>
        </p:txBody>
      </p:sp>
    </p:spTree>
    <p:extLst>
      <p:ext uri="{BB962C8B-B14F-4D97-AF65-F5344CB8AC3E}">
        <p14:creationId xmlns:p14="http://schemas.microsoft.com/office/powerpoint/2010/main" val="413774606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95C36FA-4923-9F9A-9B2E-3AD9A2E9DE72}"/>
              </a:ext>
            </a:extLst>
          </p:cNvPr>
          <p:cNvSpPr>
            <a:spLocks noGrp="1"/>
          </p:cNvSpPr>
          <p:nvPr>
            <p:ph type="title"/>
          </p:nvPr>
        </p:nvSpPr>
        <p:spPr/>
        <p:txBody>
          <a:bodyPr/>
          <a:lstStyle/>
          <a:p>
            <a:r>
              <a:rPr kumimoji="1" lang="ja-JP" altLang="en-US" dirty="0"/>
              <a:t>分岐予測のアルゴリズム</a:t>
            </a:r>
            <a:endParaRPr kumimoji="1" lang="en-US" dirty="0"/>
          </a:p>
        </p:txBody>
      </p:sp>
      <p:sp>
        <p:nvSpPr>
          <p:cNvPr id="3" name="コンテンツ プレースホルダー 2">
            <a:extLst>
              <a:ext uri="{FF2B5EF4-FFF2-40B4-BE49-F238E27FC236}">
                <a16:creationId xmlns:a16="http://schemas.microsoft.com/office/drawing/2014/main" id="{3E229215-1F13-D6B9-EF86-F917FBA59DDA}"/>
              </a:ext>
            </a:extLst>
          </p:cNvPr>
          <p:cNvSpPr>
            <a:spLocks noGrp="1"/>
          </p:cNvSpPr>
          <p:nvPr>
            <p:ph sz="quarter" idx="10"/>
          </p:nvPr>
        </p:nvSpPr>
        <p:spPr>
          <a:xfrm>
            <a:off x="431954" y="3248998"/>
            <a:ext cx="8280092" cy="1530017"/>
          </a:xfrm>
        </p:spPr>
        <p:txBody>
          <a:bodyPr anchor="t"/>
          <a:lstStyle/>
          <a:p>
            <a:r>
              <a:rPr lang="en-US" altLang="ja-JP" sz="1800" dirty="0"/>
              <a:t>André Seznec </a:t>
            </a:r>
            <a:r>
              <a:rPr lang="ja-JP" altLang="en-US" sz="1800" dirty="0"/>
              <a:t>先生が作った </a:t>
            </a:r>
            <a:r>
              <a:rPr lang="en-US" altLang="ja-JP" sz="1800" dirty="0"/>
              <a:t>TAGE </a:t>
            </a:r>
            <a:r>
              <a:rPr lang="ja-JP" altLang="en-US" sz="1800" dirty="0"/>
              <a:t>という予測器が</a:t>
            </a:r>
            <a:br>
              <a:rPr lang="en-US" altLang="ja-JP" sz="1800" dirty="0"/>
            </a:br>
            <a:r>
              <a:rPr lang="ja-JP" altLang="en-US" sz="1800" dirty="0"/>
              <a:t>現在最も予測精度が高いと言われている</a:t>
            </a:r>
            <a:endParaRPr lang="en-US" altLang="ja-JP" sz="1800" dirty="0"/>
          </a:p>
          <a:p>
            <a:pPr lvl="1"/>
            <a:r>
              <a:rPr lang="en-US" altLang="ja-JP" sz="1400" i="1" dirty="0"/>
              <a:t>A. Seznec and P. Michaud. A case for (partially)-tagged geometric history length predictors, Journal of Instruction Level Parallelism (http://www.jilp.org/vol8), 2006</a:t>
            </a:r>
            <a:endParaRPr lang="en-US" altLang="ja-JP" sz="1800" dirty="0"/>
          </a:p>
          <a:p>
            <a:pPr lvl="1"/>
            <a:r>
              <a:rPr lang="ja-JP" altLang="en-US" sz="1800" dirty="0"/>
              <a:t>写真 は </a:t>
            </a:r>
            <a:r>
              <a:rPr lang="en-US" sz="1800" dirty="0">
                <a:hlinkClick r:id="rId2"/>
              </a:rPr>
              <a:t>https://team.inria.fr/pacap/members/andre-seznec/</a:t>
            </a:r>
            <a:r>
              <a:rPr lang="en-US" sz="1800" dirty="0"/>
              <a:t> </a:t>
            </a:r>
            <a:r>
              <a:rPr lang="ja-JP" altLang="en-US" sz="1800" dirty="0"/>
              <a:t>より</a:t>
            </a:r>
            <a:endParaRPr lang="en-US" altLang="ja-JP" sz="1800" dirty="0"/>
          </a:p>
          <a:p>
            <a:r>
              <a:rPr kumimoji="1" lang="en-US" altLang="ja-JP" sz="1800" dirty="0"/>
              <a:t>Championship Branch Prediction </a:t>
            </a:r>
            <a:r>
              <a:rPr kumimoji="1" lang="ja-JP" altLang="en-US" sz="1800" dirty="0"/>
              <a:t>と言う大会がある</a:t>
            </a:r>
            <a:endParaRPr kumimoji="1" lang="en-US" altLang="ja-JP" sz="1800" dirty="0"/>
          </a:p>
          <a:p>
            <a:pPr lvl="1"/>
            <a:r>
              <a:rPr kumimoji="1" lang="ja-JP" altLang="en-US" sz="1800" dirty="0"/>
              <a:t>分岐予測は，この大会で出た様々なアイデアを元に発展してきた</a:t>
            </a:r>
            <a:endParaRPr kumimoji="1" lang="en-US" altLang="ja-JP" sz="1800" dirty="0"/>
          </a:p>
          <a:p>
            <a:pPr lvl="1"/>
            <a:r>
              <a:rPr lang="en-US" altLang="ja-JP" sz="1800" dirty="0"/>
              <a:t>Seznec </a:t>
            </a:r>
            <a:r>
              <a:rPr lang="ja-JP" altLang="en-US" sz="1800" dirty="0"/>
              <a:t>先生がもうずっと優勝し続けてる（</a:t>
            </a:r>
            <a:r>
              <a:rPr lang="en-US" altLang="ja-JP" sz="1800" dirty="0"/>
              <a:t>20</a:t>
            </a:r>
            <a:r>
              <a:rPr lang="ja-JP" altLang="en-US" sz="1800" dirty="0"/>
              <a:t>年以上）</a:t>
            </a:r>
            <a:endParaRPr lang="en-US" altLang="ja-JP" sz="1800" dirty="0"/>
          </a:p>
          <a:p>
            <a:pPr lvl="1"/>
            <a:r>
              <a:rPr kumimoji="1" lang="ja-JP" altLang="en-US" sz="1800" dirty="0"/>
              <a:t>今年は久々に開催されるので，塩谷も挑戦</a:t>
            </a:r>
            <a:endParaRPr kumimoji="1" lang="en-US" altLang="ja-JP" sz="1800" dirty="0"/>
          </a:p>
        </p:txBody>
      </p:sp>
      <p:pic>
        <p:nvPicPr>
          <p:cNvPr id="5" name="Picture 2" descr="André Seznec">
            <a:extLst>
              <a:ext uri="{FF2B5EF4-FFF2-40B4-BE49-F238E27FC236}">
                <a16:creationId xmlns:a16="http://schemas.microsoft.com/office/drawing/2014/main" id="{E9F29D1A-5CC8-69E9-F12E-7DF247874150}"/>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02017" y="368966"/>
            <a:ext cx="1806747" cy="2709179"/>
          </a:xfrm>
          <a:prstGeom prst="rect">
            <a:avLst/>
          </a:prstGeom>
          <a:noFill/>
          <a:extLst>
            <a:ext uri="{909E8E84-426E-40DD-AFC4-6F175D3DCCD1}">
              <a14:hiddenFill xmlns:a14="http://schemas.microsoft.com/office/drawing/2010/main">
                <a:solidFill>
                  <a:srgbClr val="FFFFFF"/>
                </a:solidFill>
              </a14:hiddenFill>
            </a:ext>
          </a:extLst>
        </p:spPr>
      </p:pic>
      <p:pic>
        <p:nvPicPr>
          <p:cNvPr id="6" name="図 5">
            <a:extLst>
              <a:ext uri="{FF2B5EF4-FFF2-40B4-BE49-F238E27FC236}">
                <a16:creationId xmlns:a16="http://schemas.microsoft.com/office/drawing/2014/main" id="{2520A811-1F7C-0361-14AE-F7D51B8C2274}"/>
              </a:ext>
            </a:extLst>
          </p:cNvPr>
          <p:cNvPicPr>
            <a:picLocks noChangeAspect="1"/>
          </p:cNvPicPr>
          <p:nvPr/>
        </p:nvPicPr>
        <p:blipFill>
          <a:blip r:embed="rId4"/>
          <a:stretch>
            <a:fillRect/>
          </a:stretch>
        </p:blipFill>
        <p:spPr>
          <a:xfrm>
            <a:off x="1511966" y="949482"/>
            <a:ext cx="3420038" cy="2094873"/>
          </a:xfrm>
          <a:prstGeom prst="rect">
            <a:avLst/>
          </a:prstGeom>
        </p:spPr>
      </p:pic>
    </p:spTree>
    <p:extLst>
      <p:ext uri="{BB962C8B-B14F-4D97-AF65-F5344CB8AC3E}">
        <p14:creationId xmlns:p14="http://schemas.microsoft.com/office/powerpoint/2010/main" val="399972499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424BDF23-B6B9-A415-6103-A64416F597ED}"/>
              </a:ext>
            </a:extLst>
          </p:cNvPr>
          <p:cNvSpPr/>
          <p:nvPr/>
        </p:nvSpPr>
        <p:spPr bwMode="auto">
          <a:xfrm>
            <a:off x="0" y="0"/>
            <a:ext cx="9144000" cy="6858000"/>
          </a:xfrm>
          <a:prstGeom prst="rect">
            <a:avLst/>
          </a:prstGeom>
          <a:ln>
            <a:noFill/>
            <a:headEnd/>
            <a:tailEnd type="triangle" w="sm" len="med"/>
          </a:ln>
        </p:spPr>
        <p:style>
          <a:lnRef idx="2">
            <a:schemeClr val="dk1">
              <a:shade val="15000"/>
            </a:schemeClr>
          </a:lnRef>
          <a:fillRef idx="1">
            <a:schemeClr val="dk1"/>
          </a:fillRef>
          <a:effectRef idx="0">
            <a:schemeClr val="dk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pic>
        <p:nvPicPr>
          <p:cNvPr id="5" name="図 4">
            <a:extLst>
              <a:ext uri="{FF2B5EF4-FFF2-40B4-BE49-F238E27FC236}">
                <a16:creationId xmlns:a16="http://schemas.microsoft.com/office/drawing/2014/main" id="{4B735AC2-5A7B-033B-BC7F-04D89242E9C0}"/>
              </a:ext>
            </a:extLst>
          </p:cNvPr>
          <p:cNvPicPr>
            <a:picLocks noChangeAspect="1"/>
          </p:cNvPicPr>
          <p:nvPr/>
        </p:nvPicPr>
        <p:blipFill>
          <a:blip r:embed="rId2"/>
          <a:stretch>
            <a:fillRect/>
          </a:stretch>
        </p:blipFill>
        <p:spPr>
          <a:xfrm>
            <a:off x="0" y="864897"/>
            <a:ext cx="9144000" cy="5128205"/>
          </a:xfrm>
          <a:prstGeom prst="rect">
            <a:avLst/>
          </a:prstGeom>
        </p:spPr>
      </p:pic>
    </p:spTree>
    <p:extLst>
      <p:ext uri="{BB962C8B-B14F-4D97-AF65-F5344CB8AC3E}">
        <p14:creationId xmlns:p14="http://schemas.microsoft.com/office/powerpoint/2010/main" val="162922378"/>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6A3E8BC-E410-7405-495D-07ADB2A61C10}"/>
              </a:ext>
            </a:extLst>
          </p:cNvPr>
          <p:cNvSpPr>
            <a:spLocks noGrp="1"/>
          </p:cNvSpPr>
          <p:nvPr>
            <p:ph type="title"/>
          </p:nvPr>
        </p:nvSpPr>
        <p:spPr/>
        <p:txBody>
          <a:bodyPr/>
          <a:lstStyle/>
          <a:p>
            <a:r>
              <a:rPr kumimoji="1" lang="ja-JP" altLang="en-US" dirty="0"/>
              <a:t>優勝！</a:t>
            </a:r>
          </a:p>
        </p:txBody>
      </p:sp>
      <p:sp>
        <p:nvSpPr>
          <p:cNvPr id="3" name="コンテンツ プレースホルダー 2">
            <a:extLst>
              <a:ext uri="{FF2B5EF4-FFF2-40B4-BE49-F238E27FC236}">
                <a16:creationId xmlns:a16="http://schemas.microsoft.com/office/drawing/2014/main" id="{919652FD-D439-5F85-3287-F19667A05E06}"/>
              </a:ext>
            </a:extLst>
          </p:cNvPr>
          <p:cNvSpPr>
            <a:spLocks noGrp="1"/>
          </p:cNvSpPr>
          <p:nvPr>
            <p:ph sz="quarter" idx="10"/>
          </p:nvPr>
        </p:nvSpPr>
        <p:spPr/>
        <p:txBody>
          <a:bodyPr/>
          <a:lstStyle/>
          <a:p>
            <a:endParaRPr kumimoji="1" lang="ja-JP" altLang="en-US"/>
          </a:p>
        </p:txBody>
      </p:sp>
      <p:pic>
        <p:nvPicPr>
          <p:cNvPr id="5" name="図 4">
            <a:extLst>
              <a:ext uri="{FF2B5EF4-FFF2-40B4-BE49-F238E27FC236}">
                <a16:creationId xmlns:a16="http://schemas.microsoft.com/office/drawing/2014/main" id="{AA9825A1-BF79-0D9E-3822-84FBAA53926A}"/>
              </a:ext>
            </a:extLst>
          </p:cNvPr>
          <p:cNvPicPr>
            <a:picLocks noChangeAspect="1"/>
          </p:cNvPicPr>
          <p:nvPr/>
        </p:nvPicPr>
        <p:blipFill>
          <a:blip r:embed="rId2"/>
          <a:stretch>
            <a:fillRect/>
          </a:stretch>
        </p:blipFill>
        <p:spPr>
          <a:xfrm>
            <a:off x="0" y="858062"/>
            <a:ext cx="9144000" cy="5141876"/>
          </a:xfrm>
          <a:prstGeom prst="rect">
            <a:avLst/>
          </a:prstGeom>
        </p:spPr>
      </p:pic>
    </p:spTree>
    <p:extLst>
      <p:ext uri="{BB962C8B-B14F-4D97-AF65-F5344CB8AC3E}">
        <p14:creationId xmlns:p14="http://schemas.microsoft.com/office/powerpoint/2010/main" val="64466154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3BB5915-FAB6-7557-A1C3-60B29982973E}"/>
              </a:ext>
            </a:extLst>
          </p:cNvPr>
          <p:cNvSpPr>
            <a:spLocks noGrp="1"/>
          </p:cNvSpPr>
          <p:nvPr>
            <p:ph type="title"/>
          </p:nvPr>
        </p:nvSpPr>
        <p:spPr/>
        <p:txBody>
          <a:bodyPr>
            <a:normAutofit fontScale="90000"/>
          </a:bodyPr>
          <a:lstStyle/>
          <a:p>
            <a:r>
              <a:rPr kumimoji="1" lang="en-US" altLang="ja-JP" sz="4000" dirty="0"/>
              <a:t>RUNLTS Predictor</a:t>
            </a:r>
            <a:br>
              <a:rPr kumimoji="1" lang="en-US" altLang="ja-JP" sz="4000" dirty="0"/>
            </a:br>
            <a:r>
              <a:rPr lang="ja-JP" altLang="en-US" sz="2400" dirty="0">
                <a:latin typeface="メイリオ" panose="020B0604030504040204" pitchFamily="50" charset="-128"/>
                <a:ea typeface="メイリオ" panose="020B0604030504040204" pitchFamily="50" charset="-128"/>
              </a:rPr>
              <a:t>我々の世界最強の分岐予測器（</a:t>
            </a:r>
            <a:r>
              <a:rPr lang="en-US" altLang="ja-JP" sz="2400" dirty="0">
                <a:latin typeface="メイリオ" panose="020B0604030504040204" pitchFamily="50" charset="-128"/>
              </a:rPr>
              <a:t>2025</a:t>
            </a:r>
            <a:r>
              <a:rPr lang="ja-JP" altLang="en-US" sz="2400" dirty="0">
                <a:latin typeface="メイリオ" panose="020B0604030504040204" pitchFamily="50" charset="-128"/>
              </a:rPr>
              <a:t>年</a:t>
            </a:r>
            <a:r>
              <a:rPr lang="en-US" altLang="ja-JP" sz="2400" dirty="0">
                <a:latin typeface="メイリオ" panose="020B0604030504040204" pitchFamily="50" charset="-128"/>
              </a:rPr>
              <a:t>6</a:t>
            </a:r>
            <a:r>
              <a:rPr lang="ja-JP" altLang="en-US" sz="2400" dirty="0">
                <a:latin typeface="メイリオ" panose="020B0604030504040204" pitchFamily="50" charset="-128"/>
              </a:rPr>
              <a:t>月現在</a:t>
            </a:r>
            <a:r>
              <a:rPr lang="ja-JP" altLang="en-US" sz="2400" dirty="0">
                <a:latin typeface="メイリオ" panose="020B0604030504040204" pitchFamily="50" charset="-128"/>
                <a:ea typeface="メイリオ" panose="020B0604030504040204" pitchFamily="50" charset="-128"/>
              </a:rPr>
              <a:t>）</a:t>
            </a:r>
            <a:endParaRPr kumimoji="1" lang="ja-JP" altLang="en-US" sz="4000" dirty="0">
              <a:latin typeface="メイリオ" panose="020B0604030504040204" pitchFamily="50" charset="-128"/>
              <a:ea typeface="メイリオ" panose="020B0604030504040204" pitchFamily="50" charset="-128"/>
            </a:endParaRPr>
          </a:p>
        </p:txBody>
      </p:sp>
      <p:sp>
        <p:nvSpPr>
          <p:cNvPr id="3" name="コンテンツ プレースホルダー 2">
            <a:extLst>
              <a:ext uri="{FF2B5EF4-FFF2-40B4-BE49-F238E27FC236}">
                <a16:creationId xmlns:a16="http://schemas.microsoft.com/office/drawing/2014/main" id="{4334B937-DFF3-F15A-A301-50998CA03BA9}"/>
              </a:ext>
            </a:extLst>
          </p:cNvPr>
          <p:cNvSpPr>
            <a:spLocks noGrp="1"/>
          </p:cNvSpPr>
          <p:nvPr>
            <p:ph sz="quarter" idx="10"/>
          </p:nvPr>
        </p:nvSpPr>
        <p:spPr/>
        <p:txBody>
          <a:bodyPr/>
          <a:lstStyle/>
          <a:p>
            <a:r>
              <a:rPr kumimoji="1" lang="en-US" altLang="ja-JP" dirty="0"/>
              <a:t>High-level structure is almost the same as that of TAGE-SC</a:t>
            </a:r>
            <a:r>
              <a:rPr lang="en-US" altLang="ja-JP" dirty="0"/>
              <a:t>.</a:t>
            </a:r>
          </a:p>
          <a:p>
            <a:pPr lvl="1"/>
            <a:r>
              <a:rPr kumimoji="1" lang="en-US" altLang="ja-JP" dirty="0"/>
              <a:t>We added register-value component to the SC.</a:t>
            </a:r>
          </a:p>
        </p:txBody>
      </p:sp>
      <p:sp>
        <p:nvSpPr>
          <p:cNvPr id="260" name="正方形/長方形 259">
            <a:extLst>
              <a:ext uri="{FF2B5EF4-FFF2-40B4-BE49-F238E27FC236}">
                <a16:creationId xmlns:a16="http://schemas.microsoft.com/office/drawing/2014/main" id="{6B4AE000-F6C8-7D70-EEF6-86BFFA9AF891}"/>
              </a:ext>
            </a:extLst>
          </p:cNvPr>
          <p:cNvSpPr/>
          <p:nvPr/>
        </p:nvSpPr>
        <p:spPr>
          <a:xfrm>
            <a:off x="3019500" y="3057750"/>
            <a:ext cx="5838750" cy="2159999"/>
          </a:xfrm>
          <a:prstGeom prst="rect">
            <a:avLst/>
          </a:prstGeom>
          <a:solidFill>
            <a:schemeClr val="accent3">
              <a:lumMod val="20000"/>
              <a:lumOff val="80000"/>
            </a:schemeClr>
          </a:solidFill>
          <a:ln>
            <a:noFill/>
          </a:ln>
        </p:spPr>
        <p:style>
          <a:lnRef idx="2">
            <a:schemeClr val="dk1"/>
          </a:lnRef>
          <a:fillRef idx="1">
            <a:schemeClr val="lt1"/>
          </a:fillRef>
          <a:effectRef idx="0">
            <a:schemeClr val="dk1"/>
          </a:effectRef>
          <a:fontRef idx="minor">
            <a:schemeClr val="dk1"/>
          </a:fontRef>
        </p:style>
        <p:txBody>
          <a:bodyPr rtlCol="0" anchor="t"/>
          <a:lstStyle/>
          <a:p>
            <a:pPr defTabSz="342900"/>
            <a:r>
              <a:rPr lang="en-US" altLang="ja-JP" sz="1350" dirty="0">
                <a:solidFill>
                  <a:prstClr val="black"/>
                </a:solidFill>
                <a:latin typeface="Calibri" panose="020F0502020204030204"/>
                <a:ea typeface="游ゴシック" panose="020B0400000000000000" pitchFamily="50" charset="-128"/>
              </a:rPr>
              <a:t>Statistical corrector predictor (SC)</a:t>
            </a:r>
            <a:endParaRPr lang="ja-JP" altLang="en-US" sz="1350" dirty="0">
              <a:solidFill>
                <a:prstClr val="black"/>
              </a:solidFill>
              <a:latin typeface="Calibri" panose="020F0502020204030204"/>
              <a:ea typeface="游ゴシック" panose="020B0400000000000000" pitchFamily="50" charset="-128"/>
            </a:endParaRPr>
          </a:p>
        </p:txBody>
      </p:sp>
      <p:sp>
        <p:nvSpPr>
          <p:cNvPr id="259" name="正方形/長方形 258">
            <a:extLst>
              <a:ext uri="{FF2B5EF4-FFF2-40B4-BE49-F238E27FC236}">
                <a16:creationId xmlns:a16="http://schemas.microsoft.com/office/drawing/2014/main" id="{53C7C9D7-ED39-551D-4AF3-CBF9A89C6FB4}"/>
              </a:ext>
            </a:extLst>
          </p:cNvPr>
          <p:cNvSpPr/>
          <p:nvPr/>
        </p:nvSpPr>
        <p:spPr>
          <a:xfrm>
            <a:off x="285750" y="3057750"/>
            <a:ext cx="2531250" cy="2159999"/>
          </a:xfrm>
          <a:prstGeom prst="rect">
            <a:avLst/>
          </a:prstGeom>
          <a:solidFill>
            <a:schemeClr val="accent3">
              <a:lumMod val="20000"/>
              <a:lumOff val="80000"/>
            </a:schemeClr>
          </a:solidFill>
          <a:ln>
            <a:noFill/>
          </a:ln>
        </p:spPr>
        <p:style>
          <a:lnRef idx="2">
            <a:schemeClr val="dk1"/>
          </a:lnRef>
          <a:fillRef idx="1">
            <a:schemeClr val="lt1"/>
          </a:fillRef>
          <a:effectRef idx="0">
            <a:schemeClr val="dk1"/>
          </a:effectRef>
          <a:fontRef idx="minor">
            <a:schemeClr val="dk1"/>
          </a:fontRef>
        </p:style>
        <p:txBody>
          <a:bodyPr rtlCol="0" anchor="t"/>
          <a:lstStyle/>
          <a:p>
            <a:pPr defTabSz="342900"/>
            <a:r>
              <a:rPr lang="en-US" altLang="ja-JP" sz="1350" dirty="0">
                <a:solidFill>
                  <a:prstClr val="black"/>
                </a:solidFill>
                <a:latin typeface="Calibri" panose="020F0502020204030204"/>
                <a:ea typeface="游ゴシック" panose="020B0400000000000000" pitchFamily="50" charset="-128"/>
              </a:rPr>
              <a:t>Table predictor</a:t>
            </a:r>
            <a:endParaRPr lang="ja-JP" altLang="en-US" sz="1350" dirty="0">
              <a:solidFill>
                <a:prstClr val="black"/>
              </a:solidFill>
              <a:latin typeface="Calibri" panose="020F0502020204030204"/>
              <a:ea typeface="游ゴシック" panose="020B0400000000000000" pitchFamily="50" charset="-128"/>
            </a:endParaRPr>
          </a:p>
        </p:txBody>
      </p:sp>
      <p:sp>
        <p:nvSpPr>
          <p:cNvPr id="140" name="Freeform 10">
            <a:extLst>
              <a:ext uri="{FF2B5EF4-FFF2-40B4-BE49-F238E27FC236}">
                <a16:creationId xmlns:a16="http://schemas.microsoft.com/office/drawing/2014/main" id="{8F07BF9A-D5BA-0BE3-9A4B-C20A499CA3DA}"/>
              </a:ext>
            </a:extLst>
          </p:cNvPr>
          <p:cNvSpPr>
            <a:spLocks/>
          </p:cNvSpPr>
          <p:nvPr/>
        </p:nvSpPr>
        <p:spPr bwMode="auto">
          <a:xfrm>
            <a:off x="657000" y="4103999"/>
            <a:ext cx="371224" cy="101250"/>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sp>
        <p:nvSpPr>
          <p:cNvPr id="141" name="正方形/長方形 140">
            <a:extLst>
              <a:ext uri="{FF2B5EF4-FFF2-40B4-BE49-F238E27FC236}">
                <a16:creationId xmlns:a16="http://schemas.microsoft.com/office/drawing/2014/main" id="{72311D96-7E86-2073-B66E-1E49526C408F}"/>
              </a:ext>
            </a:extLst>
          </p:cNvPr>
          <p:cNvSpPr/>
          <p:nvPr/>
        </p:nvSpPr>
        <p:spPr>
          <a:xfrm>
            <a:off x="420750" y="3732749"/>
            <a:ext cx="472508" cy="371250"/>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r>
              <a:rPr kumimoji="0"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Bimodal</a:t>
            </a:r>
          </a:p>
        </p:txBody>
      </p:sp>
      <p:sp>
        <p:nvSpPr>
          <p:cNvPr id="142" name="正方形/長方形 141">
            <a:extLst>
              <a:ext uri="{FF2B5EF4-FFF2-40B4-BE49-F238E27FC236}">
                <a16:creationId xmlns:a16="http://schemas.microsoft.com/office/drawing/2014/main" id="{81472155-8763-1486-9F16-827BABD57A20}"/>
              </a:ext>
            </a:extLst>
          </p:cNvPr>
          <p:cNvSpPr/>
          <p:nvPr/>
        </p:nvSpPr>
        <p:spPr>
          <a:xfrm>
            <a:off x="387000" y="3361498"/>
            <a:ext cx="540006"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PC</a:t>
            </a:r>
            <a:endParaRPr lang="en-US" sz="825" dirty="0">
              <a:solidFill>
                <a:prstClr val="black"/>
              </a:solidFill>
              <a:latin typeface="Times New Roman" panose="02020603050405020304" pitchFamily="18" charset="0"/>
              <a:cs typeface="Times New Roman" panose="02020603050405020304" pitchFamily="18" charset="0"/>
            </a:endParaRPr>
          </a:p>
        </p:txBody>
      </p:sp>
      <p:cxnSp>
        <p:nvCxnSpPr>
          <p:cNvPr id="143" name="直線矢印コネクタ 142">
            <a:extLst>
              <a:ext uri="{FF2B5EF4-FFF2-40B4-BE49-F238E27FC236}">
                <a16:creationId xmlns:a16="http://schemas.microsoft.com/office/drawing/2014/main" id="{3C951A0E-74B6-BDDE-1A91-1520BC7167E7}"/>
              </a:ext>
            </a:extLst>
          </p:cNvPr>
          <p:cNvCxnSpPr>
            <a:cxnSpLocks/>
            <a:stCxn id="142" idx="2"/>
            <a:endCxn id="141" idx="0"/>
          </p:cNvCxnSpPr>
          <p:nvPr/>
        </p:nvCxnSpPr>
        <p:spPr>
          <a:xfrm>
            <a:off x="657003" y="3496500"/>
            <a:ext cx="1" cy="236249"/>
          </a:xfrm>
          <a:prstGeom prst="straightConnector1">
            <a:avLst/>
          </a:prstGeom>
          <a:ln w="952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44" name="台形 143">
            <a:extLst>
              <a:ext uri="{FF2B5EF4-FFF2-40B4-BE49-F238E27FC236}">
                <a16:creationId xmlns:a16="http://schemas.microsoft.com/office/drawing/2014/main" id="{A13D0BE4-4990-85D1-6000-ECA0B8E83874}"/>
              </a:ext>
            </a:extLst>
          </p:cNvPr>
          <p:cNvSpPr/>
          <p:nvPr/>
        </p:nvSpPr>
        <p:spPr>
          <a:xfrm flipV="1">
            <a:off x="960723" y="4306498"/>
            <a:ext cx="270003" cy="67502"/>
          </a:xfrm>
          <a:prstGeom prst="trapezoid">
            <a:avLst/>
          </a:prstGeom>
          <a:ln w="12700"/>
        </p:spPr>
        <p:style>
          <a:lnRef idx="2">
            <a:schemeClr val="dk1"/>
          </a:lnRef>
          <a:fillRef idx="1">
            <a:schemeClr val="lt1"/>
          </a:fillRef>
          <a:effectRef idx="0">
            <a:schemeClr val="dk1"/>
          </a:effectRef>
          <a:fontRef idx="minor">
            <a:schemeClr val="dk1"/>
          </a:fontRef>
        </p:style>
        <p:txBody>
          <a:bodyPr wrap="none" rtlCol="0" anchor="ctr"/>
          <a:lstStyle/>
          <a:p>
            <a:pPr algn="ctr" defTabSz="342900"/>
            <a:endParaRPr lang="en-US" sz="1350" dirty="0">
              <a:solidFill>
                <a:prstClr val="black"/>
              </a:solidFill>
              <a:latin typeface="Times New Roman" panose="02020603050405020304" pitchFamily="18" charset="0"/>
              <a:cs typeface="Times New Roman" panose="02020603050405020304" pitchFamily="18" charset="0"/>
            </a:endParaRPr>
          </a:p>
        </p:txBody>
      </p:sp>
      <p:cxnSp>
        <p:nvCxnSpPr>
          <p:cNvPr id="145" name="直線コネクタ 144">
            <a:extLst>
              <a:ext uri="{FF2B5EF4-FFF2-40B4-BE49-F238E27FC236}">
                <a16:creationId xmlns:a16="http://schemas.microsoft.com/office/drawing/2014/main" id="{F5D03A6A-7879-3202-F6DF-5F8F9C3B9CBD}"/>
              </a:ext>
            </a:extLst>
          </p:cNvPr>
          <p:cNvCxnSpPr>
            <a:cxnSpLocks/>
          </p:cNvCxnSpPr>
          <p:nvPr/>
        </p:nvCxnSpPr>
        <p:spPr>
          <a:xfrm>
            <a:off x="1163225" y="4103998"/>
            <a:ext cx="0" cy="202502"/>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cxnSp>
        <p:nvCxnSpPr>
          <p:cNvPr id="146" name="直線コネクタ 145">
            <a:extLst>
              <a:ext uri="{FF2B5EF4-FFF2-40B4-BE49-F238E27FC236}">
                <a16:creationId xmlns:a16="http://schemas.microsoft.com/office/drawing/2014/main" id="{73620010-2877-1B7F-9086-0CF5392B6BBC}"/>
              </a:ext>
            </a:extLst>
          </p:cNvPr>
          <p:cNvCxnSpPr>
            <a:cxnSpLocks/>
          </p:cNvCxnSpPr>
          <p:nvPr/>
        </p:nvCxnSpPr>
        <p:spPr>
          <a:xfrm>
            <a:off x="1028224" y="4205249"/>
            <a:ext cx="0" cy="101251"/>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147" name="Freeform 10">
            <a:extLst>
              <a:ext uri="{FF2B5EF4-FFF2-40B4-BE49-F238E27FC236}">
                <a16:creationId xmlns:a16="http://schemas.microsoft.com/office/drawing/2014/main" id="{D83A9C4D-4913-CD67-BDE8-CF81A303026B}"/>
              </a:ext>
            </a:extLst>
          </p:cNvPr>
          <p:cNvSpPr>
            <a:spLocks/>
          </p:cNvSpPr>
          <p:nvPr/>
        </p:nvSpPr>
        <p:spPr bwMode="auto">
          <a:xfrm>
            <a:off x="1095724" y="4374000"/>
            <a:ext cx="405005" cy="6750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sp>
        <p:nvSpPr>
          <p:cNvPr id="148" name="台形 147">
            <a:extLst>
              <a:ext uri="{FF2B5EF4-FFF2-40B4-BE49-F238E27FC236}">
                <a16:creationId xmlns:a16="http://schemas.microsoft.com/office/drawing/2014/main" id="{7F475CD8-9E95-9BD5-EDB7-22331E49EB48}"/>
              </a:ext>
            </a:extLst>
          </p:cNvPr>
          <p:cNvSpPr/>
          <p:nvPr/>
        </p:nvSpPr>
        <p:spPr>
          <a:xfrm flipV="1">
            <a:off x="1433228" y="4509001"/>
            <a:ext cx="270003" cy="67501"/>
          </a:xfrm>
          <a:prstGeom prst="trapezoid">
            <a:avLst/>
          </a:prstGeom>
          <a:ln w="12700"/>
        </p:spPr>
        <p:style>
          <a:lnRef idx="2">
            <a:schemeClr val="dk1"/>
          </a:lnRef>
          <a:fillRef idx="1">
            <a:schemeClr val="lt1"/>
          </a:fillRef>
          <a:effectRef idx="0">
            <a:schemeClr val="dk1"/>
          </a:effectRef>
          <a:fontRef idx="minor">
            <a:schemeClr val="dk1"/>
          </a:fontRef>
        </p:style>
        <p:txBody>
          <a:bodyPr wrap="none" rtlCol="0" anchor="ctr"/>
          <a:lstStyle/>
          <a:p>
            <a:pPr algn="ctr" defTabSz="342900"/>
            <a:endParaRPr lang="en-US" sz="1350" dirty="0">
              <a:solidFill>
                <a:prstClr val="black"/>
              </a:solidFill>
              <a:latin typeface="Times New Roman" panose="02020603050405020304" pitchFamily="18" charset="0"/>
              <a:cs typeface="Times New Roman" panose="02020603050405020304" pitchFamily="18" charset="0"/>
            </a:endParaRPr>
          </a:p>
        </p:txBody>
      </p:sp>
      <p:cxnSp>
        <p:nvCxnSpPr>
          <p:cNvPr id="149" name="直線コネクタ 148">
            <a:extLst>
              <a:ext uri="{FF2B5EF4-FFF2-40B4-BE49-F238E27FC236}">
                <a16:creationId xmlns:a16="http://schemas.microsoft.com/office/drawing/2014/main" id="{36BA481A-613B-A05A-4E17-7CD643D95694}"/>
              </a:ext>
            </a:extLst>
          </p:cNvPr>
          <p:cNvCxnSpPr>
            <a:cxnSpLocks/>
          </p:cNvCxnSpPr>
          <p:nvPr/>
        </p:nvCxnSpPr>
        <p:spPr>
          <a:xfrm>
            <a:off x="1500729" y="4441501"/>
            <a:ext cx="0" cy="67501"/>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cxnSp>
        <p:nvCxnSpPr>
          <p:cNvPr id="150" name="直線コネクタ 149">
            <a:extLst>
              <a:ext uri="{FF2B5EF4-FFF2-40B4-BE49-F238E27FC236}">
                <a16:creationId xmlns:a16="http://schemas.microsoft.com/office/drawing/2014/main" id="{758202AE-33B5-CB5B-379D-2270D5E3FDDB}"/>
              </a:ext>
            </a:extLst>
          </p:cNvPr>
          <p:cNvCxnSpPr>
            <a:cxnSpLocks/>
          </p:cNvCxnSpPr>
          <p:nvPr/>
        </p:nvCxnSpPr>
        <p:spPr>
          <a:xfrm>
            <a:off x="1635731" y="4103999"/>
            <a:ext cx="0" cy="405003"/>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151" name="正方形/長方形 150">
            <a:extLst>
              <a:ext uri="{FF2B5EF4-FFF2-40B4-BE49-F238E27FC236}">
                <a16:creationId xmlns:a16="http://schemas.microsoft.com/office/drawing/2014/main" id="{A5EC6D91-90AE-B241-8F5E-67C2EE42E807}"/>
              </a:ext>
            </a:extLst>
          </p:cNvPr>
          <p:cNvSpPr/>
          <p:nvPr/>
        </p:nvSpPr>
        <p:spPr>
          <a:xfrm>
            <a:off x="960748" y="3361491"/>
            <a:ext cx="540006"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PC  GHR[5:0]</a:t>
            </a:r>
            <a:endParaRPr lang="en-US" sz="825" dirty="0">
              <a:solidFill>
                <a:prstClr val="black"/>
              </a:solidFill>
              <a:latin typeface="Times New Roman" panose="02020603050405020304" pitchFamily="18" charset="0"/>
              <a:cs typeface="Times New Roman" panose="02020603050405020304" pitchFamily="18" charset="0"/>
            </a:endParaRPr>
          </a:p>
        </p:txBody>
      </p:sp>
      <p:sp>
        <p:nvSpPr>
          <p:cNvPr id="152" name="Freeform 10">
            <a:extLst>
              <a:ext uri="{FF2B5EF4-FFF2-40B4-BE49-F238E27FC236}">
                <a16:creationId xmlns:a16="http://schemas.microsoft.com/office/drawing/2014/main" id="{3D3356D0-4062-0D32-CF52-B23457FD3A06}"/>
              </a:ext>
            </a:extLst>
          </p:cNvPr>
          <p:cNvSpPr>
            <a:spLocks/>
          </p:cNvSpPr>
          <p:nvPr/>
        </p:nvSpPr>
        <p:spPr bwMode="auto">
          <a:xfrm>
            <a:off x="1028249" y="3496493"/>
            <a:ext cx="67501" cy="135002"/>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sp>
        <p:nvSpPr>
          <p:cNvPr id="153" name="Freeform 10">
            <a:extLst>
              <a:ext uri="{FF2B5EF4-FFF2-40B4-BE49-F238E27FC236}">
                <a16:creationId xmlns:a16="http://schemas.microsoft.com/office/drawing/2014/main" id="{4BE43900-F816-2A34-E1EA-99F37D56A1F5}"/>
              </a:ext>
            </a:extLst>
          </p:cNvPr>
          <p:cNvSpPr>
            <a:spLocks/>
          </p:cNvSpPr>
          <p:nvPr/>
        </p:nvSpPr>
        <p:spPr bwMode="auto">
          <a:xfrm flipH="1">
            <a:off x="1230750" y="3496493"/>
            <a:ext cx="67501" cy="135002"/>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sp>
        <p:nvSpPr>
          <p:cNvPr id="154" name="四角形: 角を丸くする 153">
            <a:extLst>
              <a:ext uri="{FF2B5EF4-FFF2-40B4-BE49-F238E27FC236}">
                <a16:creationId xmlns:a16="http://schemas.microsoft.com/office/drawing/2014/main" id="{281ADE9F-33B7-D4CE-E5FC-0792B2C32FC5}"/>
              </a:ext>
            </a:extLst>
          </p:cNvPr>
          <p:cNvSpPr/>
          <p:nvPr/>
        </p:nvSpPr>
        <p:spPr>
          <a:xfrm>
            <a:off x="1095750" y="3563993"/>
            <a:ext cx="135002" cy="135002"/>
          </a:xfrm>
          <a:prstGeom prst="roundRect">
            <a:avLst>
              <a:gd name="adj" fmla="val 11375"/>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sz="825" dirty="0">
                <a:solidFill>
                  <a:prstClr val="black"/>
                </a:solidFill>
                <a:latin typeface="Arial" panose="020B0604020202020204" pitchFamily="34" charset="0"/>
                <a:cs typeface="Arial" panose="020B0604020202020204" pitchFamily="34" charset="0"/>
              </a:rPr>
              <a:t>h1</a:t>
            </a:r>
          </a:p>
        </p:txBody>
      </p:sp>
      <p:cxnSp>
        <p:nvCxnSpPr>
          <p:cNvPr id="155" name="直線コネクタ 154">
            <a:extLst>
              <a:ext uri="{FF2B5EF4-FFF2-40B4-BE49-F238E27FC236}">
                <a16:creationId xmlns:a16="http://schemas.microsoft.com/office/drawing/2014/main" id="{A698C5DA-F1C8-3D44-BAA6-F93E14066CCF}"/>
              </a:ext>
            </a:extLst>
          </p:cNvPr>
          <p:cNvCxnSpPr>
            <a:cxnSpLocks/>
          </p:cNvCxnSpPr>
          <p:nvPr/>
        </p:nvCxnSpPr>
        <p:spPr>
          <a:xfrm>
            <a:off x="1163250" y="3698998"/>
            <a:ext cx="0" cy="135002"/>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156" name="正方形/長方形 155">
            <a:extLst>
              <a:ext uri="{FF2B5EF4-FFF2-40B4-BE49-F238E27FC236}">
                <a16:creationId xmlns:a16="http://schemas.microsoft.com/office/drawing/2014/main" id="{F13495BB-2F56-76CB-FA5A-16C22404E388}"/>
              </a:ext>
            </a:extLst>
          </p:cNvPr>
          <p:cNvSpPr/>
          <p:nvPr/>
        </p:nvSpPr>
        <p:spPr>
          <a:xfrm>
            <a:off x="1973250" y="4508998"/>
            <a:ext cx="270003"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defTabSz="342900"/>
            <a:r>
              <a:rPr lang="en-US" altLang="ja-JP" sz="1350" dirty="0">
                <a:solidFill>
                  <a:prstClr val="black"/>
                </a:solidFill>
                <a:latin typeface="Arial" panose="020B0604020202020204" pitchFamily="34" charset="0"/>
                <a:ea typeface="游ゴシック" panose="020B0400000000000000" pitchFamily="50" charset="-128"/>
                <a:cs typeface="Arial" panose="020B0604020202020204" pitchFamily="34" charset="0"/>
              </a:rPr>
              <a:t>...</a:t>
            </a:r>
            <a:endParaRPr lang="en-US" sz="1350" dirty="0">
              <a:solidFill>
                <a:prstClr val="black"/>
              </a:solidFill>
              <a:latin typeface="Times New Roman" panose="02020603050405020304" pitchFamily="18" charset="0"/>
              <a:cs typeface="Times New Roman" panose="02020603050405020304" pitchFamily="18" charset="0"/>
            </a:endParaRPr>
          </a:p>
        </p:txBody>
      </p:sp>
      <p:sp>
        <p:nvSpPr>
          <p:cNvPr id="157" name="Freeform 10">
            <a:extLst>
              <a:ext uri="{FF2B5EF4-FFF2-40B4-BE49-F238E27FC236}">
                <a16:creationId xmlns:a16="http://schemas.microsoft.com/office/drawing/2014/main" id="{1A255DC8-8586-18F3-2A37-540A7EF5CD73}"/>
              </a:ext>
            </a:extLst>
          </p:cNvPr>
          <p:cNvSpPr>
            <a:spLocks/>
          </p:cNvSpPr>
          <p:nvPr/>
        </p:nvSpPr>
        <p:spPr bwMode="auto">
          <a:xfrm>
            <a:off x="1568245" y="4576495"/>
            <a:ext cx="337505" cy="675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sp>
        <p:nvSpPr>
          <p:cNvPr id="158" name="台形 157">
            <a:extLst>
              <a:ext uri="{FF2B5EF4-FFF2-40B4-BE49-F238E27FC236}">
                <a16:creationId xmlns:a16="http://schemas.microsoft.com/office/drawing/2014/main" id="{A85D5CAC-FAE6-0BC7-7FEB-B591020BEEFA}"/>
              </a:ext>
            </a:extLst>
          </p:cNvPr>
          <p:cNvSpPr/>
          <p:nvPr/>
        </p:nvSpPr>
        <p:spPr>
          <a:xfrm flipV="1">
            <a:off x="2243252" y="4711496"/>
            <a:ext cx="270003" cy="67501"/>
          </a:xfrm>
          <a:prstGeom prst="trapezoid">
            <a:avLst/>
          </a:prstGeom>
          <a:ln w="12700"/>
        </p:spPr>
        <p:style>
          <a:lnRef idx="2">
            <a:schemeClr val="dk1"/>
          </a:lnRef>
          <a:fillRef idx="1">
            <a:schemeClr val="lt1"/>
          </a:fillRef>
          <a:effectRef idx="0">
            <a:schemeClr val="dk1"/>
          </a:effectRef>
          <a:fontRef idx="minor">
            <a:schemeClr val="dk1"/>
          </a:fontRef>
        </p:style>
        <p:txBody>
          <a:bodyPr wrap="none" rtlCol="0" anchor="ctr"/>
          <a:lstStyle/>
          <a:p>
            <a:pPr algn="ctr" defTabSz="342900"/>
            <a:endParaRPr lang="en-US" sz="1350" dirty="0">
              <a:solidFill>
                <a:prstClr val="black"/>
              </a:solidFill>
              <a:latin typeface="Times New Roman" panose="02020603050405020304" pitchFamily="18" charset="0"/>
              <a:cs typeface="Times New Roman" panose="02020603050405020304" pitchFamily="18" charset="0"/>
            </a:endParaRPr>
          </a:p>
        </p:txBody>
      </p:sp>
      <p:cxnSp>
        <p:nvCxnSpPr>
          <p:cNvPr id="159" name="直線コネクタ 158">
            <a:extLst>
              <a:ext uri="{FF2B5EF4-FFF2-40B4-BE49-F238E27FC236}">
                <a16:creationId xmlns:a16="http://schemas.microsoft.com/office/drawing/2014/main" id="{6203D419-64CE-F11A-9E85-785F9B34DF08}"/>
              </a:ext>
            </a:extLst>
          </p:cNvPr>
          <p:cNvCxnSpPr>
            <a:cxnSpLocks/>
          </p:cNvCxnSpPr>
          <p:nvPr/>
        </p:nvCxnSpPr>
        <p:spPr>
          <a:xfrm>
            <a:off x="2310753" y="4643996"/>
            <a:ext cx="0" cy="67501"/>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cxnSp>
        <p:nvCxnSpPr>
          <p:cNvPr id="160" name="直線コネクタ 159">
            <a:extLst>
              <a:ext uri="{FF2B5EF4-FFF2-40B4-BE49-F238E27FC236}">
                <a16:creationId xmlns:a16="http://schemas.microsoft.com/office/drawing/2014/main" id="{B4B27E7A-3148-6C71-EEF0-7C2D9B488402}"/>
              </a:ext>
            </a:extLst>
          </p:cNvPr>
          <p:cNvCxnSpPr>
            <a:cxnSpLocks/>
          </p:cNvCxnSpPr>
          <p:nvPr/>
        </p:nvCxnSpPr>
        <p:spPr>
          <a:xfrm>
            <a:off x="2445755" y="4103999"/>
            <a:ext cx="0" cy="607498"/>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cxnSp>
        <p:nvCxnSpPr>
          <p:cNvPr id="161" name="直線コネクタ 160">
            <a:extLst>
              <a:ext uri="{FF2B5EF4-FFF2-40B4-BE49-F238E27FC236}">
                <a16:creationId xmlns:a16="http://schemas.microsoft.com/office/drawing/2014/main" id="{0DF1C8AE-C19F-E904-EAE0-5A8A0E033B89}"/>
              </a:ext>
            </a:extLst>
          </p:cNvPr>
          <p:cNvCxnSpPr>
            <a:cxnSpLocks/>
          </p:cNvCxnSpPr>
          <p:nvPr/>
        </p:nvCxnSpPr>
        <p:spPr>
          <a:xfrm>
            <a:off x="2175751" y="4643996"/>
            <a:ext cx="135002" cy="0"/>
          </a:xfrm>
          <a:prstGeom prst="line">
            <a:avLst/>
          </a:pr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cxnSp>
      <p:sp>
        <p:nvSpPr>
          <p:cNvPr id="162" name="四角形: 角を丸くする 161">
            <a:extLst>
              <a:ext uri="{FF2B5EF4-FFF2-40B4-BE49-F238E27FC236}">
                <a16:creationId xmlns:a16="http://schemas.microsoft.com/office/drawing/2014/main" id="{1D891A7A-E2BF-4DEF-22F0-D717C7934114}"/>
              </a:ext>
            </a:extLst>
          </p:cNvPr>
          <p:cNvSpPr/>
          <p:nvPr/>
        </p:nvSpPr>
        <p:spPr>
          <a:xfrm>
            <a:off x="1568246" y="3563997"/>
            <a:ext cx="135002" cy="135002"/>
          </a:xfrm>
          <a:prstGeom prst="roundRect">
            <a:avLst>
              <a:gd name="adj" fmla="val 11375"/>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sz="825" dirty="0">
                <a:solidFill>
                  <a:prstClr val="black"/>
                </a:solidFill>
                <a:latin typeface="Arial" panose="020B0604020202020204" pitchFamily="34" charset="0"/>
                <a:cs typeface="Arial" panose="020B0604020202020204" pitchFamily="34" charset="0"/>
              </a:rPr>
              <a:t>h2</a:t>
            </a:r>
          </a:p>
        </p:txBody>
      </p:sp>
      <p:cxnSp>
        <p:nvCxnSpPr>
          <p:cNvPr id="163" name="直線コネクタ 162">
            <a:extLst>
              <a:ext uri="{FF2B5EF4-FFF2-40B4-BE49-F238E27FC236}">
                <a16:creationId xmlns:a16="http://schemas.microsoft.com/office/drawing/2014/main" id="{0EBFB757-9511-CC52-95D0-5D2E0400B5BF}"/>
              </a:ext>
            </a:extLst>
          </p:cNvPr>
          <p:cNvCxnSpPr>
            <a:cxnSpLocks/>
          </p:cNvCxnSpPr>
          <p:nvPr/>
        </p:nvCxnSpPr>
        <p:spPr>
          <a:xfrm>
            <a:off x="1635750" y="3698998"/>
            <a:ext cx="0" cy="135002"/>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164" name="台形 163">
            <a:extLst>
              <a:ext uri="{FF2B5EF4-FFF2-40B4-BE49-F238E27FC236}">
                <a16:creationId xmlns:a16="http://schemas.microsoft.com/office/drawing/2014/main" id="{639AEF4A-D3E8-6DA8-8635-A9E152D5A7DE}"/>
              </a:ext>
            </a:extLst>
          </p:cNvPr>
          <p:cNvSpPr/>
          <p:nvPr/>
        </p:nvSpPr>
        <p:spPr>
          <a:xfrm flipV="1">
            <a:off x="2040750" y="4981499"/>
            <a:ext cx="405005" cy="67500"/>
          </a:xfrm>
          <a:prstGeom prst="trapezoid">
            <a:avLst/>
          </a:prstGeom>
          <a:ln w="12700"/>
        </p:spPr>
        <p:style>
          <a:lnRef idx="2">
            <a:schemeClr val="dk1"/>
          </a:lnRef>
          <a:fillRef idx="1">
            <a:schemeClr val="lt1"/>
          </a:fillRef>
          <a:effectRef idx="0">
            <a:schemeClr val="dk1"/>
          </a:effectRef>
          <a:fontRef idx="minor">
            <a:schemeClr val="dk1"/>
          </a:fontRef>
        </p:style>
        <p:txBody>
          <a:bodyPr wrap="none" rtlCol="0" anchor="ctr"/>
          <a:lstStyle/>
          <a:p>
            <a:pPr algn="ctr" defTabSz="342900"/>
            <a:endParaRPr lang="en-US" sz="1350" dirty="0">
              <a:solidFill>
                <a:prstClr val="black"/>
              </a:solidFill>
              <a:latin typeface="Times New Roman" panose="02020603050405020304" pitchFamily="18" charset="0"/>
              <a:cs typeface="Times New Roman" panose="02020603050405020304" pitchFamily="18" charset="0"/>
            </a:endParaRPr>
          </a:p>
        </p:txBody>
      </p:sp>
      <p:cxnSp>
        <p:nvCxnSpPr>
          <p:cNvPr id="165" name="直線コネクタ 164">
            <a:extLst>
              <a:ext uri="{FF2B5EF4-FFF2-40B4-BE49-F238E27FC236}">
                <a16:creationId xmlns:a16="http://schemas.microsoft.com/office/drawing/2014/main" id="{021F666C-48FD-CE28-5C24-EA7FB7D48940}"/>
              </a:ext>
            </a:extLst>
          </p:cNvPr>
          <p:cNvCxnSpPr>
            <a:cxnSpLocks/>
          </p:cNvCxnSpPr>
          <p:nvPr/>
        </p:nvCxnSpPr>
        <p:spPr>
          <a:xfrm>
            <a:off x="2108251" y="4913999"/>
            <a:ext cx="0" cy="67501"/>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cxnSp>
        <p:nvCxnSpPr>
          <p:cNvPr id="166" name="直線コネクタ 165">
            <a:extLst>
              <a:ext uri="{FF2B5EF4-FFF2-40B4-BE49-F238E27FC236}">
                <a16:creationId xmlns:a16="http://schemas.microsoft.com/office/drawing/2014/main" id="{9718FD81-3910-6315-8ECC-AFD1C5F2AFDB}"/>
              </a:ext>
            </a:extLst>
          </p:cNvPr>
          <p:cNvCxnSpPr>
            <a:cxnSpLocks/>
          </p:cNvCxnSpPr>
          <p:nvPr/>
        </p:nvCxnSpPr>
        <p:spPr>
          <a:xfrm>
            <a:off x="2378254" y="4778998"/>
            <a:ext cx="0" cy="202502"/>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cxnSp>
        <p:nvCxnSpPr>
          <p:cNvPr id="167" name="直線コネクタ 166">
            <a:extLst>
              <a:ext uri="{FF2B5EF4-FFF2-40B4-BE49-F238E27FC236}">
                <a16:creationId xmlns:a16="http://schemas.microsoft.com/office/drawing/2014/main" id="{58B7BB25-3142-6490-2119-A31E30FFAA26}"/>
              </a:ext>
            </a:extLst>
          </p:cNvPr>
          <p:cNvCxnSpPr>
            <a:cxnSpLocks/>
          </p:cNvCxnSpPr>
          <p:nvPr/>
        </p:nvCxnSpPr>
        <p:spPr>
          <a:xfrm>
            <a:off x="1905747" y="4913999"/>
            <a:ext cx="202504" cy="0"/>
          </a:xfrm>
          <a:prstGeom prst="line">
            <a:avLst/>
          </a:pr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cxnSp>
      <p:sp>
        <p:nvSpPr>
          <p:cNvPr id="168" name="正方形/長方形 167">
            <a:extLst>
              <a:ext uri="{FF2B5EF4-FFF2-40B4-BE49-F238E27FC236}">
                <a16:creationId xmlns:a16="http://schemas.microsoft.com/office/drawing/2014/main" id="{963388B5-119A-FFA9-840C-70A6C0E35E74}"/>
              </a:ext>
            </a:extLst>
          </p:cNvPr>
          <p:cNvSpPr/>
          <p:nvPr/>
        </p:nvSpPr>
        <p:spPr>
          <a:xfrm>
            <a:off x="1973249" y="4778997"/>
            <a:ext cx="135002"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defTabSz="342900"/>
            <a:r>
              <a:rPr lang="en-US" altLang="ja-JP" sz="750" dirty="0">
                <a:solidFill>
                  <a:prstClr val="black"/>
                </a:solidFill>
                <a:latin typeface="Arial" panose="020B0604020202020204" pitchFamily="34" charset="0"/>
                <a:ea typeface="游ゴシック" panose="020B0400000000000000" pitchFamily="50" charset="-128"/>
                <a:cs typeface="Arial" panose="020B0604020202020204" pitchFamily="34" charset="0"/>
              </a:rPr>
              <a:t>alt</a:t>
            </a:r>
            <a:endParaRPr lang="en-US" sz="750" dirty="0">
              <a:solidFill>
                <a:prstClr val="black"/>
              </a:solidFill>
              <a:latin typeface="Times New Roman" panose="02020603050405020304" pitchFamily="18" charset="0"/>
              <a:cs typeface="Times New Roman" panose="02020603050405020304" pitchFamily="18" charset="0"/>
            </a:endParaRPr>
          </a:p>
        </p:txBody>
      </p:sp>
      <p:sp>
        <p:nvSpPr>
          <p:cNvPr id="169" name="四角形: 角を丸くする 168">
            <a:extLst>
              <a:ext uri="{FF2B5EF4-FFF2-40B4-BE49-F238E27FC236}">
                <a16:creationId xmlns:a16="http://schemas.microsoft.com/office/drawing/2014/main" id="{60D8E690-09D3-E739-8CA3-A088D9753CD1}"/>
              </a:ext>
            </a:extLst>
          </p:cNvPr>
          <p:cNvSpPr/>
          <p:nvPr/>
        </p:nvSpPr>
        <p:spPr>
          <a:xfrm>
            <a:off x="2344501" y="3563995"/>
            <a:ext cx="202502" cy="135002"/>
          </a:xfrm>
          <a:prstGeom prst="roundRect">
            <a:avLst>
              <a:gd name="adj" fmla="val 11375"/>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sz="825" dirty="0">
                <a:solidFill>
                  <a:prstClr val="black"/>
                </a:solidFill>
                <a:latin typeface="Arial" panose="020B0604020202020204" pitchFamily="34" charset="0"/>
                <a:cs typeface="Arial" panose="020B0604020202020204" pitchFamily="34" charset="0"/>
              </a:rPr>
              <a:t>h23</a:t>
            </a:r>
          </a:p>
        </p:txBody>
      </p:sp>
      <p:cxnSp>
        <p:nvCxnSpPr>
          <p:cNvPr id="170" name="直線コネクタ 169">
            <a:extLst>
              <a:ext uri="{FF2B5EF4-FFF2-40B4-BE49-F238E27FC236}">
                <a16:creationId xmlns:a16="http://schemas.microsoft.com/office/drawing/2014/main" id="{3DB0C9A4-5CB6-D9B0-9489-CB6F05B452DD}"/>
              </a:ext>
            </a:extLst>
          </p:cNvPr>
          <p:cNvCxnSpPr>
            <a:cxnSpLocks/>
          </p:cNvCxnSpPr>
          <p:nvPr/>
        </p:nvCxnSpPr>
        <p:spPr>
          <a:xfrm>
            <a:off x="2445750" y="3698998"/>
            <a:ext cx="0" cy="135002"/>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171" name="正方形/長方形 170">
            <a:extLst>
              <a:ext uri="{FF2B5EF4-FFF2-40B4-BE49-F238E27FC236}">
                <a16:creationId xmlns:a16="http://schemas.microsoft.com/office/drawing/2014/main" id="{6466072F-4A8F-3D2D-5ABB-6EC6EF9575A1}"/>
              </a:ext>
            </a:extLst>
          </p:cNvPr>
          <p:cNvSpPr/>
          <p:nvPr/>
        </p:nvSpPr>
        <p:spPr>
          <a:xfrm>
            <a:off x="1905750" y="3530245"/>
            <a:ext cx="540006"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defTabSz="342900"/>
            <a:r>
              <a:rPr lang="en-US" altLang="ja-JP" sz="1350" dirty="0">
                <a:solidFill>
                  <a:prstClr val="black"/>
                </a:solidFill>
                <a:latin typeface="Arial" panose="020B0604020202020204" pitchFamily="34" charset="0"/>
                <a:ea typeface="游ゴシック" panose="020B0400000000000000" pitchFamily="50" charset="-128"/>
                <a:cs typeface="Arial" panose="020B0604020202020204" pitchFamily="34" charset="0"/>
              </a:rPr>
              <a:t>...</a:t>
            </a:r>
            <a:endParaRPr lang="en-US" sz="1350" dirty="0">
              <a:solidFill>
                <a:prstClr val="black"/>
              </a:solidFill>
              <a:latin typeface="Times New Roman" panose="02020603050405020304" pitchFamily="18" charset="0"/>
              <a:cs typeface="Times New Roman" panose="02020603050405020304" pitchFamily="18" charset="0"/>
            </a:endParaRPr>
          </a:p>
        </p:txBody>
      </p:sp>
      <p:cxnSp>
        <p:nvCxnSpPr>
          <p:cNvPr id="172" name="直線コネクタ 171">
            <a:extLst>
              <a:ext uri="{FF2B5EF4-FFF2-40B4-BE49-F238E27FC236}">
                <a16:creationId xmlns:a16="http://schemas.microsoft.com/office/drawing/2014/main" id="{205CA371-A39C-D9FA-2CCB-66F754FF6688}"/>
              </a:ext>
            </a:extLst>
          </p:cNvPr>
          <p:cNvCxnSpPr>
            <a:cxnSpLocks/>
          </p:cNvCxnSpPr>
          <p:nvPr/>
        </p:nvCxnSpPr>
        <p:spPr>
          <a:xfrm>
            <a:off x="2243252" y="5049001"/>
            <a:ext cx="0" cy="202502"/>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173" name="正方形/長方形 172">
            <a:extLst>
              <a:ext uri="{FF2B5EF4-FFF2-40B4-BE49-F238E27FC236}">
                <a16:creationId xmlns:a16="http://schemas.microsoft.com/office/drawing/2014/main" id="{3A714261-311F-786A-5121-95E8A2A221D2}"/>
              </a:ext>
            </a:extLst>
          </p:cNvPr>
          <p:cNvSpPr/>
          <p:nvPr/>
        </p:nvSpPr>
        <p:spPr>
          <a:xfrm>
            <a:off x="2445755" y="4778997"/>
            <a:ext cx="337504"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defTabSz="342900"/>
            <a:r>
              <a:rPr lang="en-US" altLang="ja-JP" sz="750" dirty="0">
                <a:solidFill>
                  <a:prstClr val="black"/>
                </a:solidFill>
                <a:latin typeface="Arial" panose="020B0604020202020204" pitchFamily="34" charset="0"/>
                <a:ea typeface="游ゴシック" panose="020B0400000000000000" pitchFamily="50" charset="-128"/>
                <a:cs typeface="Arial" panose="020B0604020202020204" pitchFamily="34" charset="0"/>
              </a:rPr>
              <a:t>longest</a:t>
            </a:r>
            <a:endParaRPr lang="en-US" sz="750" dirty="0">
              <a:solidFill>
                <a:prstClr val="black"/>
              </a:solidFill>
              <a:latin typeface="Times New Roman" panose="02020603050405020304" pitchFamily="18" charset="0"/>
              <a:cs typeface="Times New Roman" panose="02020603050405020304" pitchFamily="18" charset="0"/>
            </a:endParaRPr>
          </a:p>
        </p:txBody>
      </p:sp>
      <p:sp>
        <p:nvSpPr>
          <p:cNvPr id="174" name="正方形/長方形 173">
            <a:extLst>
              <a:ext uri="{FF2B5EF4-FFF2-40B4-BE49-F238E27FC236}">
                <a16:creationId xmlns:a16="http://schemas.microsoft.com/office/drawing/2014/main" id="{C7C31A1A-1272-2827-E7F2-4455DD1253F2}"/>
              </a:ext>
            </a:extLst>
          </p:cNvPr>
          <p:cNvSpPr/>
          <p:nvPr/>
        </p:nvSpPr>
        <p:spPr>
          <a:xfrm>
            <a:off x="1770750" y="5082748"/>
            <a:ext cx="337504"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defTabSz="342900"/>
            <a:r>
              <a:rPr lang="en-US" altLang="ja-JP" sz="750" b="1" dirty="0">
                <a:solidFill>
                  <a:prstClr val="black"/>
                </a:solidFill>
                <a:latin typeface="Arial" panose="020B0604020202020204" pitchFamily="34" charset="0"/>
                <a:ea typeface="游ゴシック" panose="020B0400000000000000" pitchFamily="50" charset="-128"/>
                <a:cs typeface="Arial" panose="020B0604020202020204" pitchFamily="34" charset="0"/>
              </a:rPr>
              <a:t>Table out</a:t>
            </a:r>
            <a:endParaRPr lang="en-US" sz="750" b="1" dirty="0">
              <a:solidFill>
                <a:prstClr val="black"/>
              </a:solidFill>
              <a:latin typeface="Times New Roman" panose="02020603050405020304" pitchFamily="18" charset="0"/>
              <a:cs typeface="Times New Roman" panose="02020603050405020304" pitchFamily="18" charset="0"/>
            </a:endParaRPr>
          </a:p>
        </p:txBody>
      </p:sp>
      <p:sp>
        <p:nvSpPr>
          <p:cNvPr id="175" name="正方形/長方形 174">
            <a:extLst>
              <a:ext uri="{FF2B5EF4-FFF2-40B4-BE49-F238E27FC236}">
                <a16:creationId xmlns:a16="http://schemas.microsoft.com/office/drawing/2014/main" id="{F351066B-1B57-F3E9-C26C-8AB5F5DDDCE2}"/>
              </a:ext>
            </a:extLst>
          </p:cNvPr>
          <p:cNvSpPr/>
          <p:nvPr/>
        </p:nvSpPr>
        <p:spPr>
          <a:xfrm>
            <a:off x="1500750" y="3361495"/>
            <a:ext cx="540006"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[13:0]</a:t>
            </a:r>
            <a:endParaRPr lang="en-US" sz="825" dirty="0">
              <a:solidFill>
                <a:prstClr val="black"/>
              </a:solidFill>
              <a:latin typeface="Times New Roman" panose="02020603050405020304" pitchFamily="18" charset="0"/>
              <a:cs typeface="Times New Roman" panose="02020603050405020304" pitchFamily="18" charset="0"/>
            </a:endParaRPr>
          </a:p>
        </p:txBody>
      </p:sp>
      <p:cxnSp>
        <p:nvCxnSpPr>
          <p:cNvPr id="176" name="直線コネクタ 175">
            <a:extLst>
              <a:ext uri="{FF2B5EF4-FFF2-40B4-BE49-F238E27FC236}">
                <a16:creationId xmlns:a16="http://schemas.microsoft.com/office/drawing/2014/main" id="{1303E782-89CD-D45A-9027-DA2E0437B749}"/>
              </a:ext>
            </a:extLst>
          </p:cNvPr>
          <p:cNvCxnSpPr>
            <a:cxnSpLocks/>
            <a:endCxn id="144" idx="3"/>
          </p:cNvCxnSpPr>
          <p:nvPr/>
        </p:nvCxnSpPr>
        <p:spPr>
          <a:xfrm flipH="1">
            <a:off x="1222288" y="4340249"/>
            <a:ext cx="143462" cy="0"/>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177" name="Freeform 10">
            <a:extLst>
              <a:ext uri="{FF2B5EF4-FFF2-40B4-BE49-F238E27FC236}">
                <a16:creationId xmlns:a16="http://schemas.microsoft.com/office/drawing/2014/main" id="{006BF587-CE95-09F7-D143-E5B68FB1C8C1}"/>
              </a:ext>
            </a:extLst>
          </p:cNvPr>
          <p:cNvSpPr>
            <a:spLocks/>
          </p:cNvSpPr>
          <p:nvPr/>
        </p:nvSpPr>
        <p:spPr bwMode="auto">
          <a:xfrm rot="5400000" flipV="1">
            <a:off x="1196991" y="4171486"/>
            <a:ext cx="134998" cy="20252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sp>
        <p:nvSpPr>
          <p:cNvPr id="178" name="Freeform 10">
            <a:extLst>
              <a:ext uri="{FF2B5EF4-FFF2-40B4-BE49-F238E27FC236}">
                <a16:creationId xmlns:a16="http://schemas.microsoft.com/office/drawing/2014/main" id="{EA2F939D-67F9-05EA-0862-F4B24E65FD1F}"/>
              </a:ext>
            </a:extLst>
          </p:cNvPr>
          <p:cNvSpPr>
            <a:spLocks/>
          </p:cNvSpPr>
          <p:nvPr/>
        </p:nvSpPr>
        <p:spPr bwMode="auto">
          <a:xfrm rot="5400000" flipV="1">
            <a:off x="1669492" y="4373987"/>
            <a:ext cx="134999" cy="20252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sp>
        <p:nvSpPr>
          <p:cNvPr id="179" name="Freeform 10">
            <a:extLst>
              <a:ext uri="{FF2B5EF4-FFF2-40B4-BE49-F238E27FC236}">
                <a16:creationId xmlns:a16="http://schemas.microsoft.com/office/drawing/2014/main" id="{ABB26FA8-DC6B-15EF-9A32-67D2BBEF9910}"/>
              </a:ext>
            </a:extLst>
          </p:cNvPr>
          <p:cNvSpPr>
            <a:spLocks/>
          </p:cNvSpPr>
          <p:nvPr/>
        </p:nvSpPr>
        <p:spPr bwMode="auto">
          <a:xfrm rot="5400000" flipV="1">
            <a:off x="2479504" y="4576501"/>
            <a:ext cx="134996" cy="20249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cxnSp>
        <p:nvCxnSpPr>
          <p:cNvPr id="180" name="直線コネクタ 179">
            <a:extLst>
              <a:ext uri="{FF2B5EF4-FFF2-40B4-BE49-F238E27FC236}">
                <a16:creationId xmlns:a16="http://schemas.microsoft.com/office/drawing/2014/main" id="{3740F24A-C90A-60A5-E39D-563616EDDDC9}"/>
              </a:ext>
            </a:extLst>
          </p:cNvPr>
          <p:cNvCxnSpPr>
            <a:cxnSpLocks/>
          </p:cNvCxnSpPr>
          <p:nvPr/>
        </p:nvCxnSpPr>
        <p:spPr>
          <a:xfrm flipH="1">
            <a:off x="2513256" y="4745246"/>
            <a:ext cx="134993" cy="0"/>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181" name="正方形/長方形 180">
            <a:extLst>
              <a:ext uri="{FF2B5EF4-FFF2-40B4-BE49-F238E27FC236}">
                <a16:creationId xmlns:a16="http://schemas.microsoft.com/office/drawing/2014/main" id="{3E9D8510-B1F1-1D75-8DDB-50D541AD43CA}"/>
              </a:ext>
            </a:extLst>
          </p:cNvPr>
          <p:cNvSpPr/>
          <p:nvPr/>
        </p:nvSpPr>
        <p:spPr>
          <a:xfrm>
            <a:off x="1500747" y="4880233"/>
            <a:ext cx="135002"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defTabSz="342900"/>
            <a:r>
              <a:rPr lang="en-US" altLang="ja-JP" sz="750" dirty="0">
                <a:solidFill>
                  <a:prstClr val="black"/>
                </a:solidFill>
                <a:latin typeface="Arial" panose="020B0604020202020204" pitchFamily="34" charset="0"/>
                <a:ea typeface="游ゴシック" panose="020B0400000000000000" pitchFamily="50" charset="-128"/>
                <a:cs typeface="Arial" panose="020B0604020202020204" pitchFamily="34" charset="0"/>
              </a:rPr>
              <a:t>Use alt</a:t>
            </a:r>
            <a:endParaRPr lang="en-US" sz="750" dirty="0">
              <a:solidFill>
                <a:prstClr val="black"/>
              </a:solidFill>
              <a:latin typeface="Times New Roman" panose="02020603050405020304" pitchFamily="18" charset="0"/>
              <a:cs typeface="Times New Roman" panose="02020603050405020304" pitchFamily="18" charset="0"/>
            </a:endParaRPr>
          </a:p>
        </p:txBody>
      </p:sp>
      <p:cxnSp>
        <p:nvCxnSpPr>
          <p:cNvPr id="182" name="直線コネクタ 181">
            <a:extLst>
              <a:ext uri="{FF2B5EF4-FFF2-40B4-BE49-F238E27FC236}">
                <a16:creationId xmlns:a16="http://schemas.microsoft.com/office/drawing/2014/main" id="{9476EE21-ECED-554B-B7C5-10070EB66C58}"/>
              </a:ext>
            </a:extLst>
          </p:cNvPr>
          <p:cNvCxnSpPr>
            <a:cxnSpLocks/>
          </p:cNvCxnSpPr>
          <p:nvPr/>
        </p:nvCxnSpPr>
        <p:spPr>
          <a:xfrm>
            <a:off x="1703247" y="5015234"/>
            <a:ext cx="345939" cy="18"/>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183" name="正方形/長方形 182">
            <a:extLst>
              <a:ext uri="{FF2B5EF4-FFF2-40B4-BE49-F238E27FC236}">
                <a16:creationId xmlns:a16="http://schemas.microsoft.com/office/drawing/2014/main" id="{DF593F2B-3892-A6BB-8281-0C74CDAF9F77}"/>
              </a:ext>
            </a:extLst>
          </p:cNvPr>
          <p:cNvSpPr/>
          <p:nvPr/>
        </p:nvSpPr>
        <p:spPr>
          <a:xfrm>
            <a:off x="2179724" y="3361492"/>
            <a:ext cx="540006"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[4</a:t>
            </a:r>
            <a:r>
              <a:rPr kumimoji="0"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315</a:t>
            </a:r>
            <a:r>
              <a:rPr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:0]</a:t>
            </a:r>
            <a:endParaRPr lang="en-US" sz="825" dirty="0">
              <a:solidFill>
                <a:prstClr val="black"/>
              </a:solidFill>
              <a:latin typeface="Times New Roman" panose="02020603050405020304" pitchFamily="18" charset="0"/>
              <a:cs typeface="Times New Roman" panose="02020603050405020304" pitchFamily="18" charset="0"/>
            </a:endParaRPr>
          </a:p>
        </p:txBody>
      </p:sp>
      <p:cxnSp>
        <p:nvCxnSpPr>
          <p:cNvPr id="184" name="直線コネクタ 183">
            <a:extLst>
              <a:ext uri="{FF2B5EF4-FFF2-40B4-BE49-F238E27FC236}">
                <a16:creationId xmlns:a16="http://schemas.microsoft.com/office/drawing/2014/main" id="{EE4C44E6-5C47-9C11-57E0-63EA434870C7}"/>
              </a:ext>
            </a:extLst>
          </p:cNvPr>
          <p:cNvCxnSpPr>
            <a:cxnSpLocks/>
          </p:cNvCxnSpPr>
          <p:nvPr/>
        </p:nvCxnSpPr>
        <p:spPr>
          <a:xfrm flipH="1">
            <a:off x="1703250" y="4542749"/>
            <a:ext cx="135000" cy="0"/>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185" name="正方形/長方形 184">
            <a:extLst>
              <a:ext uri="{FF2B5EF4-FFF2-40B4-BE49-F238E27FC236}">
                <a16:creationId xmlns:a16="http://schemas.microsoft.com/office/drawing/2014/main" id="{685A0972-6705-922A-64DE-CCD2A361EFA5}"/>
              </a:ext>
            </a:extLst>
          </p:cNvPr>
          <p:cNvSpPr/>
          <p:nvPr/>
        </p:nvSpPr>
        <p:spPr>
          <a:xfrm>
            <a:off x="960750" y="3833999"/>
            <a:ext cx="405000" cy="270012"/>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r>
              <a:rPr kumimoji="0"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Tagged</a:t>
            </a:r>
            <a:br>
              <a:rPr kumimoji="0"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br>
            <a:r>
              <a:rPr kumimoji="0"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table</a:t>
            </a:r>
          </a:p>
        </p:txBody>
      </p:sp>
      <p:sp>
        <p:nvSpPr>
          <p:cNvPr id="186" name="正方形/長方形 185">
            <a:extLst>
              <a:ext uri="{FF2B5EF4-FFF2-40B4-BE49-F238E27FC236}">
                <a16:creationId xmlns:a16="http://schemas.microsoft.com/office/drawing/2014/main" id="{C744C5B7-443A-65FA-DCFF-3D0CB4A8996A}"/>
              </a:ext>
            </a:extLst>
          </p:cNvPr>
          <p:cNvSpPr/>
          <p:nvPr/>
        </p:nvSpPr>
        <p:spPr>
          <a:xfrm>
            <a:off x="1433250" y="3833999"/>
            <a:ext cx="405000" cy="270012"/>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r>
              <a:rPr kumimoji="0"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Tagged</a:t>
            </a:r>
            <a:br>
              <a:rPr kumimoji="0"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br>
            <a:r>
              <a:rPr kumimoji="0"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table</a:t>
            </a:r>
          </a:p>
        </p:txBody>
      </p:sp>
      <p:sp>
        <p:nvSpPr>
          <p:cNvPr id="187" name="正方形/長方形 186">
            <a:extLst>
              <a:ext uri="{FF2B5EF4-FFF2-40B4-BE49-F238E27FC236}">
                <a16:creationId xmlns:a16="http://schemas.microsoft.com/office/drawing/2014/main" id="{FDAF47B6-E2C3-6484-A6E8-160F4088E6AD}"/>
              </a:ext>
            </a:extLst>
          </p:cNvPr>
          <p:cNvSpPr/>
          <p:nvPr/>
        </p:nvSpPr>
        <p:spPr>
          <a:xfrm>
            <a:off x="2243250" y="3833999"/>
            <a:ext cx="405000" cy="270012"/>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r>
              <a:rPr kumimoji="0"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Tagged</a:t>
            </a:r>
            <a:br>
              <a:rPr kumimoji="0"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br>
            <a:r>
              <a:rPr kumimoji="0"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table</a:t>
            </a:r>
          </a:p>
        </p:txBody>
      </p:sp>
      <p:sp>
        <p:nvSpPr>
          <p:cNvPr id="188" name="正方形/長方形 187">
            <a:extLst>
              <a:ext uri="{FF2B5EF4-FFF2-40B4-BE49-F238E27FC236}">
                <a16:creationId xmlns:a16="http://schemas.microsoft.com/office/drawing/2014/main" id="{58218F4A-4BCF-EBA4-F015-BE31BE4483F8}"/>
              </a:ext>
            </a:extLst>
          </p:cNvPr>
          <p:cNvSpPr/>
          <p:nvPr/>
        </p:nvSpPr>
        <p:spPr>
          <a:xfrm>
            <a:off x="1973250" y="3833998"/>
            <a:ext cx="270003"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defTabSz="342900"/>
            <a:r>
              <a:rPr lang="en-US" altLang="ja-JP" sz="1350" dirty="0">
                <a:solidFill>
                  <a:prstClr val="black"/>
                </a:solidFill>
                <a:latin typeface="Arial" panose="020B0604020202020204" pitchFamily="34" charset="0"/>
                <a:ea typeface="游ゴシック" panose="020B0400000000000000" pitchFamily="50" charset="-128"/>
                <a:cs typeface="Arial" panose="020B0604020202020204" pitchFamily="34" charset="0"/>
              </a:rPr>
              <a:t>...</a:t>
            </a:r>
            <a:endParaRPr lang="en-US" sz="1350" dirty="0">
              <a:solidFill>
                <a:prstClr val="black"/>
              </a:solidFill>
              <a:latin typeface="Times New Roman" panose="02020603050405020304" pitchFamily="18" charset="0"/>
              <a:cs typeface="Times New Roman" panose="02020603050405020304" pitchFamily="18" charset="0"/>
            </a:endParaRPr>
          </a:p>
        </p:txBody>
      </p:sp>
      <p:sp>
        <p:nvSpPr>
          <p:cNvPr id="189" name="正方形/長方形 188">
            <a:extLst>
              <a:ext uri="{FF2B5EF4-FFF2-40B4-BE49-F238E27FC236}">
                <a16:creationId xmlns:a16="http://schemas.microsoft.com/office/drawing/2014/main" id="{7D1F7A39-313B-061A-04B8-D43B2B4E9F4F}"/>
              </a:ext>
            </a:extLst>
          </p:cNvPr>
          <p:cNvSpPr/>
          <p:nvPr/>
        </p:nvSpPr>
        <p:spPr>
          <a:xfrm>
            <a:off x="3154491" y="3563986"/>
            <a:ext cx="270003"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PC</a:t>
            </a:r>
            <a:endParaRPr lang="en-US" sz="825" dirty="0">
              <a:solidFill>
                <a:prstClr val="black"/>
              </a:solidFill>
              <a:latin typeface="Times New Roman" panose="02020603050405020304" pitchFamily="18" charset="0"/>
              <a:cs typeface="Times New Roman" panose="02020603050405020304" pitchFamily="18" charset="0"/>
            </a:endParaRPr>
          </a:p>
        </p:txBody>
      </p:sp>
      <p:cxnSp>
        <p:nvCxnSpPr>
          <p:cNvPr id="190" name="直線矢印コネクタ 189">
            <a:extLst>
              <a:ext uri="{FF2B5EF4-FFF2-40B4-BE49-F238E27FC236}">
                <a16:creationId xmlns:a16="http://schemas.microsoft.com/office/drawing/2014/main" id="{6815EE92-43C6-A0EA-5723-0D3A6A4E22AF}"/>
              </a:ext>
            </a:extLst>
          </p:cNvPr>
          <p:cNvCxnSpPr>
            <a:cxnSpLocks/>
          </p:cNvCxnSpPr>
          <p:nvPr/>
        </p:nvCxnSpPr>
        <p:spPr>
          <a:xfrm>
            <a:off x="4032002" y="4373995"/>
            <a:ext cx="0" cy="135002"/>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191" name="正方形/長方形 190">
            <a:extLst>
              <a:ext uri="{FF2B5EF4-FFF2-40B4-BE49-F238E27FC236}">
                <a16:creationId xmlns:a16="http://schemas.microsoft.com/office/drawing/2014/main" id="{3631DAC4-A0FB-7388-0836-FF69B85BB499}"/>
              </a:ext>
            </a:extLst>
          </p:cNvPr>
          <p:cNvSpPr/>
          <p:nvPr/>
        </p:nvSpPr>
        <p:spPr>
          <a:xfrm>
            <a:off x="3829499" y="4508997"/>
            <a:ext cx="405005" cy="135002"/>
          </a:xfrm>
          <a:prstGeom prst="rect">
            <a:avLst/>
          </a:prstGeom>
          <a:solidFill>
            <a:schemeClr val="bg1"/>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r>
              <a:rPr kumimoji="0" lang="en-US" altLang="ja-JP" sz="750" dirty="0">
                <a:solidFill>
                  <a:prstClr val="black"/>
                </a:solidFill>
                <a:latin typeface="Arial" panose="020B0604020202020204" pitchFamily="34" charset="0"/>
                <a:ea typeface="游ゴシック" panose="020B0400000000000000" pitchFamily="50" charset="-128"/>
                <a:cs typeface="Arial" panose="020B0604020202020204" pitchFamily="34" charset="0"/>
              </a:rPr>
              <a:t>x1 or </a:t>
            </a:r>
            <a:r>
              <a:rPr kumimoji="0" lang="en-US" altLang="ja-JP" sz="750" dirty="0" err="1">
                <a:solidFill>
                  <a:prstClr val="black"/>
                </a:solidFill>
                <a:latin typeface="Arial" panose="020B0604020202020204" pitchFamily="34" charset="0"/>
                <a:ea typeface="游ゴシック" panose="020B0400000000000000" pitchFamily="50" charset="-128"/>
                <a:cs typeface="Arial" panose="020B0604020202020204" pitchFamily="34" charset="0"/>
              </a:rPr>
              <a:t>x</a:t>
            </a:r>
            <a:r>
              <a:rPr kumimoji="0" lang="en-US" altLang="ja-JP" sz="750" u="sng" dirty="0" err="1">
                <a:solidFill>
                  <a:prstClr val="black"/>
                </a:solidFill>
                <a:latin typeface="Arial" panose="020B0604020202020204" pitchFamily="34" charset="0"/>
                <a:ea typeface="游ゴシック" panose="020B0400000000000000" pitchFamily="50" charset="-128"/>
                <a:cs typeface="Arial" panose="020B0604020202020204" pitchFamily="34" charset="0"/>
              </a:rPr>
              <a:t>M</a:t>
            </a:r>
            <a:endParaRPr kumimoji="0" lang="ja-JP" altLang="en-US" sz="750" u="sng" dirty="0">
              <a:solidFill>
                <a:prstClr val="black"/>
              </a:solidFill>
              <a:latin typeface="Arial" panose="020B0604020202020204" pitchFamily="34" charset="0"/>
              <a:ea typeface="游ゴシック" panose="020B0400000000000000" pitchFamily="50" charset="-128"/>
              <a:cs typeface="Arial" panose="020B0604020202020204" pitchFamily="34" charset="0"/>
            </a:endParaRPr>
          </a:p>
        </p:txBody>
      </p:sp>
      <p:sp>
        <p:nvSpPr>
          <p:cNvPr id="256" name="正方形/長方形 255">
            <a:extLst>
              <a:ext uri="{FF2B5EF4-FFF2-40B4-BE49-F238E27FC236}">
                <a16:creationId xmlns:a16="http://schemas.microsoft.com/office/drawing/2014/main" id="{26E1C8D2-32D8-FD35-BC51-3574817CC999}"/>
              </a:ext>
            </a:extLst>
          </p:cNvPr>
          <p:cNvSpPr/>
          <p:nvPr/>
        </p:nvSpPr>
        <p:spPr>
          <a:xfrm>
            <a:off x="3086990" y="3833990"/>
            <a:ext cx="405005" cy="270003"/>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r>
              <a:rPr kumimoji="0" lang="en-US" altLang="ja-JP" sz="750" dirty="0">
                <a:solidFill>
                  <a:prstClr val="black"/>
                </a:solidFill>
                <a:latin typeface="Arial" panose="020B0604020202020204" pitchFamily="34" charset="0"/>
                <a:ea typeface="游ゴシック" panose="020B0400000000000000" pitchFamily="50" charset="-128"/>
                <a:cs typeface="Arial" panose="020B0604020202020204" pitchFamily="34" charset="0"/>
              </a:rPr>
              <a:t>UT</a:t>
            </a:r>
            <a:endParaRPr kumimoji="0" lang="ja-JP" altLang="en-US" sz="750" dirty="0">
              <a:solidFill>
                <a:prstClr val="black"/>
              </a:solidFill>
              <a:latin typeface="Arial" panose="020B0604020202020204" pitchFamily="34" charset="0"/>
              <a:ea typeface="游ゴシック" panose="020B0400000000000000" pitchFamily="50" charset="-128"/>
              <a:cs typeface="Arial" panose="020B0604020202020204" pitchFamily="34" charset="0"/>
            </a:endParaRPr>
          </a:p>
        </p:txBody>
      </p:sp>
      <p:sp>
        <p:nvSpPr>
          <p:cNvPr id="257" name="Freeform 10">
            <a:extLst>
              <a:ext uri="{FF2B5EF4-FFF2-40B4-BE49-F238E27FC236}">
                <a16:creationId xmlns:a16="http://schemas.microsoft.com/office/drawing/2014/main" id="{67CBCB58-76E2-CCD2-36D5-B796E41B1629}"/>
              </a:ext>
            </a:extLst>
          </p:cNvPr>
          <p:cNvSpPr>
            <a:spLocks/>
          </p:cNvSpPr>
          <p:nvPr/>
        </p:nvSpPr>
        <p:spPr bwMode="auto">
          <a:xfrm>
            <a:off x="3289493" y="4103993"/>
            <a:ext cx="540007" cy="4725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cxnSp>
        <p:nvCxnSpPr>
          <p:cNvPr id="258" name="直線矢印コネクタ 257">
            <a:extLst>
              <a:ext uri="{FF2B5EF4-FFF2-40B4-BE49-F238E27FC236}">
                <a16:creationId xmlns:a16="http://schemas.microsoft.com/office/drawing/2014/main" id="{5EC9EB57-D64E-7254-3AF0-C5777842A33E}"/>
              </a:ext>
            </a:extLst>
          </p:cNvPr>
          <p:cNvCxnSpPr>
            <a:cxnSpLocks/>
          </p:cNvCxnSpPr>
          <p:nvPr/>
        </p:nvCxnSpPr>
        <p:spPr>
          <a:xfrm>
            <a:off x="5449500" y="5082748"/>
            <a:ext cx="0" cy="135002"/>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261" name="正方形/長方形 260">
            <a:extLst>
              <a:ext uri="{FF2B5EF4-FFF2-40B4-BE49-F238E27FC236}">
                <a16:creationId xmlns:a16="http://schemas.microsoft.com/office/drawing/2014/main" id="{2B96A664-E3CE-DA69-4505-F0DB55F70FB1}"/>
              </a:ext>
            </a:extLst>
          </p:cNvPr>
          <p:cNvSpPr/>
          <p:nvPr/>
        </p:nvSpPr>
        <p:spPr>
          <a:xfrm>
            <a:off x="3289493" y="4441496"/>
            <a:ext cx="540006"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Useful</a:t>
            </a:r>
            <a:endParaRPr lang="en-US" sz="825" dirty="0">
              <a:solidFill>
                <a:prstClr val="black"/>
              </a:solidFill>
              <a:latin typeface="Times New Roman" panose="02020603050405020304" pitchFamily="18" charset="0"/>
              <a:cs typeface="Times New Roman" panose="02020603050405020304" pitchFamily="18" charset="0"/>
            </a:endParaRPr>
          </a:p>
        </p:txBody>
      </p:sp>
      <p:cxnSp>
        <p:nvCxnSpPr>
          <p:cNvPr id="262" name="直線矢印コネクタ 261">
            <a:extLst>
              <a:ext uri="{FF2B5EF4-FFF2-40B4-BE49-F238E27FC236}">
                <a16:creationId xmlns:a16="http://schemas.microsoft.com/office/drawing/2014/main" id="{AE1F306D-C93E-0BE2-5BAB-331E39F884D2}"/>
              </a:ext>
            </a:extLst>
          </p:cNvPr>
          <p:cNvCxnSpPr>
            <a:cxnSpLocks/>
          </p:cNvCxnSpPr>
          <p:nvPr/>
        </p:nvCxnSpPr>
        <p:spPr>
          <a:xfrm>
            <a:off x="3289493" y="3698988"/>
            <a:ext cx="0" cy="135002"/>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263" name="正方形/長方形 262">
            <a:extLst>
              <a:ext uri="{FF2B5EF4-FFF2-40B4-BE49-F238E27FC236}">
                <a16:creationId xmlns:a16="http://schemas.microsoft.com/office/drawing/2014/main" id="{5D2E6AEA-4208-1D8A-299A-A321E063E91D}"/>
              </a:ext>
            </a:extLst>
          </p:cNvPr>
          <p:cNvSpPr/>
          <p:nvPr/>
        </p:nvSpPr>
        <p:spPr>
          <a:xfrm>
            <a:off x="3559496" y="3833990"/>
            <a:ext cx="270003" cy="270003"/>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r>
              <a:rPr kumimoji="0" lang="en-US" altLang="ja-JP" sz="750" dirty="0">
                <a:solidFill>
                  <a:prstClr val="black"/>
                </a:solidFill>
                <a:latin typeface="Arial" panose="020B0604020202020204" pitchFamily="34" charset="0"/>
                <a:ea typeface="游ゴシック" panose="020B0400000000000000" pitchFamily="50" charset="-128"/>
                <a:cs typeface="Arial" panose="020B0604020202020204" pitchFamily="34" charset="0"/>
              </a:rPr>
              <a:t>WT0</a:t>
            </a:r>
            <a:endParaRPr kumimoji="0" lang="ja-JP" altLang="en-US" sz="750" dirty="0">
              <a:solidFill>
                <a:prstClr val="black"/>
              </a:solidFill>
              <a:latin typeface="Arial" panose="020B0604020202020204" pitchFamily="34" charset="0"/>
              <a:ea typeface="游ゴシック" panose="020B0400000000000000" pitchFamily="50" charset="-128"/>
              <a:cs typeface="Arial" panose="020B0604020202020204" pitchFamily="34" charset="0"/>
            </a:endParaRPr>
          </a:p>
        </p:txBody>
      </p:sp>
      <p:sp>
        <p:nvSpPr>
          <p:cNvPr id="264" name="正方形/長方形 263">
            <a:extLst>
              <a:ext uri="{FF2B5EF4-FFF2-40B4-BE49-F238E27FC236}">
                <a16:creationId xmlns:a16="http://schemas.microsoft.com/office/drawing/2014/main" id="{9139F120-0FC0-9A97-5BCB-81BA3B081FD4}"/>
              </a:ext>
            </a:extLst>
          </p:cNvPr>
          <p:cNvSpPr/>
          <p:nvPr/>
        </p:nvSpPr>
        <p:spPr>
          <a:xfrm>
            <a:off x="3897000" y="3833990"/>
            <a:ext cx="270003" cy="270003"/>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r>
              <a:rPr kumimoji="0" lang="en-US" altLang="ja-JP" sz="750" dirty="0">
                <a:solidFill>
                  <a:prstClr val="black"/>
                </a:solidFill>
                <a:latin typeface="Arial" panose="020B0604020202020204" pitchFamily="34" charset="0"/>
                <a:ea typeface="游ゴシック" panose="020B0400000000000000" pitchFamily="50" charset="-128"/>
                <a:cs typeface="Arial" panose="020B0604020202020204" pitchFamily="34" charset="0"/>
              </a:rPr>
              <a:t>WT1</a:t>
            </a:r>
            <a:endParaRPr kumimoji="0" lang="ja-JP" altLang="en-US" sz="750" dirty="0">
              <a:solidFill>
                <a:prstClr val="black"/>
              </a:solidFill>
              <a:latin typeface="Arial" panose="020B0604020202020204" pitchFamily="34" charset="0"/>
              <a:ea typeface="游ゴシック" panose="020B0400000000000000" pitchFamily="50" charset="-128"/>
              <a:cs typeface="Arial" panose="020B0604020202020204" pitchFamily="34" charset="0"/>
            </a:endParaRPr>
          </a:p>
        </p:txBody>
      </p:sp>
      <p:sp>
        <p:nvSpPr>
          <p:cNvPr id="265" name="正方形/長方形 264">
            <a:extLst>
              <a:ext uri="{FF2B5EF4-FFF2-40B4-BE49-F238E27FC236}">
                <a16:creationId xmlns:a16="http://schemas.microsoft.com/office/drawing/2014/main" id="{4B859FC2-76D6-FEBD-DFE3-E57940FB3AE1}"/>
              </a:ext>
            </a:extLst>
          </p:cNvPr>
          <p:cNvSpPr/>
          <p:nvPr/>
        </p:nvSpPr>
        <p:spPr>
          <a:xfrm>
            <a:off x="4437005" y="3833990"/>
            <a:ext cx="270003" cy="270003"/>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r>
              <a:rPr kumimoji="0" lang="en-US" altLang="ja-JP" sz="750" dirty="0">
                <a:solidFill>
                  <a:prstClr val="black"/>
                </a:solidFill>
                <a:latin typeface="Arial" panose="020B0604020202020204" pitchFamily="34" charset="0"/>
                <a:ea typeface="游ゴシック" panose="020B0400000000000000" pitchFamily="50" charset="-128"/>
                <a:cs typeface="Arial" panose="020B0604020202020204" pitchFamily="34" charset="0"/>
              </a:rPr>
              <a:t>WT</a:t>
            </a:r>
            <a:r>
              <a:rPr kumimoji="0" lang="en-US" altLang="ja-JP" sz="750" u="sng" dirty="0">
                <a:solidFill>
                  <a:prstClr val="black"/>
                </a:solidFill>
                <a:latin typeface="Arial" panose="020B0604020202020204" pitchFamily="34" charset="0"/>
                <a:ea typeface="游ゴシック" panose="020B0400000000000000" pitchFamily="50" charset="-128"/>
                <a:cs typeface="Arial" panose="020B0604020202020204" pitchFamily="34" charset="0"/>
              </a:rPr>
              <a:t>N</a:t>
            </a:r>
            <a:endParaRPr kumimoji="0" lang="ja-JP" altLang="en-US" sz="750" u="sng" dirty="0">
              <a:solidFill>
                <a:prstClr val="black"/>
              </a:solidFill>
              <a:latin typeface="Arial" panose="020B0604020202020204" pitchFamily="34" charset="0"/>
              <a:ea typeface="游ゴシック" panose="020B0400000000000000" pitchFamily="50" charset="-128"/>
              <a:cs typeface="Arial" panose="020B0604020202020204" pitchFamily="34" charset="0"/>
            </a:endParaRPr>
          </a:p>
        </p:txBody>
      </p:sp>
      <p:sp>
        <p:nvSpPr>
          <p:cNvPr id="266" name="四角形: 角を丸くする 265">
            <a:extLst>
              <a:ext uri="{FF2B5EF4-FFF2-40B4-BE49-F238E27FC236}">
                <a16:creationId xmlns:a16="http://schemas.microsoft.com/office/drawing/2014/main" id="{9AE0EABD-181A-1A98-5B63-DEC750F39F92}"/>
              </a:ext>
            </a:extLst>
          </p:cNvPr>
          <p:cNvSpPr/>
          <p:nvPr/>
        </p:nvSpPr>
        <p:spPr>
          <a:xfrm>
            <a:off x="3897000" y="4238994"/>
            <a:ext cx="270003" cy="135002"/>
          </a:xfrm>
          <a:prstGeom prst="roundRect">
            <a:avLst>
              <a:gd name="adj" fmla="val 11375"/>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Σ</a:t>
            </a:r>
            <a:endParaRPr lang="en-US" sz="825" dirty="0">
              <a:solidFill>
                <a:prstClr val="black"/>
              </a:solidFill>
              <a:latin typeface="Arial" panose="020B0604020202020204" pitchFamily="34" charset="0"/>
              <a:cs typeface="Arial" panose="020B0604020202020204" pitchFamily="34" charset="0"/>
            </a:endParaRPr>
          </a:p>
        </p:txBody>
      </p:sp>
      <p:sp>
        <p:nvSpPr>
          <p:cNvPr id="267" name="Freeform 10">
            <a:extLst>
              <a:ext uri="{FF2B5EF4-FFF2-40B4-BE49-F238E27FC236}">
                <a16:creationId xmlns:a16="http://schemas.microsoft.com/office/drawing/2014/main" id="{C732D85C-DB49-5C19-86BB-3C202C3E2907}"/>
              </a:ext>
            </a:extLst>
          </p:cNvPr>
          <p:cNvSpPr>
            <a:spLocks/>
          </p:cNvSpPr>
          <p:nvPr/>
        </p:nvSpPr>
        <p:spPr bwMode="auto">
          <a:xfrm>
            <a:off x="3694497" y="4103993"/>
            <a:ext cx="270004" cy="6750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cxnSp>
        <p:nvCxnSpPr>
          <p:cNvPr id="268" name="直線矢印コネクタ 267">
            <a:extLst>
              <a:ext uri="{FF2B5EF4-FFF2-40B4-BE49-F238E27FC236}">
                <a16:creationId xmlns:a16="http://schemas.microsoft.com/office/drawing/2014/main" id="{3348AB6D-CC95-B9AE-0982-F4701F60A21C}"/>
              </a:ext>
            </a:extLst>
          </p:cNvPr>
          <p:cNvCxnSpPr>
            <a:cxnSpLocks/>
          </p:cNvCxnSpPr>
          <p:nvPr/>
        </p:nvCxnSpPr>
        <p:spPr>
          <a:xfrm>
            <a:off x="3964501" y="4171494"/>
            <a:ext cx="0" cy="67501"/>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cxnSp>
        <p:nvCxnSpPr>
          <p:cNvPr id="269" name="直線矢印コネクタ 268">
            <a:extLst>
              <a:ext uri="{FF2B5EF4-FFF2-40B4-BE49-F238E27FC236}">
                <a16:creationId xmlns:a16="http://schemas.microsoft.com/office/drawing/2014/main" id="{584589EE-6568-9EEF-B132-081E81AC1B35}"/>
              </a:ext>
            </a:extLst>
          </p:cNvPr>
          <p:cNvCxnSpPr>
            <a:cxnSpLocks/>
            <a:endCxn id="266" idx="0"/>
          </p:cNvCxnSpPr>
          <p:nvPr/>
        </p:nvCxnSpPr>
        <p:spPr>
          <a:xfrm>
            <a:off x="4032002" y="4103992"/>
            <a:ext cx="0" cy="135002"/>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270" name="Freeform 10">
            <a:extLst>
              <a:ext uri="{FF2B5EF4-FFF2-40B4-BE49-F238E27FC236}">
                <a16:creationId xmlns:a16="http://schemas.microsoft.com/office/drawing/2014/main" id="{1D58274E-4EAE-4D59-508B-6AC0FB950787}"/>
              </a:ext>
            </a:extLst>
          </p:cNvPr>
          <p:cNvSpPr>
            <a:spLocks/>
          </p:cNvSpPr>
          <p:nvPr/>
        </p:nvSpPr>
        <p:spPr bwMode="auto">
          <a:xfrm flipH="1">
            <a:off x="4099501" y="4103993"/>
            <a:ext cx="472505" cy="6750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cxnSp>
        <p:nvCxnSpPr>
          <p:cNvPr id="192" name="直線矢印コネクタ 191">
            <a:extLst>
              <a:ext uri="{FF2B5EF4-FFF2-40B4-BE49-F238E27FC236}">
                <a16:creationId xmlns:a16="http://schemas.microsoft.com/office/drawing/2014/main" id="{923F1ECD-D21C-517D-4A59-C478A2133B47}"/>
              </a:ext>
            </a:extLst>
          </p:cNvPr>
          <p:cNvCxnSpPr>
            <a:cxnSpLocks/>
          </p:cNvCxnSpPr>
          <p:nvPr/>
        </p:nvCxnSpPr>
        <p:spPr>
          <a:xfrm>
            <a:off x="4099502" y="4171494"/>
            <a:ext cx="0" cy="67501"/>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cxnSp>
        <p:nvCxnSpPr>
          <p:cNvPr id="193" name="直線矢印コネクタ 192">
            <a:extLst>
              <a:ext uri="{FF2B5EF4-FFF2-40B4-BE49-F238E27FC236}">
                <a16:creationId xmlns:a16="http://schemas.microsoft.com/office/drawing/2014/main" id="{CA7271CA-E064-E19B-2D4D-5FB1731C6770}"/>
              </a:ext>
            </a:extLst>
          </p:cNvPr>
          <p:cNvCxnSpPr>
            <a:cxnSpLocks/>
          </p:cNvCxnSpPr>
          <p:nvPr/>
        </p:nvCxnSpPr>
        <p:spPr>
          <a:xfrm>
            <a:off x="3694497" y="3698988"/>
            <a:ext cx="0" cy="135002"/>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194" name="四角形: 角を丸くする 193">
            <a:extLst>
              <a:ext uri="{FF2B5EF4-FFF2-40B4-BE49-F238E27FC236}">
                <a16:creationId xmlns:a16="http://schemas.microsoft.com/office/drawing/2014/main" id="{CCAD3A09-AD47-5A8E-4EE1-CFFCB6005203}"/>
              </a:ext>
            </a:extLst>
          </p:cNvPr>
          <p:cNvSpPr/>
          <p:nvPr/>
        </p:nvSpPr>
        <p:spPr>
          <a:xfrm>
            <a:off x="3626996" y="3563986"/>
            <a:ext cx="135002" cy="135002"/>
          </a:xfrm>
          <a:prstGeom prst="roundRect">
            <a:avLst>
              <a:gd name="adj" fmla="val 11375"/>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sz="825" dirty="0">
                <a:solidFill>
                  <a:prstClr val="black"/>
                </a:solidFill>
                <a:latin typeface="Arial" panose="020B0604020202020204" pitchFamily="34" charset="0"/>
                <a:cs typeface="Arial" panose="020B0604020202020204" pitchFamily="34" charset="0"/>
              </a:rPr>
              <a:t>h0</a:t>
            </a:r>
          </a:p>
        </p:txBody>
      </p:sp>
      <p:cxnSp>
        <p:nvCxnSpPr>
          <p:cNvPr id="195" name="直線矢印コネクタ 194">
            <a:extLst>
              <a:ext uri="{FF2B5EF4-FFF2-40B4-BE49-F238E27FC236}">
                <a16:creationId xmlns:a16="http://schemas.microsoft.com/office/drawing/2014/main" id="{9D73AFAC-59F8-D05D-AB7E-3FEBAC81537D}"/>
              </a:ext>
            </a:extLst>
          </p:cNvPr>
          <p:cNvCxnSpPr>
            <a:cxnSpLocks/>
          </p:cNvCxnSpPr>
          <p:nvPr/>
        </p:nvCxnSpPr>
        <p:spPr>
          <a:xfrm>
            <a:off x="4032001" y="3698988"/>
            <a:ext cx="0" cy="135002"/>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196" name="四角形: 角を丸くする 195">
            <a:extLst>
              <a:ext uri="{FF2B5EF4-FFF2-40B4-BE49-F238E27FC236}">
                <a16:creationId xmlns:a16="http://schemas.microsoft.com/office/drawing/2014/main" id="{E4A2FDA2-9E0D-52E4-9864-06D9DC867725}"/>
              </a:ext>
            </a:extLst>
          </p:cNvPr>
          <p:cNvSpPr/>
          <p:nvPr/>
        </p:nvSpPr>
        <p:spPr>
          <a:xfrm>
            <a:off x="3964500" y="3563986"/>
            <a:ext cx="135002" cy="135002"/>
          </a:xfrm>
          <a:prstGeom prst="roundRect">
            <a:avLst>
              <a:gd name="adj" fmla="val 11375"/>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sz="825" dirty="0">
                <a:solidFill>
                  <a:prstClr val="black"/>
                </a:solidFill>
                <a:latin typeface="Arial" panose="020B0604020202020204" pitchFamily="34" charset="0"/>
                <a:cs typeface="Arial" panose="020B0604020202020204" pitchFamily="34" charset="0"/>
              </a:rPr>
              <a:t>h1</a:t>
            </a:r>
          </a:p>
        </p:txBody>
      </p:sp>
      <p:sp>
        <p:nvSpPr>
          <p:cNvPr id="197" name="正方形/長方形 196">
            <a:extLst>
              <a:ext uri="{FF2B5EF4-FFF2-40B4-BE49-F238E27FC236}">
                <a16:creationId xmlns:a16="http://schemas.microsoft.com/office/drawing/2014/main" id="{759D6D52-EC64-74AA-045A-4E6391715CC5}"/>
              </a:ext>
            </a:extLst>
          </p:cNvPr>
          <p:cNvSpPr/>
          <p:nvPr/>
        </p:nvSpPr>
        <p:spPr>
          <a:xfrm>
            <a:off x="4167002" y="3833989"/>
            <a:ext cx="540006"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defTabSz="342900"/>
            <a:r>
              <a:rPr lang="en-US" altLang="ja-JP" sz="1350" dirty="0">
                <a:solidFill>
                  <a:prstClr val="black"/>
                </a:solidFill>
                <a:latin typeface="Arial" panose="020B0604020202020204" pitchFamily="34" charset="0"/>
                <a:ea typeface="游ゴシック" panose="020B0400000000000000" pitchFamily="50" charset="-128"/>
                <a:cs typeface="Arial" panose="020B0604020202020204" pitchFamily="34" charset="0"/>
              </a:rPr>
              <a:t>...</a:t>
            </a:r>
            <a:endParaRPr lang="en-US" sz="1350" dirty="0">
              <a:solidFill>
                <a:prstClr val="black"/>
              </a:solidFill>
              <a:latin typeface="Times New Roman" panose="02020603050405020304" pitchFamily="18" charset="0"/>
              <a:cs typeface="Times New Roman" panose="02020603050405020304" pitchFamily="18" charset="0"/>
            </a:endParaRPr>
          </a:p>
        </p:txBody>
      </p:sp>
      <p:sp>
        <p:nvSpPr>
          <p:cNvPr id="198" name="四角形: 角を丸くする 197">
            <a:extLst>
              <a:ext uri="{FF2B5EF4-FFF2-40B4-BE49-F238E27FC236}">
                <a16:creationId xmlns:a16="http://schemas.microsoft.com/office/drawing/2014/main" id="{70B9CA27-74F4-6A68-5E0E-F6D2565BAEF1}"/>
              </a:ext>
            </a:extLst>
          </p:cNvPr>
          <p:cNvSpPr/>
          <p:nvPr/>
        </p:nvSpPr>
        <p:spPr>
          <a:xfrm>
            <a:off x="4504506" y="3563986"/>
            <a:ext cx="135002" cy="135002"/>
          </a:xfrm>
          <a:prstGeom prst="roundRect">
            <a:avLst>
              <a:gd name="adj" fmla="val 11375"/>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sz="750" dirty="0" err="1">
                <a:solidFill>
                  <a:prstClr val="black"/>
                </a:solidFill>
                <a:latin typeface="Arial" panose="020B0604020202020204" pitchFamily="34" charset="0"/>
                <a:cs typeface="Arial" panose="020B0604020202020204" pitchFamily="34" charset="0"/>
              </a:rPr>
              <a:t>h</a:t>
            </a:r>
            <a:r>
              <a:rPr lang="en-US" sz="750" u="sng" dirty="0" err="1">
                <a:solidFill>
                  <a:prstClr val="black"/>
                </a:solidFill>
                <a:latin typeface="Arial" panose="020B0604020202020204" pitchFamily="34" charset="0"/>
                <a:cs typeface="Arial" panose="020B0604020202020204" pitchFamily="34" charset="0"/>
              </a:rPr>
              <a:t>N</a:t>
            </a:r>
            <a:endParaRPr lang="en-US" sz="750" u="sng" dirty="0">
              <a:solidFill>
                <a:prstClr val="black"/>
              </a:solidFill>
              <a:latin typeface="Arial" panose="020B0604020202020204" pitchFamily="34" charset="0"/>
              <a:cs typeface="Arial" panose="020B0604020202020204" pitchFamily="34" charset="0"/>
            </a:endParaRPr>
          </a:p>
        </p:txBody>
      </p:sp>
      <p:cxnSp>
        <p:nvCxnSpPr>
          <p:cNvPr id="199" name="直線矢印コネクタ 198">
            <a:extLst>
              <a:ext uri="{FF2B5EF4-FFF2-40B4-BE49-F238E27FC236}">
                <a16:creationId xmlns:a16="http://schemas.microsoft.com/office/drawing/2014/main" id="{9445DADC-60E7-A3DC-03B2-EF2E95D802E3}"/>
              </a:ext>
            </a:extLst>
          </p:cNvPr>
          <p:cNvCxnSpPr>
            <a:cxnSpLocks/>
          </p:cNvCxnSpPr>
          <p:nvPr/>
        </p:nvCxnSpPr>
        <p:spPr>
          <a:xfrm>
            <a:off x="4572007" y="3698988"/>
            <a:ext cx="0" cy="135002"/>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200" name="正方形/長方形 199">
            <a:extLst>
              <a:ext uri="{FF2B5EF4-FFF2-40B4-BE49-F238E27FC236}">
                <a16:creationId xmlns:a16="http://schemas.microsoft.com/office/drawing/2014/main" id="{9705F9D8-793A-3DA6-9204-B7E3E586C500}"/>
              </a:ext>
            </a:extLst>
          </p:cNvPr>
          <p:cNvSpPr/>
          <p:nvPr/>
        </p:nvSpPr>
        <p:spPr>
          <a:xfrm>
            <a:off x="3525750" y="3395248"/>
            <a:ext cx="270003"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defTabSz="342900"/>
            <a:r>
              <a:rPr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PC, Table out, histories</a:t>
            </a:r>
            <a:endParaRPr lang="en-US" sz="825" dirty="0">
              <a:solidFill>
                <a:prstClr val="black"/>
              </a:solidFill>
              <a:latin typeface="Times New Roman" panose="02020603050405020304" pitchFamily="18" charset="0"/>
              <a:cs typeface="Times New Roman" panose="02020603050405020304" pitchFamily="18" charset="0"/>
            </a:endParaRPr>
          </a:p>
        </p:txBody>
      </p:sp>
      <p:sp>
        <p:nvSpPr>
          <p:cNvPr id="201" name="台形 200">
            <a:extLst>
              <a:ext uri="{FF2B5EF4-FFF2-40B4-BE49-F238E27FC236}">
                <a16:creationId xmlns:a16="http://schemas.microsoft.com/office/drawing/2014/main" id="{470FE165-0D72-6864-0127-4BD175112C0D}"/>
              </a:ext>
            </a:extLst>
          </p:cNvPr>
          <p:cNvSpPr/>
          <p:nvPr/>
        </p:nvSpPr>
        <p:spPr>
          <a:xfrm flipV="1">
            <a:off x="4673250" y="5420249"/>
            <a:ext cx="675008" cy="67501"/>
          </a:xfrm>
          <a:prstGeom prst="trapezoid">
            <a:avLst/>
          </a:prstGeom>
          <a:ln w="12700"/>
        </p:spPr>
        <p:style>
          <a:lnRef idx="2">
            <a:schemeClr val="dk1"/>
          </a:lnRef>
          <a:fillRef idx="1">
            <a:schemeClr val="lt1"/>
          </a:fillRef>
          <a:effectRef idx="0">
            <a:schemeClr val="dk1"/>
          </a:effectRef>
          <a:fontRef idx="minor">
            <a:schemeClr val="dk1"/>
          </a:fontRef>
        </p:style>
        <p:txBody>
          <a:bodyPr wrap="none" rtlCol="0" anchor="ctr"/>
          <a:lstStyle/>
          <a:p>
            <a:pPr algn="ctr" defTabSz="342900"/>
            <a:endParaRPr lang="en-US" sz="1350" dirty="0">
              <a:solidFill>
                <a:prstClr val="black"/>
              </a:solidFill>
              <a:latin typeface="Times New Roman" panose="02020603050405020304" pitchFamily="18" charset="0"/>
              <a:cs typeface="Times New Roman" panose="02020603050405020304" pitchFamily="18" charset="0"/>
            </a:endParaRPr>
          </a:p>
        </p:txBody>
      </p:sp>
      <p:cxnSp>
        <p:nvCxnSpPr>
          <p:cNvPr id="202" name="直線コネクタ 201">
            <a:extLst>
              <a:ext uri="{FF2B5EF4-FFF2-40B4-BE49-F238E27FC236}">
                <a16:creationId xmlns:a16="http://schemas.microsoft.com/office/drawing/2014/main" id="{D00F3572-49A7-545E-F599-B42ADBD7E005}"/>
              </a:ext>
            </a:extLst>
          </p:cNvPr>
          <p:cNvCxnSpPr>
            <a:cxnSpLocks/>
          </p:cNvCxnSpPr>
          <p:nvPr/>
        </p:nvCxnSpPr>
        <p:spPr>
          <a:xfrm>
            <a:off x="5010750" y="5487749"/>
            <a:ext cx="0" cy="168750"/>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203" name="正方形/長方形 202">
            <a:extLst>
              <a:ext uri="{FF2B5EF4-FFF2-40B4-BE49-F238E27FC236}">
                <a16:creationId xmlns:a16="http://schemas.microsoft.com/office/drawing/2014/main" id="{54BE6768-3D52-9BC1-7F8E-457C44E27953}"/>
              </a:ext>
            </a:extLst>
          </p:cNvPr>
          <p:cNvSpPr/>
          <p:nvPr/>
        </p:nvSpPr>
        <p:spPr>
          <a:xfrm>
            <a:off x="4234500" y="5521498"/>
            <a:ext cx="337504"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defTabSz="342900"/>
            <a:r>
              <a:rPr lang="en-US" altLang="ja-JP" sz="750" b="1" dirty="0">
                <a:solidFill>
                  <a:prstClr val="black"/>
                </a:solidFill>
                <a:latin typeface="Arial" panose="020B0604020202020204" pitchFamily="34" charset="0"/>
                <a:ea typeface="游ゴシック" panose="020B0400000000000000" pitchFamily="50" charset="-128"/>
                <a:cs typeface="Arial" panose="020B0604020202020204" pitchFamily="34" charset="0"/>
              </a:rPr>
              <a:t>Final Prediction</a:t>
            </a:r>
            <a:endParaRPr lang="en-US" sz="750" b="1" dirty="0">
              <a:solidFill>
                <a:prstClr val="black"/>
              </a:solidFill>
              <a:latin typeface="Times New Roman" panose="02020603050405020304" pitchFamily="18" charset="0"/>
              <a:cs typeface="Times New Roman" panose="02020603050405020304" pitchFamily="18" charset="0"/>
            </a:endParaRPr>
          </a:p>
        </p:txBody>
      </p:sp>
      <p:sp>
        <p:nvSpPr>
          <p:cNvPr id="204" name="Freeform 10">
            <a:extLst>
              <a:ext uri="{FF2B5EF4-FFF2-40B4-BE49-F238E27FC236}">
                <a16:creationId xmlns:a16="http://schemas.microsoft.com/office/drawing/2014/main" id="{8DB91F96-23B6-4026-4097-B8A6EEBA64FA}"/>
              </a:ext>
            </a:extLst>
          </p:cNvPr>
          <p:cNvSpPr>
            <a:spLocks/>
          </p:cNvSpPr>
          <p:nvPr/>
        </p:nvSpPr>
        <p:spPr bwMode="auto">
          <a:xfrm>
            <a:off x="2243250" y="5251500"/>
            <a:ext cx="2565000" cy="67499"/>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cxnSp>
        <p:nvCxnSpPr>
          <p:cNvPr id="205" name="直線コネクタ 204">
            <a:extLst>
              <a:ext uri="{FF2B5EF4-FFF2-40B4-BE49-F238E27FC236}">
                <a16:creationId xmlns:a16="http://schemas.microsoft.com/office/drawing/2014/main" id="{42833906-7E12-0E07-18E9-0A49EEA2C8C5}"/>
              </a:ext>
            </a:extLst>
          </p:cNvPr>
          <p:cNvCxnSpPr>
            <a:cxnSpLocks/>
          </p:cNvCxnSpPr>
          <p:nvPr/>
        </p:nvCxnSpPr>
        <p:spPr>
          <a:xfrm>
            <a:off x="4808250" y="5318999"/>
            <a:ext cx="0" cy="101250"/>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209" name="Freeform 10">
            <a:extLst>
              <a:ext uri="{FF2B5EF4-FFF2-40B4-BE49-F238E27FC236}">
                <a16:creationId xmlns:a16="http://schemas.microsoft.com/office/drawing/2014/main" id="{4B3A3463-2EC9-A2C5-994A-1618F9853B4A}"/>
              </a:ext>
            </a:extLst>
          </p:cNvPr>
          <p:cNvSpPr>
            <a:spLocks/>
          </p:cNvSpPr>
          <p:nvPr/>
        </p:nvSpPr>
        <p:spPr bwMode="auto">
          <a:xfrm flipH="1">
            <a:off x="5213250" y="5183999"/>
            <a:ext cx="236250" cy="135000"/>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cxnSp>
        <p:nvCxnSpPr>
          <p:cNvPr id="210" name="直線コネクタ 209">
            <a:extLst>
              <a:ext uri="{FF2B5EF4-FFF2-40B4-BE49-F238E27FC236}">
                <a16:creationId xmlns:a16="http://schemas.microsoft.com/office/drawing/2014/main" id="{4E82C83A-4E5B-28C7-4977-D6D6AF62712B}"/>
              </a:ext>
            </a:extLst>
          </p:cNvPr>
          <p:cNvCxnSpPr>
            <a:cxnSpLocks/>
          </p:cNvCxnSpPr>
          <p:nvPr/>
        </p:nvCxnSpPr>
        <p:spPr>
          <a:xfrm>
            <a:off x="5213250" y="5318999"/>
            <a:ext cx="0" cy="101250"/>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211" name="正方形/長方形 210">
            <a:extLst>
              <a:ext uri="{FF2B5EF4-FFF2-40B4-BE49-F238E27FC236}">
                <a16:creationId xmlns:a16="http://schemas.microsoft.com/office/drawing/2014/main" id="{AEB67A6B-7B68-9A75-B7CC-E2ADC4D82EF0}"/>
              </a:ext>
            </a:extLst>
          </p:cNvPr>
          <p:cNvSpPr/>
          <p:nvPr/>
        </p:nvSpPr>
        <p:spPr>
          <a:xfrm>
            <a:off x="5517000" y="5082748"/>
            <a:ext cx="337504"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defTabSz="342900"/>
            <a:r>
              <a:rPr lang="en-US" altLang="ja-JP" sz="750" b="1" dirty="0">
                <a:solidFill>
                  <a:prstClr val="black"/>
                </a:solidFill>
                <a:latin typeface="Arial" panose="020B0604020202020204" pitchFamily="34" charset="0"/>
                <a:ea typeface="游ゴシック" panose="020B0400000000000000" pitchFamily="50" charset="-128"/>
                <a:cs typeface="Arial" panose="020B0604020202020204" pitchFamily="34" charset="0"/>
              </a:rPr>
              <a:t>SC out</a:t>
            </a:r>
            <a:endParaRPr lang="en-US" sz="750" b="1" dirty="0">
              <a:solidFill>
                <a:prstClr val="black"/>
              </a:solidFill>
              <a:latin typeface="Times New Roman" panose="02020603050405020304" pitchFamily="18" charset="0"/>
              <a:cs typeface="Times New Roman" panose="02020603050405020304" pitchFamily="18" charset="0"/>
            </a:endParaRPr>
          </a:p>
        </p:txBody>
      </p:sp>
      <p:sp>
        <p:nvSpPr>
          <p:cNvPr id="212" name="四角形: 角を丸くする 211">
            <a:extLst>
              <a:ext uri="{FF2B5EF4-FFF2-40B4-BE49-F238E27FC236}">
                <a16:creationId xmlns:a16="http://schemas.microsoft.com/office/drawing/2014/main" id="{021DBD1E-B2CC-B15D-2E52-88C7B340C901}"/>
              </a:ext>
            </a:extLst>
          </p:cNvPr>
          <p:cNvSpPr/>
          <p:nvPr/>
        </p:nvSpPr>
        <p:spPr>
          <a:xfrm>
            <a:off x="5314500" y="4947748"/>
            <a:ext cx="270003" cy="135002"/>
          </a:xfrm>
          <a:prstGeom prst="roundRect">
            <a:avLst>
              <a:gd name="adj" fmla="val 11375"/>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Σ</a:t>
            </a:r>
            <a:endParaRPr lang="en-US" sz="825" dirty="0">
              <a:solidFill>
                <a:prstClr val="black"/>
              </a:solidFill>
              <a:latin typeface="Arial" panose="020B0604020202020204" pitchFamily="34" charset="0"/>
              <a:cs typeface="Arial" panose="020B0604020202020204" pitchFamily="34" charset="0"/>
            </a:endParaRPr>
          </a:p>
        </p:txBody>
      </p:sp>
      <p:cxnSp>
        <p:nvCxnSpPr>
          <p:cNvPr id="214" name="直線矢印コネクタ 213">
            <a:extLst>
              <a:ext uri="{FF2B5EF4-FFF2-40B4-BE49-F238E27FC236}">
                <a16:creationId xmlns:a16="http://schemas.microsoft.com/office/drawing/2014/main" id="{7357CC90-2558-A897-BD1E-6DBAC0504939}"/>
              </a:ext>
            </a:extLst>
          </p:cNvPr>
          <p:cNvCxnSpPr>
            <a:cxnSpLocks/>
          </p:cNvCxnSpPr>
          <p:nvPr/>
        </p:nvCxnSpPr>
        <p:spPr>
          <a:xfrm>
            <a:off x="5449502" y="4373997"/>
            <a:ext cx="0" cy="135002"/>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215" name="正方形/長方形 214">
            <a:extLst>
              <a:ext uri="{FF2B5EF4-FFF2-40B4-BE49-F238E27FC236}">
                <a16:creationId xmlns:a16="http://schemas.microsoft.com/office/drawing/2014/main" id="{A27E723E-68E3-84E3-F76A-5A7EB21BB014}"/>
              </a:ext>
            </a:extLst>
          </p:cNvPr>
          <p:cNvSpPr/>
          <p:nvPr/>
        </p:nvSpPr>
        <p:spPr>
          <a:xfrm>
            <a:off x="5246999" y="4508998"/>
            <a:ext cx="405005" cy="135002"/>
          </a:xfrm>
          <a:prstGeom prst="rect">
            <a:avLst/>
          </a:prstGeom>
          <a:solidFill>
            <a:schemeClr val="bg1"/>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r>
              <a:rPr kumimoji="0" lang="en-US" altLang="ja-JP" sz="750" dirty="0">
                <a:solidFill>
                  <a:prstClr val="black"/>
                </a:solidFill>
                <a:latin typeface="Arial" panose="020B0604020202020204" pitchFamily="34" charset="0"/>
                <a:ea typeface="游ゴシック" panose="020B0400000000000000" pitchFamily="50" charset="-128"/>
                <a:cs typeface="Arial" panose="020B0604020202020204" pitchFamily="34" charset="0"/>
              </a:rPr>
              <a:t>x</a:t>
            </a:r>
          </a:p>
        </p:txBody>
      </p:sp>
      <p:sp>
        <p:nvSpPr>
          <p:cNvPr id="216" name="正方形/長方形 215">
            <a:extLst>
              <a:ext uri="{FF2B5EF4-FFF2-40B4-BE49-F238E27FC236}">
                <a16:creationId xmlns:a16="http://schemas.microsoft.com/office/drawing/2014/main" id="{8F803C52-1450-5E88-9162-CA0BE14C8746}"/>
              </a:ext>
            </a:extLst>
          </p:cNvPr>
          <p:cNvSpPr/>
          <p:nvPr/>
        </p:nvSpPr>
        <p:spPr>
          <a:xfrm>
            <a:off x="4875750" y="3833996"/>
            <a:ext cx="202500" cy="270003"/>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endParaRPr kumimoji="0" lang="ja-JP" altLang="en-US" sz="750" dirty="0">
              <a:solidFill>
                <a:prstClr val="black"/>
              </a:solidFill>
              <a:latin typeface="Arial" panose="020B0604020202020204" pitchFamily="34" charset="0"/>
              <a:ea typeface="游ゴシック" panose="020B0400000000000000" pitchFamily="50" charset="-128"/>
              <a:cs typeface="Arial" panose="020B0604020202020204" pitchFamily="34" charset="0"/>
            </a:endParaRPr>
          </a:p>
        </p:txBody>
      </p:sp>
      <p:sp>
        <p:nvSpPr>
          <p:cNvPr id="217" name="Freeform 10">
            <a:extLst>
              <a:ext uri="{FF2B5EF4-FFF2-40B4-BE49-F238E27FC236}">
                <a16:creationId xmlns:a16="http://schemas.microsoft.com/office/drawing/2014/main" id="{D9AF9B6A-8017-C41D-7D56-5CF2BF056967}"/>
              </a:ext>
            </a:extLst>
          </p:cNvPr>
          <p:cNvSpPr>
            <a:spLocks/>
          </p:cNvSpPr>
          <p:nvPr/>
        </p:nvSpPr>
        <p:spPr bwMode="auto">
          <a:xfrm>
            <a:off x="4977001" y="4103995"/>
            <a:ext cx="269999" cy="4725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sp>
        <p:nvSpPr>
          <p:cNvPr id="220" name="正方形/長方形 219">
            <a:extLst>
              <a:ext uri="{FF2B5EF4-FFF2-40B4-BE49-F238E27FC236}">
                <a16:creationId xmlns:a16="http://schemas.microsoft.com/office/drawing/2014/main" id="{C210402D-9EAD-FF0F-F234-FE57D3BBF60D}"/>
              </a:ext>
            </a:extLst>
          </p:cNvPr>
          <p:cNvSpPr/>
          <p:nvPr/>
        </p:nvSpPr>
        <p:spPr>
          <a:xfrm>
            <a:off x="5213250" y="3833996"/>
            <a:ext cx="135005" cy="270003"/>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endParaRPr kumimoji="0" lang="ja-JP" altLang="en-US" sz="750" dirty="0">
              <a:solidFill>
                <a:prstClr val="black"/>
              </a:solidFill>
              <a:latin typeface="Arial" panose="020B0604020202020204" pitchFamily="34" charset="0"/>
              <a:ea typeface="游ゴシック" panose="020B0400000000000000" pitchFamily="50" charset="-128"/>
              <a:cs typeface="Arial" panose="020B0604020202020204" pitchFamily="34" charset="0"/>
            </a:endParaRPr>
          </a:p>
        </p:txBody>
      </p:sp>
      <p:sp>
        <p:nvSpPr>
          <p:cNvPr id="221" name="正方形/長方形 220">
            <a:extLst>
              <a:ext uri="{FF2B5EF4-FFF2-40B4-BE49-F238E27FC236}">
                <a16:creationId xmlns:a16="http://schemas.microsoft.com/office/drawing/2014/main" id="{98DD337B-6D1F-8BD1-D11B-A1FD37C7DCF7}"/>
              </a:ext>
            </a:extLst>
          </p:cNvPr>
          <p:cNvSpPr/>
          <p:nvPr/>
        </p:nvSpPr>
        <p:spPr>
          <a:xfrm>
            <a:off x="5382000" y="3833996"/>
            <a:ext cx="135000" cy="270003"/>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endParaRPr kumimoji="0" lang="ja-JP" altLang="en-US" sz="750" dirty="0">
              <a:solidFill>
                <a:prstClr val="black"/>
              </a:solidFill>
              <a:latin typeface="Arial" panose="020B0604020202020204" pitchFamily="34" charset="0"/>
              <a:ea typeface="游ゴシック" panose="020B0400000000000000" pitchFamily="50" charset="-128"/>
              <a:cs typeface="Arial" panose="020B0604020202020204" pitchFamily="34" charset="0"/>
            </a:endParaRPr>
          </a:p>
        </p:txBody>
      </p:sp>
      <p:sp>
        <p:nvSpPr>
          <p:cNvPr id="222" name="正方形/長方形 221">
            <a:extLst>
              <a:ext uri="{FF2B5EF4-FFF2-40B4-BE49-F238E27FC236}">
                <a16:creationId xmlns:a16="http://schemas.microsoft.com/office/drawing/2014/main" id="{BE130F61-040D-2764-DC37-A93EA7D55A30}"/>
              </a:ext>
            </a:extLst>
          </p:cNvPr>
          <p:cNvSpPr/>
          <p:nvPr/>
        </p:nvSpPr>
        <p:spPr>
          <a:xfrm>
            <a:off x="5719500" y="3833996"/>
            <a:ext cx="135000" cy="270003"/>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endParaRPr kumimoji="0" lang="ja-JP" altLang="en-US" sz="750" u="sng" dirty="0">
              <a:solidFill>
                <a:prstClr val="black"/>
              </a:solidFill>
              <a:latin typeface="Arial" panose="020B0604020202020204" pitchFamily="34" charset="0"/>
              <a:ea typeface="游ゴシック" panose="020B0400000000000000" pitchFamily="50" charset="-128"/>
              <a:cs typeface="Arial" panose="020B0604020202020204" pitchFamily="34" charset="0"/>
            </a:endParaRPr>
          </a:p>
        </p:txBody>
      </p:sp>
      <p:sp>
        <p:nvSpPr>
          <p:cNvPr id="223" name="四角形: 角を丸くする 222">
            <a:extLst>
              <a:ext uri="{FF2B5EF4-FFF2-40B4-BE49-F238E27FC236}">
                <a16:creationId xmlns:a16="http://schemas.microsoft.com/office/drawing/2014/main" id="{824B03BE-F060-F34F-D8B2-0FD19253249E}"/>
              </a:ext>
            </a:extLst>
          </p:cNvPr>
          <p:cNvSpPr/>
          <p:nvPr/>
        </p:nvSpPr>
        <p:spPr>
          <a:xfrm>
            <a:off x="5314500" y="4238995"/>
            <a:ext cx="270003" cy="135002"/>
          </a:xfrm>
          <a:prstGeom prst="roundRect">
            <a:avLst>
              <a:gd name="adj" fmla="val 11375"/>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Σ</a:t>
            </a:r>
            <a:endParaRPr lang="en-US" sz="825" dirty="0">
              <a:solidFill>
                <a:prstClr val="black"/>
              </a:solidFill>
              <a:latin typeface="Arial" panose="020B0604020202020204" pitchFamily="34" charset="0"/>
              <a:cs typeface="Arial" panose="020B0604020202020204" pitchFamily="34" charset="0"/>
            </a:endParaRPr>
          </a:p>
        </p:txBody>
      </p:sp>
      <p:sp>
        <p:nvSpPr>
          <p:cNvPr id="224" name="Freeform 10">
            <a:extLst>
              <a:ext uri="{FF2B5EF4-FFF2-40B4-BE49-F238E27FC236}">
                <a16:creationId xmlns:a16="http://schemas.microsoft.com/office/drawing/2014/main" id="{526B2135-5591-FA01-6EBF-E8833B2AF0F9}"/>
              </a:ext>
            </a:extLst>
          </p:cNvPr>
          <p:cNvSpPr>
            <a:spLocks/>
          </p:cNvSpPr>
          <p:nvPr/>
        </p:nvSpPr>
        <p:spPr bwMode="auto">
          <a:xfrm>
            <a:off x="5280751" y="4103996"/>
            <a:ext cx="101250" cy="6750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cxnSp>
        <p:nvCxnSpPr>
          <p:cNvPr id="225" name="直線矢印コネクタ 224">
            <a:extLst>
              <a:ext uri="{FF2B5EF4-FFF2-40B4-BE49-F238E27FC236}">
                <a16:creationId xmlns:a16="http://schemas.microsoft.com/office/drawing/2014/main" id="{70030A0C-BB6E-4F09-03ED-72D639C62FD1}"/>
              </a:ext>
            </a:extLst>
          </p:cNvPr>
          <p:cNvCxnSpPr>
            <a:cxnSpLocks/>
          </p:cNvCxnSpPr>
          <p:nvPr/>
        </p:nvCxnSpPr>
        <p:spPr>
          <a:xfrm>
            <a:off x="5382001" y="4171495"/>
            <a:ext cx="0" cy="67501"/>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cxnSp>
        <p:nvCxnSpPr>
          <p:cNvPr id="226" name="直線矢印コネクタ 225">
            <a:extLst>
              <a:ext uri="{FF2B5EF4-FFF2-40B4-BE49-F238E27FC236}">
                <a16:creationId xmlns:a16="http://schemas.microsoft.com/office/drawing/2014/main" id="{601C9BF8-15B3-9B8E-E260-1AAC698081DF}"/>
              </a:ext>
            </a:extLst>
          </p:cNvPr>
          <p:cNvCxnSpPr>
            <a:cxnSpLocks/>
            <a:endCxn id="223" idx="0"/>
          </p:cNvCxnSpPr>
          <p:nvPr/>
        </p:nvCxnSpPr>
        <p:spPr>
          <a:xfrm>
            <a:off x="5449502" y="4103994"/>
            <a:ext cx="0" cy="135002"/>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227" name="Freeform 10">
            <a:extLst>
              <a:ext uri="{FF2B5EF4-FFF2-40B4-BE49-F238E27FC236}">
                <a16:creationId xmlns:a16="http://schemas.microsoft.com/office/drawing/2014/main" id="{8C588948-A009-5220-BFFE-46CD622AD14B}"/>
              </a:ext>
            </a:extLst>
          </p:cNvPr>
          <p:cNvSpPr>
            <a:spLocks/>
          </p:cNvSpPr>
          <p:nvPr/>
        </p:nvSpPr>
        <p:spPr bwMode="auto">
          <a:xfrm flipH="1">
            <a:off x="5517001" y="4103994"/>
            <a:ext cx="269999" cy="6750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cxnSp>
        <p:nvCxnSpPr>
          <p:cNvPr id="228" name="直線矢印コネクタ 227">
            <a:extLst>
              <a:ext uri="{FF2B5EF4-FFF2-40B4-BE49-F238E27FC236}">
                <a16:creationId xmlns:a16="http://schemas.microsoft.com/office/drawing/2014/main" id="{4BEFF42C-16D2-2DC8-218C-FB7F1A35981F}"/>
              </a:ext>
            </a:extLst>
          </p:cNvPr>
          <p:cNvCxnSpPr>
            <a:cxnSpLocks/>
          </p:cNvCxnSpPr>
          <p:nvPr/>
        </p:nvCxnSpPr>
        <p:spPr>
          <a:xfrm>
            <a:off x="5517002" y="4171495"/>
            <a:ext cx="0" cy="67501"/>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233" name="正方形/長方形 232">
            <a:extLst>
              <a:ext uri="{FF2B5EF4-FFF2-40B4-BE49-F238E27FC236}">
                <a16:creationId xmlns:a16="http://schemas.microsoft.com/office/drawing/2014/main" id="{A3F8CDCE-E667-93B9-824E-6077495BDBD5}"/>
              </a:ext>
            </a:extLst>
          </p:cNvPr>
          <p:cNvSpPr/>
          <p:nvPr/>
        </p:nvSpPr>
        <p:spPr>
          <a:xfrm>
            <a:off x="5483250" y="3833998"/>
            <a:ext cx="540006"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defTabSz="342900"/>
            <a:r>
              <a:rPr lang="en-US" altLang="ja-JP" sz="1350" dirty="0">
                <a:solidFill>
                  <a:prstClr val="black"/>
                </a:solidFill>
                <a:latin typeface="Arial" panose="020B0604020202020204" pitchFamily="34" charset="0"/>
                <a:ea typeface="游ゴシック" panose="020B0400000000000000" pitchFamily="50" charset="-128"/>
                <a:cs typeface="Arial" panose="020B0604020202020204" pitchFamily="34" charset="0"/>
              </a:rPr>
              <a:t>...</a:t>
            </a:r>
            <a:endParaRPr lang="en-US" sz="1350" dirty="0">
              <a:solidFill>
                <a:prstClr val="black"/>
              </a:solidFill>
              <a:latin typeface="Times New Roman" panose="02020603050405020304" pitchFamily="18" charset="0"/>
              <a:cs typeface="Times New Roman" panose="02020603050405020304" pitchFamily="18" charset="0"/>
            </a:endParaRPr>
          </a:p>
        </p:txBody>
      </p:sp>
      <p:cxnSp>
        <p:nvCxnSpPr>
          <p:cNvPr id="237" name="直線矢印コネクタ 236">
            <a:extLst>
              <a:ext uri="{FF2B5EF4-FFF2-40B4-BE49-F238E27FC236}">
                <a16:creationId xmlns:a16="http://schemas.microsoft.com/office/drawing/2014/main" id="{6FD93F03-98C8-EDF2-DDEF-7A428ADF053B}"/>
              </a:ext>
            </a:extLst>
          </p:cNvPr>
          <p:cNvCxnSpPr>
            <a:cxnSpLocks/>
          </p:cNvCxnSpPr>
          <p:nvPr/>
        </p:nvCxnSpPr>
        <p:spPr>
          <a:xfrm>
            <a:off x="6630746" y="4373997"/>
            <a:ext cx="0" cy="135002"/>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238" name="正方形/長方形 237">
            <a:extLst>
              <a:ext uri="{FF2B5EF4-FFF2-40B4-BE49-F238E27FC236}">
                <a16:creationId xmlns:a16="http://schemas.microsoft.com/office/drawing/2014/main" id="{A936A88E-EED7-A0A0-A9D2-25CD0AFFB9E7}"/>
              </a:ext>
            </a:extLst>
          </p:cNvPr>
          <p:cNvSpPr/>
          <p:nvPr/>
        </p:nvSpPr>
        <p:spPr>
          <a:xfrm>
            <a:off x="6428243" y="4508998"/>
            <a:ext cx="405005" cy="135002"/>
          </a:xfrm>
          <a:prstGeom prst="rect">
            <a:avLst/>
          </a:prstGeom>
          <a:solidFill>
            <a:schemeClr val="bg1"/>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r>
              <a:rPr kumimoji="0" lang="en-US" altLang="ja-JP" sz="750" dirty="0">
                <a:solidFill>
                  <a:prstClr val="black"/>
                </a:solidFill>
                <a:latin typeface="Arial" panose="020B0604020202020204" pitchFamily="34" charset="0"/>
                <a:ea typeface="游ゴシック" panose="020B0400000000000000" pitchFamily="50" charset="-128"/>
                <a:cs typeface="Arial" panose="020B0604020202020204" pitchFamily="34" charset="0"/>
              </a:rPr>
              <a:t>x</a:t>
            </a:r>
          </a:p>
        </p:txBody>
      </p:sp>
      <p:sp>
        <p:nvSpPr>
          <p:cNvPr id="239" name="正方形/長方形 238">
            <a:extLst>
              <a:ext uri="{FF2B5EF4-FFF2-40B4-BE49-F238E27FC236}">
                <a16:creationId xmlns:a16="http://schemas.microsoft.com/office/drawing/2014/main" id="{9CDA0CF2-4C1D-A4BD-A2E4-B281A380BDCD}"/>
              </a:ext>
            </a:extLst>
          </p:cNvPr>
          <p:cNvSpPr/>
          <p:nvPr/>
        </p:nvSpPr>
        <p:spPr>
          <a:xfrm>
            <a:off x="6056994" y="3833996"/>
            <a:ext cx="202500" cy="270003"/>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endParaRPr kumimoji="0" lang="ja-JP" altLang="en-US" sz="750" dirty="0">
              <a:solidFill>
                <a:prstClr val="black"/>
              </a:solidFill>
              <a:latin typeface="Arial" panose="020B0604020202020204" pitchFamily="34" charset="0"/>
              <a:ea typeface="游ゴシック" panose="020B0400000000000000" pitchFamily="50" charset="-128"/>
              <a:cs typeface="Arial" panose="020B0604020202020204" pitchFamily="34" charset="0"/>
            </a:endParaRPr>
          </a:p>
        </p:txBody>
      </p:sp>
      <p:sp>
        <p:nvSpPr>
          <p:cNvPr id="240" name="Freeform 10">
            <a:extLst>
              <a:ext uri="{FF2B5EF4-FFF2-40B4-BE49-F238E27FC236}">
                <a16:creationId xmlns:a16="http://schemas.microsoft.com/office/drawing/2014/main" id="{F87212B7-1FC2-E62D-8C55-4735499FC469}"/>
              </a:ext>
            </a:extLst>
          </p:cNvPr>
          <p:cNvSpPr>
            <a:spLocks/>
          </p:cNvSpPr>
          <p:nvPr/>
        </p:nvSpPr>
        <p:spPr bwMode="auto">
          <a:xfrm>
            <a:off x="6158245" y="4103995"/>
            <a:ext cx="269999" cy="4725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sp>
        <p:nvSpPr>
          <p:cNvPr id="241" name="正方形/長方形 240">
            <a:extLst>
              <a:ext uri="{FF2B5EF4-FFF2-40B4-BE49-F238E27FC236}">
                <a16:creationId xmlns:a16="http://schemas.microsoft.com/office/drawing/2014/main" id="{D61108B4-E55F-C962-EDA0-14FF73F631F9}"/>
              </a:ext>
            </a:extLst>
          </p:cNvPr>
          <p:cNvSpPr/>
          <p:nvPr/>
        </p:nvSpPr>
        <p:spPr>
          <a:xfrm>
            <a:off x="6394494" y="3833996"/>
            <a:ext cx="135005" cy="270003"/>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endParaRPr kumimoji="0" lang="ja-JP" altLang="en-US" sz="750" dirty="0">
              <a:solidFill>
                <a:prstClr val="black"/>
              </a:solidFill>
              <a:latin typeface="Arial" panose="020B0604020202020204" pitchFamily="34" charset="0"/>
              <a:ea typeface="游ゴシック" panose="020B0400000000000000" pitchFamily="50" charset="-128"/>
              <a:cs typeface="Arial" panose="020B0604020202020204" pitchFamily="34" charset="0"/>
            </a:endParaRPr>
          </a:p>
        </p:txBody>
      </p:sp>
      <p:sp>
        <p:nvSpPr>
          <p:cNvPr id="242" name="正方形/長方形 241">
            <a:extLst>
              <a:ext uri="{FF2B5EF4-FFF2-40B4-BE49-F238E27FC236}">
                <a16:creationId xmlns:a16="http://schemas.microsoft.com/office/drawing/2014/main" id="{B9AAEA07-66DD-23E3-F80D-266D10834E48}"/>
              </a:ext>
            </a:extLst>
          </p:cNvPr>
          <p:cNvSpPr/>
          <p:nvPr/>
        </p:nvSpPr>
        <p:spPr>
          <a:xfrm>
            <a:off x="6563244" y="3833996"/>
            <a:ext cx="135000" cy="270003"/>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endParaRPr kumimoji="0" lang="ja-JP" altLang="en-US" sz="750" dirty="0">
              <a:solidFill>
                <a:prstClr val="black"/>
              </a:solidFill>
              <a:latin typeface="Arial" panose="020B0604020202020204" pitchFamily="34" charset="0"/>
              <a:ea typeface="游ゴシック" panose="020B0400000000000000" pitchFamily="50" charset="-128"/>
              <a:cs typeface="Arial" panose="020B0604020202020204" pitchFamily="34" charset="0"/>
            </a:endParaRPr>
          </a:p>
        </p:txBody>
      </p:sp>
      <p:sp>
        <p:nvSpPr>
          <p:cNvPr id="243" name="正方形/長方形 242">
            <a:extLst>
              <a:ext uri="{FF2B5EF4-FFF2-40B4-BE49-F238E27FC236}">
                <a16:creationId xmlns:a16="http://schemas.microsoft.com/office/drawing/2014/main" id="{5EE2683B-EFF7-8AD2-E740-947862119A06}"/>
              </a:ext>
            </a:extLst>
          </p:cNvPr>
          <p:cNvSpPr/>
          <p:nvPr/>
        </p:nvSpPr>
        <p:spPr>
          <a:xfrm>
            <a:off x="6900744" y="3833996"/>
            <a:ext cx="135000" cy="270003"/>
          </a:xfrm>
          <a:prstGeom prst="rect">
            <a:avLst/>
          </a:prstGeom>
          <a:solidFill>
            <a:schemeClr val="accent5">
              <a:lumMod val="20000"/>
              <a:lumOff val="80000"/>
            </a:schemeClr>
          </a:solidFill>
          <a:ln w="12700"/>
        </p:spPr>
        <p:style>
          <a:lnRef idx="2">
            <a:schemeClr val="dk1"/>
          </a:lnRef>
          <a:fillRef idx="1">
            <a:schemeClr val="lt1"/>
          </a:fillRef>
          <a:effectRef idx="0">
            <a:schemeClr val="dk1"/>
          </a:effectRef>
          <a:fontRef idx="minor">
            <a:schemeClr val="dk1"/>
          </a:fontRef>
        </p:style>
        <p:txBody>
          <a:bodyPr wrap="none" lIns="0" tIns="0" rIns="0" bIns="0" rtlCol="0" anchor="ctr">
            <a:noAutofit/>
          </a:bodyPr>
          <a:lstStyle/>
          <a:p>
            <a:pPr algn="ctr" defTabSz="342900">
              <a:lnSpc>
                <a:spcPts val="825"/>
              </a:lnSpc>
            </a:pPr>
            <a:endParaRPr kumimoji="0" lang="ja-JP" altLang="en-US" sz="750" u="sng" dirty="0">
              <a:solidFill>
                <a:prstClr val="black"/>
              </a:solidFill>
              <a:latin typeface="Arial" panose="020B0604020202020204" pitchFamily="34" charset="0"/>
              <a:ea typeface="游ゴシック" panose="020B0400000000000000" pitchFamily="50" charset="-128"/>
              <a:cs typeface="Arial" panose="020B0604020202020204" pitchFamily="34" charset="0"/>
            </a:endParaRPr>
          </a:p>
        </p:txBody>
      </p:sp>
      <p:sp>
        <p:nvSpPr>
          <p:cNvPr id="244" name="四角形: 角を丸くする 243">
            <a:extLst>
              <a:ext uri="{FF2B5EF4-FFF2-40B4-BE49-F238E27FC236}">
                <a16:creationId xmlns:a16="http://schemas.microsoft.com/office/drawing/2014/main" id="{88D66EAA-EF32-76D3-98B3-C4B2950E7131}"/>
              </a:ext>
            </a:extLst>
          </p:cNvPr>
          <p:cNvSpPr/>
          <p:nvPr/>
        </p:nvSpPr>
        <p:spPr>
          <a:xfrm>
            <a:off x="6495744" y="4238995"/>
            <a:ext cx="270003" cy="135002"/>
          </a:xfrm>
          <a:prstGeom prst="roundRect">
            <a:avLst>
              <a:gd name="adj" fmla="val 11375"/>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altLang="ja-JP" sz="825" dirty="0">
                <a:solidFill>
                  <a:prstClr val="black"/>
                </a:solidFill>
                <a:latin typeface="Arial" panose="020B0604020202020204" pitchFamily="34" charset="0"/>
                <a:ea typeface="游ゴシック" panose="020B0400000000000000" pitchFamily="50" charset="-128"/>
                <a:cs typeface="Arial" panose="020B0604020202020204" pitchFamily="34" charset="0"/>
              </a:rPr>
              <a:t>Σ</a:t>
            </a:r>
            <a:endParaRPr lang="en-US" sz="825" dirty="0">
              <a:solidFill>
                <a:prstClr val="black"/>
              </a:solidFill>
              <a:latin typeface="Arial" panose="020B0604020202020204" pitchFamily="34" charset="0"/>
              <a:cs typeface="Arial" panose="020B0604020202020204" pitchFamily="34" charset="0"/>
            </a:endParaRPr>
          </a:p>
        </p:txBody>
      </p:sp>
      <p:sp>
        <p:nvSpPr>
          <p:cNvPr id="245" name="Freeform 10">
            <a:extLst>
              <a:ext uri="{FF2B5EF4-FFF2-40B4-BE49-F238E27FC236}">
                <a16:creationId xmlns:a16="http://schemas.microsoft.com/office/drawing/2014/main" id="{B25E7648-D8CF-B7E9-2D30-295999C783EF}"/>
              </a:ext>
            </a:extLst>
          </p:cNvPr>
          <p:cNvSpPr>
            <a:spLocks/>
          </p:cNvSpPr>
          <p:nvPr/>
        </p:nvSpPr>
        <p:spPr bwMode="auto">
          <a:xfrm>
            <a:off x="6461995" y="4103996"/>
            <a:ext cx="101250" cy="6750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cxnSp>
        <p:nvCxnSpPr>
          <p:cNvPr id="246" name="直線矢印コネクタ 245">
            <a:extLst>
              <a:ext uri="{FF2B5EF4-FFF2-40B4-BE49-F238E27FC236}">
                <a16:creationId xmlns:a16="http://schemas.microsoft.com/office/drawing/2014/main" id="{7A692883-F45D-C867-F371-BE747D626C24}"/>
              </a:ext>
            </a:extLst>
          </p:cNvPr>
          <p:cNvCxnSpPr>
            <a:cxnSpLocks/>
          </p:cNvCxnSpPr>
          <p:nvPr/>
        </p:nvCxnSpPr>
        <p:spPr>
          <a:xfrm>
            <a:off x="6563245" y="4171495"/>
            <a:ext cx="0" cy="67501"/>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cxnSp>
        <p:nvCxnSpPr>
          <p:cNvPr id="247" name="直線矢印コネクタ 246">
            <a:extLst>
              <a:ext uri="{FF2B5EF4-FFF2-40B4-BE49-F238E27FC236}">
                <a16:creationId xmlns:a16="http://schemas.microsoft.com/office/drawing/2014/main" id="{4F222C99-8A26-0E8F-BBD3-D69FBDC34507}"/>
              </a:ext>
            </a:extLst>
          </p:cNvPr>
          <p:cNvCxnSpPr>
            <a:cxnSpLocks/>
            <a:endCxn id="244" idx="0"/>
          </p:cNvCxnSpPr>
          <p:nvPr/>
        </p:nvCxnSpPr>
        <p:spPr>
          <a:xfrm>
            <a:off x="6630746" y="4103994"/>
            <a:ext cx="0" cy="135002"/>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248" name="Freeform 10">
            <a:extLst>
              <a:ext uri="{FF2B5EF4-FFF2-40B4-BE49-F238E27FC236}">
                <a16:creationId xmlns:a16="http://schemas.microsoft.com/office/drawing/2014/main" id="{5BE17E9C-1884-9B96-67D0-9DC246EEFE43}"/>
              </a:ext>
            </a:extLst>
          </p:cNvPr>
          <p:cNvSpPr>
            <a:spLocks/>
          </p:cNvSpPr>
          <p:nvPr/>
        </p:nvSpPr>
        <p:spPr bwMode="auto">
          <a:xfrm flipH="1">
            <a:off x="6698245" y="4103994"/>
            <a:ext cx="269999" cy="6750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cxnSp>
        <p:nvCxnSpPr>
          <p:cNvPr id="249" name="直線矢印コネクタ 248">
            <a:extLst>
              <a:ext uri="{FF2B5EF4-FFF2-40B4-BE49-F238E27FC236}">
                <a16:creationId xmlns:a16="http://schemas.microsoft.com/office/drawing/2014/main" id="{7E367F46-DDB6-2B10-577C-DCC98A786B67}"/>
              </a:ext>
            </a:extLst>
          </p:cNvPr>
          <p:cNvCxnSpPr>
            <a:cxnSpLocks/>
          </p:cNvCxnSpPr>
          <p:nvPr/>
        </p:nvCxnSpPr>
        <p:spPr>
          <a:xfrm>
            <a:off x="6698246" y="4171495"/>
            <a:ext cx="0" cy="67501"/>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250" name="正方形/長方形 249">
            <a:extLst>
              <a:ext uri="{FF2B5EF4-FFF2-40B4-BE49-F238E27FC236}">
                <a16:creationId xmlns:a16="http://schemas.microsoft.com/office/drawing/2014/main" id="{0516CA1C-D31A-9AED-5543-14AE40F4D608}"/>
              </a:ext>
            </a:extLst>
          </p:cNvPr>
          <p:cNvSpPr/>
          <p:nvPr/>
        </p:nvSpPr>
        <p:spPr>
          <a:xfrm>
            <a:off x="6664494" y="3833995"/>
            <a:ext cx="540006"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defTabSz="342900"/>
            <a:r>
              <a:rPr lang="en-US" altLang="ja-JP" sz="1350" dirty="0">
                <a:solidFill>
                  <a:prstClr val="black"/>
                </a:solidFill>
                <a:latin typeface="Arial" panose="020B0604020202020204" pitchFamily="34" charset="0"/>
                <a:ea typeface="游ゴシック" panose="020B0400000000000000" pitchFamily="50" charset="-128"/>
                <a:cs typeface="Arial" panose="020B0604020202020204" pitchFamily="34" charset="0"/>
              </a:rPr>
              <a:t>...</a:t>
            </a:r>
            <a:endParaRPr lang="en-US" sz="1350" dirty="0">
              <a:solidFill>
                <a:prstClr val="black"/>
              </a:solidFill>
              <a:latin typeface="Times New Roman" panose="02020603050405020304" pitchFamily="18" charset="0"/>
              <a:cs typeface="Times New Roman" panose="02020603050405020304" pitchFamily="18" charset="0"/>
            </a:endParaRPr>
          </a:p>
        </p:txBody>
      </p:sp>
      <p:sp>
        <p:nvSpPr>
          <p:cNvPr id="253" name="Freeform 10">
            <a:extLst>
              <a:ext uri="{FF2B5EF4-FFF2-40B4-BE49-F238E27FC236}">
                <a16:creationId xmlns:a16="http://schemas.microsoft.com/office/drawing/2014/main" id="{1045A486-2E7A-EA24-E64D-D4AFC3C47168}"/>
              </a:ext>
            </a:extLst>
          </p:cNvPr>
          <p:cNvSpPr>
            <a:spLocks/>
          </p:cNvSpPr>
          <p:nvPr/>
        </p:nvSpPr>
        <p:spPr bwMode="auto">
          <a:xfrm>
            <a:off x="4032000" y="4643999"/>
            <a:ext cx="1316250" cy="16875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cxnSp>
        <p:nvCxnSpPr>
          <p:cNvPr id="254" name="直線矢印コネクタ 253">
            <a:extLst>
              <a:ext uri="{FF2B5EF4-FFF2-40B4-BE49-F238E27FC236}">
                <a16:creationId xmlns:a16="http://schemas.microsoft.com/office/drawing/2014/main" id="{5CFE9ABB-F6AA-3DB9-6AB5-2A2408A1E3EA}"/>
              </a:ext>
            </a:extLst>
          </p:cNvPr>
          <p:cNvCxnSpPr>
            <a:cxnSpLocks/>
          </p:cNvCxnSpPr>
          <p:nvPr/>
        </p:nvCxnSpPr>
        <p:spPr>
          <a:xfrm>
            <a:off x="5348250" y="4812749"/>
            <a:ext cx="0" cy="135001"/>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cxnSp>
        <p:nvCxnSpPr>
          <p:cNvPr id="271" name="直線矢印コネクタ 270">
            <a:extLst>
              <a:ext uri="{FF2B5EF4-FFF2-40B4-BE49-F238E27FC236}">
                <a16:creationId xmlns:a16="http://schemas.microsoft.com/office/drawing/2014/main" id="{59E64831-B18C-02E7-582B-699F5E24EE35}"/>
              </a:ext>
            </a:extLst>
          </p:cNvPr>
          <p:cNvCxnSpPr>
            <a:cxnSpLocks/>
          </p:cNvCxnSpPr>
          <p:nvPr/>
        </p:nvCxnSpPr>
        <p:spPr>
          <a:xfrm>
            <a:off x="5483250" y="4778999"/>
            <a:ext cx="0" cy="168750"/>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272" name="Freeform 10">
            <a:extLst>
              <a:ext uri="{FF2B5EF4-FFF2-40B4-BE49-F238E27FC236}">
                <a16:creationId xmlns:a16="http://schemas.microsoft.com/office/drawing/2014/main" id="{F42821C4-2E9C-ECFD-F9ED-09B861F19E86}"/>
              </a:ext>
            </a:extLst>
          </p:cNvPr>
          <p:cNvSpPr>
            <a:spLocks/>
          </p:cNvSpPr>
          <p:nvPr/>
        </p:nvSpPr>
        <p:spPr bwMode="auto">
          <a:xfrm flipH="1">
            <a:off x="5483250" y="4643999"/>
            <a:ext cx="1113750" cy="135000"/>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sp>
        <p:nvSpPr>
          <p:cNvPr id="273" name="正方形/長方形 272">
            <a:extLst>
              <a:ext uri="{FF2B5EF4-FFF2-40B4-BE49-F238E27FC236}">
                <a16:creationId xmlns:a16="http://schemas.microsoft.com/office/drawing/2014/main" id="{F90C0378-B2FC-FEB1-193A-5F840D466EE8}"/>
              </a:ext>
            </a:extLst>
          </p:cNvPr>
          <p:cNvSpPr/>
          <p:nvPr/>
        </p:nvSpPr>
        <p:spPr>
          <a:xfrm>
            <a:off x="5787000" y="4340248"/>
            <a:ext cx="540006"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defTabSz="342900"/>
            <a:r>
              <a:rPr lang="en-US" altLang="ja-JP" sz="1350" dirty="0">
                <a:solidFill>
                  <a:prstClr val="black"/>
                </a:solidFill>
                <a:latin typeface="Arial" panose="020B0604020202020204" pitchFamily="34" charset="0"/>
                <a:ea typeface="游ゴシック" panose="020B0400000000000000" pitchFamily="50" charset="-128"/>
                <a:cs typeface="Arial" panose="020B0604020202020204" pitchFamily="34" charset="0"/>
              </a:rPr>
              <a:t>...</a:t>
            </a:r>
            <a:endParaRPr lang="en-US" sz="1350" dirty="0">
              <a:solidFill>
                <a:prstClr val="black"/>
              </a:solidFill>
              <a:latin typeface="Times New Roman" panose="02020603050405020304" pitchFamily="18" charset="0"/>
              <a:cs typeface="Times New Roman" panose="02020603050405020304" pitchFamily="18" charset="0"/>
            </a:endParaRPr>
          </a:p>
        </p:txBody>
      </p:sp>
      <p:cxnSp>
        <p:nvCxnSpPr>
          <p:cNvPr id="276" name="直線コネクタ 275">
            <a:extLst>
              <a:ext uri="{FF2B5EF4-FFF2-40B4-BE49-F238E27FC236}">
                <a16:creationId xmlns:a16="http://schemas.microsoft.com/office/drawing/2014/main" id="{4AD53ECC-5659-888C-D00A-F7DAC035934C}"/>
              </a:ext>
            </a:extLst>
          </p:cNvPr>
          <p:cNvCxnSpPr>
            <a:cxnSpLocks/>
          </p:cNvCxnSpPr>
          <p:nvPr/>
        </p:nvCxnSpPr>
        <p:spPr>
          <a:xfrm>
            <a:off x="5449500" y="5318999"/>
            <a:ext cx="0" cy="135000"/>
          </a:xfrm>
          <a:prstGeom prst="line">
            <a:avLst/>
          </a:pr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cxnSp>
      <p:cxnSp>
        <p:nvCxnSpPr>
          <p:cNvPr id="277" name="直線矢印コネクタ 276">
            <a:extLst>
              <a:ext uri="{FF2B5EF4-FFF2-40B4-BE49-F238E27FC236}">
                <a16:creationId xmlns:a16="http://schemas.microsoft.com/office/drawing/2014/main" id="{1BB6138F-A9D4-3E5B-F009-9A82E3E0F6A0}"/>
              </a:ext>
            </a:extLst>
          </p:cNvPr>
          <p:cNvCxnSpPr>
            <a:cxnSpLocks/>
            <a:endCxn id="201" idx="3"/>
          </p:cNvCxnSpPr>
          <p:nvPr/>
        </p:nvCxnSpPr>
        <p:spPr>
          <a:xfrm flipH="1">
            <a:off x="5339820" y="5453999"/>
            <a:ext cx="109680" cy="0"/>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cxnSp>
        <p:nvCxnSpPr>
          <p:cNvPr id="281" name="直線コネクタ 280">
            <a:extLst>
              <a:ext uri="{FF2B5EF4-FFF2-40B4-BE49-F238E27FC236}">
                <a16:creationId xmlns:a16="http://schemas.microsoft.com/office/drawing/2014/main" id="{665D468B-ABA4-2191-2CD9-3A7B0433031B}"/>
              </a:ext>
            </a:extLst>
          </p:cNvPr>
          <p:cNvCxnSpPr>
            <a:cxnSpLocks/>
          </p:cNvCxnSpPr>
          <p:nvPr/>
        </p:nvCxnSpPr>
        <p:spPr>
          <a:xfrm>
            <a:off x="5415750" y="4643999"/>
            <a:ext cx="0" cy="303750"/>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cxnSp>
        <p:nvCxnSpPr>
          <p:cNvPr id="300" name="直線矢印コネクタ 299">
            <a:extLst>
              <a:ext uri="{FF2B5EF4-FFF2-40B4-BE49-F238E27FC236}">
                <a16:creationId xmlns:a16="http://schemas.microsoft.com/office/drawing/2014/main" id="{5D41BAFF-51AF-8636-EA37-EF9FC357F24B}"/>
              </a:ext>
            </a:extLst>
          </p:cNvPr>
          <p:cNvCxnSpPr>
            <a:cxnSpLocks/>
          </p:cNvCxnSpPr>
          <p:nvPr/>
        </p:nvCxnSpPr>
        <p:spPr>
          <a:xfrm>
            <a:off x="5550750" y="4846499"/>
            <a:ext cx="0" cy="101251"/>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sp>
        <p:nvSpPr>
          <p:cNvPr id="303" name="Freeform 10">
            <a:extLst>
              <a:ext uri="{FF2B5EF4-FFF2-40B4-BE49-F238E27FC236}">
                <a16:creationId xmlns:a16="http://schemas.microsoft.com/office/drawing/2014/main" id="{5A972FEC-516F-376E-8040-FF500E4214DD}"/>
              </a:ext>
            </a:extLst>
          </p:cNvPr>
          <p:cNvSpPr>
            <a:spLocks/>
          </p:cNvSpPr>
          <p:nvPr/>
        </p:nvSpPr>
        <p:spPr bwMode="auto">
          <a:xfrm flipH="1">
            <a:off x="5550750" y="4745249"/>
            <a:ext cx="2430000" cy="101250"/>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9525"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Lst>
        </p:spPr>
        <p:txBody>
          <a:bodyPr wrap="none" lIns="0" tIns="0" rIns="0" bIns="0">
            <a:noAutofit/>
          </a:bodyPr>
          <a:lstStyle/>
          <a:p>
            <a:pPr defTabSz="342900"/>
            <a:endParaRPr kumimoji="0" lang="ja-JP" altLang="en-US" sz="1350">
              <a:solidFill>
                <a:prstClr val="black"/>
              </a:solidFill>
              <a:latin typeface="Arial Narrow" pitchFamily="34" charset="0"/>
              <a:ea typeface="游ゴシック" panose="020B0400000000000000" pitchFamily="50" charset="-128"/>
              <a:cs typeface="Times New Roman" pitchFamily="18" charset="0"/>
            </a:endParaRPr>
          </a:p>
        </p:txBody>
      </p:sp>
      <p:sp>
        <p:nvSpPr>
          <p:cNvPr id="304" name="正方形/長方形 303">
            <a:extLst>
              <a:ext uri="{FF2B5EF4-FFF2-40B4-BE49-F238E27FC236}">
                <a16:creationId xmlns:a16="http://schemas.microsoft.com/office/drawing/2014/main" id="{D1598358-14B8-C850-7013-3388D04018B9}"/>
              </a:ext>
            </a:extLst>
          </p:cNvPr>
          <p:cNvSpPr/>
          <p:nvPr/>
        </p:nvSpPr>
        <p:spPr>
          <a:xfrm>
            <a:off x="7305750" y="3766499"/>
            <a:ext cx="1350000" cy="978750"/>
          </a:xfrm>
          <a:prstGeom prst="rect">
            <a:avLst/>
          </a:prstGeom>
          <a:solidFill>
            <a:schemeClr val="accent6">
              <a:lumMod val="20000"/>
              <a:lumOff val="80000"/>
            </a:schemeClr>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defTabSz="342900"/>
            <a:r>
              <a:rPr lang="en-US" altLang="ja-JP" sz="1350" dirty="0">
                <a:solidFill>
                  <a:prstClr val="black"/>
                </a:solidFill>
                <a:latin typeface="Calibri" panose="020F0502020204030204"/>
                <a:ea typeface="游ゴシック" panose="020B0400000000000000" pitchFamily="50" charset="-128"/>
              </a:rPr>
              <a:t>Register-value component</a:t>
            </a:r>
            <a:endParaRPr lang="ja-JP" altLang="en-US" sz="1350" dirty="0">
              <a:solidFill>
                <a:prstClr val="black"/>
              </a:solidFill>
              <a:latin typeface="Calibri" panose="020F0502020204030204"/>
              <a:ea typeface="游ゴシック" panose="020B0400000000000000" pitchFamily="50" charset="-128"/>
            </a:endParaRPr>
          </a:p>
        </p:txBody>
      </p:sp>
      <p:sp>
        <p:nvSpPr>
          <p:cNvPr id="305" name="正方形/長方形 304">
            <a:extLst>
              <a:ext uri="{FF2B5EF4-FFF2-40B4-BE49-F238E27FC236}">
                <a16:creationId xmlns:a16="http://schemas.microsoft.com/office/drawing/2014/main" id="{806C2916-62C0-837C-DCB7-F37F631236AD}"/>
              </a:ext>
            </a:extLst>
          </p:cNvPr>
          <p:cNvSpPr/>
          <p:nvPr/>
        </p:nvSpPr>
        <p:spPr>
          <a:xfrm>
            <a:off x="7845749" y="3496497"/>
            <a:ext cx="270003" cy="1350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342900"/>
            <a:r>
              <a:rPr lang="en-US" altLang="ja-JP" sz="1050" dirty="0">
                <a:solidFill>
                  <a:prstClr val="black"/>
                </a:solidFill>
                <a:latin typeface="Arial" panose="020B0604020202020204" pitchFamily="34" charset="0"/>
                <a:ea typeface="游ゴシック" panose="020B0400000000000000" pitchFamily="50" charset="-128"/>
                <a:cs typeface="Arial" panose="020B0604020202020204" pitchFamily="34" charset="0"/>
              </a:rPr>
              <a:t>PC, register values</a:t>
            </a:r>
            <a:endParaRPr lang="en-US" sz="1050" dirty="0">
              <a:solidFill>
                <a:prstClr val="black"/>
              </a:solidFill>
              <a:latin typeface="Times New Roman" panose="02020603050405020304" pitchFamily="18" charset="0"/>
              <a:cs typeface="Times New Roman" panose="02020603050405020304" pitchFamily="18" charset="0"/>
            </a:endParaRPr>
          </a:p>
        </p:txBody>
      </p:sp>
      <p:cxnSp>
        <p:nvCxnSpPr>
          <p:cNvPr id="306" name="直線矢印コネクタ 305">
            <a:extLst>
              <a:ext uri="{FF2B5EF4-FFF2-40B4-BE49-F238E27FC236}">
                <a16:creationId xmlns:a16="http://schemas.microsoft.com/office/drawing/2014/main" id="{1306462D-5BFD-848C-5F42-8130E61859AD}"/>
              </a:ext>
            </a:extLst>
          </p:cNvPr>
          <p:cNvCxnSpPr>
            <a:cxnSpLocks/>
          </p:cNvCxnSpPr>
          <p:nvPr/>
        </p:nvCxnSpPr>
        <p:spPr>
          <a:xfrm>
            <a:off x="7980750" y="3631498"/>
            <a:ext cx="0" cy="135002"/>
          </a:xfrm>
          <a:prstGeom prst="straightConnector1">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cxnSp>
        <p:nvCxnSpPr>
          <p:cNvPr id="274" name="直線コネクタ 273">
            <a:extLst>
              <a:ext uri="{FF2B5EF4-FFF2-40B4-BE49-F238E27FC236}">
                <a16:creationId xmlns:a16="http://schemas.microsoft.com/office/drawing/2014/main" id="{1E787BEC-2402-21DE-ECA5-5D2C7FB2068A}"/>
              </a:ext>
            </a:extLst>
          </p:cNvPr>
          <p:cNvCxnSpPr>
            <a:cxnSpLocks/>
          </p:cNvCxnSpPr>
          <p:nvPr/>
        </p:nvCxnSpPr>
        <p:spPr>
          <a:xfrm>
            <a:off x="2918250" y="3462750"/>
            <a:ext cx="641250" cy="0"/>
          </a:xfrm>
          <a:prstGeom prst="line">
            <a:avLst/>
          </a:prstGeom>
          <a:noFill/>
          <a:ln w="9525" cap="rnd" cmpd="sng">
            <a:solidFill>
              <a:schemeClr val="tx1"/>
            </a:solidFill>
            <a:prstDash val="solid"/>
            <a:round/>
            <a:headEnd type="none" w="sm" len="sm"/>
            <a:tailEnd type="triangle" w="sm" len="sm"/>
          </a:ln>
          <a:effectLst/>
          <a:extLst>
            <a:ext uri="{909E8E84-426E-40DD-AFC4-6F175D3DCCD1}">
              <a14:hiddenFill xmlns:a14="http://schemas.microsoft.com/office/drawing/2010/main">
                <a:solidFill>
                  <a:schemeClr val="accent1"/>
                </a:solidFill>
              </a14:hiddenFill>
            </a:ext>
          </a:extLst>
        </p:spPr>
      </p:cxnSp>
      <p:cxnSp>
        <p:nvCxnSpPr>
          <p:cNvPr id="280" name="直線コネクタ 279">
            <a:extLst>
              <a:ext uri="{FF2B5EF4-FFF2-40B4-BE49-F238E27FC236}">
                <a16:creationId xmlns:a16="http://schemas.microsoft.com/office/drawing/2014/main" id="{5D488E0F-E4E5-7604-65D4-946EAD362353}"/>
              </a:ext>
            </a:extLst>
          </p:cNvPr>
          <p:cNvCxnSpPr>
            <a:cxnSpLocks/>
          </p:cNvCxnSpPr>
          <p:nvPr/>
        </p:nvCxnSpPr>
        <p:spPr>
          <a:xfrm>
            <a:off x="2918250" y="3462750"/>
            <a:ext cx="0" cy="185625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 name="コンテンツ プレースホルダー 2">
            <a:extLst>
              <a:ext uri="{FF2B5EF4-FFF2-40B4-BE49-F238E27FC236}">
                <a16:creationId xmlns:a16="http://schemas.microsoft.com/office/drawing/2014/main" id="{3EBE4C98-57C3-A8A2-BBC9-874EB56A7737}"/>
              </a:ext>
            </a:extLst>
          </p:cNvPr>
          <p:cNvSpPr txBox="1">
            <a:spLocks/>
          </p:cNvSpPr>
          <p:nvPr/>
        </p:nvSpPr>
        <p:spPr>
          <a:xfrm>
            <a:off x="611956" y="1448978"/>
            <a:ext cx="7886700" cy="883367"/>
          </a:xfrm>
          <a:prstGeom prst="rect">
            <a:avLst/>
          </a:prstGeom>
        </p:spPr>
        <p:txBody>
          <a:bodyPr/>
          <a:lst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lumMod val="60000"/>
                  <a:lumOff val="40000"/>
                </a:schemeClr>
              </a:buClr>
              <a:buSzPct val="90000"/>
              <a:buFont typeface="Wingdings" panose="05000000000000000000" pitchFamily="2" charset="2"/>
              <a:buChar char="l"/>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300"/>
              </a:spcAft>
              <a:buClr>
                <a:schemeClr val="accent4">
                  <a:lumMod val="60000"/>
                  <a:lumOff val="40000"/>
                </a:schemeClr>
              </a:buClr>
              <a:buSzPct val="7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300"/>
              </a:spcBef>
              <a:spcAft>
                <a:spcPts val="300"/>
              </a:spcAft>
              <a:buClr>
                <a:schemeClr val="accent4">
                  <a:lumMod val="60000"/>
                  <a:lumOff val="40000"/>
                </a:schemeClr>
              </a:buClr>
              <a:buSzPct val="6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300"/>
              </a:spcAft>
              <a:buClr>
                <a:schemeClr val="accent4">
                  <a:lumMod val="60000"/>
                  <a:lumOff val="40000"/>
                </a:schemeClr>
              </a:buClr>
              <a:buSzPct val="8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5pPr>
            <a:lvl6pPr marL="18859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6pPr>
            <a:lvl7pPr marL="22288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7pPr>
            <a:lvl8pPr marL="25717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8pPr>
            <a:lvl9pPr marL="29146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9pPr>
          </a:lstStyle>
          <a:p>
            <a:r>
              <a:rPr lang="ja-JP" altLang="en-US" kern="0" dirty="0"/>
              <a:t>基本的には </a:t>
            </a:r>
            <a:r>
              <a:rPr lang="en-US" altLang="ja-JP" kern="0" dirty="0"/>
              <a:t>TAGE </a:t>
            </a:r>
            <a:r>
              <a:rPr lang="ja-JP" altLang="en-US" kern="0" dirty="0"/>
              <a:t>予測器の構造を踏襲</a:t>
            </a:r>
            <a:endParaRPr lang="en-US" altLang="ja-JP" kern="0" dirty="0"/>
          </a:p>
          <a:p>
            <a:r>
              <a:rPr lang="ja-JP" altLang="en-US" kern="0" dirty="0"/>
              <a:t>レジスタの値と分岐の方向の相関を拾う方式を新しく提案</a:t>
            </a:r>
            <a:endParaRPr lang="en-US" altLang="ja-JP" kern="0" dirty="0"/>
          </a:p>
        </p:txBody>
      </p:sp>
    </p:spTree>
    <p:extLst>
      <p:ext uri="{BB962C8B-B14F-4D97-AF65-F5344CB8AC3E}">
        <p14:creationId xmlns:p14="http://schemas.microsoft.com/office/powerpoint/2010/main" val="136743931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1601967" y="3158997"/>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38" name="グループ化 37"/>
          <p:cNvGrpSpPr/>
          <p:nvPr/>
        </p:nvGrpSpPr>
        <p:grpSpPr>
          <a:xfrm>
            <a:off x="3042127" y="3158997"/>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52" name="グループ化 51"/>
          <p:cNvGrpSpPr/>
          <p:nvPr/>
        </p:nvGrpSpPr>
        <p:grpSpPr>
          <a:xfrm>
            <a:off x="4482287" y="3158997"/>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56" name="グループ化 55"/>
          <p:cNvGrpSpPr/>
          <p:nvPr/>
        </p:nvGrpSpPr>
        <p:grpSpPr>
          <a:xfrm>
            <a:off x="5922447" y="3158997"/>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sp>
        <p:nvSpPr>
          <p:cNvPr id="3" name="正方形/長方形 2"/>
          <p:cNvSpPr/>
          <p:nvPr/>
        </p:nvSpPr>
        <p:spPr>
          <a:xfrm>
            <a:off x="1563806" y="2294454"/>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3003966" y="2294454"/>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4446013" y="2313038"/>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5886173" y="2313038"/>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kumimoji="1" lang="ja-JP" altLang="en-US" dirty="0"/>
              <a:t>分岐命令の処理と制御ハザード</a:t>
            </a:r>
          </a:p>
        </p:txBody>
      </p:sp>
      <p:sp>
        <p:nvSpPr>
          <p:cNvPr id="58" name="コンテンツ プレースホルダー 57"/>
          <p:cNvSpPr>
            <a:spLocks noGrp="1"/>
          </p:cNvSpPr>
          <p:nvPr>
            <p:ph idx="4294967295"/>
          </p:nvPr>
        </p:nvSpPr>
        <p:spPr>
          <a:xfrm>
            <a:off x="127205" y="4329010"/>
            <a:ext cx="9000100" cy="2250025"/>
          </a:xfrm>
          <a:prstGeom prst="rect">
            <a:avLst/>
          </a:prstGeom>
        </p:spPr>
        <p:txBody>
          <a:bodyPr/>
          <a:lstStyle/>
          <a:p>
            <a:r>
              <a:rPr lang="ja-JP" altLang="en-US" dirty="0"/>
              <a:t>「</a:t>
            </a:r>
            <a:r>
              <a:rPr lang="en-US" altLang="ja-JP" dirty="0">
                <a:solidFill>
                  <a:schemeClr val="accent5"/>
                </a:solidFill>
              </a:rPr>
              <a:t>if a &gt; 0</a:t>
            </a:r>
            <a:r>
              <a:rPr lang="ja-JP" altLang="en-US" dirty="0"/>
              <a:t>」の結果は</a:t>
            </a:r>
            <a:r>
              <a:rPr lang="ja-JP" altLang="en-US" dirty="0">
                <a:solidFill>
                  <a:schemeClr val="accent4"/>
                </a:solidFill>
              </a:rPr>
              <a:t>最終段の </a:t>
            </a:r>
            <a:r>
              <a:rPr lang="el-GR" altLang="ja-JP" sz="18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8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8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8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8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8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8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8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dirty="0"/>
              <a:t>の人まで反映出来ない</a:t>
            </a:r>
            <a:endParaRPr lang="en-US" altLang="ja-JP" sz="1800" dirty="0"/>
          </a:p>
          <a:p>
            <a:pPr lvl="1"/>
            <a:r>
              <a:rPr lang="ja-JP" altLang="en-US" dirty="0"/>
              <a:t>先頭は次に </a:t>
            </a:r>
            <a:r>
              <a:rPr lang="en-US" altLang="ja-JP" dirty="0">
                <a:solidFill>
                  <a:schemeClr val="accent5"/>
                </a:solidFill>
              </a:rPr>
              <a:t>a=a+1 </a:t>
            </a:r>
            <a:r>
              <a:rPr lang="ja-JP" altLang="en-US" dirty="0"/>
              <a:t>と </a:t>
            </a:r>
            <a:r>
              <a:rPr lang="en-US" altLang="ja-JP" dirty="0">
                <a:solidFill>
                  <a:schemeClr val="accent5"/>
                </a:solidFill>
              </a:rPr>
              <a:t>a=a-1</a:t>
            </a:r>
            <a:r>
              <a:rPr lang="en-US" altLang="ja-JP" dirty="0"/>
              <a:t> </a:t>
            </a:r>
            <a:r>
              <a:rPr lang="ja-JP" altLang="en-US" dirty="0"/>
              <a:t>のどちらを取り込めばいいのかわからない</a:t>
            </a:r>
            <a:endParaRPr lang="en-US" altLang="ja-JP" dirty="0"/>
          </a:p>
        </p:txBody>
      </p:sp>
      <p:cxnSp>
        <p:nvCxnSpPr>
          <p:cNvPr id="67" name="直線矢印コネクタ 66"/>
          <p:cNvCxnSpPr/>
          <p:nvPr/>
        </p:nvCxnSpPr>
        <p:spPr bwMode="auto">
          <a:xfrm>
            <a:off x="1601967" y="3969006"/>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90" name="角丸四角形 89"/>
          <p:cNvSpPr/>
          <p:nvPr/>
        </p:nvSpPr>
        <p:spPr bwMode="auto">
          <a:xfrm>
            <a:off x="2051972" y="297899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kumimoji="1" lang="en-US" altLang="ja-JP" dirty="0">
                <a:latin typeface="Arial Narrow" panose="020B0606020202030204" pitchFamily="34" charset="0"/>
              </a:rPr>
              <a:t>if a &gt; 0</a:t>
            </a:r>
            <a:endParaRPr kumimoji="1" lang="ja-JP" altLang="en-US" dirty="0">
              <a:latin typeface="Arial Narrow" panose="020B0606020202030204" pitchFamily="34" charset="0"/>
            </a:endParaRPr>
          </a:p>
        </p:txBody>
      </p:sp>
      <p:sp>
        <p:nvSpPr>
          <p:cNvPr id="96" name="正方形/長方形 95"/>
          <p:cNvSpPr/>
          <p:nvPr/>
        </p:nvSpPr>
        <p:spPr bwMode="auto">
          <a:xfrm>
            <a:off x="251952" y="2438989"/>
            <a:ext cx="1152128" cy="1710019"/>
          </a:xfrm>
          <a:prstGeom prst="rect">
            <a:avLst/>
          </a:prstGeom>
          <a:ln>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t" anchorCtr="0" forceAA="0" compatLnSpc="1">
            <a:prstTxWarp prst="textNoShape">
              <a:avLst/>
            </a:prstTxWarp>
            <a:noAutofit/>
          </a:bodyPr>
          <a:lstStyle/>
          <a:p>
            <a:pPr>
              <a:lnSpc>
                <a:spcPct val="80000"/>
              </a:lnSpc>
            </a:pPr>
            <a:r>
              <a:rPr kumimoji="1" lang="en-US" altLang="ja-JP" sz="2400" b="1" dirty="0">
                <a:solidFill>
                  <a:schemeClr val="tx2"/>
                </a:solidFill>
                <a:latin typeface="Arial Narrow" panose="020B0606020202030204" pitchFamily="34" charset="0"/>
              </a:rPr>
              <a:t>if a &gt; 0:</a:t>
            </a:r>
          </a:p>
          <a:p>
            <a:pPr>
              <a:lnSpc>
                <a:spcPct val="80000"/>
              </a:lnSpc>
            </a:pPr>
            <a:r>
              <a:rPr kumimoji="1" lang="en-US" altLang="ja-JP" sz="2400" dirty="0">
                <a:solidFill>
                  <a:schemeClr val="bg1"/>
                </a:solidFill>
                <a:latin typeface="Arial Narrow" panose="020B0606020202030204" pitchFamily="34" charset="0"/>
              </a:rPr>
              <a:t>    a=a+1</a:t>
            </a:r>
          </a:p>
          <a:p>
            <a:pPr>
              <a:lnSpc>
                <a:spcPct val="80000"/>
              </a:lnSpc>
            </a:pPr>
            <a:r>
              <a:rPr lang="en-US" altLang="ja-JP" sz="2400" dirty="0">
                <a:solidFill>
                  <a:schemeClr val="bg1"/>
                </a:solidFill>
                <a:latin typeface="Arial Narrow" panose="020B0606020202030204" pitchFamily="34" charset="0"/>
              </a:rPr>
              <a:t>else:</a:t>
            </a:r>
          </a:p>
          <a:p>
            <a:pPr>
              <a:lnSpc>
                <a:spcPct val="80000"/>
              </a:lnSpc>
            </a:pPr>
            <a:r>
              <a:rPr kumimoji="1" lang="en-US" altLang="ja-JP" sz="2400" dirty="0">
                <a:solidFill>
                  <a:schemeClr val="bg1"/>
                </a:solidFill>
                <a:latin typeface="Arial Narrow" panose="020B0606020202030204" pitchFamily="34" charset="0"/>
              </a:rPr>
              <a:t>    a=a-1</a:t>
            </a:r>
          </a:p>
          <a:p>
            <a:pPr>
              <a:lnSpc>
                <a:spcPct val="80000"/>
              </a:lnSpc>
            </a:pPr>
            <a:r>
              <a:rPr kumimoji="1" lang="ja-JP" altLang="en-US" sz="2000" dirty="0">
                <a:solidFill>
                  <a:schemeClr val="bg1"/>
                </a:solidFill>
                <a:latin typeface="Arial Narrow" panose="020B0606020202030204" pitchFamily="34" charset="0"/>
              </a:rPr>
              <a:t>  </a:t>
            </a:r>
          </a:p>
        </p:txBody>
      </p:sp>
      <p:sp>
        <p:nvSpPr>
          <p:cNvPr id="97" name="正方形/長方形 96"/>
          <p:cNvSpPr/>
          <p:nvPr/>
        </p:nvSpPr>
        <p:spPr bwMode="auto">
          <a:xfrm>
            <a:off x="521955" y="1898983"/>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kumimoji="1" lang="ja-JP" altLang="en-US" sz="1600" dirty="0">
                <a:solidFill>
                  <a:schemeClr val="tx1">
                    <a:lumMod val="65000"/>
                    <a:lumOff val="35000"/>
                  </a:schemeClr>
                </a:solidFill>
              </a:rPr>
              <a:t>命令メモリ</a:t>
            </a:r>
          </a:p>
        </p:txBody>
      </p:sp>
      <p:sp>
        <p:nvSpPr>
          <p:cNvPr id="24" name="角丸四角形吹き出し 23"/>
          <p:cNvSpPr/>
          <p:nvPr/>
        </p:nvSpPr>
        <p:spPr bwMode="auto">
          <a:xfrm>
            <a:off x="2141973" y="1718981"/>
            <a:ext cx="1440016" cy="432646"/>
          </a:xfrm>
          <a:prstGeom prst="wedgeRoundRectCallout">
            <a:avLst>
              <a:gd name="adj1" fmla="val -43365"/>
              <a:gd name="adj2" fmla="val 134720"/>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sz="1400" dirty="0">
                <a:solidFill>
                  <a:schemeClr val="tx1">
                    <a:lumMod val="65000"/>
                    <a:lumOff val="35000"/>
                  </a:schemeClr>
                </a:solidFill>
                <a:latin typeface="Arial Narrow" panose="020B0606020202030204" pitchFamily="34" charset="0"/>
              </a:rPr>
              <a:t>次どう</a:t>
            </a:r>
            <a:r>
              <a:rPr kumimoji="1" lang="ja-JP" altLang="en-US" sz="1400" dirty="0" err="1">
                <a:solidFill>
                  <a:schemeClr val="tx1">
                    <a:lumMod val="65000"/>
                    <a:lumOff val="35000"/>
                  </a:schemeClr>
                </a:solidFill>
                <a:latin typeface="Arial Narrow" panose="020B0606020202030204" pitchFamily="34" charset="0"/>
              </a:rPr>
              <a:t>すんねん</a:t>
            </a:r>
            <a:endParaRPr kumimoji="1" lang="ja-JP" altLang="en-US" sz="1400" dirty="0">
              <a:solidFill>
                <a:schemeClr val="tx1">
                  <a:lumMod val="65000"/>
                  <a:lumOff val="35000"/>
                </a:schemeClr>
              </a:solidFill>
              <a:latin typeface="Arial Narrow" panose="020B0606020202030204" pitchFamily="34" charset="0"/>
            </a:endParaRPr>
          </a:p>
        </p:txBody>
      </p:sp>
    </p:spTree>
    <p:extLst>
      <p:ext uri="{BB962C8B-B14F-4D97-AF65-F5344CB8AC3E}">
        <p14:creationId xmlns:p14="http://schemas.microsoft.com/office/powerpoint/2010/main" val="8695596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1601967" y="3158997"/>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38" name="グループ化 37"/>
          <p:cNvGrpSpPr/>
          <p:nvPr/>
        </p:nvGrpSpPr>
        <p:grpSpPr>
          <a:xfrm>
            <a:off x="3042127" y="3158997"/>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52" name="グループ化 51"/>
          <p:cNvGrpSpPr/>
          <p:nvPr/>
        </p:nvGrpSpPr>
        <p:grpSpPr>
          <a:xfrm>
            <a:off x="4482287" y="3158997"/>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56" name="グループ化 55"/>
          <p:cNvGrpSpPr/>
          <p:nvPr/>
        </p:nvGrpSpPr>
        <p:grpSpPr>
          <a:xfrm>
            <a:off x="5922447" y="3158997"/>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sp>
        <p:nvSpPr>
          <p:cNvPr id="3" name="正方形/長方形 2"/>
          <p:cNvSpPr/>
          <p:nvPr/>
        </p:nvSpPr>
        <p:spPr>
          <a:xfrm>
            <a:off x="1563806" y="2294454"/>
            <a:ext cx="1658179"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ｲｹﾙﾃﾞ</a:t>
            </a:r>
            <a:endPar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 ｺﾚﾊ </a:t>
            </a:r>
          </a:p>
        </p:txBody>
      </p:sp>
      <p:sp>
        <p:nvSpPr>
          <p:cNvPr id="36" name="正方形/長方形 35"/>
          <p:cNvSpPr/>
          <p:nvPr/>
        </p:nvSpPr>
        <p:spPr>
          <a:xfrm>
            <a:off x="3003965" y="2294454"/>
            <a:ext cx="1478033"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ｷﾘｶｴｶﾞ</a:t>
            </a:r>
            <a:endPar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 ﾀﾞｲｼﾞ</a:t>
            </a:r>
          </a:p>
        </p:txBody>
      </p:sp>
      <p:sp>
        <p:nvSpPr>
          <p:cNvPr id="49" name="正方形/長方形 48"/>
          <p:cNvSpPr/>
          <p:nvPr/>
        </p:nvSpPr>
        <p:spPr>
          <a:xfrm>
            <a:off x="4446013" y="2313038"/>
            <a:ext cx="1296000"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ﾔﾚﾔﾚ（つ   つ</a:t>
            </a:r>
          </a:p>
        </p:txBody>
      </p:sp>
      <p:sp>
        <p:nvSpPr>
          <p:cNvPr id="55" name="正方形/長方形 54"/>
          <p:cNvSpPr/>
          <p:nvPr/>
        </p:nvSpPr>
        <p:spPr>
          <a:xfrm>
            <a:off x="5886173" y="2313038"/>
            <a:ext cx="1925863"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ﾏﾀﾏﾁｶﾞｯﾃﾙ</a:t>
            </a:r>
            <a:b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b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lang="en-US" altLang="ja-JP" dirty="0"/>
              <a:t>RUNLTS </a:t>
            </a:r>
            <a:r>
              <a:rPr lang="ja-JP" altLang="en-US" dirty="0"/>
              <a:t>のやりかた</a:t>
            </a:r>
            <a:endParaRPr kumimoji="1" lang="ja-JP" altLang="en-US" dirty="0"/>
          </a:p>
        </p:txBody>
      </p:sp>
      <p:sp>
        <p:nvSpPr>
          <p:cNvPr id="58" name="コンテンツ プレースホルダー 57"/>
          <p:cNvSpPr>
            <a:spLocks noGrp="1"/>
          </p:cNvSpPr>
          <p:nvPr>
            <p:ph idx="4294967295"/>
          </p:nvPr>
        </p:nvSpPr>
        <p:spPr>
          <a:xfrm>
            <a:off x="127205" y="4329010"/>
            <a:ext cx="9000100" cy="2250025"/>
          </a:xfrm>
          <a:prstGeom prst="rect">
            <a:avLst/>
          </a:prstGeom>
        </p:spPr>
        <p:txBody>
          <a:bodyPr/>
          <a:lstStyle/>
          <a:p>
            <a:r>
              <a:rPr lang="ja-JP" altLang="en-US" dirty="0"/>
              <a:t>連続した分岐の１個目（「</a:t>
            </a:r>
            <a:r>
              <a:rPr lang="en-US" altLang="ja-JP" dirty="0">
                <a:solidFill>
                  <a:schemeClr val="accent5"/>
                </a:solidFill>
              </a:rPr>
              <a:t>if z==0</a:t>
            </a:r>
            <a:r>
              <a:rPr lang="ja-JP" altLang="en-US" dirty="0"/>
              <a:t>」）でミスがあった場合を考える</a:t>
            </a:r>
            <a:endParaRPr lang="en-US" altLang="ja-JP" dirty="0"/>
          </a:p>
          <a:p>
            <a:pPr lvl="1"/>
            <a:r>
              <a:rPr lang="ja-JP" altLang="en-US" dirty="0"/>
              <a:t>「</a:t>
            </a:r>
            <a:r>
              <a:rPr lang="en-US" altLang="ja-JP" dirty="0">
                <a:solidFill>
                  <a:schemeClr val="accent5"/>
                </a:solidFill>
              </a:rPr>
              <a:t>If z==0</a:t>
            </a:r>
            <a:r>
              <a:rPr lang="ja-JP" altLang="en-US" dirty="0"/>
              <a:t>」の後は一旦取り消される</a:t>
            </a:r>
            <a:endParaRPr lang="en-US" altLang="ja-JP" dirty="0"/>
          </a:p>
          <a:p>
            <a:pPr lvl="1"/>
            <a:r>
              <a:rPr lang="ja-JP" altLang="en-US" dirty="0"/>
              <a:t>このときしかし，その前に決定された値「</a:t>
            </a:r>
            <a:r>
              <a:rPr lang="en-US" altLang="ja-JP" dirty="0"/>
              <a:t>a=1</a:t>
            </a:r>
            <a:r>
              <a:rPr lang="ja-JP" altLang="en-US" dirty="0"/>
              <a:t>」が観測可能</a:t>
            </a:r>
            <a:endParaRPr lang="en-US" altLang="ja-JP" dirty="0"/>
          </a:p>
          <a:p>
            <a:pPr lvl="2"/>
            <a:r>
              <a:rPr lang="ja-JP" altLang="en-US" dirty="0"/>
              <a:t>これを使う</a:t>
            </a:r>
            <a:endParaRPr lang="en-US" altLang="ja-JP" dirty="0"/>
          </a:p>
        </p:txBody>
      </p:sp>
      <p:cxnSp>
        <p:nvCxnSpPr>
          <p:cNvPr id="67" name="直線矢印コネクタ 66"/>
          <p:cNvCxnSpPr/>
          <p:nvPr/>
        </p:nvCxnSpPr>
        <p:spPr bwMode="auto">
          <a:xfrm>
            <a:off x="1601967" y="3969006"/>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90" name="角丸四角形 89"/>
          <p:cNvSpPr/>
          <p:nvPr/>
        </p:nvSpPr>
        <p:spPr bwMode="auto">
          <a:xfrm>
            <a:off x="6372020" y="3068996"/>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kumimoji="1" lang="en-US" altLang="ja-JP" b="1" dirty="0">
                <a:latin typeface="Arial Narrow" panose="020B0606020202030204" pitchFamily="34" charset="0"/>
              </a:rPr>
              <a:t>if z == 0</a:t>
            </a:r>
            <a:endParaRPr kumimoji="1" lang="ja-JP" altLang="en-US" b="1" dirty="0">
              <a:latin typeface="Arial Narrow" panose="020B0606020202030204" pitchFamily="34" charset="0"/>
            </a:endParaRPr>
          </a:p>
        </p:txBody>
      </p:sp>
      <p:sp>
        <p:nvSpPr>
          <p:cNvPr id="96" name="正方形/長方形 95"/>
          <p:cNvSpPr/>
          <p:nvPr/>
        </p:nvSpPr>
        <p:spPr bwMode="auto">
          <a:xfrm>
            <a:off x="251952" y="1628981"/>
            <a:ext cx="1152128" cy="2520028"/>
          </a:xfrm>
          <a:prstGeom prst="rect">
            <a:avLst/>
          </a:prstGeom>
          <a:ln>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t" anchorCtr="0" forceAA="0" compatLnSpc="1">
            <a:prstTxWarp prst="textNoShape">
              <a:avLst/>
            </a:prstTxWarp>
            <a:noAutofit/>
          </a:bodyPr>
          <a:lstStyle/>
          <a:p>
            <a:pPr>
              <a:lnSpc>
                <a:spcPct val="80000"/>
              </a:lnSpc>
            </a:pPr>
            <a:r>
              <a:rPr kumimoji="1" lang="en-US" altLang="ja-JP" sz="2400" b="1" dirty="0">
                <a:solidFill>
                  <a:schemeClr val="tx2"/>
                </a:solidFill>
                <a:latin typeface="Arial Narrow" panose="020B0606020202030204" pitchFamily="34" charset="0"/>
              </a:rPr>
              <a:t>a = 1</a:t>
            </a:r>
            <a:br>
              <a:rPr kumimoji="1" lang="en-US" altLang="ja-JP" sz="2400" b="1" dirty="0">
                <a:solidFill>
                  <a:schemeClr val="tx2"/>
                </a:solidFill>
                <a:latin typeface="Arial Narrow" panose="020B0606020202030204" pitchFamily="34" charset="0"/>
              </a:rPr>
            </a:br>
            <a:r>
              <a:rPr kumimoji="1" lang="en-US" altLang="ja-JP" sz="2400" b="1" dirty="0">
                <a:solidFill>
                  <a:schemeClr val="tx2"/>
                </a:solidFill>
                <a:latin typeface="Arial Narrow" panose="020B0606020202030204" pitchFamily="34" charset="0"/>
              </a:rPr>
              <a:t>if z==0: </a:t>
            </a:r>
            <a:br>
              <a:rPr kumimoji="1" lang="en-US" altLang="ja-JP" sz="2400" b="1" dirty="0">
                <a:solidFill>
                  <a:schemeClr val="tx2"/>
                </a:solidFill>
                <a:latin typeface="Arial Narrow" panose="020B0606020202030204" pitchFamily="34" charset="0"/>
              </a:rPr>
            </a:br>
            <a:r>
              <a:rPr kumimoji="1" lang="en-US" altLang="ja-JP" sz="2400" b="1" dirty="0">
                <a:solidFill>
                  <a:schemeClr val="tx2"/>
                </a:solidFill>
                <a:latin typeface="Arial Narrow" panose="020B0606020202030204" pitchFamily="34" charset="0"/>
              </a:rPr>
              <a:t>    …</a:t>
            </a:r>
            <a:br>
              <a:rPr kumimoji="1" lang="en-US" altLang="ja-JP" sz="2400" b="1" dirty="0">
                <a:solidFill>
                  <a:schemeClr val="tx2"/>
                </a:solidFill>
                <a:latin typeface="Arial Narrow" panose="020B0606020202030204" pitchFamily="34" charset="0"/>
              </a:rPr>
            </a:br>
            <a:r>
              <a:rPr kumimoji="1" lang="en-US" altLang="ja-JP" sz="2400" b="1" dirty="0">
                <a:solidFill>
                  <a:schemeClr val="tx2"/>
                </a:solidFill>
                <a:latin typeface="Arial Narrow" panose="020B0606020202030204" pitchFamily="34" charset="0"/>
              </a:rPr>
              <a:t>if a &gt; 0:</a:t>
            </a:r>
          </a:p>
          <a:p>
            <a:pPr>
              <a:lnSpc>
                <a:spcPct val="80000"/>
              </a:lnSpc>
            </a:pPr>
            <a:r>
              <a:rPr kumimoji="1" lang="en-US" altLang="ja-JP" sz="2400" dirty="0">
                <a:solidFill>
                  <a:schemeClr val="bg1"/>
                </a:solidFill>
                <a:latin typeface="Arial Narrow" panose="020B0606020202030204" pitchFamily="34" charset="0"/>
              </a:rPr>
              <a:t>    a=a+1</a:t>
            </a:r>
          </a:p>
          <a:p>
            <a:pPr>
              <a:lnSpc>
                <a:spcPct val="80000"/>
              </a:lnSpc>
            </a:pPr>
            <a:r>
              <a:rPr lang="en-US" altLang="ja-JP" sz="2400" dirty="0">
                <a:solidFill>
                  <a:schemeClr val="bg1"/>
                </a:solidFill>
                <a:latin typeface="Arial Narrow" panose="020B0606020202030204" pitchFamily="34" charset="0"/>
              </a:rPr>
              <a:t>else:</a:t>
            </a:r>
          </a:p>
          <a:p>
            <a:pPr>
              <a:lnSpc>
                <a:spcPct val="80000"/>
              </a:lnSpc>
            </a:pPr>
            <a:r>
              <a:rPr kumimoji="1" lang="en-US" altLang="ja-JP" sz="2400" dirty="0">
                <a:solidFill>
                  <a:schemeClr val="bg1"/>
                </a:solidFill>
                <a:latin typeface="Arial Narrow" panose="020B0606020202030204" pitchFamily="34" charset="0"/>
              </a:rPr>
              <a:t>    a=a-1</a:t>
            </a:r>
          </a:p>
          <a:p>
            <a:pPr>
              <a:lnSpc>
                <a:spcPct val="80000"/>
              </a:lnSpc>
            </a:pPr>
            <a:r>
              <a:rPr kumimoji="1" lang="ja-JP" altLang="en-US" sz="2000" dirty="0">
                <a:solidFill>
                  <a:schemeClr val="bg1"/>
                </a:solidFill>
                <a:latin typeface="Arial Narrow" panose="020B0606020202030204" pitchFamily="34" charset="0"/>
              </a:rPr>
              <a:t>  </a:t>
            </a:r>
          </a:p>
        </p:txBody>
      </p:sp>
      <p:sp>
        <p:nvSpPr>
          <p:cNvPr id="24" name="角丸四角形吹き出し 23"/>
          <p:cNvSpPr/>
          <p:nvPr/>
        </p:nvSpPr>
        <p:spPr bwMode="auto">
          <a:xfrm>
            <a:off x="2051972" y="1448978"/>
            <a:ext cx="2250025" cy="612648"/>
          </a:xfrm>
          <a:prstGeom prst="wedgeRoundRectCallout">
            <a:avLst>
              <a:gd name="adj1" fmla="val -44492"/>
              <a:gd name="adj2" fmla="val 108781"/>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65000"/>
                    <a:lumOff val="35000"/>
                  </a:schemeClr>
                </a:solidFill>
                <a:latin typeface="Arial Narrow" panose="020B0606020202030204" pitchFamily="34" charset="0"/>
              </a:rPr>
              <a:t>それはそれとして，</a:t>
            </a:r>
            <a:br>
              <a:rPr lang="en-US" altLang="ja-JP" sz="1400" dirty="0">
                <a:solidFill>
                  <a:schemeClr val="tx1">
                    <a:lumMod val="65000"/>
                    <a:lumOff val="35000"/>
                  </a:schemeClr>
                </a:solidFill>
                <a:latin typeface="Arial Narrow" panose="020B0606020202030204" pitchFamily="34" charset="0"/>
              </a:rPr>
            </a:br>
            <a:r>
              <a:rPr lang="en-US" altLang="ja-JP" sz="1400" dirty="0">
                <a:solidFill>
                  <a:schemeClr val="tx1">
                    <a:lumMod val="65000"/>
                    <a:lumOff val="35000"/>
                  </a:schemeClr>
                </a:solidFill>
                <a:latin typeface="Arial Narrow" panose="020B0606020202030204" pitchFamily="34" charset="0"/>
              </a:rPr>
              <a:t>a </a:t>
            </a:r>
            <a:r>
              <a:rPr lang="ja-JP" altLang="en-US" sz="1400" dirty="0">
                <a:solidFill>
                  <a:schemeClr val="tx1">
                    <a:lumMod val="65000"/>
                    <a:lumOff val="35000"/>
                  </a:schemeClr>
                </a:solidFill>
                <a:latin typeface="Arial Narrow" panose="020B0606020202030204" pitchFamily="34" charset="0"/>
              </a:rPr>
              <a:t>の結果もう出てるやん</a:t>
            </a:r>
          </a:p>
        </p:txBody>
      </p:sp>
      <p:sp>
        <p:nvSpPr>
          <p:cNvPr id="4" name="角丸四角形 89">
            <a:extLst>
              <a:ext uri="{FF2B5EF4-FFF2-40B4-BE49-F238E27FC236}">
                <a16:creationId xmlns:a16="http://schemas.microsoft.com/office/drawing/2014/main" id="{F76920FC-DEFC-0BFB-3781-F74EA8E9C75E}"/>
              </a:ext>
            </a:extLst>
          </p:cNvPr>
          <p:cNvSpPr/>
          <p:nvPr/>
        </p:nvSpPr>
        <p:spPr bwMode="auto">
          <a:xfrm>
            <a:off x="7812036" y="3068996"/>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kumimoji="1" lang="en-US" altLang="ja-JP" b="1" dirty="0">
                <a:latin typeface="Arial Narrow" panose="020B0606020202030204" pitchFamily="34" charset="0"/>
              </a:rPr>
              <a:t>a =1</a:t>
            </a:r>
            <a:endParaRPr kumimoji="1" lang="ja-JP" altLang="en-US" b="1" dirty="0">
              <a:latin typeface="Arial Narrow" panose="020B0606020202030204" pitchFamily="34" charset="0"/>
            </a:endParaRPr>
          </a:p>
        </p:txBody>
      </p:sp>
    </p:spTree>
    <p:extLst>
      <p:ext uri="{BB962C8B-B14F-4D97-AF65-F5344CB8AC3E}">
        <p14:creationId xmlns:p14="http://schemas.microsoft.com/office/powerpoint/2010/main" val="333576399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EA02DD1-AE37-AADF-2A5A-7AC27E045F04}"/>
              </a:ext>
            </a:extLst>
          </p:cNvPr>
          <p:cNvSpPr>
            <a:spLocks noGrp="1"/>
          </p:cNvSpPr>
          <p:nvPr>
            <p:ph type="title"/>
          </p:nvPr>
        </p:nvSpPr>
        <p:spPr/>
        <p:txBody>
          <a:bodyPr/>
          <a:lstStyle/>
          <a:p>
            <a:endParaRPr kumimoji="1" lang="ja-JP" altLang="en-US"/>
          </a:p>
        </p:txBody>
      </p:sp>
      <p:sp>
        <p:nvSpPr>
          <p:cNvPr id="3" name="コンテンツ プレースホルダー 2">
            <a:extLst>
              <a:ext uri="{FF2B5EF4-FFF2-40B4-BE49-F238E27FC236}">
                <a16:creationId xmlns:a16="http://schemas.microsoft.com/office/drawing/2014/main" id="{AB6AAB73-24CB-F06B-1941-19FBB0EFBC6F}"/>
              </a:ext>
            </a:extLst>
          </p:cNvPr>
          <p:cNvSpPr>
            <a:spLocks noGrp="1"/>
          </p:cNvSpPr>
          <p:nvPr>
            <p:ph sz="quarter" idx="10"/>
          </p:nvPr>
        </p:nvSpPr>
        <p:spPr/>
        <p:txBody>
          <a:bodyPr/>
          <a:lstStyle/>
          <a:p>
            <a:endParaRPr kumimoji="1" lang="ja-JP" altLang="en-US"/>
          </a:p>
        </p:txBody>
      </p:sp>
    </p:spTree>
    <p:extLst>
      <p:ext uri="{BB962C8B-B14F-4D97-AF65-F5344CB8AC3E}">
        <p14:creationId xmlns:p14="http://schemas.microsoft.com/office/powerpoint/2010/main" val="67858510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FIRSTFOOOFO@ELLEIXSFUVW0Y5HA" val="4663"/>
</p:tagLst>
</file>

<file path=ppt/theme/theme1.xml><?xml version="1.0" encoding="utf-8"?>
<a:theme xmlns:a="http://schemas.openxmlformats.org/drawingml/2006/main" name="cerulean">
  <a:themeElements>
    <a:clrScheme name="ユーザー定義 1">
      <a:dk1>
        <a:sysClr val="windowText" lastClr="000000"/>
      </a:dk1>
      <a:lt1>
        <a:sysClr val="window" lastClr="FFFFFF"/>
      </a:lt1>
      <a:dk2>
        <a:srgbClr val="F4EB00"/>
      </a:dk2>
      <a:lt2>
        <a:srgbClr val="C4FF4A"/>
      </a:lt2>
      <a:accent1>
        <a:srgbClr val="4F81BD"/>
      </a:accent1>
      <a:accent2>
        <a:srgbClr val="C0504D"/>
      </a:accent2>
      <a:accent3>
        <a:srgbClr val="9BBB59"/>
      </a:accent3>
      <a:accent4>
        <a:srgbClr val="5C6994"/>
      </a:accent4>
      <a:accent5>
        <a:srgbClr val="328FAC"/>
      </a:accent5>
      <a:accent6>
        <a:srgbClr val="D87552"/>
      </a:accent6>
      <a:hlink>
        <a:srgbClr val="0000FF"/>
      </a:hlink>
      <a:folHlink>
        <a:srgbClr val="800080"/>
      </a:folHlink>
    </a:clrScheme>
    <a:fontScheme name="メイリオ-SegoeUI">
      <a:majorFont>
        <a:latin typeface="Segoe UI"/>
        <a:ea typeface="メイリオ"/>
        <a:cs typeface=""/>
      </a:majorFont>
      <a:minorFont>
        <a:latin typeface="Segoe UI"/>
        <a:ea typeface="メイリオ"/>
        <a:cs typeface=""/>
      </a:minorFont>
    </a:fontScheme>
    <a:fmtScheme name="Office 2007-2010">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ln>
          <a:headEnd/>
          <a:tailEnd type="triangle" w="sm" len="med"/>
        </a:ln>
      </a:spPr>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lgn="ctr">
          <a:defRPr kumimoji="1" dirty="0" smtClean="0">
            <a:solidFill>
              <a:schemeClr val="tx1">
                <a:lumMod val="75000"/>
                <a:lumOff val="25000"/>
              </a:schemeClr>
            </a:solidFill>
            <a:latin typeface="+mn-ea"/>
          </a:defRPr>
        </a:defPPr>
      </a:lstStyle>
      <a:style>
        <a:lnRef idx="1">
          <a:schemeClr val="accent5"/>
        </a:lnRef>
        <a:fillRef idx="2">
          <a:schemeClr val="accent5"/>
        </a:fillRef>
        <a:effectRef idx="1">
          <a:schemeClr val="accent5"/>
        </a:effectRef>
        <a:fontRef idx="minor">
          <a:schemeClr val="dk1"/>
        </a:fontRef>
      </a:style>
    </a:spDef>
    <a:lnDef>
      <a:spPr bwMode="auto">
        <a:xfrm>
          <a:off x="0" y="0"/>
          <a:ext cx="1" cy="1"/>
        </a:xfrm>
        <a:custGeom>
          <a:avLst/>
          <a:gdLst/>
          <a:ahLst/>
          <a:cxnLst/>
          <a:rect l="0" t="0" r="0" b="0"/>
          <a:pathLst/>
        </a:custGeom>
        <a:noFill/>
        <a:ln w="9525" cap="flat" cmpd="sng" algn="ctr">
          <a:solidFill>
            <a:schemeClr val="tx1"/>
          </a:solidFill>
          <a:prstDash val="solid"/>
          <a:round/>
          <a:headEnd type="none" w="med" len="med"/>
          <a:tailEnd type="none" w="med" len="med"/>
        </a:ln>
        <a:effectLst/>
      </a:spPr>
      <a:bodyPr vert="horz" wrap="none" lIns="90000" tIns="46800" rIns="90000" bIns="46800" numCol="1" anchor="ctr"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1" lang="ja-JP" altLang="en-US" sz="1800" b="0" i="0" u="none" strike="noStrike" cap="none" normalizeH="0" baseline="0" smtClean="0">
            <a:ln>
              <a:noFill/>
            </a:ln>
            <a:solidFill>
              <a:schemeClr val="tx1"/>
            </a:solidFill>
            <a:effectLst/>
            <a:latin typeface="Verdana" pitchFamily="34" charset="0"/>
            <a:ea typeface="HG丸ｺﾞｼｯｸM-PRO" pitchFamily="50" charset="-128"/>
          </a:defRPr>
        </a:defPPr>
      </a:lstStyle>
    </a:lnDef>
  </a:objectDefaults>
  <a:extraClrSchemeLst>
    <a:extraClrScheme>
      <a:clrScheme name="colorful water rev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olorful water rev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colorful water rev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colorful water rev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colorful water rev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colorful water rev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colorful water rev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
      <a:clrScheme name="colorful water rev 8">
        <a:dk1>
          <a:srgbClr val="000000"/>
        </a:dk1>
        <a:lt1>
          <a:srgbClr val="FFFFFF"/>
        </a:lt1>
        <a:dk2>
          <a:srgbClr val="000000"/>
        </a:dk2>
        <a:lt2>
          <a:srgbClr val="808080"/>
        </a:lt2>
        <a:accent1>
          <a:srgbClr val="9999FF"/>
        </a:accent1>
        <a:accent2>
          <a:srgbClr val="3333CC"/>
        </a:accent2>
        <a:accent3>
          <a:srgbClr val="FFFFFF"/>
        </a:accent3>
        <a:accent4>
          <a:srgbClr val="000000"/>
        </a:accent4>
        <a:accent5>
          <a:srgbClr val="CACAFF"/>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olorful water rev 9">
        <a:dk1>
          <a:srgbClr val="000000"/>
        </a:dk1>
        <a:lt1>
          <a:srgbClr val="FFFFFF"/>
        </a:lt1>
        <a:dk2>
          <a:srgbClr val="000000"/>
        </a:dk2>
        <a:lt2>
          <a:srgbClr val="808080"/>
        </a:lt2>
        <a:accent1>
          <a:srgbClr val="9999FF"/>
        </a:accent1>
        <a:accent2>
          <a:srgbClr val="FF0000"/>
        </a:accent2>
        <a:accent3>
          <a:srgbClr val="FFFFFF"/>
        </a:accent3>
        <a:accent4>
          <a:srgbClr val="000000"/>
        </a:accent4>
        <a:accent5>
          <a:srgbClr val="CACAFF"/>
        </a:accent5>
        <a:accent6>
          <a:srgbClr val="E70000"/>
        </a:accent6>
        <a:hlink>
          <a:srgbClr val="CCCCFF"/>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cerulean" id="{B42443E9-F396-466A-92C3-7ED6F4EBC01F}" vid="{0CE6AD82-9598-49D5-BEEF-3DCDCFA8BEDD}"/>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コーパス爆発の対策</Template>
  <TotalTime>0</TotalTime>
  <Words>6836</Words>
  <Application>Microsoft Office PowerPoint</Application>
  <PresentationFormat>画面に合わせる (4:3)</PresentationFormat>
  <Paragraphs>1252</Paragraphs>
  <Slides>96</Slides>
  <Notes>3</Notes>
  <HiddenSlides>0</HiddenSlides>
  <MMClips>0</MMClips>
  <ScaleCrop>false</ScaleCrop>
  <HeadingPairs>
    <vt:vector size="6" baseType="variant">
      <vt:variant>
        <vt:lpstr>使用されているフォント</vt:lpstr>
      </vt:variant>
      <vt:variant>
        <vt:i4>13</vt:i4>
      </vt:variant>
      <vt:variant>
        <vt:lpstr>テーマ</vt:lpstr>
      </vt:variant>
      <vt:variant>
        <vt:i4>1</vt:i4>
      </vt:variant>
      <vt:variant>
        <vt:lpstr>スライド タイトル</vt:lpstr>
      </vt:variant>
      <vt:variant>
        <vt:i4>96</vt:i4>
      </vt:variant>
    </vt:vector>
  </HeadingPairs>
  <TitlesOfParts>
    <vt:vector size="110" baseType="lpstr">
      <vt:lpstr>HG丸ｺﾞｼｯｸM-PRO</vt:lpstr>
      <vt:lpstr>ＭＳ Ｐゴシック</vt:lpstr>
      <vt:lpstr>メイリオ</vt:lpstr>
      <vt:lpstr>メイリオ</vt:lpstr>
      <vt:lpstr>游ゴシック</vt:lpstr>
      <vt:lpstr>Arial</vt:lpstr>
      <vt:lpstr>Arial Narrow</vt:lpstr>
      <vt:lpstr>Calibri</vt:lpstr>
      <vt:lpstr>Cambria Math</vt:lpstr>
      <vt:lpstr>Consolas</vt:lpstr>
      <vt:lpstr>Segoe UI</vt:lpstr>
      <vt:lpstr>Times New Roman</vt:lpstr>
      <vt:lpstr>Wingdings</vt:lpstr>
      <vt:lpstr>cerulean</vt:lpstr>
      <vt:lpstr>塩谷 亮太 (shioya@ci.i.u-tokyo.ac.jp) 東京大学大学院情報理工学系研究科 創造情報学専攻</vt:lpstr>
      <vt:lpstr>課題の解説</vt:lpstr>
      <vt:lpstr>課題 7</vt:lpstr>
      <vt:lpstr>課題 7</vt:lpstr>
      <vt:lpstr>課題 7</vt:lpstr>
      <vt:lpstr>課題 7</vt:lpstr>
      <vt:lpstr>課題 7</vt:lpstr>
      <vt:lpstr>課題 7</vt:lpstr>
      <vt:lpstr>課題 7</vt:lpstr>
      <vt:lpstr>性能のモデル</vt:lpstr>
      <vt:lpstr>性能</vt:lpstr>
      <vt:lpstr>性能のモデル</vt:lpstr>
      <vt:lpstr>理想的な場合の性能モデル</vt:lpstr>
      <vt:lpstr>理想的な各モデルの性能</vt:lpstr>
      <vt:lpstr>ここからの前提： パイプラインではフォワーディングの実装を仮定</vt:lpstr>
      <vt:lpstr>シングル・サイクル・プロセッサ の性能</vt:lpstr>
      <vt:lpstr>パイプライン化されたプロセッサ の性能</vt:lpstr>
      <vt:lpstr>「十分に多く」の命令を実行した場合</vt:lpstr>
      <vt:lpstr>「十分に多く」の命令を実行した場合の性能</vt:lpstr>
      <vt:lpstr>パイプライン段数を倍にした場合の性能</vt:lpstr>
      <vt:lpstr>各ステージで実施する仕事を半分にして， かわりに倍速で動かしている</vt:lpstr>
      <vt:lpstr>2-way スーパスカラ・プロセッサの性能</vt:lpstr>
      <vt:lpstr>ここまでの性能は理想的な性能</vt:lpstr>
      <vt:lpstr>ハザードを考慮した性能のモデル</vt:lpstr>
      <vt:lpstr>性能のモデル</vt:lpstr>
      <vt:lpstr>ハザードによる IPC の低下</vt:lpstr>
      <vt:lpstr>分岐予測ミスによる実行サイクルの増加</vt:lpstr>
      <vt:lpstr>スーパスカラの場合</vt:lpstr>
      <vt:lpstr>分岐予測ミスによる実行サイクルの増加のモデル</vt:lpstr>
      <vt:lpstr>ペナルティは（パイプライン段数 – 1）サイクル 取り消される命令数は増えるが，時間は同じ</vt:lpstr>
      <vt:lpstr>分岐予測ミスによる実行サイクルの増加のモデル</vt:lpstr>
      <vt:lpstr>具体的な値を入れてみる</vt:lpstr>
      <vt:lpstr>IPC で考えると</vt:lpstr>
      <vt:lpstr>IPC の式のまとめ</vt:lpstr>
      <vt:lpstr>スカラの５段パイプライン・プロセッサの IPC</vt:lpstr>
      <vt:lpstr>パイプライン段数を２倍にした時の IPC</vt:lpstr>
      <vt:lpstr>パイプライン段数が深い時は予測器の精度が重要</vt:lpstr>
      <vt:lpstr>パイプライン段数を２倍にした時の性能</vt:lpstr>
      <vt:lpstr>パイプライン段数を２倍にした時の IPC</vt:lpstr>
      <vt:lpstr>スーパスカラにした時の IPC</vt:lpstr>
      <vt:lpstr>スーパスカラにすると，その分取り消される命令が増える</vt:lpstr>
      <vt:lpstr>分岐予測ミスによる IPC の低下のまとめ</vt:lpstr>
      <vt:lpstr>パイプラインの長さと性能</vt:lpstr>
      <vt:lpstr>ハザードによる IPC の低下</vt:lpstr>
      <vt:lpstr>ロードに依存した命令によるデータハザード</vt:lpstr>
      <vt:lpstr>スーパスカラの場合も同じ</vt:lpstr>
      <vt:lpstr>ロードによるデータハザードの 実行サイクルの増加のモデル</vt:lpstr>
      <vt:lpstr>性能のモデルの一般化</vt:lpstr>
      <vt:lpstr>一般化できる</vt:lpstr>
      <vt:lpstr>一般化できる</vt:lpstr>
      <vt:lpstr>CPI Stack</vt:lpstr>
      <vt:lpstr>Out-of-order スーパスカラ・プロセッサの場合</vt:lpstr>
      <vt:lpstr>ここまでのまとめ</vt:lpstr>
      <vt:lpstr>実際には構成をどう決めるのか？</vt:lpstr>
      <vt:lpstr>いろんな戦略がありえる</vt:lpstr>
      <vt:lpstr>まとめ</vt:lpstr>
      <vt:lpstr>課題 ８</vt:lpstr>
      <vt:lpstr>課題 ８</vt:lpstr>
      <vt:lpstr>提出方法</vt:lpstr>
      <vt:lpstr>休講と期末試験について</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現代の分岐予測器の性能（64 KB 使用の場合） PIERRE MICHAUD, An Alternative TAGE-like Conditional Branch Predictor, TACO 2018 より</vt:lpstr>
      <vt:lpstr>おまけ</vt:lpstr>
      <vt:lpstr>分岐予測のアルゴリズム</vt:lpstr>
      <vt:lpstr>PowerPoint プレゼンテーション</vt:lpstr>
      <vt:lpstr>優勝！</vt:lpstr>
      <vt:lpstr>RUNLTS Predictor 我々の世界最強の分岐予測器（2025年6月現在）</vt:lpstr>
      <vt:lpstr>分岐命令の処理と制御ハザード</vt:lpstr>
      <vt:lpstr>RUNLTS のやりかた</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2023-04-04T03:22:42Z</dcterms:created>
  <dcterms:modified xsi:type="dcterms:W3CDTF">2025-06-24T05:15:40Z</dcterms:modified>
</cp:coreProperties>
</file>