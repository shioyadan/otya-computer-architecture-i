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3" r:id="rId1"/>
  </p:sldMasterIdLst>
  <p:notesMasterIdLst>
    <p:notesMasterId r:id="rId87"/>
  </p:notesMasterIdLst>
  <p:handoutMasterIdLst>
    <p:handoutMasterId r:id="rId88"/>
  </p:handoutMasterIdLst>
  <p:sldIdLst>
    <p:sldId id="455" r:id="rId2"/>
    <p:sldId id="805" r:id="rId3"/>
    <p:sldId id="1024" r:id="rId4"/>
    <p:sldId id="986" r:id="rId5"/>
    <p:sldId id="987" r:id="rId6"/>
    <p:sldId id="983" r:id="rId7"/>
    <p:sldId id="989" r:id="rId8"/>
    <p:sldId id="984" r:id="rId9"/>
    <p:sldId id="1042" r:id="rId10"/>
    <p:sldId id="918" r:id="rId11"/>
    <p:sldId id="919" r:id="rId12"/>
    <p:sldId id="944" r:id="rId13"/>
    <p:sldId id="968" r:id="rId14"/>
    <p:sldId id="980" r:id="rId15"/>
    <p:sldId id="945" r:id="rId16"/>
    <p:sldId id="936" r:id="rId17"/>
    <p:sldId id="938" r:id="rId18"/>
    <p:sldId id="939" r:id="rId19"/>
    <p:sldId id="940" r:id="rId20"/>
    <p:sldId id="943" r:id="rId21"/>
    <p:sldId id="981" r:id="rId22"/>
    <p:sldId id="934" r:id="rId23"/>
    <p:sldId id="942" r:id="rId24"/>
    <p:sldId id="967" r:id="rId25"/>
    <p:sldId id="966" r:id="rId26"/>
    <p:sldId id="941" r:id="rId27"/>
    <p:sldId id="947" r:id="rId28"/>
    <p:sldId id="948" r:id="rId29"/>
    <p:sldId id="949" r:id="rId30"/>
    <p:sldId id="961" r:id="rId31"/>
    <p:sldId id="946" r:id="rId32"/>
    <p:sldId id="950" r:id="rId33"/>
    <p:sldId id="952" r:id="rId34"/>
    <p:sldId id="954" r:id="rId35"/>
    <p:sldId id="955" r:id="rId36"/>
    <p:sldId id="956" r:id="rId37"/>
    <p:sldId id="960" r:id="rId38"/>
    <p:sldId id="957" r:id="rId39"/>
    <p:sldId id="958" r:id="rId40"/>
    <p:sldId id="962" r:id="rId41"/>
    <p:sldId id="963" r:id="rId42"/>
    <p:sldId id="959" r:id="rId43"/>
    <p:sldId id="969" r:id="rId44"/>
    <p:sldId id="970" r:id="rId45"/>
    <p:sldId id="965" r:id="rId46"/>
    <p:sldId id="971" r:id="rId47"/>
    <p:sldId id="972" r:id="rId48"/>
    <p:sldId id="979" r:id="rId49"/>
    <p:sldId id="964" r:id="rId50"/>
    <p:sldId id="973" r:id="rId51"/>
    <p:sldId id="974" r:id="rId52"/>
    <p:sldId id="978" r:id="rId53"/>
    <p:sldId id="975" r:id="rId54"/>
    <p:sldId id="976" r:id="rId55"/>
    <p:sldId id="977" r:id="rId56"/>
    <p:sldId id="882" r:id="rId57"/>
    <p:sldId id="1021" r:id="rId58"/>
    <p:sldId id="1019" r:id="rId59"/>
    <p:sldId id="696" r:id="rId60"/>
    <p:sldId id="1043" r:id="rId61"/>
    <p:sldId id="1066" r:id="rId62"/>
    <p:sldId id="1020" r:id="rId63"/>
    <p:sldId id="1041" r:id="rId64"/>
    <p:sldId id="697" r:id="rId65"/>
    <p:sldId id="1010" r:id="rId66"/>
    <p:sldId id="1044" r:id="rId67"/>
    <p:sldId id="1045" r:id="rId68"/>
    <p:sldId id="1046" r:id="rId69"/>
    <p:sldId id="1047" r:id="rId70"/>
    <p:sldId id="1048" r:id="rId71"/>
    <p:sldId id="1049" r:id="rId72"/>
    <p:sldId id="1050" r:id="rId73"/>
    <p:sldId id="1051" r:id="rId74"/>
    <p:sldId id="1052" r:id="rId75"/>
    <p:sldId id="1053" r:id="rId76"/>
    <p:sldId id="1054" r:id="rId77"/>
    <p:sldId id="1055" r:id="rId78"/>
    <p:sldId id="1056" r:id="rId79"/>
    <p:sldId id="1057" r:id="rId80"/>
    <p:sldId id="1063" r:id="rId81"/>
    <p:sldId id="1064" r:id="rId82"/>
    <p:sldId id="1065" r:id="rId83"/>
    <p:sldId id="1058" r:id="rId84"/>
    <p:sldId id="1059" r:id="rId85"/>
    <p:sldId id="1060" r:id="rId86"/>
  </p:sldIdLst>
  <p:sldSz cx="12192000" cy="6858000"/>
  <p:notesSz cx="6858000" cy="9144000"/>
  <p:custDataLst>
    <p:tags r:id="rId89"/>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26" autoAdjust="0"/>
    <p:restoredTop sz="97229" autoAdjust="0"/>
  </p:normalViewPr>
  <p:slideViewPr>
    <p:cSldViewPr>
      <p:cViewPr varScale="1">
        <p:scale>
          <a:sx n="152" d="100"/>
          <a:sy n="152" d="100"/>
        </p:scale>
        <p:origin x="320" y="108"/>
      </p:cViewPr>
      <p:guideLst>
        <p:guide orient="horz" pos="2160"/>
        <p:guide pos="384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6/23/2026</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2026/6/23</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324325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cxnSp>
        <p:nvCxnSpPr>
          <p:cNvPr id="5" name="直線コネクタ 4">
            <a:extLst>
              <a:ext uri="{FF2B5EF4-FFF2-40B4-BE49-F238E27FC236}">
                <a16:creationId xmlns:a16="http://schemas.microsoft.com/office/drawing/2014/main" id="{28994BA3-EE89-8729-F511-359CF93D1F0C}"/>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6" name="直線コネクタ 5">
            <a:extLst>
              <a:ext uri="{FF2B5EF4-FFF2-40B4-BE49-F238E27FC236}">
                <a16:creationId xmlns:a16="http://schemas.microsoft.com/office/drawing/2014/main" id="{A5DAF3A5-B8E8-9871-850E-D296C48A2927}"/>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7" name="直線コネクタ 6">
            <a:extLst>
              <a:ext uri="{FF2B5EF4-FFF2-40B4-BE49-F238E27FC236}">
                <a16:creationId xmlns:a16="http://schemas.microsoft.com/office/drawing/2014/main" id="{F75186D6-6D4B-D3EA-0ABB-0772F25DCA23}"/>
              </a:ext>
            </a:extLst>
          </p:cNvPr>
          <p:cNvCxnSpPr>
            <a:cxnSpLocks/>
          </p:cNvCxnSpPr>
          <p:nvPr/>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cxnSp>
        <p:nvCxnSpPr>
          <p:cNvPr id="8" name="直線コネクタ 7">
            <a:extLst>
              <a:ext uri="{FF2B5EF4-FFF2-40B4-BE49-F238E27FC236}">
                <a16:creationId xmlns:a16="http://schemas.microsoft.com/office/drawing/2014/main" id="{12521282-00C0-4FAB-852E-82AD5D1BCEF9}"/>
              </a:ext>
            </a:extLst>
          </p:cNvPr>
          <p:cNvCxnSpPr>
            <a:cxnSpLocks/>
          </p:cNvCxnSpPr>
          <p:nvPr userDrawn="1"/>
        </p:nvCxnSpPr>
        <p:spPr bwMode="auto">
          <a:xfrm>
            <a:off x="815942" y="3068996"/>
            <a:ext cx="10560117"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17562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517546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0"/>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3"/>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2" y="1088974"/>
            <a:ext cx="10560117"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4" name="正方形/長方形 3">
            <a:extLst>
              <a:ext uri="{FF2B5EF4-FFF2-40B4-BE49-F238E27FC236}">
                <a16:creationId xmlns:a16="http://schemas.microsoft.com/office/drawing/2014/main" id="{02D76658-EC28-6DC7-5037-6521DFF08331}"/>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5" name="正方形/長方形 4">
            <a:extLst>
              <a:ext uri="{FF2B5EF4-FFF2-40B4-BE49-F238E27FC236}">
                <a16:creationId xmlns:a16="http://schemas.microsoft.com/office/drawing/2014/main" id="{52FBF5EA-16EF-C5E9-5A0C-DF30C24F685B}"/>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6" name="正方形/長方形 5">
            <a:extLst>
              <a:ext uri="{FF2B5EF4-FFF2-40B4-BE49-F238E27FC236}">
                <a16:creationId xmlns:a16="http://schemas.microsoft.com/office/drawing/2014/main" id="{8FEFD81E-6104-E145-9799-FB67CE42C793}"/>
              </a:ext>
            </a:extLst>
          </p:cNvPr>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
        <p:nvSpPr>
          <p:cNvPr id="7" name="正方形/長方形 6">
            <a:extLst>
              <a:ext uri="{FF2B5EF4-FFF2-40B4-BE49-F238E27FC236}">
                <a16:creationId xmlns:a16="http://schemas.microsoft.com/office/drawing/2014/main" id="{6EF03849-6793-6BF8-FD77-8F28E1172229}"/>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192879558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66" r:id="rId4"/>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hyperlink" Target="https://docs.google.com/spreadsheets/d/1jjVtDvqI7F2XeFbLNp3KCe_uF54YRVl9Hmvhh8FTXg0/edit?usp=sharing" TargetMode="Externa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hyperlink" Target="https://github.com/shioyadan/advanced-computer-organization/blob/master/aco-shioya-appendix-bpred.pdf" TargetMode="External"/><Relationship Id="rId2" Type="http://schemas.openxmlformats.org/officeDocument/2006/relationships/hyperlink" Target="https://github.com/shioyadan/advanced-computer-organization/blob/master/aco-shioya-06.pdf" TargetMode="Externa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a:t>  第８回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045956" y="1358977"/>
            <a:ext cx="8190091" cy="2520028"/>
          </a:xfrm>
        </p:spPr>
        <p:txBody>
          <a:bodyPr/>
          <a:lstStyle/>
          <a:p>
            <a:r>
              <a:rPr lang="ja-JP" altLang="en-US" sz="1600" dirty="0"/>
              <a:t>前提：</a:t>
            </a:r>
            <a:endParaRPr lang="en-US" altLang="ja-JP" sz="1600" dirty="0"/>
          </a:p>
          <a:p>
            <a:pPr lvl="1"/>
            <a:r>
              <a:rPr lang="ja-JP" altLang="en-US" sz="1600" dirty="0"/>
              <a:t>各命令は以下の５つの処理を経て実行されるものとする</a:t>
            </a:r>
            <a:endParaRPr lang="en-US" altLang="ja-JP" sz="1600" dirty="0"/>
          </a:p>
          <a:p>
            <a:pPr lvl="2"/>
            <a:r>
              <a:rPr lang="en-US" altLang="ja-JP" sz="1600" dirty="0"/>
              <a:t>F</a:t>
            </a:r>
            <a:r>
              <a:rPr lang="ja-JP" altLang="en-US" sz="1600" dirty="0"/>
              <a:t>：フェッチ，</a:t>
            </a:r>
            <a:r>
              <a:rPr lang="en-US" altLang="ja-JP" sz="1600" dirty="0"/>
              <a:t>D</a:t>
            </a:r>
            <a:r>
              <a:rPr lang="ja-JP" altLang="en-US" sz="1600" dirty="0"/>
              <a:t>：デコード，</a:t>
            </a:r>
            <a:r>
              <a:rPr lang="en-US" altLang="ja-JP" sz="1600" dirty="0"/>
              <a:t>X</a:t>
            </a:r>
            <a:r>
              <a:rPr lang="ja-JP" altLang="en-US" sz="1600" dirty="0"/>
              <a:t>：演算，</a:t>
            </a:r>
            <a:br>
              <a:rPr lang="en-US" altLang="ja-JP" sz="1600" dirty="0"/>
            </a:br>
            <a:r>
              <a:rPr lang="en-US" altLang="ja-JP" sz="1600" dirty="0"/>
              <a:t>M</a:t>
            </a:r>
            <a:r>
              <a:rPr lang="ja-JP" altLang="en-US" sz="1600" dirty="0"/>
              <a:t>：メモリアクセス，</a:t>
            </a:r>
            <a:r>
              <a:rPr lang="en-US" altLang="ja-JP" sz="1600" dirty="0"/>
              <a:t>W</a:t>
            </a:r>
            <a:r>
              <a:rPr lang="ja-JP" altLang="en-US" sz="1600" dirty="0"/>
              <a:t>：書き戻し</a:t>
            </a:r>
            <a:endParaRPr lang="en-US" altLang="ja-JP" sz="1600" dirty="0"/>
          </a:p>
          <a:p>
            <a:pPr lvl="1"/>
            <a:r>
              <a:rPr lang="ja-JP" altLang="en-US" sz="1600" dirty="0"/>
              <a:t>これらの各処理には </a:t>
            </a:r>
            <a:r>
              <a:rPr lang="en-US" altLang="ja-JP" sz="1600" dirty="0"/>
              <a:t>1 nano second (ns)</a:t>
            </a:r>
            <a:r>
              <a:rPr lang="ja-JP" altLang="en-US" sz="1600" dirty="0"/>
              <a:t> がかかるものとする</a:t>
            </a:r>
            <a:endParaRPr lang="en-US" altLang="ja-JP" sz="1600" dirty="0"/>
          </a:p>
          <a:p>
            <a:pPr lvl="1"/>
            <a:r>
              <a:rPr lang="ja-JP" altLang="en-US" sz="1600" dirty="0"/>
              <a:t>演算しか行わずメモリアクセスを伴わない命令でも，必ず </a:t>
            </a:r>
            <a:r>
              <a:rPr lang="en-US" altLang="ja-JP" sz="1600" dirty="0"/>
              <a:t>M </a:t>
            </a:r>
            <a:r>
              <a:rPr lang="ja-JP" altLang="en-US" sz="1600" dirty="0"/>
              <a:t>を経るものとする</a:t>
            </a:r>
            <a:endParaRPr lang="en-US" altLang="ja-JP" sz="1600" dirty="0"/>
          </a:p>
          <a:p>
            <a:pPr lvl="1"/>
            <a:r>
              <a:rPr lang="ja-JP" altLang="en-US" sz="1600" dirty="0"/>
              <a:t>フォワーディングは常に行うものとする</a:t>
            </a:r>
            <a:endParaRPr lang="en-US" altLang="ja-JP" sz="1600" dirty="0"/>
          </a:p>
          <a:p>
            <a:pPr lvl="1"/>
            <a:r>
              <a:rPr lang="ja-JP" altLang="en-US" sz="1600" dirty="0"/>
              <a:t>命令を実行するために「必要な時間」とは，最初の命令のフェッチ開始から最後の命令の書き戻しが終わるまでの時間とする</a:t>
            </a:r>
            <a:endParaRPr lang="en-US" altLang="ja-JP" sz="1600" dirty="0"/>
          </a:p>
          <a:p>
            <a:pPr lvl="2"/>
            <a:r>
              <a:rPr lang="ja-JP" altLang="en-US" sz="1600" dirty="0"/>
              <a:t>たとえば以下の１命令を実行するために「必要な時間」は </a:t>
            </a:r>
            <a:r>
              <a:rPr lang="en-US" altLang="ja-JP" sz="1600" dirty="0"/>
              <a:t>5ns </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3</a:t>
            </a:fld>
            <a:endParaRPr kumimoji="1" lang="ja-JP" altLang="en-US" dirty="0"/>
          </a:p>
        </p:txBody>
      </p:sp>
      <p:grpSp>
        <p:nvGrpSpPr>
          <p:cNvPr id="3" name="グループ化 2">
            <a:extLst>
              <a:ext uri="{FF2B5EF4-FFF2-40B4-BE49-F238E27FC236}">
                <a16:creationId xmlns:a16="http://schemas.microsoft.com/office/drawing/2014/main" id="{B96BAC0D-A22D-AC7B-C114-D535EFF197FA}"/>
              </a:ext>
            </a:extLst>
          </p:cNvPr>
          <p:cNvGrpSpPr/>
          <p:nvPr/>
        </p:nvGrpSpPr>
        <p:grpSpPr>
          <a:xfrm>
            <a:off x="4655984" y="4869016"/>
            <a:ext cx="2160020" cy="360000"/>
            <a:chOff x="4481999" y="4959017"/>
            <a:chExt cx="2160020" cy="360000"/>
          </a:xfrm>
        </p:grpSpPr>
        <p:sp>
          <p:nvSpPr>
            <p:cNvPr id="4" name="Rectangle 69">
              <a:extLst>
                <a:ext uri="{FF2B5EF4-FFF2-40B4-BE49-F238E27FC236}">
                  <a16:creationId xmlns:a16="http://schemas.microsoft.com/office/drawing/2014/main" id="{286BA23D-FFF9-AAB1-87B6-12C23D3AD974}"/>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D196602A-E238-1C8E-4438-948DE3ED5133}"/>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8EC8455E-83D0-4FA8-F7A8-B60B10782E17}"/>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C8953909-6ECA-BC7C-97C1-1362676ECFBA}"/>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646C8723-BA5A-6244-201F-F4EBBFF9CCBD}"/>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cxnSp>
        <p:nvCxnSpPr>
          <p:cNvPr id="12" name="直線矢印コネクタ 11">
            <a:extLst>
              <a:ext uri="{FF2B5EF4-FFF2-40B4-BE49-F238E27FC236}">
                <a16:creationId xmlns:a16="http://schemas.microsoft.com/office/drawing/2014/main" id="{A1D5E35B-E768-67B7-0FFC-61F06181FFC2}"/>
              </a:ext>
            </a:extLst>
          </p:cNvPr>
          <p:cNvCxnSpPr/>
          <p:nvPr/>
        </p:nvCxnSpPr>
        <p:spPr bwMode="auto">
          <a:xfrm>
            <a:off x="4655984" y="4689014"/>
            <a:ext cx="2160024" cy="0"/>
          </a:xfrm>
          <a:prstGeom prst="straightConnector1">
            <a:avLst/>
          </a:prstGeom>
          <a:noFill/>
          <a:ln w="9525" cap="flat" cmpd="sng" algn="ctr">
            <a:solidFill>
              <a:schemeClr val="tx1"/>
            </a:solidFill>
            <a:prstDash val="solid"/>
            <a:round/>
            <a:headEnd type="triangle" w="med" len="med"/>
            <a:tailEnd type="triangle"/>
          </a:ln>
          <a:effectLst/>
        </p:spPr>
      </p:cxnSp>
      <p:sp>
        <p:nvSpPr>
          <p:cNvPr id="13" name="正方形/長方形 12">
            <a:extLst>
              <a:ext uri="{FF2B5EF4-FFF2-40B4-BE49-F238E27FC236}">
                <a16:creationId xmlns:a16="http://schemas.microsoft.com/office/drawing/2014/main" id="{01AFDA20-A72E-AF4E-E6C3-CA3C8C118968}"/>
              </a:ext>
            </a:extLst>
          </p:cNvPr>
          <p:cNvSpPr/>
          <p:nvPr/>
        </p:nvSpPr>
        <p:spPr>
          <a:xfrm>
            <a:off x="4655984" y="4329010"/>
            <a:ext cx="2160024" cy="369332"/>
          </a:xfrm>
          <a:prstGeom prst="rect">
            <a:avLst/>
          </a:prstGeom>
        </p:spPr>
        <p:txBody>
          <a:bodyPr wrap="square">
            <a:spAutoFit/>
          </a:bodyPr>
          <a:lstStyle/>
          <a:p>
            <a:pPr algn="ctr"/>
            <a:r>
              <a:rPr lang="en-US" altLang="ja-JP" dirty="0">
                <a:solidFill>
                  <a:schemeClr val="tx1">
                    <a:lumMod val="65000"/>
                    <a:lumOff val="35000"/>
                  </a:schemeClr>
                </a:solidFill>
              </a:rPr>
              <a:t>5ns</a:t>
            </a:r>
            <a:endParaRPr lang="ja-JP" altLang="en-US" dirty="0">
              <a:solidFill>
                <a:schemeClr val="tx1">
                  <a:lumMod val="65000"/>
                  <a:lumOff val="35000"/>
                </a:schemeClr>
              </a:solidFill>
            </a:endParaRPr>
          </a:p>
        </p:txBody>
      </p:sp>
    </p:spTree>
    <p:extLst>
      <p:ext uri="{BB962C8B-B14F-4D97-AF65-F5344CB8AC3E}">
        <p14:creationId xmlns:p14="http://schemas.microsoft.com/office/powerpoint/2010/main" val="1273004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mc:AlternateContent xmlns:mc="http://schemas.openxmlformats.org/markup-compatibility/2006">
        <mc:Choice xmlns:a14="http://schemas.microsoft.com/office/drawing/2010/main" Requires="a14">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1055944" y="1088974"/>
                <a:ext cx="10080112" cy="2520028"/>
              </a:xfrm>
            </p:spPr>
            <p:txBody>
              <a:bodyPr/>
              <a:lstStyle/>
              <a:p>
                <a:r>
                  <a:rPr lang="ja-JP" altLang="en-US" sz="1800" dirty="0"/>
                  <a:t>前記の前提の下でスカラのシングル・サイクル・プロセッサを構成することを考える</a:t>
                </a:r>
                <a:endParaRPr lang="en-US" altLang="ja-JP" sz="1800" dirty="0"/>
              </a:p>
              <a:p>
                <a:pPr lvl="1"/>
                <a:r>
                  <a:rPr lang="en-US" altLang="ja-JP" sz="1800" dirty="0"/>
                  <a:t>(1) </a:t>
                </a:r>
                <a:r>
                  <a:rPr lang="ja-JP" altLang="en-US" sz="1800" dirty="0"/>
                  <a:t>その場合の最大動作周波数はいくつになるか述べよ</a:t>
                </a:r>
                <a:endParaRPr lang="en-US" altLang="ja-JP" sz="1800" dirty="0"/>
              </a:p>
              <a:p>
                <a:pPr lvl="2"/>
                <a:r>
                  <a:rPr lang="en-US" altLang="ja-JP" sz="1800" dirty="0"/>
                  <a:t>1 </a:t>
                </a:r>
                <a:r>
                  <a:rPr lang="ja-JP" altLang="en-US" sz="1800" dirty="0"/>
                  <a:t>秒 </a:t>
                </a:r>
                <a:r>
                  <a:rPr lang="en-US" altLang="ja-JP" sz="1800" dirty="0"/>
                  <a:t>/ 5ns = 200MHz</a:t>
                </a:r>
              </a:p>
              <a:p>
                <a:pPr lvl="2"/>
                <a:r>
                  <a:rPr lang="ja-JP" altLang="en-US" sz="1800" dirty="0"/>
                  <a:t>各命令の処理は </a:t>
                </a:r>
                <a:r>
                  <a:rPr lang="en-US" altLang="ja-JP" sz="1800" dirty="0"/>
                  <a:t>5ns </a:t>
                </a:r>
                <a:r>
                  <a:rPr lang="ja-JP" altLang="en-US" sz="1800" dirty="0"/>
                  <a:t>かかり，それを１サイクルで処理するため</a:t>
                </a:r>
                <a:endParaRPr lang="en-US" altLang="ja-JP" sz="1800" dirty="0"/>
              </a:p>
              <a:p>
                <a:pPr lvl="1"/>
                <a:r>
                  <a:rPr lang="en-US" altLang="ja-JP" sz="1800" dirty="0"/>
                  <a:t>(2) </a:t>
                </a:r>
                <a:r>
                  <a:rPr lang="ja-JP" altLang="en-US" sz="1800" dirty="0"/>
                  <a:t>以下の命令列を実行するのに必要な時間を計算せよ</a:t>
                </a:r>
              </a:p>
              <a:p>
                <a:pPr lvl="2"/>
                <a:r>
                  <a:rPr lang="en-US" altLang="ja-JP" sz="1800" dirty="0"/>
                  <a:t>5 ns </a:t>
                </a:r>
                <a14:m>
                  <m:oMath xmlns:m="http://schemas.openxmlformats.org/officeDocument/2006/math">
                    <m:r>
                      <a:rPr lang="en-US" altLang="ja-JP" sz="1800" i="1" dirty="0" smtClean="0">
                        <a:latin typeface="Cambria Math" panose="02040503050406030204" pitchFamily="18" charset="0"/>
                      </a:rPr>
                      <m:t>×</m:t>
                    </m:r>
                  </m:oMath>
                </a14:m>
                <a:r>
                  <a:rPr lang="en-US" altLang="ja-JP" sz="1800" dirty="0"/>
                  <a:t> 3 </a:t>
                </a:r>
                <a:r>
                  <a:rPr lang="ja-JP" altLang="en-US" sz="1800" dirty="0"/>
                  <a:t>命令 </a:t>
                </a:r>
                <a:r>
                  <a:rPr lang="en-US" altLang="ja-JP" sz="1800" dirty="0"/>
                  <a:t>= 15ns </a:t>
                </a:r>
              </a:p>
            </p:txBody>
          </p:sp>
        </mc:Choice>
        <mc:Fallback>
          <p:sp>
            <p:nvSpPr>
              <p:cNvPr id="7" name="コンテンツ プレースホルダー 2">
                <a:extLst>
                  <a:ext uri="{FF2B5EF4-FFF2-40B4-BE49-F238E27FC236}">
                    <a16:creationId xmlns:a16="http://schemas.microsoft.com/office/drawing/2014/main" id="{E21D1133-FC57-F955-23BE-11C267021F5C}"/>
                  </a:ext>
                </a:extLst>
              </p:cNvPr>
              <p:cNvSpPr>
                <a:spLocks noGrp="1" noRot="1" noChangeAspect="1" noMove="1" noResize="1" noEditPoints="1" noAdjustHandles="1" noChangeArrowheads="1" noChangeShapeType="1" noTextEdit="1"/>
              </p:cNvSpPr>
              <p:nvPr>
                <p:ph type="body" sz="quarter" idx="10"/>
              </p:nvPr>
            </p:nvSpPr>
            <p:spPr>
              <a:xfrm>
                <a:off x="1055944" y="1088974"/>
                <a:ext cx="10080112" cy="2520028"/>
              </a:xfrm>
              <a:blipFill>
                <a:blip r:embed="rId2"/>
                <a:stretch>
                  <a:fillRect l="-363"/>
                </a:stretch>
              </a:blipFill>
            </p:spPr>
            <p:txBody>
              <a:bodyPr/>
              <a:lstStyle/>
              <a:p>
                <a:r>
                  <a:rPr lang="ja-JP" altLang="en-US">
                    <a:noFill/>
                  </a:rPr>
                  <a:t> </a:t>
                </a:r>
              </a:p>
            </p:txBody>
          </p:sp>
        </mc:Fallback>
      </mc:AlternateContent>
      <p:sp>
        <p:nvSpPr>
          <p:cNvPr id="11" name="正方形/長方形 10">
            <a:extLst>
              <a:ext uri="{FF2B5EF4-FFF2-40B4-BE49-F238E27FC236}">
                <a16:creationId xmlns:a16="http://schemas.microsoft.com/office/drawing/2014/main" id="{877639C6-33D7-AC41-D1EC-B79D1CEB9025}"/>
              </a:ext>
            </a:extLst>
          </p:cNvPr>
          <p:cNvSpPr/>
          <p:nvPr/>
        </p:nvSpPr>
        <p:spPr>
          <a:xfrm>
            <a:off x="2675962" y="3699003"/>
            <a:ext cx="2160024" cy="923330"/>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sub x2←x3+x4</a:t>
            </a:r>
            <a:br>
              <a:rPr lang="en-US" altLang="ja-JP" dirty="0">
                <a:solidFill>
                  <a:schemeClr val="tx1">
                    <a:lumMod val="65000"/>
                    <a:lumOff val="35000"/>
                  </a:schemeClr>
                </a:solidFill>
                <a:latin typeface="Consolas" panose="020B0609020204030204" pitchFamily="49" charset="0"/>
              </a:rPr>
            </a:br>
            <a:r>
              <a:rPr lang="en-US" altLang="ja-JP" dirty="0">
                <a:solidFill>
                  <a:schemeClr val="tx1">
                    <a:lumMod val="65000"/>
                    <a:lumOff val="35000"/>
                  </a:schemeClr>
                </a:solidFill>
                <a:latin typeface="Consolas" panose="020B0609020204030204" pitchFamily="49" charset="0"/>
              </a:rPr>
              <a:t>add x1←x2+x3</a:t>
            </a:r>
            <a:br>
              <a:rPr lang="en-US" altLang="ja-JP" dirty="0">
                <a:solidFill>
                  <a:schemeClr val="tx1">
                    <a:lumMod val="65000"/>
                    <a:lumOff val="35000"/>
                  </a:schemeClr>
                </a:solidFill>
                <a:latin typeface="Consolas" panose="020B0609020204030204" pitchFamily="49" charset="0"/>
              </a:rPr>
            </a:br>
            <a:r>
              <a:rPr lang="en-US" altLang="ja-JP" dirty="0">
                <a:solidFill>
                  <a:schemeClr val="tx1">
                    <a:lumMod val="65000"/>
                    <a:lumOff val="35000"/>
                  </a:schemeClr>
                </a:solidFill>
                <a:latin typeface="Consolas" panose="020B0609020204030204" pitchFamily="49" charset="0"/>
              </a:rPr>
              <a:t>add x5←x6+x7</a:t>
            </a:r>
          </a:p>
        </p:txBody>
      </p:sp>
      <p:grpSp>
        <p:nvGrpSpPr>
          <p:cNvPr id="3" name="グループ化 2">
            <a:extLst>
              <a:ext uri="{FF2B5EF4-FFF2-40B4-BE49-F238E27FC236}">
                <a16:creationId xmlns:a16="http://schemas.microsoft.com/office/drawing/2014/main" id="{5E9F7CA8-41E9-A8D7-93F8-88DD0F71B83B}"/>
              </a:ext>
            </a:extLst>
          </p:cNvPr>
          <p:cNvGrpSpPr/>
          <p:nvPr/>
        </p:nvGrpSpPr>
        <p:grpSpPr>
          <a:xfrm>
            <a:off x="3035966" y="5049018"/>
            <a:ext cx="2160020" cy="360000"/>
            <a:chOff x="4481999" y="4959017"/>
            <a:chExt cx="2160020" cy="360000"/>
          </a:xfrm>
        </p:grpSpPr>
        <p:sp>
          <p:nvSpPr>
            <p:cNvPr id="4" name="Rectangle 69">
              <a:extLst>
                <a:ext uri="{FF2B5EF4-FFF2-40B4-BE49-F238E27FC236}">
                  <a16:creationId xmlns:a16="http://schemas.microsoft.com/office/drawing/2014/main" id="{D000AF0B-8A0D-86B7-2F4C-BDB6F249F43C}"/>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12006D8E-8B8D-78D4-DA43-7F8915E9D3F9}"/>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07AEE776-5138-92E6-8E55-AF066DF1DA59}"/>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CB2DA477-3C0C-FB4F-A36F-A4E0E835AE35}"/>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AE3D7AF5-933E-8D78-17B0-1E05906A41DE}"/>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grpSp>
        <p:nvGrpSpPr>
          <p:cNvPr id="12" name="グループ化 11">
            <a:extLst>
              <a:ext uri="{FF2B5EF4-FFF2-40B4-BE49-F238E27FC236}">
                <a16:creationId xmlns:a16="http://schemas.microsoft.com/office/drawing/2014/main" id="{531EFF3F-57E9-82EB-FE80-84403430419E}"/>
              </a:ext>
            </a:extLst>
          </p:cNvPr>
          <p:cNvGrpSpPr/>
          <p:nvPr/>
        </p:nvGrpSpPr>
        <p:grpSpPr>
          <a:xfrm>
            <a:off x="5285991" y="5499023"/>
            <a:ext cx="2160020" cy="360000"/>
            <a:chOff x="4481999" y="4959017"/>
            <a:chExt cx="2160020" cy="360000"/>
          </a:xfrm>
        </p:grpSpPr>
        <p:sp>
          <p:nvSpPr>
            <p:cNvPr id="13" name="Rectangle 69">
              <a:extLst>
                <a:ext uri="{FF2B5EF4-FFF2-40B4-BE49-F238E27FC236}">
                  <a16:creationId xmlns:a16="http://schemas.microsoft.com/office/drawing/2014/main" id="{43B2A0A1-6A8E-AA4E-5A7B-21872A472D11}"/>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4" name="Rectangle 70">
              <a:extLst>
                <a:ext uri="{FF2B5EF4-FFF2-40B4-BE49-F238E27FC236}">
                  <a16:creationId xmlns:a16="http://schemas.microsoft.com/office/drawing/2014/main" id="{EB523C16-8828-CEBB-4DC3-63CAB39BF458}"/>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5" name="Rectangle 71">
              <a:extLst>
                <a:ext uri="{FF2B5EF4-FFF2-40B4-BE49-F238E27FC236}">
                  <a16:creationId xmlns:a16="http://schemas.microsoft.com/office/drawing/2014/main" id="{84E7E829-7355-A008-EDD1-35FE0DD468A4}"/>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6" name="Rectangle 72">
              <a:extLst>
                <a:ext uri="{FF2B5EF4-FFF2-40B4-BE49-F238E27FC236}">
                  <a16:creationId xmlns:a16="http://schemas.microsoft.com/office/drawing/2014/main" id="{64910646-986D-7194-C994-E22507712981}"/>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7" name="Rectangle 73">
              <a:extLst>
                <a:ext uri="{FF2B5EF4-FFF2-40B4-BE49-F238E27FC236}">
                  <a16:creationId xmlns:a16="http://schemas.microsoft.com/office/drawing/2014/main" id="{D0A3B737-7838-0A45-AFE6-3FB26F17D87E}"/>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grpSp>
        <p:nvGrpSpPr>
          <p:cNvPr id="18" name="グループ化 17">
            <a:extLst>
              <a:ext uri="{FF2B5EF4-FFF2-40B4-BE49-F238E27FC236}">
                <a16:creationId xmlns:a16="http://schemas.microsoft.com/office/drawing/2014/main" id="{33DAD082-9967-A7FB-F6FA-C0DE77BD1C72}"/>
              </a:ext>
            </a:extLst>
          </p:cNvPr>
          <p:cNvGrpSpPr/>
          <p:nvPr/>
        </p:nvGrpSpPr>
        <p:grpSpPr>
          <a:xfrm>
            <a:off x="7536016" y="5949028"/>
            <a:ext cx="2160020" cy="360000"/>
            <a:chOff x="4481999" y="4959017"/>
            <a:chExt cx="2160020" cy="360000"/>
          </a:xfrm>
        </p:grpSpPr>
        <p:sp>
          <p:nvSpPr>
            <p:cNvPr id="19" name="Rectangle 69">
              <a:extLst>
                <a:ext uri="{FF2B5EF4-FFF2-40B4-BE49-F238E27FC236}">
                  <a16:creationId xmlns:a16="http://schemas.microsoft.com/office/drawing/2014/main" id="{61DB57FF-2EB2-5D6F-0309-2E7F787A4F10}"/>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20" name="Rectangle 70">
              <a:extLst>
                <a:ext uri="{FF2B5EF4-FFF2-40B4-BE49-F238E27FC236}">
                  <a16:creationId xmlns:a16="http://schemas.microsoft.com/office/drawing/2014/main" id="{5DCB6FA0-E1A6-C5DF-6724-CC07F820AFAB}"/>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21" name="Rectangle 71">
              <a:extLst>
                <a:ext uri="{FF2B5EF4-FFF2-40B4-BE49-F238E27FC236}">
                  <a16:creationId xmlns:a16="http://schemas.microsoft.com/office/drawing/2014/main" id="{83E1F6AC-6AE5-A860-9132-524538737B15}"/>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22" name="Rectangle 72">
              <a:extLst>
                <a:ext uri="{FF2B5EF4-FFF2-40B4-BE49-F238E27FC236}">
                  <a16:creationId xmlns:a16="http://schemas.microsoft.com/office/drawing/2014/main" id="{A122F1F0-FA86-E7AE-6689-437B4FA39E6F}"/>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23" name="Rectangle 73">
              <a:extLst>
                <a:ext uri="{FF2B5EF4-FFF2-40B4-BE49-F238E27FC236}">
                  <a16:creationId xmlns:a16="http://schemas.microsoft.com/office/drawing/2014/main" id="{1B2329F1-47A8-E167-9295-4279EE01003D}"/>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cxnSp>
        <p:nvCxnSpPr>
          <p:cNvPr id="24" name="直線矢印コネクタ 23">
            <a:extLst>
              <a:ext uri="{FF2B5EF4-FFF2-40B4-BE49-F238E27FC236}">
                <a16:creationId xmlns:a16="http://schemas.microsoft.com/office/drawing/2014/main" id="{C84EFADD-44A5-ED03-5730-0B1F0E235E7D}"/>
              </a:ext>
            </a:extLst>
          </p:cNvPr>
          <p:cNvCxnSpPr/>
          <p:nvPr/>
        </p:nvCxnSpPr>
        <p:spPr bwMode="auto">
          <a:xfrm>
            <a:off x="3035966" y="4959017"/>
            <a:ext cx="2160024" cy="0"/>
          </a:xfrm>
          <a:prstGeom prst="straightConnector1">
            <a:avLst/>
          </a:prstGeom>
          <a:noFill/>
          <a:ln w="9525" cap="flat" cmpd="sng" algn="ctr">
            <a:solidFill>
              <a:schemeClr val="tx1"/>
            </a:solidFill>
            <a:prstDash val="solid"/>
            <a:round/>
            <a:headEnd type="triangle" w="med" len="med"/>
            <a:tailEnd type="triangle"/>
          </a:ln>
          <a:effectLst/>
        </p:spPr>
      </p:cxnSp>
      <p:sp>
        <p:nvSpPr>
          <p:cNvPr id="25" name="正方形/長方形 24">
            <a:extLst>
              <a:ext uri="{FF2B5EF4-FFF2-40B4-BE49-F238E27FC236}">
                <a16:creationId xmlns:a16="http://schemas.microsoft.com/office/drawing/2014/main" id="{23BDA0A7-2BF9-8363-DFD8-F10E0591DE1F}"/>
              </a:ext>
            </a:extLst>
          </p:cNvPr>
          <p:cNvSpPr/>
          <p:nvPr/>
        </p:nvSpPr>
        <p:spPr>
          <a:xfrm>
            <a:off x="3035966" y="4599013"/>
            <a:ext cx="2160024" cy="369332"/>
          </a:xfrm>
          <a:prstGeom prst="rect">
            <a:avLst/>
          </a:prstGeom>
        </p:spPr>
        <p:txBody>
          <a:bodyPr wrap="square">
            <a:spAutoFit/>
          </a:bodyPr>
          <a:lstStyle/>
          <a:p>
            <a:pPr algn="ctr"/>
            <a:r>
              <a:rPr lang="en-US" altLang="ja-JP" dirty="0">
                <a:solidFill>
                  <a:schemeClr val="tx1">
                    <a:lumMod val="65000"/>
                    <a:lumOff val="35000"/>
                  </a:schemeClr>
                </a:solidFill>
              </a:rPr>
              <a:t>1cycle 5ns</a:t>
            </a:r>
            <a:endParaRPr lang="ja-JP" altLang="en-US" dirty="0">
              <a:solidFill>
                <a:schemeClr val="tx1">
                  <a:lumMod val="65000"/>
                  <a:lumOff val="35000"/>
                </a:schemeClr>
              </a:solidFill>
            </a:endParaRPr>
          </a:p>
        </p:txBody>
      </p:sp>
    </p:spTree>
    <p:extLst>
      <p:ext uri="{BB962C8B-B14F-4D97-AF65-F5344CB8AC3E}">
        <p14:creationId xmlns:p14="http://schemas.microsoft.com/office/powerpoint/2010/main" val="33441128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1055944" y="1088974"/>
            <a:ext cx="10260114" cy="2520028"/>
          </a:xfrm>
        </p:spPr>
        <p:txBody>
          <a:bodyPr anchor="t"/>
          <a:lstStyle/>
          <a:p>
            <a:r>
              <a:rPr lang="ja-JP" altLang="en-US" sz="1600" dirty="0"/>
              <a:t>前記の前提の下で，</a:t>
            </a:r>
            <a:r>
              <a:rPr lang="en-US" altLang="ja-JP" sz="1600" dirty="0"/>
              <a:t>F,D,X,M,W </a:t>
            </a:r>
            <a:r>
              <a:rPr lang="ja-JP" altLang="en-US" sz="1600" dirty="0"/>
              <a:t>の５ステージからなるパイプライン・プロセッサを構成することを考える．ただし，</a:t>
            </a:r>
            <a:r>
              <a:rPr lang="en-US" altLang="ja-JP" sz="1600" dirty="0"/>
              <a:t>in-order </a:t>
            </a:r>
            <a:r>
              <a:rPr lang="ja-JP" altLang="en-US" sz="1600" dirty="0"/>
              <a:t>スカラ・プロセッサであるものとする</a:t>
            </a:r>
            <a:br>
              <a:rPr lang="en-US" altLang="ja-JP" sz="1600" dirty="0"/>
            </a:br>
            <a:endParaRPr lang="en-US" altLang="ja-JP" sz="1600" dirty="0"/>
          </a:p>
          <a:p>
            <a:pPr lvl="1"/>
            <a:r>
              <a:rPr lang="en-US" altLang="ja-JP" sz="1600" dirty="0"/>
              <a:t>(3) </a:t>
            </a:r>
            <a:r>
              <a:rPr lang="ja-JP" altLang="en-US" sz="1600" dirty="0"/>
              <a:t>その場合の最大動作周波数はいくつになるか述べよ</a:t>
            </a:r>
            <a:endParaRPr lang="en-US" altLang="ja-JP" sz="1600" dirty="0"/>
          </a:p>
          <a:p>
            <a:pPr lvl="2"/>
            <a:r>
              <a:rPr lang="en-US" altLang="ja-JP" sz="1600" dirty="0"/>
              <a:t>1 </a:t>
            </a:r>
            <a:r>
              <a:rPr lang="ja-JP" altLang="en-US" sz="1600" dirty="0"/>
              <a:t>秒 </a:t>
            </a:r>
            <a:r>
              <a:rPr lang="en-US" altLang="ja-JP" sz="1600" dirty="0"/>
              <a:t>/ 1 ns = 1GHz</a:t>
            </a:r>
            <a:br>
              <a:rPr lang="en-US" altLang="ja-JP" sz="1600" dirty="0"/>
            </a:br>
            <a:endParaRPr lang="en-US" altLang="ja-JP" sz="1600" dirty="0"/>
          </a:p>
          <a:p>
            <a:pPr lvl="1"/>
            <a:r>
              <a:rPr lang="en-US" altLang="ja-JP" sz="1600" dirty="0"/>
              <a:t>(4) </a:t>
            </a:r>
            <a:r>
              <a:rPr lang="ja-JP" altLang="en-US" sz="1600" dirty="0"/>
              <a:t>以下の命令列を実行するのに必要な時間を計算せよ</a:t>
            </a:r>
            <a:endParaRPr lang="en-US" altLang="ja-JP" sz="1600" dirty="0"/>
          </a:p>
          <a:p>
            <a:pPr marL="720000" lvl="2" indent="0">
              <a:buNone/>
            </a:pPr>
            <a:r>
              <a:rPr lang="en-US" altLang="ja-JP" sz="1600" dirty="0"/>
              <a:t>sub </a:t>
            </a:r>
            <a:r>
              <a:rPr lang="en-US" altLang="ja-JP" sz="1600" dirty="0">
                <a:solidFill>
                  <a:schemeClr val="accent5"/>
                </a:solidFill>
              </a:rPr>
              <a:t>x2</a:t>
            </a:r>
            <a:r>
              <a:rPr lang="en-US" altLang="ja-JP" sz="1600" dirty="0"/>
              <a:t>←x3+x4</a:t>
            </a:r>
            <a:br>
              <a:rPr lang="en-US" altLang="ja-JP" sz="1600" dirty="0"/>
            </a:br>
            <a:r>
              <a:rPr lang="en-US" altLang="ja-JP" sz="1600" dirty="0"/>
              <a:t>add x1←</a:t>
            </a:r>
            <a:r>
              <a:rPr lang="en-US" altLang="ja-JP" sz="1600" dirty="0">
                <a:solidFill>
                  <a:schemeClr val="accent5"/>
                </a:solidFill>
              </a:rPr>
              <a:t>x2</a:t>
            </a:r>
            <a:r>
              <a:rPr lang="en-US" altLang="ja-JP" sz="1600" dirty="0"/>
              <a:t>+x3</a:t>
            </a:r>
            <a:br>
              <a:rPr lang="en-US" altLang="ja-JP" sz="1600" dirty="0"/>
            </a:br>
            <a:r>
              <a:rPr lang="en-US" altLang="ja-JP" sz="1600" dirty="0"/>
              <a:t>add x5←x6+x7</a:t>
            </a:r>
          </a:p>
          <a:p>
            <a:pPr lvl="2"/>
            <a:r>
              <a:rPr lang="en-US" altLang="ja-JP" sz="1600" dirty="0"/>
              <a:t>7ns</a:t>
            </a:r>
          </a:p>
          <a:p>
            <a:pPr lvl="2"/>
            <a:r>
              <a:rPr lang="en-US" altLang="ja-JP" sz="1600" dirty="0"/>
              <a:t>x2 </a:t>
            </a:r>
            <a:r>
              <a:rPr lang="ja-JP" altLang="en-US" sz="1600" dirty="0"/>
              <a:t>レジスタに依存があるが，フォワーディングがあるため待ちは発生しない</a:t>
            </a:r>
            <a:endParaRPr lang="en-US" altLang="ja-JP" sz="1600" dirty="0"/>
          </a:p>
        </p:txBody>
      </p:sp>
      <p:grpSp>
        <p:nvGrpSpPr>
          <p:cNvPr id="3" name="グループ化 2">
            <a:extLst>
              <a:ext uri="{FF2B5EF4-FFF2-40B4-BE49-F238E27FC236}">
                <a16:creationId xmlns:a16="http://schemas.microsoft.com/office/drawing/2014/main" id="{8B14EF7C-0F78-F004-4DDA-8DA94615623B}"/>
              </a:ext>
            </a:extLst>
          </p:cNvPr>
          <p:cNvGrpSpPr/>
          <p:nvPr/>
        </p:nvGrpSpPr>
        <p:grpSpPr>
          <a:xfrm>
            <a:off x="2495959" y="5229020"/>
            <a:ext cx="2160020" cy="360000"/>
            <a:chOff x="4481999" y="4959017"/>
            <a:chExt cx="2160020" cy="360000"/>
          </a:xfrm>
        </p:grpSpPr>
        <p:sp>
          <p:nvSpPr>
            <p:cNvPr id="4" name="Rectangle 69">
              <a:extLst>
                <a:ext uri="{FF2B5EF4-FFF2-40B4-BE49-F238E27FC236}">
                  <a16:creationId xmlns:a16="http://schemas.microsoft.com/office/drawing/2014/main" id="{0897DC75-0566-5C7D-1CDB-4F8B442E9928}"/>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A58320EF-FFF0-5068-04A6-C71EDADA0346}"/>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4F1845DC-416E-12AC-0C32-65A88ED6139D}"/>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BB10643C-A17E-ABAB-9435-FE44EB7F71B9}"/>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1CDDC21D-4AD9-55FD-ED24-94BC6BD673FB}"/>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grpSp>
        <p:nvGrpSpPr>
          <p:cNvPr id="11" name="グループ化 10">
            <a:extLst>
              <a:ext uri="{FF2B5EF4-FFF2-40B4-BE49-F238E27FC236}">
                <a16:creationId xmlns:a16="http://schemas.microsoft.com/office/drawing/2014/main" id="{E746961F-4BFA-DAA9-9EA7-B52D9CB03FA6}"/>
              </a:ext>
            </a:extLst>
          </p:cNvPr>
          <p:cNvGrpSpPr/>
          <p:nvPr/>
        </p:nvGrpSpPr>
        <p:grpSpPr>
          <a:xfrm>
            <a:off x="2945964" y="5679025"/>
            <a:ext cx="2160020" cy="360000"/>
            <a:chOff x="4481999" y="4959017"/>
            <a:chExt cx="2160020" cy="360000"/>
          </a:xfrm>
        </p:grpSpPr>
        <p:sp>
          <p:nvSpPr>
            <p:cNvPr id="12" name="Rectangle 69">
              <a:extLst>
                <a:ext uri="{FF2B5EF4-FFF2-40B4-BE49-F238E27FC236}">
                  <a16:creationId xmlns:a16="http://schemas.microsoft.com/office/drawing/2014/main" id="{C4194B49-B1EF-5270-74B5-869DC3734A08}"/>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3" name="Rectangle 70">
              <a:extLst>
                <a:ext uri="{FF2B5EF4-FFF2-40B4-BE49-F238E27FC236}">
                  <a16:creationId xmlns:a16="http://schemas.microsoft.com/office/drawing/2014/main" id="{F64FAC9D-FFD2-10DC-E5D1-C282E1B92D5F}"/>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4" name="Rectangle 71">
              <a:extLst>
                <a:ext uri="{FF2B5EF4-FFF2-40B4-BE49-F238E27FC236}">
                  <a16:creationId xmlns:a16="http://schemas.microsoft.com/office/drawing/2014/main" id="{6CDBFF53-EAC9-80B0-1E86-BD269BBA4A0C}"/>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5" name="Rectangle 72">
              <a:extLst>
                <a:ext uri="{FF2B5EF4-FFF2-40B4-BE49-F238E27FC236}">
                  <a16:creationId xmlns:a16="http://schemas.microsoft.com/office/drawing/2014/main" id="{6C754524-4F97-059C-ED8B-2EC50962C7BA}"/>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6" name="Rectangle 73">
              <a:extLst>
                <a:ext uri="{FF2B5EF4-FFF2-40B4-BE49-F238E27FC236}">
                  <a16:creationId xmlns:a16="http://schemas.microsoft.com/office/drawing/2014/main" id="{3742B222-2E83-7502-DDDF-F1D3F72EF846}"/>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grpSp>
        <p:nvGrpSpPr>
          <p:cNvPr id="17" name="グループ化 16">
            <a:extLst>
              <a:ext uri="{FF2B5EF4-FFF2-40B4-BE49-F238E27FC236}">
                <a16:creationId xmlns:a16="http://schemas.microsoft.com/office/drawing/2014/main" id="{07FA17C6-39C4-8803-0CD8-DDA1432D4C46}"/>
              </a:ext>
            </a:extLst>
          </p:cNvPr>
          <p:cNvGrpSpPr/>
          <p:nvPr/>
        </p:nvGrpSpPr>
        <p:grpSpPr>
          <a:xfrm>
            <a:off x="3395969" y="6129030"/>
            <a:ext cx="2160020" cy="360000"/>
            <a:chOff x="4481999" y="4959017"/>
            <a:chExt cx="2160020" cy="360000"/>
          </a:xfrm>
        </p:grpSpPr>
        <p:sp>
          <p:nvSpPr>
            <p:cNvPr id="18" name="Rectangle 69">
              <a:extLst>
                <a:ext uri="{FF2B5EF4-FFF2-40B4-BE49-F238E27FC236}">
                  <a16:creationId xmlns:a16="http://schemas.microsoft.com/office/drawing/2014/main" id="{11608AD3-E1AB-34F7-3583-36F8572E9B3D}"/>
                </a:ext>
              </a:extLst>
            </p:cNvPr>
            <p:cNvSpPr>
              <a:spLocks noChangeArrowheads="1"/>
            </p:cNvSpPr>
            <p:nvPr/>
          </p:nvSpPr>
          <p:spPr bwMode="auto">
            <a:xfrm>
              <a:off x="448199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9" name="Rectangle 70">
              <a:extLst>
                <a:ext uri="{FF2B5EF4-FFF2-40B4-BE49-F238E27FC236}">
                  <a16:creationId xmlns:a16="http://schemas.microsoft.com/office/drawing/2014/main" id="{BE0C1326-CC49-97F5-3F05-6705CEE2DD7F}"/>
                </a:ext>
              </a:extLst>
            </p:cNvPr>
            <p:cNvSpPr>
              <a:spLocks noChangeArrowheads="1"/>
            </p:cNvSpPr>
            <p:nvPr/>
          </p:nvSpPr>
          <p:spPr bwMode="auto">
            <a:xfrm>
              <a:off x="493200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20" name="Rectangle 71">
              <a:extLst>
                <a:ext uri="{FF2B5EF4-FFF2-40B4-BE49-F238E27FC236}">
                  <a16:creationId xmlns:a16="http://schemas.microsoft.com/office/drawing/2014/main" id="{0E466E56-392C-5828-E0F9-C8879BCE9F9E}"/>
                </a:ext>
              </a:extLst>
            </p:cNvPr>
            <p:cNvSpPr>
              <a:spLocks noChangeArrowheads="1"/>
            </p:cNvSpPr>
            <p:nvPr/>
          </p:nvSpPr>
          <p:spPr bwMode="auto">
            <a:xfrm>
              <a:off x="538200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21" name="Rectangle 72">
              <a:extLst>
                <a:ext uri="{FF2B5EF4-FFF2-40B4-BE49-F238E27FC236}">
                  <a16:creationId xmlns:a16="http://schemas.microsoft.com/office/drawing/2014/main" id="{9B12CCD0-BC5D-9A7A-7B5B-118B5CF6CDA5}"/>
                </a:ext>
              </a:extLst>
            </p:cNvPr>
            <p:cNvSpPr>
              <a:spLocks noChangeArrowheads="1"/>
            </p:cNvSpPr>
            <p:nvPr/>
          </p:nvSpPr>
          <p:spPr bwMode="auto">
            <a:xfrm>
              <a:off x="5832014"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22" name="Rectangle 73">
              <a:extLst>
                <a:ext uri="{FF2B5EF4-FFF2-40B4-BE49-F238E27FC236}">
                  <a16:creationId xmlns:a16="http://schemas.microsoft.com/office/drawing/2014/main" id="{08CEAC68-4661-CABD-0978-B7562F359107}"/>
                </a:ext>
              </a:extLst>
            </p:cNvPr>
            <p:cNvSpPr>
              <a:spLocks noChangeArrowheads="1"/>
            </p:cNvSpPr>
            <p:nvPr/>
          </p:nvSpPr>
          <p:spPr bwMode="auto">
            <a:xfrm>
              <a:off x="6282019"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grpSp>
      <p:cxnSp>
        <p:nvCxnSpPr>
          <p:cNvPr id="24" name="直線矢印コネクタ 23">
            <a:extLst>
              <a:ext uri="{FF2B5EF4-FFF2-40B4-BE49-F238E27FC236}">
                <a16:creationId xmlns:a16="http://schemas.microsoft.com/office/drawing/2014/main" id="{87C159C9-5E9A-39EC-CCBE-350E833AFD57}"/>
              </a:ext>
            </a:extLst>
          </p:cNvPr>
          <p:cNvCxnSpPr/>
          <p:nvPr/>
        </p:nvCxnSpPr>
        <p:spPr bwMode="auto">
          <a:xfrm>
            <a:off x="2495960" y="5049018"/>
            <a:ext cx="3150035" cy="0"/>
          </a:xfrm>
          <a:prstGeom prst="straightConnector1">
            <a:avLst/>
          </a:prstGeom>
          <a:noFill/>
          <a:ln w="9525" cap="flat" cmpd="sng" algn="ctr">
            <a:solidFill>
              <a:schemeClr val="tx1"/>
            </a:solidFill>
            <a:prstDash val="solid"/>
            <a:round/>
            <a:headEnd type="triangle" w="med" len="med"/>
            <a:tailEnd type="triangle"/>
          </a:ln>
          <a:effectLst/>
        </p:spPr>
      </p:cxnSp>
    </p:spTree>
    <p:extLst>
      <p:ext uri="{BB962C8B-B14F-4D97-AF65-F5344CB8AC3E}">
        <p14:creationId xmlns:p14="http://schemas.microsoft.com/office/powerpoint/2010/main" val="892877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4"/>
            <a:ext cx="7920088" cy="2520028"/>
          </a:xfrm>
        </p:spPr>
        <p:txBody>
          <a:bodyPr anchor="t"/>
          <a:lstStyle/>
          <a:p>
            <a:r>
              <a:rPr lang="en-US" altLang="ja-JP" sz="1600" dirty="0"/>
              <a:t>(5) </a:t>
            </a:r>
            <a:r>
              <a:rPr lang="ja-JP" altLang="en-US" sz="1600" dirty="0"/>
              <a:t>以下の命令列を実行するのに必要な時間を計算せよ</a:t>
            </a:r>
            <a:br>
              <a:rPr lang="en-US" altLang="ja-JP" sz="1600" dirty="0"/>
            </a:br>
            <a:r>
              <a:rPr lang="ja-JP" altLang="en-US" sz="1600" dirty="0"/>
              <a:t>依存関係のために必要な場合のみパイプラインを適宜ストールして実行するものとせよ</a:t>
            </a:r>
            <a:br>
              <a:rPr lang="en-US" altLang="ja-JP" sz="1600" dirty="0"/>
            </a:br>
            <a:r>
              <a:rPr lang="en-US" altLang="ja-JP" sz="1600" dirty="0"/>
              <a:t>ld    </a:t>
            </a:r>
            <a:r>
              <a:rPr lang="en-US" altLang="ja-JP" sz="1600" dirty="0">
                <a:solidFill>
                  <a:schemeClr val="accent5"/>
                </a:solidFill>
              </a:rPr>
              <a:t>x2</a:t>
            </a:r>
            <a:r>
              <a:rPr lang="en-US" altLang="ja-JP" sz="1600" dirty="0"/>
              <a:t>←(x1)</a:t>
            </a:r>
            <a:br>
              <a:rPr lang="en-US" altLang="ja-JP" sz="1600" dirty="0"/>
            </a:br>
            <a:r>
              <a:rPr lang="en-US" altLang="ja-JP" sz="1600" dirty="0"/>
              <a:t>add x1←</a:t>
            </a:r>
            <a:r>
              <a:rPr lang="en-US" altLang="ja-JP" sz="1600" dirty="0">
                <a:solidFill>
                  <a:schemeClr val="accent5"/>
                </a:solidFill>
              </a:rPr>
              <a:t>x2</a:t>
            </a:r>
            <a:r>
              <a:rPr lang="en-US" altLang="ja-JP" sz="1600" dirty="0"/>
              <a:t>+x3</a:t>
            </a:r>
            <a:br>
              <a:rPr lang="en-US" altLang="ja-JP" sz="1600" dirty="0"/>
            </a:br>
            <a:r>
              <a:rPr lang="en-US" altLang="ja-JP" sz="1600" dirty="0"/>
              <a:t>ld    </a:t>
            </a:r>
            <a:r>
              <a:rPr lang="en-US" altLang="ja-JP" sz="1600" dirty="0">
                <a:solidFill>
                  <a:schemeClr val="accent5"/>
                </a:solidFill>
              </a:rPr>
              <a:t>x2</a:t>
            </a:r>
            <a:r>
              <a:rPr lang="en-US" altLang="ja-JP" sz="1600" dirty="0"/>
              <a:t>←(x3)</a:t>
            </a:r>
            <a:br>
              <a:rPr lang="en-US" altLang="ja-JP" sz="1600" dirty="0"/>
            </a:br>
            <a:r>
              <a:rPr lang="en-US" altLang="ja-JP" sz="1600" dirty="0"/>
              <a:t>add x5←</a:t>
            </a:r>
            <a:r>
              <a:rPr lang="en-US" altLang="ja-JP" sz="1600" dirty="0">
                <a:solidFill>
                  <a:schemeClr val="accent5"/>
                </a:solidFill>
              </a:rPr>
              <a:t>x2</a:t>
            </a:r>
            <a:r>
              <a:rPr lang="en-US" altLang="ja-JP" sz="1600" dirty="0"/>
              <a:t>+x7</a:t>
            </a:r>
          </a:p>
          <a:p>
            <a:r>
              <a:rPr lang="en-US" altLang="ja-JP" sz="1600" dirty="0"/>
              <a:t>10ns</a:t>
            </a:r>
            <a:r>
              <a:rPr lang="ja-JP" altLang="en-US" sz="1600" dirty="0"/>
              <a:t>（フォワーディングありの場合）</a:t>
            </a:r>
            <a:br>
              <a:rPr lang="en-US" altLang="ja-JP" sz="1600" dirty="0"/>
            </a:br>
            <a:r>
              <a:rPr lang="en-US" altLang="ja-JP" sz="1600" dirty="0"/>
              <a:t>1,3 </a:t>
            </a:r>
            <a:r>
              <a:rPr lang="ja-JP" altLang="en-US" sz="1600" dirty="0"/>
              <a:t>命令目の </a:t>
            </a:r>
            <a:r>
              <a:rPr lang="en-US" altLang="ja-JP" sz="1600" dirty="0" err="1"/>
              <a:t>ld</a:t>
            </a:r>
            <a:r>
              <a:rPr lang="en-US" altLang="ja-JP" sz="1600" dirty="0"/>
              <a:t> </a:t>
            </a:r>
            <a:r>
              <a:rPr lang="ja-JP" altLang="en-US" sz="1600" dirty="0"/>
              <a:t>では </a:t>
            </a:r>
            <a:r>
              <a:rPr lang="en-US" altLang="ja-JP" sz="1600" dirty="0"/>
              <a:t>M </a:t>
            </a:r>
            <a:r>
              <a:rPr lang="ja-JP" altLang="en-US" sz="1600" dirty="0"/>
              <a:t>が終わるまで値が取れないため，</a:t>
            </a:r>
            <a:br>
              <a:rPr lang="en-US" altLang="ja-JP" sz="1600" dirty="0"/>
            </a:br>
            <a:r>
              <a:rPr lang="ja-JP" altLang="en-US" sz="1600" dirty="0"/>
              <a:t>それに依存した後ろにある命令ではバブルが生じる（ストールが発生する）</a:t>
            </a:r>
            <a:endParaRPr lang="en-US" altLang="ja-JP" sz="1600" dirty="0"/>
          </a:p>
        </p:txBody>
      </p:sp>
      <p:sp>
        <p:nvSpPr>
          <p:cNvPr id="4" name="Rectangle 69">
            <a:extLst>
              <a:ext uri="{FF2B5EF4-FFF2-40B4-BE49-F238E27FC236}">
                <a16:creationId xmlns:a16="http://schemas.microsoft.com/office/drawing/2014/main" id="{BE7DE7CF-0982-42D5-387A-3F09092B0AA3}"/>
              </a:ext>
            </a:extLst>
          </p:cNvPr>
          <p:cNvSpPr>
            <a:spLocks noChangeArrowheads="1"/>
          </p:cNvSpPr>
          <p:nvPr/>
        </p:nvSpPr>
        <p:spPr bwMode="auto">
          <a:xfrm>
            <a:off x="2495960"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7F7EB531-94AD-4E0A-C7F9-8D1912702EF1}"/>
              </a:ext>
            </a:extLst>
          </p:cNvPr>
          <p:cNvSpPr>
            <a:spLocks noChangeArrowheads="1"/>
          </p:cNvSpPr>
          <p:nvPr/>
        </p:nvSpPr>
        <p:spPr bwMode="auto">
          <a:xfrm>
            <a:off x="2945965"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0B160E19-0513-955E-6EC3-E3C00C83FDF1}"/>
              </a:ext>
            </a:extLst>
          </p:cNvPr>
          <p:cNvSpPr>
            <a:spLocks noChangeArrowheads="1"/>
          </p:cNvSpPr>
          <p:nvPr/>
        </p:nvSpPr>
        <p:spPr bwMode="auto">
          <a:xfrm>
            <a:off x="3395970"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3B6F30B4-FAD5-2F55-BF93-C25584F514E0}"/>
              </a:ext>
            </a:extLst>
          </p:cNvPr>
          <p:cNvSpPr>
            <a:spLocks noChangeArrowheads="1"/>
          </p:cNvSpPr>
          <p:nvPr/>
        </p:nvSpPr>
        <p:spPr bwMode="auto">
          <a:xfrm>
            <a:off x="3845975"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C77F1EE0-4744-519F-F966-C96C7A3EEB05}"/>
              </a:ext>
            </a:extLst>
          </p:cNvPr>
          <p:cNvSpPr>
            <a:spLocks noChangeArrowheads="1"/>
          </p:cNvSpPr>
          <p:nvPr/>
        </p:nvSpPr>
        <p:spPr bwMode="auto">
          <a:xfrm>
            <a:off x="4295980" y="450901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2" name="Rectangle 69">
            <a:extLst>
              <a:ext uri="{FF2B5EF4-FFF2-40B4-BE49-F238E27FC236}">
                <a16:creationId xmlns:a16="http://schemas.microsoft.com/office/drawing/2014/main" id="{B90DD618-53E3-EC9E-567D-D74D9C9C0AFB}"/>
              </a:ext>
            </a:extLst>
          </p:cNvPr>
          <p:cNvSpPr>
            <a:spLocks noChangeArrowheads="1"/>
          </p:cNvSpPr>
          <p:nvPr/>
        </p:nvSpPr>
        <p:spPr bwMode="auto">
          <a:xfrm>
            <a:off x="2945965"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3" name="Rectangle 70">
            <a:extLst>
              <a:ext uri="{FF2B5EF4-FFF2-40B4-BE49-F238E27FC236}">
                <a16:creationId xmlns:a16="http://schemas.microsoft.com/office/drawing/2014/main" id="{641302E3-B5F6-22C5-3449-A0398C2EBA03}"/>
              </a:ext>
            </a:extLst>
          </p:cNvPr>
          <p:cNvSpPr>
            <a:spLocks noChangeArrowheads="1"/>
          </p:cNvSpPr>
          <p:nvPr/>
        </p:nvSpPr>
        <p:spPr bwMode="auto">
          <a:xfrm>
            <a:off x="3395970"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4" name="Rectangle 71">
            <a:extLst>
              <a:ext uri="{FF2B5EF4-FFF2-40B4-BE49-F238E27FC236}">
                <a16:creationId xmlns:a16="http://schemas.microsoft.com/office/drawing/2014/main" id="{3B494AC6-34BC-F677-8086-7ED1D13107C6}"/>
              </a:ext>
            </a:extLst>
          </p:cNvPr>
          <p:cNvSpPr>
            <a:spLocks noChangeArrowheads="1"/>
          </p:cNvSpPr>
          <p:nvPr/>
        </p:nvSpPr>
        <p:spPr bwMode="auto">
          <a:xfrm>
            <a:off x="4295980"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5" name="Rectangle 72">
            <a:extLst>
              <a:ext uri="{FF2B5EF4-FFF2-40B4-BE49-F238E27FC236}">
                <a16:creationId xmlns:a16="http://schemas.microsoft.com/office/drawing/2014/main" id="{294B0C06-8112-5710-EFA7-4206AD8E2A3E}"/>
              </a:ext>
            </a:extLst>
          </p:cNvPr>
          <p:cNvSpPr>
            <a:spLocks noChangeArrowheads="1"/>
          </p:cNvSpPr>
          <p:nvPr/>
        </p:nvSpPr>
        <p:spPr bwMode="auto">
          <a:xfrm>
            <a:off x="4745985"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6" name="Rectangle 73">
            <a:extLst>
              <a:ext uri="{FF2B5EF4-FFF2-40B4-BE49-F238E27FC236}">
                <a16:creationId xmlns:a16="http://schemas.microsoft.com/office/drawing/2014/main" id="{EC5DC536-6527-3B79-B33C-3E55F0D3FD5E}"/>
              </a:ext>
            </a:extLst>
          </p:cNvPr>
          <p:cNvSpPr>
            <a:spLocks noChangeArrowheads="1"/>
          </p:cNvSpPr>
          <p:nvPr/>
        </p:nvSpPr>
        <p:spPr bwMode="auto">
          <a:xfrm>
            <a:off x="5195990" y="495901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8" name="Rectangle 69">
            <a:extLst>
              <a:ext uri="{FF2B5EF4-FFF2-40B4-BE49-F238E27FC236}">
                <a16:creationId xmlns:a16="http://schemas.microsoft.com/office/drawing/2014/main" id="{B94E6F65-C29C-ED3B-FF01-78D1D9A574FC}"/>
              </a:ext>
            </a:extLst>
          </p:cNvPr>
          <p:cNvSpPr>
            <a:spLocks noChangeArrowheads="1"/>
          </p:cNvSpPr>
          <p:nvPr/>
        </p:nvSpPr>
        <p:spPr bwMode="auto">
          <a:xfrm>
            <a:off x="3395970"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9" name="Rectangle 70">
            <a:extLst>
              <a:ext uri="{FF2B5EF4-FFF2-40B4-BE49-F238E27FC236}">
                <a16:creationId xmlns:a16="http://schemas.microsoft.com/office/drawing/2014/main" id="{1A804DCF-C7C7-9883-0EF5-C4A6E2C7D9DF}"/>
              </a:ext>
            </a:extLst>
          </p:cNvPr>
          <p:cNvSpPr>
            <a:spLocks noChangeArrowheads="1"/>
          </p:cNvSpPr>
          <p:nvPr/>
        </p:nvSpPr>
        <p:spPr bwMode="auto">
          <a:xfrm>
            <a:off x="4295980"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20" name="Rectangle 71">
            <a:extLst>
              <a:ext uri="{FF2B5EF4-FFF2-40B4-BE49-F238E27FC236}">
                <a16:creationId xmlns:a16="http://schemas.microsoft.com/office/drawing/2014/main" id="{0F26E2E7-BB3F-BDCE-B849-E5B9BB3AD7F6}"/>
              </a:ext>
            </a:extLst>
          </p:cNvPr>
          <p:cNvSpPr>
            <a:spLocks noChangeArrowheads="1"/>
          </p:cNvSpPr>
          <p:nvPr/>
        </p:nvSpPr>
        <p:spPr bwMode="auto">
          <a:xfrm>
            <a:off x="4745985"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21" name="Rectangle 72">
            <a:extLst>
              <a:ext uri="{FF2B5EF4-FFF2-40B4-BE49-F238E27FC236}">
                <a16:creationId xmlns:a16="http://schemas.microsoft.com/office/drawing/2014/main" id="{E9DD3DDB-CBBA-68F0-CAF4-B450691DB739}"/>
              </a:ext>
            </a:extLst>
          </p:cNvPr>
          <p:cNvSpPr>
            <a:spLocks noChangeArrowheads="1"/>
          </p:cNvSpPr>
          <p:nvPr/>
        </p:nvSpPr>
        <p:spPr bwMode="auto">
          <a:xfrm>
            <a:off x="5195990"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22" name="Rectangle 73">
            <a:extLst>
              <a:ext uri="{FF2B5EF4-FFF2-40B4-BE49-F238E27FC236}">
                <a16:creationId xmlns:a16="http://schemas.microsoft.com/office/drawing/2014/main" id="{2841FC1B-147E-4B50-2C62-D057CB5723BB}"/>
              </a:ext>
            </a:extLst>
          </p:cNvPr>
          <p:cNvSpPr>
            <a:spLocks noChangeArrowheads="1"/>
          </p:cNvSpPr>
          <p:nvPr/>
        </p:nvSpPr>
        <p:spPr bwMode="auto">
          <a:xfrm>
            <a:off x="5645995" y="5409022"/>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29" name="Rectangle 69">
            <a:extLst>
              <a:ext uri="{FF2B5EF4-FFF2-40B4-BE49-F238E27FC236}">
                <a16:creationId xmlns:a16="http://schemas.microsoft.com/office/drawing/2014/main" id="{EADEF4E3-32B3-6C5C-9BB7-376DF5308E84}"/>
              </a:ext>
            </a:extLst>
          </p:cNvPr>
          <p:cNvSpPr>
            <a:spLocks noChangeArrowheads="1"/>
          </p:cNvSpPr>
          <p:nvPr/>
        </p:nvSpPr>
        <p:spPr bwMode="auto">
          <a:xfrm>
            <a:off x="4295980"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30" name="Rectangle 70">
            <a:extLst>
              <a:ext uri="{FF2B5EF4-FFF2-40B4-BE49-F238E27FC236}">
                <a16:creationId xmlns:a16="http://schemas.microsoft.com/office/drawing/2014/main" id="{64EA38E5-1AA6-AE27-E1C4-5AFB9E2F56C7}"/>
              </a:ext>
            </a:extLst>
          </p:cNvPr>
          <p:cNvSpPr>
            <a:spLocks noChangeArrowheads="1"/>
          </p:cNvSpPr>
          <p:nvPr/>
        </p:nvSpPr>
        <p:spPr bwMode="auto">
          <a:xfrm>
            <a:off x="4745985"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31" name="Rectangle 71">
            <a:extLst>
              <a:ext uri="{FF2B5EF4-FFF2-40B4-BE49-F238E27FC236}">
                <a16:creationId xmlns:a16="http://schemas.microsoft.com/office/drawing/2014/main" id="{E5FFC73C-3256-A443-689E-121251F82A36}"/>
              </a:ext>
            </a:extLst>
          </p:cNvPr>
          <p:cNvSpPr>
            <a:spLocks noChangeArrowheads="1"/>
          </p:cNvSpPr>
          <p:nvPr/>
        </p:nvSpPr>
        <p:spPr bwMode="auto">
          <a:xfrm>
            <a:off x="5645995"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2" name="Rectangle 72">
            <a:extLst>
              <a:ext uri="{FF2B5EF4-FFF2-40B4-BE49-F238E27FC236}">
                <a16:creationId xmlns:a16="http://schemas.microsoft.com/office/drawing/2014/main" id="{1263441F-926D-8336-F897-30E1AE2310BD}"/>
              </a:ext>
            </a:extLst>
          </p:cNvPr>
          <p:cNvSpPr>
            <a:spLocks noChangeArrowheads="1"/>
          </p:cNvSpPr>
          <p:nvPr/>
        </p:nvSpPr>
        <p:spPr bwMode="auto">
          <a:xfrm>
            <a:off x="6096000"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33" name="Rectangle 73">
            <a:extLst>
              <a:ext uri="{FF2B5EF4-FFF2-40B4-BE49-F238E27FC236}">
                <a16:creationId xmlns:a16="http://schemas.microsoft.com/office/drawing/2014/main" id="{B3DD9601-38D5-D1B5-541A-4C97BEDE571C}"/>
              </a:ext>
            </a:extLst>
          </p:cNvPr>
          <p:cNvSpPr>
            <a:spLocks noChangeArrowheads="1"/>
          </p:cNvSpPr>
          <p:nvPr/>
        </p:nvSpPr>
        <p:spPr bwMode="auto">
          <a:xfrm>
            <a:off x="6546005" y="5859027"/>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34" name="Rectangle 70">
            <a:extLst>
              <a:ext uri="{FF2B5EF4-FFF2-40B4-BE49-F238E27FC236}">
                <a16:creationId xmlns:a16="http://schemas.microsoft.com/office/drawing/2014/main" id="{4EB51CDB-B172-127A-93A1-91F2634AEFF5}"/>
              </a:ext>
            </a:extLst>
          </p:cNvPr>
          <p:cNvSpPr>
            <a:spLocks noChangeArrowheads="1"/>
          </p:cNvSpPr>
          <p:nvPr/>
        </p:nvSpPr>
        <p:spPr bwMode="auto">
          <a:xfrm>
            <a:off x="3845975" y="495901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5" name="Rectangle 70">
            <a:extLst>
              <a:ext uri="{FF2B5EF4-FFF2-40B4-BE49-F238E27FC236}">
                <a16:creationId xmlns:a16="http://schemas.microsoft.com/office/drawing/2014/main" id="{65A157E9-B368-1D92-E1E6-CBBC7B05D04B}"/>
              </a:ext>
            </a:extLst>
          </p:cNvPr>
          <p:cNvSpPr>
            <a:spLocks noChangeArrowheads="1"/>
          </p:cNvSpPr>
          <p:nvPr/>
        </p:nvSpPr>
        <p:spPr bwMode="auto">
          <a:xfrm>
            <a:off x="3845975" y="5409022"/>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cxnSp>
        <p:nvCxnSpPr>
          <p:cNvPr id="37" name="直線矢印コネクタ 36">
            <a:extLst>
              <a:ext uri="{FF2B5EF4-FFF2-40B4-BE49-F238E27FC236}">
                <a16:creationId xmlns:a16="http://schemas.microsoft.com/office/drawing/2014/main" id="{7BE7FA8B-CAA2-366B-5E7F-4DD25AF7541E}"/>
              </a:ext>
            </a:extLst>
          </p:cNvPr>
          <p:cNvCxnSpPr/>
          <p:nvPr/>
        </p:nvCxnSpPr>
        <p:spPr bwMode="auto">
          <a:xfrm>
            <a:off x="5465994" y="5679026"/>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38" name="直線矢印コネクタ 37">
            <a:extLst>
              <a:ext uri="{FF2B5EF4-FFF2-40B4-BE49-F238E27FC236}">
                <a16:creationId xmlns:a16="http://schemas.microsoft.com/office/drawing/2014/main" id="{1851F5AE-A5FA-5812-672D-E5BDA144E932}"/>
              </a:ext>
            </a:extLst>
          </p:cNvPr>
          <p:cNvCxnSpPr/>
          <p:nvPr/>
        </p:nvCxnSpPr>
        <p:spPr bwMode="auto">
          <a:xfrm>
            <a:off x="4115979" y="4779016"/>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3" name="Rectangle 70">
            <a:extLst>
              <a:ext uri="{FF2B5EF4-FFF2-40B4-BE49-F238E27FC236}">
                <a16:creationId xmlns:a16="http://schemas.microsoft.com/office/drawing/2014/main" id="{C5FDB007-F70D-96C7-1CDC-B2E40D8DA928}"/>
              </a:ext>
            </a:extLst>
          </p:cNvPr>
          <p:cNvSpPr>
            <a:spLocks noChangeArrowheads="1"/>
          </p:cNvSpPr>
          <p:nvPr/>
        </p:nvSpPr>
        <p:spPr bwMode="auto">
          <a:xfrm>
            <a:off x="5195990" y="5859027"/>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Tree>
    <p:extLst>
      <p:ext uri="{BB962C8B-B14F-4D97-AF65-F5344CB8AC3E}">
        <p14:creationId xmlns:p14="http://schemas.microsoft.com/office/powerpoint/2010/main" val="15888205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998973"/>
            <a:ext cx="7920088" cy="2520028"/>
          </a:xfrm>
        </p:spPr>
        <p:txBody>
          <a:bodyPr anchor="t"/>
          <a:lstStyle/>
          <a:p>
            <a:r>
              <a:rPr lang="en-US" altLang="ja-JP" sz="1600" dirty="0"/>
              <a:t>(6) </a:t>
            </a:r>
            <a:r>
              <a:rPr lang="ja-JP" altLang="en-US" sz="1600" dirty="0"/>
              <a:t>以下の命令列を実行するのに必要な時間を計算せよ</a:t>
            </a:r>
            <a:br>
              <a:rPr lang="en-US" altLang="ja-JP" sz="1600" dirty="0"/>
            </a:br>
            <a:r>
              <a:rPr lang="ja-JP" altLang="en-US" sz="1600" dirty="0"/>
              <a:t>ここで </a:t>
            </a:r>
            <a:r>
              <a:rPr lang="en-US" altLang="ja-JP" sz="1600" dirty="0"/>
              <a:t>mul </a:t>
            </a:r>
            <a:r>
              <a:rPr lang="ja-JP" altLang="en-US" sz="1600" dirty="0"/>
              <a:t>は乗算命令であり </a:t>
            </a:r>
            <a:r>
              <a:rPr lang="en-US" altLang="ja-JP" sz="1600" dirty="0"/>
              <a:t>X </a:t>
            </a:r>
            <a:r>
              <a:rPr lang="ja-JP" altLang="en-US" sz="1600" dirty="0"/>
              <a:t>に４サイクルが必要である．</a:t>
            </a:r>
            <a:br>
              <a:rPr lang="en-US" altLang="ja-JP" sz="1600" dirty="0"/>
            </a:br>
            <a:r>
              <a:rPr lang="ja-JP" altLang="en-US" sz="1600" dirty="0"/>
              <a:t>依存関係を満たすために必要な場合のみ</a:t>
            </a:r>
            <a:br>
              <a:rPr lang="en-US" altLang="ja-JP" sz="1600" dirty="0"/>
            </a:br>
            <a:r>
              <a:rPr lang="ja-JP" altLang="en-US" sz="1600" dirty="0"/>
              <a:t>パイプラインを適宜ストールして実行するものとせよ</a:t>
            </a:r>
            <a:br>
              <a:rPr lang="en-US" altLang="ja-JP" sz="1600" dirty="0"/>
            </a:br>
            <a:r>
              <a:rPr lang="en-US" altLang="ja-JP" sz="1600" dirty="0"/>
              <a:t>mul </a:t>
            </a:r>
            <a:r>
              <a:rPr lang="en-US" altLang="ja-JP" sz="1600" dirty="0">
                <a:solidFill>
                  <a:schemeClr val="accent5"/>
                </a:solidFill>
              </a:rPr>
              <a:t>x2</a:t>
            </a:r>
            <a:r>
              <a:rPr lang="en-US" altLang="ja-JP" sz="1600" dirty="0"/>
              <a:t>←x1+x4</a:t>
            </a:r>
            <a:br>
              <a:rPr lang="en-US" altLang="ja-JP" sz="1600" dirty="0"/>
            </a:br>
            <a:r>
              <a:rPr lang="en-US" altLang="ja-JP" sz="1600" dirty="0"/>
              <a:t>add x1←</a:t>
            </a:r>
            <a:r>
              <a:rPr lang="en-US" altLang="ja-JP" sz="1600" dirty="0">
                <a:solidFill>
                  <a:schemeClr val="accent5"/>
                </a:solidFill>
              </a:rPr>
              <a:t>x2</a:t>
            </a:r>
            <a:r>
              <a:rPr lang="en-US" altLang="ja-JP" sz="1600" dirty="0"/>
              <a:t>+x3</a:t>
            </a:r>
            <a:br>
              <a:rPr lang="en-US" altLang="ja-JP" sz="1600" dirty="0"/>
            </a:br>
            <a:r>
              <a:rPr lang="en-US" altLang="ja-JP" sz="1600" dirty="0"/>
              <a:t>add x5←x2+x7</a:t>
            </a:r>
          </a:p>
          <a:p>
            <a:r>
              <a:rPr lang="en-US" altLang="ja-JP" sz="1600" dirty="0"/>
              <a:t>10ns </a:t>
            </a:r>
            <a:r>
              <a:rPr lang="ja-JP" altLang="en-US" sz="1600" dirty="0"/>
              <a:t>（フォワーディングありの場合）</a:t>
            </a:r>
            <a:endParaRPr lang="en-US" altLang="ja-JP" sz="1600" dirty="0"/>
          </a:p>
          <a:p>
            <a:endParaRPr lang="en-US" altLang="ja-JP" sz="1600" dirty="0"/>
          </a:p>
        </p:txBody>
      </p:sp>
      <p:sp>
        <p:nvSpPr>
          <p:cNvPr id="4" name="Rectangle 69">
            <a:extLst>
              <a:ext uri="{FF2B5EF4-FFF2-40B4-BE49-F238E27FC236}">
                <a16:creationId xmlns:a16="http://schemas.microsoft.com/office/drawing/2014/main" id="{BCFBF644-97FC-FBE9-C860-0EA06709A80D}"/>
              </a:ext>
            </a:extLst>
          </p:cNvPr>
          <p:cNvSpPr>
            <a:spLocks noChangeArrowheads="1"/>
          </p:cNvSpPr>
          <p:nvPr/>
        </p:nvSpPr>
        <p:spPr bwMode="auto">
          <a:xfrm>
            <a:off x="3845975"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6" name="Rectangle 70">
            <a:extLst>
              <a:ext uri="{FF2B5EF4-FFF2-40B4-BE49-F238E27FC236}">
                <a16:creationId xmlns:a16="http://schemas.microsoft.com/office/drawing/2014/main" id="{D66903EA-1175-4A92-05C4-B1B197B09C16}"/>
              </a:ext>
            </a:extLst>
          </p:cNvPr>
          <p:cNvSpPr>
            <a:spLocks noChangeArrowheads="1"/>
          </p:cNvSpPr>
          <p:nvPr/>
        </p:nvSpPr>
        <p:spPr bwMode="auto">
          <a:xfrm>
            <a:off x="5645995"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8" name="Rectangle 71">
            <a:extLst>
              <a:ext uri="{FF2B5EF4-FFF2-40B4-BE49-F238E27FC236}">
                <a16:creationId xmlns:a16="http://schemas.microsoft.com/office/drawing/2014/main" id="{2B8994CB-B64E-FAFD-8F26-129574F6EA08}"/>
              </a:ext>
            </a:extLst>
          </p:cNvPr>
          <p:cNvSpPr>
            <a:spLocks noChangeArrowheads="1"/>
          </p:cNvSpPr>
          <p:nvPr/>
        </p:nvSpPr>
        <p:spPr bwMode="auto">
          <a:xfrm>
            <a:off x="6096000"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9" name="Rectangle 72">
            <a:extLst>
              <a:ext uri="{FF2B5EF4-FFF2-40B4-BE49-F238E27FC236}">
                <a16:creationId xmlns:a16="http://schemas.microsoft.com/office/drawing/2014/main" id="{D626610C-63E6-22BF-0221-A4364EE198FF}"/>
              </a:ext>
            </a:extLst>
          </p:cNvPr>
          <p:cNvSpPr>
            <a:spLocks noChangeArrowheads="1"/>
          </p:cNvSpPr>
          <p:nvPr/>
        </p:nvSpPr>
        <p:spPr bwMode="auto">
          <a:xfrm>
            <a:off x="6546005"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0" name="Rectangle 73">
            <a:extLst>
              <a:ext uri="{FF2B5EF4-FFF2-40B4-BE49-F238E27FC236}">
                <a16:creationId xmlns:a16="http://schemas.microsoft.com/office/drawing/2014/main" id="{F6B709E1-853F-6E20-0B26-05E50A7E0AB8}"/>
              </a:ext>
            </a:extLst>
          </p:cNvPr>
          <p:cNvSpPr>
            <a:spLocks noChangeArrowheads="1"/>
          </p:cNvSpPr>
          <p:nvPr/>
        </p:nvSpPr>
        <p:spPr bwMode="auto">
          <a:xfrm>
            <a:off x="6996010" y="513901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2" name="Rectangle 69">
            <a:extLst>
              <a:ext uri="{FF2B5EF4-FFF2-40B4-BE49-F238E27FC236}">
                <a16:creationId xmlns:a16="http://schemas.microsoft.com/office/drawing/2014/main" id="{12AE0FF9-54EB-D0E8-292C-DB7FB72470CC}"/>
              </a:ext>
            </a:extLst>
          </p:cNvPr>
          <p:cNvSpPr>
            <a:spLocks noChangeArrowheads="1"/>
          </p:cNvSpPr>
          <p:nvPr/>
        </p:nvSpPr>
        <p:spPr bwMode="auto">
          <a:xfrm>
            <a:off x="2945965"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3" name="Rectangle 70">
            <a:extLst>
              <a:ext uri="{FF2B5EF4-FFF2-40B4-BE49-F238E27FC236}">
                <a16:creationId xmlns:a16="http://schemas.microsoft.com/office/drawing/2014/main" id="{0635572C-C100-F4DD-A52D-D4B224D913E6}"/>
              </a:ext>
            </a:extLst>
          </p:cNvPr>
          <p:cNvSpPr>
            <a:spLocks noChangeArrowheads="1"/>
          </p:cNvSpPr>
          <p:nvPr/>
        </p:nvSpPr>
        <p:spPr bwMode="auto">
          <a:xfrm>
            <a:off x="3395970"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4" name="Rectangle 71">
            <a:extLst>
              <a:ext uri="{FF2B5EF4-FFF2-40B4-BE49-F238E27FC236}">
                <a16:creationId xmlns:a16="http://schemas.microsoft.com/office/drawing/2014/main" id="{0197F41D-88E5-AB05-15E7-FCB8574472DF}"/>
              </a:ext>
            </a:extLst>
          </p:cNvPr>
          <p:cNvSpPr>
            <a:spLocks noChangeArrowheads="1"/>
          </p:cNvSpPr>
          <p:nvPr/>
        </p:nvSpPr>
        <p:spPr bwMode="auto">
          <a:xfrm>
            <a:off x="3845975"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5" name="Rectangle 72">
            <a:extLst>
              <a:ext uri="{FF2B5EF4-FFF2-40B4-BE49-F238E27FC236}">
                <a16:creationId xmlns:a16="http://schemas.microsoft.com/office/drawing/2014/main" id="{D008D8C0-9E03-A24E-EC9C-B86493768BAA}"/>
              </a:ext>
            </a:extLst>
          </p:cNvPr>
          <p:cNvSpPr>
            <a:spLocks noChangeArrowheads="1"/>
          </p:cNvSpPr>
          <p:nvPr/>
        </p:nvSpPr>
        <p:spPr bwMode="auto">
          <a:xfrm>
            <a:off x="5645995"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6" name="Rectangle 73">
            <a:extLst>
              <a:ext uri="{FF2B5EF4-FFF2-40B4-BE49-F238E27FC236}">
                <a16:creationId xmlns:a16="http://schemas.microsoft.com/office/drawing/2014/main" id="{717344D1-CC4E-0E10-EBF6-647116747DE1}"/>
              </a:ext>
            </a:extLst>
          </p:cNvPr>
          <p:cNvSpPr>
            <a:spLocks noChangeArrowheads="1"/>
          </p:cNvSpPr>
          <p:nvPr/>
        </p:nvSpPr>
        <p:spPr bwMode="auto">
          <a:xfrm>
            <a:off x="6096000"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7" name="Rectangle 69">
            <a:extLst>
              <a:ext uri="{FF2B5EF4-FFF2-40B4-BE49-F238E27FC236}">
                <a16:creationId xmlns:a16="http://schemas.microsoft.com/office/drawing/2014/main" id="{2867D37A-78BE-07CA-4B70-7BE1638DCD98}"/>
              </a:ext>
            </a:extLst>
          </p:cNvPr>
          <p:cNvSpPr>
            <a:spLocks noChangeArrowheads="1"/>
          </p:cNvSpPr>
          <p:nvPr/>
        </p:nvSpPr>
        <p:spPr bwMode="auto">
          <a:xfrm>
            <a:off x="3395970"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8" name="Rectangle 70">
            <a:extLst>
              <a:ext uri="{FF2B5EF4-FFF2-40B4-BE49-F238E27FC236}">
                <a16:creationId xmlns:a16="http://schemas.microsoft.com/office/drawing/2014/main" id="{5675BC93-D24F-5C4B-3CDC-4D0F24A75DC5}"/>
              </a:ext>
            </a:extLst>
          </p:cNvPr>
          <p:cNvSpPr>
            <a:spLocks noChangeArrowheads="1"/>
          </p:cNvSpPr>
          <p:nvPr/>
        </p:nvSpPr>
        <p:spPr bwMode="auto">
          <a:xfrm>
            <a:off x="3845975"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9" name="Rectangle 71">
            <a:extLst>
              <a:ext uri="{FF2B5EF4-FFF2-40B4-BE49-F238E27FC236}">
                <a16:creationId xmlns:a16="http://schemas.microsoft.com/office/drawing/2014/main" id="{D3823924-7D2E-E018-F883-01441E16FFCD}"/>
              </a:ext>
            </a:extLst>
          </p:cNvPr>
          <p:cNvSpPr>
            <a:spLocks noChangeArrowheads="1"/>
          </p:cNvSpPr>
          <p:nvPr/>
        </p:nvSpPr>
        <p:spPr bwMode="auto">
          <a:xfrm>
            <a:off x="5645995"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20" name="Rectangle 72">
            <a:extLst>
              <a:ext uri="{FF2B5EF4-FFF2-40B4-BE49-F238E27FC236}">
                <a16:creationId xmlns:a16="http://schemas.microsoft.com/office/drawing/2014/main" id="{D706E755-8A91-2546-FC43-7C532251E77D}"/>
              </a:ext>
            </a:extLst>
          </p:cNvPr>
          <p:cNvSpPr>
            <a:spLocks noChangeArrowheads="1"/>
          </p:cNvSpPr>
          <p:nvPr/>
        </p:nvSpPr>
        <p:spPr bwMode="auto">
          <a:xfrm>
            <a:off x="6096000"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21" name="Rectangle 73">
            <a:extLst>
              <a:ext uri="{FF2B5EF4-FFF2-40B4-BE49-F238E27FC236}">
                <a16:creationId xmlns:a16="http://schemas.microsoft.com/office/drawing/2014/main" id="{D30DB0A8-D0BF-747F-9C30-2DDA1A84A6A8}"/>
              </a:ext>
            </a:extLst>
          </p:cNvPr>
          <p:cNvSpPr>
            <a:spLocks noChangeArrowheads="1"/>
          </p:cNvSpPr>
          <p:nvPr/>
        </p:nvSpPr>
        <p:spPr bwMode="auto">
          <a:xfrm>
            <a:off x="6546005" y="4689014"/>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27" name="Rectangle 70">
            <a:extLst>
              <a:ext uri="{FF2B5EF4-FFF2-40B4-BE49-F238E27FC236}">
                <a16:creationId xmlns:a16="http://schemas.microsoft.com/office/drawing/2014/main" id="{3A775945-7782-DBB7-930E-6445217118AE}"/>
              </a:ext>
            </a:extLst>
          </p:cNvPr>
          <p:cNvSpPr>
            <a:spLocks noChangeArrowheads="1"/>
          </p:cNvSpPr>
          <p:nvPr/>
        </p:nvSpPr>
        <p:spPr bwMode="auto">
          <a:xfrm>
            <a:off x="4295980" y="468901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1" name="Rectangle 71">
            <a:extLst>
              <a:ext uri="{FF2B5EF4-FFF2-40B4-BE49-F238E27FC236}">
                <a16:creationId xmlns:a16="http://schemas.microsoft.com/office/drawing/2014/main" id="{0BB121FE-2D2D-3790-EA28-2D4687950560}"/>
              </a:ext>
            </a:extLst>
          </p:cNvPr>
          <p:cNvSpPr>
            <a:spLocks noChangeArrowheads="1"/>
          </p:cNvSpPr>
          <p:nvPr/>
        </p:nvSpPr>
        <p:spPr bwMode="auto">
          <a:xfrm>
            <a:off x="4295980"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2" name="Rectangle 71">
            <a:extLst>
              <a:ext uri="{FF2B5EF4-FFF2-40B4-BE49-F238E27FC236}">
                <a16:creationId xmlns:a16="http://schemas.microsoft.com/office/drawing/2014/main" id="{7F62E108-824E-0CEF-AE4C-A2E5F09B54CA}"/>
              </a:ext>
            </a:extLst>
          </p:cNvPr>
          <p:cNvSpPr>
            <a:spLocks noChangeArrowheads="1"/>
          </p:cNvSpPr>
          <p:nvPr/>
        </p:nvSpPr>
        <p:spPr bwMode="auto">
          <a:xfrm>
            <a:off x="4745985"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3" name="Rectangle 71">
            <a:extLst>
              <a:ext uri="{FF2B5EF4-FFF2-40B4-BE49-F238E27FC236}">
                <a16:creationId xmlns:a16="http://schemas.microsoft.com/office/drawing/2014/main" id="{BAB2FA10-90FA-55F6-6DBB-9615FF1C3856}"/>
              </a:ext>
            </a:extLst>
          </p:cNvPr>
          <p:cNvSpPr>
            <a:spLocks noChangeArrowheads="1"/>
          </p:cNvSpPr>
          <p:nvPr/>
        </p:nvSpPr>
        <p:spPr bwMode="auto">
          <a:xfrm>
            <a:off x="5195990" y="4239009"/>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cxnSp>
        <p:nvCxnSpPr>
          <p:cNvPr id="29" name="直線矢印コネクタ 28">
            <a:extLst>
              <a:ext uri="{FF2B5EF4-FFF2-40B4-BE49-F238E27FC236}">
                <a16:creationId xmlns:a16="http://schemas.microsoft.com/office/drawing/2014/main" id="{21B98EF5-CBA6-80AC-2E79-EC02A94E3C64}"/>
              </a:ext>
            </a:extLst>
          </p:cNvPr>
          <p:cNvCxnSpPr/>
          <p:nvPr/>
        </p:nvCxnSpPr>
        <p:spPr bwMode="auto">
          <a:xfrm>
            <a:off x="5465994" y="4509013"/>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34" name="Rectangle 70">
            <a:extLst>
              <a:ext uri="{FF2B5EF4-FFF2-40B4-BE49-F238E27FC236}">
                <a16:creationId xmlns:a16="http://schemas.microsoft.com/office/drawing/2014/main" id="{91B873CB-6548-0CF1-49F0-58F6EB4E225B}"/>
              </a:ext>
            </a:extLst>
          </p:cNvPr>
          <p:cNvSpPr>
            <a:spLocks noChangeArrowheads="1"/>
          </p:cNvSpPr>
          <p:nvPr/>
        </p:nvSpPr>
        <p:spPr bwMode="auto">
          <a:xfrm>
            <a:off x="4745985" y="468901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5" name="Rectangle 70">
            <a:extLst>
              <a:ext uri="{FF2B5EF4-FFF2-40B4-BE49-F238E27FC236}">
                <a16:creationId xmlns:a16="http://schemas.microsoft.com/office/drawing/2014/main" id="{7ED5397A-7BEA-BA9B-A992-C5DA36BC1DD5}"/>
              </a:ext>
            </a:extLst>
          </p:cNvPr>
          <p:cNvSpPr>
            <a:spLocks noChangeArrowheads="1"/>
          </p:cNvSpPr>
          <p:nvPr/>
        </p:nvSpPr>
        <p:spPr bwMode="auto">
          <a:xfrm>
            <a:off x="5195990" y="4689014"/>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2" name="Rectangle 70">
            <a:extLst>
              <a:ext uri="{FF2B5EF4-FFF2-40B4-BE49-F238E27FC236}">
                <a16:creationId xmlns:a16="http://schemas.microsoft.com/office/drawing/2014/main" id="{C3353D56-82B0-EF4F-18C0-CDCA6ACFA6AB}"/>
              </a:ext>
            </a:extLst>
          </p:cNvPr>
          <p:cNvSpPr>
            <a:spLocks noChangeArrowheads="1"/>
          </p:cNvSpPr>
          <p:nvPr/>
        </p:nvSpPr>
        <p:spPr bwMode="auto">
          <a:xfrm>
            <a:off x="4295980"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3" name="Rectangle 70">
            <a:extLst>
              <a:ext uri="{FF2B5EF4-FFF2-40B4-BE49-F238E27FC236}">
                <a16:creationId xmlns:a16="http://schemas.microsoft.com/office/drawing/2014/main" id="{DC18887C-2D26-5ABB-8D4F-6E726CF9E269}"/>
              </a:ext>
            </a:extLst>
          </p:cNvPr>
          <p:cNvSpPr>
            <a:spLocks noChangeArrowheads="1"/>
          </p:cNvSpPr>
          <p:nvPr/>
        </p:nvSpPr>
        <p:spPr bwMode="auto">
          <a:xfrm>
            <a:off x="4745985"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
        <p:nvSpPr>
          <p:cNvPr id="11" name="Rectangle 70">
            <a:extLst>
              <a:ext uri="{FF2B5EF4-FFF2-40B4-BE49-F238E27FC236}">
                <a16:creationId xmlns:a16="http://schemas.microsoft.com/office/drawing/2014/main" id="{4093FAAD-35DB-916D-7161-A26264D74582}"/>
              </a:ext>
            </a:extLst>
          </p:cNvPr>
          <p:cNvSpPr>
            <a:spLocks noChangeArrowheads="1"/>
          </p:cNvSpPr>
          <p:nvPr/>
        </p:nvSpPr>
        <p:spPr bwMode="auto">
          <a:xfrm>
            <a:off x="5195990" y="5139019"/>
            <a:ext cx="360000" cy="360000"/>
          </a:xfrm>
          <a:prstGeom prst="rect">
            <a:avLst/>
          </a:prstGeom>
          <a:ln>
            <a:headEnd/>
            <a:tailEnd type="none" w="med" len="lg"/>
          </a:ln>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600" dirty="0"/>
              <a:t>bb</a:t>
            </a:r>
          </a:p>
        </p:txBody>
      </p:sp>
    </p:spTree>
    <p:extLst>
      <p:ext uri="{BB962C8B-B14F-4D97-AF65-F5344CB8AC3E}">
        <p14:creationId xmlns:p14="http://schemas.microsoft.com/office/powerpoint/2010/main" val="10175571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998973"/>
            <a:ext cx="7920088" cy="2520028"/>
          </a:xfrm>
        </p:spPr>
        <p:txBody>
          <a:bodyPr anchor="t"/>
          <a:lstStyle/>
          <a:p>
            <a:r>
              <a:rPr lang="en-US" altLang="ja-JP" sz="1600" dirty="0"/>
              <a:t>(7) </a:t>
            </a:r>
            <a:r>
              <a:rPr lang="ja-JP" altLang="en-US" sz="1600" dirty="0"/>
              <a:t>以下の命令列を実行するのに必要な時間を計算せよ</a:t>
            </a:r>
            <a:br>
              <a:rPr lang="en-US" altLang="ja-JP" sz="1600" dirty="0"/>
            </a:br>
            <a:r>
              <a:rPr lang="ja-JP" altLang="en-US" sz="1600" dirty="0"/>
              <a:t>ここで </a:t>
            </a:r>
            <a:r>
              <a:rPr lang="en-US" altLang="ja-JP" sz="1600" dirty="0" err="1"/>
              <a:t>beq</a:t>
            </a:r>
            <a:r>
              <a:rPr lang="en-US" altLang="ja-JP" sz="1600" dirty="0"/>
              <a:t> </a:t>
            </a:r>
            <a:r>
              <a:rPr lang="ja-JP" altLang="en-US" sz="1600" dirty="0"/>
              <a:t>はオペランドが等しい時に分岐する分岐命令である</a:t>
            </a:r>
            <a:br>
              <a:rPr lang="en-US" altLang="ja-JP" sz="1600" dirty="0"/>
            </a:br>
            <a:r>
              <a:rPr lang="ja-JP" altLang="en-US" sz="1600" dirty="0"/>
              <a:t>プロセッサは分岐予測を行うものとし，</a:t>
            </a:r>
            <a:r>
              <a:rPr lang="en-US" altLang="ja-JP" sz="1600" dirty="0" err="1"/>
              <a:t>beq</a:t>
            </a:r>
            <a:r>
              <a:rPr lang="en-US" altLang="ja-JP" sz="1600" dirty="0"/>
              <a:t> </a:t>
            </a:r>
            <a:r>
              <a:rPr lang="ja-JP" altLang="en-US" sz="1600" dirty="0"/>
              <a:t>が分岐予測ミスを起こして </a:t>
            </a:r>
            <a:r>
              <a:rPr lang="en-US" altLang="ja-JP" sz="1600" dirty="0"/>
              <a:t>LABEL </a:t>
            </a:r>
            <a:r>
              <a:rPr lang="ja-JP" altLang="en-US" sz="1600" dirty="0"/>
              <a:t>に飛んだあとにフラッシュされてやり直した場合を想定せよ</a:t>
            </a:r>
            <a:br>
              <a:rPr lang="en-US" altLang="ja-JP" sz="1600" dirty="0"/>
            </a:br>
            <a:r>
              <a:rPr lang="en-US" altLang="ja-JP" sz="1600" dirty="0"/>
              <a:t>  </a:t>
            </a:r>
            <a:r>
              <a:rPr lang="it-IT" altLang="ja-JP" sz="1600" dirty="0"/>
              <a:t>li x1←1</a:t>
            </a:r>
            <a:br>
              <a:rPr lang="it-IT" altLang="ja-JP" sz="1600" dirty="0"/>
            </a:br>
            <a:r>
              <a:rPr lang="it-IT" altLang="ja-JP" sz="1600" dirty="0"/>
              <a:t>  li x2←2</a:t>
            </a:r>
            <a:br>
              <a:rPr lang="it-IT" altLang="ja-JP" sz="1600" dirty="0"/>
            </a:br>
            <a:r>
              <a:rPr lang="it-IT" altLang="ja-JP" sz="1600" dirty="0"/>
              <a:t>  beq x1==x2, LABEL</a:t>
            </a:r>
            <a:br>
              <a:rPr lang="it-IT" altLang="ja-JP" sz="1600" dirty="0"/>
            </a:br>
            <a:r>
              <a:rPr lang="it-IT" altLang="ja-JP" sz="1600" dirty="0"/>
              <a:t>  add x1←x2+x3</a:t>
            </a:r>
            <a:br>
              <a:rPr lang="it-IT" altLang="ja-JP" sz="1600" dirty="0"/>
            </a:br>
            <a:r>
              <a:rPr lang="it-IT" altLang="ja-JP" sz="1600" dirty="0"/>
              <a:t>LABEL:</a:t>
            </a:r>
            <a:br>
              <a:rPr lang="it-IT" altLang="ja-JP" sz="1600" dirty="0"/>
            </a:br>
            <a:r>
              <a:rPr lang="it-IT" altLang="ja-JP" sz="1600" dirty="0"/>
              <a:t>  add x2←x3+x4</a:t>
            </a:r>
          </a:p>
          <a:p>
            <a:r>
              <a:rPr lang="en-US" altLang="ja-JP" sz="1600" dirty="0"/>
              <a:t>13ns </a:t>
            </a:r>
            <a:br>
              <a:rPr lang="en-US" altLang="ja-JP" sz="1600" dirty="0"/>
            </a:br>
            <a:r>
              <a:rPr lang="ja-JP" altLang="en-US" sz="1600" dirty="0"/>
              <a:t>フォワーディング</a:t>
            </a:r>
            <a:br>
              <a:rPr lang="en-US" altLang="ja-JP" sz="1600" dirty="0"/>
            </a:br>
            <a:r>
              <a:rPr lang="ja-JP" altLang="en-US" sz="1600" dirty="0"/>
              <a:t>ありの場合</a:t>
            </a:r>
            <a:br>
              <a:rPr lang="en-US" altLang="ja-JP" sz="1600" dirty="0"/>
            </a:br>
            <a:br>
              <a:rPr lang="en-US" altLang="ja-JP" sz="1600" dirty="0"/>
            </a:br>
            <a:r>
              <a:rPr lang="ja-JP" altLang="en-US" sz="1600" dirty="0"/>
              <a:t>やり直した後に</a:t>
            </a:r>
            <a:br>
              <a:rPr lang="en-US" altLang="ja-JP" sz="1600" dirty="0"/>
            </a:br>
            <a:r>
              <a:rPr lang="ja-JP" altLang="en-US" sz="1600" dirty="0"/>
              <a:t>結局 </a:t>
            </a:r>
            <a:r>
              <a:rPr lang="en-US" altLang="ja-JP" sz="1600" dirty="0"/>
              <a:t>LABEL </a:t>
            </a:r>
            <a:r>
              <a:rPr lang="ja-JP" altLang="en-US" sz="1600" dirty="0"/>
              <a:t>の下の</a:t>
            </a:r>
            <a:br>
              <a:rPr lang="en-US" altLang="ja-JP" sz="1600" dirty="0"/>
            </a:br>
            <a:r>
              <a:rPr lang="ja-JP" altLang="en-US" sz="1600" dirty="0"/>
              <a:t>命令も実行することに注意</a:t>
            </a:r>
            <a:br>
              <a:rPr lang="en-US" altLang="ja-JP" sz="1600" dirty="0"/>
            </a:br>
            <a:br>
              <a:rPr lang="en-US" altLang="ja-JP" sz="1600" dirty="0"/>
            </a:br>
            <a:r>
              <a:rPr lang="ja-JP" altLang="en-US" sz="1600" dirty="0"/>
              <a:t>パイプラインの各行は上の</a:t>
            </a:r>
            <a:r>
              <a:rPr lang="en-US" altLang="ja-JP" sz="1600" dirty="0"/>
              <a:t>5</a:t>
            </a:r>
            <a:r>
              <a:rPr lang="ja-JP" altLang="en-US" sz="1600" dirty="0"/>
              <a:t>つの命令を上から順にやった</a:t>
            </a:r>
            <a:br>
              <a:rPr lang="en-US" altLang="ja-JP" sz="1600" dirty="0"/>
            </a:br>
            <a:r>
              <a:rPr lang="ja-JP" altLang="en-US" sz="1600" dirty="0"/>
              <a:t>場合に対応</a:t>
            </a:r>
            <a:endParaRPr lang="en-US" altLang="ja-JP" sz="1600" dirty="0"/>
          </a:p>
        </p:txBody>
      </p:sp>
      <p:sp>
        <p:nvSpPr>
          <p:cNvPr id="3" name="Rectangle 69">
            <a:extLst>
              <a:ext uri="{FF2B5EF4-FFF2-40B4-BE49-F238E27FC236}">
                <a16:creationId xmlns:a16="http://schemas.microsoft.com/office/drawing/2014/main" id="{5BD7BC87-8DAD-1926-B62A-9F8B8C18152F}"/>
              </a:ext>
            </a:extLst>
          </p:cNvPr>
          <p:cNvSpPr>
            <a:spLocks noChangeArrowheads="1"/>
          </p:cNvSpPr>
          <p:nvPr/>
        </p:nvSpPr>
        <p:spPr bwMode="auto">
          <a:xfrm>
            <a:off x="4655984"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4" name="Rectangle 70">
            <a:extLst>
              <a:ext uri="{FF2B5EF4-FFF2-40B4-BE49-F238E27FC236}">
                <a16:creationId xmlns:a16="http://schemas.microsoft.com/office/drawing/2014/main" id="{014F695B-F45D-B81A-7B20-753F4CCA9DA2}"/>
              </a:ext>
            </a:extLst>
          </p:cNvPr>
          <p:cNvSpPr>
            <a:spLocks noChangeArrowheads="1"/>
          </p:cNvSpPr>
          <p:nvPr/>
        </p:nvSpPr>
        <p:spPr bwMode="auto">
          <a:xfrm>
            <a:off x="5105989"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6" name="Rectangle 71">
            <a:extLst>
              <a:ext uri="{FF2B5EF4-FFF2-40B4-BE49-F238E27FC236}">
                <a16:creationId xmlns:a16="http://schemas.microsoft.com/office/drawing/2014/main" id="{3DEC9A20-3A23-F4AA-4871-E71E1790C95F}"/>
              </a:ext>
            </a:extLst>
          </p:cNvPr>
          <p:cNvSpPr>
            <a:spLocks noChangeArrowheads="1"/>
          </p:cNvSpPr>
          <p:nvPr/>
        </p:nvSpPr>
        <p:spPr bwMode="auto">
          <a:xfrm>
            <a:off x="5555994"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8" name="Rectangle 72">
            <a:extLst>
              <a:ext uri="{FF2B5EF4-FFF2-40B4-BE49-F238E27FC236}">
                <a16:creationId xmlns:a16="http://schemas.microsoft.com/office/drawing/2014/main" id="{63F2F5EC-5849-9CA6-1B23-DE0516DE853D}"/>
              </a:ext>
            </a:extLst>
          </p:cNvPr>
          <p:cNvSpPr>
            <a:spLocks noChangeArrowheads="1"/>
          </p:cNvSpPr>
          <p:nvPr/>
        </p:nvSpPr>
        <p:spPr bwMode="auto">
          <a:xfrm>
            <a:off x="6005999"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9" name="Rectangle 73">
            <a:extLst>
              <a:ext uri="{FF2B5EF4-FFF2-40B4-BE49-F238E27FC236}">
                <a16:creationId xmlns:a16="http://schemas.microsoft.com/office/drawing/2014/main" id="{C7436587-2845-295C-C68A-67EF217E891A}"/>
              </a:ext>
            </a:extLst>
          </p:cNvPr>
          <p:cNvSpPr>
            <a:spLocks noChangeArrowheads="1"/>
          </p:cNvSpPr>
          <p:nvPr/>
        </p:nvSpPr>
        <p:spPr bwMode="auto">
          <a:xfrm>
            <a:off x="6456004"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0" name="Rectangle 69">
            <a:extLst>
              <a:ext uri="{FF2B5EF4-FFF2-40B4-BE49-F238E27FC236}">
                <a16:creationId xmlns:a16="http://schemas.microsoft.com/office/drawing/2014/main" id="{5F1AB6B1-B0FE-B5A9-83F1-192D00BBC4F3}"/>
              </a:ext>
            </a:extLst>
          </p:cNvPr>
          <p:cNvSpPr>
            <a:spLocks noChangeArrowheads="1"/>
          </p:cNvSpPr>
          <p:nvPr/>
        </p:nvSpPr>
        <p:spPr bwMode="auto">
          <a:xfrm>
            <a:off x="5105989"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1" name="Rectangle 70">
            <a:extLst>
              <a:ext uri="{FF2B5EF4-FFF2-40B4-BE49-F238E27FC236}">
                <a16:creationId xmlns:a16="http://schemas.microsoft.com/office/drawing/2014/main" id="{C6FF601B-C3AB-6699-4C78-E4EA58E9CD46}"/>
              </a:ext>
            </a:extLst>
          </p:cNvPr>
          <p:cNvSpPr>
            <a:spLocks noChangeArrowheads="1"/>
          </p:cNvSpPr>
          <p:nvPr/>
        </p:nvSpPr>
        <p:spPr bwMode="auto">
          <a:xfrm>
            <a:off x="5555994"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2" name="Rectangle 71">
            <a:extLst>
              <a:ext uri="{FF2B5EF4-FFF2-40B4-BE49-F238E27FC236}">
                <a16:creationId xmlns:a16="http://schemas.microsoft.com/office/drawing/2014/main" id="{F3782D20-A034-9922-AFA6-700373049606}"/>
              </a:ext>
            </a:extLst>
          </p:cNvPr>
          <p:cNvSpPr>
            <a:spLocks noChangeArrowheads="1"/>
          </p:cNvSpPr>
          <p:nvPr/>
        </p:nvSpPr>
        <p:spPr bwMode="auto">
          <a:xfrm>
            <a:off x="6005999"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3" name="Rectangle 72">
            <a:extLst>
              <a:ext uri="{FF2B5EF4-FFF2-40B4-BE49-F238E27FC236}">
                <a16:creationId xmlns:a16="http://schemas.microsoft.com/office/drawing/2014/main" id="{422BEB1C-D60E-F052-7E6A-0F618B5FB4A7}"/>
              </a:ext>
            </a:extLst>
          </p:cNvPr>
          <p:cNvSpPr>
            <a:spLocks noChangeArrowheads="1"/>
          </p:cNvSpPr>
          <p:nvPr/>
        </p:nvSpPr>
        <p:spPr bwMode="auto">
          <a:xfrm>
            <a:off x="6456004"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4" name="Rectangle 73">
            <a:extLst>
              <a:ext uri="{FF2B5EF4-FFF2-40B4-BE49-F238E27FC236}">
                <a16:creationId xmlns:a16="http://schemas.microsoft.com/office/drawing/2014/main" id="{4DE27651-5637-4E99-009E-AE66E6942A97}"/>
              </a:ext>
            </a:extLst>
          </p:cNvPr>
          <p:cNvSpPr>
            <a:spLocks noChangeArrowheads="1"/>
          </p:cNvSpPr>
          <p:nvPr/>
        </p:nvSpPr>
        <p:spPr bwMode="auto">
          <a:xfrm>
            <a:off x="6906009" y="459901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5" name="Rectangle 69">
            <a:extLst>
              <a:ext uri="{FF2B5EF4-FFF2-40B4-BE49-F238E27FC236}">
                <a16:creationId xmlns:a16="http://schemas.microsoft.com/office/drawing/2014/main" id="{FF5EDBB2-0575-5873-2FB2-1811E1663D37}"/>
              </a:ext>
            </a:extLst>
          </p:cNvPr>
          <p:cNvSpPr>
            <a:spLocks noChangeArrowheads="1"/>
          </p:cNvSpPr>
          <p:nvPr/>
        </p:nvSpPr>
        <p:spPr bwMode="auto">
          <a:xfrm>
            <a:off x="5555994"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6" name="Rectangle 70">
            <a:extLst>
              <a:ext uri="{FF2B5EF4-FFF2-40B4-BE49-F238E27FC236}">
                <a16:creationId xmlns:a16="http://schemas.microsoft.com/office/drawing/2014/main" id="{F0147F7F-E657-5664-E2C4-D51B2AD89E5B}"/>
              </a:ext>
            </a:extLst>
          </p:cNvPr>
          <p:cNvSpPr>
            <a:spLocks noChangeArrowheads="1"/>
          </p:cNvSpPr>
          <p:nvPr/>
        </p:nvSpPr>
        <p:spPr bwMode="auto">
          <a:xfrm>
            <a:off x="6005999"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7" name="Rectangle 71">
            <a:extLst>
              <a:ext uri="{FF2B5EF4-FFF2-40B4-BE49-F238E27FC236}">
                <a16:creationId xmlns:a16="http://schemas.microsoft.com/office/drawing/2014/main" id="{F6628364-FB9B-ECD5-135C-A5971A19494C}"/>
              </a:ext>
            </a:extLst>
          </p:cNvPr>
          <p:cNvSpPr>
            <a:spLocks noChangeArrowheads="1"/>
          </p:cNvSpPr>
          <p:nvPr/>
        </p:nvSpPr>
        <p:spPr bwMode="auto">
          <a:xfrm>
            <a:off x="6456004"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8" name="Rectangle 72">
            <a:extLst>
              <a:ext uri="{FF2B5EF4-FFF2-40B4-BE49-F238E27FC236}">
                <a16:creationId xmlns:a16="http://schemas.microsoft.com/office/drawing/2014/main" id="{7A3BE4B3-3142-B3C0-F236-FBEF1DA25F71}"/>
              </a:ext>
            </a:extLst>
          </p:cNvPr>
          <p:cNvSpPr>
            <a:spLocks noChangeArrowheads="1"/>
          </p:cNvSpPr>
          <p:nvPr/>
        </p:nvSpPr>
        <p:spPr bwMode="auto">
          <a:xfrm>
            <a:off x="6906009"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9" name="Rectangle 73">
            <a:extLst>
              <a:ext uri="{FF2B5EF4-FFF2-40B4-BE49-F238E27FC236}">
                <a16:creationId xmlns:a16="http://schemas.microsoft.com/office/drawing/2014/main" id="{DFCC18AE-A2D0-6D0D-1786-7AC85CF2EF71}"/>
              </a:ext>
            </a:extLst>
          </p:cNvPr>
          <p:cNvSpPr>
            <a:spLocks noChangeArrowheads="1"/>
          </p:cNvSpPr>
          <p:nvPr/>
        </p:nvSpPr>
        <p:spPr bwMode="auto">
          <a:xfrm>
            <a:off x="7356014" y="504901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cxnSp>
        <p:nvCxnSpPr>
          <p:cNvPr id="21" name="直線矢印コネクタ 20">
            <a:extLst>
              <a:ext uri="{FF2B5EF4-FFF2-40B4-BE49-F238E27FC236}">
                <a16:creationId xmlns:a16="http://schemas.microsoft.com/office/drawing/2014/main" id="{50E143F1-2D86-C680-8566-38B134E87E9B}"/>
              </a:ext>
            </a:extLst>
          </p:cNvPr>
          <p:cNvCxnSpPr>
            <a:cxnSpLocks/>
          </p:cNvCxnSpPr>
          <p:nvPr/>
        </p:nvCxnSpPr>
        <p:spPr bwMode="auto">
          <a:xfrm>
            <a:off x="5825998" y="4329011"/>
            <a:ext cx="810009" cy="810009"/>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25" name="直線矢印コネクタ 24">
            <a:extLst>
              <a:ext uri="{FF2B5EF4-FFF2-40B4-BE49-F238E27FC236}">
                <a16:creationId xmlns:a16="http://schemas.microsoft.com/office/drawing/2014/main" id="{EAB7D709-ED8E-153A-1920-C6608D47D435}"/>
              </a:ext>
            </a:extLst>
          </p:cNvPr>
          <p:cNvCxnSpPr/>
          <p:nvPr/>
        </p:nvCxnSpPr>
        <p:spPr bwMode="auto">
          <a:xfrm>
            <a:off x="6276003" y="4869017"/>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8" name="Rectangle 69">
            <a:extLst>
              <a:ext uri="{FF2B5EF4-FFF2-40B4-BE49-F238E27FC236}">
                <a16:creationId xmlns:a16="http://schemas.microsoft.com/office/drawing/2014/main" id="{B391E403-A457-131A-6930-2D40E69398CB}"/>
              </a:ext>
            </a:extLst>
          </p:cNvPr>
          <p:cNvSpPr>
            <a:spLocks noChangeArrowheads="1"/>
          </p:cNvSpPr>
          <p:nvPr/>
        </p:nvSpPr>
        <p:spPr bwMode="auto">
          <a:xfrm>
            <a:off x="7806019"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29" name="Rectangle 70">
            <a:extLst>
              <a:ext uri="{FF2B5EF4-FFF2-40B4-BE49-F238E27FC236}">
                <a16:creationId xmlns:a16="http://schemas.microsoft.com/office/drawing/2014/main" id="{368D7E5E-51AA-872D-5C34-58D9849574C6}"/>
              </a:ext>
            </a:extLst>
          </p:cNvPr>
          <p:cNvSpPr>
            <a:spLocks noChangeArrowheads="1"/>
          </p:cNvSpPr>
          <p:nvPr/>
        </p:nvSpPr>
        <p:spPr bwMode="auto">
          <a:xfrm>
            <a:off x="8256024"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30" name="Rectangle 71">
            <a:extLst>
              <a:ext uri="{FF2B5EF4-FFF2-40B4-BE49-F238E27FC236}">
                <a16:creationId xmlns:a16="http://schemas.microsoft.com/office/drawing/2014/main" id="{6D00DA2E-278D-169C-14DC-22A7F0CCF5DD}"/>
              </a:ext>
            </a:extLst>
          </p:cNvPr>
          <p:cNvSpPr>
            <a:spLocks noChangeArrowheads="1"/>
          </p:cNvSpPr>
          <p:nvPr/>
        </p:nvSpPr>
        <p:spPr bwMode="auto">
          <a:xfrm>
            <a:off x="8706029"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1" name="Rectangle 72">
            <a:extLst>
              <a:ext uri="{FF2B5EF4-FFF2-40B4-BE49-F238E27FC236}">
                <a16:creationId xmlns:a16="http://schemas.microsoft.com/office/drawing/2014/main" id="{F7C0B4A5-7152-6D08-7E7C-1CE89AEA3750}"/>
              </a:ext>
            </a:extLst>
          </p:cNvPr>
          <p:cNvSpPr>
            <a:spLocks noChangeArrowheads="1"/>
          </p:cNvSpPr>
          <p:nvPr/>
        </p:nvSpPr>
        <p:spPr bwMode="auto">
          <a:xfrm>
            <a:off x="9156034"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32" name="Rectangle 73">
            <a:extLst>
              <a:ext uri="{FF2B5EF4-FFF2-40B4-BE49-F238E27FC236}">
                <a16:creationId xmlns:a16="http://schemas.microsoft.com/office/drawing/2014/main" id="{E892CC28-8EB2-8A2B-D1C4-C84913CA8C7D}"/>
              </a:ext>
            </a:extLst>
          </p:cNvPr>
          <p:cNvSpPr>
            <a:spLocks noChangeArrowheads="1"/>
          </p:cNvSpPr>
          <p:nvPr/>
        </p:nvSpPr>
        <p:spPr bwMode="auto">
          <a:xfrm>
            <a:off x="9606039" y="549902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36" name="Rectangle 69">
            <a:extLst>
              <a:ext uri="{FF2B5EF4-FFF2-40B4-BE49-F238E27FC236}">
                <a16:creationId xmlns:a16="http://schemas.microsoft.com/office/drawing/2014/main" id="{2CE04C4F-87B8-BDF0-4FEF-EBA9700C68B9}"/>
              </a:ext>
            </a:extLst>
          </p:cNvPr>
          <p:cNvSpPr>
            <a:spLocks noChangeArrowheads="1"/>
          </p:cNvSpPr>
          <p:nvPr/>
        </p:nvSpPr>
        <p:spPr bwMode="auto">
          <a:xfrm>
            <a:off x="8256024"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37" name="Rectangle 70">
            <a:extLst>
              <a:ext uri="{FF2B5EF4-FFF2-40B4-BE49-F238E27FC236}">
                <a16:creationId xmlns:a16="http://schemas.microsoft.com/office/drawing/2014/main" id="{C0B080A1-ACBB-4652-6489-EBA9B4969D81}"/>
              </a:ext>
            </a:extLst>
          </p:cNvPr>
          <p:cNvSpPr>
            <a:spLocks noChangeArrowheads="1"/>
          </p:cNvSpPr>
          <p:nvPr/>
        </p:nvSpPr>
        <p:spPr bwMode="auto">
          <a:xfrm>
            <a:off x="8706029"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38" name="Rectangle 71">
            <a:extLst>
              <a:ext uri="{FF2B5EF4-FFF2-40B4-BE49-F238E27FC236}">
                <a16:creationId xmlns:a16="http://schemas.microsoft.com/office/drawing/2014/main" id="{59B0D913-9332-0EDB-D0F1-BBD84CBC2AF5}"/>
              </a:ext>
            </a:extLst>
          </p:cNvPr>
          <p:cNvSpPr>
            <a:spLocks noChangeArrowheads="1"/>
          </p:cNvSpPr>
          <p:nvPr/>
        </p:nvSpPr>
        <p:spPr bwMode="auto">
          <a:xfrm>
            <a:off x="9156034"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9" name="Rectangle 72">
            <a:extLst>
              <a:ext uri="{FF2B5EF4-FFF2-40B4-BE49-F238E27FC236}">
                <a16:creationId xmlns:a16="http://schemas.microsoft.com/office/drawing/2014/main" id="{D52D636B-5E3B-1F36-6B03-C931148034B6}"/>
              </a:ext>
            </a:extLst>
          </p:cNvPr>
          <p:cNvSpPr>
            <a:spLocks noChangeArrowheads="1"/>
          </p:cNvSpPr>
          <p:nvPr/>
        </p:nvSpPr>
        <p:spPr bwMode="auto">
          <a:xfrm>
            <a:off x="9606039"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40" name="Rectangle 73">
            <a:extLst>
              <a:ext uri="{FF2B5EF4-FFF2-40B4-BE49-F238E27FC236}">
                <a16:creationId xmlns:a16="http://schemas.microsoft.com/office/drawing/2014/main" id="{A924C96C-FBC4-5E2F-C1A0-F19E6456C1A6}"/>
              </a:ext>
            </a:extLst>
          </p:cNvPr>
          <p:cNvSpPr>
            <a:spLocks noChangeArrowheads="1"/>
          </p:cNvSpPr>
          <p:nvPr/>
        </p:nvSpPr>
        <p:spPr bwMode="auto">
          <a:xfrm>
            <a:off x="10056044" y="594902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Tree>
    <p:extLst>
      <p:ext uri="{BB962C8B-B14F-4D97-AF65-F5344CB8AC3E}">
        <p14:creationId xmlns:p14="http://schemas.microsoft.com/office/powerpoint/2010/main" val="26403250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a:t>
            </a:r>
            <a:r>
              <a:rPr lang="en-US" altLang="ja-JP" dirty="0"/>
              <a:t>7</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5" y="998973"/>
            <a:ext cx="8910099" cy="2520028"/>
          </a:xfrm>
        </p:spPr>
        <p:txBody>
          <a:bodyPr anchor="t"/>
          <a:lstStyle/>
          <a:p>
            <a:r>
              <a:rPr lang="en-US" altLang="ja-JP" sz="1600" dirty="0"/>
              <a:t>13ns </a:t>
            </a:r>
            <a:r>
              <a:rPr lang="ja-JP" altLang="en-US" sz="1600" dirty="0"/>
              <a:t>フォワーディングありの場合</a:t>
            </a:r>
            <a:endParaRPr lang="en-US" altLang="ja-JP" sz="1600" dirty="0"/>
          </a:p>
          <a:p>
            <a:pPr lvl="1"/>
            <a:r>
              <a:rPr lang="ja-JP" altLang="en-US" sz="1600" dirty="0"/>
              <a:t>やり直した後に結局 </a:t>
            </a:r>
            <a:r>
              <a:rPr lang="en-US" altLang="ja-JP" sz="1600" dirty="0"/>
              <a:t>LABEL </a:t>
            </a:r>
            <a:r>
              <a:rPr lang="ja-JP" altLang="en-US" sz="1600" dirty="0"/>
              <a:t>の下の命令（</a:t>
            </a:r>
            <a:r>
              <a:rPr lang="it-IT" altLang="ja-JP" sz="1600" dirty="0">
                <a:latin typeface="Consolas" panose="020B0609020204030204" pitchFamily="49" charset="0"/>
              </a:rPr>
              <a:t>add x2←x3+x4</a:t>
            </a:r>
            <a:r>
              <a:rPr lang="ja-JP" altLang="en-US" sz="1600" dirty="0"/>
              <a:t>）も実行することに注意</a:t>
            </a:r>
            <a:endParaRPr lang="en-US" altLang="ja-JP" sz="1600" dirty="0"/>
          </a:p>
        </p:txBody>
      </p:sp>
      <p:sp>
        <p:nvSpPr>
          <p:cNvPr id="3" name="Rectangle 69">
            <a:extLst>
              <a:ext uri="{FF2B5EF4-FFF2-40B4-BE49-F238E27FC236}">
                <a16:creationId xmlns:a16="http://schemas.microsoft.com/office/drawing/2014/main" id="{5BD7BC87-8DAD-1926-B62A-9F8B8C18152F}"/>
              </a:ext>
            </a:extLst>
          </p:cNvPr>
          <p:cNvSpPr>
            <a:spLocks noChangeArrowheads="1"/>
          </p:cNvSpPr>
          <p:nvPr/>
        </p:nvSpPr>
        <p:spPr bwMode="auto">
          <a:xfrm>
            <a:off x="4295980"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4" name="Rectangle 70">
            <a:extLst>
              <a:ext uri="{FF2B5EF4-FFF2-40B4-BE49-F238E27FC236}">
                <a16:creationId xmlns:a16="http://schemas.microsoft.com/office/drawing/2014/main" id="{014F695B-F45D-B81A-7B20-753F4CCA9DA2}"/>
              </a:ext>
            </a:extLst>
          </p:cNvPr>
          <p:cNvSpPr>
            <a:spLocks noChangeArrowheads="1"/>
          </p:cNvSpPr>
          <p:nvPr/>
        </p:nvSpPr>
        <p:spPr bwMode="auto">
          <a:xfrm>
            <a:off x="4745985"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6" name="Rectangle 71">
            <a:extLst>
              <a:ext uri="{FF2B5EF4-FFF2-40B4-BE49-F238E27FC236}">
                <a16:creationId xmlns:a16="http://schemas.microsoft.com/office/drawing/2014/main" id="{3DEC9A20-3A23-F4AA-4871-E71E1790C95F}"/>
              </a:ext>
            </a:extLst>
          </p:cNvPr>
          <p:cNvSpPr>
            <a:spLocks noChangeArrowheads="1"/>
          </p:cNvSpPr>
          <p:nvPr/>
        </p:nvSpPr>
        <p:spPr bwMode="auto">
          <a:xfrm>
            <a:off x="5195990"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8" name="Rectangle 72">
            <a:extLst>
              <a:ext uri="{FF2B5EF4-FFF2-40B4-BE49-F238E27FC236}">
                <a16:creationId xmlns:a16="http://schemas.microsoft.com/office/drawing/2014/main" id="{63F2F5EC-5849-9CA6-1B23-DE0516DE853D}"/>
              </a:ext>
            </a:extLst>
          </p:cNvPr>
          <p:cNvSpPr>
            <a:spLocks noChangeArrowheads="1"/>
          </p:cNvSpPr>
          <p:nvPr/>
        </p:nvSpPr>
        <p:spPr bwMode="auto">
          <a:xfrm>
            <a:off x="5645995"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9" name="Rectangle 73">
            <a:extLst>
              <a:ext uri="{FF2B5EF4-FFF2-40B4-BE49-F238E27FC236}">
                <a16:creationId xmlns:a16="http://schemas.microsoft.com/office/drawing/2014/main" id="{C7436587-2845-295C-C68A-67EF217E891A}"/>
              </a:ext>
            </a:extLst>
          </p:cNvPr>
          <p:cNvSpPr>
            <a:spLocks noChangeArrowheads="1"/>
          </p:cNvSpPr>
          <p:nvPr/>
        </p:nvSpPr>
        <p:spPr bwMode="auto">
          <a:xfrm>
            <a:off x="6096000" y="234898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0" name="Rectangle 69">
            <a:extLst>
              <a:ext uri="{FF2B5EF4-FFF2-40B4-BE49-F238E27FC236}">
                <a16:creationId xmlns:a16="http://schemas.microsoft.com/office/drawing/2014/main" id="{5F1AB6B1-B0FE-B5A9-83F1-192D00BBC4F3}"/>
              </a:ext>
            </a:extLst>
          </p:cNvPr>
          <p:cNvSpPr>
            <a:spLocks noChangeArrowheads="1"/>
          </p:cNvSpPr>
          <p:nvPr/>
        </p:nvSpPr>
        <p:spPr bwMode="auto">
          <a:xfrm>
            <a:off x="4745985"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1" name="Rectangle 70">
            <a:extLst>
              <a:ext uri="{FF2B5EF4-FFF2-40B4-BE49-F238E27FC236}">
                <a16:creationId xmlns:a16="http://schemas.microsoft.com/office/drawing/2014/main" id="{C6FF601B-C3AB-6699-4C78-E4EA58E9CD46}"/>
              </a:ext>
            </a:extLst>
          </p:cNvPr>
          <p:cNvSpPr>
            <a:spLocks noChangeArrowheads="1"/>
          </p:cNvSpPr>
          <p:nvPr/>
        </p:nvSpPr>
        <p:spPr bwMode="auto">
          <a:xfrm>
            <a:off x="5195990"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2" name="Rectangle 71">
            <a:extLst>
              <a:ext uri="{FF2B5EF4-FFF2-40B4-BE49-F238E27FC236}">
                <a16:creationId xmlns:a16="http://schemas.microsoft.com/office/drawing/2014/main" id="{F3782D20-A034-9922-AFA6-700373049606}"/>
              </a:ext>
            </a:extLst>
          </p:cNvPr>
          <p:cNvSpPr>
            <a:spLocks noChangeArrowheads="1"/>
          </p:cNvSpPr>
          <p:nvPr/>
        </p:nvSpPr>
        <p:spPr bwMode="auto">
          <a:xfrm>
            <a:off x="5645995"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3" name="Rectangle 72">
            <a:extLst>
              <a:ext uri="{FF2B5EF4-FFF2-40B4-BE49-F238E27FC236}">
                <a16:creationId xmlns:a16="http://schemas.microsoft.com/office/drawing/2014/main" id="{422BEB1C-D60E-F052-7E6A-0F618B5FB4A7}"/>
              </a:ext>
            </a:extLst>
          </p:cNvPr>
          <p:cNvSpPr>
            <a:spLocks noChangeArrowheads="1"/>
          </p:cNvSpPr>
          <p:nvPr/>
        </p:nvSpPr>
        <p:spPr bwMode="auto">
          <a:xfrm>
            <a:off x="6096000"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4" name="Rectangle 73">
            <a:extLst>
              <a:ext uri="{FF2B5EF4-FFF2-40B4-BE49-F238E27FC236}">
                <a16:creationId xmlns:a16="http://schemas.microsoft.com/office/drawing/2014/main" id="{4DE27651-5637-4E99-009E-AE66E6942A97}"/>
              </a:ext>
            </a:extLst>
          </p:cNvPr>
          <p:cNvSpPr>
            <a:spLocks noChangeArrowheads="1"/>
          </p:cNvSpPr>
          <p:nvPr/>
        </p:nvSpPr>
        <p:spPr bwMode="auto">
          <a:xfrm>
            <a:off x="6546005" y="279899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15" name="Rectangle 69">
            <a:extLst>
              <a:ext uri="{FF2B5EF4-FFF2-40B4-BE49-F238E27FC236}">
                <a16:creationId xmlns:a16="http://schemas.microsoft.com/office/drawing/2014/main" id="{FF5EDBB2-0575-5873-2FB2-1811E1663D37}"/>
              </a:ext>
            </a:extLst>
          </p:cNvPr>
          <p:cNvSpPr>
            <a:spLocks noChangeArrowheads="1"/>
          </p:cNvSpPr>
          <p:nvPr/>
        </p:nvSpPr>
        <p:spPr bwMode="auto">
          <a:xfrm>
            <a:off x="5195990"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16" name="Rectangle 70">
            <a:extLst>
              <a:ext uri="{FF2B5EF4-FFF2-40B4-BE49-F238E27FC236}">
                <a16:creationId xmlns:a16="http://schemas.microsoft.com/office/drawing/2014/main" id="{F0147F7F-E657-5664-E2C4-D51B2AD89E5B}"/>
              </a:ext>
            </a:extLst>
          </p:cNvPr>
          <p:cNvSpPr>
            <a:spLocks noChangeArrowheads="1"/>
          </p:cNvSpPr>
          <p:nvPr/>
        </p:nvSpPr>
        <p:spPr bwMode="auto">
          <a:xfrm>
            <a:off x="5645995"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17" name="Rectangle 71">
            <a:extLst>
              <a:ext uri="{FF2B5EF4-FFF2-40B4-BE49-F238E27FC236}">
                <a16:creationId xmlns:a16="http://schemas.microsoft.com/office/drawing/2014/main" id="{F6628364-FB9B-ECD5-135C-A5971A19494C}"/>
              </a:ext>
            </a:extLst>
          </p:cNvPr>
          <p:cNvSpPr>
            <a:spLocks noChangeArrowheads="1"/>
          </p:cNvSpPr>
          <p:nvPr/>
        </p:nvSpPr>
        <p:spPr bwMode="auto">
          <a:xfrm>
            <a:off x="6096000"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18" name="Rectangle 72">
            <a:extLst>
              <a:ext uri="{FF2B5EF4-FFF2-40B4-BE49-F238E27FC236}">
                <a16:creationId xmlns:a16="http://schemas.microsoft.com/office/drawing/2014/main" id="{7A3BE4B3-3142-B3C0-F236-FBEF1DA25F71}"/>
              </a:ext>
            </a:extLst>
          </p:cNvPr>
          <p:cNvSpPr>
            <a:spLocks noChangeArrowheads="1"/>
          </p:cNvSpPr>
          <p:nvPr/>
        </p:nvSpPr>
        <p:spPr bwMode="auto">
          <a:xfrm>
            <a:off x="6546005"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19" name="Rectangle 73">
            <a:extLst>
              <a:ext uri="{FF2B5EF4-FFF2-40B4-BE49-F238E27FC236}">
                <a16:creationId xmlns:a16="http://schemas.microsoft.com/office/drawing/2014/main" id="{DFCC18AE-A2D0-6D0D-1786-7AC85CF2EF71}"/>
              </a:ext>
            </a:extLst>
          </p:cNvPr>
          <p:cNvSpPr>
            <a:spLocks noChangeArrowheads="1"/>
          </p:cNvSpPr>
          <p:nvPr/>
        </p:nvSpPr>
        <p:spPr bwMode="auto">
          <a:xfrm>
            <a:off x="6996010" y="324899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cxnSp>
        <p:nvCxnSpPr>
          <p:cNvPr id="21" name="直線矢印コネクタ 20">
            <a:extLst>
              <a:ext uri="{FF2B5EF4-FFF2-40B4-BE49-F238E27FC236}">
                <a16:creationId xmlns:a16="http://schemas.microsoft.com/office/drawing/2014/main" id="{50E143F1-2D86-C680-8566-38B134E87E9B}"/>
              </a:ext>
            </a:extLst>
          </p:cNvPr>
          <p:cNvCxnSpPr>
            <a:cxnSpLocks/>
          </p:cNvCxnSpPr>
          <p:nvPr/>
        </p:nvCxnSpPr>
        <p:spPr bwMode="auto">
          <a:xfrm>
            <a:off x="5465994" y="2528991"/>
            <a:ext cx="810009" cy="810009"/>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cxnSp>
        <p:nvCxnSpPr>
          <p:cNvPr id="25" name="直線矢印コネクタ 24">
            <a:extLst>
              <a:ext uri="{FF2B5EF4-FFF2-40B4-BE49-F238E27FC236}">
                <a16:creationId xmlns:a16="http://schemas.microsoft.com/office/drawing/2014/main" id="{EAB7D709-ED8E-153A-1920-C6608D47D435}"/>
              </a:ext>
            </a:extLst>
          </p:cNvPr>
          <p:cNvCxnSpPr/>
          <p:nvPr/>
        </p:nvCxnSpPr>
        <p:spPr bwMode="auto">
          <a:xfrm>
            <a:off x="5915999" y="3068997"/>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8" name="Rectangle 69">
            <a:extLst>
              <a:ext uri="{FF2B5EF4-FFF2-40B4-BE49-F238E27FC236}">
                <a16:creationId xmlns:a16="http://schemas.microsoft.com/office/drawing/2014/main" id="{B391E403-A457-131A-6930-2D40E69398CB}"/>
              </a:ext>
            </a:extLst>
          </p:cNvPr>
          <p:cNvSpPr>
            <a:spLocks noChangeArrowheads="1"/>
          </p:cNvSpPr>
          <p:nvPr/>
        </p:nvSpPr>
        <p:spPr bwMode="auto">
          <a:xfrm>
            <a:off x="7446015"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29" name="Rectangle 70">
            <a:extLst>
              <a:ext uri="{FF2B5EF4-FFF2-40B4-BE49-F238E27FC236}">
                <a16:creationId xmlns:a16="http://schemas.microsoft.com/office/drawing/2014/main" id="{368D7E5E-51AA-872D-5C34-58D9849574C6}"/>
              </a:ext>
            </a:extLst>
          </p:cNvPr>
          <p:cNvSpPr>
            <a:spLocks noChangeArrowheads="1"/>
          </p:cNvSpPr>
          <p:nvPr/>
        </p:nvSpPr>
        <p:spPr bwMode="auto">
          <a:xfrm>
            <a:off x="7896020"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30" name="Rectangle 71">
            <a:extLst>
              <a:ext uri="{FF2B5EF4-FFF2-40B4-BE49-F238E27FC236}">
                <a16:creationId xmlns:a16="http://schemas.microsoft.com/office/drawing/2014/main" id="{6D00DA2E-278D-169C-14DC-22A7F0CCF5DD}"/>
              </a:ext>
            </a:extLst>
          </p:cNvPr>
          <p:cNvSpPr>
            <a:spLocks noChangeArrowheads="1"/>
          </p:cNvSpPr>
          <p:nvPr/>
        </p:nvSpPr>
        <p:spPr bwMode="auto">
          <a:xfrm>
            <a:off x="8346025"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1" name="Rectangle 72">
            <a:extLst>
              <a:ext uri="{FF2B5EF4-FFF2-40B4-BE49-F238E27FC236}">
                <a16:creationId xmlns:a16="http://schemas.microsoft.com/office/drawing/2014/main" id="{F7C0B4A5-7152-6D08-7E7C-1CE89AEA3750}"/>
              </a:ext>
            </a:extLst>
          </p:cNvPr>
          <p:cNvSpPr>
            <a:spLocks noChangeArrowheads="1"/>
          </p:cNvSpPr>
          <p:nvPr/>
        </p:nvSpPr>
        <p:spPr bwMode="auto">
          <a:xfrm>
            <a:off x="8796030"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32" name="Rectangle 73">
            <a:extLst>
              <a:ext uri="{FF2B5EF4-FFF2-40B4-BE49-F238E27FC236}">
                <a16:creationId xmlns:a16="http://schemas.microsoft.com/office/drawing/2014/main" id="{E892CC28-8EB2-8A2B-D1C4-C84913CA8C7D}"/>
              </a:ext>
            </a:extLst>
          </p:cNvPr>
          <p:cNvSpPr>
            <a:spLocks noChangeArrowheads="1"/>
          </p:cNvSpPr>
          <p:nvPr/>
        </p:nvSpPr>
        <p:spPr bwMode="auto">
          <a:xfrm>
            <a:off x="9246035" y="3699003"/>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36" name="Rectangle 69">
            <a:extLst>
              <a:ext uri="{FF2B5EF4-FFF2-40B4-BE49-F238E27FC236}">
                <a16:creationId xmlns:a16="http://schemas.microsoft.com/office/drawing/2014/main" id="{2CE04C4F-87B8-BDF0-4FEF-EBA9700C68B9}"/>
              </a:ext>
            </a:extLst>
          </p:cNvPr>
          <p:cNvSpPr>
            <a:spLocks noChangeArrowheads="1"/>
          </p:cNvSpPr>
          <p:nvPr/>
        </p:nvSpPr>
        <p:spPr bwMode="auto">
          <a:xfrm>
            <a:off x="7896020"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F</a:t>
            </a:r>
          </a:p>
        </p:txBody>
      </p:sp>
      <p:sp>
        <p:nvSpPr>
          <p:cNvPr id="37" name="Rectangle 70">
            <a:extLst>
              <a:ext uri="{FF2B5EF4-FFF2-40B4-BE49-F238E27FC236}">
                <a16:creationId xmlns:a16="http://schemas.microsoft.com/office/drawing/2014/main" id="{C0B080A1-ACBB-4652-6489-EBA9B4969D81}"/>
              </a:ext>
            </a:extLst>
          </p:cNvPr>
          <p:cNvSpPr>
            <a:spLocks noChangeArrowheads="1"/>
          </p:cNvSpPr>
          <p:nvPr/>
        </p:nvSpPr>
        <p:spPr bwMode="auto">
          <a:xfrm>
            <a:off x="8346025"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D</a:t>
            </a:r>
          </a:p>
        </p:txBody>
      </p:sp>
      <p:sp>
        <p:nvSpPr>
          <p:cNvPr id="38" name="Rectangle 71">
            <a:extLst>
              <a:ext uri="{FF2B5EF4-FFF2-40B4-BE49-F238E27FC236}">
                <a16:creationId xmlns:a16="http://schemas.microsoft.com/office/drawing/2014/main" id="{59B0D913-9332-0EDB-D0F1-BBD84CBC2AF5}"/>
              </a:ext>
            </a:extLst>
          </p:cNvPr>
          <p:cNvSpPr>
            <a:spLocks noChangeArrowheads="1"/>
          </p:cNvSpPr>
          <p:nvPr/>
        </p:nvSpPr>
        <p:spPr bwMode="auto">
          <a:xfrm>
            <a:off x="8796030"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X</a:t>
            </a:r>
          </a:p>
        </p:txBody>
      </p:sp>
      <p:sp>
        <p:nvSpPr>
          <p:cNvPr id="39" name="Rectangle 72">
            <a:extLst>
              <a:ext uri="{FF2B5EF4-FFF2-40B4-BE49-F238E27FC236}">
                <a16:creationId xmlns:a16="http://schemas.microsoft.com/office/drawing/2014/main" id="{D52D636B-5E3B-1F36-6B03-C931148034B6}"/>
              </a:ext>
            </a:extLst>
          </p:cNvPr>
          <p:cNvSpPr>
            <a:spLocks noChangeArrowheads="1"/>
          </p:cNvSpPr>
          <p:nvPr/>
        </p:nvSpPr>
        <p:spPr bwMode="auto">
          <a:xfrm>
            <a:off x="9246035"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M</a:t>
            </a:r>
          </a:p>
        </p:txBody>
      </p:sp>
      <p:sp>
        <p:nvSpPr>
          <p:cNvPr id="40" name="Rectangle 73">
            <a:extLst>
              <a:ext uri="{FF2B5EF4-FFF2-40B4-BE49-F238E27FC236}">
                <a16:creationId xmlns:a16="http://schemas.microsoft.com/office/drawing/2014/main" id="{A924C96C-FBC4-5E2F-C1A0-F19E6456C1A6}"/>
              </a:ext>
            </a:extLst>
          </p:cNvPr>
          <p:cNvSpPr>
            <a:spLocks noChangeArrowheads="1"/>
          </p:cNvSpPr>
          <p:nvPr/>
        </p:nvSpPr>
        <p:spPr bwMode="auto">
          <a:xfrm>
            <a:off x="9696040" y="4149008"/>
            <a:ext cx="360000" cy="360000"/>
          </a:xfrm>
          <a:prstGeom prst="rect">
            <a:avLst/>
          </a:prstGeom>
          <a:ln>
            <a:headEnd/>
            <a:tailEnd type="none" w="med" len="lg"/>
          </a:ln>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600" dirty="0"/>
              <a:t>W</a:t>
            </a:r>
          </a:p>
        </p:txBody>
      </p:sp>
      <p:sp>
        <p:nvSpPr>
          <p:cNvPr id="23" name="テキスト ボックス 22">
            <a:extLst>
              <a:ext uri="{FF2B5EF4-FFF2-40B4-BE49-F238E27FC236}">
                <a16:creationId xmlns:a16="http://schemas.microsoft.com/office/drawing/2014/main" id="{352F93AB-0A3A-ED3D-98E2-24D379765937}"/>
              </a:ext>
            </a:extLst>
          </p:cNvPr>
          <p:cNvSpPr txBox="1"/>
          <p:nvPr/>
        </p:nvSpPr>
        <p:spPr>
          <a:xfrm>
            <a:off x="2045955" y="2348989"/>
            <a:ext cx="4572000" cy="2125325"/>
          </a:xfrm>
          <a:prstGeom prst="rect">
            <a:avLst/>
          </a:prstGeom>
          <a:noFill/>
        </p:spPr>
        <p:txBody>
          <a:bodyPr wrap="square">
            <a:spAutoFit/>
          </a:bodyPr>
          <a:lstStyle/>
          <a:p>
            <a:pPr>
              <a:lnSpc>
                <a:spcPct val="150000"/>
              </a:lnSpc>
            </a:pPr>
            <a:r>
              <a:rPr lang="en-US" altLang="ja-JP" dirty="0">
                <a:latin typeface="Consolas" panose="020B0609020204030204" pitchFamily="49" charset="0"/>
              </a:rPr>
              <a:t>  </a:t>
            </a:r>
            <a:r>
              <a:rPr lang="it-IT" altLang="ja-JP" dirty="0">
                <a:latin typeface="Consolas" panose="020B0609020204030204" pitchFamily="49" charset="0"/>
              </a:rPr>
              <a:t>li x1←1</a:t>
            </a:r>
            <a:br>
              <a:rPr lang="it-IT" altLang="ja-JP" dirty="0">
                <a:latin typeface="Consolas" panose="020B0609020204030204" pitchFamily="49" charset="0"/>
              </a:rPr>
            </a:br>
            <a:r>
              <a:rPr lang="it-IT" altLang="ja-JP" dirty="0">
                <a:latin typeface="Consolas" panose="020B0609020204030204" pitchFamily="49" charset="0"/>
              </a:rPr>
              <a:t>  li x2←2</a:t>
            </a:r>
            <a:br>
              <a:rPr lang="it-IT" altLang="ja-JP" dirty="0">
                <a:latin typeface="Consolas" panose="020B0609020204030204" pitchFamily="49" charset="0"/>
              </a:rPr>
            </a:br>
            <a:r>
              <a:rPr lang="it-IT" altLang="ja-JP" dirty="0">
                <a:latin typeface="Consolas" panose="020B0609020204030204" pitchFamily="49" charset="0"/>
              </a:rPr>
              <a:t>  beq x1==x2, LABEL</a:t>
            </a:r>
            <a:br>
              <a:rPr lang="it-IT" altLang="ja-JP" dirty="0">
                <a:latin typeface="Consolas" panose="020B0609020204030204" pitchFamily="49" charset="0"/>
              </a:rPr>
            </a:br>
            <a:r>
              <a:rPr lang="it-IT" altLang="ja-JP" dirty="0">
                <a:latin typeface="Consolas" panose="020B0609020204030204" pitchFamily="49" charset="0"/>
              </a:rPr>
              <a:t>  add x1←x2+x3</a:t>
            </a:r>
            <a:br>
              <a:rPr lang="it-IT" altLang="ja-JP" dirty="0">
                <a:latin typeface="Consolas" panose="020B0609020204030204" pitchFamily="49" charset="0"/>
              </a:rPr>
            </a:br>
            <a:r>
              <a:rPr lang="it-IT" altLang="ja-JP" dirty="0">
                <a:latin typeface="Consolas" panose="020B0609020204030204" pitchFamily="49" charset="0"/>
              </a:rPr>
              <a:t>  add x2←x3+x4</a:t>
            </a:r>
          </a:p>
        </p:txBody>
      </p:sp>
      <p:cxnSp>
        <p:nvCxnSpPr>
          <p:cNvPr id="26" name="直線矢印コネクタ 25">
            <a:extLst>
              <a:ext uri="{FF2B5EF4-FFF2-40B4-BE49-F238E27FC236}">
                <a16:creationId xmlns:a16="http://schemas.microsoft.com/office/drawing/2014/main" id="{6308DCFF-C4D3-09D1-3DFC-FC9909288713}"/>
              </a:ext>
            </a:extLst>
          </p:cNvPr>
          <p:cNvCxnSpPr/>
          <p:nvPr/>
        </p:nvCxnSpPr>
        <p:spPr bwMode="auto">
          <a:xfrm>
            <a:off x="5735996" y="3879005"/>
            <a:ext cx="1620018" cy="0"/>
          </a:xfrm>
          <a:prstGeom prst="straightConnector1">
            <a:avLst/>
          </a:prstGeom>
          <a:ln>
            <a:headEnd type="triangle" w="med" len="med"/>
            <a:tailEnd type="triangle"/>
          </a:ln>
        </p:spPr>
        <p:style>
          <a:lnRef idx="3">
            <a:schemeClr val="accent6"/>
          </a:lnRef>
          <a:fillRef idx="0">
            <a:schemeClr val="accent6"/>
          </a:fillRef>
          <a:effectRef idx="2">
            <a:schemeClr val="accent6"/>
          </a:effectRef>
          <a:fontRef idx="minor">
            <a:schemeClr val="tx1"/>
          </a:fontRef>
        </p:style>
      </p:cxnSp>
      <p:sp>
        <p:nvSpPr>
          <p:cNvPr id="27" name="テキスト ボックス 26">
            <a:extLst>
              <a:ext uri="{FF2B5EF4-FFF2-40B4-BE49-F238E27FC236}">
                <a16:creationId xmlns:a16="http://schemas.microsoft.com/office/drawing/2014/main" id="{2BA1614D-FCEB-7683-4E7B-CAE38B1C0FBC}"/>
              </a:ext>
            </a:extLst>
          </p:cNvPr>
          <p:cNvSpPr txBox="1"/>
          <p:nvPr/>
        </p:nvSpPr>
        <p:spPr>
          <a:xfrm>
            <a:off x="5285991" y="3969006"/>
            <a:ext cx="3060034" cy="1477328"/>
          </a:xfrm>
          <a:prstGeom prst="rect">
            <a:avLst/>
          </a:prstGeom>
          <a:noFill/>
        </p:spPr>
        <p:txBody>
          <a:bodyPr wrap="square">
            <a:spAutoFit/>
          </a:bodyPr>
          <a:lstStyle/>
          <a:p>
            <a:r>
              <a:rPr lang="ja-JP" altLang="en-US" dirty="0">
                <a:solidFill>
                  <a:schemeClr val="tx1">
                    <a:lumMod val="75000"/>
                    <a:lumOff val="25000"/>
                  </a:schemeClr>
                </a:solidFill>
                <a:latin typeface="Consolas" panose="020B0609020204030204" pitchFamily="49" charset="0"/>
              </a:rPr>
              <a:t>この期間の処理は</a:t>
            </a:r>
            <a:br>
              <a:rPr lang="en-US" altLang="ja-JP" dirty="0">
                <a:solidFill>
                  <a:schemeClr val="tx1">
                    <a:lumMod val="75000"/>
                    <a:lumOff val="25000"/>
                  </a:schemeClr>
                </a:solidFill>
                <a:latin typeface="Consolas" panose="020B0609020204030204" pitchFamily="49" charset="0"/>
              </a:rPr>
            </a:br>
            <a:r>
              <a:rPr lang="ja-JP" altLang="en-US" dirty="0">
                <a:solidFill>
                  <a:schemeClr val="tx1">
                    <a:lumMod val="75000"/>
                    <a:lumOff val="25000"/>
                  </a:schemeClr>
                </a:solidFill>
                <a:latin typeface="Consolas" panose="020B0609020204030204" pitchFamily="49" charset="0"/>
              </a:rPr>
              <a:t>分岐予測ミスで</a:t>
            </a:r>
            <a:br>
              <a:rPr lang="en-US" altLang="ja-JP" dirty="0">
                <a:solidFill>
                  <a:schemeClr val="tx1">
                    <a:lumMod val="75000"/>
                    <a:lumOff val="25000"/>
                  </a:schemeClr>
                </a:solidFill>
                <a:latin typeface="Consolas" panose="020B0609020204030204" pitchFamily="49" charset="0"/>
              </a:rPr>
            </a:br>
            <a:r>
              <a:rPr lang="ja-JP" altLang="en-US" dirty="0">
                <a:solidFill>
                  <a:schemeClr val="tx1">
                    <a:lumMod val="75000"/>
                    <a:lumOff val="25000"/>
                  </a:schemeClr>
                </a:solidFill>
                <a:latin typeface="Consolas" panose="020B0609020204030204" pitchFamily="49" charset="0"/>
              </a:rPr>
              <a:t>取り消されている</a:t>
            </a:r>
            <a:endParaRPr lang="en-US" altLang="ja-JP" dirty="0">
              <a:solidFill>
                <a:schemeClr val="tx1">
                  <a:lumMod val="75000"/>
                  <a:lumOff val="25000"/>
                </a:schemeClr>
              </a:solidFill>
              <a:latin typeface="Consolas" panose="020B0609020204030204" pitchFamily="49" charset="0"/>
            </a:endParaRPr>
          </a:p>
          <a:p>
            <a:r>
              <a:rPr lang="ja-JP" altLang="en-US" dirty="0">
                <a:solidFill>
                  <a:schemeClr val="tx1">
                    <a:lumMod val="75000"/>
                    <a:lumOff val="25000"/>
                  </a:schemeClr>
                </a:solidFill>
                <a:latin typeface="Consolas" panose="020B0609020204030204" pitchFamily="49" charset="0"/>
              </a:rPr>
              <a:t>（</a:t>
            </a:r>
            <a:r>
              <a:rPr lang="it-IT" altLang="ja-JP" dirty="0">
                <a:solidFill>
                  <a:schemeClr val="tx1">
                    <a:lumMod val="75000"/>
                    <a:lumOff val="25000"/>
                  </a:schemeClr>
                </a:solidFill>
                <a:latin typeface="Consolas" panose="020B0609020204030204" pitchFamily="49" charset="0"/>
              </a:rPr>
              <a:t>add x2←x3+x4 </a:t>
            </a:r>
            <a:r>
              <a:rPr lang="ja-JP" altLang="en-US" dirty="0">
                <a:solidFill>
                  <a:schemeClr val="tx1">
                    <a:lumMod val="75000"/>
                    <a:lumOff val="25000"/>
                  </a:schemeClr>
                </a:solidFill>
                <a:latin typeface="Consolas" panose="020B0609020204030204" pitchFamily="49" charset="0"/>
              </a:rPr>
              <a:t>を先にやって取り消している）</a:t>
            </a:r>
            <a:endParaRPr lang="it-IT" altLang="ja-JP"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4114244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322E92C3-71CE-2A9C-1483-A8D8082664C1}"/>
              </a:ext>
            </a:extLst>
          </p:cNvPr>
          <p:cNvSpPr>
            <a:spLocks noGrp="1"/>
          </p:cNvSpPr>
          <p:nvPr>
            <p:ph type="title"/>
          </p:nvPr>
        </p:nvSpPr>
        <p:spPr/>
        <p:txBody>
          <a:bodyPr/>
          <a:lstStyle/>
          <a:p>
            <a:r>
              <a:rPr lang="ja-JP" altLang="en-US" dirty="0"/>
              <a:t>性能のモデル</a:t>
            </a:r>
            <a:endParaRPr lang="en-US" dirty="0"/>
          </a:p>
        </p:txBody>
      </p:sp>
    </p:spTree>
    <p:extLst>
      <p:ext uri="{BB962C8B-B14F-4D97-AF65-F5344CB8AC3E}">
        <p14:creationId xmlns:p14="http://schemas.microsoft.com/office/powerpoint/2010/main" val="10357117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0B91FC5C-6DF3-2441-ECED-061FA34B4D91}"/>
              </a:ext>
            </a:extLst>
          </p:cNvPr>
          <p:cNvSpPr>
            <a:spLocks noGrp="1"/>
          </p:cNvSpPr>
          <p:nvPr>
            <p:ph type="title"/>
          </p:nvPr>
        </p:nvSpPr>
        <p:spPr/>
        <p:txBody>
          <a:bodyPr/>
          <a:lstStyle/>
          <a:p>
            <a:r>
              <a:rPr lang="ja-JP" altLang="en-US" dirty="0"/>
              <a:t>性能</a:t>
            </a:r>
            <a:endParaRPr lang="en-US" dirty="0"/>
          </a:p>
        </p:txBody>
      </p:sp>
      <p:sp>
        <p:nvSpPr>
          <p:cNvPr id="7" name="コンテンツ プレースホルダー 6">
            <a:extLst>
              <a:ext uri="{FF2B5EF4-FFF2-40B4-BE49-F238E27FC236}">
                <a16:creationId xmlns:a16="http://schemas.microsoft.com/office/drawing/2014/main" id="{6734BD7E-5D53-7BE2-66E0-CD8FA1DEB9D5}"/>
              </a:ext>
            </a:extLst>
          </p:cNvPr>
          <p:cNvSpPr>
            <a:spLocks noGrp="1"/>
          </p:cNvSpPr>
          <p:nvPr>
            <p:ph type="body" sz="quarter" idx="10"/>
          </p:nvPr>
        </p:nvSpPr>
        <p:spPr/>
        <p:txBody>
          <a:bodyPr/>
          <a:lstStyle/>
          <a:p>
            <a:r>
              <a:rPr lang="en-US" altLang="ja-JP" dirty="0"/>
              <a:t>CPU </a:t>
            </a:r>
            <a:r>
              <a:rPr lang="ja-JP" altLang="en-US" dirty="0"/>
              <a:t>の性能（処理速度）</a:t>
            </a:r>
            <a:r>
              <a:rPr lang="en-US" altLang="ja-JP" dirty="0"/>
              <a:t>= </a:t>
            </a:r>
            <a:r>
              <a:rPr lang="ja-JP" altLang="en-US" dirty="0"/>
              <a:t>単位時間あたりに処理できる命令数</a:t>
            </a:r>
            <a:endParaRPr lang="en-US" altLang="ja-JP" dirty="0"/>
          </a:p>
          <a:p>
            <a:r>
              <a:rPr lang="ja-JP" altLang="en-US" dirty="0"/>
              <a:t>性能は以下の２要素のかけ算で決まる：</a:t>
            </a:r>
            <a:br>
              <a:rPr lang="en-US" altLang="ja-JP" dirty="0"/>
            </a:br>
            <a:endParaRPr lang="en-US" altLang="ja-JP" dirty="0"/>
          </a:p>
          <a:p>
            <a:pPr marL="817200" lvl="1" indent="-457200">
              <a:buFont typeface="+mj-lt"/>
              <a:buAutoNum type="arabicPeriod"/>
            </a:pPr>
            <a:r>
              <a:rPr lang="ja-JP" altLang="en-US" dirty="0">
                <a:solidFill>
                  <a:schemeClr val="accent5"/>
                </a:solidFill>
              </a:rPr>
              <a:t>クロック周波数 </a:t>
            </a:r>
            <a:r>
              <a:rPr lang="en-US" altLang="ja-JP" dirty="0">
                <a:solidFill>
                  <a:schemeClr val="accent5"/>
                </a:solidFill>
              </a:rPr>
              <a:t>=</a:t>
            </a:r>
            <a:r>
              <a:rPr lang="ja-JP" altLang="en-US" dirty="0">
                <a:solidFill>
                  <a:schemeClr val="accent5"/>
                </a:solidFill>
              </a:rPr>
              <a:t> </a:t>
            </a:r>
            <a:br>
              <a:rPr lang="en-US" altLang="ja-JP" dirty="0"/>
            </a:br>
            <a:r>
              <a:rPr lang="ja-JP" altLang="en-US" dirty="0"/>
              <a:t>１秒あたり何サイクル分の処理ができるか</a:t>
            </a:r>
            <a:br>
              <a:rPr lang="en-US" altLang="ja-JP" dirty="0"/>
            </a:br>
            <a:endParaRPr lang="ja-JP" altLang="en-US" dirty="0"/>
          </a:p>
          <a:p>
            <a:pPr marL="817200" lvl="1" indent="-457200">
              <a:buFont typeface="+mj-lt"/>
              <a:buAutoNum type="arabicPeriod"/>
            </a:pPr>
            <a:r>
              <a:rPr lang="en-US" dirty="0">
                <a:solidFill>
                  <a:schemeClr val="accent5"/>
                </a:solidFill>
              </a:rPr>
              <a:t>Instructions per cycle (IPC) </a:t>
            </a:r>
            <a:r>
              <a:rPr lang="en-US" altLang="ja-JP" dirty="0">
                <a:solidFill>
                  <a:schemeClr val="accent5"/>
                </a:solidFill>
              </a:rPr>
              <a:t>=</a:t>
            </a:r>
            <a:br>
              <a:rPr lang="en-US" altLang="ja-JP" dirty="0">
                <a:solidFill>
                  <a:schemeClr val="accent5"/>
                </a:solidFill>
              </a:rPr>
            </a:br>
            <a:r>
              <a:rPr lang="ja-JP" altLang="en-US" dirty="0"/>
              <a:t>１サイクルあたり何命令処理できるか</a:t>
            </a:r>
            <a:endParaRPr lang="en-US" dirty="0"/>
          </a:p>
        </p:txBody>
      </p:sp>
      <p:sp>
        <p:nvSpPr>
          <p:cNvPr id="2" name="スライド番号プレースホルダー 1">
            <a:extLst>
              <a:ext uri="{FF2B5EF4-FFF2-40B4-BE49-F238E27FC236}">
                <a16:creationId xmlns:a16="http://schemas.microsoft.com/office/drawing/2014/main" id="{2DE4932B-25B3-33C2-336B-7058B8AB678E}"/>
              </a:ext>
            </a:extLst>
          </p:cNvPr>
          <p:cNvSpPr>
            <a:spLocks noGrp="1"/>
          </p:cNvSpPr>
          <p:nvPr>
            <p:ph type="sldNum" sz="quarter" idx="4294967295"/>
          </p:nvPr>
        </p:nvSpPr>
        <p:spPr>
          <a:xfrm>
            <a:off x="11472863" y="6308725"/>
            <a:ext cx="719137" cy="549275"/>
          </a:xfrm>
        </p:spPr>
        <p:txBody>
          <a:bodyPr/>
          <a:lstStyle/>
          <a:p>
            <a:fld id="{D2D8002D-B5B0-4BAC-B1F6-782DDCCE6D9C}" type="slidenum">
              <a:rPr lang="ja-JP" altLang="en-US" smtClean="0"/>
              <a:pPr/>
              <a:t>11</a:t>
            </a:fld>
            <a:endParaRPr lang="ja-JP" altLang="en-US"/>
          </a:p>
        </p:txBody>
      </p:sp>
    </p:spTree>
    <p:extLst>
      <p:ext uri="{BB962C8B-B14F-4D97-AF65-F5344CB8AC3E}">
        <p14:creationId xmlns:p14="http://schemas.microsoft.com/office/powerpoint/2010/main" val="26328171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0B2B78-EE75-4C74-FFCF-BB68D5383B36}"/>
              </a:ext>
            </a:extLst>
          </p:cNvPr>
          <p:cNvSpPr>
            <a:spLocks noGrp="1"/>
          </p:cNvSpPr>
          <p:nvPr>
            <p:ph type="title"/>
          </p:nvPr>
        </p:nvSpPr>
        <p:spPr/>
        <p:txBody>
          <a:bodyPr/>
          <a:lstStyle/>
          <a:p>
            <a:r>
              <a:rPr kumimoji="1" lang="ja-JP" altLang="en-US" dirty="0"/>
              <a:t>性能のモデル</a:t>
            </a:r>
            <a:endParaRPr kumimoji="1" lang="en-US" dirty="0"/>
          </a:p>
        </p:txBody>
      </p:sp>
      <p:sp>
        <p:nvSpPr>
          <p:cNvPr id="3" name="コンテンツ プレースホルダー 2">
            <a:extLst>
              <a:ext uri="{FF2B5EF4-FFF2-40B4-BE49-F238E27FC236}">
                <a16:creationId xmlns:a16="http://schemas.microsoft.com/office/drawing/2014/main" id="{D0BC0428-353B-A04A-7E40-2FCA1BAB49C1}"/>
              </a:ext>
            </a:extLst>
          </p:cNvPr>
          <p:cNvSpPr>
            <a:spLocks noGrp="1"/>
          </p:cNvSpPr>
          <p:nvPr>
            <p:ph type="body" sz="quarter" idx="10"/>
          </p:nvPr>
        </p:nvSpPr>
        <p:spPr/>
        <p:txBody>
          <a:bodyPr/>
          <a:lstStyle/>
          <a:p>
            <a:r>
              <a:rPr kumimoji="1" lang="ja-JP" altLang="en-US" dirty="0"/>
              <a:t>以下について検討していく</a:t>
            </a:r>
            <a:endParaRPr kumimoji="1" lang="en-US" altLang="ja-JP" dirty="0"/>
          </a:p>
          <a:p>
            <a:pPr lvl="1"/>
            <a:r>
              <a:rPr kumimoji="1" lang="ja-JP" altLang="en-US" dirty="0"/>
              <a:t>理想的な場合の性能のモデル</a:t>
            </a:r>
            <a:endParaRPr kumimoji="1" lang="en-US" altLang="ja-JP" dirty="0"/>
          </a:p>
          <a:p>
            <a:pPr lvl="1"/>
            <a:r>
              <a:rPr kumimoji="1" lang="ja-JP" altLang="en-US" dirty="0"/>
              <a:t>ハザードを考慮した性能のモデル</a:t>
            </a:r>
            <a:endParaRPr kumimoji="1" lang="en-US" altLang="ja-JP" dirty="0"/>
          </a:p>
        </p:txBody>
      </p:sp>
    </p:spTree>
    <p:extLst>
      <p:ext uri="{BB962C8B-B14F-4D97-AF65-F5344CB8AC3E}">
        <p14:creationId xmlns:p14="http://schemas.microsoft.com/office/powerpoint/2010/main" val="3561875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2918045-1413-49E0-E525-3A3F638871DC}"/>
              </a:ext>
            </a:extLst>
          </p:cNvPr>
          <p:cNvSpPr>
            <a:spLocks noGrp="1"/>
          </p:cNvSpPr>
          <p:nvPr>
            <p:ph type="title"/>
          </p:nvPr>
        </p:nvSpPr>
        <p:spPr/>
        <p:txBody>
          <a:bodyPr/>
          <a:lstStyle/>
          <a:p>
            <a:r>
              <a:rPr lang="ja-JP" altLang="en-US" dirty="0"/>
              <a:t>理想的な場合の性能モデル</a:t>
            </a:r>
            <a:endParaRPr lang="en-US" dirty="0"/>
          </a:p>
        </p:txBody>
      </p:sp>
    </p:spTree>
    <p:extLst>
      <p:ext uri="{BB962C8B-B14F-4D97-AF65-F5344CB8AC3E}">
        <p14:creationId xmlns:p14="http://schemas.microsoft.com/office/powerpoint/2010/main" val="3252070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497847A-E7D4-873B-8483-4A476110C7CB}"/>
              </a:ext>
            </a:extLst>
          </p:cNvPr>
          <p:cNvSpPr>
            <a:spLocks noGrp="1"/>
          </p:cNvSpPr>
          <p:nvPr>
            <p:ph type="title"/>
          </p:nvPr>
        </p:nvSpPr>
        <p:spPr/>
        <p:txBody>
          <a:bodyPr/>
          <a:lstStyle/>
          <a:p>
            <a:r>
              <a:rPr lang="ja-JP" altLang="en-US" dirty="0"/>
              <a:t>理想的な各モデルの性能</a:t>
            </a:r>
            <a:endParaRPr lang="en-US" dirty="0"/>
          </a:p>
        </p:txBody>
      </p:sp>
      <p:sp>
        <p:nvSpPr>
          <p:cNvPr id="5" name="コンテンツ プレースホルダー 4">
            <a:extLst>
              <a:ext uri="{FF2B5EF4-FFF2-40B4-BE49-F238E27FC236}">
                <a16:creationId xmlns:a16="http://schemas.microsoft.com/office/drawing/2014/main" id="{8FD10F4C-5CDD-6EC6-B66A-096A6AD6E153}"/>
              </a:ext>
            </a:extLst>
          </p:cNvPr>
          <p:cNvSpPr>
            <a:spLocks noGrp="1"/>
          </p:cNvSpPr>
          <p:nvPr>
            <p:ph type="body" sz="quarter" idx="10"/>
          </p:nvPr>
        </p:nvSpPr>
        <p:spPr/>
        <p:txBody>
          <a:bodyPr/>
          <a:lstStyle/>
          <a:p>
            <a:r>
              <a:rPr lang="ja-JP" altLang="en-US" sz="1800" dirty="0"/>
              <a:t>下記のそれぞれについて秒間何命令処理できるかを考える</a:t>
            </a:r>
            <a:endParaRPr lang="en-US" altLang="ja-JP" sz="1800" dirty="0"/>
          </a:p>
          <a:p>
            <a:pPr lvl="1">
              <a:buFont typeface="+mj-lt"/>
              <a:buAutoNum type="arabicPeriod"/>
            </a:pPr>
            <a:r>
              <a:rPr lang="ja-JP" altLang="en-US" sz="1800" dirty="0"/>
              <a:t>シングル・サイクル・プロセッサ</a:t>
            </a:r>
            <a:endParaRPr lang="en-US" altLang="ja-JP" sz="1800" dirty="0"/>
          </a:p>
          <a:p>
            <a:pPr lvl="1">
              <a:buFont typeface="+mj-lt"/>
              <a:buAutoNum type="arabicPeriod"/>
            </a:pPr>
            <a:r>
              <a:rPr lang="ja-JP" altLang="en-US" sz="1800" dirty="0"/>
              <a:t>スカラ・パイプライン・プロセッサ</a:t>
            </a:r>
            <a:endParaRPr lang="en-US" altLang="ja-JP" sz="1800" dirty="0"/>
          </a:p>
          <a:p>
            <a:pPr lvl="1">
              <a:buFont typeface="+mj-lt"/>
              <a:buAutoNum type="arabicPeriod"/>
            </a:pPr>
            <a:r>
              <a:rPr lang="ja-JP" altLang="en-US" sz="1800" dirty="0"/>
              <a:t>スカラ・パイプライン・プロセッサ（段数２倍）</a:t>
            </a:r>
            <a:endParaRPr lang="en-US" altLang="ja-JP" sz="1800" dirty="0"/>
          </a:p>
          <a:p>
            <a:pPr lvl="1">
              <a:buFont typeface="+mj-lt"/>
              <a:buAutoNum type="arabicPeriod"/>
            </a:pPr>
            <a:r>
              <a:rPr lang="en-US" altLang="ja-JP" sz="1800" dirty="0"/>
              <a:t>2-way </a:t>
            </a:r>
            <a:r>
              <a:rPr lang="ja-JP" altLang="en-US" sz="1800" dirty="0"/>
              <a:t>スーパスカラ・プロセッサ</a:t>
            </a:r>
            <a:endParaRPr lang="en-US" dirty="0"/>
          </a:p>
        </p:txBody>
      </p:sp>
    </p:spTree>
    <p:extLst>
      <p:ext uri="{BB962C8B-B14F-4D97-AF65-F5344CB8AC3E}">
        <p14:creationId xmlns:p14="http://schemas.microsoft.com/office/powerpoint/2010/main" val="3201658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0B2B78-EE75-4C74-FFCF-BB68D5383B36}"/>
              </a:ext>
            </a:extLst>
          </p:cNvPr>
          <p:cNvSpPr>
            <a:spLocks noGrp="1"/>
          </p:cNvSpPr>
          <p:nvPr>
            <p:ph type="title"/>
          </p:nvPr>
        </p:nvSpPr>
        <p:spPr>
          <a:xfrm>
            <a:off x="1415948" y="0"/>
            <a:ext cx="9882059" cy="908972"/>
          </a:xfrm>
        </p:spPr>
        <p:txBody>
          <a:bodyPr/>
          <a:lstStyle/>
          <a:p>
            <a:r>
              <a:rPr kumimoji="1" lang="ja-JP" altLang="en-US" sz="2800" dirty="0"/>
              <a:t>ここからの前提：</a:t>
            </a:r>
            <a:br>
              <a:rPr kumimoji="1" lang="en-US" altLang="ja-JP" sz="2800" dirty="0"/>
            </a:br>
            <a:r>
              <a:rPr kumimoji="1" lang="ja-JP" altLang="en-US" sz="2800" dirty="0"/>
              <a:t>パイプラインでは</a:t>
            </a:r>
            <a:r>
              <a:rPr lang="ja-JP" altLang="en-US" sz="2800" dirty="0"/>
              <a:t>フォワーディングの実装を仮定</a:t>
            </a:r>
            <a:endParaRPr lang="en-US" altLang="ja-JP" sz="2800" dirty="0"/>
          </a:p>
        </p:txBody>
      </p:sp>
      <p:sp>
        <p:nvSpPr>
          <p:cNvPr id="3" name="コンテンツ プレースホルダー 2">
            <a:extLst>
              <a:ext uri="{FF2B5EF4-FFF2-40B4-BE49-F238E27FC236}">
                <a16:creationId xmlns:a16="http://schemas.microsoft.com/office/drawing/2014/main" id="{D0BC0428-353B-A04A-7E40-2FCA1BAB49C1}"/>
              </a:ext>
            </a:extLst>
          </p:cNvPr>
          <p:cNvSpPr>
            <a:spLocks noGrp="1"/>
          </p:cNvSpPr>
          <p:nvPr>
            <p:ph type="body" sz="quarter" idx="10"/>
          </p:nvPr>
        </p:nvSpPr>
        <p:spPr>
          <a:xfrm>
            <a:off x="2135956" y="1178975"/>
            <a:ext cx="7920088" cy="1260014"/>
          </a:xfrm>
        </p:spPr>
        <p:txBody>
          <a:bodyPr/>
          <a:lstStyle/>
          <a:p>
            <a:pPr lvl="1"/>
            <a:r>
              <a:rPr lang="ja-JP" altLang="en-US" sz="1800" dirty="0"/>
              <a:t>結果が </a:t>
            </a:r>
            <a:r>
              <a:rPr lang="en-US" altLang="ja-JP" sz="1800" dirty="0"/>
              <a:t>RF </a:t>
            </a:r>
            <a:r>
              <a:rPr lang="ja-JP" altLang="en-US" sz="1800" dirty="0"/>
              <a:t>に書かれる前に，後続の命令は最速のタイミングでそれを使える（</a:t>
            </a:r>
            <a:r>
              <a:rPr lang="en-US" altLang="ja-JP" sz="1800" dirty="0"/>
              <a:t>=</a:t>
            </a:r>
            <a:r>
              <a:rPr lang="ja-JP" altLang="en-US" sz="1800" dirty="0"/>
              <a:t>フォワーディングを行う）と想定</a:t>
            </a:r>
            <a:endParaRPr lang="en-US" altLang="ja-JP" sz="1800" dirty="0"/>
          </a:p>
          <a:p>
            <a:pPr lvl="1"/>
            <a:r>
              <a:rPr lang="ja-JP" altLang="en-US" sz="1800" dirty="0"/>
              <a:t>つまり，依存元命令の実行ステージ（以下では </a:t>
            </a:r>
            <a:r>
              <a:rPr lang="en-US" altLang="ja-JP" sz="1800" dirty="0"/>
              <a:t>X</a:t>
            </a:r>
            <a:r>
              <a:rPr lang="ja-JP" altLang="en-US" sz="1800" dirty="0"/>
              <a:t>）が終わり次第，</a:t>
            </a:r>
            <a:br>
              <a:rPr lang="en-US" altLang="ja-JP" sz="1800" dirty="0"/>
            </a:br>
            <a:r>
              <a:rPr lang="ja-JP" altLang="en-US" sz="1800" dirty="0"/>
              <a:t>直ちに依存先の命令は実行ステージを開始できる</a:t>
            </a:r>
            <a:endParaRPr lang="en-US" sz="1800" dirty="0"/>
          </a:p>
        </p:txBody>
      </p:sp>
      <p:sp>
        <p:nvSpPr>
          <p:cNvPr id="4" name="正方形/長方形 3">
            <a:extLst>
              <a:ext uri="{FF2B5EF4-FFF2-40B4-BE49-F238E27FC236}">
                <a16:creationId xmlns:a16="http://schemas.microsoft.com/office/drawing/2014/main" id="{80982571-D2C0-A4B6-F6A4-3A6979083863}"/>
              </a:ext>
            </a:extLst>
          </p:cNvPr>
          <p:cNvSpPr/>
          <p:nvPr/>
        </p:nvSpPr>
        <p:spPr>
          <a:xfrm>
            <a:off x="2495962" y="3248999"/>
            <a:ext cx="450005" cy="646331"/>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I0: add </a:t>
            </a:r>
            <a:r>
              <a:rPr lang="en-US" altLang="ja-JP" dirty="0">
                <a:solidFill>
                  <a:schemeClr val="accent5"/>
                </a:solidFill>
                <a:latin typeface="Consolas" panose="020B0609020204030204" pitchFamily="49" charset="0"/>
              </a:rPr>
              <a:t>x1</a:t>
            </a:r>
            <a:r>
              <a:rPr lang="ja-JP" altLang="en-US" dirty="0">
                <a:solidFill>
                  <a:schemeClr val="tx1">
                    <a:lumMod val="65000"/>
                    <a:lumOff val="35000"/>
                  </a:schemeClr>
                </a:solidFill>
                <a:latin typeface="Consolas" panose="020B0609020204030204" pitchFamily="49" charset="0"/>
              </a:rPr>
              <a:t>←</a:t>
            </a:r>
            <a:r>
              <a:rPr lang="en-US" altLang="ja-JP" dirty="0">
                <a:solidFill>
                  <a:schemeClr val="tx1">
                    <a:lumMod val="65000"/>
                    <a:lumOff val="35000"/>
                  </a:schemeClr>
                </a:solidFill>
                <a:latin typeface="Consolas" panose="020B0609020204030204" pitchFamily="49" charset="0"/>
              </a:rPr>
              <a:t>x2,x3</a:t>
            </a:r>
            <a:endParaRPr lang="ja-JP" altLang="en-US" dirty="0">
              <a:solidFill>
                <a:schemeClr val="tx1">
                  <a:lumMod val="65000"/>
                  <a:lumOff val="35000"/>
                </a:schemeClr>
              </a:solidFill>
              <a:latin typeface="Consolas" panose="020B0609020204030204" pitchFamily="49" charset="0"/>
            </a:endParaRPr>
          </a:p>
        </p:txBody>
      </p:sp>
      <p:sp>
        <p:nvSpPr>
          <p:cNvPr id="5" name="正方形/長方形 4">
            <a:extLst>
              <a:ext uri="{FF2B5EF4-FFF2-40B4-BE49-F238E27FC236}">
                <a16:creationId xmlns:a16="http://schemas.microsoft.com/office/drawing/2014/main" id="{FE3FD0CD-B690-9B2B-22A8-BA610A9E06A5}"/>
              </a:ext>
            </a:extLst>
          </p:cNvPr>
          <p:cNvSpPr/>
          <p:nvPr/>
        </p:nvSpPr>
        <p:spPr>
          <a:xfrm>
            <a:off x="2495962" y="3699003"/>
            <a:ext cx="450005" cy="369332"/>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I1: sub x4</a:t>
            </a:r>
            <a:r>
              <a:rPr lang="ja-JP" altLang="en-US" dirty="0">
                <a:solidFill>
                  <a:schemeClr val="tx1">
                    <a:lumMod val="65000"/>
                    <a:lumOff val="35000"/>
                  </a:schemeClr>
                </a:solidFill>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solidFill>
                  <a:schemeClr val="tx1">
                    <a:lumMod val="65000"/>
                    <a:lumOff val="35000"/>
                  </a:schemeClr>
                </a:solidFill>
                <a:latin typeface="Consolas" panose="020B0609020204030204" pitchFamily="49" charset="0"/>
              </a:rPr>
              <a:t>,x5</a:t>
            </a:r>
            <a:endParaRPr lang="ja-JP" altLang="en-US" dirty="0">
              <a:solidFill>
                <a:schemeClr val="tx1">
                  <a:lumMod val="65000"/>
                  <a:lumOff val="3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2F34BAC8-5BC2-64B5-96A1-0B8FB5ED93C8}"/>
              </a:ext>
            </a:extLst>
          </p:cNvPr>
          <p:cNvSpPr/>
          <p:nvPr/>
        </p:nvSpPr>
        <p:spPr>
          <a:xfrm>
            <a:off x="2495962" y="4149008"/>
            <a:ext cx="450005" cy="369332"/>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I2: ...</a:t>
            </a:r>
            <a:endParaRPr lang="ja-JP" altLang="en-US" dirty="0">
              <a:solidFill>
                <a:schemeClr val="tx1">
                  <a:lumMod val="65000"/>
                  <a:lumOff val="35000"/>
                </a:schemeClr>
              </a:solidFill>
              <a:latin typeface="Consolas" panose="020B0609020204030204" pitchFamily="49" charset="0"/>
            </a:endParaRPr>
          </a:p>
        </p:txBody>
      </p:sp>
      <p:sp>
        <p:nvSpPr>
          <p:cNvPr id="7" name="Rectangle 69">
            <a:extLst>
              <a:ext uri="{FF2B5EF4-FFF2-40B4-BE49-F238E27FC236}">
                <a16:creationId xmlns:a16="http://schemas.microsoft.com/office/drawing/2014/main" id="{C6B6FE4C-FD18-4CFB-2A8C-279ACE9A89AC}"/>
              </a:ext>
            </a:extLst>
          </p:cNvPr>
          <p:cNvSpPr>
            <a:spLocks noChangeArrowheads="1"/>
          </p:cNvSpPr>
          <p:nvPr/>
        </p:nvSpPr>
        <p:spPr bwMode="auto">
          <a:xfrm>
            <a:off x="4655985"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8" name="Rectangle 70">
            <a:extLst>
              <a:ext uri="{FF2B5EF4-FFF2-40B4-BE49-F238E27FC236}">
                <a16:creationId xmlns:a16="http://schemas.microsoft.com/office/drawing/2014/main" id="{CD1FD6A3-0F9F-4A87-85C0-EBE3DEC41E8C}"/>
              </a:ext>
            </a:extLst>
          </p:cNvPr>
          <p:cNvSpPr>
            <a:spLocks noChangeArrowheads="1"/>
          </p:cNvSpPr>
          <p:nvPr/>
        </p:nvSpPr>
        <p:spPr bwMode="auto">
          <a:xfrm>
            <a:off x="5105989"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9" name="Rectangle 71">
            <a:extLst>
              <a:ext uri="{FF2B5EF4-FFF2-40B4-BE49-F238E27FC236}">
                <a16:creationId xmlns:a16="http://schemas.microsoft.com/office/drawing/2014/main" id="{F87806BC-6869-1C6B-1AF2-03F70A79A7BC}"/>
              </a:ext>
            </a:extLst>
          </p:cNvPr>
          <p:cNvSpPr>
            <a:spLocks noChangeArrowheads="1"/>
          </p:cNvSpPr>
          <p:nvPr/>
        </p:nvSpPr>
        <p:spPr bwMode="auto">
          <a:xfrm>
            <a:off x="5555995"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0" name="Rectangle 72">
            <a:extLst>
              <a:ext uri="{FF2B5EF4-FFF2-40B4-BE49-F238E27FC236}">
                <a16:creationId xmlns:a16="http://schemas.microsoft.com/office/drawing/2014/main" id="{B3505AB2-E1DC-4013-CD91-5F2821AB29B7}"/>
              </a:ext>
            </a:extLst>
          </p:cNvPr>
          <p:cNvSpPr>
            <a:spLocks noChangeArrowheads="1"/>
          </p:cNvSpPr>
          <p:nvPr/>
        </p:nvSpPr>
        <p:spPr bwMode="auto">
          <a:xfrm>
            <a:off x="6006000"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1" name="Rectangle 73">
            <a:extLst>
              <a:ext uri="{FF2B5EF4-FFF2-40B4-BE49-F238E27FC236}">
                <a16:creationId xmlns:a16="http://schemas.microsoft.com/office/drawing/2014/main" id="{0B0D3294-A940-2A96-F811-E215FA59AA74}"/>
              </a:ext>
            </a:extLst>
          </p:cNvPr>
          <p:cNvSpPr>
            <a:spLocks noChangeArrowheads="1"/>
          </p:cNvSpPr>
          <p:nvPr/>
        </p:nvSpPr>
        <p:spPr bwMode="auto">
          <a:xfrm>
            <a:off x="6456004"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2" name="Rectangle 69">
            <a:extLst>
              <a:ext uri="{FF2B5EF4-FFF2-40B4-BE49-F238E27FC236}">
                <a16:creationId xmlns:a16="http://schemas.microsoft.com/office/drawing/2014/main" id="{3FFF24F7-8C81-54C6-6D03-59D66B2E0DEF}"/>
              </a:ext>
            </a:extLst>
          </p:cNvPr>
          <p:cNvSpPr>
            <a:spLocks noChangeArrowheads="1"/>
          </p:cNvSpPr>
          <p:nvPr/>
        </p:nvSpPr>
        <p:spPr bwMode="auto">
          <a:xfrm>
            <a:off x="5105992" y="369900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 name="Rectangle 70">
            <a:extLst>
              <a:ext uri="{FF2B5EF4-FFF2-40B4-BE49-F238E27FC236}">
                <a16:creationId xmlns:a16="http://schemas.microsoft.com/office/drawing/2014/main" id="{DBEE4C99-270A-0993-C633-C7A98ACC77BA}"/>
              </a:ext>
            </a:extLst>
          </p:cNvPr>
          <p:cNvSpPr>
            <a:spLocks noChangeArrowheads="1"/>
          </p:cNvSpPr>
          <p:nvPr/>
        </p:nvSpPr>
        <p:spPr bwMode="auto">
          <a:xfrm>
            <a:off x="5555996" y="369900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4" name="Rectangle 71">
            <a:extLst>
              <a:ext uri="{FF2B5EF4-FFF2-40B4-BE49-F238E27FC236}">
                <a16:creationId xmlns:a16="http://schemas.microsoft.com/office/drawing/2014/main" id="{BA666BE2-8DF1-B748-0ECF-899A82DECB78}"/>
              </a:ext>
            </a:extLst>
          </p:cNvPr>
          <p:cNvSpPr>
            <a:spLocks noChangeArrowheads="1"/>
          </p:cNvSpPr>
          <p:nvPr/>
        </p:nvSpPr>
        <p:spPr bwMode="auto">
          <a:xfrm>
            <a:off x="6006002" y="369900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5" name="Rectangle 72">
            <a:extLst>
              <a:ext uri="{FF2B5EF4-FFF2-40B4-BE49-F238E27FC236}">
                <a16:creationId xmlns:a16="http://schemas.microsoft.com/office/drawing/2014/main" id="{9444ACCD-A1B4-ED14-C0A7-EC067213F395}"/>
              </a:ext>
            </a:extLst>
          </p:cNvPr>
          <p:cNvSpPr>
            <a:spLocks noChangeArrowheads="1"/>
          </p:cNvSpPr>
          <p:nvPr/>
        </p:nvSpPr>
        <p:spPr bwMode="auto">
          <a:xfrm>
            <a:off x="6456007" y="369900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6" name="Rectangle 73">
            <a:extLst>
              <a:ext uri="{FF2B5EF4-FFF2-40B4-BE49-F238E27FC236}">
                <a16:creationId xmlns:a16="http://schemas.microsoft.com/office/drawing/2014/main" id="{1259ED78-131C-7158-591B-538D483C10A7}"/>
              </a:ext>
            </a:extLst>
          </p:cNvPr>
          <p:cNvSpPr>
            <a:spLocks noChangeArrowheads="1"/>
          </p:cNvSpPr>
          <p:nvPr/>
        </p:nvSpPr>
        <p:spPr bwMode="auto">
          <a:xfrm>
            <a:off x="6906011" y="369900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7" name="Rectangle 69">
            <a:extLst>
              <a:ext uri="{FF2B5EF4-FFF2-40B4-BE49-F238E27FC236}">
                <a16:creationId xmlns:a16="http://schemas.microsoft.com/office/drawing/2014/main" id="{BD2E9A90-2C2E-99A3-43F1-533D88552D2E}"/>
              </a:ext>
            </a:extLst>
          </p:cNvPr>
          <p:cNvSpPr>
            <a:spLocks noChangeArrowheads="1"/>
          </p:cNvSpPr>
          <p:nvPr/>
        </p:nvSpPr>
        <p:spPr bwMode="auto">
          <a:xfrm>
            <a:off x="5555996"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8" name="Rectangle 70">
            <a:extLst>
              <a:ext uri="{FF2B5EF4-FFF2-40B4-BE49-F238E27FC236}">
                <a16:creationId xmlns:a16="http://schemas.microsoft.com/office/drawing/2014/main" id="{F289A381-7297-B3EB-9D3B-6A656487A5FE}"/>
              </a:ext>
            </a:extLst>
          </p:cNvPr>
          <p:cNvSpPr>
            <a:spLocks noChangeArrowheads="1"/>
          </p:cNvSpPr>
          <p:nvPr/>
        </p:nvSpPr>
        <p:spPr bwMode="auto">
          <a:xfrm>
            <a:off x="6006000"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9" name="Rectangle 71">
            <a:extLst>
              <a:ext uri="{FF2B5EF4-FFF2-40B4-BE49-F238E27FC236}">
                <a16:creationId xmlns:a16="http://schemas.microsoft.com/office/drawing/2014/main" id="{3FDA12F2-9EBB-C344-D7F7-8A4553A32290}"/>
              </a:ext>
            </a:extLst>
          </p:cNvPr>
          <p:cNvSpPr>
            <a:spLocks noChangeArrowheads="1"/>
          </p:cNvSpPr>
          <p:nvPr/>
        </p:nvSpPr>
        <p:spPr bwMode="auto">
          <a:xfrm>
            <a:off x="6456006"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20" name="Rectangle 72">
            <a:extLst>
              <a:ext uri="{FF2B5EF4-FFF2-40B4-BE49-F238E27FC236}">
                <a16:creationId xmlns:a16="http://schemas.microsoft.com/office/drawing/2014/main" id="{61809726-1B0F-1583-1CFE-ADEA3CE9697A}"/>
              </a:ext>
            </a:extLst>
          </p:cNvPr>
          <p:cNvSpPr>
            <a:spLocks noChangeArrowheads="1"/>
          </p:cNvSpPr>
          <p:nvPr/>
        </p:nvSpPr>
        <p:spPr bwMode="auto">
          <a:xfrm>
            <a:off x="6906011"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21" name="Rectangle 73">
            <a:extLst>
              <a:ext uri="{FF2B5EF4-FFF2-40B4-BE49-F238E27FC236}">
                <a16:creationId xmlns:a16="http://schemas.microsoft.com/office/drawing/2014/main" id="{F780DAF1-F6D6-DBE0-9054-2B421DB658F0}"/>
              </a:ext>
            </a:extLst>
          </p:cNvPr>
          <p:cNvSpPr>
            <a:spLocks noChangeArrowheads="1"/>
          </p:cNvSpPr>
          <p:nvPr/>
        </p:nvSpPr>
        <p:spPr bwMode="auto">
          <a:xfrm>
            <a:off x="7356015"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cxnSp>
        <p:nvCxnSpPr>
          <p:cNvPr id="23" name="直線矢印コネクタ 22">
            <a:extLst>
              <a:ext uri="{FF2B5EF4-FFF2-40B4-BE49-F238E27FC236}">
                <a16:creationId xmlns:a16="http://schemas.microsoft.com/office/drawing/2014/main" id="{59903140-1EDB-F2F9-7261-31A01F4AAC33}"/>
              </a:ext>
            </a:extLst>
          </p:cNvPr>
          <p:cNvCxnSpPr/>
          <p:nvPr/>
        </p:nvCxnSpPr>
        <p:spPr bwMode="auto">
          <a:xfrm>
            <a:off x="5916000" y="3519002"/>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
        <p:nvSpPr>
          <p:cNvPr id="24" name="正方形/長方形 23">
            <a:extLst>
              <a:ext uri="{FF2B5EF4-FFF2-40B4-BE49-F238E27FC236}">
                <a16:creationId xmlns:a16="http://schemas.microsoft.com/office/drawing/2014/main" id="{94C25B1F-142C-EEE5-BB1D-0A2719D528F2}"/>
              </a:ext>
            </a:extLst>
          </p:cNvPr>
          <p:cNvSpPr/>
          <p:nvPr/>
        </p:nvSpPr>
        <p:spPr>
          <a:xfrm>
            <a:off x="2495961" y="5409023"/>
            <a:ext cx="450005" cy="646331"/>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I0: add </a:t>
            </a:r>
            <a:r>
              <a:rPr lang="en-US" altLang="ja-JP" dirty="0">
                <a:solidFill>
                  <a:schemeClr val="accent5"/>
                </a:solidFill>
                <a:latin typeface="Consolas" panose="020B0609020204030204" pitchFamily="49" charset="0"/>
              </a:rPr>
              <a:t>x1</a:t>
            </a:r>
            <a:r>
              <a:rPr lang="ja-JP" altLang="en-US" dirty="0">
                <a:solidFill>
                  <a:schemeClr val="tx1">
                    <a:lumMod val="65000"/>
                    <a:lumOff val="35000"/>
                  </a:schemeClr>
                </a:solidFill>
                <a:latin typeface="Consolas" panose="020B0609020204030204" pitchFamily="49" charset="0"/>
              </a:rPr>
              <a:t>←</a:t>
            </a:r>
            <a:r>
              <a:rPr lang="en-US" altLang="ja-JP" dirty="0">
                <a:solidFill>
                  <a:schemeClr val="tx1">
                    <a:lumMod val="65000"/>
                    <a:lumOff val="35000"/>
                  </a:schemeClr>
                </a:solidFill>
                <a:latin typeface="Consolas" panose="020B0609020204030204" pitchFamily="49" charset="0"/>
              </a:rPr>
              <a:t>x2,x3</a:t>
            </a:r>
            <a:endParaRPr lang="ja-JP" altLang="en-US" dirty="0">
              <a:solidFill>
                <a:schemeClr val="tx1">
                  <a:lumMod val="65000"/>
                  <a:lumOff val="35000"/>
                </a:schemeClr>
              </a:solidFill>
              <a:latin typeface="Consolas" panose="020B0609020204030204" pitchFamily="49" charset="0"/>
            </a:endParaRPr>
          </a:p>
        </p:txBody>
      </p:sp>
      <p:sp>
        <p:nvSpPr>
          <p:cNvPr id="25" name="正方形/長方形 24">
            <a:extLst>
              <a:ext uri="{FF2B5EF4-FFF2-40B4-BE49-F238E27FC236}">
                <a16:creationId xmlns:a16="http://schemas.microsoft.com/office/drawing/2014/main" id="{D94678A4-2731-682C-1C8A-018678FBA318}"/>
              </a:ext>
            </a:extLst>
          </p:cNvPr>
          <p:cNvSpPr/>
          <p:nvPr/>
        </p:nvSpPr>
        <p:spPr>
          <a:xfrm>
            <a:off x="2495961" y="5859027"/>
            <a:ext cx="450005" cy="369332"/>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I1: sub x4</a:t>
            </a:r>
            <a:r>
              <a:rPr lang="ja-JP" altLang="en-US" dirty="0">
                <a:solidFill>
                  <a:schemeClr val="tx1">
                    <a:lumMod val="65000"/>
                    <a:lumOff val="35000"/>
                  </a:schemeClr>
                </a:solidFill>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solidFill>
                  <a:schemeClr val="tx1">
                    <a:lumMod val="65000"/>
                    <a:lumOff val="35000"/>
                  </a:schemeClr>
                </a:solidFill>
                <a:latin typeface="Consolas" panose="020B0609020204030204" pitchFamily="49" charset="0"/>
              </a:rPr>
              <a:t>,x5</a:t>
            </a:r>
            <a:endParaRPr lang="ja-JP" altLang="en-US" dirty="0">
              <a:solidFill>
                <a:schemeClr val="tx1">
                  <a:lumMod val="65000"/>
                  <a:lumOff val="35000"/>
                </a:schemeClr>
              </a:solidFill>
              <a:latin typeface="Consolas" panose="020B0609020204030204" pitchFamily="49" charset="0"/>
            </a:endParaRPr>
          </a:p>
        </p:txBody>
      </p:sp>
      <p:sp>
        <p:nvSpPr>
          <p:cNvPr id="26" name="正方形/長方形 25">
            <a:extLst>
              <a:ext uri="{FF2B5EF4-FFF2-40B4-BE49-F238E27FC236}">
                <a16:creationId xmlns:a16="http://schemas.microsoft.com/office/drawing/2014/main" id="{AA5216BD-8B11-A92B-2B95-51EE9C6D2AB3}"/>
              </a:ext>
            </a:extLst>
          </p:cNvPr>
          <p:cNvSpPr/>
          <p:nvPr/>
        </p:nvSpPr>
        <p:spPr>
          <a:xfrm>
            <a:off x="2495961" y="6309032"/>
            <a:ext cx="450005" cy="369332"/>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I2: ...</a:t>
            </a:r>
            <a:endParaRPr lang="ja-JP" altLang="en-US" dirty="0">
              <a:solidFill>
                <a:schemeClr val="tx1">
                  <a:lumMod val="65000"/>
                  <a:lumOff val="35000"/>
                </a:schemeClr>
              </a:solidFill>
              <a:latin typeface="Consolas" panose="020B0609020204030204" pitchFamily="49" charset="0"/>
            </a:endParaRPr>
          </a:p>
        </p:txBody>
      </p:sp>
      <p:sp>
        <p:nvSpPr>
          <p:cNvPr id="27" name="Rectangle 69">
            <a:extLst>
              <a:ext uri="{FF2B5EF4-FFF2-40B4-BE49-F238E27FC236}">
                <a16:creationId xmlns:a16="http://schemas.microsoft.com/office/drawing/2014/main" id="{9483F997-127F-87D1-C4F4-81D044B46D14}"/>
              </a:ext>
            </a:extLst>
          </p:cNvPr>
          <p:cNvSpPr>
            <a:spLocks noChangeArrowheads="1"/>
          </p:cNvSpPr>
          <p:nvPr/>
        </p:nvSpPr>
        <p:spPr bwMode="auto">
          <a:xfrm>
            <a:off x="4655984" y="5409022"/>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28" name="Rectangle 70">
            <a:extLst>
              <a:ext uri="{FF2B5EF4-FFF2-40B4-BE49-F238E27FC236}">
                <a16:creationId xmlns:a16="http://schemas.microsoft.com/office/drawing/2014/main" id="{1E67612F-0D2B-D432-0110-04F0C213B01A}"/>
              </a:ext>
            </a:extLst>
          </p:cNvPr>
          <p:cNvSpPr>
            <a:spLocks noChangeArrowheads="1"/>
          </p:cNvSpPr>
          <p:nvPr/>
        </p:nvSpPr>
        <p:spPr bwMode="auto">
          <a:xfrm>
            <a:off x="5105988" y="540902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29" name="Rectangle 71">
            <a:extLst>
              <a:ext uri="{FF2B5EF4-FFF2-40B4-BE49-F238E27FC236}">
                <a16:creationId xmlns:a16="http://schemas.microsoft.com/office/drawing/2014/main" id="{24060467-E40D-8334-59E8-3C8090337476}"/>
              </a:ext>
            </a:extLst>
          </p:cNvPr>
          <p:cNvSpPr>
            <a:spLocks noChangeArrowheads="1"/>
          </p:cNvSpPr>
          <p:nvPr/>
        </p:nvSpPr>
        <p:spPr bwMode="auto">
          <a:xfrm>
            <a:off x="5555994" y="540902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30" name="Rectangle 72">
            <a:extLst>
              <a:ext uri="{FF2B5EF4-FFF2-40B4-BE49-F238E27FC236}">
                <a16:creationId xmlns:a16="http://schemas.microsoft.com/office/drawing/2014/main" id="{CCB97C13-A9EB-A60B-837D-C0F36B066C05}"/>
              </a:ext>
            </a:extLst>
          </p:cNvPr>
          <p:cNvSpPr>
            <a:spLocks noChangeArrowheads="1"/>
          </p:cNvSpPr>
          <p:nvPr/>
        </p:nvSpPr>
        <p:spPr bwMode="auto">
          <a:xfrm>
            <a:off x="6005999" y="540902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31" name="Rectangle 73">
            <a:extLst>
              <a:ext uri="{FF2B5EF4-FFF2-40B4-BE49-F238E27FC236}">
                <a16:creationId xmlns:a16="http://schemas.microsoft.com/office/drawing/2014/main" id="{C32935F9-FE3B-F220-B99C-DCF9B41ED6BD}"/>
              </a:ext>
            </a:extLst>
          </p:cNvPr>
          <p:cNvSpPr>
            <a:spLocks noChangeArrowheads="1"/>
          </p:cNvSpPr>
          <p:nvPr/>
        </p:nvSpPr>
        <p:spPr bwMode="auto">
          <a:xfrm>
            <a:off x="6456003" y="5409022"/>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32" name="Rectangle 69">
            <a:extLst>
              <a:ext uri="{FF2B5EF4-FFF2-40B4-BE49-F238E27FC236}">
                <a16:creationId xmlns:a16="http://schemas.microsoft.com/office/drawing/2014/main" id="{3A64BEAE-4BB5-DD69-6A95-079C4397015B}"/>
              </a:ext>
            </a:extLst>
          </p:cNvPr>
          <p:cNvSpPr>
            <a:spLocks noChangeArrowheads="1"/>
          </p:cNvSpPr>
          <p:nvPr/>
        </p:nvSpPr>
        <p:spPr bwMode="auto">
          <a:xfrm>
            <a:off x="5105991" y="5859027"/>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33" name="Rectangle 70">
            <a:extLst>
              <a:ext uri="{FF2B5EF4-FFF2-40B4-BE49-F238E27FC236}">
                <a16:creationId xmlns:a16="http://schemas.microsoft.com/office/drawing/2014/main" id="{364F385E-15E7-4C25-F7A9-67C9DA98971B}"/>
              </a:ext>
            </a:extLst>
          </p:cNvPr>
          <p:cNvSpPr>
            <a:spLocks noChangeArrowheads="1"/>
          </p:cNvSpPr>
          <p:nvPr/>
        </p:nvSpPr>
        <p:spPr bwMode="auto">
          <a:xfrm>
            <a:off x="6906010" y="5859027"/>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34" name="Rectangle 71">
            <a:extLst>
              <a:ext uri="{FF2B5EF4-FFF2-40B4-BE49-F238E27FC236}">
                <a16:creationId xmlns:a16="http://schemas.microsoft.com/office/drawing/2014/main" id="{E823B201-0B22-32DD-2AFF-9CE3A989E91C}"/>
              </a:ext>
            </a:extLst>
          </p:cNvPr>
          <p:cNvSpPr>
            <a:spLocks noChangeArrowheads="1"/>
          </p:cNvSpPr>
          <p:nvPr/>
        </p:nvSpPr>
        <p:spPr bwMode="auto">
          <a:xfrm>
            <a:off x="7356016" y="5859027"/>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35" name="Rectangle 72">
            <a:extLst>
              <a:ext uri="{FF2B5EF4-FFF2-40B4-BE49-F238E27FC236}">
                <a16:creationId xmlns:a16="http://schemas.microsoft.com/office/drawing/2014/main" id="{0A705251-D23C-2A48-B5DD-677EFE3F7AB8}"/>
              </a:ext>
            </a:extLst>
          </p:cNvPr>
          <p:cNvSpPr>
            <a:spLocks noChangeArrowheads="1"/>
          </p:cNvSpPr>
          <p:nvPr/>
        </p:nvSpPr>
        <p:spPr bwMode="auto">
          <a:xfrm>
            <a:off x="7806021" y="5859027"/>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36" name="Rectangle 73">
            <a:extLst>
              <a:ext uri="{FF2B5EF4-FFF2-40B4-BE49-F238E27FC236}">
                <a16:creationId xmlns:a16="http://schemas.microsoft.com/office/drawing/2014/main" id="{0C3B088C-CFD4-F7F2-4D39-05BF79170959}"/>
              </a:ext>
            </a:extLst>
          </p:cNvPr>
          <p:cNvSpPr>
            <a:spLocks noChangeArrowheads="1"/>
          </p:cNvSpPr>
          <p:nvPr/>
        </p:nvSpPr>
        <p:spPr bwMode="auto">
          <a:xfrm>
            <a:off x="8256025" y="5859027"/>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37" name="Rectangle 69">
            <a:extLst>
              <a:ext uri="{FF2B5EF4-FFF2-40B4-BE49-F238E27FC236}">
                <a16:creationId xmlns:a16="http://schemas.microsoft.com/office/drawing/2014/main" id="{17F664A7-46DF-E28C-6534-13291E2BFDB6}"/>
              </a:ext>
            </a:extLst>
          </p:cNvPr>
          <p:cNvSpPr>
            <a:spLocks noChangeArrowheads="1"/>
          </p:cNvSpPr>
          <p:nvPr/>
        </p:nvSpPr>
        <p:spPr bwMode="auto">
          <a:xfrm>
            <a:off x="6906010" y="6309032"/>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38" name="Rectangle 70">
            <a:extLst>
              <a:ext uri="{FF2B5EF4-FFF2-40B4-BE49-F238E27FC236}">
                <a16:creationId xmlns:a16="http://schemas.microsoft.com/office/drawing/2014/main" id="{002EDF5E-7C02-0876-CF97-22073FF2311D}"/>
              </a:ext>
            </a:extLst>
          </p:cNvPr>
          <p:cNvSpPr>
            <a:spLocks noChangeArrowheads="1"/>
          </p:cNvSpPr>
          <p:nvPr/>
        </p:nvSpPr>
        <p:spPr bwMode="auto">
          <a:xfrm>
            <a:off x="7356014" y="630903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39" name="Rectangle 71">
            <a:extLst>
              <a:ext uri="{FF2B5EF4-FFF2-40B4-BE49-F238E27FC236}">
                <a16:creationId xmlns:a16="http://schemas.microsoft.com/office/drawing/2014/main" id="{C5475903-2C2A-27F5-F036-BAF9561E6508}"/>
              </a:ext>
            </a:extLst>
          </p:cNvPr>
          <p:cNvSpPr>
            <a:spLocks noChangeArrowheads="1"/>
          </p:cNvSpPr>
          <p:nvPr/>
        </p:nvSpPr>
        <p:spPr bwMode="auto">
          <a:xfrm>
            <a:off x="7806020" y="630903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0" name="Rectangle 72">
            <a:extLst>
              <a:ext uri="{FF2B5EF4-FFF2-40B4-BE49-F238E27FC236}">
                <a16:creationId xmlns:a16="http://schemas.microsoft.com/office/drawing/2014/main" id="{C7B69C80-ED30-8949-2C42-3BC478495849}"/>
              </a:ext>
            </a:extLst>
          </p:cNvPr>
          <p:cNvSpPr>
            <a:spLocks noChangeArrowheads="1"/>
          </p:cNvSpPr>
          <p:nvPr/>
        </p:nvSpPr>
        <p:spPr bwMode="auto">
          <a:xfrm>
            <a:off x="8256025" y="6309032"/>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1" name="Rectangle 73">
            <a:extLst>
              <a:ext uri="{FF2B5EF4-FFF2-40B4-BE49-F238E27FC236}">
                <a16:creationId xmlns:a16="http://schemas.microsoft.com/office/drawing/2014/main" id="{18FDAD98-10F9-9182-6287-A1C9E26DDAEA}"/>
              </a:ext>
            </a:extLst>
          </p:cNvPr>
          <p:cNvSpPr>
            <a:spLocks noChangeArrowheads="1"/>
          </p:cNvSpPr>
          <p:nvPr/>
        </p:nvSpPr>
        <p:spPr bwMode="auto">
          <a:xfrm>
            <a:off x="8706029" y="6309032"/>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3" name="正方形/長方形 42">
            <a:extLst>
              <a:ext uri="{FF2B5EF4-FFF2-40B4-BE49-F238E27FC236}">
                <a16:creationId xmlns:a16="http://schemas.microsoft.com/office/drawing/2014/main" id="{91ED77D1-F093-D21C-50E9-8C0174E20E94}"/>
              </a:ext>
            </a:extLst>
          </p:cNvPr>
          <p:cNvSpPr/>
          <p:nvPr/>
        </p:nvSpPr>
        <p:spPr>
          <a:xfrm>
            <a:off x="2045957" y="2798994"/>
            <a:ext cx="450005" cy="646331"/>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I0 </a:t>
            </a:r>
            <a:r>
              <a:rPr lang="ja-JP" altLang="en-US" dirty="0">
                <a:solidFill>
                  <a:schemeClr val="tx1">
                    <a:lumMod val="65000"/>
                    <a:lumOff val="35000"/>
                  </a:schemeClr>
                </a:solidFill>
                <a:latin typeface="Consolas" panose="020B0609020204030204" pitchFamily="49" charset="0"/>
              </a:rPr>
              <a:t>の結果を </a:t>
            </a:r>
            <a:r>
              <a:rPr lang="en-US" altLang="ja-JP" dirty="0">
                <a:solidFill>
                  <a:schemeClr val="tx1">
                    <a:lumMod val="65000"/>
                    <a:lumOff val="35000"/>
                  </a:schemeClr>
                </a:solidFill>
                <a:latin typeface="Consolas" panose="020B0609020204030204" pitchFamily="49" charset="0"/>
              </a:rPr>
              <a:t>I1 </a:t>
            </a:r>
            <a:r>
              <a:rPr lang="ja-JP" altLang="en-US" dirty="0">
                <a:solidFill>
                  <a:schemeClr val="tx1">
                    <a:lumMod val="65000"/>
                    <a:lumOff val="35000"/>
                  </a:schemeClr>
                </a:solidFill>
                <a:latin typeface="Consolas" panose="020B0609020204030204" pitchFamily="49" charset="0"/>
              </a:rPr>
              <a:t>にフォワーディング</a:t>
            </a:r>
          </a:p>
        </p:txBody>
      </p:sp>
      <p:sp>
        <p:nvSpPr>
          <p:cNvPr id="44" name="正方形/長方形 43">
            <a:extLst>
              <a:ext uri="{FF2B5EF4-FFF2-40B4-BE49-F238E27FC236}">
                <a16:creationId xmlns:a16="http://schemas.microsoft.com/office/drawing/2014/main" id="{ED3B1597-31BB-54F6-AAAC-F1C8AC9C5C93}"/>
              </a:ext>
            </a:extLst>
          </p:cNvPr>
          <p:cNvSpPr/>
          <p:nvPr/>
        </p:nvSpPr>
        <p:spPr>
          <a:xfrm>
            <a:off x="2045956" y="4869017"/>
            <a:ext cx="450005" cy="646331"/>
          </a:xfrm>
          <a:prstGeom prst="rect">
            <a:avLst/>
          </a:prstGeom>
        </p:spPr>
        <p:txBody>
          <a:bodyPr wrap="none">
            <a:noAutofit/>
          </a:bodyPr>
          <a:lstStyle/>
          <a:p>
            <a:r>
              <a:rPr lang="ja-JP" altLang="en-US" dirty="0">
                <a:solidFill>
                  <a:schemeClr val="tx1">
                    <a:lumMod val="65000"/>
                    <a:lumOff val="35000"/>
                  </a:schemeClr>
                </a:solidFill>
                <a:latin typeface="Consolas" panose="020B0609020204030204" pitchFamily="49" charset="0"/>
              </a:rPr>
              <a:t>フォワーディングを実装しない場合，バブルが生じる</a:t>
            </a:r>
          </a:p>
        </p:txBody>
      </p:sp>
      <p:sp>
        <p:nvSpPr>
          <p:cNvPr id="45" name="Rectangle 70">
            <a:extLst>
              <a:ext uri="{FF2B5EF4-FFF2-40B4-BE49-F238E27FC236}">
                <a16:creationId xmlns:a16="http://schemas.microsoft.com/office/drawing/2014/main" id="{25E2C719-DE37-B887-879C-100266D1F50C}"/>
              </a:ext>
            </a:extLst>
          </p:cNvPr>
          <p:cNvSpPr>
            <a:spLocks noChangeArrowheads="1"/>
          </p:cNvSpPr>
          <p:nvPr/>
        </p:nvSpPr>
        <p:spPr bwMode="auto">
          <a:xfrm>
            <a:off x="5555996" y="5859027"/>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bb</a:t>
            </a:r>
          </a:p>
        </p:txBody>
      </p:sp>
      <p:sp>
        <p:nvSpPr>
          <p:cNvPr id="46" name="Rectangle 70">
            <a:extLst>
              <a:ext uri="{FF2B5EF4-FFF2-40B4-BE49-F238E27FC236}">
                <a16:creationId xmlns:a16="http://schemas.microsoft.com/office/drawing/2014/main" id="{6E7C75F1-1622-52EF-B8E7-16BEA9382A71}"/>
              </a:ext>
            </a:extLst>
          </p:cNvPr>
          <p:cNvSpPr>
            <a:spLocks noChangeArrowheads="1"/>
          </p:cNvSpPr>
          <p:nvPr/>
        </p:nvSpPr>
        <p:spPr bwMode="auto">
          <a:xfrm>
            <a:off x="6006001" y="5859027"/>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bb</a:t>
            </a:r>
          </a:p>
        </p:txBody>
      </p:sp>
      <p:sp>
        <p:nvSpPr>
          <p:cNvPr id="47" name="Rectangle 70">
            <a:extLst>
              <a:ext uri="{FF2B5EF4-FFF2-40B4-BE49-F238E27FC236}">
                <a16:creationId xmlns:a16="http://schemas.microsoft.com/office/drawing/2014/main" id="{9F5D2619-7B8E-A1B9-86FC-3FC119A06B08}"/>
              </a:ext>
            </a:extLst>
          </p:cNvPr>
          <p:cNvSpPr>
            <a:spLocks noChangeArrowheads="1"/>
          </p:cNvSpPr>
          <p:nvPr/>
        </p:nvSpPr>
        <p:spPr bwMode="auto">
          <a:xfrm>
            <a:off x="6456006" y="5859027"/>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bb</a:t>
            </a:r>
          </a:p>
        </p:txBody>
      </p:sp>
    </p:spTree>
    <p:extLst>
      <p:ext uri="{BB962C8B-B14F-4D97-AF65-F5344CB8AC3E}">
        <p14:creationId xmlns:p14="http://schemas.microsoft.com/office/powerpoint/2010/main" val="31393938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シングル・サイクル・プロセッサ の性能</a:t>
            </a:r>
            <a:endParaRPr kumimoji="1" lang="ja-JP" altLang="en-US" dirty="0"/>
          </a:p>
        </p:txBody>
      </p:sp>
      <p:sp>
        <p:nvSpPr>
          <p:cNvPr id="35" name="コンテンツ プレースホルダー 34">
            <a:extLst>
              <a:ext uri="{FF2B5EF4-FFF2-40B4-BE49-F238E27FC236}">
                <a16:creationId xmlns:a16="http://schemas.microsoft.com/office/drawing/2014/main" id="{B8270401-5B5C-2481-4ADE-07DC610E53EF}"/>
              </a:ext>
            </a:extLst>
          </p:cNvPr>
          <p:cNvSpPr>
            <a:spLocks noGrp="1"/>
          </p:cNvSpPr>
          <p:nvPr>
            <p:ph type="body" sz="quarter" idx="10"/>
          </p:nvPr>
        </p:nvSpPr>
        <p:spPr>
          <a:xfrm>
            <a:off x="2135956" y="4599013"/>
            <a:ext cx="7920088" cy="1710019"/>
          </a:xfrm>
        </p:spPr>
        <p:txBody>
          <a:bodyPr/>
          <a:lstStyle/>
          <a:p>
            <a:pPr lvl="1"/>
            <a:r>
              <a:rPr lang="en-US" altLang="ja-JP" dirty="0">
                <a:solidFill>
                  <a:schemeClr val="tx1">
                    <a:lumMod val="65000"/>
                    <a:lumOff val="35000"/>
                  </a:schemeClr>
                </a:solidFill>
              </a:rPr>
              <a:t>IPC = 1</a:t>
            </a:r>
            <a:r>
              <a:rPr lang="ja-JP" altLang="en-US" dirty="0">
                <a:solidFill>
                  <a:schemeClr val="tx1">
                    <a:lumMod val="65000"/>
                    <a:lumOff val="35000"/>
                  </a:schemeClr>
                </a:solidFill>
              </a:rPr>
              <a:t>命令</a:t>
            </a:r>
            <a:r>
              <a:rPr lang="en-US" altLang="ja-JP" dirty="0">
                <a:solidFill>
                  <a:schemeClr val="tx1">
                    <a:lumMod val="65000"/>
                    <a:lumOff val="35000"/>
                  </a:schemeClr>
                </a:solidFill>
              </a:rPr>
              <a:t> / 1</a:t>
            </a:r>
            <a:r>
              <a:rPr lang="ja-JP" altLang="en-US" dirty="0">
                <a:solidFill>
                  <a:schemeClr val="tx1">
                    <a:lumMod val="65000"/>
                    <a:lumOff val="35000"/>
                  </a:schemeClr>
                </a:solidFill>
              </a:rPr>
              <a:t>サイクル</a:t>
            </a:r>
            <a:r>
              <a:rPr lang="en-US" altLang="ja-JP" dirty="0">
                <a:solidFill>
                  <a:schemeClr val="tx1">
                    <a:lumMod val="65000"/>
                    <a:lumOff val="35000"/>
                  </a:schemeClr>
                </a:solidFill>
              </a:rPr>
              <a:t> = </a:t>
            </a:r>
            <a:r>
              <a:rPr lang="en-US" altLang="ja-JP" dirty="0">
                <a:solidFill>
                  <a:schemeClr val="accent5"/>
                </a:solidFill>
              </a:rPr>
              <a:t>1</a:t>
            </a:r>
          </a:p>
          <a:p>
            <a:pPr lvl="1"/>
            <a:r>
              <a:rPr lang="ja-JP" altLang="en-US" dirty="0">
                <a:solidFill>
                  <a:schemeClr val="tx1">
                    <a:lumMod val="75000"/>
                    <a:lumOff val="25000"/>
                  </a:schemeClr>
                </a:solidFill>
              </a:rPr>
              <a:t>周波数</a:t>
            </a:r>
            <a:r>
              <a:rPr lang="en-US" altLang="ja-JP" dirty="0">
                <a:solidFill>
                  <a:schemeClr val="tx1">
                    <a:lumMod val="65000"/>
                    <a:lumOff val="35000"/>
                  </a:schemeClr>
                </a:solidFill>
              </a:rPr>
              <a:t> = 1</a:t>
            </a:r>
            <a:r>
              <a:rPr lang="ja-JP" altLang="en-US" dirty="0">
                <a:solidFill>
                  <a:schemeClr val="tx1">
                    <a:lumMod val="65000"/>
                    <a:lumOff val="35000"/>
                  </a:schemeClr>
                </a:solidFill>
              </a:rPr>
              <a:t>秒</a:t>
            </a:r>
            <a:r>
              <a:rPr lang="en-US" altLang="ja-JP" dirty="0">
                <a:solidFill>
                  <a:schemeClr val="tx1">
                    <a:lumMod val="65000"/>
                    <a:lumOff val="35000"/>
                  </a:schemeClr>
                </a:solidFill>
              </a:rPr>
              <a:t> / 5ns = </a:t>
            </a:r>
            <a:r>
              <a:rPr lang="en-US" altLang="ja-JP" dirty="0">
                <a:solidFill>
                  <a:schemeClr val="accent5"/>
                </a:solidFill>
              </a:rPr>
              <a:t>200 MHz</a:t>
            </a:r>
            <a:r>
              <a:rPr lang="ja-JP" altLang="en-US" dirty="0">
                <a:solidFill>
                  <a:schemeClr val="accent5"/>
                </a:solidFill>
              </a:rPr>
              <a:t>（</a:t>
            </a:r>
            <a:r>
              <a:rPr lang="en-US" altLang="ja-JP" dirty="0">
                <a:solidFill>
                  <a:schemeClr val="accent5"/>
                </a:solidFill>
              </a:rPr>
              <a:t>M = </a:t>
            </a:r>
            <a:r>
              <a:rPr lang="ja-JP" altLang="en-US" dirty="0">
                <a:solidFill>
                  <a:schemeClr val="accent5"/>
                </a:solidFill>
              </a:rPr>
              <a:t>メガ</a:t>
            </a:r>
            <a:r>
              <a:rPr lang="en-US" altLang="ja-JP" dirty="0">
                <a:solidFill>
                  <a:schemeClr val="accent5"/>
                </a:solidFill>
              </a:rPr>
              <a:t> 100</a:t>
            </a:r>
            <a:r>
              <a:rPr lang="ja-JP" altLang="en-US" dirty="0">
                <a:solidFill>
                  <a:schemeClr val="accent5"/>
                </a:solidFill>
              </a:rPr>
              <a:t>万）</a:t>
            </a:r>
            <a:endParaRPr lang="en-US" altLang="ja-JP" dirty="0">
              <a:solidFill>
                <a:schemeClr val="accent5"/>
              </a:solidFill>
            </a:endParaRPr>
          </a:p>
          <a:p>
            <a:pPr lvl="1"/>
            <a:r>
              <a:rPr lang="ja-JP" altLang="en-US" dirty="0">
                <a:solidFill>
                  <a:schemeClr val="tx1">
                    <a:lumMod val="75000"/>
                    <a:lumOff val="25000"/>
                  </a:schemeClr>
                </a:solidFill>
              </a:rPr>
              <a:t>性能（</a:t>
            </a:r>
            <a:r>
              <a:rPr lang="en-US" altLang="ja-JP" dirty="0">
                <a:solidFill>
                  <a:schemeClr val="tx1">
                    <a:lumMod val="75000"/>
                    <a:lumOff val="25000"/>
                  </a:schemeClr>
                </a:solidFill>
              </a:rPr>
              <a:t>1</a:t>
            </a:r>
            <a:r>
              <a:rPr lang="ja-JP" altLang="en-US" dirty="0">
                <a:solidFill>
                  <a:schemeClr val="tx1">
                    <a:lumMod val="75000"/>
                    <a:lumOff val="25000"/>
                  </a:schemeClr>
                </a:solidFill>
              </a:rPr>
              <a:t>秒あたりの命令数）</a:t>
            </a:r>
            <a:r>
              <a:rPr lang="en-US" altLang="ja-JP" dirty="0">
                <a:solidFill>
                  <a:schemeClr val="tx1">
                    <a:lumMod val="75000"/>
                    <a:lumOff val="25000"/>
                  </a:schemeClr>
                </a:solidFill>
              </a:rPr>
              <a:t>=</a:t>
            </a:r>
            <a:r>
              <a:rPr lang="ja-JP" altLang="en-US" dirty="0">
                <a:solidFill>
                  <a:schemeClr val="accent5"/>
                </a:solidFill>
              </a:rPr>
              <a:t> </a:t>
            </a:r>
            <a:r>
              <a:rPr lang="en-US" altLang="ja-JP" dirty="0">
                <a:solidFill>
                  <a:schemeClr val="tx1">
                    <a:lumMod val="75000"/>
                    <a:lumOff val="25000"/>
                  </a:schemeClr>
                </a:solidFill>
              </a:rPr>
              <a:t>IPC*</a:t>
            </a:r>
            <a:r>
              <a:rPr lang="ja-JP" altLang="en-US" dirty="0">
                <a:solidFill>
                  <a:schemeClr val="tx1">
                    <a:lumMod val="75000"/>
                    <a:lumOff val="25000"/>
                  </a:schemeClr>
                </a:solidFill>
              </a:rPr>
              <a:t>周波数</a:t>
            </a:r>
            <a:r>
              <a:rPr lang="ja-JP" altLang="en-US" dirty="0">
                <a:solidFill>
                  <a:schemeClr val="accent5"/>
                </a:solidFill>
              </a:rPr>
              <a:t> </a:t>
            </a:r>
            <a:r>
              <a:rPr lang="en-US" altLang="ja-JP" dirty="0">
                <a:solidFill>
                  <a:schemeClr val="accent5"/>
                </a:solidFill>
              </a:rPr>
              <a:t>= </a:t>
            </a:r>
            <a:r>
              <a:rPr lang="ja-JP" altLang="en-US" dirty="0">
                <a:solidFill>
                  <a:schemeClr val="accent5"/>
                </a:solidFill>
              </a:rPr>
              <a:t>秒間 </a:t>
            </a:r>
            <a:r>
              <a:rPr lang="en-US" altLang="ja-JP" dirty="0">
                <a:solidFill>
                  <a:schemeClr val="accent5"/>
                </a:solidFill>
              </a:rPr>
              <a:t>200 M </a:t>
            </a:r>
            <a:r>
              <a:rPr lang="ja-JP" altLang="en-US" dirty="0">
                <a:solidFill>
                  <a:schemeClr val="accent5"/>
                </a:solidFill>
              </a:rPr>
              <a:t>命令</a:t>
            </a:r>
            <a:endParaRPr lang="en-US" dirty="0"/>
          </a:p>
        </p:txBody>
      </p:sp>
      <p:sp>
        <p:nvSpPr>
          <p:cNvPr id="163" name="Rectangle 69"/>
          <p:cNvSpPr>
            <a:spLocks noChangeArrowheads="1"/>
          </p:cNvSpPr>
          <p:nvPr/>
        </p:nvSpPr>
        <p:spPr bwMode="auto">
          <a:xfrm>
            <a:off x="2495961" y="234898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64" name="Rectangle 70"/>
          <p:cNvSpPr>
            <a:spLocks noChangeArrowheads="1"/>
          </p:cNvSpPr>
          <p:nvPr/>
        </p:nvSpPr>
        <p:spPr bwMode="auto">
          <a:xfrm>
            <a:off x="2945965" y="234898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65" name="Rectangle 71"/>
          <p:cNvSpPr>
            <a:spLocks noChangeArrowheads="1"/>
          </p:cNvSpPr>
          <p:nvPr/>
        </p:nvSpPr>
        <p:spPr bwMode="auto">
          <a:xfrm>
            <a:off x="3395971" y="234898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66" name="Rectangle 72"/>
          <p:cNvSpPr>
            <a:spLocks noChangeArrowheads="1"/>
          </p:cNvSpPr>
          <p:nvPr/>
        </p:nvSpPr>
        <p:spPr bwMode="auto">
          <a:xfrm>
            <a:off x="3845976" y="234898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67" name="Rectangle 73"/>
          <p:cNvSpPr>
            <a:spLocks noChangeArrowheads="1"/>
          </p:cNvSpPr>
          <p:nvPr/>
        </p:nvSpPr>
        <p:spPr bwMode="auto">
          <a:xfrm>
            <a:off x="4295980" y="234898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cxnSp>
        <p:nvCxnSpPr>
          <p:cNvPr id="9" name="直線矢印コネクタ 8">
            <a:extLst>
              <a:ext uri="{FF2B5EF4-FFF2-40B4-BE49-F238E27FC236}">
                <a16:creationId xmlns:a16="http://schemas.microsoft.com/office/drawing/2014/main" id="{157B58F2-B969-1A3F-020A-AEA348CAEB44}"/>
              </a:ext>
            </a:extLst>
          </p:cNvPr>
          <p:cNvCxnSpPr>
            <a:cxnSpLocks/>
          </p:cNvCxnSpPr>
          <p:nvPr/>
        </p:nvCxnSpPr>
        <p:spPr bwMode="auto">
          <a:xfrm>
            <a:off x="2495961" y="2258987"/>
            <a:ext cx="225002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0" name="正方形/長方形 9">
            <a:extLst>
              <a:ext uri="{FF2B5EF4-FFF2-40B4-BE49-F238E27FC236}">
                <a16:creationId xmlns:a16="http://schemas.microsoft.com/office/drawing/2014/main" id="{5DFFE877-7C03-23A0-352A-C3CE599B7613}"/>
              </a:ext>
            </a:extLst>
          </p:cNvPr>
          <p:cNvSpPr/>
          <p:nvPr/>
        </p:nvSpPr>
        <p:spPr>
          <a:xfrm>
            <a:off x="2495961" y="1628981"/>
            <a:ext cx="2250025" cy="646331"/>
          </a:xfrm>
          <a:prstGeom prst="rect">
            <a:avLst/>
          </a:prstGeom>
        </p:spPr>
        <p:txBody>
          <a:bodyPr wrap="square">
            <a:spAutoFit/>
          </a:bodyPr>
          <a:lstStyle/>
          <a:p>
            <a:pPr algn="ctr"/>
            <a:r>
              <a:rPr lang="en-US" altLang="ja-JP" dirty="0">
                <a:solidFill>
                  <a:schemeClr val="tx1">
                    <a:lumMod val="65000"/>
                    <a:lumOff val="35000"/>
                  </a:schemeClr>
                </a:solidFill>
              </a:rPr>
              <a:t>5 nano second</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cxnSp>
        <p:nvCxnSpPr>
          <p:cNvPr id="11" name="直線矢印コネクタ 10">
            <a:extLst>
              <a:ext uri="{FF2B5EF4-FFF2-40B4-BE49-F238E27FC236}">
                <a16:creationId xmlns:a16="http://schemas.microsoft.com/office/drawing/2014/main" id="{F24D315C-DD16-9081-081F-2709D87EE14F}"/>
              </a:ext>
            </a:extLst>
          </p:cNvPr>
          <p:cNvCxnSpPr>
            <a:cxnSpLocks/>
          </p:cNvCxnSpPr>
          <p:nvPr/>
        </p:nvCxnSpPr>
        <p:spPr bwMode="auto">
          <a:xfrm>
            <a:off x="4745986" y="2258987"/>
            <a:ext cx="225002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14" name="直線矢印コネクタ 13">
            <a:extLst>
              <a:ext uri="{FF2B5EF4-FFF2-40B4-BE49-F238E27FC236}">
                <a16:creationId xmlns:a16="http://schemas.microsoft.com/office/drawing/2014/main" id="{46B2DA16-7912-F71C-87E5-71C6A4318A6C}"/>
              </a:ext>
            </a:extLst>
          </p:cNvPr>
          <p:cNvCxnSpPr>
            <a:cxnSpLocks/>
          </p:cNvCxnSpPr>
          <p:nvPr/>
        </p:nvCxnSpPr>
        <p:spPr bwMode="auto">
          <a:xfrm>
            <a:off x="6996011" y="2258987"/>
            <a:ext cx="225002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8" name="正方形/長方形 17">
            <a:extLst>
              <a:ext uri="{FF2B5EF4-FFF2-40B4-BE49-F238E27FC236}">
                <a16:creationId xmlns:a16="http://schemas.microsoft.com/office/drawing/2014/main" id="{842DC25E-D905-548B-B524-078E9180232F}"/>
              </a:ext>
            </a:extLst>
          </p:cNvPr>
          <p:cNvSpPr/>
          <p:nvPr/>
        </p:nvSpPr>
        <p:spPr>
          <a:xfrm>
            <a:off x="1865954" y="234898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19" name="正方形/長方形 18">
            <a:extLst>
              <a:ext uri="{FF2B5EF4-FFF2-40B4-BE49-F238E27FC236}">
                <a16:creationId xmlns:a16="http://schemas.microsoft.com/office/drawing/2014/main" id="{44BE2AF5-A875-5784-4C41-EC5D5BE957C5}"/>
              </a:ext>
            </a:extLst>
          </p:cNvPr>
          <p:cNvSpPr/>
          <p:nvPr/>
        </p:nvSpPr>
        <p:spPr>
          <a:xfrm>
            <a:off x="1865954" y="2798993"/>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20" name="正方形/長方形 19">
            <a:extLst>
              <a:ext uri="{FF2B5EF4-FFF2-40B4-BE49-F238E27FC236}">
                <a16:creationId xmlns:a16="http://schemas.microsoft.com/office/drawing/2014/main" id="{8A302DEA-B7EB-2ED5-2902-CB3D9432A7CD}"/>
              </a:ext>
            </a:extLst>
          </p:cNvPr>
          <p:cNvSpPr/>
          <p:nvPr/>
        </p:nvSpPr>
        <p:spPr>
          <a:xfrm>
            <a:off x="1865954" y="324899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33" name="正方形/長方形 32">
            <a:extLst>
              <a:ext uri="{FF2B5EF4-FFF2-40B4-BE49-F238E27FC236}">
                <a16:creationId xmlns:a16="http://schemas.microsoft.com/office/drawing/2014/main" id="{AE713051-B95F-0EC2-D0B5-883EF303EE9E}"/>
              </a:ext>
            </a:extLst>
          </p:cNvPr>
          <p:cNvSpPr/>
          <p:nvPr/>
        </p:nvSpPr>
        <p:spPr>
          <a:xfrm>
            <a:off x="4655985" y="1628981"/>
            <a:ext cx="2250025" cy="646331"/>
          </a:xfrm>
          <a:prstGeom prst="rect">
            <a:avLst/>
          </a:prstGeom>
        </p:spPr>
        <p:txBody>
          <a:bodyPr wrap="square">
            <a:spAutoFit/>
          </a:bodyPr>
          <a:lstStyle/>
          <a:p>
            <a:pPr algn="ctr"/>
            <a:r>
              <a:rPr lang="en-US" altLang="ja-JP" dirty="0">
                <a:solidFill>
                  <a:schemeClr val="tx1">
                    <a:lumMod val="65000"/>
                    <a:lumOff val="35000"/>
                  </a:schemeClr>
                </a:solidFill>
              </a:rPr>
              <a:t>5ns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34" name="正方形/長方形 33">
            <a:extLst>
              <a:ext uri="{FF2B5EF4-FFF2-40B4-BE49-F238E27FC236}">
                <a16:creationId xmlns:a16="http://schemas.microsoft.com/office/drawing/2014/main" id="{24374C40-7947-08D3-0143-A33C626B6207}"/>
              </a:ext>
            </a:extLst>
          </p:cNvPr>
          <p:cNvSpPr/>
          <p:nvPr/>
        </p:nvSpPr>
        <p:spPr>
          <a:xfrm>
            <a:off x="6996011" y="1628981"/>
            <a:ext cx="2250025" cy="646331"/>
          </a:xfrm>
          <a:prstGeom prst="rect">
            <a:avLst/>
          </a:prstGeom>
        </p:spPr>
        <p:txBody>
          <a:bodyPr wrap="square">
            <a:spAutoFit/>
          </a:bodyPr>
          <a:lstStyle/>
          <a:p>
            <a:pPr algn="ctr"/>
            <a:r>
              <a:rPr lang="en-US" altLang="ja-JP" dirty="0">
                <a:solidFill>
                  <a:schemeClr val="tx1">
                    <a:lumMod val="65000"/>
                    <a:lumOff val="35000"/>
                  </a:schemeClr>
                </a:solidFill>
              </a:rPr>
              <a:t>5ns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36" name="Rectangle 69">
            <a:extLst>
              <a:ext uri="{FF2B5EF4-FFF2-40B4-BE49-F238E27FC236}">
                <a16:creationId xmlns:a16="http://schemas.microsoft.com/office/drawing/2014/main" id="{C0B0648F-C06F-8274-C463-A03AB56E2540}"/>
              </a:ext>
            </a:extLst>
          </p:cNvPr>
          <p:cNvSpPr>
            <a:spLocks noChangeArrowheads="1"/>
          </p:cNvSpPr>
          <p:nvPr/>
        </p:nvSpPr>
        <p:spPr bwMode="auto">
          <a:xfrm>
            <a:off x="4745986" y="279899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37" name="Rectangle 70">
            <a:extLst>
              <a:ext uri="{FF2B5EF4-FFF2-40B4-BE49-F238E27FC236}">
                <a16:creationId xmlns:a16="http://schemas.microsoft.com/office/drawing/2014/main" id="{74B82135-7FB5-EDE1-00F4-9196E95B4404}"/>
              </a:ext>
            </a:extLst>
          </p:cNvPr>
          <p:cNvSpPr>
            <a:spLocks noChangeArrowheads="1"/>
          </p:cNvSpPr>
          <p:nvPr/>
        </p:nvSpPr>
        <p:spPr bwMode="auto">
          <a:xfrm>
            <a:off x="5195990"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38" name="Rectangle 71">
            <a:extLst>
              <a:ext uri="{FF2B5EF4-FFF2-40B4-BE49-F238E27FC236}">
                <a16:creationId xmlns:a16="http://schemas.microsoft.com/office/drawing/2014/main" id="{C4D8A910-54E4-5C6D-C0F2-5CD318797182}"/>
              </a:ext>
            </a:extLst>
          </p:cNvPr>
          <p:cNvSpPr>
            <a:spLocks noChangeArrowheads="1"/>
          </p:cNvSpPr>
          <p:nvPr/>
        </p:nvSpPr>
        <p:spPr bwMode="auto">
          <a:xfrm>
            <a:off x="5645996"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39" name="Rectangle 72">
            <a:extLst>
              <a:ext uri="{FF2B5EF4-FFF2-40B4-BE49-F238E27FC236}">
                <a16:creationId xmlns:a16="http://schemas.microsoft.com/office/drawing/2014/main" id="{AF36B9B5-5F17-3424-39E4-6AAD4ADC8D71}"/>
              </a:ext>
            </a:extLst>
          </p:cNvPr>
          <p:cNvSpPr>
            <a:spLocks noChangeArrowheads="1"/>
          </p:cNvSpPr>
          <p:nvPr/>
        </p:nvSpPr>
        <p:spPr bwMode="auto">
          <a:xfrm>
            <a:off x="6096001" y="279899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1" name="Rectangle 73">
            <a:extLst>
              <a:ext uri="{FF2B5EF4-FFF2-40B4-BE49-F238E27FC236}">
                <a16:creationId xmlns:a16="http://schemas.microsoft.com/office/drawing/2014/main" id="{FEF831BC-FC51-1294-22A1-35139F830B1E}"/>
              </a:ext>
            </a:extLst>
          </p:cNvPr>
          <p:cNvSpPr>
            <a:spLocks noChangeArrowheads="1"/>
          </p:cNvSpPr>
          <p:nvPr/>
        </p:nvSpPr>
        <p:spPr bwMode="auto">
          <a:xfrm>
            <a:off x="6546005" y="279899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nvGrpSpPr>
          <p:cNvPr id="48" name="グループ化 47">
            <a:extLst>
              <a:ext uri="{FF2B5EF4-FFF2-40B4-BE49-F238E27FC236}">
                <a16:creationId xmlns:a16="http://schemas.microsoft.com/office/drawing/2014/main" id="{702406D2-785B-6B6E-F860-87ADD21D558F}"/>
              </a:ext>
            </a:extLst>
          </p:cNvPr>
          <p:cNvGrpSpPr/>
          <p:nvPr/>
        </p:nvGrpSpPr>
        <p:grpSpPr>
          <a:xfrm>
            <a:off x="6996012" y="3248998"/>
            <a:ext cx="2250023" cy="360000"/>
            <a:chOff x="5472011" y="3248998"/>
            <a:chExt cx="2250023" cy="360000"/>
          </a:xfrm>
        </p:grpSpPr>
        <p:sp>
          <p:nvSpPr>
            <p:cNvPr id="42" name="Rectangle 69">
              <a:extLst>
                <a:ext uri="{FF2B5EF4-FFF2-40B4-BE49-F238E27FC236}">
                  <a16:creationId xmlns:a16="http://schemas.microsoft.com/office/drawing/2014/main" id="{6DFE5CD5-B379-C794-1EF6-3A84436AE7E8}"/>
                </a:ext>
              </a:extLst>
            </p:cNvPr>
            <p:cNvSpPr>
              <a:spLocks noChangeArrowheads="1"/>
            </p:cNvSpPr>
            <p:nvPr/>
          </p:nvSpPr>
          <p:spPr bwMode="auto">
            <a:xfrm>
              <a:off x="5472011"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3" name="Rectangle 70">
              <a:extLst>
                <a:ext uri="{FF2B5EF4-FFF2-40B4-BE49-F238E27FC236}">
                  <a16:creationId xmlns:a16="http://schemas.microsoft.com/office/drawing/2014/main" id="{17DDBF4F-3844-ADB2-0D82-177DC57EA0F9}"/>
                </a:ext>
              </a:extLst>
            </p:cNvPr>
            <p:cNvSpPr>
              <a:spLocks noChangeArrowheads="1"/>
            </p:cNvSpPr>
            <p:nvPr/>
          </p:nvSpPr>
          <p:spPr bwMode="auto">
            <a:xfrm>
              <a:off x="5922014"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4" name="Rectangle 71">
              <a:extLst>
                <a:ext uri="{FF2B5EF4-FFF2-40B4-BE49-F238E27FC236}">
                  <a16:creationId xmlns:a16="http://schemas.microsoft.com/office/drawing/2014/main" id="{BFA22239-4DD0-1462-6A50-7331A950E5A2}"/>
                </a:ext>
              </a:extLst>
            </p:cNvPr>
            <p:cNvSpPr>
              <a:spLocks noChangeArrowheads="1"/>
            </p:cNvSpPr>
            <p:nvPr/>
          </p:nvSpPr>
          <p:spPr bwMode="auto">
            <a:xfrm>
              <a:off x="6372020"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5" name="Rectangle 72">
              <a:extLst>
                <a:ext uri="{FF2B5EF4-FFF2-40B4-BE49-F238E27FC236}">
                  <a16:creationId xmlns:a16="http://schemas.microsoft.com/office/drawing/2014/main" id="{0835F96A-7470-7996-2EAC-8633B1139B0C}"/>
                </a:ext>
              </a:extLst>
            </p:cNvPr>
            <p:cNvSpPr>
              <a:spLocks noChangeArrowheads="1"/>
            </p:cNvSpPr>
            <p:nvPr/>
          </p:nvSpPr>
          <p:spPr bwMode="auto">
            <a:xfrm>
              <a:off x="6822025"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6" name="Rectangle 73">
              <a:extLst>
                <a:ext uri="{FF2B5EF4-FFF2-40B4-BE49-F238E27FC236}">
                  <a16:creationId xmlns:a16="http://schemas.microsoft.com/office/drawing/2014/main" id="{B68DE78D-B660-4AE3-1527-501705C423C1}"/>
                </a:ext>
              </a:extLst>
            </p:cNvPr>
            <p:cNvSpPr>
              <a:spLocks noChangeArrowheads="1"/>
            </p:cNvSpPr>
            <p:nvPr/>
          </p:nvSpPr>
          <p:spPr bwMode="auto">
            <a:xfrm>
              <a:off x="7272030"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spTree>
    <p:extLst>
      <p:ext uri="{BB962C8B-B14F-4D97-AF65-F5344CB8AC3E}">
        <p14:creationId xmlns:p14="http://schemas.microsoft.com/office/powerpoint/2010/main" val="18223743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パイプライン化されたプロセッサ の性能</a:t>
            </a:r>
            <a:endParaRPr kumimoji="1" lang="ja-JP" altLang="en-US" dirty="0"/>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2135189" y="5499101"/>
            <a:ext cx="7921625" cy="809625"/>
          </a:xfrm>
        </p:spPr>
        <p:txBody>
          <a:bodyPr/>
          <a:lstStyle/>
          <a:p>
            <a:pPr lvl="1"/>
            <a:r>
              <a:rPr lang="ja-JP" altLang="en-US" dirty="0"/>
              <a:t>シングル・サイクル・プロセッサの時とはサイクルの長さが変わっている事に注意</a:t>
            </a:r>
            <a:endParaRPr lang="en-US" altLang="ja-JP" dirty="0">
              <a:solidFill>
                <a:schemeClr val="tx1">
                  <a:lumMod val="75000"/>
                  <a:lumOff val="25000"/>
                </a:schemeClr>
              </a:solidFill>
            </a:endParaRPr>
          </a:p>
          <a:p>
            <a:pPr lvl="1"/>
            <a:r>
              <a:rPr lang="ja-JP" altLang="en-US" dirty="0">
                <a:solidFill>
                  <a:schemeClr val="tx1">
                    <a:lumMod val="75000"/>
                    <a:lumOff val="25000"/>
                  </a:schemeClr>
                </a:solidFill>
              </a:rPr>
              <a:t>周波数</a:t>
            </a:r>
            <a:r>
              <a:rPr lang="en-US" altLang="ja-JP" dirty="0">
                <a:solidFill>
                  <a:schemeClr val="tx1">
                    <a:lumMod val="65000"/>
                    <a:lumOff val="35000"/>
                  </a:schemeClr>
                </a:solidFill>
              </a:rPr>
              <a:t> = 1</a:t>
            </a:r>
            <a:r>
              <a:rPr lang="ja-JP" altLang="en-US" dirty="0">
                <a:solidFill>
                  <a:schemeClr val="tx1">
                    <a:lumMod val="65000"/>
                    <a:lumOff val="35000"/>
                  </a:schemeClr>
                </a:solidFill>
              </a:rPr>
              <a:t>秒</a:t>
            </a:r>
            <a:r>
              <a:rPr lang="en-US" altLang="ja-JP" dirty="0">
                <a:solidFill>
                  <a:schemeClr val="tx1">
                    <a:lumMod val="65000"/>
                    <a:lumOff val="35000"/>
                  </a:schemeClr>
                </a:solidFill>
              </a:rPr>
              <a:t> / 1ns = </a:t>
            </a:r>
            <a:r>
              <a:rPr lang="en-US" altLang="ja-JP" dirty="0">
                <a:solidFill>
                  <a:schemeClr val="accent5"/>
                </a:solidFill>
              </a:rPr>
              <a:t>1000 MHz = 1GHz</a:t>
            </a:r>
          </a:p>
          <a:p>
            <a:pPr lvl="1"/>
            <a:r>
              <a:rPr lang="en-US" altLang="ja-JP" dirty="0">
                <a:solidFill>
                  <a:schemeClr val="tx1">
                    <a:lumMod val="65000"/>
                    <a:lumOff val="35000"/>
                  </a:schemeClr>
                </a:solidFill>
              </a:rPr>
              <a:t>IPC </a:t>
            </a:r>
            <a:r>
              <a:rPr lang="ja-JP" altLang="en-US" dirty="0">
                <a:solidFill>
                  <a:schemeClr val="tx1">
                    <a:lumMod val="65000"/>
                    <a:lumOff val="35000"/>
                  </a:schemeClr>
                </a:solidFill>
              </a:rPr>
              <a:t>はどう考える？ </a:t>
            </a:r>
            <a:r>
              <a:rPr lang="en-US" altLang="ja-JP" dirty="0">
                <a:solidFill>
                  <a:schemeClr val="tx1">
                    <a:lumMod val="65000"/>
                    <a:lumOff val="35000"/>
                  </a:schemeClr>
                </a:solidFill>
              </a:rPr>
              <a:t>IPC = 3 </a:t>
            </a:r>
            <a:r>
              <a:rPr lang="ja-JP" altLang="en-US" dirty="0">
                <a:solidFill>
                  <a:schemeClr val="tx1">
                    <a:lumMod val="65000"/>
                    <a:lumOff val="35000"/>
                  </a:schemeClr>
                </a:solidFill>
              </a:rPr>
              <a:t>命令 </a:t>
            </a:r>
            <a:r>
              <a:rPr lang="en-US" altLang="ja-JP" dirty="0">
                <a:solidFill>
                  <a:schemeClr val="tx1">
                    <a:lumMod val="65000"/>
                    <a:lumOff val="35000"/>
                  </a:schemeClr>
                </a:solidFill>
              </a:rPr>
              <a:t>/ 7 </a:t>
            </a:r>
            <a:r>
              <a:rPr lang="ja-JP" altLang="en-US" dirty="0">
                <a:solidFill>
                  <a:schemeClr val="tx1">
                    <a:lumMod val="65000"/>
                    <a:lumOff val="35000"/>
                  </a:schemeClr>
                </a:solidFill>
              </a:rPr>
              <a:t>サイクル？</a:t>
            </a:r>
            <a:endParaRPr lang="en-US" altLang="ja-JP" dirty="0">
              <a:solidFill>
                <a:schemeClr val="accent5"/>
              </a:solidFill>
            </a:endParaRPr>
          </a:p>
        </p:txBody>
      </p:sp>
      <p:cxnSp>
        <p:nvCxnSpPr>
          <p:cNvPr id="9" name="直線矢印コネクタ 8">
            <a:extLst>
              <a:ext uri="{FF2B5EF4-FFF2-40B4-BE49-F238E27FC236}">
                <a16:creationId xmlns:a16="http://schemas.microsoft.com/office/drawing/2014/main" id="{157B58F2-B969-1A3F-020A-AEA348CAEB44}"/>
              </a:ext>
            </a:extLst>
          </p:cNvPr>
          <p:cNvCxnSpPr>
            <a:cxnSpLocks/>
          </p:cNvCxnSpPr>
          <p:nvPr/>
        </p:nvCxnSpPr>
        <p:spPr bwMode="auto">
          <a:xfrm>
            <a:off x="2495962" y="3338999"/>
            <a:ext cx="45000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0" name="正方形/長方形 9">
            <a:extLst>
              <a:ext uri="{FF2B5EF4-FFF2-40B4-BE49-F238E27FC236}">
                <a16:creationId xmlns:a16="http://schemas.microsoft.com/office/drawing/2014/main" id="{5DFFE877-7C03-23A0-352A-C3CE599B7613}"/>
              </a:ext>
            </a:extLst>
          </p:cNvPr>
          <p:cNvSpPr/>
          <p:nvPr/>
        </p:nvSpPr>
        <p:spPr>
          <a:xfrm>
            <a:off x="2405961" y="2618991"/>
            <a:ext cx="540005" cy="540006"/>
          </a:xfrm>
          <a:prstGeom prst="rect">
            <a:avLst/>
          </a:prstGeom>
        </p:spPr>
        <p:txBody>
          <a:bodyPr wrap="none">
            <a:noAutofit/>
          </a:bodyPr>
          <a:lstStyle/>
          <a:p>
            <a:pPr algn="ctr"/>
            <a:r>
              <a:rPr lang="en-US" altLang="ja-JP" dirty="0">
                <a:solidFill>
                  <a:schemeClr val="tx1">
                    <a:lumMod val="65000"/>
                    <a:lumOff val="35000"/>
                  </a:schemeClr>
                </a:solidFill>
              </a:rPr>
              <a:t>1 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18" name="正方形/長方形 17">
            <a:extLst>
              <a:ext uri="{FF2B5EF4-FFF2-40B4-BE49-F238E27FC236}">
                <a16:creationId xmlns:a16="http://schemas.microsoft.com/office/drawing/2014/main" id="{842DC25E-D905-548B-B524-078E9180232F}"/>
              </a:ext>
            </a:extLst>
          </p:cNvPr>
          <p:cNvSpPr/>
          <p:nvPr/>
        </p:nvSpPr>
        <p:spPr>
          <a:xfrm>
            <a:off x="1865955" y="3429000"/>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19" name="正方形/長方形 18">
            <a:extLst>
              <a:ext uri="{FF2B5EF4-FFF2-40B4-BE49-F238E27FC236}">
                <a16:creationId xmlns:a16="http://schemas.microsoft.com/office/drawing/2014/main" id="{44BE2AF5-A875-5784-4C41-EC5D5BE957C5}"/>
              </a:ext>
            </a:extLst>
          </p:cNvPr>
          <p:cNvSpPr/>
          <p:nvPr/>
        </p:nvSpPr>
        <p:spPr>
          <a:xfrm>
            <a:off x="1865955" y="3879005"/>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20" name="正方形/長方形 19">
            <a:extLst>
              <a:ext uri="{FF2B5EF4-FFF2-40B4-BE49-F238E27FC236}">
                <a16:creationId xmlns:a16="http://schemas.microsoft.com/office/drawing/2014/main" id="{8A302DEA-B7EB-2ED5-2902-CB3D9432A7CD}"/>
              </a:ext>
            </a:extLst>
          </p:cNvPr>
          <p:cNvSpPr/>
          <p:nvPr/>
        </p:nvSpPr>
        <p:spPr>
          <a:xfrm>
            <a:off x="1865955" y="4329010"/>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39" name="Rectangle 69">
            <a:extLst>
              <a:ext uri="{FF2B5EF4-FFF2-40B4-BE49-F238E27FC236}">
                <a16:creationId xmlns:a16="http://schemas.microsoft.com/office/drawing/2014/main" id="{7A275430-0751-5FEB-5A19-5D72A0480ADD}"/>
              </a:ext>
            </a:extLst>
          </p:cNvPr>
          <p:cNvSpPr>
            <a:spLocks noChangeArrowheads="1"/>
          </p:cNvSpPr>
          <p:nvPr/>
        </p:nvSpPr>
        <p:spPr bwMode="auto">
          <a:xfrm>
            <a:off x="2495961" y="3429000"/>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0" name="Rectangle 70">
            <a:extLst>
              <a:ext uri="{FF2B5EF4-FFF2-40B4-BE49-F238E27FC236}">
                <a16:creationId xmlns:a16="http://schemas.microsoft.com/office/drawing/2014/main" id="{D131183A-3D62-5404-2945-A58D213D075D}"/>
              </a:ext>
            </a:extLst>
          </p:cNvPr>
          <p:cNvSpPr>
            <a:spLocks noChangeArrowheads="1"/>
          </p:cNvSpPr>
          <p:nvPr/>
        </p:nvSpPr>
        <p:spPr bwMode="auto">
          <a:xfrm>
            <a:off x="2945965" y="342900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1" name="Rectangle 71">
            <a:extLst>
              <a:ext uri="{FF2B5EF4-FFF2-40B4-BE49-F238E27FC236}">
                <a16:creationId xmlns:a16="http://schemas.microsoft.com/office/drawing/2014/main" id="{6744CC94-BF18-9CEF-AFB6-6DEB21D9172B}"/>
              </a:ext>
            </a:extLst>
          </p:cNvPr>
          <p:cNvSpPr>
            <a:spLocks noChangeArrowheads="1"/>
          </p:cNvSpPr>
          <p:nvPr/>
        </p:nvSpPr>
        <p:spPr bwMode="auto">
          <a:xfrm>
            <a:off x="3395971" y="342900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2" name="Rectangle 72">
            <a:extLst>
              <a:ext uri="{FF2B5EF4-FFF2-40B4-BE49-F238E27FC236}">
                <a16:creationId xmlns:a16="http://schemas.microsoft.com/office/drawing/2014/main" id="{FB38BC88-7159-BA88-8E85-664C17366C7F}"/>
              </a:ext>
            </a:extLst>
          </p:cNvPr>
          <p:cNvSpPr>
            <a:spLocks noChangeArrowheads="1"/>
          </p:cNvSpPr>
          <p:nvPr/>
        </p:nvSpPr>
        <p:spPr bwMode="auto">
          <a:xfrm>
            <a:off x="3845976" y="342900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3" name="Rectangle 73">
            <a:extLst>
              <a:ext uri="{FF2B5EF4-FFF2-40B4-BE49-F238E27FC236}">
                <a16:creationId xmlns:a16="http://schemas.microsoft.com/office/drawing/2014/main" id="{1BF0F800-00CF-AF98-1CA1-A1155DFC6C78}"/>
              </a:ext>
            </a:extLst>
          </p:cNvPr>
          <p:cNvSpPr>
            <a:spLocks noChangeArrowheads="1"/>
          </p:cNvSpPr>
          <p:nvPr/>
        </p:nvSpPr>
        <p:spPr bwMode="auto">
          <a:xfrm>
            <a:off x="4295980" y="3429000"/>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4" name="Rectangle 69">
            <a:extLst>
              <a:ext uri="{FF2B5EF4-FFF2-40B4-BE49-F238E27FC236}">
                <a16:creationId xmlns:a16="http://schemas.microsoft.com/office/drawing/2014/main" id="{12119416-5055-999C-0322-C56D8BED2219}"/>
              </a:ext>
            </a:extLst>
          </p:cNvPr>
          <p:cNvSpPr>
            <a:spLocks noChangeArrowheads="1"/>
          </p:cNvSpPr>
          <p:nvPr/>
        </p:nvSpPr>
        <p:spPr bwMode="auto">
          <a:xfrm>
            <a:off x="2945968" y="387900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5" name="Rectangle 70">
            <a:extLst>
              <a:ext uri="{FF2B5EF4-FFF2-40B4-BE49-F238E27FC236}">
                <a16:creationId xmlns:a16="http://schemas.microsoft.com/office/drawing/2014/main" id="{23D39F9F-68DF-416A-409D-F13D8EA68DA6}"/>
              </a:ext>
            </a:extLst>
          </p:cNvPr>
          <p:cNvSpPr>
            <a:spLocks noChangeArrowheads="1"/>
          </p:cNvSpPr>
          <p:nvPr/>
        </p:nvSpPr>
        <p:spPr bwMode="auto">
          <a:xfrm>
            <a:off x="3395972" y="387900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6" name="Rectangle 71">
            <a:extLst>
              <a:ext uri="{FF2B5EF4-FFF2-40B4-BE49-F238E27FC236}">
                <a16:creationId xmlns:a16="http://schemas.microsoft.com/office/drawing/2014/main" id="{7777B920-ADDF-5172-6E3A-7CC9D6B3C83F}"/>
              </a:ext>
            </a:extLst>
          </p:cNvPr>
          <p:cNvSpPr>
            <a:spLocks noChangeArrowheads="1"/>
          </p:cNvSpPr>
          <p:nvPr/>
        </p:nvSpPr>
        <p:spPr bwMode="auto">
          <a:xfrm>
            <a:off x="3845978" y="387900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7" name="Rectangle 72">
            <a:extLst>
              <a:ext uri="{FF2B5EF4-FFF2-40B4-BE49-F238E27FC236}">
                <a16:creationId xmlns:a16="http://schemas.microsoft.com/office/drawing/2014/main" id="{9A0A565C-F1AB-6962-BD0C-8142D0B09F77}"/>
              </a:ext>
            </a:extLst>
          </p:cNvPr>
          <p:cNvSpPr>
            <a:spLocks noChangeArrowheads="1"/>
          </p:cNvSpPr>
          <p:nvPr/>
        </p:nvSpPr>
        <p:spPr bwMode="auto">
          <a:xfrm>
            <a:off x="4295983" y="387900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8" name="Rectangle 73">
            <a:extLst>
              <a:ext uri="{FF2B5EF4-FFF2-40B4-BE49-F238E27FC236}">
                <a16:creationId xmlns:a16="http://schemas.microsoft.com/office/drawing/2014/main" id="{AAFF3007-01CB-8524-A765-46D3B7097B2F}"/>
              </a:ext>
            </a:extLst>
          </p:cNvPr>
          <p:cNvSpPr>
            <a:spLocks noChangeArrowheads="1"/>
          </p:cNvSpPr>
          <p:nvPr/>
        </p:nvSpPr>
        <p:spPr bwMode="auto">
          <a:xfrm>
            <a:off x="4745987" y="387900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9" name="Rectangle 69">
            <a:extLst>
              <a:ext uri="{FF2B5EF4-FFF2-40B4-BE49-F238E27FC236}">
                <a16:creationId xmlns:a16="http://schemas.microsoft.com/office/drawing/2014/main" id="{650F9D52-0147-6D75-3FDA-44BA83C72168}"/>
              </a:ext>
            </a:extLst>
          </p:cNvPr>
          <p:cNvSpPr>
            <a:spLocks noChangeArrowheads="1"/>
          </p:cNvSpPr>
          <p:nvPr/>
        </p:nvSpPr>
        <p:spPr bwMode="auto">
          <a:xfrm>
            <a:off x="3395972" y="4329010"/>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50" name="Rectangle 70">
            <a:extLst>
              <a:ext uri="{FF2B5EF4-FFF2-40B4-BE49-F238E27FC236}">
                <a16:creationId xmlns:a16="http://schemas.microsoft.com/office/drawing/2014/main" id="{56D0B039-AFA9-3E3F-6727-0CACD9FD68EA}"/>
              </a:ext>
            </a:extLst>
          </p:cNvPr>
          <p:cNvSpPr>
            <a:spLocks noChangeArrowheads="1"/>
          </p:cNvSpPr>
          <p:nvPr/>
        </p:nvSpPr>
        <p:spPr bwMode="auto">
          <a:xfrm>
            <a:off x="3845976" y="432901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51" name="Rectangle 71">
            <a:extLst>
              <a:ext uri="{FF2B5EF4-FFF2-40B4-BE49-F238E27FC236}">
                <a16:creationId xmlns:a16="http://schemas.microsoft.com/office/drawing/2014/main" id="{90490859-5C7F-30A5-609B-983EEB24421C}"/>
              </a:ext>
            </a:extLst>
          </p:cNvPr>
          <p:cNvSpPr>
            <a:spLocks noChangeArrowheads="1"/>
          </p:cNvSpPr>
          <p:nvPr/>
        </p:nvSpPr>
        <p:spPr bwMode="auto">
          <a:xfrm>
            <a:off x="4295982" y="432901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52" name="Rectangle 72">
            <a:extLst>
              <a:ext uri="{FF2B5EF4-FFF2-40B4-BE49-F238E27FC236}">
                <a16:creationId xmlns:a16="http://schemas.microsoft.com/office/drawing/2014/main" id="{A20843B1-0FCB-11F5-A0D9-DB77FB5BE61F}"/>
              </a:ext>
            </a:extLst>
          </p:cNvPr>
          <p:cNvSpPr>
            <a:spLocks noChangeArrowheads="1"/>
          </p:cNvSpPr>
          <p:nvPr/>
        </p:nvSpPr>
        <p:spPr bwMode="auto">
          <a:xfrm>
            <a:off x="4745987" y="4329010"/>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53" name="Rectangle 73">
            <a:extLst>
              <a:ext uri="{FF2B5EF4-FFF2-40B4-BE49-F238E27FC236}">
                <a16:creationId xmlns:a16="http://schemas.microsoft.com/office/drawing/2014/main" id="{9F30305D-2169-69D7-3760-BB366497EEAC}"/>
              </a:ext>
            </a:extLst>
          </p:cNvPr>
          <p:cNvSpPr>
            <a:spLocks noChangeArrowheads="1"/>
          </p:cNvSpPr>
          <p:nvPr/>
        </p:nvSpPr>
        <p:spPr bwMode="auto">
          <a:xfrm>
            <a:off x="5195991" y="4329010"/>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cxnSp>
        <p:nvCxnSpPr>
          <p:cNvPr id="56" name="直線矢印コネクタ 55">
            <a:extLst>
              <a:ext uri="{FF2B5EF4-FFF2-40B4-BE49-F238E27FC236}">
                <a16:creationId xmlns:a16="http://schemas.microsoft.com/office/drawing/2014/main" id="{1AAB9649-31D6-99A1-B76D-BD3678622B59}"/>
              </a:ext>
            </a:extLst>
          </p:cNvPr>
          <p:cNvCxnSpPr>
            <a:cxnSpLocks/>
          </p:cNvCxnSpPr>
          <p:nvPr/>
        </p:nvCxnSpPr>
        <p:spPr bwMode="auto">
          <a:xfrm>
            <a:off x="2495961" y="2438989"/>
            <a:ext cx="225002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58" name="正方形/長方形 57">
            <a:extLst>
              <a:ext uri="{FF2B5EF4-FFF2-40B4-BE49-F238E27FC236}">
                <a16:creationId xmlns:a16="http://schemas.microsoft.com/office/drawing/2014/main" id="{CFC89224-3E21-D4DB-FBC8-48DE7DE55887}"/>
              </a:ext>
            </a:extLst>
          </p:cNvPr>
          <p:cNvSpPr/>
          <p:nvPr/>
        </p:nvSpPr>
        <p:spPr>
          <a:xfrm>
            <a:off x="3395971" y="1808982"/>
            <a:ext cx="540005" cy="540006"/>
          </a:xfrm>
          <a:prstGeom prst="rect">
            <a:avLst/>
          </a:prstGeom>
        </p:spPr>
        <p:txBody>
          <a:bodyPr wrap="none">
            <a:noAutofit/>
          </a:bodyPr>
          <a:lstStyle/>
          <a:p>
            <a:pPr algn="ctr"/>
            <a:r>
              <a:rPr lang="en-US" altLang="ja-JP" dirty="0">
                <a:solidFill>
                  <a:schemeClr val="tx1">
                    <a:lumMod val="65000"/>
                    <a:lumOff val="35000"/>
                  </a:schemeClr>
                </a:solidFill>
              </a:rPr>
              <a:t>5 ns</a:t>
            </a:r>
          </a:p>
          <a:p>
            <a:pPr algn="ctr"/>
            <a:r>
              <a:rPr lang="en-US" altLang="ja-JP" dirty="0">
                <a:solidFill>
                  <a:schemeClr val="tx1">
                    <a:lumMod val="65000"/>
                    <a:lumOff val="35000"/>
                  </a:schemeClr>
                </a:solidFill>
              </a:rPr>
              <a:t>5 cycle</a:t>
            </a:r>
            <a:endParaRPr lang="ja-JP" altLang="en-US" dirty="0">
              <a:solidFill>
                <a:schemeClr val="tx1">
                  <a:lumMod val="65000"/>
                  <a:lumOff val="35000"/>
                </a:schemeClr>
              </a:solidFill>
            </a:endParaRPr>
          </a:p>
        </p:txBody>
      </p:sp>
      <p:cxnSp>
        <p:nvCxnSpPr>
          <p:cNvPr id="59" name="直線矢印コネクタ 58">
            <a:extLst>
              <a:ext uri="{FF2B5EF4-FFF2-40B4-BE49-F238E27FC236}">
                <a16:creationId xmlns:a16="http://schemas.microsoft.com/office/drawing/2014/main" id="{EB434A61-DD22-4EDC-D2D4-0FCBE9794095}"/>
              </a:ext>
            </a:extLst>
          </p:cNvPr>
          <p:cNvCxnSpPr>
            <a:cxnSpLocks/>
          </p:cNvCxnSpPr>
          <p:nvPr/>
        </p:nvCxnSpPr>
        <p:spPr bwMode="auto">
          <a:xfrm>
            <a:off x="2495960" y="1268976"/>
            <a:ext cx="0" cy="3600040"/>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61" name="直線矢印コネクタ 60">
            <a:extLst>
              <a:ext uri="{FF2B5EF4-FFF2-40B4-BE49-F238E27FC236}">
                <a16:creationId xmlns:a16="http://schemas.microsoft.com/office/drawing/2014/main" id="{AC3D18FF-5C44-B0B8-E16F-919152BE8ED9}"/>
              </a:ext>
            </a:extLst>
          </p:cNvPr>
          <p:cNvCxnSpPr>
            <a:cxnSpLocks/>
          </p:cNvCxnSpPr>
          <p:nvPr/>
        </p:nvCxnSpPr>
        <p:spPr bwMode="auto">
          <a:xfrm>
            <a:off x="4745985" y="1268976"/>
            <a:ext cx="0" cy="3600040"/>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130" name="直線矢印コネクタ 129">
            <a:extLst>
              <a:ext uri="{FF2B5EF4-FFF2-40B4-BE49-F238E27FC236}">
                <a16:creationId xmlns:a16="http://schemas.microsoft.com/office/drawing/2014/main" id="{7BDCE70A-4EFD-926C-B353-75ED148A5258}"/>
              </a:ext>
            </a:extLst>
          </p:cNvPr>
          <p:cNvCxnSpPr>
            <a:cxnSpLocks/>
          </p:cNvCxnSpPr>
          <p:nvPr/>
        </p:nvCxnSpPr>
        <p:spPr bwMode="auto">
          <a:xfrm>
            <a:off x="5645995" y="1268976"/>
            <a:ext cx="0" cy="3600040"/>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134" name="直線矢印コネクタ 133">
            <a:extLst>
              <a:ext uri="{FF2B5EF4-FFF2-40B4-BE49-F238E27FC236}">
                <a16:creationId xmlns:a16="http://schemas.microsoft.com/office/drawing/2014/main" id="{EE5C5938-A721-BEEF-629A-64553E8D568A}"/>
              </a:ext>
            </a:extLst>
          </p:cNvPr>
          <p:cNvCxnSpPr>
            <a:cxnSpLocks/>
          </p:cNvCxnSpPr>
          <p:nvPr/>
        </p:nvCxnSpPr>
        <p:spPr bwMode="auto">
          <a:xfrm>
            <a:off x="2495961" y="1538979"/>
            <a:ext cx="315003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35" name="正方形/長方形 134">
            <a:extLst>
              <a:ext uri="{FF2B5EF4-FFF2-40B4-BE49-F238E27FC236}">
                <a16:creationId xmlns:a16="http://schemas.microsoft.com/office/drawing/2014/main" id="{94404645-267F-AE95-3ECE-D36CCB54C175}"/>
              </a:ext>
            </a:extLst>
          </p:cNvPr>
          <p:cNvSpPr/>
          <p:nvPr/>
        </p:nvSpPr>
        <p:spPr>
          <a:xfrm>
            <a:off x="3845976" y="908972"/>
            <a:ext cx="540005" cy="540006"/>
          </a:xfrm>
          <a:prstGeom prst="rect">
            <a:avLst/>
          </a:prstGeom>
        </p:spPr>
        <p:txBody>
          <a:bodyPr wrap="none">
            <a:noAutofit/>
          </a:bodyPr>
          <a:lstStyle/>
          <a:p>
            <a:pPr algn="ctr"/>
            <a:r>
              <a:rPr lang="en-US" altLang="ja-JP" dirty="0">
                <a:solidFill>
                  <a:schemeClr val="tx1">
                    <a:lumMod val="65000"/>
                    <a:lumOff val="35000"/>
                  </a:schemeClr>
                </a:solidFill>
              </a:rPr>
              <a:t>7 ns</a:t>
            </a:r>
          </a:p>
          <a:p>
            <a:pPr algn="ctr"/>
            <a:r>
              <a:rPr lang="en-US" altLang="ja-JP" dirty="0">
                <a:solidFill>
                  <a:schemeClr val="tx1">
                    <a:lumMod val="65000"/>
                    <a:lumOff val="35000"/>
                  </a:schemeClr>
                </a:solidFill>
              </a:rPr>
              <a:t>7 cycle</a:t>
            </a:r>
            <a:endParaRPr lang="ja-JP" altLang="en-US" dirty="0">
              <a:solidFill>
                <a:schemeClr val="tx1">
                  <a:lumMod val="65000"/>
                  <a:lumOff val="35000"/>
                </a:schemeClr>
              </a:solidFill>
            </a:endParaRPr>
          </a:p>
        </p:txBody>
      </p:sp>
    </p:spTree>
    <p:extLst>
      <p:ext uri="{BB962C8B-B14F-4D97-AF65-F5344CB8AC3E}">
        <p14:creationId xmlns:p14="http://schemas.microsoft.com/office/powerpoint/2010/main" val="29777298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「十分に多く」の命令を実行した場合</a:t>
            </a:r>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1524000" y="5409023"/>
            <a:ext cx="8280860" cy="809625"/>
          </a:xfrm>
        </p:spPr>
        <p:txBody>
          <a:bodyPr/>
          <a:lstStyle/>
          <a:p>
            <a:pPr lvl="1"/>
            <a:r>
              <a:rPr lang="ja-JP" altLang="en-US" dirty="0"/>
              <a:t>十分な長さの命令を実行すれば，</a:t>
            </a:r>
            <a:br>
              <a:rPr lang="en-US" altLang="ja-JP" dirty="0"/>
            </a:br>
            <a:r>
              <a:rPr lang="ja-JP" altLang="en-US" dirty="0"/>
              <a:t>パイプラインの長さ分は無視して近似できる</a:t>
            </a:r>
            <a:endParaRPr lang="en-US" altLang="ja-JP" dirty="0"/>
          </a:p>
          <a:p>
            <a:pPr lvl="2"/>
            <a:r>
              <a:rPr lang="ja-JP" altLang="en-US" dirty="0">
                <a:solidFill>
                  <a:schemeClr val="accent5"/>
                </a:solidFill>
              </a:rPr>
              <a:t>右上の場合，ほぼ </a:t>
            </a:r>
            <a:r>
              <a:rPr lang="en-US" altLang="ja-JP" dirty="0">
                <a:solidFill>
                  <a:schemeClr val="accent5"/>
                </a:solidFill>
              </a:rPr>
              <a:t>IPC = 1,000,000/(5+999,999) </a:t>
            </a:r>
            <a:r>
              <a:rPr lang="ja-JP" altLang="en-US" dirty="0">
                <a:solidFill>
                  <a:schemeClr val="accent5"/>
                </a:solidFill>
              </a:rPr>
              <a:t>は，ほぼ </a:t>
            </a:r>
            <a:r>
              <a:rPr lang="en-US" altLang="ja-JP" dirty="0">
                <a:solidFill>
                  <a:schemeClr val="accent5"/>
                </a:solidFill>
              </a:rPr>
              <a:t>1 </a:t>
            </a:r>
          </a:p>
          <a:p>
            <a:pPr lvl="1"/>
            <a:r>
              <a:rPr lang="ja-JP" altLang="en-US" dirty="0"/>
              <a:t>左端の </a:t>
            </a:r>
            <a:r>
              <a:rPr lang="en-US" altLang="ja-JP" dirty="0"/>
              <a:t>F </a:t>
            </a:r>
            <a:r>
              <a:rPr lang="ja-JP" altLang="en-US" dirty="0"/>
              <a:t>ないしは右端の </a:t>
            </a:r>
            <a:r>
              <a:rPr lang="en-US" altLang="ja-JP" dirty="0"/>
              <a:t>W </a:t>
            </a:r>
            <a:r>
              <a:rPr lang="ja-JP" altLang="en-US" dirty="0"/>
              <a:t>ステージの傾きのみを考えればよい</a:t>
            </a:r>
            <a:endParaRPr lang="en-US" altLang="ja-JP" dirty="0"/>
          </a:p>
        </p:txBody>
      </p:sp>
      <p:sp>
        <p:nvSpPr>
          <p:cNvPr id="18" name="正方形/長方形 17">
            <a:extLst>
              <a:ext uri="{FF2B5EF4-FFF2-40B4-BE49-F238E27FC236}">
                <a16:creationId xmlns:a16="http://schemas.microsoft.com/office/drawing/2014/main" id="{842DC25E-D905-548B-B524-078E9180232F}"/>
              </a:ext>
            </a:extLst>
          </p:cNvPr>
          <p:cNvSpPr/>
          <p:nvPr/>
        </p:nvSpPr>
        <p:spPr>
          <a:xfrm>
            <a:off x="1595951" y="1718981"/>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19" name="正方形/長方形 18">
            <a:extLst>
              <a:ext uri="{FF2B5EF4-FFF2-40B4-BE49-F238E27FC236}">
                <a16:creationId xmlns:a16="http://schemas.microsoft.com/office/drawing/2014/main" id="{44BE2AF5-A875-5784-4C41-EC5D5BE957C5}"/>
              </a:ext>
            </a:extLst>
          </p:cNvPr>
          <p:cNvSpPr/>
          <p:nvPr/>
        </p:nvSpPr>
        <p:spPr>
          <a:xfrm>
            <a:off x="1595951" y="2168986"/>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20" name="正方形/長方形 19">
            <a:extLst>
              <a:ext uri="{FF2B5EF4-FFF2-40B4-BE49-F238E27FC236}">
                <a16:creationId xmlns:a16="http://schemas.microsoft.com/office/drawing/2014/main" id="{8A302DEA-B7EB-2ED5-2902-CB3D9432A7CD}"/>
              </a:ext>
            </a:extLst>
          </p:cNvPr>
          <p:cNvSpPr/>
          <p:nvPr/>
        </p:nvSpPr>
        <p:spPr>
          <a:xfrm>
            <a:off x="1595951" y="2618991"/>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39" name="Rectangle 69">
            <a:extLst>
              <a:ext uri="{FF2B5EF4-FFF2-40B4-BE49-F238E27FC236}">
                <a16:creationId xmlns:a16="http://schemas.microsoft.com/office/drawing/2014/main" id="{7A275430-0751-5FEB-5A19-5D72A0480ADD}"/>
              </a:ext>
            </a:extLst>
          </p:cNvPr>
          <p:cNvSpPr>
            <a:spLocks noChangeArrowheads="1"/>
          </p:cNvSpPr>
          <p:nvPr/>
        </p:nvSpPr>
        <p:spPr bwMode="auto">
          <a:xfrm>
            <a:off x="2225957" y="171898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0" name="Rectangle 70">
            <a:extLst>
              <a:ext uri="{FF2B5EF4-FFF2-40B4-BE49-F238E27FC236}">
                <a16:creationId xmlns:a16="http://schemas.microsoft.com/office/drawing/2014/main" id="{D131183A-3D62-5404-2945-A58D213D075D}"/>
              </a:ext>
            </a:extLst>
          </p:cNvPr>
          <p:cNvSpPr>
            <a:spLocks noChangeArrowheads="1"/>
          </p:cNvSpPr>
          <p:nvPr/>
        </p:nvSpPr>
        <p:spPr bwMode="auto">
          <a:xfrm>
            <a:off x="2675961" y="171898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1" name="Rectangle 71">
            <a:extLst>
              <a:ext uri="{FF2B5EF4-FFF2-40B4-BE49-F238E27FC236}">
                <a16:creationId xmlns:a16="http://schemas.microsoft.com/office/drawing/2014/main" id="{6744CC94-BF18-9CEF-AFB6-6DEB21D9172B}"/>
              </a:ext>
            </a:extLst>
          </p:cNvPr>
          <p:cNvSpPr>
            <a:spLocks noChangeArrowheads="1"/>
          </p:cNvSpPr>
          <p:nvPr/>
        </p:nvSpPr>
        <p:spPr bwMode="auto">
          <a:xfrm>
            <a:off x="3125967" y="171898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2" name="Rectangle 72">
            <a:extLst>
              <a:ext uri="{FF2B5EF4-FFF2-40B4-BE49-F238E27FC236}">
                <a16:creationId xmlns:a16="http://schemas.microsoft.com/office/drawing/2014/main" id="{FB38BC88-7159-BA88-8E85-664C17366C7F}"/>
              </a:ext>
            </a:extLst>
          </p:cNvPr>
          <p:cNvSpPr>
            <a:spLocks noChangeArrowheads="1"/>
          </p:cNvSpPr>
          <p:nvPr/>
        </p:nvSpPr>
        <p:spPr bwMode="auto">
          <a:xfrm>
            <a:off x="3575972" y="171898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3" name="Rectangle 73">
            <a:extLst>
              <a:ext uri="{FF2B5EF4-FFF2-40B4-BE49-F238E27FC236}">
                <a16:creationId xmlns:a16="http://schemas.microsoft.com/office/drawing/2014/main" id="{1BF0F800-00CF-AF98-1CA1-A1155DFC6C78}"/>
              </a:ext>
            </a:extLst>
          </p:cNvPr>
          <p:cNvSpPr>
            <a:spLocks noChangeArrowheads="1"/>
          </p:cNvSpPr>
          <p:nvPr/>
        </p:nvSpPr>
        <p:spPr bwMode="auto">
          <a:xfrm>
            <a:off x="4025976" y="171898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4" name="Rectangle 69">
            <a:extLst>
              <a:ext uri="{FF2B5EF4-FFF2-40B4-BE49-F238E27FC236}">
                <a16:creationId xmlns:a16="http://schemas.microsoft.com/office/drawing/2014/main" id="{12119416-5055-999C-0322-C56D8BED2219}"/>
              </a:ext>
            </a:extLst>
          </p:cNvPr>
          <p:cNvSpPr>
            <a:spLocks noChangeArrowheads="1"/>
          </p:cNvSpPr>
          <p:nvPr/>
        </p:nvSpPr>
        <p:spPr bwMode="auto">
          <a:xfrm>
            <a:off x="2675964" y="216898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5" name="Rectangle 70">
            <a:extLst>
              <a:ext uri="{FF2B5EF4-FFF2-40B4-BE49-F238E27FC236}">
                <a16:creationId xmlns:a16="http://schemas.microsoft.com/office/drawing/2014/main" id="{23D39F9F-68DF-416A-409D-F13D8EA68DA6}"/>
              </a:ext>
            </a:extLst>
          </p:cNvPr>
          <p:cNvSpPr>
            <a:spLocks noChangeArrowheads="1"/>
          </p:cNvSpPr>
          <p:nvPr/>
        </p:nvSpPr>
        <p:spPr bwMode="auto">
          <a:xfrm>
            <a:off x="3125968" y="216898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6" name="Rectangle 71">
            <a:extLst>
              <a:ext uri="{FF2B5EF4-FFF2-40B4-BE49-F238E27FC236}">
                <a16:creationId xmlns:a16="http://schemas.microsoft.com/office/drawing/2014/main" id="{7777B920-ADDF-5172-6E3A-7CC9D6B3C83F}"/>
              </a:ext>
            </a:extLst>
          </p:cNvPr>
          <p:cNvSpPr>
            <a:spLocks noChangeArrowheads="1"/>
          </p:cNvSpPr>
          <p:nvPr/>
        </p:nvSpPr>
        <p:spPr bwMode="auto">
          <a:xfrm>
            <a:off x="3575974" y="216898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7" name="Rectangle 72">
            <a:extLst>
              <a:ext uri="{FF2B5EF4-FFF2-40B4-BE49-F238E27FC236}">
                <a16:creationId xmlns:a16="http://schemas.microsoft.com/office/drawing/2014/main" id="{9A0A565C-F1AB-6962-BD0C-8142D0B09F77}"/>
              </a:ext>
            </a:extLst>
          </p:cNvPr>
          <p:cNvSpPr>
            <a:spLocks noChangeArrowheads="1"/>
          </p:cNvSpPr>
          <p:nvPr/>
        </p:nvSpPr>
        <p:spPr bwMode="auto">
          <a:xfrm>
            <a:off x="4025979" y="216898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8" name="Rectangle 73">
            <a:extLst>
              <a:ext uri="{FF2B5EF4-FFF2-40B4-BE49-F238E27FC236}">
                <a16:creationId xmlns:a16="http://schemas.microsoft.com/office/drawing/2014/main" id="{AAFF3007-01CB-8524-A765-46D3B7097B2F}"/>
              </a:ext>
            </a:extLst>
          </p:cNvPr>
          <p:cNvSpPr>
            <a:spLocks noChangeArrowheads="1"/>
          </p:cNvSpPr>
          <p:nvPr/>
        </p:nvSpPr>
        <p:spPr bwMode="auto">
          <a:xfrm>
            <a:off x="4475983" y="216898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9" name="Rectangle 69">
            <a:extLst>
              <a:ext uri="{FF2B5EF4-FFF2-40B4-BE49-F238E27FC236}">
                <a16:creationId xmlns:a16="http://schemas.microsoft.com/office/drawing/2014/main" id="{650F9D52-0147-6D75-3FDA-44BA83C72168}"/>
              </a:ext>
            </a:extLst>
          </p:cNvPr>
          <p:cNvSpPr>
            <a:spLocks noChangeArrowheads="1"/>
          </p:cNvSpPr>
          <p:nvPr/>
        </p:nvSpPr>
        <p:spPr bwMode="auto">
          <a:xfrm>
            <a:off x="3125968" y="261899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50" name="Rectangle 70">
            <a:extLst>
              <a:ext uri="{FF2B5EF4-FFF2-40B4-BE49-F238E27FC236}">
                <a16:creationId xmlns:a16="http://schemas.microsoft.com/office/drawing/2014/main" id="{56D0B039-AFA9-3E3F-6727-0CACD9FD68EA}"/>
              </a:ext>
            </a:extLst>
          </p:cNvPr>
          <p:cNvSpPr>
            <a:spLocks noChangeArrowheads="1"/>
          </p:cNvSpPr>
          <p:nvPr/>
        </p:nvSpPr>
        <p:spPr bwMode="auto">
          <a:xfrm>
            <a:off x="3575972" y="261899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51" name="Rectangle 71">
            <a:extLst>
              <a:ext uri="{FF2B5EF4-FFF2-40B4-BE49-F238E27FC236}">
                <a16:creationId xmlns:a16="http://schemas.microsoft.com/office/drawing/2014/main" id="{90490859-5C7F-30A5-609B-983EEB24421C}"/>
              </a:ext>
            </a:extLst>
          </p:cNvPr>
          <p:cNvSpPr>
            <a:spLocks noChangeArrowheads="1"/>
          </p:cNvSpPr>
          <p:nvPr/>
        </p:nvSpPr>
        <p:spPr bwMode="auto">
          <a:xfrm>
            <a:off x="4025978" y="261899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52" name="Rectangle 72">
            <a:extLst>
              <a:ext uri="{FF2B5EF4-FFF2-40B4-BE49-F238E27FC236}">
                <a16:creationId xmlns:a16="http://schemas.microsoft.com/office/drawing/2014/main" id="{A20843B1-0FCB-11F5-A0D9-DB77FB5BE61F}"/>
              </a:ext>
            </a:extLst>
          </p:cNvPr>
          <p:cNvSpPr>
            <a:spLocks noChangeArrowheads="1"/>
          </p:cNvSpPr>
          <p:nvPr/>
        </p:nvSpPr>
        <p:spPr bwMode="auto">
          <a:xfrm>
            <a:off x="4475983" y="2618991"/>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53" name="Rectangle 73">
            <a:extLst>
              <a:ext uri="{FF2B5EF4-FFF2-40B4-BE49-F238E27FC236}">
                <a16:creationId xmlns:a16="http://schemas.microsoft.com/office/drawing/2014/main" id="{9F30305D-2169-69D7-3760-BB366497EEAC}"/>
              </a:ext>
            </a:extLst>
          </p:cNvPr>
          <p:cNvSpPr>
            <a:spLocks noChangeArrowheads="1"/>
          </p:cNvSpPr>
          <p:nvPr/>
        </p:nvSpPr>
        <p:spPr bwMode="auto">
          <a:xfrm>
            <a:off x="4925987" y="2618991"/>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6" name="平行四辺形 5">
            <a:extLst>
              <a:ext uri="{FF2B5EF4-FFF2-40B4-BE49-F238E27FC236}">
                <a16:creationId xmlns:a16="http://schemas.microsoft.com/office/drawing/2014/main" id="{748C4BAE-3192-B141-058B-AA2C56A990B8}"/>
              </a:ext>
            </a:extLst>
          </p:cNvPr>
          <p:cNvSpPr/>
          <p:nvPr/>
        </p:nvSpPr>
        <p:spPr bwMode="auto">
          <a:xfrm flipH="1">
            <a:off x="6186001" y="1718982"/>
            <a:ext cx="3600040" cy="3600040"/>
          </a:xfrm>
          <a:prstGeom prst="parallelogram">
            <a:avLst>
              <a:gd name="adj" fmla="val 9882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22" name="直線矢印コネクタ 21">
            <a:extLst>
              <a:ext uri="{FF2B5EF4-FFF2-40B4-BE49-F238E27FC236}">
                <a16:creationId xmlns:a16="http://schemas.microsoft.com/office/drawing/2014/main" id="{A32AC71E-E372-BD45-2787-25596F8DC4F8}"/>
              </a:ext>
            </a:extLst>
          </p:cNvPr>
          <p:cNvCxnSpPr>
            <a:cxnSpLocks/>
          </p:cNvCxnSpPr>
          <p:nvPr/>
        </p:nvCxnSpPr>
        <p:spPr bwMode="auto">
          <a:xfrm>
            <a:off x="6186001" y="1628980"/>
            <a:ext cx="360004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24" name="直線矢印コネクタ 23">
            <a:extLst>
              <a:ext uri="{FF2B5EF4-FFF2-40B4-BE49-F238E27FC236}">
                <a16:creationId xmlns:a16="http://schemas.microsoft.com/office/drawing/2014/main" id="{F9A1CDE6-D568-AC2A-6EAF-591891154AFA}"/>
              </a:ext>
            </a:extLst>
          </p:cNvPr>
          <p:cNvCxnSpPr>
            <a:cxnSpLocks/>
          </p:cNvCxnSpPr>
          <p:nvPr/>
        </p:nvCxnSpPr>
        <p:spPr bwMode="auto">
          <a:xfrm>
            <a:off x="6096000" y="1718981"/>
            <a:ext cx="0" cy="360004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28" name="直線矢印コネクタ 27">
            <a:extLst>
              <a:ext uri="{FF2B5EF4-FFF2-40B4-BE49-F238E27FC236}">
                <a16:creationId xmlns:a16="http://schemas.microsoft.com/office/drawing/2014/main" id="{B1C9A60F-2243-A988-CF3F-4FAF4189D76F}"/>
              </a:ext>
            </a:extLst>
          </p:cNvPr>
          <p:cNvCxnSpPr>
            <a:cxnSpLocks/>
          </p:cNvCxnSpPr>
          <p:nvPr/>
        </p:nvCxnSpPr>
        <p:spPr bwMode="auto">
          <a:xfrm>
            <a:off x="2225958" y="1628980"/>
            <a:ext cx="225002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29" name="正方形/長方形 28">
            <a:extLst>
              <a:ext uri="{FF2B5EF4-FFF2-40B4-BE49-F238E27FC236}">
                <a16:creationId xmlns:a16="http://schemas.microsoft.com/office/drawing/2014/main" id="{C29A97F9-4418-F49A-F8B8-AEA988553BCC}"/>
              </a:ext>
            </a:extLst>
          </p:cNvPr>
          <p:cNvSpPr/>
          <p:nvPr/>
        </p:nvSpPr>
        <p:spPr>
          <a:xfrm>
            <a:off x="3125968" y="1088974"/>
            <a:ext cx="540005" cy="450005"/>
          </a:xfrm>
          <a:prstGeom prst="rect">
            <a:avLst/>
          </a:prstGeom>
        </p:spPr>
        <p:txBody>
          <a:bodyPr wrap="none">
            <a:noAutofit/>
          </a:bodyPr>
          <a:lstStyle/>
          <a:p>
            <a:pPr algn="ctr"/>
            <a:r>
              <a:rPr lang="en-US" altLang="ja-JP" dirty="0">
                <a:solidFill>
                  <a:schemeClr val="tx1">
                    <a:lumMod val="65000"/>
                    <a:lumOff val="35000"/>
                  </a:schemeClr>
                </a:solidFill>
              </a:rPr>
              <a:t>5 cycle</a:t>
            </a:r>
            <a:endParaRPr lang="ja-JP" altLang="en-US" dirty="0">
              <a:solidFill>
                <a:schemeClr val="tx1">
                  <a:lumMod val="65000"/>
                  <a:lumOff val="35000"/>
                </a:schemeClr>
              </a:solidFill>
            </a:endParaRPr>
          </a:p>
        </p:txBody>
      </p:sp>
      <p:sp>
        <p:nvSpPr>
          <p:cNvPr id="30" name="正方形/長方形 29">
            <a:extLst>
              <a:ext uri="{FF2B5EF4-FFF2-40B4-BE49-F238E27FC236}">
                <a16:creationId xmlns:a16="http://schemas.microsoft.com/office/drawing/2014/main" id="{0A43CA62-8DC3-657D-527C-1AA42E98A139}"/>
              </a:ext>
            </a:extLst>
          </p:cNvPr>
          <p:cNvSpPr/>
          <p:nvPr/>
        </p:nvSpPr>
        <p:spPr>
          <a:xfrm>
            <a:off x="7806020" y="1178975"/>
            <a:ext cx="540005" cy="360004"/>
          </a:xfrm>
          <a:prstGeom prst="rect">
            <a:avLst/>
          </a:prstGeom>
        </p:spPr>
        <p:txBody>
          <a:bodyPr wrap="none">
            <a:noAutofit/>
          </a:bodyPr>
          <a:lstStyle/>
          <a:p>
            <a:pPr algn="ctr"/>
            <a:r>
              <a:rPr lang="en-US" altLang="ja-JP" dirty="0">
                <a:solidFill>
                  <a:schemeClr val="tx1">
                    <a:lumMod val="65000"/>
                    <a:lumOff val="35000"/>
                  </a:schemeClr>
                </a:solidFill>
              </a:rPr>
              <a:t>5+999,999 cycle</a:t>
            </a:r>
            <a:endParaRPr lang="ja-JP" altLang="en-US" dirty="0">
              <a:solidFill>
                <a:schemeClr val="tx1">
                  <a:lumMod val="65000"/>
                  <a:lumOff val="35000"/>
                </a:schemeClr>
              </a:solidFill>
            </a:endParaRPr>
          </a:p>
        </p:txBody>
      </p:sp>
      <p:sp>
        <p:nvSpPr>
          <p:cNvPr id="31" name="正方形/長方形 30">
            <a:extLst>
              <a:ext uri="{FF2B5EF4-FFF2-40B4-BE49-F238E27FC236}">
                <a16:creationId xmlns:a16="http://schemas.microsoft.com/office/drawing/2014/main" id="{EB247995-759E-B5E2-0124-4EF4EB26DDBA}"/>
              </a:ext>
            </a:extLst>
          </p:cNvPr>
          <p:cNvSpPr/>
          <p:nvPr/>
        </p:nvSpPr>
        <p:spPr>
          <a:xfrm rot="16200000">
            <a:off x="5645996" y="3158996"/>
            <a:ext cx="540005" cy="360004"/>
          </a:xfrm>
          <a:prstGeom prst="rect">
            <a:avLst/>
          </a:prstGeom>
        </p:spPr>
        <p:txBody>
          <a:bodyPr wrap="none">
            <a:noAutofit/>
          </a:bodyPr>
          <a:lstStyle/>
          <a:p>
            <a:pPr algn="ctr"/>
            <a:r>
              <a:rPr lang="en-US" altLang="ja-JP" dirty="0">
                <a:solidFill>
                  <a:schemeClr val="tx1">
                    <a:lumMod val="65000"/>
                    <a:lumOff val="35000"/>
                  </a:schemeClr>
                </a:solidFill>
              </a:rPr>
              <a:t>1,000,000 </a:t>
            </a:r>
            <a:r>
              <a:rPr lang="ja-JP" altLang="en-US" dirty="0">
                <a:solidFill>
                  <a:schemeClr val="tx1">
                    <a:lumMod val="65000"/>
                    <a:lumOff val="35000"/>
                  </a:schemeClr>
                </a:solidFill>
              </a:rPr>
              <a:t>命令</a:t>
            </a:r>
          </a:p>
        </p:txBody>
      </p:sp>
      <p:cxnSp>
        <p:nvCxnSpPr>
          <p:cNvPr id="32" name="直線矢印コネクタ 31">
            <a:extLst>
              <a:ext uri="{FF2B5EF4-FFF2-40B4-BE49-F238E27FC236}">
                <a16:creationId xmlns:a16="http://schemas.microsoft.com/office/drawing/2014/main" id="{14BF5223-F353-66D9-AC0A-CB5B3F45C527}"/>
              </a:ext>
            </a:extLst>
          </p:cNvPr>
          <p:cNvCxnSpPr>
            <a:cxnSpLocks/>
          </p:cNvCxnSpPr>
          <p:nvPr/>
        </p:nvCxnSpPr>
        <p:spPr bwMode="auto">
          <a:xfrm>
            <a:off x="4475982" y="1628980"/>
            <a:ext cx="90001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34" name="正方形/長方形 33">
            <a:extLst>
              <a:ext uri="{FF2B5EF4-FFF2-40B4-BE49-F238E27FC236}">
                <a16:creationId xmlns:a16="http://schemas.microsoft.com/office/drawing/2014/main" id="{500F67A2-728F-B2E7-D309-BF98BCA7D1BD}"/>
              </a:ext>
            </a:extLst>
          </p:cNvPr>
          <p:cNvSpPr/>
          <p:nvPr/>
        </p:nvSpPr>
        <p:spPr>
          <a:xfrm>
            <a:off x="4655985" y="1088975"/>
            <a:ext cx="540005" cy="450005"/>
          </a:xfrm>
          <a:prstGeom prst="rect">
            <a:avLst/>
          </a:prstGeom>
        </p:spPr>
        <p:txBody>
          <a:bodyPr wrap="none">
            <a:noAutofit/>
          </a:bodyPr>
          <a:lstStyle/>
          <a:p>
            <a:pPr algn="ctr"/>
            <a:r>
              <a:rPr lang="en-US" altLang="ja-JP" dirty="0">
                <a:solidFill>
                  <a:schemeClr val="tx1">
                    <a:lumMod val="65000"/>
                    <a:lumOff val="35000"/>
                  </a:schemeClr>
                </a:solidFill>
              </a:rPr>
              <a:t>2 cycle</a:t>
            </a:r>
            <a:endParaRPr lang="ja-JP" altLang="en-US" dirty="0">
              <a:solidFill>
                <a:schemeClr val="tx1">
                  <a:lumMod val="65000"/>
                  <a:lumOff val="35000"/>
                </a:schemeClr>
              </a:solidFill>
            </a:endParaRPr>
          </a:p>
        </p:txBody>
      </p:sp>
    </p:spTree>
    <p:extLst>
      <p:ext uri="{BB962C8B-B14F-4D97-AF65-F5344CB8AC3E}">
        <p14:creationId xmlns:p14="http://schemas.microsoft.com/office/powerpoint/2010/main" val="2225350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「十分に多く」の命令を実行した場合の性能</a:t>
            </a:r>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1955954" y="5499024"/>
            <a:ext cx="8280860" cy="809625"/>
          </a:xfrm>
        </p:spPr>
        <p:txBody>
          <a:bodyPr/>
          <a:lstStyle/>
          <a:p>
            <a:pPr lvl="1"/>
            <a:r>
              <a:rPr lang="en-US" altLang="ja-JP" dirty="0">
                <a:solidFill>
                  <a:schemeClr val="tx1">
                    <a:lumMod val="65000"/>
                    <a:lumOff val="35000"/>
                  </a:schemeClr>
                </a:solidFill>
              </a:rPr>
              <a:t>IPC</a:t>
            </a:r>
            <a:r>
              <a:rPr lang="ja-JP" altLang="en-US" dirty="0">
                <a:solidFill>
                  <a:schemeClr val="tx1">
                    <a:lumMod val="65000"/>
                    <a:lumOff val="35000"/>
                  </a:schemeClr>
                </a:solidFill>
              </a:rPr>
              <a:t>≈</a:t>
            </a:r>
            <a:r>
              <a:rPr lang="en-US" altLang="ja-JP" dirty="0">
                <a:solidFill>
                  <a:schemeClr val="tx1">
                    <a:lumMod val="65000"/>
                    <a:lumOff val="35000"/>
                  </a:schemeClr>
                </a:solidFill>
              </a:rPr>
              <a:t>1</a:t>
            </a:r>
            <a:r>
              <a:rPr lang="ja-JP" altLang="en-US" dirty="0">
                <a:solidFill>
                  <a:schemeClr val="tx1">
                    <a:lumMod val="65000"/>
                    <a:lumOff val="35000"/>
                  </a:schemeClr>
                </a:solidFill>
              </a:rPr>
              <a:t>命令</a:t>
            </a:r>
            <a:r>
              <a:rPr lang="en-US" altLang="ja-JP" dirty="0">
                <a:solidFill>
                  <a:schemeClr val="tx1">
                    <a:lumMod val="65000"/>
                    <a:lumOff val="35000"/>
                  </a:schemeClr>
                </a:solidFill>
              </a:rPr>
              <a:t> / 1</a:t>
            </a:r>
            <a:r>
              <a:rPr lang="ja-JP" altLang="en-US" dirty="0">
                <a:solidFill>
                  <a:schemeClr val="tx1">
                    <a:lumMod val="65000"/>
                    <a:lumOff val="35000"/>
                  </a:schemeClr>
                </a:solidFill>
              </a:rPr>
              <a:t>サイクル</a:t>
            </a:r>
            <a:r>
              <a:rPr lang="en-US" altLang="ja-JP" dirty="0">
                <a:solidFill>
                  <a:schemeClr val="tx1">
                    <a:lumMod val="65000"/>
                    <a:lumOff val="35000"/>
                  </a:schemeClr>
                </a:solidFill>
              </a:rPr>
              <a:t> = </a:t>
            </a:r>
            <a:r>
              <a:rPr lang="en-US" altLang="ja-JP" dirty="0">
                <a:solidFill>
                  <a:schemeClr val="accent5"/>
                </a:solidFill>
              </a:rPr>
              <a:t>1</a:t>
            </a:r>
          </a:p>
          <a:p>
            <a:pPr lvl="1"/>
            <a:r>
              <a:rPr lang="ja-JP" altLang="en-US" dirty="0">
                <a:solidFill>
                  <a:schemeClr val="tx1">
                    <a:lumMod val="75000"/>
                    <a:lumOff val="25000"/>
                  </a:schemeClr>
                </a:solidFill>
              </a:rPr>
              <a:t>周波数</a:t>
            </a:r>
            <a:r>
              <a:rPr lang="en-US" altLang="ja-JP" dirty="0">
                <a:solidFill>
                  <a:schemeClr val="tx1">
                    <a:lumMod val="65000"/>
                    <a:lumOff val="35000"/>
                  </a:schemeClr>
                </a:solidFill>
              </a:rPr>
              <a:t> = 1</a:t>
            </a:r>
            <a:r>
              <a:rPr lang="ja-JP" altLang="en-US" dirty="0">
                <a:solidFill>
                  <a:schemeClr val="tx1">
                    <a:lumMod val="65000"/>
                    <a:lumOff val="35000"/>
                  </a:schemeClr>
                </a:solidFill>
              </a:rPr>
              <a:t>秒</a:t>
            </a:r>
            <a:r>
              <a:rPr lang="en-US" altLang="ja-JP" dirty="0">
                <a:solidFill>
                  <a:schemeClr val="tx1">
                    <a:lumMod val="65000"/>
                    <a:lumOff val="35000"/>
                  </a:schemeClr>
                </a:solidFill>
              </a:rPr>
              <a:t> / 1ns = </a:t>
            </a:r>
            <a:r>
              <a:rPr lang="en-US" altLang="ja-JP" dirty="0">
                <a:solidFill>
                  <a:schemeClr val="accent5"/>
                </a:solidFill>
              </a:rPr>
              <a:t>1000 MHz = 1GHz</a:t>
            </a:r>
          </a:p>
          <a:p>
            <a:pPr lvl="1"/>
            <a:r>
              <a:rPr lang="ja-JP" altLang="en-US" dirty="0">
                <a:solidFill>
                  <a:schemeClr val="tx1">
                    <a:lumMod val="75000"/>
                    <a:lumOff val="25000"/>
                  </a:schemeClr>
                </a:solidFill>
              </a:rPr>
              <a:t>性能（</a:t>
            </a:r>
            <a:r>
              <a:rPr lang="en-US" altLang="ja-JP" dirty="0">
                <a:solidFill>
                  <a:schemeClr val="tx1">
                    <a:lumMod val="75000"/>
                    <a:lumOff val="25000"/>
                  </a:schemeClr>
                </a:solidFill>
              </a:rPr>
              <a:t>1</a:t>
            </a:r>
            <a:r>
              <a:rPr lang="ja-JP" altLang="en-US" dirty="0">
                <a:solidFill>
                  <a:schemeClr val="tx1">
                    <a:lumMod val="75000"/>
                    <a:lumOff val="25000"/>
                  </a:schemeClr>
                </a:solidFill>
              </a:rPr>
              <a:t>秒あたりの命令数）</a:t>
            </a:r>
            <a:r>
              <a:rPr lang="en-US" altLang="ja-JP" dirty="0">
                <a:solidFill>
                  <a:schemeClr val="tx1">
                    <a:lumMod val="75000"/>
                    <a:lumOff val="25000"/>
                  </a:schemeClr>
                </a:solidFill>
              </a:rPr>
              <a:t>=</a:t>
            </a:r>
            <a:r>
              <a:rPr lang="ja-JP" altLang="en-US" dirty="0">
                <a:solidFill>
                  <a:schemeClr val="accent5"/>
                </a:solidFill>
              </a:rPr>
              <a:t> </a:t>
            </a:r>
            <a:r>
              <a:rPr lang="en-US" altLang="ja-JP" dirty="0">
                <a:solidFill>
                  <a:schemeClr val="tx1">
                    <a:lumMod val="75000"/>
                    <a:lumOff val="25000"/>
                  </a:schemeClr>
                </a:solidFill>
              </a:rPr>
              <a:t>IPC*</a:t>
            </a:r>
            <a:r>
              <a:rPr lang="ja-JP" altLang="en-US" dirty="0">
                <a:solidFill>
                  <a:schemeClr val="tx1">
                    <a:lumMod val="75000"/>
                    <a:lumOff val="25000"/>
                  </a:schemeClr>
                </a:solidFill>
              </a:rPr>
              <a:t>周波数</a:t>
            </a:r>
            <a:r>
              <a:rPr lang="ja-JP" altLang="en-US" dirty="0">
                <a:solidFill>
                  <a:schemeClr val="accent5"/>
                </a:solidFill>
              </a:rPr>
              <a:t> </a:t>
            </a:r>
            <a:r>
              <a:rPr lang="en-US" altLang="ja-JP" dirty="0">
                <a:solidFill>
                  <a:schemeClr val="accent5"/>
                </a:solidFill>
              </a:rPr>
              <a:t>= </a:t>
            </a:r>
            <a:r>
              <a:rPr lang="ja-JP" altLang="en-US" dirty="0">
                <a:solidFill>
                  <a:schemeClr val="accent5"/>
                </a:solidFill>
              </a:rPr>
              <a:t>秒間 </a:t>
            </a:r>
            <a:r>
              <a:rPr lang="en-US" altLang="ja-JP" dirty="0">
                <a:solidFill>
                  <a:schemeClr val="accent5"/>
                </a:solidFill>
              </a:rPr>
              <a:t>1G </a:t>
            </a:r>
            <a:r>
              <a:rPr lang="ja-JP" altLang="en-US" dirty="0">
                <a:solidFill>
                  <a:schemeClr val="accent5"/>
                </a:solidFill>
              </a:rPr>
              <a:t>命令</a:t>
            </a:r>
            <a:endParaRPr lang="en-US" altLang="ja-JP" dirty="0"/>
          </a:p>
        </p:txBody>
      </p:sp>
      <p:sp>
        <p:nvSpPr>
          <p:cNvPr id="3" name="平行四辺形 2">
            <a:extLst>
              <a:ext uri="{FF2B5EF4-FFF2-40B4-BE49-F238E27FC236}">
                <a16:creationId xmlns:a16="http://schemas.microsoft.com/office/drawing/2014/main" id="{51F2A056-AEF9-BFDD-E80A-1D877C2AE31C}"/>
              </a:ext>
            </a:extLst>
          </p:cNvPr>
          <p:cNvSpPr/>
          <p:nvPr/>
        </p:nvSpPr>
        <p:spPr bwMode="auto">
          <a:xfrm flipH="1">
            <a:off x="6726007" y="1538979"/>
            <a:ext cx="3600040" cy="3600040"/>
          </a:xfrm>
          <a:prstGeom prst="parallelogram">
            <a:avLst>
              <a:gd name="adj" fmla="val 9882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4" name="直線矢印コネクタ 3">
            <a:extLst>
              <a:ext uri="{FF2B5EF4-FFF2-40B4-BE49-F238E27FC236}">
                <a16:creationId xmlns:a16="http://schemas.microsoft.com/office/drawing/2014/main" id="{932B1EA0-6D29-11A5-0285-71D18AA08611}"/>
              </a:ext>
            </a:extLst>
          </p:cNvPr>
          <p:cNvCxnSpPr>
            <a:cxnSpLocks/>
          </p:cNvCxnSpPr>
          <p:nvPr/>
        </p:nvCxnSpPr>
        <p:spPr bwMode="auto">
          <a:xfrm>
            <a:off x="6726007" y="1448977"/>
            <a:ext cx="360004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5" name="直線矢印コネクタ 4">
            <a:extLst>
              <a:ext uri="{FF2B5EF4-FFF2-40B4-BE49-F238E27FC236}">
                <a16:creationId xmlns:a16="http://schemas.microsoft.com/office/drawing/2014/main" id="{D074F71C-1A32-CAC6-F6BA-7D410794006A}"/>
              </a:ext>
            </a:extLst>
          </p:cNvPr>
          <p:cNvCxnSpPr>
            <a:cxnSpLocks/>
          </p:cNvCxnSpPr>
          <p:nvPr/>
        </p:nvCxnSpPr>
        <p:spPr bwMode="auto">
          <a:xfrm>
            <a:off x="6636006" y="1538978"/>
            <a:ext cx="0" cy="360004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7" name="正方形/長方形 6">
            <a:extLst>
              <a:ext uri="{FF2B5EF4-FFF2-40B4-BE49-F238E27FC236}">
                <a16:creationId xmlns:a16="http://schemas.microsoft.com/office/drawing/2014/main" id="{9ACEFC03-AB90-2263-C451-AB721D7A31C6}"/>
              </a:ext>
            </a:extLst>
          </p:cNvPr>
          <p:cNvSpPr/>
          <p:nvPr/>
        </p:nvSpPr>
        <p:spPr>
          <a:xfrm>
            <a:off x="8346026" y="998972"/>
            <a:ext cx="540005" cy="360004"/>
          </a:xfrm>
          <a:prstGeom prst="rect">
            <a:avLst/>
          </a:prstGeom>
        </p:spPr>
        <p:txBody>
          <a:bodyPr wrap="none">
            <a:noAutofit/>
          </a:bodyPr>
          <a:lstStyle/>
          <a:p>
            <a:pPr algn="ctr"/>
            <a:r>
              <a:rPr lang="en-US" altLang="ja-JP" dirty="0">
                <a:solidFill>
                  <a:schemeClr val="tx1">
                    <a:lumMod val="65000"/>
                    <a:lumOff val="35000"/>
                  </a:schemeClr>
                </a:solidFill>
              </a:rPr>
              <a:t>5+999,999 cycle</a:t>
            </a:r>
            <a:endParaRPr lang="ja-JP" altLang="en-US" dirty="0">
              <a:solidFill>
                <a:schemeClr val="tx1">
                  <a:lumMod val="65000"/>
                  <a:lumOff val="35000"/>
                </a:schemeClr>
              </a:solidFill>
            </a:endParaRPr>
          </a:p>
        </p:txBody>
      </p:sp>
      <p:sp>
        <p:nvSpPr>
          <p:cNvPr id="8" name="正方形/長方形 7">
            <a:extLst>
              <a:ext uri="{FF2B5EF4-FFF2-40B4-BE49-F238E27FC236}">
                <a16:creationId xmlns:a16="http://schemas.microsoft.com/office/drawing/2014/main" id="{CAB52952-7588-9ACA-EDE0-590CD30928FE}"/>
              </a:ext>
            </a:extLst>
          </p:cNvPr>
          <p:cNvSpPr/>
          <p:nvPr/>
        </p:nvSpPr>
        <p:spPr>
          <a:xfrm rot="16200000">
            <a:off x="6186002" y="2978993"/>
            <a:ext cx="540005" cy="360004"/>
          </a:xfrm>
          <a:prstGeom prst="rect">
            <a:avLst/>
          </a:prstGeom>
        </p:spPr>
        <p:txBody>
          <a:bodyPr wrap="none">
            <a:noAutofit/>
          </a:bodyPr>
          <a:lstStyle/>
          <a:p>
            <a:pPr algn="ctr"/>
            <a:r>
              <a:rPr lang="en-US" altLang="ja-JP" dirty="0">
                <a:solidFill>
                  <a:schemeClr val="tx1">
                    <a:lumMod val="65000"/>
                    <a:lumOff val="35000"/>
                  </a:schemeClr>
                </a:solidFill>
              </a:rPr>
              <a:t>1,000,000 </a:t>
            </a:r>
            <a:r>
              <a:rPr lang="ja-JP" altLang="en-US" dirty="0">
                <a:solidFill>
                  <a:schemeClr val="tx1">
                    <a:lumMod val="65000"/>
                    <a:lumOff val="35000"/>
                  </a:schemeClr>
                </a:solidFill>
              </a:rPr>
              <a:t>命令</a:t>
            </a:r>
          </a:p>
        </p:txBody>
      </p:sp>
      <p:cxnSp>
        <p:nvCxnSpPr>
          <p:cNvPr id="55" name="直線矢印コネクタ 54">
            <a:extLst>
              <a:ext uri="{FF2B5EF4-FFF2-40B4-BE49-F238E27FC236}">
                <a16:creationId xmlns:a16="http://schemas.microsoft.com/office/drawing/2014/main" id="{6D77AB78-7BC7-CBD4-F18B-9D907526FC71}"/>
              </a:ext>
            </a:extLst>
          </p:cNvPr>
          <p:cNvCxnSpPr>
            <a:cxnSpLocks/>
          </p:cNvCxnSpPr>
          <p:nvPr/>
        </p:nvCxnSpPr>
        <p:spPr bwMode="auto">
          <a:xfrm>
            <a:off x="2495962" y="1898983"/>
            <a:ext cx="45000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56" name="正方形/長方形 55">
            <a:extLst>
              <a:ext uri="{FF2B5EF4-FFF2-40B4-BE49-F238E27FC236}">
                <a16:creationId xmlns:a16="http://schemas.microsoft.com/office/drawing/2014/main" id="{33FE95D5-3BFB-1523-49BC-25556741C4DA}"/>
              </a:ext>
            </a:extLst>
          </p:cNvPr>
          <p:cNvSpPr/>
          <p:nvPr/>
        </p:nvSpPr>
        <p:spPr>
          <a:xfrm>
            <a:off x="2405961" y="1178975"/>
            <a:ext cx="540005" cy="540006"/>
          </a:xfrm>
          <a:prstGeom prst="rect">
            <a:avLst/>
          </a:prstGeom>
        </p:spPr>
        <p:txBody>
          <a:bodyPr wrap="none">
            <a:noAutofit/>
          </a:bodyPr>
          <a:lstStyle/>
          <a:p>
            <a:pPr algn="ctr"/>
            <a:r>
              <a:rPr lang="en-US" altLang="ja-JP" dirty="0">
                <a:solidFill>
                  <a:schemeClr val="tx1">
                    <a:lumMod val="65000"/>
                    <a:lumOff val="35000"/>
                  </a:schemeClr>
                </a:solidFill>
              </a:rPr>
              <a:t>1 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57" name="正方形/長方形 56">
            <a:extLst>
              <a:ext uri="{FF2B5EF4-FFF2-40B4-BE49-F238E27FC236}">
                <a16:creationId xmlns:a16="http://schemas.microsoft.com/office/drawing/2014/main" id="{77A73637-76DF-7872-938B-0C23A46DF8AE}"/>
              </a:ext>
            </a:extLst>
          </p:cNvPr>
          <p:cNvSpPr/>
          <p:nvPr/>
        </p:nvSpPr>
        <p:spPr>
          <a:xfrm>
            <a:off x="1865955"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58" name="正方形/長方形 57">
            <a:extLst>
              <a:ext uri="{FF2B5EF4-FFF2-40B4-BE49-F238E27FC236}">
                <a16:creationId xmlns:a16="http://schemas.microsoft.com/office/drawing/2014/main" id="{32957A3E-8661-C702-597C-530530728537}"/>
              </a:ext>
            </a:extLst>
          </p:cNvPr>
          <p:cNvSpPr/>
          <p:nvPr/>
        </p:nvSpPr>
        <p:spPr>
          <a:xfrm>
            <a:off x="1865955" y="243898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59" name="正方形/長方形 58">
            <a:extLst>
              <a:ext uri="{FF2B5EF4-FFF2-40B4-BE49-F238E27FC236}">
                <a16:creationId xmlns:a16="http://schemas.microsoft.com/office/drawing/2014/main" id="{81DB0530-021F-858A-B3EF-742405885C04}"/>
              </a:ext>
            </a:extLst>
          </p:cNvPr>
          <p:cNvSpPr/>
          <p:nvPr/>
        </p:nvSpPr>
        <p:spPr>
          <a:xfrm>
            <a:off x="1865955" y="288899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60" name="Rectangle 69">
            <a:extLst>
              <a:ext uri="{FF2B5EF4-FFF2-40B4-BE49-F238E27FC236}">
                <a16:creationId xmlns:a16="http://schemas.microsoft.com/office/drawing/2014/main" id="{87DC93EA-510F-2CED-3C49-ABA98D0CB62E}"/>
              </a:ext>
            </a:extLst>
          </p:cNvPr>
          <p:cNvSpPr>
            <a:spLocks noChangeArrowheads="1"/>
          </p:cNvSpPr>
          <p:nvPr/>
        </p:nvSpPr>
        <p:spPr bwMode="auto">
          <a:xfrm>
            <a:off x="2495961"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61" name="Rectangle 70">
            <a:extLst>
              <a:ext uri="{FF2B5EF4-FFF2-40B4-BE49-F238E27FC236}">
                <a16:creationId xmlns:a16="http://schemas.microsoft.com/office/drawing/2014/main" id="{E2A5E54B-BBC7-0B25-B996-770AF7D777C1}"/>
              </a:ext>
            </a:extLst>
          </p:cNvPr>
          <p:cNvSpPr>
            <a:spLocks noChangeArrowheads="1"/>
          </p:cNvSpPr>
          <p:nvPr/>
        </p:nvSpPr>
        <p:spPr bwMode="auto">
          <a:xfrm>
            <a:off x="2945965"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62" name="Rectangle 71">
            <a:extLst>
              <a:ext uri="{FF2B5EF4-FFF2-40B4-BE49-F238E27FC236}">
                <a16:creationId xmlns:a16="http://schemas.microsoft.com/office/drawing/2014/main" id="{E7243571-9A69-A4F8-37EB-6A83C0C08289}"/>
              </a:ext>
            </a:extLst>
          </p:cNvPr>
          <p:cNvSpPr>
            <a:spLocks noChangeArrowheads="1"/>
          </p:cNvSpPr>
          <p:nvPr/>
        </p:nvSpPr>
        <p:spPr bwMode="auto">
          <a:xfrm>
            <a:off x="3395971"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63" name="Rectangle 72">
            <a:extLst>
              <a:ext uri="{FF2B5EF4-FFF2-40B4-BE49-F238E27FC236}">
                <a16:creationId xmlns:a16="http://schemas.microsoft.com/office/drawing/2014/main" id="{AEA01D9D-197B-B914-C0BA-9B727A10DEA3}"/>
              </a:ext>
            </a:extLst>
          </p:cNvPr>
          <p:cNvSpPr>
            <a:spLocks noChangeArrowheads="1"/>
          </p:cNvSpPr>
          <p:nvPr/>
        </p:nvSpPr>
        <p:spPr bwMode="auto">
          <a:xfrm>
            <a:off x="3845976"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28" name="Rectangle 73">
            <a:extLst>
              <a:ext uri="{FF2B5EF4-FFF2-40B4-BE49-F238E27FC236}">
                <a16:creationId xmlns:a16="http://schemas.microsoft.com/office/drawing/2014/main" id="{17B20D46-4CEE-67DC-B6CC-20CB76AC10C6}"/>
              </a:ext>
            </a:extLst>
          </p:cNvPr>
          <p:cNvSpPr>
            <a:spLocks noChangeArrowheads="1"/>
          </p:cNvSpPr>
          <p:nvPr/>
        </p:nvSpPr>
        <p:spPr bwMode="auto">
          <a:xfrm>
            <a:off x="4295980"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30" name="Rectangle 69">
            <a:extLst>
              <a:ext uri="{FF2B5EF4-FFF2-40B4-BE49-F238E27FC236}">
                <a16:creationId xmlns:a16="http://schemas.microsoft.com/office/drawing/2014/main" id="{C647FE3E-935D-F989-C66B-BFC091CAB2F6}"/>
              </a:ext>
            </a:extLst>
          </p:cNvPr>
          <p:cNvSpPr>
            <a:spLocks noChangeArrowheads="1"/>
          </p:cNvSpPr>
          <p:nvPr/>
        </p:nvSpPr>
        <p:spPr bwMode="auto">
          <a:xfrm>
            <a:off x="2945968"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1" name="Rectangle 70">
            <a:extLst>
              <a:ext uri="{FF2B5EF4-FFF2-40B4-BE49-F238E27FC236}">
                <a16:creationId xmlns:a16="http://schemas.microsoft.com/office/drawing/2014/main" id="{7DF1DC2B-874E-1278-DF63-B9E73CCC8F7D}"/>
              </a:ext>
            </a:extLst>
          </p:cNvPr>
          <p:cNvSpPr>
            <a:spLocks noChangeArrowheads="1"/>
          </p:cNvSpPr>
          <p:nvPr/>
        </p:nvSpPr>
        <p:spPr bwMode="auto">
          <a:xfrm>
            <a:off x="3395972"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2" name="Rectangle 71">
            <a:extLst>
              <a:ext uri="{FF2B5EF4-FFF2-40B4-BE49-F238E27FC236}">
                <a16:creationId xmlns:a16="http://schemas.microsoft.com/office/drawing/2014/main" id="{FE3BA170-7C17-3A71-9AFE-7A6FBE450D19}"/>
              </a:ext>
            </a:extLst>
          </p:cNvPr>
          <p:cNvSpPr>
            <a:spLocks noChangeArrowheads="1"/>
          </p:cNvSpPr>
          <p:nvPr/>
        </p:nvSpPr>
        <p:spPr bwMode="auto">
          <a:xfrm>
            <a:off x="3845978"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33" name="Rectangle 72">
            <a:extLst>
              <a:ext uri="{FF2B5EF4-FFF2-40B4-BE49-F238E27FC236}">
                <a16:creationId xmlns:a16="http://schemas.microsoft.com/office/drawing/2014/main" id="{877CBFD3-A24D-935E-BE93-3B9EC99B0A36}"/>
              </a:ext>
            </a:extLst>
          </p:cNvPr>
          <p:cNvSpPr>
            <a:spLocks noChangeArrowheads="1"/>
          </p:cNvSpPr>
          <p:nvPr/>
        </p:nvSpPr>
        <p:spPr bwMode="auto">
          <a:xfrm>
            <a:off x="4295983"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4" name="Rectangle 73">
            <a:extLst>
              <a:ext uri="{FF2B5EF4-FFF2-40B4-BE49-F238E27FC236}">
                <a16:creationId xmlns:a16="http://schemas.microsoft.com/office/drawing/2014/main" id="{1CB131F6-C6F4-76CA-5E32-202EBE799FC7}"/>
              </a:ext>
            </a:extLst>
          </p:cNvPr>
          <p:cNvSpPr>
            <a:spLocks noChangeArrowheads="1"/>
          </p:cNvSpPr>
          <p:nvPr/>
        </p:nvSpPr>
        <p:spPr bwMode="auto">
          <a:xfrm>
            <a:off x="4745987"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35" name="Rectangle 69">
            <a:extLst>
              <a:ext uri="{FF2B5EF4-FFF2-40B4-BE49-F238E27FC236}">
                <a16:creationId xmlns:a16="http://schemas.microsoft.com/office/drawing/2014/main" id="{B49B0883-7391-E92F-DFAA-AA40DA29736A}"/>
              </a:ext>
            </a:extLst>
          </p:cNvPr>
          <p:cNvSpPr>
            <a:spLocks noChangeArrowheads="1"/>
          </p:cNvSpPr>
          <p:nvPr/>
        </p:nvSpPr>
        <p:spPr bwMode="auto">
          <a:xfrm>
            <a:off x="3395972"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6" name="Rectangle 70">
            <a:extLst>
              <a:ext uri="{FF2B5EF4-FFF2-40B4-BE49-F238E27FC236}">
                <a16:creationId xmlns:a16="http://schemas.microsoft.com/office/drawing/2014/main" id="{2256CA1E-1814-A02B-5AFB-4FF3F7A8A388}"/>
              </a:ext>
            </a:extLst>
          </p:cNvPr>
          <p:cNvSpPr>
            <a:spLocks noChangeArrowheads="1"/>
          </p:cNvSpPr>
          <p:nvPr/>
        </p:nvSpPr>
        <p:spPr bwMode="auto">
          <a:xfrm>
            <a:off x="3845976"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7" name="Rectangle 71">
            <a:extLst>
              <a:ext uri="{FF2B5EF4-FFF2-40B4-BE49-F238E27FC236}">
                <a16:creationId xmlns:a16="http://schemas.microsoft.com/office/drawing/2014/main" id="{0737A09B-604C-1CB0-42AF-C9BD503DA945}"/>
              </a:ext>
            </a:extLst>
          </p:cNvPr>
          <p:cNvSpPr>
            <a:spLocks noChangeArrowheads="1"/>
          </p:cNvSpPr>
          <p:nvPr/>
        </p:nvSpPr>
        <p:spPr bwMode="auto">
          <a:xfrm>
            <a:off x="4295982"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38" name="Rectangle 72">
            <a:extLst>
              <a:ext uri="{FF2B5EF4-FFF2-40B4-BE49-F238E27FC236}">
                <a16:creationId xmlns:a16="http://schemas.microsoft.com/office/drawing/2014/main" id="{69E3EC64-2493-6031-9890-F9C7B54AF75D}"/>
              </a:ext>
            </a:extLst>
          </p:cNvPr>
          <p:cNvSpPr>
            <a:spLocks noChangeArrowheads="1"/>
          </p:cNvSpPr>
          <p:nvPr/>
        </p:nvSpPr>
        <p:spPr bwMode="auto">
          <a:xfrm>
            <a:off x="4745987"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9" name="Rectangle 73">
            <a:extLst>
              <a:ext uri="{FF2B5EF4-FFF2-40B4-BE49-F238E27FC236}">
                <a16:creationId xmlns:a16="http://schemas.microsoft.com/office/drawing/2014/main" id="{2DD3B5A2-6C73-6F04-C526-B27BD1E3F253}"/>
              </a:ext>
            </a:extLst>
          </p:cNvPr>
          <p:cNvSpPr>
            <a:spLocks noChangeArrowheads="1"/>
          </p:cNvSpPr>
          <p:nvPr/>
        </p:nvSpPr>
        <p:spPr bwMode="auto">
          <a:xfrm>
            <a:off x="5195991"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Tree>
    <p:extLst>
      <p:ext uri="{BB962C8B-B14F-4D97-AF65-F5344CB8AC3E}">
        <p14:creationId xmlns:p14="http://schemas.microsoft.com/office/powerpoint/2010/main" val="21656003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パイプライン段数を倍にした場合の性能</a:t>
            </a:r>
            <a:endParaRPr kumimoji="1" lang="ja-JP" altLang="en-US" dirty="0"/>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2045955" y="4869017"/>
            <a:ext cx="8280860" cy="809625"/>
          </a:xfrm>
        </p:spPr>
        <p:txBody>
          <a:bodyPr/>
          <a:lstStyle/>
          <a:p>
            <a:pPr lvl="1"/>
            <a:r>
              <a:rPr lang="ja-JP" altLang="en-US" dirty="0">
                <a:solidFill>
                  <a:schemeClr val="tx1">
                    <a:lumMod val="65000"/>
                    <a:lumOff val="35000"/>
                  </a:schemeClr>
                </a:solidFill>
              </a:rPr>
              <a:t>１ページ前までのパイプラインのステージを半分に分割して（</a:t>
            </a:r>
            <a:r>
              <a:rPr lang="en-US" altLang="ja-JP" dirty="0">
                <a:solidFill>
                  <a:schemeClr val="tx1">
                    <a:lumMod val="65000"/>
                    <a:lumOff val="35000"/>
                  </a:schemeClr>
                </a:solidFill>
              </a:rPr>
              <a:t>=</a:t>
            </a:r>
            <a:r>
              <a:rPr lang="ja-JP" altLang="en-US" dirty="0">
                <a:solidFill>
                  <a:schemeClr val="tx1">
                    <a:lumMod val="65000"/>
                    <a:lumOff val="35000"/>
                  </a:schemeClr>
                </a:solidFill>
              </a:rPr>
              <a:t>各ステージで実施する仕事を半分にして）倍速で動かしている</a:t>
            </a:r>
            <a:br>
              <a:rPr lang="en-US" altLang="ja-JP" dirty="0">
                <a:solidFill>
                  <a:schemeClr val="tx1">
                    <a:lumMod val="65000"/>
                    <a:lumOff val="35000"/>
                  </a:schemeClr>
                </a:solidFill>
              </a:rPr>
            </a:br>
            <a:endParaRPr lang="en-US" altLang="ja-JP" dirty="0">
              <a:solidFill>
                <a:schemeClr val="tx1">
                  <a:lumMod val="65000"/>
                  <a:lumOff val="35000"/>
                </a:schemeClr>
              </a:solidFill>
            </a:endParaRPr>
          </a:p>
          <a:p>
            <a:pPr lvl="1"/>
            <a:r>
              <a:rPr lang="en-US" altLang="ja-JP" dirty="0">
                <a:solidFill>
                  <a:schemeClr val="tx1">
                    <a:lumMod val="65000"/>
                    <a:lumOff val="35000"/>
                  </a:schemeClr>
                </a:solidFill>
              </a:rPr>
              <a:t>IPC</a:t>
            </a:r>
            <a:r>
              <a:rPr lang="ja-JP" altLang="en-US" dirty="0">
                <a:solidFill>
                  <a:schemeClr val="tx1">
                    <a:lumMod val="65000"/>
                    <a:lumOff val="35000"/>
                  </a:schemeClr>
                </a:solidFill>
              </a:rPr>
              <a:t>≈</a:t>
            </a:r>
            <a:r>
              <a:rPr lang="en-US" altLang="ja-JP" dirty="0">
                <a:solidFill>
                  <a:schemeClr val="tx1">
                    <a:lumMod val="65000"/>
                    <a:lumOff val="35000"/>
                  </a:schemeClr>
                </a:solidFill>
              </a:rPr>
              <a:t>1</a:t>
            </a:r>
            <a:r>
              <a:rPr lang="ja-JP" altLang="en-US" dirty="0">
                <a:solidFill>
                  <a:schemeClr val="tx1">
                    <a:lumMod val="65000"/>
                    <a:lumOff val="35000"/>
                  </a:schemeClr>
                </a:solidFill>
              </a:rPr>
              <a:t>命令</a:t>
            </a:r>
            <a:r>
              <a:rPr lang="en-US" altLang="ja-JP" dirty="0">
                <a:solidFill>
                  <a:schemeClr val="tx1">
                    <a:lumMod val="65000"/>
                    <a:lumOff val="35000"/>
                  </a:schemeClr>
                </a:solidFill>
              </a:rPr>
              <a:t> / 1</a:t>
            </a:r>
            <a:r>
              <a:rPr lang="ja-JP" altLang="en-US" dirty="0">
                <a:solidFill>
                  <a:schemeClr val="tx1">
                    <a:lumMod val="65000"/>
                    <a:lumOff val="35000"/>
                  </a:schemeClr>
                </a:solidFill>
              </a:rPr>
              <a:t>サイクル</a:t>
            </a:r>
            <a:r>
              <a:rPr lang="en-US" altLang="ja-JP" dirty="0">
                <a:solidFill>
                  <a:schemeClr val="tx1">
                    <a:lumMod val="65000"/>
                    <a:lumOff val="35000"/>
                  </a:schemeClr>
                </a:solidFill>
              </a:rPr>
              <a:t> = </a:t>
            </a:r>
            <a:r>
              <a:rPr lang="en-US" altLang="ja-JP" dirty="0">
                <a:solidFill>
                  <a:schemeClr val="accent5"/>
                </a:solidFill>
              </a:rPr>
              <a:t>1</a:t>
            </a:r>
          </a:p>
          <a:p>
            <a:pPr lvl="1"/>
            <a:r>
              <a:rPr lang="ja-JP" altLang="en-US" dirty="0">
                <a:solidFill>
                  <a:schemeClr val="tx1">
                    <a:lumMod val="75000"/>
                    <a:lumOff val="25000"/>
                  </a:schemeClr>
                </a:solidFill>
              </a:rPr>
              <a:t>周波数</a:t>
            </a:r>
            <a:r>
              <a:rPr lang="en-US" altLang="ja-JP" dirty="0">
                <a:solidFill>
                  <a:schemeClr val="tx1">
                    <a:lumMod val="65000"/>
                    <a:lumOff val="35000"/>
                  </a:schemeClr>
                </a:solidFill>
              </a:rPr>
              <a:t> = 1</a:t>
            </a:r>
            <a:r>
              <a:rPr lang="ja-JP" altLang="en-US" dirty="0">
                <a:solidFill>
                  <a:schemeClr val="tx1">
                    <a:lumMod val="65000"/>
                    <a:lumOff val="35000"/>
                  </a:schemeClr>
                </a:solidFill>
              </a:rPr>
              <a:t>秒</a:t>
            </a:r>
            <a:r>
              <a:rPr lang="en-US" altLang="ja-JP" dirty="0">
                <a:solidFill>
                  <a:schemeClr val="tx1">
                    <a:lumMod val="65000"/>
                    <a:lumOff val="35000"/>
                  </a:schemeClr>
                </a:solidFill>
              </a:rPr>
              <a:t> / 0.5ns = </a:t>
            </a:r>
            <a:r>
              <a:rPr lang="en-US" altLang="ja-JP" dirty="0">
                <a:solidFill>
                  <a:schemeClr val="accent5"/>
                </a:solidFill>
              </a:rPr>
              <a:t>2000 MHz = 2GHz</a:t>
            </a:r>
          </a:p>
          <a:p>
            <a:pPr lvl="1"/>
            <a:r>
              <a:rPr lang="ja-JP" altLang="en-US" dirty="0">
                <a:solidFill>
                  <a:schemeClr val="tx1">
                    <a:lumMod val="75000"/>
                    <a:lumOff val="25000"/>
                  </a:schemeClr>
                </a:solidFill>
              </a:rPr>
              <a:t>性能（</a:t>
            </a:r>
            <a:r>
              <a:rPr lang="en-US" altLang="ja-JP" dirty="0">
                <a:solidFill>
                  <a:schemeClr val="tx1">
                    <a:lumMod val="75000"/>
                    <a:lumOff val="25000"/>
                  </a:schemeClr>
                </a:solidFill>
              </a:rPr>
              <a:t>1</a:t>
            </a:r>
            <a:r>
              <a:rPr lang="ja-JP" altLang="en-US" dirty="0">
                <a:solidFill>
                  <a:schemeClr val="tx1">
                    <a:lumMod val="75000"/>
                    <a:lumOff val="25000"/>
                  </a:schemeClr>
                </a:solidFill>
              </a:rPr>
              <a:t>秒あたりの命令数）</a:t>
            </a:r>
            <a:r>
              <a:rPr lang="en-US" altLang="ja-JP" dirty="0">
                <a:solidFill>
                  <a:schemeClr val="tx1">
                    <a:lumMod val="75000"/>
                    <a:lumOff val="25000"/>
                  </a:schemeClr>
                </a:solidFill>
              </a:rPr>
              <a:t>=</a:t>
            </a:r>
            <a:r>
              <a:rPr lang="ja-JP" altLang="en-US" dirty="0">
                <a:solidFill>
                  <a:schemeClr val="accent5"/>
                </a:solidFill>
              </a:rPr>
              <a:t> </a:t>
            </a:r>
            <a:r>
              <a:rPr lang="en-US" altLang="ja-JP" dirty="0">
                <a:solidFill>
                  <a:schemeClr val="tx1">
                    <a:lumMod val="75000"/>
                    <a:lumOff val="25000"/>
                  </a:schemeClr>
                </a:solidFill>
              </a:rPr>
              <a:t>IPC*</a:t>
            </a:r>
            <a:r>
              <a:rPr lang="ja-JP" altLang="en-US" dirty="0">
                <a:solidFill>
                  <a:schemeClr val="tx1">
                    <a:lumMod val="75000"/>
                    <a:lumOff val="25000"/>
                  </a:schemeClr>
                </a:solidFill>
              </a:rPr>
              <a:t>周波数</a:t>
            </a:r>
            <a:r>
              <a:rPr lang="ja-JP" altLang="en-US" dirty="0">
                <a:solidFill>
                  <a:schemeClr val="accent5"/>
                </a:solidFill>
              </a:rPr>
              <a:t> </a:t>
            </a:r>
            <a:r>
              <a:rPr lang="en-US" altLang="ja-JP" dirty="0">
                <a:solidFill>
                  <a:schemeClr val="accent5"/>
                </a:solidFill>
              </a:rPr>
              <a:t>= </a:t>
            </a:r>
            <a:r>
              <a:rPr lang="ja-JP" altLang="en-US" dirty="0">
                <a:solidFill>
                  <a:schemeClr val="accent5"/>
                </a:solidFill>
              </a:rPr>
              <a:t>秒間 </a:t>
            </a:r>
            <a:r>
              <a:rPr lang="en-US" altLang="ja-JP" dirty="0">
                <a:solidFill>
                  <a:schemeClr val="accent5"/>
                </a:solidFill>
              </a:rPr>
              <a:t>2G </a:t>
            </a:r>
            <a:r>
              <a:rPr lang="ja-JP" altLang="en-US" dirty="0">
                <a:solidFill>
                  <a:schemeClr val="accent5"/>
                </a:solidFill>
              </a:rPr>
              <a:t>命令</a:t>
            </a:r>
            <a:endParaRPr lang="en-US" altLang="ja-JP" dirty="0"/>
          </a:p>
        </p:txBody>
      </p:sp>
      <p:cxnSp>
        <p:nvCxnSpPr>
          <p:cNvPr id="55" name="直線矢印コネクタ 54">
            <a:extLst>
              <a:ext uri="{FF2B5EF4-FFF2-40B4-BE49-F238E27FC236}">
                <a16:creationId xmlns:a16="http://schemas.microsoft.com/office/drawing/2014/main" id="{6D77AB78-7BC7-CBD4-F18B-9D907526FC71}"/>
              </a:ext>
            </a:extLst>
          </p:cNvPr>
          <p:cNvCxnSpPr>
            <a:cxnSpLocks/>
          </p:cNvCxnSpPr>
          <p:nvPr/>
        </p:nvCxnSpPr>
        <p:spPr bwMode="auto">
          <a:xfrm>
            <a:off x="4385981" y="1898983"/>
            <a:ext cx="270002"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56" name="正方形/長方形 55">
            <a:extLst>
              <a:ext uri="{FF2B5EF4-FFF2-40B4-BE49-F238E27FC236}">
                <a16:creationId xmlns:a16="http://schemas.microsoft.com/office/drawing/2014/main" id="{33FE95D5-3BFB-1523-49BC-25556741C4DA}"/>
              </a:ext>
            </a:extLst>
          </p:cNvPr>
          <p:cNvSpPr/>
          <p:nvPr/>
        </p:nvSpPr>
        <p:spPr>
          <a:xfrm>
            <a:off x="4295981" y="1178975"/>
            <a:ext cx="540005" cy="540006"/>
          </a:xfrm>
          <a:prstGeom prst="rect">
            <a:avLst/>
          </a:prstGeom>
        </p:spPr>
        <p:txBody>
          <a:bodyPr wrap="none">
            <a:noAutofit/>
          </a:bodyPr>
          <a:lstStyle/>
          <a:p>
            <a:pPr algn="ctr"/>
            <a:r>
              <a:rPr lang="en-US" altLang="ja-JP" dirty="0">
                <a:solidFill>
                  <a:schemeClr val="tx1">
                    <a:lumMod val="65000"/>
                    <a:lumOff val="35000"/>
                  </a:schemeClr>
                </a:solidFill>
              </a:rPr>
              <a:t>0.5 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57" name="正方形/長方形 56">
            <a:extLst>
              <a:ext uri="{FF2B5EF4-FFF2-40B4-BE49-F238E27FC236}">
                <a16:creationId xmlns:a16="http://schemas.microsoft.com/office/drawing/2014/main" id="{77A73637-76DF-7872-938B-0C23A46DF8AE}"/>
              </a:ext>
            </a:extLst>
          </p:cNvPr>
          <p:cNvSpPr/>
          <p:nvPr/>
        </p:nvSpPr>
        <p:spPr>
          <a:xfrm>
            <a:off x="3755975"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58" name="正方形/長方形 57">
            <a:extLst>
              <a:ext uri="{FF2B5EF4-FFF2-40B4-BE49-F238E27FC236}">
                <a16:creationId xmlns:a16="http://schemas.microsoft.com/office/drawing/2014/main" id="{32957A3E-8661-C702-597C-530530728537}"/>
              </a:ext>
            </a:extLst>
          </p:cNvPr>
          <p:cNvSpPr/>
          <p:nvPr/>
        </p:nvSpPr>
        <p:spPr>
          <a:xfrm>
            <a:off x="3755975" y="243898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59" name="正方形/長方形 58">
            <a:extLst>
              <a:ext uri="{FF2B5EF4-FFF2-40B4-BE49-F238E27FC236}">
                <a16:creationId xmlns:a16="http://schemas.microsoft.com/office/drawing/2014/main" id="{81DB0530-021F-858A-B3EF-742405885C04}"/>
              </a:ext>
            </a:extLst>
          </p:cNvPr>
          <p:cNvSpPr/>
          <p:nvPr/>
        </p:nvSpPr>
        <p:spPr>
          <a:xfrm>
            <a:off x="3755975" y="288899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grpSp>
        <p:nvGrpSpPr>
          <p:cNvPr id="34" name="グループ化 33">
            <a:extLst>
              <a:ext uri="{FF2B5EF4-FFF2-40B4-BE49-F238E27FC236}">
                <a16:creationId xmlns:a16="http://schemas.microsoft.com/office/drawing/2014/main" id="{98C2113D-5572-EA74-1307-9A55A7F106C2}"/>
              </a:ext>
            </a:extLst>
          </p:cNvPr>
          <p:cNvGrpSpPr/>
          <p:nvPr/>
        </p:nvGrpSpPr>
        <p:grpSpPr>
          <a:xfrm>
            <a:off x="4385982" y="1988984"/>
            <a:ext cx="2700029" cy="360000"/>
            <a:chOff x="971961" y="1988984"/>
            <a:chExt cx="2700029" cy="360000"/>
          </a:xfrm>
        </p:grpSpPr>
        <p:sp>
          <p:nvSpPr>
            <p:cNvPr id="60" name="Rectangle 69">
              <a:extLst>
                <a:ext uri="{FF2B5EF4-FFF2-40B4-BE49-F238E27FC236}">
                  <a16:creationId xmlns:a16="http://schemas.microsoft.com/office/drawing/2014/main" id="{87DC93EA-510F-2CED-3C49-ABA98D0CB62E}"/>
                </a:ext>
              </a:extLst>
            </p:cNvPr>
            <p:cNvSpPr>
              <a:spLocks noChangeArrowheads="1"/>
            </p:cNvSpPr>
            <p:nvPr/>
          </p:nvSpPr>
          <p:spPr bwMode="auto">
            <a:xfrm>
              <a:off x="971961"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F0</a:t>
              </a:r>
            </a:p>
          </p:txBody>
        </p:sp>
        <p:sp>
          <p:nvSpPr>
            <p:cNvPr id="61" name="Rectangle 70">
              <a:extLst>
                <a:ext uri="{FF2B5EF4-FFF2-40B4-BE49-F238E27FC236}">
                  <a16:creationId xmlns:a16="http://schemas.microsoft.com/office/drawing/2014/main" id="{E2A5E54B-BBC7-0B25-B996-770AF7D777C1}"/>
                </a:ext>
              </a:extLst>
            </p:cNvPr>
            <p:cNvSpPr>
              <a:spLocks noChangeArrowheads="1"/>
            </p:cNvSpPr>
            <p:nvPr/>
          </p:nvSpPr>
          <p:spPr bwMode="auto">
            <a:xfrm>
              <a:off x="1511966"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D0</a:t>
              </a:r>
            </a:p>
          </p:txBody>
        </p:sp>
        <p:sp>
          <p:nvSpPr>
            <p:cNvPr id="62" name="Rectangle 71">
              <a:extLst>
                <a:ext uri="{FF2B5EF4-FFF2-40B4-BE49-F238E27FC236}">
                  <a16:creationId xmlns:a16="http://schemas.microsoft.com/office/drawing/2014/main" id="{E7243571-9A69-A4F8-37EB-6A83C0C08289}"/>
                </a:ext>
              </a:extLst>
            </p:cNvPr>
            <p:cNvSpPr>
              <a:spLocks noChangeArrowheads="1"/>
            </p:cNvSpPr>
            <p:nvPr/>
          </p:nvSpPr>
          <p:spPr bwMode="auto">
            <a:xfrm>
              <a:off x="2051972"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X0</a:t>
              </a:r>
            </a:p>
          </p:txBody>
        </p:sp>
        <p:sp>
          <p:nvSpPr>
            <p:cNvPr id="63" name="Rectangle 72">
              <a:extLst>
                <a:ext uri="{FF2B5EF4-FFF2-40B4-BE49-F238E27FC236}">
                  <a16:creationId xmlns:a16="http://schemas.microsoft.com/office/drawing/2014/main" id="{AEA01D9D-197B-B914-C0BA-9B727A10DEA3}"/>
                </a:ext>
              </a:extLst>
            </p:cNvPr>
            <p:cNvSpPr>
              <a:spLocks noChangeArrowheads="1"/>
            </p:cNvSpPr>
            <p:nvPr/>
          </p:nvSpPr>
          <p:spPr bwMode="auto">
            <a:xfrm>
              <a:off x="2591978"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M0</a:t>
              </a:r>
            </a:p>
          </p:txBody>
        </p:sp>
        <p:sp>
          <p:nvSpPr>
            <p:cNvPr id="128" name="Rectangle 73">
              <a:extLst>
                <a:ext uri="{FF2B5EF4-FFF2-40B4-BE49-F238E27FC236}">
                  <a16:creationId xmlns:a16="http://schemas.microsoft.com/office/drawing/2014/main" id="{17B20D46-4CEE-67DC-B6CC-20CB76AC10C6}"/>
                </a:ext>
              </a:extLst>
            </p:cNvPr>
            <p:cNvSpPr>
              <a:spLocks noChangeArrowheads="1"/>
            </p:cNvSpPr>
            <p:nvPr/>
          </p:nvSpPr>
          <p:spPr bwMode="auto">
            <a:xfrm>
              <a:off x="3131984"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W0</a:t>
              </a:r>
            </a:p>
          </p:txBody>
        </p:sp>
        <p:sp>
          <p:nvSpPr>
            <p:cNvPr id="6" name="Rectangle 69">
              <a:extLst>
                <a:ext uri="{FF2B5EF4-FFF2-40B4-BE49-F238E27FC236}">
                  <a16:creationId xmlns:a16="http://schemas.microsoft.com/office/drawing/2014/main" id="{737114E1-0671-6363-B2D6-8307E969BBC7}"/>
                </a:ext>
              </a:extLst>
            </p:cNvPr>
            <p:cNvSpPr>
              <a:spLocks noChangeArrowheads="1"/>
            </p:cNvSpPr>
            <p:nvPr/>
          </p:nvSpPr>
          <p:spPr bwMode="auto">
            <a:xfrm>
              <a:off x="1241963"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F1</a:t>
              </a:r>
            </a:p>
          </p:txBody>
        </p:sp>
        <p:sp>
          <p:nvSpPr>
            <p:cNvPr id="9" name="Rectangle 70">
              <a:extLst>
                <a:ext uri="{FF2B5EF4-FFF2-40B4-BE49-F238E27FC236}">
                  <a16:creationId xmlns:a16="http://schemas.microsoft.com/office/drawing/2014/main" id="{161F6D0F-D0B2-4A96-EA22-84372F7E5770}"/>
                </a:ext>
              </a:extLst>
            </p:cNvPr>
            <p:cNvSpPr>
              <a:spLocks noChangeArrowheads="1"/>
            </p:cNvSpPr>
            <p:nvPr/>
          </p:nvSpPr>
          <p:spPr bwMode="auto">
            <a:xfrm>
              <a:off x="1781969"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D1</a:t>
              </a:r>
            </a:p>
          </p:txBody>
        </p:sp>
        <p:sp>
          <p:nvSpPr>
            <p:cNvPr id="10" name="Rectangle 71">
              <a:extLst>
                <a:ext uri="{FF2B5EF4-FFF2-40B4-BE49-F238E27FC236}">
                  <a16:creationId xmlns:a16="http://schemas.microsoft.com/office/drawing/2014/main" id="{87E9ECC3-7246-ECF3-38CB-F4D773C08F3B}"/>
                </a:ext>
              </a:extLst>
            </p:cNvPr>
            <p:cNvSpPr>
              <a:spLocks noChangeArrowheads="1"/>
            </p:cNvSpPr>
            <p:nvPr/>
          </p:nvSpPr>
          <p:spPr bwMode="auto">
            <a:xfrm>
              <a:off x="2321975"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X1</a:t>
              </a:r>
            </a:p>
          </p:txBody>
        </p:sp>
        <p:sp>
          <p:nvSpPr>
            <p:cNvPr id="11" name="Rectangle 72">
              <a:extLst>
                <a:ext uri="{FF2B5EF4-FFF2-40B4-BE49-F238E27FC236}">
                  <a16:creationId xmlns:a16="http://schemas.microsoft.com/office/drawing/2014/main" id="{B5229207-E305-D06C-4B56-5C95119327D3}"/>
                </a:ext>
              </a:extLst>
            </p:cNvPr>
            <p:cNvSpPr>
              <a:spLocks noChangeArrowheads="1"/>
            </p:cNvSpPr>
            <p:nvPr/>
          </p:nvSpPr>
          <p:spPr bwMode="auto">
            <a:xfrm>
              <a:off x="2861981"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M1</a:t>
              </a:r>
            </a:p>
          </p:txBody>
        </p:sp>
        <p:sp>
          <p:nvSpPr>
            <p:cNvPr id="13" name="Rectangle 73">
              <a:extLst>
                <a:ext uri="{FF2B5EF4-FFF2-40B4-BE49-F238E27FC236}">
                  <a16:creationId xmlns:a16="http://schemas.microsoft.com/office/drawing/2014/main" id="{F0D13BB0-AEA6-DF50-DB51-2BCBBFB5D46F}"/>
                </a:ext>
              </a:extLst>
            </p:cNvPr>
            <p:cNvSpPr>
              <a:spLocks noChangeArrowheads="1"/>
            </p:cNvSpPr>
            <p:nvPr/>
          </p:nvSpPr>
          <p:spPr bwMode="auto">
            <a:xfrm>
              <a:off x="3401987"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W1</a:t>
              </a:r>
            </a:p>
          </p:txBody>
        </p:sp>
      </p:grpSp>
      <p:grpSp>
        <p:nvGrpSpPr>
          <p:cNvPr id="35" name="グループ化 34">
            <a:extLst>
              <a:ext uri="{FF2B5EF4-FFF2-40B4-BE49-F238E27FC236}">
                <a16:creationId xmlns:a16="http://schemas.microsoft.com/office/drawing/2014/main" id="{6E1AD3D4-A7F7-4C3E-178C-327BC87D6AD9}"/>
              </a:ext>
            </a:extLst>
          </p:cNvPr>
          <p:cNvGrpSpPr/>
          <p:nvPr/>
        </p:nvGrpSpPr>
        <p:grpSpPr>
          <a:xfrm>
            <a:off x="4655984" y="2438989"/>
            <a:ext cx="2700029" cy="360000"/>
            <a:chOff x="971961" y="1988984"/>
            <a:chExt cx="2700029" cy="360000"/>
          </a:xfrm>
        </p:grpSpPr>
        <p:sp>
          <p:nvSpPr>
            <p:cNvPr id="36" name="Rectangle 69">
              <a:extLst>
                <a:ext uri="{FF2B5EF4-FFF2-40B4-BE49-F238E27FC236}">
                  <a16:creationId xmlns:a16="http://schemas.microsoft.com/office/drawing/2014/main" id="{AF00E769-B36A-BD34-D33B-06E016EECA55}"/>
                </a:ext>
              </a:extLst>
            </p:cNvPr>
            <p:cNvSpPr>
              <a:spLocks noChangeArrowheads="1"/>
            </p:cNvSpPr>
            <p:nvPr/>
          </p:nvSpPr>
          <p:spPr bwMode="auto">
            <a:xfrm>
              <a:off x="971961"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F0</a:t>
              </a:r>
            </a:p>
          </p:txBody>
        </p:sp>
        <p:sp>
          <p:nvSpPr>
            <p:cNvPr id="37" name="Rectangle 70">
              <a:extLst>
                <a:ext uri="{FF2B5EF4-FFF2-40B4-BE49-F238E27FC236}">
                  <a16:creationId xmlns:a16="http://schemas.microsoft.com/office/drawing/2014/main" id="{FB5946DD-8E4A-F7DF-3083-FEE132381F93}"/>
                </a:ext>
              </a:extLst>
            </p:cNvPr>
            <p:cNvSpPr>
              <a:spLocks noChangeArrowheads="1"/>
            </p:cNvSpPr>
            <p:nvPr/>
          </p:nvSpPr>
          <p:spPr bwMode="auto">
            <a:xfrm>
              <a:off x="1511966"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D0</a:t>
              </a:r>
            </a:p>
          </p:txBody>
        </p:sp>
        <p:sp>
          <p:nvSpPr>
            <p:cNvPr id="38" name="Rectangle 71">
              <a:extLst>
                <a:ext uri="{FF2B5EF4-FFF2-40B4-BE49-F238E27FC236}">
                  <a16:creationId xmlns:a16="http://schemas.microsoft.com/office/drawing/2014/main" id="{24C6E786-46FE-C2B1-C944-EAB30869C89C}"/>
                </a:ext>
              </a:extLst>
            </p:cNvPr>
            <p:cNvSpPr>
              <a:spLocks noChangeArrowheads="1"/>
            </p:cNvSpPr>
            <p:nvPr/>
          </p:nvSpPr>
          <p:spPr bwMode="auto">
            <a:xfrm>
              <a:off x="2051972"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X0</a:t>
              </a:r>
            </a:p>
          </p:txBody>
        </p:sp>
        <p:sp>
          <p:nvSpPr>
            <p:cNvPr id="39" name="Rectangle 72">
              <a:extLst>
                <a:ext uri="{FF2B5EF4-FFF2-40B4-BE49-F238E27FC236}">
                  <a16:creationId xmlns:a16="http://schemas.microsoft.com/office/drawing/2014/main" id="{0CED4570-4BAE-9CF7-BA68-2C0380260BEF}"/>
                </a:ext>
              </a:extLst>
            </p:cNvPr>
            <p:cNvSpPr>
              <a:spLocks noChangeArrowheads="1"/>
            </p:cNvSpPr>
            <p:nvPr/>
          </p:nvSpPr>
          <p:spPr bwMode="auto">
            <a:xfrm>
              <a:off x="2591978"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M0</a:t>
              </a:r>
            </a:p>
          </p:txBody>
        </p:sp>
        <p:sp>
          <p:nvSpPr>
            <p:cNvPr id="40" name="Rectangle 73">
              <a:extLst>
                <a:ext uri="{FF2B5EF4-FFF2-40B4-BE49-F238E27FC236}">
                  <a16:creationId xmlns:a16="http://schemas.microsoft.com/office/drawing/2014/main" id="{35C28E28-CB41-E23E-D42F-906E365D74E6}"/>
                </a:ext>
              </a:extLst>
            </p:cNvPr>
            <p:cNvSpPr>
              <a:spLocks noChangeArrowheads="1"/>
            </p:cNvSpPr>
            <p:nvPr/>
          </p:nvSpPr>
          <p:spPr bwMode="auto">
            <a:xfrm>
              <a:off x="3131984"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W0</a:t>
              </a:r>
            </a:p>
          </p:txBody>
        </p:sp>
        <p:sp>
          <p:nvSpPr>
            <p:cNvPr id="41" name="Rectangle 69">
              <a:extLst>
                <a:ext uri="{FF2B5EF4-FFF2-40B4-BE49-F238E27FC236}">
                  <a16:creationId xmlns:a16="http://schemas.microsoft.com/office/drawing/2014/main" id="{89635FF1-A543-0C29-1D23-1F40ED8124C7}"/>
                </a:ext>
              </a:extLst>
            </p:cNvPr>
            <p:cNvSpPr>
              <a:spLocks noChangeArrowheads="1"/>
            </p:cNvSpPr>
            <p:nvPr/>
          </p:nvSpPr>
          <p:spPr bwMode="auto">
            <a:xfrm>
              <a:off x="1241963"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F1</a:t>
              </a:r>
            </a:p>
          </p:txBody>
        </p:sp>
        <p:sp>
          <p:nvSpPr>
            <p:cNvPr id="42" name="Rectangle 70">
              <a:extLst>
                <a:ext uri="{FF2B5EF4-FFF2-40B4-BE49-F238E27FC236}">
                  <a16:creationId xmlns:a16="http://schemas.microsoft.com/office/drawing/2014/main" id="{862FBFB5-530D-CB96-2CA2-B070347D2751}"/>
                </a:ext>
              </a:extLst>
            </p:cNvPr>
            <p:cNvSpPr>
              <a:spLocks noChangeArrowheads="1"/>
            </p:cNvSpPr>
            <p:nvPr/>
          </p:nvSpPr>
          <p:spPr bwMode="auto">
            <a:xfrm>
              <a:off x="1781969"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D1</a:t>
              </a:r>
            </a:p>
          </p:txBody>
        </p:sp>
        <p:sp>
          <p:nvSpPr>
            <p:cNvPr id="43" name="Rectangle 71">
              <a:extLst>
                <a:ext uri="{FF2B5EF4-FFF2-40B4-BE49-F238E27FC236}">
                  <a16:creationId xmlns:a16="http://schemas.microsoft.com/office/drawing/2014/main" id="{4AE484B0-3202-9D7C-A537-65555F946326}"/>
                </a:ext>
              </a:extLst>
            </p:cNvPr>
            <p:cNvSpPr>
              <a:spLocks noChangeArrowheads="1"/>
            </p:cNvSpPr>
            <p:nvPr/>
          </p:nvSpPr>
          <p:spPr bwMode="auto">
            <a:xfrm>
              <a:off x="2321975"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X1</a:t>
              </a:r>
            </a:p>
          </p:txBody>
        </p:sp>
        <p:sp>
          <p:nvSpPr>
            <p:cNvPr id="44" name="Rectangle 72">
              <a:extLst>
                <a:ext uri="{FF2B5EF4-FFF2-40B4-BE49-F238E27FC236}">
                  <a16:creationId xmlns:a16="http://schemas.microsoft.com/office/drawing/2014/main" id="{67799F7C-FBE3-C592-371D-EAD812D8FC03}"/>
                </a:ext>
              </a:extLst>
            </p:cNvPr>
            <p:cNvSpPr>
              <a:spLocks noChangeArrowheads="1"/>
            </p:cNvSpPr>
            <p:nvPr/>
          </p:nvSpPr>
          <p:spPr bwMode="auto">
            <a:xfrm>
              <a:off x="2861981"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M1</a:t>
              </a:r>
            </a:p>
          </p:txBody>
        </p:sp>
        <p:sp>
          <p:nvSpPr>
            <p:cNvPr id="45" name="Rectangle 73">
              <a:extLst>
                <a:ext uri="{FF2B5EF4-FFF2-40B4-BE49-F238E27FC236}">
                  <a16:creationId xmlns:a16="http://schemas.microsoft.com/office/drawing/2014/main" id="{FE483F62-66CD-C7BA-456F-95747EF40285}"/>
                </a:ext>
              </a:extLst>
            </p:cNvPr>
            <p:cNvSpPr>
              <a:spLocks noChangeArrowheads="1"/>
            </p:cNvSpPr>
            <p:nvPr/>
          </p:nvSpPr>
          <p:spPr bwMode="auto">
            <a:xfrm>
              <a:off x="3401987"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W1</a:t>
              </a:r>
            </a:p>
          </p:txBody>
        </p:sp>
      </p:grpSp>
      <p:grpSp>
        <p:nvGrpSpPr>
          <p:cNvPr id="46" name="グループ化 45">
            <a:extLst>
              <a:ext uri="{FF2B5EF4-FFF2-40B4-BE49-F238E27FC236}">
                <a16:creationId xmlns:a16="http://schemas.microsoft.com/office/drawing/2014/main" id="{E1E5F147-42A0-AFE6-3574-96AD5B7CCE04}"/>
              </a:ext>
            </a:extLst>
          </p:cNvPr>
          <p:cNvGrpSpPr/>
          <p:nvPr/>
        </p:nvGrpSpPr>
        <p:grpSpPr>
          <a:xfrm>
            <a:off x="4925987" y="2888994"/>
            <a:ext cx="2700029" cy="360000"/>
            <a:chOff x="971961" y="1988984"/>
            <a:chExt cx="2700029" cy="360000"/>
          </a:xfrm>
        </p:grpSpPr>
        <p:sp>
          <p:nvSpPr>
            <p:cNvPr id="47" name="Rectangle 69">
              <a:extLst>
                <a:ext uri="{FF2B5EF4-FFF2-40B4-BE49-F238E27FC236}">
                  <a16:creationId xmlns:a16="http://schemas.microsoft.com/office/drawing/2014/main" id="{3768284E-F6A3-9E2E-1640-740E0C75D714}"/>
                </a:ext>
              </a:extLst>
            </p:cNvPr>
            <p:cNvSpPr>
              <a:spLocks noChangeArrowheads="1"/>
            </p:cNvSpPr>
            <p:nvPr/>
          </p:nvSpPr>
          <p:spPr bwMode="auto">
            <a:xfrm>
              <a:off x="971961"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F0</a:t>
              </a:r>
            </a:p>
          </p:txBody>
        </p:sp>
        <p:sp>
          <p:nvSpPr>
            <p:cNvPr id="48" name="Rectangle 70">
              <a:extLst>
                <a:ext uri="{FF2B5EF4-FFF2-40B4-BE49-F238E27FC236}">
                  <a16:creationId xmlns:a16="http://schemas.microsoft.com/office/drawing/2014/main" id="{B18CCB91-187F-E3B1-9BBA-6FD8096166CC}"/>
                </a:ext>
              </a:extLst>
            </p:cNvPr>
            <p:cNvSpPr>
              <a:spLocks noChangeArrowheads="1"/>
            </p:cNvSpPr>
            <p:nvPr/>
          </p:nvSpPr>
          <p:spPr bwMode="auto">
            <a:xfrm>
              <a:off x="1511966"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D0</a:t>
              </a:r>
            </a:p>
          </p:txBody>
        </p:sp>
        <p:sp>
          <p:nvSpPr>
            <p:cNvPr id="49" name="Rectangle 71">
              <a:extLst>
                <a:ext uri="{FF2B5EF4-FFF2-40B4-BE49-F238E27FC236}">
                  <a16:creationId xmlns:a16="http://schemas.microsoft.com/office/drawing/2014/main" id="{A81C8618-58D2-F998-3AF8-B9104EDC843E}"/>
                </a:ext>
              </a:extLst>
            </p:cNvPr>
            <p:cNvSpPr>
              <a:spLocks noChangeArrowheads="1"/>
            </p:cNvSpPr>
            <p:nvPr/>
          </p:nvSpPr>
          <p:spPr bwMode="auto">
            <a:xfrm>
              <a:off x="2051972"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X0</a:t>
              </a:r>
            </a:p>
          </p:txBody>
        </p:sp>
        <p:sp>
          <p:nvSpPr>
            <p:cNvPr id="50" name="Rectangle 72">
              <a:extLst>
                <a:ext uri="{FF2B5EF4-FFF2-40B4-BE49-F238E27FC236}">
                  <a16:creationId xmlns:a16="http://schemas.microsoft.com/office/drawing/2014/main" id="{BAE62ACB-37CC-46DF-8002-D24C2F3DF839}"/>
                </a:ext>
              </a:extLst>
            </p:cNvPr>
            <p:cNvSpPr>
              <a:spLocks noChangeArrowheads="1"/>
            </p:cNvSpPr>
            <p:nvPr/>
          </p:nvSpPr>
          <p:spPr bwMode="auto">
            <a:xfrm>
              <a:off x="2591978"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M0</a:t>
              </a:r>
            </a:p>
          </p:txBody>
        </p:sp>
        <p:sp>
          <p:nvSpPr>
            <p:cNvPr id="51" name="Rectangle 73">
              <a:extLst>
                <a:ext uri="{FF2B5EF4-FFF2-40B4-BE49-F238E27FC236}">
                  <a16:creationId xmlns:a16="http://schemas.microsoft.com/office/drawing/2014/main" id="{02884FA5-F467-0DC1-02C3-E5364E013B18}"/>
                </a:ext>
              </a:extLst>
            </p:cNvPr>
            <p:cNvSpPr>
              <a:spLocks noChangeArrowheads="1"/>
            </p:cNvSpPr>
            <p:nvPr/>
          </p:nvSpPr>
          <p:spPr bwMode="auto">
            <a:xfrm>
              <a:off x="3131984"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W0</a:t>
              </a:r>
            </a:p>
          </p:txBody>
        </p:sp>
        <p:sp>
          <p:nvSpPr>
            <p:cNvPr id="52" name="Rectangle 69">
              <a:extLst>
                <a:ext uri="{FF2B5EF4-FFF2-40B4-BE49-F238E27FC236}">
                  <a16:creationId xmlns:a16="http://schemas.microsoft.com/office/drawing/2014/main" id="{88B98742-7F31-EB68-32D7-E8233B04C7E8}"/>
                </a:ext>
              </a:extLst>
            </p:cNvPr>
            <p:cNvSpPr>
              <a:spLocks noChangeArrowheads="1"/>
            </p:cNvSpPr>
            <p:nvPr/>
          </p:nvSpPr>
          <p:spPr bwMode="auto">
            <a:xfrm>
              <a:off x="1241963" y="1988984"/>
              <a:ext cx="270002"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F1</a:t>
              </a:r>
            </a:p>
          </p:txBody>
        </p:sp>
        <p:sp>
          <p:nvSpPr>
            <p:cNvPr id="53" name="Rectangle 70">
              <a:extLst>
                <a:ext uri="{FF2B5EF4-FFF2-40B4-BE49-F238E27FC236}">
                  <a16:creationId xmlns:a16="http://schemas.microsoft.com/office/drawing/2014/main" id="{AC661E5B-CC38-DE07-58C6-521468B64032}"/>
                </a:ext>
              </a:extLst>
            </p:cNvPr>
            <p:cNvSpPr>
              <a:spLocks noChangeArrowheads="1"/>
            </p:cNvSpPr>
            <p:nvPr/>
          </p:nvSpPr>
          <p:spPr bwMode="auto">
            <a:xfrm>
              <a:off x="1781969"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D1</a:t>
              </a:r>
            </a:p>
          </p:txBody>
        </p:sp>
        <p:sp>
          <p:nvSpPr>
            <p:cNvPr id="54" name="Rectangle 71">
              <a:extLst>
                <a:ext uri="{FF2B5EF4-FFF2-40B4-BE49-F238E27FC236}">
                  <a16:creationId xmlns:a16="http://schemas.microsoft.com/office/drawing/2014/main" id="{713D145B-82CB-0E21-37E4-CB3FDB75E737}"/>
                </a:ext>
              </a:extLst>
            </p:cNvPr>
            <p:cNvSpPr>
              <a:spLocks noChangeArrowheads="1"/>
            </p:cNvSpPr>
            <p:nvPr/>
          </p:nvSpPr>
          <p:spPr bwMode="auto">
            <a:xfrm>
              <a:off x="2321975"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X1</a:t>
              </a:r>
            </a:p>
          </p:txBody>
        </p:sp>
        <p:sp>
          <p:nvSpPr>
            <p:cNvPr id="140" name="Rectangle 72">
              <a:extLst>
                <a:ext uri="{FF2B5EF4-FFF2-40B4-BE49-F238E27FC236}">
                  <a16:creationId xmlns:a16="http://schemas.microsoft.com/office/drawing/2014/main" id="{9D032706-21A4-776F-FCF4-55E84B4BCE64}"/>
                </a:ext>
              </a:extLst>
            </p:cNvPr>
            <p:cNvSpPr>
              <a:spLocks noChangeArrowheads="1"/>
            </p:cNvSpPr>
            <p:nvPr/>
          </p:nvSpPr>
          <p:spPr bwMode="auto">
            <a:xfrm>
              <a:off x="2861981"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M1</a:t>
              </a:r>
            </a:p>
          </p:txBody>
        </p:sp>
        <p:sp>
          <p:nvSpPr>
            <p:cNvPr id="141" name="Rectangle 73">
              <a:extLst>
                <a:ext uri="{FF2B5EF4-FFF2-40B4-BE49-F238E27FC236}">
                  <a16:creationId xmlns:a16="http://schemas.microsoft.com/office/drawing/2014/main" id="{3A3E40C5-7A7C-55A1-FC8B-7C7CFBB166E1}"/>
                </a:ext>
              </a:extLst>
            </p:cNvPr>
            <p:cNvSpPr>
              <a:spLocks noChangeArrowheads="1"/>
            </p:cNvSpPr>
            <p:nvPr/>
          </p:nvSpPr>
          <p:spPr bwMode="auto">
            <a:xfrm>
              <a:off x="3401987" y="1988984"/>
              <a:ext cx="270003"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W1</a:t>
              </a:r>
            </a:p>
          </p:txBody>
        </p:sp>
      </p:grpSp>
    </p:spTree>
    <p:extLst>
      <p:ext uri="{BB962C8B-B14F-4D97-AF65-F5344CB8AC3E}">
        <p14:creationId xmlns:p14="http://schemas.microsoft.com/office/powerpoint/2010/main" val="278575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DF8F5-B166-84F8-727E-88F2D154DDC3}"/>
              </a:ext>
            </a:extLst>
          </p:cNvPr>
          <p:cNvSpPr>
            <a:spLocks noGrp="1"/>
          </p:cNvSpPr>
          <p:nvPr>
            <p:ph type="title"/>
          </p:nvPr>
        </p:nvSpPr>
        <p:spPr/>
        <p:txBody>
          <a:bodyPr/>
          <a:lstStyle/>
          <a:p>
            <a:r>
              <a:rPr lang="ja-JP" altLang="en-US" sz="2800" dirty="0"/>
              <a:t>各ステージで実施する仕事を半分にして，</a:t>
            </a:r>
            <a:br>
              <a:rPr lang="en-US" altLang="ja-JP" sz="2800" dirty="0"/>
            </a:br>
            <a:r>
              <a:rPr lang="ja-JP" altLang="en-US" sz="2800" dirty="0"/>
              <a:t>かわりに倍速で動かしている</a:t>
            </a:r>
            <a:endParaRPr kumimoji="1" lang="en-US" sz="2800" dirty="0"/>
          </a:p>
        </p:txBody>
      </p:sp>
      <p:sp>
        <p:nvSpPr>
          <p:cNvPr id="6" name="平行四辺形 5">
            <a:extLst>
              <a:ext uri="{FF2B5EF4-FFF2-40B4-BE49-F238E27FC236}">
                <a16:creationId xmlns:a16="http://schemas.microsoft.com/office/drawing/2014/main" id="{924A0410-E82C-0C3E-5D17-009BF319D2DA}"/>
              </a:ext>
            </a:extLst>
          </p:cNvPr>
          <p:cNvSpPr/>
          <p:nvPr/>
        </p:nvSpPr>
        <p:spPr bwMode="auto">
          <a:xfrm>
            <a:off x="2405959" y="2888994"/>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F3F9C887-A1F6-5400-D621-B89E230B60DC}"/>
              </a:ext>
            </a:extLst>
          </p:cNvPr>
          <p:cNvSpPr/>
          <p:nvPr/>
        </p:nvSpPr>
        <p:spPr bwMode="auto">
          <a:xfrm>
            <a:off x="3846119" y="2888994"/>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2" name="平行四辺形 11">
            <a:extLst>
              <a:ext uri="{FF2B5EF4-FFF2-40B4-BE49-F238E27FC236}">
                <a16:creationId xmlns:a16="http://schemas.microsoft.com/office/drawing/2014/main" id="{749A4345-BE4C-48B8-1C25-D053078D38F1}"/>
              </a:ext>
            </a:extLst>
          </p:cNvPr>
          <p:cNvSpPr/>
          <p:nvPr/>
        </p:nvSpPr>
        <p:spPr bwMode="auto">
          <a:xfrm>
            <a:off x="5286279" y="2888994"/>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6" name="正方形/長方形 15">
            <a:extLst>
              <a:ext uri="{FF2B5EF4-FFF2-40B4-BE49-F238E27FC236}">
                <a16:creationId xmlns:a16="http://schemas.microsoft.com/office/drawing/2014/main" id="{6ED1F96C-52BF-AD99-74CE-13E0B4D5E90A}"/>
              </a:ext>
            </a:extLst>
          </p:cNvPr>
          <p:cNvSpPr/>
          <p:nvPr/>
        </p:nvSpPr>
        <p:spPr>
          <a:xfrm>
            <a:off x="2855964" y="1988984"/>
            <a:ext cx="1170013"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ﾏｯﾀﾘ</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9" name="正方形/長方形 18">
            <a:extLst>
              <a:ext uri="{FF2B5EF4-FFF2-40B4-BE49-F238E27FC236}">
                <a16:creationId xmlns:a16="http://schemas.microsoft.com/office/drawing/2014/main" id="{08644A07-6BA2-3F97-1CBE-EC276B367423}"/>
              </a:ext>
            </a:extLst>
          </p:cNvPr>
          <p:cNvSpPr/>
          <p:nvPr/>
        </p:nvSpPr>
        <p:spPr>
          <a:xfrm>
            <a:off x="8616029" y="1988984"/>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31" name="平行四辺形 30">
            <a:extLst>
              <a:ext uri="{FF2B5EF4-FFF2-40B4-BE49-F238E27FC236}">
                <a16:creationId xmlns:a16="http://schemas.microsoft.com/office/drawing/2014/main" id="{A0D2B890-3FBD-6740-6EA3-487C95E1B8E8}"/>
              </a:ext>
            </a:extLst>
          </p:cNvPr>
          <p:cNvSpPr/>
          <p:nvPr/>
        </p:nvSpPr>
        <p:spPr bwMode="auto">
          <a:xfrm>
            <a:off x="6726007" y="2888994"/>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5" name="平行四辺形 14">
            <a:extLst>
              <a:ext uri="{FF2B5EF4-FFF2-40B4-BE49-F238E27FC236}">
                <a16:creationId xmlns:a16="http://schemas.microsoft.com/office/drawing/2014/main" id="{B77396CE-B31F-1D85-9D61-3710D94E5E05}"/>
              </a:ext>
            </a:extLst>
          </p:cNvPr>
          <p:cNvSpPr/>
          <p:nvPr/>
        </p:nvSpPr>
        <p:spPr bwMode="auto">
          <a:xfrm>
            <a:off x="8166023" y="2888994"/>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4" name="平行四辺形 33">
            <a:extLst>
              <a:ext uri="{FF2B5EF4-FFF2-40B4-BE49-F238E27FC236}">
                <a16:creationId xmlns:a16="http://schemas.microsoft.com/office/drawing/2014/main" id="{80AB508D-5659-8D46-E2D9-843DDA7585E4}"/>
              </a:ext>
            </a:extLst>
          </p:cNvPr>
          <p:cNvSpPr/>
          <p:nvPr/>
        </p:nvSpPr>
        <p:spPr bwMode="auto">
          <a:xfrm>
            <a:off x="2405960" y="5769026"/>
            <a:ext cx="8100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5" name="平行四辺形 34">
            <a:extLst>
              <a:ext uri="{FF2B5EF4-FFF2-40B4-BE49-F238E27FC236}">
                <a16:creationId xmlns:a16="http://schemas.microsoft.com/office/drawing/2014/main" id="{B4C44D83-CC29-5479-B3D8-0EE8765BC5CF}"/>
              </a:ext>
            </a:extLst>
          </p:cNvPr>
          <p:cNvSpPr/>
          <p:nvPr/>
        </p:nvSpPr>
        <p:spPr bwMode="auto">
          <a:xfrm>
            <a:off x="3125967" y="5769026"/>
            <a:ext cx="8100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6" name="平行四辺形 35">
            <a:extLst>
              <a:ext uri="{FF2B5EF4-FFF2-40B4-BE49-F238E27FC236}">
                <a16:creationId xmlns:a16="http://schemas.microsoft.com/office/drawing/2014/main" id="{EBE9BC35-B43F-1CF3-6F54-A1BEA6C6AF31}"/>
              </a:ext>
            </a:extLst>
          </p:cNvPr>
          <p:cNvSpPr/>
          <p:nvPr/>
        </p:nvSpPr>
        <p:spPr bwMode="auto">
          <a:xfrm>
            <a:off x="3845976" y="5769026"/>
            <a:ext cx="810009"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7" name="平行四辺形 36">
            <a:extLst>
              <a:ext uri="{FF2B5EF4-FFF2-40B4-BE49-F238E27FC236}">
                <a16:creationId xmlns:a16="http://schemas.microsoft.com/office/drawing/2014/main" id="{5723047A-888B-5D65-94CD-ACD5545E61D4}"/>
              </a:ext>
            </a:extLst>
          </p:cNvPr>
          <p:cNvSpPr/>
          <p:nvPr/>
        </p:nvSpPr>
        <p:spPr bwMode="auto">
          <a:xfrm>
            <a:off x="4565984" y="5769026"/>
            <a:ext cx="810009"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8" name="平行四辺形 37">
            <a:extLst>
              <a:ext uri="{FF2B5EF4-FFF2-40B4-BE49-F238E27FC236}">
                <a16:creationId xmlns:a16="http://schemas.microsoft.com/office/drawing/2014/main" id="{EF9EE983-A2CA-412E-476D-9DB6FC50CFF9}"/>
              </a:ext>
            </a:extLst>
          </p:cNvPr>
          <p:cNvSpPr/>
          <p:nvPr/>
        </p:nvSpPr>
        <p:spPr bwMode="auto">
          <a:xfrm>
            <a:off x="5285993" y="5769026"/>
            <a:ext cx="810009"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9" name="平行四辺形 38">
            <a:extLst>
              <a:ext uri="{FF2B5EF4-FFF2-40B4-BE49-F238E27FC236}">
                <a16:creationId xmlns:a16="http://schemas.microsoft.com/office/drawing/2014/main" id="{15EEA2EF-8E76-7D00-5EA8-782D0AA73252}"/>
              </a:ext>
            </a:extLst>
          </p:cNvPr>
          <p:cNvSpPr/>
          <p:nvPr/>
        </p:nvSpPr>
        <p:spPr bwMode="auto">
          <a:xfrm>
            <a:off x="6006000" y="5769026"/>
            <a:ext cx="810009"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0" name="平行四辺形 39">
            <a:extLst>
              <a:ext uri="{FF2B5EF4-FFF2-40B4-BE49-F238E27FC236}">
                <a16:creationId xmlns:a16="http://schemas.microsoft.com/office/drawing/2014/main" id="{297FF9FC-84D0-F0E0-35FC-1F1B91B5DA9B}"/>
              </a:ext>
            </a:extLst>
          </p:cNvPr>
          <p:cNvSpPr/>
          <p:nvPr/>
        </p:nvSpPr>
        <p:spPr bwMode="auto">
          <a:xfrm>
            <a:off x="6726009" y="5769026"/>
            <a:ext cx="810009"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1" name="平行四辺形 40">
            <a:extLst>
              <a:ext uri="{FF2B5EF4-FFF2-40B4-BE49-F238E27FC236}">
                <a16:creationId xmlns:a16="http://schemas.microsoft.com/office/drawing/2014/main" id="{F8D4B663-9B2D-CB7F-D76D-B68529EDE1E6}"/>
              </a:ext>
            </a:extLst>
          </p:cNvPr>
          <p:cNvSpPr/>
          <p:nvPr/>
        </p:nvSpPr>
        <p:spPr bwMode="auto">
          <a:xfrm>
            <a:off x="7446017" y="5769026"/>
            <a:ext cx="810009"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2" name="平行四辺形 41">
            <a:extLst>
              <a:ext uri="{FF2B5EF4-FFF2-40B4-BE49-F238E27FC236}">
                <a16:creationId xmlns:a16="http://schemas.microsoft.com/office/drawing/2014/main" id="{9C421364-8A9B-FA56-5D16-985CE0D91111}"/>
              </a:ext>
            </a:extLst>
          </p:cNvPr>
          <p:cNvSpPr/>
          <p:nvPr/>
        </p:nvSpPr>
        <p:spPr bwMode="auto">
          <a:xfrm>
            <a:off x="8166024" y="5769026"/>
            <a:ext cx="810009"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3" name="平行四辺形 42">
            <a:extLst>
              <a:ext uri="{FF2B5EF4-FFF2-40B4-BE49-F238E27FC236}">
                <a16:creationId xmlns:a16="http://schemas.microsoft.com/office/drawing/2014/main" id="{5DCB0CDC-C763-995C-9DEF-6E9CB6EB16AF}"/>
              </a:ext>
            </a:extLst>
          </p:cNvPr>
          <p:cNvSpPr/>
          <p:nvPr/>
        </p:nvSpPr>
        <p:spPr bwMode="auto">
          <a:xfrm>
            <a:off x="8886032" y="5769026"/>
            <a:ext cx="810009"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4" name="正方形/長方形 43">
            <a:extLst>
              <a:ext uri="{FF2B5EF4-FFF2-40B4-BE49-F238E27FC236}">
                <a16:creationId xmlns:a16="http://schemas.microsoft.com/office/drawing/2014/main" id="{6925D667-4B72-2320-3479-BD04548441C3}"/>
              </a:ext>
            </a:extLst>
          </p:cNvPr>
          <p:cNvSpPr/>
          <p:nvPr/>
        </p:nvSpPr>
        <p:spPr>
          <a:xfrm>
            <a:off x="8886032" y="4959017"/>
            <a:ext cx="1710019"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ﾊﾞｲｿｸﾃﾞｽ</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58" name="角丸四角形 89">
            <a:extLst>
              <a:ext uri="{FF2B5EF4-FFF2-40B4-BE49-F238E27FC236}">
                <a16:creationId xmlns:a16="http://schemas.microsoft.com/office/drawing/2014/main" id="{77252879-6EA2-5436-7599-BF908A68CC37}"/>
              </a:ext>
            </a:extLst>
          </p:cNvPr>
          <p:cNvSpPr/>
          <p:nvPr/>
        </p:nvSpPr>
        <p:spPr bwMode="auto">
          <a:xfrm>
            <a:off x="8796031" y="2708992"/>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14" name="正方形/長方形 13">
            <a:extLst>
              <a:ext uri="{FF2B5EF4-FFF2-40B4-BE49-F238E27FC236}">
                <a16:creationId xmlns:a16="http://schemas.microsoft.com/office/drawing/2014/main" id="{B26F96B2-0252-4023-6797-4DE0A37C1346}"/>
              </a:ext>
            </a:extLst>
          </p:cNvPr>
          <p:cNvSpPr/>
          <p:nvPr/>
        </p:nvSpPr>
        <p:spPr>
          <a:xfrm>
            <a:off x="2495960" y="4959017"/>
            <a:ext cx="1710019"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10" name="角丸四角形 89">
            <a:extLst>
              <a:ext uri="{FF2B5EF4-FFF2-40B4-BE49-F238E27FC236}">
                <a16:creationId xmlns:a16="http://schemas.microsoft.com/office/drawing/2014/main" id="{20272F35-3875-E924-DDD0-13BE33D8DC39}"/>
              </a:ext>
            </a:extLst>
          </p:cNvPr>
          <p:cNvSpPr/>
          <p:nvPr/>
        </p:nvSpPr>
        <p:spPr bwMode="auto">
          <a:xfrm>
            <a:off x="7266014" y="2708992"/>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17" name="角丸四角形 89">
            <a:extLst>
              <a:ext uri="{FF2B5EF4-FFF2-40B4-BE49-F238E27FC236}">
                <a16:creationId xmlns:a16="http://schemas.microsoft.com/office/drawing/2014/main" id="{76883C71-F802-E1A6-5593-C7BCD031EA88}"/>
              </a:ext>
            </a:extLst>
          </p:cNvPr>
          <p:cNvSpPr/>
          <p:nvPr/>
        </p:nvSpPr>
        <p:spPr bwMode="auto">
          <a:xfrm>
            <a:off x="5825998" y="2708992"/>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18" name="角丸四角形 89">
            <a:extLst>
              <a:ext uri="{FF2B5EF4-FFF2-40B4-BE49-F238E27FC236}">
                <a16:creationId xmlns:a16="http://schemas.microsoft.com/office/drawing/2014/main" id="{055E20B1-1F81-AFCB-70AD-75FA5767993E}"/>
              </a:ext>
            </a:extLst>
          </p:cNvPr>
          <p:cNvSpPr/>
          <p:nvPr/>
        </p:nvSpPr>
        <p:spPr bwMode="auto">
          <a:xfrm>
            <a:off x="4475983" y="2708992"/>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0" name="角丸四角形 89">
            <a:extLst>
              <a:ext uri="{FF2B5EF4-FFF2-40B4-BE49-F238E27FC236}">
                <a16:creationId xmlns:a16="http://schemas.microsoft.com/office/drawing/2014/main" id="{DA629A66-2CE0-3C32-58EA-AA69AA1D8F29}"/>
              </a:ext>
            </a:extLst>
          </p:cNvPr>
          <p:cNvSpPr/>
          <p:nvPr/>
        </p:nvSpPr>
        <p:spPr bwMode="auto">
          <a:xfrm>
            <a:off x="3035967" y="2708992"/>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1" name="角丸四角形 89">
            <a:extLst>
              <a:ext uri="{FF2B5EF4-FFF2-40B4-BE49-F238E27FC236}">
                <a16:creationId xmlns:a16="http://schemas.microsoft.com/office/drawing/2014/main" id="{C26F65AC-EFE3-FA6F-4624-4B51696F63BA}"/>
              </a:ext>
            </a:extLst>
          </p:cNvPr>
          <p:cNvSpPr/>
          <p:nvPr/>
        </p:nvSpPr>
        <p:spPr bwMode="auto">
          <a:xfrm>
            <a:off x="2585962"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2" name="角丸四角形 89">
            <a:extLst>
              <a:ext uri="{FF2B5EF4-FFF2-40B4-BE49-F238E27FC236}">
                <a16:creationId xmlns:a16="http://schemas.microsoft.com/office/drawing/2014/main" id="{30607270-E65C-6AE1-8AC8-BBB02F453B0C}"/>
              </a:ext>
            </a:extLst>
          </p:cNvPr>
          <p:cNvSpPr/>
          <p:nvPr/>
        </p:nvSpPr>
        <p:spPr bwMode="auto">
          <a:xfrm>
            <a:off x="3305970"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3" name="角丸四角形 89">
            <a:extLst>
              <a:ext uri="{FF2B5EF4-FFF2-40B4-BE49-F238E27FC236}">
                <a16:creationId xmlns:a16="http://schemas.microsoft.com/office/drawing/2014/main" id="{19E86F23-99E7-C602-188C-90D189C26B1F}"/>
              </a:ext>
            </a:extLst>
          </p:cNvPr>
          <p:cNvSpPr/>
          <p:nvPr/>
        </p:nvSpPr>
        <p:spPr bwMode="auto">
          <a:xfrm>
            <a:off x="4025978"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5" name="角丸四角形 89">
            <a:extLst>
              <a:ext uri="{FF2B5EF4-FFF2-40B4-BE49-F238E27FC236}">
                <a16:creationId xmlns:a16="http://schemas.microsoft.com/office/drawing/2014/main" id="{7C08E1CC-410A-6D39-AF3F-A2859279CD29}"/>
              </a:ext>
            </a:extLst>
          </p:cNvPr>
          <p:cNvSpPr/>
          <p:nvPr/>
        </p:nvSpPr>
        <p:spPr bwMode="auto">
          <a:xfrm>
            <a:off x="4745986"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29" name="角丸四角形 89">
            <a:extLst>
              <a:ext uri="{FF2B5EF4-FFF2-40B4-BE49-F238E27FC236}">
                <a16:creationId xmlns:a16="http://schemas.microsoft.com/office/drawing/2014/main" id="{825B04FE-9DD8-96F6-9E14-43F0DE8A2FEA}"/>
              </a:ext>
            </a:extLst>
          </p:cNvPr>
          <p:cNvSpPr/>
          <p:nvPr/>
        </p:nvSpPr>
        <p:spPr bwMode="auto">
          <a:xfrm>
            <a:off x="5465994"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30" name="角丸四角形 89">
            <a:extLst>
              <a:ext uri="{FF2B5EF4-FFF2-40B4-BE49-F238E27FC236}">
                <a16:creationId xmlns:a16="http://schemas.microsoft.com/office/drawing/2014/main" id="{3C475DEC-AE0F-72BD-B317-045213E7D0F3}"/>
              </a:ext>
            </a:extLst>
          </p:cNvPr>
          <p:cNvSpPr/>
          <p:nvPr/>
        </p:nvSpPr>
        <p:spPr bwMode="auto">
          <a:xfrm>
            <a:off x="6186002"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33" name="角丸四角形 89">
            <a:extLst>
              <a:ext uri="{FF2B5EF4-FFF2-40B4-BE49-F238E27FC236}">
                <a16:creationId xmlns:a16="http://schemas.microsoft.com/office/drawing/2014/main" id="{0FAAA45C-ED43-F0F0-12B9-CA37603AEDBC}"/>
              </a:ext>
            </a:extLst>
          </p:cNvPr>
          <p:cNvSpPr/>
          <p:nvPr/>
        </p:nvSpPr>
        <p:spPr bwMode="auto">
          <a:xfrm>
            <a:off x="6906010"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46" name="角丸四角形 89">
            <a:extLst>
              <a:ext uri="{FF2B5EF4-FFF2-40B4-BE49-F238E27FC236}">
                <a16:creationId xmlns:a16="http://schemas.microsoft.com/office/drawing/2014/main" id="{C902C5CD-1E00-A00C-B9AC-E53BFB2C8E91}"/>
              </a:ext>
            </a:extLst>
          </p:cNvPr>
          <p:cNvSpPr/>
          <p:nvPr/>
        </p:nvSpPr>
        <p:spPr bwMode="auto">
          <a:xfrm>
            <a:off x="7626018"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55" name="角丸四角形 89">
            <a:extLst>
              <a:ext uri="{FF2B5EF4-FFF2-40B4-BE49-F238E27FC236}">
                <a16:creationId xmlns:a16="http://schemas.microsoft.com/office/drawing/2014/main" id="{5835660E-1B2E-56F2-1947-0E366A06B2EE}"/>
              </a:ext>
            </a:extLst>
          </p:cNvPr>
          <p:cNvSpPr/>
          <p:nvPr/>
        </p:nvSpPr>
        <p:spPr bwMode="auto">
          <a:xfrm>
            <a:off x="8346026"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56" name="角丸四角形 89">
            <a:extLst>
              <a:ext uri="{FF2B5EF4-FFF2-40B4-BE49-F238E27FC236}">
                <a16:creationId xmlns:a16="http://schemas.microsoft.com/office/drawing/2014/main" id="{7E4E6833-2E61-1070-2991-62487CEBB4A3}"/>
              </a:ext>
            </a:extLst>
          </p:cNvPr>
          <p:cNvSpPr/>
          <p:nvPr/>
        </p:nvSpPr>
        <p:spPr bwMode="auto">
          <a:xfrm>
            <a:off x="9066034" y="5679025"/>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ja-JP" altLang="en-US" sz="1200" dirty="0">
                <a:latin typeface="Arial Narrow" panose="020B0606020202030204" pitchFamily="34" charset="0"/>
              </a:rPr>
              <a:t>命令</a:t>
            </a:r>
          </a:p>
        </p:txBody>
      </p:sp>
      <p:sp>
        <p:nvSpPr>
          <p:cNvPr id="60" name="テキスト ボックス 59">
            <a:extLst>
              <a:ext uri="{FF2B5EF4-FFF2-40B4-BE49-F238E27FC236}">
                <a16:creationId xmlns:a16="http://schemas.microsoft.com/office/drawing/2014/main" id="{07D5A3ED-8857-28AC-DEC3-7DCED16B7592}"/>
              </a:ext>
            </a:extLst>
          </p:cNvPr>
          <p:cNvSpPr txBox="1"/>
          <p:nvPr/>
        </p:nvSpPr>
        <p:spPr>
          <a:xfrm>
            <a:off x="1865953" y="1358978"/>
            <a:ext cx="5400060" cy="646331"/>
          </a:xfrm>
          <a:prstGeom prst="rect">
            <a:avLst/>
          </a:prstGeom>
          <a:noFill/>
        </p:spPr>
        <p:txBody>
          <a:bodyPr wrap="square">
            <a:spAutoFit/>
          </a:bodyPr>
          <a:lstStyle/>
          <a:p>
            <a:pPr lvl="1"/>
            <a:r>
              <a:rPr lang="en-US" altLang="ja-JP" dirty="0">
                <a:solidFill>
                  <a:schemeClr val="tx1">
                    <a:lumMod val="75000"/>
                    <a:lumOff val="25000"/>
                  </a:schemeClr>
                </a:solidFill>
              </a:rPr>
              <a:t>IPC</a:t>
            </a:r>
            <a:r>
              <a:rPr lang="ja-JP" altLang="en-US" dirty="0">
                <a:solidFill>
                  <a:schemeClr val="tx1">
                    <a:lumMod val="75000"/>
                    <a:lumOff val="25000"/>
                  </a:schemeClr>
                </a:solidFill>
              </a:rPr>
              <a:t>≈</a:t>
            </a:r>
            <a:r>
              <a:rPr lang="en-US" altLang="ja-JP" dirty="0">
                <a:solidFill>
                  <a:schemeClr val="tx1">
                    <a:lumMod val="75000"/>
                    <a:lumOff val="25000"/>
                  </a:schemeClr>
                </a:solidFill>
              </a:rPr>
              <a:t>1</a:t>
            </a:r>
            <a:r>
              <a:rPr lang="ja-JP" altLang="en-US" dirty="0">
                <a:solidFill>
                  <a:schemeClr val="tx1">
                    <a:lumMod val="75000"/>
                    <a:lumOff val="25000"/>
                  </a:schemeClr>
                </a:solidFill>
              </a:rPr>
              <a:t>命令</a:t>
            </a:r>
            <a:r>
              <a:rPr lang="en-US" altLang="ja-JP" dirty="0">
                <a:solidFill>
                  <a:schemeClr val="tx1">
                    <a:lumMod val="75000"/>
                    <a:lumOff val="25000"/>
                  </a:schemeClr>
                </a:solidFill>
              </a:rPr>
              <a:t> / 1</a:t>
            </a:r>
            <a:r>
              <a:rPr lang="ja-JP" altLang="en-US" dirty="0">
                <a:solidFill>
                  <a:schemeClr val="tx1">
                    <a:lumMod val="75000"/>
                    <a:lumOff val="25000"/>
                  </a:schemeClr>
                </a:solidFill>
              </a:rPr>
              <a:t>サイクル</a:t>
            </a:r>
            <a:r>
              <a:rPr lang="en-US" altLang="ja-JP" dirty="0">
                <a:solidFill>
                  <a:schemeClr val="tx1">
                    <a:lumMod val="75000"/>
                    <a:lumOff val="25000"/>
                  </a:schemeClr>
                </a:solidFill>
              </a:rPr>
              <a:t> = 1</a:t>
            </a:r>
          </a:p>
          <a:p>
            <a:pPr lvl="1"/>
            <a:r>
              <a:rPr lang="ja-JP" altLang="en-US" dirty="0">
                <a:solidFill>
                  <a:schemeClr val="tx1">
                    <a:lumMod val="75000"/>
                    <a:lumOff val="25000"/>
                  </a:schemeClr>
                </a:solidFill>
              </a:rPr>
              <a:t>周波数</a:t>
            </a:r>
            <a:r>
              <a:rPr lang="en-US" altLang="ja-JP" dirty="0">
                <a:solidFill>
                  <a:schemeClr val="tx1">
                    <a:lumMod val="75000"/>
                    <a:lumOff val="25000"/>
                  </a:schemeClr>
                </a:solidFill>
              </a:rPr>
              <a:t> = 1</a:t>
            </a:r>
            <a:r>
              <a:rPr lang="ja-JP" altLang="en-US" dirty="0">
                <a:solidFill>
                  <a:schemeClr val="tx1">
                    <a:lumMod val="75000"/>
                    <a:lumOff val="25000"/>
                  </a:schemeClr>
                </a:solidFill>
              </a:rPr>
              <a:t>秒</a:t>
            </a:r>
            <a:r>
              <a:rPr lang="en-US" altLang="ja-JP" dirty="0">
                <a:solidFill>
                  <a:schemeClr val="tx1">
                    <a:lumMod val="75000"/>
                    <a:lumOff val="25000"/>
                  </a:schemeClr>
                </a:solidFill>
              </a:rPr>
              <a:t> / 1ns = 1000 MHz = 1GHz</a:t>
            </a:r>
          </a:p>
        </p:txBody>
      </p:sp>
      <p:sp>
        <p:nvSpPr>
          <p:cNvPr id="61" name="テキスト ボックス 60">
            <a:extLst>
              <a:ext uri="{FF2B5EF4-FFF2-40B4-BE49-F238E27FC236}">
                <a16:creationId xmlns:a16="http://schemas.microsoft.com/office/drawing/2014/main" id="{4CC02C3E-9FFE-6883-51C0-30BC79B85143}"/>
              </a:ext>
            </a:extLst>
          </p:cNvPr>
          <p:cNvSpPr txBox="1"/>
          <p:nvPr/>
        </p:nvSpPr>
        <p:spPr>
          <a:xfrm>
            <a:off x="1865953" y="4059007"/>
            <a:ext cx="7740086" cy="923330"/>
          </a:xfrm>
          <a:prstGeom prst="rect">
            <a:avLst/>
          </a:prstGeom>
          <a:noFill/>
        </p:spPr>
        <p:txBody>
          <a:bodyPr wrap="square">
            <a:spAutoFit/>
          </a:bodyPr>
          <a:lstStyle/>
          <a:p>
            <a:pPr lvl="1"/>
            <a:r>
              <a:rPr lang="en-US" altLang="ja-JP" dirty="0">
                <a:solidFill>
                  <a:schemeClr val="tx1">
                    <a:lumMod val="75000"/>
                    <a:lumOff val="25000"/>
                  </a:schemeClr>
                </a:solidFill>
              </a:rPr>
              <a:t>IPC</a:t>
            </a:r>
            <a:r>
              <a:rPr lang="ja-JP" altLang="en-US" dirty="0">
                <a:solidFill>
                  <a:schemeClr val="tx1">
                    <a:lumMod val="75000"/>
                    <a:lumOff val="25000"/>
                  </a:schemeClr>
                </a:solidFill>
              </a:rPr>
              <a:t>≈</a:t>
            </a:r>
            <a:r>
              <a:rPr lang="en-US" altLang="ja-JP" dirty="0">
                <a:solidFill>
                  <a:schemeClr val="tx1">
                    <a:lumMod val="75000"/>
                    <a:lumOff val="25000"/>
                  </a:schemeClr>
                </a:solidFill>
              </a:rPr>
              <a:t>1</a:t>
            </a:r>
            <a:r>
              <a:rPr lang="ja-JP" altLang="en-US" dirty="0">
                <a:solidFill>
                  <a:schemeClr val="tx1">
                    <a:lumMod val="75000"/>
                    <a:lumOff val="25000"/>
                  </a:schemeClr>
                </a:solidFill>
              </a:rPr>
              <a:t>命令</a:t>
            </a:r>
            <a:r>
              <a:rPr lang="en-US" altLang="ja-JP" dirty="0">
                <a:solidFill>
                  <a:schemeClr val="tx1">
                    <a:lumMod val="75000"/>
                    <a:lumOff val="25000"/>
                  </a:schemeClr>
                </a:solidFill>
              </a:rPr>
              <a:t> / 1</a:t>
            </a:r>
            <a:r>
              <a:rPr lang="ja-JP" altLang="en-US" dirty="0">
                <a:solidFill>
                  <a:schemeClr val="tx1">
                    <a:lumMod val="75000"/>
                    <a:lumOff val="25000"/>
                  </a:schemeClr>
                </a:solidFill>
              </a:rPr>
              <a:t>サイクル</a:t>
            </a:r>
            <a:r>
              <a:rPr lang="en-US" altLang="ja-JP" dirty="0">
                <a:solidFill>
                  <a:schemeClr val="tx1">
                    <a:lumMod val="75000"/>
                    <a:lumOff val="25000"/>
                  </a:schemeClr>
                </a:solidFill>
              </a:rPr>
              <a:t> = 1</a:t>
            </a:r>
          </a:p>
          <a:p>
            <a:pPr lvl="1"/>
            <a:r>
              <a:rPr lang="ja-JP" altLang="en-US" dirty="0">
                <a:solidFill>
                  <a:schemeClr val="tx1">
                    <a:lumMod val="75000"/>
                    <a:lumOff val="25000"/>
                  </a:schemeClr>
                </a:solidFill>
              </a:rPr>
              <a:t>周波数</a:t>
            </a:r>
            <a:r>
              <a:rPr lang="en-US" altLang="ja-JP" dirty="0">
                <a:solidFill>
                  <a:schemeClr val="tx1">
                    <a:lumMod val="75000"/>
                    <a:lumOff val="25000"/>
                  </a:schemeClr>
                </a:solidFill>
              </a:rPr>
              <a:t> = 1</a:t>
            </a:r>
            <a:r>
              <a:rPr lang="ja-JP" altLang="en-US" dirty="0">
                <a:solidFill>
                  <a:schemeClr val="tx1">
                    <a:lumMod val="75000"/>
                    <a:lumOff val="25000"/>
                  </a:schemeClr>
                </a:solidFill>
              </a:rPr>
              <a:t>秒</a:t>
            </a:r>
            <a:r>
              <a:rPr lang="en-US" altLang="ja-JP" dirty="0">
                <a:solidFill>
                  <a:schemeClr val="tx1">
                    <a:lumMod val="75000"/>
                    <a:lumOff val="25000"/>
                  </a:schemeClr>
                </a:solidFill>
              </a:rPr>
              <a:t> / 0.5ns = 2000 MHz = 2GHz</a:t>
            </a:r>
          </a:p>
          <a:p>
            <a:pPr lvl="1"/>
            <a:r>
              <a:rPr lang="ja-JP" altLang="en-US" dirty="0">
                <a:solidFill>
                  <a:schemeClr val="tx1">
                    <a:lumMod val="75000"/>
                    <a:lumOff val="25000"/>
                  </a:schemeClr>
                </a:solidFill>
              </a:rPr>
              <a:t>１人が１サイクルに行う仕事を半分にして，かわりに倍速で次に送る</a:t>
            </a:r>
            <a:endParaRPr lang="en-US" altLang="ja-JP" dirty="0">
              <a:solidFill>
                <a:schemeClr val="tx1">
                  <a:lumMod val="75000"/>
                  <a:lumOff val="25000"/>
                </a:schemeClr>
              </a:solidFill>
            </a:endParaRPr>
          </a:p>
        </p:txBody>
      </p:sp>
      <p:sp>
        <p:nvSpPr>
          <p:cNvPr id="63" name="正方形/長方形 62">
            <a:extLst>
              <a:ext uri="{FF2B5EF4-FFF2-40B4-BE49-F238E27FC236}">
                <a16:creationId xmlns:a16="http://schemas.microsoft.com/office/drawing/2014/main" id="{C38327EA-A2D9-D317-F566-88063C6F7DF4}"/>
              </a:ext>
            </a:extLst>
          </p:cNvPr>
          <p:cNvSpPr/>
          <p:nvPr/>
        </p:nvSpPr>
        <p:spPr>
          <a:xfrm>
            <a:off x="3125968" y="4959017"/>
            <a:ext cx="1530016"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 ;</a:t>
            </a:r>
            <a:r>
              <a:rPr lang="en-US" altLang="ja-JP"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ｲｿｶﾞｼｲ</a:t>
            </a:r>
            <a:endPar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endParaRP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Tree>
    <p:extLst>
      <p:ext uri="{BB962C8B-B14F-4D97-AF65-F5344CB8AC3E}">
        <p14:creationId xmlns:p14="http://schemas.microsoft.com/office/powerpoint/2010/main" val="4185690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2-way </a:t>
            </a:r>
            <a:r>
              <a:rPr kumimoji="1" lang="ja-JP" altLang="en-US" dirty="0"/>
              <a:t>スーパスカラ・プロセッサの性能</a:t>
            </a:r>
          </a:p>
        </p:txBody>
      </p:sp>
      <p:sp>
        <p:nvSpPr>
          <p:cNvPr id="164" name="コンテンツ プレースホルダー 34">
            <a:extLst>
              <a:ext uri="{FF2B5EF4-FFF2-40B4-BE49-F238E27FC236}">
                <a16:creationId xmlns:a16="http://schemas.microsoft.com/office/drawing/2014/main" id="{1427C5C5-48AE-702F-24B4-44FCC04F520E}"/>
              </a:ext>
            </a:extLst>
          </p:cNvPr>
          <p:cNvSpPr>
            <a:spLocks noGrp="1"/>
          </p:cNvSpPr>
          <p:nvPr>
            <p:ph type="body" sz="quarter" idx="10"/>
          </p:nvPr>
        </p:nvSpPr>
        <p:spPr>
          <a:xfrm>
            <a:off x="1955954" y="5499024"/>
            <a:ext cx="8280860" cy="809625"/>
          </a:xfrm>
        </p:spPr>
        <p:txBody>
          <a:bodyPr/>
          <a:lstStyle/>
          <a:p>
            <a:pPr lvl="1"/>
            <a:r>
              <a:rPr lang="en-US" altLang="ja-JP" dirty="0">
                <a:solidFill>
                  <a:schemeClr val="tx1">
                    <a:lumMod val="65000"/>
                    <a:lumOff val="35000"/>
                  </a:schemeClr>
                </a:solidFill>
              </a:rPr>
              <a:t>IPC </a:t>
            </a:r>
            <a:r>
              <a:rPr lang="ja-JP" altLang="en-US" dirty="0">
                <a:solidFill>
                  <a:schemeClr val="tx1">
                    <a:lumMod val="65000"/>
                    <a:lumOff val="35000"/>
                  </a:schemeClr>
                </a:solidFill>
              </a:rPr>
              <a:t>≈ </a:t>
            </a:r>
            <a:r>
              <a:rPr lang="en-US" altLang="ja-JP" dirty="0">
                <a:solidFill>
                  <a:schemeClr val="tx1">
                    <a:lumMod val="65000"/>
                    <a:lumOff val="35000"/>
                  </a:schemeClr>
                </a:solidFill>
              </a:rPr>
              <a:t>2</a:t>
            </a:r>
            <a:r>
              <a:rPr lang="ja-JP" altLang="en-US" dirty="0">
                <a:solidFill>
                  <a:schemeClr val="tx1">
                    <a:lumMod val="65000"/>
                    <a:lumOff val="35000"/>
                  </a:schemeClr>
                </a:solidFill>
              </a:rPr>
              <a:t>命令</a:t>
            </a:r>
            <a:r>
              <a:rPr lang="en-US" altLang="ja-JP" dirty="0">
                <a:solidFill>
                  <a:schemeClr val="tx1">
                    <a:lumMod val="65000"/>
                    <a:lumOff val="35000"/>
                  </a:schemeClr>
                </a:solidFill>
              </a:rPr>
              <a:t> / 1</a:t>
            </a:r>
            <a:r>
              <a:rPr lang="ja-JP" altLang="en-US" dirty="0">
                <a:solidFill>
                  <a:schemeClr val="tx1">
                    <a:lumMod val="65000"/>
                    <a:lumOff val="35000"/>
                  </a:schemeClr>
                </a:solidFill>
              </a:rPr>
              <a:t>サイクル</a:t>
            </a:r>
            <a:r>
              <a:rPr lang="en-US" altLang="ja-JP" dirty="0">
                <a:solidFill>
                  <a:schemeClr val="tx1">
                    <a:lumMod val="65000"/>
                    <a:lumOff val="35000"/>
                  </a:schemeClr>
                </a:solidFill>
              </a:rPr>
              <a:t> = </a:t>
            </a:r>
            <a:r>
              <a:rPr lang="en-US" altLang="ja-JP" dirty="0">
                <a:solidFill>
                  <a:schemeClr val="accent5"/>
                </a:solidFill>
              </a:rPr>
              <a:t>2</a:t>
            </a:r>
          </a:p>
          <a:p>
            <a:pPr lvl="1"/>
            <a:r>
              <a:rPr lang="ja-JP" altLang="en-US" dirty="0">
                <a:solidFill>
                  <a:schemeClr val="tx1">
                    <a:lumMod val="75000"/>
                    <a:lumOff val="25000"/>
                  </a:schemeClr>
                </a:solidFill>
              </a:rPr>
              <a:t>周波数</a:t>
            </a:r>
            <a:r>
              <a:rPr lang="en-US" altLang="ja-JP" dirty="0">
                <a:solidFill>
                  <a:schemeClr val="tx1">
                    <a:lumMod val="65000"/>
                    <a:lumOff val="35000"/>
                  </a:schemeClr>
                </a:solidFill>
              </a:rPr>
              <a:t> = 1</a:t>
            </a:r>
            <a:r>
              <a:rPr lang="ja-JP" altLang="en-US" dirty="0">
                <a:solidFill>
                  <a:schemeClr val="tx1">
                    <a:lumMod val="65000"/>
                    <a:lumOff val="35000"/>
                  </a:schemeClr>
                </a:solidFill>
              </a:rPr>
              <a:t>秒</a:t>
            </a:r>
            <a:r>
              <a:rPr lang="en-US" altLang="ja-JP" dirty="0">
                <a:solidFill>
                  <a:schemeClr val="tx1">
                    <a:lumMod val="65000"/>
                    <a:lumOff val="35000"/>
                  </a:schemeClr>
                </a:solidFill>
              </a:rPr>
              <a:t> / 1ns = </a:t>
            </a:r>
            <a:r>
              <a:rPr lang="en-US" altLang="ja-JP" dirty="0">
                <a:solidFill>
                  <a:schemeClr val="accent5"/>
                </a:solidFill>
              </a:rPr>
              <a:t>1000 MHz = 1GHz</a:t>
            </a:r>
          </a:p>
          <a:p>
            <a:pPr lvl="1"/>
            <a:r>
              <a:rPr lang="ja-JP" altLang="en-US" dirty="0">
                <a:solidFill>
                  <a:schemeClr val="tx1">
                    <a:lumMod val="75000"/>
                    <a:lumOff val="25000"/>
                  </a:schemeClr>
                </a:solidFill>
              </a:rPr>
              <a:t>性能（</a:t>
            </a:r>
            <a:r>
              <a:rPr lang="en-US" altLang="ja-JP" dirty="0">
                <a:solidFill>
                  <a:schemeClr val="tx1">
                    <a:lumMod val="75000"/>
                    <a:lumOff val="25000"/>
                  </a:schemeClr>
                </a:solidFill>
              </a:rPr>
              <a:t>1</a:t>
            </a:r>
            <a:r>
              <a:rPr lang="ja-JP" altLang="en-US" dirty="0">
                <a:solidFill>
                  <a:schemeClr val="tx1">
                    <a:lumMod val="75000"/>
                    <a:lumOff val="25000"/>
                  </a:schemeClr>
                </a:solidFill>
              </a:rPr>
              <a:t>秒あたりの命令数）</a:t>
            </a:r>
            <a:r>
              <a:rPr lang="en-US" altLang="ja-JP" dirty="0">
                <a:solidFill>
                  <a:schemeClr val="tx1">
                    <a:lumMod val="75000"/>
                    <a:lumOff val="25000"/>
                  </a:schemeClr>
                </a:solidFill>
              </a:rPr>
              <a:t>=</a:t>
            </a:r>
            <a:r>
              <a:rPr lang="ja-JP" altLang="en-US" dirty="0">
                <a:solidFill>
                  <a:schemeClr val="accent5"/>
                </a:solidFill>
              </a:rPr>
              <a:t> </a:t>
            </a:r>
            <a:r>
              <a:rPr lang="en-US" altLang="ja-JP" dirty="0">
                <a:solidFill>
                  <a:schemeClr val="tx1">
                    <a:lumMod val="75000"/>
                    <a:lumOff val="25000"/>
                  </a:schemeClr>
                </a:solidFill>
              </a:rPr>
              <a:t>IPC*</a:t>
            </a:r>
            <a:r>
              <a:rPr lang="ja-JP" altLang="en-US" dirty="0">
                <a:solidFill>
                  <a:schemeClr val="tx1">
                    <a:lumMod val="75000"/>
                    <a:lumOff val="25000"/>
                  </a:schemeClr>
                </a:solidFill>
              </a:rPr>
              <a:t>周波数</a:t>
            </a:r>
            <a:r>
              <a:rPr lang="ja-JP" altLang="en-US" dirty="0">
                <a:solidFill>
                  <a:schemeClr val="accent5"/>
                </a:solidFill>
              </a:rPr>
              <a:t> </a:t>
            </a:r>
            <a:r>
              <a:rPr lang="en-US" altLang="ja-JP" dirty="0">
                <a:solidFill>
                  <a:schemeClr val="accent5"/>
                </a:solidFill>
              </a:rPr>
              <a:t>= </a:t>
            </a:r>
            <a:r>
              <a:rPr lang="ja-JP" altLang="en-US" dirty="0">
                <a:solidFill>
                  <a:schemeClr val="accent5"/>
                </a:solidFill>
              </a:rPr>
              <a:t>秒間 </a:t>
            </a:r>
            <a:r>
              <a:rPr lang="en-US" altLang="ja-JP" dirty="0">
                <a:solidFill>
                  <a:schemeClr val="accent5"/>
                </a:solidFill>
              </a:rPr>
              <a:t>2G </a:t>
            </a:r>
            <a:r>
              <a:rPr lang="ja-JP" altLang="en-US" dirty="0">
                <a:solidFill>
                  <a:schemeClr val="accent5"/>
                </a:solidFill>
              </a:rPr>
              <a:t>命令</a:t>
            </a:r>
            <a:endParaRPr lang="en-US" altLang="ja-JP" dirty="0"/>
          </a:p>
        </p:txBody>
      </p:sp>
      <p:cxnSp>
        <p:nvCxnSpPr>
          <p:cNvPr id="42" name="直線矢印コネクタ 41">
            <a:extLst>
              <a:ext uri="{FF2B5EF4-FFF2-40B4-BE49-F238E27FC236}">
                <a16:creationId xmlns:a16="http://schemas.microsoft.com/office/drawing/2014/main" id="{752E328C-C1D5-FF66-56F7-6D32BE02079A}"/>
              </a:ext>
            </a:extLst>
          </p:cNvPr>
          <p:cNvCxnSpPr>
            <a:cxnSpLocks/>
          </p:cNvCxnSpPr>
          <p:nvPr/>
        </p:nvCxnSpPr>
        <p:spPr bwMode="auto">
          <a:xfrm>
            <a:off x="2495962" y="1898983"/>
            <a:ext cx="45000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43" name="正方形/長方形 42">
            <a:extLst>
              <a:ext uri="{FF2B5EF4-FFF2-40B4-BE49-F238E27FC236}">
                <a16:creationId xmlns:a16="http://schemas.microsoft.com/office/drawing/2014/main" id="{5FDAE602-62FC-55B4-E974-D59EF8802FD9}"/>
              </a:ext>
            </a:extLst>
          </p:cNvPr>
          <p:cNvSpPr/>
          <p:nvPr/>
        </p:nvSpPr>
        <p:spPr>
          <a:xfrm>
            <a:off x="2405961" y="1178975"/>
            <a:ext cx="540005" cy="540006"/>
          </a:xfrm>
          <a:prstGeom prst="rect">
            <a:avLst/>
          </a:prstGeom>
        </p:spPr>
        <p:txBody>
          <a:bodyPr wrap="none">
            <a:noAutofit/>
          </a:bodyPr>
          <a:lstStyle/>
          <a:p>
            <a:pPr algn="ctr"/>
            <a:r>
              <a:rPr lang="en-US" altLang="ja-JP" dirty="0">
                <a:solidFill>
                  <a:schemeClr val="tx1">
                    <a:lumMod val="65000"/>
                    <a:lumOff val="35000"/>
                  </a:schemeClr>
                </a:solidFill>
              </a:rPr>
              <a:t>1 ns</a:t>
            </a:r>
          </a:p>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44" name="正方形/長方形 43">
            <a:extLst>
              <a:ext uri="{FF2B5EF4-FFF2-40B4-BE49-F238E27FC236}">
                <a16:creationId xmlns:a16="http://schemas.microsoft.com/office/drawing/2014/main" id="{66426AD8-2063-864A-2E33-ED04ABA301E1}"/>
              </a:ext>
            </a:extLst>
          </p:cNvPr>
          <p:cNvSpPr/>
          <p:nvPr/>
        </p:nvSpPr>
        <p:spPr>
          <a:xfrm>
            <a:off x="1865955"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45" name="正方形/長方形 44">
            <a:extLst>
              <a:ext uri="{FF2B5EF4-FFF2-40B4-BE49-F238E27FC236}">
                <a16:creationId xmlns:a16="http://schemas.microsoft.com/office/drawing/2014/main" id="{FFFD2385-A68A-86AD-D46A-FD94AB21DFF3}"/>
              </a:ext>
            </a:extLst>
          </p:cNvPr>
          <p:cNvSpPr/>
          <p:nvPr/>
        </p:nvSpPr>
        <p:spPr>
          <a:xfrm>
            <a:off x="1865955" y="243898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46" name="正方形/長方形 45">
            <a:extLst>
              <a:ext uri="{FF2B5EF4-FFF2-40B4-BE49-F238E27FC236}">
                <a16:creationId xmlns:a16="http://schemas.microsoft.com/office/drawing/2014/main" id="{7244211F-16C9-2035-785E-D5107B736746}"/>
              </a:ext>
            </a:extLst>
          </p:cNvPr>
          <p:cNvSpPr/>
          <p:nvPr/>
        </p:nvSpPr>
        <p:spPr>
          <a:xfrm>
            <a:off x="1865955" y="288899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47" name="Rectangle 69">
            <a:extLst>
              <a:ext uri="{FF2B5EF4-FFF2-40B4-BE49-F238E27FC236}">
                <a16:creationId xmlns:a16="http://schemas.microsoft.com/office/drawing/2014/main" id="{9B3F32A6-2741-4C89-4253-E3088ABC24B9}"/>
              </a:ext>
            </a:extLst>
          </p:cNvPr>
          <p:cNvSpPr>
            <a:spLocks noChangeArrowheads="1"/>
          </p:cNvSpPr>
          <p:nvPr/>
        </p:nvSpPr>
        <p:spPr bwMode="auto">
          <a:xfrm>
            <a:off x="2495961"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8" name="Rectangle 70">
            <a:extLst>
              <a:ext uri="{FF2B5EF4-FFF2-40B4-BE49-F238E27FC236}">
                <a16:creationId xmlns:a16="http://schemas.microsoft.com/office/drawing/2014/main" id="{52D75755-CCCB-2F7E-37EE-CE5F0B18DB5C}"/>
              </a:ext>
            </a:extLst>
          </p:cNvPr>
          <p:cNvSpPr>
            <a:spLocks noChangeArrowheads="1"/>
          </p:cNvSpPr>
          <p:nvPr/>
        </p:nvSpPr>
        <p:spPr bwMode="auto">
          <a:xfrm>
            <a:off x="2945965"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9" name="Rectangle 71">
            <a:extLst>
              <a:ext uri="{FF2B5EF4-FFF2-40B4-BE49-F238E27FC236}">
                <a16:creationId xmlns:a16="http://schemas.microsoft.com/office/drawing/2014/main" id="{5A8CBD06-584C-73D2-E9C2-030B11A0E28E}"/>
              </a:ext>
            </a:extLst>
          </p:cNvPr>
          <p:cNvSpPr>
            <a:spLocks noChangeArrowheads="1"/>
          </p:cNvSpPr>
          <p:nvPr/>
        </p:nvSpPr>
        <p:spPr bwMode="auto">
          <a:xfrm>
            <a:off x="3395971"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50" name="Rectangle 72">
            <a:extLst>
              <a:ext uri="{FF2B5EF4-FFF2-40B4-BE49-F238E27FC236}">
                <a16:creationId xmlns:a16="http://schemas.microsoft.com/office/drawing/2014/main" id="{6843D2EC-A076-22ED-41B6-42963B406BCE}"/>
              </a:ext>
            </a:extLst>
          </p:cNvPr>
          <p:cNvSpPr>
            <a:spLocks noChangeArrowheads="1"/>
          </p:cNvSpPr>
          <p:nvPr/>
        </p:nvSpPr>
        <p:spPr bwMode="auto">
          <a:xfrm>
            <a:off x="3845976"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51" name="Rectangle 73">
            <a:extLst>
              <a:ext uri="{FF2B5EF4-FFF2-40B4-BE49-F238E27FC236}">
                <a16:creationId xmlns:a16="http://schemas.microsoft.com/office/drawing/2014/main" id="{DADD78E0-BB6B-4298-DBD5-B683E5769EB7}"/>
              </a:ext>
            </a:extLst>
          </p:cNvPr>
          <p:cNvSpPr>
            <a:spLocks noChangeArrowheads="1"/>
          </p:cNvSpPr>
          <p:nvPr/>
        </p:nvSpPr>
        <p:spPr bwMode="auto">
          <a:xfrm>
            <a:off x="4295980"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52" name="Rectangle 69">
            <a:extLst>
              <a:ext uri="{FF2B5EF4-FFF2-40B4-BE49-F238E27FC236}">
                <a16:creationId xmlns:a16="http://schemas.microsoft.com/office/drawing/2014/main" id="{144BAB32-E26D-025B-3338-D71F81E76E34}"/>
              </a:ext>
            </a:extLst>
          </p:cNvPr>
          <p:cNvSpPr>
            <a:spLocks noChangeArrowheads="1"/>
          </p:cNvSpPr>
          <p:nvPr/>
        </p:nvSpPr>
        <p:spPr bwMode="auto">
          <a:xfrm>
            <a:off x="2495960"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53" name="Rectangle 70">
            <a:extLst>
              <a:ext uri="{FF2B5EF4-FFF2-40B4-BE49-F238E27FC236}">
                <a16:creationId xmlns:a16="http://schemas.microsoft.com/office/drawing/2014/main" id="{AC04BFC9-F09F-FECB-2D99-1EDF4C5C2865}"/>
              </a:ext>
            </a:extLst>
          </p:cNvPr>
          <p:cNvSpPr>
            <a:spLocks noChangeArrowheads="1"/>
          </p:cNvSpPr>
          <p:nvPr/>
        </p:nvSpPr>
        <p:spPr bwMode="auto">
          <a:xfrm>
            <a:off x="2945964"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54" name="Rectangle 71">
            <a:extLst>
              <a:ext uri="{FF2B5EF4-FFF2-40B4-BE49-F238E27FC236}">
                <a16:creationId xmlns:a16="http://schemas.microsoft.com/office/drawing/2014/main" id="{EA60CA67-E297-5214-B39B-B4EAAB35993B}"/>
              </a:ext>
            </a:extLst>
          </p:cNvPr>
          <p:cNvSpPr>
            <a:spLocks noChangeArrowheads="1"/>
          </p:cNvSpPr>
          <p:nvPr/>
        </p:nvSpPr>
        <p:spPr bwMode="auto">
          <a:xfrm>
            <a:off x="3395970"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55" name="Rectangle 72">
            <a:extLst>
              <a:ext uri="{FF2B5EF4-FFF2-40B4-BE49-F238E27FC236}">
                <a16:creationId xmlns:a16="http://schemas.microsoft.com/office/drawing/2014/main" id="{02678D27-6D0B-3033-4BC2-6FB980BB2D1D}"/>
              </a:ext>
            </a:extLst>
          </p:cNvPr>
          <p:cNvSpPr>
            <a:spLocks noChangeArrowheads="1"/>
          </p:cNvSpPr>
          <p:nvPr/>
        </p:nvSpPr>
        <p:spPr bwMode="auto">
          <a:xfrm>
            <a:off x="3845975"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56" name="Rectangle 73">
            <a:extLst>
              <a:ext uri="{FF2B5EF4-FFF2-40B4-BE49-F238E27FC236}">
                <a16:creationId xmlns:a16="http://schemas.microsoft.com/office/drawing/2014/main" id="{CE3195C7-E623-D699-8944-103871540258}"/>
              </a:ext>
            </a:extLst>
          </p:cNvPr>
          <p:cNvSpPr>
            <a:spLocks noChangeArrowheads="1"/>
          </p:cNvSpPr>
          <p:nvPr/>
        </p:nvSpPr>
        <p:spPr bwMode="auto">
          <a:xfrm>
            <a:off x="4295979"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57" name="Rectangle 69">
            <a:extLst>
              <a:ext uri="{FF2B5EF4-FFF2-40B4-BE49-F238E27FC236}">
                <a16:creationId xmlns:a16="http://schemas.microsoft.com/office/drawing/2014/main" id="{A957579B-9D10-3905-6A3B-A277C36BEE2B}"/>
              </a:ext>
            </a:extLst>
          </p:cNvPr>
          <p:cNvSpPr>
            <a:spLocks noChangeArrowheads="1"/>
          </p:cNvSpPr>
          <p:nvPr/>
        </p:nvSpPr>
        <p:spPr bwMode="auto">
          <a:xfrm>
            <a:off x="2945966"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58" name="Rectangle 70">
            <a:extLst>
              <a:ext uri="{FF2B5EF4-FFF2-40B4-BE49-F238E27FC236}">
                <a16:creationId xmlns:a16="http://schemas.microsoft.com/office/drawing/2014/main" id="{35182A08-F2BE-7B51-810A-A8097795E83D}"/>
              </a:ext>
            </a:extLst>
          </p:cNvPr>
          <p:cNvSpPr>
            <a:spLocks noChangeArrowheads="1"/>
          </p:cNvSpPr>
          <p:nvPr/>
        </p:nvSpPr>
        <p:spPr bwMode="auto">
          <a:xfrm>
            <a:off x="3395970"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59" name="Rectangle 71">
            <a:extLst>
              <a:ext uri="{FF2B5EF4-FFF2-40B4-BE49-F238E27FC236}">
                <a16:creationId xmlns:a16="http://schemas.microsoft.com/office/drawing/2014/main" id="{699BB56D-A72F-DBBC-8F09-C4548E422CB5}"/>
              </a:ext>
            </a:extLst>
          </p:cNvPr>
          <p:cNvSpPr>
            <a:spLocks noChangeArrowheads="1"/>
          </p:cNvSpPr>
          <p:nvPr/>
        </p:nvSpPr>
        <p:spPr bwMode="auto">
          <a:xfrm>
            <a:off x="3845976"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60" name="Rectangle 72">
            <a:extLst>
              <a:ext uri="{FF2B5EF4-FFF2-40B4-BE49-F238E27FC236}">
                <a16:creationId xmlns:a16="http://schemas.microsoft.com/office/drawing/2014/main" id="{C5CA23B1-CF0E-04F1-DD93-3437F8C9D114}"/>
              </a:ext>
            </a:extLst>
          </p:cNvPr>
          <p:cNvSpPr>
            <a:spLocks noChangeArrowheads="1"/>
          </p:cNvSpPr>
          <p:nvPr/>
        </p:nvSpPr>
        <p:spPr bwMode="auto">
          <a:xfrm>
            <a:off x="4295981"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61" name="Rectangle 73">
            <a:extLst>
              <a:ext uri="{FF2B5EF4-FFF2-40B4-BE49-F238E27FC236}">
                <a16:creationId xmlns:a16="http://schemas.microsoft.com/office/drawing/2014/main" id="{BF87EBEA-58E2-718F-7102-DB9F26A5C7B2}"/>
              </a:ext>
            </a:extLst>
          </p:cNvPr>
          <p:cNvSpPr>
            <a:spLocks noChangeArrowheads="1"/>
          </p:cNvSpPr>
          <p:nvPr/>
        </p:nvSpPr>
        <p:spPr bwMode="auto">
          <a:xfrm>
            <a:off x="4745985"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nvGrpSpPr>
          <p:cNvPr id="131" name="グループ化 130">
            <a:extLst>
              <a:ext uri="{FF2B5EF4-FFF2-40B4-BE49-F238E27FC236}">
                <a16:creationId xmlns:a16="http://schemas.microsoft.com/office/drawing/2014/main" id="{5F7AADA1-C5B1-90AA-2492-AE731AF9B24F}"/>
              </a:ext>
            </a:extLst>
          </p:cNvPr>
          <p:cNvGrpSpPr/>
          <p:nvPr/>
        </p:nvGrpSpPr>
        <p:grpSpPr>
          <a:xfrm>
            <a:off x="2945968" y="3338999"/>
            <a:ext cx="2250023" cy="360000"/>
            <a:chOff x="1421967" y="3338999"/>
            <a:chExt cx="2250023" cy="360000"/>
          </a:xfrm>
        </p:grpSpPr>
        <p:sp>
          <p:nvSpPr>
            <p:cNvPr id="62" name="Rectangle 69">
              <a:extLst>
                <a:ext uri="{FF2B5EF4-FFF2-40B4-BE49-F238E27FC236}">
                  <a16:creationId xmlns:a16="http://schemas.microsoft.com/office/drawing/2014/main" id="{20C2F236-92B5-48E8-528F-4F5AD95EF19C}"/>
                </a:ext>
              </a:extLst>
            </p:cNvPr>
            <p:cNvSpPr>
              <a:spLocks noChangeArrowheads="1"/>
            </p:cNvSpPr>
            <p:nvPr/>
          </p:nvSpPr>
          <p:spPr bwMode="auto">
            <a:xfrm>
              <a:off x="1421967"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63" name="Rectangle 70">
              <a:extLst>
                <a:ext uri="{FF2B5EF4-FFF2-40B4-BE49-F238E27FC236}">
                  <a16:creationId xmlns:a16="http://schemas.microsoft.com/office/drawing/2014/main" id="{9DF3D61D-7B60-DBCD-FF5B-485985C42C87}"/>
                </a:ext>
              </a:extLst>
            </p:cNvPr>
            <p:cNvSpPr>
              <a:spLocks noChangeArrowheads="1"/>
            </p:cNvSpPr>
            <p:nvPr/>
          </p:nvSpPr>
          <p:spPr bwMode="auto">
            <a:xfrm>
              <a:off x="1871970"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28" name="Rectangle 71">
              <a:extLst>
                <a:ext uri="{FF2B5EF4-FFF2-40B4-BE49-F238E27FC236}">
                  <a16:creationId xmlns:a16="http://schemas.microsoft.com/office/drawing/2014/main" id="{5B392B3B-6528-8A80-3C19-F597F012A5BE}"/>
                </a:ext>
              </a:extLst>
            </p:cNvPr>
            <p:cNvSpPr>
              <a:spLocks noChangeArrowheads="1"/>
            </p:cNvSpPr>
            <p:nvPr/>
          </p:nvSpPr>
          <p:spPr bwMode="auto">
            <a:xfrm>
              <a:off x="2321976"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29" name="Rectangle 72">
              <a:extLst>
                <a:ext uri="{FF2B5EF4-FFF2-40B4-BE49-F238E27FC236}">
                  <a16:creationId xmlns:a16="http://schemas.microsoft.com/office/drawing/2014/main" id="{2061ED60-8B4A-27C8-86E6-1BBC12E40209}"/>
                </a:ext>
              </a:extLst>
            </p:cNvPr>
            <p:cNvSpPr>
              <a:spLocks noChangeArrowheads="1"/>
            </p:cNvSpPr>
            <p:nvPr/>
          </p:nvSpPr>
          <p:spPr bwMode="auto">
            <a:xfrm>
              <a:off x="2771981"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0" name="Rectangle 73">
              <a:extLst>
                <a:ext uri="{FF2B5EF4-FFF2-40B4-BE49-F238E27FC236}">
                  <a16:creationId xmlns:a16="http://schemas.microsoft.com/office/drawing/2014/main" id="{5D5FBB19-AC81-75B5-24DB-AB1727D08292}"/>
                </a:ext>
              </a:extLst>
            </p:cNvPr>
            <p:cNvSpPr>
              <a:spLocks noChangeArrowheads="1"/>
            </p:cNvSpPr>
            <p:nvPr/>
          </p:nvSpPr>
          <p:spPr bwMode="auto">
            <a:xfrm>
              <a:off x="3221986"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grpSp>
        <p:nvGrpSpPr>
          <p:cNvPr id="132" name="グループ化 131">
            <a:extLst>
              <a:ext uri="{FF2B5EF4-FFF2-40B4-BE49-F238E27FC236}">
                <a16:creationId xmlns:a16="http://schemas.microsoft.com/office/drawing/2014/main" id="{2E4967D7-B845-DB32-0B66-9BB5C3700C6E}"/>
              </a:ext>
            </a:extLst>
          </p:cNvPr>
          <p:cNvGrpSpPr/>
          <p:nvPr/>
        </p:nvGrpSpPr>
        <p:grpSpPr>
          <a:xfrm>
            <a:off x="3395971" y="3789004"/>
            <a:ext cx="2250023" cy="360000"/>
            <a:chOff x="1421967" y="3338999"/>
            <a:chExt cx="2250023" cy="360000"/>
          </a:xfrm>
        </p:grpSpPr>
        <p:sp>
          <p:nvSpPr>
            <p:cNvPr id="133" name="Rectangle 69">
              <a:extLst>
                <a:ext uri="{FF2B5EF4-FFF2-40B4-BE49-F238E27FC236}">
                  <a16:creationId xmlns:a16="http://schemas.microsoft.com/office/drawing/2014/main" id="{A2B8A086-1AEB-F7C6-071A-C7A91E99CFFB}"/>
                </a:ext>
              </a:extLst>
            </p:cNvPr>
            <p:cNvSpPr>
              <a:spLocks noChangeArrowheads="1"/>
            </p:cNvSpPr>
            <p:nvPr/>
          </p:nvSpPr>
          <p:spPr bwMode="auto">
            <a:xfrm>
              <a:off x="1421967"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4" name="Rectangle 70">
              <a:extLst>
                <a:ext uri="{FF2B5EF4-FFF2-40B4-BE49-F238E27FC236}">
                  <a16:creationId xmlns:a16="http://schemas.microsoft.com/office/drawing/2014/main" id="{3800438F-B9BD-B59C-E505-05F3C467FEE5}"/>
                </a:ext>
              </a:extLst>
            </p:cNvPr>
            <p:cNvSpPr>
              <a:spLocks noChangeArrowheads="1"/>
            </p:cNvSpPr>
            <p:nvPr/>
          </p:nvSpPr>
          <p:spPr bwMode="auto">
            <a:xfrm>
              <a:off x="1871970"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5" name="Rectangle 71">
              <a:extLst>
                <a:ext uri="{FF2B5EF4-FFF2-40B4-BE49-F238E27FC236}">
                  <a16:creationId xmlns:a16="http://schemas.microsoft.com/office/drawing/2014/main" id="{7C5BC112-0C90-1E2D-CC66-9377AB69E947}"/>
                </a:ext>
              </a:extLst>
            </p:cNvPr>
            <p:cNvSpPr>
              <a:spLocks noChangeArrowheads="1"/>
            </p:cNvSpPr>
            <p:nvPr/>
          </p:nvSpPr>
          <p:spPr bwMode="auto">
            <a:xfrm>
              <a:off x="2321976"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36" name="Rectangle 72">
              <a:extLst>
                <a:ext uri="{FF2B5EF4-FFF2-40B4-BE49-F238E27FC236}">
                  <a16:creationId xmlns:a16="http://schemas.microsoft.com/office/drawing/2014/main" id="{53644511-1676-BA8B-34BD-A5125D196FAB}"/>
                </a:ext>
              </a:extLst>
            </p:cNvPr>
            <p:cNvSpPr>
              <a:spLocks noChangeArrowheads="1"/>
            </p:cNvSpPr>
            <p:nvPr/>
          </p:nvSpPr>
          <p:spPr bwMode="auto">
            <a:xfrm>
              <a:off x="2771981"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7" name="Rectangle 73">
              <a:extLst>
                <a:ext uri="{FF2B5EF4-FFF2-40B4-BE49-F238E27FC236}">
                  <a16:creationId xmlns:a16="http://schemas.microsoft.com/office/drawing/2014/main" id="{F48293A1-DC44-D565-D8C6-6E1722B597F0}"/>
                </a:ext>
              </a:extLst>
            </p:cNvPr>
            <p:cNvSpPr>
              <a:spLocks noChangeArrowheads="1"/>
            </p:cNvSpPr>
            <p:nvPr/>
          </p:nvSpPr>
          <p:spPr bwMode="auto">
            <a:xfrm>
              <a:off x="3221986"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grpSp>
        <p:nvGrpSpPr>
          <p:cNvPr id="138" name="グループ化 137">
            <a:extLst>
              <a:ext uri="{FF2B5EF4-FFF2-40B4-BE49-F238E27FC236}">
                <a16:creationId xmlns:a16="http://schemas.microsoft.com/office/drawing/2014/main" id="{44413ECB-926E-2674-1D67-1F1536A38E90}"/>
              </a:ext>
            </a:extLst>
          </p:cNvPr>
          <p:cNvGrpSpPr/>
          <p:nvPr/>
        </p:nvGrpSpPr>
        <p:grpSpPr>
          <a:xfrm>
            <a:off x="3395971" y="4239009"/>
            <a:ext cx="2250023" cy="360000"/>
            <a:chOff x="1421967" y="3338999"/>
            <a:chExt cx="2250023" cy="360000"/>
          </a:xfrm>
        </p:grpSpPr>
        <p:sp>
          <p:nvSpPr>
            <p:cNvPr id="139" name="Rectangle 69">
              <a:extLst>
                <a:ext uri="{FF2B5EF4-FFF2-40B4-BE49-F238E27FC236}">
                  <a16:creationId xmlns:a16="http://schemas.microsoft.com/office/drawing/2014/main" id="{9589A191-7C76-0B8B-84B9-0E6DAABE8E7A}"/>
                </a:ext>
              </a:extLst>
            </p:cNvPr>
            <p:cNvSpPr>
              <a:spLocks noChangeArrowheads="1"/>
            </p:cNvSpPr>
            <p:nvPr/>
          </p:nvSpPr>
          <p:spPr bwMode="auto">
            <a:xfrm>
              <a:off x="1421967"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40" name="Rectangle 70">
              <a:extLst>
                <a:ext uri="{FF2B5EF4-FFF2-40B4-BE49-F238E27FC236}">
                  <a16:creationId xmlns:a16="http://schemas.microsoft.com/office/drawing/2014/main" id="{0B9DE5CD-46F4-9CB9-6901-63F8A8B30A10}"/>
                </a:ext>
              </a:extLst>
            </p:cNvPr>
            <p:cNvSpPr>
              <a:spLocks noChangeArrowheads="1"/>
            </p:cNvSpPr>
            <p:nvPr/>
          </p:nvSpPr>
          <p:spPr bwMode="auto">
            <a:xfrm>
              <a:off x="1871970"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41" name="Rectangle 71">
              <a:extLst>
                <a:ext uri="{FF2B5EF4-FFF2-40B4-BE49-F238E27FC236}">
                  <a16:creationId xmlns:a16="http://schemas.microsoft.com/office/drawing/2014/main" id="{70A7E287-ADCC-740F-3384-8CC38A06D09B}"/>
                </a:ext>
              </a:extLst>
            </p:cNvPr>
            <p:cNvSpPr>
              <a:spLocks noChangeArrowheads="1"/>
            </p:cNvSpPr>
            <p:nvPr/>
          </p:nvSpPr>
          <p:spPr bwMode="auto">
            <a:xfrm>
              <a:off x="2321976"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43" name="Rectangle 72">
              <a:extLst>
                <a:ext uri="{FF2B5EF4-FFF2-40B4-BE49-F238E27FC236}">
                  <a16:creationId xmlns:a16="http://schemas.microsoft.com/office/drawing/2014/main" id="{07A6B74C-80E2-C177-625B-A697C7BE1872}"/>
                </a:ext>
              </a:extLst>
            </p:cNvPr>
            <p:cNvSpPr>
              <a:spLocks noChangeArrowheads="1"/>
            </p:cNvSpPr>
            <p:nvPr/>
          </p:nvSpPr>
          <p:spPr bwMode="auto">
            <a:xfrm>
              <a:off x="2771981" y="333899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46" name="Rectangle 73">
              <a:extLst>
                <a:ext uri="{FF2B5EF4-FFF2-40B4-BE49-F238E27FC236}">
                  <a16:creationId xmlns:a16="http://schemas.microsoft.com/office/drawing/2014/main" id="{A8528180-A8D3-2EEC-46FF-A51006E29E92}"/>
                </a:ext>
              </a:extLst>
            </p:cNvPr>
            <p:cNvSpPr>
              <a:spLocks noChangeArrowheads="1"/>
            </p:cNvSpPr>
            <p:nvPr/>
          </p:nvSpPr>
          <p:spPr bwMode="auto">
            <a:xfrm>
              <a:off x="3221986" y="333899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sp>
        <p:nvSpPr>
          <p:cNvPr id="153" name="正方形/長方形 152">
            <a:extLst>
              <a:ext uri="{FF2B5EF4-FFF2-40B4-BE49-F238E27FC236}">
                <a16:creationId xmlns:a16="http://schemas.microsoft.com/office/drawing/2014/main" id="{ACAB8FD4-70DD-D440-18B7-ECAB05BE219D}"/>
              </a:ext>
            </a:extLst>
          </p:cNvPr>
          <p:cNvSpPr/>
          <p:nvPr/>
        </p:nvSpPr>
        <p:spPr>
          <a:xfrm>
            <a:off x="1865954" y="333899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I3</a:t>
            </a:r>
            <a:endParaRPr lang="ja-JP" altLang="en-US" dirty="0">
              <a:solidFill>
                <a:schemeClr val="tx1">
                  <a:lumMod val="65000"/>
                  <a:lumOff val="35000"/>
                </a:schemeClr>
              </a:solidFill>
              <a:latin typeface="Consolas" panose="020B0609020204030204" pitchFamily="49" charset="0"/>
            </a:endParaRPr>
          </a:p>
        </p:txBody>
      </p:sp>
      <p:sp>
        <p:nvSpPr>
          <p:cNvPr id="162" name="正方形/長方形 161">
            <a:extLst>
              <a:ext uri="{FF2B5EF4-FFF2-40B4-BE49-F238E27FC236}">
                <a16:creationId xmlns:a16="http://schemas.microsoft.com/office/drawing/2014/main" id="{9021EFB4-CEAC-F356-6E6B-DA67704C94A9}"/>
              </a:ext>
            </a:extLst>
          </p:cNvPr>
          <p:cNvSpPr/>
          <p:nvPr/>
        </p:nvSpPr>
        <p:spPr>
          <a:xfrm>
            <a:off x="1865954" y="378900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I4</a:t>
            </a:r>
            <a:endParaRPr lang="ja-JP" altLang="en-US" dirty="0">
              <a:solidFill>
                <a:schemeClr val="tx1">
                  <a:lumMod val="65000"/>
                  <a:lumOff val="35000"/>
                </a:schemeClr>
              </a:solidFill>
              <a:latin typeface="Consolas" panose="020B0609020204030204" pitchFamily="49" charset="0"/>
            </a:endParaRPr>
          </a:p>
        </p:txBody>
      </p:sp>
      <p:sp>
        <p:nvSpPr>
          <p:cNvPr id="163" name="正方形/長方形 162">
            <a:extLst>
              <a:ext uri="{FF2B5EF4-FFF2-40B4-BE49-F238E27FC236}">
                <a16:creationId xmlns:a16="http://schemas.microsoft.com/office/drawing/2014/main" id="{9E9B5BD2-02DD-394D-F6A5-B44727DB5FC7}"/>
              </a:ext>
            </a:extLst>
          </p:cNvPr>
          <p:cNvSpPr/>
          <p:nvPr/>
        </p:nvSpPr>
        <p:spPr>
          <a:xfrm>
            <a:off x="1865954" y="423900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I5</a:t>
            </a:r>
            <a:endParaRPr lang="ja-JP" altLang="en-US" dirty="0">
              <a:solidFill>
                <a:schemeClr val="tx1">
                  <a:lumMod val="65000"/>
                  <a:lumOff val="35000"/>
                </a:schemeClr>
              </a:solidFill>
              <a:latin typeface="Consolas" panose="020B0609020204030204" pitchFamily="49" charset="0"/>
            </a:endParaRPr>
          </a:p>
        </p:txBody>
      </p:sp>
      <p:sp>
        <p:nvSpPr>
          <p:cNvPr id="165" name="平行四辺形 164">
            <a:extLst>
              <a:ext uri="{FF2B5EF4-FFF2-40B4-BE49-F238E27FC236}">
                <a16:creationId xmlns:a16="http://schemas.microsoft.com/office/drawing/2014/main" id="{FA5C915E-C87C-7E2F-8AD1-7FC44C8D73CA}"/>
              </a:ext>
            </a:extLst>
          </p:cNvPr>
          <p:cNvSpPr/>
          <p:nvPr/>
        </p:nvSpPr>
        <p:spPr bwMode="auto">
          <a:xfrm flipH="1">
            <a:off x="6726007" y="1538979"/>
            <a:ext cx="3600040" cy="3600040"/>
          </a:xfrm>
          <a:prstGeom prst="parallelogram">
            <a:avLst>
              <a:gd name="adj" fmla="val 9882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166" name="直線矢印コネクタ 165">
            <a:extLst>
              <a:ext uri="{FF2B5EF4-FFF2-40B4-BE49-F238E27FC236}">
                <a16:creationId xmlns:a16="http://schemas.microsoft.com/office/drawing/2014/main" id="{DB72290D-DB2A-B484-0670-EA63C0554951}"/>
              </a:ext>
            </a:extLst>
          </p:cNvPr>
          <p:cNvCxnSpPr>
            <a:cxnSpLocks/>
          </p:cNvCxnSpPr>
          <p:nvPr/>
        </p:nvCxnSpPr>
        <p:spPr bwMode="auto">
          <a:xfrm>
            <a:off x="6726007" y="1448977"/>
            <a:ext cx="360004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167" name="直線矢印コネクタ 166">
            <a:extLst>
              <a:ext uri="{FF2B5EF4-FFF2-40B4-BE49-F238E27FC236}">
                <a16:creationId xmlns:a16="http://schemas.microsoft.com/office/drawing/2014/main" id="{E065AB71-454C-6A17-3C53-739D2DC39EA7}"/>
              </a:ext>
            </a:extLst>
          </p:cNvPr>
          <p:cNvCxnSpPr>
            <a:cxnSpLocks/>
          </p:cNvCxnSpPr>
          <p:nvPr/>
        </p:nvCxnSpPr>
        <p:spPr bwMode="auto">
          <a:xfrm>
            <a:off x="6636006" y="1538978"/>
            <a:ext cx="0" cy="360004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68" name="正方形/長方形 167">
            <a:extLst>
              <a:ext uri="{FF2B5EF4-FFF2-40B4-BE49-F238E27FC236}">
                <a16:creationId xmlns:a16="http://schemas.microsoft.com/office/drawing/2014/main" id="{E60C1DF2-4AC3-E1F8-E4CF-61FA2DA634E9}"/>
              </a:ext>
            </a:extLst>
          </p:cNvPr>
          <p:cNvSpPr/>
          <p:nvPr/>
        </p:nvSpPr>
        <p:spPr>
          <a:xfrm>
            <a:off x="8346026" y="998972"/>
            <a:ext cx="540005" cy="360004"/>
          </a:xfrm>
          <a:prstGeom prst="rect">
            <a:avLst/>
          </a:prstGeom>
        </p:spPr>
        <p:txBody>
          <a:bodyPr wrap="none">
            <a:noAutofit/>
          </a:bodyPr>
          <a:lstStyle/>
          <a:p>
            <a:pPr algn="ctr"/>
            <a:r>
              <a:rPr lang="en-US" altLang="ja-JP" dirty="0">
                <a:solidFill>
                  <a:schemeClr val="tx1">
                    <a:lumMod val="65000"/>
                    <a:lumOff val="35000"/>
                  </a:schemeClr>
                </a:solidFill>
              </a:rPr>
              <a:t>5+999,999 cycle</a:t>
            </a:r>
            <a:endParaRPr lang="ja-JP" altLang="en-US" dirty="0">
              <a:solidFill>
                <a:schemeClr val="tx1">
                  <a:lumMod val="65000"/>
                  <a:lumOff val="35000"/>
                </a:schemeClr>
              </a:solidFill>
            </a:endParaRPr>
          </a:p>
        </p:txBody>
      </p:sp>
      <p:sp>
        <p:nvSpPr>
          <p:cNvPr id="169" name="正方形/長方形 168">
            <a:extLst>
              <a:ext uri="{FF2B5EF4-FFF2-40B4-BE49-F238E27FC236}">
                <a16:creationId xmlns:a16="http://schemas.microsoft.com/office/drawing/2014/main" id="{C4AB57A7-3A18-1BDC-D2AD-2606B7DF2E4B}"/>
              </a:ext>
            </a:extLst>
          </p:cNvPr>
          <p:cNvSpPr/>
          <p:nvPr/>
        </p:nvSpPr>
        <p:spPr>
          <a:xfrm rot="16200000">
            <a:off x="6186002" y="2978993"/>
            <a:ext cx="540005" cy="360004"/>
          </a:xfrm>
          <a:prstGeom prst="rect">
            <a:avLst/>
          </a:prstGeom>
        </p:spPr>
        <p:txBody>
          <a:bodyPr wrap="none">
            <a:noAutofit/>
          </a:bodyPr>
          <a:lstStyle/>
          <a:p>
            <a:pPr algn="ctr"/>
            <a:r>
              <a:rPr lang="en-US" altLang="ja-JP" dirty="0">
                <a:solidFill>
                  <a:schemeClr val="tx1">
                    <a:lumMod val="65000"/>
                    <a:lumOff val="35000"/>
                  </a:schemeClr>
                </a:solidFill>
              </a:rPr>
              <a:t>2,000,000 </a:t>
            </a:r>
            <a:r>
              <a:rPr lang="ja-JP" altLang="en-US" dirty="0">
                <a:solidFill>
                  <a:schemeClr val="tx1">
                    <a:lumMod val="65000"/>
                    <a:lumOff val="35000"/>
                  </a:schemeClr>
                </a:solidFill>
              </a:rPr>
              <a:t>命令</a:t>
            </a:r>
          </a:p>
        </p:txBody>
      </p:sp>
    </p:spTree>
    <p:extLst>
      <p:ext uri="{BB962C8B-B14F-4D97-AF65-F5344CB8AC3E}">
        <p14:creationId xmlns:p14="http://schemas.microsoft.com/office/powerpoint/2010/main" val="2664007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06C16B-DECE-6416-2403-15F9497F8C09}"/>
              </a:ext>
            </a:extLst>
          </p:cNvPr>
          <p:cNvSpPr>
            <a:spLocks noGrp="1"/>
          </p:cNvSpPr>
          <p:nvPr>
            <p:ph type="title"/>
          </p:nvPr>
        </p:nvSpPr>
        <p:spPr/>
        <p:txBody>
          <a:bodyPr/>
          <a:lstStyle/>
          <a:p>
            <a:r>
              <a:rPr kumimoji="1" lang="ja-JP" altLang="en-US" dirty="0"/>
              <a:t>ここまでの性能は理想的な性能</a:t>
            </a:r>
            <a:endParaRPr kumimoji="1" lang="en-US" dirty="0"/>
          </a:p>
        </p:txBody>
      </p:sp>
      <p:sp>
        <p:nvSpPr>
          <p:cNvPr id="3" name="コンテンツ プレースホルダー 2">
            <a:extLst>
              <a:ext uri="{FF2B5EF4-FFF2-40B4-BE49-F238E27FC236}">
                <a16:creationId xmlns:a16="http://schemas.microsoft.com/office/drawing/2014/main" id="{CC51DE1A-F7CD-3111-107E-F054CEFE666B}"/>
              </a:ext>
            </a:extLst>
          </p:cNvPr>
          <p:cNvSpPr>
            <a:spLocks noGrp="1"/>
          </p:cNvSpPr>
          <p:nvPr>
            <p:ph type="body" sz="quarter" idx="10"/>
          </p:nvPr>
        </p:nvSpPr>
        <p:spPr>
          <a:xfrm>
            <a:off x="1955955" y="1088974"/>
            <a:ext cx="8370093" cy="5220058"/>
          </a:xfrm>
        </p:spPr>
        <p:txBody>
          <a:bodyPr/>
          <a:lstStyle/>
          <a:p>
            <a:r>
              <a:rPr lang="ja-JP" altLang="en-US" sz="1800" dirty="0"/>
              <a:t>理想的な各モデルの性能</a:t>
            </a:r>
            <a:endParaRPr lang="en-US" altLang="ja-JP" sz="1800" dirty="0"/>
          </a:p>
          <a:p>
            <a:pPr lvl="1"/>
            <a:r>
              <a:rPr lang="ja-JP" altLang="en-US" sz="1800" dirty="0"/>
              <a:t>シングル・サイクル・プロセッサ：</a:t>
            </a:r>
            <a:r>
              <a:rPr lang="en-US" altLang="ja-JP" sz="1800" dirty="0"/>
              <a:t>		</a:t>
            </a:r>
            <a:r>
              <a:rPr lang="ja-JP" altLang="en-US" sz="1800" dirty="0"/>
              <a:t>秒間 </a:t>
            </a:r>
            <a:r>
              <a:rPr lang="en-US" altLang="ja-JP" sz="1800" dirty="0"/>
              <a:t>200M </a:t>
            </a:r>
            <a:r>
              <a:rPr lang="ja-JP" altLang="en-US" sz="1800" dirty="0"/>
              <a:t>命令</a:t>
            </a:r>
            <a:endParaRPr lang="en-US" altLang="ja-JP" sz="1800" dirty="0"/>
          </a:p>
          <a:p>
            <a:pPr lvl="1"/>
            <a:r>
              <a:rPr lang="ja-JP" altLang="en-US" sz="1800" dirty="0"/>
              <a:t>スカラ・パイプライン・プロセッサ：</a:t>
            </a:r>
            <a:r>
              <a:rPr lang="en-US" altLang="ja-JP" sz="1800" dirty="0"/>
              <a:t>	</a:t>
            </a:r>
            <a:r>
              <a:rPr lang="ja-JP" altLang="en-US" sz="1800" dirty="0"/>
              <a:t>秒間 </a:t>
            </a:r>
            <a:r>
              <a:rPr lang="en-US" altLang="ja-JP" sz="1800" dirty="0"/>
              <a:t>1G </a:t>
            </a:r>
            <a:r>
              <a:rPr lang="ja-JP" altLang="en-US" sz="1800" dirty="0"/>
              <a:t>命令</a:t>
            </a:r>
            <a:endParaRPr lang="en-US" altLang="ja-JP" sz="1800" dirty="0"/>
          </a:p>
          <a:p>
            <a:pPr lvl="1"/>
            <a:r>
              <a:rPr lang="ja-JP" altLang="en-US" sz="1800" dirty="0"/>
              <a:t>スカラ・パイプライン・プロセッサ（段数２倍）：</a:t>
            </a:r>
            <a:r>
              <a:rPr lang="en-US" altLang="ja-JP" sz="1800" dirty="0"/>
              <a:t>							</a:t>
            </a:r>
            <a:r>
              <a:rPr lang="ja-JP" altLang="en-US" sz="1800" dirty="0"/>
              <a:t>秒間 ２</a:t>
            </a:r>
            <a:r>
              <a:rPr lang="en-US" altLang="ja-JP" sz="1800" dirty="0"/>
              <a:t>G </a:t>
            </a:r>
            <a:r>
              <a:rPr lang="ja-JP" altLang="en-US" sz="1800" dirty="0"/>
              <a:t>命令</a:t>
            </a:r>
            <a:endParaRPr lang="en-US" altLang="ja-JP" sz="1800" dirty="0"/>
          </a:p>
          <a:p>
            <a:pPr lvl="1"/>
            <a:r>
              <a:rPr lang="en-US" altLang="ja-JP" sz="1800" dirty="0"/>
              <a:t>2-way </a:t>
            </a:r>
            <a:r>
              <a:rPr lang="ja-JP" altLang="en-US" sz="1800" dirty="0"/>
              <a:t>スーパスカラ・プロセッサ：</a:t>
            </a:r>
            <a:r>
              <a:rPr lang="en-US" altLang="ja-JP" sz="1800" dirty="0"/>
              <a:t>		</a:t>
            </a:r>
            <a:r>
              <a:rPr lang="ja-JP" altLang="en-US" sz="1800" dirty="0"/>
              <a:t>秒間 ２</a:t>
            </a:r>
            <a:r>
              <a:rPr lang="en-US" altLang="ja-JP" sz="1800" dirty="0"/>
              <a:t>G </a:t>
            </a:r>
            <a:r>
              <a:rPr lang="ja-JP" altLang="en-US" sz="1800" dirty="0"/>
              <a:t>命令</a:t>
            </a:r>
            <a:endParaRPr lang="en-US" altLang="ja-JP" sz="1800" dirty="0"/>
          </a:p>
          <a:p>
            <a:r>
              <a:rPr lang="ja-JP" altLang="en-US" sz="1800" dirty="0"/>
              <a:t>現実には･･･</a:t>
            </a:r>
            <a:endParaRPr lang="en-US" altLang="ja-JP" sz="1800" dirty="0"/>
          </a:p>
          <a:p>
            <a:pPr lvl="1"/>
            <a:r>
              <a:rPr lang="ja-JP" altLang="en-US" sz="1800" dirty="0"/>
              <a:t>回路的な要因により（第５回講義），</a:t>
            </a:r>
            <a:endParaRPr lang="en-US" altLang="ja-JP" sz="1800" dirty="0"/>
          </a:p>
          <a:p>
            <a:pPr lvl="2"/>
            <a:r>
              <a:rPr lang="ja-JP" altLang="en-US" sz="1800" dirty="0"/>
              <a:t>スーパスカラにするとステージごとの回路が増えて遅延が増加 → </a:t>
            </a:r>
            <a:br>
              <a:rPr lang="en-US" altLang="ja-JP" sz="1800" dirty="0"/>
            </a:br>
            <a:r>
              <a:rPr lang="ja-JP" altLang="en-US" sz="1800" dirty="0"/>
              <a:t>周波数は落ちる</a:t>
            </a:r>
            <a:endParaRPr lang="en-US" altLang="ja-JP" sz="1800" dirty="0"/>
          </a:p>
          <a:p>
            <a:pPr lvl="2"/>
            <a:r>
              <a:rPr lang="ja-JP" altLang="en-US" sz="1800" dirty="0"/>
              <a:t>パイプライン段数を２倍にしても周波数は倍にならない</a:t>
            </a:r>
            <a:endParaRPr lang="en-US" altLang="ja-JP" sz="1800" dirty="0"/>
          </a:p>
          <a:p>
            <a:pPr lvl="1"/>
            <a:r>
              <a:rPr lang="ja-JP" altLang="en-US" sz="1800" dirty="0">
                <a:solidFill>
                  <a:schemeClr val="accent5"/>
                </a:solidFill>
              </a:rPr>
              <a:t>各種のハザードにより，ストールが起きて </a:t>
            </a:r>
            <a:r>
              <a:rPr lang="en-US" altLang="ja-JP" sz="1800" dirty="0">
                <a:solidFill>
                  <a:schemeClr val="accent5"/>
                </a:solidFill>
              </a:rPr>
              <a:t>IPC </a:t>
            </a:r>
            <a:r>
              <a:rPr lang="ja-JP" altLang="en-US" sz="1800" dirty="0">
                <a:solidFill>
                  <a:schemeClr val="accent5"/>
                </a:solidFill>
              </a:rPr>
              <a:t>が下がる（第６回講義）</a:t>
            </a:r>
            <a:endParaRPr lang="en-US" sz="1800" dirty="0">
              <a:solidFill>
                <a:schemeClr val="accent5"/>
              </a:solidFill>
            </a:endParaRPr>
          </a:p>
        </p:txBody>
      </p:sp>
    </p:spTree>
    <p:extLst>
      <p:ext uri="{BB962C8B-B14F-4D97-AF65-F5344CB8AC3E}">
        <p14:creationId xmlns:p14="http://schemas.microsoft.com/office/powerpoint/2010/main" val="1018463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2918045-1413-49E0-E525-3A3F638871DC}"/>
              </a:ext>
            </a:extLst>
          </p:cNvPr>
          <p:cNvSpPr>
            <a:spLocks noGrp="1"/>
          </p:cNvSpPr>
          <p:nvPr>
            <p:ph type="title"/>
          </p:nvPr>
        </p:nvSpPr>
        <p:spPr/>
        <p:txBody>
          <a:bodyPr/>
          <a:lstStyle/>
          <a:p>
            <a:r>
              <a:rPr lang="ja-JP" altLang="en-US" dirty="0"/>
              <a:t>ハザードを考慮した性能のモデル</a:t>
            </a:r>
            <a:endParaRPr lang="en-US" dirty="0"/>
          </a:p>
        </p:txBody>
      </p:sp>
    </p:spTree>
    <p:extLst>
      <p:ext uri="{BB962C8B-B14F-4D97-AF65-F5344CB8AC3E}">
        <p14:creationId xmlns:p14="http://schemas.microsoft.com/office/powerpoint/2010/main" val="33673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0B2B78-EE75-4C74-FFCF-BB68D5383B36}"/>
              </a:ext>
            </a:extLst>
          </p:cNvPr>
          <p:cNvSpPr>
            <a:spLocks noGrp="1"/>
          </p:cNvSpPr>
          <p:nvPr>
            <p:ph type="title"/>
          </p:nvPr>
        </p:nvSpPr>
        <p:spPr/>
        <p:txBody>
          <a:bodyPr/>
          <a:lstStyle/>
          <a:p>
            <a:r>
              <a:rPr kumimoji="1" lang="ja-JP" altLang="en-US" dirty="0"/>
              <a:t>性能のモデル</a:t>
            </a:r>
            <a:endParaRPr kumimoji="1" lang="en-US" dirty="0"/>
          </a:p>
        </p:txBody>
      </p:sp>
      <p:sp>
        <p:nvSpPr>
          <p:cNvPr id="3" name="コンテンツ プレースホルダー 2">
            <a:extLst>
              <a:ext uri="{FF2B5EF4-FFF2-40B4-BE49-F238E27FC236}">
                <a16:creationId xmlns:a16="http://schemas.microsoft.com/office/drawing/2014/main" id="{D0BC0428-353B-A04A-7E40-2FCA1BAB49C1}"/>
              </a:ext>
            </a:extLst>
          </p:cNvPr>
          <p:cNvSpPr>
            <a:spLocks noGrp="1"/>
          </p:cNvSpPr>
          <p:nvPr>
            <p:ph type="body" sz="quarter" idx="10"/>
          </p:nvPr>
        </p:nvSpPr>
        <p:spPr/>
        <p:txBody>
          <a:bodyPr/>
          <a:lstStyle/>
          <a:p>
            <a:r>
              <a:rPr kumimoji="1" lang="ja-JP" altLang="en-US" dirty="0"/>
              <a:t>以下について検討</a:t>
            </a:r>
            <a:endParaRPr kumimoji="1" lang="en-US" altLang="ja-JP" dirty="0"/>
          </a:p>
          <a:p>
            <a:pPr lvl="1"/>
            <a:r>
              <a:rPr kumimoji="1" lang="ja-JP" altLang="en-US" dirty="0"/>
              <a:t>理想的な性能のモデル</a:t>
            </a:r>
            <a:endParaRPr kumimoji="1" lang="en-US" altLang="ja-JP" dirty="0"/>
          </a:p>
          <a:p>
            <a:pPr lvl="1"/>
            <a:r>
              <a:rPr kumimoji="1" lang="ja-JP" altLang="en-US" dirty="0">
                <a:solidFill>
                  <a:schemeClr val="accent5"/>
                </a:solidFill>
              </a:rPr>
              <a:t>ハザードを考慮した性能のモデル</a:t>
            </a:r>
            <a:endParaRPr kumimoji="1" lang="en-US" altLang="ja-JP" dirty="0">
              <a:solidFill>
                <a:schemeClr val="accent5"/>
              </a:solidFill>
            </a:endParaRPr>
          </a:p>
        </p:txBody>
      </p:sp>
    </p:spTree>
    <p:extLst>
      <p:ext uri="{BB962C8B-B14F-4D97-AF65-F5344CB8AC3E}">
        <p14:creationId xmlns:p14="http://schemas.microsoft.com/office/powerpoint/2010/main" val="39366855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80B11-33F7-EE11-FCE5-7E18DFB99CF7}"/>
              </a:ext>
            </a:extLst>
          </p:cNvPr>
          <p:cNvSpPr>
            <a:spLocks noGrp="1"/>
          </p:cNvSpPr>
          <p:nvPr>
            <p:ph type="title"/>
          </p:nvPr>
        </p:nvSpPr>
        <p:spPr/>
        <p:txBody>
          <a:bodyPr/>
          <a:lstStyle/>
          <a:p>
            <a:r>
              <a:rPr kumimoji="1" lang="ja-JP" altLang="en-US" dirty="0"/>
              <a:t>ハザードによる </a:t>
            </a:r>
            <a:r>
              <a:rPr kumimoji="1" lang="en-US" altLang="ja-JP" dirty="0"/>
              <a:t>IPC </a:t>
            </a:r>
            <a:r>
              <a:rPr kumimoji="1" lang="ja-JP" altLang="en-US" dirty="0"/>
              <a:t>の低下</a:t>
            </a:r>
            <a:endParaRPr kumimoji="1" lang="en-US" dirty="0"/>
          </a:p>
        </p:txBody>
      </p:sp>
      <p:sp>
        <p:nvSpPr>
          <p:cNvPr id="3" name="コンテンツ プレースホルダー 2">
            <a:extLst>
              <a:ext uri="{FF2B5EF4-FFF2-40B4-BE49-F238E27FC236}">
                <a16:creationId xmlns:a16="http://schemas.microsoft.com/office/drawing/2014/main" id="{721CB15D-2AFE-CBB3-A07D-7338C1E3DD42}"/>
              </a:ext>
            </a:extLst>
          </p:cNvPr>
          <p:cNvSpPr>
            <a:spLocks noGrp="1"/>
          </p:cNvSpPr>
          <p:nvPr>
            <p:ph type="body" sz="quarter" idx="10"/>
          </p:nvPr>
        </p:nvSpPr>
        <p:spPr/>
        <p:txBody>
          <a:bodyPr/>
          <a:lstStyle/>
          <a:p>
            <a:r>
              <a:rPr kumimoji="1" lang="ja-JP" altLang="en-US" dirty="0"/>
              <a:t>以下を例として，具体的な </a:t>
            </a:r>
            <a:r>
              <a:rPr kumimoji="1" lang="en-US" altLang="ja-JP" dirty="0"/>
              <a:t>IPC </a:t>
            </a:r>
            <a:r>
              <a:rPr kumimoji="1" lang="ja-JP" altLang="en-US" dirty="0"/>
              <a:t>の数字の変化を説明</a:t>
            </a:r>
            <a:endParaRPr kumimoji="1" lang="en-US" altLang="ja-JP" dirty="0"/>
          </a:p>
          <a:p>
            <a:pPr lvl="1"/>
            <a:r>
              <a:rPr kumimoji="1" lang="ja-JP" altLang="en-US" dirty="0"/>
              <a:t>分岐予測ミス</a:t>
            </a:r>
            <a:endParaRPr kumimoji="1" lang="en-US" altLang="ja-JP" dirty="0"/>
          </a:p>
          <a:p>
            <a:pPr lvl="1"/>
            <a:r>
              <a:rPr kumimoji="1" lang="ja-JP" altLang="en-US" dirty="0"/>
              <a:t>ロードに依存した命令によるデータハザード</a:t>
            </a:r>
            <a:endParaRPr kumimoji="1" lang="en-US" altLang="ja-JP" dirty="0"/>
          </a:p>
          <a:p>
            <a:r>
              <a:rPr kumimoji="1" lang="ja-JP" altLang="en-US" dirty="0"/>
              <a:t>キャッシュによる影響も大きい</a:t>
            </a:r>
            <a:endParaRPr kumimoji="1" lang="en-US" altLang="ja-JP" dirty="0"/>
          </a:p>
          <a:p>
            <a:pPr lvl="1"/>
            <a:r>
              <a:rPr kumimoji="1" lang="ja-JP" altLang="en-US" dirty="0"/>
              <a:t>（この講義ではまだ説明していないが，後日説明</a:t>
            </a:r>
            <a:endParaRPr kumimoji="1" lang="en-US" dirty="0"/>
          </a:p>
        </p:txBody>
      </p:sp>
    </p:spTree>
    <p:extLst>
      <p:ext uri="{BB962C8B-B14F-4D97-AF65-F5344CB8AC3E}">
        <p14:creationId xmlns:p14="http://schemas.microsoft.com/office/powerpoint/2010/main" val="9510935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分岐予測ミスによる実行サイクルの増加</a:t>
            </a:r>
            <a:endParaRPr kumimoji="1" lang="ja-JP" altLang="en-US" dirty="0"/>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7086011" y="1268976"/>
            <a:ext cx="3330805" cy="3780042"/>
          </a:xfrm>
        </p:spPr>
        <p:txBody>
          <a:bodyPr/>
          <a:lstStyle/>
          <a:p>
            <a:pPr lvl="1"/>
            <a:r>
              <a:rPr lang="en-US" altLang="ja-JP" dirty="0">
                <a:solidFill>
                  <a:schemeClr val="tx1">
                    <a:lumMod val="65000"/>
                    <a:lumOff val="35000"/>
                  </a:schemeClr>
                </a:solidFill>
                <a:latin typeface="Consolas" panose="020B0609020204030204" pitchFamily="49" charset="0"/>
              </a:rPr>
              <a:t>I2 </a:t>
            </a:r>
            <a:r>
              <a:rPr lang="ja-JP" altLang="en-US" dirty="0">
                <a:solidFill>
                  <a:schemeClr val="tx1">
                    <a:lumMod val="65000"/>
                    <a:lumOff val="35000"/>
                  </a:schemeClr>
                </a:solidFill>
                <a:latin typeface="Consolas" panose="020B0609020204030204" pitchFamily="49" charset="0"/>
              </a:rPr>
              <a:t>の実行が </a:t>
            </a:r>
            <a:r>
              <a:rPr lang="en-US" altLang="ja-JP" dirty="0">
                <a:solidFill>
                  <a:schemeClr val="tx1">
                    <a:lumMod val="65000"/>
                    <a:lumOff val="35000"/>
                  </a:schemeClr>
                </a:solidFill>
                <a:latin typeface="Consolas" panose="020B0609020204030204" pitchFamily="49" charset="0"/>
              </a:rPr>
              <a:t>4 </a:t>
            </a:r>
            <a:r>
              <a:rPr lang="ja-JP" altLang="en-US" dirty="0">
                <a:solidFill>
                  <a:schemeClr val="tx1">
                    <a:lumMod val="65000"/>
                    <a:lumOff val="35000"/>
                  </a:schemeClr>
                </a:solidFill>
                <a:latin typeface="Consolas" panose="020B0609020204030204" pitchFamily="49" charset="0"/>
              </a:rPr>
              <a:t>サイクル遅れている</a:t>
            </a:r>
            <a:endParaRPr lang="en-US" altLang="ja-JP" dirty="0">
              <a:solidFill>
                <a:schemeClr val="tx1">
                  <a:lumMod val="65000"/>
                  <a:lumOff val="35000"/>
                </a:schemeClr>
              </a:solidFill>
              <a:latin typeface="Consolas" panose="020B0609020204030204" pitchFamily="49" charset="0"/>
            </a:endParaRPr>
          </a:p>
          <a:p>
            <a:pPr lvl="1"/>
            <a:r>
              <a:rPr lang="en-US" altLang="ja-JP" dirty="0">
                <a:solidFill>
                  <a:schemeClr val="tx1">
                    <a:lumMod val="65000"/>
                    <a:lumOff val="35000"/>
                  </a:schemeClr>
                </a:solidFill>
                <a:latin typeface="Consolas" panose="020B0609020204030204" pitchFamily="49" charset="0"/>
              </a:rPr>
              <a:t>4</a:t>
            </a:r>
            <a:r>
              <a:rPr lang="ja-JP" altLang="en-US" dirty="0">
                <a:solidFill>
                  <a:schemeClr val="tx1">
                    <a:lumMod val="65000"/>
                    <a:lumOff val="35000"/>
                  </a:schemeClr>
                </a:solidFill>
                <a:latin typeface="Consolas" panose="020B0609020204030204" pitchFamily="49" charset="0"/>
              </a:rPr>
              <a:t>サイクル分の処理を取り消してやり直しているため</a:t>
            </a:r>
          </a:p>
        </p:txBody>
      </p:sp>
      <p:sp>
        <p:nvSpPr>
          <p:cNvPr id="57" name="正方形/長方形 56">
            <a:extLst>
              <a:ext uri="{FF2B5EF4-FFF2-40B4-BE49-F238E27FC236}">
                <a16:creationId xmlns:a16="http://schemas.microsoft.com/office/drawing/2014/main" id="{77A73637-76DF-7872-938B-0C23A46DF8AE}"/>
              </a:ext>
            </a:extLst>
          </p:cNvPr>
          <p:cNvSpPr/>
          <p:nvPr/>
        </p:nvSpPr>
        <p:spPr>
          <a:xfrm>
            <a:off x="1865955" y="108897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58" name="正方形/長方形 57">
            <a:extLst>
              <a:ext uri="{FF2B5EF4-FFF2-40B4-BE49-F238E27FC236}">
                <a16:creationId xmlns:a16="http://schemas.microsoft.com/office/drawing/2014/main" id="{32957A3E-8661-C702-597C-530530728537}"/>
              </a:ext>
            </a:extLst>
          </p:cNvPr>
          <p:cNvSpPr/>
          <p:nvPr/>
        </p:nvSpPr>
        <p:spPr>
          <a:xfrm>
            <a:off x="1865955" y="153897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59" name="正方形/長方形 58">
            <a:extLst>
              <a:ext uri="{FF2B5EF4-FFF2-40B4-BE49-F238E27FC236}">
                <a16:creationId xmlns:a16="http://schemas.microsoft.com/office/drawing/2014/main" id="{81DB0530-021F-858A-B3EF-742405885C04}"/>
              </a:ext>
            </a:extLst>
          </p:cNvPr>
          <p:cNvSpPr/>
          <p:nvPr/>
        </p:nvSpPr>
        <p:spPr>
          <a:xfrm>
            <a:off x="1865955"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60" name="Rectangle 69">
            <a:extLst>
              <a:ext uri="{FF2B5EF4-FFF2-40B4-BE49-F238E27FC236}">
                <a16:creationId xmlns:a16="http://schemas.microsoft.com/office/drawing/2014/main" id="{87DC93EA-510F-2CED-3C49-ABA98D0CB62E}"/>
              </a:ext>
            </a:extLst>
          </p:cNvPr>
          <p:cNvSpPr>
            <a:spLocks noChangeArrowheads="1"/>
          </p:cNvSpPr>
          <p:nvPr/>
        </p:nvSpPr>
        <p:spPr bwMode="auto">
          <a:xfrm>
            <a:off x="2495961" y="108897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61" name="Rectangle 70">
            <a:extLst>
              <a:ext uri="{FF2B5EF4-FFF2-40B4-BE49-F238E27FC236}">
                <a16:creationId xmlns:a16="http://schemas.microsoft.com/office/drawing/2014/main" id="{E2A5E54B-BBC7-0B25-B996-770AF7D777C1}"/>
              </a:ext>
            </a:extLst>
          </p:cNvPr>
          <p:cNvSpPr>
            <a:spLocks noChangeArrowheads="1"/>
          </p:cNvSpPr>
          <p:nvPr/>
        </p:nvSpPr>
        <p:spPr bwMode="auto">
          <a:xfrm>
            <a:off x="2945965" y="108897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62" name="Rectangle 71">
            <a:extLst>
              <a:ext uri="{FF2B5EF4-FFF2-40B4-BE49-F238E27FC236}">
                <a16:creationId xmlns:a16="http://schemas.microsoft.com/office/drawing/2014/main" id="{E7243571-9A69-A4F8-37EB-6A83C0C08289}"/>
              </a:ext>
            </a:extLst>
          </p:cNvPr>
          <p:cNvSpPr>
            <a:spLocks noChangeArrowheads="1"/>
          </p:cNvSpPr>
          <p:nvPr/>
        </p:nvSpPr>
        <p:spPr bwMode="auto">
          <a:xfrm>
            <a:off x="3395971" y="108897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63" name="Rectangle 72">
            <a:extLst>
              <a:ext uri="{FF2B5EF4-FFF2-40B4-BE49-F238E27FC236}">
                <a16:creationId xmlns:a16="http://schemas.microsoft.com/office/drawing/2014/main" id="{AEA01D9D-197B-B914-C0BA-9B727A10DEA3}"/>
              </a:ext>
            </a:extLst>
          </p:cNvPr>
          <p:cNvSpPr>
            <a:spLocks noChangeArrowheads="1"/>
          </p:cNvSpPr>
          <p:nvPr/>
        </p:nvSpPr>
        <p:spPr bwMode="auto">
          <a:xfrm>
            <a:off x="3845976" y="108897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28" name="Rectangle 73">
            <a:extLst>
              <a:ext uri="{FF2B5EF4-FFF2-40B4-BE49-F238E27FC236}">
                <a16:creationId xmlns:a16="http://schemas.microsoft.com/office/drawing/2014/main" id="{17B20D46-4CEE-67DC-B6CC-20CB76AC10C6}"/>
              </a:ext>
            </a:extLst>
          </p:cNvPr>
          <p:cNvSpPr>
            <a:spLocks noChangeArrowheads="1"/>
          </p:cNvSpPr>
          <p:nvPr/>
        </p:nvSpPr>
        <p:spPr bwMode="auto">
          <a:xfrm>
            <a:off x="4295980" y="108897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30" name="Rectangle 69">
            <a:extLst>
              <a:ext uri="{FF2B5EF4-FFF2-40B4-BE49-F238E27FC236}">
                <a16:creationId xmlns:a16="http://schemas.microsoft.com/office/drawing/2014/main" id="{C647FE3E-935D-F989-C66B-BFC091CAB2F6}"/>
              </a:ext>
            </a:extLst>
          </p:cNvPr>
          <p:cNvSpPr>
            <a:spLocks noChangeArrowheads="1"/>
          </p:cNvSpPr>
          <p:nvPr/>
        </p:nvSpPr>
        <p:spPr bwMode="auto">
          <a:xfrm>
            <a:off x="2945968" y="153897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1" name="Rectangle 70">
            <a:extLst>
              <a:ext uri="{FF2B5EF4-FFF2-40B4-BE49-F238E27FC236}">
                <a16:creationId xmlns:a16="http://schemas.microsoft.com/office/drawing/2014/main" id="{7DF1DC2B-874E-1278-DF63-B9E73CCC8F7D}"/>
              </a:ext>
            </a:extLst>
          </p:cNvPr>
          <p:cNvSpPr>
            <a:spLocks noChangeArrowheads="1"/>
          </p:cNvSpPr>
          <p:nvPr/>
        </p:nvSpPr>
        <p:spPr bwMode="auto">
          <a:xfrm>
            <a:off x="3395972" y="153897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2" name="Rectangle 71">
            <a:extLst>
              <a:ext uri="{FF2B5EF4-FFF2-40B4-BE49-F238E27FC236}">
                <a16:creationId xmlns:a16="http://schemas.microsoft.com/office/drawing/2014/main" id="{FE3BA170-7C17-3A71-9AFE-7A6FBE450D19}"/>
              </a:ext>
            </a:extLst>
          </p:cNvPr>
          <p:cNvSpPr>
            <a:spLocks noChangeArrowheads="1"/>
          </p:cNvSpPr>
          <p:nvPr/>
        </p:nvSpPr>
        <p:spPr bwMode="auto">
          <a:xfrm>
            <a:off x="3845978" y="153897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33" name="Rectangle 72">
            <a:extLst>
              <a:ext uri="{FF2B5EF4-FFF2-40B4-BE49-F238E27FC236}">
                <a16:creationId xmlns:a16="http://schemas.microsoft.com/office/drawing/2014/main" id="{877CBFD3-A24D-935E-BE93-3B9EC99B0A36}"/>
              </a:ext>
            </a:extLst>
          </p:cNvPr>
          <p:cNvSpPr>
            <a:spLocks noChangeArrowheads="1"/>
          </p:cNvSpPr>
          <p:nvPr/>
        </p:nvSpPr>
        <p:spPr bwMode="auto">
          <a:xfrm>
            <a:off x="4295983" y="153897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4" name="Rectangle 73">
            <a:extLst>
              <a:ext uri="{FF2B5EF4-FFF2-40B4-BE49-F238E27FC236}">
                <a16:creationId xmlns:a16="http://schemas.microsoft.com/office/drawing/2014/main" id="{1CB131F6-C6F4-76CA-5E32-202EBE799FC7}"/>
              </a:ext>
            </a:extLst>
          </p:cNvPr>
          <p:cNvSpPr>
            <a:spLocks noChangeArrowheads="1"/>
          </p:cNvSpPr>
          <p:nvPr/>
        </p:nvSpPr>
        <p:spPr bwMode="auto">
          <a:xfrm>
            <a:off x="4745987" y="153897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35" name="Rectangle 69">
            <a:extLst>
              <a:ext uri="{FF2B5EF4-FFF2-40B4-BE49-F238E27FC236}">
                <a16:creationId xmlns:a16="http://schemas.microsoft.com/office/drawing/2014/main" id="{B49B0883-7391-E92F-DFAA-AA40DA29736A}"/>
              </a:ext>
            </a:extLst>
          </p:cNvPr>
          <p:cNvSpPr>
            <a:spLocks noChangeArrowheads="1"/>
          </p:cNvSpPr>
          <p:nvPr/>
        </p:nvSpPr>
        <p:spPr bwMode="auto">
          <a:xfrm>
            <a:off x="3395972"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6" name="Rectangle 70">
            <a:extLst>
              <a:ext uri="{FF2B5EF4-FFF2-40B4-BE49-F238E27FC236}">
                <a16:creationId xmlns:a16="http://schemas.microsoft.com/office/drawing/2014/main" id="{2256CA1E-1814-A02B-5AFB-4FF3F7A8A388}"/>
              </a:ext>
            </a:extLst>
          </p:cNvPr>
          <p:cNvSpPr>
            <a:spLocks noChangeArrowheads="1"/>
          </p:cNvSpPr>
          <p:nvPr/>
        </p:nvSpPr>
        <p:spPr bwMode="auto">
          <a:xfrm>
            <a:off x="3845976"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7" name="Rectangle 71">
            <a:extLst>
              <a:ext uri="{FF2B5EF4-FFF2-40B4-BE49-F238E27FC236}">
                <a16:creationId xmlns:a16="http://schemas.microsoft.com/office/drawing/2014/main" id="{0737A09B-604C-1CB0-42AF-C9BD503DA945}"/>
              </a:ext>
            </a:extLst>
          </p:cNvPr>
          <p:cNvSpPr>
            <a:spLocks noChangeArrowheads="1"/>
          </p:cNvSpPr>
          <p:nvPr/>
        </p:nvSpPr>
        <p:spPr bwMode="auto">
          <a:xfrm>
            <a:off x="4295982"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38" name="Rectangle 72">
            <a:extLst>
              <a:ext uri="{FF2B5EF4-FFF2-40B4-BE49-F238E27FC236}">
                <a16:creationId xmlns:a16="http://schemas.microsoft.com/office/drawing/2014/main" id="{69E3EC64-2493-6031-9890-F9C7B54AF75D}"/>
              </a:ext>
            </a:extLst>
          </p:cNvPr>
          <p:cNvSpPr>
            <a:spLocks noChangeArrowheads="1"/>
          </p:cNvSpPr>
          <p:nvPr/>
        </p:nvSpPr>
        <p:spPr bwMode="auto">
          <a:xfrm>
            <a:off x="4745987"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39" name="Rectangle 73">
            <a:extLst>
              <a:ext uri="{FF2B5EF4-FFF2-40B4-BE49-F238E27FC236}">
                <a16:creationId xmlns:a16="http://schemas.microsoft.com/office/drawing/2014/main" id="{2DD3B5A2-6C73-6F04-C526-B27BD1E3F253}"/>
              </a:ext>
            </a:extLst>
          </p:cNvPr>
          <p:cNvSpPr>
            <a:spLocks noChangeArrowheads="1"/>
          </p:cNvSpPr>
          <p:nvPr/>
        </p:nvSpPr>
        <p:spPr bwMode="auto">
          <a:xfrm>
            <a:off x="5195991"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6" name="正方形/長方形 5">
            <a:extLst>
              <a:ext uri="{FF2B5EF4-FFF2-40B4-BE49-F238E27FC236}">
                <a16:creationId xmlns:a16="http://schemas.microsoft.com/office/drawing/2014/main" id="{F7AC24C4-5052-BDD6-E65A-9598E2DF30CD}"/>
              </a:ext>
            </a:extLst>
          </p:cNvPr>
          <p:cNvSpPr/>
          <p:nvPr/>
        </p:nvSpPr>
        <p:spPr>
          <a:xfrm>
            <a:off x="1865955" y="324899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9" name="正方形/長方形 8">
            <a:extLst>
              <a:ext uri="{FF2B5EF4-FFF2-40B4-BE49-F238E27FC236}">
                <a16:creationId xmlns:a16="http://schemas.microsoft.com/office/drawing/2014/main" id="{DCE544BA-5357-EED8-D479-6B0CD4AB5396}"/>
              </a:ext>
            </a:extLst>
          </p:cNvPr>
          <p:cNvSpPr/>
          <p:nvPr/>
        </p:nvSpPr>
        <p:spPr>
          <a:xfrm>
            <a:off x="1865954" y="5489695"/>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0B942568-EBA8-5772-6851-DA5853E373C3}"/>
              </a:ext>
            </a:extLst>
          </p:cNvPr>
          <p:cNvSpPr/>
          <p:nvPr/>
        </p:nvSpPr>
        <p:spPr>
          <a:xfrm>
            <a:off x="1865954" y="5939700"/>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11" name="Rectangle 69">
            <a:extLst>
              <a:ext uri="{FF2B5EF4-FFF2-40B4-BE49-F238E27FC236}">
                <a16:creationId xmlns:a16="http://schemas.microsoft.com/office/drawing/2014/main" id="{36D32E68-11A6-09F5-B828-F3E4CF6E8358}"/>
              </a:ext>
            </a:extLst>
          </p:cNvPr>
          <p:cNvSpPr>
            <a:spLocks noChangeArrowheads="1"/>
          </p:cNvSpPr>
          <p:nvPr/>
        </p:nvSpPr>
        <p:spPr bwMode="auto">
          <a:xfrm>
            <a:off x="2495961"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2" name="Rectangle 70">
            <a:extLst>
              <a:ext uri="{FF2B5EF4-FFF2-40B4-BE49-F238E27FC236}">
                <a16:creationId xmlns:a16="http://schemas.microsoft.com/office/drawing/2014/main" id="{2E05BE76-2F1B-1DA7-C431-C1700B9B125E}"/>
              </a:ext>
            </a:extLst>
          </p:cNvPr>
          <p:cNvSpPr>
            <a:spLocks noChangeArrowheads="1"/>
          </p:cNvSpPr>
          <p:nvPr/>
        </p:nvSpPr>
        <p:spPr bwMode="auto">
          <a:xfrm>
            <a:off x="2945965"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3" name="Rectangle 71">
            <a:extLst>
              <a:ext uri="{FF2B5EF4-FFF2-40B4-BE49-F238E27FC236}">
                <a16:creationId xmlns:a16="http://schemas.microsoft.com/office/drawing/2014/main" id="{FFFE146F-D924-5DFA-7373-F80B69A087D5}"/>
              </a:ext>
            </a:extLst>
          </p:cNvPr>
          <p:cNvSpPr>
            <a:spLocks noChangeArrowheads="1"/>
          </p:cNvSpPr>
          <p:nvPr/>
        </p:nvSpPr>
        <p:spPr bwMode="auto">
          <a:xfrm>
            <a:off x="3395971"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4" name="Rectangle 72">
            <a:extLst>
              <a:ext uri="{FF2B5EF4-FFF2-40B4-BE49-F238E27FC236}">
                <a16:creationId xmlns:a16="http://schemas.microsoft.com/office/drawing/2014/main" id="{D64365E3-CFBE-77EC-EEB6-FFA49ED3964C}"/>
              </a:ext>
            </a:extLst>
          </p:cNvPr>
          <p:cNvSpPr>
            <a:spLocks noChangeArrowheads="1"/>
          </p:cNvSpPr>
          <p:nvPr/>
        </p:nvSpPr>
        <p:spPr bwMode="auto">
          <a:xfrm>
            <a:off x="3845976" y="324899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5" name="Rectangle 73">
            <a:extLst>
              <a:ext uri="{FF2B5EF4-FFF2-40B4-BE49-F238E27FC236}">
                <a16:creationId xmlns:a16="http://schemas.microsoft.com/office/drawing/2014/main" id="{3EF48632-7CD9-E9BA-BB1C-3DA87C150EFC}"/>
              </a:ext>
            </a:extLst>
          </p:cNvPr>
          <p:cNvSpPr>
            <a:spLocks noChangeArrowheads="1"/>
          </p:cNvSpPr>
          <p:nvPr/>
        </p:nvSpPr>
        <p:spPr bwMode="auto">
          <a:xfrm>
            <a:off x="4295980" y="324899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6" name="Rectangle 69">
            <a:extLst>
              <a:ext uri="{FF2B5EF4-FFF2-40B4-BE49-F238E27FC236}">
                <a16:creationId xmlns:a16="http://schemas.microsoft.com/office/drawing/2014/main" id="{D79287FF-FE5D-4E4E-1CBA-DD0DE39235D9}"/>
              </a:ext>
            </a:extLst>
          </p:cNvPr>
          <p:cNvSpPr>
            <a:spLocks noChangeArrowheads="1"/>
          </p:cNvSpPr>
          <p:nvPr/>
        </p:nvSpPr>
        <p:spPr bwMode="auto">
          <a:xfrm>
            <a:off x="2945968" y="369900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17" name="Rectangle 70">
            <a:extLst>
              <a:ext uri="{FF2B5EF4-FFF2-40B4-BE49-F238E27FC236}">
                <a16:creationId xmlns:a16="http://schemas.microsoft.com/office/drawing/2014/main" id="{55294C82-26F3-3B53-DA89-49B3388A843B}"/>
              </a:ext>
            </a:extLst>
          </p:cNvPr>
          <p:cNvSpPr>
            <a:spLocks noChangeArrowheads="1"/>
          </p:cNvSpPr>
          <p:nvPr/>
        </p:nvSpPr>
        <p:spPr bwMode="auto">
          <a:xfrm>
            <a:off x="3395972" y="3699003"/>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18" name="Rectangle 71">
            <a:extLst>
              <a:ext uri="{FF2B5EF4-FFF2-40B4-BE49-F238E27FC236}">
                <a16:creationId xmlns:a16="http://schemas.microsoft.com/office/drawing/2014/main" id="{6A0B1FFF-3557-CB49-C34A-0A49637001EB}"/>
              </a:ext>
            </a:extLst>
          </p:cNvPr>
          <p:cNvSpPr>
            <a:spLocks noChangeArrowheads="1"/>
          </p:cNvSpPr>
          <p:nvPr/>
        </p:nvSpPr>
        <p:spPr bwMode="auto">
          <a:xfrm>
            <a:off x="3845978" y="3699003"/>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X</a:t>
            </a:r>
          </a:p>
        </p:txBody>
      </p:sp>
      <p:sp>
        <p:nvSpPr>
          <p:cNvPr id="19" name="Rectangle 72">
            <a:extLst>
              <a:ext uri="{FF2B5EF4-FFF2-40B4-BE49-F238E27FC236}">
                <a16:creationId xmlns:a16="http://schemas.microsoft.com/office/drawing/2014/main" id="{99F19349-1717-37FB-270A-96BB7C6EFCE1}"/>
              </a:ext>
            </a:extLst>
          </p:cNvPr>
          <p:cNvSpPr>
            <a:spLocks noChangeArrowheads="1"/>
          </p:cNvSpPr>
          <p:nvPr/>
        </p:nvSpPr>
        <p:spPr bwMode="auto">
          <a:xfrm>
            <a:off x="4295983" y="3699003"/>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M</a:t>
            </a:r>
          </a:p>
        </p:txBody>
      </p:sp>
      <p:grpSp>
        <p:nvGrpSpPr>
          <p:cNvPr id="41" name="グループ化 40">
            <a:extLst>
              <a:ext uri="{FF2B5EF4-FFF2-40B4-BE49-F238E27FC236}">
                <a16:creationId xmlns:a16="http://schemas.microsoft.com/office/drawing/2014/main" id="{B74FFB9D-BADF-1D2E-2BF1-52C064B5E36C}"/>
              </a:ext>
            </a:extLst>
          </p:cNvPr>
          <p:cNvGrpSpPr/>
          <p:nvPr/>
        </p:nvGrpSpPr>
        <p:grpSpPr>
          <a:xfrm>
            <a:off x="4745986" y="5499023"/>
            <a:ext cx="2250023" cy="360000"/>
            <a:chOff x="1871971" y="5679025"/>
            <a:chExt cx="2250023" cy="360000"/>
          </a:xfrm>
        </p:grpSpPr>
        <p:sp>
          <p:nvSpPr>
            <p:cNvPr id="21" name="Rectangle 69">
              <a:extLst>
                <a:ext uri="{FF2B5EF4-FFF2-40B4-BE49-F238E27FC236}">
                  <a16:creationId xmlns:a16="http://schemas.microsoft.com/office/drawing/2014/main" id="{BE5A2BD5-60F8-507F-7D0D-639BBBA8B030}"/>
                </a:ext>
              </a:extLst>
            </p:cNvPr>
            <p:cNvSpPr>
              <a:spLocks noChangeArrowheads="1"/>
            </p:cNvSpPr>
            <p:nvPr/>
          </p:nvSpPr>
          <p:spPr bwMode="auto">
            <a:xfrm>
              <a:off x="1871971"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22" name="Rectangle 70">
              <a:extLst>
                <a:ext uri="{FF2B5EF4-FFF2-40B4-BE49-F238E27FC236}">
                  <a16:creationId xmlns:a16="http://schemas.microsoft.com/office/drawing/2014/main" id="{476E5005-654E-270B-37D5-F286DD1CC1DF}"/>
                </a:ext>
              </a:extLst>
            </p:cNvPr>
            <p:cNvSpPr>
              <a:spLocks noChangeArrowheads="1"/>
            </p:cNvSpPr>
            <p:nvPr/>
          </p:nvSpPr>
          <p:spPr bwMode="auto">
            <a:xfrm>
              <a:off x="2321974"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23" name="Rectangle 71">
              <a:extLst>
                <a:ext uri="{FF2B5EF4-FFF2-40B4-BE49-F238E27FC236}">
                  <a16:creationId xmlns:a16="http://schemas.microsoft.com/office/drawing/2014/main" id="{840287FC-9CB5-4AA7-E875-1E001926FDD9}"/>
                </a:ext>
              </a:extLst>
            </p:cNvPr>
            <p:cNvSpPr>
              <a:spLocks noChangeArrowheads="1"/>
            </p:cNvSpPr>
            <p:nvPr/>
          </p:nvSpPr>
          <p:spPr bwMode="auto">
            <a:xfrm>
              <a:off x="2771980"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24" name="Rectangle 72">
              <a:extLst>
                <a:ext uri="{FF2B5EF4-FFF2-40B4-BE49-F238E27FC236}">
                  <a16:creationId xmlns:a16="http://schemas.microsoft.com/office/drawing/2014/main" id="{1A79FD48-1F2F-446B-0B2A-9F8394A1A5D1}"/>
                </a:ext>
              </a:extLst>
            </p:cNvPr>
            <p:cNvSpPr>
              <a:spLocks noChangeArrowheads="1"/>
            </p:cNvSpPr>
            <p:nvPr/>
          </p:nvSpPr>
          <p:spPr bwMode="auto">
            <a:xfrm>
              <a:off x="3221985"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25" name="Rectangle 73">
              <a:extLst>
                <a:ext uri="{FF2B5EF4-FFF2-40B4-BE49-F238E27FC236}">
                  <a16:creationId xmlns:a16="http://schemas.microsoft.com/office/drawing/2014/main" id="{0E6385F2-5B1B-A538-DE15-8469E69FA678}"/>
                </a:ext>
              </a:extLst>
            </p:cNvPr>
            <p:cNvSpPr>
              <a:spLocks noChangeArrowheads="1"/>
            </p:cNvSpPr>
            <p:nvPr/>
          </p:nvSpPr>
          <p:spPr bwMode="auto">
            <a:xfrm>
              <a:off x="3671990"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sp>
        <p:nvSpPr>
          <p:cNvPr id="26" name="Rectangle 69">
            <a:extLst>
              <a:ext uri="{FF2B5EF4-FFF2-40B4-BE49-F238E27FC236}">
                <a16:creationId xmlns:a16="http://schemas.microsoft.com/office/drawing/2014/main" id="{65087BCE-2C17-116A-F08E-6150BABF171E}"/>
              </a:ext>
            </a:extLst>
          </p:cNvPr>
          <p:cNvSpPr>
            <a:spLocks noChangeArrowheads="1"/>
          </p:cNvSpPr>
          <p:nvPr/>
        </p:nvSpPr>
        <p:spPr bwMode="auto">
          <a:xfrm>
            <a:off x="3395972" y="4149008"/>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27" name="Rectangle 70">
            <a:extLst>
              <a:ext uri="{FF2B5EF4-FFF2-40B4-BE49-F238E27FC236}">
                <a16:creationId xmlns:a16="http://schemas.microsoft.com/office/drawing/2014/main" id="{75B13ADA-FF53-2D8C-6C7E-7788C5FBF4D6}"/>
              </a:ext>
            </a:extLst>
          </p:cNvPr>
          <p:cNvSpPr>
            <a:spLocks noChangeArrowheads="1"/>
          </p:cNvSpPr>
          <p:nvPr/>
        </p:nvSpPr>
        <p:spPr bwMode="auto">
          <a:xfrm>
            <a:off x="3845976" y="4149008"/>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28" name="Rectangle 71">
            <a:extLst>
              <a:ext uri="{FF2B5EF4-FFF2-40B4-BE49-F238E27FC236}">
                <a16:creationId xmlns:a16="http://schemas.microsoft.com/office/drawing/2014/main" id="{CCC3A11B-7559-0DA3-BFC1-B129C698983B}"/>
              </a:ext>
            </a:extLst>
          </p:cNvPr>
          <p:cNvSpPr>
            <a:spLocks noChangeArrowheads="1"/>
          </p:cNvSpPr>
          <p:nvPr/>
        </p:nvSpPr>
        <p:spPr bwMode="auto">
          <a:xfrm>
            <a:off x="4295982" y="4149008"/>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X</a:t>
            </a:r>
          </a:p>
        </p:txBody>
      </p:sp>
      <p:sp>
        <p:nvSpPr>
          <p:cNvPr id="31" name="Rectangle 69">
            <a:extLst>
              <a:ext uri="{FF2B5EF4-FFF2-40B4-BE49-F238E27FC236}">
                <a16:creationId xmlns:a16="http://schemas.microsoft.com/office/drawing/2014/main" id="{C1B2AE82-9F1E-DD86-AD24-83E30341D4FD}"/>
              </a:ext>
            </a:extLst>
          </p:cNvPr>
          <p:cNvSpPr>
            <a:spLocks noChangeArrowheads="1"/>
          </p:cNvSpPr>
          <p:nvPr/>
        </p:nvSpPr>
        <p:spPr bwMode="auto">
          <a:xfrm>
            <a:off x="3845977" y="459901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32" name="Rectangle 70">
            <a:extLst>
              <a:ext uri="{FF2B5EF4-FFF2-40B4-BE49-F238E27FC236}">
                <a16:creationId xmlns:a16="http://schemas.microsoft.com/office/drawing/2014/main" id="{48B0182E-EABB-C472-9B6F-44F14B70FD09}"/>
              </a:ext>
            </a:extLst>
          </p:cNvPr>
          <p:cNvSpPr>
            <a:spLocks noChangeArrowheads="1"/>
          </p:cNvSpPr>
          <p:nvPr/>
        </p:nvSpPr>
        <p:spPr bwMode="auto">
          <a:xfrm>
            <a:off x="4295981" y="4599013"/>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36" name="Rectangle 69">
            <a:extLst>
              <a:ext uri="{FF2B5EF4-FFF2-40B4-BE49-F238E27FC236}">
                <a16:creationId xmlns:a16="http://schemas.microsoft.com/office/drawing/2014/main" id="{0D00536B-19C1-7914-4AAF-122E95C2662C}"/>
              </a:ext>
            </a:extLst>
          </p:cNvPr>
          <p:cNvSpPr>
            <a:spLocks noChangeArrowheads="1"/>
          </p:cNvSpPr>
          <p:nvPr/>
        </p:nvSpPr>
        <p:spPr bwMode="auto">
          <a:xfrm>
            <a:off x="4295981" y="5049018"/>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grpSp>
        <p:nvGrpSpPr>
          <p:cNvPr id="42" name="グループ化 41">
            <a:extLst>
              <a:ext uri="{FF2B5EF4-FFF2-40B4-BE49-F238E27FC236}">
                <a16:creationId xmlns:a16="http://schemas.microsoft.com/office/drawing/2014/main" id="{FE448C61-B7F6-AB0D-1631-50D92A2CF441}"/>
              </a:ext>
            </a:extLst>
          </p:cNvPr>
          <p:cNvGrpSpPr/>
          <p:nvPr/>
        </p:nvGrpSpPr>
        <p:grpSpPr>
          <a:xfrm>
            <a:off x="5195991" y="5949028"/>
            <a:ext cx="2250023" cy="360000"/>
            <a:chOff x="1871971" y="5679025"/>
            <a:chExt cx="2250023" cy="360000"/>
          </a:xfrm>
        </p:grpSpPr>
        <p:sp>
          <p:nvSpPr>
            <p:cNvPr id="43" name="Rectangle 69">
              <a:extLst>
                <a:ext uri="{FF2B5EF4-FFF2-40B4-BE49-F238E27FC236}">
                  <a16:creationId xmlns:a16="http://schemas.microsoft.com/office/drawing/2014/main" id="{5C080615-7F45-71AD-DB99-1054C00D65BF}"/>
                </a:ext>
              </a:extLst>
            </p:cNvPr>
            <p:cNvSpPr>
              <a:spLocks noChangeArrowheads="1"/>
            </p:cNvSpPr>
            <p:nvPr/>
          </p:nvSpPr>
          <p:spPr bwMode="auto">
            <a:xfrm>
              <a:off x="1871971"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44" name="Rectangle 70">
              <a:extLst>
                <a:ext uri="{FF2B5EF4-FFF2-40B4-BE49-F238E27FC236}">
                  <a16:creationId xmlns:a16="http://schemas.microsoft.com/office/drawing/2014/main" id="{7522868B-5903-4428-C318-3D50FB95F05E}"/>
                </a:ext>
              </a:extLst>
            </p:cNvPr>
            <p:cNvSpPr>
              <a:spLocks noChangeArrowheads="1"/>
            </p:cNvSpPr>
            <p:nvPr/>
          </p:nvSpPr>
          <p:spPr bwMode="auto">
            <a:xfrm>
              <a:off x="2321974"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45" name="Rectangle 71">
              <a:extLst>
                <a:ext uri="{FF2B5EF4-FFF2-40B4-BE49-F238E27FC236}">
                  <a16:creationId xmlns:a16="http://schemas.microsoft.com/office/drawing/2014/main" id="{5F4FA41D-09F7-0F2A-7BF2-6047F77498EF}"/>
                </a:ext>
              </a:extLst>
            </p:cNvPr>
            <p:cNvSpPr>
              <a:spLocks noChangeArrowheads="1"/>
            </p:cNvSpPr>
            <p:nvPr/>
          </p:nvSpPr>
          <p:spPr bwMode="auto">
            <a:xfrm>
              <a:off x="2771980"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46" name="Rectangle 72">
              <a:extLst>
                <a:ext uri="{FF2B5EF4-FFF2-40B4-BE49-F238E27FC236}">
                  <a16:creationId xmlns:a16="http://schemas.microsoft.com/office/drawing/2014/main" id="{CF6E949B-82C2-1906-1FB4-447D32A65541}"/>
                </a:ext>
              </a:extLst>
            </p:cNvPr>
            <p:cNvSpPr>
              <a:spLocks noChangeArrowheads="1"/>
            </p:cNvSpPr>
            <p:nvPr/>
          </p:nvSpPr>
          <p:spPr bwMode="auto">
            <a:xfrm>
              <a:off x="3221985"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47" name="Rectangle 73">
              <a:extLst>
                <a:ext uri="{FF2B5EF4-FFF2-40B4-BE49-F238E27FC236}">
                  <a16:creationId xmlns:a16="http://schemas.microsoft.com/office/drawing/2014/main" id="{314F5B40-B65D-8A5C-D5BE-27C6B273063F}"/>
                </a:ext>
              </a:extLst>
            </p:cNvPr>
            <p:cNvSpPr>
              <a:spLocks noChangeArrowheads="1"/>
            </p:cNvSpPr>
            <p:nvPr/>
          </p:nvSpPr>
          <p:spPr bwMode="auto">
            <a:xfrm>
              <a:off x="3671990"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cxnSp>
        <p:nvCxnSpPr>
          <p:cNvPr id="48" name="直線矢印コネクタ 47">
            <a:extLst>
              <a:ext uri="{FF2B5EF4-FFF2-40B4-BE49-F238E27FC236}">
                <a16:creationId xmlns:a16="http://schemas.microsoft.com/office/drawing/2014/main" id="{296FF6F4-CB57-F0C8-A37F-45F1AE1379B8}"/>
              </a:ext>
            </a:extLst>
          </p:cNvPr>
          <p:cNvCxnSpPr>
            <a:cxnSpLocks/>
          </p:cNvCxnSpPr>
          <p:nvPr/>
        </p:nvCxnSpPr>
        <p:spPr bwMode="auto">
          <a:xfrm>
            <a:off x="5645995" y="2168986"/>
            <a:ext cx="180002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50" name="直線矢印コネクタ 49">
            <a:extLst>
              <a:ext uri="{FF2B5EF4-FFF2-40B4-BE49-F238E27FC236}">
                <a16:creationId xmlns:a16="http://schemas.microsoft.com/office/drawing/2014/main" id="{C1635BA8-E45B-1036-89FD-CD4F6EFA972E}"/>
              </a:ext>
            </a:extLst>
          </p:cNvPr>
          <p:cNvCxnSpPr>
            <a:cxnSpLocks/>
          </p:cNvCxnSpPr>
          <p:nvPr/>
        </p:nvCxnSpPr>
        <p:spPr bwMode="auto">
          <a:xfrm>
            <a:off x="5645995" y="1448979"/>
            <a:ext cx="0" cy="4590051"/>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51" name="直線矢印コネクタ 50">
            <a:extLst>
              <a:ext uri="{FF2B5EF4-FFF2-40B4-BE49-F238E27FC236}">
                <a16:creationId xmlns:a16="http://schemas.microsoft.com/office/drawing/2014/main" id="{B968D68F-F81F-229A-8E69-E7845670CB60}"/>
              </a:ext>
            </a:extLst>
          </p:cNvPr>
          <p:cNvCxnSpPr>
            <a:cxnSpLocks/>
          </p:cNvCxnSpPr>
          <p:nvPr/>
        </p:nvCxnSpPr>
        <p:spPr bwMode="auto">
          <a:xfrm>
            <a:off x="7446015" y="1448979"/>
            <a:ext cx="0" cy="4590051"/>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
        <p:nvSpPr>
          <p:cNvPr id="141" name="正方形/長方形 140">
            <a:extLst>
              <a:ext uri="{FF2B5EF4-FFF2-40B4-BE49-F238E27FC236}">
                <a16:creationId xmlns:a16="http://schemas.microsoft.com/office/drawing/2014/main" id="{1F9DB709-B2BF-4639-F203-F05948BDAB69}"/>
              </a:ext>
            </a:extLst>
          </p:cNvPr>
          <p:cNvSpPr/>
          <p:nvPr/>
        </p:nvSpPr>
        <p:spPr>
          <a:xfrm>
            <a:off x="6276003" y="1808982"/>
            <a:ext cx="540005" cy="270003"/>
          </a:xfrm>
          <a:prstGeom prst="rect">
            <a:avLst/>
          </a:prstGeom>
        </p:spPr>
        <p:txBody>
          <a:bodyPr wrap="none">
            <a:noAutofit/>
          </a:bodyPr>
          <a:lstStyle/>
          <a:p>
            <a:pPr algn="ctr"/>
            <a:r>
              <a:rPr lang="en-US" altLang="ja-JP" dirty="0">
                <a:solidFill>
                  <a:schemeClr val="tx1">
                    <a:lumMod val="65000"/>
                    <a:lumOff val="35000"/>
                  </a:schemeClr>
                </a:solidFill>
              </a:rPr>
              <a:t>4 cycle</a:t>
            </a:r>
            <a:endParaRPr lang="ja-JP" altLang="en-US" dirty="0">
              <a:solidFill>
                <a:schemeClr val="tx1">
                  <a:lumMod val="65000"/>
                  <a:lumOff val="35000"/>
                </a:schemeClr>
              </a:solidFill>
            </a:endParaRPr>
          </a:p>
        </p:txBody>
      </p:sp>
      <p:cxnSp>
        <p:nvCxnSpPr>
          <p:cNvPr id="142" name="直線矢印コネクタ 141">
            <a:extLst>
              <a:ext uri="{FF2B5EF4-FFF2-40B4-BE49-F238E27FC236}">
                <a16:creationId xmlns:a16="http://schemas.microsoft.com/office/drawing/2014/main" id="{64BC1CFE-703D-F2B2-B15B-61820D24E522}"/>
              </a:ext>
            </a:extLst>
          </p:cNvPr>
          <p:cNvCxnSpPr>
            <a:cxnSpLocks/>
          </p:cNvCxnSpPr>
          <p:nvPr/>
        </p:nvCxnSpPr>
        <p:spPr bwMode="auto">
          <a:xfrm>
            <a:off x="2945965" y="5679025"/>
            <a:ext cx="180002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43" name="正方形/長方形 142">
            <a:extLst>
              <a:ext uri="{FF2B5EF4-FFF2-40B4-BE49-F238E27FC236}">
                <a16:creationId xmlns:a16="http://schemas.microsoft.com/office/drawing/2014/main" id="{82E58FB9-D0E5-F270-66F6-DAD7164BA165}"/>
              </a:ext>
            </a:extLst>
          </p:cNvPr>
          <p:cNvSpPr/>
          <p:nvPr/>
        </p:nvSpPr>
        <p:spPr>
          <a:xfrm>
            <a:off x="3575973" y="5319021"/>
            <a:ext cx="540005" cy="270003"/>
          </a:xfrm>
          <a:prstGeom prst="rect">
            <a:avLst/>
          </a:prstGeom>
        </p:spPr>
        <p:txBody>
          <a:bodyPr wrap="none">
            <a:noAutofit/>
          </a:bodyPr>
          <a:lstStyle/>
          <a:p>
            <a:pPr algn="ctr"/>
            <a:r>
              <a:rPr lang="en-US" altLang="ja-JP" dirty="0">
                <a:solidFill>
                  <a:schemeClr val="tx1">
                    <a:lumMod val="65000"/>
                    <a:lumOff val="35000"/>
                  </a:schemeClr>
                </a:solidFill>
              </a:rPr>
              <a:t>4 cycle</a:t>
            </a:r>
            <a:endParaRPr lang="ja-JP" altLang="en-US" dirty="0">
              <a:solidFill>
                <a:schemeClr val="tx1">
                  <a:lumMod val="65000"/>
                  <a:lumOff val="35000"/>
                </a:schemeClr>
              </a:solidFill>
            </a:endParaRPr>
          </a:p>
        </p:txBody>
      </p:sp>
      <p:cxnSp>
        <p:nvCxnSpPr>
          <p:cNvPr id="144" name="直線矢印コネクタ 143">
            <a:extLst>
              <a:ext uri="{FF2B5EF4-FFF2-40B4-BE49-F238E27FC236}">
                <a16:creationId xmlns:a16="http://schemas.microsoft.com/office/drawing/2014/main" id="{FD0958C4-70F8-965E-8F1F-8FC31B4342C0}"/>
              </a:ext>
            </a:extLst>
          </p:cNvPr>
          <p:cNvCxnSpPr>
            <a:cxnSpLocks/>
          </p:cNvCxnSpPr>
          <p:nvPr/>
        </p:nvCxnSpPr>
        <p:spPr bwMode="auto">
          <a:xfrm>
            <a:off x="2945965" y="3609002"/>
            <a:ext cx="0" cy="2340026"/>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Tree>
    <p:extLst>
      <p:ext uri="{BB962C8B-B14F-4D97-AF65-F5344CB8AC3E}">
        <p14:creationId xmlns:p14="http://schemas.microsoft.com/office/powerpoint/2010/main" val="14534955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スーパスカラの場合</a:t>
            </a:r>
          </a:p>
        </p:txBody>
      </p:sp>
      <p:sp>
        <p:nvSpPr>
          <p:cNvPr id="129" name="コンテンツ プレースホルダー 34">
            <a:extLst>
              <a:ext uri="{FF2B5EF4-FFF2-40B4-BE49-F238E27FC236}">
                <a16:creationId xmlns:a16="http://schemas.microsoft.com/office/drawing/2014/main" id="{3A18A38F-0614-2DB0-E41C-5B0A06C2A320}"/>
              </a:ext>
            </a:extLst>
          </p:cNvPr>
          <p:cNvSpPr>
            <a:spLocks noGrp="1"/>
          </p:cNvSpPr>
          <p:nvPr>
            <p:ph type="body" sz="quarter" idx="10"/>
          </p:nvPr>
        </p:nvSpPr>
        <p:spPr>
          <a:xfrm>
            <a:off x="7086011" y="1268976"/>
            <a:ext cx="3330805" cy="3780042"/>
          </a:xfrm>
        </p:spPr>
        <p:txBody>
          <a:bodyPr/>
          <a:lstStyle/>
          <a:p>
            <a:pPr lvl="1"/>
            <a:r>
              <a:rPr lang="en-US" altLang="ja-JP" dirty="0">
                <a:solidFill>
                  <a:schemeClr val="tx1">
                    <a:lumMod val="65000"/>
                    <a:lumOff val="35000"/>
                  </a:schemeClr>
                </a:solidFill>
                <a:latin typeface="Consolas" panose="020B0609020204030204" pitchFamily="49" charset="0"/>
              </a:rPr>
              <a:t>I5 </a:t>
            </a:r>
            <a:r>
              <a:rPr lang="ja-JP" altLang="en-US" dirty="0">
                <a:solidFill>
                  <a:schemeClr val="tx1">
                    <a:lumMod val="65000"/>
                    <a:lumOff val="35000"/>
                  </a:schemeClr>
                </a:solidFill>
                <a:latin typeface="Consolas" panose="020B0609020204030204" pitchFamily="49" charset="0"/>
              </a:rPr>
              <a:t>の実行が </a:t>
            </a:r>
            <a:r>
              <a:rPr lang="en-US" altLang="ja-JP" dirty="0">
                <a:solidFill>
                  <a:schemeClr val="tx1">
                    <a:lumMod val="65000"/>
                    <a:lumOff val="35000"/>
                  </a:schemeClr>
                </a:solidFill>
                <a:latin typeface="Consolas" panose="020B0609020204030204" pitchFamily="49" charset="0"/>
              </a:rPr>
              <a:t>4 </a:t>
            </a:r>
            <a:r>
              <a:rPr lang="ja-JP" altLang="en-US" dirty="0">
                <a:solidFill>
                  <a:schemeClr val="tx1">
                    <a:lumMod val="65000"/>
                    <a:lumOff val="35000"/>
                  </a:schemeClr>
                </a:solidFill>
                <a:latin typeface="Consolas" panose="020B0609020204030204" pitchFamily="49" charset="0"/>
              </a:rPr>
              <a:t>サイクル遅れている</a:t>
            </a:r>
            <a:endParaRPr lang="en-US" altLang="ja-JP" dirty="0">
              <a:solidFill>
                <a:schemeClr val="tx1">
                  <a:lumMod val="65000"/>
                  <a:lumOff val="35000"/>
                </a:schemeClr>
              </a:solidFill>
              <a:latin typeface="Consolas" panose="020B0609020204030204" pitchFamily="49" charset="0"/>
            </a:endParaRPr>
          </a:p>
          <a:p>
            <a:pPr lvl="1"/>
            <a:r>
              <a:rPr lang="en-US" altLang="ja-JP" dirty="0">
                <a:solidFill>
                  <a:schemeClr val="tx1">
                    <a:lumMod val="65000"/>
                    <a:lumOff val="35000"/>
                  </a:schemeClr>
                </a:solidFill>
                <a:latin typeface="Consolas" panose="020B0609020204030204" pitchFamily="49" charset="0"/>
              </a:rPr>
              <a:t>4</a:t>
            </a:r>
            <a:r>
              <a:rPr lang="ja-JP" altLang="en-US" dirty="0">
                <a:solidFill>
                  <a:schemeClr val="tx1">
                    <a:lumMod val="65000"/>
                    <a:lumOff val="35000"/>
                  </a:schemeClr>
                </a:solidFill>
                <a:latin typeface="Consolas" panose="020B0609020204030204" pitchFamily="49" charset="0"/>
              </a:rPr>
              <a:t>サイクル分の処理を取り消してやり直しているため</a:t>
            </a:r>
          </a:p>
        </p:txBody>
      </p:sp>
      <p:grpSp>
        <p:nvGrpSpPr>
          <p:cNvPr id="3" name="グループ化 2">
            <a:extLst>
              <a:ext uri="{FF2B5EF4-FFF2-40B4-BE49-F238E27FC236}">
                <a16:creationId xmlns:a16="http://schemas.microsoft.com/office/drawing/2014/main" id="{73541057-30E3-3884-2716-0A4158893DA2}"/>
              </a:ext>
            </a:extLst>
          </p:cNvPr>
          <p:cNvGrpSpPr/>
          <p:nvPr/>
        </p:nvGrpSpPr>
        <p:grpSpPr>
          <a:xfrm>
            <a:off x="2495962" y="998973"/>
            <a:ext cx="2250023" cy="180002"/>
            <a:chOff x="971961" y="1088974"/>
            <a:chExt cx="2250023" cy="180002"/>
          </a:xfrm>
        </p:grpSpPr>
        <p:sp>
          <p:nvSpPr>
            <p:cNvPr id="60" name="Rectangle 69">
              <a:extLst>
                <a:ext uri="{FF2B5EF4-FFF2-40B4-BE49-F238E27FC236}">
                  <a16:creationId xmlns:a16="http://schemas.microsoft.com/office/drawing/2014/main" id="{87DC93EA-510F-2CED-3C49-ABA98D0CB62E}"/>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61" name="Rectangle 70">
              <a:extLst>
                <a:ext uri="{FF2B5EF4-FFF2-40B4-BE49-F238E27FC236}">
                  <a16:creationId xmlns:a16="http://schemas.microsoft.com/office/drawing/2014/main" id="{E2A5E54B-BBC7-0B25-B996-770AF7D777C1}"/>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62" name="Rectangle 71">
              <a:extLst>
                <a:ext uri="{FF2B5EF4-FFF2-40B4-BE49-F238E27FC236}">
                  <a16:creationId xmlns:a16="http://schemas.microsoft.com/office/drawing/2014/main" id="{E7243571-9A69-A4F8-37EB-6A83C0C0828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63" name="Rectangle 72">
              <a:extLst>
                <a:ext uri="{FF2B5EF4-FFF2-40B4-BE49-F238E27FC236}">
                  <a16:creationId xmlns:a16="http://schemas.microsoft.com/office/drawing/2014/main" id="{AEA01D9D-197B-B914-C0BA-9B727A10DEA3}"/>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28" name="Rectangle 73">
              <a:extLst>
                <a:ext uri="{FF2B5EF4-FFF2-40B4-BE49-F238E27FC236}">
                  <a16:creationId xmlns:a16="http://schemas.microsoft.com/office/drawing/2014/main" id="{17B20D46-4CEE-67DC-B6CC-20CB76AC10C6}"/>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sp>
        <p:nvSpPr>
          <p:cNvPr id="16" name="Rectangle 69">
            <a:extLst>
              <a:ext uri="{FF2B5EF4-FFF2-40B4-BE49-F238E27FC236}">
                <a16:creationId xmlns:a16="http://schemas.microsoft.com/office/drawing/2014/main" id="{D79287FF-FE5D-4E4E-1CBA-DD0DE39235D9}"/>
              </a:ext>
            </a:extLst>
          </p:cNvPr>
          <p:cNvSpPr>
            <a:spLocks noChangeArrowheads="1"/>
          </p:cNvSpPr>
          <p:nvPr/>
        </p:nvSpPr>
        <p:spPr bwMode="auto">
          <a:xfrm>
            <a:off x="2945968" y="3609002"/>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17" name="Rectangle 70">
            <a:extLst>
              <a:ext uri="{FF2B5EF4-FFF2-40B4-BE49-F238E27FC236}">
                <a16:creationId xmlns:a16="http://schemas.microsoft.com/office/drawing/2014/main" id="{55294C82-26F3-3B53-DA89-49B3388A843B}"/>
              </a:ext>
            </a:extLst>
          </p:cNvPr>
          <p:cNvSpPr>
            <a:spLocks noChangeArrowheads="1"/>
          </p:cNvSpPr>
          <p:nvPr/>
        </p:nvSpPr>
        <p:spPr bwMode="auto">
          <a:xfrm>
            <a:off x="3395972" y="3609002"/>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18" name="Rectangle 71">
            <a:extLst>
              <a:ext uri="{FF2B5EF4-FFF2-40B4-BE49-F238E27FC236}">
                <a16:creationId xmlns:a16="http://schemas.microsoft.com/office/drawing/2014/main" id="{6A0B1FFF-3557-CB49-C34A-0A49637001EB}"/>
              </a:ext>
            </a:extLst>
          </p:cNvPr>
          <p:cNvSpPr>
            <a:spLocks noChangeArrowheads="1"/>
          </p:cNvSpPr>
          <p:nvPr/>
        </p:nvSpPr>
        <p:spPr bwMode="auto">
          <a:xfrm>
            <a:off x="3845978" y="3609002"/>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X</a:t>
            </a:r>
          </a:p>
        </p:txBody>
      </p:sp>
      <p:sp>
        <p:nvSpPr>
          <p:cNvPr id="19" name="Rectangle 72">
            <a:extLst>
              <a:ext uri="{FF2B5EF4-FFF2-40B4-BE49-F238E27FC236}">
                <a16:creationId xmlns:a16="http://schemas.microsoft.com/office/drawing/2014/main" id="{99F19349-1717-37FB-270A-96BB7C6EFCE1}"/>
              </a:ext>
            </a:extLst>
          </p:cNvPr>
          <p:cNvSpPr>
            <a:spLocks noChangeArrowheads="1"/>
          </p:cNvSpPr>
          <p:nvPr/>
        </p:nvSpPr>
        <p:spPr bwMode="auto">
          <a:xfrm>
            <a:off x="4295983" y="3609002"/>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M</a:t>
            </a:r>
          </a:p>
        </p:txBody>
      </p:sp>
      <p:sp>
        <p:nvSpPr>
          <p:cNvPr id="26" name="Rectangle 69">
            <a:extLst>
              <a:ext uri="{FF2B5EF4-FFF2-40B4-BE49-F238E27FC236}">
                <a16:creationId xmlns:a16="http://schemas.microsoft.com/office/drawing/2014/main" id="{65087BCE-2C17-116A-F08E-6150BABF171E}"/>
              </a:ext>
            </a:extLst>
          </p:cNvPr>
          <p:cNvSpPr>
            <a:spLocks noChangeArrowheads="1"/>
          </p:cNvSpPr>
          <p:nvPr/>
        </p:nvSpPr>
        <p:spPr bwMode="auto">
          <a:xfrm>
            <a:off x="3395971" y="4149008"/>
            <a:ext cx="450004"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27" name="Rectangle 70">
            <a:extLst>
              <a:ext uri="{FF2B5EF4-FFF2-40B4-BE49-F238E27FC236}">
                <a16:creationId xmlns:a16="http://schemas.microsoft.com/office/drawing/2014/main" id="{75B13ADA-FF53-2D8C-6C7E-7788C5FBF4D6}"/>
              </a:ext>
            </a:extLst>
          </p:cNvPr>
          <p:cNvSpPr>
            <a:spLocks noChangeArrowheads="1"/>
          </p:cNvSpPr>
          <p:nvPr/>
        </p:nvSpPr>
        <p:spPr bwMode="auto">
          <a:xfrm>
            <a:off x="3845975" y="4149008"/>
            <a:ext cx="450005"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28" name="Rectangle 71">
            <a:extLst>
              <a:ext uri="{FF2B5EF4-FFF2-40B4-BE49-F238E27FC236}">
                <a16:creationId xmlns:a16="http://schemas.microsoft.com/office/drawing/2014/main" id="{CCC3A11B-7559-0DA3-BFC1-B129C698983B}"/>
              </a:ext>
            </a:extLst>
          </p:cNvPr>
          <p:cNvSpPr>
            <a:spLocks noChangeArrowheads="1"/>
          </p:cNvSpPr>
          <p:nvPr/>
        </p:nvSpPr>
        <p:spPr bwMode="auto">
          <a:xfrm>
            <a:off x="4295981" y="4149008"/>
            <a:ext cx="450005"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X</a:t>
            </a:r>
          </a:p>
        </p:txBody>
      </p:sp>
      <p:sp>
        <p:nvSpPr>
          <p:cNvPr id="31" name="Rectangle 69">
            <a:extLst>
              <a:ext uri="{FF2B5EF4-FFF2-40B4-BE49-F238E27FC236}">
                <a16:creationId xmlns:a16="http://schemas.microsoft.com/office/drawing/2014/main" id="{C1B2AE82-9F1E-DD86-AD24-83E30341D4FD}"/>
              </a:ext>
            </a:extLst>
          </p:cNvPr>
          <p:cNvSpPr>
            <a:spLocks noChangeArrowheads="1"/>
          </p:cNvSpPr>
          <p:nvPr/>
        </p:nvSpPr>
        <p:spPr bwMode="auto">
          <a:xfrm>
            <a:off x="3845977" y="4689014"/>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32" name="Rectangle 70">
            <a:extLst>
              <a:ext uri="{FF2B5EF4-FFF2-40B4-BE49-F238E27FC236}">
                <a16:creationId xmlns:a16="http://schemas.microsoft.com/office/drawing/2014/main" id="{48B0182E-EABB-C472-9B6F-44F14B70FD09}"/>
              </a:ext>
            </a:extLst>
          </p:cNvPr>
          <p:cNvSpPr>
            <a:spLocks noChangeArrowheads="1"/>
          </p:cNvSpPr>
          <p:nvPr/>
        </p:nvSpPr>
        <p:spPr bwMode="auto">
          <a:xfrm>
            <a:off x="4295981" y="4689014"/>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36" name="Rectangle 69">
            <a:extLst>
              <a:ext uri="{FF2B5EF4-FFF2-40B4-BE49-F238E27FC236}">
                <a16:creationId xmlns:a16="http://schemas.microsoft.com/office/drawing/2014/main" id="{0D00536B-19C1-7914-4AAF-122E95C2662C}"/>
              </a:ext>
            </a:extLst>
          </p:cNvPr>
          <p:cNvSpPr>
            <a:spLocks noChangeArrowheads="1"/>
          </p:cNvSpPr>
          <p:nvPr/>
        </p:nvSpPr>
        <p:spPr bwMode="auto">
          <a:xfrm>
            <a:off x="4295980" y="5229020"/>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cxnSp>
        <p:nvCxnSpPr>
          <p:cNvPr id="48" name="直線矢印コネクタ 47">
            <a:extLst>
              <a:ext uri="{FF2B5EF4-FFF2-40B4-BE49-F238E27FC236}">
                <a16:creationId xmlns:a16="http://schemas.microsoft.com/office/drawing/2014/main" id="{296FF6F4-CB57-F0C8-A37F-45F1AE1379B8}"/>
              </a:ext>
            </a:extLst>
          </p:cNvPr>
          <p:cNvCxnSpPr>
            <a:cxnSpLocks/>
          </p:cNvCxnSpPr>
          <p:nvPr/>
        </p:nvCxnSpPr>
        <p:spPr bwMode="auto">
          <a:xfrm>
            <a:off x="5645995" y="2078985"/>
            <a:ext cx="180002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50" name="直線矢印コネクタ 49">
            <a:extLst>
              <a:ext uri="{FF2B5EF4-FFF2-40B4-BE49-F238E27FC236}">
                <a16:creationId xmlns:a16="http://schemas.microsoft.com/office/drawing/2014/main" id="{C1635BA8-E45B-1036-89FD-CD4F6EFA972E}"/>
              </a:ext>
            </a:extLst>
          </p:cNvPr>
          <p:cNvCxnSpPr>
            <a:cxnSpLocks/>
          </p:cNvCxnSpPr>
          <p:nvPr/>
        </p:nvCxnSpPr>
        <p:spPr bwMode="auto">
          <a:xfrm>
            <a:off x="5645995" y="1538980"/>
            <a:ext cx="0" cy="4590051"/>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51" name="直線矢印コネクタ 50">
            <a:extLst>
              <a:ext uri="{FF2B5EF4-FFF2-40B4-BE49-F238E27FC236}">
                <a16:creationId xmlns:a16="http://schemas.microsoft.com/office/drawing/2014/main" id="{B968D68F-F81F-229A-8E69-E7845670CB60}"/>
              </a:ext>
            </a:extLst>
          </p:cNvPr>
          <p:cNvCxnSpPr>
            <a:cxnSpLocks/>
          </p:cNvCxnSpPr>
          <p:nvPr/>
        </p:nvCxnSpPr>
        <p:spPr bwMode="auto">
          <a:xfrm>
            <a:off x="7446015" y="1538980"/>
            <a:ext cx="0" cy="5310059"/>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
        <p:nvSpPr>
          <p:cNvPr id="141" name="正方形/長方形 140">
            <a:extLst>
              <a:ext uri="{FF2B5EF4-FFF2-40B4-BE49-F238E27FC236}">
                <a16:creationId xmlns:a16="http://schemas.microsoft.com/office/drawing/2014/main" id="{1F9DB709-B2BF-4639-F203-F05948BDAB69}"/>
              </a:ext>
            </a:extLst>
          </p:cNvPr>
          <p:cNvSpPr/>
          <p:nvPr/>
        </p:nvSpPr>
        <p:spPr>
          <a:xfrm>
            <a:off x="6276003" y="1718981"/>
            <a:ext cx="540005" cy="270003"/>
          </a:xfrm>
          <a:prstGeom prst="rect">
            <a:avLst/>
          </a:prstGeom>
        </p:spPr>
        <p:txBody>
          <a:bodyPr wrap="none">
            <a:noAutofit/>
          </a:bodyPr>
          <a:lstStyle/>
          <a:p>
            <a:pPr algn="ctr"/>
            <a:r>
              <a:rPr lang="en-US" altLang="ja-JP" sz="1400" dirty="0">
                <a:solidFill>
                  <a:schemeClr val="tx1">
                    <a:lumMod val="65000"/>
                    <a:lumOff val="35000"/>
                  </a:schemeClr>
                </a:solidFill>
              </a:rPr>
              <a:t>4 cycle</a:t>
            </a:r>
            <a:endParaRPr lang="ja-JP" altLang="en-US" sz="1400" dirty="0">
              <a:solidFill>
                <a:schemeClr val="tx1">
                  <a:lumMod val="65000"/>
                  <a:lumOff val="35000"/>
                </a:schemeClr>
              </a:solidFill>
            </a:endParaRPr>
          </a:p>
        </p:txBody>
      </p:sp>
      <p:cxnSp>
        <p:nvCxnSpPr>
          <p:cNvPr id="142" name="直線矢印コネクタ 141">
            <a:extLst>
              <a:ext uri="{FF2B5EF4-FFF2-40B4-BE49-F238E27FC236}">
                <a16:creationId xmlns:a16="http://schemas.microsoft.com/office/drawing/2014/main" id="{64BC1CFE-703D-F2B2-B15B-61820D24E522}"/>
              </a:ext>
            </a:extLst>
          </p:cNvPr>
          <p:cNvCxnSpPr>
            <a:cxnSpLocks/>
          </p:cNvCxnSpPr>
          <p:nvPr/>
        </p:nvCxnSpPr>
        <p:spPr bwMode="auto">
          <a:xfrm>
            <a:off x="2945965" y="5859027"/>
            <a:ext cx="180002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143" name="正方形/長方形 142">
            <a:extLst>
              <a:ext uri="{FF2B5EF4-FFF2-40B4-BE49-F238E27FC236}">
                <a16:creationId xmlns:a16="http://schemas.microsoft.com/office/drawing/2014/main" id="{82E58FB9-D0E5-F270-66F6-DAD7164BA165}"/>
              </a:ext>
            </a:extLst>
          </p:cNvPr>
          <p:cNvSpPr/>
          <p:nvPr/>
        </p:nvSpPr>
        <p:spPr>
          <a:xfrm>
            <a:off x="3575973" y="5859028"/>
            <a:ext cx="540005" cy="270003"/>
          </a:xfrm>
          <a:prstGeom prst="rect">
            <a:avLst/>
          </a:prstGeom>
        </p:spPr>
        <p:txBody>
          <a:bodyPr wrap="none">
            <a:noAutofit/>
          </a:bodyPr>
          <a:lstStyle/>
          <a:p>
            <a:pPr algn="ctr"/>
            <a:r>
              <a:rPr lang="en-US" altLang="ja-JP" sz="1400" dirty="0">
                <a:solidFill>
                  <a:schemeClr val="tx1">
                    <a:lumMod val="65000"/>
                    <a:lumOff val="35000"/>
                  </a:schemeClr>
                </a:solidFill>
              </a:rPr>
              <a:t>4 cycle</a:t>
            </a:r>
            <a:endParaRPr lang="ja-JP" altLang="en-US" sz="1400" dirty="0">
              <a:solidFill>
                <a:schemeClr val="tx1">
                  <a:lumMod val="65000"/>
                  <a:lumOff val="35000"/>
                </a:schemeClr>
              </a:solidFill>
            </a:endParaRPr>
          </a:p>
        </p:txBody>
      </p:sp>
      <p:cxnSp>
        <p:nvCxnSpPr>
          <p:cNvPr id="144" name="直線矢印コネクタ 143">
            <a:extLst>
              <a:ext uri="{FF2B5EF4-FFF2-40B4-BE49-F238E27FC236}">
                <a16:creationId xmlns:a16="http://schemas.microsoft.com/office/drawing/2014/main" id="{FD0958C4-70F8-965E-8F1F-8FC31B4342C0}"/>
              </a:ext>
            </a:extLst>
          </p:cNvPr>
          <p:cNvCxnSpPr>
            <a:cxnSpLocks/>
          </p:cNvCxnSpPr>
          <p:nvPr/>
        </p:nvCxnSpPr>
        <p:spPr bwMode="auto">
          <a:xfrm>
            <a:off x="2945965" y="3519001"/>
            <a:ext cx="0" cy="2520028"/>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grpSp>
        <p:nvGrpSpPr>
          <p:cNvPr id="4" name="グループ化 3">
            <a:extLst>
              <a:ext uri="{FF2B5EF4-FFF2-40B4-BE49-F238E27FC236}">
                <a16:creationId xmlns:a16="http://schemas.microsoft.com/office/drawing/2014/main" id="{05D91D91-7626-4347-C91E-E309B4629A5F}"/>
              </a:ext>
            </a:extLst>
          </p:cNvPr>
          <p:cNvGrpSpPr/>
          <p:nvPr/>
        </p:nvGrpSpPr>
        <p:grpSpPr>
          <a:xfrm>
            <a:off x="2495961" y="1268976"/>
            <a:ext cx="2250023" cy="180002"/>
            <a:chOff x="971961" y="1088974"/>
            <a:chExt cx="2250023" cy="180002"/>
          </a:xfrm>
        </p:grpSpPr>
        <p:sp>
          <p:nvSpPr>
            <p:cNvPr id="5" name="Rectangle 69">
              <a:extLst>
                <a:ext uri="{FF2B5EF4-FFF2-40B4-BE49-F238E27FC236}">
                  <a16:creationId xmlns:a16="http://schemas.microsoft.com/office/drawing/2014/main" id="{C62ED99A-EB23-8F92-C0BD-3596859CDC1B}"/>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7" name="Rectangle 70">
              <a:extLst>
                <a:ext uri="{FF2B5EF4-FFF2-40B4-BE49-F238E27FC236}">
                  <a16:creationId xmlns:a16="http://schemas.microsoft.com/office/drawing/2014/main" id="{BCC94D9B-F394-44E5-35D1-6D73E068E726}"/>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8" name="Rectangle 71">
              <a:extLst>
                <a:ext uri="{FF2B5EF4-FFF2-40B4-BE49-F238E27FC236}">
                  <a16:creationId xmlns:a16="http://schemas.microsoft.com/office/drawing/2014/main" id="{CD410115-FEDD-DCA6-6344-E3332FDB995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20" name="Rectangle 72">
              <a:extLst>
                <a:ext uri="{FF2B5EF4-FFF2-40B4-BE49-F238E27FC236}">
                  <a16:creationId xmlns:a16="http://schemas.microsoft.com/office/drawing/2014/main" id="{427852D4-88E7-09F2-0A3C-E0CB80E54710}"/>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29" name="Rectangle 73">
              <a:extLst>
                <a:ext uri="{FF2B5EF4-FFF2-40B4-BE49-F238E27FC236}">
                  <a16:creationId xmlns:a16="http://schemas.microsoft.com/office/drawing/2014/main" id="{0701B121-B155-C90D-D7F0-79462BECF543}"/>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30" name="グループ化 29">
            <a:extLst>
              <a:ext uri="{FF2B5EF4-FFF2-40B4-BE49-F238E27FC236}">
                <a16:creationId xmlns:a16="http://schemas.microsoft.com/office/drawing/2014/main" id="{9B199E8E-E0AE-46EF-62F6-4F38780DCD31}"/>
              </a:ext>
            </a:extLst>
          </p:cNvPr>
          <p:cNvGrpSpPr/>
          <p:nvPr/>
        </p:nvGrpSpPr>
        <p:grpSpPr>
          <a:xfrm>
            <a:off x="2945966" y="1538979"/>
            <a:ext cx="2250023" cy="180002"/>
            <a:chOff x="971961" y="1088974"/>
            <a:chExt cx="2250023" cy="180002"/>
          </a:xfrm>
        </p:grpSpPr>
        <p:sp>
          <p:nvSpPr>
            <p:cNvPr id="33" name="Rectangle 69">
              <a:extLst>
                <a:ext uri="{FF2B5EF4-FFF2-40B4-BE49-F238E27FC236}">
                  <a16:creationId xmlns:a16="http://schemas.microsoft.com/office/drawing/2014/main" id="{CD8DA6CD-D49C-1ABC-BE78-61E1C886148A}"/>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34" name="Rectangle 70">
              <a:extLst>
                <a:ext uri="{FF2B5EF4-FFF2-40B4-BE49-F238E27FC236}">
                  <a16:creationId xmlns:a16="http://schemas.microsoft.com/office/drawing/2014/main" id="{57C69274-F460-39AF-E99C-F6711213A198}"/>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35" name="Rectangle 71">
              <a:extLst>
                <a:ext uri="{FF2B5EF4-FFF2-40B4-BE49-F238E27FC236}">
                  <a16:creationId xmlns:a16="http://schemas.microsoft.com/office/drawing/2014/main" id="{C60AE377-7243-32DB-DAD1-2AA44789AB1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37" name="Rectangle 72">
              <a:extLst>
                <a:ext uri="{FF2B5EF4-FFF2-40B4-BE49-F238E27FC236}">
                  <a16:creationId xmlns:a16="http://schemas.microsoft.com/office/drawing/2014/main" id="{787E6361-4341-C372-0682-C2DD1B1D6D3F}"/>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38" name="Rectangle 73">
              <a:extLst>
                <a:ext uri="{FF2B5EF4-FFF2-40B4-BE49-F238E27FC236}">
                  <a16:creationId xmlns:a16="http://schemas.microsoft.com/office/drawing/2014/main" id="{28CF3F4B-DAAD-BB38-861C-0BF4DAAF16C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39" name="グループ化 38">
            <a:extLst>
              <a:ext uri="{FF2B5EF4-FFF2-40B4-BE49-F238E27FC236}">
                <a16:creationId xmlns:a16="http://schemas.microsoft.com/office/drawing/2014/main" id="{ECB5AA74-6638-BAD0-8C17-BB7BE22B8B81}"/>
              </a:ext>
            </a:extLst>
          </p:cNvPr>
          <p:cNvGrpSpPr/>
          <p:nvPr/>
        </p:nvGrpSpPr>
        <p:grpSpPr>
          <a:xfrm>
            <a:off x="2945965" y="1808982"/>
            <a:ext cx="2250023" cy="180002"/>
            <a:chOff x="971961" y="1088974"/>
            <a:chExt cx="2250023" cy="180002"/>
          </a:xfrm>
        </p:grpSpPr>
        <p:sp>
          <p:nvSpPr>
            <p:cNvPr id="40" name="Rectangle 69">
              <a:extLst>
                <a:ext uri="{FF2B5EF4-FFF2-40B4-BE49-F238E27FC236}">
                  <a16:creationId xmlns:a16="http://schemas.microsoft.com/office/drawing/2014/main" id="{D1A7636E-F0D6-CA66-EFFC-AA4FCC19B3A8}"/>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49" name="Rectangle 70">
              <a:extLst>
                <a:ext uri="{FF2B5EF4-FFF2-40B4-BE49-F238E27FC236}">
                  <a16:creationId xmlns:a16="http://schemas.microsoft.com/office/drawing/2014/main" id="{563E07A1-847F-234C-E751-8E8061156CE0}"/>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52" name="Rectangle 71">
              <a:extLst>
                <a:ext uri="{FF2B5EF4-FFF2-40B4-BE49-F238E27FC236}">
                  <a16:creationId xmlns:a16="http://schemas.microsoft.com/office/drawing/2014/main" id="{63A02E3F-3DDC-197F-E187-FCB1440CF1EC}"/>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53" name="Rectangle 72">
              <a:extLst>
                <a:ext uri="{FF2B5EF4-FFF2-40B4-BE49-F238E27FC236}">
                  <a16:creationId xmlns:a16="http://schemas.microsoft.com/office/drawing/2014/main" id="{D85EAA9D-2A17-6E76-EA67-558D009D244F}"/>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54" name="Rectangle 73">
              <a:extLst>
                <a:ext uri="{FF2B5EF4-FFF2-40B4-BE49-F238E27FC236}">
                  <a16:creationId xmlns:a16="http://schemas.microsoft.com/office/drawing/2014/main" id="{14E8BBCE-29FC-9D29-DDE7-FE6A95F3A392}"/>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55" name="グループ化 54">
            <a:extLst>
              <a:ext uri="{FF2B5EF4-FFF2-40B4-BE49-F238E27FC236}">
                <a16:creationId xmlns:a16="http://schemas.microsoft.com/office/drawing/2014/main" id="{4B3CA136-9166-7B13-CDB1-1AE4FED08DF7}"/>
              </a:ext>
            </a:extLst>
          </p:cNvPr>
          <p:cNvGrpSpPr/>
          <p:nvPr/>
        </p:nvGrpSpPr>
        <p:grpSpPr>
          <a:xfrm>
            <a:off x="3395972" y="2078985"/>
            <a:ext cx="2250023" cy="180002"/>
            <a:chOff x="971961" y="1088974"/>
            <a:chExt cx="2250023" cy="180002"/>
          </a:xfrm>
        </p:grpSpPr>
        <p:sp>
          <p:nvSpPr>
            <p:cNvPr id="56" name="Rectangle 69">
              <a:extLst>
                <a:ext uri="{FF2B5EF4-FFF2-40B4-BE49-F238E27FC236}">
                  <a16:creationId xmlns:a16="http://schemas.microsoft.com/office/drawing/2014/main" id="{577F84E4-E190-BF39-5B21-28F8993D7194}"/>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40" name="Rectangle 70">
              <a:extLst>
                <a:ext uri="{FF2B5EF4-FFF2-40B4-BE49-F238E27FC236}">
                  <a16:creationId xmlns:a16="http://schemas.microsoft.com/office/drawing/2014/main" id="{424D0A1A-28ED-4516-E62C-6167C37C7D86}"/>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45" name="Rectangle 71">
              <a:extLst>
                <a:ext uri="{FF2B5EF4-FFF2-40B4-BE49-F238E27FC236}">
                  <a16:creationId xmlns:a16="http://schemas.microsoft.com/office/drawing/2014/main" id="{0A192C1C-6CD6-9421-BD3B-E91CC00359F2}"/>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46" name="Rectangle 72">
              <a:extLst>
                <a:ext uri="{FF2B5EF4-FFF2-40B4-BE49-F238E27FC236}">
                  <a16:creationId xmlns:a16="http://schemas.microsoft.com/office/drawing/2014/main" id="{F1A3CE6F-81CA-7527-2350-1AFE0DCBEA17}"/>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47" name="Rectangle 73">
              <a:extLst>
                <a:ext uri="{FF2B5EF4-FFF2-40B4-BE49-F238E27FC236}">
                  <a16:creationId xmlns:a16="http://schemas.microsoft.com/office/drawing/2014/main" id="{B899C8E1-1D64-2BC7-59EB-A00C3DD5BB8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48" name="グループ化 147">
            <a:extLst>
              <a:ext uri="{FF2B5EF4-FFF2-40B4-BE49-F238E27FC236}">
                <a16:creationId xmlns:a16="http://schemas.microsoft.com/office/drawing/2014/main" id="{D969CDB4-503C-E910-9E3D-BD19C9BEF27D}"/>
              </a:ext>
            </a:extLst>
          </p:cNvPr>
          <p:cNvGrpSpPr/>
          <p:nvPr/>
        </p:nvGrpSpPr>
        <p:grpSpPr>
          <a:xfrm>
            <a:off x="3395971" y="2348988"/>
            <a:ext cx="2250023" cy="180002"/>
            <a:chOff x="971961" y="1088974"/>
            <a:chExt cx="2250023" cy="180002"/>
          </a:xfrm>
        </p:grpSpPr>
        <p:sp>
          <p:nvSpPr>
            <p:cNvPr id="149" name="Rectangle 69">
              <a:extLst>
                <a:ext uri="{FF2B5EF4-FFF2-40B4-BE49-F238E27FC236}">
                  <a16:creationId xmlns:a16="http://schemas.microsoft.com/office/drawing/2014/main" id="{41947F27-3B69-BAB8-B2A3-971F29126479}"/>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50" name="Rectangle 70">
              <a:extLst>
                <a:ext uri="{FF2B5EF4-FFF2-40B4-BE49-F238E27FC236}">
                  <a16:creationId xmlns:a16="http://schemas.microsoft.com/office/drawing/2014/main" id="{9048815F-727B-9858-30FB-D84B843D38DD}"/>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51" name="Rectangle 71">
              <a:extLst>
                <a:ext uri="{FF2B5EF4-FFF2-40B4-BE49-F238E27FC236}">
                  <a16:creationId xmlns:a16="http://schemas.microsoft.com/office/drawing/2014/main" id="{E54088D7-F842-FBF8-5B17-FB2DC541E1B2}"/>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52" name="Rectangle 72">
              <a:extLst>
                <a:ext uri="{FF2B5EF4-FFF2-40B4-BE49-F238E27FC236}">
                  <a16:creationId xmlns:a16="http://schemas.microsoft.com/office/drawing/2014/main" id="{02753A92-0E98-0256-6442-9E7D187BEE14}"/>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53" name="Rectangle 73">
              <a:extLst>
                <a:ext uri="{FF2B5EF4-FFF2-40B4-BE49-F238E27FC236}">
                  <a16:creationId xmlns:a16="http://schemas.microsoft.com/office/drawing/2014/main" id="{17ACD50F-2B79-5736-778F-69438AF18FA9}"/>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54" name="グループ化 153">
            <a:extLst>
              <a:ext uri="{FF2B5EF4-FFF2-40B4-BE49-F238E27FC236}">
                <a16:creationId xmlns:a16="http://schemas.microsoft.com/office/drawing/2014/main" id="{1C4E3723-8AC2-1A8F-2608-07A5446F1DC9}"/>
              </a:ext>
            </a:extLst>
          </p:cNvPr>
          <p:cNvGrpSpPr/>
          <p:nvPr/>
        </p:nvGrpSpPr>
        <p:grpSpPr>
          <a:xfrm>
            <a:off x="2495961" y="3068996"/>
            <a:ext cx="2250023" cy="180002"/>
            <a:chOff x="971961" y="1088974"/>
            <a:chExt cx="2250023" cy="180002"/>
          </a:xfrm>
        </p:grpSpPr>
        <p:sp>
          <p:nvSpPr>
            <p:cNvPr id="155" name="Rectangle 69">
              <a:extLst>
                <a:ext uri="{FF2B5EF4-FFF2-40B4-BE49-F238E27FC236}">
                  <a16:creationId xmlns:a16="http://schemas.microsoft.com/office/drawing/2014/main" id="{3F6DA7F5-DFC4-17ED-2013-1ED2216EBCD5}"/>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56" name="Rectangle 70">
              <a:extLst>
                <a:ext uri="{FF2B5EF4-FFF2-40B4-BE49-F238E27FC236}">
                  <a16:creationId xmlns:a16="http://schemas.microsoft.com/office/drawing/2014/main" id="{356D9158-5F9E-1A16-D966-7DA2AA1BFA55}"/>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57" name="Rectangle 71">
              <a:extLst>
                <a:ext uri="{FF2B5EF4-FFF2-40B4-BE49-F238E27FC236}">
                  <a16:creationId xmlns:a16="http://schemas.microsoft.com/office/drawing/2014/main" id="{286C5DCF-200F-DD94-C5AF-BBCD536112CA}"/>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58" name="Rectangle 72">
              <a:extLst>
                <a:ext uri="{FF2B5EF4-FFF2-40B4-BE49-F238E27FC236}">
                  <a16:creationId xmlns:a16="http://schemas.microsoft.com/office/drawing/2014/main" id="{29F01D96-6FB7-A8B2-BFAA-2B3891941BB9}"/>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59" name="Rectangle 73">
              <a:extLst>
                <a:ext uri="{FF2B5EF4-FFF2-40B4-BE49-F238E27FC236}">
                  <a16:creationId xmlns:a16="http://schemas.microsoft.com/office/drawing/2014/main" id="{0BAC1C71-CEF0-9BBB-1EA4-DF5BD86002C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60" name="グループ化 159">
            <a:extLst>
              <a:ext uri="{FF2B5EF4-FFF2-40B4-BE49-F238E27FC236}">
                <a16:creationId xmlns:a16="http://schemas.microsoft.com/office/drawing/2014/main" id="{D88B002E-F05A-BB45-726F-34A0EC5F22E4}"/>
              </a:ext>
            </a:extLst>
          </p:cNvPr>
          <p:cNvGrpSpPr/>
          <p:nvPr/>
        </p:nvGrpSpPr>
        <p:grpSpPr>
          <a:xfrm>
            <a:off x="2495960" y="3338999"/>
            <a:ext cx="2250023" cy="180002"/>
            <a:chOff x="971961" y="1088974"/>
            <a:chExt cx="2250023" cy="180002"/>
          </a:xfrm>
        </p:grpSpPr>
        <p:sp>
          <p:nvSpPr>
            <p:cNvPr id="161" name="Rectangle 69">
              <a:extLst>
                <a:ext uri="{FF2B5EF4-FFF2-40B4-BE49-F238E27FC236}">
                  <a16:creationId xmlns:a16="http://schemas.microsoft.com/office/drawing/2014/main" id="{ACC19367-DBE1-42D3-9DA3-4D9467288CAE}"/>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62" name="Rectangle 70">
              <a:extLst>
                <a:ext uri="{FF2B5EF4-FFF2-40B4-BE49-F238E27FC236}">
                  <a16:creationId xmlns:a16="http://schemas.microsoft.com/office/drawing/2014/main" id="{6D09F3D8-E07D-2EC5-50D6-0D6C0C8CE38D}"/>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63" name="Rectangle 71">
              <a:extLst>
                <a:ext uri="{FF2B5EF4-FFF2-40B4-BE49-F238E27FC236}">
                  <a16:creationId xmlns:a16="http://schemas.microsoft.com/office/drawing/2014/main" id="{64829B18-15E6-AD1B-9FEF-9828331F8497}"/>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64" name="Rectangle 72">
              <a:extLst>
                <a:ext uri="{FF2B5EF4-FFF2-40B4-BE49-F238E27FC236}">
                  <a16:creationId xmlns:a16="http://schemas.microsoft.com/office/drawing/2014/main" id="{7361A66D-FD45-251B-6088-97C81867AAA0}"/>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65" name="Rectangle 73">
              <a:extLst>
                <a:ext uri="{FF2B5EF4-FFF2-40B4-BE49-F238E27FC236}">
                  <a16:creationId xmlns:a16="http://schemas.microsoft.com/office/drawing/2014/main" id="{6D6A7F14-05D9-D603-0729-CE4A069637D9}"/>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sp>
        <p:nvSpPr>
          <p:cNvPr id="166" name="Rectangle 69">
            <a:extLst>
              <a:ext uri="{FF2B5EF4-FFF2-40B4-BE49-F238E27FC236}">
                <a16:creationId xmlns:a16="http://schemas.microsoft.com/office/drawing/2014/main" id="{4A961EAB-D98A-C4D3-2C2F-F2E5FFE5FF3B}"/>
              </a:ext>
            </a:extLst>
          </p:cNvPr>
          <p:cNvSpPr>
            <a:spLocks noChangeArrowheads="1"/>
          </p:cNvSpPr>
          <p:nvPr/>
        </p:nvSpPr>
        <p:spPr bwMode="auto">
          <a:xfrm>
            <a:off x="2945965" y="3879005"/>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167" name="Rectangle 70">
            <a:extLst>
              <a:ext uri="{FF2B5EF4-FFF2-40B4-BE49-F238E27FC236}">
                <a16:creationId xmlns:a16="http://schemas.microsoft.com/office/drawing/2014/main" id="{B2590239-6AFD-6F52-311B-98382C0DCBA5}"/>
              </a:ext>
            </a:extLst>
          </p:cNvPr>
          <p:cNvSpPr>
            <a:spLocks noChangeArrowheads="1"/>
          </p:cNvSpPr>
          <p:nvPr/>
        </p:nvSpPr>
        <p:spPr bwMode="auto">
          <a:xfrm>
            <a:off x="3395969" y="3879005"/>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168" name="Rectangle 71">
            <a:extLst>
              <a:ext uri="{FF2B5EF4-FFF2-40B4-BE49-F238E27FC236}">
                <a16:creationId xmlns:a16="http://schemas.microsoft.com/office/drawing/2014/main" id="{2094911A-DA6B-95F5-ECFE-E2CE8BA964F7}"/>
              </a:ext>
            </a:extLst>
          </p:cNvPr>
          <p:cNvSpPr>
            <a:spLocks noChangeArrowheads="1"/>
          </p:cNvSpPr>
          <p:nvPr/>
        </p:nvSpPr>
        <p:spPr bwMode="auto">
          <a:xfrm>
            <a:off x="3845975" y="3879005"/>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X</a:t>
            </a:r>
          </a:p>
        </p:txBody>
      </p:sp>
      <p:sp>
        <p:nvSpPr>
          <p:cNvPr id="169" name="Rectangle 72">
            <a:extLst>
              <a:ext uri="{FF2B5EF4-FFF2-40B4-BE49-F238E27FC236}">
                <a16:creationId xmlns:a16="http://schemas.microsoft.com/office/drawing/2014/main" id="{637327DA-17A0-6653-1216-DD251D78DA4D}"/>
              </a:ext>
            </a:extLst>
          </p:cNvPr>
          <p:cNvSpPr>
            <a:spLocks noChangeArrowheads="1"/>
          </p:cNvSpPr>
          <p:nvPr/>
        </p:nvSpPr>
        <p:spPr bwMode="auto">
          <a:xfrm>
            <a:off x="4295980" y="3879005"/>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M</a:t>
            </a:r>
          </a:p>
        </p:txBody>
      </p:sp>
      <p:sp>
        <p:nvSpPr>
          <p:cNvPr id="170" name="Rectangle 69">
            <a:extLst>
              <a:ext uri="{FF2B5EF4-FFF2-40B4-BE49-F238E27FC236}">
                <a16:creationId xmlns:a16="http://schemas.microsoft.com/office/drawing/2014/main" id="{FD821E7D-8A24-191C-2896-311CCDC957FE}"/>
              </a:ext>
            </a:extLst>
          </p:cNvPr>
          <p:cNvSpPr>
            <a:spLocks noChangeArrowheads="1"/>
          </p:cNvSpPr>
          <p:nvPr/>
        </p:nvSpPr>
        <p:spPr bwMode="auto">
          <a:xfrm>
            <a:off x="3395971" y="4419011"/>
            <a:ext cx="450004"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171" name="Rectangle 70">
            <a:extLst>
              <a:ext uri="{FF2B5EF4-FFF2-40B4-BE49-F238E27FC236}">
                <a16:creationId xmlns:a16="http://schemas.microsoft.com/office/drawing/2014/main" id="{94A716C0-E9FB-B9F0-5B17-002DA45FE4E5}"/>
              </a:ext>
            </a:extLst>
          </p:cNvPr>
          <p:cNvSpPr>
            <a:spLocks noChangeArrowheads="1"/>
          </p:cNvSpPr>
          <p:nvPr/>
        </p:nvSpPr>
        <p:spPr bwMode="auto">
          <a:xfrm>
            <a:off x="3845975" y="4419011"/>
            <a:ext cx="450005"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172" name="Rectangle 71">
            <a:extLst>
              <a:ext uri="{FF2B5EF4-FFF2-40B4-BE49-F238E27FC236}">
                <a16:creationId xmlns:a16="http://schemas.microsoft.com/office/drawing/2014/main" id="{8D88348F-8BFD-D61F-28C6-E5FFAC6B1F9C}"/>
              </a:ext>
            </a:extLst>
          </p:cNvPr>
          <p:cNvSpPr>
            <a:spLocks noChangeArrowheads="1"/>
          </p:cNvSpPr>
          <p:nvPr/>
        </p:nvSpPr>
        <p:spPr bwMode="auto">
          <a:xfrm>
            <a:off x="4295981" y="4419011"/>
            <a:ext cx="450005" cy="179998"/>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X</a:t>
            </a:r>
          </a:p>
        </p:txBody>
      </p:sp>
      <p:sp>
        <p:nvSpPr>
          <p:cNvPr id="173" name="Rectangle 69">
            <a:extLst>
              <a:ext uri="{FF2B5EF4-FFF2-40B4-BE49-F238E27FC236}">
                <a16:creationId xmlns:a16="http://schemas.microsoft.com/office/drawing/2014/main" id="{28FDE560-1E9B-8F5D-DF2E-9745ED1D60AC}"/>
              </a:ext>
            </a:extLst>
          </p:cNvPr>
          <p:cNvSpPr>
            <a:spLocks noChangeArrowheads="1"/>
          </p:cNvSpPr>
          <p:nvPr/>
        </p:nvSpPr>
        <p:spPr bwMode="auto">
          <a:xfrm>
            <a:off x="3845975" y="4959017"/>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sp>
        <p:nvSpPr>
          <p:cNvPr id="174" name="Rectangle 70">
            <a:extLst>
              <a:ext uri="{FF2B5EF4-FFF2-40B4-BE49-F238E27FC236}">
                <a16:creationId xmlns:a16="http://schemas.microsoft.com/office/drawing/2014/main" id="{6BA07413-F363-C953-24A4-01DFEAB909CE}"/>
              </a:ext>
            </a:extLst>
          </p:cNvPr>
          <p:cNvSpPr>
            <a:spLocks noChangeArrowheads="1"/>
          </p:cNvSpPr>
          <p:nvPr/>
        </p:nvSpPr>
        <p:spPr bwMode="auto">
          <a:xfrm>
            <a:off x="4295979" y="4959017"/>
            <a:ext cx="450005"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D</a:t>
            </a:r>
          </a:p>
        </p:txBody>
      </p:sp>
      <p:sp>
        <p:nvSpPr>
          <p:cNvPr id="175" name="Rectangle 69">
            <a:extLst>
              <a:ext uri="{FF2B5EF4-FFF2-40B4-BE49-F238E27FC236}">
                <a16:creationId xmlns:a16="http://schemas.microsoft.com/office/drawing/2014/main" id="{62C9EACA-B076-E40E-DD09-CF93A5C99193}"/>
              </a:ext>
            </a:extLst>
          </p:cNvPr>
          <p:cNvSpPr>
            <a:spLocks noChangeArrowheads="1"/>
          </p:cNvSpPr>
          <p:nvPr/>
        </p:nvSpPr>
        <p:spPr bwMode="auto">
          <a:xfrm>
            <a:off x="4295980" y="5499023"/>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F</a:t>
            </a:r>
          </a:p>
        </p:txBody>
      </p:sp>
      <p:grpSp>
        <p:nvGrpSpPr>
          <p:cNvPr id="176" name="グループ化 175">
            <a:extLst>
              <a:ext uri="{FF2B5EF4-FFF2-40B4-BE49-F238E27FC236}">
                <a16:creationId xmlns:a16="http://schemas.microsoft.com/office/drawing/2014/main" id="{F2AB8E9F-53D6-171F-AAFD-F31E1C2CFDE1}"/>
              </a:ext>
            </a:extLst>
          </p:cNvPr>
          <p:cNvGrpSpPr/>
          <p:nvPr/>
        </p:nvGrpSpPr>
        <p:grpSpPr>
          <a:xfrm>
            <a:off x="4745987" y="5769026"/>
            <a:ext cx="2250023" cy="180002"/>
            <a:chOff x="971961" y="1088974"/>
            <a:chExt cx="2250023" cy="180002"/>
          </a:xfrm>
        </p:grpSpPr>
        <p:sp>
          <p:nvSpPr>
            <p:cNvPr id="177" name="Rectangle 69">
              <a:extLst>
                <a:ext uri="{FF2B5EF4-FFF2-40B4-BE49-F238E27FC236}">
                  <a16:creationId xmlns:a16="http://schemas.microsoft.com/office/drawing/2014/main" id="{22821331-EDCC-8C40-EF38-AAF53F1B7D7B}"/>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78" name="Rectangle 70">
              <a:extLst>
                <a:ext uri="{FF2B5EF4-FFF2-40B4-BE49-F238E27FC236}">
                  <a16:creationId xmlns:a16="http://schemas.microsoft.com/office/drawing/2014/main" id="{66D5654A-C069-3789-4DD3-92D3D819A791}"/>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79" name="Rectangle 71">
              <a:extLst>
                <a:ext uri="{FF2B5EF4-FFF2-40B4-BE49-F238E27FC236}">
                  <a16:creationId xmlns:a16="http://schemas.microsoft.com/office/drawing/2014/main" id="{75CF4DB4-2197-9940-F5FC-ECE4EE1F1A6B}"/>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80" name="Rectangle 72">
              <a:extLst>
                <a:ext uri="{FF2B5EF4-FFF2-40B4-BE49-F238E27FC236}">
                  <a16:creationId xmlns:a16="http://schemas.microsoft.com/office/drawing/2014/main" id="{5CDE8CF2-4D8D-01F2-4FCB-23FA991E4E1B}"/>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81" name="Rectangle 73">
              <a:extLst>
                <a:ext uri="{FF2B5EF4-FFF2-40B4-BE49-F238E27FC236}">
                  <a16:creationId xmlns:a16="http://schemas.microsoft.com/office/drawing/2014/main" id="{6861BBF7-0223-742C-587B-88BF3506AD3F}"/>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82" name="グループ化 181">
            <a:extLst>
              <a:ext uri="{FF2B5EF4-FFF2-40B4-BE49-F238E27FC236}">
                <a16:creationId xmlns:a16="http://schemas.microsoft.com/office/drawing/2014/main" id="{78BB2E81-C4A1-16D3-144D-2510F2EDD13A}"/>
              </a:ext>
            </a:extLst>
          </p:cNvPr>
          <p:cNvGrpSpPr/>
          <p:nvPr/>
        </p:nvGrpSpPr>
        <p:grpSpPr>
          <a:xfrm>
            <a:off x="4745986" y="6039029"/>
            <a:ext cx="2250023" cy="180002"/>
            <a:chOff x="971961" y="1088974"/>
            <a:chExt cx="2250023" cy="180002"/>
          </a:xfrm>
        </p:grpSpPr>
        <p:sp>
          <p:nvSpPr>
            <p:cNvPr id="183" name="Rectangle 69">
              <a:extLst>
                <a:ext uri="{FF2B5EF4-FFF2-40B4-BE49-F238E27FC236}">
                  <a16:creationId xmlns:a16="http://schemas.microsoft.com/office/drawing/2014/main" id="{E372DD37-53D1-C2F4-0C1D-A73C4B517603}"/>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84" name="Rectangle 70">
              <a:extLst>
                <a:ext uri="{FF2B5EF4-FFF2-40B4-BE49-F238E27FC236}">
                  <a16:creationId xmlns:a16="http://schemas.microsoft.com/office/drawing/2014/main" id="{9A6A0B71-643E-6752-FEB2-901E8CE3F1DE}"/>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85" name="Rectangle 71">
              <a:extLst>
                <a:ext uri="{FF2B5EF4-FFF2-40B4-BE49-F238E27FC236}">
                  <a16:creationId xmlns:a16="http://schemas.microsoft.com/office/drawing/2014/main" id="{8660B713-55DE-75AB-3810-0CF6BAF844BC}"/>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86" name="Rectangle 72">
              <a:extLst>
                <a:ext uri="{FF2B5EF4-FFF2-40B4-BE49-F238E27FC236}">
                  <a16:creationId xmlns:a16="http://schemas.microsoft.com/office/drawing/2014/main" id="{1C0856E3-75EB-9168-B1E7-AE8F36B55524}"/>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87" name="Rectangle 73">
              <a:extLst>
                <a:ext uri="{FF2B5EF4-FFF2-40B4-BE49-F238E27FC236}">
                  <a16:creationId xmlns:a16="http://schemas.microsoft.com/office/drawing/2014/main" id="{C92786F8-C1D9-7D9A-A43C-17B41102931E}"/>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88" name="グループ化 187">
            <a:extLst>
              <a:ext uri="{FF2B5EF4-FFF2-40B4-BE49-F238E27FC236}">
                <a16:creationId xmlns:a16="http://schemas.microsoft.com/office/drawing/2014/main" id="{17CD7CE4-7DF3-AA4E-B1FC-1C37D4A81746}"/>
              </a:ext>
            </a:extLst>
          </p:cNvPr>
          <p:cNvGrpSpPr/>
          <p:nvPr/>
        </p:nvGrpSpPr>
        <p:grpSpPr>
          <a:xfrm>
            <a:off x="5195992" y="6309032"/>
            <a:ext cx="2250023" cy="180002"/>
            <a:chOff x="971961" y="1088974"/>
            <a:chExt cx="2250023" cy="180002"/>
          </a:xfrm>
        </p:grpSpPr>
        <p:sp>
          <p:nvSpPr>
            <p:cNvPr id="189" name="Rectangle 69">
              <a:extLst>
                <a:ext uri="{FF2B5EF4-FFF2-40B4-BE49-F238E27FC236}">
                  <a16:creationId xmlns:a16="http://schemas.microsoft.com/office/drawing/2014/main" id="{5DB371E4-3AF0-453E-51D5-A4D2400FB796}"/>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90" name="Rectangle 70">
              <a:extLst>
                <a:ext uri="{FF2B5EF4-FFF2-40B4-BE49-F238E27FC236}">
                  <a16:creationId xmlns:a16="http://schemas.microsoft.com/office/drawing/2014/main" id="{D9A75F0C-FD03-038F-252C-41EECF67467A}"/>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91" name="Rectangle 71">
              <a:extLst>
                <a:ext uri="{FF2B5EF4-FFF2-40B4-BE49-F238E27FC236}">
                  <a16:creationId xmlns:a16="http://schemas.microsoft.com/office/drawing/2014/main" id="{01D769CD-7C3B-3461-F6B1-552422C71DFB}"/>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92" name="Rectangle 72">
              <a:extLst>
                <a:ext uri="{FF2B5EF4-FFF2-40B4-BE49-F238E27FC236}">
                  <a16:creationId xmlns:a16="http://schemas.microsoft.com/office/drawing/2014/main" id="{2310AEBE-33FD-8017-6C63-011F0B5E12DC}"/>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93" name="Rectangle 73">
              <a:extLst>
                <a:ext uri="{FF2B5EF4-FFF2-40B4-BE49-F238E27FC236}">
                  <a16:creationId xmlns:a16="http://schemas.microsoft.com/office/drawing/2014/main" id="{FF98468D-4309-4F69-872D-D24180DCDBFF}"/>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94" name="グループ化 193">
            <a:extLst>
              <a:ext uri="{FF2B5EF4-FFF2-40B4-BE49-F238E27FC236}">
                <a16:creationId xmlns:a16="http://schemas.microsoft.com/office/drawing/2014/main" id="{A75BF7A2-C1AC-C403-CE8E-CD2A87902261}"/>
              </a:ext>
            </a:extLst>
          </p:cNvPr>
          <p:cNvGrpSpPr/>
          <p:nvPr/>
        </p:nvGrpSpPr>
        <p:grpSpPr>
          <a:xfrm>
            <a:off x="5195991" y="6579035"/>
            <a:ext cx="2250023" cy="180002"/>
            <a:chOff x="971961" y="1088974"/>
            <a:chExt cx="2250023" cy="180002"/>
          </a:xfrm>
        </p:grpSpPr>
        <p:sp>
          <p:nvSpPr>
            <p:cNvPr id="195" name="Rectangle 69">
              <a:extLst>
                <a:ext uri="{FF2B5EF4-FFF2-40B4-BE49-F238E27FC236}">
                  <a16:creationId xmlns:a16="http://schemas.microsoft.com/office/drawing/2014/main" id="{09B354E7-9B2E-30CB-6215-01CD416581B0}"/>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96" name="Rectangle 70">
              <a:extLst>
                <a:ext uri="{FF2B5EF4-FFF2-40B4-BE49-F238E27FC236}">
                  <a16:creationId xmlns:a16="http://schemas.microsoft.com/office/drawing/2014/main" id="{73902641-B8D6-93D9-B07A-659A81947660}"/>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97" name="Rectangle 71">
              <a:extLst>
                <a:ext uri="{FF2B5EF4-FFF2-40B4-BE49-F238E27FC236}">
                  <a16:creationId xmlns:a16="http://schemas.microsoft.com/office/drawing/2014/main" id="{99FF6F8F-C9D9-56F4-0B03-72F6C38161A0}"/>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98" name="Rectangle 72">
              <a:extLst>
                <a:ext uri="{FF2B5EF4-FFF2-40B4-BE49-F238E27FC236}">
                  <a16:creationId xmlns:a16="http://schemas.microsoft.com/office/drawing/2014/main" id="{43E137DE-C423-3FFF-BD75-275E129F89E8}"/>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99" name="Rectangle 73">
              <a:extLst>
                <a:ext uri="{FF2B5EF4-FFF2-40B4-BE49-F238E27FC236}">
                  <a16:creationId xmlns:a16="http://schemas.microsoft.com/office/drawing/2014/main" id="{86F46255-D516-6C0F-F0E1-2E039865C494}"/>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sp>
        <p:nvSpPr>
          <p:cNvPr id="202" name="正方形/長方形 201">
            <a:extLst>
              <a:ext uri="{FF2B5EF4-FFF2-40B4-BE49-F238E27FC236}">
                <a16:creationId xmlns:a16="http://schemas.microsoft.com/office/drawing/2014/main" id="{8A92B3E9-727B-9CF9-49AC-5B67A59294C9}"/>
              </a:ext>
            </a:extLst>
          </p:cNvPr>
          <p:cNvSpPr/>
          <p:nvPr/>
        </p:nvSpPr>
        <p:spPr>
          <a:xfrm>
            <a:off x="1955955" y="908973"/>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I0</a:t>
            </a:r>
            <a:endParaRPr lang="ja-JP" altLang="en-US" sz="1400" dirty="0">
              <a:solidFill>
                <a:schemeClr val="tx1">
                  <a:lumMod val="65000"/>
                  <a:lumOff val="35000"/>
                </a:schemeClr>
              </a:solidFill>
              <a:latin typeface="Consolas" panose="020B0609020204030204" pitchFamily="49" charset="0"/>
            </a:endParaRPr>
          </a:p>
        </p:txBody>
      </p:sp>
      <p:sp>
        <p:nvSpPr>
          <p:cNvPr id="203" name="正方形/長方形 202">
            <a:extLst>
              <a:ext uri="{FF2B5EF4-FFF2-40B4-BE49-F238E27FC236}">
                <a16:creationId xmlns:a16="http://schemas.microsoft.com/office/drawing/2014/main" id="{4E3AC2DE-A188-F618-5832-137BB805C1EA}"/>
              </a:ext>
            </a:extLst>
          </p:cNvPr>
          <p:cNvSpPr/>
          <p:nvPr/>
        </p:nvSpPr>
        <p:spPr>
          <a:xfrm>
            <a:off x="1955955" y="1178976"/>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I1</a:t>
            </a:r>
            <a:endParaRPr lang="ja-JP" altLang="en-US" sz="1400" dirty="0">
              <a:solidFill>
                <a:schemeClr val="tx1">
                  <a:lumMod val="65000"/>
                  <a:lumOff val="35000"/>
                </a:schemeClr>
              </a:solidFill>
              <a:latin typeface="Consolas" panose="020B0609020204030204" pitchFamily="49" charset="0"/>
            </a:endParaRPr>
          </a:p>
        </p:txBody>
      </p:sp>
      <p:sp>
        <p:nvSpPr>
          <p:cNvPr id="204" name="正方形/長方形 203">
            <a:extLst>
              <a:ext uri="{FF2B5EF4-FFF2-40B4-BE49-F238E27FC236}">
                <a16:creationId xmlns:a16="http://schemas.microsoft.com/office/drawing/2014/main" id="{AFA7AF7D-130C-7543-787D-94B51C301B1A}"/>
              </a:ext>
            </a:extLst>
          </p:cNvPr>
          <p:cNvSpPr/>
          <p:nvPr/>
        </p:nvSpPr>
        <p:spPr>
          <a:xfrm>
            <a:off x="1955955" y="1448979"/>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I2</a:t>
            </a:r>
            <a:endParaRPr lang="ja-JP" altLang="en-US" sz="1400" dirty="0">
              <a:solidFill>
                <a:schemeClr val="tx1">
                  <a:lumMod val="65000"/>
                  <a:lumOff val="35000"/>
                </a:schemeClr>
              </a:solidFill>
              <a:latin typeface="Consolas" panose="020B0609020204030204" pitchFamily="49" charset="0"/>
            </a:endParaRPr>
          </a:p>
        </p:txBody>
      </p:sp>
      <p:sp>
        <p:nvSpPr>
          <p:cNvPr id="205" name="正方形/長方形 204">
            <a:extLst>
              <a:ext uri="{FF2B5EF4-FFF2-40B4-BE49-F238E27FC236}">
                <a16:creationId xmlns:a16="http://schemas.microsoft.com/office/drawing/2014/main" id="{BEFA14A6-65F9-0953-DDE8-E9C260EB6749}"/>
              </a:ext>
            </a:extLst>
          </p:cNvPr>
          <p:cNvSpPr/>
          <p:nvPr/>
        </p:nvSpPr>
        <p:spPr>
          <a:xfrm>
            <a:off x="1955955" y="1718982"/>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I3</a:t>
            </a:r>
            <a:endParaRPr lang="ja-JP" altLang="en-US" sz="1400" dirty="0">
              <a:solidFill>
                <a:schemeClr val="tx1">
                  <a:lumMod val="65000"/>
                  <a:lumOff val="35000"/>
                </a:schemeClr>
              </a:solidFill>
              <a:latin typeface="Consolas" panose="020B0609020204030204" pitchFamily="49" charset="0"/>
            </a:endParaRPr>
          </a:p>
        </p:txBody>
      </p:sp>
      <p:sp>
        <p:nvSpPr>
          <p:cNvPr id="206" name="正方形/長方形 205">
            <a:extLst>
              <a:ext uri="{FF2B5EF4-FFF2-40B4-BE49-F238E27FC236}">
                <a16:creationId xmlns:a16="http://schemas.microsoft.com/office/drawing/2014/main" id="{F7CDA43B-6DAE-D1F7-56B6-414B83F37AA3}"/>
              </a:ext>
            </a:extLst>
          </p:cNvPr>
          <p:cNvSpPr/>
          <p:nvPr/>
        </p:nvSpPr>
        <p:spPr>
          <a:xfrm>
            <a:off x="1955955" y="1988985"/>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I4</a:t>
            </a:r>
            <a:endParaRPr lang="ja-JP" altLang="en-US" sz="1400" dirty="0">
              <a:solidFill>
                <a:schemeClr val="tx1">
                  <a:lumMod val="65000"/>
                  <a:lumOff val="35000"/>
                </a:schemeClr>
              </a:solidFill>
              <a:latin typeface="Consolas" panose="020B0609020204030204" pitchFamily="49" charset="0"/>
            </a:endParaRPr>
          </a:p>
        </p:txBody>
      </p:sp>
      <p:sp>
        <p:nvSpPr>
          <p:cNvPr id="207" name="正方形/長方形 206">
            <a:extLst>
              <a:ext uri="{FF2B5EF4-FFF2-40B4-BE49-F238E27FC236}">
                <a16:creationId xmlns:a16="http://schemas.microsoft.com/office/drawing/2014/main" id="{A42192FF-2DBE-2778-773E-7CE671B5A7F2}"/>
              </a:ext>
            </a:extLst>
          </p:cNvPr>
          <p:cNvSpPr/>
          <p:nvPr/>
        </p:nvSpPr>
        <p:spPr>
          <a:xfrm>
            <a:off x="1955955" y="2258988"/>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I5</a:t>
            </a:r>
            <a:endParaRPr lang="ja-JP" altLang="en-US" sz="1400" dirty="0">
              <a:solidFill>
                <a:schemeClr val="tx1">
                  <a:lumMod val="65000"/>
                  <a:lumOff val="35000"/>
                </a:schemeClr>
              </a:solidFill>
              <a:latin typeface="Consolas" panose="020B0609020204030204" pitchFamily="49" charset="0"/>
            </a:endParaRPr>
          </a:p>
        </p:txBody>
      </p:sp>
      <p:sp>
        <p:nvSpPr>
          <p:cNvPr id="208" name="正方形/長方形 207">
            <a:extLst>
              <a:ext uri="{FF2B5EF4-FFF2-40B4-BE49-F238E27FC236}">
                <a16:creationId xmlns:a16="http://schemas.microsoft.com/office/drawing/2014/main" id="{6B0AABDA-871B-1BEE-71B8-8BC3CB984E7F}"/>
              </a:ext>
            </a:extLst>
          </p:cNvPr>
          <p:cNvSpPr/>
          <p:nvPr/>
        </p:nvSpPr>
        <p:spPr>
          <a:xfrm>
            <a:off x="1955955" y="2978996"/>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I0</a:t>
            </a:r>
            <a:endParaRPr lang="ja-JP" altLang="en-US" sz="1400" dirty="0">
              <a:solidFill>
                <a:schemeClr val="tx1">
                  <a:lumMod val="65000"/>
                  <a:lumOff val="35000"/>
                </a:schemeClr>
              </a:solidFill>
              <a:latin typeface="Consolas" panose="020B0609020204030204" pitchFamily="49" charset="0"/>
            </a:endParaRPr>
          </a:p>
        </p:txBody>
      </p:sp>
      <p:sp>
        <p:nvSpPr>
          <p:cNvPr id="209" name="正方形/長方形 208">
            <a:extLst>
              <a:ext uri="{FF2B5EF4-FFF2-40B4-BE49-F238E27FC236}">
                <a16:creationId xmlns:a16="http://schemas.microsoft.com/office/drawing/2014/main" id="{64BE4FBF-08E1-7DC3-4974-1C2DF1744B3B}"/>
              </a:ext>
            </a:extLst>
          </p:cNvPr>
          <p:cNvSpPr/>
          <p:nvPr/>
        </p:nvSpPr>
        <p:spPr>
          <a:xfrm>
            <a:off x="1955955" y="3248999"/>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I1</a:t>
            </a:r>
            <a:endParaRPr lang="ja-JP" altLang="en-US" sz="1400" dirty="0">
              <a:solidFill>
                <a:schemeClr val="tx1">
                  <a:lumMod val="65000"/>
                  <a:lumOff val="35000"/>
                </a:schemeClr>
              </a:solidFill>
              <a:latin typeface="Consolas" panose="020B0609020204030204" pitchFamily="49" charset="0"/>
            </a:endParaRPr>
          </a:p>
        </p:txBody>
      </p:sp>
      <p:sp>
        <p:nvSpPr>
          <p:cNvPr id="210" name="正方形/長方形 209">
            <a:extLst>
              <a:ext uri="{FF2B5EF4-FFF2-40B4-BE49-F238E27FC236}">
                <a16:creationId xmlns:a16="http://schemas.microsoft.com/office/drawing/2014/main" id="{E07A42F9-1CDE-08B0-D8AC-0A4FAC5A2230}"/>
              </a:ext>
            </a:extLst>
          </p:cNvPr>
          <p:cNvSpPr/>
          <p:nvPr/>
        </p:nvSpPr>
        <p:spPr>
          <a:xfrm>
            <a:off x="2045956" y="5679026"/>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I2</a:t>
            </a:r>
            <a:endParaRPr lang="ja-JP" altLang="en-US" sz="1400" dirty="0">
              <a:solidFill>
                <a:schemeClr val="tx1">
                  <a:lumMod val="65000"/>
                  <a:lumOff val="35000"/>
                </a:schemeClr>
              </a:solidFill>
              <a:latin typeface="Consolas" panose="020B0609020204030204" pitchFamily="49" charset="0"/>
            </a:endParaRPr>
          </a:p>
        </p:txBody>
      </p:sp>
      <p:sp>
        <p:nvSpPr>
          <p:cNvPr id="211" name="正方形/長方形 210">
            <a:extLst>
              <a:ext uri="{FF2B5EF4-FFF2-40B4-BE49-F238E27FC236}">
                <a16:creationId xmlns:a16="http://schemas.microsoft.com/office/drawing/2014/main" id="{AF8D2CD2-2885-3972-12B6-2A08FD050F1E}"/>
              </a:ext>
            </a:extLst>
          </p:cNvPr>
          <p:cNvSpPr/>
          <p:nvPr/>
        </p:nvSpPr>
        <p:spPr>
          <a:xfrm>
            <a:off x="2045956" y="5949029"/>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I3</a:t>
            </a:r>
            <a:endParaRPr lang="ja-JP" altLang="en-US" sz="1400" dirty="0">
              <a:solidFill>
                <a:schemeClr val="tx1">
                  <a:lumMod val="65000"/>
                  <a:lumOff val="35000"/>
                </a:schemeClr>
              </a:solidFill>
              <a:latin typeface="Consolas" panose="020B0609020204030204" pitchFamily="49" charset="0"/>
            </a:endParaRPr>
          </a:p>
        </p:txBody>
      </p:sp>
      <p:sp>
        <p:nvSpPr>
          <p:cNvPr id="212" name="正方形/長方形 211">
            <a:extLst>
              <a:ext uri="{FF2B5EF4-FFF2-40B4-BE49-F238E27FC236}">
                <a16:creationId xmlns:a16="http://schemas.microsoft.com/office/drawing/2014/main" id="{95994507-86FE-26CE-A37D-2BFB81A2BA21}"/>
              </a:ext>
            </a:extLst>
          </p:cNvPr>
          <p:cNvSpPr/>
          <p:nvPr/>
        </p:nvSpPr>
        <p:spPr>
          <a:xfrm>
            <a:off x="2045956" y="6219032"/>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I4</a:t>
            </a:r>
            <a:endParaRPr lang="ja-JP" altLang="en-US" sz="1400" dirty="0">
              <a:solidFill>
                <a:schemeClr val="tx1">
                  <a:lumMod val="65000"/>
                  <a:lumOff val="35000"/>
                </a:schemeClr>
              </a:solidFill>
              <a:latin typeface="Consolas" panose="020B0609020204030204" pitchFamily="49" charset="0"/>
            </a:endParaRPr>
          </a:p>
        </p:txBody>
      </p:sp>
      <p:sp>
        <p:nvSpPr>
          <p:cNvPr id="213" name="正方形/長方形 212">
            <a:extLst>
              <a:ext uri="{FF2B5EF4-FFF2-40B4-BE49-F238E27FC236}">
                <a16:creationId xmlns:a16="http://schemas.microsoft.com/office/drawing/2014/main" id="{217EEC53-076D-5C2C-D16B-DBE6C3229703}"/>
              </a:ext>
            </a:extLst>
          </p:cNvPr>
          <p:cNvSpPr/>
          <p:nvPr/>
        </p:nvSpPr>
        <p:spPr>
          <a:xfrm>
            <a:off x="2045956" y="6489035"/>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I5</a:t>
            </a:r>
            <a:endParaRPr lang="ja-JP" altLang="en-US" sz="1400" dirty="0">
              <a:solidFill>
                <a:schemeClr val="tx1">
                  <a:lumMod val="65000"/>
                  <a:lumOff val="35000"/>
                </a:schemeClr>
              </a:solidFill>
              <a:latin typeface="Consolas" panose="020B0609020204030204" pitchFamily="49" charset="0"/>
            </a:endParaRPr>
          </a:p>
        </p:txBody>
      </p:sp>
    </p:spTree>
    <p:extLst>
      <p:ext uri="{BB962C8B-B14F-4D97-AF65-F5344CB8AC3E}">
        <p14:creationId xmlns:p14="http://schemas.microsoft.com/office/powerpoint/2010/main" val="32723131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分岐予測ミスによる実行サイクルの増加のモデル</a:t>
            </a:r>
            <a:endParaRPr kumimoji="1" lang="en-US" dirty="0"/>
          </a:p>
        </p:txBody>
      </p:sp>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p:txBody>
          <a:bodyPr/>
          <a:lstStyle/>
          <a:p>
            <a:r>
              <a:rPr kumimoji="1" lang="ja-JP" altLang="en-US" dirty="0"/>
              <a:t>まとめると･･･</a:t>
            </a:r>
            <a:endParaRPr kumimoji="1" lang="en-US" altLang="ja-JP" dirty="0"/>
          </a:p>
          <a:p>
            <a:pPr lvl="1"/>
            <a:r>
              <a:rPr kumimoji="1" lang="ja-JP" altLang="en-US" dirty="0">
                <a:solidFill>
                  <a:schemeClr val="accent5"/>
                </a:solidFill>
              </a:rPr>
              <a:t>予測ミス毎に，実行サイクル数がペナルティの分だけ伸びる</a:t>
            </a:r>
            <a:endParaRPr kumimoji="1" lang="en-US" altLang="ja-JP" dirty="0">
              <a:solidFill>
                <a:schemeClr val="accent5"/>
              </a:solidFill>
            </a:endParaRPr>
          </a:p>
          <a:p>
            <a:pPr lvl="2"/>
            <a:r>
              <a:rPr kumimoji="1" lang="ja-JP" altLang="en-US" dirty="0"/>
              <a:t>ペナルティは（パイプライン段数 </a:t>
            </a:r>
            <a:r>
              <a:rPr kumimoji="1" lang="en-US" altLang="ja-JP" dirty="0"/>
              <a:t>– 1</a:t>
            </a:r>
            <a:r>
              <a:rPr kumimoji="1" lang="ja-JP" altLang="en-US" dirty="0"/>
              <a:t>）サイクル</a:t>
            </a:r>
            <a:endParaRPr kumimoji="1" lang="en-US" altLang="ja-JP" dirty="0"/>
          </a:p>
          <a:p>
            <a:pPr lvl="2"/>
            <a:r>
              <a:rPr kumimoji="1" lang="ja-JP" altLang="en-US" dirty="0"/>
              <a:t>スカラでもスーパスカラでも同じ</a:t>
            </a:r>
            <a:endParaRPr kumimoji="1" lang="en-US" dirty="0"/>
          </a:p>
        </p:txBody>
      </p:sp>
    </p:spTree>
    <p:extLst>
      <p:ext uri="{BB962C8B-B14F-4D97-AF65-F5344CB8AC3E}">
        <p14:creationId xmlns:p14="http://schemas.microsoft.com/office/powerpoint/2010/main" val="40040871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DF8F5-B166-84F8-727E-88F2D154DDC3}"/>
              </a:ext>
            </a:extLst>
          </p:cNvPr>
          <p:cNvSpPr>
            <a:spLocks noGrp="1"/>
          </p:cNvSpPr>
          <p:nvPr>
            <p:ph type="title"/>
          </p:nvPr>
        </p:nvSpPr>
        <p:spPr/>
        <p:txBody>
          <a:bodyPr/>
          <a:lstStyle/>
          <a:p>
            <a:r>
              <a:rPr lang="ja-JP" altLang="en-US" sz="2000" dirty="0"/>
              <a:t>ペナルティは（パイプライン段数 </a:t>
            </a:r>
            <a:r>
              <a:rPr lang="en-US" altLang="ja-JP" sz="2000" dirty="0"/>
              <a:t>– 1</a:t>
            </a:r>
            <a:r>
              <a:rPr lang="ja-JP" altLang="en-US" sz="2000" dirty="0"/>
              <a:t>）サイクル</a:t>
            </a:r>
            <a:br>
              <a:rPr lang="en-US" altLang="ja-JP" sz="2000" dirty="0"/>
            </a:br>
            <a:r>
              <a:rPr lang="ja-JP" altLang="en-US" sz="2000" dirty="0"/>
              <a:t>取り消される命令数は増えるが，時間は同じ</a:t>
            </a:r>
            <a:endParaRPr lang="en-US" sz="2000" dirty="0"/>
          </a:p>
        </p:txBody>
      </p:sp>
      <p:sp>
        <p:nvSpPr>
          <p:cNvPr id="6" name="平行四辺形 5">
            <a:extLst>
              <a:ext uri="{FF2B5EF4-FFF2-40B4-BE49-F238E27FC236}">
                <a16:creationId xmlns:a16="http://schemas.microsoft.com/office/drawing/2014/main" id="{924A0410-E82C-0C3E-5D17-009BF319D2DA}"/>
              </a:ext>
            </a:extLst>
          </p:cNvPr>
          <p:cNvSpPr/>
          <p:nvPr/>
        </p:nvSpPr>
        <p:spPr bwMode="auto">
          <a:xfrm>
            <a:off x="1685951" y="216898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F3F9C887-A1F6-5400-D621-B89E230B60DC}"/>
              </a:ext>
            </a:extLst>
          </p:cNvPr>
          <p:cNvSpPr/>
          <p:nvPr/>
        </p:nvSpPr>
        <p:spPr bwMode="auto">
          <a:xfrm>
            <a:off x="3126111" y="2168986"/>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2" name="平行四辺形 11">
            <a:extLst>
              <a:ext uri="{FF2B5EF4-FFF2-40B4-BE49-F238E27FC236}">
                <a16:creationId xmlns:a16="http://schemas.microsoft.com/office/drawing/2014/main" id="{749A4345-BE4C-48B8-1C25-D053078D38F1}"/>
              </a:ext>
            </a:extLst>
          </p:cNvPr>
          <p:cNvSpPr/>
          <p:nvPr/>
        </p:nvSpPr>
        <p:spPr bwMode="auto">
          <a:xfrm>
            <a:off x="4566271" y="216898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6" name="正方形/長方形 15">
            <a:extLst>
              <a:ext uri="{FF2B5EF4-FFF2-40B4-BE49-F238E27FC236}">
                <a16:creationId xmlns:a16="http://schemas.microsoft.com/office/drawing/2014/main" id="{6ED1F96C-52BF-AD99-74CE-13E0B4D5E90A}"/>
              </a:ext>
            </a:extLst>
          </p:cNvPr>
          <p:cNvSpPr/>
          <p:nvPr/>
        </p:nvSpPr>
        <p:spPr>
          <a:xfrm>
            <a:off x="2135956" y="1268976"/>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
        <p:nvSpPr>
          <p:cNvPr id="19" name="正方形/長方形 18">
            <a:extLst>
              <a:ext uri="{FF2B5EF4-FFF2-40B4-BE49-F238E27FC236}">
                <a16:creationId xmlns:a16="http://schemas.microsoft.com/office/drawing/2014/main" id="{08644A07-6BA2-3F97-1CBE-EC276B367423}"/>
              </a:ext>
            </a:extLst>
          </p:cNvPr>
          <p:cNvSpPr/>
          <p:nvPr/>
        </p:nvSpPr>
        <p:spPr>
          <a:xfrm>
            <a:off x="7896021" y="1268976"/>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角丸四角形 23">
            <a:extLst>
              <a:ext uri="{FF2B5EF4-FFF2-40B4-BE49-F238E27FC236}">
                <a16:creationId xmlns:a16="http://schemas.microsoft.com/office/drawing/2014/main" id="{16DF9B34-629E-FC8F-A73C-B3E291C266B6}"/>
              </a:ext>
            </a:extLst>
          </p:cNvPr>
          <p:cNvSpPr/>
          <p:nvPr/>
        </p:nvSpPr>
        <p:spPr bwMode="auto">
          <a:xfrm>
            <a:off x="5105989" y="1988984"/>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6" name="角丸四角形吹き出し 26">
            <a:extLst>
              <a:ext uri="{FF2B5EF4-FFF2-40B4-BE49-F238E27FC236}">
                <a16:creationId xmlns:a16="http://schemas.microsoft.com/office/drawing/2014/main" id="{E5C149EB-9555-8015-692A-837036F80A4F}"/>
              </a:ext>
            </a:extLst>
          </p:cNvPr>
          <p:cNvSpPr/>
          <p:nvPr/>
        </p:nvSpPr>
        <p:spPr bwMode="auto">
          <a:xfrm>
            <a:off x="8507976" y="728970"/>
            <a:ext cx="1980022" cy="612648"/>
          </a:xfrm>
          <a:prstGeom prst="wedgeRoundRectCallout">
            <a:avLst>
              <a:gd name="adj1" fmla="val -42160"/>
              <a:gd name="adj2" fmla="val 92539"/>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間違っとるが</a:t>
            </a:r>
            <a:r>
              <a:rPr lang="ja-JP" altLang="en-US" dirty="0" err="1">
                <a:solidFill>
                  <a:schemeClr val="tx1">
                    <a:lumMod val="65000"/>
                    <a:lumOff val="35000"/>
                  </a:schemeClr>
                </a:solidFill>
                <a:latin typeface="Arial Narrow" panose="020B0606020202030204" pitchFamily="34" charset="0"/>
              </a:rPr>
              <a:t>な</a:t>
            </a:r>
            <a:endParaRPr lang="ja-JP" altLang="en-US" dirty="0">
              <a:solidFill>
                <a:schemeClr val="tx1">
                  <a:lumMod val="65000"/>
                  <a:lumOff val="35000"/>
                </a:schemeClr>
              </a:solidFill>
              <a:latin typeface="Arial Narrow" panose="020B0606020202030204" pitchFamily="34" charset="0"/>
            </a:endParaRPr>
          </a:p>
        </p:txBody>
      </p:sp>
      <p:sp>
        <p:nvSpPr>
          <p:cNvPr id="27" name="角丸四角形 27">
            <a:extLst>
              <a:ext uri="{FF2B5EF4-FFF2-40B4-BE49-F238E27FC236}">
                <a16:creationId xmlns:a16="http://schemas.microsoft.com/office/drawing/2014/main" id="{ABF75782-6CD1-727C-25AF-F709C7728C91}"/>
              </a:ext>
            </a:extLst>
          </p:cNvPr>
          <p:cNvSpPr/>
          <p:nvPr/>
        </p:nvSpPr>
        <p:spPr bwMode="auto">
          <a:xfrm>
            <a:off x="3755975" y="1988984"/>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8" name="角丸四角形 28">
            <a:extLst>
              <a:ext uri="{FF2B5EF4-FFF2-40B4-BE49-F238E27FC236}">
                <a16:creationId xmlns:a16="http://schemas.microsoft.com/office/drawing/2014/main" id="{25891D38-133B-1A48-C38D-F0D14D69CD32}"/>
              </a:ext>
            </a:extLst>
          </p:cNvPr>
          <p:cNvSpPr/>
          <p:nvPr/>
        </p:nvSpPr>
        <p:spPr bwMode="auto">
          <a:xfrm>
            <a:off x="2315958" y="1988984"/>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1" name="平行四辺形 30">
            <a:extLst>
              <a:ext uri="{FF2B5EF4-FFF2-40B4-BE49-F238E27FC236}">
                <a16:creationId xmlns:a16="http://schemas.microsoft.com/office/drawing/2014/main" id="{A0D2B890-3FBD-6740-6EA3-487C95E1B8E8}"/>
              </a:ext>
            </a:extLst>
          </p:cNvPr>
          <p:cNvSpPr/>
          <p:nvPr/>
        </p:nvSpPr>
        <p:spPr bwMode="auto">
          <a:xfrm>
            <a:off x="6005999" y="2168986"/>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5" name="平行四辺形 14">
            <a:extLst>
              <a:ext uri="{FF2B5EF4-FFF2-40B4-BE49-F238E27FC236}">
                <a16:creationId xmlns:a16="http://schemas.microsoft.com/office/drawing/2014/main" id="{B77396CE-B31F-1D85-9D61-3710D94E5E05}"/>
              </a:ext>
            </a:extLst>
          </p:cNvPr>
          <p:cNvSpPr/>
          <p:nvPr/>
        </p:nvSpPr>
        <p:spPr bwMode="auto">
          <a:xfrm>
            <a:off x="7446015" y="2168986"/>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2" name="角丸四角形 23">
            <a:extLst>
              <a:ext uri="{FF2B5EF4-FFF2-40B4-BE49-F238E27FC236}">
                <a16:creationId xmlns:a16="http://schemas.microsoft.com/office/drawing/2014/main" id="{B993F76D-9173-9CC4-065B-44844839F8B0}"/>
              </a:ext>
            </a:extLst>
          </p:cNvPr>
          <p:cNvSpPr/>
          <p:nvPr/>
        </p:nvSpPr>
        <p:spPr bwMode="auto">
          <a:xfrm>
            <a:off x="6546005" y="1988984"/>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8" name="角丸四角形 89">
            <a:extLst>
              <a:ext uri="{FF2B5EF4-FFF2-40B4-BE49-F238E27FC236}">
                <a16:creationId xmlns:a16="http://schemas.microsoft.com/office/drawing/2014/main" id="{77252879-6EA2-5436-7599-BF908A68CC37}"/>
              </a:ext>
            </a:extLst>
          </p:cNvPr>
          <p:cNvSpPr/>
          <p:nvPr/>
        </p:nvSpPr>
        <p:spPr bwMode="auto">
          <a:xfrm>
            <a:off x="8076023" y="1988984"/>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sp>
        <p:nvSpPr>
          <p:cNvPr id="4" name="角丸四角形吹き出し 3">
            <a:extLst>
              <a:ext uri="{FF2B5EF4-FFF2-40B4-BE49-F238E27FC236}">
                <a16:creationId xmlns:a16="http://schemas.microsoft.com/office/drawing/2014/main" id="{86B6A3CD-F71B-B70E-B067-DEBC61AA4A3B}"/>
              </a:ext>
            </a:extLst>
          </p:cNvPr>
          <p:cNvSpPr/>
          <p:nvPr/>
        </p:nvSpPr>
        <p:spPr bwMode="auto">
          <a:xfrm>
            <a:off x="2675962" y="728970"/>
            <a:ext cx="2520028" cy="612648"/>
          </a:xfrm>
          <a:prstGeom prst="wedgeRoundRectCallout">
            <a:avLst>
              <a:gd name="adj1" fmla="val -44943"/>
              <a:gd name="adj2" fmla="val 95784"/>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じゃなかったかー</a:t>
            </a:r>
            <a:endParaRPr lang="en-US" altLang="ja-JP" dirty="0">
              <a:solidFill>
                <a:schemeClr val="tx1">
                  <a:lumMod val="65000"/>
                  <a:lumOff val="35000"/>
                </a:schemeClr>
              </a:solidFill>
              <a:latin typeface="Arial Narrow" panose="020B0606020202030204" pitchFamily="34" charset="0"/>
            </a:endParaRPr>
          </a:p>
        </p:txBody>
      </p:sp>
      <p:cxnSp>
        <p:nvCxnSpPr>
          <p:cNvPr id="7" name="直線矢印コネクタ 6">
            <a:extLst>
              <a:ext uri="{FF2B5EF4-FFF2-40B4-BE49-F238E27FC236}">
                <a16:creationId xmlns:a16="http://schemas.microsoft.com/office/drawing/2014/main" id="{62AAC06C-177E-A477-2989-AA7ACCDE4C60}"/>
              </a:ext>
            </a:extLst>
          </p:cNvPr>
          <p:cNvCxnSpPr>
            <a:cxnSpLocks/>
          </p:cNvCxnSpPr>
          <p:nvPr/>
        </p:nvCxnSpPr>
        <p:spPr bwMode="auto">
          <a:xfrm>
            <a:off x="1685952" y="3068996"/>
            <a:ext cx="5670063"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E1B198A9-F9BA-3FD1-6E65-73F9BD3485BB}"/>
                  </a:ext>
                </a:extLst>
              </p:cNvPr>
              <p:cNvSpPr/>
              <p:nvPr/>
            </p:nvSpPr>
            <p:spPr>
              <a:xfrm>
                <a:off x="4295981" y="2708993"/>
                <a:ext cx="540005" cy="270003"/>
              </a:xfrm>
              <a:prstGeom prst="rect">
                <a:avLst/>
              </a:prstGeom>
            </p:spPr>
            <p:txBody>
              <a:bodyPr wrap="none">
                <a:noAutofit/>
              </a:bodyPr>
              <a:lstStyle/>
              <a:p>
                <a:pPr algn="ctr"/>
                <a:r>
                  <a:rPr lang="ja-JP" altLang="en-US" dirty="0">
                    <a:solidFill>
                      <a:schemeClr val="tx1">
                        <a:lumMod val="65000"/>
                        <a:lumOff val="35000"/>
                      </a:schemeClr>
                    </a:solidFill>
                    <a:latin typeface="+mj-lt"/>
                  </a:rPr>
                  <a:t>ペナルティ </a:t>
                </a:r>
                <a14:m>
                  <m:oMath xmlns:m="http://schemas.openxmlformats.org/officeDocument/2006/math">
                    <m:r>
                      <a:rPr lang="en-US" altLang="ja-JP" i="1" dirty="0">
                        <a:solidFill>
                          <a:schemeClr val="tx1">
                            <a:lumMod val="65000"/>
                            <a:lumOff val="35000"/>
                          </a:schemeClr>
                        </a:solidFill>
                        <a:latin typeface="Cambria Math" panose="02040503050406030204" pitchFamily="18" charset="0"/>
                      </a:rPr>
                      <m:t>𝐶𝑝</m:t>
                    </m:r>
                    <m:r>
                      <a:rPr lang="en-US" altLang="ja-JP" i="1" dirty="0">
                        <a:solidFill>
                          <a:schemeClr val="tx1">
                            <a:lumMod val="65000"/>
                            <a:lumOff val="35000"/>
                          </a:schemeClr>
                        </a:solidFill>
                        <a:latin typeface="Cambria Math" panose="02040503050406030204" pitchFamily="18" charset="0"/>
                      </a:rPr>
                      <m:t>=4</m:t>
                    </m:r>
                  </m:oMath>
                </a14:m>
                <a:r>
                  <a:rPr lang="en-US" altLang="ja-JP" dirty="0">
                    <a:solidFill>
                      <a:schemeClr val="tx1">
                        <a:lumMod val="65000"/>
                        <a:lumOff val="35000"/>
                      </a:schemeClr>
                    </a:solidFill>
                  </a:rPr>
                  <a:t> cycle</a:t>
                </a:r>
                <a:endParaRPr lang="ja-JP" altLang="en-US" dirty="0">
                  <a:solidFill>
                    <a:schemeClr val="tx1">
                      <a:lumMod val="65000"/>
                      <a:lumOff val="35000"/>
                    </a:schemeClr>
                  </a:solidFill>
                </a:endParaRPr>
              </a:p>
            </p:txBody>
          </p:sp>
        </mc:Choice>
        <mc:Fallback>
          <p:sp>
            <p:nvSpPr>
              <p:cNvPr id="8" name="正方形/長方形 7">
                <a:extLst>
                  <a:ext uri="{FF2B5EF4-FFF2-40B4-BE49-F238E27FC236}">
                    <a16:creationId xmlns:a16="http://schemas.microsoft.com/office/drawing/2014/main" id="{E1B198A9-F9BA-3FD1-6E65-73F9BD3485BB}"/>
                  </a:ext>
                </a:extLst>
              </p:cNvPr>
              <p:cNvSpPr>
                <a:spLocks noRot="1" noChangeAspect="1" noMove="1" noResize="1" noEditPoints="1" noAdjustHandles="1" noChangeArrowheads="1" noChangeShapeType="1" noTextEdit="1"/>
              </p:cNvSpPr>
              <p:nvPr/>
            </p:nvSpPr>
            <p:spPr>
              <a:xfrm>
                <a:off x="4295981" y="2708993"/>
                <a:ext cx="540005" cy="270003"/>
              </a:xfrm>
              <a:prstGeom prst="rect">
                <a:avLst/>
              </a:prstGeom>
              <a:blipFill>
                <a:blip r:embed="rId2"/>
                <a:stretch>
                  <a:fillRect l="-206818" t="-17778" r="-205682" b="-73333"/>
                </a:stretch>
              </a:blipFill>
            </p:spPr>
            <p:txBody>
              <a:bodyPr/>
              <a:lstStyle/>
              <a:p>
                <a:r>
                  <a:rPr lang="ja-JP" altLang="en-US">
                    <a:noFill/>
                  </a:rPr>
                  <a:t> </a:t>
                </a:r>
              </a:p>
            </p:txBody>
          </p:sp>
        </mc:Fallback>
      </mc:AlternateContent>
      <p:sp>
        <p:nvSpPr>
          <p:cNvPr id="10" name="平行四辺形 9">
            <a:extLst>
              <a:ext uri="{FF2B5EF4-FFF2-40B4-BE49-F238E27FC236}">
                <a16:creationId xmlns:a16="http://schemas.microsoft.com/office/drawing/2014/main" id="{10046E87-FA9F-0AFD-E9BD-B6EDCE4B9B92}"/>
              </a:ext>
            </a:extLst>
          </p:cNvPr>
          <p:cNvSpPr/>
          <p:nvPr/>
        </p:nvSpPr>
        <p:spPr bwMode="auto">
          <a:xfrm>
            <a:off x="1685951" y="5139019"/>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7" name="平行四辺形 16">
            <a:extLst>
              <a:ext uri="{FF2B5EF4-FFF2-40B4-BE49-F238E27FC236}">
                <a16:creationId xmlns:a16="http://schemas.microsoft.com/office/drawing/2014/main" id="{5C62921A-B12A-5B95-1FFE-2FB356637FC2}"/>
              </a:ext>
            </a:extLst>
          </p:cNvPr>
          <p:cNvSpPr/>
          <p:nvPr/>
        </p:nvSpPr>
        <p:spPr bwMode="auto">
          <a:xfrm>
            <a:off x="3126111" y="5139019"/>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8" name="平行四辺形 17">
            <a:extLst>
              <a:ext uri="{FF2B5EF4-FFF2-40B4-BE49-F238E27FC236}">
                <a16:creationId xmlns:a16="http://schemas.microsoft.com/office/drawing/2014/main" id="{6386B61F-A883-A332-D2D5-3395DDAF4150}"/>
              </a:ext>
            </a:extLst>
          </p:cNvPr>
          <p:cNvSpPr/>
          <p:nvPr/>
        </p:nvSpPr>
        <p:spPr bwMode="auto">
          <a:xfrm>
            <a:off x="4566271" y="513901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0" name="角丸四角形 23">
            <a:extLst>
              <a:ext uri="{FF2B5EF4-FFF2-40B4-BE49-F238E27FC236}">
                <a16:creationId xmlns:a16="http://schemas.microsoft.com/office/drawing/2014/main" id="{88DBD828-FE4F-BAC4-EC5B-DD9052EB71D0}"/>
              </a:ext>
            </a:extLst>
          </p:cNvPr>
          <p:cNvSpPr/>
          <p:nvPr/>
        </p:nvSpPr>
        <p:spPr bwMode="auto">
          <a:xfrm>
            <a:off x="5105989" y="495901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1" name="角丸四角形 27">
            <a:extLst>
              <a:ext uri="{FF2B5EF4-FFF2-40B4-BE49-F238E27FC236}">
                <a16:creationId xmlns:a16="http://schemas.microsoft.com/office/drawing/2014/main" id="{CE0559D8-C157-AABB-60DC-2D3C9605B5C5}"/>
              </a:ext>
            </a:extLst>
          </p:cNvPr>
          <p:cNvSpPr/>
          <p:nvPr/>
        </p:nvSpPr>
        <p:spPr bwMode="auto">
          <a:xfrm>
            <a:off x="3755975" y="495901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2" name="角丸四角形 28">
            <a:extLst>
              <a:ext uri="{FF2B5EF4-FFF2-40B4-BE49-F238E27FC236}">
                <a16:creationId xmlns:a16="http://schemas.microsoft.com/office/drawing/2014/main" id="{803EE3CF-8587-1363-2381-C2D4DCEE8BC5}"/>
              </a:ext>
            </a:extLst>
          </p:cNvPr>
          <p:cNvSpPr/>
          <p:nvPr/>
        </p:nvSpPr>
        <p:spPr bwMode="auto">
          <a:xfrm>
            <a:off x="2315958" y="495901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3" name="平行四辺形 22">
            <a:extLst>
              <a:ext uri="{FF2B5EF4-FFF2-40B4-BE49-F238E27FC236}">
                <a16:creationId xmlns:a16="http://schemas.microsoft.com/office/drawing/2014/main" id="{BB267817-FADA-80F2-3A09-FAC2115B29CA}"/>
              </a:ext>
            </a:extLst>
          </p:cNvPr>
          <p:cNvSpPr/>
          <p:nvPr/>
        </p:nvSpPr>
        <p:spPr bwMode="auto">
          <a:xfrm>
            <a:off x="6005999" y="5139019"/>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5" name="平行四辺形 24">
            <a:extLst>
              <a:ext uri="{FF2B5EF4-FFF2-40B4-BE49-F238E27FC236}">
                <a16:creationId xmlns:a16="http://schemas.microsoft.com/office/drawing/2014/main" id="{80EAD8D7-7ECD-02E0-E1E2-7AE85795723F}"/>
              </a:ext>
            </a:extLst>
          </p:cNvPr>
          <p:cNvSpPr/>
          <p:nvPr/>
        </p:nvSpPr>
        <p:spPr bwMode="auto">
          <a:xfrm>
            <a:off x="7446015" y="5139019"/>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9" name="角丸四角形 23">
            <a:extLst>
              <a:ext uri="{FF2B5EF4-FFF2-40B4-BE49-F238E27FC236}">
                <a16:creationId xmlns:a16="http://schemas.microsoft.com/office/drawing/2014/main" id="{8BB2D0DF-48CA-D922-EE17-9CF40C08B8EA}"/>
              </a:ext>
            </a:extLst>
          </p:cNvPr>
          <p:cNvSpPr/>
          <p:nvPr/>
        </p:nvSpPr>
        <p:spPr bwMode="auto">
          <a:xfrm>
            <a:off x="6546005" y="495901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0" name="角丸四角形 89">
            <a:extLst>
              <a:ext uri="{FF2B5EF4-FFF2-40B4-BE49-F238E27FC236}">
                <a16:creationId xmlns:a16="http://schemas.microsoft.com/office/drawing/2014/main" id="{1E5C4690-C307-585A-7CD4-2BF0E74BD3CC}"/>
              </a:ext>
            </a:extLst>
          </p:cNvPr>
          <p:cNvSpPr/>
          <p:nvPr/>
        </p:nvSpPr>
        <p:spPr bwMode="auto">
          <a:xfrm>
            <a:off x="8076023" y="4959017"/>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cxnSp>
        <p:nvCxnSpPr>
          <p:cNvPr id="33" name="直線矢印コネクタ 32">
            <a:extLst>
              <a:ext uri="{FF2B5EF4-FFF2-40B4-BE49-F238E27FC236}">
                <a16:creationId xmlns:a16="http://schemas.microsoft.com/office/drawing/2014/main" id="{CDE36840-5FBA-89EF-3E14-1816A96A73D7}"/>
              </a:ext>
            </a:extLst>
          </p:cNvPr>
          <p:cNvCxnSpPr>
            <a:cxnSpLocks/>
          </p:cNvCxnSpPr>
          <p:nvPr/>
        </p:nvCxnSpPr>
        <p:spPr bwMode="auto">
          <a:xfrm>
            <a:off x="1685952" y="6759037"/>
            <a:ext cx="5670063"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mc:AlternateContent xmlns:mc="http://schemas.openxmlformats.org/markup-compatibility/2006">
        <mc:Choice xmlns:a14="http://schemas.microsoft.com/office/drawing/2010/main" Requires="a14">
          <p:sp>
            <p:nvSpPr>
              <p:cNvPr id="46" name="正方形/長方形 45">
                <a:extLst>
                  <a:ext uri="{FF2B5EF4-FFF2-40B4-BE49-F238E27FC236}">
                    <a16:creationId xmlns:a16="http://schemas.microsoft.com/office/drawing/2014/main" id="{67D7EE48-735C-4B9D-BDD0-7FFBC4EE0575}"/>
                  </a:ext>
                </a:extLst>
              </p:cNvPr>
              <p:cNvSpPr/>
              <p:nvPr/>
            </p:nvSpPr>
            <p:spPr>
              <a:xfrm>
                <a:off x="4295981" y="6399034"/>
                <a:ext cx="540005" cy="270003"/>
              </a:xfrm>
              <a:prstGeom prst="rect">
                <a:avLst/>
              </a:prstGeom>
            </p:spPr>
            <p:txBody>
              <a:bodyPr wrap="none">
                <a:noAutofit/>
              </a:bodyPr>
              <a:lstStyle/>
              <a:p>
                <a:pPr algn="ctr"/>
                <a:r>
                  <a:rPr lang="ja-JP" altLang="en-US" dirty="0">
                    <a:solidFill>
                      <a:schemeClr val="tx1">
                        <a:lumMod val="65000"/>
                        <a:lumOff val="35000"/>
                      </a:schemeClr>
                    </a:solidFill>
                    <a:latin typeface="+mj-lt"/>
                  </a:rPr>
                  <a:t>ペナルティ </a:t>
                </a:r>
                <a14:m>
                  <m:oMath xmlns:m="http://schemas.openxmlformats.org/officeDocument/2006/math">
                    <m:r>
                      <a:rPr lang="en-US" altLang="ja-JP" i="1" dirty="0">
                        <a:solidFill>
                          <a:schemeClr val="tx1">
                            <a:lumMod val="65000"/>
                            <a:lumOff val="35000"/>
                          </a:schemeClr>
                        </a:solidFill>
                        <a:latin typeface="Cambria Math" panose="02040503050406030204" pitchFamily="18" charset="0"/>
                      </a:rPr>
                      <m:t>𝐶𝑝</m:t>
                    </m:r>
                    <m:r>
                      <a:rPr lang="en-US" altLang="ja-JP" i="1" dirty="0">
                        <a:solidFill>
                          <a:schemeClr val="tx1">
                            <a:lumMod val="65000"/>
                            <a:lumOff val="35000"/>
                          </a:schemeClr>
                        </a:solidFill>
                        <a:latin typeface="Cambria Math" panose="02040503050406030204" pitchFamily="18" charset="0"/>
                      </a:rPr>
                      <m:t>=4</m:t>
                    </m:r>
                  </m:oMath>
                </a14:m>
                <a:r>
                  <a:rPr lang="en-US" altLang="ja-JP" dirty="0">
                    <a:solidFill>
                      <a:schemeClr val="tx1">
                        <a:lumMod val="65000"/>
                        <a:lumOff val="35000"/>
                      </a:schemeClr>
                    </a:solidFill>
                  </a:rPr>
                  <a:t> cycle</a:t>
                </a:r>
                <a:endParaRPr lang="ja-JP" altLang="en-US" dirty="0">
                  <a:solidFill>
                    <a:schemeClr val="tx1">
                      <a:lumMod val="65000"/>
                      <a:lumOff val="35000"/>
                    </a:schemeClr>
                  </a:solidFill>
                </a:endParaRPr>
              </a:p>
            </p:txBody>
          </p:sp>
        </mc:Choice>
        <mc:Fallback>
          <p:sp>
            <p:nvSpPr>
              <p:cNvPr id="46" name="正方形/長方形 45">
                <a:extLst>
                  <a:ext uri="{FF2B5EF4-FFF2-40B4-BE49-F238E27FC236}">
                    <a16:creationId xmlns:a16="http://schemas.microsoft.com/office/drawing/2014/main" id="{67D7EE48-735C-4B9D-BDD0-7FFBC4EE0575}"/>
                  </a:ext>
                </a:extLst>
              </p:cNvPr>
              <p:cNvSpPr>
                <a:spLocks noRot="1" noChangeAspect="1" noMove="1" noResize="1" noEditPoints="1" noAdjustHandles="1" noChangeArrowheads="1" noChangeShapeType="1" noTextEdit="1"/>
              </p:cNvSpPr>
              <p:nvPr/>
            </p:nvSpPr>
            <p:spPr>
              <a:xfrm>
                <a:off x="4295981" y="6399034"/>
                <a:ext cx="540005" cy="270003"/>
              </a:xfrm>
              <a:prstGeom prst="rect">
                <a:avLst/>
              </a:prstGeom>
              <a:blipFill>
                <a:blip r:embed="rId3"/>
                <a:stretch>
                  <a:fillRect l="-206818" t="-20455" r="-205682" b="-77273"/>
                </a:stretch>
              </a:blipFill>
            </p:spPr>
            <p:txBody>
              <a:bodyPr/>
              <a:lstStyle/>
              <a:p>
                <a:r>
                  <a:rPr lang="ja-JP" altLang="en-US">
                    <a:noFill/>
                  </a:rPr>
                  <a:t> </a:t>
                </a:r>
              </a:p>
            </p:txBody>
          </p:sp>
        </mc:Fallback>
      </mc:AlternateContent>
      <p:sp>
        <p:nvSpPr>
          <p:cNvPr id="55" name="平行四辺形 54">
            <a:extLst>
              <a:ext uri="{FF2B5EF4-FFF2-40B4-BE49-F238E27FC236}">
                <a16:creationId xmlns:a16="http://schemas.microsoft.com/office/drawing/2014/main" id="{CCA24E10-3D9D-9D5B-6BE4-1F6574783BAC}"/>
              </a:ext>
            </a:extLst>
          </p:cNvPr>
          <p:cNvSpPr/>
          <p:nvPr/>
        </p:nvSpPr>
        <p:spPr bwMode="auto">
          <a:xfrm>
            <a:off x="1685951" y="585902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6" name="平行四辺形 55">
            <a:extLst>
              <a:ext uri="{FF2B5EF4-FFF2-40B4-BE49-F238E27FC236}">
                <a16:creationId xmlns:a16="http://schemas.microsoft.com/office/drawing/2014/main" id="{AEE24F25-362E-E60F-AE24-0FE06A6EE7F7}"/>
              </a:ext>
            </a:extLst>
          </p:cNvPr>
          <p:cNvSpPr/>
          <p:nvPr/>
        </p:nvSpPr>
        <p:spPr bwMode="auto">
          <a:xfrm>
            <a:off x="3126111" y="5859027"/>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9" name="平行四辺形 58">
            <a:extLst>
              <a:ext uri="{FF2B5EF4-FFF2-40B4-BE49-F238E27FC236}">
                <a16:creationId xmlns:a16="http://schemas.microsoft.com/office/drawing/2014/main" id="{1D0EDE8A-B228-5F78-01C2-850038D2E25C}"/>
              </a:ext>
            </a:extLst>
          </p:cNvPr>
          <p:cNvSpPr/>
          <p:nvPr/>
        </p:nvSpPr>
        <p:spPr bwMode="auto">
          <a:xfrm>
            <a:off x="4566271" y="585902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0" name="角丸四角形 23">
            <a:extLst>
              <a:ext uri="{FF2B5EF4-FFF2-40B4-BE49-F238E27FC236}">
                <a16:creationId xmlns:a16="http://schemas.microsoft.com/office/drawing/2014/main" id="{C34DB6F5-7E43-0507-9D22-2F4256B21F82}"/>
              </a:ext>
            </a:extLst>
          </p:cNvPr>
          <p:cNvSpPr/>
          <p:nvPr/>
        </p:nvSpPr>
        <p:spPr bwMode="auto">
          <a:xfrm>
            <a:off x="5105989"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1" name="角丸四角形 27">
            <a:extLst>
              <a:ext uri="{FF2B5EF4-FFF2-40B4-BE49-F238E27FC236}">
                <a16:creationId xmlns:a16="http://schemas.microsoft.com/office/drawing/2014/main" id="{7A04B190-01F4-697A-9DD9-C9616C393F44}"/>
              </a:ext>
            </a:extLst>
          </p:cNvPr>
          <p:cNvSpPr/>
          <p:nvPr/>
        </p:nvSpPr>
        <p:spPr bwMode="auto">
          <a:xfrm>
            <a:off x="3755975" y="5679025"/>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2" name="角丸四角形 28">
            <a:extLst>
              <a:ext uri="{FF2B5EF4-FFF2-40B4-BE49-F238E27FC236}">
                <a16:creationId xmlns:a16="http://schemas.microsoft.com/office/drawing/2014/main" id="{FB467C29-6A9E-DBBA-4E8A-9D326F948261}"/>
              </a:ext>
            </a:extLst>
          </p:cNvPr>
          <p:cNvSpPr/>
          <p:nvPr/>
        </p:nvSpPr>
        <p:spPr bwMode="auto">
          <a:xfrm>
            <a:off x="2315958" y="5679025"/>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3" name="平行四辺形 62">
            <a:extLst>
              <a:ext uri="{FF2B5EF4-FFF2-40B4-BE49-F238E27FC236}">
                <a16:creationId xmlns:a16="http://schemas.microsoft.com/office/drawing/2014/main" id="{240E1835-5282-AD36-1341-6EFEDD1D5C39}"/>
              </a:ext>
            </a:extLst>
          </p:cNvPr>
          <p:cNvSpPr/>
          <p:nvPr/>
        </p:nvSpPr>
        <p:spPr bwMode="auto">
          <a:xfrm>
            <a:off x="6005999" y="5859027"/>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4" name="平行四辺形 63">
            <a:extLst>
              <a:ext uri="{FF2B5EF4-FFF2-40B4-BE49-F238E27FC236}">
                <a16:creationId xmlns:a16="http://schemas.microsoft.com/office/drawing/2014/main" id="{486F3C37-9BDC-BF1F-F807-F6C819901828}"/>
              </a:ext>
            </a:extLst>
          </p:cNvPr>
          <p:cNvSpPr/>
          <p:nvPr/>
        </p:nvSpPr>
        <p:spPr bwMode="auto">
          <a:xfrm>
            <a:off x="7446015" y="5859027"/>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5" name="角丸四角形 23">
            <a:extLst>
              <a:ext uri="{FF2B5EF4-FFF2-40B4-BE49-F238E27FC236}">
                <a16:creationId xmlns:a16="http://schemas.microsoft.com/office/drawing/2014/main" id="{7F92E031-FED9-3905-4587-67AA2E6E347F}"/>
              </a:ext>
            </a:extLst>
          </p:cNvPr>
          <p:cNvSpPr/>
          <p:nvPr/>
        </p:nvSpPr>
        <p:spPr bwMode="auto">
          <a:xfrm>
            <a:off x="6546005"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7" name="角丸四角形 23">
            <a:extLst>
              <a:ext uri="{FF2B5EF4-FFF2-40B4-BE49-F238E27FC236}">
                <a16:creationId xmlns:a16="http://schemas.microsoft.com/office/drawing/2014/main" id="{9999920A-7919-2C2E-6809-4AD2E6C1AE3C}"/>
              </a:ext>
            </a:extLst>
          </p:cNvPr>
          <p:cNvSpPr/>
          <p:nvPr/>
        </p:nvSpPr>
        <p:spPr bwMode="auto">
          <a:xfrm>
            <a:off x="8076022"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8" name="正方形/長方形 67">
            <a:extLst>
              <a:ext uri="{FF2B5EF4-FFF2-40B4-BE49-F238E27FC236}">
                <a16:creationId xmlns:a16="http://schemas.microsoft.com/office/drawing/2014/main" id="{CBC46140-7E30-933F-C47E-F186B4F1E37C}"/>
              </a:ext>
            </a:extLst>
          </p:cNvPr>
          <p:cNvSpPr/>
          <p:nvPr/>
        </p:nvSpPr>
        <p:spPr>
          <a:xfrm>
            <a:off x="2154007" y="4149008"/>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
        <p:nvSpPr>
          <p:cNvPr id="69" name="正方形/長方形 68">
            <a:extLst>
              <a:ext uri="{FF2B5EF4-FFF2-40B4-BE49-F238E27FC236}">
                <a16:creationId xmlns:a16="http://schemas.microsoft.com/office/drawing/2014/main" id="{1BBAEB45-EE1D-97A5-22F2-A176108B09A1}"/>
              </a:ext>
            </a:extLst>
          </p:cNvPr>
          <p:cNvSpPr/>
          <p:nvPr/>
        </p:nvSpPr>
        <p:spPr>
          <a:xfrm>
            <a:off x="7914072" y="414900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0" name="角丸四角形吹き出し 26">
            <a:extLst>
              <a:ext uri="{FF2B5EF4-FFF2-40B4-BE49-F238E27FC236}">
                <a16:creationId xmlns:a16="http://schemas.microsoft.com/office/drawing/2014/main" id="{0501CEEE-AA60-A198-3A7F-1E1E609BFAD2}"/>
              </a:ext>
            </a:extLst>
          </p:cNvPr>
          <p:cNvSpPr/>
          <p:nvPr/>
        </p:nvSpPr>
        <p:spPr bwMode="auto">
          <a:xfrm>
            <a:off x="8526027" y="3609002"/>
            <a:ext cx="1980022" cy="612648"/>
          </a:xfrm>
          <a:prstGeom prst="wedgeRoundRectCallout">
            <a:avLst>
              <a:gd name="adj1" fmla="val -42160"/>
              <a:gd name="adj2" fmla="val 92539"/>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ライン２本分</a:t>
            </a:r>
            <a:br>
              <a:rPr lang="en-US" altLang="ja-JP" dirty="0">
                <a:solidFill>
                  <a:schemeClr val="tx1">
                    <a:lumMod val="65000"/>
                    <a:lumOff val="35000"/>
                  </a:schemeClr>
                </a:solidFill>
                <a:latin typeface="Arial Narrow" panose="020B0606020202030204" pitchFamily="34" charset="0"/>
              </a:rPr>
            </a:br>
            <a:r>
              <a:rPr lang="ja-JP" altLang="en-US" dirty="0">
                <a:solidFill>
                  <a:schemeClr val="tx1">
                    <a:lumMod val="65000"/>
                    <a:lumOff val="35000"/>
                  </a:schemeClr>
                </a:solidFill>
                <a:latin typeface="Arial Narrow" panose="020B0606020202030204" pitchFamily="34" charset="0"/>
              </a:rPr>
              <a:t>廃棄やん･･･</a:t>
            </a:r>
          </a:p>
        </p:txBody>
      </p:sp>
      <p:sp>
        <p:nvSpPr>
          <p:cNvPr id="71" name="角丸四角形吹き出し 3">
            <a:extLst>
              <a:ext uri="{FF2B5EF4-FFF2-40B4-BE49-F238E27FC236}">
                <a16:creationId xmlns:a16="http://schemas.microsoft.com/office/drawing/2014/main" id="{943CF68C-F389-04D1-CD89-35ECE42485DA}"/>
              </a:ext>
            </a:extLst>
          </p:cNvPr>
          <p:cNvSpPr/>
          <p:nvPr/>
        </p:nvSpPr>
        <p:spPr bwMode="auto">
          <a:xfrm>
            <a:off x="2694013" y="3609002"/>
            <a:ext cx="2051972" cy="612648"/>
          </a:xfrm>
          <a:prstGeom prst="wedgeRoundRectCallout">
            <a:avLst>
              <a:gd name="adj1" fmla="val -44943"/>
              <a:gd name="adj2" fmla="val 95784"/>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大損害まったなし</a:t>
            </a:r>
            <a:endParaRPr lang="en-US" altLang="ja-JP"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33643506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分岐予測ミスによる実行サイクルの増加のモデル</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2135956" y="1088974"/>
                <a:ext cx="8190091" cy="5220058"/>
              </a:xfrm>
            </p:spPr>
            <p:txBody>
              <a:bodyPr/>
              <a:lstStyle/>
              <a:p>
                <a:r>
                  <a:rPr kumimoji="1" lang="ja-JP" altLang="en-US" dirty="0"/>
                  <a:t>以下のようにおいた場合，</a:t>
                </a:r>
                <a:endParaRPr kumimoji="1" lang="en-US" altLang="ja-JP" dirty="0"/>
              </a:p>
              <a:p>
                <a:pPr lvl="1"/>
                <a:r>
                  <a:rPr lang="ja-JP" altLang="en-US" dirty="0"/>
                  <a:t>ミスがない理想的な実行の際のサイクル数：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oMath>
                </a14:m>
                <a:br>
                  <a:rPr lang="en-US" altLang="ja-JP" dirty="0"/>
                </a:b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プログラム中の分岐命令の出現率：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oMath>
                </a14:m>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oMath>
                </a14:m>
                <a:br>
                  <a:rPr kumimoji="1" lang="en-US" altLang="ja-JP" dirty="0"/>
                </a:b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oMath>
                </a14:m>
                <a:endParaRPr kumimoji="1" lang="en-US" altLang="ja-JP" b="1"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oMath>
                </a14:m>
                <a:endParaRPr kumimoji="1" lang="en-US" b="1" dirty="0">
                  <a:solidFill>
                    <a:schemeClr val="accent5"/>
                  </a:solidFill>
                </a:endParaRPr>
              </a:p>
              <a:p>
                <a:pPr lvl="1"/>
                <a:r>
                  <a:rPr kumimoji="1" lang="ja-JP" altLang="en-US" dirty="0">
                    <a:solidFill>
                      <a:schemeClr val="tx1">
                        <a:lumMod val="75000"/>
                        <a:lumOff val="25000"/>
                      </a:schemeClr>
                    </a:solidFill>
                  </a:rPr>
                  <a:t>意味：予測ミスの発生回数</a:t>
                </a:r>
                <a14:m>
                  <m:oMath xmlns:m="http://schemas.openxmlformats.org/officeDocument/2006/math">
                    <m:r>
                      <a:rPr lang="en-US" altLang="ja-JP" i="1" dirty="0" smtClean="0">
                        <a:solidFill>
                          <a:schemeClr val="tx1">
                            <a:lumMod val="75000"/>
                            <a:lumOff val="25000"/>
                          </a:schemeClr>
                        </a:solidFill>
                        <a:latin typeface="Cambria Math" panose="02040503050406030204" pitchFamily="18" charset="0"/>
                      </a:rPr>
                      <m:t>×</m:t>
                    </m:r>
                  </m:oMath>
                </a14:m>
                <a:r>
                  <a:rPr kumimoji="1" lang="ja-JP" altLang="en-US" dirty="0">
                    <a:solidFill>
                      <a:schemeClr val="tx1">
                        <a:lumMod val="75000"/>
                        <a:lumOff val="25000"/>
                      </a:schemeClr>
                    </a:solidFill>
                  </a:rPr>
                  <a:t>ペナルティ だけ実行時間が伸びる</a:t>
                </a:r>
                <a:endParaRPr kumimoji="1" lang="en-US" dirty="0">
                  <a:solidFill>
                    <a:schemeClr val="tx1">
                      <a:lumMod val="75000"/>
                      <a:lumOff val="25000"/>
                    </a:schemeClr>
                  </a:solidFill>
                </a:endParaRPr>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type="body" sz="quarter" idx="10"/>
              </p:nvPr>
            </p:nvSpPr>
            <p:spPr>
              <a:xfrm>
                <a:off x="2135956" y="1088974"/>
                <a:ext cx="8190091" cy="5220058"/>
              </a:xfrm>
              <a:blipFill>
                <a:blip r:embed="rId2"/>
                <a:stretch>
                  <a:fillRect l="-670" b="-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636645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dirty="0"/>
              <a:t>具体的な値を入れてみる</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1955955" y="1088974"/>
                <a:ext cx="8550095" cy="5220058"/>
              </a:xfrm>
            </p:spPr>
            <p:txBody>
              <a:bodyPr/>
              <a:lstStyle/>
              <a:p>
                <a:r>
                  <a:rPr kumimoji="1" lang="ja-JP" altLang="en-US" dirty="0"/>
                  <a:t>以下のように置いた場合，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𝑪𝒕</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oMath>
                </a14:m>
                <a:r>
                  <a:rPr lang="ja-JP" altLang="en-US" dirty="0">
                    <a:solidFill>
                      <a:schemeClr val="accent5"/>
                    </a:solidFill>
                  </a:rPr>
                  <a:t>（メガ）</a:t>
                </a:r>
                <a:br>
                  <a:rPr lang="en-US" altLang="ja-JP" dirty="0"/>
                </a:br>
                <a:endParaRPr lang="en-US" altLang="ja-JP" dirty="0"/>
              </a:p>
              <a:p>
                <a:pPr lvl="1"/>
                <a:r>
                  <a:rPr lang="ja-JP" altLang="en-US" dirty="0"/>
                  <a:t>分岐予測ミスの発生回数：</a:t>
                </a:r>
                <a:r>
                  <a:rPr lang="en-US" altLang="ja-JP" dirty="0"/>
                  <a:t>	</a:t>
                </a:r>
                <a14:m>
                  <m:oMath xmlns:m="http://schemas.openxmlformats.org/officeDocument/2006/math">
                    <m:r>
                      <a:rPr lang="en-US" altLang="ja-JP" b="1" i="1" dirty="0" smtClean="0">
                        <a:solidFill>
                          <a:schemeClr val="accent5"/>
                        </a:solidFill>
                        <a:latin typeface="Cambria Math" panose="02040503050406030204" pitchFamily="18" charset="0"/>
                      </a:rPr>
                      <m:t>𝑵𝒎</m:t>
                    </m:r>
                    <m:r>
                      <a:rPr lang="en-US" altLang="ja-JP" b="1" i="1" dirty="0" smtClean="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𝑵𝒊</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𝑷𝒃</m:t>
                    </m:r>
                    <m:r>
                      <a:rPr lang="en-US" altLang="ja-JP" b="1" i="1" dirty="0">
                        <a:solidFill>
                          <a:schemeClr val="accent5"/>
                        </a:solidFill>
                        <a:latin typeface="Cambria Math" panose="02040503050406030204" pitchFamily="18" charset="0"/>
                      </a:rPr>
                      <m:t>×</m:t>
                    </m:r>
                    <m:r>
                      <a:rPr lang="en-US" altLang="ja-JP" b="1" i="1" dirty="0">
                        <a:solidFill>
                          <a:schemeClr val="accent5"/>
                        </a:solidFill>
                        <a:latin typeface="Cambria Math" panose="02040503050406030204" pitchFamily="18" charset="0"/>
                      </a:rPr>
                      <m:t>𝑷𝒎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𝟎𝟐𝟓</m:t>
                    </m:r>
                    <m:r>
                      <a:rPr lang="en-US" altLang="ja-JP" b="1" i="1" dirty="0" smtClean="0">
                        <a:solidFill>
                          <a:schemeClr val="accent5"/>
                        </a:solidFill>
                        <a:latin typeface="Cambria Math" panose="02040503050406030204" pitchFamily="18" charset="0"/>
                      </a:rPr>
                      <m:t>𝑴</m:t>
                    </m:r>
                  </m:oMath>
                </a14:m>
                <a:endParaRPr lang="en-US" altLang="ja-JP" b="1" dirty="0">
                  <a:solidFill>
                    <a:schemeClr val="accent5"/>
                  </a:solidFill>
                </a:endParaRPr>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r>
                      <a:rPr kumimoji="1" lang="en-US" altLang="ja-JP" b="0" i="1" dirty="0" smtClean="0">
                        <a:latin typeface="Cambria Math" panose="02040503050406030204" pitchFamily="18" charset="0"/>
                      </a:rPr>
                      <m:t>=1</m:t>
                    </m:r>
                    <m:r>
                      <a:rPr kumimoji="1" lang="en-US" altLang="ja-JP" b="0" i="1" dirty="0" smtClean="0">
                        <a:latin typeface="Cambria Math" panose="02040503050406030204" pitchFamily="18" charset="0"/>
                      </a:rPr>
                      <m:t>𝑀</m:t>
                    </m:r>
                  </m:oMath>
                </a14:m>
                <a:endParaRPr kumimoji="1" lang="en-US" altLang="ja-JP" dirty="0"/>
              </a:p>
              <a:p>
                <a:pPr lvl="2"/>
                <a:r>
                  <a:rPr lang="ja-JP" altLang="en-US" dirty="0"/>
                  <a:t>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r>
                      <a:rPr lang="en-US" altLang="ja-JP" b="0" i="1" dirty="0" smtClean="0">
                        <a:latin typeface="Cambria Math" panose="02040503050406030204" pitchFamily="18" charset="0"/>
                      </a:rPr>
                      <m:t>=0.25</m:t>
                    </m:r>
                  </m:oMath>
                </a14:m>
                <a:endParaRPr kumimoji="1" lang="en-US" altLang="ja-JP" dirty="0"/>
              </a:p>
              <a:p>
                <a:pPr marL="1080000" lvl="3" indent="0">
                  <a:buNone/>
                </a:pPr>
                <a:r>
                  <a:rPr kumimoji="1" lang="ja-JP" altLang="en-US" dirty="0"/>
                  <a:t>（プログラムは大体４命令に１つぐらい分岐が出てくる</a:t>
                </a:r>
                <a:endParaRPr kumimoji="1" lang="en-US" altLang="ja-JP" dirty="0"/>
              </a:p>
              <a:p>
                <a:pPr lvl="2"/>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r>
                      <a:rPr kumimoji="1" lang="en-US" altLang="ja-JP" b="0" i="1" dirty="0" smtClean="0">
                        <a:latin typeface="Cambria Math" panose="02040503050406030204" pitchFamily="18" charset="0"/>
                      </a:rPr>
                      <m:t>=0.1</m:t>
                    </m:r>
                  </m:oMath>
                </a14:m>
                <a:br>
                  <a:rPr kumimoji="1" lang="en-US" altLang="ja-JP" dirty="0"/>
                </a:br>
                <a:endParaRPr kumimoji="1" lang="en-US" altLang="ja-JP" dirty="0"/>
              </a:p>
              <a:p>
                <a:pPr lvl="1"/>
                <a:r>
                  <a:rPr kumimoji="1" lang="ja-JP" altLang="en-US" dirty="0"/>
                  <a:t>分岐予測ミス・ペナルティ：</a:t>
                </a:r>
                <a:r>
                  <a:rPr kumimoji="1" lang="en-US" altLang="ja-JP" dirty="0"/>
                  <a:t>	</a:t>
                </a:r>
                <a14:m>
                  <m:oMath xmlns:m="http://schemas.openxmlformats.org/officeDocument/2006/math">
                    <m:r>
                      <a:rPr kumimoji="1" lang="en-US" altLang="ja-JP" b="1" i="1" dirty="0" smtClean="0">
                        <a:solidFill>
                          <a:schemeClr val="accent5"/>
                        </a:solidFill>
                        <a:latin typeface="Cambria Math" panose="02040503050406030204" pitchFamily="18" charset="0"/>
                      </a:rPr>
                      <m:t>𝑪𝒑</m:t>
                    </m:r>
                    <m:r>
                      <a:rPr kumimoji="1" lang="en-US" altLang="ja-JP" b="1" i="1" dirty="0" smtClean="0">
                        <a:solidFill>
                          <a:schemeClr val="accent5"/>
                        </a:solidFill>
                        <a:latin typeface="Cambria Math" panose="02040503050406030204" pitchFamily="18" charset="0"/>
                      </a:rPr>
                      <m:t>=</m:t>
                    </m:r>
                    <m:r>
                      <a:rPr kumimoji="1" lang="en-US" altLang="ja-JP" b="1" i="1" dirty="0" smtClean="0">
                        <a:solidFill>
                          <a:schemeClr val="accent5"/>
                        </a:solidFill>
                        <a:latin typeface="Cambria Math" panose="02040503050406030204" pitchFamily="18" charset="0"/>
                      </a:rPr>
                      <m:t>𝟒</m:t>
                    </m:r>
                  </m:oMath>
                </a14:m>
                <a:endParaRPr kumimoji="1" lang="en-US" altLang="ja-JP" b="1" dirty="0">
                  <a:solidFill>
                    <a:schemeClr val="accent5"/>
                  </a:solidFill>
                </a:endParaRPr>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a:t>
                </a:r>
                <a:endParaRPr kumimoji="1" lang="en-US" altLang="ja-JP" dirty="0"/>
              </a:p>
              <a:p>
                <a:pPr lvl="1"/>
                <a14:m>
                  <m:oMath xmlns:m="http://schemas.openxmlformats.org/officeDocument/2006/math">
                    <m:r>
                      <a:rPr lang="en-US" b="1" i="1" dirty="0" smtClean="0">
                        <a:solidFill>
                          <a:schemeClr val="accent5"/>
                        </a:solidFill>
                        <a:latin typeface="Cambria Math" panose="02040503050406030204" pitchFamily="18" charset="0"/>
                      </a:rPr>
                      <m:t>𝑪𝒓</m:t>
                    </m:r>
                    <m:r>
                      <a:rPr lang="en-US" b="1" i="1" dirty="0" smtClean="0">
                        <a:solidFill>
                          <a:schemeClr val="accent5"/>
                        </a:solidFill>
                        <a:latin typeface="Cambria Math" panose="02040503050406030204" pitchFamily="18" charset="0"/>
                      </a:rPr>
                      <m:t>=</m:t>
                    </m:r>
                    <m:r>
                      <a:rPr lang="en-US" b="1" i="1" dirty="0" smtClean="0">
                        <a:solidFill>
                          <a:schemeClr val="accent5"/>
                        </a:solidFill>
                        <a:latin typeface="Cambria Math" panose="02040503050406030204" pitchFamily="18" charset="0"/>
                      </a:rPr>
                      <m:t>𝑪𝒕</m:t>
                    </m:r>
                    <m:r>
                      <a:rPr lang="en-US" b="1" i="1" dirty="0" smtClean="0">
                        <a:solidFill>
                          <a:schemeClr val="accent5"/>
                        </a:solidFill>
                        <a:latin typeface="Cambria Math" panose="02040503050406030204" pitchFamily="18" charset="0"/>
                      </a:rPr>
                      <m:t> + </m:t>
                    </m:r>
                    <m:r>
                      <a:rPr lang="en-US" b="1" i="1" dirty="0" smtClean="0">
                        <a:solidFill>
                          <a:schemeClr val="accent5"/>
                        </a:solidFill>
                        <a:latin typeface="Cambria Math" panose="02040503050406030204" pitchFamily="18" charset="0"/>
                      </a:rPr>
                      <m:t>𝑵𝒎</m:t>
                    </m:r>
                    <m:r>
                      <a:rPr lang="en-US" altLang="ja-JP" b="1" i="1" dirty="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𝑪𝒑</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𝟎</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m:t>
                    </m:r>
                    <m:r>
                      <a:rPr lang="en-US" altLang="ja-JP" b="1" i="1" dirty="0" smtClean="0">
                        <a:solidFill>
                          <a:schemeClr val="accent5"/>
                        </a:solidFill>
                        <a:latin typeface="Cambria Math" panose="02040503050406030204" pitchFamily="18" charset="0"/>
                      </a:rPr>
                      <m:t>𝟏</m:t>
                    </m:r>
                    <m:r>
                      <a:rPr lang="en-US" altLang="ja-JP" b="1" i="1" dirty="0" smtClean="0">
                        <a:solidFill>
                          <a:schemeClr val="accent5"/>
                        </a:solidFill>
                        <a:latin typeface="Cambria Math" panose="02040503050406030204" pitchFamily="18" charset="0"/>
                      </a:rPr>
                      <m:t>𝑴</m:t>
                    </m:r>
                  </m:oMath>
                </a14:m>
                <a:endParaRPr kumimoji="1" lang="en-US" b="1" dirty="0">
                  <a:solidFill>
                    <a:schemeClr val="accent5"/>
                  </a:solidFill>
                </a:endParaRPr>
              </a:p>
              <a:p>
                <a:pPr lvl="1"/>
                <a:r>
                  <a:rPr kumimoji="1" lang="ja-JP" altLang="en-US" dirty="0"/>
                  <a:t>分岐予測ミスにより </a:t>
                </a:r>
                <a:r>
                  <a:rPr kumimoji="1" lang="en-US" altLang="ja-JP" dirty="0"/>
                  <a:t>10% </a:t>
                </a:r>
                <a:r>
                  <a:rPr kumimoji="1" lang="ja-JP" altLang="en-US" dirty="0"/>
                  <a:t>実行サイクル数が伸びている</a:t>
                </a:r>
                <a:endParaRPr kumimoji="1" lang="en-US" dirty="0"/>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type="body" sz="quarter" idx="10"/>
              </p:nvPr>
            </p:nvSpPr>
            <p:spPr>
              <a:xfrm>
                <a:off x="1955955" y="1088974"/>
                <a:ext cx="8550095" cy="5220058"/>
              </a:xfrm>
              <a:blipFill>
                <a:blip r:embed="rId2"/>
                <a:stretch>
                  <a:fillRect l="-642" t="-2570" b="-432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626678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en-US" dirty="0"/>
              <a:t>IPC </a:t>
            </a:r>
            <a:r>
              <a:rPr kumimoji="1" lang="ja-JP" altLang="en-US" dirty="0"/>
              <a:t>で考えると</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r>
                  <a:rPr lang="ja-JP" altLang="en-US" i="1" dirty="0">
                    <a:latin typeface="Cambria Math" panose="02040503050406030204" pitchFamily="18" charset="0"/>
                  </a:rPr>
                  <a:t>最終的な性能を考える上で </a:t>
                </a:r>
                <a:r>
                  <a:rPr lang="en-US" altLang="ja-JP" i="0" dirty="0">
                    <a:latin typeface="+mj-lt"/>
                  </a:rPr>
                  <a:t>IPC</a:t>
                </a:r>
                <a14:m>
                  <m:oMath xmlns:m="http://schemas.openxmlformats.org/officeDocument/2006/math">
                    <m:r>
                      <a:rPr lang="en-US" altLang="ja-JP" i="1" dirty="0" smtClean="0">
                        <a:latin typeface="Cambria Math" panose="02040503050406030204" pitchFamily="18" charset="0"/>
                      </a:rPr>
                      <m:t> </m:t>
                    </m:r>
                  </m:oMath>
                </a14:m>
                <a:r>
                  <a:rPr lang="en-US" altLang="ja-JP" i="1" dirty="0">
                    <a:latin typeface="Cambria Math" panose="02040503050406030204" pitchFamily="18" charset="0"/>
                  </a:rPr>
                  <a:t> </a:t>
                </a:r>
                <a:r>
                  <a:rPr lang="ja-JP" altLang="en-US" i="1" dirty="0">
                    <a:latin typeface="Cambria Math" panose="02040503050406030204" pitchFamily="18" charset="0"/>
                  </a:rPr>
                  <a:t>の方が都合がよい</a:t>
                </a:r>
                <a:endParaRPr lang="en-US" altLang="ja-JP" i="1" dirty="0">
                  <a:latin typeface="Cambria Math" panose="02040503050406030204" pitchFamily="18" charset="0"/>
                </a:endParaRPr>
              </a:p>
              <a:p>
                <a14:m>
                  <m:oMath xmlns:m="http://schemas.openxmlformats.org/officeDocument/2006/math">
                    <m:r>
                      <a:rPr lang="ja-JP" altLang="en-US" i="1" dirty="0" smtClean="0">
                        <a:latin typeface="Cambria Math" panose="02040503050406030204" pitchFamily="18" charset="0"/>
                      </a:rPr>
                      <m:t>実行サイクル数</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𝐶𝑟</m:t>
                    </m:r>
                  </m:oMath>
                </a14:m>
                <a:r>
                  <a:rPr kumimoji="1" lang="ja-JP" altLang="en-US" dirty="0"/>
                  <a:t> を命令数 </a:t>
                </a:r>
                <a14:m>
                  <m:oMath xmlns:m="http://schemas.openxmlformats.org/officeDocument/2006/math">
                    <m:r>
                      <a:rPr kumimoji="1" lang="en-US" altLang="ja-JP" i="1" dirty="0" smtClean="0">
                        <a:latin typeface="Cambria Math" panose="02040503050406030204" pitchFamily="18" charset="0"/>
                      </a:rPr>
                      <m:t>𝑁𝑖</m:t>
                    </m:r>
                  </m:oMath>
                </a14:m>
                <a:r>
                  <a:rPr kumimoji="1" lang="en-US" dirty="0"/>
                  <a:t> </a:t>
                </a:r>
                <a:r>
                  <a:rPr kumimoji="1" lang="ja-JP" altLang="en-US" dirty="0"/>
                  <a:t>で正規化すると，</a:t>
                </a:r>
                <a:endParaRPr kumimoji="1" lang="en-US" altLang="ja-JP" dirty="0"/>
              </a:p>
              <a:p>
                <a:pPr lvl="1"/>
                <a14:m>
                  <m:oMath xmlns:m="http://schemas.openxmlformats.org/officeDocument/2006/math">
                    <m:f>
                      <m:fPr>
                        <m:ctrlPr>
                          <a:rPr lang="en-US" altLang="ja-JP" b="0" i="1" dirty="0" smtClean="0">
                            <a:latin typeface="Cambria Math" panose="02040503050406030204" pitchFamily="18" charset="0"/>
                          </a:rPr>
                        </m:ctrlPr>
                      </m:fPr>
                      <m:num>
                        <m:r>
                          <a:rPr lang="en-US" altLang="ja-JP" i="1" dirty="0" smtClean="0">
                            <a:latin typeface="Cambria Math" panose="02040503050406030204" pitchFamily="18" charset="0"/>
                          </a:rPr>
                          <m:t>𝐶𝑟</m:t>
                        </m:r>
                      </m:num>
                      <m:den>
                        <m:r>
                          <a:rPr lang="en-US" altLang="ja-JP" b="0" i="1" dirty="0" smtClean="0">
                            <a:latin typeface="Cambria Math" panose="02040503050406030204" pitchFamily="18" charset="0"/>
                          </a:rPr>
                          <m:t>𝑁𝑖</m:t>
                        </m:r>
                      </m:den>
                    </m:f>
                    <m:r>
                      <a:rPr lang="en-US" altLang="ja-JP"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𝑁𝑚</m:t>
                            </m:r>
                            <m:r>
                              <a:rPr lang="en-US" altLang="ja-JP" i="1" dirty="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b="0" i="1" dirty="0" smtClean="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b="0" i="1" dirty="0" smtClean="0">
                        <a:latin typeface="Cambria Math" panose="02040503050406030204" pitchFamily="18" charset="0"/>
                      </a:rPr>
                      <m:t>=</m:t>
                    </m:r>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𝑃𝑏</m:t>
                    </m:r>
                    <m:r>
                      <a:rPr kumimoji="1" lang="en-US" altLang="ja-JP" b="0"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𝑃𝑚</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oMath>
                </a14:m>
                <a:endParaRPr kumimoji="1" lang="en-US" altLang="ja-JP" dirty="0">
                  <a:solidFill>
                    <a:schemeClr val="accent5"/>
                  </a:solidFill>
                </a:endParaRPr>
              </a:p>
              <a:p>
                <a:pPr lvl="1"/>
                <a:endParaRPr kumimoji="1" lang="en-US" dirty="0">
                  <a:solidFill>
                    <a:schemeClr val="accent5"/>
                  </a:solidFill>
                </a:endParaRPr>
              </a:p>
              <a:p>
                <a:r>
                  <a:rPr lang="en-US" altLang="ja-JP" dirty="0"/>
                  <a:t>IPC </a:t>
                </a:r>
                <a:r>
                  <a:rPr lang="ja-JP" altLang="en-US" dirty="0"/>
                  <a:t>は命令数を実行サイクル数で割ったもの </a:t>
                </a:r>
                <a:r>
                  <a:rPr lang="en-US" altLang="ja-JP" dirty="0"/>
                  <a:t>= </a:t>
                </a:r>
                <a:r>
                  <a:rPr lang="ja-JP" altLang="en-US" dirty="0"/>
                  <a:t>つまり上記の逆数</a:t>
                </a:r>
                <a:r>
                  <a:rPr kumimoji="1" lang="ja-JP" altLang="en-US" dirty="0"/>
                  <a:t> </a:t>
                </a:r>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𝐼𝑃𝐶𝑟</m:t>
                    </m:r>
                  </m:oMath>
                </a14:m>
                <a:r>
                  <a:rPr kumimoji="1" lang="en-US" dirty="0"/>
                  <a:t>=</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a:solidFill>
                              <a:schemeClr val="accent5"/>
                            </a:solidFill>
                            <a:latin typeface="Cambria Math" panose="02040503050406030204" pitchFamily="18" charset="0"/>
                          </a:rPr>
                          <m:t>𝑃𝑏</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𝑃𝑚</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den>
                    </m:f>
                    <m:r>
                      <a:rPr lang="en-US" altLang="ja-JP" b="0" i="1" dirty="0" smtClean="0">
                        <a:latin typeface="Cambria Math" panose="02040503050406030204" pitchFamily="18" charset="0"/>
                      </a:rPr>
                      <m:t>=</m:t>
                    </m:r>
                    <m:f>
                      <m:fPr>
                        <m:ctrlPr>
                          <a:rPr lang="en-US" altLang="ja-JP" i="1" dirty="0" smtClean="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f>
                          <m:fPr>
                            <m:ctrlPr>
                              <a:rPr lang="en-US" altLang="ja-JP" i="1" dirty="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r>
                              <a:rPr lang="en-US" altLang="ja-JP" b="0" i="1" dirty="0" smtClean="0">
                                <a:solidFill>
                                  <a:schemeClr val="accent6"/>
                                </a:solidFill>
                                <a:latin typeface="Cambria Math" panose="02040503050406030204" pitchFamily="18" charset="0"/>
                              </a:rPr>
                              <m:t>𝐼𝑃𝐶𝑡</m:t>
                            </m:r>
                          </m:den>
                        </m:f>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𝑃𝑏</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𝑃𝑚</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𝐶𝑝</m:t>
                        </m:r>
                      </m:den>
                    </m:f>
                  </m:oMath>
                </a14:m>
                <a:endParaRPr lang="en-US" altLang="ja-JP" dirty="0"/>
              </a:p>
              <a:p>
                <a:pPr lvl="1"/>
                <a14:m>
                  <m:oMath xmlns:m="http://schemas.openxmlformats.org/officeDocument/2006/math">
                    <m:r>
                      <a:rPr lang="ja-JP" altLang="en-US" i="1" dirty="0">
                        <a:latin typeface="Cambria Math" panose="02040503050406030204" pitchFamily="18" charset="0"/>
                      </a:rPr>
                      <m:t>ここで</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𝐼𝑃𝐶𝑟</m:t>
                    </m:r>
                  </m:oMath>
                </a14:m>
                <a:r>
                  <a:rPr lang="en-US" altLang="ja-JP" dirty="0"/>
                  <a:t> </a:t>
                </a:r>
                <a:r>
                  <a:rPr lang="ja-JP" altLang="en-US" dirty="0"/>
                  <a:t>は実際の </a:t>
                </a:r>
                <a:r>
                  <a:rPr lang="en-US" altLang="ja-JP" dirty="0"/>
                  <a:t>IPC</a:t>
                </a:r>
                <a:r>
                  <a:rPr lang="ja-JP" altLang="en-US" dirty="0"/>
                  <a:t>，</a:t>
                </a:r>
                <a14:m>
                  <m:oMath xmlns:m="http://schemas.openxmlformats.org/officeDocument/2006/math">
                    <m:r>
                      <a:rPr lang="en-US" altLang="ja-JP" i="1" dirty="0" smtClean="0">
                        <a:latin typeface="Cambria Math" panose="02040503050406030204" pitchFamily="18" charset="0"/>
                      </a:rPr>
                      <m:t>𝐼𝑃𝐶𝑡</m:t>
                    </m:r>
                  </m:oMath>
                </a14:m>
                <a:r>
                  <a:rPr lang="en-US" altLang="ja-JP" dirty="0"/>
                  <a:t> </a:t>
                </a:r>
                <a:r>
                  <a:rPr lang="ja-JP" altLang="en-US" dirty="0"/>
                  <a:t>は理想 </a:t>
                </a:r>
                <a:r>
                  <a:rPr lang="en-US" altLang="ja-JP" dirty="0"/>
                  <a:t>IPC</a:t>
                </a: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r="-692"/>
                </a:stretch>
              </a:blipFill>
            </p:spPr>
            <p:txBody>
              <a:bodyPr/>
              <a:lstStyle/>
              <a:p>
                <a:r>
                  <a:rPr lang="en-US">
                    <a:noFill/>
                  </a:rPr>
                  <a:t> </a:t>
                </a:r>
              </a:p>
            </p:txBody>
          </p:sp>
        </mc:Fallback>
      </mc:AlternateContent>
    </p:spTree>
    <p:extLst>
      <p:ext uri="{BB962C8B-B14F-4D97-AF65-F5344CB8AC3E}">
        <p14:creationId xmlns:p14="http://schemas.microsoft.com/office/powerpoint/2010/main" val="3605541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en-US" dirty="0"/>
              <a:t>IPC </a:t>
            </a:r>
            <a:r>
              <a:rPr kumimoji="1" lang="ja-JP" altLang="en-US" dirty="0"/>
              <a:t>の式のまとめ</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14:m>
                  <m:oMath xmlns:m="http://schemas.openxmlformats.org/officeDocument/2006/math">
                    <m:r>
                      <a:rPr lang="en-US" altLang="ja-JP" i="1" dirty="0" smtClean="0">
                        <a:latin typeface="Cambria Math" panose="02040503050406030204" pitchFamily="18" charset="0"/>
                      </a:rPr>
                      <m:t>𝐼𝑃𝐶𝑟</m:t>
                    </m:r>
                    <m:r>
                      <m:rPr>
                        <m:nor/>
                      </m:rPr>
                      <a:rPr lang="en-US" altLang="ja-JP" dirty="0"/>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𝐼𝑃𝐶𝑡</m:t>
                            </m:r>
                          </m:den>
                        </m:f>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i="1" dirty="0">
                            <a:latin typeface="Cambria Math" panose="02040503050406030204" pitchFamily="18" charset="0"/>
                          </a:rPr>
                          <m:t>×</m:t>
                        </m:r>
                        <m:r>
                          <a:rPr lang="en-US" altLang="ja-JP" i="1" dirty="0">
                            <a:latin typeface="Cambria Math" panose="02040503050406030204" pitchFamily="18" charset="0"/>
                          </a:rPr>
                          <m:t>𝐶𝑝</m:t>
                        </m:r>
                      </m:den>
                    </m:f>
                  </m:oMath>
                </a14:m>
                <a:endParaRPr lang="en-US" altLang="ja-JP" dirty="0"/>
              </a:p>
              <a:p>
                <a:pPr lvl="1"/>
                <a:endParaRPr lang="en-US" altLang="ja-JP" dirty="0"/>
              </a:p>
              <a:p>
                <a:pPr lvl="1"/>
                <a:r>
                  <a:rPr lang="ja-JP" altLang="en-US" dirty="0"/>
                  <a:t>実際の </a:t>
                </a:r>
                <a:r>
                  <a:rPr lang="en-US" altLang="ja-JP" dirty="0"/>
                  <a:t>IPC</a:t>
                </a:r>
                <a:r>
                  <a:rPr lang="ja-JP" altLang="en-US" dirty="0"/>
                  <a:t>：</a:t>
                </a:r>
                <a:r>
                  <a:rPr lang="en-US" altLang="ja-JP" dirty="0"/>
                  <a:t>	</a:t>
                </a:r>
                <a:r>
                  <a:rPr lang="en-US" altLang="ja-JP" i="0" dirty="0">
                    <a:latin typeface="+mj-lt"/>
                  </a:rPr>
                  <a:t> 			</a:t>
                </a:r>
                <a14:m>
                  <m:oMath xmlns:m="http://schemas.openxmlformats.org/officeDocument/2006/math">
                    <m:r>
                      <a:rPr lang="en-US" altLang="ja-JP" i="1" dirty="0">
                        <a:latin typeface="Cambria Math" panose="02040503050406030204" pitchFamily="18" charset="0"/>
                      </a:rPr>
                      <m:t>𝐼𝑃𝐶𝑟</m:t>
                    </m:r>
                  </m:oMath>
                </a14:m>
                <a:r>
                  <a:rPr lang="en-US" altLang="ja-JP" dirty="0"/>
                  <a:t> </a:t>
                </a:r>
                <a:br>
                  <a:rPr lang="en-US" altLang="ja-JP" dirty="0"/>
                </a:br>
                <a:endParaRPr lang="en-US" altLang="ja-JP" dirty="0"/>
              </a:p>
              <a:p>
                <a:pPr lvl="1"/>
                <a:r>
                  <a:rPr lang="ja-JP" altLang="en-US" dirty="0"/>
                  <a:t>予測ミスがなかった場合の理想 </a:t>
                </a:r>
                <a:r>
                  <a:rPr lang="en-US" altLang="ja-JP" dirty="0"/>
                  <a:t>IPC</a:t>
                </a:r>
                <a:r>
                  <a:rPr lang="ja-JP" altLang="en-US" dirty="0"/>
                  <a:t>：</a:t>
                </a:r>
                <a:r>
                  <a:rPr lang="en-US" altLang="ja-JP" dirty="0"/>
                  <a:t>	</a:t>
                </a:r>
                <a14:m>
                  <m:oMath xmlns:m="http://schemas.openxmlformats.org/officeDocument/2006/math">
                    <m:r>
                      <a:rPr lang="en-US" altLang="ja-JP" i="1" dirty="0" smtClean="0">
                        <a:latin typeface="Cambria Math" panose="02040503050406030204" pitchFamily="18" charset="0"/>
                      </a:rPr>
                      <m:t>𝐼𝑃𝐶𝑡</m:t>
                    </m:r>
                  </m:oMath>
                </a14:m>
                <a:r>
                  <a:rPr lang="en-US" altLang="ja-JP" dirty="0"/>
                  <a:t> </a:t>
                </a:r>
                <a:endParaRPr kumimoji="1" lang="en-US" altLang="ja-JP" dirty="0"/>
              </a:p>
              <a:p>
                <a:pPr lvl="1"/>
                <a:r>
                  <a:rPr lang="ja-JP" altLang="en-US" dirty="0"/>
                  <a:t>プログラム中の分岐命令の出現率：</a:t>
                </a:r>
                <a:r>
                  <a:rPr lang="en-US" altLang="ja-JP" dirty="0"/>
                  <a:t>	</a:t>
                </a:r>
                <a14:m>
                  <m:oMath xmlns:m="http://schemas.openxmlformats.org/officeDocument/2006/math">
                    <m:r>
                      <a:rPr lang="en-US" altLang="ja-JP" i="1" dirty="0">
                        <a:latin typeface="Cambria Math" panose="02040503050406030204" pitchFamily="18" charset="0"/>
                      </a:rPr>
                      <m:t>𝑃𝑏</m:t>
                    </m:r>
                  </m:oMath>
                </a14:m>
                <a:endParaRPr kumimoji="1" lang="en-US" altLang="ja-JP" dirty="0"/>
              </a:p>
              <a:p>
                <a:pPr lvl="1"/>
                <a:r>
                  <a:rPr kumimoji="1" lang="ja-JP" altLang="en-US" dirty="0"/>
                  <a:t>分岐命令毎の予測ミス発生率：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𝑃𝑚</m:t>
                    </m:r>
                  </m:oMath>
                </a14:m>
                <a:endParaRPr kumimoji="1" lang="en-US" altLang="ja-JP" dirty="0"/>
              </a:p>
              <a:p>
                <a:pPr lvl="1"/>
                <a:r>
                  <a:rPr kumimoji="1" lang="ja-JP" altLang="en-US" dirty="0"/>
                  <a:t>分岐予測ミス・ペナルティ（サイクル）：</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pPr lvl="1"/>
                <a:endParaRPr lang="en-US" altLang="ja-JP" dirty="0"/>
              </a:p>
              <a:p>
                <a:pPr lvl="1"/>
                <a:r>
                  <a:rPr lang="ja-JP" altLang="en-US" dirty="0"/>
                  <a:t>（実行命令数が項から消えている</a:t>
                </a:r>
                <a:endParaRPr lang="en-US" altLang="ja-JP" dirty="0"/>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7994804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ja-JP" altLang="en-US" dirty="0"/>
              <a:t>スカラの５段パイプライン・プロセッサの </a:t>
            </a:r>
            <a:r>
              <a:rPr kumimoji="1" lang="en-US" altLang="ja-JP" dirty="0"/>
              <a:t>IPC</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14:m>
                  <m:oMath xmlns:m="http://schemas.openxmlformats.org/officeDocument/2006/math">
                    <m:r>
                      <a:rPr lang="en-US" altLang="ja-JP" i="1" dirty="0" smtClean="0">
                        <a:latin typeface="Cambria Math" panose="02040503050406030204" pitchFamily="18" charset="0"/>
                      </a:rPr>
                      <m:t>𝐼𝑃𝐶𝑟</m:t>
                    </m:r>
                    <m:r>
                      <m:rPr>
                        <m:nor/>
                      </m:rPr>
                      <a:rPr lang="en-US" altLang="ja-JP" dirty="0"/>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𝐼𝑃𝐶𝑡</m:t>
                            </m:r>
                          </m:den>
                        </m:f>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i="1" dirty="0">
                            <a:latin typeface="Cambria Math" panose="02040503050406030204" pitchFamily="18" charset="0"/>
                          </a:rPr>
                          <m:t>×</m:t>
                        </m:r>
                        <m:r>
                          <a:rPr lang="en-US" altLang="ja-JP" i="1" dirty="0">
                            <a:latin typeface="Cambria Math" panose="02040503050406030204" pitchFamily="18" charset="0"/>
                          </a:rPr>
                          <m:t>𝐶𝑝</m:t>
                        </m:r>
                      </m:den>
                    </m:f>
                  </m:oMath>
                </a14:m>
                <a:endParaRPr lang="en-US" altLang="ja-JP" dirty="0"/>
              </a:p>
              <a:p>
                <a:r>
                  <a:rPr lang="ja-JP" altLang="en-US" i="0" dirty="0">
                    <a:latin typeface="+mj-lt"/>
                  </a:rPr>
                  <a:t>ここで，</a:t>
                </a:r>
                <a:br>
                  <a:rPr lang="en-US" altLang="ja-JP" i="0" dirty="0">
                    <a:latin typeface="+mj-lt"/>
                  </a:rPr>
                </a:br>
                <a:r>
                  <a:rPr lang="ja-JP" altLang="en-US" i="0" dirty="0">
                    <a:latin typeface="+mj-lt"/>
                  </a:rPr>
                  <a:t>理想 </a:t>
                </a:r>
                <a:r>
                  <a:rPr lang="en-US" altLang="ja-JP" i="0" dirty="0">
                    <a:latin typeface="+mj-lt"/>
                  </a:rPr>
                  <a:t>IPC	</a:t>
                </a:r>
                <a:r>
                  <a:rPr lang="en-US" altLang="ja-JP" b="0" i="0" dirty="0">
                    <a:latin typeface="+mj-lt"/>
                  </a:rPr>
                  <a:t> </a:t>
                </a:r>
                <a14:m>
                  <m:oMath xmlns:m="http://schemas.openxmlformats.org/officeDocument/2006/math">
                    <m:r>
                      <a:rPr lang="en-US" altLang="ja-JP" i="1" dirty="0" smtClean="0">
                        <a:latin typeface="Cambria Math" panose="02040503050406030204" pitchFamily="18" charset="0"/>
                      </a:rPr>
                      <m:t>𝐼𝑃𝐶𝑡</m:t>
                    </m:r>
                    <m:r>
                      <a:rPr lang="en-US" altLang="ja-JP" b="0" i="0" dirty="0" smtClean="0">
                        <a:latin typeface="Cambria Math" panose="02040503050406030204" pitchFamily="18" charset="0"/>
                      </a:rPr>
                      <m:t>=1</m:t>
                    </m:r>
                  </m:oMath>
                </a14:m>
                <a:r>
                  <a:rPr lang="ja-JP" altLang="en-US" dirty="0"/>
                  <a:t>，</a:t>
                </a:r>
                <a:br>
                  <a:rPr lang="en-US" altLang="ja-JP" dirty="0"/>
                </a:br>
                <a:r>
                  <a:rPr lang="ja-JP" altLang="en-US" dirty="0"/>
                  <a:t>分岐発生率</a:t>
                </a:r>
                <a:r>
                  <a:rPr lang="en-US" altLang="ja-JP" dirty="0"/>
                  <a:t>	</a:t>
                </a:r>
                <a:r>
                  <a:rPr lang="ja-JP" altLang="en-US" dirty="0"/>
                  <a:t> </a:t>
                </a:r>
                <a14:m>
                  <m:oMath xmlns:m="http://schemas.openxmlformats.org/officeDocument/2006/math">
                    <m:r>
                      <a:rPr lang="en-US" altLang="ja-JP" i="1" dirty="0" smtClean="0">
                        <a:latin typeface="Cambria Math" panose="02040503050406030204" pitchFamily="18" charset="0"/>
                      </a:rPr>
                      <m:t>𝑃𝑏</m:t>
                    </m:r>
                    <m:r>
                      <a:rPr lang="en-US" altLang="ja-JP" i="1" dirty="0" smtClean="0">
                        <a:latin typeface="Cambria Math" panose="02040503050406030204" pitchFamily="18" charset="0"/>
                      </a:rPr>
                      <m:t>=0.25</m:t>
                    </m:r>
                  </m:oMath>
                </a14:m>
                <a:r>
                  <a:rPr lang="ja-JP" altLang="en-US" dirty="0"/>
                  <a:t>，</a:t>
                </a:r>
                <a:br>
                  <a:rPr lang="en-US" altLang="ja-JP" dirty="0"/>
                </a:br>
                <a:r>
                  <a:rPr lang="ja-JP" altLang="en-US" dirty="0"/>
                  <a:t>予測ミス率</a:t>
                </a:r>
                <a:r>
                  <a:rPr lang="en-US" altLang="ja-JP" dirty="0"/>
                  <a:t>	</a:t>
                </a:r>
                <a:r>
                  <a:rPr lang="ja-JP" altLang="en-US" dirty="0"/>
                  <a:t> </a:t>
                </a:r>
                <a14:m>
                  <m:oMath xmlns:m="http://schemas.openxmlformats.org/officeDocument/2006/math">
                    <m:r>
                      <a:rPr lang="en-US" altLang="ja-JP" i="1" dirty="0" smtClean="0">
                        <a:latin typeface="Cambria Math" panose="02040503050406030204" pitchFamily="18" charset="0"/>
                      </a:rPr>
                      <m:t>𝑃𝑚</m:t>
                    </m:r>
                    <m:r>
                      <a:rPr lang="en-US" altLang="ja-JP" i="1" dirty="0" smtClean="0">
                        <a:latin typeface="Cambria Math" panose="02040503050406030204" pitchFamily="18" charset="0"/>
                      </a:rPr>
                      <m:t>=0.2</m:t>
                    </m:r>
                  </m:oMath>
                </a14:m>
                <a:r>
                  <a:rPr lang="ja-JP" altLang="en-US" dirty="0"/>
                  <a:t>，</a:t>
                </a:r>
                <a:br>
                  <a:rPr lang="en-US" altLang="ja-JP" dirty="0"/>
                </a:br>
                <a:r>
                  <a:rPr lang="ja-JP" altLang="en-US" i="0" dirty="0">
                    <a:latin typeface="+mj-lt"/>
                  </a:rPr>
                  <a:t>ペナルティ</a:t>
                </a:r>
                <a:r>
                  <a:rPr lang="en-US" altLang="ja-JP" i="0" dirty="0">
                    <a:latin typeface="+mj-lt"/>
                  </a:rPr>
                  <a:t>	 </a:t>
                </a:r>
                <a14:m>
                  <m:oMath xmlns:m="http://schemas.openxmlformats.org/officeDocument/2006/math">
                    <m:r>
                      <a:rPr lang="en-US" altLang="ja-JP" i="1" dirty="0" smtClean="0">
                        <a:latin typeface="Cambria Math" panose="02040503050406030204" pitchFamily="18" charset="0"/>
                      </a:rPr>
                      <m:t>𝐶𝑝</m:t>
                    </m:r>
                    <m:r>
                      <a:rPr lang="en-US" altLang="ja-JP" i="1" dirty="0" smtClean="0">
                        <a:latin typeface="Cambria Math" panose="02040503050406030204" pitchFamily="18" charset="0"/>
                      </a:rPr>
                      <m:t>=4</m:t>
                    </m:r>
                  </m:oMath>
                </a14:m>
                <a:r>
                  <a:rPr lang="en-US" altLang="ja-JP" dirty="0"/>
                  <a:t> </a:t>
                </a:r>
                <a:r>
                  <a:rPr lang="ja-JP" altLang="en-US" dirty="0"/>
                  <a:t>（</a:t>
                </a:r>
                <a:r>
                  <a:rPr lang="en-US" altLang="ja-JP" dirty="0"/>
                  <a:t>5</a:t>
                </a:r>
                <a:r>
                  <a:rPr lang="ja-JP" altLang="en-US" dirty="0"/>
                  <a:t>段なので</a:t>
                </a:r>
                <a14:m>
                  <m:oMath xmlns:m="http://schemas.openxmlformats.org/officeDocument/2006/math">
                    <m:r>
                      <a:rPr lang="en-US" altLang="ja-JP" i="1" dirty="0" smtClean="0">
                        <a:latin typeface="Cambria Math" panose="02040503050406030204" pitchFamily="18" charset="0"/>
                      </a:rPr>
                      <m:t>5−1</m:t>
                    </m:r>
                    <m:r>
                      <a:rPr lang="en-US" altLang="ja-JP" b="0" i="1" dirty="0" smtClean="0">
                        <a:latin typeface="Cambria Math" panose="02040503050406030204" pitchFamily="18" charset="0"/>
                      </a:rPr>
                      <m:t>=4</m:t>
                    </m:r>
                  </m:oMath>
                </a14:m>
                <a:r>
                  <a:rPr lang="ja-JP" altLang="en-US" dirty="0"/>
                  <a:t>サイクル）とすると，</a:t>
                </a:r>
                <a:endParaRPr lang="en-US" altLang="ja-JP" dirty="0"/>
              </a:p>
              <a:p>
                <a:pPr lvl="1"/>
                <a14:m>
                  <m:oMath xmlns:m="http://schemas.openxmlformats.org/officeDocument/2006/math">
                    <m:r>
                      <a:rPr lang="en-US" altLang="ja-JP" i="1" dirty="0" smtClean="0">
                        <a:latin typeface="Cambria Math" panose="02040503050406030204" pitchFamily="18" charset="0"/>
                      </a:rPr>
                      <m:t>𝐼𝑃𝐶𝑟</m:t>
                    </m:r>
                    <m:r>
                      <a:rPr lang="en-US" altLang="ja-JP" b="0"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1+0.25×</m:t>
                        </m:r>
                        <m:r>
                          <a:rPr lang="en-US" altLang="ja-JP" b="0" i="1" dirty="0" smtClean="0">
                            <a:latin typeface="Cambria Math" panose="02040503050406030204" pitchFamily="18" charset="0"/>
                          </a:rPr>
                          <m:t>0.2</m:t>
                        </m:r>
                        <m:r>
                          <a:rPr lang="en-US" altLang="ja-JP" i="1" dirty="0">
                            <a:latin typeface="Cambria Math" panose="02040503050406030204" pitchFamily="18" charset="0"/>
                          </a:rPr>
                          <m:t>×</m:t>
                        </m:r>
                        <m:r>
                          <a:rPr lang="en-US" altLang="ja-JP" b="0" i="1" dirty="0" smtClean="0">
                            <a:solidFill>
                              <a:schemeClr val="accent5"/>
                            </a:solidFill>
                            <a:latin typeface="Cambria Math" panose="02040503050406030204" pitchFamily="18" charset="0"/>
                          </a:rPr>
                          <m:t>4</m:t>
                        </m:r>
                      </m:den>
                    </m:f>
                    <m:r>
                      <a:rPr lang="ja-JP" altLang="en-US" b="0" i="1" dirty="0">
                        <a:latin typeface="Cambria Math" panose="02040503050406030204" pitchFamily="18" charset="0"/>
                      </a:rPr>
                      <m:t>≃</m:t>
                    </m:r>
                    <m:r>
                      <a:rPr lang="en-US" altLang="ja-JP" b="0" i="1" dirty="0" smtClean="0">
                        <a:latin typeface="Cambria Math" panose="02040503050406030204" pitchFamily="18" charset="0"/>
                      </a:rPr>
                      <m:t>0.83</m:t>
                    </m:r>
                  </m:oMath>
                </a14:m>
                <a:endParaRPr lang="en-US" altLang="ja-JP" dirty="0"/>
              </a:p>
              <a:p>
                <a:pPr lvl="1"/>
                <a:r>
                  <a:rPr lang="ja-JP" altLang="en-US" dirty="0"/>
                  <a:t>つまり分岐予測ミスが無かった場合の理想 </a:t>
                </a:r>
                <a:r>
                  <a:rPr lang="en-US" altLang="ja-JP" dirty="0"/>
                  <a:t>IPC </a:t>
                </a:r>
                <a:r>
                  <a:rPr lang="ja-JP" altLang="en-US" dirty="0"/>
                  <a:t>と比べて</a:t>
                </a:r>
                <a:br>
                  <a:rPr lang="en-US" altLang="ja-JP" dirty="0"/>
                </a:br>
                <a:r>
                  <a:rPr lang="en-US" altLang="ja-JP" dirty="0"/>
                  <a:t>17% </a:t>
                </a:r>
                <a:r>
                  <a:rPr lang="ja-JP" altLang="en-US" dirty="0"/>
                  <a:t>ぐらい </a:t>
                </a:r>
                <a:r>
                  <a:rPr lang="en-US" altLang="ja-JP" dirty="0"/>
                  <a:t>IPC </a:t>
                </a:r>
                <a:r>
                  <a:rPr lang="ja-JP" altLang="en-US" dirty="0"/>
                  <a:t>が落ちている</a:t>
                </a:r>
                <a:endParaRPr lang="en-US" altLang="ja-JP" dirty="0"/>
              </a:p>
            </p:txBody>
          </p:sp>
        </mc:Choice>
        <mc:Fallback>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63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81243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ja-JP" altLang="en-US" dirty="0"/>
              <a:t>パイプライン段数を２倍にした時の </a:t>
            </a:r>
            <a:r>
              <a:rPr kumimoji="1" lang="en-US" altLang="ja-JP" dirty="0"/>
              <a:t>IPC</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14:m>
                  <m:oMath xmlns:m="http://schemas.openxmlformats.org/officeDocument/2006/math">
                    <m:r>
                      <a:rPr lang="en-US" altLang="ja-JP" i="1" dirty="0" smtClean="0">
                        <a:latin typeface="Cambria Math" panose="02040503050406030204" pitchFamily="18" charset="0"/>
                      </a:rPr>
                      <m:t>𝐼𝑃𝐶𝑟</m:t>
                    </m:r>
                    <m:r>
                      <m:rPr>
                        <m:nor/>
                      </m:rPr>
                      <a:rPr lang="en-US" altLang="ja-JP" dirty="0"/>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𝐼𝑃𝐶𝑡</m:t>
                            </m:r>
                          </m:den>
                        </m:f>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i="1" dirty="0">
                            <a:latin typeface="Cambria Math" panose="02040503050406030204" pitchFamily="18" charset="0"/>
                          </a:rPr>
                          <m:t>×</m:t>
                        </m:r>
                        <m:r>
                          <a:rPr lang="en-US" altLang="ja-JP" i="1" dirty="0">
                            <a:latin typeface="Cambria Math" panose="02040503050406030204" pitchFamily="18" charset="0"/>
                          </a:rPr>
                          <m:t>𝐶𝑝</m:t>
                        </m:r>
                      </m:den>
                    </m:f>
                  </m:oMath>
                </a14:m>
                <a:endParaRPr lang="en-US" altLang="ja-JP" dirty="0"/>
              </a:p>
              <a:p>
                <a:r>
                  <a:rPr kumimoji="1" lang="ja-JP" altLang="en-US" dirty="0"/>
                  <a:t>パイプライン段数を２倍に</a:t>
                </a:r>
                <a:r>
                  <a:rPr lang="ja-JP" altLang="en-US" i="1" dirty="0">
                    <a:latin typeface="Cambria Math" panose="02040503050406030204" pitchFamily="18" charset="0"/>
                  </a:rPr>
                  <a:t>すると･･･</a:t>
                </a:r>
                <a:endParaRPr lang="en-US" altLang="ja-JP" i="1" dirty="0">
                  <a:latin typeface="Cambria Math" panose="02040503050406030204" pitchFamily="18" charset="0"/>
                </a:endParaRPr>
              </a:p>
              <a:p>
                <a:pPr lvl="1"/>
                <a14:m>
                  <m:oMath xmlns:m="http://schemas.openxmlformats.org/officeDocument/2006/math">
                    <m:r>
                      <a:rPr lang="en-US" altLang="ja-JP" i="1" dirty="0">
                        <a:latin typeface="Cambria Math" panose="02040503050406030204" pitchFamily="18" charset="0"/>
                      </a:rPr>
                      <m:t>𝐼𝑃𝐶𝑡</m:t>
                    </m:r>
                    <m:r>
                      <a:rPr lang="en-US" altLang="ja-JP" dirty="0">
                        <a:latin typeface="Cambria Math" panose="02040503050406030204" pitchFamily="18" charset="0"/>
                      </a:rPr>
                      <m:t>=1</m:t>
                    </m:r>
                  </m:oMath>
                </a14:m>
                <a:r>
                  <a:rPr lang="ja-JP" altLang="en-US" i="0" dirty="0">
                    <a:latin typeface="+mj-lt"/>
                  </a:rPr>
                  <a:t>，</a:t>
                </a:r>
                <a14:m>
                  <m:oMath xmlns:m="http://schemas.openxmlformats.org/officeDocument/2006/math">
                    <m:r>
                      <a:rPr lang="en-US" altLang="ja-JP" i="1" dirty="0" smtClean="0">
                        <a:latin typeface="Cambria Math" panose="02040503050406030204" pitchFamily="18" charset="0"/>
                      </a:rPr>
                      <m:t>𝑃𝑏</m:t>
                    </m:r>
                    <m:r>
                      <a:rPr lang="en-US" altLang="ja-JP" i="1" dirty="0" smtClean="0">
                        <a:latin typeface="Cambria Math" panose="02040503050406030204" pitchFamily="18" charset="0"/>
                      </a:rPr>
                      <m:t>=0.25</m:t>
                    </m:r>
                  </m:oMath>
                </a14:m>
                <a:r>
                  <a:rPr lang="ja-JP" altLang="en-US" dirty="0"/>
                  <a:t>，</a:t>
                </a:r>
                <a14:m>
                  <m:oMath xmlns:m="http://schemas.openxmlformats.org/officeDocument/2006/math">
                    <m:r>
                      <a:rPr lang="en-US" altLang="ja-JP" i="1" dirty="0" smtClean="0">
                        <a:latin typeface="Cambria Math" panose="02040503050406030204" pitchFamily="18" charset="0"/>
                      </a:rPr>
                      <m:t>𝑃𝑚</m:t>
                    </m:r>
                    <m:r>
                      <a:rPr lang="en-US" altLang="ja-JP" i="1" dirty="0" smtClean="0">
                        <a:latin typeface="Cambria Math" panose="02040503050406030204" pitchFamily="18" charset="0"/>
                      </a:rPr>
                      <m:t>=0.2</m:t>
                    </m:r>
                  </m:oMath>
                </a14:m>
                <a:r>
                  <a:rPr lang="en-US" altLang="ja-JP" dirty="0"/>
                  <a:t> </a:t>
                </a:r>
                <a:r>
                  <a:rPr lang="ja-JP" altLang="en-US" dirty="0"/>
                  <a:t>は変わらない</a:t>
                </a:r>
                <a:endParaRPr lang="en-US" altLang="ja-JP" dirty="0"/>
              </a:p>
              <a:p>
                <a:pPr lvl="1"/>
                <a:r>
                  <a:rPr lang="ja-JP" altLang="en-US" i="0" dirty="0">
                    <a:solidFill>
                      <a:schemeClr val="accent5"/>
                    </a:solidFill>
                    <a:latin typeface="+mj-lt"/>
                  </a:rPr>
                  <a:t>ペナルティは</a:t>
                </a:r>
                <a:r>
                  <a:rPr lang="en-US" altLang="ja-JP" b="0" i="0" dirty="0">
                    <a:solidFill>
                      <a:schemeClr val="accent5"/>
                    </a:solidFill>
                    <a:latin typeface="+mj-lt"/>
                  </a:rPr>
                  <a:t> </a:t>
                </a:r>
                <a14:m>
                  <m:oMath xmlns:m="http://schemas.openxmlformats.org/officeDocument/2006/math">
                    <m:r>
                      <a:rPr lang="en-US" altLang="ja-JP" i="1" dirty="0">
                        <a:solidFill>
                          <a:schemeClr val="accent5"/>
                        </a:solidFill>
                        <a:latin typeface="Cambria Math" panose="02040503050406030204" pitchFamily="18" charset="0"/>
                      </a:rPr>
                      <m:t>𝐶𝑝</m:t>
                    </m:r>
                    <m:r>
                      <a:rPr lang="en-US" altLang="ja-JP" i="1" dirty="0">
                        <a:solidFill>
                          <a:schemeClr val="accent5"/>
                        </a:solidFill>
                        <a:latin typeface="Cambria Math" panose="02040503050406030204" pitchFamily="18" charset="0"/>
                      </a:rPr>
                      <m:t>=9</m:t>
                    </m:r>
                  </m:oMath>
                </a14:m>
                <a:r>
                  <a:rPr lang="en-US" altLang="ja-JP" dirty="0">
                    <a:solidFill>
                      <a:schemeClr val="accent5"/>
                    </a:solidFill>
                  </a:rPr>
                  <a:t> </a:t>
                </a:r>
                <a:r>
                  <a:rPr lang="ja-JP" altLang="en-US" dirty="0">
                    <a:solidFill>
                      <a:schemeClr val="accent5"/>
                    </a:solidFill>
                  </a:rPr>
                  <a:t>（</a:t>
                </a:r>
                <a:r>
                  <a:rPr lang="en-US" altLang="ja-JP" dirty="0">
                    <a:solidFill>
                      <a:schemeClr val="accent5"/>
                    </a:solidFill>
                  </a:rPr>
                  <a:t>10</a:t>
                </a:r>
                <a:r>
                  <a:rPr lang="ja-JP" altLang="en-US" dirty="0">
                    <a:solidFill>
                      <a:schemeClr val="accent5"/>
                    </a:solidFill>
                  </a:rPr>
                  <a:t>段なので </a:t>
                </a:r>
                <a14:m>
                  <m:oMath xmlns:m="http://schemas.openxmlformats.org/officeDocument/2006/math">
                    <m:r>
                      <a:rPr lang="en-US" altLang="ja-JP" i="1" dirty="0" smtClean="0">
                        <a:solidFill>
                          <a:schemeClr val="accent5"/>
                        </a:solidFill>
                        <a:latin typeface="Cambria Math" panose="02040503050406030204" pitchFamily="18" charset="0"/>
                      </a:rPr>
                      <m:t>10</m:t>
                    </m:r>
                    <m:r>
                      <a:rPr lang="ja-JP" altLang="en-US" i="1" dirty="0" smtClean="0">
                        <a:solidFill>
                          <a:schemeClr val="accent5"/>
                        </a:solidFill>
                        <a:latin typeface="Cambria Math" panose="02040503050406030204" pitchFamily="18" charset="0"/>
                      </a:rPr>
                      <m:t> </m:t>
                    </m:r>
                    <m:r>
                      <a:rPr lang="en-US" altLang="ja-JP" i="1" dirty="0">
                        <a:solidFill>
                          <a:schemeClr val="accent5"/>
                        </a:solidFill>
                        <a:latin typeface="Cambria Math" panose="02040503050406030204" pitchFamily="18" charset="0"/>
                      </a:rPr>
                      <m:t>− 1</m:t>
                    </m:r>
                    <m:r>
                      <a:rPr lang="en-US" altLang="ja-JP" b="0" i="1" dirty="0" smtClean="0">
                        <a:solidFill>
                          <a:schemeClr val="accent5"/>
                        </a:solidFill>
                        <a:latin typeface="Cambria Math" panose="02040503050406030204" pitchFamily="18" charset="0"/>
                      </a:rPr>
                      <m:t>=9</m:t>
                    </m:r>
                  </m:oMath>
                </a14:m>
                <a:r>
                  <a:rPr lang="ja-JP" altLang="en-US" dirty="0">
                    <a:solidFill>
                      <a:schemeClr val="accent5"/>
                    </a:solidFill>
                  </a:rPr>
                  <a:t>）に</a:t>
                </a:r>
                <a:endParaRPr lang="en-US" altLang="ja-JP" i="1" dirty="0">
                  <a:solidFill>
                    <a:schemeClr val="accent5"/>
                  </a:solidFill>
                  <a:latin typeface="Cambria Math" panose="02040503050406030204" pitchFamily="18" charset="0"/>
                </a:endParaRPr>
              </a:p>
              <a:p>
                <a:pPr lvl="1"/>
                <a:endParaRPr lang="en-US" altLang="ja-JP" i="1" dirty="0">
                  <a:latin typeface="Cambria Math" panose="02040503050406030204" pitchFamily="18" charset="0"/>
                </a:endParaRPr>
              </a:p>
              <a:p>
                <a:pPr lvl="1"/>
                <a14:m>
                  <m:oMath xmlns:m="http://schemas.openxmlformats.org/officeDocument/2006/math">
                    <m:r>
                      <a:rPr lang="en-US" altLang="ja-JP" i="1" dirty="0">
                        <a:latin typeface="Cambria Math" panose="02040503050406030204" pitchFamily="18" charset="0"/>
                      </a:rPr>
                      <m:t>𝐼𝑃𝐶𝑟</m:t>
                    </m:r>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1+0.25×0.2×</m:t>
                        </m:r>
                        <m:r>
                          <a:rPr lang="en-US" altLang="ja-JP" b="1" i="1" dirty="0">
                            <a:solidFill>
                              <a:schemeClr val="accent5"/>
                            </a:solidFill>
                            <a:latin typeface="Cambria Math" panose="02040503050406030204" pitchFamily="18" charset="0"/>
                          </a:rPr>
                          <m:t>𝟗</m:t>
                        </m:r>
                      </m:den>
                    </m:f>
                    <m:r>
                      <a:rPr lang="ja-JP" altLang="en-US" i="1" dirty="0">
                        <a:latin typeface="Cambria Math" panose="02040503050406030204" pitchFamily="18" charset="0"/>
                      </a:rPr>
                      <m:t>≃</m:t>
                    </m:r>
                    <m:r>
                      <a:rPr lang="en-US" altLang="ja-JP" i="1" dirty="0">
                        <a:latin typeface="Cambria Math" panose="02040503050406030204" pitchFamily="18" charset="0"/>
                      </a:rPr>
                      <m:t>0.69</m:t>
                    </m:r>
                  </m:oMath>
                </a14:m>
                <a:endParaRPr lang="en-US" altLang="ja-JP" i="1" dirty="0">
                  <a:latin typeface="Cambria Math" panose="02040503050406030204" pitchFamily="18" charset="0"/>
                </a:endParaRPr>
              </a:p>
              <a:p>
                <a:pPr lvl="1"/>
                <a:r>
                  <a:rPr lang="ja-JP" altLang="en-US" dirty="0"/>
                  <a:t>分岐予測ミスが無かった場合の理想 </a:t>
                </a:r>
                <a:r>
                  <a:rPr lang="en-US" altLang="ja-JP" dirty="0"/>
                  <a:t>IPC </a:t>
                </a:r>
                <a:r>
                  <a:rPr lang="ja-JP" altLang="en-US" dirty="0"/>
                  <a:t>と比べて</a:t>
                </a:r>
                <a:br>
                  <a:rPr lang="en-US" altLang="ja-JP" dirty="0"/>
                </a:br>
                <a:r>
                  <a:rPr lang="en-US" altLang="ja-JP" dirty="0"/>
                  <a:t>31% </a:t>
                </a:r>
                <a:r>
                  <a:rPr lang="ja-JP" altLang="en-US" dirty="0"/>
                  <a:t>ぐらい性能が落ちている</a:t>
                </a:r>
                <a:endParaRPr lang="en-US" altLang="ja-JP" dirty="0"/>
              </a:p>
              <a:p>
                <a:pPr lvl="2"/>
                <a:r>
                  <a:rPr lang="ja-JP" altLang="en-US" dirty="0"/>
                  <a:t>パイプライン段数が５段の時より </a:t>
                </a:r>
                <a:r>
                  <a:rPr lang="en-US" altLang="ja-JP" dirty="0"/>
                  <a:t>IPC </a:t>
                </a:r>
                <a:r>
                  <a:rPr lang="ja-JP" altLang="en-US" dirty="0"/>
                  <a:t>低下が大きい</a:t>
                </a:r>
                <a:endParaRPr lang="en-US" altLang="ja-JP" i="1" dirty="0">
                  <a:latin typeface="Cambria Math" panose="02040503050406030204" pitchFamily="18" charset="0"/>
                </a:endParaRP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629719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DF8F5-B166-84F8-727E-88F2D154DDC3}"/>
              </a:ext>
            </a:extLst>
          </p:cNvPr>
          <p:cNvSpPr>
            <a:spLocks noGrp="1"/>
          </p:cNvSpPr>
          <p:nvPr>
            <p:ph type="title"/>
          </p:nvPr>
        </p:nvSpPr>
        <p:spPr/>
        <p:txBody>
          <a:bodyPr/>
          <a:lstStyle/>
          <a:p>
            <a:r>
              <a:rPr kumimoji="1" lang="ja-JP" altLang="en-US" dirty="0"/>
              <a:t>パイプライン段数が深い時は予測器の精度が重要</a:t>
            </a:r>
            <a:endParaRPr kumimoji="1" lang="en-US" dirty="0"/>
          </a:p>
        </p:txBody>
      </p:sp>
      <p:sp>
        <p:nvSpPr>
          <p:cNvPr id="6" name="平行四辺形 5">
            <a:extLst>
              <a:ext uri="{FF2B5EF4-FFF2-40B4-BE49-F238E27FC236}">
                <a16:creationId xmlns:a16="http://schemas.microsoft.com/office/drawing/2014/main" id="{924A0410-E82C-0C3E-5D17-009BF319D2DA}"/>
              </a:ext>
            </a:extLst>
          </p:cNvPr>
          <p:cNvSpPr/>
          <p:nvPr/>
        </p:nvSpPr>
        <p:spPr bwMode="auto">
          <a:xfrm>
            <a:off x="1775952" y="2438989"/>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F3F9C887-A1F6-5400-D621-B89E230B60DC}"/>
              </a:ext>
            </a:extLst>
          </p:cNvPr>
          <p:cNvSpPr/>
          <p:nvPr/>
        </p:nvSpPr>
        <p:spPr bwMode="auto">
          <a:xfrm>
            <a:off x="3216112" y="2438989"/>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2" name="平行四辺形 11">
            <a:extLst>
              <a:ext uri="{FF2B5EF4-FFF2-40B4-BE49-F238E27FC236}">
                <a16:creationId xmlns:a16="http://schemas.microsoft.com/office/drawing/2014/main" id="{749A4345-BE4C-48B8-1C25-D053078D38F1}"/>
              </a:ext>
            </a:extLst>
          </p:cNvPr>
          <p:cNvSpPr/>
          <p:nvPr/>
        </p:nvSpPr>
        <p:spPr bwMode="auto">
          <a:xfrm>
            <a:off x="4656272" y="243898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6" name="正方形/長方形 15">
            <a:extLst>
              <a:ext uri="{FF2B5EF4-FFF2-40B4-BE49-F238E27FC236}">
                <a16:creationId xmlns:a16="http://schemas.microsoft.com/office/drawing/2014/main" id="{6ED1F96C-52BF-AD99-74CE-13E0B4D5E90A}"/>
              </a:ext>
            </a:extLst>
          </p:cNvPr>
          <p:cNvSpPr/>
          <p:nvPr/>
        </p:nvSpPr>
        <p:spPr>
          <a:xfrm>
            <a:off x="2225957" y="1538979"/>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
        <p:nvSpPr>
          <p:cNvPr id="19" name="正方形/長方形 18">
            <a:extLst>
              <a:ext uri="{FF2B5EF4-FFF2-40B4-BE49-F238E27FC236}">
                <a16:creationId xmlns:a16="http://schemas.microsoft.com/office/drawing/2014/main" id="{08644A07-6BA2-3F97-1CBE-EC276B367423}"/>
              </a:ext>
            </a:extLst>
          </p:cNvPr>
          <p:cNvSpPr/>
          <p:nvPr/>
        </p:nvSpPr>
        <p:spPr>
          <a:xfrm>
            <a:off x="7986022" y="1538979"/>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角丸四角形 23">
            <a:extLst>
              <a:ext uri="{FF2B5EF4-FFF2-40B4-BE49-F238E27FC236}">
                <a16:creationId xmlns:a16="http://schemas.microsoft.com/office/drawing/2014/main" id="{16DF9B34-629E-FC8F-A73C-B3E291C266B6}"/>
              </a:ext>
            </a:extLst>
          </p:cNvPr>
          <p:cNvSpPr/>
          <p:nvPr/>
        </p:nvSpPr>
        <p:spPr bwMode="auto">
          <a:xfrm>
            <a:off x="5195990" y="225898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6" name="角丸四角形吹き出し 26">
            <a:extLst>
              <a:ext uri="{FF2B5EF4-FFF2-40B4-BE49-F238E27FC236}">
                <a16:creationId xmlns:a16="http://schemas.microsoft.com/office/drawing/2014/main" id="{E5C149EB-9555-8015-692A-837036F80A4F}"/>
              </a:ext>
            </a:extLst>
          </p:cNvPr>
          <p:cNvSpPr/>
          <p:nvPr/>
        </p:nvSpPr>
        <p:spPr bwMode="auto">
          <a:xfrm>
            <a:off x="8597977" y="998973"/>
            <a:ext cx="1980022" cy="612648"/>
          </a:xfrm>
          <a:prstGeom prst="wedgeRoundRectCallout">
            <a:avLst>
              <a:gd name="adj1" fmla="val -42160"/>
              <a:gd name="adj2" fmla="val 92539"/>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間違っとるが</a:t>
            </a:r>
            <a:r>
              <a:rPr lang="ja-JP" altLang="en-US" dirty="0" err="1">
                <a:solidFill>
                  <a:schemeClr val="tx1">
                    <a:lumMod val="65000"/>
                    <a:lumOff val="35000"/>
                  </a:schemeClr>
                </a:solidFill>
                <a:latin typeface="Arial Narrow" panose="020B0606020202030204" pitchFamily="34" charset="0"/>
              </a:rPr>
              <a:t>な</a:t>
            </a:r>
            <a:endParaRPr lang="ja-JP" altLang="en-US" dirty="0">
              <a:solidFill>
                <a:schemeClr val="tx1">
                  <a:lumMod val="65000"/>
                  <a:lumOff val="35000"/>
                </a:schemeClr>
              </a:solidFill>
              <a:latin typeface="Arial Narrow" panose="020B0606020202030204" pitchFamily="34" charset="0"/>
            </a:endParaRPr>
          </a:p>
        </p:txBody>
      </p:sp>
      <p:sp>
        <p:nvSpPr>
          <p:cNvPr id="27" name="角丸四角形 27">
            <a:extLst>
              <a:ext uri="{FF2B5EF4-FFF2-40B4-BE49-F238E27FC236}">
                <a16:creationId xmlns:a16="http://schemas.microsoft.com/office/drawing/2014/main" id="{ABF75782-6CD1-727C-25AF-F709C7728C91}"/>
              </a:ext>
            </a:extLst>
          </p:cNvPr>
          <p:cNvSpPr/>
          <p:nvPr/>
        </p:nvSpPr>
        <p:spPr bwMode="auto">
          <a:xfrm>
            <a:off x="3845976" y="225898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8" name="角丸四角形 28">
            <a:extLst>
              <a:ext uri="{FF2B5EF4-FFF2-40B4-BE49-F238E27FC236}">
                <a16:creationId xmlns:a16="http://schemas.microsoft.com/office/drawing/2014/main" id="{25891D38-133B-1A48-C38D-F0D14D69CD32}"/>
              </a:ext>
            </a:extLst>
          </p:cNvPr>
          <p:cNvSpPr/>
          <p:nvPr/>
        </p:nvSpPr>
        <p:spPr bwMode="auto">
          <a:xfrm>
            <a:off x="2405959" y="225898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1" name="平行四辺形 30">
            <a:extLst>
              <a:ext uri="{FF2B5EF4-FFF2-40B4-BE49-F238E27FC236}">
                <a16:creationId xmlns:a16="http://schemas.microsoft.com/office/drawing/2014/main" id="{A0D2B890-3FBD-6740-6EA3-487C95E1B8E8}"/>
              </a:ext>
            </a:extLst>
          </p:cNvPr>
          <p:cNvSpPr/>
          <p:nvPr/>
        </p:nvSpPr>
        <p:spPr bwMode="auto">
          <a:xfrm>
            <a:off x="6096000" y="2438989"/>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5" name="平行四辺形 14">
            <a:extLst>
              <a:ext uri="{FF2B5EF4-FFF2-40B4-BE49-F238E27FC236}">
                <a16:creationId xmlns:a16="http://schemas.microsoft.com/office/drawing/2014/main" id="{B77396CE-B31F-1D85-9D61-3710D94E5E05}"/>
              </a:ext>
            </a:extLst>
          </p:cNvPr>
          <p:cNvSpPr/>
          <p:nvPr/>
        </p:nvSpPr>
        <p:spPr bwMode="auto">
          <a:xfrm>
            <a:off x="7536016" y="2438989"/>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2" name="角丸四角形 23">
            <a:extLst>
              <a:ext uri="{FF2B5EF4-FFF2-40B4-BE49-F238E27FC236}">
                <a16:creationId xmlns:a16="http://schemas.microsoft.com/office/drawing/2014/main" id="{B993F76D-9173-9CC4-065B-44844839F8B0}"/>
              </a:ext>
            </a:extLst>
          </p:cNvPr>
          <p:cNvSpPr/>
          <p:nvPr/>
        </p:nvSpPr>
        <p:spPr bwMode="auto">
          <a:xfrm>
            <a:off x="6636006" y="225898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4" name="平行四辺形 33">
            <a:extLst>
              <a:ext uri="{FF2B5EF4-FFF2-40B4-BE49-F238E27FC236}">
                <a16:creationId xmlns:a16="http://schemas.microsoft.com/office/drawing/2014/main" id="{80AB508D-5659-8D46-E2D9-843DDA7585E4}"/>
              </a:ext>
            </a:extLst>
          </p:cNvPr>
          <p:cNvSpPr/>
          <p:nvPr/>
        </p:nvSpPr>
        <p:spPr bwMode="auto">
          <a:xfrm>
            <a:off x="1775953" y="5409022"/>
            <a:ext cx="8100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5" name="平行四辺形 34">
            <a:extLst>
              <a:ext uri="{FF2B5EF4-FFF2-40B4-BE49-F238E27FC236}">
                <a16:creationId xmlns:a16="http://schemas.microsoft.com/office/drawing/2014/main" id="{B4C44D83-CC29-5479-B3D8-0EE8765BC5CF}"/>
              </a:ext>
            </a:extLst>
          </p:cNvPr>
          <p:cNvSpPr/>
          <p:nvPr/>
        </p:nvSpPr>
        <p:spPr bwMode="auto">
          <a:xfrm>
            <a:off x="2495960" y="5409022"/>
            <a:ext cx="810009"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6" name="平行四辺形 35">
            <a:extLst>
              <a:ext uri="{FF2B5EF4-FFF2-40B4-BE49-F238E27FC236}">
                <a16:creationId xmlns:a16="http://schemas.microsoft.com/office/drawing/2014/main" id="{EBE9BC35-B43F-1CF3-6F54-A1BEA6C6AF31}"/>
              </a:ext>
            </a:extLst>
          </p:cNvPr>
          <p:cNvSpPr/>
          <p:nvPr/>
        </p:nvSpPr>
        <p:spPr bwMode="auto">
          <a:xfrm>
            <a:off x="3215969" y="5409022"/>
            <a:ext cx="810009"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7" name="平行四辺形 36">
            <a:extLst>
              <a:ext uri="{FF2B5EF4-FFF2-40B4-BE49-F238E27FC236}">
                <a16:creationId xmlns:a16="http://schemas.microsoft.com/office/drawing/2014/main" id="{5723047A-888B-5D65-94CD-ACD5545E61D4}"/>
              </a:ext>
            </a:extLst>
          </p:cNvPr>
          <p:cNvSpPr/>
          <p:nvPr/>
        </p:nvSpPr>
        <p:spPr bwMode="auto">
          <a:xfrm>
            <a:off x="3935977" y="5409022"/>
            <a:ext cx="810009"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8" name="平行四辺形 37">
            <a:extLst>
              <a:ext uri="{FF2B5EF4-FFF2-40B4-BE49-F238E27FC236}">
                <a16:creationId xmlns:a16="http://schemas.microsoft.com/office/drawing/2014/main" id="{EF9EE983-A2CA-412E-476D-9DB6FC50CFF9}"/>
              </a:ext>
            </a:extLst>
          </p:cNvPr>
          <p:cNvSpPr/>
          <p:nvPr/>
        </p:nvSpPr>
        <p:spPr bwMode="auto">
          <a:xfrm>
            <a:off x="4655986" y="5409022"/>
            <a:ext cx="810009"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9" name="平行四辺形 38">
            <a:extLst>
              <a:ext uri="{FF2B5EF4-FFF2-40B4-BE49-F238E27FC236}">
                <a16:creationId xmlns:a16="http://schemas.microsoft.com/office/drawing/2014/main" id="{15EEA2EF-8E76-7D00-5EA8-782D0AA73252}"/>
              </a:ext>
            </a:extLst>
          </p:cNvPr>
          <p:cNvSpPr/>
          <p:nvPr/>
        </p:nvSpPr>
        <p:spPr bwMode="auto">
          <a:xfrm>
            <a:off x="5375993" y="5409022"/>
            <a:ext cx="810009" cy="504056"/>
          </a:xfrm>
          <a:prstGeom prst="parallelogram">
            <a:avLst/>
          </a:prstGeom>
          <a:ln>
            <a:headEnd/>
            <a:tailEnd type="triangle" w="sm" len="med"/>
          </a:ln>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0" name="平行四辺形 39">
            <a:extLst>
              <a:ext uri="{FF2B5EF4-FFF2-40B4-BE49-F238E27FC236}">
                <a16:creationId xmlns:a16="http://schemas.microsoft.com/office/drawing/2014/main" id="{297FF9FC-84D0-F0E0-35FC-1F1B91B5DA9B}"/>
              </a:ext>
            </a:extLst>
          </p:cNvPr>
          <p:cNvSpPr/>
          <p:nvPr/>
        </p:nvSpPr>
        <p:spPr bwMode="auto">
          <a:xfrm>
            <a:off x="6096002" y="5409022"/>
            <a:ext cx="810009"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1" name="平行四辺形 40">
            <a:extLst>
              <a:ext uri="{FF2B5EF4-FFF2-40B4-BE49-F238E27FC236}">
                <a16:creationId xmlns:a16="http://schemas.microsoft.com/office/drawing/2014/main" id="{F8D4B663-9B2D-CB7F-D76D-B68529EDE1E6}"/>
              </a:ext>
            </a:extLst>
          </p:cNvPr>
          <p:cNvSpPr/>
          <p:nvPr/>
        </p:nvSpPr>
        <p:spPr bwMode="auto">
          <a:xfrm>
            <a:off x="6816010" y="5409022"/>
            <a:ext cx="810009"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2" name="平行四辺形 41">
            <a:extLst>
              <a:ext uri="{FF2B5EF4-FFF2-40B4-BE49-F238E27FC236}">
                <a16:creationId xmlns:a16="http://schemas.microsoft.com/office/drawing/2014/main" id="{9C421364-8A9B-FA56-5D16-985CE0D91111}"/>
              </a:ext>
            </a:extLst>
          </p:cNvPr>
          <p:cNvSpPr/>
          <p:nvPr/>
        </p:nvSpPr>
        <p:spPr bwMode="auto">
          <a:xfrm>
            <a:off x="7536017" y="5409022"/>
            <a:ext cx="810009"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3" name="平行四辺形 42">
            <a:extLst>
              <a:ext uri="{FF2B5EF4-FFF2-40B4-BE49-F238E27FC236}">
                <a16:creationId xmlns:a16="http://schemas.microsoft.com/office/drawing/2014/main" id="{5DCB0CDC-C763-995C-9DEF-6E9CB6EB16AF}"/>
              </a:ext>
            </a:extLst>
          </p:cNvPr>
          <p:cNvSpPr/>
          <p:nvPr/>
        </p:nvSpPr>
        <p:spPr bwMode="auto">
          <a:xfrm>
            <a:off x="8256025" y="5409022"/>
            <a:ext cx="810009" cy="504056"/>
          </a:xfrm>
          <a:prstGeom prst="parallelogram">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44" name="正方形/長方形 43">
            <a:extLst>
              <a:ext uri="{FF2B5EF4-FFF2-40B4-BE49-F238E27FC236}">
                <a16:creationId xmlns:a16="http://schemas.microsoft.com/office/drawing/2014/main" id="{6925D667-4B72-2320-3479-BD04548441C3}"/>
              </a:ext>
            </a:extLst>
          </p:cNvPr>
          <p:cNvSpPr/>
          <p:nvPr/>
        </p:nvSpPr>
        <p:spPr>
          <a:xfrm>
            <a:off x="8256024" y="4689014"/>
            <a:ext cx="2250025"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br>
              <a:rPr lang="en-US"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b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45" name="角丸四角形 89">
            <a:extLst>
              <a:ext uri="{FF2B5EF4-FFF2-40B4-BE49-F238E27FC236}">
                <a16:creationId xmlns:a16="http://schemas.microsoft.com/office/drawing/2014/main" id="{02E6C179-A03E-6AF7-6AB4-2CADEC38B4A0}"/>
              </a:ext>
            </a:extLst>
          </p:cNvPr>
          <p:cNvSpPr/>
          <p:nvPr/>
        </p:nvSpPr>
        <p:spPr bwMode="auto">
          <a:xfrm>
            <a:off x="8436027" y="5319021"/>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sp>
        <p:nvSpPr>
          <p:cNvPr id="47" name="角丸四角形 28">
            <a:extLst>
              <a:ext uri="{FF2B5EF4-FFF2-40B4-BE49-F238E27FC236}">
                <a16:creationId xmlns:a16="http://schemas.microsoft.com/office/drawing/2014/main" id="{F0A7D094-FD7E-9E6E-8FA8-4927AEF5195A}"/>
              </a:ext>
            </a:extLst>
          </p:cNvPr>
          <p:cNvSpPr/>
          <p:nvPr/>
        </p:nvSpPr>
        <p:spPr bwMode="auto">
          <a:xfrm>
            <a:off x="1955954"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48" name="角丸四角形 28">
            <a:extLst>
              <a:ext uri="{FF2B5EF4-FFF2-40B4-BE49-F238E27FC236}">
                <a16:creationId xmlns:a16="http://schemas.microsoft.com/office/drawing/2014/main" id="{9C5E7028-9C90-6A8B-B33D-DAB0DC04A771}"/>
              </a:ext>
            </a:extLst>
          </p:cNvPr>
          <p:cNvSpPr/>
          <p:nvPr/>
        </p:nvSpPr>
        <p:spPr bwMode="auto">
          <a:xfrm>
            <a:off x="2675963"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49" name="角丸四角形 28">
            <a:extLst>
              <a:ext uri="{FF2B5EF4-FFF2-40B4-BE49-F238E27FC236}">
                <a16:creationId xmlns:a16="http://schemas.microsoft.com/office/drawing/2014/main" id="{450CC458-E9F9-BAF6-0A13-F87C33C2C7E4}"/>
              </a:ext>
            </a:extLst>
          </p:cNvPr>
          <p:cNvSpPr/>
          <p:nvPr/>
        </p:nvSpPr>
        <p:spPr bwMode="auto">
          <a:xfrm>
            <a:off x="3395970"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0" name="角丸四角形 28">
            <a:extLst>
              <a:ext uri="{FF2B5EF4-FFF2-40B4-BE49-F238E27FC236}">
                <a16:creationId xmlns:a16="http://schemas.microsoft.com/office/drawing/2014/main" id="{DC81AD1E-C5B6-4997-BA2E-590E804F2723}"/>
              </a:ext>
            </a:extLst>
          </p:cNvPr>
          <p:cNvSpPr/>
          <p:nvPr/>
        </p:nvSpPr>
        <p:spPr bwMode="auto">
          <a:xfrm>
            <a:off x="4115979"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1" name="角丸四角形 28">
            <a:extLst>
              <a:ext uri="{FF2B5EF4-FFF2-40B4-BE49-F238E27FC236}">
                <a16:creationId xmlns:a16="http://schemas.microsoft.com/office/drawing/2014/main" id="{65054F20-C458-EA17-4A6B-FCB1E5A71CCC}"/>
              </a:ext>
            </a:extLst>
          </p:cNvPr>
          <p:cNvSpPr/>
          <p:nvPr/>
        </p:nvSpPr>
        <p:spPr bwMode="auto">
          <a:xfrm>
            <a:off x="4835986"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2" name="角丸四角形 28">
            <a:extLst>
              <a:ext uri="{FF2B5EF4-FFF2-40B4-BE49-F238E27FC236}">
                <a16:creationId xmlns:a16="http://schemas.microsoft.com/office/drawing/2014/main" id="{9BF7547A-7245-B2EB-6028-2EADD81C0E24}"/>
              </a:ext>
            </a:extLst>
          </p:cNvPr>
          <p:cNvSpPr/>
          <p:nvPr/>
        </p:nvSpPr>
        <p:spPr bwMode="auto">
          <a:xfrm>
            <a:off x="5555995"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3" name="角丸四角形 28">
            <a:extLst>
              <a:ext uri="{FF2B5EF4-FFF2-40B4-BE49-F238E27FC236}">
                <a16:creationId xmlns:a16="http://schemas.microsoft.com/office/drawing/2014/main" id="{52FC087E-450F-78DF-AC9E-D38245391E1A}"/>
              </a:ext>
            </a:extLst>
          </p:cNvPr>
          <p:cNvSpPr/>
          <p:nvPr/>
        </p:nvSpPr>
        <p:spPr bwMode="auto">
          <a:xfrm>
            <a:off x="6276002"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4" name="角丸四角形 28">
            <a:extLst>
              <a:ext uri="{FF2B5EF4-FFF2-40B4-BE49-F238E27FC236}">
                <a16:creationId xmlns:a16="http://schemas.microsoft.com/office/drawing/2014/main" id="{BF0E06ED-3A68-ED30-9232-A01109D7B0DE}"/>
              </a:ext>
            </a:extLst>
          </p:cNvPr>
          <p:cNvSpPr/>
          <p:nvPr/>
        </p:nvSpPr>
        <p:spPr bwMode="auto">
          <a:xfrm>
            <a:off x="6996011"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7" name="角丸四角形 28">
            <a:extLst>
              <a:ext uri="{FF2B5EF4-FFF2-40B4-BE49-F238E27FC236}">
                <a16:creationId xmlns:a16="http://schemas.microsoft.com/office/drawing/2014/main" id="{69002638-D0E8-9057-F0AA-57CFA8B1897E}"/>
              </a:ext>
            </a:extLst>
          </p:cNvPr>
          <p:cNvSpPr/>
          <p:nvPr/>
        </p:nvSpPr>
        <p:spPr bwMode="auto">
          <a:xfrm>
            <a:off x="7716019" y="5319021"/>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8" name="角丸四角形 89">
            <a:extLst>
              <a:ext uri="{FF2B5EF4-FFF2-40B4-BE49-F238E27FC236}">
                <a16:creationId xmlns:a16="http://schemas.microsoft.com/office/drawing/2014/main" id="{77252879-6EA2-5436-7599-BF908A68CC37}"/>
              </a:ext>
            </a:extLst>
          </p:cNvPr>
          <p:cNvSpPr/>
          <p:nvPr/>
        </p:nvSpPr>
        <p:spPr bwMode="auto">
          <a:xfrm>
            <a:off x="8166024" y="2258987"/>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sp>
        <p:nvSpPr>
          <p:cNvPr id="3" name="角丸四角形吹き出し 26">
            <a:extLst>
              <a:ext uri="{FF2B5EF4-FFF2-40B4-BE49-F238E27FC236}">
                <a16:creationId xmlns:a16="http://schemas.microsoft.com/office/drawing/2014/main" id="{ED395970-82C8-58AB-76AD-01140D05D86A}"/>
              </a:ext>
            </a:extLst>
          </p:cNvPr>
          <p:cNvSpPr/>
          <p:nvPr/>
        </p:nvSpPr>
        <p:spPr bwMode="auto">
          <a:xfrm>
            <a:off x="8616028" y="3879005"/>
            <a:ext cx="1980022" cy="612648"/>
          </a:xfrm>
          <a:prstGeom prst="wedgeRoundRectCallout">
            <a:avLst>
              <a:gd name="adj1" fmla="val -44771"/>
              <a:gd name="adj2" fmla="val 97082"/>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ええ加減にせい</a:t>
            </a:r>
          </a:p>
        </p:txBody>
      </p:sp>
      <p:sp>
        <p:nvSpPr>
          <p:cNvPr id="4" name="角丸四角形吹き出し 3">
            <a:extLst>
              <a:ext uri="{FF2B5EF4-FFF2-40B4-BE49-F238E27FC236}">
                <a16:creationId xmlns:a16="http://schemas.microsoft.com/office/drawing/2014/main" id="{86B6A3CD-F71B-B70E-B067-DEBC61AA4A3B}"/>
              </a:ext>
            </a:extLst>
          </p:cNvPr>
          <p:cNvSpPr/>
          <p:nvPr/>
        </p:nvSpPr>
        <p:spPr bwMode="auto">
          <a:xfrm>
            <a:off x="2765963" y="998973"/>
            <a:ext cx="2520028" cy="612648"/>
          </a:xfrm>
          <a:prstGeom prst="wedgeRoundRectCallout">
            <a:avLst>
              <a:gd name="adj1" fmla="val -44943"/>
              <a:gd name="adj2" fmla="val 95784"/>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じゃなかったかー</a:t>
            </a:r>
            <a:endParaRPr lang="en-US" altLang="ja-JP" dirty="0">
              <a:solidFill>
                <a:schemeClr val="tx1">
                  <a:lumMod val="65000"/>
                  <a:lumOff val="35000"/>
                </a:schemeClr>
              </a:solidFill>
              <a:latin typeface="Arial Narrow" panose="020B0606020202030204" pitchFamily="34" charset="0"/>
            </a:endParaRPr>
          </a:p>
        </p:txBody>
      </p:sp>
      <p:sp>
        <p:nvSpPr>
          <p:cNvPr id="5" name="角丸四角形吹き出し 3">
            <a:extLst>
              <a:ext uri="{FF2B5EF4-FFF2-40B4-BE49-F238E27FC236}">
                <a16:creationId xmlns:a16="http://schemas.microsoft.com/office/drawing/2014/main" id="{DBC4D151-3923-A84C-4EDE-4E5933E6E74F}"/>
              </a:ext>
            </a:extLst>
          </p:cNvPr>
          <p:cNvSpPr/>
          <p:nvPr/>
        </p:nvSpPr>
        <p:spPr bwMode="auto">
          <a:xfrm>
            <a:off x="2405960" y="3969006"/>
            <a:ext cx="2070023" cy="612648"/>
          </a:xfrm>
          <a:prstGeom prst="wedgeRoundRectCallout">
            <a:avLst>
              <a:gd name="adj1" fmla="val -46053"/>
              <a:gd name="adj2" fmla="val 93837"/>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正直すまんかった</a:t>
            </a:r>
            <a:endParaRPr lang="en-US" altLang="ja-JP" dirty="0">
              <a:solidFill>
                <a:schemeClr val="tx1">
                  <a:lumMod val="65000"/>
                  <a:lumOff val="35000"/>
                </a:schemeClr>
              </a:solidFill>
              <a:latin typeface="Arial Narrow" panose="020B0606020202030204" pitchFamily="34" charset="0"/>
            </a:endParaRPr>
          </a:p>
        </p:txBody>
      </p:sp>
      <p:cxnSp>
        <p:nvCxnSpPr>
          <p:cNvPr id="7" name="直線矢印コネクタ 6">
            <a:extLst>
              <a:ext uri="{FF2B5EF4-FFF2-40B4-BE49-F238E27FC236}">
                <a16:creationId xmlns:a16="http://schemas.microsoft.com/office/drawing/2014/main" id="{62AAC06C-177E-A477-2989-AA7ACCDE4C60}"/>
              </a:ext>
            </a:extLst>
          </p:cNvPr>
          <p:cNvCxnSpPr>
            <a:cxnSpLocks/>
          </p:cNvCxnSpPr>
          <p:nvPr/>
        </p:nvCxnSpPr>
        <p:spPr bwMode="auto">
          <a:xfrm>
            <a:off x="1775953" y="3338999"/>
            <a:ext cx="5670063"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mc:AlternateContent xmlns:mc="http://schemas.openxmlformats.org/markup-compatibility/2006">
        <mc:Choice xmlns:a14="http://schemas.microsoft.com/office/drawing/2010/main" Requires="a14">
          <p:sp>
            <p:nvSpPr>
              <p:cNvPr id="8" name="正方形/長方形 7">
                <a:extLst>
                  <a:ext uri="{FF2B5EF4-FFF2-40B4-BE49-F238E27FC236}">
                    <a16:creationId xmlns:a16="http://schemas.microsoft.com/office/drawing/2014/main" id="{E1B198A9-F9BA-3FD1-6E65-73F9BD3485BB}"/>
                  </a:ext>
                </a:extLst>
              </p:cNvPr>
              <p:cNvSpPr/>
              <p:nvPr/>
            </p:nvSpPr>
            <p:spPr>
              <a:xfrm>
                <a:off x="4385982" y="2978996"/>
                <a:ext cx="540005" cy="270003"/>
              </a:xfrm>
              <a:prstGeom prst="rect">
                <a:avLst/>
              </a:prstGeom>
            </p:spPr>
            <p:txBody>
              <a:bodyPr wrap="none">
                <a:noAutofit/>
              </a:bodyPr>
              <a:lstStyle/>
              <a:p>
                <a:pPr algn="ctr"/>
                <a:r>
                  <a:rPr lang="ja-JP" altLang="en-US" dirty="0">
                    <a:solidFill>
                      <a:schemeClr val="tx1">
                        <a:lumMod val="65000"/>
                        <a:lumOff val="35000"/>
                      </a:schemeClr>
                    </a:solidFill>
                    <a:latin typeface="+mj-lt"/>
                  </a:rPr>
                  <a:t>ペナルティ </a:t>
                </a:r>
                <a14:m>
                  <m:oMath xmlns:m="http://schemas.openxmlformats.org/officeDocument/2006/math">
                    <m:r>
                      <a:rPr lang="en-US" altLang="ja-JP" i="1" dirty="0">
                        <a:solidFill>
                          <a:schemeClr val="tx1">
                            <a:lumMod val="65000"/>
                            <a:lumOff val="35000"/>
                          </a:schemeClr>
                        </a:solidFill>
                        <a:latin typeface="Cambria Math" panose="02040503050406030204" pitchFamily="18" charset="0"/>
                      </a:rPr>
                      <m:t>𝐶𝑝</m:t>
                    </m:r>
                    <m:r>
                      <a:rPr lang="en-US" altLang="ja-JP" i="1" dirty="0">
                        <a:solidFill>
                          <a:schemeClr val="tx1">
                            <a:lumMod val="65000"/>
                            <a:lumOff val="35000"/>
                          </a:schemeClr>
                        </a:solidFill>
                        <a:latin typeface="Cambria Math" panose="02040503050406030204" pitchFamily="18" charset="0"/>
                      </a:rPr>
                      <m:t>=4</m:t>
                    </m:r>
                  </m:oMath>
                </a14:m>
                <a:r>
                  <a:rPr lang="en-US" altLang="ja-JP" dirty="0">
                    <a:solidFill>
                      <a:schemeClr val="tx1">
                        <a:lumMod val="65000"/>
                        <a:lumOff val="35000"/>
                      </a:schemeClr>
                    </a:solidFill>
                  </a:rPr>
                  <a:t> cycle</a:t>
                </a:r>
                <a:endParaRPr lang="ja-JP" altLang="en-US" dirty="0">
                  <a:solidFill>
                    <a:schemeClr val="tx1">
                      <a:lumMod val="65000"/>
                      <a:lumOff val="35000"/>
                    </a:schemeClr>
                  </a:solidFill>
                </a:endParaRPr>
              </a:p>
            </p:txBody>
          </p:sp>
        </mc:Choice>
        <mc:Fallback>
          <p:sp>
            <p:nvSpPr>
              <p:cNvPr id="8" name="正方形/長方形 7">
                <a:extLst>
                  <a:ext uri="{FF2B5EF4-FFF2-40B4-BE49-F238E27FC236}">
                    <a16:creationId xmlns:a16="http://schemas.microsoft.com/office/drawing/2014/main" id="{E1B198A9-F9BA-3FD1-6E65-73F9BD3485BB}"/>
                  </a:ext>
                </a:extLst>
              </p:cNvPr>
              <p:cNvSpPr>
                <a:spLocks noRot="1" noChangeAspect="1" noMove="1" noResize="1" noEditPoints="1" noAdjustHandles="1" noChangeArrowheads="1" noChangeShapeType="1" noTextEdit="1"/>
              </p:cNvSpPr>
              <p:nvPr/>
            </p:nvSpPr>
            <p:spPr>
              <a:xfrm>
                <a:off x="4385982" y="2978996"/>
                <a:ext cx="540005" cy="270003"/>
              </a:xfrm>
              <a:prstGeom prst="rect">
                <a:avLst/>
              </a:prstGeom>
              <a:blipFill>
                <a:blip r:embed="rId2"/>
                <a:stretch>
                  <a:fillRect l="-203371" t="-20455" r="-203371" b="-77273"/>
                </a:stretch>
              </a:blipFill>
            </p:spPr>
            <p:txBody>
              <a:bodyPr/>
              <a:lstStyle/>
              <a:p>
                <a:r>
                  <a:rPr lang="ja-JP" altLang="en-US">
                    <a:noFill/>
                  </a:rPr>
                  <a:t> </a:t>
                </a:r>
              </a:p>
            </p:txBody>
          </p:sp>
        </mc:Fallback>
      </mc:AlternateContent>
      <p:cxnSp>
        <p:nvCxnSpPr>
          <p:cNvPr id="11" name="直線矢印コネクタ 10">
            <a:extLst>
              <a:ext uri="{FF2B5EF4-FFF2-40B4-BE49-F238E27FC236}">
                <a16:creationId xmlns:a16="http://schemas.microsoft.com/office/drawing/2014/main" id="{B293F499-90A8-6319-09E4-78512B1E5FF8}"/>
              </a:ext>
            </a:extLst>
          </p:cNvPr>
          <p:cNvCxnSpPr>
            <a:cxnSpLocks/>
          </p:cNvCxnSpPr>
          <p:nvPr/>
        </p:nvCxnSpPr>
        <p:spPr bwMode="auto">
          <a:xfrm>
            <a:off x="1775952" y="6309032"/>
            <a:ext cx="6480072"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mc:AlternateContent xmlns:mc="http://schemas.openxmlformats.org/markup-compatibility/2006">
        <mc:Choice xmlns:a14="http://schemas.microsoft.com/office/drawing/2010/main" Requires="a14">
          <p:sp>
            <p:nvSpPr>
              <p:cNvPr id="13" name="正方形/長方形 12">
                <a:extLst>
                  <a:ext uri="{FF2B5EF4-FFF2-40B4-BE49-F238E27FC236}">
                    <a16:creationId xmlns:a16="http://schemas.microsoft.com/office/drawing/2014/main" id="{2B1706B7-4908-B39C-615C-69350FBEBA61}"/>
                  </a:ext>
                </a:extLst>
              </p:cNvPr>
              <p:cNvSpPr/>
              <p:nvPr/>
            </p:nvSpPr>
            <p:spPr>
              <a:xfrm>
                <a:off x="4385982" y="5949029"/>
                <a:ext cx="540005" cy="270003"/>
              </a:xfrm>
              <a:prstGeom prst="rect">
                <a:avLst/>
              </a:prstGeom>
            </p:spPr>
            <p:txBody>
              <a:bodyPr wrap="none">
                <a:noAutofit/>
              </a:bodyPr>
              <a:lstStyle/>
              <a:p>
                <a:pPr algn="ctr"/>
                <a:r>
                  <a:rPr lang="ja-JP" altLang="en-US" dirty="0">
                    <a:solidFill>
                      <a:schemeClr val="tx1">
                        <a:lumMod val="65000"/>
                        <a:lumOff val="35000"/>
                      </a:schemeClr>
                    </a:solidFill>
                    <a:latin typeface="+mj-lt"/>
                  </a:rPr>
                  <a:t>ペナルティ </a:t>
                </a:r>
                <a14:m>
                  <m:oMath xmlns:m="http://schemas.openxmlformats.org/officeDocument/2006/math">
                    <m:r>
                      <a:rPr lang="en-US" altLang="ja-JP" i="1" dirty="0">
                        <a:solidFill>
                          <a:schemeClr val="tx1">
                            <a:lumMod val="65000"/>
                            <a:lumOff val="35000"/>
                          </a:schemeClr>
                        </a:solidFill>
                        <a:latin typeface="Cambria Math" panose="02040503050406030204" pitchFamily="18" charset="0"/>
                      </a:rPr>
                      <m:t>𝐶𝑝</m:t>
                    </m:r>
                    <m:r>
                      <a:rPr lang="en-US" altLang="ja-JP" i="1" dirty="0">
                        <a:solidFill>
                          <a:schemeClr val="tx1">
                            <a:lumMod val="65000"/>
                            <a:lumOff val="35000"/>
                          </a:schemeClr>
                        </a:solidFill>
                        <a:latin typeface="Cambria Math" panose="02040503050406030204" pitchFamily="18" charset="0"/>
                      </a:rPr>
                      <m:t>=9</m:t>
                    </m:r>
                  </m:oMath>
                </a14:m>
                <a:r>
                  <a:rPr lang="en-US" altLang="ja-JP" dirty="0">
                    <a:solidFill>
                      <a:schemeClr val="tx1">
                        <a:lumMod val="65000"/>
                        <a:lumOff val="35000"/>
                      </a:schemeClr>
                    </a:solidFill>
                  </a:rPr>
                  <a:t> cycle</a:t>
                </a:r>
                <a:endParaRPr lang="ja-JP" altLang="en-US" dirty="0">
                  <a:solidFill>
                    <a:schemeClr val="tx1">
                      <a:lumMod val="65000"/>
                      <a:lumOff val="35000"/>
                    </a:schemeClr>
                  </a:solidFill>
                </a:endParaRPr>
              </a:p>
            </p:txBody>
          </p:sp>
        </mc:Choice>
        <mc:Fallback>
          <p:sp>
            <p:nvSpPr>
              <p:cNvPr id="13" name="正方形/長方形 12">
                <a:extLst>
                  <a:ext uri="{FF2B5EF4-FFF2-40B4-BE49-F238E27FC236}">
                    <a16:creationId xmlns:a16="http://schemas.microsoft.com/office/drawing/2014/main" id="{2B1706B7-4908-B39C-615C-69350FBEBA61}"/>
                  </a:ext>
                </a:extLst>
              </p:cNvPr>
              <p:cNvSpPr>
                <a:spLocks noRot="1" noChangeAspect="1" noMove="1" noResize="1" noEditPoints="1" noAdjustHandles="1" noChangeArrowheads="1" noChangeShapeType="1" noTextEdit="1"/>
              </p:cNvSpPr>
              <p:nvPr/>
            </p:nvSpPr>
            <p:spPr>
              <a:xfrm>
                <a:off x="4385982" y="5949029"/>
                <a:ext cx="540005" cy="270003"/>
              </a:xfrm>
              <a:prstGeom prst="rect">
                <a:avLst/>
              </a:prstGeom>
              <a:blipFill>
                <a:blip r:embed="rId3"/>
                <a:stretch>
                  <a:fillRect l="-203371" t="-20455" r="-203371" b="-77273"/>
                </a:stretch>
              </a:blipFill>
            </p:spPr>
            <p:txBody>
              <a:bodyPr/>
              <a:lstStyle/>
              <a:p>
                <a:r>
                  <a:rPr lang="ja-JP" altLang="en-US">
                    <a:noFill/>
                  </a:rPr>
                  <a:t> </a:t>
                </a:r>
              </a:p>
            </p:txBody>
          </p:sp>
        </mc:Fallback>
      </mc:AlternateContent>
      <p:sp>
        <p:nvSpPr>
          <p:cNvPr id="14" name="正方形/長方形 13">
            <a:extLst>
              <a:ext uri="{FF2B5EF4-FFF2-40B4-BE49-F238E27FC236}">
                <a16:creationId xmlns:a16="http://schemas.microsoft.com/office/drawing/2014/main" id="{B26F96B2-0252-4023-6797-4DE0A37C1346}"/>
              </a:ext>
            </a:extLst>
          </p:cNvPr>
          <p:cNvSpPr/>
          <p:nvPr/>
        </p:nvSpPr>
        <p:spPr>
          <a:xfrm>
            <a:off x="1865953" y="4599013"/>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Tree>
    <p:extLst>
      <p:ext uri="{BB962C8B-B14F-4D97-AF65-F5344CB8AC3E}">
        <p14:creationId xmlns:p14="http://schemas.microsoft.com/office/powerpoint/2010/main" val="3671561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ja-JP" altLang="en-US" dirty="0"/>
              <a:t>パイプライン段数を２倍にした時の性能</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r>
                  <a:rPr lang="ja-JP" altLang="en-US" i="1" dirty="0">
                    <a:latin typeface="Cambria Math" panose="02040503050406030204" pitchFamily="18" charset="0"/>
                  </a:rPr>
                  <a:t>全体の性能は 周波数</a:t>
                </a:r>
                <a14:m>
                  <m:oMath xmlns:m="http://schemas.openxmlformats.org/officeDocument/2006/math">
                    <m:r>
                      <a:rPr lang="en-US" altLang="ja-JP" i="1" dirty="0">
                        <a:latin typeface="Cambria Math" panose="02040503050406030204" pitchFamily="18" charset="0"/>
                      </a:rPr>
                      <m:t>×</m:t>
                    </m:r>
                  </m:oMath>
                </a14:m>
                <a:r>
                  <a:rPr lang="en-US" altLang="ja-JP" i="0" dirty="0">
                    <a:latin typeface="+mj-lt"/>
                  </a:rPr>
                  <a:t> IPC </a:t>
                </a:r>
                <a:r>
                  <a:rPr lang="ja-JP" altLang="en-US" i="0" dirty="0">
                    <a:latin typeface="+mj-lt"/>
                  </a:rPr>
                  <a:t>で決まる</a:t>
                </a:r>
                <a:endParaRPr lang="en-US" altLang="ja-JP" i="0" dirty="0">
                  <a:latin typeface="+mj-lt"/>
                </a:endParaRPr>
              </a:p>
              <a:p>
                <a:pPr lvl="1"/>
                <a:r>
                  <a:rPr lang="ja-JP" altLang="en-US" i="1" dirty="0">
                    <a:latin typeface="Cambria Math" panose="02040503050406030204" pitchFamily="18" charset="0"/>
                  </a:rPr>
                  <a:t>段数を倍にしたことで，周波数は２倍に</a:t>
                </a:r>
                <a:endParaRPr lang="en-US" altLang="ja-JP" i="1" dirty="0">
                  <a:latin typeface="Cambria Math" panose="02040503050406030204" pitchFamily="18" charset="0"/>
                </a:endParaRPr>
              </a:p>
              <a:p>
                <a:pPr lvl="1"/>
                <a:r>
                  <a:rPr lang="ja-JP" altLang="en-US" i="1" dirty="0">
                    <a:latin typeface="Cambria Math" panose="02040503050406030204" pitchFamily="18" charset="0"/>
                  </a:rPr>
                  <a:t> </a:t>
                </a:r>
                <a:r>
                  <a:rPr lang="en-US" altLang="ja-JP" dirty="0">
                    <a:latin typeface="Cambria Math" panose="02040503050406030204" pitchFamily="18" charset="0"/>
                  </a:rPr>
                  <a:t>IPC</a:t>
                </a:r>
                <a:r>
                  <a:rPr lang="en-US" altLang="ja-JP" i="1" dirty="0">
                    <a:latin typeface="Cambria Math" panose="02040503050406030204" pitchFamily="18" charset="0"/>
                  </a:rPr>
                  <a:t>  </a:t>
                </a:r>
                <a:r>
                  <a:rPr lang="ja-JP" altLang="en-US" i="1" dirty="0">
                    <a:latin typeface="Cambria Math" panose="02040503050406030204" pitchFamily="18" charset="0"/>
                  </a:rPr>
                  <a:t>は</a:t>
                </a:r>
                <a14:m>
                  <m:oMath xmlns:m="http://schemas.openxmlformats.org/officeDocument/2006/math">
                    <m:r>
                      <a:rPr lang="en-US" altLang="ja-JP" b="0" i="1" dirty="0" smtClean="0">
                        <a:latin typeface="Cambria Math" panose="02040503050406030204" pitchFamily="18" charset="0"/>
                      </a:rPr>
                      <m:t> </m:t>
                    </m:r>
                    <m:r>
                      <a:rPr lang="en-US" altLang="ja-JP" i="1" dirty="0">
                        <a:latin typeface="Cambria Math" panose="02040503050406030204" pitchFamily="18" charset="0"/>
                      </a:rPr>
                      <m:t>0.69</m:t>
                    </m:r>
                  </m:oMath>
                </a14:m>
                <a:endParaRPr lang="en-US" altLang="ja-JP" i="1" dirty="0">
                  <a:latin typeface="Cambria Math" panose="02040503050406030204" pitchFamily="18" charset="0"/>
                </a:endParaRPr>
              </a:p>
              <a:p>
                <a:pPr lvl="1"/>
                <a:r>
                  <a:rPr lang="ja-JP" altLang="en-US" i="1" dirty="0">
                    <a:solidFill>
                      <a:schemeClr val="accent5"/>
                    </a:solidFill>
                    <a:latin typeface="Cambria Math" panose="02040503050406030204" pitchFamily="18" charset="0"/>
                  </a:rPr>
                  <a:t>性能は </a:t>
                </a:r>
                <a14:m>
                  <m:oMath xmlns:m="http://schemas.openxmlformats.org/officeDocument/2006/math">
                    <m:r>
                      <a:rPr lang="en-US" altLang="ja-JP" i="1" dirty="0">
                        <a:solidFill>
                          <a:schemeClr val="accent5"/>
                        </a:solidFill>
                        <a:latin typeface="Cambria Math" panose="02040503050406030204" pitchFamily="18" charset="0"/>
                      </a:rPr>
                      <m:t>2</m:t>
                    </m:r>
                    <m:r>
                      <a:rPr lang="en-US" altLang="ja-JP" i="1" dirty="0" smtClean="0">
                        <a:solidFill>
                          <a:schemeClr val="accent5"/>
                        </a:solidFill>
                        <a:latin typeface="Cambria Math" panose="02040503050406030204" pitchFamily="18" charset="0"/>
                      </a:rPr>
                      <m:t>×</m:t>
                    </m:r>
                    <m:r>
                      <a:rPr lang="en-US" altLang="ja-JP" b="0" i="1" dirty="0" smtClean="0">
                        <a:solidFill>
                          <a:schemeClr val="accent5"/>
                        </a:solidFill>
                        <a:latin typeface="Cambria Math" panose="02040503050406030204" pitchFamily="18" charset="0"/>
                      </a:rPr>
                      <m:t>0.69=</m:t>
                    </m:r>
                    <m:r>
                      <a:rPr lang="en-US" altLang="ja-JP" i="1" dirty="0" smtClean="0">
                        <a:solidFill>
                          <a:schemeClr val="accent5"/>
                        </a:solidFill>
                        <a:latin typeface="Cambria Math" panose="02040503050406030204" pitchFamily="18" charset="0"/>
                      </a:rPr>
                      <m:t>1.38</m:t>
                    </m:r>
                  </m:oMath>
                </a14:m>
                <a:endParaRPr lang="en-US" altLang="ja-JP" i="1" dirty="0">
                  <a:solidFill>
                    <a:schemeClr val="accent5"/>
                  </a:solidFill>
                  <a:latin typeface="Cambria Math" panose="02040503050406030204" pitchFamily="18" charset="0"/>
                </a:endParaRP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061593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ja-JP" altLang="en-US" dirty="0"/>
              <a:t>パイプライン段数を２倍にした時の </a:t>
            </a:r>
            <a:r>
              <a:rPr kumimoji="1" lang="en-US" altLang="ja-JP" dirty="0"/>
              <a:t>IPC</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p:txBody>
              <a:bodyPr/>
              <a:lstStyle/>
              <a:p>
                <a:r>
                  <a:rPr lang="ja-JP" altLang="en-US" dirty="0">
                    <a:latin typeface="Cambria Math" panose="02040503050406030204" pitchFamily="18" charset="0"/>
                  </a:rPr>
                  <a:t>まとめると，</a:t>
                </a:r>
                <a:endParaRPr lang="en-US" altLang="ja-JP" dirty="0">
                  <a:latin typeface="Cambria Math" panose="02040503050406030204" pitchFamily="18" charset="0"/>
                </a:endParaRPr>
              </a:p>
              <a:p>
                <a:pPr lvl="1"/>
                <a:r>
                  <a:rPr lang="ja-JP" altLang="en-US" dirty="0">
                    <a:latin typeface="Cambria Math" panose="02040503050406030204" pitchFamily="18" charset="0"/>
                  </a:rPr>
                  <a:t>５段パイプの理想的な性能 ：</a:t>
                </a:r>
                <a:r>
                  <a:rPr lang="en-US" altLang="ja-JP" dirty="0">
                    <a:latin typeface="Cambria Math" panose="02040503050406030204" pitchFamily="18" charset="0"/>
                  </a:rPr>
                  <a:t>	</a:t>
                </a:r>
                <a14:m>
                  <m:oMath xmlns:m="http://schemas.openxmlformats.org/officeDocument/2006/math">
                    <m:r>
                      <a:rPr lang="en-US" altLang="ja-JP" i="1" dirty="0" smtClean="0">
                        <a:latin typeface="Cambria Math" panose="02040503050406030204" pitchFamily="18" charset="0"/>
                      </a:rPr>
                      <m:t>1</m:t>
                    </m:r>
                  </m:oMath>
                </a14:m>
                <a:endParaRPr lang="en-US" altLang="ja-JP" dirty="0">
                  <a:latin typeface="Cambria Math" panose="02040503050406030204" pitchFamily="18" charset="0"/>
                </a:endParaRPr>
              </a:p>
              <a:p>
                <a:pPr lvl="1"/>
                <a:r>
                  <a:rPr lang="ja-JP" altLang="en-US" dirty="0">
                    <a:latin typeface="Cambria Math" panose="02040503050406030204" pitchFamily="18" charset="0"/>
                  </a:rPr>
                  <a:t>分岐予測ミスありの性能：</a:t>
                </a:r>
                <a:r>
                  <a:rPr lang="en-US" altLang="ja-JP" dirty="0">
                    <a:latin typeface="Cambria Math" panose="02040503050406030204" pitchFamily="18" charset="0"/>
                  </a:rPr>
                  <a:t>	0.69</a:t>
                </a:r>
              </a:p>
              <a:p>
                <a:pPr lvl="1"/>
                <a:r>
                  <a:rPr lang="ja-JP" altLang="en-US" dirty="0">
                    <a:latin typeface="Cambria Math" panose="02040503050406030204" pitchFamily="18" charset="0"/>
                  </a:rPr>
                  <a:t>１０段パイプの理想的な性能：</a:t>
                </a:r>
                <a:r>
                  <a:rPr lang="en-US" altLang="ja-JP" dirty="0">
                    <a:latin typeface="Cambria Math" panose="02040503050406030204" pitchFamily="18" charset="0"/>
                  </a:rPr>
                  <a:t>	2</a:t>
                </a:r>
              </a:p>
              <a:p>
                <a:pPr lvl="1"/>
                <a:r>
                  <a:rPr lang="ja-JP" altLang="en-US" dirty="0">
                    <a:latin typeface="Cambria Math" panose="02040503050406030204" pitchFamily="18" charset="0"/>
                  </a:rPr>
                  <a:t>１０段で予測ミスあり：</a:t>
                </a:r>
                <a:r>
                  <a:rPr lang="en-US" altLang="ja-JP" dirty="0">
                    <a:latin typeface="Cambria Math" panose="02040503050406030204" pitchFamily="18" charset="0"/>
                  </a:rPr>
                  <a:t>		1.38 (0.69 </a:t>
                </a:r>
                <a:r>
                  <a:rPr lang="ja-JP" altLang="en-US" dirty="0">
                    <a:latin typeface="Cambria Math" panose="02040503050406030204" pitchFamily="18" charset="0"/>
                  </a:rPr>
                  <a:t>の </a:t>
                </a:r>
                <a:r>
                  <a:rPr lang="en-US" altLang="ja-JP" dirty="0">
                    <a:latin typeface="Cambria Math" panose="02040503050406030204" pitchFamily="18" charset="0"/>
                  </a:rPr>
                  <a:t>1.66</a:t>
                </a:r>
                <a:r>
                  <a:rPr lang="ja-JP" altLang="en-US" dirty="0">
                    <a:latin typeface="Cambria Math" panose="02040503050406030204" pitchFamily="18" charset="0"/>
                  </a:rPr>
                  <a:t>倍</a:t>
                </a:r>
                <a:r>
                  <a:rPr lang="en-US" altLang="ja-JP" dirty="0">
                    <a:latin typeface="Cambria Math" panose="02040503050406030204" pitchFamily="18" charset="0"/>
                  </a:rPr>
                  <a:t>)</a:t>
                </a:r>
              </a:p>
              <a:p>
                <a:r>
                  <a:rPr lang="ja-JP" altLang="en-US" dirty="0">
                    <a:latin typeface="Cambria Math" panose="02040503050406030204" pitchFamily="18" charset="0"/>
                  </a:rPr>
                  <a:t>わかること：</a:t>
                </a:r>
                <a:endParaRPr lang="en-US" altLang="ja-JP" dirty="0">
                  <a:latin typeface="Cambria Math" panose="02040503050406030204" pitchFamily="18" charset="0"/>
                </a:endParaRPr>
              </a:p>
              <a:p>
                <a:pPr marL="817200" lvl="1" indent="-457200">
                  <a:buFont typeface="+mj-lt"/>
                  <a:buAutoNum type="arabicPeriod"/>
                </a:pPr>
                <a:r>
                  <a:rPr lang="ja-JP" altLang="en-US" dirty="0">
                    <a:solidFill>
                      <a:schemeClr val="tx1">
                        <a:lumMod val="75000"/>
                        <a:lumOff val="25000"/>
                      </a:schemeClr>
                    </a:solidFill>
                    <a:latin typeface="Cambria Math" panose="02040503050406030204" pitchFamily="18" charset="0"/>
                  </a:rPr>
                  <a:t>パイプライン段数を深くすると </a:t>
                </a:r>
                <a:r>
                  <a:rPr lang="en-US" altLang="ja-JP" dirty="0">
                    <a:solidFill>
                      <a:schemeClr val="tx1">
                        <a:lumMod val="75000"/>
                        <a:lumOff val="25000"/>
                      </a:schemeClr>
                    </a:solidFill>
                    <a:latin typeface="Cambria Math" panose="02040503050406030204" pitchFamily="18" charset="0"/>
                  </a:rPr>
                  <a:t>IPC </a:t>
                </a:r>
                <a:r>
                  <a:rPr lang="ja-JP" altLang="en-US" dirty="0">
                    <a:solidFill>
                      <a:schemeClr val="tx1">
                        <a:lumMod val="75000"/>
                        <a:lumOff val="25000"/>
                      </a:schemeClr>
                    </a:solidFill>
                    <a:latin typeface="Cambria Math" panose="02040503050406030204" pitchFamily="18" charset="0"/>
                  </a:rPr>
                  <a:t>への影響が増加する</a:t>
                </a:r>
                <a:endParaRPr lang="en-US" altLang="ja-JP" dirty="0">
                  <a:solidFill>
                    <a:schemeClr val="tx1">
                      <a:lumMod val="75000"/>
                      <a:lumOff val="25000"/>
                    </a:schemeClr>
                  </a:solidFill>
                  <a:latin typeface="Cambria Math" panose="02040503050406030204" pitchFamily="18" charset="0"/>
                </a:endParaRPr>
              </a:p>
              <a:p>
                <a:pPr lvl="2"/>
                <a:r>
                  <a:rPr lang="ja-JP" altLang="en-US" dirty="0">
                    <a:solidFill>
                      <a:schemeClr val="tx1">
                        <a:lumMod val="75000"/>
                        <a:lumOff val="25000"/>
                      </a:schemeClr>
                    </a:solidFill>
                    <a:latin typeface="Cambria Math" panose="02040503050406030204" pitchFamily="18" charset="0"/>
                  </a:rPr>
                  <a:t>同じ分岐予測ミス発生率でも，より大きく </a:t>
                </a:r>
                <a:r>
                  <a:rPr lang="en-US" altLang="ja-JP" dirty="0">
                    <a:solidFill>
                      <a:schemeClr val="tx1">
                        <a:lumMod val="75000"/>
                        <a:lumOff val="25000"/>
                      </a:schemeClr>
                    </a:solidFill>
                    <a:latin typeface="Cambria Math" panose="02040503050406030204" pitchFamily="18" charset="0"/>
                  </a:rPr>
                  <a:t>IPC </a:t>
                </a:r>
                <a:r>
                  <a:rPr lang="ja-JP" altLang="en-US" dirty="0">
                    <a:solidFill>
                      <a:schemeClr val="tx1">
                        <a:lumMod val="75000"/>
                        <a:lumOff val="25000"/>
                      </a:schemeClr>
                    </a:solidFill>
                    <a:latin typeface="Cambria Math" panose="02040503050406030204" pitchFamily="18" charset="0"/>
                  </a:rPr>
                  <a:t>が下がる</a:t>
                </a:r>
                <a:endParaRPr lang="en-US" altLang="ja-JP" dirty="0">
                  <a:solidFill>
                    <a:schemeClr val="tx1">
                      <a:lumMod val="75000"/>
                      <a:lumOff val="25000"/>
                    </a:schemeClr>
                  </a:solidFill>
                  <a:latin typeface="Cambria Math" panose="02040503050406030204" pitchFamily="18" charset="0"/>
                </a:endParaRPr>
              </a:p>
              <a:p>
                <a:pPr marL="817200" lvl="1" indent="-457200">
                  <a:buFont typeface="+mj-lt"/>
                  <a:buAutoNum type="arabicPeriod"/>
                </a:pPr>
                <a:r>
                  <a:rPr lang="ja-JP" altLang="en-US" dirty="0">
                    <a:solidFill>
                      <a:schemeClr val="tx1">
                        <a:lumMod val="75000"/>
                        <a:lumOff val="25000"/>
                      </a:schemeClr>
                    </a:solidFill>
                    <a:latin typeface="Cambria Math" panose="02040503050406030204" pitchFamily="18" charset="0"/>
                  </a:rPr>
                  <a:t>予測ミス率 </a:t>
                </a:r>
                <a14:m>
                  <m:oMath xmlns:m="http://schemas.openxmlformats.org/officeDocument/2006/math">
                    <m:r>
                      <a:rPr lang="en-US" altLang="ja-JP" i="0" dirty="0" smtClean="0">
                        <a:solidFill>
                          <a:schemeClr val="tx1">
                            <a:lumMod val="75000"/>
                            <a:lumOff val="25000"/>
                          </a:schemeClr>
                        </a:solidFill>
                        <a:latin typeface="Cambria Math" panose="02040503050406030204" pitchFamily="18" charset="0"/>
                      </a:rPr>
                      <m:t>0.2 </m:t>
                    </m:r>
                  </m:oMath>
                </a14:m>
                <a:r>
                  <a:rPr lang="ja-JP" altLang="en-US" dirty="0">
                    <a:solidFill>
                      <a:schemeClr val="tx1">
                        <a:lumMod val="75000"/>
                        <a:lumOff val="25000"/>
                      </a:schemeClr>
                    </a:solidFill>
                    <a:latin typeface="Cambria Math" panose="02040503050406030204" pitchFamily="18" charset="0"/>
                  </a:rPr>
                  <a:t>で１０段パイプだと，全体の３割ぐらいの時間は無駄な実行をしている</a:t>
                </a:r>
                <a:endParaRPr lang="en-US" altLang="ja-JP" dirty="0">
                  <a:solidFill>
                    <a:schemeClr val="tx1">
                      <a:lumMod val="75000"/>
                      <a:lumOff val="25000"/>
                    </a:schemeClr>
                  </a:solidFill>
                  <a:latin typeface="Cambria Math" panose="02040503050406030204" pitchFamily="18" charset="0"/>
                </a:endParaRPr>
              </a:p>
              <a:p>
                <a:pPr lvl="2"/>
                <a:r>
                  <a:rPr lang="en-US" altLang="ja-JP" i="0" dirty="0">
                    <a:latin typeface="+mj-lt"/>
                  </a:rPr>
                  <a:t>1.38</a:t>
                </a:r>
                <a:r>
                  <a:rPr lang="en-US" altLang="ja-JP" b="0" i="0" dirty="0">
                    <a:latin typeface="+mj-lt"/>
                  </a:rPr>
                  <a:t> </a:t>
                </a:r>
                <a:r>
                  <a:rPr lang="en-US" altLang="ja-JP" i="0" dirty="0">
                    <a:latin typeface="+mj-lt"/>
                  </a:rPr>
                  <a:t>/ 2 = </a:t>
                </a:r>
                <a:r>
                  <a:rPr lang="en-US" altLang="ja-JP" b="0" i="0" dirty="0">
                    <a:latin typeface="+mj-lt"/>
                  </a:rPr>
                  <a:t>0.69</a:t>
                </a:r>
                <a:endParaRPr lang="en-US" altLang="ja-JP" i="1" dirty="0">
                  <a:solidFill>
                    <a:schemeClr val="tx1">
                      <a:lumMod val="75000"/>
                      <a:lumOff val="25000"/>
                    </a:schemeClr>
                  </a:solidFill>
                  <a:latin typeface="Cambria Math" panose="02040503050406030204" pitchFamily="18" charset="0"/>
                </a:endParaRP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8442480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ja-JP" altLang="en-US" dirty="0"/>
              <a:t>スーパスカラにした時の </a:t>
            </a:r>
            <a:r>
              <a:rPr kumimoji="1" lang="en-US" altLang="ja-JP" dirty="0"/>
              <a:t>IPC</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type="body" sz="quarter" idx="10"/>
              </p:nvPr>
            </p:nvSpPr>
            <p:spPr>
              <a:xfrm>
                <a:off x="1955954" y="1088974"/>
                <a:ext cx="8100090" cy="5220058"/>
              </a:xfrm>
            </p:spPr>
            <p:txBody>
              <a:bodyPr/>
              <a:lstStyle/>
              <a:p>
                <a14:m>
                  <m:oMath xmlns:m="http://schemas.openxmlformats.org/officeDocument/2006/math">
                    <m:r>
                      <a:rPr lang="en-US" altLang="ja-JP" i="1" dirty="0" smtClean="0">
                        <a:latin typeface="Cambria Math" panose="02040503050406030204" pitchFamily="18" charset="0"/>
                      </a:rPr>
                      <m:t>𝐼𝑃𝐶𝑟</m:t>
                    </m:r>
                    <m:r>
                      <m:rPr>
                        <m:nor/>
                      </m:rPr>
                      <a:rPr lang="en-US" altLang="ja-JP" dirty="0"/>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𝐼𝑃𝐶𝑡</m:t>
                            </m:r>
                          </m:den>
                        </m:f>
                        <m:r>
                          <a:rPr lang="en-US" altLang="ja-JP" i="1" dirty="0">
                            <a:latin typeface="Cambria Math" panose="02040503050406030204" pitchFamily="18" charset="0"/>
                          </a:rPr>
                          <m:t>+</m:t>
                        </m:r>
                        <m:r>
                          <a:rPr lang="en-US" altLang="ja-JP" i="1" dirty="0">
                            <a:latin typeface="Cambria Math" panose="02040503050406030204" pitchFamily="18" charset="0"/>
                          </a:rPr>
                          <m:t>𝑃𝑏</m:t>
                        </m:r>
                        <m:r>
                          <a:rPr lang="en-US" altLang="ja-JP" i="1" dirty="0">
                            <a:latin typeface="Cambria Math" panose="02040503050406030204" pitchFamily="18" charset="0"/>
                          </a:rPr>
                          <m:t>×</m:t>
                        </m:r>
                        <m:r>
                          <a:rPr lang="en-US" altLang="ja-JP" i="1" dirty="0">
                            <a:latin typeface="Cambria Math" panose="02040503050406030204" pitchFamily="18" charset="0"/>
                          </a:rPr>
                          <m:t>𝑃𝑚</m:t>
                        </m:r>
                        <m:r>
                          <a:rPr lang="en-US" altLang="ja-JP" i="1" dirty="0">
                            <a:latin typeface="Cambria Math" panose="02040503050406030204" pitchFamily="18" charset="0"/>
                          </a:rPr>
                          <m:t>×</m:t>
                        </m:r>
                        <m:r>
                          <a:rPr lang="en-US" altLang="ja-JP" i="1" dirty="0">
                            <a:latin typeface="Cambria Math" panose="02040503050406030204" pitchFamily="18" charset="0"/>
                          </a:rPr>
                          <m:t>𝐶𝑝</m:t>
                        </m:r>
                      </m:den>
                    </m:f>
                  </m:oMath>
                </a14:m>
                <a:endParaRPr lang="en-US" altLang="ja-JP" dirty="0"/>
              </a:p>
              <a:p>
                <a:r>
                  <a:rPr kumimoji="1" lang="ja-JP" altLang="en-US" dirty="0"/>
                  <a:t>スーパスカラに</a:t>
                </a:r>
                <a:r>
                  <a:rPr lang="ja-JP" altLang="en-US" i="1" dirty="0">
                    <a:latin typeface="Cambria Math" panose="02040503050406030204" pitchFamily="18" charset="0"/>
                  </a:rPr>
                  <a:t>すると･･･</a:t>
                </a:r>
                <a:endParaRPr lang="en-US" altLang="ja-JP" i="1" dirty="0">
                  <a:latin typeface="Cambria Math" panose="02040503050406030204" pitchFamily="18" charset="0"/>
                </a:endParaRPr>
              </a:p>
              <a:p>
                <a:pPr lvl="1"/>
                <a14:m>
                  <m:oMath xmlns:m="http://schemas.openxmlformats.org/officeDocument/2006/math">
                    <m:r>
                      <a:rPr lang="en-US" altLang="ja-JP" i="1" dirty="0" smtClean="0">
                        <a:latin typeface="Cambria Math" panose="02040503050406030204" pitchFamily="18" charset="0"/>
                      </a:rPr>
                      <m:t>𝑃𝑏</m:t>
                    </m:r>
                    <m:r>
                      <a:rPr lang="en-US" altLang="ja-JP" i="1" dirty="0" smtClean="0">
                        <a:latin typeface="Cambria Math" panose="02040503050406030204" pitchFamily="18" charset="0"/>
                      </a:rPr>
                      <m:t>=0.25</m:t>
                    </m:r>
                  </m:oMath>
                </a14:m>
                <a:r>
                  <a:rPr lang="ja-JP" altLang="en-US" dirty="0"/>
                  <a:t>，</a:t>
                </a:r>
                <a14:m>
                  <m:oMath xmlns:m="http://schemas.openxmlformats.org/officeDocument/2006/math">
                    <m:r>
                      <a:rPr lang="en-US" altLang="ja-JP" i="1" dirty="0" smtClean="0">
                        <a:latin typeface="Cambria Math" panose="02040503050406030204" pitchFamily="18" charset="0"/>
                      </a:rPr>
                      <m:t>𝑃𝑚</m:t>
                    </m:r>
                    <m:r>
                      <a:rPr lang="en-US" altLang="ja-JP" i="1" dirty="0" smtClean="0">
                        <a:latin typeface="Cambria Math" panose="02040503050406030204" pitchFamily="18" charset="0"/>
                      </a:rPr>
                      <m:t>=0.2</m:t>
                    </m:r>
                  </m:oMath>
                </a14:m>
                <a:r>
                  <a:rPr lang="ja-JP" altLang="en-US" dirty="0"/>
                  <a:t>，</a:t>
                </a:r>
                <a:r>
                  <a:rPr lang="en-US" altLang="ja-JP" dirty="0">
                    <a:solidFill>
                      <a:schemeClr val="tx1">
                        <a:lumMod val="75000"/>
                        <a:lumOff val="25000"/>
                      </a:schemeClr>
                    </a:solidFill>
                  </a:rPr>
                  <a:t> </a:t>
                </a:r>
                <a14:m>
                  <m:oMath xmlns:m="http://schemas.openxmlformats.org/officeDocument/2006/math">
                    <m:r>
                      <a:rPr lang="en-US" altLang="ja-JP" i="1" dirty="0">
                        <a:solidFill>
                          <a:schemeClr val="tx1">
                            <a:lumMod val="75000"/>
                            <a:lumOff val="25000"/>
                          </a:schemeClr>
                        </a:solidFill>
                        <a:latin typeface="Cambria Math" panose="02040503050406030204" pitchFamily="18" charset="0"/>
                      </a:rPr>
                      <m:t>𝐶𝑝</m:t>
                    </m:r>
                    <m:r>
                      <a:rPr lang="en-US" altLang="ja-JP" i="1" dirty="0" smtClean="0">
                        <a:solidFill>
                          <a:schemeClr val="tx1">
                            <a:lumMod val="75000"/>
                            <a:lumOff val="25000"/>
                          </a:schemeClr>
                        </a:solidFill>
                        <a:latin typeface="Cambria Math" panose="02040503050406030204" pitchFamily="18" charset="0"/>
                      </a:rPr>
                      <m:t>=</m:t>
                    </m:r>
                    <m:r>
                      <a:rPr lang="en-US" altLang="ja-JP" b="0" i="1" dirty="0" smtClean="0">
                        <a:solidFill>
                          <a:schemeClr val="tx1">
                            <a:lumMod val="75000"/>
                            <a:lumOff val="25000"/>
                          </a:schemeClr>
                        </a:solidFill>
                        <a:latin typeface="Cambria Math" panose="02040503050406030204" pitchFamily="18" charset="0"/>
                      </a:rPr>
                      <m:t>4</m:t>
                    </m:r>
                  </m:oMath>
                </a14:m>
                <a:r>
                  <a:rPr lang="en-US" altLang="ja-JP" dirty="0"/>
                  <a:t> </a:t>
                </a:r>
                <a:r>
                  <a:rPr lang="ja-JP" altLang="en-US" dirty="0"/>
                  <a:t>は変わらない</a:t>
                </a:r>
                <a:endParaRPr lang="en-US" altLang="ja-JP" dirty="0"/>
              </a:p>
              <a:p>
                <a:pPr lvl="1"/>
                <a:r>
                  <a:rPr lang="ja-JP" altLang="en-US" i="0" dirty="0">
                    <a:solidFill>
                      <a:schemeClr val="accent5"/>
                    </a:solidFill>
                    <a:latin typeface="+mj-lt"/>
                  </a:rPr>
                  <a:t>パイプラインが２本に増えたので</a:t>
                </a:r>
                <a:r>
                  <a:rPr lang="en-US" altLang="ja-JP" b="0" i="0" dirty="0">
                    <a:solidFill>
                      <a:schemeClr val="accent5"/>
                    </a:solidFill>
                    <a:latin typeface="+mj-lt"/>
                  </a:rPr>
                  <a:t> </a:t>
                </a:r>
                <a14:m>
                  <m:oMath xmlns:m="http://schemas.openxmlformats.org/officeDocument/2006/math">
                    <m:r>
                      <a:rPr lang="en-US" altLang="ja-JP" i="1" dirty="0">
                        <a:solidFill>
                          <a:schemeClr val="accent5"/>
                        </a:solidFill>
                        <a:latin typeface="Cambria Math" panose="02040503050406030204" pitchFamily="18" charset="0"/>
                      </a:rPr>
                      <m:t>𝐼𝑃𝐶𝑡</m:t>
                    </m:r>
                    <m:r>
                      <a:rPr lang="en-US" altLang="ja-JP" dirty="0">
                        <a:solidFill>
                          <a:schemeClr val="accent5"/>
                        </a:solidFill>
                        <a:latin typeface="Cambria Math" panose="02040503050406030204" pitchFamily="18" charset="0"/>
                      </a:rPr>
                      <m:t>=</m:t>
                    </m:r>
                    <m:r>
                      <a:rPr lang="en-US" altLang="ja-JP" b="0" i="0" dirty="0" smtClean="0">
                        <a:solidFill>
                          <a:schemeClr val="accent5"/>
                        </a:solidFill>
                        <a:latin typeface="Cambria Math" panose="02040503050406030204" pitchFamily="18" charset="0"/>
                      </a:rPr>
                      <m:t>2 </m:t>
                    </m:r>
                  </m:oMath>
                </a14:m>
                <a:r>
                  <a:rPr lang="ja-JP" altLang="en-US" i="1" dirty="0">
                    <a:solidFill>
                      <a:schemeClr val="accent5"/>
                    </a:solidFill>
                    <a:latin typeface="Cambria Math" panose="02040503050406030204" pitchFamily="18" charset="0"/>
                  </a:rPr>
                  <a:t>に</a:t>
                </a:r>
                <a:endParaRPr lang="en-US" altLang="ja-JP" i="1" dirty="0">
                  <a:solidFill>
                    <a:schemeClr val="accent5"/>
                  </a:solidFill>
                  <a:latin typeface="Cambria Math" panose="02040503050406030204" pitchFamily="18" charset="0"/>
                </a:endParaRPr>
              </a:p>
              <a:p>
                <a:pPr lvl="1"/>
                <a:endParaRPr lang="en-US" altLang="ja-JP" i="1" dirty="0">
                  <a:latin typeface="Cambria Math" panose="02040503050406030204" pitchFamily="18" charset="0"/>
                </a:endParaRPr>
              </a:p>
              <a:p>
                <a:pPr lvl="1"/>
                <a14:m>
                  <m:oMath xmlns:m="http://schemas.openxmlformats.org/officeDocument/2006/math">
                    <m:r>
                      <a:rPr lang="en-US" altLang="ja-JP" i="1" dirty="0">
                        <a:latin typeface="Cambria Math" panose="02040503050406030204" pitchFamily="18" charset="0"/>
                      </a:rPr>
                      <m:t>𝐼𝑃𝐶𝑟</m:t>
                    </m:r>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1/</m:t>
                        </m:r>
                        <m:r>
                          <a:rPr lang="en-US" altLang="ja-JP" b="1" i="1" dirty="0" smtClean="0">
                            <a:solidFill>
                              <a:schemeClr val="accent5"/>
                            </a:solidFill>
                            <a:latin typeface="Cambria Math" panose="02040503050406030204" pitchFamily="18" charset="0"/>
                          </a:rPr>
                          <m:t>𝟐</m:t>
                        </m:r>
                        <m:r>
                          <a:rPr lang="en-US" altLang="ja-JP" i="1" dirty="0">
                            <a:latin typeface="Cambria Math" panose="02040503050406030204" pitchFamily="18" charset="0"/>
                          </a:rPr>
                          <m:t>+0.25×0.2×</m:t>
                        </m:r>
                        <m:r>
                          <a:rPr lang="en-US" altLang="ja-JP" b="0" i="1" dirty="0" smtClean="0">
                            <a:latin typeface="Cambria Math" panose="02040503050406030204" pitchFamily="18" charset="0"/>
                          </a:rPr>
                          <m:t>4</m:t>
                        </m:r>
                      </m:den>
                    </m:f>
                    <m:r>
                      <a:rPr lang="ja-JP" altLang="en-US" i="1" dirty="0">
                        <a:latin typeface="Cambria Math" panose="02040503050406030204" pitchFamily="18" charset="0"/>
                      </a:rPr>
                      <m:t>≃</m:t>
                    </m:r>
                    <m:r>
                      <a:rPr lang="en-US" altLang="ja-JP" b="0" i="1" dirty="0" smtClean="0">
                        <a:latin typeface="Cambria Math" panose="02040503050406030204" pitchFamily="18" charset="0"/>
                      </a:rPr>
                      <m:t>1</m:t>
                    </m:r>
                    <m:r>
                      <a:rPr lang="en-US" altLang="ja-JP" i="1" dirty="0">
                        <a:latin typeface="Cambria Math" panose="02040503050406030204" pitchFamily="18" charset="0"/>
                      </a:rPr>
                      <m:t>.</m:t>
                    </m:r>
                    <m:r>
                      <a:rPr lang="en-US" altLang="ja-JP" b="0" i="1" dirty="0" smtClean="0">
                        <a:latin typeface="Cambria Math" panose="02040503050406030204" pitchFamily="18" charset="0"/>
                      </a:rPr>
                      <m:t>42</m:t>
                    </m:r>
                  </m:oMath>
                </a14:m>
                <a:endParaRPr lang="en-US" altLang="ja-JP" dirty="0"/>
              </a:p>
              <a:p>
                <a:pPr lvl="1"/>
                <a:r>
                  <a:rPr lang="ja-JP" altLang="en-US" dirty="0"/>
                  <a:t>分岐予測ミスが無かった場合の理想 </a:t>
                </a:r>
                <a:r>
                  <a:rPr lang="en-US" altLang="ja-JP" dirty="0"/>
                  <a:t>IPC </a:t>
                </a:r>
                <a:r>
                  <a:rPr lang="ja-JP" altLang="en-US" dirty="0"/>
                  <a:t>に比べると大幅に低い</a:t>
                </a:r>
                <a:br>
                  <a:rPr lang="en-US" altLang="ja-JP" dirty="0"/>
                </a:br>
                <a:endParaRPr lang="en-US" altLang="ja-JP" i="1" dirty="0">
                  <a:latin typeface="Cambria Math" panose="02040503050406030204" pitchFamily="18" charset="0"/>
                </a:endParaRPr>
              </a:p>
            </p:txBody>
          </p:sp>
        </mc:Choice>
        <mc:Fallback>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type="body" sz="quarter" idx="10"/>
              </p:nvPr>
            </p:nvSpPr>
            <p:spPr>
              <a:xfrm>
                <a:off x="1955954" y="1088974"/>
                <a:ext cx="8100090" cy="5220058"/>
              </a:xfrm>
              <a:blipFill>
                <a:blip r:embed="rId2"/>
                <a:stretch>
                  <a:fillRect l="-67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93014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3DF8F5-B166-84F8-727E-88F2D154DDC3}"/>
              </a:ext>
            </a:extLst>
          </p:cNvPr>
          <p:cNvSpPr>
            <a:spLocks noGrp="1"/>
          </p:cNvSpPr>
          <p:nvPr>
            <p:ph type="title"/>
          </p:nvPr>
        </p:nvSpPr>
        <p:spPr/>
        <p:txBody>
          <a:bodyPr/>
          <a:lstStyle/>
          <a:p>
            <a:r>
              <a:rPr lang="ja-JP" altLang="en-US" sz="2400" dirty="0"/>
              <a:t>スーパスカラにすると，その分取り消される命令が増える</a:t>
            </a:r>
            <a:endParaRPr lang="en-US" sz="2400" dirty="0"/>
          </a:p>
        </p:txBody>
      </p:sp>
      <p:sp>
        <p:nvSpPr>
          <p:cNvPr id="6" name="平行四辺形 5">
            <a:extLst>
              <a:ext uri="{FF2B5EF4-FFF2-40B4-BE49-F238E27FC236}">
                <a16:creationId xmlns:a16="http://schemas.microsoft.com/office/drawing/2014/main" id="{924A0410-E82C-0C3E-5D17-009BF319D2DA}"/>
              </a:ext>
            </a:extLst>
          </p:cNvPr>
          <p:cNvSpPr/>
          <p:nvPr/>
        </p:nvSpPr>
        <p:spPr bwMode="auto">
          <a:xfrm>
            <a:off x="1685951" y="2168986"/>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9" name="平行四辺形 8">
            <a:extLst>
              <a:ext uri="{FF2B5EF4-FFF2-40B4-BE49-F238E27FC236}">
                <a16:creationId xmlns:a16="http://schemas.microsoft.com/office/drawing/2014/main" id="{F3F9C887-A1F6-5400-D621-B89E230B60DC}"/>
              </a:ext>
            </a:extLst>
          </p:cNvPr>
          <p:cNvSpPr/>
          <p:nvPr/>
        </p:nvSpPr>
        <p:spPr bwMode="auto">
          <a:xfrm>
            <a:off x="3126111" y="2168986"/>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2" name="平行四辺形 11">
            <a:extLst>
              <a:ext uri="{FF2B5EF4-FFF2-40B4-BE49-F238E27FC236}">
                <a16:creationId xmlns:a16="http://schemas.microsoft.com/office/drawing/2014/main" id="{749A4345-BE4C-48B8-1C25-D053078D38F1}"/>
              </a:ext>
            </a:extLst>
          </p:cNvPr>
          <p:cNvSpPr/>
          <p:nvPr/>
        </p:nvSpPr>
        <p:spPr bwMode="auto">
          <a:xfrm>
            <a:off x="4566271" y="2168986"/>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6" name="正方形/長方形 15">
            <a:extLst>
              <a:ext uri="{FF2B5EF4-FFF2-40B4-BE49-F238E27FC236}">
                <a16:creationId xmlns:a16="http://schemas.microsoft.com/office/drawing/2014/main" id="{6ED1F96C-52BF-AD99-74CE-13E0B4D5E90A}"/>
              </a:ext>
            </a:extLst>
          </p:cNvPr>
          <p:cNvSpPr/>
          <p:nvPr/>
        </p:nvSpPr>
        <p:spPr>
          <a:xfrm>
            <a:off x="2135956" y="1268976"/>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
        <p:nvSpPr>
          <p:cNvPr id="19" name="正方形/長方形 18">
            <a:extLst>
              <a:ext uri="{FF2B5EF4-FFF2-40B4-BE49-F238E27FC236}">
                <a16:creationId xmlns:a16="http://schemas.microsoft.com/office/drawing/2014/main" id="{08644A07-6BA2-3F97-1CBE-EC276B367423}"/>
              </a:ext>
            </a:extLst>
          </p:cNvPr>
          <p:cNvSpPr/>
          <p:nvPr/>
        </p:nvSpPr>
        <p:spPr>
          <a:xfrm>
            <a:off x="7896021" y="1268976"/>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24" name="角丸四角形 23">
            <a:extLst>
              <a:ext uri="{FF2B5EF4-FFF2-40B4-BE49-F238E27FC236}">
                <a16:creationId xmlns:a16="http://schemas.microsoft.com/office/drawing/2014/main" id="{16DF9B34-629E-FC8F-A73C-B3E291C266B6}"/>
              </a:ext>
            </a:extLst>
          </p:cNvPr>
          <p:cNvSpPr/>
          <p:nvPr/>
        </p:nvSpPr>
        <p:spPr bwMode="auto">
          <a:xfrm>
            <a:off x="5105989" y="1988984"/>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6" name="角丸四角形吹き出し 26">
            <a:extLst>
              <a:ext uri="{FF2B5EF4-FFF2-40B4-BE49-F238E27FC236}">
                <a16:creationId xmlns:a16="http://schemas.microsoft.com/office/drawing/2014/main" id="{E5C149EB-9555-8015-692A-837036F80A4F}"/>
              </a:ext>
            </a:extLst>
          </p:cNvPr>
          <p:cNvSpPr/>
          <p:nvPr/>
        </p:nvSpPr>
        <p:spPr bwMode="auto">
          <a:xfrm>
            <a:off x="8507976" y="728970"/>
            <a:ext cx="1980022" cy="612648"/>
          </a:xfrm>
          <a:prstGeom prst="wedgeRoundRectCallout">
            <a:avLst>
              <a:gd name="adj1" fmla="val -42160"/>
              <a:gd name="adj2" fmla="val 92539"/>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間違っとるが</a:t>
            </a:r>
            <a:r>
              <a:rPr lang="ja-JP" altLang="en-US" dirty="0" err="1">
                <a:solidFill>
                  <a:schemeClr val="tx1">
                    <a:lumMod val="65000"/>
                    <a:lumOff val="35000"/>
                  </a:schemeClr>
                </a:solidFill>
                <a:latin typeface="Arial Narrow" panose="020B0606020202030204" pitchFamily="34" charset="0"/>
              </a:rPr>
              <a:t>な</a:t>
            </a:r>
            <a:endParaRPr lang="ja-JP" altLang="en-US" dirty="0">
              <a:solidFill>
                <a:schemeClr val="tx1">
                  <a:lumMod val="65000"/>
                  <a:lumOff val="35000"/>
                </a:schemeClr>
              </a:solidFill>
              <a:latin typeface="Arial Narrow" panose="020B0606020202030204" pitchFamily="34" charset="0"/>
            </a:endParaRPr>
          </a:p>
        </p:txBody>
      </p:sp>
      <p:sp>
        <p:nvSpPr>
          <p:cNvPr id="27" name="角丸四角形 27">
            <a:extLst>
              <a:ext uri="{FF2B5EF4-FFF2-40B4-BE49-F238E27FC236}">
                <a16:creationId xmlns:a16="http://schemas.microsoft.com/office/drawing/2014/main" id="{ABF75782-6CD1-727C-25AF-F709C7728C91}"/>
              </a:ext>
            </a:extLst>
          </p:cNvPr>
          <p:cNvSpPr/>
          <p:nvPr/>
        </p:nvSpPr>
        <p:spPr bwMode="auto">
          <a:xfrm>
            <a:off x="3755975" y="1988984"/>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8" name="角丸四角形 28">
            <a:extLst>
              <a:ext uri="{FF2B5EF4-FFF2-40B4-BE49-F238E27FC236}">
                <a16:creationId xmlns:a16="http://schemas.microsoft.com/office/drawing/2014/main" id="{25891D38-133B-1A48-C38D-F0D14D69CD32}"/>
              </a:ext>
            </a:extLst>
          </p:cNvPr>
          <p:cNvSpPr/>
          <p:nvPr/>
        </p:nvSpPr>
        <p:spPr bwMode="auto">
          <a:xfrm>
            <a:off x="2315958" y="1988984"/>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1" name="平行四辺形 30">
            <a:extLst>
              <a:ext uri="{FF2B5EF4-FFF2-40B4-BE49-F238E27FC236}">
                <a16:creationId xmlns:a16="http://schemas.microsoft.com/office/drawing/2014/main" id="{A0D2B890-3FBD-6740-6EA3-487C95E1B8E8}"/>
              </a:ext>
            </a:extLst>
          </p:cNvPr>
          <p:cNvSpPr/>
          <p:nvPr/>
        </p:nvSpPr>
        <p:spPr bwMode="auto">
          <a:xfrm>
            <a:off x="6005999" y="2168986"/>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5" name="平行四辺形 14">
            <a:extLst>
              <a:ext uri="{FF2B5EF4-FFF2-40B4-BE49-F238E27FC236}">
                <a16:creationId xmlns:a16="http://schemas.microsoft.com/office/drawing/2014/main" id="{B77396CE-B31F-1D85-9D61-3710D94E5E05}"/>
              </a:ext>
            </a:extLst>
          </p:cNvPr>
          <p:cNvSpPr/>
          <p:nvPr/>
        </p:nvSpPr>
        <p:spPr bwMode="auto">
          <a:xfrm>
            <a:off x="7446015" y="2168986"/>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32" name="角丸四角形 23">
            <a:extLst>
              <a:ext uri="{FF2B5EF4-FFF2-40B4-BE49-F238E27FC236}">
                <a16:creationId xmlns:a16="http://schemas.microsoft.com/office/drawing/2014/main" id="{B993F76D-9173-9CC4-065B-44844839F8B0}"/>
              </a:ext>
            </a:extLst>
          </p:cNvPr>
          <p:cNvSpPr/>
          <p:nvPr/>
        </p:nvSpPr>
        <p:spPr bwMode="auto">
          <a:xfrm>
            <a:off x="6546005" y="1988984"/>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58" name="角丸四角形 89">
            <a:extLst>
              <a:ext uri="{FF2B5EF4-FFF2-40B4-BE49-F238E27FC236}">
                <a16:creationId xmlns:a16="http://schemas.microsoft.com/office/drawing/2014/main" id="{77252879-6EA2-5436-7599-BF908A68CC37}"/>
              </a:ext>
            </a:extLst>
          </p:cNvPr>
          <p:cNvSpPr/>
          <p:nvPr/>
        </p:nvSpPr>
        <p:spPr bwMode="auto">
          <a:xfrm>
            <a:off x="8076023" y="1988984"/>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sp>
        <p:nvSpPr>
          <p:cNvPr id="4" name="角丸四角形吹き出し 3">
            <a:extLst>
              <a:ext uri="{FF2B5EF4-FFF2-40B4-BE49-F238E27FC236}">
                <a16:creationId xmlns:a16="http://schemas.microsoft.com/office/drawing/2014/main" id="{86B6A3CD-F71B-B70E-B067-DEBC61AA4A3B}"/>
              </a:ext>
            </a:extLst>
          </p:cNvPr>
          <p:cNvSpPr/>
          <p:nvPr/>
        </p:nvSpPr>
        <p:spPr bwMode="auto">
          <a:xfrm>
            <a:off x="2675962" y="728970"/>
            <a:ext cx="2520028" cy="612648"/>
          </a:xfrm>
          <a:prstGeom prst="wedgeRoundRectCallout">
            <a:avLst>
              <a:gd name="adj1" fmla="val -44943"/>
              <a:gd name="adj2" fmla="val 95784"/>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dirty="0">
                <a:solidFill>
                  <a:schemeClr val="tx1">
                    <a:lumMod val="65000"/>
                    <a:lumOff val="35000"/>
                  </a:schemeClr>
                </a:solidFill>
                <a:latin typeface="Arial Narrow" panose="020B0606020202030204" pitchFamily="34" charset="0"/>
              </a:rPr>
              <a:t>else </a:t>
            </a:r>
            <a:r>
              <a:rPr lang="ja-JP" altLang="en-US" dirty="0">
                <a:solidFill>
                  <a:schemeClr val="tx1">
                    <a:lumMod val="65000"/>
                    <a:lumOff val="35000"/>
                  </a:schemeClr>
                </a:solidFill>
                <a:latin typeface="Arial Narrow" panose="020B0606020202030204" pitchFamily="34" charset="0"/>
              </a:rPr>
              <a:t>じゃなかったかー</a:t>
            </a:r>
            <a:endParaRPr lang="en-US" altLang="ja-JP" dirty="0">
              <a:solidFill>
                <a:schemeClr val="tx1">
                  <a:lumMod val="65000"/>
                  <a:lumOff val="35000"/>
                </a:schemeClr>
              </a:solidFill>
              <a:latin typeface="Arial Narrow" panose="020B0606020202030204" pitchFamily="34" charset="0"/>
            </a:endParaRPr>
          </a:p>
        </p:txBody>
      </p:sp>
      <p:cxnSp>
        <p:nvCxnSpPr>
          <p:cNvPr id="7" name="直線矢印コネクタ 6">
            <a:extLst>
              <a:ext uri="{FF2B5EF4-FFF2-40B4-BE49-F238E27FC236}">
                <a16:creationId xmlns:a16="http://schemas.microsoft.com/office/drawing/2014/main" id="{62AAC06C-177E-A477-2989-AA7ACCDE4C60}"/>
              </a:ext>
            </a:extLst>
          </p:cNvPr>
          <p:cNvCxnSpPr>
            <a:cxnSpLocks/>
          </p:cNvCxnSpPr>
          <p:nvPr/>
        </p:nvCxnSpPr>
        <p:spPr bwMode="auto">
          <a:xfrm>
            <a:off x="1685952" y="3068996"/>
            <a:ext cx="5670063"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8" name="正方形/長方形 7">
            <a:extLst>
              <a:ext uri="{FF2B5EF4-FFF2-40B4-BE49-F238E27FC236}">
                <a16:creationId xmlns:a16="http://schemas.microsoft.com/office/drawing/2014/main" id="{E1B198A9-F9BA-3FD1-6E65-73F9BD3485BB}"/>
              </a:ext>
            </a:extLst>
          </p:cNvPr>
          <p:cNvSpPr/>
          <p:nvPr/>
        </p:nvSpPr>
        <p:spPr>
          <a:xfrm>
            <a:off x="4295981" y="2708993"/>
            <a:ext cx="540005" cy="270003"/>
          </a:xfrm>
          <a:prstGeom prst="rect">
            <a:avLst/>
          </a:prstGeom>
        </p:spPr>
        <p:txBody>
          <a:bodyPr wrap="none">
            <a:noAutofit/>
          </a:bodyPr>
          <a:lstStyle/>
          <a:p>
            <a:pPr algn="ctr"/>
            <a:r>
              <a:rPr lang="ja-JP" altLang="en-US" dirty="0">
                <a:solidFill>
                  <a:schemeClr val="tx1">
                    <a:lumMod val="65000"/>
                    <a:lumOff val="35000"/>
                  </a:schemeClr>
                </a:solidFill>
              </a:rPr>
              <a:t>取り消される命令</a:t>
            </a:r>
            <a:r>
              <a:rPr lang="en-US" altLang="ja-JP" dirty="0">
                <a:solidFill>
                  <a:schemeClr val="tx1">
                    <a:lumMod val="65000"/>
                    <a:lumOff val="35000"/>
                  </a:schemeClr>
                </a:solidFill>
              </a:rPr>
              <a:t>=4</a:t>
            </a:r>
            <a:r>
              <a:rPr lang="ja-JP" altLang="en-US" dirty="0">
                <a:solidFill>
                  <a:schemeClr val="tx1">
                    <a:lumMod val="65000"/>
                    <a:lumOff val="35000"/>
                  </a:schemeClr>
                </a:solidFill>
              </a:rPr>
              <a:t>命令</a:t>
            </a:r>
          </a:p>
        </p:txBody>
      </p:sp>
      <p:sp>
        <p:nvSpPr>
          <p:cNvPr id="10" name="平行四辺形 9">
            <a:extLst>
              <a:ext uri="{FF2B5EF4-FFF2-40B4-BE49-F238E27FC236}">
                <a16:creationId xmlns:a16="http://schemas.microsoft.com/office/drawing/2014/main" id="{10046E87-FA9F-0AFD-E9BD-B6EDCE4B9B92}"/>
              </a:ext>
            </a:extLst>
          </p:cNvPr>
          <p:cNvSpPr/>
          <p:nvPr/>
        </p:nvSpPr>
        <p:spPr bwMode="auto">
          <a:xfrm>
            <a:off x="1685951" y="5139019"/>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7" name="平行四辺形 16">
            <a:extLst>
              <a:ext uri="{FF2B5EF4-FFF2-40B4-BE49-F238E27FC236}">
                <a16:creationId xmlns:a16="http://schemas.microsoft.com/office/drawing/2014/main" id="{5C62921A-B12A-5B95-1FFE-2FB356637FC2}"/>
              </a:ext>
            </a:extLst>
          </p:cNvPr>
          <p:cNvSpPr/>
          <p:nvPr/>
        </p:nvSpPr>
        <p:spPr bwMode="auto">
          <a:xfrm>
            <a:off x="3126111" y="5139019"/>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18" name="平行四辺形 17">
            <a:extLst>
              <a:ext uri="{FF2B5EF4-FFF2-40B4-BE49-F238E27FC236}">
                <a16:creationId xmlns:a16="http://schemas.microsoft.com/office/drawing/2014/main" id="{6386B61F-A883-A332-D2D5-3395DDAF4150}"/>
              </a:ext>
            </a:extLst>
          </p:cNvPr>
          <p:cNvSpPr/>
          <p:nvPr/>
        </p:nvSpPr>
        <p:spPr bwMode="auto">
          <a:xfrm>
            <a:off x="4566271" y="5139019"/>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0" name="角丸四角形 23">
            <a:extLst>
              <a:ext uri="{FF2B5EF4-FFF2-40B4-BE49-F238E27FC236}">
                <a16:creationId xmlns:a16="http://schemas.microsoft.com/office/drawing/2014/main" id="{88DBD828-FE4F-BAC4-EC5B-DD9052EB71D0}"/>
              </a:ext>
            </a:extLst>
          </p:cNvPr>
          <p:cNvSpPr/>
          <p:nvPr/>
        </p:nvSpPr>
        <p:spPr bwMode="auto">
          <a:xfrm>
            <a:off x="5105989" y="495901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1" name="角丸四角形 27">
            <a:extLst>
              <a:ext uri="{FF2B5EF4-FFF2-40B4-BE49-F238E27FC236}">
                <a16:creationId xmlns:a16="http://schemas.microsoft.com/office/drawing/2014/main" id="{CE0559D8-C157-AABB-60DC-2D3C9605B5C5}"/>
              </a:ext>
            </a:extLst>
          </p:cNvPr>
          <p:cNvSpPr/>
          <p:nvPr/>
        </p:nvSpPr>
        <p:spPr bwMode="auto">
          <a:xfrm>
            <a:off x="3755975" y="495901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2" name="角丸四角形 28">
            <a:extLst>
              <a:ext uri="{FF2B5EF4-FFF2-40B4-BE49-F238E27FC236}">
                <a16:creationId xmlns:a16="http://schemas.microsoft.com/office/drawing/2014/main" id="{803EE3CF-8587-1363-2381-C2D4DCEE8BC5}"/>
              </a:ext>
            </a:extLst>
          </p:cNvPr>
          <p:cNvSpPr/>
          <p:nvPr/>
        </p:nvSpPr>
        <p:spPr bwMode="auto">
          <a:xfrm>
            <a:off x="2315958" y="4959017"/>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23" name="平行四辺形 22">
            <a:extLst>
              <a:ext uri="{FF2B5EF4-FFF2-40B4-BE49-F238E27FC236}">
                <a16:creationId xmlns:a16="http://schemas.microsoft.com/office/drawing/2014/main" id="{BB267817-FADA-80F2-3A09-FAC2115B29CA}"/>
              </a:ext>
            </a:extLst>
          </p:cNvPr>
          <p:cNvSpPr/>
          <p:nvPr/>
        </p:nvSpPr>
        <p:spPr bwMode="auto">
          <a:xfrm>
            <a:off x="6005999" y="5139019"/>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5" name="平行四辺形 24">
            <a:extLst>
              <a:ext uri="{FF2B5EF4-FFF2-40B4-BE49-F238E27FC236}">
                <a16:creationId xmlns:a16="http://schemas.microsoft.com/office/drawing/2014/main" id="{80EAD8D7-7ECD-02E0-E1E2-7AE85795723F}"/>
              </a:ext>
            </a:extLst>
          </p:cNvPr>
          <p:cNvSpPr/>
          <p:nvPr/>
        </p:nvSpPr>
        <p:spPr bwMode="auto">
          <a:xfrm>
            <a:off x="7446015" y="5139019"/>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29" name="角丸四角形 23">
            <a:extLst>
              <a:ext uri="{FF2B5EF4-FFF2-40B4-BE49-F238E27FC236}">
                <a16:creationId xmlns:a16="http://schemas.microsoft.com/office/drawing/2014/main" id="{8BB2D0DF-48CA-D922-EE17-9CF40C08B8EA}"/>
              </a:ext>
            </a:extLst>
          </p:cNvPr>
          <p:cNvSpPr/>
          <p:nvPr/>
        </p:nvSpPr>
        <p:spPr bwMode="auto">
          <a:xfrm>
            <a:off x="6546005" y="4959017"/>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30" name="角丸四角形 89">
            <a:extLst>
              <a:ext uri="{FF2B5EF4-FFF2-40B4-BE49-F238E27FC236}">
                <a16:creationId xmlns:a16="http://schemas.microsoft.com/office/drawing/2014/main" id="{1E5C4690-C307-585A-7CD4-2BF0E74BD3CC}"/>
              </a:ext>
            </a:extLst>
          </p:cNvPr>
          <p:cNvSpPr/>
          <p:nvPr/>
        </p:nvSpPr>
        <p:spPr bwMode="auto">
          <a:xfrm>
            <a:off x="8076023" y="4959017"/>
            <a:ext cx="450005" cy="360004"/>
          </a:xfrm>
          <a:prstGeom prst="roundRect">
            <a:avLst/>
          </a:prstGeom>
          <a:ln>
            <a:headEnd/>
            <a:tailEnd type="triangle" w="sm" len="med"/>
          </a:ln>
        </p:spPr>
        <p:style>
          <a:lnRef idx="3">
            <a:schemeClr val="lt1"/>
          </a:lnRef>
          <a:fillRef idx="1">
            <a:schemeClr val="accent5"/>
          </a:fillRef>
          <a:effectRef idx="1">
            <a:schemeClr val="accent5"/>
          </a:effectRef>
          <a:fontRef idx="minor">
            <a:schemeClr val="lt1"/>
          </a:fontRef>
        </p:style>
        <p:txBody>
          <a:bodyPr wrap="none" rtlCol="0" anchor="ctr"/>
          <a:lstStyle/>
          <a:p>
            <a:pPr algn="ctr"/>
            <a:r>
              <a:rPr lang="en-US" altLang="ja-JP" sz="1200" dirty="0">
                <a:latin typeface="Arial Narrow" panose="020B0606020202030204" pitchFamily="34" charset="0"/>
              </a:rPr>
              <a:t>if a &gt; 0</a:t>
            </a:r>
            <a:endParaRPr lang="ja-JP" altLang="en-US" sz="1200" dirty="0">
              <a:latin typeface="Arial Narrow" panose="020B0606020202030204" pitchFamily="34" charset="0"/>
            </a:endParaRPr>
          </a:p>
        </p:txBody>
      </p:sp>
      <p:cxnSp>
        <p:nvCxnSpPr>
          <p:cNvPr id="33" name="直線矢印コネクタ 32">
            <a:extLst>
              <a:ext uri="{FF2B5EF4-FFF2-40B4-BE49-F238E27FC236}">
                <a16:creationId xmlns:a16="http://schemas.microsoft.com/office/drawing/2014/main" id="{CDE36840-5FBA-89EF-3E14-1816A96A73D7}"/>
              </a:ext>
            </a:extLst>
          </p:cNvPr>
          <p:cNvCxnSpPr>
            <a:cxnSpLocks/>
          </p:cNvCxnSpPr>
          <p:nvPr/>
        </p:nvCxnSpPr>
        <p:spPr bwMode="auto">
          <a:xfrm>
            <a:off x="1685952" y="6759037"/>
            <a:ext cx="7290081"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46" name="正方形/長方形 45">
            <a:extLst>
              <a:ext uri="{FF2B5EF4-FFF2-40B4-BE49-F238E27FC236}">
                <a16:creationId xmlns:a16="http://schemas.microsoft.com/office/drawing/2014/main" id="{67D7EE48-735C-4B9D-BDD0-7FFBC4EE0575}"/>
              </a:ext>
            </a:extLst>
          </p:cNvPr>
          <p:cNvSpPr/>
          <p:nvPr/>
        </p:nvSpPr>
        <p:spPr>
          <a:xfrm>
            <a:off x="4295981" y="6399034"/>
            <a:ext cx="540005" cy="270003"/>
          </a:xfrm>
          <a:prstGeom prst="rect">
            <a:avLst/>
          </a:prstGeom>
        </p:spPr>
        <p:txBody>
          <a:bodyPr wrap="none">
            <a:noAutofit/>
          </a:bodyPr>
          <a:lstStyle/>
          <a:p>
            <a:pPr algn="ctr"/>
            <a:r>
              <a:rPr lang="ja-JP" altLang="en-US" dirty="0">
                <a:solidFill>
                  <a:schemeClr val="tx1">
                    <a:lumMod val="65000"/>
                    <a:lumOff val="35000"/>
                  </a:schemeClr>
                </a:solidFill>
              </a:rPr>
              <a:t>取り消される命令</a:t>
            </a:r>
            <a:r>
              <a:rPr lang="en-US" altLang="ja-JP" dirty="0">
                <a:solidFill>
                  <a:schemeClr val="tx1">
                    <a:lumMod val="65000"/>
                    <a:lumOff val="35000"/>
                  </a:schemeClr>
                </a:solidFill>
              </a:rPr>
              <a:t>=9</a:t>
            </a:r>
            <a:r>
              <a:rPr lang="ja-JP" altLang="en-US" dirty="0">
                <a:solidFill>
                  <a:schemeClr val="tx1">
                    <a:lumMod val="65000"/>
                    <a:lumOff val="35000"/>
                  </a:schemeClr>
                </a:solidFill>
              </a:rPr>
              <a:t>命令</a:t>
            </a:r>
          </a:p>
        </p:txBody>
      </p:sp>
      <p:sp>
        <p:nvSpPr>
          <p:cNvPr id="55" name="平行四辺形 54">
            <a:extLst>
              <a:ext uri="{FF2B5EF4-FFF2-40B4-BE49-F238E27FC236}">
                <a16:creationId xmlns:a16="http://schemas.microsoft.com/office/drawing/2014/main" id="{CCA24E10-3D9D-9D5B-6BE4-1F6574783BAC}"/>
              </a:ext>
            </a:extLst>
          </p:cNvPr>
          <p:cNvSpPr/>
          <p:nvPr/>
        </p:nvSpPr>
        <p:spPr bwMode="auto">
          <a:xfrm>
            <a:off x="1685951" y="5859027"/>
            <a:ext cx="1562400" cy="504056"/>
          </a:xfrm>
          <a:prstGeom prst="parallelogram">
            <a:avLst/>
          </a:prstGeom>
          <a:ln>
            <a:headEnd/>
            <a:tailEnd type="triangle" w="sm" len="med"/>
          </a:ln>
        </p:spPr>
        <p:style>
          <a:lnRef idx="1">
            <a:schemeClr val="accent1"/>
          </a:lnRef>
          <a:fillRef idx="2">
            <a:schemeClr val="accent1"/>
          </a:fillRef>
          <a:effectRef idx="1">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6" name="平行四辺形 55">
            <a:extLst>
              <a:ext uri="{FF2B5EF4-FFF2-40B4-BE49-F238E27FC236}">
                <a16:creationId xmlns:a16="http://schemas.microsoft.com/office/drawing/2014/main" id="{AEE24F25-362E-E60F-AE24-0FE06A6EE7F7}"/>
              </a:ext>
            </a:extLst>
          </p:cNvPr>
          <p:cNvSpPr/>
          <p:nvPr/>
        </p:nvSpPr>
        <p:spPr bwMode="auto">
          <a:xfrm>
            <a:off x="3126111" y="5859027"/>
            <a:ext cx="1562400" cy="504056"/>
          </a:xfrm>
          <a:prstGeom prst="parallelogram">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59" name="平行四辺形 58">
            <a:extLst>
              <a:ext uri="{FF2B5EF4-FFF2-40B4-BE49-F238E27FC236}">
                <a16:creationId xmlns:a16="http://schemas.microsoft.com/office/drawing/2014/main" id="{1D0EDE8A-B228-5F78-01C2-850038D2E25C}"/>
              </a:ext>
            </a:extLst>
          </p:cNvPr>
          <p:cNvSpPr/>
          <p:nvPr/>
        </p:nvSpPr>
        <p:spPr bwMode="auto">
          <a:xfrm>
            <a:off x="4566271" y="5859027"/>
            <a:ext cx="1562400"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2"/>
          </a:lnRef>
          <a:fillRef idx="2">
            <a:schemeClr val="accent2"/>
          </a:fillRef>
          <a:effectRef idx="1">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0" name="角丸四角形 23">
            <a:extLst>
              <a:ext uri="{FF2B5EF4-FFF2-40B4-BE49-F238E27FC236}">
                <a16:creationId xmlns:a16="http://schemas.microsoft.com/office/drawing/2014/main" id="{C34DB6F5-7E43-0507-9D22-2F4256B21F82}"/>
              </a:ext>
            </a:extLst>
          </p:cNvPr>
          <p:cNvSpPr/>
          <p:nvPr/>
        </p:nvSpPr>
        <p:spPr bwMode="auto">
          <a:xfrm>
            <a:off x="5105989"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1" name="角丸四角形 27">
            <a:extLst>
              <a:ext uri="{FF2B5EF4-FFF2-40B4-BE49-F238E27FC236}">
                <a16:creationId xmlns:a16="http://schemas.microsoft.com/office/drawing/2014/main" id="{7A04B190-01F4-697A-9DD9-C9616C393F44}"/>
              </a:ext>
            </a:extLst>
          </p:cNvPr>
          <p:cNvSpPr/>
          <p:nvPr/>
        </p:nvSpPr>
        <p:spPr bwMode="auto">
          <a:xfrm>
            <a:off x="3755975" y="5679025"/>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2" name="角丸四角形 28">
            <a:extLst>
              <a:ext uri="{FF2B5EF4-FFF2-40B4-BE49-F238E27FC236}">
                <a16:creationId xmlns:a16="http://schemas.microsoft.com/office/drawing/2014/main" id="{FB467C29-6A9E-DBBA-4E8A-9D326F948261}"/>
              </a:ext>
            </a:extLst>
          </p:cNvPr>
          <p:cNvSpPr/>
          <p:nvPr/>
        </p:nvSpPr>
        <p:spPr bwMode="auto">
          <a:xfrm>
            <a:off x="2315958" y="5679025"/>
            <a:ext cx="450005"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3" name="平行四辺形 62">
            <a:extLst>
              <a:ext uri="{FF2B5EF4-FFF2-40B4-BE49-F238E27FC236}">
                <a16:creationId xmlns:a16="http://schemas.microsoft.com/office/drawing/2014/main" id="{240E1835-5282-AD36-1341-6EFEDD1D5C39}"/>
              </a:ext>
            </a:extLst>
          </p:cNvPr>
          <p:cNvSpPr/>
          <p:nvPr/>
        </p:nvSpPr>
        <p:spPr bwMode="auto">
          <a:xfrm>
            <a:off x="6005999" y="5859027"/>
            <a:ext cx="1562400" cy="504056"/>
          </a:xfrm>
          <a:prstGeom prst="parallelogram">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4" name="平行四辺形 63">
            <a:extLst>
              <a:ext uri="{FF2B5EF4-FFF2-40B4-BE49-F238E27FC236}">
                <a16:creationId xmlns:a16="http://schemas.microsoft.com/office/drawing/2014/main" id="{486F3C37-9BDC-BF1F-F807-F6C819901828}"/>
              </a:ext>
            </a:extLst>
          </p:cNvPr>
          <p:cNvSpPr/>
          <p:nvPr/>
        </p:nvSpPr>
        <p:spPr bwMode="auto">
          <a:xfrm>
            <a:off x="7446015" y="5859027"/>
            <a:ext cx="1584176" cy="504056"/>
          </a:xfrm>
          <a:prstGeom prst="parallelogram">
            <a:avLst/>
          </a:prstGeom>
          <a:ln>
            <a:headEnd/>
            <a:tailEnd type="triangle" w="sm" len="med"/>
          </a:ln>
          <a:effectLst>
            <a:outerShdw blurRad="40000" dist="20000" dir="2700000" rotWithShape="0">
              <a:srgbClr val="000000">
                <a:alpha val="38000"/>
              </a:srgbClr>
            </a:outerShdw>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ja-JP" altLang="en-US" dirty="0"/>
          </a:p>
        </p:txBody>
      </p:sp>
      <p:sp>
        <p:nvSpPr>
          <p:cNvPr id="65" name="角丸四角形 23">
            <a:extLst>
              <a:ext uri="{FF2B5EF4-FFF2-40B4-BE49-F238E27FC236}">
                <a16:creationId xmlns:a16="http://schemas.microsoft.com/office/drawing/2014/main" id="{7F92E031-FED9-3905-4587-67AA2E6E347F}"/>
              </a:ext>
            </a:extLst>
          </p:cNvPr>
          <p:cNvSpPr/>
          <p:nvPr/>
        </p:nvSpPr>
        <p:spPr bwMode="auto">
          <a:xfrm>
            <a:off x="6546005"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7" name="角丸四角形 23">
            <a:extLst>
              <a:ext uri="{FF2B5EF4-FFF2-40B4-BE49-F238E27FC236}">
                <a16:creationId xmlns:a16="http://schemas.microsoft.com/office/drawing/2014/main" id="{9999920A-7919-2C2E-6809-4AD2E6C1AE3C}"/>
              </a:ext>
            </a:extLst>
          </p:cNvPr>
          <p:cNvSpPr/>
          <p:nvPr/>
        </p:nvSpPr>
        <p:spPr bwMode="auto">
          <a:xfrm>
            <a:off x="8076022" y="5679025"/>
            <a:ext cx="450006" cy="360004"/>
          </a:xfrm>
          <a:prstGeom prst="roundRect">
            <a:avLst/>
          </a:prstGeom>
          <a:solidFill>
            <a:schemeClr val="bg1">
              <a:lumMod val="50000"/>
            </a:schemeClr>
          </a:solidFill>
          <a:ln>
            <a:headEnd/>
            <a:tailEnd type="triangle" w="sm" len="med"/>
          </a:ln>
        </p:spPr>
        <p:style>
          <a:lnRef idx="3">
            <a:schemeClr val="lt1"/>
          </a:lnRef>
          <a:fillRef idx="1">
            <a:schemeClr val="dk1"/>
          </a:fillRef>
          <a:effectRef idx="1">
            <a:schemeClr val="dk1"/>
          </a:effectRef>
          <a:fontRef idx="minor">
            <a:schemeClr val="lt1"/>
          </a:fontRef>
        </p:style>
        <p:txBody>
          <a:bodyPr wrap="none" rtlCol="0" anchor="ctr"/>
          <a:lstStyle/>
          <a:p>
            <a:pPr algn="ctr"/>
            <a:r>
              <a:rPr lang="en-US" altLang="ja-JP" dirty="0">
                <a:latin typeface="Arial Narrow" panose="020B0606020202030204" pitchFamily="34" charset="0"/>
              </a:rPr>
              <a:t>...</a:t>
            </a:r>
            <a:endParaRPr lang="ja-JP" altLang="en-US" dirty="0">
              <a:latin typeface="Arial Narrow" panose="020B0606020202030204" pitchFamily="34" charset="0"/>
            </a:endParaRPr>
          </a:p>
        </p:txBody>
      </p:sp>
      <p:sp>
        <p:nvSpPr>
          <p:cNvPr id="68" name="正方形/長方形 67">
            <a:extLst>
              <a:ext uri="{FF2B5EF4-FFF2-40B4-BE49-F238E27FC236}">
                <a16:creationId xmlns:a16="http://schemas.microsoft.com/office/drawing/2014/main" id="{CBC46140-7E30-933F-C47E-F186B4F1E37C}"/>
              </a:ext>
            </a:extLst>
          </p:cNvPr>
          <p:cNvSpPr/>
          <p:nvPr/>
        </p:nvSpPr>
        <p:spPr>
          <a:xfrm>
            <a:off x="2154007" y="4149008"/>
            <a:ext cx="900010" cy="738664"/>
          </a:xfrm>
          <a:prstGeom prst="rect">
            <a:avLst/>
          </a:prstGeom>
        </p:spPr>
        <p:txBody>
          <a:bodyPr wrap="square">
            <a:spAutoFit/>
          </a:bodyPr>
          <a:lstStyle/>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 (,,</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Д</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ﾟ</a:t>
            </a:r>
            <a:r>
              <a:rPr lang="en-US" altLang="ja-JP"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p>
          <a:p>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05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予測器</a:t>
            </a:r>
            <a:r>
              <a:rPr lang="ja-JP" altLang="en-US" sz="1400" b="1" dirty="0">
                <a:solidFill>
                  <a:schemeClr val="accent1"/>
                </a:solidFill>
                <a:effectLst>
                  <a:outerShdw blurRad="38100" dist="38100" dir="2700000" algn="tl">
                    <a:srgbClr val="000000">
                      <a:alpha val="43137"/>
                    </a:srgbClr>
                  </a:outerShdw>
                </a:effectLst>
                <a:latin typeface="ＭＳ Ｐゴシック" pitchFamily="50" charset="-128"/>
                <a:ea typeface="ＭＳ Ｐゴシック" pitchFamily="50" charset="-128"/>
              </a:rPr>
              <a:t>つ</a:t>
            </a:r>
          </a:p>
        </p:txBody>
      </p:sp>
      <p:sp>
        <p:nvSpPr>
          <p:cNvPr id="69" name="正方形/長方形 68">
            <a:extLst>
              <a:ext uri="{FF2B5EF4-FFF2-40B4-BE49-F238E27FC236}">
                <a16:creationId xmlns:a16="http://schemas.microsoft.com/office/drawing/2014/main" id="{1BBAEB45-EE1D-97A5-22F2-A176108B09A1}"/>
              </a:ext>
            </a:extLst>
          </p:cNvPr>
          <p:cNvSpPr/>
          <p:nvPr/>
        </p:nvSpPr>
        <p:spPr>
          <a:xfrm>
            <a:off x="7914072" y="4149008"/>
            <a:ext cx="937991" cy="738664"/>
          </a:xfrm>
          <a:prstGeom prst="rect">
            <a:avLst/>
          </a:prstGeom>
        </p:spPr>
        <p:txBody>
          <a:bodyPr wrap="square">
            <a:spAutoFit/>
          </a:bodyPr>
          <a:lstStyle/>
          <a:p>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 ∧＿∧</a:t>
            </a:r>
          </a:p>
          <a:p>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ω</a:t>
            </a:r>
            <a:r>
              <a:rPr lang="ja-JP" altLang="el-GR"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en-US" altLang="ja-JP" sz="1400" dirty="0"/>
              <a:t>`  </a:t>
            </a:r>
            <a:r>
              <a:rPr lang="el-GR" altLang="ja-JP"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a:t>
            </a:r>
            <a:r>
              <a:rPr lang="ja-JP" altLang="en-US" sz="1400" b="1" dirty="0">
                <a:solidFill>
                  <a:schemeClr val="accent4"/>
                </a:solidFill>
                <a:effectLst>
                  <a:outerShdw blurRad="38100" dist="38100" dir="2700000" algn="tl">
                    <a:srgbClr val="000000">
                      <a:alpha val="43137"/>
                    </a:srgbClr>
                  </a:outerShdw>
                </a:effectLst>
                <a:latin typeface="ＭＳ Ｐゴシック" pitchFamily="50" charset="-128"/>
                <a:ea typeface="ＭＳ Ｐゴシック" pitchFamily="50" charset="-128"/>
              </a:rPr>
              <a:t>（つ    つ</a:t>
            </a:r>
          </a:p>
        </p:txBody>
      </p:sp>
      <p:sp>
        <p:nvSpPr>
          <p:cNvPr id="70" name="角丸四角形吹き出し 26">
            <a:extLst>
              <a:ext uri="{FF2B5EF4-FFF2-40B4-BE49-F238E27FC236}">
                <a16:creationId xmlns:a16="http://schemas.microsoft.com/office/drawing/2014/main" id="{0501CEEE-AA60-A198-3A7F-1E1E609BFAD2}"/>
              </a:ext>
            </a:extLst>
          </p:cNvPr>
          <p:cNvSpPr/>
          <p:nvPr/>
        </p:nvSpPr>
        <p:spPr bwMode="auto">
          <a:xfrm>
            <a:off x="8526027" y="3609002"/>
            <a:ext cx="1980022" cy="612648"/>
          </a:xfrm>
          <a:prstGeom prst="wedgeRoundRectCallout">
            <a:avLst>
              <a:gd name="adj1" fmla="val -42160"/>
              <a:gd name="adj2" fmla="val 92539"/>
              <a:gd name="adj3" fmla="val 16667"/>
            </a:avLst>
          </a:prstGeom>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ja-JP" altLang="en-US" dirty="0">
                <a:solidFill>
                  <a:schemeClr val="tx1">
                    <a:lumMod val="65000"/>
                    <a:lumOff val="35000"/>
                  </a:schemeClr>
                </a:solidFill>
                <a:latin typeface="Arial Narrow" panose="020B0606020202030204" pitchFamily="34" charset="0"/>
              </a:rPr>
              <a:t>また違うやん</a:t>
            </a:r>
          </a:p>
        </p:txBody>
      </p:sp>
      <p:sp>
        <p:nvSpPr>
          <p:cNvPr id="71" name="角丸四角形吹き出し 3">
            <a:extLst>
              <a:ext uri="{FF2B5EF4-FFF2-40B4-BE49-F238E27FC236}">
                <a16:creationId xmlns:a16="http://schemas.microsoft.com/office/drawing/2014/main" id="{943CF68C-F389-04D1-CD89-35ECE42485DA}"/>
              </a:ext>
            </a:extLst>
          </p:cNvPr>
          <p:cNvSpPr/>
          <p:nvPr/>
        </p:nvSpPr>
        <p:spPr bwMode="auto">
          <a:xfrm>
            <a:off x="2694013" y="3609002"/>
            <a:ext cx="2520028" cy="612648"/>
          </a:xfrm>
          <a:prstGeom prst="wedgeRoundRectCallout">
            <a:avLst>
              <a:gd name="adj1" fmla="val -44943"/>
              <a:gd name="adj2" fmla="val 95784"/>
              <a:gd name="adj3" fmla="val 16667"/>
            </a:avLst>
          </a:prstGeom>
          <a:ln>
            <a:headEnd/>
            <a:tailEnd type="triangle" w="sm"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ja-JP" altLang="en-US" dirty="0">
                <a:solidFill>
                  <a:schemeClr val="tx1">
                    <a:lumMod val="65000"/>
                    <a:lumOff val="35000"/>
                  </a:schemeClr>
                </a:solidFill>
                <a:latin typeface="Arial Narrow" panose="020B0606020202030204" pitchFamily="34" charset="0"/>
              </a:rPr>
              <a:t>大量廃棄やな・・・</a:t>
            </a:r>
            <a:endParaRPr lang="en-US" altLang="ja-JP" dirty="0">
              <a:solidFill>
                <a:schemeClr val="tx1">
                  <a:lumMod val="65000"/>
                  <a:lumOff val="35000"/>
                </a:schemeClr>
              </a:solidFill>
              <a:latin typeface="Arial Narrow" panose="020B0606020202030204" pitchFamily="34" charset="0"/>
            </a:endParaRPr>
          </a:p>
        </p:txBody>
      </p:sp>
    </p:spTree>
    <p:extLst>
      <p:ext uri="{BB962C8B-B14F-4D97-AF65-F5344CB8AC3E}">
        <p14:creationId xmlns:p14="http://schemas.microsoft.com/office/powerpoint/2010/main" val="2111540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96F7B0-F715-D446-4499-2A047000F91C}"/>
              </a:ext>
            </a:extLst>
          </p:cNvPr>
          <p:cNvSpPr>
            <a:spLocks noGrp="1"/>
          </p:cNvSpPr>
          <p:nvPr>
            <p:ph type="title"/>
          </p:nvPr>
        </p:nvSpPr>
        <p:spPr/>
        <p:txBody>
          <a:bodyPr/>
          <a:lstStyle/>
          <a:p>
            <a:r>
              <a:rPr kumimoji="1" lang="ja-JP" altLang="en-US" dirty="0"/>
              <a:t>分岐予測ミスによる </a:t>
            </a:r>
            <a:r>
              <a:rPr kumimoji="1" lang="en-US" altLang="ja-JP" dirty="0"/>
              <a:t>IPC </a:t>
            </a:r>
            <a:r>
              <a:rPr kumimoji="1" lang="ja-JP" altLang="en-US" dirty="0"/>
              <a:t>の低下のまとめ</a:t>
            </a:r>
            <a:endParaRPr kumimoji="1" lang="en-US" dirty="0"/>
          </a:p>
        </p:txBody>
      </p:sp>
      <p:sp>
        <p:nvSpPr>
          <p:cNvPr id="3" name="コンテンツ プレースホルダー 2">
            <a:extLst>
              <a:ext uri="{FF2B5EF4-FFF2-40B4-BE49-F238E27FC236}">
                <a16:creationId xmlns:a16="http://schemas.microsoft.com/office/drawing/2014/main" id="{9B6799CC-1362-13DD-7555-D43C129FD0A0}"/>
              </a:ext>
            </a:extLst>
          </p:cNvPr>
          <p:cNvSpPr>
            <a:spLocks noGrp="1"/>
          </p:cNvSpPr>
          <p:nvPr>
            <p:ph type="body" sz="quarter" idx="10"/>
          </p:nvPr>
        </p:nvSpPr>
        <p:spPr/>
        <p:txBody>
          <a:bodyPr/>
          <a:lstStyle/>
          <a:p>
            <a:r>
              <a:rPr kumimoji="1" lang="ja-JP" altLang="en-US" dirty="0"/>
              <a:t>以下のような場合に，より予測ミスの影響が大きくなる</a:t>
            </a:r>
            <a:endParaRPr kumimoji="1" lang="en-US" altLang="ja-JP" dirty="0"/>
          </a:p>
          <a:p>
            <a:pPr lvl="1"/>
            <a:r>
              <a:rPr kumimoji="1" lang="ja-JP" altLang="en-US" dirty="0"/>
              <a:t>パイプラインを深くする（周波数を向上させる）場合</a:t>
            </a:r>
            <a:endParaRPr kumimoji="1" lang="en-US" altLang="ja-JP" dirty="0"/>
          </a:p>
          <a:p>
            <a:pPr lvl="1"/>
            <a:r>
              <a:rPr kumimoji="1" lang="ja-JP" altLang="en-US" dirty="0"/>
              <a:t>スーパスカラにしてパイプライン本数を増やす場合</a:t>
            </a:r>
            <a:endParaRPr kumimoji="1" lang="en-US" altLang="ja-JP" dirty="0"/>
          </a:p>
          <a:p>
            <a:r>
              <a:rPr kumimoji="1" lang="ja-JP" altLang="en-US" dirty="0"/>
              <a:t>裏を返すと･･･</a:t>
            </a:r>
            <a:endParaRPr kumimoji="1" lang="en-US" altLang="ja-JP" dirty="0"/>
          </a:p>
          <a:p>
            <a:pPr lvl="1"/>
            <a:r>
              <a:rPr kumimoji="1" lang="ja-JP" altLang="en-US" dirty="0"/>
              <a:t>パイプラインを深くしたり本数を増やす回路を追加する代わりに，予測器を強化した方が性能が上がることも</a:t>
            </a:r>
            <a:endParaRPr kumimoji="1" lang="en-US" altLang="ja-JP" dirty="0"/>
          </a:p>
          <a:p>
            <a:pPr lvl="1"/>
            <a:r>
              <a:rPr kumimoji="1" lang="ja-JP" altLang="en-US" dirty="0"/>
              <a:t>バランスが大事</a:t>
            </a:r>
            <a:endParaRPr kumimoji="1" lang="en-US" altLang="ja-JP" dirty="0"/>
          </a:p>
          <a:p>
            <a:pPr lvl="2"/>
            <a:r>
              <a:rPr kumimoji="1" lang="ja-JP" altLang="en-US" dirty="0"/>
              <a:t>へちょい分岐予測器のまま他を強化しても無駄と言う事も</a:t>
            </a:r>
            <a:endParaRPr kumimoji="1" lang="en-US" dirty="0"/>
          </a:p>
        </p:txBody>
      </p:sp>
    </p:spTree>
    <p:extLst>
      <p:ext uri="{BB962C8B-B14F-4D97-AF65-F5344CB8AC3E}">
        <p14:creationId xmlns:p14="http://schemas.microsoft.com/office/powerpoint/2010/main" val="22510916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E85A47-E768-F537-DFF8-AB9DB3DCC0DF}"/>
              </a:ext>
            </a:extLst>
          </p:cNvPr>
          <p:cNvSpPr>
            <a:spLocks noGrp="1"/>
          </p:cNvSpPr>
          <p:nvPr>
            <p:ph type="title"/>
          </p:nvPr>
        </p:nvSpPr>
        <p:spPr/>
        <p:txBody>
          <a:bodyPr/>
          <a:lstStyle/>
          <a:p>
            <a:r>
              <a:rPr kumimoji="1" lang="ja-JP" altLang="en-US" dirty="0"/>
              <a:t>パイプラインの長さと性能</a:t>
            </a:r>
            <a:endParaRPr kumimoji="1" lang="en-US" dirty="0"/>
          </a:p>
        </p:txBody>
      </p:sp>
      <p:sp>
        <p:nvSpPr>
          <p:cNvPr id="3" name="コンテンツ プレースホルダー 2">
            <a:extLst>
              <a:ext uri="{FF2B5EF4-FFF2-40B4-BE49-F238E27FC236}">
                <a16:creationId xmlns:a16="http://schemas.microsoft.com/office/drawing/2014/main" id="{CF8017B8-3060-F213-73D8-3FCE70AA2CC8}"/>
              </a:ext>
            </a:extLst>
          </p:cNvPr>
          <p:cNvSpPr>
            <a:spLocks noGrp="1"/>
          </p:cNvSpPr>
          <p:nvPr>
            <p:ph type="body" sz="quarter" idx="10"/>
          </p:nvPr>
        </p:nvSpPr>
        <p:spPr>
          <a:xfrm>
            <a:off x="1996809" y="5630220"/>
            <a:ext cx="7920088" cy="810009"/>
          </a:xfrm>
        </p:spPr>
        <p:txBody>
          <a:bodyPr/>
          <a:lstStyle/>
          <a:p>
            <a:pPr lvl="1"/>
            <a:r>
              <a:rPr lang="ja-JP" altLang="en-US" sz="1800" dirty="0"/>
              <a:t>パイプライン段数は，理想的なパイプラインではほとんど性能に影響しない</a:t>
            </a:r>
            <a:endParaRPr lang="en-US" altLang="ja-JP" sz="1800" dirty="0"/>
          </a:p>
          <a:p>
            <a:pPr lvl="2"/>
            <a:r>
              <a:rPr lang="ja-JP" altLang="en-US" sz="1800" dirty="0"/>
              <a:t>最初の１命令分しか実行時間に影響しないから</a:t>
            </a:r>
            <a:endParaRPr lang="en-US" altLang="ja-JP" sz="1800" dirty="0"/>
          </a:p>
          <a:p>
            <a:pPr lvl="1"/>
            <a:r>
              <a:rPr lang="ja-JP" altLang="en-US" sz="1800" dirty="0">
                <a:solidFill>
                  <a:schemeClr val="accent5"/>
                </a:solidFill>
              </a:rPr>
              <a:t>分岐予測ミスは，起きる度にパイプラインの長さが表面化する</a:t>
            </a:r>
            <a:endParaRPr lang="en-US" sz="1800" dirty="0">
              <a:solidFill>
                <a:schemeClr val="accent5"/>
              </a:solidFill>
            </a:endParaRPr>
          </a:p>
        </p:txBody>
      </p:sp>
      <p:sp>
        <p:nvSpPr>
          <p:cNvPr id="4" name="平行四辺形 3">
            <a:extLst>
              <a:ext uri="{FF2B5EF4-FFF2-40B4-BE49-F238E27FC236}">
                <a16:creationId xmlns:a16="http://schemas.microsoft.com/office/drawing/2014/main" id="{2176A96A-0700-BA9A-A573-9435F33CDBE3}"/>
              </a:ext>
            </a:extLst>
          </p:cNvPr>
          <p:cNvSpPr/>
          <p:nvPr/>
        </p:nvSpPr>
        <p:spPr bwMode="auto">
          <a:xfrm flipH="1">
            <a:off x="2495960" y="1448979"/>
            <a:ext cx="3600040" cy="3600040"/>
          </a:xfrm>
          <a:prstGeom prst="parallelogram">
            <a:avLst>
              <a:gd name="adj" fmla="val 98821"/>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cxnSp>
        <p:nvCxnSpPr>
          <p:cNvPr id="5" name="直線矢印コネクタ 4">
            <a:extLst>
              <a:ext uri="{FF2B5EF4-FFF2-40B4-BE49-F238E27FC236}">
                <a16:creationId xmlns:a16="http://schemas.microsoft.com/office/drawing/2014/main" id="{5248DE31-7A3E-66FB-40BC-065864D503FE}"/>
              </a:ext>
            </a:extLst>
          </p:cNvPr>
          <p:cNvCxnSpPr>
            <a:cxnSpLocks/>
          </p:cNvCxnSpPr>
          <p:nvPr/>
        </p:nvCxnSpPr>
        <p:spPr bwMode="auto">
          <a:xfrm>
            <a:off x="2495960" y="1358977"/>
            <a:ext cx="360004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6" name="直線矢印コネクタ 5">
            <a:extLst>
              <a:ext uri="{FF2B5EF4-FFF2-40B4-BE49-F238E27FC236}">
                <a16:creationId xmlns:a16="http://schemas.microsoft.com/office/drawing/2014/main" id="{7EC9B5A4-6877-8802-97AE-FFDE8F1BECFE}"/>
              </a:ext>
            </a:extLst>
          </p:cNvPr>
          <p:cNvCxnSpPr>
            <a:cxnSpLocks/>
          </p:cNvCxnSpPr>
          <p:nvPr/>
        </p:nvCxnSpPr>
        <p:spPr bwMode="auto">
          <a:xfrm>
            <a:off x="2405959" y="1448978"/>
            <a:ext cx="0" cy="360004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7" name="正方形/長方形 6">
            <a:extLst>
              <a:ext uri="{FF2B5EF4-FFF2-40B4-BE49-F238E27FC236}">
                <a16:creationId xmlns:a16="http://schemas.microsoft.com/office/drawing/2014/main" id="{69232D28-9CE5-8D94-D7E1-EAF14A069B69}"/>
              </a:ext>
            </a:extLst>
          </p:cNvPr>
          <p:cNvSpPr/>
          <p:nvPr/>
        </p:nvSpPr>
        <p:spPr>
          <a:xfrm>
            <a:off x="4115979" y="908972"/>
            <a:ext cx="540005" cy="360004"/>
          </a:xfrm>
          <a:prstGeom prst="rect">
            <a:avLst/>
          </a:prstGeom>
        </p:spPr>
        <p:txBody>
          <a:bodyPr wrap="none">
            <a:noAutofit/>
          </a:bodyPr>
          <a:lstStyle/>
          <a:p>
            <a:pPr algn="ctr"/>
            <a:r>
              <a:rPr lang="en-US" altLang="ja-JP" dirty="0">
                <a:solidFill>
                  <a:schemeClr val="tx1">
                    <a:lumMod val="65000"/>
                    <a:lumOff val="35000"/>
                  </a:schemeClr>
                </a:solidFill>
              </a:rPr>
              <a:t>5+999,999 cycle</a:t>
            </a:r>
            <a:endParaRPr lang="ja-JP" altLang="en-US" dirty="0">
              <a:solidFill>
                <a:schemeClr val="tx1">
                  <a:lumMod val="65000"/>
                  <a:lumOff val="35000"/>
                </a:schemeClr>
              </a:solidFill>
            </a:endParaRPr>
          </a:p>
        </p:txBody>
      </p:sp>
      <p:sp>
        <p:nvSpPr>
          <p:cNvPr id="8" name="正方形/長方形 7">
            <a:extLst>
              <a:ext uri="{FF2B5EF4-FFF2-40B4-BE49-F238E27FC236}">
                <a16:creationId xmlns:a16="http://schemas.microsoft.com/office/drawing/2014/main" id="{A29AD0B1-5E13-A055-B4CA-153E35739D4D}"/>
              </a:ext>
            </a:extLst>
          </p:cNvPr>
          <p:cNvSpPr/>
          <p:nvPr/>
        </p:nvSpPr>
        <p:spPr>
          <a:xfrm rot="16200000">
            <a:off x="1955955" y="2888993"/>
            <a:ext cx="540005" cy="360004"/>
          </a:xfrm>
          <a:prstGeom prst="rect">
            <a:avLst/>
          </a:prstGeom>
        </p:spPr>
        <p:txBody>
          <a:bodyPr wrap="none">
            <a:noAutofit/>
          </a:bodyPr>
          <a:lstStyle/>
          <a:p>
            <a:pPr algn="ctr"/>
            <a:r>
              <a:rPr lang="en-US" altLang="ja-JP" dirty="0">
                <a:solidFill>
                  <a:schemeClr val="tx1">
                    <a:lumMod val="65000"/>
                    <a:lumOff val="35000"/>
                  </a:schemeClr>
                </a:solidFill>
              </a:rPr>
              <a:t>1,000,000 </a:t>
            </a:r>
            <a:r>
              <a:rPr lang="ja-JP" altLang="en-US" dirty="0">
                <a:solidFill>
                  <a:schemeClr val="tx1">
                    <a:lumMod val="65000"/>
                    <a:lumOff val="35000"/>
                  </a:schemeClr>
                </a:solidFill>
              </a:rPr>
              <a:t>命令</a:t>
            </a:r>
          </a:p>
        </p:txBody>
      </p:sp>
      <p:sp>
        <p:nvSpPr>
          <p:cNvPr id="9" name="正方形/長方形 8">
            <a:extLst>
              <a:ext uri="{FF2B5EF4-FFF2-40B4-BE49-F238E27FC236}">
                <a16:creationId xmlns:a16="http://schemas.microsoft.com/office/drawing/2014/main" id="{547A4AD4-5CDF-9940-22CF-991E6FE67034}"/>
              </a:ext>
            </a:extLst>
          </p:cNvPr>
          <p:cNvSpPr/>
          <p:nvPr/>
        </p:nvSpPr>
        <p:spPr>
          <a:xfrm>
            <a:off x="6366005" y="1268976"/>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a:t>
            </a:r>
            <a:endParaRPr lang="ja-JP" altLang="en-US" dirty="0">
              <a:solidFill>
                <a:schemeClr val="tx1">
                  <a:lumMod val="65000"/>
                  <a:lumOff val="35000"/>
                </a:schemeClr>
              </a:solidFill>
              <a:latin typeface="Consolas" panose="020B0609020204030204" pitchFamily="49" charset="0"/>
            </a:endParaRPr>
          </a:p>
        </p:txBody>
      </p:sp>
      <p:sp>
        <p:nvSpPr>
          <p:cNvPr id="10" name="正方形/長方形 9">
            <a:extLst>
              <a:ext uri="{FF2B5EF4-FFF2-40B4-BE49-F238E27FC236}">
                <a16:creationId xmlns:a16="http://schemas.microsoft.com/office/drawing/2014/main" id="{A3E1AE2F-AD27-AEBF-36A9-CDB861C2D8E8}"/>
              </a:ext>
            </a:extLst>
          </p:cNvPr>
          <p:cNvSpPr/>
          <p:nvPr/>
        </p:nvSpPr>
        <p:spPr>
          <a:xfrm>
            <a:off x="6366004" y="3509673"/>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11" name="正方形/長方形 10">
            <a:extLst>
              <a:ext uri="{FF2B5EF4-FFF2-40B4-BE49-F238E27FC236}">
                <a16:creationId xmlns:a16="http://schemas.microsoft.com/office/drawing/2014/main" id="{1B81FC55-ADDB-A2F7-4E1A-DCC974FFF7B3}"/>
              </a:ext>
            </a:extLst>
          </p:cNvPr>
          <p:cNvSpPr/>
          <p:nvPr/>
        </p:nvSpPr>
        <p:spPr>
          <a:xfrm>
            <a:off x="6366004" y="3959678"/>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12" name="Rectangle 69">
            <a:extLst>
              <a:ext uri="{FF2B5EF4-FFF2-40B4-BE49-F238E27FC236}">
                <a16:creationId xmlns:a16="http://schemas.microsoft.com/office/drawing/2014/main" id="{8FBCA978-8F00-C45B-7655-6D3A98BBC23A}"/>
              </a:ext>
            </a:extLst>
          </p:cNvPr>
          <p:cNvSpPr>
            <a:spLocks noChangeArrowheads="1"/>
          </p:cNvSpPr>
          <p:nvPr/>
        </p:nvSpPr>
        <p:spPr bwMode="auto">
          <a:xfrm>
            <a:off x="6996011" y="126897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3" name="Rectangle 70">
            <a:extLst>
              <a:ext uri="{FF2B5EF4-FFF2-40B4-BE49-F238E27FC236}">
                <a16:creationId xmlns:a16="http://schemas.microsoft.com/office/drawing/2014/main" id="{ACEE5B5A-02DC-9C80-E666-B091536D55CE}"/>
              </a:ext>
            </a:extLst>
          </p:cNvPr>
          <p:cNvSpPr>
            <a:spLocks noChangeArrowheads="1"/>
          </p:cNvSpPr>
          <p:nvPr/>
        </p:nvSpPr>
        <p:spPr bwMode="auto">
          <a:xfrm>
            <a:off x="7446015" y="126897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4" name="Rectangle 71">
            <a:extLst>
              <a:ext uri="{FF2B5EF4-FFF2-40B4-BE49-F238E27FC236}">
                <a16:creationId xmlns:a16="http://schemas.microsoft.com/office/drawing/2014/main" id="{D12EEE6F-4F45-80A1-FAE1-63CB2B89DF52}"/>
              </a:ext>
            </a:extLst>
          </p:cNvPr>
          <p:cNvSpPr>
            <a:spLocks noChangeArrowheads="1"/>
          </p:cNvSpPr>
          <p:nvPr/>
        </p:nvSpPr>
        <p:spPr bwMode="auto">
          <a:xfrm>
            <a:off x="7896021" y="126897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5" name="Rectangle 72">
            <a:extLst>
              <a:ext uri="{FF2B5EF4-FFF2-40B4-BE49-F238E27FC236}">
                <a16:creationId xmlns:a16="http://schemas.microsoft.com/office/drawing/2014/main" id="{E0C6032C-1318-6A4C-5863-4148A0F9759E}"/>
              </a:ext>
            </a:extLst>
          </p:cNvPr>
          <p:cNvSpPr>
            <a:spLocks noChangeArrowheads="1"/>
          </p:cNvSpPr>
          <p:nvPr/>
        </p:nvSpPr>
        <p:spPr bwMode="auto">
          <a:xfrm>
            <a:off x="8346026" y="1268976"/>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6" name="Rectangle 73">
            <a:extLst>
              <a:ext uri="{FF2B5EF4-FFF2-40B4-BE49-F238E27FC236}">
                <a16:creationId xmlns:a16="http://schemas.microsoft.com/office/drawing/2014/main" id="{5A9CC4E0-5B4C-034B-16F1-092A5E166AE6}"/>
              </a:ext>
            </a:extLst>
          </p:cNvPr>
          <p:cNvSpPr>
            <a:spLocks noChangeArrowheads="1"/>
          </p:cNvSpPr>
          <p:nvPr/>
        </p:nvSpPr>
        <p:spPr bwMode="auto">
          <a:xfrm>
            <a:off x="8796030" y="1268976"/>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7" name="Rectangle 69">
            <a:extLst>
              <a:ext uri="{FF2B5EF4-FFF2-40B4-BE49-F238E27FC236}">
                <a16:creationId xmlns:a16="http://schemas.microsoft.com/office/drawing/2014/main" id="{6908A02F-2BCA-3745-882D-56099F4E06D8}"/>
              </a:ext>
            </a:extLst>
          </p:cNvPr>
          <p:cNvSpPr>
            <a:spLocks noChangeArrowheads="1"/>
          </p:cNvSpPr>
          <p:nvPr/>
        </p:nvSpPr>
        <p:spPr bwMode="auto">
          <a:xfrm>
            <a:off x="7446018" y="1718981"/>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18" name="Rectangle 70">
            <a:extLst>
              <a:ext uri="{FF2B5EF4-FFF2-40B4-BE49-F238E27FC236}">
                <a16:creationId xmlns:a16="http://schemas.microsoft.com/office/drawing/2014/main" id="{FF174E0B-791A-0D0B-158C-4C7729584E71}"/>
              </a:ext>
            </a:extLst>
          </p:cNvPr>
          <p:cNvSpPr>
            <a:spLocks noChangeArrowheads="1"/>
          </p:cNvSpPr>
          <p:nvPr/>
        </p:nvSpPr>
        <p:spPr bwMode="auto">
          <a:xfrm>
            <a:off x="7896022" y="1718981"/>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19" name="Rectangle 71">
            <a:extLst>
              <a:ext uri="{FF2B5EF4-FFF2-40B4-BE49-F238E27FC236}">
                <a16:creationId xmlns:a16="http://schemas.microsoft.com/office/drawing/2014/main" id="{C7D53603-74E0-CA19-AFD7-F78C97AF391E}"/>
              </a:ext>
            </a:extLst>
          </p:cNvPr>
          <p:cNvSpPr>
            <a:spLocks noChangeArrowheads="1"/>
          </p:cNvSpPr>
          <p:nvPr/>
        </p:nvSpPr>
        <p:spPr bwMode="auto">
          <a:xfrm>
            <a:off x="8346028" y="1718981"/>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X</a:t>
            </a:r>
          </a:p>
        </p:txBody>
      </p:sp>
      <p:sp>
        <p:nvSpPr>
          <p:cNvPr id="20" name="Rectangle 72">
            <a:extLst>
              <a:ext uri="{FF2B5EF4-FFF2-40B4-BE49-F238E27FC236}">
                <a16:creationId xmlns:a16="http://schemas.microsoft.com/office/drawing/2014/main" id="{B86B6AB6-41D9-07D3-1439-C5951CBE61EC}"/>
              </a:ext>
            </a:extLst>
          </p:cNvPr>
          <p:cNvSpPr>
            <a:spLocks noChangeArrowheads="1"/>
          </p:cNvSpPr>
          <p:nvPr/>
        </p:nvSpPr>
        <p:spPr bwMode="auto">
          <a:xfrm>
            <a:off x="8796033" y="1718981"/>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M</a:t>
            </a:r>
          </a:p>
        </p:txBody>
      </p:sp>
      <p:grpSp>
        <p:nvGrpSpPr>
          <p:cNvPr id="21" name="グループ化 20">
            <a:extLst>
              <a:ext uri="{FF2B5EF4-FFF2-40B4-BE49-F238E27FC236}">
                <a16:creationId xmlns:a16="http://schemas.microsoft.com/office/drawing/2014/main" id="{B654DACA-CDC2-898B-8A27-838C6BF75583}"/>
              </a:ext>
            </a:extLst>
          </p:cNvPr>
          <p:cNvGrpSpPr/>
          <p:nvPr/>
        </p:nvGrpSpPr>
        <p:grpSpPr>
          <a:xfrm>
            <a:off x="9246036" y="3519001"/>
            <a:ext cx="2250023" cy="360000"/>
            <a:chOff x="1871971" y="5679025"/>
            <a:chExt cx="2250023" cy="360000"/>
          </a:xfrm>
        </p:grpSpPr>
        <p:sp>
          <p:nvSpPr>
            <p:cNvPr id="22" name="Rectangle 69">
              <a:extLst>
                <a:ext uri="{FF2B5EF4-FFF2-40B4-BE49-F238E27FC236}">
                  <a16:creationId xmlns:a16="http://schemas.microsoft.com/office/drawing/2014/main" id="{9C9B7D97-408E-341A-F5E4-0135ED7B516B}"/>
                </a:ext>
              </a:extLst>
            </p:cNvPr>
            <p:cNvSpPr>
              <a:spLocks noChangeArrowheads="1"/>
            </p:cNvSpPr>
            <p:nvPr/>
          </p:nvSpPr>
          <p:spPr bwMode="auto">
            <a:xfrm>
              <a:off x="1871971"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23" name="Rectangle 70">
              <a:extLst>
                <a:ext uri="{FF2B5EF4-FFF2-40B4-BE49-F238E27FC236}">
                  <a16:creationId xmlns:a16="http://schemas.microsoft.com/office/drawing/2014/main" id="{809B6265-5069-0997-5D2F-8E43F0178563}"/>
                </a:ext>
              </a:extLst>
            </p:cNvPr>
            <p:cNvSpPr>
              <a:spLocks noChangeArrowheads="1"/>
            </p:cNvSpPr>
            <p:nvPr/>
          </p:nvSpPr>
          <p:spPr bwMode="auto">
            <a:xfrm>
              <a:off x="2321974"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24" name="Rectangle 71">
              <a:extLst>
                <a:ext uri="{FF2B5EF4-FFF2-40B4-BE49-F238E27FC236}">
                  <a16:creationId xmlns:a16="http://schemas.microsoft.com/office/drawing/2014/main" id="{6EEB7D79-BB6C-BE8F-EA55-3F8814FE5713}"/>
                </a:ext>
              </a:extLst>
            </p:cNvPr>
            <p:cNvSpPr>
              <a:spLocks noChangeArrowheads="1"/>
            </p:cNvSpPr>
            <p:nvPr/>
          </p:nvSpPr>
          <p:spPr bwMode="auto">
            <a:xfrm>
              <a:off x="2771980"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25" name="Rectangle 72">
              <a:extLst>
                <a:ext uri="{FF2B5EF4-FFF2-40B4-BE49-F238E27FC236}">
                  <a16:creationId xmlns:a16="http://schemas.microsoft.com/office/drawing/2014/main" id="{1D645E78-5826-027D-A49B-1C3A7C9E7444}"/>
                </a:ext>
              </a:extLst>
            </p:cNvPr>
            <p:cNvSpPr>
              <a:spLocks noChangeArrowheads="1"/>
            </p:cNvSpPr>
            <p:nvPr/>
          </p:nvSpPr>
          <p:spPr bwMode="auto">
            <a:xfrm>
              <a:off x="3221985"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26" name="Rectangle 73">
              <a:extLst>
                <a:ext uri="{FF2B5EF4-FFF2-40B4-BE49-F238E27FC236}">
                  <a16:creationId xmlns:a16="http://schemas.microsoft.com/office/drawing/2014/main" id="{B0983B92-0502-D148-2040-421F4A0B72C8}"/>
                </a:ext>
              </a:extLst>
            </p:cNvPr>
            <p:cNvSpPr>
              <a:spLocks noChangeArrowheads="1"/>
            </p:cNvSpPr>
            <p:nvPr/>
          </p:nvSpPr>
          <p:spPr bwMode="auto">
            <a:xfrm>
              <a:off x="3671990"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sp>
        <p:nvSpPr>
          <p:cNvPr id="27" name="Rectangle 69">
            <a:extLst>
              <a:ext uri="{FF2B5EF4-FFF2-40B4-BE49-F238E27FC236}">
                <a16:creationId xmlns:a16="http://schemas.microsoft.com/office/drawing/2014/main" id="{76D52CB4-2B4A-AC4A-446E-A9D30DAEEBF9}"/>
              </a:ext>
            </a:extLst>
          </p:cNvPr>
          <p:cNvSpPr>
            <a:spLocks noChangeArrowheads="1"/>
          </p:cNvSpPr>
          <p:nvPr/>
        </p:nvSpPr>
        <p:spPr bwMode="auto">
          <a:xfrm>
            <a:off x="7896022" y="2168986"/>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28" name="Rectangle 70">
            <a:extLst>
              <a:ext uri="{FF2B5EF4-FFF2-40B4-BE49-F238E27FC236}">
                <a16:creationId xmlns:a16="http://schemas.microsoft.com/office/drawing/2014/main" id="{2000DF45-9EEA-ADF0-FF7C-AEAA214D453B}"/>
              </a:ext>
            </a:extLst>
          </p:cNvPr>
          <p:cNvSpPr>
            <a:spLocks noChangeArrowheads="1"/>
          </p:cNvSpPr>
          <p:nvPr/>
        </p:nvSpPr>
        <p:spPr bwMode="auto">
          <a:xfrm>
            <a:off x="8346026" y="2168986"/>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29" name="Rectangle 71">
            <a:extLst>
              <a:ext uri="{FF2B5EF4-FFF2-40B4-BE49-F238E27FC236}">
                <a16:creationId xmlns:a16="http://schemas.microsoft.com/office/drawing/2014/main" id="{E057CA4F-173B-05AB-3F14-5F111EBD4E5E}"/>
              </a:ext>
            </a:extLst>
          </p:cNvPr>
          <p:cNvSpPr>
            <a:spLocks noChangeArrowheads="1"/>
          </p:cNvSpPr>
          <p:nvPr/>
        </p:nvSpPr>
        <p:spPr bwMode="auto">
          <a:xfrm>
            <a:off x="8796032" y="2168986"/>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X</a:t>
            </a:r>
          </a:p>
        </p:txBody>
      </p:sp>
      <p:sp>
        <p:nvSpPr>
          <p:cNvPr id="30" name="Rectangle 69">
            <a:extLst>
              <a:ext uri="{FF2B5EF4-FFF2-40B4-BE49-F238E27FC236}">
                <a16:creationId xmlns:a16="http://schemas.microsoft.com/office/drawing/2014/main" id="{7DD0316A-2578-3F4F-C067-00FE20B9E263}"/>
              </a:ext>
            </a:extLst>
          </p:cNvPr>
          <p:cNvSpPr>
            <a:spLocks noChangeArrowheads="1"/>
          </p:cNvSpPr>
          <p:nvPr/>
        </p:nvSpPr>
        <p:spPr bwMode="auto">
          <a:xfrm>
            <a:off x="8346027" y="2618991"/>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sp>
        <p:nvSpPr>
          <p:cNvPr id="31" name="Rectangle 70">
            <a:extLst>
              <a:ext uri="{FF2B5EF4-FFF2-40B4-BE49-F238E27FC236}">
                <a16:creationId xmlns:a16="http://schemas.microsoft.com/office/drawing/2014/main" id="{EA5D41CC-5EB5-23CD-B605-5C1F97E0D2EC}"/>
              </a:ext>
            </a:extLst>
          </p:cNvPr>
          <p:cNvSpPr>
            <a:spLocks noChangeArrowheads="1"/>
          </p:cNvSpPr>
          <p:nvPr/>
        </p:nvSpPr>
        <p:spPr bwMode="auto">
          <a:xfrm>
            <a:off x="8796031" y="2618991"/>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D</a:t>
            </a:r>
          </a:p>
        </p:txBody>
      </p:sp>
      <p:sp>
        <p:nvSpPr>
          <p:cNvPr id="32" name="Rectangle 69">
            <a:extLst>
              <a:ext uri="{FF2B5EF4-FFF2-40B4-BE49-F238E27FC236}">
                <a16:creationId xmlns:a16="http://schemas.microsoft.com/office/drawing/2014/main" id="{DBE64BEC-6E84-4AFC-A7FA-FA9407EDAD7B}"/>
              </a:ext>
            </a:extLst>
          </p:cNvPr>
          <p:cNvSpPr>
            <a:spLocks noChangeArrowheads="1"/>
          </p:cNvSpPr>
          <p:nvPr/>
        </p:nvSpPr>
        <p:spPr bwMode="auto">
          <a:xfrm>
            <a:off x="8796031" y="3068996"/>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F</a:t>
            </a:r>
          </a:p>
        </p:txBody>
      </p:sp>
      <p:grpSp>
        <p:nvGrpSpPr>
          <p:cNvPr id="33" name="グループ化 32">
            <a:extLst>
              <a:ext uri="{FF2B5EF4-FFF2-40B4-BE49-F238E27FC236}">
                <a16:creationId xmlns:a16="http://schemas.microsoft.com/office/drawing/2014/main" id="{4DC57A93-1D2C-38DA-947B-DAC6B1CAAF82}"/>
              </a:ext>
            </a:extLst>
          </p:cNvPr>
          <p:cNvGrpSpPr/>
          <p:nvPr/>
        </p:nvGrpSpPr>
        <p:grpSpPr>
          <a:xfrm>
            <a:off x="9696041" y="3969006"/>
            <a:ext cx="2250023" cy="360000"/>
            <a:chOff x="1871971" y="5679025"/>
            <a:chExt cx="2250023" cy="360000"/>
          </a:xfrm>
        </p:grpSpPr>
        <p:sp>
          <p:nvSpPr>
            <p:cNvPr id="34" name="Rectangle 69">
              <a:extLst>
                <a:ext uri="{FF2B5EF4-FFF2-40B4-BE49-F238E27FC236}">
                  <a16:creationId xmlns:a16="http://schemas.microsoft.com/office/drawing/2014/main" id="{AB07276B-D9D9-3F2D-EF37-FCEE6F6FC32B}"/>
                </a:ext>
              </a:extLst>
            </p:cNvPr>
            <p:cNvSpPr>
              <a:spLocks noChangeArrowheads="1"/>
            </p:cNvSpPr>
            <p:nvPr/>
          </p:nvSpPr>
          <p:spPr bwMode="auto">
            <a:xfrm>
              <a:off x="1871971"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35" name="Rectangle 70">
              <a:extLst>
                <a:ext uri="{FF2B5EF4-FFF2-40B4-BE49-F238E27FC236}">
                  <a16:creationId xmlns:a16="http://schemas.microsoft.com/office/drawing/2014/main" id="{9B3A48F9-2779-4EF2-D1C1-29C35ED2EF91}"/>
                </a:ext>
              </a:extLst>
            </p:cNvPr>
            <p:cNvSpPr>
              <a:spLocks noChangeArrowheads="1"/>
            </p:cNvSpPr>
            <p:nvPr/>
          </p:nvSpPr>
          <p:spPr bwMode="auto">
            <a:xfrm>
              <a:off x="2321974"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36" name="Rectangle 71">
              <a:extLst>
                <a:ext uri="{FF2B5EF4-FFF2-40B4-BE49-F238E27FC236}">
                  <a16:creationId xmlns:a16="http://schemas.microsoft.com/office/drawing/2014/main" id="{E3687D1D-D916-3BC0-14B9-9F31F2717F6E}"/>
                </a:ext>
              </a:extLst>
            </p:cNvPr>
            <p:cNvSpPr>
              <a:spLocks noChangeArrowheads="1"/>
            </p:cNvSpPr>
            <p:nvPr/>
          </p:nvSpPr>
          <p:spPr bwMode="auto">
            <a:xfrm>
              <a:off x="2771980"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37" name="Rectangle 72">
              <a:extLst>
                <a:ext uri="{FF2B5EF4-FFF2-40B4-BE49-F238E27FC236}">
                  <a16:creationId xmlns:a16="http://schemas.microsoft.com/office/drawing/2014/main" id="{862147B0-FC0A-3A08-CB0D-B093ACD75C0F}"/>
                </a:ext>
              </a:extLst>
            </p:cNvPr>
            <p:cNvSpPr>
              <a:spLocks noChangeArrowheads="1"/>
            </p:cNvSpPr>
            <p:nvPr/>
          </p:nvSpPr>
          <p:spPr bwMode="auto">
            <a:xfrm>
              <a:off x="3221985" y="5679025"/>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38" name="Rectangle 73">
              <a:extLst>
                <a:ext uri="{FF2B5EF4-FFF2-40B4-BE49-F238E27FC236}">
                  <a16:creationId xmlns:a16="http://schemas.microsoft.com/office/drawing/2014/main" id="{4089E6BC-F847-DDE2-4382-1FDDD80E3F9B}"/>
                </a:ext>
              </a:extLst>
            </p:cNvPr>
            <p:cNvSpPr>
              <a:spLocks noChangeArrowheads="1"/>
            </p:cNvSpPr>
            <p:nvPr/>
          </p:nvSpPr>
          <p:spPr bwMode="auto">
            <a:xfrm>
              <a:off x="3671990" y="5679025"/>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grpSp>
      <p:cxnSp>
        <p:nvCxnSpPr>
          <p:cNvPr id="39" name="直線矢印コネクタ 38">
            <a:extLst>
              <a:ext uri="{FF2B5EF4-FFF2-40B4-BE49-F238E27FC236}">
                <a16:creationId xmlns:a16="http://schemas.microsoft.com/office/drawing/2014/main" id="{2353229E-8040-22DD-20C7-2B108C34851A}"/>
              </a:ext>
            </a:extLst>
          </p:cNvPr>
          <p:cNvCxnSpPr>
            <a:cxnSpLocks/>
          </p:cNvCxnSpPr>
          <p:nvPr/>
        </p:nvCxnSpPr>
        <p:spPr bwMode="auto">
          <a:xfrm>
            <a:off x="7446015" y="3699003"/>
            <a:ext cx="1800020"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sp>
        <p:nvSpPr>
          <p:cNvPr id="40" name="正方形/長方形 39">
            <a:extLst>
              <a:ext uri="{FF2B5EF4-FFF2-40B4-BE49-F238E27FC236}">
                <a16:creationId xmlns:a16="http://schemas.microsoft.com/office/drawing/2014/main" id="{3E3402DC-3228-C709-6E8B-B0C4B65B4D77}"/>
              </a:ext>
            </a:extLst>
          </p:cNvPr>
          <p:cNvSpPr/>
          <p:nvPr/>
        </p:nvSpPr>
        <p:spPr>
          <a:xfrm>
            <a:off x="8076023" y="3338999"/>
            <a:ext cx="540005" cy="270003"/>
          </a:xfrm>
          <a:prstGeom prst="rect">
            <a:avLst/>
          </a:prstGeom>
        </p:spPr>
        <p:txBody>
          <a:bodyPr wrap="none">
            <a:noAutofit/>
          </a:bodyPr>
          <a:lstStyle/>
          <a:p>
            <a:pPr algn="ctr"/>
            <a:r>
              <a:rPr lang="en-US" altLang="ja-JP" dirty="0">
                <a:solidFill>
                  <a:schemeClr val="tx1">
                    <a:lumMod val="65000"/>
                    <a:lumOff val="35000"/>
                  </a:schemeClr>
                </a:solidFill>
              </a:rPr>
              <a:t>4 cycle</a:t>
            </a:r>
            <a:endParaRPr lang="ja-JP" altLang="en-US" dirty="0">
              <a:solidFill>
                <a:schemeClr val="tx1">
                  <a:lumMod val="65000"/>
                  <a:lumOff val="35000"/>
                </a:schemeClr>
              </a:solidFill>
            </a:endParaRPr>
          </a:p>
        </p:txBody>
      </p:sp>
      <p:cxnSp>
        <p:nvCxnSpPr>
          <p:cNvPr id="41" name="直線矢印コネクタ 40">
            <a:extLst>
              <a:ext uri="{FF2B5EF4-FFF2-40B4-BE49-F238E27FC236}">
                <a16:creationId xmlns:a16="http://schemas.microsoft.com/office/drawing/2014/main" id="{E24E8FF0-92DC-70C9-9D95-321DDB3CD3A8}"/>
              </a:ext>
            </a:extLst>
          </p:cNvPr>
          <p:cNvCxnSpPr>
            <a:cxnSpLocks/>
          </p:cNvCxnSpPr>
          <p:nvPr/>
        </p:nvCxnSpPr>
        <p:spPr bwMode="auto">
          <a:xfrm>
            <a:off x="7446015" y="1628980"/>
            <a:ext cx="0" cy="2340026"/>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Tree>
    <p:extLst>
      <p:ext uri="{BB962C8B-B14F-4D97-AF65-F5344CB8AC3E}">
        <p14:creationId xmlns:p14="http://schemas.microsoft.com/office/powerpoint/2010/main" val="1632561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980B11-33F7-EE11-FCE5-7E18DFB99CF7}"/>
              </a:ext>
            </a:extLst>
          </p:cNvPr>
          <p:cNvSpPr>
            <a:spLocks noGrp="1"/>
          </p:cNvSpPr>
          <p:nvPr>
            <p:ph type="title"/>
          </p:nvPr>
        </p:nvSpPr>
        <p:spPr/>
        <p:txBody>
          <a:bodyPr/>
          <a:lstStyle/>
          <a:p>
            <a:r>
              <a:rPr kumimoji="1" lang="ja-JP" altLang="en-US" dirty="0"/>
              <a:t>ハザードによる </a:t>
            </a:r>
            <a:r>
              <a:rPr kumimoji="1" lang="en-US" altLang="ja-JP" dirty="0"/>
              <a:t>IPC </a:t>
            </a:r>
            <a:r>
              <a:rPr kumimoji="1" lang="ja-JP" altLang="en-US" dirty="0"/>
              <a:t>の低下</a:t>
            </a:r>
            <a:endParaRPr kumimoji="1" lang="en-US" dirty="0"/>
          </a:p>
        </p:txBody>
      </p:sp>
      <p:sp>
        <p:nvSpPr>
          <p:cNvPr id="3" name="コンテンツ プレースホルダー 2">
            <a:extLst>
              <a:ext uri="{FF2B5EF4-FFF2-40B4-BE49-F238E27FC236}">
                <a16:creationId xmlns:a16="http://schemas.microsoft.com/office/drawing/2014/main" id="{721CB15D-2AFE-CBB3-A07D-7338C1E3DD42}"/>
              </a:ext>
            </a:extLst>
          </p:cNvPr>
          <p:cNvSpPr>
            <a:spLocks noGrp="1"/>
          </p:cNvSpPr>
          <p:nvPr>
            <p:ph type="body" sz="quarter" idx="10"/>
          </p:nvPr>
        </p:nvSpPr>
        <p:spPr/>
        <p:txBody>
          <a:bodyPr/>
          <a:lstStyle/>
          <a:p>
            <a:r>
              <a:rPr kumimoji="1" lang="ja-JP" altLang="en-US" dirty="0"/>
              <a:t>以下を例として，具体的な </a:t>
            </a:r>
            <a:r>
              <a:rPr kumimoji="1" lang="en-US" altLang="ja-JP" dirty="0"/>
              <a:t>IPC </a:t>
            </a:r>
            <a:r>
              <a:rPr kumimoji="1" lang="ja-JP" altLang="en-US" dirty="0"/>
              <a:t>の数字の変化を説明</a:t>
            </a:r>
            <a:endParaRPr kumimoji="1" lang="en-US" altLang="ja-JP" dirty="0"/>
          </a:p>
          <a:p>
            <a:pPr lvl="1"/>
            <a:r>
              <a:rPr kumimoji="1" lang="ja-JP" altLang="en-US" dirty="0"/>
              <a:t>分岐予測ミス</a:t>
            </a:r>
            <a:endParaRPr kumimoji="1" lang="en-US" altLang="ja-JP" dirty="0"/>
          </a:p>
          <a:p>
            <a:pPr lvl="1"/>
            <a:r>
              <a:rPr kumimoji="1" lang="ja-JP" altLang="en-US" dirty="0">
                <a:solidFill>
                  <a:schemeClr val="accent5"/>
                </a:solidFill>
              </a:rPr>
              <a:t>ロードに依存した命令によるデータハザード</a:t>
            </a:r>
            <a:endParaRPr kumimoji="1" lang="en-US" altLang="ja-JP" dirty="0">
              <a:solidFill>
                <a:schemeClr val="accent5"/>
              </a:solidFill>
            </a:endParaRPr>
          </a:p>
        </p:txBody>
      </p:sp>
    </p:spTree>
    <p:extLst>
      <p:ext uri="{BB962C8B-B14F-4D97-AF65-F5344CB8AC3E}">
        <p14:creationId xmlns:p14="http://schemas.microsoft.com/office/powerpoint/2010/main" val="17073231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849BE9-D698-A3D1-291A-36A425966451}"/>
              </a:ext>
            </a:extLst>
          </p:cNvPr>
          <p:cNvSpPr>
            <a:spLocks noGrp="1"/>
          </p:cNvSpPr>
          <p:nvPr>
            <p:ph type="title"/>
          </p:nvPr>
        </p:nvSpPr>
        <p:spPr/>
        <p:txBody>
          <a:bodyPr/>
          <a:lstStyle/>
          <a:p>
            <a:r>
              <a:rPr kumimoji="1" lang="ja-JP" altLang="en-US" dirty="0"/>
              <a:t>ロードに依存した命令によるデータハザード</a:t>
            </a:r>
            <a:endParaRPr kumimoji="1" lang="en-US" dirty="0"/>
          </a:p>
        </p:txBody>
      </p:sp>
      <p:sp>
        <p:nvSpPr>
          <p:cNvPr id="4" name="コンテンツ プレースホルダー 34">
            <a:extLst>
              <a:ext uri="{FF2B5EF4-FFF2-40B4-BE49-F238E27FC236}">
                <a16:creationId xmlns:a16="http://schemas.microsoft.com/office/drawing/2014/main" id="{79DDCD81-2276-0A6F-727D-8087EBF8CD83}"/>
              </a:ext>
            </a:extLst>
          </p:cNvPr>
          <p:cNvSpPr txBox="1">
            <a:spLocks/>
          </p:cNvSpPr>
          <p:nvPr/>
        </p:nvSpPr>
        <p:spPr bwMode="auto">
          <a:xfrm>
            <a:off x="1955955" y="5949029"/>
            <a:ext cx="8280859" cy="6300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ja-JP" altLang="en-US" kern="0" dirty="0">
                <a:solidFill>
                  <a:schemeClr val="tx1">
                    <a:lumMod val="65000"/>
                    <a:lumOff val="35000"/>
                  </a:schemeClr>
                </a:solidFill>
                <a:latin typeface="Consolas" panose="020B0609020204030204" pitchFamily="49" charset="0"/>
              </a:rPr>
              <a:t>パイプライン全体が，理想的な場合と比べて</a:t>
            </a:r>
            <a:br>
              <a:rPr lang="en-US" altLang="ja-JP" kern="0" dirty="0">
                <a:solidFill>
                  <a:schemeClr val="tx1">
                    <a:lumMod val="65000"/>
                    <a:lumOff val="35000"/>
                  </a:schemeClr>
                </a:solidFill>
                <a:latin typeface="Consolas" panose="020B0609020204030204" pitchFamily="49" charset="0"/>
              </a:rPr>
            </a:br>
            <a:r>
              <a:rPr lang="ja-JP" altLang="en-US" kern="0" dirty="0">
                <a:solidFill>
                  <a:schemeClr val="tx1">
                    <a:lumMod val="65000"/>
                    <a:lumOff val="35000"/>
                  </a:schemeClr>
                </a:solidFill>
                <a:latin typeface="Consolas" panose="020B0609020204030204" pitchFamily="49" charset="0"/>
              </a:rPr>
              <a:t>１サイクル遅れている</a:t>
            </a:r>
            <a:endParaRPr lang="en-US" altLang="ja-JP" kern="0" dirty="0">
              <a:solidFill>
                <a:schemeClr val="tx1">
                  <a:lumMod val="65000"/>
                  <a:lumOff val="35000"/>
                </a:schemeClr>
              </a:solidFill>
              <a:latin typeface="Consolas" panose="020B0609020204030204" pitchFamily="49" charset="0"/>
            </a:endParaRPr>
          </a:p>
        </p:txBody>
      </p:sp>
      <p:sp>
        <p:nvSpPr>
          <p:cNvPr id="5" name="正方形/長方形 4">
            <a:extLst>
              <a:ext uri="{FF2B5EF4-FFF2-40B4-BE49-F238E27FC236}">
                <a16:creationId xmlns:a16="http://schemas.microsoft.com/office/drawing/2014/main" id="{406A156B-DC63-6B9C-C9F2-16CAD6A2BDE2}"/>
              </a:ext>
            </a:extLst>
          </p:cNvPr>
          <p:cNvSpPr/>
          <p:nvPr/>
        </p:nvSpPr>
        <p:spPr>
          <a:xfrm>
            <a:off x="1865954" y="198898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I0 </a:t>
            </a:r>
            <a:endParaRPr lang="ja-JP" altLang="en-US" dirty="0">
              <a:solidFill>
                <a:schemeClr val="tx1">
                  <a:lumMod val="65000"/>
                  <a:lumOff val="35000"/>
                </a:schemeClr>
              </a:solidFill>
              <a:latin typeface="Consolas" panose="020B0609020204030204" pitchFamily="49" charset="0"/>
            </a:endParaRPr>
          </a:p>
        </p:txBody>
      </p:sp>
      <p:sp>
        <p:nvSpPr>
          <p:cNvPr id="6" name="正方形/長方形 5">
            <a:extLst>
              <a:ext uri="{FF2B5EF4-FFF2-40B4-BE49-F238E27FC236}">
                <a16:creationId xmlns:a16="http://schemas.microsoft.com/office/drawing/2014/main" id="{F69ADC3C-71EF-2570-E0DE-071896053B1C}"/>
              </a:ext>
            </a:extLst>
          </p:cNvPr>
          <p:cNvSpPr/>
          <p:nvPr/>
        </p:nvSpPr>
        <p:spPr>
          <a:xfrm>
            <a:off x="1865954" y="2438989"/>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I1</a:t>
            </a:r>
            <a:endParaRPr lang="ja-JP" altLang="en-US" dirty="0">
              <a:solidFill>
                <a:schemeClr val="tx1">
                  <a:lumMod val="65000"/>
                  <a:lumOff val="35000"/>
                </a:schemeClr>
              </a:solidFill>
              <a:latin typeface="Consolas" panose="020B0609020204030204" pitchFamily="49" charset="0"/>
            </a:endParaRPr>
          </a:p>
        </p:txBody>
      </p:sp>
      <p:sp>
        <p:nvSpPr>
          <p:cNvPr id="7" name="正方形/長方形 6">
            <a:extLst>
              <a:ext uri="{FF2B5EF4-FFF2-40B4-BE49-F238E27FC236}">
                <a16:creationId xmlns:a16="http://schemas.microsoft.com/office/drawing/2014/main" id="{82FE1F6B-4B2A-3134-C916-58EA44515BA7}"/>
              </a:ext>
            </a:extLst>
          </p:cNvPr>
          <p:cNvSpPr/>
          <p:nvPr/>
        </p:nvSpPr>
        <p:spPr>
          <a:xfrm>
            <a:off x="1865954" y="2888994"/>
            <a:ext cx="450005" cy="369332"/>
          </a:xfrm>
          <a:prstGeom prst="rect">
            <a:avLst/>
          </a:prstGeom>
        </p:spPr>
        <p:txBody>
          <a:bodyPr wrap="square">
            <a:spAutoFit/>
          </a:bodyPr>
          <a:lstStyle/>
          <a:p>
            <a:pPr algn="ctr"/>
            <a:r>
              <a:rPr lang="en-US" altLang="ja-JP" dirty="0">
                <a:solidFill>
                  <a:schemeClr val="tx1">
                    <a:lumMod val="65000"/>
                    <a:lumOff val="35000"/>
                  </a:schemeClr>
                </a:solidFill>
                <a:latin typeface="Consolas" panose="020B0609020204030204" pitchFamily="49" charset="0"/>
              </a:rPr>
              <a:t>I2</a:t>
            </a:r>
            <a:endParaRPr lang="ja-JP" altLang="en-US" dirty="0">
              <a:solidFill>
                <a:schemeClr val="tx1">
                  <a:lumMod val="65000"/>
                  <a:lumOff val="35000"/>
                </a:schemeClr>
              </a:solidFill>
              <a:latin typeface="Consolas" panose="020B0609020204030204" pitchFamily="49" charset="0"/>
            </a:endParaRPr>
          </a:p>
        </p:txBody>
      </p:sp>
      <p:sp>
        <p:nvSpPr>
          <p:cNvPr id="8" name="Rectangle 69">
            <a:extLst>
              <a:ext uri="{FF2B5EF4-FFF2-40B4-BE49-F238E27FC236}">
                <a16:creationId xmlns:a16="http://schemas.microsoft.com/office/drawing/2014/main" id="{6CDCA5E1-1D16-0EC4-2036-ED6808148BBA}"/>
              </a:ext>
            </a:extLst>
          </p:cNvPr>
          <p:cNvSpPr>
            <a:spLocks noChangeArrowheads="1"/>
          </p:cNvSpPr>
          <p:nvPr/>
        </p:nvSpPr>
        <p:spPr bwMode="auto">
          <a:xfrm>
            <a:off x="4655985"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9" name="Rectangle 70">
            <a:extLst>
              <a:ext uri="{FF2B5EF4-FFF2-40B4-BE49-F238E27FC236}">
                <a16:creationId xmlns:a16="http://schemas.microsoft.com/office/drawing/2014/main" id="{3056EF5F-22EE-96C9-0A6C-9438EB7E9B10}"/>
              </a:ext>
            </a:extLst>
          </p:cNvPr>
          <p:cNvSpPr>
            <a:spLocks noChangeArrowheads="1"/>
          </p:cNvSpPr>
          <p:nvPr/>
        </p:nvSpPr>
        <p:spPr bwMode="auto">
          <a:xfrm>
            <a:off x="5105989"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0" name="Rectangle 71">
            <a:extLst>
              <a:ext uri="{FF2B5EF4-FFF2-40B4-BE49-F238E27FC236}">
                <a16:creationId xmlns:a16="http://schemas.microsoft.com/office/drawing/2014/main" id="{8084D93D-26D5-CE09-7BEA-45294BB59633}"/>
              </a:ext>
            </a:extLst>
          </p:cNvPr>
          <p:cNvSpPr>
            <a:spLocks noChangeArrowheads="1"/>
          </p:cNvSpPr>
          <p:nvPr/>
        </p:nvSpPr>
        <p:spPr bwMode="auto">
          <a:xfrm>
            <a:off x="5555995"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1" name="Rectangle 72">
            <a:extLst>
              <a:ext uri="{FF2B5EF4-FFF2-40B4-BE49-F238E27FC236}">
                <a16:creationId xmlns:a16="http://schemas.microsoft.com/office/drawing/2014/main" id="{1BC8A31E-A114-C52C-D132-921C32395D4C}"/>
              </a:ext>
            </a:extLst>
          </p:cNvPr>
          <p:cNvSpPr>
            <a:spLocks noChangeArrowheads="1"/>
          </p:cNvSpPr>
          <p:nvPr/>
        </p:nvSpPr>
        <p:spPr bwMode="auto">
          <a:xfrm>
            <a:off x="6006000" y="198898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2" name="Rectangle 73">
            <a:extLst>
              <a:ext uri="{FF2B5EF4-FFF2-40B4-BE49-F238E27FC236}">
                <a16:creationId xmlns:a16="http://schemas.microsoft.com/office/drawing/2014/main" id="{911B3E5F-CD12-8F84-32E9-E1B3EBFEBE31}"/>
              </a:ext>
            </a:extLst>
          </p:cNvPr>
          <p:cNvSpPr>
            <a:spLocks noChangeArrowheads="1"/>
          </p:cNvSpPr>
          <p:nvPr/>
        </p:nvSpPr>
        <p:spPr bwMode="auto">
          <a:xfrm>
            <a:off x="6456004" y="198898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3" name="Rectangle 69">
            <a:extLst>
              <a:ext uri="{FF2B5EF4-FFF2-40B4-BE49-F238E27FC236}">
                <a16:creationId xmlns:a16="http://schemas.microsoft.com/office/drawing/2014/main" id="{D9327406-6B72-05C8-8079-46CF0BB96FC6}"/>
              </a:ext>
            </a:extLst>
          </p:cNvPr>
          <p:cNvSpPr>
            <a:spLocks noChangeArrowheads="1"/>
          </p:cNvSpPr>
          <p:nvPr/>
        </p:nvSpPr>
        <p:spPr bwMode="auto">
          <a:xfrm>
            <a:off x="5105992"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4" name="Rectangle 70">
            <a:extLst>
              <a:ext uri="{FF2B5EF4-FFF2-40B4-BE49-F238E27FC236}">
                <a16:creationId xmlns:a16="http://schemas.microsoft.com/office/drawing/2014/main" id="{8734414C-2ED0-825A-4FDC-AD221C9D562D}"/>
              </a:ext>
            </a:extLst>
          </p:cNvPr>
          <p:cNvSpPr>
            <a:spLocks noChangeArrowheads="1"/>
          </p:cNvSpPr>
          <p:nvPr/>
        </p:nvSpPr>
        <p:spPr bwMode="auto">
          <a:xfrm>
            <a:off x="5555996"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15" name="Rectangle 71">
            <a:extLst>
              <a:ext uri="{FF2B5EF4-FFF2-40B4-BE49-F238E27FC236}">
                <a16:creationId xmlns:a16="http://schemas.microsoft.com/office/drawing/2014/main" id="{5F0344EC-28C1-989B-79EE-7CD69B31E89E}"/>
              </a:ext>
            </a:extLst>
          </p:cNvPr>
          <p:cNvSpPr>
            <a:spLocks noChangeArrowheads="1"/>
          </p:cNvSpPr>
          <p:nvPr/>
        </p:nvSpPr>
        <p:spPr bwMode="auto">
          <a:xfrm>
            <a:off x="6006002"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16" name="Rectangle 72">
            <a:extLst>
              <a:ext uri="{FF2B5EF4-FFF2-40B4-BE49-F238E27FC236}">
                <a16:creationId xmlns:a16="http://schemas.microsoft.com/office/drawing/2014/main" id="{0E27937C-995F-060F-8BDA-5A17C2F9825A}"/>
              </a:ext>
            </a:extLst>
          </p:cNvPr>
          <p:cNvSpPr>
            <a:spLocks noChangeArrowheads="1"/>
          </p:cNvSpPr>
          <p:nvPr/>
        </p:nvSpPr>
        <p:spPr bwMode="auto">
          <a:xfrm>
            <a:off x="6456007" y="2438989"/>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17" name="Rectangle 73">
            <a:extLst>
              <a:ext uri="{FF2B5EF4-FFF2-40B4-BE49-F238E27FC236}">
                <a16:creationId xmlns:a16="http://schemas.microsoft.com/office/drawing/2014/main" id="{F252315E-7CCD-E558-3565-32D48FB3B0C8}"/>
              </a:ext>
            </a:extLst>
          </p:cNvPr>
          <p:cNvSpPr>
            <a:spLocks noChangeArrowheads="1"/>
          </p:cNvSpPr>
          <p:nvPr/>
        </p:nvSpPr>
        <p:spPr bwMode="auto">
          <a:xfrm>
            <a:off x="6906011" y="2438989"/>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18" name="Rectangle 69">
            <a:extLst>
              <a:ext uri="{FF2B5EF4-FFF2-40B4-BE49-F238E27FC236}">
                <a16:creationId xmlns:a16="http://schemas.microsoft.com/office/drawing/2014/main" id="{CD145C8B-8CED-399A-8939-81236A9ADE72}"/>
              </a:ext>
            </a:extLst>
          </p:cNvPr>
          <p:cNvSpPr>
            <a:spLocks noChangeArrowheads="1"/>
          </p:cNvSpPr>
          <p:nvPr/>
        </p:nvSpPr>
        <p:spPr bwMode="auto">
          <a:xfrm>
            <a:off x="5555996"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19" name="Rectangle 70">
            <a:extLst>
              <a:ext uri="{FF2B5EF4-FFF2-40B4-BE49-F238E27FC236}">
                <a16:creationId xmlns:a16="http://schemas.microsoft.com/office/drawing/2014/main" id="{6D6F90DA-5FA4-6CC8-CC0C-E9D671D2B9EF}"/>
              </a:ext>
            </a:extLst>
          </p:cNvPr>
          <p:cNvSpPr>
            <a:spLocks noChangeArrowheads="1"/>
          </p:cNvSpPr>
          <p:nvPr/>
        </p:nvSpPr>
        <p:spPr bwMode="auto">
          <a:xfrm>
            <a:off x="6006000"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20" name="Rectangle 71">
            <a:extLst>
              <a:ext uri="{FF2B5EF4-FFF2-40B4-BE49-F238E27FC236}">
                <a16:creationId xmlns:a16="http://schemas.microsoft.com/office/drawing/2014/main" id="{5BFFDE02-871F-7639-87AA-BD4771ABBB84}"/>
              </a:ext>
            </a:extLst>
          </p:cNvPr>
          <p:cNvSpPr>
            <a:spLocks noChangeArrowheads="1"/>
          </p:cNvSpPr>
          <p:nvPr/>
        </p:nvSpPr>
        <p:spPr bwMode="auto">
          <a:xfrm>
            <a:off x="6456006"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21" name="Rectangle 72">
            <a:extLst>
              <a:ext uri="{FF2B5EF4-FFF2-40B4-BE49-F238E27FC236}">
                <a16:creationId xmlns:a16="http://schemas.microsoft.com/office/drawing/2014/main" id="{3A4DD6BF-4DB3-26BF-C302-39350BE8F412}"/>
              </a:ext>
            </a:extLst>
          </p:cNvPr>
          <p:cNvSpPr>
            <a:spLocks noChangeArrowheads="1"/>
          </p:cNvSpPr>
          <p:nvPr/>
        </p:nvSpPr>
        <p:spPr bwMode="auto">
          <a:xfrm>
            <a:off x="6906011" y="2888994"/>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22" name="Rectangle 73">
            <a:extLst>
              <a:ext uri="{FF2B5EF4-FFF2-40B4-BE49-F238E27FC236}">
                <a16:creationId xmlns:a16="http://schemas.microsoft.com/office/drawing/2014/main" id="{77C3551B-96B0-A8B5-1701-C17206EF7ED7}"/>
              </a:ext>
            </a:extLst>
          </p:cNvPr>
          <p:cNvSpPr>
            <a:spLocks noChangeArrowheads="1"/>
          </p:cNvSpPr>
          <p:nvPr/>
        </p:nvSpPr>
        <p:spPr bwMode="auto">
          <a:xfrm>
            <a:off x="7356015" y="2888994"/>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23" name="正方形/長方形 22">
            <a:extLst>
              <a:ext uri="{FF2B5EF4-FFF2-40B4-BE49-F238E27FC236}">
                <a16:creationId xmlns:a16="http://schemas.microsoft.com/office/drawing/2014/main" id="{DB73E7F8-33F6-F649-8C88-78C57D69D485}"/>
              </a:ext>
            </a:extLst>
          </p:cNvPr>
          <p:cNvSpPr/>
          <p:nvPr/>
        </p:nvSpPr>
        <p:spPr>
          <a:xfrm>
            <a:off x="1865954" y="4149008"/>
            <a:ext cx="450005" cy="360004"/>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I0: ld </a:t>
            </a:r>
            <a:r>
              <a:rPr lang="en-US" altLang="ja-JP" dirty="0">
                <a:solidFill>
                  <a:schemeClr val="accent5"/>
                </a:solidFill>
                <a:latin typeface="Consolas" panose="020B0609020204030204" pitchFamily="49" charset="0"/>
              </a:rPr>
              <a:t>x1</a:t>
            </a:r>
            <a:r>
              <a:rPr lang="ja-JP" altLang="en-US" dirty="0">
                <a:solidFill>
                  <a:schemeClr val="tx1">
                    <a:lumMod val="65000"/>
                    <a:lumOff val="35000"/>
                  </a:schemeClr>
                </a:solidFill>
                <a:latin typeface="Consolas" panose="020B0609020204030204" pitchFamily="49" charset="0"/>
              </a:rPr>
              <a:t>←</a:t>
            </a:r>
            <a:r>
              <a:rPr lang="en-US" altLang="ja-JP" dirty="0">
                <a:solidFill>
                  <a:schemeClr val="tx1">
                    <a:lumMod val="65000"/>
                    <a:lumOff val="35000"/>
                  </a:schemeClr>
                </a:solidFill>
                <a:latin typeface="Consolas" panose="020B0609020204030204" pitchFamily="49" charset="0"/>
              </a:rPr>
              <a:t>(x2)</a:t>
            </a:r>
            <a:endParaRPr lang="ja-JP" altLang="en-US" dirty="0">
              <a:solidFill>
                <a:schemeClr val="tx1">
                  <a:lumMod val="65000"/>
                  <a:lumOff val="35000"/>
                </a:schemeClr>
              </a:solidFill>
              <a:latin typeface="Consolas" panose="020B0609020204030204" pitchFamily="49" charset="0"/>
            </a:endParaRPr>
          </a:p>
        </p:txBody>
      </p:sp>
      <p:sp>
        <p:nvSpPr>
          <p:cNvPr id="26" name="Rectangle 69">
            <a:extLst>
              <a:ext uri="{FF2B5EF4-FFF2-40B4-BE49-F238E27FC236}">
                <a16:creationId xmlns:a16="http://schemas.microsoft.com/office/drawing/2014/main" id="{F2A4A1B0-6A4A-2AB7-6939-9C61E3052B6C}"/>
              </a:ext>
            </a:extLst>
          </p:cNvPr>
          <p:cNvSpPr>
            <a:spLocks noChangeArrowheads="1"/>
          </p:cNvSpPr>
          <p:nvPr/>
        </p:nvSpPr>
        <p:spPr bwMode="auto">
          <a:xfrm>
            <a:off x="4655985"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27" name="Rectangle 70">
            <a:extLst>
              <a:ext uri="{FF2B5EF4-FFF2-40B4-BE49-F238E27FC236}">
                <a16:creationId xmlns:a16="http://schemas.microsoft.com/office/drawing/2014/main" id="{FE18DC80-E387-6284-6D95-729875F95009}"/>
              </a:ext>
            </a:extLst>
          </p:cNvPr>
          <p:cNvSpPr>
            <a:spLocks noChangeArrowheads="1"/>
          </p:cNvSpPr>
          <p:nvPr/>
        </p:nvSpPr>
        <p:spPr bwMode="auto">
          <a:xfrm>
            <a:off x="5105989"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28" name="Rectangle 71">
            <a:extLst>
              <a:ext uri="{FF2B5EF4-FFF2-40B4-BE49-F238E27FC236}">
                <a16:creationId xmlns:a16="http://schemas.microsoft.com/office/drawing/2014/main" id="{91F4E788-7463-DB0C-963D-C0A1CDF06C4C}"/>
              </a:ext>
            </a:extLst>
          </p:cNvPr>
          <p:cNvSpPr>
            <a:spLocks noChangeArrowheads="1"/>
          </p:cNvSpPr>
          <p:nvPr/>
        </p:nvSpPr>
        <p:spPr bwMode="auto">
          <a:xfrm>
            <a:off x="5555995"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29" name="Rectangle 72">
            <a:extLst>
              <a:ext uri="{FF2B5EF4-FFF2-40B4-BE49-F238E27FC236}">
                <a16:creationId xmlns:a16="http://schemas.microsoft.com/office/drawing/2014/main" id="{9B8080CE-FB3D-2FAD-23BE-60B30F325DBF}"/>
              </a:ext>
            </a:extLst>
          </p:cNvPr>
          <p:cNvSpPr>
            <a:spLocks noChangeArrowheads="1"/>
          </p:cNvSpPr>
          <p:nvPr/>
        </p:nvSpPr>
        <p:spPr bwMode="auto">
          <a:xfrm>
            <a:off x="6006000" y="414900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30" name="Rectangle 73">
            <a:extLst>
              <a:ext uri="{FF2B5EF4-FFF2-40B4-BE49-F238E27FC236}">
                <a16:creationId xmlns:a16="http://schemas.microsoft.com/office/drawing/2014/main" id="{82D7F27C-47F6-7D74-8E45-E97BCDF89493}"/>
              </a:ext>
            </a:extLst>
          </p:cNvPr>
          <p:cNvSpPr>
            <a:spLocks noChangeArrowheads="1"/>
          </p:cNvSpPr>
          <p:nvPr/>
        </p:nvSpPr>
        <p:spPr bwMode="auto">
          <a:xfrm>
            <a:off x="6456004" y="414900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41" name="Rectangle 69">
            <a:extLst>
              <a:ext uri="{FF2B5EF4-FFF2-40B4-BE49-F238E27FC236}">
                <a16:creationId xmlns:a16="http://schemas.microsoft.com/office/drawing/2014/main" id="{9972E94F-48DE-CAA2-9953-277A03754740}"/>
              </a:ext>
            </a:extLst>
          </p:cNvPr>
          <p:cNvSpPr>
            <a:spLocks noChangeArrowheads="1"/>
          </p:cNvSpPr>
          <p:nvPr/>
        </p:nvSpPr>
        <p:spPr bwMode="auto">
          <a:xfrm>
            <a:off x="6005999" y="4599013"/>
            <a:ext cx="450004"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bb</a:t>
            </a:r>
          </a:p>
        </p:txBody>
      </p:sp>
      <p:sp>
        <p:nvSpPr>
          <p:cNvPr id="42" name="Rectangle 70">
            <a:extLst>
              <a:ext uri="{FF2B5EF4-FFF2-40B4-BE49-F238E27FC236}">
                <a16:creationId xmlns:a16="http://schemas.microsoft.com/office/drawing/2014/main" id="{EC567034-1F33-0905-D70D-493033C7C370}"/>
              </a:ext>
            </a:extLst>
          </p:cNvPr>
          <p:cNvSpPr>
            <a:spLocks noChangeArrowheads="1"/>
          </p:cNvSpPr>
          <p:nvPr/>
        </p:nvSpPr>
        <p:spPr bwMode="auto">
          <a:xfrm>
            <a:off x="6006000" y="5049018"/>
            <a:ext cx="450005" cy="360000"/>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dirty="0"/>
              <a:t>bb</a:t>
            </a:r>
          </a:p>
        </p:txBody>
      </p:sp>
      <p:cxnSp>
        <p:nvCxnSpPr>
          <p:cNvPr id="53" name="直線矢印コネクタ 52">
            <a:extLst>
              <a:ext uri="{FF2B5EF4-FFF2-40B4-BE49-F238E27FC236}">
                <a16:creationId xmlns:a16="http://schemas.microsoft.com/office/drawing/2014/main" id="{14AA1C66-7B5E-531D-1038-3562299F4237}"/>
              </a:ext>
            </a:extLst>
          </p:cNvPr>
          <p:cNvCxnSpPr>
            <a:cxnSpLocks/>
          </p:cNvCxnSpPr>
          <p:nvPr/>
        </p:nvCxnSpPr>
        <p:spPr bwMode="auto">
          <a:xfrm>
            <a:off x="7806020" y="3068996"/>
            <a:ext cx="45000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54" name="直線矢印コネクタ 53">
            <a:extLst>
              <a:ext uri="{FF2B5EF4-FFF2-40B4-BE49-F238E27FC236}">
                <a16:creationId xmlns:a16="http://schemas.microsoft.com/office/drawing/2014/main" id="{58DCCA5A-0614-0D6C-E683-A3EA190A66C3}"/>
              </a:ext>
            </a:extLst>
          </p:cNvPr>
          <p:cNvCxnSpPr>
            <a:cxnSpLocks/>
          </p:cNvCxnSpPr>
          <p:nvPr/>
        </p:nvCxnSpPr>
        <p:spPr bwMode="auto">
          <a:xfrm>
            <a:off x="7806019" y="2348988"/>
            <a:ext cx="0" cy="3420038"/>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55" name="直線矢印コネクタ 54">
            <a:extLst>
              <a:ext uri="{FF2B5EF4-FFF2-40B4-BE49-F238E27FC236}">
                <a16:creationId xmlns:a16="http://schemas.microsoft.com/office/drawing/2014/main" id="{F1A16DF5-E50D-C61A-DC33-2B88B00C1A9C}"/>
              </a:ext>
            </a:extLst>
          </p:cNvPr>
          <p:cNvCxnSpPr>
            <a:cxnSpLocks/>
          </p:cNvCxnSpPr>
          <p:nvPr/>
        </p:nvCxnSpPr>
        <p:spPr bwMode="auto">
          <a:xfrm>
            <a:off x="8256024" y="2348988"/>
            <a:ext cx="0" cy="3420038"/>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
        <p:nvSpPr>
          <p:cNvPr id="56" name="正方形/長方形 55">
            <a:extLst>
              <a:ext uri="{FF2B5EF4-FFF2-40B4-BE49-F238E27FC236}">
                <a16:creationId xmlns:a16="http://schemas.microsoft.com/office/drawing/2014/main" id="{676C7215-0672-F610-33C3-866188B8FDBA}"/>
              </a:ext>
            </a:extLst>
          </p:cNvPr>
          <p:cNvSpPr/>
          <p:nvPr/>
        </p:nvSpPr>
        <p:spPr>
          <a:xfrm>
            <a:off x="7806020" y="1988985"/>
            <a:ext cx="540005" cy="270003"/>
          </a:xfrm>
          <a:prstGeom prst="rect">
            <a:avLst/>
          </a:prstGeom>
        </p:spPr>
        <p:txBody>
          <a:bodyPr wrap="none">
            <a:noAutofit/>
          </a:bodyPr>
          <a:lstStyle/>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60" name="Rectangle 69">
            <a:extLst>
              <a:ext uri="{FF2B5EF4-FFF2-40B4-BE49-F238E27FC236}">
                <a16:creationId xmlns:a16="http://schemas.microsoft.com/office/drawing/2014/main" id="{A44D2913-36DA-233F-BFA7-11682C8F64C1}"/>
              </a:ext>
            </a:extLst>
          </p:cNvPr>
          <p:cNvSpPr>
            <a:spLocks noChangeArrowheads="1"/>
          </p:cNvSpPr>
          <p:nvPr/>
        </p:nvSpPr>
        <p:spPr bwMode="auto">
          <a:xfrm>
            <a:off x="5105989" y="459901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61" name="Rectangle 70">
            <a:extLst>
              <a:ext uri="{FF2B5EF4-FFF2-40B4-BE49-F238E27FC236}">
                <a16:creationId xmlns:a16="http://schemas.microsoft.com/office/drawing/2014/main" id="{A640850F-0C97-5EC3-2298-510D579C102A}"/>
              </a:ext>
            </a:extLst>
          </p:cNvPr>
          <p:cNvSpPr>
            <a:spLocks noChangeArrowheads="1"/>
          </p:cNvSpPr>
          <p:nvPr/>
        </p:nvSpPr>
        <p:spPr bwMode="auto">
          <a:xfrm>
            <a:off x="5555993"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62" name="Rectangle 71">
            <a:extLst>
              <a:ext uri="{FF2B5EF4-FFF2-40B4-BE49-F238E27FC236}">
                <a16:creationId xmlns:a16="http://schemas.microsoft.com/office/drawing/2014/main" id="{C47FF20B-06F8-F55A-BCB8-58E0407025D4}"/>
              </a:ext>
            </a:extLst>
          </p:cNvPr>
          <p:cNvSpPr>
            <a:spLocks noChangeArrowheads="1"/>
          </p:cNvSpPr>
          <p:nvPr/>
        </p:nvSpPr>
        <p:spPr bwMode="auto">
          <a:xfrm>
            <a:off x="6456005"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63" name="Rectangle 72">
            <a:extLst>
              <a:ext uri="{FF2B5EF4-FFF2-40B4-BE49-F238E27FC236}">
                <a16:creationId xmlns:a16="http://schemas.microsoft.com/office/drawing/2014/main" id="{31F6A47C-FE6E-0D07-E0E4-8A770D726163}"/>
              </a:ext>
            </a:extLst>
          </p:cNvPr>
          <p:cNvSpPr>
            <a:spLocks noChangeArrowheads="1"/>
          </p:cNvSpPr>
          <p:nvPr/>
        </p:nvSpPr>
        <p:spPr bwMode="auto">
          <a:xfrm>
            <a:off x="6906010" y="4599013"/>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64" name="Rectangle 73">
            <a:extLst>
              <a:ext uri="{FF2B5EF4-FFF2-40B4-BE49-F238E27FC236}">
                <a16:creationId xmlns:a16="http://schemas.microsoft.com/office/drawing/2014/main" id="{1B8177B4-6A7E-A2FA-84DB-A4C013FA2F06}"/>
              </a:ext>
            </a:extLst>
          </p:cNvPr>
          <p:cNvSpPr>
            <a:spLocks noChangeArrowheads="1"/>
          </p:cNvSpPr>
          <p:nvPr/>
        </p:nvSpPr>
        <p:spPr bwMode="auto">
          <a:xfrm>
            <a:off x="7356014" y="4599013"/>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65" name="Rectangle 69">
            <a:extLst>
              <a:ext uri="{FF2B5EF4-FFF2-40B4-BE49-F238E27FC236}">
                <a16:creationId xmlns:a16="http://schemas.microsoft.com/office/drawing/2014/main" id="{5027E163-BDD0-37B9-21BC-D3F2371DE18B}"/>
              </a:ext>
            </a:extLst>
          </p:cNvPr>
          <p:cNvSpPr>
            <a:spLocks noChangeArrowheads="1"/>
          </p:cNvSpPr>
          <p:nvPr/>
        </p:nvSpPr>
        <p:spPr bwMode="auto">
          <a:xfrm>
            <a:off x="5555994" y="504901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F</a:t>
            </a:r>
          </a:p>
        </p:txBody>
      </p:sp>
      <p:sp>
        <p:nvSpPr>
          <p:cNvPr id="66" name="Rectangle 71">
            <a:extLst>
              <a:ext uri="{FF2B5EF4-FFF2-40B4-BE49-F238E27FC236}">
                <a16:creationId xmlns:a16="http://schemas.microsoft.com/office/drawing/2014/main" id="{5B261367-AA30-1C49-DC42-B309AA72169A}"/>
              </a:ext>
            </a:extLst>
          </p:cNvPr>
          <p:cNvSpPr>
            <a:spLocks noChangeArrowheads="1"/>
          </p:cNvSpPr>
          <p:nvPr/>
        </p:nvSpPr>
        <p:spPr bwMode="auto">
          <a:xfrm>
            <a:off x="6906010"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X</a:t>
            </a:r>
          </a:p>
        </p:txBody>
      </p:sp>
      <p:sp>
        <p:nvSpPr>
          <p:cNvPr id="67" name="Rectangle 72">
            <a:extLst>
              <a:ext uri="{FF2B5EF4-FFF2-40B4-BE49-F238E27FC236}">
                <a16:creationId xmlns:a16="http://schemas.microsoft.com/office/drawing/2014/main" id="{EC00E3EE-9D59-61FF-144B-22852E7A770E}"/>
              </a:ext>
            </a:extLst>
          </p:cNvPr>
          <p:cNvSpPr>
            <a:spLocks noChangeArrowheads="1"/>
          </p:cNvSpPr>
          <p:nvPr/>
        </p:nvSpPr>
        <p:spPr bwMode="auto">
          <a:xfrm>
            <a:off x="7356015"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M</a:t>
            </a:r>
          </a:p>
        </p:txBody>
      </p:sp>
      <p:sp>
        <p:nvSpPr>
          <p:cNvPr id="68" name="Rectangle 73">
            <a:extLst>
              <a:ext uri="{FF2B5EF4-FFF2-40B4-BE49-F238E27FC236}">
                <a16:creationId xmlns:a16="http://schemas.microsoft.com/office/drawing/2014/main" id="{5EDD17B2-7A06-B780-CC14-12C280BDDC21}"/>
              </a:ext>
            </a:extLst>
          </p:cNvPr>
          <p:cNvSpPr>
            <a:spLocks noChangeArrowheads="1"/>
          </p:cNvSpPr>
          <p:nvPr/>
        </p:nvSpPr>
        <p:spPr bwMode="auto">
          <a:xfrm>
            <a:off x="7806019" y="5049018"/>
            <a:ext cx="450004"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W</a:t>
            </a:r>
          </a:p>
        </p:txBody>
      </p:sp>
      <p:sp>
        <p:nvSpPr>
          <p:cNvPr id="81" name="Rectangle 70">
            <a:extLst>
              <a:ext uri="{FF2B5EF4-FFF2-40B4-BE49-F238E27FC236}">
                <a16:creationId xmlns:a16="http://schemas.microsoft.com/office/drawing/2014/main" id="{51F89A25-521F-9B54-7026-CD65B9FEB9C7}"/>
              </a:ext>
            </a:extLst>
          </p:cNvPr>
          <p:cNvSpPr>
            <a:spLocks noChangeArrowheads="1"/>
          </p:cNvSpPr>
          <p:nvPr/>
        </p:nvSpPr>
        <p:spPr bwMode="auto">
          <a:xfrm>
            <a:off x="6456005" y="5049018"/>
            <a:ext cx="450005" cy="360000"/>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dirty="0"/>
              <a:t>D</a:t>
            </a:r>
          </a:p>
        </p:txBody>
      </p:sp>
      <p:sp>
        <p:nvSpPr>
          <p:cNvPr id="85" name="正方形/長方形 84">
            <a:extLst>
              <a:ext uri="{FF2B5EF4-FFF2-40B4-BE49-F238E27FC236}">
                <a16:creationId xmlns:a16="http://schemas.microsoft.com/office/drawing/2014/main" id="{BC6F6C1B-FE43-C46F-4CD0-EFC24C8B81E4}"/>
              </a:ext>
            </a:extLst>
          </p:cNvPr>
          <p:cNvSpPr/>
          <p:nvPr/>
        </p:nvSpPr>
        <p:spPr>
          <a:xfrm>
            <a:off x="1865954" y="4599013"/>
            <a:ext cx="450005" cy="360004"/>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I1: add x3</a:t>
            </a:r>
            <a:r>
              <a:rPr lang="ja-JP" altLang="en-US" dirty="0">
                <a:solidFill>
                  <a:schemeClr val="tx1">
                    <a:lumMod val="65000"/>
                    <a:lumOff val="35000"/>
                  </a:schemeClr>
                </a:solidFill>
                <a:latin typeface="Consolas" panose="020B0609020204030204" pitchFamily="49" charset="0"/>
              </a:rPr>
              <a:t>←</a:t>
            </a:r>
            <a:r>
              <a:rPr lang="en-US" altLang="ja-JP" dirty="0">
                <a:solidFill>
                  <a:schemeClr val="accent5"/>
                </a:solidFill>
                <a:latin typeface="Consolas" panose="020B0609020204030204" pitchFamily="49" charset="0"/>
              </a:rPr>
              <a:t>x1</a:t>
            </a:r>
            <a:r>
              <a:rPr lang="en-US" altLang="ja-JP" dirty="0">
                <a:solidFill>
                  <a:schemeClr val="tx1">
                    <a:lumMod val="65000"/>
                    <a:lumOff val="35000"/>
                  </a:schemeClr>
                </a:solidFill>
                <a:latin typeface="Consolas" panose="020B0609020204030204" pitchFamily="49" charset="0"/>
              </a:rPr>
              <a:t>+x2</a:t>
            </a:r>
            <a:endParaRPr lang="ja-JP" altLang="en-US" dirty="0">
              <a:solidFill>
                <a:schemeClr val="tx1">
                  <a:lumMod val="65000"/>
                  <a:lumOff val="35000"/>
                </a:schemeClr>
              </a:solidFill>
              <a:latin typeface="Consolas" panose="020B0609020204030204" pitchFamily="49" charset="0"/>
            </a:endParaRPr>
          </a:p>
        </p:txBody>
      </p:sp>
      <p:sp>
        <p:nvSpPr>
          <p:cNvPr id="86" name="正方形/長方形 85">
            <a:extLst>
              <a:ext uri="{FF2B5EF4-FFF2-40B4-BE49-F238E27FC236}">
                <a16:creationId xmlns:a16="http://schemas.microsoft.com/office/drawing/2014/main" id="{32C4086E-7C05-4BA8-8F0F-825BE53F8026}"/>
              </a:ext>
            </a:extLst>
          </p:cNvPr>
          <p:cNvSpPr/>
          <p:nvPr/>
        </p:nvSpPr>
        <p:spPr>
          <a:xfrm>
            <a:off x="1865954" y="5049018"/>
            <a:ext cx="450005" cy="360004"/>
          </a:xfrm>
          <a:prstGeom prst="rect">
            <a:avLst/>
          </a:prstGeom>
        </p:spPr>
        <p:txBody>
          <a:bodyPr wrap="none">
            <a:noAutofit/>
          </a:bodyPr>
          <a:lstStyle/>
          <a:p>
            <a:r>
              <a:rPr lang="en-US" altLang="ja-JP" dirty="0">
                <a:solidFill>
                  <a:schemeClr val="tx1">
                    <a:lumMod val="65000"/>
                    <a:lumOff val="35000"/>
                  </a:schemeClr>
                </a:solidFill>
                <a:latin typeface="Consolas" panose="020B0609020204030204" pitchFamily="49" charset="0"/>
              </a:rPr>
              <a:t>I2: ...</a:t>
            </a:r>
            <a:endParaRPr lang="ja-JP" altLang="en-US" dirty="0">
              <a:solidFill>
                <a:schemeClr val="tx1">
                  <a:lumMod val="65000"/>
                  <a:lumOff val="35000"/>
                </a:schemeClr>
              </a:solidFill>
              <a:latin typeface="Consolas" panose="020B0609020204030204" pitchFamily="49" charset="0"/>
            </a:endParaRPr>
          </a:p>
        </p:txBody>
      </p:sp>
      <p:cxnSp>
        <p:nvCxnSpPr>
          <p:cNvPr id="24" name="直線矢印コネクタ 23">
            <a:extLst>
              <a:ext uri="{FF2B5EF4-FFF2-40B4-BE49-F238E27FC236}">
                <a16:creationId xmlns:a16="http://schemas.microsoft.com/office/drawing/2014/main" id="{466C598D-F62A-217D-F6E1-CC20DCFE2895}"/>
              </a:ext>
            </a:extLst>
          </p:cNvPr>
          <p:cNvCxnSpPr>
            <a:cxnSpLocks/>
          </p:cNvCxnSpPr>
          <p:nvPr/>
        </p:nvCxnSpPr>
        <p:spPr bwMode="auto">
          <a:xfrm>
            <a:off x="6366004" y="4419012"/>
            <a:ext cx="270003" cy="270003"/>
          </a:xfrm>
          <a:prstGeom prst="straightConnector1">
            <a:avLst/>
          </a:prstGeom>
          <a:ln>
            <a:headEnd type="none" w="med" len="med"/>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2923029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スーパスカラの場合も同じ</a:t>
            </a:r>
          </a:p>
        </p:txBody>
      </p:sp>
      <p:grpSp>
        <p:nvGrpSpPr>
          <p:cNvPr id="3" name="グループ化 2">
            <a:extLst>
              <a:ext uri="{FF2B5EF4-FFF2-40B4-BE49-F238E27FC236}">
                <a16:creationId xmlns:a16="http://schemas.microsoft.com/office/drawing/2014/main" id="{73541057-30E3-3884-2716-0A4158893DA2}"/>
              </a:ext>
            </a:extLst>
          </p:cNvPr>
          <p:cNvGrpSpPr/>
          <p:nvPr/>
        </p:nvGrpSpPr>
        <p:grpSpPr>
          <a:xfrm>
            <a:off x="4655986" y="1538979"/>
            <a:ext cx="2250023" cy="180002"/>
            <a:chOff x="971961" y="1088974"/>
            <a:chExt cx="2250023" cy="180002"/>
          </a:xfrm>
        </p:grpSpPr>
        <p:sp>
          <p:nvSpPr>
            <p:cNvPr id="60" name="Rectangle 69">
              <a:extLst>
                <a:ext uri="{FF2B5EF4-FFF2-40B4-BE49-F238E27FC236}">
                  <a16:creationId xmlns:a16="http://schemas.microsoft.com/office/drawing/2014/main" id="{87DC93EA-510F-2CED-3C49-ABA98D0CB62E}"/>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61" name="Rectangle 70">
              <a:extLst>
                <a:ext uri="{FF2B5EF4-FFF2-40B4-BE49-F238E27FC236}">
                  <a16:creationId xmlns:a16="http://schemas.microsoft.com/office/drawing/2014/main" id="{E2A5E54B-BBC7-0B25-B996-770AF7D777C1}"/>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62" name="Rectangle 71">
              <a:extLst>
                <a:ext uri="{FF2B5EF4-FFF2-40B4-BE49-F238E27FC236}">
                  <a16:creationId xmlns:a16="http://schemas.microsoft.com/office/drawing/2014/main" id="{E7243571-9A69-A4F8-37EB-6A83C0C0828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63" name="Rectangle 72">
              <a:extLst>
                <a:ext uri="{FF2B5EF4-FFF2-40B4-BE49-F238E27FC236}">
                  <a16:creationId xmlns:a16="http://schemas.microsoft.com/office/drawing/2014/main" id="{AEA01D9D-197B-B914-C0BA-9B727A10DEA3}"/>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28" name="Rectangle 73">
              <a:extLst>
                <a:ext uri="{FF2B5EF4-FFF2-40B4-BE49-F238E27FC236}">
                  <a16:creationId xmlns:a16="http://schemas.microsoft.com/office/drawing/2014/main" id="{17B20D46-4CEE-67DC-B6CC-20CB76AC10C6}"/>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sp>
        <p:nvSpPr>
          <p:cNvPr id="16" name="Rectangle 69">
            <a:extLst>
              <a:ext uri="{FF2B5EF4-FFF2-40B4-BE49-F238E27FC236}">
                <a16:creationId xmlns:a16="http://schemas.microsoft.com/office/drawing/2014/main" id="{D79287FF-FE5D-4E4E-1CBA-DD0DE39235D9}"/>
              </a:ext>
            </a:extLst>
          </p:cNvPr>
          <p:cNvSpPr>
            <a:spLocks noChangeArrowheads="1"/>
          </p:cNvSpPr>
          <p:nvPr/>
        </p:nvSpPr>
        <p:spPr bwMode="auto">
          <a:xfrm>
            <a:off x="6005999" y="4149008"/>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bb</a:t>
            </a:r>
          </a:p>
        </p:txBody>
      </p:sp>
      <p:grpSp>
        <p:nvGrpSpPr>
          <p:cNvPr id="4" name="グループ化 3">
            <a:extLst>
              <a:ext uri="{FF2B5EF4-FFF2-40B4-BE49-F238E27FC236}">
                <a16:creationId xmlns:a16="http://schemas.microsoft.com/office/drawing/2014/main" id="{05D91D91-7626-4347-C91E-E309B4629A5F}"/>
              </a:ext>
            </a:extLst>
          </p:cNvPr>
          <p:cNvGrpSpPr/>
          <p:nvPr/>
        </p:nvGrpSpPr>
        <p:grpSpPr>
          <a:xfrm>
            <a:off x="4655985" y="1808982"/>
            <a:ext cx="2250023" cy="180002"/>
            <a:chOff x="971961" y="1088974"/>
            <a:chExt cx="2250023" cy="180002"/>
          </a:xfrm>
        </p:grpSpPr>
        <p:sp>
          <p:nvSpPr>
            <p:cNvPr id="5" name="Rectangle 69">
              <a:extLst>
                <a:ext uri="{FF2B5EF4-FFF2-40B4-BE49-F238E27FC236}">
                  <a16:creationId xmlns:a16="http://schemas.microsoft.com/office/drawing/2014/main" id="{C62ED99A-EB23-8F92-C0BD-3596859CDC1B}"/>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7" name="Rectangle 70">
              <a:extLst>
                <a:ext uri="{FF2B5EF4-FFF2-40B4-BE49-F238E27FC236}">
                  <a16:creationId xmlns:a16="http://schemas.microsoft.com/office/drawing/2014/main" id="{BCC94D9B-F394-44E5-35D1-6D73E068E726}"/>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8" name="Rectangle 71">
              <a:extLst>
                <a:ext uri="{FF2B5EF4-FFF2-40B4-BE49-F238E27FC236}">
                  <a16:creationId xmlns:a16="http://schemas.microsoft.com/office/drawing/2014/main" id="{CD410115-FEDD-DCA6-6344-E3332FDB995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20" name="Rectangle 72">
              <a:extLst>
                <a:ext uri="{FF2B5EF4-FFF2-40B4-BE49-F238E27FC236}">
                  <a16:creationId xmlns:a16="http://schemas.microsoft.com/office/drawing/2014/main" id="{427852D4-88E7-09F2-0A3C-E0CB80E54710}"/>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29" name="Rectangle 73">
              <a:extLst>
                <a:ext uri="{FF2B5EF4-FFF2-40B4-BE49-F238E27FC236}">
                  <a16:creationId xmlns:a16="http://schemas.microsoft.com/office/drawing/2014/main" id="{0701B121-B155-C90D-D7F0-79462BECF543}"/>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30" name="グループ化 29">
            <a:extLst>
              <a:ext uri="{FF2B5EF4-FFF2-40B4-BE49-F238E27FC236}">
                <a16:creationId xmlns:a16="http://schemas.microsoft.com/office/drawing/2014/main" id="{9B199E8E-E0AE-46EF-62F6-4F38780DCD31}"/>
              </a:ext>
            </a:extLst>
          </p:cNvPr>
          <p:cNvGrpSpPr/>
          <p:nvPr/>
        </p:nvGrpSpPr>
        <p:grpSpPr>
          <a:xfrm>
            <a:off x="5105990" y="2078985"/>
            <a:ext cx="2250023" cy="180002"/>
            <a:chOff x="971961" y="1088974"/>
            <a:chExt cx="2250023" cy="180002"/>
          </a:xfrm>
        </p:grpSpPr>
        <p:sp>
          <p:nvSpPr>
            <p:cNvPr id="33" name="Rectangle 69">
              <a:extLst>
                <a:ext uri="{FF2B5EF4-FFF2-40B4-BE49-F238E27FC236}">
                  <a16:creationId xmlns:a16="http://schemas.microsoft.com/office/drawing/2014/main" id="{CD8DA6CD-D49C-1ABC-BE78-61E1C886148A}"/>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34" name="Rectangle 70">
              <a:extLst>
                <a:ext uri="{FF2B5EF4-FFF2-40B4-BE49-F238E27FC236}">
                  <a16:creationId xmlns:a16="http://schemas.microsoft.com/office/drawing/2014/main" id="{57C69274-F460-39AF-E99C-F6711213A198}"/>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35" name="Rectangle 71">
              <a:extLst>
                <a:ext uri="{FF2B5EF4-FFF2-40B4-BE49-F238E27FC236}">
                  <a16:creationId xmlns:a16="http://schemas.microsoft.com/office/drawing/2014/main" id="{C60AE377-7243-32DB-DAD1-2AA44789AB19}"/>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37" name="Rectangle 72">
              <a:extLst>
                <a:ext uri="{FF2B5EF4-FFF2-40B4-BE49-F238E27FC236}">
                  <a16:creationId xmlns:a16="http://schemas.microsoft.com/office/drawing/2014/main" id="{787E6361-4341-C372-0682-C2DD1B1D6D3F}"/>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38" name="Rectangle 73">
              <a:extLst>
                <a:ext uri="{FF2B5EF4-FFF2-40B4-BE49-F238E27FC236}">
                  <a16:creationId xmlns:a16="http://schemas.microsoft.com/office/drawing/2014/main" id="{28CF3F4B-DAAD-BB38-861C-0BF4DAAF16C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39" name="グループ化 38">
            <a:extLst>
              <a:ext uri="{FF2B5EF4-FFF2-40B4-BE49-F238E27FC236}">
                <a16:creationId xmlns:a16="http://schemas.microsoft.com/office/drawing/2014/main" id="{ECB5AA74-6638-BAD0-8C17-BB7BE22B8B81}"/>
              </a:ext>
            </a:extLst>
          </p:cNvPr>
          <p:cNvGrpSpPr/>
          <p:nvPr/>
        </p:nvGrpSpPr>
        <p:grpSpPr>
          <a:xfrm>
            <a:off x="5105989" y="2348988"/>
            <a:ext cx="2250023" cy="180002"/>
            <a:chOff x="971961" y="1088974"/>
            <a:chExt cx="2250023" cy="180002"/>
          </a:xfrm>
        </p:grpSpPr>
        <p:sp>
          <p:nvSpPr>
            <p:cNvPr id="40" name="Rectangle 69">
              <a:extLst>
                <a:ext uri="{FF2B5EF4-FFF2-40B4-BE49-F238E27FC236}">
                  <a16:creationId xmlns:a16="http://schemas.microsoft.com/office/drawing/2014/main" id="{D1A7636E-F0D6-CA66-EFFC-AA4FCC19B3A8}"/>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49" name="Rectangle 70">
              <a:extLst>
                <a:ext uri="{FF2B5EF4-FFF2-40B4-BE49-F238E27FC236}">
                  <a16:creationId xmlns:a16="http://schemas.microsoft.com/office/drawing/2014/main" id="{563E07A1-847F-234C-E751-8E8061156CE0}"/>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52" name="Rectangle 71">
              <a:extLst>
                <a:ext uri="{FF2B5EF4-FFF2-40B4-BE49-F238E27FC236}">
                  <a16:creationId xmlns:a16="http://schemas.microsoft.com/office/drawing/2014/main" id="{63A02E3F-3DDC-197F-E187-FCB1440CF1EC}"/>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53" name="Rectangle 72">
              <a:extLst>
                <a:ext uri="{FF2B5EF4-FFF2-40B4-BE49-F238E27FC236}">
                  <a16:creationId xmlns:a16="http://schemas.microsoft.com/office/drawing/2014/main" id="{D85EAA9D-2A17-6E76-EA67-558D009D244F}"/>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54" name="Rectangle 73">
              <a:extLst>
                <a:ext uri="{FF2B5EF4-FFF2-40B4-BE49-F238E27FC236}">
                  <a16:creationId xmlns:a16="http://schemas.microsoft.com/office/drawing/2014/main" id="{14E8BBCE-29FC-9D29-DDE7-FE6A95F3A392}"/>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55" name="グループ化 54">
            <a:extLst>
              <a:ext uri="{FF2B5EF4-FFF2-40B4-BE49-F238E27FC236}">
                <a16:creationId xmlns:a16="http://schemas.microsoft.com/office/drawing/2014/main" id="{4B3CA136-9166-7B13-CDB1-1AE4FED08DF7}"/>
              </a:ext>
            </a:extLst>
          </p:cNvPr>
          <p:cNvGrpSpPr/>
          <p:nvPr/>
        </p:nvGrpSpPr>
        <p:grpSpPr>
          <a:xfrm>
            <a:off x="5555996" y="2618991"/>
            <a:ext cx="2250023" cy="180002"/>
            <a:chOff x="971961" y="1088974"/>
            <a:chExt cx="2250023" cy="180002"/>
          </a:xfrm>
        </p:grpSpPr>
        <p:sp>
          <p:nvSpPr>
            <p:cNvPr id="56" name="Rectangle 69">
              <a:extLst>
                <a:ext uri="{FF2B5EF4-FFF2-40B4-BE49-F238E27FC236}">
                  <a16:creationId xmlns:a16="http://schemas.microsoft.com/office/drawing/2014/main" id="{577F84E4-E190-BF39-5B21-28F8993D7194}"/>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40" name="Rectangle 70">
              <a:extLst>
                <a:ext uri="{FF2B5EF4-FFF2-40B4-BE49-F238E27FC236}">
                  <a16:creationId xmlns:a16="http://schemas.microsoft.com/office/drawing/2014/main" id="{424D0A1A-28ED-4516-E62C-6167C37C7D86}"/>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45" name="Rectangle 71">
              <a:extLst>
                <a:ext uri="{FF2B5EF4-FFF2-40B4-BE49-F238E27FC236}">
                  <a16:creationId xmlns:a16="http://schemas.microsoft.com/office/drawing/2014/main" id="{0A192C1C-6CD6-9421-BD3B-E91CC00359F2}"/>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46" name="Rectangle 72">
              <a:extLst>
                <a:ext uri="{FF2B5EF4-FFF2-40B4-BE49-F238E27FC236}">
                  <a16:creationId xmlns:a16="http://schemas.microsoft.com/office/drawing/2014/main" id="{F1A3CE6F-81CA-7527-2350-1AFE0DCBEA17}"/>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47" name="Rectangle 73">
              <a:extLst>
                <a:ext uri="{FF2B5EF4-FFF2-40B4-BE49-F238E27FC236}">
                  <a16:creationId xmlns:a16="http://schemas.microsoft.com/office/drawing/2014/main" id="{B899C8E1-1D64-2BC7-59EB-A00C3DD5BB8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48" name="グループ化 147">
            <a:extLst>
              <a:ext uri="{FF2B5EF4-FFF2-40B4-BE49-F238E27FC236}">
                <a16:creationId xmlns:a16="http://schemas.microsoft.com/office/drawing/2014/main" id="{D969CDB4-503C-E910-9E3D-BD19C9BEF27D}"/>
              </a:ext>
            </a:extLst>
          </p:cNvPr>
          <p:cNvGrpSpPr/>
          <p:nvPr/>
        </p:nvGrpSpPr>
        <p:grpSpPr>
          <a:xfrm>
            <a:off x="5555995" y="2888994"/>
            <a:ext cx="2250023" cy="180002"/>
            <a:chOff x="971961" y="1088974"/>
            <a:chExt cx="2250023" cy="180002"/>
          </a:xfrm>
        </p:grpSpPr>
        <p:sp>
          <p:nvSpPr>
            <p:cNvPr id="149" name="Rectangle 69">
              <a:extLst>
                <a:ext uri="{FF2B5EF4-FFF2-40B4-BE49-F238E27FC236}">
                  <a16:creationId xmlns:a16="http://schemas.microsoft.com/office/drawing/2014/main" id="{41947F27-3B69-BAB8-B2A3-971F29126479}"/>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50" name="Rectangle 70">
              <a:extLst>
                <a:ext uri="{FF2B5EF4-FFF2-40B4-BE49-F238E27FC236}">
                  <a16:creationId xmlns:a16="http://schemas.microsoft.com/office/drawing/2014/main" id="{9048815F-727B-9858-30FB-D84B843D38DD}"/>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51" name="Rectangle 71">
              <a:extLst>
                <a:ext uri="{FF2B5EF4-FFF2-40B4-BE49-F238E27FC236}">
                  <a16:creationId xmlns:a16="http://schemas.microsoft.com/office/drawing/2014/main" id="{E54088D7-F842-FBF8-5B17-FB2DC541E1B2}"/>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52" name="Rectangle 72">
              <a:extLst>
                <a:ext uri="{FF2B5EF4-FFF2-40B4-BE49-F238E27FC236}">
                  <a16:creationId xmlns:a16="http://schemas.microsoft.com/office/drawing/2014/main" id="{02753A92-0E98-0256-6442-9E7D187BEE14}"/>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53" name="Rectangle 73">
              <a:extLst>
                <a:ext uri="{FF2B5EF4-FFF2-40B4-BE49-F238E27FC236}">
                  <a16:creationId xmlns:a16="http://schemas.microsoft.com/office/drawing/2014/main" id="{17ACD50F-2B79-5736-778F-69438AF18FA9}"/>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54" name="グループ化 153">
            <a:extLst>
              <a:ext uri="{FF2B5EF4-FFF2-40B4-BE49-F238E27FC236}">
                <a16:creationId xmlns:a16="http://schemas.microsoft.com/office/drawing/2014/main" id="{1C4E3723-8AC2-1A8F-2608-07A5446F1DC9}"/>
              </a:ext>
            </a:extLst>
          </p:cNvPr>
          <p:cNvGrpSpPr/>
          <p:nvPr/>
        </p:nvGrpSpPr>
        <p:grpSpPr>
          <a:xfrm>
            <a:off x="4655985" y="3609002"/>
            <a:ext cx="2250023" cy="180002"/>
            <a:chOff x="971961" y="1088974"/>
            <a:chExt cx="2250023" cy="180002"/>
          </a:xfrm>
        </p:grpSpPr>
        <p:sp>
          <p:nvSpPr>
            <p:cNvPr id="155" name="Rectangle 69">
              <a:extLst>
                <a:ext uri="{FF2B5EF4-FFF2-40B4-BE49-F238E27FC236}">
                  <a16:creationId xmlns:a16="http://schemas.microsoft.com/office/drawing/2014/main" id="{3F6DA7F5-DFC4-17ED-2013-1ED2216EBCD5}"/>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56" name="Rectangle 70">
              <a:extLst>
                <a:ext uri="{FF2B5EF4-FFF2-40B4-BE49-F238E27FC236}">
                  <a16:creationId xmlns:a16="http://schemas.microsoft.com/office/drawing/2014/main" id="{356D9158-5F9E-1A16-D966-7DA2AA1BFA55}"/>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57" name="Rectangle 71">
              <a:extLst>
                <a:ext uri="{FF2B5EF4-FFF2-40B4-BE49-F238E27FC236}">
                  <a16:creationId xmlns:a16="http://schemas.microsoft.com/office/drawing/2014/main" id="{286C5DCF-200F-DD94-C5AF-BBCD536112CA}"/>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58" name="Rectangle 72">
              <a:extLst>
                <a:ext uri="{FF2B5EF4-FFF2-40B4-BE49-F238E27FC236}">
                  <a16:creationId xmlns:a16="http://schemas.microsoft.com/office/drawing/2014/main" id="{29F01D96-6FB7-A8B2-BFAA-2B3891941BB9}"/>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59" name="Rectangle 73">
              <a:extLst>
                <a:ext uri="{FF2B5EF4-FFF2-40B4-BE49-F238E27FC236}">
                  <a16:creationId xmlns:a16="http://schemas.microsoft.com/office/drawing/2014/main" id="{0BAC1C71-CEF0-9BBB-1EA4-DF5BD86002CD}"/>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grpSp>
        <p:nvGrpSpPr>
          <p:cNvPr id="160" name="グループ化 159">
            <a:extLst>
              <a:ext uri="{FF2B5EF4-FFF2-40B4-BE49-F238E27FC236}">
                <a16:creationId xmlns:a16="http://schemas.microsoft.com/office/drawing/2014/main" id="{D88B002E-F05A-BB45-726F-34A0EC5F22E4}"/>
              </a:ext>
            </a:extLst>
          </p:cNvPr>
          <p:cNvGrpSpPr/>
          <p:nvPr/>
        </p:nvGrpSpPr>
        <p:grpSpPr>
          <a:xfrm>
            <a:off x="4655984" y="3879005"/>
            <a:ext cx="2250023" cy="180002"/>
            <a:chOff x="971961" y="1088974"/>
            <a:chExt cx="2250023" cy="180002"/>
          </a:xfrm>
        </p:grpSpPr>
        <p:sp>
          <p:nvSpPr>
            <p:cNvPr id="161" name="Rectangle 69">
              <a:extLst>
                <a:ext uri="{FF2B5EF4-FFF2-40B4-BE49-F238E27FC236}">
                  <a16:creationId xmlns:a16="http://schemas.microsoft.com/office/drawing/2014/main" id="{ACC19367-DBE1-42D3-9DA3-4D9467288CAE}"/>
                </a:ext>
              </a:extLst>
            </p:cNvPr>
            <p:cNvSpPr>
              <a:spLocks noChangeArrowheads="1"/>
            </p:cNvSpPr>
            <p:nvPr/>
          </p:nvSpPr>
          <p:spPr bwMode="auto">
            <a:xfrm>
              <a:off x="971961"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62" name="Rectangle 70">
              <a:extLst>
                <a:ext uri="{FF2B5EF4-FFF2-40B4-BE49-F238E27FC236}">
                  <a16:creationId xmlns:a16="http://schemas.microsoft.com/office/drawing/2014/main" id="{6D09F3D8-E07D-2EC5-50D6-0D6C0C8CE38D}"/>
                </a:ext>
              </a:extLst>
            </p:cNvPr>
            <p:cNvSpPr>
              <a:spLocks noChangeArrowheads="1"/>
            </p:cNvSpPr>
            <p:nvPr/>
          </p:nvSpPr>
          <p:spPr bwMode="auto">
            <a:xfrm>
              <a:off x="1421964"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63" name="Rectangle 71">
              <a:extLst>
                <a:ext uri="{FF2B5EF4-FFF2-40B4-BE49-F238E27FC236}">
                  <a16:creationId xmlns:a16="http://schemas.microsoft.com/office/drawing/2014/main" id="{64829B18-15E6-AD1B-9FEF-9828331F8497}"/>
                </a:ext>
              </a:extLst>
            </p:cNvPr>
            <p:cNvSpPr>
              <a:spLocks noChangeArrowheads="1"/>
            </p:cNvSpPr>
            <p:nvPr/>
          </p:nvSpPr>
          <p:spPr bwMode="auto">
            <a:xfrm>
              <a:off x="1871970"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64" name="Rectangle 72">
              <a:extLst>
                <a:ext uri="{FF2B5EF4-FFF2-40B4-BE49-F238E27FC236}">
                  <a16:creationId xmlns:a16="http://schemas.microsoft.com/office/drawing/2014/main" id="{7361A66D-FD45-251B-6088-97C81867AAA0}"/>
                </a:ext>
              </a:extLst>
            </p:cNvPr>
            <p:cNvSpPr>
              <a:spLocks noChangeArrowheads="1"/>
            </p:cNvSpPr>
            <p:nvPr/>
          </p:nvSpPr>
          <p:spPr bwMode="auto">
            <a:xfrm>
              <a:off x="2321975" y="108897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65" name="Rectangle 73">
              <a:extLst>
                <a:ext uri="{FF2B5EF4-FFF2-40B4-BE49-F238E27FC236}">
                  <a16:creationId xmlns:a16="http://schemas.microsoft.com/office/drawing/2014/main" id="{6D6A7F14-05D9-D603-0729-CE4A069637D9}"/>
                </a:ext>
              </a:extLst>
            </p:cNvPr>
            <p:cNvSpPr>
              <a:spLocks noChangeArrowheads="1"/>
            </p:cNvSpPr>
            <p:nvPr/>
          </p:nvSpPr>
          <p:spPr bwMode="auto">
            <a:xfrm>
              <a:off x="2771980" y="108897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grpSp>
      <p:sp>
        <p:nvSpPr>
          <p:cNvPr id="202" name="正方形/長方形 201">
            <a:extLst>
              <a:ext uri="{FF2B5EF4-FFF2-40B4-BE49-F238E27FC236}">
                <a16:creationId xmlns:a16="http://schemas.microsoft.com/office/drawing/2014/main" id="{8A92B3E9-727B-9CF9-49AC-5B67A59294C9}"/>
              </a:ext>
            </a:extLst>
          </p:cNvPr>
          <p:cNvSpPr/>
          <p:nvPr/>
        </p:nvSpPr>
        <p:spPr>
          <a:xfrm>
            <a:off x="4115979" y="1448979"/>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I0</a:t>
            </a:r>
            <a:endParaRPr lang="ja-JP" altLang="en-US" sz="1400" dirty="0">
              <a:solidFill>
                <a:schemeClr val="tx1">
                  <a:lumMod val="65000"/>
                  <a:lumOff val="35000"/>
                </a:schemeClr>
              </a:solidFill>
              <a:latin typeface="Consolas" panose="020B0609020204030204" pitchFamily="49" charset="0"/>
            </a:endParaRPr>
          </a:p>
        </p:txBody>
      </p:sp>
      <p:sp>
        <p:nvSpPr>
          <p:cNvPr id="203" name="正方形/長方形 202">
            <a:extLst>
              <a:ext uri="{FF2B5EF4-FFF2-40B4-BE49-F238E27FC236}">
                <a16:creationId xmlns:a16="http://schemas.microsoft.com/office/drawing/2014/main" id="{4E3AC2DE-A188-F618-5832-137BB805C1EA}"/>
              </a:ext>
            </a:extLst>
          </p:cNvPr>
          <p:cNvSpPr/>
          <p:nvPr/>
        </p:nvSpPr>
        <p:spPr>
          <a:xfrm>
            <a:off x="4115979" y="1718982"/>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I1</a:t>
            </a:r>
            <a:endParaRPr lang="ja-JP" altLang="en-US" sz="1400" dirty="0">
              <a:solidFill>
                <a:schemeClr val="tx1">
                  <a:lumMod val="65000"/>
                  <a:lumOff val="35000"/>
                </a:schemeClr>
              </a:solidFill>
              <a:latin typeface="Consolas" panose="020B0609020204030204" pitchFamily="49" charset="0"/>
            </a:endParaRPr>
          </a:p>
        </p:txBody>
      </p:sp>
      <p:sp>
        <p:nvSpPr>
          <p:cNvPr id="204" name="正方形/長方形 203">
            <a:extLst>
              <a:ext uri="{FF2B5EF4-FFF2-40B4-BE49-F238E27FC236}">
                <a16:creationId xmlns:a16="http://schemas.microsoft.com/office/drawing/2014/main" id="{AFA7AF7D-130C-7543-787D-94B51C301B1A}"/>
              </a:ext>
            </a:extLst>
          </p:cNvPr>
          <p:cNvSpPr/>
          <p:nvPr/>
        </p:nvSpPr>
        <p:spPr>
          <a:xfrm>
            <a:off x="4115979" y="1988985"/>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I2</a:t>
            </a:r>
            <a:endParaRPr lang="ja-JP" altLang="en-US" sz="1400" dirty="0">
              <a:solidFill>
                <a:schemeClr val="tx1">
                  <a:lumMod val="65000"/>
                  <a:lumOff val="35000"/>
                </a:schemeClr>
              </a:solidFill>
              <a:latin typeface="Consolas" panose="020B0609020204030204" pitchFamily="49" charset="0"/>
            </a:endParaRPr>
          </a:p>
        </p:txBody>
      </p:sp>
      <p:sp>
        <p:nvSpPr>
          <p:cNvPr id="205" name="正方形/長方形 204">
            <a:extLst>
              <a:ext uri="{FF2B5EF4-FFF2-40B4-BE49-F238E27FC236}">
                <a16:creationId xmlns:a16="http://schemas.microsoft.com/office/drawing/2014/main" id="{BEFA14A6-65F9-0953-DDE8-E9C260EB6749}"/>
              </a:ext>
            </a:extLst>
          </p:cNvPr>
          <p:cNvSpPr/>
          <p:nvPr/>
        </p:nvSpPr>
        <p:spPr>
          <a:xfrm>
            <a:off x="4115979" y="2258988"/>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I3</a:t>
            </a:r>
            <a:endParaRPr lang="ja-JP" altLang="en-US" sz="1400" dirty="0">
              <a:solidFill>
                <a:schemeClr val="tx1">
                  <a:lumMod val="65000"/>
                  <a:lumOff val="35000"/>
                </a:schemeClr>
              </a:solidFill>
              <a:latin typeface="Consolas" panose="020B0609020204030204" pitchFamily="49" charset="0"/>
            </a:endParaRPr>
          </a:p>
        </p:txBody>
      </p:sp>
      <p:sp>
        <p:nvSpPr>
          <p:cNvPr id="206" name="正方形/長方形 205">
            <a:extLst>
              <a:ext uri="{FF2B5EF4-FFF2-40B4-BE49-F238E27FC236}">
                <a16:creationId xmlns:a16="http://schemas.microsoft.com/office/drawing/2014/main" id="{F7CDA43B-6DAE-D1F7-56B6-414B83F37AA3}"/>
              </a:ext>
            </a:extLst>
          </p:cNvPr>
          <p:cNvSpPr/>
          <p:nvPr/>
        </p:nvSpPr>
        <p:spPr>
          <a:xfrm>
            <a:off x="4115979" y="2528991"/>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I4</a:t>
            </a:r>
            <a:endParaRPr lang="ja-JP" altLang="en-US" sz="1400" dirty="0">
              <a:solidFill>
                <a:schemeClr val="tx1">
                  <a:lumMod val="65000"/>
                  <a:lumOff val="35000"/>
                </a:schemeClr>
              </a:solidFill>
              <a:latin typeface="Consolas" panose="020B0609020204030204" pitchFamily="49" charset="0"/>
            </a:endParaRPr>
          </a:p>
        </p:txBody>
      </p:sp>
      <p:sp>
        <p:nvSpPr>
          <p:cNvPr id="207" name="正方形/長方形 206">
            <a:extLst>
              <a:ext uri="{FF2B5EF4-FFF2-40B4-BE49-F238E27FC236}">
                <a16:creationId xmlns:a16="http://schemas.microsoft.com/office/drawing/2014/main" id="{A42192FF-2DBE-2778-773E-7CE671B5A7F2}"/>
              </a:ext>
            </a:extLst>
          </p:cNvPr>
          <p:cNvSpPr/>
          <p:nvPr/>
        </p:nvSpPr>
        <p:spPr>
          <a:xfrm>
            <a:off x="4115979" y="2798994"/>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I5</a:t>
            </a:r>
            <a:endParaRPr lang="ja-JP" altLang="en-US" sz="1400" dirty="0">
              <a:solidFill>
                <a:schemeClr val="tx1">
                  <a:lumMod val="65000"/>
                  <a:lumOff val="35000"/>
                </a:schemeClr>
              </a:solidFill>
              <a:latin typeface="Consolas" panose="020B0609020204030204" pitchFamily="49" charset="0"/>
            </a:endParaRPr>
          </a:p>
        </p:txBody>
      </p:sp>
      <p:sp>
        <p:nvSpPr>
          <p:cNvPr id="208" name="正方形/長方形 207">
            <a:extLst>
              <a:ext uri="{FF2B5EF4-FFF2-40B4-BE49-F238E27FC236}">
                <a16:creationId xmlns:a16="http://schemas.microsoft.com/office/drawing/2014/main" id="{6B0AABDA-871B-1BEE-71B8-8BC3CB984E7F}"/>
              </a:ext>
            </a:extLst>
          </p:cNvPr>
          <p:cNvSpPr/>
          <p:nvPr/>
        </p:nvSpPr>
        <p:spPr>
          <a:xfrm>
            <a:off x="4115979" y="3519002"/>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I0</a:t>
            </a:r>
            <a:endParaRPr lang="ja-JP" altLang="en-US" sz="1400" dirty="0">
              <a:solidFill>
                <a:schemeClr val="tx1">
                  <a:lumMod val="65000"/>
                  <a:lumOff val="35000"/>
                </a:schemeClr>
              </a:solidFill>
              <a:latin typeface="Consolas" panose="020B0609020204030204" pitchFamily="49" charset="0"/>
            </a:endParaRPr>
          </a:p>
        </p:txBody>
      </p:sp>
      <p:sp>
        <p:nvSpPr>
          <p:cNvPr id="209" name="正方形/長方形 208">
            <a:extLst>
              <a:ext uri="{FF2B5EF4-FFF2-40B4-BE49-F238E27FC236}">
                <a16:creationId xmlns:a16="http://schemas.microsoft.com/office/drawing/2014/main" id="{64BE4FBF-08E1-7DC3-4974-1C2DF1744B3B}"/>
              </a:ext>
            </a:extLst>
          </p:cNvPr>
          <p:cNvSpPr/>
          <p:nvPr/>
        </p:nvSpPr>
        <p:spPr>
          <a:xfrm>
            <a:off x="4115979" y="3789005"/>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I1</a:t>
            </a:r>
            <a:endParaRPr lang="ja-JP" altLang="en-US" sz="1400" dirty="0">
              <a:solidFill>
                <a:schemeClr val="tx1">
                  <a:lumMod val="65000"/>
                  <a:lumOff val="35000"/>
                </a:schemeClr>
              </a:solidFill>
              <a:latin typeface="Consolas" panose="020B0609020204030204" pitchFamily="49" charset="0"/>
            </a:endParaRPr>
          </a:p>
        </p:txBody>
      </p:sp>
      <p:sp>
        <p:nvSpPr>
          <p:cNvPr id="210" name="正方形/長方形 209">
            <a:extLst>
              <a:ext uri="{FF2B5EF4-FFF2-40B4-BE49-F238E27FC236}">
                <a16:creationId xmlns:a16="http://schemas.microsoft.com/office/drawing/2014/main" id="{E07A42F9-1CDE-08B0-D8AC-0A4FAC5A2230}"/>
              </a:ext>
            </a:extLst>
          </p:cNvPr>
          <p:cNvSpPr/>
          <p:nvPr/>
        </p:nvSpPr>
        <p:spPr>
          <a:xfrm>
            <a:off x="4115979" y="4059008"/>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I2</a:t>
            </a:r>
            <a:endParaRPr lang="ja-JP" altLang="en-US" sz="1400" dirty="0">
              <a:solidFill>
                <a:schemeClr val="tx1">
                  <a:lumMod val="65000"/>
                  <a:lumOff val="35000"/>
                </a:schemeClr>
              </a:solidFill>
              <a:latin typeface="Consolas" panose="020B0609020204030204" pitchFamily="49" charset="0"/>
            </a:endParaRPr>
          </a:p>
        </p:txBody>
      </p:sp>
      <p:sp>
        <p:nvSpPr>
          <p:cNvPr id="211" name="正方形/長方形 210">
            <a:extLst>
              <a:ext uri="{FF2B5EF4-FFF2-40B4-BE49-F238E27FC236}">
                <a16:creationId xmlns:a16="http://schemas.microsoft.com/office/drawing/2014/main" id="{AF8D2CD2-2885-3972-12B6-2A08FD050F1E}"/>
              </a:ext>
            </a:extLst>
          </p:cNvPr>
          <p:cNvSpPr/>
          <p:nvPr/>
        </p:nvSpPr>
        <p:spPr>
          <a:xfrm>
            <a:off x="4115979" y="4329011"/>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I3</a:t>
            </a:r>
            <a:endParaRPr lang="ja-JP" altLang="en-US" sz="1400" dirty="0">
              <a:solidFill>
                <a:schemeClr val="tx1">
                  <a:lumMod val="65000"/>
                  <a:lumOff val="35000"/>
                </a:schemeClr>
              </a:solidFill>
              <a:latin typeface="Consolas" panose="020B0609020204030204" pitchFamily="49" charset="0"/>
            </a:endParaRPr>
          </a:p>
        </p:txBody>
      </p:sp>
      <p:sp>
        <p:nvSpPr>
          <p:cNvPr id="212" name="正方形/長方形 211">
            <a:extLst>
              <a:ext uri="{FF2B5EF4-FFF2-40B4-BE49-F238E27FC236}">
                <a16:creationId xmlns:a16="http://schemas.microsoft.com/office/drawing/2014/main" id="{95994507-86FE-26CE-A37D-2BFB81A2BA21}"/>
              </a:ext>
            </a:extLst>
          </p:cNvPr>
          <p:cNvSpPr/>
          <p:nvPr/>
        </p:nvSpPr>
        <p:spPr>
          <a:xfrm>
            <a:off x="4115979" y="4599014"/>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I4</a:t>
            </a:r>
            <a:endParaRPr lang="ja-JP" altLang="en-US" sz="1400" dirty="0">
              <a:solidFill>
                <a:schemeClr val="tx1">
                  <a:lumMod val="65000"/>
                  <a:lumOff val="35000"/>
                </a:schemeClr>
              </a:solidFill>
              <a:latin typeface="Consolas" panose="020B0609020204030204" pitchFamily="49" charset="0"/>
            </a:endParaRPr>
          </a:p>
        </p:txBody>
      </p:sp>
      <p:sp>
        <p:nvSpPr>
          <p:cNvPr id="213" name="正方形/長方形 212">
            <a:extLst>
              <a:ext uri="{FF2B5EF4-FFF2-40B4-BE49-F238E27FC236}">
                <a16:creationId xmlns:a16="http://schemas.microsoft.com/office/drawing/2014/main" id="{217EEC53-076D-5C2C-D16B-DBE6C3229703}"/>
              </a:ext>
            </a:extLst>
          </p:cNvPr>
          <p:cNvSpPr/>
          <p:nvPr/>
        </p:nvSpPr>
        <p:spPr>
          <a:xfrm>
            <a:off x="4115979" y="4869017"/>
            <a:ext cx="450005" cy="307777"/>
          </a:xfrm>
          <a:prstGeom prst="rect">
            <a:avLst/>
          </a:prstGeom>
        </p:spPr>
        <p:txBody>
          <a:bodyPr wrap="square">
            <a:spAutoFit/>
          </a:bodyPr>
          <a:lstStyle/>
          <a:p>
            <a:pPr algn="ctr"/>
            <a:r>
              <a:rPr lang="en-US" altLang="ja-JP" sz="1400" dirty="0">
                <a:solidFill>
                  <a:schemeClr val="tx1">
                    <a:lumMod val="65000"/>
                    <a:lumOff val="35000"/>
                  </a:schemeClr>
                </a:solidFill>
                <a:latin typeface="Consolas" panose="020B0609020204030204" pitchFamily="49" charset="0"/>
              </a:rPr>
              <a:t>I5</a:t>
            </a:r>
            <a:endParaRPr lang="ja-JP" altLang="en-US" sz="1400" dirty="0">
              <a:solidFill>
                <a:schemeClr val="tx1">
                  <a:lumMod val="65000"/>
                  <a:lumOff val="35000"/>
                </a:schemeClr>
              </a:solidFill>
              <a:latin typeface="Consolas" panose="020B0609020204030204" pitchFamily="49" charset="0"/>
            </a:endParaRPr>
          </a:p>
        </p:txBody>
      </p:sp>
      <p:sp>
        <p:nvSpPr>
          <p:cNvPr id="9" name="Rectangle 69">
            <a:extLst>
              <a:ext uri="{FF2B5EF4-FFF2-40B4-BE49-F238E27FC236}">
                <a16:creationId xmlns:a16="http://schemas.microsoft.com/office/drawing/2014/main" id="{AE060D6C-A745-1AAA-3158-A76DD48A5483}"/>
              </a:ext>
            </a:extLst>
          </p:cNvPr>
          <p:cNvSpPr>
            <a:spLocks noChangeArrowheads="1"/>
          </p:cNvSpPr>
          <p:nvPr/>
        </p:nvSpPr>
        <p:spPr bwMode="auto">
          <a:xfrm>
            <a:off x="5105989" y="4149008"/>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10" name="Rectangle 70">
            <a:extLst>
              <a:ext uri="{FF2B5EF4-FFF2-40B4-BE49-F238E27FC236}">
                <a16:creationId xmlns:a16="http://schemas.microsoft.com/office/drawing/2014/main" id="{C46E4B64-79CE-BAE6-C2D8-524AA567D7F5}"/>
              </a:ext>
            </a:extLst>
          </p:cNvPr>
          <p:cNvSpPr>
            <a:spLocks noChangeArrowheads="1"/>
          </p:cNvSpPr>
          <p:nvPr/>
        </p:nvSpPr>
        <p:spPr bwMode="auto">
          <a:xfrm>
            <a:off x="5555993" y="4149008"/>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11" name="Rectangle 71">
            <a:extLst>
              <a:ext uri="{FF2B5EF4-FFF2-40B4-BE49-F238E27FC236}">
                <a16:creationId xmlns:a16="http://schemas.microsoft.com/office/drawing/2014/main" id="{5397F58D-9589-A201-900B-CCA576863646}"/>
              </a:ext>
            </a:extLst>
          </p:cNvPr>
          <p:cNvSpPr>
            <a:spLocks noChangeArrowheads="1"/>
          </p:cNvSpPr>
          <p:nvPr/>
        </p:nvSpPr>
        <p:spPr bwMode="auto">
          <a:xfrm>
            <a:off x="6456005" y="4149008"/>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12" name="Rectangle 72">
            <a:extLst>
              <a:ext uri="{FF2B5EF4-FFF2-40B4-BE49-F238E27FC236}">
                <a16:creationId xmlns:a16="http://schemas.microsoft.com/office/drawing/2014/main" id="{5BAC2181-C745-DC46-D95A-3EA92D2678C4}"/>
              </a:ext>
            </a:extLst>
          </p:cNvPr>
          <p:cNvSpPr>
            <a:spLocks noChangeArrowheads="1"/>
          </p:cNvSpPr>
          <p:nvPr/>
        </p:nvSpPr>
        <p:spPr bwMode="auto">
          <a:xfrm>
            <a:off x="6906010" y="4149008"/>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3" name="Rectangle 73">
            <a:extLst>
              <a:ext uri="{FF2B5EF4-FFF2-40B4-BE49-F238E27FC236}">
                <a16:creationId xmlns:a16="http://schemas.microsoft.com/office/drawing/2014/main" id="{B614E49F-19CD-8D0A-D4B2-4F7A43F70C30}"/>
              </a:ext>
            </a:extLst>
          </p:cNvPr>
          <p:cNvSpPr>
            <a:spLocks noChangeArrowheads="1"/>
          </p:cNvSpPr>
          <p:nvPr/>
        </p:nvSpPr>
        <p:spPr bwMode="auto">
          <a:xfrm>
            <a:off x="7356014" y="4149008"/>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sp>
        <p:nvSpPr>
          <p:cNvPr id="14" name="Rectangle 69">
            <a:extLst>
              <a:ext uri="{FF2B5EF4-FFF2-40B4-BE49-F238E27FC236}">
                <a16:creationId xmlns:a16="http://schemas.microsoft.com/office/drawing/2014/main" id="{8AA53BF3-779C-7DAE-8BE8-B9216258A714}"/>
              </a:ext>
            </a:extLst>
          </p:cNvPr>
          <p:cNvSpPr>
            <a:spLocks noChangeArrowheads="1"/>
          </p:cNvSpPr>
          <p:nvPr/>
        </p:nvSpPr>
        <p:spPr bwMode="auto">
          <a:xfrm>
            <a:off x="6005999" y="4419011"/>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bb</a:t>
            </a:r>
          </a:p>
        </p:txBody>
      </p:sp>
      <p:sp>
        <p:nvSpPr>
          <p:cNvPr id="15" name="Rectangle 69">
            <a:extLst>
              <a:ext uri="{FF2B5EF4-FFF2-40B4-BE49-F238E27FC236}">
                <a16:creationId xmlns:a16="http://schemas.microsoft.com/office/drawing/2014/main" id="{18D00300-C464-FDDC-3B6A-59246869D112}"/>
              </a:ext>
            </a:extLst>
          </p:cNvPr>
          <p:cNvSpPr>
            <a:spLocks noChangeArrowheads="1"/>
          </p:cNvSpPr>
          <p:nvPr/>
        </p:nvSpPr>
        <p:spPr bwMode="auto">
          <a:xfrm>
            <a:off x="5105989" y="4419011"/>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21" name="Rectangle 70">
            <a:extLst>
              <a:ext uri="{FF2B5EF4-FFF2-40B4-BE49-F238E27FC236}">
                <a16:creationId xmlns:a16="http://schemas.microsoft.com/office/drawing/2014/main" id="{1639A189-C392-4D0E-10E0-B1F9B475E8CC}"/>
              </a:ext>
            </a:extLst>
          </p:cNvPr>
          <p:cNvSpPr>
            <a:spLocks noChangeArrowheads="1"/>
          </p:cNvSpPr>
          <p:nvPr/>
        </p:nvSpPr>
        <p:spPr bwMode="auto">
          <a:xfrm>
            <a:off x="5555993" y="4419011"/>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22" name="Rectangle 71">
            <a:extLst>
              <a:ext uri="{FF2B5EF4-FFF2-40B4-BE49-F238E27FC236}">
                <a16:creationId xmlns:a16="http://schemas.microsoft.com/office/drawing/2014/main" id="{51F95A23-ECA7-65EE-F8A2-EF175310530E}"/>
              </a:ext>
            </a:extLst>
          </p:cNvPr>
          <p:cNvSpPr>
            <a:spLocks noChangeArrowheads="1"/>
          </p:cNvSpPr>
          <p:nvPr/>
        </p:nvSpPr>
        <p:spPr bwMode="auto">
          <a:xfrm>
            <a:off x="6456005" y="4419011"/>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23" name="Rectangle 72">
            <a:extLst>
              <a:ext uri="{FF2B5EF4-FFF2-40B4-BE49-F238E27FC236}">
                <a16:creationId xmlns:a16="http://schemas.microsoft.com/office/drawing/2014/main" id="{9B10E8E9-99D1-80E6-3427-5FBD08A462C4}"/>
              </a:ext>
            </a:extLst>
          </p:cNvPr>
          <p:cNvSpPr>
            <a:spLocks noChangeArrowheads="1"/>
          </p:cNvSpPr>
          <p:nvPr/>
        </p:nvSpPr>
        <p:spPr bwMode="auto">
          <a:xfrm>
            <a:off x="6906010" y="4419011"/>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24" name="Rectangle 73">
            <a:extLst>
              <a:ext uri="{FF2B5EF4-FFF2-40B4-BE49-F238E27FC236}">
                <a16:creationId xmlns:a16="http://schemas.microsoft.com/office/drawing/2014/main" id="{5C8B753D-C001-FB28-40F2-A9CB534EAE85}"/>
              </a:ext>
            </a:extLst>
          </p:cNvPr>
          <p:cNvSpPr>
            <a:spLocks noChangeArrowheads="1"/>
          </p:cNvSpPr>
          <p:nvPr/>
        </p:nvSpPr>
        <p:spPr bwMode="auto">
          <a:xfrm>
            <a:off x="7356014" y="4419011"/>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sp>
        <p:nvSpPr>
          <p:cNvPr id="25" name="Rectangle 69">
            <a:extLst>
              <a:ext uri="{FF2B5EF4-FFF2-40B4-BE49-F238E27FC236}">
                <a16:creationId xmlns:a16="http://schemas.microsoft.com/office/drawing/2014/main" id="{E6D0B51F-ECE3-89C3-B8AB-C9C1A738E523}"/>
              </a:ext>
            </a:extLst>
          </p:cNvPr>
          <p:cNvSpPr>
            <a:spLocks noChangeArrowheads="1"/>
          </p:cNvSpPr>
          <p:nvPr/>
        </p:nvSpPr>
        <p:spPr bwMode="auto">
          <a:xfrm>
            <a:off x="6005999" y="4689014"/>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bb</a:t>
            </a:r>
          </a:p>
        </p:txBody>
      </p:sp>
      <p:sp>
        <p:nvSpPr>
          <p:cNvPr id="41" name="Rectangle 69">
            <a:extLst>
              <a:ext uri="{FF2B5EF4-FFF2-40B4-BE49-F238E27FC236}">
                <a16:creationId xmlns:a16="http://schemas.microsoft.com/office/drawing/2014/main" id="{0252B0BF-16C6-B7AB-A445-2E7F4912A6BC}"/>
              </a:ext>
            </a:extLst>
          </p:cNvPr>
          <p:cNvSpPr>
            <a:spLocks noChangeArrowheads="1"/>
          </p:cNvSpPr>
          <p:nvPr/>
        </p:nvSpPr>
        <p:spPr bwMode="auto">
          <a:xfrm>
            <a:off x="5555994" y="468901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42" name="Rectangle 70">
            <a:extLst>
              <a:ext uri="{FF2B5EF4-FFF2-40B4-BE49-F238E27FC236}">
                <a16:creationId xmlns:a16="http://schemas.microsoft.com/office/drawing/2014/main" id="{A5CD2E37-9240-B945-601C-0271821255D2}"/>
              </a:ext>
            </a:extLst>
          </p:cNvPr>
          <p:cNvSpPr>
            <a:spLocks noChangeArrowheads="1"/>
          </p:cNvSpPr>
          <p:nvPr/>
        </p:nvSpPr>
        <p:spPr bwMode="auto">
          <a:xfrm>
            <a:off x="6456005" y="468901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43" name="Rectangle 71">
            <a:extLst>
              <a:ext uri="{FF2B5EF4-FFF2-40B4-BE49-F238E27FC236}">
                <a16:creationId xmlns:a16="http://schemas.microsoft.com/office/drawing/2014/main" id="{8299E7F3-C792-D639-9E90-7E860974C3BB}"/>
              </a:ext>
            </a:extLst>
          </p:cNvPr>
          <p:cNvSpPr>
            <a:spLocks noChangeArrowheads="1"/>
          </p:cNvSpPr>
          <p:nvPr/>
        </p:nvSpPr>
        <p:spPr bwMode="auto">
          <a:xfrm>
            <a:off x="6906010" y="468901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44" name="Rectangle 72">
            <a:extLst>
              <a:ext uri="{FF2B5EF4-FFF2-40B4-BE49-F238E27FC236}">
                <a16:creationId xmlns:a16="http://schemas.microsoft.com/office/drawing/2014/main" id="{89B2D5C8-A1F0-5829-4F19-039BF4081380}"/>
              </a:ext>
            </a:extLst>
          </p:cNvPr>
          <p:cNvSpPr>
            <a:spLocks noChangeArrowheads="1"/>
          </p:cNvSpPr>
          <p:nvPr/>
        </p:nvSpPr>
        <p:spPr bwMode="auto">
          <a:xfrm>
            <a:off x="7356015" y="4689014"/>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45" name="Rectangle 73">
            <a:extLst>
              <a:ext uri="{FF2B5EF4-FFF2-40B4-BE49-F238E27FC236}">
                <a16:creationId xmlns:a16="http://schemas.microsoft.com/office/drawing/2014/main" id="{9FFF2ECD-3E00-7737-D3DA-8057CB76AC36}"/>
              </a:ext>
            </a:extLst>
          </p:cNvPr>
          <p:cNvSpPr>
            <a:spLocks noChangeArrowheads="1"/>
          </p:cNvSpPr>
          <p:nvPr/>
        </p:nvSpPr>
        <p:spPr bwMode="auto">
          <a:xfrm>
            <a:off x="7806019" y="4689014"/>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sp>
        <p:nvSpPr>
          <p:cNvPr id="46" name="Rectangle 69">
            <a:extLst>
              <a:ext uri="{FF2B5EF4-FFF2-40B4-BE49-F238E27FC236}">
                <a16:creationId xmlns:a16="http://schemas.microsoft.com/office/drawing/2014/main" id="{8A9083BF-9517-BB7E-20C8-6FE03691F3F6}"/>
              </a:ext>
            </a:extLst>
          </p:cNvPr>
          <p:cNvSpPr>
            <a:spLocks noChangeArrowheads="1"/>
          </p:cNvSpPr>
          <p:nvPr/>
        </p:nvSpPr>
        <p:spPr bwMode="auto">
          <a:xfrm>
            <a:off x="6005999" y="4959017"/>
            <a:ext cx="450004" cy="180002"/>
          </a:xfrm>
          <a:prstGeom prst="rect">
            <a:avLst/>
          </a:prstGeom>
          <a:ln>
            <a:headEnd/>
            <a:tailEnd type="none" w="med" len="lg"/>
          </a:ln>
          <a:effectLst/>
        </p:spPr>
        <p:style>
          <a:lnRef idx="1">
            <a:schemeClr val="dk1"/>
          </a:lnRef>
          <a:fillRef idx="2">
            <a:schemeClr val="dk1"/>
          </a:fillRef>
          <a:effectRef idx="1">
            <a:schemeClr val="dk1"/>
          </a:effectRef>
          <a:fontRef idx="minor">
            <a:schemeClr val="dk1"/>
          </a:fontRef>
        </p:style>
        <p:txBody>
          <a:bodyPr wrap="none" lIns="93600" tIns="46800" rIns="93600" bIns="46800" anchor="ctr"/>
          <a:lstStyle/>
          <a:p>
            <a:pPr algn="ctr"/>
            <a:r>
              <a:rPr lang="en-US" altLang="ja-JP" sz="1400" dirty="0"/>
              <a:t>bb</a:t>
            </a:r>
          </a:p>
        </p:txBody>
      </p:sp>
      <p:sp>
        <p:nvSpPr>
          <p:cNvPr id="47" name="Rectangle 69">
            <a:extLst>
              <a:ext uri="{FF2B5EF4-FFF2-40B4-BE49-F238E27FC236}">
                <a16:creationId xmlns:a16="http://schemas.microsoft.com/office/drawing/2014/main" id="{71C4CE7F-E27C-9EBC-9CF7-FDA2C573F85F}"/>
              </a:ext>
            </a:extLst>
          </p:cNvPr>
          <p:cNvSpPr>
            <a:spLocks noChangeArrowheads="1"/>
          </p:cNvSpPr>
          <p:nvPr/>
        </p:nvSpPr>
        <p:spPr bwMode="auto">
          <a:xfrm>
            <a:off x="5555994" y="4959017"/>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F</a:t>
            </a:r>
          </a:p>
        </p:txBody>
      </p:sp>
      <p:sp>
        <p:nvSpPr>
          <p:cNvPr id="57" name="Rectangle 70">
            <a:extLst>
              <a:ext uri="{FF2B5EF4-FFF2-40B4-BE49-F238E27FC236}">
                <a16:creationId xmlns:a16="http://schemas.microsoft.com/office/drawing/2014/main" id="{4300C42B-5267-AF60-2FF9-72D40FDE5D69}"/>
              </a:ext>
            </a:extLst>
          </p:cNvPr>
          <p:cNvSpPr>
            <a:spLocks noChangeArrowheads="1"/>
          </p:cNvSpPr>
          <p:nvPr/>
        </p:nvSpPr>
        <p:spPr bwMode="auto">
          <a:xfrm>
            <a:off x="6456005" y="4959017"/>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D</a:t>
            </a:r>
          </a:p>
        </p:txBody>
      </p:sp>
      <p:sp>
        <p:nvSpPr>
          <p:cNvPr id="58" name="Rectangle 71">
            <a:extLst>
              <a:ext uri="{FF2B5EF4-FFF2-40B4-BE49-F238E27FC236}">
                <a16:creationId xmlns:a16="http://schemas.microsoft.com/office/drawing/2014/main" id="{8043CE17-8523-C708-713F-29FFE1F53431}"/>
              </a:ext>
            </a:extLst>
          </p:cNvPr>
          <p:cNvSpPr>
            <a:spLocks noChangeArrowheads="1"/>
          </p:cNvSpPr>
          <p:nvPr/>
        </p:nvSpPr>
        <p:spPr bwMode="auto">
          <a:xfrm>
            <a:off x="6906010" y="4959017"/>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X</a:t>
            </a:r>
          </a:p>
        </p:txBody>
      </p:sp>
      <p:sp>
        <p:nvSpPr>
          <p:cNvPr id="59" name="Rectangle 72">
            <a:extLst>
              <a:ext uri="{FF2B5EF4-FFF2-40B4-BE49-F238E27FC236}">
                <a16:creationId xmlns:a16="http://schemas.microsoft.com/office/drawing/2014/main" id="{E870A178-61E7-D972-FCD8-C1151CF01914}"/>
              </a:ext>
            </a:extLst>
          </p:cNvPr>
          <p:cNvSpPr>
            <a:spLocks noChangeArrowheads="1"/>
          </p:cNvSpPr>
          <p:nvPr/>
        </p:nvSpPr>
        <p:spPr bwMode="auto">
          <a:xfrm>
            <a:off x="7356015" y="4959017"/>
            <a:ext cx="450005"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M</a:t>
            </a:r>
          </a:p>
        </p:txBody>
      </p:sp>
      <p:sp>
        <p:nvSpPr>
          <p:cNvPr id="130" name="Rectangle 73">
            <a:extLst>
              <a:ext uri="{FF2B5EF4-FFF2-40B4-BE49-F238E27FC236}">
                <a16:creationId xmlns:a16="http://schemas.microsoft.com/office/drawing/2014/main" id="{3AB8F81D-9405-B54E-B464-2ED8EB19D850}"/>
              </a:ext>
            </a:extLst>
          </p:cNvPr>
          <p:cNvSpPr>
            <a:spLocks noChangeArrowheads="1"/>
          </p:cNvSpPr>
          <p:nvPr/>
        </p:nvSpPr>
        <p:spPr bwMode="auto">
          <a:xfrm>
            <a:off x="7806019" y="4959017"/>
            <a:ext cx="450004" cy="180002"/>
          </a:xfrm>
          <a:prstGeom prst="rect">
            <a:avLst/>
          </a:prstGeom>
          <a:ln>
            <a:headEnd/>
            <a:tailEnd type="none" w="med" len="lg"/>
          </a:ln>
          <a:effectLst/>
        </p:spPr>
        <p:style>
          <a:lnRef idx="1">
            <a:schemeClr val="accent5"/>
          </a:lnRef>
          <a:fillRef idx="2">
            <a:schemeClr val="accent5"/>
          </a:fillRef>
          <a:effectRef idx="1">
            <a:schemeClr val="accent5"/>
          </a:effectRef>
          <a:fontRef idx="minor">
            <a:schemeClr val="dk1"/>
          </a:fontRef>
        </p:style>
        <p:txBody>
          <a:bodyPr wrap="none" lIns="93600" tIns="46800" rIns="93600" bIns="46800" anchor="ctr"/>
          <a:lstStyle/>
          <a:p>
            <a:pPr algn="ctr"/>
            <a:r>
              <a:rPr lang="en-US" altLang="ja-JP" sz="1400" dirty="0"/>
              <a:t>W</a:t>
            </a:r>
          </a:p>
        </p:txBody>
      </p:sp>
      <p:cxnSp>
        <p:nvCxnSpPr>
          <p:cNvPr id="131" name="直線矢印コネクタ 130">
            <a:extLst>
              <a:ext uri="{FF2B5EF4-FFF2-40B4-BE49-F238E27FC236}">
                <a16:creationId xmlns:a16="http://schemas.microsoft.com/office/drawing/2014/main" id="{3C4368DD-BA1D-6276-BEFB-39D0A1DFACE1}"/>
              </a:ext>
            </a:extLst>
          </p:cNvPr>
          <p:cNvCxnSpPr>
            <a:cxnSpLocks/>
          </p:cNvCxnSpPr>
          <p:nvPr/>
        </p:nvCxnSpPr>
        <p:spPr bwMode="auto">
          <a:xfrm>
            <a:off x="7806020" y="2528990"/>
            <a:ext cx="450005" cy="0"/>
          </a:xfrm>
          <a:prstGeom prst="straightConnector1">
            <a:avLst/>
          </a:prstGeom>
          <a:noFill/>
          <a:ln w="9525" cap="flat" cmpd="sng" algn="ctr">
            <a:solidFill>
              <a:schemeClr val="tx1">
                <a:lumMod val="75000"/>
                <a:lumOff val="25000"/>
              </a:schemeClr>
            </a:solidFill>
            <a:prstDash val="solid"/>
            <a:round/>
            <a:headEnd type="triangle" w="med" len="med"/>
            <a:tailEnd type="triangle"/>
          </a:ln>
          <a:effectLst/>
        </p:spPr>
      </p:cxnSp>
      <p:cxnSp>
        <p:nvCxnSpPr>
          <p:cNvPr id="132" name="直線矢印コネクタ 131">
            <a:extLst>
              <a:ext uri="{FF2B5EF4-FFF2-40B4-BE49-F238E27FC236}">
                <a16:creationId xmlns:a16="http://schemas.microsoft.com/office/drawing/2014/main" id="{76D2D9F5-A522-211E-418D-F425CD064DDE}"/>
              </a:ext>
            </a:extLst>
          </p:cNvPr>
          <p:cNvCxnSpPr>
            <a:cxnSpLocks/>
          </p:cNvCxnSpPr>
          <p:nvPr/>
        </p:nvCxnSpPr>
        <p:spPr bwMode="auto">
          <a:xfrm>
            <a:off x="7806019" y="1808982"/>
            <a:ext cx="0" cy="3420038"/>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cxnSp>
        <p:nvCxnSpPr>
          <p:cNvPr id="133" name="直線矢印コネクタ 132">
            <a:extLst>
              <a:ext uri="{FF2B5EF4-FFF2-40B4-BE49-F238E27FC236}">
                <a16:creationId xmlns:a16="http://schemas.microsoft.com/office/drawing/2014/main" id="{722D96FB-D080-2113-6570-69CFAA0307D6}"/>
              </a:ext>
            </a:extLst>
          </p:cNvPr>
          <p:cNvCxnSpPr>
            <a:cxnSpLocks/>
          </p:cNvCxnSpPr>
          <p:nvPr/>
        </p:nvCxnSpPr>
        <p:spPr bwMode="auto">
          <a:xfrm>
            <a:off x="8256024" y="1808982"/>
            <a:ext cx="0" cy="3420038"/>
          </a:xfrm>
          <a:prstGeom prst="straightConnector1">
            <a:avLst/>
          </a:prstGeom>
          <a:noFill/>
          <a:ln w="6350" cap="flat" cmpd="sng" algn="ctr">
            <a:solidFill>
              <a:schemeClr val="tx1">
                <a:lumMod val="75000"/>
                <a:lumOff val="25000"/>
              </a:schemeClr>
            </a:solidFill>
            <a:prstDash val="solid"/>
            <a:round/>
            <a:headEnd type="none" w="med" len="med"/>
            <a:tailEnd type="none"/>
          </a:ln>
          <a:effectLst/>
        </p:spPr>
      </p:cxnSp>
      <p:sp>
        <p:nvSpPr>
          <p:cNvPr id="134" name="正方形/長方形 133">
            <a:extLst>
              <a:ext uri="{FF2B5EF4-FFF2-40B4-BE49-F238E27FC236}">
                <a16:creationId xmlns:a16="http://schemas.microsoft.com/office/drawing/2014/main" id="{CDDB88CF-E8DD-34F9-C1F6-04DBD9BE5E08}"/>
              </a:ext>
            </a:extLst>
          </p:cNvPr>
          <p:cNvSpPr/>
          <p:nvPr/>
        </p:nvSpPr>
        <p:spPr>
          <a:xfrm>
            <a:off x="7806020" y="1448979"/>
            <a:ext cx="540005" cy="270003"/>
          </a:xfrm>
          <a:prstGeom prst="rect">
            <a:avLst/>
          </a:prstGeom>
        </p:spPr>
        <p:txBody>
          <a:bodyPr wrap="none">
            <a:noAutofit/>
          </a:bodyPr>
          <a:lstStyle/>
          <a:p>
            <a:pPr algn="ctr"/>
            <a:r>
              <a:rPr lang="en-US" altLang="ja-JP" dirty="0">
                <a:solidFill>
                  <a:schemeClr val="tx1">
                    <a:lumMod val="65000"/>
                    <a:lumOff val="35000"/>
                  </a:schemeClr>
                </a:solidFill>
              </a:rPr>
              <a:t>1 cycle</a:t>
            </a:r>
            <a:endParaRPr lang="ja-JP" altLang="en-US" dirty="0">
              <a:solidFill>
                <a:schemeClr val="tx1">
                  <a:lumMod val="65000"/>
                  <a:lumOff val="35000"/>
                </a:schemeClr>
              </a:solidFill>
            </a:endParaRPr>
          </a:p>
        </p:txBody>
      </p:sp>
      <p:sp>
        <p:nvSpPr>
          <p:cNvPr id="138" name="コンテンツ プレースホルダー 34">
            <a:extLst>
              <a:ext uri="{FF2B5EF4-FFF2-40B4-BE49-F238E27FC236}">
                <a16:creationId xmlns:a16="http://schemas.microsoft.com/office/drawing/2014/main" id="{E6017AB7-697A-650D-1A30-6B1BB1FB9F42}"/>
              </a:ext>
            </a:extLst>
          </p:cNvPr>
          <p:cNvSpPr txBox="1">
            <a:spLocks/>
          </p:cNvSpPr>
          <p:nvPr/>
        </p:nvSpPr>
        <p:spPr bwMode="auto">
          <a:xfrm>
            <a:off x="1955955" y="5949029"/>
            <a:ext cx="8280859" cy="6300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ja-JP" altLang="en-US" kern="0" dirty="0">
                <a:solidFill>
                  <a:schemeClr val="tx1">
                    <a:lumMod val="65000"/>
                    <a:lumOff val="35000"/>
                  </a:schemeClr>
                </a:solidFill>
                <a:latin typeface="Consolas" panose="020B0609020204030204" pitchFamily="49" charset="0"/>
              </a:rPr>
              <a:t>パイプライン全体が，理想的な場合と比べて</a:t>
            </a:r>
            <a:br>
              <a:rPr lang="en-US" altLang="ja-JP" kern="0" dirty="0">
                <a:solidFill>
                  <a:schemeClr val="tx1">
                    <a:lumMod val="65000"/>
                    <a:lumOff val="35000"/>
                  </a:schemeClr>
                </a:solidFill>
                <a:latin typeface="Consolas" panose="020B0609020204030204" pitchFamily="49" charset="0"/>
              </a:rPr>
            </a:br>
            <a:r>
              <a:rPr lang="ja-JP" altLang="en-US" kern="0" dirty="0">
                <a:solidFill>
                  <a:schemeClr val="tx1">
                    <a:lumMod val="65000"/>
                    <a:lumOff val="35000"/>
                  </a:schemeClr>
                </a:solidFill>
                <a:latin typeface="Consolas" panose="020B0609020204030204" pitchFamily="49" charset="0"/>
              </a:rPr>
              <a:t>１サイクル遅れている</a:t>
            </a:r>
            <a:endParaRPr lang="en-US" altLang="ja-JP" kern="0" dirty="0">
              <a:solidFill>
                <a:schemeClr val="tx1">
                  <a:lumMod val="65000"/>
                  <a:lumOff val="35000"/>
                </a:schemeClr>
              </a:solidFill>
              <a:latin typeface="Consolas" panose="020B0609020204030204" pitchFamily="49" charset="0"/>
            </a:endParaRPr>
          </a:p>
        </p:txBody>
      </p:sp>
    </p:spTree>
    <p:extLst>
      <p:ext uri="{BB962C8B-B14F-4D97-AF65-F5344CB8AC3E}">
        <p14:creationId xmlns:p14="http://schemas.microsoft.com/office/powerpoint/2010/main" val="1598369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5A7B2-C863-927A-116C-8C441C160174}"/>
              </a:ext>
            </a:extLst>
          </p:cNvPr>
          <p:cNvSpPr>
            <a:spLocks noGrp="1"/>
          </p:cNvSpPr>
          <p:nvPr>
            <p:ph type="title"/>
          </p:nvPr>
        </p:nvSpPr>
        <p:spPr/>
        <p:txBody>
          <a:bodyPr/>
          <a:lstStyle/>
          <a:p>
            <a:r>
              <a:rPr lang="ja-JP" altLang="en-US" sz="2800" dirty="0"/>
              <a:t>ロードによるデータハザードの</a:t>
            </a:r>
            <a:br>
              <a:rPr lang="en-US" altLang="ja-JP" sz="2800" dirty="0"/>
            </a:br>
            <a:r>
              <a:rPr lang="ja-JP" altLang="en-US" sz="2800" dirty="0"/>
              <a:t>実行サイクルの増加のモデル</a:t>
            </a:r>
            <a:endParaRPr kumimoji="1" lang="en-US" sz="28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A388F3E-9D46-BE60-22D7-DE67BE9600EC}"/>
                  </a:ext>
                </a:extLst>
              </p:cNvPr>
              <p:cNvSpPr>
                <a:spLocks noGrp="1"/>
              </p:cNvSpPr>
              <p:nvPr>
                <p:ph type="body" sz="quarter" idx="10"/>
              </p:nvPr>
            </p:nvSpPr>
            <p:spPr>
              <a:xfrm>
                <a:off x="2135956" y="1088974"/>
                <a:ext cx="8280092" cy="5220058"/>
              </a:xfrm>
            </p:spPr>
            <p:txBody>
              <a:bodyPr/>
              <a:lstStyle/>
              <a:p>
                <a:r>
                  <a:rPr kumimoji="1" lang="ja-JP" altLang="en-US" dirty="0"/>
                  <a:t>以下のようにおいた場合，</a:t>
                </a:r>
                <a:endParaRPr kumimoji="1" lang="en-US" altLang="ja-JP" dirty="0"/>
              </a:p>
              <a:p>
                <a:pPr lvl="1"/>
                <a:r>
                  <a:rPr lang="ja-JP" altLang="en-US" dirty="0"/>
                  <a:t>ミスがない理想的な実行の際のサイクル数：</a:t>
                </a:r>
                <a:r>
                  <a:rPr lang="en-US" altLang="ja-JP" dirty="0"/>
                  <a:t>	</a:t>
                </a:r>
                <a14:m>
                  <m:oMath xmlns:m="http://schemas.openxmlformats.org/officeDocument/2006/math">
                    <m:r>
                      <a:rPr lang="en-US" altLang="ja-JP" i="1" dirty="0">
                        <a:latin typeface="Cambria Math" panose="02040503050406030204" pitchFamily="18" charset="0"/>
                      </a:rPr>
                      <m:t>𝐶𝑡</m:t>
                    </m:r>
                  </m:oMath>
                </a14:m>
                <a:br>
                  <a:rPr lang="en-US" altLang="ja-JP" dirty="0"/>
                </a:br>
                <a:endParaRPr lang="en-US" altLang="ja-JP" dirty="0"/>
              </a:p>
              <a:p>
                <a:pPr lvl="1"/>
                <a:r>
                  <a:rPr lang="ja-JP" altLang="en-US" dirty="0"/>
                  <a:t>ロードのデータハザードの発生回数：</a:t>
                </a:r>
                <a:r>
                  <a:rPr lang="en-US" altLang="ja-JP" dirty="0"/>
                  <a:t>	</a:t>
                </a:r>
                <a14:m>
                  <m:oMath xmlns:m="http://schemas.openxmlformats.org/officeDocument/2006/math">
                    <m:r>
                      <a:rPr lang="en-US" altLang="ja-JP" i="1" dirty="0" smtClean="0">
                        <a:latin typeface="Cambria Math" panose="02040503050406030204" pitchFamily="18" charset="0"/>
                      </a:rPr>
                      <m:t>𝑁𝑚</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𝑃𝑙</m:t>
                    </m:r>
                    <m:r>
                      <a:rPr lang="en-US" altLang="ja-JP" i="1" dirty="0">
                        <a:latin typeface="Cambria Math" panose="02040503050406030204" pitchFamily="18" charset="0"/>
                      </a:rPr>
                      <m:t>×</m:t>
                    </m:r>
                    <m:r>
                      <a:rPr lang="en-US" altLang="ja-JP" i="1" dirty="0">
                        <a:latin typeface="Cambria Math" panose="02040503050406030204" pitchFamily="18" charset="0"/>
                      </a:rPr>
                      <m:t>𝑃h</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ロードの出現率：</a:t>
                </a:r>
                <a:r>
                  <a:rPr lang="en-US" altLang="ja-JP" dirty="0"/>
                  <a:t>			</a:t>
                </a:r>
                <a14:m>
                  <m:oMath xmlns:m="http://schemas.openxmlformats.org/officeDocument/2006/math">
                    <m:r>
                      <a:rPr lang="en-US" altLang="ja-JP" i="1" dirty="0">
                        <a:latin typeface="Cambria Math" panose="02040503050406030204" pitchFamily="18" charset="0"/>
                      </a:rPr>
                      <m:t>𝑃</m:t>
                    </m:r>
                    <m:r>
                      <a:rPr lang="en-US" altLang="ja-JP" b="0" i="1" dirty="0" smtClean="0">
                        <a:latin typeface="Cambria Math" panose="02040503050406030204" pitchFamily="18" charset="0"/>
                      </a:rPr>
                      <m:t>𝑙</m:t>
                    </m:r>
                  </m:oMath>
                </a14:m>
                <a:endParaRPr kumimoji="1" lang="en-US" altLang="ja-JP" dirty="0"/>
              </a:p>
              <a:p>
                <a:pPr lvl="2"/>
                <a:r>
                  <a:rPr kumimoji="1" lang="ja-JP" altLang="en-US" dirty="0"/>
                  <a:t>ロード命令毎のハザード発生率：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h</m:t>
                    </m:r>
                  </m:oMath>
                </a14:m>
                <a:br>
                  <a:rPr kumimoji="1" lang="en-US" altLang="ja-JP" dirty="0"/>
                </a:br>
                <a:endParaRPr kumimoji="1" lang="en-US" altLang="ja-JP" dirty="0"/>
              </a:p>
              <a:p>
                <a:pPr lvl="1"/>
                <a:r>
                  <a:rPr kumimoji="1" lang="ja-JP" altLang="en-US" dirty="0"/>
                  <a:t>ハザード時のサイクル数の増加：</a:t>
                </a:r>
                <a:r>
                  <a:rPr kumimoji="1" lang="en-US" altLang="ja-JP" dirty="0"/>
                  <a:t>	</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i="1" dirty="0" smtClean="0">
                        <a:latin typeface="Cambria Math" panose="02040503050406030204" pitchFamily="18" charset="0"/>
                      </a:rPr>
                      <m:t>𝐶𝑟</m:t>
                    </m:r>
                    <m:r>
                      <a:rPr lang="en-US" i="1" dirty="0" smtClean="0">
                        <a:latin typeface="Cambria Math" panose="02040503050406030204" pitchFamily="18" charset="0"/>
                      </a:rPr>
                      <m:t>=</m:t>
                    </m:r>
                    <m:r>
                      <a:rPr lang="en-US" i="1" dirty="0" smtClean="0">
                        <a:latin typeface="Cambria Math" panose="02040503050406030204" pitchFamily="18" charset="0"/>
                      </a:rPr>
                      <m:t>𝐶𝑡</m:t>
                    </m:r>
                    <m:r>
                      <a:rPr lang="en-US" i="1" dirty="0" smtClean="0">
                        <a:latin typeface="Cambria Math" panose="02040503050406030204" pitchFamily="18" charset="0"/>
                      </a:rPr>
                      <m:t> + </m:t>
                    </m:r>
                    <m:r>
                      <a:rPr lang="en-US" i="1" dirty="0" smtClean="0">
                        <a:latin typeface="Cambria Math" panose="02040503050406030204" pitchFamily="18" charset="0"/>
                      </a:rPr>
                      <m:t>𝑁𝑚</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m:t>
                    </m:r>
                  </m:oMath>
                </a14:m>
                <a:endParaRPr kumimoji="1" lang="en-US" dirty="0"/>
              </a:p>
              <a:p>
                <a:pPr lvl="1"/>
                <a:r>
                  <a:rPr kumimoji="1" lang="ja-JP" altLang="en-US" dirty="0">
                    <a:solidFill>
                      <a:schemeClr val="accent5"/>
                    </a:solidFill>
                  </a:rPr>
                  <a:t>分岐予測ミスの時とほぼ同じ</a:t>
                </a:r>
                <a:endParaRPr kumimoji="1" lang="en-US" dirty="0">
                  <a:solidFill>
                    <a:schemeClr val="accent5"/>
                  </a:solidFill>
                </a:endParaRPr>
              </a:p>
            </p:txBody>
          </p:sp>
        </mc:Choice>
        <mc:Fallback>
          <p:sp>
            <p:nvSpPr>
              <p:cNvPr id="3" name="コンテンツ プレースホルダー 2">
                <a:extLst>
                  <a:ext uri="{FF2B5EF4-FFF2-40B4-BE49-F238E27FC236}">
                    <a16:creationId xmlns:a16="http://schemas.microsoft.com/office/drawing/2014/main" id="{7A388F3E-9D46-BE60-22D7-DE67BE9600EC}"/>
                  </a:ext>
                </a:extLst>
              </p:cNvPr>
              <p:cNvSpPr>
                <a:spLocks noGrp="1" noRot="1" noChangeAspect="1" noMove="1" noResize="1" noEditPoints="1" noAdjustHandles="1" noChangeArrowheads="1" noChangeShapeType="1" noTextEdit="1"/>
              </p:cNvSpPr>
              <p:nvPr>
                <p:ph type="body" sz="quarter" idx="10"/>
              </p:nvPr>
            </p:nvSpPr>
            <p:spPr>
              <a:xfrm>
                <a:off x="2135956" y="1088974"/>
                <a:ext cx="8280092" cy="5220058"/>
              </a:xfrm>
              <a:blipFill>
                <a:blip r:embed="rId2"/>
                <a:stretch>
                  <a:fillRect l="-662" b="-70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0610443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82918045-1413-49E0-E525-3A3F638871DC}"/>
              </a:ext>
            </a:extLst>
          </p:cNvPr>
          <p:cNvSpPr>
            <a:spLocks noGrp="1"/>
          </p:cNvSpPr>
          <p:nvPr>
            <p:ph type="title"/>
          </p:nvPr>
        </p:nvSpPr>
        <p:spPr/>
        <p:txBody>
          <a:bodyPr/>
          <a:lstStyle/>
          <a:p>
            <a:r>
              <a:rPr lang="ja-JP" altLang="en-US"/>
              <a:t>性能のモデルの一般化</a:t>
            </a:r>
            <a:endParaRPr lang="en-US" dirty="0"/>
          </a:p>
        </p:txBody>
      </p:sp>
    </p:spTree>
    <p:extLst>
      <p:ext uri="{BB962C8B-B14F-4D97-AF65-F5344CB8AC3E}">
        <p14:creationId xmlns:p14="http://schemas.microsoft.com/office/powerpoint/2010/main" val="32562026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E99578-A595-50A4-CCA4-30AF7D776F7F}"/>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536DDF2-031C-97E8-113C-48FFED98AC12}"/>
                  </a:ext>
                </a:extLst>
              </p:cNvPr>
              <p:cNvSpPr>
                <a:spLocks noGrp="1"/>
              </p:cNvSpPr>
              <p:nvPr>
                <p:ph type="body" sz="quarter" idx="10"/>
              </p:nvPr>
            </p:nvSpPr>
            <p:spPr/>
            <p:txBody>
              <a:bodyPr/>
              <a:lstStyle/>
              <a:p>
                <a:r>
                  <a:rPr kumimoji="1" lang="ja-JP" altLang="en-US" dirty="0"/>
                  <a:t>以下のようにおいた場合，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i="1" dirty="0">
                        <a:latin typeface="Cambria Math" panose="02040503050406030204" pitchFamily="18" charset="0"/>
                      </a:rPr>
                      <m:t>𝐶𝑡</m:t>
                    </m:r>
                  </m:oMath>
                </a14:m>
                <a:br>
                  <a:rPr lang="en-US" altLang="ja-JP" dirty="0"/>
                </a:br>
                <a:endParaRPr lang="en-US" altLang="ja-JP" dirty="0"/>
              </a:p>
              <a:p>
                <a:pPr lvl="1"/>
                <a:r>
                  <a:rPr lang="ja-JP" altLang="en-US" dirty="0"/>
                  <a:t>何らかのハザードの発生回数：</a:t>
                </a:r>
                <a:r>
                  <a:rPr lang="en-US" altLang="ja-JP" dirty="0"/>
                  <a:t>	</a:t>
                </a:r>
                <a14:m>
                  <m:oMath xmlns:m="http://schemas.openxmlformats.org/officeDocument/2006/math">
                    <m:r>
                      <a:rPr lang="en-US" altLang="ja-JP" i="1" dirty="0" smtClean="0">
                        <a:latin typeface="Cambria Math" panose="02040503050406030204" pitchFamily="18" charset="0"/>
                      </a:rPr>
                      <m:t>𝑁</m:t>
                    </m:r>
                    <m:r>
                      <a:rPr lang="en-US" altLang="ja-JP" b="0" i="1" dirty="0" smtClean="0">
                        <a:latin typeface="Cambria Math" panose="02040503050406030204" pitchFamily="18" charset="0"/>
                      </a:rPr>
                      <m:t>h</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ハザードを起こす命令の出現率：</a:t>
                </a:r>
                <a:r>
                  <a:rPr lang="en-US" altLang="ja-JP" dirty="0"/>
                  <a:t>	</a:t>
                </a:r>
                <a14:m>
                  <m:oMath xmlns:m="http://schemas.openxmlformats.org/officeDocument/2006/math">
                    <m:r>
                      <a:rPr lang="en-US" altLang="ja-JP" i="1" dirty="0">
                        <a:latin typeface="Cambria Math" panose="02040503050406030204" pitchFamily="18" charset="0"/>
                      </a:rPr>
                      <m:t>𝑃</m:t>
                    </m:r>
                    <m:r>
                      <a:rPr lang="en-US" altLang="ja-JP" b="0" i="1" dirty="0" smtClean="0">
                        <a:latin typeface="Cambria Math" panose="02040503050406030204" pitchFamily="18" charset="0"/>
                      </a:rPr>
                      <m:t>𝑖</m:t>
                    </m:r>
                  </m:oMath>
                </a14:m>
                <a:endParaRPr kumimoji="1" lang="en-US" altLang="ja-JP" dirty="0"/>
              </a:p>
              <a:p>
                <a:pPr lvl="2"/>
                <a:r>
                  <a:rPr kumimoji="1" lang="ja-JP" altLang="en-US" dirty="0"/>
                  <a:t>その命令毎のハザード発生率：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h</m:t>
                    </m:r>
                  </m:oMath>
                </a14:m>
                <a:br>
                  <a:rPr kumimoji="1" lang="en-US" altLang="ja-JP" dirty="0"/>
                </a:br>
                <a:endParaRPr kumimoji="1" lang="en-US" altLang="ja-JP" dirty="0"/>
              </a:p>
              <a:p>
                <a:pPr lvl="1"/>
                <a:r>
                  <a:rPr kumimoji="1" lang="ja-JP" altLang="en-US" dirty="0"/>
                  <a:t>ハザード時のサイクル数の増加：</a:t>
                </a:r>
                <a:r>
                  <a:rPr kumimoji="1" lang="en-US" altLang="ja-JP" dirty="0"/>
                  <a:t>	</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𝑁h</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m:t>
                    </m:r>
                  </m:oMath>
                </a14:m>
                <a:endParaRPr kumimoji="1" lang="en-US" dirty="0"/>
              </a:p>
            </p:txBody>
          </p:sp>
        </mc:Choice>
        <mc:Fallback xmlns="">
          <p:sp>
            <p:nvSpPr>
              <p:cNvPr id="3" name="コンテンツ プレースホルダー 2">
                <a:extLst>
                  <a:ext uri="{FF2B5EF4-FFF2-40B4-BE49-F238E27FC236}">
                    <a16:creationId xmlns:a16="http://schemas.microsoft.com/office/drawing/2014/main" id="{F536DDF2-031C-97E8-113C-48FFED98AC1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2517525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78D4-CEE1-7814-8C31-ED385C6B5221}"/>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99C606-F320-4759-1DA1-881FE7545722}"/>
                  </a:ext>
                </a:extLst>
              </p:cNvPr>
              <p:cNvSpPr>
                <a:spLocks noGrp="1"/>
              </p:cNvSpPr>
              <p:nvPr>
                <p:ph type="body" sz="quarter" idx="10"/>
              </p:nvPr>
            </p:nvSpPr>
            <p:spPr/>
            <p:txBody>
              <a:bodyPr/>
              <a:lstStyle/>
              <a:p>
                <a:r>
                  <a:rPr kumimoji="1" lang="ja-JP" altLang="en-US" dirty="0"/>
                  <a:t>ハザード </a:t>
                </a:r>
                <a:r>
                  <a:rPr kumimoji="1" lang="en-US" altLang="ja-JP" dirty="0"/>
                  <a:t>a</a:t>
                </a:r>
                <a:r>
                  <a:rPr kumimoji="1" lang="ja-JP" altLang="en-US" dirty="0"/>
                  <a:t>，ハザード </a:t>
                </a:r>
                <a:r>
                  <a:rPr kumimoji="1" lang="en-US" altLang="ja-JP" dirty="0"/>
                  <a:t>b</a:t>
                </a:r>
                <a:r>
                  <a:rPr kumimoji="1" lang="ja-JP" altLang="en-US" dirty="0"/>
                  <a:t>，ハザード </a:t>
                </a:r>
                <a:r>
                  <a:rPr kumimoji="1" lang="en-US" altLang="ja-JP" dirty="0"/>
                  <a:t>c </a:t>
                </a:r>
                <a:r>
                  <a:rPr kumimoji="1" lang="ja-JP" altLang="en-US" dirty="0"/>
                  <a:t>･･･ とあった時</a:t>
                </a:r>
                <a:endParaRPr kumimoji="1" lang="en-US" altLang="ja-JP" dirty="0"/>
              </a:p>
              <a:p>
                <a:r>
                  <a:rPr kumimoji="1" lang="ja-JP" altLang="en-US" dirty="0"/>
                  <a:t>実行サイクル数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solidFill>
                          <a:schemeClr val="accent5"/>
                        </a:solidFill>
                        <a:latin typeface="Cambria Math" panose="02040503050406030204" pitchFamily="18" charset="0"/>
                      </a:rPr>
                      <m:t>𝑁𝑚𝑎</m:t>
                    </m:r>
                    <m:r>
                      <a:rPr lang="en-US" altLang="ja-JP" i="1" dirty="0">
                        <a:solidFill>
                          <a:schemeClr val="accent5"/>
                        </a:solidFill>
                        <a:latin typeface="Cambria Math" panose="02040503050406030204" pitchFamily="18" charset="0"/>
                      </a:rPr>
                      <m:t>×</m:t>
                    </m:r>
                    <m:r>
                      <a:rPr lang="en-US" altLang="ja-JP" b="0" i="1" dirty="0" smtClean="0">
                        <a:solidFill>
                          <a:schemeClr val="accent5"/>
                        </a:solidFill>
                        <a:latin typeface="Cambria Math" panose="02040503050406030204" pitchFamily="18" charset="0"/>
                      </a:rPr>
                      <m:t>𝐶𝑝𝑎</m:t>
                    </m:r>
                    <m:r>
                      <a:rPr lang="en-US" altLang="ja-JP" b="0" i="1" dirty="0" smtClean="0">
                        <a:latin typeface="Cambria Math" panose="02040503050406030204" pitchFamily="18" charset="0"/>
                      </a:rPr>
                      <m:t>+ </m:t>
                    </m:r>
                    <m:r>
                      <a:rPr lang="en-US" altLang="ja-JP" i="1" dirty="0" smtClean="0">
                        <a:solidFill>
                          <a:schemeClr val="accent6"/>
                        </a:solidFill>
                        <a:latin typeface="Cambria Math" panose="02040503050406030204" pitchFamily="18" charset="0"/>
                      </a:rPr>
                      <m:t>𝑁𝑚𝑏</m:t>
                    </m:r>
                    <m:r>
                      <a:rPr lang="en-US" altLang="ja-JP" i="1" dirty="0" smtClean="0">
                        <a:solidFill>
                          <a:schemeClr val="accent6"/>
                        </a:solidFill>
                        <a:latin typeface="Cambria Math" panose="02040503050406030204" pitchFamily="18" charset="0"/>
                      </a:rPr>
                      <m:t>×</m:t>
                    </m:r>
                    <m:r>
                      <a:rPr lang="en-US" altLang="ja-JP" i="1" dirty="0" smtClean="0">
                        <a:solidFill>
                          <a:schemeClr val="accent6"/>
                        </a:solidFill>
                        <a:latin typeface="Cambria Math" panose="02040503050406030204" pitchFamily="18" charset="0"/>
                      </a:rPr>
                      <m:t>𝐶𝑝𝑏</m:t>
                    </m:r>
                    <m:r>
                      <a:rPr lang="en-US" altLang="ja-JP" i="1" dirty="0">
                        <a:latin typeface="Cambria Math" panose="02040503050406030204" pitchFamily="18" charset="0"/>
                      </a:rPr>
                      <m:t>+</m:t>
                    </m:r>
                    <m:r>
                      <a:rPr lang="en-US" altLang="ja-JP" i="1" dirty="0" smtClean="0">
                        <a:solidFill>
                          <a:schemeClr val="accent3">
                            <a:lumMod val="75000"/>
                          </a:schemeClr>
                        </a:solidFill>
                        <a:latin typeface="Cambria Math" panose="02040503050406030204" pitchFamily="18" charset="0"/>
                      </a:rPr>
                      <m:t>𝑁𝑚</m:t>
                    </m:r>
                    <m:r>
                      <a:rPr lang="en-US" altLang="ja-JP" b="0" i="1" dirty="0" smtClean="0">
                        <a:solidFill>
                          <a:schemeClr val="accent3">
                            <a:lumMod val="75000"/>
                          </a:schemeClr>
                        </a:solidFill>
                        <a:latin typeface="Cambria Math" panose="02040503050406030204" pitchFamily="18" charset="0"/>
                      </a:rPr>
                      <m:t>𝑐</m:t>
                    </m:r>
                    <m:r>
                      <a:rPr lang="en-US" altLang="ja-JP" i="1" dirty="0">
                        <a:solidFill>
                          <a:schemeClr val="accent3">
                            <a:lumMod val="75000"/>
                          </a:schemeClr>
                        </a:solidFill>
                        <a:latin typeface="Cambria Math" panose="02040503050406030204" pitchFamily="18" charset="0"/>
                      </a:rPr>
                      <m:t>×</m:t>
                    </m:r>
                    <m:r>
                      <a:rPr lang="en-US" altLang="ja-JP" i="1" dirty="0">
                        <a:solidFill>
                          <a:schemeClr val="accent3">
                            <a:lumMod val="75000"/>
                          </a:schemeClr>
                        </a:solidFill>
                        <a:latin typeface="Cambria Math" panose="02040503050406030204" pitchFamily="18" charset="0"/>
                      </a:rPr>
                      <m:t>𝐶𝑝𝑐</m:t>
                    </m:r>
                    <m:r>
                      <a:rPr lang="en-US" altLang="ja-JP" b="0" i="1" dirty="0" smtClean="0">
                        <a:latin typeface="Cambria Math" panose="02040503050406030204" pitchFamily="18" charset="0"/>
                      </a:rPr>
                      <m:t>+…</m:t>
                    </m:r>
                  </m:oMath>
                </a14:m>
                <a:endParaRPr lang="en-US" altLang="ja-JP" b="0" dirty="0"/>
              </a:p>
              <a:p>
                <a:pPr lvl="1"/>
                <a:r>
                  <a:rPr kumimoji="1" lang="ja-JP" altLang="en-US" dirty="0"/>
                  <a:t>これを積み上げ棒グラフで表したのが </a:t>
                </a:r>
                <a:r>
                  <a:rPr kumimoji="1" lang="en-US" altLang="ja-JP" dirty="0"/>
                  <a:t>CPI Stack</a:t>
                </a:r>
                <a:endParaRPr kumimoji="1" lang="en-US" dirty="0"/>
              </a:p>
            </p:txBody>
          </p:sp>
        </mc:Choice>
        <mc:Fallback xmlns="">
          <p:sp>
            <p:nvSpPr>
              <p:cNvPr id="3" name="コンテンツ プレースホルダー 2">
                <a:extLst>
                  <a:ext uri="{FF2B5EF4-FFF2-40B4-BE49-F238E27FC236}">
                    <a16:creationId xmlns:a16="http://schemas.microsoft.com/office/drawing/2014/main" id="{2F99C606-F320-4759-1DA1-881FE754572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632680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1B24C6-E0E8-F382-E217-EFCF5A517F7E}"/>
              </a:ext>
            </a:extLst>
          </p:cNvPr>
          <p:cNvSpPr>
            <a:spLocks noGrp="1"/>
          </p:cNvSpPr>
          <p:nvPr>
            <p:ph type="title"/>
          </p:nvPr>
        </p:nvSpPr>
        <p:spPr/>
        <p:txBody>
          <a:bodyPr/>
          <a:lstStyle/>
          <a:p>
            <a:r>
              <a:rPr lang="en-US" altLang="ja-JP" sz="3600" dirty="0"/>
              <a:t>CPI Stack</a:t>
            </a:r>
            <a:endParaRPr lang="en-US" sz="1600"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C2CEC445-C7DC-8112-DD0D-AC0E9F1F40A1}"/>
                  </a:ext>
                </a:extLst>
              </p:cNvPr>
              <p:cNvSpPr>
                <a:spLocks noGrp="1"/>
              </p:cNvSpPr>
              <p:nvPr>
                <p:ph type="body" sz="quarter" idx="10"/>
              </p:nvPr>
            </p:nvSpPr>
            <p:spPr>
              <a:xfrm>
                <a:off x="2045955" y="5139020"/>
                <a:ext cx="7920088" cy="630007"/>
              </a:xfrm>
            </p:spPr>
            <p:txBody>
              <a:bodyPr/>
              <a:lstStyle/>
              <a:p>
                <a:r>
                  <a:rPr lang="en-US" altLang="ja-JP" sz="1800" dirty="0"/>
                  <a:t>Cycles Per Instruction (CPI) </a:t>
                </a:r>
                <a:r>
                  <a:rPr lang="ja-JP" altLang="en-US" sz="1800" dirty="0"/>
                  <a:t>は１命令あたりのサイクル数</a:t>
                </a:r>
                <a:endParaRPr lang="en-US" altLang="ja-JP" sz="1800" dirty="0"/>
              </a:p>
              <a:p>
                <a:pPr lvl="1"/>
                <a14:m>
                  <m:oMath xmlns:m="http://schemas.openxmlformats.org/officeDocument/2006/math">
                    <m:r>
                      <a:rPr lang="en-US" altLang="ja-JP" sz="1800" i="1" dirty="0">
                        <a:latin typeface="Cambria Math" panose="02040503050406030204" pitchFamily="18" charset="0"/>
                      </a:rPr>
                      <m:t>𝐶𝑟</m:t>
                    </m:r>
                    <m:r>
                      <a:rPr lang="en-US" altLang="ja-JP" sz="1800" i="1" dirty="0">
                        <a:latin typeface="Cambria Math" panose="02040503050406030204" pitchFamily="18" charset="0"/>
                      </a:rPr>
                      <m:t>=</m:t>
                    </m:r>
                    <m:r>
                      <a:rPr lang="en-US" altLang="ja-JP" sz="1800" i="1" dirty="0">
                        <a:latin typeface="Cambria Math" panose="02040503050406030204" pitchFamily="18" charset="0"/>
                      </a:rPr>
                      <m:t>𝐶𝑡</m:t>
                    </m:r>
                    <m:r>
                      <a:rPr lang="en-US" altLang="ja-JP" sz="1800" i="1" dirty="0">
                        <a:latin typeface="Cambria Math" panose="02040503050406030204" pitchFamily="18" charset="0"/>
                      </a:rPr>
                      <m:t> + </m:t>
                    </m:r>
                    <m:r>
                      <a:rPr lang="en-US" altLang="ja-JP" sz="1800" i="1" dirty="0">
                        <a:latin typeface="Cambria Math" panose="02040503050406030204" pitchFamily="18" charset="0"/>
                      </a:rPr>
                      <m:t>𝑁𝑚𝑎</m:t>
                    </m:r>
                    <m:r>
                      <a:rPr lang="en-US" altLang="ja-JP" sz="1800" i="1" dirty="0">
                        <a:latin typeface="Cambria Math" panose="02040503050406030204" pitchFamily="18" charset="0"/>
                      </a:rPr>
                      <m:t>×</m:t>
                    </m:r>
                    <m:r>
                      <a:rPr lang="en-US" altLang="ja-JP" sz="1800" i="1" dirty="0">
                        <a:latin typeface="Cambria Math" panose="02040503050406030204" pitchFamily="18" charset="0"/>
                      </a:rPr>
                      <m:t>𝐶𝑝𝑎</m:t>
                    </m:r>
                    <m:r>
                      <a:rPr lang="en-US" altLang="ja-JP" sz="1800" i="1" dirty="0">
                        <a:latin typeface="Cambria Math" panose="02040503050406030204" pitchFamily="18" charset="0"/>
                      </a:rPr>
                      <m:t>+ </m:t>
                    </m:r>
                    <m:r>
                      <a:rPr lang="en-US" altLang="ja-JP" sz="1800" i="1" dirty="0">
                        <a:latin typeface="Cambria Math" panose="02040503050406030204" pitchFamily="18" charset="0"/>
                      </a:rPr>
                      <m:t>𝑁𝑚𝑏</m:t>
                    </m:r>
                    <m:r>
                      <a:rPr lang="en-US" altLang="ja-JP" sz="1800" i="1" dirty="0">
                        <a:latin typeface="Cambria Math" panose="02040503050406030204" pitchFamily="18" charset="0"/>
                      </a:rPr>
                      <m:t>×</m:t>
                    </m:r>
                    <m:r>
                      <a:rPr lang="en-US" altLang="ja-JP" sz="1800" i="1" dirty="0">
                        <a:latin typeface="Cambria Math" panose="02040503050406030204" pitchFamily="18" charset="0"/>
                      </a:rPr>
                      <m:t>𝐶𝑝𝑏</m:t>
                    </m:r>
                    <m:r>
                      <a:rPr lang="en-US" altLang="ja-JP" sz="1800" i="1" dirty="0">
                        <a:latin typeface="Cambria Math" panose="02040503050406030204" pitchFamily="18" charset="0"/>
                      </a:rPr>
                      <m:t>+</m:t>
                    </m:r>
                    <m:r>
                      <a:rPr lang="en-US" altLang="ja-JP" sz="1800" i="1" dirty="0">
                        <a:latin typeface="Cambria Math" panose="02040503050406030204" pitchFamily="18" charset="0"/>
                      </a:rPr>
                      <m:t>𝑁𝑚𝑐</m:t>
                    </m:r>
                    <m:r>
                      <a:rPr lang="en-US" altLang="ja-JP" sz="1800" i="1" dirty="0">
                        <a:latin typeface="Cambria Math" panose="02040503050406030204" pitchFamily="18" charset="0"/>
                      </a:rPr>
                      <m:t>×</m:t>
                    </m:r>
                    <m:r>
                      <a:rPr lang="en-US" altLang="ja-JP" sz="1800" i="1" dirty="0">
                        <a:latin typeface="Cambria Math" panose="02040503050406030204" pitchFamily="18" charset="0"/>
                      </a:rPr>
                      <m:t>𝐶𝑝𝑐</m:t>
                    </m:r>
                    <m:r>
                      <a:rPr lang="en-US" altLang="ja-JP" sz="1800" i="1" dirty="0">
                        <a:latin typeface="Cambria Math" panose="02040503050406030204" pitchFamily="18" charset="0"/>
                      </a:rPr>
                      <m:t>+…</m:t>
                    </m:r>
                  </m:oMath>
                </a14:m>
                <a:r>
                  <a:rPr lang="en-US" altLang="ja-JP" sz="1800" dirty="0"/>
                  <a:t> </a:t>
                </a:r>
                <a:r>
                  <a:rPr lang="ja-JP" altLang="en-US" sz="1800" dirty="0"/>
                  <a:t>を</a:t>
                </a:r>
                <a:br>
                  <a:rPr lang="en-US" altLang="ja-JP" sz="1800" dirty="0"/>
                </a:br>
                <a:r>
                  <a:rPr lang="ja-JP" altLang="en-US" sz="1800" dirty="0"/>
                  <a:t>命令数で正規化して図示</a:t>
                </a:r>
                <a:endParaRPr lang="en-US" altLang="ja-JP" sz="1800" dirty="0"/>
              </a:p>
              <a:p>
                <a:pPr lvl="1"/>
                <a14:m>
                  <m:oMath xmlns:m="http://schemas.openxmlformats.org/officeDocument/2006/math">
                    <m:r>
                      <a:rPr lang="en-US" altLang="ja-JP" sz="1800" i="1" dirty="0">
                        <a:latin typeface="Cambria Math" panose="02040503050406030204" pitchFamily="18" charset="0"/>
                      </a:rPr>
                      <m:t>𝐶𝑡</m:t>
                    </m:r>
                    <m:r>
                      <a:rPr lang="en-US" altLang="ja-JP" sz="1800" i="1" dirty="0">
                        <a:latin typeface="Cambria Math" panose="02040503050406030204" pitchFamily="18" charset="0"/>
                      </a:rPr>
                      <m:t>=0.25</m:t>
                    </m:r>
                  </m:oMath>
                </a14:m>
                <a:r>
                  <a:rPr lang="en-US" altLang="ja-JP" sz="1800" dirty="0"/>
                  <a:t> </a:t>
                </a:r>
                <a:r>
                  <a:rPr lang="ja-JP" altLang="en-US" sz="1800" dirty="0"/>
                  <a:t>ぐらいなので，４</a:t>
                </a:r>
                <a:r>
                  <a:rPr lang="en-US" altLang="ja-JP" sz="1800" dirty="0"/>
                  <a:t>way </a:t>
                </a:r>
                <a:r>
                  <a:rPr lang="ja-JP" altLang="en-US" sz="1800" dirty="0"/>
                  <a:t>スーパスカラが基準？</a:t>
                </a:r>
                <a:endParaRPr lang="en-US" altLang="ja-JP" sz="1800" dirty="0"/>
              </a:p>
              <a:p>
                <a:r>
                  <a:rPr lang="ja-JP" altLang="en-US" sz="1800" dirty="0"/>
                  <a:t>どのようなハザードによって性能が決まっているのかを直感的に知ることができる</a:t>
                </a:r>
                <a:br>
                  <a:rPr lang="en-US" altLang="ja-JP" sz="1800" dirty="0"/>
                </a:br>
                <a:r>
                  <a:rPr lang="ja-JP" altLang="en-US" sz="1100" dirty="0"/>
                  <a:t>図は </a:t>
                </a:r>
                <a:r>
                  <a:rPr lang="en-US" altLang="ja-JP" sz="1100" dirty="0"/>
                  <a:t>Stijn Eyerman et al., A Performance Counter Architecture for Computing Accurate CPI Components </a:t>
                </a:r>
                <a:r>
                  <a:rPr lang="ja-JP" altLang="en-US" sz="1100" dirty="0"/>
                  <a:t>より</a:t>
                </a:r>
                <a:endParaRPr lang="en-US" altLang="ja-JP" sz="1100" dirty="0"/>
              </a:p>
            </p:txBody>
          </p:sp>
        </mc:Choice>
        <mc:Fallback>
          <p:sp>
            <p:nvSpPr>
              <p:cNvPr id="3" name="コンテンツ プレースホルダー 2">
                <a:extLst>
                  <a:ext uri="{FF2B5EF4-FFF2-40B4-BE49-F238E27FC236}">
                    <a16:creationId xmlns:a16="http://schemas.microsoft.com/office/drawing/2014/main" id="{C2CEC445-C7DC-8112-DD0D-AC0E9F1F40A1}"/>
                  </a:ext>
                </a:extLst>
              </p:cNvPr>
              <p:cNvSpPr>
                <a:spLocks noGrp="1" noRot="1" noChangeAspect="1" noMove="1" noResize="1" noEditPoints="1" noAdjustHandles="1" noChangeArrowheads="1" noChangeShapeType="1" noTextEdit="1"/>
              </p:cNvSpPr>
              <p:nvPr>
                <p:ph type="body" sz="quarter" idx="10"/>
              </p:nvPr>
            </p:nvSpPr>
            <p:spPr>
              <a:xfrm>
                <a:off x="2045955" y="5139020"/>
                <a:ext cx="7920088" cy="630007"/>
              </a:xfrm>
              <a:blipFill>
                <a:blip r:embed="rId2"/>
                <a:stretch>
                  <a:fillRect l="-539" t="-163107" r="-77" b="-166019"/>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C5EEB153-019B-E3FB-0F78-C786A9F7FF54}"/>
              </a:ext>
            </a:extLst>
          </p:cNvPr>
          <p:cNvPicPr>
            <a:picLocks noChangeAspect="1"/>
          </p:cNvPicPr>
          <p:nvPr/>
        </p:nvPicPr>
        <p:blipFill>
          <a:blip r:embed="rId3"/>
          <a:stretch>
            <a:fillRect/>
          </a:stretch>
        </p:blipFill>
        <p:spPr>
          <a:xfrm>
            <a:off x="3395971" y="908972"/>
            <a:ext cx="4878171" cy="3060034"/>
          </a:xfrm>
          <a:prstGeom prst="rect">
            <a:avLst/>
          </a:prstGeom>
        </p:spPr>
      </p:pic>
    </p:spTree>
    <p:extLst>
      <p:ext uri="{BB962C8B-B14F-4D97-AF65-F5344CB8AC3E}">
        <p14:creationId xmlns:p14="http://schemas.microsoft.com/office/powerpoint/2010/main" val="30133656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64C08C-51BF-E153-EFF3-7C0B7498BD68}"/>
              </a:ext>
            </a:extLst>
          </p:cNvPr>
          <p:cNvSpPr>
            <a:spLocks noGrp="1"/>
          </p:cNvSpPr>
          <p:nvPr>
            <p:ph type="title"/>
          </p:nvPr>
        </p:nvSpPr>
        <p:spPr/>
        <p:txBody>
          <a:bodyPr/>
          <a:lstStyle/>
          <a:p>
            <a:r>
              <a:rPr kumimoji="1" lang="en-US" dirty="0"/>
              <a:t>Out-of-order </a:t>
            </a:r>
            <a:r>
              <a:rPr kumimoji="1" lang="ja-JP" altLang="en-US" dirty="0"/>
              <a:t>スーパスカラ・プロセッサの場合</a:t>
            </a:r>
            <a:endParaRPr kumimoji="1" lang="en-US" dirty="0"/>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094405EB-2387-73C3-594C-B6ED4F68FFC2}"/>
                  </a:ext>
                </a:extLst>
              </p:cNvPr>
              <p:cNvSpPr>
                <a:spLocks noGrp="1"/>
              </p:cNvSpPr>
              <p:nvPr>
                <p:ph type="body" sz="quarter" idx="10"/>
              </p:nvPr>
            </p:nvSpPr>
            <p:spPr/>
            <p:txBody>
              <a:bodyPr/>
              <a:lstStyle/>
              <a:p>
                <a:r>
                  <a:rPr kumimoji="1" lang="en-US" altLang="ja-JP" dirty="0"/>
                  <a:t>Out-of-order </a:t>
                </a:r>
                <a:r>
                  <a:rPr kumimoji="1" lang="ja-JP" altLang="en-US" dirty="0"/>
                  <a:t>スーパスカラ・プロセッサではもっと複雑</a:t>
                </a:r>
                <a:endParaRPr kumimoji="1" lang="en-US" altLang="ja-JP" dirty="0"/>
              </a:p>
              <a:p>
                <a:pPr lvl="1"/>
                <a:r>
                  <a:rPr kumimoji="1" lang="ja-JP" altLang="en-US" dirty="0"/>
                  <a:t>長時間かかる命令による待ちがあった場合，</a:t>
                </a:r>
                <a:br>
                  <a:rPr kumimoji="1" lang="en-US" altLang="ja-JP" dirty="0"/>
                </a:br>
                <a:r>
                  <a:rPr kumimoji="1" lang="ja-JP" altLang="en-US" dirty="0"/>
                  <a:t>それを待つ間に別の後ろにある命令を実行できる</a:t>
                </a:r>
                <a:endParaRPr kumimoji="1" lang="en-US" altLang="ja-JP" dirty="0"/>
              </a:p>
              <a:p>
                <a:pPr lvl="1"/>
                <a:r>
                  <a:rPr kumimoji="1" lang="ja-JP" altLang="en-US" dirty="0"/>
                  <a:t>色々なハザードが同時並行で起きうる</a:t>
                </a:r>
                <a:endParaRPr kumimoji="1" lang="en-US" altLang="ja-JP" dirty="0"/>
              </a:p>
              <a:p>
                <a:r>
                  <a:rPr kumimoji="1" lang="ja-JP" altLang="en-US" dirty="0"/>
                  <a:t>単純な線形加算のモデルでは扱えない</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𝑁𝑚𝑎</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𝐶𝑝𝑎</m:t>
                    </m:r>
                    <m:r>
                      <a:rPr lang="en-US" altLang="ja-JP" b="0" i="1" dirty="0" smtClean="0">
                        <a:latin typeface="Cambria Math" panose="02040503050406030204" pitchFamily="18" charset="0"/>
                      </a:rPr>
                      <m:t>+ </m:t>
                    </m:r>
                    <m:r>
                      <a:rPr lang="en-US" altLang="ja-JP" i="1" dirty="0">
                        <a:latin typeface="Cambria Math" panose="02040503050406030204" pitchFamily="18" charset="0"/>
                      </a:rPr>
                      <m:t>𝑁𝑚𝑏</m:t>
                    </m:r>
                    <m:r>
                      <a:rPr lang="en-US" altLang="ja-JP" i="1" dirty="0">
                        <a:latin typeface="Cambria Math" panose="02040503050406030204" pitchFamily="18" charset="0"/>
                      </a:rPr>
                      <m:t>×</m:t>
                    </m:r>
                    <m:r>
                      <a:rPr lang="en-US" altLang="ja-JP" i="1" dirty="0">
                        <a:latin typeface="Cambria Math" panose="02040503050406030204" pitchFamily="18" charset="0"/>
                      </a:rPr>
                      <m:t>𝐶𝑝𝑏</m:t>
                    </m:r>
                    <m:r>
                      <a:rPr lang="en-US" altLang="ja-JP" i="1" dirty="0">
                        <a:latin typeface="Cambria Math" panose="02040503050406030204" pitchFamily="18" charset="0"/>
                      </a:rPr>
                      <m:t>+</m:t>
                    </m:r>
                    <m:r>
                      <a:rPr lang="en-US" altLang="ja-JP" i="1" dirty="0">
                        <a:latin typeface="Cambria Math" panose="02040503050406030204" pitchFamily="18" charset="0"/>
                      </a:rPr>
                      <m:t>𝑁𝑚𝑐</m:t>
                    </m:r>
                    <m:r>
                      <a:rPr lang="en-US" altLang="ja-JP" i="1" dirty="0">
                        <a:latin typeface="Cambria Math" panose="02040503050406030204" pitchFamily="18" charset="0"/>
                      </a:rPr>
                      <m:t>×</m:t>
                    </m:r>
                    <m:r>
                      <a:rPr lang="en-US" altLang="ja-JP" i="1" dirty="0">
                        <a:latin typeface="Cambria Math" panose="02040503050406030204" pitchFamily="18" charset="0"/>
                      </a:rPr>
                      <m:t>𝐶𝑝𝑐</m:t>
                    </m:r>
                    <m:r>
                      <a:rPr lang="en-US" altLang="ja-JP" b="0" i="1" dirty="0" smtClean="0">
                        <a:latin typeface="Cambria Math" panose="02040503050406030204" pitchFamily="18" charset="0"/>
                      </a:rPr>
                      <m:t>+…</m:t>
                    </m:r>
                  </m:oMath>
                </a14:m>
                <a:r>
                  <a:rPr lang="en-US" altLang="ja-JP" b="0" dirty="0"/>
                  <a:t> </a:t>
                </a:r>
              </a:p>
              <a:p>
                <a:pPr lvl="1"/>
                <a:r>
                  <a:rPr lang="ja-JP" altLang="en-US" dirty="0"/>
                  <a:t>これはハザード発生時に </a:t>
                </a:r>
                <a:r>
                  <a:rPr lang="en-US" altLang="ja-JP" dirty="0"/>
                  <a:t>CPU </a:t>
                </a:r>
                <a:r>
                  <a:rPr lang="ja-JP" altLang="en-US" dirty="0"/>
                  <a:t>全体がストールするからなり立つ</a:t>
                </a:r>
                <a:endParaRPr lang="en-US" altLang="ja-JP" dirty="0"/>
              </a:p>
              <a:p>
                <a:pPr lvl="1"/>
                <a:r>
                  <a:rPr lang="ja-JP" altLang="en-US" dirty="0"/>
                  <a:t>ハザード同士がオーバラップして起きると上手く扱えない</a:t>
                </a:r>
                <a:endParaRPr lang="en-US" altLang="ja-JP" dirty="0"/>
              </a:p>
              <a:p>
                <a:r>
                  <a:rPr lang="ja-JP" altLang="en-US" dirty="0"/>
                  <a:t>色々な方法が研究されている</a:t>
                </a:r>
                <a:endParaRPr lang="en-US" altLang="ja-JP" dirty="0"/>
              </a:p>
              <a:p>
                <a:pPr lvl="1"/>
                <a:r>
                  <a:rPr kumimoji="1" lang="en-US" altLang="ja-JP" dirty="0"/>
                  <a:t>Top-down </a:t>
                </a:r>
                <a:r>
                  <a:rPr kumimoji="1" lang="ja-JP" altLang="en-US" dirty="0"/>
                  <a:t>解析と呼ばれる</a:t>
                </a:r>
                <a:r>
                  <a:rPr lang="ja-JP" altLang="en-US" dirty="0"/>
                  <a:t>方法が代表的</a:t>
                </a:r>
                <a:endParaRPr lang="en-US" altLang="ja-JP" dirty="0"/>
              </a:p>
              <a:p>
                <a:pPr lvl="1"/>
                <a:r>
                  <a:rPr lang="en-US" altLang="ja-JP" dirty="0"/>
                  <a:t>Ahmad Yasin, “A Top-Down Method for Performance Analysis and Counters Architecture,” ISPASS 2014</a:t>
                </a:r>
                <a:endParaRPr kumimoji="1" lang="en-US" altLang="ja-JP" dirty="0"/>
              </a:p>
            </p:txBody>
          </p:sp>
        </mc:Choice>
        <mc:Fallback>
          <p:sp>
            <p:nvSpPr>
              <p:cNvPr id="3" name="コンテンツ プレースホルダー 2">
                <a:extLst>
                  <a:ext uri="{FF2B5EF4-FFF2-40B4-BE49-F238E27FC236}">
                    <a16:creationId xmlns:a16="http://schemas.microsoft.com/office/drawing/2014/main" id="{094405EB-2387-73C3-594C-B6ED4F68FFC2}"/>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635" b="-144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20815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13909B-03B7-CE69-EEA5-BCD49E998EF8}"/>
              </a:ext>
            </a:extLst>
          </p:cNvPr>
          <p:cNvSpPr>
            <a:spLocks noGrp="1"/>
          </p:cNvSpPr>
          <p:nvPr>
            <p:ph type="title"/>
          </p:nvPr>
        </p:nvSpPr>
        <p:spPr/>
        <p:txBody>
          <a:bodyPr/>
          <a:lstStyle/>
          <a:p>
            <a:r>
              <a:rPr kumimoji="1" lang="ja-JP" altLang="en-US" dirty="0"/>
              <a:t>ここまでのまとめ</a:t>
            </a:r>
            <a:endParaRPr kumimoji="1" lang="en-US" dirty="0"/>
          </a:p>
        </p:txBody>
      </p:sp>
      <p:sp>
        <p:nvSpPr>
          <p:cNvPr id="3" name="コンテンツ プレースホルダー 2">
            <a:extLst>
              <a:ext uri="{FF2B5EF4-FFF2-40B4-BE49-F238E27FC236}">
                <a16:creationId xmlns:a16="http://schemas.microsoft.com/office/drawing/2014/main" id="{C09AAD35-D763-7927-525E-A02D586A9BDC}"/>
              </a:ext>
            </a:extLst>
          </p:cNvPr>
          <p:cNvSpPr>
            <a:spLocks noGrp="1"/>
          </p:cNvSpPr>
          <p:nvPr>
            <p:ph type="body" sz="quarter" idx="10"/>
          </p:nvPr>
        </p:nvSpPr>
        <p:spPr/>
        <p:txBody>
          <a:bodyPr/>
          <a:lstStyle/>
          <a:p>
            <a:r>
              <a:rPr lang="ja-JP" altLang="en-US" dirty="0"/>
              <a:t>性能は以下の２要素のかけ算で決まる：</a:t>
            </a:r>
            <a:endParaRPr lang="en-US" altLang="ja-JP" dirty="0"/>
          </a:p>
          <a:p>
            <a:pPr marL="817200" lvl="1" indent="-457200">
              <a:buFont typeface="+mj-lt"/>
              <a:buAutoNum type="arabicPeriod"/>
            </a:pPr>
            <a:r>
              <a:rPr lang="ja-JP" altLang="en-US" dirty="0"/>
              <a:t>クロック周波数</a:t>
            </a:r>
            <a:endParaRPr lang="en-US" altLang="ja-JP" dirty="0"/>
          </a:p>
          <a:p>
            <a:pPr marL="817200" lvl="1" indent="-457200">
              <a:buFont typeface="+mj-lt"/>
              <a:buAutoNum type="arabicPeriod"/>
            </a:pPr>
            <a:r>
              <a:rPr lang="en-US" altLang="ja-JP" dirty="0"/>
              <a:t>Instructions per cycle (IPC)</a:t>
            </a:r>
          </a:p>
          <a:p>
            <a:r>
              <a:rPr kumimoji="1" lang="ja-JP" altLang="en-US" dirty="0">
                <a:solidFill>
                  <a:schemeClr val="accent5"/>
                </a:solidFill>
              </a:rPr>
              <a:t>色んなバランスが大事</a:t>
            </a:r>
            <a:endParaRPr kumimoji="1" lang="en-US" altLang="ja-JP" dirty="0">
              <a:solidFill>
                <a:schemeClr val="accent5"/>
              </a:solidFill>
            </a:endParaRPr>
          </a:p>
          <a:p>
            <a:pPr lvl="1"/>
            <a:r>
              <a:rPr kumimoji="1" lang="ja-JP" altLang="en-US" dirty="0"/>
              <a:t>クロック周波数だけを上げても </a:t>
            </a:r>
            <a:r>
              <a:rPr kumimoji="1" lang="en-US" altLang="ja-JP" dirty="0"/>
              <a:t>IPC </a:t>
            </a:r>
            <a:r>
              <a:rPr kumimoji="1" lang="ja-JP" altLang="en-US" dirty="0"/>
              <a:t>が上がらないとだめ</a:t>
            </a:r>
            <a:endParaRPr kumimoji="1" lang="en-US" altLang="ja-JP" dirty="0"/>
          </a:p>
          <a:p>
            <a:pPr lvl="1"/>
            <a:r>
              <a:rPr kumimoji="1" lang="ja-JP" altLang="en-US" dirty="0"/>
              <a:t>スーパスカラの同時実行数を増やしても </a:t>
            </a:r>
            <a:r>
              <a:rPr kumimoji="1" lang="en-US" altLang="ja-JP" dirty="0"/>
              <a:t>IPC </a:t>
            </a:r>
            <a:r>
              <a:rPr kumimoji="1" lang="ja-JP" altLang="en-US" dirty="0"/>
              <a:t>が増えない事もある</a:t>
            </a:r>
            <a:endParaRPr kumimoji="1" lang="en-US" altLang="ja-JP" dirty="0"/>
          </a:p>
          <a:p>
            <a:pPr lvl="1"/>
            <a:r>
              <a:rPr kumimoji="1" lang="ja-JP" altLang="en-US" dirty="0"/>
              <a:t>予測器だけ強くしても </a:t>
            </a:r>
            <a:r>
              <a:rPr kumimoji="1" lang="en-US" altLang="ja-JP" dirty="0"/>
              <a:t>IPC </a:t>
            </a:r>
            <a:r>
              <a:rPr kumimoji="1" lang="ja-JP" altLang="en-US" dirty="0"/>
              <a:t>があまり上がらないことも</a:t>
            </a:r>
            <a:endParaRPr kumimoji="1" lang="en-US" dirty="0"/>
          </a:p>
        </p:txBody>
      </p:sp>
    </p:spTree>
    <p:extLst>
      <p:ext uri="{BB962C8B-B14F-4D97-AF65-F5344CB8AC3E}">
        <p14:creationId xmlns:p14="http://schemas.microsoft.com/office/powerpoint/2010/main" val="2791493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6EDCF1-7871-5C30-8E34-052C43107A39}"/>
              </a:ext>
            </a:extLst>
          </p:cNvPr>
          <p:cNvSpPr>
            <a:spLocks noGrp="1"/>
          </p:cNvSpPr>
          <p:nvPr>
            <p:ph type="title"/>
          </p:nvPr>
        </p:nvSpPr>
        <p:spPr/>
        <p:txBody>
          <a:bodyPr/>
          <a:lstStyle/>
          <a:p>
            <a:r>
              <a:rPr kumimoji="1" lang="ja-JP" altLang="en-US" dirty="0"/>
              <a:t>実際には構成をどう決めるのか？</a:t>
            </a:r>
            <a:endParaRPr kumimoji="1" lang="en-US" dirty="0"/>
          </a:p>
        </p:txBody>
      </p:sp>
      <p:sp>
        <p:nvSpPr>
          <p:cNvPr id="3" name="コンテンツ プレースホルダー 2">
            <a:extLst>
              <a:ext uri="{FF2B5EF4-FFF2-40B4-BE49-F238E27FC236}">
                <a16:creationId xmlns:a16="http://schemas.microsoft.com/office/drawing/2014/main" id="{0BF54947-D3B0-227A-1C17-434A2EAF7C02}"/>
              </a:ext>
            </a:extLst>
          </p:cNvPr>
          <p:cNvSpPr>
            <a:spLocks noGrp="1"/>
          </p:cNvSpPr>
          <p:nvPr>
            <p:ph type="body" sz="quarter" idx="10"/>
          </p:nvPr>
        </p:nvSpPr>
        <p:spPr/>
        <p:txBody>
          <a:bodyPr/>
          <a:lstStyle/>
          <a:p>
            <a:r>
              <a:rPr kumimoji="1" lang="ja-JP" altLang="en-US" dirty="0"/>
              <a:t>だいたい最初に以下あたりの条件が決まっている</a:t>
            </a:r>
            <a:endParaRPr kumimoji="1" lang="en-US" altLang="ja-JP" dirty="0"/>
          </a:p>
          <a:p>
            <a:pPr lvl="1"/>
            <a:r>
              <a:rPr kumimoji="1" lang="ja-JP" altLang="en-US" dirty="0"/>
              <a:t>要求性能</a:t>
            </a:r>
            <a:endParaRPr kumimoji="1" lang="en-US" altLang="ja-JP" dirty="0"/>
          </a:p>
          <a:p>
            <a:pPr lvl="1"/>
            <a:r>
              <a:rPr kumimoji="1" lang="ja-JP" altLang="en-US" dirty="0"/>
              <a:t>使える回路面積（チップの大きさ）</a:t>
            </a:r>
            <a:endParaRPr kumimoji="1" lang="en-US" altLang="ja-JP" dirty="0"/>
          </a:p>
          <a:p>
            <a:pPr lvl="1"/>
            <a:r>
              <a:rPr kumimoji="1" lang="ja-JP" altLang="en-US" dirty="0"/>
              <a:t>許容出来る消費電力</a:t>
            </a:r>
            <a:endParaRPr kumimoji="1" lang="en-US" altLang="ja-JP" dirty="0"/>
          </a:p>
          <a:p>
            <a:endParaRPr kumimoji="1" lang="en-US" altLang="ja-JP" dirty="0"/>
          </a:p>
        </p:txBody>
      </p:sp>
    </p:spTree>
    <p:extLst>
      <p:ext uri="{BB962C8B-B14F-4D97-AF65-F5344CB8AC3E}">
        <p14:creationId xmlns:p14="http://schemas.microsoft.com/office/powerpoint/2010/main" val="4171114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802B54-DE65-916C-80B3-22BFD2268E95}"/>
              </a:ext>
            </a:extLst>
          </p:cNvPr>
          <p:cNvSpPr>
            <a:spLocks noGrp="1"/>
          </p:cNvSpPr>
          <p:nvPr>
            <p:ph type="title"/>
          </p:nvPr>
        </p:nvSpPr>
        <p:spPr/>
        <p:txBody>
          <a:bodyPr/>
          <a:lstStyle/>
          <a:p>
            <a:r>
              <a:rPr kumimoji="1" lang="ja-JP" altLang="en-US" dirty="0"/>
              <a:t>いろんな戦略がありえる</a:t>
            </a:r>
            <a:endParaRPr kumimoji="1" lang="en-US" dirty="0"/>
          </a:p>
        </p:txBody>
      </p:sp>
      <p:sp>
        <p:nvSpPr>
          <p:cNvPr id="3" name="コンテンツ プレースホルダー 2">
            <a:extLst>
              <a:ext uri="{FF2B5EF4-FFF2-40B4-BE49-F238E27FC236}">
                <a16:creationId xmlns:a16="http://schemas.microsoft.com/office/drawing/2014/main" id="{50AC3735-54B2-C6BA-0FF1-741E9DA1B8D7}"/>
              </a:ext>
            </a:extLst>
          </p:cNvPr>
          <p:cNvSpPr>
            <a:spLocks noGrp="1"/>
          </p:cNvSpPr>
          <p:nvPr>
            <p:ph type="body" sz="quarter" idx="10"/>
          </p:nvPr>
        </p:nvSpPr>
        <p:spPr/>
        <p:txBody>
          <a:bodyPr/>
          <a:lstStyle/>
          <a:p>
            <a:r>
              <a:rPr kumimoji="1" lang="ja-JP" altLang="en-US" dirty="0"/>
              <a:t>回路面積が一定の場合，どちらが良いか？</a:t>
            </a:r>
            <a:endParaRPr kumimoji="1" lang="en-US" altLang="ja-JP" dirty="0"/>
          </a:p>
          <a:p>
            <a:pPr lvl="1"/>
            <a:r>
              <a:rPr kumimoji="1" lang="ja-JP" altLang="en-US" dirty="0"/>
              <a:t>パイプラインの本数を増やす</a:t>
            </a:r>
            <a:endParaRPr kumimoji="1" lang="en-US" altLang="ja-JP" dirty="0"/>
          </a:p>
          <a:p>
            <a:pPr lvl="1"/>
            <a:r>
              <a:rPr kumimoji="1" lang="ja-JP" altLang="en-US" dirty="0"/>
              <a:t>予測器を複雑にして精度を上げる</a:t>
            </a:r>
            <a:endParaRPr kumimoji="1" lang="en-US" altLang="ja-JP" dirty="0"/>
          </a:p>
          <a:p>
            <a:r>
              <a:rPr kumimoji="1" lang="ja-JP" altLang="en-US" dirty="0"/>
              <a:t>消費電力の上限が一定の場合</a:t>
            </a:r>
            <a:endParaRPr kumimoji="1" lang="en-US" altLang="ja-JP" dirty="0"/>
          </a:p>
          <a:p>
            <a:pPr lvl="1"/>
            <a:r>
              <a:rPr kumimoji="1" lang="ja-JP" altLang="en-US" dirty="0"/>
              <a:t>消費電力はクロック周波数の２～３乗で増える</a:t>
            </a:r>
            <a:endParaRPr kumimoji="1" lang="en-US" altLang="ja-JP" dirty="0"/>
          </a:p>
          <a:p>
            <a:pPr lvl="1"/>
            <a:r>
              <a:rPr kumimoji="1" lang="ja-JP" altLang="en-US" dirty="0"/>
              <a:t>クロック周波数をあえて下げるかわりに，</a:t>
            </a:r>
            <a:br>
              <a:rPr kumimoji="1" lang="en-US" altLang="ja-JP" dirty="0"/>
            </a:br>
            <a:r>
              <a:rPr kumimoji="1" lang="ja-JP" altLang="en-US" dirty="0"/>
              <a:t>パイプライン本数を増やして </a:t>
            </a:r>
            <a:r>
              <a:rPr kumimoji="1" lang="en-US" altLang="ja-JP" dirty="0"/>
              <a:t>IPC </a:t>
            </a:r>
            <a:r>
              <a:rPr kumimoji="1" lang="ja-JP" altLang="en-US" dirty="0"/>
              <a:t>を上げる</a:t>
            </a:r>
            <a:endParaRPr kumimoji="1" lang="en-US" altLang="ja-JP" dirty="0"/>
          </a:p>
          <a:p>
            <a:r>
              <a:rPr kumimoji="1" lang="ja-JP" altLang="en-US" dirty="0"/>
              <a:t>色々シミュレーションやモデル化して決める</a:t>
            </a:r>
            <a:endParaRPr kumimoji="1" lang="en-US" altLang="ja-JP" dirty="0"/>
          </a:p>
        </p:txBody>
      </p:sp>
    </p:spTree>
    <p:extLst>
      <p:ext uri="{BB962C8B-B14F-4D97-AF65-F5344CB8AC3E}">
        <p14:creationId xmlns:p14="http://schemas.microsoft.com/office/powerpoint/2010/main" val="999829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性能は以下の２要素のかけ算で決まる：</a:t>
            </a:r>
            <a:endParaRPr lang="en-US" altLang="ja-JP" dirty="0"/>
          </a:p>
          <a:p>
            <a:pPr marL="817200" lvl="1" indent="-457200">
              <a:buFont typeface="+mj-lt"/>
              <a:buAutoNum type="arabicPeriod"/>
            </a:pPr>
            <a:r>
              <a:rPr lang="ja-JP" altLang="en-US" dirty="0"/>
              <a:t>クロック周波数</a:t>
            </a:r>
            <a:endParaRPr lang="en-US" altLang="ja-JP" dirty="0"/>
          </a:p>
          <a:p>
            <a:pPr marL="817200" lvl="1" indent="-457200">
              <a:buFont typeface="+mj-lt"/>
              <a:buAutoNum type="arabicPeriod"/>
            </a:pPr>
            <a:r>
              <a:rPr lang="en-US" altLang="ja-JP" dirty="0"/>
              <a:t>Instructions per cycle (IPC)</a:t>
            </a:r>
          </a:p>
          <a:p>
            <a:r>
              <a:rPr kumimoji="1" lang="ja-JP" altLang="en-US" dirty="0"/>
              <a:t>以下について検討</a:t>
            </a:r>
            <a:endParaRPr kumimoji="1" lang="en-US" altLang="ja-JP" dirty="0"/>
          </a:p>
          <a:p>
            <a:pPr lvl="1"/>
            <a:r>
              <a:rPr kumimoji="1" lang="ja-JP" altLang="en-US" dirty="0"/>
              <a:t>理想的な場合の性能のモデル</a:t>
            </a:r>
            <a:endParaRPr kumimoji="1" lang="en-US" altLang="ja-JP" dirty="0"/>
          </a:p>
          <a:p>
            <a:pPr lvl="1"/>
            <a:r>
              <a:rPr kumimoji="1" lang="ja-JP" altLang="en-US" dirty="0"/>
              <a:t>ハザードを考慮した性能のモデル</a:t>
            </a:r>
            <a:endParaRPr kumimoji="1" lang="en-US" altLang="ja-JP" dirty="0"/>
          </a:p>
          <a:p>
            <a:r>
              <a:rPr kumimoji="1" lang="ja-JP" altLang="en-US" dirty="0">
                <a:solidFill>
                  <a:schemeClr val="accent5"/>
                </a:solidFill>
              </a:rPr>
              <a:t>性能は色々な要素の相互作用で決まる</a:t>
            </a:r>
            <a:endParaRPr kumimoji="1" lang="en-US" altLang="ja-JP" dirty="0">
              <a:solidFill>
                <a:schemeClr val="accent5"/>
              </a:solidFill>
            </a:endParaRPr>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a:t>課題 ８</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ja-JP" altLang="en-US" sz="1600" dirty="0"/>
              <a:t>以下のような条件を考える</a:t>
            </a:r>
            <a:endParaRPr lang="en-US" altLang="ja-JP" sz="1600" dirty="0"/>
          </a:p>
          <a:p>
            <a:pPr lvl="1"/>
            <a:r>
              <a:rPr lang="en-US" altLang="ja-JP" sz="1600" dirty="0"/>
              <a:t>10</a:t>
            </a:r>
            <a:r>
              <a:rPr lang="ja-JP" altLang="en-US" sz="1600" dirty="0"/>
              <a:t>段のパイプラインを持つ </a:t>
            </a:r>
            <a:r>
              <a:rPr lang="en-US" altLang="ja-JP" sz="1600" dirty="0"/>
              <a:t>2-way </a:t>
            </a:r>
            <a:r>
              <a:rPr lang="ja-JP" altLang="en-US" sz="1600" dirty="0"/>
              <a:t>スーパスカラプロセッサであり，理想的には </a:t>
            </a:r>
            <a:r>
              <a:rPr lang="en-US" altLang="ja-JP" sz="1600" dirty="0"/>
              <a:t>IPC=2 </a:t>
            </a:r>
            <a:r>
              <a:rPr lang="ja-JP" altLang="en-US" sz="1600" dirty="0"/>
              <a:t>で実行できる</a:t>
            </a:r>
            <a:endParaRPr lang="en-US" altLang="ja-JP" sz="1600" dirty="0"/>
          </a:p>
          <a:p>
            <a:pPr lvl="1"/>
            <a:r>
              <a:rPr lang="ja-JP" altLang="en-US" sz="1600" dirty="0"/>
              <a:t>全実行命令におけるなんらかのデータハザードの発生率は </a:t>
            </a:r>
            <a:r>
              <a:rPr lang="en-US" altLang="ja-JP" sz="1600" dirty="0"/>
              <a:t>0.2 </a:t>
            </a:r>
          </a:p>
          <a:p>
            <a:pPr lvl="1"/>
            <a:r>
              <a:rPr lang="ja-JP" altLang="en-US" sz="1600" dirty="0"/>
              <a:t>このデータハザード発生時は </a:t>
            </a:r>
            <a:r>
              <a:rPr lang="en-US" altLang="ja-JP" sz="1600" dirty="0"/>
              <a:t>1 </a:t>
            </a:r>
            <a:r>
              <a:rPr lang="ja-JP" altLang="en-US" sz="1600" dirty="0"/>
              <a:t>サイクル実行時間が伸びるものとする</a:t>
            </a:r>
            <a:endParaRPr lang="en-US" altLang="ja-JP" sz="1600" dirty="0"/>
          </a:p>
          <a:p>
            <a:pPr lvl="1"/>
            <a:r>
              <a:rPr lang="ja-JP" altLang="en-US" sz="1600" dirty="0"/>
              <a:t>全実行命令における分岐命令の出現率は </a:t>
            </a:r>
            <a:r>
              <a:rPr lang="en-US" altLang="ja-JP" sz="1600" dirty="0"/>
              <a:t>0.2</a:t>
            </a:r>
          </a:p>
          <a:p>
            <a:pPr lvl="1"/>
            <a:r>
              <a:rPr lang="ja-JP" altLang="en-US" sz="1600" dirty="0"/>
              <a:t>分岐予測ミス率は </a:t>
            </a:r>
            <a:r>
              <a:rPr lang="en-US" altLang="ja-JP" sz="1600" dirty="0"/>
              <a:t>0.3</a:t>
            </a:r>
          </a:p>
          <a:p>
            <a:r>
              <a:rPr lang="en-US" altLang="ja-JP" sz="1600" dirty="0"/>
              <a:t>(1) </a:t>
            </a:r>
            <a:r>
              <a:rPr lang="ja-JP" altLang="en-US" sz="1600" dirty="0"/>
              <a:t>この </a:t>
            </a:r>
            <a:r>
              <a:rPr lang="en-US" altLang="ja-JP" sz="1600" dirty="0"/>
              <a:t>CPU </a:t>
            </a:r>
            <a:r>
              <a:rPr lang="ja-JP" altLang="en-US" sz="1600" dirty="0"/>
              <a:t>を改良する際，</a:t>
            </a:r>
            <a:br>
              <a:rPr lang="en-US" altLang="ja-JP" sz="1600" dirty="0"/>
            </a:br>
            <a:r>
              <a:rPr lang="ja-JP" altLang="en-US" sz="1600" dirty="0"/>
              <a:t>「</a:t>
            </a:r>
            <a:r>
              <a:rPr lang="en-US" altLang="ja-JP" sz="1600" dirty="0"/>
              <a:t>3-way </a:t>
            </a:r>
            <a:r>
              <a:rPr lang="ja-JP" altLang="en-US" sz="1600" dirty="0"/>
              <a:t>スーパスカラにする」</a:t>
            </a:r>
            <a:br>
              <a:rPr lang="en-US" altLang="ja-JP" sz="1600" dirty="0"/>
            </a:br>
            <a:r>
              <a:rPr lang="ja-JP" altLang="en-US" sz="1600" dirty="0"/>
              <a:t>「</a:t>
            </a:r>
            <a:r>
              <a:rPr lang="en-US" altLang="ja-JP" sz="1600" dirty="0"/>
              <a:t>2-way </a:t>
            </a:r>
            <a:r>
              <a:rPr lang="ja-JP" altLang="en-US" sz="1600" dirty="0"/>
              <a:t>のまま</a:t>
            </a:r>
            <a:r>
              <a:rPr lang="en-US" altLang="ja-JP" sz="1600" dirty="0"/>
              <a:t>15</a:t>
            </a:r>
            <a:r>
              <a:rPr lang="ja-JP" altLang="en-US" sz="1600" dirty="0"/>
              <a:t>段パイプラインにする」</a:t>
            </a:r>
            <a:br>
              <a:rPr lang="en-US" altLang="ja-JP" sz="1600" dirty="0"/>
            </a:br>
            <a:r>
              <a:rPr lang="ja-JP" altLang="en-US" sz="1600" dirty="0"/>
              <a:t>「</a:t>
            </a:r>
            <a:r>
              <a:rPr lang="en-US" altLang="ja-JP" sz="1600" dirty="0"/>
              <a:t>2-way </a:t>
            </a:r>
            <a:r>
              <a:rPr lang="ja-JP" altLang="en-US" sz="1600" dirty="0"/>
              <a:t>のまま分岐予測器を改良する」</a:t>
            </a:r>
            <a:br>
              <a:rPr lang="en-US" altLang="ja-JP" sz="1600" dirty="0"/>
            </a:br>
            <a:r>
              <a:rPr lang="ja-JP" altLang="en-US" sz="1600" dirty="0"/>
              <a:t>のどれが最も性能が上がるかを性能を計算して検討せよ</a:t>
            </a:r>
            <a:endParaRPr lang="en-US" altLang="ja-JP" sz="1600" dirty="0"/>
          </a:p>
          <a:p>
            <a:pPr lvl="1"/>
            <a:r>
              <a:rPr lang="ja-JP" altLang="en-US" sz="1600" dirty="0"/>
              <a:t>この </a:t>
            </a:r>
            <a:r>
              <a:rPr lang="en-US" altLang="ja-JP" sz="1600" dirty="0"/>
              <a:t>CPU </a:t>
            </a:r>
            <a:r>
              <a:rPr lang="ja-JP" altLang="en-US" sz="1600" dirty="0"/>
              <a:t>を </a:t>
            </a:r>
            <a:r>
              <a:rPr lang="en-US" altLang="ja-JP" sz="1600" dirty="0"/>
              <a:t>3-way </a:t>
            </a:r>
            <a:r>
              <a:rPr lang="ja-JP" altLang="en-US" sz="1600" dirty="0"/>
              <a:t>スーパスカラにすると理想的には </a:t>
            </a:r>
            <a:r>
              <a:rPr lang="en-US" altLang="ja-JP" sz="1600" dirty="0"/>
              <a:t>IPC=3 </a:t>
            </a:r>
            <a:r>
              <a:rPr lang="ja-JP" altLang="en-US" sz="1600" dirty="0"/>
              <a:t>で実行できるがデータハザードの発生率は </a:t>
            </a:r>
            <a:r>
              <a:rPr lang="en-US" altLang="ja-JP" sz="1600" dirty="0"/>
              <a:t>0.3 </a:t>
            </a:r>
            <a:r>
              <a:rPr lang="ja-JP" altLang="en-US" sz="1600" dirty="0"/>
              <a:t>に上昇するとする</a:t>
            </a:r>
            <a:endParaRPr lang="en-US" altLang="ja-JP" sz="1600" dirty="0"/>
          </a:p>
          <a:p>
            <a:pPr lvl="1"/>
            <a:r>
              <a:rPr lang="ja-JP" altLang="en-US" sz="1600" dirty="0"/>
              <a:t>また，分岐予測器を改良すると分岐予測ミス率が </a:t>
            </a:r>
            <a:r>
              <a:rPr lang="en-US" altLang="ja-JP" sz="1600" dirty="0"/>
              <a:t>0.2 </a:t>
            </a:r>
            <a:r>
              <a:rPr lang="ja-JP" altLang="en-US" sz="1600" dirty="0"/>
              <a:t>にまで削減されるとする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57</a:t>
            </a:fld>
            <a:endParaRPr kumimoji="1" lang="ja-JP" altLang="en-US" dirty="0"/>
          </a:p>
        </p:txBody>
      </p:sp>
    </p:spTree>
    <p:extLst>
      <p:ext uri="{BB962C8B-B14F-4D97-AF65-F5344CB8AC3E}">
        <p14:creationId xmlns:p14="http://schemas.microsoft.com/office/powerpoint/2010/main" val="244451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a:t>課題 ８</a:t>
            </a:r>
            <a:endParaRPr lang="en-US" dirty="0"/>
          </a:p>
        </p:txBody>
      </p:sp>
      <mc:AlternateContent xmlns:mc="http://schemas.openxmlformats.org/markup-compatibility/2006">
        <mc:Choice xmlns:a14="http://schemas.microsoft.com/office/drawing/2010/main" Requires="a14">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type="body" sz="quarter" idx="10"/>
              </p:nvPr>
            </p:nvSpPr>
            <p:spPr>
              <a:xfrm>
                <a:off x="2135956" y="1088975"/>
                <a:ext cx="7830087" cy="5220057"/>
              </a:xfrm>
            </p:spPr>
            <p:txBody>
              <a:bodyPr/>
              <a:lstStyle/>
              <a:p>
                <a:r>
                  <a:rPr lang="en-US" altLang="ja-JP" sz="1600" dirty="0"/>
                  <a:t>(2) </a:t>
                </a:r>
                <a:r>
                  <a:rPr lang="ja-JP" altLang="en-US" sz="1600" dirty="0"/>
                  <a:t>ここで効率を表す「性能エネルギー比（性能 </a:t>
                </a:r>
                <a:r>
                  <a:rPr lang="en-US" altLang="ja-JP" sz="1600" dirty="0"/>
                  <a:t>/ </a:t>
                </a:r>
                <a:r>
                  <a:rPr lang="ja-JP" altLang="en-US" sz="1600" dirty="0"/>
                  <a:t>消費エネルギー）」という指標を導入する．この数字が大きいほど小さなエネルギーで速く動くことを意味する．前述の３つの改良方針のうち，以下の追加の条件のもとで，最も性能エネルギー比が良いものはどれかを計算して検討せよ．</a:t>
                </a:r>
                <a:endParaRPr lang="en-US" altLang="ja-JP" sz="1600" dirty="0"/>
              </a:p>
              <a:p>
                <a:pPr lvl="1"/>
                <a:r>
                  <a:rPr lang="ja-JP" altLang="en-US" sz="1600" dirty="0"/>
                  <a:t>クロック周波数を </a:t>
                </a:r>
                <a:r>
                  <a:rPr lang="en-US" altLang="ja-JP" sz="1600" dirty="0"/>
                  <a:t>N </a:t>
                </a:r>
                <a:r>
                  <a:rPr lang="ja-JP" altLang="en-US" sz="1600" dirty="0"/>
                  <a:t>倍にすると，消費エネルギーは </a:t>
                </a:r>
                <a14:m>
                  <m:oMath xmlns:m="http://schemas.openxmlformats.org/officeDocument/2006/math">
                    <m:sSup>
                      <m:sSupPr>
                        <m:ctrlPr>
                          <a:rPr lang="en-US" altLang="ja-JP" sz="1600" i="1" dirty="0">
                            <a:latin typeface="Cambria Math" panose="02040503050406030204" pitchFamily="18" charset="0"/>
                          </a:rPr>
                        </m:ctrlPr>
                      </m:sSupPr>
                      <m:e>
                        <m:r>
                          <a:rPr lang="en-US" altLang="ja-JP" sz="1600" i="1" dirty="0">
                            <a:latin typeface="Cambria Math" panose="02040503050406030204" pitchFamily="18" charset="0"/>
                          </a:rPr>
                          <m:t>𝑁</m:t>
                        </m:r>
                      </m:e>
                      <m:sup>
                        <m:r>
                          <a:rPr lang="en-US" altLang="ja-JP" sz="1600" i="1" dirty="0">
                            <a:latin typeface="Cambria Math" panose="02040503050406030204" pitchFamily="18" charset="0"/>
                          </a:rPr>
                          <m:t>2</m:t>
                        </m:r>
                      </m:sup>
                    </m:sSup>
                  </m:oMath>
                </a14:m>
                <a:r>
                  <a:rPr lang="ja-JP" altLang="en-US" sz="1600" dirty="0"/>
                  <a:t> 倍増える</a:t>
                </a:r>
                <a:endParaRPr lang="en-US" altLang="ja-JP" sz="1600" dirty="0"/>
              </a:p>
              <a:p>
                <a:pPr lvl="1"/>
                <a:r>
                  <a:rPr lang="en-US" altLang="ja-JP" sz="1600" dirty="0"/>
                  <a:t>3-way </a:t>
                </a:r>
                <a:r>
                  <a:rPr lang="ja-JP" altLang="en-US" sz="1600" dirty="0"/>
                  <a:t>スーパースカラにすると消費エネルギーは </a:t>
                </a:r>
                <a:r>
                  <a:rPr lang="en-US" altLang="ja-JP" sz="1600" dirty="0"/>
                  <a:t>1.5 </a:t>
                </a:r>
                <a:r>
                  <a:rPr lang="ja-JP" altLang="en-US" sz="1600" dirty="0"/>
                  <a:t>倍になる</a:t>
                </a:r>
                <a:endParaRPr lang="en-US" altLang="ja-JP" sz="1600" dirty="0"/>
              </a:p>
              <a:p>
                <a:pPr lvl="1"/>
                <a:r>
                  <a:rPr lang="ja-JP" altLang="en-US" sz="1600" dirty="0"/>
                  <a:t>分岐予測器を改良すると消費エネルギーは </a:t>
                </a:r>
                <a:r>
                  <a:rPr lang="en-US" altLang="ja-JP" sz="1600" dirty="0"/>
                  <a:t>1.1 </a:t>
                </a:r>
                <a:r>
                  <a:rPr lang="ja-JP" altLang="en-US" sz="1600" dirty="0"/>
                  <a:t>倍になる</a:t>
                </a:r>
                <a:endParaRPr lang="en-US" altLang="ja-JP" sz="1600" dirty="0"/>
              </a:p>
            </p:txBody>
          </p:sp>
        </mc:Choice>
        <mc:Fallback>
          <p:sp>
            <p:nvSpPr>
              <p:cNvPr id="7" name="コンテンツ プレースホルダー 2">
                <a:extLst>
                  <a:ext uri="{FF2B5EF4-FFF2-40B4-BE49-F238E27FC236}">
                    <a16:creationId xmlns:a16="http://schemas.microsoft.com/office/drawing/2014/main" id="{E21D1133-FC57-F955-23BE-11C267021F5C}"/>
                  </a:ext>
                </a:extLst>
              </p:cNvPr>
              <p:cNvSpPr>
                <a:spLocks noGrp="1" noRot="1" noChangeAspect="1" noMove="1" noResize="1" noEditPoints="1" noAdjustHandles="1" noChangeArrowheads="1" noChangeShapeType="1" noTextEdit="1"/>
              </p:cNvSpPr>
              <p:nvPr>
                <p:ph type="body" sz="quarter" idx="10"/>
              </p:nvPr>
            </p:nvSpPr>
            <p:spPr>
              <a:xfrm>
                <a:off x="2135956" y="1088975"/>
                <a:ext cx="7830087" cy="5220057"/>
              </a:xfrm>
              <a:blipFill>
                <a:blip r:embed="rId2"/>
                <a:stretch>
                  <a:fillRect l="-311"/>
                </a:stretch>
              </a:blipFill>
            </p:spPr>
            <p:txBody>
              <a:bodyPr/>
              <a:lstStyle/>
              <a:p>
                <a:r>
                  <a:rPr lang="ja-JP" altLang="en-US">
                    <a:noFill/>
                  </a:rPr>
                  <a:t> </a:t>
                </a:r>
              </a:p>
            </p:txBody>
          </p:sp>
        </mc:Fallback>
      </mc:AlternateContent>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11472863" y="6308725"/>
            <a:ext cx="719137" cy="549275"/>
          </a:xfrm>
        </p:spPr>
        <p:txBody>
          <a:bodyPr/>
          <a:lstStyle/>
          <a:p>
            <a:fld id="{D2D8002D-B5B0-4BAC-B1F6-782DDCCE6D9C}" type="slidenum">
              <a:rPr kumimoji="1" lang="ja-JP" altLang="en-US" smtClean="0"/>
              <a:pPr/>
              <a:t>58</a:t>
            </a:fld>
            <a:endParaRPr kumimoji="1" lang="ja-JP" altLang="en-US" dirty="0"/>
          </a:p>
        </p:txBody>
      </p:sp>
    </p:spTree>
    <p:extLst>
      <p:ext uri="{BB962C8B-B14F-4D97-AF65-F5344CB8AC3E}">
        <p14:creationId xmlns:p14="http://schemas.microsoft.com/office/powerpoint/2010/main" val="35873086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a:xfrm>
            <a:off x="2135956" y="1268976"/>
            <a:ext cx="7920088" cy="5220058"/>
          </a:xfrm>
        </p:spPr>
        <p:txBody>
          <a:bodyPr/>
          <a:lstStyle/>
          <a:p>
            <a:r>
              <a:rPr lang="ja-JP" altLang="en-US" sz="1600" dirty="0"/>
              <a:t>以下を提出：</a:t>
            </a:r>
            <a:endParaRPr lang="en-US" altLang="ja-JP" sz="1600" dirty="0"/>
          </a:p>
          <a:p>
            <a:pPr lvl="1">
              <a:buFont typeface="+mj-lt"/>
              <a:buAutoNum type="arabicPeriod"/>
            </a:pPr>
            <a:r>
              <a:rPr lang="ja-JP" altLang="en-US" sz="1600" dirty="0"/>
              <a:t>課題８：　</a:t>
            </a:r>
            <a:endParaRPr lang="en-US" altLang="ja-JP" sz="1600" dirty="0"/>
          </a:p>
          <a:p>
            <a:pPr lvl="2"/>
            <a:r>
              <a:rPr lang="ja-JP" altLang="en-US" sz="1600" dirty="0"/>
              <a:t>提出は </a:t>
            </a:r>
            <a:r>
              <a:rPr lang="en-US" altLang="ja-JP" sz="1600" dirty="0"/>
              <a:t>Moodle </a:t>
            </a:r>
            <a:r>
              <a:rPr lang="ja-JP" altLang="en-US" sz="1600" dirty="0"/>
              <a:t>の「課題８」のところからお願いします</a:t>
            </a:r>
            <a:endParaRPr lang="en-US" altLang="ja-JP" sz="1600" dirty="0"/>
          </a:p>
          <a:p>
            <a:pPr lvl="2"/>
            <a:r>
              <a:rPr lang="ja-JP" altLang="en-US" sz="1600" dirty="0"/>
              <a:t>紙に書いた場合は写真を撮ってアップロードしてください</a:t>
            </a:r>
            <a:endParaRPr lang="en-US" altLang="ja-JP" sz="1600" dirty="0"/>
          </a:p>
          <a:p>
            <a:pPr lvl="1">
              <a:buFont typeface="+mj-lt"/>
              <a:buAutoNum type="arabicPeriod"/>
            </a:pPr>
            <a:r>
              <a:rPr lang="ja-JP" altLang="en-US" sz="1600" dirty="0"/>
              <a:t>感想や質問：　</a:t>
            </a:r>
            <a:endParaRPr lang="en-US" altLang="ja-JP" sz="1600" dirty="0"/>
          </a:p>
          <a:p>
            <a:pPr lvl="2"/>
            <a:r>
              <a:rPr lang="ja-JP" altLang="en-US" sz="1600" dirty="0"/>
              <a:t>「感想や質問」のところに投稿してください</a:t>
            </a:r>
            <a:endParaRPr lang="en-US" altLang="ja-JP" sz="1600" dirty="0"/>
          </a:p>
          <a:p>
            <a:pPr lvl="2"/>
            <a:r>
              <a:rPr lang="ja-JP" altLang="en-US" sz="1600" dirty="0"/>
              <a:t>わからない場所がある場合，具体的に書いてもらえると良いです</a:t>
            </a:r>
            <a:endParaRPr lang="en-US" altLang="ja-JP" sz="1600" dirty="0"/>
          </a:p>
          <a:p>
            <a:r>
              <a:rPr lang="ja-JP" altLang="en-US" sz="1600" dirty="0"/>
              <a:t>提出締め切り</a:t>
            </a:r>
            <a:endParaRPr lang="en-US" altLang="ja-JP" sz="1600" dirty="0"/>
          </a:p>
          <a:p>
            <a:pPr lvl="1"/>
            <a:r>
              <a:rPr lang="ja-JP" altLang="en-US" sz="1600" dirty="0"/>
              <a:t>次回講義開始まで</a:t>
            </a:r>
            <a:endParaRPr lang="en-US" altLang="ja-JP" sz="1600" dirty="0"/>
          </a:p>
          <a:p>
            <a:r>
              <a:rPr lang="ja-JP" altLang="en-US" sz="1600" dirty="0"/>
              <a:t>注意：</a:t>
            </a:r>
            <a:endParaRPr lang="en-US" altLang="ja-JP" sz="1600" dirty="0"/>
          </a:p>
          <a:p>
            <a:pPr lvl="1"/>
            <a:r>
              <a:rPr lang="ja-JP" altLang="en-US" sz="1600" dirty="0"/>
              <a:t>課題の出来は，ある程度努力したあとがあれば良しです</a:t>
            </a:r>
            <a:endParaRPr lang="en-US" altLang="ja-JP" sz="1600" dirty="0"/>
          </a:p>
          <a:p>
            <a:pPr lvl="1"/>
            <a:r>
              <a:rPr lang="ja-JP" altLang="en-US" sz="1600" dirty="0"/>
              <a:t>必ずしも正解していなくても良いです</a:t>
            </a:r>
            <a:endParaRPr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8F69A61-DFFC-ADC4-BC06-0BE0638E69DB}"/>
              </a:ext>
            </a:extLst>
          </p:cNvPr>
          <p:cNvSpPr>
            <a:spLocks noGrp="1"/>
          </p:cNvSpPr>
          <p:nvPr>
            <p:ph type="title"/>
          </p:nvPr>
        </p:nvSpPr>
        <p:spPr/>
        <p:txBody>
          <a:bodyPr/>
          <a:lstStyle/>
          <a:p>
            <a:r>
              <a:rPr lang="ja-JP" altLang="en-US" dirty="0"/>
              <a:t>休講と期末試験について</a:t>
            </a:r>
            <a:endParaRPr kumimoji="1" lang="ja-JP" altLang="en-US" dirty="0"/>
          </a:p>
        </p:txBody>
      </p:sp>
      <p:sp>
        <p:nvSpPr>
          <p:cNvPr id="3" name="コンテンツ プレースホルダー 2">
            <a:extLst>
              <a:ext uri="{FF2B5EF4-FFF2-40B4-BE49-F238E27FC236}">
                <a16:creationId xmlns:a16="http://schemas.microsoft.com/office/drawing/2014/main" id="{D883A268-693D-A39D-95DA-DEFB145555E0}"/>
              </a:ext>
            </a:extLst>
          </p:cNvPr>
          <p:cNvSpPr>
            <a:spLocks noGrp="1"/>
          </p:cNvSpPr>
          <p:nvPr>
            <p:ph type="body" sz="quarter" idx="10"/>
          </p:nvPr>
        </p:nvSpPr>
        <p:spPr/>
        <p:txBody>
          <a:bodyPr/>
          <a:lstStyle/>
          <a:p>
            <a:r>
              <a:rPr kumimoji="1" lang="en-US" altLang="ja-JP" dirty="0"/>
              <a:t>6/29 </a:t>
            </a:r>
            <a:r>
              <a:rPr kumimoji="1" lang="ja-JP" altLang="en-US" dirty="0"/>
              <a:t>の講義はおやすみです</a:t>
            </a:r>
            <a:endParaRPr kumimoji="1" lang="en-US" altLang="ja-JP" dirty="0"/>
          </a:p>
          <a:p>
            <a:pPr lvl="1"/>
            <a:r>
              <a:rPr lang="ja-JP" altLang="en-US" dirty="0"/>
              <a:t>次回は </a:t>
            </a:r>
            <a:r>
              <a:rPr lang="en-US" altLang="ja-JP" dirty="0"/>
              <a:t>7/6 </a:t>
            </a:r>
            <a:r>
              <a:rPr lang="ja-JP" altLang="en-US" dirty="0"/>
              <a:t>です</a:t>
            </a:r>
            <a:endParaRPr lang="en-US" altLang="ja-JP" dirty="0"/>
          </a:p>
          <a:p>
            <a:r>
              <a:rPr kumimoji="1" lang="ja-JP" altLang="en-US" dirty="0"/>
              <a:t>期末試験は </a:t>
            </a:r>
            <a:r>
              <a:rPr kumimoji="1" lang="en-US" altLang="ja-JP" dirty="0"/>
              <a:t>8/4 </a:t>
            </a:r>
            <a:r>
              <a:rPr kumimoji="1" lang="ja-JP" altLang="en-US" dirty="0"/>
              <a:t>に実施予定です</a:t>
            </a:r>
            <a:endParaRPr kumimoji="1" lang="en-US" altLang="ja-JP" dirty="0"/>
          </a:p>
          <a:p>
            <a:pPr lvl="1"/>
            <a:r>
              <a:rPr lang="ja-JP" altLang="en-US" dirty="0"/>
              <a:t>どうしても都合がつかない人は，メールで相談してください</a:t>
            </a:r>
            <a:endParaRPr lang="en-US" altLang="ja-JP" dirty="0"/>
          </a:p>
          <a:p>
            <a:pPr lvl="1"/>
            <a:r>
              <a:rPr kumimoji="1" lang="ja-JP" altLang="en-US" dirty="0"/>
              <a:t>部活やサークル，バイトなどの私用には対応できません</a:t>
            </a:r>
          </a:p>
        </p:txBody>
      </p:sp>
    </p:spTree>
    <p:extLst>
      <p:ext uri="{BB962C8B-B14F-4D97-AF65-F5344CB8AC3E}">
        <p14:creationId xmlns:p14="http://schemas.microsoft.com/office/powerpoint/2010/main" val="413868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DFBEE0-4E84-A63F-46B2-66B0743597FB}"/>
              </a:ext>
            </a:extLst>
          </p:cNvPr>
          <p:cNvSpPr>
            <a:spLocks noGrp="1"/>
          </p:cNvSpPr>
          <p:nvPr>
            <p:ph type="title"/>
          </p:nvPr>
        </p:nvSpPr>
        <p:spPr/>
        <p:txBody>
          <a:bodyPr/>
          <a:lstStyle/>
          <a:p>
            <a:r>
              <a:rPr kumimoji="1" lang="ja-JP" altLang="en-US" dirty="0"/>
              <a:t>出席調査</a:t>
            </a:r>
          </a:p>
        </p:txBody>
      </p:sp>
      <p:sp>
        <p:nvSpPr>
          <p:cNvPr id="3" name="テキスト プレースホルダー 2">
            <a:extLst>
              <a:ext uri="{FF2B5EF4-FFF2-40B4-BE49-F238E27FC236}">
                <a16:creationId xmlns:a16="http://schemas.microsoft.com/office/drawing/2014/main" id="{F673185A-ABB6-2C71-F125-E68B86A753E8}"/>
              </a:ext>
            </a:extLst>
          </p:cNvPr>
          <p:cNvSpPr>
            <a:spLocks noGrp="1"/>
          </p:cNvSpPr>
          <p:nvPr>
            <p:ph type="body" sz="quarter" idx="10"/>
          </p:nvPr>
        </p:nvSpPr>
        <p:spPr>
          <a:xfrm>
            <a:off x="1055944" y="1088974"/>
            <a:ext cx="9360104" cy="5490061"/>
          </a:xfrm>
        </p:spPr>
        <p:txBody>
          <a:bodyPr/>
          <a:lstStyle/>
          <a:p>
            <a:r>
              <a:rPr kumimoji="1" lang="ja-JP" altLang="en-US" dirty="0"/>
              <a:t>以下のスプレッドシートの，</a:t>
            </a:r>
            <a:r>
              <a:rPr lang="ja-JP" altLang="en-US" dirty="0"/>
              <a:t>自分の座っている席に対応した位置のセルに</a:t>
            </a:r>
            <a:br>
              <a:rPr lang="en-US" altLang="ja-JP" dirty="0"/>
            </a:br>
            <a:r>
              <a:rPr lang="ja-JP" altLang="en-US" dirty="0"/>
              <a:t>学籍番号を書いてください</a:t>
            </a:r>
            <a:endParaRPr kumimoji="1" lang="en-US" altLang="ja-JP" dirty="0"/>
          </a:p>
          <a:p>
            <a:pPr lvl="1"/>
            <a:r>
              <a:rPr lang="en-US" altLang="ja-JP" dirty="0">
                <a:hlinkClick r:id="rId2"/>
              </a:rPr>
              <a:t>https://docs.google.com/spreadsheets/d/1jjVtDvqI7F2XeFbLNp3KCe_uF54YRVl9Hmvhh8FTXg0/edit?usp=sharing</a:t>
            </a:r>
            <a:endParaRPr lang="en-US" altLang="ja-JP" dirty="0"/>
          </a:p>
          <a:p>
            <a:endParaRPr kumimoji="1" lang="ja-JP" altLang="en-US" dirty="0"/>
          </a:p>
        </p:txBody>
      </p:sp>
    </p:spTree>
    <p:extLst>
      <p:ext uri="{BB962C8B-B14F-4D97-AF65-F5344CB8AC3E}">
        <p14:creationId xmlns:p14="http://schemas.microsoft.com/office/powerpoint/2010/main" val="22601504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2135956" y="0"/>
            <a:ext cx="8532044" cy="908972"/>
          </a:xfrm>
        </p:spPr>
        <p:txBody>
          <a:bodyPr/>
          <a:lstStyle/>
          <a:p>
            <a:r>
              <a:rPr lang="ja-JP" altLang="en-US" dirty="0"/>
              <a:t>質問とか感想（過去のもの）</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type="body" sz="quarter" idx="10"/>
          </p:nvPr>
        </p:nvSpPr>
        <p:spPr>
          <a:xfrm>
            <a:off x="2135956" y="1088974"/>
            <a:ext cx="7920088" cy="5220058"/>
          </a:xfrm>
        </p:spPr>
        <p:txBody>
          <a:bodyPr/>
          <a:lstStyle/>
          <a:p>
            <a:r>
              <a:rPr lang="ja-JP" altLang="en-US" b="0" i="0" dirty="0">
                <a:solidFill>
                  <a:srgbClr val="000000"/>
                </a:solidFill>
                <a:effectLst/>
                <a:latin typeface="Meiryo" panose="020B0604030504040204" pitchFamily="50" charset="-128"/>
                <a:ea typeface="Meiryo" panose="020B0604030504040204" pitchFamily="50" charset="-128"/>
              </a:rPr>
              <a:t>また、分岐予測のアルゴリズムについて具体的に教えていただきたいです。特に、どのような種類があり、それぞれの精度の違いはどのようなものなのでしょうか。また、これらのアルゴリズムが実際にどのように実装され、どのように動作するのかについても詳しく知りたいです。</a:t>
            </a:r>
            <a:endParaRPr lang="en-US" altLang="ja-JP" b="0" i="0" dirty="0">
              <a:solidFill>
                <a:srgbClr val="000000"/>
              </a:solidFill>
              <a:effectLst/>
              <a:latin typeface="Meiryo" panose="020B0604030504040204" pitchFamily="50" charset="-128"/>
              <a:ea typeface="Meiryo" panose="020B0604030504040204" pitchFamily="50" charset="-128"/>
            </a:endParaRPr>
          </a:p>
          <a:p>
            <a:pPr lvl="1"/>
            <a:endParaRPr lang="en-US" dirty="0">
              <a:solidFill>
                <a:srgbClr val="000000"/>
              </a:solidFill>
              <a:latin typeface="Meiryo" panose="020B0604030504040204" pitchFamily="50" charset="-128"/>
              <a:ea typeface="Meiryo" panose="020B0604030504040204" pitchFamily="50" charset="-128"/>
            </a:endParaRPr>
          </a:p>
          <a:p>
            <a:pPr lvl="1"/>
            <a:r>
              <a:rPr lang="ja-JP" altLang="en-US" dirty="0">
                <a:solidFill>
                  <a:srgbClr val="000000"/>
                </a:solidFill>
                <a:latin typeface="Meiryo" panose="020B0604030504040204" pitchFamily="50" charset="-128"/>
                <a:ea typeface="Meiryo" panose="020B0604030504040204" pitchFamily="50" charset="-128"/>
              </a:rPr>
              <a:t>院生むけの講義資料ですが，興味があればこちらも</a:t>
            </a:r>
            <a:endParaRPr lang="en-US" dirty="0">
              <a:solidFill>
                <a:srgbClr val="000000"/>
              </a:solidFill>
              <a:latin typeface="Meiryo" panose="020B0604030504040204" pitchFamily="50" charset="-128"/>
              <a:ea typeface="Meiryo" panose="020B0604030504040204" pitchFamily="50" charset="-128"/>
            </a:endParaRPr>
          </a:p>
          <a:p>
            <a:pPr lvl="1"/>
            <a:r>
              <a:rPr lang="en-US" dirty="0">
                <a:hlinkClick r:id="rId2"/>
              </a:rPr>
              <a:t>https://github.com/shioyadan/advanced-computer-organization/blob/master/aco-shioya-06.pdf</a:t>
            </a:r>
            <a:endParaRPr lang="en-US" dirty="0"/>
          </a:p>
          <a:p>
            <a:pPr lvl="1"/>
            <a:r>
              <a:rPr lang="en-US" dirty="0">
                <a:hlinkClick r:id="rId3"/>
              </a:rPr>
              <a:t>https://github.com/shioyadan/advanced-computer-organization/blob/master/aco-shioya-appendix-bpred.pdf</a:t>
            </a:r>
            <a:endParaRPr lang="en-US" dirty="0"/>
          </a:p>
        </p:txBody>
      </p:sp>
    </p:spTree>
    <p:extLst>
      <p:ext uri="{BB962C8B-B14F-4D97-AF65-F5344CB8AC3E}">
        <p14:creationId xmlns:p14="http://schemas.microsoft.com/office/powerpoint/2010/main" val="4018064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D4E83C-5E1C-4755-9CC4-ED0423359990}"/>
              </a:ext>
            </a:extLst>
          </p:cNvPr>
          <p:cNvSpPr>
            <a:spLocks noGrp="1"/>
          </p:cNvSpPr>
          <p:nvPr>
            <p:ph type="title"/>
          </p:nvPr>
        </p:nvSpPr>
        <p:spPr/>
        <p:txBody>
          <a:bodyPr/>
          <a:lstStyle/>
          <a:p>
            <a:r>
              <a:rPr kumimoji="1" lang="ja-JP" altLang="en-US" dirty="0"/>
              <a:t>現代の分岐予測器の性能（</a:t>
            </a:r>
            <a:r>
              <a:rPr kumimoji="1" lang="en-US" altLang="ja-JP" dirty="0"/>
              <a:t>64 KB </a:t>
            </a:r>
            <a:r>
              <a:rPr kumimoji="1" lang="ja-JP" altLang="en-US" dirty="0"/>
              <a:t>使用の場合）</a:t>
            </a:r>
            <a:br>
              <a:rPr kumimoji="1" lang="en-US" altLang="ja-JP" dirty="0"/>
            </a:br>
            <a:r>
              <a:rPr lang="en-US" altLang="ja-JP" sz="1400" dirty="0"/>
              <a:t>PIERRE MICHAUD, An Alternative TAGE-like Conditional Branch Predictor, TACO 2018 </a:t>
            </a:r>
            <a:r>
              <a:rPr lang="ja-JP" altLang="en-US" sz="1400" dirty="0"/>
              <a:t>より</a:t>
            </a:r>
          </a:p>
        </p:txBody>
      </p:sp>
      <p:pic>
        <p:nvPicPr>
          <p:cNvPr id="8" name="図 7">
            <a:extLst>
              <a:ext uri="{FF2B5EF4-FFF2-40B4-BE49-F238E27FC236}">
                <a16:creationId xmlns:a16="http://schemas.microsoft.com/office/drawing/2014/main" id="{FB73A42B-B2B6-432E-B0A8-FE54D8D67DDE}"/>
              </a:ext>
            </a:extLst>
          </p:cNvPr>
          <p:cNvPicPr>
            <a:picLocks noChangeAspect="1"/>
          </p:cNvPicPr>
          <p:nvPr/>
        </p:nvPicPr>
        <p:blipFill>
          <a:blip r:embed="rId2"/>
          <a:stretch>
            <a:fillRect/>
          </a:stretch>
        </p:blipFill>
        <p:spPr>
          <a:xfrm>
            <a:off x="1865953" y="1718982"/>
            <a:ext cx="7992038" cy="4171113"/>
          </a:xfrm>
          <a:prstGeom prst="rect">
            <a:avLst/>
          </a:prstGeom>
        </p:spPr>
      </p:pic>
    </p:spTree>
    <p:extLst>
      <p:ext uri="{BB962C8B-B14F-4D97-AF65-F5344CB8AC3E}">
        <p14:creationId xmlns:p14="http://schemas.microsoft.com/office/powerpoint/2010/main" val="41109165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type="body" sz="quarter" idx="10"/>
          </p:nvPr>
        </p:nvSpPr>
        <p:spPr>
          <a:xfrm>
            <a:off x="2135956" y="1088974"/>
            <a:ext cx="7920088" cy="5220058"/>
          </a:xfrm>
        </p:spPr>
        <p:txBody>
          <a:bodyPr/>
          <a:lstStyle/>
          <a:p>
            <a:r>
              <a:rPr lang="ja-JP" altLang="en-US" dirty="0"/>
              <a:t>前回に引き続きなれない言葉がたくさん出てきたので復習します。最大動作周波数、フォワーディング、フラッシュ、</a:t>
            </a:r>
            <a:r>
              <a:rPr lang="en-US" altLang="ja-JP" dirty="0"/>
              <a:t>in-order</a:t>
            </a:r>
            <a:r>
              <a:rPr lang="ja-JP" altLang="en-US" dirty="0"/>
              <a:t>、</a:t>
            </a:r>
            <a:r>
              <a:rPr lang="en-US" altLang="ja-JP" dirty="0"/>
              <a:t>out of order</a:t>
            </a:r>
            <a:r>
              <a:rPr lang="ja-JP" altLang="en-US" dirty="0"/>
              <a:t>等。問題を解くことでようやく理解できた気がするのでもっとやりたいです。</a:t>
            </a:r>
            <a:endParaRPr lang="en-US" dirty="0"/>
          </a:p>
        </p:txBody>
      </p:sp>
    </p:spTree>
    <p:extLst>
      <p:ext uri="{BB962C8B-B14F-4D97-AF65-F5344CB8AC3E}">
        <p14:creationId xmlns:p14="http://schemas.microsoft.com/office/powerpoint/2010/main" val="3251318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92600-264E-F27C-8F6D-F115EE03E5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D5EF31-F458-55CE-FC66-5BD3C2BEF49E}"/>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453634AA-B905-E30A-AF76-666E50DD968F}"/>
              </a:ext>
            </a:extLst>
          </p:cNvPr>
          <p:cNvSpPr>
            <a:spLocks noGrp="1"/>
          </p:cNvSpPr>
          <p:nvPr>
            <p:ph type="body" sz="quarter" idx="10"/>
          </p:nvPr>
        </p:nvSpPr>
        <p:spPr>
          <a:xfrm>
            <a:off x="2135956" y="1088974"/>
            <a:ext cx="7920088" cy="5220058"/>
          </a:xfrm>
        </p:spPr>
        <p:txBody>
          <a:bodyPr/>
          <a:lstStyle/>
          <a:p>
            <a:r>
              <a:rPr lang="ja-JP" altLang="en-US" dirty="0"/>
              <a:t>課題に関して質問です。</a:t>
            </a:r>
            <a:r>
              <a:rPr lang="en-US" altLang="ja-JP" dirty="0" err="1"/>
              <a:t>beq</a:t>
            </a:r>
            <a:r>
              <a:rPr lang="ja-JP" altLang="en-US" dirty="0"/>
              <a:t>が分岐予測ミスを起こすのはどの様な場合なのでしょう？</a:t>
            </a:r>
            <a:endParaRPr lang="en-US" dirty="0"/>
          </a:p>
        </p:txBody>
      </p:sp>
    </p:spTree>
    <p:extLst>
      <p:ext uri="{BB962C8B-B14F-4D97-AF65-F5344CB8AC3E}">
        <p14:creationId xmlns:p14="http://schemas.microsoft.com/office/powerpoint/2010/main" val="1493691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5B7ED-383E-CBF1-0A06-92143AF169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EBFA8AB-B0A2-79D9-CF15-F75D525C1113}"/>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DB120CBB-9653-9631-172B-5ED8CE0BDB21}"/>
              </a:ext>
            </a:extLst>
          </p:cNvPr>
          <p:cNvSpPr>
            <a:spLocks noGrp="1"/>
          </p:cNvSpPr>
          <p:nvPr>
            <p:ph type="body" sz="quarter" idx="10"/>
          </p:nvPr>
        </p:nvSpPr>
        <p:spPr>
          <a:xfrm>
            <a:off x="2135956" y="1088974"/>
            <a:ext cx="7920088" cy="5220058"/>
          </a:xfrm>
        </p:spPr>
        <p:txBody>
          <a:bodyPr/>
          <a:lstStyle/>
          <a:p>
            <a:r>
              <a:rPr lang="en-US" altLang="ja-JP" dirty="0"/>
              <a:t>in-order</a:t>
            </a:r>
            <a:r>
              <a:rPr lang="ja-JP" altLang="en-US" dirty="0"/>
              <a:t>と</a:t>
            </a:r>
            <a:r>
              <a:rPr lang="en-US" altLang="ja-JP" dirty="0"/>
              <a:t>out-of-order</a:t>
            </a:r>
            <a:r>
              <a:rPr lang="ja-JP" altLang="en-US" dirty="0"/>
              <a:t>の実行の違いの図</a:t>
            </a:r>
            <a:r>
              <a:rPr lang="en-US" altLang="ja-JP" dirty="0"/>
              <a:t>(p.64)</a:t>
            </a:r>
            <a:r>
              <a:rPr lang="ja-JP" altLang="en-US" dirty="0"/>
              <a:t>で、</a:t>
            </a:r>
            <a:r>
              <a:rPr lang="en-US" altLang="ja-JP" dirty="0" err="1"/>
              <a:t>mul</a:t>
            </a:r>
            <a:r>
              <a:rPr lang="ja-JP" altLang="en-US" dirty="0"/>
              <a:t>が</a:t>
            </a:r>
            <a:r>
              <a:rPr lang="en-US" altLang="ja-JP" dirty="0"/>
              <a:t>IF ID SC EX...</a:t>
            </a:r>
            <a:r>
              <a:rPr lang="ja-JP" altLang="en-US" dirty="0"/>
              <a:t>となっていましたがどうしてここでスケジューリングを挟むんですか？</a:t>
            </a:r>
            <a:endParaRPr lang="en-US" dirty="0"/>
          </a:p>
        </p:txBody>
      </p:sp>
    </p:spTree>
    <p:extLst>
      <p:ext uri="{BB962C8B-B14F-4D97-AF65-F5344CB8AC3E}">
        <p14:creationId xmlns:p14="http://schemas.microsoft.com/office/powerpoint/2010/main" val="19241600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C1FC7-6465-003D-5FC7-C4D20D670A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D112D0A-7A3B-A3CD-D00E-D5CDF0BB431C}"/>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35666175-7CF1-7EA9-9B6C-367A61EF99E6}"/>
              </a:ext>
            </a:extLst>
          </p:cNvPr>
          <p:cNvSpPr>
            <a:spLocks noGrp="1"/>
          </p:cNvSpPr>
          <p:nvPr>
            <p:ph type="body" sz="quarter" idx="10"/>
          </p:nvPr>
        </p:nvSpPr>
        <p:spPr>
          <a:xfrm>
            <a:off x="2135956" y="1088974"/>
            <a:ext cx="7920088" cy="5220058"/>
          </a:xfrm>
        </p:spPr>
        <p:txBody>
          <a:bodyPr/>
          <a:lstStyle/>
          <a:p>
            <a:r>
              <a:rPr lang="en-US" altLang="ja-JP" dirty="0"/>
              <a:t>in-order</a:t>
            </a:r>
            <a:r>
              <a:rPr lang="ja-JP" altLang="en-US" dirty="0"/>
              <a:t>実行では、前の命令がストールすると後続命令も待たされることは理解できました。</a:t>
            </a:r>
            <a:br>
              <a:rPr lang="ja-JP" altLang="en-US" dirty="0"/>
            </a:br>
            <a:r>
              <a:rPr lang="ja-JP" altLang="en-US" dirty="0"/>
              <a:t>しかし、後続命令が「</a:t>
            </a:r>
            <a:r>
              <a:rPr lang="en-US" altLang="ja-JP" dirty="0"/>
              <a:t>F D</a:t>
            </a:r>
            <a:r>
              <a:rPr lang="ja-JP" altLang="en-US" dirty="0"/>
              <a:t>」まで進んでからストールするのか、「</a:t>
            </a:r>
            <a:r>
              <a:rPr lang="en-US" altLang="ja-JP" dirty="0"/>
              <a:t>F</a:t>
            </a:r>
            <a:r>
              <a:rPr lang="ja-JP" altLang="en-US" dirty="0"/>
              <a:t>」の直後でストールするのかの判断基準が分からなかったので教えていただきたいです！</a:t>
            </a:r>
            <a:endParaRPr lang="en-US" dirty="0"/>
          </a:p>
        </p:txBody>
      </p:sp>
    </p:spTree>
    <p:extLst>
      <p:ext uri="{BB962C8B-B14F-4D97-AF65-F5344CB8AC3E}">
        <p14:creationId xmlns:p14="http://schemas.microsoft.com/office/powerpoint/2010/main" val="3611427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6FD07-4612-2B46-FD4D-22EA5854485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54E089-31B9-0818-C57A-6BDF54D11741}"/>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73E02CEF-3DAE-BA55-AE31-D639E2783E05}"/>
              </a:ext>
            </a:extLst>
          </p:cNvPr>
          <p:cNvSpPr>
            <a:spLocks noGrp="1"/>
          </p:cNvSpPr>
          <p:nvPr>
            <p:ph type="body" sz="quarter" idx="10"/>
          </p:nvPr>
        </p:nvSpPr>
        <p:spPr>
          <a:xfrm>
            <a:off x="2135956" y="1088974"/>
            <a:ext cx="7920088" cy="5220058"/>
          </a:xfrm>
        </p:spPr>
        <p:txBody>
          <a:bodyPr/>
          <a:lstStyle/>
          <a:p>
            <a:r>
              <a:rPr lang="ja-JP" altLang="en-US" dirty="0"/>
              <a:t>分岐予測を行った際、その予測が正しかったかわかるのは演算を行うときなのか、メモリアクセスをしたときなのか、いまいちわかりませんでした。また、バブルはできるだけ縦を揃えたほうが良いのですか。</a:t>
            </a:r>
            <a:endParaRPr lang="en-US" dirty="0"/>
          </a:p>
        </p:txBody>
      </p:sp>
    </p:spTree>
    <p:extLst>
      <p:ext uri="{BB962C8B-B14F-4D97-AF65-F5344CB8AC3E}">
        <p14:creationId xmlns:p14="http://schemas.microsoft.com/office/powerpoint/2010/main" val="160909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07BCB-9F25-5AC2-F6FB-6C128C238E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DC1B0A3-CB96-E393-5369-AD69306C5AA1}"/>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EE60D20B-E860-2584-0E0D-1DBD644EEA48}"/>
              </a:ext>
            </a:extLst>
          </p:cNvPr>
          <p:cNvSpPr>
            <a:spLocks noGrp="1"/>
          </p:cNvSpPr>
          <p:nvPr>
            <p:ph type="body" sz="quarter" idx="10"/>
          </p:nvPr>
        </p:nvSpPr>
        <p:spPr>
          <a:xfrm>
            <a:off x="2135956" y="1088974"/>
            <a:ext cx="7920088" cy="5220058"/>
          </a:xfrm>
        </p:spPr>
        <p:txBody>
          <a:bodyPr/>
          <a:lstStyle/>
          <a:p>
            <a:r>
              <a:rPr lang="ja-JP" altLang="en-US" dirty="0"/>
              <a:t>エレベーターでマイクラの動画を見てたお茶大生</a:t>
            </a:r>
            <a:r>
              <a:rPr lang="en-US" altLang="ja-JP" dirty="0"/>
              <a:t>……</a:t>
            </a:r>
            <a:r>
              <a:rPr lang="ja-JP" altLang="en-US" dirty="0"/>
              <a:t>私ですかね！？！？</a:t>
            </a:r>
            <a:r>
              <a:rPr lang="en-US" altLang="ja-JP" dirty="0"/>
              <a:t>(</a:t>
            </a:r>
            <a:r>
              <a:rPr lang="ja-JP" altLang="en-US" dirty="0"/>
              <a:t>心当たりがあります。ドズル社はいいぞ</a:t>
            </a:r>
            <a:r>
              <a:rPr lang="en-US" altLang="ja-JP" dirty="0"/>
              <a:t>……</a:t>
            </a:r>
            <a:r>
              <a:rPr lang="ja-JP" altLang="en-US" dirty="0"/>
              <a:t>建築はいいぞ</a:t>
            </a:r>
            <a:r>
              <a:rPr lang="en-US" altLang="ja-JP" dirty="0"/>
              <a:t>……</a:t>
            </a:r>
            <a:r>
              <a:rPr lang="ja-JP" altLang="en-US" dirty="0"/>
              <a:t>と布教させていただきます</a:t>
            </a:r>
            <a:r>
              <a:rPr lang="en-US" altLang="ja-JP" dirty="0"/>
              <a:t>)</a:t>
            </a:r>
            <a:endParaRPr lang="en-US" dirty="0"/>
          </a:p>
        </p:txBody>
      </p:sp>
    </p:spTree>
    <p:extLst>
      <p:ext uri="{BB962C8B-B14F-4D97-AF65-F5344CB8AC3E}">
        <p14:creationId xmlns:p14="http://schemas.microsoft.com/office/powerpoint/2010/main" val="3217710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CAB07-8A91-1CA8-B601-ADC905758A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DDE92D5-04A7-6627-70B5-4D2885DBB8E4}"/>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B231BBCB-29D8-1CB9-5349-FDB1E456F71A}"/>
              </a:ext>
            </a:extLst>
          </p:cNvPr>
          <p:cNvSpPr>
            <a:spLocks noGrp="1"/>
          </p:cNvSpPr>
          <p:nvPr>
            <p:ph type="body" sz="quarter" idx="10"/>
          </p:nvPr>
        </p:nvSpPr>
        <p:spPr>
          <a:xfrm>
            <a:off x="2135956" y="1088974"/>
            <a:ext cx="7920088" cy="5220058"/>
          </a:xfrm>
        </p:spPr>
        <p:txBody>
          <a:bodyPr/>
          <a:lstStyle/>
          <a:p>
            <a:r>
              <a:rPr lang="ja-JP" altLang="en-US" dirty="0"/>
              <a:t>今年の</a:t>
            </a:r>
            <a:r>
              <a:rPr lang="en-US" altLang="ja-JP" dirty="0"/>
              <a:t>4</a:t>
            </a:r>
            <a:r>
              <a:rPr lang="ja-JP" altLang="en-US" dirty="0"/>
              <a:t>月からマイクラを始めて今では巨大建築をしながら色々レッドストーンで自動化装置を作ってる程度にはハマりました。個人的にはこれで、</a:t>
            </a:r>
            <a:r>
              <a:rPr lang="en-US" altLang="ja-JP" dirty="0"/>
              <a:t>ANDNOR</a:t>
            </a:r>
            <a:r>
              <a:rPr lang="ja-JP" altLang="en-US" dirty="0"/>
              <a:t>回路らへんに対してまともに興味を持てました。プログラム書くの好きな人とかは多分好きだと思います</a:t>
            </a:r>
            <a:r>
              <a:rPr lang="en-US" altLang="ja-JP" dirty="0"/>
              <a:t>……</a:t>
            </a:r>
            <a:endParaRPr lang="en-US" dirty="0"/>
          </a:p>
        </p:txBody>
      </p:sp>
    </p:spTree>
    <p:extLst>
      <p:ext uri="{BB962C8B-B14F-4D97-AF65-F5344CB8AC3E}">
        <p14:creationId xmlns:p14="http://schemas.microsoft.com/office/powerpoint/2010/main" val="3308688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2A254-7717-204A-0BBE-57D7745F773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8A24C5-AECD-56FD-D666-ED4CE90EB5E8}"/>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82EE093A-A1CB-F35C-132E-6C8D0B30FABF}"/>
              </a:ext>
            </a:extLst>
          </p:cNvPr>
          <p:cNvSpPr>
            <a:spLocks noGrp="1"/>
          </p:cNvSpPr>
          <p:nvPr>
            <p:ph type="body" sz="quarter" idx="10"/>
          </p:nvPr>
        </p:nvSpPr>
        <p:spPr>
          <a:xfrm>
            <a:off x="2135956" y="1088974"/>
            <a:ext cx="7920088" cy="5220058"/>
          </a:xfrm>
        </p:spPr>
        <p:txBody>
          <a:bodyPr/>
          <a:lstStyle/>
          <a:p>
            <a:r>
              <a:rPr lang="ja-JP" altLang="en-US" dirty="0"/>
              <a:t>質問としては、</a:t>
            </a:r>
            <a:r>
              <a:rPr lang="en-US" altLang="ja-JP" dirty="0"/>
              <a:t>Out-of-Order</a:t>
            </a:r>
            <a:r>
              <a:rPr lang="ja-JP" altLang="en-US" dirty="0"/>
              <a:t>実行によって性能が大きく向上する一方で、回路はかなり複雑になると思うが、消費電力や製造コストはどの程度増えるのか気になった。性能向上とのバランスをどのように取っているのか知りたい。</a:t>
            </a:r>
            <a:endParaRPr lang="en-US" dirty="0"/>
          </a:p>
        </p:txBody>
      </p:sp>
    </p:spTree>
    <p:extLst>
      <p:ext uri="{BB962C8B-B14F-4D97-AF65-F5344CB8AC3E}">
        <p14:creationId xmlns:p14="http://schemas.microsoft.com/office/powerpoint/2010/main" val="2927767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579C-5A62-6E26-9397-84B3D13E337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C4B4647-1302-C424-021A-8B68CA7130B6}"/>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B7BF5854-3C51-8453-1368-B74B191E947A}"/>
              </a:ext>
            </a:extLst>
          </p:cNvPr>
          <p:cNvSpPr>
            <a:spLocks noGrp="1"/>
          </p:cNvSpPr>
          <p:nvPr>
            <p:ph type="body" sz="quarter" idx="10"/>
          </p:nvPr>
        </p:nvSpPr>
        <p:spPr>
          <a:xfrm>
            <a:off x="2135956" y="1088974"/>
            <a:ext cx="7920088" cy="5220058"/>
          </a:xfrm>
        </p:spPr>
        <p:txBody>
          <a:bodyPr/>
          <a:lstStyle/>
          <a:p>
            <a:r>
              <a:rPr lang="ja-JP" altLang="en-US" dirty="0"/>
              <a:t>並列処理の利点が講義内では多く取り上げられていましたが、逆に単純な直列処理の方が好まれる例などはありますか。</a:t>
            </a:r>
            <a:endParaRPr lang="en-US" dirty="0"/>
          </a:p>
        </p:txBody>
      </p:sp>
    </p:spTree>
    <p:extLst>
      <p:ext uri="{BB962C8B-B14F-4D97-AF65-F5344CB8AC3E}">
        <p14:creationId xmlns:p14="http://schemas.microsoft.com/office/powerpoint/2010/main" val="2151796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27E23-82A2-D60E-9228-25D0489072F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BC00EA-8A46-99CA-AE2F-5498408B062C}"/>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44F1EA19-7B95-805B-E647-4E6592398B0D}"/>
              </a:ext>
            </a:extLst>
          </p:cNvPr>
          <p:cNvSpPr>
            <a:spLocks noGrp="1"/>
          </p:cNvSpPr>
          <p:nvPr>
            <p:ph type="body" sz="quarter" idx="10"/>
          </p:nvPr>
        </p:nvSpPr>
        <p:spPr>
          <a:xfrm>
            <a:off x="2135956" y="1088974"/>
            <a:ext cx="7920088" cy="5220058"/>
          </a:xfrm>
        </p:spPr>
        <p:txBody>
          <a:bodyPr/>
          <a:lstStyle/>
          <a:p>
            <a:r>
              <a:rPr lang="en-US" altLang="ja-JP" dirty="0" err="1"/>
              <a:t>ld</a:t>
            </a:r>
            <a:r>
              <a:rPr lang="ja-JP" altLang="en-US" dirty="0"/>
              <a:t>の時に演算が必要なのか</a:t>
            </a:r>
            <a:r>
              <a:rPr lang="en-US" altLang="ja-JP" dirty="0"/>
              <a:t>(</a:t>
            </a:r>
            <a:r>
              <a:rPr lang="ja-JP" altLang="en-US" dirty="0"/>
              <a:t>読み込みなのに？</a:t>
            </a:r>
            <a:r>
              <a:rPr lang="en-US" altLang="ja-JP" dirty="0"/>
              <a:t>)</a:t>
            </a:r>
            <a:r>
              <a:rPr lang="ja-JP" altLang="en-US" dirty="0"/>
              <a:t>分からず、とりあえず調べた際に必要そうでしたので入れさせていただきました。</a:t>
            </a:r>
            <a:endParaRPr lang="en-US" dirty="0"/>
          </a:p>
        </p:txBody>
      </p:sp>
    </p:spTree>
    <p:extLst>
      <p:ext uri="{BB962C8B-B14F-4D97-AF65-F5344CB8AC3E}">
        <p14:creationId xmlns:p14="http://schemas.microsoft.com/office/powerpoint/2010/main" val="2318716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1C573-D045-6478-EF84-16AA5368C4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721C741-3FB3-652A-6E7E-8E4E1D1E6497}"/>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2C465732-C670-DA72-694D-A0AB54ABF7CC}"/>
              </a:ext>
            </a:extLst>
          </p:cNvPr>
          <p:cNvSpPr>
            <a:spLocks noGrp="1"/>
          </p:cNvSpPr>
          <p:nvPr>
            <p:ph type="body" sz="quarter" idx="10"/>
          </p:nvPr>
        </p:nvSpPr>
        <p:spPr>
          <a:xfrm>
            <a:off x="2135956" y="1088974"/>
            <a:ext cx="7920088" cy="5220058"/>
          </a:xfrm>
        </p:spPr>
        <p:txBody>
          <a:bodyPr/>
          <a:lstStyle/>
          <a:p>
            <a:r>
              <a:rPr lang="ja-JP" altLang="en-US" dirty="0"/>
              <a:t>要所要所に英単語が出てきて、情報科学と英語は切り離せない関係なのだなと思いました。</a:t>
            </a:r>
            <a:endParaRPr lang="en-US" dirty="0"/>
          </a:p>
        </p:txBody>
      </p:sp>
    </p:spTree>
    <p:extLst>
      <p:ext uri="{BB962C8B-B14F-4D97-AF65-F5344CB8AC3E}">
        <p14:creationId xmlns:p14="http://schemas.microsoft.com/office/powerpoint/2010/main" val="5866964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51C9A-F802-2DB1-2C1B-725C5AA811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62C7B4-D52B-D68D-BF58-D7B6C38E5ED4}"/>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B340A6F1-EA70-8002-169D-82FF35B37E31}"/>
              </a:ext>
            </a:extLst>
          </p:cNvPr>
          <p:cNvSpPr>
            <a:spLocks noGrp="1"/>
          </p:cNvSpPr>
          <p:nvPr>
            <p:ph type="body" sz="quarter" idx="10"/>
          </p:nvPr>
        </p:nvSpPr>
        <p:spPr>
          <a:xfrm>
            <a:off x="2135956" y="1088974"/>
            <a:ext cx="7920088" cy="5220058"/>
          </a:xfrm>
        </p:spPr>
        <p:txBody>
          <a:bodyPr/>
          <a:lstStyle/>
          <a:p>
            <a:r>
              <a:rPr lang="ja-JP" altLang="en-US" dirty="0"/>
              <a:t>最近、この授業の影響もありソフトウェアよりもハードウェアに興味が湧いてきました。今度</a:t>
            </a:r>
            <a:r>
              <a:rPr lang="en-US" altLang="ja-JP" dirty="0"/>
              <a:t>3DS</a:t>
            </a:r>
            <a:r>
              <a:rPr lang="ja-JP" altLang="en-US" dirty="0"/>
              <a:t>を分解してみようと思います。</a:t>
            </a:r>
            <a:endParaRPr lang="en-US" dirty="0"/>
          </a:p>
        </p:txBody>
      </p:sp>
    </p:spTree>
    <p:extLst>
      <p:ext uri="{BB962C8B-B14F-4D97-AF65-F5344CB8AC3E}">
        <p14:creationId xmlns:p14="http://schemas.microsoft.com/office/powerpoint/2010/main" val="12630076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4749A-34D4-FB00-3B55-1741DFB525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0BBEE1-F07A-3EB3-4A60-28A3B44D24F1}"/>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AA68E3F2-3B62-7195-B1B5-D0CDB95983AE}"/>
              </a:ext>
            </a:extLst>
          </p:cNvPr>
          <p:cNvSpPr>
            <a:spLocks noGrp="1"/>
          </p:cNvSpPr>
          <p:nvPr>
            <p:ph type="body" sz="quarter" idx="10"/>
          </p:nvPr>
        </p:nvSpPr>
        <p:spPr>
          <a:xfrm>
            <a:off x="2135956" y="1088974"/>
            <a:ext cx="7920088" cy="5220058"/>
          </a:xfrm>
        </p:spPr>
        <p:txBody>
          <a:bodyPr/>
          <a:lstStyle/>
          <a:p>
            <a:r>
              <a:rPr lang="ja-JP" altLang="en-US" dirty="0"/>
              <a:t>課題</a:t>
            </a:r>
            <a:r>
              <a:rPr lang="en-US" altLang="ja-JP" dirty="0"/>
              <a:t>7</a:t>
            </a:r>
            <a:r>
              <a:rPr lang="ja-JP" altLang="en-US" dirty="0"/>
              <a:t>に「演算しか行わずメモリアクセスを伴わない命令でも</a:t>
            </a:r>
            <a:r>
              <a:rPr lang="en-US" altLang="ja-JP" dirty="0"/>
              <a:t>, </a:t>
            </a:r>
            <a:r>
              <a:rPr lang="ja-JP" altLang="en-US" dirty="0"/>
              <a:t>必ず </a:t>
            </a:r>
            <a:r>
              <a:rPr lang="en-US" altLang="ja-JP" dirty="0"/>
              <a:t>M </a:t>
            </a:r>
            <a:r>
              <a:rPr lang="ja-JP" altLang="en-US" dirty="0"/>
              <a:t>を経るものとする」とありますが、実際のプロセッサでも、メモリアクセスを行わない命令が</a:t>
            </a:r>
            <a:r>
              <a:rPr lang="en-US" altLang="ja-JP" dirty="0"/>
              <a:t>M</a:t>
            </a:r>
            <a:r>
              <a:rPr lang="ja-JP" altLang="en-US" dirty="0"/>
              <a:t>を通過するような設計が存在するのでしょうか。</a:t>
            </a:r>
            <a:endParaRPr lang="en-US" dirty="0"/>
          </a:p>
        </p:txBody>
      </p:sp>
    </p:spTree>
    <p:extLst>
      <p:ext uri="{BB962C8B-B14F-4D97-AF65-F5344CB8AC3E}">
        <p14:creationId xmlns:p14="http://schemas.microsoft.com/office/powerpoint/2010/main" val="3151065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CDA11-1207-DC00-D244-3078369A32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F5597EE-D50D-9A29-CEFB-8482EEFB8406}"/>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EEFE46C2-F850-A8B1-6BAF-7C5645DCB5D5}"/>
              </a:ext>
            </a:extLst>
          </p:cNvPr>
          <p:cNvSpPr>
            <a:spLocks noGrp="1"/>
          </p:cNvSpPr>
          <p:nvPr>
            <p:ph type="body" sz="quarter" idx="10"/>
          </p:nvPr>
        </p:nvSpPr>
        <p:spPr>
          <a:xfrm>
            <a:off x="2135956" y="1088974"/>
            <a:ext cx="7920088" cy="5220058"/>
          </a:xfrm>
        </p:spPr>
        <p:txBody>
          <a:bodyPr/>
          <a:lstStyle/>
          <a:p>
            <a:r>
              <a:rPr lang="ja-JP" altLang="en-US" dirty="0"/>
              <a:t>コンパイラはプログラミング言語→機械語の変換を行っているだけだと思っていたので、コンパイラ自体も高速化のための工夫をしていると知ってびっくりしました。</a:t>
            </a:r>
            <a:endParaRPr lang="en-US" dirty="0"/>
          </a:p>
        </p:txBody>
      </p:sp>
    </p:spTree>
    <p:extLst>
      <p:ext uri="{BB962C8B-B14F-4D97-AF65-F5344CB8AC3E}">
        <p14:creationId xmlns:p14="http://schemas.microsoft.com/office/powerpoint/2010/main" val="21500457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76F476-E8CC-EA96-519A-D1B77A3308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31EA0B-4DA8-3097-6E25-237589A04093}"/>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A62C32CE-ADC8-B597-FBA9-15A4CB035113}"/>
              </a:ext>
            </a:extLst>
          </p:cNvPr>
          <p:cNvSpPr>
            <a:spLocks noGrp="1"/>
          </p:cNvSpPr>
          <p:nvPr>
            <p:ph type="body" sz="quarter" idx="10"/>
          </p:nvPr>
        </p:nvSpPr>
        <p:spPr>
          <a:xfrm>
            <a:off x="2135956" y="1088974"/>
            <a:ext cx="7920088" cy="5220058"/>
          </a:xfrm>
        </p:spPr>
        <p:txBody>
          <a:bodyPr/>
          <a:lstStyle/>
          <a:p>
            <a:r>
              <a:rPr lang="en-US" altLang="ja-JP" dirty="0"/>
              <a:t>C</a:t>
            </a:r>
            <a:r>
              <a:rPr lang="ja-JP" altLang="en-US" dirty="0"/>
              <a:t>言語のプログラミングを行うときに、参考書やチャット</a:t>
            </a:r>
            <a:r>
              <a:rPr lang="en-US" altLang="ja-JP" dirty="0"/>
              <a:t>GPT</a:t>
            </a:r>
            <a:r>
              <a:rPr lang="ja-JP" altLang="en-US" dirty="0"/>
              <a:t>の提案で実行時引数や、関数をそのまま使うのではなく、別の変数で定義しているのがなぜかなんとなく疑問で、プログラムを読みやすくしているのだろうと考えていたが今回の講義でポインタ経由アクセスを減らして処理を高速化するためでもあるのかなと思った。</a:t>
            </a:r>
            <a:endParaRPr lang="en-US" dirty="0"/>
          </a:p>
        </p:txBody>
      </p:sp>
    </p:spTree>
    <p:extLst>
      <p:ext uri="{BB962C8B-B14F-4D97-AF65-F5344CB8AC3E}">
        <p14:creationId xmlns:p14="http://schemas.microsoft.com/office/powerpoint/2010/main" val="35770380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FFC56-F670-8471-AFA9-2155F2A6A0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32E6565-C9CD-C01D-81FC-B6DE0E4804A7}"/>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E94CD805-EE3E-EB44-8EFE-1CC94B5DB829}"/>
              </a:ext>
            </a:extLst>
          </p:cNvPr>
          <p:cNvSpPr>
            <a:spLocks noGrp="1"/>
          </p:cNvSpPr>
          <p:nvPr>
            <p:ph type="body" sz="quarter" idx="10"/>
          </p:nvPr>
        </p:nvSpPr>
        <p:spPr>
          <a:xfrm>
            <a:off x="2135956" y="1088974"/>
            <a:ext cx="7920088" cy="5220058"/>
          </a:xfrm>
        </p:spPr>
        <p:txBody>
          <a:bodyPr/>
          <a:lstStyle/>
          <a:p>
            <a:r>
              <a:rPr lang="ja-JP" altLang="en-US" dirty="0"/>
              <a:t>プログラムの実行速度を上げるためには、依存は少ければ少ないほど良いのですか？</a:t>
            </a:r>
            <a:endParaRPr lang="en-US" dirty="0"/>
          </a:p>
        </p:txBody>
      </p:sp>
    </p:spTree>
    <p:extLst>
      <p:ext uri="{BB962C8B-B14F-4D97-AF65-F5344CB8AC3E}">
        <p14:creationId xmlns:p14="http://schemas.microsoft.com/office/powerpoint/2010/main" val="3016668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DEC5A-E6AC-8276-9F3D-59B758D30D5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48A7AE-A966-A266-3326-4E3E35C638CD}"/>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AC5022F9-79C8-AA0B-48B6-88F5DB962282}"/>
              </a:ext>
            </a:extLst>
          </p:cNvPr>
          <p:cNvSpPr>
            <a:spLocks noGrp="1"/>
          </p:cNvSpPr>
          <p:nvPr>
            <p:ph type="body" sz="quarter" idx="10"/>
          </p:nvPr>
        </p:nvSpPr>
        <p:spPr>
          <a:xfrm>
            <a:off x="2135956" y="1088974"/>
            <a:ext cx="7920088" cy="5220058"/>
          </a:xfrm>
        </p:spPr>
        <p:txBody>
          <a:bodyPr/>
          <a:lstStyle/>
          <a:p>
            <a:r>
              <a:rPr lang="en-US" altLang="ja-JP" dirty="0"/>
              <a:t>C</a:t>
            </a:r>
            <a:r>
              <a:rPr lang="ja-JP" altLang="en-US" dirty="0"/>
              <a:t>言語とアセンブリ言語だったらどちらの方が流通しているのでしょうか？</a:t>
            </a:r>
            <a:endParaRPr lang="en-US" dirty="0"/>
          </a:p>
        </p:txBody>
      </p:sp>
    </p:spTree>
    <p:extLst>
      <p:ext uri="{BB962C8B-B14F-4D97-AF65-F5344CB8AC3E}">
        <p14:creationId xmlns:p14="http://schemas.microsoft.com/office/powerpoint/2010/main" val="3241725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AE658-4178-2E3A-E173-499454DD185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FDCB18-4D3C-82FF-3088-1656DCC433AA}"/>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420DF9CC-AB46-9934-245F-439E1B8C6DB9}"/>
              </a:ext>
            </a:extLst>
          </p:cNvPr>
          <p:cNvSpPr>
            <a:spLocks noGrp="1"/>
          </p:cNvSpPr>
          <p:nvPr>
            <p:ph type="body" sz="quarter" idx="10"/>
          </p:nvPr>
        </p:nvSpPr>
        <p:spPr>
          <a:xfrm>
            <a:off x="2135956" y="1088974"/>
            <a:ext cx="7920088" cy="1440016"/>
          </a:xfrm>
        </p:spPr>
        <p:txBody>
          <a:bodyPr/>
          <a:lstStyle/>
          <a:p>
            <a:r>
              <a:rPr lang="ja-JP" altLang="en-US" dirty="0"/>
              <a:t>パイプライン・プロセッサの最大動作周波数を考える際は、最初の</a:t>
            </a:r>
            <a:r>
              <a:rPr lang="en-US" altLang="ja-JP" dirty="0"/>
              <a:t>1</a:t>
            </a:r>
            <a:r>
              <a:rPr lang="ja-JP" altLang="en-US" dirty="0"/>
              <a:t>サイクル目の立ち上がりにかかる時間は無視して立ち上がった後</a:t>
            </a:r>
            <a:r>
              <a:rPr lang="en-US" altLang="ja-JP" dirty="0"/>
              <a:t>1</a:t>
            </a:r>
            <a:r>
              <a:rPr lang="ja-JP" altLang="en-US" dirty="0"/>
              <a:t>サイクルごとに</a:t>
            </a:r>
            <a:r>
              <a:rPr lang="en-US" altLang="ja-JP" dirty="0"/>
              <a:t>1</a:t>
            </a:r>
            <a:r>
              <a:rPr lang="ja-JP" altLang="en-US" dirty="0"/>
              <a:t>命令を処理できるようになってからの必要な時間で考えるという認識でよろしいでしょうか？（上手く説明できなくて申し訳ありません、図を添付いたします）</a:t>
            </a:r>
            <a:endParaRPr lang="en-US" dirty="0"/>
          </a:p>
        </p:txBody>
      </p:sp>
      <p:pic>
        <p:nvPicPr>
          <p:cNvPr id="5" name="図 4">
            <a:extLst>
              <a:ext uri="{FF2B5EF4-FFF2-40B4-BE49-F238E27FC236}">
                <a16:creationId xmlns:a16="http://schemas.microsoft.com/office/drawing/2014/main" id="{86D0CE1E-7877-BF25-C2D7-9E70FCA13D32}"/>
              </a:ext>
            </a:extLst>
          </p:cNvPr>
          <p:cNvPicPr>
            <a:picLocks noChangeAspect="1"/>
          </p:cNvPicPr>
          <p:nvPr/>
        </p:nvPicPr>
        <p:blipFill>
          <a:blip r:embed="rId2"/>
          <a:stretch>
            <a:fillRect/>
          </a:stretch>
        </p:blipFill>
        <p:spPr>
          <a:xfrm>
            <a:off x="2945965" y="2708992"/>
            <a:ext cx="5809694" cy="3984539"/>
          </a:xfrm>
          <a:prstGeom prst="rect">
            <a:avLst/>
          </a:prstGeom>
        </p:spPr>
      </p:pic>
    </p:spTree>
    <p:extLst>
      <p:ext uri="{BB962C8B-B14F-4D97-AF65-F5344CB8AC3E}">
        <p14:creationId xmlns:p14="http://schemas.microsoft.com/office/powerpoint/2010/main" val="18407231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3ABD-148A-00E9-C746-89E9628CA3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D743BBD-F774-F41D-18C9-8FC7580CAB50}"/>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882E8595-FE49-1D69-C8A1-09D1420736A8}"/>
              </a:ext>
            </a:extLst>
          </p:cNvPr>
          <p:cNvSpPr>
            <a:spLocks noGrp="1"/>
          </p:cNvSpPr>
          <p:nvPr>
            <p:ph type="body" sz="quarter" idx="10"/>
          </p:nvPr>
        </p:nvSpPr>
        <p:spPr>
          <a:xfrm>
            <a:off x="2135956" y="1088974"/>
            <a:ext cx="7920088" cy="5220058"/>
          </a:xfrm>
        </p:spPr>
        <p:txBody>
          <a:bodyPr/>
          <a:lstStyle/>
          <a:p>
            <a:r>
              <a:rPr lang="ja-JP" altLang="ja-JP" dirty="0"/>
              <a:t>課題7の</a:t>
            </a:r>
            <a:r>
              <a:rPr lang="en-US" altLang="ja-JP" dirty="0"/>
              <a:t>(7)</a:t>
            </a:r>
            <a:r>
              <a:rPr lang="ja-JP" altLang="ja-JP" dirty="0"/>
              <a:t>について、分岐ミスが起こってフラッシュされてやり直しになった場合では、一度パイプラインが全て空になるまで待たないといけないのですか？</a:t>
            </a:r>
            <a:endParaRPr lang="en-US" dirty="0"/>
          </a:p>
        </p:txBody>
      </p:sp>
    </p:spTree>
    <p:extLst>
      <p:ext uri="{BB962C8B-B14F-4D97-AF65-F5344CB8AC3E}">
        <p14:creationId xmlns:p14="http://schemas.microsoft.com/office/powerpoint/2010/main" val="35268616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90055-1ABA-3498-7402-010E0F33680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74B8ED-2C2B-00F1-808E-CD4DB12286CE}"/>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D8A7D42F-3B91-4ACA-5D6A-DA05DDCCE5D4}"/>
              </a:ext>
            </a:extLst>
          </p:cNvPr>
          <p:cNvSpPr>
            <a:spLocks noGrp="1"/>
          </p:cNvSpPr>
          <p:nvPr>
            <p:ph type="body" sz="quarter" idx="10"/>
          </p:nvPr>
        </p:nvSpPr>
        <p:spPr>
          <a:xfrm>
            <a:off x="2135956" y="1088974"/>
            <a:ext cx="7920088" cy="5220058"/>
          </a:xfrm>
        </p:spPr>
        <p:txBody>
          <a:bodyPr/>
          <a:lstStyle/>
          <a:p>
            <a:r>
              <a:rPr lang="ja-JP" altLang="en-US" dirty="0"/>
              <a:t>シングルサイクルは一人で最初から最後までやるイメージで、パイプラインは工程ごとに作業員を配置するイメージだから、シングルサイクルよりもパイプラインの方が短時間でこなせるのかなということが、話だけ聞いてて「ふーん」くらいの理解だったのが、課題を実際やってみるとスッとわかった気がした</a:t>
            </a:r>
            <a:endParaRPr lang="en-US" dirty="0"/>
          </a:p>
        </p:txBody>
      </p:sp>
    </p:spTree>
    <p:extLst>
      <p:ext uri="{BB962C8B-B14F-4D97-AF65-F5344CB8AC3E}">
        <p14:creationId xmlns:p14="http://schemas.microsoft.com/office/powerpoint/2010/main" val="20079037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BEA00-653C-D33A-9484-B1ECADEE79E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45C70D-9C0C-8707-6900-DA57714565E9}"/>
              </a:ext>
            </a:extLst>
          </p:cNvPr>
          <p:cNvSpPr>
            <a:spLocks noGrp="1"/>
          </p:cNvSpPr>
          <p:nvPr>
            <p:ph type="title"/>
          </p:nvPr>
        </p:nvSpPr>
        <p:spPr>
          <a:xfrm>
            <a:off x="2135956" y="0"/>
            <a:ext cx="8532044" cy="908972"/>
          </a:xfrm>
        </p:spPr>
        <p:txBody>
          <a:bodyPr/>
          <a:lstStyle/>
          <a:p>
            <a:r>
              <a:rPr lang="ja-JP" altLang="en-US"/>
              <a:t>質問とか感想</a:t>
            </a:r>
            <a:endParaRPr lang="en-US"/>
          </a:p>
        </p:txBody>
      </p:sp>
      <p:sp>
        <p:nvSpPr>
          <p:cNvPr id="3" name="コンテンツ プレースホルダー 2">
            <a:extLst>
              <a:ext uri="{FF2B5EF4-FFF2-40B4-BE49-F238E27FC236}">
                <a16:creationId xmlns:a16="http://schemas.microsoft.com/office/drawing/2014/main" id="{2FEF01C2-C138-F10F-9189-6A8464DC7CB5}"/>
              </a:ext>
            </a:extLst>
          </p:cNvPr>
          <p:cNvSpPr>
            <a:spLocks noGrp="1"/>
          </p:cNvSpPr>
          <p:nvPr>
            <p:ph type="body" sz="quarter" idx="10"/>
          </p:nvPr>
        </p:nvSpPr>
        <p:spPr>
          <a:xfrm>
            <a:off x="2135956" y="1088974"/>
            <a:ext cx="7920088" cy="5220058"/>
          </a:xfrm>
        </p:spPr>
        <p:txBody>
          <a:bodyPr/>
          <a:lstStyle/>
          <a:p>
            <a:r>
              <a:rPr lang="ja-JP" altLang="en-US" dirty="0"/>
              <a:t>授業が、完全に理解する前に次の話に映ってしまうので、どんどん遅れてしまうかすべて中途半端な理解になってしまいます。用語の意味を理解しようとしたりしらべているうちに進んでいってしまっていることが多い気がするので、出てくる用語の意味集などがあったらとてもうれしいです。用語が分からないと先生の言っていることが分からないです。</a:t>
            </a:r>
            <a:endParaRPr lang="en-US" dirty="0"/>
          </a:p>
        </p:txBody>
      </p:sp>
    </p:spTree>
    <p:extLst>
      <p:ext uri="{BB962C8B-B14F-4D97-AF65-F5344CB8AC3E}">
        <p14:creationId xmlns:p14="http://schemas.microsoft.com/office/powerpoint/2010/main" val="1023172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cai-shioya-07</Template>
  <TotalTime>0</TotalTime>
  <Words>6162</Words>
  <Application>Microsoft Office PowerPoint</Application>
  <PresentationFormat>ワイド画面</PresentationFormat>
  <Paragraphs>1146</Paragraphs>
  <Slides>85</Slides>
  <Notes>0</Notes>
  <HiddenSlides>0</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85</vt:i4>
      </vt:variant>
    </vt:vector>
  </HeadingPairs>
  <TitlesOfParts>
    <vt:vector size="98" baseType="lpstr">
      <vt:lpstr>HG丸ｺﾞｼｯｸM-PRO</vt:lpstr>
      <vt:lpstr>MeiryoKe_PGothic</vt:lpstr>
      <vt:lpstr>ＭＳ Ｐゴシック</vt:lpstr>
      <vt:lpstr>メイリオ</vt:lpstr>
      <vt:lpstr>メイリオ</vt:lpstr>
      <vt:lpstr>游ゴシック</vt:lpstr>
      <vt:lpstr>Arial Narrow</vt:lpstr>
      <vt:lpstr>Calibri</vt:lpstr>
      <vt:lpstr>Cambria Math</vt:lpstr>
      <vt:lpstr>Consolas</vt:lpstr>
      <vt:lpstr>Segoe UI</vt:lpstr>
      <vt:lpstr>Wingdings</vt:lpstr>
      <vt:lpstr>cerulean</vt:lpstr>
      <vt:lpstr>塩谷 亮太 (shioya@ci.i.u-tokyo.ac.jp) 東京大学大学院情報理工学系研究科 創造情報学専攻</vt:lpstr>
      <vt:lpstr>課題の解説</vt:lpstr>
      <vt:lpstr>課題 7</vt:lpstr>
      <vt:lpstr>課題 7</vt:lpstr>
      <vt:lpstr>課題 7</vt:lpstr>
      <vt:lpstr>課題 7</vt:lpstr>
      <vt:lpstr>課題 7</vt:lpstr>
      <vt:lpstr>課題 7</vt:lpstr>
      <vt:lpstr>課題 7</vt:lpstr>
      <vt:lpstr>性能のモデル</vt:lpstr>
      <vt:lpstr>性能</vt:lpstr>
      <vt:lpstr>性能のモデル</vt:lpstr>
      <vt:lpstr>理想的な場合の性能モデル</vt:lpstr>
      <vt:lpstr>理想的な各モデルの性能</vt:lpstr>
      <vt:lpstr>ここからの前提： パイプラインではフォワーディングの実装を仮定</vt:lpstr>
      <vt:lpstr>シングル・サイクル・プロセッサ の性能</vt:lpstr>
      <vt:lpstr>パイプライン化されたプロセッサ の性能</vt:lpstr>
      <vt:lpstr>「十分に多く」の命令を実行した場合</vt:lpstr>
      <vt:lpstr>「十分に多く」の命令を実行した場合の性能</vt:lpstr>
      <vt:lpstr>パイプライン段数を倍にした場合の性能</vt:lpstr>
      <vt:lpstr>各ステージで実施する仕事を半分にして， かわりに倍速で動かしている</vt:lpstr>
      <vt:lpstr>2-way スーパスカラ・プロセッサの性能</vt:lpstr>
      <vt:lpstr>ここまでの性能は理想的な性能</vt:lpstr>
      <vt:lpstr>ハザードを考慮した性能のモデル</vt:lpstr>
      <vt:lpstr>性能のモデル</vt:lpstr>
      <vt:lpstr>ハザードによる IPC の低下</vt:lpstr>
      <vt:lpstr>分岐予測ミスによる実行サイクルの増加</vt:lpstr>
      <vt:lpstr>スーパスカラの場合</vt:lpstr>
      <vt:lpstr>分岐予測ミスによる実行サイクルの増加のモデル</vt:lpstr>
      <vt:lpstr>ペナルティは（パイプライン段数 – 1）サイクル 取り消される命令数は増えるが，時間は同じ</vt:lpstr>
      <vt:lpstr>分岐予測ミスによる実行サイクルの増加のモデル</vt:lpstr>
      <vt:lpstr>具体的な値を入れてみる</vt:lpstr>
      <vt:lpstr>IPC で考えると</vt:lpstr>
      <vt:lpstr>IPC の式のまとめ</vt:lpstr>
      <vt:lpstr>スカラの５段パイプライン・プロセッサの IPC</vt:lpstr>
      <vt:lpstr>パイプライン段数を２倍にした時の IPC</vt:lpstr>
      <vt:lpstr>パイプライン段数が深い時は予測器の精度が重要</vt:lpstr>
      <vt:lpstr>パイプライン段数を２倍にした時の性能</vt:lpstr>
      <vt:lpstr>パイプライン段数を２倍にした時の IPC</vt:lpstr>
      <vt:lpstr>スーパスカラにした時の IPC</vt:lpstr>
      <vt:lpstr>スーパスカラにすると，その分取り消される命令が増える</vt:lpstr>
      <vt:lpstr>分岐予測ミスによる IPC の低下のまとめ</vt:lpstr>
      <vt:lpstr>パイプラインの長さと性能</vt:lpstr>
      <vt:lpstr>ハザードによる IPC の低下</vt:lpstr>
      <vt:lpstr>ロードに依存した命令によるデータハザード</vt:lpstr>
      <vt:lpstr>スーパスカラの場合も同じ</vt:lpstr>
      <vt:lpstr>ロードによるデータハザードの 実行サイクルの増加のモデル</vt:lpstr>
      <vt:lpstr>性能のモデルの一般化</vt:lpstr>
      <vt:lpstr>一般化できる</vt:lpstr>
      <vt:lpstr>一般化できる</vt:lpstr>
      <vt:lpstr>CPI Stack</vt:lpstr>
      <vt:lpstr>Out-of-order スーパスカラ・プロセッサの場合</vt:lpstr>
      <vt:lpstr>ここまでのまとめ</vt:lpstr>
      <vt:lpstr>実際には構成をどう決めるのか？</vt:lpstr>
      <vt:lpstr>いろんな戦略がありえる</vt:lpstr>
      <vt:lpstr>まとめ</vt:lpstr>
      <vt:lpstr>課題 ８</vt:lpstr>
      <vt:lpstr>課題 ８</vt:lpstr>
      <vt:lpstr>提出方法</vt:lpstr>
      <vt:lpstr>休講と期末試験について</vt:lpstr>
      <vt:lpstr>出席調査</vt:lpstr>
      <vt:lpstr>質問とか感想</vt:lpstr>
      <vt:lpstr>質問とか感想（過去のもの）</vt:lpstr>
      <vt:lpstr>現代の分岐予測器の性能（64 KB 使用の場合） PIERRE MICHAUD, An Alternative TAGE-like Conditional Branch Predictor, TACO 2018 より</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2026-06-23T05:30:32Z</dcterms:modified>
</cp:coreProperties>
</file>