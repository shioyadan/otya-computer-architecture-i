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72" r:id="rId1"/>
  </p:sldMasterIdLst>
  <p:notesMasterIdLst>
    <p:notesMasterId r:id="rId40"/>
  </p:notesMasterIdLst>
  <p:handoutMasterIdLst>
    <p:handoutMasterId r:id="rId41"/>
  </p:handoutMasterIdLst>
  <p:sldIdLst>
    <p:sldId id="455" r:id="rId2"/>
    <p:sldId id="805" r:id="rId3"/>
    <p:sldId id="1156" r:id="rId4"/>
    <p:sldId id="1158" r:id="rId5"/>
    <p:sldId id="1195" r:id="rId6"/>
    <p:sldId id="1196" r:id="rId7"/>
    <p:sldId id="1197" r:id="rId8"/>
    <p:sldId id="1161" r:id="rId9"/>
    <p:sldId id="1159" r:id="rId10"/>
    <p:sldId id="1157" r:id="rId11"/>
    <p:sldId id="1162" r:id="rId12"/>
    <p:sldId id="1163" r:id="rId13"/>
    <p:sldId id="1206" r:id="rId14"/>
    <p:sldId id="1194" r:id="rId15"/>
    <p:sldId id="1020" r:id="rId16"/>
    <p:sldId id="1222" r:id="rId17"/>
    <p:sldId id="1091" r:id="rId18"/>
    <p:sldId id="1207" r:id="rId19"/>
    <p:sldId id="1208" r:id="rId20"/>
    <p:sldId id="1209" r:id="rId21"/>
    <p:sldId id="1210" r:id="rId22"/>
    <p:sldId id="1211" r:id="rId23"/>
    <p:sldId id="1212" r:id="rId24"/>
    <p:sldId id="1213" r:id="rId25"/>
    <p:sldId id="1214" r:id="rId26"/>
    <p:sldId id="1216" r:id="rId27"/>
    <p:sldId id="1217" r:id="rId28"/>
    <p:sldId id="1218" r:id="rId29"/>
    <p:sldId id="1219" r:id="rId30"/>
    <p:sldId id="1220" r:id="rId31"/>
    <p:sldId id="1223" r:id="rId32"/>
    <p:sldId id="1224" r:id="rId33"/>
    <p:sldId id="1225" r:id="rId34"/>
    <p:sldId id="1226" r:id="rId35"/>
    <p:sldId id="1227" r:id="rId36"/>
    <p:sldId id="1228" r:id="rId37"/>
    <p:sldId id="1215" r:id="rId38"/>
    <p:sldId id="1175" r:id="rId39"/>
  </p:sldIdLst>
  <p:sldSz cx="12192000" cy="6858000"/>
  <p:notesSz cx="6858000" cy="9144000"/>
  <p:custDataLst>
    <p:tags r:id="rId42"/>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05B80"/>
    <a:srgbClr val="008000"/>
    <a:srgbClr val="0000FF"/>
    <a:srgbClr val="FFE8FF"/>
    <a:srgbClr val="F8E0FF"/>
    <a:srgbClr val="E4F0FF"/>
    <a:srgbClr val="E8F7FF"/>
    <a:srgbClr val="00FF00"/>
    <a:srgbClr val="FFFFE8"/>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淡色スタイル 2 - アクセント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中間スタイル 3 - アクセント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19" autoAdjust="0"/>
    <p:restoredTop sz="97229" autoAdjust="0"/>
  </p:normalViewPr>
  <p:slideViewPr>
    <p:cSldViewPr>
      <p:cViewPr varScale="1">
        <p:scale>
          <a:sx n="152" d="100"/>
          <a:sy n="152" d="100"/>
        </p:scale>
        <p:origin x="476" y="108"/>
      </p:cViewPr>
      <p:guideLst>
        <p:guide orient="horz" pos="2160"/>
        <p:guide pos="3840"/>
      </p:guideLst>
    </p:cSldViewPr>
  </p:slideViewPr>
  <p:notesTextViewPr>
    <p:cViewPr>
      <p:scale>
        <a:sx n="100" d="100"/>
        <a:sy n="100" d="100"/>
      </p:scale>
      <p:origin x="0" y="0"/>
    </p:cViewPr>
  </p:notesTextViewPr>
  <p:notesViewPr>
    <p:cSldViewPr>
      <p:cViewPr varScale="1">
        <p:scale>
          <a:sx n="121" d="100"/>
          <a:sy n="121" d="100"/>
        </p:scale>
        <p:origin x="5020" y="64"/>
      </p:cViewPr>
      <p:guideLst/>
    </p:cSldViewPr>
  </p:notesViewPr>
  <p:gridSpacing cx="90001" cy="90001"/>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gs" Target="tags/tag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CE415D75-4CAE-15A9-D899-49A856941C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en-US"/>
          </a:p>
        </p:txBody>
      </p:sp>
      <p:sp>
        <p:nvSpPr>
          <p:cNvPr id="3" name="日付プレースホルダー 2">
            <a:extLst>
              <a:ext uri="{FF2B5EF4-FFF2-40B4-BE49-F238E27FC236}">
                <a16:creationId xmlns:a16="http://schemas.microsoft.com/office/drawing/2014/main" id="{96B6FC8F-672D-0C9B-883F-429FE5BFF44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F0D877F-F984-4AF8-9DD3-1EDD0240AB14}" type="datetimeFigureOut">
              <a:rPr kumimoji="1" lang="en-US" smtClean="0"/>
              <a:t>7/28/2026</a:t>
            </a:fld>
            <a:endParaRPr kumimoji="1" lang="en-US"/>
          </a:p>
        </p:txBody>
      </p:sp>
      <p:sp>
        <p:nvSpPr>
          <p:cNvPr id="4" name="フッター プレースホルダー 3">
            <a:extLst>
              <a:ext uri="{FF2B5EF4-FFF2-40B4-BE49-F238E27FC236}">
                <a16:creationId xmlns:a16="http://schemas.microsoft.com/office/drawing/2014/main" id="{A49831F7-A7E2-B057-CA7D-BF4A5D256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en-US"/>
          </a:p>
        </p:txBody>
      </p:sp>
      <p:sp>
        <p:nvSpPr>
          <p:cNvPr id="5" name="スライド番号プレースホルダー 4">
            <a:extLst>
              <a:ext uri="{FF2B5EF4-FFF2-40B4-BE49-F238E27FC236}">
                <a16:creationId xmlns:a16="http://schemas.microsoft.com/office/drawing/2014/main" id="{C915A581-8333-6E1F-684C-607B3F07B9D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0CF5AA5-7A9C-4B37-BC55-3EC5404452FB}" type="slidenum">
              <a:rPr kumimoji="1" lang="en-US" smtClean="0"/>
              <a:t>‹#›</a:t>
            </a:fld>
            <a:endParaRPr kumimoji="1" lang="en-US"/>
          </a:p>
        </p:txBody>
      </p:sp>
    </p:spTree>
    <p:extLst>
      <p:ext uri="{BB962C8B-B14F-4D97-AF65-F5344CB8AC3E}">
        <p14:creationId xmlns:p14="http://schemas.microsoft.com/office/powerpoint/2010/main" val="7991511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C56210E-A5EE-4707-8EFD-B2050EBAA0B3}" type="datetimeFigureOut">
              <a:rPr kumimoji="1" lang="ja-JP" altLang="en-US" smtClean="0"/>
              <a:t>2026/7/28</a:t>
            </a:fld>
            <a:endParaRPr kumimoji="1" lang="ja-JP" altLang="en-US"/>
          </a:p>
        </p:txBody>
      </p:sp>
      <p:sp>
        <p:nvSpPr>
          <p:cNvPr id="4" name="スライド イメージ プレースホルダー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2E5C193-8E84-44DA-A08F-24EBD3FDF7D3}" type="slidenum">
              <a:rPr kumimoji="1" lang="ja-JP" altLang="en-US" smtClean="0"/>
              <a:t>‹#›</a:t>
            </a:fld>
            <a:endParaRPr kumimoji="1" lang="ja-JP" altLang="en-US"/>
          </a:p>
        </p:txBody>
      </p:sp>
    </p:spTree>
    <p:extLst>
      <p:ext uri="{BB962C8B-B14F-4D97-AF65-F5344CB8AC3E}">
        <p14:creationId xmlns:p14="http://schemas.microsoft.com/office/powerpoint/2010/main" val="40375478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1" name="正方形/長方形 20"/>
          <p:cNvSpPr/>
          <p:nvPr/>
        </p:nvSpPr>
        <p:spPr bwMode="auto">
          <a:xfrm>
            <a:off x="0" y="0"/>
            <a:ext cx="12192000" cy="6858000"/>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sp>
        <p:nvSpPr>
          <p:cNvPr id="7170" name="Rectangle 2"/>
          <p:cNvSpPr>
            <a:spLocks noGrp="1" noChangeArrowheads="1"/>
          </p:cNvSpPr>
          <p:nvPr>
            <p:ph type="ctrTitle"/>
          </p:nvPr>
        </p:nvSpPr>
        <p:spPr>
          <a:xfrm>
            <a:off x="965943" y="728968"/>
            <a:ext cx="10560117" cy="2340026"/>
          </a:xfrm>
          <a:prstGeom prst="rect">
            <a:avLst/>
          </a:prstGeom>
        </p:spPr>
        <p:txBody>
          <a:bodyPr anchor="ctr"/>
          <a:lstStyle>
            <a:lvl1pPr algn="ctr">
              <a:defRPr sz="3200" b="1">
                <a:solidFill>
                  <a:schemeClr val="bg1"/>
                </a:solidFill>
              </a:defRPr>
            </a:lvl1pPr>
          </a:lstStyle>
          <a:p>
            <a:r>
              <a:rPr lang="ja-JP" altLang="en-US"/>
              <a:t>マスター タイトルの書式設定</a:t>
            </a:r>
            <a:endParaRPr lang="ja-JP" altLang="en-US" dirty="0"/>
          </a:p>
        </p:txBody>
      </p:sp>
      <p:sp>
        <p:nvSpPr>
          <p:cNvPr id="7171" name="Rectangle 3"/>
          <p:cNvSpPr>
            <a:spLocks noGrp="1" noChangeArrowheads="1"/>
          </p:cNvSpPr>
          <p:nvPr>
            <p:ph type="subTitle" idx="1"/>
          </p:nvPr>
        </p:nvSpPr>
        <p:spPr>
          <a:xfrm>
            <a:off x="2495960" y="4149008"/>
            <a:ext cx="7170080" cy="1440017"/>
          </a:xfrm>
        </p:spPr>
        <p:txBody>
          <a:bodyPr anchor="b"/>
          <a:lstStyle>
            <a:lvl1pPr marL="0" indent="0" algn="ct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endParaRPr lang="ja-JP" altLang="en-US" dirty="0"/>
          </a:p>
        </p:txBody>
      </p:sp>
      <p:cxnSp>
        <p:nvCxnSpPr>
          <p:cNvPr id="6" name="直線コネクタ 5"/>
          <p:cNvCxnSpPr>
            <a:cxnSpLocks/>
          </p:cNvCxnSpPr>
          <p:nvPr/>
        </p:nvCxnSpPr>
        <p:spPr bwMode="auto">
          <a:xfrm>
            <a:off x="965943" y="3068996"/>
            <a:ext cx="10800120" cy="0"/>
          </a:xfrm>
          <a:prstGeom prst="line">
            <a:avLst/>
          </a:prstGeom>
          <a:noFill/>
          <a:ln w="9525" cap="flat" cmpd="sng" algn="ctr">
            <a:solidFill>
              <a:schemeClr val="accent4">
                <a:lumMod val="20000"/>
                <a:lumOff val="80000"/>
              </a:schemeClr>
            </a:solidFill>
            <a:prstDash val="solid"/>
            <a:round/>
            <a:headEnd type="none" w="med" len="med"/>
            <a:tailEnd type="none" w="med" len="med"/>
          </a:ln>
          <a:effectLst/>
        </p:spPr>
      </p:cxnSp>
    </p:spTree>
    <p:extLst>
      <p:ext uri="{BB962C8B-B14F-4D97-AF65-F5344CB8AC3E}">
        <p14:creationId xmlns:p14="http://schemas.microsoft.com/office/powerpoint/2010/main" val="29013021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セクションタイトル">
    <p:bg>
      <p:bgPr>
        <a:solidFill>
          <a:schemeClr val="accent4"/>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1775952" y="2168986"/>
            <a:ext cx="8640096" cy="900010"/>
          </a:xfrm>
        </p:spPr>
        <p:txBody>
          <a:bodyPr anchor="b"/>
          <a:lstStyle>
            <a:lvl1pPr algn="ctr">
              <a:defRPr sz="3200" b="0"/>
            </a:lvl1pPr>
          </a:lstStyle>
          <a:p>
            <a:r>
              <a:rPr kumimoji="1" lang="ja-JP" altLang="en-US"/>
              <a:t>マスター タイトルの書式設定</a:t>
            </a:r>
            <a:endParaRPr kumimoji="1" lang="ja-JP" altLang="en-US" dirty="0"/>
          </a:p>
        </p:txBody>
      </p:sp>
      <p:cxnSp>
        <p:nvCxnSpPr>
          <p:cNvPr id="4" name="直線コネクタ 3"/>
          <p:cNvCxnSpPr>
            <a:cxnSpLocks/>
          </p:cNvCxnSpPr>
          <p:nvPr/>
        </p:nvCxnSpPr>
        <p:spPr bwMode="auto">
          <a:xfrm>
            <a:off x="1775952" y="3068996"/>
            <a:ext cx="8640096" cy="0"/>
          </a:xfrm>
          <a:prstGeom prst="line">
            <a:avLst/>
          </a:prstGeom>
          <a:noFill/>
          <a:ln w="9525" cap="flat" cmpd="sng" algn="ctr">
            <a:solidFill>
              <a:schemeClr val="accent4">
                <a:lumMod val="20000"/>
                <a:lumOff val="80000"/>
              </a:schemeClr>
            </a:solidFill>
            <a:prstDash val="solid"/>
            <a:round/>
            <a:headEnd type="none" w="med" len="med"/>
            <a:tailEnd type="none" w="med" len="med"/>
          </a:ln>
          <a:effectLst/>
        </p:spPr>
      </p:cxnSp>
      <p:cxnSp>
        <p:nvCxnSpPr>
          <p:cNvPr id="5" name="直線コネクタ 4">
            <a:extLst>
              <a:ext uri="{FF2B5EF4-FFF2-40B4-BE49-F238E27FC236}">
                <a16:creationId xmlns:a16="http://schemas.microsoft.com/office/drawing/2014/main" id="{28994BA3-EE89-8729-F511-359CF93D1F0C}"/>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6" name="直線コネクタ 5">
            <a:extLst>
              <a:ext uri="{FF2B5EF4-FFF2-40B4-BE49-F238E27FC236}">
                <a16:creationId xmlns:a16="http://schemas.microsoft.com/office/drawing/2014/main" id="{A5DAF3A5-B8E8-9871-850E-D296C48A2927}"/>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7" name="直線コネクタ 6">
            <a:extLst>
              <a:ext uri="{FF2B5EF4-FFF2-40B4-BE49-F238E27FC236}">
                <a16:creationId xmlns:a16="http://schemas.microsoft.com/office/drawing/2014/main" id="{F75186D6-6D4B-D3EA-0ABB-0772F25DCA23}"/>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8" name="直線コネクタ 7">
            <a:extLst>
              <a:ext uri="{FF2B5EF4-FFF2-40B4-BE49-F238E27FC236}">
                <a16:creationId xmlns:a16="http://schemas.microsoft.com/office/drawing/2014/main" id="{12521282-00C0-4FAB-852E-82AD5D1BCEF9}"/>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9" name="直線コネクタ 8">
            <a:extLst>
              <a:ext uri="{FF2B5EF4-FFF2-40B4-BE49-F238E27FC236}">
                <a16:creationId xmlns:a16="http://schemas.microsoft.com/office/drawing/2014/main" id="{CB833E3B-EFBD-C3E4-B1B3-DF3D73FA5B1A}"/>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10" name="直線コネクタ 9">
            <a:extLst>
              <a:ext uri="{FF2B5EF4-FFF2-40B4-BE49-F238E27FC236}">
                <a16:creationId xmlns:a16="http://schemas.microsoft.com/office/drawing/2014/main" id="{16AB55B1-41E5-FFE3-0C61-EE650016DE0E}"/>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11" name="直線コネクタ 10">
            <a:extLst>
              <a:ext uri="{FF2B5EF4-FFF2-40B4-BE49-F238E27FC236}">
                <a16:creationId xmlns:a16="http://schemas.microsoft.com/office/drawing/2014/main" id="{C8E2EDA8-9B34-5289-2B63-FF8A394B6246}"/>
              </a:ext>
            </a:extLst>
          </p:cNvPr>
          <p:cNvCxnSpPr>
            <a:cxnSpLocks/>
          </p:cNvCxnSpPr>
          <p:nvPr userDrawn="1"/>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2979036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a:t>マスター タイトルの書式設定</a:t>
            </a:r>
            <a:endParaRPr lang="ja-JP" altLang="en-US" dirty="0"/>
          </a:p>
        </p:txBody>
      </p:sp>
      <p:sp>
        <p:nvSpPr>
          <p:cNvPr id="8"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2" name="テキスト プレースホルダー 11"/>
          <p:cNvSpPr>
            <a:spLocks noGrp="1"/>
          </p:cNvSpPr>
          <p:nvPr>
            <p:ph type="body" sz="quarter" idx="10"/>
          </p:nvPr>
        </p:nvSpPr>
        <p:spPr>
          <a:xfrm>
            <a:off x="1775952" y="1088974"/>
            <a:ext cx="8640096" cy="5490061"/>
          </a:xfrm>
        </p:spPr>
        <p:txBody>
          <a:bodyPr/>
          <a:lstStyle>
            <a:lvl2pPr>
              <a:buClr>
                <a:schemeClr val="accent4">
                  <a:lumMod val="60000"/>
                  <a:lumOff val="40000"/>
                </a:schemeClr>
              </a:buClr>
              <a:defRPr/>
            </a:lvl2pPr>
            <a:lvl4pPr marL="1440000" indent="-360000">
              <a:buFont typeface="メイリオ" panose="020B0604030504040204" pitchFamily="50" charset="-128"/>
              <a:buChar char="✳"/>
              <a:defRPr/>
            </a:lvl4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6"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Tree>
    <p:extLst>
      <p:ext uri="{BB962C8B-B14F-4D97-AF65-F5344CB8AC3E}">
        <p14:creationId xmlns:p14="http://schemas.microsoft.com/office/powerpoint/2010/main" val="24849475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815941" y="0"/>
            <a:ext cx="11376059"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8" name="Rectangle 20"/>
          <p:cNvSpPr txBox="1">
            <a:spLocks noChangeArrowheads="1"/>
          </p:cNvSpPr>
          <p:nvPr/>
        </p:nvSpPr>
        <p:spPr bwMode="auto">
          <a:xfrm>
            <a:off x="10896053" y="6309033"/>
            <a:ext cx="960011" cy="548971"/>
          </a:xfrm>
          <a:prstGeom prst="rect">
            <a:avLst/>
          </a:prstGeom>
          <a:noFill/>
          <a:ln w="9525">
            <a:noFill/>
            <a:miter lim="800000"/>
            <a:headEnd/>
            <a:tailEnd/>
          </a:ln>
          <a:effectLst/>
        </p:spPr>
        <p:txBody>
          <a:bodyPr vert="horz" wrap="none" lIns="68580" tIns="34290" rIns="68580" bIns="3429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1500" smtClean="0"/>
              <a:pPr/>
              <a:t>‹#›</a:t>
            </a:fld>
            <a:endParaRPr kumimoji="1" lang="ja-JP" altLang="en-US" sz="1500" dirty="0"/>
          </a:p>
        </p:txBody>
      </p:sp>
      <p:sp>
        <p:nvSpPr>
          <p:cNvPr id="3" name="コンテンツ プレースホルダー 2">
            <a:extLst>
              <a:ext uri="{FF2B5EF4-FFF2-40B4-BE49-F238E27FC236}">
                <a16:creationId xmlns:a16="http://schemas.microsoft.com/office/drawing/2014/main" id="{ED3F4CC4-3DF1-E96F-EED4-9F7C4C9F5FFE}"/>
              </a:ext>
            </a:extLst>
          </p:cNvPr>
          <p:cNvSpPr>
            <a:spLocks noGrp="1"/>
          </p:cNvSpPr>
          <p:nvPr>
            <p:ph sz="quarter" idx="10"/>
          </p:nvPr>
        </p:nvSpPr>
        <p:spPr>
          <a:xfrm>
            <a:off x="815942" y="1088974"/>
            <a:ext cx="10560117"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24997960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815941" y="0"/>
            <a:ext cx="11376059"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8" name="Rectangle 20"/>
          <p:cNvSpPr txBox="1">
            <a:spLocks noChangeArrowheads="1"/>
          </p:cNvSpPr>
          <p:nvPr/>
        </p:nvSpPr>
        <p:spPr bwMode="auto">
          <a:xfrm>
            <a:off x="10896053" y="6309033"/>
            <a:ext cx="960011" cy="548971"/>
          </a:xfrm>
          <a:prstGeom prst="rect">
            <a:avLst/>
          </a:prstGeom>
          <a:noFill/>
          <a:ln w="9525">
            <a:noFill/>
            <a:miter lim="800000"/>
            <a:headEnd/>
            <a:tailEnd/>
          </a:ln>
          <a:effectLst/>
        </p:spPr>
        <p:txBody>
          <a:bodyPr vert="horz" wrap="none" lIns="68580" tIns="34290" rIns="68580" bIns="3429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1500" smtClean="0"/>
              <a:pPr/>
              <a:t>‹#›</a:t>
            </a:fld>
            <a:endParaRPr kumimoji="1" lang="ja-JP" altLang="en-US" sz="1500" dirty="0"/>
          </a:p>
        </p:txBody>
      </p:sp>
      <p:sp>
        <p:nvSpPr>
          <p:cNvPr id="3" name="コンテンツ プレースホルダー 2">
            <a:extLst>
              <a:ext uri="{FF2B5EF4-FFF2-40B4-BE49-F238E27FC236}">
                <a16:creationId xmlns:a16="http://schemas.microsoft.com/office/drawing/2014/main" id="{ED3F4CC4-3DF1-E96F-EED4-9F7C4C9F5FFE}"/>
              </a:ext>
            </a:extLst>
          </p:cNvPr>
          <p:cNvSpPr>
            <a:spLocks noGrp="1"/>
          </p:cNvSpPr>
          <p:nvPr>
            <p:ph sz="quarter" idx="10"/>
          </p:nvPr>
        </p:nvSpPr>
        <p:spPr>
          <a:xfrm>
            <a:off x="815942" y="1088974"/>
            <a:ext cx="10560117"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6051328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3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815941" y="0"/>
            <a:ext cx="11376059"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8" name="Rectangle 20"/>
          <p:cNvSpPr txBox="1">
            <a:spLocks noChangeArrowheads="1"/>
          </p:cNvSpPr>
          <p:nvPr/>
        </p:nvSpPr>
        <p:spPr bwMode="auto">
          <a:xfrm>
            <a:off x="10896053" y="6309033"/>
            <a:ext cx="960011" cy="548971"/>
          </a:xfrm>
          <a:prstGeom prst="rect">
            <a:avLst/>
          </a:prstGeom>
          <a:noFill/>
          <a:ln w="9525">
            <a:noFill/>
            <a:miter lim="800000"/>
            <a:headEnd/>
            <a:tailEnd/>
          </a:ln>
          <a:effectLst/>
        </p:spPr>
        <p:txBody>
          <a:bodyPr vert="horz" wrap="none" lIns="68580" tIns="34290" rIns="68580" bIns="3429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1500" smtClean="0"/>
              <a:pPr/>
              <a:t>‹#›</a:t>
            </a:fld>
            <a:endParaRPr kumimoji="1" lang="ja-JP" altLang="en-US" sz="1500" dirty="0"/>
          </a:p>
        </p:txBody>
      </p:sp>
      <p:sp>
        <p:nvSpPr>
          <p:cNvPr id="3" name="コンテンツ プレースホルダー 2">
            <a:extLst>
              <a:ext uri="{FF2B5EF4-FFF2-40B4-BE49-F238E27FC236}">
                <a16:creationId xmlns:a16="http://schemas.microsoft.com/office/drawing/2014/main" id="{ED3F4CC4-3DF1-E96F-EED4-9F7C4C9F5FFE}"/>
              </a:ext>
            </a:extLst>
          </p:cNvPr>
          <p:cNvSpPr>
            <a:spLocks noGrp="1"/>
          </p:cNvSpPr>
          <p:nvPr>
            <p:ph sz="quarter" idx="10"/>
          </p:nvPr>
        </p:nvSpPr>
        <p:spPr>
          <a:xfrm>
            <a:off x="815942" y="1088974"/>
            <a:ext cx="10560117"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17209266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815941" y="0"/>
            <a:ext cx="11376059"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8" name="Rectangle 20"/>
          <p:cNvSpPr txBox="1">
            <a:spLocks noChangeArrowheads="1"/>
          </p:cNvSpPr>
          <p:nvPr/>
        </p:nvSpPr>
        <p:spPr bwMode="auto">
          <a:xfrm>
            <a:off x="10896053" y="6309033"/>
            <a:ext cx="960011" cy="548971"/>
          </a:xfrm>
          <a:prstGeom prst="rect">
            <a:avLst/>
          </a:prstGeom>
          <a:noFill/>
          <a:ln w="9525">
            <a:noFill/>
            <a:miter lim="800000"/>
            <a:headEnd/>
            <a:tailEnd/>
          </a:ln>
          <a:effectLst/>
        </p:spPr>
        <p:txBody>
          <a:bodyPr vert="horz" wrap="none" lIns="68580" tIns="34290" rIns="68580" bIns="3429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1500" smtClean="0"/>
              <a:pPr/>
              <a:t>‹#›</a:t>
            </a:fld>
            <a:endParaRPr kumimoji="1" lang="ja-JP" altLang="en-US" sz="1500" dirty="0"/>
          </a:p>
        </p:txBody>
      </p:sp>
      <p:sp>
        <p:nvSpPr>
          <p:cNvPr id="3" name="コンテンツ プレースホルダー 2">
            <a:extLst>
              <a:ext uri="{FF2B5EF4-FFF2-40B4-BE49-F238E27FC236}">
                <a16:creationId xmlns:a16="http://schemas.microsoft.com/office/drawing/2014/main" id="{ED3F4CC4-3DF1-E96F-EED4-9F7C4C9F5FFE}"/>
              </a:ext>
            </a:extLst>
          </p:cNvPr>
          <p:cNvSpPr>
            <a:spLocks noGrp="1"/>
          </p:cNvSpPr>
          <p:nvPr>
            <p:ph sz="quarter" idx="10"/>
          </p:nvPr>
        </p:nvSpPr>
        <p:spPr>
          <a:xfrm>
            <a:off x="815942" y="1088974"/>
            <a:ext cx="10560117"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34526078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1775953" y="1178975"/>
            <a:ext cx="8640096" cy="522005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2000">
              <a:solidFill>
                <a:schemeClr val="accent4"/>
              </a:solidFill>
            </a:endParaRPr>
          </a:p>
        </p:txBody>
      </p:sp>
      <p:sp>
        <p:nvSpPr>
          <p:cNvPr id="22"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dirty="0"/>
              <a:t>マスタ タイトルの書式設定</a:t>
            </a:r>
          </a:p>
        </p:txBody>
      </p:sp>
      <p:sp>
        <p:nvSpPr>
          <p:cNvPr id="6164"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
        <p:nvSpPr>
          <p:cNvPr id="3" name="正方形/長方形 2">
            <a:extLst>
              <a:ext uri="{FF2B5EF4-FFF2-40B4-BE49-F238E27FC236}">
                <a16:creationId xmlns:a16="http://schemas.microsoft.com/office/drawing/2014/main" id="{40EE7D87-7FE3-C55B-F9ED-04053E84B2A8}"/>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4" name="正方形/長方形 3">
            <a:extLst>
              <a:ext uri="{FF2B5EF4-FFF2-40B4-BE49-F238E27FC236}">
                <a16:creationId xmlns:a16="http://schemas.microsoft.com/office/drawing/2014/main" id="{02D76658-EC28-6DC7-5037-6521DFF08331}"/>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5" name="正方形/長方形 4">
            <a:extLst>
              <a:ext uri="{FF2B5EF4-FFF2-40B4-BE49-F238E27FC236}">
                <a16:creationId xmlns:a16="http://schemas.microsoft.com/office/drawing/2014/main" id="{52FBF5EA-16EF-C5E9-5A0C-DF30C24F685B}"/>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6" name="正方形/長方形 5">
            <a:extLst>
              <a:ext uri="{FF2B5EF4-FFF2-40B4-BE49-F238E27FC236}">
                <a16:creationId xmlns:a16="http://schemas.microsoft.com/office/drawing/2014/main" id="{8FEFD81E-6104-E145-9799-FB67CE42C793}"/>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7" name="正方形/長方形 6">
            <a:extLst>
              <a:ext uri="{FF2B5EF4-FFF2-40B4-BE49-F238E27FC236}">
                <a16:creationId xmlns:a16="http://schemas.microsoft.com/office/drawing/2014/main" id="{6EF03849-6793-6BF8-FD77-8F28E1172229}"/>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8" name="正方形/長方形 7">
            <a:extLst>
              <a:ext uri="{FF2B5EF4-FFF2-40B4-BE49-F238E27FC236}">
                <a16:creationId xmlns:a16="http://schemas.microsoft.com/office/drawing/2014/main" id="{183CAA7C-19D4-AD11-6114-3F216AAEFDB6}"/>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9" name="正方形/長方形 8">
            <a:extLst>
              <a:ext uri="{FF2B5EF4-FFF2-40B4-BE49-F238E27FC236}">
                <a16:creationId xmlns:a16="http://schemas.microsoft.com/office/drawing/2014/main" id="{C57144CD-35C2-0721-B1CA-8F4DB818BDC8}"/>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10" name="正方形/長方形 9">
            <a:extLst>
              <a:ext uri="{FF2B5EF4-FFF2-40B4-BE49-F238E27FC236}">
                <a16:creationId xmlns:a16="http://schemas.microsoft.com/office/drawing/2014/main" id="{DC6B77F7-AFBE-2948-AD94-B0CA8D300CB6}"/>
              </a:ext>
            </a:extLst>
          </p:cNvPr>
          <p:cNvSpPr/>
          <p:nvPr userDrawn="1"/>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Tree>
    <p:extLst>
      <p:ext uri="{BB962C8B-B14F-4D97-AF65-F5344CB8AC3E}">
        <p14:creationId xmlns:p14="http://schemas.microsoft.com/office/powerpoint/2010/main" val="213269087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66" r:id="rId7"/>
  </p:sldLayoutIdLst>
  <p:hf hdr="0" ftr="0" dt="0"/>
  <p:txStyles>
    <p:titleStyle>
      <a:lvl1pPr algn="l" rtl="0" eaLnBrk="1" fontAlgn="base" hangingPunct="1">
        <a:spcBef>
          <a:spcPct val="0"/>
        </a:spcBef>
        <a:spcAft>
          <a:spcPct val="0"/>
        </a:spcAft>
        <a:defRPr kumimoji="1" sz="32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5pPr>
      <a:lvl6pPr marL="4572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6pPr>
      <a:lvl7pPr marL="9144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7pPr>
      <a:lvl8pPr marL="13716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8pPr>
      <a:lvl9pPr marL="18288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rgbClr val="909ECC"/>
        </a:buClr>
        <a:buSzPct val="10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2135956" y="3969007"/>
            <a:ext cx="7920088" cy="810153"/>
          </a:xfrm>
        </p:spPr>
        <p:txBody>
          <a:bodyPr>
            <a:noAutofit/>
          </a:bodyPr>
          <a:lstStyle/>
          <a:p>
            <a:pPr>
              <a:lnSpc>
                <a:spcPct val="150000"/>
              </a:lnSpc>
            </a:pPr>
            <a:r>
              <a:rPr lang="ja-JP" altLang="en-US" sz="1800" b="0" dirty="0"/>
              <a:t>塩谷 亮太 </a:t>
            </a:r>
            <a:r>
              <a:rPr lang="en-US" altLang="ja-JP" sz="1800" b="0" dirty="0"/>
              <a:t>(shioya@ci.i.u-tokyo.ac.jp)</a:t>
            </a:r>
            <a:br>
              <a:rPr lang="en-US" altLang="ja-JP" sz="1800" b="0" dirty="0"/>
            </a:br>
            <a:r>
              <a:rPr lang="ja-JP" altLang="en-US" sz="1800" b="0" dirty="0"/>
              <a:t>東京大学大学院情報理工学系研究科 創造情報学専攻</a:t>
            </a:r>
            <a:endParaRPr lang="ja-JP" altLang="en-US" sz="3200" b="0" dirty="0"/>
          </a:p>
        </p:txBody>
      </p:sp>
      <p:sp>
        <p:nvSpPr>
          <p:cNvPr id="5" name="スライド番号プレースホルダー 4"/>
          <p:cNvSpPr>
            <a:spLocks noGrp="1"/>
          </p:cNvSpPr>
          <p:nvPr>
            <p:ph type="sldNum" sz="quarter" idx="4294967295"/>
          </p:nvPr>
        </p:nvSpPr>
        <p:spPr>
          <a:xfrm>
            <a:off x="11220450" y="6489700"/>
            <a:ext cx="971550" cy="368300"/>
          </a:xfrm>
        </p:spPr>
        <p:txBody>
          <a:bodyPr/>
          <a:lstStyle/>
          <a:p>
            <a:fld id="{D2D8002D-B5B0-4BAC-B1F6-782DDCCE6D9C}" type="slidenum">
              <a:rPr kumimoji="1" lang="ja-JP" altLang="en-US" smtClean="0"/>
              <a:t>1</a:t>
            </a:fld>
            <a:endParaRPr kumimoji="1" lang="ja-JP" altLang="en-US"/>
          </a:p>
        </p:txBody>
      </p:sp>
      <p:sp>
        <p:nvSpPr>
          <p:cNvPr id="3" name="タイトル 1">
            <a:extLst>
              <a:ext uri="{FF2B5EF4-FFF2-40B4-BE49-F238E27FC236}">
                <a16:creationId xmlns:a16="http://schemas.microsoft.com/office/drawing/2014/main" id="{713FB59C-3249-0053-1C3A-F956B535D7B4}"/>
              </a:ext>
            </a:extLst>
          </p:cNvPr>
          <p:cNvSpPr txBox="1">
            <a:spLocks/>
          </p:cNvSpPr>
          <p:nvPr/>
        </p:nvSpPr>
        <p:spPr bwMode="auto">
          <a:xfrm>
            <a:off x="2135956" y="2528990"/>
            <a:ext cx="7952402" cy="540006"/>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noAutofit/>
          </a:bodyPr>
          <a:lstStyle>
            <a:lvl1pPr algn="ctr" rtl="0" eaLnBrk="1" fontAlgn="base" hangingPunct="1">
              <a:spcBef>
                <a:spcPct val="0"/>
              </a:spcBef>
              <a:spcAft>
                <a:spcPct val="0"/>
              </a:spcAft>
              <a:defRPr kumimoji="1" sz="24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a:lstStyle>
          <a:p>
            <a:r>
              <a:rPr lang="ja-JP" altLang="en-US" sz="3200" kern="0" dirty="0"/>
              <a:t>コンピュータ アーキテクチャ</a:t>
            </a:r>
            <a:r>
              <a:rPr lang="en-US" altLang="ja-JP" sz="3200" kern="0" dirty="0"/>
              <a:t>Ⅰ</a:t>
            </a:r>
            <a:r>
              <a:rPr lang="ja-JP" altLang="en-US" sz="3200" kern="0" dirty="0"/>
              <a:t>  第１２回</a:t>
            </a:r>
            <a:endParaRPr lang="ja-JP" altLang="en-US" sz="3200" b="0" kern="0" dirty="0"/>
          </a:p>
        </p:txBody>
      </p:sp>
    </p:spTree>
    <p:extLst>
      <p:ext uri="{BB962C8B-B14F-4D97-AF65-F5344CB8AC3E}">
        <p14:creationId xmlns:p14="http://schemas.microsoft.com/office/powerpoint/2010/main" val="2339571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A71D11E-8112-2FA2-FA79-FFC28F7BE0B5}"/>
              </a:ext>
            </a:extLst>
          </p:cNvPr>
          <p:cNvSpPr>
            <a:spLocks noGrp="1"/>
          </p:cNvSpPr>
          <p:nvPr>
            <p:ph type="sldNum" sz="quarter" idx="10"/>
          </p:nvPr>
        </p:nvSpPr>
        <p:spPr/>
        <p:txBody>
          <a:bodyPr/>
          <a:lstStyle/>
          <a:p>
            <a:fld id="{D2D8002D-B5B0-4BAC-B1F6-782DDCCE6D9C}" type="slidenum">
              <a:rPr kumimoji="1" lang="ja-JP" altLang="en-US" smtClean="0"/>
              <a:pPr/>
              <a:t>2</a:t>
            </a:fld>
            <a:endParaRPr kumimoji="1" lang="ja-JP" altLang="en-US"/>
          </a:p>
        </p:txBody>
      </p:sp>
      <p:sp>
        <p:nvSpPr>
          <p:cNvPr id="3" name="タイトル 2">
            <a:extLst>
              <a:ext uri="{FF2B5EF4-FFF2-40B4-BE49-F238E27FC236}">
                <a16:creationId xmlns:a16="http://schemas.microsoft.com/office/drawing/2014/main" id="{62F2C409-B5E7-7F76-673F-6504E455E5CA}"/>
              </a:ext>
            </a:extLst>
          </p:cNvPr>
          <p:cNvSpPr>
            <a:spLocks noGrp="1"/>
          </p:cNvSpPr>
          <p:nvPr>
            <p:ph type="title"/>
          </p:nvPr>
        </p:nvSpPr>
        <p:spPr/>
        <p:txBody>
          <a:bodyPr/>
          <a:lstStyle/>
          <a:p>
            <a:r>
              <a:rPr kumimoji="1" lang="ja-JP" altLang="en-US" dirty="0"/>
              <a:t>課題の解説</a:t>
            </a:r>
            <a:endParaRPr kumimoji="1" lang="en-US" dirty="0"/>
          </a:p>
        </p:txBody>
      </p:sp>
    </p:spTree>
    <p:extLst>
      <p:ext uri="{BB962C8B-B14F-4D97-AF65-F5344CB8AC3E}">
        <p14:creationId xmlns:p14="http://schemas.microsoft.com/office/powerpoint/2010/main" val="148746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１１</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5220057"/>
          </a:xfrm>
        </p:spPr>
        <p:txBody>
          <a:bodyPr/>
          <a:lstStyle/>
          <a:p>
            <a:r>
              <a:rPr lang="ja-JP" altLang="en-US" sz="1400" dirty="0"/>
              <a:t>以下のような状況の仮想メモリについて考える：</a:t>
            </a:r>
            <a:endParaRPr lang="en-US" altLang="ja-JP" sz="1400" dirty="0"/>
          </a:p>
          <a:p>
            <a:pPr lvl="1"/>
            <a:r>
              <a:rPr lang="ja-JP" altLang="en-US" sz="1400" dirty="0"/>
              <a:t>仮想アドレス空間と物理アドレス空間は共に </a:t>
            </a:r>
            <a:r>
              <a:rPr lang="en-US" altLang="ja-JP" sz="1400" dirty="0"/>
              <a:t>32bit </a:t>
            </a:r>
            <a:r>
              <a:rPr lang="ja-JP" altLang="en-US" sz="1400" dirty="0"/>
              <a:t>である</a:t>
            </a:r>
            <a:endParaRPr lang="en-US" altLang="ja-JP" sz="1400" dirty="0"/>
          </a:p>
          <a:p>
            <a:pPr lvl="1"/>
            <a:r>
              <a:rPr lang="ja-JP" altLang="en-US" sz="1400" dirty="0"/>
              <a:t>単段ページ・テーブルを使用</a:t>
            </a:r>
            <a:endParaRPr lang="en-US" altLang="ja-JP" sz="1400" dirty="0"/>
          </a:p>
          <a:p>
            <a:pPr lvl="1"/>
            <a:r>
              <a:rPr lang="ja-JP" altLang="en-US" sz="1400" dirty="0"/>
              <a:t>ページ・サイズは </a:t>
            </a:r>
            <a:r>
              <a:rPr lang="en-US" altLang="ja-JP" sz="1400" dirty="0"/>
              <a:t>64KB </a:t>
            </a:r>
            <a:r>
              <a:rPr lang="ja-JP" altLang="en-US" sz="1400" dirty="0"/>
              <a:t>である</a:t>
            </a:r>
            <a:endParaRPr lang="en-US" altLang="ja-JP" sz="1400" dirty="0"/>
          </a:p>
          <a:p>
            <a:pPr lvl="1"/>
            <a:r>
              <a:rPr lang="ja-JP" altLang="en-US" sz="1400" dirty="0"/>
              <a:t>ベース・レジスタには物理アドレス </a:t>
            </a:r>
            <a:r>
              <a:rPr lang="en-US" altLang="ja-JP" sz="1400" dirty="0"/>
              <a:t>0x20000000 </a:t>
            </a:r>
            <a:r>
              <a:rPr lang="ja-JP" altLang="en-US" sz="1400" dirty="0"/>
              <a:t>が設定されている</a:t>
            </a:r>
            <a:endParaRPr lang="en-US" altLang="ja-JP" sz="1400" dirty="0"/>
          </a:p>
          <a:p>
            <a:pPr lvl="1"/>
            <a:r>
              <a:rPr lang="ja-JP" altLang="en-US" sz="1400" dirty="0"/>
              <a:t>仮想アドレス </a:t>
            </a:r>
            <a:r>
              <a:rPr lang="en-US" altLang="ja-JP" sz="1400" dirty="0"/>
              <a:t>0x10000000 </a:t>
            </a:r>
            <a:r>
              <a:rPr lang="ja-JP" altLang="en-US" sz="1400" dirty="0"/>
              <a:t>と </a:t>
            </a:r>
            <a:r>
              <a:rPr lang="en-US" altLang="ja-JP" sz="1400" dirty="0"/>
              <a:t>0xfea50000 </a:t>
            </a:r>
            <a:r>
              <a:rPr lang="ja-JP" altLang="en-US" sz="1400" dirty="0"/>
              <a:t>から始まるページには，それぞれ物理アドレス </a:t>
            </a:r>
            <a:r>
              <a:rPr lang="en-US" altLang="ja-JP" sz="1400" dirty="0"/>
              <a:t>0x30000000 </a:t>
            </a:r>
            <a:r>
              <a:rPr lang="ja-JP" altLang="en-US" sz="1400" dirty="0"/>
              <a:t>と </a:t>
            </a:r>
            <a:r>
              <a:rPr lang="en-US" altLang="ja-JP" sz="1400" dirty="0"/>
              <a:t>0x30010000 </a:t>
            </a:r>
            <a:r>
              <a:rPr lang="ja-JP" altLang="en-US" sz="1400" dirty="0"/>
              <a:t>から始まるページが割り当てられているものとする</a:t>
            </a:r>
            <a:endParaRPr lang="en-US" altLang="ja-JP" sz="1400" dirty="0"/>
          </a:p>
          <a:p>
            <a:pPr lvl="1"/>
            <a:r>
              <a:rPr lang="en-US" altLang="ja-JP" sz="1400" dirty="0"/>
              <a:t>TLB </a:t>
            </a:r>
            <a:r>
              <a:rPr lang="ja-JP" altLang="en-US" sz="1400" dirty="0"/>
              <a:t>は存在しない</a:t>
            </a:r>
            <a:endParaRPr lang="en-US" altLang="ja-JP" sz="1400"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3</a:t>
            </a:fld>
            <a:endParaRPr kumimoji="1" lang="ja-JP" altLang="en-US" dirty="0"/>
          </a:p>
        </p:txBody>
      </p:sp>
    </p:spTree>
    <p:extLst>
      <p:ext uri="{BB962C8B-B14F-4D97-AF65-F5344CB8AC3E}">
        <p14:creationId xmlns:p14="http://schemas.microsoft.com/office/powerpoint/2010/main" val="32197134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１１</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5220057"/>
          </a:xfrm>
        </p:spPr>
        <p:txBody>
          <a:bodyPr/>
          <a:lstStyle/>
          <a:p>
            <a:r>
              <a:rPr lang="ja-JP" altLang="en-US" sz="1400" dirty="0"/>
              <a:t>前提からわかること</a:t>
            </a:r>
            <a:endParaRPr lang="en-US" altLang="ja-JP" sz="1400" dirty="0"/>
          </a:p>
          <a:p>
            <a:pPr lvl="1"/>
            <a:r>
              <a:rPr lang="ja-JP" altLang="en-US" sz="1400" dirty="0"/>
              <a:t>ページサイズは </a:t>
            </a:r>
            <a:r>
              <a:rPr lang="en-US" altLang="ja-JP" sz="1400" dirty="0"/>
              <a:t>64KB=65536B=0x10000B</a:t>
            </a:r>
            <a:r>
              <a:rPr lang="ja-JP" altLang="en-US" sz="1400" dirty="0"/>
              <a:t>→ </a:t>
            </a:r>
            <a:r>
              <a:rPr lang="en-US" altLang="ja-JP" sz="1400" dirty="0"/>
              <a:t>16</a:t>
            </a:r>
            <a:r>
              <a:rPr lang="ja-JP" altLang="en-US" sz="1400" dirty="0"/>
              <a:t>進数で上</a:t>
            </a:r>
            <a:r>
              <a:rPr lang="en-US" altLang="ja-JP" sz="1400" dirty="0"/>
              <a:t>4</a:t>
            </a:r>
            <a:r>
              <a:rPr lang="ja-JP" altLang="en-US" sz="1400" dirty="0"/>
              <a:t>桁がページ番号</a:t>
            </a:r>
            <a:endParaRPr lang="en-US" altLang="ja-JP" sz="1400" dirty="0"/>
          </a:p>
          <a:p>
            <a:pPr lvl="1"/>
            <a:r>
              <a:rPr lang="ja-JP" altLang="en-US" sz="1400" dirty="0"/>
              <a:t>アドレス空間は </a:t>
            </a:r>
            <a:r>
              <a:rPr lang="en-US" altLang="ja-JP" sz="1400" dirty="0"/>
              <a:t>32bit=</a:t>
            </a:r>
            <a:r>
              <a:rPr lang="ja-JP" altLang="en-US" sz="1400" dirty="0"/>
              <a:t>ページ先頭をさすポインタは </a:t>
            </a:r>
            <a:r>
              <a:rPr lang="en-US" altLang="ja-JP" sz="1400" dirty="0"/>
              <a:t>4B</a:t>
            </a:r>
          </a:p>
          <a:p>
            <a:r>
              <a:rPr lang="en-US" altLang="ja-JP" sz="1400" dirty="0"/>
              <a:t>(1) </a:t>
            </a:r>
            <a:r>
              <a:rPr lang="ja-JP" altLang="en-US" sz="1400" dirty="0"/>
              <a:t>仮想アドレス </a:t>
            </a:r>
            <a:r>
              <a:rPr lang="en-US" altLang="ja-JP" sz="1400" dirty="0"/>
              <a:t>0x10002000 </a:t>
            </a:r>
            <a:r>
              <a:rPr lang="ja-JP" altLang="en-US" sz="1400" dirty="0"/>
              <a:t>に格納されている値を読み出す際にアクセスされる物理アドレスをすべてあげよ</a:t>
            </a:r>
            <a:endParaRPr lang="en-US" altLang="ja-JP" sz="1400" dirty="0"/>
          </a:p>
          <a:p>
            <a:pPr lvl="1"/>
            <a:r>
              <a:rPr lang="en-US" altLang="ja-JP" sz="1400" dirty="0"/>
              <a:t>0x2000 0000 + 4B * 0x1000 = 0x2000 4000 </a:t>
            </a:r>
            <a:r>
              <a:rPr lang="ja-JP" altLang="en-US" sz="1400" dirty="0"/>
              <a:t>に最初にアクセス</a:t>
            </a:r>
            <a:endParaRPr lang="en-US" altLang="ja-JP" sz="1400" dirty="0"/>
          </a:p>
          <a:p>
            <a:pPr lvl="2"/>
            <a:r>
              <a:rPr lang="ja-JP" altLang="en-US" sz="1400" dirty="0"/>
              <a:t>ページ番号は上４桁なので，</a:t>
            </a:r>
            <a:r>
              <a:rPr lang="en-US" altLang="ja-JP" sz="1400" dirty="0"/>
              <a:t>0x10002000 </a:t>
            </a:r>
            <a:r>
              <a:rPr lang="ja-JP" altLang="en-US" sz="1400" dirty="0"/>
              <a:t>→ </a:t>
            </a:r>
            <a:r>
              <a:rPr lang="en-US" altLang="ja-JP" sz="1400" dirty="0"/>
              <a:t>0x1000 </a:t>
            </a:r>
          </a:p>
          <a:p>
            <a:pPr lvl="2"/>
            <a:r>
              <a:rPr lang="ja-JP" altLang="en-US" sz="1400" dirty="0"/>
              <a:t>ここから割り当てられている物理アドレス </a:t>
            </a:r>
            <a:r>
              <a:rPr lang="en-US" altLang="ja-JP" sz="1400" dirty="0"/>
              <a:t>0x3000 0000 </a:t>
            </a:r>
            <a:r>
              <a:rPr lang="ja-JP" altLang="en-US" sz="1400" dirty="0"/>
              <a:t>が読める</a:t>
            </a:r>
            <a:endParaRPr lang="en-US" altLang="ja-JP" sz="1400" dirty="0"/>
          </a:p>
          <a:p>
            <a:pPr lvl="1"/>
            <a:r>
              <a:rPr lang="en-US" altLang="ja-JP" sz="1400" dirty="0"/>
              <a:t>0x3000 0000 + 0x2000 = 0x3000 2000 </a:t>
            </a:r>
            <a:r>
              <a:rPr lang="ja-JP" altLang="en-US" sz="1400" dirty="0"/>
              <a:t>に次にアクセス</a:t>
            </a:r>
            <a:endParaRPr lang="en-US" altLang="ja-JP" sz="1400"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4</a:t>
            </a:fld>
            <a:endParaRPr kumimoji="1" lang="ja-JP" altLang="en-US" dirty="0"/>
          </a:p>
        </p:txBody>
      </p:sp>
    </p:spTree>
    <p:extLst>
      <p:ext uri="{BB962C8B-B14F-4D97-AF65-F5344CB8AC3E}">
        <p14:creationId xmlns:p14="http://schemas.microsoft.com/office/powerpoint/2010/main" val="180359428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A23D73-9346-46BC-902C-56695687FF6F}"/>
              </a:ext>
            </a:extLst>
          </p:cNvPr>
          <p:cNvSpPr>
            <a:spLocks noGrp="1"/>
          </p:cNvSpPr>
          <p:nvPr>
            <p:ph type="title"/>
          </p:nvPr>
        </p:nvSpPr>
        <p:spPr/>
        <p:txBody>
          <a:bodyPr/>
          <a:lstStyle/>
          <a:p>
            <a:r>
              <a:rPr kumimoji="1" lang="ja-JP" altLang="en-US" dirty="0"/>
              <a:t>仮想メモリと物理メモリの対応</a:t>
            </a:r>
          </a:p>
        </p:txBody>
      </p:sp>
      <p:sp>
        <p:nvSpPr>
          <p:cNvPr id="5" name="正方形/長方形 4">
            <a:extLst>
              <a:ext uri="{FF2B5EF4-FFF2-40B4-BE49-F238E27FC236}">
                <a16:creationId xmlns:a16="http://schemas.microsoft.com/office/drawing/2014/main" id="{8FC2FED3-730B-4DD0-AF3F-11439DD0B8DB}"/>
              </a:ext>
            </a:extLst>
          </p:cNvPr>
          <p:cNvSpPr/>
          <p:nvPr/>
        </p:nvSpPr>
        <p:spPr bwMode="auto">
          <a:xfrm>
            <a:off x="7536016" y="1268976"/>
            <a:ext cx="1080012" cy="3600040"/>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4" name="正方形/長方形 33">
            <a:extLst>
              <a:ext uri="{FF2B5EF4-FFF2-40B4-BE49-F238E27FC236}">
                <a16:creationId xmlns:a16="http://schemas.microsoft.com/office/drawing/2014/main" id="{2582A728-F7F5-4B2F-8E43-305BF7418F28}"/>
              </a:ext>
            </a:extLst>
          </p:cNvPr>
          <p:cNvSpPr/>
          <p:nvPr/>
        </p:nvSpPr>
        <p:spPr bwMode="auto">
          <a:xfrm>
            <a:off x="7536016" y="2438990"/>
            <a:ext cx="1080012" cy="630007"/>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64KB</a:t>
            </a:r>
            <a:endParaRPr lang="ja-JP" altLang="en-US" dirty="0">
              <a:solidFill>
                <a:schemeClr val="tx1">
                  <a:lumMod val="75000"/>
                  <a:lumOff val="25000"/>
                </a:schemeClr>
              </a:solidFill>
              <a:latin typeface="+mn-ea"/>
            </a:endParaRPr>
          </a:p>
        </p:txBody>
      </p:sp>
      <p:sp>
        <p:nvSpPr>
          <p:cNvPr id="41" name="正方形/長方形 40"/>
          <p:cNvSpPr/>
          <p:nvPr/>
        </p:nvSpPr>
        <p:spPr bwMode="auto">
          <a:xfrm>
            <a:off x="7716019"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物理アドレス空間</a:t>
            </a:r>
          </a:p>
        </p:txBody>
      </p:sp>
      <p:sp>
        <p:nvSpPr>
          <p:cNvPr id="40" name="正方形/長方形 39">
            <a:extLst>
              <a:ext uri="{FF2B5EF4-FFF2-40B4-BE49-F238E27FC236}">
                <a16:creationId xmlns:a16="http://schemas.microsoft.com/office/drawing/2014/main" id="{F8E9AEA5-3FB4-455D-9495-C980C57584B6}"/>
              </a:ext>
            </a:extLst>
          </p:cNvPr>
          <p:cNvSpPr/>
          <p:nvPr/>
        </p:nvSpPr>
        <p:spPr bwMode="auto">
          <a:xfrm>
            <a:off x="6456004" y="2438990"/>
            <a:ext cx="1080012"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accent6"/>
                </a:solidFill>
                <a:latin typeface="Consolas" panose="020B0609020204030204" pitchFamily="49" charset="0"/>
              </a:rPr>
              <a:t>0x30000000:</a:t>
            </a:r>
            <a:endParaRPr lang="ja-JP" altLang="en-US" sz="1200" dirty="0">
              <a:solidFill>
                <a:schemeClr val="accent6"/>
              </a:solidFill>
              <a:latin typeface="Consolas" panose="020B0609020204030204" pitchFamily="49" charset="0"/>
            </a:endParaRPr>
          </a:p>
        </p:txBody>
      </p:sp>
      <p:sp>
        <p:nvSpPr>
          <p:cNvPr id="15" name="正方形/長方形 14">
            <a:extLst>
              <a:ext uri="{FF2B5EF4-FFF2-40B4-BE49-F238E27FC236}">
                <a16:creationId xmlns:a16="http://schemas.microsoft.com/office/drawing/2014/main" id="{789C1DA0-D99D-EF86-AE43-34EBCEF75B7C}"/>
              </a:ext>
            </a:extLst>
          </p:cNvPr>
          <p:cNvSpPr/>
          <p:nvPr/>
        </p:nvSpPr>
        <p:spPr bwMode="auto">
          <a:xfrm>
            <a:off x="7536016" y="3068998"/>
            <a:ext cx="1080012" cy="630007"/>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64KB</a:t>
            </a:r>
            <a:endParaRPr lang="ja-JP" altLang="en-US" dirty="0">
              <a:solidFill>
                <a:schemeClr val="tx1">
                  <a:lumMod val="75000"/>
                  <a:lumOff val="25000"/>
                </a:schemeClr>
              </a:solidFill>
              <a:latin typeface="+mn-ea"/>
            </a:endParaRPr>
          </a:p>
        </p:txBody>
      </p:sp>
      <p:sp>
        <p:nvSpPr>
          <p:cNvPr id="16" name="正方形/長方形 15">
            <a:extLst>
              <a:ext uri="{FF2B5EF4-FFF2-40B4-BE49-F238E27FC236}">
                <a16:creationId xmlns:a16="http://schemas.microsoft.com/office/drawing/2014/main" id="{A80C8211-BF6C-24D3-91A4-C4CB4423DBB1}"/>
              </a:ext>
            </a:extLst>
          </p:cNvPr>
          <p:cNvSpPr/>
          <p:nvPr/>
        </p:nvSpPr>
        <p:spPr bwMode="auto">
          <a:xfrm>
            <a:off x="6456004" y="3068997"/>
            <a:ext cx="1080012"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accent6"/>
                </a:solidFill>
                <a:latin typeface="Consolas" panose="020B0609020204030204" pitchFamily="49" charset="0"/>
              </a:rPr>
              <a:t>0x30010000:</a:t>
            </a:r>
            <a:endParaRPr lang="ja-JP" altLang="en-US" sz="1200" dirty="0">
              <a:solidFill>
                <a:schemeClr val="accent6"/>
              </a:solidFill>
              <a:latin typeface="Consolas" panose="020B0609020204030204" pitchFamily="49" charset="0"/>
            </a:endParaRPr>
          </a:p>
        </p:txBody>
      </p:sp>
      <p:sp>
        <p:nvSpPr>
          <p:cNvPr id="17" name="正方形/長方形 16">
            <a:extLst>
              <a:ext uri="{FF2B5EF4-FFF2-40B4-BE49-F238E27FC236}">
                <a16:creationId xmlns:a16="http://schemas.microsoft.com/office/drawing/2014/main" id="{55995DEE-D276-CC70-CA73-3B969A7629C4}"/>
              </a:ext>
            </a:extLst>
          </p:cNvPr>
          <p:cNvSpPr/>
          <p:nvPr/>
        </p:nvSpPr>
        <p:spPr bwMode="auto">
          <a:xfrm>
            <a:off x="3575972" y="1268977"/>
            <a:ext cx="1080012" cy="3510039"/>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0" name="正方形/長方形 19">
            <a:extLst>
              <a:ext uri="{FF2B5EF4-FFF2-40B4-BE49-F238E27FC236}">
                <a16:creationId xmlns:a16="http://schemas.microsoft.com/office/drawing/2014/main" id="{BB08FCF5-23BA-5EB6-6F44-912E5BB7391D}"/>
              </a:ext>
            </a:extLst>
          </p:cNvPr>
          <p:cNvSpPr/>
          <p:nvPr/>
        </p:nvSpPr>
        <p:spPr bwMode="auto">
          <a:xfrm>
            <a:off x="2495960" y="1718981"/>
            <a:ext cx="1080012"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accent6"/>
                </a:solidFill>
                <a:latin typeface="Consolas" panose="020B0609020204030204" pitchFamily="49" charset="0"/>
              </a:rPr>
              <a:t>0x10000000:</a:t>
            </a:r>
            <a:endParaRPr lang="ja-JP" altLang="en-US" sz="1200" dirty="0">
              <a:solidFill>
                <a:schemeClr val="accent6"/>
              </a:solidFill>
              <a:latin typeface="Consolas" panose="020B0609020204030204" pitchFamily="49" charset="0"/>
            </a:endParaRPr>
          </a:p>
        </p:txBody>
      </p:sp>
      <p:sp>
        <p:nvSpPr>
          <p:cNvPr id="22" name="正方形/長方形 21">
            <a:extLst>
              <a:ext uri="{FF2B5EF4-FFF2-40B4-BE49-F238E27FC236}">
                <a16:creationId xmlns:a16="http://schemas.microsoft.com/office/drawing/2014/main" id="{286DC410-E6C7-A488-418F-00C857B772A6}"/>
              </a:ext>
            </a:extLst>
          </p:cNvPr>
          <p:cNvSpPr/>
          <p:nvPr/>
        </p:nvSpPr>
        <p:spPr bwMode="auto">
          <a:xfrm>
            <a:off x="2495960" y="3879005"/>
            <a:ext cx="1080012"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accent6"/>
                </a:solidFill>
                <a:latin typeface="Consolas" panose="020B0609020204030204" pitchFamily="49" charset="0"/>
              </a:rPr>
              <a:t>0xfea50000:</a:t>
            </a:r>
            <a:endParaRPr lang="ja-JP" altLang="en-US" sz="1200" dirty="0">
              <a:solidFill>
                <a:schemeClr val="accent6"/>
              </a:solidFill>
              <a:latin typeface="Consolas" panose="020B0609020204030204" pitchFamily="49" charset="0"/>
            </a:endParaRPr>
          </a:p>
        </p:txBody>
      </p:sp>
      <p:sp>
        <p:nvSpPr>
          <p:cNvPr id="24" name="正方形/長方形 23">
            <a:extLst>
              <a:ext uri="{FF2B5EF4-FFF2-40B4-BE49-F238E27FC236}">
                <a16:creationId xmlns:a16="http://schemas.microsoft.com/office/drawing/2014/main" id="{407D15DB-38F4-DB44-4337-8B73B5643E9B}"/>
              </a:ext>
            </a:extLst>
          </p:cNvPr>
          <p:cNvSpPr/>
          <p:nvPr/>
        </p:nvSpPr>
        <p:spPr bwMode="auto">
          <a:xfrm>
            <a:off x="3575972" y="1718982"/>
            <a:ext cx="1080012" cy="630007"/>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64KB</a:t>
            </a:r>
            <a:endParaRPr lang="ja-JP" altLang="en-US" dirty="0">
              <a:solidFill>
                <a:schemeClr val="tx1">
                  <a:lumMod val="75000"/>
                  <a:lumOff val="25000"/>
                </a:schemeClr>
              </a:solidFill>
              <a:latin typeface="+mn-ea"/>
            </a:endParaRPr>
          </a:p>
        </p:txBody>
      </p:sp>
      <p:sp>
        <p:nvSpPr>
          <p:cNvPr id="25" name="正方形/長方形 24">
            <a:extLst>
              <a:ext uri="{FF2B5EF4-FFF2-40B4-BE49-F238E27FC236}">
                <a16:creationId xmlns:a16="http://schemas.microsoft.com/office/drawing/2014/main" id="{C85C0C22-4ABC-64E2-02D0-F7A10D507076}"/>
              </a:ext>
            </a:extLst>
          </p:cNvPr>
          <p:cNvSpPr/>
          <p:nvPr/>
        </p:nvSpPr>
        <p:spPr bwMode="auto">
          <a:xfrm>
            <a:off x="3575972" y="3879006"/>
            <a:ext cx="1080012" cy="630007"/>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64KB</a:t>
            </a:r>
            <a:endParaRPr lang="ja-JP" altLang="en-US" dirty="0">
              <a:solidFill>
                <a:schemeClr val="tx1">
                  <a:lumMod val="75000"/>
                  <a:lumOff val="25000"/>
                </a:schemeClr>
              </a:solidFill>
              <a:latin typeface="+mn-ea"/>
            </a:endParaRPr>
          </a:p>
        </p:txBody>
      </p:sp>
      <p:sp>
        <p:nvSpPr>
          <p:cNvPr id="26" name="正方形/長方形 25">
            <a:extLst>
              <a:ext uri="{FF2B5EF4-FFF2-40B4-BE49-F238E27FC236}">
                <a16:creationId xmlns:a16="http://schemas.microsoft.com/office/drawing/2014/main" id="{5EB1B507-4156-00A4-2601-ADDA3921107B}"/>
              </a:ext>
            </a:extLst>
          </p:cNvPr>
          <p:cNvSpPr/>
          <p:nvPr/>
        </p:nvSpPr>
        <p:spPr bwMode="auto">
          <a:xfrm>
            <a:off x="3845976"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仮想アドレス空間</a:t>
            </a:r>
          </a:p>
        </p:txBody>
      </p:sp>
      <p:cxnSp>
        <p:nvCxnSpPr>
          <p:cNvPr id="28" name="直線矢印コネクタ 27">
            <a:extLst>
              <a:ext uri="{FF2B5EF4-FFF2-40B4-BE49-F238E27FC236}">
                <a16:creationId xmlns:a16="http://schemas.microsoft.com/office/drawing/2014/main" id="{03472A4A-AFAB-9F7C-D784-8E79B486F633}"/>
              </a:ext>
            </a:extLst>
          </p:cNvPr>
          <p:cNvCxnSpPr>
            <a:cxnSpLocks/>
          </p:cNvCxnSpPr>
          <p:nvPr/>
        </p:nvCxnSpPr>
        <p:spPr bwMode="auto">
          <a:xfrm>
            <a:off x="4655984" y="1718981"/>
            <a:ext cx="2880032" cy="720008"/>
          </a:xfrm>
          <a:prstGeom prst="straightConnector1">
            <a:avLst/>
          </a:prstGeom>
          <a:noFill/>
          <a:ln w="9525" cap="flat" cmpd="sng" algn="ctr">
            <a:solidFill>
              <a:schemeClr val="tx1"/>
            </a:solidFill>
            <a:prstDash val="solid"/>
            <a:round/>
            <a:headEnd type="none" w="med" len="med"/>
            <a:tailEnd type="triangle"/>
          </a:ln>
          <a:effectLst/>
        </p:spPr>
      </p:cxnSp>
      <p:cxnSp>
        <p:nvCxnSpPr>
          <p:cNvPr id="29" name="直線矢印コネクタ 28">
            <a:extLst>
              <a:ext uri="{FF2B5EF4-FFF2-40B4-BE49-F238E27FC236}">
                <a16:creationId xmlns:a16="http://schemas.microsoft.com/office/drawing/2014/main" id="{056B951D-909F-55A4-1CD6-360E04DA051B}"/>
              </a:ext>
            </a:extLst>
          </p:cNvPr>
          <p:cNvCxnSpPr>
            <a:cxnSpLocks/>
          </p:cNvCxnSpPr>
          <p:nvPr/>
        </p:nvCxnSpPr>
        <p:spPr bwMode="auto">
          <a:xfrm flipV="1">
            <a:off x="4655984" y="3068997"/>
            <a:ext cx="2880032" cy="810009"/>
          </a:xfrm>
          <a:prstGeom prst="straightConnector1">
            <a:avLst/>
          </a:prstGeom>
          <a:noFill/>
          <a:ln w="9525" cap="flat" cmpd="sng" algn="ctr">
            <a:solidFill>
              <a:schemeClr val="tx1"/>
            </a:solidFill>
            <a:prstDash val="solid"/>
            <a:round/>
            <a:headEnd type="none" w="med" len="med"/>
            <a:tailEnd type="triangle"/>
          </a:ln>
          <a:effectLst/>
        </p:spPr>
      </p:cxnSp>
      <p:sp>
        <p:nvSpPr>
          <p:cNvPr id="32" name="テキスト プレースホルダー 2">
            <a:extLst>
              <a:ext uri="{FF2B5EF4-FFF2-40B4-BE49-F238E27FC236}">
                <a16:creationId xmlns:a16="http://schemas.microsoft.com/office/drawing/2014/main" id="{8DB7D6E2-CB52-5CEB-341B-56D842BD4CFA}"/>
              </a:ext>
            </a:extLst>
          </p:cNvPr>
          <p:cNvSpPr txBox="1">
            <a:spLocks/>
          </p:cNvSpPr>
          <p:nvPr/>
        </p:nvSpPr>
        <p:spPr bwMode="auto">
          <a:xfrm>
            <a:off x="1685951" y="5229020"/>
            <a:ext cx="8640096" cy="152971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r>
              <a:rPr lang="ja-JP" altLang="en-US" sz="1200" kern="0" dirty="0">
                <a:latin typeface="Consolas" panose="020B0609020204030204" pitchFamily="49" charset="0"/>
              </a:rPr>
              <a:t>仮想アドレス上の </a:t>
            </a:r>
            <a:r>
              <a:rPr lang="en-US" altLang="ja-JP" sz="1200" kern="0" dirty="0">
                <a:latin typeface="Consolas" panose="020B0609020204030204" pitchFamily="49" charset="0"/>
              </a:rPr>
              <a:t>64KB </a:t>
            </a:r>
            <a:r>
              <a:rPr lang="ja-JP" altLang="en-US" sz="1200" kern="0" dirty="0">
                <a:latin typeface="Consolas" panose="020B0609020204030204" pitchFamily="49" charset="0"/>
              </a:rPr>
              <a:t>分が物理アドレスの </a:t>
            </a:r>
            <a:r>
              <a:rPr lang="en-US" altLang="ja-JP" sz="1200" kern="0" dirty="0">
                <a:latin typeface="Consolas" panose="020B0609020204030204" pitchFamily="49" charset="0"/>
              </a:rPr>
              <a:t>64KB </a:t>
            </a:r>
            <a:r>
              <a:rPr lang="ja-JP" altLang="en-US" sz="1200" kern="0" dirty="0">
                <a:latin typeface="Consolas" panose="020B0609020204030204" pitchFamily="49" charset="0"/>
              </a:rPr>
              <a:t>のブロックにマップされている</a:t>
            </a:r>
            <a:endParaRPr lang="en-US" altLang="ja-JP" sz="1200" kern="0" dirty="0">
              <a:latin typeface="Consolas" panose="020B0609020204030204" pitchFamily="49" charset="0"/>
            </a:endParaRPr>
          </a:p>
          <a:p>
            <a:pPr lvl="1"/>
            <a:r>
              <a:rPr lang="en-US" altLang="ja-JP" sz="1200" kern="0" dirty="0">
                <a:latin typeface="Consolas" panose="020B0609020204030204" pitchFamily="49" charset="0"/>
              </a:rPr>
              <a:t>64KB = 65536 = 0x10000</a:t>
            </a:r>
          </a:p>
          <a:p>
            <a:pPr lvl="1"/>
            <a:r>
              <a:rPr lang="en-US" altLang="ja-JP" sz="1200" kern="0" dirty="0">
                <a:latin typeface="Consolas" panose="020B0609020204030204" pitchFamily="49" charset="0"/>
              </a:rPr>
              <a:t>0x10000000</a:t>
            </a:r>
            <a:r>
              <a:rPr lang="ja-JP" altLang="en-US" sz="1200" kern="0" dirty="0">
                <a:latin typeface="Consolas" panose="020B0609020204030204" pitchFamily="49" charset="0"/>
              </a:rPr>
              <a:t>→</a:t>
            </a:r>
            <a:r>
              <a:rPr lang="en-US" altLang="ja-JP" sz="1200" kern="0" dirty="0">
                <a:latin typeface="Consolas" panose="020B0609020204030204" pitchFamily="49" charset="0"/>
              </a:rPr>
              <a:t>0x30000000, 0x10000001</a:t>
            </a:r>
            <a:r>
              <a:rPr lang="ja-JP" altLang="en-US" sz="1200" kern="0" dirty="0">
                <a:latin typeface="Consolas" panose="020B0609020204030204" pitchFamily="49" charset="0"/>
              </a:rPr>
              <a:t>→</a:t>
            </a:r>
            <a:r>
              <a:rPr lang="en-US" altLang="ja-JP" sz="1200" kern="0" dirty="0">
                <a:latin typeface="Consolas" panose="020B0609020204030204" pitchFamily="49" charset="0"/>
              </a:rPr>
              <a:t>0x30000001, 0x10000002</a:t>
            </a:r>
            <a:r>
              <a:rPr lang="ja-JP" altLang="en-US" sz="1200" kern="0" dirty="0">
                <a:latin typeface="Consolas" panose="020B0609020204030204" pitchFamily="49" charset="0"/>
              </a:rPr>
              <a:t>→</a:t>
            </a:r>
            <a:r>
              <a:rPr lang="en-US" altLang="ja-JP" sz="1200" kern="0" dirty="0">
                <a:latin typeface="Consolas" panose="020B0609020204030204" pitchFamily="49" charset="0"/>
              </a:rPr>
              <a:t>0x30000002 ...</a:t>
            </a:r>
            <a:br>
              <a:rPr lang="en-US" altLang="ja-JP" sz="1200" kern="0" dirty="0">
                <a:latin typeface="Consolas" panose="020B0609020204030204" pitchFamily="49" charset="0"/>
              </a:rPr>
            </a:br>
            <a:r>
              <a:rPr lang="en-US" altLang="ja-JP" sz="1200" kern="0" dirty="0">
                <a:latin typeface="Consolas" panose="020B0609020204030204" pitchFamily="49" charset="0"/>
              </a:rPr>
              <a:t>0x1000ffff</a:t>
            </a:r>
            <a:r>
              <a:rPr lang="ja-JP" altLang="en-US" sz="1200" kern="0" dirty="0">
                <a:latin typeface="Consolas" panose="020B0609020204030204" pitchFamily="49" charset="0"/>
              </a:rPr>
              <a:t>→</a:t>
            </a:r>
            <a:r>
              <a:rPr lang="en-US" altLang="ja-JP" sz="1200" kern="0" dirty="0">
                <a:latin typeface="Consolas" panose="020B0609020204030204" pitchFamily="49" charset="0"/>
              </a:rPr>
              <a:t>0x3000ffff </a:t>
            </a:r>
            <a:r>
              <a:rPr lang="ja-JP" altLang="en-US" sz="1200" kern="0" dirty="0">
                <a:latin typeface="Consolas" panose="020B0609020204030204" pitchFamily="49" charset="0"/>
              </a:rPr>
              <a:t>にマップされている</a:t>
            </a:r>
            <a:endParaRPr lang="en-US" altLang="ja-JP" sz="1200" kern="0" dirty="0">
              <a:latin typeface="Consolas" panose="020B0609020204030204" pitchFamily="49" charset="0"/>
            </a:endParaRPr>
          </a:p>
          <a:p>
            <a:pPr lvl="1"/>
            <a:r>
              <a:rPr lang="en-US" altLang="ja-JP" sz="1200" kern="0" dirty="0">
                <a:latin typeface="Consolas" panose="020B0609020204030204" pitchFamily="49" charset="0"/>
              </a:rPr>
              <a:t>0xfea50000</a:t>
            </a:r>
            <a:r>
              <a:rPr lang="ja-JP" altLang="en-US" sz="1200" kern="0" dirty="0">
                <a:latin typeface="Consolas" panose="020B0609020204030204" pitchFamily="49" charset="0"/>
              </a:rPr>
              <a:t>→</a:t>
            </a:r>
            <a:r>
              <a:rPr lang="en-US" altLang="ja-JP" sz="1200" kern="0" dirty="0">
                <a:latin typeface="Consolas" panose="020B0609020204030204" pitchFamily="49" charset="0"/>
              </a:rPr>
              <a:t>0xfea50000, 0xfea50001</a:t>
            </a:r>
            <a:r>
              <a:rPr lang="ja-JP" altLang="en-US" sz="1200" kern="0" dirty="0">
                <a:latin typeface="Consolas" panose="020B0609020204030204" pitchFamily="49" charset="0"/>
              </a:rPr>
              <a:t>→</a:t>
            </a:r>
            <a:r>
              <a:rPr lang="en-US" altLang="ja-JP" sz="1200" kern="0" dirty="0">
                <a:latin typeface="Consolas" panose="020B0609020204030204" pitchFamily="49" charset="0"/>
              </a:rPr>
              <a:t>0xfea50001, 0xfea50002</a:t>
            </a:r>
            <a:r>
              <a:rPr lang="ja-JP" altLang="en-US" sz="1200" kern="0" dirty="0">
                <a:latin typeface="Consolas" panose="020B0609020204030204" pitchFamily="49" charset="0"/>
              </a:rPr>
              <a:t>→</a:t>
            </a:r>
            <a:r>
              <a:rPr lang="en-US" altLang="ja-JP" sz="1200" kern="0" dirty="0">
                <a:latin typeface="Consolas" panose="020B0609020204030204" pitchFamily="49" charset="0"/>
              </a:rPr>
              <a:t>0xfea50002 ...</a:t>
            </a:r>
            <a:br>
              <a:rPr lang="en-US" altLang="ja-JP" sz="1200" kern="0" dirty="0">
                <a:latin typeface="Consolas" panose="020B0609020204030204" pitchFamily="49" charset="0"/>
              </a:rPr>
            </a:br>
            <a:r>
              <a:rPr lang="en-US" altLang="ja-JP" sz="1200" kern="0" dirty="0">
                <a:latin typeface="Consolas" panose="020B0609020204030204" pitchFamily="49" charset="0"/>
              </a:rPr>
              <a:t>0xfea5ffff</a:t>
            </a:r>
            <a:r>
              <a:rPr lang="ja-JP" altLang="en-US" sz="1200" kern="0" dirty="0">
                <a:latin typeface="Consolas" panose="020B0609020204030204" pitchFamily="49" charset="0"/>
              </a:rPr>
              <a:t>→</a:t>
            </a:r>
            <a:r>
              <a:rPr lang="en-US" altLang="ja-JP" sz="1200" kern="0" dirty="0">
                <a:latin typeface="Consolas" panose="020B0609020204030204" pitchFamily="49" charset="0"/>
              </a:rPr>
              <a:t>0xfea5ffff </a:t>
            </a:r>
            <a:r>
              <a:rPr lang="ja-JP" altLang="en-US" sz="1200" kern="0" dirty="0">
                <a:latin typeface="Consolas" panose="020B0609020204030204" pitchFamily="49" charset="0"/>
              </a:rPr>
              <a:t>にマップされている</a:t>
            </a:r>
            <a:endParaRPr lang="en-US" altLang="ja-JP" sz="1200" kern="0" dirty="0">
              <a:latin typeface="Consolas" panose="020B0609020204030204" pitchFamily="49" charset="0"/>
            </a:endParaRPr>
          </a:p>
        </p:txBody>
      </p:sp>
      <p:cxnSp>
        <p:nvCxnSpPr>
          <p:cNvPr id="47" name="直線矢印コネクタ 46">
            <a:extLst>
              <a:ext uri="{FF2B5EF4-FFF2-40B4-BE49-F238E27FC236}">
                <a16:creationId xmlns:a16="http://schemas.microsoft.com/office/drawing/2014/main" id="{84646A83-5F80-02CC-7107-578EF9E13723}"/>
              </a:ext>
            </a:extLst>
          </p:cNvPr>
          <p:cNvCxnSpPr>
            <a:cxnSpLocks/>
          </p:cNvCxnSpPr>
          <p:nvPr/>
        </p:nvCxnSpPr>
        <p:spPr bwMode="auto">
          <a:xfrm>
            <a:off x="4655984" y="1898983"/>
            <a:ext cx="2880032" cy="720008"/>
          </a:xfrm>
          <a:prstGeom prst="straightConnector1">
            <a:avLst/>
          </a:prstGeom>
          <a:noFill/>
          <a:ln w="9525" cap="flat" cmpd="sng" algn="ctr">
            <a:solidFill>
              <a:schemeClr val="tx1"/>
            </a:solidFill>
            <a:prstDash val="solid"/>
            <a:round/>
            <a:headEnd type="none" w="med" len="med"/>
            <a:tailEnd type="triangle"/>
          </a:ln>
          <a:effectLst/>
        </p:spPr>
      </p:cxnSp>
      <p:cxnSp>
        <p:nvCxnSpPr>
          <p:cNvPr id="48" name="直線矢印コネクタ 47">
            <a:extLst>
              <a:ext uri="{FF2B5EF4-FFF2-40B4-BE49-F238E27FC236}">
                <a16:creationId xmlns:a16="http://schemas.microsoft.com/office/drawing/2014/main" id="{3A4D8241-DB7B-3E4A-9127-465B37A79602}"/>
              </a:ext>
            </a:extLst>
          </p:cNvPr>
          <p:cNvCxnSpPr>
            <a:cxnSpLocks/>
          </p:cNvCxnSpPr>
          <p:nvPr/>
        </p:nvCxnSpPr>
        <p:spPr bwMode="auto">
          <a:xfrm>
            <a:off x="4655984" y="2078985"/>
            <a:ext cx="2880032" cy="720008"/>
          </a:xfrm>
          <a:prstGeom prst="straightConnector1">
            <a:avLst/>
          </a:prstGeom>
          <a:noFill/>
          <a:ln w="9525" cap="flat" cmpd="sng" algn="ctr">
            <a:solidFill>
              <a:schemeClr val="tx1"/>
            </a:solidFill>
            <a:prstDash val="solid"/>
            <a:round/>
            <a:headEnd type="none" w="med" len="med"/>
            <a:tailEnd type="triangle"/>
          </a:ln>
          <a:effectLst/>
        </p:spPr>
      </p:cxnSp>
      <p:cxnSp>
        <p:nvCxnSpPr>
          <p:cNvPr id="50" name="直線矢印コネクタ 49">
            <a:extLst>
              <a:ext uri="{FF2B5EF4-FFF2-40B4-BE49-F238E27FC236}">
                <a16:creationId xmlns:a16="http://schemas.microsoft.com/office/drawing/2014/main" id="{28C790D5-82FD-9B45-4D05-1DF7570AA897}"/>
              </a:ext>
            </a:extLst>
          </p:cNvPr>
          <p:cNvCxnSpPr>
            <a:cxnSpLocks/>
          </p:cNvCxnSpPr>
          <p:nvPr/>
        </p:nvCxnSpPr>
        <p:spPr bwMode="auto">
          <a:xfrm flipV="1">
            <a:off x="4655984" y="3339000"/>
            <a:ext cx="2880032" cy="810009"/>
          </a:xfrm>
          <a:prstGeom prst="straightConnector1">
            <a:avLst/>
          </a:prstGeom>
          <a:noFill/>
          <a:ln w="9525" cap="flat" cmpd="sng" algn="ctr">
            <a:solidFill>
              <a:schemeClr val="tx1"/>
            </a:solidFill>
            <a:prstDash val="solid"/>
            <a:round/>
            <a:headEnd type="none" w="med" len="med"/>
            <a:tailEnd type="triangle"/>
          </a:ln>
          <a:effectLst/>
        </p:spPr>
      </p:cxnSp>
      <p:cxnSp>
        <p:nvCxnSpPr>
          <p:cNvPr id="51" name="直線矢印コネクタ 50">
            <a:extLst>
              <a:ext uri="{FF2B5EF4-FFF2-40B4-BE49-F238E27FC236}">
                <a16:creationId xmlns:a16="http://schemas.microsoft.com/office/drawing/2014/main" id="{5570ED98-F678-1447-5F56-C65DD53627E3}"/>
              </a:ext>
            </a:extLst>
          </p:cNvPr>
          <p:cNvCxnSpPr>
            <a:cxnSpLocks/>
          </p:cNvCxnSpPr>
          <p:nvPr/>
        </p:nvCxnSpPr>
        <p:spPr bwMode="auto">
          <a:xfrm flipV="1">
            <a:off x="4655984" y="3609003"/>
            <a:ext cx="2880032" cy="810009"/>
          </a:xfrm>
          <a:prstGeom prst="straightConnector1">
            <a:avLst/>
          </a:prstGeom>
          <a:noFill/>
          <a:ln w="9525" cap="flat" cmpd="sng" algn="ctr">
            <a:solidFill>
              <a:schemeClr val="tx1"/>
            </a:solidFill>
            <a:prstDash val="solid"/>
            <a:round/>
            <a:headEnd type="none" w="med" len="med"/>
            <a:tailEnd type="triangle"/>
          </a:ln>
          <a:effectLst/>
        </p:spPr>
      </p:cxnSp>
    </p:spTree>
    <p:extLst>
      <p:ext uri="{BB962C8B-B14F-4D97-AF65-F5344CB8AC3E}">
        <p14:creationId xmlns:p14="http://schemas.microsoft.com/office/powerpoint/2010/main" val="41678421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A23D73-9346-46BC-902C-56695687FF6F}"/>
              </a:ext>
            </a:extLst>
          </p:cNvPr>
          <p:cNvSpPr>
            <a:spLocks noGrp="1"/>
          </p:cNvSpPr>
          <p:nvPr>
            <p:ph type="title"/>
          </p:nvPr>
        </p:nvSpPr>
        <p:spPr/>
        <p:txBody>
          <a:bodyPr/>
          <a:lstStyle/>
          <a:p>
            <a:r>
              <a:rPr kumimoji="1" lang="ja-JP" altLang="en-US" dirty="0"/>
              <a:t>仮想メモリと物理メモリの対応</a:t>
            </a:r>
          </a:p>
        </p:txBody>
      </p:sp>
      <p:sp>
        <p:nvSpPr>
          <p:cNvPr id="5" name="正方形/長方形 4">
            <a:extLst>
              <a:ext uri="{FF2B5EF4-FFF2-40B4-BE49-F238E27FC236}">
                <a16:creationId xmlns:a16="http://schemas.microsoft.com/office/drawing/2014/main" id="{8FC2FED3-730B-4DD0-AF3F-11439DD0B8DB}"/>
              </a:ext>
            </a:extLst>
          </p:cNvPr>
          <p:cNvSpPr/>
          <p:nvPr/>
        </p:nvSpPr>
        <p:spPr bwMode="auto">
          <a:xfrm>
            <a:off x="8616028" y="1268976"/>
            <a:ext cx="1080012" cy="3600040"/>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4" name="正方形/長方形 33">
            <a:extLst>
              <a:ext uri="{FF2B5EF4-FFF2-40B4-BE49-F238E27FC236}">
                <a16:creationId xmlns:a16="http://schemas.microsoft.com/office/drawing/2014/main" id="{2582A728-F7F5-4B2F-8E43-305BF7418F28}"/>
              </a:ext>
            </a:extLst>
          </p:cNvPr>
          <p:cNvSpPr/>
          <p:nvPr/>
        </p:nvSpPr>
        <p:spPr bwMode="auto">
          <a:xfrm>
            <a:off x="8616028" y="2438990"/>
            <a:ext cx="1080012" cy="630007"/>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64KB</a:t>
            </a:r>
            <a:endParaRPr lang="ja-JP" altLang="en-US" dirty="0">
              <a:solidFill>
                <a:schemeClr val="tx1">
                  <a:lumMod val="75000"/>
                  <a:lumOff val="25000"/>
                </a:schemeClr>
              </a:solidFill>
              <a:latin typeface="+mn-ea"/>
            </a:endParaRPr>
          </a:p>
        </p:txBody>
      </p:sp>
      <p:sp>
        <p:nvSpPr>
          <p:cNvPr id="41" name="正方形/長方形 40"/>
          <p:cNvSpPr/>
          <p:nvPr/>
        </p:nvSpPr>
        <p:spPr bwMode="auto">
          <a:xfrm>
            <a:off x="8798608"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物理アドレス空間</a:t>
            </a:r>
          </a:p>
        </p:txBody>
      </p:sp>
      <p:sp>
        <p:nvSpPr>
          <p:cNvPr id="40" name="正方形/長方形 39">
            <a:extLst>
              <a:ext uri="{FF2B5EF4-FFF2-40B4-BE49-F238E27FC236}">
                <a16:creationId xmlns:a16="http://schemas.microsoft.com/office/drawing/2014/main" id="{F8E9AEA5-3FB4-455D-9495-C980C57584B6}"/>
              </a:ext>
            </a:extLst>
          </p:cNvPr>
          <p:cNvSpPr/>
          <p:nvPr/>
        </p:nvSpPr>
        <p:spPr bwMode="auto">
          <a:xfrm>
            <a:off x="7536016" y="2438990"/>
            <a:ext cx="1080012"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accent6"/>
                </a:solidFill>
                <a:latin typeface="Consolas" panose="020B0609020204030204" pitchFamily="49" charset="0"/>
              </a:rPr>
              <a:t>0x3000 0000:</a:t>
            </a:r>
            <a:endParaRPr lang="ja-JP" altLang="en-US" sz="1200" dirty="0">
              <a:solidFill>
                <a:schemeClr val="accent6"/>
              </a:solidFill>
              <a:latin typeface="Consolas" panose="020B0609020204030204" pitchFamily="49" charset="0"/>
            </a:endParaRPr>
          </a:p>
        </p:txBody>
      </p:sp>
      <p:sp>
        <p:nvSpPr>
          <p:cNvPr id="15" name="正方形/長方形 14">
            <a:extLst>
              <a:ext uri="{FF2B5EF4-FFF2-40B4-BE49-F238E27FC236}">
                <a16:creationId xmlns:a16="http://schemas.microsoft.com/office/drawing/2014/main" id="{789C1DA0-D99D-EF86-AE43-34EBCEF75B7C}"/>
              </a:ext>
            </a:extLst>
          </p:cNvPr>
          <p:cNvSpPr/>
          <p:nvPr/>
        </p:nvSpPr>
        <p:spPr bwMode="auto">
          <a:xfrm>
            <a:off x="8616028" y="3068998"/>
            <a:ext cx="1080012" cy="630007"/>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64KB</a:t>
            </a:r>
            <a:endParaRPr lang="ja-JP" altLang="en-US" dirty="0">
              <a:solidFill>
                <a:schemeClr val="tx1">
                  <a:lumMod val="75000"/>
                  <a:lumOff val="25000"/>
                </a:schemeClr>
              </a:solidFill>
              <a:latin typeface="+mn-ea"/>
            </a:endParaRPr>
          </a:p>
        </p:txBody>
      </p:sp>
      <p:sp>
        <p:nvSpPr>
          <p:cNvPr id="16" name="正方形/長方形 15">
            <a:extLst>
              <a:ext uri="{FF2B5EF4-FFF2-40B4-BE49-F238E27FC236}">
                <a16:creationId xmlns:a16="http://schemas.microsoft.com/office/drawing/2014/main" id="{A80C8211-BF6C-24D3-91A4-C4CB4423DBB1}"/>
              </a:ext>
            </a:extLst>
          </p:cNvPr>
          <p:cNvSpPr/>
          <p:nvPr/>
        </p:nvSpPr>
        <p:spPr bwMode="auto">
          <a:xfrm>
            <a:off x="7536016" y="3068997"/>
            <a:ext cx="1080012"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accent6"/>
                </a:solidFill>
                <a:latin typeface="Consolas" panose="020B0609020204030204" pitchFamily="49" charset="0"/>
              </a:rPr>
              <a:t>0x3001 0000:</a:t>
            </a:r>
            <a:endParaRPr lang="ja-JP" altLang="en-US" sz="1200" dirty="0">
              <a:solidFill>
                <a:schemeClr val="accent6"/>
              </a:solidFill>
              <a:latin typeface="Consolas" panose="020B0609020204030204" pitchFamily="49" charset="0"/>
            </a:endParaRPr>
          </a:p>
        </p:txBody>
      </p:sp>
      <p:sp>
        <p:nvSpPr>
          <p:cNvPr id="17" name="正方形/長方形 16">
            <a:extLst>
              <a:ext uri="{FF2B5EF4-FFF2-40B4-BE49-F238E27FC236}">
                <a16:creationId xmlns:a16="http://schemas.microsoft.com/office/drawing/2014/main" id="{55995DEE-D276-CC70-CA73-3B969A7629C4}"/>
              </a:ext>
            </a:extLst>
          </p:cNvPr>
          <p:cNvSpPr/>
          <p:nvPr/>
        </p:nvSpPr>
        <p:spPr bwMode="auto">
          <a:xfrm>
            <a:off x="3575972" y="1268977"/>
            <a:ext cx="1080012" cy="3510039"/>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0" name="正方形/長方形 19">
            <a:extLst>
              <a:ext uri="{FF2B5EF4-FFF2-40B4-BE49-F238E27FC236}">
                <a16:creationId xmlns:a16="http://schemas.microsoft.com/office/drawing/2014/main" id="{BB08FCF5-23BA-5EB6-6F44-912E5BB7391D}"/>
              </a:ext>
            </a:extLst>
          </p:cNvPr>
          <p:cNvSpPr/>
          <p:nvPr/>
        </p:nvSpPr>
        <p:spPr bwMode="auto">
          <a:xfrm>
            <a:off x="2495960" y="1718981"/>
            <a:ext cx="1080012"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accent6"/>
                </a:solidFill>
                <a:latin typeface="Consolas" panose="020B0609020204030204" pitchFamily="49" charset="0"/>
              </a:rPr>
              <a:t>0x1000 0000:</a:t>
            </a:r>
            <a:endParaRPr lang="ja-JP" altLang="en-US" sz="1200" dirty="0">
              <a:solidFill>
                <a:schemeClr val="accent6"/>
              </a:solidFill>
              <a:latin typeface="Consolas" panose="020B0609020204030204" pitchFamily="49" charset="0"/>
            </a:endParaRPr>
          </a:p>
        </p:txBody>
      </p:sp>
      <p:sp>
        <p:nvSpPr>
          <p:cNvPr id="22" name="正方形/長方形 21">
            <a:extLst>
              <a:ext uri="{FF2B5EF4-FFF2-40B4-BE49-F238E27FC236}">
                <a16:creationId xmlns:a16="http://schemas.microsoft.com/office/drawing/2014/main" id="{286DC410-E6C7-A488-418F-00C857B772A6}"/>
              </a:ext>
            </a:extLst>
          </p:cNvPr>
          <p:cNvSpPr/>
          <p:nvPr/>
        </p:nvSpPr>
        <p:spPr bwMode="auto">
          <a:xfrm>
            <a:off x="2495960" y="3879005"/>
            <a:ext cx="1080012"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accent6"/>
                </a:solidFill>
                <a:latin typeface="Consolas" panose="020B0609020204030204" pitchFamily="49" charset="0"/>
              </a:rPr>
              <a:t>0xfea5 0000:</a:t>
            </a:r>
            <a:endParaRPr lang="ja-JP" altLang="en-US" sz="1200" dirty="0">
              <a:solidFill>
                <a:schemeClr val="accent6"/>
              </a:solidFill>
              <a:latin typeface="Consolas" panose="020B0609020204030204" pitchFamily="49" charset="0"/>
            </a:endParaRPr>
          </a:p>
        </p:txBody>
      </p:sp>
      <p:sp>
        <p:nvSpPr>
          <p:cNvPr id="24" name="正方形/長方形 23">
            <a:extLst>
              <a:ext uri="{FF2B5EF4-FFF2-40B4-BE49-F238E27FC236}">
                <a16:creationId xmlns:a16="http://schemas.microsoft.com/office/drawing/2014/main" id="{407D15DB-38F4-DB44-4337-8B73B5643E9B}"/>
              </a:ext>
            </a:extLst>
          </p:cNvPr>
          <p:cNvSpPr/>
          <p:nvPr/>
        </p:nvSpPr>
        <p:spPr bwMode="auto">
          <a:xfrm>
            <a:off x="3575972" y="1718982"/>
            <a:ext cx="1080012" cy="630007"/>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64KB</a:t>
            </a:r>
            <a:endParaRPr lang="ja-JP" altLang="en-US" dirty="0">
              <a:solidFill>
                <a:schemeClr val="tx1">
                  <a:lumMod val="75000"/>
                  <a:lumOff val="25000"/>
                </a:schemeClr>
              </a:solidFill>
              <a:latin typeface="+mn-ea"/>
            </a:endParaRPr>
          </a:p>
        </p:txBody>
      </p:sp>
      <p:sp>
        <p:nvSpPr>
          <p:cNvPr id="25" name="正方形/長方形 24">
            <a:extLst>
              <a:ext uri="{FF2B5EF4-FFF2-40B4-BE49-F238E27FC236}">
                <a16:creationId xmlns:a16="http://schemas.microsoft.com/office/drawing/2014/main" id="{C85C0C22-4ABC-64E2-02D0-F7A10D507076}"/>
              </a:ext>
            </a:extLst>
          </p:cNvPr>
          <p:cNvSpPr/>
          <p:nvPr/>
        </p:nvSpPr>
        <p:spPr bwMode="auto">
          <a:xfrm>
            <a:off x="3575972" y="3879006"/>
            <a:ext cx="1080012" cy="630007"/>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64KB</a:t>
            </a:r>
            <a:endParaRPr lang="ja-JP" altLang="en-US" dirty="0">
              <a:solidFill>
                <a:schemeClr val="tx1">
                  <a:lumMod val="75000"/>
                  <a:lumOff val="25000"/>
                </a:schemeClr>
              </a:solidFill>
              <a:latin typeface="+mn-ea"/>
            </a:endParaRPr>
          </a:p>
        </p:txBody>
      </p:sp>
      <p:sp>
        <p:nvSpPr>
          <p:cNvPr id="26" name="正方形/長方形 25">
            <a:extLst>
              <a:ext uri="{FF2B5EF4-FFF2-40B4-BE49-F238E27FC236}">
                <a16:creationId xmlns:a16="http://schemas.microsoft.com/office/drawing/2014/main" id="{5EB1B507-4156-00A4-2601-ADDA3921107B}"/>
              </a:ext>
            </a:extLst>
          </p:cNvPr>
          <p:cNvSpPr/>
          <p:nvPr/>
        </p:nvSpPr>
        <p:spPr bwMode="auto">
          <a:xfrm>
            <a:off x="3848553"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仮想アドレス空間</a:t>
            </a:r>
          </a:p>
        </p:txBody>
      </p:sp>
      <p:sp>
        <p:nvSpPr>
          <p:cNvPr id="32" name="テキスト プレースホルダー 2">
            <a:extLst>
              <a:ext uri="{FF2B5EF4-FFF2-40B4-BE49-F238E27FC236}">
                <a16:creationId xmlns:a16="http://schemas.microsoft.com/office/drawing/2014/main" id="{8DB7D6E2-CB52-5CEB-341B-56D842BD4CFA}"/>
              </a:ext>
            </a:extLst>
          </p:cNvPr>
          <p:cNvSpPr txBox="1">
            <a:spLocks/>
          </p:cNvSpPr>
          <p:nvPr/>
        </p:nvSpPr>
        <p:spPr bwMode="auto">
          <a:xfrm>
            <a:off x="1685951" y="5229020"/>
            <a:ext cx="8640096" cy="152971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r>
              <a:rPr lang="ja-JP" altLang="en-US" sz="1200" kern="0" dirty="0">
                <a:latin typeface="Consolas" panose="020B0609020204030204" pitchFamily="49" charset="0"/>
              </a:rPr>
              <a:t>この対応付けを，ページテーブルによって表現する</a:t>
            </a:r>
            <a:endParaRPr lang="en-US" altLang="ja-JP" sz="1200" kern="0" dirty="0">
              <a:latin typeface="Consolas" panose="020B0609020204030204" pitchFamily="49" charset="0"/>
            </a:endParaRPr>
          </a:p>
          <a:p>
            <a:pPr lvl="1"/>
            <a:r>
              <a:rPr lang="en-US" altLang="ja-JP" sz="1200" kern="0" dirty="0">
                <a:latin typeface="Consolas" panose="020B0609020204030204" pitchFamily="49" charset="0"/>
              </a:rPr>
              <a:t>64KB=0x10000</a:t>
            </a:r>
            <a:r>
              <a:rPr lang="ja-JP" altLang="en-US" sz="1200" kern="0" dirty="0">
                <a:latin typeface="Consolas" panose="020B0609020204030204" pitchFamily="49" charset="0"/>
              </a:rPr>
              <a:t>個のブロック単位で仮想アドレスから物理アドレスに対応付けられている</a:t>
            </a:r>
            <a:endParaRPr lang="en-US" altLang="ja-JP" sz="1200" kern="0" dirty="0">
              <a:latin typeface="Consolas" panose="020B0609020204030204" pitchFamily="49" charset="0"/>
            </a:endParaRPr>
          </a:p>
          <a:p>
            <a:pPr lvl="1"/>
            <a:r>
              <a:rPr lang="ja-JP" altLang="en-US" sz="1200" kern="0" dirty="0">
                <a:latin typeface="Consolas" panose="020B0609020204030204" pitchFamily="49" charset="0"/>
              </a:rPr>
              <a:t>ページテーブルはポインタの配列であり，</a:t>
            </a:r>
            <a:r>
              <a:rPr lang="en-US" altLang="ja-JP" sz="1200" kern="0" dirty="0">
                <a:latin typeface="Consolas" panose="020B0609020204030204" pitchFamily="49" charset="0"/>
              </a:rPr>
              <a:t>N</a:t>
            </a:r>
            <a:r>
              <a:rPr lang="ja-JP" altLang="en-US" sz="1200" kern="0" dirty="0">
                <a:latin typeface="Consolas" panose="020B0609020204030204" pitchFamily="49" charset="0"/>
              </a:rPr>
              <a:t>番目の要素</a:t>
            </a:r>
            <a:r>
              <a:rPr lang="en-US" altLang="ja-JP" sz="1200" kern="0" dirty="0">
                <a:latin typeface="Consolas" panose="020B0609020204030204" pitchFamily="49" charset="0"/>
              </a:rPr>
              <a:t>=</a:t>
            </a:r>
            <a:r>
              <a:rPr lang="ja-JP" altLang="en-US" sz="1200" kern="0" dirty="0">
                <a:latin typeface="Consolas" panose="020B0609020204030204" pitchFamily="49" charset="0"/>
              </a:rPr>
              <a:t>仮想アドレスの</a:t>
            </a:r>
            <a:r>
              <a:rPr lang="en-US" altLang="ja-JP" sz="1200" kern="0" dirty="0">
                <a:latin typeface="Consolas" panose="020B0609020204030204" pitchFamily="49" charset="0"/>
              </a:rPr>
              <a:t>N</a:t>
            </a:r>
            <a:r>
              <a:rPr lang="ja-JP" altLang="en-US" sz="1200" kern="0" dirty="0">
                <a:latin typeface="Consolas" panose="020B0609020204030204" pitchFamily="49" charset="0"/>
              </a:rPr>
              <a:t>個目のブロックのためのポインタを格納</a:t>
            </a:r>
            <a:endParaRPr lang="en-US" altLang="ja-JP" sz="1200" kern="0" dirty="0">
              <a:latin typeface="Consolas" panose="020B0609020204030204" pitchFamily="49" charset="0"/>
            </a:endParaRPr>
          </a:p>
          <a:p>
            <a:pPr lvl="1"/>
            <a:r>
              <a:rPr lang="ja-JP" altLang="en-US" sz="1200" kern="0" dirty="0">
                <a:latin typeface="Consolas" panose="020B0609020204030204" pitchFamily="49" charset="0"/>
              </a:rPr>
              <a:t>仮想アドレスから，その仮想アドレスが何個目のブロックなのかは </a:t>
            </a:r>
            <a:r>
              <a:rPr lang="en-US" altLang="ja-JP" sz="1200" kern="0" dirty="0">
                <a:latin typeface="Consolas" panose="020B0609020204030204" pitchFamily="49" charset="0"/>
              </a:rPr>
              <a:t>0x10000 </a:t>
            </a:r>
            <a:r>
              <a:rPr lang="ja-JP" altLang="en-US" sz="1200" kern="0" dirty="0">
                <a:latin typeface="Consolas" panose="020B0609020204030204" pitchFamily="49" charset="0"/>
              </a:rPr>
              <a:t>で割れば良い</a:t>
            </a:r>
            <a:endParaRPr lang="en-US" altLang="ja-JP" sz="1200" kern="0" dirty="0">
              <a:latin typeface="Consolas" panose="020B0609020204030204" pitchFamily="49" charset="0"/>
            </a:endParaRPr>
          </a:p>
          <a:p>
            <a:pPr lvl="2"/>
            <a:r>
              <a:rPr lang="en-US" altLang="ja-JP" sz="1200" kern="0" dirty="0">
                <a:latin typeface="Consolas" panose="020B0609020204030204" pitchFamily="49" charset="0"/>
              </a:rPr>
              <a:t>0x10000 </a:t>
            </a:r>
            <a:r>
              <a:rPr lang="ja-JP" altLang="en-US" sz="1200" kern="0" dirty="0">
                <a:latin typeface="Consolas" panose="020B0609020204030204" pitchFamily="49" charset="0"/>
              </a:rPr>
              <a:t>で割る </a:t>
            </a:r>
            <a:r>
              <a:rPr lang="en-US" altLang="ja-JP" sz="1200" kern="0" dirty="0">
                <a:latin typeface="Consolas" panose="020B0609020204030204" pitchFamily="49" charset="0"/>
              </a:rPr>
              <a:t>= 16</a:t>
            </a:r>
            <a:r>
              <a:rPr lang="ja-JP" altLang="en-US" sz="1200" kern="0" dirty="0">
                <a:latin typeface="Consolas" panose="020B0609020204030204" pitchFamily="49" charset="0"/>
              </a:rPr>
              <a:t>進数で下</a:t>
            </a:r>
            <a:r>
              <a:rPr lang="en-US" altLang="ja-JP" sz="1200" kern="0" dirty="0">
                <a:latin typeface="Consolas" panose="020B0609020204030204" pitchFamily="49" charset="0"/>
              </a:rPr>
              <a:t>4</a:t>
            </a:r>
            <a:r>
              <a:rPr lang="ja-JP" altLang="en-US" sz="1200" kern="0" dirty="0">
                <a:latin typeface="Consolas" panose="020B0609020204030204" pitchFamily="49" charset="0"/>
              </a:rPr>
              <a:t>桁（下</a:t>
            </a:r>
            <a:r>
              <a:rPr lang="en-US" altLang="ja-JP" sz="1200" kern="0" dirty="0">
                <a:latin typeface="Consolas" panose="020B0609020204030204" pitchFamily="49" charset="0"/>
              </a:rPr>
              <a:t>16bit</a:t>
            </a:r>
            <a:r>
              <a:rPr lang="ja-JP" altLang="en-US" sz="1200" kern="0" dirty="0">
                <a:latin typeface="Consolas" panose="020B0609020204030204" pitchFamily="49" charset="0"/>
              </a:rPr>
              <a:t>）を取りのぞく → 上</a:t>
            </a:r>
            <a:r>
              <a:rPr lang="en-US" altLang="ja-JP" sz="1200" kern="0" dirty="0">
                <a:latin typeface="Consolas" panose="020B0609020204030204" pitchFamily="49" charset="0"/>
              </a:rPr>
              <a:t>16</a:t>
            </a:r>
            <a:r>
              <a:rPr lang="ja-JP" altLang="en-US" sz="1200" kern="0" dirty="0">
                <a:latin typeface="Consolas" panose="020B0609020204030204" pitchFamily="49" charset="0"/>
              </a:rPr>
              <a:t>ビットが残る</a:t>
            </a:r>
            <a:endParaRPr lang="en-US" altLang="ja-JP" sz="1200" kern="0" dirty="0">
              <a:latin typeface="Consolas" panose="020B0609020204030204" pitchFamily="49" charset="0"/>
            </a:endParaRPr>
          </a:p>
        </p:txBody>
      </p:sp>
      <p:sp>
        <p:nvSpPr>
          <p:cNvPr id="3" name="正方形/長方形 2">
            <a:extLst>
              <a:ext uri="{FF2B5EF4-FFF2-40B4-BE49-F238E27FC236}">
                <a16:creationId xmlns:a16="http://schemas.microsoft.com/office/drawing/2014/main" id="{F2F53B3D-0B80-A316-F571-78E75CD80D2F}"/>
              </a:ext>
            </a:extLst>
          </p:cNvPr>
          <p:cNvSpPr/>
          <p:nvPr/>
        </p:nvSpPr>
        <p:spPr bwMode="auto">
          <a:xfrm>
            <a:off x="6096000" y="1988984"/>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 name="正方形/長方形 3">
            <a:extLst>
              <a:ext uri="{FF2B5EF4-FFF2-40B4-BE49-F238E27FC236}">
                <a16:creationId xmlns:a16="http://schemas.microsoft.com/office/drawing/2014/main" id="{E2332124-DB5C-F73D-4CA5-93C1E8822BC7}"/>
              </a:ext>
            </a:extLst>
          </p:cNvPr>
          <p:cNvSpPr/>
          <p:nvPr/>
        </p:nvSpPr>
        <p:spPr bwMode="auto">
          <a:xfrm>
            <a:off x="6096000" y="198898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E2BACBE6-8686-045E-F710-ECFDCD04567B}"/>
              </a:ext>
            </a:extLst>
          </p:cNvPr>
          <p:cNvSpPr/>
          <p:nvPr/>
        </p:nvSpPr>
        <p:spPr bwMode="auto">
          <a:xfrm>
            <a:off x="6096000" y="2168986"/>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 name="正方形/長方形 6">
            <a:extLst>
              <a:ext uri="{FF2B5EF4-FFF2-40B4-BE49-F238E27FC236}">
                <a16:creationId xmlns:a16="http://schemas.microsoft.com/office/drawing/2014/main" id="{7942BAFB-66BE-09B3-452D-994327342827}"/>
              </a:ext>
            </a:extLst>
          </p:cNvPr>
          <p:cNvSpPr/>
          <p:nvPr/>
        </p:nvSpPr>
        <p:spPr bwMode="auto">
          <a:xfrm>
            <a:off x="6096000" y="2348988"/>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 name="正方形/長方形 7">
            <a:extLst>
              <a:ext uri="{FF2B5EF4-FFF2-40B4-BE49-F238E27FC236}">
                <a16:creationId xmlns:a16="http://schemas.microsoft.com/office/drawing/2014/main" id="{405A49CA-7EFC-2450-09EE-5F6A204224D1}"/>
              </a:ext>
            </a:extLst>
          </p:cNvPr>
          <p:cNvSpPr/>
          <p:nvPr/>
        </p:nvSpPr>
        <p:spPr bwMode="auto">
          <a:xfrm>
            <a:off x="6096000" y="2528990"/>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r"/>
            <a:r>
              <a:rPr lang="ja-JP" altLang="en-US" dirty="0">
                <a:solidFill>
                  <a:schemeClr val="tx1">
                    <a:lumMod val="75000"/>
                    <a:lumOff val="25000"/>
                  </a:schemeClr>
                </a:solidFill>
                <a:latin typeface="+mn-ea"/>
              </a:rPr>
              <a:t>･･･</a:t>
            </a:r>
          </a:p>
        </p:txBody>
      </p:sp>
      <p:sp>
        <p:nvSpPr>
          <p:cNvPr id="9" name="正方形/長方形 8">
            <a:extLst>
              <a:ext uri="{FF2B5EF4-FFF2-40B4-BE49-F238E27FC236}">
                <a16:creationId xmlns:a16="http://schemas.microsoft.com/office/drawing/2014/main" id="{396C614A-5051-4DA0-C871-B7993ECB5698}"/>
              </a:ext>
            </a:extLst>
          </p:cNvPr>
          <p:cNvSpPr/>
          <p:nvPr/>
        </p:nvSpPr>
        <p:spPr bwMode="auto">
          <a:xfrm>
            <a:off x="6186002" y="1538979"/>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ページ・テーブル</a:t>
            </a:r>
          </a:p>
        </p:txBody>
      </p:sp>
      <p:sp>
        <p:nvSpPr>
          <p:cNvPr id="10" name="正方形/長方形 9">
            <a:extLst>
              <a:ext uri="{FF2B5EF4-FFF2-40B4-BE49-F238E27FC236}">
                <a16:creationId xmlns:a16="http://schemas.microsoft.com/office/drawing/2014/main" id="{22B2995D-72A0-A647-EF2A-DF5CA2C17E44}"/>
              </a:ext>
            </a:extLst>
          </p:cNvPr>
          <p:cNvSpPr/>
          <p:nvPr/>
        </p:nvSpPr>
        <p:spPr bwMode="auto">
          <a:xfrm>
            <a:off x="6096000" y="2168986"/>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accent6"/>
                </a:solidFill>
                <a:latin typeface="Consolas" panose="020B0609020204030204" pitchFamily="49" charset="0"/>
              </a:rPr>
              <a:t>0x3000 0000</a:t>
            </a:r>
            <a:endParaRPr lang="ja-JP" altLang="en-US" sz="1200" dirty="0">
              <a:solidFill>
                <a:schemeClr val="accent6"/>
              </a:solidFill>
              <a:latin typeface="Consolas" panose="020B0609020204030204" pitchFamily="49" charset="0"/>
            </a:endParaRPr>
          </a:p>
        </p:txBody>
      </p:sp>
      <p:sp>
        <p:nvSpPr>
          <p:cNvPr id="18" name="正方形/長方形 17">
            <a:extLst>
              <a:ext uri="{FF2B5EF4-FFF2-40B4-BE49-F238E27FC236}">
                <a16:creationId xmlns:a16="http://schemas.microsoft.com/office/drawing/2014/main" id="{E900C052-A22D-5FC3-64BE-925E65CD5CDF}"/>
              </a:ext>
            </a:extLst>
          </p:cNvPr>
          <p:cNvSpPr/>
          <p:nvPr/>
        </p:nvSpPr>
        <p:spPr bwMode="auto">
          <a:xfrm>
            <a:off x="6096000" y="3068996"/>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accent6"/>
                </a:solidFill>
                <a:latin typeface="Consolas" panose="020B0609020204030204" pitchFamily="49" charset="0"/>
              </a:rPr>
              <a:t>0x3001 0000</a:t>
            </a:r>
            <a:endParaRPr lang="ja-JP" altLang="en-US" sz="1200" dirty="0">
              <a:solidFill>
                <a:schemeClr val="accent6"/>
              </a:solidFill>
              <a:latin typeface="Consolas" panose="020B0609020204030204" pitchFamily="49" charset="0"/>
            </a:endParaRPr>
          </a:p>
        </p:txBody>
      </p:sp>
      <p:cxnSp>
        <p:nvCxnSpPr>
          <p:cNvPr id="19" name="直線矢印コネクタ 18">
            <a:extLst>
              <a:ext uri="{FF2B5EF4-FFF2-40B4-BE49-F238E27FC236}">
                <a16:creationId xmlns:a16="http://schemas.microsoft.com/office/drawing/2014/main" id="{A6760D96-9681-33DD-5116-2C98EB224A50}"/>
              </a:ext>
            </a:extLst>
          </p:cNvPr>
          <p:cNvCxnSpPr>
            <a:cxnSpLocks/>
          </p:cNvCxnSpPr>
          <p:nvPr/>
        </p:nvCxnSpPr>
        <p:spPr bwMode="auto">
          <a:xfrm>
            <a:off x="4655984" y="1718982"/>
            <a:ext cx="1440016" cy="450005"/>
          </a:xfrm>
          <a:prstGeom prst="straightConnector1">
            <a:avLst/>
          </a:prstGeom>
          <a:noFill/>
          <a:ln w="9525" cap="flat" cmpd="sng" algn="ctr">
            <a:solidFill>
              <a:schemeClr val="tx1"/>
            </a:solidFill>
            <a:prstDash val="solid"/>
            <a:round/>
            <a:headEnd type="none" w="med" len="med"/>
            <a:tailEnd type="triangle"/>
          </a:ln>
          <a:effectLst/>
        </p:spPr>
      </p:cxnSp>
      <p:cxnSp>
        <p:nvCxnSpPr>
          <p:cNvPr id="27" name="直線矢印コネクタ 26">
            <a:extLst>
              <a:ext uri="{FF2B5EF4-FFF2-40B4-BE49-F238E27FC236}">
                <a16:creationId xmlns:a16="http://schemas.microsoft.com/office/drawing/2014/main" id="{C52BAA5C-F107-7A16-6C74-D08EA52621E6}"/>
              </a:ext>
            </a:extLst>
          </p:cNvPr>
          <p:cNvCxnSpPr>
            <a:cxnSpLocks/>
          </p:cNvCxnSpPr>
          <p:nvPr/>
        </p:nvCxnSpPr>
        <p:spPr bwMode="auto">
          <a:xfrm flipV="1">
            <a:off x="4655984" y="3068997"/>
            <a:ext cx="1440016" cy="810009"/>
          </a:xfrm>
          <a:prstGeom prst="straightConnector1">
            <a:avLst/>
          </a:prstGeom>
          <a:noFill/>
          <a:ln w="9525" cap="flat" cmpd="sng" algn="ctr">
            <a:solidFill>
              <a:schemeClr val="tx1"/>
            </a:solidFill>
            <a:prstDash val="solid"/>
            <a:round/>
            <a:headEnd type="none" w="med" len="med"/>
            <a:tailEnd type="triangle"/>
          </a:ln>
          <a:effectLst/>
        </p:spPr>
      </p:cxnSp>
      <p:cxnSp>
        <p:nvCxnSpPr>
          <p:cNvPr id="31" name="直線矢印コネクタ 30">
            <a:extLst>
              <a:ext uri="{FF2B5EF4-FFF2-40B4-BE49-F238E27FC236}">
                <a16:creationId xmlns:a16="http://schemas.microsoft.com/office/drawing/2014/main" id="{3E060263-4B98-0933-B4ED-AAF07A073C20}"/>
              </a:ext>
            </a:extLst>
          </p:cNvPr>
          <p:cNvCxnSpPr>
            <a:cxnSpLocks/>
          </p:cNvCxnSpPr>
          <p:nvPr/>
        </p:nvCxnSpPr>
        <p:spPr bwMode="auto">
          <a:xfrm>
            <a:off x="7176012" y="2168987"/>
            <a:ext cx="1440016" cy="270003"/>
          </a:xfrm>
          <a:prstGeom prst="straightConnector1">
            <a:avLst/>
          </a:prstGeom>
          <a:noFill/>
          <a:ln w="9525" cap="flat" cmpd="sng" algn="ctr">
            <a:solidFill>
              <a:schemeClr val="tx1"/>
            </a:solidFill>
            <a:prstDash val="solid"/>
            <a:round/>
            <a:headEnd type="none" w="med" len="med"/>
            <a:tailEnd type="triangle"/>
          </a:ln>
          <a:effectLst/>
        </p:spPr>
      </p:cxnSp>
      <p:cxnSp>
        <p:nvCxnSpPr>
          <p:cNvPr id="35" name="直線矢印コネクタ 34">
            <a:extLst>
              <a:ext uri="{FF2B5EF4-FFF2-40B4-BE49-F238E27FC236}">
                <a16:creationId xmlns:a16="http://schemas.microsoft.com/office/drawing/2014/main" id="{DC54FBA4-36E2-5A81-2C21-BE185D43A54B}"/>
              </a:ext>
            </a:extLst>
          </p:cNvPr>
          <p:cNvCxnSpPr>
            <a:cxnSpLocks/>
            <a:endCxn id="5" idx="1"/>
          </p:cNvCxnSpPr>
          <p:nvPr/>
        </p:nvCxnSpPr>
        <p:spPr bwMode="auto">
          <a:xfrm>
            <a:off x="7176012" y="3068996"/>
            <a:ext cx="1440016" cy="0"/>
          </a:xfrm>
          <a:prstGeom prst="straightConnector1">
            <a:avLst/>
          </a:prstGeom>
          <a:noFill/>
          <a:ln w="9525" cap="flat" cmpd="sng" algn="ctr">
            <a:solidFill>
              <a:schemeClr val="tx1"/>
            </a:solidFill>
            <a:prstDash val="solid"/>
            <a:round/>
            <a:headEnd type="none" w="med" len="med"/>
            <a:tailEnd type="triangle"/>
          </a:ln>
          <a:effectLst/>
        </p:spPr>
      </p:cxnSp>
      <p:sp>
        <p:nvSpPr>
          <p:cNvPr id="37" name="正方形/長方形 36">
            <a:extLst>
              <a:ext uri="{FF2B5EF4-FFF2-40B4-BE49-F238E27FC236}">
                <a16:creationId xmlns:a16="http://schemas.microsoft.com/office/drawing/2014/main" id="{C8965A73-2259-0B45-B179-FC688269709D}"/>
              </a:ext>
            </a:extLst>
          </p:cNvPr>
          <p:cNvSpPr/>
          <p:nvPr/>
        </p:nvSpPr>
        <p:spPr bwMode="auto">
          <a:xfrm>
            <a:off x="4925987" y="2168986"/>
            <a:ext cx="1080012"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accent6"/>
                </a:solidFill>
                <a:latin typeface="Consolas" panose="020B0609020204030204" pitchFamily="49" charset="0"/>
              </a:rPr>
              <a:t>0x1000</a:t>
            </a:r>
            <a:r>
              <a:rPr lang="ja-JP" altLang="en-US" sz="1200" dirty="0">
                <a:solidFill>
                  <a:schemeClr val="accent6"/>
                </a:solidFill>
                <a:latin typeface="Consolas" panose="020B0609020204030204" pitchFamily="49" charset="0"/>
              </a:rPr>
              <a:t>個目</a:t>
            </a:r>
          </a:p>
        </p:txBody>
      </p:sp>
      <p:sp>
        <p:nvSpPr>
          <p:cNvPr id="38" name="正方形/長方形 37">
            <a:extLst>
              <a:ext uri="{FF2B5EF4-FFF2-40B4-BE49-F238E27FC236}">
                <a16:creationId xmlns:a16="http://schemas.microsoft.com/office/drawing/2014/main" id="{FC0C1F18-CA1F-8444-832B-77EF322CAFED}"/>
              </a:ext>
            </a:extLst>
          </p:cNvPr>
          <p:cNvSpPr/>
          <p:nvPr/>
        </p:nvSpPr>
        <p:spPr bwMode="auto">
          <a:xfrm>
            <a:off x="4925987" y="3068996"/>
            <a:ext cx="1080012"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accent6"/>
                </a:solidFill>
                <a:latin typeface="Consolas" panose="020B0609020204030204" pitchFamily="49" charset="0"/>
              </a:rPr>
              <a:t>0xfea5</a:t>
            </a:r>
            <a:r>
              <a:rPr lang="ja-JP" altLang="en-US" sz="1200" dirty="0">
                <a:solidFill>
                  <a:schemeClr val="accent6"/>
                </a:solidFill>
                <a:latin typeface="Consolas" panose="020B0609020204030204" pitchFamily="49" charset="0"/>
              </a:rPr>
              <a:t>個目</a:t>
            </a:r>
          </a:p>
        </p:txBody>
      </p:sp>
    </p:spTree>
    <p:extLst>
      <p:ext uri="{BB962C8B-B14F-4D97-AF65-F5344CB8AC3E}">
        <p14:creationId xmlns:p14="http://schemas.microsoft.com/office/powerpoint/2010/main" val="34669698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A23D73-9346-46BC-902C-56695687FF6F}"/>
              </a:ext>
            </a:extLst>
          </p:cNvPr>
          <p:cNvSpPr>
            <a:spLocks noGrp="1"/>
          </p:cNvSpPr>
          <p:nvPr>
            <p:ph type="title"/>
          </p:nvPr>
        </p:nvSpPr>
        <p:spPr/>
        <p:txBody>
          <a:bodyPr/>
          <a:lstStyle/>
          <a:p>
            <a:r>
              <a:rPr kumimoji="1" lang="ja-JP" altLang="en-US" dirty="0"/>
              <a:t>単段ページ・テーブルの動作</a:t>
            </a:r>
          </a:p>
        </p:txBody>
      </p:sp>
      <p:sp>
        <p:nvSpPr>
          <p:cNvPr id="3" name="テキスト プレースホルダー 2">
            <a:extLst>
              <a:ext uri="{FF2B5EF4-FFF2-40B4-BE49-F238E27FC236}">
                <a16:creationId xmlns:a16="http://schemas.microsoft.com/office/drawing/2014/main" id="{9912CB5C-244D-418E-B391-297D77D36F85}"/>
              </a:ext>
            </a:extLst>
          </p:cNvPr>
          <p:cNvSpPr>
            <a:spLocks noGrp="1"/>
          </p:cNvSpPr>
          <p:nvPr>
            <p:ph type="body" sz="quarter" idx="10"/>
          </p:nvPr>
        </p:nvSpPr>
        <p:spPr>
          <a:xfrm>
            <a:off x="1775953" y="3429000"/>
            <a:ext cx="8550095" cy="2879726"/>
          </a:xfrm>
        </p:spPr>
        <p:txBody>
          <a:bodyPr/>
          <a:lstStyle/>
          <a:p>
            <a:r>
              <a:rPr lang="ja-JP" altLang="en-US" sz="1400" dirty="0">
                <a:latin typeface="Consolas" panose="020B0609020204030204" pitchFamily="49" charset="0"/>
              </a:rPr>
              <a:t>ページ・テーブルは実際には物理空間上におかれる</a:t>
            </a:r>
            <a:endParaRPr lang="en-US" altLang="ja-JP" sz="1400" dirty="0">
              <a:latin typeface="Consolas" panose="020B0609020204030204" pitchFamily="49" charset="0"/>
            </a:endParaRPr>
          </a:p>
          <a:p>
            <a:pPr lvl="1"/>
            <a:r>
              <a:rPr lang="ja-JP" altLang="en-US" sz="1400" dirty="0">
                <a:latin typeface="Consolas" panose="020B0609020204030204" pitchFamily="49" charset="0"/>
              </a:rPr>
              <a:t>その先頭アドレスがベース・レジスタで指定する</a:t>
            </a:r>
            <a:endParaRPr lang="en-US" altLang="ja-JP" sz="1400" dirty="0">
              <a:latin typeface="Consolas" panose="020B0609020204030204" pitchFamily="49" charset="0"/>
            </a:endParaRPr>
          </a:p>
          <a:p>
            <a:pPr lvl="1"/>
            <a:r>
              <a:rPr lang="ja-JP" altLang="en-US" sz="1400" dirty="0">
                <a:latin typeface="Consolas" panose="020B0609020204030204" pitchFamily="49" charset="0"/>
              </a:rPr>
              <a:t>今回は </a:t>
            </a:r>
            <a:r>
              <a:rPr lang="en-US" altLang="ja-JP" sz="1400" dirty="0">
                <a:latin typeface="Consolas" panose="020B0609020204030204" pitchFamily="49" charset="0"/>
              </a:rPr>
              <a:t>0x20000000 </a:t>
            </a:r>
            <a:r>
              <a:rPr lang="ja-JP" altLang="en-US" sz="1400" dirty="0">
                <a:latin typeface="Consolas" panose="020B0609020204030204" pitchFamily="49" charset="0"/>
              </a:rPr>
              <a:t>からがページ・テーブル</a:t>
            </a:r>
            <a:endParaRPr lang="en-US" altLang="ja-JP" sz="1400" dirty="0">
              <a:latin typeface="Consolas" panose="020B0609020204030204" pitchFamily="49" charset="0"/>
            </a:endParaRPr>
          </a:p>
          <a:p>
            <a:r>
              <a:rPr lang="ja-JP" altLang="en-US" sz="1400" dirty="0">
                <a:latin typeface="Consolas" panose="020B0609020204030204" pitchFamily="49" charset="0"/>
              </a:rPr>
              <a:t>仮想アドレスからの変換の手順</a:t>
            </a:r>
            <a:endParaRPr lang="en-US" altLang="ja-JP" sz="1400" dirty="0">
              <a:latin typeface="Consolas" panose="020B0609020204030204" pitchFamily="49" charset="0"/>
            </a:endParaRPr>
          </a:p>
          <a:p>
            <a:pPr lvl="1">
              <a:buFont typeface="+mj-lt"/>
              <a:buAutoNum type="arabicPeriod"/>
            </a:pPr>
            <a:r>
              <a:rPr lang="ja-JP" altLang="en-US" sz="1400" dirty="0">
                <a:latin typeface="Consolas" panose="020B0609020204030204" pitchFamily="49" charset="0"/>
              </a:rPr>
              <a:t>仮想アドレスをページ・サイズで割り，</a:t>
            </a:r>
            <a:br>
              <a:rPr lang="en-US" altLang="ja-JP" sz="1400" dirty="0">
                <a:latin typeface="Consolas" panose="020B0609020204030204" pitchFamily="49" charset="0"/>
              </a:rPr>
            </a:br>
            <a:r>
              <a:rPr lang="ja-JP" altLang="en-US" sz="1400" dirty="0">
                <a:latin typeface="Consolas" panose="020B0609020204030204" pitchFamily="49" charset="0"/>
              </a:rPr>
              <a:t>それがアドレス空間中にある </a:t>
            </a:r>
            <a:r>
              <a:rPr lang="en-US" altLang="ja-JP" sz="1400" dirty="0">
                <a:latin typeface="Consolas" panose="020B0609020204030204" pitchFamily="49" charset="0"/>
              </a:rPr>
              <a:t>N </a:t>
            </a:r>
            <a:r>
              <a:rPr lang="ja-JP" altLang="en-US" sz="1400" dirty="0">
                <a:latin typeface="Consolas" panose="020B0609020204030204" pitchFamily="49" charset="0"/>
              </a:rPr>
              <a:t>番目のページなのかを計算する</a:t>
            </a:r>
            <a:endParaRPr lang="en-US" altLang="ja-JP" sz="1400" dirty="0">
              <a:latin typeface="Consolas" panose="020B0609020204030204" pitchFamily="49" charset="0"/>
            </a:endParaRPr>
          </a:p>
          <a:p>
            <a:pPr lvl="1">
              <a:buFont typeface="+mj-lt"/>
              <a:buAutoNum type="arabicPeriod"/>
            </a:pPr>
            <a:r>
              <a:rPr lang="ja-JP" altLang="en-US" sz="1400" dirty="0">
                <a:latin typeface="Consolas" panose="020B0609020204030204" pitchFamily="49" charset="0"/>
              </a:rPr>
              <a:t>ページ・テーブルの </a:t>
            </a:r>
            <a:r>
              <a:rPr lang="en-US" altLang="ja-JP" sz="1400" dirty="0">
                <a:latin typeface="Consolas" panose="020B0609020204030204" pitchFamily="49" charset="0"/>
              </a:rPr>
              <a:t>N </a:t>
            </a:r>
            <a:r>
              <a:rPr lang="ja-JP" altLang="en-US" sz="1400" dirty="0">
                <a:latin typeface="Consolas" panose="020B0609020204030204" pitchFamily="49" charset="0"/>
              </a:rPr>
              <a:t>番目の要素を読む</a:t>
            </a:r>
            <a:endParaRPr lang="en-US" altLang="ja-JP" sz="1400" dirty="0">
              <a:latin typeface="Consolas" panose="020B0609020204030204" pitchFamily="49" charset="0"/>
            </a:endParaRPr>
          </a:p>
          <a:p>
            <a:pPr lvl="2"/>
            <a:r>
              <a:rPr lang="en-US" altLang="ja-JP" sz="1400" dirty="0">
                <a:latin typeface="Consolas" panose="020B0609020204030204" pitchFamily="49" charset="0"/>
              </a:rPr>
              <a:t>0x20000000 + N*4 </a:t>
            </a:r>
            <a:r>
              <a:rPr lang="ja-JP" altLang="en-US" sz="1400" dirty="0">
                <a:latin typeface="Consolas" panose="020B0609020204030204" pitchFamily="49" charset="0"/>
              </a:rPr>
              <a:t>の物理アドレスを読む</a:t>
            </a:r>
            <a:endParaRPr lang="en-US" altLang="ja-JP" sz="1400" dirty="0">
              <a:latin typeface="Consolas" panose="020B0609020204030204" pitchFamily="49" charset="0"/>
            </a:endParaRPr>
          </a:p>
          <a:p>
            <a:pPr lvl="2"/>
            <a:r>
              <a:rPr lang="en-US" altLang="ja-JP" sz="1400" dirty="0">
                <a:latin typeface="Consolas" panose="020B0609020204030204" pitchFamily="49" charset="0"/>
              </a:rPr>
              <a:t>*4 </a:t>
            </a:r>
            <a:r>
              <a:rPr lang="ja-JP" altLang="en-US" sz="1400" dirty="0">
                <a:latin typeface="Consolas" panose="020B0609020204030204" pitchFamily="49" charset="0"/>
              </a:rPr>
              <a:t>は格納されているポインタのサイズが </a:t>
            </a:r>
            <a:r>
              <a:rPr lang="en-US" altLang="ja-JP" sz="1400" dirty="0">
                <a:latin typeface="Consolas" panose="020B0609020204030204" pitchFamily="49" charset="0"/>
              </a:rPr>
              <a:t>4B </a:t>
            </a:r>
            <a:r>
              <a:rPr lang="ja-JP" altLang="en-US" sz="1400" dirty="0">
                <a:latin typeface="Consolas" panose="020B0609020204030204" pitchFamily="49" charset="0"/>
              </a:rPr>
              <a:t>だから</a:t>
            </a:r>
            <a:endParaRPr lang="en-US" altLang="ja-JP" sz="1400" dirty="0">
              <a:latin typeface="Consolas" panose="020B0609020204030204" pitchFamily="49" charset="0"/>
            </a:endParaRPr>
          </a:p>
          <a:p>
            <a:pPr lvl="1">
              <a:buFont typeface="+mj-lt"/>
              <a:buAutoNum type="arabicPeriod"/>
            </a:pPr>
            <a:r>
              <a:rPr lang="ja-JP" altLang="en-US" sz="1400" dirty="0">
                <a:latin typeface="Consolas" panose="020B0609020204030204" pitchFamily="49" charset="0"/>
              </a:rPr>
              <a:t>仮想アドレスをページ・サイズで割った余りを </a:t>
            </a:r>
            <a:r>
              <a:rPr lang="en-US" altLang="ja-JP" sz="1400" dirty="0">
                <a:latin typeface="Consolas" panose="020B0609020204030204" pitchFamily="49" charset="0"/>
              </a:rPr>
              <a:t>2. </a:t>
            </a:r>
            <a:r>
              <a:rPr lang="ja-JP" altLang="en-US" sz="1400" dirty="0">
                <a:latin typeface="Consolas" panose="020B0609020204030204" pitchFamily="49" charset="0"/>
              </a:rPr>
              <a:t>で得られたアドレスに足す</a:t>
            </a:r>
            <a:endParaRPr lang="en-US" altLang="ja-JP" sz="1400" dirty="0">
              <a:latin typeface="Consolas" panose="020B0609020204030204" pitchFamily="49" charset="0"/>
            </a:endParaRPr>
          </a:p>
          <a:p>
            <a:pPr lvl="2">
              <a:buFont typeface="+mj-lt"/>
              <a:buAutoNum type="arabicPeriod"/>
            </a:pPr>
            <a:r>
              <a:rPr lang="ja-JP" altLang="en-US" sz="1400" dirty="0">
                <a:latin typeface="Consolas" panose="020B0609020204030204" pitchFamily="49" charset="0"/>
              </a:rPr>
              <a:t>余り</a:t>
            </a:r>
            <a:r>
              <a:rPr lang="en-US" altLang="ja-JP" sz="1400" dirty="0">
                <a:latin typeface="Consolas" panose="020B0609020204030204" pitchFamily="49" charset="0"/>
              </a:rPr>
              <a:t>=64KB </a:t>
            </a:r>
            <a:r>
              <a:rPr lang="ja-JP" altLang="en-US" sz="1400" dirty="0">
                <a:latin typeface="Consolas" panose="020B0609020204030204" pitchFamily="49" charset="0"/>
              </a:rPr>
              <a:t>ページの中の何番目のアドレスなのかを意味する</a:t>
            </a:r>
            <a:endParaRPr lang="en-US" altLang="ja-JP" sz="1400" dirty="0">
              <a:latin typeface="Consolas" panose="020B0609020204030204" pitchFamily="49" charset="0"/>
            </a:endParaRPr>
          </a:p>
          <a:p>
            <a:pPr lvl="2">
              <a:buFont typeface="+mj-lt"/>
              <a:buAutoNum type="arabicPeriod"/>
            </a:pPr>
            <a:r>
              <a:rPr lang="en-US" altLang="ja-JP" sz="1400" dirty="0">
                <a:latin typeface="Consolas" panose="020B0609020204030204" pitchFamily="49" charset="0"/>
              </a:rPr>
              <a:t>16</a:t>
            </a:r>
            <a:r>
              <a:rPr lang="ja-JP" altLang="en-US" sz="1400" dirty="0">
                <a:latin typeface="Consolas" panose="020B0609020204030204" pitchFamily="49" charset="0"/>
              </a:rPr>
              <a:t>進数で下</a:t>
            </a:r>
            <a:r>
              <a:rPr lang="en-US" altLang="ja-JP" sz="1400" dirty="0">
                <a:latin typeface="Consolas" panose="020B0609020204030204" pitchFamily="49" charset="0"/>
              </a:rPr>
              <a:t>4</a:t>
            </a:r>
            <a:r>
              <a:rPr lang="ja-JP" altLang="en-US" sz="1400" dirty="0">
                <a:latin typeface="Consolas" panose="020B0609020204030204" pitchFamily="49" charset="0"/>
              </a:rPr>
              <a:t>桁を取り出すことは，ページ・サイズ</a:t>
            </a:r>
            <a:r>
              <a:rPr lang="en-US" altLang="ja-JP" sz="1400" dirty="0">
                <a:latin typeface="Consolas" panose="020B0609020204030204" pitchFamily="49" charset="0"/>
              </a:rPr>
              <a:t>0x10000</a:t>
            </a:r>
            <a:r>
              <a:rPr lang="ja-JP" altLang="en-US" sz="1400" dirty="0">
                <a:latin typeface="Consolas" panose="020B0609020204030204" pitchFamily="49" charset="0"/>
              </a:rPr>
              <a:t>で割った余りを求めるのと等価</a:t>
            </a:r>
            <a:endParaRPr lang="en-US" altLang="ja-JP" sz="1400" dirty="0">
              <a:latin typeface="Consolas" panose="020B0609020204030204" pitchFamily="49" charset="0"/>
            </a:endParaRPr>
          </a:p>
          <a:p>
            <a:pPr lvl="1"/>
            <a:endParaRPr lang="en-US" altLang="ja-JP" sz="1400" dirty="0">
              <a:latin typeface="Consolas" panose="020B0609020204030204" pitchFamily="49" charset="0"/>
            </a:endParaRPr>
          </a:p>
        </p:txBody>
      </p:sp>
      <p:sp>
        <p:nvSpPr>
          <p:cNvPr id="5" name="正方形/長方形 4">
            <a:extLst>
              <a:ext uri="{FF2B5EF4-FFF2-40B4-BE49-F238E27FC236}">
                <a16:creationId xmlns:a16="http://schemas.microsoft.com/office/drawing/2014/main" id="{8FC2FED3-730B-4DD0-AF3F-11439DD0B8DB}"/>
              </a:ext>
            </a:extLst>
          </p:cNvPr>
          <p:cNvSpPr/>
          <p:nvPr/>
        </p:nvSpPr>
        <p:spPr bwMode="auto">
          <a:xfrm>
            <a:off x="7896020" y="1358977"/>
            <a:ext cx="1080012" cy="288003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 name="正方形/長方形 8"/>
          <p:cNvSpPr/>
          <p:nvPr/>
        </p:nvSpPr>
        <p:spPr bwMode="auto">
          <a:xfrm>
            <a:off x="2495960" y="1358978"/>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dirty="0">
                <a:solidFill>
                  <a:schemeClr val="tx1">
                    <a:lumMod val="75000"/>
                    <a:lumOff val="25000"/>
                  </a:schemeClr>
                </a:solidFill>
                <a:latin typeface="Consolas" panose="020B0609020204030204" pitchFamily="49" charset="0"/>
              </a:rPr>
              <a:t>   0x1000</a:t>
            </a:r>
            <a:endParaRPr lang="ja-JP" altLang="en-US" dirty="0">
              <a:solidFill>
                <a:schemeClr val="tx1">
                  <a:lumMod val="75000"/>
                  <a:lumOff val="25000"/>
                </a:schemeClr>
              </a:solidFill>
              <a:latin typeface="Consolas" panose="020B0609020204030204" pitchFamily="49" charset="0"/>
            </a:endParaRPr>
          </a:p>
        </p:txBody>
      </p:sp>
      <p:cxnSp>
        <p:nvCxnSpPr>
          <p:cNvPr id="10" name="直線矢印コネクタ 9"/>
          <p:cNvCxnSpPr/>
          <p:nvPr/>
        </p:nvCxnSpPr>
        <p:spPr bwMode="auto">
          <a:xfrm>
            <a:off x="2495960" y="1268976"/>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p:cNvSpPr/>
          <p:nvPr/>
        </p:nvSpPr>
        <p:spPr bwMode="auto">
          <a:xfrm>
            <a:off x="3575973"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32 bit </a:t>
            </a:r>
            <a:r>
              <a:rPr lang="ja-JP" altLang="en-US" sz="1600" dirty="0">
                <a:solidFill>
                  <a:schemeClr val="tx1">
                    <a:lumMod val="75000"/>
                    <a:lumOff val="25000"/>
                  </a:schemeClr>
                </a:solidFill>
                <a:latin typeface="+mn-ea"/>
              </a:rPr>
              <a:t>アドレス</a:t>
            </a:r>
          </a:p>
        </p:txBody>
      </p:sp>
      <p:sp>
        <p:nvSpPr>
          <p:cNvPr id="12" name="正方形/長方形 11"/>
          <p:cNvSpPr/>
          <p:nvPr/>
        </p:nvSpPr>
        <p:spPr bwMode="auto">
          <a:xfrm>
            <a:off x="3935977" y="1358978"/>
            <a:ext cx="1440017"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2000</a:t>
            </a:r>
            <a:endParaRPr lang="ja-JP" altLang="en-US" dirty="0">
              <a:solidFill>
                <a:schemeClr val="tx1">
                  <a:lumMod val="75000"/>
                  <a:lumOff val="25000"/>
                </a:schemeClr>
              </a:solidFill>
              <a:latin typeface="Consolas" panose="020B0609020204030204" pitchFamily="49" charset="0"/>
            </a:endParaRPr>
          </a:p>
        </p:txBody>
      </p:sp>
      <p:sp>
        <p:nvSpPr>
          <p:cNvPr id="34" name="正方形/長方形 33">
            <a:extLst>
              <a:ext uri="{FF2B5EF4-FFF2-40B4-BE49-F238E27FC236}">
                <a16:creationId xmlns:a16="http://schemas.microsoft.com/office/drawing/2014/main" id="{2582A728-F7F5-4B2F-8E43-305BF7418F28}"/>
              </a:ext>
            </a:extLst>
          </p:cNvPr>
          <p:cNvSpPr/>
          <p:nvPr/>
        </p:nvSpPr>
        <p:spPr bwMode="auto">
          <a:xfrm>
            <a:off x="7896020" y="3519001"/>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64KB</a:t>
            </a:r>
            <a:endParaRPr lang="ja-JP" altLang="en-US" dirty="0">
              <a:solidFill>
                <a:schemeClr val="tx1">
                  <a:lumMod val="75000"/>
                  <a:lumOff val="25000"/>
                </a:schemeClr>
              </a:solidFill>
              <a:latin typeface="+mn-ea"/>
            </a:endParaRPr>
          </a:p>
        </p:txBody>
      </p:sp>
      <p:sp>
        <p:nvSpPr>
          <p:cNvPr id="41" name="正方形/長方形 40"/>
          <p:cNvSpPr/>
          <p:nvPr/>
        </p:nvSpPr>
        <p:spPr bwMode="auto">
          <a:xfrm>
            <a:off x="8076023"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物理メモリ</a:t>
            </a:r>
          </a:p>
        </p:txBody>
      </p:sp>
      <p:sp>
        <p:nvSpPr>
          <p:cNvPr id="40" name="正方形/長方形 39">
            <a:extLst>
              <a:ext uri="{FF2B5EF4-FFF2-40B4-BE49-F238E27FC236}">
                <a16:creationId xmlns:a16="http://schemas.microsoft.com/office/drawing/2014/main" id="{F8E9AEA5-3FB4-455D-9495-C980C57584B6}"/>
              </a:ext>
            </a:extLst>
          </p:cNvPr>
          <p:cNvSpPr/>
          <p:nvPr/>
        </p:nvSpPr>
        <p:spPr bwMode="auto">
          <a:xfrm>
            <a:off x="6636006" y="3519002"/>
            <a:ext cx="1080012"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solidFill>
                  <a:schemeClr val="accent6"/>
                </a:solidFill>
                <a:latin typeface="Consolas" panose="020B0609020204030204" pitchFamily="49" charset="0"/>
              </a:rPr>
              <a:t>0x30000000:</a:t>
            </a:r>
            <a:endParaRPr lang="ja-JP" altLang="en-US" sz="1400" dirty="0">
              <a:solidFill>
                <a:schemeClr val="accent6"/>
              </a:solidFill>
              <a:latin typeface="Consolas" panose="020B0609020204030204" pitchFamily="49" charset="0"/>
            </a:endParaRPr>
          </a:p>
        </p:txBody>
      </p:sp>
      <p:sp>
        <p:nvSpPr>
          <p:cNvPr id="4" name="正方形/長方形 3">
            <a:extLst>
              <a:ext uri="{FF2B5EF4-FFF2-40B4-BE49-F238E27FC236}">
                <a16:creationId xmlns:a16="http://schemas.microsoft.com/office/drawing/2014/main" id="{41F8EEC9-9620-4E9C-9B16-22677D3FA888}"/>
              </a:ext>
            </a:extLst>
          </p:cNvPr>
          <p:cNvSpPr/>
          <p:nvPr/>
        </p:nvSpPr>
        <p:spPr bwMode="auto">
          <a:xfrm>
            <a:off x="7896020" y="1628980"/>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F8E9AEA5-3FB4-455D-9495-C980C57584B6}"/>
              </a:ext>
            </a:extLst>
          </p:cNvPr>
          <p:cNvSpPr/>
          <p:nvPr/>
        </p:nvSpPr>
        <p:spPr bwMode="auto">
          <a:xfrm>
            <a:off x="7896020" y="1628980"/>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 name="正方形/長方形 7">
            <a:extLst>
              <a:ext uri="{FF2B5EF4-FFF2-40B4-BE49-F238E27FC236}">
                <a16:creationId xmlns:a16="http://schemas.microsoft.com/office/drawing/2014/main" id="{2582A728-F7F5-4B2F-8E43-305BF7418F28}"/>
              </a:ext>
            </a:extLst>
          </p:cNvPr>
          <p:cNvSpPr/>
          <p:nvPr/>
        </p:nvSpPr>
        <p:spPr bwMode="auto">
          <a:xfrm>
            <a:off x="7896020" y="180898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F8E9AEA5-3FB4-455D-9495-C980C57584B6}"/>
              </a:ext>
            </a:extLst>
          </p:cNvPr>
          <p:cNvSpPr/>
          <p:nvPr/>
        </p:nvSpPr>
        <p:spPr bwMode="auto">
          <a:xfrm>
            <a:off x="7896020" y="198898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7896020" y="2168986"/>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r"/>
            <a:r>
              <a:rPr lang="ja-JP" altLang="en-US" dirty="0">
                <a:solidFill>
                  <a:schemeClr val="tx1">
                    <a:lumMod val="75000"/>
                    <a:lumOff val="25000"/>
                  </a:schemeClr>
                </a:solidFill>
                <a:latin typeface="+mn-ea"/>
              </a:rPr>
              <a:t>･･･</a:t>
            </a:r>
          </a:p>
        </p:txBody>
      </p:sp>
      <p:sp>
        <p:nvSpPr>
          <p:cNvPr id="42" name="正方形/長方形 41"/>
          <p:cNvSpPr/>
          <p:nvPr/>
        </p:nvSpPr>
        <p:spPr bwMode="auto">
          <a:xfrm>
            <a:off x="9606040" y="1628980"/>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ページ・テーブル</a:t>
            </a:r>
          </a:p>
        </p:txBody>
      </p:sp>
      <p:sp>
        <p:nvSpPr>
          <p:cNvPr id="30" name="正方形/長方形 29">
            <a:extLst>
              <a:ext uri="{FF2B5EF4-FFF2-40B4-BE49-F238E27FC236}">
                <a16:creationId xmlns:a16="http://schemas.microsoft.com/office/drawing/2014/main" id="{F8E9AEA5-3FB4-455D-9495-C980C57584B6}"/>
              </a:ext>
            </a:extLst>
          </p:cNvPr>
          <p:cNvSpPr/>
          <p:nvPr/>
        </p:nvSpPr>
        <p:spPr bwMode="auto">
          <a:xfrm>
            <a:off x="7896020" y="2618991"/>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accent6"/>
                </a:solidFill>
                <a:latin typeface="Consolas" panose="020B0609020204030204" pitchFamily="49" charset="0"/>
              </a:rPr>
              <a:t>0x30000000</a:t>
            </a:r>
            <a:endParaRPr lang="ja-JP" altLang="en-US" sz="1200" dirty="0">
              <a:solidFill>
                <a:schemeClr val="accent6"/>
              </a:solidFill>
              <a:latin typeface="Consolas" panose="020B0609020204030204" pitchFamily="49" charset="0"/>
            </a:endParaRPr>
          </a:p>
        </p:txBody>
      </p:sp>
      <p:sp>
        <p:nvSpPr>
          <p:cNvPr id="33" name="正方形/長方形 32"/>
          <p:cNvSpPr/>
          <p:nvPr/>
        </p:nvSpPr>
        <p:spPr bwMode="auto">
          <a:xfrm>
            <a:off x="7266013" y="2618991"/>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r>
              <a:rPr lang="en-US" altLang="ja-JP" sz="1400" dirty="0">
                <a:solidFill>
                  <a:schemeClr val="accent6"/>
                </a:solidFill>
                <a:latin typeface="Consolas" panose="020B0609020204030204" pitchFamily="49" charset="0"/>
              </a:rPr>
              <a:t>0x20004000</a:t>
            </a:r>
            <a:r>
              <a:rPr lang="en-US" altLang="ja-JP" sz="1400" dirty="0">
                <a:solidFill>
                  <a:schemeClr val="tx1">
                    <a:lumMod val="75000"/>
                    <a:lumOff val="25000"/>
                  </a:schemeClr>
                </a:solidFill>
                <a:latin typeface="Consolas" panose="020B0609020204030204" pitchFamily="49" charset="0"/>
              </a:rPr>
              <a:t>:</a:t>
            </a:r>
            <a:endParaRPr lang="ja-JP" altLang="en-US" sz="1400" dirty="0">
              <a:solidFill>
                <a:schemeClr val="tx1">
                  <a:lumMod val="75000"/>
                  <a:lumOff val="25000"/>
                </a:schemeClr>
              </a:solidFill>
              <a:latin typeface="Consolas" panose="020B0609020204030204" pitchFamily="49" charset="0"/>
            </a:endParaRPr>
          </a:p>
        </p:txBody>
      </p:sp>
      <p:sp>
        <p:nvSpPr>
          <p:cNvPr id="36" name="正方形/長方形 35"/>
          <p:cNvSpPr/>
          <p:nvPr/>
        </p:nvSpPr>
        <p:spPr bwMode="auto">
          <a:xfrm>
            <a:off x="7266013" y="1628980"/>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r>
              <a:rPr lang="en-US" altLang="ja-JP" sz="1400" dirty="0">
                <a:solidFill>
                  <a:schemeClr val="tx1">
                    <a:lumMod val="75000"/>
                    <a:lumOff val="25000"/>
                  </a:schemeClr>
                </a:solidFill>
                <a:latin typeface="Consolas" panose="020B0609020204030204" pitchFamily="49" charset="0"/>
              </a:rPr>
              <a:t>0x20000000:</a:t>
            </a:r>
            <a:endParaRPr lang="ja-JP" altLang="en-US" sz="1400" dirty="0">
              <a:solidFill>
                <a:schemeClr val="tx1">
                  <a:lumMod val="75000"/>
                  <a:lumOff val="25000"/>
                </a:schemeClr>
              </a:solidFill>
              <a:latin typeface="Consolas" panose="020B0609020204030204" pitchFamily="49" charset="0"/>
            </a:endParaRPr>
          </a:p>
        </p:txBody>
      </p:sp>
      <p:sp>
        <p:nvSpPr>
          <p:cNvPr id="38" name="正方形/長方形 37"/>
          <p:cNvSpPr/>
          <p:nvPr/>
        </p:nvSpPr>
        <p:spPr bwMode="auto">
          <a:xfrm>
            <a:off x="7266013" y="1808982"/>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r>
              <a:rPr lang="en-US" altLang="ja-JP" sz="1400" dirty="0">
                <a:solidFill>
                  <a:schemeClr val="tx1">
                    <a:lumMod val="75000"/>
                    <a:lumOff val="25000"/>
                  </a:schemeClr>
                </a:solidFill>
                <a:latin typeface="Consolas" panose="020B0609020204030204" pitchFamily="49" charset="0"/>
              </a:rPr>
              <a:t>0x20000004:</a:t>
            </a:r>
            <a:endParaRPr lang="ja-JP" altLang="en-US" sz="1400" dirty="0">
              <a:solidFill>
                <a:schemeClr val="tx1">
                  <a:lumMod val="75000"/>
                  <a:lumOff val="25000"/>
                </a:schemeClr>
              </a:solidFill>
              <a:latin typeface="Consolas" panose="020B0609020204030204" pitchFamily="49" charset="0"/>
            </a:endParaRPr>
          </a:p>
        </p:txBody>
      </p:sp>
      <p:sp>
        <p:nvSpPr>
          <p:cNvPr id="39" name="正方形/長方形 38"/>
          <p:cNvSpPr/>
          <p:nvPr/>
        </p:nvSpPr>
        <p:spPr bwMode="auto">
          <a:xfrm>
            <a:off x="7266013" y="1988984"/>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r>
              <a:rPr lang="en-US" altLang="ja-JP" sz="1400" dirty="0">
                <a:solidFill>
                  <a:schemeClr val="tx1">
                    <a:lumMod val="75000"/>
                    <a:lumOff val="25000"/>
                  </a:schemeClr>
                </a:solidFill>
                <a:latin typeface="Consolas" panose="020B0609020204030204" pitchFamily="49" charset="0"/>
              </a:rPr>
              <a:t>0x20000008:</a:t>
            </a:r>
            <a:endParaRPr lang="ja-JP" altLang="en-US" sz="14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30695450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A23D73-9346-46BC-902C-56695687FF6F}"/>
              </a:ext>
            </a:extLst>
          </p:cNvPr>
          <p:cNvSpPr>
            <a:spLocks noGrp="1"/>
          </p:cNvSpPr>
          <p:nvPr>
            <p:ph type="title"/>
          </p:nvPr>
        </p:nvSpPr>
        <p:spPr/>
        <p:txBody>
          <a:bodyPr/>
          <a:lstStyle/>
          <a:p>
            <a:r>
              <a:rPr kumimoji="1" lang="ja-JP" altLang="en-US" dirty="0"/>
              <a:t>単段ページ・テーブルの動作</a:t>
            </a:r>
          </a:p>
        </p:txBody>
      </p:sp>
      <p:sp>
        <p:nvSpPr>
          <p:cNvPr id="3" name="テキスト プレースホルダー 2">
            <a:extLst>
              <a:ext uri="{FF2B5EF4-FFF2-40B4-BE49-F238E27FC236}">
                <a16:creationId xmlns:a16="http://schemas.microsoft.com/office/drawing/2014/main" id="{9912CB5C-244D-418E-B391-297D77D36F85}"/>
              </a:ext>
            </a:extLst>
          </p:cNvPr>
          <p:cNvSpPr>
            <a:spLocks noGrp="1"/>
          </p:cNvSpPr>
          <p:nvPr>
            <p:ph type="body" sz="quarter" idx="10"/>
          </p:nvPr>
        </p:nvSpPr>
        <p:spPr>
          <a:xfrm>
            <a:off x="1685951" y="4869017"/>
            <a:ext cx="8640096" cy="1439709"/>
          </a:xfrm>
        </p:spPr>
        <p:txBody>
          <a:bodyPr/>
          <a:lstStyle/>
          <a:p>
            <a:pPr lvl="1"/>
            <a:r>
              <a:rPr lang="ja-JP" altLang="en-US" sz="1400" dirty="0"/>
              <a:t>上位 </a:t>
            </a:r>
            <a:r>
              <a:rPr lang="en-US" altLang="ja-JP" sz="1400" dirty="0"/>
              <a:t>16 bit </a:t>
            </a:r>
            <a:r>
              <a:rPr lang="ja-JP" altLang="en-US" sz="1400" dirty="0"/>
              <a:t>である </a:t>
            </a:r>
            <a:r>
              <a:rPr lang="en-US" altLang="ja-JP" sz="1400" dirty="0"/>
              <a:t>0x</a:t>
            </a:r>
            <a:r>
              <a:rPr lang="en-US" altLang="ja-JP" sz="1400" dirty="0">
                <a:solidFill>
                  <a:schemeClr val="accent5"/>
                </a:solidFill>
                <a:latin typeface="Consolas" panose="020B0609020204030204" pitchFamily="49" charset="0"/>
              </a:rPr>
              <a:t>1000 </a:t>
            </a:r>
            <a:r>
              <a:rPr lang="ja-JP" altLang="en-US" sz="1400" dirty="0"/>
              <a:t>を取り出し，それをインデクスとして</a:t>
            </a:r>
            <a:br>
              <a:rPr lang="en-US" altLang="ja-JP" sz="1400" dirty="0"/>
            </a:br>
            <a:r>
              <a:rPr lang="ja-JP" altLang="en-US" sz="1400" dirty="0"/>
              <a:t>ページ・テーブルにアクセス</a:t>
            </a:r>
            <a:endParaRPr lang="en-US" altLang="ja-JP" sz="1400" dirty="0"/>
          </a:p>
          <a:p>
            <a:pPr lvl="2"/>
            <a:r>
              <a:rPr lang="ja-JP" altLang="en-US" sz="1400" dirty="0"/>
              <a:t>物理メモリへのポインタはここでは </a:t>
            </a:r>
            <a:r>
              <a:rPr lang="en-US" altLang="ja-JP" sz="1400" dirty="0"/>
              <a:t>4B </a:t>
            </a:r>
            <a:r>
              <a:rPr lang="ja-JP" altLang="en-US" sz="1400" dirty="0"/>
              <a:t>単位であり，ベースレジスタは </a:t>
            </a:r>
            <a:r>
              <a:rPr lang="en-US" altLang="ja-JP" sz="1400" dirty="0"/>
              <a:t>0x2000 0000 </a:t>
            </a:r>
            <a:r>
              <a:rPr lang="ja-JP" altLang="en-US" sz="1400" dirty="0"/>
              <a:t>をさす</a:t>
            </a:r>
            <a:endParaRPr lang="en-US" altLang="ja-JP" sz="1400" dirty="0"/>
          </a:p>
          <a:p>
            <a:pPr lvl="2"/>
            <a:r>
              <a:rPr lang="en-US" altLang="ja-JP" sz="1400" dirty="0"/>
              <a:t>0x2000 0000 + 4B * 0x1000 = 0x2000 4000 </a:t>
            </a:r>
            <a:r>
              <a:rPr lang="en-US" altLang="ja-JP" sz="1400" dirty="0">
                <a:solidFill>
                  <a:schemeClr val="accent6"/>
                </a:solidFill>
              </a:rPr>
              <a:t> </a:t>
            </a:r>
            <a:r>
              <a:rPr lang="ja-JP" altLang="en-US" sz="1400" dirty="0"/>
              <a:t>にアクセス</a:t>
            </a:r>
            <a:endParaRPr lang="en-US" altLang="ja-JP" sz="1400" dirty="0">
              <a:solidFill>
                <a:schemeClr val="accent6"/>
              </a:solidFill>
            </a:endParaRPr>
          </a:p>
          <a:p>
            <a:pPr lvl="1"/>
            <a:r>
              <a:rPr lang="ja-JP" altLang="en-US" sz="1400" dirty="0"/>
              <a:t>マップされているページの先頭の物理アドレス </a:t>
            </a:r>
            <a:r>
              <a:rPr lang="en-US" altLang="ja-JP" sz="1400" dirty="0">
                <a:solidFill>
                  <a:schemeClr val="accent6"/>
                </a:solidFill>
                <a:latin typeface="Consolas" panose="020B0609020204030204" pitchFamily="49" charset="0"/>
              </a:rPr>
              <a:t>0x30000000</a:t>
            </a:r>
            <a:r>
              <a:rPr lang="en-US" altLang="ja-JP" sz="1400" dirty="0">
                <a:solidFill>
                  <a:schemeClr val="accent6"/>
                </a:solidFill>
              </a:rPr>
              <a:t> </a:t>
            </a:r>
            <a:r>
              <a:rPr lang="ja-JP" altLang="en-US" sz="1400" dirty="0"/>
              <a:t>を得る</a:t>
            </a:r>
            <a:endParaRPr lang="en-US" altLang="ja-JP" sz="1400" dirty="0"/>
          </a:p>
          <a:p>
            <a:pPr lvl="2"/>
            <a:r>
              <a:rPr lang="en-US" altLang="ja-JP" sz="1400" dirty="0"/>
              <a:t>OS </a:t>
            </a:r>
            <a:r>
              <a:rPr lang="ja-JP" altLang="en-US" sz="1400" dirty="0"/>
              <a:t>がこの論理アドレスに割り当てたページのアドレス</a:t>
            </a:r>
            <a:endParaRPr lang="en-US" altLang="ja-JP" sz="1400" dirty="0"/>
          </a:p>
          <a:p>
            <a:pPr lvl="1"/>
            <a:r>
              <a:rPr lang="ja-JP" altLang="en-US" sz="1400" dirty="0">
                <a:latin typeface="Consolas" panose="020B0609020204030204" pitchFamily="49" charset="0"/>
              </a:rPr>
              <a:t>下位</a:t>
            </a:r>
            <a:r>
              <a:rPr lang="ja-JP" altLang="en-US" sz="1400" dirty="0"/>
              <a:t> </a:t>
            </a:r>
            <a:r>
              <a:rPr lang="en-US" altLang="ja-JP" sz="1400" dirty="0"/>
              <a:t>16bit </a:t>
            </a:r>
            <a:r>
              <a:rPr lang="ja-JP" altLang="en-US" sz="1400" dirty="0">
                <a:latin typeface="Consolas" panose="020B0609020204030204" pitchFamily="49" charset="0"/>
              </a:rPr>
              <a:t>である </a:t>
            </a:r>
            <a:r>
              <a:rPr lang="en-US" altLang="ja-JP" sz="1400" dirty="0">
                <a:latin typeface="Consolas" panose="020B0609020204030204" pitchFamily="49" charset="0"/>
              </a:rPr>
              <a:t>0x2000</a:t>
            </a:r>
            <a:r>
              <a:rPr lang="en-US" altLang="ja-JP" sz="1400" dirty="0">
                <a:solidFill>
                  <a:schemeClr val="accent3">
                    <a:lumMod val="75000"/>
                  </a:schemeClr>
                </a:solidFill>
                <a:latin typeface="Consolas" panose="020B0609020204030204" pitchFamily="49" charset="0"/>
              </a:rPr>
              <a:t> </a:t>
            </a:r>
            <a:r>
              <a:rPr lang="ja-JP" altLang="en-US" sz="1400" dirty="0">
                <a:latin typeface="Consolas" panose="020B0609020204030204" pitchFamily="49" charset="0"/>
              </a:rPr>
              <a:t>と結合して </a:t>
            </a:r>
            <a:r>
              <a:rPr lang="en-US" altLang="ja-JP" sz="1400" dirty="0">
                <a:solidFill>
                  <a:schemeClr val="accent6"/>
                </a:solidFill>
                <a:latin typeface="Consolas" panose="020B0609020204030204" pitchFamily="49" charset="0"/>
              </a:rPr>
              <a:t>0x30002000</a:t>
            </a:r>
            <a:r>
              <a:rPr lang="en-US" altLang="ja-JP" sz="1400" dirty="0">
                <a:solidFill>
                  <a:schemeClr val="accent3">
                    <a:lumMod val="75000"/>
                  </a:schemeClr>
                </a:solidFill>
                <a:latin typeface="Consolas" panose="020B0609020204030204" pitchFamily="49" charset="0"/>
              </a:rPr>
              <a:t> </a:t>
            </a:r>
            <a:r>
              <a:rPr lang="ja-JP" altLang="en-US" sz="1400" dirty="0">
                <a:latin typeface="Consolas" panose="020B0609020204030204" pitchFamily="49" charset="0"/>
              </a:rPr>
              <a:t>にアクセス</a:t>
            </a:r>
            <a:endParaRPr lang="en-US" altLang="ja-JP" sz="1400" dirty="0">
              <a:latin typeface="Consolas" panose="020B0609020204030204" pitchFamily="49" charset="0"/>
            </a:endParaRPr>
          </a:p>
        </p:txBody>
      </p:sp>
      <p:sp>
        <p:nvSpPr>
          <p:cNvPr id="5" name="正方形/長方形 4">
            <a:extLst>
              <a:ext uri="{FF2B5EF4-FFF2-40B4-BE49-F238E27FC236}">
                <a16:creationId xmlns:a16="http://schemas.microsoft.com/office/drawing/2014/main" id="{8FC2FED3-730B-4DD0-AF3F-11439DD0B8DB}"/>
              </a:ext>
            </a:extLst>
          </p:cNvPr>
          <p:cNvSpPr/>
          <p:nvPr/>
        </p:nvSpPr>
        <p:spPr bwMode="auto">
          <a:xfrm>
            <a:off x="7536016" y="1988984"/>
            <a:ext cx="1080012" cy="288003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 name="正方形/長方形 8"/>
          <p:cNvSpPr/>
          <p:nvPr/>
        </p:nvSpPr>
        <p:spPr bwMode="auto">
          <a:xfrm>
            <a:off x="2495960" y="1358978"/>
            <a:ext cx="2880032" cy="270003"/>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dirty="0">
                <a:solidFill>
                  <a:schemeClr val="tx1">
                    <a:lumMod val="75000"/>
                    <a:lumOff val="25000"/>
                  </a:schemeClr>
                </a:solidFill>
                <a:latin typeface="Consolas" panose="020B0609020204030204" pitchFamily="49" charset="0"/>
              </a:rPr>
              <a:t>   0x1000</a:t>
            </a:r>
            <a:endParaRPr lang="ja-JP" altLang="en-US" dirty="0">
              <a:solidFill>
                <a:schemeClr val="tx1">
                  <a:lumMod val="75000"/>
                  <a:lumOff val="25000"/>
                </a:schemeClr>
              </a:solidFill>
              <a:latin typeface="Consolas" panose="020B0609020204030204" pitchFamily="49" charset="0"/>
            </a:endParaRPr>
          </a:p>
        </p:txBody>
      </p:sp>
      <p:cxnSp>
        <p:nvCxnSpPr>
          <p:cNvPr id="10" name="直線矢印コネクタ 9"/>
          <p:cNvCxnSpPr/>
          <p:nvPr/>
        </p:nvCxnSpPr>
        <p:spPr bwMode="auto">
          <a:xfrm>
            <a:off x="2495960" y="1268976"/>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p:cNvSpPr/>
          <p:nvPr/>
        </p:nvSpPr>
        <p:spPr bwMode="auto">
          <a:xfrm>
            <a:off x="3575973"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32 bit </a:t>
            </a:r>
            <a:r>
              <a:rPr lang="ja-JP" altLang="en-US" sz="1600" dirty="0">
                <a:solidFill>
                  <a:schemeClr val="tx1">
                    <a:lumMod val="75000"/>
                    <a:lumOff val="25000"/>
                  </a:schemeClr>
                </a:solidFill>
                <a:latin typeface="+mn-ea"/>
              </a:rPr>
              <a:t>アドレス</a:t>
            </a:r>
          </a:p>
        </p:txBody>
      </p:sp>
      <p:sp>
        <p:nvSpPr>
          <p:cNvPr id="12" name="正方形/長方形 11"/>
          <p:cNvSpPr/>
          <p:nvPr/>
        </p:nvSpPr>
        <p:spPr bwMode="auto">
          <a:xfrm>
            <a:off x="3935977" y="1358978"/>
            <a:ext cx="1440017"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2000</a:t>
            </a:r>
            <a:endParaRPr lang="ja-JP" altLang="en-US" dirty="0">
              <a:solidFill>
                <a:schemeClr val="tx1">
                  <a:lumMod val="75000"/>
                  <a:lumOff val="25000"/>
                </a:schemeClr>
              </a:solidFill>
              <a:latin typeface="Consolas" panose="020B0609020204030204" pitchFamily="49" charset="0"/>
            </a:endParaRPr>
          </a:p>
        </p:txBody>
      </p:sp>
      <p:sp>
        <p:nvSpPr>
          <p:cNvPr id="34" name="正方形/長方形 33">
            <a:extLst>
              <a:ext uri="{FF2B5EF4-FFF2-40B4-BE49-F238E27FC236}">
                <a16:creationId xmlns:a16="http://schemas.microsoft.com/office/drawing/2014/main" id="{2582A728-F7F5-4B2F-8E43-305BF7418F28}"/>
              </a:ext>
            </a:extLst>
          </p:cNvPr>
          <p:cNvSpPr/>
          <p:nvPr/>
        </p:nvSpPr>
        <p:spPr bwMode="auto">
          <a:xfrm>
            <a:off x="7536016" y="4149008"/>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64KB</a:t>
            </a:r>
            <a:endParaRPr lang="ja-JP" altLang="en-US" dirty="0">
              <a:solidFill>
                <a:schemeClr val="tx1">
                  <a:lumMod val="75000"/>
                  <a:lumOff val="25000"/>
                </a:schemeClr>
              </a:solidFill>
              <a:latin typeface="+mn-ea"/>
            </a:endParaRPr>
          </a:p>
        </p:txBody>
      </p:sp>
      <p:sp>
        <p:nvSpPr>
          <p:cNvPr id="41" name="正方形/長方形 40"/>
          <p:cNvSpPr/>
          <p:nvPr/>
        </p:nvSpPr>
        <p:spPr bwMode="auto">
          <a:xfrm>
            <a:off x="7716019" y="1538979"/>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物理メモリ</a:t>
            </a:r>
          </a:p>
        </p:txBody>
      </p:sp>
      <p:sp>
        <p:nvSpPr>
          <p:cNvPr id="40" name="正方形/長方形 39">
            <a:extLst>
              <a:ext uri="{FF2B5EF4-FFF2-40B4-BE49-F238E27FC236}">
                <a16:creationId xmlns:a16="http://schemas.microsoft.com/office/drawing/2014/main" id="{F8E9AEA5-3FB4-455D-9495-C980C57584B6}"/>
              </a:ext>
            </a:extLst>
          </p:cNvPr>
          <p:cNvSpPr/>
          <p:nvPr/>
        </p:nvSpPr>
        <p:spPr bwMode="auto">
          <a:xfrm>
            <a:off x="6456004" y="4239009"/>
            <a:ext cx="1080012"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accent6"/>
                </a:solidFill>
                <a:latin typeface="Consolas" panose="020B0609020204030204" pitchFamily="49" charset="0"/>
              </a:rPr>
              <a:t>0x30002000:</a:t>
            </a:r>
            <a:endParaRPr lang="ja-JP" altLang="en-US" sz="1200" dirty="0">
              <a:solidFill>
                <a:schemeClr val="accent6"/>
              </a:solidFill>
              <a:latin typeface="Consolas" panose="020B0609020204030204" pitchFamily="49" charset="0"/>
            </a:endParaRPr>
          </a:p>
        </p:txBody>
      </p:sp>
      <p:cxnSp>
        <p:nvCxnSpPr>
          <p:cNvPr id="44" name="曲線コネクタ 43"/>
          <p:cNvCxnSpPr>
            <a:cxnSpLocks/>
          </p:cNvCxnSpPr>
          <p:nvPr/>
        </p:nvCxnSpPr>
        <p:spPr bwMode="auto">
          <a:xfrm>
            <a:off x="3755975" y="1538979"/>
            <a:ext cx="2430029" cy="1800020"/>
          </a:xfrm>
          <a:prstGeom prst="curvedConnector3">
            <a:avLst>
              <a:gd name="adj1" fmla="val 34435"/>
            </a:avLst>
          </a:prstGeom>
          <a:noFill/>
          <a:ln w="9525" cap="flat" cmpd="sng" algn="ctr">
            <a:solidFill>
              <a:schemeClr val="tx1"/>
            </a:solidFill>
            <a:prstDash val="solid"/>
            <a:round/>
            <a:headEnd type="none" w="med" len="med"/>
            <a:tailEnd type="triangle"/>
          </a:ln>
          <a:effectLst/>
        </p:spPr>
      </p:cxnSp>
      <p:cxnSp>
        <p:nvCxnSpPr>
          <p:cNvPr id="45" name="曲線コネクタ 44"/>
          <p:cNvCxnSpPr>
            <a:cxnSpLocks/>
            <a:stCxn id="12" idx="2"/>
            <a:endCxn id="40" idx="1"/>
          </p:cNvCxnSpPr>
          <p:nvPr/>
        </p:nvCxnSpPr>
        <p:spPr bwMode="auto">
          <a:xfrm rot="16200000" flipH="1">
            <a:off x="4205979" y="2078986"/>
            <a:ext cx="2700030" cy="1800019"/>
          </a:xfrm>
          <a:prstGeom prst="curvedConnector2">
            <a:avLst/>
          </a:prstGeom>
          <a:noFill/>
          <a:ln w="9525" cap="flat" cmpd="sng" algn="ctr">
            <a:solidFill>
              <a:schemeClr val="tx1"/>
            </a:solidFill>
            <a:prstDash val="solid"/>
            <a:round/>
            <a:headEnd type="none" w="med" len="med"/>
            <a:tailEnd type="triangle"/>
          </a:ln>
          <a:effectLst/>
        </p:spPr>
      </p:cxnSp>
      <p:sp>
        <p:nvSpPr>
          <p:cNvPr id="46" name="正方形/長方形 45">
            <a:extLst>
              <a:ext uri="{FF2B5EF4-FFF2-40B4-BE49-F238E27FC236}">
                <a16:creationId xmlns:a16="http://schemas.microsoft.com/office/drawing/2014/main" id="{F8E9AEA5-3FB4-455D-9495-C980C57584B6}"/>
              </a:ext>
            </a:extLst>
          </p:cNvPr>
          <p:cNvSpPr/>
          <p:nvPr/>
        </p:nvSpPr>
        <p:spPr bwMode="auto">
          <a:xfrm>
            <a:off x="8166023" y="3879005"/>
            <a:ext cx="1080012"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tx1">
                    <a:lumMod val="75000"/>
                    <a:lumOff val="25000"/>
                  </a:schemeClr>
                </a:solidFill>
                <a:latin typeface="Consolas" panose="020B0609020204030204" pitchFamily="49" charset="0"/>
              </a:rPr>
              <a:t>0x81234f24:</a:t>
            </a:r>
            <a:endParaRPr lang="ja-JP" altLang="en-US" sz="1200" dirty="0">
              <a:solidFill>
                <a:schemeClr val="tx1">
                  <a:lumMod val="75000"/>
                  <a:lumOff val="25000"/>
                </a:schemeClr>
              </a:solidFill>
              <a:latin typeface="Consolas" panose="020B0609020204030204" pitchFamily="49" charset="0"/>
            </a:endParaRPr>
          </a:p>
        </p:txBody>
      </p:sp>
      <p:sp>
        <p:nvSpPr>
          <p:cNvPr id="4" name="正方形/長方形 3">
            <a:extLst>
              <a:ext uri="{FF2B5EF4-FFF2-40B4-BE49-F238E27FC236}">
                <a16:creationId xmlns:a16="http://schemas.microsoft.com/office/drawing/2014/main" id="{41F8EEC9-9620-4E9C-9B16-22677D3FA888}"/>
              </a:ext>
            </a:extLst>
          </p:cNvPr>
          <p:cNvSpPr/>
          <p:nvPr/>
        </p:nvSpPr>
        <p:spPr bwMode="auto">
          <a:xfrm>
            <a:off x="7536016" y="2258987"/>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F8E9AEA5-3FB4-455D-9495-C980C57584B6}"/>
              </a:ext>
            </a:extLst>
          </p:cNvPr>
          <p:cNvSpPr/>
          <p:nvPr/>
        </p:nvSpPr>
        <p:spPr bwMode="auto">
          <a:xfrm>
            <a:off x="7536016" y="2258987"/>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 name="正方形/長方形 7">
            <a:extLst>
              <a:ext uri="{FF2B5EF4-FFF2-40B4-BE49-F238E27FC236}">
                <a16:creationId xmlns:a16="http://schemas.microsoft.com/office/drawing/2014/main" id="{2582A728-F7F5-4B2F-8E43-305BF7418F28}"/>
              </a:ext>
            </a:extLst>
          </p:cNvPr>
          <p:cNvSpPr/>
          <p:nvPr/>
        </p:nvSpPr>
        <p:spPr bwMode="auto">
          <a:xfrm>
            <a:off x="7536016" y="2438989"/>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F8E9AEA5-3FB4-455D-9495-C980C57584B6}"/>
              </a:ext>
            </a:extLst>
          </p:cNvPr>
          <p:cNvSpPr/>
          <p:nvPr/>
        </p:nvSpPr>
        <p:spPr bwMode="auto">
          <a:xfrm>
            <a:off x="7536016" y="2618991"/>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7536016" y="2798993"/>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r"/>
            <a:r>
              <a:rPr lang="ja-JP" altLang="en-US" dirty="0">
                <a:solidFill>
                  <a:schemeClr val="tx1">
                    <a:lumMod val="75000"/>
                    <a:lumOff val="25000"/>
                  </a:schemeClr>
                </a:solidFill>
                <a:latin typeface="+mn-ea"/>
              </a:rPr>
              <a:t>･･･</a:t>
            </a:r>
          </a:p>
        </p:txBody>
      </p:sp>
      <p:sp>
        <p:nvSpPr>
          <p:cNvPr id="42" name="正方形/長方形 41"/>
          <p:cNvSpPr/>
          <p:nvPr/>
        </p:nvSpPr>
        <p:spPr bwMode="auto">
          <a:xfrm>
            <a:off x="9246036" y="2258987"/>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ページ・テーブル</a:t>
            </a:r>
          </a:p>
        </p:txBody>
      </p:sp>
      <p:sp>
        <p:nvSpPr>
          <p:cNvPr id="30" name="正方形/長方形 29">
            <a:extLst>
              <a:ext uri="{FF2B5EF4-FFF2-40B4-BE49-F238E27FC236}">
                <a16:creationId xmlns:a16="http://schemas.microsoft.com/office/drawing/2014/main" id="{F8E9AEA5-3FB4-455D-9495-C980C57584B6}"/>
              </a:ext>
            </a:extLst>
          </p:cNvPr>
          <p:cNvSpPr/>
          <p:nvPr/>
        </p:nvSpPr>
        <p:spPr bwMode="auto">
          <a:xfrm>
            <a:off x="7536016" y="3248998"/>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200" dirty="0">
                <a:solidFill>
                  <a:schemeClr val="accent6"/>
                </a:solidFill>
                <a:latin typeface="Consolas" panose="020B0609020204030204" pitchFamily="49" charset="0"/>
              </a:rPr>
              <a:t>0x30000000</a:t>
            </a:r>
            <a:endParaRPr lang="ja-JP" altLang="en-US" sz="1200" dirty="0">
              <a:solidFill>
                <a:schemeClr val="accent6"/>
              </a:solidFill>
              <a:latin typeface="Consolas" panose="020B0609020204030204" pitchFamily="49" charset="0"/>
            </a:endParaRPr>
          </a:p>
        </p:txBody>
      </p:sp>
      <p:sp>
        <p:nvSpPr>
          <p:cNvPr id="33" name="正方形/長方形 32"/>
          <p:cNvSpPr/>
          <p:nvPr/>
        </p:nvSpPr>
        <p:spPr bwMode="auto">
          <a:xfrm>
            <a:off x="6906009" y="3248998"/>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r>
              <a:rPr lang="en-US" altLang="ja-JP" sz="1400" dirty="0">
                <a:solidFill>
                  <a:schemeClr val="accent6"/>
                </a:solidFill>
                <a:latin typeface="Consolas" panose="020B0609020204030204" pitchFamily="49" charset="0"/>
              </a:rPr>
              <a:t>0x20004000</a:t>
            </a:r>
            <a:r>
              <a:rPr lang="en-US" altLang="ja-JP" sz="1400" dirty="0">
                <a:solidFill>
                  <a:schemeClr val="tx1">
                    <a:lumMod val="75000"/>
                    <a:lumOff val="25000"/>
                  </a:schemeClr>
                </a:solidFill>
                <a:latin typeface="Consolas" panose="020B0609020204030204" pitchFamily="49" charset="0"/>
              </a:rPr>
              <a:t>:</a:t>
            </a:r>
            <a:endParaRPr lang="ja-JP" altLang="en-US" sz="1400" dirty="0">
              <a:solidFill>
                <a:schemeClr val="tx1">
                  <a:lumMod val="75000"/>
                  <a:lumOff val="25000"/>
                </a:schemeClr>
              </a:solidFill>
              <a:latin typeface="Consolas" panose="020B0609020204030204" pitchFamily="49" charset="0"/>
            </a:endParaRPr>
          </a:p>
        </p:txBody>
      </p:sp>
      <p:sp>
        <p:nvSpPr>
          <p:cNvPr id="36" name="正方形/長方形 35"/>
          <p:cNvSpPr/>
          <p:nvPr/>
        </p:nvSpPr>
        <p:spPr bwMode="auto">
          <a:xfrm>
            <a:off x="6906009" y="2258987"/>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r>
              <a:rPr lang="en-US" altLang="ja-JP" sz="1400" dirty="0">
                <a:solidFill>
                  <a:schemeClr val="tx1">
                    <a:lumMod val="75000"/>
                    <a:lumOff val="25000"/>
                  </a:schemeClr>
                </a:solidFill>
                <a:latin typeface="Consolas" panose="020B0609020204030204" pitchFamily="49" charset="0"/>
              </a:rPr>
              <a:t>0x20000000:</a:t>
            </a:r>
            <a:endParaRPr lang="ja-JP" altLang="en-US" sz="1400" dirty="0">
              <a:solidFill>
                <a:schemeClr val="tx1">
                  <a:lumMod val="75000"/>
                  <a:lumOff val="25000"/>
                </a:schemeClr>
              </a:solidFill>
              <a:latin typeface="Consolas" panose="020B0609020204030204" pitchFamily="49" charset="0"/>
            </a:endParaRPr>
          </a:p>
        </p:txBody>
      </p:sp>
      <p:sp>
        <p:nvSpPr>
          <p:cNvPr id="38" name="正方形/長方形 37"/>
          <p:cNvSpPr/>
          <p:nvPr/>
        </p:nvSpPr>
        <p:spPr bwMode="auto">
          <a:xfrm>
            <a:off x="6906009" y="2438989"/>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r>
              <a:rPr lang="en-US" altLang="ja-JP" sz="1400" dirty="0">
                <a:solidFill>
                  <a:schemeClr val="tx1">
                    <a:lumMod val="75000"/>
                    <a:lumOff val="25000"/>
                  </a:schemeClr>
                </a:solidFill>
                <a:latin typeface="Consolas" panose="020B0609020204030204" pitchFamily="49" charset="0"/>
              </a:rPr>
              <a:t>0x20000004:</a:t>
            </a:r>
            <a:endParaRPr lang="ja-JP" altLang="en-US" sz="1400" dirty="0">
              <a:solidFill>
                <a:schemeClr val="tx1">
                  <a:lumMod val="75000"/>
                  <a:lumOff val="25000"/>
                </a:schemeClr>
              </a:solidFill>
              <a:latin typeface="Consolas" panose="020B0609020204030204" pitchFamily="49" charset="0"/>
            </a:endParaRPr>
          </a:p>
        </p:txBody>
      </p:sp>
      <p:sp>
        <p:nvSpPr>
          <p:cNvPr id="39" name="正方形/長方形 38"/>
          <p:cNvSpPr/>
          <p:nvPr/>
        </p:nvSpPr>
        <p:spPr bwMode="auto">
          <a:xfrm>
            <a:off x="6906009" y="2618991"/>
            <a:ext cx="540006" cy="180002"/>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r"/>
            <a:r>
              <a:rPr lang="en-US" altLang="ja-JP" sz="1400" dirty="0">
                <a:solidFill>
                  <a:schemeClr val="tx1">
                    <a:lumMod val="75000"/>
                    <a:lumOff val="25000"/>
                  </a:schemeClr>
                </a:solidFill>
                <a:latin typeface="Consolas" panose="020B0609020204030204" pitchFamily="49" charset="0"/>
              </a:rPr>
              <a:t>0x20000008:</a:t>
            </a:r>
            <a:endParaRPr lang="ja-JP" altLang="en-US" sz="1400" dirty="0">
              <a:solidFill>
                <a:schemeClr val="tx1">
                  <a:lumMod val="75000"/>
                  <a:lumOff val="25000"/>
                </a:schemeClr>
              </a:solidFill>
              <a:latin typeface="Consolas" panose="020B0609020204030204" pitchFamily="49" charset="0"/>
            </a:endParaRPr>
          </a:p>
        </p:txBody>
      </p:sp>
      <p:cxnSp>
        <p:nvCxnSpPr>
          <p:cNvPr id="35" name="曲線コネクタ 34"/>
          <p:cNvCxnSpPr>
            <a:cxnSpLocks/>
            <a:stCxn id="30" idx="2"/>
            <a:endCxn id="40" idx="0"/>
          </p:cNvCxnSpPr>
          <p:nvPr/>
        </p:nvCxnSpPr>
        <p:spPr bwMode="auto">
          <a:xfrm rot="5400000">
            <a:off x="7131013" y="3293998"/>
            <a:ext cx="810009" cy="1080012"/>
          </a:xfrm>
          <a:prstGeom prst="curvedConnector3">
            <a:avLst/>
          </a:prstGeom>
          <a:noFill/>
          <a:ln w="9525" cap="flat" cmpd="sng" algn="ctr">
            <a:solidFill>
              <a:schemeClr val="tx1"/>
            </a:solidFill>
            <a:prstDash val="solid"/>
            <a:round/>
            <a:headEnd type="none" w="med" len="med"/>
            <a:tailEnd type="triangle"/>
          </a:ln>
          <a:effectLst/>
        </p:spPr>
      </p:cxnSp>
    </p:spTree>
    <p:extLst>
      <p:ext uri="{BB962C8B-B14F-4D97-AF65-F5344CB8AC3E}">
        <p14:creationId xmlns:p14="http://schemas.microsoft.com/office/powerpoint/2010/main" val="34803647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１１</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5220057"/>
          </a:xfrm>
        </p:spPr>
        <p:txBody>
          <a:bodyPr/>
          <a:lstStyle/>
          <a:p>
            <a:r>
              <a:rPr lang="en-US" altLang="ja-JP" sz="1400" dirty="0">
                <a:latin typeface="Consolas" panose="020B0609020204030204" pitchFamily="49" charset="0"/>
              </a:rPr>
              <a:t>(2) </a:t>
            </a:r>
            <a:r>
              <a:rPr lang="ja-JP" altLang="en-US" sz="1400" dirty="0">
                <a:latin typeface="Consolas" panose="020B0609020204030204" pitchFamily="49" charset="0"/>
              </a:rPr>
              <a:t>仮想アドレス </a:t>
            </a:r>
            <a:r>
              <a:rPr lang="en-US" altLang="ja-JP" sz="1400" dirty="0">
                <a:solidFill>
                  <a:schemeClr val="accent5"/>
                </a:solidFill>
                <a:latin typeface="Consolas" panose="020B0609020204030204" pitchFamily="49" charset="0"/>
              </a:rPr>
              <a:t>0xfea51fff</a:t>
            </a:r>
            <a:r>
              <a:rPr lang="en-US" altLang="ja-JP" sz="1400" dirty="0">
                <a:latin typeface="Consolas" panose="020B0609020204030204" pitchFamily="49" charset="0"/>
              </a:rPr>
              <a:t> </a:t>
            </a:r>
            <a:r>
              <a:rPr lang="ja-JP" altLang="en-US" sz="1400" dirty="0">
                <a:latin typeface="Consolas" panose="020B0609020204030204" pitchFamily="49" charset="0"/>
              </a:rPr>
              <a:t>に格納されている値を読み出す際にアクセスされる物理アドレスをすべてあげよ</a:t>
            </a:r>
            <a:endParaRPr lang="en-US" altLang="ja-JP" sz="1400" dirty="0">
              <a:latin typeface="Consolas" panose="020B0609020204030204" pitchFamily="49" charset="0"/>
            </a:endParaRPr>
          </a:p>
          <a:p>
            <a:pPr lvl="1"/>
            <a:r>
              <a:rPr lang="en-US" altLang="ja-JP" sz="1400" dirty="0">
                <a:latin typeface="Consolas" panose="020B0609020204030204" pitchFamily="49" charset="0"/>
              </a:rPr>
              <a:t>0x2000 0000 + 4B * 0xfea5 = 0x2003 FA94 </a:t>
            </a:r>
            <a:r>
              <a:rPr lang="ja-JP" altLang="en-US" sz="1400" dirty="0">
                <a:latin typeface="Consolas" panose="020B0609020204030204" pitchFamily="49" charset="0"/>
              </a:rPr>
              <a:t>に最初にアクセス</a:t>
            </a:r>
            <a:endParaRPr lang="en-US" altLang="ja-JP" sz="1400" dirty="0">
              <a:latin typeface="Consolas" panose="020B0609020204030204" pitchFamily="49" charset="0"/>
            </a:endParaRPr>
          </a:p>
          <a:p>
            <a:pPr lvl="2"/>
            <a:r>
              <a:rPr lang="ja-JP" altLang="en-US" sz="1400" dirty="0">
                <a:latin typeface="Consolas" panose="020B0609020204030204" pitchFamily="49" charset="0"/>
              </a:rPr>
              <a:t>ここから </a:t>
            </a:r>
            <a:r>
              <a:rPr lang="en-US" altLang="ja-JP" sz="1400" dirty="0">
                <a:latin typeface="Consolas" panose="020B0609020204030204" pitchFamily="49" charset="0"/>
              </a:rPr>
              <a:t>0x3001 0000 </a:t>
            </a:r>
            <a:r>
              <a:rPr lang="ja-JP" altLang="en-US" sz="1400" dirty="0">
                <a:latin typeface="Consolas" panose="020B0609020204030204" pitchFamily="49" charset="0"/>
              </a:rPr>
              <a:t>が読める</a:t>
            </a:r>
            <a:endParaRPr lang="en-US" altLang="ja-JP" sz="1400" dirty="0">
              <a:latin typeface="Consolas" panose="020B0609020204030204" pitchFamily="49" charset="0"/>
            </a:endParaRPr>
          </a:p>
          <a:p>
            <a:pPr lvl="1"/>
            <a:r>
              <a:rPr lang="en-US" altLang="ja-JP" sz="1400" dirty="0">
                <a:latin typeface="Consolas" panose="020B0609020204030204" pitchFamily="49" charset="0"/>
              </a:rPr>
              <a:t>0x3001 0000 + 0x1fff = 0x30011fff </a:t>
            </a:r>
            <a:r>
              <a:rPr lang="ja-JP" altLang="en-US" sz="1400" dirty="0">
                <a:latin typeface="Consolas" panose="020B0609020204030204" pitchFamily="49" charset="0"/>
              </a:rPr>
              <a:t>に次にアクセス</a:t>
            </a:r>
            <a:endParaRPr lang="en-US" altLang="ja-JP" sz="1400" dirty="0">
              <a:latin typeface="Consolas" panose="020B0609020204030204" pitchFamily="49" charset="0"/>
            </a:endParaRP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9</a:t>
            </a:fld>
            <a:endParaRPr kumimoji="1" lang="ja-JP" altLang="en-US" dirty="0"/>
          </a:p>
        </p:txBody>
      </p:sp>
    </p:spTree>
    <p:extLst>
      <p:ext uri="{BB962C8B-B14F-4D97-AF65-F5344CB8AC3E}">
        <p14:creationId xmlns:p14="http://schemas.microsoft.com/office/powerpoint/2010/main" val="13097723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１１</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5220057"/>
          </a:xfrm>
        </p:spPr>
        <p:txBody>
          <a:bodyPr/>
          <a:lstStyle/>
          <a:p>
            <a:r>
              <a:rPr lang="en-US" altLang="ja-JP" sz="1400" dirty="0"/>
              <a:t>(3) </a:t>
            </a:r>
            <a:r>
              <a:rPr lang="ja-JP" altLang="en-US" sz="1400" dirty="0"/>
              <a:t>仮想アドレス </a:t>
            </a:r>
            <a:r>
              <a:rPr lang="en-US" altLang="ja-JP" sz="1400" dirty="0"/>
              <a:t>0x10000000 </a:t>
            </a:r>
            <a:r>
              <a:rPr lang="ja-JP" altLang="en-US" sz="1400" dirty="0"/>
              <a:t>と </a:t>
            </a:r>
            <a:r>
              <a:rPr lang="en-US" altLang="ja-JP" sz="1400" dirty="0">
                <a:solidFill>
                  <a:schemeClr val="accent5"/>
                </a:solidFill>
              </a:rPr>
              <a:t>0xfea50000</a:t>
            </a:r>
            <a:r>
              <a:rPr lang="en-US" altLang="ja-JP" sz="1400" dirty="0"/>
              <a:t> </a:t>
            </a:r>
            <a:r>
              <a:rPr lang="ja-JP" altLang="en-US" sz="1400" dirty="0"/>
              <a:t>から始まる２つのページ</a:t>
            </a:r>
            <a:r>
              <a:rPr lang="ja-JP" altLang="en-US" sz="1400" dirty="0">
                <a:solidFill>
                  <a:schemeClr val="accent5"/>
                </a:solidFill>
              </a:rPr>
              <a:t>のみ</a:t>
            </a:r>
            <a:r>
              <a:rPr lang="ja-JP" altLang="en-US" sz="1400" dirty="0"/>
              <a:t>が確保されている場合を想定する．この時に使用される物理メモリの容量の合計（ページ・テーブルとページそのもの）を求めよ</a:t>
            </a:r>
            <a:endParaRPr lang="en-US" altLang="ja-JP" sz="1400" dirty="0"/>
          </a:p>
          <a:p>
            <a:pPr lvl="1"/>
            <a:endParaRPr lang="en-US" altLang="ja-JP" sz="1400" dirty="0"/>
          </a:p>
          <a:p>
            <a:pPr lvl="1"/>
            <a:r>
              <a:rPr lang="ja-JP" altLang="en-US" sz="1400" dirty="0"/>
              <a:t>単段テーブル全体：</a:t>
            </a:r>
            <a:r>
              <a:rPr lang="en-US" altLang="ja-JP" sz="1400" dirty="0"/>
              <a:t>0x10000 * 4Byte = 0x40000 Byte </a:t>
            </a:r>
          </a:p>
          <a:p>
            <a:pPr lvl="2"/>
            <a:r>
              <a:rPr lang="ja-JP" altLang="en-US" sz="1400" dirty="0"/>
              <a:t>ページは </a:t>
            </a:r>
            <a:r>
              <a:rPr lang="en-US" altLang="ja-JP" sz="1400" dirty="0"/>
              <a:t>0x10000 </a:t>
            </a:r>
            <a:r>
              <a:rPr lang="ja-JP" altLang="en-US" sz="1400" dirty="0"/>
              <a:t>個存在する</a:t>
            </a:r>
            <a:endParaRPr lang="en-US" altLang="ja-JP" sz="1400" dirty="0"/>
          </a:p>
          <a:p>
            <a:pPr lvl="1"/>
            <a:r>
              <a:rPr lang="ja-JP" altLang="en-US" sz="1400" dirty="0"/>
              <a:t>確保されているページは２つ：</a:t>
            </a:r>
            <a:r>
              <a:rPr lang="en-US" altLang="ja-JP" sz="1400" dirty="0"/>
              <a:t>0x10000 Byte * 2 = 0x20000 Byte</a:t>
            </a:r>
          </a:p>
          <a:p>
            <a:pPr lvl="2"/>
            <a:r>
              <a:rPr lang="en-US" altLang="ja-JP" sz="1400" dirty="0"/>
              <a:t>64 KB=0x10000 Byte </a:t>
            </a:r>
            <a:r>
              <a:rPr lang="ja-JP" altLang="en-US" sz="1400" dirty="0"/>
              <a:t>が２つ</a:t>
            </a:r>
            <a:endParaRPr lang="en-US" altLang="ja-JP" sz="1400" dirty="0"/>
          </a:p>
          <a:p>
            <a:pPr lvl="1"/>
            <a:r>
              <a:rPr lang="ja-JP" altLang="en-US" sz="1400" dirty="0"/>
              <a:t>合計すると </a:t>
            </a:r>
            <a:r>
              <a:rPr lang="en-US" altLang="ja-JP" sz="1400" dirty="0"/>
              <a:t>0x60000 Byte</a:t>
            </a: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10</a:t>
            </a:fld>
            <a:endParaRPr kumimoji="1" lang="ja-JP" altLang="en-US" dirty="0"/>
          </a:p>
        </p:txBody>
      </p:sp>
    </p:spTree>
    <p:extLst>
      <p:ext uri="{BB962C8B-B14F-4D97-AF65-F5344CB8AC3E}">
        <p14:creationId xmlns:p14="http://schemas.microsoft.com/office/powerpoint/2010/main" val="118297121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１１</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5"/>
            <a:ext cx="7830087" cy="5220057"/>
          </a:xfrm>
        </p:spPr>
        <p:txBody>
          <a:bodyPr/>
          <a:lstStyle/>
          <a:p>
            <a:r>
              <a:rPr lang="en-US" altLang="ja-JP" sz="1400" dirty="0"/>
              <a:t>(4) (3)</a:t>
            </a:r>
            <a:r>
              <a:rPr lang="ja-JP" altLang="en-US" sz="1400" dirty="0"/>
              <a:t>と同様の条件で，２段ページ・テーブルを使用した場合に使用される物理メモリの容量の合計を求めよ．この時 </a:t>
            </a:r>
            <a:r>
              <a:rPr lang="en-US" altLang="ja-JP" sz="1400" dirty="0"/>
              <a:t>LV1 </a:t>
            </a:r>
            <a:r>
              <a:rPr lang="ja-JP" altLang="en-US" sz="1400" dirty="0"/>
              <a:t>と </a:t>
            </a:r>
            <a:r>
              <a:rPr lang="en-US" altLang="ja-JP" sz="1400" dirty="0"/>
              <a:t>LV2 </a:t>
            </a:r>
            <a:r>
              <a:rPr lang="ja-JP" altLang="en-US" sz="1400" dirty="0"/>
              <a:t>に使用されるアドレスのビット幅は等しいものとする．</a:t>
            </a:r>
            <a:endParaRPr lang="en-US" altLang="ja-JP" sz="1400" dirty="0"/>
          </a:p>
          <a:p>
            <a:pPr lvl="1"/>
            <a:endParaRPr lang="en-US" altLang="ja-JP" sz="1400" dirty="0"/>
          </a:p>
          <a:p>
            <a:pPr lvl="1"/>
            <a:r>
              <a:rPr lang="en-US" altLang="ja-JP" sz="1400" dirty="0"/>
              <a:t>LV1 </a:t>
            </a:r>
            <a:r>
              <a:rPr lang="ja-JP" altLang="en-US" sz="1400" dirty="0"/>
              <a:t>と </a:t>
            </a:r>
            <a:r>
              <a:rPr lang="en-US" altLang="ja-JP" sz="1400" dirty="0"/>
              <a:t>LV2 </a:t>
            </a:r>
            <a:r>
              <a:rPr lang="ja-JP" altLang="en-US" sz="1400" dirty="0"/>
              <a:t>に使用されるアドレスのビット幅は等しい </a:t>
            </a:r>
            <a:r>
              <a:rPr lang="en-US" altLang="ja-JP" sz="1400" dirty="0"/>
              <a:t>= </a:t>
            </a:r>
            <a:r>
              <a:rPr lang="ja-JP" altLang="en-US" sz="1400" dirty="0"/>
              <a:t>アドレス上位 </a:t>
            </a:r>
            <a:r>
              <a:rPr lang="en-US" altLang="ja-JP" sz="1400" dirty="0"/>
              <a:t>16 bit </a:t>
            </a:r>
            <a:r>
              <a:rPr lang="ja-JP" altLang="en-US" sz="1400" dirty="0"/>
              <a:t>を </a:t>
            </a:r>
            <a:r>
              <a:rPr lang="en-US" altLang="ja-JP" sz="1400" dirty="0"/>
              <a:t>8bit x2 </a:t>
            </a:r>
            <a:r>
              <a:rPr lang="ja-JP" altLang="en-US" sz="1400" dirty="0"/>
              <a:t>に分解して使うということ</a:t>
            </a:r>
            <a:endParaRPr lang="en-US" altLang="ja-JP" sz="1400" dirty="0"/>
          </a:p>
          <a:p>
            <a:pPr lvl="1"/>
            <a:endParaRPr lang="en-US" altLang="ja-JP" sz="1400" dirty="0"/>
          </a:p>
          <a:p>
            <a:pPr lvl="1"/>
            <a:r>
              <a:rPr lang="ja-JP" altLang="en-US" sz="1400" dirty="0"/>
              <a:t>合計で </a:t>
            </a:r>
            <a:r>
              <a:rPr lang="en-US" altLang="ja-JP" sz="1400" dirty="0"/>
              <a:t>0x20C00 B</a:t>
            </a:r>
          </a:p>
          <a:p>
            <a:pPr lvl="2"/>
            <a:r>
              <a:rPr lang="en-US" altLang="ja-JP" sz="1400" dirty="0"/>
              <a:t>256 * 4B * 3</a:t>
            </a:r>
            <a:r>
              <a:rPr lang="ja-JP" altLang="en-US" sz="1400" dirty="0"/>
              <a:t>テーブル </a:t>
            </a:r>
            <a:r>
              <a:rPr lang="en-US" altLang="ja-JP" sz="1400" dirty="0"/>
              <a:t>= 0xC00 Byte</a:t>
            </a:r>
          </a:p>
          <a:p>
            <a:pPr lvl="2"/>
            <a:r>
              <a:rPr lang="ja-JP" altLang="en-US" sz="1400" dirty="0"/>
              <a:t>確保されているページは２つ：</a:t>
            </a:r>
            <a:r>
              <a:rPr lang="en-US" altLang="ja-JP" sz="1400" dirty="0"/>
              <a:t>0x10000 Byte * 2 = 0x20000 Byte</a:t>
            </a: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11</a:t>
            </a:fld>
            <a:endParaRPr kumimoji="1" lang="ja-JP" altLang="en-US" dirty="0"/>
          </a:p>
        </p:txBody>
      </p:sp>
    </p:spTree>
    <p:extLst>
      <p:ext uri="{BB962C8B-B14F-4D97-AF65-F5344CB8AC3E}">
        <p14:creationId xmlns:p14="http://schemas.microsoft.com/office/powerpoint/2010/main" val="242774717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A23D73-9346-46BC-902C-56695687FF6F}"/>
              </a:ext>
            </a:extLst>
          </p:cNvPr>
          <p:cNvSpPr>
            <a:spLocks noGrp="1"/>
          </p:cNvSpPr>
          <p:nvPr>
            <p:ph type="title"/>
          </p:nvPr>
        </p:nvSpPr>
        <p:spPr/>
        <p:txBody>
          <a:bodyPr/>
          <a:lstStyle/>
          <a:p>
            <a:r>
              <a:rPr kumimoji="1" lang="ja-JP" altLang="en-US" dirty="0"/>
              <a:t>２段ページ・テーブルの例</a:t>
            </a:r>
          </a:p>
        </p:txBody>
      </p:sp>
      <p:sp>
        <p:nvSpPr>
          <p:cNvPr id="3" name="テキスト プレースホルダー 2">
            <a:extLst>
              <a:ext uri="{FF2B5EF4-FFF2-40B4-BE49-F238E27FC236}">
                <a16:creationId xmlns:a16="http://schemas.microsoft.com/office/drawing/2014/main" id="{9912CB5C-244D-418E-B391-297D77D36F85}"/>
              </a:ext>
            </a:extLst>
          </p:cNvPr>
          <p:cNvSpPr>
            <a:spLocks noGrp="1"/>
          </p:cNvSpPr>
          <p:nvPr>
            <p:ph type="body" sz="quarter" idx="10"/>
          </p:nvPr>
        </p:nvSpPr>
        <p:spPr>
          <a:xfrm>
            <a:off x="2135956" y="5319022"/>
            <a:ext cx="8280092" cy="1439709"/>
          </a:xfrm>
        </p:spPr>
        <p:txBody>
          <a:bodyPr/>
          <a:lstStyle/>
          <a:p>
            <a:pPr lvl="1"/>
            <a:r>
              <a:rPr lang="ja-JP" altLang="en-US" sz="1800" dirty="0"/>
              <a:t>各レベルには </a:t>
            </a:r>
            <a:r>
              <a:rPr lang="en-US" altLang="ja-JP" sz="1800" dirty="0"/>
              <a:t>2^8=256 </a:t>
            </a:r>
            <a:r>
              <a:rPr lang="ja-JP" altLang="en-US" sz="1800" dirty="0"/>
              <a:t>個のポインタを含むテーブルがある</a:t>
            </a:r>
            <a:endParaRPr lang="en-US" altLang="ja-JP" sz="1800" dirty="0"/>
          </a:p>
          <a:p>
            <a:pPr lvl="1"/>
            <a:r>
              <a:rPr lang="en-US" altLang="ja-JP" sz="1800" dirty="0"/>
              <a:t>256 * 4B * 3</a:t>
            </a:r>
            <a:r>
              <a:rPr lang="ja-JP" altLang="en-US" sz="1800" dirty="0"/>
              <a:t>テーブル </a:t>
            </a:r>
            <a:r>
              <a:rPr lang="en-US" altLang="ja-JP" sz="1800" dirty="0"/>
              <a:t>= 0xC00 Byte</a:t>
            </a:r>
          </a:p>
          <a:p>
            <a:pPr lvl="1"/>
            <a:r>
              <a:rPr lang="ja-JP" altLang="en-US" sz="1800" dirty="0"/>
              <a:t>確保されているページは２つ：</a:t>
            </a:r>
            <a:r>
              <a:rPr lang="en-US" altLang="ja-JP" sz="1800" dirty="0"/>
              <a:t>0x10000 Byte * 2 = 0x20000 Byte</a:t>
            </a:r>
            <a:endParaRPr lang="ja-JP" altLang="en-US" sz="1800" dirty="0"/>
          </a:p>
        </p:txBody>
      </p:sp>
      <p:sp>
        <p:nvSpPr>
          <p:cNvPr id="4" name="正方形/長方形 3">
            <a:extLst>
              <a:ext uri="{FF2B5EF4-FFF2-40B4-BE49-F238E27FC236}">
                <a16:creationId xmlns:a16="http://schemas.microsoft.com/office/drawing/2014/main" id="{41F8EEC9-9620-4E9C-9B16-22677D3FA888}"/>
              </a:ext>
            </a:extLst>
          </p:cNvPr>
          <p:cNvSpPr/>
          <p:nvPr/>
        </p:nvSpPr>
        <p:spPr bwMode="auto">
          <a:xfrm>
            <a:off x="6456004" y="1808982"/>
            <a:ext cx="1080012" cy="1440016"/>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8FC2FED3-730B-4DD0-AF3F-11439DD0B8DB}"/>
              </a:ext>
            </a:extLst>
          </p:cNvPr>
          <p:cNvSpPr/>
          <p:nvPr/>
        </p:nvSpPr>
        <p:spPr bwMode="auto">
          <a:xfrm>
            <a:off x="9336036" y="1808982"/>
            <a:ext cx="1080012" cy="3060034"/>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F8E9AEA5-3FB4-455D-9495-C980C57584B6}"/>
              </a:ext>
            </a:extLst>
          </p:cNvPr>
          <p:cNvSpPr/>
          <p:nvPr/>
        </p:nvSpPr>
        <p:spPr bwMode="auto">
          <a:xfrm>
            <a:off x="6456004" y="180898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 name="正方形/長方形 7">
            <a:extLst>
              <a:ext uri="{FF2B5EF4-FFF2-40B4-BE49-F238E27FC236}">
                <a16:creationId xmlns:a16="http://schemas.microsoft.com/office/drawing/2014/main" id="{2582A728-F7F5-4B2F-8E43-305BF7418F28}"/>
              </a:ext>
            </a:extLst>
          </p:cNvPr>
          <p:cNvSpPr/>
          <p:nvPr/>
        </p:nvSpPr>
        <p:spPr bwMode="auto">
          <a:xfrm>
            <a:off x="6456004" y="198898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 name="正方形/長方形 8"/>
          <p:cNvSpPr/>
          <p:nvPr/>
        </p:nvSpPr>
        <p:spPr bwMode="auto">
          <a:xfrm>
            <a:off x="2495960" y="1358978"/>
            <a:ext cx="720008" cy="270003"/>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10" name="直線矢印コネクタ 9"/>
          <p:cNvCxnSpPr/>
          <p:nvPr/>
        </p:nvCxnSpPr>
        <p:spPr bwMode="auto">
          <a:xfrm>
            <a:off x="2495960" y="1268976"/>
            <a:ext cx="288003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p:cNvSpPr/>
          <p:nvPr/>
        </p:nvSpPr>
        <p:spPr bwMode="auto">
          <a:xfrm>
            <a:off x="3575973" y="908972"/>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32 bit </a:t>
            </a:r>
            <a:r>
              <a:rPr lang="ja-JP" altLang="en-US" sz="1600" dirty="0">
                <a:solidFill>
                  <a:schemeClr val="tx1">
                    <a:lumMod val="75000"/>
                    <a:lumOff val="25000"/>
                  </a:schemeClr>
                </a:solidFill>
                <a:latin typeface="+mn-ea"/>
              </a:rPr>
              <a:t>アドレス</a:t>
            </a:r>
          </a:p>
        </p:txBody>
      </p:sp>
      <p:sp>
        <p:nvSpPr>
          <p:cNvPr id="12" name="正方形/長方形 11"/>
          <p:cNvSpPr/>
          <p:nvPr/>
        </p:nvSpPr>
        <p:spPr bwMode="auto">
          <a:xfrm>
            <a:off x="3935977" y="1358978"/>
            <a:ext cx="1440017" cy="270003"/>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Consolas" panose="020B0609020204030204" pitchFamily="49" charset="0"/>
            </a:endParaRPr>
          </a:p>
        </p:txBody>
      </p:sp>
      <p:cxnSp>
        <p:nvCxnSpPr>
          <p:cNvPr id="13" name="直線コネクタ 12"/>
          <p:cNvCxnSpPr>
            <a:cxnSpLocks/>
          </p:cNvCxnSpPr>
          <p:nvPr/>
        </p:nvCxnSpPr>
        <p:spPr bwMode="auto">
          <a:xfrm>
            <a:off x="3935976" y="1718981"/>
            <a:ext cx="1440016" cy="0"/>
          </a:xfrm>
          <a:prstGeom prst="line">
            <a:avLst/>
          </a:prstGeom>
          <a:ln>
            <a:headEnd type="triangle" w="med" len="med"/>
            <a:tailEnd type="triangle" w="med" len="med"/>
          </a:ln>
        </p:spPr>
        <p:style>
          <a:lnRef idx="2">
            <a:schemeClr val="accent3"/>
          </a:lnRef>
          <a:fillRef idx="0">
            <a:schemeClr val="accent3"/>
          </a:fillRef>
          <a:effectRef idx="1">
            <a:schemeClr val="accent3"/>
          </a:effectRef>
          <a:fontRef idx="minor">
            <a:schemeClr val="tx1"/>
          </a:fontRef>
        </p:style>
      </p:cxnSp>
      <p:sp>
        <p:nvSpPr>
          <p:cNvPr id="14" name="正方形/長方形 13"/>
          <p:cNvSpPr/>
          <p:nvPr/>
        </p:nvSpPr>
        <p:spPr bwMode="auto">
          <a:xfrm>
            <a:off x="4295980"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16bit</a:t>
            </a:r>
            <a:endParaRPr lang="ja-JP" altLang="en-US" dirty="0">
              <a:solidFill>
                <a:schemeClr val="tx1">
                  <a:lumMod val="75000"/>
                  <a:lumOff val="25000"/>
                </a:schemeClr>
              </a:solidFill>
              <a:latin typeface="Consolas" panose="020B0609020204030204" pitchFamily="49" charset="0"/>
            </a:endParaRPr>
          </a:p>
        </p:txBody>
      </p:sp>
      <p:cxnSp>
        <p:nvCxnSpPr>
          <p:cNvPr id="18" name="直線コネクタ 17"/>
          <p:cNvCxnSpPr>
            <a:cxnSpLocks/>
          </p:cNvCxnSpPr>
          <p:nvPr/>
        </p:nvCxnSpPr>
        <p:spPr bwMode="auto">
          <a:xfrm>
            <a:off x="2495960" y="1718981"/>
            <a:ext cx="720008" cy="0"/>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9" name="正方形/長方形 18"/>
          <p:cNvSpPr/>
          <p:nvPr/>
        </p:nvSpPr>
        <p:spPr bwMode="auto">
          <a:xfrm>
            <a:off x="2675962"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8bit</a:t>
            </a:r>
            <a:endParaRPr lang="ja-JP" altLang="en-US" dirty="0">
              <a:solidFill>
                <a:schemeClr val="tx1">
                  <a:lumMod val="75000"/>
                  <a:lumOff val="25000"/>
                </a:schemeClr>
              </a:solidFill>
              <a:latin typeface="Consolas" panose="020B0609020204030204" pitchFamily="49" charset="0"/>
            </a:endParaRPr>
          </a:p>
        </p:txBody>
      </p:sp>
      <p:sp>
        <p:nvSpPr>
          <p:cNvPr id="21" name="正方形/長方形 20">
            <a:extLst>
              <a:ext uri="{FF2B5EF4-FFF2-40B4-BE49-F238E27FC236}">
                <a16:creationId xmlns:a16="http://schemas.microsoft.com/office/drawing/2014/main" id="{F8E9AEA5-3FB4-455D-9495-C980C57584B6}"/>
              </a:ext>
            </a:extLst>
          </p:cNvPr>
          <p:cNvSpPr/>
          <p:nvPr/>
        </p:nvSpPr>
        <p:spPr bwMode="auto">
          <a:xfrm>
            <a:off x="6456004" y="2168986"/>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3" name="正方形/長方形 22">
            <a:extLst>
              <a:ext uri="{FF2B5EF4-FFF2-40B4-BE49-F238E27FC236}">
                <a16:creationId xmlns:a16="http://schemas.microsoft.com/office/drawing/2014/main" id="{F8E9AEA5-3FB4-455D-9495-C980C57584B6}"/>
              </a:ext>
            </a:extLst>
          </p:cNvPr>
          <p:cNvSpPr/>
          <p:nvPr/>
        </p:nvSpPr>
        <p:spPr bwMode="auto">
          <a:xfrm>
            <a:off x="6456004" y="2348988"/>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cxnSp>
        <p:nvCxnSpPr>
          <p:cNvPr id="28" name="曲線コネクタ 27"/>
          <p:cNvCxnSpPr>
            <a:stCxn id="6" idx="3"/>
          </p:cNvCxnSpPr>
          <p:nvPr/>
        </p:nvCxnSpPr>
        <p:spPr bwMode="auto">
          <a:xfrm>
            <a:off x="7536016" y="1898984"/>
            <a:ext cx="1800020" cy="270003"/>
          </a:xfrm>
          <a:prstGeom prst="curvedConnector3">
            <a:avLst/>
          </a:prstGeom>
          <a:noFill/>
          <a:ln w="9525" cap="flat" cmpd="sng" algn="ctr">
            <a:solidFill>
              <a:schemeClr val="tx1"/>
            </a:solidFill>
            <a:prstDash val="solid"/>
            <a:round/>
            <a:headEnd type="none" w="med" len="med"/>
            <a:tailEnd type="triangle"/>
          </a:ln>
          <a:effectLst/>
        </p:spPr>
      </p:cxnSp>
      <p:sp>
        <p:nvSpPr>
          <p:cNvPr id="29" name="正方形/長方形 28">
            <a:extLst>
              <a:ext uri="{FF2B5EF4-FFF2-40B4-BE49-F238E27FC236}">
                <a16:creationId xmlns:a16="http://schemas.microsoft.com/office/drawing/2014/main" id="{2582A728-F7F5-4B2F-8E43-305BF7418F28}"/>
              </a:ext>
            </a:extLst>
          </p:cNvPr>
          <p:cNvSpPr/>
          <p:nvPr/>
        </p:nvSpPr>
        <p:spPr bwMode="auto">
          <a:xfrm>
            <a:off x="9336036" y="2168986"/>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64KB</a:t>
            </a:r>
            <a:endParaRPr lang="ja-JP" altLang="en-US" dirty="0">
              <a:solidFill>
                <a:schemeClr val="tx1">
                  <a:lumMod val="75000"/>
                  <a:lumOff val="25000"/>
                </a:schemeClr>
              </a:solidFill>
              <a:latin typeface="+mn-ea"/>
            </a:endParaRPr>
          </a:p>
        </p:txBody>
      </p:sp>
      <p:sp>
        <p:nvSpPr>
          <p:cNvPr id="34" name="正方形/長方形 33">
            <a:extLst>
              <a:ext uri="{FF2B5EF4-FFF2-40B4-BE49-F238E27FC236}">
                <a16:creationId xmlns:a16="http://schemas.microsoft.com/office/drawing/2014/main" id="{2582A728-F7F5-4B2F-8E43-305BF7418F28}"/>
              </a:ext>
            </a:extLst>
          </p:cNvPr>
          <p:cNvSpPr/>
          <p:nvPr/>
        </p:nvSpPr>
        <p:spPr bwMode="auto">
          <a:xfrm>
            <a:off x="9336036" y="4149008"/>
            <a:ext cx="1080012" cy="360004"/>
          </a:xfrm>
          <a:prstGeom prst="rect">
            <a:avLst/>
          </a:prstGeom>
          <a:noFill/>
          <a:ln w="15875">
            <a:solidFill>
              <a:schemeClr val="accent3">
                <a:lumMod val="7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64KB</a:t>
            </a:r>
            <a:endParaRPr lang="ja-JP" altLang="en-US" dirty="0">
              <a:solidFill>
                <a:schemeClr val="tx1">
                  <a:lumMod val="75000"/>
                  <a:lumOff val="25000"/>
                </a:schemeClr>
              </a:solidFill>
              <a:latin typeface="+mn-ea"/>
            </a:endParaRPr>
          </a:p>
        </p:txBody>
      </p:sp>
      <p:cxnSp>
        <p:nvCxnSpPr>
          <p:cNvPr id="35" name="曲線コネクタ 34"/>
          <p:cNvCxnSpPr/>
          <p:nvPr/>
        </p:nvCxnSpPr>
        <p:spPr bwMode="auto">
          <a:xfrm>
            <a:off x="7536016" y="3699004"/>
            <a:ext cx="1800020" cy="450005"/>
          </a:xfrm>
          <a:prstGeom prst="curvedConnector3">
            <a:avLst/>
          </a:prstGeom>
          <a:noFill/>
          <a:ln w="9525" cap="flat" cmpd="sng" algn="ctr">
            <a:solidFill>
              <a:schemeClr val="tx1"/>
            </a:solidFill>
            <a:prstDash val="solid"/>
            <a:round/>
            <a:headEnd type="none" w="med" len="med"/>
            <a:tailEnd type="triangle"/>
          </a:ln>
          <a:effectLst/>
        </p:spPr>
      </p:cxnSp>
      <p:sp>
        <p:nvSpPr>
          <p:cNvPr id="41" name="正方形/長方形 40"/>
          <p:cNvSpPr/>
          <p:nvPr/>
        </p:nvSpPr>
        <p:spPr bwMode="auto">
          <a:xfrm>
            <a:off x="9516039" y="144897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物理メモリ</a:t>
            </a:r>
          </a:p>
        </p:txBody>
      </p:sp>
      <p:sp>
        <p:nvSpPr>
          <p:cNvPr id="42" name="正方形/長方形 41"/>
          <p:cNvSpPr/>
          <p:nvPr/>
        </p:nvSpPr>
        <p:spPr bwMode="auto">
          <a:xfrm>
            <a:off x="6636007" y="144897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LV2</a:t>
            </a:r>
            <a:r>
              <a:rPr lang="ja-JP" altLang="en-US" sz="1600" dirty="0">
                <a:solidFill>
                  <a:schemeClr val="tx1">
                    <a:lumMod val="75000"/>
                    <a:lumOff val="25000"/>
                  </a:schemeClr>
                </a:solidFill>
                <a:latin typeface="+mn-ea"/>
              </a:rPr>
              <a:t>テーブル</a:t>
            </a:r>
          </a:p>
        </p:txBody>
      </p:sp>
      <p:sp>
        <p:nvSpPr>
          <p:cNvPr id="43" name="正方形/長方形 42"/>
          <p:cNvSpPr/>
          <p:nvPr/>
        </p:nvSpPr>
        <p:spPr bwMode="auto">
          <a:xfrm>
            <a:off x="2135956" y="3339000"/>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dirty="0">
                <a:solidFill>
                  <a:schemeClr val="accent5"/>
                </a:solidFill>
                <a:latin typeface="Consolas" panose="020B0609020204030204" pitchFamily="49" charset="0"/>
              </a:rPr>
              <a:t>L2</a:t>
            </a:r>
            <a:r>
              <a:rPr lang="ja-JP" altLang="en-US" dirty="0">
                <a:solidFill>
                  <a:schemeClr val="accent5"/>
                </a:solidFill>
                <a:latin typeface="Consolas" panose="020B0609020204030204" pitchFamily="49" charset="0"/>
              </a:rPr>
              <a:t>テーブルの先頭</a:t>
            </a:r>
            <a:r>
              <a:rPr lang="ja-JP" altLang="en-US" dirty="0">
                <a:solidFill>
                  <a:schemeClr val="tx1">
                    <a:lumMod val="75000"/>
                    <a:lumOff val="25000"/>
                  </a:schemeClr>
                </a:solidFill>
                <a:latin typeface="Consolas" panose="020B0609020204030204" pitchFamily="49" charset="0"/>
              </a:rPr>
              <a:t>を</a:t>
            </a:r>
            <a:endParaRPr lang="en-US" altLang="ja-JP" dirty="0">
              <a:solidFill>
                <a:schemeClr val="tx1">
                  <a:lumMod val="75000"/>
                  <a:lumOff val="25000"/>
                </a:schemeClr>
              </a:solidFill>
              <a:latin typeface="Consolas" panose="020B0609020204030204" pitchFamily="49" charset="0"/>
            </a:endParaRPr>
          </a:p>
          <a:p>
            <a:r>
              <a:rPr lang="ja-JP" altLang="en-US" dirty="0">
                <a:solidFill>
                  <a:schemeClr val="tx1">
                    <a:lumMod val="75000"/>
                    <a:lumOff val="25000"/>
                  </a:schemeClr>
                </a:solidFill>
                <a:latin typeface="Consolas" panose="020B0609020204030204" pitchFamily="49" charset="0"/>
              </a:rPr>
              <a:t>指すポインタが</a:t>
            </a:r>
            <a:endParaRPr lang="en-US" altLang="ja-JP" dirty="0">
              <a:solidFill>
                <a:schemeClr val="tx1">
                  <a:lumMod val="75000"/>
                  <a:lumOff val="25000"/>
                </a:schemeClr>
              </a:solidFill>
              <a:latin typeface="Consolas" panose="020B0609020204030204" pitchFamily="49" charset="0"/>
            </a:endParaRPr>
          </a:p>
          <a:p>
            <a:r>
              <a:rPr lang="en-US" altLang="ja-JP" dirty="0">
                <a:solidFill>
                  <a:schemeClr val="accent5"/>
                </a:solidFill>
                <a:latin typeface="Consolas" panose="020B0609020204030204" pitchFamily="49" charset="0"/>
              </a:rPr>
              <a:t>2^8</a:t>
            </a:r>
            <a:r>
              <a:rPr lang="ja-JP" altLang="en-US" dirty="0">
                <a:solidFill>
                  <a:schemeClr val="tx1">
                    <a:lumMod val="75000"/>
                    <a:lumOff val="25000"/>
                  </a:schemeClr>
                </a:solidFill>
                <a:latin typeface="Consolas" panose="020B0609020204030204" pitchFamily="49" charset="0"/>
              </a:rPr>
              <a:t>個並んでいる</a:t>
            </a:r>
          </a:p>
        </p:txBody>
      </p:sp>
      <p:sp>
        <p:nvSpPr>
          <p:cNvPr id="30" name="正方形/長方形 29"/>
          <p:cNvSpPr/>
          <p:nvPr/>
        </p:nvSpPr>
        <p:spPr bwMode="auto">
          <a:xfrm>
            <a:off x="3215968" y="1358978"/>
            <a:ext cx="720008" cy="270003"/>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33" name="直線コネクタ 32"/>
          <p:cNvCxnSpPr>
            <a:cxnSpLocks/>
          </p:cNvCxnSpPr>
          <p:nvPr/>
        </p:nvCxnSpPr>
        <p:spPr bwMode="auto">
          <a:xfrm>
            <a:off x="3215968" y="1718981"/>
            <a:ext cx="720008" cy="0"/>
          </a:xfrm>
          <a:prstGeom prst="line">
            <a:avLst/>
          </a:prstGeom>
          <a:ln>
            <a:headEnd type="triangle" w="med" len="med"/>
            <a:tailEnd type="triangle" w="med" len="med"/>
          </a:ln>
        </p:spPr>
        <p:style>
          <a:lnRef idx="2">
            <a:schemeClr val="accent4"/>
          </a:lnRef>
          <a:fillRef idx="0">
            <a:schemeClr val="accent4"/>
          </a:fillRef>
          <a:effectRef idx="1">
            <a:schemeClr val="accent4"/>
          </a:effectRef>
          <a:fontRef idx="minor">
            <a:schemeClr val="tx1"/>
          </a:fontRef>
        </p:style>
      </p:cxnSp>
      <p:sp>
        <p:nvSpPr>
          <p:cNvPr id="36" name="正方形/長方形 35"/>
          <p:cNvSpPr/>
          <p:nvPr/>
        </p:nvSpPr>
        <p:spPr bwMode="auto">
          <a:xfrm>
            <a:off x="3305969" y="1718982"/>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rPr>
              <a:t>8bit</a:t>
            </a:r>
            <a:endParaRPr lang="ja-JP" altLang="en-US" dirty="0">
              <a:solidFill>
                <a:schemeClr val="tx1">
                  <a:lumMod val="75000"/>
                  <a:lumOff val="25000"/>
                </a:schemeClr>
              </a:solidFill>
              <a:latin typeface="Consolas" panose="020B0609020204030204" pitchFamily="49" charset="0"/>
            </a:endParaRPr>
          </a:p>
        </p:txBody>
      </p:sp>
      <p:sp>
        <p:nvSpPr>
          <p:cNvPr id="38" name="正方形/長方形 37">
            <a:extLst>
              <a:ext uri="{FF2B5EF4-FFF2-40B4-BE49-F238E27FC236}">
                <a16:creationId xmlns:a16="http://schemas.microsoft.com/office/drawing/2014/main" id="{41F8EEC9-9620-4E9C-9B16-22677D3FA888}"/>
              </a:ext>
            </a:extLst>
          </p:cNvPr>
          <p:cNvSpPr/>
          <p:nvPr/>
        </p:nvSpPr>
        <p:spPr bwMode="auto">
          <a:xfrm>
            <a:off x="4655984" y="2708992"/>
            <a:ext cx="1080012"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9" name="正方形/長方形 38">
            <a:extLst>
              <a:ext uri="{FF2B5EF4-FFF2-40B4-BE49-F238E27FC236}">
                <a16:creationId xmlns:a16="http://schemas.microsoft.com/office/drawing/2014/main" id="{F8E9AEA5-3FB4-455D-9495-C980C57584B6}"/>
              </a:ext>
            </a:extLst>
          </p:cNvPr>
          <p:cNvSpPr/>
          <p:nvPr/>
        </p:nvSpPr>
        <p:spPr bwMode="auto">
          <a:xfrm>
            <a:off x="4655984" y="270899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0" name="正方形/長方形 39">
            <a:extLst>
              <a:ext uri="{FF2B5EF4-FFF2-40B4-BE49-F238E27FC236}">
                <a16:creationId xmlns:a16="http://schemas.microsoft.com/office/drawing/2014/main" id="{2582A728-F7F5-4B2F-8E43-305BF7418F28}"/>
              </a:ext>
            </a:extLst>
          </p:cNvPr>
          <p:cNvSpPr/>
          <p:nvPr/>
        </p:nvSpPr>
        <p:spPr bwMode="auto">
          <a:xfrm>
            <a:off x="4655984" y="288899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4" name="正方形/長方形 43">
            <a:extLst>
              <a:ext uri="{FF2B5EF4-FFF2-40B4-BE49-F238E27FC236}">
                <a16:creationId xmlns:a16="http://schemas.microsoft.com/office/drawing/2014/main" id="{F8E9AEA5-3FB4-455D-9495-C980C57584B6}"/>
              </a:ext>
            </a:extLst>
          </p:cNvPr>
          <p:cNvSpPr/>
          <p:nvPr/>
        </p:nvSpPr>
        <p:spPr bwMode="auto">
          <a:xfrm>
            <a:off x="4655984" y="3068996"/>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5" name="正方形/長方形 44">
            <a:extLst>
              <a:ext uri="{FF2B5EF4-FFF2-40B4-BE49-F238E27FC236}">
                <a16:creationId xmlns:a16="http://schemas.microsoft.com/office/drawing/2014/main" id="{F8E9AEA5-3FB4-455D-9495-C980C57584B6}"/>
              </a:ext>
            </a:extLst>
          </p:cNvPr>
          <p:cNvSpPr/>
          <p:nvPr/>
        </p:nvSpPr>
        <p:spPr bwMode="auto">
          <a:xfrm>
            <a:off x="4655984" y="3248998"/>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cxnSp>
        <p:nvCxnSpPr>
          <p:cNvPr id="46" name="直線コネクタ 45"/>
          <p:cNvCxnSpPr/>
          <p:nvPr/>
        </p:nvCxnSpPr>
        <p:spPr bwMode="auto">
          <a:xfrm flipV="1">
            <a:off x="4475982" y="2708994"/>
            <a:ext cx="0" cy="1440015"/>
          </a:xfrm>
          <a:prstGeom prst="line">
            <a:avLst/>
          </a:prstGeom>
          <a:ln>
            <a:headEnd type="triangl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47" name="正方形/長方形 46"/>
          <p:cNvSpPr/>
          <p:nvPr/>
        </p:nvSpPr>
        <p:spPr bwMode="auto">
          <a:xfrm>
            <a:off x="4835987" y="2348988"/>
            <a:ext cx="720007"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LV1</a:t>
            </a:r>
            <a:r>
              <a:rPr lang="ja-JP" altLang="en-US" sz="1600" dirty="0">
                <a:solidFill>
                  <a:schemeClr val="tx1">
                    <a:lumMod val="75000"/>
                    <a:lumOff val="25000"/>
                  </a:schemeClr>
                </a:solidFill>
                <a:latin typeface="+mn-ea"/>
              </a:rPr>
              <a:t>テーブル</a:t>
            </a:r>
          </a:p>
        </p:txBody>
      </p:sp>
      <p:sp>
        <p:nvSpPr>
          <p:cNvPr id="48" name="正方形/長方形 47">
            <a:extLst>
              <a:ext uri="{FF2B5EF4-FFF2-40B4-BE49-F238E27FC236}">
                <a16:creationId xmlns:a16="http://schemas.microsoft.com/office/drawing/2014/main" id="{41F8EEC9-9620-4E9C-9B16-22677D3FA888}"/>
              </a:ext>
            </a:extLst>
          </p:cNvPr>
          <p:cNvSpPr/>
          <p:nvPr/>
        </p:nvSpPr>
        <p:spPr bwMode="auto">
          <a:xfrm>
            <a:off x="6456004" y="3429000"/>
            <a:ext cx="1080012" cy="1440016"/>
          </a:xfrm>
          <a:prstGeom prst="rect">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9" name="正方形/長方形 48">
            <a:extLst>
              <a:ext uri="{FF2B5EF4-FFF2-40B4-BE49-F238E27FC236}">
                <a16:creationId xmlns:a16="http://schemas.microsoft.com/office/drawing/2014/main" id="{F8E9AEA5-3FB4-455D-9495-C980C57584B6}"/>
              </a:ext>
            </a:extLst>
          </p:cNvPr>
          <p:cNvSpPr/>
          <p:nvPr/>
        </p:nvSpPr>
        <p:spPr bwMode="auto">
          <a:xfrm>
            <a:off x="6456004" y="3429000"/>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0" name="正方形/長方形 49">
            <a:extLst>
              <a:ext uri="{FF2B5EF4-FFF2-40B4-BE49-F238E27FC236}">
                <a16:creationId xmlns:a16="http://schemas.microsoft.com/office/drawing/2014/main" id="{2582A728-F7F5-4B2F-8E43-305BF7418F28}"/>
              </a:ext>
            </a:extLst>
          </p:cNvPr>
          <p:cNvSpPr/>
          <p:nvPr/>
        </p:nvSpPr>
        <p:spPr bwMode="auto">
          <a:xfrm>
            <a:off x="6456004" y="3609002"/>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1" name="正方形/長方形 50">
            <a:extLst>
              <a:ext uri="{FF2B5EF4-FFF2-40B4-BE49-F238E27FC236}">
                <a16:creationId xmlns:a16="http://schemas.microsoft.com/office/drawing/2014/main" id="{F8E9AEA5-3FB4-455D-9495-C980C57584B6}"/>
              </a:ext>
            </a:extLst>
          </p:cNvPr>
          <p:cNvSpPr/>
          <p:nvPr/>
        </p:nvSpPr>
        <p:spPr bwMode="auto">
          <a:xfrm>
            <a:off x="6456004" y="3789004"/>
            <a:ext cx="1080012" cy="180002"/>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2" name="正方形/長方形 51">
            <a:extLst>
              <a:ext uri="{FF2B5EF4-FFF2-40B4-BE49-F238E27FC236}">
                <a16:creationId xmlns:a16="http://schemas.microsoft.com/office/drawing/2014/main" id="{F8E9AEA5-3FB4-455D-9495-C980C57584B6}"/>
              </a:ext>
            </a:extLst>
          </p:cNvPr>
          <p:cNvSpPr/>
          <p:nvPr/>
        </p:nvSpPr>
        <p:spPr bwMode="auto">
          <a:xfrm>
            <a:off x="6456004" y="3969006"/>
            <a:ext cx="1080012" cy="900010"/>
          </a:xfrm>
          <a:prstGeom prst="rect">
            <a:avLst/>
          </a:prstGeom>
          <a:noFill/>
          <a:ln>
            <a:headEnd/>
            <a:tailEnd type="triangle" w="sm" len="med"/>
          </a:ln>
          <a:effectLst/>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75000"/>
                    <a:lumOff val="25000"/>
                  </a:schemeClr>
                </a:solidFill>
                <a:latin typeface="+mn-ea"/>
              </a:rPr>
              <a:t>･･･</a:t>
            </a:r>
          </a:p>
        </p:txBody>
      </p:sp>
      <p:cxnSp>
        <p:nvCxnSpPr>
          <p:cNvPr id="53" name="曲線コネクタ 52"/>
          <p:cNvCxnSpPr/>
          <p:nvPr/>
        </p:nvCxnSpPr>
        <p:spPr bwMode="auto">
          <a:xfrm flipV="1">
            <a:off x="5735996" y="1808982"/>
            <a:ext cx="720008" cy="990000"/>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54" name="曲線コネクタ 53"/>
          <p:cNvCxnSpPr/>
          <p:nvPr/>
        </p:nvCxnSpPr>
        <p:spPr bwMode="auto">
          <a:xfrm>
            <a:off x="5735996" y="3158986"/>
            <a:ext cx="720008" cy="270014"/>
          </a:xfrm>
          <a:prstGeom prst="curvedConnector3">
            <a:avLst>
              <a:gd name="adj1" fmla="val 50000"/>
            </a:avLst>
          </a:prstGeom>
          <a:noFill/>
          <a:ln w="9525" cap="flat" cmpd="sng" algn="ctr">
            <a:solidFill>
              <a:schemeClr val="tx1"/>
            </a:solidFill>
            <a:prstDash val="solid"/>
            <a:round/>
            <a:headEnd type="none" w="med" len="med"/>
            <a:tailEnd type="triangle"/>
          </a:ln>
          <a:effectLst/>
        </p:spPr>
      </p:cxnSp>
      <p:cxnSp>
        <p:nvCxnSpPr>
          <p:cNvPr id="56" name="直線コネクタ 55"/>
          <p:cNvCxnSpPr/>
          <p:nvPr/>
        </p:nvCxnSpPr>
        <p:spPr bwMode="auto">
          <a:xfrm flipV="1">
            <a:off x="6366003" y="3429001"/>
            <a:ext cx="0" cy="1440015"/>
          </a:xfrm>
          <a:prstGeom prst="line">
            <a:avLst/>
          </a:prstGeom>
          <a:ln>
            <a:headEnd type="triangle" w="med" len="med"/>
            <a:tailEnd type="triangle" w="med" len="med"/>
          </a:ln>
        </p:spPr>
        <p:style>
          <a:lnRef idx="2">
            <a:schemeClr val="accent4"/>
          </a:lnRef>
          <a:fillRef idx="0">
            <a:schemeClr val="accent4"/>
          </a:fillRef>
          <a:effectRef idx="1">
            <a:schemeClr val="accent4"/>
          </a:effectRef>
          <a:fontRef idx="minor">
            <a:schemeClr val="tx1"/>
          </a:fontRef>
        </p:style>
      </p:cxnSp>
      <p:sp>
        <p:nvSpPr>
          <p:cNvPr id="59" name="正方形/長方形 58"/>
          <p:cNvSpPr/>
          <p:nvPr/>
        </p:nvSpPr>
        <p:spPr bwMode="auto">
          <a:xfrm>
            <a:off x="4205979" y="4779016"/>
            <a:ext cx="540006" cy="270003"/>
          </a:xfrm>
          <a:prstGeom prst="rect">
            <a:avLst/>
          </a:prstGeom>
          <a:noFill/>
          <a:ln>
            <a:noFill/>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dirty="0">
                <a:solidFill>
                  <a:schemeClr val="accent4"/>
                </a:solidFill>
                <a:latin typeface="Consolas" panose="020B0609020204030204" pitchFamily="49" charset="0"/>
              </a:rPr>
              <a:t>64KB</a:t>
            </a:r>
            <a:r>
              <a:rPr lang="ja-JP" altLang="en-US" dirty="0">
                <a:solidFill>
                  <a:schemeClr val="accent4"/>
                </a:solidFill>
                <a:latin typeface="Consolas" panose="020B0609020204030204" pitchFamily="49" charset="0"/>
              </a:rPr>
              <a:t>ページ</a:t>
            </a:r>
            <a:r>
              <a:rPr lang="ja-JP" altLang="en-US" dirty="0">
                <a:solidFill>
                  <a:schemeClr val="tx1">
                    <a:lumMod val="75000"/>
                    <a:lumOff val="25000"/>
                  </a:schemeClr>
                </a:solidFill>
                <a:latin typeface="Consolas" panose="020B0609020204030204" pitchFamily="49" charset="0"/>
              </a:rPr>
              <a:t>の先頭を</a:t>
            </a:r>
            <a:endParaRPr lang="en-US" altLang="ja-JP" dirty="0">
              <a:solidFill>
                <a:schemeClr val="tx1">
                  <a:lumMod val="75000"/>
                  <a:lumOff val="25000"/>
                </a:schemeClr>
              </a:solidFill>
              <a:latin typeface="Consolas" panose="020B0609020204030204" pitchFamily="49" charset="0"/>
            </a:endParaRPr>
          </a:p>
          <a:p>
            <a:r>
              <a:rPr lang="ja-JP" altLang="en-US" dirty="0">
                <a:solidFill>
                  <a:schemeClr val="tx1">
                    <a:lumMod val="75000"/>
                    <a:lumOff val="25000"/>
                  </a:schemeClr>
                </a:solidFill>
                <a:latin typeface="Consolas" panose="020B0609020204030204" pitchFamily="49" charset="0"/>
              </a:rPr>
              <a:t>指すポインタが</a:t>
            </a:r>
            <a:endParaRPr lang="en-US" altLang="ja-JP" dirty="0">
              <a:solidFill>
                <a:schemeClr val="tx1">
                  <a:lumMod val="75000"/>
                  <a:lumOff val="25000"/>
                </a:schemeClr>
              </a:solidFill>
              <a:latin typeface="Consolas" panose="020B0609020204030204" pitchFamily="49" charset="0"/>
            </a:endParaRPr>
          </a:p>
          <a:p>
            <a:r>
              <a:rPr lang="en-US" altLang="ja-JP" dirty="0">
                <a:solidFill>
                  <a:schemeClr val="accent4"/>
                </a:solidFill>
                <a:latin typeface="Consolas" panose="020B0609020204030204" pitchFamily="49" charset="0"/>
              </a:rPr>
              <a:t>2^8</a:t>
            </a:r>
            <a:r>
              <a:rPr lang="ja-JP" altLang="en-US" dirty="0">
                <a:solidFill>
                  <a:schemeClr val="tx1">
                    <a:lumMod val="75000"/>
                    <a:lumOff val="25000"/>
                  </a:schemeClr>
                </a:solidFill>
                <a:latin typeface="Consolas" panose="020B0609020204030204" pitchFamily="49" charset="0"/>
              </a:rPr>
              <a:t>個並んでいる</a:t>
            </a:r>
          </a:p>
        </p:txBody>
      </p:sp>
    </p:spTree>
    <p:extLst>
      <p:ext uri="{BB962C8B-B14F-4D97-AF65-F5344CB8AC3E}">
        <p14:creationId xmlns:p14="http://schemas.microsoft.com/office/powerpoint/2010/main" val="22550841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7F5D9BB-F552-E6CC-3F80-89ACDD28A5F9}"/>
              </a:ext>
            </a:extLst>
          </p:cNvPr>
          <p:cNvSpPr>
            <a:spLocks noGrp="1"/>
          </p:cNvSpPr>
          <p:nvPr>
            <p:ph type="title"/>
          </p:nvPr>
        </p:nvSpPr>
        <p:spPr/>
        <p:txBody>
          <a:bodyPr/>
          <a:lstStyle/>
          <a:p>
            <a:r>
              <a:rPr kumimoji="1" lang="ja-JP" altLang="en-US" dirty="0"/>
              <a:t>期末試験について</a:t>
            </a:r>
            <a:endParaRPr kumimoji="1" lang="en-US" dirty="0"/>
          </a:p>
        </p:txBody>
      </p:sp>
      <p:sp>
        <p:nvSpPr>
          <p:cNvPr id="3" name="コンテンツ プレースホルダー 2">
            <a:extLst>
              <a:ext uri="{FF2B5EF4-FFF2-40B4-BE49-F238E27FC236}">
                <a16:creationId xmlns:a16="http://schemas.microsoft.com/office/drawing/2014/main" id="{706D32AD-9B0A-0A63-C827-702CA262A2BA}"/>
              </a:ext>
            </a:extLst>
          </p:cNvPr>
          <p:cNvSpPr>
            <a:spLocks noGrp="1"/>
          </p:cNvSpPr>
          <p:nvPr>
            <p:ph type="body" sz="quarter" idx="10"/>
          </p:nvPr>
        </p:nvSpPr>
        <p:spPr/>
        <p:txBody>
          <a:bodyPr/>
          <a:lstStyle/>
          <a:p>
            <a:r>
              <a:rPr lang="en-US" dirty="0"/>
              <a:t>8/</a:t>
            </a:r>
            <a:r>
              <a:rPr lang="en-US" altLang="ja-JP" dirty="0"/>
              <a:t>4</a:t>
            </a:r>
            <a:r>
              <a:rPr lang="en-US" dirty="0"/>
              <a:t> (</a:t>
            </a:r>
            <a:r>
              <a:rPr lang="ja-JP" altLang="en-US" dirty="0"/>
              <a:t>火</a:t>
            </a:r>
            <a:r>
              <a:rPr lang="en-US" altLang="ja-JP" dirty="0"/>
              <a:t>)</a:t>
            </a:r>
            <a:r>
              <a:rPr kumimoji="1" lang="en-US" dirty="0"/>
              <a:t> </a:t>
            </a:r>
            <a:r>
              <a:rPr kumimoji="1" lang="ja-JP" altLang="en-US" dirty="0"/>
              <a:t>にいつもの講義の時間にここで実施</a:t>
            </a:r>
            <a:endParaRPr lang="en-US" altLang="ja-JP" dirty="0"/>
          </a:p>
          <a:p>
            <a:r>
              <a:rPr kumimoji="1" lang="en-US" altLang="ja-JP" b="1" dirty="0">
                <a:solidFill>
                  <a:schemeClr val="accent5"/>
                </a:solidFill>
              </a:rPr>
              <a:t>A4</a:t>
            </a:r>
            <a:r>
              <a:rPr kumimoji="1" lang="ja-JP" altLang="en-US" b="1" dirty="0">
                <a:solidFill>
                  <a:schemeClr val="accent5"/>
                </a:solidFill>
              </a:rPr>
              <a:t>用紙</a:t>
            </a:r>
            <a:r>
              <a:rPr kumimoji="1" lang="en-US" altLang="ja-JP" b="1" dirty="0">
                <a:solidFill>
                  <a:schemeClr val="accent5"/>
                </a:solidFill>
              </a:rPr>
              <a:t> </a:t>
            </a:r>
            <a:r>
              <a:rPr kumimoji="1" lang="ja-JP" altLang="en-US" b="1" dirty="0">
                <a:solidFill>
                  <a:schemeClr val="accent5"/>
                </a:solidFill>
              </a:rPr>
              <a:t>１枚手書きのみの持ち込み可</a:t>
            </a:r>
            <a:endParaRPr kumimoji="1" lang="en-US" altLang="ja-JP" b="1" dirty="0">
              <a:solidFill>
                <a:schemeClr val="accent5"/>
              </a:solidFill>
            </a:endParaRPr>
          </a:p>
          <a:p>
            <a:pPr lvl="1"/>
            <a:r>
              <a:rPr kumimoji="1" lang="ja-JP" altLang="en-US" dirty="0"/>
              <a:t>裏表双方へ書き込み可</a:t>
            </a:r>
            <a:endParaRPr kumimoji="1" lang="en-US" altLang="ja-JP" dirty="0"/>
          </a:p>
          <a:p>
            <a:pPr lvl="1"/>
            <a:r>
              <a:rPr kumimoji="1" lang="ja-JP" altLang="en-US" dirty="0"/>
              <a:t>必ず</a:t>
            </a:r>
            <a:r>
              <a:rPr kumimoji="1" lang="ja-JP" altLang="en-US" dirty="0">
                <a:solidFill>
                  <a:schemeClr val="accent5"/>
                </a:solidFill>
              </a:rPr>
              <a:t>全部完全に手書き</a:t>
            </a:r>
            <a:r>
              <a:rPr kumimoji="1" lang="ja-JP" altLang="en-US" dirty="0"/>
              <a:t>にしてください</a:t>
            </a:r>
            <a:endParaRPr kumimoji="1" lang="en-US" altLang="ja-JP" dirty="0"/>
          </a:p>
          <a:p>
            <a:pPr lvl="2"/>
            <a:r>
              <a:rPr lang="ja-JP" altLang="en-US" dirty="0"/>
              <a:t>印刷したものを一部貼り付けるなどは没収します</a:t>
            </a:r>
            <a:endParaRPr lang="en-US" altLang="ja-JP" dirty="0"/>
          </a:p>
          <a:p>
            <a:r>
              <a:rPr kumimoji="1" lang="ja-JP" altLang="en-US" dirty="0"/>
              <a:t>基本的に課題で出した部分を中心に出題する予定</a:t>
            </a:r>
            <a:endParaRPr kumimoji="1" lang="en-US" altLang="ja-JP" dirty="0"/>
          </a:p>
          <a:p>
            <a:pPr lvl="1"/>
            <a:r>
              <a:rPr kumimoji="1" lang="ja-JP" altLang="en-US" dirty="0"/>
              <a:t>練習問題と課題を中心に勉強しておいてください</a:t>
            </a:r>
            <a:endParaRPr kumimoji="1" lang="en-US" dirty="0"/>
          </a:p>
        </p:txBody>
      </p:sp>
    </p:spTree>
    <p:extLst>
      <p:ext uri="{BB962C8B-B14F-4D97-AF65-F5344CB8AC3E}">
        <p14:creationId xmlns:p14="http://schemas.microsoft.com/office/powerpoint/2010/main" val="2489441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D99487-BD68-0E1F-5636-0E712E91BE06}"/>
              </a:ext>
            </a:extLst>
          </p:cNvPr>
          <p:cNvSpPr>
            <a:spLocks noGrp="1"/>
          </p:cNvSpPr>
          <p:nvPr>
            <p:ph type="title"/>
          </p:nvPr>
        </p:nvSpPr>
        <p:spPr/>
        <p:txBody>
          <a:bodyPr/>
          <a:lstStyle/>
          <a:p>
            <a:r>
              <a:rPr kumimoji="1" lang="ja-JP" altLang="en-US" dirty="0"/>
              <a:t>補足</a:t>
            </a:r>
            <a:endParaRPr kumimoji="1" lang="en-US" dirty="0"/>
          </a:p>
        </p:txBody>
      </p:sp>
      <p:sp>
        <p:nvSpPr>
          <p:cNvPr id="3" name="コンテンツ プレースホルダー 2">
            <a:extLst>
              <a:ext uri="{FF2B5EF4-FFF2-40B4-BE49-F238E27FC236}">
                <a16:creationId xmlns:a16="http://schemas.microsoft.com/office/drawing/2014/main" id="{0336E523-C862-8D5F-5619-86A648614558}"/>
              </a:ext>
            </a:extLst>
          </p:cNvPr>
          <p:cNvSpPr>
            <a:spLocks noGrp="1"/>
          </p:cNvSpPr>
          <p:nvPr>
            <p:ph type="body" sz="quarter" idx="10"/>
          </p:nvPr>
        </p:nvSpPr>
        <p:spPr/>
        <p:txBody>
          <a:bodyPr/>
          <a:lstStyle/>
          <a:p>
            <a:r>
              <a:rPr kumimoji="1" lang="ja-JP" altLang="en-US" dirty="0"/>
              <a:t>質問がある場合は，遠慮無くメールで聞いて下さい</a:t>
            </a:r>
            <a:endParaRPr kumimoji="1" lang="en-US" altLang="ja-JP" dirty="0"/>
          </a:p>
          <a:p>
            <a:pPr lvl="1"/>
            <a:r>
              <a:rPr kumimoji="1" lang="ja-JP" altLang="en-US" dirty="0"/>
              <a:t>できるだけこの時間中に聞いて貰えるとよいです</a:t>
            </a:r>
            <a:endParaRPr kumimoji="1" lang="en-US" altLang="ja-JP" dirty="0"/>
          </a:p>
          <a:p>
            <a:r>
              <a:rPr kumimoji="1" lang="ja-JP" altLang="en-US" dirty="0"/>
              <a:t>今日も感想をかけるようにしています</a:t>
            </a:r>
            <a:endParaRPr kumimoji="1" lang="en-US" altLang="ja-JP" dirty="0"/>
          </a:p>
          <a:p>
            <a:pPr lvl="1"/>
            <a:r>
              <a:rPr kumimoji="1" lang="ja-JP" altLang="en-US" dirty="0"/>
              <a:t>しかし，今日は別に必須ではないですし，特に加点もしないです</a:t>
            </a:r>
            <a:endParaRPr kumimoji="1" lang="en-US" altLang="ja-JP" dirty="0"/>
          </a:p>
          <a:p>
            <a:pPr lvl="1"/>
            <a:r>
              <a:rPr kumimoji="1" lang="ja-JP" altLang="en-US" dirty="0"/>
              <a:t>今後の要望等，なんでも書いてもらえれば参考になります</a:t>
            </a:r>
            <a:endParaRPr kumimoji="1" lang="en-US" altLang="ja-JP" dirty="0"/>
          </a:p>
        </p:txBody>
      </p:sp>
    </p:spTree>
    <p:extLst>
      <p:ext uri="{BB962C8B-B14F-4D97-AF65-F5344CB8AC3E}">
        <p14:creationId xmlns:p14="http://schemas.microsoft.com/office/powerpoint/2010/main" val="32597853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709E12B7-1370-3346-B4E8-7093BA1662C1}"/>
              </a:ext>
            </a:extLst>
          </p:cNvPr>
          <p:cNvSpPr>
            <a:spLocks noGrp="1"/>
          </p:cNvSpPr>
          <p:nvPr>
            <p:ph type="title"/>
          </p:nvPr>
        </p:nvSpPr>
        <p:spPr/>
        <p:txBody>
          <a:bodyPr/>
          <a:lstStyle/>
          <a:p>
            <a:r>
              <a:rPr kumimoji="1" lang="ja-JP" altLang="en-US" dirty="0"/>
              <a:t>質問とか感想</a:t>
            </a:r>
            <a:endParaRPr lang="en-US" dirty="0"/>
          </a:p>
        </p:txBody>
      </p:sp>
    </p:spTree>
    <p:extLst>
      <p:ext uri="{BB962C8B-B14F-4D97-AF65-F5344CB8AC3E}">
        <p14:creationId xmlns:p14="http://schemas.microsoft.com/office/powerpoint/2010/main" val="11543452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A8EBBD-6456-B940-EE50-E6057DAEC093}"/>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46C96F0D-39A0-7B53-A71E-67DF1A3CBE56}"/>
              </a:ext>
            </a:extLst>
          </p:cNvPr>
          <p:cNvSpPr>
            <a:spLocks noGrp="1"/>
          </p:cNvSpPr>
          <p:nvPr>
            <p:ph type="body" sz="quarter" idx="10"/>
          </p:nvPr>
        </p:nvSpPr>
        <p:spPr>
          <a:xfrm>
            <a:off x="2135956" y="1088974"/>
            <a:ext cx="7920088" cy="5220058"/>
          </a:xfrm>
        </p:spPr>
        <p:txBody>
          <a:bodyPr/>
          <a:lstStyle/>
          <a:p>
            <a:r>
              <a:rPr lang="ja-JP" altLang="en-US" dirty="0"/>
              <a:t>質問：持ち込み用紙はカラフルなペンを使って書いても良いですか？（黒ボールペンのみなどの指定があるかないか伺いたいです。）</a:t>
            </a:r>
            <a:endParaRPr lang="en-US" altLang="ja-JP" dirty="0"/>
          </a:p>
          <a:p>
            <a:pPr lvl="1"/>
            <a:endParaRPr lang="en-US" dirty="0"/>
          </a:p>
          <a:p>
            <a:pPr lvl="1"/>
            <a:r>
              <a:rPr lang="ja-JP" altLang="en-US" dirty="0"/>
              <a:t>手書きなら何色でも </a:t>
            </a:r>
            <a:r>
              <a:rPr lang="en-US" altLang="ja-JP" dirty="0"/>
              <a:t>OK </a:t>
            </a:r>
            <a:r>
              <a:rPr lang="ja-JP" altLang="en-US" dirty="0"/>
              <a:t>です</a:t>
            </a:r>
            <a:endParaRPr lang="en-US" dirty="0"/>
          </a:p>
        </p:txBody>
      </p:sp>
    </p:spTree>
    <p:extLst>
      <p:ext uri="{BB962C8B-B14F-4D97-AF65-F5344CB8AC3E}">
        <p14:creationId xmlns:p14="http://schemas.microsoft.com/office/powerpoint/2010/main" val="22239331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A8EBBD-6456-B940-EE50-E6057DAEC093}"/>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46C96F0D-39A0-7B53-A71E-67DF1A3CBE56}"/>
              </a:ext>
            </a:extLst>
          </p:cNvPr>
          <p:cNvSpPr>
            <a:spLocks noGrp="1"/>
          </p:cNvSpPr>
          <p:nvPr>
            <p:ph type="body" sz="quarter" idx="10"/>
          </p:nvPr>
        </p:nvSpPr>
        <p:spPr>
          <a:xfrm>
            <a:off x="2135956" y="1088974"/>
            <a:ext cx="7920088" cy="5220058"/>
          </a:xfrm>
        </p:spPr>
        <p:txBody>
          <a:bodyPr/>
          <a:lstStyle/>
          <a:p>
            <a:r>
              <a:rPr lang="ja-JP" altLang="en-US" dirty="0"/>
              <a:t>毎回の課題の復習と</a:t>
            </a:r>
            <a:r>
              <a:rPr lang="en-US" altLang="ja-JP" dirty="0"/>
              <a:t>exercise</a:t>
            </a:r>
            <a:r>
              <a:rPr lang="ja-JP" altLang="en-US" dirty="0"/>
              <a:t>を完璧にしたとして、何点取れるテストなのでしょうか。</a:t>
            </a:r>
            <a:endParaRPr lang="en-US" dirty="0"/>
          </a:p>
        </p:txBody>
      </p:sp>
    </p:spTree>
    <p:extLst>
      <p:ext uri="{BB962C8B-B14F-4D97-AF65-F5344CB8AC3E}">
        <p14:creationId xmlns:p14="http://schemas.microsoft.com/office/powerpoint/2010/main" val="11730821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DD6F2-3675-AB69-13DA-A848C7ADCA5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A44D7C6-8C90-22E7-756F-2122A51CCEF7}"/>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F9497A0F-0FCC-2E3E-B2F6-3FED94156464}"/>
              </a:ext>
            </a:extLst>
          </p:cNvPr>
          <p:cNvSpPr>
            <a:spLocks noGrp="1"/>
          </p:cNvSpPr>
          <p:nvPr>
            <p:ph type="body" sz="quarter" idx="10"/>
          </p:nvPr>
        </p:nvSpPr>
        <p:spPr>
          <a:xfrm>
            <a:off x="2135956" y="1088974"/>
            <a:ext cx="7920088" cy="5220058"/>
          </a:xfrm>
        </p:spPr>
        <p:txBody>
          <a:bodyPr/>
          <a:lstStyle/>
          <a:p>
            <a:r>
              <a:rPr lang="ja-JP" altLang="en-US" dirty="0"/>
              <a:t>資料</a:t>
            </a:r>
            <a:r>
              <a:rPr lang="en-US" altLang="ja-JP" dirty="0"/>
              <a:t>p.38</a:t>
            </a:r>
            <a:r>
              <a:rPr lang="ja-JP" altLang="en-US" dirty="0"/>
              <a:t>に「物理メモリへのポインタは</a:t>
            </a:r>
            <a:r>
              <a:rPr lang="en-US" altLang="ja-JP" dirty="0"/>
              <a:t>4B</a:t>
            </a:r>
            <a:r>
              <a:rPr lang="ja-JP" altLang="en-US" dirty="0"/>
              <a:t>単位なので</a:t>
            </a:r>
            <a:r>
              <a:rPr lang="en-US" altLang="ja-JP" dirty="0"/>
              <a:t>…</a:t>
            </a:r>
            <a:r>
              <a:rPr lang="ja-JP" altLang="en-US" dirty="0"/>
              <a:t>」とありますが、なぜですか？</a:t>
            </a:r>
            <a:r>
              <a:rPr lang="en-US" altLang="ja-JP" dirty="0"/>
              <a:t>(</a:t>
            </a:r>
            <a:r>
              <a:rPr lang="ja-JP" altLang="en-US" dirty="0"/>
              <a:t>なぜページテーブルの番号は</a:t>
            </a:r>
            <a:r>
              <a:rPr lang="en-US" altLang="ja-JP" dirty="0"/>
              <a:t>4</a:t>
            </a:r>
            <a:r>
              <a:rPr lang="ja-JP" altLang="en-US" dirty="0"/>
              <a:t>個飛びになってるんですか</a:t>
            </a:r>
            <a:r>
              <a:rPr lang="en-US" altLang="ja-JP" dirty="0"/>
              <a:t>)</a:t>
            </a:r>
            <a:endParaRPr lang="en-US" dirty="0"/>
          </a:p>
        </p:txBody>
      </p:sp>
    </p:spTree>
    <p:extLst>
      <p:ext uri="{BB962C8B-B14F-4D97-AF65-F5344CB8AC3E}">
        <p14:creationId xmlns:p14="http://schemas.microsoft.com/office/powerpoint/2010/main" val="959066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9168A-6835-C161-BCB0-1E6FA64F7F5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D08EDC7-0CF5-A56E-7E6E-31CC406B508A}"/>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929B8395-83AE-CAE4-AFCB-5A2638BFCCC0}"/>
              </a:ext>
            </a:extLst>
          </p:cNvPr>
          <p:cNvSpPr>
            <a:spLocks noGrp="1"/>
          </p:cNvSpPr>
          <p:nvPr>
            <p:ph type="body" sz="quarter" idx="10"/>
          </p:nvPr>
        </p:nvSpPr>
        <p:spPr>
          <a:xfrm>
            <a:off x="2135956" y="1088974"/>
            <a:ext cx="7920088" cy="5220058"/>
          </a:xfrm>
        </p:spPr>
        <p:txBody>
          <a:bodyPr/>
          <a:lstStyle/>
          <a:p>
            <a:r>
              <a:rPr lang="ja-JP" altLang="en-US" dirty="0"/>
              <a:t>なぜ多段ページテーブルの</a:t>
            </a:r>
            <a:r>
              <a:rPr lang="en-US" altLang="ja-JP" dirty="0"/>
              <a:t>LV1</a:t>
            </a:r>
            <a:r>
              <a:rPr lang="ja-JP" altLang="en-US" dirty="0"/>
              <a:t>と</a:t>
            </a:r>
            <a:r>
              <a:rPr lang="en-US" altLang="ja-JP" dirty="0"/>
              <a:t>LV2</a:t>
            </a:r>
            <a:r>
              <a:rPr lang="ja-JP" altLang="en-US" dirty="0"/>
              <a:t>で使用されるアドレスのビット幅は等しいのか</a:t>
            </a:r>
            <a:endParaRPr lang="en-US" dirty="0"/>
          </a:p>
        </p:txBody>
      </p:sp>
    </p:spTree>
    <p:extLst>
      <p:ext uri="{BB962C8B-B14F-4D97-AF65-F5344CB8AC3E}">
        <p14:creationId xmlns:p14="http://schemas.microsoft.com/office/powerpoint/2010/main" val="396176418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C5A94-2766-E992-1F7B-3CB481F27FA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840142C-6A99-E0F1-5EC3-397D31E9A0E9}"/>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8719B223-2C66-4FE6-7668-9F100E8207A2}"/>
              </a:ext>
            </a:extLst>
          </p:cNvPr>
          <p:cNvSpPr>
            <a:spLocks noGrp="1"/>
          </p:cNvSpPr>
          <p:nvPr>
            <p:ph type="body" sz="quarter" idx="10"/>
          </p:nvPr>
        </p:nvSpPr>
        <p:spPr>
          <a:xfrm>
            <a:off x="2135956" y="1088974"/>
            <a:ext cx="7920088" cy="5220058"/>
          </a:xfrm>
        </p:spPr>
        <p:txBody>
          <a:bodyPr/>
          <a:lstStyle/>
          <a:p>
            <a:r>
              <a:rPr lang="ja-JP" altLang="en-US" dirty="0"/>
              <a:t>今回の課題みたいな問題は結構パズルみたいな感じです解いてて楽しいです</a:t>
            </a:r>
            <a:r>
              <a:rPr lang="en-US" altLang="ja-JP" dirty="0"/>
              <a:t>(</a:t>
            </a:r>
            <a:r>
              <a:rPr lang="ja-JP" altLang="en-US" dirty="0"/>
              <a:t>・∀・</a:t>
            </a:r>
            <a:r>
              <a:rPr lang="en-US" altLang="ja-JP" dirty="0"/>
              <a:t>)</a:t>
            </a:r>
            <a:endParaRPr lang="en-US" dirty="0"/>
          </a:p>
        </p:txBody>
      </p:sp>
    </p:spTree>
    <p:extLst>
      <p:ext uri="{BB962C8B-B14F-4D97-AF65-F5344CB8AC3E}">
        <p14:creationId xmlns:p14="http://schemas.microsoft.com/office/powerpoint/2010/main" val="35895295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A3FAE-0225-142A-75E6-85545028B9E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EE4F6C8-43F2-E005-DBAA-AB9FF796B3D4}"/>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760FE086-FF38-89F9-F332-0E1F17909580}"/>
              </a:ext>
            </a:extLst>
          </p:cNvPr>
          <p:cNvSpPr>
            <a:spLocks noGrp="1"/>
          </p:cNvSpPr>
          <p:nvPr>
            <p:ph type="body" sz="quarter" idx="10"/>
          </p:nvPr>
        </p:nvSpPr>
        <p:spPr>
          <a:xfrm>
            <a:off x="2135956" y="1088974"/>
            <a:ext cx="7920088" cy="5220058"/>
          </a:xfrm>
        </p:spPr>
        <p:txBody>
          <a:bodyPr/>
          <a:lstStyle/>
          <a:p>
            <a:r>
              <a:rPr lang="ja-JP" altLang="en-US" dirty="0"/>
              <a:t>ところで、最近音響関連に謎にハマりました。人間いつ何にハマるかわからないですね。音響でいうと真空管を使うと温かみのある音になるのですが、「お、そういえばアーキテクチャで真空管やったな」と思い出して懐かしくなりました。</a:t>
            </a:r>
            <a:endParaRPr lang="en-US" dirty="0"/>
          </a:p>
        </p:txBody>
      </p:sp>
    </p:spTree>
    <p:extLst>
      <p:ext uri="{BB962C8B-B14F-4D97-AF65-F5344CB8AC3E}">
        <p14:creationId xmlns:p14="http://schemas.microsoft.com/office/powerpoint/2010/main" val="3234242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2E3CB-25B5-0896-5D84-AA42EDE9C26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7A4F6D3-C151-CAB3-C118-9939877762BE}"/>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BBBA3E29-BB3E-033C-D2F4-4B54434452C8}"/>
              </a:ext>
            </a:extLst>
          </p:cNvPr>
          <p:cNvSpPr>
            <a:spLocks noGrp="1"/>
          </p:cNvSpPr>
          <p:nvPr>
            <p:ph type="body" sz="quarter" idx="10"/>
          </p:nvPr>
        </p:nvSpPr>
        <p:spPr>
          <a:xfrm>
            <a:off x="2135956" y="1088974"/>
            <a:ext cx="7920088" cy="5220058"/>
          </a:xfrm>
        </p:spPr>
        <p:txBody>
          <a:bodyPr/>
          <a:lstStyle/>
          <a:p>
            <a:r>
              <a:rPr lang="ja-JP" altLang="en-US" dirty="0"/>
              <a:t>私の最近のこの分野におけるモチベはこれ「</a:t>
            </a:r>
            <a:r>
              <a:rPr lang="en-US" altLang="ja-JP" dirty="0" err="1"/>
              <a:t>Dr.Storn</a:t>
            </a:r>
            <a:r>
              <a:rPr lang="ja-JP" altLang="en-US" dirty="0"/>
              <a:t>」です。割と授業でやったコンピュータの歴史云々の話が出てきてめちゃくちゃ楽しいです。おすすめ。マシン語を直で扱うバケモンが出てくるのですが、先生もそうだったりします？？？</a:t>
            </a:r>
            <a:endParaRPr lang="en-US" dirty="0"/>
          </a:p>
        </p:txBody>
      </p:sp>
    </p:spTree>
    <p:extLst>
      <p:ext uri="{BB962C8B-B14F-4D97-AF65-F5344CB8AC3E}">
        <p14:creationId xmlns:p14="http://schemas.microsoft.com/office/powerpoint/2010/main" val="13436223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6DB0B-14C8-82A6-B36F-6332FDDC887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4C16ABF-78F5-D47F-127D-02E4B860552F}"/>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BB44DA13-71E0-C7A4-9493-63BCD6BC7F23}"/>
              </a:ext>
            </a:extLst>
          </p:cNvPr>
          <p:cNvSpPr>
            <a:spLocks noGrp="1"/>
          </p:cNvSpPr>
          <p:nvPr>
            <p:ph type="body" sz="quarter" idx="10"/>
          </p:nvPr>
        </p:nvSpPr>
        <p:spPr>
          <a:xfrm>
            <a:off x="2135956" y="1088974"/>
            <a:ext cx="7920088" cy="5220058"/>
          </a:xfrm>
        </p:spPr>
        <p:txBody>
          <a:bodyPr/>
          <a:lstStyle/>
          <a:p>
            <a:r>
              <a:rPr lang="ja-JP" altLang="en-US" dirty="0"/>
              <a:t>課題をやっている時、</a:t>
            </a:r>
            <a:r>
              <a:rPr lang="en-US" altLang="ja-JP" dirty="0"/>
              <a:t>2</a:t>
            </a:r>
            <a:r>
              <a:rPr lang="ja-JP" altLang="en-US" dirty="0"/>
              <a:t>回に</a:t>
            </a:r>
            <a:r>
              <a:rPr lang="en-US" altLang="ja-JP" dirty="0"/>
              <a:t>1</a:t>
            </a:r>
            <a:r>
              <a:rPr lang="ja-JP" altLang="en-US" dirty="0"/>
              <a:t>回くらい「こんなの授業でやった？！？！」となり苦戦しています。前回</a:t>
            </a:r>
            <a:r>
              <a:rPr lang="en-US" altLang="ja-JP" dirty="0"/>
              <a:t>(</a:t>
            </a:r>
            <a:r>
              <a:rPr lang="ja-JP" altLang="en-US" dirty="0"/>
              <a:t>タグ</a:t>
            </a:r>
            <a:r>
              <a:rPr lang="en-US" altLang="ja-JP" dirty="0"/>
              <a:t>)</a:t>
            </a:r>
            <a:r>
              <a:rPr lang="ja-JP" altLang="en-US" dirty="0"/>
              <a:t>の課題でも全く見当違いな回答をしてしまいました。課題の正誤自体は、直接成績に影響しないと分かってはいても、自分のできなさに焦ります。次の週での解説を聞けば、何をやっていたのか理解でき、課題の問題も解けるようになるのですが、若干解法の暗記になってしまってる感が否めず、テストが不安です</a:t>
            </a:r>
            <a:endParaRPr lang="en-US" dirty="0"/>
          </a:p>
        </p:txBody>
      </p:sp>
    </p:spTree>
    <p:extLst>
      <p:ext uri="{BB962C8B-B14F-4D97-AF65-F5344CB8AC3E}">
        <p14:creationId xmlns:p14="http://schemas.microsoft.com/office/powerpoint/2010/main" val="10653682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13878-7CED-FE7E-6CEF-DFC8FB21FFE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5C3C2B4-46AF-636F-0BF7-93CC438A29C6}"/>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89F7441A-AC22-075D-E191-6845BD72EF37}"/>
              </a:ext>
            </a:extLst>
          </p:cNvPr>
          <p:cNvSpPr>
            <a:spLocks noGrp="1"/>
          </p:cNvSpPr>
          <p:nvPr>
            <p:ph type="body" sz="quarter" idx="10"/>
          </p:nvPr>
        </p:nvSpPr>
        <p:spPr>
          <a:xfrm>
            <a:off x="2135956" y="1088974"/>
            <a:ext cx="7920088" cy="5220058"/>
          </a:xfrm>
        </p:spPr>
        <p:txBody>
          <a:bodyPr/>
          <a:lstStyle/>
          <a:p>
            <a:r>
              <a:rPr lang="ja-JP" altLang="en-US" dirty="0"/>
              <a:t>仮想アドレス等、一つのビット長を持つものを二つ以上のもので分割する際、どっちの長さに何が依存しているかわからなくなります、、、、</a:t>
            </a:r>
            <a:endParaRPr lang="en-US" dirty="0"/>
          </a:p>
        </p:txBody>
      </p:sp>
    </p:spTree>
    <p:extLst>
      <p:ext uri="{BB962C8B-B14F-4D97-AF65-F5344CB8AC3E}">
        <p14:creationId xmlns:p14="http://schemas.microsoft.com/office/powerpoint/2010/main" val="35118474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9D7F9-9ED5-2D49-3662-ADEC836C66D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9D17ABB-4958-F313-7659-6DAD61CFE3FF}"/>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5401D760-AE8E-34AF-1935-3E868ACCCFD7}"/>
              </a:ext>
            </a:extLst>
          </p:cNvPr>
          <p:cNvSpPr>
            <a:spLocks noGrp="1"/>
          </p:cNvSpPr>
          <p:nvPr>
            <p:ph type="body" sz="quarter" idx="10"/>
          </p:nvPr>
        </p:nvSpPr>
        <p:spPr>
          <a:xfrm>
            <a:off x="2135956" y="1088974"/>
            <a:ext cx="7920088" cy="5220058"/>
          </a:xfrm>
        </p:spPr>
        <p:txBody>
          <a:bodyPr/>
          <a:lstStyle/>
          <a:p>
            <a:r>
              <a:rPr lang="ja-JP" altLang="en-US" dirty="0"/>
              <a:t>持ち込み</a:t>
            </a:r>
            <a:r>
              <a:rPr lang="en-US" altLang="ja-JP" dirty="0"/>
              <a:t>OK</a:t>
            </a:r>
            <a:r>
              <a:rPr lang="ja-JP" altLang="en-US" dirty="0"/>
              <a:t>のテストが初めてなのですがメモするコツなどはありますか。</a:t>
            </a:r>
            <a:endParaRPr lang="en-US" dirty="0"/>
          </a:p>
        </p:txBody>
      </p:sp>
    </p:spTree>
    <p:extLst>
      <p:ext uri="{BB962C8B-B14F-4D97-AF65-F5344CB8AC3E}">
        <p14:creationId xmlns:p14="http://schemas.microsoft.com/office/powerpoint/2010/main" val="8827670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49F46-6743-312A-CB91-5D9737E4747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C00EE58-809F-12E1-5E5B-C95AE178BA7A}"/>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450F670B-2E98-9385-86E7-E9DB7DF72022}"/>
              </a:ext>
            </a:extLst>
          </p:cNvPr>
          <p:cNvSpPr>
            <a:spLocks noGrp="1"/>
          </p:cNvSpPr>
          <p:nvPr>
            <p:ph type="body" sz="quarter" idx="10"/>
          </p:nvPr>
        </p:nvSpPr>
        <p:spPr>
          <a:xfrm>
            <a:off x="2135956" y="1088974"/>
            <a:ext cx="7920088" cy="5220058"/>
          </a:xfrm>
        </p:spPr>
        <p:txBody>
          <a:bodyPr/>
          <a:lstStyle/>
          <a:p>
            <a:r>
              <a:rPr lang="ja-JP" altLang="en-US" dirty="0"/>
              <a:t>システムプログラミング演習でシステムコールをたくさん使っていますが、その処理の流れを知れて面白かったです。</a:t>
            </a:r>
            <a:endParaRPr lang="en-US" dirty="0"/>
          </a:p>
        </p:txBody>
      </p:sp>
    </p:spTree>
    <p:extLst>
      <p:ext uri="{BB962C8B-B14F-4D97-AF65-F5344CB8AC3E}">
        <p14:creationId xmlns:p14="http://schemas.microsoft.com/office/powerpoint/2010/main" val="2213369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3FCAA-8D26-5BA3-02E6-76F5D782789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4196616-C183-29F1-D6F9-5853AA445BE7}"/>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70036BB8-417D-3126-20B0-D8BB739C24EB}"/>
              </a:ext>
            </a:extLst>
          </p:cNvPr>
          <p:cNvSpPr>
            <a:spLocks noGrp="1"/>
          </p:cNvSpPr>
          <p:nvPr>
            <p:ph type="body" sz="quarter" idx="10"/>
          </p:nvPr>
        </p:nvSpPr>
        <p:spPr>
          <a:xfrm>
            <a:off x="2135956" y="1088974"/>
            <a:ext cx="7920088" cy="5220058"/>
          </a:xfrm>
        </p:spPr>
        <p:txBody>
          <a:bodyPr/>
          <a:lstStyle/>
          <a:p>
            <a:r>
              <a:rPr lang="ja-JP" altLang="en-US" dirty="0"/>
              <a:t>どういう時にヒットしてそれが空間的局所性なのか時間的局所性なのかがわからなかったのでもう一度どういう時にヒットをするのか教えていただきたいです。</a:t>
            </a:r>
            <a:endParaRPr lang="en-US" dirty="0"/>
          </a:p>
        </p:txBody>
      </p:sp>
    </p:spTree>
    <p:extLst>
      <p:ext uri="{BB962C8B-B14F-4D97-AF65-F5344CB8AC3E}">
        <p14:creationId xmlns:p14="http://schemas.microsoft.com/office/powerpoint/2010/main" val="313356385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5BEF53-E9F6-B04B-A3CF-C6D8362660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AE75E19-60F2-E37D-CBC0-6F882AA66587}"/>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0E853C13-6CE6-3926-8137-FF66891A2BDF}"/>
              </a:ext>
            </a:extLst>
          </p:cNvPr>
          <p:cNvSpPr>
            <a:spLocks noGrp="1"/>
          </p:cNvSpPr>
          <p:nvPr>
            <p:ph type="body" sz="quarter" idx="10"/>
          </p:nvPr>
        </p:nvSpPr>
        <p:spPr>
          <a:xfrm>
            <a:off x="2135956" y="1088974"/>
            <a:ext cx="7920088" cy="5220058"/>
          </a:xfrm>
        </p:spPr>
        <p:txBody>
          <a:bodyPr/>
          <a:lstStyle/>
          <a:p>
            <a:r>
              <a:rPr lang="ja-JP" altLang="en-US" dirty="0"/>
              <a:t>今回の質問はページテーブルとページそのものの容量の部分がわからなかったのでそれぞれの違いを教えて欲しいです。また、ページサイズとどのような関係があるのかももう一度説明していただきたいです。</a:t>
            </a:r>
            <a:endParaRPr lang="en-US" dirty="0"/>
          </a:p>
        </p:txBody>
      </p:sp>
    </p:spTree>
    <p:extLst>
      <p:ext uri="{BB962C8B-B14F-4D97-AF65-F5344CB8AC3E}">
        <p14:creationId xmlns:p14="http://schemas.microsoft.com/office/powerpoint/2010/main" val="10666245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094D7E-346E-5D3C-A16F-91C43664884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5237C3C-8229-381A-D364-838C4C35F827}"/>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0309C42D-2B71-9EEF-3938-FDD32B30085B}"/>
              </a:ext>
            </a:extLst>
          </p:cNvPr>
          <p:cNvSpPr>
            <a:spLocks noGrp="1"/>
          </p:cNvSpPr>
          <p:nvPr>
            <p:ph type="body" sz="quarter" idx="10"/>
          </p:nvPr>
        </p:nvSpPr>
        <p:spPr>
          <a:xfrm>
            <a:off x="2135956" y="1088974"/>
            <a:ext cx="7920088" cy="5220058"/>
          </a:xfrm>
        </p:spPr>
        <p:txBody>
          <a:bodyPr/>
          <a:lstStyle/>
          <a:p>
            <a:r>
              <a:rPr lang="ja-JP" altLang="en-US" dirty="0"/>
              <a:t>別の授業で、プロセスをいくつか作って作業を分担し、まるで一つのプロセスで動いているようにプログラミングを作ったことを思い出しました。その際も「あたかも～のように見せかける」という言葉を聞いたので、プログラミングにおいて言語関係なくこのような考え方は重要なのかなと思いました。</a:t>
            </a:r>
            <a:endParaRPr lang="en-US" dirty="0"/>
          </a:p>
        </p:txBody>
      </p:sp>
    </p:spTree>
    <p:extLst>
      <p:ext uri="{BB962C8B-B14F-4D97-AF65-F5344CB8AC3E}">
        <p14:creationId xmlns:p14="http://schemas.microsoft.com/office/powerpoint/2010/main" val="14016023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8B4984-B0D9-21D1-FDDF-F6DBE479B78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8BF5AD2-684C-DF86-6D7C-332547E160AB}"/>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BD543B68-2DE4-D087-AC84-FF4D19C715C1}"/>
              </a:ext>
            </a:extLst>
          </p:cNvPr>
          <p:cNvSpPr>
            <a:spLocks noGrp="1"/>
          </p:cNvSpPr>
          <p:nvPr>
            <p:ph type="body" sz="quarter" idx="10"/>
          </p:nvPr>
        </p:nvSpPr>
        <p:spPr>
          <a:xfrm>
            <a:off x="2135956" y="1088974"/>
            <a:ext cx="7920088" cy="5220058"/>
          </a:xfrm>
        </p:spPr>
        <p:txBody>
          <a:bodyPr/>
          <a:lstStyle/>
          <a:p>
            <a:r>
              <a:rPr lang="ja-JP" altLang="en-US" dirty="0"/>
              <a:t>授業で英語の勉強の話をしていたと思うのですが、理系の専門用語などはどうやって勉強しましたか？</a:t>
            </a:r>
            <a:endParaRPr lang="en-US" dirty="0"/>
          </a:p>
        </p:txBody>
      </p:sp>
    </p:spTree>
    <p:extLst>
      <p:ext uri="{BB962C8B-B14F-4D97-AF65-F5344CB8AC3E}">
        <p14:creationId xmlns:p14="http://schemas.microsoft.com/office/powerpoint/2010/main" val="11615119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ACD26-C57E-FBD5-2340-160E386A5BB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8458B4A-0937-BE7C-1DB9-64753D44AC49}"/>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5A779800-E8A7-543E-5E51-F609978D7D79}"/>
              </a:ext>
            </a:extLst>
          </p:cNvPr>
          <p:cNvSpPr>
            <a:spLocks noGrp="1"/>
          </p:cNvSpPr>
          <p:nvPr>
            <p:ph type="body" sz="quarter" idx="10"/>
          </p:nvPr>
        </p:nvSpPr>
        <p:spPr>
          <a:xfrm>
            <a:off x="2135956" y="1088974"/>
            <a:ext cx="7920088" cy="5220058"/>
          </a:xfrm>
        </p:spPr>
        <p:txBody>
          <a:bodyPr/>
          <a:lstStyle/>
          <a:p>
            <a:r>
              <a:rPr lang="ja-JP" altLang="en-US" dirty="0"/>
              <a:t>留学したいのですが、そもそも単元名の英語を知らなかったり（微積など）して厳しいなと思っています。</a:t>
            </a:r>
            <a:endParaRPr lang="en-US" dirty="0"/>
          </a:p>
        </p:txBody>
      </p:sp>
    </p:spTree>
    <p:extLst>
      <p:ext uri="{BB962C8B-B14F-4D97-AF65-F5344CB8AC3E}">
        <p14:creationId xmlns:p14="http://schemas.microsoft.com/office/powerpoint/2010/main" val="10180291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CEE3D-C55C-B35E-EEB2-8754D16FBDA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747E6B7-642A-8418-B11D-533E6839C0CE}"/>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2976BC92-2AFD-CF1E-AE33-8C3F98A756C6}"/>
              </a:ext>
            </a:extLst>
          </p:cNvPr>
          <p:cNvSpPr>
            <a:spLocks noGrp="1"/>
          </p:cNvSpPr>
          <p:nvPr>
            <p:ph type="body" sz="quarter" idx="10"/>
          </p:nvPr>
        </p:nvSpPr>
        <p:spPr>
          <a:xfrm>
            <a:off x="2135956" y="1088974"/>
            <a:ext cx="7920088" cy="5220058"/>
          </a:xfrm>
        </p:spPr>
        <p:txBody>
          <a:bodyPr/>
          <a:lstStyle/>
          <a:p>
            <a:r>
              <a:rPr lang="ja-JP" altLang="en-US" dirty="0"/>
              <a:t>テストが心配です。毎週の課題ができるレベルだったらどのくらい得点取れますか？？</a:t>
            </a:r>
            <a:endParaRPr lang="en-US" dirty="0"/>
          </a:p>
        </p:txBody>
      </p:sp>
    </p:spTree>
    <p:extLst>
      <p:ext uri="{BB962C8B-B14F-4D97-AF65-F5344CB8AC3E}">
        <p14:creationId xmlns:p14="http://schemas.microsoft.com/office/powerpoint/2010/main" val="17876512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168874-333A-B4BF-547A-0F3943026CE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619F215-BDE4-3970-890B-26AA8D401E72}"/>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3D229C7D-B1CF-EB11-4F54-D7DA29FD97FA}"/>
              </a:ext>
            </a:extLst>
          </p:cNvPr>
          <p:cNvSpPr>
            <a:spLocks noGrp="1"/>
          </p:cNvSpPr>
          <p:nvPr>
            <p:ph type="body" sz="quarter" idx="10"/>
          </p:nvPr>
        </p:nvSpPr>
        <p:spPr>
          <a:xfrm>
            <a:off x="2135956" y="1088974"/>
            <a:ext cx="7920088" cy="5220058"/>
          </a:xfrm>
        </p:spPr>
        <p:txBody>
          <a:bodyPr/>
          <a:lstStyle/>
          <a:p>
            <a:r>
              <a:rPr lang="ja-JP" altLang="en-US" dirty="0"/>
              <a:t>前回の課題が本当にわからず頓珍漢な回答を提出した記憶があるのですが、回答の完成度はどれほど成績に反映されるのでしょうか？頑張っている様子が伺えれば大抵は高評価をつけると仰っていたとは思いますが、それでも不安です。</a:t>
            </a:r>
            <a:endParaRPr lang="en-US" dirty="0"/>
          </a:p>
        </p:txBody>
      </p:sp>
    </p:spTree>
    <p:extLst>
      <p:ext uri="{BB962C8B-B14F-4D97-AF65-F5344CB8AC3E}">
        <p14:creationId xmlns:p14="http://schemas.microsoft.com/office/powerpoint/2010/main" val="13952180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A8CE1-8AF0-B6FB-FBDE-0209C193D95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5145F54-50F6-849D-3B06-5A63AD58473E}"/>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5B2BD02B-2778-317A-22C9-F85301127A99}"/>
              </a:ext>
            </a:extLst>
          </p:cNvPr>
          <p:cNvSpPr>
            <a:spLocks noGrp="1"/>
          </p:cNvSpPr>
          <p:nvPr>
            <p:ph type="body" sz="quarter" idx="10"/>
          </p:nvPr>
        </p:nvSpPr>
        <p:spPr>
          <a:xfrm>
            <a:off x="2135956" y="1088974"/>
            <a:ext cx="7920088" cy="5220058"/>
          </a:xfrm>
        </p:spPr>
        <p:txBody>
          <a:bodyPr/>
          <a:lstStyle/>
          <a:p>
            <a:r>
              <a:rPr lang="ja-JP" altLang="en-US" dirty="0"/>
              <a:t>「アドレスのサイズ」はアドレス空間のサイズから求められるのですか？関係がよくつかめません。</a:t>
            </a:r>
            <a:endParaRPr lang="en-US" dirty="0"/>
          </a:p>
        </p:txBody>
      </p:sp>
    </p:spTree>
    <p:extLst>
      <p:ext uri="{BB962C8B-B14F-4D97-AF65-F5344CB8AC3E}">
        <p14:creationId xmlns:p14="http://schemas.microsoft.com/office/powerpoint/2010/main" val="42250416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A2945-17B2-3AD7-8F98-24D9798E4A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0F195D9-2405-C919-2D94-FB081382FF63}"/>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1F00F03D-7375-1331-75BB-645C54E97783}"/>
              </a:ext>
            </a:extLst>
          </p:cNvPr>
          <p:cNvSpPr>
            <a:spLocks noGrp="1"/>
          </p:cNvSpPr>
          <p:nvPr>
            <p:ph type="body" sz="quarter" idx="10"/>
          </p:nvPr>
        </p:nvSpPr>
        <p:spPr>
          <a:xfrm>
            <a:off x="2135956" y="1088974"/>
            <a:ext cx="7920088" cy="5220058"/>
          </a:xfrm>
        </p:spPr>
        <p:txBody>
          <a:bodyPr/>
          <a:lstStyle/>
          <a:p>
            <a:r>
              <a:rPr lang="ja-JP" altLang="en-US" dirty="0"/>
              <a:t>一点疑問に感じたのは、</a:t>
            </a:r>
            <a:r>
              <a:rPr lang="en-US" altLang="ja-JP" dirty="0"/>
              <a:t>TLB</a:t>
            </a:r>
            <a:r>
              <a:rPr lang="ja-JP" altLang="en-US" dirty="0"/>
              <a:t>でミスが発生してページ・テーブル・ウォークを行う際、多段化が進むほどメモリアクセスのオーバーヘッドが大きくなる点だ。プロセスの切り替え頻度が高い環境において、この遅延はどの程度パフォーマンスに影響を与えるのだろうか。</a:t>
            </a:r>
            <a:endParaRPr lang="en-US" dirty="0"/>
          </a:p>
        </p:txBody>
      </p:sp>
    </p:spTree>
    <p:extLst>
      <p:ext uri="{BB962C8B-B14F-4D97-AF65-F5344CB8AC3E}">
        <p14:creationId xmlns:p14="http://schemas.microsoft.com/office/powerpoint/2010/main" val="23987474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8209F-0E0B-606B-BE22-F71CDD76F20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F7F896F-CF43-87FC-5706-AC9B8B946D2C}"/>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BCFF00CC-C500-E35E-4985-9C00DAC7FB96}"/>
              </a:ext>
            </a:extLst>
          </p:cNvPr>
          <p:cNvSpPr>
            <a:spLocks noGrp="1"/>
          </p:cNvSpPr>
          <p:nvPr>
            <p:ph type="body" sz="quarter" idx="10"/>
          </p:nvPr>
        </p:nvSpPr>
        <p:spPr>
          <a:xfrm>
            <a:off x="2135956" y="1088974"/>
            <a:ext cx="7920088" cy="5220058"/>
          </a:xfrm>
        </p:spPr>
        <p:txBody>
          <a:bodyPr/>
          <a:lstStyle/>
          <a:p>
            <a:r>
              <a:rPr lang="ja-JP" altLang="en-US" dirty="0"/>
              <a:t>今回の説明ではアスキーアート猫ちゃんたちがたくさん会話していて和みました。しかし内容はかなり和めない難易度なのでがんばります。</a:t>
            </a:r>
            <a:endParaRPr lang="en-US" dirty="0"/>
          </a:p>
        </p:txBody>
      </p:sp>
    </p:spTree>
    <p:extLst>
      <p:ext uri="{BB962C8B-B14F-4D97-AF65-F5344CB8AC3E}">
        <p14:creationId xmlns:p14="http://schemas.microsoft.com/office/powerpoint/2010/main" val="38571752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7B7B3-CC1B-7FD9-3B4B-EC2AD459AD7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D4951D6-4BC8-E02E-2052-FBF58E2232B0}"/>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BCFE0E37-BB9E-7E1F-ADC0-B46BA855FDEE}"/>
              </a:ext>
            </a:extLst>
          </p:cNvPr>
          <p:cNvSpPr>
            <a:spLocks noGrp="1"/>
          </p:cNvSpPr>
          <p:nvPr>
            <p:ph type="body" sz="quarter" idx="10"/>
          </p:nvPr>
        </p:nvSpPr>
        <p:spPr>
          <a:xfrm>
            <a:off x="2135956" y="1088974"/>
            <a:ext cx="7920088" cy="5220058"/>
          </a:xfrm>
        </p:spPr>
        <p:txBody>
          <a:bodyPr/>
          <a:lstStyle/>
          <a:p>
            <a:r>
              <a:rPr lang="ja-JP" altLang="en-US" dirty="0"/>
              <a:t>仮想メモリのところで、社長さんが間違えることはないと言えるのかしら？と思ってしまいました。</a:t>
            </a:r>
            <a:endParaRPr lang="en-US" dirty="0"/>
          </a:p>
        </p:txBody>
      </p:sp>
    </p:spTree>
    <p:extLst>
      <p:ext uri="{BB962C8B-B14F-4D97-AF65-F5344CB8AC3E}">
        <p14:creationId xmlns:p14="http://schemas.microsoft.com/office/powerpoint/2010/main" val="99596451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A8EBBD-6456-B940-EE50-E6057DAEC093}"/>
              </a:ext>
            </a:extLst>
          </p:cNvPr>
          <p:cNvSpPr>
            <a:spLocks noGrp="1"/>
          </p:cNvSpPr>
          <p:nvPr>
            <p:ph type="title"/>
          </p:nvPr>
        </p:nvSpPr>
        <p:spPr>
          <a:xfrm>
            <a:off x="2135956" y="0"/>
            <a:ext cx="8532044" cy="908972"/>
          </a:xfrm>
        </p:spPr>
        <p:txBody>
          <a:bodyPr/>
          <a:lstStyle/>
          <a:p>
            <a:r>
              <a:rPr lang="ja-JP" altLang="en-US" dirty="0"/>
              <a:t>質問とか感想</a:t>
            </a:r>
            <a:endParaRPr lang="en-US" dirty="0"/>
          </a:p>
        </p:txBody>
      </p:sp>
      <p:sp>
        <p:nvSpPr>
          <p:cNvPr id="3" name="コンテンツ プレースホルダー 2">
            <a:extLst>
              <a:ext uri="{FF2B5EF4-FFF2-40B4-BE49-F238E27FC236}">
                <a16:creationId xmlns:a16="http://schemas.microsoft.com/office/drawing/2014/main" id="{46C96F0D-39A0-7B53-A71E-67DF1A3CBE56}"/>
              </a:ext>
            </a:extLst>
          </p:cNvPr>
          <p:cNvSpPr>
            <a:spLocks noGrp="1"/>
          </p:cNvSpPr>
          <p:nvPr>
            <p:ph type="body" sz="quarter" idx="10"/>
          </p:nvPr>
        </p:nvSpPr>
        <p:spPr>
          <a:xfrm>
            <a:off x="2135956" y="1988984"/>
            <a:ext cx="7920088" cy="2520028"/>
          </a:xfrm>
        </p:spPr>
        <p:txBody>
          <a:bodyPr/>
          <a:lstStyle/>
          <a:p>
            <a:pPr marL="1080000" lvl="3" indent="0">
              <a:buNone/>
            </a:pPr>
            <a:r>
              <a:rPr lang="en-US" altLang="ja-JP" b="0" i="0" dirty="0">
                <a:solidFill>
                  <a:srgbClr val="000000"/>
                </a:solidFill>
                <a:effectLst/>
                <a:latin typeface="Meiryo" panose="020B0604030504040204" pitchFamily="50" charset="-128"/>
                <a:ea typeface="Meiryo" panose="020B0604030504040204" pitchFamily="50" charset="-128"/>
              </a:rPr>
              <a:t>		</a:t>
            </a:r>
            <a:r>
              <a:rPr lang="ja-JP" altLang="en-US" b="0" i="0" dirty="0">
                <a:solidFill>
                  <a:srgbClr val="000000"/>
                </a:solidFill>
                <a:effectLst/>
                <a:latin typeface="Meiryo" panose="020B0604030504040204" pitchFamily="50" charset="-128"/>
                <a:ea typeface="Meiryo" panose="020B0604030504040204" pitchFamily="50" charset="-128"/>
              </a:rPr>
              <a:t>一学期間おつかれさまでした</a:t>
            </a:r>
            <a:br>
              <a:rPr lang="en-US" altLang="ja-JP" b="0" i="0" dirty="0">
                <a:solidFill>
                  <a:srgbClr val="000000"/>
                </a:solidFill>
                <a:effectLst/>
                <a:latin typeface="Meiryo" panose="020B0604030504040204" pitchFamily="50" charset="-128"/>
                <a:ea typeface="Meiryo" panose="020B0604030504040204" pitchFamily="50" charset="-128"/>
              </a:rPr>
            </a:br>
            <a:r>
              <a:rPr lang="en-US" altLang="ja-JP" b="0" i="0" dirty="0">
                <a:solidFill>
                  <a:srgbClr val="000000"/>
                </a:solidFill>
                <a:effectLst/>
                <a:latin typeface="Meiryo" panose="020B0604030504040204" pitchFamily="50" charset="-128"/>
                <a:ea typeface="Meiryo" panose="020B0604030504040204" pitchFamily="50" charset="-128"/>
              </a:rPr>
              <a:t>		</a:t>
            </a:r>
            <a:r>
              <a:rPr lang="ja-JP" altLang="en-US" b="0" i="0" dirty="0">
                <a:solidFill>
                  <a:srgbClr val="000000"/>
                </a:solidFill>
                <a:effectLst/>
                <a:latin typeface="Meiryo" panose="020B0604030504040204" pitchFamily="50" charset="-128"/>
                <a:ea typeface="Meiryo" panose="020B0604030504040204" pitchFamily="50" charset="-128"/>
              </a:rPr>
              <a:t>テストがんばってください</a:t>
            </a:r>
            <a:endParaRPr lang="en-US" altLang="ja-JP" b="0" i="0" dirty="0">
              <a:solidFill>
                <a:srgbClr val="000000"/>
              </a:solidFill>
              <a:effectLst/>
              <a:latin typeface="Meiryo" panose="020B0604030504040204" pitchFamily="50" charset="-128"/>
              <a:ea typeface="Meiryo" panose="020B0604030504040204" pitchFamily="50" charset="-128"/>
            </a:endParaRPr>
          </a:p>
          <a:p>
            <a:endParaRPr lang="en-US" dirty="0">
              <a:solidFill>
                <a:srgbClr val="000000"/>
              </a:solidFill>
              <a:latin typeface="Meiryo" panose="020B0604030504040204" pitchFamily="50" charset="-128"/>
              <a:ea typeface="Meiryo" panose="020B0604030504040204" pitchFamily="50" charset="-128"/>
            </a:endParaRPr>
          </a:p>
        </p:txBody>
      </p:sp>
      <p:sp>
        <p:nvSpPr>
          <p:cNvPr id="4" name="正方形/長方形 3">
            <a:extLst>
              <a:ext uri="{FF2B5EF4-FFF2-40B4-BE49-F238E27FC236}">
                <a16:creationId xmlns:a16="http://schemas.microsoft.com/office/drawing/2014/main" id="{BEF6E61C-D39D-D2AE-20A4-0DDBE01D30E7}"/>
              </a:ext>
            </a:extLst>
          </p:cNvPr>
          <p:cNvSpPr/>
          <p:nvPr/>
        </p:nvSpPr>
        <p:spPr>
          <a:xfrm>
            <a:off x="3215968" y="3879005"/>
            <a:ext cx="1345240"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ｵﾂｶﾚｰ</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 name="正方形/長方形 4">
            <a:extLst>
              <a:ext uri="{FF2B5EF4-FFF2-40B4-BE49-F238E27FC236}">
                <a16:creationId xmlns:a16="http://schemas.microsoft.com/office/drawing/2014/main" id="{BF9881AD-21CB-364F-EA9B-9CF70A1392E6}"/>
              </a:ext>
            </a:extLst>
          </p:cNvPr>
          <p:cNvSpPr/>
          <p:nvPr/>
        </p:nvSpPr>
        <p:spPr>
          <a:xfrm>
            <a:off x="4655984" y="3879005"/>
            <a:ext cx="1255472"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ﾏﾀﾈ</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6" name="正方形/長方形 5">
            <a:extLst>
              <a:ext uri="{FF2B5EF4-FFF2-40B4-BE49-F238E27FC236}">
                <a16:creationId xmlns:a16="http://schemas.microsoft.com/office/drawing/2014/main" id="{A5AB8729-CCFA-F03B-A727-4DDC6BE4202A}"/>
              </a:ext>
            </a:extLst>
          </p:cNvPr>
          <p:cNvSpPr/>
          <p:nvPr/>
        </p:nvSpPr>
        <p:spPr>
          <a:xfrm>
            <a:off x="6096000" y="3879005"/>
            <a:ext cx="1361270" cy="738664"/>
          </a:xfrm>
          <a:prstGeom prst="rect">
            <a:avLst/>
          </a:prstGeom>
        </p:spPr>
        <p:txBody>
          <a:bodyPr wrap="non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ｶﾞﾝﾊﾞｯﾃ</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 name="正方形/長方形 6">
            <a:extLst>
              <a:ext uri="{FF2B5EF4-FFF2-40B4-BE49-F238E27FC236}">
                <a16:creationId xmlns:a16="http://schemas.microsoft.com/office/drawing/2014/main" id="{8AE12378-1AF0-6392-12F9-D33C8FFF8AD3}"/>
              </a:ext>
            </a:extLst>
          </p:cNvPr>
          <p:cNvSpPr/>
          <p:nvPr/>
        </p:nvSpPr>
        <p:spPr>
          <a:xfrm>
            <a:off x="7626017" y="3879005"/>
            <a:ext cx="1383712"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ﾊﾞｲﾊﾞｲ</a:t>
            </a:r>
            <a:endPar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Tree>
    <p:extLst>
      <p:ext uri="{BB962C8B-B14F-4D97-AF65-F5344CB8AC3E}">
        <p14:creationId xmlns:p14="http://schemas.microsoft.com/office/powerpoint/2010/main" val="4936697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FIRSTFOOOFO@ELLEIXSFUVW0Y5HA" val="4663"/>
</p:tagLst>
</file>

<file path=ppt/theme/theme1.xml><?xml version="1.0" encoding="utf-8"?>
<a:theme xmlns:a="http://schemas.openxmlformats.org/drawingml/2006/main" name="cerulean">
  <a:themeElements>
    <a:clrScheme name="ユーザー定義 1">
      <a:dk1>
        <a:sysClr val="windowText" lastClr="000000"/>
      </a:dk1>
      <a:lt1>
        <a:sysClr val="window" lastClr="FFFFFF"/>
      </a:lt1>
      <a:dk2>
        <a:srgbClr val="F4EB00"/>
      </a:dk2>
      <a:lt2>
        <a:srgbClr val="C4FF4A"/>
      </a:lt2>
      <a:accent1>
        <a:srgbClr val="4F81BD"/>
      </a:accent1>
      <a:accent2>
        <a:srgbClr val="C0504D"/>
      </a:accent2>
      <a:accent3>
        <a:srgbClr val="9BBB59"/>
      </a:accent3>
      <a:accent4>
        <a:srgbClr val="5C6994"/>
      </a:accent4>
      <a:accent5>
        <a:srgbClr val="328FAC"/>
      </a:accent5>
      <a:accent6>
        <a:srgbClr val="D87552"/>
      </a:accent6>
      <a:hlink>
        <a:srgbClr val="0000FF"/>
      </a:hlink>
      <a:folHlink>
        <a:srgbClr val="800080"/>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cai-shioya-10</Template>
  <TotalTime>0</TotalTime>
  <Words>2180</Words>
  <Application>Microsoft Office PowerPoint</Application>
  <PresentationFormat>ワイド画面</PresentationFormat>
  <Paragraphs>228</Paragraphs>
  <Slides>38</Slides>
  <Notes>0</Notes>
  <HiddenSlides>0</HiddenSlides>
  <MMClips>0</MMClips>
  <ScaleCrop>false</ScaleCrop>
  <HeadingPairs>
    <vt:vector size="6" baseType="variant">
      <vt:variant>
        <vt:lpstr>使用されているフォント</vt:lpstr>
      </vt:variant>
      <vt:variant>
        <vt:i4>10</vt:i4>
      </vt:variant>
      <vt:variant>
        <vt:lpstr>テーマ</vt:lpstr>
      </vt:variant>
      <vt:variant>
        <vt:i4>1</vt:i4>
      </vt:variant>
      <vt:variant>
        <vt:lpstr>スライド タイトル</vt:lpstr>
      </vt:variant>
      <vt:variant>
        <vt:i4>38</vt:i4>
      </vt:variant>
    </vt:vector>
  </HeadingPairs>
  <TitlesOfParts>
    <vt:vector size="49" baseType="lpstr">
      <vt:lpstr>HG丸ｺﾞｼｯｸM-PRO</vt:lpstr>
      <vt:lpstr>MeiryoKe_PGothic</vt:lpstr>
      <vt:lpstr>ＭＳ Ｐゴシック</vt:lpstr>
      <vt:lpstr>メイリオ</vt:lpstr>
      <vt:lpstr>メイリオ</vt:lpstr>
      <vt:lpstr>游ゴシック</vt:lpstr>
      <vt:lpstr>Calibri</vt:lpstr>
      <vt:lpstr>Consolas</vt:lpstr>
      <vt:lpstr>Segoe UI</vt:lpstr>
      <vt:lpstr>Wingdings</vt:lpstr>
      <vt:lpstr>cerulean</vt:lpstr>
      <vt:lpstr>塩谷 亮太 (shioya@ci.i.u-tokyo.ac.jp) 東京大学大学院情報理工学系研究科 創造情報学専攻</vt:lpstr>
      <vt:lpstr>課題の解説</vt:lpstr>
      <vt:lpstr>課題 １１</vt:lpstr>
      <vt:lpstr>課題 １１</vt:lpstr>
      <vt:lpstr>仮想メモリと物理メモリの対応</vt:lpstr>
      <vt:lpstr>仮想メモリと物理メモリの対応</vt:lpstr>
      <vt:lpstr>単段ページ・テーブルの動作</vt:lpstr>
      <vt:lpstr>単段ページ・テーブルの動作</vt:lpstr>
      <vt:lpstr>課題 １１</vt:lpstr>
      <vt:lpstr>課題 １１</vt:lpstr>
      <vt:lpstr>課題 １１</vt:lpstr>
      <vt:lpstr>２段ページ・テーブルの例</vt:lpstr>
      <vt:lpstr>期末試験について</vt:lpstr>
      <vt:lpstr>補足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2023-04-04T03:22:42Z</dcterms:created>
  <dcterms:modified xsi:type="dcterms:W3CDTF">2026-07-28T05:13:55Z</dcterms:modified>
</cp:coreProperties>
</file>