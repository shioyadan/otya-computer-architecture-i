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4" r:id="rId1"/>
  </p:sldMasterIdLst>
  <p:notesMasterIdLst>
    <p:notesMasterId r:id="rId27"/>
  </p:notesMasterIdLst>
  <p:handoutMasterIdLst>
    <p:handoutMasterId r:id="rId28"/>
  </p:handoutMasterIdLst>
  <p:sldIdLst>
    <p:sldId id="455" r:id="rId2"/>
    <p:sldId id="805" r:id="rId3"/>
    <p:sldId id="1156" r:id="rId4"/>
    <p:sldId id="1158" r:id="rId5"/>
    <p:sldId id="1195" r:id="rId6"/>
    <p:sldId id="1196" r:id="rId7"/>
    <p:sldId id="1197" r:id="rId8"/>
    <p:sldId id="1161" r:id="rId9"/>
    <p:sldId id="1159" r:id="rId10"/>
    <p:sldId id="1157" r:id="rId11"/>
    <p:sldId id="1162" r:id="rId12"/>
    <p:sldId id="1163" r:id="rId13"/>
    <p:sldId id="1120" r:id="rId14"/>
    <p:sldId id="1194" r:id="rId15"/>
    <p:sldId id="1020" r:id="rId16"/>
    <p:sldId id="1091" r:id="rId17"/>
    <p:sldId id="1198" r:id="rId18"/>
    <p:sldId id="1199" r:id="rId19"/>
    <p:sldId id="1200" r:id="rId20"/>
    <p:sldId id="1201" r:id="rId21"/>
    <p:sldId id="1202" r:id="rId22"/>
    <p:sldId id="1203" r:id="rId23"/>
    <p:sldId id="1204" r:id="rId24"/>
    <p:sldId id="1205" r:id="rId25"/>
    <p:sldId id="1175" r:id="rId26"/>
  </p:sldIdLst>
  <p:sldSz cx="9144000" cy="6858000" type="screen4x3"/>
  <p:notesSz cx="6858000" cy="9144000"/>
  <p:custDataLst>
    <p:tags r:id="rId29"/>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19" autoAdjust="0"/>
    <p:restoredTop sz="97229" autoAdjust="0"/>
  </p:normalViewPr>
  <p:slideViewPr>
    <p:cSldViewPr>
      <p:cViewPr varScale="1">
        <p:scale>
          <a:sx n="149" d="100"/>
          <a:sy n="149" d="100"/>
        </p:scale>
        <p:origin x="2028" y="92"/>
      </p:cViewPr>
      <p:guideLst>
        <p:guide orient="horz" pos="2160"/>
        <p:guide pos="2880"/>
      </p:guideLst>
    </p:cSldViewPr>
  </p:slideViewPr>
  <p:notesTextViewPr>
    <p:cViewPr>
      <p:scale>
        <a:sx n="100" d="100"/>
        <a:sy n="100" d="100"/>
      </p:scale>
      <p:origin x="0" y="0"/>
    </p:cViewPr>
  </p:notesTextViewPr>
  <p:notesViewPr>
    <p:cSldViewPr>
      <p:cViewPr varScale="1">
        <p:scale>
          <a:sx n="121" d="100"/>
          <a:sy n="121" d="100"/>
        </p:scale>
        <p:origin x="5020" y="64"/>
      </p:cViewPr>
      <p:guideLst/>
    </p:cSldViewPr>
  </p:notesViewPr>
  <p:gridSpacing cx="90001" cy="90001"/>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E415D75-4CAE-15A9-D899-49A856941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日付プレースホルダー 2">
            <a:extLst>
              <a:ext uri="{FF2B5EF4-FFF2-40B4-BE49-F238E27FC236}">
                <a16:creationId xmlns:a16="http://schemas.microsoft.com/office/drawing/2014/main" id="{96B6FC8F-672D-0C9B-883F-429FE5BFF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0D877F-F984-4AF8-9DD3-1EDD0240AB14}" type="datetimeFigureOut">
              <a:rPr kumimoji="1" lang="en-US" smtClean="0"/>
              <a:t>8/1/2025</a:t>
            </a:fld>
            <a:endParaRPr kumimoji="1" lang="en-US"/>
          </a:p>
        </p:txBody>
      </p:sp>
      <p:sp>
        <p:nvSpPr>
          <p:cNvPr id="4" name="フッター プレースホルダー 3">
            <a:extLst>
              <a:ext uri="{FF2B5EF4-FFF2-40B4-BE49-F238E27FC236}">
                <a16:creationId xmlns:a16="http://schemas.microsoft.com/office/drawing/2014/main" id="{A49831F7-A7E2-B057-CA7D-BF4A5D256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5" name="スライド番号プレースホルダー 4">
            <a:extLst>
              <a:ext uri="{FF2B5EF4-FFF2-40B4-BE49-F238E27FC236}">
                <a16:creationId xmlns:a16="http://schemas.microsoft.com/office/drawing/2014/main" id="{C915A581-8333-6E1F-684C-607B3F07B9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CF5AA5-7A9C-4B37-BC55-3EC5404452FB}" type="slidenum">
              <a:rPr kumimoji="1" lang="en-US" smtClean="0"/>
              <a:t>‹#›</a:t>
            </a:fld>
            <a:endParaRPr kumimoji="1" lang="en-US"/>
          </a:p>
        </p:txBody>
      </p:sp>
    </p:spTree>
    <p:extLst>
      <p:ext uri="{BB962C8B-B14F-4D97-AF65-F5344CB8AC3E}">
        <p14:creationId xmlns:p14="http://schemas.microsoft.com/office/powerpoint/2010/main" val="799151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2025/8/1</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accent4"/>
        </a:solidFill>
        <a:effectLst/>
      </p:bgPr>
    </p:bg>
    <p:spTree>
      <p:nvGrpSpPr>
        <p:cNvPr id="1" name=""/>
        <p:cNvGrpSpPr/>
        <p:nvPr/>
      </p:nvGrpSpPr>
      <p:grpSpPr>
        <a:xfrm>
          <a:off x="0" y="0"/>
          <a:ext cx="0" cy="0"/>
          <a:chOff x="0" y="0"/>
          <a:chExt cx="0" cy="0"/>
        </a:xfrm>
      </p:grpSpPr>
      <p:sp>
        <p:nvSpPr>
          <p:cNvPr id="21" name="正方形/長方形 20"/>
          <p:cNvSpPr/>
          <p:nvPr/>
        </p:nvSpPr>
        <p:spPr bwMode="auto">
          <a:xfrm>
            <a:off x="0" y="0"/>
            <a:ext cx="9144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b="1">
              <a:solidFill>
                <a:schemeClr val="bg1"/>
              </a:solidFill>
            </a:endParaRPr>
          </a:p>
        </p:txBody>
      </p:sp>
      <p:sp>
        <p:nvSpPr>
          <p:cNvPr id="7170" name="Rectangle 2"/>
          <p:cNvSpPr>
            <a:spLocks noGrp="1" noChangeArrowheads="1"/>
          </p:cNvSpPr>
          <p:nvPr>
            <p:ph type="ctrTitle"/>
          </p:nvPr>
        </p:nvSpPr>
        <p:spPr>
          <a:xfrm>
            <a:off x="701958" y="278965"/>
            <a:ext cx="7920088" cy="2340026"/>
          </a:xfrm>
          <a:prstGeom prst="rect">
            <a:avLst/>
          </a:prstGeom>
        </p:spPr>
        <p:txBody>
          <a:bodyPr anchor="ctr"/>
          <a:lstStyle>
            <a:lvl1pPr algn="ctr">
              <a:defRPr sz="2400" b="1">
                <a:solidFill>
                  <a:schemeClr val="bg1"/>
                </a:solidFill>
              </a:defRPr>
            </a:lvl1pPr>
          </a:lstStyle>
          <a:p>
            <a:r>
              <a:rPr lang="ja-JP" altLang="en-US"/>
              <a:t>マスター タイトルの書式設定</a:t>
            </a:r>
          </a:p>
        </p:txBody>
      </p:sp>
      <p:sp>
        <p:nvSpPr>
          <p:cNvPr id="7171" name="Rectangle 3"/>
          <p:cNvSpPr>
            <a:spLocks noGrp="1" noChangeArrowheads="1"/>
          </p:cNvSpPr>
          <p:nvPr>
            <p:ph type="subTitle" idx="1"/>
          </p:nvPr>
        </p:nvSpPr>
        <p:spPr>
          <a:xfrm>
            <a:off x="1691968" y="4149009"/>
            <a:ext cx="7200080"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p>
        </p:txBody>
      </p:sp>
      <p:cxnSp>
        <p:nvCxnSpPr>
          <p:cNvPr id="6" name="直線コネクタ 5"/>
          <p:cNvCxnSpPr>
            <a:cxnSpLocks/>
          </p:cNvCxnSpPr>
          <p:nvPr/>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210289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611956" y="0"/>
            <a:ext cx="8532044"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8172040" y="6309032"/>
            <a:ext cx="720008"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611956" y="1088974"/>
            <a:ext cx="7920088"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7" name="Rectangle 20"/>
          <p:cNvSpPr>
            <a:spLocks noGrp="1" noChangeArrowheads="1"/>
          </p:cNvSpPr>
          <p:nvPr>
            <p:ph type="sldNum" sz="quarter" idx="4"/>
          </p:nvPr>
        </p:nvSpPr>
        <p:spPr bwMode="auto">
          <a:xfrm>
            <a:off x="8532044" y="6309032"/>
            <a:ext cx="611956"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428276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611956" y="2078985"/>
            <a:ext cx="7920088" cy="990011"/>
          </a:xfrm>
        </p:spPr>
        <p:txBody>
          <a:bodyPr anchor="b"/>
          <a:lstStyle>
            <a:lvl1pPr algn="ctr">
              <a:defRPr sz="3200" b="1"/>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4BFA6771-4A43-A7D9-54D9-CCBD4E6DE8B7}"/>
              </a:ext>
            </a:extLst>
          </p:cNvPr>
          <p:cNvCxnSpPr>
            <a:cxnSpLocks/>
          </p:cNvCxnSpPr>
          <p:nvPr userDrawn="1"/>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409703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3663301245"/>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611956" y="1088974"/>
            <a:ext cx="7920088" cy="52200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9144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22"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a:t>マスタ タイトルの書式設定</a:t>
            </a:r>
          </a:p>
        </p:txBody>
      </p:sp>
      <p:sp>
        <p:nvSpPr>
          <p:cNvPr id="6164" name="Rectangle 20"/>
          <p:cNvSpPr>
            <a:spLocks noGrp="1" noChangeArrowheads="1"/>
          </p:cNvSpPr>
          <p:nvPr>
            <p:ph type="sldNum" sz="quarter" idx="4"/>
          </p:nvPr>
        </p:nvSpPr>
        <p:spPr bwMode="auto">
          <a:xfrm>
            <a:off x="8172041" y="6309033"/>
            <a:ext cx="720008"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6" name="正方形/長方形 5"/>
          <p:cNvSpPr/>
          <p:nvPr/>
        </p:nvSpPr>
        <p:spPr bwMode="auto">
          <a:xfrm>
            <a:off x="0" y="0"/>
            <a:ext cx="9144000" cy="908972"/>
          </a:xfrm>
          <a:prstGeom prst="rect">
            <a:avLst/>
          </a:prstGeom>
          <a:solidFill>
            <a:srgbClr val="505B80"/>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3" name="正方形/長方形 2">
            <a:extLst>
              <a:ext uri="{FF2B5EF4-FFF2-40B4-BE49-F238E27FC236}">
                <a16:creationId xmlns:a16="http://schemas.microsoft.com/office/drawing/2014/main" id="{2AF63CA2-9471-8B7B-FC2C-3C5E975D06B8}"/>
              </a:ext>
            </a:extLst>
          </p:cNvPr>
          <p:cNvSpPr/>
          <p:nvPr userDrawn="1"/>
        </p:nvSpPr>
        <p:spPr bwMode="auto">
          <a:xfrm>
            <a:off x="0" y="0"/>
            <a:ext cx="9144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18063063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71" r:id="rId5"/>
  </p:sldLayoutIdLst>
  <p:hf hdr="0" ftr="0" dt="0"/>
  <p:txStyles>
    <p:titleStyle>
      <a:lvl1pPr algn="l" rtl="0" eaLnBrk="1" fontAlgn="base" hangingPunct="1">
        <a:spcBef>
          <a:spcPct val="0"/>
        </a:spcBef>
        <a:spcAft>
          <a:spcPct val="0"/>
        </a:spcAft>
        <a:defRPr kumimoji="1" sz="21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956" y="3969006"/>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kumimoji="1" lang="ja-JP" altLang="en-US" sz="3200" b="0" dirty="0"/>
          </a:p>
        </p:txBody>
      </p:sp>
      <p:sp>
        <p:nvSpPr>
          <p:cNvPr id="5" name="スライド番号プレースホルダー 4"/>
          <p:cNvSpPr>
            <a:spLocks noGrp="1"/>
          </p:cNvSpPr>
          <p:nvPr>
            <p:ph type="sldNum" sz="quarter" idx="4294967295"/>
          </p:nvPr>
        </p:nvSpPr>
        <p:spPr>
          <a:xfrm>
            <a:off x="8172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611956" y="2528990"/>
            <a:ext cx="7952402"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第１２回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400" dirty="0"/>
              <a:t>以下のような状況の仮想メモリについて考える：</a:t>
            </a:r>
            <a:endParaRPr lang="en-US" altLang="ja-JP" sz="1400" dirty="0"/>
          </a:p>
          <a:p>
            <a:pPr lvl="1"/>
            <a:r>
              <a:rPr lang="ja-JP" altLang="en-US" sz="1400" dirty="0"/>
              <a:t>仮想アドレス空間と物理アドレス空間は共に </a:t>
            </a:r>
            <a:r>
              <a:rPr lang="en-US" altLang="ja-JP" sz="1400" dirty="0"/>
              <a:t>32bit </a:t>
            </a:r>
            <a:r>
              <a:rPr lang="ja-JP" altLang="en-US" sz="1400" dirty="0"/>
              <a:t>である</a:t>
            </a:r>
            <a:endParaRPr lang="en-US" altLang="ja-JP" sz="1400" dirty="0"/>
          </a:p>
          <a:p>
            <a:pPr lvl="1"/>
            <a:r>
              <a:rPr lang="ja-JP" altLang="en-US" sz="1400" dirty="0"/>
              <a:t>単段ページ・テーブルを使用</a:t>
            </a:r>
            <a:endParaRPr lang="en-US" altLang="ja-JP" sz="1400" dirty="0"/>
          </a:p>
          <a:p>
            <a:pPr lvl="1"/>
            <a:r>
              <a:rPr lang="ja-JP" altLang="en-US" sz="1400" dirty="0"/>
              <a:t>ページ・サイズは </a:t>
            </a:r>
            <a:r>
              <a:rPr lang="en-US" altLang="ja-JP" sz="1400" dirty="0"/>
              <a:t>64KB </a:t>
            </a:r>
            <a:r>
              <a:rPr lang="ja-JP" altLang="en-US" sz="1400" dirty="0"/>
              <a:t>である</a:t>
            </a:r>
            <a:endParaRPr lang="en-US" altLang="ja-JP" sz="1400" dirty="0"/>
          </a:p>
          <a:p>
            <a:pPr lvl="1"/>
            <a:r>
              <a:rPr lang="ja-JP" altLang="en-US" sz="1400" dirty="0"/>
              <a:t>ベース・レジスタには物理アドレス </a:t>
            </a:r>
            <a:r>
              <a:rPr lang="en-US" altLang="ja-JP" sz="1400" dirty="0"/>
              <a:t>0x20000000 </a:t>
            </a:r>
            <a:r>
              <a:rPr lang="ja-JP" altLang="en-US" sz="1400" dirty="0"/>
              <a:t>が設定されている</a:t>
            </a:r>
            <a:endParaRPr lang="en-US" altLang="ja-JP" sz="1400" dirty="0"/>
          </a:p>
          <a:p>
            <a:pPr lvl="1"/>
            <a:r>
              <a:rPr lang="ja-JP" altLang="en-US" sz="1400" dirty="0"/>
              <a:t>仮想アドレス </a:t>
            </a:r>
            <a:r>
              <a:rPr lang="en-US" altLang="ja-JP" sz="1400" dirty="0"/>
              <a:t>0x10000000 </a:t>
            </a:r>
            <a:r>
              <a:rPr lang="ja-JP" altLang="en-US" sz="1400" dirty="0"/>
              <a:t>と </a:t>
            </a:r>
            <a:r>
              <a:rPr lang="en-US" altLang="ja-JP" sz="1400" dirty="0"/>
              <a:t>0xfea50000 </a:t>
            </a:r>
            <a:r>
              <a:rPr lang="ja-JP" altLang="en-US" sz="1400" dirty="0"/>
              <a:t>から始まるページには，それぞれ物理アドレス </a:t>
            </a:r>
            <a:r>
              <a:rPr lang="en-US" altLang="ja-JP" sz="1400" dirty="0"/>
              <a:t>0x30000000 </a:t>
            </a:r>
            <a:r>
              <a:rPr lang="ja-JP" altLang="en-US" sz="1400" dirty="0"/>
              <a:t>と </a:t>
            </a:r>
            <a:r>
              <a:rPr lang="en-US" altLang="ja-JP" sz="1400" dirty="0"/>
              <a:t>0x30010000 </a:t>
            </a:r>
            <a:r>
              <a:rPr lang="ja-JP" altLang="en-US" sz="1400" dirty="0"/>
              <a:t>から始まるページが割り当てられているものとする</a:t>
            </a:r>
            <a:endParaRPr lang="en-US" altLang="ja-JP" sz="1400" dirty="0"/>
          </a:p>
          <a:p>
            <a:pPr lvl="1"/>
            <a:r>
              <a:rPr lang="en-US" altLang="ja-JP" sz="1400" dirty="0"/>
              <a:t>TLB </a:t>
            </a:r>
            <a:r>
              <a:rPr lang="ja-JP" altLang="en-US" sz="1400" dirty="0"/>
              <a:t>は存在しない</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a:t>
            </a:fld>
            <a:endParaRPr kumimoji="1" lang="ja-JP" altLang="en-US" dirty="0"/>
          </a:p>
        </p:txBody>
      </p:sp>
    </p:spTree>
    <p:extLst>
      <p:ext uri="{BB962C8B-B14F-4D97-AF65-F5344CB8AC3E}">
        <p14:creationId xmlns:p14="http://schemas.microsoft.com/office/powerpoint/2010/main" val="32197134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400" dirty="0"/>
              <a:t>前提からわかること</a:t>
            </a:r>
            <a:endParaRPr lang="en-US" altLang="ja-JP" sz="1400" dirty="0"/>
          </a:p>
          <a:p>
            <a:pPr lvl="1"/>
            <a:r>
              <a:rPr lang="ja-JP" altLang="en-US" sz="1400" dirty="0"/>
              <a:t>ページサイズは </a:t>
            </a:r>
            <a:r>
              <a:rPr lang="en-US" altLang="ja-JP" sz="1400" dirty="0"/>
              <a:t>64KB=65536B=0x10000B</a:t>
            </a:r>
            <a:r>
              <a:rPr lang="ja-JP" altLang="en-US" sz="1400" dirty="0"/>
              <a:t>→ </a:t>
            </a:r>
            <a:r>
              <a:rPr lang="en-US" altLang="ja-JP" sz="1400" dirty="0"/>
              <a:t>16</a:t>
            </a:r>
            <a:r>
              <a:rPr lang="ja-JP" altLang="en-US" sz="1400" dirty="0"/>
              <a:t>進数で上</a:t>
            </a:r>
            <a:r>
              <a:rPr lang="en-US" altLang="ja-JP" sz="1400" dirty="0"/>
              <a:t>4</a:t>
            </a:r>
            <a:r>
              <a:rPr lang="ja-JP" altLang="en-US" sz="1400" dirty="0"/>
              <a:t>桁がページ番号</a:t>
            </a:r>
            <a:endParaRPr lang="en-US" altLang="ja-JP" sz="1400" dirty="0"/>
          </a:p>
          <a:p>
            <a:pPr lvl="1"/>
            <a:r>
              <a:rPr lang="ja-JP" altLang="en-US" sz="1400" dirty="0"/>
              <a:t>アドレス空間は </a:t>
            </a:r>
            <a:r>
              <a:rPr lang="en-US" altLang="ja-JP" sz="1400" dirty="0"/>
              <a:t>32bit=</a:t>
            </a:r>
            <a:r>
              <a:rPr lang="ja-JP" altLang="en-US" sz="1400" dirty="0"/>
              <a:t>ページ先頭をさすポインタは </a:t>
            </a:r>
            <a:r>
              <a:rPr lang="en-US" altLang="ja-JP" sz="1400" dirty="0"/>
              <a:t>4B</a:t>
            </a:r>
          </a:p>
          <a:p>
            <a:r>
              <a:rPr lang="en-US" altLang="ja-JP" sz="1400" dirty="0"/>
              <a:t>(1) </a:t>
            </a:r>
            <a:r>
              <a:rPr lang="ja-JP" altLang="en-US" sz="1400" dirty="0"/>
              <a:t>仮想アドレス </a:t>
            </a:r>
            <a:r>
              <a:rPr lang="en-US" altLang="ja-JP" sz="1400" dirty="0"/>
              <a:t>0x10002000 </a:t>
            </a:r>
            <a:r>
              <a:rPr lang="ja-JP" altLang="en-US" sz="1400" dirty="0"/>
              <a:t>に格納されている値を読み出す際にアクセスされる物理アドレスをすべてあげよ</a:t>
            </a:r>
            <a:endParaRPr lang="en-US" altLang="ja-JP" sz="1400" dirty="0"/>
          </a:p>
          <a:p>
            <a:pPr lvl="1"/>
            <a:r>
              <a:rPr lang="en-US" altLang="ja-JP" sz="1400" dirty="0"/>
              <a:t>0x2000 0000 + 4B * 0x1000 = 0x2000 4000 </a:t>
            </a:r>
            <a:r>
              <a:rPr lang="ja-JP" altLang="en-US" sz="1400" dirty="0"/>
              <a:t>に最初にアクセス</a:t>
            </a:r>
            <a:endParaRPr lang="en-US" altLang="ja-JP" sz="1400" dirty="0"/>
          </a:p>
          <a:p>
            <a:pPr lvl="2"/>
            <a:r>
              <a:rPr lang="ja-JP" altLang="en-US" sz="1400" dirty="0"/>
              <a:t>ページ番号は上４桁なので，</a:t>
            </a:r>
            <a:r>
              <a:rPr lang="en-US" altLang="ja-JP" sz="1400" dirty="0"/>
              <a:t>0x10002000 </a:t>
            </a:r>
            <a:r>
              <a:rPr lang="ja-JP" altLang="en-US" sz="1400" dirty="0"/>
              <a:t>→ </a:t>
            </a:r>
            <a:r>
              <a:rPr lang="en-US" altLang="ja-JP" sz="1400" dirty="0"/>
              <a:t>0x1000 </a:t>
            </a:r>
          </a:p>
          <a:p>
            <a:pPr lvl="2"/>
            <a:r>
              <a:rPr lang="ja-JP" altLang="en-US" sz="1400" dirty="0"/>
              <a:t>ここから割り当てられている物理アドレス </a:t>
            </a:r>
            <a:r>
              <a:rPr lang="en-US" altLang="ja-JP" sz="1400" dirty="0"/>
              <a:t>0x3000 0000 </a:t>
            </a:r>
            <a:r>
              <a:rPr lang="ja-JP" altLang="en-US" sz="1400" dirty="0"/>
              <a:t>が読める</a:t>
            </a:r>
            <a:endParaRPr lang="en-US" altLang="ja-JP" sz="1400" dirty="0"/>
          </a:p>
          <a:p>
            <a:pPr lvl="1"/>
            <a:r>
              <a:rPr lang="en-US" altLang="ja-JP" sz="1400" dirty="0"/>
              <a:t>0x3000 0000 + 0x2000 = 0x3000 2000 </a:t>
            </a:r>
            <a:r>
              <a:rPr lang="ja-JP" altLang="en-US" sz="1400" dirty="0"/>
              <a:t>に次にアクセス</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4</a:t>
            </a:fld>
            <a:endParaRPr kumimoji="1" lang="ja-JP" altLang="en-US" dirty="0"/>
          </a:p>
        </p:txBody>
      </p:sp>
    </p:spTree>
    <p:extLst>
      <p:ext uri="{BB962C8B-B14F-4D97-AF65-F5344CB8AC3E}">
        <p14:creationId xmlns:p14="http://schemas.microsoft.com/office/powerpoint/2010/main" val="1803594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仮想メモリと物理メモリの対応</a:t>
            </a: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6012016" y="1268976"/>
            <a:ext cx="1080012" cy="3600040"/>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6012016" y="2438989"/>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41" name="正方形/長方形 40"/>
          <p:cNvSpPr/>
          <p:nvPr/>
        </p:nvSpPr>
        <p:spPr bwMode="auto">
          <a:xfrm>
            <a:off x="6192018"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物理アドレス空間</a:t>
            </a:r>
          </a:p>
        </p:txBody>
      </p:sp>
      <p:sp>
        <p:nvSpPr>
          <p:cNvPr id="40" name="正方形/長方形 39">
            <a:extLst>
              <a:ext uri="{FF2B5EF4-FFF2-40B4-BE49-F238E27FC236}">
                <a16:creationId xmlns:a16="http://schemas.microsoft.com/office/drawing/2014/main" id="{F8E9AEA5-3FB4-455D-9495-C980C57584B6}"/>
              </a:ext>
            </a:extLst>
          </p:cNvPr>
          <p:cNvSpPr/>
          <p:nvPr/>
        </p:nvSpPr>
        <p:spPr bwMode="auto">
          <a:xfrm>
            <a:off x="4932004" y="2438990"/>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0x30000000:</a:t>
            </a:r>
            <a:endParaRPr kumimoji="1" lang="ja-JP" altLang="en-US" sz="1200" dirty="0">
              <a:solidFill>
                <a:schemeClr val="accent6"/>
              </a:solidFill>
              <a:latin typeface="Consolas" panose="020B0609020204030204" pitchFamily="49" charset="0"/>
            </a:endParaRPr>
          </a:p>
        </p:txBody>
      </p:sp>
      <p:sp>
        <p:nvSpPr>
          <p:cNvPr id="15" name="正方形/長方形 14">
            <a:extLst>
              <a:ext uri="{FF2B5EF4-FFF2-40B4-BE49-F238E27FC236}">
                <a16:creationId xmlns:a16="http://schemas.microsoft.com/office/drawing/2014/main" id="{789C1DA0-D99D-EF86-AE43-34EBCEF75B7C}"/>
              </a:ext>
            </a:extLst>
          </p:cNvPr>
          <p:cNvSpPr/>
          <p:nvPr/>
        </p:nvSpPr>
        <p:spPr bwMode="auto">
          <a:xfrm>
            <a:off x="6012016" y="3068997"/>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A80C8211-BF6C-24D3-91A4-C4CB4423DBB1}"/>
              </a:ext>
            </a:extLst>
          </p:cNvPr>
          <p:cNvSpPr/>
          <p:nvPr/>
        </p:nvSpPr>
        <p:spPr bwMode="auto">
          <a:xfrm>
            <a:off x="4932004" y="3068997"/>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0x30010000:</a:t>
            </a:r>
            <a:endParaRPr kumimoji="1" lang="ja-JP" altLang="en-US" sz="1200" dirty="0">
              <a:solidFill>
                <a:schemeClr val="accent6"/>
              </a:solidFill>
              <a:latin typeface="Consolas" panose="020B0609020204030204" pitchFamily="49" charset="0"/>
            </a:endParaRPr>
          </a:p>
        </p:txBody>
      </p:sp>
      <p:sp>
        <p:nvSpPr>
          <p:cNvPr id="17" name="正方形/長方形 16">
            <a:extLst>
              <a:ext uri="{FF2B5EF4-FFF2-40B4-BE49-F238E27FC236}">
                <a16:creationId xmlns:a16="http://schemas.microsoft.com/office/drawing/2014/main" id="{55995DEE-D276-CC70-CA73-3B969A7629C4}"/>
              </a:ext>
            </a:extLst>
          </p:cNvPr>
          <p:cNvSpPr/>
          <p:nvPr/>
        </p:nvSpPr>
        <p:spPr bwMode="auto">
          <a:xfrm>
            <a:off x="2051972" y="1268976"/>
            <a:ext cx="1080012" cy="3510039"/>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BB08FCF5-23BA-5EB6-6F44-912E5BB7391D}"/>
              </a:ext>
            </a:extLst>
          </p:cNvPr>
          <p:cNvSpPr/>
          <p:nvPr/>
        </p:nvSpPr>
        <p:spPr bwMode="auto">
          <a:xfrm>
            <a:off x="971960" y="1718981"/>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0x10000000:</a:t>
            </a:r>
            <a:endParaRPr kumimoji="1" lang="ja-JP" altLang="en-US" sz="1200" dirty="0">
              <a:solidFill>
                <a:schemeClr val="accent6"/>
              </a:solidFill>
              <a:latin typeface="Consolas" panose="020B0609020204030204" pitchFamily="49" charset="0"/>
            </a:endParaRPr>
          </a:p>
        </p:txBody>
      </p:sp>
      <p:sp>
        <p:nvSpPr>
          <p:cNvPr id="22" name="正方形/長方形 21">
            <a:extLst>
              <a:ext uri="{FF2B5EF4-FFF2-40B4-BE49-F238E27FC236}">
                <a16:creationId xmlns:a16="http://schemas.microsoft.com/office/drawing/2014/main" id="{286DC410-E6C7-A488-418F-00C857B772A6}"/>
              </a:ext>
            </a:extLst>
          </p:cNvPr>
          <p:cNvSpPr/>
          <p:nvPr/>
        </p:nvSpPr>
        <p:spPr bwMode="auto">
          <a:xfrm>
            <a:off x="971960" y="3879005"/>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0xfea50000:</a:t>
            </a:r>
            <a:endParaRPr kumimoji="1" lang="ja-JP" altLang="en-US" sz="1200" dirty="0">
              <a:solidFill>
                <a:schemeClr val="accent6"/>
              </a:solidFill>
              <a:latin typeface="Consolas" panose="020B0609020204030204" pitchFamily="49" charset="0"/>
            </a:endParaRPr>
          </a:p>
        </p:txBody>
      </p:sp>
      <p:sp>
        <p:nvSpPr>
          <p:cNvPr id="24" name="正方形/長方形 23">
            <a:extLst>
              <a:ext uri="{FF2B5EF4-FFF2-40B4-BE49-F238E27FC236}">
                <a16:creationId xmlns:a16="http://schemas.microsoft.com/office/drawing/2014/main" id="{407D15DB-38F4-DB44-4337-8B73B5643E9B}"/>
              </a:ext>
            </a:extLst>
          </p:cNvPr>
          <p:cNvSpPr/>
          <p:nvPr/>
        </p:nvSpPr>
        <p:spPr bwMode="auto">
          <a:xfrm>
            <a:off x="2051972" y="1718981"/>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25" name="正方形/長方形 24">
            <a:extLst>
              <a:ext uri="{FF2B5EF4-FFF2-40B4-BE49-F238E27FC236}">
                <a16:creationId xmlns:a16="http://schemas.microsoft.com/office/drawing/2014/main" id="{C85C0C22-4ABC-64E2-02D0-F7A10D507076}"/>
              </a:ext>
            </a:extLst>
          </p:cNvPr>
          <p:cNvSpPr/>
          <p:nvPr/>
        </p:nvSpPr>
        <p:spPr bwMode="auto">
          <a:xfrm>
            <a:off x="2051972" y="3879005"/>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5EB1B507-4156-00A4-2601-ADDA3921107B}"/>
              </a:ext>
            </a:extLst>
          </p:cNvPr>
          <p:cNvSpPr/>
          <p:nvPr/>
        </p:nvSpPr>
        <p:spPr bwMode="auto">
          <a:xfrm>
            <a:off x="2321975"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仮想アドレス空間</a:t>
            </a:r>
          </a:p>
        </p:txBody>
      </p:sp>
      <p:cxnSp>
        <p:nvCxnSpPr>
          <p:cNvPr id="28" name="直線矢印コネクタ 27">
            <a:extLst>
              <a:ext uri="{FF2B5EF4-FFF2-40B4-BE49-F238E27FC236}">
                <a16:creationId xmlns:a16="http://schemas.microsoft.com/office/drawing/2014/main" id="{03472A4A-AFAB-9F7C-D784-8E79B486F633}"/>
              </a:ext>
            </a:extLst>
          </p:cNvPr>
          <p:cNvCxnSpPr>
            <a:cxnSpLocks/>
          </p:cNvCxnSpPr>
          <p:nvPr/>
        </p:nvCxnSpPr>
        <p:spPr bwMode="auto">
          <a:xfrm>
            <a:off x="3131984" y="1718981"/>
            <a:ext cx="288003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29" name="直線矢印コネクタ 28">
            <a:extLst>
              <a:ext uri="{FF2B5EF4-FFF2-40B4-BE49-F238E27FC236}">
                <a16:creationId xmlns:a16="http://schemas.microsoft.com/office/drawing/2014/main" id="{056B951D-909F-55A4-1CD6-360E04DA051B}"/>
              </a:ext>
            </a:extLst>
          </p:cNvPr>
          <p:cNvCxnSpPr>
            <a:cxnSpLocks/>
          </p:cNvCxnSpPr>
          <p:nvPr/>
        </p:nvCxnSpPr>
        <p:spPr bwMode="auto">
          <a:xfrm flipV="1">
            <a:off x="3131984" y="3068996"/>
            <a:ext cx="2880032" cy="810009"/>
          </a:xfrm>
          <a:prstGeom prst="straightConnector1">
            <a:avLst/>
          </a:prstGeom>
          <a:noFill/>
          <a:ln w="9525" cap="flat" cmpd="sng" algn="ctr">
            <a:solidFill>
              <a:schemeClr val="tx1"/>
            </a:solidFill>
            <a:prstDash val="solid"/>
            <a:round/>
            <a:headEnd type="none" w="med" len="med"/>
            <a:tailEnd type="triangle"/>
          </a:ln>
          <a:effectLst/>
        </p:spPr>
      </p:cxnSp>
      <p:sp>
        <p:nvSpPr>
          <p:cNvPr id="32" name="テキスト プレースホルダー 2">
            <a:extLst>
              <a:ext uri="{FF2B5EF4-FFF2-40B4-BE49-F238E27FC236}">
                <a16:creationId xmlns:a16="http://schemas.microsoft.com/office/drawing/2014/main" id="{8DB7D6E2-CB52-5CEB-341B-56D842BD4CFA}"/>
              </a:ext>
            </a:extLst>
          </p:cNvPr>
          <p:cNvSpPr txBox="1">
            <a:spLocks/>
          </p:cNvSpPr>
          <p:nvPr/>
        </p:nvSpPr>
        <p:spPr bwMode="auto">
          <a:xfrm>
            <a:off x="161951" y="5229020"/>
            <a:ext cx="8640096" cy="15297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ja-JP" altLang="en-US" sz="1200" kern="0" dirty="0">
                <a:latin typeface="Consolas" panose="020B0609020204030204" pitchFamily="49" charset="0"/>
              </a:rPr>
              <a:t>仮想アドレス上の </a:t>
            </a:r>
            <a:r>
              <a:rPr lang="en-US" altLang="ja-JP" sz="1200" kern="0" dirty="0">
                <a:latin typeface="Consolas" panose="020B0609020204030204" pitchFamily="49" charset="0"/>
              </a:rPr>
              <a:t>64KB </a:t>
            </a:r>
            <a:r>
              <a:rPr lang="ja-JP" altLang="en-US" sz="1200" kern="0" dirty="0">
                <a:latin typeface="Consolas" panose="020B0609020204030204" pitchFamily="49" charset="0"/>
              </a:rPr>
              <a:t>分が物理アドレスの </a:t>
            </a:r>
            <a:r>
              <a:rPr lang="en-US" altLang="ja-JP" sz="1200" kern="0" dirty="0">
                <a:latin typeface="Consolas" panose="020B0609020204030204" pitchFamily="49" charset="0"/>
              </a:rPr>
              <a:t>64KB </a:t>
            </a:r>
            <a:r>
              <a:rPr lang="ja-JP" altLang="en-US" sz="1200" kern="0" dirty="0">
                <a:latin typeface="Consolas" panose="020B0609020204030204" pitchFamily="49" charset="0"/>
              </a:rPr>
              <a:t>のブロックにマップされている</a:t>
            </a:r>
            <a:endParaRPr lang="en-US" altLang="ja-JP" sz="1200" kern="0" dirty="0">
              <a:latin typeface="Consolas" panose="020B0609020204030204" pitchFamily="49" charset="0"/>
            </a:endParaRPr>
          </a:p>
          <a:p>
            <a:pPr lvl="1"/>
            <a:r>
              <a:rPr lang="en-US" altLang="ja-JP" sz="1200" kern="0" dirty="0">
                <a:latin typeface="Consolas" panose="020B0609020204030204" pitchFamily="49" charset="0"/>
              </a:rPr>
              <a:t>64KB = 65536 = 0x10000</a:t>
            </a:r>
          </a:p>
          <a:p>
            <a:pPr lvl="1"/>
            <a:r>
              <a:rPr lang="en-US" altLang="ja-JP" sz="1200" kern="0" dirty="0">
                <a:latin typeface="Consolas" panose="020B0609020204030204" pitchFamily="49" charset="0"/>
              </a:rPr>
              <a:t>0x10000000</a:t>
            </a:r>
            <a:r>
              <a:rPr lang="ja-JP" altLang="en-US" sz="1200" kern="0" dirty="0">
                <a:latin typeface="Consolas" panose="020B0609020204030204" pitchFamily="49" charset="0"/>
              </a:rPr>
              <a:t>→</a:t>
            </a:r>
            <a:r>
              <a:rPr lang="en-US" altLang="ja-JP" sz="1200" kern="0" dirty="0">
                <a:latin typeface="Consolas" panose="020B0609020204030204" pitchFamily="49" charset="0"/>
              </a:rPr>
              <a:t>0x30000000, 0x10000001</a:t>
            </a:r>
            <a:r>
              <a:rPr lang="ja-JP" altLang="en-US" sz="1200" kern="0" dirty="0">
                <a:latin typeface="Consolas" panose="020B0609020204030204" pitchFamily="49" charset="0"/>
              </a:rPr>
              <a:t>→</a:t>
            </a:r>
            <a:r>
              <a:rPr lang="en-US" altLang="ja-JP" sz="1200" kern="0" dirty="0">
                <a:latin typeface="Consolas" panose="020B0609020204030204" pitchFamily="49" charset="0"/>
              </a:rPr>
              <a:t>0x30000001, 0x10000002</a:t>
            </a:r>
            <a:r>
              <a:rPr lang="ja-JP" altLang="en-US" sz="1200" kern="0" dirty="0">
                <a:latin typeface="Consolas" panose="020B0609020204030204" pitchFamily="49" charset="0"/>
              </a:rPr>
              <a:t>→</a:t>
            </a:r>
            <a:r>
              <a:rPr lang="en-US" altLang="ja-JP" sz="1200" kern="0" dirty="0">
                <a:latin typeface="Consolas" panose="020B0609020204030204" pitchFamily="49" charset="0"/>
              </a:rPr>
              <a:t>0x30000002 ...</a:t>
            </a:r>
            <a:br>
              <a:rPr lang="en-US" altLang="ja-JP" sz="1200" kern="0" dirty="0">
                <a:latin typeface="Consolas" panose="020B0609020204030204" pitchFamily="49" charset="0"/>
              </a:rPr>
            </a:br>
            <a:r>
              <a:rPr lang="en-US" altLang="ja-JP" sz="1200" kern="0" dirty="0">
                <a:latin typeface="Consolas" panose="020B0609020204030204" pitchFamily="49" charset="0"/>
              </a:rPr>
              <a:t>0x1000ffff</a:t>
            </a:r>
            <a:r>
              <a:rPr lang="ja-JP" altLang="en-US" sz="1200" kern="0" dirty="0">
                <a:latin typeface="Consolas" panose="020B0609020204030204" pitchFamily="49" charset="0"/>
              </a:rPr>
              <a:t>→</a:t>
            </a:r>
            <a:r>
              <a:rPr lang="en-US" altLang="ja-JP" sz="1200" kern="0" dirty="0">
                <a:latin typeface="Consolas" panose="020B0609020204030204" pitchFamily="49" charset="0"/>
              </a:rPr>
              <a:t>0x3000ffff </a:t>
            </a:r>
            <a:r>
              <a:rPr lang="ja-JP" altLang="en-US" sz="1200" kern="0" dirty="0">
                <a:latin typeface="Consolas" panose="020B0609020204030204" pitchFamily="49" charset="0"/>
              </a:rPr>
              <a:t>にマップされている</a:t>
            </a:r>
            <a:endParaRPr lang="en-US" altLang="ja-JP" sz="1200" kern="0" dirty="0">
              <a:latin typeface="Consolas" panose="020B0609020204030204" pitchFamily="49" charset="0"/>
            </a:endParaRPr>
          </a:p>
          <a:p>
            <a:pPr lvl="1"/>
            <a:r>
              <a:rPr lang="en-US" altLang="ja-JP" sz="1200" kern="0" dirty="0">
                <a:latin typeface="Consolas" panose="020B0609020204030204" pitchFamily="49" charset="0"/>
              </a:rPr>
              <a:t>0xfea50000</a:t>
            </a:r>
            <a:r>
              <a:rPr lang="ja-JP" altLang="en-US" sz="1200" kern="0" dirty="0">
                <a:latin typeface="Consolas" panose="020B0609020204030204" pitchFamily="49" charset="0"/>
              </a:rPr>
              <a:t>→</a:t>
            </a:r>
            <a:r>
              <a:rPr lang="en-US" altLang="ja-JP" sz="1200" kern="0" dirty="0">
                <a:latin typeface="Consolas" panose="020B0609020204030204" pitchFamily="49" charset="0"/>
              </a:rPr>
              <a:t>0xfea50000, 0xfea50001</a:t>
            </a:r>
            <a:r>
              <a:rPr lang="ja-JP" altLang="en-US" sz="1200" kern="0" dirty="0">
                <a:latin typeface="Consolas" panose="020B0609020204030204" pitchFamily="49" charset="0"/>
              </a:rPr>
              <a:t>→</a:t>
            </a:r>
            <a:r>
              <a:rPr lang="en-US" altLang="ja-JP" sz="1200" kern="0" dirty="0">
                <a:latin typeface="Consolas" panose="020B0609020204030204" pitchFamily="49" charset="0"/>
              </a:rPr>
              <a:t>0xfea50001, 0xfea50002</a:t>
            </a:r>
            <a:r>
              <a:rPr lang="ja-JP" altLang="en-US" sz="1200" kern="0" dirty="0">
                <a:latin typeface="Consolas" panose="020B0609020204030204" pitchFamily="49" charset="0"/>
              </a:rPr>
              <a:t>→</a:t>
            </a:r>
            <a:r>
              <a:rPr lang="en-US" altLang="ja-JP" sz="1200" kern="0" dirty="0">
                <a:latin typeface="Consolas" panose="020B0609020204030204" pitchFamily="49" charset="0"/>
              </a:rPr>
              <a:t>0xfea50002 ...</a:t>
            </a:r>
            <a:br>
              <a:rPr lang="en-US" altLang="ja-JP" sz="1200" kern="0" dirty="0">
                <a:latin typeface="Consolas" panose="020B0609020204030204" pitchFamily="49" charset="0"/>
              </a:rPr>
            </a:br>
            <a:r>
              <a:rPr lang="en-US" altLang="ja-JP" sz="1200" kern="0" dirty="0">
                <a:latin typeface="Consolas" panose="020B0609020204030204" pitchFamily="49" charset="0"/>
              </a:rPr>
              <a:t>0xfea5ffff</a:t>
            </a:r>
            <a:r>
              <a:rPr lang="ja-JP" altLang="en-US" sz="1200" kern="0" dirty="0">
                <a:latin typeface="Consolas" panose="020B0609020204030204" pitchFamily="49" charset="0"/>
              </a:rPr>
              <a:t>→</a:t>
            </a:r>
            <a:r>
              <a:rPr lang="en-US" altLang="ja-JP" sz="1200" kern="0" dirty="0">
                <a:latin typeface="Consolas" panose="020B0609020204030204" pitchFamily="49" charset="0"/>
              </a:rPr>
              <a:t>0xfea5ffff </a:t>
            </a:r>
            <a:r>
              <a:rPr lang="ja-JP" altLang="en-US" sz="1200" kern="0" dirty="0">
                <a:latin typeface="Consolas" panose="020B0609020204030204" pitchFamily="49" charset="0"/>
              </a:rPr>
              <a:t>にマップされている</a:t>
            </a:r>
            <a:endParaRPr lang="en-US" altLang="ja-JP" sz="1200" kern="0" dirty="0">
              <a:latin typeface="Consolas" panose="020B0609020204030204" pitchFamily="49" charset="0"/>
            </a:endParaRPr>
          </a:p>
        </p:txBody>
      </p:sp>
      <p:cxnSp>
        <p:nvCxnSpPr>
          <p:cNvPr id="47" name="直線矢印コネクタ 46">
            <a:extLst>
              <a:ext uri="{FF2B5EF4-FFF2-40B4-BE49-F238E27FC236}">
                <a16:creationId xmlns:a16="http://schemas.microsoft.com/office/drawing/2014/main" id="{84646A83-5F80-02CC-7107-578EF9E13723}"/>
              </a:ext>
            </a:extLst>
          </p:cNvPr>
          <p:cNvCxnSpPr>
            <a:cxnSpLocks/>
          </p:cNvCxnSpPr>
          <p:nvPr/>
        </p:nvCxnSpPr>
        <p:spPr bwMode="auto">
          <a:xfrm>
            <a:off x="3131984" y="1898983"/>
            <a:ext cx="288003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48" name="直線矢印コネクタ 47">
            <a:extLst>
              <a:ext uri="{FF2B5EF4-FFF2-40B4-BE49-F238E27FC236}">
                <a16:creationId xmlns:a16="http://schemas.microsoft.com/office/drawing/2014/main" id="{3A4D8241-DB7B-3E4A-9127-465B37A79602}"/>
              </a:ext>
            </a:extLst>
          </p:cNvPr>
          <p:cNvCxnSpPr>
            <a:cxnSpLocks/>
          </p:cNvCxnSpPr>
          <p:nvPr/>
        </p:nvCxnSpPr>
        <p:spPr bwMode="auto">
          <a:xfrm>
            <a:off x="3131984" y="2078985"/>
            <a:ext cx="2880032" cy="720008"/>
          </a:xfrm>
          <a:prstGeom prst="straightConnector1">
            <a:avLst/>
          </a:prstGeom>
          <a:noFill/>
          <a:ln w="9525" cap="flat" cmpd="sng" algn="ctr">
            <a:solidFill>
              <a:schemeClr val="tx1"/>
            </a:solidFill>
            <a:prstDash val="solid"/>
            <a:round/>
            <a:headEnd type="none" w="med" len="med"/>
            <a:tailEnd type="triangle"/>
          </a:ln>
          <a:effectLst/>
        </p:spPr>
      </p:cxnSp>
      <p:cxnSp>
        <p:nvCxnSpPr>
          <p:cNvPr id="50" name="直線矢印コネクタ 49">
            <a:extLst>
              <a:ext uri="{FF2B5EF4-FFF2-40B4-BE49-F238E27FC236}">
                <a16:creationId xmlns:a16="http://schemas.microsoft.com/office/drawing/2014/main" id="{28C790D5-82FD-9B45-4D05-1DF7570AA897}"/>
              </a:ext>
            </a:extLst>
          </p:cNvPr>
          <p:cNvCxnSpPr>
            <a:cxnSpLocks/>
          </p:cNvCxnSpPr>
          <p:nvPr/>
        </p:nvCxnSpPr>
        <p:spPr bwMode="auto">
          <a:xfrm flipV="1">
            <a:off x="3131984" y="3338999"/>
            <a:ext cx="2880032" cy="810009"/>
          </a:xfrm>
          <a:prstGeom prst="straightConnector1">
            <a:avLst/>
          </a:prstGeom>
          <a:noFill/>
          <a:ln w="9525" cap="flat" cmpd="sng" algn="ctr">
            <a:solidFill>
              <a:schemeClr val="tx1"/>
            </a:solidFill>
            <a:prstDash val="solid"/>
            <a:round/>
            <a:headEnd type="none" w="med" len="med"/>
            <a:tailEnd type="triangle"/>
          </a:ln>
          <a:effectLst/>
        </p:spPr>
      </p:cxnSp>
      <p:cxnSp>
        <p:nvCxnSpPr>
          <p:cNvPr id="51" name="直線矢印コネクタ 50">
            <a:extLst>
              <a:ext uri="{FF2B5EF4-FFF2-40B4-BE49-F238E27FC236}">
                <a16:creationId xmlns:a16="http://schemas.microsoft.com/office/drawing/2014/main" id="{5570ED98-F678-1447-5F56-C65DD53627E3}"/>
              </a:ext>
            </a:extLst>
          </p:cNvPr>
          <p:cNvCxnSpPr>
            <a:cxnSpLocks/>
          </p:cNvCxnSpPr>
          <p:nvPr/>
        </p:nvCxnSpPr>
        <p:spPr bwMode="auto">
          <a:xfrm flipV="1">
            <a:off x="3131984" y="3609002"/>
            <a:ext cx="2880032" cy="810009"/>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41678421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仮想メモリと物理メモリの対応</a:t>
            </a: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7092028" y="1268976"/>
            <a:ext cx="1080012" cy="3600040"/>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7092028" y="2438989"/>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41" name="正方形/長方形 40"/>
          <p:cNvSpPr/>
          <p:nvPr/>
        </p:nvSpPr>
        <p:spPr bwMode="auto">
          <a:xfrm>
            <a:off x="7274607"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物理アドレス空間</a:t>
            </a:r>
          </a:p>
        </p:txBody>
      </p:sp>
      <p:sp>
        <p:nvSpPr>
          <p:cNvPr id="40" name="正方形/長方形 39">
            <a:extLst>
              <a:ext uri="{FF2B5EF4-FFF2-40B4-BE49-F238E27FC236}">
                <a16:creationId xmlns:a16="http://schemas.microsoft.com/office/drawing/2014/main" id="{F8E9AEA5-3FB4-455D-9495-C980C57584B6}"/>
              </a:ext>
            </a:extLst>
          </p:cNvPr>
          <p:cNvSpPr/>
          <p:nvPr/>
        </p:nvSpPr>
        <p:spPr bwMode="auto">
          <a:xfrm>
            <a:off x="6012016" y="2438990"/>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0x3000 0000:</a:t>
            </a:r>
            <a:endParaRPr kumimoji="1" lang="ja-JP" altLang="en-US" sz="1200" dirty="0">
              <a:solidFill>
                <a:schemeClr val="accent6"/>
              </a:solidFill>
              <a:latin typeface="Consolas" panose="020B0609020204030204" pitchFamily="49" charset="0"/>
            </a:endParaRPr>
          </a:p>
        </p:txBody>
      </p:sp>
      <p:sp>
        <p:nvSpPr>
          <p:cNvPr id="15" name="正方形/長方形 14">
            <a:extLst>
              <a:ext uri="{FF2B5EF4-FFF2-40B4-BE49-F238E27FC236}">
                <a16:creationId xmlns:a16="http://schemas.microsoft.com/office/drawing/2014/main" id="{789C1DA0-D99D-EF86-AE43-34EBCEF75B7C}"/>
              </a:ext>
            </a:extLst>
          </p:cNvPr>
          <p:cNvSpPr/>
          <p:nvPr/>
        </p:nvSpPr>
        <p:spPr bwMode="auto">
          <a:xfrm>
            <a:off x="7092028" y="3068997"/>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A80C8211-BF6C-24D3-91A4-C4CB4423DBB1}"/>
              </a:ext>
            </a:extLst>
          </p:cNvPr>
          <p:cNvSpPr/>
          <p:nvPr/>
        </p:nvSpPr>
        <p:spPr bwMode="auto">
          <a:xfrm>
            <a:off x="6012016" y="3068997"/>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0x3001 0000:</a:t>
            </a:r>
            <a:endParaRPr kumimoji="1" lang="ja-JP" altLang="en-US" sz="1200" dirty="0">
              <a:solidFill>
                <a:schemeClr val="accent6"/>
              </a:solidFill>
              <a:latin typeface="Consolas" panose="020B0609020204030204" pitchFamily="49" charset="0"/>
            </a:endParaRPr>
          </a:p>
        </p:txBody>
      </p:sp>
      <p:sp>
        <p:nvSpPr>
          <p:cNvPr id="17" name="正方形/長方形 16">
            <a:extLst>
              <a:ext uri="{FF2B5EF4-FFF2-40B4-BE49-F238E27FC236}">
                <a16:creationId xmlns:a16="http://schemas.microsoft.com/office/drawing/2014/main" id="{55995DEE-D276-CC70-CA73-3B969A7629C4}"/>
              </a:ext>
            </a:extLst>
          </p:cNvPr>
          <p:cNvSpPr/>
          <p:nvPr/>
        </p:nvSpPr>
        <p:spPr bwMode="auto">
          <a:xfrm>
            <a:off x="2051972" y="1268976"/>
            <a:ext cx="1080012" cy="3510039"/>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BB08FCF5-23BA-5EB6-6F44-912E5BB7391D}"/>
              </a:ext>
            </a:extLst>
          </p:cNvPr>
          <p:cNvSpPr/>
          <p:nvPr/>
        </p:nvSpPr>
        <p:spPr bwMode="auto">
          <a:xfrm>
            <a:off x="971960" y="1718981"/>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0x1000 0000:</a:t>
            </a:r>
            <a:endParaRPr kumimoji="1" lang="ja-JP" altLang="en-US" sz="1200" dirty="0">
              <a:solidFill>
                <a:schemeClr val="accent6"/>
              </a:solidFill>
              <a:latin typeface="Consolas" panose="020B0609020204030204" pitchFamily="49" charset="0"/>
            </a:endParaRPr>
          </a:p>
        </p:txBody>
      </p:sp>
      <p:sp>
        <p:nvSpPr>
          <p:cNvPr id="22" name="正方形/長方形 21">
            <a:extLst>
              <a:ext uri="{FF2B5EF4-FFF2-40B4-BE49-F238E27FC236}">
                <a16:creationId xmlns:a16="http://schemas.microsoft.com/office/drawing/2014/main" id="{286DC410-E6C7-A488-418F-00C857B772A6}"/>
              </a:ext>
            </a:extLst>
          </p:cNvPr>
          <p:cNvSpPr/>
          <p:nvPr/>
        </p:nvSpPr>
        <p:spPr bwMode="auto">
          <a:xfrm>
            <a:off x="971960" y="3879005"/>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0xfea5 0000:</a:t>
            </a:r>
            <a:endParaRPr kumimoji="1" lang="ja-JP" altLang="en-US" sz="1200" dirty="0">
              <a:solidFill>
                <a:schemeClr val="accent6"/>
              </a:solidFill>
              <a:latin typeface="Consolas" panose="020B0609020204030204" pitchFamily="49" charset="0"/>
            </a:endParaRPr>
          </a:p>
        </p:txBody>
      </p:sp>
      <p:sp>
        <p:nvSpPr>
          <p:cNvPr id="24" name="正方形/長方形 23">
            <a:extLst>
              <a:ext uri="{FF2B5EF4-FFF2-40B4-BE49-F238E27FC236}">
                <a16:creationId xmlns:a16="http://schemas.microsoft.com/office/drawing/2014/main" id="{407D15DB-38F4-DB44-4337-8B73B5643E9B}"/>
              </a:ext>
            </a:extLst>
          </p:cNvPr>
          <p:cNvSpPr/>
          <p:nvPr/>
        </p:nvSpPr>
        <p:spPr bwMode="auto">
          <a:xfrm>
            <a:off x="2051972" y="1718981"/>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25" name="正方形/長方形 24">
            <a:extLst>
              <a:ext uri="{FF2B5EF4-FFF2-40B4-BE49-F238E27FC236}">
                <a16:creationId xmlns:a16="http://schemas.microsoft.com/office/drawing/2014/main" id="{C85C0C22-4ABC-64E2-02D0-F7A10D507076}"/>
              </a:ext>
            </a:extLst>
          </p:cNvPr>
          <p:cNvSpPr/>
          <p:nvPr/>
        </p:nvSpPr>
        <p:spPr bwMode="auto">
          <a:xfrm>
            <a:off x="2051972" y="3879005"/>
            <a:ext cx="1080012" cy="630007"/>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5EB1B507-4156-00A4-2601-ADDA3921107B}"/>
              </a:ext>
            </a:extLst>
          </p:cNvPr>
          <p:cNvSpPr/>
          <p:nvPr/>
        </p:nvSpPr>
        <p:spPr bwMode="auto">
          <a:xfrm>
            <a:off x="232455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仮想アドレス空間</a:t>
            </a:r>
          </a:p>
        </p:txBody>
      </p:sp>
      <p:sp>
        <p:nvSpPr>
          <p:cNvPr id="32" name="テキスト プレースホルダー 2">
            <a:extLst>
              <a:ext uri="{FF2B5EF4-FFF2-40B4-BE49-F238E27FC236}">
                <a16:creationId xmlns:a16="http://schemas.microsoft.com/office/drawing/2014/main" id="{8DB7D6E2-CB52-5CEB-341B-56D842BD4CFA}"/>
              </a:ext>
            </a:extLst>
          </p:cNvPr>
          <p:cNvSpPr txBox="1">
            <a:spLocks/>
          </p:cNvSpPr>
          <p:nvPr/>
        </p:nvSpPr>
        <p:spPr bwMode="auto">
          <a:xfrm>
            <a:off x="161951" y="5229020"/>
            <a:ext cx="8640096" cy="152971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ja-JP" altLang="en-US" sz="1200" kern="0" dirty="0">
                <a:latin typeface="Consolas" panose="020B0609020204030204" pitchFamily="49" charset="0"/>
              </a:rPr>
              <a:t>この対応付けを，ページテーブルによって表現する</a:t>
            </a:r>
            <a:endParaRPr lang="en-US" altLang="ja-JP" sz="1200" kern="0" dirty="0">
              <a:latin typeface="Consolas" panose="020B0609020204030204" pitchFamily="49" charset="0"/>
            </a:endParaRPr>
          </a:p>
          <a:p>
            <a:pPr lvl="1"/>
            <a:r>
              <a:rPr lang="en-US" altLang="ja-JP" sz="1200" kern="0" dirty="0">
                <a:latin typeface="Consolas" panose="020B0609020204030204" pitchFamily="49" charset="0"/>
              </a:rPr>
              <a:t>64KB=0x10000</a:t>
            </a:r>
            <a:r>
              <a:rPr lang="ja-JP" altLang="en-US" sz="1200" kern="0" dirty="0">
                <a:latin typeface="Consolas" panose="020B0609020204030204" pitchFamily="49" charset="0"/>
              </a:rPr>
              <a:t>個のブロック単位で仮想アドレスから物理アドレスに対応付けられている</a:t>
            </a:r>
            <a:endParaRPr lang="en-US" altLang="ja-JP" sz="1200" kern="0" dirty="0">
              <a:latin typeface="Consolas" panose="020B0609020204030204" pitchFamily="49" charset="0"/>
            </a:endParaRPr>
          </a:p>
          <a:p>
            <a:pPr lvl="1"/>
            <a:r>
              <a:rPr lang="ja-JP" altLang="en-US" sz="1200" kern="0" dirty="0">
                <a:latin typeface="Consolas" panose="020B0609020204030204" pitchFamily="49" charset="0"/>
              </a:rPr>
              <a:t>ページテーブルはポインタの配列であり，</a:t>
            </a:r>
            <a:r>
              <a:rPr lang="en-US" altLang="ja-JP" sz="1200" kern="0" dirty="0">
                <a:latin typeface="Consolas" panose="020B0609020204030204" pitchFamily="49" charset="0"/>
              </a:rPr>
              <a:t>N</a:t>
            </a:r>
            <a:r>
              <a:rPr lang="ja-JP" altLang="en-US" sz="1200" kern="0" dirty="0">
                <a:latin typeface="Consolas" panose="020B0609020204030204" pitchFamily="49" charset="0"/>
              </a:rPr>
              <a:t>番目の要素</a:t>
            </a:r>
            <a:r>
              <a:rPr lang="en-US" altLang="ja-JP" sz="1200" kern="0" dirty="0">
                <a:latin typeface="Consolas" panose="020B0609020204030204" pitchFamily="49" charset="0"/>
              </a:rPr>
              <a:t>=</a:t>
            </a:r>
            <a:r>
              <a:rPr lang="ja-JP" altLang="en-US" sz="1200" kern="0" dirty="0">
                <a:latin typeface="Consolas" panose="020B0609020204030204" pitchFamily="49" charset="0"/>
              </a:rPr>
              <a:t>仮想アドレスの</a:t>
            </a:r>
            <a:r>
              <a:rPr lang="en-US" altLang="ja-JP" sz="1200" kern="0" dirty="0">
                <a:latin typeface="Consolas" panose="020B0609020204030204" pitchFamily="49" charset="0"/>
              </a:rPr>
              <a:t>N</a:t>
            </a:r>
            <a:r>
              <a:rPr lang="ja-JP" altLang="en-US" sz="1200" kern="0" dirty="0">
                <a:latin typeface="Consolas" panose="020B0609020204030204" pitchFamily="49" charset="0"/>
              </a:rPr>
              <a:t>個目のブロックのためのポインタを格納</a:t>
            </a:r>
            <a:endParaRPr lang="en-US" altLang="ja-JP" sz="1200" kern="0" dirty="0">
              <a:latin typeface="Consolas" panose="020B0609020204030204" pitchFamily="49" charset="0"/>
            </a:endParaRPr>
          </a:p>
          <a:p>
            <a:pPr lvl="1"/>
            <a:r>
              <a:rPr lang="ja-JP" altLang="en-US" sz="1200" kern="0" dirty="0">
                <a:latin typeface="Consolas" panose="020B0609020204030204" pitchFamily="49" charset="0"/>
              </a:rPr>
              <a:t>仮想アドレスから，その仮想アドレスが何個目のブロックなのかは </a:t>
            </a:r>
            <a:r>
              <a:rPr lang="en-US" altLang="ja-JP" sz="1200" kern="0" dirty="0">
                <a:latin typeface="Consolas" panose="020B0609020204030204" pitchFamily="49" charset="0"/>
              </a:rPr>
              <a:t>0x10000 </a:t>
            </a:r>
            <a:r>
              <a:rPr lang="ja-JP" altLang="en-US" sz="1200" kern="0" dirty="0">
                <a:latin typeface="Consolas" panose="020B0609020204030204" pitchFamily="49" charset="0"/>
              </a:rPr>
              <a:t>で割れば良い</a:t>
            </a:r>
            <a:endParaRPr lang="en-US" altLang="ja-JP" sz="1200" kern="0" dirty="0">
              <a:latin typeface="Consolas" panose="020B0609020204030204" pitchFamily="49" charset="0"/>
            </a:endParaRPr>
          </a:p>
          <a:p>
            <a:pPr lvl="2"/>
            <a:r>
              <a:rPr lang="en-US" altLang="ja-JP" sz="1200" kern="0" dirty="0">
                <a:latin typeface="Consolas" panose="020B0609020204030204" pitchFamily="49" charset="0"/>
              </a:rPr>
              <a:t>0x10000 </a:t>
            </a:r>
            <a:r>
              <a:rPr lang="ja-JP" altLang="en-US" sz="1200" kern="0" dirty="0">
                <a:latin typeface="Consolas" panose="020B0609020204030204" pitchFamily="49" charset="0"/>
              </a:rPr>
              <a:t>で割る </a:t>
            </a:r>
            <a:r>
              <a:rPr lang="en-US" altLang="ja-JP" sz="1200" kern="0" dirty="0">
                <a:latin typeface="Consolas" panose="020B0609020204030204" pitchFamily="49" charset="0"/>
              </a:rPr>
              <a:t>= 16</a:t>
            </a:r>
            <a:r>
              <a:rPr lang="ja-JP" altLang="en-US" sz="1200" kern="0" dirty="0">
                <a:latin typeface="Consolas" panose="020B0609020204030204" pitchFamily="49" charset="0"/>
              </a:rPr>
              <a:t>進数で下</a:t>
            </a:r>
            <a:r>
              <a:rPr lang="en-US" altLang="ja-JP" sz="1200" kern="0" dirty="0">
                <a:latin typeface="Consolas" panose="020B0609020204030204" pitchFamily="49" charset="0"/>
              </a:rPr>
              <a:t>4</a:t>
            </a:r>
            <a:r>
              <a:rPr lang="ja-JP" altLang="en-US" sz="1200" kern="0" dirty="0">
                <a:latin typeface="Consolas" panose="020B0609020204030204" pitchFamily="49" charset="0"/>
              </a:rPr>
              <a:t>桁（下</a:t>
            </a:r>
            <a:r>
              <a:rPr lang="en-US" altLang="ja-JP" sz="1200" kern="0" dirty="0">
                <a:latin typeface="Consolas" panose="020B0609020204030204" pitchFamily="49" charset="0"/>
              </a:rPr>
              <a:t>16bit</a:t>
            </a:r>
            <a:r>
              <a:rPr lang="ja-JP" altLang="en-US" sz="1200" kern="0" dirty="0">
                <a:latin typeface="Consolas" panose="020B0609020204030204" pitchFamily="49" charset="0"/>
              </a:rPr>
              <a:t>）を取りのぞく → 上</a:t>
            </a:r>
            <a:r>
              <a:rPr lang="en-US" altLang="ja-JP" sz="1200" kern="0" dirty="0">
                <a:latin typeface="Consolas" panose="020B0609020204030204" pitchFamily="49" charset="0"/>
              </a:rPr>
              <a:t>16</a:t>
            </a:r>
            <a:r>
              <a:rPr lang="ja-JP" altLang="en-US" sz="1200" kern="0" dirty="0">
                <a:latin typeface="Consolas" panose="020B0609020204030204" pitchFamily="49" charset="0"/>
              </a:rPr>
              <a:t>ビットが残る</a:t>
            </a:r>
            <a:endParaRPr lang="en-US" altLang="ja-JP" sz="1200" kern="0" dirty="0">
              <a:latin typeface="Consolas" panose="020B0609020204030204" pitchFamily="49" charset="0"/>
            </a:endParaRPr>
          </a:p>
        </p:txBody>
      </p:sp>
      <p:sp>
        <p:nvSpPr>
          <p:cNvPr id="3" name="正方形/長方形 2">
            <a:extLst>
              <a:ext uri="{FF2B5EF4-FFF2-40B4-BE49-F238E27FC236}">
                <a16:creationId xmlns:a16="http://schemas.microsoft.com/office/drawing/2014/main" id="{F2F53B3D-0B80-A316-F571-78E75CD80D2F}"/>
              </a:ext>
            </a:extLst>
          </p:cNvPr>
          <p:cNvSpPr/>
          <p:nvPr/>
        </p:nvSpPr>
        <p:spPr bwMode="auto">
          <a:xfrm>
            <a:off x="4572000" y="1988984"/>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 name="正方形/長方形 3">
            <a:extLst>
              <a:ext uri="{FF2B5EF4-FFF2-40B4-BE49-F238E27FC236}">
                <a16:creationId xmlns:a16="http://schemas.microsoft.com/office/drawing/2014/main" id="{E2332124-DB5C-F73D-4CA5-93C1E8822BC7}"/>
              </a:ext>
            </a:extLst>
          </p:cNvPr>
          <p:cNvSpPr/>
          <p:nvPr/>
        </p:nvSpPr>
        <p:spPr bwMode="auto">
          <a:xfrm>
            <a:off x="4572000" y="198898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E2BACBE6-8686-045E-F710-ECFDCD04567B}"/>
              </a:ext>
            </a:extLst>
          </p:cNvPr>
          <p:cNvSpPr/>
          <p:nvPr/>
        </p:nvSpPr>
        <p:spPr bwMode="auto">
          <a:xfrm>
            <a:off x="4572000" y="216898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7942BAFB-66BE-09B3-452D-994327342827}"/>
              </a:ext>
            </a:extLst>
          </p:cNvPr>
          <p:cNvSpPr/>
          <p:nvPr/>
        </p:nvSpPr>
        <p:spPr bwMode="auto">
          <a:xfrm>
            <a:off x="4572000" y="234898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405A49CA-7EFC-2450-09EE-5F6A204224D1}"/>
              </a:ext>
            </a:extLst>
          </p:cNvPr>
          <p:cNvSpPr/>
          <p:nvPr/>
        </p:nvSpPr>
        <p:spPr bwMode="auto">
          <a:xfrm>
            <a:off x="4572000" y="2528990"/>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r"/>
            <a:r>
              <a:rPr kumimoji="1" lang="ja-JP" altLang="en-US" dirty="0">
                <a:solidFill>
                  <a:schemeClr val="tx1">
                    <a:lumMod val="75000"/>
                    <a:lumOff val="25000"/>
                  </a:schemeClr>
                </a:solidFill>
                <a:latin typeface="+mn-ea"/>
              </a:rPr>
              <a:t>･･･</a:t>
            </a:r>
          </a:p>
        </p:txBody>
      </p:sp>
      <p:sp>
        <p:nvSpPr>
          <p:cNvPr id="9" name="正方形/長方形 8">
            <a:extLst>
              <a:ext uri="{FF2B5EF4-FFF2-40B4-BE49-F238E27FC236}">
                <a16:creationId xmlns:a16="http://schemas.microsoft.com/office/drawing/2014/main" id="{396C614A-5051-4DA0-C871-B7993ECB5698}"/>
              </a:ext>
            </a:extLst>
          </p:cNvPr>
          <p:cNvSpPr/>
          <p:nvPr/>
        </p:nvSpPr>
        <p:spPr bwMode="auto">
          <a:xfrm>
            <a:off x="4662001" y="153897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ページ・テーブル</a:t>
            </a:r>
          </a:p>
        </p:txBody>
      </p:sp>
      <p:sp>
        <p:nvSpPr>
          <p:cNvPr id="10" name="正方形/長方形 9">
            <a:extLst>
              <a:ext uri="{FF2B5EF4-FFF2-40B4-BE49-F238E27FC236}">
                <a16:creationId xmlns:a16="http://schemas.microsoft.com/office/drawing/2014/main" id="{22B2995D-72A0-A647-EF2A-DF5CA2C17E44}"/>
              </a:ext>
            </a:extLst>
          </p:cNvPr>
          <p:cNvSpPr/>
          <p:nvPr/>
        </p:nvSpPr>
        <p:spPr bwMode="auto">
          <a:xfrm>
            <a:off x="4572000" y="216898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0x3000 0000</a:t>
            </a:r>
            <a:endParaRPr kumimoji="1" lang="ja-JP" altLang="en-US" sz="1200" dirty="0">
              <a:solidFill>
                <a:schemeClr val="accent6"/>
              </a:solidFill>
              <a:latin typeface="Consolas" panose="020B0609020204030204" pitchFamily="49" charset="0"/>
            </a:endParaRPr>
          </a:p>
        </p:txBody>
      </p:sp>
      <p:sp>
        <p:nvSpPr>
          <p:cNvPr id="18" name="正方形/長方形 17">
            <a:extLst>
              <a:ext uri="{FF2B5EF4-FFF2-40B4-BE49-F238E27FC236}">
                <a16:creationId xmlns:a16="http://schemas.microsoft.com/office/drawing/2014/main" id="{E900C052-A22D-5FC3-64BE-925E65CD5CDF}"/>
              </a:ext>
            </a:extLst>
          </p:cNvPr>
          <p:cNvSpPr/>
          <p:nvPr/>
        </p:nvSpPr>
        <p:spPr bwMode="auto">
          <a:xfrm>
            <a:off x="4572000"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0x3001 0000</a:t>
            </a:r>
            <a:endParaRPr kumimoji="1" lang="ja-JP" altLang="en-US" sz="1200" dirty="0">
              <a:solidFill>
                <a:schemeClr val="accent6"/>
              </a:solidFill>
              <a:latin typeface="Consolas" panose="020B0609020204030204" pitchFamily="49" charset="0"/>
            </a:endParaRPr>
          </a:p>
        </p:txBody>
      </p:sp>
      <p:cxnSp>
        <p:nvCxnSpPr>
          <p:cNvPr id="19" name="直線矢印コネクタ 18">
            <a:extLst>
              <a:ext uri="{FF2B5EF4-FFF2-40B4-BE49-F238E27FC236}">
                <a16:creationId xmlns:a16="http://schemas.microsoft.com/office/drawing/2014/main" id="{A6760D96-9681-33DD-5116-2C98EB224A50}"/>
              </a:ext>
            </a:extLst>
          </p:cNvPr>
          <p:cNvCxnSpPr>
            <a:cxnSpLocks/>
          </p:cNvCxnSpPr>
          <p:nvPr/>
        </p:nvCxnSpPr>
        <p:spPr bwMode="auto">
          <a:xfrm>
            <a:off x="3131984" y="1718981"/>
            <a:ext cx="1440016" cy="450005"/>
          </a:xfrm>
          <a:prstGeom prst="straightConnector1">
            <a:avLst/>
          </a:prstGeom>
          <a:noFill/>
          <a:ln w="9525" cap="flat" cmpd="sng" algn="ctr">
            <a:solidFill>
              <a:schemeClr val="tx1"/>
            </a:solidFill>
            <a:prstDash val="solid"/>
            <a:round/>
            <a:headEnd type="none" w="med" len="med"/>
            <a:tailEnd type="triangle"/>
          </a:ln>
          <a:effectLst/>
        </p:spPr>
      </p:cxnSp>
      <p:cxnSp>
        <p:nvCxnSpPr>
          <p:cNvPr id="27" name="直線矢印コネクタ 26">
            <a:extLst>
              <a:ext uri="{FF2B5EF4-FFF2-40B4-BE49-F238E27FC236}">
                <a16:creationId xmlns:a16="http://schemas.microsoft.com/office/drawing/2014/main" id="{C52BAA5C-F107-7A16-6C74-D08EA52621E6}"/>
              </a:ext>
            </a:extLst>
          </p:cNvPr>
          <p:cNvCxnSpPr>
            <a:cxnSpLocks/>
          </p:cNvCxnSpPr>
          <p:nvPr/>
        </p:nvCxnSpPr>
        <p:spPr bwMode="auto">
          <a:xfrm flipV="1">
            <a:off x="3131984" y="3068996"/>
            <a:ext cx="1440016" cy="810009"/>
          </a:xfrm>
          <a:prstGeom prst="straightConnector1">
            <a:avLst/>
          </a:prstGeom>
          <a:noFill/>
          <a:ln w="9525" cap="flat" cmpd="sng" algn="ctr">
            <a:solidFill>
              <a:schemeClr val="tx1"/>
            </a:solidFill>
            <a:prstDash val="solid"/>
            <a:round/>
            <a:headEnd type="none" w="med" len="med"/>
            <a:tailEnd type="triangle"/>
          </a:ln>
          <a:effectLst/>
        </p:spPr>
      </p:cxnSp>
      <p:cxnSp>
        <p:nvCxnSpPr>
          <p:cNvPr id="31" name="直線矢印コネクタ 30">
            <a:extLst>
              <a:ext uri="{FF2B5EF4-FFF2-40B4-BE49-F238E27FC236}">
                <a16:creationId xmlns:a16="http://schemas.microsoft.com/office/drawing/2014/main" id="{3E060263-4B98-0933-B4ED-AAF07A073C20}"/>
              </a:ext>
            </a:extLst>
          </p:cNvPr>
          <p:cNvCxnSpPr>
            <a:cxnSpLocks/>
          </p:cNvCxnSpPr>
          <p:nvPr/>
        </p:nvCxnSpPr>
        <p:spPr bwMode="auto">
          <a:xfrm>
            <a:off x="5652012" y="2168986"/>
            <a:ext cx="1440016" cy="270003"/>
          </a:xfrm>
          <a:prstGeom prst="straightConnector1">
            <a:avLst/>
          </a:prstGeom>
          <a:noFill/>
          <a:ln w="9525" cap="flat" cmpd="sng" algn="ctr">
            <a:solidFill>
              <a:schemeClr val="tx1"/>
            </a:solidFill>
            <a:prstDash val="solid"/>
            <a:round/>
            <a:headEnd type="none" w="med" len="med"/>
            <a:tailEnd type="triangle"/>
          </a:ln>
          <a:effectLst/>
        </p:spPr>
      </p:cxnSp>
      <p:cxnSp>
        <p:nvCxnSpPr>
          <p:cNvPr id="35" name="直線矢印コネクタ 34">
            <a:extLst>
              <a:ext uri="{FF2B5EF4-FFF2-40B4-BE49-F238E27FC236}">
                <a16:creationId xmlns:a16="http://schemas.microsoft.com/office/drawing/2014/main" id="{DC54FBA4-36E2-5A81-2C21-BE185D43A54B}"/>
              </a:ext>
            </a:extLst>
          </p:cNvPr>
          <p:cNvCxnSpPr>
            <a:cxnSpLocks/>
            <a:endCxn id="5" idx="1"/>
          </p:cNvCxnSpPr>
          <p:nvPr/>
        </p:nvCxnSpPr>
        <p:spPr bwMode="auto">
          <a:xfrm>
            <a:off x="5652012" y="3068996"/>
            <a:ext cx="1440016" cy="0"/>
          </a:xfrm>
          <a:prstGeom prst="straightConnector1">
            <a:avLst/>
          </a:prstGeom>
          <a:noFill/>
          <a:ln w="9525" cap="flat" cmpd="sng" algn="ctr">
            <a:solidFill>
              <a:schemeClr val="tx1"/>
            </a:solidFill>
            <a:prstDash val="solid"/>
            <a:round/>
            <a:headEnd type="none" w="med" len="med"/>
            <a:tailEnd type="triangle"/>
          </a:ln>
          <a:effectLst/>
        </p:spPr>
      </p:cxnSp>
      <p:sp>
        <p:nvSpPr>
          <p:cNvPr id="37" name="正方形/長方形 36">
            <a:extLst>
              <a:ext uri="{FF2B5EF4-FFF2-40B4-BE49-F238E27FC236}">
                <a16:creationId xmlns:a16="http://schemas.microsoft.com/office/drawing/2014/main" id="{C8965A73-2259-0B45-B179-FC688269709D}"/>
              </a:ext>
            </a:extLst>
          </p:cNvPr>
          <p:cNvSpPr/>
          <p:nvPr/>
        </p:nvSpPr>
        <p:spPr bwMode="auto">
          <a:xfrm>
            <a:off x="3401987" y="2168986"/>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0x1000</a:t>
            </a:r>
            <a:r>
              <a:rPr kumimoji="1" lang="ja-JP" altLang="en-US" sz="1200" dirty="0">
                <a:solidFill>
                  <a:schemeClr val="accent6"/>
                </a:solidFill>
                <a:latin typeface="Consolas" panose="020B0609020204030204" pitchFamily="49" charset="0"/>
              </a:rPr>
              <a:t>個目</a:t>
            </a:r>
          </a:p>
        </p:txBody>
      </p:sp>
      <p:sp>
        <p:nvSpPr>
          <p:cNvPr id="38" name="正方形/長方形 37">
            <a:extLst>
              <a:ext uri="{FF2B5EF4-FFF2-40B4-BE49-F238E27FC236}">
                <a16:creationId xmlns:a16="http://schemas.microsoft.com/office/drawing/2014/main" id="{FC0C1F18-CA1F-8444-832B-77EF322CAFED}"/>
              </a:ext>
            </a:extLst>
          </p:cNvPr>
          <p:cNvSpPr/>
          <p:nvPr/>
        </p:nvSpPr>
        <p:spPr bwMode="auto">
          <a:xfrm>
            <a:off x="3401987" y="3068996"/>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0xfea5</a:t>
            </a:r>
            <a:r>
              <a:rPr kumimoji="1" lang="ja-JP" altLang="en-US" sz="1200" dirty="0">
                <a:solidFill>
                  <a:schemeClr val="accent6"/>
                </a:solidFill>
                <a:latin typeface="Consolas" panose="020B0609020204030204" pitchFamily="49" charset="0"/>
              </a:rPr>
              <a:t>個目</a:t>
            </a:r>
          </a:p>
        </p:txBody>
      </p:sp>
    </p:spTree>
    <p:extLst>
      <p:ext uri="{BB962C8B-B14F-4D97-AF65-F5344CB8AC3E}">
        <p14:creationId xmlns:p14="http://schemas.microsoft.com/office/powerpoint/2010/main" val="3466969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単段ページ・テーブルの動作</a:t>
            </a: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6372020" y="1358977"/>
            <a:ext cx="1080012" cy="288003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971960" y="1358977"/>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tx1">
                    <a:lumMod val="75000"/>
                    <a:lumOff val="25000"/>
                  </a:schemeClr>
                </a:solidFill>
                <a:latin typeface="Consolas" panose="020B0609020204030204" pitchFamily="49" charset="0"/>
              </a:rPr>
              <a:t>   0x1000</a:t>
            </a:r>
            <a:endParaRPr kumimoji="1" lang="ja-JP" altLang="en-US" dirty="0">
              <a:solidFill>
                <a:schemeClr val="tx1">
                  <a:lumMod val="75000"/>
                  <a:lumOff val="25000"/>
                </a:schemeClr>
              </a:solidFill>
              <a:latin typeface="Consolas" panose="020B0609020204030204" pitchFamily="49" charset="0"/>
            </a:endParaRPr>
          </a:p>
        </p:txBody>
      </p:sp>
      <p:cxnSp>
        <p:nvCxnSpPr>
          <p:cNvPr id="10" name="直線矢印コネクタ 9"/>
          <p:cNvCxnSpPr/>
          <p:nvPr/>
        </p:nvCxnSpPr>
        <p:spPr bwMode="auto">
          <a:xfrm>
            <a:off x="971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205197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32 bit </a:t>
            </a:r>
            <a:r>
              <a:rPr kumimoji="1"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2411976" y="1358977"/>
            <a:ext cx="144001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2000</a:t>
            </a:r>
            <a:endParaRPr kumimoji="1" lang="ja-JP" altLang="en-US" dirty="0">
              <a:solidFill>
                <a:schemeClr val="tx1">
                  <a:lumMod val="75000"/>
                  <a:lumOff val="25000"/>
                </a:schemeClr>
              </a:solidFill>
              <a:latin typeface="Consolas" panose="020B0609020204030204" pitchFamily="49" charset="0"/>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6372020" y="3519001"/>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41" name="正方形/長方形 40"/>
          <p:cNvSpPr/>
          <p:nvPr/>
        </p:nvSpPr>
        <p:spPr bwMode="auto">
          <a:xfrm>
            <a:off x="655202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40" name="正方形/長方形 39">
            <a:extLst>
              <a:ext uri="{FF2B5EF4-FFF2-40B4-BE49-F238E27FC236}">
                <a16:creationId xmlns:a16="http://schemas.microsoft.com/office/drawing/2014/main" id="{F8E9AEA5-3FB4-455D-9495-C980C57584B6}"/>
              </a:ext>
            </a:extLst>
          </p:cNvPr>
          <p:cNvSpPr/>
          <p:nvPr/>
        </p:nvSpPr>
        <p:spPr bwMode="auto">
          <a:xfrm>
            <a:off x="5112006" y="3519002"/>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400" dirty="0">
                <a:solidFill>
                  <a:schemeClr val="accent6"/>
                </a:solidFill>
                <a:latin typeface="Consolas" panose="020B0609020204030204" pitchFamily="49" charset="0"/>
              </a:rPr>
              <a:t>0x30000000:</a:t>
            </a:r>
            <a:endParaRPr kumimoji="1" lang="ja-JP" altLang="en-US" sz="1400" dirty="0">
              <a:solidFill>
                <a:schemeClr val="accent6"/>
              </a:solidFill>
              <a:latin typeface="Consolas" panose="020B0609020204030204" pitchFamily="49" charset="0"/>
            </a:endParaRP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251952" y="3429000"/>
            <a:ext cx="8550095" cy="2879726"/>
          </a:xfrm>
        </p:spPr>
        <p:txBody>
          <a:bodyPr/>
          <a:lstStyle/>
          <a:p>
            <a:r>
              <a:rPr kumimoji="1" lang="ja-JP" altLang="en-US" sz="1400" dirty="0">
                <a:latin typeface="Consolas" panose="020B0609020204030204" pitchFamily="49" charset="0"/>
              </a:rPr>
              <a:t>ページ・テーブルは実際には物理空間上におかれる</a:t>
            </a:r>
            <a:endParaRPr lang="en-US" altLang="ja-JP" sz="1400" dirty="0">
              <a:latin typeface="Consolas" panose="020B0609020204030204" pitchFamily="49" charset="0"/>
            </a:endParaRPr>
          </a:p>
          <a:p>
            <a:pPr lvl="1"/>
            <a:r>
              <a:rPr kumimoji="1" lang="ja-JP" altLang="en-US" sz="1400" dirty="0">
                <a:latin typeface="Consolas" panose="020B0609020204030204" pitchFamily="49" charset="0"/>
              </a:rPr>
              <a:t>その先頭アドレスがベース・レジスタで指定する</a:t>
            </a:r>
            <a:endParaRPr kumimoji="1" lang="en-US" altLang="ja-JP" sz="1400" dirty="0">
              <a:latin typeface="Consolas" panose="020B0609020204030204" pitchFamily="49" charset="0"/>
            </a:endParaRPr>
          </a:p>
          <a:p>
            <a:pPr lvl="1"/>
            <a:r>
              <a:rPr kumimoji="1" lang="ja-JP" altLang="en-US" sz="1400" dirty="0">
                <a:latin typeface="Consolas" panose="020B0609020204030204" pitchFamily="49" charset="0"/>
              </a:rPr>
              <a:t>今回は </a:t>
            </a:r>
            <a:r>
              <a:rPr kumimoji="1" lang="en-US" altLang="ja-JP" sz="1400" dirty="0">
                <a:latin typeface="Consolas" panose="020B0609020204030204" pitchFamily="49" charset="0"/>
              </a:rPr>
              <a:t>0x20000000 </a:t>
            </a:r>
            <a:r>
              <a:rPr kumimoji="1" lang="ja-JP" altLang="en-US" sz="1400" dirty="0">
                <a:latin typeface="Consolas" panose="020B0609020204030204" pitchFamily="49" charset="0"/>
              </a:rPr>
              <a:t>からがページ・テーブル</a:t>
            </a:r>
            <a:endParaRPr kumimoji="1" lang="en-US" altLang="ja-JP" sz="1400" dirty="0">
              <a:latin typeface="Consolas" panose="020B0609020204030204" pitchFamily="49" charset="0"/>
            </a:endParaRPr>
          </a:p>
          <a:p>
            <a:r>
              <a:rPr kumimoji="1" lang="ja-JP" altLang="en-US" sz="1400" dirty="0">
                <a:latin typeface="Consolas" panose="020B0609020204030204" pitchFamily="49" charset="0"/>
              </a:rPr>
              <a:t>仮想アドレスからの変換の手順</a:t>
            </a:r>
            <a:endParaRPr kumimoji="1" lang="en-US" altLang="ja-JP" sz="1400" dirty="0">
              <a:latin typeface="Consolas" panose="020B0609020204030204" pitchFamily="49" charset="0"/>
            </a:endParaRPr>
          </a:p>
          <a:p>
            <a:pPr lvl="1">
              <a:buFont typeface="+mj-lt"/>
              <a:buAutoNum type="arabicPeriod"/>
            </a:pPr>
            <a:r>
              <a:rPr kumimoji="1" lang="ja-JP" altLang="en-US" sz="1400" dirty="0">
                <a:latin typeface="Consolas" panose="020B0609020204030204" pitchFamily="49" charset="0"/>
              </a:rPr>
              <a:t>仮想アドレスをページ・サイズで割り，</a:t>
            </a:r>
            <a:br>
              <a:rPr kumimoji="1" lang="en-US" altLang="ja-JP" sz="1400" dirty="0">
                <a:latin typeface="Consolas" panose="020B0609020204030204" pitchFamily="49" charset="0"/>
              </a:rPr>
            </a:br>
            <a:r>
              <a:rPr kumimoji="1" lang="ja-JP" altLang="en-US" sz="1400" dirty="0">
                <a:latin typeface="Consolas" panose="020B0609020204030204" pitchFamily="49" charset="0"/>
              </a:rPr>
              <a:t>それがアドレス空間中にある </a:t>
            </a:r>
            <a:r>
              <a:rPr kumimoji="1" lang="en-US" altLang="ja-JP" sz="1400" dirty="0">
                <a:latin typeface="Consolas" panose="020B0609020204030204" pitchFamily="49" charset="0"/>
              </a:rPr>
              <a:t>N </a:t>
            </a:r>
            <a:r>
              <a:rPr kumimoji="1" lang="ja-JP" altLang="en-US" sz="1400" dirty="0">
                <a:latin typeface="Consolas" panose="020B0609020204030204" pitchFamily="49" charset="0"/>
              </a:rPr>
              <a:t>番目のページなのかを計算する</a:t>
            </a:r>
            <a:endParaRPr kumimoji="1" lang="en-US" altLang="ja-JP" sz="1400" dirty="0">
              <a:latin typeface="Consolas" panose="020B0609020204030204" pitchFamily="49" charset="0"/>
            </a:endParaRPr>
          </a:p>
          <a:p>
            <a:pPr lvl="1">
              <a:buFont typeface="+mj-lt"/>
              <a:buAutoNum type="arabicPeriod"/>
            </a:pPr>
            <a:r>
              <a:rPr kumimoji="1" lang="ja-JP" altLang="en-US" sz="1400" dirty="0">
                <a:latin typeface="Consolas" panose="020B0609020204030204" pitchFamily="49" charset="0"/>
              </a:rPr>
              <a:t>ページ・テーブルの </a:t>
            </a:r>
            <a:r>
              <a:rPr kumimoji="1" lang="en-US" altLang="ja-JP" sz="1400" dirty="0">
                <a:latin typeface="Consolas" panose="020B0609020204030204" pitchFamily="49" charset="0"/>
              </a:rPr>
              <a:t>N </a:t>
            </a:r>
            <a:r>
              <a:rPr kumimoji="1" lang="ja-JP" altLang="en-US" sz="1400" dirty="0">
                <a:latin typeface="Consolas" panose="020B0609020204030204" pitchFamily="49" charset="0"/>
              </a:rPr>
              <a:t>番目の要素を読む</a:t>
            </a:r>
            <a:endParaRPr kumimoji="1" lang="en-US" altLang="ja-JP" sz="1400" dirty="0">
              <a:latin typeface="Consolas" panose="020B0609020204030204" pitchFamily="49" charset="0"/>
            </a:endParaRPr>
          </a:p>
          <a:p>
            <a:pPr lvl="2"/>
            <a:r>
              <a:rPr lang="en-US" altLang="ja-JP" sz="1400" dirty="0">
                <a:latin typeface="Consolas" panose="020B0609020204030204" pitchFamily="49" charset="0"/>
              </a:rPr>
              <a:t>0x20000000 + N*4 </a:t>
            </a:r>
            <a:r>
              <a:rPr lang="ja-JP" altLang="en-US" sz="1400" dirty="0">
                <a:latin typeface="Consolas" panose="020B0609020204030204" pitchFamily="49" charset="0"/>
              </a:rPr>
              <a:t>の物理アドレスを読む</a:t>
            </a:r>
            <a:endParaRPr lang="en-US" altLang="ja-JP" sz="1400" dirty="0">
              <a:latin typeface="Consolas" panose="020B0609020204030204" pitchFamily="49" charset="0"/>
            </a:endParaRPr>
          </a:p>
          <a:p>
            <a:pPr lvl="2"/>
            <a:r>
              <a:rPr kumimoji="1" lang="en-US" altLang="ja-JP" sz="1400" dirty="0">
                <a:latin typeface="Consolas" panose="020B0609020204030204" pitchFamily="49" charset="0"/>
              </a:rPr>
              <a:t>*4 </a:t>
            </a:r>
            <a:r>
              <a:rPr kumimoji="1" lang="ja-JP" altLang="en-US" sz="1400" dirty="0">
                <a:latin typeface="Consolas" panose="020B0609020204030204" pitchFamily="49" charset="0"/>
              </a:rPr>
              <a:t>は格納されているポインタのサイズが </a:t>
            </a:r>
            <a:r>
              <a:rPr kumimoji="1" lang="en-US" altLang="ja-JP" sz="1400" dirty="0">
                <a:latin typeface="Consolas" panose="020B0609020204030204" pitchFamily="49" charset="0"/>
              </a:rPr>
              <a:t>4B </a:t>
            </a:r>
            <a:r>
              <a:rPr kumimoji="1" lang="ja-JP" altLang="en-US" sz="1400" dirty="0">
                <a:latin typeface="Consolas" panose="020B0609020204030204" pitchFamily="49" charset="0"/>
              </a:rPr>
              <a:t>だから</a:t>
            </a:r>
            <a:endParaRPr kumimoji="1" lang="en-US" altLang="ja-JP" sz="1400" dirty="0">
              <a:latin typeface="Consolas" panose="020B0609020204030204" pitchFamily="49" charset="0"/>
            </a:endParaRPr>
          </a:p>
          <a:p>
            <a:pPr lvl="1">
              <a:buFont typeface="+mj-lt"/>
              <a:buAutoNum type="arabicPeriod"/>
            </a:pPr>
            <a:r>
              <a:rPr kumimoji="1" lang="ja-JP" altLang="en-US" sz="1400" dirty="0">
                <a:latin typeface="Consolas" panose="020B0609020204030204" pitchFamily="49" charset="0"/>
              </a:rPr>
              <a:t>仮想アドレスをページ・サイズで割った余りを </a:t>
            </a:r>
            <a:r>
              <a:rPr kumimoji="1" lang="en-US" altLang="ja-JP" sz="1400" dirty="0">
                <a:latin typeface="Consolas" panose="020B0609020204030204" pitchFamily="49" charset="0"/>
              </a:rPr>
              <a:t>2. </a:t>
            </a:r>
            <a:r>
              <a:rPr kumimoji="1" lang="ja-JP" altLang="en-US" sz="1400" dirty="0">
                <a:latin typeface="Consolas" panose="020B0609020204030204" pitchFamily="49" charset="0"/>
              </a:rPr>
              <a:t>で得られたアドレスに足す</a:t>
            </a:r>
            <a:endParaRPr kumimoji="1" lang="en-US" altLang="ja-JP" sz="1400" dirty="0">
              <a:latin typeface="Consolas" panose="020B0609020204030204" pitchFamily="49" charset="0"/>
            </a:endParaRPr>
          </a:p>
          <a:p>
            <a:pPr lvl="2">
              <a:buFont typeface="+mj-lt"/>
              <a:buAutoNum type="arabicPeriod"/>
            </a:pPr>
            <a:r>
              <a:rPr lang="ja-JP" altLang="en-US" sz="1400" dirty="0">
                <a:latin typeface="Consolas" panose="020B0609020204030204" pitchFamily="49" charset="0"/>
              </a:rPr>
              <a:t>余り</a:t>
            </a:r>
            <a:r>
              <a:rPr lang="en-US" altLang="ja-JP" sz="1400" dirty="0">
                <a:latin typeface="Consolas" panose="020B0609020204030204" pitchFamily="49" charset="0"/>
              </a:rPr>
              <a:t>=64KB </a:t>
            </a:r>
            <a:r>
              <a:rPr lang="ja-JP" altLang="en-US" sz="1400" dirty="0">
                <a:latin typeface="Consolas" panose="020B0609020204030204" pitchFamily="49" charset="0"/>
              </a:rPr>
              <a:t>ページの中の何番目のアドレスなのかを意味する</a:t>
            </a:r>
            <a:endParaRPr lang="en-US" altLang="ja-JP" sz="1400" dirty="0">
              <a:latin typeface="Consolas" panose="020B0609020204030204" pitchFamily="49" charset="0"/>
            </a:endParaRPr>
          </a:p>
          <a:p>
            <a:pPr lvl="2">
              <a:buFont typeface="+mj-lt"/>
              <a:buAutoNum type="arabicPeriod"/>
            </a:pPr>
            <a:r>
              <a:rPr kumimoji="1" lang="en-US" altLang="ja-JP" sz="1400" dirty="0">
                <a:latin typeface="Consolas" panose="020B0609020204030204" pitchFamily="49" charset="0"/>
              </a:rPr>
              <a:t>16</a:t>
            </a:r>
            <a:r>
              <a:rPr kumimoji="1" lang="ja-JP" altLang="en-US" sz="1400" dirty="0">
                <a:latin typeface="Consolas" panose="020B0609020204030204" pitchFamily="49" charset="0"/>
              </a:rPr>
              <a:t>進数で下</a:t>
            </a:r>
            <a:r>
              <a:rPr kumimoji="1" lang="en-US" altLang="ja-JP" sz="1400" dirty="0">
                <a:latin typeface="Consolas" panose="020B0609020204030204" pitchFamily="49" charset="0"/>
              </a:rPr>
              <a:t>4</a:t>
            </a:r>
            <a:r>
              <a:rPr kumimoji="1" lang="ja-JP" altLang="en-US" sz="1400" dirty="0">
                <a:latin typeface="Consolas" panose="020B0609020204030204" pitchFamily="49" charset="0"/>
              </a:rPr>
              <a:t>桁を取り出すことは，ページ・サイズ</a:t>
            </a:r>
            <a:r>
              <a:rPr lang="en-US" altLang="ja-JP" sz="1400" dirty="0">
                <a:latin typeface="Consolas" panose="020B0609020204030204" pitchFamily="49" charset="0"/>
              </a:rPr>
              <a:t>0x10000</a:t>
            </a:r>
            <a:r>
              <a:rPr lang="ja-JP" altLang="en-US" sz="1400" dirty="0">
                <a:latin typeface="Consolas" panose="020B0609020204030204" pitchFamily="49" charset="0"/>
              </a:rPr>
              <a:t>で割った余りを求めるのと等価</a:t>
            </a:r>
            <a:endParaRPr kumimoji="1" lang="en-US" altLang="ja-JP" sz="1400" dirty="0">
              <a:latin typeface="Consolas" panose="020B0609020204030204" pitchFamily="49" charset="0"/>
            </a:endParaRPr>
          </a:p>
          <a:p>
            <a:pPr lvl="1"/>
            <a:endParaRPr kumimoji="1"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6372020" y="1628980"/>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6372020" y="162898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6372020" y="180898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6372020" y="198898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6372020" y="216898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r"/>
            <a:r>
              <a:rPr kumimoji="1" lang="ja-JP" altLang="en-US" dirty="0">
                <a:solidFill>
                  <a:schemeClr val="tx1">
                    <a:lumMod val="75000"/>
                    <a:lumOff val="25000"/>
                  </a:schemeClr>
                </a:solidFill>
                <a:latin typeface="+mn-ea"/>
              </a:rPr>
              <a:t>･･･</a:t>
            </a:r>
          </a:p>
        </p:txBody>
      </p:sp>
      <p:sp>
        <p:nvSpPr>
          <p:cNvPr id="42" name="正方形/長方形 41"/>
          <p:cNvSpPr/>
          <p:nvPr/>
        </p:nvSpPr>
        <p:spPr bwMode="auto">
          <a:xfrm>
            <a:off x="8082039" y="1628980"/>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ページ・テーブル</a:t>
            </a: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6372020" y="261899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0x30000000</a:t>
            </a:r>
            <a:endParaRPr kumimoji="1" lang="ja-JP" altLang="en-US" sz="1200" dirty="0">
              <a:solidFill>
                <a:schemeClr val="accent6"/>
              </a:solidFill>
              <a:latin typeface="Consolas" panose="020B0609020204030204" pitchFamily="49" charset="0"/>
            </a:endParaRPr>
          </a:p>
        </p:txBody>
      </p:sp>
      <p:sp>
        <p:nvSpPr>
          <p:cNvPr id="33" name="正方形/長方形 32"/>
          <p:cNvSpPr/>
          <p:nvPr/>
        </p:nvSpPr>
        <p:spPr bwMode="auto">
          <a:xfrm>
            <a:off x="5742013" y="2618991"/>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accent6"/>
                </a:solidFill>
                <a:latin typeface="Consolas" panose="020B0609020204030204" pitchFamily="49" charset="0"/>
              </a:rPr>
              <a:t>0x20004000</a:t>
            </a:r>
            <a:r>
              <a:rPr kumimoji="1" lang="en-US" altLang="ja-JP" sz="1400" dirty="0">
                <a:solidFill>
                  <a:schemeClr val="tx1">
                    <a:lumMod val="75000"/>
                    <a:lumOff val="25000"/>
                  </a:schemeClr>
                </a:solidFill>
                <a:latin typeface="Consolas" panose="020B0609020204030204" pitchFamily="49" charset="0"/>
              </a:rPr>
              <a:t>:</a:t>
            </a:r>
            <a:endParaRPr kumimoji="1" lang="ja-JP" altLang="en-US" sz="1400" dirty="0">
              <a:solidFill>
                <a:schemeClr val="tx1">
                  <a:lumMod val="75000"/>
                  <a:lumOff val="25000"/>
                </a:schemeClr>
              </a:solidFill>
              <a:latin typeface="Consolas" panose="020B0609020204030204" pitchFamily="49" charset="0"/>
            </a:endParaRPr>
          </a:p>
        </p:txBody>
      </p:sp>
      <p:sp>
        <p:nvSpPr>
          <p:cNvPr id="36" name="正方形/長方形 35"/>
          <p:cNvSpPr/>
          <p:nvPr/>
        </p:nvSpPr>
        <p:spPr bwMode="auto">
          <a:xfrm>
            <a:off x="5742013" y="1628980"/>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tx1">
                    <a:lumMod val="75000"/>
                    <a:lumOff val="25000"/>
                  </a:schemeClr>
                </a:solidFill>
                <a:latin typeface="Consolas" panose="020B0609020204030204" pitchFamily="49" charset="0"/>
              </a:rPr>
              <a:t>0x20000000:</a:t>
            </a:r>
            <a:endParaRPr kumimoji="1" lang="ja-JP" altLang="en-US" sz="1400" dirty="0">
              <a:solidFill>
                <a:schemeClr val="tx1">
                  <a:lumMod val="75000"/>
                  <a:lumOff val="25000"/>
                </a:schemeClr>
              </a:solidFill>
              <a:latin typeface="Consolas" panose="020B0609020204030204" pitchFamily="49" charset="0"/>
            </a:endParaRPr>
          </a:p>
        </p:txBody>
      </p:sp>
      <p:sp>
        <p:nvSpPr>
          <p:cNvPr id="38" name="正方形/長方形 37"/>
          <p:cNvSpPr/>
          <p:nvPr/>
        </p:nvSpPr>
        <p:spPr bwMode="auto">
          <a:xfrm>
            <a:off x="5742013" y="1808982"/>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tx1">
                    <a:lumMod val="75000"/>
                    <a:lumOff val="25000"/>
                  </a:schemeClr>
                </a:solidFill>
                <a:latin typeface="Consolas" panose="020B0609020204030204" pitchFamily="49" charset="0"/>
              </a:rPr>
              <a:t>0x20000004:</a:t>
            </a:r>
            <a:endParaRPr kumimoji="1" lang="ja-JP" altLang="en-US" sz="1400" dirty="0">
              <a:solidFill>
                <a:schemeClr val="tx1">
                  <a:lumMod val="75000"/>
                  <a:lumOff val="25000"/>
                </a:schemeClr>
              </a:solidFill>
              <a:latin typeface="Consolas" panose="020B0609020204030204" pitchFamily="49" charset="0"/>
            </a:endParaRPr>
          </a:p>
        </p:txBody>
      </p:sp>
      <p:sp>
        <p:nvSpPr>
          <p:cNvPr id="39" name="正方形/長方形 38"/>
          <p:cNvSpPr/>
          <p:nvPr/>
        </p:nvSpPr>
        <p:spPr bwMode="auto">
          <a:xfrm>
            <a:off x="5742013" y="1988984"/>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tx1">
                    <a:lumMod val="75000"/>
                    <a:lumOff val="25000"/>
                  </a:schemeClr>
                </a:solidFill>
                <a:latin typeface="Consolas" panose="020B0609020204030204" pitchFamily="49" charset="0"/>
              </a:rPr>
              <a:t>0x20000008:</a:t>
            </a:r>
            <a:endParaRPr kumimoji="1" lang="ja-JP" altLang="en-US"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069545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単段ページ・テーブルの動作</a:t>
            </a: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6012016" y="1988984"/>
            <a:ext cx="1080012" cy="288003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971960" y="1358977"/>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tx1">
                    <a:lumMod val="75000"/>
                    <a:lumOff val="25000"/>
                  </a:schemeClr>
                </a:solidFill>
                <a:latin typeface="Consolas" panose="020B0609020204030204" pitchFamily="49" charset="0"/>
              </a:rPr>
              <a:t>   0x1000</a:t>
            </a:r>
            <a:endParaRPr kumimoji="1" lang="ja-JP" altLang="en-US" dirty="0">
              <a:solidFill>
                <a:schemeClr val="tx1">
                  <a:lumMod val="75000"/>
                  <a:lumOff val="25000"/>
                </a:schemeClr>
              </a:solidFill>
              <a:latin typeface="Consolas" panose="020B0609020204030204" pitchFamily="49" charset="0"/>
            </a:endParaRPr>
          </a:p>
        </p:txBody>
      </p:sp>
      <p:cxnSp>
        <p:nvCxnSpPr>
          <p:cNvPr id="10" name="直線矢印コネクタ 9"/>
          <p:cNvCxnSpPr/>
          <p:nvPr/>
        </p:nvCxnSpPr>
        <p:spPr bwMode="auto">
          <a:xfrm>
            <a:off x="971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205197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32 bit </a:t>
            </a:r>
            <a:r>
              <a:rPr kumimoji="1"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2411976" y="1358977"/>
            <a:ext cx="144001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2000</a:t>
            </a:r>
            <a:endParaRPr kumimoji="1" lang="ja-JP" altLang="en-US" dirty="0">
              <a:solidFill>
                <a:schemeClr val="tx1">
                  <a:lumMod val="75000"/>
                  <a:lumOff val="25000"/>
                </a:schemeClr>
              </a:solidFill>
              <a:latin typeface="Consolas" panose="020B0609020204030204" pitchFamily="49" charset="0"/>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601201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41" name="正方形/長方形 40"/>
          <p:cNvSpPr/>
          <p:nvPr/>
        </p:nvSpPr>
        <p:spPr bwMode="auto">
          <a:xfrm>
            <a:off x="6192018" y="153897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40" name="正方形/長方形 39">
            <a:extLst>
              <a:ext uri="{FF2B5EF4-FFF2-40B4-BE49-F238E27FC236}">
                <a16:creationId xmlns:a16="http://schemas.microsoft.com/office/drawing/2014/main" id="{F8E9AEA5-3FB4-455D-9495-C980C57584B6}"/>
              </a:ext>
            </a:extLst>
          </p:cNvPr>
          <p:cNvSpPr/>
          <p:nvPr/>
        </p:nvSpPr>
        <p:spPr bwMode="auto">
          <a:xfrm>
            <a:off x="4932004" y="4239009"/>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0x30002000:</a:t>
            </a:r>
            <a:endParaRPr kumimoji="1" lang="ja-JP" altLang="en-US" sz="1200" dirty="0">
              <a:solidFill>
                <a:schemeClr val="accent6"/>
              </a:solidFill>
              <a:latin typeface="Consolas" panose="020B0609020204030204" pitchFamily="49" charset="0"/>
            </a:endParaRPr>
          </a:p>
        </p:txBody>
      </p:sp>
      <p:cxnSp>
        <p:nvCxnSpPr>
          <p:cNvPr id="44" name="曲線コネクタ 43"/>
          <p:cNvCxnSpPr>
            <a:cxnSpLocks/>
          </p:cNvCxnSpPr>
          <p:nvPr/>
        </p:nvCxnSpPr>
        <p:spPr bwMode="auto">
          <a:xfrm>
            <a:off x="2231974" y="1538979"/>
            <a:ext cx="2430029" cy="1800020"/>
          </a:xfrm>
          <a:prstGeom prst="curvedConnector3">
            <a:avLst>
              <a:gd name="adj1" fmla="val 34435"/>
            </a:avLst>
          </a:prstGeom>
          <a:noFill/>
          <a:ln w="9525" cap="flat" cmpd="sng" algn="ctr">
            <a:solidFill>
              <a:schemeClr val="tx1"/>
            </a:solidFill>
            <a:prstDash val="solid"/>
            <a:round/>
            <a:headEnd type="none" w="med" len="med"/>
            <a:tailEnd type="triangle"/>
          </a:ln>
          <a:effectLst/>
        </p:spPr>
      </p:cxnSp>
      <p:cxnSp>
        <p:nvCxnSpPr>
          <p:cNvPr id="45" name="曲線コネクタ 44"/>
          <p:cNvCxnSpPr>
            <a:cxnSpLocks/>
            <a:stCxn id="12" idx="2"/>
            <a:endCxn id="40" idx="1"/>
          </p:cNvCxnSpPr>
          <p:nvPr/>
        </p:nvCxnSpPr>
        <p:spPr bwMode="auto">
          <a:xfrm rot="16200000" flipH="1">
            <a:off x="2681979" y="2078985"/>
            <a:ext cx="2700030" cy="1800019"/>
          </a:xfrm>
          <a:prstGeom prst="curvedConnector2">
            <a:avLst/>
          </a:prstGeom>
          <a:noFill/>
          <a:ln w="9525" cap="flat" cmpd="sng" algn="ctr">
            <a:solidFill>
              <a:schemeClr val="tx1"/>
            </a:solidFill>
            <a:prstDash val="solid"/>
            <a:round/>
            <a:headEnd type="none" w="med" len="med"/>
            <a:tailEnd type="triangle"/>
          </a:ln>
          <a:effectLst/>
        </p:spPr>
      </p:cxnSp>
      <p:sp>
        <p:nvSpPr>
          <p:cNvPr id="46" name="正方形/長方形 45">
            <a:extLst>
              <a:ext uri="{FF2B5EF4-FFF2-40B4-BE49-F238E27FC236}">
                <a16:creationId xmlns:a16="http://schemas.microsoft.com/office/drawing/2014/main" id="{F8E9AEA5-3FB4-455D-9495-C980C57584B6}"/>
              </a:ext>
            </a:extLst>
          </p:cNvPr>
          <p:cNvSpPr/>
          <p:nvPr/>
        </p:nvSpPr>
        <p:spPr bwMode="auto">
          <a:xfrm>
            <a:off x="6642023" y="3879005"/>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tx1">
                    <a:lumMod val="75000"/>
                    <a:lumOff val="25000"/>
                  </a:schemeClr>
                </a:solidFill>
                <a:latin typeface="Consolas" panose="020B0609020204030204" pitchFamily="49" charset="0"/>
              </a:rPr>
              <a:t>0x81234f24:</a:t>
            </a:r>
            <a:endParaRPr kumimoji="1" lang="ja-JP" altLang="en-US" sz="1200" dirty="0">
              <a:solidFill>
                <a:schemeClr val="tx1">
                  <a:lumMod val="75000"/>
                  <a:lumOff val="25000"/>
                </a:schemeClr>
              </a:solidFill>
              <a:latin typeface="Consolas" panose="020B0609020204030204" pitchFamily="49" charset="0"/>
            </a:endParaRP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161951" y="4869016"/>
            <a:ext cx="8640096" cy="1439709"/>
          </a:xfrm>
        </p:spPr>
        <p:txBody>
          <a:bodyPr/>
          <a:lstStyle/>
          <a:p>
            <a:pPr lvl="1"/>
            <a:r>
              <a:rPr kumimoji="1" lang="ja-JP" altLang="en-US" sz="1400" dirty="0"/>
              <a:t>上位 </a:t>
            </a:r>
            <a:r>
              <a:rPr kumimoji="1" lang="en-US" altLang="ja-JP" sz="1400" dirty="0"/>
              <a:t>16 bit </a:t>
            </a:r>
            <a:r>
              <a:rPr kumimoji="1" lang="ja-JP" altLang="en-US" sz="1400" dirty="0"/>
              <a:t>である </a:t>
            </a:r>
            <a:r>
              <a:rPr kumimoji="1" lang="en-US" altLang="ja-JP" sz="1400" dirty="0"/>
              <a:t>0x</a:t>
            </a:r>
            <a:r>
              <a:rPr lang="en-US" altLang="ja-JP" sz="1400" dirty="0">
                <a:solidFill>
                  <a:schemeClr val="accent5"/>
                </a:solidFill>
                <a:latin typeface="Consolas" panose="020B0609020204030204" pitchFamily="49" charset="0"/>
              </a:rPr>
              <a:t>1000 </a:t>
            </a:r>
            <a:r>
              <a:rPr kumimoji="1" lang="ja-JP" altLang="en-US" sz="1400" dirty="0"/>
              <a:t>を取り出し，それをインデクスとして</a:t>
            </a:r>
            <a:br>
              <a:rPr lang="en-US" altLang="ja-JP" sz="1400" dirty="0"/>
            </a:br>
            <a:r>
              <a:rPr lang="ja-JP" altLang="en-US" sz="1400" dirty="0"/>
              <a:t>ページ・テーブルにアクセス</a:t>
            </a:r>
            <a:endParaRPr lang="en-US" altLang="ja-JP" sz="1400" dirty="0"/>
          </a:p>
          <a:p>
            <a:pPr lvl="2"/>
            <a:r>
              <a:rPr lang="ja-JP" altLang="en-US" sz="1400" dirty="0"/>
              <a:t>物理メモリへのポインタはここでは </a:t>
            </a:r>
            <a:r>
              <a:rPr lang="en-US" altLang="ja-JP" sz="1400" dirty="0"/>
              <a:t>4B </a:t>
            </a:r>
            <a:r>
              <a:rPr lang="ja-JP" altLang="en-US" sz="1400" dirty="0"/>
              <a:t>単位であり，ベースレジスタは </a:t>
            </a:r>
            <a:r>
              <a:rPr lang="en-US" altLang="ja-JP" sz="1400" dirty="0"/>
              <a:t>0x2000 0000 </a:t>
            </a:r>
            <a:r>
              <a:rPr lang="ja-JP" altLang="en-US" sz="1400" dirty="0"/>
              <a:t>をさす</a:t>
            </a:r>
            <a:endParaRPr lang="en-US" altLang="ja-JP" sz="1400" dirty="0"/>
          </a:p>
          <a:p>
            <a:pPr lvl="2"/>
            <a:r>
              <a:rPr lang="en-US" altLang="ja-JP" sz="1400" dirty="0"/>
              <a:t>0x2000 0000 + 4B * 0x1000 = 0x2000 4000 </a:t>
            </a:r>
            <a:r>
              <a:rPr lang="en-US" altLang="ja-JP" sz="1400" dirty="0">
                <a:solidFill>
                  <a:schemeClr val="accent6"/>
                </a:solidFill>
              </a:rPr>
              <a:t> </a:t>
            </a:r>
            <a:r>
              <a:rPr lang="ja-JP" altLang="en-US" sz="1400" dirty="0"/>
              <a:t>にアクセス</a:t>
            </a:r>
            <a:endParaRPr lang="en-US" altLang="ja-JP" sz="1400" dirty="0">
              <a:solidFill>
                <a:schemeClr val="accent6"/>
              </a:solidFill>
            </a:endParaRPr>
          </a:p>
          <a:p>
            <a:pPr lvl="1"/>
            <a:r>
              <a:rPr lang="ja-JP" altLang="en-US" sz="1400" dirty="0"/>
              <a:t>マップされているページの先頭の物理</a:t>
            </a:r>
            <a:r>
              <a:rPr kumimoji="1" lang="ja-JP" altLang="en-US" sz="1400" dirty="0"/>
              <a:t>アドレス </a:t>
            </a:r>
            <a:r>
              <a:rPr kumimoji="1" lang="en-US" altLang="ja-JP" sz="1400" dirty="0">
                <a:solidFill>
                  <a:schemeClr val="accent6"/>
                </a:solidFill>
                <a:latin typeface="Consolas" panose="020B0609020204030204" pitchFamily="49" charset="0"/>
              </a:rPr>
              <a:t>0x30000000</a:t>
            </a:r>
            <a:r>
              <a:rPr kumimoji="1" lang="en-US" altLang="ja-JP" sz="1400" dirty="0">
                <a:solidFill>
                  <a:schemeClr val="accent6"/>
                </a:solidFill>
              </a:rPr>
              <a:t> </a:t>
            </a:r>
            <a:r>
              <a:rPr kumimoji="1" lang="ja-JP" altLang="en-US" sz="1400" dirty="0"/>
              <a:t>を得る</a:t>
            </a:r>
            <a:endParaRPr kumimoji="1" lang="en-US" altLang="ja-JP" sz="1400" dirty="0"/>
          </a:p>
          <a:p>
            <a:pPr lvl="2"/>
            <a:r>
              <a:rPr lang="en-US" altLang="ja-JP" sz="1400" dirty="0"/>
              <a:t>OS </a:t>
            </a:r>
            <a:r>
              <a:rPr lang="ja-JP" altLang="en-US" sz="1400" dirty="0"/>
              <a:t>がこの論理アドレスに割り当てたページのアドレス</a:t>
            </a:r>
            <a:endParaRPr kumimoji="1" lang="en-US" altLang="ja-JP" sz="1400" dirty="0"/>
          </a:p>
          <a:p>
            <a:pPr lvl="1"/>
            <a:r>
              <a:rPr lang="ja-JP" altLang="en-US" sz="1400" dirty="0">
                <a:latin typeface="Consolas" panose="020B0609020204030204" pitchFamily="49" charset="0"/>
              </a:rPr>
              <a:t>下位</a:t>
            </a:r>
            <a:r>
              <a:rPr lang="ja-JP" altLang="en-US" sz="1400" dirty="0"/>
              <a:t> </a:t>
            </a:r>
            <a:r>
              <a:rPr lang="en-US" altLang="ja-JP" sz="1400" dirty="0"/>
              <a:t>16bit </a:t>
            </a:r>
            <a:r>
              <a:rPr lang="ja-JP" altLang="en-US" sz="1400" dirty="0">
                <a:latin typeface="Consolas" panose="020B0609020204030204" pitchFamily="49" charset="0"/>
              </a:rPr>
              <a:t>である </a:t>
            </a:r>
            <a:r>
              <a:rPr lang="en-US" altLang="ja-JP" sz="1400" dirty="0">
                <a:latin typeface="Consolas" panose="020B0609020204030204" pitchFamily="49" charset="0"/>
              </a:rPr>
              <a:t>0x2000</a:t>
            </a:r>
            <a:r>
              <a:rPr lang="en-US" altLang="ja-JP" sz="1400" dirty="0">
                <a:solidFill>
                  <a:schemeClr val="accent3">
                    <a:lumMod val="75000"/>
                  </a:schemeClr>
                </a:solidFill>
                <a:latin typeface="Consolas" panose="020B0609020204030204" pitchFamily="49" charset="0"/>
              </a:rPr>
              <a:t> </a:t>
            </a:r>
            <a:r>
              <a:rPr lang="ja-JP" altLang="en-US" sz="1400" dirty="0">
                <a:latin typeface="Consolas" panose="020B0609020204030204" pitchFamily="49" charset="0"/>
              </a:rPr>
              <a:t>と結合して </a:t>
            </a:r>
            <a:r>
              <a:rPr lang="en-US" altLang="ja-JP" sz="1400" dirty="0">
                <a:solidFill>
                  <a:schemeClr val="accent6"/>
                </a:solidFill>
                <a:latin typeface="Consolas" panose="020B0609020204030204" pitchFamily="49" charset="0"/>
              </a:rPr>
              <a:t>0x30002000</a:t>
            </a:r>
            <a:r>
              <a:rPr lang="en-US" altLang="ja-JP" sz="1400" dirty="0">
                <a:solidFill>
                  <a:schemeClr val="accent3">
                    <a:lumMod val="75000"/>
                  </a:schemeClr>
                </a:solidFill>
                <a:latin typeface="Consolas" panose="020B0609020204030204" pitchFamily="49" charset="0"/>
              </a:rPr>
              <a:t> </a:t>
            </a:r>
            <a:r>
              <a:rPr lang="ja-JP" altLang="en-US" sz="1400" dirty="0">
                <a:latin typeface="Consolas" panose="020B0609020204030204" pitchFamily="49" charset="0"/>
              </a:rPr>
              <a:t>にアクセス</a:t>
            </a:r>
            <a:endParaRPr kumimoji="1" lang="en-US" altLang="ja-JP" sz="1400" dirty="0">
              <a:latin typeface="Consolas" panose="020B0609020204030204" pitchFamily="49" charset="0"/>
            </a:endParaRP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6012016" y="2258987"/>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6012016" y="225898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6012016" y="243898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6012016" y="261899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6012016" y="2798993"/>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r"/>
            <a:r>
              <a:rPr kumimoji="1" lang="ja-JP" altLang="en-US" dirty="0">
                <a:solidFill>
                  <a:schemeClr val="tx1">
                    <a:lumMod val="75000"/>
                    <a:lumOff val="25000"/>
                  </a:schemeClr>
                </a:solidFill>
                <a:latin typeface="+mn-ea"/>
              </a:rPr>
              <a:t>･･･</a:t>
            </a:r>
          </a:p>
        </p:txBody>
      </p:sp>
      <p:sp>
        <p:nvSpPr>
          <p:cNvPr id="42" name="正方形/長方形 41"/>
          <p:cNvSpPr/>
          <p:nvPr/>
        </p:nvSpPr>
        <p:spPr bwMode="auto">
          <a:xfrm>
            <a:off x="7722035" y="225898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ページ・テーブル</a:t>
            </a: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6012016" y="324899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200" dirty="0">
                <a:solidFill>
                  <a:schemeClr val="accent6"/>
                </a:solidFill>
                <a:latin typeface="Consolas" panose="020B0609020204030204" pitchFamily="49" charset="0"/>
              </a:rPr>
              <a:t>0x30000000</a:t>
            </a:r>
            <a:endParaRPr kumimoji="1" lang="ja-JP" altLang="en-US" sz="1200" dirty="0">
              <a:solidFill>
                <a:schemeClr val="accent6"/>
              </a:solidFill>
              <a:latin typeface="Consolas" panose="020B0609020204030204" pitchFamily="49" charset="0"/>
            </a:endParaRPr>
          </a:p>
        </p:txBody>
      </p:sp>
      <p:sp>
        <p:nvSpPr>
          <p:cNvPr id="33" name="正方形/長方形 32"/>
          <p:cNvSpPr/>
          <p:nvPr/>
        </p:nvSpPr>
        <p:spPr bwMode="auto">
          <a:xfrm>
            <a:off x="5382009" y="3248998"/>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accent6"/>
                </a:solidFill>
                <a:latin typeface="Consolas" panose="020B0609020204030204" pitchFamily="49" charset="0"/>
              </a:rPr>
              <a:t>0x20004000</a:t>
            </a:r>
            <a:r>
              <a:rPr kumimoji="1" lang="en-US" altLang="ja-JP" sz="1400" dirty="0">
                <a:solidFill>
                  <a:schemeClr val="tx1">
                    <a:lumMod val="75000"/>
                    <a:lumOff val="25000"/>
                  </a:schemeClr>
                </a:solidFill>
                <a:latin typeface="Consolas" panose="020B0609020204030204" pitchFamily="49" charset="0"/>
              </a:rPr>
              <a:t>:</a:t>
            </a:r>
            <a:endParaRPr kumimoji="1" lang="ja-JP" altLang="en-US" sz="1400" dirty="0">
              <a:solidFill>
                <a:schemeClr val="tx1">
                  <a:lumMod val="75000"/>
                  <a:lumOff val="25000"/>
                </a:schemeClr>
              </a:solidFill>
              <a:latin typeface="Consolas" panose="020B0609020204030204" pitchFamily="49" charset="0"/>
            </a:endParaRPr>
          </a:p>
        </p:txBody>
      </p:sp>
      <p:sp>
        <p:nvSpPr>
          <p:cNvPr id="36" name="正方形/長方形 35"/>
          <p:cNvSpPr/>
          <p:nvPr/>
        </p:nvSpPr>
        <p:spPr bwMode="auto">
          <a:xfrm>
            <a:off x="5382009" y="2258987"/>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tx1">
                    <a:lumMod val="75000"/>
                    <a:lumOff val="25000"/>
                  </a:schemeClr>
                </a:solidFill>
                <a:latin typeface="Consolas" panose="020B0609020204030204" pitchFamily="49" charset="0"/>
              </a:rPr>
              <a:t>0x20000000:</a:t>
            </a:r>
            <a:endParaRPr kumimoji="1" lang="ja-JP" altLang="en-US" sz="1400" dirty="0">
              <a:solidFill>
                <a:schemeClr val="tx1">
                  <a:lumMod val="75000"/>
                  <a:lumOff val="25000"/>
                </a:schemeClr>
              </a:solidFill>
              <a:latin typeface="Consolas" panose="020B0609020204030204" pitchFamily="49" charset="0"/>
            </a:endParaRPr>
          </a:p>
        </p:txBody>
      </p:sp>
      <p:sp>
        <p:nvSpPr>
          <p:cNvPr id="38" name="正方形/長方形 37"/>
          <p:cNvSpPr/>
          <p:nvPr/>
        </p:nvSpPr>
        <p:spPr bwMode="auto">
          <a:xfrm>
            <a:off x="5382009" y="2438989"/>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tx1">
                    <a:lumMod val="75000"/>
                    <a:lumOff val="25000"/>
                  </a:schemeClr>
                </a:solidFill>
                <a:latin typeface="Consolas" panose="020B0609020204030204" pitchFamily="49" charset="0"/>
              </a:rPr>
              <a:t>0x20000004:</a:t>
            </a:r>
            <a:endParaRPr kumimoji="1" lang="ja-JP" altLang="en-US" sz="1400" dirty="0">
              <a:solidFill>
                <a:schemeClr val="tx1">
                  <a:lumMod val="75000"/>
                  <a:lumOff val="25000"/>
                </a:schemeClr>
              </a:solidFill>
              <a:latin typeface="Consolas" panose="020B0609020204030204" pitchFamily="49" charset="0"/>
            </a:endParaRPr>
          </a:p>
        </p:txBody>
      </p:sp>
      <p:sp>
        <p:nvSpPr>
          <p:cNvPr id="39" name="正方形/長方形 38"/>
          <p:cNvSpPr/>
          <p:nvPr/>
        </p:nvSpPr>
        <p:spPr bwMode="auto">
          <a:xfrm>
            <a:off x="5382009" y="2618991"/>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r"/>
            <a:r>
              <a:rPr kumimoji="1" lang="en-US" altLang="ja-JP" sz="1400" dirty="0">
                <a:solidFill>
                  <a:schemeClr val="tx1">
                    <a:lumMod val="75000"/>
                    <a:lumOff val="25000"/>
                  </a:schemeClr>
                </a:solidFill>
                <a:latin typeface="Consolas" panose="020B0609020204030204" pitchFamily="49" charset="0"/>
              </a:rPr>
              <a:t>0x20000008:</a:t>
            </a:r>
            <a:endParaRPr kumimoji="1" lang="ja-JP" altLang="en-US" sz="1400" dirty="0">
              <a:solidFill>
                <a:schemeClr val="tx1">
                  <a:lumMod val="75000"/>
                  <a:lumOff val="25000"/>
                </a:schemeClr>
              </a:solidFill>
              <a:latin typeface="Consolas" panose="020B0609020204030204" pitchFamily="49" charset="0"/>
            </a:endParaRPr>
          </a:p>
        </p:txBody>
      </p:sp>
      <p:cxnSp>
        <p:nvCxnSpPr>
          <p:cNvPr id="35" name="曲線コネクタ 34"/>
          <p:cNvCxnSpPr>
            <a:cxnSpLocks/>
            <a:stCxn id="30" idx="2"/>
            <a:endCxn id="40" idx="0"/>
          </p:cNvCxnSpPr>
          <p:nvPr/>
        </p:nvCxnSpPr>
        <p:spPr bwMode="auto">
          <a:xfrm rot="5400000">
            <a:off x="5607012" y="3293998"/>
            <a:ext cx="810009" cy="1080012"/>
          </a:xfrm>
          <a:prstGeom prst="curvedConnector3">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480364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400" dirty="0">
                <a:latin typeface="Consolas" panose="020B0609020204030204" pitchFamily="49" charset="0"/>
              </a:rPr>
              <a:t>(2) </a:t>
            </a:r>
            <a:r>
              <a:rPr lang="ja-JP" altLang="en-US" sz="1400" dirty="0">
                <a:latin typeface="Consolas" panose="020B0609020204030204" pitchFamily="49" charset="0"/>
              </a:rPr>
              <a:t>仮想アドレス </a:t>
            </a:r>
            <a:r>
              <a:rPr lang="en-US" altLang="ja-JP" sz="1400" dirty="0">
                <a:solidFill>
                  <a:schemeClr val="accent5"/>
                </a:solidFill>
                <a:latin typeface="Consolas" panose="020B0609020204030204" pitchFamily="49" charset="0"/>
              </a:rPr>
              <a:t>0xfea51fff</a:t>
            </a:r>
            <a:r>
              <a:rPr lang="en-US" altLang="ja-JP" sz="1400" dirty="0">
                <a:latin typeface="Consolas" panose="020B0609020204030204" pitchFamily="49" charset="0"/>
              </a:rPr>
              <a:t> </a:t>
            </a:r>
            <a:r>
              <a:rPr lang="ja-JP" altLang="en-US" sz="1400" dirty="0">
                <a:latin typeface="Consolas" panose="020B0609020204030204" pitchFamily="49" charset="0"/>
              </a:rPr>
              <a:t>に格納されている値を読み出す際にアクセスされる物理アドレスをすべてあげよ</a:t>
            </a:r>
            <a:endParaRPr lang="en-US" altLang="ja-JP" sz="1400" dirty="0">
              <a:latin typeface="Consolas" panose="020B0609020204030204" pitchFamily="49" charset="0"/>
            </a:endParaRPr>
          </a:p>
          <a:p>
            <a:pPr lvl="1"/>
            <a:r>
              <a:rPr lang="en-US" altLang="ja-JP" sz="1400" dirty="0">
                <a:latin typeface="Consolas" panose="020B0609020204030204" pitchFamily="49" charset="0"/>
              </a:rPr>
              <a:t>0x2000 0000 + 4B * 0xfea5 = 0x2003 FA94 </a:t>
            </a:r>
            <a:r>
              <a:rPr lang="ja-JP" altLang="en-US" sz="1400" dirty="0">
                <a:latin typeface="Consolas" panose="020B0609020204030204" pitchFamily="49" charset="0"/>
              </a:rPr>
              <a:t>に最初にアクセス</a:t>
            </a:r>
            <a:endParaRPr lang="en-US" altLang="ja-JP" sz="1400" dirty="0">
              <a:latin typeface="Consolas" panose="020B0609020204030204" pitchFamily="49" charset="0"/>
            </a:endParaRPr>
          </a:p>
          <a:p>
            <a:pPr lvl="2"/>
            <a:r>
              <a:rPr lang="ja-JP" altLang="en-US" sz="1400" dirty="0">
                <a:latin typeface="Consolas" panose="020B0609020204030204" pitchFamily="49" charset="0"/>
              </a:rPr>
              <a:t>ここから </a:t>
            </a:r>
            <a:r>
              <a:rPr lang="en-US" altLang="ja-JP" sz="1400" dirty="0">
                <a:latin typeface="Consolas" panose="020B0609020204030204" pitchFamily="49" charset="0"/>
              </a:rPr>
              <a:t>0x3001 0000 </a:t>
            </a:r>
            <a:r>
              <a:rPr lang="ja-JP" altLang="en-US" sz="1400" dirty="0">
                <a:latin typeface="Consolas" panose="020B0609020204030204" pitchFamily="49" charset="0"/>
              </a:rPr>
              <a:t>が読める</a:t>
            </a:r>
            <a:endParaRPr lang="en-US" altLang="ja-JP" sz="1400" dirty="0">
              <a:latin typeface="Consolas" panose="020B0609020204030204" pitchFamily="49" charset="0"/>
            </a:endParaRPr>
          </a:p>
          <a:p>
            <a:pPr lvl="1"/>
            <a:r>
              <a:rPr lang="en-US" altLang="ja-JP" sz="1400" dirty="0">
                <a:latin typeface="Consolas" panose="020B0609020204030204" pitchFamily="49" charset="0"/>
              </a:rPr>
              <a:t>0x3001 0000 + 0x1fff = 0x30011fff </a:t>
            </a:r>
            <a:r>
              <a:rPr lang="ja-JP" altLang="en-US" sz="1400" dirty="0">
                <a:latin typeface="Consolas" panose="020B0609020204030204" pitchFamily="49" charset="0"/>
              </a:rPr>
              <a:t>に次にアクセス</a:t>
            </a:r>
            <a:endParaRPr lang="en-US" altLang="ja-JP" sz="1400" dirty="0">
              <a:latin typeface="Consolas" panose="020B0609020204030204" pitchFamily="49" charset="0"/>
            </a:endParaRP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9</a:t>
            </a:fld>
            <a:endParaRPr kumimoji="1" lang="ja-JP" altLang="en-US" dirty="0"/>
          </a:p>
        </p:txBody>
      </p:sp>
    </p:spTree>
    <p:extLst>
      <p:ext uri="{BB962C8B-B14F-4D97-AF65-F5344CB8AC3E}">
        <p14:creationId xmlns:p14="http://schemas.microsoft.com/office/powerpoint/2010/main" val="13097723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400" dirty="0"/>
              <a:t>(3) </a:t>
            </a:r>
            <a:r>
              <a:rPr lang="ja-JP" altLang="en-US" sz="1400" dirty="0"/>
              <a:t>仮想アドレス </a:t>
            </a:r>
            <a:r>
              <a:rPr lang="en-US" altLang="ja-JP" sz="1400" dirty="0"/>
              <a:t>0x10000000 </a:t>
            </a:r>
            <a:r>
              <a:rPr lang="ja-JP" altLang="en-US" sz="1400" dirty="0"/>
              <a:t>と </a:t>
            </a:r>
            <a:r>
              <a:rPr lang="en-US" altLang="ja-JP" sz="1400" dirty="0">
                <a:solidFill>
                  <a:schemeClr val="accent5"/>
                </a:solidFill>
              </a:rPr>
              <a:t>0xfea50000</a:t>
            </a:r>
            <a:r>
              <a:rPr lang="en-US" altLang="ja-JP" sz="1400" dirty="0"/>
              <a:t> </a:t>
            </a:r>
            <a:r>
              <a:rPr lang="ja-JP" altLang="en-US" sz="1400" dirty="0"/>
              <a:t>から始まる２つのページ</a:t>
            </a:r>
            <a:r>
              <a:rPr lang="ja-JP" altLang="en-US" sz="1400" dirty="0">
                <a:solidFill>
                  <a:schemeClr val="accent5"/>
                </a:solidFill>
              </a:rPr>
              <a:t>のみ</a:t>
            </a:r>
            <a:r>
              <a:rPr lang="ja-JP" altLang="en-US" sz="1400" dirty="0"/>
              <a:t>が確保されている場合を想定する．この時に使用される物理メモリの容量の合計（ページ・テーブルとページそのもの）を求めよ</a:t>
            </a:r>
            <a:endParaRPr lang="en-US" altLang="ja-JP" sz="1400" dirty="0"/>
          </a:p>
          <a:p>
            <a:pPr lvl="1"/>
            <a:endParaRPr lang="en-US" altLang="ja-JP" sz="1400" dirty="0"/>
          </a:p>
          <a:p>
            <a:pPr lvl="1"/>
            <a:r>
              <a:rPr lang="ja-JP" altLang="en-US" sz="1400" dirty="0"/>
              <a:t>単段テーブル全体：</a:t>
            </a:r>
            <a:r>
              <a:rPr lang="en-US" altLang="ja-JP" sz="1400" dirty="0"/>
              <a:t>0x10000 * 4Byte = 0x40000 Byte </a:t>
            </a:r>
          </a:p>
          <a:p>
            <a:pPr lvl="2"/>
            <a:r>
              <a:rPr lang="ja-JP" altLang="en-US" sz="1400" dirty="0"/>
              <a:t>ページは </a:t>
            </a:r>
            <a:r>
              <a:rPr lang="en-US" altLang="ja-JP" sz="1400" dirty="0"/>
              <a:t>0x10000 </a:t>
            </a:r>
            <a:r>
              <a:rPr lang="ja-JP" altLang="en-US" sz="1400" dirty="0"/>
              <a:t>個存在する</a:t>
            </a:r>
            <a:endParaRPr lang="en-US" altLang="ja-JP" sz="1400" dirty="0"/>
          </a:p>
          <a:p>
            <a:pPr lvl="1"/>
            <a:r>
              <a:rPr lang="ja-JP" altLang="en-US" sz="1400" dirty="0"/>
              <a:t>確保されているページは２つ：</a:t>
            </a:r>
            <a:r>
              <a:rPr lang="en-US" altLang="ja-JP" sz="1400" dirty="0"/>
              <a:t>0x10000 Byte * 2 = 0x20000 Byte</a:t>
            </a:r>
          </a:p>
          <a:p>
            <a:pPr lvl="2"/>
            <a:r>
              <a:rPr lang="en-US" altLang="ja-JP" sz="1400" dirty="0"/>
              <a:t>64 KB=0x10000 Byte </a:t>
            </a:r>
            <a:r>
              <a:rPr lang="ja-JP" altLang="en-US" sz="1400" dirty="0"/>
              <a:t>が２つ</a:t>
            </a:r>
            <a:endParaRPr lang="en-US" altLang="ja-JP" sz="1400" dirty="0"/>
          </a:p>
          <a:p>
            <a:pPr lvl="1"/>
            <a:r>
              <a:rPr lang="ja-JP" altLang="en-US" sz="1400" dirty="0"/>
              <a:t>合計すると </a:t>
            </a:r>
            <a:r>
              <a:rPr lang="en-US" altLang="ja-JP" sz="1400" dirty="0"/>
              <a:t>0x60000 Byte</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10</a:t>
            </a:fld>
            <a:endParaRPr kumimoji="1" lang="ja-JP" altLang="en-US" dirty="0"/>
          </a:p>
        </p:txBody>
      </p:sp>
    </p:spTree>
    <p:extLst>
      <p:ext uri="{BB962C8B-B14F-4D97-AF65-F5344CB8AC3E}">
        <p14:creationId xmlns:p14="http://schemas.microsoft.com/office/powerpoint/2010/main" val="1182971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１１</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400" dirty="0"/>
              <a:t>(4) (3)</a:t>
            </a:r>
            <a:r>
              <a:rPr lang="ja-JP" altLang="en-US" sz="1400" dirty="0"/>
              <a:t>と同様の条件で，２段ページ・テーブルを使用した場合に使用される物理メモリの容量の合計を求めよ．この時 </a:t>
            </a:r>
            <a:r>
              <a:rPr lang="en-US" altLang="ja-JP" sz="1400" dirty="0"/>
              <a:t>LV1 </a:t>
            </a:r>
            <a:r>
              <a:rPr lang="ja-JP" altLang="en-US" sz="1400" dirty="0"/>
              <a:t>と </a:t>
            </a:r>
            <a:r>
              <a:rPr lang="en-US" altLang="ja-JP" sz="1400" dirty="0"/>
              <a:t>LV2 </a:t>
            </a:r>
            <a:r>
              <a:rPr lang="ja-JP" altLang="en-US" sz="1400" dirty="0"/>
              <a:t>に使用されるアドレスのビット幅は等しいものとする．</a:t>
            </a:r>
            <a:endParaRPr lang="en-US" altLang="ja-JP" sz="1400" dirty="0"/>
          </a:p>
          <a:p>
            <a:pPr lvl="1"/>
            <a:endParaRPr lang="en-US" altLang="ja-JP" sz="1400" dirty="0"/>
          </a:p>
          <a:p>
            <a:pPr lvl="1"/>
            <a:r>
              <a:rPr lang="en-US" altLang="ja-JP" sz="1400" dirty="0"/>
              <a:t>LV1 </a:t>
            </a:r>
            <a:r>
              <a:rPr lang="ja-JP" altLang="en-US" sz="1400" dirty="0"/>
              <a:t>と </a:t>
            </a:r>
            <a:r>
              <a:rPr lang="en-US" altLang="ja-JP" sz="1400" dirty="0"/>
              <a:t>LV2 </a:t>
            </a:r>
            <a:r>
              <a:rPr lang="ja-JP" altLang="en-US" sz="1400" dirty="0"/>
              <a:t>に使用されるアドレスのビット幅は等しい </a:t>
            </a:r>
            <a:r>
              <a:rPr lang="en-US" altLang="ja-JP" sz="1400" dirty="0"/>
              <a:t>= </a:t>
            </a:r>
            <a:r>
              <a:rPr lang="ja-JP" altLang="en-US" sz="1400" dirty="0"/>
              <a:t>アドレス上位 </a:t>
            </a:r>
            <a:r>
              <a:rPr lang="en-US" altLang="ja-JP" sz="1400" dirty="0"/>
              <a:t>16 bit </a:t>
            </a:r>
            <a:r>
              <a:rPr lang="ja-JP" altLang="en-US" sz="1400" dirty="0"/>
              <a:t>を </a:t>
            </a:r>
            <a:r>
              <a:rPr lang="en-US" altLang="ja-JP" sz="1400" dirty="0"/>
              <a:t>8bit x2 </a:t>
            </a:r>
            <a:r>
              <a:rPr lang="ja-JP" altLang="en-US" sz="1400" dirty="0"/>
              <a:t>に分解して使うということ</a:t>
            </a:r>
            <a:endParaRPr lang="en-US" altLang="ja-JP" sz="1400" dirty="0"/>
          </a:p>
          <a:p>
            <a:pPr lvl="1"/>
            <a:endParaRPr lang="en-US" altLang="ja-JP" sz="1400" dirty="0"/>
          </a:p>
          <a:p>
            <a:pPr lvl="1"/>
            <a:r>
              <a:rPr lang="ja-JP" altLang="en-US" sz="1400" dirty="0"/>
              <a:t>合計で </a:t>
            </a:r>
            <a:r>
              <a:rPr lang="en-US" altLang="ja-JP" sz="1400" dirty="0"/>
              <a:t>0x20C00 B</a:t>
            </a:r>
          </a:p>
          <a:p>
            <a:pPr lvl="2"/>
            <a:r>
              <a:rPr lang="en-US" altLang="ja-JP" sz="1400" dirty="0"/>
              <a:t>256 * 4B * 3</a:t>
            </a:r>
            <a:r>
              <a:rPr lang="ja-JP" altLang="en-US" sz="1400" dirty="0"/>
              <a:t>テーブル </a:t>
            </a:r>
            <a:r>
              <a:rPr lang="en-US" altLang="ja-JP" sz="1400" dirty="0"/>
              <a:t>= 0xC00 Byte</a:t>
            </a:r>
          </a:p>
          <a:p>
            <a:pPr lvl="2"/>
            <a:r>
              <a:rPr lang="ja-JP" altLang="en-US" sz="1400" dirty="0"/>
              <a:t>確保されているページは２つ：</a:t>
            </a:r>
            <a:r>
              <a:rPr lang="en-US" altLang="ja-JP" sz="1400" dirty="0"/>
              <a:t>0x10000 Byte * 2 = 0x20000 Byte</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11</a:t>
            </a:fld>
            <a:endParaRPr kumimoji="1" lang="ja-JP" altLang="en-US" dirty="0"/>
          </a:p>
        </p:txBody>
      </p:sp>
    </p:spTree>
    <p:extLst>
      <p:ext uri="{BB962C8B-B14F-4D97-AF65-F5344CB8AC3E}">
        <p14:creationId xmlns:p14="http://schemas.microsoft.com/office/powerpoint/2010/main" val="2427747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２段ページ・テーブルの例</a:t>
            </a: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611956" y="5319021"/>
            <a:ext cx="8280092" cy="1439709"/>
          </a:xfrm>
        </p:spPr>
        <p:txBody>
          <a:bodyPr/>
          <a:lstStyle/>
          <a:p>
            <a:pPr lvl="1"/>
            <a:r>
              <a:rPr kumimoji="1" lang="ja-JP" altLang="en-US" sz="1800" dirty="0"/>
              <a:t>各レベルには </a:t>
            </a:r>
            <a:r>
              <a:rPr kumimoji="1" lang="en-US" altLang="ja-JP" sz="1800" dirty="0"/>
              <a:t>2^8=256 </a:t>
            </a:r>
            <a:r>
              <a:rPr kumimoji="1" lang="ja-JP" altLang="en-US" sz="1800" dirty="0"/>
              <a:t>個のポインタを含むテーブルがある</a:t>
            </a:r>
            <a:endParaRPr kumimoji="1" lang="en-US" altLang="ja-JP" sz="1800" dirty="0"/>
          </a:p>
          <a:p>
            <a:pPr lvl="1"/>
            <a:r>
              <a:rPr lang="en-US" altLang="ja-JP" sz="1800" dirty="0"/>
              <a:t>256 * 4B * 3</a:t>
            </a:r>
            <a:r>
              <a:rPr lang="ja-JP" altLang="en-US" sz="1800" dirty="0"/>
              <a:t>テーブル </a:t>
            </a:r>
            <a:r>
              <a:rPr lang="en-US" altLang="ja-JP" sz="1800" dirty="0"/>
              <a:t>= 0xC00 Byte</a:t>
            </a:r>
          </a:p>
          <a:p>
            <a:pPr lvl="1"/>
            <a:r>
              <a:rPr lang="ja-JP" altLang="en-US" sz="1800" dirty="0"/>
              <a:t>確保されているページは２つ：</a:t>
            </a:r>
            <a:r>
              <a:rPr lang="en-US" altLang="ja-JP" sz="1800" dirty="0"/>
              <a:t>0x10000 Byte * 2 = 0x20000 Byte</a:t>
            </a:r>
            <a:endParaRPr kumimoji="1" lang="ja-JP" altLang="en-US" sz="1800" dirty="0"/>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4932004" y="1808982"/>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7812036" y="1808982"/>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4932004" y="180898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4932004" y="198898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 name="正方形/長方形 8"/>
          <p:cNvSpPr/>
          <p:nvPr/>
        </p:nvSpPr>
        <p:spPr bwMode="auto">
          <a:xfrm>
            <a:off x="971960" y="1358977"/>
            <a:ext cx="720008" cy="270003"/>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971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205197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32 bit </a:t>
            </a:r>
            <a:r>
              <a:rPr kumimoji="1"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2411976" y="1358977"/>
            <a:ext cx="144001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a:cxnSpLocks/>
          </p:cNvCxnSpPr>
          <p:nvPr/>
        </p:nvCxnSpPr>
        <p:spPr bwMode="auto">
          <a:xfrm>
            <a:off x="2411976" y="1718981"/>
            <a:ext cx="1440016"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2771980"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16bit</a:t>
            </a:r>
            <a:endParaRPr kumimoji="1"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a:cxnSpLocks/>
          </p:cNvCxnSpPr>
          <p:nvPr/>
        </p:nvCxnSpPr>
        <p:spPr bwMode="auto">
          <a:xfrm>
            <a:off x="971960" y="1718981"/>
            <a:ext cx="720008"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1151962"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8bit</a:t>
            </a:r>
            <a:endParaRPr kumimoji="1" lang="ja-JP" altLang="en-US" dirty="0">
              <a:solidFill>
                <a:schemeClr val="tx1">
                  <a:lumMod val="75000"/>
                  <a:lumOff val="25000"/>
                </a:schemeClr>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4932004" y="216898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4932004" y="234898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28" name="曲線コネクタ 27"/>
          <p:cNvCxnSpPr>
            <a:stCxn id="6" idx="3"/>
          </p:cNvCxnSpPr>
          <p:nvPr/>
        </p:nvCxnSpPr>
        <p:spPr bwMode="auto">
          <a:xfrm>
            <a:off x="6012016" y="1898983"/>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29" name="正方形/長方形 28">
            <a:extLst>
              <a:ext uri="{FF2B5EF4-FFF2-40B4-BE49-F238E27FC236}">
                <a16:creationId xmlns:a16="http://schemas.microsoft.com/office/drawing/2014/main" id="{2582A728-F7F5-4B2F-8E43-305BF7418F28}"/>
              </a:ext>
            </a:extLst>
          </p:cNvPr>
          <p:cNvSpPr/>
          <p:nvPr/>
        </p:nvSpPr>
        <p:spPr bwMode="auto">
          <a:xfrm>
            <a:off x="7812036" y="216898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781203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64KB</a:t>
            </a:r>
            <a:endParaRPr kumimoji="1" lang="ja-JP" altLang="en-US" dirty="0">
              <a:solidFill>
                <a:schemeClr val="tx1">
                  <a:lumMod val="75000"/>
                  <a:lumOff val="25000"/>
                </a:schemeClr>
              </a:solidFill>
              <a:latin typeface="+mn-ea"/>
            </a:endParaRPr>
          </a:p>
        </p:txBody>
      </p:sp>
      <p:cxnSp>
        <p:nvCxnSpPr>
          <p:cNvPr id="35" name="曲線コネクタ 34"/>
          <p:cNvCxnSpPr/>
          <p:nvPr/>
        </p:nvCxnSpPr>
        <p:spPr bwMode="auto">
          <a:xfrm>
            <a:off x="6012016" y="3699003"/>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41" name="正方形/長方形 40"/>
          <p:cNvSpPr/>
          <p:nvPr/>
        </p:nvSpPr>
        <p:spPr bwMode="auto">
          <a:xfrm>
            <a:off x="7992038"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5112006"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LV2</a:t>
            </a:r>
            <a:r>
              <a:rPr kumimoji="1" lang="ja-JP" altLang="en-US" sz="1600" dirty="0">
                <a:solidFill>
                  <a:schemeClr val="tx1">
                    <a:lumMod val="75000"/>
                    <a:lumOff val="25000"/>
                  </a:schemeClr>
                </a:solidFill>
                <a:latin typeface="+mn-ea"/>
              </a:rPr>
              <a:t>テーブル</a:t>
            </a:r>
          </a:p>
        </p:txBody>
      </p:sp>
      <p:sp>
        <p:nvSpPr>
          <p:cNvPr id="43" name="正方形/長方形 42"/>
          <p:cNvSpPr/>
          <p:nvPr/>
        </p:nvSpPr>
        <p:spPr bwMode="auto">
          <a:xfrm>
            <a:off x="611956" y="3338999"/>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accent5"/>
                </a:solidFill>
                <a:latin typeface="Consolas" panose="020B0609020204030204" pitchFamily="49" charset="0"/>
              </a:rPr>
              <a:t>L2</a:t>
            </a:r>
            <a:r>
              <a:rPr kumimoji="1" lang="ja-JP" altLang="en-US" dirty="0">
                <a:solidFill>
                  <a:schemeClr val="accent5"/>
                </a:solidFill>
                <a:latin typeface="Consolas" panose="020B0609020204030204" pitchFamily="49" charset="0"/>
              </a:rPr>
              <a:t>テーブルの先頭</a:t>
            </a:r>
            <a:r>
              <a:rPr kumimoji="1" lang="ja-JP" altLang="en-US" dirty="0">
                <a:solidFill>
                  <a:schemeClr val="tx1">
                    <a:lumMod val="75000"/>
                    <a:lumOff val="25000"/>
                  </a:schemeClr>
                </a:solidFill>
                <a:latin typeface="Consolas" panose="020B0609020204030204" pitchFamily="49" charset="0"/>
              </a:rPr>
              <a:t>を</a:t>
            </a:r>
            <a:endParaRPr kumimoji="1" lang="en-US" altLang="ja-JP" dirty="0">
              <a:solidFill>
                <a:schemeClr val="tx1">
                  <a:lumMod val="75000"/>
                  <a:lumOff val="25000"/>
                </a:schemeClr>
              </a:solidFill>
              <a:latin typeface="Consolas" panose="020B0609020204030204" pitchFamily="49" charset="0"/>
            </a:endParaRPr>
          </a:p>
          <a:p>
            <a:r>
              <a:rPr kumimoji="1" lang="ja-JP" altLang="en-US" dirty="0">
                <a:solidFill>
                  <a:schemeClr val="tx1">
                    <a:lumMod val="75000"/>
                    <a:lumOff val="25000"/>
                  </a:schemeClr>
                </a:solidFill>
                <a:latin typeface="Consolas" panose="020B0609020204030204" pitchFamily="49" charset="0"/>
              </a:rPr>
              <a:t>指すポインタが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2^8</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
        <p:nvSpPr>
          <p:cNvPr id="30" name="正方形/長方形 29"/>
          <p:cNvSpPr/>
          <p:nvPr/>
        </p:nvSpPr>
        <p:spPr bwMode="auto">
          <a:xfrm>
            <a:off x="1691968" y="1358977"/>
            <a:ext cx="720008" cy="270003"/>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コネクタ 32"/>
          <p:cNvCxnSpPr>
            <a:cxnSpLocks/>
          </p:cNvCxnSpPr>
          <p:nvPr/>
        </p:nvCxnSpPr>
        <p:spPr bwMode="auto">
          <a:xfrm>
            <a:off x="1691968" y="1718981"/>
            <a:ext cx="720008" cy="0"/>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36" name="正方形/長方形 35"/>
          <p:cNvSpPr/>
          <p:nvPr/>
        </p:nvSpPr>
        <p:spPr bwMode="auto">
          <a:xfrm>
            <a:off x="1781969"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8bit</a:t>
            </a:r>
            <a:endParaRPr kumimoji="1" lang="ja-JP" altLang="en-US" dirty="0">
              <a:solidFill>
                <a:schemeClr val="tx1">
                  <a:lumMod val="75000"/>
                  <a:lumOff val="25000"/>
                </a:schemeClr>
              </a:solidFill>
              <a:latin typeface="Consolas" panose="020B0609020204030204" pitchFamily="49" charset="0"/>
            </a:endParaRPr>
          </a:p>
        </p:txBody>
      </p:sp>
      <p:sp>
        <p:nvSpPr>
          <p:cNvPr id="38" name="正方形/長方形 37">
            <a:extLst>
              <a:ext uri="{FF2B5EF4-FFF2-40B4-BE49-F238E27FC236}">
                <a16:creationId xmlns:a16="http://schemas.microsoft.com/office/drawing/2014/main" id="{41F8EEC9-9620-4E9C-9B16-22677D3FA888}"/>
              </a:ext>
            </a:extLst>
          </p:cNvPr>
          <p:cNvSpPr/>
          <p:nvPr/>
        </p:nvSpPr>
        <p:spPr bwMode="auto">
          <a:xfrm>
            <a:off x="3131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F8E9AEA5-3FB4-455D-9495-C980C57584B6}"/>
              </a:ext>
            </a:extLst>
          </p:cNvPr>
          <p:cNvSpPr/>
          <p:nvPr/>
        </p:nvSpPr>
        <p:spPr bwMode="auto">
          <a:xfrm>
            <a:off x="3131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2582A728-F7F5-4B2F-8E43-305BF7418F28}"/>
              </a:ext>
            </a:extLst>
          </p:cNvPr>
          <p:cNvSpPr/>
          <p:nvPr/>
        </p:nvSpPr>
        <p:spPr bwMode="auto">
          <a:xfrm>
            <a:off x="3131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F8E9AEA5-3FB4-455D-9495-C980C57584B6}"/>
              </a:ext>
            </a:extLst>
          </p:cNvPr>
          <p:cNvSpPr/>
          <p:nvPr/>
        </p:nvSpPr>
        <p:spPr bwMode="auto">
          <a:xfrm>
            <a:off x="3131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F8E9AEA5-3FB4-455D-9495-C980C57584B6}"/>
              </a:ext>
            </a:extLst>
          </p:cNvPr>
          <p:cNvSpPr/>
          <p:nvPr/>
        </p:nvSpPr>
        <p:spPr bwMode="auto">
          <a:xfrm>
            <a:off x="3131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46" name="直線コネクタ 45"/>
          <p:cNvCxnSpPr/>
          <p:nvPr/>
        </p:nvCxnSpPr>
        <p:spPr bwMode="auto">
          <a:xfrm flipV="1">
            <a:off x="2951982" y="2708993"/>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7" name="正方形/長方形 46"/>
          <p:cNvSpPr/>
          <p:nvPr/>
        </p:nvSpPr>
        <p:spPr bwMode="auto">
          <a:xfrm>
            <a:off x="3311986"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LV1</a:t>
            </a:r>
            <a:r>
              <a:rPr kumimoji="1" lang="ja-JP" altLang="en-US" sz="1600" dirty="0">
                <a:solidFill>
                  <a:schemeClr val="tx1">
                    <a:lumMod val="75000"/>
                    <a:lumOff val="25000"/>
                  </a:schemeClr>
                </a:solidFill>
                <a:latin typeface="+mn-ea"/>
              </a:rPr>
              <a:t>テーブル</a:t>
            </a:r>
          </a:p>
        </p:txBody>
      </p:sp>
      <p:sp>
        <p:nvSpPr>
          <p:cNvPr id="48" name="正方形/長方形 47">
            <a:extLst>
              <a:ext uri="{FF2B5EF4-FFF2-40B4-BE49-F238E27FC236}">
                <a16:creationId xmlns:a16="http://schemas.microsoft.com/office/drawing/2014/main" id="{41F8EEC9-9620-4E9C-9B16-22677D3FA888}"/>
              </a:ext>
            </a:extLst>
          </p:cNvPr>
          <p:cNvSpPr/>
          <p:nvPr/>
        </p:nvSpPr>
        <p:spPr bwMode="auto">
          <a:xfrm>
            <a:off x="4932004" y="3429000"/>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F8E9AEA5-3FB4-455D-9495-C980C57584B6}"/>
              </a:ext>
            </a:extLst>
          </p:cNvPr>
          <p:cNvSpPr/>
          <p:nvPr/>
        </p:nvSpPr>
        <p:spPr bwMode="auto">
          <a:xfrm>
            <a:off x="493200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2582A728-F7F5-4B2F-8E43-305BF7418F28}"/>
              </a:ext>
            </a:extLst>
          </p:cNvPr>
          <p:cNvSpPr/>
          <p:nvPr/>
        </p:nvSpPr>
        <p:spPr bwMode="auto">
          <a:xfrm>
            <a:off x="493200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1" name="正方形/長方形 50">
            <a:extLst>
              <a:ext uri="{FF2B5EF4-FFF2-40B4-BE49-F238E27FC236}">
                <a16:creationId xmlns:a16="http://schemas.microsoft.com/office/drawing/2014/main" id="{F8E9AEA5-3FB4-455D-9495-C980C57584B6}"/>
              </a:ext>
            </a:extLst>
          </p:cNvPr>
          <p:cNvSpPr/>
          <p:nvPr/>
        </p:nvSpPr>
        <p:spPr bwMode="auto">
          <a:xfrm>
            <a:off x="4932004" y="378900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2" name="正方形/長方形 51">
            <a:extLst>
              <a:ext uri="{FF2B5EF4-FFF2-40B4-BE49-F238E27FC236}">
                <a16:creationId xmlns:a16="http://schemas.microsoft.com/office/drawing/2014/main" id="{F8E9AEA5-3FB4-455D-9495-C980C57584B6}"/>
              </a:ext>
            </a:extLst>
          </p:cNvPr>
          <p:cNvSpPr/>
          <p:nvPr/>
        </p:nvSpPr>
        <p:spPr bwMode="auto">
          <a:xfrm>
            <a:off x="4932004" y="396900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kumimoji="1" lang="ja-JP" altLang="en-US" dirty="0">
                <a:solidFill>
                  <a:schemeClr val="tx1">
                    <a:lumMod val="75000"/>
                    <a:lumOff val="25000"/>
                  </a:schemeClr>
                </a:solidFill>
                <a:latin typeface="+mn-ea"/>
              </a:rPr>
              <a:t>･･･</a:t>
            </a:r>
          </a:p>
        </p:txBody>
      </p:sp>
      <p:cxnSp>
        <p:nvCxnSpPr>
          <p:cNvPr id="53" name="曲線コネクタ 52"/>
          <p:cNvCxnSpPr/>
          <p:nvPr/>
        </p:nvCxnSpPr>
        <p:spPr bwMode="auto">
          <a:xfrm flipV="1">
            <a:off x="4211996" y="1808982"/>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4" name="曲線コネクタ 53"/>
          <p:cNvCxnSpPr/>
          <p:nvPr/>
        </p:nvCxnSpPr>
        <p:spPr bwMode="auto">
          <a:xfrm>
            <a:off x="4211996" y="3158986"/>
            <a:ext cx="720008" cy="270014"/>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6" name="直線コネクタ 55"/>
          <p:cNvCxnSpPr/>
          <p:nvPr/>
        </p:nvCxnSpPr>
        <p:spPr bwMode="auto">
          <a:xfrm flipV="1">
            <a:off x="4842003" y="3429000"/>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59" name="正方形/長方形 58"/>
          <p:cNvSpPr/>
          <p:nvPr/>
        </p:nvSpPr>
        <p:spPr bwMode="auto">
          <a:xfrm>
            <a:off x="2681979" y="477901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dirty="0">
                <a:solidFill>
                  <a:schemeClr val="accent4"/>
                </a:solidFill>
                <a:latin typeface="Consolas" panose="020B0609020204030204" pitchFamily="49" charset="0"/>
              </a:rPr>
              <a:t>64KB</a:t>
            </a:r>
            <a:r>
              <a:rPr kumimoji="1" lang="ja-JP" altLang="en-US" dirty="0">
                <a:solidFill>
                  <a:schemeClr val="accent4"/>
                </a:solidFill>
                <a:latin typeface="Consolas" panose="020B0609020204030204" pitchFamily="49" charset="0"/>
              </a:rPr>
              <a:t>ページ</a:t>
            </a:r>
            <a:r>
              <a:rPr kumimoji="1" lang="ja-JP" altLang="en-US" dirty="0">
                <a:solidFill>
                  <a:schemeClr val="tx1">
                    <a:lumMod val="75000"/>
                    <a:lumOff val="25000"/>
                  </a:schemeClr>
                </a:solidFill>
                <a:latin typeface="Consolas" panose="020B0609020204030204" pitchFamily="49" charset="0"/>
              </a:rPr>
              <a:t>の先頭を</a:t>
            </a:r>
            <a:endParaRPr kumimoji="1" lang="en-US" altLang="ja-JP" dirty="0">
              <a:solidFill>
                <a:schemeClr val="tx1">
                  <a:lumMod val="75000"/>
                  <a:lumOff val="25000"/>
                </a:schemeClr>
              </a:solidFill>
              <a:latin typeface="Consolas" panose="020B0609020204030204" pitchFamily="49" charset="0"/>
            </a:endParaRPr>
          </a:p>
          <a:p>
            <a:r>
              <a:rPr kumimoji="1" lang="ja-JP" altLang="en-US" dirty="0">
                <a:solidFill>
                  <a:schemeClr val="tx1">
                    <a:lumMod val="75000"/>
                    <a:lumOff val="25000"/>
                  </a:schemeClr>
                </a:solidFill>
                <a:latin typeface="Consolas" panose="020B0609020204030204" pitchFamily="49" charset="0"/>
              </a:rPr>
              <a:t>指すポインタが</a:t>
            </a:r>
            <a:endParaRPr kumimoji="1" lang="en-US" altLang="ja-JP" dirty="0">
              <a:solidFill>
                <a:schemeClr val="tx1">
                  <a:lumMod val="75000"/>
                  <a:lumOff val="25000"/>
                </a:schemeClr>
              </a:solidFill>
              <a:latin typeface="Consolas" panose="020B0609020204030204" pitchFamily="49" charset="0"/>
            </a:endParaRPr>
          </a:p>
          <a:p>
            <a:r>
              <a:rPr lang="en-US" altLang="ja-JP" dirty="0">
                <a:solidFill>
                  <a:schemeClr val="accent4"/>
                </a:solidFill>
                <a:latin typeface="Consolas" panose="020B0609020204030204" pitchFamily="49" charset="0"/>
              </a:rPr>
              <a:t>2^8</a:t>
            </a:r>
            <a:r>
              <a:rPr lang="ja-JP" altLang="en-US" dirty="0">
                <a:solidFill>
                  <a:schemeClr val="tx1">
                    <a:lumMod val="75000"/>
                    <a:lumOff val="25000"/>
                  </a:schemeClr>
                </a:solidFill>
                <a:latin typeface="Consolas" panose="020B0609020204030204" pitchFamily="49" charset="0"/>
              </a:rPr>
              <a:t>個並んで</a:t>
            </a:r>
            <a:r>
              <a:rPr kumimoji="1" lang="ja-JP" altLang="en-US" dirty="0">
                <a:solidFill>
                  <a:schemeClr val="tx1">
                    <a:lumMod val="75000"/>
                    <a:lumOff val="25000"/>
                  </a:schemeClr>
                </a:solidFill>
                <a:latin typeface="Consolas" panose="020B0609020204030204" pitchFamily="49" charset="0"/>
              </a:rPr>
              <a:t>いる</a:t>
            </a:r>
          </a:p>
        </p:txBody>
      </p:sp>
    </p:spTree>
    <p:extLst>
      <p:ext uri="{BB962C8B-B14F-4D97-AF65-F5344CB8AC3E}">
        <p14:creationId xmlns:p14="http://schemas.microsoft.com/office/powerpoint/2010/main" val="2255084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F5D9BB-F552-E6CC-3F80-89ACDD28A5F9}"/>
              </a:ext>
            </a:extLst>
          </p:cNvPr>
          <p:cNvSpPr>
            <a:spLocks noGrp="1"/>
          </p:cNvSpPr>
          <p:nvPr>
            <p:ph type="title"/>
          </p:nvPr>
        </p:nvSpPr>
        <p:spPr/>
        <p:txBody>
          <a:bodyPr/>
          <a:lstStyle/>
          <a:p>
            <a:r>
              <a:rPr kumimoji="1" lang="ja-JP" altLang="en-US" dirty="0"/>
              <a:t>期末試験について</a:t>
            </a:r>
            <a:endParaRPr kumimoji="1" lang="en-US" dirty="0"/>
          </a:p>
        </p:txBody>
      </p:sp>
      <p:sp>
        <p:nvSpPr>
          <p:cNvPr id="3" name="コンテンツ プレースホルダー 2">
            <a:extLst>
              <a:ext uri="{FF2B5EF4-FFF2-40B4-BE49-F238E27FC236}">
                <a16:creationId xmlns:a16="http://schemas.microsoft.com/office/drawing/2014/main" id="{706D32AD-9B0A-0A63-C827-702CA262A2BA}"/>
              </a:ext>
            </a:extLst>
          </p:cNvPr>
          <p:cNvSpPr>
            <a:spLocks noGrp="1"/>
          </p:cNvSpPr>
          <p:nvPr>
            <p:ph sz="quarter" idx="10"/>
          </p:nvPr>
        </p:nvSpPr>
        <p:spPr/>
        <p:txBody>
          <a:bodyPr/>
          <a:lstStyle/>
          <a:p>
            <a:r>
              <a:rPr lang="en-US" altLang="ja-JP" dirty="0"/>
              <a:t>8/5 (</a:t>
            </a:r>
            <a:r>
              <a:rPr lang="ja-JP" altLang="en-US" dirty="0"/>
              <a:t>火</a:t>
            </a:r>
            <a:r>
              <a:rPr lang="en-US" altLang="ja-JP" dirty="0"/>
              <a:t>) </a:t>
            </a:r>
            <a:r>
              <a:rPr lang="ja-JP" altLang="en-US" dirty="0"/>
              <a:t>にいつもの講義の時間にここで実施</a:t>
            </a:r>
            <a:endParaRPr lang="en-US" altLang="ja-JP" dirty="0"/>
          </a:p>
          <a:p>
            <a:r>
              <a:rPr lang="en-US" altLang="ja-JP" b="1" dirty="0">
                <a:solidFill>
                  <a:schemeClr val="accent5"/>
                </a:solidFill>
              </a:rPr>
              <a:t>A4</a:t>
            </a:r>
            <a:r>
              <a:rPr lang="ja-JP" altLang="en-US" b="1" dirty="0">
                <a:solidFill>
                  <a:schemeClr val="accent5"/>
                </a:solidFill>
              </a:rPr>
              <a:t>用紙</a:t>
            </a:r>
            <a:r>
              <a:rPr lang="en-US" altLang="ja-JP" b="1" dirty="0">
                <a:solidFill>
                  <a:schemeClr val="accent5"/>
                </a:solidFill>
              </a:rPr>
              <a:t> </a:t>
            </a:r>
            <a:r>
              <a:rPr lang="ja-JP" altLang="en-US" b="1" dirty="0">
                <a:solidFill>
                  <a:schemeClr val="accent5"/>
                </a:solidFill>
              </a:rPr>
              <a:t>１枚手書きのみの持ち込み可</a:t>
            </a:r>
            <a:endParaRPr lang="en-US" altLang="ja-JP" b="1" dirty="0">
              <a:solidFill>
                <a:schemeClr val="accent5"/>
              </a:solidFill>
            </a:endParaRPr>
          </a:p>
          <a:p>
            <a:pPr lvl="1"/>
            <a:r>
              <a:rPr lang="ja-JP" altLang="en-US" dirty="0"/>
              <a:t>裏表双方へ書き込み可</a:t>
            </a:r>
            <a:endParaRPr lang="en-US" altLang="ja-JP" dirty="0"/>
          </a:p>
          <a:p>
            <a:pPr lvl="1"/>
            <a:r>
              <a:rPr lang="ja-JP" altLang="en-US" dirty="0"/>
              <a:t>必ず</a:t>
            </a:r>
            <a:r>
              <a:rPr lang="ja-JP" altLang="en-US" dirty="0">
                <a:solidFill>
                  <a:schemeClr val="accent5"/>
                </a:solidFill>
              </a:rPr>
              <a:t>全部完全に手書き</a:t>
            </a:r>
            <a:r>
              <a:rPr lang="ja-JP" altLang="en-US" dirty="0"/>
              <a:t>にしてください</a:t>
            </a:r>
            <a:endParaRPr lang="en-US" altLang="ja-JP" dirty="0"/>
          </a:p>
          <a:p>
            <a:pPr lvl="2"/>
            <a:r>
              <a:rPr lang="ja-JP" altLang="en-US" dirty="0"/>
              <a:t>印刷したものを一部貼り付けるなどもダメ</a:t>
            </a:r>
            <a:endParaRPr lang="en-US" altLang="ja-JP" dirty="0"/>
          </a:p>
          <a:p>
            <a:r>
              <a:rPr lang="ja-JP" altLang="en-US" dirty="0"/>
              <a:t>基本的に課題で出した部分を中心に出題する予定</a:t>
            </a:r>
            <a:endParaRPr lang="en-US" altLang="ja-JP" dirty="0"/>
          </a:p>
          <a:p>
            <a:pPr lvl="1"/>
            <a:r>
              <a:rPr lang="ja-JP" altLang="en-US" dirty="0"/>
              <a:t>練習問題と課題を中心に勉強しておいてください</a:t>
            </a:r>
            <a:endParaRPr lang="en-US" altLang="ja-JP" dirty="0"/>
          </a:p>
        </p:txBody>
      </p:sp>
    </p:spTree>
    <p:extLst>
      <p:ext uri="{BB962C8B-B14F-4D97-AF65-F5344CB8AC3E}">
        <p14:creationId xmlns:p14="http://schemas.microsoft.com/office/powerpoint/2010/main" val="236722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D99487-BD68-0E1F-5636-0E712E91BE06}"/>
              </a:ext>
            </a:extLst>
          </p:cNvPr>
          <p:cNvSpPr>
            <a:spLocks noGrp="1"/>
          </p:cNvSpPr>
          <p:nvPr>
            <p:ph type="title"/>
          </p:nvPr>
        </p:nvSpPr>
        <p:spPr/>
        <p:txBody>
          <a:bodyPr/>
          <a:lstStyle/>
          <a:p>
            <a:r>
              <a:rPr kumimoji="1" lang="ja-JP" altLang="en-US" dirty="0"/>
              <a:t>補足</a:t>
            </a:r>
            <a:endParaRPr kumimoji="1" lang="en-US" dirty="0"/>
          </a:p>
        </p:txBody>
      </p:sp>
      <p:sp>
        <p:nvSpPr>
          <p:cNvPr id="3" name="コンテンツ プレースホルダー 2">
            <a:extLst>
              <a:ext uri="{FF2B5EF4-FFF2-40B4-BE49-F238E27FC236}">
                <a16:creationId xmlns:a16="http://schemas.microsoft.com/office/drawing/2014/main" id="{0336E523-C862-8D5F-5619-86A648614558}"/>
              </a:ext>
            </a:extLst>
          </p:cNvPr>
          <p:cNvSpPr>
            <a:spLocks noGrp="1"/>
          </p:cNvSpPr>
          <p:nvPr>
            <p:ph sz="quarter" idx="10"/>
          </p:nvPr>
        </p:nvSpPr>
        <p:spPr/>
        <p:txBody>
          <a:bodyPr/>
          <a:lstStyle/>
          <a:p>
            <a:r>
              <a:rPr kumimoji="1" lang="ja-JP" altLang="en-US" dirty="0"/>
              <a:t>質問がある場合は，遠慮無くメールで聞いて下さい</a:t>
            </a:r>
            <a:endParaRPr kumimoji="1" lang="en-US" altLang="ja-JP" dirty="0"/>
          </a:p>
          <a:p>
            <a:pPr lvl="1"/>
            <a:r>
              <a:rPr kumimoji="1" lang="ja-JP" altLang="en-US" dirty="0"/>
              <a:t>できるだけこの時間中に聞いて貰えるとよいです</a:t>
            </a:r>
            <a:endParaRPr kumimoji="1" lang="en-US" altLang="ja-JP" dirty="0"/>
          </a:p>
          <a:p>
            <a:r>
              <a:rPr kumimoji="1" lang="ja-JP" altLang="en-US" dirty="0"/>
              <a:t>今日も感想をかけるようにしています</a:t>
            </a:r>
            <a:endParaRPr kumimoji="1" lang="en-US" altLang="ja-JP" dirty="0"/>
          </a:p>
          <a:p>
            <a:pPr lvl="1"/>
            <a:r>
              <a:rPr kumimoji="1" lang="ja-JP" altLang="en-US" dirty="0"/>
              <a:t>しかし，今日は別に必須ではないですし，特に加点もしないです</a:t>
            </a:r>
            <a:endParaRPr kumimoji="1" lang="en-US" altLang="ja-JP" dirty="0"/>
          </a:p>
          <a:p>
            <a:pPr lvl="1"/>
            <a:r>
              <a:rPr kumimoji="1" lang="ja-JP" altLang="en-US" dirty="0"/>
              <a:t>今後の要望等，なんでも書いてもらえれば参考になります</a:t>
            </a:r>
            <a:endParaRPr kumimoji="1" lang="en-US" altLang="ja-JP" dirty="0"/>
          </a:p>
        </p:txBody>
      </p:sp>
    </p:spTree>
    <p:extLst>
      <p:ext uri="{BB962C8B-B14F-4D97-AF65-F5344CB8AC3E}">
        <p14:creationId xmlns:p14="http://schemas.microsoft.com/office/powerpoint/2010/main" val="3259785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09E12B7-1370-3346-B4E8-7093BA1662C1}"/>
              </a:ext>
            </a:extLst>
          </p:cNvPr>
          <p:cNvSpPr>
            <a:spLocks noGrp="1"/>
          </p:cNvSpPr>
          <p:nvPr>
            <p:ph type="title"/>
          </p:nvPr>
        </p:nvSpPr>
        <p:spPr/>
        <p:txBody>
          <a:bodyPr/>
          <a:lstStyle/>
          <a:p>
            <a:r>
              <a:rPr kumimoji="1" lang="ja-JP" altLang="en-US" dirty="0"/>
              <a:t>質問とか感想</a:t>
            </a:r>
            <a:endParaRPr lang="en-US" dirty="0"/>
          </a:p>
        </p:txBody>
      </p:sp>
    </p:spTree>
    <p:extLst>
      <p:ext uri="{BB962C8B-B14F-4D97-AF65-F5344CB8AC3E}">
        <p14:creationId xmlns:p14="http://schemas.microsoft.com/office/powerpoint/2010/main" val="1154345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8EBBD-6456-B940-EE50-E6057DAEC093}"/>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6C96F0D-39A0-7B53-A71E-67DF1A3CBE56}"/>
              </a:ext>
            </a:extLst>
          </p:cNvPr>
          <p:cNvSpPr>
            <a:spLocks noGrp="1"/>
          </p:cNvSpPr>
          <p:nvPr>
            <p:ph sz="quarter" idx="10"/>
          </p:nvPr>
        </p:nvSpPr>
        <p:spPr>
          <a:xfrm>
            <a:off x="611956" y="1088974"/>
            <a:ext cx="7920088" cy="5220058"/>
          </a:xfrm>
        </p:spPr>
        <p:txBody>
          <a:bodyPr/>
          <a:lstStyle/>
          <a:p>
            <a:r>
              <a:rPr lang="ja-JP" altLang="en-US" dirty="0"/>
              <a:t>カーネルモードでバグが起きるとどうなりますか？</a:t>
            </a:r>
            <a:r>
              <a:rPr lang="en-US" altLang="ja-JP" dirty="0"/>
              <a:t>OS</a:t>
            </a:r>
            <a:r>
              <a:rPr lang="ja-JP" altLang="en-US" dirty="0"/>
              <a:t>のソースコード上に、ここからがカーネルモードです、というようなことが書いてあるのでしょうか？</a:t>
            </a:r>
            <a:endParaRPr lang="en-US" dirty="0"/>
          </a:p>
        </p:txBody>
      </p:sp>
    </p:spTree>
    <p:extLst>
      <p:ext uri="{BB962C8B-B14F-4D97-AF65-F5344CB8AC3E}">
        <p14:creationId xmlns:p14="http://schemas.microsoft.com/office/powerpoint/2010/main" val="11730821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E8480-F961-AF28-A90B-032BE39E54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222A242-A9D7-2E5A-7F30-9DD2269A7F59}"/>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11C3D8C7-6458-BF6A-5B86-4F0C9F064604}"/>
              </a:ext>
            </a:extLst>
          </p:cNvPr>
          <p:cNvSpPr>
            <a:spLocks noGrp="1"/>
          </p:cNvSpPr>
          <p:nvPr>
            <p:ph sz="quarter" idx="10"/>
          </p:nvPr>
        </p:nvSpPr>
        <p:spPr>
          <a:xfrm>
            <a:off x="611956" y="1088974"/>
            <a:ext cx="7920088" cy="5220058"/>
          </a:xfrm>
        </p:spPr>
        <p:txBody>
          <a:bodyPr/>
          <a:lstStyle/>
          <a:p>
            <a:r>
              <a:rPr lang="ja-JP" altLang="en-US" dirty="0"/>
              <a:t>今日の仮想メモリ空間の話でシステムプログラミング演習で訳分からずやったものと繋がってよかったです。</a:t>
            </a:r>
            <a:endParaRPr lang="en-US" altLang="ja-JP" dirty="0"/>
          </a:p>
          <a:p>
            <a:r>
              <a:rPr lang="ja-JP" altLang="en-US" dirty="0"/>
              <a:t>なんならよく分からずに、図をエクセルで作った記憶があります。その時は確かただターミナルで何か打ってどの領域にどれくらい含まれているか見ただけであったので今回割り当ての仕方を教わることができて勉強になった。</a:t>
            </a:r>
          </a:p>
          <a:p>
            <a:r>
              <a:rPr lang="ja-JP" altLang="en-US" dirty="0"/>
              <a:t>この授業を取ることで、今学期のシステムプログラミング実習でなんでやっているのか詳しく分からなかったことがなんとなくわかり、いやいやプログラミングをやらずに済むことができてよかったです。</a:t>
            </a:r>
            <a:endParaRPr lang="en-US" dirty="0"/>
          </a:p>
        </p:txBody>
      </p:sp>
    </p:spTree>
    <p:extLst>
      <p:ext uri="{BB962C8B-B14F-4D97-AF65-F5344CB8AC3E}">
        <p14:creationId xmlns:p14="http://schemas.microsoft.com/office/powerpoint/2010/main" val="1085440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4B2F6-34CA-8F80-CABB-6537D172A47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23748E-58FF-8A0E-1FB8-4BFC09846CD7}"/>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921B31DF-4C75-22B3-27B1-A5CB61158921}"/>
              </a:ext>
            </a:extLst>
          </p:cNvPr>
          <p:cNvSpPr>
            <a:spLocks noGrp="1"/>
          </p:cNvSpPr>
          <p:nvPr>
            <p:ph sz="quarter" idx="10"/>
          </p:nvPr>
        </p:nvSpPr>
        <p:spPr>
          <a:xfrm>
            <a:off x="611956" y="1088974"/>
            <a:ext cx="7920088" cy="5220058"/>
          </a:xfrm>
        </p:spPr>
        <p:txBody>
          <a:bodyPr/>
          <a:lstStyle/>
          <a:p>
            <a:r>
              <a:rPr lang="en-US" altLang="ja-JP" dirty="0"/>
              <a:t>2</a:t>
            </a:r>
            <a:r>
              <a:rPr lang="ja-JP" altLang="en-US" dirty="0"/>
              <a:t>段ページ・テーブルになると物理メモリの容量はどのように計算すれば良いのか分かりませんでした。</a:t>
            </a:r>
            <a:endParaRPr lang="en-US" dirty="0"/>
          </a:p>
        </p:txBody>
      </p:sp>
    </p:spTree>
    <p:extLst>
      <p:ext uri="{BB962C8B-B14F-4D97-AF65-F5344CB8AC3E}">
        <p14:creationId xmlns:p14="http://schemas.microsoft.com/office/powerpoint/2010/main" val="8249330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08E88-C44E-745F-DCC9-24D0773791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9EC3994-8A35-7999-1EE1-80D04E20205F}"/>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13319070-7557-5F5B-9C96-8B254B0CF9A7}"/>
              </a:ext>
            </a:extLst>
          </p:cNvPr>
          <p:cNvSpPr>
            <a:spLocks noGrp="1"/>
          </p:cNvSpPr>
          <p:nvPr>
            <p:ph sz="quarter" idx="10"/>
          </p:nvPr>
        </p:nvSpPr>
        <p:spPr>
          <a:xfrm>
            <a:off x="611956" y="1088974"/>
            <a:ext cx="7920088" cy="5220058"/>
          </a:xfrm>
        </p:spPr>
        <p:txBody>
          <a:bodyPr/>
          <a:lstStyle/>
          <a:p>
            <a:r>
              <a:rPr lang="en-US" altLang="ja-JP" dirty="0"/>
              <a:t>p32</a:t>
            </a:r>
            <a:r>
              <a:rPr lang="ja-JP" altLang="en-US" dirty="0"/>
              <a:t>あたりの内容が他の科目の期末課題の内容と近く、苦しい気持ちになった。</a:t>
            </a:r>
          </a:p>
          <a:p>
            <a:r>
              <a:rPr lang="ja-JP" altLang="en-US" dirty="0"/>
              <a:t>↑の授業で取り扱った関数の</a:t>
            </a:r>
            <a:r>
              <a:rPr lang="en-US" altLang="ja-JP" dirty="0"/>
              <a:t>man</a:t>
            </a:r>
            <a:r>
              <a:rPr lang="ja-JP" altLang="en-US" dirty="0"/>
              <a:t>ページで「ページ単位に切り上げられる」というような説明があり混乱していたが、この単位の出自がわかって良かった。</a:t>
            </a:r>
          </a:p>
          <a:p>
            <a:endParaRPr lang="en-US" altLang="ja-JP" dirty="0"/>
          </a:p>
          <a:p>
            <a:r>
              <a:rPr lang="ja-JP" altLang="en-US" dirty="0"/>
              <a:t>前回デジタル時計と行列積が似ているとコメントしたのですが、下の桁の方が速いのが同じだな</a:t>
            </a:r>
            <a:r>
              <a:rPr lang="en-US" altLang="ja-JP" dirty="0"/>
              <a:t>〜</a:t>
            </a:r>
            <a:r>
              <a:rPr lang="ja-JP" altLang="en-US" dirty="0"/>
              <a:t>という、ただそれだけです！</a:t>
            </a:r>
            <a:endParaRPr lang="en-US" dirty="0"/>
          </a:p>
        </p:txBody>
      </p:sp>
    </p:spTree>
    <p:extLst>
      <p:ext uri="{BB962C8B-B14F-4D97-AF65-F5344CB8AC3E}">
        <p14:creationId xmlns:p14="http://schemas.microsoft.com/office/powerpoint/2010/main" val="2915625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3EA04-2FD9-0181-616D-FD646F065A8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B13BE3-DDFD-600A-00A1-B4F0B726C1EB}"/>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A6BD40A7-718F-D884-F5CC-508B9934CC63}"/>
              </a:ext>
            </a:extLst>
          </p:cNvPr>
          <p:cNvSpPr>
            <a:spLocks noGrp="1"/>
          </p:cNvSpPr>
          <p:nvPr>
            <p:ph sz="quarter" idx="10"/>
          </p:nvPr>
        </p:nvSpPr>
        <p:spPr>
          <a:xfrm>
            <a:off x="611956" y="1088974"/>
            <a:ext cx="7920088" cy="5220058"/>
          </a:xfrm>
        </p:spPr>
        <p:txBody>
          <a:bodyPr/>
          <a:lstStyle/>
          <a:p>
            <a:r>
              <a:rPr lang="en-US" altLang="ja-JP" dirty="0"/>
              <a:t>39</a:t>
            </a:r>
            <a:r>
              <a:rPr lang="ja-JP" altLang="en-US" dirty="0"/>
              <a:t>ページのベース･レジスタと物理メモリの図がよく分かりません。もう少し解説していただけませんか？</a:t>
            </a:r>
            <a:endParaRPr lang="en-US" dirty="0"/>
          </a:p>
        </p:txBody>
      </p:sp>
    </p:spTree>
    <p:extLst>
      <p:ext uri="{BB962C8B-B14F-4D97-AF65-F5344CB8AC3E}">
        <p14:creationId xmlns:p14="http://schemas.microsoft.com/office/powerpoint/2010/main" val="9968557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8F8D-2326-1A42-265B-155F4A36D3E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73AAD8-0CB0-39BD-2723-98925ED07BB3}"/>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96484A00-7681-A2B0-9F5D-4FA79FE29EF2}"/>
              </a:ext>
            </a:extLst>
          </p:cNvPr>
          <p:cNvSpPr>
            <a:spLocks noGrp="1"/>
          </p:cNvSpPr>
          <p:nvPr>
            <p:ph sz="quarter" idx="10"/>
          </p:nvPr>
        </p:nvSpPr>
        <p:spPr>
          <a:xfrm>
            <a:off x="611956" y="1088974"/>
            <a:ext cx="7920088" cy="5220058"/>
          </a:xfrm>
        </p:spPr>
        <p:txBody>
          <a:bodyPr/>
          <a:lstStyle/>
          <a:p>
            <a:r>
              <a:rPr lang="ja-JP" altLang="en-US" dirty="0"/>
              <a:t>今回の課題では</a:t>
            </a:r>
            <a:r>
              <a:rPr lang="en-US" altLang="ja-JP" dirty="0"/>
              <a:t>TLB</a:t>
            </a:r>
            <a:r>
              <a:rPr lang="ja-JP" altLang="en-US" dirty="0"/>
              <a:t>が存在しませんでしたが、</a:t>
            </a:r>
            <a:r>
              <a:rPr lang="en-US" altLang="ja-JP" dirty="0"/>
              <a:t>TLB</a:t>
            </a:r>
            <a:r>
              <a:rPr lang="ja-JP" altLang="en-US" dirty="0"/>
              <a:t>が存在するような問題も出る可能性があるのでしょうか。</a:t>
            </a:r>
            <a:endParaRPr lang="en-US" altLang="ja-JP" dirty="0"/>
          </a:p>
          <a:p>
            <a:r>
              <a:rPr lang="ja-JP" altLang="en-US" dirty="0"/>
              <a:t>ページ・テーブルは物理メモリ上に存在しましたが、</a:t>
            </a:r>
            <a:r>
              <a:rPr lang="en-US" altLang="ja-JP" dirty="0"/>
              <a:t>TLB</a:t>
            </a:r>
            <a:r>
              <a:rPr lang="ja-JP" altLang="en-US" dirty="0"/>
              <a:t>も物理メモリ上に存在して、ページ・テーブルで一度使った値</a:t>
            </a:r>
            <a:r>
              <a:rPr lang="en-US" altLang="ja-JP" dirty="0"/>
              <a:t>(</a:t>
            </a:r>
            <a:r>
              <a:rPr lang="ja-JP" altLang="en-US" dirty="0"/>
              <a:t>とその周辺の値</a:t>
            </a:r>
            <a:r>
              <a:rPr lang="en-US" altLang="ja-JP" dirty="0"/>
              <a:t>)</a:t>
            </a:r>
            <a:r>
              <a:rPr lang="ja-JP" altLang="en-US" dirty="0"/>
              <a:t>を</a:t>
            </a:r>
            <a:r>
              <a:rPr lang="en-US" altLang="ja-JP" dirty="0"/>
              <a:t>TLB</a:t>
            </a:r>
            <a:r>
              <a:rPr lang="ja-JP" altLang="en-US" dirty="0"/>
              <a:t>にコピーしておくという認識であっていますか？</a:t>
            </a:r>
            <a:endParaRPr lang="en-US" dirty="0"/>
          </a:p>
        </p:txBody>
      </p:sp>
    </p:spTree>
    <p:extLst>
      <p:ext uri="{BB962C8B-B14F-4D97-AF65-F5344CB8AC3E}">
        <p14:creationId xmlns:p14="http://schemas.microsoft.com/office/powerpoint/2010/main" val="1021054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29ABA-FF49-9C52-A28C-2EABEF12D7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351A1C-AF28-1F60-1FCD-5993D5A522AC}"/>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74627B1A-6F64-661A-3FAC-D6DC18463B1A}"/>
              </a:ext>
            </a:extLst>
          </p:cNvPr>
          <p:cNvSpPr>
            <a:spLocks noGrp="1"/>
          </p:cNvSpPr>
          <p:nvPr>
            <p:ph sz="quarter" idx="10"/>
          </p:nvPr>
        </p:nvSpPr>
        <p:spPr>
          <a:xfrm>
            <a:off x="611956" y="1088974"/>
            <a:ext cx="7920088" cy="5220058"/>
          </a:xfrm>
        </p:spPr>
        <p:txBody>
          <a:bodyPr/>
          <a:lstStyle/>
          <a:p>
            <a:r>
              <a:rPr lang="ja-JP" altLang="en-US" dirty="0"/>
              <a:t>特に印象的だったのは、仮想メモリには</a:t>
            </a:r>
            <a:r>
              <a:rPr lang="en-US" altLang="ja-JP" dirty="0"/>
              <a:t>OS</a:t>
            </a:r>
            <a:r>
              <a:rPr lang="ja-JP" altLang="en-US" dirty="0"/>
              <a:t>が関与しているということだった。これまで様々な授業で</a:t>
            </a:r>
            <a:r>
              <a:rPr lang="en-US" altLang="ja-JP" dirty="0"/>
              <a:t>OS</a:t>
            </a:r>
            <a:r>
              <a:rPr lang="ja-JP" altLang="en-US" dirty="0"/>
              <a:t>の役割を学んできたため、</a:t>
            </a:r>
            <a:r>
              <a:rPr lang="en-US" altLang="ja-JP" dirty="0"/>
              <a:t>OS</a:t>
            </a:r>
            <a:r>
              <a:rPr lang="ja-JP" altLang="en-US" dirty="0"/>
              <a:t>のやっていることは非常に多いのだなと感じた。</a:t>
            </a:r>
            <a:endParaRPr lang="en-US" altLang="ja-JP" dirty="0"/>
          </a:p>
          <a:p>
            <a:r>
              <a:rPr lang="ja-JP" altLang="en-US" dirty="0"/>
              <a:t>また、</a:t>
            </a:r>
            <a:r>
              <a:rPr lang="en-US" altLang="ja-JP" dirty="0"/>
              <a:t>2</a:t>
            </a:r>
            <a:r>
              <a:rPr lang="ja-JP" altLang="en-US" dirty="0"/>
              <a:t>段ページ・テーブルは単段ページ・テーブルよりも必要な容量がかなり少なくなるということも印象的だった。</a:t>
            </a:r>
            <a:r>
              <a:rPr lang="en-US" altLang="ja-JP" dirty="0"/>
              <a:t>2</a:t>
            </a:r>
            <a:r>
              <a:rPr lang="ja-JP" altLang="en-US" dirty="0"/>
              <a:t>段ページ・テーブルの仕組みは少し複雑に感じていたが、こんなにも容量を少なくできる技術なのかととても驚き、興味が湧いた。</a:t>
            </a:r>
            <a:endParaRPr lang="en-US" dirty="0"/>
          </a:p>
        </p:txBody>
      </p:sp>
    </p:spTree>
    <p:extLst>
      <p:ext uri="{BB962C8B-B14F-4D97-AF65-F5344CB8AC3E}">
        <p14:creationId xmlns:p14="http://schemas.microsoft.com/office/powerpoint/2010/main" val="2662710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766C8-E10B-D166-9D77-087978BB99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DB8158-64E0-E9E3-6112-B34291C68661}"/>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EC88B7DB-92B2-4563-260A-C7C8E05A8248}"/>
              </a:ext>
            </a:extLst>
          </p:cNvPr>
          <p:cNvSpPr>
            <a:spLocks noGrp="1"/>
          </p:cNvSpPr>
          <p:nvPr>
            <p:ph sz="quarter" idx="10"/>
          </p:nvPr>
        </p:nvSpPr>
        <p:spPr>
          <a:xfrm>
            <a:off x="611956" y="1088974"/>
            <a:ext cx="7920088" cy="5220058"/>
          </a:xfrm>
        </p:spPr>
        <p:txBody>
          <a:bodyPr/>
          <a:lstStyle/>
          <a:p>
            <a:r>
              <a:rPr lang="ja-JP" altLang="en-US" dirty="0"/>
              <a:t>今回の大きなメモリが用意されているように見せかける技術やキャッシュの大きくて速いメモリがあるように見せかける技術などコンピュータには見せかける技術が多く、人が使いやすいように工夫されていることを感じました。</a:t>
            </a:r>
            <a:endParaRPr lang="en-US" dirty="0"/>
          </a:p>
        </p:txBody>
      </p:sp>
    </p:spTree>
    <p:extLst>
      <p:ext uri="{BB962C8B-B14F-4D97-AF65-F5344CB8AC3E}">
        <p14:creationId xmlns:p14="http://schemas.microsoft.com/office/powerpoint/2010/main" val="4798594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7B2AA-8168-A8DD-68B1-9F206BA30E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906D25-9D4D-3DAB-6D64-94F1814B6088}"/>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603FD7A0-A14B-8C54-65B2-37B49D0F0216}"/>
              </a:ext>
            </a:extLst>
          </p:cNvPr>
          <p:cNvSpPr>
            <a:spLocks noGrp="1"/>
          </p:cNvSpPr>
          <p:nvPr>
            <p:ph sz="quarter" idx="10"/>
          </p:nvPr>
        </p:nvSpPr>
        <p:spPr>
          <a:xfrm>
            <a:off x="611956" y="1088974"/>
            <a:ext cx="7920088" cy="5220058"/>
          </a:xfrm>
        </p:spPr>
        <p:txBody>
          <a:bodyPr/>
          <a:lstStyle/>
          <a:p>
            <a:r>
              <a:rPr lang="ja-JP" altLang="en-US" dirty="0"/>
              <a:t>期末テストについて、</a:t>
            </a:r>
            <a:r>
              <a:rPr lang="en-US" altLang="ja-JP" dirty="0"/>
              <a:t>A4</a:t>
            </a:r>
            <a:r>
              <a:rPr lang="ja-JP" altLang="en-US" dirty="0"/>
              <a:t>の紙に何を書いたらよいのか悩んでいます。語句などが問われることはありますか？</a:t>
            </a:r>
            <a:endParaRPr lang="en-US" dirty="0"/>
          </a:p>
        </p:txBody>
      </p:sp>
    </p:spTree>
    <p:extLst>
      <p:ext uri="{BB962C8B-B14F-4D97-AF65-F5344CB8AC3E}">
        <p14:creationId xmlns:p14="http://schemas.microsoft.com/office/powerpoint/2010/main" val="20712060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8EBBD-6456-B940-EE50-E6057DAEC093}"/>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6C96F0D-39A0-7B53-A71E-67DF1A3CBE56}"/>
              </a:ext>
            </a:extLst>
          </p:cNvPr>
          <p:cNvSpPr>
            <a:spLocks noGrp="1"/>
          </p:cNvSpPr>
          <p:nvPr>
            <p:ph sz="quarter" idx="10"/>
          </p:nvPr>
        </p:nvSpPr>
        <p:spPr>
          <a:xfrm>
            <a:off x="611956" y="1988984"/>
            <a:ext cx="7920088" cy="2520028"/>
          </a:xfrm>
        </p:spPr>
        <p:txBody>
          <a:bodyPr/>
          <a:lstStyle/>
          <a:p>
            <a:pPr marL="1080000" lvl="3" indent="0">
              <a:buNone/>
            </a:pPr>
            <a:r>
              <a:rPr lang="en-US" altLang="ja-JP" b="0" i="0" dirty="0">
                <a:solidFill>
                  <a:srgbClr val="000000"/>
                </a:solidFill>
                <a:effectLst/>
                <a:latin typeface="Meiryo" panose="020B0604030504040204" pitchFamily="50" charset="-128"/>
                <a:ea typeface="Meiryo" panose="020B0604030504040204" pitchFamily="50" charset="-128"/>
              </a:rPr>
              <a:t>		</a:t>
            </a:r>
            <a:r>
              <a:rPr lang="ja-JP" altLang="en-US" b="0" i="0" dirty="0">
                <a:solidFill>
                  <a:srgbClr val="000000"/>
                </a:solidFill>
                <a:effectLst/>
                <a:latin typeface="Meiryo" panose="020B0604030504040204" pitchFamily="50" charset="-128"/>
                <a:ea typeface="Meiryo" panose="020B0604030504040204" pitchFamily="50" charset="-128"/>
              </a:rPr>
              <a:t>一学期間おつかれさまでした</a:t>
            </a:r>
            <a:br>
              <a:rPr lang="en-US" altLang="ja-JP" b="0" i="0" dirty="0">
                <a:solidFill>
                  <a:srgbClr val="000000"/>
                </a:solidFill>
                <a:effectLst/>
                <a:latin typeface="Meiryo" panose="020B0604030504040204" pitchFamily="50" charset="-128"/>
                <a:ea typeface="Meiryo" panose="020B0604030504040204" pitchFamily="50" charset="-128"/>
              </a:rPr>
            </a:br>
            <a:r>
              <a:rPr lang="en-US" altLang="ja-JP" b="0" i="0" dirty="0">
                <a:solidFill>
                  <a:srgbClr val="000000"/>
                </a:solidFill>
                <a:effectLst/>
                <a:latin typeface="Meiryo" panose="020B0604030504040204" pitchFamily="50" charset="-128"/>
                <a:ea typeface="Meiryo" panose="020B0604030504040204" pitchFamily="50" charset="-128"/>
              </a:rPr>
              <a:t>		</a:t>
            </a:r>
            <a:r>
              <a:rPr lang="ja-JP" altLang="en-US" b="0" i="0" dirty="0">
                <a:solidFill>
                  <a:srgbClr val="000000"/>
                </a:solidFill>
                <a:effectLst/>
                <a:latin typeface="Meiryo" panose="020B0604030504040204" pitchFamily="50" charset="-128"/>
                <a:ea typeface="Meiryo" panose="020B0604030504040204" pitchFamily="50" charset="-128"/>
              </a:rPr>
              <a:t>テストがんばってください</a:t>
            </a:r>
            <a:endParaRPr lang="en-US" altLang="ja-JP" b="0" i="0" dirty="0">
              <a:solidFill>
                <a:srgbClr val="000000"/>
              </a:solidFill>
              <a:effectLst/>
              <a:latin typeface="Meiryo" panose="020B0604030504040204" pitchFamily="50" charset="-128"/>
              <a:ea typeface="Meiryo" panose="020B0604030504040204" pitchFamily="50" charset="-128"/>
            </a:endParaRPr>
          </a:p>
          <a:p>
            <a:endParaRPr lang="en-US" dirty="0">
              <a:solidFill>
                <a:srgbClr val="000000"/>
              </a:solidFill>
              <a:latin typeface="Meiryo" panose="020B0604030504040204" pitchFamily="50" charset="-128"/>
              <a:ea typeface="Meiryo" panose="020B0604030504040204" pitchFamily="50" charset="-128"/>
            </a:endParaRPr>
          </a:p>
        </p:txBody>
      </p:sp>
      <p:sp>
        <p:nvSpPr>
          <p:cNvPr id="4" name="正方形/長方形 3">
            <a:extLst>
              <a:ext uri="{FF2B5EF4-FFF2-40B4-BE49-F238E27FC236}">
                <a16:creationId xmlns:a16="http://schemas.microsoft.com/office/drawing/2014/main" id="{BEF6E61C-D39D-D2AE-20A4-0DDBE01D30E7}"/>
              </a:ext>
            </a:extLst>
          </p:cNvPr>
          <p:cNvSpPr/>
          <p:nvPr/>
        </p:nvSpPr>
        <p:spPr>
          <a:xfrm>
            <a:off x="1691968" y="3879005"/>
            <a:ext cx="1345240"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ｵﾂｶﾚｰ</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BF9881AD-21CB-364F-EA9B-9CF70A1392E6}"/>
              </a:ext>
            </a:extLst>
          </p:cNvPr>
          <p:cNvSpPr/>
          <p:nvPr/>
        </p:nvSpPr>
        <p:spPr>
          <a:xfrm>
            <a:off x="3131984" y="3879005"/>
            <a:ext cx="1255472"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ﾏﾀﾈ</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正方形/長方形 5">
            <a:extLst>
              <a:ext uri="{FF2B5EF4-FFF2-40B4-BE49-F238E27FC236}">
                <a16:creationId xmlns:a16="http://schemas.microsoft.com/office/drawing/2014/main" id="{A5AB8729-CCFA-F03B-A727-4DDC6BE4202A}"/>
              </a:ext>
            </a:extLst>
          </p:cNvPr>
          <p:cNvSpPr/>
          <p:nvPr/>
        </p:nvSpPr>
        <p:spPr>
          <a:xfrm>
            <a:off x="4572000" y="3879005"/>
            <a:ext cx="1361270"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ｶﾞﾝﾊﾞｯﾃ</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a:extLst>
              <a:ext uri="{FF2B5EF4-FFF2-40B4-BE49-F238E27FC236}">
                <a16:creationId xmlns:a16="http://schemas.microsoft.com/office/drawing/2014/main" id="{8AE12378-1AF0-6392-12F9-D33C8FFF8AD3}"/>
              </a:ext>
            </a:extLst>
          </p:cNvPr>
          <p:cNvSpPr/>
          <p:nvPr/>
        </p:nvSpPr>
        <p:spPr>
          <a:xfrm>
            <a:off x="6102017" y="3879005"/>
            <a:ext cx="1383712"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ﾊﾞｲﾊﾞｲ</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493669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コーパス爆発の対策</Template>
  <TotalTime>0</TotalTime>
  <Words>1852</Words>
  <Application>Microsoft Office PowerPoint</Application>
  <PresentationFormat>画面に合わせる (4:3)</PresentationFormat>
  <Paragraphs>207</Paragraphs>
  <Slides>25</Slides>
  <Notes>0</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25</vt:i4>
      </vt:variant>
    </vt:vector>
  </HeadingPairs>
  <TitlesOfParts>
    <vt:vector size="35" baseType="lpstr">
      <vt:lpstr>HG丸ｺﾞｼｯｸM-PRO</vt:lpstr>
      <vt:lpstr>ＭＳ Ｐゴシック</vt:lpstr>
      <vt:lpstr>メイリオ</vt:lpstr>
      <vt:lpstr>メイリオ</vt:lpstr>
      <vt:lpstr>游ゴシック</vt:lpstr>
      <vt:lpstr>Calibri</vt:lpstr>
      <vt:lpstr>Consolas</vt:lpstr>
      <vt:lpstr>Segoe UI</vt:lpstr>
      <vt:lpstr>Wingdings</vt:lpstr>
      <vt:lpstr>cerulean</vt:lpstr>
      <vt:lpstr>塩谷 亮太 (shioya@ci.i.u-tokyo.ac.jp) 東京大学大学院情報理工学系研究科 創造情報学専攻</vt:lpstr>
      <vt:lpstr>課題の解説</vt:lpstr>
      <vt:lpstr>課題 １１</vt:lpstr>
      <vt:lpstr>課題 １１</vt:lpstr>
      <vt:lpstr>仮想メモリと物理メモリの対応</vt:lpstr>
      <vt:lpstr>仮想メモリと物理メモリの対応</vt:lpstr>
      <vt:lpstr>単段ページ・テーブルの動作</vt:lpstr>
      <vt:lpstr>単段ページ・テーブルの動作</vt:lpstr>
      <vt:lpstr>課題 １１</vt:lpstr>
      <vt:lpstr>課題 １１</vt:lpstr>
      <vt:lpstr>課題 １１</vt:lpstr>
      <vt:lpstr>２段ページ・テーブルの例</vt:lpstr>
      <vt:lpstr>期末試験について</vt:lpstr>
      <vt:lpstr>補足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2025-08-01T04:56:42Z</dcterms:modified>
</cp:coreProperties>
</file>