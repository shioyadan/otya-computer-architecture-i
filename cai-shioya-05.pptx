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4" r:id="rId1"/>
  </p:sldMasterIdLst>
  <p:notesMasterIdLst>
    <p:notesMasterId r:id="rId100"/>
  </p:notesMasterIdLst>
  <p:sldIdLst>
    <p:sldId id="455" r:id="rId2"/>
    <p:sldId id="805" r:id="rId3"/>
    <p:sldId id="802" r:id="rId4"/>
    <p:sldId id="312" r:id="rId5"/>
    <p:sldId id="809" r:id="rId6"/>
    <p:sldId id="266" r:id="rId7"/>
    <p:sldId id="754" r:id="rId8"/>
    <p:sldId id="784" r:id="rId9"/>
    <p:sldId id="460" r:id="rId10"/>
    <p:sldId id="788" r:id="rId11"/>
    <p:sldId id="789" r:id="rId12"/>
    <p:sldId id="631" r:id="rId13"/>
    <p:sldId id="456" r:id="rId14"/>
    <p:sldId id="457" r:id="rId15"/>
    <p:sldId id="496" r:id="rId16"/>
    <p:sldId id="609" r:id="rId17"/>
    <p:sldId id="611" r:id="rId18"/>
    <p:sldId id="484" r:id="rId19"/>
    <p:sldId id="281" r:id="rId20"/>
    <p:sldId id="285" r:id="rId21"/>
    <p:sldId id="699" r:id="rId22"/>
    <p:sldId id="483" r:id="rId23"/>
    <p:sldId id="487" r:id="rId24"/>
    <p:sldId id="486" r:id="rId25"/>
    <p:sldId id="488" r:id="rId26"/>
    <p:sldId id="489" r:id="rId27"/>
    <p:sldId id="491" r:id="rId28"/>
    <p:sldId id="492" r:id="rId29"/>
    <p:sldId id="493" r:id="rId30"/>
    <p:sldId id="495" r:id="rId31"/>
    <p:sldId id="612" r:id="rId32"/>
    <p:sldId id="807" r:id="rId33"/>
    <p:sldId id="498" r:id="rId34"/>
    <p:sldId id="898" r:id="rId35"/>
    <p:sldId id="497" r:id="rId36"/>
    <p:sldId id="601" r:id="rId37"/>
    <p:sldId id="502" r:id="rId38"/>
    <p:sldId id="602" r:id="rId39"/>
    <p:sldId id="606" r:id="rId40"/>
    <p:sldId id="814" r:id="rId41"/>
    <p:sldId id="815" r:id="rId42"/>
    <p:sldId id="607" r:id="rId43"/>
    <p:sldId id="511" r:id="rId44"/>
    <p:sldId id="816" r:id="rId45"/>
    <p:sldId id="604" r:id="rId46"/>
    <p:sldId id="494" r:id="rId47"/>
    <p:sldId id="608" r:id="rId48"/>
    <p:sldId id="804" r:id="rId49"/>
    <p:sldId id="808" r:id="rId50"/>
    <p:sldId id="516" r:id="rId51"/>
    <p:sldId id="517" r:id="rId52"/>
    <p:sldId id="518" r:id="rId53"/>
    <p:sldId id="519" r:id="rId54"/>
    <p:sldId id="514" r:id="rId55"/>
    <p:sldId id="520" r:id="rId56"/>
    <p:sldId id="521" r:id="rId57"/>
    <p:sldId id="522" r:id="rId58"/>
    <p:sldId id="453" r:id="rId59"/>
    <p:sldId id="845" r:id="rId60"/>
    <p:sldId id="878" r:id="rId61"/>
    <p:sldId id="524" r:id="rId62"/>
    <p:sldId id="525" r:id="rId63"/>
    <p:sldId id="526" r:id="rId64"/>
    <p:sldId id="527" r:id="rId65"/>
    <p:sldId id="528" r:id="rId66"/>
    <p:sldId id="529" r:id="rId67"/>
    <p:sldId id="587" r:id="rId68"/>
    <p:sldId id="810" r:id="rId69"/>
    <p:sldId id="811" r:id="rId70"/>
    <p:sldId id="696" r:id="rId71"/>
    <p:sldId id="752" r:id="rId72"/>
    <p:sldId id="803" r:id="rId73"/>
    <p:sldId id="899" r:id="rId74"/>
    <p:sldId id="900" r:id="rId75"/>
    <p:sldId id="901" r:id="rId76"/>
    <p:sldId id="902" r:id="rId77"/>
    <p:sldId id="903" r:id="rId78"/>
    <p:sldId id="904" r:id="rId79"/>
    <p:sldId id="905" r:id="rId80"/>
    <p:sldId id="906" r:id="rId81"/>
    <p:sldId id="907" r:id="rId82"/>
    <p:sldId id="908" r:id="rId83"/>
    <p:sldId id="909" r:id="rId84"/>
    <p:sldId id="910" r:id="rId85"/>
    <p:sldId id="911" r:id="rId86"/>
    <p:sldId id="912" r:id="rId87"/>
    <p:sldId id="913" r:id="rId88"/>
    <p:sldId id="914" r:id="rId89"/>
    <p:sldId id="915" r:id="rId90"/>
    <p:sldId id="916" r:id="rId91"/>
    <p:sldId id="917" r:id="rId92"/>
    <p:sldId id="918" r:id="rId93"/>
    <p:sldId id="919" r:id="rId94"/>
    <p:sldId id="920" r:id="rId95"/>
    <p:sldId id="921" r:id="rId96"/>
    <p:sldId id="922" r:id="rId97"/>
    <p:sldId id="842" r:id="rId98"/>
    <p:sldId id="844" r:id="rId99"/>
  </p:sldIdLst>
  <p:sldSz cx="12192000" cy="6858000"/>
  <p:notesSz cx="6858000" cy="9144000"/>
  <p:custDataLst>
    <p:tags r:id="rId10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58" autoAdjust="0"/>
    <p:restoredTop sz="96889" autoAdjust="0"/>
  </p:normalViewPr>
  <p:slideViewPr>
    <p:cSldViewPr>
      <p:cViewPr>
        <p:scale>
          <a:sx n="125" d="100"/>
          <a:sy n="125" d="100"/>
        </p:scale>
        <p:origin x="836" y="864"/>
      </p:cViewPr>
      <p:guideLst>
        <p:guide orient="horz" pos="2160"/>
        <p:guide pos="384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2026/5/26</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13</a:t>
            </a:fld>
            <a:endParaRPr kumimoji="1" lang="ja-JP" altLang="en-US"/>
          </a:p>
        </p:txBody>
      </p:sp>
    </p:spTree>
    <p:extLst>
      <p:ext uri="{BB962C8B-B14F-4D97-AF65-F5344CB8AC3E}">
        <p14:creationId xmlns:p14="http://schemas.microsoft.com/office/powerpoint/2010/main" val="2643899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14</a:t>
            </a:fld>
            <a:endParaRPr kumimoji="1" lang="ja-JP" altLang="en-US"/>
          </a:p>
        </p:txBody>
      </p:sp>
    </p:spTree>
    <p:extLst>
      <p:ext uri="{BB962C8B-B14F-4D97-AF65-F5344CB8AC3E}">
        <p14:creationId xmlns:p14="http://schemas.microsoft.com/office/powerpoint/2010/main" val="1563097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en-US" dirty="0"/>
          </a:p>
        </p:txBody>
      </p:sp>
      <p:sp>
        <p:nvSpPr>
          <p:cNvPr id="4" name="スライド番号プレースホルダー 3"/>
          <p:cNvSpPr>
            <a:spLocks noGrp="1"/>
          </p:cNvSpPr>
          <p:nvPr>
            <p:ph type="sldNum" sz="quarter" idx="5"/>
          </p:nvPr>
        </p:nvSpPr>
        <p:spPr/>
        <p:txBody>
          <a:bodyPr/>
          <a:lstStyle/>
          <a:p>
            <a:fld id="{02E5C193-8E84-44DA-A08F-24EBD3FDF7D3}" type="slidenum">
              <a:rPr kumimoji="1" lang="ja-JP" altLang="en-US" smtClean="0"/>
              <a:t>21</a:t>
            </a:fld>
            <a:endParaRPr kumimoji="1" lang="ja-JP" altLang="en-US"/>
          </a:p>
        </p:txBody>
      </p:sp>
    </p:spTree>
    <p:extLst>
      <p:ext uri="{BB962C8B-B14F-4D97-AF65-F5344CB8AC3E}">
        <p14:creationId xmlns:p14="http://schemas.microsoft.com/office/powerpoint/2010/main" val="3917153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FB8A-0B0B-C212-C7BE-F67F52974D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98670EB-ED5D-5EFD-4E03-FC8A36726A13}"/>
              </a:ext>
            </a:extLst>
          </p:cNvPr>
          <p:cNvSpPr>
            <a:spLocks noGrp="1" noRot="1" noChangeAspect="1"/>
          </p:cNvSpPr>
          <p:nvPr>
            <p:ph type="sldImg"/>
          </p:nvPr>
        </p:nvSpPr>
        <p:spPr>
          <a:xfrm>
            <a:off x="-50800" y="161925"/>
            <a:ext cx="6959600" cy="3914775"/>
          </a:xfrm>
        </p:spPr>
      </p:sp>
      <p:sp>
        <p:nvSpPr>
          <p:cNvPr id="3" name="ノート プレースホルダー 2">
            <a:extLst>
              <a:ext uri="{FF2B5EF4-FFF2-40B4-BE49-F238E27FC236}">
                <a16:creationId xmlns:a16="http://schemas.microsoft.com/office/drawing/2014/main" id="{C3909C36-5352-2547-0E1D-D11B99051B5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F2B897E-5D35-430A-CB3C-AD398D2F594E}"/>
              </a:ext>
            </a:extLst>
          </p:cNvPr>
          <p:cNvSpPr>
            <a:spLocks noGrp="1"/>
          </p:cNvSpPr>
          <p:nvPr>
            <p:ph type="sldNum" sz="quarter" idx="10"/>
          </p:nvPr>
        </p:nvSpPr>
        <p:spPr/>
        <p:txBody>
          <a:bodyPr/>
          <a:lstStyle/>
          <a:p>
            <a:fld id="{47424CC0-69D8-4EA1-A40C-A993AA6D964C}" type="slidenum">
              <a:rPr kumimoji="1" lang="ja-JP" altLang="en-US" smtClean="0"/>
              <a:t>34</a:t>
            </a:fld>
            <a:endParaRPr kumimoji="1" lang="ja-JP" altLang="en-US"/>
          </a:p>
        </p:txBody>
      </p:sp>
    </p:spTree>
    <p:extLst>
      <p:ext uri="{BB962C8B-B14F-4D97-AF65-F5344CB8AC3E}">
        <p14:creationId xmlns:p14="http://schemas.microsoft.com/office/powerpoint/2010/main" val="1128966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713838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686561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50800" y="161925"/>
            <a:ext cx="6959600" cy="3914775"/>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47424CC0-69D8-4EA1-A40C-A993AA6D964C}" type="slidenum">
              <a:rPr kumimoji="1" lang="ja-JP" altLang="en-US" smtClean="0"/>
              <a:t>41</a:t>
            </a:fld>
            <a:endParaRPr kumimoji="1" lang="ja-JP" altLang="en-US"/>
          </a:p>
        </p:txBody>
      </p:sp>
    </p:spTree>
    <p:extLst>
      <p:ext uri="{BB962C8B-B14F-4D97-AF65-F5344CB8AC3E}">
        <p14:creationId xmlns:p14="http://schemas.microsoft.com/office/powerpoint/2010/main" val="2596254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a:xfrm>
            <a:off x="-50800" y="161925"/>
            <a:ext cx="6959600" cy="3914775"/>
          </a:xfrm>
        </p:spPr>
      </p:sp>
      <p:sp>
        <p:nvSpPr>
          <p:cNvPr id="3" name="ノート プレースホルダ 2"/>
          <p:cNvSpPr>
            <a:spLocks noGrp="1"/>
          </p:cNvSpPr>
          <p:nvPr>
            <p:ph type="body" idx="1"/>
          </p:nvPr>
        </p:nvSpPr>
        <p:spPr/>
        <p:txBody>
          <a:bodyPr>
            <a:normAutofit/>
          </a:bodyPr>
          <a:lstStyle/>
          <a:p>
            <a:endParaRPr kumimoji="1" lang="ja-JP" altLang="en-US"/>
          </a:p>
        </p:txBody>
      </p:sp>
      <p:sp>
        <p:nvSpPr>
          <p:cNvPr id="4" name="ヘッダー プレースホルダ 3"/>
          <p:cNvSpPr>
            <a:spLocks noGrp="1"/>
          </p:cNvSpPr>
          <p:nvPr>
            <p:ph type="hdr" sz="quarter" idx="10"/>
          </p:nvPr>
        </p:nvSpPr>
        <p:spPr/>
        <p:txBody>
          <a:bodyPr/>
          <a:lstStyle/>
          <a:p>
            <a:r>
              <a:rPr lang="ja-JP" altLang="en-US"/>
              <a:t>*</a:t>
            </a:r>
            <a:endParaRPr lang="ja-JP" altLang="en-US" sz="1200"/>
          </a:p>
        </p:txBody>
      </p:sp>
      <p:sp>
        <p:nvSpPr>
          <p:cNvPr id="5" name="日付プレースホルダ 4"/>
          <p:cNvSpPr>
            <a:spLocks noGrp="1"/>
          </p:cNvSpPr>
          <p:nvPr>
            <p:ph type="dt" idx="11"/>
          </p:nvPr>
        </p:nvSpPr>
        <p:spPr/>
        <p:txBody>
          <a:bodyPr/>
          <a:lstStyle/>
          <a:p>
            <a:r>
              <a:rPr lang="ja-JP" altLang="en-US"/>
              <a:t>07/16/96</a:t>
            </a:r>
            <a:endParaRPr lang="ja-JP" altLang="en-US" sz="1200"/>
          </a:p>
        </p:txBody>
      </p:sp>
      <p:sp>
        <p:nvSpPr>
          <p:cNvPr id="6" name="フッター プレースホルダ 5"/>
          <p:cNvSpPr>
            <a:spLocks noGrp="1"/>
          </p:cNvSpPr>
          <p:nvPr>
            <p:ph type="ftr" sz="quarter" idx="12"/>
          </p:nvPr>
        </p:nvSpPr>
        <p:spPr/>
        <p:txBody>
          <a:bodyPr/>
          <a:lstStyle/>
          <a:p>
            <a:r>
              <a:rPr lang="ja-JP" altLang="en-US"/>
              <a:t>*</a:t>
            </a:r>
            <a:endParaRPr lang="ja-JP" altLang="en-US" sz="1200"/>
          </a:p>
        </p:txBody>
      </p:sp>
      <p:sp>
        <p:nvSpPr>
          <p:cNvPr id="7" name="スライド番号プレースホルダ 6"/>
          <p:cNvSpPr>
            <a:spLocks noGrp="1"/>
          </p:cNvSpPr>
          <p:nvPr>
            <p:ph type="sldNum" sz="quarter" idx="13"/>
          </p:nvPr>
        </p:nvSpPr>
        <p:spPr/>
        <p:txBody>
          <a:bodyPr/>
          <a:lstStyle/>
          <a:p>
            <a:r>
              <a:rPr lang="ja-JP" altLang="en-US"/>
              <a:t>##</a:t>
            </a:r>
            <a:endParaRPr lang="ja-JP" altLang="en-US" sz="1200"/>
          </a:p>
        </p:txBody>
      </p:sp>
    </p:spTree>
    <p:extLst>
      <p:ext uri="{BB962C8B-B14F-4D97-AF65-F5344CB8AC3E}">
        <p14:creationId xmlns:p14="http://schemas.microsoft.com/office/powerpoint/2010/main" val="2795612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879E0F-6B73-4EF4-851E-289B8D795FF2}" type="slidenum">
              <a:rPr lang="en-US" altLang="ja-JP"/>
              <a:pPr/>
              <a:t>58</a:t>
            </a:fld>
            <a:endParaRPr lang="en-US" altLang="ja-JP"/>
          </a:p>
        </p:txBody>
      </p:sp>
      <p:sp>
        <p:nvSpPr>
          <p:cNvPr id="717826" name="Rectangle 2"/>
          <p:cNvSpPr>
            <a:spLocks noGrp="1" noRot="1" noChangeAspect="1" noChangeArrowheads="1" noTextEdit="1"/>
          </p:cNvSpPr>
          <p:nvPr>
            <p:ph type="sldImg"/>
          </p:nvPr>
        </p:nvSpPr>
        <p:spPr>
          <a:xfrm>
            <a:off x="-50800" y="161925"/>
            <a:ext cx="6959600" cy="3914775"/>
          </a:xfrm>
          <a:ln/>
        </p:spPr>
      </p:sp>
      <p:sp>
        <p:nvSpPr>
          <p:cNvPr id="717827"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005727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59</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4007818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60</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14003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61</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650384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62</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18518063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63</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29498224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F758DC-2776-45EB-AE2E-025D9B790831}" type="slidenum">
              <a:rPr lang="en-US" altLang="ja-JP"/>
              <a:pPr/>
              <a:t>64</a:t>
            </a:fld>
            <a:endParaRPr lang="en-US" altLang="ja-JP"/>
          </a:p>
        </p:txBody>
      </p:sp>
      <p:sp>
        <p:nvSpPr>
          <p:cNvPr id="709634" name="Rectangle 2"/>
          <p:cNvSpPr>
            <a:spLocks noGrp="1" noRot="1" noChangeAspect="1" noChangeArrowheads="1" noTextEdit="1"/>
          </p:cNvSpPr>
          <p:nvPr>
            <p:ph type="sldImg"/>
          </p:nvPr>
        </p:nvSpPr>
        <p:spPr>
          <a:xfrm>
            <a:off x="-50800" y="161925"/>
            <a:ext cx="6959600" cy="3914775"/>
          </a:xfrm>
          <a:ln/>
        </p:spPr>
      </p:sp>
      <p:sp>
        <p:nvSpPr>
          <p:cNvPr id="709635" name="Rectangle 3"/>
          <p:cNvSpPr>
            <a:spLocks noGrp="1" noChangeArrowheads="1"/>
          </p:cNvSpPr>
          <p:nvPr>
            <p:ph type="body" idx="1"/>
          </p:nvPr>
        </p:nvSpPr>
        <p:spPr/>
        <p:txBody>
          <a:bodyPr/>
          <a:lstStyle/>
          <a:p>
            <a:endParaRPr lang="ja-JP" altLang="ja-JP"/>
          </a:p>
        </p:txBody>
      </p:sp>
    </p:spTree>
    <p:extLst>
      <p:ext uri="{BB962C8B-B14F-4D97-AF65-F5344CB8AC3E}">
        <p14:creationId xmlns:p14="http://schemas.microsoft.com/office/powerpoint/2010/main" val="3353816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269592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28994BA3-EE89-8729-F511-359CF93D1F0C}"/>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3F6AEAB6-5B99-542B-E1C4-708D2BC632A3}"/>
              </a:ext>
            </a:extLst>
          </p:cNvPr>
          <p:cNvCxnSpPr>
            <a:cxnSpLocks/>
          </p:cNvCxnSpPr>
          <p:nvPr userDrawn="1"/>
        </p:nvCxnSpPr>
        <p:spPr bwMode="auto">
          <a:xfrm>
            <a:off x="815943"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654485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1954089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endParaRPr lang="ja-JP" altLang="ja-JP"/>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317772606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20944709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107747868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1"/>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6"/>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1" y="1088974"/>
            <a:ext cx="11040123" cy="522005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2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9"/>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1597633133"/>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02D76658-EC28-6DC7-5037-6521DFF08331}"/>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56AF9E39-891B-2E05-A134-B1EACCCB6E2C}"/>
              </a:ext>
            </a:extLst>
          </p:cNvPr>
          <p:cNvSpPr/>
          <p:nvPr userDrawn="1"/>
        </p:nvSpPr>
        <p:spPr bwMode="auto">
          <a:xfrm>
            <a:off x="0" y="1"/>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35688467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66" r:id="rId7"/>
    <p:sldLayoutId id="2147483672" r:id="rId8"/>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ithub.com/rsd-devel/rsd"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youtube.com/watch?v=-BP7DhHTU-I" TargetMode="Externa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8.xml.rels><?xml version="1.0" encoding="UTF-8" standalone="yes"?>
<Relationships xmlns="http://schemas.openxmlformats.org/package/2006/relationships"><Relationship Id="rId3" Type="http://schemas.openxmlformats.org/officeDocument/2006/relationships/hyperlink" Target="https://store.steampowered.com/app/1444480/Turing_Complete/?l=japanese" TargetMode="External"/><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11"/>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第５回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 </a:t>
            </a:r>
            <a:r>
              <a:rPr kumimoji="1" lang="en-US" altLang="ja-JP" dirty="0"/>
              <a:t>4</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088979"/>
            <a:ext cx="8280092" cy="3510039"/>
          </a:xfrm>
        </p:spPr>
        <p:txBody>
          <a:bodyPr/>
          <a:lstStyle/>
          <a:p>
            <a:r>
              <a:rPr kumimoji="1" lang="ja-JP" altLang="en-US" dirty="0"/>
              <a:t>１０から３までを</a:t>
            </a:r>
            <a:r>
              <a:rPr kumimoji="1" lang="en-US" altLang="ja-JP" dirty="0"/>
              <a:t>1</a:t>
            </a:r>
            <a:r>
              <a:rPr kumimoji="1" lang="ja-JP" altLang="en-US" dirty="0"/>
              <a:t>づつ下りながら数える以下のループをアセンブリ言語で書け</a:t>
            </a:r>
            <a:endParaRPr kumimoji="1" lang="en-US" altLang="ja-JP" dirty="0"/>
          </a:p>
          <a:p>
            <a:pPr lvl="1"/>
            <a:r>
              <a:rPr kumimoji="1" lang="ja-JP" altLang="en-US" dirty="0"/>
              <a:t>使用する命令セットは第２回の講義資料のものに準じる</a:t>
            </a:r>
            <a:endParaRPr kumimoji="1" lang="en-US" altLang="ja-JP" dirty="0"/>
          </a:p>
          <a:p>
            <a:r>
              <a:rPr lang="ja-JP" altLang="en-US" dirty="0"/>
              <a:t>ヒント：</a:t>
            </a:r>
            <a:endParaRPr lang="en-US" altLang="ja-JP" dirty="0"/>
          </a:p>
          <a:p>
            <a:pPr lvl="1"/>
            <a:r>
              <a:rPr lang="ja-JP" altLang="en-US" dirty="0"/>
              <a:t>減算には </a:t>
            </a:r>
            <a:r>
              <a:rPr lang="en-US" altLang="ja-JP" dirty="0"/>
              <a:t>add </a:t>
            </a:r>
            <a:r>
              <a:rPr lang="ja-JP" altLang="en-US" dirty="0"/>
              <a:t>の代わりに </a:t>
            </a:r>
            <a:r>
              <a:rPr lang="en-US" altLang="ja-JP" dirty="0"/>
              <a:t>sub </a:t>
            </a:r>
            <a:r>
              <a:rPr lang="ja-JP" altLang="en-US" dirty="0"/>
              <a:t>を使う</a:t>
            </a:r>
            <a:endParaRPr lang="en-US" altLang="ja-JP" dirty="0"/>
          </a:p>
          <a:p>
            <a:pPr lvl="1"/>
            <a:r>
              <a:rPr lang="ja-JP" altLang="en-US" dirty="0"/>
              <a:t>初期値は </a:t>
            </a:r>
            <a:r>
              <a:rPr lang="en-US" altLang="ja-JP" dirty="0"/>
              <a:t>li </a:t>
            </a:r>
            <a:r>
              <a:rPr lang="ja-JP" altLang="en-US" dirty="0"/>
              <a:t>命令で設定</a:t>
            </a:r>
            <a:endParaRPr lang="en-US" altLang="ja-JP" dirty="0"/>
          </a:p>
          <a:p>
            <a:pPr lvl="1"/>
            <a:r>
              <a:rPr kumimoji="1" lang="ja-JP" altLang="en-US" dirty="0"/>
              <a:t>講義中の </a:t>
            </a:r>
            <a:r>
              <a:rPr kumimoji="1" lang="en-US" altLang="ja-JP" dirty="0"/>
              <a:t>for </a:t>
            </a:r>
            <a:r>
              <a:rPr kumimoji="1" lang="ja-JP" altLang="en-US" dirty="0"/>
              <a:t>文の例のようにメモリ上に </a:t>
            </a:r>
            <a:r>
              <a:rPr kumimoji="1" lang="en-US" altLang="ja-JP" dirty="0"/>
              <a:t>i </a:t>
            </a:r>
            <a:r>
              <a:rPr kumimoji="1" lang="ja-JP" altLang="en-US" dirty="0"/>
              <a:t>を置くとややこしいので，レジスタの上で全て終わらした方が楽</a:t>
            </a:r>
            <a:endParaRPr kumimoji="1" lang="en-US" altLang="ja-JP" dirty="0"/>
          </a:p>
        </p:txBody>
      </p:sp>
      <p:sp>
        <p:nvSpPr>
          <p:cNvPr id="4" name="テキスト プレースホルダー 2">
            <a:extLst>
              <a:ext uri="{FF2B5EF4-FFF2-40B4-BE49-F238E27FC236}">
                <a16:creationId xmlns:a16="http://schemas.microsoft.com/office/drawing/2014/main" id="{D4632841-FF32-AEF3-316F-CD26E43879E9}"/>
              </a:ext>
            </a:extLst>
          </p:cNvPr>
          <p:cNvSpPr txBox="1">
            <a:spLocks/>
          </p:cNvSpPr>
          <p:nvPr/>
        </p:nvSpPr>
        <p:spPr bwMode="auto">
          <a:xfrm>
            <a:off x="2495965" y="4689014"/>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10; i &gt; 3; i-=1)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Tree>
    <p:extLst>
      <p:ext uri="{BB962C8B-B14F-4D97-AF65-F5344CB8AC3E}">
        <p14:creationId xmlns:p14="http://schemas.microsoft.com/office/powerpoint/2010/main" val="3347123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C </a:t>
            </a:r>
            <a:r>
              <a:rPr lang="ja-JP" altLang="en-US" dirty="0"/>
              <a:t>言語</a:t>
            </a:r>
          </a:p>
        </p:txBody>
      </p:sp>
      <p:sp>
        <p:nvSpPr>
          <p:cNvPr id="3" name="テキスト プレースホルダー 2"/>
          <p:cNvSpPr>
            <a:spLocks noGrp="1"/>
          </p:cNvSpPr>
          <p:nvPr>
            <p:ph type="body" sz="quarter" idx="10"/>
          </p:nvPr>
        </p:nvSpPr>
        <p:spPr>
          <a:xfrm>
            <a:off x="2135956" y="1088975"/>
            <a:ext cx="8280092" cy="900010"/>
          </a:xfrm>
        </p:spPr>
        <p:txBody>
          <a:bodyPr/>
          <a:lstStyle/>
          <a:p>
            <a:r>
              <a:rPr lang="en-US" altLang="ja-JP" dirty="0"/>
              <a:t>C </a:t>
            </a:r>
            <a:r>
              <a:rPr lang="ja-JP" altLang="en-US" dirty="0"/>
              <a:t>言語</a:t>
            </a:r>
          </a:p>
        </p:txBody>
      </p:sp>
      <p:sp>
        <p:nvSpPr>
          <p:cNvPr id="4" name="テキスト プレースホルダー 2"/>
          <p:cNvSpPr txBox="1">
            <a:spLocks/>
          </p:cNvSpPr>
          <p:nvPr/>
        </p:nvSpPr>
        <p:spPr bwMode="auto">
          <a:xfrm>
            <a:off x="2495965" y="4059007"/>
            <a:ext cx="6542471" cy="15021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latin typeface="Consolas" panose="020B0609020204030204" pitchFamily="49" charset="0"/>
              </a:rPr>
              <a:t>1:     i = 10;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初期化部分</a:t>
            </a:r>
            <a:br>
              <a:rPr lang="en-US" altLang="ja-JP" kern="0" dirty="0">
                <a:latin typeface="Consolas" panose="020B0609020204030204" pitchFamily="49" charset="0"/>
              </a:rPr>
            </a:br>
            <a:r>
              <a:rPr lang="en-US" altLang="ja-JP" kern="0" dirty="0">
                <a:latin typeface="Consolas" panose="020B0609020204030204" pitchFamily="49" charset="0"/>
              </a:rPr>
              <a:t>2: LABEL: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ループの先頭</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3:     i = i - 1;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カウンタの更新</a:t>
            </a:r>
            <a:br>
              <a:rPr lang="en-US" altLang="ja-JP" kern="0" dirty="0">
                <a:latin typeface="Consolas" panose="020B0609020204030204" pitchFamily="49" charset="0"/>
              </a:rPr>
            </a:br>
            <a:r>
              <a:rPr lang="en-US" altLang="ja-JP" kern="0" dirty="0">
                <a:latin typeface="Consolas" panose="020B0609020204030204" pitchFamily="49" charset="0"/>
              </a:rPr>
              <a:t>4:     </a:t>
            </a:r>
            <a:r>
              <a:rPr lang="en-US" altLang="ja-JP" kern="0" dirty="0">
                <a:solidFill>
                  <a:schemeClr val="accent1"/>
                </a:solidFill>
                <a:latin typeface="Consolas" panose="020B0609020204030204" pitchFamily="49" charset="0"/>
              </a:rPr>
              <a:t>if </a:t>
            </a:r>
            <a:r>
              <a:rPr lang="en-US" altLang="ja-JP" kern="0" dirty="0">
                <a:latin typeface="Consolas" panose="020B0609020204030204" pitchFamily="49" charset="0"/>
              </a:rPr>
              <a:t>(i &gt; 3)   </a:t>
            </a:r>
            <a:r>
              <a:rPr lang="en-US" altLang="ja-JP" kern="0" dirty="0">
                <a:solidFill>
                  <a:schemeClr val="accent3">
                    <a:lumMod val="75000"/>
                  </a:schemeClr>
                </a:solidFill>
                <a:latin typeface="Consolas" panose="020B0609020204030204" pitchFamily="49" charset="0"/>
              </a:rPr>
              <a:t>// </a:t>
            </a:r>
            <a:r>
              <a:rPr lang="ja-JP" altLang="en-US" kern="0" dirty="0">
                <a:solidFill>
                  <a:schemeClr val="accent3">
                    <a:lumMod val="75000"/>
                  </a:schemeClr>
                </a:solidFill>
                <a:latin typeface="Consolas" panose="020B0609020204030204" pitchFamily="49" charset="0"/>
              </a:rPr>
              <a:t>ループの継続判定</a:t>
            </a:r>
            <a:br>
              <a:rPr lang="en-US" altLang="ja-JP" kern="0" dirty="0">
                <a:solidFill>
                  <a:schemeClr val="accent3">
                    <a:lumMod val="75000"/>
                  </a:schemeClr>
                </a:solidFill>
                <a:latin typeface="Consolas" panose="020B0609020204030204" pitchFamily="49" charset="0"/>
              </a:rPr>
            </a:br>
            <a:r>
              <a:rPr lang="en-US" altLang="ja-JP" kern="0" dirty="0">
                <a:latin typeface="Consolas" panose="020B0609020204030204" pitchFamily="49" charset="0"/>
              </a:rPr>
              <a:t>5:        </a:t>
            </a:r>
            <a:r>
              <a:rPr lang="en-US" altLang="ja-JP" kern="0" dirty="0" err="1">
                <a:solidFill>
                  <a:schemeClr val="accent1"/>
                </a:solidFill>
                <a:latin typeface="Consolas" panose="020B0609020204030204" pitchFamily="49" charset="0"/>
              </a:rPr>
              <a:t>goto</a:t>
            </a:r>
            <a:r>
              <a:rPr lang="en-US" altLang="ja-JP" kern="0" dirty="0">
                <a:solidFill>
                  <a:schemeClr val="accent1"/>
                </a:solidFill>
                <a:latin typeface="Consolas" panose="020B0609020204030204" pitchFamily="49" charset="0"/>
              </a:rPr>
              <a:t> </a:t>
            </a:r>
            <a:r>
              <a:rPr lang="en-US" altLang="ja-JP" kern="0" dirty="0">
                <a:latin typeface="Consolas" panose="020B0609020204030204" pitchFamily="49" charset="0"/>
              </a:rPr>
              <a:t>LABEL; </a:t>
            </a:r>
            <a:r>
              <a:rPr lang="en-US" altLang="ja-JP" kern="0" dirty="0">
                <a:solidFill>
                  <a:schemeClr val="accent3">
                    <a:lumMod val="75000"/>
                  </a:schemeClr>
                </a:solidFill>
                <a:latin typeface="Consolas" panose="020B0609020204030204" pitchFamily="49" charset="0"/>
              </a:rPr>
              <a:t>// LABEL </a:t>
            </a:r>
            <a:r>
              <a:rPr lang="ja-JP" altLang="en-US" kern="0" dirty="0">
                <a:solidFill>
                  <a:schemeClr val="accent3">
                    <a:lumMod val="75000"/>
                  </a:schemeClr>
                </a:solidFill>
                <a:latin typeface="Consolas" panose="020B0609020204030204" pitchFamily="49" charset="0"/>
              </a:rPr>
              <a:t>に戻る</a:t>
            </a:r>
            <a:endParaRPr lang="ja-JP" altLang="en-US" kern="0" dirty="0">
              <a:latin typeface="Consolas" panose="020B0609020204030204" pitchFamily="49" charset="0"/>
            </a:endParaRPr>
          </a:p>
        </p:txBody>
      </p:sp>
      <p:sp>
        <p:nvSpPr>
          <p:cNvPr id="7" name="テキスト プレースホルダー 2"/>
          <p:cNvSpPr txBox="1">
            <a:spLocks/>
          </p:cNvSpPr>
          <p:nvPr/>
        </p:nvSpPr>
        <p:spPr bwMode="auto">
          <a:xfrm>
            <a:off x="2405964" y="1718981"/>
            <a:ext cx="6542471"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0" indent="0">
              <a:buNone/>
            </a:pPr>
            <a:r>
              <a:rPr lang="en-US" altLang="ja-JP" kern="0" dirty="0">
                <a:solidFill>
                  <a:schemeClr val="tx1">
                    <a:lumMod val="85000"/>
                    <a:lumOff val="15000"/>
                  </a:schemeClr>
                </a:solidFill>
                <a:latin typeface="Consolas" panose="020B0609020204030204" pitchFamily="49" charset="0"/>
              </a:rPr>
              <a:t>1: </a:t>
            </a:r>
            <a:r>
              <a:rPr lang="en-US" altLang="ja-JP" kern="0" dirty="0">
                <a:solidFill>
                  <a:schemeClr val="accent1"/>
                </a:solidFill>
                <a:latin typeface="Consolas" panose="020B0609020204030204" pitchFamily="49" charset="0"/>
              </a:rPr>
              <a:t>for</a:t>
            </a:r>
            <a:r>
              <a:rPr lang="en-US" altLang="ja-JP" kern="0" dirty="0">
                <a:latin typeface="Consolas" panose="020B0609020204030204" pitchFamily="49" charset="0"/>
              </a:rPr>
              <a:t> (i = 10; i &gt; 3; i-=1) {</a:t>
            </a:r>
            <a:br>
              <a:rPr lang="en-US" altLang="ja-JP" kern="0" dirty="0">
                <a:latin typeface="Consolas" panose="020B0609020204030204" pitchFamily="49" charset="0"/>
              </a:rPr>
            </a:br>
            <a:r>
              <a:rPr lang="en-US" altLang="ja-JP" kern="0" dirty="0">
                <a:latin typeface="Consolas" panose="020B0609020204030204" pitchFamily="49" charset="0"/>
              </a:rPr>
              <a:t>2: }</a:t>
            </a:r>
            <a:endParaRPr lang="ja-JP" altLang="en-US" kern="0" dirty="0">
              <a:latin typeface="Consolas" panose="020B0609020204030204" pitchFamily="49" charset="0"/>
            </a:endParaRPr>
          </a:p>
        </p:txBody>
      </p:sp>
      <p:sp>
        <p:nvSpPr>
          <p:cNvPr id="5" name="テキスト プレースホルダー 2">
            <a:extLst>
              <a:ext uri="{FF2B5EF4-FFF2-40B4-BE49-F238E27FC236}">
                <a16:creationId xmlns:a16="http://schemas.microsoft.com/office/drawing/2014/main" id="{DD1AD174-BE77-F347-EA9A-6D4130CAA271}"/>
              </a:ext>
            </a:extLst>
          </p:cNvPr>
          <p:cNvSpPr txBox="1">
            <a:spLocks/>
          </p:cNvSpPr>
          <p:nvPr/>
        </p:nvSpPr>
        <p:spPr bwMode="auto">
          <a:xfrm>
            <a:off x="2135956" y="3158997"/>
            <a:ext cx="8280092" cy="9000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r>
              <a:rPr lang="ja-JP" altLang="en-US" kern="0" dirty="0">
                <a:solidFill>
                  <a:schemeClr val="tx1">
                    <a:lumMod val="85000"/>
                    <a:lumOff val="15000"/>
                  </a:schemeClr>
                </a:solidFill>
                <a:latin typeface="Consolas" panose="020B0609020204030204" pitchFamily="49" charset="0"/>
              </a:rPr>
              <a:t>そのままだと考えづらいので，</a:t>
            </a:r>
            <a:br>
              <a:rPr lang="en-US" altLang="ja-JP" kern="0" dirty="0">
                <a:solidFill>
                  <a:schemeClr val="tx1">
                    <a:lumMod val="85000"/>
                    <a:lumOff val="15000"/>
                  </a:schemeClr>
                </a:solidFill>
                <a:latin typeface="Consolas" panose="020B0609020204030204" pitchFamily="49" charset="0"/>
              </a:rPr>
            </a:br>
            <a:r>
              <a:rPr lang="ja-JP" altLang="en-US" kern="0" dirty="0">
                <a:solidFill>
                  <a:schemeClr val="tx1">
                    <a:lumMod val="85000"/>
                    <a:lumOff val="15000"/>
                  </a:schemeClr>
                </a:solidFill>
                <a:latin typeface="Consolas" panose="020B0609020204030204" pitchFamily="49" charset="0"/>
              </a:rPr>
              <a:t>まず上記のループを下記の形に変換して考える</a:t>
            </a:r>
            <a:endParaRPr lang="ja-JP" altLang="en-US" kern="0" dirty="0">
              <a:solidFill>
                <a:schemeClr val="tx1">
                  <a:lumMod val="85000"/>
                  <a:lumOff val="15000"/>
                </a:schemeClr>
              </a:solidFill>
            </a:endParaRPr>
          </a:p>
        </p:txBody>
      </p:sp>
    </p:spTree>
    <p:extLst>
      <p:ext uri="{BB962C8B-B14F-4D97-AF65-F5344CB8AC3E}">
        <p14:creationId xmlns:p14="http://schemas.microsoft.com/office/powerpoint/2010/main" val="12759724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アセンブリ言語</a:t>
            </a:r>
          </a:p>
        </p:txBody>
      </p:sp>
      <p:sp>
        <p:nvSpPr>
          <p:cNvPr id="3" name="正方形/長方形 2"/>
          <p:cNvSpPr/>
          <p:nvPr/>
        </p:nvSpPr>
        <p:spPr bwMode="auto">
          <a:xfrm>
            <a:off x="2405964" y="1088974"/>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a:lnSpc>
                <a:spcPct val="150000"/>
              </a:lnSpc>
            </a:pPr>
            <a:r>
              <a:rPr lang="en-US" altLang="ja-JP" sz="1600" kern="0" dirty="0">
                <a:solidFill>
                  <a:schemeClr val="accent3">
                    <a:lumMod val="75000"/>
                  </a:schemeClr>
                </a:solidFill>
                <a:latin typeface="Consolas" panose="020B0609020204030204" pitchFamily="49" charset="0"/>
              </a:rPr>
              <a:t>// i = 10;</a:t>
            </a:r>
          </a:p>
          <a:p>
            <a:pPr>
              <a:lnSpc>
                <a:spcPct val="150000"/>
              </a:lnSpc>
            </a:pPr>
            <a:r>
              <a:rPr lang="en-US" altLang="ja-JP" sz="1600" kern="0" dirty="0">
                <a:solidFill>
                  <a:schemeClr val="accent3">
                    <a:lumMod val="75000"/>
                  </a:schemeClr>
                </a:solidFill>
                <a:latin typeface="Consolas" panose="020B0609020204030204" pitchFamily="49" charset="0"/>
              </a:rPr>
              <a:t>// </a:t>
            </a:r>
            <a:r>
              <a:rPr lang="ja-JP" altLang="en-US" sz="1600" kern="0" dirty="0">
                <a:solidFill>
                  <a:schemeClr val="accent3">
                    <a:lumMod val="75000"/>
                  </a:schemeClr>
                </a:solidFill>
                <a:latin typeface="Consolas" panose="020B0609020204030204" pitchFamily="49" charset="0"/>
              </a:rPr>
              <a:t>レジスタ </a:t>
            </a:r>
            <a:r>
              <a:rPr lang="en-US" altLang="ja-JP" sz="1600" kern="0" dirty="0">
                <a:solidFill>
                  <a:schemeClr val="accent3">
                    <a:lumMod val="75000"/>
                  </a:schemeClr>
                </a:solidFill>
                <a:latin typeface="Consolas" panose="020B0609020204030204" pitchFamily="49" charset="0"/>
              </a:rPr>
              <a:t>A </a:t>
            </a:r>
            <a:r>
              <a:rPr lang="ja-JP" altLang="en-US" sz="1600" kern="0" dirty="0">
                <a:solidFill>
                  <a:schemeClr val="accent3">
                    <a:lumMod val="75000"/>
                  </a:schemeClr>
                </a:solidFill>
                <a:latin typeface="Consolas" panose="020B0609020204030204" pitchFamily="49" charset="0"/>
              </a:rPr>
              <a:t>に </a:t>
            </a:r>
            <a:r>
              <a:rPr lang="en-US" altLang="ja-JP" sz="1600" kern="0" dirty="0">
                <a:solidFill>
                  <a:schemeClr val="accent3">
                    <a:lumMod val="75000"/>
                  </a:schemeClr>
                </a:solidFill>
                <a:latin typeface="Consolas" panose="020B0609020204030204" pitchFamily="49" charset="0"/>
              </a:rPr>
              <a:t>10 </a:t>
            </a:r>
            <a:r>
              <a:rPr lang="ja-JP" altLang="en-US" sz="1600" kern="0" dirty="0">
                <a:solidFill>
                  <a:schemeClr val="accent3">
                    <a:lumMod val="75000"/>
                  </a:schemeClr>
                </a:solidFill>
                <a:latin typeface="Consolas" panose="020B0609020204030204" pitchFamily="49" charset="0"/>
              </a:rPr>
              <a:t>をいれる</a:t>
            </a:r>
            <a:br>
              <a:rPr lang="en-US" altLang="ja-JP" sz="1600" kern="0" dirty="0">
                <a:solidFill>
                  <a:schemeClr val="accent3">
                    <a:lumMod val="75000"/>
                  </a:schemeClr>
                </a:solidFill>
                <a:latin typeface="Consolas" panose="020B0609020204030204" pitchFamily="49" charset="0"/>
              </a:rPr>
            </a:br>
            <a:r>
              <a:rPr lang="en-US" altLang="ja-JP" sz="1600" kern="0" dirty="0">
                <a:solidFill>
                  <a:schemeClr val="tx1">
                    <a:lumMod val="85000"/>
                    <a:lumOff val="15000"/>
                  </a:schemeClr>
                </a:solidFill>
                <a:latin typeface="Consolas" panose="020B0609020204030204" pitchFamily="49" charset="0"/>
              </a:rPr>
              <a:t>li 10</a:t>
            </a:r>
            <a:r>
              <a:rPr lang="ja-JP" altLang="en-US" sz="1600" kern="0" dirty="0">
                <a:solidFill>
                  <a:schemeClr val="tx1">
                    <a:lumMod val="85000"/>
                    <a:lumOff val="15000"/>
                  </a:schemeClr>
                </a:solidFill>
                <a:latin typeface="Consolas" panose="020B0609020204030204" pitchFamily="49" charset="0"/>
              </a:rPr>
              <a:t>→</a:t>
            </a:r>
            <a:r>
              <a:rPr lang="en-US" altLang="ja-JP" sz="1600" kern="0" dirty="0">
                <a:solidFill>
                  <a:schemeClr val="tx1">
                    <a:lumMod val="85000"/>
                    <a:lumOff val="15000"/>
                  </a:schemeClr>
                </a:solidFill>
                <a:latin typeface="Consolas" panose="020B0609020204030204" pitchFamily="49" charset="0"/>
              </a:rPr>
              <a:t>A</a:t>
            </a:r>
            <a:r>
              <a:rPr lang="en-US" altLang="ja-JP" sz="1600" kern="0" dirty="0">
                <a:solidFill>
                  <a:schemeClr val="accent5"/>
                </a:solidFill>
                <a:latin typeface="Consolas" panose="020B0609020204030204" pitchFamily="49" charset="0"/>
              </a:rPr>
              <a:t>    </a:t>
            </a:r>
          </a:p>
          <a:p>
            <a:pPr>
              <a:lnSpc>
                <a:spcPct val="150000"/>
              </a:lnSpc>
            </a:pPr>
            <a:r>
              <a:rPr lang="en-US" altLang="ja-JP" sz="1600" kern="0" dirty="0">
                <a:solidFill>
                  <a:schemeClr val="accent3">
                    <a:lumMod val="75000"/>
                  </a:schemeClr>
                </a:solidFill>
                <a:latin typeface="Consolas" panose="020B0609020204030204" pitchFamily="49" charset="0"/>
              </a:rPr>
              <a:t>// if (i &gt; 3) </a:t>
            </a:r>
            <a:r>
              <a:rPr lang="ja-JP" altLang="en-US" sz="1600" kern="0" dirty="0">
                <a:solidFill>
                  <a:schemeClr val="accent3">
                    <a:lumMod val="75000"/>
                  </a:schemeClr>
                </a:solidFill>
                <a:latin typeface="Consolas" panose="020B0609020204030204" pitchFamily="49" charset="0"/>
              </a:rPr>
              <a:t>で使う </a:t>
            </a:r>
            <a:r>
              <a:rPr lang="en-US" altLang="ja-JP" sz="1600" kern="0" dirty="0">
                <a:solidFill>
                  <a:schemeClr val="accent3">
                    <a:lumMod val="75000"/>
                  </a:schemeClr>
                </a:solidFill>
                <a:latin typeface="Consolas" panose="020B0609020204030204" pitchFamily="49" charset="0"/>
              </a:rPr>
              <a:t>3 </a:t>
            </a:r>
            <a:r>
              <a:rPr lang="ja-JP" altLang="en-US" sz="1600" kern="0" dirty="0">
                <a:solidFill>
                  <a:schemeClr val="accent3">
                    <a:lumMod val="75000"/>
                  </a:schemeClr>
                </a:solidFill>
                <a:latin typeface="Consolas" panose="020B0609020204030204" pitchFamily="49" charset="0"/>
              </a:rPr>
              <a:t>をセット</a:t>
            </a:r>
            <a:endParaRPr lang="en-US" altLang="ja-JP" sz="1600" kern="0" dirty="0">
              <a:solidFill>
                <a:schemeClr val="accent3">
                  <a:lumMod val="75000"/>
                </a:schemeClr>
              </a:solidFill>
              <a:latin typeface="Consolas" panose="020B0609020204030204" pitchFamily="49" charset="0"/>
            </a:endParaRPr>
          </a:p>
          <a:p>
            <a:pPr>
              <a:lnSpc>
                <a:spcPct val="150000"/>
              </a:lnSpc>
            </a:pPr>
            <a:r>
              <a:rPr lang="en-US" altLang="ja-JP" sz="1600" kern="0" dirty="0">
                <a:solidFill>
                  <a:schemeClr val="accent3">
                    <a:lumMod val="75000"/>
                  </a:schemeClr>
                </a:solidFill>
                <a:latin typeface="Consolas" panose="020B0609020204030204" pitchFamily="49" charset="0"/>
              </a:rPr>
              <a:t>// B </a:t>
            </a:r>
            <a:r>
              <a:rPr lang="ja-JP" altLang="en-US" sz="1600" kern="0" dirty="0">
                <a:solidFill>
                  <a:schemeClr val="accent3">
                    <a:lumMod val="75000"/>
                  </a:schemeClr>
                </a:solidFill>
                <a:latin typeface="Consolas" panose="020B0609020204030204" pitchFamily="49" charset="0"/>
              </a:rPr>
              <a:t>に </a:t>
            </a:r>
            <a:r>
              <a:rPr lang="en-US" altLang="ja-JP" sz="1600" kern="0" dirty="0">
                <a:solidFill>
                  <a:schemeClr val="accent3">
                    <a:lumMod val="75000"/>
                  </a:schemeClr>
                </a:solidFill>
                <a:latin typeface="Consolas" panose="020B0609020204030204" pitchFamily="49" charset="0"/>
              </a:rPr>
              <a:t>3 </a:t>
            </a:r>
            <a:r>
              <a:rPr lang="ja-JP" altLang="en-US" sz="1600" kern="0" dirty="0">
                <a:solidFill>
                  <a:schemeClr val="accent3">
                    <a:lumMod val="75000"/>
                  </a:schemeClr>
                </a:solidFill>
                <a:latin typeface="Consolas" panose="020B0609020204030204" pitchFamily="49" charset="0"/>
              </a:rPr>
              <a:t>を読み込む</a:t>
            </a:r>
            <a:br>
              <a:rPr lang="en-US" altLang="ja-JP" sz="1600" kern="0" dirty="0">
                <a:solidFill>
                  <a:schemeClr val="accent3">
                    <a:lumMod val="75000"/>
                  </a:schemeClr>
                </a:solidFill>
                <a:latin typeface="Consolas" panose="020B0609020204030204" pitchFamily="49" charset="0"/>
              </a:rPr>
            </a:br>
            <a:r>
              <a:rPr lang="en-US" altLang="ja-JP" sz="1600" kern="0" dirty="0">
                <a:solidFill>
                  <a:schemeClr val="tx1">
                    <a:lumMod val="85000"/>
                    <a:lumOff val="15000"/>
                  </a:schemeClr>
                </a:solidFill>
                <a:latin typeface="Consolas" panose="020B0609020204030204" pitchFamily="49" charset="0"/>
              </a:rPr>
              <a:t>li 3</a:t>
            </a:r>
            <a:r>
              <a:rPr lang="ja-JP" altLang="en-US" sz="1600" kern="0" dirty="0">
                <a:solidFill>
                  <a:schemeClr val="tx1">
                    <a:lumMod val="85000"/>
                    <a:lumOff val="15000"/>
                  </a:schemeClr>
                </a:solidFill>
                <a:latin typeface="Consolas" panose="020B0609020204030204" pitchFamily="49" charset="0"/>
              </a:rPr>
              <a:t>→</a:t>
            </a:r>
            <a:r>
              <a:rPr lang="en-US" altLang="ja-JP" sz="1600" kern="0" dirty="0">
                <a:solidFill>
                  <a:schemeClr val="tx1">
                    <a:lumMod val="85000"/>
                    <a:lumOff val="15000"/>
                  </a:schemeClr>
                </a:solidFill>
                <a:latin typeface="Consolas" panose="020B0609020204030204" pitchFamily="49" charset="0"/>
              </a:rPr>
              <a:t>B     </a:t>
            </a:r>
          </a:p>
          <a:p>
            <a:pPr>
              <a:lnSpc>
                <a:spcPct val="150000"/>
              </a:lnSpc>
            </a:pPr>
            <a:r>
              <a:rPr lang="en-US" altLang="ja-JP" sz="1600" kern="0" dirty="0">
                <a:solidFill>
                  <a:schemeClr val="accent3">
                    <a:lumMod val="75000"/>
                  </a:schemeClr>
                </a:solidFill>
                <a:latin typeface="Consolas" panose="020B0609020204030204" pitchFamily="49" charset="0"/>
              </a:rPr>
              <a:t>// </a:t>
            </a:r>
            <a:r>
              <a:rPr lang="ja-JP" altLang="en-US" sz="1600" kern="0" dirty="0">
                <a:solidFill>
                  <a:schemeClr val="accent3">
                    <a:lumMod val="75000"/>
                  </a:schemeClr>
                </a:solidFill>
                <a:latin typeface="Consolas" panose="020B0609020204030204" pitchFamily="49" charset="0"/>
              </a:rPr>
              <a:t>戻ってくるためにラベルを定義</a:t>
            </a:r>
            <a:endParaRPr lang="en-US" altLang="ja-JP" sz="1600" kern="0" dirty="0">
              <a:solidFill>
                <a:schemeClr val="accent3">
                  <a:lumMod val="75000"/>
                </a:schemeClr>
              </a:solidFill>
              <a:latin typeface="Consolas" panose="020B0609020204030204" pitchFamily="49" charset="0"/>
            </a:endParaRPr>
          </a:p>
          <a:p>
            <a:pPr>
              <a:lnSpc>
                <a:spcPct val="150000"/>
              </a:lnSpc>
            </a:pPr>
            <a:r>
              <a:rPr lang="en-US" altLang="ja-JP" sz="1600" kern="0" dirty="0">
                <a:solidFill>
                  <a:schemeClr val="tx1">
                    <a:lumMod val="75000"/>
                    <a:lumOff val="25000"/>
                  </a:schemeClr>
                </a:solidFill>
                <a:latin typeface="Consolas" panose="020B0609020204030204" pitchFamily="49" charset="0"/>
              </a:rPr>
              <a:t>LABEL:</a:t>
            </a:r>
            <a:br>
              <a:rPr lang="en-US" altLang="ja-JP" sz="1600" kern="0" dirty="0">
                <a:solidFill>
                  <a:schemeClr val="accent5"/>
                </a:solidFill>
                <a:latin typeface="Consolas" panose="020B0609020204030204" pitchFamily="49" charset="0"/>
              </a:rPr>
            </a:br>
            <a:r>
              <a:rPr lang="en-US" altLang="ja-JP" sz="1600" kern="0" dirty="0">
                <a:solidFill>
                  <a:schemeClr val="accent3">
                    <a:lumMod val="75000"/>
                  </a:schemeClr>
                </a:solidFill>
                <a:latin typeface="Consolas" panose="020B0609020204030204" pitchFamily="49" charset="0"/>
              </a:rPr>
              <a:t>// i = i – 1;</a:t>
            </a:r>
          </a:p>
          <a:p>
            <a:pPr>
              <a:lnSpc>
                <a:spcPct val="150000"/>
              </a:lnSpc>
            </a:pPr>
            <a:r>
              <a:rPr lang="en-US" altLang="ja-JP" sz="1600" kern="0" dirty="0">
                <a:solidFill>
                  <a:schemeClr val="accent3">
                    <a:lumMod val="75000"/>
                  </a:schemeClr>
                </a:solidFill>
                <a:latin typeface="Consolas" panose="020B0609020204030204" pitchFamily="49" charset="0"/>
              </a:rPr>
              <a:t>// A </a:t>
            </a:r>
            <a:r>
              <a:rPr lang="ja-JP" altLang="en-US" sz="1600" kern="0" dirty="0">
                <a:solidFill>
                  <a:schemeClr val="accent3">
                    <a:lumMod val="75000"/>
                  </a:schemeClr>
                </a:solidFill>
                <a:latin typeface="Consolas" panose="020B0609020204030204" pitchFamily="49" charset="0"/>
              </a:rPr>
              <a:t>から </a:t>
            </a:r>
            <a:r>
              <a:rPr lang="en-US" altLang="ja-JP" sz="1600" kern="0" dirty="0">
                <a:solidFill>
                  <a:schemeClr val="accent3">
                    <a:lumMod val="75000"/>
                  </a:schemeClr>
                </a:solidFill>
                <a:latin typeface="Consolas" panose="020B0609020204030204" pitchFamily="49" charset="0"/>
              </a:rPr>
              <a:t>1 </a:t>
            </a:r>
            <a:r>
              <a:rPr lang="ja-JP" altLang="en-US" sz="1600" kern="0" dirty="0">
                <a:solidFill>
                  <a:schemeClr val="accent3">
                    <a:lumMod val="75000"/>
                  </a:schemeClr>
                </a:solidFill>
                <a:latin typeface="Consolas" panose="020B0609020204030204" pitchFamily="49" charset="0"/>
              </a:rPr>
              <a:t>を引く</a:t>
            </a:r>
            <a:br>
              <a:rPr lang="en-US" altLang="ja-JP" sz="1600" kern="0" dirty="0">
                <a:latin typeface="Consolas" panose="020B0609020204030204" pitchFamily="49" charset="0"/>
              </a:rPr>
            </a:br>
            <a:r>
              <a:rPr lang="en-US" altLang="ja-JP" sz="1600" kern="0" dirty="0">
                <a:solidFill>
                  <a:schemeClr val="tx1">
                    <a:lumMod val="85000"/>
                    <a:lumOff val="15000"/>
                  </a:schemeClr>
                </a:solidFill>
                <a:latin typeface="Consolas" panose="020B0609020204030204" pitchFamily="49" charset="0"/>
              </a:rPr>
              <a:t>sub A,1</a:t>
            </a:r>
            <a:r>
              <a:rPr lang="ja-JP" altLang="en-US" sz="1600" kern="0" dirty="0">
                <a:solidFill>
                  <a:schemeClr val="tx1">
                    <a:lumMod val="85000"/>
                    <a:lumOff val="15000"/>
                  </a:schemeClr>
                </a:solidFill>
                <a:latin typeface="Consolas" panose="020B0609020204030204" pitchFamily="49" charset="0"/>
              </a:rPr>
              <a:t>→</a:t>
            </a:r>
            <a:r>
              <a:rPr lang="en-US" altLang="ja-JP" sz="1600" kern="0" dirty="0">
                <a:solidFill>
                  <a:schemeClr val="tx1">
                    <a:lumMod val="85000"/>
                    <a:lumOff val="15000"/>
                  </a:schemeClr>
                </a:solidFill>
                <a:latin typeface="Consolas" panose="020B0609020204030204" pitchFamily="49" charset="0"/>
              </a:rPr>
              <a:t>A</a:t>
            </a:r>
            <a:r>
              <a:rPr lang="en-US" altLang="ja-JP" sz="1600" kern="0" dirty="0">
                <a:solidFill>
                  <a:schemeClr val="accent3">
                    <a:lumMod val="75000"/>
                  </a:schemeClr>
                </a:solidFill>
                <a:latin typeface="Consolas" panose="020B0609020204030204" pitchFamily="49" charset="0"/>
              </a:rPr>
              <a:t>   </a:t>
            </a:r>
          </a:p>
          <a:p>
            <a:pPr>
              <a:lnSpc>
                <a:spcPct val="150000"/>
              </a:lnSpc>
            </a:pPr>
            <a:r>
              <a:rPr lang="en-US" altLang="ja-JP" sz="1600" kern="0" dirty="0">
                <a:solidFill>
                  <a:schemeClr val="accent3">
                    <a:lumMod val="75000"/>
                  </a:schemeClr>
                </a:solidFill>
                <a:latin typeface="Consolas" panose="020B0609020204030204" pitchFamily="49" charset="0"/>
              </a:rPr>
              <a:t>// if (i &gt; 0) </a:t>
            </a:r>
            <a:br>
              <a:rPr lang="en-US" altLang="ja-JP" sz="1600" kern="0" dirty="0">
                <a:solidFill>
                  <a:schemeClr val="accent3">
                    <a:lumMod val="75000"/>
                  </a:schemeClr>
                </a:solidFill>
                <a:latin typeface="Consolas" panose="020B0609020204030204" pitchFamily="49" charset="0"/>
              </a:rPr>
            </a:br>
            <a:r>
              <a:rPr lang="en-US" altLang="ja-JP" sz="1600" kern="0" dirty="0">
                <a:solidFill>
                  <a:schemeClr val="accent3">
                    <a:lumMod val="75000"/>
                  </a:schemeClr>
                </a:solidFill>
                <a:latin typeface="Consolas" panose="020B0609020204030204" pitchFamily="49" charset="0"/>
              </a:rPr>
              <a:t>//    </a:t>
            </a:r>
            <a:r>
              <a:rPr lang="en-US" altLang="ja-JP" sz="1600" kern="0" dirty="0" err="1">
                <a:solidFill>
                  <a:schemeClr val="accent3">
                    <a:lumMod val="75000"/>
                  </a:schemeClr>
                </a:solidFill>
                <a:latin typeface="Consolas" panose="020B0609020204030204" pitchFamily="49" charset="0"/>
              </a:rPr>
              <a:t>goto</a:t>
            </a:r>
            <a:r>
              <a:rPr lang="en-US" altLang="ja-JP" sz="1600" kern="0" dirty="0">
                <a:solidFill>
                  <a:schemeClr val="accent3">
                    <a:lumMod val="75000"/>
                  </a:schemeClr>
                </a:solidFill>
                <a:latin typeface="Consolas" panose="020B0609020204030204" pitchFamily="49" charset="0"/>
              </a:rPr>
              <a:t> LABEL;</a:t>
            </a:r>
            <a:endParaRPr lang="ja-JP" altLang="en-US" sz="1600" kern="0" dirty="0">
              <a:solidFill>
                <a:schemeClr val="accent3">
                  <a:lumMod val="75000"/>
                </a:schemeClr>
              </a:solidFill>
              <a:latin typeface="Consolas" panose="020B0609020204030204" pitchFamily="49" charset="0"/>
            </a:endParaRPr>
          </a:p>
          <a:p>
            <a:pPr>
              <a:lnSpc>
                <a:spcPct val="150000"/>
              </a:lnSpc>
            </a:pPr>
            <a:r>
              <a:rPr lang="en-US" altLang="ja-JP" sz="1600" kern="0" dirty="0">
                <a:solidFill>
                  <a:schemeClr val="tx1">
                    <a:lumMod val="85000"/>
                    <a:lumOff val="15000"/>
                  </a:schemeClr>
                </a:solidFill>
                <a:latin typeface="Consolas" panose="020B0609020204030204" pitchFamily="49" charset="0"/>
              </a:rPr>
              <a:t>b A&gt;B, LABEL </a:t>
            </a:r>
            <a:r>
              <a:rPr lang="en-US" altLang="ja-JP" sz="1600" kern="0" dirty="0">
                <a:solidFill>
                  <a:schemeClr val="accent3">
                    <a:lumMod val="75000"/>
                  </a:schemeClr>
                </a:solidFill>
                <a:latin typeface="Consolas" panose="020B0609020204030204" pitchFamily="49" charset="0"/>
              </a:rPr>
              <a:t>// </a:t>
            </a:r>
            <a:r>
              <a:rPr lang="ja-JP" altLang="en-US" sz="1600" kern="0" dirty="0">
                <a:solidFill>
                  <a:schemeClr val="accent3">
                    <a:lumMod val="75000"/>
                  </a:schemeClr>
                </a:solidFill>
                <a:latin typeface="Consolas" panose="020B0609020204030204" pitchFamily="49" charset="0"/>
              </a:rPr>
              <a:t>条件がなりたっていたら </a:t>
            </a:r>
            <a:r>
              <a:rPr lang="en-US" altLang="ja-JP" sz="1600" kern="0" dirty="0">
                <a:solidFill>
                  <a:schemeClr val="accent3">
                    <a:lumMod val="75000"/>
                  </a:schemeClr>
                </a:solidFill>
                <a:latin typeface="Consolas" panose="020B0609020204030204" pitchFamily="49" charset="0"/>
              </a:rPr>
              <a:t>LABEL </a:t>
            </a:r>
            <a:r>
              <a:rPr lang="ja-JP" altLang="en-US" sz="1600" kern="0" dirty="0">
                <a:solidFill>
                  <a:schemeClr val="accent3">
                    <a:lumMod val="75000"/>
                  </a:schemeClr>
                </a:solidFill>
                <a:latin typeface="Consolas" panose="020B0609020204030204" pitchFamily="49" charset="0"/>
              </a:rPr>
              <a:t>に飛ぶ</a:t>
            </a:r>
          </a:p>
        </p:txBody>
      </p:sp>
      <p:sp>
        <p:nvSpPr>
          <p:cNvPr id="25" name="正方形/長方形 24"/>
          <p:cNvSpPr/>
          <p:nvPr/>
        </p:nvSpPr>
        <p:spPr bwMode="auto">
          <a:xfrm>
            <a:off x="1775957" y="2078985"/>
            <a:ext cx="4590051" cy="2700030"/>
          </a:xfrm>
          <a:prstGeom prst="rect">
            <a:avLst/>
          </a:prstGeom>
          <a:noFill/>
          <a:ln>
            <a:noFill/>
            <a:headEnd/>
            <a:tailEnd type="triangle" w="sm" len="med"/>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50000"/>
              </a:lnSpc>
            </a:pPr>
            <a:endParaRPr lang="ja-JP" altLang="en-US" sz="2000" kern="0" dirty="0">
              <a:solidFill>
                <a:schemeClr val="accent3">
                  <a:lumMod val="75000"/>
                </a:schemeClr>
              </a:solidFill>
              <a:latin typeface="Consolas" panose="020B0609020204030204" pitchFamily="49" charset="0"/>
            </a:endParaRPr>
          </a:p>
        </p:txBody>
      </p:sp>
    </p:spTree>
    <p:extLst>
      <p:ext uri="{BB962C8B-B14F-4D97-AF65-F5344CB8AC3E}">
        <p14:creationId xmlns:p14="http://schemas.microsoft.com/office/powerpoint/2010/main" val="1375846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ja-JP" altLang="en-US" b="1" dirty="0"/>
              <a:t>前回の振り返り</a:t>
            </a:r>
          </a:p>
        </p:txBody>
      </p:sp>
    </p:spTree>
    <p:extLst>
      <p:ext uri="{BB962C8B-B14F-4D97-AF65-F5344CB8AC3E}">
        <p14:creationId xmlns:p14="http://schemas.microsoft.com/office/powerpoint/2010/main" val="2317933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584331-3D9C-C512-2846-D6A40BDAB0DC}"/>
              </a:ext>
            </a:extLst>
          </p:cNvPr>
          <p:cNvSpPr>
            <a:spLocks noGrp="1"/>
          </p:cNvSpPr>
          <p:nvPr>
            <p:ph type="title"/>
          </p:nvPr>
        </p:nvSpPr>
        <p:spPr/>
        <p:txBody>
          <a:bodyPr/>
          <a:lstStyle/>
          <a:p>
            <a:r>
              <a:rPr kumimoji="1" lang="ja-JP" altLang="en-US" dirty="0"/>
              <a:t>論理回路の作り方</a:t>
            </a:r>
            <a:endParaRPr kumimoji="1" lang="en-US" dirty="0"/>
          </a:p>
        </p:txBody>
      </p:sp>
      <p:sp>
        <p:nvSpPr>
          <p:cNvPr id="3" name="コンテンツ プレースホルダー 2">
            <a:extLst>
              <a:ext uri="{FF2B5EF4-FFF2-40B4-BE49-F238E27FC236}">
                <a16:creationId xmlns:a16="http://schemas.microsoft.com/office/drawing/2014/main" id="{4CDF5B3C-F5EC-178A-5EAE-1A3A46827528}"/>
              </a:ext>
            </a:extLst>
          </p:cNvPr>
          <p:cNvSpPr>
            <a:spLocks noGrp="1"/>
          </p:cNvSpPr>
          <p:nvPr>
            <p:ph type="body" sz="quarter" idx="10"/>
          </p:nvPr>
        </p:nvSpPr>
        <p:spPr/>
        <p:txBody>
          <a:bodyPr/>
          <a:lstStyle/>
          <a:p>
            <a:r>
              <a:rPr kumimoji="1" lang="ja-JP" altLang="en-US" dirty="0"/>
              <a:t>以下のそれぞれの仕組みを使った回路を説明</a:t>
            </a:r>
            <a:endParaRPr kumimoji="1" lang="en-US" altLang="ja-JP" dirty="0"/>
          </a:p>
          <a:p>
            <a:pPr marL="817200" lvl="1" indent="-457200">
              <a:buFont typeface="+mj-lt"/>
              <a:buAutoNum type="arabicPeriod"/>
            </a:pPr>
            <a:r>
              <a:rPr kumimoji="1" lang="ja-JP" altLang="en-US" dirty="0"/>
              <a:t>リレー</a:t>
            </a:r>
            <a:endParaRPr kumimoji="1" lang="en-US" altLang="ja-JP" dirty="0"/>
          </a:p>
          <a:p>
            <a:pPr marL="817200" lvl="1" indent="-457200">
              <a:buFont typeface="+mj-lt"/>
              <a:buAutoNum type="arabicPeriod"/>
            </a:pPr>
            <a:r>
              <a:rPr kumimoji="1" lang="en-US" altLang="ja-JP" dirty="0"/>
              <a:t>CMOS</a:t>
            </a:r>
          </a:p>
          <a:p>
            <a:r>
              <a:rPr kumimoji="1" lang="ja-JP" altLang="en-US" dirty="0"/>
              <a:t>これらの論理的な動作は実はほぼ同じに作れる</a:t>
            </a:r>
            <a:endParaRPr kumimoji="1" lang="en-US" altLang="ja-JP" dirty="0"/>
          </a:p>
          <a:p>
            <a:pPr lvl="1"/>
            <a:r>
              <a:rPr kumimoji="1" lang="ja-JP" altLang="en-US" dirty="0"/>
              <a:t>リレーの方が直感的にわかりやすいのでこちらから説明</a:t>
            </a:r>
            <a:endParaRPr kumimoji="1" lang="en-US" dirty="0"/>
          </a:p>
        </p:txBody>
      </p:sp>
    </p:spTree>
    <p:extLst>
      <p:ext uri="{BB962C8B-B14F-4D97-AF65-F5344CB8AC3E}">
        <p14:creationId xmlns:p14="http://schemas.microsoft.com/office/powerpoint/2010/main" val="35764159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p:txBody>
          <a:bodyPr/>
          <a:lstStyle/>
          <a:p>
            <a:r>
              <a:rPr lang="en-US" sz="2800" dirty="0"/>
              <a:t>NAND </a:t>
            </a:r>
            <a:r>
              <a:rPr lang="ja-JP" altLang="en-US" sz="2800" dirty="0"/>
              <a:t>ゲートの動作</a:t>
            </a:r>
            <a:endParaRPr lang="en-US" sz="28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685951" y="3969011"/>
            <a:ext cx="8280092" cy="630007"/>
          </a:xfrm>
        </p:spPr>
        <p:txBody>
          <a:bodyPr anchor="t"/>
          <a:lstStyle/>
          <a:p>
            <a:r>
              <a:rPr kumimoji="1" lang="ja-JP" altLang="en-US" dirty="0"/>
              <a:t>上側の </a:t>
            </a:r>
            <a:r>
              <a:rPr kumimoji="1" lang="en-US" altLang="ja-JP" dirty="0"/>
              <a:t>P</a:t>
            </a:r>
            <a:r>
              <a:rPr lang="en-US" altLang="ja-JP" dirty="0"/>
              <a:t> </a:t>
            </a:r>
            <a:r>
              <a:rPr lang="ja-JP" altLang="en-US" dirty="0"/>
              <a:t>型２つは並列接続</a:t>
            </a:r>
            <a:endParaRPr lang="en-US" altLang="ja-JP" dirty="0"/>
          </a:p>
          <a:p>
            <a:pPr lvl="1"/>
            <a:r>
              <a:rPr lang="en-US" altLang="ja-JP" dirty="0"/>
              <a:t>a </a:t>
            </a:r>
            <a:r>
              <a:rPr lang="ja-JP" altLang="en-US" dirty="0"/>
              <a:t>と </a:t>
            </a:r>
            <a:r>
              <a:rPr lang="en-US" altLang="ja-JP" dirty="0"/>
              <a:t>b</a:t>
            </a:r>
            <a:r>
              <a:rPr lang="ja-JP" altLang="en-US" dirty="0"/>
              <a:t>どちらか片方の入力に</a:t>
            </a:r>
            <a:br>
              <a:rPr lang="en-US" altLang="ja-JP" dirty="0"/>
            </a:br>
            <a:r>
              <a:rPr lang="en-US" altLang="ja-JP" dirty="0"/>
              <a:t>0 </a:t>
            </a:r>
            <a:r>
              <a:rPr lang="ja-JP" altLang="en-US" dirty="0"/>
              <a:t>が入ると </a:t>
            </a:r>
            <a:r>
              <a:rPr lang="en-US" altLang="ja-JP" dirty="0"/>
              <a:t>VDD </a:t>
            </a:r>
            <a:r>
              <a:rPr lang="ja-JP" altLang="en-US" dirty="0"/>
              <a:t>を </a:t>
            </a:r>
            <a:r>
              <a:rPr lang="en-US" altLang="ja-JP" dirty="0"/>
              <a:t>c </a:t>
            </a:r>
            <a:r>
              <a:rPr lang="ja-JP" altLang="en-US" dirty="0"/>
              <a:t>に接続</a:t>
            </a:r>
            <a:endParaRPr lang="en-US" altLang="ja-JP" dirty="0"/>
          </a:p>
          <a:p>
            <a:r>
              <a:rPr kumimoji="1" lang="ja-JP" altLang="en-US" dirty="0"/>
              <a:t>下側の </a:t>
            </a:r>
            <a:r>
              <a:rPr kumimoji="1" lang="en-US" altLang="ja-JP" dirty="0"/>
              <a:t>N </a:t>
            </a:r>
            <a:r>
              <a:rPr kumimoji="1" lang="ja-JP" altLang="en-US" dirty="0"/>
              <a:t>型２つは直列接続</a:t>
            </a:r>
            <a:endParaRPr kumimoji="1" lang="en-US" altLang="ja-JP" dirty="0"/>
          </a:p>
          <a:p>
            <a:pPr lvl="1"/>
            <a:r>
              <a:rPr kumimoji="1" lang="en-US" altLang="ja-JP" dirty="0"/>
              <a:t>a </a:t>
            </a:r>
            <a:r>
              <a:rPr kumimoji="1" lang="ja-JP" altLang="en-US" dirty="0"/>
              <a:t>と </a:t>
            </a:r>
            <a:r>
              <a:rPr kumimoji="1" lang="en-US" altLang="ja-JP" dirty="0"/>
              <a:t>b </a:t>
            </a:r>
            <a:r>
              <a:rPr kumimoji="1" lang="ja-JP" altLang="en-US" dirty="0"/>
              <a:t>双方の入力に１が入ると</a:t>
            </a:r>
            <a:br>
              <a:rPr kumimoji="1" lang="en-US" altLang="ja-JP" dirty="0"/>
            </a:br>
            <a:r>
              <a:rPr kumimoji="1" lang="en-US" altLang="ja-JP" dirty="0"/>
              <a:t>2</a:t>
            </a:r>
            <a:r>
              <a:rPr kumimoji="1" lang="ja-JP" altLang="en-US" dirty="0"/>
              <a:t>つとも </a:t>
            </a:r>
            <a:r>
              <a:rPr kumimoji="1" lang="en-US" altLang="ja-JP" dirty="0"/>
              <a:t>ON </a:t>
            </a:r>
            <a:r>
              <a:rPr kumimoji="1" lang="ja-JP" altLang="en-US" dirty="0"/>
              <a:t>になって </a:t>
            </a:r>
            <a:r>
              <a:rPr kumimoji="1" lang="en-US" altLang="ja-JP" dirty="0"/>
              <a:t>GND </a:t>
            </a:r>
            <a:r>
              <a:rPr kumimoji="1" lang="ja-JP" altLang="en-US" dirty="0"/>
              <a:t>を </a:t>
            </a:r>
            <a:r>
              <a:rPr kumimoji="1" lang="en-US" altLang="ja-JP" dirty="0"/>
              <a:t>c </a:t>
            </a:r>
            <a:r>
              <a:rPr kumimoji="1" lang="ja-JP" altLang="en-US" dirty="0"/>
              <a:t>に接続</a:t>
            </a:r>
            <a:endParaRPr kumimoji="1" lang="en-US" altLang="ja-JP"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6633345" y="3068996"/>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6633345" y="4509012"/>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6723346" y="2708992"/>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8163362" y="2708992"/>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6723346" y="198898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8163362" y="4149008"/>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8163362" y="5589024"/>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9603378" y="1988984"/>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4833330"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7803363" y="144897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6363347" y="3609002"/>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6363347" y="513901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0323391" y="2528990"/>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7803363" y="5859027"/>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6453346" y="458970"/>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9333378" y="458970"/>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nvGraphicFramePr>
        <p:xfrm>
          <a:off x="2495960" y="1268976"/>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40" name="グループ化 239">
            <a:extLst>
              <a:ext uri="{FF2B5EF4-FFF2-40B4-BE49-F238E27FC236}">
                <a16:creationId xmlns:a16="http://schemas.microsoft.com/office/drawing/2014/main" id="{64DC05BE-F391-47A1-1C07-B7685C59B819}"/>
              </a:ext>
            </a:extLst>
          </p:cNvPr>
          <p:cNvGrpSpPr/>
          <p:nvPr/>
        </p:nvGrpSpPr>
        <p:grpSpPr>
          <a:xfrm>
            <a:off x="5193329" y="908972"/>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8073361" y="908972"/>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480907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sz="2400" dirty="0">
                <a:latin typeface="Arial" panose="020B0604020202020204" pitchFamily="34" charset="0"/>
              </a:rPr>
              <a:t>CMOS: Complementary Metal–Oxide–Semiconductor</a:t>
            </a:r>
          </a:p>
        </p:txBody>
      </p:sp>
      <p:sp>
        <p:nvSpPr>
          <p:cNvPr id="5" name="テキスト プレースホルダー 4"/>
          <p:cNvSpPr>
            <a:spLocks noGrp="1"/>
          </p:cNvSpPr>
          <p:nvPr>
            <p:ph type="body" sz="quarter" idx="10"/>
          </p:nvPr>
        </p:nvSpPr>
        <p:spPr/>
        <p:txBody>
          <a:bodyPr/>
          <a:lstStyle/>
          <a:p>
            <a:r>
              <a:rPr kumimoji="1" lang="en-US" altLang="ja-JP" dirty="0"/>
              <a:t>CMOS </a:t>
            </a:r>
            <a:r>
              <a:rPr kumimoji="1" lang="ja-JP" altLang="en-US" dirty="0"/>
              <a:t>は </a:t>
            </a:r>
            <a:r>
              <a:rPr kumimoji="1" lang="en-US" altLang="ja-JP" dirty="0"/>
              <a:t>NMOS </a:t>
            </a:r>
            <a:r>
              <a:rPr kumimoji="1" lang="ja-JP" altLang="en-US" dirty="0"/>
              <a:t>と </a:t>
            </a:r>
            <a:r>
              <a:rPr kumimoji="1" lang="en-US" altLang="ja-JP" dirty="0"/>
              <a:t>PMOS </a:t>
            </a:r>
            <a:r>
              <a:rPr kumimoji="1" lang="ja-JP" altLang="en-US" dirty="0"/>
              <a:t>の２種類のトランジスタから成る</a:t>
            </a:r>
            <a:endParaRPr kumimoji="1" lang="en-US" altLang="ja-JP" dirty="0"/>
          </a:p>
          <a:p>
            <a:pPr lvl="1"/>
            <a:r>
              <a:rPr lang="ja-JP" altLang="en-US" dirty="0"/>
              <a:t>電界で電荷（電子</a:t>
            </a:r>
            <a:r>
              <a:rPr lang="en-US" altLang="ja-JP" dirty="0"/>
              <a:t>/</a:t>
            </a:r>
            <a:r>
              <a:rPr lang="ja-JP" altLang="en-US" dirty="0"/>
              <a:t>正孔）を動かして </a:t>
            </a:r>
            <a:r>
              <a:rPr lang="en-US" altLang="ja-JP" dirty="0"/>
              <a:t>ON/OFF </a:t>
            </a:r>
            <a:r>
              <a:rPr lang="ja-JP" altLang="en-US" dirty="0"/>
              <a:t>する</a:t>
            </a:r>
            <a:endParaRPr lang="en-US" altLang="ja-JP" dirty="0"/>
          </a:p>
          <a:p>
            <a:r>
              <a:rPr lang="ja-JP" altLang="en-US" dirty="0"/>
              <a:t>基本的に </a:t>
            </a:r>
            <a:r>
              <a:rPr lang="en-US" altLang="ja-JP" dirty="0"/>
              <a:t>N </a:t>
            </a:r>
            <a:r>
              <a:rPr lang="ja-JP" altLang="en-US" dirty="0"/>
              <a:t>型</a:t>
            </a:r>
            <a:r>
              <a:rPr lang="en-US" altLang="ja-JP" dirty="0"/>
              <a:t>/P </a:t>
            </a:r>
            <a:r>
              <a:rPr lang="ja-JP" altLang="en-US" dirty="0"/>
              <a:t>型リレーとほぼ同じ動作</a:t>
            </a:r>
            <a:endParaRPr lang="en-US" altLang="ja-JP" dirty="0"/>
          </a:p>
          <a:p>
            <a:pPr lvl="1"/>
            <a:r>
              <a:rPr lang="ja-JP" altLang="en-US" dirty="0">
                <a:solidFill>
                  <a:schemeClr val="accent5"/>
                </a:solidFill>
              </a:rPr>
              <a:t>つまり全く同じように論理回路が組める</a:t>
            </a:r>
            <a:endParaRPr lang="en-US" altLang="ja-JP" dirty="0">
              <a:solidFill>
                <a:schemeClr val="accent5"/>
              </a:solidFill>
            </a:endParaRPr>
          </a:p>
          <a:p>
            <a:r>
              <a:rPr lang="ja-JP" altLang="en-US" dirty="0"/>
              <a:t>現代のコンピュータはこの </a:t>
            </a:r>
            <a:r>
              <a:rPr lang="en-US" altLang="ja-JP" dirty="0"/>
              <a:t>CMOS </a:t>
            </a:r>
            <a:r>
              <a:rPr lang="ja-JP" altLang="en-US" dirty="0"/>
              <a:t>を使って作られている</a:t>
            </a:r>
            <a:endParaRPr lang="en-US" altLang="ja-JP" dirty="0">
              <a:solidFill>
                <a:schemeClr val="accent5"/>
              </a:solidFill>
            </a:endParaRP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9</a:t>
            </a:fld>
            <a:endParaRPr kumimoji="1" lang="ja-JP" altLang="en-US"/>
          </a:p>
        </p:txBody>
      </p:sp>
    </p:spTree>
    <p:extLst>
      <p:ext uri="{BB962C8B-B14F-4D97-AF65-F5344CB8AC3E}">
        <p14:creationId xmlns:p14="http://schemas.microsoft.com/office/powerpoint/2010/main" val="13318966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DF6353-9A4B-4E88-1051-729E69A18D53}"/>
              </a:ext>
            </a:extLst>
          </p:cNvPr>
          <p:cNvSpPr>
            <a:spLocks noGrp="1"/>
          </p:cNvSpPr>
          <p:nvPr>
            <p:ph type="title"/>
          </p:nvPr>
        </p:nvSpPr>
        <p:spPr/>
        <p:txBody>
          <a:bodyPr/>
          <a:lstStyle/>
          <a:p>
            <a:r>
              <a:rPr kumimoji="1" lang="ja-JP" altLang="en-US" dirty="0"/>
              <a:t>リレーがあればプログラムが実行できる</a:t>
            </a:r>
            <a:endParaRPr kumimoji="1" lang="en-US" dirty="0"/>
          </a:p>
        </p:txBody>
      </p:sp>
      <p:sp>
        <p:nvSpPr>
          <p:cNvPr id="3" name="コンテンツ プレースホルダー 2">
            <a:extLst>
              <a:ext uri="{FF2B5EF4-FFF2-40B4-BE49-F238E27FC236}">
                <a16:creationId xmlns:a16="http://schemas.microsoft.com/office/drawing/2014/main" id="{8CE30B8E-8142-3DC6-72B2-E2E71310CA22}"/>
              </a:ext>
            </a:extLst>
          </p:cNvPr>
          <p:cNvSpPr>
            <a:spLocks noGrp="1"/>
          </p:cNvSpPr>
          <p:nvPr>
            <p:ph type="body" sz="quarter" idx="10"/>
          </p:nvPr>
        </p:nvSpPr>
        <p:spPr/>
        <p:txBody>
          <a:bodyPr/>
          <a:lstStyle/>
          <a:p>
            <a:r>
              <a:rPr kumimoji="1" lang="ja-JP" altLang="en-US" dirty="0"/>
              <a:t>コンピュータがあれば，プログラムが実行できる</a:t>
            </a:r>
            <a:endParaRPr kumimoji="1" lang="en-US" altLang="ja-JP" dirty="0"/>
          </a:p>
          <a:p>
            <a:pPr marL="817200" lvl="1" indent="-457200">
              <a:buFont typeface="+mj-lt"/>
              <a:buAutoNum type="arabicPeriod"/>
            </a:pPr>
            <a:r>
              <a:rPr kumimoji="1" lang="ja-JP" altLang="en-US" dirty="0"/>
              <a:t>コンピュータは機械語を解釈して実行できる</a:t>
            </a:r>
            <a:endParaRPr kumimoji="1" lang="en-US" altLang="ja-JP" dirty="0"/>
          </a:p>
          <a:p>
            <a:pPr marL="817200" lvl="1" indent="-457200">
              <a:buFont typeface="+mj-lt"/>
              <a:buAutoNum type="arabicPeriod"/>
            </a:pPr>
            <a:r>
              <a:rPr kumimoji="1" lang="ja-JP" altLang="en-US" dirty="0"/>
              <a:t>機械語はアセンブリ言語から変換できる</a:t>
            </a:r>
            <a:endParaRPr kumimoji="1" lang="en-US" altLang="ja-JP" dirty="0"/>
          </a:p>
          <a:p>
            <a:pPr marL="817200" lvl="1" indent="-457200">
              <a:buFont typeface="+mj-lt"/>
              <a:buAutoNum type="arabicPeriod"/>
            </a:pPr>
            <a:r>
              <a:rPr kumimoji="1" lang="ja-JP" altLang="en-US" dirty="0"/>
              <a:t>アセンブリ言語は </a:t>
            </a:r>
            <a:r>
              <a:rPr kumimoji="1" lang="en-US" altLang="ja-JP" dirty="0"/>
              <a:t>C </a:t>
            </a:r>
            <a:r>
              <a:rPr kumimoji="1" lang="ja-JP" altLang="en-US" dirty="0"/>
              <a:t>言語からコンパイルできる</a:t>
            </a:r>
            <a:endParaRPr kumimoji="1" lang="en-US" altLang="ja-JP" dirty="0"/>
          </a:p>
          <a:p>
            <a:r>
              <a:rPr kumimoji="1" lang="ja-JP" altLang="en-US" dirty="0"/>
              <a:t>途中に多数のステップがあるが，まとめると，</a:t>
            </a:r>
            <a:endParaRPr kumimoji="1" lang="en-US" altLang="ja-JP" dirty="0"/>
          </a:p>
          <a:p>
            <a:pPr lvl="1"/>
            <a:r>
              <a:rPr kumimoji="1" lang="ja-JP" altLang="en-US" dirty="0">
                <a:solidFill>
                  <a:schemeClr val="accent5"/>
                </a:solidFill>
              </a:rPr>
              <a:t>リレーがあれば，</a:t>
            </a:r>
            <a:r>
              <a:rPr kumimoji="1" lang="en-US" altLang="ja-JP" dirty="0">
                <a:solidFill>
                  <a:schemeClr val="accent5"/>
                </a:solidFill>
              </a:rPr>
              <a:t>C </a:t>
            </a:r>
            <a:r>
              <a:rPr kumimoji="1" lang="ja-JP" altLang="en-US" dirty="0">
                <a:solidFill>
                  <a:schemeClr val="accent5"/>
                </a:solidFill>
              </a:rPr>
              <a:t>言語のプログラムを実行できる</a:t>
            </a:r>
            <a:endParaRPr kumimoji="1" lang="en-US" dirty="0">
              <a:solidFill>
                <a:schemeClr val="accent5"/>
              </a:solidFill>
            </a:endParaRPr>
          </a:p>
        </p:txBody>
      </p:sp>
    </p:spTree>
    <p:extLst>
      <p:ext uri="{BB962C8B-B14F-4D97-AF65-F5344CB8AC3E}">
        <p14:creationId xmlns:p14="http://schemas.microsoft.com/office/powerpoint/2010/main" val="24384234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48D921-750E-E86A-3624-6989799238AC}"/>
              </a:ext>
            </a:extLst>
          </p:cNvPr>
          <p:cNvSpPr>
            <a:spLocks noGrp="1"/>
          </p:cNvSpPr>
          <p:nvPr>
            <p:ph type="title"/>
          </p:nvPr>
        </p:nvSpPr>
        <p:spPr/>
        <p:txBody>
          <a:bodyPr/>
          <a:lstStyle/>
          <a:p>
            <a:r>
              <a:rPr kumimoji="1" lang="ja-JP" altLang="en-US" dirty="0"/>
              <a:t>一般化すると，</a:t>
            </a:r>
            <a:endParaRPr kumimoji="1" lang="en-US" dirty="0"/>
          </a:p>
        </p:txBody>
      </p:sp>
      <p:sp>
        <p:nvSpPr>
          <p:cNvPr id="3" name="コンテンツ プレースホルダー 2">
            <a:extLst>
              <a:ext uri="{FF2B5EF4-FFF2-40B4-BE49-F238E27FC236}">
                <a16:creationId xmlns:a16="http://schemas.microsoft.com/office/drawing/2014/main" id="{0C9930CE-86B6-FE67-225C-3AFDA19E5E74}"/>
              </a:ext>
            </a:extLst>
          </p:cNvPr>
          <p:cNvSpPr>
            <a:spLocks noGrp="1"/>
          </p:cNvSpPr>
          <p:nvPr>
            <p:ph type="body" sz="quarter" idx="10"/>
          </p:nvPr>
        </p:nvSpPr>
        <p:spPr/>
        <p:txBody>
          <a:bodyPr/>
          <a:lstStyle/>
          <a:p>
            <a:r>
              <a:rPr kumimoji="1" lang="ja-JP" altLang="en-US" b="1" dirty="0">
                <a:solidFill>
                  <a:schemeClr val="accent5"/>
                </a:solidFill>
              </a:rPr>
              <a:t>なんらかの入力に従って </a:t>
            </a:r>
            <a:r>
              <a:rPr kumimoji="1" lang="en-US" altLang="ja-JP" b="1" dirty="0">
                <a:solidFill>
                  <a:schemeClr val="accent5"/>
                </a:solidFill>
              </a:rPr>
              <a:t>ON/OFF </a:t>
            </a:r>
            <a:r>
              <a:rPr kumimoji="1" lang="ja-JP" altLang="en-US" b="1" dirty="0">
                <a:solidFill>
                  <a:schemeClr val="accent5"/>
                </a:solidFill>
              </a:rPr>
              <a:t>できるスイッチがあれば，</a:t>
            </a:r>
            <a:br>
              <a:rPr kumimoji="1" lang="en-US" altLang="ja-JP" b="1" dirty="0">
                <a:solidFill>
                  <a:schemeClr val="accent5"/>
                </a:solidFill>
              </a:rPr>
            </a:br>
            <a:r>
              <a:rPr kumimoji="1" lang="ja-JP" altLang="en-US" b="1" dirty="0">
                <a:solidFill>
                  <a:schemeClr val="accent5"/>
                </a:solidFill>
              </a:rPr>
              <a:t>それでプログラムが実行できるコンピュータが作れる</a:t>
            </a:r>
            <a:endParaRPr kumimoji="1" lang="en-US" altLang="ja-JP" b="1" dirty="0">
              <a:solidFill>
                <a:schemeClr val="accent5"/>
              </a:solidFill>
            </a:endParaRPr>
          </a:p>
          <a:p>
            <a:pPr lvl="1"/>
            <a:endParaRPr lang="en-US" b="1" dirty="0">
              <a:solidFill>
                <a:schemeClr val="accent5"/>
              </a:solidFill>
            </a:endParaRPr>
          </a:p>
          <a:p>
            <a:pPr lvl="1"/>
            <a:r>
              <a:rPr kumimoji="1" lang="ja-JP" altLang="en-US" dirty="0"/>
              <a:t>具体的な回路の組み方は，回路の種別ごとに違う事もある</a:t>
            </a:r>
            <a:endParaRPr kumimoji="1" lang="en-US" altLang="ja-JP" dirty="0"/>
          </a:p>
          <a:p>
            <a:pPr lvl="1"/>
            <a:r>
              <a:rPr kumimoji="1" lang="en-US" altLang="ja-JP" dirty="0"/>
              <a:t>NAND </a:t>
            </a:r>
            <a:r>
              <a:rPr kumimoji="1" lang="ja-JP" altLang="en-US" dirty="0"/>
              <a:t>さえ出来ればこっちのもの</a:t>
            </a:r>
            <a:endParaRPr kumimoji="1" lang="en-US" dirty="0"/>
          </a:p>
        </p:txBody>
      </p:sp>
    </p:spTree>
    <p:extLst>
      <p:ext uri="{BB962C8B-B14F-4D97-AF65-F5344CB8AC3E}">
        <p14:creationId xmlns:p14="http://schemas.microsoft.com/office/powerpoint/2010/main" val="32437198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b="1" dirty="0"/>
              <a:t>命令パイプライン</a:t>
            </a:r>
          </a:p>
        </p:txBody>
      </p:sp>
    </p:spTree>
    <p:extLst>
      <p:ext uri="{BB962C8B-B14F-4D97-AF65-F5344CB8AC3E}">
        <p14:creationId xmlns:p14="http://schemas.microsoft.com/office/powerpoint/2010/main" val="1469584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11"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71"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8"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8"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導入：工場のラインを考える</a:t>
            </a:r>
          </a:p>
        </p:txBody>
      </p:sp>
      <p:sp>
        <p:nvSpPr>
          <p:cNvPr id="4" name="テキスト プレースホルダー 3"/>
          <p:cNvSpPr>
            <a:spLocks noGrp="1"/>
          </p:cNvSpPr>
          <p:nvPr>
            <p:ph type="body" sz="quarter" idx="10"/>
          </p:nvPr>
        </p:nvSpPr>
        <p:spPr>
          <a:xfrm>
            <a:off x="2135956" y="4239009"/>
            <a:ext cx="8280092" cy="2069716"/>
          </a:xfrm>
        </p:spPr>
        <p:txBody>
          <a:bodyPr/>
          <a:lstStyle/>
          <a:p>
            <a:r>
              <a:rPr kumimoji="1" lang="ja-JP" altLang="en-US" dirty="0"/>
              <a:t>ベルトコンベアのラインの上を製品が流れていく</a:t>
            </a:r>
            <a:endParaRPr kumimoji="1" lang="en-US" altLang="ja-JP" dirty="0"/>
          </a:p>
          <a:p>
            <a:pPr lvl="1"/>
            <a:r>
              <a:rPr kumimoji="1" lang="ja-JP" altLang="en-US" dirty="0"/>
              <a:t>４人の人が，それぞれの工程の作業をおこなって完成</a:t>
            </a:r>
            <a:endParaRPr kumimoji="1" lang="en-US" altLang="ja-JP" dirty="0"/>
          </a:p>
          <a:p>
            <a:r>
              <a:rPr lang="ja-JP" altLang="en-US" dirty="0"/>
              <a:t>上のように</a:t>
            </a:r>
            <a:r>
              <a:rPr lang="en-US" altLang="ja-JP" dirty="0"/>
              <a:t>1</a:t>
            </a:r>
            <a:r>
              <a:rPr lang="ja-JP" altLang="en-US" dirty="0" err="1"/>
              <a:t>つしか</a:t>
            </a:r>
            <a:r>
              <a:rPr lang="ja-JP" altLang="en-US" dirty="0"/>
              <a:t>製品をながさないと，</a:t>
            </a:r>
            <a:endParaRPr lang="en-US" altLang="ja-JP" dirty="0"/>
          </a:p>
          <a:p>
            <a:pPr lvl="1"/>
            <a:r>
              <a:rPr lang="ja-JP" altLang="en-US" dirty="0"/>
              <a:t>各人は他の人が作業している間はヒマ</a:t>
            </a:r>
            <a:endParaRPr kumimoji="1" lang="ja-JP" altLang="en-US"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41" name="グループ化 40"/>
          <p:cNvGrpSpPr/>
          <p:nvPr/>
        </p:nvGrpSpPr>
        <p:grpSpPr>
          <a:xfrm>
            <a:off x="2135961" y="2978995"/>
            <a:ext cx="720009" cy="360004"/>
            <a:chOff x="6372020" y="3699004"/>
            <a:chExt cx="720009" cy="360004"/>
          </a:xfrm>
        </p:grpSpPr>
        <p:sp>
          <p:nvSpPr>
            <p:cNvPr id="42" name="角丸四角形 41"/>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endParaRPr lang="ja-JP" altLang="en-US" dirty="0">
                <a:latin typeface="Arial Narrow" panose="020B0606020202030204" pitchFamily="34" charset="0"/>
              </a:endParaRPr>
            </a:p>
          </p:txBody>
        </p:sp>
        <p:sp>
          <p:nvSpPr>
            <p:cNvPr id="44" name="角丸四角形 43"/>
            <p:cNvSpPr/>
            <p:nvPr/>
          </p:nvSpPr>
          <p:spPr bwMode="auto">
            <a:xfrm>
              <a:off x="6372020"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96" name="正方形/長方形 95"/>
          <p:cNvSpPr/>
          <p:nvPr/>
        </p:nvSpPr>
        <p:spPr bwMode="auto">
          <a:xfrm>
            <a:off x="1775952" y="2438994"/>
            <a:ext cx="1152128" cy="1710019"/>
          </a:xfrm>
          <a:prstGeom prst="rect">
            <a:avLst/>
          </a:prstGeom>
          <a:solidFill>
            <a:schemeClr val="bg1"/>
          </a:solidFill>
          <a:ln>
            <a:solidFill>
              <a:schemeClr val="bg1"/>
            </a:solidFill>
            <a:headEnd/>
            <a:tailEnd type="non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80000"/>
              </a:lnSpc>
            </a:pPr>
            <a:endParaRPr lang="ja-JP" altLang="en-US" sz="2000"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4207069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5E-6 1.85185E-6 L 0.1181 1.85185E-6 " pathEditMode="relative" rAng="0" ptsTypes="AA">
                                      <p:cBhvr>
                                        <p:cTn id="6" dur="1000" fill="hold"/>
                                        <p:tgtEl>
                                          <p:spTgt spid="41"/>
                                        </p:tgtEl>
                                        <p:attrNameLst>
                                          <p:attrName>ppt_x</p:attrName>
                                          <p:attrName>ppt_y</p:attrName>
                                        </p:attrNameLst>
                                      </p:cBhvr>
                                      <p:rCtr x="5898"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181 1.85185E-6 L 0.2362 1.85185E-6 " pathEditMode="relative" rAng="0" ptsTypes="AA">
                                      <p:cBhvr>
                                        <p:cTn id="10" dur="1000" fill="hold"/>
                                        <p:tgtEl>
                                          <p:spTgt spid="41"/>
                                        </p:tgtEl>
                                        <p:attrNameLst>
                                          <p:attrName>ppt_x</p:attrName>
                                          <p:attrName>ppt_y</p:attrName>
                                        </p:attrNameLst>
                                      </p:cBhvr>
                                      <p:rCtr x="5898"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2362 1.85185E-6 L 0.35442 1.85185E-6 " pathEditMode="relative" rAng="0" ptsTypes="AA">
                                      <p:cBhvr>
                                        <p:cTn id="14" dur="1000" fill="hold"/>
                                        <p:tgtEl>
                                          <p:spTgt spid="41"/>
                                        </p:tgtEl>
                                        <p:attrNameLst>
                                          <p:attrName>ppt_x</p:attrName>
                                          <p:attrName>ppt_y</p:attrName>
                                        </p:attrNameLst>
                                      </p:cBhvr>
                                      <p:rCtr x="5911"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35442 1.85185E-6 L 0.47252 1.85185E-6 " pathEditMode="relative" rAng="0" ptsTypes="AA">
                                      <p:cBhvr>
                                        <p:cTn id="18" dur="1000" fill="hold"/>
                                        <p:tgtEl>
                                          <p:spTgt spid="41"/>
                                        </p:tgtEl>
                                        <p:attrNameLst>
                                          <p:attrName>ppt_x</p:attrName>
                                          <p:attrName>ppt_y</p:attrName>
                                        </p:attrNameLst>
                                      </p:cBhvr>
                                      <p:rCtr x="58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p:cNvSpPr/>
          <p:nvPr/>
        </p:nvSpPr>
        <p:spPr>
          <a:xfrm>
            <a:off x="3087811"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p:cNvSpPr/>
          <p:nvPr/>
        </p:nvSpPr>
        <p:spPr>
          <a:xfrm>
            <a:off x="4527971"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5970018"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410178"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lang="ja-JP" altLang="en-US" dirty="0"/>
              <a:t>導入：工場のラインを考える</a:t>
            </a:r>
            <a:endParaRPr kumimoji="1" lang="ja-JP" altLang="en-US" dirty="0"/>
          </a:p>
        </p:txBody>
      </p:sp>
      <p:sp>
        <p:nvSpPr>
          <p:cNvPr id="58" name="コンテンツ プレースホルダー 57"/>
          <p:cNvSpPr>
            <a:spLocks noGrp="1"/>
          </p:cNvSpPr>
          <p:nvPr>
            <p:ph type="body" sz="quarter" idx="10"/>
          </p:nvPr>
        </p:nvSpPr>
        <p:spPr>
          <a:xfrm>
            <a:off x="2045955" y="4869021"/>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pPr lvl="1"/>
            <a:r>
              <a:rPr lang="ja-JP" altLang="en-US" dirty="0"/>
              <a:t>さっきの</a:t>
            </a:r>
            <a:r>
              <a:rPr lang="en-US" altLang="ja-JP" dirty="0"/>
              <a:t>4</a:t>
            </a:r>
            <a:r>
              <a:rPr lang="ja-JP" altLang="en-US" dirty="0"/>
              <a:t>倍の速度で製品ができあがっていく</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tx1">
                  <a:lumMod val="85000"/>
                  <a:lumOff val="15000"/>
                </a:schemeClr>
              </a:solidFill>
            </a:endParaRPr>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624108" y="2978996"/>
            <a:ext cx="6480073" cy="360005"/>
            <a:chOff x="611956" y="3699003"/>
            <a:chExt cx="6480073" cy="360005"/>
          </a:xfrm>
        </p:grpSpPr>
        <p:sp>
          <p:nvSpPr>
            <p:cNvPr id="90" name="角丸四角形 89"/>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0" y="2817094"/>
            <a:ext cx="3017685"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3592150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7 1.85185E-6 L 0.1181 1.85185E-6 " pathEditMode="relative" rAng="0" ptsTypes="AA">
                                      <p:cBhvr>
                                        <p:cTn id="6" dur="1000" fill="hold"/>
                                        <p:tgtEl>
                                          <p:spTgt spid="6"/>
                                        </p:tgtEl>
                                        <p:attrNameLst>
                                          <p:attrName>ppt_x</p:attrName>
                                          <p:attrName>ppt_y</p:attrName>
                                        </p:attrNameLst>
                                      </p:cBhvr>
                                      <p:rCtr x="5898"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181 1.85185E-6 L 0.22891 1.85185E-6 " pathEditMode="relative" rAng="0" ptsTypes="AA">
                                      <p:cBhvr>
                                        <p:cTn id="10" dur="1000" fill="hold"/>
                                        <p:tgtEl>
                                          <p:spTgt spid="6"/>
                                        </p:tgtEl>
                                        <p:attrNameLst>
                                          <p:attrName>ppt_x</p:attrName>
                                          <p:attrName>ppt_y</p:attrName>
                                        </p:attrNameLst>
                                      </p:cBhvr>
                                      <p:rCtr x="553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22891 1.85185E-6 L 0.3543 1.85185E-6 " pathEditMode="relative" rAng="0" ptsTypes="AA">
                                      <p:cBhvr>
                                        <p:cTn id="14" dur="1000" fill="hold"/>
                                        <p:tgtEl>
                                          <p:spTgt spid="6"/>
                                        </p:tgtEl>
                                        <p:attrNameLst>
                                          <p:attrName>ppt_x</p:attrName>
                                          <p:attrName>ppt_y</p:attrName>
                                        </p:attrNameLst>
                                      </p:cBhvr>
                                      <p:rCtr x="5898"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3543 1.85185E-6 L 0.4724 1.85185E-6 " pathEditMode="relative" rAng="0" ptsTypes="AA">
                                      <p:cBhvr>
                                        <p:cTn id="18" dur="1000" fill="hold"/>
                                        <p:tgtEl>
                                          <p:spTgt spid="6"/>
                                        </p:tgtEl>
                                        <p:attrNameLst>
                                          <p:attrName>ppt_x</p:attrName>
                                          <p:attrName>ppt_y</p:attrName>
                                        </p:attrNameLst>
                                      </p:cBhvr>
                                      <p:rCtr x="58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 name="直線コネクタ 92"/>
          <p:cNvCxnSpPr/>
          <p:nvPr/>
        </p:nvCxnSpPr>
        <p:spPr bwMode="auto">
          <a:xfrm flipH="1">
            <a:off x="8436032" y="3338999"/>
            <a:ext cx="360003" cy="0"/>
          </a:xfrm>
          <a:prstGeom prst="line">
            <a:avLst/>
          </a:prstGeom>
          <a:noFill/>
          <a:ln w="9525" cap="flat" cmpd="sng" algn="ctr">
            <a:solidFill>
              <a:schemeClr val="tx1"/>
            </a:solidFill>
            <a:prstDash val="dash"/>
            <a:round/>
            <a:headEnd type="none" w="med" len="med"/>
            <a:tailEnd type="none" w="med" len="med"/>
          </a:ln>
          <a:effectLst/>
        </p:spPr>
      </p:cxnSp>
      <p:cxnSp>
        <p:nvCxnSpPr>
          <p:cNvPr id="89" name="直線コネクタ 88"/>
          <p:cNvCxnSpPr/>
          <p:nvPr/>
        </p:nvCxnSpPr>
        <p:spPr bwMode="auto">
          <a:xfrm>
            <a:off x="6456009" y="2618991"/>
            <a:ext cx="450005" cy="0"/>
          </a:xfrm>
          <a:prstGeom prst="line">
            <a:avLst/>
          </a:prstGeom>
          <a:noFill/>
          <a:ln w="9525" cap="flat" cmpd="sng" algn="ctr">
            <a:solidFill>
              <a:schemeClr val="tx1"/>
            </a:solidFill>
            <a:prstDash val="dash"/>
            <a:round/>
            <a:headEnd type="none" w="med" len="med"/>
            <a:tailEnd type="none" w="med" len="med"/>
          </a:ln>
          <a:effectLst/>
        </p:spPr>
      </p:cxnSp>
      <p:cxnSp>
        <p:nvCxnSpPr>
          <p:cNvPr id="86" name="直線コネクタ 85"/>
          <p:cNvCxnSpPr/>
          <p:nvPr/>
        </p:nvCxnSpPr>
        <p:spPr bwMode="auto">
          <a:xfrm>
            <a:off x="4655989" y="1988984"/>
            <a:ext cx="450005"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パイプライン化による性能向上</a:t>
            </a:r>
            <a:endParaRPr kumimoji="1" lang="ja-JP" altLang="en-US" dirty="0"/>
          </a:p>
        </p:txBody>
      </p:sp>
      <p:grpSp>
        <p:nvGrpSpPr>
          <p:cNvPr id="5" name="グループ化 4"/>
          <p:cNvGrpSpPr/>
          <p:nvPr/>
        </p:nvGrpSpPr>
        <p:grpSpPr>
          <a:xfrm>
            <a:off x="2729869" y="1845004"/>
            <a:ext cx="2073428" cy="431940"/>
            <a:chOff x="971600" y="5445224"/>
            <a:chExt cx="7256909" cy="576064"/>
          </a:xfrm>
        </p:grpSpPr>
        <p:sp>
          <p:nvSpPr>
            <p:cNvPr id="6" name="平行四辺形 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7" name="平行四辺形 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cxnSp>
        <p:nvCxnSpPr>
          <p:cNvPr id="96" name="直線矢印コネクタ 95"/>
          <p:cNvCxnSpPr/>
          <p:nvPr/>
        </p:nvCxnSpPr>
        <p:spPr bwMode="auto">
          <a:xfrm>
            <a:off x="2225957" y="1628980"/>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98" name="直線コネクタ 97"/>
          <p:cNvCxnSpPr/>
          <p:nvPr/>
        </p:nvCxnSpPr>
        <p:spPr bwMode="auto">
          <a:xfrm>
            <a:off x="5555994" y="5859027"/>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99" name="直線コネクタ 98"/>
          <p:cNvCxnSpPr/>
          <p:nvPr/>
        </p:nvCxnSpPr>
        <p:spPr bwMode="auto">
          <a:xfrm flipV="1">
            <a:off x="4835986" y="4599013"/>
            <a:ext cx="360004" cy="4708"/>
          </a:xfrm>
          <a:prstGeom prst="line">
            <a:avLst/>
          </a:prstGeom>
          <a:noFill/>
          <a:ln w="9525" cap="flat" cmpd="sng" algn="ctr">
            <a:solidFill>
              <a:schemeClr val="tx1"/>
            </a:solidFill>
            <a:prstDash val="dash"/>
            <a:round/>
            <a:headEnd type="none" w="med" len="med"/>
            <a:tailEnd type="none" w="med" len="med"/>
          </a:ln>
          <a:effectLst/>
        </p:spPr>
      </p:cxnSp>
      <p:cxnSp>
        <p:nvCxnSpPr>
          <p:cNvPr id="100" name="直線コネクタ 99"/>
          <p:cNvCxnSpPr/>
          <p:nvPr/>
        </p:nvCxnSpPr>
        <p:spPr bwMode="auto">
          <a:xfrm>
            <a:off x="5195990" y="5229020"/>
            <a:ext cx="360004" cy="0"/>
          </a:xfrm>
          <a:prstGeom prst="line">
            <a:avLst/>
          </a:prstGeom>
          <a:noFill/>
          <a:ln w="9525" cap="flat" cmpd="sng" algn="ctr">
            <a:solidFill>
              <a:schemeClr val="tx1"/>
            </a:solidFill>
            <a:prstDash val="dash"/>
            <a:round/>
            <a:headEnd type="none" w="med" len="med"/>
            <a:tailEnd type="none" w="med" len="med"/>
          </a:ln>
          <a:effectLst/>
        </p:spPr>
      </p:cxnSp>
      <p:cxnSp>
        <p:nvCxnSpPr>
          <p:cNvPr id="143" name="直線矢印コネクタ 142"/>
          <p:cNvCxnSpPr/>
          <p:nvPr/>
        </p:nvCxnSpPr>
        <p:spPr bwMode="auto">
          <a:xfrm>
            <a:off x="2153949" y="4221268"/>
            <a:ext cx="6480720"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61"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45960" y="378900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grpSp>
        <p:nvGrpSpPr>
          <p:cNvPr id="172" name="グループ化 171"/>
          <p:cNvGrpSpPr/>
          <p:nvPr/>
        </p:nvGrpSpPr>
        <p:grpSpPr>
          <a:xfrm>
            <a:off x="2766256" y="4437148"/>
            <a:ext cx="2091745" cy="360040"/>
            <a:chOff x="1832183" y="2276872"/>
            <a:chExt cx="2091745" cy="360040"/>
          </a:xfrm>
        </p:grpSpPr>
        <p:grpSp>
          <p:nvGrpSpPr>
            <p:cNvPr id="173" name="グループ化 172"/>
            <p:cNvGrpSpPr/>
            <p:nvPr/>
          </p:nvGrpSpPr>
          <p:grpSpPr>
            <a:xfrm>
              <a:off x="1832183" y="2276872"/>
              <a:ext cx="576064" cy="360040"/>
              <a:chOff x="971600" y="5445224"/>
              <a:chExt cx="7256909" cy="576064"/>
            </a:xfrm>
          </p:grpSpPr>
          <p:sp>
            <p:nvSpPr>
              <p:cNvPr id="183" name="平行四辺形 182"/>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4" name="平行四辺形 183"/>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4" name="グループ化 173"/>
            <p:cNvGrpSpPr/>
            <p:nvPr/>
          </p:nvGrpSpPr>
          <p:grpSpPr>
            <a:xfrm>
              <a:off x="2336239" y="2276872"/>
              <a:ext cx="571610" cy="360040"/>
              <a:chOff x="683976" y="5445224"/>
              <a:chExt cx="7200800" cy="576064"/>
            </a:xfrm>
          </p:grpSpPr>
          <p:sp>
            <p:nvSpPr>
              <p:cNvPr id="181" name="平行四辺形 180"/>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2" name="平行四辺形 181"/>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5" name="グループ化 174"/>
            <p:cNvGrpSpPr/>
            <p:nvPr/>
          </p:nvGrpSpPr>
          <p:grpSpPr>
            <a:xfrm>
              <a:off x="2840295" y="2276872"/>
              <a:ext cx="571610" cy="360040"/>
              <a:chOff x="396352" y="5445224"/>
              <a:chExt cx="7200800" cy="576064"/>
            </a:xfrm>
          </p:grpSpPr>
          <p:sp>
            <p:nvSpPr>
              <p:cNvPr id="179" name="平行四辺形 178"/>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80" name="平行四辺形 179"/>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76" name="グループ化 175"/>
            <p:cNvGrpSpPr/>
            <p:nvPr/>
          </p:nvGrpSpPr>
          <p:grpSpPr>
            <a:xfrm>
              <a:off x="3344351" y="2276872"/>
              <a:ext cx="579577" cy="360040"/>
              <a:chOff x="120602" y="5445224"/>
              <a:chExt cx="7200800" cy="576064"/>
            </a:xfrm>
          </p:grpSpPr>
          <p:sp>
            <p:nvSpPr>
              <p:cNvPr id="177" name="平行四辺形 176"/>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8" name="平行四辺形 177"/>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85" name="グループ化 184"/>
          <p:cNvGrpSpPr/>
          <p:nvPr/>
        </p:nvGrpSpPr>
        <p:grpSpPr>
          <a:xfrm>
            <a:off x="3126260" y="5067155"/>
            <a:ext cx="2091745" cy="360040"/>
            <a:chOff x="1832183" y="2276872"/>
            <a:chExt cx="2091745" cy="360040"/>
          </a:xfrm>
        </p:grpSpPr>
        <p:grpSp>
          <p:nvGrpSpPr>
            <p:cNvPr id="186" name="グループ化 185"/>
            <p:cNvGrpSpPr/>
            <p:nvPr/>
          </p:nvGrpSpPr>
          <p:grpSpPr>
            <a:xfrm>
              <a:off x="1832183" y="2276872"/>
              <a:ext cx="576064" cy="360040"/>
              <a:chOff x="971600" y="5445224"/>
              <a:chExt cx="7256909" cy="576064"/>
            </a:xfrm>
          </p:grpSpPr>
          <p:sp>
            <p:nvSpPr>
              <p:cNvPr id="196" name="平行四辺形 195"/>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7" name="平行四辺形 196"/>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7" name="グループ化 186"/>
            <p:cNvGrpSpPr/>
            <p:nvPr/>
          </p:nvGrpSpPr>
          <p:grpSpPr>
            <a:xfrm>
              <a:off x="2336239" y="2276872"/>
              <a:ext cx="571610" cy="360040"/>
              <a:chOff x="683976" y="5445224"/>
              <a:chExt cx="7200800" cy="576064"/>
            </a:xfrm>
          </p:grpSpPr>
          <p:sp>
            <p:nvSpPr>
              <p:cNvPr id="194" name="平行四辺形 193"/>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5" name="平行四辺形 194"/>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8" name="グループ化 187"/>
            <p:cNvGrpSpPr/>
            <p:nvPr/>
          </p:nvGrpSpPr>
          <p:grpSpPr>
            <a:xfrm>
              <a:off x="2840295" y="2276872"/>
              <a:ext cx="571610" cy="360040"/>
              <a:chOff x="396352" y="5445224"/>
              <a:chExt cx="7200800" cy="576064"/>
            </a:xfrm>
          </p:grpSpPr>
          <p:sp>
            <p:nvSpPr>
              <p:cNvPr id="192" name="平行四辺形 191"/>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3" name="平行四辺形 192"/>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89" name="グループ化 188"/>
            <p:cNvGrpSpPr/>
            <p:nvPr/>
          </p:nvGrpSpPr>
          <p:grpSpPr>
            <a:xfrm>
              <a:off x="3344351" y="2276872"/>
              <a:ext cx="579577" cy="360040"/>
              <a:chOff x="120602" y="5445224"/>
              <a:chExt cx="7200800" cy="576064"/>
            </a:xfrm>
          </p:grpSpPr>
          <p:sp>
            <p:nvSpPr>
              <p:cNvPr id="190" name="平行四辺形 189"/>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91" name="平行四辺形 190"/>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grpSp>
        <p:nvGrpSpPr>
          <p:cNvPr id="198" name="グループ化 197"/>
          <p:cNvGrpSpPr/>
          <p:nvPr/>
        </p:nvGrpSpPr>
        <p:grpSpPr>
          <a:xfrm>
            <a:off x="3486264" y="5697162"/>
            <a:ext cx="2091745" cy="360040"/>
            <a:chOff x="1832183" y="2276872"/>
            <a:chExt cx="2091745" cy="360040"/>
          </a:xfrm>
        </p:grpSpPr>
        <p:grpSp>
          <p:nvGrpSpPr>
            <p:cNvPr id="199" name="グループ化 198"/>
            <p:cNvGrpSpPr/>
            <p:nvPr/>
          </p:nvGrpSpPr>
          <p:grpSpPr>
            <a:xfrm>
              <a:off x="1832183" y="2276872"/>
              <a:ext cx="576064" cy="360040"/>
              <a:chOff x="971600" y="5445224"/>
              <a:chExt cx="7256909" cy="576064"/>
            </a:xfrm>
          </p:grpSpPr>
          <p:sp>
            <p:nvSpPr>
              <p:cNvPr id="209" name="平行四辺形 208"/>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10" name="平行四辺形 209"/>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0" name="グループ化 199"/>
            <p:cNvGrpSpPr/>
            <p:nvPr/>
          </p:nvGrpSpPr>
          <p:grpSpPr>
            <a:xfrm>
              <a:off x="2336239" y="2276872"/>
              <a:ext cx="571610" cy="360040"/>
              <a:chOff x="683976" y="5445224"/>
              <a:chExt cx="7200800" cy="576064"/>
            </a:xfrm>
          </p:grpSpPr>
          <p:sp>
            <p:nvSpPr>
              <p:cNvPr id="207" name="平行四辺形 206"/>
              <p:cNvSpPr/>
              <p:nvPr/>
            </p:nvSpPr>
            <p:spPr bwMode="auto">
              <a:xfrm>
                <a:off x="683976"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8" name="平行四辺形 207"/>
              <p:cNvSpPr/>
              <p:nvPr/>
            </p:nvSpPr>
            <p:spPr bwMode="auto">
              <a:xfrm>
                <a:off x="683976"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1" name="グループ化 200"/>
            <p:cNvGrpSpPr/>
            <p:nvPr/>
          </p:nvGrpSpPr>
          <p:grpSpPr>
            <a:xfrm>
              <a:off x="2840295" y="2276872"/>
              <a:ext cx="571610" cy="360040"/>
              <a:chOff x="396352" y="5445224"/>
              <a:chExt cx="7200800" cy="576064"/>
            </a:xfrm>
          </p:grpSpPr>
          <p:sp>
            <p:nvSpPr>
              <p:cNvPr id="205" name="平行四辺形 204"/>
              <p:cNvSpPr/>
              <p:nvPr/>
            </p:nvSpPr>
            <p:spPr bwMode="auto">
              <a:xfrm>
                <a:off x="396352"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6" name="平行四辺形 205"/>
              <p:cNvSpPr/>
              <p:nvPr/>
            </p:nvSpPr>
            <p:spPr bwMode="auto">
              <a:xfrm>
                <a:off x="39635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02" name="グループ化 201"/>
            <p:cNvGrpSpPr/>
            <p:nvPr/>
          </p:nvGrpSpPr>
          <p:grpSpPr>
            <a:xfrm>
              <a:off x="3344351" y="2276872"/>
              <a:ext cx="579577" cy="360040"/>
              <a:chOff x="120602" y="5445224"/>
              <a:chExt cx="7200800" cy="576064"/>
            </a:xfrm>
          </p:grpSpPr>
          <p:sp>
            <p:nvSpPr>
              <p:cNvPr id="203" name="平行四辺形 202"/>
              <p:cNvSpPr/>
              <p:nvPr/>
            </p:nvSpPr>
            <p:spPr bwMode="auto">
              <a:xfrm>
                <a:off x="120602"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04" name="平行四辺形 203"/>
              <p:cNvSpPr/>
              <p:nvPr/>
            </p:nvSpPr>
            <p:spPr bwMode="auto">
              <a:xfrm>
                <a:off x="120602"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sp>
        <p:nvSpPr>
          <p:cNvPr id="212" name="角丸四角形 211"/>
          <p:cNvSpPr/>
          <p:nvPr/>
        </p:nvSpPr>
        <p:spPr bwMode="auto">
          <a:xfrm>
            <a:off x="5105989" y="180898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3" name="角丸四角形 212"/>
          <p:cNvSpPr/>
          <p:nvPr/>
        </p:nvSpPr>
        <p:spPr bwMode="auto">
          <a:xfrm>
            <a:off x="6906009" y="2438989"/>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4" name="角丸四角形 213"/>
          <p:cNvSpPr/>
          <p:nvPr/>
        </p:nvSpPr>
        <p:spPr bwMode="auto">
          <a:xfrm>
            <a:off x="8796030" y="315899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6" name="角丸四角形 215"/>
          <p:cNvSpPr/>
          <p:nvPr/>
        </p:nvSpPr>
        <p:spPr bwMode="auto">
          <a:xfrm>
            <a:off x="5195990" y="4419011"/>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7" name="角丸四角形 216"/>
          <p:cNvSpPr/>
          <p:nvPr/>
        </p:nvSpPr>
        <p:spPr bwMode="auto">
          <a:xfrm>
            <a:off x="5555994" y="5049018"/>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18" name="角丸四角形 217"/>
          <p:cNvSpPr/>
          <p:nvPr/>
        </p:nvSpPr>
        <p:spPr bwMode="auto">
          <a:xfrm>
            <a:off x="5915998" y="5679025"/>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nvGrpSpPr>
          <p:cNvPr id="97" name="グループ化 96"/>
          <p:cNvGrpSpPr/>
          <p:nvPr/>
        </p:nvGrpSpPr>
        <p:grpSpPr>
          <a:xfrm>
            <a:off x="4529889" y="2456946"/>
            <a:ext cx="2073428" cy="431940"/>
            <a:chOff x="971600" y="5445224"/>
            <a:chExt cx="7256909" cy="576064"/>
          </a:xfrm>
        </p:grpSpPr>
        <p:sp>
          <p:nvSpPr>
            <p:cNvPr id="101" name="平行四辺形 100"/>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2" name="平行四辺形 101"/>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3" name="グループ化 102"/>
          <p:cNvGrpSpPr/>
          <p:nvPr/>
        </p:nvGrpSpPr>
        <p:grpSpPr>
          <a:xfrm>
            <a:off x="6419910" y="3176954"/>
            <a:ext cx="2073428" cy="431940"/>
            <a:chOff x="971600" y="5445224"/>
            <a:chExt cx="7256909" cy="576064"/>
          </a:xfrm>
        </p:grpSpPr>
        <p:sp>
          <p:nvSpPr>
            <p:cNvPr id="104" name="平行四辺形 103"/>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05" name="平行四辺形 104"/>
            <p:cNvSpPr/>
            <p:nvPr/>
          </p:nvSpPr>
          <p:spPr bwMode="auto">
            <a:xfrm>
              <a:off x="971600" y="5445224"/>
              <a:ext cx="72569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06" name="正方形/長方形 105"/>
          <p:cNvSpPr/>
          <p:nvPr/>
        </p:nvSpPr>
        <p:spPr>
          <a:xfrm>
            <a:off x="7626022" y="2438989"/>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2082093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今日の内容：命令パイプライン</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lvl="1"/>
            <a:r>
              <a:rPr lang="ja-JP" altLang="en-US" dirty="0"/>
              <a:t>全ての命令の処理が１サイクルで完結</a:t>
            </a:r>
            <a:endParaRPr lang="en-US" altLang="ja-JP" dirty="0"/>
          </a:p>
          <a:p>
            <a:pPr lvl="2"/>
            <a:r>
              <a:rPr lang="ja-JP" altLang="en-US" dirty="0"/>
              <a:t>これまでに説明していたプロセッサの動作と同じ</a:t>
            </a:r>
            <a:endParaRPr lang="en-US" altLang="ja-JP" dirty="0"/>
          </a:p>
          <a:p>
            <a:pPr lvl="1"/>
            <a:r>
              <a:rPr lang="ja-JP" altLang="en-US" dirty="0"/>
              <a:t>パイプライン化を前提とした，より詳細なものを使って復習</a:t>
            </a:r>
            <a:endParaRPr lang="en-US" altLang="ja-JP" dirty="0"/>
          </a:p>
          <a:p>
            <a:pPr marL="457200" indent="-457200">
              <a:buFont typeface="+mj-lt"/>
              <a:buAutoNum type="arabicPeriod"/>
            </a:pPr>
            <a:r>
              <a:rPr kumimoji="1" lang="ja-JP" altLang="en-US" dirty="0"/>
              <a:t>上記のパイプライン化</a:t>
            </a:r>
            <a:endParaRPr kumimoji="1" lang="en-US" altLang="ja-JP" dirty="0"/>
          </a:p>
          <a:p>
            <a:pPr lvl="1"/>
            <a:r>
              <a:rPr kumimoji="1" lang="ja-JP" altLang="en-US" dirty="0"/>
              <a:t>具体的にどうパイプライン化するか</a:t>
            </a:r>
            <a:endParaRPr kumimoji="1" lang="en-US" altLang="ja-JP" dirty="0"/>
          </a:p>
          <a:p>
            <a:pPr marL="457200" indent="-457200">
              <a:buFont typeface="+mj-lt"/>
              <a:buAutoNum type="arabicPeriod"/>
            </a:pPr>
            <a:r>
              <a:rPr kumimoji="1" lang="ja-JP" altLang="en-US" dirty="0"/>
              <a:t>パイプライン化の性能への影響</a:t>
            </a:r>
          </a:p>
        </p:txBody>
      </p:sp>
    </p:spTree>
    <p:extLst>
      <p:ext uri="{BB962C8B-B14F-4D97-AF65-F5344CB8AC3E}">
        <p14:creationId xmlns:p14="http://schemas.microsoft.com/office/powerpoint/2010/main" val="4030959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b="1" dirty="0"/>
              <a:t>シングル・サイクル・プロセッサの動作</a:t>
            </a:r>
          </a:p>
        </p:txBody>
      </p:sp>
    </p:spTree>
    <p:extLst>
      <p:ext uri="{BB962C8B-B14F-4D97-AF65-F5344CB8AC3E}">
        <p14:creationId xmlns:p14="http://schemas.microsoft.com/office/powerpoint/2010/main" val="334710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b="1" dirty="0"/>
              <a:t>シングル・サイクル・プロセッサの動作</a:t>
            </a:r>
            <a:endParaRPr kumimoji="1" lang="en-US" altLang="ja-JP" b="1" dirty="0"/>
          </a:p>
          <a:p>
            <a:pPr marL="457200" indent="-457200">
              <a:buFont typeface="+mj-lt"/>
              <a:buAutoNum type="arabicPeriod"/>
            </a:pPr>
            <a:r>
              <a:rPr kumimoji="1" lang="ja-JP" altLang="en-US" dirty="0"/>
              <a:t>上記のパイプライン化</a:t>
            </a:r>
            <a:endParaRPr kumimoji="1" lang="en-US" altLang="ja-JP" dirty="0"/>
          </a:p>
          <a:p>
            <a:pPr marL="457200" indent="-457200">
              <a:buFont typeface="+mj-lt"/>
              <a:buAutoNum type="arabicPeriod"/>
            </a:pPr>
            <a:r>
              <a:rPr kumimoji="1" lang="ja-JP" altLang="en-US" dirty="0"/>
              <a:t>パイプライン化の性能への影響</a:t>
            </a:r>
          </a:p>
        </p:txBody>
      </p:sp>
    </p:spTree>
    <p:extLst>
      <p:ext uri="{BB962C8B-B14F-4D97-AF65-F5344CB8AC3E}">
        <p14:creationId xmlns:p14="http://schemas.microsoft.com/office/powerpoint/2010/main" val="233841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これまでに説明した </a:t>
            </a:r>
            <a:r>
              <a:rPr kumimoji="1" lang="en-US" altLang="ja-JP" dirty="0"/>
              <a:t>CPU </a:t>
            </a:r>
            <a:r>
              <a:rPr kumimoji="1" lang="ja-JP" altLang="en-US" dirty="0"/>
              <a:t>のイメージ</a:t>
            </a:r>
          </a:p>
        </p:txBody>
      </p:sp>
      <p:sp>
        <p:nvSpPr>
          <p:cNvPr id="3" name="コンテンツ プレースホルダー 2"/>
          <p:cNvSpPr>
            <a:spLocks noGrp="1"/>
          </p:cNvSpPr>
          <p:nvPr>
            <p:ph type="body" sz="quarter" idx="10"/>
          </p:nvPr>
        </p:nvSpPr>
        <p:spPr>
          <a:xfrm>
            <a:off x="2045955" y="1358977"/>
            <a:ext cx="7848600" cy="4903788"/>
          </a:xfrm>
          <a:prstGeom prst="rect">
            <a:avLst/>
          </a:prstGeom>
        </p:spPr>
        <p:txBody>
          <a:bodyPr/>
          <a:lstStyle/>
          <a:p>
            <a:r>
              <a:rPr kumimoji="1" lang="ja-JP" altLang="en-US" dirty="0"/>
              <a:t>コンピュータの心臓部</a:t>
            </a:r>
            <a:endParaRPr kumimoji="1" lang="en-US" altLang="ja-JP" dirty="0"/>
          </a:p>
          <a:p>
            <a:pPr lvl="1"/>
            <a:r>
              <a:rPr lang="ja-JP" altLang="en-US" dirty="0"/>
              <a:t>メモリから命令を読み出し，計算する</a:t>
            </a:r>
            <a:endParaRPr lang="en-US" altLang="ja-JP" dirty="0"/>
          </a:p>
          <a:p>
            <a:r>
              <a:rPr lang="ja-JP" altLang="en-US" dirty="0"/>
              <a:t>構成要素：</a:t>
            </a:r>
            <a:endParaRPr lang="en-US" altLang="ja-JP" dirty="0"/>
          </a:p>
          <a:p>
            <a:pPr lvl="1"/>
            <a:r>
              <a:rPr lang="ja-JP" altLang="en-US" dirty="0">
                <a:solidFill>
                  <a:schemeClr val="accent2"/>
                </a:solidFill>
              </a:rPr>
              <a:t>演算器（</a:t>
            </a:r>
            <a:r>
              <a:rPr lang="en-US" altLang="ja-JP" dirty="0">
                <a:solidFill>
                  <a:schemeClr val="accent2"/>
                </a:solidFill>
              </a:rPr>
              <a:t>FU: Functional Unit</a:t>
            </a:r>
            <a:r>
              <a:rPr lang="ja-JP" altLang="en-US" dirty="0">
                <a:solidFill>
                  <a:schemeClr val="accent2"/>
                </a:solidFill>
              </a:rPr>
              <a:t>）</a:t>
            </a:r>
            <a:endParaRPr lang="en-US" altLang="ja-JP" dirty="0">
              <a:solidFill>
                <a:schemeClr val="accent2"/>
              </a:solidFill>
            </a:endParaRPr>
          </a:p>
          <a:p>
            <a:pPr lvl="2"/>
            <a:r>
              <a:rPr lang="ja-JP" altLang="en-US" dirty="0"/>
              <a:t>加算器や </a:t>
            </a:r>
            <a:r>
              <a:rPr lang="en-US" altLang="ja-JP" dirty="0"/>
              <a:t>AND </a:t>
            </a:r>
            <a:r>
              <a:rPr lang="ja-JP" altLang="en-US" dirty="0"/>
              <a:t>演算器など</a:t>
            </a:r>
            <a:endParaRPr lang="en-US" altLang="ja-JP" dirty="0"/>
          </a:p>
          <a:p>
            <a:pPr lvl="2"/>
            <a:r>
              <a:rPr lang="ja-JP" altLang="en-US" dirty="0"/>
              <a:t>指示された種類の演算を行う</a:t>
            </a:r>
            <a:endParaRPr lang="en-US" altLang="ja-JP" dirty="0"/>
          </a:p>
          <a:p>
            <a:pPr lvl="1"/>
            <a:r>
              <a:rPr lang="ja-JP" altLang="en-US" dirty="0">
                <a:solidFill>
                  <a:schemeClr val="accent1"/>
                </a:solidFill>
              </a:rPr>
              <a:t>レジスタ・ファイル（右図では </a:t>
            </a:r>
            <a:r>
              <a:rPr lang="en-US" altLang="ja-JP" dirty="0">
                <a:solidFill>
                  <a:schemeClr val="accent1"/>
                </a:solidFill>
              </a:rPr>
              <a:t>A,B,C…</a:t>
            </a:r>
            <a:r>
              <a:rPr lang="ja-JP" altLang="en-US" dirty="0">
                <a:solidFill>
                  <a:schemeClr val="accent1"/>
                </a:solidFill>
              </a:rPr>
              <a:t>）</a:t>
            </a:r>
            <a:endParaRPr lang="en-US" altLang="ja-JP" dirty="0">
              <a:solidFill>
                <a:schemeClr val="accent1"/>
              </a:solidFill>
            </a:endParaRPr>
          </a:p>
          <a:p>
            <a:pPr lvl="2"/>
            <a:r>
              <a:rPr lang="ja-JP" altLang="en-US" dirty="0"/>
              <a:t>メモリと同様にデータを記憶する</a:t>
            </a:r>
            <a:endParaRPr lang="en-US" altLang="ja-JP" dirty="0"/>
          </a:p>
          <a:p>
            <a:pPr lvl="3"/>
            <a:r>
              <a:rPr lang="ja-JP" altLang="en-US" dirty="0"/>
              <a:t>位置を指定して読み書きする</a:t>
            </a:r>
            <a:endParaRPr lang="en-US" altLang="ja-JP" dirty="0"/>
          </a:p>
          <a:p>
            <a:pPr lvl="2"/>
            <a:r>
              <a:rPr lang="en-US" altLang="ja-JP" dirty="0"/>
              <a:t>CPU </a:t>
            </a:r>
            <a:r>
              <a:rPr lang="ja-JP" altLang="en-US" dirty="0"/>
              <a:t>の演算は，このレジスタ上でのみ行う</a:t>
            </a:r>
            <a:endParaRPr lang="en-US" altLang="ja-JP" dirty="0"/>
          </a:p>
          <a:p>
            <a:pPr lvl="1"/>
            <a:r>
              <a:rPr lang="en-US" altLang="ja-JP" dirty="0">
                <a:solidFill>
                  <a:schemeClr val="accent5"/>
                </a:solidFill>
              </a:rPr>
              <a:t>PC</a:t>
            </a:r>
            <a:r>
              <a:rPr lang="ja-JP" altLang="en-US" dirty="0">
                <a:solidFill>
                  <a:schemeClr val="accent5"/>
                </a:solidFill>
              </a:rPr>
              <a:t>（</a:t>
            </a:r>
            <a:r>
              <a:rPr lang="en-US" altLang="ja-JP" dirty="0">
                <a:solidFill>
                  <a:schemeClr val="accent5"/>
                </a:solidFill>
              </a:rPr>
              <a:t>Program Counter</a:t>
            </a:r>
            <a:r>
              <a:rPr lang="ja-JP" altLang="en-US" dirty="0">
                <a:solidFill>
                  <a:schemeClr val="accent5"/>
                </a:solidFill>
              </a:rPr>
              <a:t>）</a:t>
            </a:r>
            <a:endParaRPr lang="en-US" altLang="ja-JP" dirty="0">
              <a:solidFill>
                <a:schemeClr val="accent5"/>
              </a:solidFill>
            </a:endParaRPr>
          </a:p>
          <a:p>
            <a:pPr lvl="2"/>
            <a:r>
              <a:rPr lang="ja-JP" altLang="en-US" dirty="0"/>
              <a:t>現在見ている命令のアドレスを記憶している場所</a:t>
            </a:r>
            <a:endParaRPr lang="en-US" altLang="ja-JP" dirty="0"/>
          </a:p>
        </p:txBody>
      </p:sp>
      <p:sp>
        <p:nvSpPr>
          <p:cNvPr id="5" name="正方形/長方形 4"/>
          <p:cNvSpPr/>
          <p:nvPr/>
        </p:nvSpPr>
        <p:spPr bwMode="auto">
          <a:xfrm>
            <a:off x="8976032" y="1988984"/>
            <a:ext cx="1440016" cy="2880032"/>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9246035"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A</a:t>
            </a:r>
            <a:endParaRPr lang="ja-JP" altLang="en-US" dirty="0">
              <a:latin typeface="メイリオ" panose="020B0604030504040204" pitchFamily="50" charset="-128"/>
              <a:ea typeface="メイリオ" panose="020B0604030504040204" pitchFamily="50" charset="-128"/>
            </a:endParaRPr>
          </a:p>
        </p:txBody>
      </p:sp>
      <p:sp>
        <p:nvSpPr>
          <p:cNvPr id="7" name="正方形/長方形 6"/>
          <p:cNvSpPr/>
          <p:nvPr/>
        </p:nvSpPr>
        <p:spPr bwMode="auto">
          <a:xfrm>
            <a:off x="9876042" y="2528990"/>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9246035"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B</a:t>
            </a:r>
            <a:endParaRPr lang="ja-JP" altLang="en-US" dirty="0">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9246035"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C</a:t>
            </a:r>
            <a:endParaRPr lang="ja-JP" altLang="en-US" dirty="0">
              <a:latin typeface="メイリオ" panose="020B0604030504040204" pitchFamily="50" charset="-128"/>
              <a:ea typeface="メイリオ" panose="020B0604030504040204" pitchFamily="50" charset="-128"/>
            </a:endParaRPr>
          </a:p>
        </p:txBody>
      </p:sp>
      <p:sp>
        <p:nvSpPr>
          <p:cNvPr id="10" name="正方形/長方形 9"/>
          <p:cNvSpPr/>
          <p:nvPr/>
        </p:nvSpPr>
        <p:spPr bwMode="auto">
          <a:xfrm>
            <a:off x="9246035"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D</a:t>
            </a:r>
            <a:endParaRPr lang="ja-JP" altLang="en-US" dirty="0">
              <a:latin typeface="メイリオ" panose="020B0604030504040204" pitchFamily="50" charset="-128"/>
              <a:ea typeface="メイリオ" panose="020B0604030504040204" pitchFamily="50" charset="-128"/>
            </a:endParaRPr>
          </a:p>
        </p:txBody>
      </p:sp>
      <p:sp>
        <p:nvSpPr>
          <p:cNvPr id="12" name="フローチャート: 手作業 11"/>
          <p:cNvSpPr/>
          <p:nvPr/>
        </p:nvSpPr>
        <p:spPr bwMode="auto">
          <a:xfrm rot="16200000">
            <a:off x="9598844" y="3796199"/>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9246035"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E</a:t>
            </a: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9246035" y="432901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F</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48824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lvl="2"/>
            <a:r>
              <a:rPr lang="ja-JP" altLang="en-US" sz="2800" b="1" dirty="0">
                <a:solidFill>
                  <a:schemeClr val="bg1"/>
                </a:solidFill>
                <a:latin typeface="メイリオ" panose="020B0604030504040204" pitchFamily="50" charset="-128"/>
                <a:ea typeface="メイリオ" panose="020B0604030504040204" pitchFamily="50" charset="-128"/>
              </a:rPr>
              <a:t>これまでに説明した </a:t>
            </a:r>
            <a:r>
              <a:rPr lang="en-US" altLang="ja-JP" sz="2800" b="1" dirty="0">
                <a:solidFill>
                  <a:schemeClr val="bg1"/>
                </a:solidFill>
                <a:latin typeface="メイリオ" panose="020B0604030504040204" pitchFamily="50" charset="-128"/>
                <a:ea typeface="メイリオ" panose="020B0604030504040204" pitchFamily="50" charset="-128"/>
              </a:rPr>
              <a:t>CPU </a:t>
            </a:r>
            <a:r>
              <a:rPr lang="ja-JP" altLang="en-US" sz="2800" b="1" dirty="0">
                <a:solidFill>
                  <a:schemeClr val="bg1"/>
                </a:solidFill>
                <a:latin typeface="メイリオ" panose="020B0604030504040204" pitchFamily="50" charset="-128"/>
                <a:ea typeface="メイリオ" panose="020B0604030504040204" pitchFamily="50" charset="-128"/>
              </a:rPr>
              <a:t>のイメージ</a:t>
            </a:r>
          </a:p>
        </p:txBody>
      </p:sp>
      <p:sp>
        <p:nvSpPr>
          <p:cNvPr id="3" name="コンテンツ プレースホルダー 2"/>
          <p:cNvSpPr>
            <a:spLocks noGrp="1"/>
          </p:cNvSpPr>
          <p:nvPr>
            <p:ph type="body" sz="quarter" idx="10"/>
          </p:nvPr>
        </p:nvSpPr>
        <p:spPr>
          <a:xfrm>
            <a:off x="1775952" y="1178975"/>
            <a:ext cx="5040056" cy="4903788"/>
          </a:xfrm>
          <a:prstGeom prst="rect">
            <a:avLst/>
          </a:prstGeom>
        </p:spPr>
        <p:txBody>
          <a:bodyPr/>
          <a:lstStyle/>
          <a:p>
            <a:pPr marL="457200" indent="-457200">
              <a:buFont typeface="+mj-lt"/>
              <a:buAutoNum type="arabicPeriod"/>
            </a:pPr>
            <a:r>
              <a:rPr lang="en-US" altLang="ja-JP" dirty="0"/>
              <a:t>PC</a:t>
            </a:r>
            <a:r>
              <a:rPr lang="ja-JP" altLang="en-US" dirty="0"/>
              <a:t> が指している命令の番地を読む</a:t>
            </a:r>
            <a:endParaRPr lang="en-US" altLang="ja-JP" dirty="0"/>
          </a:p>
          <a:p>
            <a:pPr marL="817200" lvl="1" indent="-457200">
              <a:buFont typeface="+mj-lt"/>
              <a:buAutoNum type="arabicPeriod"/>
            </a:pPr>
            <a:r>
              <a:rPr lang="ja-JP" altLang="en-US" dirty="0"/>
              <a:t>今はアドレス０を指している</a:t>
            </a:r>
            <a:endParaRPr lang="en-US" altLang="ja-JP" dirty="0"/>
          </a:p>
          <a:p>
            <a:pPr marL="457200" indent="-457200">
              <a:buFont typeface="+mj-lt"/>
              <a:buAutoNum type="arabicPeriod"/>
            </a:pPr>
            <a:r>
              <a:rPr lang="ja-JP" altLang="en-US" dirty="0"/>
              <a:t>内容である </a:t>
            </a:r>
            <a:r>
              <a:rPr lang="en-US" altLang="ja-JP" dirty="0"/>
              <a:t>0235 </a:t>
            </a:r>
            <a:r>
              <a:rPr lang="ja-JP" altLang="en-US" dirty="0"/>
              <a:t>が得られる</a:t>
            </a:r>
            <a:endParaRPr lang="en-US" altLang="ja-JP" dirty="0"/>
          </a:p>
          <a:p>
            <a:pPr marL="457200" indent="-457200">
              <a:buFont typeface="+mj-lt"/>
              <a:buAutoNum type="arabicPeriod"/>
            </a:pPr>
            <a:r>
              <a:rPr lang="en-US" altLang="ja-JP" dirty="0"/>
              <a:t>CPU </a:t>
            </a:r>
            <a:r>
              <a:rPr lang="ja-JP" altLang="en-US" dirty="0"/>
              <a:t>内にもってくる</a:t>
            </a:r>
            <a:endParaRPr lang="en-US" altLang="ja-JP" dirty="0"/>
          </a:p>
        </p:txBody>
      </p:sp>
      <p:sp>
        <p:nvSpPr>
          <p:cNvPr id="5" name="正方形/長方形 4"/>
          <p:cNvSpPr/>
          <p:nvPr/>
        </p:nvSpPr>
        <p:spPr bwMode="auto">
          <a:xfrm>
            <a:off x="6186005" y="1988985"/>
            <a:ext cx="2070023" cy="3330036"/>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4" name="正方形/長方形 13"/>
          <p:cNvSpPr/>
          <p:nvPr/>
        </p:nvSpPr>
        <p:spPr bwMode="auto">
          <a:xfrm>
            <a:off x="8976032" y="1988988"/>
            <a:ext cx="1440016" cy="3330037"/>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latin typeface="メイリオ" panose="020B0604030504040204" pitchFamily="50" charset="-128"/>
              <a:ea typeface="メイリオ" panose="020B0604030504040204" pitchFamily="50" charset="-128"/>
            </a:endParaRPr>
          </a:p>
        </p:txBody>
      </p:sp>
      <p:sp>
        <p:nvSpPr>
          <p:cNvPr id="15" name="正方形/長方形 14"/>
          <p:cNvSpPr/>
          <p:nvPr/>
        </p:nvSpPr>
        <p:spPr bwMode="auto">
          <a:xfrm>
            <a:off x="8976032" y="1628980"/>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latin typeface="メイリオ" panose="020B0604030504040204" pitchFamily="50" charset="-128"/>
                <a:ea typeface="メイリオ" panose="020B0604030504040204" pitchFamily="50" charset="-128"/>
              </a:rPr>
              <a:t>メモリ</a:t>
            </a:r>
          </a:p>
        </p:txBody>
      </p:sp>
      <p:sp>
        <p:nvSpPr>
          <p:cNvPr id="18" name="正方形/長方形 17"/>
          <p:cNvSpPr/>
          <p:nvPr/>
        </p:nvSpPr>
        <p:spPr bwMode="auto">
          <a:xfrm>
            <a:off x="8976032" y="1988984"/>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
        <p:nvSpPr>
          <p:cNvPr id="19" name="正方形/長方形 18"/>
          <p:cNvSpPr/>
          <p:nvPr/>
        </p:nvSpPr>
        <p:spPr bwMode="auto">
          <a:xfrm>
            <a:off x="8976032" y="2348988"/>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1546</a:t>
            </a:r>
            <a:endParaRPr lang="ja-JP" altLang="en-US" dirty="0">
              <a:latin typeface="メイリオ" panose="020B0604030504040204" pitchFamily="50" charset="-128"/>
              <a:ea typeface="メイリオ" panose="020B0604030504040204" pitchFamily="50" charset="-128"/>
            </a:endParaRPr>
          </a:p>
        </p:txBody>
      </p:sp>
      <p:sp>
        <p:nvSpPr>
          <p:cNvPr id="20" name="正方形/長方形 19"/>
          <p:cNvSpPr/>
          <p:nvPr/>
        </p:nvSpPr>
        <p:spPr bwMode="auto">
          <a:xfrm>
            <a:off x="8976032" y="2708992"/>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1" name="正方形/長方形 20"/>
          <p:cNvSpPr/>
          <p:nvPr/>
        </p:nvSpPr>
        <p:spPr bwMode="auto">
          <a:xfrm>
            <a:off x="8976032" y="306899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a:t>
            </a:r>
            <a:endParaRPr lang="ja-JP" altLang="en-US" dirty="0">
              <a:latin typeface="メイリオ" panose="020B0604030504040204" pitchFamily="50" charset="-128"/>
              <a:ea typeface="メイリオ" panose="020B0604030504040204" pitchFamily="50" charset="-128"/>
            </a:endParaRPr>
          </a:p>
        </p:txBody>
      </p:sp>
      <p:sp>
        <p:nvSpPr>
          <p:cNvPr id="22" name="正方形/長方形 21"/>
          <p:cNvSpPr/>
          <p:nvPr/>
        </p:nvSpPr>
        <p:spPr bwMode="auto">
          <a:xfrm>
            <a:off x="6096000" y="1628980"/>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latin typeface="メイリオ" panose="020B0604030504040204" pitchFamily="50" charset="-128"/>
                <a:ea typeface="メイリオ" panose="020B0604030504040204" pitchFamily="50" charset="-128"/>
              </a:rPr>
              <a:t>CPU</a:t>
            </a:r>
            <a:endParaRPr lang="ja-JP" altLang="en-US" dirty="0">
              <a:latin typeface="メイリオ" panose="020B0604030504040204" pitchFamily="50" charset="-128"/>
              <a:ea typeface="メイリオ" panose="020B0604030504040204" pitchFamily="50" charset="-128"/>
            </a:endParaRPr>
          </a:p>
        </p:txBody>
      </p:sp>
      <p:sp>
        <p:nvSpPr>
          <p:cNvPr id="24" name="正方形/長方形 23"/>
          <p:cNvSpPr/>
          <p:nvPr/>
        </p:nvSpPr>
        <p:spPr bwMode="auto">
          <a:xfrm>
            <a:off x="8616028" y="1988984"/>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25" name="正方形/長方形 24"/>
          <p:cNvSpPr/>
          <p:nvPr/>
        </p:nvSpPr>
        <p:spPr bwMode="auto">
          <a:xfrm>
            <a:off x="8616028" y="2348988"/>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26" name="正方形/長方形 25"/>
          <p:cNvSpPr/>
          <p:nvPr/>
        </p:nvSpPr>
        <p:spPr bwMode="auto">
          <a:xfrm>
            <a:off x="8616028" y="2708992"/>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27" name="正方形/長方形 26"/>
          <p:cNvSpPr/>
          <p:nvPr/>
        </p:nvSpPr>
        <p:spPr bwMode="auto">
          <a:xfrm>
            <a:off x="8616028" y="3068996"/>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cxnSp>
        <p:nvCxnSpPr>
          <p:cNvPr id="17" name="曲線コネクタ 16"/>
          <p:cNvCxnSpPr>
            <a:endCxn id="24" idx="1"/>
          </p:cNvCxnSpPr>
          <p:nvPr/>
        </p:nvCxnSpPr>
        <p:spPr bwMode="auto">
          <a:xfrm flipV="1">
            <a:off x="7986026" y="2168986"/>
            <a:ext cx="630007" cy="180002"/>
          </a:xfrm>
          <a:prstGeom prst="curvedConnector3">
            <a:avLst/>
          </a:prstGeom>
          <a:ln>
            <a:solidFill>
              <a:srgbClr val="FF0000"/>
            </a:solidFill>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42" name="直線コネクタ 41"/>
          <p:cNvCxnSpPr>
            <a:endCxn id="73" idx="2"/>
          </p:cNvCxnSpPr>
          <p:nvPr/>
        </p:nvCxnSpPr>
        <p:spPr bwMode="auto">
          <a:xfrm flipV="1">
            <a:off x="7176012" y="5229020"/>
            <a:ext cx="0" cy="360004"/>
          </a:xfrm>
          <a:prstGeom prst="line">
            <a:avLst/>
          </a:prstGeom>
          <a:ln w="15875">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直線コネクタ 43"/>
          <p:cNvCxnSpPr/>
          <p:nvPr/>
        </p:nvCxnSpPr>
        <p:spPr bwMode="auto">
          <a:xfrm flipH="1">
            <a:off x="7176012" y="5589024"/>
            <a:ext cx="2520028" cy="0"/>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直線コネクタ 44"/>
          <p:cNvCxnSpPr/>
          <p:nvPr/>
        </p:nvCxnSpPr>
        <p:spPr bwMode="auto">
          <a:xfrm flipV="1">
            <a:off x="9696045" y="2258988"/>
            <a:ext cx="1" cy="3330036"/>
          </a:xfrm>
          <a:prstGeom prst="line">
            <a:avLst/>
          </a:prstGeom>
          <a:ln w="15875">
            <a:solidFill>
              <a:srgbClr val="FF0000"/>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8" name="正方形/長方形 47"/>
          <p:cNvSpPr/>
          <p:nvPr/>
        </p:nvSpPr>
        <p:spPr bwMode="auto">
          <a:xfrm>
            <a:off x="6276002" y="216898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A</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7266013" y="2168986"/>
            <a:ext cx="360004" cy="360004"/>
          </a:xfrm>
          <a:prstGeom prst="rect">
            <a:avLst/>
          </a:prstGeom>
          <a:noFill/>
          <a:ln>
            <a:no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PC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0" name="正方形/長方形 49"/>
          <p:cNvSpPr/>
          <p:nvPr/>
        </p:nvSpPr>
        <p:spPr bwMode="auto">
          <a:xfrm>
            <a:off x="6276002" y="2528990"/>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B</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276002" y="2888994"/>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C</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6276002" y="3248998"/>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D</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5" name="フローチャート: 手作業 54"/>
          <p:cNvSpPr/>
          <p:nvPr/>
        </p:nvSpPr>
        <p:spPr bwMode="auto">
          <a:xfrm rot="16200000">
            <a:off x="7348819" y="3076191"/>
            <a:ext cx="914400" cy="360004"/>
          </a:xfrm>
          <a:prstGeom prst="flowChartManualOperation">
            <a:avLst/>
          </a:prstGeom>
          <a:ln>
            <a:headEnd/>
            <a:tailEnd type="triangle" w="sm" len="med"/>
          </a:ln>
        </p:spPr>
        <p:style>
          <a:lnRef idx="2">
            <a:schemeClr val="accent2">
              <a:shade val="50000"/>
            </a:schemeClr>
          </a:lnRef>
          <a:fillRef idx="1">
            <a:schemeClr val="accent2"/>
          </a:fillRef>
          <a:effectRef idx="0">
            <a:schemeClr val="accent2"/>
          </a:effectRef>
          <a:fontRef idx="minor">
            <a:schemeClr val="lt1"/>
          </a:fontRef>
        </p:style>
        <p:txBody>
          <a:bodyPr vert="eaVert" rtlCol="0" anchor="ctr"/>
          <a:lstStyle/>
          <a:p>
            <a:pPr algn="ctr"/>
            <a:r>
              <a:rPr lang="en-US" altLang="ja-JP" dirty="0">
                <a:latin typeface="メイリオ" panose="020B0604030504040204" pitchFamily="50" charset="-128"/>
                <a:ea typeface="メイリオ" panose="020B0604030504040204" pitchFamily="50" charset="-128"/>
              </a:rPr>
              <a:t>FU</a:t>
            </a:r>
            <a:endParaRPr lang="ja-JP" altLang="en-US" dirty="0">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276002" y="3609002"/>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E</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6276002" y="3969006"/>
            <a:ext cx="360004" cy="360004"/>
          </a:xfrm>
          <a:prstGeom prst="rect">
            <a:avLst/>
          </a:prstGeom>
          <a:noFill/>
          <a:ln>
            <a:noFill/>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solidFill>
                <a:latin typeface="メイリオ" panose="020B0604030504040204" pitchFamily="50" charset="-128"/>
                <a:ea typeface="メイリオ" panose="020B0604030504040204" pitchFamily="50" charset="-128"/>
              </a:rPr>
              <a:t>F</a:t>
            </a:r>
            <a:endParaRPr lang="ja-JP" altLang="en-US" dirty="0">
              <a:solidFill>
                <a:schemeClr val="tx1"/>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6636006" y="216898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1</a:t>
            </a:r>
            <a:endParaRPr lang="ja-JP" altLang="en-US" dirty="0">
              <a:latin typeface="メイリオ" panose="020B0604030504040204" pitchFamily="50" charset="-128"/>
              <a:ea typeface="メイリオ" panose="020B0604030504040204" pitchFamily="50" charset="-128"/>
            </a:endParaRPr>
          </a:p>
        </p:txBody>
      </p:sp>
      <p:sp>
        <p:nvSpPr>
          <p:cNvPr id="59" name="正方形/長方形 58"/>
          <p:cNvSpPr/>
          <p:nvPr/>
        </p:nvSpPr>
        <p:spPr bwMode="auto">
          <a:xfrm>
            <a:off x="6636006" y="2528990"/>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2</a:t>
            </a:r>
            <a:endParaRPr lang="ja-JP" altLang="en-US" dirty="0">
              <a:latin typeface="メイリオ" panose="020B0604030504040204" pitchFamily="50" charset="-128"/>
              <a:ea typeface="メイリオ" panose="020B0604030504040204" pitchFamily="50" charset="-128"/>
            </a:endParaRPr>
          </a:p>
        </p:txBody>
      </p:sp>
      <p:sp>
        <p:nvSpPr>
          <p:cNvPr id="60" name="正方形/長方形 59"/>
          <p:cNvSpPr/>
          <p:nvPr/>
        </p:nvSpPr>
        <p:spPr bwMode="auto">
          <a:xfrm>
            <a:off x="6636006" y="2888994"/>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3</a:t>
            </a:r>
            <a:endParaRPr lang="ja-JP" altLang="en-US" dirty="0">
              <a:latin typeface="メイリオ" panose="020B0604030504040204" pitchFamily="50" charset="-128"/>
              <a:ea typeface="メイリオ" panose="020B0604030504040204" pitchFamily="50" charset="-128"/>
            </a:endParaRPr>
          </a:p>
        </p:txBody>
      </p:sp>
      <p:sp>
        <p:nvSpPr>
          <p:cNvPr id="61" name="正方形/長方形 60"/>
          <p:cNvSpPr/>
          <p:nvPr/>
        </p:nvSpPr>
        <p:spPr bwMode="auto">
          <a:xfrm>
            <a:off x="6636006" y="3248998"/>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2" name="正方形/長方形 61"/>
          <p:cNvSpPr/>
          <p:nvPr/>
        </p:nvSpPr>
        <p:spPr bwMode="auto">
          <a:xfrm>
            <a:off x="6636006" y="3609002"/>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3" name="正方形/長方形 62"/>
          <p:cNvSpPr/>
          <p:nvPr/>
        </p:nvSpPr>
        <p:spPr bwMode="auto">
          <a:xfrm>
            <a:off x="6636006" y="3969006"/>
            <a:ext cx="360004"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sp>
        <p:nvSpPr>
          <p:cNvPr id="64" name="正方形/長方形 63"/>
          <p:cNvSpPr/>
          <p:nvPr/>
        </p:nvSpPr>
        <p:spPr bwMode="auto">
          <a:xfrm>
            <a:off x="7626017" y="2168986"/>
            <a:ext cx="360004" cy="360004"/>
          </a:xfrm>
          <a:prstGeom prst="rect">
            <a:avLst/>
          </a:prstGeom>
          <a:ln>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latin typeface="メイリオ" panose="020B0604030504040204" pitchFamily="50" charset="-128"/>
                <a:ea typeface="メイリオ" panose="020B0604030504040204" pitchFamily="50" charset="-128"/>
              </a:rPr>
              <a:t>0</a:t>
            </a:r>
            <a:endParaRPr lang="ja-JP" altLang="en-US" dirty="0">
              <a:latin typeface="メイリオ" panose="020B0604030504040204" pitchFamily="50" charset="-128"/>
              <a:ea typeface="メイリオ" panose="020B0604030504040204" pitchFamily="50" charset="-128"/>
            </a:endParaRPr>
          </a:p>
        </p:txBody>
      </p:sp>
      <p:cxnSp>
        <p:nvCxnSpPr>
          <p:cNvPr id="65" name="直線コネクタ 64"/>
          <p:cNvCxnSpPr/>
          <p:nvPr/>
        </p:nvCxnSpPr>
        <p:spPr bwMode="auto">
          <a:xfrm>
            <a:off x="7086011"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p:cNvCxnSpPr/>
          <p:nvPr/>
        </p:nvCxnSpPr>
        <p:spPr bwMode="auto">
          <a:xfrm>
            <a:off x="7176012" y="2168986"/>
            <a:ext cx="0" cy="2160024"/>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7" name="直線コネクタ 66"/>
          <p:cNvCxnSpPr/>
          <p:nvPr/>
        </p:nvCxnSpPr>
        <p:spPr bwMode="auto">
          <a:xfrm>
            <a:off x="7086011" y="2978995"/>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8" name="直線コネクタ 67"/>
          <p:cNvCxnSpPr/>
          <p:nvPr/>
        </p:nvCxnSpPr>
        <p:spPr bwMode="auto">
          <a:xfrm>
            <a:off x="7176017" y="3519001"/>
            <a:ext cx="450005"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9" name="直線コネクタ 68"/>
          <p:cNvCxnSpPr/>
          <p:nvPr/>
        </p:nvCxnSpPr>
        <p:spPr bwMode="auto">
          <a:xfrm flipV="1">
            <a:off x="6816008" y="4419011"/>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0" name="直線コネクタ 69"/>
          <p:cNvCxnSpPr/>
          <p:nvPr/>
        </p:nvCxnSpPr>
        <p:spPr bwMode="auto">
          <a:xfrm flipH="1">
            <a:off x="6816014" y="4599013"/>
            <a:ext cx="1260013"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1" name="直線コネクタ 70"/>
          <p:cNvCxnSpPr/>
          <p:nvPr/>
        </p:nvCxnSpPr>
        <p:spPr bwMode="auto">
          <a:xfrm flipH="1">
            <a:off x="7986026" y="3248998"/>
            <a:ext cx="90001"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72" name="直線コネクタ 71"/>
          <p:cNvCxnSpPr/>
          <p:nvPr/>
        </p:nvCxnSpPr>
        <p:spPr bwMode="auto">
          <a:xfrm flipV="1">
            <a:off x="8076027" y="3249003"/>
            <a:ext cx="1" cy="1350015"/>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73" name="正方形/長方形 72"/>
          <p:cNvSpPr/>
          <p:nvPr/>
        </p:nvSpPr>
        <p:spPr bwMode="auto">
          <a:xfrm>
            <a:off x="6816008" y="4869016"/>
            <a:ext cx="720008"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メイリオ" panose="020B0604030504040204" pitchFamily="50" charset="-128"/>
                <a:ea typeface="メイリオ" panose="020B0604030504040204" pitchFamily="50" charset="-128"/>
              </a:rPr>
              <a:t>0235</a:t>
            </a:r>
            <a:endParaRPr lang="ja-JP" altLang="en-US"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5127082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これまでに説明した </a:t>
            </a:r>
            <a:r>
              <a:rPr kumimoji="1" lang="en-US" altLang="ja-JP" dirty="0"/>
              <a:t>RISC-V (32bit) </a:t>
            </a:r>
            <a:r>
              <a:rPr kumimoji="1" lang="ja-JP" altLang="en-US" dirty="0"/>
              <a:t>のイメージ</a:t>
            </a:r>
          </a:p>
        </p:txBody>
      </p:sp>
      <p:sp>
        <p:nvSpPr>
          <p:cNvPr id="13" name="正方形/長方形 12">
            <a:extLst>
              <a:ext uri="{FF2B5EF4-FFF2-40B4-BE49-F238E27FC236}">
                <a16:creationId xmlns:a16="http://schemas.microsoft.com/office/drawing/2014/main" id="{A6C096BD-7EC1-7FDF-11CE-19F99B89F44B}"/>
              </a:ext>
            </a:extLst>
          </p:cNvPr>
          <p:cNvSpPr/>
          <p:nvPr/>
        </p:nvSpPr>
        <p:spPr bwMode="auto">
          <a:xfrm>
            <a:off x="2135956" y="1268976"/>
            <a:ext cx="5040056" cy="5400060"/>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77BEF000-D73B-DAC5-5309-0151A8AE215C}"/>
              </a:ext>
            </a:extLst>
          </p:cNvPr>
          <p:cNvSpPr/>
          <p:nvPr/>
        </p:nvSpPr>
        <p:spPr bwMode="auto">
          <a:xfrm>
            <a:off x="8616028" y="1268981"/>
            <a:ext cx="1440016" cy="3690041"/>
          </a:xfrm>
          <a:prstGeom prst="rect">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C7EEC86E-7E6B-4504-F546-02992B99264D}"/>
              </a:ext>
            </a:extLst>
          </p:cNvPr>
          <p:cNvSpPr/>
          <p:nvPr/>
        </p:nvSpPr>
        <p:spPr bwMode="auto">
          <a:xfrm>
            <a:off x="8616028" y="908972"/>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メモリ</a:t>
            </a:r>
          </a:p>
        </p:txBody>
      </p:sp>
      <p:sp>
        <p:nvSpPr>
          <p:cNvPr id="19" name="正方形/長方形 18">
            <a:extLst>
              <a:ext uri="{FF2B5EF4-FFF2-40B4-BE49-F238E27FC236}">
                <a16:creationId xmlns:a16="http://schemas.microsoft.com/office/drawing/2014/main" id="{6B8DA7C6-AEB1-6F72-9B90-4ADCEAAEAB36}"/>
              </a:ext>
            </a:extLst>
          </p:cNvPr>
          <p:cNvSpPr/>
          <p:nvPr/>
        </p:nvSpPr>
        <p:spPr bwMode="auto">
          <a:xfrm>
            <a:off x="8616028" y="1628981"/>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rgbClr val="FF0000"/>
                </a:solidFill>
                <a:latin typeface="Consolas" panose="020B0609020204030204" pitchFamily="49" charset="0"/>
                <a:ea typeface="メイリオ" panose="020B0604030504040204" pitchFamily="50" charset="-128"/>
              </a:rPr>
              <a:t>0x00000517</a:t>
            </a:r>
            <a:endParaRPr lang="ja-JP" altLang="en-US" dirty="0">
              <a:solidFill>
                <a:srgbClr val="FF0000"/>
              </a:solidFill>
              <a:latin typeface="Consolas" panose="020B0609020204030204" pitchFamily="49" charset="0"/>
              <a:ea typeface="メイリオ" panose="020B0604030504040204" pitchFamily="50" charset="-128"/>
            </a:endParaRPr>
          </a:p>
        </p:txBody>
      </p:sp>
      <p:sp>
        <p:nvSpPr>
          <p:cNvPr id="20" name="正方形/長方形 19">
            <a:extLst>
              <a:ext uri="{FF2B5EF4-FFF2-40B4-BE49-F238E27FC236}">
                <a16:creationId xmlns:a16="http://schemas.microsoft.com/office/drawing/2014/main" id="{EB552A23-5E9F-FB5B-7FB2-6808239A04DF}"/>
              </a:ext>
            </a:extLst>
          </p:cNvPr>
          <p:cNvSpPr/>
          <p:nvPr/>
        </p:nvSpPr>
        <p:spPr bwMode="auto">
          <a:xfrm>
            <a:off x="8616028" y="1988985"/>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0x09850513</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21" name="正方形/長方形 20">
            <a:extLst>
              <a:ext uri="{FF2B5EF4-FFF2-40B4-BE49-F238E27FC236}">
                <a16:creationId xmlns:a16="http://schemas.microsoft.com/office/drawing/2014/main" id="{23ED9458-99D9-BD4C-DE7B-29A4F18EAA2B}"/>
              </a:ext>
            </a:extLst>
          </p:cNvPr>
          <p:cNvSpPr/>
          <p:nvPr/>
        </p:nvSpPr>
        <p:spPr bwMode="auto">
          <a:xfrm>
            <a:off x="8616028" y="2348989"/>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BB3954DB-EEF4-8036-1A0D-DE8B9E41C743}"/>
              </a:ext>
            </a:extLst>
          </p:cNvPr>
          <p:cNvSpPr/>
          <p:nvPr/>
        </p:nvSpPr>
        <p:spPr bwMode="auto">
          <a:xfrm>
            <a:off x="8616028" y="2708993"/>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537C8C46-BD30-F0DE-07EB-3A0B593CBFE2}"/>
              </a:ext>
            </a:extLst>
          </p:cNvPr>
          <p:cNvSpPr/>
          <p:nvPr/>
        </p:nvSpPr>
        <p:spPr bwMode="auto">
          <a:xfrm>
            <a:off x="4205979" y="908972"/>
            <a:ext cx="216002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RISC-V CPU</a:t>
            </a:r>
          </a:p>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2AA9A53E-04E8-0E95-5254-A23E44B0D132}"/>
              </a:ext>
            </a:extLst>
          </p:cNvPr>
          <p:cNvSpPr/>
          <p:nvPr/>
        </p:nvSpPr>
        <p:spPr bwMode="auto">
          <a:xfrm>
            <a:off x="8256024" y="1628981"/>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0x1010:</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7" name="正方形/長方形 36">
            <a:extLst>
              <a:ext uri="{FF2B5EF4-FFF2-40B4-BE49-F238E27FC236}">
                <a16:creationId xmlns:a16="http://schemas.microsoft.com/office/drawing/2014/main" id="{97C757AC-FCC2-6945-3020-D7DFCF9A715E}"/>
              </a:ext>
            </a:extLst>
          </p:cNvPr>
          <p:cNvSpPr/>
          <p:nvPr/>
        </p:nvSpPr>
        <p:spPr bwMode="auto">
          <a:xfrm>
            <a:off x="8256024" y="1988985"/>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0x1014:</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8" name="正方形/長方形 37">
            <a:extLst>
              <a:ext uri="{FF2B5EF4-FFF2-40B4-BE49-F238E27FC236}">
                <a16:creationId xmlns:a16="http://schemas.microsoft.com/office/drawing/2014/main" id="{D34CEC2A-3629-1010-D41D-1739D54AA3B4}"/>
              </a:ext>
            </a:extLst>
          </p:cNvPr>
          <p:cNvSpPr/>
          <p:nvPr/>
        </p:nvSpPr>
        <p:spPr bwMode="auto">
          <a:xfrm>
            <a:off x="8256024" y="2348989"/>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0x1018:</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39" name="正方形/長方形 38">
            <a:extLst>
              <a:ext uri="{FF2B5EF4-FFF2-40B4-BE49-F238E27FC236}">
                <a16:creationId xmlns:a16="http://schemas.microsoft.com/office/drawing/2014/main" id="{6B74E5D7-4351-E626-C151-113E409CC142}"/>
              </a:ext>
            </a:extLst>
          </p:cNvPr>
          <p:cNvSpPr/>
          <p:nvPr/>
        </p:nvSpPr>
        <p:spPr bwMode="auto">
          <a:xfrm>
            <a:off x="8256024" y="2708993"/>
            <a:ext cx="360004"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pPr algn="r"/>
            <a:r>
              <a:rPr lang="en-US" altLang="ja-JP" dirty="0">
                <a:solidFill>
                  <a:schemeClr val="tx1">
                    <a:lumMod val="75000"/>
                    <a:lumOff val="25000"/>
                  </a:schemeClr>
                </a:solidFill>
                <a:latin typeface="Consolas" panose="020B0609020204030204" pitchFamily="49" charset="0"/>
                <a:ea typeface="メイリオ" panose="020B0604030504040204" pitchFamily="50" charset="-128"/>
              </a:rPr>
              <a:t>0x101c:</a:t>
            </a:r>
            <a:endParaRPr lang="ja-JP" altLang="en-US" dirty="0">
              <a:solidFill>
                <a:schemeClr val="tx1">
                  <a:lumMod val="75000"/>
                  <a:lumOff val="25000"/>
                </a:schemeClr>
              </a:solidFill>
              <a:latin typeface="Consolas" panose="020B0609020204030204" pitchFamily="49" charset="0"/>
              <a:ea typeface="メイリオ" panose="020B0604030504040204" pitchFamily="50" charset="-128"/>
            </a:endParaRPr>
          </a:p>
        </p:txBody>
      </p:sp>
      <p:cxnSp>
        <p:nvCxnSpPr>
          <p:cNvPr id="40" name="曲線コネクタ 16">
            <a:extLst>
              <a:ext uri="{FF2B5EF4-FFF2-40B4-BE49-F238E27FC236}">
                <a16:creationId xmlns:a16="http://schemas.microsoft.com/office/drawing/2014/main" id="{623A8ADB-828C-5B21-852C-994515E97DF4}"/>
              </a:ext>
            </a:extLst>
          </p:cNvPr>
          <p:cNvCxnSpPr>
            <a:cxnSpLocks/>
          </p:cNvCxnSpPr>
          <p:nvPr/>
        </p:nvCxnSpPr>
        <p:spPr bwMode="auto">
          <a:xfrm flipV="1">
            <a:off x="6816013" y="1808982"/>
            <a:ext cx="810009" cy="360004"/>
          </a:xfrm>
          <a:prstGeom prst="curvedConnector3">
            <a:avLst/>
          </a:prstGeom>
          <a:ln>
            <a:headEnd type="none" w="med" len="med"/>
            <a:tailEnd type="triangle"/>
          </a:ln>
          <a:effectLst/>
        </p:spPr>
        <p:style>
          <a:lnRef idx="3">
            <a:schemeClr val="accent1"/>
          </a:lnRef>
          <a:fillRef idx="0">
            <a:schemeClr val="accent1"/>
          </a:fillRef>
          <a:effectRef idx="2">
            <a:schemeClr val="accent1"/>
          </a:effectRef>
          <a:fontRef idx="minor">
            <a:schemeClr val="tx1"/>
          </a:fontRef>
        </p:style>
      </p:cxnSp>
      <p:cxnSp>
        <p:nvCxnSpPr>
          <p:cNvPr id="41" name="直線コネクタ 40">
            <a:extLst>
              <a:ext uri="{FF2B5EF4-FFF2-40B4-BE49-F238E27FC236}">
                <a16:creationId xmlns:a16="http://schemas.microsoft.com/office/drawing/2014/main" id="{E749170D-3888-EDC5-D052-339C42C98DC7}"/>
              </a:ext>
            </a:extLst>
          </p:cNvPr>
          <p:cNvCxnSpPr>
            <a:cxnSpLocks/>
          </p:cNvCxnSpPr>
          <p:nvPr/>
        </p:nvCxnSpPr>
        <p:spPr bwMode="auto">
          <a:xfrm flipV="1">
            <a:off x="6456004" y="3068996"/>
            <a:ext cx="0" cy="2160024"/>
          </a:xfrm>
          <a:prstGeom prst="line">
            <a:avLst/>
          </a:prstGeom>
          <a:ln w="15875">
            <a:solidFill>
              <a:schemeClr val="tx1"/>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直線コネクタ 41">
            <a:extLst>
              <a:ext uri="{FF2B5EF4-FFF2-40B4-BE49-F238E27FC236}">
                <a16:creationId xmlns:a16="http://schemas.microsoft.com/office/drawing/2014/main" id="{CE888A76-7277-C92F-ED4E-43F9AEAF85BD}"/>
              </a:ext>
            </a:extLst>
          </p:cNvPr>
          <p:cNvCxnSpPr>
            <a:cxnSpLocks/>
          </p:cNvCxnSpPr>
          <p:nvPr/>
        </p:nvCxnSpPr>
        <p:spPr bwMode="auto">
          <a:xfrm flipH="1">
            <a:off x="6456004" y="5229020"/>
            <a:ext cx="2880032" cy="0"/>
          </a:xfrm>
          <a:prstGeom prst="line">
            <a:avLst/>
          </a:prstGeom>
          <a:ln w="158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2E3B5132-C541-DAAE-4E6B-F9C3C4ED6A0A}"/>
              </a:ext>
            </a:extLst>
          </p:cNvPr>
          <p:cNvCxnSpPr/>
          <p:nvPr/>
        </p:nvCxnSpPr>
        <p:spPr bwMode="auto">
          <a:xfrm flipV="1">
            <a:off x="9336041" y="1898983"/>
            <a:ext cx="1" cy="3330036"/>
          </a:xfrm>
          <a:prstGeom prst="line">
            <a:avLst/>
          </a:prstGeom>
          <a:ln w="158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9" name="フローチャート: 手作業 48">
            <a:extLst>
              <a:ext uri="{FF2B5EF4-FFF2-40B4-BE49-F238E27FC236}">
                <a16:creationId xmlns:a16="http://schemas.microsoft.com/office/drawing/2014/main" id="{F3CCEF8A-A7BA-606B-BA7A-650E33F38BF8}"/>
              </a:ext>
            </a:extLst>
          </p:cNvPr>
          <p:cNvSpPr/>
          <p:nvPr/>
        </p:nvSpPr>
        <p:spPr bwMode="auto">
          <a:xfrm rot="16200000">
            <a:off x="5098794" y="3886200"/>
            <a:ext cx="914400" cy="360004"/>
          </a:xfrm>
          <a:prstGeom prst="flowChartManualOperation">
            <a:avLst/>
          </a:prstGeom>
          <a:ln>
            <a:headEnd/>
            <a:tailEnd type="triangle" w="sm" len="med"/>
          </a:ln>
        </p:spPr>
        <p:style>
          <a:lnRef idx="2">
            <a:schemeClr val="accent2">
              <a:shade val="15000"/>
            </a:schemeClr>
          </a:lnRef>
          <a:fillRef idx="1">
            <a:schemeClr val="accent2"/>
          </a:fillRef>
          <a:effectRef idx="0">
            <a:schemeClr val="accent2"/>
          </a:effectRef>
          <a:fontRef idx="minor">
            <a:schemeClr val="lt1"/>
          </a:fontRef>
        </p:style>
        <p:txBody>
          <a:bodyPr vert="eaVert" rtlCol="0" anchor="ctr"/>
          <a:lstStyle/>
          <a:p>
            <a:pPr algn="ctr"/>
            <a:r>
              <a:rPr lang="en-US" altLang="ja-JP" dirty="0">
                <a:solidFill>
                  <a:schemeClr val="bg1"/>
                </a:solidFill>
                <a:latin typeface="メイリオ" panose="020B0604030504040204" pitchFamily="50" charset="-128"/>
                <a:ea typeface="メイリオ" panose="020B0604030504040204" pitchFamily="50" charset="-128"/>
              </a:rPr>
              <a:t>FU</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58" name="正方形/長方形 57">
            <a:extLst>
              <a:ext uri="{FF2B5EF4-FFF2-40B4-BE49-F238E27FC236}">
                <a16:creationId xmlns:a16="http://schemas.microsoft.com/office/drawing/2014/main" id="{FFAC33A1-1043-C50F-1512-6E8D561642A6}"/>
              </a:ext>
            </a:extLst>
          </p:cNvPr>
          <p:cNvSpPr/>
          <p:nvPr/>
        </p:nvSpPr>
        <p:spPr bwMode="auto">
          <a:xfrm>
            <a:off x="5375997" y="1988984"/>
            <a:ext cx="1440017" cy="360004"/>
          </a:xfrm>
          <a:prstGeom prst="rect">
            <a:avLst/>
          </a:prstGeom>
          <a:ln>
            <a:headEnd/>
            <a:tailEnd type="triangle" w="sm" len="med"/>
          </a:ln>
        </p:spPr>
        <p:style>
          <a:lnRef idx="2">
            <a:schemeClr val="accent5">
              <a:shade val="15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bg1"/>
                </a:solidFill>
                <a:latin typeface="Consolas" panose="020B0609020204030204" pitchFamily="49" charset="0"/>
                <a:ea typeface="メイリオ" panose="020B0604030504040204" pitchFamily="50" charset="-128"/>
              </a:rPr>
              <a:t>0x00001010</a:t>
            </a:r>
            <a:endParaRPr lang="ja-JP" altLang="en-US" dirty="0">
              <a:solidFill>
                <a:schemeClr val="bg1"/>
              </a:solidFill>
              <a:latin typeface="Consolas" panose="020B0609020204030204" pitchFamily="49" charset="0"/>
              <a:ea typeface="メイリオ" panose="020B0604030504040204" pitchFamily="50" charset="-128"/>
            </a:endParaRPr>
          </a:p>
        </p:txBody>
      </p:sp>
      <p:cxnSp>
        <p:nvCxnSpPr>
          <p:cNvPr id="59" name="直線コネクタ 58">
            <a:extLst>
              <a:ext uri="{FF2B5EF4-FFF2-40B4-BE49-F238E27FC236}">
                <a16:creationId xmlns:a16="http://schemas.microsoft.com/office/drawing/2014/main" id="{12532D97-2D58-A883-74E9-5923237BB622}"/>
              </a:ext>
            </a:extLst>
          </p:cNvPr>
          <p:cNvCxnSpPr>
            <a:cxnSpLocks/>
          </p:cNvCxnSpPr>
          <p:nvPr/>
        </p:nvCxnSpPr>
        <p:spPr bwMode="auto">
          <a:xfrm>
            <a:off x="4745985" y="1988984"/>
            <a:ext cx="0" cy="4320048"/>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0" name="直線コネクタ 59">
            <a:extLst>
              <a:ext uri="{FF2B5EF4-FFF2-40B4-BE49-F238E27FC236}">
                <a16:creationId xmlns:a16="http://schemas.microsoft.com/office/drawing/2014/main" id="{EF745325-B540-7687-FC02-43F3A691B616}"/>
              </a:ext>
            </a:extLst>
          </p:cNvPr>
          <p:cNvCxnSpPr>
            <a:cxnSpLocks/>
          </p:cNvCxnSpPr>
          <p:nvPr/>
        </p:nvCxnSpPr>
        <p:spPr bwMode="auto">
          <a:xfrm>
            <a:off x="4835986" y="1988984"/>
            <a:ext cx="0" cy="4320048"/>
          </a:xfrm>
          <a:prstGeom prst="line">
            <a:avLst/>
          </a:prstGeom>
          <a:ln>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1" name="直線コネクタ 60">
            <a:extLst>
              <a:ext uri="{FF2B5EF4-FFF2-40B4-BE49-F238E27FC236}">
                <a16:creationId xmlns:a16="http://schemas.microsoft.com/office/drawing/2014/main" id="{0958DFC9-3DF1-A485-089E-A080473F9D4E}"/>
              </a:ext>
            </a:extLst>
          </p:cNvPr>
          <p:cNvCxnSpPr>
            <a:cxnSpLocks/>
          </p:cNvCxnSpPr>
          <p:nvPr/>
        </p:nvCxnSpPr>
        <p:spPr bwMode="auto">
          <a:xfrm>
            <a:off x="4745990" y="3789004"/>
            <a:ext cx="630007"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2" name="直線コネクタ 61">
            <a:extLst>
              <a:ext uri="{FF2B5EF4-FFF2-40B4-BE49-F238E27FC236}">
                <a16:creationId xmlns:a16="http://schemas.microsoft.com/office/drawing/2014/main" id="{8ECCBB80-9A14-C7AE-4125-3073764D4504}"/>
              </a:ext>
            </a:extLst>
          </p:cNvPr>
          <p:cNvCxnSpPr>
            <a:cxnSpLocks/>
          </p:cNvCxnSpPr>
          <p:nvPr/>
        </p:nvCxnSpPr>
        <p:spPr bwMode="auto">
          <a:xfrm>
            <a:off x="4835986" y="4329010"/>
            <a:ext cx="540006" cy="0"/>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3" name="直線コネクタ 62">
            <a:extLst>
              <a:ext uri="{FF2B5EF4-FFF2-40B4-BE49-F238E27FC236}">
                <a16:creationId xmlns:a16="http://schemas.microsoft.com/office/drawing/2014/main" id="{E2769735-553F-72DA-D762-E19CBA31BA70}"/>
              </a:ext>
            </a:extLst>
          </p:cNvPr>
          <p:cNvCxnSpPr/>
          <p:nvPr/>
        </p:nvCxnSpPr>
        <p:spPr bwMode="auto">
          <a:xfrm flipV="1">
            <a:off x="3935976" y="6399033"/>
            <a:ext cx="0" cy="180002"/>
          </a:xfrm>
          <a:prstGeom prst="line">
            <a:avLst/>
          </a:prstGeom>
          <a:ln w="15875">
            <a:solidFill>
              <a:schemeClr val="tx1">
                <a:lumMod val="75000"/>
                <a:lumOff val="25000"/>
              </a:schemeClr>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4" name="直線コネクタ 63">
            <a:extLst>
              <a:ext uri="{FF2B5EF4-FFF2-40B4-BE49-F238E27FC236}">
                <a16:creationId xmlns:a16="http://schemas.microsoft.com/office/drawing/2014/main" id="{749BBC53-790A-312A-DC06-8EFC2B36DBF6}"/>
              </a:ext>
            </a:extLst>
          </p:cNvPr>
          <p:cNvCxnSpPr>
            <a:cxnSpLocks/>
          </p:cNvCxnSpPr>
          <p:nvPr/>
        </p:nvCxnSpPr>
        <p:spPr bwMode="auto">
          <a:xfrm flipH="1">
            <a:off x="3935976" y="6579035"/>
            <a:ext cx="2160024"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5" name="直線コネクタ 64">
            <a:extLst>
              <a:ext uri="{FF2B5EF4-FFF2-40B4-BE49-F238E27FC236}">
                <a16:creationId xmlns:a16="http://schemas.microsoft.com/office/drawing/2014/main" id="{50E1541C-5C63-0F4B-A363-B7F70E412298}"/>
              </a:ext>
            </a:extLst>
          </p:cNvPr>
          <p:cNvCxnSpPr>
            <a:cxnSpLocks/>
          </p:cNvCxnSpPr>
          <p:nvPr/>
        </p:nvCxnSpPr>
        <p:spPr bwMode="auto">
          <a:xfrm flipH="1">
            <a:off x="5735996" y="4059007"/>
            <a:ext cx="360004" cy="0"/>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66" name="直線コネクタ 65">
            <a:extLst>
              <a:ext uri="{FF2B5EF4-FFF2-40B4-BE49-F238E27FC236}">
                <a16:creationId xmlns:a16="http://schemas.microsoft.com/office/drawing/2014/main" id="{DFBC6527-41F2-2B2D-48AC-B8E7204012E7}"/>
              </a:ext>
            </a:extLst>
          </p:cNvPr>
          <p:cNvCxnSpPr>
            <a:cxnSpLocks/>
          </p:cNvCxnSpPr>
          <p:nvPr/>
        </p:nvCxnSpPr>
        <p:spPr bwMode="auto">
          <a:xfrm flipV="1">
            <a:off x="6096000" y="4059007"/>
            <a:ext cx="0" cy="2520028"/>
          </a:xfrm>
          <a:prstGeom prst="line">
            <a:avLst/>
          </a:prstGeom>
          <a:ln w="15875">
            <a:solidFill>
              <a:schemeClr val="tx1">
                <a:lumMod val="75000"/>
                <a:lumOff val="25000"/>
              </a:schemeClr>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67" name="正方形/長方形 66">
            <a:extLst>
              <a:ext uri="{FF2B5EF4-FFF2-40B4-BE49-F238E27FC236}">
                <a16:creationId xmlns:a16="http://schemas.microsoft.com/office/drawing/2014/main" id="{A9293F1F-E1E4-3FCA-20DF-16643A33FE4E}"/>
              </a:ext>
            </a:extLst>
          </p:cNvPr>
          <p:cNvSpPr/>
          <p:nvPr/>
        </p:nvSpPr>
        <p:spPr bwMode="auto">
          <a:xfrm>
            <a:off x="5375992" y="2708992"/>
            <a:ext cx="1440016" cy="360004"/>
          </a:xfrm>
          <a:prstGeom prst="rect">
            <a:avLst/>
          </a:prstGeom>
          <a:noFill/>
          <a:ln>
            <a:solidFill>
              <a:schemeClr val="tx1">
                <a:lumMod val="75000"/>
                <a:lumOff val="25000"/>
              </a:schemeClr>
            </a:solidFill>
            <a:headEnd/>
            <a:tailEnd type="triangle" w="sm" len="med"/>
          </a:ln>
        </p:spPr>
        <p:style>
          <a:lnRef idx="2">
            <a:schemeClr val="accent5">
              <a:shade val="50000"/>
            </a:schemeClr>
          </a:lnRef>
          <a:fillRef idx="1">
            <a:schemeClr val="accent5"/>
          </a:fillRef>
          <a:effectRef idx="0">
            <a:schemeClr val="accent5"/>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rgbClr val="FF0000"/>
                </a:solidFill>
                <a:latin typeface="Consolas" panose="020B0609020204030204" pitchFamily="49" charset="0"/>
                <a:ea typeface="メイリオ" panose="020B0604030504040204" pitchFamily="50" charset="-128"/>
              </a:rPr>
              <a:t>0x00000517</a:t>
            </a:r>
            <a:endParaRPr lang="ja-JP" altLang="en-US" dirty="0">
              <a:solidFill>
                <a:srgbClr val="FF0000"/>
              </a:solidFill>
              <a:latin typeface="Consolas" panose="020B0609020204030204" pitchFamily="49" charset="0"/>
              <a:ea typeface="メイリオ" panose="020B0604030504040204" pitchFamily="50" charset="-128"/>
            </a:endParaRPr>
          </a:p>
        </p:txBody>
      </p:sp>
      <p:sp>
        <p:nvSpPr>
          <p:cNvPr id="68" name="正方形/長方形 67">
            <a:extLst>
              <a:ext uri="{FF2B5EF4-FFF2-40B4-BE49-F238E27FC236}">
                <a16:creationId xmlns:a16="http://schemas.microsoft.com/office/drawing/2014/main" id="{84996FB8-EC5B-74EF-F822-4E387CB01EDA}"/>
              </a:ext>
            </a:extLst>
          </p:cNvPr>
          <p:cNvSpPr/>
          <p:nvPr/>
        </p:nvSpPr>
        <p:spPr bwMode="auto">
          <a:xfrm>
            <a:off x="3215968" y="1988989"/>
            <a:ext cx="1440016" cy="4320049"/>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4A1C0476-C5F5-8D66-1ACA-432103DEA133}"/>
              </a:ext>
            </a:extLst>
          </p:cNvPr>
          <p:cNvSpPr/>
          <p:nvPr/>
        </p:nvSpPr>
        <p:spPr bwMode="auto">
          <a:xfrm>
            <a:off x="3215968" y="2708993"/>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70" name="正方形/長方形 69">
            <a:extLst>
              <a:ext uri="{FF2B5EF4-FFF2-40B4-BE49-F238E27FC236}">
                <a16:creationId xmlns:a16="http://schemas.microsoft.com/office/drawing/2014/main" id="{F9C68A59-814E-6BE1-9152-4014B000B803}"/>
              </a:ext>
            </a:extLst>
          </p:cNvPr>
          <p:cNvSpPr/>
          <p:nvPr/>
        </p:nvSpPr>
        <p:spPr bwMode="auto">
          <a:xfrm>
            <a:off x="3215968" y="3068997"/>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1" name="正方形/長方形 70">
            <a:extLst>
              <a:ext uri="{FF2B5EF4-FFF2-40B4-BE49-F238E27FC236}">
                <a16:creationId xmlns:a16="http://schemas.microsoft.com/office/drawing/2014/main" id="{CFA55730-FCBA-69F5-9E0F-98897DD46226}"/>
              </a:ext>
            </a:extLst>
          </p:cNvPr>
          <p:cNvSpPr/>
          <p:nvPr/>
        </p:nvSpPr>
        <p:spPr bwMode="auto">
          <a:xfrm>
            <a:off x="3215968" y="1988985"/>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0</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2" name="正方形/長方形 71">
            <a:extLst>
              <a:ext uri="{FF2B5EF4-FFF2-40B4-BE49-F238E27FC236}">
                <a16:creationId xmlns:a16="http://schemas.microsoft.com/office/drawing/2014/main" id="{D6CF3743-8785-5404-F861-6BEA0543C3B2}"/>
              </a:ext>
            </a:extLst>
          </p:cNvPr>
          <p:cNvSpPr/>
          <p:nvPr/>
        </p:nvSpPr>
        <p:spPr bwMode="auto">
          <a:xfrm>
            <a:off x="3215968" y="2348989"/>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3" name="正方形/長方形 72">
            <a:extLst>
              <a:ext uri="{FF2B5EF4-FFF2-40B4-BE49-F238E27FC236}">
                <a16:creationId xmlns:a16="http://schemas.microsoft.com/office/drawing/2014/main" id="{DAB06E3A-C68C-7A45-2427-C9D6AFA7C35B}"/>
              </a:ext>
            </a:extLst>
          </p:cNvPr>
          <p:cNvSpPr/>
          <p:nvPr/>
        </p:nvSpPr>
        <p:spPr bwMode="auto">
          <a:xfrm>
            <a:off x="3215968" y="3429001"/>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74" name="正方形/長方形 73">
            <a:extLst>
              <a:ext uri="{FF2B5EF4-FFF2-40B4-BE49-F238E27FC236}">
                <a16:creationId xmlns:a16="http://schemas.microsoft.com/office/drawing/2014/main" id="{D844D9D9-4637-C1AB-F53C-37D5404F2C1D}"/>
              </a:ext>
            </a:extLst>
          </p:cNvPr>
          <p:cNvSpPr/>
          <p:nvPr/>
        </p:nvSpPr>
        <p:spPr bwMode="auto">
          <a:xfrm>
            <a:off x="3215968" y="4869017"/>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A6E24843-65D6-4A76-1242-8ECAB5D02461}"/>
              </a:ext>
            </a:extLst>
          </p:cNvPr>
          <p:cNvSpPr/>
          <p:nvPr/>
        </p:nvSpPr>
        <p:spPr bwMode="auto">
          <a:xfrm>
            <a:off x="3215968" y="5229021"/>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97FAAF56-7B2B-0C1E-EF1B-496B42EEB051}"/>
              </a:ext>
            </a:extLst>
          </p:cNvPr>
          <p:cNvSpPr/>
          <p:nvPr/>
        </p:nvSpPr>
        <p:spPr bwMode="auto">
          <a:xfrm>
            <a:off x="3215968" y="5589025"/>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7" name="正方形/長方形 76">
            <a:extLst>
              <a:ext uri="{FF2B5EF4-FFF2-40B4-BE49-F238E27FC236}">
                <a16:creationId xmlns:a16="http://schemas.microsoft.com/office/drawing/2014/main" id="{BE0BC464-4E52-2838-683E-D683F1DCBDF8}"/>
              </a:ext>
            </a:extLst>
          </p:cNvPr>
          <p:cNvSpPr/>
          <p:nvPr/>
        </p:nvSpPr>
        <p:spPr bwMode="auto">
          <a:xfrm>
            <a:off x="3215968" y="5949029"/>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79" name="正方形/長方形 78">
            <a:extLst>
              <a:ext uri="{FF2B5EF4-FFF2-40B4-BE49-F238E27FC236}">
                <a16:creationId xmlns:a16="http://schemas.microsoft.com/office/drawing/2014/main" id="{734A28FF-F4D8-434B-8C91-1263136C92FD}"/>
              </a:ext>
            </a:extLst>
          </p:cNvPr>
          <p:cNvSpPr/>
          <p:nvPr/>
        </p:nvSpPr>
        <p:spPr bwMode="auto">
          <a:xfrm>
            <a:off x="3215968"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レジスタ</a:t>
            </a:r>
            <a:b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b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矢印コネクタ 79">
            <a:extLst>
              <a:ext uri="{FF2B5EF4-FFF2-40B4-BE49-F238E27FC236}">
                <a16:creationId xmlns:a16="http://schemas.microsoft.com/office/drawing/2014/main" id="{4A368243-B3F9-3AB5-4583-C8109ACFCC7B}"/>
              </a:ext>
            </a:extLst>
          </p:cNvPr>
          <p:cNvCxnSpPr/>
          <p:nvPr/>
        </p:nvCxnSpPr>
        <p:spPr bwMode="auto">
          <a:xfrm>
            <a:off x="3215968" y="1898983"/>
            <a:ext cx="1440016" cy="0"/>
          </a:xfrm>
          <a:prstGeom prst="straightConnector1">
            <a:avLst/>
          </a:prstGeom>
          <a:noFill/>
          <a:ln w="9525" cap="flat" cmpd="sng" algn="ctr">
            <a:solidFill>
              <a:schemeClr val="tx1"/>
            </a:solidFill>
            <a:prstDash val="solid"/>
            <a:round/>
            <a:headEnd type="triangle" w="med" len="med"/>
            <a:tailEnd type="triangle"/>
          </a:ln>
          <a:effectLst/>
        </p:spPr>
      </p:cxnSp>
      <p:sp>
        <p:nvSpPr>
          <p:cNvPr id="81" name="Rectangle 17">
            <a:extLst>
              <a:ext uri="{FF2B5EF4-FFF2-40B4-BE49-F238E27FC236}">
                <a16:creationId xmlns:a16="http://schemas.microsoft.com/office/drawing/2014/main" id="{5F204072-BA6D-BD87-553E-FF942598C56D}"/>
              </a:ext>
            </a:extLst>
          </p:cNvPr>
          <p:cNvSpPr>
            <a:spLocks noChangeArrowheads="1"/>
          </p:cNvSpPr>
          <p:nvPr/>
        </p:nvSpPr>
        <p:spPr bwMode="auto">
          <a:xfrm>
            <a:off x="2675962" y="198898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x0</a:t>
            </a:r>
            <a:endParaRPr lang="ja-JP" altLang="en-US" sz="1600" dirty="0">
              <a:solidFill>
                <a:schemeClr val="tx1">
                  <a:lumMod val="75000"/>
                  <a:lumOff val="25000"/>
                </a:schemeClr>
              </a:solidFill>
              <a:latin typeface="Consolas" panose="020B0609020204030204" pitchFamily="49" charset="0"/>
            </a:endParaRPr>
          </a:p>
        </p:txBody>
      </p:sp>
      <p:sp>
        <p:nvSpPr>
          <p:cNvPr id="82" name="Rectangle 17">
            <a:extLst>
              <a:ext uri="{FF2B5EF4-FFF2-40B4-BE49-F238E27FC236}">
                <a16:creationId xmlns:a16="http://schemas.microsoft.com/office/drawing/2014/main" id="{0A990045-2D3B-52E5-2D5C-89639DB526E2}"/>
              </a:ext>
            </a:extLst>
          </p:cNvPr>
          <p:cNvSpPr>
            <a:spLocks noChangeArrowheads="1"/>
          </p:cNvSpPr>
          <p:nvPr/>
        </p:nvSpPr>
        <p:spPr bwMode="auto">
          <a:xfrm>
            <a:off x="2675962" y="234899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x1</a:t>
            </a:r>
            <a:endParaRPr lang="ja-JP" altLang="en-US" sz="1600" dirty="0">
              <a:solidFill>
                <a:schemeClr val="tx1">
                  <a:lumMod val="75000"/>
                  <a:lumOff val="25000"/>
                </a:schemeClr>
              </a:solidFill>
              <a:latin typeface="Consolas" panose="020B0609020204030204" pitchFamily="49" charset="0"/>
            </a:endParaRPr>
          </a:p>
        </p:txBody>
      </p:sp>
      <p:sp>
        <p:nvSpPr>
          <p:cNvPr id="83" name="Rectangle 17">
            <a:extLst>
              <a:ext uri="{FF2B5EF4-FFF2-40B4-BE49-F238E27FC236}">
                <a16:creationId xmlns:a16="http://schemas.microsoft.com/office/drawing/2014/main" id="{0941EECC-E517-7AC3-FD22-E427B0663EDF}"/>
              </a:ext>
            </a:extLst>
          </p:cNvPr>
          <p:cNvSpPr>
            <a:spLocks noChangeArrowheads="1"/>
          </p:cNvSpPr>
          <p:nvPr/>
        </p:nvSpPr>
        <p:spPr bwMode="auto">
          <a:xfrm>
            <a:off x="2675962" y="270899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a:t>
            </a:r>
            <a:endParaRPr lang="ja-JP" altLang="en-US" sz="1600" dirty="0">
              <a:solidFill>
                <a:schemeClr val="tx1">
                  <a:lumMod val="75000"/>
                  <a:lumOff val="25000"/>
                </a:schemeClr>
              </a:solidFill>
              <a:latin typeface="Consolas" panose="020B0609020204030204" pitchFamily="49" charset="0"/>
            </a:endParaRPr>
          </a:p>
        </p:txBody>
      </p:sp>
      <p:sp>
        <p:nvSpPr>
          <p:cNvPr id="84" name="Rectangle 17">
            <a:extLst>
              <a:ext uri="{FF2B5EF4-FFF2-40B4-BE49-F238E27FC236}">
                <a16:creationId xmlns:a16="http://schemas.microsoft.com/office/drawing/2014/main" id="{29BC797E-F3B2-6106-171F-4D1013B4C8EA}"/>
              </a:ext>
            </a:extLst>
          </p:cNvPr>
          <p:cNvSpPr>
            <a:spLocks noChangeArrowheads="1"/>
          </p:cNvSpPr>
          <p:nvPr/>
        </p:nvSpPr>
        <p:spPr bwMode="auto">
          <a:xfrm>
            <a:off x="2675962" y="306900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a:t>
            </a:r>
            <a:endParaRPr lang="ja-JP" altLang="en-US" sz="1600" dirty="0">
              <a:solidFill>
                <a:schemeClr val="tx1">
                  <a:lumMod val="75000"/>
                  <a:lumOff val="25000"/>
                </a:schemeClr>
              </a:solidFill>
              <a:latin typeface="Consolas" panose="020B0609020204030204" pitchFamily="49" charset="0"/>
            </a:endParaRPr>
          </a:p>
        </p:txBody>
      </p:sp>
      <p:sp>
        <p:nvSpPr>
          <p:cNvPr id="85" name="Rectangle 17">
            <a:extLst>
              <a:ext uri="{FF2B5EF4-FFF2-40B4-BE49-F238E27FC236}">
                <a16:creationId xmlns:a16="http://schemas.microsoft.com/office/drawing/2014/main" id="{57F33552-FBE1-5AA2-8438-65FDE97DB3C0}"/>
              </a:ext>
            </a:extLst>
          </p:cNvPr>
          <p:cNvSpPr>
            <a:spLocks noChangeArrowheads="1"/>
          </p:cNvSpPr>
          <p:nvPr/>
        </p:nvSpPr>
        <p:spPr bwMode="auto">
          <a:xfrm>
            <a:off x="2675962" y="342900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86" name="Rectangle 17">
            <a:extLst>
              <a:ext uri="{FF2B5EF4-FFF2-40B4-BE49-F238E27FC236}">
                <a16:creationId xmlns:a16="http://schemas.microsoft.com/office/drawing/2014/main" id="{B8A0EFD0-A7BE-1C52-9223-9EB1D141A327}"/>
              </a:ext>
            </a:extLst>
          </p:cNvPr>
          <p:cNvSpPr>
            <a:spLocks noChangeArrowheads="1"/>
          </p:cNvSpPr>
          <p:nvPr/>
        </p:nvSpPr>
        <p:spPr bwMode="auto">
          <a:xfrm>
            <a:off x="2675962" y="5949033"/>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x31</a:t>
            </a:r>
            <a:endParaRPr lang="ja-JP" altLang="en-US" sz="1600" dirty="0">
              <a:solidFill>
                <a:schemeClr val="tx1">
                  <a:lumMod val="75000"/>
                  <a:lumOff val="25000"/>
                </a:schemeClr>
              </a:solidFill>
              <a:latin typeface="Consolas" panose="020B0609020204030204" pitchFamily="49" charset="0"/>
            </a:endParaRPr>
          </a:p>
        </p:txBody>
      </p:sp>
      <p:sp>
        <p:nvSpPr>
          <p:cNvPr id="87" name="Rectangle 17">
            <a:extLst>
              <a:ext uri="{FF2B5EF4-FFF2-40B4-BE49-F238E27FC236}">
                <a16:creationId xmlns:a16="http://schemas.microsoft.com/office/drawing/2014/main" id="{57F070CC-0E2C-9DEC-5E24-B6F7ECBC7C0D}"/>
              </a:ext>
            </a:extLst>
          </p:cNvPr>
          <p:cNvSpPr>
            <a:spLocks noChangeArrowheads="1"/>
          </p:cNvSpPr>
          <p:nvPr/>
        </p:nvSpPr>
        <p:spPr bwMode="auto">
          <a:xfrm>
            <a:off x="2675962" y="5589029"/>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x30</a:t>
            </a:r>
            <a:endParaRPr lang="ja-JP" altLang="en-US" sz="1600" dirty="0">
              <a:solidFill>
                <a:schemeClr val="tx1">
                  <a:lumMod val="75000"/>
                  <a:lumOff val="25000"/>
                </a:schemeClr>
              </a:solidFill>
              <a:latin typeface="Consolas" panose="020B0609020204030204" pitchFamily="49" charset="0"/>
            </a:endParaRPr>
          </a:p>
        </p:txBody>
      </p:sp>
      <p:sp>
        <p:nvSpPr>
          <p:cNvPr id="88" name="Rectangle 17">
            <a:extLst>
              <a:ext uri="{FF2B5EF4-FFF2-40B4-BE49-F238E27FC236}">
                <a16:creationId xmlns:a16="http://schemas.microsoft.com/office/drawing/2014/main" id="{8DB9A174-686B-A900-5557-73E71351C427}"/>
              </a:ext>
            </a:extLst>
          </p:cNvPr>
          <p:cNvSpPr>
            <a:spLocks noChangeArrowheads="1"/>
          </p:cNvSpPr>
          <p:nvPr/>
        </p:nvSpPr>
        <p:spPr bwMode="auto">
          <a:xfrm>
            <a:off x="2675962" y="5229025"/>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x29</a:t>
            </a:r>
            <a:endParaRPr lang="ja-JP" altLang="en-US" sz="1600" dirty="0">
              <a:solidFill>
                <a:schemeClr val="tx1">
                  <a:lumMod val="75000"/>
                  <a:lumOff val="25000"/>
                </a:schemeClr>
              </a:solidFill>
              <a:latin typeface="Consolas" panose="020B0609020204030204" pitchFamily="49" charset="0"/>
            </a:endParaRPr>
          </a:p>
        </p:txBody>
      </p:sp>
      <p:sp>
        <p:nvSpPr>
          <p:cNvPr id="89" name="Rectangle 17">
            <a:extLst>
              <a:ext uri="{FF2B5EF4-FFF2-40B4-BE49-F238E27FC236}">
                <a16:creationId xmlns:a16="http://schemas.microsoft.com/office/drawing/2014/main" id="{4A3A6CC2-6903-376C-1DF0-EDBDAA77EEFC}"/>
              </a:ext>
            </a:extLst>
          </p:cNvPr>
          <p:cNvSpPr>
            <a:spLocks noChangeArrowheads="1"/>
          </p:cNvSpPr>
          <p:nvPr/>
        </p:nvSpPr>
        <p:spPr bwMode="auto">
          <a:xfrm>
            <a:off x="2675962" y="4869021"/>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x28</a:t>
            </a:r>
            <a:endParaRPr lang="ja-JP" altLang="en-US" sz="1600" dirty="0">
              <a:solidFill>
                <a:schemeClr val="tx1">
                  <a:lumMod val="75000"/>
                  <a:lumOff val="25000"/>
                </a:schemeClr>
              </a:solidFill>
              <a:latin typeface="Consolas" panose="020B0609020204030204" pitchFamily="49" charset="0"/>
            </a:endParaRPr>
          </a:p>
        </p:txBody>
      </p:sp>
      <p:sp>
        <p:nvSpPr>
          <p:cNvPr id="90" name="Rectangle 17">
            <a:extLst>
              <a:ext uri="{FF2B5EF4-FFF2-40B4-BE49-F238E27FC236}">
                <a16:creationId xmlns:a16="http://schemas.microsoft.com/office/drawing/2014/main" id="{BA929625-38A3-43DC-7476-737D4DFF8023}"/>
              </a:ext>
            </a:extLst>
          </p:cNvPr>
          <p:cNvSpPr>
            <a:spLocks noChangeArrowheads="1"/>
          </p:cNvSpPr>
          <p:nvPr/>
        </p:nvSpPr>
        <p:spPr bwMode="auto">
          <a:xfrm>
            <a:off x="2675962" y="4509017"/>
            <a:ext cx="720096" cy="360047"/>
          </a:xfrm>
          <a:prstGeom prst="rect">
            <a:avLst/>
          </a:prstGeom>
          <a:noFill/>
          <a:ln>
            <a:noFill/>
            <a:headEnd/>
            <a:tailEnd type="none" w="med" len="lg"/>
          </a:ln>
          <a:effectLst/>
        </p:spPr>
        <p:style>
          <a:lnRef idx="1">
            <a:schemeClr val="accent3"/>
          </a:lnRef>
          <a:fillRef idx="2">
            <a:schemeClr val="accent3"/>
          </a:fillRef>
          <a:effectRef idx="1">
            <a:schemeClr val="accent3"/>
          </a:effectRef>
          <a:fontRef idx="minor">
            <a:schemeClr val="dk1"/>
          </a:fontRef>
        </p:style>
        <p:txBody>
          <a:bodyPr wrap="none" lIns="93600" tIns="46800" rIns="93600" bIns="46800" anchor="ctr"/>
          <a:lstStyle/>
          <a:p>
            <a:r>
              <a:rPr lang="en-US" altLang="ja-JP" sz="1600" dirty="0">
                <a:solidFill>
                  <a:schemeClr val="tx1">
                    <a:lumMod val="75000"/>
                    <a:lumOff val="25000"/>
                  </a:schemeClr>
                </a:solidFill>
                <a:latin typeface="Consolas" panose="020B0609020204030204" pitchFamily="49" charset="0"/>
              </a:rPr>
              <a:t>...</a:t>
            </a:r>
            <a:endParaRPr lang="ja-JP" altLang="en-US" sz="1600" dirty="0">
              <a:solidFill>
                <a:schemeClr val="tx1">
                  <a:lumMod val="75000"/>
                  <a:lumOff val="25000"/>
                </a:schemeClr>
              </a:solidFill>
              <a:latin typeface="Consolas" panose="020B0609020204030204" pitchFamily="49" charset="0"/>
            </a:endParaRPr>
          </a:p>
        </p:txBody>
      </p:sp>
      <p:sp>
        <p:nvSpPr>
          <p:cNvPr id="106" name="正方形/長方形 105">
            <a:extLst>
              <a:ext uri="{FF2B5EF4-FFF2-40B4-BE49-F238E27FC236}">
                <a16:creationId xmlns:a16="http://schemas.microsoft.com/office/drawing/2014/main" id="{2FA82773-4D9F-46A1-17DB-DB2AFA432A90}"/>
              </a:ext>
            </a:extLst>
          </p:cNvPr>
          <p:cNvSpPr/>
          <p:nvPr/>
        </p:nvSpPr>
        <p:spPr bwMode="auto">
          <a:xfrm>
            <a:off x="5375992" y="1268976"/>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PC</a:t>
            </a:r>
          </a:p>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(32bit)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7" name="直線矢印コネクタ 106">
            <a:extLst>
              <a:ext uri="{FF2B5EF4-FFF2-40B4-BE49-F238E27FC236}">
                <a16:creationId xmlns:a16="http://schemas.microsoft.com/office/drawing/2014/main" id="{A24AFEB2-8485-F50A-7CC1-FF201A4EAF8C}"/>
              </a:ext>
            </a:extLst>
          </p:cNvPr>
          <p:cNvCxnSpPr/>
          <p:nvPr/>
        </p:nvCxnSpPr>
        <p:spPr bwMode="auto">
          <a:xfrm>
            <a:off x="5375992" y="1898983"/>
            <a:ext cx="1440016" cy="0"/>
          </a:xfrm>
          <a:prstGeom prst="straightConnector1">
            <a:avLst/>
          </a:prstGeom>
          <a:noFill/>
          <a:ln w="9525" cap="flat" cmpd="sng" algn="ctr">
            <a:solidFill>
              <a:schemeClr val="tx1"/>
            </a:solidFill>
            <a:prstDash val="solid"/>
            <a:round/>
            <a:headEnd type="triangle" w="med" len="med"/>
            <a:tailEnd type="triangle"/>
          </a:ln>
          <a:effectLst/>
        </p:spPr>
      </p:cxnSp>
      <p:cxnSp>
        <p:nvCxnSpPr>
          <p:cNvPr id="109" name="直線矢印コネクタ 108">
            <a:extLst>
              <a:ext uri="{FF2B5EF4-FFF2-40B4-BE49-F238E27FC236}">
                <a16:creationId xmlns:a16="http://schemas.microsoft.com/office/drawing/2014/main" id="{9DC185C8-0178-CBD2-1064-60A814481464}"/>
              </a:ext>
            </a:extLst>
          </p:cNvPr>
          <p:cNvCxnSpPr>
            <a:cxnSpLocks/>
          </p:cNvCxnSpPr>
          <p:nvPr/>
        </p:nvCxnSpPr>
        <p:spPr bwMode="auto">
          <a:xfrm>
            <a:off x="2585961" y="2078990"/>
            <a:ext cx="0" cy="4230047"/>
          </a:xfrm>
          <a:prstGeom prst="straightConnector1">
            <a:avLst/>
          </a:prstGeom>
          <a:noFill/>
          <a:ln w="9525" cap="flat" cmpd="sng" algn="ctr">
            <a:solidFill>
              <a:schemeClr val="tx1"/>
            </a:solidFill>
            <a:prstDash val="solid"/>
            <a:round/>
            <a:headEnd type="triangle" w="med" len="med"/>
            <a:tailEnd type="triangle"/>
          </a:ln>
          <a:effectLst/>
        </p:spPr>
      </p:cxnSp>
      <p:sp>
        <p:nvSpPr>
          <p:cNvPr id="112" name="正方形/長方形 111">
            <a:extLst>
              <a:ext uri="{FF2B5EF4-FFF2-40B4-BE49-F238E27FC236}">
                <a16:creationId xmlns:a16="http://schemas.microsoft.com/office/drawing/2014/main" id="{9597F034-DBD1-0906-8C3A-CE189F5EAD77}"/>
              </a:ext>
            </a:extLst>
          </p:cNvPr>
          <p:cNvSpPr/>
          <p:nvPr/>
        </p:nvSpPr>
        <p:spPr bwMode="auto">
          <a:xfrm rot="16200000">
            <a:off x="965943" y="3969006"/>
            <a:ext cx="2880032"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レジスタは</a:t>
            </a: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32</a:t>
            </a:r>
            <a:r>
              <a:rPr lang="ja-JP" altLang="en-US" dirty="0">
                <a:solidFill>
                  <a:schemeClr val="tx1">
                    <a:lumMod val="75000"/>
                    <a:lumOff val="25000"/>
                  </a:schemeClr>
                </a:solidFill>
                <a:latin typeface="メイリオ" panose="020B0604030504040204" pitchFamily="50" charset="-128"/>
                <a:ea typeface="メイリオ" panose="020B0604030504040204" pitchFamily="50" charset="-128"/>
              </a:rPr>
              <a:t>個ある</a:t>
            </a:r>
          </a:p>
        </p:txBody>
      </p:sp>
      <p:sp>
        <p:nvSpPr>
          <p:cNvPr id="122" name="正方形/長方形 121">
            <a:extLst>
              <a:ext uri="{FF2B5EF4-FFF2-40B4-BE49-F238E27FC236}">
                <a16:creationId xmlns:a16="http://schemas.microsoft.com/office/drawing/2014/main" id="{B59D6278-BAAC-33E9-E6CA-717A954CFB15}"/>
              </a:ext>
            </a:extLst>
          </p:cNvPr>
          <p:cNvSpPr/>
          <p:nvPr/>
        </p:nvSpPr>
        <p:spPr bwMode="auto">
          <a:xfrm>
            <a:off x="8616028" y="1268976"/>
            <a:ext cx="1440016" cy="360004"/>
          </a:xfrm>
          <a:prstGeom prst="rect">
            <a:avLst/>
          </a:prstGeom>
          <a:noFill/>
          <a:ln>
            <a:solidFill>
              <a:schemeClr val="accent1">
                <a:shade val="95000"/>
                <a:satMod val="105000"/>
              </a:schemeClr>
            </a:solidFill>
            <a:headEnd/>
            <a:tailEnd type="triangle" w="sm" len="med"/>
          </a:ln>
          <a:effectLst/>
        </p:spPr>
        <p:style>
          <a:lnRef idx="1">
            <a:schemeClr val="accent1"/>
          </a:lnRef>
          <a:fillRef idx="2">
            <a:schemeClr val="accent1"/>
          </a:fillRef>
          <a:effectRef idx="1">
            <a:schemeClr val="accent1"/>
          </a:effectRef>
          <a:fontRef idx="minor">
            <a:schemeClr val="dk1"/>
          </a:fontRef>
        </p:style>
        <p:txBody>
          <a:bodyPr rtlCol="0" anchor="t"/>
          <a:lstStyle/>
          <a:p>
            <a:pPr algn="ctr"/>
            <a:r>
              <a:rPr lang="en-US" altLang="ja-JP" dirty="0">
                <a:solidFill>
                  <a:schemeClr val="tx1">
                    <a:lumMod val="75000"/>
                    <a:lumOff val="25000"/>
                  </a:schemeClr>
                </a:solidFill>
                <a:latin typeface="メイリオ" panose="020B0604030504040204" pitchFamily="50" charset="-128"/>
                <a:ea typeface="メイリオ" panose="020B0604030504040204" pitchFamily="50" charset="-128"/>
              </a:rPr>
              <a:t>…</a:t>
            </a: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5" name="正方形/長方形 124">
            <a:extLst>
              <a:ext uri="{FF2B5EF4-FFF2-40B4-BE49-F238E27FC236}">
                <a16:creationId xmlns:a16="http://schemas.microsoft.com/office/drawing/2014/main" id="{D470EF33-CF03-5F08-AE5B-679C047DCA66}"/>
              </a:ext>
            </a:extLst>
          </p:cNvPr>
          <p:cNvSpPr/>
          <p:nvPr/>
        </p:nvSpPr>
        <p:spPr bwMode="auto">
          <a:xfrm>
            <a:off x="3215968" y="2708992"/>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b="1" dirty="0">
              <a:solidFill>
                <a:schemeClr val="bg1"/>
              </a:solidFill>
              <a:latin typeface="Consolas" panose="020B0609020204030204" pitchFamily="49" charset="0"/>
              <a:ea typeface="メイリオ" panose="020B0604030504040204" pitchFamily="50" charset="-128"/>
            </a:endParaRPr>
          </a:p>
        </p:txBody>
      </p:sp>
      <p:sp>
        <p:nvSpPr>
          <p:cNvPr id="126" name="正方形/長方形 125">
            <a:extLst>
              <a:ext uri="{FF2B5EF4-FFF2-40B4-BE49-F238E27FC236}">
                <a16:creationId xmlns:a16="http://schemas.microsoft.com/office/drawing/2014/main" id="{5C18D111-47A0-B5B6-2F49-E6AE0D26EE42}"/>
              </a:ext>
            </a:extLst>
          </p:cNvPr>
          <p:cNvSpPr/>
          <p:nvPr/>
        </p:nvSpPr>
        <p:spPr bwMode="auto">
          <a:xfrm>
            <a:off x="3215968" y="3068996"/>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27" name="正方形/長方形 126">
            <a:extLst>
              <a:ext uri="{FF2B5EF4-FFF2-40B4-BE49-F238E27FC236}">
                <a16:creationId xmlns:a16="http://schemas.microsoft.com/office/drawing/2014/main" id="{8F75B599-D31F-B9A5-DAEE-CB6BAD0AD60C}"/>
              </a:ext>
            </a:extLst>
          </p:cNvPr>
          <p:cNvSpPr/>
          <p:nvPr/>
        </p:nvSpPr>
        <p:spPr bwMode="auto">
          <a:xfrm>
            <a:off x="3215968" y="1988984"/>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Consolas" panose="020B0609020204030204" pitchFamily="49" charset="0"/>
                <a:ea typeface="メイリオ" panose="020B0604030504040204" pitchFamily="50" charset="-128"/>
              </a:rPr>
              <a:t>0x00000000</a:t>
            </a:r>
            <a:endParaRPr lang="ja-JP" altLang="en-US" dirty="0">
              <a:solidFill>
                <a:schemeClr val="bg1"/>
              </a:solidFill>
              <a:latin typeface="Consolas" panose="020B0609020204030204" pitchFamily="49" charset="0"/>
              <a:ea typeface="メイリオ" panose="020B0604030504040204" pitchFamily="50" charset="-128"/>
            </a:endParaRPr>
          </a:p>
        </p:txBody>
      </p:sp>
      <p:sp>
        <p:nvSpPr>
          <p:cNvPr id="128" name="正方形/長方形 127">
            <a:extLst>
              <a:ext uri="{FF2B5EF4-FFF2-40B4-BE49-F238E27FC236}">
                <a16:creationId xmlns:a16="http://schemas.microsoft.com/office/drawing/2014/main" id="{573807B5-F8EF-4542-5BD4-9782E87167BD}"/>
              </a:ext>
            </a:extLst>
          </p:cNvPr>
          <p:cNvSpPr/>
          <p:nvPr/>
        </p:nvSpPr>
        <p:spPr bwMode="auto">
          <a:xfrm>
            <a:off x="3215968" y="2348988"/>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
        <p:nvSpPr>
          <p:cNvPr id="129" name="正方形/長方形 128">
            <a:extLst>
              <a:ext uri="{FF2B5EF4-FFF2-40B4-BE49-F238E27FC236}">
                <a16:creationId xmlns:a16="http://schemas.microsoft.com/office/drawing/2014/main" id="{88E51031-10EB-82E9-5A36-16899ADD4755}"/>
              </a:ext>
            </a:extLst>
          </p:cNvPr>
          <p:cNvSpPr/>
          <p:nvPr/>
        </p:nvSpPr>
        <p:spPr bwMode="auto">
          <a:xfrm>
            <a:off x="3215968" y="3429000"/>
            <a:ext cx="1440016" cy="360004"/>
          </a:xfrm>
          <a:prstGeom prst="rect">
            <a:avLst/>
          </a:prstGeom>
          <a:ln>
            <a:headEnd/>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dirty="0">
                <a:solidFill>
                  <a:schemeClr val="bg1"/>
                </a:solidFill>
                <a:latin typeface="メイリオ" panose="020B0604030504040204" pitchFamily="50" charset="-128"/>
                <a:ea typeface="メイリオ" panose="020B0604030504040204" pitchFamily="50" charset="-128"/>
              </a:rPr>
              <a:t>…</a:t>
            </a:r>
            <a:endParaRPr lang="ja-JP" altLang="en-US"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837861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ベースとなるシングル・サイクル・プロセッサ</a:t>
            </a:r>
            <a:endParaRPr kumimoji="1" lang="ja-JP" altLang="en-US" dirty="0"/>
          </a:p>
        </p:txBody>
      </p:sp>
      <p:sp>
        <p:nvSpPr>
          <p:cNvPr id="3" name="テキスト プレースホルダー 2"/>
          <p:cNvSpPr>
            <a:spLocks noGrp="1"/>
          </p:cNvSpPr>
          <p:nvPr>
            <p:ph type="body" sz="quarter" idx="10"/>
          </p:nvPr>
        </p:nvSpPr>
        <p:spPr>
          <a:xfrm>
            <a:off x="2135956" y="4689019"/>
            <a:ext cx="8280092" cy="1259707"/>
          </a:xfrm>
        </p:spPr>
        <p:txBody>
          <a:bodyPr anchor="t"/>
          <a:lstStyle/>
          <a:p>
            <a:r>
              <a:rPr kumimoji="1" lang="ja-JP" altLang="en-US" dirty="0"/>
              <a:t>以前説明したものとの違い：</a:t>
            </a:r>
            <a:endParaRPr kumimoji="1" lang="en-US" altLang="ja-JP" dirty="0"/>
          </a:p>
          <a:p>
            <a:pPr lvl="1"/>
            <a:r>
              <a:rPr kumimoji="1" lang="ja-JP" altLang="en-US" dirty="0"/>
              <a:t>メモリが</a:t>
            </a:r>
            <a:r>
              <a:rPr kumimoji="1" lang="ja-JP" altLang="en-US" dirty="0">
                <a:solidFill>
                  <a:schemeClr val="accent5"/>
                </a:solidFill>
              </a:rPr>
              <a:t>命令メモリ</a:t>
            </a:r>
            <a:r>
              <a:rPr kumimoji="1" lang="ja-JP" altLang="en-US" dirty="0"/>
              <a:t>と</a:t>
            </a:r>
            <a:r>
              <a:rPr kumimoji="1" lang="ja-JP" altLang="en-US" dirty="0">
                <a:solidFill>
                  <a:schemeClr val="accent5"/>
                </a:solidFill>
              </a:rPr>
              <a:t>データメモリ</a:t>
            </a:r>
            <a:r>
              <a:rPr kumimoji="1" lang="ja-JP" altLang="en-US" dirty="0"/>
              <a:t>に別れている</a:t>
            </a:r>
          </a:p>
          <a:p>
            <a:pPr lvl="1"/>
            <a:r>
              <a:rPr kumimoji="1" lang="ja-JP" altLang="en-US" dirty="0"/>
              <a:t>算術 </a:t>
            </a:r>
            <a:r>
              <a:rPr kumimoji="1" lang="en-US" altLang="ja-JP" dirty="0"/>
              <a:t>&amp; </a:t>
            </a:r>
            <a:r>
              <a:rPr kumimoji="1" lang="ja-JP" altLang="en-US" dirty="0"/>
              <a:t>論理演算，ロード，ストアのみを実行可能</a:t>
            </a:r>
            <a:endParaRPr kumimoji="1" lang="en-US" altLang="ja-JP" dirty="0"/>
          </a:p>
          <a:p>
            <a:pPr lvl="2"/>
            <a:r>
              <a:rPr kumimoji="1" lang="ja-JP" altLang="en-US" dirty="0"/>
              <a:t>分岐とジャンプは，簡単のために今は考えない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1" y="306899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92"/>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43" y="2708996"/>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b="1" dirty="0">
                <a:solidFill>
                  <a:schemeClr val="accent5"/>
                </a:solidFill>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9"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7"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91"/>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90"/>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81331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35956" y="0"/>
            <a:ext cx="8532044" cy="908972"/>
          </a:xfrm>
        </p:spPr>
        <p:txBody>
          <a:bodyPr/>
          <a:lstStyle/>
          <a:p>
            <a:r>
              <a:rPr lang="en-US" altLang="ja-JP" dirty="0"/>
              <a:t>1</a:t>
            </a:r>
            <a:r>
              <a:rPr lang="ja-JP" altLang="en-US" dirty="0"/>
              <a:t>命令の実行フェーズ</a:t>
            </a:r>
          </a:p>
        </p:txBody>
      </p:sp>
      <p:sp>
        <p:nvSpPr>
          <p:cNvPr id="3" name="コンテンツ プレースホルダー 2"/>
          <p:cNvSpPr>
            <a:spLocks noGrp="1"/>
          </p:cNvSpPr>
          <p:nvPr>
            <p:ph type="body" sz="quarter" idx="10"/>
          </p:nvPr>
        </p:nvSpPr>
        <p:spPr>
          <a:xfrm>
            <a:off x="2135956" y="1088974"/>
            <a:ext cx="8280092" cy="5220058"/>
          </a:xfrm>
        </p:spPr>
        <p:txBody>
          <a:bodyPr/>
          <a:lstStyle/>
          <a:p>
            <a:r>
              <a:rPr lang="ja-JP" altLang="en-US" dirty="0"/>
              <a:t>実行フェーズ</a:t>
            </a:r>
            <a:endParaRPr lang="en-US" altLang="ja-JP" dirty="0"/>
          </a:p>
          <a:p>
            <a:pPr lvl="1"/>
            <a:r>
              <a:rPr lang="ja-JP" altLang="en-US" dirty="0"/>
              <a:t>フェッチ</a:t>
            </a:r>
            <a:endParaRPr lang="en-US" altLang="ja-JP" dirty="0"/>
          </a:p>
          <a:p>
            <a:pPr lvl="1"/>
            <a:r>
              <a:rPr lang="ja-JP" altLang="en-US" dirty="0"/>
              <a:t>デコード</a:t>
            </a:r>
            <a:endParaRPr lang="en-US" altLang="ja-JP" dirty="0"/>
          </a:p>
          <a:p>
            <a:pPr lvl="1"/>
            <a:r>
              <a:rPr lang="ja-JP" altLang="en-US" dirty="0"/>
              <a:t>レジスタ読み出し</a:t>
            </a:r>
            <a:endParaRPr lang="en-US" altLang="ja-JP" dirty="0"/>
          </a:p>
          <a:p>
            <a:pPr lvl="1"/>
            <a:r>
              <a:rPr lang="ja-JP" altLang="en-US" dirty="0"/>
              <a:t>実行</a:t>
            </a:r>
            <a:endParaRPr lang="en-US" altLang="ja-JP" dirty="0"/>
          </a:p>
          <a:p>
            <a:pPr lvl="1"/>
            <a:r>
              <a:rPr lang="ja-JP" altLang="en-US" dirty="0"/>
              <a:t>レジスタ書き戻し</a:t>
            </a:r>
            <a:endParaRPr lang="en-US" altLang="ja-JP" dirty="0"/>
          </a:p>
          <a:p>
            <a:r>
              <a:rPr lang="en-US" altLang="ja-JP" dirty="0"/>
              <a:t>RISC-V </a:t>
            </a:r>
            <a:r>
              <a:rPr lang="ja-JP" altLang="en-US" dirty="0"/>
              <a:t>の加算命令を実行する流れをざっとみる</a:t>
            </a:r>
            <a:endParaRPr lang="en-US" altLang="ja-JP" dirty="0"/>
          </a:p>
        </p:txBody>
      </p:sp>
    </p:spTree>
    <p:extLst>
      <p:ext uri="{BB962C8B-B14F-4D97-AF65-F5344CB8AC3E}">
        <p14:creationId xmlns:p14="http://schemas.microsoft.com/office/powerpoint/2010/main" val="2044734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命令フェッチ</a:t>
            </a:r>
            <a:endParaRPr kumimoji="1" lang="ja-JP" altLang="en-US" dirty="0"/>
          </a:p>
        </p:txBody>
      </p:sp>
      <p:sp>
        <p:nvSpPr>
          <p:cNvPr id="3" name="テキスト プレースホルダー 2"/>
          <p:cNvSpPr>
            <a:spLocks noGrp="1"/>
          </p:cNvSpPr>
          <p:nvPr>
            <p:ph type="body" sz="quarter" idx="10"/>
          </p:nvPr>
        </p:nvSpPr>
        <p:spPr>
          <a:xfrm>
            <a:off x="1775952" y="4599013"/>
            <a:ext cx="8280092" cy="2023864"/>
          </a:xfrm>
        </p:spPr>
        <p:txBody>
          <a:bodyPr anchor="t"/>
          <a:lstStyle/>
          <a:p>
            <a:r>
              <a:rPr lang="ja-JP" altLang="en-US" dirty="0"/>
              <a:t>命令メモリから命令を読み出す</a:t>
            </a:r>
            <a:endParaRPr lang="en-US" altLang="ja-JP" dirty="0"/>
          </a:p>
          <a:p>
            <a:pPr lvl="1"/>
            <a:r>
              <a:rPr lang="ja-JP" altLang="en-US" dirty="0"/>
              <a:t>命令メモリを順に読んでいくため，</a:t>
            </a:r>
            <a:r>
              <a:rPr lang="en-US" altLang="ja-JP" dirty="0"/>
              <a:t>PC </a:t>
            </a:r>
            <a:r>
              <a:rPr lang="ja-JP" altLang="en-US" dirty="0"/>
              <a:t>は毎サイクル加算される</a:t>
            </a:r>
            <a:endParaRPr lang="en-US" altLang="ja-JP" dirty="0"/>
          </a:p>
          <a:p>
            <a:pPr lvl="1"/>
            <a:r>
              <a:rPr lang="ja-JP" altLang="en-US" dirty="0"/>
              <a:t>足している４は，</a:t>
            </a:r>
            <a:r>
              <a:rPr lang="en-US" altLang="ja-JP" dirty="0"/>
              <a:t>RSIC-V </a:t>
            </a:r>
            <a:r>
              <a:rPr lang="ja-JP" altLang="en-US" dirty="0"/>
              <a:t>では命令の幅が４バイトだから</a:t>
            </a:r>
            <a:endParaRPr lang="en-US" altLang="ja-JP" dirty="0"/>
          </a:p>
          <a:p>
            <a:pPr lvl="1"/>
            <a:r>
              <a:rPr lang="ja-JP" altLang="en-US" dirty="0"/>
              <a:t>基本的に，この部分はどの命令でも変わらない</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accent6"/>
            </a:solidFill>
            <a:prstDash val="solid"/>
            <a:round/>
            <a:headEnd type="none" w="med" len="med"/>
            <a:tailEnd type="triangle"/>
          </a:ln>
          <a:effectLst/>
        </p:spPr>
      </p:cxnSp>
      <p:sp>
        <p:nvSpPr>
          <p:cNvPr id="51" name="正方形/長方形 50"/>
          <p:cNvSpPr/>
          <p:nvPr/>
        </p:nvSpPr>
        <p:spPr bwMode="auto">
          <a:xfrm>
            <a:off x="4295981"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命令データ</a:t>
            </a:r>
          </a:p>
        </p:txBody>
      </p:sp>
      <p:sp>
        <p:nvSpPr>
          <p:cNvPr id="52" name="正方形/長方形 51"/>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991320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命令デコード</a:t>
            </a:r>
            <a:endParaRPr kumimoji="1" lang="ja-JP" altLang="en-US" dirty="0"/>
          </a:p>
        </p:txBody>
      </p:sp>
      <p:sp>
        <p:nvSpPr>
          <p:cNvPr id="3" name="テキスト プレースホルダー 2"/>
          <p:cNvSpPr>
            <a:spLocks noGrp="1"/>
          </p:cNvSpPr>
          <p:nvPr>
            <p:ph type="body" sz="quarter" idx="10"/>
          </p:nvPr>
        </p:nvSpPr>
        <p:spPr>
          <a:xfrm>
            <a:off x="2135956" y="5319022"/>
            <a:ext cx="8280092" cy="1350014"/>
          </a:xfrm>
        </p:spPr>
        <p:txBody>
          <a:bodyPr anchor="t"/>
          <a:lstStyle/>
          <a:p>
            <a:r>
              <a:rPr kumimoji="1" lang="ja-JP" altLang="en-US" dirty="0"/>
              <a:t>取り出した命令からレジスタ番号を表す部分のビットを取り出す</a:t>
            </a:r>
            <a:endParaRPr kumimoji="1" lang="en-US" altLang="ja-JP" dirty="0"/>
          </a:p>
          <a:p>
            <a:pPr lvl="1"/>
            <a:r>
              <a:rPr lang="ja-JP" altLang="en-US" dirty="0"/>
              <a:t>ソース（</a:t>
            </a:r>
            <a:r>
              <a:rPr lang="en-US" altLang="ja-JP" dirty="0"/>
              <a:t>rs1, rs2</a:t>
            </a:r>
            <a:r>
              <a:rPr lang="ja-JP" altLang="en-US" dirty="0"/>
              <a:t>）とディスティネーション（</a:t>
            </a:r>
            <a:r>
              <a:rPr lang="en-US" altLang="ja-JP" dirty="0" err="1"/>
              <a:t>rd</a:t>
            </a:r>
            <a:r>
              <a:rPr lang="ja-JP" altLang="en-US" dirty="0"/>
              <a:t>）</a:t>
            </a:r>
            <a:endParaRPr kumimoji="1" lang="ja-JP" altLang="en-US"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49" name="直線矢印コネクタ 48"/>
          <p:cNvCxnSpPr/>
          <p:nvPr/>
        </p:nvCxnSpPr>
        <p:spPr bwMode="auto">
          <a:xfrm>
            <a:off x="393597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51" name="Freeform 10"/>
          <p:cNvSpPr>
            <a:spLocks/>
          </p:cNvSpPr>
          <p:nvPr/>
        </p:nvSpPr>
        <p:spPr bwMode="auto">
          <a:xfrm flipV="1">
            <a:off x="4295981" y="3249001"/>
            <a:ext cx="360004" cy="72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52" name="直線矢印コネクタ 51"/>
          <p:cNvCxnSpPr/>
          <p:nvPr/>
        </p:nvCxnSpPr>
        <p:spPr bwMode="auto">
          <a:xfrm>
            <a:off x="4295981" y="3609002"/>
            <a:ext cx="360004" cy="0"/>
          </a:xfrm>
          <a:prstGeom prst="straightConnector1">
            <a:avLst/>
          </a:prstGeom>
          <a:noFill/>
          <a:ln w="9525" cap="flat" cmpd="sng" algn="ctr">
            <a:solidFill>
              <a:schemeClr val="tx1"/>
            </a:solidFill>
            <a:prstDash val="solid"/>
            <a:round/>
            <a:headEnd type="oval" w="sm" len="sm"/>
            <a:tailEnd type="triangle"/>
          </a:ln>
          <a:effectLst/>
        </p:spPr>
      </p:cxnSp>
      <p:sp>
        <p:nvSpPr>
          <p:cNvPr id="53" name="正方形/長方形 52"/>
          <p:cNvSpPr/>
          <p:nvPr/>
        </p:nvSpPr>
        <p:spPr bwMode="auto">
          <a:xfrm>
            <a:off x="4655985"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err="1">
                <a:solidFill>
                  <a:schemeClr val="accent6"/>
                </a:solidFill>
                <a:latin typeface="メイリオ" panose="020B0604030504040204" pitchFamily="50" charset="-128"/>
                <a:ea typeface="メイリオ" panose="020B0604030504040204" pitchFamily="50" charset="-128"/>
              </a:rPr>
              <a:t>rd</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4" name="正方形/長方形 53"/>
          <p:cNvSpPr/>
          <p:nvPr/>
        </p:nvSpPr>
        <p:spPr bwMode="auto">
          <a:xfrm>
            <a:off x="4655985"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rs1</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sp>
        <p:nvSpPr>
          <p:cNvPr id="55" name="正方形/長方形 54"/>
          <p:cNvSpPr/>
          <p:nvPr/>
        </p:nvSpPr>
        <p:spPr bwMode="auto">
          <a:xfrm>
            <a:off x="4655985"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400" b="1" dirty="0">
                <a:solidFill>
                  <a:schemeClr val="accent6"/>
                </a:solidFill>
                <a:latin typeface="メイリオ" panose="020B0604030504040204" pitchFamily="50" charset="-128"/>
                <a:ea typeface="メイリオ" panose="020B0604030504040204" pitchFamily="50" charset="-128"/>
              </a:rPr>
              <a:t>レジスタ番号（</a:t>
            </a:r>
            <a:r>
              <a:rPr lang="en-US" altLang="ja-JP" sz="1400" b="1" dirty="0">
                <a:solidFill>
                  <a:schemeClr val="accent6"/>
                </a:solidFill>
                <a:latin typeface="メイリオ" panose="020B0604030504040204" pitchFamily="50" charset="-128"/>
                <a:ea typeface="メイリオ" panose="020B0604030504040204" pitchFamily="50" charset="-128"/>
              </a:rPr>
              <a:t>rs2</a:t>
            </a:r>
            <a:r>
              <a:rPr lang="ja-JP" altLang="en-US" sz="1400" b="1" dirty="0">
                <a:solidFill>
                  <a:schemeClr val="accent6"/>
                </a:solidFill>
                <a:latin typeface="メイリオ" panose="020B0604030504040204" pitchFamily="50" charset="-128"/>
                <a:ea typeface="メイリオ" panose="020B0604030504040204" pitchFamily="50" charset="-128"/>
              </a:rPr>
              <a:t>）</a:t>
            </a:r>
          </a:p>
        </p:txBody>
      </p:sp>
      <p:cxnSp>
        <p:nvCxnSpPr>
          <p:cNvPr id="56" name="直線矢印コネクタ 55"/>
          <p:cNvCxnSpPr/>
          <p:nvPr/>
        </p:nvCxnSpPr>
        <p:spPr bwMode="auto">
          <a:xfrm>
            <a:off x="4295981" y="3969006"/>
            <a:ext cx="360004" cy="0"/>
          </a:xfrm>
          <a:prstGeom prst="straightConnector1">
            <a:avLst/>
          </a:prstGeom>
          <a:noFill/>
          <a:ln w="9525" cap="flat" cmpd="sng" algn="ctr">
            <a:solidFill>
              <a:schemeClr val="tx1"/>
            </a:solidFill>
            <a:prstDash val="solid"/>
            <a:round/>
            <a:headEnd type="none" w="sm" len="sm"/>
            <a:tailEnd type="triangle"/>
          </a:ln>
          <a:effectLst/>
        </p:spPr>
      </p:cxnSp>
      <p:sp>
        <p:nvSpPr>
          <p:cNvPr id="57" name="Text Box 30"/>
          <p:cNvSpPr txBox="1">
            <a:spLocks noChangeArrowheads="1"/>
          </p:cNvSpPr>
          <p:nvPr/>
        </p:nvSpPr>
        <p:spPr bwMode="auto">
          <a:xfrm>
            <a:off x="7176012" y="4869016"/>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58" name="Text Box 31"/>
          <p:cNvSpPr txBox="1">
            <a:spLocks noChangeArrowheads="1"/>
          </p:cNvSpPr>
          <p:nvPr/>
        </p:nvSpPr>
        <p:spPr bwMode="auto">
          <a:xfrm>
            <a:off x="8256024" y="4869016"/>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0110011</a:t>
            </a:r>
          </a:p>
        </p:txBody>
      </p:sp>
      <p:sp>
        <p:nvSpPr>
          <p:cNvPr id="59" name="Text Box 27"/>
          <p:cNvSpPr txBox="1">
            <a:spLocks noChangeArrowheads="1"/>
          </p:cNvSpPr>
          <p:nvPr/>
        </p:nvSpPr>
        <p:spPr bwMode="auto">
          <a:xfrm>
            <a:off x="2495965" y="4869016"/>
            <a:ext cx="1710019"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0000000</a:t>
            </a:r>
            <a:endParaRPr lang="ja-JP" altLang="ja-JP" sz="1600" dirty="0"/>
          </a:p>
        </p:txBody>
      </p:sp>
      <p:sp>
        <p:nvSpPr>
          <p:cNvPr id="60" name="Text Box 27"/>
          <p:cNvSpPr txBox="1">
            <a:spLocks noChangeArrowheads="1"/>
          </p:cNvSpPr>
          <p:nvPr/>
        </p:nvSpPr>
        <p:spPr bwMode="auto">
          <a:xfrm>
            <a:off x="4205979" y="4869016"/>
            <a:ext cx="1079500"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rs2</a:t>
            </a:r>
            <a:endParaRPr lang="ja-JP" altLang="ja-JP" sz="1600" dirty="0"/>
          </a:p>
        </p:txBody>
      </p:sp>
      <p:sp>
        <p:nvSpPr>
          <p:cNvPr id="61" name="Text Box 28"/>
          <p:cNvSpPr txBox="1">
            <a:spLocks noChangeArrowheads="1"/>
          </p:cNvSpPr>
          <p:nvPr/>
        </p:nvSpPr>
        <p:spPr bwMode="auto">
          <a:xfrm>
            <a:off x="5285996" y="4869016"/>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62" name="Text Box 29"/>
          <p:cNvSpPr txBox="1">
            <a:spLocks noChangeArrowheads="1"/>
          </p:cNvSpPr>
          <p:nvPr/>
        </p:nvSpPr>
        <p:spPr bwMode="auto">
          <a:xfrm>
            <a:off x="6366007" y="4869016"/>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a:t>
            </a:r>
          </a:p>
        </p:txBody>
      </p:sp>
      <p:sp>
        <p:nvSpPr>
          <p:cNvPr id="64" name="正方形/長方形 63"/>
          <p:cNvSpPr/>
          <p:nvPr/>
        </p:nvSpPr>
        <p:spPr bwMode="auto">
          <a:xfrm>
            <a:off x="2405959" y="4599013"/>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ADD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x[rs2]</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65" name="正方形/長方形 6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1381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レジスタ読み出し</a:t>
            </a:r>
            <a:endParaRPr kumimoji="1" lang="ja-JP" altLang="en-US" dirty="0"/>
          </a:p>
        </p:txBody>
      </p:sp>
      <p:sp>
        <p:nvSpPr>
          <p:cNvPr id="3" name="テキスト プレースホルダー 2"/>
          <p:cNvSpPr>
            <a:spLocks noGrp="1"/>
          </p:cNvSpPr>
          <p:nvPr>
            <p:ph type="body" sz="quarter" idx="10"/>
          </p:nvPr>
        </p:nvSpPr>
        <p:spPr>
          <a:xfrm>
            <a:off x="2135956" y="4689019"/>
            <a:ext cx="8280092" cy="1259707"/>
          </a:xfrm>
        </p:spPr>
        <p:txBody>
          <a:bodyPr anchor="t"/>
          <a:lstStyle/>
          <a:p>
            <a:r>
              <a:rPr lang="ja-JP" altLang="en-US" dirty="0"/>
              <a:t>デコードで得られたレジスタ番号を使って </a:t>
            </a:r>
            <a:r>
              <a:rPr lang="en-US" altLang="ja-JP" dirty="0"/>
              <a:t>RF </a:t>
            </a:r>
            <a:r>
              <a:rPr lang="ja-JP" altLang="en-US" dirty="0"/>
              <a:t>にアクセス</a:t>
            </a:r>
            <a:endParaRPr lang="en-US" altLang="ja-JP" dirty="0"/>
          </a:p>
          <a:p>
            <a:pPr lvl="1"/>
            <a:r>
              <a:rPr lang="ja-JP" altLang="en-US" dirty="0"/>
              <a:t>ソース・オペランドの値を読み出す</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a:t>
            </a:r>
            <a:r>
              <a:rPr lang="en-US" altLang="ja-JP" sz="1200" dirty="0" err="1">
                <a:latin typeface="メイリオ" panose="020B0604030504040204" pitchFamily="50" charset="-128"/>
                <a:ea typeface="メイリオ" panose="020B0604030504040204" pitchFamily="50" charset="-128"/>
              </a:rPr>
              <a:t>rd</a:t>
            </a:r>
            <a:r>
              <a:rPr lang="en-US"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(rs1)</a:t>
            </a:r>
            <a:endParaRPr lang="ja-JP" altLang="en-US" sz="1200" dirty="0">
              <a:latin typeface="メイリオ" panose="020B0604030504040204" pitchFamily="50" charset="-128"/>
              <a:ea typeface="メイリオ" panose="020B0604030504040204" pitchFamily="50" charset="-128"/>
            </a:endParaRP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 </a:t>
            </a:r>
            <a:r>
              <a:rPr lang="en-US" altLang="ja-JP" sz="1200" dirty="0">
                <a:latin typeface="メイリオ" panose="020B0604030504040204" pitchFamily="50" charset="-128"/>
                <a:ea typeface="メイリオ" panose="020B0604030504040204" pitchFamily="50" charset="-128"/>
              </a:rPr>
              <a:t>(rs2)</a:t>
            </a:r>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accent6"/>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accent6"/>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9" name="正方形/長方形 48"/>
          <p:cNvSpPr/>
          <p:nvPr/>
        </p:nvSpPr>
        <p:spPr bwMode="auto">
          <a:xfrm>
            <a:off x="6816008"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1" name="正方形/長方形 50"/>
          <p:cNvSpPr/>
          <p:nvPr/>
        </p:nvSpPr>
        <p:spPr bwMode="auto">
          <a:xfrm>
            <a:off x="6816008"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レジスタの値（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1703030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a:t>
            </a:r>
          </a:p>
        </p:txBody>
      </p:sp>
      <p:sp>
        <p:nvSpPr>
          <p:cNvPr id="3" name="テキスト プレースホルダー 2"/>
          <p:cNvSpPr>
            <a:spLocks noGrp="1"/>
          </p:cNvSpPr>
          <p:nvPr>
            <p:ph type="body" sz="quarter" idx="10"/>
          </p:nvPr>
        </p:nvSpPr>
        <p:spPr>
          <a:xfrm>
            <a:off x="2135956" y="4689019"/>
            <a:ext cx="8280092" cy="1259707"/>
          </a:xfrm>
        </p:spPr>
        <p:txBody>
          <a:bodyPr anchor="t"/>
          <a:lstStyle/>
          <a:p>
            <a:r>
              <a:rPr lang="en-US" altLang="ja-JP" dirty="0"/>
              <a:t>RF </a:t>
            </a:r>
            <a:r>
              <a:rPr lang="ja-JP" altLang="en-US" dirty="0"/>
              <a:t>から読みだした２つの値を加算</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0" y="3159000"/>
            <a:ext cx="1260015"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endParaRPr lang="ja-JP" altLang="en-US" sz="1200" dirty="0">
              <a:latin typeface="メイリオ" panose="020B0604030504040204" pitchFamily="50" charset="-128"/>
              <a:ea typeface="メイリオ" panose="020B0604030504040204" pitchFamily="50" charset="-128"/>
            </a:endParaRP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7536021" y="3519001"/>
            <a:ext cx="450005" cy="0"/>
          </a:xfrm>
          <a:prstGeom prst="straightConnector1">
            <a:avLst/>
          </a:prstGeom>
          <a:noFill/>
          <a:ln w="9525" cap="flat" cmpd="sng" algn="ctr">
            <a:solidFill>
              <a:schemeClr val="accent6"/>
            </a:solidFill>
            <a:prstDash val="solid"/>
            <a:round/>
            <a:headEnd type="none" w="sm" len="sm"/>
            <a:tailEnd type="triangle"/>
          </a:ln>
          <a:effectLst/>
        </p:spPr>
      </p:cxnSp>
      <p:sp>
        <p:nvSpPr>
          <p:cNvPr id="51" name="正方形/長方形 50"/>
          <p:cNvSpPr/>
          <p:nvPr/>
        </p:nvSpPr>
        <p:spPr bwMode="auto">
          <a:xfrm>
            <a:off x="7986021" y="333899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加算の結果</a:t>
            </a:r>
          </a:p>
        </p:txBody>
      </p:sp>
      <p:sp>
        <p:nvSpPr>
          <p:cNvPr id="52" name="正方形/長方形 51"/>
          <p:cNvSpPr/>
          <p:nvPr/>
        </p:nvSpPr>
        <p:spPr bwMode="auto">
          <a:xfrm>
            <a:off x="6186001"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rs1</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
        <p:nvSpPr>
          <p:cNvPr id="53" name="正方形/長方形 52"/>
          <p:cNvSpPr/>
          <p:nvPr/>
        </p:nvSpPr>
        <p:spPr bwMode="auto">
          <a:xfrm>
            <a:off x="6186001" y="360900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600" b="1" dirty="0">
                <a:solidFill>
                  <a:schemeClr val="accent6"/>
                </a:solidFill>
                <a:latin typeface="メイリオ" panose="020B0604030504040204" pitchFamily="50" charset="-128"/>
                <a:ea typeface="メイリオ" panose="020B0604030504040204" pitchFamily="50" charset="-128"/>
              </a:rPr>
              <a:t>値（</a:t>
            </a:r>
            <a:r>
              <a:rPr lang="en-US" altLang="ja-JP" sz="1600" b="1" dirty="0">
                <a:solidFill>
                  <a:schemeClr val="accent6"/>
                </a:solidFill>
                <a:latin typeface="メイリオ" panose="020B0604030504040204" pitchFamily="50" charset="-128"/>
                <a:ea typeface="メイリオ" panose="020B0604030504040204" pitchFamily="50" charset="-128"/>
              </a:rPr>
              <a:t>rs2</a:t>
            </a:r>
            <a:r>
              <a:rPr lang="ja-JP" altLang="en-US" sz="1600" b="1" dirty="0">
                <a:solidFill>
                  <a:schemeClr val="accent6"/>
                </a:solidFill>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3249010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レジスタ書き戻し</a:t>
            </a:r>
            <a:endParaRPr kumimoji="1" lang="ja-JP" altLang="en-US" dirty="0"/>
          </a:p>
        </p:txBody>
      </p:sp>
      <p:sp>
        <p:nvSpPr>
          <p:cNvPr id="3" name="テキスト プレースホルダー 2"/>
          <p:cNvSpPr>
            <a:spLocks noGrp="1"/>
          </p:cNvSpPr>
          <p:nvPr>
            <p:ph type="body" sz="quarter" idx="10"/>
          </p:nvPr>
        </p:nvSpPr>
        <p:spPr>
          <a:xfrm>
            <a:off x="2135956" y="4689019"/>
            <a:ext cx="8280092" cy="1259707"/>
          </a:xfrm>
        </p:spPr>
        <p:txBody>
          <a:bodyPr anchor="t"/>
          <a:lstStyle/>
          <a:p>
            <a:r>
              <a:rPr lang="ja-JP" altLang="en-US" dirty="0"/>
              <a:t>加算の結果をレジスタ・ファイルに書き戻す</a:t>
            </a:r>
            <a:endParaRPr lang="en-US" altLang="ja-JP" dirty="0"/>
          </a:p>
          <a:p>
            <a:pPr lvl="1"/>
            <a:r>
              <a:rPr lang="ja-JP" altLang="en-US" dirty="0"/>
              <a:t>データ・メモリには用がないので何もしない</a:t>
            </a:r>
            <a:endParaRPr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1" y="306899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5"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92"/>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43" y="2708996"/>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9"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8" name="直線矢印コネクタ 47"/>
          <p:cNvCxnSpPr>
            <a:endCxn id="34" idx="0"/>
          </p:cNvCxnSpPr>
          <p:nvPr/>
        </p:nvCxnSpPr>
        <p:spPr bwMode="auto">
          <a:xfrm flipH="1">
            <a:off x="4475987"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50" name="Freeform 10"/>
          <p:cNvSpPr>
            <a:spLocks/>
          </p:cNvSpPr>
          <p:nvPr/>
        </p:nvSpPr>
        <p:spPr bwMode="auto">
          <a:xfrm rot="10800000" flipH="1">
            <a:off x="8076022" y="2528985"/>
            <a:ext cx="1980022" cy="90001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90"/>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cxnSp>
        <p:nvCxnSpPr>
          <p:cNvPr id="49" name="直線矢印コネクタ 48"/>
          <p:cNvCxnSpPr/>
          <p:nvPr/>
        </p:nvCxnSpPr>
        <p:spPr bwMode="auto">
          <a:xfrm>
            <a:off x="8076022" y="2978995"/>
            <a:ext cx="180002" cy="0"/>
          </a:xfrm>
          <a:prstGeom prst="straightConnector1">
            <a:avLst/>
          </a:prstGeom>
          <a:noFill/>
          <a:ln w="9525" cap="flat" cmpd="sng" algn="ctr">
            <a:solidFill>
              <a:schemeClr val="tx1"/>
            </a:solidFill>
            <a:prstDash val="solid"/>
            <a:round/>
            <a:headEnd type="none" w="sm" len="sm"/>
            <a:tailEnd type="triangle"/>
          </a:ln>
          <a:effectLst/>
        </p:spPr>
      </p:cxnSp>
    </p:spTree>
    <p:extLst>
      <p:ext uri="{BB962C8B-B14F-4D97-AF65-F5344CB8AC3E}">
        <p14:creationId xmlns:p14="http://schemas.microsoft.com/office/powerpoint/2010/main" val="37575773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ロードの場合：メモリ・アクセスが加わる</a:t>
            </a:r>
          </a:p>
        </p:txBody>
      </p:sp>
      <p:sp>
        <p:nvSpPr>
          <p:cNvPr id="3" name="テキスト プレースホルダー 2"/>
          <p:cNvSpPr>
            <a:spLocks noGrp="1"/>
          </p:cNvSpPr>
          <p:nvPr>
            <p:ph type="body" sz="quarter" idx="10"/>
          </p:nvPr>
        </p:nvSpPr>
        <p:spPr>
          <a:xfrm>
            <a:off x="2135956" y="5769338"/>
            <a:ext cx="8280092" cy="719701"/>
          </a:xfrm>
        </p:spPr>
        <p:txBody>
          <a:bodyPr/>
          <a:lstStyle/>
          <a:p>
            <a:r>
              <a:rPr kumimoji="1" lang="ja-JP" altLang="en-US" dirty="0"/>
              <a:t>加算命令との違い：</a:t>
            </a:r>
            <a:endParaRPr kumimoji="1" lang="en-US" altLang="ja-JP" dirty="0"/>
          </a:p>
          <a:p>
            <a:pPr lvl="1"/>
            <a:r>
              <a:rPr kumimoji="1" lang="ja-JP" altLang="en-US" dirty="0"/>
              <a:t>アドレスの計算（</a:t>
            </a:r>
            <a:r>
              <a:rPr lang="en-US" altLang="ja-JP" dirty="0">
                <a:solidFill>
                  <a:schemeClr val="tx1">
                    <a:lumMod val="85000"/>
                    <a:lumOff val="15000"/>
                  </a:schemeClr>
                </a:solidFill>
                <a:latin typeface="Consolas" panose="020B0609020204030204" pitchFamily="49" charset="0"/>
              </a:rPr>
              <a:t>x[rs1] + immediate</a:t>
            </a:r>
            <a:r>
              <a:rPr kumimoji="1" lang="ja-JP" altLang="en-US" dirty="0"/>
              <a:t>）を </a:t>
            </a:r>
            <a:r>
              <a:rPr kumimoji="1" lang="en-US" altLang="ja-JP" dirty="0"/>
              <a:t>ALU </a:t>
            </a:r>
            <a:r>
              <a:rPr kumimoji="1" lang="ja-JP" altLang="en-US" dirty="0"/>
              <a:t>でやる</a:t>
            </a:r>
            <a:endParaRPr kumimoji="1" lang="en-US" altLang="ja-JP" dirty="0"/>
          </a:p>
          <a:p>
            <a:pPr lvl="1"/>
            <a:r>
              <a:rPr kumimoji="1" lang="ja-JP" altLang="en-US" dirty="0"/>
              <a:t>得られたアドレスでデータ・メモリにアクセス</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1" y="306899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2"/>
          </a:lnRef>
          <a:fillRef idx="2">
            <a:schemeClr val="accent2"/>
          </a:fillRef>
          <a:effectRef idx="1">
            <a:schemeClr val="accent2"/>
          </a:effectRef>
          <a:fontRef idx="minor">
            <a:schemeClr val="dk1"/>
          </a:fontRef>
        </p:style>
        <p:txBody>
          <a:bodyPr vert="eaVert" wrap="square" anchor="ctr">
            <a:noAutofit/>
          </a:bodyPr>
          <a:lstStyle/>
          <a:p>
            <a:pPr algn="ctr"/>
            <a:endParaRPr lang="ja-JP" altLang="en-US" sz="1600" dirty="0">
              <a:latin typeface="メイリオ" panose="020B0604030504040204" pitchFamily="50" charset="-128"/>
              <a:ea typeface="メイリオ" panose="020B0604030504040204" pitchFamily="50" charset="-128"/>
              <a:cs typeface="Times New Roman" pitchFamily="18" charset="0"/>
            </a:endParaRP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9"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書き込みデータ</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92"/>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43" y="2708996"/>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accent6"/>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accent6"/>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9"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accent6"/>
            </a:solidFill>
            <a:prstDash val="solid"/>
            <a:round/>
            <a:headEnd type="none" w="sm" len="sm"/>
            <a:tailEnd type="none"/>
          </a:ln>
          <a:effectLst/>
        </p:spPr>
      </p:cxnSp>
      <p:cxnSp>
        <p:nvCxnSpPr>
          <p:cNvPr id="41" name="直線矢印コネクタ 40"/>
          <p:cNvCxnSpPr>
            <a:endCxn id="28" idx="0"/>
          </p:cNvCxnSpPr>
          <p:nvPr/>
        </p:nvCxnSpPr>
        <p:spPr bwMode="auto">
          <a:xfrm flipH="1">
            <a:off x="4475987" y="2258987"/>
            <a:ext cx="6030067" cy="0"/>
          </a:xfrm>
          <a:prstGeom prst="straightConnector1">
            <a:avLst/>
          </a:prstGeom>
          <a:noFill/>
          <a:ln w="9525" cap="flat" cmpd="sng" algn="ctr">
            <a:solidFill>
              <a:schemeClr val="accent6"/>
            </a:solidFill>
            <a:prstDash val="solid"/>
            <a:round/>
            <a:headEnd type="none" w="sm" len="sm"/>
            <a:tailEnd type="none"/>
          </a:ln>
          <a:effectLst/>
        </p:spPr>
      </p:cxnSp>
      <p:sp>
        <p:nvSpPr>
          <p:cNvPr id="42" name="Freeform 10"/>
          <p:cNvSpPr>
            <a:spLocks/>
          </p:cNvSpPr>
          <p:nvPr/>
        </p:nvSpPr>
        <p:spPr bwMode="auto">
          <a:xfrm rot="10800000" flipH="1">
            <a:off x="8076022" y="2528991"/>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90"/>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accent6"/>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Text Box 30"/>
          <p:cNvSpPr txBox="1">
            <a:spLocks noChangeArrowheads="1"/>
          </p:cNvSpPr>
          <p:nvPr/>
        </p:nvSpPr>
        <p:spPr bwMode="auto">
          <a:xfrm>
            <a:off x="6906010" y="5049018"/>
            <a:ext cx="1080116"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err="1"/>
              <a:t>rd</a:t>
            </a:r>
            <a:endParaRPr lang="en-US" altLang="ja-JP" sz="1600" dirty="0"/>
          </a:p>
        </p:txBody>
      </p:sp>
      <p:sp>
        <p:nvSpPr>
          <p:cNvPr id="47" name="Text Box 31"/>
          <p:cNvSpPr txBox="1">
            <a:spLocks noChangeArrowheads="1"/>
          </p:cNvSpPr>
          <p:nvPr/>
        </p:nvSpPr>
        <p:spPr bwMode="auto">
          <a:xfrm>
            <a:off x="7986022" y="5049018"/>
            <a:ext cx="1439606"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0000011</a:t>
            </a:r>
          </a:p>
        </p:txBody>
      </p:sp>
      <p:sp>
        <p:nvSpPr>
          <p:cNvPr id="48" name="Text Box 28"/>
          <p:cNvSpPr txBox="1">
            <a:spLocks noChangeArrowheads="1"/>
          </p:cNvSpPr>
          <p:nvPr/>
        </p:nvSpPr>
        <p:spPr bwMode="auto">
          <a:xfrm>
            <a:off x="5015994" y="5049018"/>
            <a:ext cx="1080115"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pPr eaLnBrk="1" hangingPunct="1"/>
            <a:r>
              <a:rPr lang="en-US" altLang="ja-JP" sz="1600" dirty="0"/>
              <a:t>rs1</a:t>
            </a:r>
          </a:p>
        </p:txBody>
      </p:sp>
      <p:sp>
        <p:nvSpPr>
          <p:cNvPr id="49" name="Text Box 29"/>
          <p:cNvSpPr txBox="1">
            <a:spLocks noChangeArrowheads="1"/>
          </p:cNvSpPr>
          <p:nvPr/>
        </p:nvSpPr>
        <p:spPr bwMode="auto">
          <a:xfrm>
            <a:off x="6096005" y="5049018"/>
            <a:ext cx="810111" cy="270000"/>
          </a:xfrm>
          <a:prstGeom prst="rect">
            <a:avLst/>
          </a:prstGeom>
          <a:ln>
            <a:headEnd/>
            <a:tailEnd/>
          </a:ln>
          <a:effectLst/>
        </p:spPr>
        <p:style>
          <a:lnRef idx="1">
            <a:schemeClr val="dk1"/>
          </a:lnRef>
          <a:fillRef idx="2">
            <a:schemeClr val="dk1"/>
          </a:fillRef>
          <a:effectRef idx="1">
            <a:schemeClr val="dk1"/>
          </a:effectRef>
          <a:fontRef idx="minor">
            <a:schemeClr val="dk1"/>
          </a:fontRef>
        </p:style>
        <p:txBody>
          <a:bodyPr wrap="none" anchor="ctr" anchorCtr="1"/>
          <a:lstStyle/>
          <a:p>
            <a:pPr eaLnBrk="1" hangingPunct="1"/>
            <a:r>
              <a:rPr lang="en-US" altLang="ja-JP" sz="1600" dirty="0"/>
              <a:t>010</a:t>
            </a:r>
          </a:p>
        </p:txBody>
      </p:sp>
      <p:sp>
        <p:nvSpPr>
          <p:cNvPr id="50" name="正方形/長方形 49"/>
          <p:cNvSpPr/>
          <p:nvPr/>
        </p:nvSpPr>
        <p:spPr bwMode="auto">
          <a:xfrm>
            <a:off x="2135957" y="4779015"/>
            <a:ext cx="1440016"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t"/>
          <a:lstStyle/>
          <a:p>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LW : x[</a:t>
            </a:r>
            <a:r>
              <a:rPr lang="en-US" altLang="ja-JP" sz="1400" dirty="0" err="1">
                <a:solidFill>
                  <a:schemeClr val="tx1">
                    <a:lumMod val="85000"/>
                    <a:lumOff val="15000"/>
                  </a:schemeClr>
                </a:solidFill>
                <a:latin typeface="Consolas" panose="020B0609020204030204" pitchFamily="49" charset="0"/>
                <a:ea typeface="メイリオ" panose="020B0604030504040204" pitchFamily="50" charset="-128"/>
              </a:rPr>
              <a:t>rd</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a:t>
            </a:r>
            <a:r>
              <a:rPr lang="ja-JP" altLang="en-US" sz="1400" dirty="0">
                <a:solidFill>
                  <a:schemeClr val="tx1">
                    <a:lumMod val="85000"/>
                    <a:lumOff val="15000"/>
                  </a:schemeClr>
                </a:solidFill>
                <a:latin typeface="Consolas" panose="020B0609020204030204" pitchFamily="49" charset="0"/>
                <a:ea typeface="メイリオ" panose="020B0604030504040204" pitchFamily="50" charset="-128"/>
              </a:rPr>
              <a:t>←</a:t>
            </a:r>
            <a:r>
              <a:rPr lang="en-US" altLang="ja-JP" sz="1400" dirty="0">
                <a:solidFill>
                  <a:schemeClr val="tx1">
                    <a:lumMod val="85000"/>
                    <a:lumOff val="15000"/>
                  </a:schemeClr>
                </a:solidFill>
                <a:latin typeface="Consolas" panose="020B0609020204030204" pitchFamily="49" charset="0"/>
                <a:ea typeface="メイリオ" panose="020B0604030504040204" pitchFamily="50" charset="-128"/>
              </a:rPr>
              <a:t> (x[rs1] + immediate)</a:t>
            </a:r>
            <a:endParaRPr lang="ja-JP" altLang="en-US" sz="1400" dirty="0">
              <a:solidFill>
                <a:schemeClr val="tx1">
                  <a:lumMod val="85000"/>
                  <a:lumOff val="15000"/>
                </a:schemeClr>
              </a:solidFill>
              <a:latin typeface="Consolas" panose="020B0609020204030204" pitchFamily="49" charset="0"/>
              <a:ea typeface="メイリオ" panose="020B0604030504040204" pitchFamily="50" charset="-128"/>
            </a:endParaRPr>
          </a:p>
        </p:txBody>
      </p:sp>
      <p:sp>
        <p:nvSpPr>
          <p:cNvPr id="51" name="Text Box 27"/>
          <p:cNvSpPr txBox="1">
            <a:spLocks noChangeArrowheads="1"/>
          </p:cNvSpPr>
          <p:nvPr/>
        </p:nvSpPr>
        <p:spPr bwMode="auto">
          <a:xfrm>
            <a:off x="2225963" y="5049018"/>
            <a:ext cx="2790031" cy="270000"/>
          </a:xfrm>
          <a:prstGeom prst="rect">
            <a:avLst/>
          </a:prstGeom>
          <a:ln>
            <a:headEnd/>
            <a:tailEnd/>
          </a:ln>
          <a:effectLst/>
        </p:spPr>
        <p:style>
          <a:lnRef idx="1">
            <a:schemeClr val="accent6"/>
          </a:lnRef>
          <a:fillRef idx="2">
            <a:schemeClr val="accent6"/>
          </a:fillRef>
          <a:effectRef idx="1">
            <a:schemeClr val="accent6"/>
          </a:effectRef>
          <a:fontRef idx="minor">
            <a:schemeClr val="dk1"/>
          </a:fontRef>
        </p:style>
        <p:txBody>
          <a:bodyPr wrap="none" anchor="ctr" anchorCtr="1"/>
          <a:lstStyle/>
          <a:p>
            <a:r>
              <a:rPr lang="en-US" altLang="ja-JP" sz="1600" dirty="0"/>
              <a:t>immediate[11:0]</a:t>
            </a:r>
            <a:endParaRPr lang="ja-JP" altLang="ja-JP" sz="1600" dirty="0"/>
          </a:p>
        </p:txBody>
      </p:sp>
      <p:sp>
        <p:nvSpPr>
          <p:cNvPr id="52" name="正方形/長方形 5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b="1" dirty="0">
                <a:solidFill>
                  <a:schemeClr val="accent6"/>
                </a:solidFill>
                <a:latin typeface="メイリオ" panose="020B0604030504040204" pitchFamily="50" charset="-128"/>
                <a:ea typeface="メイリオ" panose="020B0604030504040204" pitchFamily="50" charset="-128"/>
              </a:rPr>
              <a:t>書き</a:t>
            </a:r>
            <a:r>
              <a:rPr lang="en-US" altLang="ja-JP" sz="1200" b="1" dirty="0">
                <a:solidFill>
                  <a:schemeClr val="accent6"/>
                </a:solidFill>
                <a:latin typeface="メイリオ" panose="020B0604030504040204" pitchFamily="50" charset="-128"/>
                <a:ea typeface="メイリオ" panose="020B0604030504040204" pitchFamily="50" charset="-128"/>
              </a:rPr>
              <a:t>REG</a:t>
            </a:r>
            <a:r>
              <a:rPr lang="ja-JP" altLang="en-US" sz="1200" b="1" dirty="0">
                <a:solidFill>
                  <a:schemeClr val="accent6"/>
                </a:solidFill>
                <a:latin typeface="メイリオ" panose="020B0604030504040204" pitchFamily="50" charset="-128"/>
                <a:ea typeface="メイリオ" panose="020B0604030504040204" pitchFamily="50" charset="-128"/>
              </a:rPr>
              <a:t>番号 </a:t>
            </a:r>
            <a:r>
              <a:rPr lang="en-US" altLang="ja-JP" sz="1200" b="1" dirty="0">
                <a:solidFill>
                  <a:schemeClr val="accent6"/>
                </a:solidFill>
                <a:latin typeface="メイリオ" panose="020B0604030504040204" pitchFamily="50" charset="-128"/>
                <a:ea typeface="メイリオ" panose="020B0604030504040204" pitchFamily="50" charset="-128"/>
              </a:rPr>
              <a:t>(</a:t>
            </a:r>
            <a:r>
              <a:rPr lang="en-US" altLang="ja-JP" sz="1200" b="1" dirty="0" err="1">
                <a:solidFill>
                  <a:schemeClr val="accent6"/>
                </a:solidFill>
                <a:latin typeface="メイリオ" panose="020B0604030504040204" pitchFamily="50" charset="-128"/>
                <a:ea typeface="メイリオ" panose="020B0604030504040204" pitchFamily="50" charset="-128"/>
              </a:rPr>
              <a:t>rd</a:t>
            </a:r>
            <a:r>
              <a:rPr lang="en-US" altLang="ja-JP" sz="1200" b="1" dirty="0">
                <a:solidFill>
                  <a:schemeClr val="accent6"/>
                </a:solidFill>
                <a:latin typeface="メイリオ" panose="020B0604030504040204" pitchFamily="50" charset="-128"/>
                <a:ea typeface="メイリオ" panose="020B0604030504040204" pitchFamily="50" charset="-128"/>
              </a:rPr>
              <a:t>)</a:t>
            </a:r>
            <a:endParaRPr lang="ja-JP" altLang="en-US" sz="1200" b="1" dirty="0">
              <a:solidFill>
                <a:schemeClr val="accent6"/>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5238930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各処理は基本的には左から右に流れる</a:t>
            </a:r>
            <a:endParaRPr kumimoji="1" lang="ja-JP" altLang="en-US" dirty="0"/>
          </a:p>
        </p:txBody>
      </p:sp>
      <p:sp>
        <p:nvSpPr>
          <p:cNvPr id="3" name="テキスト プレースホルダー 2"/>
          <p:cNvSpPr>
            <a:spLocks noGrp="1"/>
          </p:cNvSpPr>
          <p:nvPr>
            <p:ph type="body" sz="quarter" idx="10"/>
          </p:nvPr>
        </p:nvSpPr>
        <p:spPr>
          <a:xfrm>
            <a:off x="2135956" y="5049023"/>
            <a:ext cx="8280092" cy="899703"/>
          </a:xfrm>
        </p:spPr>
        <p:txBody>
          <a:bodyPr anchor="t"/>
          <a:lstStyle/>
          <a:p>
            <a:r>
              <a:rPr kumimoji="1" lang="ja-JP" altLang="en-US" dirty="0"/>
              <a:t>特定のユニットで仕事をしている間，他の部分は遊んでいる</a:t>
            </a:r>
            <a:endParaRPr kumimoji="1" lang="en-US" altLang="ja-JP" dirty="0"/>
          </a:p>
          <a:p>
            <a:r>
              <a:rPr kumimoji="1" lang="ja-JP" altLang="en-US" dirty="0"/>
              <a:t>パイプライン化</a:t>
            </a:r>
            <a:endParaRPr kumimoji="1" lang="en-US" altLang="ja-JP" dirty="0"/>
          </a:p>
          <a:p>
            <a:pPr lvl="1"/>
            <a:r>
              <a:rPr kumimoji="1" lang="ja-JP" altLang="en-US" dirty="0"/>
              <a:t>これをもとに，導入で話したように処理をオーバーラップさせる</a:t>
            </a:r>
            <a:endParaRPr kumimoji="1" lang="en-US" altLang="ja-JP" dirty="0"/>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1" y="306899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4"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5"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6" name="直線矢印コネクタ 15"/>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9" name="直線矢印コネクタ 18"/>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23" name="正方形/長方形 22"/>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24" name="正方形/長方形 23"/>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25"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6" name="直線矢印コネクタ 25"/>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7" name="正方形/長方形 26"/>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8" name="正方形/長方形 27"/>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9" name="正方形/長方形 28"/>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0" name="正方形/長方形 29"/>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31" name="正方形/長方形 30"/>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32" name="正方形/長方形 31"/>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33" name="直線矢印コネクタ 32"/>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34" name="Freeform 10"/>
          <p:cNvSpPr>
            <a:spLocks/>
          </p:cNvSpPr>
          <p:nvPr/>
        </p:nvSpPr>
        <p:spPr bwMode="auto">
          <a:xfrm>
            <a:off x="4475982" y="2258992"/>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5" name="Freeform 10"/>
          <p:cNvSpPr>
            <a:spLocks/>
          </p:cNvSpPr>
          <p:nvPr/>
        </p:nvSpPr>
        <p:spPr bwMode="auto">
          <a:xfrm rot="10800000" flipH="1">
            <a:off x="9876043" y="2708996"/>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6" name="直線矢印コネクタ 35"/>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8" name="直線矢印コネクタ 37"/>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9" name="直線矢印コネクタ 38"/>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40" name="直線矢印コネクタ 39"/>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41" name="正方形/長方形 40"/>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42" name="正方形/長方形 41"/>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43" name="Freeform 10"/>
          <p:cNvSpPr>
            <a:spLocks/>
          </p:cNvSpPr>
          <p:nvPr/>
        </p:nvSpPr>
        <p:spPr bwMode="auto">
          <a:xfrm>
            <a:off x="6636009"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5"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6" name="正方形/長方形 45"/>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7" name="直線矢印コネクタ 46"/>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8" name="直線矢印コネクタ 47"/>
          <p:cNvCxnSpPr>
            <a:endCxn id="34" idx="0"/>
          </p:cNvCxnSpPr>
          <p:nvPr/>
        </p:nvCxnSpPr>
        <p:spPr bwMode="auto">
          <a:xfrm flipH="1">
            <a:off x="4475987"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50" name="Freeform 10"/>
          <p:cNvSpPr>
            <a:spLocks/>
          </p:cNvSpPr>
          <p:nvPr/>
        </p:nvSpPr>
        <p:spPr bwMode="auto">
          <a:xfrm rot="10800000" flipH="1">
            <a:off x="8076022" y="2528991"/>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63" name="Freeform 10"/>
          <p:cNvSpPr>
            <a:spLocks/>
          </p:cNvSpPr>
          <p:nvPr/>
        </p:nvSpPr>
        <p:spPr bwMode="auto">
          <a:xfrm rot="5400000" flipH="1" flipV="1">
            <a:off x="10101044" y="2213990"/>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78" name="正方形/長方形 77"/>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55" name="正方形/長方形 5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13" name="角丸四角形 12"/>
          <p:cNvSpPr/>
          <p:nvPr/>
        </p:nvSpPr>
        <p:spPr bwMode="auto">
          <a:xfrm>
            <a:off x="1524000" y="1178980"/>
            <a:ext cx="252002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4295980" y="1178980"/>
            <a:ext cx="198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1" name="角丸四角形 50"/>
          <p:cNvSpPr/>
          <p:nvPr/>
        </p:nvSpPr>
        <p:spPr bwMode="auto">
          <a:xfrm>
            <a:off x="6456004" y="1178980"/>
            <a:ext cx="1530018"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角丸四角形 51"/>
          <p:cNvSpPr/>
          <p:nvPr/>
        </p:nvSpPr>
        <p:spPr bwMode="auto">
          <a:xfrm>
            <a:off x="8166023" y="1178980"/>
            <a:ext cx="2070022" cy="3330037"/>
          </a:xfrm>
          <a:prstGeom prst="roundRect">
            <a:avLst>
              <a:gd name="adj" fmla="val 7749"/>
            </a:avLst>
          </a:prstGeom>
          <a:noFill/>
          <a:ln w="28575">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正方形/長方形 52"/>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IF</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ID</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6" name="正方形/長方形 55"/>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EX</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7" name="正方形/長方形 56"/>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MEM</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8" name="正方形/長方形 57"/>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accent6"/>
                </a:solidFill>
                <a:latin typeface="メイリオ" panose="020B0604030504040204" pitchFamily="50" charset="-128"/>
                <a:ea typeface="メイリオ" panose="020B0604030504040204" pitchFamily="50" charset="-128"/>
              </a:rPr>
              <a:t>WB</a:t>
            </a:r>
            <a:endParaRPr lang="ja-JP" altLang="en-US" sz="1600" b="1" dirty="0">
              <a:solidFill>
                <a:schemeClr val="accent6"/>
              </a:solidFill>
              <a:latin typeface="メイリオ" panose="020B0604030504040204" pitchFamily="50" charset="-128"/>
              <a:ea typeface="メイリオ" panose="020B0604030504040204" pitchFamily="50" charset="-128"/>
            </a:endParaRPr>
          </a:p>
        </p:txBody>
      </p:sp>
      <p:sp>
        <p:nvSpPr>
          <p:cNvPr id="59" name="角丸四角形 58"/>
          <p:cNvSpPr/>
          <p:nvPr/>
        </p:nvSpPr>
        <p:spPr bwMode="auto">
          <a:xfrm>
            <a:off x="2855964" y="2798993"/>
            <a:ext cx="720008"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spTree>
    <p:extLst>
      <p:ext uri="{BB962C8B-B14F-4D97-AF65-F5344CB8AC3E}">
        <p14:creationId xmlns:p14="http://schemas.microsoft.com/office/powerpoint/2010/main" val="4066439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7.40741E-7 L 0.17709 0.00023 " pathEditMode="relative" rAng="0" ptsTypes="AA">
                                      <p:cBhvr>
                                        <p:cTn id="6" dur="1000" fill="hold"/>
                                        <p:tgtEl>
                                          <p:spTgt spid="59"/>
                                        </p:tgtEl>
                                        <p:attrNameLst>
                                          <p:attrName>ppt_x</p:attrName>
                                          <p:attrName>ppt_y</p:attrName>
                                        </p:attrNameLst>
                                      </p:cBhvr>
                                      <p:rCtr x="8854"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17709 0.00023 L 0.33216 0.00023 " pathEditMode="relative" rAng="0" ptsTypes="AA">
                                      <p:cBhvr>
                                        <p:cTn id="10" dur="1000" fill="hold"/>
                                        <p:tgtEl>
                                          <p:spTgt spid="59"/>
                                        </p:tgtEl>
                                        <p:attrNameLst>
                                          <p:attrName>ppt_x</p:attrName>
                                          <p:attrName>ppt_y</p:attrName>
                                        </p:attrNameLst>
                                      </p:cBhvr>
                                      <p:rCtr x="7747"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33216 0.00023 L 0.48724 0.00023 " pathEditMode="relative" rAng="0" ptsTypes="AA">
                                      <p:cBhvr>
                                        <p:cTn id="14" dur="1000" fill="hold"/>
                                        <p:tgtEl>
                                          <p:spTgt spid="59"/>
                                        </p:tgtEl>
                                        <p:attrNameLst>
                                          <p:attrName>ppt_x</p:attrName>
                                          <p:attrName>ppt_y</p:attrName>
                                        </p:attrNameLst>
                                      </p:cBhvr>
                                      <p:rCtr x="77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2961AEFA-E157-0C29-796B-4579D0BB8AC8}"/>
              </a:ext>
            </a:extLst>
          </p:cNvPr>
          <p:cNvSpPr>
            <a:spLocks noGrp="1"/>
          </p:cNvSpPr>
          <p:nvPr>
            <p:ph type="title"/>
          </p:nvPr>
        </p:nvSpPr>
        <p:spPr/>
        <p:txBody>
          <a:bodyPr/>
          <a:lstStyle/>
          <a:p>
            <a:r>
              <a:rPr lang="ja-JP" altLang="en-US" b="1" dirty="0"/>
              <a:t>パイプライン化</a:t>
            </a:r>
            <a:endParaRPr lang="en-US" altLang="ja-JP" b="1" dirty="0"/>
          </a:p>
        </p:txBody>
      </p:sp>
    </p:spTree>
    <p:extLst>
      <p:ext uri="{BB962C8B-B14F-4D97-AF65-F5344CB8AC3E}">
        <p14:creationId xmlns:p14="http://schemas.microsoft.com/office/powerpoint/2010/main" val="3034790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marL="457200" indent="-457200">
              <a:buFont typeface="+mj-lt"/>
              <a:buAutoNum type="arabicPeriod"/>
            </a:pPr>
            <a:r>
              <a:rPr kumimoji="1" lang="ja-JP" altLang="en-US" b="1" dirty="0"/>
              <a:t>上記のパイプライン化</a:t>
            </a:r>
            <a:endParaRPr kumimoji="1" lang="en-US" altLang="ja-JP" b="1" dirty="0"/>
          </a:p>
          <a:p>
            <a:pPr marL="457200" indent="-457200">
              <a:buFont typeface="+mj-lt"/>
              <a:buAutoNum type="arabicPeriod"/>
            </a:pPr>
            <a:r>
              <a:rPr kumimoji="1" lang="ja-JP" altLang="en-US" dirty="0"/>
              <a:t>パイプライン化の性能への影響</a:t>
            </a:r>
          </a:p>
        </p:txBody>
      </p:sp>
    </p:spTree>
    <p:extLst>
      <p:ext uri="{BB962C8B-B14F-4D97-AF65-F5344CB8AC3E}">
        <p14:creationId xmlns:p14="http://schemas.microsoft.com/office/powerpoint/2010/main" val="2906455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a:t>
            </a:r>
          </a:p>
        </p:txBody>
      </p:sp>
      <p:sp>
        <p:nvSpPr>
          <p:cNvPr id="3" name="テキスト プレースホルダー 2"/>
          <p:cNvSpPr>
            <a:spLocks noGrp="1"/>
          </p:cNvSpPr>
          <p:nvPr>
            <p:ph type="body" sz="quarter" idx="10"/>
          </p:nvPr>
        </p:nvSpPr>
        <p:spPr/>
        <p:txBody>
          <a:bodyPr/>
          <a:lstStyle/>
          <a:p>
            <a:r>
              <a:rPr lang="ja-JP" altLang="en-US" dirty="0"/>
              <a:t>回路のまとまりをオーバラップさせる単位にする</a:t>
            </a:r>
            <a:endParaRPr lang="en-US" altLang="ja-JP" dirty="0"/>
          </a:p>
          <a:p>
            <a:pPr lvl="1"/>
            <a:r>
              <a:rPr lang="ja-JP" altLang="en-US" dirty="0"/>
              <a:t>この単位を</a:t>
            </a:r>
            <a:r>
              <a:rPr lang="ja-JP" altLang="en-US" dirty="0">
                <a:solidFill>
                  <a:schemeClr val="accent5"/>
                </a:solidFill>
              </a:rPr>
              <a:t>ステージ</a:t>
            </a:r>
            <a:r>
              <a:rPr lang="ja-JP" altLang="en-US" dirty="0"/>
              <a:t>と呼ぶ</a:t>
            </a:r>
            <a:endParaRPr lang="en-US" altLang="ja-JP" dirty="0"/>
          </a:p>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pPr lvl="1"/>
            <a:endParaRPr lang="en-US" altLang="ja-JP" dirty="0"/>
          </a:p>
          <a:p>
            <a:endParaRPr kumimoji="1" lang="ja-JP" altLang="en-US" dirty="0"/>
          </a:p>
        </p:txBody>
      </p:sp>
    </p:spTree>
    <p:extLst>
      <p:ext uri="{BB962C8B-B14F-4D97-AF65-F5344CB8AC3E}">
        <p14:creationId xmlns:p14="http://schemas.microsoft.com/office/powerpoint/2010/main" val="10240367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40755-4195-7BE8-88C2-3C59E51837CE}"/>
            </a:ext>
          </a:extLst>
        </p:cNvPr>
        <p:cNvGrpSpPr/>
        <p:nvPr/>
      </p:nvGrpSpPr>
      <p:grpSpPr>
        <a:xfrm>
          <a:off x="0" y="0"/>
          <a:ext cx="0" cy="0"/>
          <a:chOff x="0" y="0"/>
          <a:chExt cx="0" cy="0"/>
        </a:xfrm>
      </p:grpSpPr>
      <p:grpSp>
        <p:nvGrpSpPr>
          <p:cNvPr id="34" name="グループ化 33">
            <a:extLst>
              <a:ext uri="{FF2B5EF4-FFF2-40B4-BE49-F238E27FC236}">
                <a16:creationId xmlns:a16="http://schemas.microsoft.com/office/drawing/2014/main" id="{B0265C8C-FAF2-7365-CF90-9BBC6CFB629D}"/>
              </a:ext>
            </a:extLst>
          </p:cNvPr>
          <p:cNvGrpSpPr/>
          <p:nvPr/>
        </p:nvGrpSpPr>
        <p:grpSpPr>
          <a:xfrm>
            <a:off x="3125967" y="3158997"/>
            <a:ext cx="1562400" cy="576064"/>
            <a:chOff x="971600" y="5445224"/>
            <a:chExt cx="7200800" cy="576064"/>
          </a:xfrm>
        </p:grpSpPr>
        <p:sp>
          <p:nvSpPr>
            <p:cNvPr id="35" name="平行四辺形 34">
              <a:extLst>
                <a:ext uri="{FF2B5EF4-FFF2-40B4-BE49-F238E27FC236}">
                  <a16:creationId xmlns:a16="http://schemas.microsoft.com/office/drawing/2014/main" id="{3A0B9139-9B3D-3FBD-EC1C-1DB09970F54A}"/>
                </a:ext>
              </a:extLst>
            </p:cNvPr>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a:extLst>
                <a:ext uri="{FF2B5EF4-FFF2-40B4-BE49-F238E27FC236}">
                  <a16:creationId xmlns:a16="http://schemas.microsoft.com/office/drawing/2014/main" id="{42080EBB-BDB4-34F9-51D8-D932AA598773}"/>
                </a:ext>
              </a:extLst>
            </p:cNvPr>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a:extLst>
              <a:ext uri="{FF2B5EF4-FFF2-40B4-BE49-F238E27FC236}">
                <a16:creationId xmlns:a16="http://schemas.microsoft.com/office/drawing/2014/main" id="{78C09813-8575-4EAD-FF58-6EEC6BBAACAA}"/>
              </a:ext>
            </a:extLst>
          </p:cNvPr>
          <p:cNvGrpSpPr/>
          <p:nvPr/>
        </p:nvGrpSpPr>
        <p:grpSpPr>
          <a:xfrm>
            <a:off x="4566127" y="3158997"/>
            <a:ext cx="1562400" cy="576064"/>
            <a:chOff x="971600" y="5445224"/>
            <a:chExt cx="7200800" cy="576064"/>
          </a:xfrm>
        </p:grpSpPr>
        <p:sp>
          <p:nvSpPr>
            <p:cNvPr id="50" name="平行四辺形 49">
              <a:extLst>
                <a:ext uri="{FF2B5EF4-FFF2-40B4-BE49-F238E27FC236}">
                  <a16:creationId xmlns:a16="http://schemas.microsoft.com/office/drawing/2014/main" id="{A82CA60D-598B-1DBB-15D5-45DE76F084DD}"/>
                </a:ext>
              </a:extLst>
            </p:cNvPr>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a:extLst>
                <a:ext uri="{FF2B5EF4-FFF2-40B4-BE49-F238E27FC236}">
                  <a16:creationId xmlns:a16="http://schemas.microsoft.com/office/drawing/2014/main" id="{61E538B2-DFE6-9522-85E0-3D5DE48614B9}"/>
                </a:ext>
              </a:extLst>
            </p:cNvPr>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a:extLst>
              <a:ext uri="{FF2B5EF4-FFF2-40B4-BE49-F238E27FC236}">
                <a16:creationId xmlns:a16="http://schemas.microsoft.com/office/drawing/2014/main" id="{995B3B11-8B85-E22A-0ECD-C8C44623363F}"/>
              </a:ext>
            </a:extLst>
          </p:cNvPr>
          <p:cNvGrpSpPr/>
          <p:nvPr/>
        </p:nvGrpSpPr>
        <p:grpSpPr>
          <a:xfrm>
            <a:off x="6006287" y="3158997"/>
            <a:ext cx="1562400" cy="576064"/>
            <a:chOff x="971600" y="5445224"/>
            <a:chExt cx="7200800" cy="576064"/>
          </a:xfrm>
        </p:grpSpPr>
        <p:sp>
          <p:nvSpPr>
            <p:cNvPr id="53" name="平行四辺形 52">
              <a:extLst>
                <a:ext uri="{FF2B5EF4-FFF2-40B4-BE49-F238E27FC236}">
                  <a16:creationId xmlns:a16="http://schemas.microsoft.com/office/drawing/2014/main" id="{1BBE695C-8576-8F80-BDB7-B1C0214061EB}"/>
                </a:ext>
              </a:extLst>
            </p:cNvPr>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a:extLst>
                <a:ext uri="{FF2B5EF4-FFF2-40B4-BE49-F238E27FC236}">
                  <a16:creationId xmlns:a16="http://schemas.microsoft.com/office/drawing/2014/main" id="{113F3414-C949-0C57-9AEF-F37850319BDE}"/>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a:extLst>
              <a:ext uri="{FF2B5EF4-FFF2-40B4-BE49-F238E27FC236}">
                <a16:creationId xmlns:a16="http://schemas.microsoft.com/office/drawing/2014/main" id="{F6198D11-7CCF-E658-2740-B6FD3B3ABB57}"/>
              </a:ext>
            </a:extLst>
          </p:cNvPr>
          <p:cNvGrpSpPr/>
          <p:nvPr/>
        </p:nvGrpSpPr>
        <p:grpSpPr>
          <a:xfrm>
            <a:off x="7446447" y="3158997"/>
            <a:ext cx="1584176" cy="576064"/>
            <a:chOff x="971600" y="5445224"/>
            <a:chExt cx="7200800" cy="576064"/>
          </a:xfrm>
        </p:grpSpPr>
        <p:sp>
          <p:nvSpPr>
            <p:cNvPr id="62" name="平行四辺形 61">
              <a:extLst>
                <a:ext uri="{FF2B5EF4-FFF2-40B4-BE49-F238E27FC236}">
                  <a16:creationId xmlns:a16="http://schemas.microsoft.com/office/drawing/2014/main" id="{2624E4CB-0CFE-BC4F-31F1-94300F514DCD}"/>
                </a:ext>
              </a:extLst>
            </p:cNvPr>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a:extLst>
                <a:ext uri="{FF2B5EF4-FFF2-40B4-BE49-F238E27FC236}">
                  <a16:creationId xmlns:a16="http://schemas.microsoft.com/office/drawing/2014/main" id="{451D0F4F-BEDC-3606-4808-EA77BCD0E28E}"/>
                </a:ext>
              </a:extLst>
            </p:cNvPr>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 name="正方形/長方形 2">
            <a:extLst>
              <a:ext uri="{FF2B5EF4-FFF2-40B4-BE49-F238E27FC236}">
                <a16:creationId xmlns:a16="http://schemas.microsoft.com/office/drawing/2014/main" id="{64A8BB45-5021-C843-47DD-0F4B2E436F8F}"/>
              </a:ext>
            </a:extLst>
          </p:cNvPr>
          <p:cNvSpPr/>
          <p:nvPr/>
        </p:nvSpPr>
        <p:spPr>
          <a:xfrm>
            <a:off x="3087811" y="229445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6" name="正方形/長方形 35">
            <a:extLst>
              <a:ext uri="{FF2B5EF4-FFF2-40B4-BE49-F238E27FC236}">
                <a16:creationId xmlns:a16="http://schemas.microsoft.com/office/drawing/2014/main" id="{A8E0E389-AD52-358B-8FE2-97A05CC4E172}"/>
              </a:ext>
            </a:extLst>
          </p:cNvPr>
          <p:cNvSpPr/>
          <p:nvPr/>
        </p:nvSpPr>
        <p:spPr>
          <a:xfrm>
            <a:off x="4527971"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a:extLst>
              <a:ext uri="{FF2B5EF4-FFF2-40B4-BE49-F238E27FC236}">
                <a16:creationId xmlns:a16="http://schemas.microsoft.com/office/drawing/2014/main" id="{27A3D456-DD2A-6A2E-F9A1-D4B7647FC1D8}"/>
              </a:ext>
            </a:extLst>
          </p:cNvPr>
          <p:cNvSpPr/>
          <p:nvPr/>
        </p:nvSpPr>
        <p:spPr>
          <a:xfrm>
            <a:off x="5970018"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a:extLst>
              <a:ext uri="{FF2B5EF4-FFF2-40B4-BE49-F238E27FC236}">
                <a16:creationId xmlns:a16="http://schemas.microsoft.com/office/drawing/2014/main" id="{ADE17310-2699-6122-2B06-2A4E54B1B783}"/>
              </a:ext>
            </a:extLst>
          </p:cNvPr>
          <p:cNvSpPr/>
          <p:nvPr/>
        </p:nvSpPr>
        <p:spPr>
          <a:xfrm>
            <a:off x="7410178"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a:extLst>
              <a:ext uri="{FF2B5EF4-FFF2-40B4-BE49-F238E27FC236}">
                <a16:creationId xmlns:a16="http://schemas.microsoft.com/office/drawing/2014/main" id="{CD931DB3-6B2E-AF51-AADB-12FD30FE1E01}"/>
              </a:ext>
            </a:extLst>
          </p:cNvPr>
          <p:cNvSpPr>
            <a:spLocks noGrp="1"/>
          </p:cNvSpPr>
          <p:nvPr>
            <p:ph type="title"/>
          </p:nvPr>
        </p:nvSpPr>
        <p:spPr/>
        <p:txBody>
          <a:bodyPr/>
          <a:lstStyle/>
          <a:p>
            <a:r>
              <a:rPr lang="ja-JP" altLang="en-US" dirty="0"/>
              <a:t>工場のラインを考える（再）</a:t>
            </a:r>
            <a:endParaRPr kumimoji="1" lang="ja-JP" altLang="en-US" dirty="0"/>
          </a:p>
        </p:txBody>
      </p:sp>
      <p:sp>
        <p:nvSpPr>
          <p:cNvPr id="58" name="コンテンツ プレースホルダー 57">
            <a:extLst>
              <a:ext uri="{FF2B5EF4-FFF2-40B4-BE49-F238E27FC236}">
                <a16:creationId xmlns:a16="http://schemas.microsoft.com/office/drawing/2014/main" id="{58B56F96-56CF-33F8-07EF-13ECA8F3288F}"/>
              </a:ext>
            </a:extLst>
          </p:cNvPr>
          <p:cNvSpPr>
            <a:spLocks noGrp="1"/>
          </p:cNvSpPr>
          <p:nvPr>
            <p:ph type="body" sz="quarter" idx="10"/>
          </p:nvPr>
        </p:nvSpPr>
        <p:spPr>
          <a:xfrm>
            <a:off x="2045955" y="4869021"/>
            <a:ext cx="8460094" cy="1369161"/>
          </a:xfrm>
          <a:prstGeom prst="rect">
            <a:avLst/>
          </a:prstGeom>
        </p:spPr>
        <p:txBody>
          <a:bodyPr/>
          <a:lstStyle/>
          <a:p>
            <a:r>
              <a:rPr lang="ja-JP" altLang="en-US" dirty="0"/>
              <a:t>実際の工場：複数の製品を同時に流す</a:t>
            </a:r>
            <a:endParaRPr lang="en-US" altLang="ja-JP" dirty="0"/>
          </a:p>
          <a:p>
            <a:pPr lvl="1"/>
            <a:r>
              <a:rPr lang="ja-JP" altLang="en-US" dirty="0"/>
              <a:t>各工程を並列して処理することによりスループットを向上</a:t>
            </a:r>
            <a:endParaRPr lang="en-US" altLang="ja-JP" dirty="0"/>
          </a:p>
          <a:p>
            <a:r>
              <a:rPr lang="ja-JP" altLang="en-US" dirty="0"/>
              <a:t>これが </a:t>
            </a:r>
            <a:r>
              <a:rPr lang="ja-JP" altLang="en-US" dirty="0">
                <a:solidFill>
                  <a:schemeClr val="accent5"/>
                </a:solidFill>
              </a:rPr>
              <a:t>命令パイプライン</a:t>
            </a:r>
            <a:endParaRPr lang="en-US" altLang="ja-JP" dirty="0">
              <a:solidFill>
                <a:schemeClr val="tx1">
                  <a:lumMod val="85000"/>
                  <a:lumOff val="15000"/>
                </a:schemeClr>
              </a:solidFill>
            </a:endParaRPr>
          </a:p>
        </p:txBody>
      </p:sp>
      <p:cxnSp>
        <p:nvCxnSpPr>
          <p:cNvPr id="67" name="直線矢印コネクタ 66">
            <a:extLst>
              <a:ext uri="{FF2B5EF4-FFF2-40B4-BE49-F238E27FC236}">
                <a16:creationId xmlns:a16="http://schemas.microsoft.com/office/drawing/2014/main" id="{E8E2FA4D-722B-FB57-B22B-3CAAB39D602C}"/>
              </a:ext>
            </a:extLst>
          </p:cNvPr>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a:extLst>
              <a:ext uri="{FF2B5EF4-FFF2-40B4-BE49-F238E27FC236}">
                <a16:creationId xmlns:a16="http://schemas.microsoft.com/office/drawing/2014/main" id="{257D05D0-1E82-CA9C-8A04-40F25973C804}"/>
              </a:ext>
            </a:extLst>
          </p:cNvPr>
          <p:cNvGrpSpPr/>
          <p:nvPr/>
        </p:nvGrpSpPr>
        <p:grpSpPr>
          <a:xfrm>
            <a:off x="-3624108" y="2978996"/>
            <a:ext cx="6480073" cy="360005"/>
            <a:chOff x="611956" y="3699003"/>
            <a:chExt cx="6480073" cy="360005"/>
          </a:xfrm>
        </p:grpSpPr>
        <p:sp>
          <p:nvSpPr>
            <p:cNvPr id="90" name="角丸四角形 89">
              <a:extLst>
                <a:ext uri="{FF2B5EF4-FFF2-40B4-BE49-F238E27FC236}">
                  <a16:creationId xmlns:a16="http://schemas.microsoft.com/office/drawing/2014/main" id="{AF8CBACB-3EE7-4954-2507-E21977E3AEBE}"/>
                </a:ext>
              </a:extLst>
            </p:cNvPr>
            <p:cNvSpPr/>
            <p:nvPr/>
          </p:nvSpPr>
          <p:spPr bwMode="auto">
            <a:xfrm>
              <a:off x="6372021"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1" name="角丸四角形 90">
              <a:extLst>
                <a:ext uri="{FF2B5EF4-FFF2-40B4-BE49-F238E27FC236}">
                  <a16:creationId xmlns:a16="http://schemas.microsoft.com/office/drawing/2014/main" id="{934B466A-E7C4-62F0-E82A-2659F0B9FA78}"/>
                </a:ext>
              </a:extLst>
            </p:cNvPr>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a:extLst>
                <a:ext uri="{FF2B5EF4-FFF2-40B4-BE49-F238E27FC236}">
                  <a16:creationId xmlns:a16="http://schemas.microsoft.com/office/drawing/2014/main" id="{6726C058-145A-44B3-B9F7-525DC76BE78E}"/>
                </a:ext>
              </a:extLst>
            </p:cNvPr>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a:extLst>
                <a:ext uri="{FF2B5EF4-FFF2-40B4-BE49-F238E27FC236}">
                  <a16:creationId xmlns:a16="http://schemas.microsoft.com/office/drawing/2014/main" id="{E29E30DA-6A4F-DC78-AEBC-651C3DFC175B}"/>
                </a:ext>
              </a:extLst>
            </p:cNvPr>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a:extLst>
                <a:ext uri="{FF2B5EF4-FFF2-40B4-BE49-F238E27FC236}">
                  <a16:creationId xmlns:a16="http://schemas.microsoft.com/office/drawing/2014/main" id="{937326F2-FD9A-551D-27B5-8A271583DF16}"/>
                </a:ext>
              </a:extLst>
            </p:cNvPr>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a:extLst>
              <a:ext uri="{FF2B5EF4-FFF2-40B4-BE49-F238E27FC236}">
                <a16:creationId xmlns:a16="http://schemas.microsoft.com/office/drawing/2014/main" id="{AA742068-E3F9-99E0-410E-DFDE89E30C7B}"/>
              </a:ext>
            </a:extLst>
          </p:cNvPr>
          <p:cNvSpPr/>
          <p:nvPr/>
        </p:nvSpPr>
        <p:spPr bwMode="auto">
          <a:xfrm>
            <a:off x="0" y="2817094"/>
            <a:ext cx="3017685"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2290640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16667E-7 1.85185E-6 L 0.1181 1.85185E-6 " pathEditMode="relative" rAng="0" ptsTypes="AA">
                                      <p:cBhvr>
                                        <p:cTn id="6" dur="1000" fill="hold"/>
                                        <p:tgtEl>
                                          <p:spTgt spid="6"/>
                                        </p:tgtEl>
                                        <p:attrNameLst>
                                          <p:attrName>ppt_x</p:attrName>
                                          <p:attrName>ppt_y</p:attrName>
                                        </p:attrNameLst>
                                      </p:cBhvr>
                                      <p:rCtr x="5898"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1181 1.85185E-6 L 0.22891 1.85185E-6 " pathEditMode="relative" rAng="0" ptsTypes="AA">
                                      <p:cBhvr>
                                        <p:cTn id="10" dur="1000" fill="hold"/>
                                        <p:tgtEl>
                                          <p:spTgt spid="6"/>
                                        </p:tgtEl>
                                        <p:attrNameLst>
                                          <p:attrName>ppt_x</p:attrName>
                                          <p:attrName>ppt_y</p:attrName>
                                        </p:attrNameLst>
                                      </p:cBhvr>
                                      <p:rCtr x="5534"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22891 1.85185E-6 L 0.3543 1.85185E-6 " pathEditMode="relative" rAng="0" ptsTypes="AA">
                                      <p:cBhvr>
                                        <p:cTn id="14" dur="1000" fill="hold"/>
                                        <p:tgtEl>
                                          <p:spTgt spid="6"/>
                                        </p:tgtEl>
                                        <p:attrNameLst>
                                          <p:attrName>ppt_x</p:attrName>
                                          <p:attrName>ppt_y</p:attrName>
                                        </p:attrNameLst>
                                      </p:cBhvr>
                                      <p:rCtr x="5898" y="0"/>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nodeType="clickEffect">
                                  <p:stCondLst>
                                    <p:cond delay="0"/>
                                  </p:stCondLst>
                                  <p:childTnLst>
                                    <p:animMotion origin="layout" path="M 0.3543 1.85185E-6 L 0.4724 1.85185E-6 " pathEditMode="relative" rAng="0" ptsTypes="AA">
                                      <p:cBhvr>
                                        <p:cTn id="18" dur="1000" fill="hold"/>
                                        <p:tgtEl>
                                          <p:spTgt spid="6"/>
                                        </p:tgtEl>
                                        <p:attrNameLst>
                                          <p:attrName>ppt_x</p:attrName>
                                          <p:attrName>ppt_y</p:attrName>
                                        </p:attrNameLst>
                                      </p:cBhvr>
                                      <p:rCtr x="589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命令パイプラインの実行の様子</a:t>
            </a:r>
            <a:endParaRPr lang="en-US" altLang="ja-JP" dirty="0"/>
          </a:p>
        </p:txBody>
      </p:sp>
      <p:sp>
        <p:nvSpPr>
          <p:cNvPr id="202755" name="Rectangle 3"/>
          <p:cNvSpPr>
            <a:spLocks noChangeArrowheads="1"/>
          </p:cNvSpPr>
          <p:nvPr/>
        </p:nvSpPr>
        <p:spPr bwMode="auto">
          <a:xfrm>
            <a:off x="3665538" y="1268981"/>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6" name="AutoShape 4"/>
          <p:cNvCxnSpPr>
            <a:cxnSpLocks noChangeShapeType="1"/>
            <a:stCxn id="202755" idx="3"/>
            <a:endCxn id="202757" idx="1"/>
          </p:cNvCxnSpPr>
          <p:nvPr/>
        </p:nvCxnSpPr>
        <p:spPr bwMode="auto">
          <a:xfrm>
            <a:off x="4224338" y="1540438"/>
            <a:ext cx="500062"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7" name="Rectangle 5"/>
          <p:cNvSpPr>
            <a:spLocks noChangeArrowheads="1"/>
          </p:cNvSpPr>
          <p:nvPr/>
        </p:nvSpPr>
        <p:spPr bwMode="auto">
          <a:xfrm>
            <a:off x="4743450" y="1268981"/>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58" name="AutoShape 6"/>
          <p:cNvCxnSpPr>
            <a:cxnSpLocks noChangeShapeType="1"/>
            <a:stCxn id="202757" idx="3"/>
            <a:endCxn id="202759" idx="1"/>
          </p:cNvCxnSpPr>
          <p:nvPr/>
        </p:nvCxnSpPr>
        <p:spPr bwMode="auto">
          <a:xfrm>
            <a:off x="5302255" y="1540438"/>
            <a:ext cx="504825"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59" name="Rectangle 7"/>
          <p:cNvSpPr>
            <a:spLocks noChangeArrowheads="1"/>
          </p:cNvSpPr>
          <p:nvPr/>
        </p:nvSpPr>
        <p:spPr bwMode="auto">
          <a:xfrm>
            <a:off x="5826125" y="1268981"/>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0" name="AutoShape 8"/>
          <p:cNvCxnSpPr>
            <a:cxnSpLocks noChangeShapeType="1"/>
            <a:stCxn id="202759" idx="3"/>
            <a:endCxn id="202761" idx="1"/>
          </p:cNvCxnSpPr>
          <p:nvPr/>
        </p:nvCxnSpPr>
        <p:spPr bwMode="auto">
          <a:xfrm>
            <a:off x="6384925" y="1540438"/>
            <a:ext cx="501650"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1" name="Rectangle 9"/>
          <p:cNvSpPr>
            <a:spLocks noChangeArrowheads="1"/>
          </p:cNvSpPr>
          <p:nvPr/>
        </p:nvSpPr>
        <p:spPr bwMode="auto">
          <a:xfrm>
            <a:off x="6905625" y="1268981"/>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cxnSp>
        <p:nvCxnSpPr>
          <p:cNvPr id="202762" name="AutoShape 10"/>
          <p:cNvCxnSpPr>
            <a:cxnSpLocks noChangeShapeType="1"/>
            <a:stCxn id="202761" idx="3"/>
            <a:endCxn id="202763" idx="1"/>
          </p:cNvCxnSpPr>
          <p:nvPr/>
        </p:nvCxnSpPr>
        <p:spPr bwMode="auto">
          <a:xfrm>
            <a:off x="7464425" y="1540438"/>
            <a:ext cx="503238" cy="0"/>
          </a:xfrm>
          <a:prstGeom prst="straightConnector1">
            <a:avLst/>
          </a:prstGeom>
          <a:ln>
            <a:headEnd/>
            <a:tailEnd type="triangle" w="med" len="lg"/>
          </a:ln>
        </p:spPr>
        <p:style>
          <a:lnRef idx="2">
            <a:schemeClr val="dk1"/>
          </a:lnRef>
          <a:fillRef idx="0">
            <a:schemeClr val="dk1"/>
          </a:fillRef>
          <a:effectRef idx="1">
            <a:schemeClr val="dk1"/>
          </a:effectRef>
          <a:fontRef idx="minor">
            <a:schemeClr val="tx1"/>
          </a:fontRef>
        </p:style>
      </p:cxnSp>
      <p:sp>
        <p:nvSpPr>
          <p:cNvPr id="202763" name="Rectangle 11"/>
          <p:cNvSpPr>
            <a:spLocks noChangeArrowheads="1"/>
          </p:cNvSpPr>
          <p:nvPr/>
        </p:nvSpPr>
        <p:spPr bwMode="auto">
          <a:xfrm>
            <a:off x="7986713" y="1268981"/>
            <a:ext cx="539750" cy="541337"/>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endParaRPr lang="ja-JP" altLang="en-US"/>
          </a:p>
        </p:txBody>
      </p:sp>
      <p:sp>
        <p:nvSpPr>
          <p:cNvPr id="202764" name="Rectangle 12"/>
          <p:cNvSpPr>
            <a:spLocks noChangeArrowheads="1"/>
          </p:cNvSpPr>
          <p:nvPr/>
        </p:nvSpPr>
        <p:spPr bwMode="auto">
          <a:xfrm>
            <a:off x="3756030" y="1899218"/>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dirty="0"/>
              <a:t>IF</a:t>
            </a:r>
          </a:p>
        </p:txBody>
      </p:sp>
      <p:sp>
        <p:nvSpPr>
          <p:cNvPr id="202765" name="Rectangle 13"/>
          <p:cNvSpPr>
            <a:spLocks noChangeArrowheads="1"/>
          </p:cNvSpPr>
          <p:nvPr/>
        </p:nvSpPr>
        <p:spPr bwMode="auto">
          <a:xfrm>
            <a:off x="4835530" y="1899218"/>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ID</a:t>
            </a:r>
          </a:p>
        </p:txBody>
      </p:sp>
      <p:sp>
        <p:nvSpPr>
          <p:cNvPr id="202766" name="Rectangle 14"/>
          <p:cNvSpPr>
            <a:spLocks noChangeArrowheads="1"/>
          </p:cNvSpPr>
          <p:nvPr/>
        </p:nvSpPr>
        <p:spPr bwMode="auto">
          <a:xfrm>
            <a:off x="5915030" y="1899218"/>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EX</a:t>
            </a:r>
          </a:p>
        </p:txBody>
      </p:sp>
      <p:sp>
        <p:nvSpPr>
          <p:cNvPr id="202767" name="Rectangle 15"/>
          <p:cNvSpPr>
            <a:spLocks noChangeArrowheads="1"/>
          </p:cNvSpPr>
          <p:nvPr/>
        </p:nvSpPr>
        <p:spPr bwMode="auto">
          <a:xfrm>
            <a:off x="6994530" y="1899218"/>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MEM</a:t>
            </a:r>
          </a:p>
        </p:txBody>
      </p:sp>
      <p:sp>
        <p:nvSpPr>
          <p:cNvPr id="202768" name="Rectangle 16"/>
          <p:cNvSpPr>
            <a:spLocks noChangeArrowheads="1"/>
          </p:cNvSpPr>
          <p:nvPr/>
        </p:nvSpPr>
        <p:spPr bwMode="auto">
          <a:xfrm>
            <a:off x="8074030" y="1899218"/>
            <a:ext cx="360363" cy="360363"/>
          </a:xfrm>
          <a:prstGeom prst="rect">
            <a:avLst/>
          </a:prstGeom>
          <a:noFill/>
          <a:ln w="12700">
            <a:noFill/>
            <a:miter lim="800000"/>
            <a:headEnd/>
            <a:tailEnd/>
          </a:ln>
          <a:effectLst/>
        </p:spPr>
        <p:txBody>
          <a:bodyPr wrap="none" lIns="93600" tIns="46800" rIns="93600" bIns="46800" anchor="ctr"/>
          <a:lstStyle/>
          <a:p>
            <a:pPr algn="ctr"/>
            <a:r>
              <a:rPr lang="en-US" altLang="ja-JP" sz="2000"/>
              <a:t>WB</a:t>
            </a:r>
          </a:p>
        </p:txBody>
      </p:sp>
      <p:grpSp>
        <p:nvGrpSpPr>
          <p:cNvPr id="202769" name="Group 17"/>
          <p:cNvGrpSpPr>
            <a:grpSpLocks/>
          </p:cNvGrpSpPr>
          <p:nvPr/>
        </p:nvGrpSpPr>
        <p:grpSpPr bwMode="auto">
          <a:xfrm>
            <a:off x="-2725738" y="1357876"/>
            <a:ext cx="5761038" cy="360362"/>
            <a:chOff x="725" y="1876"/>
            <a:chExt cx="3629" cy="227"/>
          </a:xfrm>
        </p:grpSpPr>
        <p:sp>
          <p:nvSpPr>
            <p:cNvPr id="202770" name="Rectangle 18"/>
            <p:cNvSpPr>
              <a:spLocks noChangeArrowheads="1"/>
            </p:cNvSpPr>
            <p:nvPr/>
          </p:nvSpPr>
          <p:spPr bwMode="auto">
            <a:xfrm>
              <a:off x="412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771" name="Rectangle 19"/>
            <p:cNvSpPr>
              <a:spLocks noChangeArrowheads="1"/>
            </p:cNvSpPr>
            <p:nvPr/>
          </p:nvSpPr>
          <p:spPr bwMode="auto">
            <a:xfrm>
              <a:off x="344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772" name="Rectangle 20"/>
            <p:cNvSpPr>
              <a:spLocks noChangeArrowheads="1"/>
            </p:cNvSpPr>
            <p:nvPr/>
          </p:nvSpPr>
          <p:spPr bwMode="auto">
            <a:xfrm>
              <a:off x="2767"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773" name="Rectangle 21"/>
            <p:cNvSpPr>
              <a:spLocks noChangeArrowheads="1"/>
            </p:cNvSpPr>
            <p:nvPr/>
          </p:nvSpPr>
          <p:spPr bwMode="auto">
            <a:xfrm>
              <a:off x="208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774" name="Rectangle 22"/>
            <p:cNvSpPr>
              <a:spLocks noChangeArrowheads="1"/>
            </p:cNvSpPr>
            <p:nvPr/>
          </p:nvSpPr>
          <p:spPr bwMode="auto">
            <a:xfrm>
              <a:off x="1406"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775" name="Rectangle 23"/>
            <p:cNvSpPr>
              <a:spLocks noChangeArrowheads="1"/>
            </p:cNvSpPr>
            <p:nvPr/>
          </p:nvSpPr>
          <p:spPr bwMode="auto">
            <a:xfrm>
              <a:off x="725" y="1876"/>
              <a:ext cx="227" cy="227"/>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grpSp>
      <p:sp>
        <p:nvSpPr>
          <p:cNvPr id="202776" name="Rectangle 24"/>
          <p:cNvSpPr>
            <a:spLocks noChangeArrowheads="1"/>
          </p:cNvSpPr>
          <p:nvPr/>
        </p:nvSpPr>
        <p:spPr bwMode="auto">
          <a:xfrm>
            <a:off x="2944813"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316163" y="27993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316163" y="3429568"/>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316163" y="4058218"/>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316163" y="468845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316163" y="5318693"/>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765430" y="252786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665538" y="2708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378325" y="27056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5091113" y="2702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803900" y="269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665538" y="3339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378325" y="33359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5091113" y="3332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803900" y="332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546850" y="3347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378325" y="39661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5091113" y="3962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803900" y="395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546850" y="3977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7265988" y="3969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5091113" y="45932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803900" y="45900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546850" y="46074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7265988"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986713" y="45995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803900" y="52202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546850" y="52377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7265988"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986713"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705850" y="52297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1" name="Rectangle 89"/>
          <p:cNvSpPr>
            <a:spLocks noChangeArrowheads="1"/>
          </p:cNvSpPr>
          <p:nvPr/>
        </p:nvSpPr>
        <p:spPr bwMode="auto">
          <a:xfrm>
            <a:off x="6546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42" name="Rectangle 90"/>
          <p:cNvSpPr>
            <a:spLocks noChangeArrowheads="1"/>
          </p:cNvSpPr>
          <p:nvPr/>
        </p:nvSpPr>
        <p:spPr bwMode="auto">
          <a:xfrm>
            <a:off x="7265988"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43" name="Rectangle 91"/>
          <p:cNvSpPr>
            <a:spLocks noChangeArrowheads="1"/>
          </p:cNvSpPr>
          <p:nvPr/>
        </p:nvSpPr>
        <p:spPr bwMode="auto">
          <a:xfrm>
            <a:off x="7986713"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44" name="Rectangle 92"/>
          <p:cNvSpPr>
            <a:spLocks noChangeArrowheads="1"/>
          </p:cNvSpPr>
          <p:nvPr/>
        </p:nvSpPr>
        <p:spPr bwMode="auto">
          <a:xfrm>
            <a:off x="8705850"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5" name="Rectangle 93"/>
          <p:cNvSpPr>
            <a:spLocks noChangeArrowheads="1"/>
          </p:cNvSpPr>
          <p:nvPr/>
        </p:nvSpPr>
        <p:spPr bwMode="auto">
          <a:xfrm>
            <a:off x="9426575" y="58679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6" name="Rectangle 94"/>
          <p:cNvSpPr>
            <a:spLocks noChangeArrowheads="1"/>
          </p:cNvSpPr>
          <p:nvPr/>
        </p:nvSpPr>
        <p:spPr bwMode="auto">
          <a:xfrm>
            <a:off x="2316163" y="594892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I5</a:t>
            </a:r>
          </a:p>
        </p:txBody>
      </p:sp>
      <p:sp>
        <p:nvSpPr>
          <p:cNvPr id="202847" name="Rectangle 95"/>
          <p:cNvSpPr>
            <a:spLocks noChangeArrowheads="1"/>
          </p:cNvSpPr>
          <p:nvPr/>
        </p:nvSpPr>
        <p:spPr bwMode="auto">
          <a:xfrm>
            <a:off x="2855918" y="2618351"/>
            <a:ext cx="719137" cy="3789362"/>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875838" y="207860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
        <p:nvSpPr>
          <p:cNvPr id="2" name="正方形/長方形 1">
            <a:extLst>
              <a:ext uri="{FF2B5EF4-FFF2-40B4-BE49-F238E27FC236}">
                <a16:creationId xmlns:a16="http://schemas.microsoft.com/office/drawing/2014/main" id="{02AA025B-CC94-7718-EF5A-52EC2ADA0124}"/>
              </a:ext>
            </a:extLst>
          </p:cNvPr>
          <p:cNvSpPr/>
          <p:nvPr/>
        </p:nvSpPr>
        <p:spPr bwMode="auto">
          <a:xfrm>
            <a:off x="8976032" y="1178975"/>
            <a:ext cx="2554006"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Tree>
    <p:extLst>
      <p:ext uri="{BB962C8B-B14F-4D97-AF65-F5344CB8AC3E}">
        <p14:creationId xmlns:p14="http://schemas.microsoft.com/office/powerpoint/2010/main" val="2649396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08333E-7 -4.07407E-6 L 0.0888 0.00024 " pathEditMode="relative" rAng="0" ptsTypes="AA">
                                      <p:cBhvr>
                                        <p:cTn id="6" dur="2000" fill="hold"/>
                                        <p:tgtEl>
                                          <p:spTgt spid="202769"/>
                                        </p:tgtEl>
                                        <p:attrNameLst>
                                          <p:attrName>ppt_x</p:attrName>
                                          <p:attrName>ppt_y</p:attrName>
                                        </p:attrNameLst>
                                      </p:cBhvr>
                                      <p:rCtr x="4440" y="0"/>
                                    </p:animMotion>
                                  </p:childTnLst>
                                </p:cTn>
                              </p:par>
                              <p:par>
                                <p:cTn id="7" presetID="10" presetClass="entr" presetSubtype="0" fill="hold" grpId="0" nodeType="withEffect">
                                  <p:stCondLst>
                                    <p:cond delay="0"/>
                                  </p:stCondLst>
                                  <p:childTnLst>
                                    <p:set>
                                      <p:cBhvr>
                                        <p:cTn id="8" dur="1" fill="hold">
                                          <p:stCondLst>
                                            <p:cond delay="0"/>
                                          </p:stCondLst>
                                        </p:cTn>
                                        <p:tgtEl>
                                          <p:spTgt spid="202847"/>
                                        </p:tgtEl>
                                        <p:attrNameLst>
                                          <p:attrName>style.visibility</p:attrName>
                                        </p:attrNameLst>
                                      </p:cBhvr>
                                      <p:to>
                                        <p:strVal val="visible"/>
                                      </p:to>
                                    </p:set>
                                    <p:animEffect transition="in" filter="fade">
                                      <p:cBhvr>
                                        <p:cTn id="9" dur="2000"/>
                                        <p:tgtEl>
                                          <p:spTgt spid="202847"/>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0.0888 0.00024 L 0.17734 0.00024 " pathEditMode="relative" rAng="0" ptsTypes="AA">
                                      <p:cBhvr>
                                        <p:cTn id="13" dur="2000" fill="hold"/>
                                        <p:tgtEl>
                                          <p:spTgt spid="202769"/>
                                        </p:tgtEl>
                                        <p:attrNameLst>
                                          <p:attrName>ppt_x</p:attrName>
                                          <p:attrName>ppt_y</p:attrName>
                                        </p:attrNameLst>
                                      </p:cBhvr>
                                      <p:rCtr x="4427" y="0"/>
                                    </p:animMotion>
                                  </p:childTnLst>
                                </p:cTn>
                              </p:par>
                              <p:par>
                                <p:cTn id="14" presetID="63" presetClass="path" presetSubtype="0" accel="50000" decel="50000" fill="hold" grpId="1" nodeType="withEffect">
                                  <p:stCondLst>
                                    <p:cond delay="0"/>
                                  </p:stCondLst>
                                  <p:childTnLst>
                                    <p:animMotion origin="layout" path="M -1.875E-6 -3.7037E-7 L 0.05912 -0.00046 " pathEditMode="relative" rAng="0" ptsTypes="AA">
                                      <p:cBhvr>
                                        <p:cTn id="15" dur="2000" fill="hold"/>
                                        <p:tgtEl>
                                          <p:spTgt spid="202847"/>
                                        </p:tgtEl>
                                        <p:attrNameLst>
                                          <p:attrName>ppt_x</p:attrName>
                                          <p:attrName>ppt_y</p:attrName>
                                        </p:attrNameLst>
                                      </p:cBhvr>
                                      <p:rCtr x="2956" y="-23"/>
                                    </p:animMotion>
                                  </p:childTnLst>
                                </p:cTn>
                              </p:par>
                            </p:childTnLst>
                          </p:cTn>
                        </p:par>
                      </p:childTnLst>
                    </p:cTn>
                  </p:par>
                  <p:par>
                    <p:cTn id="16" fill="hold">
                      <p:stCondLst>
                        <p:cond delay="indefinite"/>
                      </p:stCondLst>
                      <p:childTnLst>
                        <p:par>
                          <p:cTn id="17" fill="hold">
                            <p:stCondLst>
                              <p:cond delay="0"/>
                            </p:stCondLst>
                            <p:childTnLst>
                              <p:par>
                                <p:cTn id="18" presetID="63" presetClass="path" presetSubtype="0" accel="50000" decel="50000" fill="hold" nodeType="clickEffect">
                                  <p:stCondLst>
                                    <p:cond delay="0"/>
                                  </p:stCondLst>
                                  <p:childTnLst>
                                    <p:animMotion origin="layout" path="M 0.17734 0.00024 L 0.26589 0.00024 " pathEditMode="relative" rAng="0" ptsTypes="AA">
                                      <p:cBhvr>
                                        <p:cTn id="19" dur="2000" fill="hold"/>
                                        <p:tgtEl>
                                          <p:spTgt spid="202769"/>
                                        </p:tgtEl>
                                        <p:attrNameLst>
                                          <p:attrName>ppt_x</p:attrName>
                                          <p:attrName>ppt_y</p:attrName>
                                        </p:attrNameLst>
                                      </p:cBhvr>
                                      <p:rCtr x="4427" y="0"/>
                                    </p:animMotion>
                                  </p:childTnLst>
                                </p:cTn>
                              </p:par>
                              <p:par>
                                <p:cTn id="20" presetID="63" presetClass="path" presetSubtype="0" accel="50000" decel="50000" fill="hold" grpId="2" nodeType="withEffect">
                                  <p:stCondLst>
                                    <p:cond delay="0"/>
                                  </p:stCondLst>
                                  <p:childTnLst>
                                    <p:animMotion origin="layout" path="M 0.05912 -0.00046 L 0.11823 -0.00046 " pathEditMode="relative" rAng="0" ptsTypes="AA">
                                      <p:cBhvr>
                                        <p:cTn id="21" dur="2000" fill="hold"/>
                                        <p:tgtEl>
                                          <p:spTgt spid="202847"/>
                                        </p:tgtEl>
                                        <p:attrNameLst>
                                          <p:attrName>ppt_x</p:attrName>
                                          <p:attrName>ppt_y</p:attrName>
                                        </p:attrNameLst>
                                      </p:cBhvr>
                                      <p:rCtr x="2956" y="0"/>
                                    </p:animMotion>
                                  </p:childTnLst>
                                </p:cTn>
                              </p:par>
                            </p:childTnLst>
                          </p:cTn>
                        </p:par>
                      </p:childTnLst>
                    </p:cTn>
                  </p:par>
                  <p:par>
                    <p:cTn id="22" fill="hold">
                      <p:stCondLst>
                        <p:cond delay="indefinite"/>
                      </p:stCondLst>
                      <p:childTnLst>
                        <p:par>
                          <p:cTn id="23" fill="hold">
                            <p:stCondLst>
                              <p:cond delay="0"/>
                            </p:stCondLst>
                            <p:childTnLst>
                              <p:par>
                                <p:cTn id="24" presetID="63" presetClass="path" presetSubtype="0" accel="50000" decel="50000" fill="hold" nodeType="clickEffect">
                                  <p:stCondLst>
                                    <p:cond delay="0"/>
                                  </p:stCondLst>
                                  <p:childTnLst>
                                    <p:animMotion origin="layout" path="M 0.26589 0.00024 L 0.35456 0.00024 " pathEditMode="relative" rAng="0" ptsTypes="AA">
                                      <p:cBhvr>
                                        <p:cTn id="25" dur="2000" fill="hold"/>
                                        <p:tgtEl>
                                          <p:spTgt spid="202769"/>
                                        </p:tgtEl>
                                        <p:attrNameLst>
                                          <p:attrName>ppt_x</p:attrName>
                                          <p:attrName>ppt_y</p:attrName>
                                        </p:attrNameLst>
                                      </p:cBhvr>
                                      <p:rCtr x="4427" y="0"/>
                                    </p:animMotion>
                                  </p:childTnLst>
                                </p:cTn>
                              </p:par>
                              <p:par>
                                <p:cTn id="26" presetID="63" presetClass="path" presetSubtype="0" accel="50000" decel="50000" fill="hold" grpId="3" nodeType="withEffect">
                                  <p:stCondLst>
                                    <p:cond delay="0"/>
                                  </p:stCondLst>
                                  <p:childTnLst>
                                    <p:animMotion origin="layout" path="M 0.11823 -0.00046 L 0.17722 -0.00046 " pathEditMode="relative" rAng="0" ptsTypes="AA">
                                      <p:cBhvr>
                                        <p:cTn id="27" dur="2000" fill="hold"/>
                                        <p:tgtEl>
                                          <p:spTgt spid="202847"/>
                                        </p:tgtEl>
                                        <p:attrNameLst>
                                          <p:attrName>ppt_x</p:attrName>
                                          <p:attrName>ppt_y</p:attrName>
                                        </p:attrNameLst>
                                      </p:cBhvr>
                                      <p:rCtr x="2943" y="0"/>
                                    </p:animMotion>
                                  </p:childTnLst>
                                </p:cTn>
                              </p:par>
                            </p:childTnLst>
                          </p:cTn>
                        </p:par>
                      </p:childTnLst>
                    </p:cTn>
                  </p:par>
                  <p:par>
                    <p:cTn id="28" fill="hold">
                      <p:stCondLst>
                        <p:cond delay="indefinite"/>
                      </p:stCondLst>
                      <p:childTnLst>
                        <p:par>
                          <p:cTn id="29" fill="hold">
                            <p:stCondLst>
                              <p:cond delay="0"/>
                            </p:stCondLst>
                            <p:childTnLst>
                              <p:par>
                                <p:cTn id="30" presetID="63" presetClass="path" presetSubtype="0" accel="50000" decel="50000" fill="hold" nodeType="clickEffect">
                                  <p:stCondLst>
                                    <p:cond delay="0"/>
                                  </p:stCondLst>
                                  <p:childTnLst>
                                    <p:animMotion origin="layout" path="M 0.35456 0.00024 L 0.4431 0.00024 " pathEditMode="relative" rAng="0" ptsTypes="AA">
                                      <p:cBhvr>
                                        <p:cTn id="31" dur="2000" fill="hold"/>
                                        <p:tgtEl>
                                          <p:spTgt spid="202769"/>
                                        </p:tgtEl>
                                        <p:attrNameLst>
                                          <p:attrName>ppt_x</p:attrName>
                                          <p:attrName>ppt_y</p:attrName>
                                        </p:attrNameLst>
                                      </p:cBhvr>
                                      <p:rCtr x="4427" y="0"/>
                                    </p:animMotion>
                                  </p:childTnLst>
                                </p:cTn>
                              </p:par>
                              <p:par>
                                <p:cTn id="32" presetID="63" presetClass="path" presetSubtype="0" accel="50000" decel="50000" fill="hold" grpId="4" nodeType="withEffect">
                                  <p:stCondLst>
                                    <p:cond delay="0"/>
                                  </p:stCondLst>
                                  <p:childTnLst>
                                    <p:animMotion origin="layout" path="M 0.17722 -0.00046 L 0.23633 -0.00046 " pathEditMode="relative" rAng="0" ptsTypes="AA">
                                      <p:cBhvr>
                                        <p:cTn id="33" dur="2000" fill="hold"/>
                                        <p:tgtEl>
                                          <p:spTgt spid="202847"/>
                                        </p:tgtEl>
                                        <p:attrNameLst>
                                          <p:attrName>ppt_x</p:attrName>
                                          <p:attrName>ppt_y</p:attrName>
                                        </p:attrNameLst>
                                      </p:cBhvr>
                                      <p:rCtr x="2956" y="0"/>
                                    </p:animMotion>
                                  </p:childTnLst>
                                </p:cTn>
                              </p:par>
                            </p:childTnLst>
                          </p:cTn>
                        </p:par>
                      </p:childTnLst>
                    </p:cTn>
                  </p:par>
                  <p:par>
                    <p:cTn id="34" fill="hold">
                      <p:stCondLst>
                        <p:cond delay="indefinite"/>
                      </p:stCondLst>
                      <p:childTnLst>
                        <p:par>
                          <p:cTn id="35" fill="hold">
                            <p:stCondLst>
                              <p:cond delay="0"/>
                            </p:stCondLst>
                            <p:childTnLst>
                              <p:par>
                                <p:cTn id="36" presetID="63" presetClass="path" presetSubtype="0" accel="50000" decel="50000" fill="hold" nodeType="clickEffect">
                                  <p:stCondLst>
                                    <p:cond delay="0"/>
                                  </p:stCondLst>
                                  <p:childTnLst>
                                    <p:animMotion origin="layout" path="M 0.4431 0.00024 L 0.53164 0.00024 " pathEditMode="relative" rAng="0" ptsTypes="AA">
                                      <p:cBhvr>
                                        <p:cTn id="37" dur="2000" fill="hold"/>
                                        <p:tgtEl>
                                          <p:spTgt spid="202769"/>
                                        </p:tgtEl>
                                        <p:attrNameLst>
                                          <p:attrName>ppt_x</p:attrName>
                                          <p:attrName>ppt_y</p:attrName>
                                        </p:attrNameLst>
                                      </p:cBhvr>
                                      <p:rCtr x="4427" y="0"/>
                                    </p:animMotion>
                                  </p:childTnLst>
                                </p:cTn>
                              </p:par>
                              <p:par>
                                <p:cTn id="38" presetID="63" presetClass="path" presetSubtype="0" accel="50000" decel="50000" fill="hold" grpId="5" nodeType="withEffect">
                                  <p:stCondLst>
                                    <p:cond delay="0"/>
                                  </p:stCondLst>
                                  <p:childTnLst>
                                    <p:animMotion origin="layout" path="M 0.23633 -0.00046 L 0.29544 -0.00046 " pathEditMode="relative" rAng="0" ptsTypes="AA">
                                      <p:cBhvr>
                                        <p:cTn id="39" dur="2000" fill="hold"/>
                                        <p:tgtEl>
                                          <p:spTgt spid="202847"/>
                                        </p:tgtEl>
                                        <p:attrNameLst>
                                          <p:attrName>ppt_x</p:attrName>
                                          <p:attrName>ppt_y</p:attrName>
                                        </p:attrNameLst>
                                      </p:cBhvr>
                                      <p:rCtr x="295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47" grpId="0" animBg="1"/>
      <p:bldP spid="202847" grpId="1" animBg="1"/>
      <p:bldP spid="202847" grpId="2" animBg="1"/>
      <p:bldP spid="202847" grpId="3" animBg="1"/>
      <p:bldP spid="202847" grpId="4" animBg="1"/>
      <p:bldP spid="202847" grpId="5"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r>
              <a:rPr lang="ja-JP" altLang="en-US" dirty="0"/>
              <a:t>パイプライン・チャートの見方</a:t>
            </a:r>
            <a:br>
              <a:rPr lang="en-US" altLang="ja-JP" dirty="0"/>
            </a:br>
            <a:r>
              <a:rPr lang="ja-JP" altLang="en-US" sz="2000" dirty="0"/>
              <a:t>ここから先で多用されるので重要</a:t>
            </a:r>
            <a:endParaRPr lang="en-US" altLang="ja-JP" dirty="0"/>
          </a:p>
        </p:txBody>
      </p:sp>
      <p:sp>
        <p:nvSpPr>
          <p:cNvPr id="2" name="テキスト プレースホルダー 1"/>
          <p:cNvSpPr>
            <a:spLocks noGrp="1"/>
          </p:cNvSpPr>
          <p:nvPr>
            <p:ph type="body" sz="quarter" idx="10"/>
          </p:nvPr>
        </p:nvSpPr>
        <p:spPr>
          <a:xfrm>
            <a:off x="1415948" y="5409025"/>
            <a:ext cx="9144000" cy="539699"/>
          </a:xfrm>
        </p:spPr>
        <p:txBody>
          <a:bodyPr/>
          <a:lstStyle/>
          <a:p>
            <a:pPr lvl="1"/>
            <a:r>
              <a:rPr kumimoji="1" lang="ja-JP" altLang="en-US" dirty="0"/>
              <a:t>左から右にむかって時間は進む</a:t>
            </a:r>
            <a:endParaRPr kumimoji="1" lang="en-US" altLang="ja-JP" dirty="0"/>
          </a:p>
          <a:p>
            <a:pPr lvl="1"/>
            <a:r>
              <a:rPr kumimoji="1" lang="ja-JP" altLang="en-US" dirty="0"/>
              <a:t>上から下にむかって命令が実行順に置かれる</a:t>
            </a:r>
            <a:endParaRPr kumimoji="1" lang="en-US" altLang="ja-JP" dirty="0"/>
          </a:p>
          <a:p>
            <a:pPr lvl="1"/>
            <a:r>
              <a:rPr kumimoji="1" lang="ja-JP" altLang="en-US" dirty="0"/>
              <a:t>各ステージを表す四角は左側にある命令がその時そこにいることを示す</a:t>
            </a:r>
            <a:endParaRPr kumimoji="1" lang="en-US" altLang="ja-JP" dirty="0"/>
          </a:p>
          <a:p>
            <a:pPr lvl="2"/>
            <a:r>
              <a:rPr kumimoji="1" lang="ja-JP" altLang="en-US" dirty="0"/>
              <a:t>上記では２サイクル目に，</a:t>
            </a:r>
            <a:r>
              <a:rPr kumimoji="1" lang="en-US" altLang="ja-JP" dirty="0"/>
              <a:t>I0 </a:t>
            </a:r>
            <a:r>
              <a:rPr kumimoji="1" lang="ja-JP" altLang="en-US" dirty="0"/>
              <a:t>が </a:t>
            </a:r>
            <a:r>
              <a:rPr kumimoji="1" lang="en-US" altLang="ja-JP" dirty="0"/>
              <a:t>ID </a:t>
            </a:r>
            <a:r>
              <a:rPr kumimoji="1" lang="ja-JP" altLang="en-US" dirty="0"/>
              <a:t>に，</a:t>
            </a:r>
            <a:r>
              <a:rPr kumimoji="1" lang="en-US" altLang="ja-JP" dirty="0"/>
              <a:t>I1 </a:t>
            </a:r>
            <a:r>
              <a:rPr kumimoji="1" lang="ja-JP" altLang="en-US" dirty="0"/>
              <a:t>が </a:t>
            </a:r>
            <a:r>
              <a:rPr kumimoji="1" lang="en-US" altLang="ja-JP" dirty="0"/>
              <a:t>IF </a:t>
            </a:r>
            <a:r>
              <a:rPr kumimoji="1" lang="ja-JP" altLang="en-US" dirty="0"/>
              <a:t>で処理されている</a:t>
            </a:r>
            <a:endParaRPr lang="en-US" altLang="ja-JP" dirty="0"/>
          </a:p>
        </p:txBody>
      </p:sp>
      <p:sp>
        <p:nvSpPr>
          <p:cNvPr id="202776" name="Rectangle 24"/>
          <p:cNvSpPr>
            <a:spLocks noChangeArrowheads="1"/>
          </p:cNvSpPr>
          <p:nvPr/>
        </p:nvSpPr>
        <p:spPr bwMode="auto">
          <a:xfrm>
            <a:off x="2674272"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09" name="Rectangle 57"/>
          <p:cNvSpPr>
            <a:spLocks noChangeArrowheads="1"/>
          </p:cNvSpPr>
          <p:nvPr/>
        </p:nvSpPr>
        <p:spPr bwMode="auto">
          <a:xfrm>
            <a:off x="2045622" y="1530376"/>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I0</a:t>
            </a:r>
          </a:p>
        </p:txBody>
      </p:sp>
      <p:sp>
        <p:nvSpPr>
          <p:cNvPr id="202810" name="Rectangle 58"/>
          <p:cNvSpPr>
            <a:spLocks noChangeArrowheads="1"/>
          </p:cNvSpPr>
          <p:nvPr/>
        </p:nvSpPr>
        <p:spPr bwMode="auto">
          <a:xfrm>
            <a:off x="2045622" y="2160618"/>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I1</a:t>
            </a:r>
          </a:p>
        </p:txBody>
      </p:sp>
      <p:sp>
        <p:nvSpPr>
          <p:cNvPr id="202811" name="Rectangle 59"/>
          <p:cNvSpPr>
            <a:spLocks noChangeArrowheads="1"/>
          </p:cNvSpPr>
          <p:nvPr/>
        </p:nvSpPr>
        <p:spPr bwMode="auto">
          <a:xfrm>
            <a:off x="2045622" y="2789268"/>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I2</a:t>
            </a:r>
          </a:p>
        </p:txBody>
      </p:sp>
      <p:sp>
        <p:nvSpPr>
          <p:cNvPr id="202812" name="Rectangle 60"/>
          <p:cNvSpPr>
            <a:spLocks noChangeArrowheads="1"/>
          </p:cNvSpPr>
          <p:nvPr/>
        </p:nvSpPr>
        <p:spPr bwMode="auto">
          <a:xfrm>
            <a:off x="2045622" y="3419501"/>
            <a:ext cx="360362" cy="360362"/>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I3</a:t>
            </a:r>
          </a:p>
        </p:txBody>
      </p:sp>
      <p:sp>
        <p:nvSpPr>
          <p:cNvPr id="202813" name="Rectangle 61"/>
          <p:cNvSpPr>
            <a:spLocks noChangeArrowheads="1"/>
          </p:cNvSpPr>
          <p:nvPr/>
        </p:nvSpPr>
        <p:spPr bwMode="auto">
          <a:xfrm>
            <a:off x="2045622" y="4049743"/>
            <a:ext cx="360362" cy="360363"/>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none" lIns="93600" tIns="46800" rIns="93600" bIns="46800" anchor="ctr"/>
          <a:lstStyle/>
          <a:p>
            <a:pPr algn="ctr"/>
            <a:r>
              <a:rPr lang="en-US" altLang="ja-JP" sz="2000" b="1" dirty="0">
                <a:ln w="6350">
                  <a:noFill/>
                </a:ln>
                <a:solidFill>
                  <a:schemeClr val="bg1"/>
                </a:solidFill>
                <a:latin typeface="Courier New" pitchFamily="49" charset="0"/>
                <a:ea typeface="MeiryoKe_PGothic" pitchFamily="50" charset="-128"/>
              </a:rPr>
              <a:t>I4</a:t>
            </a:r>
          </a:p>
        </p:txBody>
      </p:sp>
      <p:sp>
        <p:nvSpPr>
          <p:cNvPr id="202815" name="Line 63"/>
          <p:cNvSpPr>
            <a:spLocks noChangeShapeType="1"/>
          </p:cNvSpPr>
          <p:nvPr/>
        </p:nvSpPr>
        <p:spPr bwMode="auto">
          <a:xfrm>
            <a:off x="2494889" y="1258913"/>
            <a:ext cx="7470775" cy="0"/>
          </a:xfrm>
          <a:prstGeom prst="line">
            <a:avLst/>
          </a:prstGeom>
          <a:noFill/>
          <a:ln w="38100">
            <a:solidFill>
              <a:schemeClr val="tx1"/>
            </a:solidFill>
            <a:round/>
            <a:headEnd/>
            <a:tailEnd type="stealth" w="med" len="lg"/>
          </a:ln>
          <a:effectLst/>
        </p:spPr>
        <p:txBody>
          <a:bodyPr wrap="none" lIns="93600" tIns="46800" rIns="93600" bIns="46800" anchor="ctr"/>
          <a:lstStyle/>
          <a:p>
            <a:endParaRPr lang="ja-JP" altLang="en-US"/>
          </a:p>
        </p:txBody>
      </p:sp>
      <p:sp>
        <p:nvSpPr>
          <p:cNvPr id="202817" name="Rectangle 65"/>
          <p:cNvSpPr>
            <a:spLocks noChangeArrowheads="1"/>
          </p:cNvSpPr>
          <p:nvPr/>
        </p:nvSpPr>
        <p:spPr bwMode="auto">
          <a:xfrm>
            <a:off x="3394997" y="14398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18" name="Rectangle 66"/>
          <p:cNvSpPr>
            <a:spLocks noChangeArrowheads="1"/>
          </p:cNvSpPr>
          <p:nvPr/>
        </p:nvSpPr>
        <p:spPr bwMode="auto">
          <a:xfrm>
            <a:off x="4107784" y="14367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19" name="Rectangle 67"/>
          <p:cNvSpPr>
            <a:spLocks noChangeArrowheads="1"/>
          </p:cNvSpPr>
          <p:nvPr/>
        </p:nvSpPr>
        <p:spPr bwMode="auto">
          <a:xfrm>
            <a:off x="4820572" y="1433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0" name="Rectangle 68"/>
          <p:cNvSpPr>
            <a:spLocks noChangeArrowheads="1"/>
          </p:cNvSpPr>
          <p:nvPr/>
        </p:nvSpPr>
        <p:spPr bwMode="auto">
          <a:xfrm>
            <a:off x="5533359" y="143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1" name="Rectangle 69"/>
          <p:cNvSpPr>
            <a:spLocks noChangeArrowheads="1"/>
          </p:cNvSpPr>
          <p:nvPr/>
        </p:nvSpPr>
        <p:spPr bwMode="auto">
          <a:xfrm>
            <a:off x="3394997" y="207012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02822" name="Rectangle 70"/>
          <p:cNvSpPr>
            <a:spLocks noChangeArrowheads="1"/>
          </p:cNvSpPr>
          <p:nvPr/>
        </p:nvSpPr>
        <p:spPr bwMode="auto">
          <a:xfrm>
            <a:off x="4107784" y="20669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3" name="Rectangle 71"/>
          <p:cNvSpPr>
            <a:spLocks noChangeArrowheads="1"/>
          </p:cNvSpPr>
          <p:nvPr/>
        </p:nvSpPr>
        <p:spPr bwMode="auto">
          <a:xfrm>
            <a:off x="4820572" y="2063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4" name="Rectangle 72"/>
          <p:cNvSpPr>
            <a:spLocks noChangeArrowheads="1"/>
          </p:cNvSpPr>
          <p:nvPr/>
        </p:nvSpPr>
        <p:spPr bwMode="auto">
          <a:xfrm>
            <a:off x="5533359" y="206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25" name="Rectangle 73"/>
          <p:cNvSpPr>
            <a:spLocks noChangeArrowheads="1"/>
          </p:cNvSpPr>
          <p:nvPr/>
        </p:nvSpPr>
        <p:spPr bwMode="auto">
          <a:xfrm>
            <a:off x="6276309" y="20780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26" name="Rectangle 74"/>
          <p:cNvSpPr>
            <a:spLocks noChangeArrowheads="1"/>
          </p:cNvSpPr>
          <p:nvPr/>
        </p:nvSpPr>
        <p:spPr bwMode="auto">
          <a:xfrm>
            <a:off x="4107784" y="269718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27" name="Rectangle 75"/>
          <p:cNvSpPr>
            <a:spLocks noChangeArrowheads="1"/>
          </p:cNvSpPr>
          <p:nvPr/>
        </p:nvSpPr>
        <p:spPr bwMode="auto">
          <a:xfrm>
            <a:off x="4820572" y="26940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28" name="Rectangle 76"/>
          <p:cNvSpPr>
            <a:spLocks noChangeArrowheads="1"/>
          </p:cNvSpPr>
          <p:nvPr/>
        </p:nvSpPr>
        <p:spPr bwMode="auto">
          <a:xfrm>
            <a:off x="5533359" y="269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29" name="Rectangle 77"/>
          <p:cNvSpPr>
            <a:spLocks noChangeArrowheads="1"/>
          </p:cNvSpPr>
          <p:nvPr/>
        </p:nvSpPr>
        <p:spPr bwMode="auto">
          <a:xfrm>
            <a:off x="6276309" y="27083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0" name="Rectangle 78"/>
          <p:cNvSpPr>
            <a:spLocks noChangeArrowheads="1"/>
          </p:cNvSpPr>
          <p:nvPr/>
        </p:nvSpPr>
        <p:spPr bwMode="auto">
          <a:xfrm>
            <a:off x="6995447" y="270036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1" name="Rectangle 79"/>
          <p:cNvSpPr>
            <a:spLocks noChangeArrowheads="1"/>
          </p:cNvSpPr>
          <p:nvPr/>
        </p:nvSpPr>
        <p:spPr bwMode="auto">
          <a:xfrm>
            <a:off x="4820572" y="332425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2" name="Rectangle 80"/>
          <p:cNvSpPr>
            <a:spLocks noChangeArrowheads="1"/>
          </p:cNvSpPr>
          <p:nvPr/>
        </p:nvSpPr>
        <p:spPr bwMode="auto">
          <a:xfrm>
            <a:off x="5533359" y="33210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3" name="Rectangle 81"/>
          <p:cNvSpPr>
            <a:spLocks noChangeArrowheads="1"/>
          </p:cNvSpPr>
          <p:nvPr/>
        </p:nvSpPr>
        <p:spPr bwMode="auto">
          <a:xfrm>
            <a:off x="6276309" y="33385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4" name="Rectangle 82"/>
          <p:cNvSpPr>
            <a:spLocks noChangeArrowheads="1"/>
          </p:cNvSpPr>
          <p:nvPr/>
        </p:nvSpPr>
        <p:spPr bwMode="auto">
          <a:xfrm>
            <a:off x="6995447"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35" name="Rectangle 83"/>
          <p:cNvSpPr>
            <a:spLocks noChangeArrowheads="1"/>
          </p:cNvSpPr>
          <p:nvPr/>
        </p:nvSpPr>
        <p:spPr bwMode="auto">
          <a:xfrm>
            <a:off x="7716172" y="3330601"/>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36" name="Rectangle 84"/>
          <p:cNvSpPr>
            <a:spLocks noChangeArrowheads="1"/>
          </p:cNvSpPr>
          <p:nvPr/>
        </p:nvSpPr>
        <p:spPr bwMode="auto">
          <a:xfrm>
            <a:off x="5533359" y="3951313"/>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IF</a:t>
            </a:r>
          </a:p>
        </p:txBody>
      </p:sp>
      <p:sp>
        <p:nvSpPr>
          <p:cNvPr id="202837" name="Rectangle 85"/>
          <p:cNvSpPr>
            <a:spLocks noChangeArrowheads="1"/>
          </p:cNvSpPr>
          <p:nvPr/>
        </p:nvSpPr>
        <p:spPr bwMode="auto">
          <a:xfrm>
            <a:off x="6276309" y="3968776"/>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02838" name="Rectangle 86"/>
          <p:cNvSpPr>
            <a:spLocks noChangeArrowheads="1"/>
          </p:cNvSpPr>
          <p:nvPr/>
        </p:nvSpPr>
        <p:spPr bwMode="auto">
          <a:xfrm>
            <a:off x="6995447"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02839" name="Rectangle 87"/>
          <p:cNvSpPr>
            <a:spLocks noChangeArrowheads="1"/>
          </p:cNvSpPr>
          <p:nvPr/>
        </p:nvSpPr>
        <p:spPr bwMode="auto">
          <a:xfrm>
            <a:off x="7716172"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MEM</a:t>
            </a:r>
          </a:p>
        </p:txBody>
      </p:sp>
      <p:sp>
        <p:nvSpPr>
          <p:cNvPr id="202840" name="Rectangle 88"/>
          <p:cNvSpPr>
            <a:spLocks noChangeArrowheads="1"/>
          </p:cNvSpPr>
          <p:nvPr/>
        </p:nvSpPr>
        <p:spPr bwMode="auto">
          <a:xfrm>
            <a:off x="8435309" y="3960838"/>
            <a:ext cx="539750" cy="53975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WB</a:t>
            </a:r>
          </a:p>
        </p:txBody>
      </p:sp>
      <p:sp>
        <p:nvSpPr>
          <p:cNvPr id="202847" name="Rectangle 95"/>
          <p:cNvSpPr>
            <a:spLocks noChangeArrowheads="1"/>
          </p:cNvSpPr>
          <p:nvPr/>
        </p:nvSpPr>
        <p:spPr bwMode="auto">
          <a:xfrm>
            <a:off x="3305974" y="1358982"/>
            <a:ext cx="719137" cy="3150035"/>
          </a:xfrm>
          <a:prstGeom prst="rect">
            <a:avLst/>
          </a:prstGeom>
          <a:solidFill>
            <a:schemeClr val="accent5">
              <a:lumMod val="20000"/>
              <a:lumOff val="80000"/>
              <a:alpha val="50000"/>
            </a:schemeClr>
          </a:solidFill>
          <a:ln w="38100">
            <a:solidFill>
              <a:schemeClr val="accent5"/>
            </a:solidFill>
            <a:miter lim="800000"/>
            <a:headEnd/>
            <a:tailEnd type="none" w="med" len="lg"/>
          </a:ln>
          <a:effectLst/>
        </p:spPr>
        <p:txBody>
          <a:bodyPr wrap="none" lIns="93600" tIns="46800" rIns="93600" bIns="46800" anchor="ctr"/>
          <a:lstStyle/>
          <a:p>
            <a:pPr algn="ctr"/>
            <a:endParaRPr lang="ja-JP" altLang="en-US"/>
          </a:p>
        </p:txBody>
      </p:sp>
      <p:sp>
        <p:nvSpPr>
          <p:cNvPr id="202848" name="Rectangle 96"/>
          <p:cNvSpPr>
            <a:spLocks noChangeArrowheads="1"/>
          </p:cNvSpPr>
          <p:nvPr/>
        </p:nvSpPr>
        <p:spPr bwMode="auto">
          <a:xfrm>
            <a:off x="9605297" y="809651"/>
            <a:ext cx="360362" cy="360362"/>
          </a:xfrm>
          <a:prstGeom prst="rect">
            <a:avLst/>
          </a:prstGeom>
          <a:noFill/>
          <a:ln w="12700">
            <a:noFill/>
            <a:miter lim="800000"/>
            <a:headEnd/>
            <a:tailEnd/>
          </a:ln>
          <a:effectLst/>
        </p:spPr>
        <p:txBody>
          <a:bodyPr wrap="none" lIns="93600" tIns="46800" rIns="93600" bIns="46800" anchor="ctr"/>
          <a:lstStyle/>
          <a:p>
            <a:r>
              <a:rPr lang="en-US" altLang="ja-JP" sz="2000"/>
              <a:t>cycle</a:t>
            </a:r>
          </a:p>
        </p:txBody>
      </p:sp>
    </p:spTree>
    <p:extLst>
      <p:ext uri="{BB962C8B-B14F-4D97-AF65-F5344CB8AC3E}">
        <p14:creationId xmlns:p14="http://schemas.microsoft.com/office/powerpoint/2010/main" val="11907414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パイプライン化による性能（スループット）向上</a:t>
            </a:r>
            <a:endParaRPr kumimoji="1" lang="ja-JP" altLang="en-US" dirty="0"/>
          </a:p>
        </p:txBody>
      </p:sp>
      <p:cxnSp>
        <p:nvCxnSpPr>
          <p:cNvPr id="96" name="直線矢印コネクタ 95"/>
          <p:cNvCxnSpPr/>
          <p:nvPr/>
        </p:nvCxnSpPr>
        <p:spPr bwMode="auto">
          <a:xfrm>
            <a:off x="2225962"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61"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61"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7"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60"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60"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2765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2" name="グループ化 161"/>
          <p:cNvGrpSpPr/>
          <p:nvPr/>
        </p:nvGrpSpPr>
        <p:grpSpPr>
          <a:xfrm>
            <a:off x="2765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4039104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余談：実際の </a:t>
            </a:r>
            <a:r>
              <a:rPr kumimoji="1" lang="en-US" altLang="ja-JP" dirty="0"/>
              <a:t>CPU </a:t>
            </a:r>
            <a:r>
              <a:rPr kumimoji="1" lang="ja-JP" altLang="en-US" dirty="0"/>
              <a:t>を実行した場合のパイプライン</a:t>
            </a:r>
          </a:p>
        </p:txBody>
      </p:sp>
      <p:sp>
        <p:nvSpPr>
          <p:cNvPr id="3" name="テキスト プレースホルダー 2"/>
          <p:cNvSpPr>
            <a:spLocks noGrp="1"/>
          </p:cNvSpPr>
          <p:nvPr>
            <p:ph type="body" sz="quarter" idx="10"/>
          </p:nvPr>
        </p:nvSpPr>
        <p:spPr>
          <a:xfrm>
            <a:off x="2135956" y="5409027"/>
            <a:ext cx="8280092" cy="899703"/>
          </a:xfrm>
        </p:spPr>
        <p:txBody>
          <a:bodyPr/>
          <a:lstStyle/>
          <a:p>
            <a:r>
              <a:rPr kumimoji="1" lang="ja-JP" altLang="en-US" dirty="0"/>
              <a:t>塩谷が開発している </a:t>
            </a:r>
            <a:r>
              <a:rPr kumimoji="1" lang="en-US" altLang="ja-JP" dirty="0"/>
              <a:t>RISC-V CPU</a:t>
            </a:r>
            <a:r>
              <a:rPr lang="ja-JP" altLang="en-US" dirty="0"/>
              <a:t>（</a:t>
            </a:r>
            <a:r>
              <a:rPr lang="en-US" altLang="ja-JP" dirty="0"/>
              <a:t>RSD</a:t>
            </a:r>
            <a:r>
              <a:rPr lang="ja-JP" altLang="en-US" dirty="0"/>
              <a:t>）</a:t>
            </a:r>
            <a:r>
              <a:rPr kumimoji="1" lang="ja-JP" altLang="en-US" dirty="0"/>
              <a:t>の実行を可視化したもの</a:t>
            </a:r>
            <a:endParaRPr kumimoji="1" lang="en-US" altLang="ja-JP" dirty="0"/>
          </a:p>
          <a:p>
            <a:pPr lvl="1"/>
            <a:r>
              <a:rPr kumimoji="1" lang="en-US" altLang="ja-JP" dirty="0">
                <a:hlinkClick r:id="rId2"/>
              </a:rPr>
              <a:t>https://github.com/rsd-devel/rsd</a:t>
            </a:r>
            <a:endParaRPr lang="en-US" altLang="ja-JP" dirty="0"/>
          </a:p>
          <a:p>
            <a:pPr lvl="1"/>
            <a:r>
              <a:rPr lang="en-US" altLang="ja-JP" dirty="0"/>
              <a:t>out-of-order </a:t>
            </a:r>
            <a:r>
              <a:rPr lang="ja-JP" altLang="en-US" dirty="0"/>
              <a:t>実行をしているので，途中からプログラム順とは</a:t>
            </a:r>
            <a:br>
              <a:rPr lang="en-US" altLang="ja-JP" dirty="0"/>
            </a:br>
            <a:r>
              <a:rPr lang="ja-JP" altLang="en-US" dirty="0"/>
              <a:t>異なるタイミングで実行が進んでいる</a:t>
            </a:r>
            <a:endParaRPr kumimoji="1" lang="ja-JP" altLang="en-US" dirty="0"/>
          </a:p>
        </p:txBody>
      </p:sp>
      <p:pic>
        <p:nvPicPr>
          <p:cNvPr id="4" name="図 3"/>
          <p:cNvPicPr>
            <a:picLocks noChangeAspect="1"/>
          </p:cNvPicPr>
          <p:nvPr/>
        </p:nvPicPr>
        <p:blipFill>
          <a:blip r:embed="rId3"/>
          <a:stretch>
            <a:fillRect/>
          </a:stretch>
        </p:blipFill>
        <p:spPr>
          <a:xfrm>
            <a:off x="2765968" y="998973"/>
            <a:ext cx="6708853" cy="3960044"/>
          </a:xfrm>
          <a:prstGeom prst="rect">
            <a:avLst/>
          </a:prstGeom>
        </p:spPr>
      </p:pic>
    </p:spTree>
    <p:extLst>
      <p:ext uri="{BB962C8B-B14F-4D97-AF65-F5344CB8AC3E}">
        <p14:creationId xmlns:p14="http://schemas.microsoft.com/office/powerpoint/2010/main" val="581280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ステージを「どうやって」切るか</a:t>
            </a:r>
          </a:p>
        </p:txBody>
      </p:sp>
      <p:sp>
        <p:nvSpPr>
          <p:cNvPr id="3" name="テキスト プレースホルダー 2"/>
          <p:cNvSpPr>
            <a:spLocks noGrp="1"/>
          </p:cNvSpPr>
          <p:nvPr>
            <p:ph type="body" sz="quarter" idx="10"/>
          </p:nvPr>
        </p:nvSpPr>
        <p:spPr>
          <a:xfrm>
            <a:off x="2135956" y="1088979"/>
            <a:ext cx="8280092" cy="2430027"/>
          </a:xfrm>
        </p:spPr>
        <p:txBody>
          <a:bodyPr anchor="t"/>
          <a:lstStyle/>
          <a:p>
            <a:r>
              <a:rPr kumimoji="1" lang="ja-JP" altLang="en-US" dirty="0"/>
              <a:t>シングル・サイクル・プロセッサの回路に適当に間隔をあけて命令を流せばよいというものもない</a:t>
            </a:r>
            <a:endParaRPr kumimoji="1" lang="en-US" altLang="ja-JP" dirty="0"/>
          </a:p>
          <a:p>
            <a:pPr marL="457200" indent="-457200">
              <a:buFont typeface="+mj-lt"/>
              <a:buAutoNum type="arabicPeriod"/>
            </a:pPr>
            <a:r>
              <a:rPr kumimoji="1" lang="ja-JP" altLang="en-US" dirty="0"/>
              <a:t>各ステージを完全に同じ長さにすることは凄く難しい</a:t>
            </a:r>
            <a:endParaRPr kumimoji="1" lang="en-US" altLang="ja-JP" dirty="0"/>
          </a:p>
          <a:p>
            <a:pPr lvl="1"/>
            <a:r>
              <a:rPr kumimoji="1" lang="ja-JP" altLang="en-US" dirty="0"/>
              <a:t>同じ長さ</a:t>
            </a:r>
            <a:r>
              <a:rPr kumimoji="1" lang="en-US" altLang="ja-JP" dirty="0"/>
              <a:t>=</a:t>
            </a:r>
            <a:r>
              <a:rPr kumimoji="1" lang="ja-JP" altLang="en-US" dirty="0"/>
              <a:t>同じ遅延</a:t>
            </a:r>
            <a:r>
              <a:rPr kumimoji="1" lang="en-US" altLang="ja-JP" dirty="0"/>
              <a:t>=</a:t>
            </a:r>
            <a:r>
              <a:rPr kumimoji="1" lang="ja-JP" altLang="en-US" dirty="0"/>
              <a:t>全く同じ段数の組み合わせ回路</a:t>
            </a:r>
            <a:endParaRPr kumimoji="1" lang="en-US" altLang="ja-JP" dirty="0"/>
          </a:p>
          <a:p>
            <a:pPr marL="457200" indent="-457200">
              <a:buFont typeface="+mj-lt"/>
              <a:buAutoNum type="arabicPeriod"/>
            </a:pPr>
            <a:r>
              <a:rPr kumimoji="1" lang="ja-JP" altLang="en-US" dirty="0"/>
              <a:t>長いステージであっても信号は絶えず変化する可能性がある</a:t>
            </a:r>
            <a:endParaRPr kumimoji="1" lang="en-US" altLang="ja-JP" dirty="0"/>
          </a:p>
          <a:p>
            <a:pPr lvl="1"/>
            <a:r>
              <a:rPr kumimoji="1" lang="ja-JP" altLang="en-US" dirty="0"/>
              <a:t>短いパスから順に出力に反映される</a:t>
            </a:r>
            <a:endParaRPr kumimoji="1" lang="en-US" altLang="ja-JP" dirty="0"/>
          </a:p>
          <a:p>
            <a:pPr lvl="1"/>
            <a:r>
              <a:rPr kumimoji="1" lang="ja-JP" altLang="en-US" dirty="0"/>
              <a:t>たとえば下の回路で </a:t>
            </a:r>
            <a:r>
              <a:rPr kumimoji="1" lang="en-US" altLang="ja-JP" i="1" dirty="0" err="1"/>
              <a:t>a,b,c,d</a:t>
            </a:r>
            <a:r>
              <a:rPr kumimoji="1" lang="en-US" altLang="ja-JP" i="1" dirty="0"/>
              <a:t> </a:t>
            </a:r>
            <a:r>
              <a:rPr kumimoji="1" lang="ja-JP" altLang="en-US" i="1" dirty="0"/>
              <a:t>が全て変化したとすると，</a:t>
            </a:r>
            <a:br>
              <a:rPr kumimoji="1" lang="en-US" altLang="ja-JP" i="1" dirty="0"/>
            </a:br>
            <a:r>
              <a:rPr kumimoji="1" lang="ja-JP" altLang="en-US" dirty="0"/>
              <a:t>まず </a:t>
            </a:r>
            <a:r>
              <a:rPr kumimoji="1" lang="en-US" altLang="ja-JP" i="1" dirty="0"/>
              <a:t>d </a:t>
            </a:r>
            <a:r>
              <a:rPr kumimoji="1" lang="ja-JP" altLang="en-US" i="1" dirty="0"/>
              <a:t>の変化が </a:t>
            </a:r>
            <a:r>
              <a:rPr kumimoji="1" lang="en-US" altLang="ja-JP" i="1" dirty="0"/>
              <a:t>z </a:t>
            </a:r>
            <a:r>
              <a:rPr kumimoji="1" lang="ja-JP" altLang="en-US" i="1" dirty="0"/>
              <a:t>に反映し，次に </a:t>
            </a:r>
            <a:r>
              <a:rPr kumimoji="1" lang="en-US" altLang="ja-JP" i="1" dirty="0"/>
              <a:t>d </a:t>
            </a:r>
            <a:r>
              <a:rPr kumimoji="1" lang="ja-JP" altLang="en-US" i="1" dirty="0"/>
              <a:t>が･･･</a:t>
            </a:r>
            <a:endParaRPr kumimoji="1" lang="en-US" altLang="ja-JP" dirty="0"/>
          </a:p>
        </p:txBody>
      </p:sp>
      <p:sp>
        <p:nvSpPr>
          <p:cNvPr id="29" name="Line 9"/>
          <p:cNvSpPr>
            <a:spLocks noChangeShapeType="1"/>
          </p:cNvSpPr>
          <p:nvPr/>
        </p:nvSpPr>
        <p:spPr bwMode="auto">
          <a:xfrm>
            <a:off x="4296108" y="5228406"/>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0"/>
          <p:cNvSpPr>
            <a:spLocks noChangeShapeType="1"/>
          </p:cNvSpPr>
          <p:nvPr/>
        </p:nvSpPr>
        <p:spPr bwMode="auto">
          <a:xfrm>
            <a:off x="4296108" y="5588768"/>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11"/>
          <p:cNvSpPr>
            <a:spLocks noChangeShapeType="1"/>
          </p:cNvSpPr>
          <p:nvPr/>
        </p:nvSpPr>
        <p:spPr bwMode="auto">
          <a:xfrm>
            <a:off x="5286708" y="540779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2" name="Line 12"/>
          <p:cNvSpPr>
            <a:spLocks noChangeShapeType="1"/>
          </p:cNvSpPr>
          <p:nvPr/>
        </p:nvSpPr>
        <p:spPr bwMode="auto">
          <a:xfrm flipV="1">
            <a:off x="5736129" y="5409027"/>
            <a:ext cx="89873" cy="973"/>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3"/>
          <p:cNvSpPr>
            <a:spLocks noChangeShapeType="1"/>
          </p:cNvSpPr>
          <p:nvPr/>
        </p:nvSpPr>
        <p:spPr bwMode="auto">
          <a:xfrm flipV="1">
            <a:off x="5556127" y="5769026"/>
            <a:ext cx="269875" cy="133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4"/>
          <p:cNvSpPr>
            <a:spLocks noChangeShapeType="1"/>
          </p:cNvSpPr>
          <p:nvPr/>
        </p:nvSpPr>
        <p:spPr bwMode="auto">
          <a:xfrm flipV="1">
            <a:off x="6456009" y="5589024"/>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5" name="Rectangle 18"/>
          <p:cNvSpPr>
            <a:spLocks noChangeArrowheads="1"/>
          </p:cNvSpPr>
          <p:nvPr/>
        </p:nvSpPr>
        <p:spPr bwMode="auto">
          <a:xfrm>
            <a:off x="3935750" y="5049023"/>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a</a:t>
            </a:r>
          </a:p>
        </p:txBody>
      </p:sp>
      <p:sp>
        <p:nvSpPr>
          <p:cNvPr id="36" name="Rectangle 20"/>
          <p:cNvSpPr>
            <a:spLocks noChangeArrowheads="1"/>
          </p:cNvSpPr>
          <p:nvPr/>
        </p:nvSpPr>
        <p:spPr bwMode="auto">
          <a:xfrm>
            <a:off x="3935750" y="5407798"/>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b</a:t>
            </a:r>
          </a:p>
        </p:txBody>
      </p:sp>
      <p:pic>
        <p:nvPicPr>
          <p:cNvPr id="43" name="Picture 7" descr="OR"/>
          <p:cNvPicPr>
            <a:picLocks noChangeAspect="1" noChangeArrowheads="1"/>
          </p:cNvPicPr>
          <p:nvPr/>
        </p:nvPicPr>
        <p:blipFill>
          <a:blip r:embed="rId2" cstate="print"/>
          <a:srcRect/>
          <a:stretch>
            <a:fillRect/>
          </a:stretch>
        </p:blipFill>
        <p:spPr bwMode="auto">
          <a:xfrm>
            <a:off x="5645995" y="5229020"/>
            <a:ext cx="1079500" cy="717550"/>
          </a:xfrm>
          <a:prstGeom prst="rect">
            <a:avLst/>
          </a:prstGeom>
          <a:noFill/>
        </p:spPr>
      </p:pic>
      <p:pic>
        <p:nvPicPr>
          <p:cNvPr id="45" name="Picture 6" descr="AND"/>
          <p:cNvPicPr>
            <a:picLocks noChangeAspect="1" noChangeArrowheads="1"/>
          </p:cNvPicPr>
          <p:nvPr/>
        </p:nvPicPr>
        <p:blipFill>
          <a:blip r:embed="rId3" cstate="print"/>
          <a:srcRect/>
          <a:stretch>
            <a:fillRect/>
          </a:stretch>
        </p:blipFill>
        <p:spPr bwMode="auto">
          <a:xfrm>
            <a:off x="4565983" y="5049023"/>
            <a:ext cx="1079500" cy="720725"/>
          </a:xfrm>
          <a:prstGeom prst="rect">
            <a:avLst/>
          </a:prstGeom>
          <a:noFill/>
        </p:spPr>
      </p:pic>
      <p:sp>
        <p:nvSpPr>
          <p:cNvPr id="46" name="Line 10"/>
          <p:cNvSpPr>
            <a:spLocks noChangeShapeType="1"/>
          </p:cNvSpPr>
          <p:nvPr/>
        </p:nvSpPr>
        <p:spPr bwMode="auto">
          <a:xfrm>
            <a:off x="6546133" y="5948772"/>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47" name="Picture 6" descr="AND"/>
          <p:cNvPicPr>
            <a:picLocks noChangeAspect="1" noChangeArrowheads="1"/>
          </p:cNvPicPr>
          <p:nvPr/>
        </p:nvPicPr>
        <p:blipFill>
          <a:blip r:embed="rId3" cstate="print"/>
          <a:srcRect/>
          <a:stretch>
            <a:fillRect/>
          </a:stretch>
        </p:blipFill>
        <p:spPr bwMode="auto">
          <a:xfrm>
            <a:off x="6726007" y="5409027"/>
            <a:ext cx="1079500" cy="720725"/>
          </a:xfrm>
          <a:prstGeom prst="rect">
            <a:avLst/>
          </a:prstGeom>
          <a:noFill/>
        </p:spPr>
      </p:pic>
      <p:sp>
        <p:nvSpPr>
          <p:cNvPr id="48" name="Line 13"/>
          <p:cNvSpPr>
            <a:spLocks noChangeShapeType="1"/>
          </p:cNvSpPr>
          <p:nvPr/>
        </p:nvSpPr>
        <p:spPr bwMode="auto">
          <a:xfrm flipV="1">
            <a:off x="5555999" y="5769026"/>
            <a:ext cx="231" cy="18000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9" name="Line 13"/>
          <p:cNvSpPr>
            <a:spLocks noChangeShapeType="1"/>
          </p:cNvSpPr>
          <p:nvPr/>
        </p:nvSpPr>
        <p:spPr bwMode="auto">
          <a:xfrm>
            <a:off x="4295981" y="5949028"/>
            <a:ext cx="126001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0" name="Line 13"/>
          <p:cNvSpPr>
            <a:spLocks noChangeShapeType="1"/>
          </p:cNvSpPr>
          <p:nvPr/>
        </p:nvSpPr>
        <p:spPr bwMode="auto">
          <a:xfrm>
            <a:off x="4295983" y="6309032"/>
            <a:ext cx="2250025"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1" name="Line 13"/>
          <p:cNvSpPr>
            <a:spLocks noChangeShapeType="1"/>
          </p:cNvSpPr>
          <p:nvPr/>
        </p:nvSpPr>
        <p:spPr bwMode="auto">
          <a:xfrm flipV="1">
            <a:off x="6546010" y="5949028"/>
            <a:ext cx="231" cy="360004"/>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2" name="Rectangle 20"/>
          <p:cNvSpPr>
            <a:spLocks noChangeArrowheads="1"/>
          </p:cNvSpPr>
          <p:nvPr/>
        </p:nvSpPr>
        <p:spPr bwMode="auto">
          <a:xfrm>
            <a:off x="3935981" y="5769031"/>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c</a:t>
            </a:r>
          </a:p>
        </p:txBody>
      </p:sp>
      <p:sp>
        <p:nvSpPr>
          <p:cNvPr id="53" name="Rectangle 20"/>
          <p:cNvSpPr>
            <a:spLocks noChangeArrowheads="1"/>
          </p:cNvSpPr>
          <p:nvPr/>
        </p:nvSpPr>
        <p:spPr bwMode="auto">
          <a:xfrm>
            <a:off x="3935979" y="6129033"/>
            <a:ext cx="360363" cy="360363"/>
          </a:xfrm>
          <a:prstGeom prst="rect">
            <a:avLst/>
          </a:prstGeom>
          <a:noFill/>
          <a:ln w="28575">
            <a:noFill/>
            <a:miter lim="800000"/>
            <a:headEnd/>
            <a:tailEnd/>
          </a:ln>
          <a:effectLst/>
        </p:spPr>
        <p:txBody>
          <a:bodyPr wrap="none" anchor="ctr"/>
          <a:lstStyle/>
          <a:p>
            <a:pPr algn="ctr"/>
            <a:r>
              <a:rPr lang="en-US" altLang="ja-JP" sz="2000" i="1" dirty="0">
                <a:ea typeface="MeiryoKe_PGothic" pitchFamily="50" charset="-128"/>
              </a:rPr>
              <a:t>d</a:t>
            </a:r>
          </a:p>
        </p:txBody>
      </p:sp>
      <p:sp>
        <p:nvSpPr>
          <p:cNvPr id="54" name="Line 10"/>
          <p:cNvSpPr>
            <a:spLocks noChangeShapeType="1"/>
          </p:cNvSpPr>
          <p:nvPr/>
        </p:nvSpPr>
        <p:spPr bwMode="auto">
          <a:xfrm>
            <a:off x="7536021" y="5769026"/>
            <a:ext cx="27000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56" name="Rectangle 20"/>
          <p:cNvSpPr>
            <a:spLocks noChangeArrowheads="1"/>
          </p:cNvSpPr>
          <p:nvPr/>
        </p:nvSpPr>
        <p:spPr bwMode="auto">
          <a:xfrm>
            <a:off x="7806024" y="5589029"/>
            <a:ext cx="360363" cy="360363"/>
          </a:xfrm>
          <a:prstGeom prst="rect">
            <a:avLst/>
          </a:prstGeom>
          <a:noFill/>
          <a:ln w="28575">
            <a:noFill/>
            <a:miter lim="800000"/>
            <a:headEnd/>
            <a:tailEnd/>
          </a:ln>
          <a:effectLst/>
        </p:spPr>
        <p:txBody>
          <a:bodyPr wrap="none" anchor="ctr"/>
          <a:lstStyle/>
          <a:p>
            <a:pPr algn="ctr"/>
            <a:r>
              <a:rPr lang="ja-JP" altLang="en-US" sz="2000" i="1" dirty="0" err="1">
                <a:ea typeface="MeiryoKe_PGothic" pitchFamily="50" charset="-128"/>
              </a:rPr>
              <a:t>ｚ</a:t>
            </a:r>
            <a:endParaRPr lang="en-US" altLang="ja-JP" sz="2000" i="1" dirty="0">
              <a:ea typeface="MeiryoKe_PGothic" pitchFamily="50" charset="-128"/>
            </a:endParaRPr>
          </a:p>
        </p:txBody>
      </p:sp>
    </p:spTree>
    <p:extLst>
      <p:ext uri="{BB962C8B-B14F-4D97-AF65-F5344CB8AC3E}">
        <p14:creationId xmlns:p14="http://schemas.microsoft.com/office/powerpoint/2010/main" val="2663700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7B58C7-6642-C92C-2482-A1041C6BF0A9}"/>
              </a:ext>
            </a:extLst>
          </p:cNvPr>
          <p:cNvSpPr>
            <a:spLocks noGrp="1"/>
          </p:cNvSpPr>
          <p:nvPr>
            <p:ph type="title"/>
          </p:nvPr>
        </p:nvSpPr>
        <p:spPr/>
        <p:txBody>
          <a:bodyPr/>
          <a:lstStyle/>
          <a:p>
            <a:r>
              <a:rPr kumimoji="1" lang="ja-JP" altLang="en-US" dirty="0"/>
              <a:t>パイプライン化（オーバーラップ）の実現方法</a:t>
            </a:r>
            <a:endParaRPr kumimoji="1" lang="en-US" dirty="0"/>
          </a:p>
        </p:txBody>
      </p:sp>
      <p:sp>
        <p:nvSpPr>
          <p:cNvPr id="3" name="コンテンツ プレースホルダー 2">
            <a:extLst>
              <a:ext uri="{FF2B5EF4-FFF2-40B4-BE49-F238E27FC236}">
                <a16:creationId xmlns:a16="http://schemas.microsoft.com/office/drawing/2014/main" id="{8B31B48C-06B9-5BC1-DAE5-EBD798B62199}"/>
              </a:ext>
            </a:extLst>
          </p:cNvPr>
          <p:cNvSpPr>
            <a:spLocks noGrp="1"/>
          </p:cNvSpPr>
          <p:nvPr>
            <p:ph type="body" sz="quarter" idx="10"/>
          </p:nvPr>
        </p:nvSpPr>
        <p:spPr/>
        <p:txBody>
          <a:bodyPr/>
          <a:lstStyle/>
          <a:p>
            <a:r>
              <a:rPr kumimoji="1" lang="ja-JP" altLang="en-US" dirty="0"/>
              <a:t>シングルサイクル・プロセッサにフリップ・フロップをいれる</a:t>
            </a:r>
            <a:endParaRPr kumimoji="1" lang="en-US" altLang="ja-JP" dirty="0"/>
          </a:p>
          <a:p>
            <a:pPr lvl="1"/>
            <a:r>
              <a:rPr kumimoji="1" lang="ja-JP" altLang="en-US" dirty="0"/>
              <a:t>このためのフリップ・フロップを</a:t>
            </a:r>
            <a:r>
              <a:rPr kumimoji="1" lang="ja-JP" altLang="en-US" dirty="0">
                <a:solidFill>
                  <a:schemeClr val="accent5"/>
                </a:solidFill>
              </a:rPr>
              <a:t>パイプライン・ラッチ</a:t>
            </a:r>
            <a:r>
              <a:rPr kumimoji="1" lang="ja-JP" altLang="en-US" dirty="0"/>
              <a:t>という</a:t>
            </a:r>
            <a:endParaRPr kumimoji="1" lang="en-US" altLang="ja-JP" dirty="0"/>
          </a:p>
          <a:p>
            <a:pPr lvl="2"/>
            <a:r>
              <a:rPr kumimoji="1" lang="ja-JP" altLang="en-US" dirty="0"/>
              <a:t>ラッチ（</a:t>
            </a:r>
            <a:r>
              <a:rPr lang="en-US" altLang="ja-JP" dirty="0"/>
              <a:t>l</a:t>
            </a:r>
            <a:r>
              <a:rPr kumimoji="1" lang="en-US" altLang="ja-JP" dirty="0"/>
              <a:t>atch</a:t>
            </a:r>
            <a:r>
              <a:rPr kumimoji="1" lang="ja-JP" altLang="en-US" dirty="0"/>
              <a:t>）は「ドアや門などの掛け金」の意味</a:t>
            </a:r>
            <a:endParaRPr kumimoji="1" lang="en-US" altLang="ja-JP" dirty="0"/>
          </a:p>
          <a:p>
            <a:pPr lvl="1"/>
            <a:r>
              <a:rPr kumimoji="1" lang="ja-JP" altLang="en-US" dirty="0"/>
              <a:t>パイプライン・ラッチで区切られた部分がステージとなる</a:t>
            </a:r>
            <a:endParaRPr kumimoji="1" lang="en-US" altLang="ja-JP" dirty="0"/>
          </a:p>
          <a:p>
            <a:r>
              <a:rPr kumimoji="1" lang="ja-JP" altLang="en-US" dirty="0"/>
              <a:t>１サイクルの間はパイプライン・ラッチで信号がとまる</a:t>
            </a:r>
            <a:endParaRPr kumimoji="1" lang="en-US" altLang="ja-JP" dirty="0"/>
          </a:p>
          <a:p>
            <a:pPr lvl="1"/>
            <a:r>
              <a:rPr kumimoji="1" lang="ja-JP" altLang="en-US" dirty="0"/>
              <a:t>複数ステージ間で信号が混じるのを防ぐ</a:t>
            </a:r>
            <a:endParaRPr kumimoji="1" lang="en-US" altLang="ja-JP" dirty="0"/>
          </a:p>
          <a:p>
            <a:pPr lvl="1"/>
            <a:r>
              <a:rPr kumimoji="1" lang="ja-JP" altLang="en-US" dirty="0"/>
              <a:t>指定された時間までラッチでドアを開かなくするイメージ？</a:t>
            </a:r>
            <a:endParaRPr kumimoji="1" lang="en-US" dirty="0"/>
          </a:p>
        </p:txBody>
      </p:sp>
    </p:spTree>
    <p:extLst>
      <p:ext uri="{BB962C8B-B14F-4D97-AF65-F5344CB8AC3E}">
        <p14:creationId xmlns:p14="http://schemas.microsoft.com/office/powerpoint/2010/main" val="2704611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グループ化 33"/>
          <p:cNvGrpSpPr/>
          <p:nvPr/>
        </p:nvGrpSpPr>
        <p:grpSpPr>
          <a:xfrm>
            <a:off x="3125967" y="3158997"/>
            <a:ext cx="1562400" cy="576064"/>
            <a:chOff x="971600" y="5445224"/>
            <a:chExt cx="7200800" cy="576064"/>
          </a:xfrm>
        </p:grpSpPr>
        <p:sp>
          <p:nvSpPr>
            <p:cNvPr id="35" name="平行四辺形 3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37" name="平行四辺形 36"/>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38" name="グループ化 37"/>
          <p:cNvGrpSpPr/>
          <p:nvPr/>
        </p:nvGrpSpPr>
        <p:grpSpPr>
          <a:xfrm>
            <a:off x="4566127" y="3158997"/>
            <a:ext cx="1562400" cy="576064"/>
            <a:chOff x="971600" y="5445224"/>
            <a:chExt cx="7200800" cy="576064"/>
          </a:xfrm>
        </p:grpSpPr>
        <p:sp>
          <p:nvSpPr>
            <p:cNvPr id="50" name="平行四辺形 49"/>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1" name="平行四辺形 50"/>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2" name="グループ化 51"/>
          <p:cNvGrpSpPr/>
          <p:nvPr/>
        </p:nvGrpSpPr>
        <p:grpSpPr>
          <a:xfrm>
            <a:off x="6006287" y="3158997"/>
            <a:ext cx="1562400" cy="576064"/>
            <a:chOff x="971600" y="5445224"/>
            <a:chExt cx="7200800" cy="576064"/>
          </a:xfrm>
        </p:grpSpPr>
        <p:sp>
          <p:nvSpPr>
            <p:cNvPr id="53" name="平行四辺形 5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54" name="平行四辺形 5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56" name="グループ化 55"/>
          <p:cNvGrpSpPr/>
          <p:nvPr/>
        </p:nvGrpSpPr>
        <p:grpSpPr>
          <a:xfrm>
            <a:off x="7446447" y="3158997"/>
            <a:ext cx="1584176" cy="576064"/>
            <a:chOff x="971600" y="5445224"/>
            <a:chExt cx="7200800" cy="576064"/>
          </a:xfrm>
        </p:grpSpPr>
        <p:sp>
          <p:nvSpPr>
            <p:cNvPr id="62" name="平行四辺形 61"/>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4" name="平行四辺形 6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36" name="正方形/長方形 35"/>
          <p:cNvSpPr/>
          <p:nvPr/>
        </p:nvSpPr>
        <p:spPr>
          <a:xfrm>
            <a:off x="4975837" y="229445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9" name="正方形/長方形 48"/>
          <p:cNvSpPr/>
          <p:nvPr/>
        </p:nvSpPr>
        <p:spPr>
          <a:xfrm>
            <a:off x="6417884" y="2313038"/>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5" name="正方形/長方形 54"/>
          <p:cNvSpPr/>
          <p:nvPr/>
        </p:nvSpPr>
        <p:spPr>
          <a:xfrm>
            <a:off x="7858044" y="231303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 name="タイトル 1"/>
          <p:cNvSpPr>
            <a:spLocks noGrp="1"/>
          </p:cNvSpPr>
          <p:nvPr>
            <p:ph type="title"/>
          </p:nvPr>
        </p:nvSpPr>
        <p:spPr/>
        <p:txBody>
          <a:bodyPr/>
          <a:lstStyle/>
          <a:p>
            <a:r>
              <a:rPr kumimoji="1" lang="ja-JP" altLang="en-US" dirty="0"/>
              <a:t>パイプライン・ラッチのイメージ</a:t>
            </a:r>
          </a:p>
        </p:txBody>
      </p:sp>
      <p:sp>
        <p:nvSpPr>
          <p:cNvPr id="58" name="コンテンツ プレースホルダー 57"/>
          <p:cNvSpPr>
            <a:spLocks noGrp="1"/>
          </p:cNvSpPr>
          <p:nvPr>
            <p:ph type="body" sz="quarter" idx="10"/>
          </p:nvPr>
        </p:nvSpPr>
        <p:spPr>
          <a:xfrm>
            <a:off x="1775957" y="4509017"/>
            <a:ext cx="8730097" cy="1369161"/>
          </a:xfrm>
          <a:prstGeom prst="rect">
            <a:avLst/>
          </a:prstGeom>
        </p:spPr>
        <p:txBody>
          <a:bodyPr/>
          <a:lstStyle/>
          <a:p>
            <a:r>
              <a:rPr lang="ja-JP" altLang="en-US" dirty="0"/>
              <a:t>各人の作業が終わっても，ラッチが開くまでは次の人に製品を送れない</a:t>
            </a:r>
            <a:endParaRPr lang="en-US" altLang="ja-JP" dirty="0"/>
          </a:p>
          <a:p>
            <a:pPr lvl="1"/>
            <a:r>
              <a:rPr lang="ja-JP" altLang="en-US" dirty="0"/>
              <a:t>複数ステージ間で信号が混じるのを防ぐ</a:t>
            </a:r>
            <a:endParaRPr lang="en-US" altLang="ja-JP" dirty="0"/>
          </a:p>
          <a:p>
            <a:pPr lvl="1"/>
            <a:r>
              <a:rPr lang="ja-JP" altLang="en-US" dirty="0"/>
              <a:t>指定された時間までラッチでドアを開かなくするイメージ？</a:t>
            </a:r>
            <a:endParaRPr lang="en-US" altLang="ja-JP" dirty="0"/>
          </a:p>
          <a:p>
            <a:pPr lvl="2"/>
            <a:r>
              <a:rPr lang="ja-JP" altLang="en-US" dirty="0"/>
              <a:t>上の絵では，赤い人がまだ仕事が終わってないので，</a:t>
            </a:r>
            <a:br>
              <a:rPr lang="en-US" altLang="ja-JP" dirty="0"/>
            </a:br>
            <a:r>
              <a:rPr lang="ja-JP" altLang="en-US" dirty="0"/>
              <a:t>全体が歩調を合わすために待っている</a:t>
            </a:r>
            <a:endParaRPr lang="en-US" altLang="ja-JP" dirty="0"/>
          </a:p>
        </p:txBody>
      </p:sp>
      <p:cxnSp>
        <p:nvCxnSpPr>
          <p:cNvPr id="67" name="直線矢印コネクタ 66"/>
          <p:cNvCxnSpPr/>
          <p:nvPr/>
        </p:nvCxnSpPr>
        <p:spPr bwMode="auto">
          <a:xfrm>
            <a:off x="3125967" y="3969006"/>
            <a:ext cx="5904656" cy="0"/>
          </a:xfrm>
          <a:prstGeom prst="straightConnector1">
            <a:avLst/>
          </a:prstGeom>
          <a:ln cap="rnd">
            <a:solidFill>
              <a:schemeClr val="tx1">
                <a:lumMod val="65000"/>
                <a:lumOff val="35000"/>
              </a:schemeClr>
            </a:solidFill>
            <a:headEnd type="none" w="med" len="med"/>
            <a:tailEnd type="arrow"/>
          </a:ln>
        </p:spPr>
        <p:style>
          <a:lnRef idx="2">
            <a:schemeClr val="dk1"/>
          </a:lnRef>
          <a:fillRef idx="0">
            <a:schemeClr val="dk1"/>
          </a:fillRef>
          <a:effectRef idx="1">
            <a:schemeClr val="dk1"/>
          </a:effectRef>
          <a:fontRef idx="minor">
            <a:schemeClr val="tx1"/>
          </a:fontRef>
        </p:style>
      </p:cxnSp>
      <p:grpSp>
        <p:nvGrpSpPr>
          <p:cNvPr id="6" name="グループ化 5"/>
          <p:cNvGrpSpPr/>
          <p:nvPr/>
        </p:nvGrpSpPr>
        <p:grpSpPr>
          <a:xfrm>
            <a:off x="3575977" y="3069001"/>
            <a:ext cx="5040057" cy="360005"/>
            <a:chOff x="611956" y="3699003"/>
            <a:chExt cx="5040057" cy="360005"/>
          </a:xfrm>
        </p:grpSpPr>
        <p:sp>
          <p:nvSpPr>
            <p:cNvPr id="91" name="角丸四角形 90"/>
            <p:cNvSpPr/>
            <p:nvPr/>
          </p:nvSpPr>
          <p:spPr bwMode="auto">
            <a:xfrm>
              <a:off x="4932005" y="369900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2" name="角丸四角形 91"/>
            <p:cNvSpPr/>
            <p:nvPr/>
          </p:nvSpPr>
          <p:spPr bwMode="auto">
            <a:xfrm>
              <a:off x="3491989"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3" name="角丸四角形 92"/>
            <p:cNvSpPr/>
            <p:nvPr/>
          </p:nvSpPr>
          <p:spPr bwMode="auto">
            <a:xfrm>
              <a:off x="2051973"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94" name="角丸四角形 93"/>
            <p:cNvSpPr/>
            <p:nvPr/>
          </p:nvSpPr>
          <p:spPr bwMode="auto">
            <a:xfrm>
              <a:off x="611956" y="3699004"/>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grpSp>
      <p:sp>
        <p:nvSpPr>
          <p:cNvPr id="7" name="正方形/長方形 6"/>
          <p:cNvSpPr/>
          <p:nvPr/>
        </p:nvSpPr>
        <p:spPr bwMode="auto">
          <a:xfrm>
            <a:off x="1505517" y="2817094"/>
            <a:ext cx="1512168" cy="720080"/>
          </a:xfrm>
          <a:prstGeom prst="rect">
            <a:avLst/>
          </a:prstGeom>
          <a:solidFill>
            <a:schemeClr val="bg1"/>
          </a:solidFill>
          <a:ln>
            <a:noFill/>
            <a:headEnd/>
            <a:tailEnd type="non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grpSp>
        <p:nvGrpSpPr>
          <p:cNvPr id="4" name="グループ化 3">
            <a:extLst>
              <a:ext uri="{FF2B5EF4-FFF2-40B4-BE49-F238E27FC236}">
                <a16:creationId xmlns:a16="http://schemas.microsoft.com/office/drawing/2014/main" id="{4342C5DC-00B0-84B6-70B1-3D6C78F81A70}"/>
              </a:ext>
            </a:extLst>
          </p:cNvPr>
          <p:cNvGrpSpPr/>
          <p:nvPr/>
        </p:nvGrpSpPr>
        <p:grpSpPr>
          <a:xfrm>
            <a:off x="4475982" y="2708992"/>
            <a:ext cx="360004" cy="720008"/>
            <a:chOff x="2411977" y="3068996"/>
            <a:chExt cx="360004" cy="720008"/>
          </a:xfrm>
        </p:grpSpPr>
        <p:sp>
          <p:nvSpPr>
            <p:cNvPr id="5" name="正方形/長方形 4">
              <a:extLst>
                <a:ext uri="{FF2B5EF4-FFF2-40B4-BE49-F238E27FC236}">
                  <a16:creationId xmlns:a16="http://schemas.microsoft.com/office/drawing/2014/main" id="{2851CA75-4AA5-8C83-5FA8-9C5494576DE6}"/>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8" name="二等辺三角形 7">
              <a:extLst>
                <a:ext uri="{FF2B5EF4-FFF2-40B4-BE49-F238E27FC236}">
                  <a16:creationId xmlns:a16="http://schemas.microsoft.com/office/drawing/2014/main" id="{309C8E32-6494-8480-0115-DF8A7E362B6D}"/>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9" name="グループ化 8">
            <a:extLst>
              <a:ext uri="{FF2B5EF4-FFF2-40B4-BE49-F238E27FC236}">
                <a16:creationId xmlns:a16="http://schemas.microsoft.com/office/drawing/2014/main" id="{024DF253-E5A3-2F57-0964-E3A81D922F06}"/>
              </a:ext>
            </a:extLst>
          </p:cNvPr>
          <p:cNvGrpSpPr/>
          <p:nvPr/>
        </p:nvGrpSpPr>
        <p:grpSpPr>
          <a:xfrm>
            <a:off x="5915998" y="2708992"/>
            <a:ext cx="360004" cy="720008"/>
            <a:chOff x="2411977" y="3068996"/>
            <a:chExt cx="360004" cy="720008"/>
          </a:xfrm>
        </p:grpSpPr>
        <p:sp>
          <p:nvSpPr>
            <p:cNvPr id="10" name="正方形/長方形 9">
              <a:extLst>
                <a:ext uri="{FF2B5EF4-FFF2-40B4-BE49-F238E27FC236}">
                  <a16:creationId xmlns:a16="http://schemas.microsoft.com/office/drawing/2014/main" id="{845928B1-5059-E24E-1267-0E6F892224D5}"/>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1" name="二等辺三角形 10">
              <a:extLst>
                <a:ext uri="{FF2B5EF4-FFF2-40B4-BE49-F238E27FC236}">
                  <a16:creationId xmlns:a16="http://schemas.microsoft.com/office/drawing/2014/main" id="{C03C8377-1A30-11D4-8CFA-498B90D5C92F}"/>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2" name="グループ化 11">
            <a:extLst>
              <a:ext uri="{FF2B5EF4-FFF2-40B4-BE49-F238E27FC236}">
                <a16:creationId xmlns:a16="http://schemas.microsoft.com/office/drawing/2014/main" id="{5FC3C304-B115-493B-C9A2-8B122652A984}"/>
              </a:ext>
            </a:extLst>
          </p:cNvPr>
          <p:cNvGrpSpPr/>
          <p:nvPr/>
        </p:nvGrpSpPr>
        <p:grpSpPr>
          <a:xfrm>
            <a:off x="7356014" y="2708992"/>
            <a:ext cx="360004" cy="720008"/>
            <a:chOff x="2411977" y="3068996"/>
            <a:chExt cx="360004" cy="720008"/>
          </a:xfrm>
        </p:grpSpPr>
        <p:sp>
          <p:nvSpPr>
            <p:cNvPr id="13" name="正方形/長方形 12">
              <a:extLst>
                <a:ext uri="{FF2B5EF4-FFF2-40B4-BE49-F238E27FC236}">
                  <a16:creationId xmlns:a16="http://schemas.microsoft.com/office/drawing/2014/main" id="{64F88E16-9AA6-FCC9-F80A-DF14DDDA724C}"/>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4" name="二等辺三角形 13">
              <a:extLst>
                <a:ext uri="{FF2B5EF4-FFF2-40B4-BE49-F238E27FC236}">
                  <a16:creationId xmlns:a16="http://schemas.microsoft.com/office/drawing/2014/main" id="{7E84D35E-2478-500C-E77D-1D06EF09ABC5}"/>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5" name="グループ化 14">
            <a:extLst>
              <a:ext uri="{FF2B5EF4-FFF2-40B4-BE49-F238E27FC236}">
                <a16:creationId xmlns:a16="http://schemas.microsoft.com/office/drawing/2014/main" id="{C44A8EE6-C46C-C8A0-D75E-E2FD847F00B0}"/>
              </a:ext>
            </a:extLst>
          </p:cNvPr>
          <p:cNvGrpSpPr/>
          <p:nvPr/>
        </p:nvGrpSpPr>
        <p:grpSpPr>
          <a:xfrm>
            <a:off x="2945965" y="2708992"/>
            <a:ext cx="360004" cy="720008"/>
            <a:chOff x="2411977" y="3068996"/>
            <a:chExt cx="360004" cy="720008"/>
          </a:xfrm>
        </p:grpSpPr>
        <p:sp>
          <p:nvSpPr>
            <p:cNvPr id="16" name="正方形/長方形 15">
              <a:extLst>
                <a:ext uri="{FF2B5EF4-FFF2-40B4-BE49-F238E27FC236}">
                  <a16:creationId xmlns:a16="http://schemas.microsoft.com/office/drawing/2014/main" id="{1295C8C8-38F1-0491-C4A3-14145B7EAAA2}"/>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7" name="二等辺三角形 16">
              <a:extLst>
                <a:ext uri="{FF2B5EF4-FFF2-40B4-BE49-F238E27FC236}">
                  <a16:creationId xmlns:a16="http://schemas.microsoft.com/office/drawing/2014/main" id="{86091F01-12EA-BC74-22A8-23A63BD164FE}"/>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2" name="角丸四角形吹き出し 20">
            <a:extLst>
              <a:ext uri="{FF2B5EF4-FFF2-40B4-BE49-F238E27FC236}">
                <a16:creationId xmlns:a16="http://schemas.microsoft.com/office/drawing/2014/main" id="{A67840A6-3259-146C-F2B7-0C6CA5ED48C9}"/>
              </a:ext>
            </a:extLst>
          </p:cNvPr>
          <p:cNvSpPr/>
          <p:nvPr/>
        </p:nvSpPr>
        <p:spPr bwMode="auto">
          <a:xfrm>
            <a:off x="5645995" y="1538984"/>
            <a:ext cx="2160024" cy="522647"/>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もう終わったから次のに</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取りかかりたいんだけど</a:t>
            </a:r>
          </a:p>
        </p:txBody>
      </p:sp>
      <p:sp>
        <p:nvSpPr>
          <p:cNvPr id="23" name="角丸四角形吹き出し 21">
            <a:extLst>
              <a:ext uri="{FF2B5EF4-FFF2-40B4-BE49-F238E27FC236}">
                <a16:creationId xmlns:a16="http://schemas.microsoft.com/office/drawing/2014/main" id="{472A93C4-B7F3-DE0C-4258-84AF3B9CECB9}"/>
              </a:ext>
            </a:extLst>
          </p:cNvPr>
          <p:cNvSpPr/>
          <p:nvPr/>
        </p:nvSpPr>
        <p:spPr bwMode="auto">
          <a:xfrm>
            <a:off x="4025977" y="1538984"/>
            <a:ext cx="1440016" cy="522647"/>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そんなに</a:t>
            </a:r>
            <a:br>
              <a:rPr lang="en-US" altLang="ja-JP" sz="1400" dirty="0">
                <a:solidFill>
                  <a:schemeClr val="tx1">
                    <a:lumMod val="65000"/>
                    <a:lumOff val="35000"/>
                  </a:schemeClr>
                </a:solidFill>
                <a:latin typeface="Arial Narrow" panose="020B0606020202030204" pitchFamily="34" charset="0"/>
              </a:rPr>
            </a:br>
            <a:r>
              <a:rPr lang="ja-JP" altLang="en-US" sz="1400" dirty="0">
                <a:solidFill>
                  <a:schemeClr val="tx1">
                    <a:lumMod val="65000"/>
                    <a:lumOff val="35000"/>
                  </a:schemeClr>
                </a:solidFill>
                <a:latin typeface="Arial Narrow" panose="020B0606020202030204" pitchFamily="34" charset="0"/>
              </a:rPr>
              <a:t>仕事がしたいか</a:t>
            </a:r>
          </a:p>
        </p:txBody>
      </p:sp>
      <p:sp>
        <p:nvSpPr>
          <p:cNvPr id="24" name="角丸四角形吹き出し 26">
            <a:extLst>
              <a:ext uri="{FF2B5EF4-FFF2-40B4-BE49-F238E27FC236}">
                <a16:creationId xmlns:a16="http://schemas.microsoft.com/office/drawing/2014/main" id="{9F854064-B6FC-6313-96D2-181D2DA1EDFF}"/>
              </a:ext>
            </a:extLst>
          </p:cNvPr>
          <p:cNvSpPr/>
          <p:nvPr/>
        </p:nvSpPr>
        <p:spPr bwMode="auto">
          <a:xfrm>
            <a:off x="8616028" y="1538984"/>
            <a:ext cx="1800020" cy="522647"/>
          </a:xfrm>
          <a:prstGeom prst="wedgeRoundRectCallout">
            <a:avLst>
              <a:gd name="adj1" fmla="val -51493"/>
              <a:gd name="adj2" fmla="val 13979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ラッチがあくまで</a:t>
            </a:r>
            <a:endParaRPr lang="en-US" altLang="ja-JP" sz="1400" dirty="0">
              <a:solidFill>
                <a:schemeClr val="tx1">
                  <a:lumMod val="65000"/>
                  <a:lumOff val="35000"/>
                </a:schemeClr>
              </a:solidFill>
              <a:latin typeface="Arial Narrow" panose="020B0606020202030204" pitchFamily="34" charset="0"/>
            </a:endParaRPr>
          </a:p>
          <a:p>
            <a:r>
              <a:rPr lang="ja-JP" altLang="en-US" sz="1400" dirty="0">
                <a:solidFill>
                  <a:schemeClr val="tx1">
                    <a:lumMod val="65000"/>
                    <a:lumOff val="35000"/>
                  </a:schemeClr>
                </a:solidFill>
                <a:latin typeface="Arial Narrow" panose="020B0606020202030204" pitchFamily="34" charset="0"/>
              </a:rPr>
              <a:t>待ちましょう</a:t>
            </a:r>
          </a:p>
        </p:txBody>
      </p:sp>
      <p:sp>
        <p:nvSpPr>
          <p:cNvPr id="25" name="正方形/長方形 24">
            <a:extLst>
              <a:ext uri="{FF2B5EF4-FFF2-40B4-BE49-F238E27FC236}">
                <a16:creationId xmlns:a16="http://schemas.microsoft.com/office/drawing/2014/main" id="{C1723FD6-5C82-1425-2F57-B092327D5E76}"/>
              </a:ext>
            </a:extLst>
          </p:cNvPr>
          <p:cNvSpPr/>
          <p:nvPr/>
        </p:nvSpPr>
        <p:spPr bwMode="auto">
          <a:xfrm>
            <a:off x="6996015" y="2168986"/>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ﾏｯﾃﾏｯﾃ</a:t>
            </a:r>
          </a:p>
        </p:txBody>
      </p:sp>
      <p:grpSp>
        <p:nvGrpSpPr>
          <p:cNvPr id="26" name="グループ化 25">
            <a:extLst>
              <a:ext uri="{FF2B5EF4-FFF2-40B4-BE49-F238E27FC236}">
                <a16:creationId xmlns:a16="http://schemas.microsoft.com/office/drawing/2014/main" id="{29AAA781-C1C8-498E-4550-B0D6E90D2E39}"/>
              </a:ext>
            </a:extLst>
          </p:cNvPr>
          <p:cNvGrpSpPr/>
          <p:nvPr/>
        </p:nvGrpSpPr>
        <p:grpSpPr>
          <a:xfrm>
            <a:off x="8886031" y="2708992"/>
            <a:ext cx="360004" cy="720008"/>
            <a:chOff x="2411977" y="3068996"/>
            <a:chExt cx="360004" cy="720008"/>
          </a:xfrm>
        </p:grpSpPr>
        <p:sp>
          <p:nvSpPr>
            <p:cNvPr id="27" name="正方形/長方形 26">
              <a:extLst>
                <a:ext uri="{FF2B5EF4-FFF2-40B4-BE49-F238E27FC236}">
                  <a16:creationId xmlns:a16="http://schemas.microsoft.com/office/drawing/2014/main" id="{DBECC520-9F66-0DDC-A3B9-CDCB47A1EA10}"/>
                </a:ext>
              </a:extLst>
            </p:cNvPr>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8" name="二等辺三角形 27">
              <a:extLst>
                <a:ext uri="{FF2B5EF4-FFF2-40B4-BE49-F238E27FC236}">
                  <a16:creationId xmlns:a16="http://schemas.microsoft.com/office/drawing/2014/main" id="{412377CC-55FD-D587-43BD-53057CB52D97}"/>
                </a:ext>
              </a:extLst>
            </p:cNvPr>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3" name="正方形/長方形 2"/>
          <p:cNvSpPr/>
          <p:nvPr/>
        </p:nvSpPr>
        <p:spPr>
          <a:xfrm>
            <a:off x="3535677" y="2294454"/>
            <a:ext cx="1390315"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33901342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パイプライン化（オーバーラップ）の実現方法</a:t>
            </a:r>
          </a:p>
        </p:txBody>
      </p:sp>
      <p:sp>
        <p:nvSpPr>
          <p:cNvPr id="3" name="テキスト プレースホルダー 2"/>
          <p:cNvSpPr>
            <a:spLocks noGrp="1"/>
          </p:cNvSpPr>
          <p:nvPr>
            <p:ph type="body" sz="quarter" idx="10"/>
          </p:nvPr>
        </p:nvSpPr>
        <p:spPr>
          <a:xfrm>
            <a:off x="1595951" y="5589024"/>
            <a:ext cx="8820098" cy="449698"/>
          </a:xfrm>
        </p:spPr>
        <p:txBody>
          <a:bodyPr/>
          <a:lstStyle/>
          <a:p>
            <a:pPr lvl="1"/>
            <a:r>
              <a:rPr kumimoji="1" lang="ja-JP" altLang="en-US" dirty="0"/>
              <a:t>各ステージの間に，</a:t>
            </a:r>
            <a:r>
              <a:rPr kumimoji="1" lang="en-US" altLang="ja-JP" dirty="0"/>
              <a:t>D-FF</a:t>
            </a:r>
            <a:r>
              <a:rPr kumimoji="1" lang="ja-JP" altLang="en-US" dirty="0"/>
              <a:t>（オレンジの四角）をいれる</a:t>
            </a:r>
            <a:endParaRPr kumimoji="1" lang="en-US" altLang="ja-JP" dirty="0"/>
          </a:p>
          <a:p>
            <a:pPr lvl="2"/>
            <a:r>
              <a:rPr kumimoji="1" lang="en-US" altLang="ja-JP" dirty="0"/>
              <a:t>WB </a:t>
            </a:r>
            <a:r>
              <a:rPr kumimoji="1" lang="ja-JP" altLang="en-US" dirty="0"/>
              <a:t>の書き込みについては，レジスタ・ファイル自体が</a:t>
            </a:r>
            <a:br>
              <a:rPr kumimoji="1" lang="en-US" altLang="ja-JP" dirty="0"/>
            </a:br>
            <a:r>
              <a:rPr kumimoji="1" lang="ja-JP" altLang="en-US" dirty="0"/>
              <a:t>クロックに同期して書き込みが行われるので </a:t>
            </a:r>
            <a:r>
              <a:rPr kumimoji="1" lang="en-US" altLang="ja-JP" dirty="0"/>
              <a:t>D-FF </a:t>
            </a:r>
            <a:r>
              <a:rPr kumimoji="1" lang="ja-JP" altLang="en-US" dirty="0"/>
              <a:t>は不要</a:t>
            </a:r>
            <a:endParaRPr kumimoji="1" lang="en-US" altLang="ja-JP" dirty="0"/>
          </a:p>
          <a:p>
            <a:pPr lvl="1"/>
            <a:r>
              <a:rPr kumimoji="1" lang="ja-JP" altLang="en-US" dirty="0">
                <a:solidFill>
                  <a:schemeClr val="accent5"/>
                </a:solidFill>
              </a:rPr>
              <a:t>各ステージの処理が早く終わっても，次のクロックまでは </a:t>
            </a:r>
            <a:r>
              <a:rPr kumimoji="1" lang="en-US" altLang="ja-JP" dirty="0">
                <a:solidFill>
                  <a:schemeClr val="accent5"/>
                </a:solidFill>
              </a:rPr>
              <a:t>D-FF </a:t>
            </a:r>
            <a:r>
              <a:rPr kumimoji="1" lang="ja-JP" altLang="en-US" dirty="0">
                <a:solidFill>
                  <a:schemeClr val="accent5"/>
                </a:solidFill>
              </a:rPr>
              <a:t>で</a:t>
            </a:r>
            <a:br>
              <a:rPr kumimoji="1" lang="en-US" altLang="ja-JP" dirty="0">
                <a:solidFill>
                  <a:schemeClr val="accent5"/>
                </a:solidFill>
              </a:rPr>
            </a:br>
            <a:r>
              <a:rPr kumimoji="1" lang="ja-JP" altLang="en-US" dirty="0">
                <a:solidFill>
                  <a:schemeClr val="accent5"/>
                </a:solidFill>
              </a:rPr>
              <a:t>信号の伝搬を止める</a:t>
            </a:r>
          </a:p>
        </p:txBody>
      </p:sp>
      <p:sp>
        <p:nvSpPr>
          <p:cNvPr id="4" name="正方形/長方形 3"/>
          <p:cNvSpPr/>
          <p:nvPr/>
        </p:nvSpPr>
        <p:spPr bwMode="auto">
          <a:xfrm>
            <a:off x="2495960"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5" name="正方形/長方形 4"/>
          <p:cNvSpPr/>
          <p:nvPr/>
        </p:nvSpPr>
        <p:spPr bwMode="auto">
          <a:xfrm>
            <a:off x="465598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b"/>
          <a:lstStyle/>
          <a:p>
            <a:pPr algn="ctr"/>
            <a:endParaRPr lang="ja-JP" altLang="en-US" sz="1400" dirty="0">
              <a:latin typeface="メイリオ" panose="020B0604030504040204" pitchFamily="50" charset="-128"/>
              <a:ea typeface="メイリオ" panose="020B0604030504040204" pitchFamily="50" charset="-128"/>
            </a:endParaRPr>
          </a:p>
        </p:txBody>
      </p:sp>
      <p:sp>
        <p:nvSpPr>
          <p:cNvPr id="6" name="正方形/長方形 5"/>
          <p:cNvSpPr/>
          <p:nvPr/>
        </p:nvSpPr>
        <p:spPr bwMode="auto">
          <a:xfrm>
            <a:off x="8256024" y="2708992"/>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フリーフォーム 6"/>
          <p:cNvSpPr>
            <a:spLocks noChangeArrowheads="1"/>
          </p:cNvSpPr>
          <p:nvPr/>
        </p:nvSpPr>
        <p:spPr bwMode="auto">
          <a:xfrm rot="-5400000">
            <a:off x="6546011" y="3068999"/>
            <a:ext cx="1260013" cy="720009"/>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en-US" altLang="ja-JP" sz="1600" dirty="0">
                <a:latin typeface="Arial Narrow" pitchFamily="34" charset="0"/>
                <a:cs typeface="Times New Roman" pitchFamily="18" charset="0"/>
              </a:rPr>
              <a:t>ALU</a:t>
            </a:r>
            <a:endParaRPr lang="ja-JP" altLang="en-US" sz="1600" dirty="0">
              <a:latin typeface="Arial Narrow" pitchFamily="34" charset="0"/>
              <a:cs typeface="Times New Roman" pitchFamily="18" charset="0"/>
            </a:endParaRPr>
          </a:p>
        </p:txBody>
      </p:sp>
      <p:sp>
        <p:nvSpPr>
          <p:cNvPr id="8" name="正方形/長方形 7"/>
          <p:cNvSpPr/>
          <p:nvPr/>
        </p:nvSpPr>
        <p:spPr bwMode="auto">
          <a:xfrm>
            <a:off x="1775952"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PC</a:t>
            </a:r>
            <a:endParaRPr lang="ja-JP" altLang="en-US" dirty="0">
              <a:latin typeface="メイリオ" panose="020B0604030504040204" pitchFamily="50" charset="-128"/>
              <a:ea typeface="メイリオ" panose="020B0604030504040204" pitchFamily="50" charset="-128"/>
            </a:endParaRPr>
          </a:p>
        </p:txBody>
      </p:sp>
      <p:cxnSp>
        <p:nvCxnSpPr>
          <p:cNvPr id="9" name="直線矢印コネクタ 8"/>
          <p:cNvCxnSpPr>
            <a:endCxn id="4" idx="1"/>
          </p:cNvCxnSpPr>
          <p:nvPr/>
        </p:nvCxnSpPr>
        <p:spPr bwMode="auto">
          <a:xfrm>
            <a:off x="2135956" y="3429000"/>
            <a:ext cx="360004" cy="0"/>
          </a:xfrm>
          <a:prstGeom prst="straightConnector1">
            <a:avLst/>
          </a:prstGeom>
          <a:noFill/>
          <a:ln w="9525" cap="flat" cmpd="sng" algn="ctr">
            <a:solidFill>
              <a:schemeClr val="tx1"/>
            </a:solidFill>
            <a:prstDash val="solid"/>
            <a:round/>
            <a:headEnd type="none" w="med" len="med"/>
            <a:tailEnd type="triangle"/>
          </a:ln>
          <a:effectLst/>
        </p:spPr>
      </p:cxnSp>
      <p:sp>
        <p:nvSpPr>
          <p:cNvPr id="10" name="Freeform 10"/>
          <p:cNvSpPr>
            <a:spLocks/>
          </p:cNvSpPr>
          <p:nvPr/>
        </p:nvSpPr>
        <p:spPr bwMode="auto">
          <a:xfrm flipV="1">
            <a:off x="2315958" y="2258989"/>
            <a:ext cx="540006" cy="1170013"/>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1" name="フリーフォーム 10"/>
          <p:cNvSpPr>
            <a:spLocks noChangeArrowheads="1"/>
          </p:cNvSpPr>
          <p:nvPr/>
        </p:nvSpPr>
        <p:spPr bwMode="auto">
          <a:xfrm rot="-5400000">
            <a:off x="2585960" y="1808982"/>
            <a:ext cx="900010" cy="360004"/>
          </a:xfrm>
          <a:custGeom>
            <a:avLst/>
            <a:gdLst>
              <a:gd name="connsiteX0" fmla="*/ 720000 w 720000"/>
              <a:gd name="connsiteY0" fmla="*/ 0 h 360004"/>
              <a:gd name="connsiteX1" fmla="*/ 540000 w 720000"/>
              <a:gd name="connsiteY1" fmla="*/ 360004 h 360004"/>
              <a:gd name="connsiteX2" fmla="*/ 180000 w 720000"/>
              <a:gd name="connsiteY2" fmla="*/ 360004 h 360004"/>
              <a:gd name="connsiteX3" fmla="*/ 0 w 720000"/>
              <a:gd name="connsiteY3" fmla="*/ 0 h 360004"/>
              <a:gd name="connsiteX4" fmla="*/ 314997 w 720000"/>
              <a:gd name="connsiteY4" fmla="*/ 0 h 360004"/>
              <a:gd name="connsiteX5" fmla="*/ 359997 w 720000"/>
              <a:gd name="connsiteY5" fmla="*/ 90000 h 360004"/>
              <a:gd name="connsiteX6" fmla="*/ 404998 w 720000"/>
              <a:gd name="connsiteY6" fmla="*/ 0 h 360004"/>
              <a:gd name="connsiteX7" fmla="*/ 720000 w 720000"/>
              <a:gd name="connsiteY7" fmla="*/ 0 h 36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0000" h="360004">
                <a:moveTo>
                  <a:pt x="720000" y="0"/>
                </a:moveTo>
                <a:lnTo>
                  <a:pt x="540000" y="360004"/>
                </a:lnTo>
                <a:lnTo>
                  <a:pt x="180000" y="360004"/>
                </a:lnTo>
                <a:lnTo>
                  <a:pt x="0" y="0"/>
                </a:lnTo>
                <a:lnTo>
                  <a:pt x="314997" y="0"/>
                </a:lnTo>
                <a:lnTo>
                  <a:pt x="359997" y="90000"/>
                </a:lnTo>
                <a:lnTo>
                  <a:pt x="404998" y="0"/>
                </a:lnTo>
                <a:lnTo>
                  <a:pt x="720000" y="0"/>
                </a:lnTo>
                <a:close/>
              </a:path>
            </a:pathLst>
          </a:custGeom>
          <a:ln>
            <a:headEnd/>
            <a:tailEnd/>
          </a:ln>
        </p:spPr>
        <p:style>
          <a:lnRef idx="1">
            <a:schemeClr val="accent5"/>
          </a:lnRef>
          <a:fillRef idx="2">
            <a:schemeClr val="accent5"/>
          </a:fillRef>
          <a:effectRef idx="1">
            <a:schemeClr val="accent5"/>
          </a:effectRef>
          <a:fontRef idx="minor">
            <a:schemeClr val="dk1"/>
          </a:fontRef>
        </p:style>
        <p:txBody>
          <a:bodyPr vert="eaVert" wrap="square" anchor="ctr">
            <a:noAutofit/>
          </a:bodyPr>
          <a:lstStyle/>
          <a:p>
            <a:pPr algn="ctr"/>
            <a:r>
              <a:rPr lang="ja-JP" altLang="en-US" sz="1600" dirty="0">
                <a:latin typeface="メイリオ" panose="020B0604030504040204" pitchFamily="50" charset="-128"/>
                <a:ea typeface="メイリオ" panose="020B0604030504040204" pitchFamily="50" charset="-128"/>
                <a:cs typeface="Times New Roman" pitchFamily="18" charset="0"/>
              </a:rPr>
              <a:t>加算</a:t>
            </a:r>
          </a:p>
        </p:txBody>
      </p:sp>
      <p:cxnSp>
        <p:nvCxnSpPr>
          <p:cNvPr id="12" name="直線矢印コネクタ 11"/>
          <p:cNvCxnSpPr/>
          <p:nvPr/>
        </p:nvCxnSpPr>
        <p:spPr bwMode="auto">
          <a:xfrm>
            <a:off x="2405963" y="1718981"/>
            <a:ext cx="450005" cy="0"/>
          </a:xfrm>
          <a:prstGeom prst="straightConnector1">
            <a:avLst/>
          </a:prstGeom>
          <a:noFill/>
          <a:ln w="9525" cap="flat" cmpd="sng" algn="ctr">
            <a:solidFill>
              <a:schemeClr val="tx1"/>
            </a:solidFill>
            <a:prstDash val="solid"/>
            <a:round/>
            <a:headEnd type="none" w="sm" len="sm"/>
            <a:tailEnd type="triangle"/>
          </a:ln>
          <a:effectLst/>
        </p:spPr>
      </p:cxnSp>
      <p:sp>
        <p:nvSpPr>
          <p:cNvPr id="13" name="Freeform 10"/>
          <p:cNvSpPr>
            <a:spLocks/>
          </p:cNvSpPr>
          <p:nvPr/>
        </p:nvSpPr>
        <p:spPr bwMode="auto">
          <a:xfrm>
            <a:off x="1595950" y="1268976"/>
            <a:ext cx="180002" cy="216002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14" name="Freeform 10"/>
          <p:cNvSpPr>
            <a:spLocks/>
          </p:cNvSpPr>
          <p:nvPr/>
        </p:nvSpPr>
        <p:spPr bwMode="auto">
          <a:xfrm rot="16200000">
            <a:off x="3035967" y="1448977"/>
            <a:ext cx="720008" cy="360006"/>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15" name="直線矢印コネクタ 14"/>
          <p:cNvCxnSpPr/>
          <p:nvPr/>
        </p:nvCxnSpPr>
        <p:spPr bwMode="auto">
          <a:xfrm>
            <a:off x="1595950" y="1268976"/>
            <a:ext cx="1980022" cy="0"/>
          </a:xfrm>
          <a:prstGeom prst="straightConnector1">
            <a:avLst/>
          </a:prstGeom>
          <a:noFill/>
          <a:ln w="9525" cap="flat" cmpd="sng" algn="ctr">
            <a:solidFill>
              <a:schemeClr val="tx1"/>
            </a:solidFill>
            <a:prstDash val="solid"/>
            <a:round/>
            <a:headEnd type="none" w="sm" len="sm"/>
            <a:tailEnd type="none"/>
          </a:ln>
          <a:effectLst/>
        </p:spPr>
      </p:cxnSp>
      <p:cxnSp>
        <p:nvCxnSpPr>
          <p:cNvPr id="16" name="直線矢印コネクタ 15"/>
          <p:cNvCxnSpPr/>
          <p:nvPr/>
        </p:nvCxnSpPr>
        <p:spPr bwMode="auto">
          <a:xfrm>
            <a:off x="3935980" y="3429000"/>
            <a:ext cx="540007" cy="0"/>
          </a:xfrm>
          <a:prstGeom prst="straightConnector1">
            <a:avLst/>
          </a:prstGeom>
          <a:noFill/>
          <a:ln w="9525" cap="flat" cmpd="sng" algn="ctr">
            <a:solidFill>
              <a:schemeClr val="tx1"/>
            </a:solidFill>
            <a:prstDash val="solid"/>
            <a:round/>
            <a:headEnd type="none" w="med" len="med"/>
            <a:tailEnd type="triangle"/>
          </a:ln>
          <a:effectLst/>
        </p:spPr>
      </p:cxnSp>
      <p:sp>
        <p:nvSpPr>
          <p:cNvPr id="17" name="正方形/長方形 16"/>
          <p:cNvSpPr/>
          <p:nvPr/>
        </p:nvSpPr>
        <p:spPr bwMode="auto">
          <a:xfrm>
            <a:off x="249596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18" name="正方形/長方形 17"/>
          <p:cNvSpPr/>
          <p:nvPr/>
        </p:nvSpPr>
        <p:spPr bwMode="auto">
          <a:xfrm>
            <a:off x="3575972"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pPr algn="r"/>
            <a:r>
              <a:rPr lang="ja-JP" altLang="en-US" sz="1200" dirty="0">
                <a:latin typeface="メイリオ" panose="020B0604030504040204" pitchFamily="50" charset="-128"/>
                <a:ea typeface="メイリオ" panose="020B0604030504040204" pitchFamily="50" charset="-128"/>
              </a:rPr>
              <a:t>命令</a:t>
            </a:r>
          </a:p>
        </p:txBody>
      </p:sp>
      <p:sp>
        <p:nvSpPr>
          <p:cNvPr id="19" name="Freeform 10"/>
          <p:cNvSpPr>
            <a:spLocks/>
          </p:cNvSpPr>
          <p:nvPr/>
        </p:nvSpPr>
        <p:spPr bwMode="auto">
          <a:xfrm flipV="1">
            <a:off x="4475982" y="3248999"/>
            <a:ext cx="180002" cy="720011"/>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20" name="直線矢印コネクタ 19"/>
          <p:cNvCxnSpPr/>
          <p:nvPr/>
        </p:nvCxnSpPr>
        <p:spPr bwMode="auto">
          <a:xfrm>
            <a:off x="4475982" y="3609002"/>
            <a:ext cx="180002" cy="0"/>
          </a:xfrm>
          <a:prstGeom prst="straightConnector1">
            <a:avLst/>
          </a:prstGeom>
          <a:noFill/>
          <a:ln w="9525" cap="flat" cmpd="sng" algn="ctr">
            <a:solidFill>
              <a:schemeClr val="tx1"/>
            </a:solidFill>
            <a:prstDash val="solid"/>
            <a:round/>
            <a:headEnd type="oval" w="sm" len="sm"/>
            <a:tailEnd type="triangle"/>
          </a:ln>
          <a:effectLst/>
        </p:spPr>
      </p:cxnSp>
      <p:sp>
        <p:nvSpPr>
          <p:cNvPr id="21" name="正方形/長方形 20"/>
          <p:cNvSpPr/>
          <p:nvPr/>
        </p:nvSpPr>
        <p:spPr bwMode="auto">
          <a:xfrm>
            <a:off x="4655984" y="2708992"/>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書き込みデータ</a:t>
            </a:r>
          </a:p>
        </p:txBody>
      </p:sp>
      <p:sp>
        <p:nvSpPr>
          <p:cNvPr id="22" name="正方形/長方形 21"/>
          <p:cNvSpPr/>
          <p:nvPr/>
        </p:nvSpPr>
        <p:spPr bwMode="auto">
          <a:xfrm>
            <a:off x="4655984" y="3068996"/>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3" name="正方形/長方形 22"/>
          <p:cNvSpPr/>
          <p:nvPr/>
        </p:nvSpPr>
        <p:spPr bwMode="auto">
          <a:xfrm>
            <a:off x="4655984" y="3429000"/>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4" name="正方形/長方形 23"/>
          <p:cNvSpPr/>
          <p:nvPr/>
        </p:nvSpPr>
        <p:spPr bwMode="auto">
          <a:xfrm>
            <a:off x="4655984" y="378900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a:t>
            </a:r>
            <a:r>
              <a:rPr lang="en-US" altLang="ja-JP" sz="1200" dirty="0">
                <a:latin typeface="メイリオ" panose="020B0604030504040204" pitchFamily="50" charset="-128"/>
                <a:ea typeface="メイリオ" panose="020B0604030504040204" pitchFamily="50" charset="-128"/>
              </a:rPr>
              <a:t>REG</a:t>
            </a:r>
            <a:r>
              <a:rPr lang="ja-JP" altLang="en-US" sz="1200" dirty="0">
                <a:latin typeface="メイリオ" panose="020B0604030504040204" pitchFamily="50" charset="-128"/>
                <a:ea typeface="メイリオ" panose="020B0604030504040204" pitchFamily="50" charset="-128"/>
              </a:rPr>
              <a:t>番号</a:t>
            </a:r>
          </a:p>
        </p:txBody>
      </p:sp>
      <p:sp>
        <p:nvSpPr>
          <p:cNvPr id="25" name="正方形/長方形 24"/>
          <p:cNvSpPr/>
          <p:nvPr/>
        </p:nvSpPr>
        <p:spPr bwMode="auto">
          <a:xfrm>
            <a:off x="465598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レジスタ・ファイル</a:t>
            </a:r>
          </a:p>
        </p:txBody>
      </p:sp>
      <p:sp>
        <p:nvSpPr>
          <p:cNvPr id="26" name="正方形/長方形 25"/>
          <p:cNvSpPr/>
          <p:nvPr/>
        </p:nvSpPr>
        <p:spPr bwMode="auto">
          <a:xfrm>
            <a:off x="2495960"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命令メモリ</a:t>
            </a:r>
          </a:p>
        </p:txBody>
      </p:sp>
      <p:cxnSp>
        <p:nvCxnSpPr>
          <p:cNvPr id="27" name="直線矢印コネクタ 26"/>
          <p:cNvCxnSpPr/>
          <p:nvPr/>
        </p:nvCxnSpPr>
        <p:spPr bwMode="auto">
          <a:xfrm>
            <a:off x="4475982" y="3969006"/>
            <a:ext cx="180002" cy="0"/>
          </a:xfrm>
          <a:prstGeom prst="straightConnector1">
            <a:avLst/>
          </a:prstGeom>
          <a:noFill/>
          <a:ln w="9525" cap="flat" cmpd="sng" algn="ctr">
            <a:solidFill>
              <a:schemeClr val="tx1"/>
            </a:solidFill>
            <a:prstDash val="solid"/>
            <a:round/>
            <a:headEnd type="none" w="sm" len="sm"/>
            <a:tailEnd type="triangle"/>
          </a:ln>
          <a:effectLst/>
        </p:spPr>
      </p:cxnSp>
      <p:sp>
        <p:nvSpPr>
          <p:cNvPr id="28" name="Freeform 10"/>
          <p:cNvSpPr>
            <a:spLocks/>
          </p:cNvSpPr>
          <p:nvPr/>
        </p:nvSpPr>
        <p:spPr bwMode="auto">
          <a:xfrm>
            <a:off x="4475982" y="2258992"/>
            <a:ext cx="180002" cy="630007"/>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29" name="Freeform 10"/>
          <p:cNvSpPr>
            <a:spLocks/>
          </p:cNvSpPr>
          <p:nvPr/>
        </p:nvSpPr>
        <p:spPr bwMode="auto">
          <a:xfrm rot="10800000" flipH="1">
            <a:off x="9876043" y="2708996"/>
            <a:ext cx="180005" cy="72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cxnSp>
        <p:nvCxnSpPr>
          <p:cNvPr id="30" name="直線矢印コネクタ 29"/>
          <p:cNvCxnSpPr/>
          <p:nvPr/>
        </p:nvCxnSpPr>
        <p:spPr bwMode="auto">
          <a:xfrm>
            <a:off x="9696040" y="3429000"/>
            <a:ext cx="180002" cy="0"/>
          </a:xfrm>
          <a:prstGeom prst="straightConnector1">
            <a:avLst/>
          </a:prstGeom>
          <a:noFill/>
          <a:ln w="9525" cap="flat" cmpd="sng" algn="ctr">
            <a:solidFill>
              <a:schemeClr val="tx1"/>
            </a:solidFill>
            <a:prstDash val="solid"/>
            <a:round/>
            <a:headEnd type="none" w="sm" len="sm"/>
            <a:tailEnd type="none"/>
          </a:ln>
          <a:effectLst/>
        </p:spPr>
      </p:cxnSp>
      <p:cxnSp>
        <p:nvCxnSpPr>
          <p:cNvPr id="31" name="直線矢印コネクタ 30"/>
          <p:cNvCxnSpPr/>
          <p:nvPr/>
        </p:nvCxnSpPr>
        <p:spPr bwMode="auto">
          <a:xfrm>
            <a:off x="7536016" y="3429000"/>
            <a:ext cx="540006" cy="0"/>
          </a:xfrm>
          <a:prstGeom prst="straightConnector1">
            <a:avLst/>
          </a:prstGeom>
          <a:noFill/>
          <a:ln w="9525" cap="flat" cmpd="sng" algn="ctr">
            <a:solidFill>
              <a:schemeClr val="tx1"/>
            </a:solidFill>
            <a:prstDash val="solid"/>
            <a:round/>
            <a:headEnd type="none" w="sm" len="sm"/>
            <a:tailEnd type="none"/>
          </a:ln>
          <a:effectLst/>
        </p:spPr>
      </p:cxnSp>
      <p:cxnSp>
        <p:nvCxnSpPr>
          <p:cNvPr id="32" name="直線矢印コネクタ 31"/>
          <p:cNvCxnSpPr/>
          <p:nvPr/>
        </p:nvCxnSpPr>
        <p:spPr bwMode="auto">
          <a:xfrm>
            <a:off x="6096000" y="3068996"/>
            <a:ext cx="720008" cy="0"/>
          </a:xfrm>
          <a:prstGeom prst="straightConnector1">
            <a:avLst/>
          </a:prstGeom>
          <a:noFill/>
          <a:ln w="9525" cap="flat" cmpd="sng" algn="ctr">
            <a:solidFill>
              <a:schemeClr val="tx1"/>
            </a:solidFill>
            <a:prstDash val="solid"/>
            <a:round/>
            <a:headEnd type="none" w="sm" len="sm"/>
            <a:tailEnd type="triangle"/>
          </a:ln>
          <a:effectLst/>
        </p:spPr>
      </p:cxnSp>
      <p:cxnSp>
        <p:nvCxnSpPr>
          <p:cNvPr id="33" name="直線矢印コネクタ 32"/>
          <p:cNvCxnSpPr/>
          <p:nvPr/>
        </p:nvCxnSpPr>
        <p:spPr bwMode="auto">
          <a:xfrm>
            <a:off x="6096000" y="3879005"/>
            <a:ext cx="720008" cy="0"/>
          </a:xfrm>
          <a:prstGeom prst="straightConnector1">
            <a:avLst/>
          </a:prstGeom>
          <a:noFill/>
          <a:ln w="9525" cap="flat" cmpd="sng" algn="ctr">
            <a:solidFill>
              <a:schemeClr val="tx1"/>
            </a:solidFill>
            <a:prstDash val="solid"/>
            <a:round/>
            <a:headEnd type="none" w="sm" len="sm"/>
            <a:tailEnd type="triangle"/>
          </a:ln>
          <a:effectLst/>
        </p:spPr>
      </p:cxnSp>
      <p:sp>
        <p:nvSpPr>
          <p:cNvPr id="34" name="正方形/長方形 33"/>
          <p:cNvSpPr/>
          <p:nvPr/>
        </p:nvSpPr>
        <p:spPr bwMode="auto">
          <a:xfrm>
            <a:off x="8256024" y="2888994"/>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アドレス</a:t>
            </a:r>
          </a:p>
        </p:txBody>
      </p:sp>
      <p:sp>
        <p:nvSpPr>
          <p:cNvPr id="35" name="正方形/長方形 34"/>
          <p:cNvSpPr/>
          <p:nvPr/>
        </p:nvSpPr>
        <p:spPr bwMode="auto">
          <a:xfrm>
            <a:off x="8256024" y="4149008"/>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ja-JP" altLang="en-US" sz="1600" dirty="0">
                <a:latin typeface="メイリオ" panose="020B0604030504040204" pitchFamily="50" charset="-128"/>
                <a:ea typeface="メイリオ" panose="020B0604030504040204" pitchFamily="50" charset="-128"/>
              </a:rPr>
              <a:t>データ・メモリ</a:t>
            </a:r>
          </a:p>
        </p:txBody>
      </p:sp>
      <p:sp>
        <p:nvSpPr>
          <p:cNvPr id="36" name="Freeform 10"/>
          <p:cNvSpPr>
            <a:spLocks/>
          </p:cNvSpPr>
          <p:nvPr/>
        </p:nvSpPr>
        <p:spPr bwMode="auto">
          <a:xfrm>
            <a:off x="6636009" y="3879005"/>
            <a:ext cx="1440017"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oval"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7" name="Freeform 10"/>
          <p:cNvSpPr>
            <a:spLocks/>
          </p:cNvSpPr>
          <p:nvPr/>
        </p:nvSpPr>
        <p:spPr bwMode="auto">
          <a:xfrm flipV="1">
            <a:off x="8076022" y="3879004"/>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8" name="Freeform 10"/>
          <p:cNvSpPr>
            <a:spLocks/>
          </p:cNvSpPr>
          <p:nvPr/>
        </p:nvSpPr>
        <p:spPr bwMode="auto">
          <a:xfrm flipV="1">
            <a:off x="8076022" y="3068996"/>
            <a:ext cx="180002" cy="360004"/>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39" name="正方形/長方形 38"/>
          <p:cNvSpPr/>
          <p:nvPr/>
        </p:nvSpPr>
        <p:spPr bwMode="auto">
          <a:xfrm>
            <a:off x="8256024" y="3699003"/>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書きデータ</a:t>
            </a:r>
          </a:p>
        </p:txBody>
      </p:sp>
      <p:cxnSp>
        <p:nvCxnSpPr>
          <p:cNvPr id="40" name="直線矢印コネクタ 39"/>
          <p:cNvCxnSpPr/>
          <p:nvPr/>
        </p:nvCxnSpPr>
        <p:spPr bwMode="auto">
          <a:xfrm>
            <a:off x="10056044" y="2438989"/>
            <a:ext cx="0" cy="360004"/>
          </a:xfrm>
          <a:prstGeom prst="straightConnector1">
            <a:avLst/>
          </a:prstGeom>
          <a:noFill/>
          <a:ln w="38100" cap="flat" cmpd="sng" algn="ctr">
            <a:solidFill>
              <a:schemeClr val="tx1"/>
            </a:solidFill>
            <a:prstDash val="solid"/>
            <a:round/>
            <a:headEnd type="none" w="sm" len="sm"/>
            <a:tailEnd type="none"/>
          </a:ln>
          <a:effectLst/>
        </p:spPr>
      </p:cxnSp>
      <p:cxnSp>
        <p:nvCxnSpPr>
          <p:cNvPr id="41" name="直線矢印コネクタ 40"/>
          <p:cNvCxnSpPr>
            <a:endCxn id="28" idx="0"/>
          </p:cNvCxnSpPr>
          <p:nvPr/>
        </p:nvCxnSpPr>
        <p:spPr bwMode="auto">
          <a:xfrm flipH="1">
            <a:off x="4475987" y="2258987"/>
            <a:ext cx="6030067" cy="0"/>
          </a:xfrm>
          <a:prstGeom prst="straightConnector1">
            <a:avLst/>
          </a:prstGeom>
          <a:noFill/>
          <a:ln w="9525" cap="flat" cmpd="sng" algn="ctr">
            <a:solidFill>
              <a:schemeClr val="tx1"/>
            </a:solidFill>
            <a:prstDash val="solid"/>
            <a:round/>
            <a:headEnd type="none" w="sm" len="sm"/>
            <a:tailEnd type="none"/>
          </a:ln>
          <a:effectLst/>
        </p:spPr>
      </p:cxnSp>
      <p:sp>
        <p:nvSpPr>
          <p:cNvPr id="42" name="Freeform 10"/>
          <p:cNvSpPr>
            <a:spLocks/>
          </p:cNvSpPr>
          <p:nvPr/>
        </p:nvSpPr>
        <p:spPr bwMode="auto">
          <a:xfrm rot="10800000" flipH="1">
            <a:off x="8076022" y="2528991"/>
            <a:ext cx="1980022" cy="540009"/>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triangl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3" name="Freeform 10"/>
          <p:cNvSpPr>
            <a:spLocks/>
          </p:cNvSpPr>
          <p:nvPr/>
        </p:nvSpPr>
        <p:spPr bwMode="auto">
          <a:xfrm rot="5400000" flipH="1" flipV="1">
            <a:off x="10101044" y="2213990"/>
            <a:ext cx="360004" cy="450005"/>
          </a:xfrm>
          <a:custGeom>
            <a:avLst/>
            <a:gdLst>
              <a:gd name="T0" fmla="*/ 0 w 170"/>
              <a:gd name="T1" fmla="*/ 0 h 170"/>
              <a:gd name="T2" fmla="*/ 0 w 170"/>
              <a:gd name="T3" fmla="*/ 809625 h 170"/>
              <a:gd name="T4" fmla="*/ 449263 w 170"/>
              <a:gd name="T5" fmla="*/ 809625 h 170"/>
              <a:gd name="T6" fmla="*/ 0 60000 65536"/>
              <a:gd name="T7" fmla="*/ 0 60000 65536"/>
              <a:gd name="T8" fmla="*/ 0 60000 65536"/>
            </a:gdLst>
            <a:ahLst/>
            <a:cxnLst>
              <a:cxn ang="T6">
                <a:pos x="T0" y="T1"/>
              </a:cxn>
              <a:cxn ang="T7">
                <a:pos x="T2" y="T3"/>
              </a:cxn>
              <a:cxn ang="T8">
                <a:pos x="T4" y="T5"/>
              </a:cxn>
            </a:cxnLst>
            <a:rect l="0" t="0" r="r" b="b"/>
            <a:pathLst>
              <a:path w="170" h="170">
                <a:moveTo>
                  <a:pt x="0" y="0"/>
                </a:moveTo>
                <a:lnTo>
                  <a:pt x="0" y="170"/>
                </a:lnTo>
                <a:lnTo>
                  <a:pt x="170" y="170"/>
                </a:lnTo>
              </a:path>
            </a:pathLst>
          </a:custGeom>
          <a:noFill/>
          <a:ln w="6350" cap="flat" cmpd="sng">
            <a:solidFill>
              <a:schemeClr val="tx1"/>
            </a:solidFill>
            <a:prstDash val="solid"/>
            <a:round/>
            <a:headEnd type="none" w="sm" len="sm"/>
            <a:tailEnd type="none" w="med" len="med"/>
          </a:ln>
          <a:effectLst/>
          <a:extLst>
            <a:ext uri="{909E8E84-426E-40DD-AFC4-6F175D3DCCD1}">
              <a14:hiddenFill xmlns:a14="http://schemas.microsoft.com/office/drawing/2010/main">
                <a:solidFill>
                  <a:schemeClr val="accent1"/>
                </a:solidFill>
              </a14:hiddenFill>
            </a:ext>
          </a:extLst>
        </p:spPr>
        <p:txBody>
          <a:bodyPr/>
          <a:lstStyle/>
          <a:p>
            <a:endParaRPr lang="ja-JP" altLang="en-US">
              <a:latin typeface="Arial Narrow" pitchFamily="34" charset="0"/>
              <a:cs typeface="Times New Roman" pitchFamily="18" charset="0"/>
            </a:endParaRPr>
          </a:p>
        </p:txBody>
      </p:sp>
      <p:sp>
        <p:nvSpPr>
          <p:cNvPr id="44" name="正方形/長方形 43"/>
          <p:cNvSpPr/>
          <p:nvPr/>
        </p:nvSpPr>
        <p:spPr bwMode="auto">
          <a:xfrm>
            <a:off x="8796030" y="3248998"/>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90000" tIns="0" rIns="90000" bIns="0" rtlCol="0" anchor="ctr"/>
          <a:lstStyle/>
          <a:p>
            <a:r>
              <a:rPr lang="ja-JP" altLang="en-US" sz="1200" dirty="0">
                <a:latin typeface="メイリオ" panose="020B0604030504040204" pitchFamily="50" charset="-128"/>
                <a:ea typeface="メイリオ" panose="020B0604030504040204" pitchFamily="50" charset="-128"/>
              </a:rPr>
              <a:t>読みデータ</a:t>
            </a:r>
          </a:p>
        </p:txBody>
      </p:sp>
      <p:sp>
        <p:nvSpPr>
          <p:cNvPr id="45" name="正方形/長方形 44"/>
          <p:cNvSpPr/>
          <p:nvPr/>
        </p:nvSpPr>
        <p:spPr bwMode="auto">
          <a:xfrm>
            <a:off x="2045955" y="1538979"/>
            <a:ext cx="360004"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ja-JP" dirty="0">
                <a:latin typeface="メイリオ" panose="020B0604030504040204" pitchFamily="50" charset="-128"/>
                <a:ea typeface="メイリオ" panose="020B0604030504040204" pitchFamily="50" charset="-128"/>
              </a:rPr>
              <a:t>4</a:t>
            </a:r>
            <a:endParaRPr lang="ja-JP" altLang="en-US" dirty="0">
              <a:latin typeface="メイリオ" panose="020B0604030504040204" pitchFamily="50" charset="-128"/>
              <a:ea typeface="メイリオ" panose="020B0604030504040204" pitchFamily="50" charset="-128"/>
            </a:endParaRPr>
          </a:p>
        </p:txBody>
      </p:sp>
      <p:sp>
        <p:nvSpPr>
          <p:cNvPr id="46" name="角丸四角形 45"/>
          <p:cNvSpPr/>
          <p:nvPr/>
        </p:nvSpPr>
        <p:spPr bwMode="auto">
          <a:xfrm>
            <a:off x="1524000" y="1178980"/>
            <a:ext cx="252002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7" name="角丸四角形 46"/>
          <p:cNvSpPr/>
          <p:nvPr/>
        </p:nvSpPr>
        <p:spPr bwMode="auto">
          <a:xfrm>
            <a:off x="4295980" y="1178980"/>
            <a:ext cx="198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8" name="角丸四角形 47"/>
          <p:cNvSpPr/>
          <p:nvPr/>
        </p:nvSpPr>
        <p:spPr bwMode="auto">
          <a:xfrm>
            <a:off x="6456004" y="1178980"/>
            <a:ext cx="1530018"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9" name="角丸四角形 48"/>
          <p:cNvSpPr/>
          <p:nvPr/>
        </p:nvSpPr>
        <p:spPr bwMode="auto">
          <a:xfrm>
            <a:off x="8166023" y="1178980"/>
            <a:ext cx="2070022" cy="3330037"/>
          </a:xfrm>
          <a:prstGeom prst="roundRect">
            <a:avLst>
              <a:gd name="adj" fmla="val 7749"/>
            </a:avLst>
          </a:prstGeom>
          <a:noFill/>
          <a:ln w="28575">
            <a:solidFill>
              <a:schemeClr val="tx1">
                <a:lumMod val="50000"/>
                <a:lumOff val="50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0" name="正方形/長方形 49"/>
          <p:cNvSpPr/>
          <p:nvPr/>
        </p:nvSpPr>
        <p:spPr bwMode="auto">
          <a:xfrm>
            <a:off x="213595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IF</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1" name="正方形/長方形 50"/>
          <p:cNvSpPr/>
          <p:nvPr/>
        </p:nvSpPr>
        <p:spPr bwMode="auto">
          <a:xfrm>
            <a:off x="4565983"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ID</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2" name="正方形/長方形 51"/>
          <p:cNvSpPr/>
          <p:nvPr/>
        </p:nvSpPr>
        <p:spPr bwMode="auto">
          <a:xfrm>
            <a:off x="6456004"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EX</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3" name="正方形/長方形 52"/>
          <p:cNvSpPr/>
          <p:nvPr/>
        </p:nvSpPr>
        <p:spPr bwMode="auto">
          <a:xfrm>
            <a:off x="8436026" y="450901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MEM</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4" name="正方形/長方形 53"/>
          <p:cNvSpPr/>
          <p:nvPr/>
        </p:nvSpPr>
        <p:spPr bwMode="auto">
          <a:xfrm>
            <a:off x="10171173" y="4509012"/>
            <a:ext cx="54000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pPr algn="ctr"/>
            <a:r>
              <a:rPr lang="en-US" altLang="ja-JP" sz="1600" b="1" dirty="0">
                <a:solidFill>
                  <a:schemeClr val="tx1">
                    <a:lumMod val="75000"/>
                    <a:lumOff val="25000"/>
                  </a:schemeClr>
                </a:solidFill>
                <a:latin typeface="メイリオ" panose="020B0604030504040204" pitchFamily="50" charset="-128"/>
                <a:ea typeface="メイリオ" panose="020B0604030504040204" pitchFamily="50" charset="-128"/>
              </a:rPr>
              <a:t>WB</a:t>
            </a:r>
            <a:endParaRPr lang="ja-JP" altLang="en-US" sz="16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5" name="角丸四角形 54"/>
          <p:cNvSpPr/>
          <p:nvPr/>
        </p:nvSpPr>
        <p:spPr bwMode="auto">
          <a:xfrm>
            <a:off x="2855964" y="2798993"/>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dirty="0">
                <a:latin typeface="Arial Narrow" panose="020B0606020202030204" pitchFamily="34" charset="0"/>
              </a:rPr>
              <a:t>ADD</a:t>
            </a:r>
            <a:endParaRPr lang="ja-JP" altLang="en-US" dirty="0">
              <a:latin typeface="Arial Narrow" panose="020B0606020202030204" pitchFamily="34" charset="0"/>
            </a:endParaRPr>
          </a:p>
        </p:txBody>
      </p:sp>
      <p:grpSp>
        <p:nvGrpSpPr>
          <p:cNvPr id="58" name="グループ化 57"/>
          <p:cNvGrpSpPr/>
          <p:nvPr/>
        </p:nvGrpSpPr>
        <p:grpSpPr>
          <a:xfrm>
            <a:off x="4025977" y="3068996"/>
            <a:ext cx="360004" cy="720008"/>
            <a:chOff x="2411977" y="3068996"/>
            <a:chExt cx="360004" cy="720008"/>
          </a:xfrm>
        </p:grpSpPr>
        <p:sp>
          <p:nvSpPr>
            <p:cNvPr id="56" name="正方形/長方形 55"/>
            <p:cNvSpPr/>
            <p:nvPr/>
          </p:nvSpPr>
          <p:spPr bwMode="auto">
            <a:xfrm>
              <a:off x="2411977" y="3068996"/>
              <a:ext cx="360004"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7" name="二等辺三角形 56"/>
            <p:cNvSpPr/>
            <p:nvPr/>
          </p:nvSpPr>
          <p:spPr bwMode="auto">
            <a:xfrm>
              <a:off x="2501977" y="3609002"/>
              <a:ext cx="180002" cy="180002"/>
            </a:xfrm>
            <a:prstGeom prst="triangle">
              <a:avLst/>
            </a:prstGeom>
            <a:noFill/>
            <a:ln>
              <a:solidFill>
                <a:schemeClr val="accent2"/>
              </a:solidFill>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63" name="正方形/長方形 62"/>
          <p:cNvSpPr/>
          <p:nvPr/>
        </p:nvSpPr>
        <p:spPr bwMode="auto">
          <a:xfrm>
            <a:off x="6186001"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64" name="二等辺三角形 63"/>
          <p:cNvSpPr/>
          <p:nvPr/>
        </p:nvSpPr>
        <p:spPr bwMode="auto">
          <a:xfrm>
            <a:off x="6276001"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1" name="正方形/長方形 70"/>
          <p:cNvSpPr/>
          <p:nvPr/>
        </p:nvSpPr>
        <p:spPr bwMode="auto">
          <a:xfrm>
            <a:off x="7626017" y="2438989"/>
            <a:ext cx="360004" cy="216002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2" name="二等辺三角形 71"/>
          <p:cNvSpPr/>
          <p:nvPr/>
        </p:nvSpPr>
        <p:spPr bwMode="auto">
          <a:xfrm>
            <a:off x="7716017" y="4419011"/>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149395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08333E-6 7.40741E-7 L 0.17709 0.00023 " pathEditMode="relative" rAng="0" ptsTypes="AA">
                                      <p:cBhvr>
                                        <p:cTn id="6" dur="1000" fill="hold"/>
                                        <p:tgtEl>
                                          <p:spTgt spid="55"/>
                                        </p:tgtEl>
                                        <p:attrNameLst>
                                          <p:attrName>ppt_x</p:attrName>
                                          <p:attrName>ppt_y</p:attrName>
                                        </p:attrNameLst>
                                      </p:cBhvr>
                                      <p:rCtr x="8854" y="0"/>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0.17709 0.00023 L 0.31745 0.00023 " pathEditMode="relative" rAng="0" ptsTypes="AA">
                                      <p:cBhvr>
                                        <p:cTn id="10" dur="1000" fill="hold"/>
                                        <p:tgtEl>
                                          <p:spTgt spid="55"/>
                                        </p:tgtEl>
                                        <p:attrNameLst>
                                          <p:attrName>ppt_x</p:attrName>
                                          <p:attrName>ppt_y</p:attrName>
                                        </p:attrNameLst>
                                      </p:cBhvr>
                                      <p:rCtr x="7018" y="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2" nodeType="clickEffect">
                                  <p:stCondLst>
                                    <p:cond delay="0"/>
                                  </p:stCondLst>
                                  <p:childTnLst>
                                    <p:animMotion origin="layout" path="M 0.31745 0.00023 L 0.49453 0.00023 " pathEditMode="relative" rAng="0" ptsTypes="AA">
                                      <p:cBhvr>
                                        <p:cTn id="14" dur="1000" fill="hold"/>
                                        <p:tgtEl>
                                          <p:spTgt spid="55"/>
                                        </p:tgtEl>
                                        <p:attrNameLst>
                                          <p:attrName>ppt_x</p:attrName>
                                          <p:attrName>ppt_y</p:attrName>
                                        </p:attrNameLst>
                                      </p:cBhvr>
                                      <p:rCtr x="885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55" grpId="2"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r>
              <a:rPr lang="ja-JP" altLang="en-US"/>
              <a:t>パイプライン化の効果</a:t>
            </a:r>
            <a:endParaRPr lang="ja-JP" altLang="en-US" dirty="0"/>
          </a:p>
        </p:txBody>
      </p:sp>
      <p:sp>
        <p:nvSpPr>
          <p:cNvPr id="204803" name="Rectangle 3"/>
          <p:cNvSpPr>
            <a:spLocks noGrp="1" noChangeArrowheads="1"/>
          </p:cNvSpPr>
          <p:nvPr>
            <p:ph type="body" sz="quarter" idx="10"/>
          </p:nvPr>
        </p:nvSpPr>
        <p:spPr>
          <a:xfrm>
            <a:off x="2135188" y="1089025"/>
            <a:ext cx="8280400" cy="5219700"/>
          </a:xfrm>
        </p:spPr>
        <p:txBody>
          <a:bodyPr/>
          <a:lstStyle/>
          <a:p>
            <a:r>
              <a:rPr lang="ja-JP" altLang="en-US" dirty="0"/>
              <a:t>レイテンシ </a:t>
            </a:r>
            <a:r>
              <a:rPr lang="en-US" altLang="ja-JP" dirty="0"/>
              <a:t>(latency)</a:t>
            </a:r>
            <a:r>
              <a:rPr lang="ja-JP" altLang="en-US" dirty="0"/>
              <a:t>：</a:t>
            </a:r>
            <a:r>
              <a:rPr lang="en-US" altLang="ja-JP" dirty="0"/>
              <a:t>	</a:t>
            </a:r>
            <a:r>
              <a:rPr lang="ja-JP" altLang="en-US" dirty="0"/>
              <a:t>　</a:t>
            </a:r>
            <a:r>
              <a:rPr lang="ja-JP" altLang="en-US" dirty="0">
                <a:solidFill>
                  <a:schemeClr val="accent5"/>
                </a:solidFill>
              </a:rPr>
              <a:t>短くならない（か，やや延びる）</a:t>
            </a:r>
            <a:endParaRPr lang="en-US" altLang="ja-JP" dirty="0">
              <a:solidFill>
                <a:schemeClr val="accent5"/>
              </a:solidFill>
            </a:endParaRPr>
          </a:p>
          <a:p>
            <a:pPr lvl="1"/>
            <a:r>
              <a:rPr lang="ja-JP" altLang="en-US" dirty="0"/>
              <a:t>一続きの処理が始まってから終わるまでにかかる時間</a:t>
            </a:r>
            <a:endParaRPr lang="en-US" altLang="ja-JP" dirty="0"/>
          </a:p>
          <a:p>
            <a:pPr lvl="2"/>
            <a:r>
              <a:rPr lang="ja-JP" altLang="en-US" dirty="0"/>
              <a:t>この場合，</a:t>
            </a:r>
            <a:r>
              <a:rPr lang="en-US" altLang="ja-JP" dirty="0"/>
              <a:t>1</a:t>
            </a:r>
            <a:r>
              <a:rPr lang="ja-JP" altLang="en-US" dirty="0"/>
              <a:t>命令の始まりから終わりまでの処理時間</a:t>
            </a:r>
            <a:endParaRPr lang="en-US" altLang="ja-JP" dirty="0"/>
          </a:p>
          <a:p>
            <a:pPr lvl="1"/>
            <a:r>
              <a:rPr lang="ja-JP" altLang="en-US" dirty="0"/>
              <a:t>一番長い処理に合わせて動かすので伸びる</a:t>
            </a:r>
            <a:endParaRPr lang="en-US" altLang="ja-JP" dirty="0"/>
          </a:p>
          <a:p>
            <a:pPr lvl="2"/>
            <a:r>
              <a:rPr lang="ja-JP" altLang="en-US" dirty="0"/>
              <a:t>原理的に短くならない</a:t>
            </a:r>
            <a:br>
              <a:rPr lang="en-US" altLang="ja-JP" dirty="0"/>
            </a:br>
            <a:r>
              <a:rPr lang="ja-JP" altLang="en-US" dirty="0"/>
              <a:t>（ステージ間にフリップフロップが入る分は絶対のびる）</a:t>
            </a:r>
          </a:p>
          <a:p>
            <a:r>
              <a:rPr lang="ja-JP" altLang="en-US" dirty="0"/>
              <a:t>スループット </a:t>
            </a:r>
            <a:r>
              <a:rPr lang="en-US" altLang="ja-JP" dirty="0"/>
              <a:t>(throughput)</a:t>
            </a:r>
            <a:r>
              <a:rPr lang="ja-JP" altLang="en-US" dirty="0"/>
              <a:t>：　</a:t>
            </a:r>
            <a:r>
              <a:rPr lang="ja-JP" altLang="en-US" dirty="0">
                <a:solidFill>
                  <a:schemeClr val="accent5"/>
                </a:solidFill>
              </a:rPr>
              <a:t>ステージ数倍だけ上がる</a:t>
            </a:r>
            <a:endParaRPr lang="en-US" altLang="ja-JP" dirty="0">
              <a:solidFill>
                <a:schemeClr val="accent5"/>
              </a:solidFill>
            </a:endParaRPr>
          </a:p>
          <a:p>
            <a:pPr lvl="1"/>
            <a:r>
              <a:rPr lang="ja-JP" altLang="en-US" dirty="0"/>
              <a:t>単位時間当たりの処理量</a:t>
            </a:r>
            <a:endParaRPr lang="en-US" altLang="ja-JP" dirty="0"/>
          </a:p>
          <a:p>
            <a:pPr lvl="1"/>
            <a:r>
              <a:rPr lang="ja-JP" altLang="en-US" dirty="0"/>
              <a:t>この場合，単位時間あたりに実行される命令数</a:t>
            </a:r>
          </a:p>
        </p:txBody>
      </p:sp>
    </p:spTree>
    <p:extLst>
      <p:ext uri="{BB962C8B-B14F-4D97-AF65-F5344CB8AC3E}">
        <p14:creationId xmlns:p14="http://schemas.microsoft.com/office/powerpoint/2010/main" val="445213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sz="1800" dirty="0"/>
              <a:t>パイプライン化の効果</a:t>
            </a:r>
            <a:br>
              <a:rPr lang="en-US" altLang="ja-JP" sz="1800" dirty="0"/>
            </a:br>
            <a:r>
              <a:rPr lang="ja-JP" altLang="en-US" sz="1800" dirty="0"/>
              <a:t>レイテンシは伸びるが，単位時間あたりの処理命令数は増える</a:t>
            </a:r>
          </a:p>
        </p:txBody>
      </p:sp>
      <p:cxnSp>
        <p:nvCxnSpPr>
          <p:cNvPr id="96" name="直線矢印コネクタ 95"/>
          <p:cNvCxnSpPr/>
          <p:nvPr/>
        </p:nvCxnSpPr>
        <p:spPr bwMode="auto">
          <a:xfrm>
            <a:off x="2225962"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61"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61" y="1178975"/>
            <a:ext cx="2954655" cy="369332"/>
          </a:xfrm>
          <a:prstGeom prst="rect">
            <a:avLst/>
          </a:prstGeom>
        </p:spPr>
        <p:txBody>
          <a:bodyPr wrap="none">
            <a:spAutoFit/>
          </a:bodyPr>
          <a:lstStyle/>
          <a:p>
            <a:r>
              <a:rPr lang="ja-JP" altLang="en-US" dirty="0">
                <a:solidFill>
                  <a:schemeClr val="tx1">
                    <a:lumMod val="75000"/>
                    <a:lumOff val="25000"/>
                  </a:schemeClr>
                </a:solidFill>
              </a:rPr>
              <a:t>パイプライン化しない場合</a:t>
            </a:r>
          </a:p>
        </p:txBody>
      </p:sp>
      <p:sp>
        <p:nvSpPr>
          <p:cNvPr id="153" name="正方形/長方形 152"/>
          <p:cNvSpPr/>
          <p:nvPr/>
        </p:nvSpPr>
        <p:spPr>
          <a:xfrm>
            <a:off x="2027967" y="4166749"/>
            <a:ext cx="2723823" cy="369332"/>
          </a:xfrm>
          <a:prstGeom prst="rect">
            <a:avLst/>
          </a:prstGeom>
          <a:effectLst/>
        </p:spPr>
        <p:txBody>
          <a:bodyPr wrap="none">
            <a:spAutoFit/>
          </a:bodyPr>
          <a:lstStyle/>
          <a:p>
            <a:r>
              <a:rPr lang="ja-JP" altLang="en-US" dirty="0">
                <a:solidFill>
                  <a:schemeClr val="tx1">
                    <a:lumMod val="75000"/>
                    <a:lumOff val="2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cxnSpLocks/>
          </p:cNvCxnSpPr>
          <p:nvPr/>
        </p:nvCxnSpPr>
        <p:spPr bwMode="auto">
          <a:xfrm flipV="1">
            <a:off x="2045960"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60"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a:effectLst/>
        </p:spPr>
        <p:style>
          <a:lnRef idx="3">
            <a:schemeClr val="lt1"/>
          </a:lnRef>
          <a:fillRef idx="1">
            <a:schemeClr val="accent6"/>
          </a:fillRef>
          <a:effectRef idx="1">
            <a:schemeClr val="accent6"/>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cxnSpLocks/>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cxnSpLocks/>
            <a:stCxn id="139" idx="3"/>
            <a:endCxn id="38" idx="1"/>
          </p:cNvCxnSpPr>
          <p:nvPr/>
        </p:nvCxnSpPr>
        <p:spPr bwMode="auto">
          <a:xfrm flipV="1">
            <a:off x="2118254" y="6309030"/>
            <a:ext cx="1637723" cy="2"/>
          </a:xfrm>
          <a:prstGeom prst="line">
            <a:avLst/>
          </a:prstGeom>
          <a:noFill/>
          <a:ln w="9525" cap="flat" cmpd="sng" algn="ctr">
            <a:solidFill>
              <a:schemeClr val="tx1"/>
            </a:solidFill>
            <a:prstDash val="dash"/>
            <a:round/>
            <a:headEnd type="none" w="med" len="med"/>
            <a:tailEnd type="none" w="med" len="med"/>
          </a:ln>
          <a:effectLst/>
        </p:spPr>
      </p:cxnSp>
      <p:grpSp>
        <p:nvGrpSpPr>
          <p:cNvPr id="12" name="グループ化 11">
            <a:extLst>
              <a:ext uri="{FF2B5EF4-FFF2-40B4-BE49-F238E27FC236}">
                <a16:creationId xmlns:a16="http://schemas.microsoft.com/office/drawing/2014/main" id="{D5512698-922D-8583-E3C9-A02AAB31AA39}"/>
              </a:ext>
            </a:extLst>
          </p:cNvPr>
          <p:cNvGrpSpPr/>
          <p:nvPr/>
        </p:nvGrpSpPr>
        <p:grpSpPr>
          <a:xfrm>
            <a:off x="2675962" y="4779015"/>
            <a:ext cx="2700030" cy="360004"/>
            <a:chOff x="1151962" y="4779015"/>
            <a:chExt cx="2700030" cy="360004"/>
          </a:xfrm>
        </p:grpSpPr>
        <p:sp>
          <p:nvSpPr>
            <p:cNvPr id="142" name="Rectangle 69"/>
            <p:cNvSpPr>
              <a:spLocks noChangeArrowheads="1"/>
            </p:cNvSpPr>
            <p:nvPr/>
          </p:nvSpPr>
          <p:spPr bwMode="auto">
            <a:xfrm>
              <a:off x="1151962" y="477901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144" name="Rectangle 70"/>
            <p:cNvSpPr>
              <a:spLocks noChangeArrowheads="1"/>
            </p:cNvSpPr>
            <p:nvPr/>
          </p:nvSpPr>
          <p:spPr bwMode="auto">
            <a:xfrm>
              <a:off x="1691968" y="4779015"/>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145" name="Rectangle 71"/>
            <p:cNvSpPr>
              <a:spLocks noChangeArrowheads="1"/>
            </p:cNvSpPr>
            <p:nvPr/>
          </p:nvSpPr>
          <p:spPr bwMode="auto">
            <a:xfrm>
              <a:off x="2231974" y="4779015"/>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147" name="Rectangle 72"/>
            <p:cNvSpPr>
              <a:spLocks noChangeArrowheads="1"/>
            </p:cNvSpPr>
            <p:nvPr/>
          </p:nvSpPr>
          <p:spPr bwMode="auto">
            <a:xfrm>
              <a:off x="2771980"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148" name="Rectangle 73"/>
            <p:cNvSpPr>
              <a:spLocks noChangeArrowheads="1"/>
            </p:cNvSpPr>
            <p:nvPr/>
          </p:nvSpPr>
          <p:spPr bwMode="auto">
            <a:xfrm>
              <a:off x="3311986"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sp>
          <p:nvSpPr>
            <p:cNvPr id="3" name="正方形/長方形 2">
              <a:extLst>
                <a:ext uri="{FF2B5EF4-FFF2-40B4-BE49-F238E27FC236}">
                  <a16:creationId xmlns:a16="http://schemas.microsoft.com/office/drawing/2014/main" id="{EF96E324-98E4-D732-9937-B7F54186DC2D}"/>
                </a:ext>
              </a:extLst>
            </p:cNvPr>
            <p:cNvSpPr/>
            <p:nvPr/>
          </p:nvSpPr>
          <p:spPr bwMode="auto">
            <a:xfrm flipH="1">
              <a:off x="2771980"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D03027D-6DE9-2407-89F5-B9D8493EDA6B}"/>
                </a:ext>
              </a:extLst>
            </p:cNvPr>
            <p:cNvSpPr/>
            <p:nvPr/>
          </p:nvSpPr>
          <p:spPr bwMode="auto">
            <a:xfrm flipH="1">
              <a:off x="1691968"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545AF930-DC2D-2AF9-BD15-15AC0B321869}"/>
                </a:ext>
              </a:extLst>
            </p:cNvPr>
            <p:cNvSpPr/>
            <p:nvPr/>
          </p:nvSpPr>
          <p:spPr bwMode="auto">
            <a:xfrm flipH="1">
              <a:off x="2231974"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9086ECBA-6503-5C71-09CD-94A191A98823}"/>
                </a:ext>
              </a:extLst>
            </p:cNvPr>
            <p:cNvSpPr/>
            <p:nvPr/>
          </p:nvSpPr>
          <p:spPr bwMode="auto">
            <a:xfrm flipH="1">
              <a:off x="3311986"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8" name="Rectangle 69">
              <a:extLst>
                <a:ext uri="{FF2B5EF4-FFF2-40B4-BE49-F238E27FC236}">
                  <a16:creationId xmlns:a16="http://schemas.microsoft.com/office/drawing/2014/main" id="{E9C83A2C-F720-9362-F08E-4833DD8EBD8F}"/>
                </a:ext>
              </a:extLst>
            </p:cNvPr>
            <p:cNvSpPr>
              <a:spLocks noChangeArrowheads="1"/>
            </p:cNvSpPr>
            <p:nvPr/>
          </p:nvSpPr>
          <p:spPr bwMode="auto">
            <a:xfrm>
              <a:off x="1151963"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9" name="Rectangle 69">
              <a:extLst>
                <a:ext uri="{FF2B5EF4-FFF2-40B4-BE49-F238E27FC236}">
                  <a16:creationId xmlns:a16="http://schemas.microsoft.com/office/drawing/2014/main" id="{FF833E59-4BC1-3C13-09E1-A7B6E5249FEB}"/>
                </a:ext>
              </a:extLst>
            </p:cNvPr>
            <p:cNvSpPr>
              <a:spLocks noChangeArrowheads="1"/>
            </p:cNvSpPr>
            <p:nvPr/>
          </p:nvSpPr>
          <p:spPr bwMode="auto">
            <a:xfrm>
              <a:off x="2771980"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10" name="Rectangle 69">
              <a:extLst>
                <a:ext uri="{FF2B5EF4-FFF2-40B4-BE49-F238E27FC236}">
                  <a16:creationId xmlns:a16="http://schemas.microsoft.com/office/drawing/2014/main" id="{037ECFDD-E198-31A7-060D-7A04CFBEE0BD}"/>
                </a:ext>
              </a:extLst>
            </p:cNvPr>
            <p:cNvSpPr>
              <a:spLocks noChangeArrowheads="1"/>
            </p:cNvSpPr>
            <p:nvPr/>
          </p:nvSpPr>
          <p:spPr bwMode="auto">
            <a:xfrm>
              <a:off x="2231974"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11" name="Rectangle 69">
              <a:extLst>
                <a:ext uri="{FF2B5EF4-FFF2-40B4-BE49-F238E27FC236}">
                  <a16:creationId xmlns:a16="http://schemas.microsoft.com/office/drawing/2014/main" id="{6ACFFD05-117B-7B1F-E11D-4E3085DAC331}"/>
                </a:ext>
              </a:extLst>
            </p:cNvPr>
            <p:cNvSpPr>
              <a:spLocks noChangeArrowheads="1"/>
            </p:cNvSpPr>
            <p:nvPr/>
          </p:nvSpPr>
          <p:spPr bwMode="auto">
            <a:xfrm>
              <a:off x="3311986"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grpSp>
      <p:grpSp>
        <p:nvGrpSpPr>
          <p:cNvPr id="14" name="グループ化 13">
            <a:extLst>
              <a:ext uri="{FF2B5EF4-FFF2-40B4-BE49-F238E27FC236}">
                <a16:creationId xmlns:a16="http://schemas.microsoft.com/office/drawing/2014/main" id="{35A06667-82F3-F1E2-207E-9856E3CF3857}"/>
              </a:ext>
            </a:extLst>
          </p:cNvPr>
          <p:cNvGrpSpPr/>
          <p:nvPr/>
        </p:nvGrpSpPr>
        <p:grpSpPr>
          <a:xfrm>
            <a:off x="3215973" y="5499023"/>
            <a:ext cx="2700031" cy="360004"/>
            <a:chOff x="1151961" y="4779015"/>
            <a:chExt cx="2700031" cy="360004"/>
          </a:xfrm>
        </p:grpSpPr>
        <p:sp>
          <p:nvSpPr>
            <p:cNvPr id="15" name="Rectangle 69">
              <a:extLst>
                <a:ext uri="{FF2B5EF4-FFF2-40B4-BE49-F238E27FC236}">
                  <a16:creationId xmlns:a16="http://schemas.microsoft.com/office/drawing/2014/main" id="{ED6BBE58-9B82-2BA3-56B5-2FE03762561D}"/>
                </a:ext>
              </a:extLst>
            </p:cNvPr>
            <p:cNvSpPr>
              <a:spLocks noChangeArrowheads="1"/>
            </p:cNvSpPr>
            <p:nvPr/>
          </p:nvSpPr>
          <p:spPr bwMode="auto">
            <a:xfrm>
              <a:off x="1151962" y="4779015"/>
              <a:ext cx="45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16" name="Rectangle 70">
              <a:extLst>
                <a:ext uri="{FF2B5EF4-FFF2-40B4-BE49-F238E27FC236}">
                  <a16:creationId xmlns:a16="http://schemas.microsoft.com/office/drawing/2014/main" id="{E9DEDCC9-9EE8-E3BA-0E4F-8715B7B381F0}"/>
                </a:ext>
              </a:extLst>
            </p:cNvPr>
            <p:cNvSpPr>
              <a:spLocks noChangeArrowheads="1"/>
            </p:cNvSpPr>
            <p:nvPr/>
          </p:nvSpPr>
          <p:spPr bwMode="auto">
            <a:xfrm>
              <a:off x="1691968" y="4779015"/>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17" name="Rectangle 71">
              <a:extLst>
                <a:ext uri="{FF2B5EF4-FFF2-40B4-BE49-F238E27FC236}">
                  <a16:creationId xmlns:a16="http://schemas.microsoft.com/office/drawing/2014/main" id="{E5EF2AFD-742E-365E-9CDC-7998EACD9BE3}"/>
                </a:ext>
              </a:extLst>
            </p:cNvPr>
            <p:cNvSpPr>
              <a:spLocks noChangeArrowheads="1"/>
            </p:cNvSpPr>
            <p:nvPr/>
          </p:nvSpPr>
          <p:spPr bwMode="auto">
            <a:xfrm>
              <a:off x="2231974" y="4779015"/>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18" name="Rectangle 72">
              <a:extLst>
                <a:ext uri="{FF2B5EF4-FFF2-40B4-BE49-F238E27FC236}">
                  <a16:creationId xmlns:a16="http://schemas.microsoft.com/office/drawing/2014/main" id="{882087F1-9B63-CC74-31BD-04163AB293CF}"/>
                </a:ext>
              </a:extLst>
            </p:cNvPr>
            <p:cNvSpPr>
              <a:spLocks noChangeArrowheads="1"/>
            </p:cNvSpPr>
            <p:nvPr/>
          </p:nvSpPr>
          <p:spPr bwMode="auto">
            <a:xfrm>
              <a:off x="2771980"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19" name="Rectangle 73">
              <a:extLst>
                <a:ext uri="{FF2B5EF4-FFF2-40B4-BE49-F238E27FC236}">
                  <a16:creationId xmlns:a16="http://schemas.microsoft.com/office/drawing/2014/main" id="{39AD18D5-716C-7FD8-6EED-34D1F1E4EEA1}"/>
                </a:ext>
              </a:extLst>
            </p:cNvPr>
            <p:cNvSpPr>
              <a:spLocks noChangeArrowheads="1"/>
            </p:cNvSpPr>
            <p:nvPr/>
          </p:nvSpPr>
          <p:spPr bwMode="auto">
            <a:xfrm>
              <a:off x="3311986"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sp>
          <p:nvSpPr>
            <p:cNvPr id="20" name="正方形/長方形 19">
              <a:extLst>
                <a:ext uri="{FF2B5EF4-FFF2-40B4-BE49-F238E27FC236}">
                  <a16:creationId xmlns:a16="http://schemas.microsoft.com/office/drawing/2014/main" id="{8527FC74-03CE-CFE0-6542-3C7EFE42DE9D}"/>
                </a:ext>
              </a:extLst>
            </p:cNvPr>
            <p:cNvSpPr/>
            <p:nvPr/>
          </p:nvSpPr>
          <p:spPr bwMode="auto">
            <a:xfrm flipH="1">
              <a:off x="2771980"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DCB11D9-2644-6AA1-6C00-5A7F4C337999}"/>
                </a:ext>
              </a:extLst>
            </p:cNvPr>
            <p:cNvSpPr/>
            <p:nvPr/>
          </p:nvSpPr>
          <p:spPr bwMode="auto">
            <a:xfrm flipH="1">
              <a:off x="1691968"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0773850A-246B-0489-DC88-C261E5FC6F43}"/>
                </a:ext>
              </a:extLst>
            </p:cNvPr>
            <p:cNvSpPr/>
            <p:nvPr/>
          </p:nvSpPr>
          <p:spPr bwMode="auto">
            <a:xfrm flipH="1">
              <a:off x="2231974"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EF85D166-F456-118E-0E16-65066D2A6BF6}"/>
                </a:ext>
              </a:extLst>
            </p:cNvPr>
            <p:cNvSpPr/>
            <p:nvPr/>
          </p:nvSpPr>
          <p:spPr bwMode="auto">
            <a:xfrm flipH="1">
              <a:off x="3311986"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24" name="Rectangle 69">
              <a:extLst>
                <a:ext uri="{FF2B5EF4-FFF2-40B4-BE49-F238E27FC236}">
                  <a16:creationId xmlns:a16="http://schemas.microsoft.com/office/drawing/2014/main" id="{D3BD4398-D77C-F5A5-9721-85321361AF6F}"/>
                </a:ext>
              </a:extLst>
            </p:cNvPr>
            <p:cNvSpPr>
              <a:spLocks noChangeArrowheads="1"/>
            </p:cNvSpPr>
            <p:nvPr/>
          </p:nvSpPr>
          <p:spPr bwMode="auto">
            <a:xfrm>
              <a:off x="1151961" y="4779015"/>
              <a:ext cx="540007"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25" name="Rectangle 69">
              <a:extLst>
                <a:ext uri="{FF2B5EF4-FFF2-40B4-BE49-F238E27FC236}">
                  <a16:creationId xmlns:a16="http://schemas.microsoft.com/office/drawing/2014/main" id="{063BEFD4-FD38-F22F-7F1B-61A876C36F13}"/>
                </a:ext>
              </a:extLst>
            </p:cNvPr>
            <p:cNvSpPr>
              <a:spLocks noChangeArrowheads="1"/>
            </p:cNvSpPr>
            <p:nvPr/>
          </p:nvSpPr>
          <p:spPr bwMode="auto">
            <a:xfrm>
              <a:off x="2771980"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26" name="Rectangle 69">
              <a:extLst>
                <a:ext uri="{FF2B5EF4-FFF2-40B4-BE49-F238E27FC236}">
                  <a16:creationId xmlns:a16="http://schemas.microsoft.com/office/drawing/2014/main" id="{4F3C5A09-1184-D0A1-33EF-8A7A826CC458}"/>
                </a:ext>
              </a:extLst>
            </p:cNvPr>
            <p:cNvSpPr>
              <a:spLocks noChangeArrowheads="1"/>
            </p:cNvSpPr>
            <p:nvPr/>
          </p:nvSpPr>
          <p:spPr bwMode="auto">
            <a:xfrm>
              <a:off x="2231974"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27" name="Rectangle 69">
              <a:extLst>
                <a:ext uri="{FF2B5EF4-FFF2-40B4-BE49-F238E27FC236}">
                  <a16:creationId xmlns:a16="http://schemas.microsoft.com/office/drawing/2014/main" id="{4C7E5A9B-00D2-E022-365F-E4E01157E708}"/>
                </a:ext>
              </a:extLst>
            </p:cNvPr>
            <p:cNvSpPr>
              <a:spLocks noChangeArrowheads="1"/>
            </p:cNvSpPr>
            <p:nvPr/>
          </p:nvSpPr>
          <p:spPr bwMode="auto">
            <a:xfrm>
              <a:off x="3311986"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grpSp>
      <p:grpSp>
        <p:nvGrpSpPr>
          <p:cNvPr id="28" name="グループ化 27">
            <a:extLst>
              <a:ext uri="{FF2B5EF4-FFF2-40B4-BE49-F238E27FC236}">
                <a16:creationId xmlns:a16="http://schemas.microsoft.com/office/drawing/2014/main" id="{0A388FFE-E199-CA7D-03B8-7FA8AFA36125}"/>
              </a:ext>
            </a:extLst>
          </p:cNvPr>
          <p:cNvGrpSpPr/>
          <p:nvPr/>
        </p:nvGrpSpPr>
        <p:grpSpPr>
          <a:xfrm>
            <a:off x="3755977" y="6129030"/>
            <a:ext cx="2700031" cy="360004"/>
            <a:chOff x="1151961" y="4779015"/>
            <a:chExt cx="2700031" cy="360004"/>
          </a:xfrm>
        </p:grpSpPr>
        <p:sp>
          <p:nvSpPr>
            <p:cNvPr id="29" name="Rectangle 69">
              <a:extLst>
                <a:ext uri="{FF2B5EF4-FFF2-40B4-BE49-F238E27FC236}">
                  <a16:creationId xmlns:a16="http://schemas.microsoft.com/office/drawing/2014/main" id="{1585075B-416F-E981-84B7-BD37F1BC2D8C}"/>
                </a:ext>
              </a:extLst>
            </p:cNvPr>
            <p:cNvSpPr>
              <a:spLocks noChangeArrowheads="1"/>
            </p:cNvSpPr>
            <p:nvPr/>
          </p:nvSpPr>
          <p:spPr bwMode="auto">
            <a:xfrm>
              <a:off x="1151962" y="4779015"/>
              <a:ext cx="45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30" name="Rectangle 70">
              <a:extLst>
                <a:ext uri="{FF2B5EF4-FFF2-40B4-BE49-F238E27FC236}">
                  <a16:creationId xmlns:a16="http://schemas.microsoft.com/office/drawing/2014/main" id="{F286D9CC-FC73-F265-D4C7-ABEB4233603F}"/>
                </a:ext>
              </a:extLst>
            </p:cNvPr>
            <p:cNvSpPr>
              <a:spLocks noChangeArrowheads="1"/>
            </p:cNvSpPr>
            <p:nvPr/>
          </p:nvSpPr>
          <p:spPr bwMode="auto">
            <a:xfrm>
              <a:off x="1691968" y="4779015"/>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31" name="Rectangle 71">
              <a:extLst>
                <a:ext uri="{FF2B5EF4-FFF2-40B4-BE49-F238E27FC236}">
                  <a16:creationId xmlns:a16="http://schemas.microsoft.com/office/drawing/2014/main" id="{24494E94-FF44-31A6-D21B-DEB79ECCE152}"/>
                </a:ext>
              </a:extLst>
            </p:cNvPr>
            <p:cNvSpPr>
              <a:spLocks noChangeArrowheads="1"/>
            </p:cNvSpPr>
            <p:nvPr/>
          </p:nvSpPr>
          <p:spPr bwMode="auto">
            <a:xfrm>
              <a:off x="2231974" y="4779015"/>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32" name="Rectangle 72">
              <a:extLst>
                <a:ext uri="{FF2B5EF4-FFF2-40B4-BE49-F238E27FC236}">
                  <a16:creationId xmlns:a16="http://schemas.microsoft.com/office/drawing/2014/main" id="{9BBE10D7-5BC7-EAD2-65FE-3084FAF2A599}"/>
                </a:ext>
              </a:extLst>
            </p:cNvPr>
            <p:cNvSpPr>
              <a:spLocks noChangeArrowheads="1"/>
            </p:cNvSpPr>
            <p:nvPr/>
          </p:nvSpPr>
          <p:spPr bwMode="auto">
            <a:xfrm>
              <a:off x="2771980"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33" name="Rectangle 73">
              <a:extLst>
                <a:ext uri="{FF2B5EF4-FFF2-40B4-BE49-F238E27FC236}">
                  <a16:creationId xmlns:a16="http://schemas.microsoft.com/office/drawing/2014/main" id="{2645841B-0B13-6D49-EE5B-D51937D10428}"/>
                </a:ext>
              </a:extLst>
            </p:cNvPr>
            <p:cNvSpPr>
              <a:spLocks noChangeArrowheads="1"/>
            </p:cNvSpPr>
            <p:nvPr/>
          </p:nvSpPr>
          <p:spPr bwMode="auto">
            <a:xfrm>
              <a:off x="3311986" y="4779015"/>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sp>
          <p:nvSpPr>
            <p:cNvPr id="34" name="正方形/長方形 33">
              <a:extLst>
                <a:ext uri="{FF2B5EF4-FFF2-40B4-BE49-F238E27FC236}">
                  <a16:creationId xmlns:a16="http://schemas.microsoft.com/office/drawing/2014/main" id="{4DC2E8E5-D3AA-3F42-2F9E-B50DDEF8D796}"/>
                </a:ext>
              </a:extLst>
            </p:cNvPr>
            <p:cNvSpPr/>
            <p:nvPr/>
          </p:nvSpPr>
          <p:spPr bwMode="auto">
            <a:xfrm flipH="1">
              <a:off x="2771980"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5" name="正方形/長方形 34">
              <a:extLst>
                <a:ext uri="{FF2B5EF4-FFF2-40B4-BE49-F238E27FC236}">
                  <a16:creationId xmlns:a16="http://schemas.microsoft.com/office/drawing/2014/main" id="{A59788C6-45D4-FAE3-2DE1-766C7EB061CC}"/>
                </a:ext>
              </a:extLst>
            </p:cNvPr>
            <p:cNvSpPr/>
            <p:nvPr/>
          </p:nvSpPr>
          <p:spPr bwMode="auto">
            <a:xfrm flipH="1">
              <a:off x="1691968"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5FACA672-8DF2-F5A1-6738-8150339CF669}"/>
                </a:ext>
              </a:extLst>
            </p:cNvPr>
            <p:cNvSpPr/>
            <p:nvPr/>
          </p:nvSpPr>
          <p:spPr bwMode="auto">
            <a:xfrm flipH="1">
              <a:off x="2231974"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4D8AD750-2832-F78C-9EA8-3C3FC8B31CD6}"/>
                </a:ext>
              </a:extLst>
            </p:cNvPr>
            <p:cNvSpPr/>
            <p:nvPr/>
          </p:nvSpPr>
          <p:spPr bwMode="auto">
            <a:xfrm flipH="1">
              <a:off x="3311986" y="4779015"/>
              <a:ext cx="45719" cy="360004"/>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38" name="Rectangle 69">
              <a:extLst>
                <a:ext uri="{FF2B5EF4-FFF2-40B4-BE49-F238E27FC236}">
                  <a16:creationId xmlns:a16="http://schemas.microsoft.com/office/drawing/2014/main" id="{CA6933F4-9A34-7BF0-F90A-C7DFD14025B8}"/>
                </a:ext>
              </a:extLst>
            </p:cNvPr>
            <p:cNvSpPr>
              <a:spLocks noChangeArrowheads="1"/>
            </p:cNvSpPr>
            <p:nvPr/>
          </p:nvSpPr>
          <p:spPr bwMode="auto">
            <a:xfrm>
              <a:off x="1151961" y="4779015"/>
              <a:ext cx="540007"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39" name="Rectangle 69">
              <a:extLst>
                <a:ext uri="{FF2B5EF4-FFF2-40B4-BE49-F238E27FC236}">
                  <a16:creationId xmlns:a16="http://schemas.microsoft.com/office/drawing/2014/main" id="{5E241CFA-533E-EDBB-BB70-C5E26437C098}"/>
                </a:ext>
              </a:extLst>
            </p:cNvPr>
            <p:cNvSpPr>
              <a:spLocks noChangeArrowheads="1"/>
            </p:cNvSpPr>
            <p:nvPr/>
          </p:nvSpPr>
          <p:spPr bwMode="auto">
            <a:xfrm>
              <a:off x="2771980"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40" name="Rectangle 69">
              <a:extLst>
                <a:ext uri="{FF2B5EF4-FFF2-40B4-BE49-F238E27FC236}">
                  <a16:creationId xmlns:a16="http://schemas.microsoft.com/office/drawing/2014/main" id="{3B5176F3-C8E3-4B72-5C47-12B5382C5FA0}"/>
                </a:ext>
              </a:extLst>
            </p:cNvPr>
            <p:cNvSpPr>
              <a:spLocks noChangeArrowheads="1"/>
            </p:cNvSpPr>
            <p:nvPr/>
          </p:nvSpPr>
          <p:spPr bwMode="auto">
            <a:xfrm>
              <a:off x="2231974"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sp>
          <p:nvSpPr>
            <p:cNvPr id="41" name="Rectangle 69">
              <a:extLst>
                <a:ext uri="{FF2B5EF4-FFF2-40B4-BE49-F238E27FC236}">
                  <a16:creationId xmlns:a16="http://schemas.microsoft.com/office/drawing/2014/main" id="{C1EF4C12-91E3-E5A6-B5B9-CD3EB5F04DD4}"/>
                </a:ext>
              </a:extLst>
            </p:cNvPr>
            <p:cNvSpPr>
              <a:spLocks noChangeArrowheads="1"/>
            </p:cNvSpPr>
            <p:nvPr/>
          </p:nvSpPr>
          <p:spPr bwMode="auto">
            <a:xfrm>
              <a:off x="3311986" y="4779015"/>
              <a:ext cx="540006" cy="360000"/>
            </a:xfrm>
            <a:prstGeom prst="rect">
              <a:avLst/>
            </a:prstGeom>
            <a:noFill/>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endParaRPr lang="en-US" altLang="ja-JP" sz="1600" dirty="0">
                <a:solidFill>
                  <a:schemeClr val="tx1">
                    <a:lumMod val="75000"/>
                    <a:lumOff val="25000"/>
                  </a:schemeClr>
                </a:solidFill>
              </a:endParaRPr>
            </a:p>
          </p:txBody>
        </p:sp>
      </p:grpSp>
      <p:sp>
        <p:nvSpPr>
          <p:cNvPr id="44" name="Rectangle 69">
            <a:extLst>
              <a:ext uri="{FF2B5EF4-FFF2-40B4-BE49-F238E27FC236}">
                <a16:creationId xmlns:a16="http://schemas.microsoft.com/office/drawing/2014/main" id="{80CA9FAE-F031-C584-33CF-A494FE041EF1}"/>
              </a:ext>
            </a:extLst>
          </p:cNvPr>
          <p:cNvSpPr>
            <a:spLocks noChangeArrowheads="1"/>
          </p:cNvSpPr>
          <p:nvPr/>
        </p:nvSpPr>
        <p:spPr bwMode="auto">
          <a:xfrm>
            <a:off x="2675967"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45" name="Rectangle 70">
            <a:extLst>
              <a:ext uri="{FF2B5EF4-FFF2-40B4-BE49-F238E27FC236}">
                <a16:creationId xmlns:a16="http://schemas.microsoft.com/office/drawing/2014/main" id="{DC5D1F25-DD8F-5E5E-7650-04834001AF69}"/>
              </a:ext>
            </a:extLst>
          </p:cNvPr>
          <p:cNvSpPr>
            <a:spLocks noChangeArrowheads="1"/>
          </p:cNvSpPr>
          <p:nvPr/>
        </p:nvSpPr>
        <p:spPr bwMode="auto">
          <a:xfrm>
            <a:off x="3125967" y="1988984"/>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46" name="Rectangle 71">
            <a:extLst>
              <a:ext uri="{FF2B5EF4-FFF2-40B4-BE49-F238E27FC236}">
                <a16:creationId xmlns:a16="http://schemas.microsoft.com/office/drawing/2014/main" id="{1E92F600-68AC-9DEA-DA4D-A32076106124}"/>
              </a:ext>
            </a:extLst>
          </p:cNvPr>
          <p:cNvSpPr>
            <a:spLocks noChangeArrowheads="1"/>
          </p:cNvSpPr>
          <p:nvPr/>
        </p:nvSpPr>
        <p:spPr bwMode="auto">
          <a:xfrm>
            <a:off x="3665978"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47" name="Rectangle 72">
            <a:extLst>
              <a:ext uri="{FF2B5EF4-FFF2-40B4-BE49-F238E27FC236}">
                <a16:creationId xmlns:a16="http://schemas.microsoft.com/office/drawing/2014/main" id="{8B227E33-9FB9-C961-8BF5-16C663739C5E}"/>
              </a:ext>
            </a:extLst>
          </p:cNvPr>
          <p:cNvSpPr>
            <a:spLocks noChangeArrowheads="1"/>
          </p:cNvSpPr>
          <p:nvPr/>
        </p:nvSpPr>
        <p:spPr bwMode="auto">
          <a:xfrm>
            <a:off x="3935976" y="1988984"/>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48" name="Rectangle 73">
            <a:extLst>
              <a:ext uri="{FF2B5EF4-FFF2-40B4-BE49-F238E27FC236}">
                <a16:creationId xmlns:a16="http://schemas.microsoft.com/office/drawing/2014/main" id="{D311F2FC-F652-6D60-D27B-9A19E0EA0314}"/>
              </a:ext>
            </a:extLst>
          </p:cNvPr>
          <p:cNvSpPr>
            <a:spLocks noChangeArrowheads="1"/>
          </p:cNvSpPr>
          <p:nvPr/>
        </p:nvSpPr>
        <p:spPr bwMode="auto">
          <a:xfrm>
            <a:off x="4295980" y="1988984"/>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sp>
        <p:nvSpPr>
          <p:cNvPr id="57" name="Rectangle 69">
            <a:extLst>
              <a:ext uri="{FF2B5EF4-FFF2-40B4-BE49-F238E27FC236}">
                <a16:creationId xmlns:a16="http://schemas.microsoft.com/office/drawing/2014/main" id="{DDA4DFF1-F3F9-2E92-571F-A47DC79FE48B}"/>
              </a:ext>
            </a:extLst>
          </p:cNvPr>
          <p:cNvSpPr>
            <a:spLocks noChangeArrowheads="1"/>
          </p:cNvSpPr>
          <p:nvPr/>
        </p:nvSpPr>
        <p:spPr bwMode="auto">
          <a:xfrm>
            <a:off x="4655989" y="270899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58" name="Rectangle 70">
            <a:extLst>
              <a:ext uri="{FF2B5EF4-FFF2-40B4-BE49-F238E27FC236}">
                <a16:creationId xmlns:a16="http://schemas.microsoft.com/office/drawing/2014/main" id="{49C637E1-85EA-70C9-6F64-F38A2787D42E}"/>
              </a:ext>
            </a:extLst>
          </p:cNvPr>
          <p:cNvSpPr>
            <a:spLocks noChangeArrowheads="1"/>
          </p:cNvSpPr>
          <p:nvPr/>
        </p:nvSpPr>
        <p:spPr bwMode="auto">
          <a:xfrm>
            <a:off x="5105989" y="2708992"/>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59" name="Rectangle 71">
            <a:extLst>
              <a:ext uri="{FF2B5EF4-FFF2-40B4-BE49-F238E27FC236}">
                <a16:creationId xmlns:a16="http://schemas.microsoft.com/office/drawing/2014/main" id="{0650D333-FAF7-FC10-356B-42C555976B5E}"/>
              </a:ext>
            </a:extLst>
          </p:cNvPr>
          <p:cNvSpPr>
            <a:spLocks noChangeArrowheads="1"/>
          </p:cNvSpPr>
          <p:nvPr/>
        </p:nvSpPr>
        <p:spPr bwMode="auto">
          <a:xfrm>
            <a:off x="5646000" y="2708992"/>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60" name="Rectangle 72">
            <a:extLst>
              <a:ext uri="{FF2B5EF4-FFF2-40B4-BE49-F238E27FC236}">
                <a16:creationId xmlns:a16="http://schemas.microsoft.com/office/drawing/2014/main" id="{C6063CAF-B3E7-3EEF-A926-36A90BDE4D05}"/>
              </a:ext>
            </a:extLst>
          </p:cNvPr>
          <p:cNvSpPr>
            <a:spLocks noChangeArrowheads="1"/>
          </p:cNvSpPr>
          <p:nvPr/>
        </p:nvSpPr>
        <p:spPr bwMode="auto">
          <a:xfrm>
            <a:off x="5915998" y="2708992"/>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61" name="Rectangle 73">
            <a:extLst>
              <a:ext uri="{FF2B5EF4-FFF2-40B4-BE49-F238E27FC236}">
                <a16:creationId xmlns:a16="http://schemas.microsoft.com/office/drawing/2014/main" id="{CE3B2FFD-C3CF-F3C5-0AD2-EF73A50E69E1}"/>
              </a:ext>
            </a:extLst>
          </p:cNvPr>
          <p:cNvSpPr>
            <a:spLocks noChangeArrowheads="1"/>
          </p:cNvSpPr>
          <p:nvPr/>
        </p:nvSpPr>
        <p:spPr bwMode="auto">
          <a:xfrm>
            <a:off x="6276002" y="2708992"/>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sp>
        <p:nvSpPr>
          <p:cNvPr id="62" name="Rectangle 69">
            <a:extLst>
              <a:ext uri="{FF2B5EF4-FFF2-40B4-BE49-F238E27FC236}">
                <a16:creationId xmlns:a16="http://schemas.microsoft.com/office/drawing/2014/main" id="{79284753-827C-AAED-A6D9-FAAF8DE5221E}"/>
              </a:ext>
            </a:extLst>
          </p:cNvPr>
          <p:cNvSpPr>
            <a:spLocks noChangeArrowheads="1"/>
          </p:cNvSpPr>
          <p:nvPr/>
        </p:nvSpPr>
        <p:spPr bwMode="auto">
          <a:xfrm>
            <a:off x="6636011"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IF</a:t>
            </a:r>
          </a:p>
        </p:txBody>
      </p:sp>
      <p:sp>
        <p:nvSpPr>
          <p:cNvPr id="63" name="Rectangle 70">
            <a:extLst>
              <a:ext uri="{FF2B5EF4-FFF2-40B4-BE49-F238E27FC236}">
                <a16:creationId xmlns:a16="http://schemas.microsoft.com/office/drawing/2014/main" id="{D011A2AC-465B-5994-49B8-3DBD23D78FEB}"/>
              </a:ext>
            </a:extLst>
          </p:cNvPr>
          <p:cNvSpPr>
            <a:spLocks noChangeArrowheads="1"/>
          </p:cNvSpPr>
          <p:nvPr/>
        </p:nvSpPr>
        <p:spPr bwMode="auto">
          <a:xfrm>
            <a:off x="7086011" y="3338999"/>
            <a:ext cx="540006"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ID</a:t>
            </a:r>
          </a:p>
        </p:txBody>
      </p:sp>
      <p:sp>
        <p:nvSpPr>
          <p:cNvPr id="64" name="Rectangle 71">
            <a:extLst>
              <a:ext uri="{FF2B5EF4-FFF2-40B4-BE49-F238E27FC236}">
                <a16:creationId xmlns:a16="http://schemas.microsoft.com/office/drawing/2014/main" id="{3FC72747-D27D-B6AA-0D18-49D1DA82781A}"/>
              </a:ext>
            </a:extLst>
          </p:cNvPr>
          <p:cNvSpPr>
            <a:spLocks noChangeArrowheads="1"/>
          </p:cNvSpPr>
          <p:nvPr/>
        </p:nvSpPr>
        <p:spPr bwMode="auto">
          <a:xfrm>
            <a:off x="7626022" y="3338999"/>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solidFill>
                  <a:schemeClr val="tx1">
                    <a:lumMod val="75000"/>
                    <a:lumOff val="25000"/>
                  </a:schemeClr>
                </a:solidFill>
              </a:rPr>
              <a:t>EX</a:t>
            </a:r>
          </a:p>
        </p:txBody>
      </p:sp>
      <p:sp>
        <p:nvSpPr>
          <p:cNvPr id="65" name="Rectangle 72">
            <a:extLst>
              <a:ext uri="{FF2B5EF4-FFF2-40B4-BE49-F238E27FC236}">
                <a16:creationId xmlns:a16="http://schemas.microsoft.com/office/drawing/2014/main" id="{C7F7E4A6-5ECB-8F6C-B52C-EB363C65E16D}"/>
              </a:ext>
            </a:extLst>
          </p:cNvPr>
          <p:cNvSpPr>
            <a:spLocks noChangeArrowheads="1"/>
          </p:cNvSpPr>
          <p:nvPr/>
        </p:nvSpPr>
        <p:spPr bwMode="auto">
          <a:xfrm>
            <a:off x="7896020" y="3338999"/>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solidFill>
                  <a:schemeClr val="tx1">
                    <a:lumMod val="75000"/>
                    <a:lumOff val="25000"/>
                  </a:schemeClr>
                </a:solidFill>
              </a:rPr>
              <a:t>MEM</a:t>
            </a:r>
          </a:p>
        </p:txBody>
      </p:sp>
      <p:sp>
        <p:nvSpPr>
          <p:cNvPr id="66" name="Rectangle 73">
            <a:extLst>
              <a:ext uri="{FF2B5EF4-FFF2-40B4-BE49-F238E27FC236}">
                <a16:creationId xmlns:a16="http://schemas.microsoft.com/office/drawing/2014/main" id="{C04296C0-306D-F515-B36C-C7FA06107622}"/>
              </a:ext>
            </a:extLst>
          </p:cNvPr>
          <p:cNvSpPr>
            <a:spLocks noChangeArrowheads="1"/>
          </p:cNvSpPr>
          <p:nvPr/>
        </p:nvSpPr>
        <p:spPr bwMode="auto">
          <a:xfrm>
            <a:off x="8256024" y="3338999"/>
            <a:ext cx="360000"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solidFill>
                  <a:schemeClr val="tx1">
                    <a:lumMod val="75000"/>
                    <a:lumOff val="25000"/>
                  </a:schemeClr>
                </a:solidFill>
              </a:rPr>
              <a:t>WB</a:t>
            </a:r>
          </a:p>
        </p:txBody>
      </p:sp>
      <p:cxnSp>
        <p:nvCxnSpPr>
          <p:cNvPr id="68" name="直線矢印コネクタ 67">
            <a:extLst>
              <a:ext uri="{FF2B5EF4-FFF2-40B4-BE49-F238E27FC236}">
                <a16:creationId xmlns:a16="http://schemas.microsoft.com/office/drawing/2014/main" id="{0D9F789D-EA97-C373-055B-85E7C3446ECA}"/>
              </a:ext>
            </a:extLst>
          </p:cNvPr>
          <p:cNvCxnSpPr/>
          <p:nvPr/>
        </p:nvCxnSpPr>
        <p:spPr bwMode="auto">
          <a:xfrm>
            <a:off x="2675962" y="2528990"/>
            <a:ext cx="1980022" cy="0"/>
          </a:xfrm>
          <a:prstGeom prst="straightConnector1">
            <a:avLst/>
          </a:prstGeom>
          <a:noFill/>
          <a:ln w="9525" cap="flat" cmpd="sng" algn="ctr">
            <a:solidFill>
              <a:schemeClr val="tx1"/>
            </a:solidFill>
            <a:prstDash val="solid"/>
            <a:round/>
            <a:headEnd type="triangle" w="med" len="med"/>
            <a:tailEnd type="triangle"/>
          </a:ln>
          <a:effectLst/>
        </p:spPr>
      </p:cxnSp>
      <p:sp>
        <p:nvSpPr>
          <p:cNvPr id="69" name="正方形/長方形 68">
            <a:extLst>
              <a:ext uri="{FF2B5EF4-FFF2-40B4-BE49-F238E27FC236}">
                <a16:creationId xmlns:a16="http://schemas.microsoft.com/office/drawing/2014/main" id="{DD5188A7-7291-8EEE-3F0F-0211BD91197D}"/>
              </a:ext>
            </a:extLst>
          </p:cNvPr>
          <p:cNvSpPr/>
          <p:nvPr/>
        </p:nvSpPr>
        <p:spPr>
          <a:xfrm>
            <a:off x="3215968" y="2528995"/>
            <a:ext cx="1082348" cy="307777"/>
          </a:xfrm>
          <a:prstGeom prst="rect">
            <a:avLst/>
          </a:prstGeom>
        </p:spPr>
        <p:txBody>
          <a:bodyPr wrap="none">
            <a:spAutoFit/>
          </a:bodyPr>
          <a:lstStyle/>
          <a:p>
            <a:r>
              <a:rPr lang="ja-JP" altLang="en-US" sz="1400" b="1" dirty="0">
                <a:solidFill>
                  <a:schemeClr val="accent6"/>
                </a:solidFill>
              </a:rPr>
              <a:t>レイテンシ</a:t>
            </a:r>
          </a:p>
        </p:txBody>
      </p:sp>
      <p:cxnSp>
        <p:nvCxnSpPr>
          <p:cNvPr id="70" name="直線矢印コネクタ 69">
            <a:extLst>
              <a:ext uri="{FF2B5EF4-FFF2-40B4-BE49-F238E27FC236}">
                <a16:creationId xmlns:a16="http://schemas.microsoft.com/office/drawing/2014/main" id="{6BEC7187-2503-1F49-60EF-BB6EAD93AD5C}"/>
              </a:ext>
            </a:extLst>
          </p:cNvPr>
          <p:cNvCxnSpPr>
            <a:cxnSpLocks/>
          </p:cNvCxnSpPr>
          <p:nvPr/>
        </p:nvCxnSpPr>
        <p:spPr bwMode="auto">
          <a:xfrm>
            <a:off x="2675962" y="5229020"/>
            <a:ext cx="2700030" cy="0"/>
          </a:xfrm>
          <a:prstGeom prst="straightConnector1">
            <a:avLst/>
          </a:prstGeom>
          <a:noFill/>
          <a:ln w="9525" cap="flat" cmpd="sng" algn="ctr">
            <a:solidFill>
              <a:schemeClr val="tx1"/>
            </a:solidFill>
            <a:prstDash val="solid"/>
            <a:round/>
            <a:headEnd type="triangle" w="med" len="med"/>
            <a:tailEnd type="triangle"/>
          </a:ln>
          <a:effectLst/>
        </p:spPr>
      </p:cxnSp>
      <p:sp>
        <p:nvSpPr>
          <p:cNvPr id="71" name="正方形/長方形 70">
            <a:extLst>
              <a:ext uri="{FF2B5EF4-FFF2-40B4-BE49-F238E27FC236}">
                <a16:creationId xmlns:a16="http://schemas.microsoft.com/office/drawing/2014/main" id="{DEA7CD60-2C05-0F74-AAC7-C14C31EDF603}"/>
              </a:ext>
            </a:extLst>
          </p:cNvPr>
          <p:cNvSpPr/>
          <p:nvPr/>
        </p:nvSpPr>
        <p:spPr>
          <a:xfrm>
            <a:off x="3485971" y="5229025"/>
            <a:ext cx="1082348" cy="307777"/>
          </a:xfrm>
          <a:prstGeom prst="rect">
            <a:avLst/>
          </a:prstGeom>
        </p:spPr>
        <p:txBody>
          <a:bodyPr wrap="none">
            <a:spAutoFit/>
          </a:bodyPr>
          <a:lstStyle/>
          <a:p>
            <a:r>
              <a:rPr lang="ja-JP" altLang="en-US" sz="1400" b="1" dirty="0">
                <a:solidFill>
                  <a:schemeClr val="accent6"/>
                </a:solidFill>
              </a:rPr>
              <a:t>レイテンシ</a:t>
            </a:r>
          </a:p>
        </p:txBody>
      </p:sp>
      <p:cxnSp>
        <p:nvCxnSpPr>
          <p:cNvPr id="13" name="直線矢印コネクタ 12">
            <a:extLst>
              <a:ext uri="{FF2B5EF4-FFF2-40B4-BE49-F238E27FC236}">
                <a16:creationId xmlns:a16="http://schemas.microsoft.com/office/drawing/2014/main" id="{AC0D37E8-A38F-C8F9-68CF-18492CBA2C4C}"/>
              </a:ext>
            </a:extLst>
          </p:cNvPr>
          <p:cNvCxnSpPr>
            <a:stCxn id="69" idx="2"/>
            <a:endCxn id="71" idx="0"/>
          </p:cNvCxnSpPr>
          <p:nvPr/>
        </p:nvCxnSpPr>
        <p:spPr bwMode="auto">
          <a:xfrm>
            <a:off x="3757147" y="2836772"/>
            <a:ext cx="270003" cy="2392253"/>
          </a:xfrm>
          <a:prstGeom prst="straightConnector1">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42" name="正方形/長方形 41">
            <a:extLst>
              <a:ext uri="{FF2B5EF4-FFF2-40B4-BE49-F238E27FC236}">
                <a16:creationId xmlns:a16="http://schemas.microsoft.com/office/drawing/2014/main" id="{82A90EA2-4EA4-4FD7-D5DB-AE33E49EC4E3}"/>
              </a:ext>
            </a:extLst>
          </p:cNvPr>
          <p:cNvSpPr/>
          <p:nvPr/>
        </p:nvSpPr>
        <p:spPr>
          <a:xfrm>
            <a:off x="3845975" y="3699003"/>
            <a:ext cx="2492990" cy="369332"/>
          </a:xfrm>
          <a:prstGeom prst="rect">
            <a:avLst/>
          </a:prstGeom>
          <a:effectLst/>
        </p:spPr>
        <p:txBody>
          <a:bodyPr wrap="none">
            <a:spAutoFit/>
          </a:bodyPr>
          <a:lstStyle/>
          <a:p>
            <a:r>
              <a:rPr lang="ja-JP" altLang="en-US" dirty="0">
                <a:solidFill>
                  <a:schemeClr val="accent6"/>
                </a:solidFill>
              </a:rPr>
              <a:t>レイテンシは伸びてる</a:t>
            </a:r>
          </a:p>
        </p:txBody>
      </p:sp>
    </p:spTree>
    <p:extLst>
      <p:ext uri="{BB962C8B-B14F-4D97-AF65-F5344CB8AC3E}">
        <p14:creationId xmlns:p14="http://schemas.microsoft.com/office/powerpoint/2010/main" val="2523590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a:xfrm>
            <a:off x="2135956" y="1088979"/>
            <a:ext cx="8280092" cy="2430027"/>
          </a:xfrm>
        </p:spPr>
        <p:txBody>
          <a:bodyPr anchor="t"/>
          <a:lstStyle/>
          <a:p>
            <a:r>
              <a:rPr lang="ja-JP" altLang="en-US" dirty="0"/>
              <a:t>大きな回路のまとまりをステージにする</a:t>
            </a:r>
            <a:endParaRPr lang="en-US" altLang="ja-JP" dirty="0"/>
          </a:p>
          <a:p>
            <a:pPr lvl="1"/>
            <a:r>
              <a:rPr lang="ja-JP" altLang="en-US" dirty="0"/>
              <a:t>回路のまとまりが大きい → 遅延も大きい</a:t>
            </a:r>
            <a:endParaRPr lang="en-US" altLang="ja-JP" dirty="0"/>
          </a:p>
          <a:p>
            <a:r>
              <a:rPr lang="ja-JP" altLang="en-US" dirty="0"/>
              <a:t>この遅延の大きさが揃っていないと，綺麗にうごかない</a:t>
            </a:r>
            <a:endParaRPr lang="en-US" altLang="ja-JP" dirty="0"/>
          </a:p>
          <a:p>
            <a:pPr lvl="1"/>
            <a:r>
              <a:rPr kumimoji="1" lang="ja-JP" altLang="en-US" dirty="0">
                <a:solidFill>
                  <a:schemeClr val="accent5"/>
                </a:solidFill>
              </a:rPr>
              <a:t>パイプライン全体は，一番遅いステージの遅延にあわせて動く</a:t>
            </a:r>
            <a:endParaRPr kumimoji="1" lang="en-US" altLang="ja-JP" dirty="0">
              <a:solidFill>
                <a:schemeClr val="accent5"/>
              </a:solidFill>
            </a:endParaRPr>
          </a:p>
          <a:p>
            <a:pPr lvl="1"/>
            <a:r>
              <a:rPr kumimoji="1" lang="ja-JP" altLang="en-US" dirty="0"/>
              <a:t>他の人が仕事が終わったからと言って，先に送れない</a:t>
            </a:r>
            <a:endParaRPr kumimoji="1" lang="en-US" altLang="ja-JP" dirty="0"/>
          </a:p>
          <a:p>
            <a:r>
              <a:rPr kumimoji="1" lang="ja-JP" altLang="en-US" dirty="0"/>
              <a:t>良くない例：緑の人だけ仕事が多いので，全体が動かせない</a:t>
            </a:r>
            <a:endParaRPr kumimoji="1" lang="en-US" altLang="ja-JP" dirty="0"/>
          </a:p>
        </p:txBody>
      </p:sp>
      <p:grpSp>
        <p:nvGrpSpPr>
          <p:cNvPr id="4" name="グループ化 3"/>
          <p:cNvGrpSpPr/>
          <p:nvPr/>
        </p:nvGrpSpPr>
        <p:grpSpPr>
          <a:xfrm>
            <a:off x="2405959" y="5949028"/>
            <a:ext cx="1562400" cy="576064"/>
            <a:chOff x="971600" y="5445224"/>
            <a:chExt cx="7200800" cy="576064"/>
          </a:xfrm>
        </p:grpSpPr>
        <p:sp>
          <p:nvSpPr>
            <p:cNvPr id="5" name="平行四辺形 4"/>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6" name="平行四辺形 5"/>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7" name="グループ化 6"/>
          <p:cNvGrpSpPr/>
          <p:nvPr/>
        </p:nvGrpSpPr>
        <p:grpSpPr>
          <a:xfrm>
            <a:off x="3845975" y="5949028"/>
            <a:ext cx="2880032" cy="576064"/>
            <a:chOff x="971600" y="5445224"/>
            <a:chExt cx="7200800" cy="576064"/>
          </a:xfrm>
        </p:grpSpPr>
        <p:sp>
          <p:nvSpPr>
            <p:cNvPr id="8" name="平行四辺形 7"/>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9" name="平行四辺形 8"/>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0" name="グループ化 9"/>
          <p:cNvGrpSpPr/>
          <p:nvPr/>
        </p:nvGrpSpPr>
        <p:grpSpPr>
          <a:xfrm>
            <a:off x="6603350" y="5949028"/>
            <a:ext cx="1562400" cy="576064"/>
            <a:chOff x="971600" y="5445224"/>
            <a:chExt cx="7200800" cy="576064"/>
          </a:xfrm>
        </p:grpSpPr>
        <p:sp>
          <p:nvSpPr>
            <p:cNvPr id="11" name="平行四辺形 10"/>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2" name="平行四辺形 11"/>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3" name="グループ化 12"/>
          <p:cNvGrpSpPr/>
          <p:nvPr/>
        </p:nvGrpSpPr>
        <p:grpSpPr>
          <a:xfrm>
            <a:off x="8043510" y="5949028"/>
            <a:ext cx="1584176" cy="576064"/>
            <a:chOff x="971600" y="5445224"/>
            <a:chExt cx="7200800" cy="576064"/>
          </a:xfrm>
        </p:grpSpPr>
        <p:sp>
          <p:nvSpPr>
            <p:cNvPr id="14" name="平行四辺形 13"/>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5" name="平行四辺形 14"/>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6" name="正方形/長方形 15"/>
          <p:cNvSpPr/>
          <p:nvPr/>
        </p:nvSpPr>
        <p:spPr>
          <a:xfrm>
            <a:off x="2367803" y="5084485"/>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7" name="正方形/長方形 16"/>
          <p:cNvSpPr/>
          <p:nvPr/>
        </p:nvSpPr>
        <p:spPr>
          <a:xfrm>
            <a:off x="4385986" y="5139019"/>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8" name="正方形/長方形 17"/>
          <p:cNvSpPr/>
          <p:nvPr/>
        </p:nvSpPr>
        <p:spPr>
          <a:xfrm>
            <a:off x="6567081" y="5103069"/>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8007241" y="510306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角丸四角形吹き出し 20"/>
          <p:cNvSpPr/>
          <p:nvPr/>
        </p:nvSpPr>
        <p:spPr bwMode="auto">
          <a:xfrm>
            <a:off x="5015993" y="4419011"/>
            <a:ext cx="2430027" cy="432646"/>
          </a:xfrm>
          <a:prstGeom prst="wedgeRoundRectCallout">
            <a:avLst>
              <a:gd name="adj1" fmla="val -43365"/>
              <a:gd name="adj2" fmla="val 134720"/>
              <a:gd name="adj3" fmla="val 16667"/>
            </a:avLst>
          </a:prstGeom>
          <a:ln>
            <a:headEnd/>
            <a:tailEnd type="triangle" w="sm"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なんか仕事おおいんだけど</a:t>
            </a:r>
          </a:p>
        </p:txBody>
      </p:sp>
      <p:sp>
        <p:nvSpPr>
          <p:cNvPr id="22" name="角丸四角形吹き出し 21"/>
          <p:cNvSpPr/>
          <p:nvPr/>
        </p:nvSpPr>
        <p:spPr bwMode="auto">
          <a:xfrm>
            <a:off x="2855964" y="4419011"/>
            <a:ext cx="1260014" cy="432646"/>
          </a:xfrm>
          <a:prstGeom prst="wedgeRoundRectCallout">
            <a:avLst>
              <a:gd name="adj1" fmla="val -43365"/>
              <a:gd name="adj2" fmla="val 134720"/>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はよせんかい</a:t>
            </a:r>
          </a:p>
        </p:txBody>
      </p:sp>
      <p:sp>
        <p:nvSpPr>
          <p:cNvPr id="23" name="角丸四角形 22"/>
          <p:cNvSpPr/>
          <p:nvPr/>
        </p:nvSpPr>
        <p:spPr bwMode="auto">
          <a:xfrm>
            <a:off x="483598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4" name="角丸四角形 23"/>
          <p:cNvSpPr/>
          <p:nvPr/>
        </p:nvSpPr>
        <p:spPr bwMode="auto">
          <a:xfrm>
            <a:off x="30359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5" name="角丸四角形 24"/>
          <p:cNvSpPr/>
          <p:nvPr/>
        </p:nvSpPr>
        <p:spPr bwMode="auto">
          <a:xfrm>
            <a:off x="6963066"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6" name="角丸四角形 25"/>
          <p:cNvSpPr/>
          <p:nvPr/>
        </p:nvSpPr>
        <p:spPr bwMode="auto">
          <a:xfrm>
            <a:off x="8313081" y="5859027"/>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7" name="角丸四角形吹き出し 26"/>
          <p:cNvSpPr/>
          <p:nvPr/>
        </p:nvSpPr>
        <p:spPr bwMode="auto">
          <a:xfrm>
            <a:off x="8796030" y="4419011"/>
            <a:ext cx="1260014" cy="432646"/>
          </a:xfrm>
          <a:prstGeom prst="wedgeRoundRectCallout">
            <a:avLst>
              <a:gd name="adj1" fmla="val -51493"/>
              <a:gd name="adj2" fmla="val 139793"/>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65000"/>
                    <a:lumOff val="35000"/>
                  </a:schemeClr>
                </a:solidFill>
                <a:latin typeface="Arial Narrow" panose="020B0606020202030204" pitchFamily="34" charset="0"/>
              </a:rPr>
              <a:t>まだー？</a:t>
            </a:r>
          </a:p>
        </p:txBody>
      </p:sp>
    </p:spTree>
    <p:extLst>
      <p:ext uri="{BB962C8B-B14F-4D97-AF65-F5344CB8AC3E}">
        <p14:creationId xmlns:p14="http://schemas.microsoft.com/office/powerpoint/2010/main" val="11125374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ステージを「どこで」切るか</a:t>
            </a:r>
          </a:p>
        </p:txBody>
      </p:sp>
      <p:sp>
        <p:nvSpPr>
          <p:cNvPr id="3" name="テキスト プレースホルダー 2"/>
          <p:cNvSpPr>
            <a:spLocks noGrp="1"/>
          </p:cNvSpPr>
          <p:nvPr>
            <p:ph type="body" sz="quarter" idx="10"/>
          </p:nvPr>
        </p:nvSpPr>
        <p:spPr/>
        <p:txBody>
          <a:bodyPr/>
          <a:lstStyle/>
          <a:p>
            <a:r>
              <a:rPr lang="ja-JP" altLang="en-US" dirty="0"/>
              <a:t>ステージ</a:t>
            </a:r>
            <a:endParaRPr lang="en-US" altLang="ja-JP" dirty="0"/>
          </a:p>
          <a:p>
            <a:pPr marL="817200" lvl="1" indent="-457200">
              <a:buFont typeface="+mj-lt"/>
              <a:buAutoNum type="arabicPeriod"/>
            </a:pPr>
            <a:r>
              <a:rPr lang="en-US" altLang="ja-JP" dirty="0"/>
              <a:t>IF</a:t>
            </a:r>
            <a:r>
              <a:rPr lang="ja-JP" altLang="en-US" dirty="0"/>
              <a:t>：　  命令フェッチ</a:t>
            </a:r>
            <a:endParaRPr lang="en-US" altLang="ja-JP" dirty="0"/>
          </a:p>
          <a:p>
            <a:pPr marL="817200" lvl="1" indent="-457200">
              <a:buFont typeface="+mj-lt"/>
              <a:buAutoNum type="arabicPeriod"/>
            </a:pPr>
            <a:r>
              <a:rPr lang="en-US" altLang="ja-JP" dirty="0"/>
              <a:t>ID</a:t>
            </a:r>
            <a:r>
              <a:rPr lang="ja-JP" altLang="en-US" dirty="0"/>
              <a:t>：　 デコードとレジスタ読み出し</a:t>
            </a:r>
            <a:endParaRPr lang="en-US" altLang="ja-JP" dirty="0"/>
          </a:p>
          <a:p>
            <a:pPr marL="817200" lvl="1" indent="-457200">
              <a:buFont typeface="+mj-lt"/>
              <a:buAutoNum type="arabicPeriod"/>
            </a:pPr>
            <a:r>
              <a:rPr lang="en-US" altLang="ja-JP" dirty="0"/>
              <a:t>EX</a:t>
            </a:r>
            <a:r>
              <a:rPr lang="ja-JP" altLang="en-US" dirty="0"/>
              <a:t>：　 実行</a:t>
            </a:r>
            <a:endParaRPr lang="en-US" altLang="ja-JP" dirty="0"/>
          </a:p>
          <a:p>
            <a:pPr marL="817200" lvl="1" indent="-457200">
              <a:buFont typeface="+mj-lt"/>
              <a:buAutoNum type="arabicPeriod"/>
            </a:pPr>
            <a:r>
              <a:rPr lang="en-US" altLang="ja-JP" dirty="0"/>
              <a:t>MEM</a:t>
            </a:r>
            <a:r>
              <a:rPr lang="ja-JP" altLang="en-US" dirty="0"/>
              <a:t>：メモリ・アクセス</a:t>
            </a:r>
            <a:endParaRPr lang="en-US" altLang="ja-JP" dirty="0"/>
          </a:p>
          <a:p>
            <a:pPr marL="817200" lvl="1" indent="-457200">
              <a:buFont typeface="+mj-lt"/>
              <a:buAutoNum type="arabicPeriod"/>
            </a:pPr>
            <a:r>
              <a:rPr lang="en-US" altLang="ja-JP" dirty="0"/>
              <a:t>WB</a:t>
            </a:r>
            <a:r>
              <a:rPr lang="ja-JP" altLang="en-US" dirty="0"/>
              <a:t>：　レジスタ書き込み</a:t>
            </a:r>
            <a:endParaRPr lang="en-US" altLang="ja-JP" dirty="0"/>
          </a:p>
          <a:p>
            <a:r>
              <a:rPr kumimoji="1" lang="ja-JP" altLang="en-US" dirty="0"/>
              <a:t>上記では，デコードとレジスタ読み出しが </a:t>
            </a:r>
            <a:r>
              <a:rPr kumimoji="1" lang="en-US" altLang="ja-JP" dirty="0"/>
              <a:t>ID </a:t>
            </a:r>
            <a:r>
              <a:rPr kumimoji="1" lang="ja-JP" altLang="en-US" dirty="0"/>
              <a:t>ステージにまとめられている</a:t>
            </a:r>
            <a:endParaRPr kumimoji="1" lang="en-US" altLang="ja-JP" dirty="0"/>
          </a:p>
          <a:p>
            <a:pPr lvl="1"/>
            <a:r>
              <a:rPr kumimoji="1" lang="ja-JP" altLang="en-US" dirty="0"/>
              <a:t>デコードにかかる遅延はほとんどない</a:t>
            </a:r>
            <a:endParaRPr kumimoji="1" lang="en-US" altLang="ja-JP" dirty="0"/>
          </a:p>
          <a:p>
            <a:pPr lvl="1"/>
            <a:r>
              <a:rPr kumimoji="1" lang="ja-JP" altLang="en-US" dirty="0"/>
              <a:t>読み出した命令からオペランドを取り出すのは，単に信号線を繋ぐだけで良い</a:t>
            </a:r>
          </a:p>
        </p:txBody>
      </p:sp>
    </p:spTree>
    <p:extLst>
      <p:ext uri="{BB962C8B-B14F-4D97-AF65-F5344CB8AC3E}">
        <p14:creationId xmlns:p14="http://schemas.microsoft.com/office/powerpoint/2010/main" val="3800762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余談：非同期回路やウェーブ・パイプライン</a:t>
            </a:r>
          </a:p>
        </p:txBody>
      </p:sp>
      <p:sp>
        <p:nvSpPr>
          <p:cNvPr id="3" name="テキスト プレースホルダー 2"/>
          <p:cNvSpPr>
            <a:spLocks noGrp="1"/>
          </p:cNvSpPr>
          <p:nvPr>
            <p:ph type="body" sz="quarter" idx="10"/>
          </p:nvPr>
        </p:nvSpPr>
        <p:spPr/>
        <p:txBody>
          <a:bodyPr/>
          <a:lstStyle/>
          <a:p>
            <a:r>
              <a:rPr kumimoji="1" lang="ja-JP" altLang="en-US" dirty="0"/>
              <a:t>クロックによる同期化を使わずにパイプラインを作る方法も</a:t>
            </a:r>
            <a:br>
              <a:rPr kumimoji="1" lang="en-US" altLang="ja-JP" dirty="0"/>
            </a:br>
            <a:r>
              <a:rPr kumimoji="1" lang="ja-JP" altLang="en-US" dirty="0"/>
              <a:t>あるにはある</a:t>
            </a:r>
            <a:endParaRPr kumimoji="1" lang="en-US" altLang="ja-JP" dirty="0"/>
          </a:p>
          <a:p>
            <a:r>
              <a:rPr kumimoji="1" lang="ja-JP" altLang="en-US" dirty="0"/>
              <a:t>やり方：</a:t>
            </a:r>
            <a:endParaRPr kumimoji="1" lang="en-US" altLang="ja-JP" dirty="0"/>
          </a:p>
          <a:p>
            <a:pPr marL="817200" lvl="1" indent="-457200">
              <a:buFont typeface="+mj-lt"/>
              <a:buAutoNum type="arabicPeriod"/>
            </a:pPr>
            <a:r>
              <a:rPr kumimoji="1" lang="ja-JP" altLang="en-US" dirty="0"/>
              <a:t>色々な方法でステージ間の遅延の大きさを気合いで揃える</a:t>
            </a:r>
            <a:endParaRPr kumimoji="1" lang="en-US" altLang="ja-JP" dirty="0"/>
          </a:p>
          <a:p>
            <a:pPr marL="817200" lvl="1" indent="-457200">
              <a:buFont typeface="+mj-lt"/>
              <a:buAutoNum type="arabicPeriod"/>
            </a:pPr>
            <a:r>
              <a:rPr kumimoji="1" lang="ja-JP" altLang="en-US" dirty="0"/>
              <a:t>一定間隔でデータを流す</a:t>
            </a:r>
            <a:endParaRPr kumimoji="1" lang="en-US" altLang="ja-JP" dirty="0"/>
          </a:p>
          <a:p>
            <a:r>
              <a:rPr kumimoji="1" lang="ja-JP" altLang="en-US" dirty="0"/>
              <a:t>設計 </a:t>
            </a:r>
            <a:r>
              <a:rPr kumimoji="1" lang="en-US" altLang="ja-JP" dirty="0"/>
              <a:t>&amp; </a:t>
            </a:r>
            <a:r>
              <a:rPr kumimoji="1" lang="ja-JP" altLang="en-US" dirty="0"/>
              <a:t>動作させることがすごく難しいので，主流ではない</a:t>
            </a:r>
            <a:endParaRPr kumimoji="1" lang="en-US" altLang="ja-JP" dirty="0"/>
          </a:p>
          <a:p>
            <a:pPr lvl="1"/>
            <a:r>
              <a:rPr kumimoji="1" lang="ja-JP" altLang="en-US" dirty="0"/>
              <a:t>特に，高速動作がかなり難しい</a:t>
            </a:r>
            <a:endParaRPr kumimoji="1" lang="en-US" altLang="ja-JP" dirty="0"/>
          </a:p>
        </p:txBody>
      </p:sp>
    </p:spTree>
    <p:extLst>
      <p:ext uri="{BB962C8B-B14F-4D97-AF65-F5344CB8AC3E}">
        <p14:creationId xmlns:p14="http://schemas.microsoft.com/office/powerpoint/2010/main" val="27317876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F6C3DF1-F9EC-B285-2E83-D56AE7F0639E}"/>
              </a:ext>
            </a:extLst>
          </p:cNvPr>
          <p:cNvSpPr>
            <a:spLocks noGrp="1"/>
          </p:cNvSpPr>
          <p:nvPr>
            <p:ph type="title"/>
          </p:nvPr>
        </p:nvSpPr>
        <p:spPr/>
        <p:txBody>
          <a:bodyPr/>
          <a:lstStyle/>
          <a:p>
            <a:r>
              <a:rPr kumimoji="1" lang="ja-JP" altLang="en-US" b="1" dirty="0"/>
              <a:t>パイプライン化の性能への影響</a:t>
            </a:r>
          </a:p>
        </p:txBody>
      </p:sp>
    </p:spTree>
    <p:extLst>
      <p:ext uri="{BB962C8B-B14F-4D97-AF65-F5344CB8AC3E}">
        <p14:creationId xmlns:p14="http://schemas.microsoft.com/office/powerpoint/2010/main" val="26506335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もくじ</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marL="457200" indent="-457200">
              <a:buFont typeface="+mj-lt"/>
              <a:buAutoNum type="arabicPeriod"/>
            </a:pPr>
            <a:r>
              <a:rPr kumimoji="1" lang="ja-JP" altLang="en-US" dirty="0"/>
              <a:t>上記のパイプライン化</a:t>
            </a:r>
            <a:endParaRPr kumimoji="1" lang="en-US" altLang="ja-JP" dirty="0"/>
          </a:p>
          <a:p>
            <a:pPr marL="457200" indent="-457200">
              <a:buFont typeface="+mj-lt"/>
              <a:buAutoNum type="arabicPeriod"/>
            </a:pPr>
            <a:r>
              <a:rPr kumimoji="1" lang="ja-JP" altLang="en-US" b="1" dirty="0"/>
              <a:t>パイプライン化の性能への影響</a:t>
            </a:r>
          </a:p>
        </p:txBody>
      </p:sp>
    </p:spTree>
    <p:extLst>
      <p:ext uri="{BB962C8B-B14F-4D97-AF65-F5344CB8AC3E}">
        <p14:creationId xmlns:p14="http://schemas.microsoft.com/office/powerpoint/2010/main" val="3249925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7" name="直線コネクタ 126"/>
          <p:cNvCxnSpPr/>
          <p:nvPr/>
        </p:nvCxnSpPr>
        <p:spPr bwMode="auto">
          <a:xfrm>
            <a:off x="2045955" y="2168986"/>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パイプライン化によるスループット向上</a:t>
            </a:r>
            <a:endParaRPr kumimoji="1" lang="ja-JP" altLang="en-US" dirty="0"/>
          </a:p>
        </p:txBody>
      </p:sp>
      <p:cxnSp>
        <p:nvCxnSpPr>
          <p:cNvPr id="96" name="直線矢印コネクタ 95"/>
          <p:cNvCxnSpPr/>
          <p:nvPr/>
        </p:nvCxnSpPr>
        <p:spPr bwMode="auto">
          <a:xfrm>
            <a:off x="2225962" y="1628980"/>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61" y="4599013"/>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135961" y="1178975"/>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7" y="4166749"/>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024826"/>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60"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60" y="3519001"/>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374841"/>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4923175"/>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4779015"/>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499023"/>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679025"/>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3" name="グループ化 12"/>
          <p:cNvGrpSpPr/>
          <p:nvPr/>
        </p:nvGrpSpPr>
        <p:grpSpPr>
          <a:xfrm>
            <a:off x="2765963" y="4779015"/>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499027"/>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2" name="グループ化 161"/>
          <p:cNvGrpSpPr/>
          <p:nvPr/>
        </p:nvGrpSpPr>
        <p:grpSpPr>
          <a:xfrm>
            <a:off x="2765963" y="1988984"/>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338999"/>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1668365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パイプライン化の意味</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パイプライン化の効果：</a:t>
            </a:r>
            <a:endParaRPr lang="en-US" altLang="ja-JP" dirty="0"/>
          </a:p>
          <a:p>
            <a:pPr lvl="1"/>
            <a:r>
              <a:rPr kumimoji="1" lang="ja-JP" altLang="en-US" dirty="0"/>
              <a:t>スループットの向上</a:t>
            </a:r>
            <a:endParaRPr kumimoji="1" lang="en-US" altLang="ja-JP" dirty="0"/>
          </a:p>
          <a:p>
            <a:pPr lvl="1"/>
            <a:r>
              <a:rPr kumimoji="1" lang="en-US" altLang="ja-JP" dirty="0"/>
              <a:t>= </a:t>
            </a:r>
            <a:r>
              <a:rPr kumimoji="1" lang="ja-JP" altLang="en-US" dirty="0"/>
              <a:t>単位時間あたりに処理できる命令の数の増加</a:t>
            </a:r>
            <a:endParaRPr kumimoji="1" lang="en-US" altLang="ja-JP" dirty="0"/>
          </a:p>
          <a:p>
            <a:pPr lvl="1"/>
            <a:r>
              <a:rPr kumimoji="1" lang="en-US" altLang="ja-JP" dirty="0"/>
              <a:t>= </a:t>
            </a:r>
            <a:r>
              <a:rPr kumimoji="1" lang="ja-JP" altLang="en-US" dirty="0">
                <a:solidFill>
                  <a:schemeClr val="accent5"/>
                </a:solidFill>
              </a:rPr>
              <a:t>動作クロック周波数の向上</a:t>
            </a:r>
            <a:endParaRPr kumimoji="1" lang="en-US" altLang="ja-JP" dirty="0">
              <a:solidFill>
                <a:schemeClr val="accent5"/>
              </a:solidFill>
            </a:endParaRPr>
          </a:p>
          <a:p>
            <a:r>
              <a:rPr kumimoji="1" lang="ja-JP" altLang="en-US" dirty="0"/>
              <a:t>これらは同じ事を言い換えてるだけ</a:t>
            </a:r>
            <a:endParaRPr kumimoji="1" lang="en-US" altLang="ja-JP" dirty="0"/>
          </a:p>
          <a:p>
            <a:pPr lvl="1"/>
            <a:endParaRPr kumimoji="1" lang="en-US" altLang="ja-JP" dirty="0">
              <a:solidFill>
                <a:schemeClr val="accent5"/>
              </a:solidFill>
            </a:endParaRPr>
          </a:p>
        </p:txBody>
      </p:sp>
    </p:spTree>
    <p:extLst>
      <p:ext uri="{BB962C8B-B14F-4D97-AF65-F5344CB8AC3E}">
        <p14:creationId xmlns:p14="http://schemas.microsoft.com/office/powerpoint/2010/main" val="2926440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2" name="直線コネクタ 181"/>
          <p:cNvCxnSpPr/>
          <p:nvPr/>
        </p:nvCxnSpPr>
        <p:spPr bwMode="auto">
          <a:xfrm flipV="1">
            <a:off x="3665973"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21" name="直線コネクタ 20"/>
          <p:cNvCxnSpPr/>
          <p:nvPr/>
        </p:nvCxnSpPr>
        <p:spPr bwMode="auto">
          <a:xfrm flipV="1">
            <a:off x="2765963" y="1358982"/>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78" name="直線コネクタ 177"/>
          <p:cNvCxnSpPr/>
          <p:nvPr/>
        </p:nvCxnSpPr>
        <p:spPr bwMode="auto">
          <a:xfrm flipH="1" flipV="1">
            <a:off x="5015993" y="1358982"/>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79" name="直線コネクタ 178"/>
          <p:cNvCxnSpPr/>
          <p:nvPr/>
        </p:nvCxnSpPr>
        <p:spPr bwMode="auto">
          <a:xfrm flipV="1">
            <a:off x="7266013" y="1358982"/>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0" name="直線コネクタ 179"/>
          <p:cNvCxnSpPr/>
          <p:nvPr/>
        </p:nvCxnSpPr>
        <p:spPr bwMode="auto">
          <a:xfrm flipV="1">
            <a:off x="2765963"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1" name="直線コネクタ 180"/>
          <p:cNvCxnSpPr/>
          <p:nvPr/>
        </p:nvCxnSpPr>
        <p:spPr bwMode="auto">
          <a:xfrm flipH="1" flipV="1">
            <a:off x="3215973" y="4239014"/>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27" name="直線コネクタ 126"/>
          <p:cNvCxnSpPr/>
          <p:nvPr/>
        </p:nvCxnSpPr>
        <p:spPr bwMode="auto">
          <a:xfrm>
            <a:off x="2045955" y="2403147"/>
            <a:ext cx="720080" cy="0"/>
          </a:xfrm>
          <a:prstGeom prst="line">
            <a:avLst/>
          </a:prstGeom>
          <a:noFill/>
          <a:ln w="9525" cap="flat" cmpd="sng" algn="ctr">
            <a:solidFill>
              <a:schemeClr val="tx1"/>
            </a:solidFill>
            <a:prstDash val="dash"/>
            <a:round/>
            <a:headEnd type="none" w="med" len="med"/>
            <a:tailEnd type="none" w="med" len="med"/>
          </a:ln>
          <a:effectLst/>
        </p:spPr>
      </p:cxnSp>
      <p:sp>
        <p:nvSpPr>
          <p:cNvPr id="2" name="タイトル 1"/>
          <p:cNvSpPr>
            <a:spLocks noGrp="1"/>
          </p:cNvSpPr>
          <p:nvPr>
            <p:ph type="title"/>
          </p:nvPr>
        </p:nvSpPr>
        <p:spPr/>
        <p:txBody>
          <a:bodyPr/>
          <a:lstStyle/>
          <a:p>
            <a:r>
              <a:rPr lang="ja-JP" altLang="en-US" dirty="0"/>
              <a:t>パイプライン化によるクロック周期の短縮</a:t>
            </a:r>
            <a:br>
              <a:rPr lang="en-US" altLang="ja-JP" dirty="0"/>
            </a:br>
            <a:r>
              <a:rPr lang="ja-JP" altLang="en-US" sz="2000" dirty="0"/>
              <a:t>クロックの立ち上がりごとに，１命令が処理</a:t>
            </a:r>
            <a:endParaRPr kumimoji="1" lang="ja-JP" altLang="en-US" dirty="0"/>
          </a:p>
        </p:txBody>
      </p:sp>
      <p:cxnSp>
        <p:nvCxnSpPr>
          <p:cNvPr id="96" name="直線矢印コネクタ 95"/>
          <p:cNvCxnSpPr/>
          <p:nvPr/>
        </p:nvCxnSpPr>
        <p:spPr bwMode="auto">
          <a:xfrm>
            <a:off x="2135961" y="1268976"/>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cxnSp>
        <p:nvCxnSpPr>
          <p:cNvPr id="143" name="直線矢印コネクタ 142"/>
          <p:cNvCxnSpPr/>
          <p:nvPr/>
        </p:nvCxnSpPr>
        <p:spPr bwMode="auto">
          <a:xfrm>
            <a:off x="2135961" y="4149008"/>
            <a:ext cx="8010089" cy="0"/>
          </a:xfrm>
          <a:prstGeom prst="straightConnector1">
            <a:avLst/>
          </a:prstGeom>
          <a:ln cap="rnd">
            <a:solidFill>
              <a:schemeClr val="tx1">
                <a:lumMod val="75000"/>
                <a:lumOff val="25000"/>
              </a:schemeClr>
            </a:solidFill>
            <a:headEnd type="none" w="med" len="med"/>
            <a:tailEnd type="arrow"/>
          </a:ln>
        </p:spPr>
        <p:style>
          <a:lnRef idx="2">
            <a:schemeClr val="dk1"/>
          </a:lnRef>
          <a:fillRef idx="0">
            <a:schemeClr val="dk1"/>
          </a:fillRef>
          <a:effectRef idx="1">
            <a:schemeClr val="dk1"/>
          </a:effectRef>
          <a:fontRef idx="minor">
            <a:schemeClr val="tx1"/>
          </a:fontRef>
        </p:style>
      </p:cxnSp>
      <p:sp>
        <p:nvSpPr>
          <p:cNvPr id="146" name="正方形/長方形 145"/>
          <p:cNvSpPr/>
          <p:nvPr/>
        </p:nvSpPr>
        <p:spPr>
          <a:xfrm>
            <a:off x="2045960" y="908972"/>
            <a:ext cx="2954655" cy="369332"/>
          </a:xfrm>
          <a:prstGeom prst="rect">
            <a:avLst/>
          </a:prstGeom>
        </p:spPr>
        <p:txBody>
          <a:bodyPr wrap="none">
            <a:spAutoFit/>
          </a:bodyPr>
          <a:lstStyle/>
          <a:p>
            <a:r>
              <a:rPr lang="ja-JP" altLang="en-US" dirty="0">
                <a:solidFill>
                  <a:schemeClr val="tx1">
                    <a:lumMod val="65000"/>
                    <a:lumOff val="35000"/>
                  </a:schemeClr>
                </a:solidFill>
              </a:rPr>
              <a:t>パイプライン化しない場合</a:t>
            </a:r>
          </a:p>
        </p:txBody>
      </p:sp>
      <p:sp>
        <p:nvSpPr>
          <p:cNvPr id="153" name="正方形/長方形 152"/>
          <p:cNvSpPr/>
          <p:nvPr/>
        </p:nvSpPr>
        <p:spPr>
          <a:xfrm>
            <a:off x="2027967" y="3716744"/>
            <a:ext cx="2723823" cy="369332"/>
          </a:xfrm>
          <a:prstGeom prst="rect">
            <a:avLst/>
          </a:prstGeom>
        </p:spPr>
        <p:txBody>
          <a:bodyPr wrap="none">
            <a:spAutoFit/>
          </a:bodyPr>
          <a:lstStyle/>
          <a:p>
            <a:r>
              <a:rPr lang="ja-JP" altLang="en-US" dirty="0">
                <a:solidFill>
                  <a:schemeClr val="tx1">
                    <a:lumMod val="65000"/>
                    <a:lumOff val="35000"/>
                  </a:schemeClr>
                </a:solidFill>
              </a:rPr>
              <a:t>パイプライン化した場合</a:t>
            </a:r>
          </a:p>
        </p:txBody>
      </p:sp>
      <p:sp>
        <p:nvSpPr>
          <p:cNvPr id="128" name="角丸四角形 127"/>
          <p:cNvSpPr/>
          <p:nvPr/>
        </p:nvSpPr>
        <p:spPr bwMode="auto">
          <a:xfrm>
            <a:off x="1671471" y="2258987"/>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cxnSp>
        <p:nvCxnSpPr>
          <p:cNvPr id="132" name="直線コネクタ 131"/>
          <p:cNvCxnSpPr>
            <a:endCxn id="169" idx="1"/>
          </p:cNvCxnSpPr>
          <p:nvPr/>
        </p:nvCxnSpPr>
        <p:spPr bwMode="auto">
          <a:xfrm flipV="1">
            <a:off x="2045960" y="2888992"/>
            <a:ext cx="2970033" cy="2"/>
          </a:xfrm>
          <a:prstGeom prst="line">
            <a:avLst/>
          </a:prstGeom>
          <a:noFill/>
          <a:ln w="9525" cap="flat" cmpd="sng" algn="ctr">
            <a:solidFill>
              <a:schemeClr val="tx1"/>
            </a:solidFill>
            <a:prstDash val="dash"/>
            <a:round/>
            <a:headEnd type="none" w="med" len="med"/>
            <a:tailEnd type="none" w="med" len="med"/>
          </a:ln>
          <a:effectLst/>
        </p:spPr>
      </p:cxnSp>
      <p:sp>
        <p:nvSpPr>
          <p:cNvPr id="133" name="角丸四角形 132"/>
          <p:cNvSpPr/>
          <p:nvPr/>
        </p:nvSpPr>
        <p:spPr bwMode="auto">
          <a:xfrm>
            <a:off x="1671471" y="2744834"/>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cxnSp>
        <p:nvCxnSpPr>
          <p:cNvPr id="134" name="直線コネクタ 133"/>
          <p:cNvCxnSpPr/>
          <p:nvPr/>
        </p:nvCxnSpPr>
        <p:spPr bwMode="auto">
          <a:xfrm>
            <a:off x="2045960" y="3338999"/>
            <a:ext cx="5310059" cy="0"/>
          </a:xfrm>
          <a:prstGeom prst="line">
            <a:avLst/>
          </a:prstGeom>
          <a:noFill/>
          <a:ln w="9525" cap="flat" cmpd="sng" algn="ctr">
            <a:solidFill>
              <a:schemeClr val="tx1"/>
            </a:solidFill>
            <a:prstDash val="dash"/>
            <a:round/>
            <a:headEnd type="none" w="med" len="med"/>
            <a:tailEnd type="none" w="med" len="med"/>
          </a:ln>
          <a:effectLst/>
        </p:spPr>
      </p:cxnSp>
      <p:sp>
        <p:nvSpPr>
          <p:cNvPr id="135" name="角丸四角形 134"/>
          <p:cNvSpPr/>
          <p:nvPr/>
        </p:nvSpPr>
        <p:spPr bwMode="auto">
          <a:xfrm>
            <a:off x="1671471" y="3194839"/>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36" name="直線コネクタ 135"/>
          <p:cNvCxnSpPr/>
          <p:nvPr/>
        </p:nvCxnSpPr>
        <p:spPr bwMode="auto">
          <a:xfrm>
            <a:off x="2060435" y="5373180"/>
            <a:ext cx="720080" cy="0"/>
          </a:xfrm>
          <a:prstGeom prst="line">
            <a:avLst/>
          </a:prstGeom>
          <a:noFill/>
          <a:ln w="9525" cap="flat" cmpd="sng" algn="ctr">
            <a:solidFill>
              <a:schemeClr val="tx1"/>
            </a:solidFill>
            <a:prstDash val="dash"/>
            <a:round/>
            <a:headEnd type="none" w="med" len="med"/>
            <a:tailEnd type="none" w="med" len="med"/>
          </a:ln>
          <a:effectLst/>
        </p:spPr>
      </p:cxnSp>
      <p:sp>
        <p:nvSpPr>
          <p:cNvPr id="137" name="角丸四角形 136"/>
          <p:cNvSpPr/>
          <p:nvPr/>
        </p:nvSpPr>
        <p:spPr bwMode="auto">
          <a:xfrm>
            <a:off x="1685951" y="522902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I0</a:t>
            </a:r>
            <a:endParaRPr lang="ja-JP" altLang="en-US" b="1" dirty="0">
              <a:latin typeface="Courier New" panose="02070309020205020404" pitchFamily="49" charset="0"/>
              <a:cs typeface="Courier New" panose="02070309020205020404" pitchFamily="49" charset="0"/>
            </a:endParaRPr>
          </a:p>
        </p:txBody>
      </p:sp>
      <p:sp>
        <p:nvSpPr>
          <p:cNvPr id="138" name="角丸四角形 137"/>
          <p:cNvSpPr/>
          <p:nvPr/>
        </p:nvSpPr>
        <p:spPr bwMode="auto">
          <a:xfrm>
            <a:off x="1685951" y="5679025"/>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I1</a:t>
            </a:r>
            <a:endParaRPr lang="ja-JP" altLang="en-US" b="1" dirty="0">
              <a:latin typeface="Courier New" panose="02070309020205020404" pitchFamily="49" charset="0"/>
              <a:cs typeface="Courier New" panose="02070309020205020404" pitchFamily="49" charset="0"/>
            </a:endParaRPr>
          </a:p>
        </p:txBody>
      </p:sp>
      <p:sp>
        <p:nvSpPr>
          <p:cNvPr id="139" name="角丸四角形 138"/>
          <p:cNvSpPr/>
          <p:nvPr/>
        </p:nvSpPr>
        <p:spPr bwMode="auto">
          <a:xfrm>
            <a:off x="1685951" y="6129030"/>
            <a:ext cx="432300"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b="1" dirty="0">
                <a:latin typeface="Courier New" panose="02070309020205020404" pitchFamily="49" charset="0"/>
                <a:cs typeface="Courier New" panose="02070309020205020404" pitchFamily="49" charset="0"/>
              </a:rPr>
              <a:t>I2</a:t>
            </a:r>
            <a:endParaRPr lang="ja-JP" altLang="en-US" b="1" dirty="0">
              <a:latin typeface="Courier New" panose="02070309020205020404" pitchFamily="49" charset="0"/>
              <a:cs typeface="Courier New" panose="02070309020205020404" pitchFamily="49" charset="0"/>
            </a:endParaRPr>
          </a:p>
        </p:txBody>
      </p:sp>
      <p:cxnSp>
        <p:nvCxnSpPr>
          <p:cNvPr id="140" name="直線コネクタ 139"/>
          <p:cNvCxnSpPr>
            <a:endCxn id="150" idx="1"/>
          </p:cNvCxnSpPr>
          <p:nvPr/>
        </p:nvCxnSpPr>
        <p:spPr bwMode="auto">
          <a:xfrm>
            <a:off x="2135956" y="5859027"/>
            <a:ext cx="1080012" cy="2"/>
          </a:xfrm>
          <a:prstGeom prst="line">
            <a:avLst/>
          </a:prstGeom>
          <a:noFill/>
          <a:ln w="9525" cap="flat" cmpd="sng" algn="ctr">
            <a:solidFill>
              <a:schemeClr val="tx1"/>
            </a:solidFill>
            <a:prstDash val="dash"/>
            <a:round/>
            <a:headEnd type="none" w="med" len="med"/>
            <a:tailEnd type="none" w="med" len="med"/>
          </a:ln>
          <a:effectLst/>
        </p:spPr>
      </p:cxnSp>
      <p:cxnSp>
        <p:nvCxnSpPr>
          <p:cNvPr id="141" name="直線コネクタ 140"/>
          <p:cNvCxnSpPr>
            <a:stCxn id="139" idx="3"/>
            <a:endCxn id="157" idx="1"/>
          </p:cNvCxnSpPr>
          <p:nvPr/>
        </p:nvCxnSpPr>
        <p:spPr bwMode="auto">
          <a:xfrm flipV="1">
            <a:off x="2118251" y="6309030"/>
            <a:ext cx="1547722" cy="2"/>
          </a:xfrm>
          <a:prstGeom prst="line">
            <a:avLst/>
          </a:prstGeom>
          <a:noFill/>
          <a:ln w="9525" cap="flat" cmpd="sng" algn="ctr">
            <a:solidFill>
              <a:schemeClr val="tx1"/>
            </a:solidFill>
            <a:prstDash val="dash"/>
            <a:round/>
            <a:headEnd type="none" w="med" len="med"/>
            <a:tailEnd type="none" w="med" len="med"/>
          </a:ln>
          <a:effectLst/>
        </p:spPr>
      </p:cxnSp>
      <p:grpSp>
        <p:nvGrpSpPr>
          <p:cNvPr id="162" name="グループ化 161"/>
          <p:cNvGrpSpPr/>
          <p:nvPr/>
        </p:nvGrpSpPr>
        <p:grpSpPr>
          <a:xfrm>
            <a:off x="2765963" y="2223145"/>
            <a:ext cx="2160020" cy="360000"/>
            <a:chOff x="4481999" y="4959017"/>
            <a:chExt cx="2160020" cy="360000"/>
          </a:xfrm>
        </p:grpSpPr>
        <p:sp>
          <p:nvSpPr>
            <p:cNvPr id="163"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6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6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6"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7"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68" name="グループ化 167"/>
          <p:cNvGrpSpPr/>
          <p:nvPr/>
        </p:nvGrpSpPr>
        <p:grpSpPr>
          <a:xfrm>
            <a:off x="5015988" y="2708992"/>
            <a:ext cx="2160020" cy="360000"/>
            <a:chOff x="4481999" y="4959017"/>
            <a:chExt cx="2160020" cy="360000"/>
          </a:xfrm>
        </p:grpSpPr>
        <p:sp>
          <p:nvSpPr>
            <p:cNvPr id="169"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70"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71"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11"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1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219" name="グループ化 218"/>
          <p:cNvGrpSpPr/>
          <p:nvPr/>
        </p:nvGrpSpPr>
        <p:grpSpPr>
          <a:xfrm>
            <a:off x="7266013" y="3158997"/>
            <a:ext cx="2160020" cy="360000"/>
            <a:chOff x="4481999" y="4959017"/>
            <a:chExt cx="2160020" cy="360000"/>
          </a:xfrm>
        </p:grpSpPr>
        <p:sp>
          <p:nvSpPr>
            <p:cNvPr id="22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22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22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223"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224"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cxnSp>
        <p:nvCxnSpPr>
          <p:cNvPr id="78" name="直線コネクタ 77"/>
          <p:cNvCxnSpPr/>
          <p:nvPr/>
        </p:nvCxnSpPr>
        <p:spPr bwMode="auto">
          <a:xfrm flipV="1">
            <a:off x="2765963"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79" name="直線コネクタ 78"/>
          <p:cNvCxnSpPr/>
          <p:nvPr/>
        </p:nvCxnSpPr>
        <p:spPr bwMode="auto">
          <a:xfrm flipH="1">
            <a:off x="2765969"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0" name="直線コネクタ 79"/>
          <p:cNvCxnSpPr/>
          <p:nvPr/>
        </p:nvCxnSpPr>
        <p:spPr bwMode="auto">
          <a:xfrm flipV="1">
            <a:off x="3845975"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1" name="直線コネクタ 80"/>
          <p:cNvCxnSpPr/>
          <p:nvPr/>
        </p:nvCxnSpPr>
        <p:spPr bwMode="auto">
          <a:xfrm flipH="1">
            <a:off x="3845980"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2" name="直線コネクタ 81"/>
          <p:cNvCxnSpPr/>
          <p:nvPr/>
        </p:nvCxnSpPr>
        <p:spPr bwMode="auto">
          <a:xfrm flipV="1">
            <a:off x="5015988"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3" name="直線コネクタ 82"/>
          <p:cNvCxnSpPr/>
          <p:nvPr/>
        </p:nvCxnSpPr>
        <p:spPr bwMode="auto">
          <a:xfrm flipH="1">
            <a:off x="5015994"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4" name="直線コネクタ 83"/>
          <p:cNvCxnSpPr/>
          <p:nvPr/>
        </p:nvCxnSpPr>
        <p:spPr bwMode="auto">
          <a:xfrm flipV="1">
            <a:off x="6096000"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5" name="直線コネクタ 84"/>
          <p:cNvCxnSpPr/>
          <p:nvPr/>
        </p:nvCxnSpPr>
        <p:spPr bwMode="auto">
          <a:xfrm flipH="1">
            <a:off x="6096005"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6" name="直線コネクタ 85"/>
          <p:cNvCxnSpPr/>
          <p:nvPr/>
        </p:nvCxnSpPr>
        <p:spPr bwMode="auto">
          <a:xfrm flipV="1">
            <a:off x="7266013"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7" name="直線コネクタ 86"/>
          <p:cNvCxnSpPr/>
          <p:nvPr/>
        </p:nvCxnSpPr>
        <p:spPr bwMode="auto">
          <a:xfrm flipH="1">
            <a:off x="7266019" y="1448978"/>
            <a:ext cx="1080011"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8" name="直線コネクタ 87"/>
          <p:cNvCxnSpPr/>
          <p:nvPr/>
        </p:nvCxnSpPr>
        <p:spPr bwMode="auto">
          <a:xfrm flipV="1">
            <a:off x="8346025"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89" name="直線コネクタ 88"/>
          <p:cNvCxnSpPr/>
          <p:nvPr/>
        </p:nvCxnSpPr>
        <p:spPr bwMode="auto">
          <a:xfrm flipH="1">
            <a:off x="8346030" y="1988984"/>
            <a:ext cx="1170013" cy="0"/>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0" name="直線コネクタ 89"/>
          <p:cNvCxnSpPr/>
          <p:nvPr/>
        </p:nvCxnSpPr>
        <p:spPr bwMode="auto">
          <a:xfrm flipV="1">
            <a:off x="9516038" y="1448978"/>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1" name="直線コネクタ 90"/>
          <p:cNvCxnSpPr/>
          <p:nvPr/>
        </p:nvCxnSpPr>
        <p:spPr bwMode="auto">
          <a:xfrm flipV="1">
            <a:off x="276596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2" name="直線コネクタ 91"/>
          <p:cNvCxnSpPr/>
          <p:nvPr/>
        </p:nvCxnSpPr>
        <p:spPr bwMode="auto">
          <a:xfrm flipH="1">
            <a:off x="2765970"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4" name="直線コネクタ 93"/>
          <p:cNvCxnSpPr/>
          <p:nvPr/>
        </p:nvCxnSpPr>
        <p:spPr bwMode="auto">
          <a:xfrm flipH="1" flipV="1">
            <a:off x="2991005"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7" name="直線コネクタ 96"/>
          <p:cNvCxnSpPr/>
          <p:nvPr/>
        </p:nvCxnSpPr>
        <p:spPr bwMode="auto">
          <a:xfrm flipV="1">
            <a:off x="299100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8" name="直線コネクタ 107"/>
          <p:cNvCxnSpPr/>
          <p:nvPr/>
        </p:nvCxnSpPr>
        <p:spPr bwMode="auto">
          <a:xfrm flipV="1">
            <a:off x="321596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9" name="直線コネクタ 108"/>
          <p:cNvCxnSpPr/>
          <p:nvPr/>
        </p:nvCxnSpPr>
        <p:spPr bwMode="auto">
          <a:xfrm flipH="1">
            <a:off x="3215975"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0" name="直線コネクタ 109"/>
          <p:cNvCxnSpPr/>
          <p:nvPr/>
        </p:nvCxnSpPr>
        <p:spPr bwMode="auto">
          <a:xfrm flipH="1" flipV="1">
            <a:off x="3441010"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1" name="直線コネクタ 110"/>
          <p:cNvCxnSpPr/>
          <p:nvPr/>
        </p:nvCxnSpPr>
        <p:spPr bwMode="auto">
          <a:xfrm flipV="1">
            <a:off x="344100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2" name="直線コネクタ 111"/>
          <p:cNvCxnSpPr/>
          <p:nvPr/>
        </p:nvCxnSpPr>
        <p:spPr bwMode="auto">
          <a:xfrm flipV="1">
            <a:off x="366597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3" name="直線コネクタ 112"/>
          <p:cNvCxnSpPr/>
          <p:nvPr/>
        </p:nvCxnSpPr>
        <p:spPr bwMode="auto">
          <a:xfrm flipH="1">
            <a:off x="3665980"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4" name="直線コネクタ 113"/>
          <p:cNvCxnSpPr/>
          <p:nvPr/>
        </p:nvCxnSpPr>
        <p:spPr bwMode="auto">
          <a:xfrm flipH="1" flipV="1">
            <a:off x="3891015"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5" name="直線コネクタ 114"/>
          <p:cNvCxnSpPr/>
          <p:nvPr/>
        </p:nvCxnSpPr>
        <p:spPr bwMode="auto">
          <a:xfrm flipV="1">
            <a:off x="389101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6" name="直線コネクタ 115"/>
          <p:cNvCxnSpPr/>
          <p:nvPr/>
        </p:nvCxnSpPr>
        <p:spPr bwMode="auto">
          <a:xfrm flipV="1">
            <a:off x="411597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7" name="直線コネクタ 116"/>
          <p:cNvCxnSpPr/>
          <p:nvPr/>
        </p:nvCxnSpPr>
        <p:spPr bwMode="auto">
          <a:xfrm flipH="1">
            <a:off x="4115985"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8" name="直線コネクタ 117"/>
          <p:cNvCxnSpPr/>
          <p:nvPr/>
        </p:nvCxnSpPr>
        <p:spPr bwMode="auto">
          <a:xfrm flipH="1" flipV="1">
            <a:off x="4341020"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19" name="直線コネクタ 118"/>
          <p:cNvCxnSpPr/>
          <p:nvPr/>
        </p:nvCxnSpPr>
        <p:spPr bwMode="auto">
          <a:xfrm flipV="1">
            <a:off x="434101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0" name="直線コネクタ 119"/>
          <p:cNvCxnSpPr/>
          <p:nvPr/>
        </p:nvCxnSpPr>
        <p:spPr bwMode="auto">
          <a:xfrm flipV="1">
            <a:off x="456598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1" name="直線コネクタ 120"/>
          <p:cNvCxnSpPr/>
          <p:nvPr/>
        </p:nvCxnSpPr>
        <p:spPr bwMode="auto">
          <a:xfrm flipH="1">
            <a:off x="4565990"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2" name="直線コネクタ 121"/>
          <p:cNvCxnSpPr/>
          <p:nvPr/>
        </p:nvCxnSpPr>
        <p:spPr bwMode="auto">
          <a:xfrm flipH="1" flipV="1">
            <a:off x="4791025"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3" name="直線コネクタ 122"/>
          <p:cNvCxnSpPr/>
          <p:nvPr/>
        </p:nvCxnSpPr>
        <p:spPr bwMode="auto">
          <a:xfrm flipV="1">
            <a:off x="479102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4" name="直線コネクタ 123"/>
          <p:cNvCxnSpPr/>
          <p:nvPr/>
        </p:nvCxnSpPr>
        <p:spPr bwMode="auto">
          <a:xfrm flipV="1">
            <a:off x="501598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5" name="直線コネクタ 124"/>
          <p:cNvCxnSpPr/>
          <p:nvPr/>
        </p:nvCxnSpPr>
        <p:spPr bwMode="auto">
          <a:xfrm flipH="1">
            <a:off x="5015995"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6" name="直線コネクタ 125"/>
          <p:cNvCxnSpPr/>
          <p:nvPr/>
        </p:nvCxnSpPr>
        <p:spPr bwMode="auto">
          <a:xfrm flipH="1" flipV="1">
            <a:off x="5241030"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29" name="直線コネクタ 128"/>
          <p:cNvCxnSpPr/>
          <p:nvPr/>
        </p:nvCxnSpPr>
        <p:spPr bwMode="auto">
          <a:xfrm flipV="1">
            <a:off x="524102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30" name="直線コネクタ 129"/>
          <p:cNvCxnSpPr/>
          <p:nvPr/>
        </p:nvCxnSpPr>
        <p:spPr bwMode="auto">
          <a:xfrm flipV="1">
            <a:off x="5465993"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31" name="直線コネクタ 130"/>
          <p:cNvCxnSpPr/>
          <p:nvPr/>
        </p:nvCxnSpPr>
        <p:spPr bwMode="auto">
          <a:xfrm flipH="1">
            <a:off x="5466000"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2" name="直線コネクタ 171"/>
          <p:cNvCxnSpPr/>
          <p:nvPr/>
        </p:nvCxnSpPr>
        <p:spPr bwMode="auto">
          <a:xfrm flipH="1" flipV="1">
            <a:off x="5691035"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3" name="直線コネクタ 172"/>
          <p:cNvCxnSpPr/>
          <p:nvPr/>
        </p:nvCxnSpPr>
        <p:spPr bwMode="auto">
          <a:xfrm flipV="1">
            <a:off x="5691030"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4" name="直線コネクタ 173"/>
          <p:cNvCxnSpPr/>
          <p:nvPr/>
        </p:nvCxnSpPr>
        <p:spPr bwMode="auto">
          <a:xfrm flipV="1">
            <a:off x="5915998" y="4419011"/>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5" name="直線コネクタ 174"/>
          <p:cNvCxnSpPr/>
          <p:nvPr/>
        </p:nvCxnSpPr>
        <p:spPr bwMode="auto">
          <a:xfrm flipH="1">
            <a:off x="5916005" y="4419005"/>
            <a:ext cx="225035" cy="11"/>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6" name="直線コネクタ 175"/>
          <p:cNvCxnSpPr/>
          <p:nvPr/>
        </p:nvCxnSpPr>
        <p:spPr bwMode="auto">
          <a:xfrm flipH="1" flipV="1">
            <a:off x="6141040" y="4959005"/>
            <a:ext cx="224969" cy="17"/>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77" name="直線コネクタ 176"/>
          <p:cNvCxnSpPr/>
          <p:nvPr/>
        </p:nvCxnSpPr>
        <p:spPr bwMode="auto">
          <a:xfrm flipV="1">
            <a:off x="6141035" y="4419000"/>
            <a:ext cx="0" cy="540006"/>
          </a:xfrm>
          <a:prstGeom prst="line">
            <a:avLst/>
          </a:prstGeom>
          <a:ln w="19050"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83" name="直線コネクタ 182"/>
          <p:cNvCxnSpPr/>
          <p:nvPr/>
        </p:nvCxnSpPr>
        <p:spPr bwMode="auto">
          <a:xfrm flipV="1">
            <a:off x="5015988"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4" name="直線コネクタ 183"/>
          <p:cNvCxnSpPr/>
          <p:nvPr/>
        </p:nvCxnSpPr>
        <p:spPr bwMode="auto">
          <a:xfrm flipV="1">
            <a:off x="4115978"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5" name="直線コネクタ 184"/>
          <p:cNvCxnSpPr/>
          <p:nvPr/>
        </p:nvCxnSpPr>
        <p:spPr bwMode="auto">
          <a:xfrm flipH="1" flipV="1">
            <a:off x="4565988" y="4239014"/>
            <a:ext cx="3771" cy="2250071"/>
          </a:xfrm>
          <a:prstGeom prst="line">
            <a:avLst/>
          </a:prstGeom>
          <a:noFill/>
          <a:ln w="9525" cap="flat" cmpd="sng" algn="ctr">
            <a:solidFill>
              <a:schemeClr val="tx1"/>
            </a:solidFill>
            <a:prstDash val="solid"/>
            <a:round/>
            <a:headEnd type="none" w="med" len="med"/>
            <a:tailEnd type="none" w="med" len="med"/>
          </a:ln>
          <a:effectLst/>
        </p:spPr>
      </p:cxnSp>
      <p:cxnSp>
        <p:nvCxnSpPr>
          <p:cNvPr id="186" name="直線コネクタ 185"/>
          <p:cNvCxnSpPr/>
          <p:nvPr/>
        </p:nvCxnSpPr>
        <p:spPr bwMode="auto">
          <a:xfrm flipV="1">
            <a:off x="6366003"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7" name="直線コネクタ 186"/>
          <p:cNvCxnSpPr/>
          <p:nvPr/>
        </p:nvCxnSpPr>
        <p:spPr bwMode="auto">
          <a:xfrm flipV="1">
            <a:off x="5465993" y="4239014"/>
            <a:ext cx="0" cy="2250025"/>
          </a:xfrm>
          <a:prstGeom prst="line">
            <a:avLst/>
          </a:prstGeom>
          <a:noFill/>
          <a:ln w="9525" cap="flat" cmpd="sng" algn="ctr">
            <a:solidFill>
              <a:schemeClr val="tx1"/>
            </a:solidFill>
            <a:prstDash val="solid"/>
            <a:round/>
            <a:headEnd type="none" w="med" len="med"/>
            <a:tailEnd type="none" w="med" len="med"/>
          </a:ln>
          <a:effectLst/>
        </p:spPr>
      </p:cxnSp>
      <p:cxnSp>
        <p:nvCxnSpPr>
          <p:cNvPr id="188" name="直線コネクタ 187"/>
          <p:cNvCxnSpPr/>
          <p:nvPr/>
        </p:nvCxnSpPr>
        <p:spPr bwMode="auto">
          <a:xfrm flipH="1" flipV="1">
            <a:off x="5916003" y="4239014"/>
            <a:ext cx="3771" cy="2250071"/>
          </a:xfrm>
          <a:prstGeom prst="line">
            <a:avLst/>
          </a:prstGeom>
          <a:noFill/>
          <a:ln w="9525" cap="flat" cmpd="sng" algn="ctr">
            <a:solidFill>
              <a:schemeClr val="tx1"/>
            </a:solidFill>
            <a:prstDash val="solid"/>
            <a:round/>
            <a:headEnd type="none" w="med" len="med"/>
            <a:tailEnd type="none" w="med" len="med"/>
          </a:ln>
          <a:effectLst/>
        </p:spPr>
      </p:cxnSp>
      <p:grpSp>
        <p:nvGrpSpPr>
          <p:cNvPr id="13" name="グループ化 12"/>
          <p:cNvGrpSpPr/>
          <p:nvPr/>
        </p:nvGrpSpPr>
        <p:grpSpPr>
          <a:xfrm>
            <a:off x="2765963" y="5229020"/>
            <a:ext cx="2160020" cy="360000"/>
            <a:chOff x="4481999" y="4959017"/>
            <a:chExt cx="2160020" cy="360000"/>
          </a:xfrm>
        </p:grpSpPr>
        <p:sp>
          <p:nvSpPr>
            <p:cNvPr id="142"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44"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45"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47"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48"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49" name="グループ化 148"/>
          <p:cNvGrpSpPr/>
          <p:nvPr/>
        </p:nvGrpSpPr>
        <p:grpSpPr>
          <a:xfrm>
            <a:off x="3215968" y="5679029"/>
            <a:ext cx="2160020" cy="360000"/>
            <a:chOff x="4481999" y="4959017"/>
            <a:chExt cx="2160020" cy="360000"/>
          </a:xfrm>
        </p:grpSpPr>
        <p:sp>
          <p:nvSpPr>
            <p:cNvPr id="150"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1"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2"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54"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55"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grpSp>
        <p:nvGrpSpPr>
          <p:cNvPr id="156" name="グループ化 155"/>
          <p:cNvGrpSpPr/>
          <p:nvPr/>
        </p:nvGrpSpPr>
        <p:grpSpPr>
          <a:xfrm>
            <a:off x="3665973" y="6129030"/>
            <a:ext cx="2160020" cy="360000"/>
            <a:chOff x="4481999" y="4959017"/>
            <a:chExt cx="2160020" cy="360000"/>
          </a:xfrm>
        </p:grpSpPr>
        <p:sp>
          <p:nvSpPr>
            <p:cNvPr id="157" name="Rectangle 69"/>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IF</a:t>
              </a:r>
            </a:p>
          </p:txBody>
        </p:sp>
        <p:sp>
          <p:nvSpPr>
            <p:cNvPr id="158" name="Rectangle 70"/>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ID</a:t>
              </a:r>
            </a:p>
          </p:txBody>
        </p:sp>
        <p:sp>
          <p:nvSpPr>
            <p:cNvPr id="159" name="Rectangle 71"/>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a:t>EX</a:t>
              </a:r>
            </a:p>
          </p:txBody>
        </p:sp>
        <p:sp>
          <p:nvSpPr>
            <p:cNvPr id="160" name="Rectangle 72"/>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200"/>
                <a:t>MEM</a:t>
              </a:r>
            </a:p>
          </p:txBody>
        </p:sp>
        <p:sp>
          <p:nvSpPr>
            <p:cNvPr id="161" name="Rectangle 73"/>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WB</a:t>
              </a:r>
            </a:p>
          </p:txBody>
        </p:sp>
      </p:grpSp>
    </p:spTree>
    <p:extLst>
      <p:ext uri="{BB962C8B-B14F-4D97-AF65-F5344CB8AC3E}">
        <p14:creationId xmlns:p14="http://schemas.microsoft.com/office/powerpoint/2010/main" val="28870227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グループ化 8"/>
          <p:cNvGrpSpPr/>
          <p:nvPr/>
        </p:nvGrpSpPr>
        <p:grpSpPr>
          <a:xfrm>
            <a:off x="4655984" y="2168990"/>
            <a:ext cx="2700030" cy="990011"/>
            <a:chOff x="3221985" y="3338999"/>
            <a:chExt cx="3510039" cy="1260014"/>
          </a:xfrm>
        </p:grpSpPr>
        <p:sp>
          <p:nvSpPr>
            <p:cNvPr id="29" name="Line 9"/>
            <p:cNvSpPr>
              <a:spLocks noChangeShapeType="1"/>
            </p:cNvSpPr>
            <p:nvPr/>
          </p:nvSpPr>
          <p:spPr bwMode="auto">
            <a:xfrm>
              <a:off x="3222113" y="3518387"/>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0" name="Line 10"/>
            <p:cNvSpPr>
              <a:spLocks noChangeShapeType="1"/>
            </p:cNvSpPr>
            <p:nvPr/>
          </p:nvSpPr>
          <p:spPr bwMode="auto">
            <a:xfrm>
              <a:off x="3222113" y="3878749"/>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1" name="Line 11"/>
            <p:cNvSpPr>
              <a:spLocks noChangeShapeType="1"/>
            </p:cNvSpPr>
            <p:nvPr/>
          </p:nvSpPr>
          <p:spPr bwMode="auto">
            <a:xfrm>
              <a:off x="4212713" y="3697774"/>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2" name="Line 12"/>
            <p:cNvSpPr>
              <a:spLocks noChangeShapeType="1"/>
            </p:cNvSpPr>
            <p:nvPr/>
          </p:nvSpPr>
          <p:spPr bwMode="auto">
            <a:xfrm flipV="1">
              <a:off x="4662129" y="3699003"/>
              <a:ext cx="89873" cy="973"/>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3" name="Line 13"/>
            <p:cNvSpPr>
              <a:spLocks noChangeShapeType="1"/>
            </p:cNvSpPr>
            <p:nvPr/>
          </p:nvSpPr>
          <p:spPr bwMode="auto">
            <a:xfrm flipV="1">
              <a:off x="4482127" y="4059007"/>
              <a:ext cx="269875" cy="133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34" name="Line 14"/>
            <p:cNvSpPr>
              <a:spLocks noChangeShapeType="1"/>
            </p:cNvSpPr>
            <p:nvPr/>
          </p:nvSpPr>
          <p:spPr bwMode="auto">
            <a:xfrm flipV="1">
              <a:off x="5382009" y="3879005"/>
              <a:ext cx="358775" cy="1588"/>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5" name="Picture 7" descr="OR"/>
            <p:cNvPicPr>
              <a:picLocks noChangeAspect="1" noChangeArrowheads="1"/>
            </p:cNvPicPr>
            <p:nvPr/>
          </p:nvPicPr>
          <p:blipFill>
            <a:blip r:embed="rId2" cstate="print"/>
            <a:srcRect/>
            <a:stretch>
              <a:fillRect/>
            </a:stretch>
          </p:blipFill>
          <p:spPr bwMode="auto">
            <a:xfrm>
              <a:off x="4572000" y="3519001"/>
              <a:ext cx="1079500" cy="717550"/>
            </a:xfrm>
            <a:prstGeom prst="rect">
              <a:avLst/>
            </a:prstGeom>
            <a:noFill/>
          </p:spPr>
        </p:pic>
        <p:pic>
          <p:nvPicPr>
            <p:cNvPr id="36" name="Picture 6" descr="AND"/>
            <p:cNvPicPr>
              <a:picLocks noChangeAspect="1" noChangeArrowheads="1"/>
            </p:cNvPicPr>
            <p:nvPr/>
          </p:nvPicPr>
          <p:blipFill>
            <a:blip r:embed="rId3" cstate="print"/>
            <a:srcRect/>
            <a:stretch>
              <a:fillRect/>
            </a:stretch>
          </p:blipFill>
          <p:spPr bwMode="auto">
            <a:xfrm>
              <a:off x="3491988" y="3338999"/>
              <a:ext cx="1079500" cy="720725"/>
            </a:xfrm>
            <a:prstGeom prst="rect">
              <a:avLst/>
            </a:prstGeom>
            <a:noFill/>
          </p:spPr>
        </p:pic>
        <p:sp>
          <p:nvSpPr>
            <p:cNvPr id="37" name="Line 10"/>
            <p:cNvSpPr>
              <a:spLocks noChangeShapeType="1"/>
            </p:cNvSpPr>
            <p:nvPr/>
          </p:nvSpPr>
          <p:spPr bwMode="auto">
            <a:xfrm>
              <a:off x="5472138" y="4238753"/>
              <a:ext cx="449262"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pic>
          <p:nvPicPr>
            <p:cNvPr id="38" name="Picture 6" descr="AND"/>
            <p:cNvPicPr>
              <a:picLocks noChangeAspect="1" noChangeArrowheads="1"/>
            </p:cNvPicPr>
            <p:nvPr/>
          </p:nvPicPr>
          <p:blipFill>
            <a:blip r:embed="rId3" cstate="print"/>
            <a:srcRect/>
            <a:stretch>
              <a:fillRect/>
            </a:stretch>
          </p:blipFill>
          <p:spPr bwMode="auto">
            <a:xfrm>
              <a:off x="5652012" y="3699003"/>
              <a:ext cx="1079500" cy="720725"/>
            </a:xfrm>
            <a:prstGeom prst="rect">
              <a:avLst/>
            </a:prstGeom>
            <a:noFill/>
          </p:spPr>
        </p:pic>
        <p:sp>
          <p:nvSpPr>
            <p:cNvPr id="39" name="Line 13"/>
            <p:cNvSpPr>
              <a:spLocks noChangeShapeType="1"/>
            </p:cNvSpPr>
            <p:nvPr/>
          </p:nvSpPr>
          <p:spPr bwMode="auto">
            <a:xfrm flipV="1">
              <a:off x="4481999" y="4059007"/>
              <a:ext cx="231" cy="180002"/>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0" name="Line 13"/>
            <p:cNvSpPr>
              <a:spLocks noChangeShapeType="1"/>
            </p:cNvSpPr>
            <p:nvPr/>
          </p:nvSpPr>
          <p:spPr bwMode="auto">
            <a:xfrm>
              <a:off x="3221986" y="4239009"/>
              <a:ext cx="1260014"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1" name="Line 13"/>
            <p:cNvSpPr>
              <a:spLocks noChangeShapeType="1"/>
            </p:cNvSpPr>
            <p:nvPr/>
          </p:nvSpPr>
          <p:spPr bwMode="auto">
            <a:xfrm>
              <a:off x="3221985" y="4599013"/>
              <a:ext cx="2250025"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2" name="Line 13"/>
            <p:cNvSpPr>
              <a:spLocks noChangeShapeType="1"/>
            </p:cNvSpPr>
            <p:nvPr/>
          </p:nvSpPr>
          <p:spPr bwMode="auto">
            <a:xfrm flipV="1">
              <a:off x="5472010" y="4239009"/>
              <a:ext cx="231" cy="360004"/>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sp>
          <p:nvSpPr>
            <p:cNvPr id="43" name="Line 10"/>
            <p:cNvSpPr>
              <a:spLocks noChangeShapeType="1"/>
            </p:cNvSpPr>
            <p:nvPr/>
          </p:nvSpPr>
          <p:spPr bwMode="auto">
            <a:xfrm>
              <a:off x="6462021" y="4059007"/>
              <a:ext cx="270003" cy="0"/>
            </a:xfrm>
            <a:prstGeom prst="line">
              <a:avLst/>
            </a:prstGeom>
            <a:noFill/>
            <a:ln w="9525">
              <a:solidFill>
                <a:schemeClr val="tx1"/>
              </a:solidFill>
              <a:round/>
              <a:headEnd/>
              <a:tailEnd/>
            </a:ln>
            <a:effectLst/>
          </p:spPr>
          <p:txBody>
            <a:bodyPr/>
            <a:lstStyle/>
            <a:p>
              <a:endParaRPr lang="ja-JP" altLang="en-US" dirty="0">
                <a:ea typeface="MeiryoKe_PGothic" pitchFamily="50" charset="-128"/>
              </a:endParaRPr>
            </a:p>
          </p:txBody>
        </p:sp>
      </p:grpSp>
      <p:sp>
        <p:nvSpPr>
          <p:cNvPr id="2" name="タイトル 1"/>
          <p:cNvSpPr>
            <a:spLocks noGrp="1"/>
          </p:cNvSpPr>
          <p:nvPr>
            <p:ph type="title"/>
          </p:nvPr>
        </p:nvSpPr>
        <p:spPr/>
        <p:txBody>
          <a:bodyPr/>
          <a:lstStyle/>
          <a:p>
            <a:pPr marL="457200" indent="-457200"/>
            <a:r>
              <a:rPr kumimoji="1" lang="ja-JP" altLang="en-US" dirty="0"/>
              <a:t>ステージ内の信号の伝播を考える</a:t>
            </a:r>
          </a:p>
        </p:txBody>
      </p:sp>
      <p:sp>
        <p:nvSpPr>
          <p:cNvPr id="3" name="テキスト プレースホルダー 2"/>
          <p:cNvSpPr>
            <a:spLocks noGrp="1"/>
          </p:cNvSpPr>
          <p:nvPr>
            <p:ph type="body" sz="quarter" idx="10"/>
          </p:nvPr>
        </p:nvSpPr>
        <p:spPr>
          <a:xfrm>
            <a:off x="2135956" y="4149013"/>
            <a:ext cx="8280092" cy="2159717"/>
          </a:xfrm>
        </p:spPr>
        <p:txBody>
          <a:bodyPr/>
          <a:lstStyle/>
          <a:p>
            <a:r>
              <a:rPr kumimoji="1" lang="ja-JP" altLang="en-US" dirty="0"/>
              <a:t>パイプライン：ステージ：</a:t>
            </a:r>
            <a:endParaRPr kumimoji="1" lang="en-US" altLang="ja-JP" dirty="0"/>
          </a:p>
          <a:p>
            <a:pPr lvl="1"/>
            <a:r>
              <a:rPr kumimoji="1" lang="ja-JP" altLang="en-US" dirty="0"/>
              <a:t>複数のパイプライン・ラッチで挟まれてた，</a:t>
            </a:r>
            <a:endParaRPr kumimoji="1" lang="en-US" altLang="ja-JP" dirty="0"/>
          </a:p>
          <a:p>
            <a:pPr lvl="1"/>
            <a:r>
              <a:rPr kumimoji="1" lang="ja-JP" altLang="en-US" dirty="0"/>
              <a:t>組み合わせ回路（ゲート）</a:t>
            </a:r>
            <a:endParaRPr kumimoji="1" lang="en-US" altLang="ja-JP" dirty="0"/>
          </a:p>
          <a:p>
            <a:r>
              <a:rPr kumimoji="1" lang="ja-JP" altLang="en-US" dirty="0"/>
              <a:t>矢印の動き：</a:t>
            </a:r>
            <a:endParaRPr kumimoji="1" lang="en-US" altLang="ja-JP" dirty="0"/>
          </a:p>
          <a:p>
            <a:pPr lvl="1"/>
            <a:r>
              <a:rPr kumimoji="1" lang="ja-JP" altLang="en-US" dirty="0"/>
              <a:t>クロック開始時に，左のラッチからでた信号が</a:t>
            </a:r>
            <a:endParaRPr kumimoji="1" lang="en-US" altLang="ja-JP" dirty="0"/>
          </a:p>
          <a:p>
            <a:pPr lvl="1"/>
            <a:r>
              <a:rPr kumimoji="1" lang="ja-JP" altLang="en-US" dirty="0"/>
              <a:t>組み合わせ回路を通って，伝播していく様子</a:t>
            </a:r>
          </a:p>
        </p:txBody>
      </p:sp>
      <p:sp>
        <p:nvSpPr>
          <p:cNvPr id="4" name="右矢印 3"/>
          <p:cNvSpPr/>
          <p:nvPr/>
        </p:nvSpPr>
        <p:spPr bwMode="auto">
          <a:xfrm>
            <a:off x="1775952" y="225898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216898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198898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0" name="グループ化 9"/>
          <p:cNvGrpSpPr/>
          <p:nvPr/>
        </p:nvGrpSpPr>
        <p:grpSpPr>
          <a:xfrm>
            <a:off x="7356014" y="198898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Tree>
    <p:extLst>
      <p:ext uri="{BB962C8B-B14F-4D97-AF65-F5344CB8AC3E}">
        <p14:creationId xmlns:p14="http://schemas.microsoft.com/office/powerpoint/2010/main" val="35116953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5.55556E-7 -4.44444E-6 L 0.3151 -4.44444E-6 " pathEditMode="relative" rAng="0" ptsTypes="AA">
                                      <p:cBhvr>
                                        <p:cTn id="6" dur="8000" fill="hold"/>
                                        <p:tgtEl>
                                          <p:spTgt spid="4"/>
                                        </p:tgtEl>
                                        <p:attrNameLst>
                                          <p:attrName>ppt_x</p:attrName>
                                          <p:attrName>ppt_y</p:attrName>
                                        </p:attrNameLst>
                                      </p:cBhvr>
                                      <p:rCtr x="1574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457200" indent="-457200"/>
            <a:r>
              <a:rPr kumimoji="1" lang="ja-JP" altLang="en-US" dirty="0"/>
              <a:t>２段にパイプライン化した場合</a:t>
            </a:r>
          </a:p>
        </p:txBody>
      </p:sp>
      <p:sp>
        <p:nvSpPr>
          <p:cNvPr id="3" name="テキスト プレースホルダー 2"/>
          <p:cNvSpPr>
            <a:spLocks noGrp="1"/>
          </p:cNvSpPr>
          <p:nvPr>
            <p:ph type="body" sz="quarter" idx="10"/>
          </p:nvPr>
        </p:nvSpPr>
        <p:spPr>
          <a:xfrm>
            <a:off x="2135956" y="4869021"/>
            <a:ext cx="8280092" cy="1439709"/>
          </a:xfrm>
        </p:spPr>
        <p:txBody>
          <a:bodyPr/>
          <a:lstStyle/>
          <a:p>
            <a:r>
              <a:rPr kumimoji="1" lang="ja-JP" altLang="en-US" dirty="0"/>
              <a:t>クロック周波数は２倍に：</a:t>
            </a:r>
            <a:endParaRPr kumimoji="1" lang="en-US" altLang="ja-JP" dirty="0"/>
          </a:p>
          <a:p>
            <a:pPr lvl="1"/>
            <a:r>
              <a:rPr lang="ja-JP" altLang="en-US" dirty="0"/>
              <a:t>各矢印の伸びる速度（信号が伝播する速度）自体は同じ</a:t>
            </a:r>
          </a:p>
          <a:p>
            <a:pPr lvl="1"/>
            <a:r>
              <a:rPr kumimoji="1" lang="ja-JP" altLang="en-US" dirty="0"/>
              <a:t>２段パイプラインでは，ラッチから２回信号が出ている</a:t>
            </a:r>
            <a:endParaRPr kumimoji="1" lang="en-US" altLang="ja-JP" dirty="0"/>
          </a:p>
        </p:txBody>
      </p:sp>
      <p:sp>
        <p:nvSpPr>
          <p:cNvPr id="4" name="右矢印 3"/>
          <p:cNvSpPr/>
          <p:nvPr/>
        </p:nvSpPr>
        <p:spPr bwMode="auto">
          <a:xfrm>
            <a:off x="1775952" y="126897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1178975"/>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右矢印 19"/>
          <p:cNvSpPr/>
          <p:nvPr/>
        </p:nvSpPr>
        <p:spPr bwMode="auto">
          <a:xfrm>
            <a:off x="4655984"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99897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0" name="グループ化 9"/>
          <p:cNvGrpSpPr/>
          <p:nvPr/>
        </p:nvGrpSpPr>
        <p:grpSpPr>
          <a:xfrm>
            <a:off x="7356014" y="99897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4" name="正方形/長方形 23"/>
          <p:cNvSpPr/>
          <p:nvPr/>
        </p:nvSpPr>
        <p:spPr bwMode="auto">
          <a:xfrm>
            <a:off x="4655984" y="2888995"/>
            <a:ext cx="1260014"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右矢印 12"/>
          <p:cNvSpPr/>
          <p:nvPr/>
        </p:nvSpPr>
        <p:spPr bwMode="auto">
          <a:xfrm>
            <a:off x="3215968"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7" name="グループ化 16"/>
          <p:cNvGrpSpPr/>
          <p:nvPr/>
        </p:nvGrpSpPr>
        <p:grpSpPr>
          <a:xfrm>
            <a:off x="5915998" y="2708992"/>
            <a:ext cx="180002" cy="1440016"/>
            <a:chOff x="2051972" y="998973"/>
            <a:chExt cx="360004" cy="1350015"/>
          </a:xfrm>
        </p:grpSpPr>
        <p:sp>
          <p:nvSpPr>
            <p:cNvPr id="18" name="正方形/長方形 17"/>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9" name="二等辺三角形 18"/>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21" name="グループ化 20"/>
          <p:cNvGrpSpPr/>
          <p:nvPr/>
        </p:nvGrpSpPr>
        <p:grpSpPr>
          <a:xfrm>
            <a:off x="7356014" y="2708992"/>
            <a:ext cx="180002" cy="1440016"/>
            <a:chOff x="2051972" y="998973"/>
            <a:chExt cx="360004" cy="1350015"/>
          </a:xfrm>
        </p:grpSpPr>
        <p:sp>
          <p:nvSpPr>
            <p:cNvPr id="22" name="正方形/長方形 21"/>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3" name="二等辺三角形 22"/>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5" name="正方形/長方形 24"/>
          <p:cNvSpPr/>
          <p:nvPr/>
        </p:nvSpPr>
        <p:spPr bwMode="auto">
          <a:xfrm>
            <a:off x="3125972" y="2888995"/>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 name="グループ化 13"/>
          <p:cNvGrpSpPr/>
          <p:nvPr/>
        </p:nvGrpSpPr>
        <p:grpSpPr>
          <a:xfrm>
            <a:off x="4475982" y="2708992"/>
            <a:ext cx="180002" cy="1440016"/>
            <a:chOff x="2051972" y="998973"/>
            <a:chExt cx="360004" cy="1350015"/>
          </a:xfrm>
        </p:grpSpPr>
        <p:sp>
          <p:nvSpPr>
            <p:cNvPr id="15" name="正方形/長方形 14"/>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6" name="二等辺三角形 15"/>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7" name="正方形/長方形 26"/>
          <p:cNvSpPr/>
          <p:nvPr/>
        </p:nvSpPr>
        <p:spPr bwMode="auto">
          <a:xfrm>
            <a:off x="2495960" y="99897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パイプライン化せず</a:t>
            </a:r>
          </a:p>
        </p:txBody>
      </p:sp>
      <p:sp>
        <p:nvSpPr>
          <p:cNvPr id="28" name="正方形/長方形 27"/>
          <p:cNvSpPr/>
          <p:nvPr/>
        </p:nvSpPr>
        <p:spPr bwMode="auto">
          <a:xfrm>
            <a:off x="2495960" y="270899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２段パイプライン</a:t>
            </a:r>
          </a:p>
        </p:txBody>
      </p:sp>
      <p:sp>
        <p:nvSpPr>
          <p:cNvPr id="9" name="正方形/長方形 8">
            <a:extLst>
              <a:ext uri="{FF2B5EF4-FFF2-40B4-BE49-F238E27FC236}">
                <a16:creationId xmlns:a16="http://schemas.microsoft.com/office/drawing/2014/main" id="{FEFB1DA2-F2B8-5883-F71B-9F2E497E0948}"/>
              </a:ext>
            </a:extLst>
          </p:cNvPr>
          <p:cNvSpPr/>
          <p:nvPr/>
        </p:nvSpPr>
        <p:spPr bwMode="auto">
          <a:xfrm>
            <a:off x="7536016" y="126897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8112786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2.08333E-6 0 L 0.22878 0 " pathEditMode="relative" rAng="0" ptsTypes="AA">
                                      <p:cBhvr>
                                        <p:cTn id="6" dur="8000" fill="hold"/>
                                        <p:tgtEl>
                                          <p:spTgt spid="4"/>
                                        </p:tgtEl>
                                        <p:attrNameLst>
                                          <p:attrName>ppt_x</p:attrName>
                                          <p:attrName>ppt_y</p:attrName>
                                        </p:attrNameLst>
                                      </p:cBhvr>
                                      <p:rCtr x="11432" y="0"/>
                                    </p:animMotion>
                                  </p:childTnLst>
                                </p:cTn>
                              </p:par>
                              <p:par>
                                <p:cTn id="7" presetID="42" presetClass="path" presetSubtype="0" repeatCount="indefinite" fill="hold" grpId="0" nodeType="withEffect">
                                  <p:stCondLst>
                                    <p:cond delay="0"/>
                                  </p:stCondLst>
                                  <p:childTnLst>
                                    <p:animMotion origin="layout" path="M 3.54167E-6 4.44444E-6 L 0.1181 4.44444E-6 " pathEditMode="relative" rAng="0" ptsTypes="AA">
                                      <p:cBhvr>
                                        <p:cTn id="8" dur="4000" fill="hold"/>
                                        <p:tgtEl>
                                          <p:spTgt spid="13"/>
                                        </p:tgtEl>
                                        <p:attrNameLst>
                                          <p:attrName>ppt_x</p:attrName>
                                          <p:attrName>ppt_y</p:attrName>
                                        </p:attrNameLst>
                                      </p:cBhvr>
                                      <p:rCtr x="5534" y="0"/>
                                    </p:animMotion>
                                  </p:childTnLst>
                                </p:cTn>
                              </p:par>
                              <p:par>
                                <p:cTn id="9" presetID="42" presetClass="path" presetSubtype="0" repeatCount="indefinite" fill="hold" grpId="0" nodeType="withEffect">
                                  <p:stCondLst>
                                    <p:cond delay="0"/>
                                  </p:stCondLst>
                                  <p:childTnLst>
                                    <p:animMotion origin="layout" path="M 4.58333E-6 4.44444E-6 L 0.11822 4.44444E-6 " pathEditMode="relative" rAng="0" ptsTypes="AA">
                                      <p:cBhvr>
                                        <p:cTn id="10" dur="4000" fill="hold"/>
                                        <p:tgtEl>
                                          <p:spTgt spid="20"/>
                                        </p:tgtEl>
                                        <p:attrNameLst>
                                          <p:attrName>ppt_x</p:attrName>
                                          <p:attrName>ppt_y</p:attrName>
                                        </p:attrNameLst>
                                      </p:cBhvr>
                                      <p:rCtr x="59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animBg="1"/>
      <p:bldP spid="1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pPr marL="457200" indent="-457200"/>
            <a:r>
              <a:rPr kumimoji="1" lang="en-US" altLang="ja-JP" dirty="0"/>
              <a:t>4</a:t>
            </a:r>
            <a:r>
              <a:rPr kumimoji="1" lang="ja-JP" altLang="en-US" dirty="0"/>
              <a:t>段にパイプライン化した場合</a:t>
            </a:r>
          </a:p>
        </p:txBody>
      </p:sp>
      <p:sp>
        <p:nvSpPr>
          <p:cNvPr id="3" name="テキスト プレースホルダー 2"/>
          <p:cNvSpPr>
            <a:spLocks noGrp="1"/>
          </p:cNvSpPr>
          <p:nvPr>
            <p:ph type="body" sz="quarter" idx="10"/>
          </p:nvPr>
        </p:nvSpPr>
        <p:spPr>
          <a:xfrm>
            <a:off x="2135956" y="6039336"/>
            <a:ext cx="8280092" cy="449698"/>
          </a:xfrm>
        </p:spPr>
        <p:txBody>
          <a:bodyPr/>
          <a:lstStyle/>
          <a:p>
            <a:r>
              <a:rPr lang="ja-JP" altLang="en-US" dirty="0"/>
              <a:t>クロックが４倍に</a:t>
            </a:r>
            <a:endParaRPr lang="en-US" altLang="ja-JP" dirty="0"/>
          </a:p>
          <a:p>
            <a:pPr lvl="1"/>
            <a:r>
              <a:rPr lang="ja-JP" altLang="en-US" dirty="0"/>
              <a:t>４段パイプラインでは，ラッチから４回信号が出ている</a:t>
            </a:r>
            <a:endParaRPr lang="en-US" altLang="ja-JP" dirty="0"/>
          </a:p>
        </p:txBody>
      </p:sp>
      <p:sp>
        <p:nvSpPr>
          <p:cNvPr id="4" name="右矢印 3"/>
          <p:cNvSpPr/>
          <p:nvPr/>
        </p:nvSpPr>
        <p:spPr bwMode="auto">
          <a:xfrm>
            <a:off x="1775952" y="1268976"/>
            <a:ext cx="2880032"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 name="正方形/長方形 4"/>
          <p:cNvSpPr/>
          <p:nvPr/>
        </p:nvSpPr>
        <p:spPr bwMode="auto">
          <a:xfrm>
            <a:off x="1685951" y="1178975"/>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20" name="右矢印 19"/>
          <p:cNvSpPr/>
          <p:nvPr/>
        </p:nvSpPr>
        <p:spPr bwMode="auto">
          <a:xfrm>
            <a:off x="4655984"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8" name="グループ化 7"/>
          <p:cNvGrpSpPr/>
          <p:nvPr/>
        </p:nvGrpSpPr>
        <p:grpSpPr>
          <a:xfrm>
            <a:off x="4475982" y="998973"/>
            <a:ext cx="180002" cy="1440016"/>
            <a:chOff x="2051972" y="998973"/>
            <a:chExt cx="360004" cy="1350015"/>
          </a:xfrm>
        </p:grpSpPr>
        <p:sp>
          <p:nvSpPr>
            <p:cNvPr id="6" name="正方形/長方形 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7" name="二等辺三角形 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10" name="グループ化 9"/>
          <p:cNvGrpSpPr/>
          <p:nvPr/>
        </p:nvGrpSpPr>
        <p:grpSpPr>
          <a:xfrm>
            <a:off x="7356014" y="998973"/>
            <a:ext cx="180002" cy="1440016"/>
            <a:chOff x="2051972" y="998973"/>
            <a:chExt cx="360004" cy="1350015"/>
          </a:xfrm>
        </p:grpSpPr>
        <p:sp>
          <p:nvSpPr>
            <p:cNvPr id="11" name="正方形/長方形 10"/>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2" name="二等辺三角形 11"/>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4" name="正方形/長方形 23"/>
          <p:cNvSpPr/>
          <p:nvPr/>
        </p:nvSpPr>
        <p:spPr bwMode="auto">
          <a:xfrm>
            <a:off x="4655984" y="2888995"/>
            <a:ext cx="1260014"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13" name="右矢印 12"/>
          <p:cNvSpPr/>
          <p:nvPr/>
        </p:nvSpPr>
        <p:spPr bwMode="auto">
          <a:xfrm>
            <a:off x="3215968" y="2978995"/>
            <a:ext cx="1440016"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7" name="グループ化 16"/>
          <p:cNvGrpSpPr/>
          <p:nvPr/>
        </p:nvGrpSpPr>
        <p:grpSpPr>
          <a:xfrm>
            <a:off x="5915998" y="2708992"/>
            <a:ext cx="180002" cy="1440016"/>
            <a:chOff x="2051972" y="998973"/>
            <a:chExt cx="360004" cy="1350015"/>
          </a:xfrm>
        </p:grpSpPr>
        <p:sp>
          <p:nvSpPr>
            <p:cNvPr id="18" name="正方形/長方形 17"/>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9" name="二等辺三角形 18"/>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21" name="グループ化 20"/>
          <p:cNvGrpSpPr/>
          <p:nvPr/>
        </p:nvGrpSpPr>
        <p:grpSpPr>
          <a:xfrm>
            <a:off x="7356014" y="2708992"/>
            <a:ext cx="180002" cy="1440016"/>
            <a:chOff x="2051972" y="998973"/>
            <a:chExt cx="360004" cy="1350015"/>
          </a:xfrm>
        </p:grpSpPr>
        <p:sp>
          <p:nvSpPr>
            <p:cNvPr id="22" name="正方形/長方形 21"/>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23" name="二等辺三角形 22"/>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5" name="正方形/長方形 24"/>
          <p:cNvSpPr/>
          <p:nvPr/>
        </p:nvSpPr>
        <p:spPr bwMode="auto">
          <a:xfrm>
            <a:off x="3125972" y="2888995"/>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14" name="グループ化 13"/>
          <p:cNvGrpSpPr/>
          <p:nvPr/>
        </p:nvGrpSpPr>
        <p:grpSpPr>
          <a:xfrm>
            <a:off x="4475982" y="2708992"/>
            <a:ext cx="180002" cy="1440016"/>
            <a:chOff x="2051972" y="998973"/>
            <a:chExt cx="360004" cy="1350015"/>
          </a:xfrm>
        </p:grpSpPr>
        <p:sp>
          <p:nvSpPr>
            <p:cNvPr id="15" name="正方形/長方形 14"/>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16" name="二等辺三角形 15"/>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27" name="正方形/長方形 26"/>
          <p:cNvSpPr/>
          <p:nvPr/>
        </p:nvSpPr>
        <p:spPr bwMode="auto">
          <a:xfrm>
            <a:off x="2495960" y="998973"/>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パイプライン化せず</a:t>
            </a:r>
          </a:p>
        </p:txBody>
      </p:sp>
      <p:sp>
        <p:nvSpPr>
          <p:cNvPr id="28" name="正方形/長方形 27"/>
          <p:cNvSpPr/>
          <p:nvPr/>
        </p:nvSpPr>
        <p:spPr bwMode="auto">
          <a:xfrm>
            <a:off x="2495960" y="2708992"/>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２段パイプライン</a:t>
            </a:r>
          </a:p>
        </p:txBody>
      </p:sp>
      <p:sp>
        <p:nvSpPr>
          <p:cNvPr id="54" name="正方形/長方形 53"/>
          <p:cNvSpPr/>
          <p:nvPr/>
        </p:nvSpPr>
        <p:spPr bwMode="auto">
          <a:xfrm>
            <a:off x="6816008"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5" name="右矢印 44"/>
          <p:cNvSpPr/>
          <p:nvPr/>
        </p:nvSpPr>
        <p:spPr bwMode="auto">
          <a:xfrm>
            <a:off x="6096000"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3" name="正方形/長方形 52"/>
          <p:cNvSpPr/>
          <p:nvPr/>
        </p:nvSpPr>
        <p:spPr bwMode="auto">
          <a:xfrm>
            <a:off x="6096000"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4" name="右矢印 43"/>
          <p:cNvSpPr/>
          <p:nvPr/>
        </p:nvSpPr>
        <p:spPr bwMode="auto">
          <a:xfrm>
            <a:off x="5375992"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52" name="正方形/長方形 51"/>
          <p:cNvSpPr/>
          <p:nvPr/>
        </p:nvSpPr>
        <p:spPr bwMode="auto">
          <a:xfrm>
            <a:off x="5375992" y="4509012"/>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43" name="右矢印 42"/>
          <p:cNvSpPr/>
          <p:nvPr/>
        </p:nvSpPr>
        <p:spPr bwMode="auto">
          <a:xfrm>
            <a:off x="4655984"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0" name="正方形/長方形 29"/>
          <p:cNvSpPr/>
          <p:nvPr/>
        </p:nvSpPr>
        <p:spPr bwMode="auto">
          <a:xfrm>
            <a:off x="4655984" y="4509013"/>
            <a:ext cx="540006"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1" name="右矢印 30"/>
          <p:cNvSpPr/>
          <p:nvPr/>
        </p:nvSpPr>
        <p:spPr bwMode="auto">
          <a:xfrm>
            <a:off x="3935976" y="4599013"/>
            <a:ext cx="720008" cy="720008"/>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38" name="正方形/長方形 37"/>
          <p:cNvSpPr/>
          <p:nvPr/>
        </p:nvSpPr>
        <p:spPr bwMode="auto">
          <a:xfrm>
            <a:off x="3125972" y="4509013"/>
            <a:ext cx="1350015"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nvGrpSpPr>
          <p:cNvPr id="32" name="グループ化 31"/>
          <p:cNvGrpSpPr/>
          <p:nvPr/>
        </p:nvGrpSpPr>
        <p:grpSpPr>
          <a:xfrm>
            <a:off x="5915998" y="4329010"/>
            <a:ext cx="180002" cy="1440016"/>
            <a:chOff x="2051972" y="998973"/>
            <a:chExt cx="360004" cy="1350015"/>
          </a:xfrm>
        </p:grpSpPr>
        <p:sp>
          <p:nvSpPr>
            <p:cNvPr id="33" name="正方形/長方形 32"/>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34" name="二等辺三角形 33"/>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35" name="グループ化 34"/>
          <p:cNvGrpSpPr/>
          <p:nvPr/>
        </p:nvGrpSpPr>
        <p:grpSpPr>
          <a:xfrm>
            <a:off x="7356014" y="4329010"/>
            <a:ext cx="180002" cy="1440016"/>
            <a:chOff x="2051972" y="998973"/>
            <a:chExt cx="360004" cy="1350015"/>
          </a:xfrm>
        </p:grpSpPr>
        <p:sp>
          <p:nvSpPr>
            <p:cNvPr id="36" name="正方形/長方形 35"/>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37" name="二等辺三角形 36"/>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39" name="グループ化 38"/>
          <p:cNvGrpSpPr/>
          <p:nvPr/>
        </p:nvGrpSpPr>
        <p:grpSpPr>
          <a:xfrm>
            <a:off x="4475982" y="4329010"/>
            <a:ext cx="180002" cy="1440016"/>
            <a:chOff x="2051972" y="998973"/>
            <a:chExt cx="360004" cy="1350015"/>
          </a:xfrm>
        </p:grpSpPr>
        <p:sp>
          <p:nvSpPr>
            <p:cNvPr id="40" name="正方形/長方形 39"/>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1" name="二等辺三角形 40"/>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42" name="正方形/長方形 41"/>
          <p:cNvSpPr/>
          <p:nvPr/>
        </p:nvSpPr>
        <p:spPr bwMode="auto">
          <a:xfrm>
            <a:off x="2495960" y="4329010"/>
            <a:ext cx="1440016" cy="360004"/>
          </a:xfrm>
          <a:prstGeom prst="rect">
            <a:avLst/>
          </a:prstGeom>
          <a:noFill/>
          <a:ln>
            <a:noFill/>
            <a:headEnd/>
            <a:tailEnd type="triangle" w="sm" len="med"/>
          </a:ln>
          <a:effectLst/>
        </p:spPr>
        <p:style>
          <a:lnRef idx="1">
            <a:schemeClr val="accent4"/>
          </a:lnRef>
          <a:fillRef idx="2">
            <a:schemeClr val="accent4"/>
          </a:fillRef>
          <a:effectRef idx="1">
            <a:schemeClr val="accent4"/>
          </a:effectRef>
          <a:fontRef idx="minor">
            <a:schemeClr val="dk1"/>
          </a:fontRef>
        </p:style>
        <p:txBody>
          <a:bodyPr wrap="none" lIns="0" tIns="0" rIns="0" bIns="0" rtlCol="0" anchor="ct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rPr>
              <a:t>４段パイプライン</a:t>
            </a:r>
          </a:p>
        </p:txBody>
      </p:sp>
      <p:grpSp>
        <p:nvGrpSpPr>
          <p:cNvPr id="46" name="グループ化 45"/>
          <p:cNvGrpSpPr/>
          <p:nvPr/>
        </p:nvGrpSpPr>
        <p:grpSpPr>
          <a:xfrm>
            <a:off x="5195990" y="4329010"/>
            <a:ext cx="180002" cy="1440016"/>
            <a:chOff x="2051972" y="998973"/>
            <a:chExt cx="360004" cy="1350015"/>
          </a:xfrm>
        </p:grpSpPr>
        <p:sp>
          <p:nvSpPr>
            <p:cNvPr id="47" name="正方形/長方形 46"/>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48" name="二等辺三角形 47"/>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grpSp>
        <p:nvGrpSpPr>
          <p:cNvPr id="49" name="グループ化 48"/>
          <p:cNvGrpSpPr/>
          <p:nvPr/>
        </p:nvGrpSpPr>
        <p:grpSpPr>
          <a:xfrm>
            <a:off x="6636006" y="4329010"/>
            <a:ext cx="180002" cy="1440016"/>
            <a:chOff x="2051972" y="998973"/>
            <a:chExt cx="360004" cy="1350015"/>
          </a:xfrm>
        </p:grpSpPr>
        <p:sp>
          <p:nvSpPr>
            <p:cNvPr id="50" name="正方形/長方形 49"/>
            <p:cNvSpPr/>
            <p:nvPr/>
          </p:nvSpPr>
          <p:spPr bwMode="auto">
            <a:xfrm>
              <a:off x="2051972" y="998973"/>
              <a:ext cx="360004" cy="135001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ja-JP" altLang="en-US" dirty="0">
                <a:latin typeface="メイリオ" panose="020B0604030504040204" pitchFamily="50" charset="-128"/>
                <a:ea typeface="メイリオ" panose="020B0604030504040204" pitchFamily="50" charset="-128"/>
              </a:endParaRPr>
            </a:p>
          </p:txBody>
        </p:sp>
        <p:sp>
          <p:nvSpPr>
            <p:cNvPr id="51" name="二等辺三角形 50"/>
            <p:cNvSpPr/>
            <p:nvPr/>
          </p:nvSpPr>
          <p:spPr bwMode="auto">
            <a:xfrm>
              <a:off x="2141973" y="2168986"/>
              <a:ext cx="180002" cy="180002"/>
            </a:xfrm>
            <a:prstGeom prst="triangle">
              <a:avLst/>
            </a:prstGeom>
            <a:noFill/>
            <a:ln>
              <a:solidFill>
                <a:schemeClr val="accent2"/>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grpSp>
      <p:sp>
        <p:nvSpPr>
          <p:cNvPr id="9" name="正方形/長方形 8">
            <a:extLst>
              <a:ext uri="{FF2B5EF4-FFF2-40B4-BE49-F238E27FC236}">
                <a16:creationId xmlns:a16="http://schemas.microsoft.com/office/drawing/2014/main" id="{423C0FDB-0656-5310-8087-6C09226BD9B9}"/>
              </a:ext>
            </a:extLst>
          </p:cNvPr>
          <p:cNvSpPr/>
          <p:nvPr/>
        </p:nvSpPr>
        <p:spPr bwMode="auto">
          <a:xfrm>
            <a:off x="7536016" y="1268976"/>
            <a:ext cx="2880032" cy="900010"/>
          </a:xfrm>
          <a:prstGeom prst="rect">
            <a:avLst/>
          </a:prstGeom>
          <a:solidFill>
            <a:schemeClr val="bg1"/>
          </a:soli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5713634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repeatCount="indefinite" fill="hold" grpId="0" nodeType="clickEffect">
                                  <p:stCondLst>
                                    <p:cond delay="0"/>
                                  </p:stCondLst>
                                  <p:childTnLst>
                                    <p:animMotion origin="layout" path="M 0.11068 0 L 0.34688 0 " pathEditMode="relative" rAng="0" ptsTypes="AA">
                                      <p:cBhvr>
                                        <p:cTn id="6" dur="8000" fill="hold"/>
                                        <p:tgtEl>
                                          <p:spTgt spid="4"/>
                                        </p:tgtEl>
                                        <p:attrNameLst>
                                          <p:attrName>ppt_x</p:attrName>
                                          <p:attrName>ppt_y</p:attrName>
                                        </p:attrNameLst>
                                      </p:cBhvr>
                                      <p:rCtr x="11810" y="0"/>
                                    </p:animMotion>
                                  </p:childTnLst>
                                </p:cTn>
                              </p:par>
                              <p:par>
                                <p:cTn id="7" presetID="42" presetClass="path" presetSubtype="0" repeatCount="indefinite" fill="hold" grpId="0" nodeType="withEffect">
                                  <p:stCondLst>
                                    <p:cond delay="0"/>
                                  </p:stCondLst>
                                  <p:childTnLst>
                                    <p:animMotion origin="layout" path="M -4.79167E-6 4.44444E-6 L 0.1181 4.44444E-6 " pathEditMode="relative" rAng="0" ptsTypes="AA">
                                      <p:cBhvr>
                                        <p:cTn id="8" dur="4000" fill="hold"/>
                                        <p:tgtEl>
                                          <p:spTgt spid="13"/>
                                        </p:tgtEl>
                                        <p:attrNameLst>
                                          <p:attrName>ppt_x</p:attrName>
                                          <p:attrName>ppt_y</p:attrName>
                                        </p:attrNameLst>
                                      </p:cBhvr>
                                      <p:rCtr x="6263" y="0"/>
                                    </p:animMotion>
                                  </p:childTnLst>
                                </p:cTn>
                              </p:par>
                              <p:par>
                                <p:cTn id="9" presetID="42" presetClass="path" presetSubtype="0" repeatCount="indefinite" fill="hold" grpId="0" nodeType="withEffect">
                                  <p:stCondLst>
                                    <p:cond delay="0"/>
                                  </p:stCondLst>
                                  <p:childTnLst>
                                    <p:animMotion origin="layout" path="M 4.58333E-6 4.44444E-6 L 0.1108 4.44444E-6 " pathEditMode="relative" rAng="0" ptsTypes="AA">
                                      <p:cBhvr>
                                        <p:cTn id="10" dur="4000" fill="hold"/>
                                        <p:tgtEl>
                                          <p:spTgt spid="20"/>
                                        </p:tgtEl>
                                        <p:attrNameLst>
                                          <p:attrName>ppt_x</p:attrName>
                                          <p:attrName>ppt_y</p:attrName>
                                        </p:attrNameLst>
                                      </p:cBhvr>
                                      <p:rCtr x="5534" y="0"/>
                                    </p:animMotion>
                                  </p:childTnLst>
                                </p:cTn>
                              </p:par>
                              <p:par>
                                <p:cTn id="11" presetID="42" presetClass="path" presetSubtype="0" repeatCount="indefinite" fill="hold" grpId="0" nodeType="withEffect">
                                  <p:stCondLst>
                                    <p:cond delay="0"/>
                                  </p:stCondLst>
                                  <p:childTnLst>
                                    <p:animMotion origin="layout" path="M -0.00742 1.85185E-6 L 0.05899 1.85185E-6 " pathEditMode="relative" rAng="0" ptsTypes="AA">
                                      <p:cBhvr>
                                        <p:cTn id="12" dur="2000" fill="hold"/>
                                        <p:tgtEl>
                                          <p:spTgt spid="31"/>
                                        </p:tgtEl>
                                        <p:attrNameLst>
                                          <p:attrName>ppt_x</p:attrName>
                                          <p:attrName>ppt_y</p:attrName>
                                        </p:attrNameLst>
                                      </p:cBhvr>
                                      <p:rCtr x="2956" y="0"/>
                                    </p:animMotion>
                                  </p:childTnLst>
                                </p:cTn>
                              </p:par>
                              <p:par>
                                <p:cTn id="13" presetID="42" presetClass="path" presetSubtype="0" repeatCount="indefinite" fill="hold" grpId="0" nodeType="withEffect">
                                  <p:stCondLst>
                                    <p:cond delay="0"/>
                                  </p:stCondLst>
                                  <p:childTnLst>
                                    <p:animMotion origin="layout" path="M 3.54167E-6 1.85185E-6 L 0.05911 1.85185E-6 " pathEditMode="relative" rAng="0" ptsTypes="AA">
                                      <p:cBhvr>
                                        <p:cTn id="14" dur="2000" fill="hold"/>
                                        <p:tgtEl>
                                          <p:spTgt spid="43"/>
                                        </p:tgtEl>
                                        <p:attrNameLst>
                                          <p:attrName>ppt_x</p:attrName>
                                          <p:attrName>ppt_y</p:attrName>
                                        </p:attrNameLst>
                                      </p:cBhvr>
                                      <p:rCtr x="3320" y="0"/>
                                    </p:animMotion>
                                  </p:childTnLst>
                                </p:cTn>
                              </p:par>
                              <p:par>
                                <p:cTn id="15" presetID="42" presetClass="path" presetSubtype="0" repeatCount="indefinite" fill="hold" grpId="0" nodeType="withEffect">
                                  <p:stCondLst>
                                    <p:cond delay="0"/>
                                  </p:stCondLst>
                                  <p:childTnLst>
                                    <p:animMotion origin="layout" path="M -2.70833E-6 1.85185E-6 L 0.0517 1.85185E-6 " pathEditMode="relative" rAng="0" ptsTypes="AA">
                                      <p:cBhvr>
                                        <p:cTn id="16" dur="2000" fill="hold"/>
                                        <p:tgtEl>
                                          <p:spTgt spid="44"/>
                                        </p:tgtEl>
                                        <p:attrNameLst>
                                          <p:attrName>ppt_x</p:attrName>
                                          <p:attrName>ppt_y</p:attrName>
                                        </p:attrNameLst>
                                      </p:cBhvr>
                                      <p:rCtr x="2578" y="0"/>
                                    </p:animMotion>
                                  </p:childTnLst>
                                </p:cTn>
                              </p:par>
                              <p:par>
                                <p:cTn id="17" presetID="42" presetClass="path" presetSubtype="0" repeatCount="indefinite" fill="hold" grpId="0" nodeType="withEffect">
                                  <p:stCondLst>
                                    <p:cond delay="0"/>
                                  </p:stCondLst>
                                  <p:childTnLst>
                                    <p:animMotion origin="layout" path="M 2.70833E-6 1.85185E-6 L 0.05169 1.85185E-6 " pathEditMode="relative" rAng="0" ptsTypes="AA">
                                      <p:cBhvr>
                                        <p:cTn id="18" dur="2000" fill="hold"/>
                                        <p:tgtEl>
                                          <p:spTgt spid="45"/>
                                        </p:tgtEl>
                                        <p:attrNameLst>
                                          <p:attrName>ppt_x</p:attrName>
                                          <p:attrName>ppt_y</p:attrName>
                                        </p:attrNameLst>
                                      </p:cBhvr>
                                      <p:rCtr x="257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0" grpId="0" animBg="1"/>
      <p:bldP spid="13" grpId="0" animBg="1"/>
      <p:bldP spid="45" grpId="0" animBg="1"/>
      <p:bldP spid="44" grpId="0" animBg="1"/>
      <p:bldP spid="43" grpId="0" animBg="1"/>
      <p:bldP spid="3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パイプライン化の限界</a:t>
            </a:r>
          </a:p>
        </p:txBody>
      </p:sp>
      <p:sp>
        <p:nvSpPr>
          <p:cNvPr id="3" name="テキスト プレースホルダー 2"/>
          <p:cNvSpPr>
            <a:spLocks noGrp="1"/>
          </p:cNvSpPr>
          <p:nvPr>
            <p:ph type="body" sz="quarter" idx="10"/>
          </p:nvPr>
        </p:nvSpPr>
        <p:spPr>
          <a:xfrm>
            <a:off x="2135956" y="3699003"/>
            <a:ext cx="8280092" cy="2789724"/>
          </a:xfrm>
        </p:spPr>
        <p:txBody>
          <a:bodyPr/>
          <a:lstStyle/>
          <a:p>
            <a:r>
              <a:rPr lang="ja-JP" altLang="en-US" dirty="0"/>
              <a:t>パイプライン段数を増やしていけば，どこまでも速くなるのか？</a:t>
            </a:r>
            <a:endParaRPr lang="en-US" altLang="ja-JP" dirty="0"/>
          </a:p>
          <a:p>
            <a:pPr lvl="1"/>
            <a:r>
              <a:rPr kumimoji="1" lang="ja-JP" altLang="en-US" dirty="0"/>
              <a:t>ならない</a:t>
            </a:r>
            <a:endParaRPr kumimoji="1" lang="en-US" altLang="ja-JP" dirty="0"/>
          </a:p>
          <a:p>
            <a:r>
              <a:rPr kumimoji="1" lang="ja-JP" altLang="en-US" dirty="0"/>
              <a:t>理由：</a:t>
            </a:r>
            <a:endParaRPr kumimoji="1" lang="en-US" altLang="ja-JP" dirty="0"/>
          </a:p>
          <a:p>
            <a:pPr marL="817200" lvl="1" indent="-457200">
              <a:buFont typeface="+mj-lt"/>
              <a:buAutoNum type="arabicPeriod"/>
            </a:pPr>
            <a:r>
              <a:rPr lang="ja-JP" altLang="en-US" dirty="0"/>
              <a:t>回路的な理由による周波数向上の限界</a:t>
            </a:r>
            <a:endParaRPr kumimoji="1" lang="en-US" altLang="ja-JP" dirty="0"/>
          </a:p>
          <a:p>
            <a:pPr marL="817200" lvl="1" indent="-457200">
              <a:buFont typeface="+mj-lt"/>
              <a:buAutoNum type="arabicPeriod"/>
            </a:pPr>
            <a:r>
              <a:rPr kumimoji="1" lang="ja-JP" altLang="en-US" dirty="0"/>
              <a:t>アーキテクチャ的な理由による実効性能の限界</a:t>
            </a:r>
            <a:endParaRPr kumimoji="1" lang="en-US" altLang="ja-JP" dirty="0"/>
          </a:p>
        </p:txBody>
      </p:sp>
      <p:sp>
        <p:nvSpPr>
          <p:cNvPr id="4" name="正方形/長方形 3"/>
          <p:cNvSpPr/>
          <p:nvPr/>
        </p:nvSpPr>
        <p:spPr>
          <a:xfrm>
            <a:off x="1865953" y="1772929"/>
            <a:ext cx="1620018" cy="1384995"/>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endPar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φ</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__⊂)__</a:t>
            </a:r>
            <a:endPar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／旦／三／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社長 　　</a:t>
            </a:r>
            <a:r>
              <a:rPr lang="en-US" altLang="ja-JP"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p:txBody>
      </p:sp>
      <p:grpSp>
        <p:nvGrpSpPr>
          <p:cNvPr id="6" name="グループ化 5"/>
          <p:cNvGrpSpPr/>
          <p:nvPr/>
        </p:nvGrpSpPr>
        <p:grpSpPr>
          <a:xfrm>
            <a:off x="4475982" y="2582933"/>
            <a:ext cx="1562400" cy="576064"/>
            <a:chOff x="971600" y="5445224"/>
            <a:chExt cx="7200800" cy="576064"/>
          </a:xfrm>
        </p:grpSpPr>
        <p:sp>
          <p:nvSpPr>
            <p:cNvPr id="7" name="平行四辺形 6"/>
            <p:cNvSpPr/>
            <p:nvPr/>
          </p:nvSpPr>
          <p:spPr bwMode="auto">
            <a:xfrm>
              <a:off x="971600" y="5517232"/>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8" name="平行四辺形 7"/>
            <p:cNvSpPr/>
            <p:nvPr/>
          </p:nvSpPr>
          <p:spPr bwMode="auto">
            <a:xfrm>
              <a:off x="971600" y="5445224"/>
              <a:ext cx="72008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26" name="グループ化 25"/>
          <p:cNvGrpSpPr/>
          <p:nvPr/>
        </p:nvGrpSpPr>
        <p:grpSpPr>
          <a:xfrm>
            <a:off x="5915998" y="2582933"/>
            <a:ext cx="1562400" cy="576064"/>
            <a:chOff x="971600" y="5445224"/>
            <a:chExt cx="7200800" cy="576064"/>
          </a:xfrm>
        </p:grpSpPr>
        <p:sp>
          <p:nvSpPr>
            <p:cNvPr id="27" name="平行四辺形 26"/>
            <p:cNvSpPr/>
            <p:nvPr/>
          </p:nvSpPr>
          <p:spPr bwMode="auto">
            <a:xfrm>
              <a:off x="971600" y="5517232"/>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28" name="平行四辺形 27"/>
            <p:cNvSpPr/>
            <p:nvPr/>
          </p:nvSpPr>
          <p:spPr bwMode="auto">
            <a:xfrm>
              <a:off x="971600" y="5445224"/>
              <a:ext cx="72008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2" name="グループ化 11"/>
          <p:cNvGrpSpPr/>
          <p:nvPr/>
        </p:nvGrpSpPr>
        <p:grpSpPr>
          <a:xfrm>
            <a:off x="7356014" y="2582933"/>
            <a:ext cx="1562400" cy="576064"/>
            <a:chOff x="971600" y="5445224"/>
            <a:chExt cx="7200800" cy="576064"/>
          </a:xfrm>
        </p:grpSpPr>
        <p:sp>
          <p:nvSpPr>
            <p:cNvPr id="13" name="平行四辺形 12"/>
            <p:cNvSpPr/>
            <p:nvPr/>
          </p:nvSpPr>
          <p:spPr bwMode="auto">
            <a:xfrm>
              <a:off x="971600" y="5517232"/>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4" name="平行四辺形 13"/>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grpSp>
        <p:nvGrpSpPr>
          <p:cNvPr id="15" name="グループ化 14"/>
          <p:cNvGrpSpPr/>
          <p:nvPr/>
        </p:nvGrpSpPr>
        <p:grpSpPr>
          <a:xfrm>
            <a:off x="8796030" y="2582933"/>
            <a:ext cx="1584176" cy="576064"/>
            <a:chOff x="971600" y="5445224"/>
            <a:chExt cx="7200800" cy="576064"/>
          </a:xfrm>
        </p:grpSpPr>
        <p:sp>
          <p:nvSpPr>
            <p:cNvPr id="16" name="平行四辺形 15"/>
            <p:cNvSpPr/>
            <p:nvPr/>
          </p:nvSpPr>
          <p:spPr bwMode="auto">
            <a:xfrm>
              <a:off x="971600" y="5517232"/>
              <a:ext cx="7200800"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a:p>
          </p:txBody>
        </p:sp>
        <p:sp>
          <p:nvSpPr>
            <p:cNvPr id="17" name="平行四辺形 16"/>
            <p:cNvSpPr/>
            <p:nvPr/>
          </p:nvSpPr>
          <p:spPr bwMode="auto">
            <a:xfrm>
              <a:off x="971600" y="5445224"/>
              <a:ext cx="72008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grpSp>
      <p:sp>
        <p:nvSpPr>
          <p:cNvPr id="18" name="正方形/長方形 17"/>
          <p:cNvSpPr/>
          <p:nvPr/>
        </p:nvSpPr>
        <p:spPr>
          <a:xfrm>
            <a:off x="4925992" y="1772924"/>
            <a:ext cx="86598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p:cNvSpPr/>
          <p:nvPr/>
        </p:nvSpPr>
        <p:spPr>
          <a:xfrm>
            <a:off x="6276007" y="1772924"/>
            <a:ext cx="937991" cy="738664"/>
          </a:xfrm>
          <a:prstGeom prst="rect">
            <a:avLst/>
          </a:prstGeom>
        </p:spPr>
        <p:txBody>
          <a:bodyPr wrap="square">
            <a:spAutoFit/>
          </a:bodyPr>
          <a:lstStyle/>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3">
                    <a:lumMod val="50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0" name="正方形/長方形 19"/>
          <p:cNvSpPr/>
          <p:nvPr/>
        </p:nvSpPr>
        <p:spPr>
          <a:xfrm>
            <a:off x="7806024" y="1772924"/>
            <a:ext cx="865983" cy="738664"/>
          </a:xfrm>
          <a:prstGeom prst="rect">
            <a:avLst/>
          </a:prstGeom>
        </p:spPr>
        <p:txBody>
          <a:bodyPr wrap="square">
            <a:spAutoFit/>
          </a:bodyPr>
          <a:lstStyle/>
          <a:p>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ﾟーﾟ</a:t>
            </a:r>
            <a:r>
              <a:rPr lang="en-US" altLang="ja-JP"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2"/>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1" name="正方形/長方形 20"/>
          <p:cNvSpPr/>
          <p:nvPr/>
        </p:nvSpPr>
        <p:spPr>
          <a:xfrm>
            <a:off x="9156039" y="177292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2" name="角丸四角形 21"/>
          <p:cNvSpPr/>
          <p:nvPr/>
        </p:nvSpPr>
        <p:spPr bwMode="auto">
          <a:xfrm>
            <a:off x="6366003"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4" name="角丸四角形 23"/>
          <p:cNvSpPr/>
          <p:nvPr/>
        </p:nvSpPr>
        <p:spPr bwMode="auto">
          <a:xfrm>
            <a:off x="7715730"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5" name="角丸四角形 24"/>
          <p:cNvSpPr/>
          <p:nvPr/>
        </p:nvSpPr>
        <p:spPr bwMode="auto">
          <a:xfrm>
            <a:off x="9065745"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3" name="角丸四角形 22"/>
          <p:cNvSpPr/>
          <p:nvPr/>
        </p:nvSpPr>
        <p:spPr bwMode="auto">
          <a:xfrm>
            <a:off x="4835986" y="2492932"/>
            <a:ext cx="720008"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dirty="0">
                <a:latin typeface="Arial Narrow" panose="020B0606020202030204" pitchFamily="34" charset="0"/>
              </a:rPr>
              <a:t>製品</a:t>
            </a:r>
          </a:p>
        </p:txBody>
      </p:sp>
      <p:sp>
        <p:nvSpPr>
          <p:cNvPr id="29" name="角丸四角形吹き出し 28"/>
          <p:cNvSpPr/>
          <p:nvPr/>
        </p:nvSpPr>
        <p:spPr bwMode="auto">
          <a:xfrm>
            <a:off x="2945965" y="1142922"/>
            <a:ext cx="2520028" cy="522647"/>
          </a:xfrm>
          <a:prstGeom prst="wedgeRoundRectCallout">
            <a:avLst>
              <a:gd name="adj1" fmla="val -43365"/>
              <a:gd name="adj2" fmla="val 134720"/>
              <a:gd name="adj3" fmla="val 16667"/>
            </a:avLst>
          </a:prstGeom>
          <a:ln>
            <a:solidFill>
              <a:schemeClr val="tx1">
                <a:lumMod val="65000"/>
                <a:lumOff val="35000"/>
              </a:schemeClr>
            </a:solidFill>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sz="1400" dirty="0">
                <a:solidFill>
                  <a:schemeClr val="tx1">
                    <a:lumMod val="85000"/>
                    <a:lumOff val="15000"/>
                  </a:schemeClr>
                </a:solidFill>
                <a:latin typeface="Arial Narrow" panose="020B0606020202030204" pitchFamily="34" charset="0"/>
              </a:rPr>
              <a:t>ひょっとして･･･ 無限に</a:t>
            </a:r>
            <a:endParaRPr lang="en-US" altLang="ja-JP" sz="1400" dirty="0">
              <a:solidFill>
                <a:schemeClr val="tx1">
                  <a:lumMod val="85000"/>
                  <a:lumOff val="15000"/>
                </a:schemeClr>
              </a:solidFill>
              <a:latin typeface="Arial Narrow" panose="020B0606020202030204" pitchFamily="34" charset="0"/>
            </a:endParaRPr>
          </a:p>
          <a:p>
            <a:r>
              <a:rPr lang="ja-JP" altLang="en-US" sz="1400" dirty="0">
                <a:solidFill>
                  <a:schemeClr val="tx1">
                    <a:lumMod val="85000"/>
                    <a:lumOff val="15000"/>
                  </a:schemeClr>
                </a:solidFill>
                <a:latin typeface="Arial Narrow" panose="020B0606020202030204" pitchFamily="34" charset="0"/>
              </a:rPr>
              <a:t>速くできるんじゃ</a:t>
            </a:r>
            <a:r>
              <a:rPr lang="ja-JP" altLang="en-US" sz="1400" dirty="0" err="1">
                <a:solidFill>
                  <a:schemeClr val="tx1">
                    <a:lumMod val="85000"/>
                    <a:lumOff val="15000"/>
                  </a:schemeClr>
                </a:solidFill>
                <a:latin typeface="Arial Narrow" panose="020B0606020202030204" pitchFamily="34" charset="0"/>
              </a:rPr>
              <a:t>ね</a:t>
            </a:r>
            <a:r>
              <a:rPr lang="ja-JP" altLang="en-US" sz="1400" dirty="0">
                <a:solidFill>
                  <a:schemeClr val="tx1">
                    <a:lumMod val="85000"/>
                    <a:lumOff val="15000"/>
                  </a:schemeClr>
                </a:solidFill>
                <a:latin typeface="Arial Narrow" panose="020B0606020202030204" pitchFamily="34" charset="0"/>
              </a:rPr>
              <a:t>！？</a:t>
            </a:r>
          </a:p>
        </p:txBody>
      </p:sp>
      <p:sp>
        <p:nvSpPr>
          <p:cNvPr id="31" name="正方形/長方形 30"/>
          <p:cNvSpPr/>
          <p:nvPr/>
        </p:nvSpPr>
        <p:spPr bwMode="auto">
          <a:xfrm>
            <a:off x="5555999"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1"/>
                </a:solidFill>
              </a:rPr>
              <a:t>ｵｲﾔﾒﾛ</a:t>
            </a:r>
          </a:p>
        </p:txBody>
      </p:sp>
      <p:sp>
        <p:nvSpPr>
          <p:cNvPr id="32" name="正方形/長方形 31"/>
          <p:cNvSpPr/>
          <p:nvPr/>
        </p:nvSpPr>
        <p:spPr bwMode="auto">
          <a:xfrm>
            <a:off x="8346030" y="1682923"/>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2"/>
                </a:solidFill>
              </a:rPr>
              <a:t>ﾑﾘﾑﾘ</a:t>
            </a:r>
          </a:p>
        </p:txBody>
      </p:sp>
      <p:sp>
        <p:nvSpPr>
          <p:cNvPr id="33" name="正方形/長方形 32"/>
          <p:cNvSpPr/>
          <p:nvPr/>
        </p:nvSpPr>
        <p:spPr bwMode="auto">
          <a:xfrm>
            <a:off x="6906010" y="1718985"/>
            <a:ext cx="540006" cy="450005"/>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3">
                    <a:lumMod val="75000"/>
                  </a:schemeClr>
                </a:solidFill>
              </a:rPr>
              <a:t>ﾔﾒﾃ</a:t>
            </a:r>
          </a:p>
        </p:txBody>
      </p:sp>
      <p:sp>
        <p:nvSpPr>
          <p:cNvPr id="34" name="正方形/長方形 33"/>
          <p:cNvSpPr/>
          <p:nvPr/>
        </p:nvSpPr>
        <p:spPr bwMode="auto">
          <a:xfrm>
            <a:off x="1865958" y="1358977"/>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endParaRPr lang="ja-JP" altLang="en-US" sz="1600" dirty="0">
              <a:solidFill>
                <a:schemeClr val="tx1">
                  <a:lumMod val="85000"/>
                  <a:lumOff val="15000"/>
                </a:schemeClr>
              </a:solidFill>
            </a:endParaRPr>
          </a:p>
        </p:txBody>
      </p:sp>
      <p:sp>
        <p:nvSpPr>
          <p:cNvPr id="35" name="正方形/長方形 34"/>
          <p:cNvSpPr/>
          <p:nvPr/>
        </p:nvSpPr>
        <p:spPr>
          <a:xfrm>
            <a:off x="2585966" y="1538979"/>
            <a:ext cx="502061" cy="369332"/>
          </a:xfrm>
          <a:prstGeom prst="rect">
            <a:avLst/>
          </a:prstGeom>
        </p:spPr>
        <p:txBody>
          <a:bodyPr wrap="none">
            <a:spAutoFit/>
          </a:bodyPr>
          <a:lstStyle/>
          <a:p>
            <a:r>
              <a:rPr lang="ja-JP" altLang="en-US" dirty="0">
                <a:solidFill>
                  <a:schemeClr val="tx1">
                    <a:lumMod val="85000"/>
                    <a:lumOff val="15000"/>
                  </a:schemeClr>
                </a:solidFill>
              </a:rPr>
              <a:t>💡</a:t>
            </a:r>
          </a:p>
        </p:txBody>
      </p:sp>
      <p:sp>
        <p:nvSpPr>
          <p:cNvPr id="36" name="正方形/長方形 35">
            <a:extLst>
              <a:ext uri="{FF2B5EF4-FFF2-40B4-BE49-F238E27FC236}">
                <a16:creationId xmlns:a16="http://schemas.microsoft.com/office/drawing/2014/main" id="{693CAF5A-4D0E-9371-5EB3-8B5A3678E18F}"/>
              </a:ext>
            </a:extLst>
          </p:cNvPr>
          <p:cNvSpPr/>
          <p:nvPr/>
        </p:nvSpPr>
        <p:spPr>
          <a:xfrm>
            <a:off x="1955954" y="1538984"/>
            <a:ext cx="1620018" cy="307777"/>
          </a:xfrm>
          <a:prstGeom prst="rect">
            <a:avLst/>
          </a:prstGeom>
        </p:spPr>
        <p:txBody>
          <a:bodyPr wrap="square">
            <a:spAutoFit/>
          </a:bodyPr>
          <a:lstStyle/>
          <a:p>
            <a:r>
              <a:rPr lang="ja-JP" altLang="en-US" sz="1400" b="1" dirty="0">
                <a:solidFill>
                  <a:schemeClr val="tx1">
                    <a:lumMod val="85000"/>
                    <a:lumOff val="15000"/>
                  </a:schemeClr>
                </a:solidFill>
                <a:effectLst>
                  <a:outerShdw blurRad="38100" dist="38100" dir="2700000" algn="tl">
                    <a:srgbClr val="000000">
                      <a:alpha val="43137"/>
                    </a:srgbClr>
                  </a:outerShdw>
                </a:effectLst>
                <a:latin typeface="ＭＳ Ｐゴシック" pitchFamily="50" charset="-128"/>
                <a:ea typeface="ＭＳ Ｐゴシック" pitchFamily="50" charset="-128"/>
              </a:rPr>
              <a:t>ﾋﾗﾒｲﾀ！</a:t>
            </a:r>
          </a:p>
        </p:txBody>
      </p:sp>
      <p:sp>
        <p:nvSpPr>
          <p:cNvPr id="5" name="正方形/長方形 4">
            <a:extLst>
              <a:ext uri="{FF2B5EF4-FFF2-40B4-BE49-F238E27FC236}">
                <a16:creationId xmlns:a16="http://schemas.microsoft.com/office/drawing/2014/main" id="{E1165DBA-792A-6C63-F0ED-E8330580E0E0}"/>
              </a:ext>
            </a:extLst>
          </p:cNvPr>
          <p:cNvSpPr/>
          <p:nvPr/>
        </p:nvSpPr>
        <p:spPr bwMode="auto">
          <a:xfrm>
            <a:off x="9966048" y="1718981"/>
            <a:ext cx="630007"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wrap="none" rtlCol="0" anchor="ctr"/>
          <a:lstStyle/>
          <a:p>
            <a:pPr algn="ctr"/>
            <a:r>
              <a:rPr lang="ja-JP" altLang="en-US" sz="1600" dirty="0">
                <a:solidFill>
                  <a:schemeClr val="accent4"/>
                </a:solidFill>
              </a:rPr>
              <a:t>ﾃﾝｼｮｸｼﾖｳ</a:t>
            </a:r>
          </a:p>
        </p:txBody>
      </p:sp>
    </p:spTree>
    <p:extLst>
      <p:ext uri="{BB962C8B-B14F-4D97-AF65-F5344CB8AC3E}">
        <p14:creationId xmlns:p14="http://schemas.microsoft.com/office/powerpoint/2010/main" val="3123867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回路的な理由</a:t>
            </a:r>
          </a:p>
        </p:txBody>
      </p:sp>
      <p:sp>
        <p:nvSpPr>
          <p:cNvPr id="3" name="テキスト プレースホルダー 2"/>
          <p:cNvSpPr>
            <a:spLocks noGrp="1"/>
          </p:cNvSpPr>
          <p:nvPr>
            <p:ph type="body" sz="quarter" idx="10"/>
          </p:nvPr>
        </p:nvSpPr>
        <p:spPr/>
        <p:txBody>
          <a:bodyPr/>
          <a:lstStyle/>
          <a:p>
            <a:r>
              <a:rPr kumimoji="1" lang="ja-JP" altLang="en-US" dirty="0"/>
              <a:t>理由：</a:t>
            </a:r>
            <a:endParaRPr kumimoji="1" lang="en-US" altLang="ja-JP" dirty="0"/>
          </a:p>
          <a:p>
            <a:pPr marL="817200" lvl="1" indent="-457200">
              <a:buFont typeface="+mj-lt"/>
              <a:buAutoNum type="arabicPeriod"/>
            </a:pPr>
            <a:r>
              <a:rPr kumimoji="1" lang="en-US" altLang="ja-JP" dirty="0"/>
              <a:t>D-FF </a:t>
            </a:r>
            <a:r>
              <a:rPr kumimoji="1" lang="ja-JP" altLang="en-US" dirty="0"/>
              <a:t>自体の遅延のため（発展）</a:t>
            </a:r>
            <a:endParaRPr kumimoji="1" lang="en-US" altLang="ja-JP" dirty="0"/>
          </a:p>
          <a:p>
            <a:pPr marL="817200" lvl="1" indent="-457200">
              <a:buFont typeface="+mj-lt"/>
              <a:buAutoNum type="arabicPeriod"/>
            </a:pPr>
            <a:r>
              <a:rPr kumimoji="1" lang="ja-JP" altLang="en-US" dirty="0"/>
              <a:t>消費電力と熱のため</a:t>
            </a:r>
          </a:p>
        </p:txBody>
      </p:sp>
    </p:spTree>
    <p:extLst>
      <p:ext uri="{BB962C8B-B14F-4D97-AF65-F5344CB8AC3E}">
        <p14:creationId xmlns:p14="http://schemas.microsoft.com/office/powerpoint/2010/main" val="3313874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p:txBody>
          <a:bodyPr/>
          <a:lstStyle/>
          <a:p>
            <a:r>
              <a:rPr lang="ja-JP" altLang="en-US" sz="2400" dirty="0"/>
              <a:t>記憶素子の原理</a:t>
            </a:r>
          </a:p>
        </p:txBody>
      </p:sp>
      <p:sp>
        <p:nvSpPr>
          <p:cNvPr id="715779" name="Rectangle 3"/>
          <p:cNvSpPr>
            <a:spLocks noGrp="1" noChangeArrowheads="1"/>
          </p:cNvSpPr>
          <p:nvPr>
            <p:ph sz="quarter" idx="13"/>
          </p:nvPr>
        </p:nvSpPr>
        <p:spPr>
          <a:xfrm>
            <a:off x="1865953" y="1268976"/>
            <a:ext cx="8460622" cy="1350014"/>
          </a:xfrm>
        </p:spPr>
        <p:txBody>
          <a:bodyPr/>
          <a:lstStyle/>
          <a:p>
            <a:r>
              <a:rPr lang="ja-JP" altLang="en-US" dirty="0"/>
              <a:t>記憶の実現方法：</a:t>
            </a:r>
          </a:p>
          <a:p>
            <a:pPr lvl="1"/>
            <a:r>
              <a:rPr lang="ja-JP" altLang="en-US" dirty="0"/>
              <a:t>２つの </a:t>
            </a:r>
            <a:r>
              <a:rPr lang="en-US" altLang="ja-JP" dirty="0"/>
              <a:t>NOT </a:t>
            </a:r>
            <a:r>
              <a:rPr lang="ja-JP" altLang="en-US" dirty="0"/>
              <a:t>ゲート（インバータ）をループさせた回路により実現</a:t>
            </a:r>
            <a:endParaRPr lang="en-US" altLang="ja-JP" dirty="0"/>
          </a:p>
          <a:p>
            <a:pPr lvl="1"/>
            <a:r>
              <a:rPr lang="ja-JP" altLang="en-US" dirty="0"/>
              <a:t>以下の２通りの安定状態がある</a:t>
            </a:r>
            <a:endParaRPr lang="en-US" altLang="ja-JP" dirty="0"/>
          </a:p>
          <a:p>
            <a:pPr lvl="2"/>
            <a:r>
              <a:rPr lang="ja-JP" altLang="en-US" dirty="0"/>
              <a:t>これのどっちになっているによって，</a:t>
            </a:r>
            <a:r>
              <a:rPr lang="en-US" altLang="ja-JP" dirty="0"/>
              <a:t>1 bit </a:t>
            </a:r>
            <a:r>
              <a:rPr lang="ja-JP" altLang="en-US" dirty="0"/>
              <a:t>の情報を記憶</a:t>
            </a:r>
          </a:p>
        </p:txBody>
      </p:sp>
      <p:sp>
        <p:nvSpPr>
          <p:cNvPr id="715787" name="Freeform 11"/>
          <p:cNvSpPr>
            <a:spLocks/>
          </p:cNvSpPr>
          <p:nvPr/>
        </p:nvSpPr>
        <p:spPr bwMode="auto">
          <a:xfrm>
            <a:off x="3935387" y="4149013"/>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8" name="Freeform 12"/>
          <p:cNvSpPr>
            <a:spLocks/>
          </p:cNvSpPr>
          <p:nvPr/>
        </p:nvSpPr>
        <p:spPr bwMode="auto">
          <a:xfrm flipH="1">
            <a:off x="4925987" y="4149013"/>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715789" name="Rectangle 13"/>
          <p:cNvSpPr>
            <a:spLocks noChangeArrowheads="1"/>
          </p:cNvSpPr>
          <p:nvPr/>
        </p:nvSpPr>
        <p:spPr bwMode="auto">
          <a:xfrm>
            <a:off x="3665978" y="4329015"/>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715790" name="Rectangle 14"/>
          <p:cNvSpPr>
            <a:spLocks noChangeArrowheads="1"/>
          </p:cNvSpPr>
          <p:nvPr/>
        </p:nvSpPr>
        <p:spPr bwMode="auto">
          <a:xfrm>
            <a:off x="5376837" y="4329988"/>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715791" name="Picture 15" descr="NOT"/>
          <p:cNvPicPr>
            <a:picLocks noChangeAspect="1" noChangeArrowheads="1"/>
          </p:cNvPicPr>
          <p:nvPr/>
        </p:nvPicPr>
        <p:blipFill>
          <a:blip r:embed="rId3" cstate="print"/>
          <a:srcRect/>
          <a:stretch>
            <a:fillRect/>
          </a:stretch>
        </p:blipFill>
        <p:spPr bwMode="auto">
          <a:xfrm>
            <a:off x="4295750" y="3790238"/>
            <a:ext cx="717550" cy="720725"/>
          </a:xfrm>
          <a:prstGeom prst="rect">
            <a:avLst/>
          </a:prstGeom>
          <a:noFill/>
        </p:spPr>
      </p:pic>
      <p:pic>
        <p:nvPicPr>
          <p:cNvPr id="715792" name="Picture 16" descr="NOT"/>
          <p:cNvPicPr>
            <a:picLocks noChangeAspect="1" noChangeArrowheads="1"/>
          </p:cNvPicPr>
          <p:nvPr/>
        </p:nvPicPr>
        <p:blipFill>
          <a:blip r:embed="rId3" cstate="print"/>
          <a:srcRect/>
          <a:stretch>
            <a:fillRect/>
          </a:stretch>
        </p:blipFill>
        <p:spPr bwMode="auto">
          <a:xfrm flipH="1">
            <a:off x="4295750" y="4509376"/>
            <a:ext cx="717550" cy="720725"/>
          </a:xfrm>
          <a:prstGeom prst="rect">
            <a:avLst/>
          </a:prstGeom>
          <a:noFill/>
        </p:spPr>
      </p:pic>
      <p:sp>
        <p:nvSpPr>
          <p:cNvPr id="52" name="Freeform 11"/>
          <p:cNvSpPr>
            <a:spLocks/>
          </p:cNvSpPr>
          <p:nvPr/>
        </p:nvSpPr>
        <p:spPr bwMode="auto">
          <a:xfrm>
            <a:off x="6815419" y="4149013"/>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5"/>
            </a:solidFill>
            <a:prstDash val="solid"/>
            <a:round/>
            <a:headEnd type="none" w="med" len="med"/>
            <a:tailEnd type="none" w="med" len="med"/>
          </a:ln>
          <a:effectLst/>
        </p:spPr>
        <p:txBody>
          <a:bodyPr wrap="none" lIns="90000" tIns="46800" rIns="90000" bIns="46800" anchor="ctr"/>
          <a:lstStyle/>
          <a:p>
            <a:endParaRPr lang="ja-JP" altLang="en-US"/>
          </a:p>
        </p:txBody>
      </p:sp>
      <p:sp>
        <p:nvSpPr>
          <p:cNvPr id="53" name="Freeform 12"/>
          <p:cNvSpPr>
            <a:spLocks/>
          </p:cNvSpPr>
          <p:nvPr/>
        </p:nvSpPr>
        <p:spPr bwMode="auto">
          <a:xfrm flipH="1">
            <a:off x="7806019" y="4149013"/>
            <a:ext cx="450850" cy="720725"/>
          </a:xfrm>
          <a:custGeom>
            <a:avLst/>
            <a:gdLst/>
            <a:ahLst/>
            <a:cxnLst>
              <a:cxn ang="0">
                <a:pos x="284" y="454"/>
              </a:cxn>
              <a:cxn ang="0">
                <a:pos x="0" y="454"/>
              </a:cxn>
              <a:cxn ang="0">
                <a:pos x="0" y="0"/>
              </a:cxn>
              <a:cxn ang="0">
                <a:pos x="284" y="0"/>
              </a:cxn>
            </a:cxnLst>
            <a:rect l="0" t="0" r="r" b="b"/>
            <a:pathLst>
              <a:path w="284" h="454">
                <a:moveTo>
                  <a:pt x="284" y="454"/>
                </a:moveTo>
                <a:lnTo>
                  <a:pt x="0" y="454"/>
                </a:lnTo>
                <a:lnTo>
                  <a:pt x="0" y="0"/>
                </a:lnTo>
                <a:lnTo>
                  <a:pt x="284" y="0"/>
                </a:lnTo>
              </a:path>
            </a:pathLst>
          </a:custGeom>
          <a:noFill/>
          <a:ln w="12700" cap="flat" cmpd="sng">
            <a:solidFill>
              <a:schemeClr val="accent6"/>
            </a:solidFill>
            <a:prstDash val="solid"/>
            <a:round/>
            <a:headEnd type="none" w="med" len="med"/>
            <a:tailEnd type="none" w="med" len="med"/>
          </a:ln>
          <a:effectLst/>
        </p:spPr>
        <p:txBody>
          <a:bodyPr wrap="none" lIns="90000" tIns="46800" rIns="90000" bIns="46800" anchor="ctr"/>
          <a:lstStyle/>
          <a:p>
            <a:endParaRPr lang="ja-JP" altLang="en-US"/>
          </a:p>
        </p:txBody>
      </p:sp>
      <p:sp>
        <p:nvSpPr>
          <p:cNvPr id="54" name="Rectangle 13"/>
          <p:cNvSpPr>
            <a:spLocks noChangeArrowheads="1"/>
          </p:cNvSpPr>
          <p:nvPr/>
        </p:nvSpPr>
        <p:spPr bwMode="auto">
          <a:xfrm>
            <a:off x="8345800" y="4330244"/>
            <a:ext cx="179387" cy="360363"/>
          </a:xfrm>
          <a:prstGeom prst="rect">
            <a:avLst/>
          </a:prstGeom>
          <a:noFill/>
          <a:ln w="12700" algn="ctr">
            <a:noFill/>
            <a:miter lim="800000"/>
            <a:headEnd/>
            <a:tailEnd/>
          </a:ln>
          <a:effectLst/>
        </p:spPr>
        <p:txBody>
          <a:bodyPr wrap="none" lIns="90000" tIns="46800" rIns="90000" bIns="46800" anchor="ctr"/>
          <a:lstStyle/>
          <a:p>
            <a:r>
              <a:rPr lang="en-US" altLang="ja-JP">
                <a:solidFill>
                  <a:schemeClr val="accent6"/>
                </a:solidFill>
              </a:rPr>
              <a:t>1</a:t>
            </a:r>
          </a:p>
        </p:txBody>
      </p:sp>
      <p:sp>
        <p:nvSpPr>
          <p:cNvPr id="55" name="Rectangle 14"/>
          <p:cNvSpPr>
            <a:spLocks noChangeArrowheads="1"/>
          </p:cNvSpPr>
          <p:nvPr/>
        </p:nvSpPr>
        <p:spPr bwMode="auto">
          <a:xfrm>
            <a:off x="6455774" y="4330244"/>
            <a:ext cx="179388" cy="360363"/>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rPr>
              <a:t>0</a:t>
            </a:r>
          </a:p>
        </p:txBody>
      </p:sp>
      <p:pic>
        <p:nvPicPr>
          <p:cNvPr id="56" name="Picture 15" descr="NOT"/>
          <p:cNvPicPr>
            <a:picLocks noChangeAspect="1" noChangeArrowheads="1"/>
          </p:cNvPicPr>
          <p:nvPr/>
        </p:nvPicPr>
        <p:blipFill>
          <a:blip r:embed="rId3" cstate="print"/>
          <a:srcRect/>
          <a:stretch>
            <a:fillRect/>
          </a:stretch>
        </p:blipFill>
        <p:spPr bwMode="auto">
          <a:xfrm>
            <a:off x="7175782" y="3790238"/>
            <a:ext cx="717550" cy="720725"/>
          </a:xfrm>
          <a:prstGeom prst="rect">
            <a:avLst/>
          </a:prstGeom>
          <a:noFill/>
        </p:spPr>
      </p:pic>
      <p:pic>
        <p:nvPicPr>
          <p:cNvPr id="57" name="Picture 16" descr="NOT"/>
          <p:cNvPicPr>
            <a:picLocks noChangeAspect="1" noChangeArrowheads="1"/>
          </p:cNvPicPr>
          <p:nvPr/>
        </p:nvPicPr>
        <p:blipFill>
          <a:blip r:embed="rId3" cstate="print"/>
          <a:srcRect/>
          <a:stretch>
            <a:fillRect/>
          </a:stretch>
        </p:blipFill>
        <p:spPr bwMode="auto">
          <a:xfrm flipH="1">
            <a:off x="7175782" y="4509376"/>
            <a:ext cx="717550" cy="720725"/>
          </a:xfrm>
          <a:prstGeom prst="rect">
            <a:avLst/>
          </a:prstGeom>
          <a:noFill/>
        </p:spPr>
      </p:pic>
    </p:spTree>
    <p:extLst>
      <p:ext uri="{BB962C8B-B14F-4D97-AF65-F5344CB8AC3E}">
        <p14:creationId xmlns:p14="http://schemas.microsoft.com/office/powerpoint/2010/main" val="20832488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59</a:t>
            </a:fld>
            <a:endParaRPr lang="ja-JP" altLang="en-US"/>
          </a:p>
        </p:txBody>
      </p:sp>
      <p:sp>
        <p:nvSpPr>
          <p:cNvPr id="700418" name="Rectangle 2"/>
          <p:cNvSpPr>
            <a:spLocks noGrp="1" noChangeArrowheads="1"/>
          </p:cNvSpPr>
          <p:nvPr>
            <p:ph type="title"/>
          </p:nvPr>
        </p:nvSpPr>
        <p:spPr/>
        <p:txBody>
          <a:bodyPr/>
          <a:lstStyle/>
          <a:p>
            <a:r>
              <a:rPr lang="en-US" altLang="ja-JP" dirty="0"/>
              <a:t>D </a:t>
            </a:r>
            <a:r>
              <a:rPr lang="ja-JP" altLang="en-US" dirty="0"/>
              <a:t>ラッチの回路</a:t>
            </a:r>
            <a:endParaRPr lang="en-US" altLang="ja-JP" dirty="0"/>
          </a:p>
        </p:txBody>
      </p:sp>
      <p:sp>
        <p:nvSpPr>
          <p:cNvPr id="700460" name="Freeform 44"/>
          <p:cNvSpPr>
            <a:spLocks/>
          </p:cNvSpPr>
          <p:nvPr/>
        </p:nvSpPr>
        <p:spPr bwMode="auto">
          <a:xfrm>
            <a:off x="7535658" y="1268622"/>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7896020" y="908260"/>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7896020" y="1628985"/>
            <a:ext cx="717550" cy="720725"/>
          </a:xfrm>
          <a:prstGeom prst="rect">
            <a:avLst/>
          </a:prstGeom>
          <a:noFill/>
        </p:spPr>
      </p:pic>
      <p:sp>
        <p:nvSpPr>
          <p:cNvPr id="700462" name="Line 46"/>
          <p:cNvSpPr>
            <a:spLocks noChangeShapeType="1"/>
          </p:cNvSpPr>
          <p:nvPr/>
        </p:nvSpPr>
        <p:spPr bwMode="auto">
          <a:xfrm>
            <a:off x="6816525" y="1989342"/>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7446763" y="1538497"/>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7086400" y="1898860"/>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8975828" y="1988881"/>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6456158" y="1809955"/>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9336041" y="1808982"/>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7086169" y="1911427"/>
            <a:ext cx="449493" cy="89847"/>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7446763" y="1898860"/>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8" name="Freeform 62"/>
          <p:cNvSpPr>
            <a:spLocks/>
          </p:cNvSpPr>
          <p:nvPr/>
        </p:nvSpPr>
        <p:spPr bwMode="auto">
          <a:xfrm>
            <a:off x="7536016" y="3069001"/>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7896378" y="2708638"/>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7896378" y="3429363"/>
            <a:ext cx="717550" cy="720725"/>
          </a:xfrm>
          <a:prstGeom prst="rect">
            <a:avLst/>
          </a:prstGeom>
          <a:noFill/>
        </p:spPr>
      </p:pic>
      <p:sp>
        <p:nvSpPr>
          <p:cNvPr id="700491" name="Line 75"/>
          <p:cNvSpPr>
            <a:spLocks noChangeShapeType="1"/>
          </p:cNvSpPr>
          <p:nvPr/>
        </p:nvSpPr>
        <p:spPr bwMode="auto">
          <a:xfrm>
            <a:off x="6816883" y="3789721"/>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7447121" y="3338876"/>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7086758" y="3699238"/>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8976186" y="3789260"/>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6456516" y="3610338"/>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9336041" y="351900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7445528" y="3340463"/>
            <a:ext cx="90488" cy="449263"/>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7447121" y="3699238"/>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1775956" y="1268976"/>
            <a:ext cx="4590051" cy="5040056"/>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構造：マルチプレクサが入ったインバータのループ</a:t>
            </a:r>
            <a:endParaRPr lang="en-US" altLang="ja-JP" kern="0" dirty="0"/>
          </a:p>
          <a:p>
            <a:pPr lvl="1"/>
            <a:r>
              <a:rPr lang="ja-JP" altLang="en-US" kern="0" dirty="0"/>
              <a:t>ここではマルチプレクサを切り替えスイッチとして説明</a:t>
            </a:r>
          </a:p>
          <a:p>
            <a:pPr lvl="1"/>
            <a:r>
              <a:rPr lang="ja-JP" altLang="en-US" kern="0" dirty="0"/>
              <a:t>クロックの立ち上がりのたびに，スイッチが切り替わる</a:t>
            </a:r>
            <a:br>
              <a:rPr lang="en-US" altLang="ja-JP" kern="0" dirty="0"/>
            </a:br>
            <a:endParaRPr lang="en-US" altLang="ja-JP" kern="0" dirty="0"/>
          </a:p>
          <a:p>
            <a:pPr lvl="1"/>
            <a:r>
              <a:rPr lang="en-US" altLang="ja-JP" i="1" kern="0" dirty="0"/>
              <a:t>d</a:t>
            </a:r>
            <a:r>
              <a:rPr lang="ja-JP" altLang="en-US" kern="0" dirty="0"/>
              <a:t> の値をループに取り入れ，取り入れた値が </a:t>
            </a:r>
            <a:r>
              <a:rPr lang="en-US" altLang="ja-JP" i="1" kern="0" dirty="0"/>
              <a:t>q</a:t>
            </a:r>
            <a:r>
              <a:rPr lang="ja-JP" altLang="en-US" kern="0" dirty="0"/>
              <a:t> から出力される</a:t>
            </a:r>
            <a:endParaRPr lang="en-US" altLang="ja-JP" kern="0" dirty="0"/>
          </a:p>
        </p:txBody>
      </p:sp>
      <p:sp>
        <p:nvSpPr>
          <p:cNvPr id="7" name="Rectangle 93">
            <a:extLst>
              <a:ext uri="{FF2B5EF4-FFF2-40B4-BE49-F238E27FC236}">
                <a16:creationId xmlns:a16="http://schemas.microsoft.com/office/drawing/2014/main" id="{BD8FB16A-14B3-67D5-45E4-C26E45586F63}"/>
              </a:ext>
            </a:extLst>
          </p:cNvPr>
          <p:cNvSpPr>
            <a:spLocks noChangeArrowheads="1"/>
          </p:cNvSpPr>
          <p:nvPr/>
        </p:nvSpPr>
        <p:spPr bwMode="auto">
          <a:xfrm>
            <a:off x="8706034" y="2258987"/>
            <a:ext cx="1081087" cy="360362"/>
          </a:xfrm>
          <a:prstGeom prst="rect">
            <a:avLst/>
          </a:prstGeom>
          <a:noFill/>
          <a:ln w="12700" algn="ctr">
            <a:noFill/>
            <a:miter lim="800000"/>
            <a:headEnd/>
            <a:tailEnd/>
          </a:ln>
          <a:effectLst/>
        </p:spPr>
        <p:txBody>
          <a:bodyPr wrap="none" lIns="90000" tIns="46800" rIns="90000" bIns="46800" anchor="ctr"/>
          <a:lstStyle/>
          <a:p>
            <a:r>
              <a:rPr lang="en-US" altLang="ja-JP" dirty="0"/>
              <a:t>d </a:t>
            </a:r>
            <a:r>
              <a:rPr lang="ja-JP" altLang="en-US" dirty="0"/>
              <a:t>に入った値</a:t>
            </a:r>
            <a:endParaRPr lang="en-US" altLang="ja-JP" dirty="0"/>
          </a:p>
          <a:p>
            <a:r>
              <a:rPr lang="ja-JP" altLang="en-US" dirty="0"/>
              <a:t>を反転して通す</a:t>
            </a:r>
            <a:endParaRPr lang="en-US" altLang="ja-JP" dirty="0"/>
          </a:p>
        </p:txBody>
      </p:sp>
      <p:sp>
        <p:nvSpPr>
          <p:cNvPr id="8" name="Rectangle 83">
            <a:extLst>
              <a:ext uri="{FF2B5EF4-FFF2-40B4-BE49-F238E27FC236}">
                <a16:creationId xmlns:a16="http://schemas.microsoft.com/office/drawing/2014/main" id="{7E456033-A345-04EC-D406-B85848F1348B}"/>
              </a:ext>
            </a:extLst>
          </p:cNvPr>
          <p:cNvSpPr>
            <a:spLocks noChangeArrowheads="1"/>
          </p:cNvSpPr>
          <p:nvPr/>
        </p:nvSpPr>
        <p:spPr bwMode="auto">
          <a:xfrm>
            <a:off x="6816366" y="342864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9" name="Rectangle 83">
            <a:extLst>
              <a:ext uri="{FF2B5EF4-FFF2-40B4-BE49-F238E27FC236}">
                <a16:creationId xmlns:a16="http://schemas.microsoft.com/office/drawing/2014/main" id="{034B9220-D132-AA8A-C1E8-F7000C101AA8}"/>
              </a:ext>
            </a:extLst>
          </p:cNvPr>
          <p:cNvSpPr>
            <a:spLocks noChangeArrowheads="1"/>
          </p:cNvSpPr>
          <p:nvPr/>
        </p:nvSpPr>
        <p:spPr bwMode="auto">
          <a:xfrm>
            <a:off x="7536016" y="1629497"/>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0" name="Rectangle 83">
            <a:extLst>
              <a:ext uri="{FF2B5EF4-FFF2-40B4-BE49-F238E27FC236}">
                <a16:creationId xmlns:a16="http://schemas.microsoft.com/office/drawing/2014/main" id="{8F724F54-9B54-B6AE-3901-23A49DADDC12}"/>
              </a:ext>
            </a:extLst>
          </p:cNvPr>
          <p:cNvSpPr>
            <a:spLocks noChangeArrowheads="1"/>
          </p:cNvSpPr>
          <p:nvPr/>
        </p:nvSpPr>
        <p:spPr bwMode="auto">
          <a:xfrm>
            <a:off x="8615670" y="1448624"/>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12" name="Rectangle 83">
            <a:extLst>
              <a:ext uri="{FF2B5EF4-FFF2-40B4-BE49-F238E27FC236}">
                <a16:creationId xmlns:a16="http://schemas.microsoft.com/office/drawing/2014/main" id="{220F5671-F264-B456-5B83-0809E4F7E0E2}"/>
              </a:ext>
            </a:extLst>
          </p:cNvPr>
          <p:cNvSpPr>
            <a:spLocks noChangeArrowheads="1"/>
          </p:cNvSpPr>
          <p:nvPr/>
        </p:nvSpPr>
        <p:spPr bwMode="auto">
          <a:xfrm>
            <a:off x="7536016" y="909489"/>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3" name="Rectangle 83">
            <a:extLst>
              <a:ext uri="{FF2B5EF4-FFF2-40B4-BE49-F238E27FC236}">
                <a16:creationId xmlns:a16="http://schemas.microsoft.com/office/drawing/2014/main" id="{AA9D4267-E50D-AEF1-3F55-CD9C98492BAA}"/>
              </a:ext>
            </a:extLst>
          </p:cNvPr>
          <p:cNvSpPr>
            <a:spLocks noChangeArrowheads="1"/>
          </p:cNvSpPr>
          <p:nvPr/>
        </p:nvSpPr>
        <p:spPr bwMode="auto">
          <a:xfrm>
            <a:off x="7536374" y="342987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4" name="Rectangle 83">
            <a:extLst>
              <a:ext uri="{FF2B5EF4-FFF2-40B4-BE49-F238E27FC236}">
                <a16:creationId xmlns:a16="http://schemas.microsoft.com/office/drawing/2014/main" id="{96C2642B-843C-6E3A-EAA1-CFD0FAB15B4B}"/>
              </a:ext>
            </a:extLst>
          </p:cNvPr>
          <p:cNvSpPr>
            <a:spLocks noChangeArrowheads="1"/>
          </p:cNvSpPr>
          <p:nvPr/>
        </p:nvSpPr>
        <p:spPr bwMode="auto">
          <a:xfrm>
            <a:off x="8616028" y="3249003"/>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15" name="Rectangle 83">
            <a:extLst>
              <a:ext uri="{FF2B5EF4-FFF2-40B4-BE49-F238E27FC236}">
                <a16:creationId xmlns:a16="http://schemas.microsoft.com/office/drawing/2014/main" id="{43052578-2A1C-2AED-EEEC-F5D5422A9D3E}"/>
              </a:ext>
            </a:extLst>
          </p:cNvPr>
          <p:cNvSpPr>
            <a:spLocks noChangeArrowheads="1"/>
          </p:cNvSpPr>
          <p:nvPr/>
        </p:nvSpPr>
        <p:spPr bwMode="auto">
          <a:xfrm>
            <a:off x="7536374" y="2709868"/>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17" name="矢印: 右 16">
            <a:extLst>
              <a:ext uri="{FF2B5EF4-FFF2-40B4-BE49-F238E27FC236}">
                <a16:creationId xmlns:a16="http://schemas.microsoft.com/office/drawing/2014/main" id="{2C58501D-735D-C229-13F3-2F4611E2F4DA}"/>
              </a:ext>
            </a:extLst>
          </p:cNvPr>
          <p:cNvSpPr/>
          <p:nvPr/>
        </p:nvSpPr>
        <p:spPr bwMode="auto">
          <a:xfrm rot="5400000">
            <a:off x="8076027" y="2348993"/>
            <a:ext cx="450005"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 name="Freeform 62">
            <a:extLst>
              <a:ext uri="{FF2B5EF4-FFF2-40B4-BE49-F238E27FC236}">
                <a16:creationId xmlns:a16="http://schemas.microsoft.com/office/drawing/2014/main" id="{B46A048E-5009-0B4B-2B8E-ABDD51077666}"/>
              </a:ext>
            </a:extLst>
          </p:cNvPr>
          <p:cNvSpPr>
            <a:spLocks/>
          </p:cNvSpPr>
          <p:nvPr/>
        </p:nvSpPr>
        <p:spPr bwMode="auto">
          <a:xfrm>
            <a:off x="7535658" y="486938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19" name="Picture 64" descr="NOT">
            <a:extLst>
              <a:ext uri="{FF2B5EF4-FFF2-40B4-BE49-F238E27FC236}">
                <a16:creationId xmlns:a16="http://schemas.microsoft.com/office/drawing/2014/main" id="{69D76F12-6905-9B8F-E02B-62C9A83B6D6E}"/>
              </a:ext>
            </a:extLst>
          </p:cNvPr>
          <p:cNvPicPr>
            <a:picLocks noChangeAspect="1" noChangeArrowheads="1"/>
          </p:cNvPicPr>
          <p:nvPr/>
        </p:nvPicPr>
        <p:blipFill>
          <a:blip r:embed="rId3" cstate="print"/>
          <a:srcRect/>
          <a:stretch>
            <a:fillRect/>
          </a:stretch>
        </p:blipFill>
        <p:spPr bwMode="auto">
          <a:xfrm flipH="1">
            <a:off x="7896020" y="4509017"/>
            <a:ext cx="717550" cy="720725"/>
          </a:xfrm>
          <a:prstGeom prst="rect">
            <a:avLst/>
          </a:prstGeom>
          <a:noFill/>
        </p:spPr>
      </p:pic>
      <p:pic>
        <p:nvPicPr>
          <p:cNvPr id="20" name="Picture 65" descr="NOT">
            <a:extLst>
              <a:ext uri="{FF2B5EF4-FFF2-40B4-BE49-F238E27FC236}">
                <a16:creationId xmlns:a16="http://schemas.microsoft.com/office/drawing/2014/main" id="{0C1F4009-0AB0-DF66-B530-8B13A6AE4B80}"/>
              </a:ext>
            </a:extLst>
          </p:cNvPr>
          <p:cNvPicPr>
            <a:picLocks noChangeAspect="1" noChangeArrowheads="1"/>
          </p:cNvPicPr>
          <p:nvPr/>
        </p:nvPicPr>
        <p:blipFill>
          <a:blip r:embed="rId3" cstate="print"/>
          <a:srcRect/>
          <a:stretch>
            <a:fillRect/>
          </a:stretch>
        </p:blipFill>
        <p:spPr bwMode="auto">
          <a:xfrm>
            <a:off x="7896020" y="5229742"/>
            <a:ext cx="717550" cy="720725"/>
          </a:xfrm>
          <a:prstGeom prst="rect">
            <a:avLst/>
          </a:prstGeom>
          <a:noFill/>
        </p:spPr>
      </p:pic>
      <p:sp>
        <p:nvSpPr>
          <p:cNvPr id="21" name="Line 75">
            <a:extLst>
              <a:ext uri="{FF2B5EF4-FFF2-40B4-BE49-F238E27FC236}">
                <a16:creationId xmlns:a16="http://schemas.microsoft.com/office/drawing/2014/main" id="{0E6851F5-3F8A-8B88-A42C-77FE56E7261B}"/>
              </a:ext>
            </a:extLst>
          </p:cNvPr>
          <p:cNvSpPr>
            <a:spLocks noChangeShapeType="1"/>
          </p:cNvSpPr>
          <p:nvPr/>
        </p:nvSpPr>
        <p:spPr bwMode="auto">
          <a:xfrm>
            <a:off x="6816525" y="5590100"/>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22" name="Group 76">
            <a:extLst>
              <a:ext uri="{FF2B5EF4-FFF2-40B4-BE49-F238E27FC236}">
                <a16:creationId xmlns:a16="http://schemas.microsoft.com/office/drawing/2014/main" id="{60A9A132-7C22-D0CD-0091-B1671119854E}"/>
              </a:ext>
            </a:extLst>
          </p:cNvPr>
          <p:cNvGrpSpPr>
            <a:grpSpLocks/>
          </p:cNvGrpSpPr>
          <p:nvPr/>
        </p:nvGrpSpPr>
        <p:grpSpPr bwMode="auto">
          <a:xfrm>
            <a:off x="7446763" y="5139255"/>
            <a:ext cx="180975" cy="180975"/>
            <a:chOff x="2823" y="1990"/>
            <a:chExt cx="227" cy="227"/>
          </a:xfrm>
        </p:grpSpPr>
        <p:sp>
          <p:nvSpPr>
            <p:cNvPr id="23" name="Rectangle 77">
              <a:extLst>
                <a:ext uri="{FF2B5EF4-FFF2-40B4-BE49-F238E27FC236}">
                  <a16:creationId xmlns:a16="http://schemas.microsoft.com/office/drawing/2014/main" id="{CA50B49B-A7FF-D4EC-463C-740F9E05EFA6}"/>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24" name="Oval 78">
              <a:extLst>
                <a:ext uri="{FF2B5EF4-FFF2-40B4-BE49-F238E27FC236}">
                  <a16:creationId xmlns:a16="http://schemas.microsoft.com/office/drawing/2014/main" id="{19AC00AE-D5C5-76C5-C9D5-FC31BE2D15F9}"/>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25" name="Group 79">
            <a:extLst>
              <a:ext uri="{FF2B5EF4-FFF2-40B4-BE49-F238E27FC236}">
                <a16:creationId xmlns:a16="http://schemas.microsoft.com/office/drawing/2014/main" id="{A8C42CDF-7518-B02D-E72F-5DFA6BE887E4}"/>
              </a:ext>
            </a:extLst>
          </p:cNvPr>
          <p:cNvGrpSpPr>
            <a:grpSpLocks/>
          </p:cNvGrpSpPr>
          <p:nvPr/>
        </p:nvGrpSpPr>
        <p:grpSpPr bwMode="auto">
          <a:xfrm>
            <a:off x="7086400" y="5499617"/>
            <a:ext cx="180975" cy="180975"/>
            <a:chOff x="2823" y="1990"/>
            <a:chExt cx="227" cy="227"/>
          </a:xfrm>
        </p:grpSpPr>
        <p:sp>
          <p:nvSpPr>
            <p:cNvPr id="26" name="Rectangle 80">
              <a:extLst>
                <a:ext uri="{FF2B5EF4-FFF2-40B4-BE49-F238E27FC236}">
                  <a16:creationId xmlns:a16="http://schemas.microsoft.com/office/drawing/2014/main" id="{6BB3824C-03A9-CCBB-8E4F-D265FAC5D1B3}"/>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27" name="Oval 81">
              <a:extLst>
                <a:ext uri="{FF2B5EF4-FFF2-40B4-BE49-F238E27FC236}">
                  <a16:creationId xmlns:a16="http://schemas.microsoft.com/office/drawing/2014/main" id="{CD979090-4D3B-2467-FB88-7FAAF2B05FF2}"/>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28" name="Line 82">
            <a:extLst>
              <a:ext uri="{FF2B5EF4-FFF2-40B4-BE49-F238E27FC236}">
                <a16:creationId xmlns:a16="http://schemas.microsoft.com/office/drawing/2014/main" id="{CD81B6B1-5B53-6D73-63F4-60D53EE395C0}"/>
              </a:ext>
            </a:extLst>
          </p:cNvPr>
          <p:cNvSpPr>
            <a:spLocks noChangeShapeType="1"/>
          </p:cNvSpPr>
          <p:nvPr/>
        </p:nvSpPr>
        <p:spPr bwMode="auto">
          <a:xfrm>
            <a:off x="8975828" y="558963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29" name="Rectangle 83">
            <a:extLst>
              <a:ext uri="{FF2B5EF4-FFF2-40B4-BE49-F238E27FC236}">
                <a16:creationId xmlns:a16="http://schemas.microsoft.com/office/drawing/2014/main" id="{C7BD5B80-EF95-2E77-04CC-5E72CF0279F8}"/>
              </a:ext>
            </a:extLst>
          </p:cNvPr>
          <p:cNvSpPr>
            <a:spLocks noChangeArrowheads="1"/>
          </p:cNvSpPr>
          <p:nvPr/>
        </p:nvSpPr>
        <p:spPr bwMode="auto">
          <a:xfrm>
            <a:off x="6456158" y="5410717"/>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31" name="Line 85">
            <a:extLst>
              <a:ext uri="{FF2B5EF4-FFF2-40B4-BE49-F238E27FC236}">
                <a16:creationId xmlns:a16="http://schemas.microsoft.com/office/drawing/2014/main" id="{C20BF7C3-8CE4-A848-7A68-58C2439183E0}"/>
              </a:ext>
            </a:extLst>
          </p:cNvPr>
          <p:cNvSpPr>
            <a:spLocks noChangeShapeType="1"/>
          </p:cNvSpPr>
          <p:nvPr/>
        </p:nvSpPr>
        <p:spPr bwMode="auto">
          <a:xfrm flipH="1" flipV="1">
            <a:off x="7445170" y="5140842"/>
            <a:ext cx="90488" cy="449263"/>
          </a:xfrm>
          <a:prstGeom prst="line">
            <a:avLst/>
          </a:prstGeom>
          <a:noFill/>
          <a:ln w="28575">
            <a:solidFill>
              <a:schemeClr val="accent5"/>
            </a:solidFill>
            <a:round/>
            <a:headEnd/>
            <a:tailEnd type="none" w="med" len="lg"/>
          </a:ln>
          <a:effectLst/>
        </p:spPr>
        <p:txBody>
          <a:bodyPr wrap="none" lIns="90000" tIns="46800" rIns="90000" bIns="46800" anchor="ctr"/>
          <a:lstStyle/>
          <a:p>
            <a:endParaRPr lang="ja-JP" altLang="en-US"/>
          </a:p>
        </p:txBody>
      </p:sp>
      <p:grpSp>
        <p:nvGrpSpPr>
          <p:cNvPr id="32" name="Group 86">
            <a:extLst>
              <a:ext uri="{FF2B5EF4-FFF2-40B4-BE49-F238E27FC236}">
                <a16:creationId xmlns:a16="http://schemas.microsoft.com/office/drawing/2014/main" id="{E60234BC-26F6-E228-56E6-59ED1768370F}"/>
              </a:ext>
            </a:extLst>
          </p:cNvPr>
          <p:cNvGrpSpPr>
            <a:grpSpLocks/>
          </p:cNvGrpSpPr>
          <p:nvPr/>
        </p:nvGrpSpPr>
        <p:grpSpPr bwMode="auto">
          <a:xfrm>
            <a:off x="7446763" y="5499617"/>
            <a:ext cx="180975" cy="180975"/>
            <a:chOff x="2823" y="1990"/>
            <a:chExt cx="227" cy="227"/>
          </a:xfrm>
        </p:grpSpPr>
        <p:sp>
          <p:nvSpPr>
            <p:cNvPr id="33" name="Rectangle 87">
              <a:extLst>
                <a:ext uri="{FF2B5EF4-FFF2-40B4-BE49-F238E27FC236}">
                  <a16:creationId xmlns:a16="http://schemas.microsoft.com/office/drawing/2014/main" id="{AE9E37ED-B12B-CDBC-BD84-905E4E8EA726}"/>
                </a:ext>
              </a:extLst>
            </p:cNvPr>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34" name="Oval 88">
              <a:extLst>
                <a:ext uri="{FF2B5EF4-FFF2-40B4-BE49-F238E27FC236}">
                  <a16:creationId xmlns:a16="http://schemas.microsoft.com/office/drawing/2014/main" id="{EE64EFF9-CB36-8B3F-9B62-B1557ED5C5B5}"/>
                </a:ext>
              </a:extLst>
            </p:cNvPr>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35" name="Rectangle 83">
            <a:extLst>
              <a:ext uri="{FF2B5EF4-FFF2-40B4-BE49-F238E27FC236}">
                <a16:creationId xmlns:a16="http://schemas.microsoft.com/office/drawing/2014/main" id="{A281B441-D7F6-C5EC-7E9C-9462B548B36E}"/>
              </a:ext>
            </a:extLst>
          </p:cNvPr>
          <p:cNvSpPr>
            <a:spLocks noChangeArrowheads="1"/>
          </p:cNvSpPr>
          <p:nvPr/>
        </p:nvSpPr>
        <p:spPr bwMode="auto">
          <a:xfrm>
            <a:off x="6816008" y="5229025"/>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6"/>
                </a:solidFill>
              </a:rPr>
              <a:t>0</a:t>
            </a:r>
          </a:p>
        </p:txBody>
      </p:sp>
      <p:sp>
        <p:nvSpPr>
          <p:cNvPr id="36" name="Rectangle 83">
            <a:extLst>
              <a:ext uri="{FF2B5EF4-FFF2-40B4-BE49-F238E27FC236}">
                <a16:creationId xmlns:a16="http://schemas.microsoft.com/office/drawing/2014/main" id="{DECFD35D-E195-7516-AA13-FA4C385CBAA8}"/>
              </a:ext>
            </a:extLst>
          </p:cNvPr>
          <p:cNvSpPr>
            <a:spLocks noChangeArrowheads="1"/>
          </p:cNvSpPr>
          <p:nvPr/>
        </p:nvSpPr>
        <p:spPr bwMode="auto">
          <a:xfrm>
            <a:off x="7536016" y="5230255"/>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1</a:t>
            </a:r>
          </a:p>
        </p:txBody>
      </p:sp>
      <p:sp>
        <p:nvSpPr>
          <p:cNvPr id="37" name="Rectangle 83">
            <a:extLst>
              <a:ext uri="{FF2B5EF4-FFF2-40B4-BE49-F238E27FC236}">
                <a16:creationId xmlns:a16="http://schemas.microsoft.com/office/drawing/2014/main" id="{5F63571E-FE31-2EB2-94B1-C9DB3C161CD7}"/>
              </a:ext>
            </a:extLst>
          </p:cNvPr>
          <p:cNvSpPr>
            <a:spLocks noChangeArrowheads="1"/>
          </p:cNvSpPr>
          <p:nvPr/>
        </p:nvSpPr>
        <p:spPr bwMode="auto">
          <a:xfrm>
            <a:off x="8615670" y="5049382"/>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dirty="0">
                <a:solidFill>
                  <a:schemeClr val="accent5"/>
                </a:solidFill>
              </a:rPr>
              <a:t>0</a:t>
            </a:r>
          </a:p>
        </p:txBody>
      </p:sp>
      <p:sp>
        <p:nvSpPr>
          <p:cNvPr id="39" name="Rectangle 84">
            <a:extLst>
              <a:ext uri="{FF2B5EF4-FFF2-40B4-BE49-F238E27FC236}">
                <a16:creationId xmlns:a16="http://schemas.microsoft.com/office/drawing/2014/main" id="{002219A6-31EB-A69E-B3A1-23615765FCB4}"/>
              </a:ext>
            </a:extLst>
          </p:cNvPr>
          <p:cNvSpPr>
            <a:spLocks noChangeArrowheads="1"/>
          </p:cNvSpPr>
          <p:nvPr/>
        </p:nvSpPr>
        <p:spPr bwMode="auto">
          <a:xfrm>
            <a:off x="9246040" y="531902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40" name="矢印: 右 39">
            <a:extLst>
              <a:ext uri="{FF2B5EF4-FFF2-40B4-BE49-F238E27FC236}">
                <a16:creationId xmlns:a16="http://schemas.microsoft.com/office/drawing/2014/main" id="{91D31643-5B7F-0F88-5481-E250F7F0A8BC}"/>
              </a:ext>
            </a:extLst>
          </p:cNvPr>
          <p:cNvSpPr/>
          <p:nvPr/>
        </p:nvSpPr>
        <p:spPr bwMode="auto">
          <a:xfrm rot="5400000">
            <a:off x="8076027" y="4149013"/>
            <a:ext cx="450005" cy="450005"/>
          </a:xfrm>
          <a:prstGeom prst="right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41" name="Rectangle 93">
            <a:extLst>
              <a:ext uri="{FF2B5EF4-FFF2-40B4-BE49-F238E27FC236}">
                <a16:creationId xmlns:a16="http://schemas.microsoft.com/office/drawing/2014/main" id="{B47E1328-8697-E000-BEBA-10D10B658E51}"/>
              </a:ext>
            </a:extLst>
          </p:cNvPr>
          <p:cNvSpPr>
            <a:spLocks noChangeArrowheads="1"/>
          </p:cNvSpPr>
          <p:nvPr/>
        </p:nvSpPr>
        <p:spPr bwMode="auto">
          <a:xfrm>
            <a:off x="8616033" y="4239009"/>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直前に </a:t>
            </a:r>
            <a:r>
              <a:rPr lang="en-US" altLang="ja-JP" dirty="0"/>
              <a:t>d </a:t>
            </a:r>
            <a:r>
              <a:rPr lang="ja-JP" altLang="en-US" dirty="0"/>
              <a:t>に入って</a:t>
            </a:r>
            <a:br>
              <a:rPr lang="en-US" altLang="ja-JP" dirty="0"/>
            </a:br>
            <a:r>
              <a:rPr lang="ja-JP" altLang="en-US" dirty="0"/>
              <a:t>値でループ構成</a:t>
            </a:r>
            <a:endParaRPr lang="en-US" altLang="ja-JP" dirty="0"/>
          </a:p>
        </p:txBody>
      </p:sp>
      <p:sp>
        <p:nvSpPr>
          <p:cNvPr id="42" name="Rectangle 93">
            <a:extLst>
              <a:ext uri="{FF2B5EF4-FFF2-40B4-BE49-F238E27FC236}">
                <a16:creationId xmlns:a16="http://schemas.microsoft.com/office/drawing/2014/main" id="{432CA4B2-2786-2CD1-D469-F55B62B7D442}"/>
              </a:ext>
            </a:extLst>
          </p:cNvPr>
          <p:cNvSpPr>
            <a:spLocks noChangeArrowheads="1"/>
          </p:cNvSpPr>
          <p:nvPr/>
        </p:nvSpPr>
        <p:spPr bwMode="auto">
          <a:xfrm>
            <a:off x="8616031" y="6039029"/>
            <a:ext cx="1081087" cy="360362"/>
          </a:xfrm>
          <a:prstGeom prst="rect">
            <a:avLst/>
          </a:prstGeom>
          <a:noFill/>
          <a:ln w="12700" algn="ctr">
            <a:noFill/>
            <a:miter lim="800000"/>
            <a:headEnd/>
            <a:tailEnd/>
          </a:ln>
          <a:effectLst/>
        </p:spPr>
        <p:txBody>
          <a:bodyPr wrap="none" lIns="90000" tIns="46800" rIns="90000" bIns="46800" anchor="ctr"/>
          <a:lstStyle/>
          <a:p>
            <a:r>
              <a:rPr lang="en-US" altLang="ja-JP" dirty="0"/>
              <a:t>d </a:t>
            </a:r>
            <a:r>
              <a:rPr lang="ja-JP" altLang="en-US" dirty="0"/>
              <a:t>の値が変わって</a:t>
            </a:r>
            <a:br>
              <a:rPr lang="en-US" altLang="ja-JP" dirty="0"/>
            </a:br>
            <a:r>
              <a:rPr lang="ja-JP" altLang="en-US" dirty="0"/>
              <a:t>も </a:t>
            </a:r>
            <a:r>
              <a:rPr lang="en-US" altLang="ja-JP" dirty="0"/>
              <a:t>q </a:t>
            </a:r>
            <a:r>
              <a:rPr lang="ja-JP" altLang="en-US" dirty="0"/>
              <a:t>の出力は </a:t>
            </a:r>
            <a:r>
              <a:rPr lang="en-US" altLang="ja-JP" dirty="0"/>
              <a:t>0 </a:t>
            </a:r>
            <a:r>
              <a:rPr lang="ja-JP" altLang="en-US" dirty="0"/>
              <a:t>の</a:t>
            </a:r>
            <a:br>
              <a:rPr lang="en-US" altLang="ja-JP" dirty="0"/>
            </a:br>
            <a:r>
              <a:rPr lang="ja-JP" altLang="en-US" dirty="0"/>
              <a:t>まま</a:t>
            </a:r>
            <a:endParaRPr lang="en-US" altLang="ja-JP" dirty="0"/>
          </a:p>
        </p:txBody>
      </p:sp>
    </p:spTree>
    <p:extLst>
      <p:ext uri="{BB962C8B-B14F-4D97-AF65-F5344CB8AC3E}">
        <p14:creationId xmlns:p14="http://schemas.microsoft.com/office/powerpoint/2010/main" val="40267683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60</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の回路</a:t>
            </a:r>
            <a:endParaRPr lang="en-US" altLang="ja-JP" dirty="0"/>
          </a:p>
        </p:txBody>
      </p:sp>
      <p:grpSp>
        <p:nvGrpSpPr>
          <p:cNvPr id="3" name="グループ化 2"/>
          <p:cNvGrpSpPr/>
          <p:nvPr/>
        </p:nvGrpSpPr>
        <p:grpSpPr>
          <a:xfrm>
            <a:off x="3395975" y="5195482"/>
            <a:ext cx="5400675" cy="1620223"/>
            <a:chOff x="1673205" y="1448415"/>
            <a:chExt cx="5400675" cy="1620223"/>
          </a:xfrm>
        </p:grpSpPr>
        <p:sp>
          <p:nvSpPr>
            <p:cNvPr id="700460" name="Freeform 44"/>
            <p:cNvSpPr>
              <a:spLocks/>
            </p:cNvSpPr>
            <p:nvPr/>
          </p:nvSpPr>
          <p:spPr bwMode="auto">
            <a:xfrm>
              <a:off x="2752705" y="1987550"/>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59" name="Freeform 43"/>
            <p:cNvSpPr>
              <a:spLocks/>
            </p:cNvSpPr>
            <p:nvPr/>
          </p:nvSpPr>
          <p:spPr bwMode="auto">
            <a:xfrm>
              <a:off x="4913292" y="1987550"/>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46" name="Picture 30" descr="NOT"/>
            <p:cNvPicPr>
              <a:picLocks noChangeAspect="1" noChangeArrowheads="1"/>
            </p:cNvPicPr>
            <p:nvPr/>
          </p:nvPicPr>
          <p:blipFill>
            <a:blip r:embed="rId3" cstate="print"/>
            <a:srcRect/>
            <a:stretch>
              <a:fillRect/>
            </a:stretch>
          </p:blipFill>
          <p:spPr bwMode="auto">
            <a:xfrm flipH="1">
              <a:off x="3113067" y="1627188"/>
              <a:ext cx="717550" cy="720725"/>
            </a:xfrm>
            <a:prstGeom prst="rect">
              <a:avLst/>
            </a:prstGeom>
            <a:noFill/>
          </p:spPr>
        </p:pic>
        <p:pic>
          <p:nvPicPr>
            <p:cNvPr id="700447" name="Picture 31" descr="NOT"/>
            <p:cNvPicPr>
              <a:picLocks noChangeAspect="1" noChangeArrowheads="1"/>
            </p:cNvPicPr>
            <p:nvPr/>
          </p:nvPicPr>
          <p:blipFill>
            <a:blip r:embed="rId3" cstate="print"/>
            <a:srcRect/>
            <a:stretch>
              <a:fillRect/>
            </a:stretch>
          </p:blipFill>
          <p:spPr bwMode="auto">
            <a:xfrm>
              <a:off x="3113067" y="2347913"/>
              <a:ext cx="717550" cy="720725"/>
            </a:xfrm>
            <a:prstGeom prst="rect">
              <a:avLst/>
            </a:prstGeom>
            <a:noFill/>
          </p:spPr>
        </p:pic>
        <p:pic>
          <p:nvPicPr>
            <p:cNvPr id="700448" name="Picture 32" descr="NOT"/>
            <p:cNvPicPr>
              <a:picLocks noChangeAspect="1" noChangeArrowheads="1"/>
            </p:cNvPicPr>
            <p:nvPr/>
          </p:nvPicPr>
          <p:blipFill>
            <a:blip r:embed="rId3" cstate="print"/>
            <a:srcRect/>
            <a:stretch>
              <a:fillRect/>
            </a:stretch>
          </p:blipFill>
          <p:spPr bwMode="auto">
            <a:xfrm flipH="1">
              <a:off x="5273655" y="1627188"/>
              <a:ext cx="717550" cy="720725"/>
            </a:xfrm>
            <a:prstGeom prst="rect">
              <a:avLst/>
            </a:prstGeom>
            <a:noFill/>
          </p:spPr>
        </p:pic>
        <p:pic>
          <p:nvPicPr>
            <p:cNvPr id="700449" name="Picture 33" descr="NOT"/>
            <p:cNvPicPr>
              <a:picLocks noChangeAspect="1" noChangeArrowheads="1"/>
            </p:cNvPicPr>
            <p:nvPr/>
          </p:nvPicPr>
          <p:blipFill>
            <a:blip r:embed="rId3" cstate="print"/>
            <a:srcRect/>
            <a:stretch>
              <a:fillRect/>
            </a:stretch>
          </p:blipFill>
          <p:spPr bwMode="auto">
            <a:xfrm>
              <a:off x="5273655" y="2347913"/>
              <a:ext cx="717550" cy="720725"/>
            </a:xfrm>
            <a:prstGeom prst="rect">
              <a:avLst/>
            </a:prstGeom>
            <a:noFill/>
          </p:spPr>
        </p:pic>
        <p:sp>
          <p:nvSpPr>
            <p:cNvPr id="700461" name="Line 45"/>
            <p:cNvSpPr>
              <a:spLocks noChangeShapeType="1"/>
            </p:cNvSpPr>
            <p:nvPr/>
          </p:nvSpPr>
          <p:spPr bwMode="auto">
            <a:xfrm>
              <a:off x="4192567" y="2708275"/>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53" name="Group 37"/>
            <p:cNvGrpSpPr>
              <a:grpSpLocks/>
            </p:cNvGrpSpPr>
            <p:nvPr/>
          </p:nvGrpSpPr>
          <p:grpSpPr bwMode="auto">
            <a:xfrm>
              <a:off x="4822805" y="2257425"/>
              <a:ext cx="180975" cy="180975"/>
              <a:chOff x="2823" y="1990"/>
              <a:chExt cx="227" cy="227"/>
            </a:xfrm>
          </p:grpSpPr>
          <p:sp>
            <p:nvSpPr>
              <p:cNvPr id="700454" name="Rectangle 3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5" name="Oval 3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56" name="Group 40"/>
            <p:cNvGrpSpPr>
              <a:grpSpLocks/>
            </p:cNvGrpSpPr>
            <p:nvPr/>
          </p:nvGrpSpPr>
          <p:grpSpPr bwMode="auto">
            <a:xfrm>
              <a:off x="4462442" y="2617788"/>
              <a:ext cx="180975" cy="180975"/>
              <a:chOff x="2823" y="1990"/>
              <a:chExt cx="227" cy="227"/>
            </a:xfrm>
          </p:grpSpPr>
          <p:sp>
            <p:nvSpPr>
              <p:cNvPr id="700457" name="Rectangle 4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8" name="Oval 4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62" name="Line 46"/>
            <p:cNvSpPr>
              <a:spLocks noChangeShapeType="1"/>
            </p:cNvSpPr>
            <p:nvPr/>
          </p:nvSpPr>
          <p:spPr bwMode="auto">
            <a:xfrm>
              <a:off x="2033567" y="2708275"/>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66" name="Group 50"/>
            <p:cNvGrpSpPr>
              <a:grpSpLocks/>
            </p:cNvGrpSpPr>
            <p:nvPr/>
          </p:nvGrpSpPr>
          <p:grpSpPr bwMode="auto">
            <a:xfrm>
              <a:off x="2663805" y="2257425"/>
              <a:ext cx="180975" cy="180975"/>
              <a:chOff x="2823" y="1990"/>
              <a:chExt cx="227" cy="227"/>
            </a:xfrm>
          </p:grpSpPr>
          <p:sp>
            <p:nvSpPr>
              <p:cNvPr id="700467" name="Rectangle 5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8" name="Oval 5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69" name="Group 53"/>
            <p:cNvGrpSpPr>
              <a:grpSpLocks/>
            </p:cNvGrpSpPr>
            <p:nvPr/>
          </p:nvGrpSpPr>
          <p:grpSpPr bwMode="auto">
            <a:xfrm>
              <a:off x="2303442" y="2617788"/>
              <a:ext cx="180975" cy="180975"/>
              <a:chOff x="2823" y="1990"/>
              <a:chExt cx="227" cy="227"/>
            </a:xfrm>
          </p:grpSpPr>
          <p:sp>
            <p:nvSpPr>
              <p:cNvPr id="700470" name="Rectangle 54"/>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71" name="Oval 55"/>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2" name="Line 56"/>
            <p:cNvSpPr>
              <a:spLocks noChangeShapeType="1"/>
            </p:cNvSpPr>
            <p:nvPr/>
          </p:nvSpPr>
          <p:spPr bwMode="auto">
            <a:xfrm>
              <a:off x="6353155" y="2708275"/>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74" name="Rectangle 58"/>
            <p:cNvSpPr>
              <a:spLocks noChangeArrowheads="1"/>
            </p:cNvSpPr>
            <p:nvPr/>
          </p:nvSpPr>
          <p:spPr bwMode="auto">
            <a:xfrm>
              <a:off x="1673205" y="2528888"/>
              <a:ext cx="360362"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475" name="Rectangle 59"/>
            <p:cNvSpPr>
              <a:spLocks noChangeArrowheads="1"/>
            </p:cNvSpPr>
            <p:nvPr/>
          </p:nvSpPr>
          <p:spPr bwMode="auto">
            <a:xfrm>
              <a:off x="6713517" y="2528888"/>
              <a:ext cx="360363" cy="360362"/>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476" name="Line 60"/>
            <p:cNvSpPr>
              <a:spLocks noChangeShapeType="1"/>
            </p:cNvSpPr>
            <p:nvPr/>
          </p:nvSpPr>
          <p:spPr bwMode="auto">
            <a:xfrm flipH="1" flipV="1">
              <a:off x="2303442" y="2617788"/>
              <a:ext cx="449263" cy="9048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63" name="Group 47"/>
            <p:cNvGrpSpPr>
              <a:grpSpLocks/>
            </p:cNvGrpSpPr>
            <p:nvPr/>
          </p:nvGrpSpPr>
          <p:grpSpPr bwMode="auto">
            <a:xfrm>
              <a:off x="2663805" y="2617788"/>
              <a:ext cx="180975" cy="180975"/>
              <a:chOff x="2823" y="1990"/>
              <a:chExt cx="227" cy="227"/>
            </a:xfrm>
          </p:grpSpPr>
          <p:sp>
            <p:nvSpPr>
              <p:cNvPr id="700464" name="Rectangle 48"/>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65" name="Oval 49"/>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77" name="Line 61"/>
            <p:cNvSpPr>
              <a:spLocks noChangeShapeType="1"/>
            </p:cNvSpPr>
            <p:nvPr/>
          </p:nvSpPr>
          <p:spPr bwMode="auto">
            <a:xfrm flipH="1" flipV="1">
              <a:off x="4822805" y="2257425"/>
              <a:ext cx="88900" cy="45085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452" name="Group 36"/>
            <p:cNvGrpSpPr>
              <a:grpSpLocks/>
            </p:cNvGrpSpPr>
            <p:nvPr/>
          </p:nvGrpSpPr>
          <p:grpSpPr bwMode="auto">
            <a:xfrm>
              <a:off x="4822805" y="2617788"/>
              <a:ext cx="180975" cy="180975"/>
              <a:chOff x="2823" y="1990"/>
              <a:chExt cx="227" cy="227"/>
            </a:xfrm>
          </p:grpSpPr>
          <p:sp>
            <p:nvSpPr>
              <p:cNvPr id="700451" name="Rectangle 35"/>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50" name="Oval 3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9" name="Rectangle 93"/>
            <p:cNvSpPr>
              <a:spLocks noChangeArrowheads="1"/>
            </p:cNvSpPr>
            <p:nvPr/>
          </p:nvSpPr>
          <p:spPr bwMode="auto">
            <a:xfrm>
              <a:off x="4013231" y="1448415"/>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0</a:t>
              </a:r>
            </a:p>
          </p:txBody>
        </p:sp>
      </p:grpSp>
      <p:grpSp>
        <p:nvGrpSpPr>
          <p:cNvPr id="5" name="グループ化 4"/>
          <p:cNvGrpSpPr/>
          <p:nvPr/>
        </p:nvGrpSpPr>
        <p:grpSpPr>
          <a:xfrm>
            <a:off x="3395975" y="3215455"/>
            <a:ext cx="5400675" cy="1621452"/>
            <a:chOff x="1673205" y="4328498"/>
            <a:chExt cx="5400675" cy="1621452"/>
          </a:xfrm>
        </p:grpSpPr>
        <p:sp>
          <p:nvSpPr>
            <p:cNvPr id="700478" name="Freeform 62"/>
            <p:cNvSpPr>
              <a:spLocks/>
            </p:cNvSpPr>
            <p:nvPr/>
          </p:nvSpPr>
          <p:spPr bwMode="auto">
            <a:xfrm>
              <a:off x="2752705" y="4868863"/>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4913292" y="4868863"/>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3113067" y="4508500"/>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3113067" y="5229225"/>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5273655" y="4508500"/>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5273655" y="5229225"/>
              <a:ext cx="717550" cy="720725"/>
            </a:xfrm>
            <a:prstGeom prst="rect">
              <a:avLst/>
            </a:prstGeom>
            <a:noFill/>
          </p:spPr>
        </p:pic>
        <p:sp>
          <p:nvSpPr>
            <p:cNvPr id="700484" name="Line 68"/>
            <p:cNvSpPr>
              <a:spLocks noChangeShapeType="1"/>
            </p:cNvSpPr>
            <p:nvPr/>
          </p:nvSpPr>
          <p:spPr bwMode="auto">
            <a:xfrm>
              <a:off x="4192567" y="5589588"/>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4822805" y="5138738"/>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4462442" y="5499100"/>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2033567" y="5589588"/>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2663805" y="5138738"/>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2303442" y="5499100"/>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6353155" y="5589588"/>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1673205" y="5410200"/>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6713517" y="5410200"/>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2662217" y="5140325"/>
              <a:ext cx="90488" cy="4492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2663805" y="5499100"/>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4462442" y="5499100"/>
              <a:ext cx="449263" cy="90488"/>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4822805" y="5499100"/>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10" name="Rectangle 94"/>
            <p:cNvSpPr>
              <a:spLocks noChangeArrowheads="1"/>
            </p:cNvSpPr>
            <p:nvPr/>
          </p:nvSpPr>
          <p:spPr bwMode="auto">
            <a:xfrm>
              <a:off x="4013231" y="4328498"/>
              <a:ext cx="1081087" cy="360362"/>
            </a:xfrm>
            <a:prstGeom prst="rect">
              <a:avLst/>
            </a:prstGeom>
            <a:noFill/>
            <a:ln w="12700" algn="ctr">
              <a:noFill/>
              <a:miter lim="800000"/>
              <a:headEnd/>
              <a:tailEnd/>
            </a:ln>
            <a:effectLst/>
          </p:spPr>
          <p:txBody>
            <a:bodyPr wrap="none" lIns="90000" tIns="46800" rIns="90000" bIns="46800" anchor="ctr"/>
            <a:lstStyle/>
            <a:p>
              <a:pPr algn="r"/>
              <a:r>
                <a:rPr lang="en-US" altLang="ja-JP" i="1" dirty="0"/>
                <a:t>clock</a:t>
              </a:r>
              <a:r>
                <a:rPr lang="en-US" altLang="ja-JP" dirty="0"/>
                <a:t> = 1</a:t>
              </a:r>
            </a:p>
          </p:txBody>
        </p:sp>
      </p:grpSp>
      <p:grpSp>
        <p:nvGrpSpPr>
          <p:cNvPr id="700516" name="Group 100"/>
          <p:cNvGrpSpPr>
            <a:grpSpLocks/>
          </p:cNvGrpSpPr>
          <p:nvPr/>
        </p:nvGrpSpPr>
        <p:grpSpPr bwMode="auto">
          <a:xfrm>
            <a:off x="9786046" y="5105476"/>
            <a:ext cx="358775" cy="360362"/>
            <a:chOff x="159" y="2500"/>
            <a:chExt cx="226" cy="227"/>
          </a:xfrm>
        </p:grpSpPr>
        <p:sp>
          <p:nvSpPr>
            <p:cNvPr id="700511" name="Freeform 95"/>
            <p:cNvSpPr>
              <a:spLocks/>
            </p:cNvSpPr>
            <p:nvPr/>
          </p:nvSpPr>
          <p:spPr bwMode="auto">
            <a:xfrm>
              <a:off x="159" y="2500"/>
              <a:ext cx="113" cy="227"/>
            </a:xfrm>
            <a:custGeom>
              <a:avLst/>
              <a:gdLst/>
              <a:ahLst/>
              <a:cxnLst>
                <a:cxn ang="0">
                  <a:pos x="0" y="227"/>
                </a:cxn>
                <a:cxn ang="0">
                  <a:pos x="113" y="227"/>
                </a:cxn>
                <a:cxn ang="0">
                  <a:pos x="113" y="0"/>
                </a:cxn>
              </a:cxnLst>
              <a:rect l="0" t="0" r="r" b="b"/>
              <a:pathLst>
                <a:path w="113" h="227">
                  <a:moveTo>
                    <a:pt x="0" y="227"/>
                  </a:moveTo>
                  <a:lnTo>
                    <a:pt x="113" y="227"/>
                  </a:lnTo>
                  <a:lnTo>
                    <a:pt x="113" y="0"/>
                  </a:lnTo>
                </a:path>
              </a:pathLst>
            </a:custGeom>
            <a:noFill/>
            <a:ln w="9525" cap="flat" cmpd="sng">
              <a:solidFill>
                <a:schemeClr val="tx1"/>
              </a:solidFill>
              <a:prstDash val="solid"/>
              <a:round/>
              <a:headEnd type="none" w="med" len="med"/>
              <a:tailEnd type="stealth" w="med" len="lg"/>
            </a:ln>
            <a:effectLst/>
          </p:spPr>
          <p:txBody>
            <a:bodyPr wrap="none" lIns="90000" tIns="46800" rIns="90000" bIns="46800" anchor="ctr"/>
            <a:lstStyle/>
            <a:p>
              <a:endParaRPr lang="ja-JP" altLang="en-US"/>
            </a:p>
          </p:txBody>
        </p:sp>
        <p:sp>
          <p:nvSpPr>
            <p:cNvPr id="700512" name="Line 96"/>
            <p:cNvSpPr>
              <a:spLocks noChangeShapeType="1"/>
            </p:cNvSpPr>
            <p:nvPr/>
          </p:nvSpPr>
          <p:spPr bwMode="auto">
            <a:xfrm>
              <a:off x="272" y="2500"/>
              <a:ext cx="113" cy="0"/>
            </a:xfrm>
            <a:prstGeom prst="line">
              <a:avLst/>
            </a:prstGeom>
            <a:noFill/>
            <a:ln w="9525">
              <a:solidFill>
                <a:schemeClr val="tx1"/>
              </a:solidFill>
              <a:round/>
              <a:headEnd/>
              <a:tailEnd type="none" w="med" len="lg"/>
            </a:ln>
            <a:effectLst/>
          </p:spPr>
          <p:txBody>
            <a:bodyPr wrap="none" lIns="90000" tIns="46800" rIns="90000" bIns="46800" anchor="ctr"/>
            <a:lstStyle/>
            <a:p>
              <a:endParaRPr lang="ja-JP" altLang="en-US"/>
            </a:p>
          </p:txBody>
        </p:sp>
      </p:grpSp>
      <p:sp>
        <p:nvSpPr>
          <p:cNvPr id="700513" name="Freeform 97"/>
          <p:cNvSpPr>
            <a:spLocks/>
          </p:cNvSpPr>
          <p:nvPr/>
        </p:nvSpPr>
        <p:spPr bwMode="auto">
          <a:xfrm flipV="1">
            <a:off x="2225957" y="5285483"/>
            <a:ext cx="360362" cy="360363"/>
          </a:xfrm>
          <a:custGeom>
            <a:avLst/>
            <a:gdLst/>
            <a:ahLst/>
            <a:cxnLst>
              <a:cxn ang="0">
                <a:pos x="0" y="227"/>
              </a:cxn>
              <a:cxn ang="0">
                <a:pos x="114" y="227"/>
              </a:cxn>
              <a:cxn ang="0">
                <a:pos x="114" y="0"/>
              </a:cxn>
              <a:cxn ang="0">
                <a:pos x="227" y="0"/>
              </a:cxn>
            </a:cxnLst>
            <a:rect l="0" t="0" r="r" b="b"/>
            <a:pathLst>
              <a:path w="227" h="227">
                <a:moveTo>
                  <a:pt x="0" y="227"/>
                </a:moveTo>
                <a:lnTo>
                  <a:pt x="114" y="227"/>
                </a:lnTo>
                <a:lnTo>
                  <a:pt x="114" y="0"/>
                </a:lnTo>
                <a:lnTo>
                  <a:pt x="227" y="0"/>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514" name="AutoShape 98"/>
          <p:cNvSpPr>
            <a:spLocks noChangeArrowheads="1"/>
          </p:cNvSpPr>
          <p:nvPr/>
        </p:nvSpPr>
        <p:spPr bwMode="auto">
          <a:xfrm>
            <a:off x="2855964" y="4835473"/>
            <a:ext cx="539750" cy="1439734"/>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00515" name="AutoShape 99"/>
          <p:cNvSpPr>
            <a:spLocks noChangeArrowheads="1"/>
          </p:cNvSpPr>
          <p:nvPr/>
        </p:nvSpPr>
        <p:spPr bwMode="auto">
          <a:xfrm rot="-10800000">
            <a:off x="8976032" y="4745476"/>
            <a:ext cx="539750" cy="1439735"/>
          </a:xfrm>
          <a:prstGeom prst="curvedRightArrow">
            <a:avLst>
              <a:gd name="adj1" fmla="val 63353"/>
              <a:gd name="adj2" fmla="val 126706"/>
              <a:gd name="adj3" fmla="val 33333"/>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0000" tIns="46800" rIns="90000" bIns="46800" anchor="ctr"/>
          <a:lstStyle/>
          <a:p>
            <a:endParaRPr lang="ja-JP" altLang="en-US"/>
          </a:p>
        </p:txBody>
      </p:sp>
      <p:sp>
        <p:nvSpPr>
          <p:cNvPr id="75" name="Rectangle 5"/>
          <p:cNvSpPr txBox="1">
            <a:spLocks noChangeArrowheads="1"/>
          </p:cNvSpPr>
          <p:nvPr/>
        </p:nvSpPr>
        <p:spPr>
          <a:xfrm>
            <a:off x="2135961" y="1808982"/>
            <a:ext cx="8281219" cy="630844"/>
          </a:xfrm>
          <a:prstGeom prst="rect">
            <a:avLst/>
          </a:prstGeom>
        </p:spPr>
        <p:txBody>
          <a:bodyPr anchor="ct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sz="1600" kern="0" dirty="0"/>
              <a:t>構造：</a:t>
            </a:r>
            <a:r>
              <a:rPr lang="en-US" altLang="ja-JP" sz="1600" kern="0" dirty="0"/>
              <a:t>D </a:t>
            </a:r>
            <a:r>
              <a:rPr lang="ja-JP" altLang="en-US" sz="1600" kern="0" dirty="0"/>
              <a:t>ラッチを</a:t>
            </a:r>
            <a:r>
              <a:rPr lang="en-US" altLang="ja-JP" sz="1600" kern="0" dirty="0"/>
              <a:t>2</a:t>
            </a:r>
            <a:r>
              <a:rPr lang="ja-JP" altLang="en-US" sz="1600" kern="0" dirty="0"/>
              <a:t>つ繋げたもの</a:t>
            </a:r>
            <a:endParaRPr lang="en-US" altLang="ja-JP" sz="1600" kern="0" dirty="0"/>
          </a:p>
          <a:p>
            <a:pPr lvl="1"/>
            <a:r>
              <a:rPr lang="en-US" altLang="ja-JP" sz="1600" kern="0" dirty="0"/>
              <a:t>D </a:t>
            </a:r>
            <a:r>
              <a:rPr lang="ja-JP" altLang="en-US" sz="1600" kern="0" dirty="0"/>
              <a:t>ラッチ１つだと，半周期は </a:t>
            </a:r>
            <a:r>
              <a:rPr lang="en-US" altLang="ja-JP" sz="1600" kern="0" dirty="0"/>
              <a:t>d </a:t>
            </a:r>
            <a:r>
              <a:rPr lang="ja-JP" altLang="en-US" sz="1600" kern="0" dirty="0"/>
              <a:t>に入った値が反転して素通しするので使いにくい</a:t>
            </a:r>
            <a:endParaRPr lang="en-US" altLang="ja-JP" sz="1600" kern="0" dirty="0"/>
          </a:p>
          <a:p>
            <a:pPr lvl="1"/>
            <a:r>
              <a:rPr lang="ja-JP" altLang="en-US" sz="1600" kern="0" dirty="0"/>
              <a:t>２つ直列に繋げて素通しの期間をなくす</a:t>
            </a:r>
            <a:endParaRPr lang="en-US" altLang="ja-JP" sz="1600" kern="0" dirty="0"/>
          </a:p>
          <a:p>
            <a:r>
              <a:rPr lang="ja-JP" altLang="en-US" sz="1600" kern="0" dirty="0"/>
              <a:t>クロックの立ち上がりのたびに，</a:t>
            </a:r>
            <a:r>
              <a:rPr lang="en-US" altLang="ja-JP" sz="1600" i="1" kern="0" dirty="0"/>
              <a:t>d</a:t>
            </a:r>
            <a:r>
              <a:rPr lang="ja-JP" altLang="en-US" sz="1600" kern="0" dirty="0"/>
              <a:t> の値がサンプリングされる</a:t>
            </a:r>
            <a:endParaRPr lang="en-US" altLang="ja-JP" sz="1600" kern="0" dirty="0"/>
          </a:p>
          <a:p>
            <a:pPr lvl="1"/>
            <a:r>
              <a:rPr lang="ja-JP" altLang="en-US" sz="1600" kern="0" dirty="0"/>
              <a:t>その値が次のサイクルの間 </a:t>
            </a:r>
            <a:r>
              <a:rPr lang="en-US" altLang="ja-JP" sz="1600" i="1" kern="0" dirty="0"/>
              <a:t>q</a:t>
            </a:r>
            <a:r>
              <a:rPr lang="ja-JP" altLang="en-US" sz="1600" kern="0" dirty="0"/>
              <a:t> から出力される</a:t>
            </a:r>
            <a:endParaRPr lang="en-US" altLang="ja-JP" sz="1600" kern="0" dirty="0"/>
          </a:p>
        </p:txBody>
      </p:sp>
      <p:sp>
        <p:nvSpPr>
          <p:cNvPr id="77" name="Rectangle 93"/>
          <p:cNvSpPr>
            <a:spLocks noChangeArrowheads="1"/>
          </p:cNvSpPr>
          <p:nvPr/>
        </p:nvSpPr>
        <p:spPr bwMode="auto">
          <a:xfrm>
            <a:off x="8886036" y="4295467"/>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立ち上がり</a:t>
            </a:r>
            <a:endParaRPr lang="en-US" altLang="ja-JP" dirty="0"/>
          </a:p>
        </p:txBody>
      </p:sp>
      <p:sp>
        <p:nvSpPr>
          <p:cNvPr id="78" name="Rectangle 93"/>
          <p:cNvSpPr>
            <a:spLocks noChangeArrowheads="1"/>
          </p:cNvSpPr>
          <p:nvPr/>
        </p:nvSpPr>
        <p:spPr bwMode="auto">
          <a:xfrm>
            <a:off x="1865956" y="6275489"/>
            <a:ext cx="1081087" cy="360362"/>
          </a:xfrm>
          <a:prstGeom prst="rect">
            <a:avLst/>
          </a:prstGeom>
          <a:noFill/>
          <a:ln w="12700" algn="ctr">
            <a:noFill/>
            <a:miter lim="800000"/>
            <a:headEnd/>
            <a:tailEnd/>
          </a:ln>
          <a:effectLst/>
        </p:spPr>
        <p:txBody>
          <a:bodyPr wrap="none" lIns="90000" tIns="46800" rIns="90000" bIns="46800" anchor="ctr"/>
          <a:lstStyle/>
          <a:p>
            <a:r>
              <a:rPr lang="ja-JP" altLang="en-US" dirty="0"/>
              <a:t>立ち下がり</a:t>
            </a:r>
            <a:endParaRPr lang="en-US" altLang="ja-JP" dirty="0"/>
          </a:p>
        </p:txBody>
      </p:sp>
    </p:spTree>
    <p:extLst>
      <p:ext uri="{BB962C8B-B14F-4D97-AF65-F5344CB8AC3E}">
        <p14:creationId xmlns:p14="http://schemas.microsoft.com/office/powerpoint/2010/main" val="6347662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61</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① クロック信号が </a:t>
            </a:r>
            <a:r>
              <a:rPr lang="en-US" altLang="ja-JP" dirty="0"/>
              <a:t>Low </a:t>
            </a:r>
            <a:r>
              <a:rPr lang="ja-JP" altLang="en-US" dirty="0"/>
              <a:t>にあるとき</a:t>
            </a:r>
            <a:endParaRPr lang="en-US" altLang="ja-JP" dirty="0"/>
          </a:p>
        </p:txBody>
      </p:sp>
      <p:sp>
        <p:nvSpPr>
          <p:cNvPr id="700478" name="Freeform 62"/>
          <p:cNvSpPr>
            <a:spLocks/>
          </p:cNvSpPr>
          <p:nvPr/>
        </p:nvSpPr>
        <p:spPr bwMode="auto">
          <a:xfrm>
            <a:off x="4295622" y="2708639"/>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4" y="2708639"/>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6"/>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9001"/>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6"/>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9001"/>
            <a:ext cx="717550" cy="720725"/>
          </a:xfrm>
          <a:prstGeom prst="rect">
            <a:avLst/>
          </a:prstGeom>
          <a:noFill/>
        </p:spPr>
      </p:pic>
      <p:sp>
        <p:nvSpPr>
          <p:cNvPr id="700484" name="Line 68"/>
          <p:cNvSpPr>
            <a:spLocks noChangeShapeType="1"/>
          </p:cNvSpPr>
          <p:nvPr/>
        </p:nvSpPr>
        <p:spPr bwMode="auto">
          <a:xfrm>
            <a:off x="5735489"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7" y="2978514"/>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4" y="3338876"/>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9"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7" y="2978514"/>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4" y="3338876"/>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9" y="324997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846134" y="3338286"/>
            <a:ext cx="449493" cy="91077"/>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7" y="3338876"/>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366156" y="3068279"/>
            <a:ext cx="88464" cy="36108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7" y="3338876"/>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6"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en-US" altLang="ja-JP" i="1" kern="0" dirty="0"/>
              <a:t>d</a:t>
            </a:r>
            <a:r>
              <a:rPr lang="en-US" altLang="ja-JP" kern="0" dirty="0"/>
              <a:t> </a:t>
            </a:r>
            <a:r>
              <a:rPr lang="ja-JP" altLang="en-US" kern="0" dirty="0"/>
              <a:t>の入力の変化に応じて，インバータの状態が随時切り替わる</a:t>
            </a:r>
            <a:endParaRPr lang="en-US" altLang="ja-JP" kern="0" dirty="0"/>
          </a:p>
          <a:p>
            <a:pPr lvl="1"/>
            <a:r>
              <a:rPr lang="ja-JP" altLang="en-US" kern="0" dirty="0"/>
              <a:t>右側のループとは遮断されている</a:t>
            </a:r>
            <a:endParaRPr lang="en-US" altLang="ja-JP" kern="0" dirty="0"/>
          </a:p>
          <a:p>
            <a:r>
              <a:rPr lang="ja-JP" altLang="en-US" kern="0" dirty="0"/>
              <a:t>右側のループ：</a:t>
            </a:r>
            <a:endParaRPr lang="en-US" altLang="ja-JP" kern="0" dirty="0"/>
          </a:p>
          <a:p>
            <a:pPr lvl="1"/>
            <a:r>
              <a:rPr lang="ja-JP" altLang="en-US" kern="0" dirty="0"/>
              <a:t>ループのインバータの状態（</a:t>
            </a:r>
            <a:r>
              <a:rPr lang="en-US" altLang="ja-JP" kern="0" dirty="0"/>
              <a:t>=</a:t>
            </a:r>
            <a:r>
              <a:rPr lang="ja-JP" altLang="en-US" kern="0" dirty="0"/>
              <a:t>記憶）が </a:t>
            </a:r>
            <a:r>
              <a:rPr lang="en-US" altLang="ja-JP" i="1" kern="0" dirty="0"/>
              <a:t>q</a:t>
            </a:r>
            <a:r>
              <a:rPr lang="en-US" altLang="ja-JP" kern="0" dirty="0"/>
              <a:t> </a:t>
            </a:r>
            <a:r>
              <a:rPr lang="ja-JP" altLang="en-US" kern="0" dirty="0"/>
              <a:t>に出力され続ける</a:t>
            </a:r>
            <a:endParaRPr lang="en-US" altLang="ja-JP" kern="0" dirty="0"/>
          </a:p>
        </p:txBody>
      </p:sp>
      <p:cxnSp>
        <p:nvCxnSpPr>
          <p:cNvPr id="92" name="直線コネクタ 91"/>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3" name="直線コネクタ 92"/>
          <p:cNvCxnSpPr/>
          <p:nvPr/>
        </p:nvCxnSpPr>
        <p:spPr bwMode="auto">
          <a:xfrm flipH="1">
            <a:off x="276596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4" name="直線コネクタ 93"/>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5" name="直線コネクタ 94"/>
          <p:cNvCxnSpPr/>
          <p:nvPr/>
        </p:nvCxnSpPr>
        <p:spPr bwMode="auto">
          <a:xfrm flipH="1">
            <a:off x="3845980" y="1988984"/>
            <a:ext cx="1170013" cy="0"/>
          </a:xfrm>
          <a:prstGeom prst="line">
            <a:avLst/>
          </a:prstGeom>
          <a:ln w="47625" cap="rnd">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6" name="直線コネクタ 95"/>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97" name="直線コネクタ 96"/>
          <p:cNvCxnSpPr/>
          <p:nvPr/>
        </p:nvCxnSpPr>
        <p:spPr bwMode="auto">
          <a:xfrm flipH="1">
            <a:off x="5015994"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98" name="直線コネクタ 97"/>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99" name="直線コネクタ 98"/>
          <p:cNvCxnSpPr/>
          <p:nvPr/>
        </p:nvCxnSpPr>
        <p:spPr bwMode="auto">
          <a:xfrm flipH="1">
            <a:off x="6096005"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0" name="直線コネクタ 99"/>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1" name="直線コネクタ 100"/>
          <p:cNvCxnSpPr/>
          <p:nvPr/>
        </p:nvCxnSpPr>
        <p:spPr bwMode="auto">
          <a:xfrm flipH="1">
            <a:off x="726601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2" name="直線コネクタ 101"/>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3" name="直線コネクタ 102"/>
          <p:cNvCxnSpPr/>
          <p:nvPr/>
        </p:nvCxnSpPr>
        <p:spPr bwMode="auto">
          <a:xfrm flipH="1">
            <a:off x="834603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104" name="直線コネクタ 103"/>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2" name="円/楕円 1"/>
          <p:cNvSpPr/>
          <p:nvPr/>
        </p:nvSpPr>
        <p:spPr bwMode="auto">
          <a:xfrm>
            <a:off x="4205979"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1"/>
                </a:solidFill>
                <a:latin typeface="+mn-ea"/>
              </a:rPr>
              <a:t>１</a:t>
            </a:r>
          </a:p>
        </p:txBody>
      </p:sp>
      <p:sp>
        <p:nvSpPr>
          <p:cNvPr id="106" name="円/楕円 105"/>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107" name="円/楕円 106"/>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108" name="円/楕円 107"/>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Tree>
    <p:extLst>
      <p:ext uri="{BB962C8B-B14F-4D97-AF65-F5344CB8AC3E}">
        <p14:creationId xmlns:p14="http://schemas.microsoft.com/office/powerpoint/2010/main" val="4081497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62</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② クロック信号の立ち上がり</a:t>
            </a:r>
            <a:endParaRPr lang="en-US" altLang="ja-JP" dirty="0"/>
          </a:p>
        </p:txBody>
      </p:sp>
      <p:sp>
        <p:nvSpPr>
          <p:cNvPr id="700478" name="Freeform 62"/>
          <p:cNvSpPr>
            <a:spLocks/>
          </p:cNvSpPr>
          <p:nvPr/>
        </p:nvSpPr>
        <p:spPr bwMode="auto">
          <a:xfrm>
            <a:off x="4295622" y="2708639"/>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4" y="2708639"/>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6"/>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9001"/>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6"/>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9001"/>
            <a:ext cx="717550" cy="720725"/>
          </a:xfrm>
          <a:prstGeom prst="rect">
            <a:avLst/>
          </a:prstGeom>
          <a:noFill/>
        </p:spPr>
      </p:pic>
      <p:sp>
        <p:nvSpPr>
          <p:cNvPr id="700484" name="Line 68"/>
          <p:cNvSpPr>
            <a:spLocks noChangeShapeType="1"/>
          </p:cNvSpPr>
          <p:nvPr/>
        </p:nvSpPr>
        <p:spPr bwMode="auto">
          <a:xfrm>
            <a:off x="5735489"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7" y="2978514"/>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4" y="3338876"/>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9"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7" y="2978514"/>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4" y="3338876"/>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9" y="324997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935975" y="3248998"/>
            <a:ext cx="359646" cy="18036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7" y="3338876"/>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276002" y="3069000"/>
            <a:ext cx="178618" cy="360363"/>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7" y="3338876"/>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6"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en-US" altLang="ja-JP" i="1" kern="0" dirty="0"/>
              <a:t>d</a:t>
            </a:r>
            <a:r>
              <a:rPr lang="en-US" altLang="ja-JP" kern="0" dirty="0"/>
              <a:t> </a:t>
            </a:r>
            <a:r>
              <a:rPr lang="ja-JP" altLang="en-US" kern="0" dirty="0"/>
              <a:t>と遮断され，ループが形成される</a:t>
            </a:r>
            <a:endParaRPr lang="en-US" altLang="ja-JP" kern="0" dirty="0"/>
          </a:p>
          <a:p>
            <a:pPr lvl="1"/>
            <a:r>
              <a:rPr lang="ja-JP" altLang="en-US" kern="0" dirty="0"/>
              <a:t>直前まで </a:t>
            </a:r>
            <a:r>
              <a:rPr lang="en-US" altLang="ja-JP" i="1" kern="0" dirty="0"/>
              <a:t>d</a:t>
            </a:r>
            <a:r>
              <a:rPr lang="en-US" altLang="ja-JP" kern="0" dirty="0"/>
              <a:t> </a:t>
            </a:r>
            <a:r>
              <a:rPr lang="ja-JP" altLang="en-US" kern="0" dirty="0"/>
              <a:t>に入力されていた信号が記憶される</a:t>
            </a:r>
            <a:endParaRPr lang="en-US" altLang="ja-JP" kern="0" dirty="0"/>
          </a:p>
          <a:p>
            <a:r>
              <a:rPr lang="ja-JP" altLang="en-US" kern="0" dirty="0"/>
              <a:t>右側のループ：</a:t>
            </a:r>
            <a:endParaRPr lang="en-US" altLang="ja-JP" kern="0" dirty="0"/>
          </a:p>
          <a:p>
            <a:pPr lvl="1"/>
            <a:r>
              <a:rPr lang="ja-JP" altLang="en-US" kern="0" dirty="0"/>
              <a:t>左側のループと繋がり，ループが解除される</a:t>
            </a:r>
            <a:endParaRPr lang="en-US" altLang="ja-JP" kern="0" dirty="0"/>
          </a:p>
        </p:txBody>
      </p:sp>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8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38100" cap="rnd">
            <a:solidFill>
              <a:schemeClr val="accent5"/>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4"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5"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3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２</a:t>
            </a:r>
          </a:p>
        </p:txBody>
      </p:sp>
      <p:sp>
        <p:nvSpPr>
          <p:cNvPr id="68" name="円/楕円 67"/>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69" name="円/楕円 68"/>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
        <p:nvSpPr>
          <p:cNvPr id="3" name="円弧 2"/>
          <p:cNvSpPr/>
          <p:nvPr/>
        </p:nvSpPr>
        <p:spPr bwMode="auto">
          <a:xfrm>
            <a:off x="3935976" y="3069001"/>
            <a:ext cx="540006" cy="450005"/>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1" name="円弧 70"/>
          <p:cNvSpPr/>
          <p:nvPr/>
        </p:nvSpPr>
        <p:spPr bwMode="auto">
          <a:xfrm rot="16200000" flipH="1">
            <a:off x="6006002" y="3159004"/>
            <a:ext cx="540006" cy="360003"/>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Tree>
    <p:extLst>
      <p:ext uri="{BB962C8B-B14F-4D97-AF65-F5344CB8AC3E}">
        <p14:creationId xmlns:p14="http://schemas.microsoft.com/office/powerpoint/2010/main" val="11338235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63</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③ クロック信号が </a:t>
            </a:r>
            <a:r>
              <a:rPr lang="en-US" altLang="ja-JP" dirty="0"/>
              <a:t>High</a:t>
            </a:r>
          </a:p>
        </p:txBody>
      </p:sp>
      <p:sp>
        <p:nvSpPr>
          <p:cNvPr id="700478" name="Freeform 62"/>
          <p:cNvSpPr>
            <a:spLocks/>
          </p:cNvSpPr>
          <p:nvPr/>
        </p:nvSpPr>
        <p:spPr bwMode="auto">
          <a:xfrm>
            <a:off x="4295622" y="2708639"/>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4" y="2708639"/>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6"/>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9001"/>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6"/>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9001"/>
            <a:ext cx="717550" cy="720725"/>
          </a:xfrm>
          <a:prstGeom prst="rect">
            <a:avLst/>
          </a:prstGeom>
          <a:noFill/>
        </p:spPr>
      </p:pic>
      <p:sp>
        <p:nvSpPr>
          <p:cNvPr id="700484" name="Line 68"/>
          <p:cNvSpPr>
            <a:spLocks noChangeShapeType="1"/>
          </p:cNvSpPr>
          <p:nvPr/>
        </p:nvSpPr>
        <p:spPr bwMode="auto">
          <a:xfrm>
            <a:off x="5735489"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7" y="2978514"/>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4" y="3338876"/>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9"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7" y="2978514"/>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4" y="3338876"/>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9" y="324997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4205979" y="3068996"/>
            <a:ext cx="89642" cy="360362"/>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7" y="3338876"/>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006004" y="3339003"/>
            <a:ext cx="448621" cy="90359"/>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7" y="3338876"/>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mc:AlternateContent xmlns:mc="http://schemas.openxmlformats.org/markup-compatibility/2006">
        <mc:Choice xmlns:a14="http://schemas.microsoft.com/office/drawing/2010/main" Requires="a14">
          <p:sp>
            <p:nvSpPr>
              <p:cNvPr id="75" name="Rectangle 5"/>
              <p:cNvSpPr txBox="1">
                <a:spLocks noChangeArrowheads="1"/>
              </p:cNvSpPr>
              <p:nvPr/>
            </p:nvSpPr>
            <p:spPr>
              <a:xfrm>
                <a:off x="2386786"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ja-JP" altLang="en-US" kern="0" dirty="0"/>
                  <a:t>クロックが立ち上がる直前の </a:t>
                </a:r>
                <a14:m>
                  <m:oMath xmlns:m="http://schemas.openxmlformats.org/officeDocument/2006/math">
                    <m:r>
                      <a:rPr lang="en-US" altLang="ja-JP" i="1" kern="0" dirty="0">
                        <a:latin typeface="Cambria Math" panose="02040503050406030204" pitchFamily="18" charset="0"/>
                      </a:rPr>
                      <m:t>𝑑</m:t>
                    </m:r>
                    <m:r>
                      <a:rPr lang="en-US" altLang="ja-JP" kern="0" dirty="0">
                        <a:latin typeface="Cambria Math" panose="02040503050406030204" pitchFamily="18" charset="0"/>
                      </a:rPr>
                      <m:t> </m:t>
                    </m:r>
                  </m:oMath>
                </a14:m>
                <a:r>
                  <a:rPr lang="ja-JP" altLang="en-US" kern="0" dirty="0"/>
                  <a:t>の内容を出し続ける</a:t>
                </a:r>
                <a:endParaRPr lang="en-US" altLang="ja-JP" kern="0" dirty="0"/>
              </a:p>
              <a:p>
                <a:r>
                  <a:rPr lang="ja-JP" altLang="en-US" kern="0" dirty="0"/>
                  <a:t>右側のループ：</a:t>
                </a:r>
                <a:endParaRPr lang="en-US" altLang="ja-JP" kern="0" dirty="0"/>
              </a:p>
              <a:p>
                <a:pPr lvl="1"/>
                <a:r>
                  <a:rPr lang="ja-JP" altLang="en-US" kern="0" dirty="0"/>
                  <a:t>左側のループの出力を反転して </a:t>
                </a:r>
                <a14:m>
                  <m:oMath xmlns:m="http://schemas.openxmlformats.org/officeDocument/2006/math">
                    <m:r>
                      <a:rPr lang="en-US" altLang="ja-JP" i="1" kern="0" dirty="0">
                        <a:latin typeface="Cambria Math" panose="02040503050406030204" pitchFamily="18" charset="0"/>
                      </a:rPr>
                      <m:t>𝑞</m:t>
                    </m:r>
                  </m:oMath>
                </a14:m>
                <a:r>
                  <a:rPr lang="en-US" altLang="ja-JP" kern="0" dirty="0"/>
                  <a:t> </a:t>
                </a:r>
                <a:r>
                  <a:rPr lang="ja-JP" altLang="en-US" kern="0" dirty="0"/>
                  <a:t>に出力</a:t>
                </a:r>
                <a:endParaRPr lang="en-US" altLang="ja-JP" kern="0" dirty="0"/>
              </a:p>
            </p:txBody>
          </p:sp>
        </mc:Choice>
        <mc:Fallback>
          <p:sp>
            <p:nvSpPr>
              <p:cNvPr id="75" name="Rectangle 5"/>
              <p:cNvSpPr txBox="1">
                <a:spLocks noRot="1" noChangeAspect="1" noMove="1" noResize="1" noEditPoints="1" noAdjustHandles="1" noChangeArrowheads="1" noChangeShapeType="1" noTextEdit="1"/>
              </p:cNvSpPr>
              <p:nvPr/>
            </p:nvSpPr>
            <p:spPr>
              <a:xfrm>
                <a:off x="2386786" y="4149008"/>
                <a:ext cx="8281219" cy="2070860"/>
              </a:xfrm>
              <a:prstGeom prst="rect">
                <a:avLst/>
              </a:prstGeom>
              <a:blipFill>
                <a:blip r:embed="rId4"/>
                <a:stretch>
                  <a:fillRect l="-663" t="-885" b="-3835"/>
                </a:stretch>
              </a:blipFill>
            </p:spPr>
            <p:txBody>
              <a:bodyPr/>
              <a:lstStyle/>
              <a:p>
                <a:r>
                  <a:rPr lang="ja-JP" altLang="en-US">
                    <a:noFill/>
                  </a:rPr>
                  <a:t> </a:t>
                </a:r>
              </a:p>
            </p:txBody>
          </p:sp>
        </mc:Fallback>
      </mc:AlternateContent>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8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4" y="1448978"/>
            <a:ext cx="1080011" cy="0"/>
          </a:xfrm>
          <a:prstGeom prst="line">
            <a:avLst/>
          </a:prstGeom>
          <a:ln w="38100" cap="rnd">
            <a:solidFill>
              <a:schemeClr val="accent5"/>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19050" cap="rnd">
            <a:solidFill>
              <a:schemeClr val="tx1">
                <a:lumMod val="75000"/>
                <a:lumOff val="25000"/>
              </a:schemeClr>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5"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3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68" name="円/楕円 67"/>
          <p:cNvSpPr/>
          <p:nvPr/>
        </p:nvSpPr>
        <p:spPr bwMode="auto">
          <a:xfrm>
            <a:off x="5375992" y="998973"/>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３</a:t>
            </a:r>
          </a:p>
        </p:txBody>
      </p:sp>
      <p:sp>
        <p:nvSpPr>
          <p:cNvPr id="69" name="円/楕円 68"/>
          <p:cNvSpPr/>
          <p:nvPr/>
        </p:nvSpPr>
        <p:spPr bwMode="auto">
          <a:xfrm>
            <a:off x="6186001"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４</a:t>
            </a:r>
          </a:p>
        </p:txBody>
      </p:sp>
    </p:spTree>
    <p:extLst>
      <p:ext uri="{BB962C8B-B14F-4D97-AF65-F5344CB8AC3E}">
        <p14:creationId xmlns:p14="http://schemas.microsoft.com/office/powerpoint/2010/main" val="26570566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a:xfrm>
            <a:off x="10236552" y="6399396"/>
            <a:ext cx="360048" cy="360048"/>
          </a:xfrm>
          <a:prstGeom prst="rect">
            <a:avLst/>
          </a:prstGeom>
        </p:spPr>
        <p:txBody>
          <a:bodyPr/>
          <a:lstStyle/>
          <a:p>
            <a:fld id="{B99B8E25-FC55-4448-A609-32D724F2B374}" type="slidenum">
              <a:rPr lang="ja-JP" altLang="en-US" smtClean="0"/>
              <a:pPr/>
              <a:t>64</a:t>
            </a:fld>
            <a:endParaRPr lang="ja-JP" altLang="en-US"/>
          </a:p>
        </p:txBody>
      </p:sp>
      <p:sp>
        <p:nvSpPr>
          <p:cNvPr id="700418" name="Rectangle 2"/>
          <p:cNvSpPr>
            <a:spLocks noGrp="1" noChangeArrowheads="1"/>
          </p:cNvSpPr>
          <p:nvPr>
            <p:ph type="title"/>
          </p:nvPr>
        </p:nvSpPr>
        <p:spPr/>
        <p:txBody>
          <a:bodyPr/>
          <a:lstStyle/>
          <a:p>
            <a:r>
              <a:rPr lang="en-US" altLang="ja-JP" dirty="0"/>
              <a:t>D-FF</a:t>
            </a:r>
            <a:r>
              <a:rPr lang="ja-JP" altLang="en-US" dirty="0"/>
              <a:t> の動作 ④ クロック信号の立ち下がり</a:t>
            </a:r>
            <a:endParaRPr lang="en-US" altLang="ja-JP" dirty="0"/>
          </a:p>
        </p:txBody>
      </p:sp>
      <p:sp>
        <p:nvSpPr>
          <p:cNvPr id="700478" name="Freeform 62"/>
          <p:cNvSpPr>
            <a:spLocks/>
          </p:cNvSpPr>
          <p:nvPr/>
        </p:nvSpPr>
        <p:spPr bwMode="auto">
          <a:xfrm>
            <a:off x="4295622" y="2708639"/>
            <a:ext cx="1439862"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sp>
        <p:nvSpPr>
          <p:cNvPr id="700479" name="Freeform 63"/>
          <p:cNvSpPr>
            <a:spLocks/>
          </p:cNvSpPr>
          <p:nvPr/>
        </p:nvSpPr>
        <p:spPr bwMode="auto">
          <a:xfrm>
            <a:off x="6456214" y="2708639"/>
            <a:ext cx="1439863" cy="720725"/>
          </a:xfrm>
          <a:custGeom>
            <a:avLst/>
            <a:gdLst/>
            <a:ahLst/>
            <a:cxnLst>
              <a:cxn ang="0">
                <a:pos x="0" y="454"/>
              </a:cxn>
              <a:cxn ang="0">
                <a:pos x="907" y="454"/>
              </a:cxn>
              <a:cxn ang="0">
                <a:pos x="907" y="0"/>
              </a:cxn>
              <a:cxn ang="0">
                <a:pos x="0" y="0"/>
              </a:cxn>
              <a:cxn ang="0">
                <a:pos x="0" y="227"/>
              </a:cxn>
            </a:cxnLst>
            <a:rect l="0" t="0" r="r" b="b"/>
            <a:pathLst>
              <a:path w="907" h="454">
                <a:moveTo>
                  <a:pt x="0" y="454"/>
                </a:moveTo>
                <a:lnTo>
                  <a:pt x="907" y="454"/>
                </a:lnTo>
                <a:lnTo>
                  <a:pt x="907" y="0"/>
                </a:lnTo>
                <a:lnTo>
                  <a:pt x="0" y="0"/>
                </a:lnTo>
                <a:lnTo>
                  <a:pt x="0" y="227"/>
                </a:lnTo>
              </a:path>
            </a:pathLst>
          </a:custGeom>
          <a:noFill/>
          <a:ln w="9525" cap="flat" cmpd="sng">
            <a:solidFill>
              <a:schemeClr val="tx1"/>
            </a:solidFill>
            <a:prstDash val="solid"/>
            <a:round/>
            <a:headEnd type="none" w="med" len="med"/>
            <a:tailEnd type="none" w="med" len="lg"/>
          </a:ln>
          <a:effectLst/>
        </p:spPr>
        <p:txBody>
          <a:bodyPr wrap="none" lIns="90000" tIns="46800" rIns="90000" bIns="46800" anchor="ctr"/>
          <a:lstStyle/>
          <a:p>
            <a:endParaRPr lang="ja-JP" altLang="en-US"/>
          </a:p>
        </p:txBody>
      </p:sp>
      <p:pic>
        <p:nvPicPr>
          <p:cNvPr id="700480" name="Picture 64" descr="NOT"/>
          <p:cNvPicPr>
            <a:picLocks noChangeAspect="1" noChangeArrowheads="1"/>
          </p:cNvPicPr>
          <p:nvPr/>
        </p:nvPicPr>
        <p:blipFill>
          <a:blip r:embed="rId3" cstate="print"/>
          <a:srcRect/>
          <a:stretch>
            <a:fillRect/>
          </a:stretch>
        </p:blipFill>
        <p:spPr bwMode="auto">
          <a:xfrm flipH="1">
            <a:off x="4655984" y="2348276"/>
            <a:ext cx="717550" cy="720725"/>
          </a:xfrm>
          <a:prstGeom prst="rect">
            <a:avLst/>
          </a:prstGeom>
          <a:noFill/>
        </p:spPr>
      </p:pic>
      <p:pic>
        <p:nvPicPr>
          <p:cNvPr id="700481" name="Picture 65" descr="NOT"/>
          <p:cNvPicPr>
            <a:picLocks noChangeAspect="1" noChangeArrowheads="1"/>
          </p:cNvPicPr>
          <p:nvPr/>
        </p:nvPicPr>
        <p:blipFill>
          <a:blip r:embed="rId3" cstate="print"/>
          <a:srcRect/>
          <a:stretch>
            <a:fillRect/>
          </a:stretch>
        </p:blipFill>
        <p:spPr bwMode="auto">
          <a:xfrm>
            <a:off x="4655984" y="3069001"/>
            <a:ext cx="717550" cy="720725"/>
          </a:xfrm>
          <a:prstGeom prst="rect">
            <a:avLst/>
          </a:prstGeom>
          <a:noFill/>
        </p:spPr>
      </p:pic>
      <p:pic>
        <p:nvPicPr>
          <p:cNvPr id="700482" name="Picture 66" descr="NOT"/>
          <p:cNvPicPr>
            <a:picLocks noChangeAspect="1" noChangeArrowheads="1"/>
          </p:cNvPicPr>
          <p:nvPr/>
        </p:nvPicPr>
        <p:blipFill>
          <a:blip r:embed="rId3" cstate="print"/>
          <a:srcRect/>
          <a:stretch>
            <a:fillRect/>
          </a:stretch>
        </p:blipFill>
        <p:spPr bwMode="auto">
          <a:xfrm flipH="1">
            <a:off x="6816572" y="2348276"/>
            <a:ext cx="717550" cy="720725"/>
          </a:xfrm>
          <a:prstGeom prst="rect">
            <a:avLst/>
          </a:prstGeom>
          <a:noFill/>
        </p:spPr>
      </p:pic>
      <p:pic>
        <p:nvPicPr>
          <p:cNvPr id="700483" name="Picture 67" descr="NOT"/>
          <p:cNvPicPr>
            <a:picLocks noChangeAspect="1" noChangeArrowheads="1"/>
          </p:cNvPicPr>
          <p:nvPr/>
        </p:nvPicPr>
        <p:blipFill>
          <a:blip r:embed="rId3" cstate="print"/>
          <a:srcRect/>
          <a:stretch>
            <a:fillRect/>
          </a:stretch>
        </p:blipFill>
        <p:spPr bwMode="auto">
          <a:xfrm>
            <a:off x="6816572" y="3069001"/>
            <a:ext cx="717550" cy="720725"/>
          </a:xfrm>
          <a:prstGeom prst="rect">
            <a:avLst/>
          </a:prstGeom>
          <a:noFill/>
        </p:spPr>
      </p:pic>
      <p:sp>
        <p:nvSpPr>
          <p:cNvPr id="700484" name="Line 68"/>
          <p:cNvSpPr>
            <a:spLocks noChangeShapeType="1"/>
          </p:cNvSpPr>
          <p:nvPr/>
        </p:nvSpPr>
        <p:spPr bwMode="auto">
          <a:xfrm>
            <a:off x="5735489" y="3429359"/>
            <a:ext cx="360363"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grpSp>
        <p:nvGrpSpPr>
          <p:cNvPr id="700485" name="Group 69"/>
          <p:cNvGrpSpPr>
            <a:grpSpLocks/>
          </p:cNvGrpSpPr>
          <p:nvPr/>
        </p:nvGrpSpPr>
        <p:grpSpPr bwMode="auto">
          <a:xfrm>
            <a:off x="6365727" y="2978514"/>
            <a:ext cx="180975" cy="180975"/>
            <a:chOff x="2823" y="1990"/>
            <a:chExt cx="227" cy="227"/>
          </a:xfrm>
        </p:grpSpPr>
        <p:sp>
          <p:nvSpPr>
            <p:cNvPr id="700486" name="Rectangle 7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87" name="Oval 7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88" name="Group 72"/>
          <p:cNvGrpSpPr>
            <a:grpSpLocks/>
          </p:cNvGrpSpPr>
          <p:nvPr/>
        </p:nvGrpSpPr>
        <p:grpSpPr bwMode="auto">
          <a:xfrm>
            <a:off x="6005364" y="3338876"/>
            <a:ext cx="180975" cy="180975"/>
            <a:chOff x="2823" y="1990"/>
            <a:chExt cx="227" cy="227"/>
          </a:xfrm>
        </p:grpSpPr>
        <p:sp>
          <p:nvSpPr>
            <p:cNvPr id="700489" name="Rectangle 73"/>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0" name="Oval 74"/>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1" name="Line 75"/>
          <p:cNvSpPr>
            <a:spLocks noChangeShapeType="1"/>
          </p:cNvSpPr>
          <p:nvPr/>
        </p:nvSpPr>
        <p:spPr bwMode="auto">
          <a:xfrm>
            <a:off x="3576489" y="3429359"/>
            <a:ext cx="360363" cy="0"/>
          </a:xfrm>
          <a:prstGeom prst="line">
            <a:avLst/>
          </a:prstGeom>
          <a:noFill/>
          <a:ln w="9525">
            <a:solidFill>
              <a:schemeClr val="tx1"/>
            </a:solidFill>
            <a:round/>
            <a:headEnd type="none" w="sm" len="sm"/>
            <a:tailEnd type="none" w="med" len="lg"/>
          </a:ln>
          <a:effectLst/>
        </p:spPr>
        <p:txBody>
          <a:bodyPr wrap="none" lIns="90000" tIns="46800" rIns="90000" bIns="46800" anchor="ctr"/>
          <a:lstStyle/>
          <a:p>
            <a:endParaRPr lang="ja-JP" altLang="en-US"/>
          </a:p>
        </p:txBody>
      </p:sp>
      <p:grpSp>
        <p:nvGrpSpPr>
          <p:cNvPr id="700492" name="Group 76"/>
          <p:cNvGrpSpPr>
            <a:grpSpLocks/>
          </p:cNvGrpSpPr>
          <p:nvPr/>
        </p:nvGrpSpPr>
        <p:grpSpPr bwMode="auto">
          <a:xfrm>
            <a:off x="4206727" y="2978514"/>
            <a:ext cx="180975" cy="180975"/>
            <a:chOff x="2823" y="1990"/>
            <a:chExt cx="227" cy="227"/>
          </a:xfrm>
        </p:grpSpPr>
        <p:sp>
          <p:nvSpPr>
            <p:cNvPr id="700493" name="Rectangle 7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4" name="Oval 7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grpSp>
        <p:nvGrpSpPr>
          <p:cNvPr id="700495" name="Group 79"/>
          <p:cNvGrpSpPr>
            <a:grpSpLocks/>
          </p:cNvGrpSpPr>
          <p:nvPr/>
        </p:nvGrpSpPr>
        <p:grpSpPr bwMode="auto">
          <a:xfrm>
            <a:off x="3846364" y="3338876"/>
            <a:ext cx="180975" cy="180975"/>
            <a:chOff x="2823" y="1990"/>
            <a:chExt cx="227" cy="227"/>
          </a:xfrm>
        </p:grpSpPr>
        <p:sp>
          <p:nvSpPr>
            <p:cNvPr id="700496" name="Rectangle 80"/>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497" name="Oval 81"/>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498" name="Line 82"/>
          <p:cNvSpPr>
            <a:spLocks noChangeShapeType="1"/>
          </p:cNvSpPr>
          <p:nvPr/>
        </p:nvSpPr>
        <p:spPr bwMode="auto">
          <a:xfrm>
            <a:off x="7896072" y="3429359"/>
            <a:ext cx="360362" cy="0"/>
          </a:xfrm>
          <a:prstGeom prst="line">
            <a:avLst/>
          </a:prstGeom>
          <a:noFill/>
          <a:ln w="9525">
            <a:solidFill>
              <a:schemeClr val="tx1"/>
            </a:solidFill>
            <a:round/>
            <a:headEnd type="oval" w="sm" len="sm"/>
            <a:tailEnd type="none" w="med" len="lg"/>
          </a:ln>
          <a:effectLst/>
        </p:spPr>
        <p:txBody>
          <a:bodyPr wrap="none" lIns="90000" tIns="46800" rIns="90000" bIns="46800" anchor="ctr"/>
          <a:lstStyle/>
          <a:p>
            <a:endParaRPr lang="ja-JP" altLang="en-US"/>
          </a:p>
        </p:txBody>
      </p:sp>
      <p:sp>
        <p:nvSpPr>
          <p:cNvPr id="700499" name="Rectangle 83"/>
          <p:cNvSpPr>
            <a:spLocks noChangeArrowheads="1"/>
          </p:cNvSpPr>
          <p:nvPr/>
        </p:nvSpPr>
        <p:spPr bwMode="auto">
          <a:xfrm>
            <a:off x="3216122" y="3249976"/>
            <a:ext cx="360362" cy="360363"/>
          </a:xfrm>
          <a:prstGeom prst="rect">
            <a:avLst/>
          </a:prstGeom>
          <a:noFill/>
          <a:ln w="12700" algn="ctr">
            <a:noFill/>
            <a:miter lim="800000"/>
            <a:headEnd/>
            <a:tailEnd/>
          </a:ln>
          <a:effectLst/>
        </p:spPr>
        <p:txBody>
          <a:bodyPr wrap="none" lIns="90000" tIns="46800" rIns="90000" bIns="46800" anchor="ctr"/>
          <a:lstStyle/>
          <a:p>
            <a:pPr algn="r"/>
            <a:r>
              <a:rPr lang="en-US" altLang="ja-JP" i="1" dirty="0"/>
              <a:t>d</a:t>
            </a:r>
          </a:p>
        </p:txBody>
      </p:sp>
      <p:sp>
        <p:nvSpPr>
          <p:cNvPr id="700500" name="Rectangle 84"/>
          <p:cNvSpPr>
            <a:spLocks noChangeArrowheads="1"/>
          </p:cNvSpPr>
          <p:nvPr/>
        </p:nvSpPr>
        <p:spPr bwMode="auto">
          <a:xfrm>
            <a:off x="8256439" y="3249976"/>
            <a:ext cx="360363" cy="360363"/>
          </a:xfrm>
          <a:prstGeom prst="rect">
            <a:avLst/>
          </a:prstGeom>
          <a:noFill/>
          <a:ln w="12700" algn="ctr">
            <a:noFill/>
            <a:miter lim="800000"/>
            <a:headEnd/>
            <a:tailEnd/>
          </a:ln>
          <a:effectLst/>
        </p:spPr>
        <p:txBody>
          <a:bodyPr wrap="none" lIns="90000" tIns="46800" rIns="90000" bIns="46800" anchor="ctr"/>
          <a:lstStyle/>
          <a:p>
            <a:pPr algn="l"/>
            <a:r>
              <a:rPr lang="en-US" altLang="ja-JP" i="1" dirty="0"/>
              <a:t>q</a:t>
            </a:r>
          </a:p>
        </p:txBody>
      </p:sp>
      <p:sp>
        <p:nvSpPr>
          <p:cNvPr id="700501" name="Line 85"/>
          <p:cNvSpPr>
            <a:spLocks noChangeShapeType="1"/>
          </p:cNvSpPr>
          <p:nvPr/>
        </p:nvSpPr>
        <p:spPr bwMode="auto">
          <a:xfrm flipH="1" flipV="1">
            <a:off x="3935975" y="3248998"/>
            <a:ext cx="359646" cy="180360"/>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2" name="Group 86"/>
          <p:cNvGrpSpPr>
            <a:grpSpLocks/>
          </p:cNvGrpSpPr>
          <p:nvPr/>
        </p:nvGrpSpPr>
        <p:grpSpPr bwMode="auto">
          <a:xfrm>
            <a:off x="4206727" y="3338876"/>
            <a:ext cx="180975" cy="180975"/>
            <a:chOff x="2823" y="1990"/>
            <a:chExt cx="227" cy="227"/>
          </a:xfrm>
        </p:grpSpPr>
        <p:sp>
          <p:nvSpPr>
            <p:cNvPr id="700503" name="Rectangle 87"/>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4" name="Oval 88"/>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00505" name="Line 89"/>
          <p:cNvSpPr>
            <a:spLocks noChangeShapeType="1"/>
          </p:cNvSpPr>
          <p:nvPr/>
        </p:nvSpPr>
        <p:spPr bwMode="auto">
          <a:xfrm flipH="1" flipV="1">
            <a:off x="6095999" y="3249002"/>
            <a:ext cx="358620" cy="180359"/>
          </a:xfrm>
          <a:prstGeom prst="line">
            <a:avLst/>
          </a:prstGeom>
          <a:noFill/>
          <a:ln w="28575">
            <a:solidFill>
              <a:schemeClr val="tx1"/>
            </a:solidFill>
            <a:round/>
            <a:headEnd/>
            <a:tailEnd type="none" w="med" len="lg"/>
          </a:ln>
          <a:effectLst/>
        </p:spPr>
        <p:txBody>
          <a:bodyPr wrap="none" lIns="90000" tIns="46800" rIns="90000" bIns="46800" anchor="ctr"/>
          <a:lstStyle/>
          <a:p>
            <a:endParaRPr lang="ja-JP" altLang="en-US"/>
          </a:p>
        </p:txBody>
      </p:sp>
      <p:grpSp>
        <p:nvGrpSpPr>
          <p:cNvPr id="700506" name="Group 90"/>
          <p:cNvGrpSpPr>
            <a:grpSpLocks/>
          </p:cNvGrpSpPr>
          <p:nvPr/>
        </p:nvGrpSpPr>
        <p:grpSpPr bwMode="auto">
          <a:xfrm>
            <a:off x="6365727" y="3338876"/>
            <a:ext cx="180975" cy="180975"/>
            <a:chOff x="2823" y="1990"/>
            <a:chExt cx="227" cy="227"/>
          </a:xfrm>
        </p:grpSpPr>
        <p:sp>
          <p:nvSpPr>
            <p:cNvPr id="700507" name="Rectangle 91"/>
            <p:cNvSpPr>
              <a:spLocks noChangeArrowheads="1"/>
            </p:cNvSpPr>
            <p:nvPr/>
          </p:nvSpPr>
          <p:spPr bwMode="auto">
            <a:xfrm>
              <a:off x="2823" y="1990"/>
              <a:ext cx="227" cy="227"/>
            </a:xfrm>
            <a:prstGeom prst="rect">
              <a:avLst/>
            </a:prstGeom>
            <a:noFill/>
            <a:ln w="9525" algn="ctr">
              <a:noFill/>
              <a:miter lim="800000"/>
              <a:headEnd/>
              <a:tailEnd type="none" w="med" len="lg"/>
            </a:ln>
            <a:effectLst/>
          </p:spPr>
          <p:txBody>
            <a:bodyPr wrap="none" lIns="90000" tIns="46800" rIns="90000" bIns="46800" anchor="ctr"/>
            <a:lstStyle/>
            <a:p>
              <a:endParaRPr lang="ja-JP" altLang="en-US"/>
            </a:p>
          </p:txBody>
        </p:sp>
        <p:sp>
          <p:nvSpPr>
            <p:cNvPr id="700508" name="Oval 92"/>
            <p:cNvSpPr>
              <a:spLocks noChangeArrowheads="1"/>
            </p:cNvSpPr>
            <p:nvPr/>
          </p:nvSpPr>
          <p:spPr bwMode="auto">
            <a:xfrm>
              <a:off x="2879" y="2047"/>
              <a:ext cx="114" cy="114"/>
            </a:xfrm>
            <a:prstGeom prst="ellipse">
              <a:avLst/>
            </a:prstGeom>
            <a:solidFill>
              <a:srgbClr val="FFFFFF"/>
            </a:solidFill>
            <a:ln w="19050" algn="ctr">
              <a:solidFill>
                <a:schemeClr val="tx1"/>
              </a:solidFill>
              <a:round/>
              <a:headEnd/>
              <a:tailEnd type="none" w="med" len="lg"/>
            </a:ln>
            <a:effectLst/>
          </p:spPr>
          <p:txBody>
            <a:bodyPr wrap="none" lIns="90000" tIns="46800" rIns="90000" bIns="46800" anchor="ctr"/>
            <a:lstStyle/>
            <a:p>
              <a:endParaRPr lang="ja-JP" altLang="en-US"/>
            </a:p>
          </p:txBody>
        </p:sp>
      </p:grpSp>
      <p:sp>
        <p:nvSpPr>
          <p:cNvPr id="75" name="Rectangle 5"/>
          <p:cNvSpPr txBox="1">
            <a:spLocks noChangeArrowheads="1"/>
          </p:cNvSpPr>
          <p:nvPr/>
        </p:nvSpPr>
        <p:spPr>
          <a:xfrm>
            <a:off x="2386786" y="4149008"/>
            <a:ext cx="8281219" cy="2070860"/>
          </a:xfrm>
          <a:prstGeom prst="rect">
            <a:avLst/>
          </a:prstGeom>
        </p:spPr>
        <p:txBody>
          <a:bodyPr anchor="t"/>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r>
              <a:rPr lang="ja-JP" altLang="en-US" kern="0" dirty="0"/>
              <a:t>左側のループ：</a:t>
            </a:r>
            <a:endParaRPr lang="en-US" altLang="ja-JP" kern="0" dirty="0"/>
          </a:p>
          <a:p>
            <a:pPr lvl="1"/>
            <a:r>
              <a:rPr lang="ja-JP" altLang="en-US" kern="0" dirty="0"/>
              <a:t>ループが解除される</a:t>
            </a:r>
            <a:endParaRPr lang="en-US" altLang="ja-JP" kern="0" dirty="0"/>
          </a:p>
          <a:p>
            <a:r>
              <a:rPr lang="ja-JP" altLang="en-US" kern="0" dirty="0"/>
              <a:t>右側のループ：</a:t>
            </a:r>
            <a:endParaRPr lang="en-US" altLang="ja-JP" kern="0" dirty="0"/>
          </a:p>
          <a:p>
            <a:pPr lvl="1"/>
            <a:r>
              <a:rPr lang="ja-JP" altLang="en-US" kern="0" dirty="0"/>
              <a:t>左側のループと遮断され，ループが形成される</a:t>
            </a:r>
            <a:endParaRPr lang="en-US" altLang="ja-JP" kern="0" dirty="0"/>
          </a:p>
          <a:p>
            <a:pPr lvl="1"/>
            <a:r>
              <a:rPr lang="ja-JP" altLang="en-US" kern="0" dirty="0"/>
              <a:t>それまで左側から入力された内容を出し続ける</a:t>
            </a:r>
            <a:endParaRPr lang="en-US" altLang="ja-JP" kern="0" dirty="0"/>
          </a:p>
        </p:txBody>
      </p:sp>
      <p:cxnSp>
        <p:nvCxnSpPr>
          <p:cNvPr id="53" name="直線コネクタ 52"/>
          <p:cNvCxnSpPr/>
          <p:nvPr/>
        </p:nvCxnSpPr>
        <p:spPr bwMode="auto">
          <a:xfrm flipV="1">
            <a:off x="276596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4" name="直線コネクタ 53"/>
          <p:cNvCxnSpPr/>
          <p:nvPr/>
        </p:nvCxnSpPr>
        <p:spPr bwMode="auto">
          <a:xfrm flipH="1">
            <a:off x="276596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5" name="直線コネクタ 54"/>
          <p:cNvCxnSpPr/>
          <p:nvPr/>
        </p:nvCxnSpPr>
        <p:spPr bwMode="auto">
          <a:xfrm flipV="1">
            <a:off x="384597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6" name="直線コネクタ 55"/>
          <p:cNvCxnSpPr/>
          <p:nvPr/>
        </p:nvCxnSpPr>
        <p:spPr bwMode="auto">
          <a:xfrm flipH="1">
            <a:off x="384598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7" name="直線コネクタ 56"/>
          <p:cNvCxnSpPr/>
          <p:nvPr/>
        </p:nvCxnSpPr>
        <p:spPr bwMode="auto">
          <a:xfrm flipV="1">
            <a:off x="5015988" y="1448978"/>
            <a:ext cx="0" cy="540006"/>
          </a:xfrm>
          <a:prstGeom prst="line">
            <a:avLst/>
          </a:prstGeom>
          <a:ln w="19050" cap="rnd">
            <a:solidFill>
              <a:schemeClr val="tx1">
                <a:lumMod val="75000"/>
                <a:lumOff val="25000"/>
              </a:schemeClr>
            </a:solidFill>
            <a:headEnd type="none" w="med" len="med"/>
            <a:tailEnd type="triangle" w="lg" len="lg"/>
          </a:ln>
          <a:effectLst/>
        </p:spPr>
        <p:style>
          <a:lnRef idx="3">
            <a:schemeClr val="accent5"/>
          </a:lnRef>
          <a:fillRef idx="0">
            <a:schemeClr val="accent5"/>
          </a:fillRef>
          <a:effectRef idx="2">
            <a:schemeClr val="accent5"/>
          </a:effectRef>
          <a:fontRef idx="minor">
            <a:schemeClr val="tx1"/>
          </a:fontRef>
        </p:style>
      </p:cxnSp>
      <p:cxnSp>
        <p:nvCxnSpPr>
          <p:cNvPr id="58" name="直線コネクタ 57"/>
          <p:cNvCxnSpPr/>
          <p:nvPr/>
        </p:nvCxnSpPr>
        <p:spPr bwMode="auto">
          <a:xfrm flipH="1">
            <a:off x="5015994"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59" name="直線コネクタ 58"/>
          <p:cNvCxnSpPr/>
          <p:nvPr/>
        </p:nvCxnSpPr>
        <p:spPr bwMode="auto">
          <a:xfrm flipV="1">
            <a:off x="6096000" y="1448978"/>
            <a:ext cx="0" cy="540006"/>
          </a:xfrm>
          <a:prstGeom prst="line">
            <a:avLst/>
          </a:prstGeom>
          <a:ln w="38100" cap="rnd">
            <a:solidFill>
              <a:schemeClr val="accent5"/>
            </a:solidFill>
            <a:headEnd type="triangle" w="lg" len="lg"/>
            <a:tailEnd type="none" w="lg" len="lg"/>
          </a:ln>
          <a:effectLst/>
        </p:spPr>
        <p:style>
          <a:lnRef idx="3">
            <a:schemeClr val="accent5"/>
          </a:lnRef>
          <a:fillRef idx="0">
            <a:schemeClr val="accent5"/>
          </a:fillRef>
          <a:effectRef idx="2">
            <a:schemeClr val="accent5"/>
          </a:effectRef>
          <a:fontRef idx="minor">
            <a:schemeClr val="tx1"/>
          </a:fontRef>
        </p:style>
      </p:cxnSp>
      <p:cxnSp>
        <p:nvCxnSpPr>
          <p:cNvPr id="60" name="直線コネクタ 59"/>
          <p:cNvCxnSpPr/>
          <p:nvPr/>
        </p:nvCxnSpPr>
        <p:spPr bwMode="auto">
          <a:xfrm flipH="1">
            <a:off x="6096005"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1" name="直線コネクタ 60"/>
          <p:cNvCxnSpPr/>
          <p:nvPr/>
        </p:nvCxnSpPr>
        <p:spPr bwMode="auto">
          <a:xfrm flipV="1">
            <a:off x="7266013"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2" name="直線コネクタ 61"/>
          <p:cNvCxnSpPr/>
          <p:nvPr/>
        </p:nvCxnSpPr>
        <p:spPr bwMode="auto">
          <a:xfrm flipH="1">
            <a:off x="7266019" y="1448978"/>
            <a:ext cx="1080011"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3" name="直線コネクタ 62"/>
          <p:cNvCxnSpPr/>
          <p:nvPr/>
        </p:nvCxnSpPr>
        <p:spPr bwMode="auto">
          <a:xfrm flipV="1">
            <a:off x="8346025"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4" name="直線コネクタ 63"/>
          <p:cNvCxnSpPr/>
          <p:nvPr/>
        </p:nvCxnSpPr>
        <p:spPr bwMode="auto">
          <a:xfrm flipH="1">
            <a:off x="8346030" y="1988984"/>
            <a:ext cx="1170013" cy="0"/>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cxnSp>
        <p:nvCxnSpPr>
          <p:cNvPr id="65" name="直線コネクタ 64"/>
          <p:cNvCxnSpPr/>
          <p:nvPr/>
        </p:nvCxnSpPr>
        <p:spPr bwMode="auto">
          <a:xfrm flipV="1">
            <a:off x="9516038" y="1448978"/>
            <a:ext cx="0" cy="540006"/>
          </a:xfrm>
          <a:prstGeom prst="line">
            <a:avLst/>
          </a:prstGeom>
          <a:ln w="19050" cap="rnd">
            <a:solidFill>
              <a:schemeClr val="tx1">
                <a:lumMod val="75000"/>
                <a:lumOff val="25000"/>
              </a:schemeClr>
            </a:solidFill>
            <a:headEnd type="none" w="med" len="med"/>
            <a:tailEnd type="none" w="med" len="med"/>
          </a:ln>
          <a:effectLst/>
        </p:spPr>
        <p:style>
          <a:lnRef idx="3">
            <a:schemeClr val="accent5"/>
          </a:lnRef>
          <a:fillRef idx="0">
            <a:schemeClr val="accent5"/>
          </a:fillRef>
          <a:effectRef idx="2">
            <a:schemeClr val="accent5"/>
          </a:effectRef>
          <a:fontRef idx="minor">
            <a:schemeClr val="tx1"/>
          </a:fontRef>
        </p:style>
      </p:cxnSp>
      <p:sp>
        <p:nvSpPr>
          <p:cNvPr id="66" name="円/楕円 65"/>
          <p:cNvSpPr/>
          <p:nvPr/>
        </p:nvSpPr>
        <p:spPr bwMode="auto">
          <a:xfrm>
            <a:off x="420597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１</a:t>
            </a:r>
          </a:p>
        </p:txBody>
      </p:sp>
      <p:sp>
        <p:nvSpPr>
          <p:cNvPr id="67" name="円/楕円 66"/>
          <p:cNvSpPr/>
          <p:nvPr/>
        </p:nvSpPr>
        <p:spPr bwMode="auto">
          <a:xfrm>
            <a:off x="5105989" y="1538979"/>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２</a:t>
            </a:r>
          </a:p>
        </p:txBody>
      </p:sp>
      <p:sp>
        <p:nvSpPr>
          <p:cNvPr id="68" name="円/楕円 67"/>
          <p:cNvSpPr/>
          <p:nvPr/>
        </p:nvSpPr>
        <p:spPr bwMode="auto">
          <a:xfrm>
            <a:off x="5375992" y="998973"/>
            <a:ext cx="360004" cy="360004"/>
          </a:xfrm>
          <a:prstGeom prst="ellipse">
            <a:avLst/>
          </a:prstGeom>
          <a:noFill/>
          <a:ln>
            <a:solidFill>
              <a:schemeClr val="tx1">
                <a:lumMod val="75000"/>
                <a:lumOff val="25000"/>
              </a:schemeClr>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75000"/>
                    <a:lumOff val="25000"/>
                  </a:schemeClr>
                </a:solidFill>
                <a:latin typeface="+mn-ea"/>
              </a:rPr>
              <a:t>３</a:t>
            </a:r>
          </a:p>
        </p:txBody>
      </p:sp>
      <p:sp>
        <p:nvSpPr>
          <p:cNvPr id="69" name="円/楕円 68"/>
          <p:cNvSpPr/>
          <p:nvPr/>
        </p:nvSpPr>
        <p:spPr bwMode="auto">
          <a:xfrm>
            <a:off x="6186001" y="1538979"/>
            <a:ext cx="360004" cy="360004"/>
          </a:xfrm>
          <a:prstGeom prst="ellipse">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b="1" dirty="0">
                <a:solidFill>
                  <a:schemeClr val="accent5"/>
                </a:solidFill>
                <a:latin typeface="+mn-ea"/>
              </a:rPr>
              <a:t>４</a:t>
            </a:r>
          </a:p>
        </p:txBody>
      </p:sp>
      <p:sp>
        <p:nvSpPr>
          <p:cNvPr id="3" name="円弧 2"/>
          <p:cNvSpPr/>
          <p:nvPr/>
        </p:nvSpPr>
        <p:spPr bwMode="auto">
          <a:xfrm>
            <a:off x="6096000" y="3069001"/>
            <a:ext cx="540006" cy="450005"/>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
        <p:nvSpPr>
          <p:cNvPr id="71" name="円弧 70"/>
          <p:cNvSpPr/>
          <p:nvPr/>
        </p:nvSpPr>
        <p:spPr bwMode="auto">
          <a:xfrm rot="16200000" flipH="1">
            <a:off x="4025983" y="2978995"/>
            <a:ext cx="450005" cy="450006"/>
          </a:xfrm>
          <a:prstGeom prst="arc">
            <a:avLst>
              <a:gd name="adj1" fmla="val 11670164"/>
              <a:gd name="adj2" fmla="val 16233113"/>
            </a:avLst>
          </a:prstGeom>
          <a:noFill/>
          <a:ln w="38100" cap="flat" cmpd="sng" algn="ctr">
            <a:solidFill>
              <a:schemeClr val="accent5"/>
            </a:solidFill>
            <a:prstDash val="solid"/>
            <a:round/>
            <a:headEnd type="none" w="med" len="med"/>
            <a:tailEnd type="stealth" w="med" len="med"/>
          </a:ln>
          <a:effectLst/>
        </p:spPr>
        <p:txBody>
          <a:bodyPr vert="horz" wrap="none" lIns="90000" tIns="46800" rIns="90000" bIns="46800" numCol="1" rtlCol="0" anchor="ctr" anchorCtr="0" compatLnSpc="1">
            <a:prstTxWarp prst="textNoShape">
              <a:avLst/>
            </a:prstTxWarp>
          </a:bodyPr>
          <a:lstStyle/>
          <a:p>
            <a:pPr fontAlgn="base">
              <a:spcBef>
                <a:spcPct val="0"/>
              </a:spcBef>
              <a:spcAft>
                <a:spcPct val="0"/>
              </a:spcAft>
            </a:pPr>
            <a:endParaRPr lang="ja-JP" altLang="en-US">
              <a:latin typeface="Verdana" pitchFamily="34" charset="0"/>
              <a:ea typeface="HG丸ｺﾞｼｯｸM-PRO" pitchFamily="50" charset="-128"/>
            </a:endParaRPr>
          </a:p>
        </p:txBody>
      </p:sp>
    </p:spTree>
    <p:extLst>
      <p:ext uri="{BB962C8B-B14F-4D97-AF65-F5344CB8AC3E}">
        <p14:creationId xmlns:p14="http://schemas.microsoft.com/office/powerpoint/2010/main" val="27247867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en-US" altLang="ja-JP" dirty="0"/>
              <a:t>D-FF </a:t>
            </a:r>
            <a:r>
              <a:rPr kumimoji="1" lang="ja-JP" altLang="en-US" dirty="0"/>
              <a:t>の遅延</a:t>
            </a:r>
          </a:p>
        </p:txBody>
      </p:sp>
      <p:sp>
        <p:nvSpPr>
          <p:cNvPr id="4" name="テキスト プレースホルダー 3"/>
          <p:cNvSpPr>
            <a:spLocks noGrp="1"/>
          </p:cNvSpPr>
          <p:nvPr>
            <p:ph type="body" sz="quarter" idx="10"/>
          </p:nvPr>
        </p:nvSpPr>
        <p:spPr/>
        <p:txBody>
          <a:bodyPr/>
          <a:lstStyle/>
          <a:p>
            <a:r>
              <a:rPr kumimoji="1" lang="en-US" altLang="ja-JP" dirty="0"/>
              <a:t>D-FF </a:t>
            </a:r>
            <a:r>
              <a:rPr kumimoji="1" lang="ja-JP" altLang="en-US" dirty="0"/>
              <a:t>の遅延：これまでの４フェーズの動作の遅延</a:t>
            </a:r>
            <a:endParaRPr kumimoji="1" lang="en-US" altLang="ja-JP" dirty="0"/>
          </a:p>
          <a:p>
            <a:pPr lvl="1"/>
            <a:r>
              <a:rPr kumimoji="1" lang="ja-JP" altLang="en-US" dirty="0"/>
              <a:t>スイッチが切り替わるまでの遅延</a:t>
            </a:r>
            <a:endParaRPr kumimoji="1" lang="en-US" altLang="ja-JP" dirty="0"/>
          </a:p>
          <a:p>
            <a:pPr lvl="1"/>
            <a:r>
              <a:rPr kumimoji="1" lang="ja-JP" altLang="en-US" dirty="0"/>
              <a:t>スイッチが切り替わった後，</a:t>
            </a:r>
            <a:br>
              <a:rPr kumimoji="1" lang="en-US" altLang="ja-JP" dirty="0"/>
            </a:br>
            <a:r>
              <a:rPr kumimoji="1" lang="ja-JP" altLang="en-US" dirty="0"/>
              <a:t>インバータの入力に応じて出力が変化するまでの遅延</a:t>
            </a:r>
            <a:endParaRPr kumimoji="1" lang="en-US" altLang="ja-JP" dirty="0"/>
          </a:p>
          <a:p>
            <a:r>
              <a:rPr kumimoji="1" lang="ja-JP" altLang="en-US" dirty="0"/>
              <a:t>クロック周波数を上げすぎると，これらの限界にぶつかる</a:t>
            </a:r>
            <a:endParaRPr kumimoji="1" lang="en-US" altLang="ja-JP" dirty="0"/>
          </a:p>
          <a:p>
            <a:pPr lvl="1"/>
            <a:r>
              <a:rPr kumimoji="1" lang="ja-JP" altLang="en-US" dirty="0"/>
              <a:t>１ステージ内の組み合わせ回路の遅延：</a:t>
            </a:r>
            <a:br>
              <a:rPr kumimoji="1" lang="en-US" altLang="ja-JP" dirty="0"/>
            </a:br>
            <a:r>
              <a:rPr kumimoji="1" lang="ja-JP" altLang="en-US" dirty="0"/>
              <a:t>インバータ換算で通常１０から２０段分ぐらい</a:t>
            </a:r>
            <a:endParaRPr kumimoji="1" lang="en-US" altLang="ja-JP" dirty="0"/>
          </a:p>
          <a:p>
            <a:pPr lvl="1"/>
            <a:r>
              <a:rPr kumimoji="1" lang="ja-JP" altLang="en-US" dirty="0"/>
              <a:t>なので，</a:t>
            </a:r>
            <a:r>
              <a:rPr kumimoji="1" lang="en-US" altLang="ja-JP" dirty="0"/>
              <a:t>D-FF </a:t>
            </a:r>
            <a:r>
              <a:rPr kumimoji="1" lang="ja-JP" altLang="en-US" dirty="0"/>
              <a:t>自体の遅延は意外とバカにならない</a:t>
            </a:r>
          </a:p>
        </p:txBody>
      </p:sp>
      <p:sp>
        <p:nvSpPr>
          <p:cNvPr id="2" name="スライド番号プレースホルダー 1"/>
          <p:cNvSpPr>
            <a:spLocks noGrp="1"/>
          </p:cNvSpPr>
          <p:nvPr>
            <p:ph type="sldNum" sz="quarter" idx="4294967295"/>
          </p:nvPr>
        </p:nvSpPr>
        <p:spPr>
          <a:xfrm>
            <a:off x="11579225" y="6308725"/>
            <a:ext cx="612775" cy="549275"/>
          </a:xfrm>
        </p:spPr>
        <p:txBody>
          <a:bodyPr/>
          <a:lstStyle/>
          <a:p>
            <a:fld id="{D2D8002D-B5B0-4BAC-B1F6-782DDCCE6D9C}" type="slidenum">
              <a:rPr kumimoji="1" lang="ja-JP" altLang="en-US" smtClean="0"/>
              <a:pPr/>
              <a:t>65</a:t>
            </a:fld>
            <a:endParaRPr kumimoji="1" lang="ja-JP" altLang="en-US" dirty="0"/>
          </a:p>
        </p:txBody>
      </p:sp>
    </p:spTree>
    <p:extLst>
      <p:ext uri="{BB962C8B-B14F-4D97-AF65-F5344CB8AC3E}">
        <p14:creationId xmlns:p14="http://schemas.microsoft.com/office/powerpoint/2010/main" val="410959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理由２：消費電力と熱</a:t>
            </a:r>
            <a:endParaRPr kumimoji="1" lang="ja-JP" altLang="en-US" dirty="0"/>
          </a:p>
        </p:txBody>
      </p:sp>
      <p:sp>
        <p:nvSpPr>
          <p:cNvPr id="3" name="テキスト プレースホルダー 2"/>
          <p:cNvSpPr>
            <a:spLocks noGrp="1"/>
          </p:cNvSpPr>
          <p:nvPr>
            <p:ph type="body" sz="quarter" idx="10"/>
          </p:nvPr>
        </p:nvSpPr>
        <p:spPr/>
        <p:txBody>
          <a:bodyPr/>
          <a:lstStyle/>
          <a:p>
            <a:r>
              <a:rPr kumimoji="1" lang="ja-JP" altLang="en-US" dirty="0"/>
              <a:t>クロック周波数を上げる</a:t>
            </a:r>
            <a:endParaRPr kumimoji="1" lang="en-US" altLang="ja-JP" dirty="0"/>
          </a:p>
          <a:p>
            <a:pPr lvl="1"/>
            <a:r>
              <a:rPr kumimoji="1" lang="ja-JP" altLang="en-US" dirty="0"/>
              <a:t>→ 単位時間あたりの回路全体の充放電の回数が増える</a:t>
            </a:r>
            <a:endParaRPr kumimoji="1" lang="en-US" altLang="ja-JP" dirty="0"/>
          </a:p>
          <a:p>
            <a:pPr lvl="1"/>
            <a:r>
              <a:rPr kumimoji="1" lang="ja-JP" altLang="en-US" dirty="0"/>
              <a:t>→ 消費電力と，それによって発生する熱がそれだけ増える</a:t>
            </a:r>
            <a:endParaRPr kumimoji="1" lang="en-US" altLang="ja-JP" dirty="0"/>
          </a:p>
          <a:p>
            <a:pPr marL="457200" indent="-457200">
              <a:buFont typeface="+mj-lt"/>
              <a:buAutoNum type="arabicPeriod"/>
            </a:pPr>
            <a:r>
              <a:rPr kumimoji="1" lang="ja-JP" altLang="en-US" dirty="0"/>
              <a:t>電力供給の限界</a:t>
            </a:r>
            <a:endParaRPr lang="en-US" altLang="ja-JP" dirty="0"/>
          </a:p>
          <a:p>
            <a:pPr lvl="1"/>
            <a:r>
              <a:rPr kumimoji="1" lang="en-US" altLang="ja-JP" dirty="0"/>
              <a:t>CPU </a:t>
            </a:r>
            <a:r>
              <a:rPr kumimoji="1" lang="ja-JP" altLang="en-US" dirty="0"/>
              <a:t>のチップの端子から流し込める電流の限界</a:t>
            </a:r>
            <a:endParaRPr kumimoji="1" lang="en-US" altLang="ja-JP" dirty="0"/>
          </a:p>
          <a:p>
            <a:pPr lvl="1"/>
            <a:r>
              <a:rPr lang="ja-JP" altLang="en-US" i="1" dirty="0"/>
              <a:t>オームの法則：</a:t>
            </a:r>
            <a:r>
              <a:rPr lang="en-US" altLang="ja-JP" i="1" dirty="0"/>
              <a:t>V=IR</a:t>
            </a:r>
          </a:p>
          <a:p>
            <a:pPr lvl="2"/>
            <a:r>
              <a:rPr kumimoji="1" lang="ja-JP" altLang="en-US" i="1" dirty="0"/>
              <a:t>端子のピンの数で </a:t>
            </a:r>
            <a:r>
              <a:rPr kumimoji="1" lang="en-US" altLang="ja-JP" i="1" dirty="0"/>
              <a:t>R </a:t>
            </a:r>
            <a:r>
              <a:rPr kumimoji="1" lang="ja-JP" altLang="en-US" i="1" dirty="0"/>
              <a:t>が決まる</a:t>
            </a:r>
            <a:endParaRPr kumimoji="1" lang="en-US" altLang="ja-JP" i="1" dirty="0"/>
          </a:p>
          <a:p>
            <a:pPr marL="457200" indent="-457200">
              <a:buFont typeface="+mj-lt"/>
              <a:buAutoNum type="arabicPeriod"/>
            </a:pPr>
            <a:r>
              <a:rPr kumimoji="1" lang="ja-JP" altLang="en-US" dirty="0"/>
              <a:t>放熱の限界</a:t>
            </a:r>
            <a:endParaRPr kumimoji="1" lang="en-US" altLang="ja-JP" dirty="0"/>
          </a:p>
          <a:p>
            <a:pPr lvl="1"/>
            <a:r>
              <a:rPr kumimoji="1" lang="ja-JP" altLang="en-US" dirty="0"/>
              <a:t>温度の上昇に，放熱が追いつかない</a:t>
            </a:r>
            <a:endParaRPr kumimoji="1" lang="en-US" altLang="ja-JP" dirty="0"/>
          </a:p>
        </p:txBody>
      </p:sp>
    </p:spTree>
    <p:extLst>
      <p:ext uri="{BB962C8B-B14F-4D97-AF65-F5344CB8AC3E}">
        <p14:creationId xmlns:p14="http://schemas.microsoft.com/office/powerpoint/2010/main" val="3857867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シングル・サイクル・プロセッサの動作</a:t>
            </a:r>
            <a:endParaRPr kumimoji="1" lang="en-US" altLang="ja-JP" dirty="0"/>
          </a:p>
          <a:p>
            <a:pPr marL="457200" indent="-457200">
              <a:buFont typeface="+mj-lt"/>
              <a:buAutoNum type="arabicPeriod"/>
            </a:pPr>
            <a:r>
              <a:rPr kumimoji="1" lang="ja-JP" altLang="en-US" dirty="0"/>
              <a:t>上記のパイプライン化</a:t>
            </a:r>
            <a:endParaRPr kumimoji="1" lang="en-US" altLang="ja-JP" dirty="0"/>
          </a:p>
          <a:p>
            <a:pPr marL="457200" indent="-457200">
              <a:buFont typeface="+mj-lt"/>
              <a:buAutoNum type="arabicPeriod"/>
            </a:pPr>
            <a:r>
              <a:rPr kumimoji="1" lang="ja-JP" altLang="en-US" dirty="0"/>
              <a:t>パイプライン化の性能への影響</a:t>
            </a:r>
          </a:p>
        </p:txBody>
      </p:sp>
    </p:spTree>
    <p:extLst>
      <p:ext uri="{BB962C8B-B14F-4D97-AF65-F5344CB8AC3E}">
        <p14:creationId xmlns:p14="http://schemas.microsoft.com/office/powerpoint/2010/main" val="211698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 </a:t>
            </a:r>
            <a:r>
              <a:rPr kumimoji="1" lang="en-US" altLang="ja-JP" dirty="0"/>
              <a:t>5</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088975"/>
            <a:ext cx="8280092" cy="1800020"/>
          </a:xfrm>
        </p:spPr>
        <p:txBody>
          <a:bodyPr/>
          <a:lstStyle/>
          <a:p>
            <a:r>
              <a:rPr kumimoji="1" lang="ja-JP" altLang="en-US" dirty="0"/>
              <a:t>第４回の講義資料を参考に，</a:t>
            </a:r>
            <a:r>
              <a:rPr kumimoji="1" lang="en-US" altLang="ja-JP" dirty="0"/>
              <a:t>P</a:t>
            </a:r>
            <a:r>
              <a:rPr kumimoji="1" lang="ja-JP" altLang="en-US" dirty="0"/>
              <a:t>型</a:t>
            </a:r>
            <a:r>
              <a:rPr kumimoji="1" lang="en-US" altLang="ja-JP" dirty="0"/>
              <a:t>/N</a:t>
            </a:r>
            <a:r>
              <a:rPr kumimoji="1" lang="ja-JP" altLang="en-US" dirty="0"/>
              <a:t>型リレーを使って以下を構成せよ</a:t>
            </a:r>
            <a:endParaRPr kumimoji="1" lang="en-US" altLang="ja-JP" dirty="0"/>
          </a:p>
          <a:p>
            <a:pPr lvl="1"/>
            <a:r>
              <a:rPr kumimoji="1" lang="en-US" altLang="ja-JP" dirty="0"/>
              <a:t>2</a:t>
            </a:r>
            <a:r>
              <a:rPr kumimoji="1" lang="ja-JP" altLang="en-US" dirty="0"/>
              <a:t>入力 </a:t>
            </a:r>
            <a:r>
              <a:rPr kumimoji="1" lang="en-US" altLang="ja-JP" dirty="0"/>
              <a:t>OR </a:t>
            </a:r>
            <a:r>
              <a:rPr kumimoji="1" lang="ja-JP" altLang="en-US" dirty="0"/>
              <a:t>ゲート</a:t>
            </a:r>
            <a:endParaRPr kumimoji="1" lang="en-US" altLang="ja-JP" dirty="0"/>
          </a:p>
          <a:p>
            <a:pPr lvl="1"/>
            <a:r>
              <a:rPr kumimoji="1" lang="en-US" altLang="ja-JP" dirty="0"/>
              <a:t>3</a:t>
            </a:r>
            <a:r>
              <a:rPr kumimoji="1" lang="ja-JP" altLang="en-US" dirty="0"/>
              <a:t>入力 </a:t>
            </a:r>
            <a:r>
              <a:rPr kumimoji="1" lang="en-US" altLang="ja-JP" dirty="0"/>
              <a:t>NOR </a:t>
            </a:r>
            <a:r>
              <a:rPr kumimoji="1" lang="ja-JP" altLang="en-US" dirty="0"/>
              <a:t>ゲート</a:t>
            </a:r>
            <a:endParaRPr kumimoji="1" lang="en-US" dirty="0"/>
          </a:p>
        </p:txBody>
      </p:sp>
      <p:graphicFrame>
        <p:nvGraphicFramePr>
          <p:cNvPr id="5" name="Group 383">
            <a:extLst>
              <a:ext uri="{FF2B5EF4-FFF2-40B4-BE49-F238E27FC236}">
                <a16:creationId xmlns:a16="http://schemas.microsoft.com/office/drawing/2014/main" id="{C6EE2DA2-0FA7-FF62-3614-1F67927AD834}"/>
              </a:ext>
            </a:extLst>
          </p:cNvPr>
          <p:cNvGraphicFramePr>
            <a:graphicFrameLocks/>
          </p:cNvGraphicFramePr>
          <p:nvPr>
            <p:extLst>
              <p:ext uri="{D42A27DB-BD31-4B8C-83A1-F6EECF244321}">
                <p14:modId xmlns:p14="http://schemas.microsoft.com/office/powerpoint/2010/main" val="4184375280"/>
              </p:ext>
            </p:extLst>
          </p:nvPr>
        </p:nvGraphicFramePr>
        <p:xfrm>
          <a:off x="3215968" y="4149008"/>
          <a:ext cx="1439862" cy="212630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6" name="Group 383">
            <a:extLst>
              <a:ext uri="{FF2B5EF4-FFF2-40B4-BE49-F238E27FC236}">
                <a16:creationId xmlns:a16="http://schemas.microsoft.com/office/drawing/2014/main" id="{21747D23-985E-B08A-6B51-C5177AD71F02}"/>
              </a:ext>
            </a:extLst>
          </p:cNvPr>
          <p:cNvGraphicFramePr>
            <a:graphicFrameLocks/>
          </p:cNvGraphicFramePr>
          <p:nvPr>
            <p:extLst>
              <p:ext uri="{D42A27DB-BD31-4B8C-83A1-F6EECF244321}">
                <p14:modId xmlns:p14="http://schemas.microsoft.com/office/powerpoint/2010/main" val="625095869"/>
              </p:ext>
            </p:extLst>
          </p:nvPr>
        </p:nvGraphicFramePr>
        <p:xfrm>
          <a:off x="6816008" y="2438989"/>
          <a:ext cx="1800020" cy="3827340"/>
        </p:xfrm>
        <a:graphic>
          <a:graphicData uri="http://schemas.openxmlformats.org/drawingml/2006/table">
            <a:tbl>
              <a:tblPr/>
              <a:tblGrid>
                <a:gridCol w="449633">
                  <a:extLst>
                    <a:ext uri="{9D8B030D-6E8A-4147-A177-3AD203B41FA5}">
                      <a16:colId xmlns:a16="http://schemas.microsoft.com/office/drawing/2014/main" val="20000"/>
                    </a:ext>
                  </a:extLst>
                </a:gridCol>
                <a:gridCol w="449633">
                  <a:extLst>
                    <a:ext uri="{9D8B030D-6E8A-4147-A177-3AD203B41FA5}">
                      <a16:colId xmlns:a16="http://schemas.microsoft.com/office/drawing/2014/main" val="3764275717"/>
                    </a:ext>
                  </a:extLst>
                </a:gridCol>
                <a:gridCol w="451121">
                  <a:extLst>
                    <a:ext uri="{9D8B030D-6E8A-4147-A177-3AD203B41FA5}">
                      <a16:colId xmlns:a16="http://schemas.microsoft.com/office/drawing/2014/main" val="20001"/>
                    </a:ext>
                  </a:extLst>
                </a:gridCol>
                <a:gridCol w="449633">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b</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c</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1"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o</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5394704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6861046"/>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no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5953619"/>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2000" b="0" i="0" u="none" strike="noStrike" cap="none" normalizeH="0" baseline="0" dirty="0">
                          <a:ln>
                            <a:noFill/>
                          </a:ln>
                          <a:solidFill>
                            <a:schemeClr val="tx1">
                              <a:lumMod val="75000"/>
                              <a:lumOff val="25000"/>
                            </a:schemeClr>
                          </a:solidFill>
                          <a:effectLst/>
                          <a:latin typeface="Times New Roman" pitchFamily="18" charset="0"/>
                          <a:ea typeface="MeiryoKe_PGothic" pitchFamily="50" charset="-128"/>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3049196"/>
                  </a:ext>
                </a:extLst>
              </a:tr>
            </a:tbl>
          </a:graphicData>
        </a:graphic>
      </p:graphicFrame>
      <p:sp>
        <p:nvSpPr>
          <p:cNvPr id="7" name="Rectangle 93">
            <a:extLst>
              <a:ext uri="{FF2B5EF4-FFF2-40B4-BE49-F238E27FC236}">
                <a16:creationId xmlns:a16="http://schemas.microsoft.com/office/drawing/2014/main" id="{9D4AC7B8-F185-B842-708D-D6D181FC2F91}"/>
              </a:ext>
            </a:extLst>
          </p:cNvPr>
          <p:cNvSpPr>
            <a:spLocks noChangeArrowheads="1"/>
          </p:cNvSpPr>
          <p:nvPr/>
        </p:nvSpPr>
        <p:spPr bwMode="auto">
          <a:xfrm>
            <a:off x="3215968" y="3789004"/>
            <a:ext cx="1440016"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2</a:t>
            </a:r>
            <a:r>
              <a:rPr lang="ja-JP" altLang="en-US" dirty="0">
                <a:latin typeface="+mj-lt"/>
              </a:rPr>
              <a:t>入力 </a:t>
            </a:r>
            <a:r>
              <a:rPr lang="en-US" altLang="ja-JP" dirty="0">
                <a:latin typeface="+mj-lt"/>
              </a:rPr>
              <a:t>OR </a:t>
            </a:r>
            <a:r>
              <a:rPr lang="ja-JP" altLang="en-US" dirty="0">
                <a:latin typeface="+mj-lt"/>
              </a:rPr>
              <a:t>の真理値表</a:t>
            </a:r>
            <a:endParaRPr lang="en-US" altLang="ja-JP" dirty="0"/>
          </a:p>
        </p:txBody>
      </p:sp>
      <p:sp>
        <p:nvSpPr>
          <p:cNvPr id="8" name="Rectangle 93">
            <a:extLst>
              <a:ext uri="{FF2B5EF4-FFF2-40B4-BE49-F238E27FC236}">
                <a16:creationId xmlns:a16="http://schemas.microsoft.com/office/drawing/2014/main" id="{5CDE7D0B-84AB-7D41-1134-05AA7A12AA11}"/>
              </a:ext>
            </a:extLst>
          </p:cNvPr>
          <p:cNvSpPr>
            <a:spLocks noChangeArrowheads="1"/>
          </p:cNvSpPr>
          <p:nvPr/>
        </p:nvSpPr>
        <p:spPr bwMode="auto">
          <a:xfrm>
            <a:off x="6816008" y="2078985"/>
            <a:ext cx="1440016"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3</a:t>
            </a:r>
            <a:r>
              <a:rPr lang="ja-JP" altLang="en-US" dirty="0">
                <a:latin typeface="+mj-lt"/>
              </a:rPr>
              <a:t>入力 </a:t>
            </a:r>
            <a:r>
              <a:rPr lang="en-US" altLang="ja-JP" dirty="0">
                <a:latin typeface="+mj-lt"/>
              </a:rPr>
              <a:t>NOR </a:t>
            </a:r>
            <a:r>
              <a:rPr lang="ja-JP" altLang="en-US" dirty="0">
                <a:latin typeface="+mj-lt"/>
              </a:rPr>
              <a:t>の真理値表</a:t>
            </a:r>
            <a:endParaRPr lang="en-US" altLang="ja-JP" dirty="0"/>
          </a:p>
        </p:txBody>
      </p:sp>
    </p:spTree>
    <p:extLst>
      <p:ext uri="{BB962C8B-B14F-4D97-AF65-F5344CB8AC3E}">
        <p14:creationId xmlns:p14="http://schemas.microsoft.com/office/powerpoint/2010/main" val="12543233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2A9610-628A-D1E2-C8E6-7935414255CC}"/>
              </a:ext>
            </a:extLst>
          </p:cNvPr>
          <p:cNvSpPr>
            <a:spLocks noGrp="1"/>
          </p:cNvSpPr>
          <p:nvPr>
            <p:ph type="title"/>
          </p:nvPr>
        </p:nvSpPr>
        <p:spPr>
          <a:xfrm>
            <a:off x="515938" y="98963"/>
            <a:ext cx="10776052" cy="908972"/>
          </a:xfrm>
        </p:spPr>
        <p:txBody>
          <a:bodyPr/>
          <a:lstStyle/>
          <a:p>
            <a:r>
              <a:rPr lang="ja-JP" altLang="en-US" sz="2400" dirty="0"/>
              <a:t>ヒント：</a:t>
            </a:r>
            <a:br>
              <a:rPr lang="en-US" altLang="ja-JP" sz="2400" dirty="0"/>
            </a:br>
            <a:r>
              <a:rPr lang="ja-JP" altLang="en-US" sz="2400" dirty="0"/>
              <a:t>以下の</a:t>
            </a:r>
            <a:r>
              <a:rPr lang="en-US" sz="2400" dirty="0"/>
              <a:t>NAND </a:t>
            </a:r>
            <a:r>
              <a:rPr lang="ja-JP" altLang="en-US" sz="2400" dirty="0"/>
              <a:t>ゲートの動作を参考にすると良い</a:t>
            </a:r>
            <a:endParaRPr lang="en-US" sz="2400" dirty="0"/>
          </a:p>
        </p:txBody>
      </p:sp>
      <p:sp>
        <p:nvSpPr>
          <p:cNvPr id="275" name="コンテンツ プレースホルダー 274">
            <a:extLst>
              <a:ext uri="{FF2B5EF4-FFF2-40B4-BE49-F238E27FC236}">
                <a16:creationId xmlns:a16="http://schemas.microsoft.com/office/drawing/2014/main" id="{76B0A87F-18D9-248D-84ED-4623A99129B9}"/>
              </a:ext>
            </a:extLst>
          </p:cNvPr>
          <p:cNvSpPr>
            <a:spLocks noGrp="1"/>
          </p:cNvSpPr>
          <p:nvPr>
            <p:ph sz="quarter" idx="11"/>
          </p:nvPr>
        </p:nvSpPr>
        <p:spPr>
          <a:xfrm>
            <a:off x="1685951" y="3969011"/>
            <a:ext cx="8280092" cy="630007"/>
          </a:xfrm>
        </p:spPr>
        <p:txBody>
          <a:bodyPr anchor="t"/>
          <a:lstStyle/>
          <a:p>
            <a:r>
              <a:rPr kumimoji="1" lang="ja-JP" altLang="en-US" dirty="0"/>
              <a:t>上側の </a:t>
            </a:r>
            <a:r>
              <a:rPr kumimoji="1" lang="en-US" altLang="ja-JP" dirty="0"/>
              <a:t>P</a:t>
            </a:r>
            <a:r>
              <a:rPr lang="en-US" altLang="ja-JP" dirty="0"/>
              <a:t> </a:t>
            </a:r>
            <a:r>
              <a:rPr lang="ja-JP" altLang="en-US" dirty="0"/>
              <a:t>型２つは並列接続</a:t>
            </a:r>
            <a:endParaRPr lang="en-US" altLang="ja-JP" dirty="0"/>
          </a:p>
          <a:p>
            <a:pPr lvl="1"/>
            <a:r>
              <a:rPr lang="en-US" altLang="ja-JP" dirty="0"/>
              <a:t>a </a:t>
            </a:r>
            <a:r>
              <a:rPr lang="ja-JP" altLang="en-US" dirty="0"/>
              <a:t>と </a:t>
            </a:r>
            <a:r>
              <a:rPr lang="en-US" altLang="ja-JP" dirty="0"/>
              <a:t>b</a:t>
            </a:r>
            <a:r>
              <a:rPr lang="ja-JP" altLang="en-US" dirty="0"/>
              <a:t>どちらか片方の入力に</a:t>
            </a:r>
            <a:br>
              <a:rPr lang="en-US" altLang="ja-JP" dirty="0"/>
            </a:br>
            <a:r>
              <a:rPr lang="en-US" altLang="ja-JP" dirty="0"/>
              <a:t>0 </a:t>
            </a:r>
            <a:r>
              <a:rPr lang="ja-JP" altLang="en-US" dirty="0"/>
              <a:t>が入ると </a:t>
            </a:r>
            <a:r>
              <a:rPr lang="en-US" altLang="ja-JP" dirty="0"/>
              <a:t>VDD </a:t>
            </a:r>
            <a:r>
              <a:rPr lang="ja-JP" altLang="en-US" dirty="0"/>
              <a:t>を </a:t>
            </a:r>
            <a:r>
              <a:rPr lang="en-US" altLang="ja-JP" dirty="0"/>
              <a:t>c </a:t>
            </a:r>
            <a:r>
              <a:rPr lang="ja-JP" altLang="en-US" dirty="0"/>
              <a:t>に接続</a:t>
            </a:r>
            <a:endParaRPr lang="en-US" altLang="ja-JP" dirty="0"/>
          </a:p>
          <a:p>
            <a:r>
              <a:rPr kumimoji="1" lang="ja-JP" altLang="en-US" dirty="0"/>
              <a:t>下側の </a:t>
            </a:r>
            <a:r>
              <a:rPr kumimoji="1" lang="en-US" altLang="ja-JP" dirty="0"/>
              <a:t>N </a:t>
            </a:r>
            <a:r>
              <a:rPr kumimoji="1" lang="ja-JP" altLang="en-US" dirty="0"/>
              <a:t>型２つは直列接続</a:t>
            </a:r>
            <a:endParaRPr kumimoji="1" lang="en-US" altLang="ja-JP" dirty="0"/>
          </a:p>
          <a:p>
            <a:pPr lvl="1"/>
            <a:r>
              <a:rPr kumimoji="1" lang="en-US" altLang="ja-JP" dirty="0"/>
              <a:t>a </a:t>
            </a:r>
            <a:r>
              <a:rPr kumimoji="1" lang="ja-JP" altLang="en-US" dirty="0"/>
              <a:t>と </a:t>
            </a:r>
            <a:r>
              <a:rPr kumimoji="1" lang="en-US" altLang="ja-JP" dirty="0"/>
              <a:t>b </a:t>
            </a:r>
            <a:r>
              <a:rPr kumimoji="1" lang="ja-JP" altLang="en-US" dirty="0"/>
              <a:t>双方の入力に１が入ると</a:t>
            </a:r>
            <a:br>
              <a:rPr kumimoji="1" lang="en-US" altLang="ja-JP" dirty="0"/>
            </a:br>
            <a:r>
              <a:rPr kumimoji="1" lang="en-US" altLang="ja-JP" dirty="0"/>
              <a:t>2</a:t>
            </a:r>
            <a:r>
              <a:rPr kumimoji="1" lang="ja-JP" altLang="en-US" dirty="0"/>
              <a:t>つとも </a:t>
            </a:r>
            <a:r>
              <a:rPr kumimoji="1" lang="en-US" altLang="ja-JP" dirty="0"/>
              <a:t>ON </a:t>
            </a:r>
            <a:r>
              <a:rPr kumimoji="1" lang="ja-JP" altLang="en-US" dirty="0"/>
              <a:t>になって </a:t>
            </a:r>
            <a:r>
              <a:rPr kumimoji="1" lang="en-US" altLang="ja-JP" dirty="0"/>
              <a:t>GND </a:t>
            </a:r>
            <a:r>
              <a:rPr kumimoji="1" lang="ja-JP" altLang="en-US" dirty="0"/>
              <a:t>を </a:t>
            </a:r>
            <a:r>
              <a:rPr kumimoji="1" lang="en-US" altLang="ja-JP" dirty="0"/>
              <a:t>c </a:t>
            </a:r>
            <a:r>
              <a:rPr kumimoji="1" lang="ja-JP" altLang="en-US" dirty="0"/>
              <a:t>に接続</a:t>
            </a:r>
            <a:endParaRPr kumimoji="1" lang="en-US" altLang="ja-JP" dirty="0"/>
          </a:p>
        </p:txBody>
      </p:sp>
      <p:grpSp>
        <p:nvGrpSpPr>
          <p:cNvPr id="3" name="グループ化 2">
            <a:extLst>
              <a:ext uri="{FF2B5EF4-FFF2-40B4-BE49-F238E27FC236}">
                <a16:creationId xmlns:a16="http://schemas.microsoft.com/office/drawing/2014/main" id="{7562FA3F-4ECA-17A8-8E31-60A8DE7947AF}"/>
              </a:ext>
            </a:extLst>
          </p:cNvPr>
          <p:cNvGrpSpPr/>
          <p:nvPr/>
        </p:nvGrpSpPr>
        <p:grpSpPr>
          <a:xfrm>
            <a:off x="8076017" y="2798993"/>
            <a:ext cx="1531092" cy="1440374"/>
            <a:chOff x="5202007" y="3068996"/>
            <a:chExt cx="1531092" cy="1440374"/>
          </a:xfrm>
        </p:grpSpPr>
        <p:sp>
          <p:nvSpPr>
            <p:cNvPr id="4" name="正方形/長方形 3">
              <a:extLst>
                <a:ext uri="{FF2B5EF4-FFF2-40B4-BE49-F238E27FC236}">
                  <a16:creationId xmlns:a16="http://schemas.microsoft.com/office/drawing/2014/main" id="{5FD184A4-F1FE-A602-4B79-7BAB967EE851}"/>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2" name="円/楕円 69">
              <a:extLst>
                <a:ext uri="{FF2B5EF4-FFF2-40B4-BE49-F238E27FC236}">
                  <a16:creationId xmlns:a16="http://schemas.microsoft.com/office/drawing/2014/main" id="{B4FEF43B-98BF-89EB-5422-D7755B4FC1F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5" name="直線コネクタ 24">
              <a:extLst>
                <a:ext uri="{FF2B5EF4-FFF2-40B4-BE49-F238E27FC236}">
                  <a16:creationId xmlns:a16="http://schemas.microsoft.com/office/drawing/2014/main" id="{1A374BEF-B776-6082-D66D-DE118065FB78}"/>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A1C942F-4A3C-9236-A240-A1D8C15D7D80}"/>
                </a:ext>
              </a:extLst>
            </p:cNvPr>
            <p:cNvCxnSpPr>
              <a:cxnSpLocks/>
              <a:endCxn id="28" idx="4"/>
            </p:cNvCxnSpPr>
            <p:nvPr/>
          </p:nvCxnSpPr>
          <p:spPr>
            <a:xfrm>
              <a:off x="5832014" y="3609002"/>
              <a:ext cx="133734"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8" name="円/楕円 68">
              <a:extLst>
                <a:ext uri="{FF2B5EF4-FFF2-40B4-BE49-F238E27FC236}">
                  <a16:creationId xmlns:a16="http://schemas.microsoft.com/office/drawing/2014/main" id="{D5DC85B3-4070-9F25-1AE8-22553F223780}"/>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9" name="直線コネクタ 28">
              <a:extLst>
                <a:ext uri="{FF2B5EF4-FFF2-40B4-BE49-F238E27FC236}">
                  <a16:creationId xmlns:a16="http://schemas.microsoft.com/office/drawing/2014/main" id="{B68ADCDC-8C16-1E21-FB91-A35115ECBD7C}"/>
                </a:ext>
              </a:extLst>
            </p:cNvPr>
            <p:cNvCxnSpPr>
              <a:cxnSpLocks/>
              <a:endCxn id="22"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36" name="直線コネクタ 135">
              <a:extLst>
                <a:ext uri="{FF2B5EF4-FFF2-40B4-BE49-F238E27FC236}">
                  <a16:creationId xmlns:a16="http://schemas.microsoft.com/office/drawing/2014/main" id="{3D28686F-93F2-6EED-98F7-1D93AB9B89CC}"/>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42" name="Rectangle 93">
              <a:extLst>
                <a:ext uri="{FF2B5EF4-FFF2-40B4-BE49-F238E27FC236}">
                  <a16:creationId xmlns:a16="http://schemas.microsoft.com/office/drawing/2014/main" id="{54122819-A7B8-F29E-AC4E-594574190A57}"/>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44" name="Rectangle 93">
              <a:extLst>
                <a:ext uri="{FF2B5EF4-FFF2-40B4-BE49-F238E27FC236}">
                  <a16:creationId xmlns:a16="http://schemas.microsoft.com/office/drawing/2014/main" id="{218D8A4F-F2AF-FE12-D0D5-BBA60D57DB4A}"/>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45" name="Rectangle 93">
              <a:extLst>
                <a:ext uri="{FF2B5EF4-FFF2-40B4-BE49-F238E27FC236}">
                  <a16:creationId xmlns:a16="http://schemas.microsoft.com/office/drawing/2014/main" id="{12A9C026-3AC1-97F3-0951-F34D0D38235A}"/>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48" name="直線コネクタ 147">
              <a:extLst>
                <a:ext uri="{FF2B5EF4-FFF2-40B4-BE49-F238E27FC236}">
                  <a16:creationId xmlns:a16="http://schemas.microsoft.com/office/drawing/2014/main" id="{FFE8545A-5BCE-1FE2-4765-60F1BFE22F43}"/>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49" name="直線コネクタ 148">
              <a:extLst>
                <a:ext uri="{FF2B5EF4-FFF2-40B4-BE49-F238E27FC236}">
                  <a16:creationId xmlns:a16="http://schemas.microsoft.com/office/drawing/2014/main" id="{1E62C331-62A0-2A7F-2998-382E0EAAC3A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grpSp>
        <p:nvGrpSpPr>
          <p:cNvPr id="181" name="グループ化 180">
            <a:extLst>
              <a:ext uri="{FF2B5EF4-FFF2-40B4-BE49-F238E27FC236}">
                <a16:creationId xmlns:a16="http://schemas.microsoft.com/office/drawing/2014/main" id="{78130EE8-B535-1C98-4F69-608823EC70F4}"/>
              </a:ext>
            </a:extLst>
          </p:cNvPr>
          <p:cNvGrpSpPr/>
          <p:nvPr/>
        </p:nvGrpSpPr>
        <p:grpSpPr>
          <a:xfrm>
            <a:off x="8076017" y="4239009"/>
            <a:ext cx="1531092" cy="1440374"/>
            <a:chOff x="5202007" y="3068996"/>
            <a:chExt cx="1531092" cy="1440374"/>
          </a:xfrm>
        </p:grpSpPr>
        <p:sp>
          <p:nvSpPr>
            <p:cNvPr id="182" name="正方形/長方形 181">
              <a:extLst>
                <a:ext uri="{FF2B5EF4-FFF2-40B4-BE49-F238E27FC236}">
                  <a16:creationId xmlns:a16="http://schemas.microsoft.com/office/drawing/2014/main" id="{5D36497F-4C51-62D4-17AA-F8CDEBD39BE3}"/>
                </a:ext>
              </a:extLst>
            </p:cNvPr>
            <p:cNvSpPr/>
            <p:nvPr/>
          </p:nvSpPr>
          <p:spPr bwMode="auto">
            <a:xfrm>
              <a:off x="5652012" y="3338999"/>
              <a:ext cx="720008" cy="900010"/>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183" name="円/楕円 69">
              <a:extLst>
                <a:ext uri="{FF2B5EF4-FFF2-40B4-BE49-F238E27FC236}">
                  <a16:creationId xmlns:a16="http://schemas.microsoft.com/office/drawing/2014/main" id="{E946A75E-DF12-DA2A-78E1-65F38AD0A937}"/>
                </a:ext>
              </a:extLst>
            </p:cNvPr>
            <p:cNvSpPr/>
            <p:nvPr/>
          </p:nvSpPr>
          <p:spPr>
            <a:xfrm rot="5400000">
              <a:off x="5968271" y="3609002"/>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4" name="直線コネクタ 183">
              <a:extLst>
                <a:ext uri="{FF2B5EF4-FFF2-40B4-BE49-F238E27FC236}">
                  <a16:creationId xmlns:a16="http://schemas.microsoft.com/office/drawing/2014/main" id="{F9A09F99-4D67-BE84-34D2-E9765F1FF45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5" name="直線コネクタ 184">
              <a:extLst>
                <a:ext uri="{FF2B5EF4-FFF2-40B4-BE49-F238E27FC236}">
                  <a16:creationId xmlns:a16="http://schemas.microsoft.com/office/drawing/2014/main" id="{5C6F4416-0241-4869-42A0-99054C02A6FE}"/>
                </a:ext>
              </a:extLst>
            </p:cNvPr>
            <p:cNvCxnSpPr>
              <a:cxnSpLocks/>
              <a:endCxn id="186" idx="4"/>
            </p:cNvCxnSpPr>
            <p:nvPr/>
          </p:nvCxnSpPr>
          <p:spPr>
            <a:xfrm>
              <a:off x="5965748" y="3609002"/>
              <a:ext cx="0" cy="315009"/>
            </a:xfrm>
            <a:prstGeom prst="line">
              <a:avLst/>
            </a:prstGeom>
            <a:ln w="34925" cap="rnd">
              <a:solidFill>
                <a:schemeClr val="accent5"/>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6" name="円/楕円 68">
              <a:extLst>
                <a:ext uri="{FF2B5EF4-FFF2-40B4-BE49-F238E27FC236}">
                  <a16:creationId xmlns:a16="http://schemas.microsoft.com/office/drawing/2014/main" id="{C4E74ED1-969E-56A5-2DA1-6CBF1A860452}"/>
                </a:ext>
              </a:extLst>
            </p:cNvPr>
            <p:cNvSpPr/>
            <p:nvPr/>
          </p:nvSpPr>
          <p:spPr>
            <a:xfrm rot="5400000">
              <a:off x="5965737" y="3879016"/>
              <a:ext cx="90012" cy="89990"/>
            </a:xfrm>
            <a:prstGeom prst="ellipse">
              <a:avLst/>
            </a:prstGeom>
            <a:solidFill>
              <a:schemeClr val="bg1"/>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187" name="直線コネクタ 186">
              <a:extLst>
                <a:ext uri="{FF2B5EF4-FFF2-40B4-BE49-F238E27FC236}">
                  <a16:creationId xmlns:a16="http://schemas.microsoft.com/office/drawing/2014/main" id="{7AB187B5-B2F0-3129-225D-03029396FE71}"/>
                </a:ext>
              </a:extLst>
            </p:cNvPr>
            <p:cNvCxnSpPr>
              <a:cxnSpLocks/>
              <a:endCxn id="183"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88" name="直線コネクタ 187">
              <a:extLst>
                <a:ext uri="{FF2B5EF4-FFF2-40B4-BE49-F238E27FC236}">
                  <a16:creationId xmlns:a16="http://schemas.microsoft.com/office/drawing/2014/main" id="{36F01245-84C7-0659-3791-9D851EDB9230}"/>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189" name="Rectangle 93">
              <a:extLst>
                <a:ext uri="{FF2B5EF4-FFF2-40B4-BE49-F238E27FC236}">
                  <a16:creationId xmlns:a16="http://schemas.microsoft.com/office/drawing/2014/main" id="{3BFAE4A7-8A5C-11A8-C51A-9C2E35F8A940}"/>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190" name="Rectangle 93">
              <a:extLst>
                <a:ext uri="{FF2B5EF4-FFF2-40B4-BE49-F238E27FC236}">
                  <a16:creationId xmlns:a16="http://schemas.microsoft.com/office/drawing/2014/main" id="{346AB20E-6F24-C876-4D81-DCA51A179F01}"/>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sp>
          <p:nvSpPr>
            <p:cNvPr id="191" name="Rectangle 93">
              <a:extLst>
                <a:ext uri="{FF2B5EF4-FFF2-40B4-BE49-F238E27FC236}">
                  <a16:creationId xmlns:a16="http://schemas.microsoft.com/office/drawing/2014/main" id="{BDE45902-F320-7645-5C24-BFAA45A3322E}"/>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cxnSp>
          <p:nvCxnSpPr>
            <p:cNvPr id="192" name="直線コネクタ 191">
              <a:extLst>
                <a:ext uri="{FF2B5EF4-FFF2-40B4-BE49-F238E27FC236}">
                  <a16:creationId xmlns:a16="http://schemas.microsoft.com/office/drawing/2014/main" id="{8762D339-07BA-4F05-BED0-EE9C25E6D02B}"/>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3" name="直線コネクタ 192">
              <a:extLst>
                <a:ext uri="{FF2B5EF4-FFF2-40B4-BE49-F238E27FC236}">
                  <a16:creationId xmlns:a16="http://schemas.microsoft.com/office/drawing/2014/main" id="{CA7D9A00-BC48-0B61-BEEE-5467746B88BB}"/>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cxnSp>
        <p:nvCxnSpPr>
          <p:cNvPr id="194" name="直線コネクタ 193">
            <a:extLst>
              <a:ext uri="{FF2B5EF4-FFF2-40B4-BE49-F238E27FC236}">
                <a16:creationId xmlns:a16="http://schemas.microsoft.com/office/drawing/2014/main" id="{DB580ECA-4E0D-14E4-1EA3-21AB3CF0B43A}"/>
              </a:ext>
            </a:extLst>
          </p:cNvPr>
          <p:cNvCxnSpPr>
            <a:cxnSpLocks/>
          </p:cNvCxnSpPr>
          <p:nvPr/>
        </p:nvCxnSpPr>
        <p:spPr>
          <a:xfrm flipH="1">
            <a:off x="8166018" y="2438989"/>
            <a:ext cx="3600040"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195" name="直線コネクタ 194">
            <a:extLst>
              <a:ext uri="{FF2B5EF4-FFF2-40B4-BE49-F238E27FC236}">
                <a16:creationId xmlns:a16="http://schemas.microsoft.com/office/drawing/2014/main" id="{ABB4A216-E134-1BD3-8862-06AE5F457314}"/>
              </a:ext>
            </a:extLst>
          </p:cNvPr>
          <p:cNvCxnSpPr>
            <a:cxnSpLocks/>
          </p:cNvCxnSpPr>
          <p:nvPr/>
        </p:nvCxnSpPr>
        <p:spPr>
          <a:xfrm>
            <a:off x="9606034" y="2438989"/>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cxnSp>
        <p:nvCxnSpPr>
          <p:cNvPr id="203" name="直線コネクタ 202">
            <a:extLst>
              <a:ext uri="{FF2B5EF4-FFF2-40B4-BE49-F238E27FC236}">
                <a16:creationId xmlns:a16="http://schemas.microsoft.com/office/drawing/2014/main" id="{24DFC145-FF1A-5DAD-2768-A7562FD99C2A}"/>
              </a:ext>
            </a:extLst>
          </p:cNvPr>
          <p:cNvCxnSpPr>
            <a:cxnSpLocks/>
          </p:cNvCxnSpPr>
          <p:nvPr/>
        </p:nvCxnSpPr>
        <p:spPr>
          <a:xfrm flipV="1">
            <a:off x="8166018" y="1718981"/>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5" name="直線コネクタ 204">
            <a:extLst>
              <a:ext uri="{FF2B5EF4-FFF2-40B4-BE49-F238E27FC236}">
                <a16:creationId xmlns:a16="http://schemas.microsoft.com/office/drawing/2014/main" id="{1CD261B1-1231-B8D1-95D3-708F5A5E77BD}"/>
              </a:ext>
            </a:extLst>
          </p:cNvPr>
          <p:cNvCxnSpPr>
            <a:cxnSpLocks/>
          </p:cNvCxnSpPr>
          <p:nvPr/>
        </p:nvCxnSpPr>
        <p:spPr>
          <a:xfrm flipV="1">
            <a:off x="9606034" y="3879005"/>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6" name="直線コネクタ 205">
            <a:extLst>
              <a:ext uri="{FF2B5EF4-FFF2-40B4-BE49-F238E27FC236}">
                <a16:creationId xmlns:a16="http://schemas.microsoft.com/office/drawing/2014/main" id="{C251C3D6-31B6-C700-8D31-DD5ECEE82AA6}"/>
              </a:ext>
            </a:extLst>
          </p:cNvPr>
          <p:cNvCxnSpPr>
            <a:cxnSpLocks/>
          </p:cNvCxnSpPr>
          <p:nvPr/>
        </p:nvCxnSpPr>
        <p:spPr>
          <a:xfrm flipV="1">
            <a:off x="9606034" y="5319021"/>
            <a:ext cx="0" cy="720008"/>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08" name="直線コネクタ 207">
            <a:extLst>
              <a:ext uri="{FF2B5EF4-FFF2-40B4-BE49-F238E27FC236}">
                <a16:creationId xmlns:a16="http://schemas.microsoft.com/office/drawing/2014/main" id="{14E13B00-B2E4-2896-A4E1-0273179C6C0C}"/>
              </a:ext>
            </a:extLst>
          </p:cNvPr>
          <p:cNvCxnSpPr>
            <a:cxnSpLocks/>
          </p:cNvCxnSpPr>
          <p:nvPr/>
        </p:nvCxnSpPr>
        <p:spPr>
          <a:xfrm flipV="1">
            <a:off x="11046050" y="1718981"/>
            <a:ext cx="0" cy="720008"/>
          </a:xfrm>
          <a:prstGeom prst="line">
            <a:avLst/>
          </a:prstGeom>
          <a:ln w="6350" cap="rnd">
            <a:solidFill>
              <a:srgbClr val="000000"/>
            </a:solidFill>
            <a:headEnd type="oval" w="sm" len="sm"/>
            <a:tailEnd type="none"/>
          </a:ln>
        </p:spPr>
        <p:style>
          <a:lnRef idx="1">
            <a:schemeClr val="accent1"/>
          </a:lnRef>
          <a:fillRef idx="0">
            <a:schemeClr val="accent1"/>
          </a:fillRef>
          <a:effectRef idx="0">
            <a:schemeClr val="accent1"/>
          </a:effectRef>
          <a:fontRef idx="minor">
            <a:schemeClr val="tx1"/>
          </a:fontRef>
        </p:style>
      </p:cxnSp>
      <p:sp>
        <p:nvSpPr>
          <p:cNvPr id="211" name="Rectangle 93">
            <a:extLst>
              <a:ext uri="{FF2B5EF4-FFF2-40B4-BE49-F238E27FC236}">
                <a16:creationId xmlns:a16="http://schemas.microsoft.com/office/drawing/2014/main" id="{EE7E8219-0000-F127-EDB2-83B0262FAD54}"/>
              </a:ext>
            </a:extLst>
          </p:cNvPr>
          <p:cNvSpPr>
            <a:spLocks noChangeArrowheads="1"/>
          </p:cNvSpPr>
          <p:nvPr/>
        </p:nvSpPr>
        <p:spPr bwMode="auto">
          <a:xfrm>
            <a:off x="6276002" y="117897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2" name="Rectangle 93">
            <a:extLst>
              <a:ext uri="{FF2B5EF4-FFF2-40B4-BE49-F238E27FC236}">
                <a16:creationId xmlns:a16="http://schemas.microsoft.com/office/drawing/2014/main" id="{F5B5152F-B86B-B54F-AB90-4CB1B2A34E45}"/>
              </a:ext>
            </a:extLst>
          </p:cNvPr>
          <p:cNvSpPr>
            <a:spLocks noChangeArrowheads="1"/>
          </p:cNvSpPr>
          <p:nvPr/>
        </p:nvSpPr>
        <p:spPr bwMode="auto">
          <a:xfrm>
            <a:off x="9246035" y="1178975"/>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3" name="Rectangle 93">
            <a:extLst>
              <a:ext uri="{FF2B5EF4-FFF2-40B4-BE49-F238E27FC236}">
                <a16:creationId xmlns:a16="http://schemas.microsoft.com/office/drawing/2014/main" id="{CB840A81-CE05-F538-40D3-266F70063442}"/>
              </a:ext>
            </a:extLst>
          </p:cNvPr>
          <p:cNvSpPr>
            <a:spLocks noChangeArrowheads="1"/>
          </p:cNvSpPr>
          <p:nvPr/>
        </p:nvSpPr>
        <p:spPr bwMode="auto">
          <a:xfrm>
            <a:off x="7806019" y="3338999"/>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a</a:t>
            </a:r>
          </a:p>
        </p:txBody>
      </p:sp>
      <p:sp>
        <p:nvSpPr>
          <p:cNvPr id="214" name="Rectangle 93">
            <a:extLst>
              <a:ext uri="{FF2B5EF4-FFF2-40B4-BE49-F238E27FC236}">
                <a16:creationId xmlns:a16="http://schemas.microsoft.com/office/drawing/2014/main" id="{065267D5-0A2F-DDD9-D46B-E58ACA78171F}"/>
              </a:ext>
            </a:extLst>
          </p:cNvPr>
          <p:cNvSpPr>
            <a:spLocks noChangeArrowheads="1"/>
          </p:cNvSpPr>
          <p:nvPr/>
        </p:nvSpPr>
        <p:spPr bwMode="auto">
          <a:xfrm>
            <a:off x="7806019" y="486901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b</a:t>
            </a:r>
          </a:p>
        </p:txBody>
      </p:sp>
      <p:sp>
        <p:nvSpPr>
          <p:cNvPr id="215" name="Rectangle 93">
            <a:extLst>
              <a:ext uri="{FF2B5EF4-FFF2-40B4-BE49-F238E27FC236}">
                <a16:creationId xmlns:a16="http://schemas.microsoft.com/office/drawing/2014/main" id="{1B341E87-61B2-97DE-9C1C-40C38CE9E011}"/>
              </a:ext>
            </a:extLst>
          </p:cNvPr>
          <p:cNvSpPr>
            <a:spLocks noChangeArrowheads="1"/>
          </p:cNvSpPr>
          <p:nvPr/>
        </p:nvSpPr>
        <p:spPr bwMode="auto">
          <a:xfrm>
            <a:off x="11766063" y="2258987"/>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solidFill>
                  <a:schemeClr val="accent5"/>
                </a:solidFill>
                <a:latin typeface="+mn-ea"/>
              </a:rPr>
              <a:t>c</a:t>
            </a:r>
          </a:p>
        </p:txBody>
      </p:sp>
      <p:grpSp>
        <p:nvGrpSpPr>
          <p:cNvPr id="217" name="グループ化 216">
            <a:extLst>
              <a:ext uri="{FF2B5EF4-FFF2-40B4-BE49-F238E27FC236}">
                <a16:creationId xmlns:a16="http://schemas.microsoft.com/office/drawing/2014/main" id="{97C2E1E2-CC98-9F4C-7209-20176F57BA08}"/>
              </a:ext>
            </a:extLst>
          </p:cNvPr>
          <p:cNvGrpSpPr/>
          <p:nvPr/>
        </p:nvGrpSpPr>
        <p:grpSpPr>
          <a:xfrm>
            <a:off x="9246035" y="5589024"/>
            <a:ext cx="450005" cy="900368"/>
            <a:chOff x="7272030" y="5768668"/>
            <a:chExt cx="450005" cy="900368"/>
          </a:xfrm>
        </p:grpSpPr>
        <p:grpSp>
          <p:nvGrpSpPr>
            <p:cNvPr id="218" name="グループ化 152">
              <a:extLst>
                <a:ext uri="{FF2B5EF4-FFF2-40B4-BE49-F238E27FC236}">
                  <a16:creationId xmlns:a16="http://schemas.microsoft.com/office/drawing/2014/main" id="{473CB979-8823-E1AA-0462-54D1BE4F30D3}"/>
                </a:ext>
              </a:extLst>
            </p:cNvPr>
            <p:cNvGrpSpPr/>
            <p:nvPr/>
          </p:nvGrpSpPr>
          <p:grpSpPr>
            <a:xfrm>
              <a:off x="7542033" y="6218673"/>
              <a:ext cx="180002" cy="90001"/>
              <a:chOff x="3643306" y="4500570"/>
              <a:chExt cx="428628" cy="144464"/>
            </a:xfrm>
          </p:grpSpPr>
          <p:cxnSp>
            <p:nvCxnSpPr>
              <p:cNvPr id="221" name="直線コネクタ 220">
                <a:extLst>
                  <a:ext uri="{FF2B5EF4-FFF2-40B4-BE49-F238E27FC236}">
                    <a16:creationId xmlns:a16="http://schemas.microsoft.com/office/drawing/2014/main" id="{6417A278-E1D8-0B3B-430E-5E6E4A32BED9}"/>
                  </a:ext>
                </a:extLst>
              </p:cNvPr>
              <p:cNvCxnSpPr/>
              <p:nvPr/>
            </p:nvCxnSpPr>
            <p:spPr>
              <a:xfrm>
                <a:off x="3643306" y="4500570"/>
                <a:ext cx="42862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2" name="直線コネクタ 221">
                <a:extLst>
                  <a:ext uri="{FF2B5EF4-FFF2-40B4-BE49-F238E27FC236}">
                    <a16:creationId xmlns:a16="http://schemas.microsoft.com/office/drawing/2014/main" id="{C4F2EB27-629F-C2C6-9373-FF714A609F15}"/>
                  </a:ext>
                </a:extLst>
              </p:cNvPr>
              <p:cNvCxnSpPr/>
              <p:nvPr/>
            </p:nvCxnSpPr>
            <p:spPr>
              <a:xfrm>
                <a:off x="3714744" y="4572008"/>
                <a:ext cx="285752"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cxnSp>
            <p:nvCxnSpPr>
              <p:cNvPr id="223" name="直線コネクタ 222">
                <a:extLst>
                  <a:ext uri="{FF2B5EF4-FFF2-40B4-BE49-F238E27FC236}">
                    <a16:creationId xmlns:a16="http://schemas.microsoft.com/office/drawing/2014/main" id="{3F0BB9DC-65EA-41E0-0959-90B35B7B802F}"/>
                  </a:ext>
                </a:extLst>
              </p:cNvPr>
              <p:cNvCxnSpPr/>
              <p:nvPr/>
            </p:nvCxnSpPr>
            <p:spPr>
              <a:xfrm>
                <a:off x="3786182" y="4643446"/>
                <a:ext cx="130188" cy="1588"/>
              </a:xfrm>
              <a:prstGeom prst="line">
                <a:avLst/>
              </a:prstGeom>
              <a:ln w="19050">
                <a:headEnd type="none" w="sm" len="sm"/>
              </a:ln>
              <a:effectLst/>
            </p:spPr>
            <p:style>
              <a:lnRef idx="2">
                <a:schemeClr val="dk1"/>
              </a:lnRef>
              <a:fillRef idx="0">
                <a:schemeClr val="dk1"/>
              </a:fillRef>
              <a:effectRef idx="1">
                <a:schemeClr val="dk1"/>
              </a:effectRef>
              <a:fontRef idx="minor">
                <a:schemeClr val="tx1"/>
              </a:fontRef>
            </p:style>
          </p:cxnSp>
        </p:grpSp>
        <p:cxnSp>
          <p:nvCxnSpPr>
            <p:cNvPr id="219" name="直線コネクタ 218">
              <a:extLst>
                <a:ext uri="{FF2B5EF4-FFF2-40B4-BE49-F238E27FC236}">
                  <a16:creationId xmlns:a16="http://schemas.microsoft.com/office/drawing/2014/main" id="{2AF1F0B9-65D7-B01E-0BDC-5C5975BCD4BF}"/>
                </a:ext>
              </a:extLst>
            </p:cNvPr>
            <p:cNvCxnSpPr>
              <a:cxnSpLocks/>
            </p:cNvCxnSpPr>
            <p:nvPr/>
          </p:nvCxnSpPr>
          <p:spPr>
            <a:xfrm flipV="1">
              <a:off x="7632034" y="5768668"/>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20" name="Rectangle 93">
              <a:extLst>
                <a:ext uri="{FF2B5EF4-FFF2-40B4-BE49-F238E27FC236}">
                  <a16:creationId xmlns:a16="http://schemas.microsoft.com/office/drawing/2014/main" id="{18479E53-A48B-F1B0-C3BB-8D7DB7F95A51}"/>
                </a:ext>
              </a:extLst>
            </p:cNvPr>
            <p:cNvSpPr>
              <a:spLocks noChangeArrowheads="1"/>
            </p:cNvSpPr>
            <p:nvPr/>
          </p:nvSpPr>
          <p:spPr bwMode="auto">
            <a:xfrm>
              <a:off x="7272030" y="6308674"/>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t>GND</a:t>
              </a:r>
            </a:p>
          </p:txBody>
        </p:sp>
      </p:grpSp>
      <p:grpSp>
        <p:nvGrpSpPr>
          <p:cNvPr id="224" name="グループ化 223">
            <a:extLst>
              <a:ext uri="{FF2B5EF4-FFF2-40B4-BE49-F238E27FC236}">
                <a16:creationId xmlns:a16="http://schemas.microsoft.com/office/drawing/2014/main" id="{1C0058CE-E6CB-1382-E48F-3CFFC9D93A5B}"/>
              </a:ext>
            </a:extLst>
          </p:cNvPr>
          <p:cNvGrpSpPr/>
          <p:nvPr/>
        </p:nvGrpSpPr>
        <p:grpSpPr>
          <a:xfrm>
            <a:off x="7896018" y="188967"/>
            <a:ext cx="450049" cy="810009"/>
            <a:chOff x="7362031" y="2528632"/>
            <a:chExt cx="450049" cy="810009"/>
          </a:xfrm>
        </p:grpSpPr>
        <p:cxnSp>
          <p:nvCxnSpPr>
            <p:cNvPr id="225" name="直線コネクタ 224">
              <a:extLst>
                <a:ext uri="{FF2B5EF4-FFF2-40B4-BE49-F238E27FC236}">
                  <a16:creationId xmlns:a16="http://schemas.microsoft.com/office/drawing/2014/main" id="{A834202A-B3AD-DABC-FC73-C4FABAAE102F}"/>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26" name="直線コネクタ 225">
              <a:extLst>
                <a:ext uri="{FF2B5EF4-FFF2-40B4-BE49-F238E27FC236}">
                  <a16:creationId xmlns:a16="http://schemas.microsoft.com/office/drawing/2014/main" id="{B9AEB0FC-3ED0-A8BE-EA94-754D90879E1C}"/>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27" name="Rectangle 93">
              <a:extLst>
                <a:ext uri="{FF2B5EF4-FFF2-40B4-BE49-F238E27FC236}">
                  <a16:creationId xmlns:a16="http://schemas.microsoft.com/office/drawing/2014/main" id="{E8B2D051-85A9-9C09-4CE2-AE2F20A1DC3F}"/>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pSp>
        <p:nvGrpSpPr>
          <p:cNvPr id="228" name="グループ化 227">
            <a:extLst>
              <a:ext uri="{FF2B5EF4-FFF2-40B4-BE49-F238E27FC236}">
                <a16:creationId xmlns:a16="http://schemas.microsoft.com/office/drawing/2014/main" id="{297597D5-C82D-E38F-DAB7-D0BF7CD400E9}"/>
              </a:ext>
            </a:extLst>
          </p:cNvPr>
          <p:cNvGrpSpPr/>
          <p:nvPr/>
        </p:nvGrpSpPr>
        <p:grpSpPr>
          <a:xfrm>
            <a:off x="10776050" y="188967"/>
            <a:ext cx="450049" cy="810009"/>
            <a:chOff x="7362031" y="2528632"/>
            <a:chExt cx="450049" cy="810009"/>
          </a:xfrm>
        </p:grpSpPr>
        <p:cxnSp>
          <p:nvCxnSpPr>
            <p:cNvPr id="229" name="直線コネクタ 228">
              <a:extLst>
                <a:ext uri="{FF2B5EF4-FFF2-40B4-BE49-F238E27FC236}">
                  <a16:creationId xmlns:a16="http://schemas.microsoft.com/office/drawing/2014/main" id="{ED01009A-6891-4495-E776-F573805580AA}"/>
                </a:ext>
              </a:extLst>
            </p:cNvPr>
            <p:cNvCxnSpPr>
              <a:cxnSpLocks/>
            </p:cNvCxnSpPr>
            <p:nvPr/>
          </p:nvCxnSpPr>
          <p:spPr>
            <a:xfrm flipV="1">
              <a:off x="7632034" y="2888636"/>
              <a:ext cx="0" cy="450005"/>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30" name="直線コネクタ 229">
              <a:extLst>
                <a:ext uri="{FF2B5EF4-FFF2-40B4-BE49-F238E27FC236}">
                  <a16:creationId xmlns:a16="http://schemas.microsoft.com/office/drawing/2014/main" id="{0D8549A2-8D92-8A6A-C6D4-372E24EFBFAB}"/>
                </a:ext>
              </a:extLst>
            </p:cNvPr>
            <p:cNvCxnSpPr/>
            <p:nvPr/>
          </p:nvCxnSpPr>
          <p:spPr>
            <a:xfrm>
              <a:off x="7452032" y="2888636"/>
              <a:ext cx="360048" cy="0"/>
            </a:xfrm>
            <a:prstGeom prst="line">
              <a:avLst/>
            </a:prstGeom>
            <a:ln w="19050" cap="rnd">
              <a:solidFill>
                <a:srgbClr val="000000"/>
              </a:solidFill>
            </a:ln>
          </p:spPr>
          <p:style>
            <a:lnRef idx="1">
              <a:schemeClr val="accent1"/>
            </a:lnRef>
            <a:fillRef idx="0">
              <a:schemeClr val="accent1"/>
            </a:fillRef>
            <a:effectRef idx="0">
              <a:schemeClr val="accent1"/>
            </a:effectRef>
            <a:fontRef idx="minor">
              <a:schemeClr val="tx1"/>
            </a:fontRef>
          </p:style>
        </p:cxnSp>
        <p:sp>
          <p:nvSpPr>
            <p:cNvPr id="231" name="Rectangle 93">
              <a:extLst>
                <a:ext uri="{FF2B5EF4-FFF2-40B4-BE49-F238E27FC236}">
                  <a16:creationId xmlns:a16="http://schemas.microsoft.com/office/drawing/2014/main" id="{8111FA7D-6202-5497-10C6-7A00D4BD7FDB}"/>
                </a:ext>
              </a:extLst>
            </p:cNvPr>
            <p:cNvSpPr>
              <a:spLocks noChangeArrowheads="1"/>
            </p:cNvSpPr>
            <p:nvPr/>
          </p:nvSpPr>
          <p:spPr bwMode="auto">
            <a:xfrm>
              <a:off x="7362031" y="2528632"/>
              <a:ext cx="270003" cy="360362"/>
            </a:xfrm>
            <a:prstGeom prst="rect">
              <a:avLst/>
            </a:prstGeom>
            <a:noFill/>
            <a:ln w="12700" algn="ctr">
              <a:noFill/>
              <a:miter lim="800000"/>
              <a:headEnd/>
              <a:tailEnd/>
            </a:ln>
            <a:effectLst/>
          </p:spPr>
          <p:txBody>
            <a:bodyPr wrap="none" lIns="90000" tIns="46800" rIns="90000" bIns="46800" anchor="ctr"/>
            <a:lstStyle/>
            <a:p>
              <a:r>
                <a:rPr lang="en-US" altLang="ja-JP" dirty="0">
                  <a:latin typeface="+mj-lt"/>
                </a:rPr>
                <a:t>VDD</a:t>
              </a:r>
              <a:endParaRPr lang="en-US" altLang="ja-JP" dirty="0"/>
            </a:p>
          </p:txBody>
        </p:sp>
      </p:grpSp>
      <p:graphicFrame>
        <p:nvGraphicFramePr>
          <p:cNvPr id="232" name="Group 383">
            <a:extLst>
              <a:ext uri="{FF2B5EF4-FFF2-40B4-BE49-F238E27FC236}">
                <a16:creationId xmlns:a16="http://schemas.microsoft.com/office/drawing/2014/main" id="{6AD48ACB-5759-4106-CCBB-3D41C1CA6FCA}"/>
              </a:ext>
            </a:extLst>
          </p:cNvPr>
          <p:cNvGraphicFramePr>
            <a:graphicFrameLocks/>
          </p:cNvGraphicFramePr>
          <p:nvPr/>
        </p:nvGraphicFramePr>
        <p:xfrm>
          <a:off x="2495960" y="1268976"/>
          <a:ext cx="1439862" cy="2071690"/>
        </p:xfrm>
        <a:graphic>
          <a:graphicData uri="http://schemas.openxmlformats.org/drawingml/2006/table">
            <a:tbl>
              <a:tblPr/>
              <a:tblGrid>
                <a:gridCol w="479425">
                  <a:extLst>
                    <a:ext uri="{9D8B030D-6E8A-4147-A177-3AD203B41FA5}">
                      <a16:colId xmlns:a16="http://schemas.microsoft.com/office/drawing/2014/main" val="20000"/>
                    </a:ext>
                  </a:extLst>
                </a:gridCol>
                <a:gridCol w="481012">
                  <a:extLst>
                    <a:ext uri="{9D8B030D-6E8A-4147-A177-3AD203B41FA5}">
                      <a16:colId xmlns:a16="http://schemas.microsoft.com/office/drawing/2014/main" val="20001"/>
                    </a:ext>
                  </a:extLst>
                </a:gridCol>
                <a:gridCol w="479425">
                  <a:extLst>
                    <a:ext uri="{9D8B030D-6E8A-4147-A177-3AD203B41FA5}">
                      <a16:colId xmlns:a16="http://schemas.microsoft.com/office/drawing/2014/main" val="20002"/>
                    </a:ext>
                  </a:extLst>
                </a:gridCol>
              </a:tblGrid>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a</a:t>
                      </a:r>
                    </a:p>
                  </a:txBody>
                  <a:tcPr anchor="ctr" horzOverflow="overflow">
                    <a:lnL cap="flat">
                      <a:noFill/>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b</a:t>
                      </a:r>
                    </a:p>
                  </a:txBody>
                  <a:tcPr anchor="ct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c</a:t>
                      </a:r>
                    </a:p>
                  </a:txBody>
                  <a:tcPr anchor="ct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cap="flat">
                      <a:noFill/>
                    </a:lnB>
                    <a:lnTlToBr>
                      <a:noFill/>
                    </a:lnTlToBr>
                    <a:lnBlToTr>
                      <a:noFill/>
                    </a:lnBlToTr>
                    <a:noFill/>
                  </a:tcPr>
                </a:tc>
                <a:extLst>
                  <a:ext uri="{0D108BD9-81ED-4DB2-BD59-A6C34878D82A}">
                    <a16:rowId xmlns:a16="http://schemas.microsoft.com/office/drawing/2014/main" val="10001"/>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6"/>
                          </a:solidFill>
                          <a:effectLst/>
                          <a:latin typeface="+mn-ea"/>
                          <a:ea typeface="+mn-ea"/>
                        </a:rPr>
                        <a:t>0</a:t>
                      </a:r>
                    </a:p>
                  </a:txBody>
                  <a:tcPr anchor="ct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1</a:t>
                      </a:r>
                    </a:p>
                  </a:txBody>
                  <a:tcPr anchor="ct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414338">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accent5"/>
                          </a:solidFill>
                          <a:effectLst/>
                          <a:latin typeface="+mn-ea"/>
                          <a:ea typeface="+mn-ea"/>
                        </a:rPr>
                        <a:t>1</a:t>
                      </a:r>
                    </a:p>
                  </a:txBody>
                  <a:tcPr anchor="ctr" horzOverflow="overflow">
                    <a:lnL cap="flat">
                      <a:noFill/>
                    </a:lnL>
                    <a:lnR w="12700" cap="flat" cmpd="sng" algn="ctr">
                      <a:solidFill>
                        <a:schemeClr val="tx1"/>
                      </a:solidFill>
                      <a:prstDash val="solid"/>
                      <a:round/>
                      <a:headEnd type="none" w="med" len="med"/>
                      <a:tailEnd type="none" w="med" len="med"/>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folHlink"/>
                        </a:buClr>
                        <a:buSzTx/>
                        <a:buFont typeface="Wingdings" pitchFamily="2" charset="2"/>
                        <a:buNone/>
                        <a:tabLst/>
                      </a:pPr>
                      <a:r>
                        <a:rPr kumimoji="0" lang="en-US" altLang="ja-JP" sz="1600" b="0" i="0" u="none" strike="noStrike" cap="none" normalizeH="0" baseline="0" dirty="0">
                          <a:ln>
                            <a:noFill/>
                          </a:ln>
                          <a:solidFill>
                            <a:schemeClr val="tx1">
                              <a:lumMod val="75000"/>
                              <a:lumOff val="25000"/>
                            </a:schemeClr>
                          </a:solidFill>
                          <a:effectLst/>
                          <a:latin typeface="+mn-ea"/>
                          <a:ea typeface="+mn-ea"/>
                        </a:rPr>
                        <a:t>0</a:t>
                      </a:r>
                    </a:p>
                  </a:txBody>
                  <a:tcPr anchor="ctr" horzOverflow="overflow">
                    <a:lnL w="12700" cap="flat" cmpd="sng" algn="ctr">
                      <a:solidFill>
                        <a:schemeClr val="tx1"/>
                      </a:solidFill>
                      <a:prstDash val="solid"/>
                      <a:round/>
                      <a:headEnd type="none" w="med" len="med"/>
                      <a:tailEnd type="none" w="med" len="med"/>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40" name="グループ化 239">
            <a:extLst>
              <a:ext uri="{FF2B5EF4-FFF2-40B4-BE49-F238E27FC236}">
                <a16:creationId xmlns:a16="http://schemas.microsoft.com/office/drawing/2014/main" id="{64DC05BE-F391-47A1-1C07-B7685C59B819}"/>
              </a:ext>
            </a:extLst>
          </p:cNvPr>
          <p:cNvGrpSpPr/>
          <p:nvPr/>
        </p:nvGrpSpPr>
        <p:grpSpPr>
          <a:xfrm>
            <a:off x="6636001" y="638969"/>
            <a:ext cx="1531092" cy="1440374"/>
            <a:chOff x="5202007" y="2708992"/>
            <a:chExt cx="1531092" cy="1440374"/>
          </a:xfrm>
        </p:grpSpPr>
        <p:grpSp>
          <p:nvGrpSpPr>
            <p:cNvPr id="241" name="グループ化 240">
              <a:extLst>
                <a:ext uri="{FF2B5EF4-FFF2-40B4-BE49-F238E27FC236}">
                  <a16:creationId xmlns:a16="http://schemas.microsoft.com/office/drawing/2014/main" id="{AD4B61D4-B437-6511-33DD-77F967CE31D0}"/>
                </a:ext>
              </a:extLst>
            </p:cNvPr>
            <p:cNvGrpSpPr/>
            <p:nvPr/>
          </p:nvGrpSpPr>
          <p:grpSpPr>
            <a:xfrm>
              <a:off x="5202007" y="2708992"/>
              <a:ext cx="1531092" cy="1440374"/>
              <a:chOff x="5202007" y="3068996"/>
              <a:chExt cx="1531092" cy="1440374"/>
            </a:xfrm>
          </p:grpSpPr>
          <p:sp>
            <p:nvSpPr>
              <p:cNvPr id="243" name="正方形/長方形 242">
                <a:extLst>
                  <a:ext uri="{FF2B5EF4-FFF2-40B4-BE49-F238E27FC236}">
                    <a16:creationId xmlns:a16="http://schemas.microsoft.com/office/drawing/2014/main" id="{86866406-9D63-F792-50B2-E0CD0FFA0846}"/>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44" name="円/楕円 69">
                <a:extLst>
                  <a:ext uri="{FF2B5EF4-FFF2-40B4-BE49-F238E27FC236}">
                    <a16:creationId xmlns:a16="http://schemas.microsoft.com/office/drawing/2014/main" id="{96371EA1-E139-0315-043E-0B4DF5FBA710}"/>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5" name="直線コネクタ 244">
                <a:extLst>
                  <a:ext uri="{FF2B5EF4-FFF2-40B4-BE49-F238E27FC236}">
                    <a16:creationId xmlns:a16="http://schemas.microsoft.com/office/drawing/2014/main" id="{38203321-0409-23A6-FD7F-45C1B686EB90}"/>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6" name="直線コネクタ 245">
                <a:extLst>
                  <a:ext uri="{FF2B5EF4-FFF2-40B4-BE49-F238E27FC236}">
                    <a16:creationId xmlns:a16="http://schemas.microsoft.com/office/drawing/2014/main" id="{FBA22A40-B145-7319-E97D-68D9B31C874F}"/>
                  </a:ext>
                </a:extLst>
              </p:cNvPr>
              <p:cNvCxnSpPr>
                <a:cxnSpLocks/>
                <a:endCxn id="247" idx="4"/>
              </p:cNvCxnSpPr>
              <p:nvPr/>
            </p:nvCxnSpPr>
            <p:spPr>
              <a:xfrm>
                <a:off x="5965748" y="3609002"/>
                <a:ext cx="0"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47" name="円/楕円 68">
                <a:extLst>
                  <a:ext uri="{FF2B5EF4-FFF2-40B4-BE49-F238E27FC236}">
                    <a16:creationId xmlns:a16="http://schemas.microsoft.com/office/drawing/2014/main" id="{5EB7FC80-3AF0-8CBA-FCEA-A1CE2514967E}"/>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48" name="直線コネクタ 247">
                <a:extLst>
                  <a:ext uri="{FF2B5EF4-FFF2-40B4-BE49-F238E27FC236}">
                    <a16:creationId xmlns:a16="http://schemas.microsoft.com/office/drawing/2014/main" id="{B5F4298D-8C76-C8B8-AD6F-46164F808165}"/>
                  </a:ext>
                </a:extLst>
              </p:cNvPr>
              <p:cNvCxnSpPr>
                <a:cxnSpLocks/>
                <a:endCxn id="244"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49" name="直線コネクタ 248">
                <a:extLst>
                  <a:ext uri="{FF2B5EF4-FFF2-40B4-BE49-F238E27FC236}">
                    <a16:creationId xmlns:a16="http://schemas.microsoft.com/office/drawing/2014/main" id="{87ED5C31-0306-BF9B-5D07-023857BE8BE5}"/>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50" name="Rectangle 93">
                <a:extLst>
                  <a:ext uri="{FF2B5EF4-FFF2-40B4-BE49-F238E27FC236}">
                    <a16:creationId xmlns:a16="http://schemas.microsoft.com/office/drawing/2014/main" id="{1CC9BD9A-C161-908B-530A-AAE16345FFF4}"/>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51" name="Rectangle 93">
                <a:extLst>
                  <a:ext uri="{FF2B5EF4-FFF2-40B4-BE49-F238E27FC236}">
                    <a16:creationId xmlns:a16="http://schemas.microsoft.com/office/drawing/2014/main" id="{8C152B59-926E-806F-0C67-BF036016E37D}"/>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52" name="Rectangle 93">
                <a:extLst>
                  <a:ext uri="{FF2B5EF4-FFF2-40B4-BE49-F238E27FC236}">
                    <a16:creationId xmlns:a16="http://schemas.microsoft.com/office/drawing/2014/main" id="{C1B3EBB4-0E50-4ED8-B062-DA6931AEE4D7}"/>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53" name="直線コネクタ 252">
                <a:extLst>
                  <a:ext uri="{FF2B5EF4-FFF2-40B4-BE49-F238E27FC236}">
                    <a16:creationId xmlns:a16="http://schemas.microsoft.com/office/drawing/2014/main" id="{ABCF7961-5A82-18F0-8D24-68C47EFDD141}"/>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54" name="直線コネクタ 253">
                <a:extLst>
                  <a:ext uri="{FF2B5EF4-FFF2-40B4-BE49-F238E27FC236}">
                    <a16:creationId xmlns:a16="http://schemas.microsoft.com/office/drawing/2014/main" id="{188713DD-5FE2-D0F7-5EC1-DC2D42665FF4}"/>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42" name="円/楕円 69">
              <a:extLst>
                <a:ext uri="{FF2B5EF4-FFF2-40B4-BE49-F238E27FC236}">
                  <a16:creationId xmlns:a16="http://schemas.microsoft.com/office/drawing/2014/main" id="{933751A7-FF78-01EB-35DF-6EF73A031FBB}"/>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grpSp>
        <p:nvGrpSpPr>
          <p:cNvPr id="255" name="グループ化 254">
            <a:extLst>
              <a:ext uri="{FF2B5EF4-FFF2-40B4-BE49-F238E27FC236}">
                <a16:creationId xmlns:a16="http://schemas.microsoft.com/office/drawing/2014/main" id="{9F9B0FA8-830C-7FF4-5C26-22017E7397F6}"/>
              </a:ext>
            </a:extLst>
          </p:cNvPr>
          <p:cNvGrpSpPr/>
          <p:nvPr/>
        </p:nvGrpSpPr>
        <p:grpSpPr>
          <a:xfrm>
            <a:off x="9516033" y="638969"/>
            <a:ext cx="1531092" cy="1440374"/>
            <a:chOff x="5202007" y="2708992"/>
            <a:chExt cx="1531092" cy="1440374"/>
          </a:xfrm>
        </p:grpSpPr>
        <p:grpSp>
          <p:nvGrpSpPr>
            <p:cNvPr id="256" name="グループ化 255">
              <a:extLst>
                <a:ext uri="{FF2B5EF4-FFF2-40B4-BE49-F238E27FC236}">
                  <a16:creationId xmlns:a16="http://schemas.microsoft.com/office/drawing/2014/main" id="{68E39442-C29F-1899-B368-C5ECE08904B1}"/>
                </a:ext>
              </a:extLst>
            </p:cNvPr>
            <p:cNvGrpSpPr/>
            <p:nvPr/>
          </p:nvGrpSpPr>
          <p:grpSpPr>
            <a:xfrm>
              <a:off x="5202007" y="2708992"/>
              <a:ext cx="1531092" cy="1440374"/>
              <a:chOff x="5202007" y="3068996"/>
              <a:chExt cx="1531092" cy="1440374"/>
            </a:xfrm>
          </p:grpSpPr>
          <p:sp>
            <p:nvSpPr>
              <p:cNvPr id="258" name="正方形/長方形 257">
                <a:extLst>
                  <a:ext uri="{FF2B5EF4-FFF2-40B4-BE49-F238E27FC236}">
                    <a16:creationId xmlns:a16="http://schemas.microsoft.com/office/drawing/2014/main" id="{F0A0894E-14F7-4EAB-E9F3-5450B47F73F7}"/>
                  </a:ext>
                </a:extLst>
              </p:cNvPr>
              <p:cNvSpPr/>
              <p:nvPr/>
            </p:nvSpPr>
            <p:spPr bwMode="auto">
              <a:xfrm>
                <a:off x="5652012" y="3338999"/>
                <a:ext cx="720008" cy="900010"/>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59" name="円/楕円 69">
                <a:extLst>
                  <a:ext uri="{FF2B5EF4-FFF2-40B4-BE49-F238E27FC236}">
                    <a16:creationId xmlns:a16="http://schemas.microsoft.com/office/drawing/2014/main" id="{9C21C671-151D-3648-3195-97BD7B17EA5D}"/>
                  </a:ext>
                </a:extLst>
              </p:cNvPr>
              <p:cNvSpPr/>
              <p:nvPr/>
            </p:nvSpPr>
            <p:spPr>
              <a:xfrm rot="5400000">
                <a:off x="5968271" y="3609002"/>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0" name="直線コネクタ 259">
                <a:extLst>
                  <a:ext uri="{FF2B5EF4-FFF2-40B4-BE49-F238E27FC236}">
                    <a16:creationId xmlns:a16="http://schemas.microsoft.com/office/drawing/2014/main" id="{E5ACD0F4-0B92-BB7B-EDE2-34725CE4EBEE}"/>
                  </a:ext>
                </a:extLst>
              </p:cNvPr>
              <p:cNvCxnSpPr>
                <a:cxnSpLocks/>
              </p:cNvCxnSpPr>
              <p:nvPr/>
            </p:nvCxnSpPr>
            <p:spPr>
              <a:xfrm flipH="1">
                <a:off x="5292008" y="3789004"/>
                <a:ext cx="360004"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1" name="直線コネクタ 260">
                <a:extLst>
                  <a:ext uri="{FF2B5EF4-FFF2-40B4-BE49-F238E27FC236}">
                    <a16:creationId xmlns:a16="http://schemas.microsoft.com/office/drawing/2014/main" id="{F85D2DB9-51BF-812C-989F-D84EF291E638}"/>
                  </a:ext>
                </a:extLst>
              </p:cNvPr>
              <p:cNvCxnSpPr>
                <a:cxnSpLocks/>
                <a:endCxn id="262" idx="4"/>
              </p:cNvCxnSpPr>
              <p:nvPr/>
            </p:nvCxnSpPr>
            <p:spPr>
              <a:xfrm>
                <a:off x="5832014" y="3609002"/>
                <a:ext cx="133734" cy="315009"/>
              </a:xfrm>
              <a:prstGeom prst="line">
                <a:avLst/>
              </a:prstGeom>
              <a:ln w="34925" cap="rnd">
                <a:solidFill>
                  <a:schemeClr val="accent6"/>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2" name="円/楕円 68">
                <a:extLst>
                  <a:ext uri="{FF2B5EF4-FFF2-40B4-BE49-F238E27FC236}">
                    <a16:creationId xmlns:a16="http://schemas.microsoft.com/office/drawing/2014/main" id="{313B59DE-9878-BF57-314D-C173E7F967BB}"/>
                  </a:ext>
                </a:extLst>
              </p:cNvPr>
              <p:cNvSpPr/>
              <p:nvPr/>
            </p:nvSpPr>
            <p:spPr>
              <a:xfrm rot="5400000">
                <a:off x="5965737" y="3879016"/>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cxnSp>
            <p:nvCxnSpPr>
              <p:cNvPr id="263" name="直線コネクタ 262">
                <a:extLst>
                  <a:ext uri="{FF2B5EF4-FFF2-40B4-BE49-F238E27FC236}">
                    <a16:creationId xmlns:a16="http://schemas.microsoft.com/office/drawing/2014/main" id="{2EA6AA04-78CF-CBC1-8A86-A201FFBFBE03}"/>
                  </a:ext>
                </a:extLst>
              </p:cNvPr>
              <p:cNvCxnSpPr>
                <a:cxnSpLocks/>
                <a:endCxn id="259" idx="2"/>
              </p:cNvCxnSpPr>
              <p:nvPr/>
            </p:nvCxnSpPr>
            <p:spPr>
              <a:xfrm>
                <a:off x="6012016" y="3429000"/>
                <a:ext cx="1261" cy="179991"/>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4" name="直線コネクタ 263">
                <a:extLst>
                  <a:ext uri="{FF2B5EF4-FFF2-40B4-BE49-F238E27FC236}">
                    <a16:creationId xmlns:a16="http://schemas.microsoft.com/office/drawing/2014/main" id="{3DDF3381-33D2-CA9C-5353-197B8754F644}"/>
                  </a:ext>
                </a:extLst>
              </p:cNvPr>
              <p:cNvCxnSpPr>
                <a:cxnSpLocks/>
              </p:cNvCxnSpPr>
              <p:nvPr/>
            </p:nvCxnSpPr>
            <p:spPr>
              <a:xfrm>
                <a:off x="6012016" y="3969006"/>
                <a:ext cx="0" cy="180002"/>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sp>
            <p:nvSpPr>
              <p:cNvPr id="265" name="Rectangle 93">
                <a:extLst>
                  <a:ext uri="{FF2B5EF4-FFF2-40B4-BE49-F238E27FC236}">
                    <a16:creationId xmlns:a16="http://schemas.microsoft.com/office/drawing/2014/main" id="{1A5CD5E4-9C26-828A-EE8A-CC6DCAE8431A}"/>
                  </a:ext>
                </a:extLst>
              </p:cNvPr>
              <p:cNvSpPr>
                <a:spLocks noChangeArrowheads="1"/>
              </p:cNvSpPr>
              <p:nvPr/>
            </p:nvSpPr>
            <p:spPr bwMode="auto">
              <a:xfrm>
                <a:off x="5202007" y="3429000"/>
                <a:ext cx="361079" cy="360004"/>
              </a:xfrm>
              <a:prstGeom prst="rect">
                <a:avLst/>
              </a:prstGeom>
              <a:noFill/>
              <a:ln w="12700" algn="ctr">
                <a:noFill/>
                <a:miter lim="800000"/>
                <a:headEnd/>
                <a:tailEnd/>
              </a:ln>
              <a:effectLst/>
            </p:spPr>
            <p:txBody>
              <a:bodyPr wrap="none" lIns="90000" tIns="46800" rIns="90000" bIns="46800" anchor="ctr"/>
              <a:lstStyle/>
              <a:p>
                <a:r>
                  <a:rPr lang="en-US" altLang="ja-JP" dirty="0"/>
                  <a:t>G</a:t>
                </a:r>
              </a:p>
            </p:txBody>
          </p:sp>
          <p:sp>
            <p:nvSpPr>
              <p:cNvPr id="266" name="Rectangle 93">
                <a:extLst>
                  <a:ext uri="{FF2B5EF4-FFF2-40B4-BE49-F238E27FC236}">
                    <a16:creationId xmlns:a16="http://schemas.microsoft.com/office/drawing/2014/main" id="{8AF29F70-4B0B-1C15-ADC4-EC758570862F}"/>
                  </a:ext>
                </a:extLst>
              </p:cNvPr>
              <p:cNvSpPr>
                <a:spLocks noChangeArrowheads="1"/>
              </p:cNvSpPr>
              <p:nvPr/>
            </p:nvSpPr>
            <p:spPr bwMode="auto">
              <a:xfrm>
                <a:off x="6372020" y="4149008"/>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D</a:t>
                </a:r>
              </a:p>
            </p:txBody>
          </p:sp>
          <p:sp>
            <p:nvSpPr>
              <p:cNvPr id="267" name="Rectangle 93">
                <a:extLst>
                  <a:ext uri="{FF2B5EF4-FFF2-40B4-BE49-F238E27FC236}">
                    <a16:creationId xmlns:a16="http://schemas.microsoft.com/office/drawing/2014/main" id="{14E6DE1A-8D0D-C6D6-36F7-E02D704775E9}"/>
                  </a:ext>
                </a:extLst>
              </p:cNvPr>
              <p:cNvSpPr>
                <a:spLocks noChangeArrowheads="1"/>
              </p:cNvSpPr>
              <p:nvPr/>
            </p:nvSpPr>
            <p:spPr bwMode="auto">
              <a:xfrm>
                <a:off x="6372020" y="3068996"/>
                <a:ext cx="361079" cy="360362"/>
              </a:xfrm>
              <a:prstGeom prst="rect">
                <a:avLst/>
              </a:prstGeom>
              <a:noFill/>
              <a:ln w="12700" algn="ctr">
                <a:noFill/>
                <a:miter lim="800000"/>
                <a:headEnd/>
                <a:tailEnd/>
              </a:ln>
              <a:effectLst/>
            </p:spPr>
            <p:txBody>
              <a:bodyPr wrap="none" lIns="90000" tIns="46800" rIns="90000" bIns="46800" anchor="ctr"/>
              <a:lstStyle/>
              <a:p>
                <a:r>
                  <a:rPr lang="en-US" altLang="ja-JP" dirty="0"/>
                  <a:t>S</a:t>
                </a:r>
              </a:p>
            </p:txBody>
          </p:sp>
          <p:cxnSp>
            <p:nvCxnSpPr>
              <p:cNvPr id="268" name="直線コネクタ 267">
                <a:extLst>
                  <a:ext uri="{FF2B5EF4-FFF2-40B4-BE49-F238E27FC236}">
                    <a16:creationId xmlns:a16="http://schemas.microsoft.com/office/drawing/2014/main" id="{3BA9A987-30BA-16EE-F80C-0BC772D8BDA7}"/>
                  </a:ext>
                </a:extLst>
              </p:cNvPr>
              <p:cNvCxnSpPr>
                <a:cxnSpLocks/>
              </p:cNvCxnSpPr>
              <p:nvPr/>
            </p:nvCxnSpPr>
            <p:spPr>
              <a:xfrm flipH="1">
                <a:off x="6012016" y="4149008"/>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cxnSp>
            <p:nvCxnSpPr>
              <p:cNvPr id="269" name="直線コネクタ 268">
                <a:extLst>
                  <a:ext uri="{FF2B5EF4-FFF2-40B4-BE49-F238E27FC236}">
                    <a16:creationId xmlns:a16="http://schemas.microsoft.com/office/drawing/2014/main" id="{A895D64E-4D3F-993F-6C1D-4C451C76A87A}"/>
                  </a:ext>
                </a:extLst>
              </p:cNvPr>
              <p:cNvCxnSpPr>
                <a:cxnSpLocks/>
              </p:cNvCxnSpPr>
              <p:nvPr/>
            </p:nvCxnSpPr>
            <p:spPr>
              <a:xfrm flipH="1">
                <a:off x="6012016" y="3429000"/>
                <a:ext cx="720008" cy="0"/>
              </a:xfrm>
              <a:prstGeom prst="line">
                <a:avLst/>
              </a:prstGeom>
              <a:ln w="6350" cap="rnd">
                <a:solidFill>
                  <a:srgbClr val="000000"/>
                </a:solidFill>
                <a:headEnd type="none" w="sm" len="sm"/>
                <a:tailEnd type="none"/>
              </a:ln>
            </p:spPr>
            <p:style>
              <a:lnRef idx="1">
                <a:schemeClr val="accent1"/>
              </a:lnRef>
              <a:fillRef idx="0">
                <a:schemeClr val="accent1"/>
              </a:fillRef>
              <a:effectRef idx="0">
                <a:schemeClr val="accent1"/>
              </a:effectRef>
              <a:fontRef idx="minor">
                <a:schemeClr val="tx1"/>
              </a:fontRef>
            </p:style>
          </p:cxnSp>
        </p:grpSp>
        <p:sp>
          <p:nvSpPr>
            <p:cNvPr id="257" name="円/楕円 69">
              <a:extLst>
                <a:ext uri="{FF2B5EF4-FFF2-40B4-BE49-F238E27FC236}">
                  <a16:creationId xmlns:a16="http://schemas.microsoft.com/office/drawing/2014/main" id="{D1C2D577-F633-4585-AA57-4F24B38099D4}"/>
                </a:ext>
              </a:extLst>
            </p:cNvPr>
            <p:cNvSpPr/>
            <p:nvPr/>
          </p:nvSpPr>
          <p:spPr>
            <a:xfrm rot="5400000">
              <a:off x="5553531" y="3381340"/>
              <a:ext cx="90012" cy="89990"/>
            </a:xfrm>
            <a:prstGeom prst="ellipse">
              <a:avLst/>
            </a:prstGeom>
            <a:solidFill>
              <a:schemeClr val="bg1"/>
            </a:solid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ja-JP" altLang="en-US" sz="1400"/>
            </a:p>
          </p:txBody>
        </p:sp>
      </p:grpSp>
    </p:spTree>
    <p:extLst>
      <p:ext uri="{BB962C8B-B14F-4D97-AF65-F5344CB8AC3E}">
        <p14:creationId xmlns:p14="http://schemas.microsoft.com/office/powerpoint/2010/main" val="7895095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p:txBody>
          <a:bodyPr/>
          <a:lstStyle/>
          <a:p>
            <a:r>
              <a:rPr lang="ja-JP" altLang="en-US" sz="1800" dirty="0"/>
              <a:t>以下を提出：</a:t>
            </a:r>
            <a:endParaRPr lang="en-US" altLang="ja-JP" sz="1800" dirty="0"/>
          </a:p>
          <a:p>
            <a:pPr lvl="1">
              <a:buFont typeface="+mj-lt"/>
              <a:buAutoNum type="arabicPeriod"/>
            </a:pPr>
            <a:r>
              <a:rPr lang="ja-JP" altLang="en-US" sz="1800" dirty="0"/>
              <a:t>課題５</a:t>
            </a:r>
            <a:endParaRPr lang="en-US" altLang="ja-JP" sz="1800" dirty="0"/>
          </a:p>
          <a:p>
            <a:pPr lvl="2"/>
            <a:r>
              <a:rPr lang="ja-JP" altLang="en-US" sz="1800" dirty="0"/>
              <a:t>提出は </a:t>
            </a:r>
            <a:r>
              <a:rPr lang="en-US" altLang="ja-JP" sz="1800" dirty="0"/>
              <a:t>Moodle</a:t>
            </a:r>
            <a:r>
              <a:rPr lang="ja-JP" altLang="en-US" sz="1800" dirty="0"/>
              <a:t>からお願いします</a:t>
            </a:r>
            <a:endParaRPr lang="en-US" altLang="ja-JP" sz="1800" dirty="0"/>
          </a:p>
          <a:p>
            <a:pPr lvl="2"/>
            <a:r>
              <a:rPr lang="ja-JP" altLang="en-US" sz="1800" dirty="0"/>
              <a:t>画像（紙に書いてスマホで写真でもよし）で提出してください</a:t>
            </a:r>
            <a:endParaRPr lang="en-US" altLang="ja-JP" sz="1800" dirty="0"/>
          </a:p>
          <a:p>
            <a:pPr lvl="1">
              <a:buFont typeface="+mj-lt"/>
              <a:buAutoNum type="arabicPeriod"/>
            </a:pPr>
            <a:r>
              <a:rPr lang="ja-JP" altLang="en-US" sz="1800" dirty="0"/>
              <a:t>感想や質問：　</a:t>
            </a:r>
            <a:endParaRPr lang="en-US" altLang="ja-JP" sz="1800" dirty="0"/>
          </a:p>
          <a:p>
            <a:pPr lvl="2"/>
            <a:r>
              <a:rPr lang="ja-JP" altLang="en-US" sz="1800" dirty="0"/>
              <a:t>「感想や質問」のところに投稿してください</a:t>
            </a:r>
            <a:endParaRPr lang="en-US" altLang="ja-JP" sz="1800" dirty="0"/>
          </a:p>
          <a:p>
            <a:pPr lvl="2"/>
            <a:r>
              <a:rPr lang="ja-JP" altLang="en-US" sz="1800" dirty="0"/>
              <a:t>わからない場所がある場合，具体的に書いてもらえると良いです</a:t>
            </a:r>
            <a:endParaRPr lang="en-US" altLang="ja-JP" sz="1800" dirty="0"/>
          </a:p>
          <a:p>
            <a:r>
              <a:rPr lang="ja-JP" altLang="en-US" sz="1800" dirty="0"/>
              <a:t>提出締め切り</a:t>
            </a:r>
            <a:endParaRPr lang="en-US" altLang="ja-JP" sz="1800" dirty="0"/>
          </a:p>
          <a:p>
            <a:pPr lvl="1"/>
            <a:r>
              <a:rPr lang="ja-JP" altLang="en-US" sz="1800" dirty="0"/>
              <a:t>来週の講義開始まで</a:t>
            </a:r>
            <a:endParaRPr lang="en-US" altLang="ja-JP" sz="1800" dirty="0"/>
          </a:p>
          <a:p>
            <a:r>
              <a:rPr lang="ja-JP" altLang="en-US" sz="1800" dirty="0"/>
              <a:t>注意：</a:t>
            </a:r>
            <a:endParaRPr lang="en-US" altLang="ja-JP" sz="1800" dirty="0"/>
          </a:p>
          <a:p>
            <a:pPr lvl="1"/>
            <a:r>
              <a:rPr lang="ja-JP" altLang="en-US" sz="1800" dirty="0"/>
              <a:t>課題の出来は，ある程度努力したあとがあれば良しです</a:t>
            </a:r>
            <a:endParaRPr lang="en-US" altLang="ja-JP" sz="1800" dirty="0"/>
          </a:p>
          <a:p>
            <a:pPr lvl="1"/>
            <a:r>
              <a:rPr lang="ja-JP" altLang="en-US" sz="1800" dirty="0"/>
              <a:t>必ずしも正解していなくても良いです</a:t>
            </a:r>
            <a:endParaRPr lang="en-US" altLang="ja-JP" sz="18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感想や質問</a:t>
            </a:r>
          </a:p>
        </p:txBody>
      </p:sp>
    </p:spTree>
    <p:extLst>
      <p:ext uri="{BB962C8B-B14F-4D97-AF65-F5344CB8AC3E}">
        <p14:creationId xmlns:p14="http://schemas.microsoft.com/office/powerpoint/2010/main" val="257237242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09B5DC-F8CA-C55F-BFBB-1B5752A4BFE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A5A566C-0471-B938-B941-0450ECF50318}"/>
              </a:ext>
            </a:extLst>
          </p:cNvPr>
          <p:cNvSpPr>
            <a:spLocks noGrp="1"/>
          </p:cNvSpPr>
          <p:nvPr>
            <p:ph type="body" sz="quarter" idx="10"/>
          </p:nvPr>
        </p:nvSpPr>
        <p:spPr/>
        <p:txBody>
          <a:bodyPr/>
          <a:lstStyle/>
          <a:p>
            <a:r>
              <a:rPr lang="ja-JP" altLang="en-US" dirty="0"/>
              <a:t>最近台湾に旅行に行ったため、半導体を思い出し、</a:t>
            </a:r>
            <a:r>
              <a:rPr lang="en-US" altLang="ja-JP" dirty="0"/>
              <a:t>CMOS</a:t>
            </a:r>
            <a:r>
              <a:rPr lang="ja-JP" altLang="en-US" dirty="0"/>
              <a:t>と半導体について少し調べてみたら、放射線がミクロな</a:t>
            </a:r>
            <a:r>
              <a:rPr lang="en-US" altLang="ja-JP" dirty="0"/>
              <a:t>CMOS</a:t>
            </a:r>
            <a:r>
              <a:rPr lang="ja-JP" altLang="en-US" dirty="0"/>
              <a:t>を通過すると、</a:t>
            </a:r>
            <a:r>
              <a:rPr lang="en-US" altLang="ja-JP" dirty="0"/>
              <a:t>0</a:t>
            </a:r>
            <a:r>
              <a:rPr lang="ja-JP" altLang="en-US" dirty="0"/>
              <a:t>が</a:t>
            </a:r>
            <a:r>
              <a:rPr lang="en-US" altLang="ja-JP" dirty="0"/>
              <a:t>1</a:t>
            </a:r>
            <a:r>
              <a:rPr lang="ja-JP" altLang="en-US" dirty="0"/>
              <a:t>に、</a:t>
            </a:r>
            <a:r>
              <a:rPr lang="en-US" altLang="ja-JP" dirty="0"/>
              <a:t>1</a:t>
            </a:r>
            <a:r>
              <a:rPr lang="ja-JP" altLang="en-US" dirty="0"/>
              <a:t>が</a:t>
            </a:r>
            <a:r>
              <a:rPr lang="en-US" altLang="ja-JP" dirty="0"/>
              <a:t>0</a:t>
            </a:r>
            <a:r>
              <a:rPr lang="ja-JP" altLang="en-US" dirty="0"/>
              <a:t>にひっくり返るソフトエラーという現象が起きてしまうそうで、そのため宇宙ロケットや人工衛星の制御には、あえて回路が大きくて頑丈な古い世代の半導体や、特殊な防護を施した回路が使われていると知り、半導体は万能だと思ってたので意外でした。</a:t>
            </a:r>
            <a:endParaRPr kumimoji="1" lang="en-US" dirty="0"/>
          </a:p>
        </p:txBody>
      </p:sp>
    </p:spTree>
    <p:extLst>
      <p:ext uri="{BB962C8B-B14F-4D97-AF65-F5344CB8AC3E}">
        <p14:creationId xmlns:p14="http://schemas.microsoft.com/office/powerpoint/2010/main" val="1250390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673D-37A7-B588-C884-2748472BB6D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10C3580-8C18-DA53-2A86-E81A178050CB}"/>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5346E9DA-EA28-EAD4-4A88-BFAA93A57AA7}"/>
              </a:ext>
            </a:extLst>
          </p:cNvPr>
          <p:cNvSpPr>
            <a:spLocks noGrp="1"/>
          </p:cNvSpPr>
          <p:nvPr>
            <p:ph type="body" sz="quarter" idx="10"/>
          </p:nvPr>
        </p:nvSpPr>
        <p:spPr/>
        <p:txBody>
          <a:bodyPr/>
          <a:lstStyle/>
          <a:p>
            <a:r>
              <a:rPr lang="ja-JP" altLang="en-US" dirty="0"/>
              <a:t>提出し忘れた感想を再提出することは可能ですか？</a:t>
            </a:r>
            <a:r>
              <a:rPr lang="en-US" altLang="ja-JP" dirty="0"/>
              <a:t>Moodle</a:t>
            </a:r>
            <a:r>
              <a:rPr lang="ja-JP" altLang="en-US" dirty="0"/>
              <a:t>では提出できない設定となっているようなのですが、その場合はメールでお送りしてもよろしいのでしょうか？</a:t>
            </a:r>
            <a:endParaRPr kumimoji="1" lang="en-US" dirty="0"/>
          </a:p>
        </p:txBody>
      </p:sp>
    </p:spTree>
    <p:extLst>
      <p:ext uri="{BB962C8B-B14F-4D97-AF65-F5344CB8AC3E}">
        <p14:creationId xmlns:p14="http://schemas.microsoft.com/office/powerpoint/2010/main" val="4657442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35348-3A07-D4DE-010E-6C89E25957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AEB10A-D37F-3994-191B-3B792BED52F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F538786-627E-6A6F-1961-DE5BDAAC3C5E}"/>
              </a:ext>
            </a:extLst>
          </p:cNvPr>
          <p:cNvSpPr>
            <a:spLocks noGrp="1"/>
          </p:cNvSpPr>
          <p:nvPr>
            <p:ph type="body" sz="quarter" idx="10"/>
          </p:nvPr>
        </p:nvSpPr>
        <p:spPr/>
        <p:txBody>
          <a:bodyPr/>
          <a:lstStyle/>
          <a:p>
            <a:r>
              <a:rPr lang="ja-JP" altLang="en-US" dirty="0"/>
              <a:t>マイクラにもオンとオフの考え方が使われているのが面白かった。論理回路を使って情報のやり取りができるというのがいまだに実感が湧かず、不思議な感じがした。</a:t>
            </a:r>
            <a:endParaRPr lang="en-US" altLang="ja-JP" dirty="0"/>
          </a:p>
          <a:p>
            <a:r>
              <a:rPr lang="ja-JP" altLang="en-US" dirty="0"/>
              <a:t>マイクラの話が出てきて嬉しかった。昔レッドストーンブロック等を使って色々作っていたのを思い出した。</a:t>
            </a:r>
            <a:endParaRPr kumimoji="1" lang="en-US" dirty="0"/>
          </a:p>
        </p:txBody>
      </p:sp>
    </p:spTree>
    <p:extLst>
      <p:ext uri="{BB962C8B-B14F-4D97-AF65-F5344CB8AC3E}">
        <p14:creationId xmlns:p14="http://schemas.microsoft.com/office/powerpoint/2010/main" val="1987294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4D51B-CE32-870F-13D2-1A0037A0B4C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3BFD49-2B70-FA74-B54C-AFCC3A2988B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0DE4788-6D84-04CA-7726-E8FD1C0B2168}"/>
              </a:ext>
            </a:extLst>
          </p:cNvPr>
          <p:cNvSpPr>
            <a:spLocks noGrp="1"/>
          </p:cNvSpPr>
          <p:nvPr>
            <p:ph type="body" sz="quarter" idx="10"/>
          </p:nvPr>
        </p:nvSpPr>
        <p:spPr/>
        <p:txBody>
          <a:bodyPr/>
          <a:lstStyle/>
          <a:p>
            <a:r>
              <a:rPr lang="ja-JP" altLang="en-US" dirty="0"/>
              <a:t>実際の端子（</a:t>
            </a:r>
            <a:r>
              <a:rPr lang="en-US" altLang="ja-JP" dirty="0"/>
              <a:t>G</a:t>
            </a:r>
            <a:r>
              <a:rPr lang="ja-JP" altLang="en-US" dirty="0"/>
              <a:t>や</a:t>
            </a:r>
            <a:r>
              <a:rPr lang="en-US" altLang="ja-JP" dirty="0"/>
              <a:t>S</a:t>
            </a:r>
            <a:r>
              <a:rPr lang="ja-JP" altLang="en-US" dirty="0"/>
              <a:t>など）のつながりから、見覚えのある論理回路へと組み上がっていく説明が面白かったです。</a:t>
            </a:r>
            <a:br>
              <a:rPr lang="ja-JP" altLang="en-US" dirty="0"/>
            </a:br>
            <a:r>
              <a:rPr lang="ja-JP" altLang="en-US" dirty="0"/>
              <a:t>私は論理回路が少し苦手だったのですが、今回の授業を通して具体的なイメージがはっきりし、これまでよりも身近なものに感じられるようになりました。</a:t>
            </a:r>
            <a:endParaRPr kumimoji="1" lang="en-US" dirty="0"/>
          </a:p>
        </p:txBody>
      </p:sp>
    </p:spTree>
    <p:extLst>
      <p:ext uri="{BB962C8B-B14F-4D97-AF65-F5344CB8AC3E}">
        <p14:creationId xmlns:p14="http://schemas.microsoft.com/office/powerpoint/2010/main" val="3966364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3E46D-CF14-CC50-DC01-7BF89CDA8B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D48CA0-6BA8-8A71-0DDC-2321300228F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99736F91-E114-816F-E473-476FA527EB5B}"/>
              </a:ext>
            </a:extLst>
          </p:cNvPr>
          <p:cNvSpPr>
            <a:spLocks noGrp="1"/>
          </p:cNvSpPr>
          <p:nvPr>
            <p:ph type="body" sz="quarter" idx="10"/>
          </p:nvPr>
        </p:nvSpPr>
        <p:spPr/>
        <p:txBody>
          <a:bodyPr/>
          <a:lstStyle/>
          <a:p>
            <a:r>
              <a:rPr lang="ja-JP" altLang="en-US" dirty="0"/>
              <a:t>スライドにあったマイクラの</a:t>
            </a:r>
            <a:r>
              <a:rPr lang="en-US" altLang="ja-JP" dirty="0"/>
              <a:t>NAND</a:t>
            </a:r>
            <a:r>
              <a:rPr lang="ja-JP" altLang="en-US" dirty="0"/>
              <a:t>回路が上手く作動してなさそうです。画像では両方のレバーがオンになってるのにライトもオンになってるので</a:t>
            </a:r>
            <a:r>
              <a:rPr lang="en-US" altLang="ja-JP" dirty="0"/>
              <a:t>……</a:t>
            </a:r>
            <a:br>
              <a:rPr lang="en-US" altLang="ja-JP" dirty="0"/>
            </a:br>
            <a:r>
              <a:rPr lang="ja-JP" altLang="en-US" dirty="0"/>
              <a:t>なので、自分で正しい回路作りました！正しく動作はしてます！</a:t>
            </a:r>
            <a:r>
              <a:rPr lang="en-US" altLang="ja-JP" dirty="0"/>
              <a:t>(</a:t>
            </a:r>
            <a:r>
              <a:rPr lang="ja-JP" altLang="en-US" dirty="0"/>
              <a:t>確認しました</a:t>
            </a:r>
            <a:r>
              <a:rPr lang="en-US" altLang="ja-JP" dirty="0"/>
              <a:t>)</a:t>
            </a:r>
            <a:br>
              <a:rPr lang="en-US" altLang="ja-JP" dirty="0"/>
            </a:br>
            <a:r>
              <a:rPr lang="ja-JP" altLang="en-US" dirty="0"/>
              <a:t>入力が</a:t>
            </a:r>
            <a:r>
              <a:rPr lang="en-US" altLang="ja-JP" dirty="0"/>
              <a:t>3</a:t>
            </a:r>
            <a:r>
              <a:rPr lang="ja-JP" altLang="en-US" dirty="0"/>
              <a:t>つの場合の</a:t>
            </a:r>
            <a:r>
              <a:rPr lang="en-US" altLang="ja-JP" dirty="0"/>
              <a:t>AND</a:t>
            </a:r>
            <a:r>
              <a:rPr lang="ja-JP" altLang="en-US" dirty="0"/>
              <a:t>回路と</a:t>
            </a:r>
            <a:r>
              <a:rPr lang="en-US" altLang="ja-JP" dirty="0"/>
              <a:t>OR</a:t>
            </a:r>
            <a:r>
              <a:rPr lang="ja-JP" altLang="en-US" dirty="0"/>
              <a:t>回路も作りました</a:t>
            </a:r>
            <a:r>
              <a:rPr lang="en-US" altLang="ja-JP" dirty="0"/>
              <a:t>……(</a:t>
            </a:r>
            <a:r>
              <a:rPr lang="ja-JP" altLang="en-US" dirty="0"/>
              <a:t>これも正しく動いているか確認済みです</a:t>
            </a:r>
            <a:r>
              <a:rPr lang="en-US" altLang="ja-JP" dirty="0"/>
              <a:t>)</a:t>
            </a:r>
            <a:endParaRPr kumimoji="1" lang="en-US" dirty="0"/>
          </a:p>
        </p:txBody>
      </p:sp>
    </p:spTree>
    <p:extLst>
      <p:ext uri="{BB962C8B-B14F-4D97-AF65-F5344CB8AC3E}">
        <p14:creationId xmlns:p14="http://schemas.microsoft.com/office/powerpoint/2010/main" val="20017210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B4989-AA9B-4F85-4629-4E44DE24283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D48C74-F62A-7E62-DD5F-17D1C31AD48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B0F60E46-3A39-988B-B640-7BDED43EBBE0}"/>
              </a:ext>
            </a:extLst>
          </p:cNvPr>
          <p:cNvSpPr>
            <a:spLocks noGrp="1"/>
          </p:cNvSpPr>
          <p:nvPr>
            <p:ph type="body" sz="quarter" idx="10"/>
          </p:nvPr>
        </p:nvSpPr>
        <p:spPr/>
        <p:txBody>
          <a:bodyPr/>
          <a:lstStyle/>
          <a:p>
            <a:r>
              <a:rPr lang="ja-JP" altLang="en-US" dirty="0"/>
              <a:t>コンピューターや</a:t>
            </a:r>
            <a:r>
              <a:rPr lang="en-US" altLang="ja-JP" dirty="0"/>
              <a:t>AI</a:t>
            </a:r>
            <a:r>
              <a:rPr lang="ja-JP" altLang="en-US" dirty="0"/>
              <a:t>、ゲームはどういう仕組みで動いてるか、というのの答えがスイッチのオンオフの要素の積み重ねであるというのは意外でした。ただスイッチから論理ゲート、計算や記憶、</a:t>
            </a:r>
            <a:r>
              <a:rPr lang="en-US" altLang="ja-JP" dirty="0"/>
              <a:t>CPU</a:t>
            </a:r>
            <a:r>
              <a:rPr lang="ja-JP" altLang="en-US" dirty="0"/>
              <a:t>・・・と進んでいく過程を理解したことで納得できました。</a:t>
            </a:r>
            <a:endParaRPr kumimoji="1" lang="en-US" dirty="0"/>
          </a:p>
        </p:txBody>
      </p:sp>
    </p:spTree>
    <p:extLst>
      <p:ext uri="{BB962C8B-B14F-4D97-AF65-F5344CB8AC3E}">
        <p14:creationId xmlns:p14="http://schemas.microsoft.com/office/powerpoint/2010/main" val="2779214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238F1-03AD-FF4D-2FB2-AA072889F1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8D4E8E-163E-95CE-4DF6-ADB4DE0069CB}"/>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38D9E08-B0B6-D3EA-86B9-EA1C44227CBA}"/>
              </a:ext>
            </a:extLst>
          </p:cNvPr>
          <p:cNvSpPr>
            <a:spLocks noGrp="1"/>
          </p:cNvSpPr>
          <p:nvPr>
            <p:ph type="body" sz="quarter" idx="10"/>
          </p:nvPr>
        </p:nvSpPr>
        <p:spPr/>
        <p:txBody>
          <a:bodyPr/>
          <a:lstStyle/>
          <a:p>
            <a:r>
              <a:rPr lang="en-US" altLang="ja-JP" dirty="0"/>
              <a:t>GND</a:t>
            </a:r>
            <a:r>
              <a:rPr lang="ja-JP" altLang="en-US" dirty="0"/>
              <a:t>ってなんだ？となっていたのですが、高校等で習う「アース」と同義だと捉えていいのでしょうか？</a:t>
            </a:r>
            <a:br>
              <a:rPr lang="ja-JP" altLang="en-US" dirty="0"/>
            </a:br>
            <a:r>
              <a:rPr lang="ja-JP" altLang="en-US" dirty="0"/>
              <a:t>また、課題に関する質問は課題とこちらのどちらに書いたらいいでしょうか？</a:t>
            </a:r>
            <a:r>
              <a:rPr lang="en-US" altLang="ja-JP" dirty="0"/>
              <a:t>(</a:t>
            </a:r>
            <a:r>
              <a:rPr lang="ja-JP" altLang="en-US" dirty="0"/>
              <a:t>今週は課題の方に、課題に関する質問を書きました</a:t>
            </a:r>
            <a:r>
              <a:rPr lang="en-US" altLang="ja-JP" dirty="0"/>
              <a:t>)</a:t>
            </a:r>
            <a:endParaRPr kumimoji="1" lang="en-US" dirty="0"/>
          </a:p>
        </p:txBody>
      </p:sp>
    </p:spTree>
    <p:extLst>
      <p:ext uri="{BB962C8B-B14F-4D97-AF65-F5344CB8AC3E}">
        <p14:creationId xmlns:p14="http://schemas.microsoft.com/office/powerpoint/2010/main" val="234457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F3294-298E-30DB-6717-81B8A5C63AC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FC0694-49A4-7AA8-824C-E907D92DE4E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15611E5D-2411-B79A-CD2E-36E684032B90}"/>
              </a:ext>
            </a:extLst>
          </p:cNvPr>
          <p:cNvSpPr>
            <a:spLocks noGrp="1"/>
          </p:cNvSpPr>
          <p:nvPr>
            <p:ph type="body" sz="quarter" idx="10"/>
          </p:nvPr>
        </p:nvSpPr>
        <p:spPr/>
        <p:txBody>
          <a:bodyPr/>
          <a:lstStyle/>
          <a:p>
            <a:r>
              <a:rPr lang="ja-JP" altLang="en-US" dirty="0"/>
              <a:t>高校生物選択の者です。今回の講義の中で高校物理の知識が出てきましたが、コンピュータを扱っていく上で、やはり物理の自主学習は必要なのでしょうか。分野によるのであれば、それもお聞きしたいです。</a:t>
            </a:r>
            <a:endParaRPr kumimoji="1" lang="en-US" dirty="0"/>
          </a:p>
        </p:txBody>
      </p:sp>
    </p:spTree>
    <p:extLst>
      <p:ext uri="{BB962C8B-B14F-4D97-AF65-F5344CB8AC3E}">
        <p14:creationId xmlns:p14="http://schemas.microsoft.com/office/powerpoint/2010/main" val="17412322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1F750-3E72-0206-54B5-377918F4D3C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0C680D-935A-7EDC-D818-B7DF1B80F628}"/>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BA0473BB-20A8-B396-E9D5-F70FAAEE310C}"/>
              </a:ext>
            </a:extLst>
          </p:cNvPr>
          <p:cNvSpPr>
            <a:spLocks noGrp="1"/>
          </p:cNvSpPr>
          <p:nvPr>
            <p:ph type="body" sz="quarter" idx="10"/>
          </p:nvPr>
        </p:nvSpPr>
        <p:spPr/>
        <p:txBody>
          <a:bodyPr/>
          <a:lstStyle/>
          <a:p>
            <a:r>
              <a:rPr lang="ja-JP" altLang="en-US" dirty="0"/>
              <a:t>レッドストーン回路で四則演算をできたということは、マイクラでプログラミングできる</a:t>
            </a:r>
            <a:r>
              <a:rPr lang="en-US" altLang="ja-JP" dirty="0"/>
              <a:t>(</a:t>
            </a:r>
            <a:r>
              <a:rPr lang="ja-JP" altLang="en-US" dirty="0"/>
              <a:t>理論上は</a:t>
            </a:r>
            <a:r>
              <a:rPr lang="en-US" altLang="ja-JP" dirty="0"/>
              <a:t>……)</a:t>
            </a:r>
            <a:r>
              <a:rPr lang="ja-JP" altLang="en-US" dirty="0"/>
              <a:t>ってことですよね</a:t>
            </a:r>
            <a:endParaRPr kumimoji="1" lang="en-US" dirty="0"/>
          </a:p>
        </p:txBody>
      </p:sp>
    </p:spTree>
    <p:extLst>
      <p:ext uri="{BB962C8B-B14F-4D97-AF65-F5344CB8AC3E}">
        <p14:creationId xmlns:p14="http://schemas.microsoft.com/office/powerpoint/2010/main" val="31469455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28639-84B5-E48E-DE51-33F6E314EC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0CDB6A-5749-2376-7257-FCA719F2EF06}"/>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DCB9B4F6-84A7-406E-9D87-A7130D80C3DE}"/>
              </a:ext>
            </a:extLst>
          </p:cNvPr>
          <p:cNvSpPr>
            <a:spLocks noGrp="1"/>
          </p:cNvSpPr>
          <p:nvPr>
            <p:ph type="body" sz="quarter" idx="10"/>
          </p:nvPr>
        </p:nvSpPr>
        <p:spPr/>
        <p:txBody>
          <a:bodyPr/>
          <a:lstStyle/>
          <a:p>
            <a:r>
              <a:rPr lang="ja-JP" altLang="en-US" dirty="0"/>
              <a:t>課題</a:t>
            </a:r>
            <a:r>
              <a:rPr lang="en-US" altLang="ja-JP" dirty="0"/>
              <a:t>4</a:t>
            </a:r>
            <a:r>
              <a:rPr lang="ja-JP" altLang="en-US" dirty="0"/>
              <a:t>のヒントで「講義中の </a:t>
            </a:r>
            <a:r>
              <a:rPr lang="en-US" altLang="ja-JP" dirty="0"/>
              <a:t>for </a:t>
            </a:r>
            <a:r>
              <a:rPr lang="ja-JP" altLang="en-US" dirty="0"/>
              <a:t>文の例のようにメモリ上に</a:t>
            </a:r>
            <a:r>
              <a:rPr lang="en-US" altLang="ja-JP" dirty="0" err="1"/>
              <a:t>i</a:t>
            </a:r>
            <a:r>
              <a:rPr lang="ja-JP" altLang="en-US" dirty="0"/>
              <a:t>を置くとややこしいので、レジスタの上で全て終わらした方が楽」とありますが、これは常にそうなのですか？それとも、プログラムがある程度の規模になれば</a:t>
            </a:r>
            <a:r>
              <a:rPr lang="en-US" altLang="ja-JP" dirty="0"/>
              <a:t>for</a:t>
            </a:r>
            <a:r>
              <a:rPr lang="ja-JP" altLang="en-US" dirty="0"/>
              <a:t>文の方が楽になりますか？</a:t>
            </a:r>
            <a:endParaRPr kumimoji="1" lang="en-US" dirty="0"/>
          </a:p>
        </p:txBody>
      </p:sp>
    </p:spTree>
    <p:extLst>
      <p:ext uri="{BB962C8B-B14F-4D97-AF65-F5344CB8AC3E}">
        <p14:creationId xmlns:p14="http://schemas.microsoft.com/office/powerpoint/2010/main" val="1002639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5BF74-1499-B9B2-759F-2C1305B135A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3C3BED-CD1B-1A39-04FB-34317F1CDB1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2A7E5174-99A1-A12F-14AD-5624093363AC}"/>
              </a:ext>
            </a:extLst>
          </p:cNvPr>
          <p:cNvSpPr>
            <a:spLocks noGrp="1"/>
          </p:cNvSpPr>
          <p:nvPr>
            <p:ph type="body" sz="quarter" idx="10"/>
          </p:nvPr>
        </p:nvSpPr>
        <p:spPr/>
        <p:txBody>
          <a:bodyPr/>
          <a:lstStyle/>
          <a:p>
            <a:r>
              <a:rPr lang="en-US" altLang="ja-JP" dirty="0"/>
              <a:t>P</a:t>
            </a:r>
            <a:r>
              <a:rPr lang="ja-JP" altLang="en-US" dirty="0"/>
              <a:t>型と</a:t>
            </a:r>
            <a:r>
              <a:rPr lang="en-US" altLang="ja-JP" dirty="0"/>
              <a:t>N</a:t>
            </a:r>
            <a:r>
              <a:rPr lang="ja-JP" altLang="en-US" dirty="0"/>
              <a:t>型を繋げて</a:t>
            </a:r>
            <a:r>
              <a:rPr lang="en-US" altLang="ja-JP" dirty="0"/>
              <a:t>NOT</a:t>
            </a:r>
            <a:r>
              <a:rPr lang="ja-JP" altLang="en-US" dirty="0"/>
              <a:t>ゲートや</a:t>
            </a:r>
            <a:r>
              <a:rPr lang="en-US" altLang="ja-JP" dirty="0"/>
              <a:t>NAND</a:t>
            </a:r>
            <a:r>
              <a:rPr lang="ja-JP" altLang="en-US" dirty="0"/>
              <a:t>ゲートを作るのはパズルみたいで面白かった。</a:t>
            </a:r>
            <a:endParaRPr kumimoji="1" lang="en-US" dirty="0"/>
          </a:p>
        </p:txBody>
      </p:sp>
    </p:spTree>
    <p:extLst>
      <p:ext uri="{BB962C8B-B14F-4D97-AF65-F5344CB8AC3E}">
        <p14:creationId xmlns:p14="http://schemas.microsoft.com/office/powerpoint/2010/main" val="2531910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CB482-1C91-25A1-135D-275BA7A89A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C3082A-8E79-346E-BA15-4B236CB5502E}"/>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C92B176-3398-86E0-2436-69E50A5E4129}"/>
              </a:ext>
            </a:extLst>
          </p:cNvPr>
          <p:cNvSpPr>
            <a:spLocks noGrp="1"/>
          </p:cNvSpPr>
          <p:nvPr>
            <p:ph type="body" sz="quarter" idx="10"/>
          </p:nvPr>
        </p:nvSpPr>
        <p:spPr/>
        <p:txBody>
          <a:bodyPr/>
          <a:lstStyle/>
          <a:p>
            <a:r>
              <a:rPr lang="ja-JP" altLang="en-US" dirty="0"/>
              <a:t>リレーの電圧をかけてスイッチが押される仕組みが面白かったです。富士通の計算機をぜひ見てみたいと思いました。</a:t>
            </a:r>
            <a:endParaRPr kumimoji="1" lang="en-US" dirty="0"/>
          </a:p>
        </p:txBody>
      </p:sp>
    </p:spTree>
    <p:extLst>
      <p:ext uri="{BB962C8B-B14F-4D97-AF65-F5344CB8AC3E}">
        <p14:creationId xmlns:p14="http://schemas.microsoft.com/office/powerpoint/2010/main" val="2943312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CC08-3813-0093-D649-A33924C595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0AE098-9E0F-EF15-77F0-6F3933338CC1}"/>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FF81E92E-5FBC-6F70-FF01-1627F78D548F}"/>
              </a:ext>
            </a:extLst>
          </p:cNvPr>
          <p:cNvSpPr>
            <a:spLocks noGrp="1"/>
          </p:cNvSpPr>
          <p:nvPr>
            <p:ph type="body" sz="quarter" idx="10"/>
          </p:nvPr>
        </p:nvSpPr>
        <p:spPr/>
        <p:txBody>
          <a:bodyPr/>
          <a:lstStyle/>
          <a:p>
            <a:r>
              <a:rPr lang="en-US" altLang="ja-JP" dirty="0"/>
              <a:t>P</a:t>
            </a:r>
            <a:r>
              <a:rPr lang="ja-JP" altLang="en-US" dirty="0"/>
              <a:t>型</a:t>
            </a:r>
            <a:r>
              <a:rPr lang="en-US" altLang="ja-JP" dirty="0"/>
              <a:t>N</a:t>
            </a:r>
            <a:r>
              <a:rPr lang="ja-JP" altLang="en-US" dirty="0"/>
              <a:t>型を用いた</a:t>
            </a:r>
            <a:r>
              <a:rPr lang="en-US" altLang="ja-JP" dirty="0"/>
              <a:t>NAND</a:t>
            </a:r>
            <a:r>
              <a:rPr lang="ja-JP" altLang="en-US" dirty="0"/>
              <a:t>回路の構成は、時間をかけて図を見れば理解できるのですが、一瞬で理解できるようになるべきでしょうか。</a:t>
            </a:r>
            <a:endParaRPr kumimoji="1" lang="en-US" dirty="0"/>
          </a:p>
        </p:txBody>
      </p:sp>
    </p:spTree>
    <p:extLst>
      <p:ext uri="{BB962C8B-B14F-4D97-AF65-F5344CB8AC3E}">
        <p14:creationId xmlns:p14="http://schemas.microsoft.com/office/powerpoint/2010/main" val="1699836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36624-0678-5AC5-EFFE-7ED8EC8837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3EF2AD-6B1E-89B5-2370-AB28A3474414}"/>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3897A6B9-4D96-EFEA-DE6E-D44956820D2A}"/>
              </a:ext>
            </a:extLst>
          </p:cNvPr>
          <p:cNvSpPr>
            <a:spLocks noGrp="1"/>
          </p:cNvSpPr>
          <p:nvPr>
            <p:ph type="body" sz="quarter" idx="10"/>
          </p:nvPr>
        </p:nvSpPr>
        <p:spPr/>
        <p:txBody>
          <a:bodyPr/>
          <a:lstStyle/>
          <a:p>
            <a:r>
              <a:rPr lang="ja-JP" altLang="en-US" dirty="0"/>
              <a:t>アセンブリの勉強をするならと友人に紹介されました。</a:t>
            </a:r>
            <a:br>
              <a:rPr lang="ja-JP" altLang="en-US" dirty="0"/>
            </a:br>
            <a:r>
              <a:rPr lang="ja-JP" altLang="en-US" dirty="0"/>
              <a:t>いじってみたら割と面白かったのでぜひ</a:t>
            </a:r>
            <a:br>
              <a:rPr lang="ja-JP" altLang="en-US" dirty="0"/>
            </a:br>
            <a:r>
              <a:rPr lang="en-US" altLang="ja-JP" dirty="0"/>
              <a:t>https://godbolt.org/</a:t>
            </a:r>
            <a:endParaRPr kumimoji="1" lang="en-US" dirty="0"/>
          </a:p>
        </p:txBody>
      </p:sp>
    </p:spTree>
    <p:extLst>
      <p:ext uri="{BB962C8B-B14F-4D97-AF65-F5344CB8AC3E}">
        <p14:creationId xmlns:p14="http://schemas.microsoft.com/office/powerpoint/2010/main" val="28190631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D4BFC-CE1E-DD7F-D8BF-DEECB6E436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92861E-F3C4-499D-BF65-9D45C4615E6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9F878B8F-B0C7-B90E-720C-AF822147F6CA}"/>
              </a:ext>
            </a:extLst>
          </p:cNvPr>
          <p:cNvSpPr>
            <a:spLocks noGrp="1"/>
          </p:cNvSpPr>
          <p:nvPr>
            <p:ph type="body" sz="quarter" idx="10"/>
          </p:nvPr>
        </p:nvSpPr>
        <p:spPr/>
        <p:txBody>
          <a:bodyPr/>
          <a:lstStyle/>
          <a:p>
            <a:r>
              <a:rPr lang="ja-JP" altLang="en-US" dirty="0"/>
              <a:t>去年習った論理回路と電流の説明でよく出てくる水で説明するものが出てきて懐かしく感じた。タンクシステムは聞いたことがなかったため興味深かった。</a:t>
            </a:r>
            <a:endParaRPr kumimoji="1" lang="en-US" dirty="0"/>
          </a:p>
        </p:txBody>
      </p:sp>
    </p:spTree>
    <p:extLst>
      <p:ext uri="{BB962C8B-B14F-4D97-AF65-F5344CB8AC3E}">
        <p14:creationId xmlns:p14="http://schemas.microsoft.com/office/powerpoint/2010/main" val="3459874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41208-A56F-67DE-8BBF-E2239788FEE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3904EC-4599-9B61-B5F4-ED608AB9578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9D389FCE-085A-802F-3F52-C94E97A9A002}"/>
              </a:ext>
            </a:extLst>
          </p:cNvPr>
          <p:cNvSpPr>
            <a:spLocks noGrp="1"/>
          </p:cNvSpPr>
          <p:nvPr>
            <p:ph type="body" sz="quarter" idx="10"/>
          </p:nvPr>
        </p:nvSpPr>
        <p:spPr/>
        <p:txBody>
          <a:bodyPr/>
          <a:lstStyle/>
          <a:p>
            <a:r>
              <a:rPr lang="ja-JP" altLang="en-US" dirty="0"/>
              <a:t>論理回路は</a:t>
            </a:r>
            <a:r>
              <a:rPr lang="en-US" altLang="ja-JP" dirty="0"/>
              <a:t>1</a:t>
            </a:r>
            <a:r>
              <a:rPr lang="ja-JP" altLang="en-US" dirty="0"/>
              <a:t>年生の時に受けた数理基礎論と被る部分が多く、思い出しました。自分もマインクラフトでレッドストーン回路を用いて自動装置を作ったことがあるのですが、</a:t>
            </a:r>
            <a:r>
              <a:rPr lang="en-US" altLang="ja-JP" dirty="0" err="1"/>
              <a:t>Youtube</a:t>
            </a:r>
            <a:r>
              <a:rPr lang="ja-JP" altLang="en-US" dirty="0"/>
              <a:t>で他の人があげた動画の通りに作っただけだったので、このような回路を最初に思いつく人はすごいなと思いました。</a:t>
            </a:r>
            <a:endParaRPr kumimoji="1" lang="en-US" dirty="0"/>
          </a:p>
        </p:txBody>
      </p:sp>
    </p:spTree>
    <p:extLst>
      <p:ext uri="{BB962C8B-B14F-4D97-AF65-F5344CB8AC3E}">
        <p14:creationId xmlns:p14="http://schemas.microsoft.com/office/powerpoint/2010/main" val="2283508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51B47-D492-32D4-3262-CFD619D1F04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14C3EF-9F5B-E93F-78E0-A446694EE969}"/>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56DA2849-63AF-2656-10C0-F05C93E83543}"/>
              </a:ext>
            </a:extLst>
          </p:cNvPr>
          <p:cNvSpPr>
            <a:spLocks noGrp="1"/>
          </p:cNvSpPr>
          <p:nvPr>
            <p:ph type="body" sz="quarter" idx="10"/>
          </p:nvPr>
        </p:nvSpPr>
        <p:spPr/>
        <p:txBody>
          <a:bodyPr/>
          <a:lstStyle/>
          <a:p>
            <a:r>
              <a:rPr lang="ja-JP" altLang="en-US" dirty="0"/>
              <a:t>消費電力のお話で、</a:t>
            </a:r>
            <a:r>
              <a:rPr lang="en-US" altLang="ja-JP" dirty="0"/>
              <a:t>CMOS</a:t>
            </a:r>
            <a:r>
              <a:rPr lang="ja-JP" altLang="en-US" dirty="0"/>
              <a:t>のリーク電流について「栓が完璧ではないので常時少し漏れている状態」という説明がありました。今後、半導体の微細化がさらに進んで全体が小さくなっていった場合、この「漏れ（リーク電流）」の影響は今よりも大きくなってしまうのでしょうか？</a:t>
            </a:r>
            <a:endParaRPr kumimoji="1" lang="en-US" dirty="0"/>
          </a:p>
        </p:txBody>
      </p:sp>
    </p:spTree>
    <p:extLst>
      <p:ext uri="{BB962C8B-B14F-4D97-AF65-F5344CB8AC3E}">
        <p14:creationId xmlns:p14="http://schemas.microsoft.com/office/powerpoint/2010/main" val="1345537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BA86-A738-DB73-2E7B-66C5FD604B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B60C07-5D5E-904B-7F30-DFC2906D1535}"/>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9740A6F5-7EDE-6624-B830-0958261F138F}"/>
              </a:ext>
            </a:extLst>
          </p:cNvPr>
          <p:cNvSpPr>
            <a:spLocks noGrp="1"/>
          </p:cNvSpPr>
          <p:nvPr>
            <p:ph type="body" sz="quarter" idx="10"/>
          </p:nvPr>
        </p:nvSpPr>
        <p:spPr/>
        <p:txBody>
          <a:bodyPr/>
          <a:lstStyle/>
          <a:p>
            <a:r>
              <a:rPr lang="ja-JP" altLang="en-US" dirty="0"/>
              <a:t>ラベル</a:t>
            </a:r>
            <a:r>
              <a:rPr lang="en-US" altLang="ja-JP" dirty="0"/>
              <a:t>A</a:t>
            </a:r>
            <a:r>
              <a:rPr lang="ja-JP" altLang="en-US" dirty="0"/>
              <a:t>の中で、ラベル</a:t>
            </a:r>
            <a:r>
              <a:rPr lang="en-US" altLang="ja-JP" dirty="0"/>
              <a:t>A</a:t>
            </a:r>
            <a:r>
              <a:rPr lang="ja-JP" altLang="en-US" dirty="0"/>
              <a:t>に飛ぶことはできますか？</a:t>
            </a:r>
          </a:p>
          <a:p>
            <a:r>
              <a:rPr lang="ja-JP" altLang="en-US" dirty="0"/>
              <a:t>具体的には</a:t>
            </a:r>
            <a:br>
              <a:rPr lang="ja-JP" altLang="en-US" dirty="0"/>
            </a:br>
            <a:endParaRPr lang="ja-JP" altLang="en-US" dirty="0"/>
          </a:p>
          <a:p>
            <a:r>
              <a:rPr lang="en-US" altLang="ja-JP" dirty="0"/>
              <a:t>LABEL:</a:t>
            </a:r>
          </a:p>
          <a:p>
            <a:r>
              <a:rPr lang="en-US" altLang="ja-JP" dirty="0"/>
              <a:t>  b LABEL</a:t>
            </a:r>
          </a:p>
          <a:p>
            <a:r>
              <a:rPr lang="ja-JP" altLang="en-US" dirty="0"/>
              <a:t>のようなことは可能でしょうか？</a:t>
            </a:r>
            <a:endParaRPr kumimoji="1" lang="en-US" dirty="0"/>
          </a:p>
        </p:txBody>
      </p:sp>
    </p:spTree>
    <p:extLst>
      <p:ext uri="{BB962C8B-B14F-4D97-AF65-F5344CB8AC3E}">
        <p14:creationId xmlns:p14="http://schemas.microsoft.com/office/powerpoint/2010/main" val="155223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74C9D-6F6D-8B87-8DFE-929AF0E323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842710-E7FD-F1AA-42A1-B91C90E41484}"/>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0D742240-AF38-88DC-B4BD-A423FAAFADD1}"/>
              </a:ext>
            </a:extLst>
          </p:cNvPr>
          <p:cNvSpPr>
            <a:spLocks noGrp="1"/>
          </p:cNvSpPr>
          <p:nvPr>
            <p:ph type="body" sz="quarter" idx="10"/>
          </p:nvPr>
        </p:nvSpPr>
        <p:spPr/>
        <p:txBody>
          <a:bodyPr/>
          <a:lstStyle/>
          <a:p>
            <a:r>
              <a:rPr lang="en-US" altLang="ja-JP" dirty="0"/>
              <a:t>P.17</a:t>
            </a:r>
            <a:r>
              <a:rPr lang="ja-JP" altLang="en-US" dirty="0"/>
              <a:t>の電位に関して、先週の講義では高低を理解しやすいように</a:t>
            </a:r>
            <a:r>
              <a:rPr lang="en-US" altLang="ja-JP" dirty="0"/>
              <a:t>2</a:t>
            </a:r>
            <a:r>
              <a:rPr lang="ja-JP" altLang="en-US" dirty="0"/>
              <a:t>進数にしてると言っていたが、どこにも繋がっていない信号線の電位を</a:t>
            </a:r>
            <a:r>
              <a:rPr lang="en-US" altLang="ja-JP" dirty="0"/>
              <a:t>Z</a:t>
            </a:r>
            <a:r>
              <a:rPr lang="ja-JP" altLang="en-US" dirty="0"/>
              <a:t>としていて、これはどう表されるのかが分からなかった。</a:t>
            </a:r>
          </a:p>
          <a:p>
            <a:endParaRPr kumimoji="1" lang="en-US" dirty="0"/>
          </a:p>
        </p:txBody>
      </p:sp>
    </p:spTree>
    <p:extLst>
      <p:ext uri="{BB962C8B-B14F-4D97-AF65-F5344CB8AC3E}">
        <p14:creationId xmlns:p14="http://schemas.microsoft.com/office/powerpoint/2010/main" val="2246056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405B2-6CBB-C9FA-A50E-DA1DA44262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BEC2193-27FF-13D0-AB56-23EBDBC6FE2A}"/>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E653C489-1021-1843-D552-E12061F464E4}"/>
              </a:ext>
            </a:extLst>
          </p:cNvPr>
          <p:cNvSpPr>
            <a:spLocks noGrp="1"/>
          </p:cNvSpPr>
          <p:nvPr>
            <p:ph type="body" sz="quarter" idx="10"/>
          </p:nvPr>
        </p:nvSpPr>
        <p:spPr/>
        <p:txBody>
          <a:bodyPr/>
          <a:lstStyle/>
          <a:p>
            <a:r>
              <a:rPr lang="ja-JP" altLang="en-US" dirty="0"/>
              <a:t>リレーや真空管、</a:t>
            </a:r>
            <a:r>
              <a:rPr lang="en-US" altLang="ja-JP" dirty="0"/>
              <a:t>CMOS</a:t>
            </a:r>
            <a:r>
              <a:rPr lang="ja-JP" altLang="en-US" dirty="0"/>
              <a:t>はすべてスイッチで、そのスイッチを組み合わせることで論理回路を作ることができ、論理回路を作ることができたらコンピューターを作ることができるという認識で合っていますか？</a:t>
            </a:r>
          </a:p>
          <a:p>
            <a:r>
              <a:rPr lang="ja-JP" altLang="en-US" dirty="0"/>
              <a:t>また、スマホには何個のスイッチが含まれているのか調べたところ数千万個～数百億個と書いてありました。そんなに多くのスイッチが自分のスマホの中にあるとは到底思えないのですが、本当にそんなに多いのでしょうか。もしそうだとしたら技術の高さにとても驚きます。</a:t>
            </a:r>
          </a:p>
          <a:p>
            <a:endParaRPr kumimoji="1" lang="en-US" dirty="0"/>
          </a:p>
        </p:txBody>
      </p:sp>
    </p:spTree>
    <p:extLst>
      <p:ext uri="{BB962C8B-B14F-4D97-AF65-F5344CB8AC3E}">
        <p14:creationId xmlns:p14="http://schemas.microsoft.com/office/powerpoint/2010/main" val="27627583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F23C5-4426-FBD2-E97F-9A5311F6304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0B2BCD2-21D9-0399-F085-0B014B82B35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71171873-AB11-A571-BFF5-C16DCF47287F}"/>
              </a:ext>
            </a:extLst>
          </p:cNvPr>
          <p:cNvSpPr>
            <a:spLocks noGrp="1"/>
          </p:cNvSpPr>
          <p:nvPr>
            <p:ph type="body" sz="quarter" idx="10"/>
          </p:nvPr>
        </p:nvSpPr>
        <p:spPr/>
        <p:txBody>
          <a:bodyPr/>
          <a:lstStyle/>
          <a:p>
            <a:br>
              <a:rPr lang="ja-JP" altLang="en-US" dirty="0"/>
            </a:br>
            <a:r>
              <a:rPr lang="ja-JP" altLang="en-US" dirty="0"/>
              <a:t>本講義で最も印象に残ったのは、出力にかかるまでの時間の正体は、コンデンサの充放電にかかる時間による遅延だということである。プログラムという論理の世界が、高校時代の物理の授業で学んだような、ある意味泥臭い物理現象の上で動いているということを実感し、軽く面を食らった。同様に、高い電圧をかけると処理がより速く行われ、スイッチのオンオフが早くなるということから、消費エネルギーの問題だけでなく、物理的なコンピュータの設備や部品の消耗も高い電圧をかけるほど激しくなると思われ、「パソコンを酷使させないように」という言い伝えの背景には、このコンピュータの仕組みが関係しているのであろうと考えた。</a:t>
            </a:r>
            <a:endParaRPr kumimoji="1" lang="en-US" dirty="0"/>
          </a:p>
        </p:txBody>
      </p:sp>
    </p:spTree>
    <p:extLst>
      <p:ext uri="{BB962C8B-B14F-4D97-AF65-F5344CB8AC3E}">
        <p14:creationId xmlns:p14="http://schemas.microsoft.com/office/powerpoint/2010/main" val="24932114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215A6-CCD0-AF47-EC96-24AD26BCD81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64096EE-71A6-ED3F-29BB-BAB64497755B}"/>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1A36A2E-D066-2E8F-00A2-567E414AFF18}"/>
              </a:ext>
            </a:extLst>
          </p:cNvPr>
          <p:cNvSpPr>
            <a:spLocks noGrp="1"/>
          </p:cNvSpPr>
          <p:nvPr>
            <p:ph type="body" sz="quarter" idx="10"/>
          </p:nvPr>
        </p:nvSpPr>
        <p:spPr/>
        <p:txBody>
          <a:bodyPr/>
          <a:lstStyle/>
          <a:p>
            <a:r>
              <a:rPr lang="ja-JP" altLang="en-US" dirty="0"/>
              <a:t>課題に関して、前々回の課題ではループが終了した後にも処理があったので、</a:t>
            </a:r>
            <a:r>
              <a:rPr lang="en-US" altLang="ja-JP" dirty="0"/>
              <a:t>LABEL</a:t>
            </a:r>
            <a:r>
              <a:rPr lang="ja-JP" altLang="en-US" dirty="0"/>
              <a:t>で処理が終了する場合、処理終了の合図となるようなアセンブリ言語があるのか気になりました。また、何も下に書かなかった場合（</a:t>
            </a:r>
            <a:r>
              <a:rPr lang="en-US" altLang="ja-JP" dirty="0"/>
              <a:t>LABEL:</a:t>
            </a:r>
            <a:r>
              <a:rPr lang="ja-JP" altLang="en-US" dirty="0"/>
              <a:t>で終わった場合）、処理はそのままただ終了してくれるのでしょうか、終了合図はいらないのでしょうか。</a:t>
            </a:r>
            <a:endParaRPr kumimoji="1" lang="en-US" dirty="0"/>
          </a:p>
        </p:txBody>
      </p:sp>
    </p:spTree>
    <p:extLst>
      <p:ext uri="{BB962C8B-B14F-4D97-AF65-F5344CB8AC3E}">
        <p14:creationId xmlns:p14="http://schemas.microsoft.com/office/powerpoint/2010/main" val="31574458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85CC-1D4C-0675-9BBE-C0BBECB119C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865D6D4-739B-C5A9-B5FE-D2161BCABA17}"/>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4E1AD99-336E-F2D2-5296-AB34591C4B85}"/>
              </a:ext>
            </a:extLst>
          </p:cNvPr>
          <p:cNvSpPr>
            <a:spLocks noGrp="1"/>
          </p:cNvSpPr>
          <p:nvPr>
            <p:ph type="body" sz="quarter" idx="10"/>
          </p:nvPr>
        </p:nvSpPr>
        <p:spPr/>
        <p:txBody>
          <a:bodyPr/>
          <a:lstStyle/>
          <a:p>
            <a:r>
              <a:rPr lang="ja-JP" altLang="en-US" dirty="0"/>
              <a:t>理世界は常にノイズや揺らぎに満ちているのに、コンピュータが「絶対に間違えない確実な論理」を維持できているのは、充放電のエネルギーを使って、ノイズを力技でシャットアウトしているからなのでしょうか？</a:t>
            </a:r>
            <a:endParaRPr kumimoji="1" lang="en-US" dirty="0"/>
          </a:p>
        </p:txBody>
      </p:sp>
    </p:spTree>
    <p:extLst>
      <p:ext uri="{BB962C8B-B14F-4D97-AF65-F5344CB8AC3E}">
        <p14:creationId xmlns:p14="http://schemas.microsoft.com/office/powerpoint/2010/main" val="954887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F73A6-3A42-DB11-EFA7-6E55B3D1BA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2F14C8-5AE4-C6E0-FEEB-8692562CBF1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619CCA65-D76A-CA4B-D35A-0C85D8A4233F}"/>
              </a:ext>
            </a:extLst>
          </p:cNvPr>
          <p:cNvSpPr>
            <a:spLocks noGrp="1"/>
          </p:cNvSpPr>
          <p:nvPr>
            <p:ph type="body" sz="quarter" idx="10"/>
          </p:nvPr>
        </p:nvSpPr>
        <p:spPr/>
        <p:txBody>
          <a:bodyPr/>
          <a:lstStyle/>
          <a:p>
            <a:r>
              <a:rPr lang="ja-JP" altLang="en-US" dirty="0"/>
              <a:t> 懐かしい気持ちにもなった。普段書いている</a:t>
            </a:r>
            <a:r>
              <a:rPr lang="en-US" altLang="ja-JP" dirty="0"/>
              <a:t>C</a:t>
            </a:r>
            <a:r>
              <a:rPr lang="ja-JP" altLang="en-US" dirty="0"/>
              <a:t>言語の背後にある物理的仕組みを知れて興味深かったです。現在のスマートフォンの</a:t>
            </a:r>
            <a:r>
              <a:rPr lang="en-US" altLang="ja-JP" dirty="0"/>
              <a:t>CPU</a:t>
            </a:r>
            <a:r>
              <a:rPr lang="ja-JP" altLang="en-US" dirty="0"/>
              <a:t>を、もしリレーだけで作った場合、サイズや処理速度、消費電力はどの程度になるのでしょうか？</a:t>
            </a:r>
            <a:endParaRPr kumimoji="1" lang="en-US" dirty="0"/>
          </a:p>
        </p:txBody>
      </p:sp>
    </p:spTree>
    <p:extLst>
      <p:ext uri="{BB962C8B-B14F-4D97-AF65-F5344CB8AC3E}">
        <p14:creationId xmlns:p14="http://schemas.microsoft.com/office/powerpoint/2010/main" val="11653987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2414-B4BA-4D5E-7D65-09BD3208281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982D5F-65C7-152D-9787-57FB8AD18F42}"/>
              </a:ext>
            </a:extLst>
          </p:cNvPr>
          <p:cNvSpPr>
            <a:spLocks noGrp="1"/>
          </p:cNvSpPr>
          <p:nvPr>
            <p:ph type="title"/>
          </p:nvPr>
        </p:nvSpPr>
        <p:spPr/>
        <p:txBody>
          <a:bodyPr/>
          <a:lstStyle/>
          <a:p>
            <a:r>
              <a:rPr kumimoji="1" lang="ja-JP" altLang="en-US" dirty="0"/>
              <a:t>質問や感想など</a:t>
            </a:r>
            <a:endParaRPr kumimoji="1" lang="en-US" dirty="0"/>
          </a:p>
        </p:txBody>
      </p:sp>
      <p:sp>
        <p:nvSpPr>
          <p:cNvPr id="3" name="コンテンツ プレースホルダー 2">
            <a:extLst>
              <a:ext uri="{FF2B5EF4-FFF2-40B4-BE49-F238E27FC236}">
                <a16:creationId xmlns:a16="http://schemas.microsoft.com/office/drawing/2014/main" id="{42DCBD85-C0A6-B848-D7C2-90127A1D9367}"/>
              </a:ext>
            </a:extLst>
          </p:cNvPr>
          <p:cNvSpPr>
            <a:spLocks noGrp="1"/>
          </p:cNvSpPr>
          <p:nvPr>
            <p:ph type="body" sz="quarter" idx="10"/>
          </p:nvPr>
        </p:nvSpPr>
        <p:spPr/>
        <p:txBody>
          <a:bodyPr/>
          <a:lstStyle/>
          <a:p>
            <a:r>
              <a:rPr lang="ja-JP" altLang="en-US" dirty="0"/>
              <a:t>今まで論理回路に苦手意識があり、リレーの章でも</a:t>
            </a:r>
            <a:r>
              <a:rPr lang="en-US" altLang="ja-JP" dirty="0"/>
              <a:t>N</a:t>
            </a:r>
            <a:r>
              <a:rPr lang="ja-JP" altLang="en-US" dirty="0"/>
              <a:t>型、</a:t>
            </a:r>
            <a:r>
              <a:rPr lang="en-US" altLang="ja-JP" dirty="0"/>
              <a:t>P</a:t>
            </a:r>
            <a:r>
              <a:rPr lang="ja-JP" altLang="en-US" dirty="0"/>
              <a:t>型の違いを覚えることができず一度ずつ確認しないといけなくて、難しいと感じていた。しかし、私はマインクラフトでレッドストーン回路を用いて便利な装置を作っている動画を見るのが好きなので、それらの仕組みが理解できるようになるかもしれないと考えると頑張れる気がした。</a:t>
            </a:r>
            <a:endParaRPr lang="en-US" altLang="ja-JP" dirty="0"/>
          </a:p>
          <a:p>
            <a:r>
              <a:rPr lang="en-US" altLang="ja-JP" dirty="0"/>
              <a:t>NMOS,PMOS</a:t>
            </a:r>
            <a:r>
              <a:rPr lang="ja-JP" altLang="en-US" dirty="0"/>
              <a:t>も</a:t>
            </a:r>
            <a:r>
              <a:rPr lang="en-US" altLang="ja-JP" dirty="0"/>
              <a:t>N</a:t>
            </a:r>
            <a:r>
              <a:rPr lang="ja-JP" altLang="en-US" dirty="0"/>
              <a:t>型リレーと</a:t>
            </a:r>
            <a:r>
              <a:rPr lang="en-US" altLang="ja-JP" dirty="0"/>
              <a:t>P</a:t>
            </a:r>
            <a:r>
              <a:rPr lang="ja-JP" altLang="en-US" dirty="0"/>
              <a:t>型リレーと同じであることが分かった。</a:t>
            </a:r>
            <a:r>
              <a:rPr lang="en-US" altLang="ja-JP" dirty="0"/>
              <a:t>MOS</a:t>
            </a:r>
            <a:r>
              <a:rPr lang="ja-JP" altLang="en-US" dirty="0"/>
              <a:t>は片側が半導体だが、高校で習ったコンデンサで同じ構造で、充電放電に時間がかかるので遅延が発生することがわかった。高校物理では</a:t>
            </a:r>
            <a:r>
              <a:rPr lang="en-US" altLang="ja-JP" dirty="0"/>
              <a:t>N</a:t>
            </a:r>
            <a:r>
              <a:rPr lang="ja-JP" altLang="en-US" dirty="0"/>
              <a:t>とか</a:t>
            </a:r>
            <a:r>
              <a:rPr lang="en-US" altLang="ja-JP" dirty="0"/>
              <a:t>P</a:t>
            </a:r>
            <a:r>
              <a:rPr lang="ja-JP" altLang="en-US" dirty="0"/>
              <a:t>などのコンデンサの種類はなかったので、</a:t>
            </a:r>
            <a:r>
              <a:rPr lang="en-US" altLang="ja-JP" dirty="0"/>
              <a:t>MOS</a:t>
            </a:r>
            <a:r>
              <a:rPr lang="ja-JP" altLang="en-US" dirty="0"/>
              <a:t>はコンデンサと同じ構造の別物ということですか？</a:t>
            </a:r>
            <a:endParaRPr kumimoji="1" lang="en-US" dirty="0"/>
          </a:p>
        </p:txBody>
      </p:sp>
    </p:spTree>
    <p:extLst>
      <p:ext uri="{BB962C8B-B14F-4D97-AF65-F5344CB8AC3E}">
        <p14:creationId xmlns:p14="http://schemas.microsoft.com/office/powerpoint/2010/main" val="8607709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37E08F7-A017-8BBC-8D7C-3D9C37710AC0}"/>
              </a:ext>
            </a:extLst>
          </p:cNvPr>
          <p:cNvSpPr>
            <a:spLocks noGrp="1"/>
          </p:cNvSpPr>
          <p:nvPr>
            <p:ph type="title"/>
          </p:nvPr>
        </p:nvSpPr>
        <p:spPr/>
        <p:txBody>
          <a:bodyPr/>
          <a:lstStyle/>
          <a:p>
            <a:r>
              <a:rPr kumimoji="1" lang="ja-JP" altLang="en-US" dirty="0"/>
              <a:t>マインクラフトの中でマインクラフト</a:t>
            </a:r>
            <a:endParaRPr kumimoji="1" lang="en-US" dirty="0"/>
          </a:p>
        </p:txBody>
      </p:sp>
      <p:sp>
        <p:nvSpPr>
          <p:cNvPr id="3" name="コンテンツ プレースホルダー 2">
            <a:extLst>
              <a:ext uri="{FF2B5EF4-FFF2-40B4-BE49-F238E27FC236}">
                <a16:creationId xmlns:a16="http://schemas.microsoft.com/office/drawing/2014/main" id="{025EE9F3-8C9E-71BD-3C3F-AE13450F0584}"/>
              </a:ext>
            </a:extLst>
          </p:cNvPr>
          <p:cNvSpPr>
            <a:spLocks noGrp="1"/>
          </p:cNvSpPr>
          <p:nvPr>
            <p:ph type="body" sz="quarter" idx="10"/>
          </p:nvPr>
        </p:nvSpPr>
        <p:spPr>
          <a:xfrm>
            <a:off x="2135956" y="6489037"/>
            <a:ext cx="8280092" cy="270003"/>
          </a:xfrm>
        </p:spPr>
        <p:txBody>
          <a:bodyPr/>
          <a:lstStyle/>
          <a:p>
            <a:r>
              <a:rPr kumimoji="1" lang="en-US" altLang="ja-JP" dirty="0">
                <a:hlinkClick r:id="rId2"/>
              </a:rPr>
              <a:t>https://www.youtube.com/watch?v=-BP7DhHTU-I</a:t>
            </a:r>
            <a:r>
              <a:rPr kumimoji="1" lang="en-US" altLang="ja-JP" dirty="0"/>
              <a:t> </a:t>
            </a:r>
            <a:r>
              <a:rPr kumimoji="1" lang="ja-JP" altLang="en-US" dirty="0"/>
              <a:t>より</a:t>
            </a:r>
            <a:endParaRPr kumimoji="1" lang="en-US" dirty="0"/>
          </a:p>
        </p:txBody>
      </p:sp>
      <p:pic>
        <p:nvPicPr>
          <p:cNvPr id="7" name="図 6">
            <a:extLst>
              <a:ext uri="{FF2B5EF4-FFF2-40B4-BE49-F238E27FC236}">
                <a16:creationId xmlns:a16="http://schemas.microsoft.com/office/drawing/2014/main" id="{253AC4C5-9CD4-E68A-56EA-E94F2DD18204}"/>
              </a:ext>
            </a:extLst>
          </p:cNvPr>
          <p:cNvPicPr>
            <a:picLocks noChangeAspect="1"/>
          </p:cNvPicPr>
          <p:nvPr/>
        </p:nvPicPr>
        <p:blipFill>
          <a:blip r:embed="rId3"/>
          <a:stretch>
            <a:fillRect/>
          </a:stretch>
        </p:blipFill>
        <p:spPr>
          <a:xfrm>
            <a:off x="5285996" y="2528990"/>
            <a:ext cx="5382009" cy="3010324"/>
          </a:xfrm>
          <a:prstGeom prst="rect">
            <a:avLst/>
          </a:prstGeom>
        </p:spPr>
      </p:pic>
      <p:sp>
        <p:nvSpPr>
          <p:cNvPr id="8" name="四角形: 角を丸くする 7">
            <a:extLst>
              <a:ext uri="{FF2B5EF4-FFF2-40B4-BE49-F238E27FC236}">
                <a16:creationId xmlns:a16="http://schemas.microsoft.com/office/drawing/2014/main" id="{907AA2CC-5DA4-45C7-679F-5F235F9ECCB2}"/>
              </a:ext>
            </a:extLst>
          </p:cNvPr>
          <p:cNvSpPr/>
          <p:nvPr/>
        </p:nvSpPr>
        <p:spPr bwMode="auto">
          <a:xfrm>
            <a:off x="6816008" y="2348988"/>
            <a:ext cx="2340026" cy="360004"/>
          </a:xfrm>
          <a:prstGeom prst="roundRect">
            <a:avLst/>
          </a:prstGeom>
          <a:noFill/>
          <a:ln w="38100">
            <a:solidFill>
              <a:schemeClr val="accent2"/>
            </a:solidFill>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pic>
        <p:nvPicPr>
          <p:cNvPr id="10" name="図 9">
            <a:extLst>
              <a:ext uri="{FF2B5EF4-FFF2-40B4-BE49-F238E27FC236}">
                <a16:creationId xmlns:a16="http://schemas.microsoft.com/office/drawing/2014/main" id="{96624B15-6C79-B228-97EB-708F0D8B2947}"/>
              </a:ext>
            </a:extLst>
          </p:cNvPr>
          <p:cNvPicPr>
            <a:picLocks noChangeAspect="1"/>
          </p:cNvPicPr>
          <p:nvPr/>
        </p:nvPicPr>
        <p:blipFill>
          <a:blip r:embed="rId4"/>
          <a:stretch>
            <a:fillRect/>
          </a:stretch>
        </p:blipFill>
        <p:spPr>
          <a:xfrm>
            <a:off x="2045960" y="1178975"/>
            <a:ext cx="4662001" cy="2692348"/>
          </a:xfrm>
          <a:prstGeom prst="rect">
            <a:avLst/>
          </a:prstGeom>
        </p:spPr>
      </p:pic>
    </p:spTree>
    <p:extLst>
      <p:ext uri="{BB962C8B-B14F-4D97-AF65-F5344CB8AC3E}">
        <p14:creationId xmlns:p14="http://schemas.microsoft.com/office/powerpoint/2010/main" val="392191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24A6587E-6E16-0A67-3DDE-580DFB7339A2}"/>
              </a:ext>
            </a:extLst>
          </p:cNvPr>
          <p:cNvPicPr>
            <a:picLocks noChangeAspect="1"/>
          </p:cNvPicPr>
          <p:nvPr/>
        </p:nvPicPr>
        <p:blipFill>
          <a:blip r:embed="rId2"/>
          <a:stretch>
            <a:fillRect/>
          </a:stretch>
        </p:blipFill>
        <p:spPr>
          <a:xfrm>
            <a:off x="1865958" y="1268981"/>
            <a:ext cx="3988765" cy="2271805"/>
          </a:xfrm>
          <a:prstGeom prst="rect">
            <a:avLst/>
          </a:prstGeom>
        </p:spPr>
      </p:pic>
      <p:sp>
        <p:nvSpPr>
          <p:cNvPr id="2" name="タイトル 1">
            <a:extLst>
              <a:ext uri="{FF2B5EF4-FFF2-40B4-BE49-F238E27FC236}">
                <a16:creationId xmlns:a16="http://schemas.microsoft.com/office/drawing/2014/main" id="{91BB9738-DCD7-C2AF-AFA9-7D0B8F8F1AD0}"/>
              </a:ext>
            </a:extLst>
          </p:cNvPr>
          <p:cNvSpPr>
            <a:spLocks noGrp="1"/>
          </p:cNvSpPr>
          <p:nvPr>
            <p:ph type="title"/>
          </p:nvPr>
        </p:nvSpPr>
        <p:spPr/>
        <p:txBody>
          <a:bodyPr/>
          <a:lstStyle/>
          <a:p>
            <a:r>
              <a:rPr kumimoji="1" lang="en-US" dirty="0"/>
              <a:t>Turing Complete </a:t>
            </a:r>
            <a:r>
              <a:rPr kumimoji="1" lang="ja-JP" altLang="en-US" dirty="0"/>
              <a:t>と言うゲーム</a:t>
            </a:r>
            <a:br>
              <a:rPr lang="en-US" altLang="ja-JP" sz="2000" dirty="0"/>
            </a:br>
            <a:r>
              <a:rPr lang="en-US" altLang="ja-JP" sz="2000" dirty="0"/>
              <a:t>NAND </a:t>
            </a:r>
            <a:r>
              <a:rPr lang="ja-JP" altLang="en-US" sz="2000" dirty="0"/>
              <a:t>から初めてテトリスとかまでを作る</a:t>
            </a:r>
            <a:endParaRPr kumimoji="1" lang="en-US" dirty="0"/>
          </a:p>
        </p:txBody>
      </p:sp>
      <p:sp>
        <p:nvSpPr>
          <p:cNvPr id="3" name="コンテンツ プレースホルダー 2">
            <a:extLst>
              <a:ext uri="{FF2B5EF4-FFF2-40B4-BE49-F238E27FC236}">
                <a16:creationId xmlns:a16="http://schemas.microsoft.com/office/drawing/2014/main" id="{5F163C80-58C9-686F-3194-9DC0AD963CB0}"/>
              </a:ext>
            </a:extLst>
          </p:cNvPr>
          <p:cNvSpPr>
            <a:spLocks noGrp="1"/>
          </p:cNvSpPr>
          <p:nvPr>
            <p:ph type="body" sz="quarter" idx="10"/>
          </p:nvPr>
        </p:nvSpPr>
        <p:spPr>
          <a:xfrm>
            <a:off x="2135956" y="5409022"/>
            <a:ext cx="8280092" cy="900010"/>
          </a:xfrm>
        </p:spPr>
        <p:txBody>
          <a:bodyPr/>
          <a:lstStyle/>
          <a:p>
            <a:r>
              <a:rPr kumimoji="1" lang="en-US" altLang="ja-JP" dirty="0">
                <a:hlinkClick r:id="rId3"/>
              </a:rPr>
              <a:t>https://store.steampowered.com/app/1444480/Turing_Complete/?l=japanese</a:t>
            </a:r>
            <a:r>
              <a:rPr kumimoji="1" lang="en-US" altLang="ja-JP" dirty="0"/>
              <a:t> </a:t>
            </a:r>
            <a:r>
              <a:rPr kumimoji="1" lang="ja-JP" altLang="en-US" dirty="0"/>
              <a:t>より</a:t>
            </a:r>
            <a:endParaRPr kumimoji="1" lang="en-US" dirty="0"/>
          </a:p>
        </p:txBody>
      </p:sp>
      <p:pic>
        <p:nvPicPr>
          <p:cNvPr id="5" name="図 4">
            <a:extLst>
              <a:ext uri="{FF2B5EF4-FFF2-40B4-BE49-F238E27FC236}">
                <a16:creationId xmlns:a16="http://schemas.microsoft.com/office/drawing/2014/main" id="{E6D19999-DE80-0E4C-2268-42344DE11855}"/>
              </a:ext>
            </a:extLst>
          </p:cNvPr>
          <p:cNvPicPr>
            <a:picLocks noChangeAspect="1"/>
          </p:cNvPicPr>
          <p:nvPr/>
        </p:nvPicPr>
        <p:blipFill>
          <a:blip r:embed="rId4"/>
          <a:stretch>
            <a:fillRect/>
          </a:stretch>
        </p:blipFill>
        <p:spPr>
          <a:xfrm>
            <a:off x="2315958" y="2708992"/>
            <a:ext cx="3764682" cy="2145420"/>
          </a:xfrm>
          <a:prstGeom prst="rect">
            <a:avLst/>
          </a:prstGeom>
        </p:spPr>
      </p:pic>
      <p:pic>
        <p:nvPicPr>
          <p:cNvPr id="9" name="図 8">
            <a:extLst>
              <a:ext uri="{FF2B5EF4-FFF2-40B4-BE49-F238E27FC236}">
                <a16:creationId xmlns:a16="http://schemas.microsoft.com/office/drawing/2014/main" id="{DC634CF3-191E-AF9E-8985-C7D75B8B9421}"/>
              </a:ext>
            </a:extLst>
          </p:cNvPr>
          <p:cNvPicPr>
            <a:picLocks noChangeAspect="1"/>
          </p:cNvPicPr>
          <p:nvPr/>
        </p:nvPicPr>
        <p:blipFill>
          <a:blip r:embed="rId5"/>
          <a:stretch>
            <a:fillRect/>
          </a:stretch>
        </p:blipFill>
        <p:spPr>
          <a:xfrm>
            <a:off x="6276007" y="1268981"/>
            <a:ext cx="3936451" cy="2250025"/>
          </a:xfrm>
          <a:prstGeom prst="rect">
            <a:avLst/>
          </a:prstGeom>
        </p:spPr>
      </p:pic>
      <p:pic>
        <p:nvPicPr>
          <p:cNvPr id="11" name="図 10">
            <a:extLst>
              <a:ext uri="{FF2B5EF4-FFF2-40B4-BE49-F238E27FC236}">
                <a16:creationId xmlns:a16="http://schemas.microsoft.com/office/drawing/2014/main" id="{5708C26D-B11A-7E10-7DAC-B16D64199251}"/>
              </a:ext>
            </a:extLst>
          </p:cNvPr>
          <p:cNvPicPr>
            <a:picLocks noChangeAspect="1"/>
          </p:cNvPicPr>
          <p:nvPr/>
        </p:nvPicPr>
        <p:blipFill>
          <a:blip r:embed="rId6"/>
          <a:stretch>
            <a:fillRect/>
          </a:stretch>
        </p:blipFill>
        <p:spPr>
          <a:xfrm>
            <a:off x="6456009" y="2798993"/>
            <a:ext cx="4045121" cy="2024776"/>
          </a:xfrm>
          <a:prstGeom prst="rect">
            <a:avLst/>
          </a:prstGeom>
        </p:spPr>
      </p:pic>
    </p:spTree>
    <p:extLst>
      <p:ext uri="{BB962C8B-B14F-4D97-AF65-F5344CB8AC3E}">
        <p14:creationId xmlns:p14="http://schemas.microsoft.com/office/powerpoint/2010/main" val="246626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cai-shioya-04</Template>
  <TotalTime>0</TotalTime>
  <Words>6133</Words>
  <Application>Microsoft Office PowerPoint</Application>
  <PresentationFormat>ワイド画面</PresentationFormat>
  <Paragraphs>1177</Paragraphs>
  <Slides>98</Slides>
  <Notes>15</Notes>
  <HiddenSlides>0</HiddenSlides>
  <MMClips>0</MMClips>
  <ScaleCrop>false</ScaleCrop>
  <HeadingPairs>
    <vt:vector size="6" baseType="variant">
      <vt:variant>
        <vt:lpstr>使用されているフォント</vt:lpstr>
      </vt:variant>
      <vt:variant>
        <vt:i4>14</vt:i4>
      </vt:variant>
      <vt:variant>
        <vt:lpstr>テーマ</vt:lpstr>
      </vt:variant>
      <vt:variant>
        <vt:i4>1</vt:i4>
      </vt:variant>
      <vt:variant>
        <vt:lpstr>スライド タイトル</vt:lpstr>
      </vt:variant>
      <vt:variant>
        <vt:i4>98</vt:i4>
      </vt:variant>
    </vt:vector>
  </HeadingPairs>
  <TitlesOfParts>
    <vt:vector size="113" baseType="lpstr">
      <vt:lpstr>HG丸ｺﾞｼｯｸM-PRO</vt:lpstr>
      <vt:lpstr>MeiryoKe_PGothic</vt:lpstr>
      <vt:lpstr>ＭＳ Ｐゴシック</vt:lpstr>
      <vt:lpstr>メイリオ</vt:lpstr>
      <vt:lpstr>Arial</vt:lpstr>
      <vt:lpstr>Arial Narrow</vt:lpstr>
      <vt:lpstr>Calibri</vt:lpstr>
      <vt:lpstr>Cambria Math</vt:lpstr>
      <vt:lpstr>Consolas</vt:lpstr>
      <vt:lpstr>Courier New</vt:lpstr>
      <vt:lpstr>Segoe UI</vt:lpstr>
      <vt:lpstr>Times New Roman</vt:lpstr>
      <vt:lpstr>Verdana</vt:lpstr>
      <vt:lpstr>Wingdings</vt:lpstr>
      <vt:lpstr>cerulean</vt:lpstr>
      <vt:lpstr>塩谷 亮太 (shioya@ci.i.u-tokyo.ac.jp) 東京大学大学院情報理工学系研究科 創造情報学専攻</vt:lpstr>
      <vt:lpstr>課題の解説</vt:lpstr>
      <vt:lpstr>課題 4</vt:lpstr>
      <vt:lpstr>C 言語</vt:lpstr>
      <vt:lpstr>アセンブリ言語</vt:lpstr>
      <vt:lpstr>前回の振り返り</vt:lpstr>
      <vt:lpstr>論理回路の作り方</vt:lpstr>
      <vt:lpstr>NAND ゲートの動作</vt:lpstr>
      <vt:lpstr>CMOS: Complementary Metal–Oxide–Semiconductor</vt:lpstr>
      <vt:lpstr>リレーがあればプログラムが実行できる</vt:lpstr>
      <vt:lpstr>一般化すると，</vt:lpstr>
      <vt:lpstr>命令パイプライン</vt:lpstr>
      <vt:lpstr>導入：工場のラインを考える</vt:lpstr>
      <vt:lpstr>導入：工場のラインを考える</vt:lpstr>
      <vt:lpstr>パイプライン化による性能向上</vt:lpstr>
      <vt:lpstr>今日の内容：命令パイプライン</vt:lpstr>
      <vt:lpstr>シングル・サイクル・プロセッサの動作</vt:lpstr>
      <vt:lpstr>もくじ</vt:lpstr>
      <vt:lpstr>これまでに説明した CPU のイメージ</vt:lpstr>
      <vt:lpstr>これまでに説明した CPU のイメージ</vt:lpstr>
      <vt:lpstr>これまでに説明した RISC-V (32bit) のイメージ</vt:lpstr>
      <vt:lpstr>ベースとなるシングル・サイクル・プロセッサ</vt:lpstr>
      <vt:lpstr>1命令の実行フェーズ</vt:lpstr>
      <vt:lpstr>命令フェッチ</vt:lpstr>
      <vt:lpstr>命令デコード</vt:lpstr>
      <vt:lpstr>レジスタ読み出し</vt:lpstr>
      <vt:lpstr>実行</vt:lpstr>
      <vt:lpstr>レジスタ書き戻し</vt:lpstr>
      <vt:lpstr>ロードの場合：メモリ・アクセスが加わる</vt:lpstr>
      <vt:lpstr>各処理は基本的には左から右に流れる</vt:lpstr>
      <vt:lpstr>パイプライン化</vt:lpstr>
      <vt:lpstr>もくじ</vt:lpstr>
      <vt:lpstr>パイプライン化</vt:lpstr>
      <vt:lpstr>工場のラインを考える（再）</vt:lpstr>
      <vt:lpstr>命令パイプラインの実行の様子</vt:lpstr>
      <vt:lpstr>パイプライン・チャートの見方 ここから先で多用されるので重要</vt:lpstr>
      <vt:lpstr>パイプライン化による性能（スループット）向上</vt:lpstr>
      <vt:lpstr>余談：実際の CPU を実行した場合のパイプライン</vt:lpstr>
      <vt:lpstr>ステージを「どうやって」切るか</vt:lpstr>
      <vt:lpstr>パイプライン化（オーバーラップ）の実現方法</vt:lpstr>
      <vt:lpstr>パイプライン・ラッチのイメージ</vt:lpstr>
      <vt:lpstr>パイプライン化（オーバーラップ）の実現方法</vt:lpstr>
      <vt:lpstr>パイプライン化の効果</vt:lpstr>
      <vt:lpstr>パイプライン化の効果 レイテンシは伸びるが，単位時間あたりの処理命令数は増える</vt:lpstr>
      <vt:lpstr>ステージを「どこで」切るか</vt:lpstr>
      <vt:lpstr>ステージを「どこで」切るか</vt:lpstr>
      <vt:lpstr>余談：非同期回路やウェーブ・パイプライン</vt:lpstr>
      <vt:lpstr>パイプライン化の性能への影響</vt:lpstr>
      <vt:lpstr>もくじ</vt:lpstr>
      <vt:lpstr>パイプライン化によるスループット向上</vt:lpstr>
      <vt:lpstr>パイプライン化の意味</vt:lpstr>
      <vt:lpstr>パイプライン化によるクロック周期の短縮 クロックの立ち上がりごとに，１命令が処理</vt:lpstr>
      <vt:lpstr>ステージ内の信号の伝播を考える</vt:lpstr>
      <vt:lpstr>２段にパイプライン化した場合</vt:lpstr>
      <vt:lpstr>4段にパイプライン化した場合</vt:lpstr>
      <vt:lpstr>パイプライン化の限界</vt:lpstr>
      <vt:lpstr>回路的な理由</vt:lpstr>
      <vt:lpstr>記憶素子の原理</vt:lpstr>
      <vt:lpstr>D ラッチの回路</vt:lpstr>
      <vt:lpstr>D-FF の回路</vt:lpstr>
      <vt:lpstr>D-FF の動作 ① クロック信号が Low にあるとき</vt:lpstr>
      <vt:lpstr>D-FF の動作 ② クロック信号の立ち上がり</vt:lpstr>
      <vt:lpstr>D-FF の動作 ③ クロック信号が High</vt:lpstr>
      <vt:lpstr>D-FF の動作 ④ クロック信号の立ち下がり</vt:lpstr>
      <vt:lpstr>D-FF の遅延</vt:lpstr>
      <vt:lpstr>理由２：消費電力と熱</vt:lpstr>
      <vt:lpstr>まとめ</vt:lpstr>
      <vt:lpstr>課題 5</vt:lpstr>
      <vt:lpstr>ヒント： 以下のNAND ゲートの動作を参考にすると良い</vt:lpstr>
      <vt:lpstr>提出方法</vt:lpstr>
      <vt:lpstr>感想や質問</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質問や感想など</vt:lpstr>
      <vt:lpstr>マインクラフトの中でマインクラフト</vt:lpstr>
      <vt:lpstr>Turing Complete と言うゲーム NAND から初めてテトリスとかまでを作る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2026-05-26T05:33:45Z</dcterms:modified>
</cp:coreProperties>
</file>